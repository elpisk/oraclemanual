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장은 D106546GC10 과정의 두 번째 장으로, 1장이 그린 아키텍처의 '지도'에서 프로세스 구역을 확대한 상세 지도다. 여섯 개의 학습 목표는 Oracle 공식 코스의 Objectives를 따른다: (1) 프로세스 아키텍처 설명, (2) 네 가지 프로세스 구조 구분, (3) 각 백그라운드 프로세스의 역할, (4) 각 프로세스의 트리거 조건, (5) 메모리·프로세스·저장소의 상호작용, (6) CDB/PDB 환경의 프로세스 공유. 각 백그라운드 프로세스는 '역할 → 트리거 조건 → 관련 뷰 → 실무 팁 → 19c 특이사항'의 틀로 학습한다. SGA·버퍼 캐시·리두 로그 버퍼 같은 메모리 용어는 3장에서 더 자세히 다룬다.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장은 프로세스 아키텍처의 큰 그림(2.1~2.2)에서 시작해, 개별 백그라운드 프로세스를 하나씩 상세히 다루고(2.3~2.9), 이들이 하나의 SQL을 처리하며 협력하는 흐름(2.10), 그리고 멀티테넌트 환경에서의 프로세스 공유(2.11)로 마무리한다.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프로세스는 운영체제 수준에서 실행 중인 작업의 단위이자 제어의 메커니즘이다. Oracle 인스턴스가 기동되면 OS 관점에서 이 프로세스들이 실제로 만들어진다. Linux/UNIX에서는 'ps -ef | grep ora_' 명령으로 ora_dbw0_, ora_lgwr_ 같은 백그라운드 프로세스를 눈으로 확인할 수 있다. Windows에서는 단일 oracle.exe 프로세스 내부의 스레드로 구현된다.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Oracle은 두 가지 방식으로 프로세스를 구성할 수 있다. 첫째, 멀티프로세스(멀티유저) 아키텍처는 각 Oracle 프로세스를 별도의 OS 프로세스로 실행한다. 둘째, 멀티스레드 아키텍처는 12c부터 도입되었고 THREADED_EXECUTION=TRUE로 활성화하면 여러 Oracle 프로세스를 소수의 OS 프로세스 안 스레드로 묶어 프로세스 생성 비용과 메모리 오버헤드를 줄인다. Windows는 전통적으로 단일 oracle.exe 안의 스레드로 동작해 왔다.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Oracle 프로세스는 크게 세 부류로 나뉜다. 클라이언트 프로세스는 사용자 애플리케이션이나 도구를 실행하며 사용자 프로세스라고도 한다. 서버 프로세스는 클라이언트 요청을 실제 처리하고 SGA와 상호작용한다. 백그라운드 프로세스는 인스턴스 기동 시 함께 시작되어 특정 사용자와 무관하게 인스턴스 전체를 위한 공통 작업을 상시 수행한다. 현재 어떤 프로세스가 존재하는지는 V$PROCESS(모든 OS 프로세스, SPID가 OS PID)와 V$BGPROCESS(백그라운드 전용, PADDR가 '00'이 아니면 기동 중)로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V$BGPROCESS는 백그라운드 프로세스 전용 뷰다. NAME은 프로세스 약어, DESCRIPTION은 설명이다. PADDR&lt;&gt;'00' 조건은 실제로 기동된 프로세스만 걸러낸다. V$PROCESS는 서버·백그라운드를 모두 포함하며 SPID가 OS 프로세스 ID다. V$SESSION은 세션 단위 정보로, PADDR로 V$PROCESS와 조인해 어떤 OS 프로세스가 어떤 세션을 처리하는지 추적한다. 장애·성능 진단의 첫걸음은 지금 인스턴스가 어떤 프로세스를 기동하고 있는가를 확인하는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클라이언트 프로세스는 사용자 애플리케이션이나 도구(SQL*Plus, SQL Developer 등)를 실행하는 프로세스로, 사용자 프로세스라고도 한다. 서버 프로세스는 클라이언트 요청을 실제 처리한다. 사용자가 접속을 요청하면 리스너가 이를 받아 서버 프로세스와 연결(handoff)한다. 서버 프로세스는 SQL 파싱·실행, 버퍼 캐시 접근, 결과 반환을 담당하며 SGA와 긴밀히 상호작용한다.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서버 프로세스는 두 모드로 구성한다. 전용 서버 구성에서는 클라이언트 접속마다 전용 서버 프로세스가 하나씩 배정된다. 구성이 단순하고 응답이 빠르지만 접속 수가 많아지면 프로세스와 메모리가 그만큼 증가한다. 공유 서버 구성에서는 디스패처가 클라이언트 요청을 받아 큐에 넣고, 소수의 공유 서버 프로세스가 이를 돌아가며 처리한다. 접속 수가 매우 많은 환경에서 프로세스·메모리 자원을 절약할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백그라운드 프로세스는 인스턴스 기동과 함께 시작되어 특정 사용자와 무관하게 인스턴스 전체를 위한 공통 작업을 상시 수행한다. 크게 필수 백그라운드 프로세스(어떤 인스턴스에서도 항상 존재)와 선택 백그라운드 프로세스(특정 기능을 켰을 때만 동작, 예: ARCn은 ARCHIVELOG 모드일 때)로 나뉜다.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슬레이브 프로세스는 다른 프로세스를 대신하여 병렬로 작업을 수행하는 보조 프로세스다. 대표적으로 두 종류가 있다. 첫째, I/O 슬레이브는 비동기 I/O가 지원되지 않는 환경에서 DBWn 등을 대신해 I/O를 수행한다. 둘째, 병렬 실행 슬레이브(Pnnn)는 병렬 쿼리·병렬 DML·병렬 DDL을 여러 프로세스가 나눠 처리하도록 돕는다. 이들은 작업 부하에 따라 동적으로 생성·소멸한다.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DBWn(Database Writer Process)은 데이터베이스 버퍼 캐시의 변경된 버퍼(더티 버퍼)를 데이터 파일에 기록한다. 핵심 개념은 지연 쓰기다. 사용자가 UPDATE를 실행해도 변경은 즉시 데이터 파일에 기록되지 않고 우선 버퍼 캐시에서만 이뤄진다. 버퍼 캐시는 일종의 쓰기 완충 지대여서, 같은 블록이 짧은 시간에 여러 번 수정되어도 매번 디스크에 쓰지 않고 모아서 한 번에 기록할 수 있다. 데이터 파일 쓰기는 여기저기 흩어진 블록을 건드리는 임의 I/O라 느리므로, 지연 쓰기로 이를 최소화해 처리량을 높인다.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DBWn은 항상 쓰는 것이 아니라 다음 조건에서 더티 버퍼를 데이터 파일에 기록한다. (1) 체크포인트 발생 시 CKPT의 신호를 받아 해당 시점까지의 더티 버퍼 기록, (2) 서버 프로세스가 빈 버퍼를 찾다 일정 개수 이상 더티 버퍼를 만나면 쓰기 요청, (3) 더티 버퍼가 임계치를 초과할 때, (4) 약 3초마다 타임아웃으로 깨어나 밀린 버퍼 점검, (5) 테이블스페이스를 오프라인/읽기전용으로 전환하거나 테이블을 DROP·TRUNCATE할 때, (6) RAC에서 다른 인스턴스가 특정 블록을 요구하는 ping 요청을 보낼 때.</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기본적으로 인스턴스에는 하나의 데이터베이스 라이터(DBW0)만으로 충분하다. 그러나 CPU 코어가 많고 데이터 변경이 매우 빈번한 대규모 시스템에서는 단일 DBWn이 병목이 될 수 있어 DB_WRITER_PROCESSES 파라미터로 여러 개(최대 20개)를 구성한다. DBW0~DBW9, DBWa~ 형태로 명명된다. 모범 사례: DB_WRITER_PROCESSES를 무작정 크게 잡으면 프로세스 간 경합과 CPU 낭비가 생긴다. Oracle은 기본적으로 CPU_COUNT/8(반올림) 정도를 자동 산정하므로 대부분 기본값이 적절하며, 실제 I/O 병목이 확인될 때만 조정한다.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LGWR(Log Writer Process)는 리두 로그 버퍼의 내용을 온라인 리두 로그 파일에 기록한다. LGWR가 중요한 이유는 트랜잭션의 지속성, 즉 커밋한 것은 절대 사라지지 않는다는 보장을 실현하기 때문이다. 커밋 순간 데이터 파일은 아직 옛날 상태일 수 있지만 리두 로그에는 변경 내용이 이미 기록되어 있어, 장애가 나도 리두를 재적용해 복구할 수 있다. 리두 로그 버퍼를 순차 기록으로 처리하는 점도 성능의 핵심이다. 데이터 파일 쓰기는 임의 I/O라 느리지만 리두는 로그 파일 끝에 이어 붙이는 순차 I/O라 빠르다.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LGWR는 다음 조건에서 리두 로그 버퍼를 리두 로그 파일에 기록한다. (1) 트랜잭션 커밋 시 해당 리두를 즉시 기록하고, 기록이 끝나야 커밋이 완료된다(log file sync 대기). (2) 리두 로그 버퍼가 1/3 이상 찼을 때, (3) 약 1MB 이상 리두가 쌓였을 때 미리 비운다. (4) DBWn이 더티 버퍼를 데이터 파일에 쓰기 직전 — 선기록 로깅 원칙에 따라 관련 리두가 먼저 로그에 있어야 한다. (5) 약 3초마다 타임아웃으로 깨어나 밀린 리두를 기록한다.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LGWR의 동작은 여러 뷰로 관찰한다. V$LOG는 온라인 리두 로그 그룹의 상태(CURRENT=현재 기록 중, ACTIVE=아직 복구에 필요, INACTIVE=재사용 가능)를, V$LOGFILE은 각 그룹의 멤버 파일 경로를 보여준다. 리두 로그는 그룹당 여러 멤버로 다중화(multiplexing)해 하나가 손상돼도 다른 멤버로 보호한다. 19c에서는 LGWR가 병렬 로그 라이터 슬레이브(LGnn)의 도움을 받아 리두 기록을 병렬화할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CKPT(Checkpoint Process)는 체크포인트라는 이벤트를 관리한다. 체크포인트란 이 시점까지의 모든 변경이 데이터 파일에 안전하게 반영되었다는 표식이다. CKPT 자체는 더티 버퍼를 직접 데이터 파일에 쓰지 않는다. 실제 데이터 쓰기는 DBWn의 몫이다. 대신 CKPT는 두 가지 일을 한다. 첫째, DBWn에게 체크포인트 시점까지의 더티 버퍼를 기록하라고 신호한다. 둘째, 체크포인트가 완료되면 그 SCN(System Change Number)을 데이터 파일 헤더와 컨트롤 파일에 기록해 복구 기준점을 남긴다.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체크포인트가 자주 일어날수록 데이터 파일은 최신 상태에 가까워져 장애 후 복구 시 다시 적용할 리두 양이 줄어 복구가 빨라진다. 반대로 체크포인트가 뜸하면 평시 데이터 파일 쓰기 I/O는 줄지만 복구 시간은 길어진다. 이 트레이드오프는 FAST_START_MTTR_TARGET 파라미터로 조절한다. 목표 복구 시간(초)을 지정하면 Oracle이 그에 맞춰 체크포인트 빈도를 자동 조절한다. 즉 관리자는 복구 시간 목표만 정하고 나머지는 데이터베이스가 알아서 맞춘다.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SMON(System Monitor Process)은 인스턴스 전체 수준의 정리와 복구를 담당하는 필수 백그라운드 프로세스다. 가장 중요한 역할은 인스턴스 복구다. SHUTDOWN ABORT나 정전으로 인스턴스가 비정상 종료된 뒤 재기동하면 SMON이 자동으로 인스턴스 복구를 수행한다. 이는 두 단계다. 먼저 마지막 체크포인트 이후의 리두를 데이터 파일에 다시 적용해(roll forward) 장애 직전 상태까지 전진시키고, 그다음 커밋되지 않은 트랜잭션을 되돌린다(roll back). SMON은 이 밖에도 더 이상 쓰이지 않는 임시 세그먼트를 회수하고, 인접한 여유 익스텐트를 병합하는 등 공간 정리 작업을 수행한다.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PMON(Process Monitor Process)은 실패한 프로세스와 세션을 정리하는 청소부다. 서버 프로세스가 비정상 종료되면 PMON이 그 세션이 잡고 있던 락, 임시 자원, PGA 메모리를 회수하고 커밋되지 않은 변경을 롤백한다. SMON이 인스턴스 전체 수준의 복구를 담당한다면, PMON은 개별 프로세스·세션 수준의 정리를 담당한다. 역사적으로 PMON은 리스너에 서비스를 등록하는 동적 서비스 등록도 했지만, 이 역할은 12c부터 전용 프로세스 LREG로 분리되었다. 실무에서 애플리케이션이 죽었는데 락이 안 풀린다는 상황에서 죽은 세션을 정리해 대기를 풀어 주는 것이 바로 PMON이다.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PMAN(Process Manager)은 12c에 도입된 프로세스로, 공유 서버·풀링된 서버·잡 슬레이브 등 여러 서버 프로세스의 생성·감시·정리를 총괄한다. RECO(Recoverer Process)는 분산 트랜잭션에서 발생한 미해결(in-doubt) 트랜잭션을 자동으로 해결한다. 여러 데이터베이스에 걸친 2단계 커밋 도중 네트워크·노드 장애로 커밋인지 롤백인지 애매해진 트랜잭션을, 관련 노드가 복구되면 RECO가 자동으로 커밋 또는 롤백해 정리한다. LREG(Listener Registration Process)는 인스턴스와 데이터베이스 서비스 정보를 리스너에 등록해, 클라이언트가 리스너를 통해 인스턴스에 접속할 수 있게 한다. 이 역할은 12c 이전에는 PMON이 담당했다.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MMON(Manageability Monitor Process)은 데이터베이스의 자기 관리와 자동 진단 인프라의 심장이다. 주요 작업은 다음과 같다. (1) AWR 스냅샷 자동 생성 — 기본 1시간마다 성능 통계 스냅샷을 떠서 AWR에 저장하며, 이것이 ADDM 등 성능 분석의 기초 데이터가 된다. (2) 서버 생성 알림 발행 — 테이블스페이스 사용률이 임계치를 넘는 등 사전 정의 조건이 충족되면 경고를 발생시킨다. (3) 기준선 계산 — 성능 지표의 정상 범위를 산정해 이후 이상 탐지의 비교 기준으로 삼는다. (4) 자동 진단 트리거 — 심각한 문제를 감지하면 관련 어드바이저나 진단 작업을 자동으로 트리거한다.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MMON은 혼자 일하지 않는다. MMNL(Manageability Monitor Lite)이 MMON을 보조한다. MMNL은 이름처럼 가볍고(lite) 빈번한 작업을 담당하는데, 대표적으로 ASH(Active Session History) 버퍼가 가득 차면 디스크로 플러시하는 일을 한다. MMON이 만든 AWR 스냅샷은 DBA_HIST_SNAPSHOT 뷰로 확인할 수 있으며, 기본 1시간 간격이다. AWR과 관리성 인프라 전반은 29~32장에서 본격적으로 다룬다. 이 장에서는 그 자동 진단의 밑바닥에 MMON/MMNL이 있다는 점을 기억한다.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온라인 리두 로그는 소수의 그룹으로 이루어진 순환 구조다. LGWR가 한 그룹을 다 채우면 다음 그룹으로 넘어가고(log switch), 모든 그룹을 다 쓰면 다시 첫 그룹으로 돌아가 덮어쓴다. 만약 덮어쓰기 전에 사본을 남기지 않으면 과거의 리두가 영영 사라져 특정 시점으로의 복구가 불가능해진다. 그래서 ARCHIVELOG 모드에서는 ARCn이 재사용되기 직전의 리두 로그를 아카이브 목적지로 복사해 둔다. 이 아카이브 리두 로그가 있어야 백업 시점 이후 장애 직전까지의 완전 복구(및 시점 복구)가 가능하다.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ARCn이 아카이빙을 수행하는 주된 계기는 로그 스위치다. LGWR가 한 리두 로그 그룹을 다 채우고 다음 그룹으로 전환하면, 방금 채워진 그룹을 ARCn이 아카이브 목적지로 복사한다. ARCHIVE LOG LIST 명령으로 아카이브 모드 여부와 목적지, 시퀀스를 확인한다. 아카이버는 LOG_ARCHIVE_MAX_PROCESSES 파라미터로 ARC0부터 최대 30개까지 구성할 수 있다. 모범 사례: 실무에서 가장 흔한 사고는 아카이브 목적지(FRA)가 가득 차 아카이빙이 멈추는 것이다. ARCn이 로그를 아카이브하지 못하면 아카이브되지 않은 리두 로그 그룹을 재사용할 수 없어 결국 데이터베이스 전체가 멈춘다. 따라서 아카이브 목적지 공간 관리가 곧 가용성 관리다.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사용자가 SELECT를 실행하면 다음 순서로 처리된다. (1) 클라이언트 프로세스가 SQL을 서버 프로세스에 전달한다. (2) 서버 프로세스는 SGA의 공유 풀에서 SQL을 파싱하고 실행 계획을 세운다(이미 있으면 soft parse). (3) 필요한 데이터 블록이 버퍼 캐시에 있으면 그대로 읽는다(캐시 히트). (4) 없으면 데이터 파일에서 읽어 버퍼 캐시에 올린 뒤 사용한다. (5) 결과를 클라이언트에 반환한다. 읽기만 하는 SELECT는 DBWn·LGWR 같은 백그라운드 프로세스가 거의 개입하지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변경을 수반하는 처리는 더 많은 프로세스가 협력한다. (1) 서버 프로세스가 변경 대상 블록을 버퍼 캐시로 가져온다(없으면 데이터 파일에서 읽음). (2) 변경을 적용하기 전에 리두를 리두 로그 버퍼에, 언두를 언두 세그먼트에 기록한다. (3) 버퍼 캐시의 블록을 실제로 변경해 더티 버퍼로 만든다. (4) 사용자가 COMMIT하면 LGWR가 해당 트랜잭션의 리두를 리두 로그 파일에 기록하고, 기록이 끝나야 커밋이 완료된다. (5) 더티 버퍼는 이후 DBWn이 트리거 조건(체크포인트·빈 버퍼 부족·타임아웃 등)에 따라 데이터 파일에 기록한다. 핵심은 커밋의 지속성이 데이터 파일 쓰기가 아니라 리두 로그 쓰기로 보장된다는 점이다.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1장에서 배운 멀티테넌트 아키텍처를 이 장의 프로세스 지식과 연결하면, 가장 중요한 사실은 하나의 CDB에서 지금까지 설명한 모든 백그라운드 프로세스가 단 한 세트만 존재한다는 것이다. 근거는 명확하다. 백그라운드 프로세스는 인스턴스의 구성요소이고, 멀티테넌트에서 인스턴스는 CDB 하나에 하나(RAC 제외)이기 때문이다. PDB는 자체 인스턴스를 갖지 않고 CDB의 인스턴스를 공유한다. 이것이 1장에서 강조한 멀티테넌트의 통합 이점, 즉 백그라운드 프로세스 중복 제거와 메모리 할당 중복 제거의 실체다. 100개 애플리케이션을 100개 PDB로 통합하면 프로세스·SGA도 한 세트로 통합된다.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실무에서 유의할 점은 V$BGPROCESS·V$PROCESS 같은 프로세스 관련 동적 성능 뷰가 인스턴스 전역 정보라는 것이다. 특정 PDB에 접속해 이 뷰를 조회해도 CDB 전체의 프로세스가 보인다. 반면 세션과 데이터는 컨테이너별로 구분되며 CON_ID 컬럼으로 어느 PDB에 속하는지 확인한다. 프로세스가 공용이므로, 한 PDB에서 대량 배치로 리두를 폭발적으로 생성하면 공용 LGWR·공용 리두 로그·공용 아카이버가 모두 그 부하를 받아 다른 PDB에도 영향을 줄 수 있다. 한 줄 요약: 인스턴스는 CDB 단위로 하나, 데이터 파일과 스키마는 PDB 단위로 따로.</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(b) DBWn. 해설: 더티 버퍼를 데이터 파일에 기록하는 것은 DBWn이다. LGWR는 리두 로그 버퍼→리두 로그 파일, CKPT는 체크포인트 관리(직접 쓰지 않고 신호), SMON은 인스턴스 복구·정리를 담당한다.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(b). 해설: 커밋의 지속성은 데이터 파일 쓰기가 아니라 LGWR의 리두 로그 기록으로 보장된다. 커밋 순간 데이터 파일은 아직 옛 상태일 수 있으나 리두가 안전하므로 복구가 가능하다.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현재는 LREG. 12c 이전에는 PMON이 담당했다. 해설: 12c부터 동적 서비스 등록 책임이 PMON에서 전용 프로세스 LREG로 분리되어, PMON은 프로세스·세션 정리에 집중한다.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(b) SMON. 해설: 인스턴스 복구는 SMON이 담당한다. roll forward(리두 재적용)로 장애 직전까지 전진 후 roll back(미커밋 롤백)한다. PMON은 실패 프로세스 정리, RECO는 분산 트랜잭션, ARCn은 아카이빙.</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(b), (c), (d). 해설: ARCn은 ARCHIVELOG 모드에서만 동작한다(a 오답). 로그 스위치 시 재사용 직전 리두 로그를 아카이브 목적지로 복사하며, LOG_ARCHIVE_MAX_PROCESSES로 최대 30개까지 구성한다.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(c). 해설: 백그라운드 프로세스와 SGA는 인스턴스의 구성요소이고, 멀티테넌트에서 인스턴스는 CDB당 하나다(RAC 제외). 따라서 PDB 수와 무관하게 백그라운드 프로세스는 CDB당 한 세트만 존재하며 모든 PDB가 공유한다.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장에서는 인스턴스의 심장부인 백그라운드 프로세스들의 역할과 협력 구조를 정리했다. 각 프로세스를 '역할 → 트리거 → 관련 뷰'의 틀로 학습했고, SELECT/UPDATE·COMMIT 흐름에서 이들이 유기적으로 협력함을 확인했다. 커밋 응답 시간은 데이터 파일 쓰기가 아니라 LGWR의 리두 기록으로 결정된다. 다음 3장(메모리 관리)에서는 이 프로세스들이 드나드는 무대인 SGA와 PGA를 자세히 다룬다.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실습은 프로세스 구조를 조회로 직접 확인하는 데 목적이 있다. SQL*Plus 세션 트랜스크립트 형태로 여덟 가지 주제(2-1~2-8)를 제공한다. V$PROCESS/V$BGPROCESS로 전체 프로세스를 조망하고, 각 백그라운드 프로세스의 존재와 관련 파라미터를 조회하며, 대기 이벤트로 읽기/쓰기 흐름을 관찰하고, 마지막으로 프로세스가 CDB 공용임을 확인한다. SYSDBA 또는 SELECT 권한이 필요하다.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286000"/>
            <a:ext cx="182880"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548640"/>
          </a:xfrm>
          <a:prstGeom prst="rect">
            <a:avLst/>
          </a:prstGeom>
          <a:noFill/>
        </p:spPr>
        <p:txBody>
          <a:bodyPr wrap="square">
            <a:noAutofit/>
          </a:bodyPr>
          <a:lstStyle/>
          <a:p>
            <a:pPr>
              <a:spcAft>
                <a:spcPts val="600"/>
              </a:spcAft>
            </a:pPr>
            <a:r>
              <a:rPr sz="1800" b="1">
                <a:solidFill>
                  <a:srgbClr val="C0392B"/>
                </a:solidFill>
                <a:latin typeface="Malgun Gothic"/>
                <a:ea typeface="Malgun Gothic"/>
                <a:cs typeface="Malgun Gothic"/>
              </a:rPr>
              <a:t>Oracle Database 19c Administration Workshop  ·  제2장</a:t>
            </a:r>
          </a:p>
        </p:txBody>
      </p:sp>
      <p:sp>
        <p:nvSpPr>
          <p:cNvPr id="4" name="TextBox 3"/>
          <p:cNvSpPr txBox="1"/>
          <p:nvPr/>
        </p:nvSpPr>
        <p:spPr>
          <a:xfrm>
            <a:off x="1188720" y="2194560"/>
            <a:ext cx="10332720" cy="2011680"/>
          </a:xfrm>
          <a:prstGeom prst="rect">
            <a:avLst/>
          </a:prstGeom>
          <a:noFill/>
        </p:spPr>
        <p:txBody>
          <a:bodyPr wrap="square">
            <a:noAutofit/>
          </a:bodyPr>
          <a:lstStyle/>
          <a:p>
            <a:pPr>
              <a:spcAft>
                <a:spcPts val="600"/>
              </a:spcAft>
            </a:pPr>
            <a:r>
              <a:rPr sz="4400" b="1">
                <a:solidFill>
                  <a:srgbClr val="FFFFFF"/>
                </a:solidFill>
                <a:latin typeface="Malgun Gothic"/>
                <a:ea typeface="Malgun Gothic"/>
                <a:cs typeface="Malgun Gothic"/>
              </a:rPr>
              <a:t>데이터베이스 프로세스</a:t>
            </a:r>
          </a:p>
        </p:txBody>
      </p:sp>
      <p:sp>
        <p:nvSpPr>
          <p:cNvPr id="5" name="TextBox 4"/>
          <p:cNvSpPr txBox="1"/>
          <p:nvPr/>
        </p:nvSpPr>
        <p:spPr>
          <a:xfrm>
            <a:off x="1188720" y="4297680"/>
            <a:ext cx="10058400" cy="1097280"/>
          </a:xfrm>
          <a:prstGeom prst="rect">
            <a:avLst/>
          </a:prstGeom>
          <a:noFill/>
        </p:spPr>
        <p:txBody>
          <a:bodyPr wrap="square">
            <a:noAutofit/>
          </a:bodyPr>
          <a:lstStyle/>
          <a:p>
            <a:pPr>
              <a:spcAft>
                <a:spcPts val="600"/>
              </a:spcAft>
            </a:pPr>
            <a:r>
              <a:rPr sz="1800" b="0">
                <a:solidFill>
                  <a:srgbClr val="C5CED6"/>
                </a:solidFill>
                <a:latin typeface="Malgun Gothic"/>
                <a:ea typeface="Malgun Gothic"/>
                <a:cs typeface="Malgun Gothic"/>
              </a:rPr>
              <a:t>프로세스 아키텍처 · 백그라운드 프로세스(DBWn·LGWR·CKPT·SMON·PMON·PMAN·RECO·LREG·MMON·ARCn) · 메모리·프로세스·저장소 상호작용 · CDB/PDB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oAutofit/>
          </a:bodyPr>
          <a:lstStyle/>
          <a:p>
            <a:pPr>
              <a:spcAft>
                <a:spcPts val="600"/>
              </a:spcAft>
            </a:pPr>
            <a:r>
              <a:rPr sz="2600" b="1">
                <a:solidFill>
                  <a:srgbClr val="FFFFFF"/>
                </a:solidFill>
                <a:latin typeface="Malgun Gothic"/>
                <a:ea typeface="Malgun Gothic"/>
                <a:cs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noAutofit/>
          </a:bodyPr>
          <a:lstStyle/>
          <a:p>
            <a:pPr>
              <a:spcAft>
                <a:spcPts val="700"/>
              </a:spcAft>
            </a:pPr>
            <a:r>
              <a:rPr sz="1800" b="0">
                <a:solidFill>
                  <a:srgbClr val="202830"/>
                </a:solidFill>
                <a:latin typeface="Malgun Gothic"/>
                <a:ea typeface="Malgun Gothic"/>
                <a:cs typeface="Malgun Gothic"/>
              </a:rPr>
              <a:t>•  이 장을 마치면 다음을 수행할 수 있어야 한다.</a:t>
            </a:r>
          </a:p>
          <a:p>
            <a:pPr>
              <a:spcAft>
                <a:spcPts val="700"/>
              </a:spcAft>
            </a:pPr>
            <a:r>
              <a:rPr sz="1800" b="0">
                <a:solidFill>
                  <a:srgbClr val="202830"/>
                </a:solidFill>
                <a:latin typeface="Malgun Gothic"/>
                <a:ea typeface="Malgun Gothic"/>
                <a:cs typeface="Malgun Gothic"/>
              </a:rPr>
              <a:t>•  Oracle 프로세스 아키텍처를 설명한다.</a:t>
            </a:r>
          </a:p>
          <a:p>
            <a:pPr>
              <a:spcAft>
                <a:spcPts val="700"/>
              </a:spcAft>
            </a:pPr>
            <a:r>
              <a:rPr sz="1800" b="0">
                <a:solidFill>
                  <a:srgbClr val="202830"/>
                </a:solidFill>
                <a:latin typeface="Malgun Gothic"/>
                <a:ea typeface="Malgun Gothic"/>
                <a:cs typeface="Malgun Gothic"/>
              </a:rPr>
              <a:t>•  프로세스 구조(클라이언트·서버·백그라운드·슬레이브)를 구분하여 설명한다.</a:t>
            </a:r>
          </a:p>
          <a:p>
            <a:pPr>
              <a:spcAft>
                <a:spcPts val="700"/>
              </a:spcAft>
            </a:pPr>
            <a:r>
              <a:rPr sz="1800" b="0">
                <a:solidFill>
                  <a:srgbClr val="202830"/>
                </a:solidFill>
                <a:latin typeface="Malgun Gothic"/>
                <a:ea typeface="Malgun Gothic"/>
                <a:cs typeface="Malgun Gothic"/>
              </a:rPr>
              <a:t>•  각 백그라운드 프로세스(DBWn·LGWR·CKPT·SMON·PMON·PMAN·RECO·LREG·MMON·ARCn)의 역할을 설명한다.</a:t>
            </a:r>
          </a:p>
          <a:p>
            <a:pPr>
              <a:spcAft>
                <a:spcPts val="700"/>
              </a:spcAft>
            </a:pPr>
            <a:r>
              <a:rPr sz="1800" b="0">
                <a:solidFill>
                  <a:srgbClr val="202830"/>
                </a:solidFill>
                <a:latin typeface="Malgun Gothic"/>
                <a:ea typeface="Malgun Gothic"/>
                <a:cs typeface="Malgun Gothic"/>
              </a:rPr>
              <a:t>•  각 백그라운드 프로세스가 어떤 조건(트리거)에서 동작하는지 설명한다.</a:t>
            </a:r>
          </a:p>
          <a:p>
            <a:pPr>
              <a:spcAft>
                <a:spcPts val="700"/>
              </a:spcAft>
            </a:pPr>
            <a:r>
              <a:rPr sz="1800" b="0">
                <a:solidFill>
                  <a:srgbClr val="202830"/>
                </a:solidFill>
                <a:latin typeface="Malgun Gothic"/>
                <a:ea typeface="Malgun Gothic"/>
                <a:cs typeface="Malgun Gothic"/>
              </a:rPr>
              <a:t>•  메모리·프로세스·저장소가 SQL 처리 과정에서 어떻게 상호작용하는지 설명한다.</a:t>
            </a:r>
          </a:p>
          <a:p>
            <a:pPr>
              <a:spcAft>
                <a:spcPts val="700"/>
              </a:spcAft>
            </a:pPr>
            <a:r>
              <a:rPr sz="1800" b="0">
                <a:solidFill>
                  <a:srgbClr val="202830"/>
                </a:solidFill>
                <a:latin typeface="Malgun Gothic"/>
                <a:ea typeface="Malgun Gothic"/>
                <a:cs typeface="Malgun Gothic"/>
              </a:rPr>
              <a:t>•  CDB/PDB 멀티테넌트 환경에서 백그라운드 프로세스가 어떻게 공유되는지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oAutofit/>
          </a:bodyPr>
          <a:lstStyle/>
          <a:p>
            <a:pPr>
              <a:spcAft>
                <a:spcPts val="600"/>
              </a:spcAft>
            </a:pPr>
            <a:r>
              <a:rPr sz="2600" b="1">
                <a:solidFill>
                  <a:srgbClr val="FFFFFF"/>
                </a:solidFill>
                <a:latin typeface="Malgun Gothic"/>
                <a:ea typeface="Malgun Gothic"/>
                <a:cs typeface="Malgun Gothic"/>
              </a:rPr>
              <a:t>이 장의 구성 (Agenda)</a:t>
            </a:r>
          </a:p>
        </p:txBody>
      </p:sp>
      <p:sp>
        <p:nvSpPr>
          <p:cNvPr id="4" name="TextBox 3"/>
          <p:cNvSpPr txBox="1"/>
          <p:nvPr/>
        </p:nvSpPr>
        <p:spPr>
          <a:xfrm>
            <a:off x="640080" y="1234440"/>
            <a:ext cx="10881360" cy="4206240"/>
          </a:xfrm>
          <a:prstGeom prst="rect">
            <a:avLst/>
          </a:prstGeom>
          <a:noFill/>
        </p:spPr>
        <p:txBody>
          <a:bodyPr wrap="square">
            <a:noAutofit/>
          </a:bodyPr>
          <a:lstStyle/>
          <a:p>
            <a:pPr>
              <a:spcAft>
                <a:spcPts val="700"/>
              </a:spcAft>
            </a:pPr>
            <a:r>
              <a:rPr sz="1800" b="0">
                <a:solidFill>
                  <a:srgbClr val="202830"/>
                </a:solidFill>
                <a:latin typeface="Malgun Gothic"/>
                <a:ea typeface="Malgun Gothic"/>
                <a:cs typeface="Malgun Gothic"/>
              </a:rPr>
              <a:t>•  2.1  프로세스 아키텍처 개요</a:t>
            </a:r>
          </a:p>
          <a:p>
            <a:pPr>
              <a:spcAft>
                <a:spcPts val="700"/>
              </a:spcAft>
            </a:pPr>
            <a:r>
              <a:rPr sz="1800" b="0">
                <a:solidFill>
                  <a:srgbClr val="202830"/>
                </a:solidFill>
                <a:latin typeface="Malgun Gothic"/>
                <a:ea typeface="Malgun Gothic"/>
                <a:cs typeface="Malgun Gothic"/>
              </a:rPr>
              <a:t>•  2.2  프로세스 구조: 클라이언트·서버·백그라운드·슬레이브</a:t>
            </a:r>
          </a:p>
          <a:p>
            <a:pPr>
              <a:spcAft>
                <a:spcPts val="700"/>
              </a:spcAft>
            </a:pPr>
            <a:r>
              <a:rPr sz="1800" b="0">
                <a:solidFill>
                  <a:srgbClr val="202830"/>
                </a:solidFill>
                <a:latin typeface="Malgun Gothic"/>
                <a:ea typeface="Malgun Gothic"/>
                <a:cs typeface="Malgun Gothic"/>
              </a:rPr>
              <a:t>•  2.3~2.9  백그라운드 프로세스별 상세: DBWn·LGWR·CKPT·SMON/PMON·PMAN/RECO/LREG·MMON/MMNL·ARCn</a:t>
            </a:r>
          </a:p>
          <a:p>
            <a:pPr>
              <a:spcAft>
                <a:spcPts val="700"/>
              </a:spcAft>
            </a:pPr>
            <a:r>
              <a:rPr sz="1800" b="0">
                <a:solidFill>
                  <a:srgbClr val="202830"/>
                </a:solidFill>
                <a:latin typeface="Malgun Gothic"/>
                <a:ea typeface="Malgun Gothic"/>
                <a:cs typeface="Malgun Gothic"/>
              </a:rPr>
              <a:t>•  2.10  메모리·프로세스·저장소의 상호작용(SELECT / UPDATE·COMMIT 흐름)</a:t>
            </a:r>
          </a:p>
          <a:p>
            <a:pPr>
              <a:spcAft>
                <a:spcPts val="700"/>
              </a:spcAft>
            </a:pPr>
            <a:r>
              <a:rPr sz="1800" b="0">
                <a:solidFill>
                  <a:srgbClr val="202830"/>
                </a:solidFill>
                <a:latin typeface="Malgun Gothic"/>
                <a:ea typeface="Malgun Gothic"/>
                <a:cs typeface="Malgun Gothic"/>
              </a:rPr>
              <a:t>•  2.11  CDB/PDB 환경에서의 백그라운드 프로세스</a:t>
            </a:r>
          </a:p>
          <a:p>
            <a:pPr>
              <a:spcAft>
                <a:spcPts val="700"/>
              </a:spcAft>
            </a:pPr>
            <a:r>
              <a:rPr sz="1800" b="0">
                <a:solidFill>
                  <a:srgbClr val="202830"/>
                </a:solidFill>
                <a:latin typeface="Malgun Gothic"/>
                <a:ea typeface="Malgun Gothic"/>
                <a:cs typeface="Malgun Gothic"/>
              </a:rPr>
              <a:t>•  2.12 퀴즈 · 2.13 요약 · 2.14 실습 2 개요</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69280"/>
            <a:ext cx="10515600" cy="868680"/>
          </a:xfrm>
          <a:prstGeom prst="rect">
            <a:avLst/>
          </a:prstGeom>
          <a:noFill/>
        </p:spPr>
        <p:txBody>
          <a:bodyPr wrap="square">
            <a:noAutofit/>
          </a:bodyPr>
          <a:lstStyle/>
          <a:p>
            <a:pPr>
              <a:spcAft>
                <a:spcPts val="200"/>
              </a:spcAft>
            </a:pPr>
            <a:r>
              <a:rPr sz="1300" b="1">
                <a:solidFill>
                  <a:srgbClr val="B88600"/>
                </a:solidFill>
                <a:latin typeface="Malgun Gothic"/>
                <a:ea typeface="Malgun Gothic"/>
                <a:cs typeface="Malgun Gothic"/>
              </a:rPr>
              <a:t>참고:</a:t>
            </a:r>
          </a:p>
          <a:p>
            <a:pPr>
              <a:spcAft>
                <a:spcPts val="0"/>
              </a:spcAft>
            </a:pPr>
            <a:r>
              <a:rPr sz="1250" b="0">
                <a:solidFill>
                  <a:srgbClr val="202830"/>
                </a:solidFill>
                <a:latin typeface="Malgun Gothic"/>
                <a:ea typeface="Malgun Gothic"/>
                <a:cs typeface="Malgun Gothic"/>
              </a:rPr>
              <a:t>각 백그라운드 프로세스는 '역할 → 트리거 조건 → 관련 뷰 → 실무 팁 → 19c 특이사항'의 일관된 틀로 학습한다. 이 틀을 염두에 두면 낯선 프로세스도 빠르게 정리된다.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noAutofit/>
          </a:bodyPr>
          <a:lstStyle/>
          <a:p>
            <a:pPr>
              <a:spcAft>
                <a:spcPts val="600"/>
              </a:spcAft>
            </a:pPr>
            <a:r>
              <a:rPr sz="6600" b="1">
                <a:solidFill>
                  <a:srgbClr val="C0392B"/>
                </a:solidFill>
                <a:latin typeface="Malgun Gothic"/>
                <a:ea typeface="Malgun Gothic"/>
                <a:cs typeface="Malgun Gothic"/>
              </a:rPr>
              <a:t>2.1</a:t>
            </a:r>
          </a:p>
        </p:txBody>
      </p:sp>
      <p:sp>
        <p:nvSpPr>
          <p:cNvPr id="3" name="TextBox 2"/>
          <p:cNvSpPr txBox="1"/>
          <p:nvPr/>
        </p:nvSpPr>
        <p:spPr>
          <a:xfrm>
            <a:off x="822960" y="2743200"/>
            <a:ext cx="10515600" cy="1097280"/>
          </a:xfrm>
          <a:prstGeom prst="rect">
            <a:avLst/>
          </a:prstGeom>
          <a:noFill/>
        </p:spPr>
        <p:txBody>
          <a:bodyPr wrap="square">
            <a:noAutofit/>
          </a:bodyPr>
          <a:lstStyle/>
          <a:p>
            <a:pPr>
              <a:spcAft>
                <a:spcPts val="600"/>
              </a:spcAft>
            </a:pPr>
            <a:r>
              <a:rPr sz="3400" b="1">
                <a:solidFill>
                  <a:srgbClr val="FFFFFF"/>
                </a:solidFill>
                <a:latin typeface="Malgun Gothic"/>
                <a:ea typeface="Malgun Gothic"/>
                <a:cs typeface="Malgun Gothic"/>
              </a:rPr>
              <a:t>프로세스 아키텍처 개요</a:t>
            </a:r>
          </a:p>
        </p:txBody>
      </p:sp>
      <p:sp>
        <p:nvSpPr>
          <p:cNvPr id="4" name="Rectangle 3"/>
          <p:cNvSpPr/>
          <p:nvPr/>
        </p:nvSpPr>
        <p:spPr>
          <a:xfrm>
            <a:off x="822960" y="3840480"/>
            <a:ext cx="4114800" cy="91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noAutofit/>
          </a:bodyPr>
          <a:lstStyle/>
          <a:p>
            <a:pPr>
              <a:spcAft>
                <a:spcPts val="800"/>
              </a:spcAft>
            </a:pPr>
            <a:r>
              <a:rPr sz="1600" b="0">
                <a:solidFill>
                  <a:srgbClr val="C5CED6"/>
                </a:solidFill>
                <a:latin typeface="Malgun Gothic"/>
                <a:ea typeface="Malgun Gothic"/>
                <a:cs typeface="Malgun Gothic"/>
              </a:rPr>
              <a:t>•  프로세스 = OS 수준의 '실행 중인 작업의 단위'이자 제어의 메커니즘</a:t>
            </a:r>
          </a:p>
          <a:p>
            <a:pPr>
              <a:spcAft>
                <a:spcPts val="800"/>
              </a:spcAft>
            </a:pPr>
            <a:r>
              <a:rPr sz="1600" b="0">
                <a:solidFill>
                  <a:srgbClr val="C5CED6"/>
                </a:solidFill>
                <a:latin typeface="Malgun Gothic"/>
                <a:ea typeface="Malgun Gothic"/>
                <a:cs typeface="Malgun Gothic"/>
              </a:rPr>
              <a:t>•  Oracle은 멀티프로세스 또는 멀티스레드 방식으로 프로세스를 구성</a:t>
            </a:r>
          </a:p>
          <a:p>
            <a:pPr>
              <a:spcAft>
                <a:spcPts val="800"/>
              </a:spcAft>
            </a:pPr>
            <a:r>
              <a:rPr sz="1600" b="0">
                <a:solidFill>
                  <a:srgbClr val="C5CED6"/>
                </a:solidFill>
                <a:latin typeface="Malgun Gothic"/>
                <a:ea typeface="Malgun Gothic"/>
                <a:cs typeface="Malgun Gothic"/>
              </a:rPr>
              <a:t>•  프로세스는 크게 클라이언트·서버·백그라운드(+슬레이브)로 구분</a:t>
            </a:r>
          </a:p>
          <a:p>
            <a:pPr>
              <a:spcAft>
                <a:spcPts val="800"/>
              </a:spcAft>
            </a:pPr>
            <a:r>
              <a:rPr sz="1600" b="0">
                <a:solidFill>
                  <a:srgbClr val="C5CED6"/>
                </a:solidFill>
                <a:latin typeface="Malgun Gothic"/>
                <a:ea typeface="Malgun Gothic"/>
                <a:cs typeface="Malgun Gothic"/>
              </a:rPr>
              <a:t>•  V$PROCESS · V$BGPROCESS로 현재 인스턴스의 프로세스를 조회</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oAutofit/>
          </a:bodyPr>
          <a:lstStyle/>
          <a:p>
            <a:pPr>
              <a:spcAft>
                <a:spcPts val="600"/>
              </a:spcAft>
            </a:pPr>
            <a:r>
              <a:rPr sz="2600" b="1">
                <a:solidFill>
                  <a:srgbClr val="FFFFFF"/>
                </a:solidFill>
                <a:latin typeface="Malgun Gothic"/>
                <a:ea typeface="Malgun Gothic"/>
                <a:cs typeface="Malgun Gothic"/>
              </a:rPr>
              <a:t>프로세스란 무엇인가</a:t>
            </a:r>
          </a:p>
        </p:txBody>
      </p:sp>
      <p:sp>
        <p:nvSpPr>
          <p:cNvPr id="4" name="TextBox 3"/>
          <p:cNvSpPr txBox="1"/>
          <p:nvPr/>
        </p:nvSpPr>
        <p:spPr>
          <a:xfrm>
            <a:off x="640080" y="1234440"/>
            <a:ext cx="10881360" cy="4937760"/>
          </a:xfrm>
          <a:prstGeom prst="rect">
            <a:avLst/>
          </a:prstGeom>
          <a:noFill/>
        </p:spPr>
        <p:txBody>
          <a:bodyPr wrap="square">
            <a:noAutofit/>
          </a:bodyPr>
          <a:lstStyle/>
          <a:p>
            <a:pPr>
              <a:spcAft>
                <a:spcPts val="700"/>
              </a:spcAft>
            </a:pPr>
            <a:r>
              <a:rPr sz="1800" b="0">
                <a:solidFill>
                  <a:srgbClr val="202830"/>
                </a:solidFill>
                <a:latin typeface="Malgun Gothic"/>
                <a:ea typeface="Malgun Gothic"/>
                <a:cs typeface="Malgun Gothic"/>
              </a:rPr>
              <a:t>•  프로세스(process): OS 수준에서 '실행 중인 작업의 단위'이자 제어의 메커니즘</a:t>
            </a:r>
          </a:p>
          <a:p>
            <a:pPr>
              <a:spcAft>
                <a:spcPts val="700"/>
              </a:spcAft>
            </a:pPr>
            <a:r>
              <a:rPr sz="1800" b="0">
                <a:solidFill>
                  <a:srgbClr val="202830"/>
                </a:solidFill>
                <a:latin typeface="Malgun Gothic"/>
                <a:ea typeface="Malgun Gothic"/>
                <a:cs typeface="Malgun Gothic"/>
              </a:rPr>
              <a:t>•  인스턴스 기동 시 OS 관점에서 실제 프로세스들이 생성된다</a:t>
            </a:r>
          </a:p>
          <a:p>
            <a:pPr lvl="1">
              <a:spcAft>
                <a:spcPts val="600"/>
              </a:spcAft>
            </a:pPr>
            <a:r>
              <a:rPr sz="1600" b="0">
                <a:solidFill>
                  <a:srgbClr val="5A6672"/>
                </a:solidFill>
                <a:latin typeface="Malgun Gothic"/>
                <a:ea typeface="Malgun Gothic"/>
                <a:cs typeface="Malgun Gothic"/>
              </a:rPr>
              <a:t>    –  Linux/UNIX에서 'ps -ef | grep ora_'로 백그라운드 프로세스 확인 가능</a:t>
            </a:r>
          </a:p>
          <a:p>
            <a:pPr>
              <a:spcAft>
                <a:spcPts val="700"/>
              </a:spcAft>
            </a:pPr>
            <a:r>
              <a:rPr sz="1800" b="0">
                <a:solidFill>
                  <a:srgbClr val="202830"/>
                </a:solidFill>
                <a:latin typeface="Malgun Gothic"/>
                <a:ea typeface="Malgun Gothic"/>
                <a:cs typeface="Malgun Gothic"/>
              </a:rPr>
              <a:t>•  각 프로세스는 자체 메모리(PGA 등)를 갖고 독립적으로 실행된다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oAutofit/>
          </a:bodyPr>
          <a:lstStyle/>
          <a:p>
            <a:pPr>
              <a:spcAft>
                <a:spcPts val="600"/>
              </a:spcAft>
            </a:pPr>
            <a:r>
              <a:rPr sz="2600" b="1">
                <a:solidFill>
                  <a:srgbClr val="FFFFFF"/>
                </a:solidFill>
                <a:latin typeface="Malgun Gothic"/>
                <a:ea typeface="Malgun Gothic"/>
                <a:cs typeface="Malgun Gothic"/>
              </a:rPr>
              <a:t>멀티프로세스 vs 멀티스레드 아키텍처</a:t>
            </a:r>
          </a:p>
        </p:txBody>
      </p:sp>
      <p:sp>
        <p:nvSpPr>
          <p:cNvPr id="4" name="TextBox 3"/>
          <p:cNvSpPr txBox="1"/>
          <p:nvPr/>
        </p:nvSpPr>
        <p:spPr>
          <a:xfrm>
            <a:off x="640080" y="1234440"/>
            <a:ext cx="10881360" cy="4937760"/>
          </a:xfrm>
          <a:prstGeom prst="rect">
            <a:avLst/>
          </a:prstGeom>
          <a:noFill/>
        </p:spPr>
        <p:txBody>
          <a:bodyPr wrap="square">
            <a:noAutofit/>
          </a:bodyPr>
          <a:lstStyle/>
          <a:p>
            <a:pPr>
              <a:spcAft>
                <a:spcPts val="700"/>
              </a:spcAft>
            </a:pPr>
            <a:r>
              <a:rPr sz="1800" b="0">
                <a:solidFill>
                  <a:srgbClr val="202830"/>
                </a:solidFill>
                <a:latin typeface="Malgun Gothic"/>
                <a:ea typeface="Malgun Gothic"/>
                <a:cs typeface="Malgun Gothic"/>
              </a:rPr>
              <a:t>•  멀티프로세스(multiprocess): 각 Oracle 프로세스가 별도의 OS 프로세스로 실행</a:t>
            </a:r>
          </a:p>
          <a:p>
            <a:pPr lvl="1">
              <a:spcAft>
                <a:spcPts val="600"/>
              </a:spcAft>
            </a:pPr>
            <a:r>
              <a:rPr sz="1600" b="0">
                <a:solidFill>
                  <a:srgbClr val="5A6672"/>
                </a:solidFill>
                <a:latin typeface="Malgun Gothic"/>
                <a:ea typeface="Malgun Gothic"/>
                <a:cs typeface="Malgun Gothic"/>
              </a:rPr>
              <a:t>    –  대부분의 UNIX/Linux 환경의 전통적 기본 방식</a:t>
            </a:r>
          </a:p>
          <a:p>
            <a:pPr>
              <a:spcAft>
                <a:spcPts val="700"/>
              </a:spcAft>
            </a:pPr>
            <a:r>
              <a:rPr sz="1800" b="0">
                <a:solidFill>
                  <a:srgbClr val="202830"/>
                </a:solidFill>
                <a:latin typeface="Malgun Gothic"/>
                <a:ea typeface="Malgun Gothic"/>
                <a:cs typeface="Malgun Gothic"/>
              </a:rPr>
              <a:t>•  멀티스레드(multithreaded): 12c부터 도입, 여러 Oracle 프로세스를 소수의 OS 프로세스 내 스레드로 실행</a:t>
            </a:r>
          </a:p>
          <a:p>
            <a:pPr lvl="1">
              <a:spcAft>
                <a:spcPts val="600"/>
              </a:spcAft>
            </a:pPr>
            <a:r>
              <a:rPr sz="1600" b="0">
                <a:solidFill>
                  <a:srgbClr val="5A6672"/>
                </a:solidFill>
                <a:latin typeface="Malgun Gothic"/>
                <a:ea typeface="Malgun Gothic"/>
                <a:cs typeface="Malgun Gothic"/>
              </a:rPr>
              <a:t>    –  THREADED_EXECUTION=TRUE로 활성화, 프로세스 생성 비용·메모리 절감</a:t>
            </a:r>
          </a:p>
          <a:p>
            <a:pPr>
              <a:spcAft>
                <a:spcPts val="700"/>
              </a:spcAft>
            </a:pPr>
            <a:r>
              <a:rPr sz="1800" b="0">
                <a:solidFill>
                  <a:srgbClr val="202830"/>
                </a:solidFill>
                <a:latin typeface="Malgun Gothic"/>
                <a:ea typeface="Malgun Gothic"/>
                <a:cs typeface="Malgun Gothic"/>
              </a:rPr>
              <a:t>•  Windows는 전통적으로 스레드 기반(단일 oracle.exe)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oAutofit/>
          </a:bodyPr>
          <a:lstStyle/>
          <a:p>
            <a:pPr>
              <a:spcAft>
                <a:spcPts val="600"/>
              </a:spcAft>
            </a:pPr>
            <a:r>
              <a:rPr sz="2600" b="1">
                <a:solidFill>
                  <a:srgbClr val="FFFFFF"/>
                </a:solidFill>
                <a:latin typeface="Malgun Gothic"/>
                <a:ea typeface="Malgun Gothic"/>
                <a:cs typeface="Malgun Gothic"/>
              </a:rPr>
              <a:t>프로세스의 세 부류</a:t>
            </a:r>
          </a:p>
        </p:txBody>
      </p:sp>
      <p:sp>
        <p:nvSpPr>
          <p:cNvPr id="4" name="TextBox 3"/>
          <p:cNvSpPr txBox="1"/>
          <p:nvPr/>
        </p:nvSpPr>
        <p:spPr>
          <a:xfrm>
            <a:off x="640080" y="1234440"/>
            <a:ext cx="10881360" cy="4937760"/>
          </a:xfrm>
          <a:prstGeom prst="rect">
            <a:avLst/>
          </a:prstGeom>
          <a:noFill/>
        </p:spPr>
        <p:txBody>
          <a:bodyPr wrap="square">
            <a:noAutofit/>
          </a:bodyPr>
          <a:lstStyle/>
          <a:p>
            <a:pPr>
              <a:spcAft>
                <a:spcPts val="700"/>
              </a:spcAft>
            </a:pPr>
            <a:r>
              <a:rPr sz="1800" b="0">
                <a:solidFill>
                  <a:srgbClr val="202830"/>
                </a:solidFill>
                <a:latin typeface="Malgun Gothic"/>
                <a:ea typeface="Malgun Gothic"/>
                <a:cs typeface="Malgun Gothic"/>
              </a:rPr>
              <a:t>•  클라이언트 프로세스: 사용자가 실행하는 애플리케이션/도구(SQL*Plus 등)</a:t>
            </a:r>
          </a:p>
          <a:p>
            <a:pPr>
              <a:spcAft>
                <a:spcPts val="700"/>
              </a:spcAft>
            </a:pPr>
            <a:r>
              <a:rPr sz="1800" b="0">
                <a:solidFill>
                  <a:srgbClr val="202830"/>
                </a:solidFill>
                <a:latin typeface="Malgun Gothic"/>
                <a:ea typeface="Malgun Gothic"/>
                <a:cs typeface="Malgun Gothic"/>
              </a:rPr>
              <a:t>•  서버 프로세스: 클라이언트 요청을 실제로 처리, SGA와 상호작용</a:t>
            </a:r>
          </a:p>
          <a:p>
            <a:pPr>
              <a:spcAft>
                <a:spcPts val="700"/>
              </a:spcAft>
            </a:pPr>
            <a:r>
              <a:rPr sz="1800" b="0">
                <a:solidFill>
                  <a:srgbClr val="202830"/>
                </a:solidFill>
                <a:latin typeface="Malgun Gothic"/>
                <a:ea typeface="Malgun Gothic"/>
                <a:cs typeface="Malgun Gothic"/>
              </a:rPr>
              <a:t>•  백그라운드 프로세스: 인스턴스 기동 시 함께 시작, 인스턴스 전체 공통 작업 수행</a:t>
            </a:r>
          </a:p>
          <a:p>
            <a:pPr lvl="1">
              <a:spcAft>
                <a:spcPts val="600"/>
              </a:spcAft>
            </a:pPr>
            <a:r>
              <a:rPr sz="1600" b="0">
                <a:solidFill>
                  <a:srgbClr val="5A6672"/>
                </a:solidFill>
                <a:latin typeface="Malgun Gothic"/>
                <a:ea typeface="Malgun Gothic"/>
                <a:cs typeface="Malgun Gothic"/>
              </a:rPr>
              <a:t>    –  V$PROCESS: 인스턴스에 붙은 모든 OS 프로세스(서버+백그라운드)</a:t>
            </a:r>
          </a:p>
          <a:p>
            <a:pPr lvl="1">
              <a:spcAft>
                <a:spcPts val="600"/>
              </a:spcAft>
            </a:pPr>
            <a:r>
              <a:rPr sz="1600" b="0">
                <a:solidFill>
                  <a:srgbClr val="5A6672"/>
                </a:solidFill>
                <a:latin typeface="Malgun Gothic"/>
                <a:ea typeface="Malgun Gothic"/>
                <a:cs typeface="Malgun Gothic"/>
              </a:rPr>
              <a:t>    –  V$BGPROCESS: 백그라운드 프로세스 전용, PADDR&lt;&gt;'00'이면 기동 중</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oAutofit/>
          </a:bodyPr>
          <a:lstStyle/>
          <a:p>
            <a:pPr>
              <a:spcAft>
                <a:spcPts val="600"/>
              </a:spcAft>
            </a:pPr>
            <a:r>
              <a:rPr sz="2600" b="1">
                <a:solidFill>
                  <a:srgbClr val="FFFFFF"/>
                </a:solidFill>
                <a:latin typeface="Malgun Gothic"/>
                <a:ea typeface="Malgun Gothic"/>
                <a:cs typeface="Malgun Gothic"/>
              </a:rPr>
              <a:t>백그라운드 프로세스 목록 조회</a:t>
            </a:r>
          </a:p>
        </p:txBody>
      </p:sp>
      <p:sp>
        <p:nvSpPr>
          <p:cNvPr id="4" name="TextBox 3"/>
          <p:cNvSpPr txBox="1"/>
          <p:nvPr/>
        </p:nvSpPr>
        <p:spPr>
          <a:xfrm>
            <a:off x="640080" y="1170432"/>
            <a:ext cx="10881360" cy="457200"/>
          </a:xfrm>
          <a:prstGeom prst="rect">
            <a:avLst/>
          </a:prstGeom>
          <a:noFill/>
        </p:spPr>
        <p:txBody>
          <a:bodyPr wrap="square">
            <a:noAutofit/>
          </a:bodyPr>
          <a:lstStyle/>
          <a:p>
            <a:pPr>
              <a:spcAft>
                <a:spcPts val="600"/>
              </a:spcAft>
            </a:pPr>
            <a:r>
              <a:rPr sz="1500" b="0">
                <a:solidFill>
                  <a:srgbClr val="5A6672"/>
                </a:solidFill>
                <a:latin typeface="Malgun Gothic"/>
                <a:ea typeface="Malgun Gothic"/>
                <a:cs typeface="Malgun Gothic"/>
              </a:rPr>
              <a:t>V$BGPROCESS — 현재 기동 중인 백그라운드 프로세스와 설명 확인</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noAutofit/>
          </a:bodyPr>
          <a:lstStyle/>
          <a:p>
            <a:pPr>
              <a:spcAft>
                <a:spcPts val="0"/>
              </a:spcAft>
            </a:pPr>
            <a:r>
              <a:rPr sz="1100" b="0">
                <a:solidFill>
                  <a:srgbClr val="7EC699"/>
                </a:solidFill>
                <a:latin typeface="Consolas"/>
                <a:ea typeface="Consolas"/>
                <a:cs typeface="Consolas"/>
              </a:rPr>
              <a:t>-- 백그라운드 프로세스 목록과 설명 확인</a:t>
            </a:r>
          </a:p>
          <a:p>
            <a:pPr>
              <a:spcAft>
                <a:spcPts val="0"/>
              </a:spcAft>
            </a:pPr>
            <a:r>
              <a:rPr sz="1100" b="0">
                <a:solidFill>
                  <a:srgbClr val="E6E6E6"/>
                </a:solidFill>
                <a:latin typeface="Consolas"/>
                <a:ea typeface="Consolas"/>
                <a:cs typeface="Consolas"/>
              </a:rPr>
              <a:t>SQL&gt; SELECT name, description</a:t>
            </a:r>
          </a:p>
          <a:p>
            <a:pPr>
              <a:spcAft>
                <a:spcPts val="0"/>
              </a:spcAft>
            </a:pPr>
            <a:r>
              <a:rPr sz="1100" b="0">
                <a:solidFill>
                  <a:srgbClr val="E6E6E6"/>
                </a:solidFill>
                <a:latin typeface="Consolas"/>
                <a:ea typeface="Consolas"/>
                <a:cs typeface="Consolas"/>
              </a:rPr>
              <a:t>  2  FROM   v$bgprocess</a:t>
            </a:r>
          </a:p>
          <a:p>
            <a:pPr>
              <a:spcAft>
                <a:spcPts val="0"/>
              </a:spcAft>
            </a:pPr>
            <a:r>
              <a:rPr sz="1100" b="0">
                <a:solidFill>
                  <a:srgbClr val="E6E6E6"/>
                </a:solidFill>
                <a:latin typeface="Consolas"/>
                <a:ea typeface="Consolas"/>
                <a:cs typeface="Consolas"/>
              </a:rPr>
              <a:t>  3  WHERE  paddr &lt;&gt; '00'</a:t>
            </a:r>
          </a:p>
          <a:p>
            <a:pPr>
              <a:spcAft>
                <a:spcPts val="0"/>
              </a:spcAft>
            </a:pPr>
            <a:r>
              <a:rPr sz="1100" b="0">
                <a:solidFill>
                  <a:srgbClr val="E6E6E6"/>
                </a:solidFill>
                <a:latin typeface="Consolas"/>
                <a:ea typeface="Consolas"/>
                <a:cs typeface="Consolas"/>
              </a:rPr>
              <a:t>  4  ORDER  BY name;</a:t>
            </a:r>
          </a:p>
          <a:p>
            <a:pPr>
              <a:spcAft>
                <a:spcPts val="0"/>
              </a:spcAft>
            </a:pPr>
            <a:r>
              <a:rPr sz="1100" b="0">
                <a:solidFill>
                  <a:srgbClr val="E6E6E6"/>
                </a:solidFill>
                <a:latin typeface="Consolas"/>
                <a:ea typeface="Consolas"/>
                <a:cs typeface="Consolas"/>
              </a:rPr>
              <a:t> </a:t>
            </a:r>
          </a:p>
          <a:p>
            <a:pPr>
              <a:spcAft>
                <a:spcPts val="0"/>
              </a:spcAft>
            </a:pPr>
            <a:r>
              <a:rPr sz="1100" b="0">
                <a:solidFill>
                  <a:srgbClr val="E6E6E6"/>
                </a:solidFill>
                <a:latin typeface="Consolas"/>
                <a:ea typeface="Consolas"/>
                <a:cs typeface="Consolas"/>
              </a:rPr>
              <a:t>NAME   DESCRIPTION</a:t>
            </a:r>
          </a:p>
          <a:p>
            <a:pPr>
              <a:spcAft>
                <a:spcPts val="0"/>
              </a:spcAft>
            </a:pPr>
            <a:r>
              <a:rPr sz="1100" b="0">
                <a:solidFill>
                  <a:srgbClr val="7EC699"/>
                </a:solidFill>
                <a:latin typeface="Consolas"/>
                <a:ea typeface="Consolas"/>
                <a:cs typeface="Consolas"/>
              </a:rPr>
              <a:t>------ --------------------------------------------</a:t>
            </a:r>
          </a:p>
          <a:p>
            <a:pPr>
              <a:spcAft>
                <a:spcPts val="0"/>
              </a:spcAft>
            </a:pPr>
            <a:r>
              <a:rPr sz="1100" b="0">
                <a:solidFill>
                  <a:srgbClr val="E6E6E6"/>
                </a:solidFill>
                <a:latin typeface="Consolas"/>
                <a:ea typeface="Consolas"/>
                <a:cs typeface="Consolas"/>
              </a:rPr>
              <a:t>ARC0   Archival Process 0</a:t>
            </a:r>
          </a:p>
          <a:p>
            <a:pPr>
              <a:spcAft>
                <a:spcPts val="0"/>
              </a:spcAft>
            </a:pPr>
            <a:r>
              <a:rPr sz="1100" b="0">
                <a:solidFill>
                  <a:srgbClr val="E6E6E6"/>
                </a:solidFill>
                <a:latin typeface="Consolas"/>
                <a:ea typeface="Consolas"/>
                <a:cs typeface="Consolas"/>
              </a:rPr>
              <a:t>CKPT   checkpoint</a:t>
            </a:r>
          </a:p>
          <a:p>
            <a:pPr>
              <a:spcAft>
                <a:spcPts val="0"/>
              </a:spcAft>
            </a:pPr>
            <a:r>
              <a:rPr sz="1100" b="0">
                <a:solidFill>
                  <a:srgbClr val="E6E6E6"/>
                </a:solidFill>
                <a:latin typeface="Consolas"/>
                <a:ea typeface="Consolas"/>
                <a:cs typeface="Consolas"/>
              </a:rPr>
              <a:t>DBW0   db writer process 0</a:t>
            </a:r>
          </a:p>
          <a:p>
            <a:pPr>
              <a:spcAft>
                <a:spcPts val="0"/>
              </a:spcAft>
            </a:pPr>
            <a:r>
              <a:rPr sz="1100" b="0">
                <a:solidFill>
                  <a:srgbClr val="E6E6E6"/>
                </a:solidFill>
                <a:latin typeface="Consolas"/>
                <a:ea typeface="Consolas"/>
                <a:cs typeface="Consolas"/>
              </a:rPr>
              <a:t>LGWR   Redo etc.</a:t>
            </a:r>
          </a:p>
          <a:p>
            <a:pPr>
              <a:spcAft>
                <a:spcPts val="0"/>
              </a:spcAft>
            </a:pPr>
            <a:r>
              <a:rPr sz="1100" b="0">
                <a:solidFill>
                  <a:srgbClr val="E6E6E6"/>
                </a:solidFill>
                <a:latin typeface="Consolas"/>
                <a:ea typeface="Consolas"/>
                <a:cs typeface="Consolas"/>
              </a:rPr>
              <a:t>MMON   Manageability Monitor Process</a:t>
            </a:r>
          </a:p>
          <a:p>
            <a:pPr>
              <a:spcAft>
                <a:spcPts val="0"/>
              </a:spcAft>
            </a:pPr>
            <a:r>
              <a:rPr sz="1100" b="0">
                <a:solidFill>
                  <a:srgbClr val="E6E6E6"/>
                </a:solidFill>
                <a:latin typeface="Consolas"/>
                <a:ea typeface="Consolas"/>
                <a:cs typeface="Consolas"/>
              </a:rPr>
              <a:t>PMON   process cleanup</a:t>
            </a:r>
          </a:p>
          <a:p>
            <a:pPr>
              <a:spcAft>
                <a:spcPts val="0"/>
              </a:spcAft>
            </a:pPr>
            <a:r>
              <a:rPr sz="1100" b="0">
                <a:solidFill>
                  <a:srgbClr val="E6E6E6"/>
                </a:solidFill>
                <a:latin typeface="Consolas"/>
                <a:ea typeface="Consolas"/>
                <a:cs typeface="Consolas"/>
              </a:rPr>
              <a:t>SMON   System Monitor Process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noAutofit/>
          </a:bodyPr>
          <a:lstStyle/>
          <a:p>
            <a:pPr>
              <a:spcAft>
                <a:spcPts val="600"/>
              </a:spcAft>
            </a:pPr>
            <a:r>
              <a:rPr sz="6600" b="1">
                <a:solidFill>
                  <a:srgbClr val="C0392B"/>
                </a:solidFill>
                <a:latin typeface="Malgun Gothic"/>
                <a:ea typeface="Malgun Gothic"/>
                <a:cs typeface="Malgun Gothic"/>
              </a:rPr>
              <a:t>2.2</a:t>
            </a:r>
          </a:p>
        </p:txBody>
      </p:sp>
      <p:sp>
        <p:nvSpPr>
          <p:cNvPr id="3" name="TextBox 2"/>
          <p:cNvSpPr txBox="1"/>
          <p:nvPr/>
        </p:nvSpPr>
        <p:spPr>
          <a:xfrm>
            <a:off x="822960" y="2743200"/>
            <a:ext cx="10515600" cy="1097280"/>
          </a:xfrm>
          <a:prstGeom prst="rect">
            <a:avLst/>
          </a:prstGeom>
          <a:noFill/>
        </p:spPr>
        <p:txBody>
          <a:bodyPr wrap="square">
            <a:noAutofit/>
          </a:bodyPr>
          <a:lstStyle/>
          <a:p>
            <a:pPr>
              <a:spcAft>
                <a:spcPts val="600"/>
              </a:spcAft>
            </a:pPr>
            <a:r>
              <a:rPr sz="3400" b="1">
                <a:solidFill>
                  <a:srgbClr val="FFFFFF"/>
                </a:solidFill>
                <a:latin typeface="Malgun Gothic"/>
                <a:ea typeface="Malgun Gothic"/>
                <a:cs typeface="Malgun Gothic"/>
              </a:rPr>
              <a:t>프로세스 구조</a:t>
            </a:r>
          </a:p>
        </p:txBody>
      </p:sp>
      <p:sp>
        <p:nvSpPr>
          <p:cNvPr id="4" name="Rectangle 3"/>
          <p:cNvSpPr/>
          <p:nvPr/>
        </p:nvSpPr>
        <p:spPr>
          <a:xfrm>
            <a:off x="822960" y="3840480"/>
            <a:ext cx="4114800" cy="91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noAutofit/>
          </a:bodyPr>
          <a:lstStyle/>
          <a:p>
            <a:pPr>
              <a:spcAft>
                <a:spcPts val="800"/>
              </a:spcAft>
            </a:pPr>
            <a:r>
              <a:rPr sz="1600" b="0">
                <a:solidFill>
                  <a:srgbClr val="C5CED6"/>
                </a:solidFill>
                <a:latin typeface="Malgun Gothic"/>
                <a:ea typeface="Malgun Gothic"/>
                <a:cs typeface="Malgun Gothic"/>
              </a:rPr>
              <a:t>•  정확히는 네 가지 유형: 클라이언트 · 서버 · 백그라운드 · 슬레이브</a:t>
            </a:r>
          </a:p>
          <a:p>
            <a:pPr>
              <a:spcAft>
                <a:spcPts val="800"/>
              </a:spcAft>
            </a:pPr>
            <a:r>
              <a:rPr sz="1600" b="0">
                <a:solidFill>
                  <a:srgbClr val="C5CED6"/>
                </a:solidFill>
                <a:latin typeface="Malgun Gothic"/>
                <a:ea typeface="Malgun Gothic"/>
                <a:cs typeface="Malgun Gothic"/>
              </a:rPr>
              <a:t>•  서버 프로세스는 전용 서버 / 공유 서버 두 모드로 구성</a:t>
            </a:r>
          </a:p>
          <a:p>
            <a:pPr>
              <a:spcAft>
                <a:spcPts val="800"/>
              </a:spcAft>
            </a:pPr>
            <a:r>
              <a:rPr sz="1600" b="0">
                <a:solidFill>
                  <a:srgbClr val="C5CED6"/>
                </a:solidFill>
                <a:latin typeface="Malgun Gothic"/>
                <a:ea typeface="Malgun Gothic"/>
                <a:cs typeface="Malgun Gothic"/>
              </a:rPr>
              <a:t>•  백그라운드 = 필수(mandatory) + 선택(optional)</a:t>
            </a:r>
          </a:p>
          <a:p>
            <a:pPr>
              <a:spcAft>
                <a:spcPts val="800"/>
              </a:spcAft>
            </a:pPr>
            <a:r>
              <a:rPr sz="1600" b="0">
                <a:solidFill>
                  <a:srgbClr val="C5CED6"/>
                </a:solidFill>
                <a:latin typeface="Malgun Gothic"/>
                <a:ea typeface="Malgun Gothic"/>
                <a:cs typeface="Malgun Gothic"/>
              </a:rPr>
              <a:t>•  슬레이브 프로세스는 병렬 작업을 대신 수행</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oAutofit/>
          </a:bodyPr>
          <a:lstStyle/>
          <a:p>
            <a:pPr>
              <a:spcAft>
                <a:spcPts val="600"/>
              </a:spcAft>
            </a:pPr>
            <a:r>
              <a:rPr sz="2600" b="1">
                <a:solidFill>
                  <a:srgbClr val="FFFFFF"/>
                </a:solidFill>
                <a:latin typeface="Malgun Gothic"/>
                <a:ea typeface="Malgun Gothic"/>
                <a:cs typeface="Malgun Gothic"/>
              </a:rPr>
              <a:t>클라이언트 프로세스 · 서버 프로세스</a:t>
            </a:r>
          </a:p>
        </p:txBody>
      </p:sp>
      <p:sp>
        <p:nvSpPr>
          <p:cNvPr id="4" name="TextBox 3"/>
          <p:cNvSpPr txBox="1"/>
          <p:nvPr/>
        </p:nvSpPr>
        <p:spPr>
          <a:xfrm>
            <a:off x="640080" y="1234440"/>
            <a:ext cx="10881360" cy="4937760"/>
          </a:xfrm>
          <a:prstGeom prst="rect">
            <a:avLst/>
          </a:prstGeom>
          <a:noFill/>
        </p:spPr>
        <p:txBody>
          <a:bodyPr wrap="square">
            <a:noAutofit/>
          </a:bodyPr>
          <a:lstStyle/>
          <a:p>
            <a:pPr>
              <a:spcAft>
                <a:spcPts val="700"/>
              </a:spcAft>
            </a:pPr>
            <a:r>
              <a:rPr sz="1800" b="0">
                <a:solidFill>
                  <a:srgbClr val="202830"/>
                </a:solidFill>
                <a:latin typeface="Malgun Gothic"/>
                <a:ea typeface="Malgun Gothic"/>
                <a:cs typeface="Malgun Gothic"/>
              </a:rPr>
              <a:t>•  클라이언트(사용자) 프로세스: 애플리케이션/도구 실행, 서버에 요청 전달</a:t>
            </a:r>
          </a:p>
          <a:p>
            <a:pPr>
              <a:spcAft>
                <a:spcPts val="700"/>
              </a:spcAft>
            </a:pPr>
            <a:r>
              <a:rPr sz="1800" b="0">
                <a:solidFill>
                  <a:srgbClr val="202830"/>
                </a:solidFill>
                <a:latin typeface="Malgun Gothic"/>
                <a:ea typeface="Malgun Gothic"/>
                <a:cs typeface="Malgun Gothic"/>
              </a:rPr>
              <a:t>•  서버 프로세스: 리스너의 handoff로 연결되어 요청을 실제 처리</a:t>
            </a:r>
          </a:p>
          <a:p>
            <a:pPr>
              <a:spcAft>
                <a:spcPts val="700"/>
              </a:spcAft>
            </a:pPr>
            <a:r>
              <a:rPr sz="1800" b="0">
                <a:solidFill>
                  <a:srgbClr val="202830"/>
                </a:solidFill>
                <a:latin typeface="Malgun Gothic"/>
                <a:ea typeface="Malgun Gothic"/>
                <a:cs typeface="Malgun Gothic"/>
              </a:rPr>
              <a:t>•  서버 프로세스가 SQL 파싱·실행·데이터 접근을 담당하고 SGA와 상호작용</a:t>
            </a:r>
          </a:p>
          <a:p>
            <a:pPr lvl="1">
              <a:spcAft>
                <a:spcPts val="600"/>
              </a:spcAft>
            </a:pPr>
            <a:r>
              <a:rPr sz="1600" b="0">
                <a:solidFill>
                  <a:srgbClr val="5A6672"/>
                </a:solidFill>
                <a:latin typeface="Malgun Gothic"/>
                <a:ea typeface="Malgun Gothic"/>
                <a:cs typeface="Malgun Gothic"/>
              </a:rPr>
              <a:t>    –  접속(connection)=물리 통신 경로, 세션(session)=그 위 논리 작업 단위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oAutofit/>
          </a:bodyPr>
          <a:lstStyle/>
          <a:p>
            <a:pPr>
              <a:spcAft>
                <a:spcPts val="600"/>
              </a:spcAft>
            </a:pPr>
            <a:r>
              <a:rPr sz="2600" b="1">
                <a:solidFill>
                  <a:srgbClr val="FFFFFF"/>
                </a:solidFill>
                <a:latin typeface="Malgun Gothic"/>
                <a:ea typeface="Malgun Gothic"/>
                <a:cs typeface="Malgun Gothic"/>
              </a:rPr>
              <a:t>전용 서버 vs 공유 서버</a:t>
            </a:r>
          </a:p>
        </p:txBody>
      </p:sp>
      <p:sp>
        <p:nvSpPr>
          <p:cNvPr id="4" name="TextBox 3"/>
          <p:cNvSpPr txBox="1"/>
          <p:nvPr/>
        </p:nvSpPr>
        <p:spPr>
          <a:xfrm>
            <a:off x="640080" y="1234440"/>
            <a:ext cx="10881360" cy="4937760"/>
          </a:xfrm>
          <a:prstGeom prst="rect">
            <a:avLst/>
          </a:prstGeom>
          <a:noFill/>
        </p:spPr>
        <p:txBody>
          <a:bodyPr wrap="square">
            <a:noAutofit/>
          </a:bodyPr>
          <a:lstStyle/>
          <a:p>
            <a:pPr>
              <a:spcAft>
                <a:spcPts val="700"/>
              </a:spcAft>
            </a:pPr>
            <a:r>
              <a:rPr sz="1800" b="0">
                <a:solidFill>
                  <a:srgbClr val="202830"/>
                </a:solidFill>
                <a:latin typeface="Malgun Gothic"/>
                <a:ea typeface="Malgun Gothic"/>
                <a:cs typeface="Malgun Gothic"/>
              </a:rPr>
              <a:t>•  전용 서버(dedicated): 클라이언트 접속 하나마다 서버 프로세스 하나 전용 배정</a:t>
            </a:r>
          </a:p>
          <a:p>
            <a:pPr lvl="1">
              <a:spcAft>
                <a:spcPts val="600"/>
              </a:spcAft>
            </a:pPr>
            <a:r>
              <a:rPr sz="1600" b="0">
                <a:solidFill>
                  <a:srgbClr val="5A6672"/>
                </a:solidFill>
                <a:latin typeface="Malgun Gothic"/>
                <a:ea typeface="Malgun Gothic"/>
                <a:cs typeface="Malgun Gothic"/>
              </a:rPr>
              <a:t>    –  구성이 단순하고 응답이 빠르나 접속 수만큼 프로세스가 늘어남</a:t>
            </a:r>
          </a:p>
          <a:p>
            <a:pPr>
              <a:spcAft>
                <a:spcPts val="700"/>
              </a:spcAft>
            </a:pPr>
            <a:r>
              <a:rPr sz="1800" b="0">
                <a:solidFill>
                  <a:srgbClr val="202830"/>
                </a:solidFill>
                <a:latin typeface="Malgun Gothic"/>
                <a:ea typeface="Malgun Gothic"/>
                <a:cs typeface="Malgun Gothic"/>
              </a:rPr>
              <a:t>•  공유 서버(shared): 소수의 공유 서버 프로세스를 여러 접속이 공유</a:t>
            </a:r>
          </a:p>
          <a:p>
            <a:pPr lvl="1">
              <a:spcAft>
                <a:spcPts val="600"/>
              </a:spcAft>
            </a:pPr>
            <a:r>
              <a:rPr sz="1600" b="0">
                <a:solidFill>
                  <a:srgbClr val="5A6672"/>
                </a:solidFill>
                <a:latin typeface="Malgun Gothic"/>
                <a:ea typeface="Malgun Gothic"/>
                <a:cs typeface="Malgun Gothic"/>
              </a:rPr>
              <a:t>    –  디스패처(dispatcher)가 요청을 큐에 넣고 공유 서버가 처리, 대량 접속에 유리</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oAutofit/>
          </a:bodyPr>
          <a:lstStyle/>
          <a:p>
            <a:pPr>
              <a:spcAft>
                <a:spcPts val="600"/>
              </a:spcAft>
            </a:pPr>
            <a:r>
              <a:rPr sz="2600" b="1">
                <a:solidFill>
                  <a:srgbClr val="FFFFFF"/>
                </a:solidFill>
                <a:latin typeface="Malgun Gothic"/>
                <a:ea typeface="Malgun Gothic"/>
                <a:cs typeface="Malgun Gothic"/>
              </a:rPr>
              <a:t>백그라운드 프로세스: 필수와 선택</a:t>
            </a:r>
          </a:p>
        </p:txBody>
      </p:sp>
      <p:sp>
        <p:nvSpPr>
          <p:cNvPr id="4" name="TextBox 3"/>
          <p:cNvSpPr txBox="1"/>
          <p:nvPr/>
        </p:nvSpPr>
        <p:spPr>
          <a:xfrm>
            <a:off x="640080" y="1234440"/>
            <a:ext cx="10881360" cy="4937760"/>
          </a:xfrm>
          <a:prstGeom prst="rect">
            <a:avLst/>
          </a:prstGeom>
          <a:noFill/>
        </p:spPr>
        <p:txBody>
          <a:bodyPr wrap="square">
            <a:noAutofit/>
          </a:bodyPr>
          <a:lstStyle/>
          <a:p>
            <a:pPr>
              <a:spcAft>
                <a:spcPts val="700"/>
              </a:spcAft>
            </a:pPr>
            <a:r>
              <a:rPr sz="1800" b="0">
                <a:solidFill>
                  <a:srgbClr val="202830"/>
                </a:solidFill>
                <a:latin typeface="Malgun Gothic"/>
                <a:ea typeface="Malgun Gothic"/>
                <a:cs typeface="Malgun Gothic"/>
              </a:rPr>
              <a:t>•  인스턴스 기동 시 함께 시작되어 인스턴스 전체 공통 작업을 상시 수행</a:t>
            </a:r>
          </a:p>
          <a:p>
            <a:pPr>
              <a:spcAft>
                <a:spcPts val="700"/>
              </a:spcAft>
            </a:pPr>
            <a:r>
              <a:rPr sz="1800" b="0">
                <a:solidFill>
                  <a:srgbClr val="202830"/>
                </a:solidFill>
                <a:latin typeface="Malgun Gothic"/>
                <a:ea typeface="Malgun Gothic"/>
                <a:cs typeface="Malgun Gothic"/>
              </a:rPr>
              <a:t>•  필수(mandatory): DBWn·LGWR·CKPT·SMON·PMON·PMAN·LREG·RECO·MMON·MMNL 등</a:t>
            </a:r>
          </a:p>
          <a:p>
            <a:pPr>
              <a:spcAft>
                <a:spcPts val="700"/>
              </a:spcAft>
            </a:pPr>
            <a:r>
              <a:rPr sz="1800" b="0">
                <a:solidFill>
                  <a:srgbClr val="202830"/>
                </a:solidFill>
                <a:latin typeface="Malgun Gothic"/>
                <a:ea typeface="Malgun Gothic"/>
                <a:cs typeface="Malgun Gothic"/>
              </a:rPr>
              <a:t>•  선택(optional): ARCn(아카이브 모드일 때) 등 특정 기능 활성화 시 동작</a:t>
            </a:r>
          </a:p>
          <a:p>
            <a:pPr lvl="1">
              <a:spcAft>
                <a:spcPts val="600"/>
              </a:spcAft>
            </a:pPr>
            <a:r>
              <a:rPr sz="1600" b="0">
                <a:solidFill>
                  <a:srgbClr val="5A6672"/>
                </a:solidFill>
                <a:latin typeface="Malgun Gothic"/>
                <a:ea typeface="Malgun Gothic"/>
                <a:cs typeface="Malgun Gothic"/>
              </a:rPr>
              <a:t>    –  2.3~2.9절에서 '역할 → 트리거 → 관련 뷰'의 틀로 상세히 학습</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oAutofit/>
          </a:bodyPr>
          <a:lstStyle/>
          <a:p>
            <a:pPr>
              <a:spcAft>
                <a:spcPts val="600"/>
              </a:spcAft>
            </a:pPr>
            <a:r>
              <a:rPr sz="2600" b="1">
                <a:solidFill>
                  <a:srgbClr val="FFFFFF"/>
                </a:solidFill>
                <a:latin typeface="Malgun Gothic"/>
                <a:ea typeface="Malgun Gothic"/>
                <a:cs typeface="Malgun Gothic"/>
              </a:rPr>
              <a:t>슬레이브 프로세스</a:t>
            </a:r>
          </a:p>
        </p:txBody>
      </p:sp>
      <p:sp>
        <p:nvSpPr>
          <p:cNvPr id="4" name="TextBox 3"/>
          <p:cNvSpPr txBox="1"/>
          <p:nvPr/>
        </p:nvSpPr>
        <p:spPr>
          <a:xfrm>
            <a:off x="640080" y="1234440"/>
            <a:ext cx="10881360" cy="4937760"/>
          </a:xfrm>
          <a:prstGeom prst="rect">
            <a:avLst/>
          </a:prstGeom>
          <a:noFill/>
        </p:spPr>
        <p:txBody>
          <a:bodyPr wrap="square">
            <a:noAutofit/>
          </a:bodyPr>
          <a:lstStyle/>
          <a:p>
            <a:pPr>
              <a:spcAft>
                <a:spcPts val="700"/>
              </a:spcAft>
            </a:pPr>
            <a:r>
              <a:rPr sz="1800" b="0">
                <a:solidFill>
                  <a:srgbClr val="202830"/>
                </a:solidFill>
                <a:latin typeface="Malgun Gothic"/>
                <a:ea typeface="Malgun Gothic"/>
                <a:cs typeface="Malgun Gothic"/>
              </a:rPr>
              <a:t>•  슬레이브(slave) 프로세스: 다른 프로세스를 대신해 병렬로 작업 수행하는 보조 프로세스</a:t>
            </a:r>
          </a:p>
          <a:p>
            <a:pPr>
              <a:spcAft>
                <a:spcPts val="700"/>
              </a:spcAft>
            </a:pPr>
            <a:r>
              <a:rPr sz="1800" b="0">
                <a:solidFill>
                  <a:srgbClr val="202830"/>
                </a:solidFill>
                <a:latin typeface="Malgun Gothic"/>
                <a:ea typeface="Malgun Gothic"/>
                <a:cs typeface="Malgun Gothic"/>
              </a:rPr>
              <a:t>•  I/O 슬레이브(Innn·Dnnn 등): 비동기 I/O를 지원하지 않는 환경에서 I/O 대행</a:t>
            </a:r>
          </a:p>
          <a:p>
            <a:pPr>
              <a:spcAft>
                <a:spcPts val="700"/>
              </a:spcAft>
            </a:pPr>
            <a:r>
              <a:rPr sz="1800" b="0">
                <a:solidFill>
                  <a:srgbClr val="202830"/>
                </a:solidFill>
                <a:latin typeface="Malgun Gothic"/>
                <a:ea typeface="Malgun Gothic"/>
                <a:cs typeface="Malgun Gothic"/>
              </a:rPr>
              <a:t>•  병렬 실행 슬레이브(Pnnn): 병렬 쿼리·병렬 DML·병렬 DDL을 분담 처리</a:t>
            </a:r>
          </a:p>
          <a:p>
            <a:pPr lvl="1">
              <a:spcAft>
                <a:spcPts val="600"/>
              </a:spcAft>
            </a:pPr>
            <a:r>
              <a:rPr sz="1600" b="0">
                <a:solidFill>
                  <a:srgbClr val="5A6672"/>
                </a:solidFill>
                <a:latin typeface="Malgun Gothic"/>
                <a:ea typeface="Malgun Gothic"/>
                <a:cs typeface="Malgun Gothic"/>
              </a:rPr>
              <a:t>    –  작업 부하에 따라 동적으로 생성·소멸</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noAutofit/>
          </a:bodyPr>
          <a:lstStyle/>
          <a:p>
            <a:pPr>
              <a:spcAft>
                <a:spcPts val="600"/>
              </a:spcAft>
            </a:pPr>
            <a:r>
              <a:rPr sz="6600" b="1">
                <a:solidFill>
                  <a:srgbClr val="C0392B"/>
                </a:solidFill>
                <a:latin typeface="Malgun Gothic"/>
                <a:ea typeface="Malgun Gothic"/>
                <a:cs typeface="Malgun Gothic"/>
              </a:rPr>
              <a:t>2.3</a:t>
            </a:r>
          </a:p>
        </p:txBody>
      </p:sp>
      <p:sp>
        <p:nvSpPr>
          <p:cNvPr id="3" name="TextBox 2"/>
          <p:cNvSpPr txBox="1"/>
          <p:nvPr/>
        </p:nvSpPr>
        <p:spPr>
          <a:xfrm>
            <a:off x="822960" y="2743200"/>
            <a:ext cx="10515600" cy="1097280"/>
          </a:xfrm>
          <a:prstGeom prst="rect">
            <a:avLst/>
          </a:prstGeom>
          <a:noFill/>
        </p:spPr>
        <p:txBody>
          <a:bodyPr wrap="square">
            <a:noAutofit/>
          </a:bodyPr>
          <a:lstStyle/>
          <a:p>
            <a:pPr>
              <a:spcAft>
                <a:spcPts val="600"/>
              </a:spcAft>
            </a:pPr>
            <a:r>
              <a:rPr sz="3400" b="1">
                <a:solidFill>
                  <a:srgbClr val="FFFFFF"/>
                </a:solidFill>
                <a:latin typeface="Malgun Gothic"/>
                <a:ea typeface="Malgun Gothic"/>
                <a:cs typeface="Malgun Gothic"/>
              </a:rPr>
              <a:t>데이터베이스 라이터 프로세스 (DBWn)</a:t>
            </a:r>
          </a:p>
        </p:txBody>
      </p:sp>
      <p:sp>
        <p:nvSpPr>
          <p:cNvPr id="4" name="Rectangle 3"/>
          <p:cNvSpPr/>
          <p:nvPr/>
        </p:nvSpPr>
        <p:spPr>
          <a:xfrm>
            <a:off x="822960" y="3840480"/>
            <a:ext cx="4114800" cy="91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noAutofit/>
          </a:bodyPr>
          <a:lstStyle/>
          <a:p>
            <a:pPr>
              <a:spcAft>
                <a:spcPts val="800"/>
              </a:spcAft>
            </a:pPr>
            <a:r>
              <a:rPr sz="1600" b="0">
                <a:solidFill>
                  <a:srgbClr val="C5CED6"/>
                </a:solidFill>
                <a:latin typeface="Malgun Gothic"/>
                <a:ea typeface="Malgun Gothic"/>
                <a:cs typeface="Malgun Gothic"/>
              </a:rPr>
              <a:t>•  역할: 버퍼 캐시의 변경된(더티) 버퍼를 데이터 파일에 기록</a:t>
            </a:r>
          </a:p>
          <a:p>
            <a:pPr>
              <a:spcAft>
                <a:spcPts val="800"/>
              </a:spcAft>
            </a:pPr>
            <a:r>
              <a:rPr sz="1600" b="0">
                <a:solidFill>
                  <a:srgbClr val="C5CED6"/>
                </a:solidFill>
                <a:latin typeface="Malgun Gothic"/>
                <a:ea typeface="Malgun Gothic"/>
                <a:cs typeface="Malgun Gothic"/>
              </a:rPr>
              <a:t>•  핵심 원리: 지연 쓰기(deferred write)</a:t>
            </a:r>
          </a:p>
          <a:p>
            <a:pPr>
              <a:spcAft>
                <a:spcPts val="800"/>
              </a:spcAft>
            </a:pPr>
            <a:r>
              <a:rPr sz="1600" b="0">
                <a:solidFill>
                  <a:srgbClr val="C5CED6"/>
                </a:solidFill>
                <a:latin typeface="Malgun Gothic"/>
                <a:ea typeface="Malgun Gothic"/>
                <a:cs typeface="Malgun Gothic"/>
              </a:rPr>
              <a:t>•  트리거: 체크포인트 · 빈 버퍼 부족 · 더티 임계 초과 · 타임아웃(3초)</a:t>
            </a:r>
          </a:p>
          <a:p>
            <a:pPr>
              <a:spcAft>
                <a:spcPts val="800"/>
              </a:spcAft>
            </a:pPr>
            <a:r>
              <a:rPr sz="1600" b="0">
                <a:solidFill>
                  <a:srgbClr val="C5CED6"/>
                </a:solidFill>
                <a:latin typeface="Malgun Gothic"/>
                <a:ea typeface="Malgun Gothic"/>
                <a:cs typeface="Malgun Gothic"/>
              </a:rPr>
              <a:t>•  DB_WRITER_PROCESSES로 다중 구성(최대 20개)</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oAutofit/>
          </a:bodyPr>
          <a:lstStyle/>
          <a:p>
            <a:pPr>
              <a:spcAft>
                <a:spcPts val="600"/>
              </a:spcAft>
            </a:pPr>
            <a:r>
              <a:rPr sz="2600" b="1">
                <a:solidFill>
                  <a:srgbClr val="FFFFFF"/>
                </a:solidFill>
                <a:latin typeface="Malgun Gothic"/>
                <a:ea typeface="Malgun Gothic"/>
                <a:cs typeface="Malgun Gothic"/>
              </a:rPr>
              <a:t>DBWn의 역할과 지연 쓰기</a:t>
            </a:r>
          </a:p>
        </p:txBody>
      </p:sp>
      <p:sp>
        <p:nvSpPr>
          <p:cNvPr id="4" name="TextBox 3"/>
          <p:cNvSpPr txBox="1"/>
          <p:nvPr/>
        </p:nvSpPr>
        <p:spPr>
          <a:xfrm>
            <a:off x="640080" y="1234440"/>
            <a:ext cx="10881360" cy="4937760"/>
          </a:xfrm>
          <a:prstGeom prst="rect">
            <a:avLst/>
          </a:prstGeom>
          <a:noFill/>
        </p:spPr>
        <p:txBody>
          <a:bodyPr wrap="square">
            <a:noAutofit/>
          </a:bodyPr>
          <a:lstStyle/>
          <a:p>
            <a:pPr>
              <a:spcAft>
                <a:spcPts val="700"/>
              </a:spcAft>
            </a:pPr>
            <a:r>
              <a:rPr sz="1800" b="0">
                <a:solidFill>
                  <a:srgbClr val="202830"/>
                </a:solidFill>
                <a:latin typeface="Malgun Gothic"/>
                <a:ea typeface="Malgun Gothic"/>
                <a:cs typeface="Malgun Gothic"/>
              </a:rPr>
              <a:t>•  DBWn: 데이터베이스 버퍼 캐시의 변경된(더티) 버퍼를 데이터 파일에 기록</a:t>
            </a:r>
          </a:p>
          <a:p>
            <a:pPr>
              <a:spcAft>
                <a:spcPts val="700"/>
              </a:spcAft>
            </a:pPr>
            <a:r>
              <a:rPr sz="1800" b="0">
                <a:solidFill>
                  <a:srgbClr val="202830"/>
                </a:solidFill>
                <a:latin typeface="Malgun Gothic"/>
                <a:ea typeface="Malgun Gothic"/>
                <a:cs typeface="Malgun Gothic"/>
              </a:rPr>
              <a:t>•  지연 쓰기: UPDATE가 즉시 디스크에 반영되는 것이 아니라 우선 캐시에서만 변경</a:t>
            </a:r>
          </a:p>
          <a:p>
            <a:pPr>
              <a:spcAft>
                <a:spcPts val="700"/>
              </a:spcAft>
            </a:pPr>
            <a:r>
              <a:rPr sz="1800" b="0">
                <a:solidFill>
                  <a:srgbClr val="202830"/>
                </a:solidFill>
                <a:latin typeface="Malgun Gothic"/>
                <a:ea typeface="Malgun Gothic"/>
                <a:cs typeface="Malgun Gothic"/>
              </a:rPr>
              <a:t>•  버퍼 캐시가 '쓰기 완충 지대' 역할 → 같은 블록의 반복 수정을 모아 한 번에 기록</a:t>
            </a:r>
          </a:p>
          <a:p>
            <a:pPr lvl="1">
              <a:spcAft>
                <a:spcPts val="600"/>
              </a:spcAft>
            </a:pPr>
            <a:r>
              <a:rPr sz="1600" b="0">
                <a:solidFill>
                  <a:srgbClr val="5A6672"/>
                </a:solidFill>
                <a:latin typeface="Malgun Gothic"/>
                <a:ea typeface="Malgun Gothic"/>
                <a:cs typeface="Malgun Gothic"/>
              </a:rPr>
              <a:t>    –  임의 I/O(random I/O)를 줄여 전체 처리량을 높이는 것이 목적</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oAutofit/>
          </a:bodyPr>
          <a:lstStyle/>
          <a:p>
            <a:pPr>
              <a:spcAft>
                <a:spcPts val="600"/>
              </a:spcAft>
            </a:pPr>
            <a:r>
              <a:rPr sz="2600" b="1">
                <a:solidFill>
                  <a:srgbClr val="FFFFFF"/>
                </a:solidFill>
                <a:latin typeface="Malgun Gothic"/>
                <a:ea typeface="Malgun Gothic"/>
                <a:cs typeface="Malgun Gothic"/>
              </a:rPr>
              <a:t>DBWn 트리거 조건</a:t>
            </a:r>
          </a:p>
        </p:txBody>
      </p:sp>
      <p:sp>
        <p:nvSpPr>
          <p:cNvPr id="4" name="TextBox 3"/>
          <p:cNvSpPr txBox="1"/>
          <p:nvPr/>
        </p:nvSpPr>
        <p:spPr>
          <a:xfrm>
            <a:off x="640080" y="1234440"/>
            <a:ext cx="10881360" cy="4937760"/>
          </a:xfrm>
          <a:prstGeom prst="rect">
            <a:avLst/>
          </a:prstGeom>
          <a:noFill/>
        </p:spPr>
        <p:txBody>
          <a:bodyPr wrap="square">
            <a:noAutofit/>
          </a:bodyPr>
          <a:lstStyle/>
          <a:p>
            <a:pPr>
              <a:spcAft>
                <a:spcPts val="700"/>
              </a:spcAft>
            </a:pPr>
            <a:r>
              <a:rPr sz="1800" b="0">
                <a:solidFill>
                  <a:srgbClr val="202830"/>
                </a:solidFill>
                <a:latin typeface="Malgun Gothic"/>
                <a:ea typeface="Malgun Gothic"/>
                <a:cs typeface="Malgun Gothic"/>
              </a:rPr>
              <a:t>•  체크포인트가 발생할 때 — CKPT의 신호를 받아 해당 시점까지의 더티 버퍼 기록</a:t>
            </a:r>
          </a:p>
          <a:p>
            <a:pPr>
              <a:spcAft>
                <a:spcPts val="700"/>
              </a:spcAft>
            </a:pPr>
            <a:r>
              <a:rPr sz="1800" b="0">
                <a:solidFill>
                  <a:srgbClr val="202830"/>
                </a:solidFill>
                <a:latin typeface="Malgun Gothic"/>
                <a:ea typeface="Malgun Gothic"/>
                <a:cs typeface="Malgun Gothic"/>
              </a:rPr>
              <a:t>•  빈 버퍼(free buffer)가 부족할 때 — 서버 프로세스가 빈 버퍼를 못 찾으면 쓰기 요청</a:t>
            </a:r>
          </a:p>
          <a:p>
            <a:pPr>
              <a:spcAft>
                <a:spcPts val="700"/>
              </a:spcAft>
            </a:pPr>
            <a:r>
              <a:rPr sz="1800" b="0">
                <a:solidFill>
                  <a:srgbClr val="202830"/>
                </a:solidFill>
                <a:latin typeface="Malgun Gothic"/>
                <a:ea typeface="Malgun Gothic"/>
                <a:cs typeface="Malgun Gothic"/>
              </a:rPr>
              <a:t>•  더티 버퍼가 임계치를 초과할 때 — 캐시에 더티 버퍼가 과도하게 쌓이면 기록</a:t>
            </a:r>
          </a:p>
          <a:p>
            <a:pPr>
              <a:spcAft>
                <a:spcPts val="700"/>
              </a:spcAft>
            </a:pPr>
            <a:r>
              <a:rPr sz="1800" b="0">
                <a:solidFill>
                  <a:srgbClr val="202830"/>
                </a:solidFill>
                <a:latin typeface="Malgun Gothic"/>
                <a:ea typeface="Malgun Gothic"/>
                <a:cs typeface="Malgun Gothic"/>
              </a:rPr>
              <a:t>•  타임아웃(약 3초마다) — 주기적으로 깨어나 밀린 더티 버퍼 점검</a:t>
            </a:r>
          </a:p>
          <a:p>
            <a:pPr lvl="1">
              <a:spcAft>
                <a:spcPts val="600"/>
              </a:spcAft>
            </a:pPr>
            <a:r>
              <a:rPr sz="1600" b="0">
                <a:solidFill>
                  <a:srgbClr val="5A6672"/>
                </a:solidFill>
                <a:latin typeface="Malgun Gothic"/>
                <a:ea typeface="Malgun Gothic"/>
                <a:cs typeface="Malgun Gothic"/>
              </a:rPr>
              <a:t>    –  테이블스페이스 오프라인/읽기전용 전환, DROP·TRUNCATE 시, RAC ping 요청 시</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oAutofit/>
          </a:bodyPr>
          <a:lstStyle/>
          <a:p>
            <a:pPr>
              <a:spcAft>
                <a:spcPts val="600"/>
              </a:spcAft>
            </a:pPr>
            <a:r>
              <a:rPr sz="2600" b="1">
                <a:solidFill>
                  <a:srgbClr val="FFFFFF"/>
                </a:solidFill>
                <a:latin typeface="Malgun Gothic"/>
                <a:ea typeface="Malgun Gothic"/>
                <a:cs typeface="Malgun Gothic"/>
              </a:rPr>
              <a:t>다중 DBWn 구성과 파라미터</a:t>
            </a:r>
          </a:p>
        </p:txBody>
      </p:sp>
      <p:sp>
        <p:nvSpPr>
          <p:cNvPr id="4" name="TextBox 3"/>
          <p:cNvSpPr txBox="1"/>
          <p:nvPr/>
        </p:nvSpPr>
        <p:spPr>
          <a:xfrm>
            <a:off x="640080" y="1170432"/>
            <a:ext cx="10881360" cy="457200"/>
          </a:xfrm>
          <a:prstGeom prst="rect">
            <a:avLst/>
          </a:prstGeom>
          <a:noFill/>
        </p:spPr>
        <p:txBody>
          <a:bodyPr wrap="square">
            <a:noAutofit/>
          </a:bodyPr>
          <a:lstStyle/>
          <a:p>
            <a:pPr>
              <a:spcAft>
                <a:spcPts val="600"/>
              </a:spcAft>
            </a:pPr>
            <a:r>
              <a:rPr sz="1500" b="0">
                <a:solidFill>
                  <a:srgbClr val="5A6672"/>
                </a:solidFill>
                <a:latin typeface="Malgun Gothic"/>
                <a:ea typeface="Malgun Gothic"/>
                <a:cs typeface="Malgun Gothic"/>
              </a:rPr>
              <a:t>DB_WRITER_PROCESSES — 기본 1개(DBW0), 대규모 시스템은 병렬화</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noAutofit/>
          </a:bodyPr>
          <a:lstStyle/>
          <a:p>
            <a:pPr>
              <a:spcAft>
                <a:spcPts val="0"/>
              </a:spcAft>
            </a:pPr>
            <a:r>
              <a:rPr sz="1100" b="0">
                <a:solidFill>
                  <a:srgbClr val="7EC699"/>
                </a:solidFill>
                <a:latin typeface="Consolas"/>
                <a:ea typeface="Consolas"/>
                <a:cs typeface="Consolas"/>
              </a:rPr>
              <a:t>-- 데이터베이스 라이터 프로세스 수 확인</a:t>
            </a:r>
          </a:p>
          <a:p>
            <a:pPr>
              <a:spcAft>
                <a:spcPts val="0"/>
              </a:spcAft>
            </a:pPr>
            <a:r>
              <a:rPr sz="1100" b="0">
                <a:solidFill>
                  <a:srgbClr val="E6E6E6"/>
                </a:solidFill>
                <a:latin typeface="Consolas"/>
                <a:ea typeface="Consolas"/>
                <a:cs typeface="Consolas"/>
              </a:rPr>
              <a:t>SQL&gt; SHOW PARAMETER db_writer_processes</a:t>
            </a:r>
          </a:p>
          <a:p>
            <a:pPr>
              <a:spcAft>
                <a:spcPts val="0"/>
              </a:spcAft>
            </a:pPr>
            <a:r>
              <a:rPr sz="1100" b="0">
                <a:solidFill>
                  <a:srgbClr val="E6E6E6"/>
                </a:solidFill>
                <a:latin typeface="Consolas"/>
                <a:ea typeface="Consolas"/>
                <a:cs typeface="Consolas"/>
              </a:rPr>
              <a:t> </a:t>
            </a:r>
          </a:p>
          <a:p>
            <a:pPr>
              <a:spcAft>
                <a:spcPts val="0"/>
              </a:spcAft>
            </a:pPr>
            <a:r>
              <a:rPr sz="1100" b="0">
                <a:solidFill>
                  <a:srgbClr val="E6E6E6"/>
                </a:solidFill>
                <a:latin typeface="Consolas"/>
                <a:ea typeface="Consolas"/>
                <a:cs typeface="Consolas"/>
              </a:rPr>
              <a:t>NAME                    TYPE     VALUE</a:t>
            </a:r>
          </a:p>
          <a:p>
            <a:pPr>
              <a:spcAft>
                <a:spcPts val="0"/>
              </a:spcAft>
            </a:pPr>
            <a:r>
              <a:rPr sz="1100" b="0">
                <a:solidFill>
                  <a:srgbClr val="7EC699"/>
                </a:solidFill>
                <a:latin typeface="Consolas"/>
                <a:ea typeface="Consolas"/>
                <a:cs typeface="Consolas"/>
              </a:rPr>
              <a:t>----------------------- -------- -------</a:t>
            </a:r>
          </a:p>
          <a:p>
            <a:pPr>
              <a:spcAft>
                <a:spcPts val="0"/>
              </a:spcAft>
            </a:pPr>
            <a:r>
              <a:rPr sz="1100" b="0">
                <a:solidFill>
                  <a:srgbClr val="E6E6E6"/>
                </a:solidFill>
                <a:latin typeface="Consolas"/>
                <a:ea typeface="Consolas"/>
                <a:cs typeface="Consolas"/>
              </a:rPr>
              <a:t>db_writer_processes     integer  1</a:t>
            </a:r>
          </a:p>
          <a:p>
            <a:pPr>
              <a:spcAft>
                <a:spcPts val="0"/>
              </a:spcAft>
            </a:pPr>
            <a:r>
              <a:rPr sz="1100" b="0">
                <a:solidFill>
                  <a:srgbClr val="E6E6E6"/>
                </a:solidFill>
                <a:latin typeface="Consolas"/>
                <a:ea typeface="Consolas"/>
                <a:cs typeface="Consolas"/>
              </a:rPr>
              <a:t> </a:t>
            </a:r>
          </a:p>
          <a:p>
            <a:pPr>
              <a:spcAft>
                <a:spcPts val="0"/>
              </a:spcAft>
            </a:pPr>
            <a:r>
              <a:rPr sz="1100" b="0">
                <a:solidFill>
                  <a:srgbClr val="7EC699"/>
                </a:solidFill>
                <a:latin typeface="Consolas"/>
                <a:ea typeface="Consolas"/>
                <a:cs typeface="Consolas"/>
              </a:rPr>
              <a:t>-- DBW0 ~ DBW9, DBWa ~ 형태로 최대 20개까지 구성 가능</a:t>
            </a:r>
          </a:p>
          <a:p>
            <a:pPr>
              <a:spcAft>
                <a:spcPts val="0"/>
              </a:spcAft>
            </a:pPr>
            <a:r>
              <a:rPr sz="1100" b="0">
                <a:solidFill>
                  <a:srgbClr val="7EC699"/>
                </a:solidFill>
                <a:latin typeface="Consolas"/>
                <a:ea typeface="Consolas"/>
                <a:cs typeface="Consolas"/>
              </a:rPr>
              <a:t>-- 기본값은 대략 CPU_COUNT/8 로 자동 산정</a:t>
            </a:r>
          </a:p>
          <a:p>
            <a:pPr>
              <a:spcAft>
                <a:spcPts val="0"/>
              </a:spcAft>
            </a:pPr>
            <a:r>
              <a:rPr sz="1100" b="0">
                <a:solidFill>
                  <a:srgbClr val="7EC699"/>
                </a:solidFill>
                <a:latin typeface="Consolas"/>
                <a:ea typeface="Consolas"/>
                <a:cs typeface="Consolas"/>
              </a:rPr>
              <a:t>-- Best Practice: 무작정 늘리면 경합·CPU 낭비, 대부분 기본값이 적절</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noAutofit/>
          </a:bodyPr>
          <a:lstStyle/>
          <a:p>
            <a:pPr>
              <a:spcAft>
                <a:spcPts val="600"/>
              </a:spcAft>
            </a:pPr>
            <a:r>
              <a:rPr sz="6600" b="1">
                <a:solidFill>
                  <a:srgbClr val="C0392B"/>
                </a:solidFill>
                <a:latin typeface="Malgun Gothic"/>
                <a:ea typeface="Malgun Gothic"/>
                <a:cs typeface="Malgun Gothic"/>
              </a:rPr>
              <a:t>2.4</a:t>
            </a:r>
          </a:p>
        </p:txBody>
      </p:sp>
      <p:sp>
        <p:nvSpPr>
          <p:cNvPr id="3" name="TextBox 2"/>
          <p:cNvSpPr txBox="1"/>
          <p:nvPr/>
        </p:nvSpPr>
        <p:spPr>
          <a:xfrm>
            <a:off x="822960" y="2743200"/>
            <a:ext cx="10515600" cy="1097280"/>
          </a:xfrm>
          <a:prstGeom prst="rect">
            <a:avLst/>
          </a:prstGeom>
          <a:noFill/>
        </p:spPr>
        <p:txBody>
          <a:bodyPr wrap="square">
            <a:noAutofit/>
          </a:bodyPr>
          <a:lstStyle/>
          <a:p>
            <a:pPr>
              <a:spcAft>
                <a:spcPts val="600"/>
              </a:spcAft>
            </a:pPr>
            <a:r>
              <a:rPr sz="3400" b="1">
                <a:solidFill>
                  <a:srgbClr val="FFFFFF"/>
                </a:solidFill>
                <a:latin typeface="Malgun Gothic"/>
                <a:ea typeface="Malgun Gothic"/>
                <a:cs typeface="Malgun Gothic"/>
              </a:rPr>
              <a:t>로그 라이터 프로세스 (LGWR)</a:t>
            </a:r>
          </a:p>
        </p:txBody>
      </p:sp>
      <p:sp>
        <p:nvSpPr>
          <p:cNvPr id="4" name="Rectangle 3"/>
          <p:cNvSpPr/>
          <p:nvPr/>
        </p:nvSpPr>
        <p:spPr>
          <a:xfrm>
            <a:off x="822960" y="3840480"/>
            <a:ext cx="4114800" cy="91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noAutofit/>
          </a:bodyPr>
          <a:lstStyle/>
          <a:p>
            <a:pPr>
              <a:spcAft>
                <a:spcPts val="800"/>
              </a:spcAft>
            </a:pPr>
            <a:r>
              <a:rPr sz="1600" b="0">
                <a:solidFill>
                  <a:srgbClr val="C5CED6"/>
                </a:solidFill>
                <a:latin typeface="Malgun Gothic"/>
                <a:ea typeface="Malgun Gothic"/>
                <a:cs typeface="Malgun Gothic"/>
              </a:rPr>
              <a:t>•  역할: 리두 로그 버퍼를 온라인 리두 로그 파일에 기록</a:t>
            </a:r>
          </a:p>
          <a:p>
            <a:pPr>
              <a:spcAft>
                <a:spcPts val="800"/>
              </a:spcAft>
            </a:pPr>
            <a:r>
              <a:rPr sz="1600" b="0">
                <a:solidFill>
                  <a:srgbClr val="C5CED6"/>
                </a:solidFill>
                <a:latin typeface="Malgun Gothic"/>
                <a:ea typeface="Malgun Gothic"/>
                <a:cs typeface="Malgun Gothic"/>
              </a:rPr>
              <a:t>•  커밋의 지속성(durability)을 실현하는 핵심 프로세스</a:t>
            </a:r>
          </a:p>
          <a:p>
            <a:pPr>
              <a:spcAft>
                <a:spcPts val="800"/>
              </a:spcAft>
            </a:pPr>
            <a:r>
              <a:rPr sz="1600" b="0">
                <a:solidFill>
                  <a:srgbClr val="C5CED6"/>
                </a:solidFill>
                <a:latin typeface="Malgun Gothic"/>
                <a:ea typeface="Malgun Gothic"/>
                <a:cs typeface="Malgun Gothic"/>
              </a:rPr>
              <a:t>•  순차 I/O로 빠르게 기록</a:t>
            </a:r>
          </a:p>
          <a:p>
            <a:pPr>
              <a:spcAft>
                <a:spcPts val="800"/>
              </a:spcAft>
            </a:pPr>
            <a:r>
              <a:rPr sz="1600" b="0">
                <a:solidFill>
                  <a:srgbClr val="C5CED6"/>
                </a:solidFill>
                <a:latin typeface="Malgun Gothic"/>
                <a:ea typeface="Malgun Gothic"/>
                <a:cs typeface="Malgun Gothic"/>
              </a:rPr>
              <a:t>•  트리거: 커밋 · 버퍼 1/3 · 1MB · DBWn 쓰기 직전 · 3초</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oAutofit/>
          </a:bodyPr>
          <a:lstStyle/>
          <a:p>
            <a:pPr>
              <a:spcAft>
                <a:spcPts val="600"/>
              </a:spcAft>
            </a:pPr>
            <a:r>
              <a:rPr sz="2600" b="1">
                <a:solidFill>
                  <a:srgbClr val="FFFFFF"/>
                </a:solidFill>
                <a:latin typeface="Malgun Gothic"/>
                <a:ea typeface="Malgun Gothic"/>
                <a:cs typeface="Malgun Gothic"/>
              </a:rPr>
              <a:t>LGWR의 역할: 왜 커밋의 핵심인가</a:t>
            </a:r>
          </a:p>
        </p:txBody>
      </p:sp>
      <p:sp>
        <p:nvSpPr>
          <p:cNvPr id="4" name="TextBox 3"/>
          <p:cNvSpPr txBox="1"/>
          <p:nvPr/>
        </p:nvSpPr>
        <p:spPr>
          <a:xfrm>
            <a:off x="640080" y="1234440"/>
            <a:ext cx="10881360" cy="4937760"/>
          </a:xfrm>
          <a:prstGeom prst="rect">
            <a:avLst/>
          </a:prstGeom>
          <a:noFill/>
        </p:spPr>
        <p:txBody>
          <a:bodyPr wrap="square">
            <a:noAutofit/>
          </a:bodyPr>
          <a:lstStyle/>
          <a:p>
            <a:pPr>
              <a:spcAft>
                <a:spcPts val="700"/>
              </a:spcAft>
            </a:pPr>
            <a:r>
              <a:rPr sz="1800" b="0">
                <a:solidFill>
                  <a:srgbClr val="202830"/>
                </a:solidFill>
                <a:latin typeface="Malgun Gothic"/>
                <a:ea typeface="Malgun Gothic"/>
                <a:cs typeface="Malgun Gothic"/>
              </a:rPr>
              <a:t>•  LGWR: 리두 로그 버퍼의 내용을 온라인 리두 로그 파일에 기록</a:t>
            </a:r>
          </a:p>
          <a:p>
            <a:pPr>
              <a:spcAft>
                <a:spcPts val="700"/>
              </a:spcAft>
            </a:pPr>
            <a:r>
              <a:rPr sz="1800" b="0">
                <a:solidFill>
                  <a:srgbClr val="202830"/>
                </a:solidFill>
                <a:latin typeface="Malgun Gothic"/>
                <a:ea typeface="Malgun Gothic"/>
                <a:cs typeface="Malgun Gothic"/>
              </a:rPr>
              <a:t>•  트랜잭션의 지속성(durability) 실현 — '커밋한 것은 절대 사라지지 않는다'</a:t>
            </a:r>
          </a:p>
          <a:p>
            <a:pPr>
              <a:spcAft>
                <a:spcPts val="700"/>
              </a:spcAft>
            </a:pPr>
            <a:r>
              <a:rPr sz="1800" b="0">
                <a:solidFill>
                  <a:srgbClr val="202830"/>
                </a:solidFill>
                <a:latin typeface="Malgun Gothic"/>
                <a:ea typeface="Malgun Gothic"/>
                <a:cs typeface="Malgun Gothic"/>
              </a:rPr>
              <a:t>•  커밋 순간 데이터 파일은 아직 옛 상태일 수 있으나, 리두는 이미 안전하게 기록됨</a:t>
            </a:r>
          </a:p>
          <a:p>
            <a:pPr lvl="1">
              <a:spcAft>
                <a:spcPts val="600"/>
              </a:spcAft>
            </a:pPr>
            <a:r>
              <a:rPr sz="1600" b="0">
                <a:solidFill>
                  <a:srgbClr val="5A6672"/>
                </a:solidFill>
                <a:latin typeface="Malgun Gothic"/>
                <a:ea typeface="Malgun Gothic"/>
                <a:cs typeface="Malgun Gothic"/>
              </a:rPr>
              <a:t>    –  순차(sequential) 기록이라 임의 I/O인 데이터 파일 쓰기보다 훨씬 빠름</a:t>
            </a:r>
          </a:p>
          <a:p>
            <a:pPr lvl="1">
              <a:spcAft>
                <a:spcPts val="600"/>
              </a:spcAft>
            </a:pPr>
            <a:r>
              <a:rPr sz="1600" b="0">
                <a:solidFill>
                  <a:srgbClr val="5A6672"/>
                </a:solidFill>
                <a:latin typeface="Malgun Gothic"/>
                <a:ea typeface="Malgun Gothic"/>
                <a:cs typeface="Malgun Gothic"/>
              </a:rPr>
              <a:t>    –  선기록 로깅(write-ahead logging): 리두가 먼저, 데이터가 나중</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oAutofit/>
          </a:bodyPr>
          <a:lstStyle/>
          <a:p>
            <a:pPr>
              <a:spcAft>
                <a:spcPts val="600"/>
              </a:spcAft>
            </a:pPr>
            <a:r>
              <a:rPr sz="2600" b="1">
                <a:solidFill>
                  <a:srgbClr val="FFFFFF"/>
                </a:solidFill>
                <a:latin typeface="Malgun Gothic"/>
                <a:ea typeface="Malgun Gothic"/>
                <a:cs typeface="Malgun Gothic"/>
              </a:rPr>
              <a:t>LGWR 트리거 조건</a:t>
            </a:r>
          </a:p>
        </p:txBody>
      </p:sp>
      <p:sp>
        <p:nvSpPr>
          <p:cNvPr id="4" name="TextBox 3"/>
          <p:cNvSpPr txBox="1"/>
          <p:nvPr/>
        </p:nvSpPr>
        <p:spPr>
          <a:xfrm>
            <a:off x="640080" y="1234440"/>
            <a:ext cx="10881360" cy="4937760"/>
          </a:xfrm>
          <a:prstGeom prst="rect">
            <a:avLst/>
          </a:prstGeom>
          <a:noFill/>
        </p:spPr>
        <p:txBody>
          <a:bodyPr wrap="square">
            <a:noAutofit/>
          </a:bodyPr>
          <a:lstStyle/>
          <a:p>
            <a:pPr>
              <a:spcAft>
                <a:spcPts val="700"/>
              </a:spcAft>
            </a:pPr>
            <a:r>
              <a:rPr sz="1800" b="0">
                <a:solidFill>
                  <a:srgbClr val="202830"/>
                </a:solidFill>
                <a:latin typeface="Malgun Gothic"/>
                <a:ea typeface="Malgun Gothic"/>
                <a:cs typeface="Malgun Gothic"/>
              </a:rPr>
              <a:t>•  트랜잭션이 커밋(COMMIT)될 때 — 리두를 즉시 기록해야 커밋 완료</a:t>
            </a:r>
          </a:p>
          <a:p>
            <a:pPr>
              <a:spcAft>
                <a:spcPts val="700"/>
              </a:spcAft>
            </a:pPr>
            <a:r>
              <a:rPr sz="1800" b="0">
                <a:solidFill>
                  <a:srgbClr val="202830"/>
                </a:solidFill>
                <a:latin typeface="Malgun Gothic"/>
                <a:ea typeface="Malgun Gothic"/>
                <a:cs typeface="Malgun Gothic"/>
              </a:rPr>
              <a:t>•  리두 로그 버퍼가 1/3 이상 찼을 때</a:t>
            </a:r>
          </a:p>
          <a:p>
            <a:pPr>
              <a:spcAft>
                <a:spcPts val="700"/>
              </a:spcAft>
            </a:pPr>
            <a:r>
              <a:rPr sz="1800" b="0">
                <a:solidFill>
                  <a:srgbClr val="202830"/>
                </a:solidFill>
                <a:latin typeface="Malgun Gothic"/>
                <a:ea typeface="Malgun Gothic"/>
                <a:cs typeface="Malgun Gothic"/>
              </a:rPr>
              <a:t>•  리두 로그 버퍼에 약 1MB 이상의 변경 리두가 쌓였을 때</a:t>
            </a:r>
          </a:p>
          <a:p>
            <a:pPr>
              <a:spcAft>
                <a:spcPts val="700"/>
              </a:spcAft>
            </a:pPr>
            <a:r>
              <a:rPr sz="1800" b="0">
                <a:solidFill>
                  <a:srgbClr val="202830"/>
                </a:solidFill>
                <a:latin typeface="Malgun Gothic"/>
                <a:ea typeface="Malgun Gothic"/>
                <a:cs typeface="Malgun Gothic"/>
              </a:rPr>
              <a:t>•  DBWn이 더티 버퍼를 데이터 파일에 기록하기 직전 — 선기록 로깅 원칙</a:t>
            </a:r>
          </a:p>
          <a:p>
            <a:pPr>
              <a:spcAft>
                <a:spcPts val="700"/>
              </a:spcAft>
            </a:pPr>
            <a:r>
              <a:rPr sz="1800" b="0">
                <a:solidFill>
                  <a:srgbClr val="202830"/>
                </a:solidFill>
                <a:latin typeface="Malgun Gothic"/>
                <a:ea typeface="Malgun Gothic"/>
                <a:cs typeface="Malgun Gothic"/>
              </a:rPr>
              <a:t>•  약 3초마다(타임아웃)</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oAutofit/>
          </a:bodyPr>
          <a:lstStyle/>
          <a:p>
            <a:pPr>
              <a:spcAft>
                <a:spcPts val="600"/>
              </a:spcAft>
            </a:pPr>
            <a:r>
              <a:rPr sz="2600" b="1">
                <a:solidFill>
                  <a:srgbClr val="FFFFFF"/>
                </a:solidFill>
                <a:latin typeface="Malgun Gothic"/>
                <a:ea typeface="Malgun Gothic"/>
                <a:cs typeface="Malgun Gothic"/>
              </a:rPr>
              <a:t>관련 뷰와 다중화·병렬화(LGnn)</a:t>
            </a:r>
          </a:p>
        </p:txBody>
      </p:sp>
      <p:sp>
        <p:nvSpPr>
          <p:cNvPr id="4" name="TextBox 3"/>
          <p:cNvSpPr txBox="1"/>
          <p:nvPr/>
        </p:nvSpPr>
        <p:spPr>
          <a:xfrm>
            <a:off x="640080" y="1170432"/>
            <a:ext cx="10881360" cy="457200"/>
          </a:xfrm>
          <a:prstGeom prst="rect">
            <a:avLst/>
          </a:prstGeom>
          <a:noFill/>
        </p:spPr>
        <p:txBody>
          <a:bodyPr wrap="square">
            <a:noAutofit/>
          </a:bodyPr>
          <a:lstStyle/>
          <a:p>
            <a:pPr>
              <a:spcAft>
                <a:spcPts val="600"/>
              </a:spcAft>
            </a:pPr>
            <a:r>
              <a:rPr sz="1500" b="0">
                <a:solidFill>
                  <a:srgbClr val="5A6672"/>
                </a:solidFill>
                <a:latin typeface="Malgun Gothic"/>
                <a:ea typeface="Malgun Gothic"/>
                <a:cs typeface="Malgun Gothic"/>
              </a:rPr>
              <a:t>V$LOG · V$LOGFILE — 리두 로그 그룹 상태와 멤버 확인</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noAutofit/>
          </a:bodyPr>
          <a:lstStyle/>
          <a:p>
            <a:pPr>
              <a:spcAft>
                <a:spcPts val="0"/>
              </a:spcAft>
            </a:pPr>
            <a:r>
              <a:rPr sz="1100" b="0">
                <a:solidFill>
                  <a:srgbClr val="7EC699"/>
                </a:solidFill>
                <a:latin typeface="Consolas"/>
                <a:ea typeface="Consolas"/>
                <a:cs typeface="Consolas"/>
              </a:rPr>
              <a:t>-- 온라인 리두 로그 그룹 상태 확인</a:t>
            </a:r>
          </a:p>
          <a:p>
            <a:pPr>
              <a:spcAft>
                <a:spcPts val="0"/>
              </a:spcAft>
            </a:pPr>
            <a:r>
              <a:rPr sz="1100" b="0">
                <a:solidFill>
                  <a:srgbClr val="E6E6E6"/>
                </a:solidFill>
                <a:latin typeface="Consolas"/>
                <a:ea typeface="Consolas"/>
                <a:cs typeface="Consolas"/>
              </a:rPr>
              <a:t>SQL&gt; SELECT group#, thread#, bytes/1024/1024 AS mb, members, status</a:t>
            </a:r>
          </a:p>
          <a:p>
            <a:pPr>
              <a:spcAft>
                <a:spcPts val="0"/>
              </a:spcAft>
            </a:pPr>
            <a:r>
              <a:rPr sz="1100" b="0">
                <a:solidFill>
                  <a:srgbClr val="E6E6E6"/>
                </a:solidFill>
                <a:latin typeface="Consolas"/>
                <a:ea typeface="Consolas"/>
                <a:cs typeface="Consolas"/>
              </a:rPr>
              <a:t>  2  FROM   v$log</a:t>
            </a:r>
          </a:p>
          <a:p>
            <a:pPr>
              <a:spcAft>
                <a:spcPts val="0"/>
              </a:spcAft>
            </a:pPr>
            <a:r>
              <a:rPr sz="1100" b="0">
                <a:solidFill>
                  <a:srgbClr val="E6E6E6"/>
                </a:solidFill>
                <a:latin typeface="Consolas"/>
                <a:ea typeface="Consolas"/>
                <a:cs typeface="Consolas"/>
              </a:rPr>
              <a:t>  3  ORDER  BY group#;</a:t>
            </a:r>
          </a:p>
          <a:p>
            <a:pPr>
              <a:spcAft>
                <a:spcPts val="0"/>
              </a:spcAft>
            </a:pPr>
            <a:r>
              <a:rPr sz="1100" b="0">
                <a:solidFill>
                  <a:srgbClr val="E6E6E6"/>
                </a:solidFill>
                <a:latin typeface="Consolas"/>
                <a:ea typeface="Consolas"/>
                <a:cs typeface="Consolas"/>
              </a:rPr>
              <a:t> </a:t>
            </a:r>
          </a:p>
          <a:p>
            <a:pPr>
              <a:spcAft>
                <a:spcPts val="0"/>
              </a:spcAft>
            </a:pPr>
            <a:r>
              <a:rPr sz="1100" b="0">
                <a:solidFill>
                  <a:srgbClr val="E6E6E6"/>
                </a:solidFill>
                <a:latin typeface="Consolas"/>
                <a:ea typeface="Consolas"/>
                <a:cs typeface="Consolas"/>
              </a:rPr>
              <a:t>    GROUP#   THREAD#   MB  MEMBERS STATUS</a:t>
            </a:r>
          </a:p>
          <a:p>
            <a:pPr>
              <a:spcAft>
                <a:spcPts val="0"/>
              </a:spcAft>
            </a:pPr>
            <a:r>
              <a:rPr sz="1100" b="0">
                <a:solidFill>
                  <a:srgbClr val="7EC699"/>
                </a:solidFill>
                <a:latin typeface="Consolas"/>
                <a:ea typeface="Consolas"/>
                <a:cs typeface="Consolas"/>
              </a:rPr>
              <a:t>---------- --------- ---- ------- ----------</a:t>
            </a:r>
          </a:p>
          <a:p>
            <a:pPr>
              <a:spcAft>
                <a:spcPts val="0"/>
              </a:spcAft>
            </a:pPr>
            <a:r>
              <a:rPr sz="1100" b="0">
                <a:solidFill>
                  <a:srgbClr val="E6E6E6"/>
                </a:solidFill>
                <a:latin typeface="Consolas"/>
                <a:ea typeface="Consolas"/>
                <a:cs typeface="Consolas"/>
              </a:rPr>
              <a:t>         1         1  200       2 CURRENT</a:t>
            </a:r>
          </a:p>
          <a:p>
            <a:pPr>
              <a:spcAft>
                <a:spcPts val="0"/>
              </a:spcAft>
            </a:pPr>
            <a:r>
              <a:rPr sz="1100" b="0">
                <a:solidFill>
                  <a:srgbClr val="E6E6E6"/>
                </a:solidFill>
                <a:latin typeface="Consolas"/>
                <a:ea typeface="Consolas"/>
                <a:cs typeface="Consolas"/>
              </a:rPr>
              <a:t>         2         1  200       2 INACTIVE</a:t>
            </a:r>
          </a:p>
          <a:p>
            <a:pPr>
              <a:spcAft>
                <a:spcPts val="0"/>
              </a:spcAft>
            </a:pPr>
            <a:r>
              <a:rPr sz="1100" b="0">
                <a:solidFill>
                  <a:srgbClr val="E6E6E6"/>
                </a:solidFill>
                <a:latin typeface="Consolas"/>
                <a:ea typeface="Consolas"/>
                <a:cs typeface="Consolas"/>
              </a:rPr>
              <a:t>         3         1  200       2 INACTIVE</a:t>
            </a:r>
          </a:p>
          <a:p>
            <a:pPr>
              <a:spcAft>
                <a:spcPts val="0"/>
              </a:spcAft>
            </a:pPr>
            <a:r>
              <a:rPr sz="1100" b="0">
                <a:solidFill>
                  <a:srgbClr val="E6E6E6"/>
                </a:solidFill>
                <a:latin typeface="Consolas"/>
                <a:ea typeface="Consolas"/>
                <a:cs typeface="Consolas"/>
              </a:rPr>
              <a:t> </a:t>
            </a:r>
          </a:p>
          <a:p>
            <a:pPr>
              <a:spcAft>
                <a:spcPts val="0"/>
              </a:spcAft>
            </a:pPr>
            <a:r>
              <a:rPr sz="1100" b="0">
                <a:solidFill>
                  <a:srgbClr val="7EC699"/>
                </a:solidFill>
                <a:latin typeface="Consolas"/>
                <a:ea typeface="Consolas"/>
                <a:cs typeface="Consolas"/>
              </a:rPr>
              <a:t>-- STATUS: CURRENT(기록 중) / ACTIVE(복구 필요) / INACTIVE(재사용 가능)</a:t>
            </a:r>
          </a:p>
          <a:p>
            <a:pPr>
              <a:spcAft>
                <a:spcPts val="0"/>
              </a:spcAft>
            </a:pPr>
            <a:r>
              <a:rPr sz="1100" b="0">
                <a:solidFill>
                  <a:srgbClr val="7EC699"/>
                </a:solidFill>
                <a:latin typeface="Consolas"/>
                <a:ea typeface="Consolas"/>
                <a:cs typeface="Consolas"/>
              </a:rPr>
              <a:t>-- 19c는 LGWR를 돕는 병렬 로그 라이터 슬레이브(LGnn)를 사용</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noAutofit/>
          </a:bodyPr>
          <a:lstStyle/>
          <a:p>
            <a:pPr>
              <a:spcAft>
                <a:spcPts val="600"/>
              </a:spcAft>
            </a:pPr>
            <a:r>
              <a:rPr sz="6600" b="1">
                <a:solidFill>
                  <a:srgbClr val="C0392B"/>
                </a:solidFill>
                <a:latin typeface="Malgun Gothic"/>
                <a:ea typeface="Malgun Gothic"/>
                <a:cs typeface="Malgun Gothic"/>
              </a:rPr>
              <a:t>2.5</a:t>
            </a:r>
          </a:p>
        </p:txBody>
      </p:sp>
      <p:sp>
        <p:nvSpPr>
          <p:cNvPr id="3" name="TextBox 2"/>
          <p:cNvSpPr txBox="1"/>
          <p:nvPr/>
        </p:nvSpPr>
        <p:spPr>
          <a:xfrm>
            <a:off x="822960" y="2743200"/>
            <a:ext cx="10515600" cy="1097280"/>
          </a:xfrm>
          <a:prstGeom prst="rect">
            <a:avLst/>
          </a:prstGeom>
          <a:noFill/>
        </p:spPr>
        <p:txBody>
          <a:bodyPr wrap="square">
            <a:noAutofit/>
          </a:bodyPr>
          <a:lstStyle/>
          <a:p>
            <a:pPr>
              <a:spcAft>
                <a:spcPts val="600"/>
              </a:spcAft>
            </a:pPr>
            <a:r>
              <a:rPr sz="3400" b="1">
                <a:solidFill>
                  <a:srgbClr val="FFFFFF"/>
                </a:solidFill>
                <a:latin typeface="Malgun Gothic"/>
                <a:ea typeface="Malgun Gothic"/>
                <a:cs typeface="Malgun Gothic"/>
              </a:rPr>
              <a:t>체크포인트 프로세스 (CKPT)</a:t>
            </a:r>
          </a:p>
        </p:txBody>
      </p:sp>
      <p:sp>
        <p:nvSpPr>
          <p:cNvPr id="4" name="Rectangle 3"/>
          <p:cNvSpPr/>
          <p:nvPr/>
        </p:nvSpPr>
        <p:spPr>
          <a:xfrm>
            <a:off x="822960" y="3840480"/>
            <a:ext cx="4114800" cy="91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noAutofit/>
          </a:bodyPr>
          <a:lstStyle/>
          <a:p>
            <a:pPr>
              <a:spcAft>
                <a:spcPts val="800"/>
              </a:spcAft>
            </a:pPr>
            <a:r>
              <a:rPr sz="1600" b="0">
                <a:solidFill>
                  <a:srgbClr val="C5CED6"/>
                </a:solidFill>
                <a:latin typeface="Malgun Gothic"/>
                <a:ea typeface="Malgun Gothic"/>
                <a:cs typeface="Malgun Gothic"/>
              </a:rPr>
              <a:t>•  역할: 체크포인트 이벤트를 관리</a:t>
            </a:r>
          </a:p>
          <a:p>
            <a:pPr>
              <a:spcAft>
                <a:spcPts val="800"/>
              </a:spcAft>
            </a:pPr>
            <a:r>
              <a:rPr sz="1600" b="0">
                <a:solidFill>
                  <a:srgbClr val="C5CED6"/>
                </a:solidFill>
                <a:latin typeface="Malgun Gothic"/>
                <a:ea typeface="Malgun Gothic"/>
                <a:cs typeface="Malgun Gothic"/>
              </a:rPr>
              <a:t>•  더티 버퍼를 직접 쓰지 않음 — DBWn에 쓰기를 신호</a:t>
            </a:r>
          </a:p>
          <a:p>
            <a:pPr>
              <a:spcAft>
                <a:spcPts val="800"/>
              </a:spcAft>
            </a:pPr>
            <a:r>
              <a:rPr sz="1600" b="0">
                <a:solidFill>
                  <a:srgbClr val="C5CED6"/>
                </a:solidFill>
                <a:latin typeface="Malgun Gothic"/>
                <a:ea typeface="Malgun Gothic"/>
                <a:cs typeface="Malgun Gothic"/>
              </a:rPr>
              <a:t>•  체크포인트 SCN을 데이터 파일 헤더·컨트롤 파일에 기록</a:t>
            </a:r>
          </a:p>
          <a:p>
            <a:pPr>
              <a:spcAft>
                <a:spcPts val="800"/>
              </a:spcAft>
            </a:pPr>
            <a:r>
              <a:rPr sz="1600" b="0">
                <a:solidFill>
                  <a:srgbClr val="C5CED6"/>
                </a:solidFill>
                <a:latin typeface="Malgun Gothic"/>
                <a:ea typeface="Malgun Gothic"/>
                <a:cs typeface="Malgun Gothic"/>
              </a:rPr>
              <a:t>•  체크포인트 빈도가 인스턴스 복구 시간을 결정</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oAutofit/>
          </a:bodyPr>
          <a:lstStyle/>
          <a:p>
            <a:pPr>
              <a:spcAft>
                <a:spcPts val="600"/>
              </a:spcAft>
            </a:pPr>
            <a:r>
              <a:rPr sz="2600" b="1">
                <a:solidFill>
                  <a:srgbClr val="FFFFFF"/>
                </a:solidFill>
                <a:latin typeface="Malgun Gothic"/>
                <a:ea typeface="Malgun Gothic"/>
                <a:cs typeface="Malgun Gothic"/>
              </a:rPr>
              <a:t>CKPT의 역할과 SCN 기록</a:t>
            </a:r>
          </a:p>
        </p:txBody>
      </p:sp>
      <p:sp>
        <p:nvSpPr>
          <p:cNvPr id="4" name="TextBox 3"/>
          <p:cNvSpPr txBox="1"/>
          <p:nvPr/>
        </p:nvSpPr>
        <p:spPr>
          <a:xfrm>
            <a:off x="640080" y="1234440"/>
            <a:ext cx="10881360" cy="4937760"/>
          </a:xfrm>
          <a:prstGeom prst="rect">
            <a:avLst/>
          </a:prstGeom>
          <a:noFill/>
        </p:spPr>
        <p:txBody>
          <a:bodyPr wrap="square">
            <a:noAutofit/>
          </a:bodyPr>
          <a:lstStyle/>
          <a:p>
            <a:pPr>
              <a:spcAft>
                <a:spcPts val="700"/>
              </a:spcAft>
            </a:pPr>
            <a:r>
              <a:rPr sz="1800" b="0">
                <a:solidFill>
                  <a:srgbClr val="202830"/>
                </a:solidFill>
                <a:latin typeface="Malgun Gothic"/>
                <a:ea typeface="Malgun Gothic"/>
                <a:cs typeface="Malgun Gothic"/>
              </a:rPr>
              <a:t>•  체크포인트: '이 시점까지의 변경은 데이터 파일에 안전하게 반영되었다'는 표식</a:t>
            </a:r>
          </a:p>
          <a:p>
            <a:pPr>
              <a:spcAft>
                <a:spcPts val="700"/>
              </a:spcAft>
            </a:pPr>
            <a:r>
              <a:rPr sz="1800" b="0">
                <a:solidFill>
                  <a:srgbClr val="202830"/>
                </a:solidFill>
                <a:latin typeface="Malgun Gothic"/>
                <a:ea typeface="Malgun Gothic"/>
                <a:cs typeface="Malgun Gothic"/>
              </a:rPr>
              <a:t>•  CKPT는 더티 버퍼를 직접 쓰지 않는다 — 실제 쓰기는 DBWn의 몫</a:t>
            </a:r>
          </a:p>
          <a:p>
            <a:pPr>
              <a:spcAft>
                <a:spcPts val="700"/>
              </a:spcAft>
            </a:pPr>
            <a:r>
              <a:rPr sz="1800" b="0">
                <a:solidFill>
                  <a:srgbClr val="202830"/>
                </a:solidFill>
                <a:latin typeface="Malgun Gothic"/>
                <a:ea typeface="Malgun Gothic"/>
                <a:cs typeface="Malgun Gothic"/>
              </a:rPr>
              <a:t>•  ① DBWn에 체크포인트까지의 더티 버퍼를 쓰라고 신호</a:t>
            </a:r>
          </a:p>
          <a:p>
            <a:pPr>
              <a:spcAft>
                <a:spcPts val="700"/>
              </a:spcAft>
            </a:pPr>
            <a:r>
              <a:rPr sz="1800" b="0">
                <a:solidFill>
                  <a:srgbClr val="202830"/>
                </a:solidFill>
                <a:latin typeface="Malgun Gothic"/>
                <a:ea typeface="Malgun Gothic"/>
                <a:cs typeface="Malgun Gothic"/>
              </a:rPr>
              <a:t>•  ② 체크포인트 SCN을 데이터 파일 헤더와 컨트롤 파일에 기록</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oAutofit/>
          </a:bodyPr>
          <a:lstStyle/>
          <a:p>
            <a:pPr>
              <a:spcAft>
                <a:spcPts val="600"/>
              </a:spcAft>
            </a:pPr>
            <a:r>
              <a:rPr sz="2600" b="1">
                <a:solidFill>
                  <a:srgbClr val="FFFFFF"/>
                </a:solidFill>
                <a:latin typeface="Malgun Gothic"/>
                <a:ea typeface="Malgun Gothic"/>
                <a:cs typeface="Malgun Gothic"/>
              </a:rPr>
              <a:t>체크포인트가 복구 시간을 결정한다</a:t>
            </a:r>
          </a:p>
        </p:txBody>
      </p:sp>
      <p:sp>
        <p:nvSpPr>
          <p:cNvPr id="4" name="TextBox 3"/>
          <p:cNvSpPr txBox="1"/>
          <p:nvPr/>
        </p:nvSpPr>
        <p:spPr>
          <a:xfrm>
            <a:off x="640080" y="1170432"/>
            <a:ext cx="10881360" cy="457200"/>
          </a:xfrm>
          <a:prstGeom prst="rect">
            <a:avLst/>
          </a:prstGeom>
          <a:noFill/>
        </p:spPr>
        <p:txBody>
          <a:bodyPr wrap="square">
            <a:noAutofit/>
          </a:bodyPr>
          <a:lstStyle/>
          <a:p>
            <a:pPr>
              <a:spcAft>
                <a:spcPts val="600"/>
              </a:spcAft>
            </a:pPr>
            <a:r>
              <a:rPr sz="1500" b="0">
                <a:solidFill>
                  <a:srgbClr val="5A6672"/>
                </a:solidFill>
                <a:latin typeface="Malgun Gothic"/>
                <a:ea typeface="Malgun Gothic"/>
                <a:cs typeface="Malgun Gothic"/>
              </a:rPr>
              <a:t>FAST_START_MTTR_TARGET — 목표 복구 시간(초) 설정</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noAutofit/>
          </a:bodyPr>
          <a:lstStyle/>
          <a:p>
            <a:pPr>
              <a:spcAft>
                <a:spcPts val="0"/>
              </a:spcAft>
            </a:pPr>
            <a:r>
              <a:rPr sz="1100" b="0">
                <a:solidFill>
                  <a:srgbClr val="7EC699"/>
                </a:solidFill>
                <a:latin typeface="Consolas"/>
                <a:ea typeface="Consolas"/>
                <a:cs typeface="Consolas"/>
              </a:rPr>
              <a:t>-- 복구 목표(MTTR)와 예상 복구 정보 확인</a:t>
            </a:r>
          </a:p>
          <a:p>
            <a:pPr>
              <a:spcAft>
                <a:spcPts val="0"/>
              </a:spcAft>
            </a:pPr>
            <a:r>
              <a:rPr sz="1100" b="0">
                <a:solidFill>
                  <a:srgbClr val="E6E6E6"/>
                </a:solidFill>
                <a:latin typeface="Consolas"/>
                <a:ea typeface="Consolas"/>
                <a:cs typeface="Consolas"/>
              </a:rPr>
              <a:t>SQL&gt; SHOW PARAMETER fast_start_mttr_target</a:t>
            </a:r>
          </a:p>
          <a:p>
            <a:pPr>
              <a:spcAft>
                <a:spcPts val="0"/>
              </a:spcAft>
            </a:pPr>
            <a:r>
              <a:rPr sz="1100" b="0">
                <a:solidFill>
                  <a:srgbClr val="E6E6E6"/>
                </a:solidFill>
                <a:latin typeface="Consolas"/>
                <a:ea typeface="Consolas"/>
                <a:cs typeface="Consolas"/>
              </a:rPr>
              <a:t> </a:t>
            </a:r>
          </a:p>
          <a:p>
            <a:pPr>
              <a:spcAft>
                <a:spcPts val="0"/>
              </a:spcAft>
            </a:pPr>
            <a:r>
              <a:rPr sz="1100" b="0">
                <a:solidFill>
                  <a:srgbClr val="E6E6E6"/>
                </a:solidFill>
                <a:latin typeface="Consolas"/>
                <a:ea typeface="Consolas"/>
                <a:cs typeface="Consolas"/>
              </a:rPr>
              <a:t>NAME                      TYPE      VALUE</a:t>
            </a:r>
          </a:p>
          <a:p>
            <a:pPr>
              <a:spcAft>
                <a:spcPts val="0"/>
              </a:spcAft>
            </a:pPr>
            <a:r>
              <a:rPr sz="1100" b="0">
                <a:solidFill>
                  <a:srgbClr val="7EC699"/>
                </a:solidFill>
                <a:latin typeface="Consolas"/>
                <a:ea typeface="Consolas"/>
                <a:cs typeface="Consolas"/>
              </a:rPr>
              <a:t>------------------------- --------- -------</a:t>
            </a:r>
          </a:p>
          <a:p>
            <a:pPr>
              <a:spcAft>
                <a:spcPts val="0"/>
              </a:spcAft>
            </a:pPr>
            <a:r>
              <a:rPr sz="1100" b="0">
                <a:solidFill>
                  <a:srgbClr val="E6E6E6"/>
                </a:solidFill>
                <a:latin typeface="Consolas"/>
                <a:ea typeface="Consolas"/>
                <a:cs typeface="Consolas"/>
              </a:rPr>
              <a:t>fast_start_mttr_target    integer   0</a:t>
            </a:r>
          </a:p>
          <a:p>
            <a:pPr>
              <a:spcAft>
                <a:spcPts val="0"/>
              </a:spcAft>
            </a:pPr>
            <a:r>
              <a:rPr sz="1100" b="0">
                <a:solidFill>
                  <a:srgbClr val="E6E6E6"/>
                </a:solidFill>
                <a:latin typeface="Consolas"/>
                <a:ea typeface="Consolas"/>
                <a:cs typeface="Consolas"/>
              </a:rPr>
              <a:t> </a:t>
            </a:r>
          </a:p>
          <a:p>
            <a:pPr>
              <a:spcAft>
                <a:spcPts val="0"/>
              </a:spcAft>
            </a:pPr>
            <a:r>
              <a:rPr sz="1100" b="0">
                <a:solidFill>
                  <a:srgbClr val="7EC699"/>
                </a:solidFill>
                <a:latin typeface="Consolas"/>
                <a:ea typeface="Consolas"/>
                <a:cs typeface="Consolas"/>
              </a:rPr>
              <a:t>-- 값을 크게: 체크포인트 뜸 → 평시 I/O 감소, 복구 느려짐</a:t>
            </a:r>
          </a:p>
          <a:p>
            <a:pPr>
              <a:spcAft>
                <a:spcPts val="0"/>
              </a:spcAft>
            </a:pPr>
            <a:r>
              <a:rPr sz="1100" b="0">
                <a:solidFill>
                  <a:srgbClr val="7EC699"/>
                </a:solidFill>
                <a:latin typeface="Consolas"/>
                <a:ea typeface="Consolas"/>
                <a:cs typeface="Consolas"/>
              </a:rPr>
              <a:t>-- 값을 작게: 체크포인트 잦음 → 평시 I/O 증가, 복구 빨라짐</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noAutofit/>
          </a:bodyPr>
          <a:lstStyle/>
          <a:p>
            <a:pPr>
              <a:spcAft>
                <a:spcPts val="600"/>
              </a:spcAft>
            </a:pPr>
            <a:r>
              <a:rPr sz="6600" b="1">
                <a:solidFill>
                  <a:srgbClr val="C0392B"/>
                </a:solidFill>
                <a:latin typeface="Malgun Gothic"/>
                <a:ea typeface="Malgun Gothic"/>
                <a:cs typeface="Malgun Gothic"/>
              </a:rPr>
              <a:t>2.6</a:t>
            </a:r>
          </a:p>
        </p:txBody>
      </p:sp>
      <p:sp>
        <p:nvSpPr>
          <p:cNvPr id="3" name="TextBox 2"/>
          <p:cNvSpPr txBox="1"/>
          <p:nvPr/>
        </p:nvSpPr>
        <p:spPr>
          <a:xfrm>
            <a:off x="822960" y="2743200"/>
            <a:ext cx="10515600" cy="1097280"/>
          </a:xfrm>
          <a:prstGeom prst="rect">
            <a:avLst/>
          </a:prstGeom>
          <a:noFill/>
        </p:spPr>
        <p:txBody>
          <a:bodyPr wrap="square">
            <a:noAutofit/>
          </a:bodyPr>
          <a:lstStyle/>
          <a:p>
            <a:pPr>
              <a:spcAft>
                <a:spcPts val="600"/>
              </a:spcAft>
            </a:pPr>
            <a:r>
              <a:rPr sz="3400" b="1">
                <a:solidFill>
                  <a:srgbClr val="FFFFFF"/>
                </a:solidFill>
                <a:latin typeface="Malgun Gothic"/>
                <a:ea typeface="Malgun Gothic"/>
                <a:cs typeface="Malgun Gothic"/>
              </a:rPr>
              <a:t>시스템 모니터(SMON) · 프로세스 모니터(PMON)</a:t>
            </a:r>
          </a:p>
        </p:txBody>
      </p:sp>
      <p:sp>
        <p:nvSpPr>
          <p:cNvPr id="4" name="Rectangle 3"/>
          <p:cNvSpPr/>
          <p:nvPr/>
        </p:nvSpPr>
        <p:spPr>
          <a:xfrm>
            <a:off x="822960" y="3840480"/>
            <a:ext cx="4114800" cy="91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noAutofit/>
          </a:bodyPr>
          <a:lstStyle/>
          <a:p>
            <a:pPr>
              <a:spcAft>
                <a:spcPts val="800"/>
              </a:spcAft>
            </a:pPr>
            <a:r>
              <a:rPr sz="1600" b="0">
                <a:solidFill>
                  <a:srgbClr val="C5CED6"/>
                </a:solidFill>
                <a:latin typeface="Malgun Gothic"/>
                <a:ea typeface="Malgun Gothic"/>
                <a:cs typeface="Malgun Gothic"/>
              </a:rPr>
              <a:t>•  SMON: 인스턴스 전체 수준의 복구·정리</a:t>
            </a:r>
          </a:p>
          <a:p>
            <a:pPr>
              <a:spcAft>
                <a:spcPts val="800"/>
              </a:spcAft>
            </a:pPr>
            <a:r>
              <a:rPr sz="1600" b="0">
                <a:solidFill>
                  <a:srgbClr val="C5CED6"/>
                </a:solidFill>
                <a:latin typeface="Malgun Gothic"/>
                <a:ea typeface="Malgun Gothic"/>
                <a:cs typeface="Malgun Gothic"/>
              </a:rPr>
              <a:t>•  인스턴스 복구 = roll forward + roll back</a:t>
            </a:r>
          </a:p>
          <a:p>
            <a:pPr>
              <a:spcAft>
                <a:spcPts val="800"/>
              </a:spcAft>
            </a:pPr>
            <a:r>
              <a:rPr sz="1600" b="0">
                <a:solidFill>
                  <a:srgbClr val="C5CED6"/>
                </a:solidFill>
                <a:latin typeface="Malgun Gothic"/>
                <a:ea typeface="Malgun Gothic"/>
                <a:cs typeface="Malgun Gothic"/>
              </a:rPr>
              <a:t>•  PMON: 실패한 프로세스·세션을 정리하는 청소부</a:t>
            </a:r>
          </a:p>
          <a:p>
            <a:pPr>
              <a:spcAft>
                <a:spcPts val="800"/>
              </a:spcAft>
            </a:pPr>
            <a:r>
              <a:rPr sz="1600" b="0">
                <a:solidFill>
                  <a:srgbClr val="C5CED6"/>
                </a:solidFill>
                <a:latin typeface="Malgun Gothic"/>
                <a:ea typeface="Malgun Gothic"/>
                <a:cs typeface="Malgun Gothic"/>
              </a:rPr>
              <a:t>•  작동 범위가 다르다 — 인스턴스 전체 vs 개별 세션</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oAutofit/>
          </a:bodyPr>
          <a:lstStyle/>
          <a:p>
            <a:pPr>
              <a:spcAft>
                <a:spcPts val="600"/>
              </a:spcAft>
            </a:pPr>
            <a:r>
              <a:rPr sz="2600" b="1">
                <a:solidFill>
                  <a:srgbClr val="FFFFFF"/>
                </a:solidFill>
                <a:latin typeface="Malgun Gothic"/>
                <a:ea typeface="Malgun Gothic"/>
                <a:cs typeface="Malgun Gothic"/>
              </a:rPr>
              <a:t>시스템 모니터 프로세스 (SMON)</a:t>
            </a:r>
          </a:p>
        </p:txBody>
      </p:sp>
      <p:sp>
        <p:nvSpPr>
          <p:cNvPr id="4" name="TextBox 3"/>
          <p:cNvSpPr txBox="1"/>
          <p:nvPr/>
        </p:nvSpPr>
        <p:spPr>
          <a:xfrm>
            <a:off x="640080" y="1234440"/>
            <a:ext cx="10881360" cy="4937760"/>
          </a:xfrm>
          <a:prstGeom prst="rect">
            <a:avLst/>
          </a:prstGeom>
          <a:noFill/>
        </p:spPr>
        <p:txBody>
          <a:bodyPr wrap="square">
            <a:noAutofit/>
          </a:bodyPr>
          <a:lstStyle/>
          <a:p>
            <a:pPr>
              <a:spcAft>
                <a:spcPts val="700"/>
              </a:spcAft>
            </a:pPr>
            <a:r>
              <a:rPr sz="1800" b="0">
                <a:solidFill>
                  <a:srgbClr val="202830"/>
                </a:solidFill>
                <a:latin typeface="Malgun Gothic"/>
                <a:ea typeface="Malgun Gothic"/>
                <a:cs typeface="Malgun Gothic"/>
              </a:rPr>
              <a:t>•  인스턴스 전체 수준의 정리와 복구를 담당하는 필수 프로세스</a:t>
            </a:r>
          </a:p>
          <a:p>
            <a:pPr>
              <a:spcAft>
                <a:spcPts val="700"/>
              </a:spcAft>
            </a:pPr>
            <a:r>
              <a:rPr sz="1800" b="0">
                <a:solidFill>
                  <a:srgbClr val="202830"/>
                </a:solidFill>
                <a:latin typeface="Malgun Gothic"/>
                <a:ea typeface="Malgun Gothic"/>
                <a:cs typeface="Malgun Gothic"/>
              </a:rPr>
              <a:t>•  인스턴스 복구: 비정상 종료 후 재기동 시 roll forward + roll back 수행</a:t>
            </a:r>
          </a:p>
          <a:p>
            <a:pPr lvl="1">
              <a:spcAft>
                <a:spcPts val="600"/>
              </a:spcAft>
            </a:pPr>
            <a:r>
              <a:rPr sz="1600" b="0">
                <a:solidFill>
                  <a:srgbClr val="5A6672"/>
                </a:solidFill>
                <a:latin typeface="Malgun Gothic"/>
                <a:ea typeface="Malgun Gothic"/>
                <a:cs typeface="Malgun Gothic"/>
              </a:rPr>
              <a:t>    –  roll forward: 마지막 체크포인트 이후 리두를 재적용해 장애 직전까지 전진</a:t>
            </a:r>
          </a:p>
          <a:p>
            <a:pPr lvl="1">
              <a:spcAft>
                <a:spcPts val="600"/>
              </a:spcAft>
            </a:pPr>
            <a:r>
              <a:rPr sz="1600" b="0">
                <a:solidFill>
                  <a:srgbClr val="5A6672"/>
                </a:solidFill>
                <a:latin typeface="Malgun Gothic"/>
                <a:ea typeface="Malgun Gothic"/>
                <a:cs typeface="Malgun Gothic"/>
              </a:rPr>
              <a:t>    –  roll back: 커밋되지 않은 트랜잭션을 되돌림</a:t>
            </a:r>
          </a:p>
          <a:p>
            <a:pPr>
              <a:spcAft>
                <a:spcPts val="700"/>
              </a:spcAft>
            </a:pPr>
            <a:r>
              <a:rPr sz="1800" b="0">
                <a:solidFill>
                  <a:srgbClr val="202830"/>
                </a:solidFill>
                <a:latin typeface="Malgun Gothic"/>
                <a:ea typeface="Malgun Gothic"/>
                <a:cs typeface="Malgun Gothic"/>
              </a:rPr>
              <a:t>•  사용 안 하는 임시 세그먼트 회수, 인접 여유 익스텐트 병합 등 공간 정리</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oAutofit/>
          </a:bodyPr>
          <a:lstStyle/>
          <a:p>
            <a:pPr>
              <a:spcAft>
                <a:spcPts val="600"/>
              </a:spcAft>
            </a:pPr>
            <a:r>
              <a:rPr sz="2600" b="1">
                <a:solidFill>
                  <a:srgbClr val="FFFFFF"/>
                </a:solidFill>
                <a:latin typeface="Malgun Gothic"/>
                <a:ea typeface="Malgun Gothic"/>
                <a:cs typeface="Malgun Gothic"/>
              </a:rPr>
              <a:t>프로세스 모니터 프로세스 (PMON)</a:t>
            </a:r>
          </a:p>
        </p:txBody>
      </p:sp>
      <p:sp>
        <p:nvSpPr>
          <p:cNvPr id="4" name="TextBox 3"/>
          <p:cNvSpPr txBox="1"/>
          <p:nvPr/>
        </p:nvSpPr>
        <p:spPr>
          <a:xfrm>
            <a:off x="640080" y="1234440"/>
            <a:ext cx="10881360" cy="4206240"/>
          </a:xfrm>
          <a:prstGeom prst="rect">
            <a:avLst/>
          </a:prstGeom>
          <a:noFill/>
        </p:spPr>
        <p:txBody>
          <a:bodyPr wrap="square">
            <a:noAutofit/>
          </a:bodyPr>
          <a:lstStyle/>
          <a:p>
            <a:pPr>
              <a:spcAft>
                <a:spcPts val="700"/>
              </a:spcAft>
            </a:pPr>
            <a:r>
              <a:rPr sz="1800" b="0">
                <a:solidFill>
                  <a:srgbClr val="202830"/>
                </a:solidFill>
                <a:latin typeface="Malgun Gothic"/>
                <a:ea typeface="Malgun Gothic"/>
                <a:cs typeface="Malgun Gothic"/>
              </a:rPr>
              <a:t>•  실패한 프로세스와 세션을 정리하는 '청소부'</a:t>
            </a:r>
          </a:p>
          <a:p>
            <a:pPr>
              <a:spcAft>
                <a:spcPts val="700"/>
              </a:spcAft>
            </a:pPr>
            <a:r>
              <a:rPr sz="1800" b="0">
                <a:solidFill>
                  <a:srgbClr val="202830"/>
                </a:solidFill>
                <a:latin typeface="Malgun Gothic"/>
                <a:ea typeface="Malgun Gothic"/>
                <a:cs typeface="Malgun Gothic"/>
              </a:rPr>
              <a:t>•  서버 프로세스가 비정상 종료되면 그 세션이 잡고 있던 락·자원·PGA를 회수</a:t>
            </a:r>
          </a:p>
          <a:p>
            <a:pPr>
              <a:spcAft>
                <a:spcPts val="700"/>
              </a:spcAft>
            </a:pPr>
            <a:r>
              <a:rPr sz="1800" b="0">
                <a:solidFill>
                  <a:srgbClr val="202830"/>
                </a:solidFill>
                <a:latin typeface="Malgun Gothic"/>
                <a:ea typeface="Malgun Gothic"/>
                <a:cs typeface="Malgun Gothic"/>
              </a:rPr>
              <a:t>•  커밋되지 않은 변경을 롤백하고 세션을 정리</a:t>
            </a:r>
          </a:p>
          <a:p>
            <a:pPr lvl="1">
              <a:spcAft>
                <a:spcPts val="600"/>
              </a:spcAft>
            </a:pPr>
            <a:r>
              <a:rPr sz="1600" b="0">
                <a:solidFill>
                  <a:srgbClr val="5A6672"/>
                </a:solidFill>
                <a:latin typeface="Malgun Gothic"/>
                <a:ea typeface="Malgun Gothic"/>
                <a:cs typeface="Malgun Gothic"/>
              </a:rPr>
              <a:t>    –  과거 PMON이 하던 동적 서비스 등록은 12c부터 LREG로 분리</a:t>
            </a:r>
          </a:p>
          <a:p>
            <a:pPr lvl="1">
              <a:spcAft>
                <a:spcPts val="600"/>
              </a:spcAft>
            </a:pPr>
            <a:r>
              <a:rPr sz="1600" b="0">
                <a:solidFill>
                  <a:srgbClr val="5A6672"/>
                </a:solidFill>
                <a:latin typeface="Malgun Gothic"/>
                <a:ea typeface="Malgun Gothic"/>
                <a:cs typeface="Malgun Gothic"/>
              </a:rPr>
              <a:t>    –  SMON=인스턴스 전체, PMON=개별 프로세스/세션 수준</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69280"/>
            <a:ext cx="10515600" cy="868680"/>
          </a:xfrm>
          <a:prstGeom prst="rect">
            <a:avLst/>
          </a:prstGeom>
          <a:noFill/>
        </p:spPr>
        <p:txBody>
          <a:bodyPr wrap="square">
            <a:noAutofit/>
          </a:bodyPr>
          <a:lstStyle/>
          <a:p>
            <a:pPr>
              <a:spcAft>
                <a:spcPts val="200"/>
              </a:spcAft>
            </a:pPr>
            <a:r>
              <a:rPr sz="1300" b="1">
                <a:solidFill>
                  <a:srgbClr val="1F5CA8"/>
                </a:solidFill>
                <a:latin typeface="Malgun Gothic"/>
                <a:ea typeface="Malgun Gothic"/>
                <a:cs typeface="Malgun Gothic"/>
              </a:rPr>
              <a:t>실무 시나리오:</a:t>
            </a:r>
          </a:p>
          <a:p>
            <a:pPr>
              <a:spcAft>
                <a:spcPts val="0"/>
              </a:spcAft>
            </a:pPr>
            <a:r>
              <a:rPr sz="1250" b="0">
                <a:solidFill>
                  <a:srgbClr val="202830"/>
                </a:solidFill>
                <a:latin typeface="Malgun Gothic"/>
                <a:ea typeface="Malgun Gothic"/>
                <a:cs typeface="Malgun Gothic"/>
              </a:rPr>
              <a:t>애플리케이션 서버가 강제 종료됐는데 그 세션이 잡은 행 락 때문에 다른 세션이 대기하는 상황 → 자원을 정리해 주는 것이 PMON이다. 죽은 세션을 감지해 락과 자원을 회수하면 대기가 풀린다.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noAutofit/>
          </a:bodyPr>
          <a:lstStyle/>
          <a:p>
            <a:pPr>
              <a:spcAft>
                <a:spcPts val="600"/>
              </a:spcAft>
            </a:pPr>
            <a:r>
              <a:rPr sz="6600" b="1">
                <a:solidFill>
                  <a:srgbClr val="C0392B"/>
                </a:solidFill>
                <a:latin typeface="Malgun Gothic"/>
                <a:ea typeface="Malgun Gothic"/>
                <a:cs typeface="Malgun Gothic"/>
              </a:rPr>
              <a:t>2.7</a:t>
            </a:r>
          </a:p>
        </p:txBody>
      </p:sp>
      <p:sp>
        <p:nvSpPr>
          <p:cNvPr id="3" name="TextBox 2"/>
          <p:cNvSpPr txBox="1"/>
          <p:nvPr/>
        </p:nvSpPr>
        <p:spPr>
          <a:xfrm>
            <a:off x="822960" y="2743200"/>
            <a:ext cx="10515600" cy="1097280"/>
          </a:xfrm>
          <a:prstGeom prst="rect">
            <a:avLst/>
          </a:prstGeom>
          <a:noFill/>
        </p:spPr>
        <p:txBody>
          <a:bodyPr wrap="square">
            <a:noAutofit/>
          </a:bodyPr>
          <a:lstStyle/>
          <a:p>
            <a:pPr>
              <a:spcAft>
                <a:spcPts val="600"/>
              </a:spcAft>
            </a:pPr>
            <a:r>
              <a:rPr sz="3400" b="1">
                <a:solidFill>
                  <a:srgbClr val="FFFFFF"/>
                </a:solidFill>
                <a:latin typeface="Malgun Gothic"/>
                <a:ea typeface="Malgun Gothic"/>
                <a:cs typeface="Malgun Gothic"/>
              </a:rPr>
              <a:t>프로세스 관리자(PMAN) · 복구자(RECO) · 리스너 등록(LREG)</a:t>
            </a:r>
          </a:p>
        </p:txBody>
      </p:sp>
      <p:sp>
        <p:nvSpPr>
          <p:cNvPr id="4" name="Rectangle 3"/>
          <p:cNvSpPr/>
          <p:nvPr/>
        </p:nvSpPr>
        <p:spPr>
          <a:xfrm>
            <a:off x="822960" y="3840480"/>
            <a:ext cx="4114800" cy="91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noAutofit/>
          </a:bodyPr>
          <a:lstStyle/>
          <a:p>
            <a:pPr>
              <a:spcAft>
                <a:spcPts val="800"/>
              </a:spcAft>
            </a:pPr>
            <a:r>
              <a:rPr sz="1600" b="0">
                <a:solidFill>
                  <a:srgbClr val="C5CED6"/>
                </a:solidFill>
                <a:latin typeface="Malgun Gothic"/>
                <a:ea typeface="Malgun Gothic"/>
                <a:cs typeface="Malgun Gothic"/>
              </a:rPr>
              <a:t>•  PMAN: 풀링된 서버 프로세스의 생성·감시·정리를 총괄</a:t>
            </a:r>
          </a:p>
          <a:p>
            <a:pPr>
              <a:spcAft>
                <a:spcPts val="800"/>
              </a:spcAft>
            </a:pPr>
            <a:r>
              <a:rPr sz="1600" b="0">
                <a:solidFill>
                  <a:srgbClr val="C5CED6"/>
                </a:solidFill>
                <a:latin typeface="Malgun Gothic"/>
                <a:ea typeface="Malgun Gothic"/>
                <a:cs typeface="Malgun Gothic"/>
              </a:rPr>
              <a:t>•  RECO: 분산 트랜잭션의 미해결(in-doubt) 트랜잭션 해결</a:t>
            </a:r>
          </a:p>
          <a:p>
            <a:pPr>
              <a:spcAft>
                <a:spcPts val="800"/>
              </a:spcAft>
            </a:pPr>
            <a:r>
              <a:rPr sz="1600" b="0">
                <a:solidFill>
                  <a:srgbClr val="C5CED6"/>
                </a:solidFill>
                <a:latin typeface="Malgun Gothic"/>
                <a:ea typeface="Malgun Gothic"/>
                <a:cs typeface="Malgun Gothic"/>
              </a:rPr>
              <a:t>•  LREG: 인스턴스·서비스 정보를 리스너에 등록(12c에서 PMON에서 분리)</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oAutofit/>
          </a:bodyPr>
          <a:lstStyle/>
          <a:p>
            <a:pPr>
              <a:spcAft>
                <a:spcPts val="600"/>
              </a:spcAft>
            </a:pPr>
            <a:r>
              <a:rPr sz="2600" b="1">
                <a:solidFill>
                  <a:srgbClr val="FFFFFF"/>
                </a:solidFill>
                <a:latin typeface="Malgun Gothic"/>
                <a:ea typeface="Malgun Gothic"/>
                <a:cs typeface="Malgun Gothic"/>
              </a:rPr>
              <a:t>PMAN · RECO · LREG</a:t>
            </a:r>
          </a:p>
        </p:txBody>
      </p:sp>
      <p:sp>
        <p:nvSpPr>
          <p:cNvPr id="4" name="TextBox 3"/>
          <p:cNvSpPr txBox="1"/>
          <p:nvPr/>
        </p:nvSpPr>
        <p:spPr>
          <a:xfrm>
            <a:off x="640080" y="1234440"/>
            <a:ext cx="10881360" cy="4206240"/>
          </a:xfrm>
          <a:prstGeom prst="rect">
            <a:avLst/>
          </a:prstGeom>
          <a:noFill/>
        </p:spPr>
        <p:txBody>
          <a:bodyPr wrap="square">
            <a:noAutofit/>
          </a:bodyPr>
          <a:lstStyle/>
          <a:p>
            <a:pPr>
              <a:spcAft>
                <a:spcPts val="700"/>
              </a:spcAft>
            </a:pPr>
            <a:r>
              <a:rPr sz="1800" b="0">
                <a:solidFill>
                  <a:srgbClr val="202830"/>
                </a:solidFill>
                <a:latin typeface="Malgun Gothic"/>
                <a:ea typeface="Malgun Gothic"/>
                <a:cs typeface="Malgun Gothic"/>
              </a:rPr>
              <a:t>•  PMAN(Process Manager): 여러 서버 프로세스의 생성·감시·정리를 총괄, 12c 도입</a:t>
            </a:r>
          </a:p>
          <a:p>
            <a:pPr lvl="1">
              <a:spcAft>
                <a:spcPts val="600"/>
              </a:spcAft>
            </a:pPr>
            <a:r>
              <a:rPr sz="1600" b="0">
                <a:solidFill>
                  <a:srgbClr val="5A6672"/>
                </a:solidFill>
                <a:latin typeface="Malgun Gothic"/>
                <a:ea typeface="Malgun Gothic"/>
                <a:cs typeface="Malgun Gothic"/>
              </a:rPr>
              <a:t>    –  공유 서버·풀링된 서버·잡 슬레이브 등 관리 대상</a:t>
            </a:r>
          </a:p>
          <a:p>
            <a:pPr>
              <a:spcAft>
                <a:spcPts val="700"/>
              </a:spcAft>
            </a:pPr>
            <a:r>
              <a:rPr sz="1800" b="0">
                <a:solidFill>
                  <a:srgbClr val="202830"/>
                </a:solidFill>
                <a:latin typeface="Malgun Gothic"/>
                <a:ea typeface="Malgun Gothic"/>
                <a:cs typeface="Malgun Gothic"/>
              </a:rPr>
              <a:t>•  RECO(Recoverer): 분산 트랜잭션에서 발생한 미해결(in-doubt) 트랜잭션을 자동 해결</a:t>
            </a:r>
          </a:p>
          <a:p>
            <a:pPr lvl="1">
              <a:spcAft>
                <a:spcPts val="600"/>
              </a:spcAft>
            </a:pPr>
            <a:r>
              <a:rPr sz="1600" b="0">
                <a:solidFill>
                  <a:srgbClr val="5A6672"/>
                </a:solidFill>
                <a:latin typeface="Malgun Gothic"/>
                <a:ea typeface="Malgun Gothic"/>
                <a:cs typeface="Malgun Gothic"/>
              </a:rPr>
              <a:t>    –  2단계 커밋 중 장애로 애매해진 트랜잭션을 커밋/롤백으로 정리</a:t>
            </a:r>
          </a:p>
          <a:p>
            <a:pPr>
              <a:spcAft>
                <a:spcPts val="700"/>
              </a:spcAft>
            </a:pPr>
            <a:r>
              <a:rPr sz="1800" b="0">
                <a:solidFill>
                  <a:srgbClr val="202830"/>
                </a:solidFill>
                <a:latin typeface="Malgun Gothic"/>
                <a:ea typeface="Malgun Gothic"/>
                <a:cs typeface="Malgun Gothic"/>
              </a:rPr>
              <a:t>•  LREG(Listener Registration): 인스턴스·서비스 정보를 리스너에 동적 등록</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69280"/>
            <a:ext cx="10515600" cy="868680"/>
          </a:xfrm>
          <a:prstGeom prst="rect">
            <a:avLst/>
          </a:prstGeom>
          <a:noFill/>
        </p:spPr>
        <p:txBody>
          <a:bodyPr wrap="square">
            <a:noAutofit/>
          </a:bodyPr>
          <a:lstStyle/>
          <a:p>
            <a:pPr>
              <a:spcAft>
                <a:spcPts val="200"/>
              </a:spcAft>
            </a:pPr>
            <a:r>
              <a:rPr sz="1300" b="1">
                <a:solidFill>
                  <a:srgbClr val="B88600"/>
                </a:solidFill>
                <a:latin typeface="Malgun Gothic"/>
                <a:ea typeface="Malgun Gothic"/>
                <a:cs typeface="Malgun Gothic"/>
              </a:rPr>
              <a:t>참고:</a:t>
            </a:r>
          </a:p>
          <a:p>
            <a:pPr>
              <a:spcAft>
                <a:spcPts val="0"/>
              </a:spcAft>
            </a:pPr>
            <a:r>
              <a:rPr sz="1250" b="0">
                <a:solidFill>
                  <a:srgbClr val="202830"/>
                </a:solidFill>
                <a:latin typeface="Malgun Gothic"/>
                <a:ea typeface="Malgun Gothic"/>
                <a:cs typeface="Malgun Gothic"/>
              </a:rPr>
              <a:t>LREG는 12c에서 PMON으로부터 분리된 역할이다. 12c 이전에는 PMON이 동적 서비스 등록을 직접 했으나, 12c부터 이 책임이 전용 프로세스 LREG로 넘어가 PMON은 정리에, LREG는 등록에 전념한다.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noAutofit/>
          </a:bodyPr>
          <a:lstStyle/>
          <a:p>
            <a:pPr>
              <a:spcAft>
                <a:spcPts val="600"/>
              </a:spcAft>
            </a:pPr>
            <a:r>
              <a:rPr sz="6600" b="1">
                <a:solidFill>
                  <a:srgbClr val="C0392B"/>
                </a:solidFill>
                <a:latin typeface="Malgun Gothic"/>
                <a:ea typeface="Malgun Gothic"/>
                <a:cs typeface="Malgun Gothic"/>
              </a:rPr>
              <a:t>2.8</a:t>
            </a:r>
          </a:p>
        </p:txBody>
      </p:sp>
      <p:sp>
        <p:nvSpPr>
          <p:cNvPr id="3" name="TextBox 2"/>
          <p:cNvSpPr txBox="1"/>
          <p:nvPr/>
        </p:nvSpPr>
        <p:spPr>
          <a:xfrm>
            <a:off x="822960" y="2743200"/>
            <a:ext cx="10515600" cy="1097280"/>
          </a:xfrm>
          <a:prstGeom prst="rect">
            <a:avLst/>
          </a:prstGeom>
          <a:noFill/>
        </p:spPr>
        <p:txBody>
          <a:bodyPr wrap="square">
            <a:noAutofit/>
          </a:bodyPr>
          <a:lstStyle/>
          <a:p>
            <a:pPr>
              <a:spcAft>
                <a:spcPts val="600"/>
              </a:spcAft>
            </a:pPr>
            <a:r>
              <a:rPr sz="3400" b="1">
                <a:solidFill>
                  <a:srgbClr val="FFFFFF"/>
                </a:solidFill>
                <a:latin typeface="Malgun Gothic"/>
                <a:ea typeface="Malgun Gothic"/>
                <a:cs typeface="Malgun Gothic"/>
              </a:rPr>
              <a:t>관리성 모니터 프로세스 (MMON · MMNL)</a:t>
            </a:r>
          </a:p>
        </p:txBody>
      </p:sp>
      <p:sp>
        <p:nvSpPr>
          <p:cNvPr id="4" name="Rectangle 3"/>
          <p:cNvSpPr/>
          <p:nvPr/>
        </p:nvSpPr>
        <p:spPr>
          <a:xfrm>
            <a:off x="822960" y="3840480"/>
            <a:ext cx="4114800" cy="91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noAutofit/>
          </a:bodyPr>
          <a:lstStyle/>
          <a:p>
            <a:pPr>
              <a:spcAft>
                <a:spcPts val="800"/>
              </a:spcAft>
            </a:pPr>
            <a:r>
              <a:rPr sz="1600" b="0">
                <a:solidFill>
                  <a:srgbClr val="C5CED6"/>
                </a:solidFill>
                <a:latin typeface="Malgun Gothic"/>
                <a:ea typeface="Malgun Gothic"/>
                <a:cs typeface="Malgun Gothic"/>
              </a:rPr>
              <a:t>•  MMON: 자기 관리와 자동 진단 인프라의 심장</a:t>
            </a:r>
          </a:p>
          <a:p>
            <a:pPr>
              <a:spcAft>
                <a:spcPts val="800"/>
              </a:spcAft>
            </a:pPr>
            <a:r>
              <a:rPr sz="1600" b="0">
                <a:solidFill>
                  <a:srgbClr val="C5CED6"/>
                </a:solidFill>
                <a:latin typeface="Malgun Gothic"/>
                <a:ea typeface="Malgun Gothic"/>
                <a:cs typeface="Malgun Gothic"/>
              </a:rPr>
              <a:t>•  AWR 스냅샷 · 서버 생성 알림 · 기준선 계산 · 자동 진단 트리거</a:t>
            </a:r>
          </a:p>
          <a:p>
            <a:pPr>
              <a:spcAft>
                <a:spcPts val="800"/>
              </a:spcAft>
            </a:pPr>
            <a:r>
              <a:rPr sz="1600" b="0">
                <a:solidFill>
                  <a:srgbClr val="C5CED6"/>
                </a:solidFill>
                <a:latin typeface="Malgun Gothic"/>
                <a:ea typeface="Malgun Gothic"/>
                <a:cs typeface="Malgun Gothic"/>
              </a:rPr>
              <a:t>•  MMNL: MMON을 보조하는 가벼운(lite) 프로세스, ASH 플러시 등</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oAutofit/>
          </a:bodyPr>
          <a:lstStyle/>
          <a:p>
            <a:pPr>
              <a:spcAft>
                <a:spcPts val="600"/>
              </a:spcAft>
            </a:pPr>
            <a:r>
              <a:rPr sz="2600" b="1">
                <a:solidFill>
                  <a:srgbClr val="FFFFFF"/>
                </a:solidFill>
                <a:latin typeface="Malgun Gothic"/>
                <a:ea typeface="Malgun Gothic"/>
                <a:cs typeface="Malgun Gothic"/>
              </a:rPr>
              <a:t>MMON의 역할</a:t>
            </a:r>
          </a:p>
        </p:txBody>
      </p:sp>
      <p:sp>
        <p:nvSpPr>
          <p:cNvPr id="4" name="TextBox 3"/>
          <p:cNvSpPr txBox="1"/>
          <p:nvPr/>
        </p:nvSpPr>
        <p:spPr>
          <a:xfrm>
            <a:off x="640080" y="1234440"/>
            <a:ext cx="10881360" cy="4937760"/>
          </a:xfrm>
          <a:prstGeom prst="rect">
            <a:avLst/>
          </a:prstGeom>
          <a:noFill/>
        </p:spPr>
        <p:txBody>
          <a:bodyPr wrap="square">
            <a:noAutofit/>
          </a:bodyPr>
          <a:lstStyle/>
          <a:p>
            <a:pPr>
              <a:spcAft>
                <a:spcPts val="700"/>
              </a:spcAft>
            </a:pPr>
            <a:r>
              <a:rPr sz="1800" b="0">
                <a:solidFill>
                  <a:srgbClr val="202830"/>
                </a:solidFill>
                <a:latin typeface="Malgun Gothic"/>
                <a:ea typeface="Malgun Gothic"/>
                <a:cs typeface="Malgun Gothic"/>
              </a:rPr>
              <a:t>•  AWR 스냅샷 자동 생성 — 기본 1시간마다 성능 통계 스냅샷을 AWR에 저장</a:t>
            </a:r>
          </a:p>
          <a:p>
            <a:pPr>
              <a:spcAft>
                <a:spcPts val="700"/>
              </a:spcAft>
            </a:pPr>
            <a:r>
              <a:rPr sz="1800" b="0">
                <a:solidFill>
                  <a:srgbClr val="202830"/>
                </a:solidFill>
                <a:latin typeface="Malgun Gothic"/>
                <a:ea typeface="Malgun Gothic"/>
                <a:cs typeface="Malgun Gothic"/>
              </a:rPr>
              <a:t>•  서버 생성 알림 발행 — 테이블스페이스 사용률 임계 초과 등 조건 충족 시 경고</a:t>
            </a:r>
          </a:p>
          <a:p>
            <a:pPr>
              <a:spcAft>
                <a:spcPts val="700"/>
              </a:spcAft>
            </a:pPr>
            <a:r>
              <a:rPr sz="1800" b="0">
                <a:solidFill>
                  <a:srgbClr val="202830"/>
                </a:solidFill>
                <a:latin typeface="Malgun Gothic"/>
                <a:ea typeface="Malgun Gothic"/>
                <a:cs typeface="Malgun Gothic"/>
              </a:rPr>
              <a:t>•  기준선(baseline) 계산 — 성능 지표의 정상 범위를 산정, 이상 탐지 기준</a:t>
            </a:r>
          </a:p>
          <a:p>
            <a:pPr>
              <a:spcAft>
                <a:spcPts val="700"/>
              </a:spcAft>
            </a:pPr>
            <a:r>
              <a:rPr sz="1800" b="0">
                <a:solidFill>
                  <a:srgbClr val="202830"/>
                </a:solidFill>
                <a:latin typeface="Malgun Gothic"/>
                <a:ea typeface="Malgun Gothic"/>
                <a:cs typeface="Malgun Gothic"/>
              </a:rPr>
              <a:t>•  자동 진단 트리거 — 심각한 문제 감지 시 어드바이저·진단 작업 자동 실행</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oAutofit/>
          </a:bodyPr>
          <a:lstStyle/>
          <a:p>
            <a:pPr>
              <a:spcAft>
                <a:spcPts val="600"/>
              </a:spcAft>
            </a:pPr>
            <a:r>
              <a:rPr sz="2600" b="1">
                <a:solidFill>
                  <a:srgbClr val="FFFFFF"/>
                </a:solidFill>
                <a:latin typeface="Malgun Gothic"/>
                <a:ea typeface="Malgun Gothic"/>
                <a:cs typeface="Malgun Gothic"/>
              </a:rPr>
              <a:t>MMNL과 AWR 스냅샷 확인</a:t>
            </a:r>
          </a:p>
        </p:txBody>
      </p:sp>
      <p:sp>
        <p:nvSpPr>
          <p:cNvPr id="4" name="TextBox 3"/>
          <p:cNvSpPr txBox="1"/>
          <p:nvPr/>
        </p:nvSpPr>
        <p:spPr>
          <a:xfrm>
            <a:off x="640080" y="1170432"/>
            <a:ext cx="10881360" cy="457200"/>
          </a:xfrm>
          <a:prstGeom prst="rect">
            <a:avLst/>
          </a:prstGeom>
          <a:noFill/>
        </p:spPr>
        <p:txBody>
          <a:bodyPr wrap="square">
            <a:noAutofit/>
          </a:bodyPr>
          <a:lstStyle/>
          <a:p>
            <a:pPr>
              <a:spcAft>
                <a:spcPts val="600"/>
              </a:spcAft>
            </a:pPr>
            <a:r>
              <a:rPr sz="1500" b="0">
                <a:solidFill>
                  <a:srgbClr val="5A6672"/>
                </a:solidFill>
                <a:latin typeface="Malgun Gothic"/>
                <a:ea typeface="Malgun Gothic"/>
                <a:cs typeface="Malgun Gothic"/>
              </a:rPr>
              <a:t>MMON이 생성한 AWR 스냅샷 · MMNL은 ASH를 주기적으로 플러시</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noAutofit/>
          </a:bodyPr>
          <a:lstStyle/>
          <a:p>
            <a:pPr>
              <a:spcAft>
                <a:spcPts val="0"/>
              </a:spcAft>
            </a:pPr>
            <a:r>
              <a:rPr sz="1100" b="0">
                <a:solidFill>
                  <a:srgbClr val="7EC699"/>
                </a:solidFill>
                <a:latin typeface="Consolas"/>
                <a:ea typeface="Consolas"/>
                <a:cs typeface="Consolas"/>
              </a:rPr>
              <a:t>-- 최근 AWR 스냅샷 확인 (MMON이 생성)</a:t>
            </a:r>
          </a:p>
          <a:p>
            <a:pPr>
              <a:spcAft>
                <a:spcPts val="0"/>
              </a:spcAft>
            </a:pPr>
            <a:r>
              <a:rPr sz="1100" b="0">
                <a:solidFill>
                  <a:srgbClr val="E6E6E6"/>
                </a:solidFill>
                <a:latin typeface="Consolas"/>
                <a:ea typeface="Consolas"/>
                <a:cs typeface="Consolas"/>
              </a:rPr>
              <a:t>SQL&gt; SELECT snap_id,</a:t>
            </a:r>
          </a:p>
          <a:p>
            <a:pPr>
              <a:spcAft>
                <a:spcPts val="0"/>
              </a:spcAft>
            </a:pPr>
            <a:r>
              <a:rPr sz="1100" b="0">
                <a:solidFill>
                  <a:srgbClr val="E6E6E6"/>
                </a:solidFill>
                <a:latin typeface="Consolas"/>
                <a:ea typeface="Consolas"/>
                <a:cs typeface="Consolas"/>
              </a:rPr>
              <a:t>  2         TO_CHAR(begin_interval_time,'YYYY-MM-DD HH24:MI') AS begin_t</a:t>
            </a:r>
          </a:p>
          <a:p>
            <a:pPr>
              <a:spcAft>
                <a:spcPts val="0"/>
              </a:spcAft>
            </a:pPr>
            <a:r>
              <a:rPr sz="1100" b="0">
                <a:solidFill>
                  <a:srgbClr val="E6E6E6"/>
                </a:solidFill>
                <a:latin typeface="Consolas"/>
                <a:ea typeface="Consolas"/>
                <a:cs typeface="Consolas"/>
              </a:rPr>
              <a:t>  3  FROM   dba_hist_snapshot</a:t>
            </a:r>
          </a:p>
          <a:p>
            <a:pPr>
              <a:spcAft>
                <a:spcPts val="0"/>
              </a:spcAft>
            </a:pPr>
            <a:r>
              <a:rPr sz="1100" b="0">
                <a:solidFill>
                  <a:srgbClr val="E6E6E6"/>
                </a:solidFill>
                <a:latin typeface="Consolas"/>
                <a:ea typeface="Consolas"/>
                <a:cs typeface="Consolas"/>
              </a:rPr>
              <a:t>  4  ORDER  BY snap_id DESC FETCH FIRST 5 ROWS ONLY;</a:t>
            </a:r>
          </a:p>
          <a:p>
            <a:pPr>
              <a:spcAft>
                <a:spcPts val="0"/>
              </a:spcAft>
            </a:pPr>
            <a:r>
              <a:rPr sz="1100" b="0">
                <a:solidFill>
                  <a:srgbClr val="E6E6E6"/>
                </a:solidFill>
                <a:latin typeface="Consolas"/>
                <a:ea typeface="Consolas"/>
                <a:cs typeface="Consolas"/>
              </a:rPr>
              <a:t> </a:t>
            </a:r>
          </a:p>
          <a:p>
            <a:pPr>
              <a:spcAft>
                <a:spcPts val="0"/>
              </a:spcAft>
            </a:pPr>
            <a:r>
              <a:rPr sz="1100" b="0">
                <a:solidFill>
                  <a:srgbClr val="E6E6E6"/>
                </a:solidFill>
                <a:latin typeface="Consolas"/>
                <a:ea typeface="Consolas"/>
                <a:cs typeface="Consolas"/>
              </a:rPr>
              <a:t>   SNAP_ID  BEGIN_T</a:t>
            </a:r>
          </a:p>
          <a:p>
            <a:pPr>
              <a:spcAft>
                <a:spcPts val="0"/>
              </a:spcAft>
            </a:pPr>
            <a:r>
              <a:rPr sz="1100" b="0">
                <a:solidFill>
                  <a:srgbClr val="7EC699"/>
                </a:solidFill>
                <a:latin typeface="Consolas"/>
                <a:ea typeface="Consolas"/>
                <a:cs typeface="Consolas"/>
              </a:rPr>
              <a:t>---------- -----------------</a:t>
            </a:r>
          </a:p>
          <a:p>
            <a:pPr>
              <a:spcAft>
                <a:spcPts val="0"/>
              </a:spcAft>
            </a:pPr>
            <a:r>
              <a:rPr sz="1100" b="0">
                <a:solidFill>
                  <a:srgbClr val="E6E6E6"/>
                </a:solidFill>
                <a:latin typeface="Consolas"/>
                <a:ea typeface="Consolas"/>
                <a:cs typeface="Consolas"/>
              </a:rPr>
              <a:t>       420  2026-07-22 14:00</a:t>
            </a:r>
          </a:p>
          <a:p>
            <a:pPr>
              <a:spcAft>
                <a:spcPts val="0"/>
              </a:spcAft>
            </a:pPr>
            <a:r>
              <a:rPr sz="1100" b="0">
                <a:solidFill>
                  <a:srgbClr val="E6E6E6"/>
                </a:solidFill>
                <a:latin typeface="Consolas"/>
                <a:ea typeface="Consolas"/>
                <a:cs typeface="Consolas"/>
              </a:rPr>
              <a:t>       419  2026-07-22 13:00</a:t>
            </a:r>
          </a:p>
          <a:p>
            <a:pPr>
              <a:spcAft>
                <a:spcPts val="0"/>
              </a:spcAft>
            </a:pPr>
            <a:r>
              <a:rPr sz="1100" b="0">
                <a:solidFill>
                  <a:srgbClr val="E6E6E6"/>
                </a:solidFill>
                <a:latin typeface="Consolas"/>
                <a:ea typeface="Consolas"/>
                <a:cs typeface="Consolas"/>
              </a:rPr>
              <a:t> </a:t>
            </a:r>
          </a:p>
          <a:p>
            <a:pPr>
              <a:spcAft>
                <a:spcPts val="0"/>
              </a:spcAft>
            </a:pPr>
            <a:r>
              <a:rPr sz="1100" b="0">
                <a:solidFill>
                  <a:srgbClr val="7EC699"/>
                </a:solidFill>
                <a:latin typeface="Consolas"/>
                <a:ea typeface="Consolas"/>
                <a:cs typeface="Consolas"/>
              </a:rPr>
              <a:t>-- MMNL(lite): ASH 버퍼를 디스크로 플러시하는 등 가볍고 빈번한 작업</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noAutofit/>
          </a:bodyPr>
          <a:lstStyle/>
          <a:p>
            <a:pPr>
              <a:spcAft>
                <a:spcPts val="600"/>
              </a:spcAft>
            </a:pPr>
            <a:r>
              <a:rPr sz="6600" b="1">
                <a:solidFill>
                  <a:srgbClr val="C0392B"/>
                </a:solidFill>
                <a:latin typeface="Malgun Gothic"/>
                <a:ea typeface="Malgun Gothic"/>
                <a:cs typeface="Malgun Gothic"/>
              </a:rPr>
              <a:t>2.9</a:t>
            </a:r>
          </a:p>
        </p:txBody>
      </p:sp>
      <p:sp>
        <p:nvSpPr>
          <p:cNvPr id="3" name="TextBox 2"/>
          <p:cNvSpPr txBox="1"/>
          <p:nvPr/>
        </p:nvSpPr>
        <p:spPr>
          <a:xfrm>
            <a:off x="822960" y="2743200"/>
            <a:ext cx="10515600" cy="1097280"/>
          </a:xfrm>
          <a:prstGeom prst="rect">
            <a:avLst/>
          </a:prstGeom>
          <a:noFill/>
        </p:spPr>
        <p:txBody>
          <a:bodyPr wrap="square">
            <a:noAutofit/>
          </a:bodyPr>
          <a:lstStyle/>
          <a:p>
            <a:pPr>
              <a:spcAft>
                <a:spcPts val="600"/>
              </a:spcAft>
            </a:pPr>
            <a:r>
              <a:rPr sz="3400" b="1">
                <a:solidFill>
                  <a:srgbClr val="FFFFFF"/>
                </a:solidFill>
                <a:latin typeface="Malgun Gothic"/>
                <a:ea typeface="Malgun Gothic"/>
                <a:cs typeface="Malgun Gothic"/>
              </a:rPr>
              <a:t>아카이버 프로세스 (ARCn)</a:t>
            </a:r>
          </a:p>
        </p:txBody>
      </p:sp>
      <p:sp>
        <p:nvSpPr>
          <p:cNvPr id="4" name="Rectangle 3"/>
          <p:cNvSpPr/>
          <p:nvPr/>
        </p:nvSpPr>
        <p:spPr>
          <a:xfrm>
            <a:off x="822960" y="3840480"/>
            <a:ext cx="4114800" cy="91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noAutofit/>
          </a:bodyPr>
          <a:lstStyle/>
          <a:p>
            <a:pPr>
              <a:spcAft>
                <a:spcPts val="800"/>
              </a:spcAft>
            </a:pPr>
            <a:r>
              <a:rPr sz="1600" b="0">
                <a:solidFill>
                  <a:srgbClr val="C5CED6"/>
                </a:solidFill>
                <a:latin typeface="Malgun Gothic"/>
                <a:ea typeface="Malgun Gothic"/>
                <a:cs typeface="Malgun Gothic"/>
              </a:rPr>
              <a:t>•  역할: 가득 찬 온라인 리두 로그를 재사용 전에 아카이브 목적지로 복사</a:t>
            </a:r>
          </a:p>
          <a:p>
            <a:pPr>
              <a:spcAft>
                <a:spcPts val="800"/>
              </a:spcAft>
            </a:pPr>
            <a:r>
              <a:rPr sz="1600" b="0">
                <a:solidFill>
                  <a:srgbClr val="C5CED6"/>
                </a:solidFill>
                <a:latin typeface="Malgun Gothic"/>
                <a:ea typeface="Malgun Gothic"/>
                <a:cs typeface="Malgun Gothic"/>
              </a:rPr>
              <a:t>•  ARCHIVELOG 모드에서만 동작하는 선택 프로세스</a:t>
            </a:r>
          </a:p>
          <a:p>
            <a:pPr>
              <a:spcAft>
                <a:spcPts val="800"/>
              </a:spcAft>
            </a:pPr>
            <a:r>
              <a:rPr sz="1600" b="0">
                <a:solidFill>
                  <a:srgbClr val="C5CED6"/>
                </a:solidFill>
                <a:latin typeface="Malgun Gothic"/>
                <a:ea typeface="Malgun Gothic"/>
                <a:cs typeface="Malgun Gothic"/>
              </a:rPr>
              <a:t>•  트리거: 로그 스위치(log switch)</a:t>
            </a:r>
          </a:p>
          <a:p>
            <a:pPr>
              <a:spcAft>
                <a:spcPts val="800"/>
              </a:spcAft>
            </a:pPr>
            <a:r>
              <a:rPr sz="1600" b="0">
                <a:solidFill>
                  <a:srgbClr val="C5CED6"/>
                </a:solidFill>
                <a:latin typeface="Malgun Gothic"/>
                <a:ea typeface="Malgun Gothic"/>
                <a:cs typeface="Malgun Gothic"/>
              </a:rPr>
              <a:t>•  LOG_ARCHIVE_MAX_PROCESSES로 최대 30개 구성</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oAutofit/>
          </a:bodyPr>
          <a:lstStyle/>
          <a:p>
            <a:pPr>
              <a:spcAft>
                <a:spcPts val="600"/>
              </a:spcAft>
            </a:pPr>
            <a:r>
              <a:rPr sz="2600" b="1">
                <a:solidFill>
                  <a:srgbClr val="FFFFFF"/>
                </a:solidFill>
                <a:latin typeface="Malgun Gothic"/>
                <a:ea typeface="Malgun Gothic"/>
                <a:cs typeface="Malgun Gothic"/>
              </a:rPr>
              <a:t>왜 아카이빙이 필요한가</a:t>
            </a:r>
          </a:p>
        </p:txBody>
      </p:sp>
      <p:sp>
        <p:nvSpPr>
          <p:cNvPr id="4" name="TextBox 3"/>
          <p:cNvSpPr txBox="1"/>
          <p:nvPr/>
        </p:nvSpPr>
        <p:spPr>
          <a:xfrm>
            <a:off x="640080" y="1234440"/>
            <a:ext cx="10881360" cy="4937760"/>
          </a:xfrm>
          <a:prstGeom prst="rect">
            <a:avLst/>
          </a:prstGeom>
          <a:noFill/>
        </p:spPr>
        <p:txBody>
          <a:bodyPr wrap="square">
            <a:noAutofit/>
          </a:bodyPr>
          <a:lstStyle/>
          <a:p>
            <a:pPr>
              <a:spcAft>
                <a:spcPts val="700"/>
              </a:spcAft>
            </a:pPr>
            <a:r>
              <a:rPr sz="1800" b="0">
                <a:solidFill>
                  <a:srgbClr val="202830"/>
                </a:solidFill>
                <a:latin typeface="Malgun Gothic"/>
                <a:ea typeface="Malgun Gothic"/>
                <a:cs typeface="Malgun Gothic"/>
              </a:rPr>
              <a:t>•  온라인 리두 로그는 소수의 그룹이 순환(circular)하는 구조</a:t>
            </a:r>
          </a:p>
          <a:p>
            <a:pPr>
              <a:spcAft>
                <a:spcPts val="700"/>
              </a:spcAft>
            </a:pPr>
            <a:r>
              <a:rPr sz="1800" b="0">
                <a:solidFill>
                  <a:srgbClr val="202830"/>
                </a:solidFill>
                <a:latin typeface="Malgun Gothic"/>
                <a:ea typeface="Malgun Gothic"/>
                <a:cs typeface="Malgun Gothic"/>
              </a:rPr>
              <a:t>•  모든 그룹을 다 쓰면 다시 첫 그룹으로 돌아가 덮어씀</a:t>
            </a:r>
          </a:p>
          <a:p>
            <a:pPr>
              <a:spcAft>
                <a:spcPts val="700"/>
              </a:spcAft>
            </a:pPr>
            <a:r>
              <a:rPr sz="1800" b="0">
                <a:solidFill>
                  <a:srgbClr val="202830"/>
                </a:solidFill>
                <a:latin typeface="Malgun Gothic"/>
                <a:ea typeface="Malgun Gothic"/>
                <a:cs typeface="Malgun Gothic"/>
              </a:rPr>
              <a:t>•  덮어쓰기 전에 사본을 남기지 않으면 과거 리두가 사라져 시점 복구 불가</a:t>
            </a:r>
          </a:p>
          <a:p>
            <a:pPr lvl="1">
              <a:spcAft>
                <a:spcPts val="600"/>
              </a:spcAft>
            </a:pPr>
            <a:r>
              <a:rPr sz="1600" b="0">
                <a:solidFill>
                  <a:srgbClr val="5A6672"/>
                </a:solidFill>
                <a:latin typeface="Malgun Gothic"/>
                <a:ea typeface="Malgun Gothic"/>
                <a:cs typeface="Malgun Gothic"/>
              </a:rPr>
              <a:t>    –  ARCHIVELOG 모드 + ARCn이 사본을 아카이브 목적지에 남겨 완전 복구를 보장</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oAutofit/>
          </a:bodyPr>
          <a:lstStyle/>
          <a:p>
            <a:pPr>
              <a:spcAft>
                <a:spcPts val="600"/>
              </a:spcAft>
            </a:pPr>
            <a:r>
              <a:rPr sz="2600" b="1">
                <a:solidFill>
                  <a:srgbClr val="FFFFFF"/>
                </a:solidFill>
                <a:latin typeface="Malgun Gothic"/>
                <a:ea typeface="Malgun Gothic"/>
                <a:cs typeface="Malgun Gothic"/>
              </a:rPr>
              <a:t>ARCn 트리거와 다중 구성</a:t>
            </a:r>
          </a:p>
        </p:txBody>
      </p:sp>
      <p:sp>
        <p:nvSpPr>
          <p:cNvPr id="4" name="TextBox 3"/>
          <p:cNvSpPr txBox="1"/>
          <p:nvPr/>
        </p:nvSpPr>
        <p:spPr>
          <a:xfrm>
            <a:off x="640080" y="1170432"/>
            <a:ext cx="10881360" cy="457200"/>
          </a:xfrm>
          <a:prstGeom prst="rect">
            <a:avLst/>
          </a:prstGeom>
          <a:noFill/>
        </p:spPr>
        <p:txBody>
          <a:bodyPr wrap="square">
            <a:noAutofit/>
          </a:bodyPr>
          <a:lstStyle/>
          <a:p>
            <a:pPr>
              <a:spcAft>
                <a:spcPts val="600"/>
              </a:spcAft>
            </a:pPr>
            <a:r>
              <a:rPr sz="1500" b="0">
                <a:solidFill>
                  <a:srgbClr val="5A6672"/>
                </a:solidFill>
                <a:latin typeface="Malgun Gothic"/>
                <a:ea typeface="Malgun Gothic"/>
                <a:cs typeface="Malgun Gothic"/>
              </a:rPr>
              <a:t>ARCHIVE LOG LIST — 아카이브 모드 및 아카이버 상태 확인</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noAutofit/>
          </a:bodyPr>
          <a:lstStyle/>
          <a:p>
            <a:pPr>
              <a:spcAft>
                <a:spcPts val="0"/>
              </a:spcAft>
            </a:pPr>
            <a:r>
              <a:rPr sz="1100" b="0">
                <a:solidFill>
                  <a:srgbClr val="7EC699"/>
                </a:solidFill>
                <a:latin typeface="Consolas"/>
                <a:ea typeface="Consolas"/>
                <a:cs typeface="Consolas"/>
              </a:rPr>
              <a:t>-- 아카이브 로그 모드 및 아카이버 설정 확인</a:t>
            </a:r>
          </a:p>
          <a:p>
            <a:pPr>
              <a:spcAft>
                <a:spcPts val="0"/>
              </a:spcAft>
            </a:pPr>
            <a:r>
              <a:rPr sz="1100" b="0">
                <a:solidFill>
                  <a:srgbClr val="E6E6E6"/>
                </a:solidFill>
                <a:latin typeface="Consolas"/>
                <a:ea typeface="Consolas"/>
                <a:cs typeface="Consolas"/>
              </a:rPr>
              <a:t>SQL&gt; ARCHIVE LOG LIST</a:t>
            </a:r>
          </a:p>
          <a:p>
            <a:pPr>
              <a:spcAft>
                <a:spcPts val="0"/>
              </a:spcAft>
            </a:pPr>
            <a:r>
              <a:rPr sz="1100" b="0">
                <a:solidFill>
                  <a:srgbClr val="E6E6E6"/>
                </a:solidFill>
                <a:latin typeface="Consolas"/>
                <a:ea typeface="Consolas"/>
                <a:cs typeface="Consolas"/>
              </a:rPr>
              <a:t>Database log mode              Archive Mode</a:t>
            </a:r>
          </a:p>
          <a:p>
            <a:pPr>
              <a:spcAft>
                <a:spcPts val="0"/>
              </a:spcAft>
            </a:pPr>
            <a:r>
              <a:rPr sz="1100" b="0">
                <a:solidFill>
                  <a:srgbClr val="E6E6E6"/>
                </a:solidFill>
                <a:latin typeface="Consolas"/>
                <a:ea typeface="Consolas"/>
                <a:cs typeface="Consolas"/>
              </a:rPr>
              <a:t>Automatic archival             Enabled</a:t>
            </a:r>
          </a:p>
          <a:p>
            <a:pPr>
              <a:spcAft>
                <a:spcPts val="0"/>
              </a:spcAft>
            </a:pPr>
            <a:r>
              <a:rPr sz="1100" b="0">
                <a:solidFill>
                  <a:srgbClr val="E6E6E6"/>
                </a:solidFill>
                <a:latin typeface="Consolas"/>
                <a:ea typeface="Consolas"/>
                <a:cs typeface="Consolas"/>
              </a:rPr>
              <a:t>Archive destination            USE_DB_RECOVERY_FILE_DEST</a:t>
            </a:r>
          </a:p>
          <a:p>
            <a:pPr>
              <a:spcAft>
                <a:spcPts val="0"/>
              </a:spcAft>
            </a:pPr>
            <a:r>
              <a:rPr sz="1100" b="0">
                <a:solidFill>
                  <a:srgbClr val="E6E6E6"/>
                </a:solidFill>
                <a:latin typeface="Consolas"/>
                <a:ea typeface="Consolas"/>
                <a:cs typeface="Consolas"/>
              </a:rPr>
              <a:t>Oldest online log sequence     58</a:t>
            </a:r>
          </a:p>
          <a:p>
            <a:pPr>
              <a:spcAft>
                <a:spcPts val="0"/>
              </a:spcAft>
            </a:pPr>
            <a:r>
              <a:rPr sz="1100" b="0">
                <a:solidFill>
                  <a:srgbClr val="E6E6E6"/>
                </a:solidFill>
                <a:latin typeface="Consolas"/>
                <a:ea typeface="Consolas"/>
                <a:cs typeface="Consolas"/>
              </a:rPr>
              <a:t>Next log sequence to archive   60</a:t>
            </a:r>
          </a:p>
          <a:p>
            <a:pPr>
              <a:spcAft>
                <a:spcPts val="0"/>
              </a:spcAft>
            </a:pPr>
            <a:r>
              <a:rPr sz="1100" b="0">
                <a:solidFill>
                  <a:srgbClr val="E6E6E6"/>
                </a:solidFill>
                <a:latin typeface="Consolas"/>
                <a:ea typeface="Consolas"/>
                <a:cs typeface="Consolas"/>
              </a:rPr>
              <a:t>Current log sequence           60</a:t>
            </a:r>
          </a:p>
          <a:p>
            <a:pPr>
              <a:spcAft>
                <a:spcPts val="0"/>
              </a:spcAft>
            </a:pPr>
            <a:r>
              <a:rPr sz="1100" b="0">
                <a:solidFill>
                  <a:srgbClr val="E6E6E6"/>
                </a:solidFill>
                <a:latin typeface="Consolas"/>
                <a:ea typeface="Consolas"/>
                <a:cs typeface="Consolas"/>
              </a:rPr>
              <a:t> </a:t>
            </a:r>
          </a:p>
          <a:p>
            <a:pPr>
              <a:spcAft>
                <a:spcPts val="0"/>
              </a:spcAft>
            </a:pPr>
            <a:r>
              <a:rPr sz="1100" b="0">
                <a:solidFill>
                  <a:srgbClr val="7EC699"/>
                </a:solidFill>
                <a:latin typeface="Consolas"/>
                <a:ea typeface="Consolas"/>
                <a:cs typeface="Consolas"/>
              </a:rPr>
              <a:t>-- 주된 트리거: 로그 스위치(log switch)</a:t>
            </a:r>
          </a:p>
          <a:p>
            <a:pPr>
              <a:spcAft>
                <a:spcPts val="0"/>
              </a:spcAft>
            </a:pPr>
            <a:r>
              <a:rPr sz="1100" b="0">
                <a:solidFill>
                  <a:srgbClr val="7EC699"/>
                </a:solidFill>
                <a:latin typeface="Consolas"/>
                <a:ea typeface="Consolas"/>
                <a:cs typeface="Consolas"/>
              </a:rPr>
              <a:t>-- LOG_ARCHIVE_MAX_PROCESSES 로 ARC0~ 최대 30개 구성</a:t>
            </a:r>
          </a:p>
          <a:p>
            <a:pPr>
              <a:spcAft>
                <a:spcPts val="0"/>
              </a:spcAft>
            </a:pPr>
            <a:r>
              <a:rPr sz="1100" b="0">
                <a:solidFill>
                  <a:srgbClr val="7EC699"/>
                </a:solidFill>
                <a:latin typeface="Consolas"/>
                <a:ea typeface="Consolas"/>
                <a:cs typeface="Consolas"/>
              </a:rPr>
              <a:t>-- Best Practice: 아카이브 목적지(FRA) 공간 관리가 곧 가용성</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noAutofit/>
          </a:bodyPr>
          <a:lstStyle/>
          <a:p>
            <a:pPr>
              <a:spcAft>
                <a:spcPts val="600"/>
              </a:spcAft>
            </a:pPr>
            <a:r>
              <a:rPr sz="6600" b="1">
                <a:solidFill>
                  <a:srgbClr val="C0392B"/>
                </a:solidFill>
                <a:latin typeface="Malgun Gothic"/>
                <a:ea typeface="Malgun Gothic"/>
                <a:cs typeface="Malgun Gothic"/>
              </a:rPr>
              <a:t>2.10</a:t>
            </a:r>
          </a:p>
        </p:txBody>
      </p:sp>
      <p:sp>
        <p:nvSpPr>
          <p:cNvPr id="3" name="TextBox 2"/>
          <p:cNvSpPr txBox="1"/>
          <p:nvPr/>
        </p:nvSpPr>
        <p:spPr>
          <a:xfrm>
            <a:off x="822960" y="2743200"/>
            <a:ext cx="10515600" cy="1097280"/>
          </a:xfrm>
          <a:prstGeom prst="rect">
            <a:avLst/>
          </a:prstGeom>
          <a:noFill/>
        </p:spPr>
        <p:txBody>
          <a:bodyPr wrap="square">
            <a:noAutofit/>
          </a:bodyPr>
          <a:lstStyle/>
          <a:p>
            <a:pPr>
              <a:spcAft>
                <a:spcPts val="600"/>
              </a:spcAft>
            </a:pPr>
            <a:r>
              <a:rPr sz="3400" b="1">
                <a:solidFill>
                  <a:srgbClr val="FFFFFF"/>
                </a:solidFill>
                <a:latin typeface="Malgun Gothic"/>
                <a:ea typeface="Malgun Gothic"/>
                <a:cs typeface="Malgun Gothic"/>
              </a:rPr>
              <a:t>메모리 · 프로세스 · 저장소의 상호작용</a:t>
            </a:r>
          </a:p>
        </p:txBody>
      </p:sp>
      <p:sp>
        <p:nvSpPr>
          <p:cNvPr id="4" name="Rectangle 3"/>
          <p:cNvSpPr/>
          <p:nvPr/>
        </p:nvSpPr>
        <p:spPr>
          <a:xfrm>
            <a:off x="822960" y="3840480"/>
            <a:ext cx="4114800" cy="91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noAutofit/>
          </a:bodyPr>
          <a:lstStyle/>
          <a:p>
            <a:pPr>
              <a:spcAft>
                <a:spcPts val="800"/>
              </a:spcAft>
            </a:pPr>
            <a:r>
              <a:rPr sz="1600" b="0">
                <a:solidFill>
                  <a:srgbClr val="C5CED6"/>
                </a:solidFill>
                <a:latin typeface="Malgun Gothic"/>
                <a:ea typeface="Malgun Gothic"/>
                <a:cs typeface="Malgun Gothic"/>
              </a:rPr>
              <a:t>•  개별 프로세스가 하나의 SQL을 처리하며 어떻게 협력하는가</a:t>
            </a:r>
          </a:p>
          <a:p>
            <a:pPr>
              <a:spcAft>
                <a:spcPts val="800"/>
              </a:spcAft>
            </a:pPr>
            <a:r>
              <a:rPr sz="1600" b="0">
                <a:solidFill>
                  <a:srgbClr val="C5CED6"/>
                </a:solidFill>
                <a:latin typeface="Malgun Gothic"/>
                <a:ea typeface="Malgun Gothic"/>
                <a:cs typeface="Malgun Gothic"/>
              </a:rPr>
              <a:t>•  SELECT(읽기) 흐름과 UPDATE/COMMIT(쓰기) 흐름</a:t>
            </a:r>
          </a:p>
          <a:p>
            <a:pPr>
              <a:spcAft>
                <a:spcPts val="800"/>
              </a:spcAft>
            </a:pPr>
            <a:r>
              <a:rPr sz="1600" b="0">
                <a:solidFill>
                  <a:srgbClr val="C5CED6"/>
                </a:solidFill>
                <a:latin typeface="Malgun Gothic"/>
                <a:ea typeface="Malgun Gothic"/>
                <a:cs typeface="Malgun Gothic"/>
              </a:rPr>
              <a:t>•  핵심: 커밋의 지속성은 데이터 파일 쓰기가 아니라 리두 로그 쓰기로 보장</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oAutofit/>
          </a:bodyPr>
          <a:lstStyle/>
          <a:p>
            <a:pPr>
              <a:spcAft>
                <a:spcPts val="600"/>
              </a:spcAft>
            </a:pPr>
            <a:r>
              <a:rPr sz="2600" b="1">
                <a:solidFill>
                  <a:srgbClr val="FFFFFF"/>
                </a:solidFill>
                <a:latin typeface="Malgun Gothic"/>
                <a:ea typeface="Malgun Gothic"/>
                <a:cs typeface="Malgun Gothic"/>
              </a:rPr>
              <a:t>SELECT(읽기) 처리 흐름</a:t>
            </a:r>
          </a:p>
        </p:txBody>
      </p:sp>
      <p:sp>
        <p:nvSpPr>
          <p:cNvPr id="4" name="TextBox 3"/>
          <p:cNvSpPr txBox="1"/>
          <p:nvPr/>
        </p:nvSpPr>
        <p:spPr>
          <a:xfrm>
            <a:off x="640080" y="1234440"/>
            <a:ext cx="10881360" cy="4937760"/>
          </a:xfrm>
          <a:prstGeom prst="rect">
            <a:avLst/>
          </a:prstGeom>
          <a:noFill/>
        </p:spPr>
        <p:txBody>
          <a:bodyPr wrap="square">
            <a:noAutofit/>
          </a:bodyPr>
          <a:lstStyle/>
          <a:p>
            <a:pPr>
              <a:spcAft>
                <a:spcPts val="700"/>
              </a:spcAft>
            </a:pPr>
            <a:r>
              <a:rPr sz="1800" b="0">
                <a:solidFill>
                  <a:srgbClr val="202830"/>
                </a:solidFill>
                <a:latin typeface="Malgun Gothic"/>
                <a:ea typeface="Malgun Gothic"/>
                <a:cs typeface="Malgun Gothic"/>
              </a:rPr>
              <a:t>•  ① 클라이언트 프로세스가 SQL을 서버 프로세스에 전달</a:t>
            </a:r>
          </a:p>
          <a:p>
            <a:pPr>
              <a:spcAft>
                <a:spcPts val="700"/>
              </a:spcAft>
            </a:pPr>
            <a:r>
              <a:rPr sz="1800" b="0">
                <a:solidFill>
                  <a:srgbClr val="202830"/>
                </a:solidFill>
                <a:latin typeface="Malgun Gothic"/>
                <a:ea typeface="Malgun Gothic"/>
                <a:cs typeface="Malgun Gothic"/>
              </a:rPr>
              <a:t>•  ② 서버 프로세스가 공유 풀에서 파싱·실행 계획 수립(soft/hard parse)</a:t>
            </a:r>
          </a:p>
          <a:p>
            <a:pPr>
              <a:spcAft>
                <a:spcPts val="700"/>
              </a:spcAft>
            </a:pPr>
            <a:r>
              <a:rPr sz="1800" b="0">
                <a:solidFill>
                  <a:srgbClr val="202830"/>
                </a:solidFill>
                <a:latin typeface="Malgun Gothic"/>
                <a:ea typeface="Malgun Gothic"/>
                <a:cs typeface="Malgun Gothic"/>
              </a:rPr>
              <a:t>•  ③ 필요한 블록이 버퍼 캐시에 있으면 그대로 사용(캐시 히트)</a:t>
            </a:r>
          </a:p>
          <a:p>
            <a:pPr>
              <a:spcAft>
                <a:spcPts val="700"/>
              </a:spcAft>
            </a:pPr>
            <a:r>
              <a:rPr sz="1800" b="0">
                <a:solidFill>
                  <a:srgbClr val="202830"/>
                </a:solidFill>
                <a:latin typeface="Malgun Gothic"/>
                <a:ea typeface="Malgun Gothic"/>
                <a:cs typeface="Malgun Gothic"/>
              </a:rPr>
              <a:t>•  ④ 없으면 데이터 파일에서 읽어 버퍼 캐시에 적재 후 사용</a:t>
            </a:r>
          </a:p>
          <a:p>
            <a:pPr lvl="1">
              <a:spcAft>
                <a:spcPts val="600"/>
              </a:spcAft>
            </a:pPr>
            <a:r>
              <a:rPr sz="1600" b="0">
                <a:solidFill>
                  <a:srgbClr val="5A6672"/>
                </a:solidFill>
                <a:latin typeface="Malgun Gothic"/>
                <a:ea typeface="Malgun Gothic"/>
                <a:cs typeface="Malgun Gothic"/>
              </a:rPr>
              <a:t>    –  ⑤ 결과를 클라이언트에 반환 — 백그라운드 프로세스 개입 최소</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oAutofit/>
          </a:bodyPr>
          <a:lstStyle/>
          <a:p>
            <a:pPr>
              <a:spcAft>
                <a:spcPts val="600"/>
              </a:spcAft>
            </a:pPr>
            <a:r>
              <a:rPr sz="2600" b="1">
                <a:solidFill>
                  <a:srgbClr val="FFFFFF"/>
                </a:solidFill>
                <a:latin typeface="Malgun Gothic"/>
                <a:ea typeface="Malgun Gothic"/>
                <a:cs typeface="Malgun Gothic"/>
              </a:rPr>
              <a:t>UPDATE/COMMIT(쓰기) 처리 흐름</a:t>
            </a:r>
          </a:p>
        </p:txBody>
      </p:sp>
      <p:sp>
        <p:nvSpPr>
          <p:cNvPr id="4" name="TextBox 3"/>
          <p:cNvSpPr txBox="1"/>
          <p:nvPr/>
        </p:nvSpPr>
        <p:spPr>
          <a:xfrm>
            <a:off x="640080" y="1234440"/>
            <a:ext cx="10881360" cy="4206240"/>
          </a:xfrm>
          <a:prstGeom prst="rect">
            <a:avLst/>
          </a:prstGeom>
          <a:noFill/>
        </p:spPr>
        <p:txBody>
          <a:bodyPr wrap="square">
            <a:noAutofit/>
          </a:bodyPr>
          <a:lstStyle/>
          <a:p>
            <a:pPr>
              <a:spcAft>
                <a:spcPts val="700"/>
              </a:spcAft>
            </a:pPr>
            <a:r>
              <a:rPr sz="1800" b="0">
                <a:solidFill>
                  <a:srgbClr val="202830"/>
                </a:solidFill>
                <a:latin typeface="Malgun Gothic"/>
                <a:ea typeface="Malgun Gothic"/>
                <a:cs typeface="Malgun Gothic"/>
              </a:rPr>
              <a:t>•  ① 서버 프로세스가 변경 대상 블록을 버퍼 캐시로 가져옴</a:t>
            </a:r>
          </a:p>
          <a:p>
            <a:pPr>
              <a:spcAft>
                <a:spcPts val="700"/>
              </a:spcAft>
            </a:pPr>
            <a:r>
              <a:rPr sz="1800" b="0">
                <a:solidFill>
                  <a:srgbClr val="202830"/>
                </a:solidFill>
                <a:latin typeface="Malgun Gothic"/>
                <a:ea typeface="Malgun Gothic"/>
                <a:cs typeface="Malgun Gothic"/>
              </a:rPr>
              <a:t>•  ② 변경 전에 리두를 리두 로그 버퍼에, 언두를 언두 세그먼트에 기록</a:t>
            </a:r>
          </a:p>
          <a:p>
            <a:pPr>
              <a:spcAft>
                <a:spcPts val="700"/>
              </a:spcAft>
            </a:pPr>
            <a:r>
              <a:rPr sz="1800" b="0">
                <a:solidFill>
                  <a:srgbClr val="202830"/>
                </a:solidFill>
                <a:latin typeface="Malgun Gothic"/>
                <a:ea typeface="Malgun Gothic"/>
                <a:cs typeface="Malgun Gothic"/>
              </a:rPr>
              <a:t>•  ③ 버퍼 캐시의 블록을 변경 → 더티 버퍼가 됨</a:t>
            </a:r>
          </a:p>
          <a:p>
            <a:pPr>
              <a:spcAft>
                <a:spcPts val="700"/>
              </a:spcAft>
            </a:pPr>
            <a:r>
              <a:rPr sz="1800" b="0">
                <a:solidFill>
                  <a:srgbClr val="202830"/>
                </a:solidFill>
                <a:latin typeface="Malgun Gothic"/>
                <a:ea typeface="Malgun Gothic"/>
                <a:cs typeface="Malgun Gothic"/>
              </a:rPr>
              <a:t>•  ④ COMMIT 시 LGWR가 리두를 리두 로그 파일에 기록해야 커밋 완료</a:t>
            </a:r>
          </a:p>
          <a:p>
            <a:pPr>
              <a:spcAft>
                <a:spcPts val="700"/>
              </a:spcAft>
            </a:pPr>
            <a:r>
              <a:rPr sz="1800" b="0">
                <a:solidFill>
                  <a:srgbClr val="202830"/>
                </a:solidFill>
                <a:latin typeface="Malgun Gothic"/>
                <a:ea typeface="Malgun Gothic"/>
                <a:cs typeface="Malgun Gothic"/>
              </a:rPr>
              <a:t>•  ⑤ 더티 버퍼는 이후 DBWn이 트리거 조건에 따라 데이터 파일에 기록</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69280"/>
            <a:ext cx="10515600" cy="868680"/>
          </a:xfrm>
          <a:prstGeom prst="rect">
            <a:avLst/>
          </a:prstGeom>
          <a:noFill/>
        </p:spPr>
        <p:txBody>
          <a:bodyPr wrap="square">
            <a:noAutofit/>
          </a:bodyPr>
          <a:lstStyle/>
          <a:p>
            <a:pPr>
              <a:spcAft>
                <a:spcPts val="200"/>
              </a:spcAft>
            </a:pPr>
            <a:r>
              <a:rPr sz="1300" b="1">
                <a:solidFill>
                  <a:srgbClr val="B88600"/>
                </a:solidFill>
                <a:latin typeface="Malgun Gothic"/>
                <a:ea typeface="Malgun Gothic"/>
                <a:cs typeface="Malgun Gothic"/>
              </a:rPr>
              <a:t>참고:</a:t>
            </a:r>
          </a:p>
          <a:p>
            <a:pPr>
              <a:spcAft>
                <a:spcPts val="0"/>
              </a:spcAft>
            </a:pPr>
            <a:r>
              <a:rPr sz="1250" b="0">
                <a:solidFill>
                  <a:srgbClr val="202830"/>
                </a:solidFill>
                <a:latin typeface="Malgun Gothic"/>
                <a:ea typeface="Malgun Gothic"/>
                <a:cs typeface="Malgun Gothic"/>
              </a:rPr>
              <a:t>핵심은 '커밋의 지속성은 데이터 파일 쓰기가 아니라 리두 로그 쓰기로 보장된다'는 점이다. 커밋 순간 데이터 파일은 아직 옛 상태일 수 있으나 리두가 안전하므로 복구가 가능하다. 규칙: 리두가 먼저, 데이터가 나중(write-ahead logging).</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noAutofit/>
          </a:bodyPr>
          <a:lstStyle/>
          <a:p>
            <a:pPr>
              <a:spcAft>
                <a:spcPts val="600"/>
              </a:spcAft>
            </a:pPr>
            <a:r>
              <a:rPr sz="6600" b="1">
                <a:solidFill>
                  <a:srgbClr val="C0392B"/>
                </a:solidFill>
                <a:latin typeface="Malgun Gothic"/>
                <a:ea typeface="Malgun Gothic"/>
                <a:cs typeface="Malgun Gothic"/>
              </a:rPr>
              <a:t>2.11</a:t>
            </a:r>
          </a:p>
        </p:txBody>
      </p:sp>
      <p:sp>
        <p:nvSpPr>
          <p:cNvPr id="3" name="TextBox 2"/>
          <p:cNvSpPr txBox="1"/>
          <p:nvPr/>
        </p:nvSpPr>
        <p:spPr>
          <a:xfrm>
            <a:off x="822960" y="2743200"/>
            <a:ext cx="10515600" cy="1097280"/>
          </a:xfrm>
          <a:prstGeom prst="rect">
            <a:avLst/>
          </a:prstGeom>
          <a:noFill/>
        </p:spPr>
        <p:txBody>
          <a:bodyPr wrap="square">
            <a:noAutofit/>
          </a:bodyPr>
          <a:lstStyle/>
          <a:p>
            <a:pPr>
              <a:spcAft>
                <a:spcPts val="600"/>
              </a:spcAft>
            </a:pPr>
            <a:r>
              <a:rPr sz="3400" b="1">
                <a:solidFill>
                  <a:srgbClr val="FFFFFF"/>
                </a:solidFill>
                <a:latin typeface="Malgun Gothic"/>
                <a:ea typeface="Malgun Gothic"/>
                <a:cs typeface="Malgun Gothic"/>
              </a:rPr>
              <a:t>CDB/PDB 환경에서의 백그라운드 프로세스</a:t>
            </a:r>
          </a:p>
        </p:txBody>
      </p:sp>
      <p:sp>
        <p:nvSpPr>
          <p:cNvPr id="4" name="Rectangle 3"/>
          <p:cNvSpPr/>
          <p:nvPr/>
        </p:nvSpPr>
        <p:spPr>
          <a:xfrm>
            <a:off x="822960" y="3840480"/>
            <a:ext cx="4114800" cy="91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noAutofit/>
          </a:bodyPr>
          <a:lstStyle/>
          <a:p>
            <a:pPr>
              <a:spcAft>
                <a:spcPts val="800"/>
              </a:spcAft>
            </a:pPr>
            <a:r>
              <a:rPr sz="1600" b="0">
                <a:solidFill>
                  <a:srgbClr val="C5CED6"/>
                </a:solidFill>
                <a:latin typeface="Malgun Gothic"/>
                <a:ea typeface="Malgun Gothic"/>
                <a:cs typeface="Malgun Gothic"/>
              </a:rPr>
              <a:t>•  핵심: CDB 하나에 모든 백그라운드 프로세스는 한 세트만 존재</a:t>
            </a:r>
          </a:p>
          <a:p>
            <a:pPr>
              <a:spcAft>
                <a:spcPts val="800"/>
              </a:spcAft>
            </a:pPr>
            <a:r>
              <a:rPr sz="1600" b="0">
                <a:solidFill>
                  <a:srgbClr val="C5CED6"/>
                </a:solidFill>
                <a:latin typeface="Malgun Gothic"/>
                <a:ea typeface="Malgun Gothic"/>
                <a:cs typeface="Malgun Gothic"/>
              </a:rPr>
              <a:t>•  모든 PDB가 이 한 세트를 공유</a:t>
            </a:r>
          </a:p>
          <a:p>
            <a:pPr>
              <a:spcAft>
                <a:spcPts val="800"/>
              </a:spcAft>
            </a:pPr>
            <a:r>
              <a:rPr sz="1600" b="0">
                <a:solidFill>
                  <a:srgbClr val="C5CED6"/>
                </a:solidFill>
                <a:latin typeface="Malgun Gothic"/>
                <a:ea typeface="Malgun Gothic"/>
                <a:cs typeface="Malgun Gothic"/>
              </a:rPr>
              <a:t>•  프로세스는 CDB 공용, 데이터·세션은 컨테이너별</a:t>
            </a:r>
          </a:p>
          <a:p>
            <a:pPr>
              <a:spcAft>
                <a:spcPts val="800"/>
              </a:spcAft>
            </a:pPr>
            <a:r>
              <a:rPr sz="1600" b="0">
                <a:solidFill>
                  <a:srgbClr val="C5CED6"/>
                </a:solidFill>
                <a:latin typeface="Malgun Gothic"/>
                <a:ea typeface="Malgun Gothic"/>
                <a:cs typeface="Malgun Gothic"/>
              </a:rPr>
              <a:t>•  V$ 뷰는 인스턴스 전역 정보</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oAutofit/>
          </a:bodyPr>
          <a:lstStyle/>
          <a:p>
            <a:pPr>
              <a:spcAft>
                <a:spcPts val="600"/>
              </a:spcAft>
            </a:pPr>
            <a:r>
              <a:rPr sz="2600" b="1">
                <a:solidFill>
                  <a:srgbClr val="FFFFFF"/>
                </a:solidFill>
                <a:latin typeface="Malgun Gothic"/>
                <a:ea typeface="Malgun Gothic"/>
                <a:cs typeface="Malgun Gothic"/>
              </a:rPr>
              <a:t>프로세스는 인스턴스에 종속된다</a:t>
            </a:r>
          </a:p>
        </p:txBody>
      </p:sp>
      <p:sp>
        <p:nvSpPr>
          <p:cNvPr id="4" name="TextBox 3"/>
          <p:cNvSpPr txBox="1"/>
          <p:nvPr/>
        </p:nvSpPr>
        <p:spPr>
          <a:xfrm>
            <a:off x="640080" y="1234440"/>
            <a:ext cx="10881360" cy="4937760"/>
          </a:xfrm>
          <a:prstGeom prst="rect">
            <a:avLst/>
          </a:prstGeom>
          <a:noFill/>
        </p:spPr>
        <p:txBody>
          <a:bodyPr wrap="square">
            <a:noAutofit/>
          </a:bodyPr>
          <a:lstStyle/>
          <a:p>
            <a:pPr>
              <a:spcAft>
                <a:spcPts val="700"/>
              </a:spcAft>
            </a:pPr>
            <a:r>
              <a:rPr sz="1800" b="0">
                <a:solidFill>
                  <a:srgbClr val="202830"/>
                </a:solidFill>
                <a:latin typeface="Malgun Gothic"/>
                <a:ea typeface="Malgun Gothic"/>
                <a:cs typeface="Malgun Gothic"/>
              </a:rPr>
              <a:t>•  CDB의 모든 백그라운드 프로세스·SGA는 CDB(인스턴스)당 한 세트만 존재</a:t>
            </a:r>
          </a:p>
          <a:p>
            <a:pPr>
              <a:spcAft>
                <a:spcPts val="700"/>
              </a:spcAft>
            </a:pPr>
            <a:r>
              <a:rPr sz="1800" b="0">
                <a:solidFill>
                  <a:srgbClr val="202830"/>
                </a:solidFill>
                <a:latin typeface="Malgun Gothic"/>
                <a:ea typeface="Malgun Gothic"/>
                <a:cs typeface="Malgun Gothic"/>
              </a:rPr>
              <a:t>•  근거: 백그라운드 프로세스는 '인스턴스'의 구성요소, 멀티테넌트에서 인스턴스는 CDB당 하나</a:t>
            </a:r>
          </a:p>
          <a:p>
            <a:pPr>
              <a:spcAft>
                <a:spcPts val="700"/>
              </a:spcAft>
            </a:pPr>
            <a:r>
              <a:rPr sz="1800" b="0">
                <a:solidFill>
                  <a:srgbClr val="202830"/>
                </a:solidFill>
                <a:latin typeface="Malgun Gothic"/>
                <a:ea typeface="Malgun Gothic"/>
                <a:cs typeface="Malgun Gothic"/>
              </a:rPr>
              <a:t>•  PDB는 인스턴스를 따로 갖지 않고 CDB의 인스턴스를 공유</a:t>
            </a:r>
          </a:p>
          <a:p>
            <a:pPr lvl="1">
              <a:spcAft>
                <a:spcPts val="600"/>
              </a:spcAft>
            </a:pPr>
            <a:r>
              <a:rPr sz="1600" b="0">
                <a:solidFill>
                  <a:srgbClr val="5A6672"/>
                </a:solidFill>
                <a:latin typeface="Malgun Gothic"/>
                <a:ea typeface="Malgun Gothic"/>
                <a:cs typeface="Malgun Gothic"/>
              </a:rPr>
              <a:t>    –  이것이 멀티테넌트의 통합 이점 — 프로세스·메모리 중복 제거의 실체</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oAutofit/>
          </a:bodyPr>
          <a:lstStyle/>
          <a:p>
            <a:pPr>
              <a:spcAft>
                <a:spcPts val="600"/>
              </a:spcAft>
            </a:pPr>
            <a:r>
              <a:rPr sz="2600" b="1">
                <a:solidFill>
                  <a:srgbClr val="FFFFFF"/>
                </a:solidFill>
                <a:latin typeface="Malgun Gothic"/>
                <a:ea typeface="Malgun Gothic"/>
                <a:cs typeface="Malgun Gothic"/>
              </a:rPr>
              <a:t>프로세스 조회 시 컨테이너 관점</a:t>
            </a:r>
          </a:p>
        </p:txBody>
      </p:sp>
      <p:sp>
        <p:nvSpPr>
          <p:cNvPr id="4" name="TextBox 3"/>
          <p:cNvSpPr txBox="1"/>
          <p:nvPr/>
        </p:nvSpPr>
        <p:spPr>
          <a:xfrm>
            <a:off x="640080" y="1234440"/>
            <a:ext cx="10881360" cy="4206240"/>
          </a:xfrm>
          <a:prstGeom prst="rect">
            <a:avLst/>
          </a:prstGeom>
          <a:noFill/>
        </p:spPr>
        <p:txBody>
          <a:bodyPr wrap="square">
            <a:noAutofit/>
          </a:bodyPr>
          <a:lstStyle/>
          <a:p>
            <a:pPr>
              <a:spcAft>
                <a:spcPts val="700"/>
              </a:spcAft>
            </a:pPr>
            <a:r>
              <a:rPr sz="1800" b="0">
                <a:solidFill>
                  <a:srgbClr val="202830"/>
                </a:solidFill>
                <a:latin typeface="Malgun Gothic"/>
                <a:ea typeface="Malgun Gothic"/>
                <a:cs typeface="Malgun Gothic"/>
              </a:rPr>
              <a:t>•  V$BGPROCESS·V$PROCESS는 '인스턴스 전역' 정보</a:t>
            </a:r>
          </a:p>
          <a:p>
            <a:pPr>
              <a:spcAft>
                <a:spcPts val="700"/>
              </a:spcAft>
            </a:pPr>
            <a:r>
              <a:rPr sz="1800" b="0">
                <a:solidFill>
                  <a:srgbClr val="202830"/>
                </a:solidFill>
                <a:latin typeface="Malgun Gothic"/>
                <a:ea typeface="Malgun Gothic"/>
                <a:cs typeface="Malgun Gothic"/>
              </a:rPr>
              <a:t>•  특정 PDB에 접속해 조회해도 CDB 전체의 프로세스가 보인다</a:t>
            </a:r>
          </a:p>
          <a:p>
            <a:pPr>
              <a:spcAft>
                <a:spcPts val="700"/>
              </a:spcAft>
            </a:pPr>
            <a:r>
              <a:rPr sz="1800" b="0">
                <a:solidFill>
                  <a:srgbClr val="202830"/>
                </a:solidFill>
                <a:latin typeface="Malgun Gothic"/>
                <a:ea typeface="Malgun Gothic"/>
                <a:cs typeface="Malgun Gothic"/>
              </a:rPr>
              <a:t>•  세션·데이터는 CON_ID로 컨테이너를 구분(V$SESSION 등)</a:t>
            </a:r>
          </a:p>
          <a:p>
            <a:pPr lvl="1">
              <a:spcAft>
                <a:spcPts val="600"/>
              </a:spcAft>
            </a:pPr>
            <a:r>
              <a:rPr sz="1600" b="0">
                <a:solidFill>
                  <a:srgbClr val="5A6672"/>
                </a:solidFill>
                <a:latin typeface="Malgun Gothic"/>
                <a:ea typeface="Malgun Gothic"/>
                <a:cs typeface="Malgun Gothic"/>
              </a:rPr>
              <a:t>    –  한 PDB의 부하가 공용 프로세스를 통해 다른 PDB에 영향 가능</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1E7E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69280"/>
            <a:ext cx="10515600" cy="868680"/>
          </a:xfrm>
          <a:prstGeom prst="rect">
            <a:avLst/>
          </a:prstGeom>
          <a:noFill/>
        </p:spPr>
        <p:txBody>
          <a:bodyPr wrap="square">
            <a:noAutofit/>
          </a:bodyPr>
          <a:lstStyle/>
          <a:p>
            <a:pPr>
              <a:spcAft>
                <a:spcPts val="200"/>
              </a:spcAft>
            </a:pPr>
            <a:r>
              <a:rPr sz="1300" b="1">
                <a:solidFill>
                  <a:srgbClr val="1E7E34"/>
                </a:solidFill>
                <a:latin typeface="Malgun Gothic"/>
                <a:ea typeface="Malgun Gothic"/>
                <a:cs typeface="Malgun Gothic"/>
              </a:rPr>
              <a:t>모범 사례:</a:t>
            </a:r>
          </a:p>
          <a:p>
            <a:pPr>
              <a:spcAft>
                <a:spcPts val="0"/>
              </a:spcAft>
            </a:pPr>
            <a:r>
              <a:rPr sz="1250" b="0">
                <a:solidFill>
                  <a:srgbClr val="202830"/>
                </a:solidFill>
                <a:latin typeface="Malgun Gothic"/>
                <a:ea typeface="Malgun Gothic"/>
                <a:cs typeface="Malgun Gothic"/>
              </a:rPr>
              <a:t>'프로세스는 CDB, 데이터는 PDB'로 기억한다. 인스턴스(백그라운드 프로세스+SGA)는 CDB 단위로 하나, 데이터 파일과 스키마는 PDB 단위로 따로. 백그라운드 프로세스 튜닝은 CDB 전체에 영향을 준다.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oAutofit/>
          </a:bodyPr>
          <a:lstStyle/>
          <a:p>
            <a:pPr>
              <a:spcAft>
                <a:spcPts val="600"/>
              </a:spcAft>
            </a:pPr>
            <a:r>
              <a:rPr sz="2600" b="1">
                <a:solidFill>
                  <a:srgbClr val="FFFFFF"/>
                </a:solidFill>
                <a:latin typeface="Malgun Gothic"/>
                <a:ea typeface="Malgun Gothic"/>
                <a:cs typeface="Malgun Gothic"/>
              </a:rPr>
              <a:t>퀴즈 1</a:t>
            </a:r>
          </a:p>
        </p:txBody>
      </p:sp>
      <p:sp>
        <p:nvSpPr>
          <p:cNvPr id="4" name="TextBox 3"/>
          <p:cNvSpPr txBox="1"/>
          <p:nvPr/>
        </p:nvSpPr>
        <p:spPr>
          <a:xfrm>
            <a:off x="640080" y="1280160"/>
            <a:ext cx="10881360" cy="548640"/>
          </a:xfrm>
          <a:prstGeom prst="rect">
            <a:avLst/>
          </a:prstGeom>
          <a:noFill/>
        </p:spPr>
        <p:txBody>
          <a:bodyPr wrap="square">
            <a:noAutofit/>
          </a:bodyPr>
          <a:lstStyle/>
          <a:p>
            <a:pPr>
              <a:spcAft>
                <a:spcPts val="600"/>
              </a:spcAft>
            </a:pPr>
            <a:r>
              <a:rPr sz="2000" b="1">
                <a:solidFill>
                  <a:srgbClr val="1F5CA8"/>
                </a:solidFill>
                <a:latin typeface="Malgun Gothic"/>
                <a:ea typeface="Malgun Gothic"/>
                <a:cs typeface="Malgun Gothic"/>
              </a:rPr>
              <a:t>더티 버퍼를 기록하는 프로세스</a:t>
            </a:r>
          </a:p>
        </p:txBody>
      </p:sp>
      <p:sp>
        <p:nvSpPr>
          <p:cNvPr id="5" name="TextBox 4"/>
          <p:cNvSpPr txBox="1"/>
          <p:nvPr/>
        </p:nvSpPr>
        <p:spPr>
          <a:xfrm>
            <a:off x="640080" y="1920240"/>
            <a:ext cx="10881360" cy="1371600"/>
          </a:xfrm>
          <a:prstGeom prst="rect">
            <a:avLst/>
          </a:prstGeom>
          <a:noFill/>
        </p:spPr>
        <p:txBody>
          <a:bodyPr wrap="square">
            <a:noAutofit/>
          </a:bodyPr>
          <a:lstStyle/>
          <a:p>
            <a:pPr>
              <a:spcAft>
                <a:spcPts val="600"/>
              </a:spcAft>
            </a:pPr>
            <a:r>
              <a:rPr sz="1800" b="0">
                <a:solidFill>
                  <a:srgbClr val="202830"/>
                </a:solidFill>
                <a:latin typeface="Malgun Gothic"/>
                <a:ea typeface="Malgun Gothic"/>
                <a:cs typeface="Malgun Gothic"/>
              </a:rPr>
              <a:t>데이터베이스 버퍼 캐시의 변경된(더티) 버퍼를 데이터 파일에 기록하는 백그라운드 프로세스는?</a:t>
            </a:r>
          </a:p>
        </p:txBody>
      </p:sp>
      <p:sp>
        <p:nvSpPr>
          <p:cNvPr id="6" name="Rectangle 5"/>
          <p:cNvSpPr/>
          <p:nvPr/>
        </p:nvSpPr>
        <p:spPr>
          <a:xfrm>
            <a:off x="640080" y="3200400"/>
            <a:ext cx="10908792" cy="54864"/>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noAutofit/>
          </a:bodyPr>
          <a:lstStyle/>
          <a:p>
            <a:pPr>
              <a:spcAft>
                <a:spcPts val="800"/>
              </a:spcAft>
            </a:pPr>
            <a:r>
              <a:rPr sz="1700" b="0">
                <a:solidFill>
                  <a:srgbClr val="202830"/>
                </a:solidFill>
                <a:latin typeface="Malgun Gothic"/>
                <a:ea typeface="Malgun Gothic"/>
                <a:cs typeface="Malgun Gothic"/>
              </a:rPr>
              <a:t>(a) LGWR</a:t>
            </a:r>
          </a:p>
          <a:p>
            <a:pPr>
              <a:spcAft>
                <a:spcPts val="800"/>
              </a:spcAft>
            </a:pPr>
            <a:r>
              <a:rPr sz="1700" b="0">
                <a:solidFill>
                  <a:srgbClr val="202830"/>
                </a:solidFill>
                <a:latin typeface="Malgun Gothic"/>
                <a:ea typeface="Malgun Gothic"/>
                <a:cs typeface="Malgun Gothic"/>
              </a:rPr>
              <a:t>(b) DBWn</a:t>
            </a:r>
          </a:p>
          <a:p>
            <a:pPr>
              <a:spcAft>
                <a:spcPts val="800"/>
              </a:spcAft>
            </a:pPr>
            <a:r>
              <a:rPr sz="1700" b="0">
                <a:solidFill>
                  <a:srgbClr val="202830"/>
                </a:solidFill>
                <a:latin typeface="Malgun Gothic"/>
                <a:ea typeface="Malgun Gothic"/>
                <a:cs typeface="Malgun Gothic"/>
              </a:rPr>
              <a:t>(c) CKPT</a:t>
            </a:r>
          </a:p>
          <a:p>
            <a:pPr>
              <a:spcAft>
                <a:spcPts val="800"/>
              </a:spcAft>
            </a:pPr>
            <a:r>
              <a:rPr sz="1700" b="0">
                <a:solidFill>
                  <a:srgbClr val="202830"/>
                </a:solidFill>
                <a:latin typeface="Malgun Gothic"/>
                <a:ea typeface="Malgun Gothic"/>
                <a:cs typeface="Malgun Gothic"/>
              </a:rPr>
              <a:t>(d) SMON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oAutofit/>
          </a:bodyPr>
          <a:lstStyle/>
          <a:p>
            <a:pPr>
              <a:spcAft>
                <a:spcPts val="600"/>
              </a:spcAft>
            </a:pPr>
            <a:r>
              <a:rPr sz="2600" b="1">
                <a:solidFill>
                  <a:srgbClr val="FFFFFF"/>
                </a:solidFill>
                <a:latin typeface="Malgun Gothic"/>
                <a:ea typeface="Malgun Gothic"/>
                <a:cs typeface="Malgun Gothic"/>
              </a:rPr>
              <a:t>퀴즈 2</a:t>
            </a:r>
          </a:p>
        </p:txBody>
      </p:sp>
      <p:sp>
        <p:nvSpPr>
          <p:cNvPr id="4" name="TextBox 3"/>
          <p:cNvSpPr txBox="1"/>
          <p:nvPr/>
        </p:nvSpPr>
        <p:spPr>
          <a:xfrm>
            <a:off x="640080" y="1280160"/>
            <a:ext cx="10881360" cy="548640"/>
          </a:xfrm>
          <a:prstGeom prst="rect">
            <a:avLst/>
          </a:prstGeom>
          <a:noFill/>
        </p:spPr>
        <p:txBody>
          <a:bodyPr wrap="square">
            <a:noAutofit/>
          </a:bodyPr>
          <a:lstStyle/>
          <a:p>
            <a:pPr>
              <a:spcAft>
                <a:spcPts val="600"/>
              </a:spcAft>
            </a:pPr>
            <a:r>
              <a:rPr sz="2000" b="1">
                <a:solidFill>
                  <a:srgbClr val="1F5CA8"/>
                </a:solidFill>
                <a:latin typeface="Malgun Gothic"/>
                <a:ea typeface="Malgun Gothic"/>
                <a:cs typeface="Malgun Gothic"/>
              </a:rPr>
              <a:t>커밋과 LGWR</a:t>
            </a:r>
          </a:p>
        </p:txBody>
      </p:sp>
      <p:sp>
        <p:nvSpPr>
          <p:cNvPr id="5" name="TextBox 4"/>
          <p:cNvSpPr txBox="1"/>
          <p:nvPr/>
        </p:nvSpPr>
        <p:spPr>
          <a:xfrm>
            <a:off x="640080" y="1920240"/>
            <a:ext cx="10881360" cy="1371600"/>
          </a:xfrm>
          <a:prstGeom prst="rect">
            <a:avLst/>
          </a:prstGeom>
          <a:noFill/>
        </p:spPr>
        <p:txBody>
          <a:bodyPr wrap="square">
            <a:noAutofit/>
          </a:bodyPr>
          <a:lstStyle/>
          <a:p>
            <a:pPr>
              <a:spcAft>
                <a:spcPts val="600"/>
              </a:spcAft>
            </a:pPr>
            <a:r>
              <a:rPr sz="1800" b="0">
                <a:solidFill>
                  <a:srgbClr val="202830"/>
                </a:solidFill>
                <a:latin typeface="Malgun Gothic"/>
                <a:ea typeface="Malgun Gothic"/>
                <a:cs typeface="Malgun Gothic"/>
              </a:rPr>
              <a:t>사용자가 COMMIT을 실행했을 때 지속성(durability)을 즉시 보장하는 것은?</a:t>
            </a:r>
          </a:p>
        </p:txBody>
      </p:sp>
      <p:sp>
        <p:nvSpPr>
          <p:cNvPr id="6" name="Rectangle 5"/>
          <p:cNvSpPr/>
          <p:nvPr/>
        </p:nvSpPr>
        <p:spPr>
          <a:xfrm>
            <a:off x="640080" y="3200400"/>
            <a:ext cx="10908792" cy="54864"/>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noAutofit/>
          </a:bodyPr>
          <a:lstStyle/>
          <a:p>
            <a:pPr>
              <a:spcAft>
                <a:spcPts val="800"/>
              </a:spcAft>
            </a:pPr>
            <a:r>
              <a:rPr sz="1700" b="0">
                <a:solidFill>
                  <a:srgbClr val="202830"/>
                </a:solidFill>
                <a:latin typeface="Malgun Gothic"/>
                <a:ea typeface="Malgun Gothic"/>
                <a:cs typeface="Malgun Gothic"/>
              </a:rPr>
              <a:t>(a) DBWn이 더티 버퍼를 데이터 파일에 쓴다</a:t>
            </a:r>
          </a:p>
          <a:p>
            <a:pPr>
              <a:spcAft>
                <a:spcPts val="800"/>
              </a:spcAft>
            </a:pPr>
            <a:r>
              <a:rPr sz="1700" b="0">
                <a:solidFill>
                  <a:srgbClr val="202830"/>
                </a:solidFill>
                <a:latin typeface="Malgun Gothic"/>
                <a:ea typeface="Malgun Gothic"/>
                <a:cs typeface="Malgun Gothic"/>
              </a:rPr>
              <a:t>(b) LGWR가 해당 트랜잭션의 리두를 리두 로그 파일에 기록한다</a:t>
            </a:r>
          </a:p>
          <a:p>
            <a:pPr>
              <a:spcAft>
                <a:spcPts val="800"/>
              </a:spcAft>
            </a:pPr>
            <a:r>
              <a:rPr sz="1700" b="0">
                <a:solidFill>
                  <a:srgbClr val="202830"/>
                </a:solidFill>
                <a:latin typeface="Malgun Gothic"/>
                <a:ea typeface="Malgun Gothic"/>
                <a:cs typeface="Malgun Gothic"/>
              </a:rPr>
              <a:t>(c) CKPT가 체크포인트 SCN을 기록한다</a:t>
            </a:r>
          </a:p>
          <a:p>
            <a:pPr>
              <a:spcAft>
                <a:spcPts val="800"/>
              </a:spcAft>
            </a:pPr>
            <a:r>
              <a:rPr sz="1700" b="0">
                <a:solidFill>
                  <a:srgbClr val="202830"/>
                </a:solidFill>
                <a:latin typeface="Malgun Gothic"/>
                <a:ea typeface="Malgun Gothic"/>
                <a:cs typeface="Malgun Gothic"/>
              </a:rPr>
              <a:t>(d) SMON이 언두를 정리한다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oAutofit/>
          </a:bodyPr>
          <a:lstStyle/>
          <a:p>
            <a:pPr>
              <a:spcAft>
                <a:spcPts val="600"/>
              </a:spcAft>
            </a:pPr>
            <a:r>
              <a:rPr sz="2600" b="1">
                <a:solidFill>
                  <a:srgbClr val="FFFFFF"/>
                </a:solidFill>
                <a:latin typeface="Malgun Gothic"/>
                <a:ea typeface="Malgun Gothic"/>
                <a:cs typeface="Malgun Gothic"/>
              </a:rPr>
              <a:t>퀴즈 3</a:t>
            </a:r>
          </a:p>
        </p:txBody>
      </p:sp>
      <p:sp>
        <p:nvSpPr>
          <p:cNvPr id="4" name="TextBox 3"/>
          <p:cNvSpPr txBox="1"/>
          <p:nvPr/>
        </p:nvSpPr>
        <p:spPr>
          <a:xfrm>
            <a:off x="640080" y="1280160"/>
            <a:ext cx="10881360" cy="548640"/>
          </a:xfrm>
          <a:prstGeom prst="rect">
            <a:avLst/>
          </a:prstGeom>
          <a:noFill/>
        </p:spPr>
        <p:txBody>
          <a:bodyPr wrap="square">
            <a:noAutofit/>
          </a:bodyPr>
          <a:lstStyle/>
          <a:p>
            <a:pPr>
              <a:spcAft>
                <a:spcPts val="600"/>
              </a:spcAft>
            </a:pPr>
            <a:r>
              <a:rPr sz="2000" b="1">
                <a:solidFill>
                  <a:srgbClr val="1F5CA8"/>
                </a:solidFill>
                <a:latin typeface="Malgun Gothic"/>
                <a:ea typeface="Malgun Gothic"/>
                <a:cs typeface="Malgun Gothic"/>
              </a:rPr>
              <a:t>서비스 등록 프로세스</a:t>
            </a:r>
          </a:p>
        </p:txBody>
      </p:sp>
      <p:sp>
        <p:nvSpPr>
          <p:cNvPr id="5" name="TextBox 4"/>
          <p:cNvSpPr txBox="1"/>
          <p:nvPr/>
        </p:nvSpPr>
        <p:spPr>
          <a:xfrm>
            <a:off x="640080" y="1920240"/>
            <a:ext cx="10881360" cy="1371600"/>
          </a:xfrm>
          <a:prstGeom prst="rect">
            <a:avLst/>
          </a:prstGeom>
          <a:noFill/>
        </p:spPr>
        <p:txBody>
          <a:bodyPr wrap="square">
            <a:noAutofit/>
          </a:bodyPr>
          <a:lstStyle/>
          <a:p>
            <a:pPr>
              <a:spcAft>
                <a:spcPts val="600"/>
              </a:spcAft>
            </a:pPr>
            <a:r>
              <a:rPr sz="1800" b="0">
                <a:solidFill>
                  <a:srgbClr val="202830"/>
                </a:solidFill>
                <a:latin typeface="Malgun Gothic"/>
                <a:ea typeface="Malgun Gothic"/>
                <a:cs typeface="Malgun Gothic"/>
              </a:rPr>
              <a:t>19c에서 인스턴스·서비스 정보를 리스너에 동적 등록하는 전용 프로세스는? (12c 이전에는 어떤 프로세스가 담당했는가?)</a:t>
            </a:r>
          </a:p>
        </p:txBody>
      </p:sp>
      <p:sp>
        <p:nvSpPr>
          <p:cNvPr id="6" name="Rectangle 5"/>
          <p:cNvSpPr/>
          <p:nvPr/>
        </p:nvSpPr>
        <p:spPr>
          <a:xfrm>
            <a:off x="640080" y="3200400"/>
            <a:ext cx="10908792" cy="54864"/>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noAutofit/>
          </a:bodyPr>
          <a:lstStyle/>
          <a:p>
            <a:pPr>
              <a:spcAft>
                <a:spcPts val="800"/>
              </a:spcAft>
            </a:pPr>
            <a:r>
              <a:rPr sz="1700" b="0">
                <a:solidFill>
                  <a:srgbClr val="202830"/>
                </a:solidFill>
                <a:latin typeface="Malgun Gothic"/>
                <a:ea typeface="Malgun Gothic"/>
                <a:cs typeface="Malgun Gothic"/>
              </a:rPr>
              <a:t>서술형: 프로세스 이름과 12c 이전 담당 프로세스를 쓰시오.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oAutofit/>
          </a:bodyPr>
          <a:lstStyle/>
          <a:p>
            <a:pPr>
              <a:spcAft>
                <a:spcPts val="600"/>
              </a:spcAft>
            </a:pPr>
            <a:r>
              <a:rPr sz="2600" b="1">
                <a:solidFill>
                  <a:srgbClr val="FFFFFF"/>
                </a:solidFill>
                <a:latin typeface="Malgun Gothic"/>
                <a:ea typeface="Malgun Gothic"/>
                <a:cs typeface="Malgun Gothic"/>
              </a:rPr>
              <a:t>퀴즈 4</a:t>
            </a:r>
          </a:p>
        </p:txBody>
      </p:sp>
      <p:sp>
        <p:nvSpPr>
          <p:cNvPr id="4" name="TextBox 3"/>
          <p:cNvSpPr txBox="1"/>
          <p:nvPr/>
        </p:nvSpPr>
        <p:spPr>
          <a:xfrm>
            <a:off x="640080" y="1280160"/>
            <a:ext cx="10881360" cy="548640"/>
          </a:xfrm>
          <a:prstGeom prst="rect">
            <a:avLst/>
          </a:prstGeom>
          <a:noFill/>
        </p:spPr>
        <p:txBody>
          <a:bodyPr wrap="square">
            <a:noAutofit/>
          </a:bodyPr>
          <a:lstStyle/>
          <a:p>
            <a:pPr>
              <a:spcAft>
                <a:spcPts val="600"/>
              </a:spcAft>
            </a:pPr>
            <a:r>
              <a:rPr sz="2000" b="1">
                <a:solidFill>
                  <a:srgbClr val="1F5CA8"/>
                </a:solidFill>
                <a:latin typeface="Malgun Gothic"/>
                <a:ea typeface="Malgun Gothic"/>
                <a:cs typeface="Malgun Gothic"/>
              </a:rPr>
              <a:t>인스턴스 복구</a:t>
            </a:r>
          </a:p>
        </p:txBody>
      </p:sp>
      <p:sp>
        <p:nvSpPr>
          <p:cNvPr id="5" name="TextBox 4"/>
          <p:cNvSpPr txBox="1"/>
          <p:nvPr/>
        </p:nvSpPr>
        <p:spPr>
          <a:xfrm>
            <a:off x="640080" y="1920240"/>
            <a:ext cx="10881360" cy="1371600"/>
          </a:xfrm>
          <a:prstGeom prst="rect">
            <a:avLst/>
          </a:prstGeom>
          <a:noFill/>
        </p:spPr>
        <p:txBody>
          <a:bodyPr wrap="square">
            <a:noAutofit/>
          </a:bodyPr>
          <a:lstStyle/>
          <a:p>
            <a:pPr>
              <a:spcAft>
                <a:spcPts val="600"/>
              </a:spcAft>
            </a:pPr>
            <a:r>
              <a:rPr sz="1800" b="0">
                <a:solidFill>
                  <a:srgbClr val="202830"/>
                </a:solidFill>
                <a:latin typeface="Malgun Gothic"/>
                <a:ea typeface="Malgun Gothic"/>
                <a:cs typeface="Malgun Gothic"/>
              </a:rPr>
              <a:t>SHUTDOWN ABORT 후 재기동 시 리두를 재적용(roll forward)하고 미커밋 트랜잭션을 되돌려(roll back) 인스턴스를 복구하는 프로세스는?</a:t>
            </a:r>
          </a:p>
        </p:txBody>
      </p:sp>
      <p:sp>
        <p:nvSpPr>
          <p:cNvPr id="6" name="Rectangle 5"/>
          <p:cNvSpPr/>
          <p:nvPr/>
        </p:nvSpPr>
        <p:spPr>
          <a:xfrm>
            <a:off x="640080" y="3200400"/>
            <a:ext cx="10908792" cy="54864"/>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noAutofit/>
          </a:bodyPr>
          <a:lstStyle/>
          <a:p>
            <a:pPr>
              <a:spcAft>
                <a:spcPts val="800"/>
              </a:spcAft>
            </a:pPr>
            <a:r>
              <a:rPr sz="1700" b="0">
                <a:solidFill>
                  <a:srgbClr val="202830"/>
                </a:solidFill>
                <a:latin typeface="Malgun Gothic"/>
                <a:ea typeface="Malgun Gothic"/>
                <a:cs typeface="Malgun Gothic"/>
              </a:rPr>
              <a:t>(a) PMON</a:t>
            </a:r>
          </a:p>
          <a:p>
            <a:pPr>
              <a:spcAft>
                <a:spcPts val="800"/>
              </a:spcAft>
            </a:pPr>
            <a:r>
              <a:rPr sz="1700" b="0">
                <a:solidFill>
                  <a:srgbClr val="202830"/>
                </a:solidFill>
                <a:latin typeface="Malgun Gothic"/>
                <a:ea typeface="Malgun Gothic"/>
                <a:cs typeface="Malgun Gothic"/>
              </a:rPr>
              <a:t>(b) SMON</a:t>
            </a:r>
          </a:p>
          <a:p>
            <a:pPr>
              <a:spcAft>
                <a:spcPts val="800"/>
              </a:spcAft>
            </a:pPr>
            <a:r>
              <a:rPr sz="1700" b="0">
                <a:solidFill>
                  <a:srgbClr val="202830"/>
                </a:solidFill>
                <a:latin typeface="Malgun Gothic"/>
                <a:ea typeface="Malgun Gothic"/>
                <a:cs typeface="Malgun Gothic"/>
              </a:rPr>
              <a:t>(c) RECO</a:t>
            </a:r>
          </a:p>
          <a:p>
            <a:pPr>
              <a:spcAft>
                <a:spcPts val="800"/>
              </a:spcAft>
            </a:pPr>
            <a:r>
              <a:rPr sz="1700" b="0">
                <a:solidFill>
                  <a:srgbClr val="202830"/>
                </a:solidFill>
                <a:latin typeface="Malgun Gothic"/>
                <a:ea typeface="Malgun Gothic"/>
                <a:cs typeface="Malgun Gothic"/>
              </a:rPr>
              <a:t>(d) ARCn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oAutofit/>
          </a:bodyPr>
          <a:lstStyle/>
          <a:p>
            <a:pPr>
              <a:spcAft>
                <a:spcPts val="600"/>
              </a:spcAft>
            </a:pPr>
            <a:r>
              <a:rPr sz="2600" b="1">
                <a:solidFill>
                  <a:srgbClr val="FFFFFF"/>
                </a:solidFill>
                <a:latin typeface="Malgun Gothic"/>
                <a:ea typeface="Malgun Gothic"/>
                <a:cs typeface="Malgun Gothic"/>
              </a:rPr>
              <a:t>퀴즈 5</a:t>
            </a:r>
          </a:p>
        </p:txBody>
      </p:sp>
      <p:sp>
        <p:nvSpPr>
          <p:cNvPr id="4" name="TextBox 3"/>
          <p:cNvSpPr txBox="1"/>
          <p:nvPr/>
        </p:nvSpPr>
        <p:spPr>
          <a:xfrm>
            <a:off x="640080" y="1280160"/>
            <a:ext cx="10881360" cy="548640"/>
          </a:xfrm>
          <a:prstGeom prst="rect">
            <a:avLst/>
          </a:prstGeom>
          <a:noFill/>
        </p:spPr>
        <p:txBody>
          <a:bodyPr wrap="square">
            <a:noAutofit/>
          </a:bodyPr>
          <a:lstStyle/>
          <a:p>
            <a:pPr>
              <a:spcAft>
                <a:spcPts val="600"/>
              </a:spcAft>
            </a:pPr>
            <a:r>
              <a:rPr sz="2000" b="1">
                <a:solidFill>
                  <a:srgbClr val="1F5CA8"/>
                </a:solidFill>
                <a:latin typeface="Malgun Gothic"/>
                <a:ea typeface="Malgun Gothic"/>
                <a:cs typeface="Malgun Gothic"/>
              </a:rPr>
              <a:t>ARCn과 아카이브 모드</a:t>
            </a:r>
          </a:p>
        </p:txBody>
      </p:sp>
      <p:sp>
        <p:nvSpPr>
          <p:cNvPr id="5" name="TextBox 4"/>
          <p:cNvSpPr txBox="1"/>
          <p:nvPr/>
        </p:nvSpPr>
        <p:spPr>
          <a:xfrm>
            <a:off x="640080" y="1920240"/>
            <a:ext cx="10881360" cy="1371600"/>
          </a:xfrm>
          <a:prstGeom prst="rect">
            <a:avLst/>
          </a:prstGeom>
          <a:noFill/>
        </p:spPr>
        <p:txBody>
          <a:bodyPr wrap="square">
            <a:noAutofit/>
          </a:bodyPr>
          <a:lstStyle/>
          <a:p>
            <a:pPr>
              <a:spcAft>
                <a:spcPts val="600"/>
              </a:spcAft>
            </a:pPr>
            <a:r>
              <a:rPr sz="1800" b="0">
                <a:solidFill>
                  <a:srgbClr val="202830"/>
                </a:solidFill>
                <a:latin typeface="Malgun Gothic"/>
                <a:ea typeface="Malgun Gothic"/>
                <a:cs typeface="Malgun Gothic"/>
              </a:rPr>
              <a:t>아카이버 프로세스(ARCn)에 대한 설명으로 옳은 것을 모두 고르시오.</a:t>
            </a:r>
          </a:p>
        </p:txBody>
      </p:sp>
      <p:sp>
        <p:nvSpPr>
          <p:cNvPr id="6" name="Rectangle 5"/>
          <p:cNvSpPr/>
          <p:nvPr/>
        </p:nvSpPr>
        <p:spPr>
          <a:xfrm>
            <a:off x="640080" y="3200400"/>
            <a:ext cx="10908792" cy="54864"/>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noAutofit/>
          </a:bodyPr>
          <a:lstStyle/>
          <a:p>
            <a:pPr>
              <a:spcAft>
                <a:spcPts val="800"/>
              </a:spcAft>
            </a:pPr>
            <a:r>
              <a:rPr sz="1700" b="0">
                <a:solidFill>
                  <a:srgbClr val="202830"/>
                </a:solidFill>
                <a:latin typeface="Malgun Gothic"/>
                <a:ea typeface="Malgun Gothic"/>
                <a:cs typeface="Malgun Gothic"/>
              </a:rPr>
              <a:t>(a) NOARCHIVELOG 모드에서도 항상 동작한다</a:t>
            </a:r>
          </a:p>
          <a:p>
            <a:pPr>
              <a:spcAft>
                <a:spcPts val="800"/>
              </a:spcAft>
            </a:pPr>
            <a:r>
              <a:rPr sz="1700" b="0">
                <a:solidFill>
                  <a:srgbClr val="202830"/>
                </a:solidFill>
                <a:latin typeface="Malgun Gothic"/>
                <a:ea typeface="Malgun Gothic"/>
                <a:cs typeface="Malgun Gothic"/>
              </a:rPr>
              <a:t>(b) ARCHIVELOG 모드에서 리두 로그 재사용 전 아카이브 목적지로 복사한다</a:t>
            </a:r>
          </a:p>
          <a:p>
            <a:pPr>
              <a:spcAft>
                <a:spcPts val="800"/>
              </a:spcAft>
            </a:pPr>
            <a:r>
              <a:rPr sz="1700" b="0">
                <a:solidFill>
                  <a:srgbClr val="202830"/>
                </a:solidFill>
                <a:latin typeface="Malgun Gothic"/>
                <a:ea typeface="Malgun Gothic"/>
                <a:cs typeface="Malgun Gothic"/>
              </a:rPr>
              <a:t>(c) 주된 트리거는 로그 스위치다</a:t>
            </a:r>
          </a:p>
          <a:p>
            <a:pPr>
              <a:spcAft>
                <a:spcPts val="800"/>
              </a:spcAft>
            </a:pPr>
            <a:r>
              <a:rPr sz="1700" b="0">
                <a:solidFill>
                  <a:srgbClr val="202830"/>
                </a:solidFill>
                <a:latin typeface="Malgun Gothic"/>
                <a:ea typeface="Malgun Gothic"/>
                <a:cs typeface="Malgun Gothic"/>
              </a:rPr>
              <a:t>(d) LOG_ARCHIVE_MAX_PROCESSES로 다중 구성한다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oAutofit/>
          </a:bodyPr>
          <a:lstStyle/>
          <a:p>
            <a:pPr>
              <a:spcAft>
                <a:spcPts val="600"/>
              </a:spcAft>
            </a:pPr>
            <a:r>
              <a:rPr sz="2600" b="1">
                <a:solidFill>
                  <a:srgbClr val="FFFFFF"/>
                </a:solidFill>
                <a:latin typeface="Malgun Gothic"/>
                <a:ea typeface="Malgun Gothic"/>
                <a:cs typeface="Malgun Gothic"/>
              </a:rPr>
              <a:t>퀴즈 6</a:t>
            </a:r>
          </a:p>
        </p:txBody>
      </p:sp>
      <p:sp>
        <p:nvSpPr>
          <p:cNvPr id="4" name="TextBox 3"/>
          <p:cNvSpPr txBox="1"/>
          <p:nvPr/>
        </p:nvSpPr>
        <p:spPr>
          <a:xfrm>
            <a:off x="640080" y="1280160"/>
            <a:ext cx="10881360" cy="548640"/>
          </a:xfrm>
          <a:prstGeom prst="rect">
            <a:avLst/>
          </a:prstGeom>
          <a:noFill/>
        </p:spPr>
        <p:txBody>
          <a:bodyPr wrap="square">
            <a:noAutofit/>
          </a:bodyPr>
          <a:lstStyle/>
          <a:p>
            <a:pPr>
              <a:spcAft>
                <a:spcPts val="600"/>
              </a:spcAft>
            </a:pPr>
            <a:r>
              <a:rPr sz="2000" b="1">
                <a:solidFill>
                  <a:srgbClr val="1F5CA8"/>
                </a:solidFill>
                <a:latin typeface="Malgun Gothic"/>
                <a:ea typeface="Malgun Gothic"/>
                <a:cs typeface="Malgun Gothic"/>
              </a:rPr>
              <a:t>CDB의 백그라운드 프로세스</a:t>
            </a:r>
          </a:p>
        </p:txBody>
      </p:sp>
      <p:sp>
        <p:nvSpPr>
          <p:cNvPr id="5" name="TextBox 4"/>
          <p:cNvSpPr txBox="1"/>
          <p:nvPr/>
        </p:nvSpPr>
        <p:spPr>
          <a:xfrm>
            <a:off x="640080" y="1920240"/>
            <a:ext cx="10881360" cy="1371600"/>
          </a:xfrm>
          <a:prstGeom prst="rect">
            <a:avLst/>
          </a:prstGeom>
          <a:noFill/>
        </p:spPr>
        <p:txBody>
          <a:bodyPr wrap="square">
            <a:noAutofit/>
          </a:bodyPr>
          <a:lstStyle/>
          <a:p>
            <a:pPr>
              <a:spcAft>
                <a:spcPts val="600"/>
              </a:spcAft>
            </a:pPr>
            <a:r>
              <a:rPr sz="1800" b="0">
                <a:solidFill>
                  <a:srgbClr val="202830"/>
                </a:solidFill>
                <a:latin typeface="Malgun Gothic"/>
                <a:ea typeface="Malgun Gothic"/>
                <a:cs typeface="Malgun Gothic"/>
              </a:rPr>
              <a:t>하나의 CDB에 50개의 PDB가 있다. 이 CDB에는 몇 세트의 백그라운드 프로세스(DBWn, LGWR 등)가 존재하는가?</a:t>
            </a:r>
          </a:p>
        </p:txBody>
      </p:sp>
      <p:sp>
        <p:nvSpPr>
          <p:cNvPr id="6" name="Rectangle 5"/>
          <p:cNvSpPr/>
          <p:nvPr/>
        </p:nvSpPr>
        <p:spPr>
          <a:xfrm>
            <a:off x="640080" y="3200400"/>
            <a:ext cx="10908792" cy="54864"/>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noAutofit/>
          </a:bodyPr>
          <a:lstStyle/>
          <a:p>
            <a:pPr>
              <a:spcAft>
                <a:spcPts val="800"/>
              </a:spcAft>
            </a:pPr>
            <a:r>
              <a:rPr sz="1700" b="0">
                <a:solidFill>
                  <a:srgbClr val="202830"/>
                </a:solidFill>
                <a:latin typeface="Malgun Gothic"/>
                <a:ea typeface="Malgun Gothic"/>
                <a:cs typeface="Malgun Gothic"/>
              </a:rPr>
              <a:t>(a) PDB마다 하나씩, 총 50세트</a:t>
            </a:r>
          </a:p>
          <a:p>
            <a:pPr>
              <a:spcAft>
                <a:spcPts val="800"/>
              </a:spcAft>
            </a:pPr>
            <a:r>
              <a:rPr sz="1700" b="0">
                <a:solidFill>
                  <a:srgbClr val="202830"/>
                </a:solidFill>
                <a:latin typeface="Malgun Gothic"/>
                <a:ea typeface="Malgun Gothic"/>
                <a:cs typeface="Malgun Gothic"/>
              </a:rPr>
              <a:t>(b) PDB 50개 + 루트 1개 = 51세트</a:t>
            </a:r>
          </a:p>
          <a:p>
            <a:pPr>
              <a:spcAft>
                <a:spcPts val="800"/>
              </a:spcAft>
            </a:pPr>
            <a:r>
              <a:rPr sz="1700" b="0">
                <a:solidFill>
                  <a:srgbClr val="202830"/>
                </a:solidFill>
                <a:latin typeface="Malgun Gothic"/>
                <a:ea typeface="Malgun Gothic"/>
                <a:cs typeface="Malgun Gothic"/>
              </a:rPr>
              <a:t>(c) CDB(인스턴스)당 1세트</a:t>
            </a:r>
          </a:p>
          <a:p>
            <a:pPr>
              <a:spcAft>
                <a:spcPts val="800"/>
              </a:spcAft>
            </a:pPr>
            <a:r>
              <a:rPr sz="1700" b="0">
                <a:solidFill>
                  <a:srgbClr val="202830"/>
                </a:solidFill>
                <a:latin typeface="Malgun Gothic"/>
                <a:ea typeface="Malgun Gothic"/>
                <a:cs typeface="Malgun Gothic"/>
              </a:rPr>
              <a:t>(d) DBWn·LGWR만 공유, 나머지는 PDB별</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oAutofit/>
          </a:bodyPr>
          <a:lstStyle/>
          <a:p>
            <a:pPr>
              <a:spcAft>
                <a:spcPts val="600"/>
              </a:spcAft>
            </a:pPr>
            <a:r>
              <a:rPr sz="2600" b="1">
                <a:solidFill>
                  <a:srgbClr val="FFFFFF"/>
                </a:solidFill>
                <a:latin typeface="Malgun Gothic"/>
                <a:ea typeface="Malgun Gothic"/>
                <a:cs typeface="Malgun Gothic"/>
              </a:rPr>
              <a:t>요약 (Summary)</a:t>
            </a:r>
          </a:p>
        </p:txBody>
      </p:sp>
      <p:sp>
        <p:nvSpPr>
          <p:cNvPr id="4" name="TextBox 3"/>
          <p:cNvSpPr txBox="1"/>
          <p:nvPr/>
        </p:nvSpPr>
        <p:spPr>
          <a:xfrm>
            <a:off x="640080" y="1234440"/>
            <a:ext cx="10881360" cy="4937760"/>
          </a:xfrm>
          <a:prstGeom prst="rect">
            <a:avLst/>
          </a:prstGeom>
          <a:noFill/>
        </p:spPr>
        <p:txBody>
          <a:bodyPr wrap="square">
            <a:noAutofit/>
          </a:bodyPr>
          <a:lstStyle/>
          <a:p>
            <a:pPr>
              <a:spcAft>
                <a:spcPts val="700"/>
              </a:spcAft>
            </a:pPr>
            <a:r>
              <a:rPr sz="1800" b="0">
                <a:solidFill>
                  <a:srgbClr val="202830"/>
                </a:solidFill>
                <a:latin typeface="Malgun Gothic"/>
                <a:ea typeface="Malgun Gothic"/>
                <a:cs typeface="Malgun Gothic"/>
              </a:rPr>
              <a:t>•  프로세스는 클라이언트·서버·백그라운드·슬레이브로 구분, 멀티프로세스/멀티스레드 구성</a:t>
            </a:r>
          </a:p>
          <a:p>
            <a:pPr>
              <a:spcAft>
                <a:spcPts val="700"/>
              </a:spcAft>
            </a:pPr>
            <a:r>
              <a:rPr sz="1800" b="0">
                <a:solidFill>
                  <a:srgbClr val="202830"/>
                </a:solidFill>
                <a:latin typeface="Malgun Gothic"/>
                <a:ea typeface="Malgun Gothic"/>
                <a:cs typeface="Malgun Gothic"/>
              </a:rPr>
              <a:t>•  DBWn: 더티 버퍼→데이터 파일(지연 쓰기), 체크포인트·빈 버퍼 부족·타임아웃에 트리거</a:t>
            </a:r>
          </a:p>
          <a:p>
            <a:pPr>
              <a:spcAft>
                <a:spcPts val="700"/>
              </a:spcAft>
            </a:pPr>
            <a:r>
              <a:rPr sz="1800" b="0">
                <a:solidFill>
                  <a:srgbClr val="202830"/>
                </a:solidFill>
                <a:latin typeface="Malgun Gothic"/>
                <a:ea typeface="Malgun Gothic"/>
                <a:cs typeface="Malgun Gothic"/>
              </a:rPr>
              <a:t>•  LGWR: 리두 버퍼→리두 로그 파일, 커밋·1/3·DBWn 전·3초에 트리거, 커밋 지속성의 핵심</a:t>
            </a:r>
          </a:p>
          <a:p>
            <a:pPr>
              <a:spcAft>
                <a:spcPts val="700"/>
              </a:spcAft>
            </a:pPr>
            <a:r>
              <a:rPr sz="1800" b="0">
                <a:solidFill>
                  <a:srgbClr val="202830"/>
                </a:solidFill>
                <a:latin typeface="Malgun Gothic"/>
                <a:ea typeface="Malgun Gothic"/>
                <a:cs typeface="Malgun Gothic"/>
              </a:rPr>
              <a:t>•  CKPT는 직접 쓰지 않고 신호+SCN 기록, SMON=인스턴스 복구, PMON=프로세스/세션 정리</a:t>
            </a:r>
          </a:p>
          <a:p>
            <a:pPr>
              <a:spcAft>
                <a:spcPts val="700"/>
              </a:spcAft>
            </a:pPr>
            <a:r>
              <a:rPr sz="1800" b="0">
                <a:solidFill>
                  <a:srgbClr val="202830"/>
                </a:solidFill>
                <a:latin typeface="Malgun Gothic"/>
                <a:ea typeface="Malgun Gothic"/>
                <a:cs typeface="Malgun Gothic"/>
              </a:rPr>
              <a:t>•  PMAN(풀 관리)·RECO(분산 in-doubt)·LREG(리스너 등록)·MMON/MMNL(AWR·ASH)·ARCn(아카이빙)</a:t>
            </a:r>
          </a:p>
          <a:p>
            <a:pPr>
              <a:spcAft>
                <a:spcPts val="700"/>
              </a:spcAft>
            </a:pPr>
            <a:r>
              <a:rPr sz="1800" b="0">
                <a:solidFill>
                  <a:srgbClr val="202830"/>
                </a:solidFill>
                <a:latin typeface="Malgun Gothic"/>
                <a:ea typeface="Malgun Gothic"/>
                <a:cs typeface="Malgun Gothic"/>
              </a:rPr>
              <a:t>•  CDB의 모든 백그라운드 프로세스·SGA는 CDB당 한 세트, 모든 PDB가 공유</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oAutofit/>
          </a:bodyPr>
          <a:lstStyle/>
          <a:p>
            <a:pPr>
              <a:spcAft>
                <a:spcPts val="600"/>
              </a:spcAft>
            </a:pPr>
            <a:r>
              <a:rPr sz="2600" b="1">
                <a:solidFill>
                  <a:srgbClr val="FFFFFF"/>
                </a:solidFill>
                <a:latin typeface="Malgun Gothic"/>
                <a:ea typeface="Malgun Gothic"/>
                <a:cs typeface="Malgun Gothic"/>
              </a:rPr>
              <a:t>실습 2 개요</a:t>
            </a:r>
          </a:p>
        </p:txBody>
      </p:sp>
      <p:sp>
        <p:nvSpPr>
          <p:cNvPr id="4" name="TextBox 3"/>
          <p:cNvSpPr txBox="1"/>
          <p:nvPr/>
        </p:nvSpPr>
        <p:spPr>
          <a:xfrm>
            <a:off x="640080" y="1234440"/>
            <a:ext cx="10881360" cy="4206240"/>
          </a:xfrm>
          <a:prstGeom prst="rect">
            <a:avLst/>
          </a:prstGeom>
          <a:noFill/>
        </p:spPr>
        <p:txBody>
          <a:bodyPr wrap="square">
            <a:noAutofit/>
          </a:bodyPr>
          <a:lstStyle/>
          <a:p>
            <a:pPr>
              <a:spcAft>
                <a:spcPts val="700"/>
              </a:spcAft>
            </a:pPr>
            <a:r>
              <a:rPr sz="1800" b="0">
                <a:solidFill>
                  <a:srgbClr val="202830"/>
                </a:solidFill>
                <a:latin typeface="Malgun Gothic"/>
                <a:ea typeface="Malgun Gothic"/>
                <a:cs typeface="Malgun Gothic"/>
              </a:rPr>
              <a:t>•  목적: 앞서 배운 프로세스 구조를 조회로 직접 확인</a:t>
            </a:r>
          </a:p>
          <a:p>
            <a:pPr lvl="1">
              <a:spcAft>
                <a:spcPts val="600"/>
              </a:spcAft>
            </a:pPr>
            <a:r>
              <a:rPr sz="1600" b="0">
                <a:solidFill>
                  <a:srgbClr val="5A6672"/>
                </a:solidFill>
                <a:latin typeface="Malgun Gothic"/>
                <a:ea typeface="Malgun Gothic"/>
                <a:cs typeface="Malgun Gothic"/>
              </a:rPr>
              <a:t>    –  실습 2-1: 프로세스 아키텍처·구조 확인 — V$PROCESS/V$BGPROCESS</a:t>
            </a:r>
          </a:p>
          <a:p>
            <a:pPr lvl="1">
              <a:spcAft>
                <a:spcPts val="600"/>
              </a:spcAft>
            </a:pPr>
            <a:r>
              <a:rPr sz="1600" b="0">
                <a:solidFill>
                  <a:srgbClr val="5A6672"/>
                </a:solidFill>
                <a:latin typeface="Malgun Gothic"/>
                <a:ea typeface="Malgun Gothic"/>
                <a:cs typeface="Malgun Gothic"/>
              </a:rPr>
              <a:t>    –  실습 2-2~2-4: DBWn/LGWR · CKPT/SMON/PMON · PMAN/RECO/LREG 확인</a:t>
            </a:r>
          </a:p>
          <a:p>
            <a:pPr lvl="1">
              <a:spcAft>
                <a:spcPts val="600"/>
              </a:spcAft>
            </a:pPr>
            <a:r>
              <a:rPr sz="1600" b="0">
                <a:solidFill>
                  <a:srgbClr val="5A6672"/>
                </a:solidFill>
                <a:latin typeface="Malgun Gothic"/>
                <a:ea typeface="Malgun Gothic"/>
                <a:cs typeface="Malgun Gothic"/>
              </a:rPr>
              <a:t>    –  실습 2-5~2-6: MMON/MMNL과 AWR · ARCn과 아카이브 로그 모드 확인</a:t>
            </a:r>
          </a:p>
          <a:p>
            <a:pPr lvl="1">
              <a:spcAft>
                <a:spcPts val="600"/>
              </a:spcAft>
            </a:pPr>
            <a:r>
              <a:rPr sz="1600" b="0">
                <a:solidFill>
                  <a:srgbClr val="5A6672"/>
                </a:solidFill>
                <a:latin typeface="Malgun Gothic"/>
                <a:ea typeface="Malgun Gothic"/>
                <a:cs typeface="Malgun Gothic"/>
              </a:rPr>
              <a:t>    –  실습 2-7~2-8: 메모리·프로세스·저장소 상호작용(대기 이벤트) · V$BGPROCESS 상태 조회</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69280"/>
            <a:ext cx="10515600" cy="868680"/>
          </a:xfrm>
          <a:prstGeom prst="rect">
            <a:avLst/>
          </a:prstGeom>
          <a:noFill/>
        </p:spPr>
        <p:txBody>
          <a:bodyPr wrap="square">
            <a:noAutofit/>
          </a:bodyPr>
          <a:lstStyle/>
          <a:p>
            <a:pPr>
              <a:spcAft>
                <a:spcPts val="200"/>
              </a:spcAft>
            </a:pPr>
            <a:r>
              <a:rPr sz="1300" b="1">
                <a:solidFill>
                  <a:srgbClr val="B88600"/>
                </a:solidFill>
                <a:latin typeface="Malgun Gothic"/>
                <a:ea typeface="Malgun Gothic"/>
                <a:cs typeface="Malgun Gothic"/>
              </a:rPr>
              <a:t>참고:</a:t>
            </a:r>
          </a:p>
          <a:p>
            <a:pPr>
              <a:spcAft>
                <a:spcPts val="0"/>
              </a:spcAft>
            </a:pPr>
            <a:r>
              <a:rPr sz="1250" b="0">
                <a:solidFill>
                  <a:srgbClr val="202830"/>
                </a:solidFill>
                <a:latin typeface="Malgun Gothic"/>
                <a:ea typeface="Malgun Gothic"/>
                <a:cs typeface="Malgun Gothic"/>
              </a:rPr>
              <a:t>실습은 '역할 → 트리거 → 관련 뷰'의 틀을 떠올리며 조회 결과가 이론과 어떻게 일치하는지 확인하는 태도가 중요하다. 특히 마지막 실습에서 프로세스가 CDB 공용임을 직접 확인한다.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
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타이틀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아젠다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Connection Manager는 애플리케이션 클라이언트 및 데이터베이스 서버와 별개의 자체 컴퓨터에 상주하는 소프트웨어 컴포넌트다. 물리적으로 클라이언트와 서버 사이 중간 지점에 놓여 데이터베이스 서버로 향하는 요청을 대신 받아 전달하는 프록시 서버로 동작한다. 클라이언트는 데이터베이스에 직접 접속하는 것이 아니라 CMAN에 접속하고, CMAN이 그 요청을 규칙에 따라 평가한 뒤 데이터베이스 서버 또는 또 다른 CMAN으로 중계한다. CMAN은 데이터베이스 소프트웨어가 아니라 Oracle Instant Client 설치 미디어에 포함된 컴포넌트로 설치하므로, 데이터베이스 서버와 분리된 프록시 전용 호스트에 가볍게 배치할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CMAN은 세 가지 목적을 위해 구성할 수 있다. 첫째, 세션 멀티플렉싱은 여러 클라이언트 세션을 특정 목적지의 특정 디스패처로 향하는 단일 전송 프로토콜 연결로 퍼널링한다. 그 결과 데이터베이스 서버는 수많은 개별 연결 대신 훨씬 적은 연결 엔드포인트만으로 대규모 클라이언트를 수용한다. 둘째, 접근 제어는 규칙 기반으로 어떤 소스에서 온 어떤 목적지·서비스로의 연결을 허용·거부·드롭할지 필터링한다. 셋째, 프로토콜 변환은 서로 다른 프로토콜을 쓰는 클라이언트와 서버를 중계한다. 공유 서버가 서버 프로세스를 공유했다면 CMAN은 네트워크 연결 자체를 공유·필터링해 확장성과 보안을 동시에 높인다는 점에서 상호 보완적이다.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 프로세스는 실제 트래픽을 처리하는 일꾼이다. 클라이언트 연결을 수신하고 규칙 세트를 사용해 접근을 허용할지 거부할지 결정한다. 허용되면 요청을 다음 홉(다른 CMAN이거나 최종 데이터베이스 서버)으로 전달하며, 클라이언트 연결을 멀티플렉싱하는 주체다. 구체적으로 관리 프로세스에 자신을 등록하고, 들어오는 연결 요청을 수신하며, 목적지 리스너로 연결을 시작하고, 연결이 끝날 때까지 데이터를 중계한다. 서버로 향하는 연결이 이미 존재하면 새 연결을 만들지 않고 기존 연결 위로 멀티플렉싱한다. UNIX/Linux에서는 CMGW, Windows에서는 OracleHomeCMan 서비스로 나타난다. 부하에 따라 MIN/MAX_GATEWAY_PROCESSES 범위 안에서 여러 개가 기동될 수 있어 게이트웨이 계층 자체도 수평 확장이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 프로세스는 CMAN의 모든 관리 기능을 담당하는 다중 스레드 프로세스다. 게이트웨이 프로세스의 등록을 처리하고, 최소 하나의 데이터베이스 인스턴스를 서비스하는 모든 리스너를 식별하며, 게이트웨이와 리스너에 대한 주소 정보를 등록하고, CMCTL 유틸리티가 시작한 요청에 응답한다. 즉 CMADMIN은 내부 조정자로서 게이트웨이가 트래픽 처리에 집중하도록 관리 부담을 떠맡는다. UNIX/Linux에서는 CMADMIN, Windows에서는 OracleHomeCMAdmin 서비스로 표현된다. CMAN을 일단 구성하고 나면 관리 프로세스는 상시 필요하지 않으며, 자원을 절약하려면 게이트웨이 프로세스만 시작해도 모든 기본 기능이 동작한다. 다만 CMCTL로 상태를 조회하거나 파라미터를 동적으로 바꾸려면 CMADMIN이 실행 중이어야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 서버 내부에는 리스너, CMADMIN, CMGW가 함께 존재하며 협력해 연결을 제어한다. 리스너가 클라이언트 연결을 수신해 규칙 세트에 대해 허용/거부를 평가하고, 허용하면 현재 연결 수가 가장 적은 게이트웨이를 선택해 요청을 전달한다(부하 분산). 게이트웨이는 그 요청을 다른 CMAN이나 직접 데이터베이스 서버로 전달하고 연결이 끝날 때까지 데이터를 중계하며, 서버로 향하는 연결이 이미 존재하면 새 연결 대신 기존 연결 위로 멀티플렉싱한다. CMADMIN은 게이트웨이·리스너 상태를 모니터링하며 필요 시 프로세스를 종료·시작하고, 게이트웨이의 위치와 부하를 리스너에 등록해 올바른 부하 분산을 돕는다. 예시 다이어그램에서 네 개의 클라이언트 중 세 개는 허용되어 단일 연결로 멀티플렉싱되고 네 번째는 규칙 평가 결과 거부된다. 접근 제어와 멀티플렉싱이 하나의 흐름에서 동시에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접근 제어는 필터링 규칙을 통해 구현된다. 규칙을 지정하면 클라이언트의 소스 호스트/IP, 서버의 목적지 호스트/IP, 목적지 데이터베이스 서비스 이름, 클라이언트의 Oracle Advanced Security 사용 여부라는 네 기준으로 접근을 허용·제한할 수 있다. 필터링은 cman.ora의 CMAN_RULES(RULE_LIST)로 지정하며, 각 규칙은 SRC·DST·SRV·ACT 조합으로 표현된다. 액션은 accept, reject, drop 중 하나다. accept는 허용하고 ACTION_LIST로 세부 속성을 지정하며, reject는 거부하고 클라이언트에 오류를 반환하고, drop은 응답 없이 조용히 폐기해 스캐닝 시도로부터 존재를 숨긴다. 규칙은 위에서부터 순서대로 평가되어 처음 일치하는 규칙의 액션이 적용되므로, 구체적인 규칙을 위에 두고 마지막에 포괄 차단을 두는 화이트리스트 방식이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필터링 규칙의 액션은 세 가지다. accept는 규칙과 일치하는 연결을 허용하고 ACTION_LIST로 세부 속성을 지정한다. 대표 속성은 AUT(인증 요구 여부), MCT(최대 연결 시간, 초), MIT(최대 유휴 시간, 초)이며, 이로써 전역 기본값을 연결 단위로 오버라이드한다. reject는 연결을 거부하고 클라이언트에 명시적으로 오류를 반환하며, drop은 아무 응답 없이 조용히 폐기해 스캐닝 시도로부터 존재를 숨긴다. 규칙 설계에서 중요한 것은 순서와 기본 정책이다. RULE_LIST의 규칙은 위에서부터 순서대로 평가되어 처음으로 일치하는 규칙의 액션이 적용되므로, 더 구체적인 규칙을 위에, 더 일반적인 규칙을 아래에 두어야 의도대로 동작한다. 보안 관점에서는 명시적으로 허용한 것 외에는 모두 차단하는 화이트리스트 접근이 바람직하며, 배포 후 로그와 실제 접속 테스트로 반드시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기본적인 활용은 사내 환경에서 특정 클라이언트만 특정 데이터베이스 서비스나 컴퓨터에 접근하도록 통제하는 것이다. CMAN은 부서 방화벽처럼 작동하여 필터링 규칙에 부합하는 클라이언트의 접근만 허용하고 나머지는 차단한다. 예를 들어 재무 데이터베이스에는 재무팀 서브넷에서 온 연결만 허용하고 그 외는 거부하도록 규칙을 작성하면, 데이터베이스 서버 설정을 바꾸지 않고도 네트워크 계층에서 접근 경계를 세울 수 있다. 이는 데이터베이스 계정 통제와 다른 지점에서 작동하는 보완적 방어선이다. 계정 통제는 인증 성공 후 무엇을 할 수 있는지를 다루지만, CMAN 필터링은 연결이 데이터베이스에 도달하기도 전에 네트워크 위치와 목적지 서비스를 근거로 차단한다.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CMAN은 서드파티 방화벽 제품과 직접 통합되지는 않지만, 벤더가 자체 제품과 함께 패키징해 애플리케이션 게이트웨이 역할을 하도록 구성할 수 있다. 전형적 배치는 인터넷의 여러 클라이언트가 인터넷에서 DMZ의 애플리케이션 웹 서버를 거쳐 기업 네트워크 내부의 데이터베이스로 이어지는 형태다. 승인되지 않은 인터넷 호스트는 내부 데이터베이스에 직접 접근할 수 없고, CMAN은 오직 DMZ의 app web server로부터의 요청만 허용하며 그 밖의 어떤 IP도 허용하지 않는다. 반대로 승인된 사용자는 기업 네트워크 외부의 인터넷 서비스를 여전히 이용할 수 있다. 핵심 가치는 민감한 데이터 접근을 DMZ 웹 서버에서 CMAN으로 이어지는 단일 통제 지점으로 좁혀 공격 표면을 줄이고 감사·모니터링을 쉽게 하는 데 있다. reject 대신 drop을 쓰면 내부 데이터베이스의 존재 자체를 외부 스캐너로부터 감출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CMAN이 애플리케이션 웹 서버와 같은 컴퓨터에서 실행될 때, 웹 서버는 여러 클라이언트 세션을 CMAN을 통해 데이터베이스로 라우팅할 수 있다. CMAN은 같은 목적지로 향하는 다수 세션을 하나의 전송 연결에 얹어 전달한다. 이점은 각 프로세스가 쓰는 네트워크 자원을 제한하고, 대규모 클라이언트 집단을 지원하며, 제한된 프로세스 연결로 동시 세션 수를 최대화하고, 네트워크 자원 활용을 최적화해 트래픽을 줄이며, 여러 애플리케이션을 쓰는 클라이언트도 단일 전송만으로 통신하고, 데이터베이스 링크에 단일 연결만 필요하다는 점이다. 멀티플렉싱의 이득은 접속 수는 많지만 순간 활성 요청 수는 적은 워크로드에서 가장 크며, 웹·커넥션 풀 환경이 대표적이다. 공유 서버가 서버 프로세스를 다중화한다면 CMAN은 물리적 연결을 다중화하므로, 디스패처의 MULTIPLEX=ON과 함께 적용하면 경로 전 구간에서 다중화가 유지되어 확장성이 극대화된다.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 구성은 3단계로 진행한다. 1단계는 CMAN 컴퓨터에서 cman.ora 파일을 구성해 수신 엔드포인트(ADDRESS), 접근 제어 규칙(RULE_LIST), 동작 파라미터(PARAMETER_LIST)를 지정한다. 2단계는 클라이언트의 tnsnames.ora에 CMAN 리스너의 프로토콜 주소를 구성해 클라이언트가 데이터베이스 대신 CMAN에 접속하도록 한다. 3단계는 선택 사항으로, 세션 멀티플렉싱을 실제로 활용할 때 데이터베이스 서버를 멀티플렉싱에 맞게 구성한다. 1·2단계는 접근 제어나 프록시만을 목적으로 할 때도 반드시 필요하고, 3단계는 멀티플렉싱을 쓰는 경우에만 수행한다. 구성 전 CMAN 호스트의 IP·포트, 허용할 소스 대역, 목적지 서비스, 멀티플렉싱 사용 여부를 문서로 정리하면 이 값이 곧 세 파일의 구성 값으로 매핑된다.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CMAN을 호스팅하는 컴퓨터는 cman.ora의 파라미터로 구성한다. 파일의 최상위 구조는 'CMAN이름 = (CONFIGURATION = ...)' 형태이며, 그 안에 세 영역이 나란히 들어간다. ADDRESS는 CMAN 리스너가 수신할 프로토콜·호스트·포트를 지정하며 필수다. RULE_LIST는 접근 제어 규칙을 담아 어떤 연결을 accept·reject·drop할지 지정하며, 규칙 형식은 (RULE=(SRC=host)(DST=host)(SRV=service|sid)(ACT=accept|reject))이다. PARAMETER_LIST는 로깅(LOG_LEVEL), 트레이싱(TRACING), 게이트웨이 프로세스 수(MIN/MAX_GATEWAY_PROCESSES) 등 동작 파라미터를 담는다. 파일은 기본적으로 $ORACLE_HOME/network/admin에 위치하고 TNS_ADMIN 환경변수나 전역 구성 디렉터리로도 지정할 수 있다. accept 규칙에는 ACTION_LIST를 덧붙여 AUT(인증), MCT(최대 연결 시간), MIT(최대 유휴 시간) 같은 세부 속성을 연결 단위로 지정할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 구성 시 흔한 문제는 문법, 경로/등록, 재시작 누락 세 범주에 속한다. CMAN이 기동하지 않으면 cman.ora의 괄호·들여쓰기 오류를 의심하고 샘플에서 복사해 수정하며 CMCTL 오류 메시지와 로그를 확인한다. 허용해야 할 접속이 거부되면 RULE_LIST 순서와 SRC 대역 오기를 점검하고, 로그로 어떤 규칙에 걸리는지 확인한다. CMAN 접속은 되나 DB로 가지 않으면 REMOTE_LISTENER 미등록이나 서비스 미인식을 의심해 DB에서 ALTER SYSTEM REGISTER를 실행하고 CMCTL show services로 확인한다. 멀티플렉싱이 동작하지 않으면 디스패처 미구성 또는 재시작 누락을 점검한다. 점검의 기본 원칙은 클라이언트가 CMAN까지 도달하는지(tnsping), CMAN이 규칙을 통과시키는지(로그), CMAN이 목적지 서비스를 아는지(show services)를 순서대로 한 홉씩 확인하는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CMAN01이라는 Connection Manager의 cman.ora 예제다. ADDRESS는 CMAN 리스너가 proxysvr의 1521 포트에서 TCP로 수신함을 뜻한다. RULE_LIST의 첫 규칙은 SRC=192.0.2.32/24(소스 대역), DST=fin-server(목적지), SRV=*(모든 서비스), ACT=accept(허용)이며, ACTION_LIST로 AUT=on(인증 요구), MCT=120(최대 연결 시간 120초), MIT=30(최대 유휴 30초)을 설정한다. 두 번째 규칙의 SRC=192.0.2.32와 DST=proxysvr는 동일 서버를 가리키고 SRV=cmon으로, CMAN과 CMCTL이 같은 컴퓨터에 상주하며 로컬 관리 연결을 허용함을 지정한다. PARAMETER_LIST에서 LOG_LEVEL=2, TRACING=on으로 로깅·트레이싱을 켜고, 게이트웨이 프로세스를 최소 3개에서 최대 8개까지 유지한다. cman.ora는 괄호 중첩과 들여쓰기에 민감하므로 새로 쓰지 말고 샘플을 복사해 편집하는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클라이언트를 CMAN을 통해 데이터베이스로 라우팅하려면 tnsnames.ora를 CMAN의 프로토콜 주소를 가리키는 연결 기술자로 구성한다. 클라이언트는 최종 데이터베이스가 아니라 CMAN 리스너 주소로 접속하고, CONNECT_DATA에는 최종 목적지의 서비스 이름을 지정한다. 예에서 finance로 접속하면 ADDRESS가 cman-serv:1521(CMAN 리스너)을 가리키므로 연결은 먼저 CMAN에 도달하고, CMAN은 규칙을 평가한 뒤 SERVICE_NAME=FINDB01을 제공하는 실제 데이터베이스로 중계한다. 애플리케이션은 여전히 finance라는 넷 서비스 이름을 쓰고 tnsnames.ora의 ADDRESS만 바꾸면 되므로, 코드 변경 없이 접근 제어·멀티플렉싱 계층을 끼워 넣을 수 있다. 이 간접 계층 덕분에 데이터베이스를 옮기거나 프록시 정책을 바꿔도 클라이언트 측 변경이 최소화된다.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서버가 CMAN과 통신하려면 DB 서버 측 tnsnames.ora에 CMAN의 수신 주소를 지정하는 서비스 이름 별칭을 포함하고, 초기화 파라미터 REMOTE_LISTENER에 그 별칭을 지정해야 한다. REMOTE_LISTENER를 설정하면 인스턴스의 LREG 프로세스가 로컬 리스너뿐 아니라 CMAN 리스너에도 서비스와 부하 정보를 등록한다. 그 결과 CMAN은 어떤 데이터베이스 서비스를 어느 인스턴스로 중계할 수 있는지 알게 되어 클라이언트 요청을 올바른 목적지로 전달한다. 이는 11장의 동적 서비스 등록 메커니즘의 연장선이다. 전체 경로는 클라이언트가 CMAN 주소로 접속 → CMAN이 규칙 평가 후 게이트웨이로 전달 → 게이트웨이가 REMOTE_LISTENER로 등록된 목적지로 중계로 이어진다. 설정 후 ALTER SYSTEM REGISTER로 등록을 즉시 반영하고 CMCTL show services로 서비스가 보이는지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멀티플렉싱을 실제로 활용하려면(구성 3단계의 선택 단계) 데이터베이스 서버를 멀티플렉싱에 맞게 구성해야 한다. 이는 공유 서버의 DISPATCHERS 초기화 파라미터에 PROTOCOL과 MULTIPLEX 속성을 설정함으로써 이루어진다. 즉 멀티플렉싱은 공유 서버(디스패처)의 존재를 전제로 한다. 형식은 DISPATCHERS="(PROTOCOL=TCP)(MULTIPLEX=ON)"이다. PROTOCOL은 디스패처가 수신 엔드포인트를 만들 네트워크 프로토콜을 지정한다. MULTIPLEX는 1·ON·YES·TRUE·BOTH(양방향 활성화), IN(수신만), OUT(발신만), 0·NO·OFF·FALSE(비활성화) 중 하나를 지정한다. 중요한 제약은 ALTER SYSTEM으로 멀티플렉싱을 동적으로 활성화할 수 없다는 것이다. 따라서 SPFILE에 DISPATCHERS 값을 설정한 뒤 인스턴스를 재시작해야 한다. 세 지점(디스패처 구성, CMAN 등록, 클라이언트 CMAN 경로 접속)이 모두 정렬되어야 실제 다중화가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CMCTL 유틸리티로 하나 이상의 CMAN을 관리한다. 기본 구문은 CMCTL command [process_type]이며, process_type은 cman(게이트웨이+관리, 기본값), cm(게이트웨이만), adm(관리만)이다. 명령은 운영(START/STOP), 수정(SET, SET LOG_LEVEL), 정보(SHOW, SHOW ADDRESS, STATUS), 유틸리티 운영(EXIT, HELP, QUIT)으로 나뉜다. 인자 없이 cmctl만 실행하면 대화형 CMCTL&gt; 프롬프트가 뜨고, cmctl startup cman처럼 붙여 쓰면 스크립트에서 비대화형으로 제어할 수 있다. 전형적 흐름은 administer로 대상 CMAN 지정 → startup으로 기동 → show status/show services로 확인 → 규칙·파라미터 변경 시 reload/재기동 → 운영 중 show gateways/show connections로 모니터링이다. 구성 후에는 관리 프로세스가 상시 필요 없어 게이트웨이만 남겨 자원을 절약할 수 있으나, CMCTL 상태 조회·동적 변경에는 CMADMIN이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축을 정리한다. 접근 제어는 cman.ora의 CMAN_RULES(RULE_LIST)를 통해 필터링 규칙을 지정함으로써 활성화하며, 특정 클라이언트의 데이터베이스 서버 접근을 허용하거나 제한한다. 세션 멀티플렉싱은 초기화 파라미터 파일의 DISPATCHERS 파라미터에 PROTOCOL과 MULTIPLEX를 추가하고 MULTIPLEX를 ON 또는 동등한 값으로 설정함으로써 활성화한다. 접근 제어는 CMAN 서버 쪽 파일에서, 멀티플렉싱은 데이터베이스 서버 쪽 초기화 파라미터에서 켠다는 위치 차이를 기억하면 좋다. 두 기능은 하나의 CMAN에서 동시에 켤 수 있어, 규칙으로 허용한 연결만 받아들이면서 그 연결들을 소수의 물리적 연결로 다중화한다. 이 조합이 대규모 인터넷 서비스에서 CMAN이 매력적인 이유다.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CMAN은 클라이언트와 DB 서버 사이의 프록시로서 세션 멀티플렉싱, 규칙 기반 접근 제어(필터링), 프로토콜 변환의 세 기능을 단독 또는 조합으로 수행한다. Q2. CMGW(게이트웨이)는 클라이언트 연결을 수신·평가·중계하고 세션을 멀티플렉싱하는 트래픽 처리 프로세스이고, CMADMIN(관리)은 게이트웨이 등록 처리, 리스너 식별, 주소/부하 등록, CMCTL 요청 응답 등 관리 기능을 담당한다. 구성 후에는 게이트웨이만으로도 기본 기능을 수행할 수 있다. Q3. cman.ora는 ADDRESS(CMAN 리스너의 프로토콜·호스트·포트, 필수), RULE_LIST(SRC/DST/SRV/ACT 기반 접근 제어 규칙), PARAMETER_LIST(로깅·트레이싱·게이트웨이 프로세스 수 등 동작 파라미터)의 세 영역으로 구성된다.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ACT 값은 accept(허용, ACTION_LIST로 세부 속성 지정 가능), reject(거부하고 클라이언트에 오류 반환), drop(응답 없이 조용히 폐기)이다. 스캐닝 시도를 숨기려면 drop이 유리하다. Q5. 초기화 파라미터 DISPATCHERS에 (PROTOCOL=TCP)(MULTIPLEX=ON)처럼 PROTOCOL과 MULTIPLEX를 설정한다. 단 ALTER SYSTEM으로 동적 활성화할 수 없으므로 SPFILE에 반영 후 인스턴스를 재시작해야 한다. Q6. 클라이언트는 tnsnames.ora의 ADDRESS를 CMAN 리스너 주소로 지정하고 CONNECT_DATA에 최종 서비스 이름을 넣는다. 데이터베이스 서버는 tnsnames.ora에 CMAN 별칭을 정의하고 초기화 파라미터 REMOTE_LISTENER에 그 별칭을 지정해 서비스를 CMAN에 동적 등록한다.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개요 슬라이드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lgn="l">
              <a:lnSpc>
                <a:spcPct val="115000"/>
              </a:lnSpc>
              <a:spcAft>
                <a:spcPts val="1000"/>
              </a:spcAft>
            </a:pPr>
            <a:r>
              <a:rPr sz="1800" b="1">
                <a:solidFill>
                  <a:srgbClr val="C0392B"/>
                </a:solidFill>
                <a:latin typeface="Malgun Gothic"/>
                <a:ea typeface="Malgun Gothic"/>
                <a:cs typeface="Malgun Gothic"/>
              </a:rPr>
              <a:t>Oracle Database 19c Administration Workshop  ·  제13장</a:t>
            </a:r>
          </a:p>
        </p:txBody>
      </p:sp>
      <p:sp>
        <p:nvSpPr>
          <p:cNvPr id="4" name="TextBox 3"/>
          <p:cNvSpPr txBox="1"/>
          <p:nvPr/>
        </p:nvSpPr>
        <p:spPr>
          <a:xfrm>
            <a:off x="1188720" y="2194560"/>
            <a:ext cx="10332720" cy="2011680"/>
          </a:xfrm>
          <a:prstGeom prst="rect">
            <a:avLst/>
          </a:prstGeom>
          <a:noFill/>
        </p:spPr>
        <p:txBody>
          <a:bodyPr wrap="square">
            <a:spAutoFit/>
          </a:bodyPr>
          <a:lstStyle/>
          <a:p>
            <a:pPr algn="l">
              <a:lnSpc>
                <a:spcPct val="115000"/>
              </a:lnSpc>
              <a:spcAft>
                <a:spcPts val="1000"/>
              </a:spcAft>
            </a:pPr>
            <a:r>
              <a:rPr sz="4400" b="1">
                <a:solidFill>
                  <a:srgbClr val="FFFFFF"/>
                </a:solidFill>
                <a:latin typeface="Malgun Gothic"/>
                <a:ea typeface="Malgun Gothic"/>
                <a:cs typeface="Malgun Gothic"/>
              </a:rPr>
              <a:t>멀티플렉싱 및 접근 제어를 위한
Oracle Connection Manager 구성</a:t>
            </a:r>
          </a:p>
        </p:txBody>
      </p:sp>
      <p:sp>
        <p:nvSpPr>
          <p:cNvPr id="5" name="TextBox 4"/>
          <p:cNvSpPr txBox="1"/>
          <p:nvPr/>
        </p:nvSpPr>
        <p:spPr>
          <a:xfrm>
            <a:off x="1188720" y="4297680"/>
            <a:ext cx="10058400" cy="1280160"/>
          </a:xfrm>
          <a:prstGeom prst="rect">
            <a:avLst/>
          </a:prstGeom>
          <a:noFill/>
        </p:spPr>
        <p:txBody>
          <a:bodyPr wrap="square">
            <a:spAutoFit/>
          </a:bodyPr>
          <a:lstStyle/>
          <a:p>
            <a:pPr algn="l">
              <a:lnSpc>
                <a:spcPct val="115000"/>
              </a:lnSpc>
              <a:spcAft>
                <a:spcPts val="1000"/>
              </a:spcAft>
            </a:pPr>
            <a:r>
              <a:rPr sz="1800" b="0">
                <a:solidFill>
                  <a:srgbClr val="C5CED6"/>
                </a:solidFill>
                <a:latin typeface="Malgun Gothic"/>
                <a:ea typeface="Malgun Gothic"/>
                <a:cs typeface="Malgun Gothic"/>
              </a:rPr>
              <a:t>CMAN 개요 · 프로세스(CMGW/CMADMIN) · 아키텍처 · 접근 제어 · 세션 멀티플렉싱 · cman.ora · CMCTL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Oracle Connection Manager의 핵심 기능(멀티플렉싱·접근 제어·프로토콜 변환·프록시)을 식별한다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 아키텍처(리스너·CMGW·CMADMIN)와 요청 처리 흐름을 설명한다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세션 멀티플렉싱을 위해 CMAN과 DB 서버(DISPATCHERS의 MULTIPLEX)를 구성한다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cman.ora의 세 영역(ADDRESS·RULE_LIST·PARAMETER_LIST)으로 접근 제어 규칙을 작성한다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클라이언트(tnsnames.ora)와 DB 서버(REMOTE_LISTENER)를 CMAN 경로에 맞춰 구성한다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CMCTL 유틸리티로 CMAN을 시작·중지·모니터링한다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13.1 CMAN 개요 · 13.2 프로세스(CMGW/CMADMIN) · 13.3 아키텍처</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13.4 필터링 규칙 접근 제어 · 13.5 인트라넷 · 13.6 인터넷 접근 제어</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13.7 세션 멀티플렉싱 · 13.8 구성 3단계 · 13.9 cman.ora · 13.10 예제 분석</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13.11 클라이언트 · 13.12 REMOTE_LISTENER · 13.13 MULTIPLEX 구성</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13.14 CMCTL 유틸리티 · 13.15 기능 정리 · 확인 학습 · 요약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13.1</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Oracle Connection Manager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프록시 서버로서의 역할</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멀티플렉싱 · 접근 제어 · 프로토콜 변환</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별도 서버에 상주하는 네트워크 계층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CMAN이란 무엇인가 — 프록시 서버</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클라이언트·DB 서버와 별개의 자체 컴퓨터에 상주하는 소프트웨어 컴포넌트</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DB 서버로 향하는 요청을 대신 받아 전달하는 프록시(proxy)로 동작</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클라이언트는 DB에 직접 접속하지 않고 CMAN에 접속 → CMAN이 규칙 평가 후 중계</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Oracle Instant Client 설치 미디어로 설치 → 프록시 전용 호스트에 가볍게 배치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CMAN의 세 가지 기능</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세션 멀티플렉싱: 여러 세션을 단일 전송 연결로 퍼널링 → DB의 연결 엔드포인트 감소</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접근 제어: 규칙 기반으로 연결을 허용/거부/드롭 필터링</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프로토콜 변환: 서로 다른 네트워크 프로토콜을 중계(오늘날 활용 빈도는 낮음)</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12장 공유 서버가 '서버 프로세스'를 공유했다면, CMAN은 '네트워크 연결'을 공유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13.2</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Connection Manager 프로세스</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게이트웨이 프로세스 CMGW</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관리 프로세스 CMADMIN</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CMCTL 유틸리티로 시작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게이트웨이 프로세스(CMGW)</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클라이언트 연결을 수신하고 규칙 세트로 접근 허용 여부 결정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허용 시 요청을 다음 홉(다른 CMAN 또는 DB 서버)으로 전달</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클라이언트 연결을 멀티플렉싱하는 주체</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UNIX/Linux: CMGW · Windows: OracleHomeCMan 서비스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부하에 따라 MIN/MAX_GATEWAY_PROCESSES 범위 내에서 여러 개 기동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관리 프로세스(CMADMIN)</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CMAN의 모든 관리 기능을 담당하는 다중 스레드 프로세스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게이트웨이 등록 처리 · 리스너 식별 · 주소/부하 등록 · CMCTL 요청 응답</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UNIX/Linux: CMADMIN · Windows: OracleHomeCMAdmin 서비스</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구성 후에는 상시 불필요 — 게이트웨이만으로도 기본 기능 수행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13.3</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Connection Manager 아키텍처</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리스너 → 규칙 평가 → 게이트웨이</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부하가 가장 적은 게이트웨이 선택</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멀티플렉싱 · 접근 제어 동시 작동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요청 처리 흐름</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① 리스너가 연결 수신 → 규칙 세트에 대해 허용/거부 평가</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② 허용 시 연결 수가 가장 적은 게이트웨이로 전달(부하 분산)</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③ CMGW가 다른 CMAN 또는 DB 서버로 전달하고 데이터 중계</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④ 서버 연결이 이미 있으면 기존 연결 위로 멀티플렉싱(퍼널링)</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CMADMIN은 게이트웨이·리스너 상태를 모니터링하고 부하를 리스너에 등록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13.4</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필터링 규칙을 이용한 접근 제어</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네 가지 기준으로 접근 허용/제한</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cman.ora의 CMAN_RULES(RULE_LIST)</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accept · reject · drop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필터링 규칙의 기준과 액션</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소스(SRC) 호스트/IP · 목적지(DST) 호스트/IP · 서비스 이름(SRV) · Oracle Advanced Security 사용 여부</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cman.ora의 CMAN_RULES(RULE_LIST) 파라미터로 지정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액션(ACT): accept(허용) · reject(거부·오류 반환) · drop(응답 없이 폐기)</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규칙은 위에서부터 순서 평가 → 구체적 규칙을 위에, 화이트리스트 원칙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accept · reject · drop과 규칙 설계</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accept: 허용 + ACTION_LIST로 AUT(인증)·MCT(최대 연결 시간)·MIT(최대 유휴) 지정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reject: 거부하고 클라이언트에 명시적 오류 반환</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drop: 응답 없이 조용히 폐기 → 스캐닝/공격 시도에 존재 자체를 숨김</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규칙은 위→아래 순서 평가, 처음 일치한 규칙 적용 → 구체적 규칙을 위에</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화이트리스트: 필요한 조합만 accept, 마지막에 나머지를 drop/reject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인트라넷 접근 제어 구현</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특정 클라이언트만 특정 DB 서비스/컴퓨터에 접근하도록 통제</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부서 방화벽처럼 작동 — 규칙에 맞는 클라이언트만 허용</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예: 재무 DB에는 재무팀 서브넷(192.0.2.0/24)만 accept, 그 외 drop</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DB 계정 통제(인증 후)와 달리 연결이 DB에 도달하기 전에 차단(보완적 방어선)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인터넷 접근 제어 구현 — 방화벽 통합</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CMAN은 서드파티 방화벽과 직접 통합되진 않으나 애플리케이션 게이트웨이로 패키징 가능</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인터넷 → DMZ의 app web server → CMAN → 기업 내부 DB</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CMAN은 DMZ 웹 서버로부터의 요청만 허용, 그 외 IP는 모두 차단</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민감 데이터 접근을 단일 통제 지점으로 축소 → 공격 표면 감소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13.7</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세션 멀티플렉싱 개념과 이점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여러 세션을 단일 전송으로 퍼널링</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네트워크 자원 최적화 · 트래픽 감소</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공유 서버와 상호 보완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세션 멀티플렉싱의 이점</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각 프로세스의 네트워크 자원(연결 수·소켓) 제한</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대규모 클라이언트 집단을 소수의 물리적 연결로 지원</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제한된 프로세스 연결로 동시 세션 수 최대화 · 네트워크 트래픽 감소</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여러 애플리케이션을 쓰는 클라이언트도 단일 전송만 필요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데이터베이스 링크에 대해 단일 네트워크 연결만 필요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13.8</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Connection Manager 구성 3단계</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① cman.ora 구성</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② 클라이언트 tnsnames.ora</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③ DB 서버 멀티플렉싱(선택)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구성 3단계 개요</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1단계 — CMAN 서버: cman.ora 구성(ADDRESS·RULE_LIST·PARAMETER_LIST)</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2단계 — 클라이언트: tnsnames.ora를 CMAN 리스너 주소로 구성</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3단계(선택) — DB 서버: 세션 멀티플렉싱 구성(DISPATCHERS·MULTIPLEX, REMOTE_LISTENER)</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1·2단계는 접근 제어/프록시만 목적이어도 필수, 3단계는 멀티플렉싱 시에만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13.9</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cman.ora 파일 구성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ADDRESS — 리스너 프로토콜 주소(필수)</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RULE_LIST — 접근 제어 규칙</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PARAMETER_LIST — 동작 파라미터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cman.ora의 세 영역</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ADDRESS= : CMAN 리스너가 수신할 PROTOCOL·HOST·PORT (필수)</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RULE_LIST= : (RULE=(SRC=)(DST=)(SRV=)(ACT=accept|reject|drop))</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PARAMETER_LIST= : LOG_LEVEL·TRACING·MIN/MAX_GATEWAY_PROCESSES 등</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최상위 구조: CMAN이름=(CONFIGURATION=(ADDRESS=)(RULE_LIST=)(PARAMETER_LIST=))</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$ORACLE_HOME/network/admin 위치 · TNS_ADMIN으로도 지정 가능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구성 시 자주 겪는 문제와 점검</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 미기동 → cman.ora 괄호/들여쓰기 오류 (샘플 복사 후 수정)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허용할 접속이 거부됨 → RULE_LIST 순서·SRC 대역 오기 (로그로 확인)</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CMAN은 되나 DB로 안 감 → REMOTE_LISTENER 미등록 (ALTER SYSTEM REGISTER)</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멀티플렉싱 미동작 → 디스패처 미구성/재시작 누락</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점검 원칙: 클라이언트→CMAN→DB로 한 홉씩(tnsping·로그·show services)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cman.ora 예제 분석</a:t>
            </a:r>
          </a:p>
        </p:txBody>
      </p:sp>
      <p:sp>
        <p:nvSpPr>
          <p:cNvPr id="4" name="TextBox 3"/>
          <p:cNvSpPr txBox="1"/>
          <p:nvPr/>
        </p:nvSpPr>
        <p:spPr>
          <a:xfrm>
            <a:off x="640080" y="1143000"/>
            <a:ext cx="10881360" cy="457200"/>
          </a:xfrm>
          <a:prstGeom prst="rect">
            <a:avLst/>
          </a:prstGeom>
          <a:noFill/>
        </p:spPr>
        <p:txBody>
          <a:bodyPr wrap="square">
            <a:spAutoFit/>
          </a:bodyPr>
          <a:lstStyle/>
          <a:p>
            <a:pPr algn="l">
              <a:lnSpc>
                <a:spcPct val="115000"/>
              </a:lnSpc>
              <a:spcAft>
                <a:spcPts val="1000"/>
              </a:spcAft>
            </a:pPr>
            <a:r>
              <a:rPr sz="1500" b="0">
                <a:solidFill>
                  <a:srgbClr val="5A6672"/>
                </a:solidFill>
                <a:latin typeface="Malgun Gothic"/>
                <a:ea typeface="Malgun Gothic"/>
                <a:cs typeface="Malgun Gothic"/>
              </a:rPr>
              <a:t>CMAN01 구성 · 두 개의 규칙 · 파라미터</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E6E6E6"/>
                </a:solidFill>
                <a:latin typeface="Consolas"/>
                <a:ea typeface="Consolas"/>
                <a:cs typeface="Consolas"/>
              </a:rPr>
              <a:t>CMAN01=</a:t>
            </a:r>
          </a:p>
          <a:p>
            <a:pPr>
              <a:lnSpc>
                <a:spcPct val="100000"/>
              </a:lnSpc>
              <a:spcAft>
                <a:spcPts val="0"/>
              </a:spcAft>
            </a:pPr>
            <a:r>
              <a:rPr sz="1200">
                <a:solidFill>
                  <a:srgbClr val="E6E6E6"/>
                </a:solidFill>
                <a:latin typeface="Consolas"/>
                <a:ea typeface="Consolas"/>
                <a:cs typeface="Consolas"/>
              </a:rPr>
              <a:t>  (CONFIGURATION=</a:t>
            </a:r>
          </a:p>
          <a:p>
            <a:pPr>
              <a:lnSpc>
                <a:spcPct val="100000"/>
              </a:lnSpc>
              <a:spcAft>
                <a:spcPts val="0"/>
              </a:spcAft>
            </a:pPr>
            <a:r>
              <a:rPr sz="1200">
                <a:solidFill>
                  <a:srgbClr val="E6E6E6"/>
                </a:solidFill>
                <a:latin typeface="Consolas"/>
                <a:ea typeface="Consolas"/>
                <a:cs typeface="Consolas"/>
              </a:rPr>
              <a:t>    (ADDRESS=(PROTOCOL=tcp)(HOST=proxysvr)(PORT=1521))</a:t>
            </a:r>
          </a:p>
          <a:p>
            <a:pPr>
              <a:lnSpc>
                <a:spcPct val="100000"/>
              </a:lnSpc>
              <a:spcAft>
                <a:spcPts val="0"/>
              </a:spcAft>
            </a:pPr>
            <a:r>
              <a:rPr sz="1200">
                <a:solidFill>
                  <a:srgbClr val="E6E6E6"/>
                </a:solidFill>
                <a:latin typeface="Consolas"/>
                <a:ea typeface="Consolas"/>
                <a:cs typeface="Consolas"/>
              </a:rPr>
              <a:t>    (RULE_LIST=</a:t>
            </a:r>
          </a:p>
          <a:p>
            <a:pPr>
              <a:lnSpc>
                <a:spcPct val="100000"/>
              </a:lnSpc>
              <a:spcAft>
                <a:spcPts val="0"/>
              </a:spcAft>
            </a:pPr>
            <a:r>
              <a:rPr sz="1200">
                <a:solidFill>
                  <a:srgbClr val="E6E6E6"/>
                </a:solidFill>
                <a:latin typeface="Consolas"/>
                <a:ea typeface="Consolas"/>
                <a:cs typeface="Consolas"/>
              </a:rPr>
              <a:t>      (RULE=(SRC=192.0.2.32/24)(DST=fin-server)(SRV=*)(ACT=accept)</a:t>
            </a:r>
          </a:p>
          <a:p>
            <a:pPr>
              <a:lnSpc>
                <a:spcPct val="100000"/>
              </a:lnSpc>
              <a:spcAft>
                <a:spcPts val="0"/>
              </a:spcAft>
            </a:pPr>
            <a:r>
              <a:rPr sz="1200">
                <a:solidFill>
                  <a:srgbClr val="E6E6E6"/>
                </a:solidFill>
                <a:latin typeface="Consolas"/>
                <a:ea typeface="Consolas"/>
                <a:cs typeface="Consolas"/>
              </a:rPr>
              <a:t>        (ACTION_LIST=(AUT=on)(MCT=120)(MIT=30)))</a:t>
            </a:r>
          </a:p>
          <a:p>
            <a:pPr>
              <a:lnSpc>
                <a:spcPct val="100000"/>
              </a:lnSpc>
              <a:spcAft>
                <a:spcPts val="0"/>
              </a:spcAft>
            </a:pPr>
            <a:r>
              <a:rPr sz="1200">
                <a:solidFill>
                  <a:srgbClr val="E6E6E6"/>
                </a:solidFill>
                <a:latin typeface="Consolas"/>
                <a:ea typeface="Consolas"/>
                <a:cs typeface="Consolas"/>
              </a:rPr>
              <a:t>      (RULE=(SRC=192.0.2.32)(DST=proxysvr)(SRV=cmon)(ACT=accept)))</a:t>
            </a:r>
          </a:p>
          <a:p>
            <a:pPr>
              <a:lnSpc>
                <a:spcPct val="100000"/>
              </a:lnSpc>
              <a:spcAft>
                <a:spcPts val="0"/>
              </a:spcAft>
            </a:pPr>
            <a:r>
              <a:rPr sz="1200">
                <a:solidFill>
                  <a:srgbClr val="E6E6E6"/>
                </a:solidFill>
                <a:latin typeface="Consolas"/>
                <a:ea typeface="Consolas"/>
                <a:cs typeface="Consolas"/>
              </a:rPr>
              <a:t>    (PARAMETER_LIST=</a:t>
            </a:r>
          </a:p>
          <a:p>
            <a:pPr>
              <a:lnSpc>
                <a:spcPct val="100000"/>
              </a:lnSpc>
              <a:spcAft>
                <a:spcPts val="0"/>
              </a:spcAft>
            </a:pPr>
            <a:r>
              <a:rPr sz="1200">
                <a:solidFill>
                  <a:srgbClr val="E6E6E6"/>
                </a:solidFill>
                <a:latin typeface="Consolas"/>
                <a:ea typeface="Consolas"/>
                <a:cs typeface="Consolas"/>
              </a:rPr>
              <a:t>      (LOG_LEVEL=2)</a:t>
            </a:r>
          </a:p>
          <a:p>
            <a:pPr>
              <a:lnSpc>
                <a:spcPct val="100000"/>
              </a:lnSpc>
              <a:spcAft>
                <a:spcPts val="0"/>
              </a:spcAft>
            </a:pPr>
            <a:r>
              <a:rPr sz="1200">
                <a:solidFill>
                  <a:srgbClr val="E6E6E6"/>
                </a:solidFill>
                <a:latin typeface="Consolas"/>
                <a:ea typeface="Consolas"/>
                <a:cs typeface="Consolas"/>
              </a:rPr>
              <a:t>      (TRACING=on)</a:t>
            </a:r>
          </a:p>
          <a:p>
            <a:pPr>
              <a:lnSpc>
                <a:spcPct val="100000"/>
              </a:lnSpc>
              <a:spcAft>
                <a:spcPts val="0"/>
              </a:spcAft>
            </a:pPr>
            <a:r>
              <a:rPr sz="1200">
                <a:solidFill>
                  <a:srgbClr val="E6E6E6"/>
                </a:solidFill>
                <a:latin typeface="Consolas"/>
                <a:ea typeface="Consolas"/>
                <a:cs typeface="Consolas"/>
              </a:rPr>
              <a:t>      (MAX_GATEWAY_PROCESSES=8)</a:t>
            </a:r>
          </a:p>
          <a:p>
            <a:pPr>
              <a:lnSpc>
                <a:spcPct val="100000"/>
              </a:lnSpc>
              <a:spcAft>
                <a:spcPts val="0"/>
              </a:spcAft>
            </a:pPr>
            <a:r>
              <a:rPr sz="1200">
                <a:solidFill>
                  <a:srgbClr val="E6E6E6"/>
                </a:solidFill>
                <a:latin typeface="Consolas"/>
                <a:ea typeface="Consolas"/>
                <a:cs typeface="Consolas"/>
              </a:rPr>
              <a:t>      (MIN_GATEWAY_PROCESSES=3))))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13.11</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클라이언트 · 데이터베이스 서버 구성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클라이언트 tnsnames.ora → CMAN 주소</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DB 서버 REMOTE_LISTENER 등록</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전체 연결 경로 완성</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클라이언트 구성(tnsnames.ora)</a:t>
            </a:r>
          </a:p>
        </p:txBody>
      </p:sp>
      <p:sp>
        <p:nvSpPr>
          <p:cNvPr id="4" name="TextBox 3"/>
          <p:cNvSpPr txBox="1"/>
          <p:nvPr/>
        </p:nvSpPr>
        <p:spPr>
          <a:xfrm>
            <a:off x="640080" y="1143000"/>
            <a:ext cx="10881360" cy="457200"/>
          </a:xfrm>
          <a:prstGeom prst="rect">
            <a:avLst/>
          </a:prstGeom>
          <a:noFill/>
        </p:spPr>
        <p:txBody>
          <a:bodyPr wrap="square">
            <a:spAutoFit/>
          </a:bodyPr>
          <a:lstStyle/>
          <a:p>
            <a:pPr algn="l">
              <a:lnSpc>
                <a:spcPct val="115000"/>
              </a:lnSpc>
              <a:spcAft>
                <a:spcPts val="1000"/>
              </a:spcAft>
            </a:pPr>
            <a:r>
              <a:rPr sz="1500" b="0">
                <a:solidFill>
                  <a:srgbClr val="5A6672"/>
                </a:solidFill>
                <a:latin typeface="Malgun Gothic"/>
                <a:ea typeface="Malgun Gothic"/>
                <a:cs typeface="Malgun Gothic"/>
              </a:rPr>
              <a:t>ADDRESS는 CMAN, CONNECT_DATA는 최종 서비스</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E6E6E6"/>
                </a:solidFill>
                <a:latin typeface="Consolas"/>
                <a:ea typeface="Consolas"/>
                <a:cs typeface="Consolas"/>
              </a:rPr>
              <a:t>finance=</a:t>
            </a:r>
          </a:p>
          <a:p>
            <a:pPr>
              <a:lnSpc>
                <a:spcPct val="100000"/>
              </a:lnSpc>
              <a:spcAft>
                <a:spcPts val="0"/>
              </a:spcAft>
            </a:pPr>
            <a:r>
              <a:rPr sz="1200">
                <a:solidFill>
                  <a:srgbClr val="E6E6E6"/>
                </a:solidFill>
                <a:latin typeface="Consolas"/>
                <a:ea typeface="Consolas"/>
                <a:cs typeface="Consolas"/>
              </a:rPr>
              <a:t>  (DESCRIPTION=</a:t>
            </a:r>
          </a:p>
          <a:p>
            <a:pPr>
              <a:lnSpc>
                <a:spcPct val="100000"/>
              </a:lnSpc>
              <a:spcAft>
                <a:spcPts val="0"/>
              </a:spcAft>
            </a:pPr>
            <a:r>
              <a:rPr sz="1200">
                <a:solidFill>
                  <a:srgbClr val="E6E6E6"/>
                </a:solidFill>
                <a:latin typeface="Consolas"/>
                <a:ea typeface="Consolas"/>
                <a:cs typeface="Consolas"/>
              </a:rPr>
              <a:t>    (ADDRESS=(PROTOCOL=tcp)(HOST=cman-serv)(PORT=1521))</a:t>
            </a:r>
          </a:p>
          <a:p>
            <a:pPr>
              <a:lnSpc>
                <a:spcPct val="100000"/>
              </a:lnSpc>
              <a:spcAft>
                <a:spcPts val="0"/>
              </a:spcAft>
            </a:pPr>
            <a:r>
              <a:rPr sz="1200">
                <a:solidFill>
                  <a:srgbClr val="E6E6E6"/>
                </a:solidFill>
                <a:latin typeface="Consolas"/>
                <a:ea typeface="Consolas"/>
                <a:cs typeface="Consolas"/>
              </a:rPr>
              <a:t>    (CONNECT_DATA=(SERVICE_NAME=FINDB01)))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데이터베이스 서버 구성(REMOTE_LISTENER)</a:t>
            </a:r>
          </a:p>
        </p:txBody>
      </p:sp>
      <p:sp>
        <p:nvSpPr>
          <p:cNvPr id="4" name="TextBox 3"/>
          <p:cNvSpPr txBox="1"/>
          <p:nvPr/>
        </p:nvSpPr>
        <p:spPr>
          <a:xfrm>
            <a:off x="640080" y="1143000"/>
            <a:ext cx="10881360" cy="457200"/>
          </a:xfrm>
          <a:prstGeom prst="rect">
            <a:avLst/>
          </a:prstGeom>
          <a:noFill/>
        </p:spPr>
        <p:txBody>
          <a:bodyPr wrap="square">
            <a:spAutoFit/>
          </a:bodyPr>
          <a:lstStyle/>
          <a:p>
            <a:pPr algn="l">
              <a:lnSpc>
                <a:spcPct val="115000"/>
              </a:lnSpc>
              <a:spcAft>
                <a:spcPts val="1000"/>
              </a:spcAft>
            </a:pPr>
            <a:r>
              <a:rPr sz="1500" b="0">
                <a:solidFill>
                  <a:srgbClr val="5A6672"/>
                </a:solidFill>
                <a:latin typeface="Malgun Gothic"/>
                <a:ea typeface="Malgun Gothic"/>
                <a:cs typeface="Malgun Gothic"/>
              </a:rPr>
              <a:t>CMAN을 원격 리스너로 등록</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cs typeface="Consolas"/>
              </a:rPr>
              <a:t>-- (DB 서버) tnsnames.ora: CMAN을 원격 리스너 별칭으로 정의</a:t>
            </a:r>
          </a:p>
          <a:p>
            <a:pPr>
              <a:lnSpc>
                <a:spcPct val="100000"/>
              </a:lnSpc>
              <a:spcAft>
                <a:spcPts val="0"/>
              </a:spcAft>
            </a:pPr>
            <a:r>
              <a:rPr sz="1200">
                <a:solidFill>
                  <a:srgbClr val="E6E6E6"/>
                </a:solidFill>
                <a:latin typeface="Consolas"/>
                <a:ea typeface="Consolas"/>
                <a:cs typeface="Consolas"/>
              </a:rPr>
              <a:t>listener_cman01=</a:t>
            </a:r>
          </a:p>
          <a:p>
            <a:pPr>
              <a:lnSpc>
                <a:spcPct val="100000"/>
              </a:lnSpc>
              <a:spcAft>
                <a:spcPts val="0"/>
              </a:spcAft>
            </a:pPr>
            <a:r>
              <a:rPr sz="1200">
                <a:solidFill>
                  <a:srgbClr val="E6E6E6"/>
                </a:solidFill>
                <a:latin typeface="Consolas"/>
                <a:ea typeface="Consolas"/>
                <a:cs typeface="Consolas"/>
              </a:rPr>
              <a:t>  (DESCRIPTION=</a:t>
            </a:r>
          </a:p>
          <a:p>
            <a:pPr>
              <a:lnSpc>
                <a:spcPct val="100000"/>
              </a:lnSpc>
              <a:spcAft>
                <a:spcPts val="0"/>
              </a:spcAft>
            </a:pPr>
            <a:r>
              <a:rPr sz="1200">
                <a:solidFill>
                  <a:srgbClr val="E6E6E6"/>
                </a:solidFill>
                <a:latin typeface="Consolas"/>
                <a:ea typeface="Consolas"/>
                <a:cs typeface="Consolas"/>
              </a:rPr>
              <a:t>    (ADDRESS=(PROTOCOL=tcp)(HOST=proxyserver1)(PORT=1521)))</a:t>
            </a:r>
          </a:p>
          <a:p>
            <a:pPr>
              <a:lnSpc>
                <a:spcPct val="100000"/>
              </a:lnSpc>
              <a:spcAft>
                <a:spcPts val="0"/>
              </a:spcAft>
            </a:pPr>
            <a:r>
              <a:rPr sz="1200">
                <a:solidFill>
                  <a:srgbClr val="E6E6E6"/>
                </a:solidFill>
                <a:latin typeface="Consolas"/>
                <a:ea typeface="Consolas"/>
                <a:cs typeface="Consolas"/>
              </a:rPr>
              <a:t> </a:t>
            </a:r>
          </a:p>
          <a:p>
            <a:pPr>
              <a:lnSpc>
                <a:spcPct val="100000"/>
              </a:lnSpc>
              <a:spcAft>
                <a:spcPts val="0"/>
              </a:spcAft>
            </a:pPr>
            <a:r>
              <a:rPr sz="1200">
                <a:solidFill>
                  <a:srgbClr val="7EC699"/>
                </a:solidFill>
                <a:latin typeface="Consolas"/>
                <a:ea typeface="Consolas"/>
                <a:cs typeface="Consolas"/>
              </a:rPr>
              <a:t>-- 초기화 파라미터: 인스턴스가 CMAN에 서비스 등록</a:t>
            </a:r>
          </a:p>
          <a:p>
            <a:pPr>
              <a:lnSpc>
                <a:spcPct val="100000"/>
              </a:lnSpc>
              <a:spcAft>
                <a:spcPts val="0"/>
              </a:spcAft>
            </a:pPr>
            <a:r>
              <a:rPr sz="1200">
                <a:solidFill>
                  <a:srgbClr val="E6E6E6"/>
                </a:solidFill>
                <a:latin typeface="Consolas"/>
                <a:ea typeface="Consolas"/>
                <a:cs typeface="Consolas"/>
              </a:rPr>
              <a:t>REMOTE_LISTENER=listener_cman01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데이터베이스 서버 멀티플렉싱 구성</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DISPATCHERS 파라미터에 PROTOCOL과 MULTIPLEX 속성 설정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DISPATCHERS="(PROTOCOL=TCP)(MULTIPLEX=ON)"</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MULTIPLEX 값: 1/ON/YES/TRUE/BOTH(양방향) · IN(수신만) · OUT(발신만) · 0/NO/OFF/FALSE(끔)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ALTER SYSTEM으로 동적 활성화 불가 → SPFILE 반영 후 인스턴스 재시작 필요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디스패처(공유 서버)가 함께 구성되어야 실제 멀티플렉싱 발생</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13.14</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CMCTL 유틸리티 사용법</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CMCTL command [process_type]</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cman · cm · adm</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START · STOP · SHOW · STATUS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CMCTL 유틸리티</a:t>
            </a:r>
          </a:p>
        </p:txBody>
      </p:sp>
      <p:sp>
        <p:nvSpPr>
          <p:cNvPr id="4" name="TextBox 3"/>
          <p:cNvSpPr txBox="1"/>
          <p:nvPr/>
        </p:nvSpPr>
        <p:spPr>
          <a:xfrm>
            <a:off x="640080" y="1143000"/>
            <a:ext cx="10881360" cy="457200"/>
          </a:xfrm>
          <a:prstGeom prst="rect">
            <a:avLst/>
          </a:prstGeom>
          <a:noFill/>
        </p:spPr>
        <p:txBody>
          <a:bodyPr wrap="square">
            <a:spAutoFit/>
          </a:bodyPr>
          <a:lstStyle/>
          <a:p>
            <a:pPr algn="l">
              <a:lnSpc>
                <a:spcPct val="115000"/>
              </a:lnSpc>
              <a:spcAft>
                <a:spcPts val="1000"/>
              </a:spcAft>
            </a:pPr>
            <a:r>
              <a:rPr sz="1500" b="0">
                <a:solidFill>
                  <a:srgbClr val="5A6672"/>
                </a:solidFill>
                <a:latin typeface="Malgun Gothic"/>
                <a:ea typeface="Malgun Gothic"/>
                <a:cs typeface="Malgun Gothic"/>
              </a:rPr>
              <a:t>대화형 CMCTL&gt; 프롬프트로 CMAN 관리</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cs typeface="Consolas"/>
              </a:rPr>
              <a:t>-- CMAN01 관리자로 진입해 게이트웨이+관리 프로세스 시작</a:t>
            </a:r>
          </a:p>
          <a:p>
            <a:pPr>
              <a:lnSpc>
                <a:spcPct val="100000"/>
              </a:lnSpc>
              <a:spcAft>
                <a:spcPts val="0"/>
              </a:spcAft>
            </a:pPr>
            <a:r>
              <a:rPr sz="1200">
                <a:solidFill>
                  <a:srgbClr val="E6E6E6"/>
                </a:solidFill>
                <a:latin typeface="Consolas"/>
                <a:ea typeface="Consolas"/>
                <a:cs typeface="Consolas"/>
              </a:rPr>
              <a:t>$ cmctl</a:t>
            </a:r>
          </a:p>
          <a:p>
            <a:pPr>
              <a:lnSpc>
                <a:spcPct val="100000"/>
              </a:lnSpc>
              <a:spcAft>
                <a:spcPts val="0"/>
              </a:spcAft>
            </a:pPr>
            <a:r>
              <a:rPr sz="1200">
                <a:solidFill>
                  <a:srgbClr val="E6E6E6"/>
                </a:solidFill>
                <a:latin typeface="Consolas"/>
                <a:ea typeface="Consolas"/>
                <a:cs typeface="Consolas"/>
              </a:rPr>
              <a:t>CMCTL&gt; administer cman01</a:t>
            </a:r>
          </a:p>
          <a:p>
            <a:pPr>
              <a:lnSpc>
                <a:spcPct val="100000"/>
              </a:lnSpc>
              <a:spcAft>
                <a:spcPts val="0"/>
              </a:spcAft>
            </a:pPr>
            <a:r>
              <a:rPr sz="1200">
                <a:solidFill>
                  <a:srgbClr val="E6E6E6"/>
                </a:solidFill>
                <a:latin typeface="Consolas"/>
                <a:ea typeface="Consolas"/>
                <a:cs typeface="Consolas"/>
              </a:rPr>
              <a:t>CMCTL&gt; startup</a:t>
            </a:r>
          </a:p>
          <a:p>
            <a:pPr>
              <a:lnSpc>
                <a:spcPct val="100000"/>
              </a:lnSpc>
              <a:spcAft>
                <a:spcPts val="0"/>
              </a:spcAft>
            </a:pPr>
            <a:r>
              <a:rPr sz="1200">
                <a:solidFill>
                  <a:srgbClr val="E6E6E6"/>
                </a:solidFill>
                <a:latin typeface="Consolas"/>
                <a:ea typeface="Consolas"/>
                <a:cs typeface="Consolas"/>
              </a:rPr>
              <a:t> </a:t>
            </a:r>
          </a:p>
          <a:p>
            <a:pPr>
              <a:lnSpc>
                <a:spcPct val="100000"/>
              </a:lnSpc>
              <a:spcAft>
                <a:spcPts val="0"/>
              </a:spcAft>
            </a:pPr>
            <a:r>
              <a:rPr sz="1200">
                <a:solidFill>
                  <a:srgbClr val="7EC699"/>
                </a:solidFill>
                <a:latin typeface="Consolas"/>
                <a:ea typeface="Consolas"/>
                <a:cs typeface="Consolas"/>
              </a:rPr>
              <a:t>-- 상태 확인</a:t>
            </a:r>
          </a:p>
          <a:p>
            <a:pPr>
              <a:lnSpc>
                <a:spcPct val="100000"/>
              </a:lnSpc>
              <a:spcAft>
                <a:spcPts val="0"/>
              </a:spcAft>
            </a:pPr>
            <a:r>
              <a:rPr sz="1200">
                <a:solidFill>
                  <a:srgbClr val="E6E6E6"/>
                </a:solidFill>
                <a:latin typeface="Consolas"/>
                <a:ea typeface="Consolas"/>
                <a:cs typeface="Consolas"/>
              </a:rPr>
              <a:t>CMCTL&gt; show status</a:t>
            </a:r>
          </a:p>
          <a:p>
            <a:pPr>
              <a:lnSpc>
                <a:spcPct val="100000"/>
              </a:lnSpc>
              <a:spcAft>
                <a:spcPts val="0"/>
              </a:spcAft>
            </a:pPr>
            <a:r>
              <a:rPr sz="1200">
                <a:solidFill>
                  <a:srgbClr val="E6E6E6"/>
                </a:solidFill>
                <a:latin typeface="Consolas"/>
                <a:ea typeface="Consolas"/>
                <a:cs typeface="Consolas"/>
              </a:rPr>
              <a:t> </a:t>
            </a:r>
          </a:p>
          <a:p>
            <a:pPr>
              <a:lnSpc>
                <a:spcPct val="100000"/>
              </a:lnSpc>
              <a:spcAft>
                <a:spcPts val="0"/>
              </a:spcAft>
            </a:pPr>
            <a:r>
              <a:rPr sz="1200">
                <a:solidFill>
                  <a:srgbClr val="7EC699"/>
                </a:solidFill>
                <a:latin typeface="Consolas"/>
                <a:ea typeface="Consolas"/>
                <a:cs typeface="Consolas"/>
              </a:rPr>
              <a:t>-- 게이트웨이만 남기고 관리 프로세스 중지</a:t>
            </a:r>
          </a:p>
          <a:p>
            <a:pPr>
              <a:lnSpc>
                <a:spcPct val="100000"/>
              </a:lnSpc>
              <a:spcAft>
                <a:spcPts val="0"/>
              </a:spcAft>
            </a:pPr>
            <a:r>
              <a:rPr sz="1200">
                <a:solidFill>
                  <a:srgbClr val="E6E6E6"/>
                </a:solidFill>
                <a:latin typeface="Consolas"/>
                <a:ea typeface="Consolas"/>
                <a:cs typeface="Consolas"/>
              </a:rPr>
              <a:t>CMCTL&gt; shutdown adm</a:t>
            </a:r>
          </a:p>
          <a:p>
            <a:pPr>
              <a:lnSpc>
                <a:spcPct val="100000"/>
              </a:lnSpc>
              <a:spcAft>
                <a:spcPts val="0"/>
              </a:spcAft>
            </a:pPr>
            <a:r>
              <a:rPr sz="1200">
                <a:solidFill>
                  <a:srgbClr val="E6E6E6"/>
                </a:solidFill>
                <a:latin typeface="Consolas"/>
                <a:ea typeface="Consolas"/>
                <a:cs typeface="Consolas"/>
              </a:rPr>
              <a:t>CMCTL&gt; exit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Oracle Connection Manager 기능 정리</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접근 제어: cman.ora의 CMAN_RULES(RULE_LIST)로 필터링 규칙 지정 → 클라이언트 접근 허용/제한</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세션 멀티플렉싱: DISPATCHERS에 PROTOCOL·MULTIPLEX 추가, MULTIPLEX=ON</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접근 제어는 CMAN 서버(cman.ora)에서, 멀티플렉싱은 DB 서버(초기화 파라미터)에서 활성화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두 기능은 하나의 CMAN에서 동시에 사용 가능 — '신뢰 소스만, 효율적 경로로'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lgn="l">
              <a:lnSpc>
                <a:spcPct val="115000"/>
              </a:lnSpc>
              <a:spcAft>
                <a:spcPts val="1000"/>
              </a:spcAft>
            </a:pPr>
            <a:r>
              <a:rPr sz="6600" b="1">
                <a:solidFill>
                  <a:srgbClr val="C0392B"/>
                </a:solidFill>
                <a:latin typeface="Malgun Gothic"/>
                <a:ea typeface="Malgun Gothic"/>
                <a:cs typeface="Malgun Gothic"/>
              </a:rPr>
              <a:t>Quiz</a:t>
            </a:r>
          </a:p>
        </p:txBody>
      </p:sp>
      <p:sp>
        <p:nvSpPr>
          <p:cNvPr id="3" name="TextBox 2"/>
          <p:cNvSpPr txBox="1"/>
          <p:nvPr/>
        </p:nvSpPr>
        <p:spPr>
          <a:xfrm>
            <a:off x="822960" y="2743200"/>
            <a:ext cx="10515600" cy="1097280"/>
          </a:xfrm>
          <a:prstGeom prst="rect">
            <a:avLst/>
          </a:prstGeom>
          <a:noFill/>
        </p:spPr>
        <p:txBody>
          <a:bodyPr wrap="square">
            <a:spAutoFit/>
          </a:bodyPr>
          <a:lstStyle/>
          <a:p>
            <a:pPr algn="l">
              <a:lnSpc>
                <a:spcPct val="115000"/>
              </a:lnSpc>
              <a:spcAft>
                <a:spcPts val="1000"/>
              </a:spcAft>
            </a:pPr>
            <a:r>
              <a:rPr sz="3400" b="1">
                <a:solidFill>
                  <a:srgbClr val="FFFFFF"/>
                </a:solidFill>
                <a:latin typeface="Malgun Gothic"/>
                <a:ea typeface="Malgun Gothic"/>
                <a:cs typeface="Malgun Gothic"/>
              </a:rPr>
              <a:t>확인 학습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핵심 개념 점검</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6개 문항</a:t>
            </a:r>
          </a:p>
          <a:p>
            <a:pPr>
              <a:lnSpc>
                <a:spcPct val="115000"/>
              </a:lnSpc>
              <a:spcAft>
                <a:spcPts val="800"/>
              </a:spcAft>
            </a:pPr>
            <a:r>
              <a:rPr sz="1600">
                <a:solidFill>
                  <a:srgbClr val="C5CED6"/>
                </a:solidFill>
                <a:latin typeface="Malgun Gothic"/>
                <a:ea typeface="Malgun Gothic"/>
                <a:cs typeface="Malgun Gothic"/>
              </a:rPr>
              <a:t>•  </a:t>
            </a:r>
            <a:r>
              <a:rPr sz="1600">
                <a:solidFill>
                  <a:srgbClr val="C5CED6"/>
                </a:solidFill>
                <a:latin typeface="Malgun Gothic"/>
                <a:ea typeface="Malgun Gothic"/>
                <a:cs typeface="Malgun Gothic"/>
              </a:rPr>
              <a:t>정답은 본문 13.16 참조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확인 학습 (1/2)</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Q1. CMAN의 세 가지 주요 기능은? → 세션 멀티플렉싱, 규칙 기반 접근 제어, 프로토콜 변환</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Q2. CMGW와 CMADMIN의 역할 차이는? → CMGW는 트래픽 처리·멀티플렉싱, CMADMIN은 관리 기능</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Q3. cman.ora의 세 영역은? → ADDRESS(필수), RULE_LIST(규칙), PARAMETER_LIST(동작)</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확인 학습 (2/2)</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Q4. ACT에 지정 가능한 값과 차이는? → accept(허용), reject(거부·오류 반환), drop(응답 없이 폐기)</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Q5. DB에서 멀티플렉싱을 켜는 법과 제약은? → DISPATCHERS의 MULTIPLEX=ON, 동적 불가·재시작 필요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Q6. 클라이언트와 DB 서버는 각각 무엇을 설정? → 클라이언트 tnsnames.ora ADDRESS=CMAN, DB REMOTE_LISTENER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요약 (Summary)</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CMAN은 클라이언트와 DB 서버 사이의 프록시 — 멀티플렉싱·접근 제어·프로토콜 변환</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게이트웨이(CMGW)와 관리(CMADMIN) 프로세스, 리스너가 협력해 연결을 평가·중계·다중화</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접근 제어는 cman.ora의 RULE_LIST(SRC/DST/SRV/ACT)로 구현 — 인트라넷·인터넷 통제</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세션 멀티플렉싱은 DISPATCHERS의 PROTOCOL·MULTIPLEX로 활성화 — 동적 변경 불가</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구성 3단계(cman.ora → 클라이언트 → DB 서버) + CMCTL로 시작·중지·모니터링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lgn="l">
              <a:lnSpc>
                <a:spcPct val="115000"/>
              </a:lnSpc>
              <a:spcAft>
                <a:spcPts val="1000"/>
              </a:spcAft>
            </a:pPr>
            <a:r>
              <a:rPr sz="2600" b="1">
                <a:solidFill>
                  <a:srgbClr val="FFFFFF"/>
                </a:solidFill>
                <a:latin typeface="Malgun Gothic"/>
                <a:ea typeface="Malgun Gothic"/>
                <a:cs typeface="Malgun Gothic"/>
              </a:rPr>
              <a:t>실습 개요 (Practice Overview)</a:t>
            </a:r>
          </a:p>
        </p:txBody>
      </p:sp>
      <p:sp>
        <p:nvSpPr>
          <p:cNvPr id="4" name="TextBox 3"/>
          <p:cNvSpPr txBox="1"/>
          <p:nvPr/>
        </p:nvSpPr>
        <p:spPr>
          <a:xfrm>
            <a:off x="640080" y="1280160"/>
            <a:ext cx="10881360" cy="5394960"/>
          </a:xfrm>
          <a:prstGeom prst="rect">
            <a:avLst/>
          </a:prstGeom>
          <a:noFill/>
        </p:spPr>
        <p:txBody>
          <a:bodyPr wrap="square">
            <a:spAutoFit/>
          </a:bodyPr>
          <a:lstStyle/>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01 — cman.ora 파일 구성(ADDRESS/RULE_LIST/PARAMETER_LIST)</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02 — CMAN_RULES로 접근 제어 필터링 규칙(SRC/DST/ACT) 설정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03 — 클라이언트 tnsnames.ora에 Connection Manager 주소 설정</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04 — 데이터베이스 서버에 REMOTE_LISTENER로 Connection Manager 등록</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05 — DISPATCHERS의 MULTIPLEX 속성으로 세션 멀티플렉싱 구성</a:t>
            </a:r>
          </a:p>
          <a:p>
            <a:pPr algn="l">
              <a:lnSpc>
                <a:spcPct val="115000"/>
              </a:lnSpc>
              <a:spcAft>
                <a:spcPts val="1000"/>
              </a:spcAft>
            </a:pPr>
            <a:r>
              <a:rPr sz="1800">
                <a:solidFill>
                  <a:srgbClr val="C0392B"/>
                </a:solidFill>
                <a:latin typeface="Malgun Gothic"/>
                <a:ea typeface="Malgun Gothic"/>
                <a:cs typeface="Malgun Gothic"/>
              </a:rPr>
              <a:t>•  </a:t>
            </a:r>
            <a:r>
              <a:rPr sz="1800">
                <a:solidFill>
                  <a:srgbClr val="202830"/>
                </a:solidFill>
                <a:latin typeface="Malgun Gothic"/>
                <a:ea typeface="Malgun Gothic"/>
                <a:cs typeface="Malgun Gothic"/>
              </a:rPr>
              <a:t>실습 06 — CMCTL 유틸리티로 Connection Manager 시작/중지/상태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
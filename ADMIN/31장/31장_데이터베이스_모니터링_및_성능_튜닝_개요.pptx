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 관리는 단발성이 아니라 데이터베이스 수명주기 전체에 걸친 반복 활동이다. 개입 시점을 기준으로 사전 예방적 튜닝과 사후 대응적 튜닝으로 나뉜다. 사전 예방적 튜닝은 문제가 사용자에게 체감되기 전에 추세와 통계를 관찰해 잠재적 병목을 미리 제거하는 활동으로, 계획된 시간에 충분한 데이터를 근거로 낮은 리스크로 수행된다. 사후 대응적 튜닝은 이미 성능 저하가 발생한 뒤 원인을 찾는 활동으로 시간 압박이 크고 근본 원인을 놓칠 위험이 있으며, 진단 데이터가 이미 유실되었을 수 있다. 그래서 AWR처럼 성능 통계를 상시 자동 수집·보존하는 인프라가 결정적이다. 성숙한 조직일수록 사후 대응을 줄이고 사전 예방을 늘린다.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 튜닝은 애플리케이션 계층, 인스턴스 계층, 운영체제·스토리지 계층으로 나눌 수 있다. 경험적으로 성능 문제의 대부분은 애플리케이션 계층에서 비롯되며, 비효율적 SQL 한 문장이 시스템 전체를 마비시킬 수 있다. 따라서 투자 대비 효과는 대체로 애플리케이션 계층이 가장 크고, 다음이 인스턴스 구성, 마지막이 하드웨어 증설 순이다. Oracle의 ADDM도 이 우선순위를 반영해 상위 SQL 문제를 먼저 지목하도록 설계되어 있다. 또한 성능 관리는 기준선과 측정 지표를 전제로 한다. 정상 상태의 응답시간·처리량·자원 사용률을 평소에 기록해 두어야 문제 발생 시 정상에서 얼마나 벗어났는지 객관적으로 판단할 수 있으며, 여기서 AWR과 베이스라인이 토대가 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 문제의 상당수는 운영이 아니라 설계·계획 단계에서 이미 결정된다. 첫째, 서비스 수준 목표(SLA)를 구체적 수치로 정의해야 한다. '빠르게'가 아니라 '95퍼센타일 응답시간 0.5초 이내, 시간당 20만 건 이상'처럼 측정 가능해야 튜닝의 성공을 판정할 수 있다. SLA는 응답시간과 처리량 두 축으로 표현되며 OLTP는 응답시간, 배치·DW는 처리량을 우선한다. 둘째, 운영과 유사한 규모·분포의 데이터로 워크로드를 테스트해야 한다. 옵티마이저의 실행 계획은 데이터 볼륨과 분포에 민감하기 때문이다. 셋째, 확장성 저해 요인을 설계 단계에서 제거해야 한다. 넷째, 하드웨어 자원을 워크로드에 맞게 균형 있게 산정해야 하며, 한 자원이 병목이 되면 나머지가 넉넉해도 전체가 그 병목에 묶인다.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성능 계획의 또 다른 축은 검증과 배포·롤아웃 전략이다. 패치·업그레이드·파라미터 조정 같은 변경이 운영 워크로드에 미칠 영향은 반드시 배포 전에 검증해야 한다. Oracle은 이를 위해 Real Application Testing(Database Replay와 SQL Performance Analyzer)을 제공하여, 실제 운영 워크로드를 캡처해 변경 후 환경에서 재생하거나 SQL 집합의 실행 계획 변화를 배포 전에 비교할 수 있다. 배포 방식으로는 소수 사용자로 시작해 점진적으로 확대하는 파일럿 방식이 전면 일괄 배포보다 안전하다. 문제가 소규모일 때 발견해 저비용으로 교정할 수 있기 때문이다. 배포 직후 초기에는 옵티마이저 통계가 안정화되지 않아 실행 계획이 흔들릴 수 있으므로, 초기 며칠은 AWR을 근거로 성능을 특히 면밀히 관찰해야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AWR은 데이터베이스의 성능 통계와 워크로드 정보를 주기적으로 수집·저장하는 내장 저장소로, 성능 진단의 기억 장치에 해당한다. 데이터베이스는 실행 중 수많은 통계를 SGA의 동적 성능 뷰(V$)에 실시간 축적하지만, 이 값은 인스턴스 재시작 시 사라지고 계속 변한다. AWR은 이 휘발성 통계를 일정 간격으로 스냅샷으로 떠 SYSAUX 테이블스페이스에 영구 저장한다. 수집 주체는 MMON 백그라운드 프로세스로 기본 60분마다 스냅샷을 생성하고 기본 8일간 보존한 뒤 오래된 것부터 자동 제거한다. AWR이 정상 동작하려면 STATISTICS_LEVEL이 TYPICAL 또는 ALL이어야 하며, BASIC으로 낮추면 AWR과 ADDM을 포함한 상위 진단 기능이 모두 멈춘다. 또한 AWR 사용에는 Diagnostics Pack 라이선스가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 Time은 데이터베이스가 사용자 요청을 처리하기 위해 소비한 총 시간으로, 모든 활성 세션이 CPU에서 실제로 일한 시간과 무언가를 기다린 시간을 합산한 값이다. 벽시계 시간이 1시간이라도 동시에 여러 세션이 활발히 일했다면 DB Time은 그보다 훨씬 클 수 있다. DB Time은 시간 모델 통계의 최상위 지표로서 AWR·ADDM이 성능을 판단하는 공통 화폐 역할을 하며, 서로 다른 문제를 'DB Time을 몇 % 소비했는가'라는 하나의 척도로 비교할 수 있게 해 준다. ASH(Active Session History)는 활성 세션 상태를 기본 1초 주기로 샘플링해 순환 버퍼에 저장하는 기능으로, 요약을 60분마다 축적하는 AWR과 달리 세션 단위의 세밀한 순간을 포착한다. AWR이 거시적 요약이라면 ASH는 미시적 순간 포착이며 둘은 상호 보완적으로 쓰인다.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스냅샷은 특정 시점의 누적 성능 통계를 한 번 떠 놓은 것으로, 각 스냅샷에는 고유한 SNAP_ID와 생성 시각(BEGIN/END_INTERVAL_TIME)이 부여된다. 성능 분석은 본질적으로 두 시점 사이에 무엇이 얼마나 변했는가를 보는 작업이므로, 시작 스냅샷과 종료 스냅샷 두 개를 지정해 그 사이 구간을 분석한다. 예를 들어 SNAP_ID 101(오후 2시)과 102(오후 3시)를 지정하면 그 한 시간 동안의 대기·SQL·통계 변화량을 계산한다. 대부분의 스냅샷은 MMON이 60분마다 자동 생성하지만, DBA가 대형 배치 직전·직후처럼 특정 이벤트 구간을 정밀하게 포착하고 싶을 때는 수동으로 스냅샷을 생성할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수동 스냅샷은 DBMS_WORKLOAD_REPOSITORY.CREATE_SNAPSHOT 프로시저(또는 동일 이름의 함수)로 생성한다. 함수 형태를 쓰면 생성된 SNAP_ID를 반환값으로 받을 수 있다. 스냅샷 간격과 보존 기간은 MODIFY_SNAPSHOT_SETTINGS로 변경하며 interval과 retention은 모두 분 단위로 지정한다. 간격을 짧게 하면 더 세밀한 진단이 가능하지만 SYSAUX 공간과 수집 오버헤드가 늘고, 보존 기간을 늘리면 장기 추세 분석에 유리하지만 저장 공간이 더 필요하다. 변경 결과는 DBA_HIST_WR_CONTROL 뷰로, 보관 중인 스냅샷 목록은 DBA_HIST_SNAPSHOT 뷰로 확인한다. 잘못 생성했거나 불필요한 구간은 DROP_SNAPSHOT_RANGE로 삭제한다. 멀티테넌트에서 이 프로시저들은 실행한 컨테이너 범위에 적용된다.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베이스라인은 정상적이라고 판단되는 기간의 스냅샷 집합에 이름을 붙여 보존해 둔 기준선이다. 성능이 좋았던 시기의 통계를 베이스라인으로 저장해 두면 나중에 성능이 의심스러울 때 지금 값이 정상 기준선과 얼마나 다른지 비교할 수 있다. 베이스라인에 포함된 스냅샷은 일반 보존 정책(8일)이 지나도 자동 삭제되지 않아, 기준 데이터를 유실로부터 보호한다. 베이스라인은 두 종류다. 고정 베이스라인은 특정 스냅샷 구간을 명시적으로 지정해 이름 붙인 것으로 대표적 정상 워크로드를 저장하며, 이동 윈도우 베이스라인은 AWR 보존 기간 전체를 하나의 움직이는 창으로 보는 시스템 기본 베이스라인(SYSTEM_MOVING_WINDOW)으로 적응형 임계값 계산의 기준이 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고정 베이스라인은 CREATE_BASELINE 프로시저에 시작·종료 SNAP_ID와 이름을 지정해 생성한다. 예를 들어 성능이 양호했던 지난달 마감 구간을 MONTH_END_PEAK라는 고정 베이스라인으로 저장해 두면, 이번 달 마감이 느려졌을 때 같은 성격의 정상 기준선과 직접 비교해 무엇이 얼마나 나빠졌는지 정량적으로 판단할 수 있다. 생성된 베이스라인은 DBA_HIST_BASELINE 뷰로 조회하며 baseline_type으로 고정/이동 윈도우를 구분한다. 이동 윈도우 베이스라인의 크기는 MODIFY_BASELINE_WINDOW_SIZE로 조정하되 AWR 보존 기간 이내여야 하므로, 더 넓히려면 보존 기간도 함께 늘려야 한다. 베이스라인은 서버 생성 알림의 적응형 임계값 계산에도 활용되어, 시간대별 정상 범위가 다른 환경에서 상대적 기준으로 더 정확한 경보를 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ADDM은 AWR에 저장된 스냅샷을 자동으로 분석해 데이터베이스의 성능 병목을 진단하고 개선안을 제시하는 자기 진단 엔진이다. AWR이 데이터를 모으는 역할이라면 ADDM은 그 데이터를 해석하는 역할이다. ADDM은 두 스냅샷 사이 구간을 대상으로, 데이터베이스가 소비한 총 시간을 나타내는 DB Time을 최상위 지표로 삼아 그 시간을 가장 많이 잡아먹은 요인부터 순서대로 찾아낸다. 즉 ADDM의 목표는 DB Time을 줄이는 것이며 사용자 응답시간에 실제로 영향을 준 문제에 집중한다. ADDM은 별도 지시 없이도 자동 동작한다. AWR 스냅샷이 생성될 때마다 MMON이 직전 스냅샷과 방금 생성된 스냅샷을 대상으로 ADDM 분석을 자동 수행하고 결과를 저장하므로, 데이터베이스에는 항상 최근 구간의 진단 결과가 준비되어 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ADDM이 진단하는 대표적 문제 영역에는 CPU 병목, I/O 용량 문제, 과도한 하드 파싱과 라이브러리 캐시 경합, 잠금·래치 경합, 비효율적 상위 SQL, 언두·리두 구성 문제, 메모리 크기 문제, RAC 인터커넥트 문제 등이 있다. ADDM의 진단 논리는 전문가의 진단 트리를 코드화한 것으로 하향식으로 DB Time을 분해한다. 최상위에서 시간을 CPU 시간과 대기 시간으로 나누고, 대기 시간을 다시 클래스별로 분해하며 원인을 좁혀 간다. 결과는 발견 사항(무엇이 문제인가), 권고(어떻게 고칠 것인가), 근거(왜 타당한가) 세 요소로 구조화되고 각 권고에는 예상 이득이 DB Time 비율로 표시된다. ADDM은 영향도가 미미한 항목을 자동 배제하므로 DBA가 눈에 띄는 통계 하나에 집착해 엉뚱한 곳에 시간을 쓰는 것을 막아 준다. 단 STATISTICS_LEVEL이 TYPICAL/ALL이고 AWR이 정상 동작할 때만 결과를 낸다.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ADDM 분석 결과는 여러 경로로 조회할 수 있다. 가장 간단한 방법은 Enterprise Manager의 성능 페이지에서 ADDM Findings를 확인하는 것으로 발견 사항이 영향도 순으로 시각화된다. 명령행에서는 DBMS_ADDM.ANALYZE_DB로 특정 스냅샷 구간에 대한 ADDM 태스크를 실행하고 DBMS_ADDM.GET_REPORT로 결과 리포트를 텍스트로 받는다. 태스크는 이름으로 관리되며 결과는 DBA_ADDM_TASKS·DBA_ADDM_FINDINGS 딕셔너리 뷰로도 조회한다. 리포트에는 각 발견 사항에 대해 소비된 DB Time 비율, 관련 권고, 그 권고가 타당한 이유가 담긴다. 예를 들어 상위 SQL이 DB Time을 많이 소비한다는 발견에는 SQL Tuning Advisor 실행을 권고하고, 버퍼 캐시가 작다는 발견에는 확대를 권고하는 식이다. 각 권고에 예상 개선 효과가 표시되므로 비용 대비 효과가 큰 것부터 실행한다.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멀티테넌트 환경에서 성능 진단은 오랫동안 CDB 전체 관점에서만 이루어졌다. AWR 스냅샷과 ADDM 분석이 CDB 루트에서 수집·수행되어 개별 PDB 관점의 독립 진단이 어려웠다. Oracle Database 19c는 PDB 수준의 AWR 수집과 자동 ADDM 분석을 지원해, 이제 각 PDB가 자체 스냅샷을 뜨고 자신의 워크로드에 대해 ADDM 진단을 자동 수행할 수 있다. PDB 수준 AWR 수집을 켜려면 해당 PDB에서 초기화 파라미터 AWR_PDB_AUTOFLUSH_ENABLED를 TRUE로 설정한다. 이 파라미터는 기본 FALSE이며 TRUE로 바꾸면 그 PDB의 스냅샷이 PDB 자체 SYSAUX에 주기적으로 autoflush된다. PDB의 AWR 데이터는 AWR_PDB_* 계열 뷰로 조회하고, 루트에서 수집한 데이터는 종전처럼 DBA_HIST_*/AWR_ROOT_* 뷰로 본다.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PDB 수준의 자동 ADDM 분석은 DBMS_ADDM 패키지로 구성·실행한다. 데이터베이스 전체를 대상으로 하는 ANALYZE_DB와 달리, 특정 인스턴스를 대상으로 하는 ANALYZE_INST, 특정 PDB나 PDB 집합을 대상으로 하는 ANALYZE_PARTIAL 등이 제공되어 분석 범위를 세밀하게 지정할 수 있다. PDB 내부에서 실행하는 ADDM은 그 PDB의 AWR 스냅샷을 입력으로 삼아 해당 PDB 워크로드의 병목만 진단한다. 다만 CDB 루트 ADDM은 CDB 전체 관점의 병목을, PDB ADDM은 개별 PDB의 워크로드만 진단한다는 범위 차이가 있다. SGA 크기나 I/O 서브시스템처럼 CDB가 공유하는 자원에 대한 권고는 PDB ADDM 범위에 한계가 있어 여전히 루트 관점에서 검토해야 한다. 각 컨테이너에서 STATISTICS_LEVEL이 TYPICAL/ALL이어야 하고 Diagnostics Pack 라이선스가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Advisory Framework는 데이터베이스의 각 영역을 전문적으로 분석해 구체적 개선안을 제시하는 어드바이저들의 집합과, 이들을 공통 방식으로 실행·관리하는 API 체계다. ADDM이 무엇이 문제인지를 상위에서 지목한다면, 각 어드바이저는 지목된 영역을 깊이 파고들어 어떻게 고칠지를 제시한다. 모든 어드바이저는 DBMS_ADVISOR 공통 API를 통해 동일한 패턴으로 사용된다. 즉 태스크 생성(CREATE_TASK), 대상·옵션 설정(SET_TASK_PARAMETER), 실행(EXECUTE_TASK), 결과 조회(GET_TASK_REPORT)의 일관된 흐름을 따른다. 어드바이저마다 전용 래퍼 패키지가 있지만 그 바탕에는 DBMS_ADVISOR 프레임워크가 깔려 있다. 실행 이력과 결과는 DBA_ADVISOR_DEFINITIONS·TASKS·FINDINGS·RECOMMENDATIONS·ACTIONS 뷰에 공통 형식으로 저장되어 통일된 방식으로 조회·자동화할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Tuning Advisor는 단일 SQL을 깊이 분석하는 도구로 통계 분석, 액세스 경로 분석(인덱스 제안), SQL 구조 분석(재작성 제안), SQL 프로파일 생성을 수행한다. Automatic SQL Tuning Advisor는 이를 유지관리 윈도우에서 자동 실행해 상위 SQL을 스스로 튜닝하고 검증된 프로파일을 자동 적용하도록 구성할 수 있다. SQL Access Advisor는 개별 SQL이 아니라 워크로드 전체를 대상으로 어떤 인덱스·구체화 뷰·파티션을 만들면 전체 액세스 비용이 줄어드는지 설계 관점에서 조언한다. Segment Advisor는 세그먼트 내부의 빈 공간을 찾아 온라인 세그먼트 축소로 공간을 회수하도록 권고한다. Memory·Undo·MTTR Advisor는 각각 메모리 크기, 언두 보존, 복구 시간 목표라는 구성 파라미터를 조정했을 때의 효과를 시뮬레이션해 최적값 선택을 돕는 공통점이 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어드바이저를 선택하는 감각을 기르면 ADDM 권고가 없어도 증상만으로 적절한 도구를 떠올릴 수 있다. 특정 SQL 하나가 느리면 SQL Tuning Advisor, 신규 애플리케이션의 인덱스 설계를 통째로 검토하려면 SQL Access Advisor, 테이블스페이스 공간이 자꾸 부족하면 Segment Advisor, 버퍼 캐시를 늘릴지 말지 고민되면 Memory Advisor, 스냅샷 유지 관련 ORA-01555가 잦으면 Undo Advisor, 인스턴스 장애 후 복구가 오래 걸리면 MTTR Advisor를 떠올리는 식이다. 어드바이저와 ADDM의 관계를 정리하면, ADDM은 상위 진단자로서 DB Time을 어디서 쓰는지 보고 문제 영역과 조치할 어드바이저를 지목하고, 각 어드바이저는 영역별 전문가로서 지목된 영역을 깊이 분석해 구체적 개선안을 제시한다. 이 증상→어드바이저 대응표를 익히는 것이 33장 SQL 튜닝 실습의 준비 운동이 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효과적인 성능 튜닝은 명확한 절차를 반복하는 과정이다. 표준 절차는 문제 정의, 데이터 수집, 병목 식별, 해결책 적용, 검증의 다섯 단계로 요약되며, 검증 후에도 목표에 도달하지 못하면 다시 데이터를 수집하는 순환 구조를 이룬다. 1단계 문제 정의에서는 느리다는 막연한 호소를 어떤 작업이 언제 어느 정도로 무엇과 비교해 느린지 SLA에 비추어 측정 가능한 문제로 바꾼다. 2단계 데이터 수집에서는 AWR·ASH·ADDM·V$ 뷰·트레이스에서 문제 구간의 통계를 모으는데, 상시 AWR 수집이 있어야 사후에도 데이터를 얻을 수 있다. 4단계에서는 식별된 근본 원인 하나에 대해 가장 효과가 크고 리스크가 낮은 조치를 적용하되 한 번에 하나씩만 바꾼다. 여러 변경을 동시에 하면 어떤 변경이 효과나 부작용을 냈는지 구분할 수 없어 검증이 불가능해지기 때문이다. 5단계에서는 동일 지표를 재측정해 SLA 도달 여부를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3단계 병목 식별의 핵심 원칙이 Top-Down 접근이다. 서버 내부 통계부터 파고들지 말고 사용자가 실제로 체감하는 응답시간에서 출발해 그것을 구성하는 시간을 단계적으로 분해한다. 사용자 응답시간을 대기 시간과 서비스 시간으로 나누고, DB Time을 CPU 시간과 대기 시간으로 분해하며, 대기 시간을 다시 대기 클래스로 좁혀 가장 큰 조각부터 조사한다. 전체 시간의 1%밖에 안 되는 항목을 아무리 최적화해도 체감 개선은 없기 때문이다. 반대 개념인 Bottom-Up은 버퍼 캐시 적중률 같은 개별 카운터를 먼저 보는 방식인데, 비율 지표는 워크로드 맥락 없이는 의미가 없어 함정이 많다. 그래서 현대 Oracle 튜닝은 시간 기반 Top-Down 진단을 표준으로 삼는다. 이 방법론에서 AWR은 데이터 수집, ADDM은 병목 식별, Advisory Framework는 해결책 도출, 조치 후 새 스냅샷 구간의 ADDM 재분석은 검증을 담당하는 하나의 연속된 파이프라인을 이룬다.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퀴즈는 31장 전체의 핵심 개념을 점검한다. Q1은 사전 예방적 튜닝과 사후 대응적 튜닝의 구분을, Q2는 MMON 프로세스와 기본 60분 간격·8일 보존을, Q3은 STATISTICS_LEVEL이 BASIC이면 AWR·ADDM이 모두 비활성화된다는 전제를 확인한다. Q4는 DBMS_WORKLOAD_REPOSITORY.CREATE_SNAPSHOT과 MODIFY_SNAPSHOT_SETTINGS를, Q5는 DB Time이 최상위 지표이며 ADDM은 스냅샷 생성 직후 MMON에 의해 자동 실행된다는 점을, Q6은 AWR_PDB_AUTOFLUSH_ENABLED 파라미터와 AWR_PDB_ 접두어 뷰를 묻는다. 정답과 상세 해설은 실습문제 정답지를 참고한다.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a:spAutoFit/>
          </a:bodyPr>
          <a:lstStyle/>
          <a:p>
            <a:pPr algn="l">
              <a:spcAft>
                <a:spcPts val="600"/>
              </a:spcAft>
            </a:pPr>
            <a:r>
              <a:rPr sz="1600" b="1">
                <a:solidFill>
                  <a:srgbClr val="FFFFFF"/>
                </a:solidFill>
                <a:latin typeface="맑은 고딕"/>
              </a:rPr>
              <a:t>Oracle Database 19c: Administration Workshop</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spcAft>
                <a:spcPts val="800"/>
              </a:spcAft>
            </a:pPr>
            <a:r>
              <a:rPr sz="3400" b="1">
                <a:solidFill>
                  <a:srgbClr val="C0392B"/>
                </a:solidFill>
                <a:latin typeface="맑은 고딕"/>
              </a:rPr>
              <a:t>데이터베이스 모니터링 및 성능 튜닝 개요</a:t>
            </a:r>
          </a:p>
          <a:p>
            <a:pPr algn="l">
              <a:spcAft>
                <a:spcPts val="800"/>
              </a:spcAft>
            </a:pPr>
            <a:r>
              <a:rPr sz="2000" b="0">
                <a:solidFill>
                  <a:srgbClr val="5A6672"/>
                </a:solidFill>
                <a:latin typeface="맑은 고딕"/>
              </a:rPr>
              <a:t>Database Monitoring and Tuning Performance Overview</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spcAft>
                <a:spcPts val="600"/>
              </a:spcAft>
            </a:pPr>
            <a:r>
              <a:rPr sz="1500" b="0">
                <a:solidFill>
                  <a:srgbClr val="5A6672"/>
                </a:solidFill>
                <a:latin typeface="맑은 고딕"/>
              </a:rPr>
              <a:t>AWR · ADDM · Advisory Framework · Performance Tuning Methodology</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spcAft>
                <a:spcPts val="600"/>
              </a:spcAft>
            </a:pPr>
            <a:r>
              <a:rPr sz="2000" b="1">
                <a:solidFill>
                  <a:srgbClr val="C0392B"/>
                </a:solidFill>
                <a:latin typeface="맑은 고딕"/>
              </a:rPr>
              <a:t>제31장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700"/>
              </a:spcAft>
            </a:pPr>
            <a:r>
              <a:rPr sz="1600" b="0">
                <a:solidFill>
                  <a:srgbClr val="222222"/>
                </a:solidFill>
                <a:latin typeface="맑은 고딕"/>
              </a:rPr>
              <a:t>•  성능 관리를 사전 예방적/사후 대응적 튜닝으로 구분하고 개입 시점을 이해한다.</a:t>
            </a:r>
          </a:p>
          <a:p>
            <a:pPr algn="l">
              <a:spcAft>
                <a:spcPts val="700"/>
              </a:spcAft>
            </a:pPr>
            <a:r>
              <a:rPr sz="1600" b="0">
                <a:solidFill>
                  <a:srgbClr val="222222"/>
                </a:solidFill>
                <a:latin typeface="맑은 고딕"/>
              </a:rPr>
              <a:t>•  SLA·워크로드 테스트·확장성 등 성능 계획 고려사항을 설명한다.</a:t>
            </a:r>
          </a:p>
          <a:p>
            <a:pPr algn="l">
              <a:spcAft>
                <a:spcPts val="700"/>
              </a:spcAft>
            </a:pPr>
            <a:r>
              <a:rPr sz="1600" b="0">
                <a:solidFill>
                  <a:srgbClr val="222222"/>
                </a:solidFill>
                <a:latin typeface="맑은 고딕"/>
              </a:rPr>
              <a:t>•  AWR의 목적·MMON·기본 간격(60분)·보존(8일)을 설명한다.</a:t>
            </a:r>
          </a:p>
          <a:p>
            <a:pPr algn="l">
              <a:spcAft>
                <a:spcPts val="700"/>
              </a:spcAft>
            </a:pPr>
            <a:r>
              <a:rPr sz="1600" b="0">
                <a:solidFill>
                  <a:srgbClr val="222222"/>
                </a:solidFill>
                <a:latin typeface="맑은 고딕"/>
              </a:rPr>
              <a:t>•  DBMS_WORKLOAD_REPOSITORY로 수동 스냅샷을 생성·관리한다.</a:t>
            </a:r>
          </a:p>
          <a:p>
            <a:pPr algn="l">
              <a:spcAft>
                <a:spcPts val="700"/>
              </a:spcAft>
            </a:pPr>
            <a:r>
              <a:rPr sz="1600" b="0">
                <a:solidFill>
                  <a:srgbClr val="222222"/>
                </a:solidFill>
                <a:latin typeface="맑은 고딕"/>
              </a:rPr>
              <a:t>•  AWR 베이스라인(고정·이동 윈도우)의 용도를 구분한다.</a:t>
            </a:r>
          </a:p>
          <a:p>
            <a:pPr algn="l">
              <a:spcAft>
                <a:spcPts val="700"/>
              </a:spcAft>
            </a:pPr>
            <a:r>
              <a:rPr sz="1600" b="0">
                <a:solidFill>
                  <a:srgbClr val="222222"/>
                </a:solidFill>
                <a:latin typeface="맑은 고딕"/>
              </a:rPr>
              <a:t>•  ADDM이 두 스냅샷을 비교해 병목을 자동 진단하는 원리를 설명한다.</a:t>
            </a:r>
          </a:p>
          <a:p>
            <a:pPr algn="l">
              <a:spcAft>
                <a:spcPts val="700"/>
              </a:spcAft>
            </a:pPr>
            <a:r>
              <a:rPr sz="1600" b="0">
                <a:solidFill>
                  <a:srgbClr val="222222"/>
                </a:solidFill>
                <a:latin typeface="맑은 고딕"/>
              </a:rPr>
              <a:t>•  ADDM 결과를 DBMS_ADDM·딕셔너리 뷰·EM으로 조회한다.</a:t>
            </a:r>
          </a:p>
          <a:p>
            <a:pPr algn="l">
              <a:spcAft>
                <a:spcPts val="700"/>
              </a:spcAft>
            </a:pPr>
            <a:r>
              <a:rPr sz="1600" b="0">
                <a:solidFill>
                  <a:srgbClr val="222222"/>
                </a:solidFill>
                <a:latin typeface="맑은 고딕"/>
              </a:rPr>
              <a:t>•  19c PDB 수준 자동 ADDM 분석(AWR_PDB_AUTOFLUSH_ENABLED)을 구성한다.</a:t>
            </a:r>
          </a:p>
          <a:p>
            <a:pPr algn="l">
              <a:spcAft>
                <a:spcPts val="700"/>
              </a:spcAft>
            </a:pPr>
            <a:r>
              <a:rPr sz="1600" b="0">
                <a:solidFill>
                  <a:srgbClr val="222222"/>
                </a:solidFill>
                <a:latin typeface="맑은 고딕"/>
              </a:rPr>
              <a:t>•  Advisory Framework와 주요 어드바이저의 역할을 구분한다.</a:t>
            </a:r>
          </a:p>
          <a:p>
            <a:pPr algn="l">
              <a:spcAft>
                <a:spcPts val="700"/>
              </a:spcAft>
            </a:pPr>
            <a:r>
              <a:rPr sz="1600" b="0">
                <a:solidFill>
                  <a:srgbClr val="222222"/>
                </a:solidFill>
                <a:latin typeface="맑은 고딕"/>
              </a:rPr>
              <a:t>•  Top-Down 성능 튜닝 방법론(정의→수집→식별→적용→검증)을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700"/>
              </a:spcAft>
            </a:pPr>
            <a:r>
              <a:rPr sz="1600" b="0">
                <a:solidFill>
                  <a:srgbClr val="222222"/>
                </a:solidFill>
                <a:latin typeface="맑은 고딕"/>
              </a:rPr>
              <a:t>•  31.1  성능 관리(Performance Management) 활동 개요</a:t>
            </a:r>
          </a:p>
          <a:p>
            <a:pPr algn="l">
              <a:spcAft>
                <a:spcPts val="700"/>
              </a:spcAft>
            </a:pPr>
            <a:r>
              <a:rPr sz="1600" b="0">
                <a:solidFill>
                  <a:srgbClr val="222222"/>
                </a:solidFill>
                <a:latin typeface="맑은 고딕"/>
              </a:rPr>
              <a:t>•  31.2  성능 계획(Performance Planning) 고려사항</a:t>
            </a:r>
          </a:p>
          <a:p>
            <a:pPr algn="l">
              <a:spcAft>
                <a:spcPts val="700"/>
              </a:spcAft>
            </a:pPr>
            <a:r>
              <a:rPr sz="1600" b="0">
                <a:solidFill>
                  <a:srgbClr val="222222"/>
                </a:solidFill>
                <a:latin typeface="맑은 고딕"/>
              </a:rPr>
              <a:t>•  31.3  AWR(Automatic Workload Repository) 개념</a:t>
            </a:r>
          </a:p>
          <a:p>
            <a:pPr algn="l">
              <a:spcAft>
                <a:spcPts val="700"/>
              </a:spcAft>
            </a:pPr>
            <a:r>
              <a:rPr sz="1600" b="0">
                <a:solidFill>
                  <a:srgbClr val="222222"/>
                </a:solidFill>
                <a:latin typeface="맑은 고딕"/>
              </a:rPr>
              <a:t>•  31.4  AWR 스냅샷 개념 및 수동 생성(CREATE_SNAPSHOT)</a:t>
            </a:r>
          </a:p>
          <a:p>
            <a:pPr algn="l">
              <a:spcAft>
                <a:spcPts val="700"/>
              </a:spcAft>
            </a:pPr>
            <a:r>
              <a:rPr sz="1600" b="0">
                <a:solidFill>
                  <a:srgbClr val="222222"/>
                </a:solidFill>
                <a:latin typeface="맑은 고딕"/>
              </a:rPr>
              <a:t>•  31.5  AWR 베이스라인(Baseline)</a:t>
            </a:r>
          </a:p>
          <a:p>
            <a:pPr algn="l">
              <a:spcAft>
                <a:spcPts val="700"/>
              </a:spcAft>
            </a:pPr>
            <a:r>
              <a:rPr sz="1600" b="0">
                <a:solidFill>
                  <a:srgbClr val="222222"/>
                </a:solidFill>
                <a:latin typeface="맑은 고딕"/>
              </a:rPr>
              <a:t>•  31.6  ADDM 개념과 동작 방식</a:t>
            </a:r>
          </a:p>
          <a:p>
            <a:pPr algn="l">
              <a:spcAft>
                <a:spcPts val="700"/>
              </a:spcAft>
            </a:pPr>
            <a:r>
              <a:rPr sz="1600" b="0">
                <a:solidFill>
                  <a:srgbClr val="222222"/>
                </a:solidFill>
                <a:latin typeface="맑은 고딕"/>
              </a:rPr>
              <a:t>•  31.7  ADDM 분석 결과 조회</a:t>
            </a:r>
          </a:p>
          <a:p>
            <a:pPr algn="l">
              <a:spcAft>
                <a:spcPts val="700"/>
              </a:spcAft>
            </a:pPr>
            <a:r>
              <a:rPr sz="1600" b="0">
                <a:solidFill>
                  <a:srgbClr val="222222"/>
                </a:solidFill>
                <a:latin typeface="맑은 고딕"/>
              </a:rPr>
              <a:t>•  31.8  PDB 수준 자동 ADDM 분석 구성(19c 신기능)</a:t>
            </a:r>
          </a:p>
          <a:p>
            <a:pPr algn="l">
              <a:spcAft>
                <a:spcPts val="700"/>
              </a:spcAft>
            </a:pPr>
            <a:r>
              <a:rPr sz="1600" b="0">
                <a:solidFill>
                  <a:srgbClr val="222222"/>
                </a:solidFill>
                <a:latin typeface="맑은 고딕"/>
              </a:rPr>
              <a:t>•  31.9  Advisory Framework 개념</a:t>
            </a:r>
          </a:p>
          <a:p>
            <a:pPr algn="l">
              <a:spcAft>
                <a:spcPts val="700"/>
              </a:spcAft>
            </a:pPr>
            <a:r>
              <a:rPr sz="1600" b="0">
                <a:solidFill>
                  <a:srgbClr val="222222"/>
                </a:solidFill>
                <a:latin typeface="맑은 고딕"/>
              </a:rPr>
              <a:t>•  31.10  주요 어드바이저 종류</a:t>
            </a:r>
          </a:p>
          <a:p>
            <a:pPr algn="l">
              <a:spcAft>
                <a:spcPts val="700"/>
              </a:spcAft>
            </a:pPr>
            <a:r>
              <a:rPr sz="1600" b="0">
                <a:solidFill>
                  <a:srgbClr val="222222"/>
                </a:solidFill>
                <a:latin typeface="맑은 고딕"/>
              </a:rPr>
              <a:t>•  31.11  성능 튜닝 방법론(Top-Down 접근)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rPr>
              <a:t>31.1</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rPr>
              <a:t>성능 관리 활동 개요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사전 예방적 vs 사후 대응적 튜닝</a:t>
            </a:r>
          </a:p>
          <a:p>
            <a:pPr algn="l">
              <a:spcAft>
                <a:spcPts val="600"/>
              </a:spcAft>
            </a:pPr>
            <a:r>
              <a:rPr sz="1600" b="0">
                <a:solidFill>
                  <a:srgbClr val="FFFFFF"/>
                </a:solidFill>
                <a:latin typeface="맑은 고딕"/>
              </a:rPr>
              <a:t>•  튜닝 계층과 투자 대비 효과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성능 관리 활동의 두 얼굴</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사전 예방적 튜닝 vs 사후 대응적 튜닝</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rPr>
              <a:t>•  사전 예방적(proactive): 문제 발생 전, 추세·통계 기반, 계획된 시간, 낮은 리스크</a:t>
            </a:r>
          </a:p>
          <a:p>
            <a:pPr algn="l">
              <a:spcAft>
                <a:spcPts val="1000"/>
              </a:spcAft>
            </a:pPr>
            <a:r>
              <a:rPr sz="1700" b="0">
                <a:solidFill>
                  <a:srgbClr val="222222"/>
                </a:solidFill>
                <a:latin typeface="맑은 고딕"/>
              </a:rPr>
              <a:t>•  사후 대응적(reactive): 문제 발생 후, 증상 기반, 시간 압박, 근본 원인 놓칠 위험</a:t>
            </a:r>
          </a:p>
          <a:p>
            <a:pPr algn="l">
              <a:spcAft>
                <a:spcPts val="1000"/>
              </a:spcAft>
            </a:pPr>
            <a:r>
              <a:rPr sz="1700" b="0">
                <a:solidFill>
                  <a:srgbClr val="222222"/>
                </a:solidFill>
                <a:latin typeface="맑은 고딕"/>
              </a:rPr>
              <a:t>•  상시 수집된 AWR 데이터가 사후 대응의 성패를 좌우</a:t>
            </a:r>
          </a:p>
          <a:p>
            <a:pPr algn="l">
              <a:spcAft>
                <a:spcPts val="1000"/>
              </a:spcAft>
            </a:pPr>
            <a:r>
              <a:rPr sz="1700" b="0">
                <a:solidFill>
                  <a:srgbClr val="222222"/>
                </a:solidFill>
                <a:latin typeface="맑은 고딕"/>
              </a:rPr>
              <a:t>•  자동 진단 인프라 → 무게중심을 사전 예방으로 이동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튜닝 계층과 우선순위</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어디를 튜닝해야 효과가 큰가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rPr>
              <a:t>•  애플리케이션 튜닝(SQL·트랜잭션 설계) → 대개 효과가 가장 큼</a:t>
            </a:r>
          </a:p>
          <a:p>
            <a:pPr algn="l">
              <a:spcAft>
                <a:spcPts val="1000"/>
              </a:spcAft>
            </a:pPr>
            <a:r>
              <a:rPr sz="1700" b="0">
                <a:solidFill>
                  <a:srgbClr val="222222"/>
                </a:solidFill>
                <a:latin typeface="맑은 고딕"/>
              </a:rPr>
              <a:t>•  인스턴스 튜닝(메모리·프로세스·자원 구성)</a:t>
            </a:r>
          </a:p>
          <a:p>
            <a:pPr algn="l">
              <a:spcAft>
                <a:spcPts val="1000"/>
              </a:spcAft>
            </a:pPr>
            <a:r>
              <a:rPr sz="1700" b="0">
                <a:solidFill>
                  <a:srgbClr val="222222"/>
                </a:solidFill>
                <a:latin typeface="맑은 고딕"/>
              </a:rPr>
              <a:t>•  OS·스토리지 수준 튜닝 → 증설은 최후의 수단</a:t>
            </a:r>
          </a:p>
          <a:p>
            <a:pPr algn="l">
              <a:spcAft>
                <a:spcPts val="1000"/>
              </a:spcAft>
            </a:pPr>
            <a:r>
              <a:rPr sz="1700" b="0">
                <a:solidFill>
                  <a:srgbClr val="222222"/>
                </a:solidFill>
                <a:latin typeface="맑은 고딕"/>
              </a:rPr>
              <a:t>•  '측정하지 않으면 관리할 수 없다' → AWR·베이스라인이 토대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rPr>
              <a:t>31.2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rPr>
              <a:t>성능 계획 고려사항</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SLA·워크로드 테스트·확장성</a:t>
            </a:r>
          </a:p>
          <a:p>
            <a:pPr algn="l">
              <a:spcAft>
                <a:spcPts val="600"/>
              </a:spcAft>
            </a:pPr>
            <a:r>
              <a:rPr sz="1600" b="0">
                <a:solidFill>
                  <a:srgbClr val="FFFFFF"/>
                </a:solidFill>
                <a:latin typeface="맑은 고딕"/>
              </a:rPr>
              <a:t>•  성능은 계획 단계에서 결정된다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성능 계획의 핵심 요소</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성능은 배포 후가 아니라 계획 단계에서 결정된다</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rPr>
              <a:t>•  SLA 정량화: 응답시간(95/99퍼센타일)·처리량·동시 사용자 수</a:t>
            </a:r>
          </a:p>
          <a:p>
            <a:pPr algn="l">
              <a:spcAft>
                <a:spcPts val="1000"/>
              </a:spcAft>
            </a:pPr>
            <a:r>
              <a:rPr sz="1700" b="0">
                <a:solidFill>
                  <a:srgbClr val="222222"/>
                </a:solidFill>
                <a:latin typeface="맑은 고딕"/>
              </a:rPr>
              <a:t>•  워크로드 테스트: 운영 규모·분포의 데이터로 검증(옵티마이저는 볼륨에 민감)</a:t>
            </a:r>
          </a:p>
          <a:p>
            <a:pPr algn="l">
              <a:spcAft>
                <a:spcPts val="1000"/>
              </a:spcAft>
            </a:pPr>
            <a:r>
              <a:rPr sz="1700" b="0">
                <a:solidFill>
                  <a:srgbClr val="222222"/>
                </a:solidFill>
                <a:latin typeface="맑은 고딕"/>
              </a:rPr>
              <a:t>•  확장성: 직렬화·과도한 파싱·잠금 경합 등 저해 요인을 설계 단계에서 제거</a:t>
            </a:r>
          </a:p>
          <a:p>
            <a:pPr algn="l">
              <a:spcAft>
                <a:spcPts val="1000"/>
              </a:spcAft>
            </a:pPr>
            <a:r>
              <a:rPr sz="1700" b="0">
                <a:solidFill>
                  <a:srgbClr val="222222"/>
                </a:solidFill>
                <a:latin typeface="맑은 고딕"/>
              </a:rPr>
              <a:t>•  아키텍처·자원 산정: CPU·메모리·I/O·네트워크 균형</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검증과 배포 전략</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Real Application Testing과 점진적 롤아웃</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rPr>
              <a:t>•  변경(패치·업그레이드·파라미터)은 배포 전 영향 검증 필수</a:t>
            </a:r>
          </a:p>
          <a:p>
            <a:pPr algn="l">
              <a:spcAft>
                <a:spcPts val="1000"/>
              </a:spcAft>
            </a:pPr>
            <a:r>
              <a:rPr sz="1700" b="0">
                <a:solidFill>
                  <a:srgbClr val="222222"/>
                </a:solidFill>
                <a:latin typeface="맑은 고딕"/>
              </a:rPr>
              <a:t>•  Database Replay / SQL Performance Analyzer로 사전 검증</a:t>
            </a:r>
          </a:p>
          <a:p>
            <a:pPr algn="l">
              <a:spcAft>
                <a:spcPts val="1000"/>
              </a:spcAft>
            </a:pPr>
            <a:r>
              <a:rPr sz="1700" b="0">
                <a:solidFill>
                  <a:srgbClr val="222222"/>
                </a:solidFill>
                <a:latin typeface="맑은 고딕"/>
              </a:rPr>
              <a:t>•  점진적 파일럿 배포 → 문제를 소규모일 때 저비용으로 교정</a:t>
            </a:r>
          </a:p>
          <a:p>
            <a:pPr algn="l">
              <a:spcAft>
                <a:spcPts val="1000"/>
              </a:spcAft>
            </a:pPr>
            <a:r>
              <a:rPr sz="1700" b="0">
                <a:solidFill>
                  <a:srgbClr val="222222"/>
                </a:solidFill>
                <a:latin typeface="맑은 고딕"/>
              </a:rPr>
              <a:t>•  배포 초기엔 통계 미안정 → AWR로 면밀히 관찰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rPr>
              <a:t>31.3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rPr>
              <a:t>AWR 개념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성능 통계 자동 수집·저장 저장소</a:t>
            </a:r>
          </a:p>
          <a:p>
            <a:pPr algn="l">
              <a:spcAft>
                <a:spcPts val="600"/>
              </a:spcAft>
            </a:pPr>
            <a:r>
              <a:rPr sz="1600" b="0">
                <a:solidFill>
                  <a:srgbClr val="FFFFFF"/>
                </a:solidFill>
                <a:latin typeface="맑은 고딕"/>
              </a:rPr>
              <a:t>•  MMON · 60분 · 8일 · SYSAUX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AWR이란 무엇인가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성능 진단의 '기억 장치'</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rPr>
              <a:t>•  AWR = 성능 통계·워크로드를 주기적으로 수집·저장하는 내장 저장소</a:t>
            </a:r>
          </a:p>
          <a:p>
            <a:pPr algn="l">
              <a:spcAft>
                <a:spcPts val="1000"/>
              </a:spcAft>
            </a:pPr>
            <a:r>
              <a:rPr sz="1700" b="0">
                <a:solidFill>
                  <a:srgbClr val="222222"/>
                </a:solidFill>
                <a:latin typeface="맑은 고딕"/>
              </a:rPr>
              <a:t>•  휘발성 V$ 통계를 스냅샷으로 떠 SYSAUX에 영구 저장</a:t>
            </a:r>
          </a:p>
          <a:p>
            <a:pPr algn="l">
              <a:spcAft>
                <a:spcPts val="1000"/>
              </a:spcAft>
            </a:pPr>
            <a:r>
              <a:rPr sz="1700" b="0">
                <a:solidFill>
                  <a:srgbClr val="222222"/>
                </a:solidFill>
                <a:latin typeface="맑은 고딕"/>
              </a:rPr>
              <a:t>•  수집 주체: MMON 프로세스 / 기본 간격 60분 / 기본 보존 8일</a:t>
            </a:r>
          </a:p>
          <a:p>
            <a:pPr algn="l">
              <a:spcAft>
                <a:spcPts val="1000"/>
              </a:spcAft>
            </a:pPr>
            <a:r>
              <a:rPr sz="1700" b="0">
                <a:solidFill>
                  <a:srgbClr val="222222"/>
                </a:solidFill>
                <a:latin typeface="맑은 고딕"/>
              </a:rPr>
              <a:t>•  전제: STATISTICS_LEVEL = TYPICAL 또는 ALL (BASIC이면 비활성화)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DB Time과 ASH</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AWR·ADDM이 성능을 판단하는 공통 화폐</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rPr>
              <a:t>•  DB Time = 활성 세션이 CPU+대기에 소비한 총 시간 → 최상위 지표</a:t>
            </a:r>
          </a:p>
          <a:p>
            <a:pPr algn="l">
              <a:spcAft>
                <a:spcPts val="1000"/>
              </a:spcAft>
            </a:pPr>
            <a:r>
              <a:rPr sz="1700" b="0">
                <a:solidFill>
                  <a:srgbClr val="222222"/>
                </a:solidFill>
                <a:latin typeface="맑은 고딕"/>
              </a:rPr>
              <a:t>•  성능 개선 = 같은 워크로드의 DB Time을 줄이는 것</a:t>
            </a:r>
          </a:p>
          <a:p>
            <a:pPr algn="l">
              <a:spcAft>
                <a:spcPts val="1000"/>
              </a:spcAft>
            </a:pPr>
            <a:r>
              <a:rPr sz="1700" b="0">
                <a:solidFill>
                  <a:srgbClr val="222222"/>
                </a:solidFill>
                <a:latin typeface="맑은 고딕"/>
              </a:rPr>
              <a:t>•  ASH: 활성 세션을 1초 주기로 샘플링(미시적 순간 포착)</a:t>
            </a:r>
          </a:p>
          <a:p>
            <a:pPr algn="l">
              <a:spcAft>
                <a:spcPts val="1000"/>
              </a:spcAft>
            </a:pPr>
            <a:r>
              <a:rPr sz="1700" b="0">
                <a:solidFill>
                  <a:srgbClr val="222222"/>
                </a:solidFill>
                <a:latin typeface="맑은 고딕"/>
              </a:rPr>
              <a:t>•  AWR=거시 요약 / ASH=미시 순간, 상호 보완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rPr>
              <a:t>31.4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rPr>
              <a:t>AWR 스냅샷</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두 스냅샷 사이 구간을 분석</a:t>
            </a:r>
          </a:p>
          <a:p>
            <a:pPr algn="l">
              <a:spcAft>
                <a:spcPts val="600"/>
              </a:spcAft>
            </a:pPr>
            <a:r>
              <a:rPr sz="1600" b="0">
                <a:solidFill>
                  <a:srgbClr val="FFFFFF"/>
                </a:solidFill>
                <a:latin typeface="맑은 고딕"/>
              </a:rPr>
              <a:t>•  수동 생성·설정 변경·삭제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스냅샷의 개념</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두 시점 사이 무엇이 얼마나 변했는가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rPr>
              <a:t>•  스냅샷 = 특정 시점의 누적 성능 통계 캡처(SNAP_ID·시각 부여)</a:t>
            </a:r>
          </a:p>
          <a:p>
            <a:pPr algn="l">
              <a:spcAft>
                <a:spcPts val="1000"/>
              </a:spcAft>
            </a:pPr>
            <a:r>
              <a:rPr sz="1700" b="0">
                <a:solidFill>
                  <a:srgbClr val="222222"/>
                </a:solidFill>
                <a:latin typeface="맑은 고딕"/>
              </a:rPr>
              <a:t>•  분석은 시작·종료 두 스냅샷 사이 구간(interval) 대상</a:t>
            </a:r>
          </a:p>
          <a:p>
            <a:pPr algn="l">
              <a:spcAft>
                <a:spcPts val="1000"/>
              </a:spcAft>
            </a:pPr>
            <a:r>
              <a:rPr sz="1700" b="0">
                <a:solidFill>
                  <a:srgbClr val="222222"/>
                </a:solidFill>
                <a:latin typeface="맑은 고딕"/>
              </a:rPr>
              <a:t>•  대부분 MMON이 자동 생성, 필요 시 DBA가 수동 생성</a:t>
            </a:r>
          </a:p>
          <a:p>
            <a:pPr algn="l">
              <a:spcAft>
                <a:spcPts val="1000"/>
              </a:spcAft>
            </a:pPr>
            <a:r>
              <a:rPr sz="1700" b="0">
                <a:solidFill>
                  <a:srgbClr val="222222"/>
                </a:solidFill>
                <a:latin typeface="맑은 고딕"/>
              </a:rPr>
              <a:t>•  이벤트(배치 등) 직전·직후를 정밀 포착할 때 유용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수동 스냅샷 생성과 설정</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DBMS_WORKLOAD_REPOSITORY</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rIns="137160"/>
          <a:lstStyle/>
          <a:p>
            <a:pPr algn="ctr">
              <a:spcAft>
                <a:spcPts val="200"/>
              </a:spcAft>
            </a:pPr>
            <a:r>
              <a:rPr sz="1300">
                <a:solidFill>
                  <a:srgbClr val="F2F2F2"/>
                </a:solidFill>
                <a:latin typeface="Consolas"/>
              </a:rPr>
              <a:t>-- 즉시 스냅샷 생성</a:t>
            </a:r>
          </a:p>
          <a:p>
            <a:pPr>
              <a:spcAft>
                <a:spcPts val="200"/>
              </a:spcAft>
            </a:pPr>
            <a:r>
              <a:rPr sz="1300">
                <a:solidFill>
                  <a:srgbClr val="F2F2F2"/>
                </a:solidFill>
                <a:latin typeface="Consolas"/>
              </a:rPr>
              <a:t>EXEC DBMS_WORKLOAD_REPOSITORY.CREATE_SNAPSHOT;</a:t>
            </a:r>
          </a:p>
          <a:p>
            <a:pPr>
              <a:spcAft>
                <a:spcPts val="200"/>
              </a:spcAft>
            </a:pPr>
            <a:r>
              <a:rPr sz="1300">
                <a:solidFill>
                  <a:srgbClr val="F2F2F2"/>
                </a:solidFill>
                <a:latin typeface="Consolas"/>
              </a:rPr>
              <a:t> </a:t>
            </a:r>
          </a:p>
          <a:p>
            <a:pPr>
              <a:spcAft>
                <a:spcPts val="200"/>
              </a:spcAft>
            </a:pPr>
            <a:r>
              <a:rPr sz="1300">
                <a:solidFill>
                  <a:srgbClr val="F2F2F2"/>
                </a:solidFill>
                <a:latin typeface="Consolas"/>
              </a:rPr>
              <a:t>-- 간격 30분, 보존 15일(21600분)로 변경</a:t>
            </a:r>
          </a:p>
          <a:p>
            <a:pPr>
              <a:spcAft>
                <a:spcPts val="200"/>
              </a:spcAft>
            </a:pPr>
            <a:r>
              <a:rPr sz="1300">
                <a:solidFill>
                  <a:srgbClr val="F2F2F2"/>
                </a:solidFill>
                <a:latin typeface="Consolas"/>
              </a:rPr>
              <a:t>BEGIN</a:t>
            </a:r>
          </a:p>
          <a:p>
            <a:pPr>
              <a:spcAft>
                <a:spcPts val="200"/>
              </a:spcAft>
            </a:pPr>
            <a:r>
              <a:rPr sz="1300">
                <a:solidFill>
                  <a:srgbClr val="F2F2F2"/>
                </a:solidFill>
                <a:latin typeface="Consolas"/>
              </a:rPr>
              <a:t>  DBMS_WORKLOAD_REPOSITORY.MODIFY_SNAPSHOT_SETTINGS(</a:t>
            </a:r>
          </a:p>
          <a:p>
            <a:pPr>
              <a:spcAft>
                <a:spcPts val="200"/>
              </a:spcAft>
            </a:pPr>
            <a:r>
              <a:rPr sz="1300">
                <a:solidFill>
                  <a:srgbClr val="F2F2F2"/>
                </a:solidFill>
                <a:latin typeface="Consolas"/>
              </a:rPr>
              <a:t>    interval  =&gt; 30,      -- 분</a:t>
            </a:r>
          </a:p>
          <a:p>
            <a:pPr>
              <a:spcAft>
                <a:spcPts val="200"/>
              </a:spcAft>
            </a:pPr>
            <a:r>
              <a:rPr sz="1300">
                <a:solidFill>
                  <a:srgbClr val="F2F2F2"/>
                </a:solidFill>
                <a:latin typeface="Consolas"/>
              </a:rPr>
              <a:t>    retention =&gt; 21600);  -- 분(15일)</a:t>
            </a:r>
          </a:p>
          <a:p>
            <a:pPr>
              <a:spcAft>
                <a:spcPts val="200"/>
              </a:spcAft>
            </a:pPr>
            <a:r>
              <a:rPr sz="1300">
                <a:solidFill>
                  <a:srgbClr val="F2F2F2"/>
                </a:solidFill>
                <a:latin typeface="Consolas"/>
              </a:rPr>
              <a:t>END;</a:t>
            </a:r>
          </a:p>
          <a:p>
            <a:pPr>
              <a:spcAft>
                <a:spcPts val="200"/>
              </a:spcAft>
            </a:pPr>
            <a:r>
              <a:rPr sz="1300">
                <a:solidFill>
                  <a:srgbClr val="F2F2F2"/>
                </a:solidFill>
                <a:latin typeface="Consolas"/>
              </a:rPr>
              <a:t>/</a:t>
            </a:r>
          </a:p>
          <a:p>
            <a:pPr>
              <a:spcAft>
                <a:spcPts val="200"/>
              </a:spcAft>
            </a:pPr>
            <a:r>
              <a:rPr sz="1300">
                <a:solidFill>
                  <a:srgbClr val="F2F2F2"/>
                </a:solidFill>
                <a:latin typeface="Consolas"/>
              </a:rPr>
              <a:t> </a:t>
            </a:r>
          </a:p>
          <a:p>
            <a:pPr>
              <a:spcAft>
                <a:spcPts val="200"/>
              </a:spcAft>
            </a:pPr>
            <a:r>
              <a:rPr sz="1300">
                <a:solidFill>
                  <a:srgbClr val="F2F2F2"/>
                </a:solidFill>
                <a:latin typeface="Consolas"/>
              </a:rPr>
              <a:t>-- 스냅샷 구간 삭제 / 목록·설정 확인</a:t>
            </a:r>
          </a:p>
          <a:p>
            <a:pPr>
              <a:spcAft>
                <a:spcPts val="200"/>
              </a:spcAft>
            </a:pPr>
            <a:r>
              <a:rPr sz="1300">
                <a:solidFill>
                  <a:srgbClr val="F2F2F2"/>
                </a:solidFill>
                <a:latin typeface="Consolas"/>
              </a:rPr>
              <a:t>EXEC DBMS_WORKLOAD_REPOSITORY.DROP_SNAPSHOT_RANGE(101,105);</a:t>
            </a:r>
          </a:p>
          <a:p>
            <a:pPr>
              <a:spcAft>
                <a:spcPts val="200"/>
              </a:spcAft>
            </a:pPr>
            <a:r>
              <a:rPr sz="1300">
                <a:solidFill>
                  <a:srgbClr val="F2F2F2"/>
                </a:solidFill>
                <a:latin typeface="Consolas"/>
              </a:rPr>
              <a:t>SELECT snap_id, begin_interval_time FROM dba_hist_snapshot;</a:t>
            </a:r>
          </a:p>
          <a:p>
            <a:pPr>
              <a:spcAft>
                <a:spcPts val="200"/>
              </a:spcAft>
            </a:pPr>
            <a:r>
              <a:rPr sz="1300">
                <a:solidFill>
                  <a:srgbClr val="F2F2F2"/>
                </a:solidFill>
                <a:latin typeface="Consolas"/>
              </a:rPr>
              <a:t>SELECT snap_interval, retention FROM dba_hist_wr_control;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rPr>
              <a:t>31.5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rPr>
              <a:t>AWR 베이스라인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정상 기간의 기준선 보존</a:t>
            </a:r>
          </a:p>
          <a:p>
            <a:pPr algn="l">
              <a:spcAft>
                <a:spcPts val="600"/>
              </a:spcAft>
            </a:pPr>
            <a:r>
              <a:rPr sz="1600" b="0">
                <a:solidFill>
                  <a:srgbClr val="FFFFFF"/>
                </a:solidFill>
                <a:latin typeface="맑은 고딕"/>
              </a:rPr>
              <a:t>•  고정 vs 이동 윈도우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베이스라인의 개념</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정상 기간을 이름 붙여 보존하는 기준선</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rPr>
              <a:t>•  베이스라인 = 정상이라 판단되는 기간의 스냅샷 집합에 이름 부여</a:t>
            </a:r>
          </a:p>
          <a:p>
            <a:pPr algn="l">
              <a:spcAft>
                <a:spcPts val="1000"/>
              </a:spcAft>
            </a:pPr>
            <a:r>
              <a:rPr sz="1700" b="0">
                <a:solidFill>
                  <a:srgbClr val="222222"/>
                </a:solidFill>
                <a:latin typeface="맑은 고딕"/>
              </a:rPr>
              <a:t>•  포함 스냅샷은 8일 보존 정책과 무관하게 계속 보존</a:t>
            </a:r>
          </a:p>
          <a:p>
            <a:pPr algn="l">
              <a:spcAft>
                <a:spcPts val="1000"/>
              </a:spcAft>
            </a:pPr>
            <a:r>
              <a:rPr sz="1700" b="0">
                <a:solidFill>
                  <a:srgbClr val="222222"/>
                </a:solidFill>
                <a:latin typeface="맑은 고딕"/>
              </a:rPr>
              <a:t>•  고정 베이스라인: 특정 구간(예: 분기 마감 피크)을 명시 지정</a:t>
            </a:r>
          </a:p>
          <a:p>
            <a:pPr algn="l">
              <a:spcAft>
                <a:spcPts val="1000"/>
              </a:spcAft>
            </a:pPr>
            <a:r>
              <a:rPr sz="1700" b="0">
                <a:solidFill>
                  <a:srgbClr val="222222"/>
                </a:solidFill>
                <a:latin typeface="맑은 고딕"/>
              </a:rPr>
              <a:t>•  이동 윈도우 베이스라인: SYSTEM_MOVING_WINDOW, 적응형 임계값 기준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베이스라인 생성과 관리</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CREATE_BASELINE</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rIns="137160"/>
          <a:lstStyle/>
          <a:p>
            <a:pPr algn="ctr">
              <a:spcAft>
                <a:spcPts val="200"/>
              </a:spcAft>
            </a:pPr>
            <a:r>
              <a:rPr sz="1300">
                <a:solidFill>
                  <a:srgbClr val="F2F2F2"/>
                </a:solidFill>
                <a:latin typeface="Consolas"/>
              </a:rPr>
              <a:t>-- 스냅샷 구간(120~144)에 고정 베이스라인 생성</a:t>
            </a:r>
          </a:p>
          <a:p>
            <a:pPr>
              <a:spcAft>
                <a:spcPts val="200"/>
              </a:spcAft>
            </a:pPr>
            <a:r>
              <a:rPr sz="1300">
                <a:solidFill>
                  <a:srgbClr val="F2F2F2"/>
                </a:solidFill>
                <a:latin typeface="Consolas"/>
              </a:rPr>
              <a:t>BEGIN</a:t>
            </a:r>
          </a:p>
          <a:p>
            <a:pPr>
              <a:spcAft>
                <a:spcPts val="200"/>
              </a:spcAft>
            </a:pPr>
            <a:r>
              <a:rPr sz="1300">
                <a:solidFill>
                  <a:srgbClr val="F2F2F2"/>
                </a:solidFill>
                <a:latin typeface="Consolas"/>
              </a:rPr>
              <a:t>  DBMS_WORKLOAD_REPOSITORY.CREATE_BASELINE(</a:t>
            </a:r>
          </a:p>
          <a:p>
            <a:pPr>
              <a:spcAft>
                <a:spcPts val="200"/>
              </a:spcAft>
            </a:pPr>
            <a:r>
              <a:rPr sz="1300">
                <a:solidFill>
                  <a:srgbClr val="F2F2F2"/>
                </a:solidFill>
                <a:latin typeface="Consolas"/>
              </a:rPr>
              <a:t>    start_snap_id =&gt; 120,</a:t>
            </a:r>
          </a:p>
          <a:p>
            <a:pPr>
              <a:spcAft>
                <a:spcPts val="200"/>
              </a:spcAft>
            </a:pPr>
            <a:r>
              <a:rPr sz="1300">
                <a:solidFill>
                  <a:srgbClr val="F2F2F2"/>
                </a:solidFill>
                <a:latin typeface="Consolas"/>
              </a:rPr>
              <a:t>    end_snap_id   =&gt; 144,</a:t>
            </a:r>
          </a:p>
          <a:p>
            <a:pPr>
              <a:spcAft>
                <a:spcPts val="200"/>
              </a:spcAft>
            </a:pPr>
            <a:r>
              <a:rPr sz="1300">
                <a:solidFill>
                  <a:srgbClr val="F2F2F2"/>
                </a:solidFill>
                <a:latin typeface="Consolas"/>
              </a:rPr>
              <a:t>    baseline_name =&gt; 'MONTH_END_PEAK');</a:t>
            </a:r>
          </a:p>
          <a:p>
            <a:pPr>
              <a:spcAft>
                <a:spcPts val="200"/>
              </a:spcAft>
            </a:pPr>
            <a:r>
              <a:rPr sz="1300">
                <a:solidFill>
                  <a:srgbClr val="F2F2F2"/>
                </a:solidFill>
                <a:latin typeface="Consolas"/>
              </a:rPr>
              <a:t>END;</a:t>
            </a:r>
          </a:p>
          <a:p>
            <a:pPr>
              <a:spcAft>
                <a:spcPts val="200"/>
              </a:spcAft>
            </a:pPr>
            <a:r>
              <a:rPr sz="1300">
                <a:solidFill>
                  <a:srgbClr val="F2F2F2"/>
                </a:solidFill>
                <a:latin typeface="Consolas"/>
              </a:rPr>
              <a:t>/</a:t>
            </a:r>
          </a:p>
          <a:p>
            <a:pPr>
              <a:spcAft>
                <a:spcPts val="200"/>
              </a:spcAft>
            </a:pPr>
            <a:r>
              <a:rPr sz="1300">
                <a:solidFill>
                  <a:srgbClr val="F2F2F2"/>
                </a:solidFill>
                <a:latin typeface="Consolas"/>
              </a:rPr>
              <a:t> </a:t>
            </a:r>
          </a:p>
          <a:p>
            <a:pPr>
              <a:spcAft>
                <a:spcPts val="200"/>
              </a:spcAft>
            </a:pPr>
            <a:r>
              <a:rPr sz="1300">
                <a:solidFill>
                  <a:srgbClr val="F2F2F2"/>
                </a:solidFill>
                <a:latin typeface="Consolas"/>
              </a:rPr>
              <a:t>-- 베이스라인 목록 확인</a:t>
            </a:r>
          </a:p>
          <a:p>
            <a:pPr>
              <a:spcAft>
                <a:spcPts val="200"/>
              </a:spcAft>
            </a:pPr>
            <a:r>
              <a:rPr sz="1300">
                <a:solidFill>
                  <a:srgbClr val="F2F2F2"/>
                </a:solidFill>
                <a:latin typeface="Consolas"/>
              </a:rPr>
              <a:t>SELECT baseline_name, baseline_type,</a:t>
            </a:r>
          </a:p>
          <a:p>
            <a:pPr>
              <a:spcAft>
                <a:spcPts val="200"/>
              </a:spcAft>
            </a:pPr>
            <a:r>
              <a:rPr sz="1300">
                <a:solidFill>
                  <a:srgbClr val="F2F2F2"/>
                </a:solidFill>
                <a:latin typeface="Consolas"/>
              </a:rPr>
              <a:t>       start_snap_id, end_snap_id</a:t>
            </a:r>
          </a:p>
          <a:p>
            <a:pPr>
              <a:spcAft>
                <a:spcPts val="200"/>
              </a:spcAft>
            </a:pPr>
            <a:r>
              <a:rPr sz="1300">
                <a:solidFill>
                  <a:srgbClr val="F2F2F2"/>
                </a:solidFill>
                <a:latin typeface="Consolas"/>
              </a:rPr>
              <a:t>  FROM dba_hist_baseline;</a:t>
            </a:r>
          </a:p>
          <a:p>
            <a:pPr>
              <a:spcAft>
                <a:spcPts val="200"/>
              </a:spcAft>
            </a:pPr>
            <a:r>
              <a:rPr sz="1300">
                <a:solidFill>
                  <a:srgbClr val="F2F2F2"/>
                </a:solidFill>
                <a:latin typeface="Consolas"/>
              </a:rPr>
              <a:t> </a:t>
            </a:r>
          </a:p>
          <a:p>
            <a:pPr>
              <a:spcAft>
                <a:spcPts val="200"/>
              </a:spcAft>
            </a:pPr>
            <a:r>
              <a:rPr sz="1300">
                <a:solidFill>
                  <a:srgbClr val="F2F2F2"/>
                </a:solidFill>
                <a:latin typeface="Consolas"/>
              </a:rPr>
              <a:t>-- 이동 윈도우 크기 조정(보존 기간 이내)</a:t>
            </a:r>
          </a:p>
          <a:p>
            <a:pPr>
              <a:spcAft>
                <a:spcPts val="200"/>
              </a:spcAft>
            </a:pPr>
            <a:r>
              <a:rPr sz="1300">
                <a:solidFill>
                  <a:srgbClr val="F2F2F2"/>
                </a:solidFill>
                <a:latin typeface="Consolas"/>
              </a:rPr>
              <a:t>EXEC DBMS_WORKLOAD_REPOSITORY.MODIFY_BASELINE_WINDOW_SIZE(15);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rPr>
              <a:t>31.6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rPr>
              <a:t>ADDM 개념과 동작</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두 스냅샷 비교 → 병목 자동 진단</a:t>
            </a:r>
          </a:p>
          <a:p>
            <a:pPr algn="l">
              <a:spcAft>
                <a:spcPts val="600"/>
              </a:spcAft>
            </a:pPr>
            <a:r>
              <a:rPr sz="1600" b="0">
                <a:solidFill>
                  <a:srgbClr val="FFFFFF"/>
                </a:solidFill>
                <a:latin typeface="맑은 고딕"/>
              </a:rPr>
              <a:t>•  스냅샷 직후 자동 실행</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ADDM이란</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AWR 데이터를 해석하는 자기 진단 엔진</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rPr>
              <a:t>•  ADDM = AWR 스냅샷을 자동 분석해 병목 진단·개선안 제시</a:t>
            </a:r>
          </a:p>
          <a:p>
            <a:pPr algn="l">
              <a:spcAft>
                <a:spcPts val="1000"/>
              </a:spcAft>
            </a:pPr>
            <a:r>
              <a:rPr sz="1700" b="0">
                <a:solidFill>
                  <a:srgbClr val="222222"/>
                </a:solidFill>
                <a:latin typeface="맑은 고딕"/>
              </a:rPr>
              <a:t>•  AWR='데이터 수집' / ADDM='데이터 해석'</a:t>
            </a:r>
          </a:p>
          <a:p>
            <a:pPr algn="l">
              <a:spcAft>
                <a:spcPts val="1000"/>
              </a:spcAft>
            </a:pPr>
            <a:r>
              <a:rPr sz="1700" b="0">
                <a:solidFill>
                  <a:srgbClr val="222222"/>
                </a:solidFill>
                <a:latin typeface="맑은 고딕"/>
              </a:rPr>
              <a:t>•  최상위 목표 지표: DB Time (가장 많이 소비한 원인부터 진단)</a:t>
            </a:r>
          </a:p>
          <a:p>
            <a:pPr algn="l">
              <a:spcAft>
                <a:spcPts val="1000"/>
              </a:spcAft>
            </a:pPr>
            <a:r>
              <a:rPr sz="1700" b="0">
                <a:solidFill>
                  <a:srgbClr val="222222"/>
                </a:solidFill>
                <a:latin typeface="맑은 고딕"/>
              </a:rPr>
              <a:t>•  스냅샷 생성 직후 MMON이 직전~현재 구간을 자동 분석</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ADDM의 진단 논리</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Finding · Recommendation · Rationale</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rPr>
              <a:t>•  진단 대상: CPU·I/O·과도한 파싱·잠금/래치 경합·상위 SQL·메모리 등</a:t>
            </a:r>
          </a:p>
          <a:p>
            <a:pPr algn="l">
              <a:spcAft>
                <a:spcPts val="1000"/>
              </a:spcAft>
            </a:pPr>
            <a:r>
              <a:rPr sz="1700" b="0">
                <a:solidFill>
                  <a:srgbClr val="222222"/>
                </a:solidFill>
                <a:latin typeface="맑은 고딕"/>
              </a:rPr>
              <a:t>•  하향식으로 DB Time을 CPU/대기, 대기 클래스로 분해</a:t>
            </a:r>
          </a:p>
          <a:p>
            <a:pPr algn="l">
              <a:spcAft>
                <a:spcPts val="1000"/>
              </a:spcAft>
            </a:pPr>
            <a:r>
              <a:rPr sz="1700" b="0">
                <a:solidFill>
                  <a:srgbClr val="222222"/>
                </a:solidFill>
                <a:latin typeface="맑은 고딕"/>
              </a:rPr>
              <a:t>•  결과 3요소: 발견 사항 + 영향도(% of DB Time) + 권고 + 근거</a:t>
            </a:r>
          </a:p>
          <a:p>
            <a:pPr algn="l">
              <a:spcAft>
                <a:spcPts val="1000"/>
              </a:spcAft>
            </a:pPr>
            <a:r>
              <a:rPr sz="1700" b="0">
                <a:solidFill>
                  <a:srgbClr val="222222"/>
                </a:solidFill>
                <a:latin typeface="맑은 고딕"/>
              </a:rPr>
              <a:t>•  영향도가 작은 항목은 자동 배제 → 엉뚱한 튜닝 방지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rPr>
              <a:t>31.7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rPr>
              <a:t>ADDM 결과 조회</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EM · DBMS_ADDM · 딕셔너리 뷰</a:t>
            </a:r>
          </a:p>
          <a:p>
            <a:pPr algn="l">
              <a:spcAft>
                <a:spcPts val="600"/>
              </a:spcAft>
            </a:pPr>
            <a:r>
              <a:rPr sz="1600" b="0">
                <a:solidFill>
                  <a:srgbClr val="FFFFFF"/>
                </a:solidFill>
                <a:latin typeface="맑은 고딕"/>
              </a:rPr>
              <a:t>•  GET_REPORT로 텍스트 리포트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ADDM 분석 실행·조회</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DBMS_ADDM.ANALYZE_DB / GET_REPORT</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rIns="137160"/>
          <a:lstStyle/>
          <a:p>
            <a:pPr algn="ctr">
              <a:spcAft>
                <a:spcPts val="200"/>
              </a:spcAft>
            </a:pPr>
            <a:r>
              <a:rPr sz="1300">
                <a:solidFill>
                  <a:srgbClr val="F2F2F2"/>
                </a:solidFill>
                <a:latin typeface="Consolas"/>
              </a:rPr>
              <a:t>-- (1) 두 스냅샷 구간 DB 수준 ADDM 태스크 실행</a:t>
            </a:r>
          </a:p>
          <a:p>
            <a:pPr>
              <a:spcAft>
                <a:spcPts val="200"/>
              </a:spcAft>
            </a:pPr>
            <a:r>
              <a:rPr sz="1300">
                <a:solidFill>
                  <a:srgbClr val="F2F2F2"/>
                </a:solidFill>
                <a:latin typeface="Consolas"/>
              </a:rPr>
              <a:t>VAR tname VARCHAR2(60)</a:t>
            </a:r>
          </a:p>
          <a:p>
            <a:pPr>
              <a:spcAft>
                <a:spcPts val="200"/>
              </a:spcAft>
            </a:pPr>
            <a:r>
              <a:rPr sz="1300">
                <a:solidFill>
                  <a:srgbClr val="F2F2F2"/>
                </a:solidFill>
                <a:latin typeface="Consolas"/>
              </a:rPr>
              <a:t>BEGIN</a:t>
            </a:r>
          </a:p>
          <a:p>
            <a:pPr>
              <a:spcAft>
                <a:spcPts val="200"/>
              </a:spcAft>
            </a:pPr>
            <a:r>
              <a:rPr sz="1300">
                <a:solidFill>
                  <a:srgbClr val="F2F2F2"/>
                </a:solidFill>
                <a:latin typeface="Consolas"/>
              </a:rPr>
              <a:t>  :tname := 'ADDM_120_121';</a:t>
            </a:r>
          </a:p>
          <a:p>
            <a:pPr>
              <a:spcAft>
                <a:spcPts val="200"/>
              </a:spcAft>
            </a:pPr>
            <a:r>
              <a:rPr sz="1300">
                <a:solidFill>
                  <a:srgbClr val="F2F2F2"/>
                </a:solidFill>
                <a:latin typeface="Consolas"/>
              </a:rPr>
              <a:t>  DBMS_ADDM.ANALYZE_DB(:tname, 120, 121);</a:t>
            </a:r>
          </a:p>
          <a:p>
            <a:pPr>
              <a:spcAft>
                <a:spcPts val="200"/>
              </a:spcAft>
            </a:pPr>
            <a:r>
              <a:rPr sz="1300">
                <a:solidFill>
                  <a:srgbClr val="F2F2F2"/>
                </a:solidFill>
                <a:latin typeface="Consolas"/>
              </a:rPr>
              <a:t>END;</a:t>
            </a:r>
          </a:p>
          <a:p>
            <a:pPr>
              <a:spcAft>
                <a:spcPts val="200"/>
              </a:spcAft>
            </a:pPr>
            <a:r>
              <a:rPr sz="1300">
                <a:solidFill>
                  <a:srgbClr val="F2F2F2"/>
                </a:solidFill>
                <a:latin typeface="Consolas"/>
              </a:rPr>
              <a:t>/</a:t>
            </a:r>
          </a:p>
          <a:p>
            <a:pPr>
              <a:spcAft>
                <a:spcPts val="200"/>
              </a:spcAft>
            </a:pPr>
            <a:r>
              <a:rPr sz="1300">
                <a:solidFill>
                  <a:srgbClr val="F2F2F2"/>
                </a:solidFill>
                <a:latin typeface="Consolas"/>
              </a:rPr>
              <a:t> </a:t>
            </a:r>
          </a:p>
          <a:p>
            <a:pPr>
              <a:spcAft>
                <a:spcPts val="200"/>
              </a:spcAft>
            </a:pPr>
            <a:r>
              <a:rPr sz="1300">
                <a:solidFill>
                  <a:srgbClr val="F2F2F2"/>
                </a:solidFill>
                <a:latin typeface="Consolas"/>
              </a:rPr>
              <a:t>-- (2) 결과 리포트를 텍스트로 조회</a:t>
            </a:r>
          </a:p>
          <a:p>
            <a:pPr>
              <a:spcAft>
                <a:spcPts val="200"/>
              </a:spcAft>
            </a:pPr>
            <a:r>
              <a:rPr sz="1300">
                <a:solidFill>
                  <a:srgbClr val="F2F2F2"/>
                </a:solidFill>
                <a:latin typeface="Consolas"/>
              </a:rPr>
              <a:t>SET LONG 1000000 PAGESIZE 0</a:t>
            </a:r>
          </a:p>
          <a:p>
            <a:pPr>
              <a:spcAft>
                <a:spcPts val="200"/>
              </a:spcAft>
            </a:pPr>
            <a:r>
              <a:rPr sz="1300">
                <a:solidFill>
                  <a:srgbClr val="F2F2F2"/>
                </a:solidFill>
                <a:latin typeface="Consolas"/>
              </a:rPr>
              <a:t>SELECT DBMS_ADDM.GET_REPORT(:tname) FROM dual;</a:t>
            </a:r>
          </a:p>
          <a:p>
            <a:pPr>
              <a:spcAft>
                <a:spcPts val="200"/>
              </a:spcAft>
            </a:pPr>
            <a:r>
              <a:rPr sz="1300">
                <a:solidFill>
                  <a:srgbClr val="F2F2F2"/>
                </a:solidFill>
                <a:latin typeface="Consolas"/>
              </a:rPr>
              <a:t> </a:t>
            </a:r>
          </a:p>
          <a:p>
            <a:pPr>
              <a:spcAft>
                <a:spcPts val="200"/>
              </a:spcAft>
            </a:pPr>
            <a:r>
              <a:rPr sz="1300">
                <a:solidFill>
                  <a:srgbClr val="F2F2F2"/>
                </a:solidFill>
                <a:latin typeface="Consolas"/>
              </a:rPr>
              <a:t>-- (3) 발견 사항을 영향도 순으로 조회</a:t>
            </a:r>
          </a:p>
          <a:p>
            <a:pPr>
              <a:spcAft>
                <a:spcPts val="200"/>
              </a:spcAft>
            </a:pPr>
            <a:r>
              <a:rPr sz="1300">
                <a:solidFill>
                  <a:srgbClr val="F2F2F2"/>
                </a:solidFill>
                <a:latin typeface="Consolas"/>
              </a:rPr>
              <a:t>SELECT type, impact, message</a:t>
            </a:r>
          </a:p>
          <a:p>
            <a:pPr>
              <a:spcAft>
                <a:spcPts val="200"/>
              </a:spcAft>
            </a:pPr>
            <a:r>
              <a:rPr sz="1300">
                <a:solidFill>
                  <a:srgbClr val="F2F2F2"/>
                </a:solidFill>
                <a:latin typeface="Consolas"/>
              </a:rPr>
              <a:t>  FROM dba_addm_findings</a:t>
            </a:r>
          </a:p>
          <a:p>
            <a:pPr>
              <a:spcAft>
                <a:spcPts val="200"/>
              </a:spcAft>
            </a:pPr>
            <a:r>
              <a:rPr sz="1300">
                <a:solidFill>
                  <a:srgbClr val="F2F2F2"/>
                </a:solidFill>
                <a:latin typeface="Consolas"/>
              </a:rPr>
              <a:t> WHERE task_name = 'ADDM_120_121'</a:t>
            </a:r>
          </a:p>
          <a:p>
            <a:pPr>
              <a:spcAft>
                <a:spcPts val="200"/>
              </a:spcAft>
            </a:pPr>
            <a:r>
              <a:rPr sz="1300">
                <a:solidFill>
                  <a:srgbClr val="F2F2F2"/>
                </a:solidFill>
                <a:latin typeface="Consolas"/>
              </a:rPr>
              <a:t> ORDER BY impact DESC;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rPr>
              <a:t>31.8</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rPr>
              <a:t>PDB 수준 자동 ADDM (19c)</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PDB별 AWR·ADDM 활성화</a:t>
            </a:r>
          </a:p>
          <a:p>
            <a:pPr algn="l">
              <a:spcAft>
                <a:spcPts val="600"/>
              </a:spcAft>
            </a:pPr>
            <a:r>
              <a:rPr sz="1600" b="0">
                <a:solidFill>
                  <a:srgbClr val="FFFFFF"/>
                </a:solidFill>
                <a:latin typeface="맑은 고딕"/>
              </a:rPr>
              <a:t>•  AWR_PDB_AUTOFLUSH_ENABLED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PDB 수준 진단의 필요성</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19c 신기능 — PDB별 자체 진단</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rPr>
              <a:t>•  종전: AWR·ADDM은 CDB 루트 관점에서만 수집·분석</a:t>
            </a:r>
          </a:p>
          <a:p>
            <a:pPr algn="l">
              <a:spcAft>
                <a:spcPts val="1000"/>
              </a:spcAft>
            </a:pPr>
            <a:r>
              <a:rPr sz="1700" b="0">
                <a:solidFill>
                  <a:srgbClr val="222222"/>
                </a:solidFill>
                <a:latin typeface="맑은 고딕"/>
              </a:rPr>
              <a:t>•  19c: 각 PDB가 자체 스냅샷·자동 ADDM 분석 가능</a:t>
            </a:r>
          </a:p>
          <a:p>
            <a:pPr algn="l">
              <a:spcAft>
                <a:spcPts val="1000"/>
              </a:spcAft>
            </a:pPr>
            <a:r>
              <a:rPr sz="1700" b="0">
                <a:solidFill>
                  <a:srgbClr val="222222"/>
                </a:solidFill>
                <a:latin typeface="맑은 고딕"/>
              </a:rPr>
              <a:t>•  활성화: PDB에서 AWR_PDB_AUTOFLUSH_ENABLED = TRUE (기본 FALSE)</a:t>
            </a:r>
          </a:p>
          <a:p>
            <a:pPr algn="l">
              <a:spcAft>
                <a:spcPts val="1000"/>
              </a:spcAft>
            </a:pPr>
            <a:r>
              <a:rPr sz="1700" b="0">
                <a:solidFill>
                  <a:srgbClr val="222222"/>
                </a:solidFill>
                <a:latin typeface="맑은 고딕"/>
              </a:rPr>
              <a:t>•  조회: AWR_PDB_* 뷰 (루트는 DBA_HIST_* / AWR_ROOT_*)</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PDB 수준 AWR·ADDM 구성</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AWR_PDB_AUTOFLUSH_ENABLED · ANALYZE_INST</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rIns="137160"/>
          <a:lstStyle/>
          <a:p>
            <a:pPr algn="ctr">
              <a:spcAft>
                <a:spcPts val="200"/>
              </a:spcAft>
            </a:pPr>
            <a:r>
              <a:rPr sz="1300">
                <a:solidFill>
                  <a:srgbClr val="F2F2F2"/>
                </a:solidFill>
                <a:latin typeface="Consolas"/>
              </a:rPr>
              <a:t>-- PDB에 접속하여 PDB 수준 AWR 자동 수집 활성화</a:t>
            </a:r>
          </a:p>
          <a:p>
            <a:pPr>
              <a:spcAft>
                <a:spcPts val="200"/>
              </a:spcAft>
            </a:pPr>
            <a:r>
              <a:rPr sz="1300">
                <a:solidFill>
                  <a:srgbClr val="F2F2F2"/>
                </a:solidFill>
                <a:latin typeface="Consolas"/>
              </a:rPr>
              <a:t>ALTER SESSION SET CONTAINER = pdb1;</a:t>
            </a:r>
          </a:p>
          <a:p>
            <a:pPr>
              <a:spcAft>
                <a:spcPts val="200"/>
              </a:spcAft>
            </a:pPr>
            <a:r>
              <a:rPr sz="1300">
                <a:solidFill>
                  <a:srgbClr val="F2F2F2"/>
                </a:solidFill>
                <a:latin typeface="Consolas"/>
              </a:rPr>
              <a:t>ALTER SYSTEM SET awr_pdb_autoflush_enabled = TRUE;</a:t>
            </a:r>
          </a:p>
          <a:p>
            <a:pPr>
              <a:spcAft>
                <a:spcPts val="200"/>
              </a:spcAft>
            </a:pPr>
            <a:r>
              <a:rPr sz="1300">
                <a:solidFill>
                  <a:srgbClr val="F2F2F2"/>
                </a:solidFill>
                <a:latin typeface="Consolas"/>
              </a:rPr>
              <a:t>SHOW PARAMETER statistics_level   -- BASIC이면 안 됨</a:t>
            </a:r>
          </a:p>
          <a:p>
            <a:pPr>
              <a:spcAft>
                <a:spcPts val="200"/>
              </a:spcAft>
            </a:pPr>
            <a:r>
              <a:rPr sz="1300">
                <a:solidFill>
                  <a:srgbClr val="F2F2F2"/>
                </a:solidFill>
                <a:latin typeface="Consolas"/>
              </a:rPr>
              <a:t> </a:t>
            </a:r>
          </a:p>
          <a:p>
            <a:pPr>
              <a:spcAft>
                <a:spcPts val="200"/>
              </a:spcAft>
            </a:pPr>
            <a:r>
              <a:rPr sz="1300">
                <a:solidFill>
                  <a:srgbClr val="F2F2F2"/>
                </a:solidFill>
                <a:latin typeface="Consolas"/>
              </a:rPr>
              <a:t>-- PDB 자체 스냅샷 생성·확인</a:t>
            </a:r>
          </a:p>
          <a:p>
            <a:pPr>
              <a:spcAft>
                <a:spcPts val="200"/>
              </a:spcAft>
            </a:pPr>
            <a:r>
              <a:rPr sz="1300">
                <a:solidFill>
                  <a:srgbClr val="F2F2F2"/>
                </a:solidFill>
                <a:latin typeface="Consolas"/>
              </a:rPr>
              <a:t>EXEC DBMS_WORKLOAD_REPOSITORY.CREATE_SNAPSHOT;</a:t>
            </a:r>
          </a:p>
          <a:p>
            <a:pPr>
              <a:spcAft>
                <a:spcPts val="200"/>
              </a:spcAft>
            </a:pPr>
            <a:r>
              <a:rPr sz="1300">
                <a:solidFill>
                  <a:srgbClr val="F2F2F2"/>
                </a:solidFill>
                <a:latin typeface="Consolas"/>
              </a:rPr>
              <a:t>SELECT snap_id FROM awr_pdb_snapshot ORDER BY snap_id;</a:t>
            </a:r>
          </a:p>
          <a:p>
            <a:pPr>
              <a:spcAft>
                <a:spcPts val="200"/>
              </a:spcAft>
            </a:pPr>
            <a:r>
              <a:rPr sz="1300">
                <a:solidFill>
                  <a:srgbClr val="F2F2F2"/>
                </a:solidFill>
                <a:latin typeface="Consolas"/>
              </a:rPr>
              <a:t> </a:t>
            </a:r>
          </a:p>
          <a:p>
            <a:pPr>
              <a:spcAft>
                <a:spcPts val="200"/>
              </a:spcAft>
            </a:pPr>
            <a:r>
              <a:rPr sz="1300">
                <a:solidFill>
                  <a:srgbClr val="F2F2F2"/>
                </a:solidFill>
                <a:latin typeface="Consolas"/>
              </a:rPr>
              <a:t>-- PDB 내부에서 해당 PDB 구간 ADDM 분석</a:t>
            </a:r>
          </a:p>
          <a:p>
            <a:pPr>
              <a:spcAft>
                <a:spcPts val="200"/>
              </a:spcAft>
            </a:pPr>
            <a:r>
              <a:rPr sz="1300">
                <a:solidFill>
                  <a:srgbClr val="F2F2F2"/>
                </a:solidFill>
                <a:latin typeface="Consolas"/>
              </a:rPr>
              <a:t>VAR t VARCHAR2(60)</a:t>
            </a:r>
          </a:p>
          <a:p>
            <a:pPr>
              <a:spcAft>
                <a:spcPts val="200"/>
              </a:spcAft>
            </a:pPr>
            <a:r>
              <a:rPr sz="1300">
                <a:solidFill>
                  <a:srgbClr val="F2F2F2"/>
                </a:solidFill>
                <a:latin typeface="Consolas"/>
              </a:rPr>
              <a:t>BEGIN</a:t>
            </a:r>
          </a:p>
          <a:p>
            <a:pPr>
              <a:spcAft>
                <a:spcPts val="200"/>
              </a:spcAft>
            </a:pPr>
            <a:r>
              <a:rPr sz="1300">
                <a:solidFill>
                  <a:srgbClr val="F2F2F2"/>
                </a:solidFill>
                <a:latin typeface="Consolas"/>
              </a:rPr>
              <a:t>  :t := 'ADDM_PDB1_10_11';</a:t>
            </a:r>
          </a:p>
          <a:p>
            <a:pPr>
              <a:spcAft>
                <a:spcPts val="200"/>
              </a:spcAft>
            </a:pPr>
            <a:r>
              <a:rPr sz="1300">
                <a:solidFill>
                  <a:srgbClr val="F2F2F2"/>
                </a:solidFill>
                <a:latin typeface="Consolas"/>
              </a:rPr>
              <a:t>  DBMS_ADDM.ANALYZE_INST(:t, 10, 11);</a:t>
            </a:r>
          </a:p>
          <a:p>
            <a:pPr>
              <a:spcAft>
                <a:spcPts val="200"/>
              </a:spcAft>
            </a:pPr>
            <a:r>
              <a:rPr sz="1300">
                <a:solidFill>
                  <a:srgbClr val="F2F2F2"/>
                </a:solidFill>
                <a:latin typeface="Consolas"/>
              </a:rPr>
              <a:t>END;</a:t>
            </a:r>
          </a:p>
          <a:p>
            <a:pPr>
              <a:spcAft>
                <a:spcPts val="200"/>
              </a:spcAft>
            </a:pPr>
            <a:r>
              <a:rPr sz="1300">
                <a:solidFill>
                  <a:srgbClr val="F2F2F2"/>
                </a:solidFill>
                <a:latin typeface="Consolas"/>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rPr>
              <a:t>31.9</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rPr>
              <a:t>Advisory Framework</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영역별 어드바이저 + 공통 API</a:t>
            </a:r>
          </a:p>
          <a:p>
            <a:pPr algn="l">
              <a:spcAft>
                <a:spcPts val="600"/>
              </a:spcAft>
            </a:pPr>
            <a:r>
              <a:rPr sz="1600" b="0">
                <a:solidFill>
                  <a:srgbClr val="FFFFFF"/>
                </a:solidFill>
                <a:latin typeface="맑은 고딕"/>
              </a:rPr>
              <a:t>•  DBMS_ADVISOR 4단계 패턴</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Advisory Framework 개념</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ADDM='무엇이 문제' / 어드바이저='어떻게 고칠지'</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rPr>
              <a:t>•  어드바이저 집합 + 공통 실행·관리 API 체계</a:t>
            </a:r>
          </a:p>
          <a:p>
            <a:pPr algn="l">
              <a:spcAft>
                <a:spcPts val="1000"/>
              </a:spcAft>
            </a:pPr>
            <a:r>
              <a:rPr sz="1700" b="0">
                <a:solidFill>
                  <a:srgbClr val="222222"/>
                </a:solidFill>
                <a:latin typeface="맑은 고딕"/>
              </a:rPr>
              <a:t>•  공통 흐름: CREATE_TASK → SET_TASK_PARAMETER → EXECUTE_TASK → GET_TASK_REPORT</a:t>
            </a:r>
          </a:p>
          <a:p>
            <a:pPr algn="l">
              <a:spcAft>
                <a:spcPts val="1000"/>
              </a:spcAft>
            </a:pPr>
            <a:r>
              <a:rPr sz="1700" b="0">
                <a:solidFill>
                  <a:srgbClr val="222222"/>
                </a:solidFill>
                <a:latin typeface="맑은 고딕"/>
              </a:rPr>
              <a:t>•  전용 래퍼(DBMS_SQLTUNE·DBMS_SPACE·DBMS_ADDM) 밑에 DBMS_ADVISOR</a:t>
            </a:r>
          </a:p>
          <a:p>
            <a:pPr algn="l">
              <a:spcAft>
                <a:spcPts val="1000"/>
              </a:spcAft>
            </a:pPr>
            <a:r>
              <a:rPr sz="1700" b="0">
                <a:solidFill>
                  <a:srgbClr val="222222"/>
                </a:solidFill>
                <a:latin typeface="맑은 고딕"/>
              </a:rPr>
              <a:t>•  결과는 DBA_ADVISOR_* 뷰에 공통 형식으로 저장</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rPr>
              <a:t>31.10</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rPr>
              <a:t>주요 어드바이저 종류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SQL Tuning·Access·Segment</a:t>
            </a:r>
          </a:p>
          <a:p>
            <a:pPr algn="l">
              <a:spcAft>
                <a:spcPts val="600"/>
              </a:spcAft>
            </a:pPr>
            <a:r>
              <a:rPr sz="1600" b="0">
                <a:solidFill>
                  <a:srgbClr val="FFFFFF"/>
                </a:solidFill>
                <a:latin typeface="맑은 고딕"/>
              </a:rPr>
              <a:t>•  Memory·Undo·MTTR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주요 어드바이저 개요</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증상 → 어드바이저 대응</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rPr>
              <a:t>•  SQL Tuning Advisor: 개별 SQL 분석(프로파일·인덱스·재작성) — DBMS_SQLTUNE</a:t>
            </a:r>
          </a:p>
          <a:p>
            <a:pPr algn="l">
              <a:spcAft>
                <a:spcPts val="1000"/>
              </a:spcAft>
            </a:pPr>
            <a:r>
              <a:rPr sz="1700" b="0">
                <a:solidFill>
                  <a:srgbClr val="222222"/>
                </a:solidFill>
                <a:latin typeface="맑은 고딕"/>
              </a:rPr>
              <a:t>•  SQL Access Advisor: 워크로드 전체의 인덱스·MV·파티션 설계</a:t>
            </a:r>
          </a:p>
          <a:p>
            <a:pPr algn="l">
              <a:spcAft>
                <a:spcPts val="1000"/>
              </a:spcAft>
            </a:pPr>
            <a:r>
              <a:rPr sz="1700" b="0">
                <a:solidFill>
                  <a:srgbClr val="222222"/>
                </a:solidFill>
                <a:latin typeface="맑은 고딕"/>
              </a:rPr>
              <a:t>•  Segment Advisor: 세그먼트 단편화 → SHRINK 공간 회수</a:t>
            </a:r>
          </a:p>
          <a:p>
            <a:pPr algn="l">
              <a:spcAft>
                <a:spcPts val="1000"/>
              </a:spcAft>
            </a:pPr>
            <a:r>
              <a:rPr sz="1700" b="0">
                <a:solidFill>
                  <a:srgbClr val="222222"/>
                </a:solidFill>
                <a:latin typeface="맑은 고딕"/>
              </a:rPr>
              <a:t>•  Memory / Undo / MTTR Advisor: 구성 파라미터 변경 효과 시뮬레이션</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증상별 어드바이저 선택</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실무 감각 — 증상만으로 도구 떠올리기</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rPr>
              <a:t>•  특정 SQL이 느리다 → SQL Tuning Advisor</a:t>
            </a:r>
          </a:p>
          <a:p>
            <a:pPr algn="l">
              <a:spcAft>
                <a:spcPts val="1000"/>
              </a:spcAft>
            </a:pPr>
            <a:r>
              <a:rPr sz="1700" b="0">
                <a:solidFill>
                  <a:srgbClr val="222222"/>
                </a:solidFill>
                <a:latin typeface="맑은 고딕"/>
              </a:rPr>
              <a:t>•  신규 앱 인덱스 설계 전체 검토 → SQL Access Advisor</a:t>
            </a:r>
          </a:p>
          <a:p>
            <a:pPr algn="l">
              <a:spcAft>
                <a:spcPts val="1000"/>
              </a:spcAft>
            </a:pPr>
            <a:r>
              <a:rPr sz="1700" b="0">
                <a:solidFill>
                  <a:srgbClr val="222222"/>
                </a:solidFill>
                <a:latin typeface="맑은 고딕"/>
              </a:rPr>
              <a:t>•  공간이 자꾸 부족 → Segment Advisor / 버퍼 캐시 고민 → Memory Advisor</a:t>
            </a:r>
          </a:p>
          <a:p>
            <a:pPr algn="l">
              <a:spcAft>
                <a:spcPts val="1000"/>
              </a:spcAft>
            </a:pPr>
            <a:r>
              <a:rPr sz="1700" b="0">
                <a:solidFill>
                  <a:srgbClr val="222222"/>
                </a:solidFill>
                <a:latin typeface="맑은 고딕"/>
              </a:rPr>
              <a:t>•  ORA-01555 잦음 → Undo Advisor / 복구 지연 → MTTR Advisor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spcAft>
                <a:spcPts val="600"/>
              </a:spcAft>
            </a:pPr>
            <a:r>
              <a:rPr sz="4000" b="1">
                <a:solidFill>
                  <a:srgbClr val="FFFFFF"/>
                </a:solidFill>
                <a:latin typeface="맑은 고딕"/>
              </a:rPr>
              <a:t>31.11</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spcAft>
                <a:spcPts val="600"/>
              </a:spcAft>
            </a:pPr>
            <a:r>
              <a:rPr sz="2800" b="1">
                <a:solidFill>
                  <a:srgbClr val="FFFFFF"/>
                </a:solidFill>
                <a:latin typeface="맑은 고딕"/>
              </a:rPr>
              <a:t>성능 튜닝 방법론</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정의→수집→식별→적용→검증 반복</a:t>
            </a:r>
          </a:p>
          <a:p>
            <a:pPr algn="l">
              <a:spcAft>
                <a:spcPts val="600"/>
              </a:spcAft>
            </a:pPr>
            <a:r>
              <a:rPr sz="1600" b="0">
                <a:solidFill>
                  <a:srgbClr val="FFFFFF"/>
                </a:solidFill>
                <a:latin typeface="맑은 고딕"/>
              </a:rPr>
              <a:t>•  Top-Down 접근</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반복적 튜닝 절차</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5단계 순환 방법론</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rPr>
              <a:t>•  ① 문제 정의: '느리다'를 SLA 기준 측정 가능한 문제로 전환</a:t>
            </a:r>
          </a:p>
          <a:p>
            <a:pPr algn="l">
              <a:spcAft>
                <a:spcPts val="1000"/>
              </a:spcAft>
            </a:pPr>
            <a:r>
              <a:rPr sz="1700" b="0">
                <a:solidFill>
                  <a:srgbClr val="222222"/>
                </a:solidFill>
                <a:latin typeface="맑은 고딕"/>
              </a:rPr>
              <a:t>•  ② 데이터 수집: AWR·ASH·ADDM·V$·트레이스로 문제 구간 통계 확보</a:t>
            </a:r>
          </a:p>
          <a:p>
            <a:pPr algn="l">
              <a:spcAft>
                <a:spcPts val="1000"/>
              </a:spcAft>
            </a:pPr>
            <a:r>
              <a:rPr sz="1700" b="0">
                <a:solidFill>
                  <a:srgbClr val="222222"/>
                </a:solidFill>
                <a:latin typeface="맑은 고딕"/>
              </a:rPr>
              <a:t>•  ③ 병목 식별: 근본 원인 발견(Top-Down)</a:t>
            </a:r>
          </a:p>
          <a:p>
            <a:pPr algn="l">
              <a:spcAft>
                <a:spcPts val="1000"/>
              </a:spcAft>
            </a:pPr>
            <a:r>
              <a:rPr sz="1700" b="0">
                <a:solidFill>
                  <a:srgbClr val="222222"/>
                </a:solidFill>
                <a:latin typeface="맑은 고딕"/>
              </a:rPr>
              <a:t>•  ④ 해결책 적용: 한 번에 하나씩 / ⑤ 검증: 지표 재측정, 미달 시 반복</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Top-Down 접근의 핵심</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사용자 체감 응답시간에서 출발</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000"/>
              </a:spcAft>
            </a:pPr>
            <a:r>
              <a:rPr sz="1700" b="0">
                <a:solidFill>
                  <a:srgbClr val="222222"/>
                </a:solidFill>
                <a:latin typeface="맑은 고딕"/>
              </a:rPr>
              <a:t>•  응답시간=대기+서비스, DB Time=CPU+대기, 대기=클래스별 분해</a:t>
            </a:r>
          </a:p>
          <a:p>
            <a:pPr algn="l">
              <a:spcAft>
                <a:spcPts val="1000"/>
              </a:spcAft>
            </a:pPr>
            <a:r>
              <a:rPr sz="1700" b="0">
                <a:solidFill>
                  <a:srgbClr val="222222"/>
                </a:solidFill>
                <a:latin typeface="맑은 고딕"/>
              </a:rPr>
              <a:t>•  가장 큰 조각부터 조사 (1% 항목 최적화는 체감 없음)</a:t>
            </a:r>
          </a:p>
          <a:p>
            <a:pPr algn="l">
              <a:spcAft>
                <a:spcPts val="1000"/>
              </a:spcAft>
            </a:pPr>
            <a:r>
              <a:rPr sz="1700" b="0">
                <a:solidFill>
                  <a:srgbClr val="222222"/>
                </a:solidFill>
                <a:latin typeface="맑은 고딕"/>
              </a:rPr>
              <a:t>•  Bottom-Up(비율 지표)의 함정: hit ratio는 맥락 없이는 무의미</a:t>
            </a:r>
          </a:p>
          <a:p>
            <a:pPr algn="l">
              <a:spcAft>
                <a:spcPts val="1000"/>
              </a:spcAft>
            </a:pPr>
            <a:r>
              <a:rPr sz="1700" b="0">
                <a:solidFill>
                  <a:srgbClr val="222222"/>
                </a:solidFill>
                <a:latin typeface="맑은 고딕"/>
              </a:rPr>
              <a:t>•  인프라 대응: AWR=수집, ADDM=식별, Advisory=적용, 재분석=검증</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퀴즈 (Quiz)</a:t>
            </a:r>
          </a:p>
        </p:txBody>
      </p:sp>
      <p:sp>
        <p:nvSpPr>
          <p:cNvPr id="4" name="TextBox 3"/>
          <p:cNvSpPr txBox="1"/>
          <p:nvPr/>
        </p:nvSpPr>
        <p:spPr>
          <a:xfrm>
            <a:off x="640080" y="1078992"/>
            <a:ext cx="10881360" cy="457200"/>
          </a:xfrm>
          <a:prstGeom prst="rect">
            <a:avLst/>
          </a:prstGeom>
          <a:noFill/>
        </p:spPr>
        <p:txBody>
          <a:bodyPr wrap="square" anchor="t">
            <a:spAutoFit/>
          </a:bodyPr>
          <a:lstStyle/>
          <a:p>
            <a:pPr algn="l">
              <a:spcAft>
                <a:spcPts val="600"/>
              </a:spcAft>
            </a:pPr>
            <a:r>
              <a:rPr sz="1500" b="0">
                <a:solidFill>
                  <a:srgbClr val="5A6672"/>
                </a:solidFill>
                <a:latin typeface="맑은 고딕"/>
              </a:rPr>
              <a:t>이해도 점검 (정답은 실습문제 정답지 참고)</a:t>
            </a:r>
          </a:p>
        </p:txBody>
      </p:sp>
      <p:sp>
        <p:nvSpPr>
          <p:cNvPr id="5" name="TextBox 4"/>
          <p:cNvSpPr txBox="1"/>
          <p:nvPr/>
        </p:nvSpPr>
        <p:spPr>
          <a:xfrm>
            <a:off x="640080" y="1737360"/>
            <a:ext cx="10881360" cy="4754880"/>
          </a:xfrm>
          <a:prstGeom prst="rect">
            <a:avLst/>
          </a:prstGeom>
          <a:noFill/>
        </p:spPr>
        <p:txBody>
          <a:bodyPr wrap="square" anchor="t">
            <a:spAutoFit/>
          </a:bodyPr>
          <a:lstStyle/>
          <a:p>
            <a:pPr algn="l">
              <a:spcAft>
                <a:spcPts val="1200"/>
              </a:spcAft>
            </a:pPr>
            <a:r>
              <a:rPr sz="1700" b="0">
                <a:solidFill>
                  <a:srgbClr val="222222"/>
                </a:solidFill>
                <a:latin typeface="맑은 고딕"/>
              </a:rPr>
              <a:t>•  Q1. 성능 관리 활동을 개입 시점 기준 두 가지로 나누면? 각각 한 줄로 설명.</a:t>
            </a:r>
          </a:p>
          <a:p>
            <a:pPr algn="l">
              <a:spcAft>
                <a:spcPts val="1200"/>
              </a:spcAft>
            </a:pPr>
            <a:r>
              <a:rPr sz="1700" b="0">
                <a:solidFill>
                  <a:srgbClr val="222222"/>
                </a:solidFill>
                <a:latin typeface="맑은 고딕"/>
              </a:rPr>
              <a:t>•  Q2. AWR 스냅샷을 수집하는 프로세스와 기본 간격·기본 보존 기간은?</a:t>
            </a:r>
          </a:p>
          <a:p>
            <a:pPr algn="l">
              <a:spcAft>
                <a:spcPts val="1200"/>
              </a:spcAft>
            </a:pPr>
            <a:r>
              <a:rPr sz="1700" b="0">
                <a:solidFill>
                  <a:srgbClr val="222222"/>
                </a:solidFill>
                <a:latin typeface="맑은 고딕"/>
              </a:rPr>
              <a:t>•  Q3. AWR·ADDM 동작에 반드시 TYPICAL/ALL이어야 하는 파라미터는?</a:t>
            </a:r>
          </a:p>
          <a:p>
            <a:pPr algn="l">
              <a:spcAft>
                <a:spcPts val="1200"/>
              </a:spcAft>
            </a:pPr>
            <a:r>
              <a:rPr sz="1700" b="0">
                <a:solidFill>
                  <a:srgbClr val="222222"/>
                </a:solidFill>
                <a:latin typeface="맑은 고딕"/>
              </a:rPr>
              <a:t>•  Q4. 수동 스냅샷 생성 프로시저와 간격/보존 변경 프로시저는?</a:t>
            </a:r>
          </a:p>
          <a:p>
            <a:pPr algn="l">
              <a:spcAft>
                <a:spcPts val="1200"/>
              </a:spcAft>
            </a:pPr>
            <a:r>
              <a:rPr sz="1700" b="0">
                <a:solidFill>
                  <a:srgbClr val="222222"/>
                </a:solidFill>
                <a:latin typeface="맑은 고딕"/>
              </a:rPr>
              <a:t>•  Q5. ADDM의 최상위 목표 지표는? ADDM은 언제 자동 실행되는가?</a:t>
            </a:r>
          </a:p>
          <a:p>
            <a:pPr algn="l">
              <a:spcAft>
                <a:spcPts val="1200"/>
              </a:spcAft>
            </a:pPr>
            <a:r>
              <a:rPr sz="1700" b="0">
                <a:solidFill>
                  <a:srgbClr val="222222"/>
                </a:solidFill>
                <a:latin typeface="맑은 고딕"/>
              </a:rPr>
              <a:t>•  Q6. 19c PDB 수준 AWR을 켜는 파라미터와 PDB 데이터 조회 뷰 접두어는?</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700"/>
              </a:spcAft>
            </a:pPr>
            <a:r>
              <a:rPr sz="1600" b="0">
                <a:solidFill>
                  <a:srgbClr val="222222"/>
                </a:solidFill>
                <a:latin typeface="맑은 고딕"/>
              </a:rPr>
              <a:t>•  성능 관리는 수명주기 전체의 반복 활동이며 사전 예방·사후 대응으로 나뉜다.</a:t>
            </a:r>
          </a:p>
          <a:p>
            <a:pPr algn="l">
              <a:spcAft>
                <a:spcPts val="700"/>
              </a:spcAft>
            </a:pPr>
            <a:r>
              <a:rPr sz="1600" b="0">
                <a:solidFill>
                  <a:srgbClr val="222222"/>
                </a:solidFill>
                <a:latin typeface="맑은 고딕"/>
              </a:rPr>
              <a:t>•  성능 계획: 정량화된 SLA, 현실적 워크로드 테스트, 확장성, 자원 산정.</a:t>
            </a:r>
          </a:p>
          <a:p>
            <a:pPr algn="l">
              <a:spcAft>
                <a:spcPts val="700"/>
              </a:spcAft>
            </a:pPr>
            <a:r>
              <a:rPr sz="1600" b="0">
                <a:solidFill>
                  <a:srgbClr val="222222"/>
                </a:solidFill>
                <a:latin typeface="맑은 고딕"/>
              </a:rPr>
              <a:t>•  AWR: MMON이 60분마다 스냅샷 → SYSAUX 8일 보존, STATISTICS_LEVEL=TYPICAL 전제.</a:t>
            </a:r>
          </a:p>
          <a:p>
            <a:pPr algn="l">
              <a:spcAft>
                <a:spcPts val="700"/>
              </a:spcAft>
            </a:pPr>
            <a:r>
              <a:rPr sz="1600" b="0">
                <a:solidFill>
                  <a:srgbClr val="222222"/>
                </a:solidFill>
                <a:latin typeface="맑은 고딕"/>
              </a:rPr>
              <a:t>•  스냅샷: CREATE_SNAPSHOT 수동 생성, MODIFY_SNAPSHOT_SETTINGS로 설정 변경.</a:t>
            </a:r>
          </a:p>
          <a:p>
            <a:pPr algn="l">
              <a:spcAft>
                <a:spcPts val="700"/>
              </a:spcAft>
            </a:pPr>
            <a:r>
              <a:rPr sz="1600" b="0">
                <a:solidFill>
                  <a:srgbClr val="222222"/>
                </a:solidFill>
                <a:latin typeface="맑은 고딕"/>
              </a:rPr>
              <a:t>•  베이스라인: 정상 기간 기준선(고정·이동 윈도우), 보존 정책과 무관하게 유지.</a:t>
            </a:r>
          </a:p>
          <a:p>
            <a:pPr algn="l">
              <a:spcAft>
                <a:spcPts val="700"/>
              </a:spcAft>
            </a:pPr>
            <a:r>
              <a:rPr sz="1600" b="0">
                <a:solidFill>
                  <a:srgbClr val="222222"/>
                </a:solidFill>
                <a:latin typeface="맑은 고딕"/>
              </a:rPr>
              <a:t>•  ADDM: 두 스냅샷 비교로 DB Time 병목 자동 진단, 스냅샷 직후 자동 실행.</a:t>
            </a:r>
          </a:p>
          <a:p>
            <a:pPr algn="l">
              <a:spcAft>
                <a:spcPts val="700"/>
              </a:spcAft>
            </a:pPr>
            <a:r>
              <a:rPr sz="1600" b="0">
                <a:solidFill>
                  <a:srgbClr val="222222"/>
                </a:solidFill>
                <a:latin typeface="맑은 고딕"/>
              </a:rPr>
              <a:t>•  19c: PDB 수준 AWR·ADDM(AWR_PDB_AUTOFLUSH_ENABLED, DBMS_ADDM, AWR_PDB_* 뷰).</a:t>
            </a:r>
          </a:p>
          <a:p>
            <a:pPr algn="l">
              <a:spcAft>
                <a:spcPts val="700"/>
              </a:spcAft>
            </a:pPr>
            <a:r>
              <a:rPr sz="1600" b="0">
                <a:solidFill>
                  <a:srgbClr val="222222"/>
                </a:solidFill>
                <a:latin typeface="맑은 고딕"/>
              </a:rPr>
              <a:t>•  Advisory Framework: DBMS_ADVISOR 공통 API 위 영역별 어드바이저.</a:t>
            </a:r>
          </a:p>
          <a:p>
            <a:pPr algn="l">
              <a:spcAft>
                <a:spcPts val="700"/>
              </a:spcAft>
            </a:pPr>
            <a:r>
              <a:rPr sz="1600" b="0">
                <a:solidFill>
                  <a:srgbClr val="222222"/>
                </a:solidFill>
                <a:latin typeface="맑은 고딕"/>
              </a:rPr>
              <a:t>•  튜닝 방법론: 정의→수집→식별→적용→검증 반복, Top-Down·한 번에 하나씩.</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spcAft>
                <a:spcPts val="600"/>
              </a:spcAft>
            </a:pPr>
            <a:r>
              <a:rPr sz="2600" b="1">
                <a:solidFill>
                  <a:srgbClr val="FFFFFF"/>
                </a:solidFill>
                <a:latin typeface="맑은 고딕"/>
              </a:rPr>
              <a:t>실습 31 개요 (Practice Overview)</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700"/>
              </a:spcAft>
            </a:pPr>
            <a:r>
              <a:rPr sz="1600" b="0">
                <a:solidFill>
                  <a:srgbClr val="222222"/>
                </a:solidFill>
                <a:latin typeface="맑은 고딕"/>
              </a:rPr>
              <a:t>•  실습 01 — 성능 관리 활동 및 계획 고려사항 확인(STATISTICS_LEVEL)</a:t>
            </a:r>
          </a:p>
          <a:p>
            <a:pPr algn="l">
              <a:spcAft>
                <a:spcPts val="700"/>
              </a:spcAft>
            </a:pPr>
            <a:r>
              <a:rPr sz="1600" b="0">
                <a:solidFill>
                  <a:srgbClr val="222222"/>
                </a:solidFill>
                <a:latin typeface="맑은 고딕"/>
              </a:rPr>
              <a:t>•  실습 02 — AWR 스냅샷 개념 확인(CREATE_SNAPSHOT / MODIFY_SNAPSHOT_SETTINGS)</a:t>
            </a:r>
          </a:p>
          <a:p>
            <a:pPr algn="l">
              <a:spcAft>
                <a:spcPts val="700"/>
              </a:spcAft>
            </a:pPr>
            <a:r>
              <a:rPr sz="1600" b="0">
                <a:solidFill>
                  <a:srgbClr val="222222"/>
                </a:solidFill>
                <a:latin typeface="맑은 고딕"/>
              </a:rPr>
              <a:t>•  실습 03 — ADDM 분석 확인(ANALYZE_DB / GET_REPORT / 발견 사항)</a:t>
            </a:r>
          </a:p>
          <a:p>
            <a:pPr algn="l">
              <a:spcAft>
                <a:spcPts val="700"/>
              </a:spcAft>
            </a:pPr>
            <a:r>
              <a:rPr sz="1600" b="0">
                <a:solidFill>
                  <a:srgbClr val="222222"/>
                </a:solidFill>
                <a:latin typeface="맑은 고딕"/>
              </a:rPr>
              <a:t>•  실습 04 — PDB 수준 자동 ADDM 분석 구성(AWR_PDB_AUTOFLUSH_ENABLED)</a:t>
            </a:r>
          </a:p>
          <a:p>
            <a:pPr algn="l">
              <a:spcAft>
                <a:spcPts val="700"/>
              </a:spcAft>
            </a:pPr>
            <a:r>
              <a:rPr sz="1600" b="0">
                <a:solidFill>
                  <a:srgbClr val="222222"/>
                </a:solidFill>
                <a:latin typeface="맑은 고딕"/>
              </a:rPr>
              <a:t>•  실습 05 — Advisory Framework(어드바이저 종류) 확인(DBA_ADVISOR_*)</a:t>
            </a:r>
          </a:p>
          <a:p>
            <a:pPr algn="l">
              <a:spcAft>
                <a:spcPts val="700"/>
              </a:spcAft>
            </a:pPr>
            <a:r>
              <a:rPr sz="1600" b="0">
                <a:solidFill>
                  <a:srgbClr val="222222"/>
                </a:solidFill>
                <a:latin typeface="맑은 고딕"/>
              </a:rPr>
              <a:t>•  실습 06 — 성능 튜닝 방법론 확인(Top-Down, 시간 모델·대기 클래스 분해)</a:t>
            </a:r>
          </a:p>
          <a:p>
            <a:pPr algn="l">
              <a:spcAft>
                <a:spcPts val="700"/>
              </a:spcAft>
            </a:pPr>
            <a:r>
              <a:rPr sz="1600" b="0">
                <a:solidFill>
                  <a:srgbClr val="222222"/>
                </a:solidFill>
                <a:latin typeface="맑은 고딕"/>
              </a:rPr>
              <a:t>•  ※ 각 실습에 '오류 → 원인 파악 → 수정' 흐름 포함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
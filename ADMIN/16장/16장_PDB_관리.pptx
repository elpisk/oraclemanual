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89" r:id="rId41"/>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91" r:id="rId43"/>
    <p:sldId id="276" r:id="rId28"/>
    <p:sldId id="277" r:id="rId29"/>
    <p:sldId id="278" r:id="rId30"/>
    <p:sldId id="279" r:id="rId31"/>
    <p:sldId id="280" r:id="rId32"/>
    <p:sldId id="281" r:id="rId33"/>
    <p:sldId id="282" r:id="rId34"/>
    <p:sldId id="290" r:id="rId42"/>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PDB의 오픈 모드는 READ WRITE(정상 운영), READ ONLY(질의만), MIGRATE(업그레이드용 제한 모드), MOUNTED(사실상 닫힌 상태) 네 가지다. PDB는 CDB 인스턴스가 이미 OPEN된 상태에서 컨테이너 단위로 독립적으로 열고 닫힌다. 7장에서 배운 OPEN/CLOSE 기초를 이 장에서 여러 PDB 동시 제어와 옵션으로 심화한다. MIGRATE 모드에서는 일반 사용자 접속이 차단되고 관리 스크립트만 동작한다.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PDB는 세 방식으로 지정한다. 쉼표 목록(pdb1, pdb2), ALL(시드 제외 전체), ALL EXCEPT(특정 PDB만 제외). ALL을 써도 PDB$SEED는 항상 READ ONLY로 유지되어야 하므로 자동 제외된다. 이미 원하는 모드인 PDB가 포함되어도 오류 없이 무시된다. 오픈 모드를 A→B로 바꾸려면 원래는 닫았다 다시 열어야 하지만, FORCE 옵션을 쓰면 닫는 단계 없이 곧바로 전환한다. RESTRICTED는 RESTRICTED SESSION 권한 보유자만 접속을 허용한다. CLOSE IMMEDIATE는 미커밋 트랜잭션을 롤백하고 즉시 닫는다.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인스턴스를 재시작하면 PDB는 기본적으로 MOUNTED 상태로 남는다. 기동 시 자동으로 READ WRITE로 열리게 하려면 SAVE STATE를 사용한다. SAVE STATE는 스냅샷이 아니라 ‘이 PDB는 기동 시 자동으로 열려야 한다’는 지시를 딕셔너리에 기록하는 것으로, 저장된 상태는 DBA_PDB_SAVED_STATES에서 확인한다. DISCARD STATE로 제거한다. 12.1.0.2 이후 트리거 대신 SAVE STATE가 표준이다. RAC에서는 INSTANCES=ALL로 모든 인스턴스에서 열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PDB는 논리적으로 독립된 데이터베이스처럼 동작하므로 각 PDB마다 고유한 기본 영구/임시 테이블스페이스를 가질 수 있다. 새 PDB의 기본값은 대개 SYSTEM이거나 시드에서 물려받은 값이므로, 애플리케이션 데이터가 SYSTEM에 섞이지 않도록 별도 기본 테이블스페이스를 지정하는 것이 바람직하다. PDB로 컨텍스트를 전환한 뒤 ALTER PLUGGABLE DATABASE DEFAULT TABLESPACE로 지정하며, 지정값은 DATABASE_PROPERTIES 뷰의 DEFAULT_PERMANENT_TABLESPACE에서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환경에서는 여러 PDB가 하나의 CDB 저장소를 공유하므로, 특정 PDB가 폭주해 디스크를 독점하면 다른 PDB까지 피해를 본다. STORAGE 절의 MAXSIZE로 그 PDB에 속한 모든 데이터 파일 크기 합계 상한을, MAX_SHARED_TEMP_SIZE로 임시 공간 상한을 건다. MAXSIZE 도달 시 확장 작업이 ORA-65114로 실패한다. MAX_AUDIT_SIZE·MAX_DIAG_SIZE로 감사·진단 공간도 제한할 수 있다. 단 MAXSIZE를 낮춰도 이미 할당된 파일이 즉시 줄지는 않는다. 성장 통제 수단이지 즉시 축소 수단이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잠금 프로파일은 클라우드·SaaS에서 PDB 관리자에게 관리 권한을 주면서도 위험한 행위는 원천 차단하기 위한 도구다. 권한이 ‘무엇을 할 수 있는가’를 부여한다면, 잠금 프로파일은 ‘가진 권한 안에서도 무엇을 못 하게 할 것인가’를 규정한다. CDB 루트에서 CREATE LOCKDOWN PROFILE로 만들고, ALTER LOCKDOWN PROFILE의 DISABLE/ENABLE로 STATEMENT(ALTER SYSTEM 등), OPTION, FEATURE(파일·네트워크 접근)를 제어한다. PDB_LOCKDOWN 파라미터로 적용하고 DBA_LOCKDOWN_PROFILES로 확인한다. 상세는 22장에서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파라미터를 PDB에서 바꿀 수 있는 것은 아니다. V$PARAMETER의 ISPDB_MODIFIABLE 컬럼이 TRUE면 PDB에서 ALTER SYSTEM으로 독립적으로 설정 가능하고, FALSE면 루트에서만 설정 가능하며 모든 PDB가 루트 값을 상속한다. db_block_size는 CDB 생성 시 고정되어 FALSE, open_cursors·nls_date_format처럼 세션·PDB별 성향이 강한 파라미터는 TRUE다. 메모리 파라미터(SGA_TARGET, SGA_MIN_SIZE, PGA_AGGREGATE_LIMIT)는 PDB 몫을 정하는 것일 뿐 별도 SGA를 만드는 것이 아니므로, 합계가 CDB 전체 예산을 넘지 않게 설계해야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ISPDB_MODIFIABLE=TRUE인 파라미터를 PDB에서 바꾸면 그 변경은 해당 PDB에만 적용되고 루트나 다른 PDB에는 영향을 주지 않는 것이 원칙이다. 이 격리성이 멀티테넌트의 핵심으로, 하나의 CDB 위에 올린 여러 애플리케이션을 서로 간섭 없이 개별 최적화할 수 있게 한다. 다만 일부 파라미터는 인스턴스 전역 자원(공유 메모리 등)과 연결된다. PDB 수준 SGA_TARGET은 그 PDB의 SGA 사용 상한 개념으로 동작하며 물리적 SGA 자체는 인스턴스가 공유하므로, 이런 파라미터는 CDB 전체 자원 안에서 해석된다는 점을 이해해야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안에서 파라미터를 바꾸고 그 변경이 다른 컨테이너에 파급되지 않음을 확인하는 흐름이다. pdb1에서 open_cursors를 500으로 올려도 루트와 다른 PDB는 50으로 남는다. SCOPE=BOTH는 메모리와 저장 값을 함께 바꾼다. PDB 컨텍스트에서 SCOPE=SPFILE/BOTH로 지정한 값은 물리 SPFILE이 아니라 PDB 내부(PDB_SPFILE$ 기반)에 저장되어, PDB를 다른 CDB로 옮겨도 설정이 보존된다. SCOPE=MEMORY는 재오픈 시 사라지고, SPFILE은 다음 오픈부터 적용된다. 8장 SCOPE 규칙이 그대로 성립하되 저장 장소만 다르다.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PDB는 인스턴스를 시작·종료하는 주체가 아니라 이미 떠 있는 인스턴스 위에서 열고 닫히는 컨테이너다. 따라서 인스턴스 생명주기나 물리 구조 관련 작업은 PDB에서 수행할 수 없다. ISPDB_MODIFIABLE=FALSE 파라미터 변경(db_block_size, control_files, sga_max_size), ALTER DATABASE ARCHIVELOG 같은 CDB 수준 작업이 금지된다. PDB에서 db_block_size 변경을 시도하면 ORA-65040(operation not allowed from within a pluggable database)이 발생한다. 이 오류를 만나면 대상 파라미터의 ISPDB_MODIFIABLE부터 확인하면 원인을 곧장 좁힐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반대로 PDB에서 실행할 수 있으면서도 효과가 인스턴스 공유 자원에 미치는 명령도 있다. 세션 강제 종료(KILL SESSION), 공유 풀 비우기(FLUSH SHARED_POOL), 체크포인트 강제(CHECKPOINT) 같은 동작성 명령은 대상 자원이 CDB 전체가 공유하는 것이므로 물리적으로 인스턴스 전역에 작용한다. ‘설정의 격리’와 ‘동작의 공유’를 구분하는 것이 핵심이다. PDB에 로컬 SYSDBA 권한을 가진 사용자는 자기 PDB 범위에서만 관리할 수 있고 다른 PDB나 루트 설정은 바꿀 수 없다. CDB 전역 변경은 루트에 연결한 공통 SYSDBA만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기본적으로 CDB의 모든 PDB는 같은 리스너·같은 포트로 접근된다. 각 PDB는 생성 시 자기 이름과 같은 기본 서비스가 자동 등록된다. PDB별로 네트워크 엔드포인트를 분리하려면 두 방법이 있다. ① LOCAL_LISTENER(ISPDB_MODIFIABLE=TRUE)를 그 PDB 전용 리스너 주소로 지정하면, 11장의 동적 등록 메커니즘에 따라 LREG가 그 PDB 서비스를 지정 포트 리스너에만 등록한다. ② DBMS_XDB_CONFIG.SETHTTPPORT/SETFTPPORT로 XML DB 프로토콜 포트를 PDB별로 배정한다. SQL*Net 분리는 LOCAL_LISTENER, 웹 프로토콜 분리는 DBMS_XDB_CONFIG를 쓴다. 변경 후 ALTER SYSTEM REGISTER로 즉시 재등록한다.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PDB를 드롭하려면 먼저 모든 인스턴스에서 닫혀(MOUNTED) 있어야 한다. 열린 PDB를 드롭하면 ORA-65025가 발생하므로 표준 절차는 ‘닫기 → 드롭’ 두 단계다. 프로젝트가 끝난 개발·테스트 PDB, 임시 리포팅 PDB, 다른 CDB로 옮겨 껍데기만 남은 PDB 등을 방치하면 디스크와 관리 비용이 늘어나므로 절차에 따라 확실히 드롭해 자원을 회수한다. 드롭은 UNDO나 플래시백으로 되돌릴 수 없으므로 삭제 전 백업이나 언플러그를 반드시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PLUGGABLE DATABASE의 데이터 파일 처리 옵션은 두 가지다. 기본값 KEEP DATAFILES는 메타데이터만 CDB에서 제거하고 파일은 디스크에 남긴다(CDB는 더 이상 참조하지 않음). INCLUDING DATAFILES는 파일까지 디스크에서 삭제한다. 언플러그된 PDB를 드롭할 때는 파일이 다른 CDB에서 재플러그될 재료이므로 KEEP으로 보존해야 한다. ‘언플러그→플러그→소스에서 KEEP 드롭’ 세 단계가 완전한 이동이다. 폐기 시에는 먼저 UNPLUG INTO로 단일 아카이브(.pdb)를 만들어 탈출구를 남긴 뒤 최종 드롭하는 것이 안전하다. CDB 자체를 삭제하면 모든 PDB가 함께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관리 작업은 여러 딕셔너리·동적 성능 뷰로 상태를 확인한다. V$로 시작하는 뷰는 인스턴스의 실시간 상태를, CDB_/DBA_로 시작하는 뷰는 딕셔너리의 정적 정보를 보여 준다는 8장 구분이 그대로 적용된다. 오픈 모드처럼 순간 바뀌는 값은 V$PDBS에서, 생성 이력처럼 축적되는 정보는 DBA_PDB_HISTORY에서 확인한다. V$PDBS는 오픈 모드·RESTRICTED·MAX_SIZE를, V$CONTAINERS는 루트까지 포함한 전체 컨테이너를, DBA_PDB_SAVED_STATES는 자동 오픈 상태를, V$PARAMETER는 ISPDB_MODIFIABLE로 수정 가능 여부를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답: ALTER PLUGGABLE DATABASE ALL OPEN; 이며 특정 PDB 제외는 ALL EXCEPT pdb_name 절을 쓴다. ALL은 PDB$SEED를 자동 제외한다. Q2 답: OPEN READ WRITE FORCE. FORCE 옵션이 현재 오픈 모드에서 다른 모드로의 강제 전환을 허용해, 닫았다 다시 여는 두 단계를 한 번에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답: V$PARAMETER(또는 V$SYSTEM_PARAMETER)의 ISPDB_MODIFIABLE이 TRUE면 PDB에서 수정 가능, FALSE면 루트에서만 가능하다. Q4 답: ORA-65040(operation not allowed from within a pluggable database). db_block_size는 ISPDB_MODIFIABLE=FALSE인 인스턴스 전역 설정이라 PDB에서 변경할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답: 드롭하려면 PDB가 모든 인스턴스에서 닫혀(MOUNTED) 있어야 한다. KEEP DATAFILES(기본, 파일 보존) vs INCLUDING DATAFILES(파일까지 삭제). Q6 답: 각 PDB에서 LOCAL_LISTENER(ISPDB_MODIFIABLE=TRUE)를 그 PDB 전용 리스너 주소로 지정하면 그 PDB 서비스가 해당 포트 리스너에만 등록된다. XML DB 프로토콜 포트는 DBMS_XDB_CONFIG로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개요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16.1.2절의 FORCE와 RESTRICTED 옵션을 실제 명령으로 보여 준다. 일반적으로 오픈 모드를 A에서 B로 바꾸려면 PDB를 닫았다가 원하는 모드로 다시 열어야 하지만, FORCE 옵션을 쓰면 닫는 단계를 생략하고 곧바로 모드를 전환할 수 있다. 예를 들어 READ ONLY로 운영하던 리포팅 PDB를 잠시 READ WRITE로 올려 데이터를 보정할 때 OPEN READ WRITE FORCE가 유용하다. RESTRICTED 절은 RESTRICTED SESSION 권한을 가진 사용자만 접속을 허용하는 제한 오픈으로, 유지관리나 데이터 정합성 점검처럼 일반 사용자를 차단해야 할 때 쓴다. 오픈 후 V$PDBS의 OPEN_MODE와 RESTRICTED 컬럼으로 현재 상태를 확인하는 습관을 함께 강조한다. RESTRICTED=YES는 그 PDB가 제한 모드로 열려 있음을 뜻한다.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16.9절의 PDB 관리 딕셔너리 뷰를 실제 조회 예제로 보여 준다. 핵심 구분은 8장에서 배운 대로, V$로 시작하는 동적 성능 뷰는 인스턴스의 실시간 상태를, CDB_/DBA_로 시작하는 데이터 딕셔너리 뷰는 저장된 정적 정보를 보여 준다는 것이다. 오픈 모드처럼 순간순간 바뀌는 값은 V$PDBS에서 확인하고, MAX_SIZE 같은 저장 한도도 함께 조회할 수 있다. PDB의 생성·플러그·언플러그 같은 생애 주기 이벤트는 DBA_PDB_HISTORY(CDB 전체는 CDB_PDB_HISTORY)에 축적되므로, 언제 어떤 작업이 있었는지 감사·추적할 때 이 뷰를 본다. 현존 PDB의 정적 상태(NORMAL/NEW 등)와 CON_ID는 CDB_PDBS에서 확인한다. 단, 완전히 드롭된 PDB는 CDB_PDBS·V$PDBS 어디에서도 더 이상 조회되지 않는다는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16.6.3절의 결론을 실무 판단 절차로 정리한 것이다. PDB 안에서 ALTER SYSTEM을 다룰 때는 세 가지 질문을 순서대로 던지면 어떤 명령이 허용되고 그 영향이 어디까지 미치는지 정확히 예측할 수 있다. 첫째, 이 명령이 파라미터 설정(SET)인가 동작 명령인가? 둘째, 설정이라면 대상 파라미터의 ISPDB_MODIFIABLE이 TRUE인가? TRUE면 그 PDB에만 적용되고, FALSE면 ORA-65040으로 거부된다. 셋째, 동작 명령이라면 그 동작이 건드리는 자원이 PDB 전용인가 인스턴스 공유인가? CHECKPOINT·FLUSH·KILL SESSION 같은 동작은 PDB에서 실행되더라도 인스턴스 전역 공유 자원에 작용한다. 권한 경계도 함께 기억한다. PDB 로컬 SYSDBA는 자기 PDB 안에서만 시스템을 관리할 수 있고, 다른 PDB나 CDB 루트의 설정은 바꿀 수 없다. CDB 전역에 영향을 주는 변경은 루트에 연결한 공통 SYSDBA만 수행할 수 있으며, 이 경계가 멀티테넌트 보안의 근간이다. 실무에서 ORA-65040을 만나면 첫 번째·두 번째 질문으로 즉시 원인을 진단할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ea typeface="Malgun Gothic"/>
              </a:rPr>
              <a:t>Oracle Database 19c Administration Workshop</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ea typeface="Malgun Gothic"/>
              </a:rPr>
              <a:t>PDB 관리</a:t>
            </a:r>
          </a:p>
          <a:p>
            <a:r>
              <a:rPr sz="4400" b="1">
                <a:solidFill>
                  <a:srgbClr val="FFFFFF"/>
                </a:solidFill>
                <a:latin typeface="Malgun Gothic"/>
                <a:ea typeface="Malgun Gothic"/>
              </a:rPr>
              <a:t>Managing PDBs</a:t>
            </a:r>
          </a:p>
        </p:txBody>
      </p:sp>
      <p:sp>
        <p:nvSpPr>
          <p:cNvPr id="5" name="TextBox 4"/>
          <p:cNvSpPr txBox="1"/>
          <p:nvPr/>
        </p:nvSpPr>
        <p:spPr>
          <a:xfrm>
            <a:off x="1188720" y="4480560"/>
            <a:ext cx="10058400" cy="1280160"/>
          </a:xfrm>
          <a:prstGeom prst="rect">
            <a:avLst/>
          </a:prstGeom>
          <a:noFill/>
        </p:spPr>
        <p:txBody>
          <a:bodyPr wrap="square">
            <a:spAutoFit/>
          </a:bodyPr>
          <a:lstStyle/>
          <a:p>
            <a:r>
              <a:rPr sz="1800" b="0">
                <a:solidFill>
                  <a:srgbClr val="C5CED6"/>
                </a:solidFill>
                <a:latin typeface="Malgun Gothic"/>
                <a:ea typeface="Malgun Gothic"/>
              </a:rPr>
              <a:t>PDB 모드 변경 · 설정 수정 · 잠금 프로파일 · 초기화 파라미터 · 호스트/포트 · PDB 드롭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700" b="0">
                <a:solidFill>
                  <a:srgbClr val="C0392B"/>
                </a:solidFill>
                <a:latin typeface="Malgun Gothic"/>
                <a:ea typeface="Malgun Gothic"/>
              </a:rPr>
              <a:t>•  PDB 오픈 모드 변경 (READ WRITE/READ ONLY/MIGRATE/MOUNTED)</a:t>
            </a:r>
          </a:p>
          <a:p>
            <a:pPr>
              <a:spcAft>
                <a:spcPts val="1000"/>
              </a:spcAft>
            </a:pPr>
            <a:r>
              <a:rPr sz="1700" b="0">
                <a:solidFill>
                  <a:srgbClr val="C0392B"/>
                </a:solidFill>
                <a:latin typeface="Malgun Gothic"/>
                <a:ea typeface="Malgun Gothic"/>
              </a:rPr>
              <a:t>•  ALL/EXCEPT · FORCE · RESTRICTED · INSTANCES 옵션</a:t>
            </a:r>
          </a:p>
          <a:p>
            <a:pPr>
              <a:spcAft>
                <a:spcPts val="1000"/>
              </a:spcAft>
            </a:pPr>
            <a:r>
              <a:rPr sz="1700" b="0">
                <a:solidFill>
                  <a:srgbClr val="C0392B"/>
                </a:solidFill>
                <a:latin typeface="Malgun Gothic"/>
                <a:ea typeface="Malgun Gothic"/>
              </a:rPr>
              <a:t>•  PDB 설정 수정 — 기본/임시 테이블스페이스, STORAGE 저장 한도</a:t>
            </a:r>
          </a:p>
          <a:p>
            <a:pPr>
              <a:spcAft>
                <a:spcPts val="1000"/>
              </a:spcAft>
            </a:pPr>
            <a:r>
              <a:rPr sz="1700" b="0">
                <a:solidFill>
                  <a:srgbClr val="C0392B"/>
                </a:solidFill>
                <a:latin typeface="Malgun Gothic"/>
                <a:ea typeface="Malgun Gothic"/>
              </a:rPr>
              <a:t>•  PDB 잠금 프로파일(Lockdown Profile) 개요</a:t>
            </a:r>
          </a:p>
          <a:p>
            <a:pPr>
              <a:spcAft>
                <a:spcPts val="1000"/>
              </a:spcAft>
            </a:pPr>
            <a:r>
              <a:rPr sz="1700" b="0">
                <a:solidFill>
                  <a:srgbClr val="C0392B"/>
                </a:solidFill>
                <a:latin typeface="Malgun Gothic"/>
                <a:ea typeface="Malgun Gothic"/>
              </a:rPr>
              <a:t>•  PDB 내 초기화 파라미터 변경의 영향 범위 (ISPDB_MODIFIABLE)</a:t>
            </a:r>
          </a:p>
          <a:p>
            <a:pPr>
              <a:spcAft>
                <a:spcPts val="1000"/>
              </a:spcAft>
            </a:pPr>
            <a:r>
              <a:rPr sz="1700" b="0">
                <a:solidFill>
                  <a:srgbClr val="C0392B"/>
                </a:solidFill>
                <a:latin typeface="Malgun Gothic"/>
                <a:ea typeface="Malgun Gothic"/>
              </a:rPr>
              <a:t>•  PDB 내 ALTER SYSTEM 제약과 PDB별 호스트/포트 구성</a:t>
            </a:r>
          </a:p>
          <a:p>
            <a:pPr>
              <a:spcAft>
                <a:spcPts val="1000"/>
              </a:spcAft>
            </a:pPr>
            <a:r>
              <a:rPr sz="1700" b="0">
                <a:solidFill>
                  <a:srgbClr val="C0392B"/>
                </a:solidFill>
                <a:latin typeface="Malgun Gothic"/>
                <a:ea typeface="Malgun Gothic"/>
              </a:rPr>
              <a:t>•  PDB 드롭 — KEEP DATAFILES vs INCLUDING DATAFILES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700" b="0">
                <a:solidFill>
                  <a:srgbClr val="C0392B"/>
                </a:solidFill>
                <a:latin typeface="Malgun Gothic"/>
                <a:ea typeface="Malgun Gothic"/>
              </a:rPr>
              <a:t>•  16.1 PDB 모드 변경 심화  ·  16.2 PDB 설정 수정</a:t>
            </a:r>
          </a:p>
          <a:p>
            <a:pPr>
              <a:spcAft>
                <a:spcPts val="1000"/>
              </a:spcAft>
            </a:pPr>
            <a:r>
              <a:rPr sz="1700" b="0">
                <a:solidFill>
                  <a:srgbClr val="C0392B"/>
                </a:solidFill>
                <a:latin typeface="Malgun Gothic"/>
                <a:ea typeface="Malgun Gothic"/>
              </a:rPr>
              <a:t>•  16.3 잠금 프로파일 개요  ·  16.4 초기화 파라미터 영향 범위</a:t>
            </a:r>
          </a:p>
          <a:p>
            <a:pPr>
              <a:spcAft>
                <a:spcPts val="1000"/>
              </a:spcAft>
            </a:pPr>
            <a:r>
              <a:rPr sz="1700" b="0">
                <a:solidFill>
                  <a:srgbClr val="C0392B"/>
                </a:solidFill>
                <a:latin typeface="Malgun Gothic"/>
                <a:ea typeface="Malgun Gothic"/>
              </a:rPr>
              <a:t>•  16.5 파라미터 변경 실습 예제  ·  16.6 PDB 내 ALTER SYSTEM</a:t>
            </a:r>
          </a:p>
          <a:p>
            <a:pPr>
              <a:spcAft>
                <a:spcPts val="1000"/>
              </a:spcAft>
            </a:pPr>
            <a:r>
              <a:rPr sz="1700" b="0">
                <a:solidFill>
                  <a:srgbClr val="C0392B"/>
                </a:solidFill>
                <a:latin typeface="Malgun Gothic"/>
                <a:ea typeface="Malgun Gothic"/>
              </a:rPr>
              <a:t>•  16.7 PDB별 호스트명/포트 구성</a:t>
            </a:r>
          </a:p>
          <a:p>
            <a:pPr>
              <a:spcAft>
                <a:spcPts val="1000"/>
              </a:spcAft>
            </a:pPr>
            <a:r>
              <a:rPr sz="1700" b="0">
                <a:solidFill>
                  <a:srgbClr val="C0392B"/>
                </a:solidFill>
                <a:latin typeface="Malgun Gothic"/>
                <a:ea typeface="Malgun Gothic"/>
              </a:rPr>
              <a:t>•  16.8 PDB 드롭  ·  16.9 관련 딕셔너리 뷰</a:t>
            </a:r>
          </a:p>
          <a:p>
            <a:pPr>
              <a:spcAft>
                <a:spcPts val="1000"/>
              </a:spcAft>
            </a:pPr>
            <a:r>
              <a:rPr sz="1700" b="0">
                <a:solidFill>
                  <a:srgbClr val="C0392B"/>
                </a:solidFill>
                <a:latin typeface="Malgun Gothic"/>
                <a:ea typeface="Malgun Gothic"/>
              </a:rPr>
              <a:t>•  Quiz · 요약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모드 변경 심화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ALTER PLUGGABLE DATABASE OPEN/CLOSE</a:t>
            </a:r>
          </a:p>
          <a:p>
            <a:pPr>
              <a:spcAft>
                <a:spcPts val="600"/>
              </a:spcAft>
            </a:pPr>
            <a:r>
              <a:rPr sz="1600" b="0">
                <a:solidFill>
                  <a:srgbClr val="C5CED6"/>
                </a:solidFill>
                <a:latin typeface="Malgun Gothic"/>
                <a:ea typeface="Malgun Gothic"/>
              </a:rPr>
              <a:t>•  ALL / EXCEPT</a:t>
            </a:r>
          </a:p>
          <a:p>
            <a:pPr>
              <a:spcAft>
                <a:spcPts val="600"/>
              </a:spcAft>
            </a:pPr>
            <a:r>
              <a:rPr sz="1600" b="0">
                <a:solidFill>
                  <a:srgbClr val="C5CED6"/>
                </a:solidFill>
                <a:latin typeface="Malgun Gothic"/>
                <a:ea typeface="Malgun Gothic"/>
              </a:rPr>
              <a:t>•  FORCE · RESTRICTED · SAVE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 오픈 모드 — 네 가지 상태</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READ WRITE — 질의·DML·DDL 모두 가능한 정상 운영</a:t>
            </a:r>
          </a:p>
          <a:p>
            <a:pPr>
              <a:spcAft>
                <a:spcPts val="1000"/>
              </a:spcAft>
            </a:pPr>
            <a:r>
              <a:rPr sz="1800" b="0">
                <a:solidFill>
                  <a:srgbClr val="C0392B"/>
                </a:solidFill>
                <a:latin typeface="Malgun Gothic"/>
                <a:ea typeface="Malgun Gothic"/>
              </a:rPr>
              <a:t>•  READ ONLY — 질의만 가능, 데이터 변경 불가</a:t>
            </a:r>
          </a:p>
          <a:p>
            <a:pPr>
              <a:spcAft>
                <a:spcPts val="1000"/>
              </a:spcAft>
            </a:pPr>
            <a:r>
              <a:rPr sz="1800" b="0">
                <a:solidFill>
                  <a:srgbClr val="C0392B"/>
                </a:solidFill>
                <a:latin typeface="Malgun Gothic"/>
                <a:ea typeface="Malgun Gothic"/>
              </a:rPr>
              <a:t>•  MIGRATE — 업그레이드 스크립트용 제한 모드</a:t>
            </a:r>
          </a:p>
          <a:p>
            <a:pPr>
              <a:spcAft>
                <a:spcPts val="1000"/>
              </a:spcAft>
            </a:pPr>
            <a:r>
              <a:rPr sz="1800" b="0">
                <a:solidFill>
                  <a:srgbClr val="C0392B"/>
                </a:solidFill>
                <a:latin typeface="Malgun Gothic"/>
                <a:ea typeface="Malgun Gothic"/>
              </a:rPr>
              <a:t>•  MOUNTED — 컨테이너만 인식, 데이터 접근 불가(닫힘)</a:t>
            </a:r>
          </a:p>
          <a:p>
            <a:pPr>
              <a:spcAft>
                <a:spcPts val="1000"/>
              </a:spcAft>
            </a:pPr>
            <a:r>
              <a:rPr sz="1800" b="0">
                <a:solidFill>
                  <a:srgbClr val="C0392B"/>
                </a:solidFill>
                <a:latin typeface="Malgun Gothic"/>
                <a:ea typeface="Malgun Gothic"/>
              </a:rPr>
              <a:t>•  CDB 인스턴스가 OPEN된 상태에서 컨테이너 단위로 여닫음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여러 PDB를 한 번에 — ALL / EXCEPT</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시드(PDB$SEED)는 ALL에서 자동 제외</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시드를 제외한 모든 PDB를 오픈</a:t>
            </a:r>
          </a:p>
          <a:p>
            <a:r>
              <a:rPr sz="1200" b="0">
                <a:solidFill>
                  <a:srgbClr val="E6E6E6"/>
                </a:solidFill>
                <a:latin typeface="Consolas"/>
                <a:ea typeface="Consolas"/>
              </a:rPr>
              <a:t>SQL&gt; ALTER PLUGGABLE DATABASE ALL OPEN;</a:t>
            </a:r>
          </a:p>
          <a:p>
            <a:r>
              <a:rPr sz="1200" b="0">
                <a:solidFill>
                  <a:srgbClr val="E6E6E6"/>
                </a:solidFill>
                <a:latin typeface="Consolas"/>
                <a:ea typeface="Consolas"/>
              </a:rPr>
              <a:t> </a:t>
            </a:r>
          </a:p>
          <a:p>
            <a:r>
              <a:rPr sz="1200" b="0">
                <a:solidFill>
                  <a:srgbClr val="7EC699"/>
                </a:solidFill>
                <a:latin typeface="Consolas"/>
                <a:ea typeface="Consolas"/>
              </a:rPr>
              <a:t>-- pdb1만 빼고 나머지 전부 오픈</a:t>
            </a:r>
          </a:p>
          <a:p>
            <a:r>
              <a:rPr sz="1200" b="0">
                <a:solidFill>
                  <a:srgbClr val="E6E6E6"/>
                </a:solidFill>
                <a:latin typeface="Consolas"/>
                <a:ea typeface="Consolas"/>
              </a:rPr>
              <a:t>SQL&gt; ALTER PLUGGABLE DATABASE ALL EXCEPT pdb1 OPEN;</a:t>
            </a:r>
          </a:p>
          <a:p>
            <a:r>
              <a:rPr sz="1200" b="0">
                <a:solidFill>
                  <a:srgbClr val="E6E6E6"/>
                </a:solidFill>
                <a:latin typeface="Consolas"/>
                <a:ea typeface="Consolas"/>
              </a:rPr>
              <a:t> </a:t>
            </a:r>
          </a:p>
          <a:p>
            <a:r>
              <a:rPr sz="1200" b="0">
                <a:solidFill>
                  <a:srgbClr val="7EC699"/>
                </a:solidFill>
                <a:latin typeface="Consolas"/>
                <a:ea typeface="Consolas"/>
              </a:rPr>
              <a:t>-- 특정 PDB만 지정해 즉시 닫기</a:t>
            </a:r>
          </a:p>
          <a:p>
            <a:r>
              <a:rPr sz="1200" b="0">
                <a:solidFill>
                  <a:srgbClr val="E6E6E6"/>
                </a:solidFill>
                <a:latin typeface="Consolas"/>
                <a:ea typeface="Consolas"/>
              </a:rPr>
              <a:t>SQL&gt; ALTER PLUGGABLE DATABASE pdb2, pdb3 CLOSE IMMEDIATE;</a:t>
            </a:r>
          </a:p>
          <a:p>
            <a:r>
              <a:rPr sz="1200" b="0">
                <a:solidFill>
                  <a:srgbClr val="E6E6E6"/>
                </a:solidFill>
                <a:latin typeface="Consolas"/>
                <a:ea typeface="Consolas"/>
              </a:rPr>
              <a:t> </a:t>
            </a:r>
          </a:p>
          <a:p>
            <a:r>
              <a:rPr sz="1200" b="0">
                <a:solidFill>
                  <a:srgbClr val="7EC699"/>
                </a:solidFill>
                <a:latin typeface="Consolas"/>
                <a:ea typeface="Consolas"/>
              </a:rPr>
              <a:t>-- READ ONLY→READ WRITE 강제 전환(닫지 않고)</a:t>
            </a:r>
          </a:p>
          <a:p>
            <a:r>
              <a:rPr sz="1200" b="0">
                <a:solidFill>
                  <a:srgbClr val="E6E6E6"/>
                </a:solidFill>
                <a:latin typeface="Consolas"/>
                <a:ea typeface="Consolas"/>
              </a:rPr>
              <a:t>SQL&gt; ALTER PLUGGABLE DATABASE pdb1 OPEN READ WRITE FORCE;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자동 오픈 — SAVE STATE</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인스턴스 재기동 시 오픈 상태 자동 복원</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현재 오픈 상태를 저장</a:t>
            </a:r>
          </a:p>
          <a:p>
            <a:r>
              <a:rPr sz="1200" b="0">
                <a:solidFill>
                  <a:srgbClr val="E6E6E6"/>
                </a:solidFill>
                <a:latin typeface="Consolas"/>
                <a:ea typeface="Consolas"/>
              </a:rPr>
              <a:t>SQL&gt; ALTER PLUGGABLE DATABASE pdb1 OPEN READ WRITE;</a:t>
            </a:r>
          </a:p>
          <a:p>
            <a:r>
              <a:rPr sz="1200" b="0">
                <a:solidFill>
                  <a:srgbClr val="E6E6E6"/>
                </a:solidFill>
                <a:latin typeface="Consolas"/>
                <a:ea typeface="Consolas"/>
              </a:rPr>
              <a:t>SQL&gt; ALTER PLUGGABLE DATABASE pdb1 SAVE STATE;</a:t>
            </a:r>
          </a:p>
          <a:p>
            <a:r>
              <a:rPr sz="1200" b="0">
                <a:solidFill>
                  <a:srgbClr val="E6E6E6"/>
                </a:solidFill>
                <a:latin typeface="Consolas"/>
                <a:ea typeface="Consolas"/>
              </a:rPr>
              <a:t> </a:t>
            </a:r>
          </a:p>
          <a:p>
            <a:r>
              <a:rPr sz="1200" b="0">
                <a:solidFill>
                  <a:srgbClr val="7EC699"/>
                </a:solidFill>
                <a:latin typeface="Consolas"/>
                <a:ea typeface="Consolas"/>
              </a:rPr>
              <a:t>-- 저장된 자동 오픈 상태 확인</a:t>
            </a:r>
          </a:p>
          <a:p>
            <a:r>
              <a:rPr sz="1200" b="0">
                <a:solidFill>
                  <a:srgbClr val="E6E6E6"/>
                </a:solidFill>
                <a:latin typeface="Consolas"/>
                <a:ea typeface="Consolas"/>
              </a:rPr>
              <a:t>SQL&gt; SELECT con_name, instance_name, state</a:t>
            </a:r>
          </a:p>
          <a:p>
            <a:r>
              <a:rPr sz="1200" b="0">
                <a:solidFill>
                  <a:srgbClr val="E6E6E6"/>
                </a:solidFill>
                <a:latin typeface="Consolas"/>
                <a:ea typeface="Consolas"/>
              </a:rPr>
              <a:t>  2  FROM dba_pdb_saved_states;</a:t>
            </a:r>
          </a:p>
          <a:p>
            <a:r>
              <a:rPr sz="1200" b="0">
                <a:solidFill>
                  <a:srgbClr val="E6E6E6"/>
                </a:solidFill>
                <a:latin typeface="Consolas"/>
                <a:ea typeface="Consolas"/>
              </a:rPr>
              <a:t> </a:t>
            </a:r>
          </a:p>
          <a:p>
            <a:r>
              <a:rPr sz="1200" b="0">
                <a:solidFill>
                  <a:srgbClr val="7EC699"/>
                </a:solidFill>
                <a:latin typeface="Consolas"/>
                <a:ea typeface="Consolas"/>
              </a:rPr>
              <a:t>-- RAC: 모든 인스턴스에서 오픈</a:t>
            </a:r>
          </a:p>
          <a:p>
            <a:r>
              <a:rPr sz="1200" b="0">
                <a:solidFill>
                  <a:srgbClr val="E6E6E6"/>
                </a:solidFill>
                <a:latin typeface="Consolas"/>
                <a:ea typeface="Consolas"/>
              </a:rPr>
              <a:t>SQL&gt; ALTER PLUGGABLE DATABASE pdb1 OPEN INSTANCES=ALL;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설정 수정</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기본/임시 테이블스페이스</a:t>
            </a:r>
          </a:p>
          <a:p>
            <a:pPr>
              <a:spcAft>
                <a:spcPts val="600"/>
              </a:spcAft>
            </a:pPr>
            <a:r>
              <a:rPr sz="1600" b="0">
                <a:solidFill>
                  <a:srgbClr val="C5CED6"/>
                </a:solidFill>
                <a:latin typeface="Malgun Gothic"/>
                <a:ea typeface="Malgun Gothic"/>
              </a:rPr>
              <a:t>•  STORAGE 저장 한도(MAXSIZE)</a:t>
            </a:r>
          </a:p>
          <a:p>
            <a:pPr>
              <a:spcAft>
                <a:spcPts val="600"/>
              </a:spcAft>
            </a:pPr>
            <a:r>
              <a:rPr sz="1600" b="0">
                <a:solidFill>
                  <a:srgbClr val="C5CED6"/>
                </a:solidFill>
                <a:latin typeface="Malgun Gothic"/>
                <a:ea typeface="Malgun Gothic"/>
              </a:rPr>
              <a:t>•  부서·테넌트별 쿼터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 설정 — 테이블스페이스</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PDB마다 고유한 기본/임시 테이블스페이스 지정 가능</a:t>
            </a:r>
          </a:p>
          <a:p>
            <a:pPr>
              <a:spcAft>
                <a:spcPts val="1000"/>
              </a:spcAft>
            </a:pPr>
            <a:r>
              <a:rPr sz="1800" b="0">
                <a:solidFill>
                  <a:srgbClr val="C0392B"/>
                </a:solidFill>
                <a:latin typeface="Malgun Gothic"/>
                <a:ea typeface="Malgun Gothic"/>
              </a:rPr>
              <a:t>•  ALTER PLUGGABLE DATABASE DEFAULT TABLESPACE app_data</a:t>
            </a:r>
          </a:p>
          <a:p>
            <a:pPr>
              <a:spcAft>
                <a:spcPts val="1000"/>
              </a:spcAft>
            </a:pPr>
            <a:r>
              <a:rPr sz="1800" b="0">
                <a:solidFill>
                  <a:srgbClr val="C0392B"/>
                </a:solidFill>
                <a:latin typeface="Malgun Gothic"/>
                <a:ea typeface="Malgun Gothic"/>
              </a:rPr>
              <a:t>•  ALTER PLUGGABLE DATABASE DEFAULT TEMPORARY TABLESPACE temp</a:t>
            </a:r>
          </a:p>
          <a:p>
            <a:pPr>
              <a:spcAft>
                <a:spcPts val="1000"/>
              </a:spcAft>
            </a:pPr>
            <a:r>
              <a:rPr sz="1800" b="0">
                <a:solidFill>
                  <a:srgbClr val="C0392B"/>
                </a:solidFill>
                <a:latin typeface="Malgun Gothic"/>
                <a:ea typeface="Malgun Gothic"/>
              </a:rPr>
              <a:t>•  애플리케이션 데이터가 SYSTEM에 섞이지 않도록 분리</a:t>
            </a:r>
          </a:p>
          <a:p>
            <a:pPr>
              <a:spcAft>
                <a:spcPts val="1000"/>
              </a:spcAft>
            </a:pPr>
            <a:r>
              <a:rPr sz="1800" b="0">
                <a:solidFill>
                  <a:srgbClr val="C0392B"/>
                </a:solidFill>
                <a:latin typeface="Malgun Gothic"/>
                <a:ea typeface="Malgun Gothic"/>
              </a:rPr>
              <a:t>•  DATABASE_PROPERTIES 뷰에서 지정값 확인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STORAGE 절 — 저장 공간 상한</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PDB가 CDB 디스크를 독점하지 못하게 제한</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pdb1의 총 데이터 파일 크기를 5G로 제한</a:t>
            </a:r>
          </a:p>
          <a:p>
            <a:r>
              <a:rPr sz="1200" b="0">
                <a:solidFill>
                  <a:srgbClr val="E6E6E6"/>
                </a:solidFill>
                <a:latin typeface="Consolas"/>
                <a:ea typeface="Consolas"/>
              </a:rPr>
              <a:t>SQL&gt; ALTER SESSION SET CONTAINER = pdb1;</a:t>
            </a:r>
          </a:p>
          <a:p>
            <a:r>
              <a:rPr sz="1200" b="0">
                <a:solidFill>
                  <a:srgbClr val="E6E6E6"/>
                </a:solidFill>
                <a:latin typeface="Consolas"/>
                <a:ea typeface="Consolas"/>
              </a:rPr>
              <a:t>SQL&gt; ALTER PLUGGABLE DATABASE STORAGE (MAXSIZE 5G);</a:t>
            </a:r>
          </a:p>
          <a:p>
            <a:r>
              <a:rPr sz="1200" b="0">
                <a:solidFill>
                  <a:srgbClr val="E6E6E6"/>
                </a:solidFill>
                <a:latin typeface="Consolas"/>
                <a:ea typeface="Consolas"/>
              </a:rPr>
              <a:t> </a:t>
            </a:r>
          </a:p>
          <a:p>
            <a:r>
              <a:rPr sz="1200" b="0">
                <a:solidFill>
                  <a:srgbClr val="7EC699"/>
                </a:solidFill>
                <a:latin typeface="Consolas"/>
                <a:ea typeface="Consolas"/>
              </a:rPr>
              <a:t>-- 임시 공간까지 함께 제한</a:t>
            </a:r>
          </a:p>
          <a:p>
            <a:r>
              <a:rPr sz="1200" b="0">
                <a:solidFill>
                  <a:srgbClr val="E6E6E6"/>
                </a:solidFill>
                <a:latin typeface="Consolas"/>
                <a:ea typeface="Consolas"/>
              </a:rPr>
              <a:t>SQL&gt; ALTER PLUGGABLE DATABASE</a:t>
            </a:r>
          </a:p>
          <a:p>
            <a:r>
              <a:rPr sz="1200" b="0">
                <a:solidFill>
                  <a:srgbClr val="E6E6E6"/>
                </a:solidFill>
                <a:latin typeface="Consolas"/>
                <a:ea typeface="Consolas"/>
              </a:rPr>
              <a:t>  2    STORAGE (MAXSIZE 5G MAX_SHARED_TEMP_SIZE 1G);</a:t>
            </a:r>
          </a:p>
          <a:p>
            <a:r>
              <a:rPr sz="1200" b="0">
                <a:solidFill>
                  <a:srgbClr val="E6E6E6"/>
                </a:solidFill>
                <a:latin typeface="Consolas"/>
                <a:ea typeface="Consolas"/>
              </a:rPr>
              <a:t> </a:t>
            </a:r>
          </a:p>
          <a:p>
            <a:r>
              <a:rPr sz="1200" b="0">
                <a:solidFill>
                  <a:srgbClr val="7EC699"/>
                </a:solidFill>
                <a:latin typeface="Consolas"/>
                <a:ea typeface="Consolas"/>
              </a:rPr>
              <a:t>-- 무제한으로 해제</a:t>
            </a:r>
          </a:p>
          <a:p>
            <a:r>
              <a:rPr sz="1200" b="0">
                <a:solidFill>
                  <a:srgbClr val="E6E6E6"/>
                </a:solidFill>
                <a:latin typeface="Consolas"/>
                <a:ea typeface="Consolas"/>
              </a:rPr>
              <a:t>SQL&gt; ALTER PLUGGABLE DATABASE STORAGE UNLIMITED;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잠금 프로파일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CREATE LOCKDOWN PROFILE</a:t>
            </a:r>
          </a:p>
          <a:p>
            <a:pPr>
              <a:spcAft>
                <a:spcPts val="600"/>
              </a:spcAft>
            </a:pPr>
            <a:r>
              <a:rPr sz="1600" b="0">
                <a:solidFill>
                  <a:srgbClr val="C5CED6"/>
                </a:solidFill>
                <a:latin typeface="Malgun Gothic"/>
                <a:ea typeface="Malgun Gothic"/>
              </a:rPr>
              <a:t>•  STATEMENT/OPTION/FEATURE 제어</a:t>
            </a:r>
          </a:p>
          <a:p>
            <a:pPr>
              <a:spcAft>
                <a:spcPts val="600"/>
              </a:spcAft>
            </a:pPr>
            <a:r>
              <a:rPr sz="1600" b="0">
                <a:solidFill>
                  <a:srgbClr val="C5CED6"/>
                </a:solidFill>
                <a:latin typeface="Malgun Gothic"/>
                <a:ea typeface="Malgun Gothic"/>
              </a:rPr>
              <a:t>•  상세는 22장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 잠금 프로파일(Lockdown Profile)</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CDB 관리자가 PDB 관리자의 재량을 제한하는 규칙 집합</a:t>
            </a:r>
          </a:p>
          <a:p>
            <a:pPr>
              <a:spcAft>
                <a:spcPts val="1000"/>
              </a:spcAft>
            </a:pPr>
            <a:r>
              <a:rPr sz="1800" b="0">
                <a:solidFill>
                  <a:srgbClr val="C0392B"/>
                </a:solidFill>
                <a:latin typeface="Malgun Gothic"/>
                <a:ea typeface="Malgun Gothic"/>
              </a:rPr>
              <a:t>•  CDB 루트에서 CREATE LOCKDOWN PROFILE로 생성</a:t>
            </a:r>
          </a:p>
          <a:p>
            <a:pPr>
              <a:spcAft>
                <a:spcPts val="1000"/>
              </a:spcAft>
            </a:pPr>
            <a:r>
              <a:rPr sz="1800" b="0">
                <a:solidFill>
                  <a:srgbClr val="C0392B"/>
                </a:solidFill>
                <a:latin typeface="Malgun Gothic"/>
                <a:ea typeface="Malgun Gothic"/>
              </a:rPr>
              <a:t>•  DISABLE/ENABLE로 STATEMENT · OPTION · FEATURE 제어</a:t>
            </a:r>
          </a:p>
          <a:p>
            <a:pPr>
              <a:spcAft>
                <a:spcPts val="1000"/>
              </a:spcAft>
            </a:pPr>
            <a:r>
              <a:rPr sz="1800" b="0">
                <a:solidFill>
                  <a:srgbClr val="C0392B"/>
                </a:solidFill>
                <a:latin typeface="Malgun Gothic"/>
                <a:ea typeface="Malgun Gothic"/>
              </a:rPr>
              <a:t>•  PDB_LOCKDOWN 파라미터로 PDB에 적용</a:t>
            </a:r>
          </a:p>
          <a:p>
            <a:pPr>
              <a:spcAft>
                <a:spcPts val="1000"/>
              </a:spcAft>
            </a:pPr>
            <a:r>
              <a:rPr sz="1800" b="0">
                <a:solidFill>
                  <a:srgbClr val="C0392B"/>
                </a:solidFill>
                <a:latin typeface="Malgun Gothic"/>
                <a:ea typeface="Malgun Gothic"/>
              </a:rPr>
              <a:t>•  DBA_LOCKDOWN_PROFILES 뷰에서 규칙 확인 — 상세는 22장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초기화 파라미터 영향 범위</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ISPDB_MODIFIABLE</a:t>
            </a:r>
          </a:p>
          <a:p>
            <a:pPr>
              <a:spcAft>
                <a:spcPts val="600"/>
              </a:spcAft>
            </a:pPr>
            <a:r>
              <a:rPr sz="1600" b="0">
                <a:solidFill>
                  <a:srgbClr val="C5CED6"/>
                </a:solidFill>
                <a:latin typeface="Malgun Gothic"/>
                <a:ea typeface="Malgun Gothic"/>
              </a:rPr>
              <a:t>•  PDB 격리성</a:t>
            </a:r>
          </a:p>
          <a:p>
            <a:pPr>
              <a:spcAft>
                <a:spcPts val="600"/>
              </a:spcAft>
            </a:pPr>
            <a:r>
              <a:rPr sz="1600" b="0">
                <a:solidFill>
                  <a:srgbClr val="C5CED6"/>
                </a:solidFill>
                <a:latin typeface="Malgun Gothic"/>
                <a:ea typeface="Malgun Gothic"/>
              </a:rPr>
              <a:t>•  메모리 파라미터 주의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ISPDB_MODIFIABLE — 수정 가능 판별</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PDB에서 바꿀 수 있는 파라미터인가?</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E6E6E6"/>
                </a:solidFill>
                <a:latin typeface="Consolas"/>
                <a:ea typeface="Consolas"/>
              </a:rPr>
              <a:t>SQL&gt; SELECT name, ispdb_modifiable</a:t>
            </a:r>
          </a:p>
          <a:p>
            <a:r>
              <a:rPr sz="1200" b="0">
                <a:solidFill>
                  <a:srgbClr val="E6E6E6"/>
                </a:solidFill>
                <a:latin typeface="Consolas"/>
                <a:ea typeface="Consolas"/>
              </a:rPr>
              <a:t>  2  FROM v$parameter</a:t>
            </a:r>
          </a:p>
          <a:p>
            <a:r>
              <a:rPr sz="1200" b="0">
                <a:solidFill>
                  <a:srgbClr val="E6E6E6"/>
                </a:solidFill>
                <a:latin typeface="Consolas"/>
                <a:ea typeface="Consolas"/>
              </a:rPr>
              <a:t>  3  WHERE name IN ('open_cursors','db_block_size',</a:t>
            </a:r>
          </a:p>
          <a:p>
            <a:r>
              <a:rPr sz="1200" b="0">
                <a:solidFill>
                  <a:srgbClr val="E6E6E6"/>
                </a:solidFill>
                <a:latin typeface="Consolas"/>
                <a:ea typeface="Consolas"/>
              </a:rPr>
              <a:t>  4                 'sga_target','nls_date_format');</a:t>
            </a:r>
          </a:p>
          <a:p>
            <a:r>
              <a:rPr sz="1200" b="0">
                <a:solidFill>
                  <a:srgbClr val="E6E6E6"/>
                </a:solidFill>
                <a:latin typeface="Consolas"/>
                <a:ea typeface="Consolas"/>
              </a:rPr>
              <a:t> </a:t>
            </a:r>
          </a:p>
          <a:p>
            <a:r>
              <a:rPr sz="1200" b="0">
                <a:solidFill>
                  <a:srgbClr val="E6E6E6"/>
                </a:solidFill>
                <a:latin typeface="Consolas"/>
                <a:ea typeface="Consolas"/>
              </a:rPr>
              <a:t>NAME             ISPDB_MODIFIABLE</a:t>
            </a:r>
          </a:p>
          <a:p>
            <a:r>
              <a:rPr sz="1200" b="0">
                <a:solidFill>
                  <a:srgbClr val="7EC699"/>
                </a:solidFill>
                <a:latin typeface="Consolas"/>
                <a:ea typeface="Consolas"/>
              </a:rPr>
              <a:t>---------------- ----------------</a:t>
            </a:r>
          </a:p>
          <a:p>
            <a:r>
              <a:rPr sz="1200" b="0">
                <a:solidFill>
                  <a:srgbClr val="E6E6E6"/>
                </a:solidFill>
                <a:latin typeface="Consolas"/>
                <a:ea typeface="Consolas"/>
              </a:rPr>
              <a:t>db_block_size    FALSE   -- 루트에서만</a:t>
            </a:r>
          </a:p>
          <a:p>
            <a:r>
              <a:rPr sz="1200" b="0">
                <a:solidFill>
                  <a:srgbClr val="E6E6E6"/>
                </a:solidFill>
                <a:latin typeface="Consolas"/>
                <a:ea typeface="Consolas"/>
              </a:rPr>
              <a:t>open_cursors     TRUE    -- PDB에서 가능</a:t>
            </a:r>
          </a:p>
          <a:p>
            <a:r>
              <a:rPr sz="1200" b="0">
                <a:solidFill>
                  <a:srgbClr val="E6E6E6"/>
                </a:solidFill>
                <a:latin typeface="Consolas"/>
                <a:ea typeface="Consolas"/>
              </a:rPr>
              <a:t>sga_target       TRUE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변경의 영향 범위 — 격리성</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PDB에서의 변경은 원칙적으로 그 PDB에만 적용</a:t>
            </a:r>
          </a:p>
          <a:p>
            <a:pPr>
              <a:spcAft>
                <a:spcPts val="1000"/>
              </a:spcAft>
            </a:pPr>
            <a:r>
              <a:rPr sz="1800" b="0">
                <a:solidFill>
                  <a:srgbClr val="C0392B"/>
                </a:solidFill>
                <a:latin typeface="Malgun Gothic"/>
                <a:ea typeface="Malgun Gothic"/>
              </a:rPr>
              <a:t>•  루트나 다른 PDB에는 영향 없음 → 멀티테넌트 격리성</a:t>
            </a:r>
          </a:p>
          <a:p>
            <a:pPr>
              <a:spcAft>
                <a:spcPts val="1000"/>
              </a:spcAft>
            </a:pPr>
            <a:r>
              <a:rPr sz="1800" b="0">
                <a:solidFill>
                  <a:srgbClr val="C0392B"/>
                </a:solidFill>
                <a:latin typeface="Malgun Gothic"/>
                <a:ea typeface="Malgun Gothic"/>
              </a:rPr>
              <a:t>•  일부 파라미터는 인스턴스 전역 자원(메모리 등)과 연결</a:t>
            </a:r>
          </a:p>
          <a:p>
            <a:pPr>
              <a:spcAft>
                <a:spcPts val="1000"/>
              </a:spcAft>
            </a:pPr>
            <a:r>
              <a:rPr sz="1800" b="0">
                <a:solidFill>
                  <a:srgbClr val="C0392B"/>
                </a:solidFill>
                <a:latin typeface="Malgun Gothic"/>
                <a:ea typeface="Malgun Gothic"/>
              </a:rPr>
              <a:t>•  PDB 수준 SGA_TARGET = 그 PDB의 SGA 사용 상한 개념</a:t>
            </a:r>
          </a:p>
          <a:p>
            <a:pPr>
              <a:spcAft>
                <a:spcPts val="1000"/>
              </a:spcAft>
            </a:pPr>
            <a:r>
              <a:rPr sz="1800" b="0">
                <a:solidFill>
                  <a:srgbClr val="C0392B"/>
                </a:solidFill>
                <a:latin typeface="Malgun Gothic"/>
                <a:ea typeface="Malgun Gothic"/>
              </a:rPr>
              <a:t>•  물리 SGA 자체는 인스턴스가 공유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파라미터 변경 실습 예제</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open_cursors 변경</a:t>
            </a:r>
          </a:p>
          <a:p>
            <a:pPr>
              <a:spcAft>
                <a:spcPts val="600"/>
              </a:spcAft>
            </a:pPr>
            <a:r>
              <a:rPr sz="1600" b="0">
                <a:solidFill>
                  <a:srgbClr val="C5CED6"/>
                </a:solidFill>
                <a:latin typeface="Malgun Gothic"/>
                <a:ea typeface="Malgun Gothic"/>
              </a:rPr>
              <a:t>•  SCOPE 동작</a:t>
            </a:r>
          </a:p>
          <a:p>
            <a:pPr>
              <a:spcAft>
                <a:spcPts val="600"/>
              </a:spcAft>
            </a:pPr>
            <a:r>
              <a:rPr sz="1600" b="0">
                <a:solidFill>
                  <a:srgbClr val="C5CED6"/>
                </a:solidFill>
                <a:latin typeface="Malgun Gothic"/>
                <a:ea typeface="Malgun Gothic"/>
              </a:rPr>
              <a:t>•  격리성 확인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파라미터 변경과 격리성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PDB 변경이 루트에 파급되지 않음을 검증</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[1] 루트 값 확인 → 50</a:t>
            </a:r>
          </a:p>
          <a:p>
            <a:r>
              <a:rPr sz="1200" b="0">
                <a:solidFill>
                  <a:srgbClr val="E6E6E6"/>
                </a:solidFill>
                <a:latin typeface="Consolas"/>
                <a:ea typeface="Consolas"/>
              </a:rPr>
              <a:t>SQL&gt; SHOW PARAMETER open_cursors</a:t>
            </a:r>
          </a:p>
          <a:p>
            <a:r>
              <a:rPr sz="1200" b="0">
                <a:solidFill>
                  <a:srgbClr val="E6E6E6"/>
                </a:solidFill>
                <a:latin typeface="Consolas"/>
                <a:ea typeface="Consolas"/>
              </a:rPr>
              <a:t> </a:t>
            </a:r>
          </a:p>
          <a:p>
            <a:r>
              <a:rPr sz="1200" b="0">
                <a:solidFill>
                  <a:srgbClr val="7EC699"/>
                </a:solidFill>
                <a:latin typeface="Consolas"/>
                <a:ea typeface="Consolas"/>
              </a:rPr>
              <a:t>-- [2] pdb1에서 500으로 상향</a:t>
            </a:r>
          </a:p>
          <a:p>
            <a:r>
              <a:rPr sz="1200" b="0">
                <a:solidFill>
                  <a:srgbClr val="E6E6E6"/>
                </a:solidFill>
                <a:latin typeface="Consolas"/>
                <a:ea typeface="Consolas"/>
              </a:rPr>
              <a:t>SQL&gt; ALTER SESSION SET CONTAINER = pdb1;</a:t>
            </a:r>
          </a:p>
          <a:p>
            <a:r>
              <a:rPr sz="1200" b="0">
                <a:solidFill>
                  <a:srgbClr val="E6E6E6"/>
                </a:solidFill>
                <a:latin typeface="Consolas"/>
                <a:ea typeface="Consolas"/>
              </a:rPr>
              <a:t>SQL&gt; ALTER SYSTEM SET open_cursors=500 SCOPE=BOTH;</a:t>
            </a:r>
          </a:p>
          <a:p>
            <a:r>
              <a:rPr sz="1200" b="0">
                <a:solidFill>
                  <a:srgbClr val="E6E6E6"/>
                </a:solidFill>
                <a:latin typeface="Consolas"/>
                <a:ea typeface="Consolas"/>
              </a:rPr>
              <a:t> </a:t>
            </a:r>
          </a:p>
          <a:p>
            <a:r>
              <a:rPr sz="1200" b="0">
                <a:solidFill>
                  <a:srgbClr val="7EC699"/>
                </a:solidFill>
                <a:latin typeface="Consolas"/>
                <a:ea typeface="Consolas"/>
              </a:rPr>
              <a:t>-- [3] pdb1은 500, [4] 루트는 여전히 50</a:t>
            </a:r>
          </a:p>
          <a:p>
            <a:r>
              <a:rPr sz="1200" b="0">
                <a:solidFill>
                  <a:srgbClr val="E6E6E6"/>
                </a:solidFill>
                <a:latin typeface="Consolas"/>
                <a:ea typeface="Consolas"/>
              </a:rPr>
              <a:t>SQL&gt; SHOW PARAMETER open_cursors  -- pdb1: 500</a:t>
            </a:r>
          </a:p>
          <a:p>
            <a:r>
              <a:rPr sz="1200" b="0">
                <a:solidFill>
                  <a:srgbClr val="E6E6E6"/>
                </a:solidFill>
                <a:latin typeface="Consolas"/>
                <a:ea typeface="Consolas"/>
              </a:rPr>
              <a:t>SQL&gt; ALTER SESSION SET CONTAINER = CDB$ROOT;</a:t>
            </a:r>
          </a:p>
          <a:p>
            <a:r>
              <a:rPr sz="1200" b="0">
                <a:solidFill>
                  <a:srgbClr val="E6E6E6"/>
                </a:solidFill>
                <a:latin typeface="Consolas"/>
                <a:ea typeface="Consolas"/>
              </a:rPr>
              <a:t>SQL&gt; SHOW PARAMETER open_cursors  -- root: 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내 ALTER SYSTEM</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허용되지 않는 작업</a:t>
            </a:r>
          </a:p>
          <a:p>
            <a:pPr>
              <a:spcAft>
                <a:spcPts val="600"/>
              </a:spcAft>
            </a:pPr>
            <a:r>
              <a:rPr sz="1600" b="0">
                <a:solidFill>
                  <a:srgbClr val="C5CED6"/>
                </a:solidFill>
                <a:latin typeface="Malgun Gothic"/>
                <a:ea typeface="Malgun Gothic"/>
              </a:rPr>
              <a:t>•  공유 자원에 미치는 동작</a:t>
            </a:r>
          </a:p>
          <a:p>
            <a:pPr>
              <a:spcAft>
                <a:spcPts val="600"/>
              </a:spcAft>
            </a:pPr>
            <a:r>
              <a:rPr sz="1600" b="0">
                <a:solidFill>
                  <a:srgbClr val="C5CED6"/>
                </a:solidFill>
                <a:latin typeface="Malgun Gothic"/>
                <a:ea typeface="Malgun Gothic"/>
              </a:rPr>
              <a:t>•  PDB SYSDBA 권한 범위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PDB에서 금지되는 ALTER SYSTEM</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ISPDB_MODIFIABLE=FALSE → ORA-65040</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[pdb1] 인스턴스 전역 파라미터 변경 시도</a:t>
            </a:r>
          </a:p>
          <a:p>
            <a:r>
              <a:rPr sz="1200" b="0">
                <a:solidFill>
                  <a:srgbClr val="E6E6E6"/>
                </a:solidFill>
                <a:latin typeface="Consolas"/>
                <a:ea typeface="Consolas"/>
              </a:rPr>
              <a:t>SQL&gt; ALTER SESSION SET CONTAINER = pdb1;</a:t>
            </a:r>
          </a:p>
          <a:p>
            <a:r>
              <a:rPr sz="1200" b="0">
                <a:solidFill>
                  <a:srgbClr val="E6E6E6"/>
                </a:solidFill>
                <a:latin typeface="Consolas"/>
                <a:ea typeface="Consolas"/>
              </a:rPr>
              <a:t>SQL&gt; ALTER SYSTEM SET db_block_size=16384 SCOPE=SPFILE;</a:t>
            </a:r>
          </a:p>
          <a:p>
            <a:r>
              <a:rPr sz="1200" b="0">
                <a:solidFill>
                  <a:srgbClr val="E6E6E6"/>
                </a:solidFill>
                <a:latin typeface="Consolas"/>
                <a:ea typeface="Consolas"/>
              </a:rPr>
              <a:t>*</a:t>
            </a:r>
          </a:p>
          <a:p>
            <a:r>
              <a:rPr sz="1200" b="0">
                <a:solidFill>
                  <a:srgbClr val="E6E6E6"/>
                </a:solidFill>
                <a:latin typeface="Consolas"/>
                <a:ea typeface="Consolas"/>
              </a:rPr>
              <a:t>ERROR at line 1:</a:t>
            </a:r>
          </a:p>
          <a:p>
            <a:r>
              <a:rPr sz="1200" b="0">
                <a:solidFill>
                  <a:srgbClr val="E6E6E6"/>
                </a:solidFill>
                <a:latin typeface="Consolas"/>
                <a:ea typeface="Consolas"/>
              </a:rPr>
              <a:t>ORA-65040: operation not allowed from within a</a:t>
            </a:r>
          </a:p>
          <a:p>
            <a:r>
              <a:rPr sz="1200" b="0">
                <a:solidFill>
                  <a:srgbClr val="E6E6E6"/>
                </a:solidFill>
                <a:latin typeface="Consolas"/>
                <a:ea typeface="Consolas"/>
              </a:rPr>
              <a:t>           pluggable database</a:t>
            </a:r>
          </a:p>
          <a:p>
            <a:r>
              <a:rPr sz="1200" b="0">
                <a:solidFill>
                  <a:srgbClr val="E6E6E6"/>
                </a:solidFill>
                <a:latin typeface="Consolas"/>
                <a:ea typeface="Consolas"/>
              </a:rPr>
              <a:t> </a:t>
            </a:r>
          </a:p>
          <a:p>
            <a:r>
              <a:rPr sz="1200" b="0">
                <a:solidFill>
                  <a:srgbClr val="7EC699"/>
                </a:solidFill>
                <a:latin typeface="Consolas"/>
                <a:ea typeface="Consolas"/>
              </a:rPr>
              <a:t>-- 원인: db_block_size는 ISPDB_MODIFIABLE=FALSE.</a:t>
            </a:r>
          </a:p>
          <a:p>
            <a:r>
              <a:rPr sz="1200" b="0">
                <a:solidFill>
                  <a:srgbClr val="7EC699"/>
                </a:solidFill>
                <a:latin typeface="Consolas"/>
                <a:ea typeface="Consolas"/>
              </a:rPr>
              <a:t>--       PDB에서 변경 불가 → 루트에서만 가능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허용되지만 영향은 인스턴스 전체</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설정(SET)은 격리 — 동작 명령은 공유 자원에 작용</a:t>
            </a:r>
          </a:p>
          <a:p>
            <a:pPr>
              <a:spcAft>
                <a:spcPts val="1000"/>
              </a:spcAft>
            </a:pPr>
            <a:r>
              <a:rPr sz="1800" b="0">
                <a:solidFill>
                  <a:srgbClr val="C0392B"/>
                </a:solidFill>
                <a:latin typeface="Malgun Gothic"/>
                <a:ea typeface="Malgun Gothic"/>
              </a:rPr>
              <a:t>•  ALTER SYSTEM KILL SESSION — SID/SERIAL#은 인스턴스 전역</a:t>
            </a:r>
          </a:p>
          <a:p>
            <a:pPr>
              <a:spcAft>
                <a:spcPts val="1000"/>
              </a:spcAft>
            </a:pPr>
            <a:r>
              <a:rPr sz="1800" b="0">
                <a:solidFill>
                  <a:srgbClr val="C0392B"/>
                </a:solidFill>
                <a:latin typeface="Malgun Gothic"/>
                <a:ea typeface="Malgun Gothic"/>
              </a:rPr>
              <a:t>•  ALTER SYSTEM CHECKPOINT — 공유 버퍼 캐시 대상</a:t>
            </a:r>
          </a:p>
          <a:p>
            <a:pPr>
              <a:spcAft>
                <a:spcPts val="1000"/>
              </a:spcAft>
            </a:pPr>
            <a:r>
              <a:rPr sz="1800" b="0">
                <a:solidFill>
                  <a:srgbClr val="C0392B"/>
                </a:solidFill>
                <a:latin typeface="Malgun Gothic"/>
                <a:ea typeface="Malgun Gothic"/>
              </a:rPr>
              <a:t>•  ALTER SYSTEM FLUSH SHARED_POOL — 공유 풀 대상</a:t>
            </a:r>
          </a:p>
          <a:p>
            <a:pPr>
              <a:spcAft>
                <a:spcPts val="1000"/>
              </a:spcAft>
            </a:pPr>
            <a:r>
              <a:rPr sz="1800" b="0">
                <a:solidFill>
                  <a:srgbClr val="C0392B"/>
                </a:solidFill>
                <a:latin typeface="Malgun Gothic"/>
                <a:ea typeface="Malgun Gothic"/>
              </a:rPr>
              <a:t>•  PDB SYSDBA는 자기 PDB 범위 안에서만 관리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PDB별 호스트명/포트 구성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LOCAL_LISTENER (SQL*Net)</a:t>
            </a:r>
          </a:p>
          <a:p>
            <a:pPr>
              <a:spcAft>
                <a:spcPts val="600"/>
              </a:spcAft>
            </a:pPr>
            <a:r>
              <a:rPr sz="1600" b="0">
                <a:solidFill>
                  <a:srgbClr val="C5CED6"/>
                </a:solidFill>
                <a:latin typeface="Malgun Gothic"/>
                <a:ea typeface="Malgun Gothic"/>
              </a:rPr>
              <a:t>•  DBMS_XDB_CONFIG (XML DB)</a:t>
            </a:r>
          </a:p>
          <a:p>
            <a:pPr>
              <a:spcAft>
                <a:spcPts val="600"/>
              </a:spcAft>
            </a:pPr>
            <a:r>
              <a:rPr sz="1600" b="0">
                <a:solidFill>
                  <a:srgbClr val="C5CED6"/>
                </a:solidFill>
                <a:latin typeface="Malgun Gothic"/>
                <a:ea typeface="Malgun Gothic"/>
              </a:rPr>
              <a:t>•  테넌트 네트워크 격리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PDB별 포트 분리 — LOCAL_LISTENER</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PDB 서비스를 특정 포트 리스너에만 등록</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pdb1의 서비스만 1523 포트 리스너에 등록</a:t>
            </a:r>
          </a:p>
          <a:p>
            <a:r>
              <a:rPr sz="1200" b="0">
                <a:solidFill>
                  <a:srgbClr val="E6E6E6"/>
                </a:solidFill>
                <a:latin typeface="Consolas"/>
                <a:ea typeface="Consolas"/>
              </a:rPr>
              <a:t>SQL&gt; ALTER SESSION SET CONTAINER = pdb1;</a:t>
            </a:r>
          </a:p>
          <a:p>
            <a:r>
              <a:rPr sz="1200" b="0">
                <a:solidFill>
                  <a:srgbClr val="E6E6E6"/>
                </a:solidFill>
                <a:latin typeface="Consolas"/>
                <a:ea typeface="Consolas"/>
              </a:rPr>
              <a:t>SQL&gt; ALTER SYSTEM SET local_listener =</a:t>
            </a:r>
          </a:p>
          <a:p>
            <a:r>
              <a:rPr sz="1200" b="0">
                <a:solidFill>
                  <a:srgbClr val="E6E6E6"/>
                </a:solidFill>
                <a:latin typeface="Consolas"/>
                <a:ea typeface="Consolas"/>
              </a:rPr>
              <a:t>  2   '(ADDRESS=(PROTOCOL=TCP)(HOST=dbsvr)(PORT=1523))'</a:t>
            </a:r>
          </a:p>
          <a:p>
            <a:r>
              <a:rPr sz="1200" b="0">
                <a:solidFill>
                  <a:srgbClr val="E6E6E6"/>
                </a:solidFill>
                <a:latin typeface="Consolas"/>
                <a:ea typeface="Consolas"/>
              </a:rPr>
              <a:t>  3   SCOPE=BOTH;</a:t>
            </a:r>
          </a:p>
          <a:p>
            <a:r>
              <a:rPr sz="1200" b="0">
                <a:solidFill>
                  <a:srgbClr val="E6E6E6"/>
                </a:solidFill>
                <a:latin typeface="Consolas"/>
                <a:ea typeface="Consolas"/>
              </a:rPr>
              <a:t> </a:t>
            </a:r>
          </a:p>
          <a:p>
            <a:r>
              <a:rPr sz="1200" b="0">
                <a:solidFill>
                  <a:srgbClr val="7EC699"/>
                </a:solidFill>
                <a:latin typeface="Consolas"/>
                <a:ea typeface="Consolas"/>
              </a:rPr>
              <a:t>-- 즉시 재등록</a:t>
            </a:r>
          </a:p>
          <a:p>
            <a:r>
              <a:rPr sz="1200" b="0">
                <a:solidFill>
                  <a:srgbClr val="E6E6E6"/>
                </a:solidFill>
                <a:latin typeface="Consolas"/>
                <a:ea typeface="Consolas"/>
              </a:rPr>
              <a:t>SQL&gt; ALTER SYSTEM REGISTER;</a:t>
            </a:r>
          </a:p>
          <a:p>
            <a:r>
              <a:rPr sz="1200" b="0">
                <a:solidFill>
                  <a:srgbClr val="E6E6E6"/>
                </a:solidFill>
                <a:latin typeface="Consolas"/>
                <a:ea typeface="Consolas"/>
              </a:rPr>
              <a:t> </a:t>
            </a:r>
          </a:p>
          <a:p>
            <a:r>
              <a:rPr sz="1200" b="0">
                <a:solidFill>
                  <a:srgbClr val="7EC699"/>
                </a:solidFill>
                <a:latin typeface="Consolas"/>
                <a:ea typeface="Consolas"/>
              </a:rPr>
              <a:t>-- 확인: lsnrctl services 로 포트별 서비스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PDB 드롭</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닫힘(MOUNTED)이 전제</a:t>
            </a:r>
          </a:p>
          <a:p>
            <a:pPr>
              <a:spcAft>
                <a:spcPts val="600"/>
              </a:spcAft>
            </a:pPr>
            <a:r>
              <a:rPr sz="1600" b="0">
                <a:solidFill>
                  <a:srgbClr val="C5CED6"/>
                </a:solidFill>
                <a:latin typeface="Malgun Gothic"/>
                <a:ea typeface="Malgun Gothic"/>
              </a:rPr>
              <a:t>•  KEEP vs INCLUDING DATAFILES</a:t>
            </a:r>
          </a:p>
          <a:p>
            <a:pPr>
              <a:spcAft>
                <a:spcPts val="600"/>
              </a:spcAft>
            </a:pPr>
            <a:r>
              <a:rPr sz="1600" b="0">
                <a:solidFill>
                  <a:srgbClr val="C5CED6"/>
                </a:solidFill>
                <a:latin typeface="Malgun Gothic"/>
                <a:ea typeface="Malgun Gothic"/>
              </a:rPr>
              <a:t>•  되돌릴 수 없음 → 사전 언플러그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DROP PLUGGABLE DATABASE</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먼저 닫아야(MOUNTED) 드롭 가능</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rPr>
              <a:t>-- 열린 PDB 드롭 시도 → 오류</a:t>
            </a:r>
          </a:p>
          <a:p>
            <a:r>
              <a:rPr sz="1200" b="0">
                <a:solidFill>
                  <a:srgbClr val="E6E6E6"/>
                </a:solidFill>
                <a:latin typeface="Consolas"/>
                <a:ea typeface="Consolas"/>
              </a:rPr>
              <a:t>SQL&gt; DROP PLUGGABLE DATABASE pdb1 INCLUDING DATAFILES;</a:t>
            </a:r>
          </a:p>
          <a:p>
            <a:r>
              <a:rPr sz="1200" b="0">
                <a:solidFill>
                  <a:srgbClr val="E6E6E6"/>
                </a:solidFill>
                <a:latin typeface="Consolas"/>
                <a:ea typeface="Consolas"/>
              </a:rPr>
              <a:t>ERROR at line 1:</a:t>
            </a:r>
          </a:p>
          <a:p>
            <a:r>
              <a:rPr sz="1200" b="0">
                <a:solidFill>
                  <a:srgbClr val="E6E6E6"/>
                </a:solidFill>
                <a:latin typeface="Consolas"/>
                <a:ea typeface="Consolas"/>
              </a:rPr>
              <a:t>ORA-65025: Pluggable database PDB1 is not closed</a:t>
            </a:r>
          </a:p>
          <a:p>
            <a:r>
              <a:rPr sz="1200" b="0">
                <a:solidFill>
                  <a:srgbClr val="E6E6E6"/>
                </a:solidFill>
                <a:latin typeface="Consolas"/>
                <a:ea typeface="Consolas"/>
              </a:rPr>
              <a:t>           on all instances.</a:t>
            </a:r>
          </a:p>
          <a:p>
            <a:r>
              <a:rPr sz="1200" b="0">
                <a:solidFill>
                  <a:srgbClr val="E6E6E6"/>
                </a:solidFill>
                <a:latin typeface="Consolas"/>
                <a:ea typeface="Consolas"/>
              </a:rPr>
              <a:t> </a:t>
            </a:r>
          </a:p>
          <a:p>
            <a:r>
              <a:rPr sz="1200" b="0">
                <a:solidFill>
                  <a:srgbClr val="7EC699"/>
                </a:solidFill>
                <a:latin typeface="Consolas"/>
                <a:ea typeface="Consolas"/>
              </a:rPr>
              <a:t>-- 닫은 뒤 드롭</a:t>
            </a:r>
          </a:p>
          <a:p>
            <a:r>
              <a:rPr sz="1200" b="0">
                <a:solidFill>
                  <a:srgbClr val="E6E6E6"/>
                </a:solidFill>
                <a:latin typeface="Consolas"/>
                <a:ea typeface="Consolas"/>
              </a:rPr>
              <a:t>SQL&gt; ALTER PLUGGABLE DATABASE pdb1 CLOSE IMMEDIATE;</a:t>
            </a:r>
          </a:p>
          <a:p>
            <a:r>
              <a:rPr sz="1200" b="0">
                <a:solidFill>
                  <a:srgbClr val="E6E6E6"/>
                </a:solidFill>
                <a:latin typeface="Consolas"/>
                <a:ea typeface="Consolas"/>
              </a:rPr>
              <a:t>SQL&gt; DROP PLUGGABLE DATABASE pdb1 INCLUDING DATAFILES;</a:t>
            </a:r>
          </a:p>
          <a:p>
            <a:r>
              <a:rPr sz="1200" b="0">
                <a:solidFill>
                  <a:srgbClr val="E6E6E6"/>
                </a:solidFill>
                <a:latin typeface="Consolas"/>
                <a:ea typeface="Consolas"/>
              </a:rPr>
              <a:t>Pluggable database dropped.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KEEP DATAFILES vs INCLUDING DATAFILES</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KEEP DATAFILES(기본) — 메타데이터만 제거, 파일은 디스크 보존</a:t>
            </a:r>
          </a:p>
          <a:p>
            <a:pPr>
              <a:spcAft>
                <a:spcPts val="1000"/>
              </a:spcAft>
            </a:pPr>
            <a:r>
              <a:rPr sz="1800" b="0">
                <a:solidFill>
                  <a:srgbClr val="C0392B"/>
                </a:solidFill>
                <a:latin typeface="Malgun Gothic"/>
                <a:ea typeface="Malgun Gothic"/>
              </a:rPr>
              <a:t>•  INCLUDING DATAFILES — 데이터 파일까지 함께 삭제</a:t>
            </a:r>
          </a:p>
          <a:p>
            <a:pPr>
              <a:spcAft>
                <a:spcPts val="1000"/>
              </a:spcAft>
            </a:pPr>
            <a:r>
              <a:rPr sz="1800" b="0">
                <a:solidFill>
                  <a:srgbClr val="C0392B"/>
                </a:solidFill>
                <a:latin typeface="Malgun Gothic"/>
                <a:ea typeface="Malgun Gothic"/>
              </a:rPr>
              <a:t>•  언플러그→다른 CDB 플러그 시나리오는 KEEP으로 파일 보존</a:t>
            </a:r>
          </a:p>
          <a:p>
            <a:pPr>
              <a:spcAft>
                <a:spcPts val="1000"/>
              </a:spcAft>
            </a:pPr>
            <a:r>
              <a:rPr sz="1800" b="0">
                <a:solidFill>
                  <a:srgbClr val="C0392B"/>
                </a:solidFill>
                <a:latin typeface="Malgun Gothic"/>
                <a:ea typeface="Malgun Gothic"/>
              </a:rPr>
              <a:t>•  드롭 후 CDB_PDBS·V$PDBS에서 사라짐</a:t>
            </a:r>
          </a:p>
          <a:p>
            <a:pPr>
              <a:spcAft>
                <a:spcPts val="1000"/>
              </a:spcAft>
            </a:pPr>
            <a:r>
              <a:rPr sz="1800" b="0">
                <a:solidFill>
                  <a:srgbClr val="C0392B"/>
                </a:solidFill>
                <a:latin typeface="Malgun Gothic"/>
                <a:ea typeface="Malgun Gothic"/>
              </a:rPr>
              <a:t>•  드롭 전 UNPLUG INTO '..pdb'로 탈출구 남기기 권장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16.9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관련 딕셔너리 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V$PDBS · V$CONTAINERS</a:t>
            </a:r>
          </a:p>
          <a:p>
            <a:pPr>
              <a:spcAft>
                <a:spcPts val="600"/>
              </a:spcAft>
            </a:pPr>
            <a:r>
              <a:rPr sz="1600" b="0">
                <a:solidFill>
                  <a:srgbClr val="C5CED6"/>
                </a:solidFill>
                <a:latin typeface="Malgun Gothic"/>
                <a:ea typeface="Malgun Gothic"/>
              </a:rPr>
              <a:t>•  CDB_PDBS · DBA_PDB_HISTORY</a:t>
            </a:r>
          </a:p>
          <a:p>
            <a:pPr>
              <a:spcAft>
                <a:spcPts val="600"/>
              </a:spcAft>
            </a:pPr>
            <a:r>
              <a:rPr sz="1600" b="0">
                <a:solidFill>
                  <a:srgbClr val="C5CED6"/>
                </a:solidFill>
                <a:latin typeface="Malgun Gothic"/>
                <a:ea typeface="Malgun Gothic"/>
              </a:rPr>
              <a:t>•  V$PARAMETER · DBA_PDB_SAVED_STATES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PDB 관리 딕셔너리 뷰</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V$PDBS — 실시간 오픈 모드·제한·저장 한도</a:t>
            </a:r>
          </a:p>
          <a:p>
            <a:pPr>
              <a:spcAft>
                <a:spcPts val="1000"/>
              </a:spcAft>
            </a:pPr>
            <a:r>
              <a:rPr sz="1800" b="0">
                <a:solidFill>
                  <a:srgbClr val="C0392B"/>
                </a:solidFill>
                <a:latin typeface="Malgun Gothic"/>
                <a:ea typeface="Malgun Gothic"/>
              </a:rPr>
              <a:t>•  V$CONTAINERS — 루트·시드·PDB 전체 조망</a:t>
            </a:r>
          </a:p>
          <a:p>
            <a:pPr>
              <a:spcAft>
                <a:spcPts val="1000"/>
              </a:spcAft>
            </a:pPr>
            <a:r>
              <a:rPr sz="1800" b="0">
                <a:solidFill>
                  <a:srgbClr val="C0392B"/>
                </a:solidFill>
                <a:latin typeface="Malgun Gothic"/>
                <a:ea typeface="Malgun Gothic"/>
              </a:rPr>
              <a:t>•  CDB_PDBS / DBA_PDBS — 현존 PDB 정적 정보·상태</a:t>
            </a:r>
          </a:p>
          <a:p>
            <a:pPr>
              <a:spcAft>
                <a:spcPts val="1000"/>
              </a:spcAft>
            </a:pPr>
            <a:r>
              <a:rPr sz="1800" b="0">
                <a:solidFill>
                  <a:srgbClr val="C0392B"/>
                </a:solidFill>
                <a:latin typeface="Malgun Gothic"/>
                <a:ea typeface="Malgun Gothic"/>
              </a:rPr>
              <a:t>•  DBA_PDB_HISTORY — PDB 생애 주기 이벤트 이력</a:t>
            </a:r>
          </a:p>
          <a:p>
            <a:pPr>
              <a:spcAft>
                <a:spcPts val="1000"/>
              </a:spcAft>
            </a:pPr>
            <a:r>
              <a:rPr sz="1800" b="0">
                <a:solidFill>
                  <a:srgbClr val="C0392B"/>
                </a:solidFill>
                <a:latin typeface="Malgun Gothic"/>
                <a:ea typeface="Malgun Gothic"/>
              </a:rPr>
              <a:t>•  DBA_PDB_SAVED_STATES — 자동 오픈 상태</a:t>
            </a:r>
          </a:p>
          <a:p>
            <a:pPr>
              <a:spcAft>
                <a:spcPts val="1000"/>
              </a:spcAft>
            </a:pPr>
            <a:r>
              <a:rPr sz="1800" b="0">
                <a:solidFill>
                  <a:srgbClr val="C0392B"/>
                </a:solidFill>
                <a:latin typeface="Malgun Gothic"/>
                <a:ea typeface="Malgun Gothic"/>
              </a:rPr>
              <a:t>•  V$PARAMETER(ISPDB_MODIFIABLE) · DBA_LOCKDOWN_PROFILES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ea typeface="Malgun Gothic"/>
              </a:rPr>
              <a:t>Quiz</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확인 학습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핵심 개념 6문항</a:t>
            </a:r>
          </a:p>
          <a:p>
            <a:pPr>
              <a:spcAft>
                <a:spcPts val="600"/>
              </a:spcAft>
            </a:pPr>
            <a:r>
              <a:rPr sz="1600" b="0">
                <a:solidFill>
                  <a:srgbClr val="C5CED6"/>
                </a:solidFill>
                <a:latin typeface="Malgun Gothic"/>
                <a:ea typeface="Malgun Gothic"/>
              </a:rPr>
              <a:t>•  정답은 본문·해설 참고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확인 학습 (1/3)</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Q1. 시드 제외 전체 오픈 문장과 특정 PDB 제외 절은? → ALL OPEN / ALL EXCEPT</a:t>
            </a:r>
          </a:p>
          <a:p>
            <a:pPr>
              <a:spcAft>
                <a:spcPts val="1000"/>
              </a:spcAft>
            </a:pPr>
            <a:r>
              <a:rPr sz="1800" b="0">
                <a:solidFill>
                  <a:srgbClr val="C0392B"/>
                </a:solidFill>
                <a:latin typeface="Malgun Gothic"/>
                <a:ea typeface="Malgun Gothic"/>
              </a:rPr>
              <a:t>•  Q2. READ ONLY→READ WRITE를 닫지 않고 전환하는 옵션은? → OPEN READ WRITE FORCE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확인 학습 (2/3)</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Q3. 파라미터를 PDB에서 바꿀 수 있는지 판별하는 컬럼은? → ISPDB_MODIFIABLE</a:t>
            </a:r>
          </a:p>
          <a:p>
            <a:pPr>
              <a:spcAft>
                <a:spcPts val="1000"/>
              </a:spcAft>
            </a:pPr>
            <a:r>
              <a:rPr sz="1800" b="0">
                <a:solidFill>
                  <a:srgbClr val="C0392B"/>
                </a:solidFill>
                <a:latin typeface="Malgun Gothic"/>
                <a:ea typeface="Malgun Gothic"/>
              </a:rPr>
              <a:t>•  Q4. PDB에서 ALTER SYSTEM SET db_block_size 시도 결과는? → ORA-65040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확인 학습 (3/3)</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rPr>
              <a:t>•  Q5. PDB 드롭 전제와 데이터 파일 두 옵션은? → 닫힘(MOUNTED) / KEEP·INCLUDING DATAFILES</a:t>
            </a:r>
          </a:p>
          <a:p>
            <a:pPr>
              <a:spcAft>
                <a:spcPts val="1000"/>
              </a:spcAft>
            </a:pPr>
            <a:r>
              <a:rPr sz="1800" b="0">
                <a:solidFill>
                  <a:srgbClr val="C0392B"/>
                </a:solidFill>
                <a:latin typeface="Malgun Gothic"/>
                <a:ea typeface="Malgun Gothic"/>
              </a:rPr>
              <a:t>•  Q6. PDB별 포트 분리에 쓰는 파라미터는? → LOCAL_LISTENER (또는 DBMS_XDB_CONFIG)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요약 (Summary)</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600" b="0">
                <a:solidFill>
                  <a:srgbClr val="C0392B"/>
                </a:solidFill>
                <a:latin typeface="Malgun Gothic"/>
                <a:ea typeface="Malgun Gothic"/>
              </a:rPr>
              <a:t>•  PDB 모드: ALTER PLUGGABLE DATABASE ALL/EXCEPT · FORCE · SAVE STATE</a:t>
            </a:r>
          </a:p>
          <a:p>
            <a:pPr>
              <a:spcAft>
                <a:spcPts val="1000"/>
              </a:spcAft>
            </a:pPr>
            <a:r>
              <a:rPr sz="1600" b="0">
                <a:solidFill>
                  <a:srgbClr val="C0392B"/>
                </a:solidFill>
                <a:latin typeface="Malgun Gothic"/>
                <a:ea typeface="Malgun Gothic"/>
              </a:rPr>
              <a:t>•  설정 수정: 기본/임시 테이블스페이스, STORAGE(MAXSIZE) 저장 한도</a:t>
            </a:r>
          </a:p>
          <a:p>
            <a:pPr>
              <a:spcAft>
                <a:spcPts val="1000"/>
              </a:spcAft>
            </a:pPr>
            <a:r>
              <a:rPr sz="1600" b="0">
                <a:solidFill>
                  <a:srgbClr val="C0392B"/>
                </a:solidFill>
                <a:latin typeface="Malgun Gothic"/>
                <a:ea typeface="Malgun Gothic"/>
              </a:rPr>
              <a:t>•  잠금 프로파일: STATEMENT/OPTION/FEATURE 제한 (상세 22장)</a:t>
            </a:r>
          </a:p>
          <a:p>
            <a:pPr>
              <a:spcAft>
                <a:spcPts val="1000"/>
              </a:spcAft>
            </a:pPr>
            <a:r>
              <a:rPr sz="1600" b="0">
                <a:solidFill>
                  <a:srgbClr val="C0392B"/>
                </a:solidFill>
                <a:latin typeface="Malgun Gothic"/>
                <a:ea typeface="Malgun Gothic"/>
              </a:rPr>
              <a:t>•  초기화 파라미터: ISPDB_MODIFIABLE로 판별, PDB 변경은 그 PDB에 격리</a:t>
            </a:r>
          </a:p>
          <a:p>
            <a:pPr>
              <a:spcAft>
                <a:spcPts val="1000"/>
              </a:spcAft>
            </a:pPr>
            <a:r>
              <a:rPr sz="1600" b="0">
                <a:solidFill>
                  <a:srgbClr val="C0392B"/>
                </a:solidFill>
                <a:latin typeface="Malgun Gothic"/>
                <a:ea typeface="Malgun Gothic"/>
              </a:rPr>
              <a:t>•  ALTER SYSTEM: 설정은 격리, 동작(CHECKPOINT 등)은 공유 자원에 작용</a:t>
            </a:r>
          </a:p>
          <a:p>
            <a:pPr>
              <a:spcAft>
                <a:spcPts val="1000"/>
              </a:spcAft>
            </a:pPr>
            <a:r>
              <a:rPr sz="1600" b="0">
                <a:solidFill>
                  <a:srgbClr val="C0392B"/>
                </a:solidFill>
                <a:latin typeface="Malgun Gothic"/>
                <a:ea typeface="Malgun Gothic"/>
              </a:rPr>
              <a:t>•  호스트/포트: LOCAL_LISTENER · DBMS_XDB_CONFIG로 분리</a:t>
            </a:r>
          </a:p>
          <a:p>
            <a:pPr>
              <a:spcAft>
                <a:spcPts val="1000"/>
              </a:spcAft>
            </a:pPr>
            <a:r>
              <a:rPr sz="1600" b="0">
                <a:solidFill>
                  <a:srgbClr val="C0392B"/>
                </a:solidFill>
                <a:latin typeface="Malgun Gothic"/>
                <a:ea typeface="Malgun Gothic"/>
              </a:rPr>
              <a:t>•  드롭: 닫은 뒤 DROP, KEEP(기본) vs INCLUDING DATAFILES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실습 개요 (Practice Overview)</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600" b="0">
                <a:solidFill>
                  <a:srgbClr val="C0392B"/>
                </a:solidFill>
                <a:latin typeface="Malgun Gothic"/>
                <a:ea typeface="Malgun Gothic"/>
              </a:rPr>
              <a:t>•  실습 16-01 PDB 모드 변경(READ WRITE/READ ONLY/MIGRATE)</a:t>
            </a:r>
          </a:p>
          <a:p>
            <a:pPr>
              <a:spcAft>
                <a:spcPts val="1000"/>
              </a:spcAft>
            </a:pPr>
            <a:r>
              <a:rPr sz="1600" b="0">
                <a:solidFill>
                  <a:srgbClr val="C0392B"/>
                </a:solidFill>
                <a:latin typeface="Malgun Gothic"/>
                <a:ea typeface="Malgun Gothic"/>
              </a:rPr>
              <a:t>•  실습 16-02 PDB 설정 변경 및 초기화 파라미터 영향 확인</a:t>
            </a:r>
          </a:p>
          <a:p>
            <a:pPr>
              <a:spcAft>
                <a:spcPts val="1000"/>
              </a:spcAft>
            </a:pPr>
            <a:r>
              <a:rPr sz="1600" b="0">
                <a:solidFill>
                  <a:srgbClr val="C0392B"/>
                </a:solidFill>
                <a:latin typeface="Malgun Gothic"/>
                <a:ea typeface="Malgun Gothic"/>
              </a:rPr>
              <a:t>•  실습 16-03 PDB 내 ALTER SYSTEM 제약 확인(ORA-65040)</a:t>
            </a:r>
          </a:p>
          <a:p>
            <a:pPr>
              <a:spcAft>
                <a:spcPts val="1000"/>
              </a:spcAft>
            </a:pPr>
            <a:r>
              <a:rPr sz="1600" b="0">
                <a:solidFill>
                  <a:srgbClr val="C0392B"/>
                </a:solidFill>
                <a:latin typeface="Malgun Gothic"/>
                <a:ea typeface="Malgun Gothic"/>
              </a:rPr>
              <a:t>•  실습 16-04 PDB별 호스트명/포트 번호 구성</a:t>
            </a:r>
          </a:p>
          <a:p>
            <a:pPr>
              <a:spcAft>
                <a:spcPts val="1000"/>
              </a:spcAft>
            </a:pPr>
            <a:r>
              <a:rPr sz="1600" b="0">
                <a:solidFill>
                  <a:srgbClr val="C0392B"/>
                </a:solidFill>
                <a:latin typeface="Malgun Gothic"/>
                <a:ea typeface="Malgun Gothic"/>
              </a:rPr>
              <a:t>•  실습 16-05 PDB 삭제(DROP PLUGGABLE DATABASE)</a:t>
            </a:r>
          </a:p>
          <a:p>
            <a:pPr>
              <a:spcAft>
                <a:spcPts val="1000"/>
              </a:spcAft>
            </a:pPr>
            <a:r>
              <a:rPr sz="1600" b="0">
                <a:solidFill>
                  <a:srgbClr val="C0392B"/>
                </a:solidFill>
                <a:latin typeface="Malgun Gothic"/>
                <a:ea typeface="Malgun Gothic"/>
              </a:rPr>
              <a:t>•  실습 16-06 파라미터 변경 전/후 비교 시나리오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cs typeface="Malgun Gothic"/>
              </a:rPr>
              <a:t>FORCE · RESTRICTED 오픈 예제</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cs typeface="Malgun Gothic"/>
              </a:rPr>
              <a:t>닫지 않고 모드 전환 · 유지관리용 제한 오픈</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cs typeface="Consolas"/>
              </a:rPr>
              <a:t>-- READ ONLY로 열린 pdb1을 닫지 않고 READ WRITE로 강제 전환</a:t>
            </a:r>
          </a:p>
          <a:p>
            <a:r>
              <a:rPr sz="1200" b="0">
                <a:solidFill>
                  <a:srgbClr val="E6E6E6"/>
                </a:solidFill>
                <a:latin typeface="Consolas"/>
                <a:ea typeface="Consolas"/>
                <a:cs typeface="Consolas"/>
              </a:rPr>
              <a:t>SQL&gt; ALTER PLUGGABLE DATABASE pdb1 OPEN READ WRITE FORCE;</a:t>
            </a:r>
          </a:p>
          <a:p>
            <a:r>
              <a:rPr sz="1200" b="0">
                <a:solidFill>
                  <a:srgbClr val="E6E6E6"/>
                </a:solidFill>
                <a:latin typeface="Consolas"/>
                <a:ea typeface="Consolas"/>
                <a:cs typeface="Consolas"/>
              </a:rPr>
              <a:t> </a:t>
            </a:r>
          </a:p>
          <a:p>
            <a:r>
              <a:rPr sz="1200" b="0">
                <a:solidFill>
                  <a:srgbClr val="7EC699"/>
                </a:solidFill>
                <a:latin typeface="Consolas"/>
                <a:ea typeface="Consolas"/>
                <a:cs typeface="Consolas"/>
              </a:rPr>
              <a:t>-- 제한 모드 오픈: RESTRICTED SESSION 권한자만 접속 허용</a:t>
            </a:r>
          </a:p>
          <a:p>
            <a:r>
              <a:rPr sz="1200" b="0">
                <a:solidFill>
                  <a:srgbClr val="E6E6E6"/>
                </a:solidFill>
                <a:latin typeface="Consolas"/>
                <a:ea typeface="Consolas"/>
                <a:cs typeface="Consolas"/>
              </a:rPr>
              <a:t>SQL&gt; ALTER PLUGGABLE DATABASE pdb1 OPEN READ WRITE RESTRICTED;</a:t>
            </a:r>
          </a:p>
          <a:p>
            <a:r>
              <a:rPr sz="1200" b="0">
                <a:solidFill>
                  <a:srgbClr val="E6E6E6"/>
                </a:solidFill>
                <a:latin typeface="Consolas"/>
                <a:ea typeface="Consolas"/>
                <a:cs typeface="Consolas"/>
              </a:rPr>
              <a:t> </a:t>
            </a:r>
          </a:p>
          <a:p>
            <a:r>
              <a:rPr sz="1200" b="0">
                <a:solidFill>
                  <a:srgbClr val="7EC699"/>
                </a:solidFill>
                <a:latin typeface="Consolas"/>
                <a:ea typeface="Consolas"/>
                <a:cs typeface="Consolas"/>
              </a:rPr>
              <a:t>-- 현재 오픈 모드와 제한 여부 확인</a:t>
            </a:r>
          </a:p>
          <a:p>
            <a:r>
              <a:rPr sz="1200" b="0">
                <a:solidFill>
                  <a:srgbClr val="E6E6E6"/>
                </a:solidFill>
                <a:latin typeface="Consolas"/>
                <a:ea typeface="Consolas"/>
                <a:cs typeface="Consolas"/>
              </a:rPr>
              <a:t>SQL&gt; SELECT name, open_mode, restricted</a:t>
            </a:r>
          </a:p>
          <a:p>
            <a:r>
              <a:rPr sz="1200" b="0">
                <a:solidFill>
                  <a:srgbClr val="E6E6E6"/>
                </a:solidFill>
                <a:latin typeface="Consolas"/>
                <a:ea typeface="Consolas"/>
                <a:cs typeface="Consolas"/>
              </a:rPr>
              <a:t>  2  FROM v$pdbs WHERE name='PDB1';</a:t>
            </a:r>
          </a:p>
          <a:p>
            <a:r>
              <a:rPr sz="1200" b="0">
                <a:solidFill>
                  <a:srgbClr val="E6E6E6"/>
                </a:solidFill>
                <a:latin typeface="Consolas"/>
                <a:ea typeface="Consolas"/>
                <a:cs typeface="Consolas"/>
              </a:rPr>
              <a:t> </a:t>
            </a:r>
          </a:p>
          <a:p>
            <a:r>
              <a:rPr sz="1200" b="0">
                <a:solidFill>
                  <a:srgbClr val="E6E6E6"/>
                </a:solidFill>
                <a:latin typeface="Consolas"/>
                <a:ea typeface="Consolas"/>
                <a:cs typeface="Consolas"/>
              </a:rPr>
              <a:t>NAME       OPEN_MODE   RES</a:t>
            </a:r>
          </a:p>
          <a:p>
            <a:r>
              <a:rPr sz="1200" b="0">
                <a:solidFill>
                  <a:srgbClr val="E6E6E6"/>
                </a:solidFill>
                <a:latin typeface="Consolas"/>
                <a:ea typeface="Consolas"/>
                <a:cs typeface="Consolas"/>
              </a:rPr>
              <a:t>---------- ----------- ---</a:t>
            </a:r>
          </a:p>
          <a:p>
            <a:r>
              <a:rPr sz="1200" b="0">
                <a:solidFill>
                  <a:srgbClr val="E6E6E6"/>
                </a:solidFill>
                <a:latin typeface="Consolas"/>
                <a:ea typeface="Consolas"/>
                <a:cs typeface="Consolas"/>
              </a:rPr>
              <a:t>PDB1       READ WRITE  YES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cs typeface="Malgun Gothic"/>
              </a:rPr>
              <a:t>딕셔너리 뷰 조회 예제 — V$PDBS · DBA_PDB_HISTORY</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cs typeface="Malgun Gothic"/>
              </a:rPr>
              <a:t>실시간 상태는 V$ 뷰, 생애 주기 이력은 DBA_ 뷰</a:t>
            </a:r>
          </a:p>
        </p:txBody>
      </p:sp>
      <p:sp>
        <p:nvSpPr>
          <p:cNvPr id="5" name="Rectangle 4"/>
          <p:cNvSpPr/>
          <p:nvPr/>
        </p:nvSpPr>
        <p:spPr>
          <a:xfrm>
            <a:off x="640080" y="1691640"/>
            <a:ext cx="10881360" cy="4617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434840"/>
          </a:xfrm>
          <a:prstGeom prst="rect">
            <a:avLst/>
          </a:prstGeom>
          <a:noFill/>
        </p:spPr>
        <p:txBody>
          <a:bodyPr wrap="square">
            <a:spAutoFit/>
          </a:bodyPr>
          <a:lstStyle/>
          <a:p>
            <a:r>
              <a:rPr sz="1200" b="0">
                <a:solidFill>
                  <a:srgbClr val="7EC699"/>
                </a:solidFill>
                <a:latin typeface="Consolas"/>
                <a:ea typeface="Consolas"/>
                <a:cs typeface="Consolas"/>
              </a:rPr>
              <a:t>-- 모든 PDB의 오픈 모드·제한·저장 한도를 한 번에 조망</a:t>
            </a:r>
          </a:p>
          <a:p>
            <a:r>
              <a:rPr sz="1200" b="0">
                <a:solidFill>
                  <a:srgbClr val="E6E6E6"/>
                </a:solidFill>
                <a:latin typeface="Consolas"/>
                <a:ea typeface="Consolas"/>
                <a:cs typeface="Consolas"/>
              </a:rPr>
              <a:t>SQL&gt; SELECT con_id, name, open_mode, restricted,</a:t>
            </a:r>
          </a:p>
          <a:p>
            <a:r>
              <a:rPr sz="1200" b="0">
                <a:solidFill>
                  <a:srgbClr val="E6E6E6"/>
                </a:solidFill>
                <a:latin typeface="Consolas"/>
                <a:ea typeface="Consolas"/>
                <a:cs typeface="Consolas"/>
              </a:rPr>
              <a:t>  2         ROUND(max_size/1024/1024/1024,1) AS max_gb</a:t>
            </a:r>
          </a:p>
          <a:p>
            <a:r>
              <a:rPr sz="1200" b="0">
                <a:solidFill>
                  <a:srgbClr val="E6E6E6"/>
                </a:solidFill>
                <a:latin typeface="Consolas"/>
                <a:ea typeface="Consolas"/>
                <a:cs typeface="Consolas"/>
              </a:rPr>
              <a:t>  3  FROM v$pdbs ORDER BY con_id;</a:t>
            </a:r>
          </a:p>
          <a:p>
            <a:r>
              <a:rPr sz="1200" b="0">
                <a:solidFill>
                  <a:srgbClr val="E6E6E6"/>
                </a:solidFill>
                <a:latin typeface="Consolas"/>
                <a:ea typeface="Consolas"/>
                <a:cs typeface="Consolas"/>
              </a:rPr>
              <a:t> </a:t>
            </a:r>
          </a:p>
          <a:p>
            <a:r>
              <a:rPr sz="1200" b="0">
                <a:solidFill>
                  <a:srgbClr val="7EC699"/>
                </a:solidFill>
                <a:latin typeface="Consolas"/>
                <a:ea typeface="Consolas"/>
                <a:cs typeface="Consolas"/>
              </a:rPr>
              <a:t>-- PDB 생애 주기 이력(생성·플러그·언플러그 등) 확인</a:t>
            </a:r>
          </a:p>
          <a:p>
            <a:r>
              <a:rPr sz="1200" b="0">
                <a:solidFill>
                  <a:srgbClr val="E6E6E6"/>
                </a:solidFill>
                <a:latin typeface="Consolas"/>
                <a:ea typeface="Consolas"/>
                <a:cs typeface="Consolas"/>
              </a:rPr>
              <a:t>SQL&gt; SELECT pdb_name, operation, op_timestamp</a:t>
            </a:r>
          </a:p>
          <a:p>
            <a:r>
              <a:rPr sz="1200" b="0">
                <a:solidFill>
                  <a:srgbClr val="E6E6E6"/>
                </a:solidFill>
                <a:latin typeface="Consolas"/>
                <a:ea typeface="Consolas"/>
                <a:cs typeface="Consolas"/>
              </a:rPr>
              <a:t>  2  FROM dba_pdb_history ORDER BY op_timestamp;</a:t>
            </a:r>
          </a:p>
          <a:p>
            <a:r>
              <a:rPr sz="1200" b="0">
                <a:solidFill>
                  <a:srgbClr val="E6E6E6"/>
                </a:solidFill>
                <a:latin typeface="Consolas"/>
                <a:ea typeface="Consolas"/>
                <a:cs typeface="Consolas"/>
              </a:rPr>
              <a:t> </a:t>
            </a:r>
          </a:p>
          <a:p>
            <a:r>
              <a:rPr sz="1200" b="0">
                <a:solidFill>
                  <a:srgbClr val="7EC699"/>
                </a:solidFill>
                <a:latin typeface="Consolas"/>
                <a:ea typeface="Consolas"/>
                <a:cs typeface="Consolas"/>
              </a:rPr>
              <a:t>-- 현존 PDB의 정적 상태(NORMAL 등)는 CDB_PDBS로</a:t>
            </a:r>
          </a:p>
          <a:p>
            <a:r>
              <a:rPr sz="1200" b="0">
                <a:solidFill>
                  <a:srgbClr val="E6E6E6"/>
                </a:solidFill>
                <a:latin typeface="Consolas"/>
                <a:ea typeface="Consolas"/>
                <a:cs typeface="Consolas"/>
              </a:rPr>
              <a:t>SQL&gt; SELECT pdb_name, status, con_id FROM cdb_pdbs;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cs typeface="Malgun Gothic"/>
              </a:rPr>
              <a:t>ALTER SYSTEM 판단 3-질문 &amp; PDB SYSDBA 경계</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1000"/>
              </a:spcAft>
            </a:pPr>
            <a:r>
              <a:rPr sz="1800" b="0">
                <a:solidFill>
                  <a:srgbClr val="C0392B"/>
                </a:solidFill>
                <a:latin typeface="Malgun Gothic"/>
                <a:ea typeface="Malgun Gothic"/>
                <a:cs typeface="Malgun Gothic"/>
              </a:rPr>
              <a:t>•  1) 이 명령이 파라미터 설정(SET)인가, 동작 명령인가?</a:t>
            </a:r>
          </a:p>
          <a:p>
            <a:pPr>
              <a:spcAft>
                <a:spcPts val="1000"/>
              </a:spcAft>
            </a:pPr>
            <a:r>
              <a:rPr sz="1800" b="0">
                <a:solidFill>
                  <a:srgbClr val="C0392B"/>
                </a:solidFill>
                <a:latin typeface="Malgun Gothic"/>
                <a:ea typeface="Malgun Gothic"/>
                <a:cs typeface="Malgun Gothic"/>
              </a:rPr>
              <a:t>•  2) 설정이면 대상 파라미터의 ISPDB_MODIFIABLE이 TRUE인가?</a:t>
            </a:r>
          </a:p>
          <a:p>
            <a:pPr>
              <a:spcAft>
                <a:spcPts val="1000"/>
              </a:spcAft>
            </a:pPr>
            <a:r>
              <a:rPr sz="1800" b="0">
                <a:solidFill>
                  <a:srgbClr val="C0392B"/>
                </a:solidFill>
                <a:latin typeface="Malgun Gothic"/>
                <a:ea typeface="Malgun Gothic"/>
                <a:cs typeface="Malgun Gothic"/>
              </a:rPr>
              <a:t>•  3) 동작이면 건드리는 자원이 PDB 전용인가, 인스턴스 공유인가?</a:t>
            </a:r>
          </a:p>
          <a:p>
            <a:pPr>
              <a:spcAft>
                <a:spcPts val="1000"/>
              </a:spcAft>
            </a:pPr>
            <a:r>
              <a:rPr sz="1800" b="0">
                <a:solidFill>
                  <a:srgbClr val="C0392B"/>
                </a:solidFill>
                <a:latin typeface="Malgun Gothic"/>
                <a:ea typeface="Malgun Gothic"/>
                <a:cs typeface="Malgun Gothic"/>
              </a:rPr>
              <a:t>•  PDB 로컬 SYSDBA는 자기 PDB 범위 안에서만 관리 가능</a:t>
            </a:r>
          </a:p>
          <a:p>
            <a:pPr>
              <a:spcAft>
                <a:spcPts val="1000"/>
              </a:spcAft>
            </a:pPr>
            <a:r>
              <a:rPr sz="1800" b="0">
                <a:solidFill>
                  <a:srgbClr val="C0392B"/>
                </a:solidFill>
                <a:latin typeface="Malgun Gothic"/>
                <a:ea typeface="Malgun Gothic"/>
                <a:cs typeface="Malgun Gothic"/>
              </a:rPr>
              <a:t>•  CDB 전역 변경은 루트의 공통 SYSDBA만 수행 가능</a:t>
            </a:r>
          </a:p>
          <a:p>
            <a:pPr>
              <a:spcAft>
                <a:spcPts val="1000"/>
              </a:spcAft>
            </a:pPr>
            <a:r>
              <a:rPr sz="1800" b="0">
                <a:solidFill>
                  <a:srgbClr val="C0392B"/>
                </a:solidFill>
                <a:latin typeface="Malgun Gothic"/>
                <a:ea typeface="Malgun Gothic"/>
                <a:cs typeface="Malgun Gothic"/>
              </a:rPr>
              <a:t>•  ORA-65040은 1)·2) 질문으로 곧장 원인을 좁힐 수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
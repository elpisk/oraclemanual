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표지</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목표</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동일 CDB 내 복제는 실무에서 가장 흔한 기법이다. 운영 PDB를 원본으로 같은 CDB에 개발·테스트용 사본을 만드는 경우가 대표적이다. 원본이 로컬에 있으므로 데이터베이스 링크가 필요 없고 절차가 간결하다. 복제된 새 PDB는 원본과 동일하게 자기완결적 구조 — 자체 SYSTEM·SYSAUX·UNDO 테이블스페이스, 전체 데이터 딕셔너리 카탈로그, SYS·SYSTEM 공통 사용자 인식 — 를 물려받는다. 데이터·객체·사용자 정의는 복사되지만 PDB의 정체성인 서비스 이름은 새것이 부여된다. NO DATA 절을 붙이면 테이블·인덱스 정의만 복제하고 데이터 행은 복사하지 않아, 빈 구조를 빠르게 만든 뒤 필요한 데이터만 선별해 넣는 시나리오에 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절차는 네 단계다. ① 새 PDB의 데이터 파일 위치를 정한다 — OMF면 DB_CREATE_FILE_DEST 파라미터 또는 CREATE_FILE_DEST 절, non-OMF면 PDB_FILE_NAME_CONVERT 파라미터 또는 FILE_NAME_CONVERT 절로 원본→대상 경로 치환 규칙을 지정한다. ② CREATE PLUGGABLE DATABASE 권한을 가진 공통 사용자로 CDB 루트에 연결한다. ③ FROM 절로 원본 PDB를 지정해 복제한다. ④ ALTER PLUGGABLE DATABASE … OPEN 으로 새 PDB를 연다. 복제는 데이터 파일 물리 복사를 수반하므로 용량과 소요 시간을 산정해 유지보수 창에 배치한다. 원본을 CLOSE 또는 READ ONLY로 두면 일관된 사본을 얻을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non-CDB를 CDB로 편입하는 것은 12c 이후 DBA의 대표 과제다. 어떤 방법이든 시작 전 non-CDB를 트랜잭션적으로 일관된 상태로 만들고 제한 모드로 열어 마이그레이션 도중 소스 변경을 막아야 한다. Data Pump는 소스·대상 엔디안이 다르거나 문자집합이 호환되지 않을 때 적절하며 TTS·전체 export/import·전체 TDB를 쓴다. TDB는 사용자 객체가 단일 테이블스페이스에 모여 있어야 하고, XDB·AWR 리포지토리는 이동하지 않는다. 같은 버전·플랫폼이면 DBMS_PDB 플러그가 가장 쉽다. 원본을 보존하며 검증 기간이 필요하면 DB 링크 클로닝, 무중단 전환이 목표면 GoldenGate 복제를 택한다.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방법 선택은 순차적 질문으로 좁힌다. 먼저 엔디안·문자집합 호환성을 따진다 — 다르면 단순 파일 플러그가 불가능하므로 Data Pump다. 호환되고 버전·플랫폼이 같으면 DBMS_PDB 플러그가 최단 경로다. 원본을 남겨 두고 새 PDB와 성능을 비교하거나 안정성을 확인할 시간이 필요하면 DB 링크 클로닝이 안전하다. 24×7 서비스처럼 다운타임 확보가 어려우면 GoldenGate 복제나 hot 클론·재배치로 무중단에 가깝게 전환한다. 선택 후에는 반드시 소규모 사본으로 리허설하고, 원본 non-CDB를 언제까지 보존할지 롤백 계획을 문서로 남긴다. 새 PDB에는 어느 방법이든 SYSTEM·SYSAUX·UNDO, 전체 카탈로그, 공통 사용자, PDBA, 새 서비스가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DBMS_PDB 기법은 non-CDB로부터 언플러그된 PDB를 만들어 동일 버전 CDB에 꽂는 것이다. 원본 non-CDB는 12c 이상이어야 한다. 핵심 프로시저 DBMS_PDB.DESCRIBE를 non-CDB에서 실행하면 미래 PDB를 기술하는 XML이 생성되며, 여기에 플러그할 데이터 파일 목록이 담긴다. XML과 그 데이터 파일이 함께 언플러그된 PDB를 구성한다. 대상 CDB 루트에 연결해 CHECK_PLUG_COMPATIBILITY로 호환성을 사전 점검한 뒤 USING 절로 플러그한다. 마지막으로 noncdb_to_pdb.sql을 실행해 non-CDB 시절의 불필요한 딕셔너리 메타데이터를 정리하고 PDB가 루트 공통 오브젝트를 참조하도록 재구성한다. 이 스크립트는 반드시 OPEN 전에 실행하며, 진행 중 STATUS는 CONVERTING이다.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흐름을 코드로 본다. 원본 non-CDB를 STARTUP OPEN READ ONLY로 연 뒤 DBMS_PDB.DESCRIBE로 XML을 만든다. 대상 CDB 루트로 이동해 CHECK_PLUG_COMPATIBILITY 함수로 버전·옵션·엔디안·문자집합 호환성을 TRUE/FALSE로 확인한다 — FALSE면 PDB_PLUG_IN_VIOLATIONS 뷰로 원인을 본다. CREATE PLUGGABLE DATABASE … USING … COPY 로 데이터 파일을 새 위치에 복사하며 꽂는다. PDB2 컨텍스트로 전환해 noncdb_to_pdb.sql을 실행하는데, 이 단계를 빠뜨리면 PDB가 정상 동작하지 않는다. 스크립트는 수 분~수십 분 걸릴 수 있으니 로그를 남긴다. 완료 후 OPEN 하면 애플리케이션 테이블이 PDB2에 존재함을 확인할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Oracle GoldenGate는 소스의 redo 변경을 캡처해 대상에 지속 적용하는 로그 기반 복제 솔루션이다. non-CDB에서 PDB로 무중단에 가깝게 옮길 때 단방향 복제를 쓴다. 먼저 대상 CDB 루트에 연결해 빈 PDB2를 시드로부터 만들고 READ WRITE로 연다. non-CDB ORCL을 소스, PDB2를 대상으로 하는 Extract·Pump·Replicat 구성을 만들어 며칠에 걸쳐 동기화한다. PDB2가 원본을 따라잡아 lag이 거의 0이 되면, 야간의 짧은 순간에 애플리케이션 커넥션만 PDB2로 바꾸는 것으로 전환이 끝난다. 최대 장점은 전환 다운타임을 초 단위로 줄이는 것이다. 반면 별도 제품 라이선스와 구성 복잡도가 필요하므로 대규모·고가용성 마이그레이션에 어울린다. 롤백이 필요하면 역방향 복제를 준비해 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로컬 복제(15.1)가 같은 CDB의 PDB를 원본으로 삼았다면, 이번엔 네트워크 건너편 원격 non-CDB나 원격 PDB를 원본으로 삼는다. 두 DB를 잇는 다리가 데이터베이스 링크다. 원본은 그대로 남아 검증 종료까지 안전하게 보존된다. 절차는 원격 원본을 READ ONLY로 두고, 대상 CDB 루트에 연결해 원격 접속용 DB 링크를 만든 뒤, CREATE PLUGGABLE DATABASE … FROM 원본@링크 로 복제한다. non-CDB 전체는 NON$CDB 키워드로, 원격 PDB는 그 PDB 이름으로 지목한다. 새 PDB 이름이 로컬 컨테이너와 충돌하지 않게 한다. 복제 원본이 non-CDB였으면 noncdb_to_pdb.sql을 실행한다. 마지막으로 OPEN하고 원격 원본을 다시 READ WRITE로 돌린다. SNAPSHOT COPY 같은 스냅샷 기반 즉시 복제 옵션도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코드로 흐름을 본다. 로컬 CDB 루트에서 원격 non-CDB로 접속할 DB 링크 link_orcl을 만든다 — 링크가 가리키는 원격 사용자는 필요한 권한을 가져야 한다. CREATE PLUGGABLE DATABASE pdb_orcl FROM NON$CDB@link_orcl 로 원격 non-CDB 전체를 복제한다. 원격 PDB를 복제할 때는 NON$CDB 대신 FROM salespdb@link_remote 처럼 PDB 이름을 쓴다. 복제된 PDB_ORCL은 자체 SYSTEM·SYSAUX·UNDO·임시 테이블스페이스, 전체 카탈로그, SYS·SYSTEM 공통 사용자, 새 서비스 이름을 소유한다. 복제 원본이 non-CDB였으므로 pdb_orcl 컨텍스트에서 noncdb_to_pdb.sql을 실행한 뒤 OPEN 한다. 이 기법의 안전성은 원본이 손상되지 않는다는 데 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링크 복제를 도구로 자동화하려면 DBCA Silent 모드의 -createFromRemotePDB 옵션을 쓴다. DBCA는 원격 CDB1의 PDB1을 로컬 CDB2에 PDB2로 복제한다. 내부적으로 DBCA는 사람이 손으로 하던 일을 순서대로 대신한다 — ① DB 링크 존재 확인(있으면 삭제), ② DB 링크 생성, ③ 원격 PDB로부터 CREATE PLUGGABLE DATABASE … FROM, ④ 복제 PDB 상태가 MOUNT인지 검증, ⑤ 열기. 전제조건으로 로컬 CDB2 사용자는 루트에서 CREATE PLUGGABLE DATABASE 권한을, 원격 CDB1은 로컬 언두 모드와 ARCHIVELOG 모드를, 링크가 가리키는 원격 공통 사용자는 CREATE PLUGGABLE DATABASE·CREATE SESSION 권한을 가져야 한다. 조건이 빠지면 DBCA는 오류로 중단한다. 대량 반복 복제는 응답 파일로 비밀번호를 안전하게 전달하며 스크립트로 표준화한다.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언플러그/플러그는 PDB를 한 CDB에서 떼어 다른 CDB에 꽂는 이동 기법이다. CDB를 상위 버전으로 업그레이드할 때 신규 버전 CDB로 PDB를 옮기는 것이 대표 사용례다. 전 과정은 두 단계다. CDB1에서 언플러그하려면 루트에 연결해 V$PDBS로 PDB가 닫혀 있는지 확인하고 ALTER PLUGGABLE DATABASE … UNPLUG INTO 'xml' 로 매니페스트를 만든다. 언플러그된 PDB의 CDB_PDBS.STATUS는 UNPLUGGED가 된다. 같은 CDB에 다시 꽂으려면 이름 충돌을 피하려 DROP … KEEP DATAFILES로 등록을 제거해야 한다. CDB2에 꽂기 전 CHECK_PLUG_COMPATIBILITY로 호환성을 점검하고, CREATE PLUGGABLE DATABASE … USING 절로 플러그한 뒤 OPEN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플러그 시 데이터 파일 취급 절이 중요하다. NOCOPY는 XML에 기록된 원래 위치의 파일을 그대로 재사용하므로 가장 빠르지만 되돌리기 어렵다 — 같은 스토리지를 공유하는 이동에 적합하다. COPY는 새 위치로 복사해 원본을 보존하므로 검증 전이라면 안전하다. MOVE는 이동한다. 언플러그된 PDB를 같은 CDB에 다시 꽂으려면 먼저 DROP … KEEP DATAFILES로 등록을 지워 이름 충돌을 막는다. 다른 CDB에 COPY로 꽂으면 원본을 드롭할 필요가 없다. 플러그 직후 PDB_PLUG_IN_VIOLATIONS 뷰를 조회해 WARNING/ERROR 위반이 없는지 반드시 확인한다. 사전 점검용 DBMS_PDB.CHECK_PLUG_COMPATIBILITY 함수도 함께 활용한다.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15.7 방식에서는 언플러그 시 XML 하나와 여러 데이터 파일이 각각 생겨, 원격 서버로 옮길 때 하나하나 복사해야 하고 누락 위험이 있다. Oracle은 이를 단순화하는 PDB 아카이브 파일을 제공한다. 확장자 .pdb인 압축 파일 하나에 PDB 매니페스트(XML)와 모든 데이터 파일이 함께 담긴다. 언플러그는 UNPLUG INTO 대상 확장자를 .pdb로 지정하기만 하면 되고, 플러그는 XML을 풀 필요 없이 .pdb 하나만 USING 절에 지정하면 Oracle이 내부를 해석해 데이터 파일을 배치하고 꽂는다. 매니페스트를 추출하지 않고도 아카이브를 대상으로 직접 플러그인 호환성 테스트를 실행할 수 있다. 이점은 명확하다 — 이동 단위가 파일 하나로 줄고, 압축으로 전송량·저장 공간이 절약되며, 경로 불일치·누락 실수가 원천 감소한다. CDB 간 PDB를 자주 주고받거나 원격 사이트로 배포하는 시나리오에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코드로 보면 아카이브 방식은 놀랄 만큼 간단하다. 소스 CDB에서 PDB1을 닫고 UNPLUG INTO '/tmp/pdb1.pdb' 로 언플러그하면, XML 매니페스트와 모든 데이터 파일이 하나의 .pdb 압축 파일로 만들어진다. 이 파일 하나만 scp 등으로 원격 서버에 전송하면 된다. 대상 CDB에서는 CREATE PLUGGABLE DATABASE pdb_new USING '/tmp/pdb1.pdb' 처럼 .pdb 하나만 지정하면 Oracle이 압축을 해석해 데이터 파일을 배치하고 PDB를 꽂는다. 표준 개발 PDB를 여러 협력사 서버로 배포할 때, 데이터 파일 열댓 개와 XML을 각각 전송하다 생기는 누락을 원천 차단한다. 배포 체크리스트가 파일 한 줄로 단순해진다.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15.5의 DB 링크 복제는 원본을 READ ONLY로 두어야 했다. 그러나 운영 PDB를 서비스 중단 없이 복제하고 싶을 때가 많다. hot cloning은 원격 프로덕션 PDB가 여전히 가동 중이고 완전히 기능하는 동안 그 PDB를 다른 CDB로 복사한다. 프로덕션에 영향을 주지 않고 테스트 사본을 얻는다. 요구조건은 두 CDB 모두 공유 언두가 아닌 로컬 언두 모드여야 한다는 것 — 각 PDB가 자체 로컬 언두 테이블스페이스를 써야 원본이 변경되는 와중에도 일관된 시점의 사본을 만들 수 있기 때문이다. 강력한 확장이 리프레셔블 카피로, 최초 복제 이후 원본에 쌓인 변경을 증분으로 새로고침(REFRESH)해 사본을 최신에 가깝게 유지한다. 갱신 대상이므로 READ ONLY 전용이다. 리프레시는 수동(REFRESH 명령) 또는 자동(EVERY n MINUTES)으로 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코드로 본다. 대상 CDB2에서 CREATE PLUGGABLE DATABASE pdb3 FROM pdb1@link_cdb1 REFRESH MODE EVERY 60 MINUTES 로 60분 간격 자동 갱신 리프레셔블 카피를 만든다. 원본 pdb1은 계속 운영 중이다. 리프레셔블 카피는 READ ONLY로만 열 수 있다. 수동 리프레시는 사본을 닫고 REFRESH를 실행한 뒤 다시 READ ONLY로 연다. 리프레시 시점에 원본에 접근할 수 없으면 REMOTE_RECOVERY_FILE_DEST 디렉터리의 아카이브 로그를 읽어 갱신한다. 나중에 ALTER PLUGGABLE DATABASE … REFRESH MODE NONE 을 실행하면 갱신을 멈추고 READ WRITE로 열 수 있는 독립 PDB로 승격된다 — 재해 복구 대기 사본을 평소 최신으로 유지하다 전환 시 올리는 패턴이다. 간격은 최신성과 부하의 절충으로 정하고, 사본 사용 일정과 리프레시 일정이 겹치지 않게 조율한다.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원격 소스 CDB에서 다른 CDB로 PDB를 옮기되 다운타임을 거의 없애려면 near-zero downtime 재배치를 쓴다. 우아함은 단 하나의 DDL로 완결된다는 데 있다. 대상 CDB에 연결해 CREATE PLUGGABLE DATABASE … FROM …@link … RELOCATE 를 실행하면 pull 모드로 원본을 끌어와 옮기고, 기존 커넥션을 관리하며, 애플리케이션 변경 없이 새 커넥션을 마이그레이션한다. 언플러그/플러그와 달리 소스에서 언플러그, 데이터 파일 복사·전송, 대상에 플러그, 소스 드롭을 별도로 하지 않아도 된다. 전제조건은 두 CDB 모두 로컬 언두 모드와 ARCHIVELOG 모드이며, DB 링크가 가리키는 원격 공통 사용자에게 CREATE PLUGGABLE DATABASE·CREATE SESSION에 더해 SYSOPER 권한이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재배치에는 두 가용성 모드가 있다. 일반 가용성 모드가 기본값이다 — 새 PDB가 READ WRITE로 처음 열리는 순간 소스 PDB가 자동으로 닫히고 드롭되며 재배치가 완료된다. 애플리케이션 PDB를 옮기는 일반적 경우에 적합하다. 최대 가용성 모드(AVAILABILITY MAX)는 커넥션 마이그레이션을 정교하게 처리한다. 소스 CDB를 마운트 상태로 유지해 리스너 커넥션이 재배치된 원격 리스너로 전달되도록 보장한다 — 이 때문에 소스와 같은 이름의 PDB는 만들 수 없다. PDB는 항상 READ ONLY로 먼저 열려 소스가 닫히기 전에 새 커넥션 대상이 된다. 대상 CDB의 리스너 정보가 소스로 전송되고 특별한 전달 등록이 이뤄져, 기존 리스너로 오는 새 커넥션이 자동으로 새 대상으로 전달되며 이 전달은 완료 후에도 지속된다. 커넥션 문자열 갱신은 편의 시점에 하면 되고 가용성은 그 시점에 의존하지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코드로 재배치를 본다. 두 CDB 모두 로컬 언두·ARCHIVELOG로 준비하고, CDB2에서 생성될 DB 링크로 CDB1에 연결되는 사용자에게 SYSOPER를 부여한다. 대상 CDB2 루트에서 CDB1로의 DB 링크 link_cdb1을 만든 뒤 CREATE PLUGGABLE DATABASE pdb1 FROM pdb1@link_cdb1 RELOCATE AVAILABILITY MAX 를 실행하면 단일 문장으로 재배치가 시작된다. AVAILABILITY MAX이므로 PDB는 먼저 READ ONLY로 열려 새 커넥션의 대상이 되고, 이후 OPEN(READ WRITE)로 완전 전환된다. 모든 클라이언트가 전달 없이 새 호스트에 직접 연결하게 되면 DBA는 그때 소스 PDB를 드롭한다. 재배치 직후 PDB_PLUG_IN_VIOLATIONS 뷰로 위반이 없는지 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재배치도 DBCA Silent 모드로 자동화한다. -relocatePDB 옵션으로 원격 CDB1의 PDB1을 로컬 CDB2로 옮긴다. DBCA 내부 단계는 원격 복제와 유사하다 — DB 링크 존재 확인(있으면 삭제), 링크 생성, 원격 PDB로부터 PDB 생성, 상태가 MOUNT인지 검증, 재배치된 PDB 열기. 전제조건으로 로컬 사용자는 CDB 루트에서 CREATE PLUGGABLE DATABASE 권한을, 원격·로컬 모두 ARCHIVELOG 모드를, 링크가 가리키는 원격 공통 사용자는 CREATE PLUGGABLE DATABASE·CREATE SESSION·SYSOPER 권한을 가져야 한다. 또한 로컬·원격은 동일 옵션이 설치되어 있거나 원격이 로컬 옵션의 부분집합이어야 한다. 옵션·문자집합·시간대 파일 버전 불일치가 흔한 실패 원인이므로 재배치 전 정합성을 점검 스크립트로 확인하고, 직후 PDB_PLUG_IN_VIOLATIONS로 위반을 검사한다.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PDB는 원격 PDB에 대한 SQL을 마치 로컬 PDB에 실행하듯 수행하게 해 주는 특별한 PDB다. 데이터 자체를 옮기지 않고 원격 PDB를 가리키는 대리자만 로컬에 둔다. 서로 다른 CDB에 분산된 데이터를 하나의 지점에서 통합 조회할 때 매우 유용하다. 프록시 PDB 내에서 발행된 문장은 실제로는 원격의 프록시된 PDB에서 실행된다. 대표 활용은 애플리케이션 루트와 CONTAINERS() 절을 결합한 분산 조회다. 예컨대 toys_root 애플리케이션 루트에 sales_data 공유 테이블이 있고 애플리케이션 PDB robots·dolls·doodles가 각자 데이터를 보유할 때, 로컬 CDB1의 애플리케이션 루트에서 통합 질의를 던지면 원격 CDB2의 doodles 데이터까지 한 번에 집계할 수 있다. 이것이 성립하려면 원격 CDB2에 애플리케이션 루트 복제본이 있고, 로컬 애플리케이션 루트에 프록시 PDB(px_app_rr)가 그 복제본을 참조해야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프록시 PDB를 생성하면 프록시된 PDB의 SYSTEM·SYSAUX·UNDO 테이블스페이스 데이터 파일만 복사된다(사용자 데이터는 원격에 남음). 프록시 PDB는 일반 PDB처럼 CDB 루트에서 생성·변경·드롭할 수 있다. DB 링크는 프록시 PDB를 담을 CDB 루트에 만들며, 원격 CDB 루트·애플리케이션 컨테이너·애플리케이션 PDB에 연결된다. CDB1 루트에서 CDB2로의 링크 link_cdb2를 만들고 CREATE PLUGGABLE DATABASE pxpdb1 AS PROXY FROM pdb1@link_cdb2 로 CDB2의 pdb1을 가리키는 대리자를 만든다. pxpdb1에 접속해 OPEN 한 뒤 SELECT * FROM app.c 를 실행하면 실제로는 원격 pdb1의 app.c 결과가 반환된다. AS PROXY 절이 핵심이며, CDB_PDBS.IS_PROXY_PDB 컬럼으로 프록시 여부를 확인한다. 데이터를 이중 저장하지 않아 스토리지 낭비 없이 여러 CDB의 데이터를 한 관문에서 조회한다.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섹션 구분</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문항 해설. Q1: 동일 CDB 복제는 CREATE PLUGGABLE DATABASE 새PDB FROM 원본PDB 이며, 데이터 없이 구조만 복제하려면 NO DATA 절을 붙인다. Q2: 소스·대상 엔디안이나 문자집합이 호환되지 않으면 단순 파일 플러그가 성립하지 않으므로 Oracle Data Pump(TTS·전체 export/import·전체 TDB)를 쓴다. Q3: DBMS_PDB로 플러그한 뒤에는 noncdb_to_pdb.sql을 반드시 실행해 non-CDB 시절 딕셔너리를 정리하며, PDB를 처음 열기 전에 실행해야 한다. 실행 중 STATUS는 CONVERTING이다. Q4: 언플러그된 PDB를 같은 CDB에 다시 꽂으려면 이름 충돌을 피하려 DROP PLUGGABLE DATABASE … KEEP DATAFILES로 등록을 제거해야 한다. 데이터 파일을 COPY해 다른 CDB에 꽂을 때는 드롭이 필요 없다.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 문항 해설. Q5: 리프레셔블 카피 PDB는 갱신을 받는 대상이므로 READ ONLY 모드로만 열 수 있다. ALTER PLUGGABLE DATABASE … REFRESH MODE NONE 을 실행하면 갱신이 중단되어 READ WRITE로 열 수 있는 독립 PDB가 된다. Q6: AVAILABILITY MAX는 소스 CDB를 마운트로 유지하며 기존 리스너로 오는 새 커넥션을 새 대상으로 자동 전달하고, PDB는 먼저 READ ONLY로 열린다. 두 CDB 모두 로컬 언두 모드와 ARCHIVELOG 모드가 전제다. Q7: 프록시 PDB 생성 시 프록시된 PDB의 SYSTEM·SYSAUX·UNDO 테이블스페이스 데이터 파일만 로컬에 복사되고 사용자 데이터는 원격에 남는다. CDB_PDBS.IS_PROXY_PDB 컬럼으로 프록시 여부를 확인한다. 각 기법의 전제조건을 명령과 함께 기억하는 것이 실전에서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개요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286000"/>
            <a:ext cx="182880"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r>
              <a:rPr sz="1800" b="1" lang="ko-KR">
                <a:solidFill>
                  <a:srgbClr val="C0392B"/>
                </a:solidFill>
                <a:latin typeface="Malgun Gothic"/>
              </a:rPr>
              <a:t>Oracle Database 19c Administration Workshop</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lang="ko-KR">
                <a:solidFill>
                  <a:srgbClr val="FFFFFF"/>
                </a:solidFill>
                <a:latin typeface="Malgun Gothic"/>
              </a:rPr>
              <a:t>PDB 생성을 위한 기타 기법 활용</a:t>
            </a:r>
          </a:p>
          <a:p>
            <a:r>
              <a:rPr sz="4400" b="1" lang="ko-KR">
                <a:solidFill>
                  <a:srgbClr val="FFFFFF"/>
                </a:solidFill>
                <a:latin typeface="Malgun Gothic"/>
              </a:rPr>
              <a:t>Using Other Techniques to Create PDBs</a:t>
            </a:r>
          </a:p>
        </p:txBody>
      </p:sp>
      <p:sp>
        <p:nvSpPr>
          <p:cNvPr id="5" name="TextBox 4"/>
          <p:cNvSpPr txBox="1"/>
          <p:nvPr/>
        </p:nvSpPr>
        <p:spPr>
          <a:xfrm>
            <a:off x="1188720" y="4480560"/>
            <a:ext cx="10058400" cy="1280160"/>
          </a:xfrm>
          <a:prstGeom prst="rect">
            <a:avLst/>
          </a:prstGeom>
          <a:noFill/>
        </p:spPr>
        <p:txBody>
          <a:bodyPr wrap="square">
            <a:spAutoFit/>
          </a:bodyPr>
          <a:lstStyle/>
          <a:p>
            <a:r>
              <a:rPr sz="1800" b="0" lang="ko-KR">
                <a:solidFill>
                  <a:srgbClr val="C5CED6"/>
                </a:solidFill>
                <a:latin typeface="Malgun Gothic"/>
              </a:rPr>
              <a:t>동일 CDB 복제 · non-CDB 마이그레이션 · 언플러그/플러그 · Hot Cloning · 재배치 · Proxy PDB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학습 목표 (Objectives)</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700" b="0" lang="ko-KR">
                <a:solidFill>
                  <a:srgbClr val="C0392B"/>
                </a:solidFill>
                <a:latin typeface="Malgun Gothic"/>
              </a:rPr>
              <a:t>•  </a:t>
            </a:r>
            <a:r>
              <a:rPr sz="1700" b="0" lang="ko-KR">
                <a:solidFill>
                  <a:srgbClr val="202830"/>
                </a:solidFill>
                <a:latin typeface="Malgun Gothic"/>
              </a:rPr>
              <a:t>동일 CDB 내에서 일반 PDB를 복제(CREATE PLUGGABLE DATABASE … FROM)</a:t>
            </a:r>
          </a:p>
          <a:p>
            <a:pPr>
              <a:spcAft>
                <a:spcPts val="800"/>
              </a:spcAft>
            </a:pPr>
            <a:r>
              <a:rPr sz="1700" b="0" lang="ko-KR">
                <a:solidFill>
                  <a:srgbClr val="C0392B"/>
                </a:solidFill>
                <a:latin typeface="Malgun Gothic"/>
              </a:rPr>
              <a:t>•  </a:t>
            </a:r>
            <a:r>
              <a:rPr sz="1700" b="0" lang="ko-KR">
                <a:solidFill>
                  <a:srgbClr val="202830"/>
                </a:solidFill>
                <a:latin typeface="Malgun Gothic"/>
              </a:rPr>
              <a:t>non-CDB를 CDB로 마이그레이션 — Data Pump · DBMS_PDB · 클로닝 · GoldenGate</a:t>
            </a:r>
          </a:p>
          <a:p>
            <a:pPr>
              <a:spcAft>
                <a:spcPts val="800"/>
              </a:spcAft>
            </a:pPr>
            <a:r>
              <a:rPr sz="1700" b="0" lang="ko-KR">
                <a:solidFill>
                  <a:srgbClr val="C0392B"/>
                </a:solidFill>
                <a:latin typeface="Malgun Gothic"/>
              </a:rPr>
              <a:t>•  </a:t>
            </a:r>
            <a:r>
              <a:rPr sz="1700" b="0" lang="ko-KR">
                <a:solidFill>
                  <a:srgbClr val="202830"/>
                </a:solidFill>
                <a:latin typeface="Malgun Gothic"/>
              </a:rPr>
              <a:t>일반 PDB 언플러그/플러그, 아카이브 파일(.pdb) 활용</a:t>
            </a:r>
          </a:p>
          <a:p>
            <a:pPr>
              <a:spcAft>
                <a:spcPts val="800"/>
              </a:spcAft>
            </a:pPr>
            <a:r>
              <a:rPr sz="1700" b="0" lang="ko-KR">
                <a:solidFill>
                  <a:srgbClr val="C0392B"/>
                </a:solidFill>
                <a:latin typeface="Malgun Gothic"/>
              </a:rPr>
              <a:t>•  </a:t>
            </a:r>
            <a:r>
              <a:rPr sz="1700" b="0" lang="ko-KR">
                <a:solidFill>
                  <a:srgbClr val="202830"/>
                </a:solidFill>
                <a:latin typeface="Malgun Gothic"/>
              </a:rPr>
              <a:t>Hot Cloning과 리프레셔블 카피로 무중단 복제·증분 갱신</a:t>
            </a:r>
          </a:p>
          <a:p>
            <a:pPr>
              <a:spcAft>
                <a:spcPts val="800"/>
              </a:spcAft>
            </a:pPr>
            <a:r>
              <a:rPr sz="1700" b="0" lang="ko-KR">
                <a:solidFill>
                  <a:srgbClr val="C0392B"/>
                </a:solidFill>
                <a:latin typeface="Malgun Gothic"/>
              </a:rPr>
              <a:t>•  </a:t>
            </a:r>
            <a:r>
              <a:rPr sz="1700" b="0" lang="ko-KR">
                <a:solidFill>
                  <a:srgbClr val="202830"/>
                </a:solidFill>
                <a:latin typeface="Malgun Gothic"/>
              </a:rPr>
              <a:t>Near-Zero Downtime PDB 재배치(RELOCATE)</a:t>
            </a:r>
          </a:p>
          <a:p>
            <a:pPr>
              <a:spcAft>
                <a:spcPts val="800"/>
              </a:spcAft>
            </a:pPr>
            <a:r>
              <a:rPr sz="1700" b="0" lang="ko-KR">
                <a:solidFill>
                  <a:srgbClr val="C0392B"/>
                </a:solidFill>
                <a:latin typeface="Malgun Gothic"/>
              </a:rPr>
              <a:t>•  </a:t>
            </a:r>
            <a:r>
              <a:rPr sz="1700" b="0" lang="ko-KR">
                <a:solidFill>
                  <a:srgbClr val="202830"/>
                </a:solidFill>
                <a:latin typeface="Malgun Gothic"/>
              </a:rPr>
              <a:t>Proxy PDB 생성 및 CDB를 가로지르는 통합 조회</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이 장의 구성 (Agenda)</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700" b="0" lang="ko-KR">
                <a:solidFill>
                  <a:srgbClr val="C0392B"/>
                </a:solidFill>
                <a:latin typeface="Malgun Gothic"/>
              </a:rPr>
              <a:t>•  </a:t>
            </a:r>
            <a:r>
              <a:rPr sz="1700" b="0" lang="ko-KR">
                <a:solidFill>
                  <a:srgbClr val="202830"/>
                </a:solidFill>
                <a:latin typeface="Malgun Gothic"/>
              </a:rPr>
              <a:t>15.1 동일 CDB 내 복제  ·  15.2 non-CDB 마이그레이션 개관</a:t>
            </a:r>
          </a:p>
          <a:p>
            <a:pPr>
              <a:spcAft>
                <a:spcPts val="800"/>
              </a:spcAft>
            </a:pPr>
            <a:r>
              <a:rPr sz="1700" b="0" lang="ko-KR">
                <a:solidFill>
                  <a:srgbClr val="C0392B"/>
                </a:solidFill>
                <a:latin typeface="Malgun Gothic"/>
              </a:rPr>
              <a:t>•  </a:t>
            </a:r>
            <a:r>
              <a:rPr sz="1700" b="0" lang="ko-KR">
                <a:solidFill>
                  <a:srgbClr val="202830"/>
                </a:solidFill>
                <a:latin typeface="Malgun Gothic"/>
              </a:rPr>
              <a:t>15.3 DBMS_PDB 플러그  ·  15.4 GoldenGate 복제</a:t>
            </a:r>
          </a:p>
          <a:p>
            <a:pPr>
              <a:spcAft>
                <a:spcPts val="800"/>
              </a:spcAft>
            </a:pPr>
            <a:r>
              <a:rPr sz="1700" b="0" lang="ko-KR">
                <a:solidFill>
                  <a:srgbClr val="C0392B"/>
                </a:solidFill>
                <a:latin typeface="Malgun Gothic"/>
              </a:rPr>
              <a:t>•  </a:t>
            </a:r>
            <a:r>
              <a:rPr sz="1700" b="0" lang="ko-KR">
                <a:solidFill>
                  <a:srgbClr val="202830"/>
                </a:solidFill>
                <a:latin typeface="Malgun Gothic"/>
              </a:rPr>
              <a:t>15.5 DB 링크 복제  ·  15.6 DBCA 원격 복제</a:t>
            </a:r>
          </a:p>
          <a:p>
            <a:pPr>
              <a:spcAft>
                <a:spcPts val="800"/>
              </a:spcAft>
            </a:pPr>
            <a:r>
              <a:rPr sz="1700" b="0" lang="ko-KR">
                <a:solidFill>
                  <a:srgbClr val="C0392B"/>
                </a:solidFill>
                <a:latin typeface="Malgun Gothic"/>
              </a:rPr>
              <a:t>•  </a:t>
            </a:r>
            <a:r>
              <a:rPr sz="1700" b="0" lang="ko-KR">
                <a:solidFill>
                  <a:srgbClr val="202830"/>
                </a:solidFill>
                <a:latin typeface="Malgun Gothic"/>
              </a:rPr>
              <a:t>15.7 언플러그/플러그  ·  15.8 아카이브 파일</a:t>
            </a:r>
          </a:p>
          <a:p>
            <a:pPr>
              <a:spcAft>
                <a:spcPts val="800"/>
              </a:spcAft>
            </a:pPr>
            <a:r>
              <a:rPr sz="1700" b="0" lang="ko-KR">
                <a:solidFill>
                  <a:srgbClr val="C0392B"/>
                </a:solidFill>
                <a:latin typeface="Malgun Gothic"/>
              </a:rPr>
              <a:t>•  </a:t>
            </a:r>
            <a:r>
              <a:rPr sz="1700" b="0" lang="ko-KR">
                <a:solidFill>
                  <a:srgbClr val="202830"/>
                </a:solidFill>
                <a:latin typeface="Malgun Gothic"/>
              </a:rPr>
              <a:t>15.9 Hot Cloning  ·  15.10 재배치  ·  15.11 DBCA 재배치</a:t>
            </a:r>
          </a:p>
          <a:p>
            <a:pPr>
              <a:spcAft>
                <a:spcPts val="800"/>
              </a:spcAft>
            </a:pPr>
            <a:r>
              <a:rPr sz="1700" b="0" lang="ko-KR">
                <a:solidFill>
                  <a:srgbClr val="C0392B"/>
                </a:solidFill>
                <a:latin typeface="Malgun Gothic"/>
              </a:rPr>
              <a:t>•  </a:t>
            </a:r>
            <a:r>
              <a:rPr sz="1700" b="0" lang="ko-KR">
                <a:solidFill>
                  <a:srgbClr val="202830"/>
                </a:solidFill>
                <a:latin typeface="Malgun Gothic"/>
              </a:rPr>
              <a:t>15.12 Proxy PDB  ·  Quiz · 요약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동일 CDB 내 PDB 복제</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CREATE PLUGGABLE DATABASE … FROM</a:t>
            </a:r>
          </a:p>
          <a:p>
            <a:r>
              <a:rPr sz="1600" b="0" lang="ko-KR">
                <a:solidFill>
                  <a:srgbClr val="C5CED6"/>
                </a:solidFill>
                <a:latin typeface="Malgun Gothic"/>
              </a:rPr>
              <a:t>•  </a:t>
            </a:r>
            <a:r>
              <a:rPr sz="1600" b="0" lang="ko-KR">
                <a:solidFill>
                  <a:srgbClr val="C5CED6"/>
                </a:solidFill>
                <a:latin typeface="Malgun Gothic"/>
              </a:rPr>
              <a:t>복제되는 구성요소</a:t>
            </a:r>
          </a:p>
          <a:p>
            <a:r>
              <a:rPr sz="1600" b="0" lang="ko-KR">
                <a:solidFill>
                  <a:srgbClr val="C5CED6"/>
                </a:solidFill>
                <a:latin typeface="Malgun Gothic"/>
              </a:rPr>
              <a:t>•  </a:t>
            </a:r>
            <a:r>
              <a:rPr sz="1600" b="0" lang="ko-KR">
                <a:solidFill>
                  <a:srgbClr val="C5CED6"/>
                </a:solidFill>
                <a:latin typeface="Malgun Gothic"/>
              </a:rPr>
              <a:t>NO DATA 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동일 CDB 내 복제 —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로컬 CDB의 살아 있는 PDB를 원본으로 사본을 생성</a:t>
            </a:r>
          </a:p>
          <a:p>
            <a:pPr>
              <a:spcAft>
                <a:spcPts val="800"/>
              </a:spcAft>
            </a:pPr>
            <a:r>
              <a:rPr sz="1800" b="0" lang="ko-KR">
                <a:solidFill>
                  <a:srgbClr val="C0392B"/>
                </a:solidFill>
                <a:latin typeface="Malgun Gothic"/>
              </a:rPr>
              <a:t>•  </a:t>
            </a:r>
            <a:r>
              <a:rPr sz="1800" b="0" lang="ko-KR">
                <a:solidFill>
                  <a:srgbClr val="202830"/>
                </a:solidFill>
                <a:latin typeface="Malgun Gothic"/>
              </a:rPr>
              <a:t>네트워크·DB 링크 불필요 → 절차가 가장 단순</a:t>
            </a:r>
          </a:p>
          <a:p>
            <a:pPr>
              <a:spcAft>
                <a:spcPts val="800"/>
              </a:spcAft>
            </a:pPr>
            <a:r>
              <a:rPr sz="1800" b="0" lang="ko-KR">
                <a:solidFill>
                  <a:srgbClr val="C0392B"/>
                </a:solidFill>
                <a:latin typeface="Malgun Gothic"/>
              </a:rPr>
              <a:t>•  </a:t>
            </a:r>
            <a:r>
              <a:rPr sz="1800" b="0" lang="ko-KR">
                <a:solidFill>
                  <a:srgbClr val="202830"/>
                </a:solidFill>
                <a:latin typeface="Malgun Gothic"/>
              </a:rPr>
              <a:t>새 PDB는 자체 SYSTEM·SYSAUX·UNDO, 전체 카탈로그 소유</a:t>
            </a:r>
          </a:p>
          <a:p>
            <a:pPr>
              <a:spcAft>
                <a:spcPts val="800"/>
              </a:spcAft>
            </a:pPr>
            <a:r>
              <a:rPr sz="1800" b="0" lang="ko-KR">
                <a:solidFill>
                  <a:srgbClr val="C0392B"/>
                </a:solidFill>
                <a:latin typeface="Malgun Gothic"/>
              </a:rPr>
              <a:t>•  </a:t>
            </a:r>
            <a:r>
              <a:rPr sz="1800" b="0" lang="ko-KR">
                <a:solidFill>
                  <a:srgbClr val="202830"/>
                </a:solidFill>
                <a:latin typeface="Malgun Gothic"/>
              </a:rPr>
              <a:t>원본과 동일한 로컬 관리자 이름, 새 기본 서비스 이름 부여</a:t>
            </a:r>
          </a:p>
          <a:p>
            <a:pPr>
              <a:spcAft>
                <a:spcPts val="800"/>
              </a:spcAft>
            </a:pPr>
            <a:r>
              <a:rPr sz="1800" b="0" lang="ko-KR">
                <a:solidFill>
                  <a:srgbClr val="C0392B"/>
                </a:solidFill>
                <a:latin typeface="Malgun Gothic"/>
              </a:rPr>
              <a:t>•  </a:t>
            </a:r>
            <a:r>
              <a:rPr sz="1800" b="0" lang="ko-KR">
                <a:solidFill>
                  <a:srgbClr val="202830"/>
                </a:solidFill>
                <a:latin typeface="Malgun Gothic"/>
              </a:rPr>
              <a:t>NO DATA 절 → 데이터 없이 메타데이터(구조)만 복제</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복제 명령 — OMF와 non-OMF</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원본을 안정화한 뒤 FROM 절로 복제</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E6E6E6"/>
                </a:solidFill>
                <a:latin typeface="Consolas"/>
              </a:rPr>
              <a:t>SQL&gt; CONNECT / AS SYSDBA</a:t>
            </a:r>
          </a:p>
          <a:p>
            <a:pPr>
              <a:lnSpc>
                <a:spcPct val="100000"/>
              </a:lnSpc>
            </a:pPr>
            <a:r>
              <a:rPr sz="1200" b="0" lang="ko-KR">
                <a:solidFill>
                  <a:srgbClr val="E6E6E6"/>
                </a:solidFill>
                <a:latin typeface="Consolas"/>
              </a:rPr>
              <a:t>SQL&gt; ALTER PLUGGABLE DATABASE pdb1 CLOSE IMMEDIATE;</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OMF 방식: CREATE_FILE_DEST 로 대상 디렉터리 지정</a:t>
            </a:r>
          </a:p>
          <a:p>
            <a:pPr>
              <a:lnSpc>
                <a:spcPct val="100000"/>
              </a:lnSpc>
            </a:pPr>
            <a:r>
              <a:rPr sz="1200" b="0" lang="ko-KR">
                <a:solidFill>
                  <a:srgbClr val="E6E6E6"/>
                </a:solidFill>
                <a:latin typeface="Consolas"/>
              </a:rPr>
              <a:t>SQL&gt; CREATE PLUGGABLE DATABASE pdb3 FROM pdb1</a:t>
            </a:r>
          </a:p>
          <a:p>
            <a:pPr>
              <a:lnSpc>
                <a:spcPct val="100000"/>
              </a:lnSpc>
            </a:pPr>
            <a:r>
              <a:rPr sz="1200" b="0" lang="ko-KR">
                <a:solidFill>
                  <a:srgbClr val="E6E6E6"/>
                </a:solidFill>
                <a:latin typeface="Consolas"/>
              </a:rPr>
              <a:t>  2    CREATE_FILE_DEST = '/u02/oradata/CDB1/pdb3';</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non-OMF 방식: FILE_NAME_CONVERT 치환 규칙</a:t>
            </a:r>
          </a:p>
          <a:p>
            <a:pPr>
              <a:lnSpc>
                <a:spcPct val="100000"/>
              </a:lnSpc>
            </a:pPr>
            <a:r>
              <a:rPr sz="1200" b="0" lang="ko-KR">
                <a:solidFill>
                  <a:srgbClr val="E6E6E6"/>
                </a:solidFill>
                <a:latin typeface="Consolas"/>
              </a:rPr>
              <a:t>SQL&gt; CREATE PLUGGABLE DATABASE pdb3 FROM pdb1</a:t>
            </a:r>
          </a:p>
          <a:p>
            <a:pPr>
              <a:lnSpc>
                <a:spcPct val="100000"/>
              </a:lnSpc>
            </a:pPr>
            <a:r>
              <a:rPr sz="1200" b="0" lang="ko-KR">
                <a:solidFill>
                  <a:srgbClr val="E6E6E6"/>
                </a:solidFill>
                <a:latin typeface="Consolas"/>
              </a:rPr>
              <a:t>  2    FILE_NAME_CONVERT = ('/../pdb1', '/../pdb3');</a:t>
            </a:r>
          </a:p>
          <a:p>
            <a:pPr>
              <a:lnSpc>
                <a:spcPct val="100000"/>
              </a:lnSpc>
            </a:pPr>
            <a:r>
              <a:rPr sz="1200" b="0" lang="ko-KR">
                <a:solidFill>
                  <a:srgbClr val="E6E6E6"/>
                </a:solidFill>
                <a:latin typeface="Consolas"/>
              </a:rPr>
              <a:t> </a:t>
            </a:r>
          </a:p>
          <a:p>
            <a:pPr>
              <a:lnSpc>
                <a:spcPct val="100000"/>
              </a:lnSpc>
            </a:pPr>
            <a:r>
              <a:rPr sz="1200" b="0" lang="ko-KR">
                <a:solidFill>
                  <a:srgbClr val="E6E6E6"/>
                </a:solidFill>
                <a:latin typeface="Consolas"/>
              </a:rPr>
              <a:t>SQL&gt; ALTER PLUGGABLE DATABASE pdb3 OPEN;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non-CDB → CDB 마이그레이션 개관</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Data Pump</a:t>
            </a:r>
          </a:p>
          <a:p>
            <a:r>
              <a:rPr sz="1600" b="0" lang="ko-KR">
                <a:solidFill>
                  <a:srgbClr val="C5CED6"/>
                </a:solidFill>
                <a:latin typeface="Malgun Gothic"/>
              </a:rPr>
              <a:t>•  </a:t>
            </a:r>
            <a:r>
              <a:rPr sz="1600" b="0" lang="ko-KR">
                <a:solidFill>
                  <a:srgbClr val="C5CED6"/>
                </a:solidFill>
                <a:latin typeface="Malgun Gothic"/>
              </a:rPr>
              <a:t>DBMS_PDB 플러그</a:t>
            </a:r>
          </a:p>
          <a:p>
            <a:r>
              <a:rPr sz="1600" b="0" lang="ko-KR">
                <a:solidFill>
                  <a:srgbClr val="C5CED6"/>
                </a:solidFill>
                <a:latin typeface="Malgun Gothic"/>
              </a:rPr>
              <a:t>•  </a:t>
            </a:r>
            <a:r>
              <a:rPr sz="1600" b="0" lang="ko-KR">
                <a:solidFill>
                  <a:srgbClr val="C5CED6"/>
                </a:solidFill>
                <a:latin typeface="Malgun Gothic"/>
              </a:rPr>
              <a:t>클로닝 · GoldenGate 복제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네 가지 마이그레이션 방법</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공통 원칙: 시작 전 non-CDB를 일관 상태 + 제한 모드로</a:t>
            </a:r>
          </a:p>
          <a:p>
            <a:pPr>
              <a:spcAft>
                <a:spcPts val="800"/>
              </a:spcAft>
            </a:pPr>
            <a:r>
              <a:rPr sz="1800" b="0" lang="ko-KR">
                <a:solidFill>
                  <a:srgbClr val="C0392B"/>
                </a:solidFill>
                <a:latin typeface="Malgun Gothic"/>
              </a:rPr>
              <a:t>•  </a:t>
            </a:r>
            <a:r>
              <a:rPr sz="1800" b="0" lang="ko-KR">
                <a:solidFill>
                  <a:srgbClr val="202830"/>
                </a:solidFill>
                <a:latin typeface="Malgun Gothic"/>
              </a:rPr>
              <a:t>Data Pump(TTS/전체 export·import/TDB) — 엔디안·문자집합 상이 시</a:t>
            </a:r>
          </a:p>
          <a:p>
            <a:pPr>
              <a:spcAft>
                <a:spcPts val="800"/>
              </a:spcAft>
            </a:pPr>
            <a:r>
              <a:rPr sz="1800" b="0" lang="ko-KR">
                <a:solidFill>
                  <a:srgbClr val="C0392B"/>
                </a:solidFill>
                <a:latin typeface="Malgun Gothic"/>
              </a:rPr>
              <a:t>•  </a:t>
            </a:r>
            <a:r>
              <a:rPr sz="1800" b="0" lang="ko-KR">
                <a:solidFill>
                  <a:srgbClr val="202830"/>
                </a:solidFill>
                <a:latin typeface="Malgun Gothic"/>
              </a:rPr>
              <a:t>DBMS_PDB 플러그 — 동일 버전·플랫폼에서 최단·최소 노력</a:t>
            </a:r>
          </a:p>
          <a:p>
            <a:pPr>
              <a:spcAft>
                <a:spcPts val="800"/>
              </a:spcAft>
            </a:pPr>
            <a:r>
              <a:rPr sz="1800" b="0" lang="ko-KR">
                <a:solidFill>
                  <a:srgbClr val="C0392B"/>
                </a:solidFill>
                <a:latin typeface="Malgun Gothic"/>
              </a:rPr>
              <a:t>•  </a:t>
            </a:r>
            <a:r>
              <a:rPr sz="1800" b="0" lang="ko-KR">
                <a:solidFill>
                  <a:srgbClr val="202830"/>
                </a:solidFill>
                <a:latin typeface="Malgun Gothic"/>
              </a:rPr>
              <a:t>DB 링크 클로닝 — 원본 보존, 성능 비교·검증 기간 확보</a:t>
            </a:r>
          </a:p>
          <a:p>
            <a:pPr>
              <a:spcAft>
                <a:spcPts val="800"/>
              </a:spcAft>
            </a:pPr>
            <a:r>
              <a:rPr sz="1800" b="0" lang="ko-KR">
                <a:solidFill>
                  <a:srgbClr val="C0392B"/>
                </a:solidFill>
                <a:latin typeface="Malgun Gothic"/>
              </a:rPr>
              <a:t>•  </a:t>
            </a:r>
            <a:r>
              <a:rPr sz="1800" b="0" lang="ko-KR">
                <a:solidFill>
                  <a:srgbClr val="202830"/>
                </a:solidFill>
                <a:latin typeface="Malgun Gothic"/>
              </a:rPr>
              <a:t>GoldenGate 단방향 복제 — 다운타임 최소화, 점진적 전환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방법 선택 의사결정</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엔디안/문자집합 → 버전/플랫폼 → 보존 → 무중단 순</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① 엔디안·문자집합이 다른가?</a:t>
            </a:r>
          </a:p>
          <a:p>
            <a:pPr>
              <a:lnSpc>
                <a:spcPct val="100000"/>
              </a:lnSpc>
            </a:pPr>
            <a:r>
              <a:rPr sz="1200" b="0" lang="ko-KR">
                <a:solidFill>
                  <a:srgbClr val="E6E6E6"/>
                </a:solidFill>
                <a:latin typeface="Consolas"/>
              </a:rPr>
              <a:t>      → Data Pump (TTS / 전체 export·import / TDB)</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② 같은 버전·플랫폼인가?</a:t>
            </a:r>
          </a:p>
          <a:p>
            <a:pPr>
              <a:lnSpc>
                <a:spcPct val="100000"/>
              </a:lnSpc>
            </a:pPr>
            <a:r>
              <a:rPr sz="1200" b="0" lang="ko-KR">
                <a:solidFill>
                  <a:srgbClr val="E6E6E6"/>
                </a:solidFill>
                <a:latin typeface="Consolas"/>
              </a:rPr>
              <a:t>      → DBMS_PDB 플러그 (가장 빠름)</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③ 원본을 살려 검증 기간이 필요한가?</a:t>
            </a:r>
          </a:p>
          <a:p>
            <a:pPr>
              <a:lnSpc>
                <a:spcPct val="100000"/>
              </a:lnSpc>
            </a:pPr>
            <a:r>
              <a:rPr sz="1200" b="0" lang="ko-KR">
                <a:solidFill>
                  <a:srgbClr val="E6E6E6"/>
                </a:solidFill>
                <a:latin typeface="Consolas"/>
              </a:rPr>
              <a:t>      → DB 링크 클로닝</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④ 다운타임을 극한으로 줄여야 하는가?</a:t>
            </a:r>
          </a:p>
          <a:p>
            <a:pPr>
              <a:lnSpc>
                <a:spcPct val="100000"/>
              </a:lnSpc>
            </a:pPr>
            <a:r>
              <a:rPr sz="1200" b="0" lang="ko-KR">
                <a:solidFill>
                  <a:srgbClr val="E6E6E6"/>
                </a:solidFill>
                <a:latin typeface="Consolas"/>
              </a:rPr>
              <a:t>      → GoldenGate 복제 / hot 클론 / 재배치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DBMS_PDB로 non-CDB 플러그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DESCRIBE로 XML 생성</a:t>
            </a:r>
          </a:p>
          <a:p>
            <a:r>
              <a:rPr sz="1600" b="0" lang="ko-KR">
                <a:solidFill>
                  <a:srgbClr val="C5CED6"/>
                </a:solidFill>
                <a:latin typeface="Malgun Gothic"/>
              </a:rPr>
              <a:t>•  </a:t>
            </a:r>
            <a:r>
              <a:rPr sz="1600" b="0" lang="ko-KR">
                <a:solidFill>
                  <a:srgbClr val="C5CED6"/>
                </a:solidFill>
                <a:latin typeface="Malgun Gothic"/>
              </a:rPr>
              <a:t>CHECK_PLUG_COMPATIBILITY</a:t>
            </a:r>
          </a:p>
          <a:p>
            <a:r>
              <a:rPr sz="1600" b="0" lang="ko-KR">
                <a:solidFill>
                  <a:srgbClr val="C5CED6"/>
                </a:solidFill>
                <a:latin typeface="Malgun Gothic"/>
              </a:rPr>
              <a:t>•  </a:t>
            </a:r>
            <a:r>
              <a:rPr sz="1600" b="0" lang="ko-KR">
                <a:solidFill>
                  <a:srgbClr val="C5CED6"/>
                </a:solidFill>
                <a:latin typeface="Malgun Gothic"/>
              </a:rPr>
              <a:t>noncdb_to_pdb.sql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DBMS_PDB 플러그 절차</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전제: non-CDB가 12c 이상 릴리스</a:t>
            </a:r>
          </a:p>
          <a:p>
            <a:pPr>
              <a:spcAft>
                <a:spcPts val="800"/>
              </a:spcAft>
            </a:pPr>
            <a:r>
              <a:rPr sz="1800" b="0" lang="ko-KR">
                <a:solidFill>
                  <a:srgbClr val="C0392B"/>
                </a:solidFill>
                <a:latin typeface="Malgun Gothic"/>
              </a:rPr>
              <a:t>•  </a:t>
            </a:r>
            <a:r>
              <a:rPr sz="1800" b="0" lang="ko-KR">
                <a:solidFill>
                  <a:srgbClr val="202830"/>
                </a:solidFill>
                <a:latin typeface="Malgun Gothic"/>
              </a:rPr>
              <a:t>① non-CDB를 READ ONLY로 열기</a:t>
            </a:r>
          </a:p>
          <a:p>
            <a:pPr>
              <a:spcAft>
                <a:spcPts val="800"/>
              </a:spcAft>
            </a:pPr>
            <a:r>
              <a:rPr sz="1800" b="0" lang="ko-KR">
                <a:solidFill>
                  <a:srgbClr val="C0392B"/>
                </a:solidFill>
                <a:latin typeface="Malgun Gothic"/>
              </a:rPr>
              <a:t>•  </a:t>
            </a:r>
            <a:r>
              <a:rPr sz="1800" b="0" lang="ko-KR">
                <a:solidFill>
                  <a:srgbClr val="202830"/>
                </a:solidFill>
                <a:latin typeface="Malgun Gothic"/>
              </a:rPr>
              <a:t>② DBMS_PDB.DESCRIBE → 데이터 파일 목록 담긴 XML 생성</a:t>
            </a:r>
          </a:p>
          <a:p>
            <a:pPr>
              <a:spcAft>
                <a:spcPts val="800"/>
              </a:spcAft>
            </a:pPr>
            <a:r>
              <a:rPr sz="1800" b="0" lang="ko-KR">
                <a:solidFill>
                  <a:srgbClr val="C0392B"/>
                </a:solidFill>
                <a:latin typeface="Malgun Gothic"/>
              </a:rPr>
              <a:t>•  </a:t>
            </a:r>
            <a:r>
              <a:rPr sz="1800" b="0" lang="ko-KR">
                <a:solidFill>
                  <a:srgbClr val="202830"/>
                </a:solidFill>
                <a:latin typeface="Malgun Gothic"/>
              </a:rPr>
              <a:t>③ 대상 CDB 루트 연결 → CHECK_PLUG_COMPATIBILITY 점검</a:t>
            </a:r>
          </a:p>
          <a:p>
            <a:pPr>
              <a:spcAft>
                <a:spcPts val="800"/>
              </a:spcAft>
            </a:pPr>
            <a:r>
              <a:rPr sz="1800" b="0" lang="ko-KR">
                <a:solidFill>
                  <a:srgbClr val="C0392B"/>
                </a:solidFill>
                <a:latin typeface="Malgun Gothic"/>
              </a:rPr>
              <a:t>•  </a:t>
            </a:r>
            <a:r>
              <a:rPr sz="1800" b="0" lang="ko-KR">
                <a:solidFill>
                  <a:srgbClr val="202830"/>
                </a:solidFill>
                <a:latin typeface="Malgun Gothic"/>
              </a:rPr>
              <a:t>④ CREATE PLUGGABLE DATABASE … USING 'ORCL.xml'</a:t>
            </a:r>
          </a:p>
          <a:p>
            <a:pPr>
              <a:spcAft>
                <a:spcPts val="800"/>
              </a:spcAft>
            </a:pPr>
            <a:r>
              <a:rPr sz="1800" b="0" lang="ko-KR">
                <a:solidFill>
                  <a:srgbClr val="C0392B"/>
                </a:solidFill>
                <a:latin typeface="Malgun Gothic"/>
              </a:rPr>
              <a:t>•  </a:t>
            </a:r>
            <a:r>
              <a:rPr sz="1800" b="0" lang="ko-KR">
                <a:solidFill>
                  <a:srgbClr val="202830"/>
                </a:solidFill>
                <a:latin typeface="Malgun Gothic"/>
              </a:rPr>
              <a:t>⑤ noncdb_to_pdb.sql 실행(OPEN 전) → ⑥ OPEN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DESCRIBE → 플러그 → 변환</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XML 기술 → USING 플러그 → noncdb_to_pdb</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[원본 non-CDB] 읽기 전용으로 열고 기술</a:t>
            </a:r>
          </a:p>
          <a:p>
            <a:pPr>
              <a:lnSpc>
                <a:spcPct val="100000"/>
              </a:lnSpc>
            </a:pPr>
            <a:r>
              <a:rPr sz="1200" b="0" lang="ko-KR">
                <a:solidFill>
                  <a:srgbClr val="E6E6E6"/>
                </a:solidFill>
                <a:latin typeface="Consolas"/>
              </a:rPr>
              <a:t>SQL&gt; STARTUP OPEN READ ONLY</a:t>
            </a:r>
          </a:p>
          <a:p>
            <a:pPr>
              <a:lnSpc>
                <a:spcPct val="100000"/>
              </a:lnSpc>
            </a:pPr>
            <a:r>
              <a:rPr sz="1200" b="0" lang="ko-KR">
                <a:solidFill>
                  <a:srgbClr val="E6E6E6"/>
                </a:solidFill>
                <a:latin typeface="Consolas"/>
              </a:rPr>
              <a:t>SQL&gt; EXEC DBMS_PDB.DESCRIBE('/tmp/ORCL.xml');</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[대상 CDB 루트] 호환성 점검 후 플러그</a:t>
            </a:r>
          </a:p>
          <a:p>
            <a:pPr>
              <a:lnSpc>
                <a:spcPct val="100000"/>
              </a:lnSpc>
            </a:pPr>
            <a:r>
              <a:rPr sz="1200" b="0" lang="ko-KR">
                <a:solidFill>
                  <a:srgbClr val="E6E6E6"/>
                </a:solidFill>
                <a:latin typeface="Consolas"/>
              </a:rPr>
              <a:t>SQL&gt; CREATE PLUGGABLE DATABASE PDB2</a:t>
            </a:r>
          </a:p>
          <a:p>
            <a:pPr>
              <a:lnSpc>
                <a:spcPct val="100000"/>
              </a:lnSpc>
            </a:pPr>
            <a:r>
              <a:rPr sz="1200" b="0" lang="ko-KR">
                <a:solidFill>
                  <a:srgbClr val="E6E6E6"/>
                </a:solidFill>
                <a:latin typeface="Consolas"/>
              </a:rPr>
              <a:t>  2    USING '/tmp/ORCL.xml' COPY;</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non-CDB → PDB 정리 (PDB2 컨텍스트, OPEN 전)</a:t>
            </a:r>
          </a:p>
          <a:p>
            <a:pPr>
              <a:lnSpc>
                <a:spcPct val="100000"/>
              </a:lnSpc>
            </a:pPr>
            <a:r>
              <a:rPr sz="1200" b="0" lang="ko-KR">
                <a:solidFill>
                  <a:srgbClr val="E6E6E6"/>
                </a:solidFill>
                <a:latin typeface="Consolas"/>
              </a:rPr>
              <a:t>SQL&gt; ALTER SESSION SET CONTAINER = PDB2;</a:t>
            </a:r>
          </a:p>
          <a:p>
            <a:pPr>
              <a:lnSpc>
                <a:spcPct val="100000"/>
              </a:lnSpc>
            </a:pPr>
            <a:r>
              <a:rPr sz="1200" b="0" lang="ko-KR">
                <a:solidFill>
                  <a:srgbClr val="E6E6E6"/>
                </a:solidFill>
                <a:latin typeface="Consolas"/>
              </a:rPr>
              <a:t>SQL&gt; @$ORACLE_HOME/rdbms/admin/noncdb_to_pdb.sql</a:t>
            </a:r>
          </a:p>
          <a:p>
            <a:pPr>
              <a:lnSpc>
                <a:spcPct val="100000"/>
              </a:lnSpc>
            </a:pPr>
            <a:r>
              <a:rPr sz="1200" b="0" lang="ko-KR">
                <a:solidFill>
                  <a:srgbClr val="E6E6E6"/>
                </a:solidFill>
                <a:latin typeface="Consolas"/>
              </a:rPr>
              <a:t>SQL&gt; ALTER PLUGGABLE DATABASE PDB2 OPEN;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15.4</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GoldenGate로 non-CDB 복제</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단방향 복제</a:t>
            </a:r>
          </a:p>
          <a:p>
            <a:r>
              <a:rPr sz="1600" b="0" lang="ko-KR">
                <a:solidFill>
                  <a:srgbClr val="C5CED6"/>
                </a:solidFill>
                <a:latin typeface="Malgun Gothic"/>
              </a:rPr>
              <a:t>•  </a:t>
            </a:r>
            <a:r>
              <a:rPr sz="1600" b="0" lang="ko-KR">
                <a:solidFill>
                  <a:srgbClr val="C5CED6"/>
                </a:solidFill>
                <a:latin typeface="Malgun Gothic"/>
              </a:rPr>
              <a:t>무중단 전환</a:t>
            </a:r>
          </a:p>
          <a:p>
            <a:r>
              <a:rPr sz="1600" b="0" lang="ko-KR">
                <a:solidFill>
                  <a:srgbClr val="C5CED6"/>
                </a:solidFill>
                <a:latin typeface="Malgun Gothic"/>
              </a:rPr>
              <a:t>•  </a:t>
            </a:r>
            <a:r>
              <a:rPr sz="1600" b="0" lang="ko-KR">
                <a:solidFill>
                  <a:srgbClr val="C5CED6"/>
                </a:solidFill>
                <a:latin typeface="Malgun Gothic"/>
              </a:rPr>
              <a:t>lag 0 시점 전환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GoldenGate 복제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로그 기반 캡처/적용으로 원본 변경을 지속 복제</a:t>
            </a:r>
          </a:p>
          <a:p>
            <a:pPr>
              <a:spcAft>
                <a:spcPts val="800"/>
              </a:spcAft>
            </a:pPr>
            <a:r>
              <a:rPr sz="1800" b="0" lang="ko-KR">
                <a:solidFill>
                  <a:srgbClr val="C0392B"/>
                </a:solidFill>
                <a:latin typeface="Malgun Gothic"/>
              </a:rPr>
              <a:t>•  </a:t>
            </a:r>
            <a:r>
              <a:rPr sz="1800" b="0" lang="ko-KR">
                <a:solidFill>
                  <a:srgbClr val="202830"/>
                </a:solidFill>
                <a:latin typeface="Malgun Gothic"/>
              </a:rPr>
              <a:t>① CDB 루트 연결 → ② 시드로 PDB2 생성 → ③ OPEN</a:t>
            </a:r>
          </a:p>
          <a:p>
            <a:pPr>
              <a:spcAft>
                <a:spcPts val="800"/>
              </a:spcAft>
            </a:pPr>
            <a:r>
              <a:rPr sz="1800" b="0" lang="ko-KR">
                <a:solidFill>
                  <a:srgbClr val="C0392B"/>
                </a:solidFill>
                <a:latin typeface="Malgun Gothic"/>
              </a:rPr>
              <a:t>•  </a:t>
            </a:r>
            <a:r>
              <a:rPr sz="1800" b="0" lang="ko-KR">
                <a:solidFill>
                  <a:srgbClr val="202830"/>
                </a:solidFill>
                <a:latin typeface="Malgun Gothic"/>
              </a:rPr>
              <a:t>④ ORCL(소스)→PDB2(대상) 단방향 복제 구성</a:t>
            </a:r>
          </a:p>
          <a:p>
            <a:pPr>
              <a:spcAft>
                <a:spcPts val="800"/>
              </a:spcAft>
            </a:pPr>
            <a:r>
              <a:rPr sz="1800" b="0" lang="ko-KR">
                <a:solidFill>
                  <a:srgbClr val="C0392B"/>
                </a:solidFill>
                <a:latin typeface="Malgun Gothic"/>
              </a:rPr>
              <a:t>•  </a:t>
            </a:r>
            <a:r>
              <a:rPr sz="1800" b="0" lang="ko-KR">
                <a:solidFill>
                  <a:srgbClr val="202830"/>
                </a:solidFill>
                <a:latin typeface="Malgun Gothic"/>
              </a:rPr>
              <a:t>⑤ 데이터가 따라잡으면(lag≈0) 애플리케이션 전환</a:t>
            </a:r>
          </a:p>
          <a:p>
            <a:pPr>
              <a:spcAft>
                <a:spcPts val="800"/>
              </a:spcAft>
            </a:pPr>
            <a:r>
              <a:rPr sz="1800" b="0" lang="ko-KR">
                <a:solidFill>
                  <a:srgbClr val="C0392B"/>
                </a:solidFill>
                <a:latin typeface="Malgun Gothic"/>
              </a:rPr>
              <a:t>•  </a:t>
            </a:r>
            <a:r>
              <a:rPr sz="1800" b="0" lang="ko-KR">
                <a:solidFill>
                  <a:srgbClr val="202830"/>
                </a:solidFill>
                <a:latin typeface="Malgun Gothic"/>
              </a:rPr>
              <a:t>장점: 초 단위 전환 / 비용: 별도 라이선스·구성 복잡도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DB 링크로 non-CDB/원격 PDB 복제</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데이터베이스 링크</a:t>
            </a:r>
          </a:p>
          <a:p>
            <a:r>
              <a:rPr sz="1600" b="0" lang="ko-KR">
                <a:solidFill>
                  <a:srgbClr val="C5CED6"/>
                </a:solidFill>
                <a:latin typeface="Malgun Gothic"/>
              </a:rPr>
              <a:t>•  </a:t>
            </a:r>
            <a:r>
              <a:rPr sz="1600" b="0" lang="ko-KR">
                <a:solidFill>
                  <a:srgbClr val="C5CED6"/>
                </a:solidFill>
                <a:latin typeface="Malgun Gothic"/>
              </a:rPr>
              <a:t>FROM NON$CDB@link</a:t>
            </a:r>
          </a:p>
          <a:p>
            <a:r>
              <a:rPr sz="1600" b="0" lang="ko-KR">
                <a:solidFill>
                  <a:srgbClr val="C5CED6"/>
                </a:solidFill>
                <a:latin typeface="Malgun Gothic"/>
              </a:rPr>
              <a:t>•  </a:t>
            </a:r>
            <a:r>
              <a:rPr sz="1600" b="0" lang="ko-KR">
                <a:solidFill>
                  <a:srgbClr val="C5CED6"/>
                </a:solidFill>
                <a:latin typeface="Malgun Gothic"/>
              </a:rPr>
              <a:t>원본 보존</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DB 링크 복제 절차</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① 원격 원본을 READ ONLY로 설정</a:t>
            </a:r>
          </a:p>
          <a:p>
            <a:pPr>
              <a:spcAft>
                <a:spcPts val="800"/>
              </a:spcAft>
            </a:pPr>
            <a:r>
              <a:rPr sz="1800" b="0" lang="ko-KR">
                <a:solidFill>
                  <a:srgbClr val="C0392B"/>
                </a:solidFill>
                <a:latin typeface="Malgun Gothic"/>
              </a:rPr>
              <a:t>•  </a:t>
            </a:r>
            <a:r>
              <a:rPr sz="1800" b="0" lang="ko-KR">
                <a:solidFill>
                  <a:srgbClr val="202830"/>
                </a:solidFill>
                <a:latin typeface="Malgun Gothic"/>
              </a:rPr>
              <a:t>② 대상 CDB 루트 연결(CREATE PDB 권한)</a:t>
            </a:r>
          </a:p>
          <a:p>
            <a:pPr>
              <a:spcAft>
                <a:spcPts val="800"/>
              </a:spcAft>
            </a:pPr>
            <a:r>
              <a:rPr sz="1800" b="0" lang="ko-KR">
                <a:solidFill>
                  <a:srgbClr val="C0392B"/>
                </a:solidFill>
                <a:latin typeface="Malgun Gothic"/>
              </a:rPr>
              <a:t>•  </a:t>
            </a:r>
            <a:r>
              <a:rPr sz="1800" b="0" lang="ko-KR">
                <a:solidFill>
                  <a:srgbClr val="202830"/>
                </a:solidFill>
                <a:latin typeface="Malgun Gothic"/>
              </a:rPr>
              <a:t>③ 원격 접속용 DB 링크 생성</a:t>
            </a:r>
          </a:p>
          <a:p>
            <a:pPr>
              <a:spcAft>
                <a:spcPts val="800"/>
              </a:spcAft>
            </a:pPr>
            <a:r>
              <a:rPr sz="1800" b="0" lang="ko-KR">
                <a:solidFill>
                  <a:srgbClr val="C0392B"/>
                </a:solidFill>
                <a:latin typeface="Malgun Gothic"/>
              </a:rPr>
              <a:t>•  </a:t>
            </a:r>
            <a:r>
              <a:rPr sz="1800" b="0" lang="ko-KR">
                <a:solidFill>
                  <a:srgbClr val="202830"/>
                </a:solidFill>
                <a:latin typeface="Malgun Gothic"/>
              </a:rPr>
              <a:t>④ CREATE PDB … FROM NON$CDB@link (원격 PDB면 PDB명@link)</a:t>
            </a:r>
          </a:p>
          <a:p>
            <a:pPr>
              <a:spcAft>
                <a:spcPts val="800"/>
              </a:spcAft>
            </a:pPr>
            <a:r>
              <a:rPr sz="1800" b="0" lang="ko-KR">
                <a:solidFill>
                  <a:srgbClr val="C0392B"/>
                </a:solidFill>
                <a:latin typeface="Malgun Gothic"/>
              </a:rPr>
              <a:t>•  </a:t>
            </a:r>
            <a:r>
              <a:rPr sz="1800" b="0" lang="ko-KR">
                <a:solidFill>
                  <a:srgbClr val="202830"/>
                </a:solidFill>
                <a:latin typeface="Malgun Gothic"/>
              </a:rPr>
              <a:t>⑤ non-CDB였으면 noncdb_to_pdb.sql → ⑥ OPEN → ⑦ 원본 복귀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DB 링크 복제 명령</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DB 링크 생성 → FROM NON$CDB@link</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[로컬 CDB 루트] 원격 접속용 DB 링크</a:t>
            </a:r>
          </a:p>
          <a:p>
            <a:pPr>
              <a:lnSpc>
                <a:spcPct val="100000"/>
              </a:lnSpc>
            </a:pPr>
            <a:r>
              <a:rPr sz="1200" b="0" lang="ko-KR">
                <a:solidFill>
                  <a:srgbClr val="E6E6E6"/>
                </a:solidFill>
                <a:latin typeface="Consolas"/>
              </a:rPr>
              <a:t>SQL&gt; CREATE DATABASE LINK link_orcl</a:t>
            </a:r>
          </a:p>
          <a:p>
            <a:pPr>
              <a:lnSpc>
                <a:spcPct val="100000"/>
              </a:lnSpc>
            </a:pPr>
            <a:r>
              <a:rPr sz="1200" b="0" lang="ko-KR">
                <a:solidFill>
                  <a:srgbClr val="E6E6E6"/>
                </a:solidFill>
                <a:latin typeface="Consolas"/>
              </a:rPr>
              <a:t>  2    CONNECT TO system IDENTIFIED BY "Welcome_1234"</a:t>
            </a:r>
          </a:p>
          <a:p>
            <a:pPr>
              <a:lnSpc>
                <a:spcPct val="100000"/>
              </a:lnSpc>
            </a:pPr>
            <a:r>
              <a:rPr sz="1200" b="0" lang="ko-KR">
                <a:solidFill>
                  <a:srgbClr val="E6E6E6"/>
                </a:solidFill>
                <a:latin typeface="Consolas"/>
              </a:rPr>
              <a:t>  3    USING 'orcl';</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non-CDB 전체를 NON$CDB 로 지목해 복제</a:t>
            </a:r>
          </a:p>
          <a:p>
            <a:pPr>
              <a:lnSpc>
                <a:spcPct val="100000"/>
              </a:lnSpc>
            </a:pPr>
            <a:r>
              <a:rPr sz="1200" b="0" lang="ko-KR">
                <a:solidFill>
                  <a:srgbClr val="E6E6E6"/>
                </a:solidFill>
                <a:latin typeface="Consolas"/>
              </a:rPr>
              <a:t>SQL&gt; CREATE PLUGGABLE DATABASE pdb_orcl</a:t>
            </a:r>
          </a:p>
          <a:p>
            <a:pPr>
              <a:lnSpc>
                <a:spcPct val="100000"/>
              </a:lnSpc>
            </a:pPr>
            <a:r>
              <a:rPr sz="1200" b="0" lang="ko-KR">
                <a:solidFill>
                  <a:srgbClr val="E6E6E6"/>
                </a:solidFill>
                <a:latin typeface="Consolas"/>
              </a:rPr>
              <a:t>  2    FROM NON$CDB@link_orcl</a:t>
            </a:r>
          </a:p>
          <a:p>
            <a:pPr>
              <a:lnSpc>
                <a:spcPct val="100000"/>
              </a:lnSpc>
            </a:pPr>
            <a:r>
              <a:rPr sz="1200" b="0" lang="ko-KR">
                <a:solidFill>
                  <a:srgbClr val="E6E6E6"/>
                </a:solidFill>
                <a:latin typeface="Consolas"/>
              </a:rPr>
              <a:t>  3    CREATE_FILE_DEST = '/u02/oradata/CDB1/pdb_orcl';</a:t>
            </a:r>
          </a:p>
          <a:p>
            <a:pPr>
              <a:lnSpc>
                <a:spcPct val="100000"/>
              </a:lnSpc>
            </a:pPr>
            <a:r>
              <a:rPr sz="1200" b="0" lang="ko-KR">
                <a:solidFill>
                  <a:srgbClr val="E6E6E6"/>
                </a:solidFill>
                <a:latin typeface="Consolas"/>
              </a:rPr>
              <a:t> </a:t>
            </a:r>
          </a:p>
          <a:p>
            <a:pPr>
              <a:lnSpc>
                <a:spcPct val="100000"/>
              </a:lnSpc>
            </a:pPr>
            <a:r>
              <a:rPr sz="1200" b="0" lang="ko-KR">
                <a:solidFill>
                  <a:srgbClr val="E6E6E6"/>
                </a:solidFill>
                <a:latin typeface="Consolas"/>
              </a:rPr>
              <a:t>SQL&gt; ALTER SESSION SET CONTAINER = pdb_orcl;</a:t>
            </a:r>
          </a:p>
          <a:p>
            <a:pPr>
              <a:lnSpc>
                <a:spcPct val="100000"/>
              </a:lnSpc>
            </a:pPr>
            <a:r>
              <a:rPr sz="1200" b="0" lang="ko-KR">
                <a:solidFill>
                  <a:srgbClr val="E6E6E6"/>
                </a:solidFill>
                <a:latin typeface="Consolas"/>
              </a:rPr>
              <a:t>SQL&gt; @$ORACLE_HOME/rdbms/admin/noncdb_to_pdb.sql</a:t>
            </a:r>
          </a:p>
          <a:p>
            <a:pPr>
              <a:lnSpc>
                <a:spcPct val="100000"/>
              </a:lnSpc>
            </a:pPr>
            <a:r>
              <a:rPr sz="1200" b="0" lang="ko-KR">
                <a:solidFill>
                  <a:srgbClr val="E6E6E6"/>
                </a:solidFill>
                <a:latin typeface="Consolas"/>
              </a:rPr>
              <a:t>SQL&gt; ALTER PLUGGABLE DATABASE pdb_orcl OPEN;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15.6</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DBCA로 원격 PDB 복제</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-createFromRemotePDB</a:t>
            </a:r>
          </a:p>
          <a:p>
            <a:r>
              <a:rPr sz="1600" b="0" lang="ko-KR">
                <a:solidFill>
                  <a:srgbClr val="C5CED6"/>
                </a:solidFill>
                <a:latin typeface="Malgun Gothic"/>
              </a:rPr>
              <a:t>•  </a:t>
            </a:r>
            <a:r>
              <a:rPr sz="1600" b="0" lang="ko-KR">
                <a:solidFill>
                  <a:srgbClr val="C5CED6"/>
                </a:solidFill>
                <a:latin typeface="Malgun Gothic"/>
              </a:rPr>
              <a:t>DBCA 내부 단계</a:t>
            </a:r>
          </a:p>
          <a:p>
            <a:r>
              <a:rPr sz="1600" b="0" lang="ko-KR">
                <a:solidFill>
                  <a:srgbClr val="C5CED6"/>
                </a:solidFill>
                <a:latin typeface="Malgun Gothic"/>
              </a:rPr>
              <a:t>•  </a:t>
            </a:r>
            <a:r>
              <a:rPr sz="1600" b="0" lang="ko-KR">
                <a:solidFill>
                  <a:srgbClr val="C5CED6"/>
                </a:solidFill>
                <a:latin typeface="Malgun Gothic"/>
              </a:rPr>
              <a:t>전제조건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DBCA -createFromRemotePDB</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Silent 모드로 원격 PDB 복제 자동화</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E6E6E6"/>
                </a:solidFill>
                <a:latin typeface="Consolas"/>
              </a:rPr>
              <a:t>$ dbca -silent -createPluggableDatabase \</a:t>
            </a:r>
          </a:p>
          <a:p>
            <a:pPr>
              <a:lnSpc>
                <a:spcPct val="100000"/>
              </a:lnSpc>
            </a:pPr>
            <a:r>
              <a:rPr sz="1200" b="0" lang="ko-KR">
                <a:solidFill>
                  <a:srgbClr val="E6E6E6"/>
                </a:solidFill>
                <a:latin typeface="Consolas"/>
              </a:rPr>
              <a:t>    -createFromRemotePDB \</a:t>
            </a:r>
          </a:p>
          <a:p>
            <a:pPr>
              <a:lnSpc>
                <a:spcPct val="100000"/>
              </a:lnSpc>
            </a:pPr>
            <a:r>
              <a:rPr sz="1200" b="0" lang="ko-KR">
                <a:solidFill>
                  <a:srgbClr val="E6E6E6"/>
                </a:solidFill>
                <a:latin typeface="Consolas"/>
              </a:rPr>
              <a:t>    -remotePDBName PDB1 \</a:t>
            </a:r>
          </a:p>
          <a:p>
            <a:pPr>
              <a:lnSpc>
                <a:spcPct val="100000"/>
              </a:lnSpc>
            </a:pPr>
            <a:r>
              <a:rPr sz="1200" b="0" lang="ko-KR">
                <a:solidFill>
                  <a:srgbClr val="E6E6E6"/>
                </a:solidFill>
                <a:latin typeface="Consolas"/>
              </a:rPr>
              <a:t>    -remoteDBConnString CDB1 \</a:t>
            </a:r>
          </a:p>
          <a:p>
            <a:pPr>
              <a:lnSpc>
                <a:spcPct val="100000"/>
              </a:lnSpc>
            </a:pPr>
            <a:r>
              <a:rPr sz="1200" b="0" lang="ko-KR">
                <a:solidFill>
                  <a:srgbClr val="E6E6E6"/>
                </a:solidFill>
                <a:latin typeface="Consolas"/>
              </a:rPr>
              <a:t>    -sysDBAUserName system \</a:t>
            </a:r>
          </a:p>
          <a:p>
            <a:pPr>
              <a:lnSpc>
                <a:spcPct val="100000"/>
              </a:lnSpc>
            </a:pPr>
            <a:r>
              <a:rPr sz="1200" b="0" lang="ko-KR">
                <a:solidFill>
                  <a:srgbClr val="E6E6E6"/>
                </a:solidFill>
                <a:latin typeface="Consolas"/>
              </a:rPr>
              <a:t>    -sysDBAPassword password \</a:t>
            </a:r>
          </a:p>
          <a:p>
            <a:pPr>
              <a:lnSpc>
                <a:spcPct val="100000"/>
              </a:lnSpc>
            </a:pPr>
            <a:r>
              <a:rPr sz="1200" b="0" lang="ko-KR">
                <a:solidFill>
                  <a:srgbClr val="E6E6E6"/>
                </a:solidFill>
                <a:latin typeface="Consolas"/>
              </a:rPr>
              <a:t>    -remoteDBSYSDBAUserName SYS \</a:t>
            </a:r>
          </a:p>
          <a:p>
            <a:pPr>
              <a:lnSpc>
                <a:spcPct val="100000"/>
              </a:lnSpc>
            </a:pPr>
            <a:r>
              <a:rPr sz="1200" b="0" lang="ko-KR">
                <a:solidFill>
                  <a:srgbClr val="E6E6E6"/>
                </a:solidFill>
                <a:latin typeface="Consolas"/>
              </a:rPr>
              <a:t>    -remoteDBSYSDBAUserPassword password \</a:t>
            </a:r>
          </a:p>
          <a:p>
            <a:pPr>
              <a:lnSpc>
                <a:spcPct val="100000"/>
              </a:lnSpc>
            </a:pPr>
            <a:r>
              <a:rPr sz="1200" b="0" lang="ko-KR">
                <a:solidFill>
                  <a:srgbClr val="E6E6E6"/>
                </a:solidFill>
                <a:latin typeface="Consolas"/>
              </a:rPr>
              <a:t>    -dbLinkUsername c##remote_user \</a:t>
            </a:r>
          </a:p>
          <a:p>
            <a:pPr>
              <a:lnSpc>
                <a:spcPct val="100000"/>
              </a:lnSpc>
            </a:pPr>
            <a:r>
              <a:rPr sz="1200" b="0" lang="ko-KR">
                <a:solidFill>
                  <a:srgbClr val="E6E6E6"/>
                </a:solidFill>
                <a:latin typeface="Consolas"/>
              </a:rPr>
              <a:t>    -dbLinkUserPassword password \</a:t>
            </a:r>
          </a:p>
          <a:p>
            <a:pPr>
              <a:lnSpc>
                <a:spcPct val="100000"/>
              </a:lnSpc>
            </a:pPr>
            <a:r>
              <a:rPr sz="1200" b="0" lang="ko-KR">
                <a:solidFill>
                  <a:srgbClr val="E6E6E6"/>
                </a:solidFill>
                <a:latin typeface="Consolas"/>
              </a:rPr>
              <a:t>    -sourceDB CDB2 -pdbName PDB2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일반 PDB 언플러그/플러그</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UNPLUG INTO</a:t>
            </a:r>
          </a:p>
          <a:p>
            <a:r>
              <a:rPr sz="1600" b="0" lang="ko-KR">
                <a:solidFill>
                  <a:srgbClr val="C5CED6"/>
                </a:solidFill>
                <a:latin typeface="Malgun Gothic"/>
              </a:rPr>
              <a:t>•  </a:t>
            </a:r>
            <a:r>
              <a:rPr sz="1600" b="0" lang="ko-KR">
                <a:solidFill>
                  <a:srgbClr val="C5CED6"/>
                </a:solidFill>
                <a:latin typeface="Malgun Gothic"/>
              </a:rPr>
              <a:t>DROP … KEEP DATAFILES</a:t>
            </a:r>
          </a:p>
          <a:p>
            <a:r>
              <a:rPr sz="1600" b="0" lang="ko-KR">
                <a:solidFill>
                  <a:srgbClr val="C5CED6"/>
                </a:solidFill>
                <a:latin typeface="Malgun Gothic"/>
              </a:rPr>
              <a:t>•  </a:t>
            </a:r>
            <a:r>
              <a:rPr sz="1600" b="0" lang="ko-KR">
                <a:solidFill>
                  <a:srgbClr val="C5CED6"/>
                </a:solidFill>
                <a:latin typeface="Malgun Gothic"/>
              </a:rPr>
              <a:t>USING … NOCOPY/COPY/MOVE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언플러그/플러그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언플러그: PDB를 CDB에서 분리 → XML+데이터 파일 묶음</a:t>
            </a:r>
          </a:p>
          <a:p>
            <a:pPr>
              <a:spcAft>
                <a:spcPts val="800"/>
              </a:spcAft>
            </a:pPr>
            <a:r>
              <a:rPr sz="1800" b="0" lang="ko-KR">
                <a:solidFill>
                  <a:srgbClr val="C0392B"/>
                </a:solidFill>
                <a:latin typeface="Malgun Gothic"/>
              </a:rPr>
              <a:t>•  </a:t>
            </a:r>
            <a:r>
              <a:rPr sz="1800" b="0" lang="ko-KR">
                <a:solidFill>
                  <a:srgbClr val="202830"/>
                </a:solidFill>
                <a:latin typeface="Malgun Gothic"/>
              </a:rPr>
              <a:t>용도: 다른 CDB로 이동(예: 상위 버전 CDB로 업그레이드)</a:t>
            </a:r>
          </a:p>
          <a:p>
            <a:pPr>
              <a:spcAft>
                <a:spcPts val="800"/>
              </a:spcAft>
            </a:pPr>
            <a:r>
              <a:rPr sz="1800" b="0" lang="ko-KR">
                <a:solidFill>
                  <a:srgbClr val="C0392B"/>
                </a:solidFill>
                <a:latin typeface="Malgun Gothic"/>
              </a:rPr>
              <a:t>•  </a:t>
            </a:r>
            <a:r>
              <a:rPr sz="1800" b="0" lang="ko-KR">
                <a:solidFill>
                  <a:srgbClr val="202830"/>
                </a:solidFill>
                <a:latin typeface="Malgun Gothic"/>
              </a:rPr>
              <a:t>CDB1: 닫힘 확인 → UNPLUG INTO → (필요 시) DROP KEEP DATAFILES</a:t>
            </a:r>
          </a:p>
          <a:p>
            <a:pPr>
              <a:spcAft>
                <a:spcPts val="800"/>
              </a:spcAft>
            </a:pPr>
            <a:r>
              <a:rPr sz="1800" b="0" lang="ko-KR">
                <a:solidFill>
                  <a:srgbClr val="C0392B"/>
                </a:solidFill>
                <a:latin typeface="Malgun Gothic"/>
              </a:rPr>
              <a:t>•  </a:t>
            </a:r>
            <a:r>
              <a:rPr sz="1800" b="0" lang="ko-KR">
                <a:solidFill>
                  <a:srgbClr val="202830"/>
                </a:solidFill>
                <a:latin typeface="Malgun Gothic"/>
              </a:rPr>
              <a:t>언플러그된 PDB의 STATUS = UNPLUGGED</a:t>
            </a:r>
          </a:p>
          <a:p>
            <a:pPr>
              <a:spcAft>
                <a:spcPts val="800"/>
              </a:spcAft>
            </a:pPr>
            <a:r>
              <a:rPr sz="1800" b="0" lang="ko-KR">
                <a:solidFill>
                  <a:srgbClr val="C0392B"/>
                </a:solidFill>
                <a:latin typeface="Malgun Gothic"/>
              </a:rPr>
              <a:t>•  </a:t>
            </a:r>
            <a:r>
              <a:rPr sz="1800" b="0" lang="ko-KR">
                <a:solidFill>
                  <a:srgbClr val="202830"/>
                </a:solidFill>
                <a:latin typeface="Malgun Gothic"/>
              </a:rPr>
              <a:t>CDB2: CHECK_PLUG_COMPATIBILITY → USING 절 플러그 → OPEN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UNPLUG → 플러그 명령</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매니페스트 생성 → 데이터 파일 취급 절 선택</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[소스 CDB1] 닫힘 확인 → 언플러그 → 드롭</a:t>
            </a:r>
          </a:p>
          <a:p>
            <a:pPr>
              <a:lnSpc>
                <a:spcPct val="100000"/>
              </a:lnSpc>
            </a:pPr>
            <a:r>
              <a:rPr sz="1200" b="0" lang="ko-KR">
                <a:solidFill>
                  <a:srgbClr val="E6E6E6"/>
                </a:solidFill>
                <a:latin typeface="Consolas"/>
              </a:rPr>
              <a:t>SQL&gt; ALTER PLUGGABLE DATABASE pdb1 CLOSE IMMEDIATE;</a:t>
            </a:r>
          </a:p>
          <a:p>
            <a:pPr>
              <a:lnSpc>
                <a:spcPct val="100000"/>
              </a:lnSpc>
            </a:pPr>
            <a:r>
              <a:rPr sz="1200" b="0" lang="ko-KR">
                <a:solidFill>
                  <a:srgbClr val="E6E6E6"/>
                </a:solidFill>
                <a:latin typeface="Consolas"/>
              </a:rPr>
              <a:t>SQL&gt; ALTER PLUGGABLE DATABASE pdb1</a:t>
            </a:r>
          </a:p>
          <a:p>
            <a:pPr>
              <a:lnSpc>
                <a:spcPct val="100000"/>
              </a:lnSpc>
            </a:pPr>
            <a:r>
              <a:rPr sz="1200" b="0" lang="ko-KR">
                <a:solidFill>
                  <a:srgbClr val="E6E6E6"/>
                </a:solidFill>
                <a:latin typeface="Consolas"/>
              </a:rPr>
              <a:t>  2    UNPLUG INTO '/tmp/xmlfile1.xml';</a:t>
            </a:r>
          </a:p>
          <a:p>
            <a:pPr>
              <a:lnSpc>
                <a:spcPct val="100000"/>
              </a:lnSpc>
            </a:pPr>
            <a:r>
              <a:rPr sz="1200" b="0" lang="ko-KR">
                <a:solidFill>
                  <a:srgbClr val="E6E6E6"/>
                </a:solidFill>
                <a:latin typeface="Consolas"/>
              </a:rPr>
              <a:t>SQL&gt; DROP PLUGGABLE DATABASE pdb1 KEEP DATAFILES;</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[대상 CDB2] USING 절로 플러그 (NOCOPY/COPY/MOVE)</a:t>
            </a:r>
          </a:p>
          <a:p>
            <a:pPr>
              <a:lnSpc>
                <a:spcPct val="100000"/>
              </a:lnSpc>
            </a:pPr>
            <a:r>
              <a:rPr sz="1200" b="0" lang="ko-KR">
                <a:solidFill>
                  <a:srgbClr val="E6E6E6"/>
                </a:solidFill>
                <a:latin typeface="Consolas"/>
              </a:rPr>
              <a:t>SQL&gt; CREATE PLUGGABLE DATABASE pdb1</a:t>
            </a:r>
          </a:p>
          <a:p>
            <a:pPr>
              <a:lnSpc>
                <a:spcPct val="100000"/>
              </a:lnSpc>
            </a:pPr>
            <a:r>
              <a:rPr sz="1200" b="0" lang="ko-KR">
                <a:solidFill>
                  <a:srgbClr val="E6E6E6"/>
                </a:solidFill>
                <a:latin typeface="Consolas"/>
              </a:rPr>
              <a:t>  2    USING '/tmp/xmlfile1.xml' NOCOPY;</a:t>
            </a:r>
          </a:p>
          <a:p>
            <a:pPr>
              <a:lnSpc>
                <a:spcPct val="100000"/>
              </a:lnSpc>
            </a:pPr>
            <a:r>
              <a:rPr sz="1200" b="0" lang="ko-KR">
                <a:solidFill>
                  <a:srgbClr val="E6E6E6"/>
                </a:solidFill>
                <a:latin typeface="Consolas"/>
              </a:rPr>
              <a:t>SQL&gt; ALTER PLUGGABLE DATABASE pdb1 OPEN;</a:t>
            </a:r>
          </a:p>
          <a:p>
            <a:pPr>
              <a:lnSpc>
                <a:spcPct val="100000"/>
              </a:lnSpc>
            </a:pPr>
            <a:r>
              <a:rPr sz="1200" b="0" lang="ko-KR">
                <a:solidFill>
                  <a:srgbClr val="E6E6E6"/>
                </a:solidFill>
                <a:latin typeface="Consolas"/>
              </a:rPr>
              <a:t>SQL&gt; SELECT name,cause,type,message</a:t>
            </a:r>
          </a:p>
          <a:p>
            <a:pPr>
              <a:lnSpc>
                <a:spcPct val="100000"/>
              </a:lnSpc>
            </a:pPr>
            <a:r>
              <a:rPr sz="1200" b="0" lang="ko-KR">
                <a:solidFill>
                  <a:srgbClr val="E6E6E6"/>
                </a:solidFill>
                <a:latin typeface="Consolas"/>
              </a:rPr>
              <a:t>  2  FROM pdb_plug_in_violations WHERE name='PDB1';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아카이브 파일(.pdb) 활용</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단일 압축 파일</a:t>
            </a:r>
          </a:p>
          <a:p>
            <a:r>
              <a:rPr sz="1600" b="0" lang="ko-KR">
                <a:solidFill>
                  <a:srgbClr val="C5CED6"/>
                </a:solidFill>
                <a:latin typeface="Malgun Gothic"/>
              </a:rPr>
              <a:t>•  </a:t>
            </a:r>
            <a:r>
              <a:rPr sz="1600" b="0" lang="ko-KR">
                <a:solidFill>
                  <a:srgbClr val="C5CED6"/>
                </a:solidFill>
                <a:latin typeface="Malgun Gothic"/>
              </a:rPr>
              <a:t>XML+데이터 파일 일체</a:t>
            </a:r>
          </a:p>
          <a:p>
            <a:r>
              <a:rPr sz="1600" b="0" lang="ko-KR">
                <a:solidFill>
                  <a:srgbClr val="C5CED6"/>
                </a:solidFill>
                <a:latin typeface="Malgun Gothic"/>
              </a:rPr>
              <a:t>•  </a:t>
            </a:r>
            <a:r>
              <a:rPr sz="1600" b="0" lang="ko-KR">
                <a:solidFill>
                  <a:srgbClr val="C5CED6"/>
                </a:solidFill>
                <a:latin typeface="Malgun Gothic"/>
              </a:rPr>
              <a:t>이동 단순화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아카이브 파일의 이점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UNPLUG INTO '….pdb' → XML+모든 데이터 파일을 하나로 압축</a:t>
            </a:r>
          </a:p>
          <a:p>
            <a:pPr>
              <a:spcAft>
                <a:spcPts val="800"/>
              </a:spcAft>
            </a:pPr>
            <a:r>
              <a:rPr sz="1800" b="0" lang="ko-KR">
                <a:solidFill>
                  <a:srgbClr val="C0392B"/>
                </a:solidFill>
                <a:latin typeface="Malgun Gothic"/>
              </a:rPr>
              <a:t>•  </a:t>
            </a:r>
            <a:r>
              <a:rPr sz="1800" b="0" lang="ko-KR">
                <a:solidFill>
                  <a:srgbClr val="202830"/>
                </a:solidFill>
                <a:latin typeface="Malgun Gothic"/>
              </a:rPr>
              <a:t>플러그: .pdb 하나만 USING 절에 지정하면 됨</a:t>
            </a:r>
          </a:p>
          <a:p>
            <a:pPr>
              <a:spcAft>
                <a:spcPts val="800"/>
              </a:spcAft>
            </a:pPr>
            <a:r>
              <a:rPr sz="1800" b="0" lang="ko-KR">
                <a:solidFill>
                  <a:srgbClr val="C0392B"/>
                </a:solidFill>
                <a:latin typeface="Malgun Gothic"/>
              </a:rPr>
              <a:t>•  </a:t>
            </a:r>
            <a:r>
              <a:rPr sz="1800" b="0" lang="ko-KR">
                <a:solidFill>
                  <a:srgbClr val="202830"/>
                </a:solidFill>
                <a:latin typeface="Malgun Gothic"/>
              </a:rPr>
              <a:t>아카이브에서 직접 호환성 테스트 가능(추출 불필요)</a:t>
            </a:r>
          </a:p>
          <a:p>
            <a:pPr>
              <a:spcAft>
                <a:spcPts val="800"/>
              </a:spcAft>
            </a:pPr>
            <a:r>
              <a:rPr sz="1800" b="0" lang="ko-KR">
                <a:solidFill>
                  <a:srgbClr val="C0392B"/>
                </a:solidFill>
                <a:latin typeface="Malgun Gothic"/>
              </a:rPr>
              <a:t>•  </a:t>
            </a:r>
            <a:r>
              <a:rPr sz="1800" b="0" lang="ko-KR">
                <a:solidFill>
                  <a:srgbClr val="202830"/>
                </a:solidFill>
                <a:latin typeface="Malgun Gothic"/>
              </a:rPr>
              <a:t>이동 단위 1개 → 관리·전송 단순, 누락 위험 감소</a:t>
            </a:r>
          </a:p>
          <a:p>
            <a:pPr>
              <a:spcAft>
                <a:spcPts val="800"/>
              </a:spcAft>
            </a:pPr>
            <a:r>
              <a:rPr sz="1800" b="0" lang="ko-KR">
                <a:solidFill>
                  <a:srgbClr val="C0392B"/>
                </a:solidFill>
                <a:latin typeface="Malgun Gothic"/>
              </a:rPr>
              <a:t>•  </a:t>
            </a:r>
            <a:r>
              <a:rPr sz="1800" b="0" lang="ko-KR">
                <a:solidFill>
                  <a:srgbClr val="202830"/>
                </a:solidFill>
                <a:latin typeface="Malgun Gothic"/>
              </a:rPr>
              <a:t>압축 → 네트워크 전송량·저장 공간 절약</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아카이브 언플러그/플러그</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UNPLUG INTO '….pdb' → USING '….pdb'</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[소스 CDB] 단일 아카이브로 언플러그</a:t>
            </a:r>
          </a:p>
          <a:p>
            <a:pPr>
              <a:lnSpc>
                <a:spcPct val="100000"/>
              </a:lnSpc>
            </a:pPr>
            <a:r>
              <a:rPr sz="1200" b="0" lang="ko-KR">
                <a:solidFill>
                  <a:srgbClr val="E6E6E6"/>
                </a:solidFill>
                <a:latin typeface="Consolas"/>
              </a:rPr>
              <a:t>SQL&gt; ALTER PLUGGABLE DATABASE pdb1 CLOSE IMMEDIATE;</a:t>
            </a:r>
          </a:p>
          <a:p>
            <a:pPr>
              <a:lnSpc>
                <a:spcPct val="100000"/>
              </a:lnSpc>
            </a:pPr>
            <a:r>
              <a:rPr sz="1200" b="0" lang="ko-KR">
                <a:solidFill>
                  <a:srgbClr val="E6E6E6"/>
                </a:solidFill>
                <a:latin typeface="Consolas"/>
              </a:rPr>
              <a:t>SQL&gt; ALTER PLUGGABLE DATABASE pdb1</a:t>
            </a:r>
          </a:p>
          <a:p>
            <a:pPr>
              <a:lnSpc>
                <a:spcPct val="100000"/>
              </a:lnSpc>
            </a:pPr>
            <a:r>
              <a:rPr sz="1200" b="0" lang="ko-KR">
                <a:solidFill>
                  <a:srgbClr val="E6E6E6"/>
                </a:solidFill>
                <a:latin typeface="Consolas"/>
              </a:rPr>
              <a:t>  2    UNPLUG INTO '/tmp/pdb1.pdb';</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/tmp/pdb1.pdb 하나만 원격으로 전송 (scp 등)</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[대상 CDB] .pdb 하나로 플러그</a:t>
            </a:r>
          </a:p>
          <a:p>
            <a:pPr>
              <a:lnSpc>
                <a:spcPct val="100000"/>
              </a:lnSpc>
            </a:pPr>
            <a:r>
              <a:rPr sz="1200" b="0" lang="ko-KR">
                <a:solidFill>
                  <a:srgbClr val="E6E6E6"/>
                </a:solidFill>
                <a:latin typeface="Consolas"/>
              </a:rPr>
              <a:t>SQL&gt; CREATE PLUGGABLE DATABASE pdb_new</a:t>
            </a:r>
          </a:p>
          <a:p>
            <a:pPr>
              <a:lnSpc>
                <a:spcPct val="100000"/>
              </a:lnSpc>
            </a:pPr>
            <a:r>
              <a:rPr sz="1200" b="0" lang="ko-KR">
                <a:solidFill>
                  <a:srgbClr val="E6E6E6"/>
                </a:solidFill>
                <a:latin typeface="Consolas"/>
              </a:rPr>
              <a:t>  2    USING '/tmp/pdb1.pdb';</a:t>
            </a:r>
          </a:p>
          <a:p>
            <a:pPr>
              <a:lnSpc>
                <a:spcPct val="100000"/>
              </a:lnSpc>
            </a:pPr>
            <a:r>
              <a:rPr sz="1200" b="0" lang="ko-KR">
                <a:solidFill>
                  <a:srgbClr val="E6E6E6"/>
                </a:solidFill>
                <a:latin typeface="Consolas"/>
              </a:rPr>
              <a:t>SQL&gt; ALTER PLUGGABLE DATABASE pdb_new OPEN;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15.9</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Hot Cloning과 리프레셔블 카피</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운영 중 복제</a:t>
            </a:r>
          </a:p>
          <a:p>
            <a:r>
              <a:rPr sz="1600" b="0" lang="ko-KR">
                <a:solidFill>
                  <a:srgbClr val="C5CED6"/>
                </a:solidFill>
                <a:latin typeface="Malgun Gothic"/>
              </a:rPr>
              <a:t>•  </a:t>
            </a:r>
            <a:r>
              <a:rPr sz="1600" b="0" lang="ko-KR">
                <a:solidFill>
                  <a:srgbClr val="C5CED6"/>
                </a:solidFill>
                <a:latin typeface="Malgun Gothic"/>
              </a:rPr>
              <a:t>로컬 언두 필수</a:t>
            </a:r>
          </a:p>
          <a:p>
            <a:r>
              <a:rPr sz="1600" b="0" lang="ko-KR">
                <a:solidFill>
                  <a:srgbClr val="C5CED6"/>
                </a:solidFill>
                <a:latin typeface="Malgun Gothic"/>
              </a:rPr>
              <a:t>•  </a:t>
            </a:r>
            <a:r>
              <a:rPr sz="1600" b="0" lang="ko-KR">
                <a:solidFill>
                  <a:srgbClr val="C5CED6"/>
                </a:solidFill>
                <a:latin typeface="Malgun Gothic"/>
              </a:rPr>
              <a:t>REFRESH 증분 갱신</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Hot Cloning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원격 프로덕션 PDB가 가동 중인 상태 그대로 복제</a:t>
            </a:r>
          </a:p>
          <a:p>
            <a:pPr>
              <a:spcAft>
                <a:spcPts val="800"/>
              </a:spcAft>
            </a:pPr>
            <a:r>
              <a:rPr sz="1800" b="0" lang="ko-KR">
                <a:solidFill>
                  <a:srgbClr val="C0392B"/>
                </a:solidFill>
                <a:latin typeface="Malgun Gothic"/>
              </a:rPr>
              <a:t>•  </a:t>
            </a:r>
            <a:r>
              <a:rPr sz="1800" b="0" lang="ko-KR">
                <a:solidFill>
                  <a:srgbClr val="202830"/>
                </a:solidFill>
                <a:latin typeface="Malgun Gothic"/>
              </a:rPr>
              <a:t>두 CDB 모두 로컬 언두 모드 필수(각 PDB 자체 언두)</a:t>
            </a:r>
          </a:p>
          <a:p>
            <a:pPr>
              <a:spcAft>
                <a:spcPts val="800"/>
              </a:spcAft>
            </a:pPr>
            <a:r>
              <a:rPr sz="1800" b="0" lang="ko-KR">
                <a:solidFill>
                  <a:srgbClr val="C0392B"/>
                </a:solidFill>
                <a:latin typeface="Malgun Gothic"/>
              </a:rPr>
              <a:t>•  </a:t>
            </a:r>
            <a:r>
              <a:rPr sz="1800" b="0" lang="ko-KR">
                <a:solidFill>
                  <a:srgbClr val="202830"/>
                </a:solidFill>
                <a:latin typeface="Malgun Gothic"/>
              </a:rPr>
              <a:t>리프레셔블 카피: 원본 변경을 증분 REFRESH로 반영</a:t>
            </a:r>
          </a:p>
          <a:p>
            <a:pPr>
              <a:spcAft>
                <a:spcPts val="800"/>
              </a:spcAft>
            </a:pPr>
            <a:r>
              <a:rPr sz="1800" b="0" lang="ko-KR">
                <a:solidFill>
                  <a:srgbClr val="C0392B"/>
                </a:solidFill>
                <a:latin typeface="Malgun Gothic"/>
              </a:rPr>
              <a:t>•  </a:t>
            </a:r>
            <a:r>
              <a:rPr sz="1800" b="0" lang="ko-KR">
                <a:solidFill>
                  <a:srgbClr val="202830"/>
                </a:solidFill>
                <a:latin typeface="Malgun Gothic"/>
              </a:rPr>
              <a:t>리프레셔블 카피는 READ ONLY 로만 열림</a:t>
            </a:r>
          </a:p>
          <a:p>
            <a:pPr>
              <a:spcAft>
                <a:spcPts val="800"/>
              </a:spcAft>
            </a:pPr>
            <a:r>
              <a:rPr sz="1800" b="0" lang="ko-KR">
                <a:solidFill>
                  <a:srgbClr val="C0392B"/>
                </a:solidFill>
                <a:latin typeface="Malgun Gothic"/>
              </a:rPr>
              <a:t>•  </a:t>
            </a:r>
            <a:r>
              <a:rPr sz="1800" b="0" lang="ko-KR">
                <a:solidFill>
                  <a:srgbClr val="202830"/>
                </a:solidFill>
                <a:latin typeface="Malgun Gothic"/>
              </a:rPr>
              <a:t>리프레시: 수동(요청 시) / 자동(EVERY n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리프레셔블 카피 &amp; REFRESH</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EVERY n MINUTES → READ ONLY → 수동 REFRESH</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[대상 CDB2] 리프레셔블 카피 생성(원본은 운영 중)</a:t>
            </a:r>
          </a:p>
          <a:p>
            <a:pPr>
              <a:lnSpc>
                <a:spcPct val="100000"/>
              </a:lnSpc>
            </a:pPr>
            <a:r>
              <a:rPr sz="1200" b="0" lang="ko-KR">
                <a:solidFill>
                  <a:srgbClr val="E6E6E6"/>
                </a:solidFill>
                <a:latin typeface="Consolas"/>
              </a:rPr>
              <a:t>SQL&gt; CREATE PLUGGABLE DATABASE pdb3 FROM pdb1@link_cdb1</a:t>
            </a:r>
          </a:p>
          <a:p>
            <a:pPr>
              <a:lnSpc>
                <a:spcPct val="100000"/>
              </a:lnSpc>
            </a:pPr>
            <a:r>
              <a:rPr sz="1200" b="0" lang="ko-KR">
                <a:solidFill>
                  <a:srgbClr val="E6E6E6"/>
                </a:solidFill>
                <a:latin typeface="Consolas"/>
              </a:rPr>
              <a:t>  2    REFRESH MODE EVERY 60 MINUTES</a:t>
            </a:r>
          </a:p>
          <a:p>
            <a:pPr>
              <a:lnSpc>
                <a:spcPct val="100000"/>
              </a:lnSpc>
            </a:pPr>
            <a:r>
              <a:rPr sz="1200" b="0" lang="ko-KR">
                <a:solidFill>
                  <a:srgbClr val="E6E6E6"/>
                </a:solidFill>
                <a:latin typeface="Consolas"/>
              </a:rPr>
              <a:t>  3    CREATE_FILE_DEST = '/u02/oradata/CDB2/pdb3';</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READ ONLY 로만 열림</a:t>
            </a:r>
          </a:p>
          <a:p>
            <a:pPr>
              <a:lnSpc>
                <a:spcPct val="100000"/>
              </a:lnSpc>
            </a:pPr>
            <a:r>
              <a:rPr sz="1200" b="0" lang="ko-KR">
                <a:solidFill>
                  <a:srgbClr val="E6E6E6"/>
                </a:solidFill>
                <a:latin typeface="Consolas"/>
              </a:rPr>
              <a:t>SQL&gt; ALTER PLUGGABLE DATABASE pdb3 OPEN READ ONLY;</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수동 리프레시: 닫고 → REFRESH → 다시 열기</a:t>
            </a:r>
          </a:p>
          <a:p>
            <a:pPr>
              <a:lnSpc>
                <a:spcPct val="100000"/>
              </a:lnSpc>
            </a:pPr>
            <a:r>
              <a:rPr sz="1200" b="0" lang="ko-KR">
                <a:solidFill>
                  <a:srgbClr val="E6E6E6"/>
                </a:solidFill>
                <a:latin typeface="Consolas"/>
              </a:rPr>
              <a:t>SQL&gt; ALTER PLUGGABLE DATABASE pdb3 CLOSE IMMEDIATE;</a:t>
            </a:r>
          </a:p>
          <a:p>
            <a:pPr>
              <a:lnSpc>
                <a:spcPct val="100000"/>
              </a:lnSpc>
            </a:pPr>
            <a:r>
              <a:rPr sz="1200" b="0" lang="ko-KR">
                <a:solidFill>
                  <a:srgbClr val="E6E6E6"/>
                </a:solidFill>
                <a:latin typeface="Consolas"/>
              </a:rPr>
              <a:t>SQL&gt; ALTER PLUGGABLE DATABASE pdb3 REFRESH;</a:t>
            </a:r>
          </a:p>
          <a:p>
            <a:pPr>
              <a:lnSpc>
                <a:spcPct val="100000"/>
              </a:lnSpc>
            </a:pPr>
            <a:r>
              <a:rPr sz="1200" b="0" lang="ko-KR">
                <a:solidFill>
                  <a:srgbClr val="E6E6E6"/>
                </a:solidFill>
                <a:latin typeface="Consolas"/>
              </a:rPr>
              <a:t>SQL&gt; ALTER PLUGGABLE DATABASE pdb3 OPEN READ ONLY;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Near-Zero Downtime 재배치(RELOCATE)</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단일 DDL로 이동</a:t>
            </a:r>
          </a:p>
          <a:p>
            <a:r>
              <a:rPr sz="1600" b="0" lang="ko-KR">
                <a:solidFill>
                  <a:srgbClr val="C5CED6"/>
                </a:solidFill>
                <a:latin typeface="Malgun Gothic"/>
              </a:rPr>
              <a:t>•  </a:t>
            </a:r>
            <a:r>
              <a:rPr sz="1600" b="0" lang="ko-KR">
                <a:solidFill>
                  <a:srgbClr val="C5CED6"/>
                </a:solidFill>
                <a:latin typeface="Malgun Gothic"/>
              </a:rPr>
              <a:t>일반 vs 최대 가용성</a:t>
            </a:r>
          </a:p>
          <a:p>
            <a:r>
              <a:rPr sz="1600" b="0" lang="ko-KR">
                <a:solidFill>
                  <a:srgbClr val="C5CED6"/>
                </a:solidFill>
                <a:latin typeface="Malgun Gothic"/>
              </a:rPr>
              <a:t>•  </a:t>
            </a:r>
            <a:r>
              <a:rPr sz="1600" b="0" lang="ko-KR">
                <a:solidFill>
                  <a:srgbClr val="C5CED6"/>
                </a:solidFill>
                <a:latin typeface="Malgun Gothic"/>
              </a:rPr>
              <a:t>커넥션 전달</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재배치의 핵심</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단일 DDL(RELOCATE)로 pull 모드 이동 — 언플러그/복사/플러그/드롭 불필요</a:t>
            </a:r>
          </a:p>
          <a:p>
            <a:pPr>
              <a:spcAft>
                <a:spcPts val="800"/>
              </a:spcAft>
            </a:pPr>
            <a:r>
              <a:rPr sz="1800" b="0" lang="ko-KR">
                <a:solidFill>
                  <a:srgbClr val="C0392B"/>
                </a:solidFill>
                <a:latin typeface="Malgun Gothic"/>
              </a:rPr>
              <a:t>•  </a:t>
            </a:r>
            <a:r>
              <a:rPr sz="1800" b="0" lang="ko-KR">
                <a:solidFill>
                  <a:srgbClr val="202830"/>
                </a:solidFill>
                <a:latin typeface="Malgun Gothic"/>
              </a:rPr>
              <a:t>전제: 두 CDB 모두 로컬 언두 + ARCHIVELOG</a:t>
            </a:r>
          </a:p>
          <a:p>
            <a:pPr>
              <a:spcAft>
                <a:spcPts val="800"/>
              </a:spcAft>
            </a:pPr>
            <a:r>
              <a:rPr sz="1800" b="0" lang="ko-KR">
                <a:solidFill>
                  <a:srgbClr val="C0392B"/>
                </a:solidFill>
                <a:latin typeface="Malgun Gothic"/>
              </a:rPr>
              <a:t>•  </a:t>
            </a:r>
            <a:r>
              <a:rPr sz="1800" b="0" lang="ko-KR">
                <a:solidFill>
                  <a:srgbClr val="202830"/>
                </a:solidFill>
                <a:latin typeface="Malgun Gothic"/>
              </a:rPr>
              <a:t>원격 사용자에 SYSOPER 권한 필요</a:t>
            </a:r>
          </a:p>
          <a:p>
            <a:pPr>
              <a:spcAft>
                <a:spcPts val="800"/>
              </a:spcAft>
            </a:pPr>
            <a:r>
              <a:rPr sz="1800" b="0" lang="ko-KR">
                <a:solidFill>
                  <a:srgbClr val="C0392B"/>
                </a:solidFill>
                <a:latin typeface="Malgun Gothic"/>
              </a:rPr>
              <a:t>•  </a:t>
            </a:r>
            <a:r>
              <a:rPr sz="1800" b="0" lang="ko-KR">
                <a:solidFill>
                  <a:srgbClr val="202830"/>
                </a:solidFill>
                <a:latin typeface="Malgun Gothic"/>
              </a:rPr>
              <a:t>일반 가용성: READ WRITE 첫 오픈 시 소스 자동 닫힘·드롭</a:t>
            </a:r>
          </a:p>
          <a:p>
            <a:pPr>
              <a:spcAft>
                <a:spcPts val="800"/>
              </a:spcAft>
            </a:pPr>
            <a:r>
              <a:rPr sz="1800" b="0" lang="ko-KR">
                <a:solidFill>
                  <a:srgbClr val="C0392B"/>
                </a:solidFill>
                <a:latin typeface="Malgun Gothic"/>
              </a:rPr>
              <a:t>•  </a:t>
            </a:r>
            <a:r>
              <a:rPr sz="1800" b="0" lang="ko-KR">
                <a:solidFill>
                  <a:srgbClr val="202830"/>
                </a:solidFill>
                <a:latin typeface="Malgun Gothic"/>
              </a:rPr>
              <a:t>최대 가용성(AVAILABILITY MAX): 소스 마운트 유지, 커넥션 자동 전달</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일반 가용성 vs 최대 가용성</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일반 가용성(기본): READ WRITE 첫 오픈 순간 소스 PDB 자동 닫힘·드롭</a:t>
            </a:r>
          </a:p>
          <a:p>
            <a:pPr>
              <a:spcAft>
                <a:spcPts val="800"/>
              </a:spcAft>
            </a:pPr>
            <a:r>
              <a:rPr sz="1800" b="0" lang="ko-KR">
                <a:solidFill>
                  <a:srgbClr val="C0392B"/>
                </a:solidFill>
                <a:latin typeface="Malgun Gothic"/>
              </a:rPr>
              <a:t>•  </a:t>
            </a:r>
            <a:r>
              <a:rPr sz="1800" b="0" lang="ko-KR">
                <a:solidFill>
                  <a:srgbClr val="202830"/>
                </a:solidFill>
                <a:latin typeface="Malgun Gothic"/>
              </a:rPr>
              <a:t>최대 가용성: 소스 CDB를 마운트 유지 → 리스너 커넥션 전달 보장</a:t>
            </a:r>
          </a:p>
          <a:p>
            <a:pPr>
              <a:spcAft>
                <a:spcPts val="800"/>
              </a:spcAft>
            </a:pPr>
            <a:r>
              <a:rPr sz="1800" b="0" lang="ko-KR">
                <a:solidFill>
                  <a:srgbClr val="C0392B"/>
                </a:solidFill>
                <a:latin typeface="Malgun Gothic"/>
              </a:rPr>
              <a:t>•  </a:t>
            </a:r>
            <a:r>
              <a:rPr sz="1800" b="0" lang="ko-KR">
                <a:solidFill>
                  <a:srgbClr val="202830"/>
                </a:solidFill>
                <a:latin typeface="Malgun Gothic"/>
              </a:rPr>
              <a:t>AVAILABILITY MAX 시 PDB는 항상 READ ONLY 로 먼저 열림</a:t>
            </a:r>
          </a:p>
          <a:p>
            <a:pPr>
              <a:spcAft>
                <a:spcPts val="800"/>
              </a:spcAft>
            </a:pPr>
            <a:r>
              <a:rPr sz="1800" b="0" lang="ko-KR">
                <a:solidFill>
                  <a:srgbClr val="C0392B"/>
                </a:solidFill>
                <a:latin typeface="Malgun Gothic"/>
              </a:rPr>
              <a:t>•  </a:t>
            </a:r>
            <a:r>
              <a:rPr sz="1800" b="0" lang="ko-KR">
                <a:solidFill>
                  <a:srgbClr val="202830"/>
                </a:solidFill>
                <a:latin typeface="Malgun Gothic"/>
              </a:rPr>
              <a:t>대상 리스너 정보가 소스로 전송 → 새 커넥션 자동 전달(완료 후에도 지속)</a:t>
            </a:r>
          </a:p>
          <a:p>
            <a:pPr>
              <a:spcAft>
                <a:spcPts val="800"/>
              </a:spcAft>
            </a:pPr>
            <a:r>
              <a:rPr sz="1800" b="0" lang="ko-KR">
                <a:solidFill>
                  <a:srgbClr val="C0392B"/>
                </a:solidFill>
                <a:latin typeface="Malgun Gothic"/>
              </a:rPr>
              <a:t>•  </a:t>
            </a:r>
            <a:r>
              <a:rPr sz="1800" b="0" lang="ko-KR">
                <a:solidFill>
                  <a:srgbClr val="202830"/>
                </a:solidFill>
                <a:latin typeface="Malgun Gothic"/>
              </a:rPr>
              <a:t>커넥션 문자열 갱신은 편의 시점에 — 가용성은 그 시점에 무관</a:t>
            </a:r>
          </a:p>
          <a:p>
            <a:pPr>
              <a:spcAft>
                <a:spcPts val="800"/>
              </a:spcAft>
            </a:pPr>
            <a:r>
              <a:rPr sz="1800" b="0" lang="ko-KR">
                <a:solidFill>
                  <a:srgbClr val="C0392B"/>
                </a:solidFill>
                <a:latin typeface="Malgun Gothic"/>
              </a:rPr>
              <a:t>•  </a:t>
            </a:r>
            <a:r>
              <a:rPr sz="1800" b="0" lang="ko-KR">
                <a:solidFill>
                  <a:srgbClr val="202830"/>
                </a:solidFill>
                <a:latin typeface="Malgun Gothic"/>
              </a:rPr>
              <a:t>충돌 방지: 소스와 동일 이름 PDB 생성 불가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RELOCATE 명령</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DB 링크 → RELOCATE AVAILABILITY MAX</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[대상 CDB2 루트] DB 링크 → RELOCATE</a:t>
            </a:r>
          </a:p>
          <a:p>
            <a:pPr>
              <a:lnSpc>
                <a:spcPct val="100000"/>
              </a:lnSpc>
            </a:pPr>
            <a:r>
              <a:rPr sz="1200" b="0" lang="ko-KR">
                <a:solidFill>
                  <a:srgbClr val="E6E6E6"/>
                </a:solidFill>
                <a:latin typeface="Consolas"/>
              </a:rPr>
              <a:t>SQL&gt; CREATE DATABASE LINK link_cdb1</a:t>
            </a:r>
          </a:p>
          <a:p>
            <a:pPr>
              <a:lnSpc>
                <a:spcPct val="100000"/>
              </a:lnSpc>
            </a:pPr>
            <a:r>
              <a:rPr sz="1200" b="0" lang="ko-KR">
                <a:solidFill>
                  <a:srgbClr val="E6E6E6"/>
                </a:solidFill>
                <a:latin typeface="Consolas"/>
              </a:rPr>
              <a:t>  2    CONNECT TO c##reloc IDENTIFIED BY "Welcome_1234"</a:t>
            </a:r>
          </a:p>
          <a:p>
            <a:pPr>
              <a:lnSpc>
                <a:spcPct val="100000"/>
              </a:lnSpc>
            </a:pPr>
            <a:r>
              <a:rPr sz="1200" b="0" lang="ko-KR">
                <a:solidFill>
                  <a:srgbClr val="E6E6E6"/>
                </a:solidFill>
                <a:latin typeface="Consolas"/>
              </a:rPr>
              <a:t>  3    USING 'cdb1';</a:t>
            </a:r>
          </a:p>
          <a:p>
            <a:pPr>
              <a:lnSpc>
                <a:spcPct val="100000"/>
              </a:lnSpc>
            </a:pPr>
            <a:r>
              <a:rPr sz="1200" b="0" lang="ko-KR">
                <a:solidFill>
                  <a:srgbClr val="E6E6E6"/>
                </a:solidFill>
                <a:latin typeface="Consolas"/>
              </a:rPr>
              <a:t> </a:t>
            </a:r>
          </a:p>
          <a:p>
            <a:pPr>
              <a:lnSpc>
                <a:spcPct val="100000"/>
              </a:lnSpc>
            </a:pPr>
            <a:r>
              <a:rPr sz="1200" b="0" lang="ko-KR">
                <a:solidFill>
                  <a:srgbClr val="E6E6E6"/>
                </a:solidFill>
                <a:latin typeface="Consolas"/>
              </a:rPr>
              <a:t>SQL&gt; CREATE PLUGGABLE DATABASE pdb1 FROM pdb1@link_cdb1</a:t>
            </a:r>
          </a:p>
          <a:p>
            <a:pPr>
              <a:lnSpc>
                <a:spcPct val="100000"/>
              </a:lnSpc>
            </a:pPr>
            <a:r>
              <a:rPr sz="1200" b="0" lang="ko-KR">
                <a:solidFill>
                  <a:srgbClr val="E6E6E6"/>
                </a:solidFill>
                <a:latin typeface="Consolas"/>
              </a:rPr>
              <a:t>  2    RELOCATE</a:t>
            </a:r>
          </a:p>
          <a:p>
            <a:pPr>
              <a:lnSpc>
                <a:spcPct val="100000"/>
              </a:lnSpc>
            </a:pPr>
            <a:r>
              <a:rPr sz="1200" b="0" lang="ko-KR">
                <a:solidFill>
                  <a:srgbClr val="E6E6E6"/>
                </a:solidFill>
                <a:latin typeface="Consolas"/>
              </a:rPr>
              <a:t>  3    AVAILABILITY MAX;</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먼저 READ ONLY 로 열려 새 연결 대상 → 이후 READ WRITE</a:t>
            </a:r>
          </a:p>
          <a:p>
            <a:pPr>
              <a:lnSpc>
                <a:spcPct val="100000"/>
              </a:lnSpc>
            </a:pPr>
            <a:r>
              <a:rPr sz="1200" b="0" lang="ko-KR">
                <a:solidFill>
                  <a:srgbClr val="E6E6E6"/>
                </a:solidFill>
                <a:latin typeface="Consolas"/>
              </a:rPr>
              <a:t>SQL&gt; ALTER PLUGGABLE DATABASE pdb1 OPEN;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15.11</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DBCA로 원격 PDB 재배치</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-relocatePDB</a:t>
            </a:r>
          </a:p>
          <a:p>
            <a:r>
              <a:rPr sz="1600" b="0" lang="ko-KR">
                <a:solidFill>
                  <a:srgbClr val="C5CED6"/>
                </a:solidFill>
                <a:latin typeface="Malgun Gothic"/>
              </a:rPr>
              <a:t>•  </a:t>
            </a:r>
            <a:r>
              <a:rPr sz="1600" b="0" lang="ko-KR">
                <a:solidFill>
                  <a:srgbClr val="C5CED6"/>
                </a:solidFill>
                <a:latin typeface="Malgun Gothic"/>
              </a:rPr>
              <a:t>DBCA 내부 단계</a:t>
            </a:r>
          </a:p>
          <a:p>
            <a:r>
              <a:rPr sz="1600" b="0" lang="ko-KR">
                <a:solidFill>
                  <a:srgbClr val="C5CED6"/>
                </a:solidFill>
                <a:latin typeface="Malgun Gothic"/>
              </a:rPr>
              <a:t>•  </a:t>
            </a:r>
            <a:r>
              <a:rPr sz="1600" b="0" lang="ko-KR">
                <a:solidFill>
                  <a:srgbClr val="C5CED6"/>
                </a:solidFill>
                <a:latin typeface="Malgun Gothic"/>
              </a:rPr>
              <a:t>옵션 정합성</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DBCA -relocatePDB</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Silent 모드로 재배치 자동화</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E6E6E6"/>
                </a:solidFill>
                <a:latin typeface="Consolas"/>
              </a:rPr>
              <a:t>$ export ORACLE_SID=CDB2</a:t>
            </a:r>
          </a:p>
          <a:p>
            <a:pPr>
              <a:lnSpc>
                <a:spcPct val="100000"/>
              </a:lnSpc>
            </a:pPr>
            <a:r>
              <a:rPr sz="1200" b="0" lang="ko-KR">
                <a:solidFill>
                  <a:srgbClr val="E6E6E6"/>
                </a:solidFill>
                <a:latin typeface="Consolas"/>
              </a:rPr>
              <a:t>$ dbca -silent -relocatePDB \</a:t>
            </a:r>
          </a:p>
          <a:p>
            <a:pPr>
              <a:lnSpc>
                <a:spcPct val="100000"/>
              </a:lnSpc>
            </a:pPr>
            <a:r>
              <a:rPr sz="1200" b="0" lang="ko-KR">
                <a:solidFill>
                  <a:srgbClr val="E6E6E6"/>
                </a:solidFill>
                <a:latin typeface="Consolas"/>
              </a:rPr>
              <a:t>    -remotePDBName PDB1 \</a:t>
            </a:r>
          </a:p>
          <a:p>
            <a:pPr>
              <a:lnSpc>
                <a:spcPct val="100000"/>
              </a:lnSpc>
            </a:pPr>
            <a:r>
              <a:rPr sz="1200" b="0" lang="ko-KR">
                <a:solidFill>
                  <a:srgbClr val="E6E6E6"/>
                </a:solidFill>
                <a:latin typeface="Consolas"/>
              </a:rPr>
              <a:t>    -remoteDBConnString CDB1 \</a:t>
            </a:r>
          </a:p>
          <a:p>
            <a:pPr>
              <a:lnSpc>
                <a:spcPct val="100000"/>
              </a:lnSpc>
            </a:pPr>
            <a:r>
              <a:rPr sz="1200" b="0" lang="ko-KR">
                <a:solidFill>
                  <a:srgbClr val="E6E6E6"/>
                </a:solidFill>
                <a:latin typeface="Consolas"/>
              </a:rPr>
              <a:t>    -sysDBAUserName system \</a:t>
            </a:r>
          </a:p>
          <a:p>
            <a:pPr>
              <a:lnSpc>
                <a:spcPct val="100000"/>
              </a:lnSpc>
            </a:pPr>
            <a:r>
              <a:rPr sz="1200" b="0" lang="ko-KR">
                <a:solidFill>
                  <a:srgbClr val="E6E6E6"/>
                </a:solidFill>
                <a:latin typeface="Consolas"/>
              </a:rPr>
              <a:t>    -sysDBAPassword password \</a:t>
            </a:r>
          </a:p>
          <a:p>
            <a:pPr>
              <a:lnSpc>
                <a:spcPct val="100000"/>
              </a:lnSpc>
            </a:pPr>
            <a:r>
              <a:rPr sz="1200" b="0" lang="ko-KR">
                <a:solidFill>
                  <a:srgbClr val="E6E6E6"/>
                </a:solidFill>
                <a:latin typeface="Consolas"/>
              </a:rPr>
              <a:t>    -remoteDBSYSDBAUserName SYS \</a:t>
            </a:r>
          </a:p>
          <a:p>
            <a:pPr>
              <a:lnSpc>
                <a:spcPct val="100000"/>
              </a:lnSpc>
            </a:pPr>
            <a:r>
              <a:rPr sz="1200" b="0" lang="ko-KR">
                <a:solidFill>
                  <a:srgbClr val="E6E6E6"/>
                </a:solidFill>
                <a:latin typeface="Consolas"/>
              </a:rPr>
              <a:t>    -remoteDBSYSDBAUserPassword password \</a:t>
            </a:r>
          </a:p>
          <a:p>
            <a:pPr>
              <a:lnSpc>
                <a:spcPct val="100000"/>
              </a:lnSpc>
            </a:pPr>
            <a:r>
              <a:rPr sz="1200" b="0" lang="ko-KR">
                <a:solidFill>
                  <a:srgbClr val="E6E6E6"/>
                </a:solidFill>
                <a:latin typeface="Consolas"/>
              </a:rPr>
              <a:t>    -dbLinkUsername c##remote_user \</a:t>
            </a:r>
          </a:p>
          <a:p>
            <a:pPr>
              <a:lnSpc>
                <a:spcPct val="100000"/>
              </a:lnSpc>
            </a:pPr>
            <a:r>
              <a:rPr sz="1200" b="0" lang="ko-KR">
                <a:solidFill>
                  <a:srgbClr val="E6E6E6"/>
                </a:solidFill>
                <a:latin typeface="Consolas"/>
              </a:rPr>
              <a:t>    -dbLinkUserPassword password \</a:t>
            </a:r>
          </a:p>
          <a:p>
            <a:pPr>
              <a:lnSpc>
                <a:spcPct val="100000"/>
              </a:lnSpc>
            </a:pPr>
            <a:r>
              <a:rPr sz="1200" b="0" lang="ko-KR">
                <a:solidFill>
                  <a:srgbClr val="E6E6E6"/>
                </a:solidFill>
                <a:latin typeface="Consolas"/>
              </a:rPr>
              <a:t>    -sourceDB CDB2 -pdbName PDB1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15.12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Proxy PDB</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원격 PDB 대리자</a:t>
            </a:r>
          </a:p>
          <a:p>
            <a:r>
              <a:rPr sz="1600" b="0" lang="ko-KR">
                <a:solidFill>
                  <a:srgbClr val="C5CED6"/>
                </a:solidFill>
                <a:latin typeface="Malgun Gothic"/>
              </a:rPr>
              <a:t>•  </a:t>
            </a:r>
            <a:r>
              <a:rPr sz="1600" b="0" lang="ko-KR">
                <a:solidFill>
                  <a:srgbClr val="C5CED6"/>
                </a:solidFill>
                <a:latin typeface="Malgun Gothic"/>
              </a:rPr>
              <a:t>CONTAINERS() 통합 조회</a:t>
            </a:r>
          </a:p>
          <a:p>
            <a:r>
              <a:rPr sz="1600" b="0" lang="ko-KR">
                <a:solidFill>
                  <a:srgbClr val="C5CED6"/>
                </a:solidFill>
                <a:latin typeface="Malgun Gothic"/>
              </a:rPr>
              <a:t>•  </a:t>
            </a:r>
            <a:r>
              <a:rPr sz="1600" b="0" lang="ko-KR">
                <a:solidFill>
                  <a:srgbClr val="C5CED6"/>
                </a:solidFill>
                <a:latin typeface="Malgun Gothic"/>
              </a:rPr>
              <a:t>AS PROXY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Proxy PDB 개념</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원격 PDB의 SQL을 로컬 PDB처럼 실행하는 대리자</a:t>
            </a:r>
          </a:p>
          <a:p>
            <a:pPr>
              <a:spcAft>
                <a:spcPts val="800"/>
              </a:spcAft>
            </a:pPr>
            <a:r>
              <a:rPr sz="1800" b="0" lang="ko-KR">
                <a:solidFill>
                  <a:srgbClr val="C0392B"/>
                </a:solidFill>
                <a:latin typeface="Malgun Gothic"/>
              </a:rPr>
              <a:t>•  </a:t>
            </a:r>
            <a:r>
              <a:rPr sz="1800" b="0" lang="ko-KR">
                <a:solidFill>
                  <a:srgbClr val="202830"/>
                </a:solidFill>
                <a:latin typeface="Malgun Gothic"/>
              </a:rPr>
              <a:t>데이터를 옮기지 않고 참조만 로컬에 둠</a:t>
            </a:r>
          </a:p>
          <a:p>
            <a:pPr>
              <a:spcAft>
                <a:spcPts val="800"/>
              </a:spcAft>
            </a:pPr>
            <a:r>
              <a:rPr sz="1800" b="0" lang="ko-KR">
                <a:solidFill>
                  <a:srgbClr val="C0392B"/>
                </a:solidFill>
                <a:latin typeface="Malgun Gothic"/>
              </a:rPr>
              <a:t>•  </a:t>
            </a:r>
            <a:r>
              <a:rPr sz="1800" b="0" lang="ko-KR">
                <a:solidFill>
                  <a:srgbClr val="202830"/>
                </a:solidFill>
                <a:latin typeface="Malgun Gothic"/>
              </a:rPr>
              <a:t>서로 다른 CDB에 분산된 데이터의 통합 조회에 유용</a:t>
            </a:r>
          </a:p>
          <a:p>
            <a:pPr>
              <a:spcAft>
                <a:spcPts val="800"/>
              </a:spcAft>
            </a:pPr>
            <a:r>
              <a:rPr sz="1800" b="0" lang="ko-KR">
                <a:solidFill>
                  <a:srgbClr val="C0392B"/>
                </a:solidFill>
                <a:latin typeface="Malgun Gothic"/>
              </a:rPr>
              <a:t>•  </a:t>
            </a:r>
            <a:r>
              <a:rPr sz="1800" b="0" lang="ko-KR">
                <a:solidFill>
                  <a:srgbClr val="202830"/>
                </a:solidFill>
                <a:latin typeface="Malgun Gothic"/>
              </a:rPr>
              <a:t>애플리케이션 루트 + CONTAINERS() 절로 분산 집계</a:t>
            </a:r>
          </a:p>
          <a:p>
            <a:pPr>
              <a:spcAft>
                <a:spcPts val="800"/>
              </a:spcAft>
            </a:pPr>
            <a:r>
              <a:rPr sz="1800" b="0" lang="ko-KR">
                <a:solidFill>
                  <a:srgbClr val="C0392B"/>
                </a:solidFill>
                <a:latin typeface="Malgun Gothic"/>
              </a:rPr>
              <a:t>•  </a:t>
            </a:r>
            <a:r>
              <a:rPr sz="1800" b="0" lang="ko-KR">
                <a:solidFill>
                  <a:srgbClr val="202830"/>
                </a:solidFill>
                <a:latin typeface="Malgun Gothic"/>
              </a:rPr>
              <a:t>IS_PROXY_PDB 컬럼으로 프록시 여부 확인</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Proxy PDB 생성 &amp; 조회</a:t>
            </a:r>
          </a:p>
        </p:txBody>
      </p:sp>
      <p:sp>
        <p:nvSpPr>
          <p:cNvPr id="4" name="TextBox 3"/>
          <p:cNvSpPr txBox="1"/>
          <p:nvPr/>
        </p:nvSpPr>
        <p:spPr>
          <a:xfrm>
            <a:off x="640080" y="1143000"/>
            <a:ext cx="10881360" cy="457200"/>
          </a:xfrm>
          <a:prstGeom prst="rect">
            <a:avLst/>
          </a:prstGeom>
          <a:noFill/>
        </p:spPr>
        <p:txBody>
          <a:bodyPr wrap="square">
            <a:spAutoFit/>
          </a:bodyPr>
          <a:lstStyle/>
          <a:p>
            <a:r>
              <a:rPr sz="1500" b="0" lang="ko-KR">
                <a:solidFill>
                  <a:srgbClr val="5A6672"/>
                </a:solidFill>
                <a:latin typeface="Malgun Gothic"/>
              </a:rPr>
              <a:t>AS PROXY FROM pdb@link → CONTAINERS()</a:t>
            </a:r>
          </a:p>
        </p:txBody>
      </p:sp>
      <p:sp>
        <p:nvSpPr>
          <p:cNvPr id="5" name="Rectangle 4"/>
          <p:cNvSpPr/>
          <p:nvPr/>
        </p:nvSpPr>
        <p:spPr>
          <a:xfrm>
            <a:off x="640080" y="1691640"/>
            <a:ext cx="10881360" cy="44805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83080"/>
            <a:ext cx="10515600" cy="4343400"/>
          </a:xfrm>
          <a:prstGeom prst="rect">
            <a:avLst/>
          </a:prstGeom>
          <a:noFill/>
        </p:spPr>
        <p:txBody>
          <a:bodyPr wrap="square">
            <a:spAutoFit/>
          </a:bodyPr>
          <a:lstStyle/>
          <a:p>
            <a:pPr>
              <a:lnSpc>
                <a:spcPct val="100000"/>
              </a:lnSpc>
            </a:pPr>
            <a:r>
              <a:rPr sz="1200" b="0" lang="ko-KR">
                <a:solidFill>
                  <a:srgbClr val="7EC699"/>
                </a:solidFill>
                <a:latin typeface="Consolas"/>
              </a:rPr>
              <a:t>-- [CDB1 루트] CDB2 로의 DB 링크</a:t>
            </a:r>
          </a:p>
          <a:p>
            <a:pPr>
              <a:lnSpc>
                <a:spcPct val="100000"/>
              </a:lnSpc>
            </a:pPr>
            <a:r>
              <a:rPr sz="1200" b="0" lang="ko-KR">
                <a:solidFill>
                  <a:srgbClr val="E6E6E6"/>
                </a:solidFill>
                <a:latin typeface="Consolas"/>
              </a:rPr>
              <a:t>SQL&gt; CREATE DATABASE LINK link_cdb2</a:t>
            </a:r>
          </a:p>
          <a:p>
            <a:pPr>
              <a:lnSpc>
                <a:spcPct val="100000"/>
              </a:lnSpc>
            </a:pPr>
            <a:r>
              <a:rPr sz="1200" b="0" lang="ko-KR">
                <a:solidFill>
                  <a:srgbClr val="E6E6E6"/>
                </a:solidFill>
                <a:latin typeface="Consolas"/>
              </a:rPr>
              <a:t>  2    CONNECT TO c##proxy IDENTIFIED BY "Welcome_1234"</a:t>
            </a:r>
          </a:p>
          <a:p>
            <a:pPr>
              <a:lnSpc>
                <a:spcPct val="100000"/>
              </a:lnSpc>
            </a:pPr>
            <a:r>
              <a:rPr sz="1200" b="0" lang="ko-KR">
                <a:solidFill>
                  <a:srgbClr val="E6E6E6"/>
                </a:solidFill>
                <a:latin typeface="Consolas"/>
              </a:rPr>
              <a:t>  3    USING 'cdb2';</a:t>
            </a:r>
          </a:p>
          <a:p>
            <a:pPr>
              <a:lnSpc>
                <a:spcPct val="100000"/>
              </a:lnSpc>
            </a:pPr>
            <a:r>
              <a:rPr sz="1200" b="0" lang="ko-KR">
                <a:solidFill>
                  <a:srgbClr val="E6E6E6"/>
                </a:solidFill>
                <a:latin typeface="Consolas"/>
              </a:rPr>
              <a:t> </a:t>
            </a:r>
          </a:p>
          <a:p>
            <a:pPr>
              <a:lnSpc>
                <a:spcPct val="100000"/>
              </a:lnSpc>
            </a:pPr>
            <a:r>
              <a:rPr sz="1200" b="0" lang="ko-KR">
                <a:solidFill>
                  <a:srgbClr val="7EC699"/>
                </a:solidFill>
                <a:latin typeface="Consolas"/>
              </a:rPr>
              <a:t>-- CDB2의 pdb1을 가리키는 프록시 PDB</a:t>
            </a:r>
          </a:p>
          <a:p>
            <a:pPr>
              <a:lnSpc>
                <a:spcPct val="100000"/>
              </a:lnSpc>
            </a:pPr>
            <a:r>
              <a:rPr sz="1200" b="0" lang="ko-KR">
                <a:solidFill>
                  <a:srgbClr val="E6E6E6"/>
                </a:solidFill>
                <a:latin typeface="Consolas"/>
              </a:rPr>
              <a:t>SQL&gt; CREATE PLUGGABLE DATABASE pxpdb1 AS PROXY</a:t>
            </a:r>
          </a:p>
          <a:p>
            <a:pPr>
              <a:lnSpc>
                <a:spcPct val="100000"/>
              </a:lnSpc>
            </a:pPr>
            <a:r>
              <a:rPr sz="1200" b="0" lang="ko-KR">
                <a:solidFill>
                  <a:srgbClr val="E6E6E6"/>
                </a:solidFill>
                <a:latin typeface="Consolas"/>
              </a:rPr>
              <a:t>  2    FROM pdb1@link_cdb2;</a:t>
            </a:r>
          </a:p>
          <a:p>
            <a:pPr>
              <a:lnSpc>
                <a:spcPct val="100000"/>
              </a:lnSpc>
            </a:pPr>
            <a:r>
              <a:rPr sz="1200" b="0" lang="ko-KR">
                <a:solidFill>
                  <a:srgbClr val="E6E6E6"/>
                </a:solidFill>
                <a:latin typeface="Consolas"/>
              </a:rPr>
              <a:t> </a:t>
            </a:r>
          </a:p>
          <a:p>
            <a:pPr>
              <a:lnSpc>
                <a:spcPct val="100000"/>
              </a:lnSpc>
            </a:pPr>
            <a:r>
              <a:rPr sz="1200" b="0" lang="ko-KR">
                <a:solidFill>
                  <a:srgbClr val="E6E6E6"/>
                </a:solidFill>
                <a:latin typeface="Consolas"/>
              </a:rPr>
              <a:t>SQL&gt; CONNECT sys@pxpdb1 AS SYSDBA</a:t>
            </a:r>
          </a:p>
          <a:p>
            <a:pPr>
              <a:lnSpc>
                <a:spcPct val="100000"/>
              </a:lnSpc>
            </a:pPr>
            <a:r>
              <a:rPr sz="1200" b="0" lang="ko-KR">
                <a:solidFill>
                  <a:srgbClr val="E6E6E6"/>
                </a:solidFill>
                <a:latin typeface="Consolas"/>
              </a:rPr>
              <a:t>SQL&gt; ALTER PLUGGABLE DATABASE pxpdb1 OPEN;</a:t>
            </a:r>
          </a:p>
          <a:p>
            <a:pPr>
              <a:lnSpc>
                <a:spcPct val="100000"/>
              </a:lnSpc>
            </a:pPr>
            <a:r>
              <a:rPr sz="1200" b="0" lang="ko-KR">
                <a:solidFill>
                  <a:srgbClr val="E6E6E6"/>
                </a:solidFill>
                <a:latin typeface="Consolas"/>
              </a:rPr>
              <a:t>SQL&gt; SELECT * FROM app.c;   -- 원격 pdb1 에서 실행</a:t>
            </a:r>
          </a:p>
          <a:p>
            <a:pPr>
              <a:lnSpc>
                <a:spcPct val="100000"/>
              </a:lnSpc>
            </a:pPr>
            <a:r>
              <a:rPr sz="1200" b="0" lang="ko-KR">
                <a:solidFill>
                  <a:srgbClr val="E6E6E6"/>
                </a:solidFill>
                <a:latin typeface="Consolas"/>
              </a:rPr>
              <a:t>SQL&gt; SELECT pdb_name, is_proxy_pdb FROM cdb_pdbs;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r>
              <a:rPr sz="6600" b="1" lang="ko-KR">
                <a:solidFill>
                  <a:srgbClr val="C0392B"/>
                </a:solidFill>
                <a:latin typeface="Malgun Gothic"/>
              </a:rPr>
              <a:t>Quiz</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lang="ko-KR">
                <a:solidFill>
                  <a:srgbClr val="FFFFFF"/>
                </a:solidFill>
                <a:latin typeface="Malgun Gothic"/>
              </a:rPr>
              <a:t>확인 학습</a:t>
            </a:r>
          </a:p>
        </p:txBody>
      </p:sp>
      <p:sp>
        <p:nvSpPr>
          <p:cNvPr id="4" name="Rectangle 3"/>
          <p:cNvSpPr/>
          <p:nvPr/>
        </p:nvSpPr>
        <p:spPr>
          <a:xfrm>
            <a:off x="822960" y="3840480"/>
            <a:ext cx="411480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023360"/>
            <a:ext cx="10424160" cy="2194560"/>
          </a:xfrm>
          <a:prstGeom prst="rect">
            <a:avLst/>
          </a:prstGeom>
          <a:noFill/>
        </p:spPr>
        <p:txBody>
          <a:bodyPr wrap="square">
            <a:spAutoFit/>
          </a:bodyPr>
          <a:lstStyle/>
          <a:p>
            <a:r>
              <a:rPr sz="1600" b="0" lang="ko-KR">
                <a:solidFill>
                  <a:srgbClr val="C5CED6"/>
                </a:solidFill>
                <a:latin typeface="Malgun Gothic"/>
              </a:rPr>
              <a:t>•  </a:t>
            </a:r>
            <a:r>
              <a:rPr sz="1600" b="0" lang="ko-KR">
                <a:solidFill>
                  <a:srgbClr val="C5CED6"/>
                </a:solidFill>
                <a:latin typeface="Malgun Gothic"/>
              </a:rPr>
              <a:t>핵심 개념 점검</a:t>
            </a:r>
          </a:p>
          <a:p>
            <a:r>
              <a:rPr sz="1600" b="0" lang="ko-KR">
                <a:solidFill>
                  <a:srgbClr val="C5CED6"/>
                </a:solidFill>
                <a:latin typeface="Malgun Gothic"/>
              </a:rPr>
              <a:t>•  </a:t>
            </a:r>
            <a:r>
              <a:rPr sz="1600" b="0" lang="ko-KR">
                <a:solidFill>
                  <a:srgbClr val="C5CED6"/>
                </a:solidFill>
                <a:latin typeface="Malgun Gothic"/>
              </a:rPr>
              <a:t>명령·절 구분</a:t>
            </a:r>
          </a:p>
          <a:p>
            <a:r>
              <a:rPr sz="1600" b="0" lang="ko-KR">
                <a:solidFill>
                  <a:srgbClr val="C5CED6"/>
                </a:solidFill>
                <a:latin typeface="Malgun Gothic"/>
              </a:rPr>
              <a:t>•  </a:t>
            </a:r>
            <a:r>
              <a:rPr sz="1600" b="0" lang="ko-KR">
                <a:solidFill>
                  <a:srgbClr val="C5CED6"/>
                </a:solidFill>
                <a:latin typeface="Malgun Gothic"/>
              </a:rPr>
              <a:t>전제조건 확인</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확인 학습 (1/2)</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Q1. 동일 CDB 복제 문장과 구조만 복제하는 절은? → FROM … / NO DATA</a:t>
            </a:r>
          </a:p>
          <a:p>
            <a:pPr>
              <a:spcAft>
                <a:spcPts val="800"/>
              </a:spcAft>
            </a:pPr>
            <a:r>
              <a:rPr sz="1800" b="0" lang="ko-KR">
                <a:solidFill>
                  <a:srgbClr val="C0392B"/>
                </a:solidFill>
                <a:latin typeface="Malgun Gothic"/>
              </a:rPr>
              <a:t>•  </a:t>
            </a:r>
            <a:r>
              <a:rPr sz="1800" b="0" lang="ko-KR">
                <a:solidFill>
                  <a:srgbClr val="202830"/>
                </a:solidFill>
                <a:latin typeface="Malgun Gothic"/>
              </a:rPr>
              <a:t>Q2. 엔디안·문자집합이 다른 non-CDB 마이그레이션 방법은? → Data Pump(TTS/TDB)</a:t>
            </a:r>
          </a:p>
          <a:p>
            <a:pPr>
              <a:spcAft>
                <a:spcPts val="800"/>
              </a:spcAft>
            </a:pPr>
            <a:r>
              <a:rPr sz="1800" b="0" lang="ko-KR">
                <a:solidFill>
                  <a:srgbClr val="C0392B"/>
                </a:solidFill>
                <a:latin typeface="Malgun Gothic"/>
              </a:rPr>
              <a:t>•  </a:t>
            </a:r>
            <a:r>
              <a:rPr sz="1800" b="0" lang="ko-KR">
                <a:solidFill>
                  <a:srgbClr val="202830"/>
                </a:solidFill>
                <a:latin typeface="Malgun Gothic"/>
              </a:rPr>
              <a:t>Q3. non-CDB 플러그 후 필수 스크립트와 실행 시점은? → noncdb_to_pdb.sql, OPEN 전(STATUS=CONVERTING)</a:t>
            </a:r>
          </a:p>
          <a:p>
            <a:pPr>
              <a:spcAft>
                <a:spcPts val="800"/>
              </a:spcAft>
            </a:pPr>
            <a:r>
              <a:rPr sz="1800" b="0" lang="ko-KR">
                <a:solidFill>
                  <a:srgbClr val="C0392B"/>
                </a:solidFill>
                <a:latin typeface="Malgun Gothic"/>
              </a:rPr>
              <a:t>•  </a:t>
            </a:r>
            <a:r>
              <a:rPr sz="1800" b="0" lang="ko-KR">
                <a:solidFill>
                  <a:srgbClr val="202830"/>
                </a:solidFill>
                <a:latin typeface="Malgun Gothic"/>
              </a:rPr>
              <a:t>Q4. 언플러그한 PDB를 같은 CDB에 다시 꽂기 전 필요한 작업은? → DROP … KEEP DATAFILES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확인 학습 (2/2)</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800" b="0" lang="ko-KR">
                <a:solidFill>
                  <a:srgbClr val="C0392B"/>
                </a:solidFill>
                <a:latin typeface="Malgun Gothic"/>
              </a:rPr>
              <a:t>•  </a:t>
            </a:r>
            <a:r>
              <a:rPr sz="1800" b="0" lang="ko-KR">
                <a:solidFill>
                  <a:srgbClr val="202830"/>
                </a:solidFill>
                <a:latin typeface="Malgun Gothic"/>
              </a:rPr>
              <a:t>Q5. 리프레셔블 카피의 오픈 모드와 독립 PDB 승격 방법은? → READ ONLY / REFRESH MODE NONE</a:t>
            </a:r>
          </a:p>
          <a:p>
            <a:pPr>
              <a:spcAft>
                <a:spcPts val="800"/>
              </a:spcAft>
            </a:pPr>
            <a:r>
              <a:rPr sz="1800" b="0" lang="ko-KR">
                <a:solidFill>
                  <a:srgbClr val="C0392B"/>
                </a:solidFill>
                <a:latin typeface="Malgun Gothic"/>
              </a:rPr>
              <a:t>•  </a:t>
            </a:r>
            <a:r>
              <a:rPr sz="1800" b="0" lang="ko-KR">
                <a:solidFill>
                  <a:srgbClr val="202830"/>
                </a:solidFill>
                <a:latin typeface="Malgun Gothic"/>
              </a:rPr>
              <a:t>Q6. AVAILABILITY MAX의 핵심 동작과 두 전제조건은? → 커넥션 자동 전달 / 로컬 언두 + ARCHIVELOG</a:t>
            </a:r>
          </a:p>
          <a:p>
            <a:pPr>
              <a:spcAft>
                <a:spcPts val="800"/>
              </a:spcAft>
            </a:pPr>
            <a:r>
              <a:rPr sz="1800" b="0" lang="ko-KR">
                <a:solidFill>
                  <a:srgbClr val="C0392B"/>
                </a:solidFill>
                <a:latin typeface="Malgun Gothic"/>
              </a:rPr>
              <a:t>•  </a:t>
            </a:r>
            <a:r>
              <a:rPr sz="1800" b="0" lang="ko-KR">
                <a:solidFill>
                  <a:srgbClr val="202830"/>
                </a:solidFill>
                <a:latin typeface="Malgun Gothic"/>
              </a:rPr>
              <a:t>Q7. 프록시 PDB 생성 시 복사되는 것과 확인 컬럼은? → SYSTEM·SYSAUX·UNDO 파일 / IS_PROXY_PDB</a:t>
            </a:r>
          </a:p>
          <a:p>
            <a:pPr>
              <a:spcAft>
                <a:spcPts val="800"/>
              </a:spcAft>
            </a:pPr>
            <a:r>
              <a:rPr sz="1800" b="0" lang="ko-KR">
                <a:solidFill>
                  <a:srgbClr val="C0392B"/>
                </a:solidFill>
                <a:latin typeface="Malgun Gothic"/>
              </a:rPr>
              <a:t>•  </a:t>
            </a:r>
            <a:r>
              <a:rPr sz="1800" b="0" lang="ko-KR">
                <a:solidFill>
                  <a:srgbClr val="202830"/>
                </a:solidFill>
                <a:latin typeface="Malgun Gothic"/>
              </a:rPr>
              <a:t>핵심: 각 기법의 전제조건(권한·언두·아카이브)을 함께 외운다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요약 (Summary)</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600" b="0" lang="ko-KR">
                <a:solidFill>
                  <a:srgbClr val="C0392B"/>
                </a:solidFill>
                <a:latin typeface="Malgun Gothic"/>
              </a:rPr>
              <a:t>•  </a:t>
            </a:r>
            <a:r>
              <a:rPr sz="1600" b="0" lang="ko-KR">
                <a:solidFill>
                  <a:srgbClr val="202830"/>
                </a:solidFill>
                <a:latin typeface="Malgun Gothic"/>
              </a:rPr>
              <a:t>동일 CDB 복제: CREATE PLUGGABLE DATABASE … FROM (NO DATA로 구조만)</a:t>
            </a:r>
          </a:p>
          <a:p>
            <a:pPr>
              <a:spcAft>
                <a:spcPts val="800"/>
              </a:spcAft>
            </a:pPr>
            <a:r>
              <a:rPr sz="1600" b="0" lang="ko-KR">
                <a:solidFill>
                  <a:srgbClr val="C0392B"/>
                </a:solidFill>
                <a:latin typeface="Malgun Gothic"/>
              </a:rPr>
              <a:t>•  </a:t>
            </a:r>
            <a:r>
              <a:rPr sz="1600" b="0" lang="ko-KR">
                <a:solidFill>
                  <a:srgbClr val="202830"/>
                </a:solidFill>
                <a:latin typeface="Malgun Gothic"/>
              </a:rPr>
              <a:t>non-CDB 마이그레이션: Data Pump · DBMS_PDB · DB 링크 클로닝 · GoldenGate</a:t>
            </a:r>
          </a:p>
          <a:p>
            <a:pPr>
              <a:spcAft>
                <a:spcPts val="800"/>
              </a:spcAft>
            </a:pPr>
            <a:r>
              <a:rPr sz="1600" b="0" lang="ko-KR">
                <a:solidFill>
                  <a:srgbClr val="C0392B"/>
                </a:solidFill>
                <a:latin typeface="Malgun Gothic"/>
              </a:rPr>
              <a:t>•  </a:t>
            </a:r>
            <a:r>
              <a:rPr sz="1600" b="0" lang="ko-KR">
                <a:solidFill>
                  <a:srgbClr val="202830"/>
                </a:solidFill>
                <a:latin typeface="Malgun Gothic"/>
              </a:rPr>
              <a:t>언플러그/플러그: UNPLUG INTO → USING(NOCOPY/COPY/MOVE), 아카이브(.pdb)로 단순화</a:t>
            </a:r>
          </a:p>
          <a:p>
            <a:pPr>
              <a:spcAft>
                <a:spcPts val="800"/>
              </a:spcAft>
            </a:pPr>
            <a:r>
              <a:rPr sz="1600" b="0" lang="ko-KR">
                <a:solidFill>
                  <a:srgbClr val="C0392B"/>
                </a:solidFill>
                <a:latin typeface="Malgun Gothic"/>
              </a:rPr>
              <a:t>•  </a:t>
            </a:r>
            <a:r>
              <a:rPr sz="1600" b="0" lang="ko-KR">
                <a:solidFill>
                  <a:srgbClr val="202830"/>
                </a:solidFill>
                <a:latin typeface="Malgun Gothic"/>
              </a:rPr>
              <a:t>Hot Cloning·리프레셔블 카피: 무중단 복제·증분 REFRESH(READ ONLY 전용)</a:t>
            </a:r>
          </a:p>
          <a:p>
            <a:pPr>
              <a:spcAft>
                <a:spcPts val="800"/>
              </a:spcAft>
            </a:pPr>
            <a:r>
              <a:rPr sz="1600" b="0" lang="ko-KR">
                <a:solidFill>
                  <a:srgbClr val="C0392B"/>
                </a:solidFill>
                <a:latin typeface="Malgun Gothic"/>
              </a:rPr>
              <a:t>•  </a:t>
            </a:r>
            <a:r>
              <a:rPr sz="1600" b="0" lang="ko-KR">
                <a:solidFill>
                  <a:srgbClr val="202830"/>
                </a:solidFill>
                <a:latin typeface="Malgun Gothic"/>
              </a:rPr>
              <a:t>재배치(RELOCATE): 단일 DDL, AVAILABILITY MAX로 무중단 전환</a:t>
            </a:r>
          </a:p>
          <a:p>
            <a:pPr>
              <a:spcAft>
                <a:spcPts val="800"/>
              </a:spcAft>
            </a:pPr>
            <a:r>
              <a:rPr sz="1600" b="0" lang="ko-KR">
                <a:solidFill>
                  <a:srgbClr val="C0392B"/>
                </a:solidFill>
                <a:latin typeface="Malgun Gothic"/>
              </a:rPr>
              <a:t>•  </a:t>
            </a:r>
            <a:r>
              <a:rPr sz="1600" b="0" lang="ko-KR">
                <a:solidFill>
                  <a:srgbClr val="202830"/>
                </a:solidFill>
                <a:latin typeface="Malgun Gothic"/>
              </a:rPr>
              <a:t>Proxy PDB: 데이터 이동 없이 CDB를 가로지르는 통합 조회</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8096"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nchor="ctr">
            <a:spAutoFit/>
          </a:bodyPr>
          <a:lstStyle/>
          <a:p>
            <a:r>
              <a:rPr sz="2600" b="1" lang="ko-KR">
                <a:solidFill>
                  <a:srgbClr val="FFFFFF"/>
                </a:solidFill>
                <a:latin typeface="Malgun Gothic"/>
              </a:rPr>
              <a:t>실습 개요 (Practice Overview)</a:t>
            </a:r>
          </a:p>
        </p:txBody>
      </p:sp>
      <p:sp>
        <p:nvSpPr>
          <p:cNvPr id="4" name="TextBox 3"/>
          <p:cNvSpPr txBox="1"/>
          <p:nvPr/>
        </p:nvSpPr>
        <p:spPr>
          <a:xfrm>
            <a:off x="640080" y="1280160"/>
            <a:ext cx="10881360" cy="5394960"/>
          </a:xfrm>
          <a:prstGeom prst="rect">
            <a:avLst/>
          </a:prstGeom>
          <a:noFill/>
        </p:spPr>
        <p:txBody>
          <a:bodyPr wrap="square">
            <a:spAutoFit/>
          </a:bodyPr>
          <a:lstStyle/>
          <a:p>
            <a:pPr>
              <a:spcAft>
                <a:spcPts val="800"/>
              </a:spcAft>
            </a:pPr>
            <a:r>
              <a:rPr sz="1600" b="0" lang="ko-KR">
                <a:solidFill>
                  <a:srgbClr val="C0392B"/>
                </a:solidFill>
                <a:latin typeface="Malgun Gothic"/>
              </a:rPr>
              <a:t>•  </a:t>
            </a:r>
            <a:r>
              <a:rPr sz="1600" b="0" lang="ko-KR">
                <a:solidFill>
                  <a:srgbClr val="202830"/>
                </a:solidFill>
                <a:latin typeface="Malgun Gothic"/>
              </a:rPr>
              <a:t>실습 15-01 동일 CDB 내 복제  ·  15-02 DBMS_PDB.DESCRIBE</a:t>
            </a:r>
          </a:p>
          <a:p>
            <a:pPr>
              <a:spcAft>
                <a:spcPts val="800"/>
              </a:spcAft>
            </a:pPr>
            <a:r>
              <a:rPr sz="1600" b="0" lang="ko-KR">
                <a:solidFill>
                  <a:srgbClr val="C0392B"/>
                </a:solidFill>
                <a:latin typeface="Malgun Gothic"/>
              </a:rPr>
              <a:t>•  </a:t>
            </a:r>
            <a:r>
              <a:rPr sz="1600" b="0" lang="ko-KR">
                <a:solidFill>
                  <a:srgbClr val="202830"/>
                </a:solidFill>
                <a:latin typeface="Malgun Gothic"/>
              </a:rPr>
              <a:t>15-03 noncdb_to_pdb.sql  ·  15-04 DB 링크 복제</a:t>
            </a:r>
          </a:p>
          <a:p>
            <a:pPr>
              <a:spcAft>
                <a:spcPts val="800"/>
              </a:spcAft>
            </a:pPr>
            <a:r>
              <a:rPr sz="1600" b="0" lang="ko-KR">
                <a:solidFill>
                  <a:srgbClr val="C0392B"/>
                </a:solidFill>
                <a:latin typeface="Malgun Gothic"/>
              </a:rPr>
              <a:t>•  </a:t>
            </a:r>
            <a:r>
              <a:rPr sz="1600" b="0" lang="ko-KR">
                <a:solidFill>
                  <a:srgbClr val="202830"/>
                </a:solidFill>
                <a:latin typeface="Malgun Gothic"/>
              </a:rPr>
              <a:t>15-05 DBCA 원격 복제  ·  15-06 언플러그/플러그인</a:t>
            </a:r>
          </a:p>
          <a:p>
            <a:pPr>
              <a:spcAft>
                <a:spcPts val="800"/>
              </a:spcAft>
            </a:pPr>
            <a:r>
              <a:rPr sz="1600" b="0" lang="ko-KR">
                <a:solidFill>
                  <a:srgbClr val="C0392B"/>
                </a:solidFill>
                <a:latin typeface="Malgun Gothic"/>
              </a:rPr>
              <a:t>•  </a:t>
            </a:r>
            <a:r>
              <a:rPr sz="1600" b="0" lang="ko-KR">
                <a:solidFill>
                  <a:srgbClr val="202830"/>
                </a:solidFill>
                <a:latin typeface="Malgun Gothic"/>
              </a:rPr>
              <a:t>15-07 아카이브 파일  ·  15-08 Hot Cloning(REFRESH)</a:t>
            </a:r>
          </a:p>
          <a:p>
            <a:pPr>
              <a:spcAft>
                <a:spcPts val="800"/>
              </a:spcAft>
            </a:pPr>
            <a:r>
              <a:rPr sz="1600" b="0" lang="ko-KR">
                <a:solidFill>
                  <a:srgbClr val="C0392B"/>
                </a:solidFill>
                <a:latin typeface="Malgun Gothic"/>
              </a:rPr>
              <a:t>•  </a:t>
            </a:r>
            <a:r>
              <a:rPr sz="1600" b="0" lang="ko-KR">
                <a:solidFill>
                  <a:srgbClr val="202830"/>
                </a:solidFill>
                <a:latin typeface="Malgun Gothic"/>
              </a:rPr>
              <a:t>15-09 PDB 재배치(RELOCATE)  ·  15-10 Proxy PDB(CONTAINERS)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
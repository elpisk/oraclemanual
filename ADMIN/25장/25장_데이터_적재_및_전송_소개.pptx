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이동은 데이터를 데이터베이스 안으로 가져오는 적재, 밖으로 내보내는 추출, 한 데이터베이스에서 다른 데이터베이스로 옮기는 전송을 모두 포괄하는 개념이다. DBA는 서버 교체, 버전 업그레이드, 클라우드 전환, 개발·테스트 환경 구축, 외부 시스템 데이터 적재 등 거의 모든 운영 변화에서 데이터 이동을 수행한다. 어떤 도구를 고르느냐는 무엇을, 어디에서 어디로, 어떤 형식으로, 얼마나 빠르게 옮길지에 따라 달라지므로, 각 도구의 특성과 한계를 정확히 아는 것이 이관 계획의 성패를 좌우한다.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Oracle은 목적별로 여러 데이터 이동 도구를 제공한다. Data Pump는 오라클과 오라클 사이의 논리적 이동에 최적화되어 오라클 전용 바이너리 덤프 파일을 다루고, SQL*Loader와 외부 테이블은 오라클 바깥의 텍스트 데이터를 들여오는 진입 도구다. 데이터베이스 링크는 파일 없이 네트워크로 원격 데이터를 즉시 참조하고, 트랜스포터블 테이블스페이스는 데이터 파일 블록 자체를 복사해 대용량을 초고속으로 옮긴다. 외부에서 들어오는 데이터의 첫 관문은 SQL*Loader, 인스턴스 간 이동의 주력은 Data Pump로 이해하면 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이동 도구를 이해하는 두 축은 논리적/물리적 이동과 파일/네트워크 기반이다. 논리적 이동은 행과 객체 정의를 읽어 옮기므로 유연하고 변환이 가능하지만 대용량에서 상대적으로 느리다. 물리적 이동인 트랜스포터블 테이블스페이스는 데이터 파일을 통째로 복사해 매우 빠르지만 플랫폼 엔디안 호환성 등 제약이 있다. 또한 Data Pump는 덤프 파일을 만드는 파일 기반이 기본이나 NETWORK_LINK로 파일 없이도 옮길 수 있고, 데이터베이스 링크는 처음부터 네트워크 기반이다. 이 두 축을 기준으로 상황에 맞는 도구를 조합한다.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Oracle의 데이터 이동 도구들은 독립적인 유틸리티처럼 보이지만 내부적으로 공통된 데이터베이스 엔진 기능과 액세스 메커니즘을 공유한다. 최상위에는 사용자가 호출하는 클라이언트 유틸리티가 있고, 그 아래에 데이터/메타데이터를 대량 이동하는 DBMS_DATAPUMP와 객체 정의를 추출·변환하는 DBMS_METADATA 같은 PL/SQL API 계층이 있으며, 맨 아래에 실제 블록을 읽고 쓰는 다이렉트 패스·외부 테이블 API가 있다. 이 계층 분리 덕분에 커맨드라인뿐 아니라 직접 작성한 PL/SQL에서도 동일한 이동 기능을 프로그래밍 방식으로 쓸 수 있고, 가져오기 과정에서 스키마·테이블스페이스 리매핑이 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데이터베이스에서 대량의 행을 읽고 쓰는 방법에는 다이렉트 패스와 외부 테이블 두 액세스 메서드가 있다. 다이렉트 패스는 SQL 처리 계층과 버퍼 캐시를 대부분 우회해 데이터를 스트림으로 직접 처리하므로 가장 빠르고, 외부 테이블 방식은 SQL 엔진을 거쳐 처리하므로 오버헤드가 있지만 다이렉트 패스가 다루기 어려운 복잡한 구조를 처리한다. Data Pump와 SQL*Loader는 모두 이 두 메서드를 공유한다. 또한 데이터는 행 값 자체이고 메타데이터는 구조 정의(DDL)인데, 데이터 이동은 이 둘을 함께 또는 따로 옮기며 필요하면 구조를 변형하는 지능적 작업이다.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Data Pump는 데이터와 메타데이터를 데이터베이스 사이에서 고속으로 이동하는 기능으로, 10g에서 도입되어 전통적 Export/Import를 대체한다. 데이터를 내보내는 expdp는 객체와 데이터를 오라클 전용 바이너리 덤프 파일 세트로 추출하고, 데이터를 가져오는 impdp는 그 덤프를 읽어 대상 데이터베이스에 객체를 만들고 데이터를 적재한다. 전통적 exp/imp가 클라이언트 프로세스가 데이터를 읽어 클라이언트 파일로 쓰는 클라이언트 기반이었던 것과 달리, Data Pump의 실제 작업은 데이터베이스 서버 안의 프로세스가 수행하고 덤프 파일도 서버가 접근하는 디렉터리에 만들어진다. 이 구조 차이가 여러 이점의 근원이다.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Pump의 이점은 대부분 서버 기반 아키텍처에서 비롯된다. 병렬 처리는 여러 워커가 서로 다른 테이블을 동시에 처리하고 여러 덤프 파일에 나누어 써서 I/O까지 분산하므로 대용량을 빠르게 옮긴다. 작업 재시작은 마스터 테이블에 진행 상태가 기록되기 때문에 가능하여, 장애로 멈춘 작업을 처음부터가 아니라 중단 지점부터 이어서 처리한다. INCLUDE·EXCLUDE·CONTENT·QUERY로 특정 객체 유형이나 조건에 맞는 행만 골라 이동하고, NETWORK_LINK로 덤프 파일 없이 원본에서 대상으로 직접 옮기며, REMAP_SCHEMA·REMAP_TABLESPACE로 가져오면서 이름과 경로를 바꾼다. 전통적 exp/imp에는 이런 기능이 없거나 매우 제한적이었다.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Pump는 단순 이관 도구를 넘어 다목적으로 쓰인다. 첫째, 서버 교체·버전 업그레이드·클라우드 이전 시 스키마 또는 전체 데이터베이스를 내보내고 새 환경에서 가져오는 이관에 쓴다. 둘째, 운영 스키마를 내보내 개발 데이터베이스에 REMAP_SCHEMA로 이름만 바꿔 넣어 유사 환경을 손쉽게 만든다. 셋째, 특정 스키마·테이블을 시점 단위 덤프로 보관하는 논리적 백업으로 활용해 물리 백업과 별개로 특정 객체만 신속히 복원한다. 넷째, QUERY로 조건에 맞는 행만 뽑아 파트너·지사에 배포하거나 마스킹 전 단계 데이터를 만든다. 이처럼 Data Pump는 이관·복제·백업·배포를 아우르는 도구다.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Data Pump 작업의 중심에는 마스터 테이블이 있다. 작업을 시작한 사용자의 스키마에 작업 이름과 동일한 이름으로 자동 생성되는 실제 테이블로, 내보낼 객체 목록, 각 객체가 덤프 파일 세트의 어디에 위치하는지, 지금까지 어디까지 처리했는지, 작업 파라미터는 무엇인지가 모두 담긴다. Export에서는 이 마스터 테이블 자체가 마지막에 덤프 파일에 기록되어 Import 시 덤프의 목차 역할을 한다. 마스터 테이블이 있기 때문에 작업이 중단되어도 어디까지 완료했는지 파악해 그 지점부터 재개할 수 있다. 정상 완료되면 자동 삭제되지만, 실패하거나 강제 종료되면 잔존할 수 있어 정리가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작업이 시작되면 마스터 제어 프로세스(MCP, 보통 DMnn)가 하나 생성되어 작업 전체를 지휘한다. MCP는 마스터 테이블을 관리하고, 워커에 작업을 배분하며, 덤프 파일 세트를 관리하고, 로그를 기록하고, 클라이언트의 상태 조회·병렬도 변경·중단 요청을 처리한다. 작업당 MCP는 하나뿐이다. 실제 데이터와 메타데이터를 읽고 쓰는 일은 워커 프로세스(보통 DWnn)가 담당하며, PARALLEL 파라미터로 지정한 수만큼 생성되어 서로 다른 객체를 동시에 처리하므로 속도가 빨라진다. 각 워커는 자신의 진행 상태를 마스터 테이블에 갱신하고, 하나의 테이블이 매우 크면 워커가 다시 병렬 실행 서버(Pnnn)를 동원해 한 테이블을 조각내어 처리한다.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Export 흐름을 정리하면, 사용자가 expdp를 실행하면 서버에 접속해 DBMS_DATAPUMP.OPEN으로 작업을 열고 이때 마스터 테이블이 생성되고 MCP가 기동된다. MCP는 내보낼 객체 목록을 산정해 마스터 테이블에 채우고 PARALLEL 수만큼 워커를 띄워 처리할 객체를 배정한다. 워커들은 다이렉트 패스나 외부 테이블 방식으로 데이터를 언로드해 덤프 파일에 쓰고 진행 상황을 마스터 테이블에 갱신한다. 모든 처리가 끝나면 MCP가 마스터 테이블을 덤프에 기록하고 종료한다. 클라이언트는 작업의 주인이 아니라 조종석이어서 종료해도 서버 작업은 계속되며, 나중에 ATTACH로 다시 접속해 제어할 수 있다. 이 분리 구조가 장시간 대용량 작업을 견고하게 만든다.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Pump는 세 종류의 파일을 다룬다. 덤프 파일은 내보낸 데이터와 메타데이터를 담는 오라클 전용 바이너리 파일로 Export가 만들고 Import가 읽는다. 병렬 작업에서는 여러 워커가 동시에 서로 다른 덤프 파일에 쓰는 것이 효율적이므로 DUMPFILE에 %U 치환 변수를 써서 파일을 나누고 PARALLEL 값과 맞추며, FILESIZE로 개별 파일 크기를 제한한다. 로그 파일은 작업 진행·경고·오류를 텍스트로 기록해 정상 완료 여부를 검증하는 근거가 되므로 반드시 남긴다. SQL 파일은 실제 적재 대신 덤프에 담긴 객체의 DDL을 스크립트로 추출하는 것으로, 이관 전 검토나 스토리지 절 수정, 특정 객체만 골라 실행할 때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Pump 작업은 서버가 수행하므로 파일도 서버 파일 시스템에 만들어진다. 서버 프로세스가 임의 OS 경로에 파일을 읽고 쓰게 두면 위험하므로, Data Pump는 반드시 디렉터리 객체를 통해서만 파일에 접근한다. 디렉터리 객체는 서버의 특정 OS 경로에 붙인 데이터베이스 상의 논리 이름으로 CREATE DIRECTORY로 만든다. 사용자는 실제 경로를 몰라도 논리 이름으로 파일을 지정하고, DBA는 READ·WRITE 권한을 부여·회수해 접근을 통제한다. 디렉터리 객체는 Data Pump뿐 아니라 외부 테이블·BFILE·UTL_FILE도 공통으로 쓰는 보안 장치이므로 넓은 경로를 가리키지 않도록 신중히 관리한다.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오라클은 설치 시 DATA_PUMP_DIR라는 기본 디렉터리 객체를 자동 생성하지만, 실무에서는 명시적으로 디렉터리를 지정하는 것이 안전하다. 디렉터리 관련 오류는 매우 흔한데, 디렉터리 객체가 없거나 이름을 잘못 적으면 ORA-39002·ORA-39070이, 사용자에게 READ/WRITE 권한이 없으면 ORA-39087이, 서버 OS 계정이 실제 디렉터리에 접근할 수 없으면 ORA-39145 계열 오류가 발생한다. 이런 오류를 만나면 디렉터리 객체가 있는지, 그 사용자에게 권한이 있는지, OS 경로가 실제로 존재하고 오라클 소유자가 접근 가능한지를 순서대로 점검한다. 관련 정보는 DBA_DIRECTORIES 뷰로 조회한다.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Pump가 실제로 행을 읽고 쓰는 데는 다이렉트 패스와 외부 테이블 두 액세스 메서드가 있으며, 이 선택은 Data Pump가 데이터의 성격에 따라 자동으로 결정한다. 다이렉트 패스는 SQL 처리 계층을 최대한 우회해 가장 빠르므로 기본적으로 선호되지만, 테이블에 특정 파티션 구조나 활성 트리거가 있거나 일부 LOB·세밀한 병렬 처리가 필요하면 자동으로 외부 테이블 방식으로 전환한다. 중요한 점은 두 방식이 만드는 덤프 파일 형식이 서로 호환된다는 것으로, 다이렉트 패스로 내보낸 덤프를 외부 테이블 방식으로 가져올 수 있고 그 반대도 가능하다. 사용자가 CREATE TABLE로 만드는 외부 테이블 객체와는 층위가 다른 개념임에 유의한다.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Pump는 여러 방식으로 호출할 수 있다. 가장 기본은 커맨드라인으로 expdp·impdp 뒤에 파라미터를 나열하는 것으로, 간단하거나 일회성인 작업에 적합하다. 다만 파라미터가 많아지면 명령이 길어지고 QUERY·INCLUDE처럼 따옴표가 들어가는 옵션에서 셸 이스케이프가 번거롭다. 자주 쓰거나 복잡한 작업은 파라미터 파일에 옵션을 적어 PARFILE로 불러오면 명령이 짧아지고 이스케이프 문제를 피하며 동일 작업을 재현하기 쉽다. 네 가지 방식은 배타적이지 않아서 커맨드라인으로 시작한 작업에 대화형 모드로 진입했다가 돌아올 수 있고, 파라미터 파일과 커맨드라인 파라미터를 섞어 쓸 수도 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중인 Data Pump 작업은 대화형 명령 모드로 제어할 수 있다. 실행 중 클라이언트에서 Ctrl+C를 누르거나 ATTACH 파라미터로 진행 중인 작업에 다시 접속하면 Export&gt; 또는 Import&gt; 프롬프트가 나타난다. 여기서 STATUS로 진행 상황과 워커 상태를 조회하고, PARALLEL로 병렬 워커 수를 실시간 변경하며, STOP_JOB으로 안전하게 일시 중지했다가 START_JOB으로 재개하고, KILL_JOB으로 작업을 종료하며 마스터 테이블·덤프 파일을 정리한다. ADD_FILE로 Export에 덤프 파일을 추가하고, CONTINUE_CLIENT로 대화형 모드를 벗어나 로그 출력 모드로 돌아온다. 대화형 모드는 작업을 멈추는 것이 아니라 백그라운드에서 계속 돌게 두고 제어만 하는 것이 특징이다.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Pump 기능은 PL/SQL 패키지 DBMS_DATAPUMP로 프로그래밍 방식으로도 사용할 수 있으며, expdp·impdp 자체가 내부적으로 이 API를 호출한다. 애플리케이션에서 데이터 이동을 자동화하거나 커맨드라인으로 표현하기 어려운 로직을 넣을 때 OPEN으로 작업을 열고 ADD_FILE·METADATA_FILTER·DATA_FILTER로 구성한 뒤 START_JOB으로 실행하며, 객체 DDL 추출·변환에는 DBMS_METADATA를 함께 쓴다. 어느 방식으로 호출하든 상태는 딕셔너리 뷰로 조회하는데, DBA_DATAPUMP_JOBS는 활성 작업의 이름·소유자·유형·상태를, DBA_DATAPUMP_SESSIONS는 연결 세션을, V$SESSION_LONGOPS는 장시간 작업 진행률을 보여 준다. 클라이언트를 종료한 뒤에도 이 뷰로 작업을 파악하고 ATTACH로 재접속해 제어한다.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Pump 작업은 무엇을 이동 대상으로 삼는가에 따라 여러 모드로 나뉘며, Export와 Import가 같은 모드 개념을 공유한다. 전체 모드는 데이터베이스 전반을 대상으로 하며 EXP_FULL_DATABASE/IMP_FULL_DATABASE 롤이 필요하다. 스키마 모드는 가장 흔히 쓰이는 기본 모드로 지정한 스키마 전체를 옮긴다. 테이블 모드는 몇 개 테이블만 골라 옮기고, 테이블스페이스 모드는 특정 테이블스페이스에 속한 객체를 대상으로 한다. 하나의 작업에는 하나의 모드만 지정하는 것이 원칙이어서 SCHEMAS와 TABLES를 동시에 주면 안 되지만, 같은 모드 안에서 여러 대상을 나열하는 것은 허용된다. 모드를 정한 뒤 INCLUDE·EXCLUDE·QUERY로 범위를 다시 좁힌다.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트랜스포터블 테이블스페이스 모드는 특별하다. 이 모드에서 Export는 테이블스페이스의 메타데이터만 덤프 파일로 추출하고, 실제 데이터가 담긴 데이터 파일은 OS 수준에서 별도로 복사한다. 그래서 대용량을 매우 빠르게 옮기지만, 원본과 대상의 플랫폼 엔디안이 다르면 RMAN CONVERT로 변환해야 하는 등 제약이 있으며 상세 절차는 제27장에서 다룬다. Import 시에는 대상에 같은 이름 객체가 있을 때의 처리를 TABLE_EXISTS_ACTION으로, 스키마·테이블스페이스·경로 변경을 REMAP_SCHEMA·REMAP_TABLESPACE·REMAP_DATAFILE로 정한다. 또한 전체 덤프에서 특정 스키마나 테이블만 뽑아 가져올 수 있어 한 번 만든 덤프를 여러 목적에 재활용할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SQL*Loader(sqlldr)는 데이터베이스 외부 파일에 담긴 데이터를 오라클 테이블로 적재하는 표준 유틸리티다. Data Pump가 오라클 전용 바이너리 덤프를 다루는 반면 SQL*Loader는 다른 시스템에서 만들어지는 텍스트 형식, 즉 쉼표·탭으로 구분된 파일이나 고정폭 파일 등을 읽어 들인다는 점이 핵심 차이다. 두 도구는 경쟁이 아니라 역할이 다른데, SQL*Loader는 오라클 바깥의 텍스트를 들여오는 진입 도구이고 Data Pump는 오라클 인스턴스 간 이동의 주력이다. SQL*Loader는 구분자·고정폭·가변길이 등 다양한 형식을 처리하고, 필드마다 데이터 타입과 변환 규칙을 지정해 날짜 변환·NULL 처리·상수나 시퀀스 채우기 같은 가공을 컨트롤 파일에서 선언적으로 표현한다.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SQL*Loader 작업은 여러 파일이 함께 동작한다. 가장 중요한 것은 컨트롤 파일로, 데이터를 어디에서 읽어(INFILE) 어느 테이블에(INTO TABLE) 어떻게(필드 구분자·위치·타입·조건) 적재할지를 기술한다. 입력 데이터 파일은 실제 적재할 데이터가 담긴 외부 파일이며 소량이면 컨트롤 파일 안에 인라인으로 넣을 수도 있다. 로그 파일은 적재 통계와 수행 내역·오류 요약을 기록한다. 불량 파일에는 데이터 타입 오류나 제약 위반으로 거부된 레코드가, 버림 파일에는 컨트롤 파일의 WHEN 조건을 통과하지 못한 레코드가 저장된다. 이 덕분에 정상 데이터는 적재를 계속하면서 문제 레코드만 따로 모아 원인을 분석하고 보정 후 재적재할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컨트롤 파일은 SQL*Loader의 핵심이다. 예시처럼 LOAD DATA로 시작해 INFILE로 입력 파일을, BADFILE·DISCARDFILE로 불량·버림 파일을 지정하고, 적재 동작(빈 테이블에 넣는 INSERT, 이어 넣는 APPEND, 지우고 넣는 REPLACE·TRUNCATE)을 고른 뒤 INTO TABLE로 대상 테이블과 필드 매핑을 정의한다. 쉼표로 구분된 파일이면 FIELDS TERMINATED BY로, 고정폭이면 각 필드의 POSITION으로 위치를 지정한다. 하나의 컨트롤 파일에 여러 INTO TABLE 절을 두어 한 입력 파일을 여러 테이블에 나누어 적재하거나 WHEN 조건으로 특정 레코드만 골라 적재할 수도 있다. 실행은 sqlldr에 CONTROL과 LOG를 주어 수행하며, 불량·버림 파일로 데이터 품질을 관리한다.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SQL*Loader는 전통적 경로와 다이렉트 경로 두 적재 방식을 제공하며 DIRECT 파라미터로 선택한다(기본은 전통적). 전통적 경로는 일반 INSERT 문과 동일하게 SQL 엔진을 거쳐 데이터를 버퍼 캐시에 넣고 처리하므로 모든 제약·트리거·기본값이 정상 적용되고 다른 사용자가 동시에 같은 테이블을 사용할 수 있지만, SGA와 SQL 오버헤드로 대용량에서는 느리다. 다이렉트 경로는 SQL 처리 계층과 버퍼 캐시를 우회해 데이터를 오라클 블록으로 직접 조립한 뒤 세그먼트의 상위 워터마크 위에 곧바로 기록하므로 대용량에서 훨씬 빠르다. 대신 적재 중 테이블에 배타적 잠금이 걸리고 일부 제약은 비활성화 후 재검증되며 INSERT 트리거는 실행되지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방식의 선택은 성능과 안전성·기능 사이의 균형이다. 다이렉트 경로가 빠른 이유는 이미 만들어진 오라클 블록을 상위 워터마크 위에 통째로 붙이기 때문인데, 이는 기존 블록의 빈 공간을 재활용하지 않으므로 잦은 소량 다이렉트 로드는 공간을 낭비할 수 있고 적재 중 배타적 접근을 요구하므로 온라인 트랜잭션이 활발한 테이블에는 부적합하다. 따라서 초기 대량 적재·야간 배치에는 다이렉트 경로를, 상시 운영 중 소량 반영이나 트리거·제약을 반드시 태워야 하는 적재에는 전통적 경로를 쓴다. ROWS·BINDSIZE·READSIZE로 커밋 단위와 버퍼를 조절하고, 다이렉트 경로에서 NOLOGGING으로 리두를 줄이면 더 빠르지만 미디어 복구가 불가하므로 적재 직후 백업이 필수다.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1번은 Data Pump의 핵심 이점을 exp/imp와 구분하는 문제다. 병렬 처리, 재시작, 네트워크 모드는 모두 서버 기반 아키텍처에서 나온 Data Pump의 이점이지만, 클라이언트 파일 시스템에 직접 쓰는 것은 오히려 전통적 exp/imp의 특성이며 Data Pump는 디렉터리 객체를 통해 서버에 파일을 만든다. 2번은 마스터 테이블의 역할을 확인한다. 마스터 테이블은 작업을 시작한 사용자 스키마에 작업명과 같은 이름으로 생성되어 객체 목록과 진행 상태를 기록하므로 중단된 작업을 그 지점부터 재개할 수 있게 하며, 정상 완료 시 자동 삭제된다.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3번은 디렉터리 객체의 보안 역할을 묻는다. Data Pump 작업은 서버가 수행하므로 서버 프로세스가 임의 경로에 파일을 읽고 쓰지 못하도록 반드시 디렉터리 객체를 통해서만 접근하며, DBA는 READ·WRITE 권한을 부여·회수해 통제한다. 데이터베이스 링크·리스너·스냅샷은 파일 접근 통제와 무관하다. 4번은 SQL*Loader 파일들의 역할을 구분하는 문제다. 컨트롤 파일은 입력 위치·대상 테이블·필드 정의·적재 옵션을 기술하는 중심 파일이고, 불량 파일은 거부된 레코드를, 버림 파일은 WHEN 조건에 맞지 않은 레코드를, 로그 파일은 통계와 오류 요약을 담는다.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5번은 다이렉트 경로 로드의 특성을 정확히 이해했는지 확인한다. 다이렉트 경로는 SQL 처리 계층과 버퍼 캐시를 우회해 오라클 블록을 상위 워터마크 위에 직접 기록하므로 대용량에서 매우 빠르다. 대신 INSERT 트리거는 실행되지 않고 참조·검사 제약은 적재 중 비활성화되었다가 이후 재검증되므로, 트리거가 항상 실행된다거나 제약 검증이 전혀 없다는 설명은 틀리다. 6번은 Data Pump 모드 파라미터를 묻는다. 전체는 FULL, 스키마는 SCHEMAS, 테이블은 TABLES, 트랜스포터블은 TRANSPORT_TABLESPACES로 지정하며, DIRECT=TRUE는 Data Pump 모드가 아니라 SQL*Loader의 다이렉트 경로 옵션이므로 연결이 옳지 않다.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r>
              <a:rPr sz="1600" b="0">
                <a:solidFill>
                  <a:srgbClr val="FFFFFF"/>
                </a:solidFill>
                <a:latin typeface="맑은 고딕"/>
              </a:rPr>
              <a:t>Oracle Database 19c Administration Workshop</a:t>
            </a:r>
          </a:p>
        </p:txBody>
      </p:sp>
      <p:sp>
        <p:nvSpPr>
          <p:cNvPr id="6" name="TextBox 5"/>
          <p:cNvSpPr txBox="1"/>
          <p:nvPr/>
        </p:nvSpPr>
        <p:spPr>
          <a:xfrm>
            <a:off x="731520" y="2468880"/>
            <a:ext cx="10698480" cy="1463040"/>
          </a:xfrm>
          <a:prstGeom prst="rect">
            <a:avLst/>
          </a:prstGeom>
          <a:noFill/>
        </p:spPr>
        <p:txBody>
          <a:bodyPr wrap="square">
            <a:spAutoFit/>
          </a:bodyPr>
          <a:lstStyle/>
          <a:p>
            <a:r>
              <a:rPr sz="4000" b="1">
                <a:solidFill>
                  <a:srgbClr val="C0392B"/>
                </a:solidFill>
                <a:latin typeface="맑은 고딕"/>
              </a:rPr>
              <a:t>데이터 적재 및 전송 소개</a:t>
            </a:r>
          </a:p>
          <a:p>
            <a:r>
              <a:rPr sz="4000" b="1">
                <a:solidFill>
                  <a:srgbClr val="C0392B"/>
                </a:solidFill>
                <a:latin typeface="맑은 고딕"/>
              </a:rPr>
              <a:t>Introduction to Loading and Transporting Data</a:t>
            </a:r>
          </a:p>
        </p:txBody>
      </p:sp>
      <p:sp>
        <p:nvSpPr>
          <p:cNvPr id="7" name="TextBox 6"/>
          <p:cNvSpPr txBox="1"/>
          <p:nvPr/>
        </p:nvSpPr>
        <p:spPr>
          <a:xfrm>
            <a:off x="731520" y="4114800"/>
            <a:ext cx="10698480" cy="1097280"/>
          </a:xfrm>
          <a:prstGeom prst="rect">
            <a:avLst/>
          </a:prstGeom>
          <a:noFill/>
        </p:spPr>
        <p:txBody>
          <a:bodyPr wrap="square">
            <a:spAutoFit/>
          </a:bodyPr>
          <a:lstStyle/>
          <a:p>
            <a:r>
              <a:rPr sz="1500" b="0">
                <a:solidFill>
                  <a:srgbClr val="5A6672"/>
                </a:solidFill>
                <a:latin typeface="맑은 고딕"/>
              </a:rPr>
              <a:t>데이터 이동 지형도 · Oracle Data Pump · SQL*Loader</a:t>
            </a:r>
          </a:p>
        </p:txBody>
      </p:sp>
      <p:sp>
        <p:nvSpPr>
          <p:cNvPr id="8" name="TextBox 7"/>
          <p:cNvSpPr txBox="1"/>
          <p:nvPr/>
        </p:nvSpPr>
        <p:spPr>
          <a:xfrm>
            <a:off x="731520" y="5577840"/>
            <a:ext cx="10698480" cy="914400"/>
          </a:xfrm>
          <a:prstGeom prst="rect">
            <a:avLst/>
          </a:prstGeom>
          <a:noFill/>
        </p:spPr>
        <p:txBody>
          <a:bodyPr wrap="square">
            <a:spAutoFit/>
          </a:bodyPr>
          <a:lstStyle/>
          <a:p>
            <a:r>
              <a:rPr sz="2000" b="1">
                <a:solidFill>
                  <a:srgbClr val="C0392B"/>
                </a:solidFill>
                <a:latin typeface="맑은 고딕"/>
              </a:rPr>
              <a:t>제25장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학습 목표 (Objectives)</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600"/>
              </a:spcAft>
            </a:pPr>
            <a:r>
              <a:rPr sz="1800" b="0">
                <a:solidFill>
                  <a:srgbClr val="C0392B"/>
                </a:solidFill>
                <a:latin typeface="맑은 고딕"/>
              </a:rPr>
              <a:t>•  데이터 이동의 필요성과 Oracle 데이터 이동 도구 지형도를 이해한다</a:t>
            </a:r>
          </a:p>
          <a:p>
            <a:pPr>
              <a:spcAft>
                <a:spcPts val="600"/>
              </a:spcAft>
            </a:pPr>
            <a:r>
              <a:rPr sz="1800" b="0">
                <a:solidFill>
                  <a:srgbClr val="C0392B"/>
                </a:solidFill>
                <a:latin typeface="맑은 고딕"/>
              </a:rPr>
              <a:t>•  데이터 이동 아키텍처(다이렉트 패스·외부 테이블·API 계층)를 이해한다</a:t>
            </a:r>
          </a:p>
          <a:p>
            <a:pPr>
              <a:spcAft>
                <a:spcPts val="600"/>
              </a:spcAft>
            </a:pPr>
            <a:r>
              <a:rPr sz="1800" b="0">
                <a:solidFill>
                  <a:srgbClr val="C0392B"/>
                </a:solidFill>
                <a:latin typeface="맑은 고딕"/>
              </a:rPr>
              <a:t>•  Data Pump 개요와 전통적 exp/imp 대비 이점을 설명한다</a:t>
            </a:r>
          </a:p>
          <a:p>
            <a:pPr>
              <a:spcAft>
                <a:spcPts val="600"/>
              </a:spcAft>
            </a:pPr>
            <a:r>
              <a:rPr sz="1800" b="0">
                <a:solidFill>
                  <a:srgbClr val="C0392B"/>
                </a:solidFill>
                <a:latin typeface="맑은 고딕"/>
              </a:rPr>
              <a:t>•  Data Pump 아키텍처(마스터 테이블·MCP·워커)를 이해한다</a:t>
            </a:r>
          </a:p>
          <a:p>
            <a:pPr>
              <a:spcAft>
                <a:spcPts val="600"/>
              </a:spcAft>
            </a:pPr>
            <a:r>
              <a:rPr sz="1800" b="0">
                <a:solidFill>
                  <a:srgbClr val="C0392B"/>
                </a:solidFill>
                <a:latin typeface="맑은 고딕"/>
              </a:rPr>
              <a:t>•  Data Pump 파일과 디렉터리 객체, 접근 방식, 사용 방법을 구분한다</a:t>
            </a:r>
          </a:p>
          <a:p>
            <a:pPr>
              <a:spcAft>
                <a:spcPts val="600"/>
              </a:spcAft>
            </a:pPr>
            <a:r>
              <a:rPr sz="1800" b="0">
                <a:solidFill>
                  <a:srgbClr val="C0392B"/>
                </a:solidFill>
                <a:latin typeface="맑은 고딕"/>
              </a:rPr>
              <a:t>•  Data Pump Export/Import 모드(전체·스키마·테이블·테이블스페이스)를 이해한다</a:t>
            </a:r>
          </a:p>
          <a:p>
            <a:pPr>
              <a:spcAft>
                <a:spcPts val="600"/>
              </a:spcAft>
            </a:pPr>
            <a:r>
              <a:rPr sz="1800" b="0">
                <a:solidFill>
                  <a:srgbClr val="C0392B"/>
                </a:solidFill>
                <a:latin typeface="맑은 고딕"/>
              </a:rPr>
              <a:t>•  SQL*Loader 개요와 파일, 전통적/다이렉트 경로 로드를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이 장의 구성 (Agenda)</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600"/>
              </a:spcAft>
            </a:pPr>
            <a:r>
              <a:rPr sz="1800" b="0">
                <a:solidFill>
                  <a:srgbClr val="C0392B"/>
                </a:solidFill>
                <a:latin typeface="맑은 고딕"/>
              </a:rPr>
              <a:t>•  25.A 데이터 이동 개요 및 도구 지형도</a:t>
            </a:r>
          </a:p>
          <a:p>
            <a:pPr>
              <a:spcAft>
                <a:spcPts val="600"/>
              </a:spcAft>
            </a:pPr>
            <a:r>
              <a:rPr sz="1800" b="0">
                <a:solidFill>
                  <a:srgbClr val="C0392B"/>
                </a:solidFill>
                <a:latin typeface="맑은 고딕"/>
              </a:rPr>
              <a:t>•  25.B 데이터 이동 아키텍처</a:t>
            </a:r>
          </a:p>
          <a:p>
            <a:pPr>
              <a:spcAft>
                <a:spcPts val="600"/>
              </a:spcAft>
            </a:pPr>
            <a:r>
              <a:rPr sz="1800" b="0">
                <a:solidFill>
                  <a:srgbClr val="C0392B"/>
                </a:solidFill>
                <a:latin typeface="맑은 고딕"/>
              </a:rPr>
              <a:t>•  25.C Oracle Data Pump 개요 및 이점</a:t>
            </a:r>
          </a:p>
          <a:p>
            <a:pPr>
              <a:spcAft>
                <a:spcPts val="600"/>
              </a:spcAft>
            </a:pPr>
            <a:r>
              <a:rPr sz="1800" b="0">
                <a:solidFill>
                  <a:srgbClr val="C0392B"/>
                </a:solidFill>
                <a:latin typeface="맑은 고딕"/>
              </a:rPr>
              <a:t>•  25.D Data Pump 아키텍처(마스터 테이블·MCP·워커)</a:t>
            </a:r>
          </a:p>
          <a:p>
            <a:pPr>
              <a:spcAft>
                <a:spcPts val="600"/>
              </a:spcAft>
            </a:pPr>
            <a:r>
              <a:rPr sz="1800" b="0">
                <a:solidFill>
                  <a:srgbClr val="C0392B"/>
                </a:solidFill>
                <a:latin typeface="맑은 고딕"/>
              </a:rPr>
              <a:t>•  25.E Data Pump 파일과 디렉터리 객체</a:t>
            </a:r>
          </a:p>
          <a:p>
            <a:pPr>
              <a:spcAft>
                <a:spcPts val="600"/>
              </a:spcAft>
            </a:pPr>
            <a:r>
              <a:rPr sz="1800" b="0">
                <a:solidFill>
                  <a:srgbClr val="C0392B"/>
                </a:solidFill>
                <a:latin typeface="맑은 고딕"/>
              </a:rPr>
              <a:t>•  25.F Data Pump 접근 방식(다이렉트 패스·외부 테이블)</a:t>
            </a:r>
          </a:p>
          <a:p>
            <a:pPr>
              <a:spcAft>
                <a:spcPts val="600"/>
              </a:spcAft>
            </a:pPr>
            <a:r>
              <a:rPr sz="1800" b="0">
                <a:solidFill>
                  <a:srgbClr val="C0392B"/>
                </a:solidFill>
                <a:latin typeface="맑은 고딕"/>
              </a:rPr>
              <a:t>•  25.G Data Pump 사용 방법</a:t>
            </a:r>
          </a:p>
          <a:p>
            <a:pPr>
              <a:spcAft>
                <a:spcPts val="600"/>
              </a:spcAft>
            </a:pPr>
            <a:r>
              <a:rPr sz="1800" b="0">
                <a:solidFill>
                  <a:srgbClr val="C0392B"/>
                </a:solidFill>
                <a:latin typeface="맑은 고딕"/>
              </a:rPr>
              <a:t>•  25.H Data Pump Export/Import 모드</a:t>
            </a:r>
          </a:p>
          <a:p>
            <a:pPr>
              <a:spcAft>
                <a:spcPts val="600"/>
              </a:spcAft>
            </a:pPr>
            <a:r>
              <a:rPr sz="1800" b="0">
                <a:solidFill>
                  <a:srgbClr val="C0392B"/>
                </a:solidFill>
                <a:latin typeface="맑은 고딕"/>
              </a:rPr>
              <a:t>•  25.I SQL*Loader 개요</a:t>
            </a:r>
          </a:p>
          <a:p>
            <a:pPr>
              <a:spcAft>
                <a:spcPts val="600"/>
              </a:spcAft>
            </a:pPr>
            <a:r>
              <a:rPr sz="1800" b="0">
                <a:solidFill>
                  <a:srgbClr val="C0392B"/>
                </a:solidFill>
                <a:latin typeface="맑은 고딕"/>
              </a:rPr>
              <a:t>•  25.J SQL*Loader 로드 방식(전통적·다이렉트 경로)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25.A</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데이터 이동 개요 및 도구 지형도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데이터 이동이란: 적재·추출·전송</a:t>
            </a:r>
          </a:p>
          <a:p>
            <a:pPr>
              <a:spcAft>
                <a:spcPts val="400"/>
              </a:spcAft>
            </a:pPr>
            <a:r>
              <a:rPr sz="1600" b="0">
                <a:solidFill>
                  <a:srgbClr val="FFFFFF"/>
                </a:solidFill>
                <a:latin typeface="맑은 고딕"/>
              </a:rPr>
              <a:t>•  Oracle 데이터 이동 도구 지형도</a:t>
            </a:r>
          </a:p>
          <a:p>
            <a:pPr>
              <a:spcAft>
                <a:spcPts val="400"/>
              </a:spcAft>
            </a:pPr>
            <a:r>
              <a:rPr sz="1600" b="0">
                <a:solidFill>
                  <a:srgbClr val="FFFFFF"/>
                </a:solidFill>
                <a:latin typeface="맑은 고딕"/>
              </a:rPr>
              <a:t>•  논리적/물리적, 파일/네트워크 구분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데이터 이동(Data Movement)이란</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적재 · 추출 · 전송</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데이터베이스 안으로 가져오기(적재), 밖으로 내보내기(추출), DB 간 옮기기(전송)</a:t>
            </a:r>
          </a:p>
          <a:p>
            <a:pPr>
              <a:spcAft>
                <a:spcPts val="600"/>
              </a:spcAft>
            </a:pPr>
            <a:r>
              <a:rPr sz="1800" b="0">
                <a:solidFill>
                  <a:srgbClr val="C0392B"/>
                </a:solidFill>
                <a:latin typeface="맑은 고딕"/>
              </a:rPr>
              <a:t>•  이관·개발환경 복제·외부 파일 적재·논리적 백업 등 다양한 상황</a:t>
            </a:r>
          </a:p>
          <a:p>
            <a:pPr>
              <a:spcAft>
                <a:spcPts val="600"/>
              </a:spcAft>
            </a:pPr>
            <a:r>
              <a:rPr sz="1800" b="0">
                <a:solidFill>
                  <a:srgbClr val="C0392B"/>
                </a:solidFill>
                <a:latin typeface="맑은 고딕"/>
              </a:rPr>
              <a:t>•  하나의 도구로 모든 상황을 최적 처리할 수 없어 목적별 도구 제공</a:t>
            </a:r>
          </a:p>
          <a:p>
            <a:pPr>
              <a:spcAft>
                <a:spcPts val="600"/>
              </a:spcAft>
            </a:pPr>
            <a:r>
              <a:rPr sz="1800" b="0">
                <a:solidFill>
                  <a:srgbClr val="C0392B"/>
                </a:solidFill>
                <a:latin typeface="맑은 고딕"/>
              </a:rPr>
              <a:t>•  출처·목적지·형식·데이터 양·다운타임 제약이 도구 선택을 좌우</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Oracle 데이터 이동 도구 지형도</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목적에 맞는 도구 선택</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Data Pump(expdp/impdp): 오라클↔오라클 논리 이동, 바이너리 덤프</a:t>
            </a:r>
          </a:p>
          <a:p>
            <a:pPr>
              <a:spcAft>
                <a:spcPts val="600"/>
              </a:spcAft>
            </a:pPr>
            <a:r>
              <a:rPr sz="1800" b="0">
                <a:solidFill>
                  <a:srgbClr val="C0392B"/>
                </a:solidFill>
                <a:latin typeface="맑은 고딕"/>
              </a:rPr>
              <a:t>•  SQL*Loader(sqlldr): 외부 텍스트/플랫 파일을 테이블로 적재</a:t>
            </a:r>
          </a:p>
          <a:p>
            <a:pPr>
              <a:spcAft>
                <a:spcPts val="600"/>
              </a:spcAft>
            </a:pPr>
            <a:r>
              <a:rPr sz="1800" b="0">
                <a:solidFill>
                  <a:srgbClr val="C0392B"/>
                </a:solidFill>
                <a:latin typeface="맑은 고딕"/>
              </a:rPr>
              <a:t>•  외부 테이블: 외부 파일을 테이블처럼 SQL로 조회/적재</a:t>
            </a:r>
          </a:p>
          <a:p>
            <a:pPr>
              <a:spcAft>
                <a:spcPts val="600"/>
              </a:spcAft>
            </a:pPr>
            <a:r>
              <a:rPr sz="1800" b="0">
                <a:solidFill>
                  <a:srgbClr val="C0392B"/>
                </a:solidFill>
                <a:latin typeface="맑은 고딕"/>
              </a:rPr>
              <a:t>•  데이터베이스 링크: 네트워크로 원격 데이터 직접 참조</a:t>
            </a:r>
          </a:p>
          <a:p>
            <a:pPr>
              <a:spcAft>
                <a:spcPts val="600"/>
              </a:spcAft>
            </a:pPr>
            <a:r>
              <a:rPr sz="1800" b="0">
                <a:solidFill>
                  <a:srgbClr val="C0392B"/>
                </a:solidFill>
                <a:latin typeface="맑은 고딕"/>
              </a:rPr>
              <a:t>•  트랜스포터블 테이블스페이스: 데이터 파일 자체를 물리 이동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두 가지 분류 축</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논리 vs 물리 · 파일 vs 네트워크</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논리적 이동: 행·객체 정의를 읽어 이동(Data Pump·SQL*Loader·외부 테이블)</a:t>
            </a:r>
          </a:p>
          <a:p>
            <a:pPr>
              <a:spcAft>
                <a:spcPts val="600"/>
              </a:spcAft>
            </a:pPr>
            <a:r>
              <a:rPr sz="1800" b="0">
                <a:solidFill>
                  <a:srgbClr val="C0392B"/>
                </a:solidFill>
                <a:latin typeface="맑은 고딕"/>
              </a:rPr>
              <a:t>•  물리적 이동: 데이터 파일 블록을 복사(트랜스포터블 테이블스페이스)</a:t>
            </a:r>
          </a:p>
          <a:p>
            <a:pPr>
              <a:spcAft>
                <a:spcPts val="600"/>
              </a:spcAft>
            </a:pPr>
            <a:r>
              <a:rPr sz="1800" b="0">
                <a:solidFill>
                  <a:srgbClr val="C0392B"/>
                </a:solidFill>
                <a:latin typeface="맑은 고딕"/>
              </a:rPr>
              <a:t>•  물리 이동은 초고속이나 플랫폼 엔디안 등 제약</a:t>
            </a:r>
          </a:p>
          <a:p>
            <a:pPr>
              <a:spcAft>
                <a:spcPts val="600"/>
              </a:spcAft>
            </a:pPr>
            <a:r>
              <a:rPr sz="1800" b="0">
                <a:solidFill>
                  <a:srgbClr val="C0392B"/>
                </a:solidFill>
                <a:latin typeface="맑은 고딕"/>
              </a:rPr>
              <a:t>•  파일 기반(덤프 파일) vs 네트워크 기반(NETWORK_LINK·DB 링크)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25.B</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데이터 이동 아키텍처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공통 액세스 메서드: 다이렉트 패스/외부 테이블</a:t>
            </a:r>
          </a:p>
          <a:p>
            <a:pPr>
              <a:spcAft>
                <a:spcPts val="400"/>
              </a:spcAft>
            </a:pPr>
            <a:r>
              <a:rPr sz="1600" b="0">
                <a:solidFill>
                  <a:srgbClr val="FFFFFF"/>
                </a:solidFill>
                <a:latin typeface="맑은 고딕"/>
              </a:rPr>
              <a:t>•  API 계층: DBMS_DATAPUMP / DBMS_METADATA</a:t>
            </a:r>
          </a:p>
          <a:p>
            <a:pPr>
              <a:spcAft>
                <a:spcPts val="400"/>
              </a:spcAft>
            </a:pPr>
            <a:r>
              <a:rPr sz="1600" b="0">
                <a:solidFill>
                  <a:srgbClr val="FFFFFF"/>
                </a:solidFill>
                <a:latin typeface="맑은 고딕"/>
              </a:rPr>
              <a:t>•  데이터와 메타데이터의 구분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데이터 이동 아키텍처</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공통 기반 위의 유틸리티</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겉은 별개 유틸리티지만 내부는 공통 커널 기능·액세스 메서드 공유</a:t>
            </a:r>
          </a:p>
          <a:p>
            <a:pPr>
              <a:spcAft>
                <a:spcPts val="600"/>
              </a:spcAft>
            </a:pPr>
            <a:r>
              <a:rPr sz="1800" b="0">
                <a:solidFill>
                  <a:srgbClr val="C0392B"/>
                </a:solidFill>
                <a:latin typeface="맑은 고딕"/>
              </a:rPr>
              <a:t>•  클라이언트(expdp/impdp/sqlldr) → PL/SQL API → 액세스 메서드</a:t>
            </a:r>
          </a:p>
          <a:p>
            <a:pPr>
              <a:spcAft>
                <a:spcPts val="600"/>
              </a:spcAft>
            </a:pPr>
            <a:r>
              <a:rPr sz="1800" b="0">
                <a:solidFill>
                  <a:srgbClr val="C0392B"/>
                </a:solidFill>
                <a:latin typeface="맑은 고딕"/>
              </a:rPr>
              <a:t>•  DBMS_DATAPUMP: 데이터/메타데이터 대량 이동 엔진 API</a:t>
            </a:r>
          </a:p>
          <a:p>
            <a:pPr>
              <a:spcAft>
                <a:spcPts val="600"/>
              </a:spcAft>
            </a:pPr>
            <a:r>
              <a:rPr sz="1800" b="0">
                <a:solidFill>
                  <a:srgbClr val="C0392B"/>
                </a:solidFill>
                <a:latin typeface="맑은 고딕"/>
              </a:rPr>
              <a:t>•  DBMS_METADATA: 객체 DDL 추출·변환 API(리매핑 가능)</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두 가지 액세스 메서드</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다이렉트 패스 vs 외부 테이블</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다이렉트 패스: SQL 계층·버퍼 캐시 우회, 스트림 직접 읽기/쓰기 → 빠름</a:t>
            </a:r>
          </a:p>
          <a:p>
            <a:pPr>
              <a:spcAft>
                <a:spcPts val="600"/>
              </a:spcAft>
            </a:pPr>
            <a:r>
              <a:rPr sz="1800" b="0">
                <a:solidFill>
                  <a:srgbClr val="C0392B"/>
                </a:solidFill>
                <a:latin typeface="맑은 고딕"/>
              </a:rPr>
              <a:t>•  외부 테이블: 외부 파일을 SQL 테이블처럼 처리 → 오버헤드 있으나 유연</a:t>
            </a:r>
          </a:p>
          <a:p>
            <a:pPr>
              <a:spcAft>
                <a:spcPts val="600"/>
              </a:spcAft>
            </a:pPr>
            <a:r>
              <a:rPr sz="1800" b="0">
                <a:solidFill>
                  <a:srgbClr val="C0392B"/>
                </a:solidFill>
                <a:latin typeface="맑은 고딕"/>
              </a:rPr>
              <a:t>•  Data Pump·SQL*Loader 모두 두 메서드를 상황에 맞게 사용</a:t>
            </a:r>
          </a:p>
          <a:p>
            <a:pPr>
              <a:spcAft>
                <a:spcPts val="600"/>
              </a:spcAft>
            </a:pPr>
            <a:r>
              <a:rPr sz="1800" b="0">
                <a:solidFill>
                  <a:srgbClr val="C0392B"/>
                </a:solidFill>
                <a:latin typeface="맑은 고딕"/>
              </a:rPr>
              <a:t>•  데이터와 메타데이터를 함께/따로 이동(CONTENT 파라미터)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25.C</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Oracle Data Pump 개요 및 이점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expdp / impdp 클라이언트</a:t>
            </a:r>
          </a:p>
          <a:p>
            <a:pPr>
              <a:spcAft>
                <a:spcPts val="400"/>
              </a:spcAft>
            </a:pPr>
            <a:r>
              <a:rPr sz="1600" b="0">
                <a:solidFill>
                  <a:srgbClr val="FFFFFF"/>
                </a:solidFill>
                <a:latin typeface="맑은 고딕"/>
              </a:rPr>
              <a:t>•  서버 기반 아키텍처</a:t>
            </a:r>
          </a:p>
          <a:p>
            <a:pPr>
              <a:spcAft>
                <a:spcPts val="400"/>
              </a:spcAft>
            </a:pPr>
            <a:r>
              <a:rPr sz="1600" b="0">
                <a:solidFill>
                  <a:srgbClr val="FFFFFF"/>
                </a:solidFill>
                <a:latin typeface="맑은 고딕"/>
              </a:rPr>
              <a:t>•  전통적 exp/imp 대비 이점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Oracle Data Pump 개요</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expdp / impdp</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데이터·메타데이터를 DB 간 고속 이동(10g 도입, exp/imp 대체)</a:t>
            </a:r>
          </a:p>
          <a:p>
            <a:pPr>
              <a:spcAft>
                <a:spcPts val="600"/>
              </a:spcAft>
            </a:pPr>
            <a:r>
              <a:rPr sz="1800" b="0">
                <a:solidFill>
                  <a:srgbClr val="C0392B"/>
                </a:solidFill>
                <a:latin typeface="맑은 고딕"/>
              </a:rPr>
              <a:t>•  expdp: 객체·데이터를 바이너리 덤프 파일 세트로 추출</a:t>
            </a:r>
          </a:p>
          <a:p>
            <a:pPr>
              <a:spcAft>
                <a:spcPts val="600"/>
              </a:spcAft>
            </a:pPr>
            <a:r>
              <a:rPr sz="1800" b="0">
                <a:solidFill>
                  <a:srgbClr val="C0392B"/>
                </a:solidFill>
                <a:latin typeface="맑은 고딕"/>
              </a:rPr>
              <a:t>•  impdp: 덤프 파일을 읽어 대상 DB에 객체 생성·데이터 적재</a:t>
            </a:r>
          </a:p>
          <a:p>
            <a:pPr>
              <a:spcAft>
                <a:spcPts val="600"/>
              </a:spcAft>
            </a:pPr>
            <a:r>
              <a:rPr sz="1800" b="0">
                <a:solidFill>
                  <a:srgbClr val="C0392B"/>
                </a:solidFill>
                <a:latin typeface="맑은 고딕"/>
              </a:rPr>
              <a:t>•  실제 작업은 서버의 백그라운드/서버 프로세스가 수행(서버 기반)</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전통적 exp/imp 대비 이점</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서버 기반 아키텍처의 결실</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병렬 처리(PARALLEL): 여러 워커가 동시 처리로 대용량 고속 이동</a:t>
            </a:r>
          </a:p>
          <a:p>
            <a:pPr>
              <a:spcAft>
                <a:spcPts val="600"/>
              </a:spcAft>
            </a:pPr>
            <a:r>
              <a:rPr sz="1800" b="0">
                <a:solidFill>
                  <a:srgbClr val="C0392B"/>
                </a:solidFill>
                <a:latin typeface="맑은 고딕"/>
              </a:rPr>
              <a:t>•  작업 재시작: 중단 지점부터 재개(마스터 테이블 기반)</a:t>
            </a:r>
          </a:p>
          <a:p>
            <a:pPr>
              <a:spcAft>
                <a:spcPts val="600"/>
              </a:spcAft>
            </a:pPr>
            <a:r>
              <a:rPr sz="1800" b="0">
                <a:solidFill>
                  <a:srgbClr val="C0392B"/>
                </a:solidFill>
                <a:latin typeface="맑은 고딕"/>
              </a:rPr>
              <a:t>•  세밀한 객체 필터링: INCLUDE/EXCLUDE/CONTENT/QUERY</a:t>
            </a:r>
          </a:p>
          <a:p>
            <a:pPr>
              <a:spcAft>
                <a:spcPts val="600"/>
              </a:spcAft>
            </a:pPr>
            <a:r>
              <a:rPr sz="1800" b="0">
                <a:solidFill>
                  <a:srgbClr val="C0392B"/>
                </a:solidFill>
                <a:latin typeface="맑은 고딕"/>
              </a:rPr>
              <a:t>•  네트워크 모드(NETWORK_LINK): 덤프 없이 DB 간 직접 이동</a:t>
            </a:r>
          </a:p>
          <a:p>
            <a:pPr>
              <a:spcAft>
                <a:spcPts val="600"/>
              </a:spcAft>
            </a:pPr>
            <a:r>
              <a:rPr sz="1800" b="0">
                <a:solidFill>
                  <a:srgbClr val="C0392B"/>
                </a:solidFill>
                <a:latin typeface="맑은 고딕"/>
              </a:rPr>
              <a:t>•  모니터링/제어·메타데이터 변환(REMAP_*)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Data Pump 사용 사례</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이관·복제·백업·배포</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데이터베이스·스키마 이관(서버 교체·업그레이드·클라우드)</a:t>
            </a:r>
          </a:p>
          <a:p>
            <a:pPr>
              <a:spcAft>
                <a:spcPts val="600"/>
              </a:spcAft>
            </a:pPr>
            <a:r>
              <a:rPr sz="1800" b="0">
                <a:solidFill>
                  <a:srgbClr val="C0392B"/>
                </a:solidFill>
                <a:latin typeface="맑은 고딕"/>
              </a:rPr>
              <a:t>•  개발/테스트 환경 구축(REMAP_SCHEMA로 손쉬운 복제)</a:t>
            </a:r>
          </a:p>
          <a:p>
            <a:pPr>
              <a:spcAft>
                <a:spcPts val="600"/>
              </a:spcAft>
            </a:pPr>
            <a:r>
              <a:rPr sz="1800" b="0">
                <a:solidFill>
                  <a:srgbClr val="C0392B"/>
                </a:solidFill>
                <a:latin typeface="맑은 고딕"/>
              </a:rPr>
              <a:t>•  논리적 백업(특정 스키마·테이블을 시점 단위 보관)</a:t>
            </a:r>
          </a:p>
          <a:p>
            <a:pPr>
              <a:spcAft>
                <a:spcPts val="600"/>
              </a:spcAft>
            </a:pPr>
            <a:r>
              <a:rPr sz="1800" b="0">
                <a:solidFill>
                  <a:srgbClr val="C0392B"/>
                </a:solidFill>
                <a:latin typeface="맑은 고딕"/>
              </a:rPr>
              <a:t>•  데이터 서브세팅·배포(QUERY로 조건 행만 추출)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25.D</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Data Pump 아키텍처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마스터 테이블(Master Table)</a:t>
            </a:r>
          </a:p>
          <a:p>
            <a:pPr>
              <a:spcAft>
                <a:spcPts val="400"/>
              </a:spcAft>
            </a:pPr>
            <a:r>
              <a:rPr sz="1600" b="0">
                <a:solidFill>
                  <a:srgbClr val="FFFFFF"/>
                </a:solidFill>
                <a:latin typeface="맑은 고딕"/>
              </a:rPr>
              <a:t>•  마스터 제어 프로세스(MCP)</a:t>
            </a:r>
          </a:p>
          <a:p>
            <a:pPr>
              <a:spcAft>
                <a:spcPts val="400"/>
              </a:spcAft>
            </a:pPr>
            <a:r>
              <a:rPr sz="1600" b="0">
                <a:solidFill>
                  <a:srgbClr val="FFFFFF"/>
                </a:solidFill>
                <a:latin typeface="맑은 고딕"/>
              </a:rPr>
              <a:t>•  워커 프로세스(Worker)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마스터 테이블(Master Table)</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작업의 중심</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작업 시작 시 사용자 스키마에 작업명과 같은 이름의 테이블 자동 생성</a:t>
            </a:r>
          </a:p>
          <a:p>
            <a:pPr>
              <a:spcAft>
                <a:spcPts val="600"/>
              </a:spcAft>
            </a:pPr>
            <a:r>
              <a:rPr sz="1800" b="0">
                <a:solidFill>
                  <a:srgbClr val="C0392B"/>
                </a:solidFill>
                <a:latin typeface="맑은 고딕"/>
              </a:rPr>
              <a:t>•  객체 목록·덤프 내 위치·진행 상태·작업 파라미터를 모두 기록</a:t>
            </a:r>
          </a:p>
          <a:p>
            <a:pPr>
              <a:spcAft>
                <a:spcPts val="600"/>
              </a:spcAft>
            </a:pPr>
            <a:r>
              <a:rPr sz="1800" b="0">
                <a:solidFill>
                  <a:srgbClr val="C0392B"/>
                </a:solidFill>
                <a:latin typeface="맑은 고딕"/>
              </a:rPr>
              <a:t>•  Export에서는 마지막에 덤프 파일에 기록되어 Import 시 목차 역할</a:t>
            </a:r>
          </a:p>
          <a:p>
            <a:pPr>
              <a:spcAft>
                <a:spcPts val="600"/>
              </a:spcAft>
            </a:pPr>
            <a:r>
              <a:rPr sz="1800" b="0">
                <a:solidFill>
                  <a:srgbClr val="C0392B"/>
                </a:solidFill>
                <a:latin typeface="맑은 고딕"/>
              </a:rPr>
              <a:t>•  재시작을 가능케 함, 정상 완료 시 자동 삭제(실패 시 잔존 가능)</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MCP와 워커 프로세스</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감독관과 실무자</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마스터 제어 프로세스(DMnn): 작업당 1개, 전체 지휘·자원 관리</a:t>
            </a:r>
          </a:p>
          <a:p>
            <a:pPr>
              <a:spcAft>
                <a:spcPts val="600"/>
              </a:spcAft>
            </a:pPr>
            <a:r>
              <a:rPr sz="1800" b="0">
                <a:solidFill>
                  <a:srgbClr val="C0392B"/>
                </a:solidFill>
                <a:latin typeface="맑은 고딕"/>
              </a:rPr>
              <a:t>•  마스터 테이블·덤프 파일·워커·로그·클라이언트 요청을 총괄</a:t>
            </a:r>
          </a:p>
          <a:p>
            <a:pPr>
              <a:spcAft>
                <a:spcPts val="600"/>
              </a:spcAft>
            </a:pPr>
            <a:r>
              <a:rPr sz="1800" b="0">
                <a:solidFill>
                  <a:srgbClr val="C0392B"/>
                </a:solidFill>
                <a:latin typeface="맑은 고딕"/>
              </a:rPr>
              <a:t>•  워커 프로세스(DWnn): PARALLEL 수만큼, 실제 데이터/메타데이터 처리</a:t>
            </a:r>
          </a:p>
          <a:p>
            <a:pPr>
              <a:spcAft>
                <a:spcPts val="600"/>
              </a:spcAft>
            </a:pPr>
            <a:r>
              <a:rPr sz="1800" b="0">
                <a:solidFill>
                  <a:srgbClr val="C0392B"/>
                </a:solidFill>
                <a:latin typeface="맑은 고딕"/>
              </a:rPr>
              <a:t>•  큰 단일 객체는 워커가 PX 서버(Pnnn)를 동원해 다시 병렬 처리</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작업 흐름과 클라이언트 분리</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Export를 예로</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expdp 실행 → DBMS_DATAPUMP.OPEN → 마스터 테이블·MCP 생성</a:t>
            </a:r>
          </a:p>
          <a:p>
            <a:pPr>
              <a:spcAft>
                <a:spcPts val="600"/>
              </a:spcAft>
            </a:pPr>
            <a:r>
              <a:rPr sz="1800" b="0">
                <a:solidFill>
                  <a:srgbClr val="C0392B"/>
                </a:solidFill>
                <a:latin typeface="맑은 고딕"/>
              </a:rPr>
              <a:t>•  MCP가 객체 목록 산정 → 워커에 배정 → 병렬 언로드 → 덤프 기록</a:t>
            </a:r>
          </a:p>
          <a:p>
            <a:pPr>
              <a:spcAft>
                <a:spcPts val="600"/>
              </a:spcAft>
            </a:pPr>
            <a:r>
              <a:rPr sz="1800" b="0">
                <a:solidFill>
                  <a:srgbClr val="C0392B"/>
                </a:solidFill>
                <a:latin typeface="맑은 고딕"/>
              </a:rPr>
              <a:t>•  완료 시 마스터 테이블을 덤프에 기록 후 종료(Import는 역순)</a:t>
            </a:r>
          </a:p>
          <a:p>
            <a:pPr>
              <a:spcAft>
                <a:spcPts val="600"/>
              </a:spcAft>
            </a:pPr>
            <a:r>
              <a:rPr sz="1800" b="0">
                <a:solidFill>
                  <a:srgbClr val="C0392B"/>
                </a:solidFill>
                <a:latin typeface="맑은 고딕"/>
              </a:rPr>
              <a:t>•  클라이언트는 조종석일 뿐 — 종료해도 서버 작업 계속, ATTACH로 재접속</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25.E</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Data Pump 파일과 디렉터리 객체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덤프·로그·SQL 파일</a:t>
            </a:r>
          </a:p>
          <a:p>
            <a:pPr>
              <a:spcAft>
                <a:spcPts val="400"/>
              </a:spcAft>
            </a:pPr>
            <a:r>
              <a:rPr sz="1600" b="0">
                <a:solidFill>
                  <a:srgbClr val="FFFFFF"/>
                </a:solidFill>
                <a:latin typeface="맑은 고딕"/>
              </a:rPr>
              <a:t>•  DIRECTORY 객체와 권한</a:t>
            </a:r>
          </a:p>
          <a:p>
            <a:pPr>
              <a:spcAft>
                <a:spcPts val="400"/>
              </a:spcAft>
            </a:pPr>
            <a:r>
              <a:rPr sz="1600" b="0">
                <a:solidFill>
                  <a:srgbClr val="FFFFFF"/>
                </a:solidFill>
                <a:latin typeface="맑은 고딕"/>
              </a:rPr>
              <a:t>•  흔한 디렉터리 오류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Data Pump 파일 3종</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덤프 · 로그 · SQL 파일</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덤프 파일(DUMPFILE): 데이터·메타데이터를 담는 바이너리 파일</a:t>
            </a:r>
          </a:p>
          <a:p>
            <a:pPr>
              <a:spcAft>
                <a:spcPts val="600"/>
              </a:spcAft>
            </a:pPr>
            <a:r>
              <a:rPr sz="1800" b="0">
                <a:solidFill>
                  <a:srgbClr val="C0392B"/>
                </a:solidFill>
                <a:latin typeface="맑은 고딕"/>
              </a:rPr>
              <a:t>•  로그 파일(LOGFILE): 진행·경고·오류를 사람이 읽는 텍스트로 기록</a:t>
            </a:r>
          </a:p>
          <a:p>
            <a:pPr>
              <a:spcAft>
                <a:spcPts val="600"/>
              </a:spcAft>
            </a:pPr>
            <a:r>
              <a:rPr sz="1800" b="0">
                <a:solidFill>
                  <a:srgbClr val="C0392B"/>
                </a:solidFill>
                <a:latin typeface="맑은 고딕"/>
              </a:rPr>
              <a:t>•  SQL 파일(SQLFILE): Import 대신 객체 DDL을 스크립트로 추출</a:t>
            </a:r>
          </a:p>
          <a:p>
            <a:pPr>
              <a:spcAft>
                <a:spcPts val="600"/>
              </a:spcAft>
            </a:pPr>
            <a:r>
              <a:rPr sz="1800" b="0">
                <a:solidFill>
                  <a:srgbClr val="C0392B"/>
                </a:solidFill>
                <a:latin typeface="맑은 고딕"/>
              </a:rPr>
              <a:t>•  병렬 시 DUMPFILE=exp%U.dmp 로 여러 파일 분할, FILESIZE로 크기 제한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디렉터리 객체(DIRECTORY)</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CREATE DIRECTORY + 권한</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spAutoFit/>
          </a:bodyPr>
          <a:lstStyle/>
          <a:p>
            <a:pPr>
              <a:spcBef>
                <a:spcPts val="0"/>
              </a:spcBef>
              <a:spcAft>
                <a:spcPts val="0"/>
              </a:spcAft>
            </a:pPr>
            <a:r>
              <a:rPr sz="1250" b="0">
                <a:solidFill>
                  <a:srgbClr val="7EC699"/>
                </a:solidFill>
                <a:latin typeface="Consolas"/>
              </a:rPr>
              <a:t>-- 디렉터리 객체 생성(CREATE ANY DIRECTORY 권한 필요)</a:t>
            </a:r>
          </a:p>
          <a:p>
            <a:pPr>
              <a:spcBef>
                <a:spcPts val="0"/>
              </a:spcBef>
              <a:spcAft>
                <a:spcPts val="0"/>
              </a:spcAft>
            </a:pPr>
            <a:r>
              <a:rPr sz="1250" b="0">
                <a:solidFill>
                  <a:srgbClr val="E6E6E6"/>
                </a:solidFill>
                <a:latin typeface="Consolas"/>
              </a:rPr>
              <a:t>CREATE OR REPLACE DIRECTORY dp_dir AS '/u01/app/oracle/dpdump';</a:t>
            </a:r>
          </a:p>
          <a:p>
            <a:pPr>
              <a:spcBef>
                <a:spcPts val="0"/>
              </a:spcBef>
              <a:spcAft>
                <a:spcPts val="0"/>
              </a:spcAft>
            </a:pPr>
            <a:r>
              <a:rPr sz="1250" b="0">
                <a:solidFill>
                  <a:srgbClr val="E6E6E6"/>
                </a:solidFill>
                <a:latin typeface="Consolas"/>
              </a:rPr>
              <a:t> </a:t>
            </a:r>
          </a:p>
          <a:p>
            <a:pPr>
              <a:spcBef>
                <a:spcPts val="0"/>
              </a:spcBef>
              <a:spcAft>
                <a:spcPts val="0"/>
              </a:spcAft>
            </a:pPr>
            <a:r>
              <a:rPr sz="1250" b="0">
                <a:solidFill>
                  <a:srgbClr val="7EC699"/>
                </a:solidFill>
                <a:latin typeface="Consolas"/>
              </a:rPr>
              <a:t>-- 사용자에게 읽기/쓰기 권한 부여</a:t>
            </a:r>
          </a:p>
          <a:p>
            <a:pPr>
              <a:spcBef>
                <a:spcPts val="0"/>
              </a:spcBef>
              <a:spcAft>
                <a:spcPts val="0"/>
              </a:spcAft>
            </a:pPr>
            <a:r>
              <a:rPr sz="1250" b="0">
                <a:solidFill>
                  <a:srgbClr val="E6E6E6"/>
                </a:solidFill>
                <a:latin typeface="Consolas"/>
              </a:rPr>
              <a:t>GRANT READ, WRITE ON DIRECTORY dp_dir TO hr;</a:t>
            </a:r>
          </a:p>
          <a:p>
            <a:pPr>
              <a:spcBef>
                <a:spcPts val="0"/>
              </a:spcBef>
              <a:spcAft>
                <a:spcPts val="0"/>
              </a:spcAft>
            </a:pPr>
            <a:r>
              <a:rPr sz="1250" b="0">
                <a:solidFill>
                  <a:srgbClr val="E6E6E6"/>
                </a:solidFill>
                <a:latin typeface="Consolas"/>
              </a:rPr>
              <a:t> </a:t>
            </a:r>
          </a:p>
          <a:p>
            <a:pPr>
              <a:spcBef>
                <a:spcPts val="0"/>
              </a:spcBef>
              <a:spcAft>
                <a:spcPts val="0"/>
              </a:spcAft>
            </a:pPr>
            <a:r>
              <a:rPr sz="1250" b="0">
                <a:solidFill>
                  <a:srgbClr val="7EC699"/>
                </a:solidFill>
                <a:latin typeface="Consolas"/>
              </a:rPr>
              <a:t>-- expdp에서 디렉터리 객체 사용</a:t>
            </a:r>
          </a:p>
          <a:p>
            <a:pPr>
              <a:spcBef>
                <a:spcPts val="0"/>
              </a:spcBef>
              <a:spcAft>
                <a:spcPts val="0"/>
              </a:spcAft>
            </a:pPr>
            <a:r>
              <a:rPr sz="1250" b="0">
                <a:solidFill>
                  <a:srgbClr val="E6E6E6"/>
                </a:solidFill>
                <a:latin typeface="Consolas"/>
              </a:rPr>
              <a:t>expdp hr/oracle SCHEMAS=hr DIRECTORY=dp_dir \</a:t>
            </a:r>
          </a:p>
          <a:p>
            <a:pPr>
              <a:spcBef>
                <a:spcPts val="0"/>
              </a:spcBef>
              <a:spcAft>
                <a:spcPts val="0"/>
              </a:spcAft>
            </a:pPr>
            <a:r>
              <a:rPr sz="1250" b="0">
                <a:solidFill>
                  <a:srgbClr val="E6E6E6"/>
                </a:solidFill>
                <a:latin typeface="Consolas"/>
              </a:rPr>
              <a:t>      DUMPFILE=hr.dmp LOGFILE=hr_exp.log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디렉터리 권한과 흔한 오류</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오류 → 원인 → 점검</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기본 디렉터리 DATA_PUMP_DIR 자동 생성(명시 지정 권장)</a:t>
            </a:r>
          </a:p>
          <a:p>
            <a:pPr>
              <a:spcAft>
                <a:spcPts val="600"/>
              </a:spcAft>
            </a:pPr>
            <a:r>
              <a:rPr sz="1800" b="0">
                <a:solidFill>
                  <a:srgbClr val="C0392B"/>
                </a:solidFill>
                <a:latin typeface="맑은 고딕"/>
              </a:rPr>
              <a:t>•  ORA-39002/39070: 디렉터리 객체 없음·이름 오류</a:t>
            </a:r>
          </a:p>
          <a:p>
            <a:pPr>
              <a:spcAft>
                <a:spcPts val="600"/>
              </a:spcAft>
            </a:pPr>
            <a:r>
              <a:rPr sz="1800" b="0">
                <a:solidFill>
                  <a:srgbClr val="C0392B"/>
                </a:solidFill>
                <a:latin typeface="맑은 고딕"/>
              </a:rPr>
              <a:t>•  ORA-39087: 사용자에게 READ/WRITE 권한 없음</a:t>
            </a:r>
          </a:p>
          <a:p>
            <a:pPr>
              <a:spcAft>
                <a:spcPts val="600"/>
              </a:spcAft>
            </a:pPr>
            <a:r>
              <a:rPr sz="1800" b="0">
                <a:solidFill>
                  <a:srgbClr val="C0392B"/>
                </a:solidFill>
                <a:latin typeface="맑은 고딕"/>
              </a:rPr>
              <a:t>•  ORA-39145 계열: OS 계정이 실제 경로에 접근 불가</a:t>
            </a:r>
          </a:p>
          <a:p>
            <a:pPr>
              <a:spcAft>
                <a:spcPts val="600"/>
              </a:spcAft>
            </a:pPr>
            <a:r>
              <a:rPr sz="1800" b="0">
                <a:solidFill>
                  <a:srgbClr val="C0392B"/>
                </a:solidFill>
                <a:latin typeface="맑은 고딕"/>
              </a:rPr>
              <a:t>•  DBA_DIRECTORIES 뷰로 디렉터리 정보 확인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25.F</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Data Pump 접근 방식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다이렉트 패스 vs 외부 테이블</a:t>
            </a:r>
          </a:p>
          <a:p>
            <a:pPr>
              <a:spcAft>
                <a:spcPts val="400"/>
              </a:spcAft>
            </a:pPr>
            <a:r>
              <a:rPr sz="1600" b="0">
                <a:solidFill>
                  <a:srgbClr val="FFFFFF"/>
                </a:solidFill>
                <a:latin typeface="맑은 고딕"/>
              </a:rPr>
              <a:t>•  자동 선택 기준</a:t>
            </a:r>
          </a:p>
          <a:p>
            <a:pPr>
              <a:spcAft>
                <a:spcPts val="400"/>
              </a:spcAft>
            </a:pPr>
            <a:r>
              <a:rPr sz="1600" b="0">
                <a:solidFill>
                  <a:srgbClr val="FFFFFF"/>
                </a:solidFill>
                <a:latin typeface="맑은 고딕"/>
              </a:rPr>
              <a:t>•  덤프 파일 상호 호환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Data Pump 접근 방식</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자동으로 선택되는 두 경로</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다이렉트 패스: SQL 계층 우회, 가장 빠름 — 단순 구조 테이블</a:t>
            </a:r>
          </a:p>
          <a:p>
            <a:pPr>
              <a:spcAft>
                <a:spcPts val="600"/>
              </a:spcAft>
            </a:pPr>
            <a:r>
              <a:rPr sz="1800" b="0">
                <a:solidFill>
                  <a:srgbClr val="C0392B"/>
                </a:solidFill>
                <a:latin typeface="맑은 고딕"/>
              </a:rPr>
              <a:t>•  외부 테이블: SQL 엔진 경유 — 다이렉트 불가 구조 처리</a:t>
            </a:r>
          </a:p>
          <a:p>
            <a:pPr>
              <a:spcAft>
                <a:spcPts val="600"/>
              </a:spcAft>
            </a:pPr>
            <a:r>
              <a:rPr sz="1800" b="0">
                <a:solidFill>
                  <a:srgbClr val="C0392B"/>
                </a:solidFill>
                <a:latin typeface="맑은 고딕"/>
              </a:rPr>
              <a:t>•  전환 사유: 특정 파티션·활성 트리거·일부 LOB/세밀 병렬 등</a:t>
            </a:r>
          </a:p>
          <a:p>
            <a:pPr>
              <a:spcAft>
                <a:spcPts val="600"/>
              </a:spcAft>
            </a:pPr>
            <a:r>
              <a:rPr sz="1800" b="0">
                <a:solidFill>
                  <a:srgbClr val="C0392B"/>
                </a:solidFill>
                <a:latin typeface="맑은 고딕"/>
              </a:rPr>
              <a:t>•  선택은 Data Pump가 자동 결정, 두 방식 덤프 파일은 상호 호환</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25.G</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Data Pump 사용 방법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커맨드라인 · 파라미터 파일</a:t>
            </a:r>
          </a:p>
          <a:p>
            <a:pPr>
              <a:spcAft>
                <a:spcPts val="400"/>
              </a:spcAft>
            </a:pPr>
            <a:r>
              <a:rPr sz="1600" b="0">
                <a:solidFill>
                  <a:srgbClr val="FFFFFF"/>
                </a:solidFill>
                <a:latin typeface="맑은 고딕"/>
              </a:rPr>
              <a:t>•  대화형 명령 인터페이스</a:t>
            </a:r>
          </a:p>
          <a:p>
            <a:pPr>
              <a:spcAft>
                <a:spcPts val="400"/>
              </a:spcAft>
            </a:pPr>
            <a:r>
              <a:rPr sz="1600" b="0">
                <a:solidFill>
                  <a:srgbClr val="FFFFFF"/>
                </a:solidFill>
                <a:latin typeface="맑은 고딕"/>
              </a:rPr>
              <a:t>•  DBMS_DATAPUMP API · 모니터링 뷰</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커맨드라인과 파라미터 파일</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CLI · PARFILE</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spAutoFit/>
          </a:bodyPr>
          <a:lstStyle/>
          <a:p>
            <a:pPr>
              <a:spcBef>
                <a:spcPts val="0"/>
              </a:spcBef>
              <a:spcAft>
                <a:spcPts val="0"/>
              </a:spcAft>
            </a:pPr>
            <a:r>
              <a:rPr sz="1250" b="0">
                <a:solidFill>
                  <a:srgbClr val="7EC699"/>
                </a:solidFill>
                <a:latin typeface="Consolas"/>
              </a:rPr>
              <a:t># 커맨드라인: 간단/일회성 작업</a:t>
            </a:r>
          </a:p>
          <a:p>
            <a:pPr>
              <a:spcBef>
                <a:spcPts val="0"/>
              </a:spcBef>
              <a:spcAft>
                <a:spcPts val="0"/>
              </a:spcAft>
            </a:pPr>
            <a:r>
              <a:rPr sz="1250" b="0">
                <a:solidFill>
                  <a:srgbClr val="E6E6E6"/>
                </a:solidFill>
                <a:latin typeface="Consolas"/>
              </a:rPr>
              <a:t>expdp hr/oracle SCHEMAS=hr DIRECTORY=dp_dir \</a:t>
            </a:r>
          </a:p>
          <a:p>
            <a:pPr>
              <a:spcBef>
                <a:spcPts val="0"/>
              </a:spcBef>
              <a:spcAft>
                <a:spcPts val="0"/>
              </a:spcAft>
            </a:pPr>
            <a:r>
              <a:rPr sz="1250" b="0">
                <a:solidFill>
                  <a:srgbClr val="E6E6E6"/>
                </a:solidFill>
                <a:latin typeface="Consolas"/>
              </a:rPr>
              <a:t>      DUMPFILE=hr.dmp LOGFILE=hr_exp.log</a:t>
            </a:r>
          </a:p>
          <a:p>
            <a:pPr>
              <a:spcBef>
                <a:spcPts val="0"/>
              </a:spcBef>
              <a:spcAft>
                <a:spcPts val="0"/>
              </a:spcAft>
            </a:pPr>
            <a:r>
              <a:rPr sz="1250" b="0">
                <a:solidFill>
                  <a:srgbClr val="E6E6E6"/>
                </a:solidFill>
                <a:latin typeface="Consolas"/>
              </a:rPr>
              <a:t> </a:t>
            </a:r>
          </a:p>
          <a:p>
            <a:pPr>
              <a:spcBef>
                <a:spcPts val="0"/>
              </a:spcBef>
              <a:spcAft>
                <a:spcPts val="0"/>
              </a:spcAft>
            </a:pPr>
            <a:r>
              <a:rPr sz="1250" b="0">
                <a:solidFill>
                  <a:srgbClr val="7EC699"/>
                </a:solidFill>
                <a:latin typeface="Consolas"/>
              </a:rPr>
              <a:t># hr_exp.par (파라미터 파일 내용)</a:t>
            </a:r>
          </a:p>
          <a:p>
            <a:pPr>
              <a:spcBef>
                <a:spcPts val="0"/>
              </a:spcBef>
              <a:spcAft>
                <a:spcPts val="0"/>
              </a:spcAft>
            </a:pPr>
            <a:r>
              <a:rPr sz="1250" b="0">
                <a:solidFill>
                  <a:srgbClr val="E6E6E6"/>
                </a:solidFill>
                <a:latin typeface="Consolas"/>
              </a:rPr>
              <a:t>SCHEMAS=hr</a:t>
            </a:r>
          </a:p>
          <a:p>
            <a:pPr>
              <a:spcBef>
                <a:spcPts val="0"/>
              </a:spcBef>
              <a:spcAft>
                <a:spcPts val="0"/>
              </a:spcAft>
            </a:pPr>
            <a:r>
              <a:rPr sz="1250" b="0">
                <a:solidFill>
                  <a:srgbClr val="E6E6E6"/>
                </a:solidFill>
                <a:latin typeface="Consolas"/>
              </a:rPr>
              <a:t>DIRECTORY=dp_dir</a:t>
            </a:r>
          </a:p>
          <a:p>
            <a:pPr>
              <a:spcBef>
                <a:spcPts val="0"/>
              </a:spcBef>
              <a:spcAft>
                <a:spcPts val="0"/>
              </a:spcAft>
            </a:pPr>
            <a:r>
              <a:rPr sz="1250" b="0">
                <a:solidFill>
                  <a:srgbClr val="E6E6E6"/>
                </a:solidFill>
                <a:latin typeface="Consolas"/>
              </a:rPr>
              <a:t>DUMPFILE=hr.dmp</a:t>
            </a:r>
          </a:p>
          <a:p>
            <a:pPr>
              <a:spcBef>
                <a:spcPts val="0"/>
              </a:spcBef>
              <a:spcAft>
                <a:spcPts val="0"/>
              </a:spcAft>
            </a:pPr>
            <a:r>
              <a:rPr sz="1250" b="0">
                <a:solidFill>
                  <a:srgbClr val="E6E6E6"/>
                </a:solidFill>
                <a:latin typeface="Consolas"/>
              </a:rPr>
              <a:t>EXCLUDE=INDEX</a:t>
            </a:r>
          </a:p>
          <a:p>
            <a:pPr>
              <a:spcBef>
                <a:spcPts val="0"/>
              </a:spcBef>
              <a:spcAft>
                <a:spcPts val="0"/>
              </a:spcAft>
            </a:pPr>
            <a:r>
              <a:rPr sz="1250" b="0">
                <a:solidFill>
                  <a:srgbClr val="E6E6E6"/>
                </a:solidFill>
                <a:latin typeface="Consolas"/>
              </a:rPr>
              <a:t> </a:t>
            </a:r>
          </a:p>
          <a:p>
            <a:pPr>
              <a:spcBef>
                <a:spcPts val="0"/>
              </a:spcBef>
              <a:spcAft>
                <a:spcPts val="0"/>
              </a:spcAft>
            </a:pPr>
            <a:r>
              <a:rPr sz="1250" b="0">
                <a:solidFill>
                  <a:srgbClr val="7EC699"/>
                </a:solidFill>
                <a:latin typeface="Consolas"/>
              </a:rPr>
              <a:t># 파라미터 파일로 실행(셸 이스케이프 회피)</a:t>
            </a:r>
          </a:p>
          <a:p>
            <a:pPr>
              <a:spcBef>
                <a:spcPts val="0"/>
              </a:spcBef>
              <a:spcAft>
                <a:spcPts val="0"/>
              </a:spcAft>
            </a:pPr>
            <a:r>
              <a:rPr sz="1250" b="0">
                <a:solidFill>
                  <a:srgbClr val="E6E6E6"/>
                </a:solidFill>
                <a:latin typeface="Consolas"/>
              </a:rPr>
              <a:t>expdp hr/oracle PARFILE=hr_exp.par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대화형 명령 인터페이스</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실행 중 작업 제어</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Ctrl+C 또는 ATTACH로 Export&gt;/Import&gt; 프롬프트 진입</a:t>
            </a:r>
          </a:p>
          <a:p>
            <a:pPr>
              <a:spcAft>
                <a:spcPts val="600"/>
              </a:spcAft>
            </a:pPr>
            <a:r>
              <a:rPr sz="1800" b="0">
                <a:solidFill>
                  <a:srgbClr val="C0392B"/>
                </a:solidFill>
                <a:latin typeface="맑은 고딕"/>
              </a:rPr>
              <a:t>•  STATUS: 진행 상황 조회 / PARALLEL: 병렬도 실시간 변경</a:t>
            </a:r>
          </a:p>
          <a:p>
            <a:pPr>
              <a:spcAft>
                <a:spcPts val="600"/>
              </a:spcAft>
            </a:pPr>
            <a:r>
              <a:rPr sz="1800" b="0">
                <a:solidFill>
                  <a:srgbClr val="C0392B"/>
                </a:solidFill>
                <a:latin typeface="맑은 고딕"/>
              </a:rPr>
              <a:t>•  STOP_JOB: 안전 일시중지 / START_JOB: 재개 / KILL_JOB: 종료</a:t>
            </a:r>
          </a:p>
          <a:p>
            <a:pPr>
              <a:spcAft>
                <a:spcPts val="600"/>
              </a:spcAft>
            </a:pPr>
            <a:r>
              <a:rPr sz="1800" b="0">
                <a:solidFill>
                  <a:srgbClr val="C0392B"/>
                </a:solidFill>
                <a:latin typeface="맑은 고딕"/>
              </a:rPr>
              <a:t>•  ADD_FILE: 덤프 추가 / CONTINUE_CLIENT: 로그 모드 복귀</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DBMS_DATAPUMP API와 모니터링</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프로그래밍 방식·상태 뷰</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DBMS_DATAPUMP: expdp/impdp가 내부적으로 호출하는 엔진 API</a:t>
            </a:r>
          </a:p>
          <a:p>
            <a:pPr>
              <a:spcAft>
                <a:spcPts val="600"/>
              </a:spcAft>
            </a:pPr>
            <a:r>
              <a:rPr sz="1800" b="0">
                <a:solidFill>
                  <a:srgbClr val="C0392B"/>
                </a:solidFill>
                <a:latin typeface="맑은 고딕"/>
              </a:rPr>
              <a:t>•  OPEN → 파일/필터 구성 → START_JOB, DBMS_METADATA와 함께 사용</a:t>
            </a:r>
          </a:p>
          <a:p>
            <a:pPr>
              <a:spcAft>
                <a:spcPts val="600"/>
              </a:spcAft>
            </a:pPr>
            <a:r>
              <a:rPr sz="1800" b="0">
                <a:solidFill>
                  <a:srgbClr val="C0392B"/>
                </a:solidFill>
                <a:latin typeface="맑은 고딕"/>
              </a:rPr>
              <a:t>•  DBA_DATAPUMP_JOBS: 활성 작업 이름·소유자·유형·상태</a:t>
            </a:r>
          </a:p>
          <a:p>
            <a:pPr>
              <a:spcAft>
                <a:spcPts val="600"/>
              </a:spcAft>
            </a:pPr>
            <a:r>
              <a:rPr sz="1800" b="0">
                <a:solidFill>
                  <a:srgbClr val="C0392B"/>
                </a:solidFill>
                <a:latin typeface="맑은 고딕"/>
              </a:rPr>
              <a:t>•  DBA_DATAPUMP_SESSIONS·V$SESSION_LONGOPS로 세션·진행률 확인</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25.H</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Data Pump Export/Import 모드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전체·스키마·테이블·테이블스페이스</a:t>
            </a:r>
          </a:p>
          <a:p>
            <a:pPr>
              <a:spcAft>
                <a:spcPts val="400"/>
              </a:spcAft>
            </a:pPr>
            <a:r>
              <a:rPr sz="1600" b="0">
                <a:solidFill>
                  <a:srgbClr val="FFFFFF"/>
                </a:solidFill>
                <a:latin typeface="맑은 고딕"/>
              </a:rPr>
              <a:t>•  트랜스포터블 모드</a:t>
            </a:r>
          </a:p>
          <a:p>
            <a:pPr>
              <a:spcAft>
                <a:spcPts val="400"/>
              </a:spcAft>
            </a:pPr>
            <a:r>
              <a:rPr sz="1600" b="0">
                <a:solidFill>
                  <a:srgbClr val="FFFFFF"/>
                </a:solidFill>
                <a:latin typeface="맑은 고딕"/>
              </a:rPr>
              <a:t>•  모드와 권한</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Export/Import 작동 모드</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무엇을 이동 대상으로 삼는가</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전체(FULL=Y): DB 전체, EXP/IMP_FULL_DATABASE 롤 필요</a:t>
            </a:r>
          </a:p>
          <a:p>
            <a:pPr>
              <a:spcAft>
                <a:spcPts val="600"/>
              </a:spcAft>
            </a:pPr>
            <a:r>
              <a:rPr sz="1800" b="0">
                <a:solidFill>
                  <a:srgbClr val="C0392B"/>
                </a:solidFill>
                <a:latin typeface="맑은 고딕"/>
              </a:rPr>
              <a:t>•  스키마(SCHEMAS=): 지정 스키마 전체 — 기본 모드</a:t>
            </a:r>
          </a:p>
          <a:p>
            <a:pPr>
              <a:spcAft>
                <a:spcPts val="600"/>
              </a:spcAft>
            </a:pPr>
            <a:r>
              <a:rPr sz="1800" b="0">
                <a:solidFill>
                  <a:srgbClr val="C0392B"/>
                </a:solidFill>
                <a:latin typeface="맑은 고딕"/>
              </a:rPr>
              <a:t>•  테이블(TABLES=): 지정 테이블과 종속 객체</a:t>
            </a:r>
          </a:p>
          <a:p>
            <a:pPr>
              <a:spcAft>
                <a:spcPts val="600"/>
              </a:spcAft>
            </a:pPr>
            <a:r>
              <a:rPr sz="1800" b="0">
                <a:solidFill>
                  <a:srgbClr val="C0392B"/>
                </a:solidFill>
                <a:latin typeface="맑은 고딕"/>
              </a:rPr>
              <a:t>•  테이블스페이스(TABLESPACES=): 해당 TS의 모든 객체</a:t>
            </a:r>
          </a:p>
          <a:p>
            <a:pPr>
              <a:spcAft>
                <a:spcPts val="600"/>
              </a:spcAft>
            </a:pPr>
            <a:r>
              <a:rPr sz="1800" b="0">
                <a:solidFill>
                  <a:srgbClr val="C0392B"/>
                </a:solidFill>
                <a:latin typeface="맑은 고딕"/>
              </a:rPr>
              <a:t>•  트랜스포터블(TRANSPORT_TABLESPACES=): 메타데이터만 추출</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트랜스포터블 모드와 권한</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메타데이터 + 물리 복사</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트랜스포터블: 메타데이터만 덤프, 데이터 파일은 OS로 별도 복사</a:t>
            </a:r>
          </a:p>
          <a:p>
            <a:pPr>
              <a:spcAft>
                <a:spcPts val="600"/>
              </a:spcAft>
            </a:pPr>
            <a:r>
              <a:rPr sz="1800" b="0">
                <a:solidFill>
                  <a:srgbClr val="C0392B"/>
                </a:solidFill>
                <a:latin typeface="맑은 고딕"/>
              </a:rPr>
              <a:t>•  대용량 초고속 이동, 단 플랫폼 엔디안 다르면 RMAN CONVERT</a:t>
            </a:r>
          </a:p>
          <a:p>
            <a:pPr>
              <a:spcAft>
                <a:spcPts val="600"/>
              </a:spcAft>
            </a:pPr>
            <a:r>
              <a:rPr sz="1800" b="0">
                <a:solidFill>
                  <a:srgbClr val="C0392B"/>
                </a:solidFill>
                <a:latin typeface="맑은 고딕"/>
              </a:rPr>
              <a:t>•  Import 시 TABLE_EXISTS_ACTION·REMAP_*로 대상 맞춤</a:t>
            </a:r>
          </a:p>
          <a:p>
            <a:pPr>
              <a:spcAft>
                <a:spcPts val="600"/>
              </a:spcAft>
            </a:pPr>
            <a:r>
              <a:rPr sz="1800" b="0">
                <a:solidFill>
                  <a:srgbClr val="C0392B"/>
                </a:solidFill>
                <a:latin typeface="맑은 고딕"/>
              </a:rPr>
              <a:t>•  FULL 덤프에서 일부 스키마·테이블만 골라 가져오기 가능(재활용)</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25.I</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SQL*Loader 개요</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외부 텍스트 파일 적재</a:t>
            </a:r>
          </a:p>
          <a:p>
            <a:pPr>
              <a:spcAft>
                <a:spcPts val="400"/>
              </a:spcAft>
            </a:pPr>
            <a:r>
              <a:rPr sz="1600" b="0">
                <a:solidFill>
                  <a:srgbClr val="FFFFFF"/>
                </a:solidFill>
                <a:latin typeface="맑은 고딕"/>
              </a:rPr>
              <a:t>•  컨트롤 파일과 관련 파일</a:t>
            </a:r>
          </a:p>
          <a:p>
            <a:pPr>
              <a:spcAft>
                <a:spcPts val="400"/>
              </a:spcAft>
            </a:pPr>
            <a:r>
              <a:rPr sz="1600" b="0">
                <a:solidFill>
                  <a:srgbClr val="FFFFFF"/>
                </a:solidFill>
                <a:latin typeface="맑은 고딕"/>
              </a:rPr>
              <a:t>•  불량·버림 파일</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SQL*Loader 개요</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외부 텍스트를 테이블로</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외부 파일(CSV·고정폭 등)의 데이터를 오라클 테이블로 적재</a:t>
            </a:r>
          </a:p>
          <a:p>
            <a:pPr>
              <a:spcAft>
                <a:spcPts val="600"/>
              </a:spcAft>
            </a:pPr>
            <a:r>
              <a:rPr sz="1800" b="0">
                <a:solidFill>
                  <a:srgbClr val="C0392B"/>
                </a:solidFill>
                <a:latin typeface="맑은 고딕"/>
              </a:rPr>
              <a:t>•  Data Pump와 역할 분담: 외부→오라클 진입 vs 오라클↔오라클</a:t>
            </a:r>
          </a:p>
          <a:p>
            <a:pPr>
              <a:spcAft>
                <a:spcPts val="600"/>
              </a:spcAft>
            </a:pPr>
            <a:r>
              <a:rPr sz="1800" b="0">
                <a:solidFill>
                  <a:srgbClr val="C0392B"/>
                </a:solidFill>
                <a:latin typeface="맑은 고딕"/>
              </a:rPr>
              <a:t>•  구분자/고정폭/가변길이 등 다양한 입력 형식 처리</a:t>
            </a:r>
          </a:p>
          <a:p>
            <a:pPr>
              <a:spcAft>
                <a:spcPts val="600"/>
              </a:spcAft>
            </a:pPr>
            <a:r>
              <a:rPr sz="1800" b="0">
                <a:solidFill>
                  <a:srgbClr val="C0392B"/>
                </a:solidFill>
                <a:latin typeface="맑은 고딕"/>
              </a:rPr>
              <a:t>•  날짜 변환·NULL 처리·상수/시퀀스 채우기 등 선언적 가공</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SQL*Loader 관련 파일</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컨트롤 파일이 중심</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컨트롤 파일: 입력 위치·대상 테이블·필드 정의·적재 옵션</a:t>
            </a:r>
          </a:p>
          <a:p>
            <a:pPr>
              <a:spcAft>
                <a:spcPts val="600"/>
              </a:spcAft>
            </a:pPr>
            <a:r>
              <a:rPr sz="1800" b="0">
                <a:solidFill>
                  <a:srgbClr val="C0392B"/>
                </a:solidFill>
                <a:latin typeface="맑은 고딕"/>
              </a:rPr>
              <a:t>•  입력 데이터 파일: 실제 적재 데이터(인라인도 가능)</a:t>
            </a:r>
          </a:p>
          <a:p>
            <a:pPr>
              <a:spcAft>
                <a:spcPts val="600"/>
              </a:spcAft>
            </a:pPr>
            <a:r>
              <a:rPr sz="1800" b="0">
                <a:solidFill>
                  <a:srgbClr val="C0392B"/>
                </a:solidFill>
                <a:latin typeface="맑은 고딕"/>
              </a:rPr>
              <a:t>•  로그 파일: 적재 통계·수행 내역·오류 요약</a:t>
            </a:r>
          </a:p>
          <a:p>
            <a:pPr>
              <a:spcAft>
                <a:spcPts val="600"/>
              </a:spcAft>
            </a:pPr>
            <a:r>
              <a:rPr sz="1800" b="0">
                <a:solidFill>
                  <a:srgbClr val="C0392B"/>
                </a:solidFill>
                <a:latin typeface="맑은 고딕"/>
              </a:rPr>
              <a:t>•  불량 파일: 거부된 레코드(타입/제약 위반)</a:t>
            </a:r>
          </a:p>
          <a:p>
            <a:pPr>
              <a:spcAft>
                <a:spcPts val="600"/>
              </a:spcAft>
            </a:pPr>
            <a:r>
              <a:rPr sz="1800" b="0">
                <a:solidFill>
                  <a:srgbClr val="C0392B"/>
                </a:solidFill>
                <a:latin typeface="맑은 고딕"/>
              </a:rPr>
              <a:t>•  버림 파일: WHEN 조건 불일치로 적재 안 한 레코드</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컨트롤 파일과 실행</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employees.ctl</a:t>
            </a:r>
          </a:p>
        </p:txBody>
      </p:sp>
      <p:sp>
        <p:nvSpPr>
          <p:cNvPr id="5" name="Rectangle 4"/>
          <p:cNvSpPr/>
          <p:nvPr/>
        </p:nvSpPr>
        <p:spPr>
          <a:xfrm>
            <a:off x="640080" y="164592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0424160" cy="4389120"/>
          </a:xfrm>
          <a:prstGeom prst="rect">
            <a:avLst/>
          </a:prstGeom>
          <a:noFill/>
        </p:spPr>
        <p:txBody>
          <a:bodyPr wrap="square">
            <a:spAutoFit/>
          </a:bodyPr>
          <a:lstStyle/>
          <a:p>
            <a:pPr>
              <a:spcBef>
                <a:spcPts val="0"/>
              </a:spcBef>
              <a:spcAft>
                <a:spcPts val="0"/>
              </a:spcAft>
            </a:pPr>
            <a:r>
              <a:rPr sz="1250" b="0">
                <a:solidFill>
                  <a:srgbClr val="7EC699"/>
                </a:solidFill>
                <a:latin typeface="Consolas"/>
              </a:rPr>
              <a:t>-- 컨트롤 파일: employees.ctl</a:t>
            </a:r>
          </a:p>
          <a:p>
            <a:pPr>
              <a:spcBef>
                <a:spcPts val="0"/>
              </a:spcBef>
              <a:spcAft>
                <a:spcPts val="0"/>
              </a:spcAft>
            </a:pPr>
            <a:r>
              <a:rPr sz="1250" b="0">
                <a:solidFill>
                  <a:srgbClr val="E6E6E6"/>
                </a:solidFill>
                <a:latin typeface="Consolas"/>
              </a:rPr>
              <a:t>LOAD DATA</a:t>
            </a:r>
          </a:p>
          <a:p>
            <a:pPr>
              <a:spcBef>
                <a:spcPts val="0"/>
              </a:spcBef>
              <a:spcAft>
                <a:spcPts val="0"/>
              </a:spcAft>
            </a:pPr>
            <a:r>
              <a:rPr sz="1250" b="0">
                <a:solidFill>
                  <a:srgbClr val="E6E6E6"/>
                </a:solidFill>
                <a:latin typeface="Consolas"/>
              </a:rPr>
              <a:t>INFILE 'employees.csv'</a:t>
            </a:r>
          </a:p>
          <a:p>
            <a:pPr>
              <a:spcBef>
                <a:spcPts val="0"/>
              </a:spcBef>
              <a:spcAft>
                <a:spcPts val="0"/>
              </a:spcAft>
            </a:pPr>
            <a:r>
              <a:rPr sz="1250" b="0">
                <a:solidFill>
                  <a:srgbClr val="E6E6E6"/>
                </a:solidFill>
                <a:latin typeface="Consolas"/>
              </a:rPr>
              <a:t>BADFILE 'employees.bad'</a:t>
            </a:r>
          </a:p>
          <a:p>
            <a:pPr>
              <a:spcBef>
                <a:spcPts val="0"/>
              </a:spcBef>
              <a:spcAft>
                <a:spcPts val="0"/>
              </a:spcAft>
            </a:pPr>
            <a:r>
              <a:rPr sz="1250" b="0">
                <a:solidFill>
                  <a:srgbClr val="E6E6E6"/>
                </a:solidFill>
                <a:latin typeface="Consolas"/>
              </a:rPr>
              <a:t>DISCARDFILE 'employees.dsc'</a:t>
            </a:r>
          </a:p>
          <a:p>
            <a:pPr>
              <a:spcBef>
                <a:spcPts val="0"/>
              </a:spcBef>
              <a:spcAft>
                <a:spcPts val="0"/>
              </a:spcAft>
            </a:pPr>
            <a:r>
              <a:rPr sz="1250" b="0">
                <a:solidFill>
                  <a:srgbClr val="E6E6E6"/>
                </a:solidFill>
                <a:latin typeface="Consolas"/>
              </a:rPr>
              <a:t>APPEND</a:t>
            </a:r>
          </a:p>
          <a:p>
            <a:pPr>
              <a:spcBef>
                <a:spcPts val="0"/>
              </a:spcBef>
              <a:spcAft>
                <a:spcPts val="0"/>
              </a:spcAft>
            </a:pPr>
            <a:r>
              <a:rPr sz="1250" b="0">
                <a:solidFill>
                  <a:srgbClr val="E6E6E6"/>
                </a:solidFill>
                <a:latin typeface="Consolas"/>
              </a:rPr>
              <a:t>INTO TABLE employees</a:t>
            </a:r>
          </a:p>
          <a:p>
            <a:pPr>
              <a:spcBef>
                <a:spcPts val="0"/>
              </a:spcBef>
              <a:spcAft>
                <a:spcPts val="0"/>
              </a:spcAft>
            </a:pPr>
            <a:r>
              <a:rPr sz="1250" b="0">
                <a:solidFill>
                  <a:srgbClr val="E6E6E6"/>
                </a:solidFill>
                <a:latin typeface="Consolas"/>
              </a:rPr>
              <a:t>FIELDS TERMINATED BY ',' OPTIONALLY ENCLOSED BY '"'</a:t>
            </a:r>
          </a:p>
          <a:p>
            <a:pPr>
              <a:spcBef>
                <a:spcPts val="0"/>
              </a:spcBef>
              <a:spcAft>
                <a:spcPts val="0"/>
              </a:spcAft>
            </a:pPr>
            <a:r>
              <a:rPr sz="1250" b="0">
                <a:solidFill>
                  <a:srgbClr val="E6E6E6"/>
                </a:solidFill>
                <a:latin typeface="Consolas"/>
              </a:rPr>
              <a:t>( employee_id, first_name, last_name, email, salary )</a:t>
            </a:r>
          </a:p>
          <a:p>
            <a:pPr>
              <a:spcBef>
                <a:spcPts val="0"/>
              </a:spcBef>
              <a:spcAft>
                <a:spcPts val="0"/>
              </a:spcAft>
            </a:pPr>
            <a:r>
              <a:rPr sz="1250" b="0">
                <a:solidFill>
                  <a:srgbClr val="E6E6E6"/>
                </a:solidFill>
                <a:latin typeface="Consolas"/>
              </a:rPr>
              <a:t> </a:t>
            </a:r>
          </a:p>
          <a:p>
            <a:pPr>
              <a:spcBef>
                <a:spcPts val="0"/>
              </a:spcBef>
              <a:spcAft>
                <a:spcPts val="0"/>
              </a:spcAft>
            </a:pPr>
            <a:r>
              <a:rPr sz="1250" b="0">
                <a:solidFill>
                  <a:srgbClr val="7EC699"/>
                </a:solidFill>
                <a:latin typeface="Consolas"/>
              </a:rPr>
              <a:t># 실행</a:t>
            </a:r>
          </a:p>
          <a:p>
            <a:pPr>
              <a:spcBef>
                <a:spcPts val="0"/>
              </a:spcBef>
              <a:spcAft>
                <a:spcPts val="0"/>
              </a:spcAft>
            </a:pPr>
            <a:r>
              <a:rPr sz="1250" b="0">
                <a:solidFill>
                  <a:srgbClr val="E6E6E6"/>
                </a:solidFill>
                <a:latin typeface="Consolas"/>
              </a:rPr>
              <a:t>sqlldr hr/oracle CONTROL=employees.ctl LOG=employees.log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r>
              <a:rPr sz="4000" b="1">
                <a:solidFill>
                  <a:srgbClr val="FFFFFF"/>
                </a:solidFill>
                <a:latin typeface="맑은 고딕"/>
              </a:rPr>
              <a:t>25.J</a:t>
            </a:r>
          </a:p>
        </p:txBody>
      </p:sp>
      <p:sp>
        <p:nvSpPr>
          <p:cNvPr id="4" name="TextBox 3"/>
          <p:cNvSpPr txBox="1"/>
          <p:nvPr/>
        </p:nvSpPr>
        <p:spPr>
          <a:xfrm>
            <a:off x="822960" y="3017520"/>
            <a:ext cx="10515600" cy="914400"/>
          </a:xfrm>
          <a:prstGeom prst="rect">
            <a:avLst/>
          </a:prstGeom>
          <a:noFill/>
        </p:spPr>
        <p:txBody>
          <a:bodyPr wrap="square">
            <a:spAutoFit/>
          </a:bodyPr>
          <a:lstStyle/>
          <a:p>
            <a:r>
              <a:rPr sz="2800" b="0">
                <a:solidFill>
                  <a:srgbClr val="FFFFFF"/>
                </a:solidFill>
                <a:latin typeface="맑은 고딕"/>
              </a:rPr>
              <a:t>SQL*Loader 로드 방식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1828800"/>
          </a:xfrm>
          <a:prstGeom prst="rect">
            <a:avLst/>
          </a:prstGeom>
          <a:noFill/>
        </p:spPr>
        <p:txBody>
          <a:bodyPr wrap="square">
            <a:spAutoFit/>
          </a:bodyPr>
          <a:lstStyle/>
          <a:p>
            <a:pPr>
              <a:spcAft>
                <a:spcPts val="400"/>
              </a:spcAft>
            </a:pPr>
            <a:r>
              <a:rPr sz="1600" b="0">
                <a:solidFill>
                  <a:srgbClr val="FFFFFF"/>
                </a:solidFill>
                <a:latin typeface="맑은 고딕"/>
              </a:rPr>
              <a:t>•  전통적 경로(Conventional)</a:t>
            </a:r>
          </a:p>
          <a:p>
            <a:pPr>
              <a:spcAft>
                <a:spcPts val="400"/>
              </a:spcAft>
            </a:pPr>
            <a:r>
              <a:rPr sz="1600" b="0">
                <a:solidFill>
                  <a:srgbClr val="FFFFFF"/>
                </a:solidFill>
                <a:latin typeface="맑은 고딕"/>
              </a:rPr>
              <a:t>•  다이렉트 경로(Direct)</a:t>
            </a:r>
          </a:p>
          <a:p>
            <a:pPr>
              <a:spcAft>
                <a:spcPts val="400"/>
              </a:spcAft>
            </a:pPr>
            <a:r>
              <a:rPr sz="1600" b="0">
                <a:solidFill>
                  <a:srgbClr val="FFFFFF"/>
                </a:solidFill>
                <a:latin typeface="맑은 고딕"/>
              </a:rPr>
              <a:t>•  선택 기준과 옵션</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전통적 vs 다이렉트 경로</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DIRECT 파라미터로 선택</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전통적 경로: SQL 엔진·버퍼 캐시 경유, 일반 INSERT와 동일</a:t>
            </a:r>
          </a:p>
          <a:p>
            <a:pPr>
              <a:spcAft>
                <a:spcPts val="600"/>
              </a:spcAft>
            </a:pPr>
            <a:r>
              <a:rPr sz="1800" b="0">
                <a:solidFill>
                  <a:srgbClr val="C0392B"/>
                </a:solidFill>
                <a:latin typeface="맑은 고딕"/>
              </a:rPr>
              <a:t>•    → 트리거·제약 모두 적용, 동시 DML 가능, 소량에 적합</a:t>
            </a:r>
          </a:p>
          <a:p>
            <a:pPr>
              <a:spcAft>
                <a:spcPts val="600"/>
              </a:spcAft>
            </a:pPr>
            <a:r>
              <a:rPr sz="1800" b="0">
                <a:solidFill>
                  <a:srgbClr val="C0392B"/>
                </a:solidFill>
                <a:latin typeface="맑은 고딕"/>
              </a:rPr>
              <a:t>•  다이렉트 경로(DIRECT=TRUE): SQL/버퍼 캐시 우회, HWM 위 직접 기록</a:t>
            </a:r>
          </a:p>
          <a:p>
            <a:pPr>
              <a:spcAft>
                <a:spcPts val="600"/>
              </a:spcAft>
            </a:pPr>
            <a:r>
              <a:rPr sz="1800" b="0">
                <a:solidFill>
                  <a:srgbClr val="C0392B"/>
                </a:solidFill>
                <a:latin typeface="맑은 고딕"/>
              </a:rPr>
              <a:t>•    → 대용량 고속, 단 트리거 미실행·일부 제약 후검증·테이블 잠금</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로드 방식 선택과 옵션</a:t>
            </a:r>
          </a:p>
        </p:txBody>
      </p:sp>
      <p:sp>
        <p:nvSpPr>
          <p:cNvPr id="4" name="TextBox 3"/>
          <p:cNvSpPr txBox="1"/>
          <p:nvPr/>
        </p:nvSpPr>
        <p:spPr>
          <a:xfrm>
            <a:off x="640080" y="1097280"/>
            <a:ext cx="10881360" cy="457200"/>
          </a:xfrm>
          <a:prstGeom prst="rect">
            <a:avLst/>
          </a:prstGeom>
          <a:noFill/>
        </p:spPr>
        <p:txBody>
          <a:bodyPr wrap="square">
            <a:spAutoFit/>
          </a:bodyPr>
          <a:lstStyle/>
          <a:p>
            <a:r>
              <a:rPr sz="1500" b="0">
                <a:solidFill>
                  <a:srgbClr val="5A6672"/>
                </a:solidFill>
                <a:latin typeface="맑은 고딕"/>
              </a:rPr>
              <a:t>성능·안전성의 균형</a:t>
            </a:r>
          </a:p>
        </p:txBody>
      </p:sp>
      <p:sp>
        <p:nvSpPr>
          <p:cNvPr id="5" name="TextBox 4"/>
          <p:cNvSpPr txBox="1"/>
          <p:nvPr/>
        </p:nvSpPr>
        <p:spPr>
          <a:xfrm>
            <a:off x="640080" y="1737360"/>
            <a:ext cx="10881360" cy="4572000"/>
          </a:xfrm>
          <a:prstGeom prst="rect">
            <a:avLst/>
          </a:prstGeom>
          <a:noFill/>
        </p:spPr>
        <p:txBody>
          <a:bodyPr wrap="square">
            <a:spAutoFit/>
          </a:bodyPr>
          <a:lstStyle/>
          <a:p>
            <a:pPr>
              <a:spcAft>
                <a:spcPts val="600"/>
              </a:spcAft>
            </a:pPr>
            <a:r>
              <a:rPr sz="1800" b="0">
                <a:solidFill>
                  <a:srgbClr val="C0392B"/>
                </a:solidFill>
                <a:latin typeface="맑은 고딕"/>
              </a:rPr>
              <a:t>•  대량 초기 적재·스테이징 → 다이렉트 경로</a:t>
            </a:r>
          </a:p>
          <a:p>
            <a:pPr>
              <a:spcAft>
                <a:spcPts val="600"/>
              </a:spcAft>
            </a:pPr>
            <a:r>
              <a:rPr sz="1800" b="0">
                <a:solidFill>
                  <a:srgbClr val="C0392B"/>
                </a:solidFill>
                <a:latin typeface="맑은 고딕"/>
              </a:rPr>
              <a:t>•  비즈니스 로직(트리거·복잡 제약) 필요·소량 → 전통적 경로</a:t>
            </a:r>
          </a:p>
          <a:p>
            <a:pPr>
              <a:spcAft>
                <a:spcPts val="600"/>
              </a:spcAft>
            </a:pPr>
            <a:r>
              <a:rPr sz="1800" b="0">
                <a:solidFill>
                  <a:srgbClr val="C0392B"/>
                </a:solidFill>
                <a:latin typeface="맑은 고딕"/>
              </a:rPr>
              <a:t>•  ROWS·BINDSIZE·READSIZE로 커밋 단위/버퍼 조절</a:t>
            </a:r>
          </a:p>
          <a:p>
            <a:pPr>
              <a:spcAft>
                <a:spcPts val="600"/>
              </a:spcAft>
            </a:pPr>
            <a:r>
              <a:rPr sz="1800" b="0">
                <a:solidFill>
                  <a:srgbClr val="C0392B"/>
                </a:solidFill>
                <a:latin typeface="맑은 고딕"/>
              </a:rPr>
              <a:t>•  다이렉트+NOLOGGING은 빠르나 미디어 복구 불가 → 적재 후 백업 필수</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퀴즈 (Quiz) 1</a:t>
            </a:r>
          </a:p>
        </p:txBody>
      </p:sp>
      <p:sp>
        <p:nvSpPr>
          <p:cNvPr id="4" name="TextBox 3"/>
          <p:cNvSpPr txBox="1"/>
          <p:nvPr/>
        </p:nvSpPr>
        <p:spPr>
          <a:xfrm>
            <a:off x="640080" y="1554480"/>
            <a:ext cx="10881360" cy="4754880"/>
          </a:xfrm>
          <a:prstGeom prst="rect">
            <a:avLst/>
          </a:prstGeom>
          <a:noFill/>
        </p:spPr>
        <p:txBody>
          <a:bodyPr wrap="square">
            <a:spAutoFit/>
          </a:bodyPr>
          <a:lstStyle/>
          <a:p>
            <a:pPr>
              <a:spcAft>
                <a:spcPts val="400"/>
              </a:spcAft>
            </a:pPr>
            <a:r>
              <a:rPr sz="1800" b="0">
                <a:solidFill>
                  <a:srgbClr val="7030A0"/>
                </a:solidFill>
                <a:latin typeface="맑은 고딕"/>
              </a:rPr>
              <a:t>Q1. Data Pump가 전통적 exp/imp 대비 갖는 이점이 아닌 것은?</a:t>
            </a:r>
          </a:p>
          <a:p>
            <a:pPr>
              <a:spcAft>
                <a:spcPts val="400"/>
              </a:spcAft>
            </a:pPr>
            <a:r>
              <a:rPr sz="1800" b="0">
                <a:solidFill>
                  <a:srgbClr val="7030A0"/>
                </a:solidFill>
                <a:latin typeface="맑은 고딕"/>
              </a:rPr>
              <a:t>  ① 병렬 처리(PARALLEL)   ② 중단 작업 재시작</a:t>
            </a:r>
          </a:p>
          <a:p>
            <a:pPr>
              <a:spcAft>
                <a:spcPts val="400"/>
              </a:spcAft>
            </a:pPr>
            <a:r>
              <a:rPr sz="1800" b="0">
                <a:solidFill>
                  <a:srgbClr val="7030A0"/>
                </a:solidFill>
                <a:latin typeface="맑은 고딕"/>
              </a:rPr>
              <a:t>  ③ 네트워크 모드(NETWORK_LINK)   ④ 클라이언트 파일에 직접 쓰기</a:t>
            </a:r>
          </a:p>
          <a:p>
            <a:pPr>
              <a:spcAft>
                <a:spcPts val="400"/>
              </a:spcAft>
            </a:pPr>
            <a:r>
              <a:rPr sz="1800" b="0">
                <a:solidFill>
                  <a:srgbClr val="7030A0"/>
                </a:solidFill>
                <a:latin typeface="맑은 고딕"/>
              </a:rPr>
              <a:t>정답: ④  (작업은 서버가 수행, 디렉터리 객체로 서버에 파일 생성)</a:t>
            </a:r>
          </a:p>
          <a:p>
            <a:pPr>
              <a:spcAft>
                <a:spcPts val="400"/>
              </a:spcAft>
            </a:pPr>
            <a:r>
              <a:rPr sz="1800" b="0">
                <a:solidFill>
                  <a:srgbClr val="7030A0"/>
                </a:solidFill>
                <a:latin typeface="맑은 고딕"/>
              </a:rPr>
              <a:t> </a:t>
            </a:r>
          </a:p>
          <a:p>
            <a:pPr>
              <a:spcAft>
                <a:spcPts val="400"/>
              </a:spcAft>
            </a:pPr>
            <a:r>
              <a:rPr sz="1800" b="0">
                <a:solidFill>
                  <a:srgbClr val="7030A0"/>
                </a:solidFill>
                <a:latin typeface="맑은 고딕"/>
              </a:rPr>
              <a:t>Q2. 작업 상태·객체 목록을 담아 재시작을 가능케 하는 것은?</a:t>
            </a:r>
          </a:p>
          <a:p>
            <a:pPr>
              <a:spcAft>
                <a:spcPts val="400"/>
              </a:spcAft>
            </a:pPr>
            <a:r>
              <a:rPr sz="1800" b="0">
                <a:solidFill>
                  <a:srgbClr val="7030A0"/>
                </a:solidFill>
                <a:latin typeface="맑은 고딕"/>
              </a:rPr>
              <a:t>  ① 로그 파일   ② 마스터 테이블</a:t>
            </a:r>
          </a:p>
          <a:p>
            <a:pPr>
              <a:spcAft>
                <a:spcPts val="400"/>
              </a:spcAft>
            </a:pPr>
            <a:r>
              <a:rPr sz="1800" b="0">
                <a:solidFill>
                  <a:srgbClr val="7030A0"/>
                </a:solidFill>
                <a:latin typeface="맑은 고딕"/>
              </a:rPr>
              <a:t>  ③ SQL 파일   ④ 컨트롤 파일</a:t>
            </a:r>
          </a:p>
          <a:p>
            <a:pPr>
              <a:spcAft>
                <a:spcPts val="400"/>
              </a:spcAft>
            </a:pPr>
            <a:r>
              <a:rPr sz="1800" b="0">
                <a:solidFill>
                  <a:srgbClr val="7030A0"/>
                </a:solidFill>
                <a:latin typeface="맑은 고딕"/>
              </a:rPr>
              <a:t>정답: ②  (작업 스키마에 생성, 완료 시 자동 삭제)</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퀴즈 (Quiz) 2</a:t>
            </a:r>
          </a:p>
        </p:txBody>
      </p:sp>
      <p:sp>
        <p:nvSpPr>
          <p:cNvPr id="4" name="TextBox 3"/>
          <p:cNvSpPr txBox="1"/>
          <p:nvPr/>
        </p:nvSpPr>
        <p:spPr>
          <a:xfrm>
            <a:off x="640080" y="1554480"/>
            <a:ext cx="10881360" cy="4754880"/>
          </a:xfrm>
          <a:prstGeom prst="rect">
            <a:avLst/>
          </a:prstGeom>
          <a:noFill/>
        </p:spPr>
        <p:txBody>
          <a:bodyPr wrap="square">
            <a:spAutoFit/>
          </a:bodyPr>
          <a:lstStyle/>
          <a:p>
            <a:pPr>
              <a:spcAft>
                <a:spcPts val="400"/>
              </a:spcAft>
            </a:pPr>
            <a:r>
              <a:rPr sz="1800" b="0">
                <a:solidFill>
                  <a:srgbClr val="7030A0"/>
                </a:solidFill>
                <a:latin typeface="맑은 고딕"/>
              </a:rPr>
              <a:t>Q3. Data Pump가 서버 OS 파일에 접근할 때 반드시 거치는 것은?</a:t>
            </a:r>
          </a:p>
          <a:p>
            <a:pPr>
              <a:spcAft>
                <a:spcPts val="400"/>
              </a:spcAft>
            </a:pPr>
            <a:r>
              <a:rPr sz="1800" b="0">
                <a:solidFill>
                  <a:srgbClr val="7030A0"/>
                </a:solidFill>
                <a:latin typeface="맑은 고딕"/>
              </a:rPr>
              <a:t>  ① 데이터베이스 링크   ② 디렉터리 객체(DIRECTORY)</a:t>
            </a:r>
          </a:p>
          <a:p>
            <a:pPr>
              <a:spcAft>
                <a:spcPts val="400"/>
              </a:spcAft>
            </a:pPr>
            <a:r>
              <a:rPr sz="1800" b="0">
                <a:solidFill>
                  <a:srgbClr val="7030A0"/>
                </a:solidFill>
                <a:latin typeface="맑은 고딕"/>
              </a:rPr>
              <a:t>  ③ 리스너   ④ 스냅샷</a:t>
            </a:r>
          </a:p>
          <a:p>
            <a:pPr>
              <a:spcAft>
                <a:spcPts val="400"/>
              </a:spcAft>
            </a:pPr>
            <a:r>
              <a:rPr sz="1800" b="0">
                <a:solidFill>
                  <a:srgbClr val="7030A0"/>
                </a:solidFill>
                <a:latin typeface="맑은 고딕"/>
              </a:rPr>
              <a:t>정답: ②  (CREATE DIRECTORY로 만들고 READ/WRITE로 통제)</a:t>
            </a:r>
          </a:p>
          <a:p>
            <a:pPr>
              <a:spcAft>
                <a:spcPts val="400"/>
              </a:spcAft>
            </a:pPr>
            <a:r>
              <a:rPr sz="1800" b="0">
                <a:solidFill>
                  <a:srgbClr val="7030A0"/>
                </a:solidFill>
                <a:latin typeface="맑은 고딕"/>
              </a:rPr>
              <a:t> </a:t>
            </a:r>
          </a:p>
          <a:p>
            <a:pPr>
              <a:spcAft>
                <a:spcPts val="400"/>
              </a:spcAft>
            </a:pPr>
            <a:r>
              <a:rPr sz="1800" b="0">
                <a:solidFill>
                  <a:srgbClr val="7030A0"/>
                </a:solidFill>
                <a:latin typeface="맑은 고딕"/>
              </a:rPr>
              <a:t>Q4. SQL*Loader에서 적재 방법을 기술하는 파일은?</a:t>
            </a:r>
          </a:p>
          <a:p>
            <a:pPr>
              <a:spcAft>
                <a:spcPts val="400"/>
              </a:spcAft>
            </a:pPr>
            <a:r>
              <a:rPr sz="1800" b="0">
                <a:solidFill>
                  <a:srgbClr val="7030A0"/>
                </a:solidFill>
                <a:latin typeface="맑은 고딕"/>
              </a:rPr>
              <a:t>  ① 불량 파일   ② 버림 파일</a:t>
            </a:r>
          </a:p>
          <a:p>
            <a:pPr>
              <a:spcAft>
                <a:spcPts val="400"/>
              </a:spcAft>
            </a:pPr>
            <a:r>
              <a:rPr sz="1800" b="0">
                <a:solidFill>
                  <a:srgbClr val="7030A0"/>
                </a:solidFill>
                <a:latin typeface="맑은 고딕"/>
              </a:rPr>
              <a:t>  ③ 컨트롤 파일   ④ 로그 파일</a:t>
            </a:r>
          </a:p>
          <a:p>
            <a:pPr>
              <a:spcAft>
                <a:spcPts val="400"/>
              </a:spcAft>
            </a:pPr>
            <a:r>
              <a:rPr sz="1800" b="0">
                <a:solidFill>
                  <a:srgbClr val="7030A0"/>
                </a:solidFill>
                <a:latin typeface="맑은 고딕"/>
              </a:rPr>
              <a:t>정답: ③</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퀴즈 (Quiz) 3</a:t>
            </a:r>
          </a:p>
        </p:txBody>
      </p:sp>
      <p:sp>
        <p:nvSpPr>
          <p:cNvPr id="4" name="TextBox 3"/>
          <p:cNvSpPr txBox="1"/>
          <p:nvPr/>
        </p:nvSpPr>
        <p:spPr>
          <a:xfrm>
            <a:off x="640080" y="1554480"/>
            <a:ext cx="10881360" cy="4754880"/>
          </a:xfrm>
          <a:prstGeom prst="rect">
            <a:avLst/>
          </a:prstGeom>
          <a:noFill/>
        </p:spPr>
        <p:txBody>
          <a:bodyPr wrap="square">
            <a:spAutoFit/>
          </a:bodyPr>
          <a:lstStyle/>
          <a:p>
            <a:pPr>
              <a:spcAft>
                <a:spcPts val="400"/>
              </a:spcAft>
            </a:pPr>
            <a:r>
              <a:rPr sz="1800" b="0">
                <a:solidFill>
                  <a:srgbClr val="7030A0"/>
                </a:solidFill>
                <a:latin typeface="맑은 고딕"/>
              </a:rPr>
              <a:t>Q5. 다이렉트 경로 로드(DIRECT=TRUE) 설명으로 옳은 것은?</a:t>
            </a:r>
          </a:p>
          <a:p>
            <a:pPr>
              <a:spcAft>
                <a:spcPts val="400"/>
              </a:spcAft>
            </a:pPr>
            <a:r>
              <a:rPr sz="1800" b="0">
                <a:solidFill>
                  <a:srgbClr val="7030A0"/>
                </a:solidFill>
                <a:latin typeface="맑은 고딕"/>
              </a:rPr>
              <a:t>  ① INSERT 트리거가 항상 실행된다</a:t>
            </a:r>
          </a:p>
          <a:p>
            <a:pPr>
              <a:spcAft>
                <a:spcPts val="400"/>
              </a:spcAft>
            </a:pPr>
            <a:r>
              <a:rPr sz="1800" b="0">
                <a:solidFill>
                  <a:srgbClr val="7030A0"/>
                </a:solidFill>
                <a:latin typeface="맑은 고딕"/>
              </a:rPr>
              <a:t>  ② 버퍼 캐시를 우회해 HWM 위에 직접 기록하여 빠르다</a:t>
            </a:r>
          </a:p>
          <a:p>
            <a:pPr>
              <a:spcAft>
                <a:spcPts val="400"/>
              </a:spcAft>
            </a:pPr>
            <a:r>
              <a:rPr sz="1800" b="0">
                <a:solidFill>
                  <a:srgbClr val="7030A0"/>
                </a:solidFill>
                <a:latin typeface="맑은 고딕"/>
              </a:rPr>
              <a:t>  ③ 전통적 경로보다 항상 느리다   ④ 제약 검증이 전혀 없다</a:t>
            </a:r>
          </a:p>
          <a:p>
            <a:pPr>
              <a:spcAft>
                <a:spcPts val="400"/>
              </a:spcAft>
            </a:pPr>
            <a:r>
              <a:rPr sz="1800" b="0">
                <a:solidFill>
                  <a:srgbClr val="7030A0"/>
                </a:solidFill>
                <a:latin typeface="맑은 고딕"/>
              </a:rPr>
              <a:t>정답: ②  (트리거 미실행, 일부 제약은 이후 재검증)</a:t>
            </a:r>
          </a:p>
          <a:p>
            <a:pPr>
              <a:spcAft>
                <a:spcPts val="400"/>
              </a:spcAft>
            </a:pPr>
            <a:r>
              <a:rPr sz="1800" b="0">
                <a:solidFill>
                  <a:srgbClr val="7030A0"/>
                </a:solidFill>
                <a:latin typeface="맑은 고딕"/>
              </a:rPr>
              <a:t> </a:t>
            </a:r>
          </a:p>
          <a:p>
            <a:pPr>
              <a:spcAft>
                <a:spcPts val="400"/>
              </a:spcAft>
            </a:pPr>
            <a:r>
              <a:rPr sz="1800" b="0">
                <a:solidFill>
                  <a:srgbClr val="7030A0"/>
                </a:solidFill>
                <a:latin typeface="맑은 고딕"/>
              </a:rPr>
              <a:t>Q6. 모드와 파라미터 연결이 옳지 않은 것은?</a:t>
            </a:r>
          </a:p>
          <a:p>
            <a:pPr>
              <a:spcAft>
                <a:spcPts val="400"/>
              </a:spcAft>
            </a:pPr>
            <a:r>
              <a:rPr sz="1800" b="0">
                <a:solidFill>
                  <a:srgbClr val="7030A0"/>
                </a:solidFill>
                <a:latin typeface="맑은 고딕"/>
              </a:rPr>
              <a:t>  ① 전체—FULL=Y   ② 스키마—SCHEMAS=</a:t>
            </a:r>
          </a:p>
          <a:p>
            <a:pPr>
              <a:spcAft>
                <a:spcPts val="400"/>
              </a:spcAft>
            </a:pPr>
            <a:r>
              <a:rPr sz="1800" b="0">
                <a:solidFill>
                  <a:srgbClr val="7030A0"/>
                </a:solidFill>
                <a:latin typeface="맑은 고딕"/>
              </a:rPr>
              <a:t>  ③ 테이블—TABLES=   ④ 트랜스포터블—DIRECT=TRUE</a:t>
            </a:r>
          </a:p>
          <a:p>
            <a:pPr>
              <a:spcAft>
                <a:spcPts val="400"/>
              </a:spcAft>
            </a:pPr>
            <a:r>
              <a:rPr sz="1800" b="0">
                <a:solidFill>
                  <a:srgbClr val="7030A0"/>
                </a:solidFill>
                <a:latin typeface="맑은 고딕"/>
              </a:rPr>
              <a:t>정답: ④  (트랜스포터블은 TRANSPORT_TABLESPACES=)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요약 (Summary)</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600"/>
              </a:spcAft>
            </a:pPr>
            <a:r>
              <a:rPr sz="1600" b="0">
                <a:solidFill>
                  <a:srgbClr val="C0392B"/>
                </a:solidFill>
                <a:latin typeface="맑은 고딕"/>
              </a:rPr>
              <a:t>•  데이터 이동은 적재·추출·전송을 포괄, 목적별 도구(Data Pump·SQL*Loader·외부 테이블·DB 링크·TTS)</a:t>
            </a:r>
          </a:p>
          <a:p>
            <a:pPr>
              <a:spcAft>
                <a:spcPts val="600"/>
              </a:spcAft>
            </a:pPr>
            <a:r>
              <a:rPr sz="1600" b="0">
                <a:solidFill>
                  <a:srgbClr val="C0392B"/>
                </a:solidFill>
                <a:latin typeface="맑은 고딕"/>
              </a:rPr>
              <a:t>•  아키텍처는 다이렉트 패스·외부 테이블 액세스와 DBMS_DATAPUMP·DBMS_METADATA API를 공유</a:t>
            </a:r>
          </a:p>
          <a:p>
            <a:pPr>
              <a:spcAft>
                <a:spcPts val="600"/>
              </a:spcAft>
            </a:pPr>
            <a:r>
              <a:rPr sz="1600" b="0">
                <a:solidFill>
                  <a:srgbClr val="C0392B"/>
                </a:solidFill>
                <a:latin typeface="맑은 고딕"/>
              </a:rPr>
              <a:t>•  Data Pump는 서버 기반 — 병렬·재시작·필터링·네트워크 모드·모니터링·변환에서 exp/imp보다 우수</a:t>
            </a:r>
          </a:p>
          <a:p>
            <a:pPr>
              <a:spcAft>
                <a:spcPts val="600"/>
              </a:spcAft>
            </a:pPr>
            <a:r>
              <a:rPr sz="1600" b="0">
                <a:solidFill>
                  <a:srgbClr val="C0392B"/>
                </a:solidFill>
                <a:latin typeface="맑은 고딕"/>
              </a:rPr>
              <a:t>•  중심은 마스터 테이블, MCP가 총괄하고 워커가 병렬 처리, 파일 접근은 디렉터리 객체로</a:t>
            </a:r>
          </a:p>
          <a:p>
            <a:pPr>
              <a:spcAft>
                <a:spcPts val="600"/>
              </a:spcAft>
            </a:pPr>
            <a:r>
              <a:rPr sz="1600" b="0">
                <a:solidFill>
                  <a:srgbClr val="C0392B"/>
                </a:solidFill>
                <a:latin typeface="맑은 고딕"/>
              </a:rPr>
              <a:t>•  사용 방법: 커맨드라인·PARFILE·대화형·API / 모드: 전체·스키마·테이블·테이블스페이스·트랜스포터블</a:t>
            </a:r>
          </a:p>
          <a:p>
            <a:pPr>
              <a:spcAft>
                <a:spcPts val="600"/>
              </a:spcAft>
            </a:pPr>
            <a:r>
              <a:rPr sz="1600" b="0">
                <a:solidFill>
                  <a:srgbClr val="C0392B"/>
                </a:solidFill>
                <a:latin typeface="맑은 고딕"/>
              </a:rPr>
              <a:t>•  SQL*Loader는 외부 텍스트를 컨트롤 파일 정의로 적재, 전통적 경로(안전)와 다이렉트 경로(고속)</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31520"/>
          </a:xfrm>
          <a:prstGeom prst="rect">
            <a:avLst/>
          </a:prstGeom>
          <a:noFill/>
        </p:spPr>
        <p:txBody>
          <a:bodyPr wrap="square">
            <a:spAutoFit/>
          </a:bodyPr>
          <a:lstStyle/>
          <a:p>
            <a:r>
              <a:rPr sz="2600" b="1">
                <a:solidFill>
                  <a:srgbClr val="FFFFFF"/>
                </a:solidFill>
                <a:latin typeface="맑은 고딕"/>
              </a:rPr>
              <a:t>실습 25 개요</a:t>
            </a:r>
          </a:p>
        </p:txBody>
      </p:sp>
      <p:sp>
        <p:nvSpPr>
          <p:cNvPr id="4" name="TextBox 3"/>
          <p:cNvSpPr txBox="1"/>
          <p:nvPr/>
        </p:nvSpPr>
        <p:spPr>
          <a:xfrm>
            <a:off x="640080" y="1463040"/>
            <a:ext cx="10881360" cy="4937760"/>
          </a:xfrm>
          <a:prstGeom prst="rect">
            <a:avLst/>
          </a:prstGeom>
          <a:noFill/>
        </p:spPr>
        <p:txBody>
          <a:bodyPr wrap="square">
            <a:spAutoFit/>
          </a:bodyPr>
          <a:lstStyle/>
          <a:p>
            <a:pPr>
              <a:spcAft>
                <a:spcPts val="600"/>
              </a:spcAft>
            </a:pPr>
            <a:r>
              <a:rPr sz="1800" b="0">
                <a:solidFill>
                  <a:srgbClr val="C0392B"/>
                </a:solidFill>
                <a:latin typeface="맑은 고딕"/>
              </a:rPr>
              <a:t>•  실습 01 — 데이터 이동 아키텍처 개요 확인(도구 지형도·디렉터리·딕셔너리 뷰)</a:t>
            </a:r>
          </a:p>
          <a:p>
            <a:pPr>
              <a:spcAft>
                <a:spcPts val="600"/>
              </a:spcAft>
            </a:pPr>
            <a:r>
              <a:rPr sz="1800" b="0">
                <a:solidFill>
                  <a:srgbClr val="C0392B"/>
                </a:solidFill>
                <a:latin typeface="맑은 고딕"/>
              </a:rPr>
              <a:t>•  실습 02 — Oracle Data Pump 개요 및 이점 확인(디렉터리 생성·expdp·권한 오류·작업 뷰)</a:t>
            </a:r>
          </a:p>
          <a:p>
            <a:pPr>
              <a:spcAft>
                <a:spcPts val="600"/>
              </a:spcAft>
            </a:pPr>
            <a:r>
              <a:rPr sz="1800" b="0">
                <a:solidFill>
                  <a:srgbClr val="C0392B"/>
                </a:solidFill>
                <a:latin typeface="맑은 고딕"/>
              </a:rPr>
              <a:t>•  실습 03 — SQL*Loader 개요 확인(컨트롤 파일·전통적/다이렉트 경로·불량 파일)</a:t>
            </a:r>
          </a:p>
          <a:p>
            <a:pPr>
              <a:spcAft>
                <a:spcPts val="600"/>
              </a:spcAft>
            </a:pPr>
            <a:r>
              <a:rPr sz="1800" b="0">
                <a:solidFill>
                  <a:srgbClr val="C0392B"/>
                </a:solidFill>
                <a:latin typeface="맑은 고딕"/>
              </a:rPr>
              <a:t>•  각 실습은 오류 발생 → 원인 파악 → 수정 흐름을 포함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
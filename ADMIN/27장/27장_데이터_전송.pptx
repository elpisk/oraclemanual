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Pump는 25장에서 개요를 다룬 오라클↔오라클 데이터 이동의 표준 인프라다. 핵심은 처리 주체가 클라이언트가 아니라 서버 프로세스라는 점이다. DBMS_DATAPUMP API를 통해 서버가 직접 덤프파일을 읽고 쓰기 때문에, 클라이언트를 거치는 구식 exp/imp에 비해 네트워크 왕복이 없어 훨씬 빠르고, 병렬 처리·작업 재시작·객체 필터링·네트워크 직접 전송 같은 고급 기능을 제공한다. 사용자가 다루는 도구는 내보내기용 expdp와 가져오기용 impdp 두 가지이며, 이 둘이 이 장 전체의 출발점이 된다. 덤프파일은 오라클 고유의 이진 형식이라 impdp로만 해석할 수 있다는 점도 기억해야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Pump가 만들고 읽는 파일은 반드시 데이터베이스 서버의 디스크에 놓인다. sqlplus를 실행하는 클라이언트 PC가 아니라, 오라클 인스턴스가 동작하는 서버의 파일 시스템이라는 점이 초보자가 가장 자주 혼동하는 부분이다. 그래서 파일 위치는 OS 경로 문자열을 직접 쓰는 대신 디렉터리 객체라는 논리 이름으로 지정한다. 디렉터리 객체는 서버의 물리 경로에 대한 별칭이며, 이를 통해 오라클은 서버 프로세스가 접근할 수 있는 위치를 제한하고 READ/WRITE 권한을 부여·회수한다. 멀티테넌트에서는 디렉터리 객체가 컨테이너에 종속되므로, 특정 PDB의 데이터를 내보내려면 그 PDB에 접속한 상태에서 디렉터리 객체를 생성해야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Data Pump의 가장 기본적인 두 단계를 보여준다. 먼저 SQL*Plus에서 CREATE DIRECTORY로 서버의 물리 경로에 대한 논리 이름 dp_dir을 만들고, GRANT READ, WRITE로 hr 사용자가 그 위치에 접근할 수 있게 한다. 다음으로 OS 셸에서 expdp를 실행한다. SCHEMAS=hr는 HR 스키마 전체를 대상으로 삼는 스키마 모드를 뜻하고, DIRECTORY는 앞서 만든 디렉터리 객체, DUMPFILE은 생성될 덤프파일 이름, LOGFILE은 처리 과정을 기록할 로그 이름이다. 로그 파일에는 처리된 객체 유형, 내보낸 행 수, 발생한 경고와 오류가 순서대로 남으므로 작업 검증의 1차 자료가 된다. 내보내기 중에는 작업 메타데이터와 진행 상태를 담는 마스터 테이블이 자동 생성되며, 정상 종료 시 삭제되고 중단 시 남아 ATTACH로 재개할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Pump의 동작 범위는 모드 파라미터로 결정된다. FULL=Y는 데이터베이스 전체, SCHEMAS는 하나 이상의 스키마, TABLES는 특정 테이블, TABLESPACES는 테이블스페이스에 속한 객체, TRANSPORT_TABLESPACES는 트랜스포터블 테이블스페이스 메타데이터를 대상으로 한다. 여기에 CONTENT로 메타데이터만·데이터만·전부 중 무엇을 담을지 정하고, INCLUDE/EXCLUDE로 객체 유형을 필터링하며, QUERY로 행을 걸러내고, PARALLEL로 병렬도를 높인다. 장시간 작업 중 Ctrl+C를 누르면 작업이 중단되지 않고 대화형 명령 모드로 진입해 STATUS로 진행을 보거나 PARALLEL을 즉석 조정하고 STOP_JOB으로 멈췄다가 ATTACH 후 START_JOB으로 재개할 수 있다. 자기 스키마를 넘어 다른 스키마나 FULL 모드를 다루려면 DATAPUMP_EXP_FULL_DATABASE, DATAPUMP_IMP_FULL_DATABASE 롤이 필요하며, 이 롤은 강력하므로 전용 관리 계정에만 부여하고 감사 대상에 포함하는 것이 바람직하다.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가져오기는 impdp로 수행한다. 앞서 만든 hr.dmp를 같은 디렉터리 객체에서 읽어 대상 데이터베이스에 객체와 데이터를 생성한다. 여기서 실무적으로 가장 중요한 파라미터가 TABLE_EXISTS_ACTION이다. 대상에 같은 이름의 테이블이 이미 존재할 때 어떻게 처리할지를 결정하는데, SKIP은 해당 테이블을 건너뛰고(기본값), APPEND는 기존 행을 남긴 채 새 행을 추가하며, TRUNCATE는 테이블을 비우고 새로 적재하고, REPLACE는 테이블을 DROP한 뒤 다시 만들어 넣는다. 반복 적재 테스트나 재적재 시나리오에서 이 옵션을 잘못 지정하면 데이터가 중복되거나 의도치 않게 삭제될 수 있으므로, 운영에서는 반드시 대상 상태를 확인하고 선택해야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가져오기의 진짜 가치는 원본을 똑같이 복제하는 것이 아니라, 가져오는 과정에서 구조를 변환할 수 있다는 데 있다. 개발 스키마를 운영 스키마 이름으로 바꾸거나, 테이블스페이스 레이아웃이 다른 시스템으로 옮기거나, 데이터파일 경로가 다른 서버로 이관할 때 변환 옵션이 필수적이다. REMAP_SCHEMA는 원본:대상 형식으로 객체 소유자를 바꾸고, REMAP_TABLESPACE는 객체가 저장될 테이블스페이스를 재지정하며, REMAP_DATAFILE은 메타데이터에 박힌 데이터파일 경로 문자열을 대상 서버의 실제 경로로 치환한다. TRANSFORM은 개별 DDL 속성을 정밀하게 켜고 끄는 옵션으로, 이름:값 형식으로 지정한다. 이 네 가지를 이해하면 서로 다른 환경 사이의 이관을 유연하게 처리할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예는 개발 환경의 HR 덤프를 스테이징으로 옮기면서 여러 변환을 동시에 적용한다. REMAP_SCHEMA=hr:hr_stg로 소유자를 hr_stg로 바꾸고, REMAP_TABLESPACE=users:ts_stg로 원본이 쓰던 USERS 테이블스페이스 대신 대상의 TS_STG에 객체를 저장한다. 대상 스키마가 없으면 impdp가 자동으로 만들려 시도하지만, 저장 파라미터·롤·권한까지 완벽히 재현되지는 않으므로 미리 만들어 두는 편이 안전하다. TRANSFORM=SEGMENT_ATTRIBUTES:N은 테이블스페이스·저장 절 같은 세그먼트 속성을 제거해 대상의 기본값을 따르게 하고, DISABLE_ARCHIVE_LOGGING:Y는 가져오는 동안 리두 생성을 최소화해 대량 적재를 가속한다. REMAP_DATAFILE은 여기 나오지 않지만 트랜스포터블 방식에서 메타데이터에 담긴 원본 데이터파일 경로를 대상 서버의 실제 경로로 치환하는 데 쓰이며, 한 번에 여러 파일을 치환하려면 파라미터를 여러 번 지정하거나 파라미터 파일에 나열한다.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멀티테넌트에서 Data Pump를 쓸 때 첫 번째 원칙은 접속 대상이 곧 작업 범위라는 것이다. expdp/impdp는 접속한 컨테이너를 기준으로 동작하므로, 특정 PDB의 서비스명으로 접속하면 그 PDB만, CDB 루트에 공통 사용자로 접속하면 CDB 전체를 대상으로 삼을 수 있다. 따라서 어떤 네트 서비스명으로 접속하느냐가 사실상 작업 범위를 결정한다. 가장 흔한 형태는 PDB 단위 작업으로, 특정 PDB 서비스명으로 접속해 그 안의 스키마나 테이블을 내보내고 가져온다. PDB는 독립적인 애플리케이션 데이터베이스처럼 취급되기 때문에, non-CDB 시절에 쓰던 expdp/impdp 명령을 거의 그대로 재사용할 수 있다는 점이 실무적으로 큰 장점이다.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CDB 전체를 한 번에 내보내려면 CDB 루트에 SYSTEM이나 c## 접두어를 가진 공통 사용자로 접속하고 FULL=Y를 지정한다. 이렇게 하면 루트의 객체뿐 아니라 모든 PDB에 담긴 사용자 데이터가 함께 내보내진다. 다만 FULL 모드에는 고려사항이 있다. SYS, SYSTEM 같은 오라클 제공 스키마의 메타데이터는 대상 CDB에 이미 존재하므로 실제로 의미 있는 것은 사용자 데이터이고, 대상 CDB의 PDB 구성이 원본과 호환되어야 가져오기가 성립한다. 운영 관점에서 PDB별로 세밀하게 관리하고 싶다면 각 PDB에 개별 접속해 스키마 모드로 내보내는 편이 통제하기 쉽고, 반대로 CDB 이관이나 통합처럼 전체를 한 번에 옮길 때는 FULL 모드가 유리하다. 어느 경우든 원본과 대상의 문자집합, 시간대 파일 버전, 컴포넌트 구성이 호환되어야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오라클은 12c 이후 멀티테넌트 전환을 권장하며, 19c에서 non-CDB 아키텍처는 사실상 마지막 세대다. 향후 릴리스에서 non-CDB 지원이 종료될 예정이므로, 기존 non-CDB를 PDB로 옮기는 마이그레이션은 매우 흔한 작업이 되었다. 방법은 크게 세 가지다. 첫째는 DBMS_PDB.DESCRIBE로 non-CDB를 언플러그 형태로 기술한 뒤 CDB에 플러그인하는 방식으로 15장에서 다뤘고, 둘째는 이 절에서 다루는 Data Pump 논리 이동, 셋째는 27.6의 Full Transportable Export/Import다. 데이터가 소규모이거나 플랫폼·버전이 크게 다를 때는 논리 이동이 안전하고, 수 테라바이트급 대용량에서는 Full Transportable이 압도적으로 빠르다.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단순한 경로는 non-CDB에서 스키마 또는 FULL 모드로 내보낸 뒤, 대상 CDB의 PDB에 impdp로 가져오는 것이다. non-CDB는 컨테이너 개념이 없으므로 서비스명으로 접속해 평범하게 expdp를 실행하고, 대상은 PDB 서비스명으로 접속해 impdp를 실행한다. 이 방식의 가장 큰 장점은 원본과 대상의 플랫폼, 엔디안, 버전이 서로 달라도 논리 이동이기 때문에 대체로 호환된다는 점이다. 다만 문자집합이 다르면 문자 데이터 변환에 유의해야 한다. 단점은 데이터 양에 비례해 시간이 선형으로 늘어난다는 것이다. 데이터가 수 테라바이트라면 모든 행을 언로드했다가 다시 인서트하는 논리 이동은 느리므로, 메타데이터는 Data Pump로 데이터는 파일 복사로 처리하는 Full Transportable 방식이 훨씬 빠르다. 스키마 이름이나 테이블스페이스 레이아웃이 다르면 27.2의 REMAP 옵션을 함께 사용한다.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CDB 안이든 서로 다른 CDB든, PDB 사이에서 스키마나 테이블을 옮기는 작업도 Data Pump로 처리한다. 원본 PDB에 접속해 내보내고 대상 PDB에 접속해 가져오는 구조로, 앞 절들과 완전히 동일한 패턴이다. 두 PDB가 같은 서버에 있다면 하나의 공유 경로를 가리키는 디렉터리 객체를 양쪽 PDB에서 각각 만들어 같은 덤프파일을 주고받을 수 있다. 여기서 더 깔끔한 방법은 덤프파일을 아예 만들지 않는 것이다. 대상 PDB에서 원본 PDB를 가리키는 데이터베이스 링크를 만들고 impdp에 NETWORK_LINK를 지정하면, 네트워크를 통해 원본에서 대상으로 데이터가 직접 흐른다. 같은 CDB 내 PDB끼리도 데이터베이스 링크를 만들 수 있으므로 중간 파일 없이 한 번의 impdp로 이동이 끝난다. 자세한 내용은 27.7에서 다룬다.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Transportable Export/Import는 데이터베이스 전체를 빠르게 옮기기 위한 하이브리드 방식이다. 핵심 아이디어는 작업을 두 갈래로 나누는 것이다. 사용자 데이터가 담긴 테이블스페이스의 데이터파일은 트랜스포터블 테이블스페이스 방식으로 물리적으로 복사하고, 그 데이터파일을 대상이 인식하도록 하는 메타데이터, 즉 사용자·권한·시퀀스·PL/SQL·뷰 같은 논리 객체와 SYSTEM/SYSAUX의 딕셔너리 정보는 Data Pump로 옮긴다. 다시 말해 느린 부분인 대량 행 데이터는 파일 복사로, 복잡한 부분인 딕셔너리 메타데이터는 Data Pump로 처리해 두 방식의 장점을 결합한다. 활성화는 expdp에 FULL=Y와 TRANSPORTABLE=ALWAYS를 함께 지정하는 것이며, 전제 조건은 사용자 테이블스페이스를 READ ONLY로 전환할 수 있어야 하고 원본과 대상의 엔디안이 같아야 한다는 것이다. 엔디안이 다르면 27.9의 RMAN CONVERT가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Transportable이 순수 논리 Data Pump와 결정적으로 다른 점은 데이터 이동의 물리성에 있다. 논리 방식은 모든 행을 언로드했다가 다시 인서트하므로 데이터 양이 늘수록 시간이 선형으로 증가하고 인덱스도 재생성해야 한다. 반면 Full Transportable은 사용자 데이터가 담긴 데이터파일을 블록 단위로 그대로 복사하므로 인덱스를 다시 만들거나 행을 재삽입할 필요가 없다. 데이터파일 복사 시간이 곧 전송 시간의 대부분이기 때문에, 수백 기가바이트에서 수 테라바이트급 이관에서 논리 방식이 수십 시간 걸리던 것을 파일 복사 속도에 근접한 시간으로 단축한다. VERSION 파라미터에도 유의해야 한다. Full Transportable은 원본이 12.1 이상이어야 하며, 원본이 11.2.0.3 같은 하위 버전이면 expdp에 VERSION=12를 주어 대상 12c 이상이 읽을 수 있는 형식으로 만든다. 이 덕분에 11g에서 19c PDB로의 대규모 마이그레이션을 데이터 양과 무관하게 매우 빠르게 수행할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NETWORK_LINK는 덤프파일을 전혀 만들지 않고 데이터베이스 링크를 통해 원본에서 대상으로 데이터를 직접 흘려보내는 파라미터다. impdp에 NETWORK_LINK=링크이름을 지정하면, impdp가 실행되는 대상 데이터베이스가 링크 반대편인 원본에서 데이터를 끌어와 곧바로 자기 테이블에 적재한다. 중간 파일이 없으므로 디스크 공간이 절약되고, 내보내기·파일 전송·가져오기의 3단계가 한 번의 impdp로 압축된다. 여기서 반드시 정확히 이해할 점은 방향이다. NETWORK_LINK는 원본에서 export하는 것이 아니라 대상에서 import하면서 링크로 데이터를 당겨오는 방식이고, 따라서 데이터베이스 링크는 대상 쪽에 만들어 원본을 가리켜야 한다. 링크에 사용되는 계정은 원본에서 데이터를 SELECT할 수 있어야 하고, 대상 사용자에게는 원본 객체를 읽을 권한이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예는 NETWORK_LINK를 실제로 사용하는 흐름을 보여준다. 먼저 대상 PDB에서 원본 PDB를 가리키는 데이터베이스 링크 src_link를 만든다. CONNECT TO 절의 계정은 원본에서 데이터를 읽을 수 있는 사용자여야 한다. 그다음 impdp에 NETWORK_LINK=src_link를 지정하면 DUMPFILE 파라미터 없이도 대상이 링크를 통해 원본 HR 스키마의 데이터를 직접 당겨와 적재한다. 여기서는 REMAP_SCHEMA로 대상에서 hr_new로 이름까지 바꿔 가져온다. NETWORK_LINK는 원본과 대상 서버 모두 큰 여유 디스크가 없을 때, PDB 간 또는 서로 다른 CDB의 PDB 간 이동을 파일 없이 처리할 때, Full Transportable을 네트워크로 결합할 때 특히 유용하다. 다만 대량 데이터를 네트워크로 직접 옮기므로 대역폭과 지연에 성능이 좌우되고, LONG 컬럼 같은 일부 타입에는 제약이 있다. 원본 테이블의 일관된 읽기가 필요하면 FLASHBACK_SCN이나 FLASHBACK_TIME을 함께 지정한다.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트랜스포터블 테이블스페이스는 테이블스페이스를 구성하는 물리 데이터파일을 통째로 복사하고, 그 테이블스페이스에 담긴 객체의 메타데이터만 Data Pump로 옮겨 대상 데이터베이스에 끼워 넣는 기술이다. 행 데이터를 한 건씩 논리적으로 옮기지 않고 파일을 그대로 복사하므로 대용량 이동에서 압도적으로 빠르다. Full Transportable은 사실 이 TTS를 데이터베이스 전체 규모로 자동화한 것이다. 표준 절차는 다섯 단계다. 먼저 옮길 테이블스페이스 집합을 READ ONLY로 전환하는데, 이는 데이터파일 복사 도중 블록이 변경되지 않도록 얼려 복사본의 일관성을 보장한다. 다음으로 expdp의 TRANSPORT_TABLESPACES 모드로 메타데이터만 내보내면 행 데이터가 없어 덤프파일이 매우 작다. 그다음 데이터파일을 대상 서버로 복사하고, 엔디안이 다르면 RMAN CONVERT를 거친다. 대상에서 impdp에 TRANSPORT_DATAFILES로 복사된 파일을 지정해 메타데이터를 플러그인하면 테이블스페이스가 사용 가능해지고, 마지막으로 양쪽을 READ WRITE로 되돌린다.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TTS에서 가장 중요한 제약은 자체 포함성이다. 전송하려는 테이블스페이스 집합은 외부에 대한 의존성이 없어야 한다. 예를 들어 TS_SALES에 있는 테이블의 인덱스가 TS_IDX에 있는데 TS_IDX를 전송 집합에 포함하지 않으면, 인덱스가 전송 집합 밖을 가리키므로 자체 포함성 위반이다. 파티션 테이블의 일부 파티션만 다른 테이블스페이스에 있거나, 전송 집합 내 테이블을 참조하는 외래 키가 집합 밖 테이블에 있어도 위반이 된다. DBMS_TTS.TRANSPORT_SET_CHECK 프로시저로 사전 점검하면 되는데, ts_list에 전송할 테이블스페이스 목록을 넘기고 incl_constraints를 TRUE로 주면 제약 조건까지 검사한다. 실행 후 TRANSPORT_SET_VIOLATIONS 뷰를 조회해 행이 없으면 자체 포함성이 충족된 것이고, 위반 행이 나오면 그 내용을 보고 누락된 테이블스페이스를 집합에 추가하거나 의존성을 정리한 뒤 다시 점검한다. 이 사전 점검을 건너뛰면 실제 expdp 단계에서 ORA-39907 같은 오류로 실패한다.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서로 다른 하드웨어 플랫폼은 멀티바이트 값을 메모리에 저장하는 순서, 즉 엔디안 포맷이 다를 수 있다. 빅 엔디안은 상위 바이트를 먼저 저장하며 SPARC Solaris, IBM AIX, HP-UX가 대표적이고, 리틀 엔디안은 하위 바이트를 먼저 저장하며 Linux x86-64, Windows, Solaris x86이 여기에 속한다. 오라클 데이터파일은 블록 내부에 다바이트 값을 엔디안 순서대로 저장하므로, 엔디안이 다른 플랫폼으로 데이터파일을 그냥 복사하면 대상이 값을 잘못 해석한다. 이때 필요한 것이 RMAN CONVERT다. RMAN CONVERT는 데이터파일 블록 내부의 다바이트 값들, 즉 행 헤더·컬럼 길이·숫자 표현 등을 대상 엔디안 순서로 재배열해 대상이 블록을 올바르게 해석하도록 만든다. 다만 문자집합 변환은 수행하지 않으므로 원본과 대상의 데이터베이스 문자집합이 다르면 문자 데이터는 별도로 고려해야 하고, 블록 크기가 다른 경우 같은 추가 호환성 조건도 CONVERT와 무관하게 별도로 충족해야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RMAN CONVERT는 데이터파일의 바이트 순서를 대상 플랫폼에 맞게 변환하며, 변환 시점을 원본과 대상 중 어디로 둘지 선택할 수 있다. 원본 쪽에서 미리 변환하려면 CONVERT TABLESPACE ... TO PLATFORM 구문을 쓰는데, TO PLATFORM에는 최종 목적지인 대상 플랫폼 이름을 지정하고 FORMAT으로 변환 결과 파일의 위치를 준다. 반대로 대상 쪽에서 받아서 변환하려면 CONVERT DATAFILE ... FROM PLATFORM 구문을 쓰며, FROM PLATFORM에는 파일이 만들어진 원본 플랫폼 이름을 지정한다. 플랫폼 이름은 V$TRANSPORTABLE_PLATFORM 뷰의 PLATFORM_NAME 값을 정확히 그대로 사용해야 한다. 가장 중요한 원칙은 엔디안이 같은 플랫폼끼리는 변환이 필요 없다는 것이다. 예를 들어 Linux x86-64와 Windows x86-64는 둘 다 리틀 엔디안이므로 CONVERT 없이 데이터파일을 그대로 전송해 TTS를 성립시킬 수 있다. 엔디안이 같은데도 불필요하게 CONVERT를 수행하면 시간만 낭비된다.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테이블스페이스를 전송할 때 데이터파일을 대상으로 옮기는 방법은 두 가지다. 이미지 카피와 백업세트다. 이미지 카피는 데이터파일을 1대1로 그대로 복사한 것으로, OS의 cp나 scp, RMAN COPY 명령, 그리고 앞서 본 RMAN CONVERT의 출력이 모두 이미지 카피에 해당한다. 대상에서는 이 파일을 곧바로 데이터파일로 사용할 수 있어 절차가 단순하다는 장점이 있다. 백업세트 방식은 RMAN이 데이터파일을 백업세트, 즉 압축과 다중화가 가능한 RMAN 고유 형식으로 만들어 전송하고 대상에서 복원하는 방식이다. 12c부터 트랜스포터블 테이블스페이스를 백업세트로 만들 수 있게 되어 BACKUP ... FOR TRANSPORT 또는 TO PLATFORM 구문으로 이미지 카피보다 작은 용량으로 전송하고, 필요하면 전송 중 엔디안 변환까지 함께 처리할 수 있다. 여기에 AS COMPRESSED BACKUPSET 압축을 결합하면 네트워크 전송량을 크게 줄일 수 있어, 광역 네트워크를 통한 원거리 이관에 특히 유리하다.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플랫폼 간 전송을 시작하기 전에 반드시 확인할 것은 원본과 대상의 엔디안 포맷이다. 두 개의 동적 뷰가 핵심이다. V$DATABASE.PLATFORM_NAME은 현재 데이터베이스가 동작하는 플랫폼 이름을 알려주고, V$TRANSPORTABLE_PLATFORM은 전송 가능한 모든 플랫폼의 이름과 엔디안 값인 ENDIAN_FORMAT을 담고 있다. 이 두 뷰를 platform_id로 조인하면 현재 데이터베이스의 엔디안을 바로 확인할 수 있고, 원본과 대상 각각에서 조회한 ENDIAN_FORMAT을 비교하면 변환 필요 여부를 판단할 수 있다. 판단 규칙은 간단하다. 원본과 대상의 ENDIAN_FORMAT이 같으면 데이터파일을 변환 없이 그대로 복사해 전송할 수 있다. 예를 들어 Linux x86-64에서 Windows x86-64로는 둘 다 리틀 엔디안이므로 CONVERT가 필요 없다. 반대로 Solaris SPARC의 빅 엔디안에서 Linux x86-64의 리틀 엔디안처럼 엔디안이 다르면 데이터파일을 RMAN CONVERT로 변환한 뒤 전송해야 하며, 변환하지 않고 임포트하면 블록 해석 오류로 실패한다.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엔디안이 불일치하는 플랫폼 간 트랜스포터블 테이블스페이스 전송의 전체 흐름은 여덟 단계로 정리된다. 먼저 양쪽 엔디안을 V$TRANSPORTABLE_PLATFORM으로 확인해 불일치를 판정한다. 다음으로 원본 테이블스페이스를 READ ONLY로 전환해 복사 시점의 일관성을 확보하고, DBMS_TTS.TRANSPORT_SET_CHECK로 자체 포함성을 점검한다. 위반이 없으면 expdp의 TRANSPORT_TABLESPACES 모드로 메타데이터를 내보낸다. 이어서 RMAN CONVERT로 데이터파일을 대상 엔디안으로 변환하고, 변환된 파일과 메타데이터 덤프를 대상 서버로 복사한다. 대상에서는 impdp에 TRANSPORT_DATAFILES로 변환된 파일을 지정해 가져오면 테이블스페이스가 대상 딕셔너리에 플러그인된다. 마지막으로 원본과 대상의 테이블스페이스를 모두 READ WRITE로 되돌려 정상 사용 상태로 만든다. 이 순서에서 READ ONLY 전환과 자체 포함성 점검, 엔디안 변환은 어느 하나라도 빠지면 전송이 실패하거나 데이터가 손상되므로 반드시 순서대로 수행해야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Q1의 정답은 ②번이다. Data Pump가 만들고 읽는 파일은 클라이언트가 아니라 데이터베이스 서버의 디스크에 위치하며, OS 경로를 직접 쓰지 않고 디렉터리 객체라는 논리 이름으로 지정한다. Q2의 정답은 ③번 REMAP_SCHEMA다. 원본:대상 형식으로 객체 소유자를 바꿔 가져온다. REMAP_TABLESPACE는 저장 테이블스페이스를, REMAP_DATAFILE은 파일 경로 문자열을 바꾸고, TRANSFORM은 DDL 속성을 조정한다. Q3의 정답은 ①번이다. NETWORK_LINK는 impdp에서 사용하며, 대상 데이터베이스가 링크를 통해 원본에서 데이터를 당겨와 적재한다. 링크는 대상에 만들어 원본을 가리키고 덤프파일은 만들지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Q4의 정답은 ②번이다. Full Transportable Export/Import는 expdp에 FULL=Y와 TRANSPORTABLE=ALWAYS를 함께 지정해 활성화하며, 사용자 데이터는 데이터파일 복사로 메타데이터는 Data Pump로 옮기는 하이브리드 방식이다. Q5의 정답은 ①번 자체 포함성이다. 전송하려는 테이블스페이스 집합은 외부 의존성이 없어야 하며, DBMS_TTS.TRANSPORT_SET_CHECK로 사전 점검한다. Q6의 정답은 ③번 RMAN CONVERT다. 엔디안이 다른 플랫폼으로 데이터파일을 옮길 때는 블록 내 다바이트 값의 순서를 대상 엔디안에 맞게 재배열해야 하며, 이 작업을 RMAN CONVERT가 수행한다. 엔디안이 같으면 변환 없이 그대로 복사할 수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r>
              <a:rPr sz="1600" b="0">
                <a:solidFill>
                  <a:srgbClr val="FFFFFF"/>
                </a:solidFill>
                <a:latin typeface="맑은 고딕"/>
              </a:rPr>
              <a:t>Oracle Database 19c Administration Workshop</a:t>
            </a:r>
          </a:p>
        </p:txBody>
      </p:sp>
      <p:sp>
        <p:nvSpPr>
          <p:cNvPr id="6" name="TextBox 5"/>
          <p:cNvSpPr txBox="1"/>
          <p:nvPr/>
        </p:nvSpPr>
        <p:spPr>
          <a:xfrm>
            <a:off x="731520" y="2468880"/>
            <a:ext cx="10698480" cy="1463040"/>
          </a:xfrm>
          <a:prstGeom prst="rect">
            <a:avLst/>
          </a:prstGeom>
          <a:noFill/>
        </p:spPr>
        <p:txBody>
          <a:bodyPr wrap="square">
            <a:spAutoFit/>
          </a:bodyPr>
          <a:lstStyle/>
          <a:p>
            <a:r>
              <a:rPr sz="4000" b="1">
                <a:solidFill>
                  <a:srgbClr val="C0392B"/>
                </a:solidFill>
                <a:latin typeface="맑은 고딕"/>
              </a:rPr>
              <a:t>데이터 전송</a:t>
            </a:r>
          </a:p>
          <a:p>
            <a:r>
              <a:rPr sz="4000" b="1">
                <a:solidFill>
                  <a:srgbClr val="C0392B"/>
                </a:solidFill>
                <a:latin typeface="맑은 고딕"/>
              </a:rPr>
              <a:t>Transporting Data</a:t>
            </a:r>
          </a:p>
        </p:txBody>
      </p:sp>
      <p:sp>
        <p:nvSpPr>
          <p:cNvPr id="7" name="TextBox 6"/>
          <p:cNvSpPr txBox="1"/>
          <p:nvPr/>
        </p:nvSpPr>
        <p:spPr>
          <a:xfrm>
            <a:off x="731520" y="4114800"/>
            <a:ext cx="10698480" cy="1097280"/>
          </a:xfrm>
          <a:prstGeom prst="rect">
            <a:avLst/>
          </a:prstGeom>
          <a:noFill/>
        </p:spPr>
        <p:txBody>
          <a:bodyPr wrap="square">
            <a:spAutoFit/>
          </a:bodyPr>
          <a:lstStyle/>
          <a:p>
            <a:r>
              <a:rPr sz="1500" b="0">
                <a:solidFill>
                  <a:srgbClr val="5A6672"/>
                </a:solidFill>
                <a:latin typeface="맑은 고딕"/>
              </a:rPr>
              <a:t>Data Pump(expdp/impdp) · 변환 옵션 · CDB/PDB · Full Transportable · NETWORK_LINK · TTS · RMAN CONVERT · 엔디안</a:t>
            </a:r>
          </a:p>
        </p:txBody>
      </p:sp>
      <p:sp>
        <p:nvSpPr>
          <p:cNvPr id="8" name="TextBox 7"/>
          <p:cNvSpPr txBox="1"/>
          <p:nvPr/>
        </p:nvSpPr>
        <p:spPr>
          <a:xfrm>
            <a:off x="731520" y="5577840"/>
            <a:ext cx="10698480" cy="914400"/>
          </a:xfrm>
          <a:prstGeom prst="rect">
            <a:avLst/>
          </a:prstGeom>
          <a:noFill/>
        </p:spPr>
        <p:txBody>
          <a:bodyPr wrap="square">
            <a:spAutoFit/>
          </a:bodyPr>
          <a:lstStyle/>
          <a:p>
            <a:r>
              <a:rPr sz="2000" b="1">
                <a:solidFill>
                  <a:srgbClr val="C0392B"/>
                </a:solidFill>
                <a:latin typeface="맑은 고딕"/>
              </a:rPr>
              <a:t>제27장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학습 목표 (Objectives)</a:t>
            </a:r>
          </a:p>
        </p:txBody>
      </p:sp>
      <p:sp>
        <p:nvSpPr>
          <p:cNvPr id="4" name="TextBox 3"/>
          <p:cNvSpPr txBox="1"/>
          <p:nvPr/>
        </p:nvSpPr>
        <p:spPr>
          <a:xfrm>
            <a:off x="640080" y="1463040"/>
            <a:ext cx="10881360" cy="4937760"/>
          </a:xfrm>
          <a:prstGeom prst="rect">
            <a:avLst/>
          </a:prstGeom>
          <a:noFill/>
        </p:spPr>
        <p:txBody>
          <a:bodyPr wrap="square">
            <a:spAutoFit/>
          </a:bodyPr>
          <a:lstStyle/>
          <a:p>
            <a:pPr>
              <a:spcAft>
                <a:spcPts val="600"/>
              </a:spcAft>
            </a:pPr>
            <a:r>
              <a:rPr sz="1600" b="0">
                <a:solidFill>
                  <a:srgbClr val="C0392B"/>
                </a:solidFill>
                <a:latin typeface="맑은 고딕"/>
              </a:rPr>
              <a:t>•  Data Pump Export/Import(expdp/impdp) 기본 사용법과 DIRECTORY·DUMPFILE·LOGFILE의 역할을 설명·실행한다</a:t>
            </a:r>
          </a:p>
          <a:p>
            <a:pPr>
              <a:spcAft>
                <a:spcPts val="600"/>
              </a:spcAft>
            </a:pPr>
            <a:r>
              <a:rPr sz="1600" b="0">
                <a:solidFill>
                  <a:srgbClr val="C0392B"/>
                </a:solidFill>
                <a:latin typeface="맑은 고딕"/>
              </a:rPr>
              <a:t>•  가져오기 변환 옵션(REMAP_SCHEMA·REMAP_TABLESPACE·REMAP_DATAFILE·TRANSFORM)으로 대상 구조를 바꿔 가져온다</a:t>
            </a:r>
          </a:p>
          <a:p>
            <a:pPr>
              <a:spcAft>
                <a:spcPts val="600"/>
              </a:spcAft>
            </a:pPr>
            <a:r>
              <a:rPr sz="1600" b="0">
                <a:solidFill>
                  <a:srgbClr val="C0392B"/>
                </a:solidFill>
                <a:latin typeface="맑은 고딕"/>
              </a:rPr>
              <a:t>•  멀티테넌트에서 CDB 전체(FULL=Y)와 PDB 단위 Data Pump 사용을 구분한다</a:t>
            </a:r>
          </a:p>
          <a:p>
            <a:pPr>
              <a:spcAft>
                <a:spcPts val="600"/>
              </a:spcAft>
            </a:pPr>
            <a:r>
              <a:rPr sz="1600" b="0">
                <a:solidFill>
                  <a:srgbClr val="C0392B"/>
                </a:solidFill>
                <a:latin typeface="맑은 고딕"/>
              </a:rPr>
              <a:t>•  non-CDB→PDB 마이그레이션과 PDB 간 데이터 이동을 구성한다</a:t>
            </a:r>
          </a:p>
          <a:p>
            <a:pPr>
              <a:spcAft>
                <a:spcPts val="600"/>
              </a:spcAft>
            </a:pPr>
            <a:r>
              <a:rPr sz="1600" b="0">
                <a:solidFill>
                  <a:srgbClr val="C0392B"/>
                </a:solidFill>
                <a:latin typeface="맑은 고딕"/>
              </a:rPr>
              <a:t>•  Full Transportable Export/Import(TRANSPORTABLE=ALWAYS)의 원리와 고속 이점을 설명한다</a:t>
            </a:r>
          </a:p>
          <a:p>
            <a:pPr>
              <a:spcAft>
                <a:spcPts val="600"/>
              </a:spcAft>
            </a:pPr>
            <a:r>
              <a:rPr sz="1600" b="0">
                <a:solidFill>
                  <a:srgbClr val="C0392B"/>
                </a:solidFill>
                <a:latin typeface="맑은 고딕"/>
              </a:rPr>
              <a:t>•  NETWORK_LINK로 덤프파일 없이 데이터베이스 링크를 통해 직접 전송한다</a:t>
            </a:r>
          </a:p>
          <a:p>
            <a:pPr>
              <a:spcAft>
                <a:spcPts val="600"/>
              </a:spcAft>
            </a:pPr>
            <a:r>
              <a:rPr sz="1600" b="0">
                <a:solidFill>
                  <a:srgbClr val="C0392B"/>
                </a:solidFill>
                <a:latin typeface="맑은 고딕"/>
              </a:rPr>
              <a:t>•  트랜스포터블 테이블스페이스(TTS)의 자체 포함성(Self-Contained) 제약을 진단한다</a:t>
            </a:r>
          </a:p>
          <a:p>
            <a:pPr>
              <a:spcAft>
                <a:spcPts val="600"/>
              </a:spcAft>
            </a:pPr>
            <a:r>
              <a:rPr sz="1600" b="0">
                <a:solidFill>
                  <a:srgbClr val="C0392B"/>
                </a:solidFill>
                <a:latin typeface="맑은 고딕"/>
              </a:rPr>
              <a:t>•  RMAN CONVERT로 엔디안이 다른 플랫폼 간 데이터파일을 변환한다</a:t>
            </a:r>
          </a:p>
          <a:p>
            <a:pPr>
              <a:spcAft>
                <a:spcPts val="600"/>
              </a:spcAft>
            </a:pPr>
            <a:r>
              <a:rPr sz="1600" b="0">
                <a:solidFill>
                  <a:srgbClr val="C0392B"/>
                </a:solidFill>
                <a:latin typeface="맑은 고딕"/>
              </a:rPr>
              <a:t>•  V$TRANSPORTABLE_PLATFORM/V$DATABASE.PLATFORM_NAME으로 엔디안을 확인하고 절차를 결정한다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이 장의 구성 (Agenda)</a:t>
            </a:r>
          </a:p>
        </p:txBody>
      </p:sp>
      <p:sp>
        <p:nvSpPr>
          <p:cNvPr id="4" name="TextBox 3"/>
          <p:cNvSpPr txBox="1"/>
          <p:nvPr/>
        </p:nvSpPr>
        <p:spPr>
          <a:xfrm>
            <a:off x="640080" y="1463040"/>
            <a:ext cx="10881360" cy="4937760"/>
          </a:xfrm>
          <a:prstGeom prst="rect">
            <a:avLst/>
          </a:prstGeom>
          <a:noFill/>
        </p:spPr>
        <p:txBody>
          <a:bodyPr wrap="square">
            <a:spAutoFit/>
          </a:bodyPr>
          <a:lstStyle/>
          <a:p>
            <a:pPr>
              <a:spcAft>
                <a:spcPts val="600"/>
              </a:spcAft>
            </a:pPr>
            <a:r>
              <a:rPr sz="1600" b="0">
                <a:solidFill>
                  <a:srgbClr val="C0392B"/>
                </a:solidFill>
                <a:latin typeface="맑은 고딕"/>
              </a:rPr>
              <a:t>•  27.1  Data Pump Export/Import 기본(expdp/impdp)</a:t>
            </a:r>
          </a:p>
          <a:p>
            <a:pPr>
              <a:spcAft>
                <a:spcPts val="600"/>
              </a:spcAft>
            </a:pPr>
            <a:r>
              <a:rPr sz="1600" b="0">
                <a:solidFill>
                  <a:srgbClr val="C0392B"/>
                </a:solidFill>
                <a:latin typeface="맑은 고딕"/>
              </a:rPr>
              <a:t>•  27.2  Data Pump Import 변환(Transformation) 옵션</a:t>
            </a:r>
          </a:p>
          <a:p>
            <a:pPr>
              <a:spcAft>
                <a:spcPts val="600"/>
              </a:spcAft>
            </a:pPr>
            <a:r>
              <a:rPr sz="1600" b="0">
                <a:solidFill>
                  <a:srgbClr val="C0392B"/>
                </a:solidFill>
                <a:latin typeface="맑은 고딕"/>
              </a:rPr>
              <a:t>•  27.3  멀티테넌트 환경에서 Data Pump 사용(FULL=Y, CDB/PDB)</a:t>
            </a:r>
          </a:p>
          <a:p>
            <a:pPr>
              <a:spcAft>
                <a:spcPts val="600"/>
              </a:spcAft>
            </a:pPr>
            <a:r>
              <a:rPr sz="1600" b="0">
                <a:solidFill>
                  <a:srgbClr val="C0392B"/>
                </a:solidFill>
                <a:latin typeface="맑은 고딕"/>
              </a:rPr>
              <a:t>•  27.4  non-CDB에서 내보내 PDB로 가져오기</a:t>
            </a:r>
          </a:p>
          <a:p>
            <a:pPr>
              <a:spcAft>
                <a:spcPts val="600"/>
              </a:spcAft>
            </a:pPr>
            <a:r>
              <a:rPr sz="1600" b="0">
                <a:solidFill>
                  <a:srgbClr val="C0392B"/>
                </a:solidFill>
                <a:latin typeface="맑은 고딕"/>
              </a:rPr>
              <a:t>•  27.5  PDB 간 데이터 내보내기/가져오기</a:t>
            </a:r>
          </a:p>
          <a:p>
            <a:pPr>
              <a:spcAft>
                <a:spcPts val="600"/>
              </a:spcAft>
            </a:pPr>
            <a:r>
              <a:rPr sz="1600" b="0">
                <a:solidFill>
                  <a:srgbClr val="C0392B"/>
                </a:solidFill>
                <a:latin typeface="맑은 고딕"/>
              </a:rPr>
              <a:t>•  27.6  Full Transportable Export/Import(TRANSPORTABLE=ALWAYS)</a:t>
            </a:r>
          </a:p>
          <a:p>
            <a:pPr>
              <a:spcAft>
                <a:spcPts val="600"/>
              </a:spcAft>
            </a:pPr>
            <a:r>
              <a:rPr sz="1600" b="0">
                <a:solidFill>
                  <a:srgbClr val="C0392B"/>
                </a:solidFill>
                <a:latin typeface="맑은 고딕"/>
              </a:rPr>
              <a:t>•  27.7  네트워크를 통한 전송(NETWORK_LINK)</a:t>
            </a:r>
          </a:p>
          <a:p>
            <a:pPr>
              <a:spcAft>
                <a:spcPts val="600"/>
              </a:spcAft>
            </a:pPr>
            <a:r>
              <a:rPr sz="1600" b="0">
                <a:solidFill>
                  <a:srgbClr val="C0392B"/>
                </a:solidFill>
                <a:latin typeface="맑은 고딕"/>
              </a:rPr>
              <a:t>•  27.8  트랜스포터블 테이블스페이스(TTS) 개념과 제약</a:t>
            </a:r>
          </a:p>
          <a:p>
            <a:pPr>
              <a:spcAft>
                <a:spcPts val="600"/>
              </a:spcAft>
            </a:pPr>
            <a:r>
              <a:rPr sz="1600" b="0">
                <a:solidFill>
                  <a:srgbClr val="C0392B"/>
                </a:solidFill>
                <a:latin typeface="맑은 고딕"/>
              </a:rPr>
              <a:t>•  27.9  RMAN CONVERT를 이용한 플랫폼 간 데이터 변환</a:t>
            </a:r>
          </a:p>
          <a:p>
            <a:pPr>
              <a:spcAft>
                <a:spcPts val="600"/>
              </a:spcAft>
            </a:pPr>
            <a:r>
              <a:rPr sz="1600" b="0">
                <a:solidFill>
                  <a:srgbClr val="C0392B"/>
                </a:solidFill>
                <a:latin typeface="맑은 고딕"/>
              </a:rPr>
              <a:t>•  27.10  이미지 카피/백업세트를 이용한 테이블스페이스 전송</a:t>
            </a:r>
          </a:p>
          <a:p>
            <a:pPr>
              <a:spcAft>
                <a:spcPts val="600"/>
              </a:spcAft>
            </a:pPr>
            <a:r>
              <a:rPr sz="1600" b="0">
                <a:solidFill>
                  <a:srgbClr val="C0392B"/>
                </a:solidFill>
                <a:latin typeface="맑은 고딕"/>
              </a:rPr>
              <a:t>•  27.11  엔디안 포맷 확인 및 불일치 테이블스페이스 전송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27.1</a:t>
            </a:r>
          </a:p>
        </p:txBody>
      </p:sp>
      <p:sp>
        <p:nvSpPr>
          <p:cNvPr id="4" name="TextBox 3"/>
          <p:cNvSpPr txBox="1"/>
          <p:nvPr/>
        </p:nvSpPr>
        <p:spPr>
          <a:xfrm>
            <a:off x="822960" y="3017520"/>
            <a:ext cx="10515600" cy="914400"/>
          </a:xfrm>
          <a:prstGeom prst="rect">
            <a:avLst/>
          </a:prstGeom>
          <a:noFill/>
        </p:spPr>
        <p:txBody>
          <a:bodyPr wrap="square">
            <a:spAutoFit/>
          </a:bodyPr>
          <a:lstStyle/>
          <a:p>
            <a:r>
              <a:rPr sz="2800" b="0">
                <a:solidFill>
                  <a:srgbClr val="FFFFFF"/>
                </a:solidFill>
                <a:latin typeface="맑은 고딕"/>
              </a:rPr>
              <a:t>Data Pump Export/Import 기본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400"/>
              </a:spcAft>
            </a:pPr>
            <a:r>
              <a:rPr sz="1600" b="0">
                <a:solidFill>
                  <a:srgbClr val="FFFFFF"/>
                </a:solidFill>
                <a:latin typeface="맑은 고딕"/>
              </a:rPr>
              <a:t>•  expdp / impdp 와 디렉터리 객체</a:t>
            </a:r>
          </a:p>
          <a:p>
            <a:pPr>
              <a:spcAft>
                <a:spcPts val="400"/>
              </a:spcAft>
            </a:pPr>
            <a:r>
              <a:rPr sz="1600" b="0">
                <a:solidFill>
                  <a:srgbClr val="FFFFFF"/>
                </a:solidFill>
                <a:latin typeface="맑은 고딕"/>
              </a:rPr>
              <a:t>•  모드·파라미터·마스터 테이블</a:t>
            </a:r>
          </a:p>
          <a:p>
            <a:pPr>
              <a:spcAft>
                <a:spcPts val="400"/>
              </a:spcAft>
            </a:pPr>
            <a:r>
              <a:rPr sz="1600" b="0">
                <a:solidFill>
                  <a:srgbClr val="FFFFFF"/>
                </a:solidFill>
                <a:latin typeface="맑은 고딕"/>
              </a:rPr>
              <a:t>•  대화형 명령 모드와 권한 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Data Pump란 무엇인가</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서버 측 고속·병렬 데이터 이동 인프라</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500"/>
              </a:spcAft>
            </a:pPr>
            <a:r>
              <a:rPr sz="1800" b="0">
                <a:solidFill>
                  <a:srgbClr val="C0392B"/>
                </a:solidFill>
                <a:latin typeface="맑은 고딕"/>
              </a:rPr>
              <a:t>•  DBMS_DATAPUMP PL/SQL API 기반, 서버 프로세스가 직접 파일을 읽고 쓴다</a:t>
            </a:r>
          </a:p>
          <a:p>
            <a:pPr>
              <a:spcAft>
                <a:spcPts val="500"/>
              </a:spcAft>
            </a:pPr>
            <a:r>
              <a:rPr sz="1800" b="0">
                <a:solidFill>
                  <a:srgbClr val="C0392B"/>
                </a:solidFill>
                <a:latin typeface="맑은 고딕"/>
              </a:rPr>
              <a:t>•  클라이언트를 경유하는 구식 exp/imp보다 빠르고, 재시작·병렬·필터링·원격 전송 지원</a:t>
            </a:r>
          </a:p>
          <a:p>
            <a:pPr>
              <a:spcAft>
                <a:spcPts val="500"/>
              </a:spcAft>
            </a:pPr>
            <a:r>
              <a:rPr sz="1800" b="0">
                <a:solidFill>
                  <a:srgbClr val="C0392B"/>
                </a:solidFill>
                <a:latin typeface="맑은 고딕"/>
              </a:rPr>
              <a:t>•  명령행 도구는 두 가지: 내보내기 expdp, 가져오기 impdp</a:t>
            </a:r>
          </a:p>
          <a:p>
            <a:pPr>
              <a:spcAft>
                <a:spcPts val="500"/>
              </a:spcAft>
            </a:pPr>
            <a:r>
              <a:rPr sz="1600" b="0">
                <a:solidFill>
                  <a:srgbClr val="5A6672"/>
                </a:solidFill>
                <a:latin typeface="맑은 고딕"/>
              </a:rPr>
              <a:t>     –  덤프파일은 오라클 내부 이진 형식 — 텍스트 편집기로 못 읽고 오직 impdp로만 가져온다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디렉터리 객체(Directory Object)</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파일은 DB 서버 디스크에 생성된다</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500"/>
              </a:spcAft>
            </a:pPr>
            <a:r>
              <a:rPr sz="1800" b="0">
                <a:solidFill>
                  <a:srgbClr val="C0392B"/>
                </a:solidFill>
                <a:latin typeface="맑은 고딕"/>
              </a:rPr>
              <a:t>•  Data Pump 파일은 클라이언트 PC가 아니라 DB 서버의 파일 시스템에 위치한다</a:t>
            </a:r>
          </a:p>
          <a:p>
            <a:pPr>
              <a:spcAft>
                <a:spcPts val="500"/>
              </a:spcAft>
            </a:pPr>
            <a:r>
              <a:rPr sz="1800" b="0">
                <a:solidFill>
                  <a:srgbClr val="C0392B"/>
                </a:solidFill>
                <a:latin typeface="맑은 고딕"/>
              </a:rPr>
              <a:t>•  OS 경로를 직접 쓰지 않고 '디렉터리 객체'라는 논리 이름으로 위치를 지정한다</a:t>
            </a:r>
          </a:p>
          <a:p>
            <a:pPr>
              <a:spcAft>
                <a:spcPts val="500"/>
              </a:spcAft>
            </a:pPr>
            <a:r>
              <a:rPr sz="1800" b="0">
                <a:solidFill>
                  <a:srgbClr val="C0392B"/>
                </a:solidFill>
                <a:latin typeface="맑은 고딕"/>
              </a:rPr>
              <a:t>•  디렉터리 객체는 컨테이너 종속 — PDB에서 내보낼 것이면 그 PDB 안에서 만든다</a:t>
            </a:r>
          </a:p>
          <a:p>
            <a:pPr>
              <a:spcAft>
                <a:spcPts val="500"/>
              </a:spcAft>
            </a:pPr>
            <a:r>
              <a:rPr sz="1600" b="0">
                <a:solidFill>
                  <a:srgbClr val="5A6672"/>
                </a:solidFill>
                <a:latin typeface="맑은 고딕"/>
              </a:rPr>
              <a:t>     –  오라클은 디렉터리 객체로 서버 프로세스의 접근 위치와 권한을 통제한다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expdp 기본 실행</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HR 스키마를 스키마 모드로 내보내기</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spAutoFit/>
          </a:bodyPr>
          <a:lstStyle/>
          <a:p>
            <a:pPr>
              <a:lnSpc>
                <a:spcPct val="100000"/>
              </a:lnSpc>
            </a:pPr>
            <a:r>
              <a:rPr sz="1250" b="0">
                <a:solidFill>
                  <a:srgbClr val="7EC699"/>
                </a:solidFill>
                <a:latin typeface="Consolas"/>
              </a:rPr>
              <a:t>-- (1) PDB 안에서 디렉터리 객체 생성 + 권한 부여</a:t>
            </a:r>
          </a:p>
          <a:p>
            <a:pPr>
              <a:lnSpc>
                <a:spcPct val="100000"/>
              </a:lnSpc>
            </a:pPr>
            <a:r>
              <a:rPr sz="1250" b="0">
                <a:solidFill>
                  <a:srgbClr val="E6E6E6"/>
                </a:solidFill>
                <a:latin typeface="Consolas"/>
              </a:rPr>
              <a:t>SQL&gt; CREATE DIRECTORY dp_dir AS '/u01/app/oracle/dpdump';</a:t>
            </a:r>
          </a:p>
          <a:p>
            <a:pPr>
              <a:lnSpc>
                <a:spcPct val="100000"/>
              </a:lnSpc>
            </a:pPr>
            <a:r>
              <a:rPr sz="1250" b="0">
                <a:solidFill>
                  <a:srgbClr val="E6E6E6"/>
                </a:solidFill>
                <a:latin typeface="Consolas"/>
              </a:rPr>
              <a:t>SQL&gt; GRANT READ, WRITE ON DIRECTORY dp_dir TO hr;</a:t>
            </a:r>
          </a:p>
          <a:p>
            <a:pPr>
              <a:lnSpc>
                <a:spcPct val="100000"/>
              </a:lnSpc>
            </a:pPr>
            <a:r>
              <a:rPr sz="1250" b="0">
                <a:solidFill>
                  <a:srgbClr val="E6E6E6"/>
                </a:solidFill>
                <a:latin typeface="Consolas"/>
              </a:rPr>
              <a:t> </a:t>
            </a:r>
          </a:p>
          <a:p>
            <a:pPr>
              <a:lnSpc>
                <a:spcPct val="100000"/>
              </a:lnSpc>
            </a:pPr>
            <a:r>
              <a:rPr sz="1250" b="0">
                <a:solidFill>
                  <a:srgbClr val="7EC699"/>
                </a:solidFill>
                <a:latin typeface="Consolas"/>
              </a:rPr>
              <a:t>-- (2) 스키마 모드로 HR 전체 내보내기 (OS 프롬프트)</a:t>
            </a:r>
          </a:p>
          <a:p>
            <a:pPr>
              <a:lnSpc>
                <a:spcPct val="100000"/>
              </a:lnSpc>
            </a:pPr>
            <a:r>
              <a:rPr sz="1250" b="0">
                <a:solidFill>
                  <a:srgbClr val="E6E6E6"/>
                </a:solidFill>
                <a:latin typeface="Consolas"/>
              </a:rPr>
              <a:t>$ expdp hr@pdb1 SCHEMAS=hr \</a:t>
            </a:r>
          </a:p>
          <a:p>
            <a:pPr>
              <a:lnSpc>
                <a:spcPct val="100000"/>
              </a:lnSpc>
            </a:pPr>
            <a:r>
              <a:rPr sz="1250" b="0">
                <a:solidFill>
                  <a:srgbClr val="E6E6E6"/>
                </a:solidFill>
                <a:latin typeface="Consolas"/>
              </a:rPr>
              <a:t>        DIRECTORY=dp_dir \</a:t>
            </a:r>
          </a:p>
          <a:p>
            <a:pPr>
              <a:lnSpc>
                <a:spcPct val="100000"/>
              </a:lnSpc>
            </a:pPr>
            <a:r>
              <a:rPr sz="1250" b="0">
                <a:solidFill>
                  <a:srgbClr val="E6E6E6"/>
                </a:solidFill>
                <a:latin typeface="Consolas"/>
              </a:rPr>
              <a:t>        DUMPFILE=hr.dmp \</a:t>
            </a:r>
          </a:p>
          <a:p>
            <a:pPr>
              <a:lnSpc>
                <a:spcPct val="100000"/>
              </a:lnSpc>
            </a:pPr>
            <a:r>
              <a:rPr sz="1250" b="0">
                <a:solidFill>
                  <a:srgbClr val="E6E6E6"/>
                </a:solidFill>
                <a:latin typeface="Consolas"/>
              </a:rPr>
              <a:t>        LOGFILE=hr_exp.log</a:t>
            </a:r>
          </a:p>
          <a:p>
            <a:pPr>
              <a:lnSpc>
                <a:spcPct val="100000"/>
              </a:lnSpc>
            </a:pPr>
            <a:r>
              <a:rPr sz="1250" b="0">
                <a:solidFill>
                  <a:srgbClr val="E6E6E6"/>
                </a:solidFill>
                <a:latin typeface="Consolas"/>
              </a:rPr>
              <a:t> </a:t>
            </a:r>
          </a:p>
          <a:p>
            <a:pPr>
              <a:lnSpc>
                <a:spcPct val="100000"/>
              </a:lnSpc>
            </a:pPr>
            <a:r>
              <a:rPr sz="1250" b="0">
                <a:solidFill>
                  <a:srgbClr val="7EC699"/>
                </a:solidFill>
                <a:latin typeface="Consolas"/>
              </a:rPr>
              <a:t>-- SCHEMAS=대상 스키마, DIRECTORY=디렉터리 객체</a:t>
            </a:r>
          </a:p>
          <a:p>
            <a:pPr>
              <a:lnSpc>
                <a:spcPct val="100000"/>
              </a:lnSpc>
            </a:pPr>
            <a:r>
              <a:rPr sz="1250" b="0">
                <a:solidFill>
                  <a:srgbClr val="7EC699"/>
                </a:solidFill>
                <a:latin typeface="Consolas"/>
              </a:rPr>
              <a:t>-- DUMPFILE=생성 덤프파일, LOGFILE=진행 로그</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모드·파라미터·재시작</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작업 범위와 제어 옵션</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500"/>
              </a:spcAft>
            </a:pPr>
            <a:r>
              <a:rPr sz="1800" b="0">
                <a:solidFill>
                  <a:srgbClr val="C0392B"/>
                </a:solidFill>
                <a:latin typeface="맑은 고딕"/>
              </a:rPr>
              <a:t>•  모드: FULL=Y(전체) · SCHEMAS · TABLES · TABLESPACES · TRANSPORT_TABLESPACES</a:t>
            </a:r>
          </a:p>
          <a:p>
            <a:pPr>
              <a:spcAft>
                <a:spcPts val="500"/>
              </a:spcAft>
            </a:pPr>
            <a:r>
              <a:rPr sz="1800" b="0">
                <a:solidFill>
                  <a:srgbClr val="C0392B"/>
                </a:solidFill>
                <a:latin typeface="맑은 고딕"/>
              </a:rPr>
              <a:t>•  제어: CONTENT(METADATA_ONLY/DATA_ONLY/ALL) · INCLUDE/EXCLUDE · QUERY · PARALLEL</a:t>
            </a:r>
          </a:p>
          <a:p>
            <a:pPr>
              <a:spcAft>
                <a:spcPts val="500"/>
              </a:spcAft>
            </a:pPr>
            <a:r>
              <a:rPr sz="1800" b="0">
                <a:solidFill>
                  <a:srgbClr val="C0392B"/>
                </a:solidFill>
                <a:latin typeface="맑은 고딕"/>
              </a:rPr>
              <a:t>•  실행 중 Ctrl+C → 대화형 명령 모드: STATUS·PARALLEL·STOP_JOB·START_JOB</a:t>
            </a:r>
          </a:p>
          <a:p>
            <a:pPr>
              <a:spcAft>
                <a:spcPts val="500"/>
              </a:spcAft>
            </a:pPr>
            <a:r>
              <a:rPr sz="1800" b="0">
                <a:solidFill>
                  <a:srgbClr val="C0392B"/>
                </a:solidFill>
                <a:latin typeface="맑은 고딕"/>
              </a:rPr>
              <a:t>•  다른 스키마/FULL은 DATAPUMP_EXP_FULL_DATABASE·DATAPUMP_IMP_FULL_DATABASE 롤 필요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impdp 기본 실행</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덤프파일을 대상에 가져오기</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spAutoFit/>
          </a:bodyPr>
          <a:lstStyle/>
          <a:p>
            <a:pPr>
              <a:lnSpc>
                <a:spcPct val="100000"/>
              </a:lnSpc>
            </a:pPr>
            <a:r>
              <a:rPr sz="1250" b="0">
                <a:solidFill>
                  <a:srgbClr val="7EC699"/>
                </a:solidFill>
                <a:latin typeface="Consolas"/>
              </a:rPr>
              <a:t>-- 같은 디렉터리의 hr.dmp를 읽어 객체·데이터 생성</a:t>
            </a:r>
          </a:p>
          <a:p>
            <a:pPr>
              <a:lnSpc>
                <a:spcPct val="100000"/>
              </a:lnSpc>
            </a:pPr>
            <a:r>
              <a:rPr sz="1250" b="0">
                <a:solidFill>
                  <a:srgbClr val="E6E6E6"/>
                </a:solidFill>
                <a:latin typeface="Consolas"/>
              </a:rPr>
              <a:t>$ impdp hr@pdb1 SCHEMAS=hr \</a:t>
            </a:r>
          </a:p>
          <a:p>
            <a:pPr>
              <a:lnSpc>
                <a:spcPct val="100000"/>
              </a:lnSpc>
            </a:pPr>
            <a:r>
              <a:rPr sz="1250" b="0">
                <a:solidFill>
                  <a:srgbClr val="E6E6E6"/>
                </a:solidFill>
                <a:latin typeface="Consolas"/>
              </a:rPr>
              <a:t>        DIRECTORY=dp_dir \</a:t>
            </a:r>
          </a:p>
          <a:p>
            <a:pPr>
              <a:lnSpc>
                <a:spcPct val="100000"/>
              </a:lnSpc>
            </a:pPr>
            <a:r>
              <a:rPr sz="1250" b="0">
                <a:solidFill>
                  <a:srgbClr val="E6E6E6"/>
                </a:solidFill>
                <a:latin typeface="Consolas"/>
              </a:rPr>
              <a:t>        DUMPFILE=hr.dmp \</a:t>
            </a:r>
          </a:p>
          <a:p>
            <a:pPr>
              <a:lnSpc>
                <a:spcPct val="100000"/>
              </a:lnSpc>
            </a:pPr>
            <a:r>
              <a:rPr sz="1250" b="0">
                <a:solidFill>
                  <a:srgbClr val="E6E6E6"/>
                </a:solidFill>
                <a:latin typeface="Consolas"/>
              </a:rPr>
              <a:t>        LOGFILE=hr_imp.log \</a:t>
            </a:r>
          </a:p>
          <a:p>
            <a:pPr>
              <a:lnSpc>
                <a:spcPct val="100000"/>
              </a:lnSpc>
            </a:pPr>
            <a:r>
              <a:rPr sz="1250" b="0">
                <a:solidFill>
                  <a:srgbClr val="E6E6E6"/>
                </a:solidFill>
                <a:latin typeface="Consolas"/>
              </a:rPr>
              <a:t>        TABLE_EXISTS_ACTION=REPLACE</a:t>
            </a:r>
          </a:p>
          <a:p>
            <a:pPr>
              <a:lnSpc>
                <a:spcPct val="100000"/>
              </a:lnSpc>
            </a:pPr>
            <a:r>
              <a:rPr sz="1250" b="0">
                <a:solidFill>
                  <a:srgbClr val="E6E6E6"/>
                </a:solidFill>
                <a:latin typeface="Consolas"/>
              </a:rPr>
              <a:t> </a:t>
            </a:r>
          </a:p>
          <a:p>
            <a:pPr>
              <a:lnSpc>
                <a:spcPct val="100000"/>
              </a:lnSpc>
            </a:pPr>
            <a:r>
              <a:rPr sz="1250" b="0">
                <a:solidFill>
                  <a:srgbClr val="7EC699"/>
                </a:solidFill>
                <a:latin typeface="Consolas"/>
              </a:rPr>
              <a:t>-- TABLE_EXISTS_ACTION: 기존 테이블 처리 방식</a:t>
            </a:r>
          </a:p>
          <a:p>
            <a:pPr>
              <a:lnSpc>
                <a:spcPct val="100000"/>
              </a:lnSpc>
            </a:pPr>
            <a:r>
              <a:rPr sz="1250" b="0">
                <a:solidFill>
                  <a:srgbClr val="7EC699"/>
                </a:solidFill>
                <a:latin typeface="Consolas"/>
              </a:rPr>
              <a:t>--   SKIP    : 건너뛴다(기본)</a:t>
            </a:r>
          </a:p>
          <a:p>
            <a:pPr>
              <a:lnSpc>
                <a:spcPct val="100000"/>
              </a:lnSpc>
            </a:pPr>
            <a:r>
              <a:rPr sz="1250" b="0">
                <a:solidFill>
                  <a:srgbClr val="7EC699"/>
                </a:solidFill>
                <a:latin typeface="Consolas"/>
              </a:rPr>
              <a:t>--   APPEND  : 기존 행 유지 후 추가</a:t>
            </a:r>
          </a:p>
          <a:p>
            <a:pPr>
              <a:lnSpc>
                <a:spcPct val="100000"/>
              </a:lnSpc>
            </a:pPr>
            <a:r>
              <a:rPr sz="1250" b="0">
                <a:solidFill>
                  <a:srgbClr val="7EC699"/>
                </a:solidFill>
                <a:latin typeface="Consolas"/>
              </a:rPr>
              <a:t>--   TRUNCATE: 비우고 적재</a:t>
            </a:r>
          </a:p>
          <a:p>
            <a:pPr>
              <a:lnSpc>
                <a:spcPct val="100000"/>
              </a:lnSpc>
            </a:pPr>
            <a:r>
              <a:rPr sz="1250" b="0">
                <a:solidFill>
                  <a:srgbClr val="7EC699"/>
                </a:solidFill>
                <a:latin typeface="Consolas"/>
              </a:rPr>
              <a:t>--   REPLACE : DROP 후 재생성</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27.2</a:t>
            </a:r>
          </a:p>
        </p:txBody>
      </p:sp>
      <p:sp>
        <p:nvSpPr>
          <p:cNvPr id="4" name="TextBox 3"/>
          <p:cNvSpPr txBox="1"/>
          <p:nvPr/>
        </p:nvSpPr>
        <p:spPr>
          <a:xfrm>
            <a:off x="822960" y="3017520"/>
            <a:ext cx="10515600" cy="914400"/>
          </a:xfrm>
          <a:prstGeom prst="rect">
            <a:avLst/>
          </a:prstGeom>
          <a:noFill/>
        </p:spPr>
        <p:txBody>
          <a:bodyPr wrap="square">
            <a:spAutoFit/>
          </a:bodyPr>
          <a:lstStyle/>
          <a:p>
            <a:r>
              <a:rPr sz="2800" b="0">
                <a:solidFill>
                  <a:srgbClr val="FFFFFF"/>
                </a:solidFill>
                <a:latin typeface="맑은 고딕"/>
              </a:rPr>
              <a:t>Data Pump Import 변환 옵션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400"/>
              </a:spcAft>
            </a:pPr>
            <a:r>
              <a:rPr sz="1600" b="0">
                <a:solidFill>
                  <a:srgbClr val="FFFFFF"/>
                </a:solidFill>
                <a:latin typeface="맑은 고딕"/>
              </a:rPr>
              <a:t>•  REMAP_SCHEMA · REMAP_TABLESPACE</a:t>
            </a:r>
          </a:p>
          <a:p>
            <a:pPr>
              <a:spcAft>
                <a:spcPts val="400"/>
              </a:spcAft>
            </a:pPr>
            <a:r>
              <a:rPr sz="1600" b="0">
                <a:solidFill>
                  <a:srgbClr val="FFFFFF"/>
                </a:solidFill>
                <a:latin typeface="맑은 고딕"/>
              </a:rPr>
              <a:t>•  REMAP_DATAFILE · TRANSFORM</a:t>
            </a:r>
          </a:p>
          <a:p>
            <a:pPr>
              <a:spcAft>
                <a:spcPts val="400"/>
              </a:spcAft>
            </a:pPr>
            <a:r>
              <a:rPr sz="1600" b="0">
                <a:solidFill>
                  <a:srgbClr val="FFFFFF"/>
                </a:solidFill>
                <a:latin typeface="맑은 고딕"/>
              </a:rPr>
              <a:t>•  가져오면서 구조를 바꾼다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가져오기의 진짜 힘: 변환</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원본을 그대로 복제하지 않는다</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500"/>
              </a:spcAft>
            </a:pPr>
            <a:r>
              <a:rPr sz="1800" b="0">
                <a:solidFill>
                  <a:srgbClr val="C0392B"/>
                </a:solidFill>
                <a:latin typeface="맑은 고딕"/>
              </a:rPr>
              <a:t>•  REMAP_SCHEMA=원본:대상 — 객체 소유자(스키마)를 바꿔 가져온다</a:t>
            </a:r>
          </a:p>
          <a:p>
            <a:pPr>
              <a:spcAft>
                <a:spcPts val="500"/>
              </a:spcAft>
            </a:pPr>
            <a:r>
              <a:rPr sz="1800" b="0">
                <a:solidFill>
                  <a:srgbClr val="C0392B"/>
                </a:solidFill>
                <a:latin typeface="맑은 고딕"/>
              </a:rPr>
              <a:t>•  REMAP_TABLESPACE=원본TS:대상TS — 객체 저장 테이블스페이스를 재배치</a:t>
            </a:r>
          </a:p>
          <a:p>
            <a:pPr>
              <a:spcAft>
                <a:spcPts val="500"/>
              </a:spcAft>
            </a:pPr>
            <a:r>
              <a:rPr sz="1800" b="0">
                <a:solidFill>
                  <a:srgbClr val="C0392B"/>
                </a:solidFill>
                <a:latin typeface="맑은 고딕"/>
              </a:rPr>
              <a:t>•  REMAP_DATAFILE='원본경로':'대상경로' — 메타데이터의 파일 경로 문자열 치환</a:t>
            </a:r>
          </a:p>
          <a:p>
            <a:pPr>
              <a:spcAft>
                <a:spcPts val="500"/>
              </a:spcAft>
            </a:pPr>
            <a:r>
              <a:rPr sz="1800" b="0">
                <a:solidFill>
                  <a:srgbClr val="C0392B"/>
                </a:solidFill>
                <a:latin typeface="맑은 고딕"/>
              </a:rPr>
              <a:t>•  TRANSFORM=이름:값[:객체유형] — 개별 DDL 속성을 켜고 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변환 옵션 실전 예</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REMAP과 TRANSFORM 조합</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spAutoFit/>
          </a:bodyPr>
          <a:lstStyle/>
          <a:p>
            <a:pPr>
              <a:lnSpc>
                <a:spcPct val="100000"/>
              </a:lnSpc>
            </a:pPr>
            <a:r>
              <a:rPr sz="1250" b="0">
                <a:solidFill>
                  <a:srgbClr val="7EC699"/>
                </a:solidFill>
                <a:latin typeface="Consolas"/>
              </a:rPr>
              <a:t>-- 개발 HR → 스테이징 HR_STG, USERS → TS_STG로 재배치</a:t>
            </a:r>
          </a:p>
          <a:p>
            <a:pPr>
              <a:lnSpc>
                <a:spcPct val="100000"/>
              </a:lnSpc>
            </a:pPr>
            <a:r>
              <a:rPr sz="1250" b="0">
                <a:solidFill>
                  <a:srgbClr val="E6E6E6"/>
                </a:solidFill>
                <a:latin typeface="Consolas"/>
              </a:rPr>
              <a:t>$ impdp system@pdb1 \</a:t>
            </a:r>
          </a:p>
          <a:p>
            <a:pPr>
              <a:lnSpc>
                <a:spcPct val="100000"/>
              </a:lnSpc>
            </a:pPr>
            <a:r>
              <a:rPr sz="1250" b="0">
                <a:solidFill>
                  <a:srgbClr val="E6E6E6"/>
                </a:solidFill>
                <a:latin typeface="Consolas"/>
              </a:rPr>
              <a:t>        DIRECTORY=dp_dir DUMPFILE=hr.dmp \</a:t>
            </a:r>
          </a:p>
          <a:p>
            <a:pPr>
              <a:lnSpc>
                <a:spcPct val="100000"/>
              </a:lnSpc>
            </a:pPr>
            <a:r>
              <a:rPr sz="1250" b="0">
                <a:solidFill>
                  <a:srgbClr val="E6E6E6"/>
                </a:solidFill>
                <a:latin typeface="Consolas"/>
              </a:rPr>
              <a:t>        REMAP_SCHEMA=hr:hr_stg \</a:t>
            </a:r>
          </a:p>
          <a:p>
            <a:pPr>
              <a:lnSpc>
                <a:spcPct val="100000"/>
              </a:lnSpc>
            </a:pPr>
            <a:r>
              <a:rPr sz="1250" b="0">
                <a:solidFill>
                  <a:srgbClr val="E6E6E6"/>
                </a:solidFill>
                <a:latin typeface="Consolas"/>
              </a:rPr>
              <a:t>        REMAP_TABLESPACE=users:ts_stg \</a:t>
            </a:r>
          </a:p>
          <a:p>
            <a:pPr>
              <a:lnSpc>
                <a:spcPct val="100000"/>
              </a:lnSpc>
            </a:pPr>
            <a:r>
              <a:rPr sz="1250" b="0">
                <a:solidFill>
                  <a:srgbClr val="E6E6E6"/>
                </a:solidFill>
                <a:latin typeface="Consolas"/>
              </a:rPr>
              <a:t>        TRANSFORM=SEGMENT_ATTRIBUTES:N \</a:t>
            </a:r>
          </a:p>
          <a:p>
            <a:pPr>
              <a:lnSpc>
                <a:spcPct val="100000"/>
              </a:lnSpc>
            </a:pPr>
            <a:r>
              <a:rPr sz="1250" b="0">
                <a:solidFill>
                  <a:srgbClr val="E6E6E6"/>
                </a:solidFill>
                <a:latin typeface="Consolas"/>
              </a:rPr>
              <a:t>        TRANSFORM=DISABLE_ARCHIVE_LOGGING:Y</a:t>
            </a:r>
          </a:p>
          <a:p>
            <a:pPr>
              <a:lnSpc>
                <a:spcPct val="100000"/>
              </a:lnSpc>
            </a:pPr>
            <a:r>
              <a:rPr sz="1250" b="0">
                <a:solidFill>
                  <a:srgbClr val="E6E6E6"/>
                </a:solidFill>
                <a:latin typeface="Consolas"/>
              </a:rPr>
              <a:t> </a:t>
            </a:r>
          </a:p>
          <a:p>
            <a:pPr>
              <a:lnSpc>
                <a:spcPct val="100000"/>
              </a:lnSpc>
            </a:pPr>
            <a:r>
              <a:rPr sz="1250" b="0">
                <a:solidFill>
                  <a:srgbClr val="7EC699"/>
                </a:solidFill>
                <a:latin typeface="Consolas"/>
              </a:rPr>
              <a:t>-- SEGMENT_ATTRIBUTES:N → 저장 절 제거, 대상 기본값 사용</a:t>
            </a:r>
          </a:p>
          <a:p>
            <a:pPr>
              <a:lnSpc>
                <a:spcPct val="100000"/>
              </a:lnSpc>
            </a:pPr>
            <a:r>
              <a:rPr sz="1250" b="0">
                <a:solidFill>
                  <a:srgbClr val="7EC699"/>
                </a:solidFill>
                <a:latin typeface="Consolas"/>
              </a:rPr>
              <a:t>-- DISABLE_ARCHIVE_LOGGING:Y → 적재 중 리두 최소화</a:t>
            </a:r>
          </a:p>
          <a:p>
            <a:pPr>
              <a:lnSpc>
                <a:spcPct val="100000"/>
              </a:lnSpc>
            </a:pPr>
            <a:r>
              <a:rPr sz="1250" b="0">
                <a:solidFill>
                  <a:srgbClr val="7EC699"/>
                </a:solidFill>
                <a:latin typeface="Consolas"/>
              </a:rPr>
              <a:t>-- REMAP_DATAFILE → TTS/Full Transportable에서 경로 치환</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27.3</a:t>
            </a:r>
          </a:p>
        </p:txBody>
      </p:sp>
      <p:sp>
        <p:nvSpPr>
          <p:cNvPr id="4" name="TextBox 3"/>
          <p:cNvSpPr txBox="1"/>
          <p:nvPr/>
        </p:nvSpPr>
        <p:spPr>
          <a:xfrm>
            <a:off x="822960" y="3017520"/>
            <a:ext cx="10515600" cy="914400"/>
          </a:xfrm>
          <a:prstGeom prst="rect">
            <a:avLst/>
          </a:prstGeom>
          <a:noFill/>
        </p:spPr>
        <p:txBody>
          <a:bodyPr wrap="square">
            <a:spAutoFit/>
          </a:bodyPr>
          <a:lstStyle/>
          <a:p>
            <a:r>
              <a:rPr sz="2800" b="0">
                <a:solidFill>
                  <a:srgbClr val="FFFFFF"/>
                </a:solidFill>
                <a:latin typeface="맑은 고딕"/>
              </a:rPr>
              <a:t>멀티테넌트 환경의 Data Pump</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400"/>
              </a:spcAft>
            </a:pPr>
            <a:r>
              <a:rPr sz="1600" b="0">
                <a:solidFill>
                  <a:srgbClr val="FFFFFF"/>
                </a:solidFill>
                <a:latin typeface="맑은 고딕"/>
              </a:rPr>
              <a:t>•  접속 대상 = 작업 범위</a:t>
            </a:r>
          </a:p>
          <a:p>
            <a:pPr>
              <a:spcAft>
                <a:spcPts val="400"/>
              </a:spcAft>
            </a:pPr>
            <a:r>
              <a:rPr sz="1600" b="0">
                <a:solidFill>
                  <a:srgbClr val="FFFFFF"/>
                </a:solidFill>
                <a:latin typeface="맑은 고딕"/>
              </a:rPr>
              <a:t>•  PDB 단위 vs CDB 전체(FULL=Y)</a:t>
            </a:r>
          </a:p>
          <a:p>
            <a:pPr>
              <a:spcAft>
                <a:spcPts val="400"/>
              </a:spcAft>
            </a:pPr>
            <a:r>
              <a:rPr sz="1600" b="0">
                <a:solidFill>
                  <a:srgbClr val="FFFFFF"/>
                </a:solidFill>
                <a:latin typeface="맑은 고딕"/>
              </a:rPr>
              <a:t>•  공통 사용자와 컨테이너</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접속 컨테이너가 범위를 결정</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expdp/impdp는 접속한 컨테이너 기준 동작</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500"/>
              </a:spcAft>
            </a:pPr>
            <a:r>
              <a:rPr sz="1800" b="0">
                <a:solidFill>
                  <a:srgbClr val="C0392B"/>
                </a:solidFill>
                <a:latin typeface="맑은 고딕"/>
              </a:rPr>
              <a:t>•  PDB 서비스명으로 접속 → 그 PDB만 대상</a:t>
            </a:r>
          </a:p>
          <a:p>
            <a:pPr>
              <a:spcAft>
                <a:spcPts val="500"/>
              </a:spcAft>
            </a:pPr>
            <a:r>
              <a:rPr sz="1800" b="0">
                <a:solidFill>
                  <a:srgbClr val="C0392B"/>
                </a:solidFill>
                <a:latin typeface="맑은 고딕"/>
              </a:rPr>
              <a:t>•  CDB$ROOT에 공통 사용자로 접속 + FULL=Y → CDB 전체 대상</a:t>
            </a:r>
          </a:p>
          <a:p>
            <a:pPr>
              <a:spcAft>
                <a:spcPts val="500"/>
              </a:spcAft>
            </a:pPr>
            <a:r>
              <a:rPr sz="1800" b="0">
                <a:solidFill>
                  <a:srgbClr val="C0392B"/>
                </a:solidFill>
                <a:latin typeface="맑은 고딕"/>
              </a:rPr>
              <a:t>•  PDB는 독립 애플리케이션 DB처럼 취급 — non-CDB 시절 명령을 거의 그대로 사용</a:t>
            </a:r>
          </a:p>
          <a:p>
            <a:pPr>
              <a:spcAft>
                <a:spcPts val="500"/>
              </a:spcAft>
            </a:pPr>
            <a:r>
              <a:rPr sz="1600" b="0">
                <a:solidFill>
                  <a:srgbClr val="5A6672"/>
                </a:solidFill>
                <a:latin typeface="맑은 고딕"/>
              </a:rPr>
              <a:t>     –  어느 서비스명으로 접속하느냐가 범위를 사실상 결정한다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CDB 전체 내보내기(FULL=Y)</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루트 공통 사용자로 접속</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500"/>
              </a:spcAft>
            </a:pPr>
            <a:r>
              <a:rPr sz="1800" b="0">
                <a:solidFill>
                  <a:srgbClr val="C0392B"/>
                </a:solidFill>
                <a:latin typeface="맑은 고딕"/>
              </a:rPr>
              <a:t>•  CDB$ROOT에 SYSTEM 또는 c## 공통 사용자로 접속 후 FULL=Y</a:t>
            </a:r>
          </a:p>
          <a:p>
            <a:pPr>
              <a:spcAft>
                <a:spcPts val="500"/>
              </a:spcAft>
            </a:pPr>
            <a:r>
              <a:rPr sz="1800" b="0">
                <a:solidFill>
                  <a:srgbClr val="C0392B"/>
                </a:solidFill>
                <a:latin typeface="맑은 고딕"/>
              </a:rPr>
              <a:t>•  루트 객체뿐 아니라 모든 PDB의 사용자 데이터가 포함된다</a:t>
            </a:r>
          </a:p>
          <a:p>
            <a:pPr>
              <a:spcAft>
                <a:spcPts val="500"/>
              </a:spcAft>
            </a:pPr>
            <a:r>
              <a:rPr sz="1800" b="0">
                <a:solidFill>
                  <a:srgbClr val="C0392B"/>
                </a:solidFill>
                <a:latin typeface="맑은 고딕"/>
              </a:rPr>
              <a:t>•  오라클 제공 스키마(SYS/SYSTEM)는 대상에 이미 존재 — 통상 사용자 데이터만 의미</a:t>
            </a:r>
          </a:p>
          <a:p>
            <a:pPr>
              <a:spcAft>
                <a:spcPts val="500"/>
              </a:spcAft>
            </a:pPr>
            <a:r>
              <a:rPr sz="1800" b="0">
                <a:solidFill>
                  <a:srgbClr val="C0392B"/>
                </a:solidFill>
                <a:latin typeface="맑은 고딕"/>
              </a:rPr>
              <a:t>•  세밀한 통제는 PDB별 개별 접속·스키마 모드가, 통합 이관은 FULL 모드가 유리</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27.4</a:t>
            </a:r>
          </a:p>
        </p:txBody>
      </p:sp>
      <p:sp>
        <p:nvSpPr>
          <p:cNvPr id="4" name="TextBox 3"/>
          <p:cNvSpPr txBox="1"/>
          <p:nvPr/>
        </p:nvSpPr>
        <p:spPr>
          <a:xfrm>
            <a:off x="822960" y="3017520"/>
            <a:ext cx="10515600" cy="914400"/>
          </a:xfrm>
          <a:prstGeom prst="rect">
            <a:avLst/>
          </a:prstGeom>
          <a:noFill/>
        </p:spPr>
        <p:txBody>
          <a:bodyPr wrap="square">
            <a:spAutoFit/>
          </a:bodyPr>
          <a:lstStyle/>
          <a:p>
            <a:r>
              <a:rPr sz="2800" b="0">
                <a:solidFill>
                  <a:srgbClr val="FFFFFF"/>
                </a:solidFill>
                <a:latin typeface="맑은 고딕"/>
              </a:rPr>
              <a:t>non-CDB에서 PDB로 가져오기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400"/>
              </a:spcAft>
            </a:pPr>
            <a:r>
              <a:rPr sz="1600" b="0">
                <a:solidFill>
                  <a:srgbClr val="FFFFFF"/>
                </a:solidFill>
                <a:latin typeface="맑은 고딕"/>
              </a:rPr>
              <a:t>•  19c non-CDB는 사실상 마지막 세대</a:t>
            </a:r>
          </a:p>
          <a:p>
            <a:pPr>
              <a:spcAft>
                <a:spcPts val="400"/>
              </a:spcAft>
            </a:pPr>
            <a:r>
              <a:rPr sz="1600" b="0">
                <a:solidFill>
                  <a:srgbClr val="FFFFFF"/>
                </a:solidFill>
                <a:latin typeface="맑은 고딕"/>
              </a:rPr>
              <a:t>•  Data Pump 논리 이동</a:t>
            </a:r>
          </a:p>
          <a:p>
            <a:pPr>
              <a:spcAft>
                <a:spcPts val="400"/>
              </a:spcAft>
            </a:pPr>
            <a:r>
              <a:rPr sz="1600" b="0">
                <a:solidFill>
                  <a:srgbClr val="FFFFFF"/>
                </a:solidFill>
                <a:latin typeface="맑은 고딕"/>
              </a:rPr>
              <a:t>•  변환 옵션과 함께 사용</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non-CDB → PDB 마이그레이션</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매우 흔한 이관 작업</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500"/>
              </a:spcAft>
            </a:pPr>
            <a:r>
              <a:rPr sz="1800" b="0">
                <a:solidFill>
                  <a:srgbClr val="C0392B"/>
                </a:solidFill>
                <a:latin typeface="맑은 고딕"/>
              </a:rPr>
              <a:t>•  19c에서 non-CDB는 마지막 세대 — 향후 릴리스에서 지원 종료 예정</a:t>
            </a:r>
          </a:p>
          <a:p>
            <a:pPr>
              <a:spcAft>
                <a:spcPts val="500"/>
              </a:spcAft>
            </a:pPr>
            <a:r>
              <a:rPr sz="1800" b="0">
                <a:solidFill>
                  <a:srgbClr val="C0392B"/>
                </a:solidFill>
                <a:latin typeface="맑은 고딕"/>
              </a:rPr>
              <a:t>•  방법1: DBMS_PDB.DESCRIBE로 언플러그·플러그인(15장)</a:t>
            </a:r>
          </a:p>
          <a:p>
            <a:pPr>
              <a:spcAft>
                <a:spcPts val="500"/>
              </a:spcAft>
            </a:pPr>
            <a:r>
              <a:rPr sz="1800" b="0">
                <a:solidFill>
                  <a:srgbClr val="C0392B"/>
                </a:solidFill>
                <a:latin typeface="맑은 고딕"/>
              </a:rPr>
              <a:t>•  방법2: Data Pump 논리 이동 (이 절)</a:t>
            </a:r>
          </a:p>
          <a:p>
            <a:pPr>
              <a:spcAft>
                <a:spcPts val="500"/>
              </a:spcAft>
            </a:pPr>
            <a:r>
              <a:rPr sz="1800" b="0">
                <a:solidFill>
                  <a:srgbClr val="C0392B"/>
                </a:solidFill>
                <a:latin typeface="맑은 고딕"/>
              </a:rPr>
              <a:t>•  방법3: Full Transportable Export/Import (27.6, 대용량 고속)</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Data Pump 논리 이동의 장단점</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호환성은 넓게, 속도는 데이터 양에 비례</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500"/>
              </a:spcAft>
            </a:pPr>
            <a:r>
              <a:rPr sz="1800" b="0">
                <a:solidFill>
                  <a:srgbClr val="C0392B"/>
                </a:solidFill>
                <a:latin typeface="맑은 고딕"/>
              </a:rPr>
              <a:t>•  non-CDB는 서비스명으로 접속해 평범하게 expdp — 대상 PDB에 impdp</a:t>
            </a:r>
          </a:p>
          <a:p>
            <a:pPr>
              <a:spcAft>
                <a:spcPts val="500"/>
              </a:spcAft>
            </a:pPr>
            <a:r>
              <a:rPr sz="1800" b="0">
                <a:solidFill>
                  <a:srgbClr val="C0392B"/>
                </a:solidFill>
                <a:latin typeface="맑은 고딕"/>
              </a:rPr>
              <a:t>•  장점: 플랫폼·엔디안·버전이 달라도 논리 이동이라 대체로 호환(문자집합만 유의)</a:t>
            </a:r>
          </a:p>
          <a:p>
            <a:pPr>
              <a:spcAft>
                <a:spcPts val="500"/>
              </a:spcAft>
            </a:pPr>
            <a:r>
              <a:rPr sz="1800" b="0">
                <a:solidFill>
                  <a:srgbClr val="C0392B"/>
                </a:solidFill>
                <a:latin typeface="맑은 고딕"/>
              </a:rPr>
              <a:t>•  단점: 데이터 양에 비례해 시간 증가 — 수 TB면 느리다</a:t>
            </a:r>
          </a:p>
          <a:p>
            <a:pPr>
              <a:spcAft>
                <a:spcPts val="500"/>
              </a:spcAft>
            </a:pPr>
            <a:r>
              <a:rPr sz="1800" b="0">
                <a:solidFill>
                  <a:srgbClr val="C0392B"/>
                </a:solidFill>
                <a:latin typeface="맑은 고딕"/>
              </a:rPr>
              <a:t>•  스키마·TS 레이아웃이 다르면 27.2 변환 옵션을 함께 사용</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27.5</a:t>
            </a:r>
          </a:p>
        </p:txBody>
      </p:sp>
      <p:sp>
        <p:nvSpPr>
          <p:cNvPr id="4" name="TextBox 3"/>
          <p:cNvSpPr txBox="1"/>
          <p:nvPr/>
        </p:nvSpPr>
        <p:spPr>
          <a:xfrm>
            <a:off x="822960" y="3017520"/>
            <a:ext cx="10515600" cy="914400"/>
          </a:xfrm>
          <a:prstGeom prst="rect">
            <a:avLst/>
          </a:prstGeom>
          <a:noFill/>
        </p:spPr>
        <p:txBody>
          <a:bodyPr wrap="square">
            <a:spAutoFit/>
          </a:bodyPr>
          <a:lstStyle/>
          <a:p>
            <a:r>
              <a:rPr sz="2800" b="0">
                <a:solidFill>
                  <a:srgbClr val="FFFFFF"/>
                </a:solidFill>
                <a:latin typeface="맑은 고딕"/>
              </a:rPr>
              <a:t>PDB 간 데이터 이동</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400"/>
              </a:spcAft>
            </a:pPr>
            <a:r>
              <a:rPr sz="1600" b="0">
                <a:solidFill>
                  <a:srgbClr val="FFFFFF"/>
                </a:solidFill>
                <a:latin typeface="맑은 고딕"/>
              </a:rPr>
              <a:t>•  원본 PDB 내보내기 → 대상 PDB 가져오기</a:t>
            </a:r>
          </a:p>
          <a:p>
            <a:pPr>
              <a:spcAft>
                <a:spcPts val="400"/>
              </a:spcAft>
            </a:pPr>
            <a:r>
              <a:rPr sz="1600" b="0">
                <a:solidFill>
                  <a:srgbClr val="FFFFFF"/>
                </a:solidFill>
                <a:latin typeface="맑은 고딕"/>
              </a:rPr>
              <a:t>•  공유 디렉터리 경로</a:t>
            </a:r>
          </a:p>
          <a:p>
            <a:pPr>
              <a:spcAft>
                <a:spcPts val="400"/>
              </a:spcAft>
            </a:pPr>
            <a:r>
              <a:rPr sz="1600" b="0">
                <a:solidFill>
                  <a:srgbClr val="FFFFFF"/>
                </a:solidFill>
                <a:latin typeface="맑은 고딕"/>
              </a:rPr>
              <a:t>•  NETWORK_LINK로 파일 없이</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PDB 사이의 데이터 이동</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같은 CDB든 다른 CDB든 동일 패턴</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500"/>
              </a:spcAft>
            </a:pPr>
            <a:r>
              <a:rPr sz="1800" b="0">
                <a:solidFill>
                  <a:srgbClr val="C0392B"/>
                </a:solidFill>
                <a:latin typeface="맑은 고딕"/>
              </a:rPr>
              <a:t>•  원본 PDB 접속 후 expdp → 대상 PDB 접속 후 impdp</a:t>
            </a:r>
          </a:p>
          <a:p>
            <a:pPr>
              <a:spcAft>
                <a:spcPts val="500"/>
              </a:spcAft>
            </a:pPr>
            <a:r>
              <a:rPr sz="1800" b="0">
                <a:solidFill>
                  <a:srgbClr val="C0392B"/>
                </a:solidFill>
                <a:latin typeface="맑은 고딕"/>
              </a:rPr>
              <a:t>•  같은 서버의 두 PDB는 하나의 공유 경로를 각각의 디렉터리 객체로 지정 가능</a:t>
            </a:r>
          </a:p>
          <a:p>
            <a:pPr>
              <a:spcAft>
                <a:spcPts val="500"/>
              </a:spcAft>
            </a:pPr>
            <a:r>
              <a:rPr sz="1800" b="0">
                <a:solidFill>
                  <a:srgbClr val="C0392B"/>
                </a:solidFill>
                <a:latin typeface="맑은 고딕"/>
              </a:rPr>
              <a:t>•  덤프파일을 아예 안 만드는 더 깔끔한 방법: NETWORK_LINK(27.7)</a:t>
            </a:r>
          </a:p>
          <a:p>
            <a:pPr>
              <a:spcAft>
                <a:spcPts val="500"/>
              </a:spcAft>
            </a:pPr>
            <a:r>
              <a:rPr sz="1800" b="0">
                <a:solidFill>
                  <a:srgbClr val="C0392B"/>
                </a:solidFill>
                <a:latin typeface="맑은 고딕"/>
              </a:rPr>
              <a:t>•  같은 CDB 내 PDB끼리도 DB 링크 생성 가능 — 중간 파일 없이 한 번의 impdp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27.6</a:t>
            </a:r>
          </a:p>
        </p:txBody>
      </p:sp>
      <p:sp>
        <p:nvSpPr>
          <p:cNvPr id="4" name="TextBox 3"/>
          <p:cNvSpPr txBox="1"/>
          <p:nvPr/>
        </p:nvSpPr>
        <p:spPr>
          <a:xfrm>
            <a:off x="822960" y="3017520"/>
            <a:ext cx="10515600" cy="914400"/>
          </a:xfrm>
          <a:prstGeom prst="rect">
            <a:avLst/>
          </a:prstGeom>
          <a:noFill/>
        </p:spPr>
        <p:txBody>
          <a:bodyPr wrap="square">
            <a:spAutoFit/>
          </a:bodyPr>
          <a:lstStyle/>
          <a:p>
            <a:r>
              <a:rPr sz="2800" b="0">
                <a:solidFill>
                  <a:srgbClr val="FFFFFF"/>
                </a:solidFill>
                <a:latin typeface="맑은 고딕"/>
              </a:rPr>
              <a:t>Full Transportable Export/Import</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400"/>
              </a:spcAft>
            </a:pPr>
            <a:r>
              <a:rPr sz="1600" b="0">
                <a:solidFill>
                  <a:srgbClr val="FFFFFF"/>
                </a:solidFill>
                <a:latin typeface="맑은 고딕"/>
              </a:rPr>
              <a:t>•  TRANSPORTABLE=ALWAYS</a:t>
            </a:r>
          </a:p>
          <a:p>
            <a:pPr>
              <a:spcAft>
                <a:spcPts val="400"/>
              </a:spcAft>
            </a:pPr>
            <a:r>
              <a:rPr sz="1600" b="0">
                <a:solidFill>
                  <a:srgbClr val="FFFFFF"/>
                </a:solidFill>
                <a:latin typeface="맑은 고딕"/>
              </a:rPr>
              <a:t>•  데이터파일 복사 + 메타데이터 Data Pump</a:t>
            </a:r>
          </a:p>
          <a:p>
            <a:pPr>
              <a:spcAft>
                <a:spcPts val="400"/>
              </a:spcAft>
            </a:pPr>
            <a:r>
              <a:rPr sz="1600" b="0">
                <a:solidFill>
                  <a:srgbClr val="FFFFFF"/>
                </a:solidFill>
                <a:latin typeface="맑은 고딕"/>
              </a:rPr>
              <a:t>•  non-CDB→PDB 고속 경로</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Full Transportable의 원리</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느린 부분은 파일 복사, 복잡한 부분은 Data Pump</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500"/>
              </a:spcAft>
            </a:pPr>
            <a:r>
              <a:rPr sz="1800" b="0">
                <a:solidFill>
                  <a:srgbClr val="C0392B"/>
                </a:solidFill>
                <a:latin typeface="맑은 고딕"/>
              </a:rPr>
              <a:t>•  사용자 데이터 테이블스페이스의 데이터파일 → 물리 복사(TTS 방식)</a:t>
            </a:r>
          </a:p>
          <a:p>
            <a:pPr>
              <a:spcAft>
                <a:spcPts val="500"/>
              </a:spcAft>
            </a:pPr>
            <a:r>
              <a:rPr sz="1800" b="0">
                <a:solidFill>
                  <a:srgbClr val="C0392B"/>
                </a:solidFill>
                <a:latin typeface="맑은 고딕"/>
              </a:rPr>
              <a:t>•  사용자·권한·시퀀스·PL/SQL·뷰 등 메타데이터 → Data Pump로 이동</a:t>
            </a:r>
          </a:p>
          <a:p>
            <a:pPr>
              <a:spcAft>
                <a:spcPts val="500"/>
              </a:spcAft>
            </a:pPr>
            <a:r>
              <a:rPr sz="1800" b="0">
                <a:solidFill>
                  <a:srgbClr val="C0392B"/>
                </a:solidFill>
                <a:latin typeface="맑은 고딕"/>
              </a:rPr>
              <a:t>•  활성화: expdp에 FULL=Y + TRANSPORTABLE=ALWAYS</a:t>
            </a:r>
          </a:p>
          <a:p>
            <a:pPr>
              <a:spcAft>
                <a:spcPts val="500"/>
              </a:spcAft>
            </a:pPr>
            <a:r>
              <a:rPr sz="1800" b="0">
                <a:solidFill>
                  <a:srgbClr val="C0392B"/>
                </a:solidFill>
                <a:latin typeface="맑은 고딕"/>
              </a:rPr>
              <a:t>•  전제: 사용자 TS를 READ ONLY 전환 가능 + 원본·대상 엔디안 동일</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왜 빠른가 · VERSION 주의</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물리 복사가 곧 전송 시간의 대부분</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500"/>
              </a:spcAft>
            </a:pPr>
            <a:r>
              <a:rPr sz="1800" b="0">
                <a:solidFill>
                  <a:srgbClr val="C0392B"/>
                </a:solidFill>
                <a:latin typeface="맑은 고딕"/>
              </a:rPr>
              <a:t>•  순수 논리 Data Pump: 모든 행 언로드·재삽입 → 시간이 선형 증가</a:t>
            </a:r>
          </a:p>
          <a:p>
            <a:pPr>
              <a:spcAft>
                <a:spcPts val="500"/>
              </a:spcAft>
            </a:pPr>
            <a:r>
              <a:rPr sz="1800" b="0">
                <a:solidFill>
                  <a:srgbClr val="C0392B"/>
                </a:solidFill>
                <a:latin typeface="맑은 고딕"/>
              </a:rPr>
              <a:t>•  Full Transportable: 데이터파일을 블록 단위 복사 → 인덱스 재생성 불필요</a:t>
            </a:r>
          </a:p>
          <a:p>
            <a:pPr>
              <a:spcAft>
                <a:spcPts val="500"/>
              </a:spcAft>
            </a:pPr>
            <a:r>
              <a:rPr sz="1800" b="0">
                <a:solidFill>
                  <a:srgbClr val="C0392B"/>
                </a:solidFill>
                <a:latin typeface="맑은 고딕"/>
              </a:rPr>
              <a:t>•  원본이 12.1 미만이면 expdp에 VERSION=12 지정(대상이 읽을 형식)</a:t>
            </a:r>
          </a:p>
          <a:p>
            <a:pPr>
              <a:spcAft>
                <a:spcPts val="500"/>
              </a:spcAft>
            </a:pPr>
            <a:r>
              <a:rPr sz="1800" b="0">
                <a:solidFill>
                  <a:srgbClr val="C0392B"/>
                </a:solidFill>
                <a:latin typeface="맑은 고딕"/>
              </a:rPr>
              <a:t>•  11g → 19c PDB 대규모 이관을 데이터 양과 무관하게 고속 수행</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27.7</a:t>
            </a:r>
          </a:p>
        </p:txBody>
      </p:sp>
      <p:sp>
        <p:nvSpPr>
          <p:cNvPr id="4" name="TextBox 3"/>
          <p:cNvSpPr txBox="1"/>
          <p:nvPr/>
        </p:nvSpPr>
        <p:spPr>
          <a:xfrm>
            <a:off x="822960" y="3017520"/>
            <a:ext cx="10515600" cy="914400"/>
          </a:xfrm>
          <a:prstGeom prst="rect">
            <a:avLst/>
          </a:prstGeom>
          <a:noFill/>
        </p:spPr>
        <p:txBody>
          <a:bodyPr wrap="square">
            <a:spAutoFit/>
          </a:bodyPr>
          <a:lstStyle/>
          <a:p>
            <a:r>
              <a:rPr sz="2800" b="0">
                <a:solidFill>
                  <a:srgbClr val="FFFFFF"/>
                </a:solidFill>
                <a:latin typeface="맑은 고딕"/>
              </a:rPr>
              <a:t>네트워크를 통한 전송(NETWORK_LINK)</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400"/>
              </a:spcAft>
            </a:pPr>
            <a:r>
              <a:rPr sz="1600" b="0">
                <a:solidFill>
                  <a:srgbClr val="FFFFFF"/>
                </a:solidFill>
                <a:latin typeface="맑은 고딕"/>
              </a:rPr>
              <a:t>•  덤프파일 없이 DB 링크로 직접 전송</a:t>
            </a:r>
          </a:p>
          <a:p>
            <a:pPr>
              <a:spcAft>
                <a:spcPts val="400"/>
              </a:spcAft>
            </a:pPr>
            <a:r>
              <a:rPr sz="1600" b="0">
                <a:solidFill>
                  <a:srgbClr val="FFFFFF"/>
                </a:solidFill>
                <a:latin typeface="맑은 고딕"/>
              </a:rPr>
              <a:t>•  impdp 전용 — 대상이 원본을 당겨온다</a:t>
            </a:r>
          </a:p>
          <a:p>
            <a:pPr>
              <a:spcAft>
                <a:spcPts val="400"/>
              </a:spcAft>
            </a:pPr>
            <a:r>
              <a:rPr sz="1600" b="0">
                <a:solidFill>
                  <a:srgbClr val="FFFFFF"/>
                </a:solidFill>
                <a:latin typeface="맑은 고딕"/>
              </a:rPr>
              <a:t>•  링크는 대상에 생성</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NETWORK_LINK 동작 원리</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3단계를 한 번의 impdp로 압축</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500"/>
              </a:spcAft>
            </a:pPr>
            <a:r>
              <a:rPr sz="1800" b="0">
                <a:solidFill>
                  <a:srgbClr val="C0392B"/>
                </a:solidFill>
                <a:latin typeface="맑은 고딕"/>
              </a:rPr>
              <a:t>•  impdp에 NETWORK_LINK=링크이름 → 대상이 원본에서 데이터를 pull</a:t>
            </a:r>
          </a:p>
          <a:p>
            <a:pPr>
              <a:spcAft>
                <a:spcPts val="500"/>
              </a:spcAft>
            </a:pPr>
            <a:r>
              <a:rPr sz="1800" b="0">
                <a:solidFill>
                  <a:srgbClr val="C0392B"/>
                </a:solidFill>
                <a:latin typeface="맑은 고딕"/>
              </a:rPr>
              <a:t>•  중간 덤프파일 없음 — 디스크 절약, '내보내기→전송→가져오기'가 1단계로</a:t>
            </a:r>
          </a:p>
          <a:p>
            <a:pPr>
              <a:spcAft>
                <a:spcPts val="500"/>
              </a:spcAft>
            </a:pPr>
            <a:r>
              <a:rPr sz="1800" b="0">
                <a:solidFill>
                  <a:srgbClr val="C0392B"/>
                </a:solidFill>
                <a:latin typeface="맑은 고딕"/>
              </a:rPr>
              <a:t>•  링크는 대상에 만들어 원본을 가리킨다 (원본에서 export 아님)</a:t>
            </a:r>
          </a:p>
          <a:p>
            <a:pPr>
              <a:spcAft>
                <a:spcPts val="500"/>
              </a:spcAft>
            </a:pPr>
            <a:r>
              <a:rPr sz="1800" b="0">
                <a:solidFill>
                  <a:srgbClr val="C0392B"/>
                </a:solidFill>
                <a:latin typeface="맑은 고딕"/>
              </a:rPr>
              <a:t>•  링크 계정은 원본 데이터를 SELECT할 권한 필요</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NETWORK_LINK 실전</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대상 PDB에서 원본을 당겨오기</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spAutoFit/>
          </a:bodyPr>
          <a:lstStyle/>
          <a:p>
            <a:pPr>
              <a:lnSpc>
                <a:spcPct val="100000"/>
              </a:lnSpc>
            </a:pPr>
            <a:r>
              <a:rPr sz="1250" b="0">
                <a:solidFill>
                  <a:srgbClr val="7EC699"/>
                </a:solidFill>
                <a:latin typeface="Consolas"/>
              </a:rPr>
              <a:t>-- (1) 대상 PDB에 원본을 가리키는 DB 링크 생성</a:t>
            </a:r>
          </a:p>
          <a:p>
            <a:pPr>
              <a:lnSpc>
                <a:spcPct val="100000"/>
              </a:lnSpc>
            </a:pPr>
            <a:r>
              <a:rPr sz="1250" b="0">
                <a:solidFill>
                  <a:srgbClr val="E6E6E6"/>
                </a:solidFill>
                <a:latin typeface="Consolas"/>
              </a:rPr>
              <a:t>SQL&gt; CREATE DATABASE LINK src_link</a:t>
            </a:r>
          </a:p>
          <a:p>
            <a:pPr>
              <a:lnSpc>
                <a:spcPct val="100000"/>
              </a:lnSpc>
            </a:pPr>
            <a:r>
              <a:rPr sz="1250" b="0">
                <a:solidFill>
                  <a:srgbClr val="E6E6E6"/>
                </a:solidFill>
                <a:latin typeface="Consolas"/>
              </a:rPr>
              <a:t>     CONNECT TO hr IDENTIFIED BY oracle</a:t>
            </a:r>
          </a:p>
          <a:p>
            <a:pPr>
              <a:lnSpc>
                <a:spcPct val="100000"/>
              </a:lnSpc>
            </a:pPr>
            <a:r>
              <a:rPr sz="1250" b="0">
                <a:solidFill>
                  <a:srgbClr val="E6E6E6"/>
                </a:solidFill>
                <a:latin typeface="Consolas"/>
              </a:rPr>
              <a:t>     USING '//srchost:1521/srcpdb';</a:t>
            </a:r>
          </a:p>
          <a:p>
            <a:pPr>
              <a:lnSpc>
                <a:spcPct val="100000"/>
              </a:lnSpc>
            </a:pPr>
            <a:r>
              <a:rPr sz="1250" b="0">
                <a:solidFill>
                  <a:srgbClr val="E6E6E6"/>
                </a:solidFill>
                <a:latin typeface="Consolas"/>
              </a:rPr>
              <a:t> </a:t>
            </a:r>
          </a:p>
          <a:p>
            <a:pPr>
              <a:lnSpc>
                <a:spcPct val="100000"/>
              </a:lnSpc>
            </a:pPr>
            <a:r>
              <a:rPr sz="1250" b="0">
                <a:solidFill>
                  <a:srgbClr val="7EC699"/>
                </a:solidFill>
                <a:latin typeface="Consolas"/>
              </a:rPr>
              <a:t>-- (2) impdp에서 NETWORK_LINK 지정 (덤프파일 없음)</a:t>
            </a:r>
          </a:p>
          <a:p>
            <a:pPr>
              <a:lnSpc>
                <a:spcPct val="100000"/>
              </a:lnSpc>
            </a:pPr>
            <a:r>
              <a:rPr sz="1250" b="0">
                <a:solidFill>
                  <a:srgbClr val="E6E6E6"/>
                </a:solidFill>
                <a:latin typeface="Consolas"/>
              </a:rPr>
              <a:t>$ impdp system@pdb1 \</a:t>
            </a:r>
          </a:p>
          <a:p>
            <a:pPr>
              <a:lnSpc>
                <a:spcPct val="100000"/>
              </a:lnSpc>
            </a:pPr>
            <a:r>
              <a:rPr sz="1250" b="0">
                <a:solidFill>
                  <a:srgbClr val="E6E6E6"/>
                </a:solidFill>
                <a:latin typeface="Consolas"/>
              </a:rPr>
              <a:t>        NETWORK_LINK=src_link \</a:t>
            </a:r>
          </a:p>
          <a:p>
            <a:pPr>
              <a:lnSpc>
                <a:spcPct val="100000"/>
              </a:lnSpc>
            </a:pPr>
            <a:r>
              <a:rPr sz="1250" b="0">
                <a:solidFill>
                  <a:srgbClr val="E6E6E6"/>
                </a:solidFill>
                <a:latin typeface="Consolas"/>
              </a:rPr>
              <a:t>        SCHEMAS=hr \</a:t>
            </a:r>
          </a:p>
          <a:p>
            <a:pPr>
              <a:lnSpc>
                <a:spcPct val="100000"/>
              </a:lnSpc>
            </a:pPr>
            <a:r>
              <a:rPr sz="1250" b="0">
                <a:solidFill>
                  <a:srgbClr val="E6E6E6"/>
                </a:solidFill>
                <a:latin typeface="Consolas"/>
              </a:rPr>
              <a:t>        REMAP_SCHEMA=hr:hr_new \</a:t>
            </a:r>
          </a:p>
          <a:p>
            <a:pPr>
              <a:lnSpc>
                <a:spcPct val="100000"/>
              </a:lnSpc>
            </a:pPr>
            <a:r>
              <a:rPr sz="1250" b="0">
                <a:solidFill>
                  <a:srgbClr val="E6E6E6"/>
                </a:solidFill>
                <a:latin typeface="Consolas"/>
              </a:rPr>
              <a:t>        LOGFILE=dp_dir:net_imp.log</a:t>
            </a:r>
          </a:p>
          <a:p>
            <a:pPr>
              <a:lnSpc>
                <a:spcPct val="100000"/>
              </a:lnSpc>
            </a:pPr>
            <a:r>
              <a:rPr sz="1250" b="0">
                <a:solidFill>
                  <a:srgbClr val="7EC699"/>
                </a:solidFill>
                <a:latin typeface="Consolas"/>
              </a:rPr>
              <a:t>-- 일관 읽기: FLASHBACK_SCN / FLASHBACK_TIME 병행 가능</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27.8</a:t>
            </a:r>
          </a:p>
        </p:txBody>
      </p:sp>
      <p:sp>
        <p:nvSpPr>
          <p:cNvPr id="4" name="TextBox 3"/>
          <p:cNvSpPr txBox="1"/>
          <p:nvPr/>
        </p:nvSpPr>
        <p:spPr>
          <a:xfrm>
            <a:off x="822960" y="3017520"/>
            <a:ext cx="10515600" cy="914400"/>
          </a:xfrm>
          <a:prstGeom prst="rect">
            <a:avLst/>
          </a:prstGeom>
          <a:noFill/>
        </p:spPr>
        <p:txBody>
          <a:bodyPr wrap="square">
            <a:spAutoFit/>
          </a:bodyPr>
          <a:lstStyle/>
          <a:p>
            <a:r>
              <a:rPr sz="2800" b="0">
                <a:solidFill>
                  <a:srgbClr val="FFFFFF"/>
                </a:solidFill>
                <a:latin typeface="맑은 고딕"/>
              </a:rPr>
              <a:t>트랜스포터블 테이블스페이스(TTS)</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400"/>
              </a:spcAft>
            </a:pPr>
            <a:r>
              <a:rPr sz="1600" b="0">
                <a:solidFill>
                  <a:srgbClr val="FFFFFF"/>
                </a:solidFill>
                <a:latin typeface="맑은 고딕"/>
              </a:rPr>
              <a:t>•  데이터파일 복사 + 메타데이터 플러그인</a:t>
            </a:r>
          </a:p>
          <a:p>
            <a:pPr>
              <a:spcAft>
                <a:spcPts val="400"/>
              </a:spcAft>
            </a:pPr>
            <a:r>
              <a:rPr sz="1600" b="0">
                <a:solidFill>
                  <a:srgbClr val="FFFFFF"/>
                </a:solidFill>
                <a:latin typeface="맑은 고딕"/>
              </a:rPr>
              <a:t>•  표준 5단계 절차</a:t>
            </a:r>
          </a:p>
          <a:p>
            <a:pPr>
              <a:spcAft>
                <a:spcPts val="400"/>
              </a:spcAft>
            </a:pPr>
            <a:r>
              <a:rPr sz="1600" b="0">
                <a:solidFill>
                  <a:srgbClr val="FFFFFF"/>
                </a:solidFill>
                <a:latin typeface="맑은 고딕"/>
              </a:rPr>
              <a:t>•  자체 포함성(Self-Contained) 제약</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TTS의 개념과 표준 절차</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대용량 이동에서 압도적으로 빠르다</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500"/>
              </a:spcAft>
            </a:pPr>
            <a:r>
              <a:rPr sz="1800" b="0">
                <a:solidFill>
                  <a:srgbClr val="C0392B"/>
                </a:solidFill>
                <a:latin typeface="맑은 고딕"/>
              </a:rPr>
              <a:t>•  물리 데이터파일 통째 복사 + 객체 메타데이터만 Data Pump로 '플러그인'</a:t>
            </a:r>
          </a:p>
          <a:p>
            <a:pPr>
              <a:spcAft>
                <a:spcPts val="500"/>
              </a:spcAft>
            </a:pPr>
            <a:r>
              <a:rPr sz="1800" b="0">
                <a:solidFill>
                  <a:srgbClr val="C0392B"/>
                </a:solidFill>
                <a:latin typeface="맑은 고딕"/>
              </a:rPr>
              <a:t>•  ① 전송 TS 집합을 READ ONLY 전환(복사 일관성 확보)</a:t>
            </a:r>
          </a:p>
          <a:p>
            <a:pPr>
              <a:spcAft>
                <a:spcPts val="500"/>
              </a:spcAft>
            </a:pPr>
            <a:r>
              <a:rPr sz="1800" b="0">
                <a:solidFill>
                  <a:srgbClr val="C0392B"/>
                </a:solidFill>
                <a:latin typeface="맑은 고딕"/>
              </a:rPr>
              <a:t>•  ② expdp TRANSPORT_TABLESPACES로 메타데이터만 내보내기</a:t>
            </a:r>
          </a:p>
          <a:p>
            <a:pPr>
              <a:spcAft>
                <a:spcPts val="500"/>
              </a:spcAft>
            </a:pPr>
            <a:r>
              <a:rPr sz="1800" b="0">
                <a:solidFill>
                  <a:srgbClr val="C0392B"/>
                </a:solidFill>
                <a:latin typeface="맑은 고딕"/>
              </a:rPr>
              <a:t>•  ③ 데이터파일 복사(엔디안 다르면 RMAN CONVERT) → ④ impdp TRANSPORT_DATAFILES → ⑤ READ WRITE 복귀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자체 포함성 점검</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DBMS_TTS.TRANSPORT_SET_CHECK</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spAutoFit/>
          </a:bodyPr>
          <a:lstStyle/>
          <a:p>
            <a:pPr>
              <a:lnSpc>
                <a:spcPct val="100000"/>
              </a:lnSpc>
            </a:pPr>
            <a:r>
              <a:rPr sz="1250" b="0">
                <a:solidFill>
                  <a:srgbClr val="7EC699"/>
                </a:solidFill>
                <a:latin typeface="Consolas"/>
              </a:rPr>
              <a:t>-- 전송하려는 TS 집합이 외부 의존성 없는지 사전 점검</a:t>
            </a:r>
          </a:p>
          <a:p>
            <a:pPr>
              <a:lnSpc>
                <a:spcPct val="100000"/>
              </a:lnSpc>
            </a:pPr>
            <a:r>
              <a:rPr sz="1250" b="0">
                <a:solidFill>
                  <a:srgbClr val="E6E6E6"/>
                </a:solidFill>
                <a:latin typeface="Consolas"/>
              </a:rPr>
              <a:t>SQL&gt; EXEC DBMS_TTS.TRANSPORT_SET_CHECK( -</a:t>
            </a:r>
          </a:p>
          <a:p>
            <a:pPr>
              <a:lnSpc>
                <a:spcPct val="100000"/>
              </a:lnSpc>
            </a:pPr>
            <a:r>
              <a:rPr sz="1250" b="0">
                <a:solidFill>
                  <a:srgbClr val="E6E6E6"/>
                </a:solidFill>
                <a:latin typeface="Consolas"/>
              </a:rPr>
              <a:t>         ts_list =&gt; 'TS_SALES,TS_IDX', -</a:t>
            </a:r>
          </a:p>
          <a:p>
            <a:pPr>
              <a:lnSpc>
                <a:spcPct val="100000"/>
              </a:lnSpc>
            </a:pPr>
            <a:r>
              <a:rPr sz="1250" b="0">
                <a:solidFill>
                  <a:srgbClr val="E6E6E6"/>
                </a:solidFill>
                <a:latin typeface="Consolas"/>
              </a:rPr>
              <a:t>         incl_constraints =&gt; TRUE);</a:t>
            </a:r>
          </a:p>
          <a:p>
            <a:pPr>
              <a:lnSpc>
                <a:spcPct val="100000"/>
              </a:lnSpc>
            </a:pPr>
            <a:r>
              <a:rPr sz="1250" b="0">
                <a:solidFill>
                  <a:srgbClr val="E6E6E6"/>
                </a:solidFill>
                <a:latin typeface="Consolas"/>
              </a:rPr>
              <a:t> </a:t>
            </a:r>
          </a:p>
          <a:p>
            <a:pPr>
              <a:lnSpc>
                <a:spcPct val="100000"/>
              </a:lnSpc>
            </a:pPr>
            <a:r>
              <a:rPr sz="1250" b="0">
                <a:solidFill>
                  <a:srgbClr val="7EC699"/>
                </a:solidFill>
                <a:latin typeface="Consolas"/>
              </a:rPr>
              <a:t>-- 위반 목록 확인 (행이 없으면 자체 포함 OK)</a:t>
            </a:r>
          </a:p>
          <a:p>
            <a:pPr>
              <a:lnSpc>
                <a:spcPct val="100000"/>
              </a:lnSpc>
            </a:pPr>
            <a:r>
              <a:rPr sz="1250" b="0">
                <a:solidFill>
                  <a:srgbClr val="E6E6E6"/>
                </a:solidFill>
                <a:latin typeface="Consolas"/>
              </a:rPr>
              <a:t>SQL&gt; SELECT * FROM TRANSPORT_SET_VIOLATIONS;</a:t>
            </a:r>
          </a:p>
          <a:p>
            <a:pPr>
              <a:lnSpc>
                <a:spcPct val="100000"/>
              </a:lnSpc>
            </a:pPr>
            <a:r>
              <a:rPr sz="1250" b="0">
                <a:solidFill>
                  <a:srgbClr val="E6E6E6"/>
                </a:solidFill>
                <a:latin typeface="Consolas"/>
              </a:rPr>
              <a:t> </a:t>
            </a:r>
          </a:p>
          <a:p>
            <a:pPr>
              <a:lnSpc>
                <a:spcPct val="100000"/>
              </a:lnSpc>
            </a:pPr>
            <a:r>
              <a:rPr sz="1250" b="0">
                <a:solidFill>
                  <a:srgbClr val="7EC699"/>
                </a:solidFill>
                <a:latin typeface="Consolas"/>
              </a:rPr>
              <a:t>-- 위반 예: TS_SALES 인덱스가 집합 밖 TS_IDX를 가리킴</a:t>
            </a:r>
          </a:p>
          <a:p>
            <a:pPr>
              <a:lnSpc>
                <a:spcPct val="100000"/>
              </a:lnSpc>
            </a:pPr>
            <a:r>
              <a:rPr sz="1250" b="0">
                <a:solidFill>
                  <a:srgbClr val="7EC699"/>
                </a:solidFill>
                <a:latin typeface="Consolas"/>
              </a:rPr>
              <a:t>--          → TS_IDX를 전송 집합에 포함해야 함</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27.9</a:t>
            </a:r>
          </a:p>
        </p:txBody>
      </p:sp>
      <p:sp>
        <p:nvSpPr>
          <p:cNvPr id="4" name="TextBox 3"/>
          <p:cNvSpPr txBox="1"/>
          <p:nvPr/>
        </p:nvSpPr>
        <p:spPr>
          <a:xfrm>
            <a:off x="822960" y="3017520"/>
            <a:ext cx="10515600" cy="914400"/>
          </a:xfrm>
          <a:prstGeom prst="rect">
            <a:avLst/>
          </a:prstGeom>
          <a:noFill/>
        </p:spPr>
        <p:txBody>
          <a:bodyPr wrap="square">
            <a:spAutoFit/>
          </a:bodyPr>
          <a:lstStyle/>
          <a:p>
            <a:r>
              <a:rPr sz="2800" b="0">
                <a:solidFill>
                  <a:srgbClr val="FFFFFF"/>
                </a:solidFill>
                <a:latin typeface="맑은 고딕"/>
              </a:rPr>
              <a:t>RMAN CONVERT · 플랫폼 간 변환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400"/>
              </a:spcAft>
            </a:pPr>
            <a:r>
              <a:rPr sz="1600" b="0">
                <a:solidFill>
                  <a:srgbClr val="FFFFFF"/>
                </a:solidFill>
                <a:latin typeface="맑은 고딕"/>
              </a:rPr>
              <a:t>•  엔디안(Endian) 포맷 차이</a:t>
            </a:r>
          </a:p>
          <a:p>
            <a:pPr>
              <a:spcAft>
                <a:spcPts val="400"/>
              </a:spcAft>
            </a:pPr>
            <a:r>
              <a:rPr sz="1600" b="0">
                <a:solidFill>
                  <a:srgbClr val="FFFFFF"/>
                </a:solidFill>
                <a:latin typeface="맑은 고딕"/>
              </a:rPr>
              <a:t>•  블록 내 다바이트 값 재배열</a:t>
            </a:r>
          </a:p>
          <a:p>
            <a:pPr>
              <a:spcAft>
                <a:spcPts val="400"/>
              </a:spcAft>
            </a:pPr>
            <a:r>
              <a:rPr sz="1600" b="0">
                <a:solidFill>
                  <a:srgbClr val="FFFFFF"/>
                </a:solidFill>
                <a:latin typeface="맑은 고딕"/>
              </a:rPr>
              <a:t>•  원본 변환 vs 대상 변환</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엔디안 포맷과 RMAN CONVERT</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바이트 저장 순서가 플랫폼마다 다르다</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500"/>
              </a:spcAft>
            </a:pPr>
            <a:r>
              <a:rPr sz="1800" b="0">
                <a:solidFill>
                  <a:srgbClr val="C0392B"/>
                </a:solidFill>
                <a:latin typeface="맑은 고딕"/>
              </a:rPr>
              <a:t>•  빅 엔디안: 상위 바이트 먼저 (SPARC Solaris, IBM AIX, HP-UX)</a:t>
            </a:r>
          </a:p>
          <a:p>
            <a:pPr>
              <a:spcAft>
                <a:spcPts val="500"/>
              </a:spcAft>
            </a:pPr>
            <a:r>
              <a:rPr sz="1800" b="0">
                <a:solidFill>
                  <a:srgbClr val="C0392B"/>
                </a:solidFill>
                <a:latin typeface="맑은 고딕"/>
              </a:rPr>
              <a:t>•  리틀 엔디안: 하위 바이트 먼저 (Linux x86-64, Windows, Solaris x86)</a:t>
            </a:r>
          </a:p>
          <a:p>
            <a:pPr>
              <a:spcAft>
                <a:spcPts val="500"/>
              </a:spcAft>
            </a:pPr>
            <a:r>
              <a:rPr sz="1800" b="0">
                <a:solidFill>
                  <a:srgbClr val="C0392B"/>
                </a:solidFill>
                <a:latin typeface="맑은 고딕"/>
              </a:rPr>
              <a:t>•  엔디안 다른 플랫폼으로 그냥 복사 → 대상이 블록을 잘못 해석</a:t>
            </a:r>
          </a:p>
          <a:p>
            <a:pPr>
              <a:spcAft>
                <a:spcPts val="500"/>
              </a:spcAft>
            </a:pPr>
            <a:r>
              <a:rPr sz="1800" b="0">
                <a:solidFill>
                  <a:srgbClr val="C0392B"/>
                </a:solidFill>
                <a:latin typeface="맑은 고딕"/>
              </a:rPr>
              <a:t>•  RMAN CONVERT가 블록 내 다바이트 값을 대상 엔디안 순서로 재배열</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RMAN CONVERT 방향</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원본에서 미리 vs 대상에서 받아서</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spAutoFit/>
          </a:bodyPr>
          <a:lstStyle/>
          <a:p>
            <a:pPr>
              <a:lnSpc>
                <a:spcPct val="100000"/>
              </a:lnSpc>
            </a:pPr>
            <a:r>
              <a:rPr sz="1250" b="0">
                <a:solidFill>
                  <a:srgbClr val="7EC699"/>
                </a:solidFill>
                <a:latin typeface="Consolas"/>
              </a:rPr>
              <a:t>-- 원본에서 미리 변환 (TO PLATFORM = 대상 플랫폼)</a:t>
            </a:r>
          </a:p>
          <a:p>
            <a:pPr>
              <a:lnSpc>
                <a:spcPct val="100000"/>
              </a:lnSpc>
            </a:pPr>
            <a:r>
              <a:rPr sz="1250" b="0">
                <a:solidFill>
                  <a:srgbClr val="E6E6E6"/>
                </a:solidFill>
                <a:latin typeface="Consolas"/>
              </a:rPr>
              <a:t>RMAN&gt; CONVERT TABLESPACE ts_sales</a:t>
            </a:r>
          </a:p>
          <a:p>
            <a:pPr>
              <a:lnSpc>
                <a:spcPct val="100000"/>
              </a:lnSpc>
            </a:pPr>
            <a:r>
              <a:rPr sz="1250" b="0">
                <a:solidFill>
                  <a:srgbClr val="E6E6E6"/>
                </a:solidFill>
                <a:latin typeface="Consolas"/>
              </a:rPr>
              <a:t>      TO PLATFORM 'Linux x86 64-bit'</a:t>
            </a:r>
          </a:p>
          <a:p>
            <a:pPr>
              <a:lnSpc>
                <a:spcPct val="100000"/>
              </a:lnSpc>
            </a:pPr>
            <a:r>
              <a:rPr sz="1250" b="0">
                <a:solidFill>
                  <a:srgbClr val="E6E6E6"/>
                </a:solidFill>
                <a:latin typeface="Consolas"/>
              </a:rPr>
              <a:t>      FORMAT '/stage/conv/%U';</a:t>
            </a:r>
          </a:p>
          <a:p>
            <a:pPr>
              <a:lnSpc>
                <a:spcPct val="100000"/>
              </a:lnSpc>
            </a:pPr>
            <a:r>
              <a:rPr sz="1250" b="0">
                <a:solidFill>
                  <a:srgbClr val="E6E6E6"/>
                </a:solidFill>
                <a:latin typeface="Consolas"/>
              </a:rPr>
              <a:t> </a:t>
            </a:r>
          </a:p>
          <a:p>
            <a:pPr>
              <a:lnSpc>
                <a:spcPct val="100000"/>
              </a:lnSpc>
            </a:pPr>
            <a:r>
              <a:rPr sz="1250" b="0">
                <a:solidFill>
                  <a:srgbClr val="7EC699"/>
                </a:solidFill>
                <a:latin typeface="Consolas"/>
              </a:rPr>
              <a:t>-- 대상에서 받아서 변환 (FROM PLATFORM = 원본 플랫폼)</a:t>
            </a:r>
          </a:p>
          <a:p>
            <a:pPr>
              <a:lnSpc>
                <a:spcPct val="100000"/>
              </a:lnSpc>
            </a:pPr>
            <a:r>
              <a:rPr sz="1250" b="0">
                <a:solidFill>
                  <a:srgbClr val="E6E6E6"/>
                </a:solidFill>
                <a:latin typeface="Consolas"/>
              </a:rPr>
              <a:t>RMAN&gt; CONVERT DATAFILE '/stage/ts_sales01.dbf'</a:t>
            </a:r>
          </a:p>
          <a:p>
            <a:pPr>
              <a:lnSpc>
                <a:spcPct val="100000"/>
              </a:lnSpc>
            </a:pPr>
            <a:r>
              <a:rPr sz="1250" b="0">
                <a:solidFill>
                  <a:srgbClr val="E6E6E6"/>
                </a:solidFill>
                <a:latin typeface="Consolas"/>
              </a:rPr>
              <a:t>      FROM PLATFORM 'Solaris[tm] OE (64-bit)'</a:t>
            </a:r>
          </a:p>
          <a:p>
            <a:pPr>
              <a:lnSpc>
                <a:spcPct val="100000"/>
              </a:lnSpc>
            </a:pPr>
            <a:r>
              <a:rPr sz="1250" b="0">
                <a:solidFill>
                  <a:srgbClr val="E6E6E6"/>
                </a:solidFill>
                <a:latin typeface="Consolas"/>
              </a:rPr>
              <a:t>      FORMAT '/u01/oradata/ts_sales01.dbf';</a:t>
            </a:r>
          </a:p>
          <a:p>
            <a:pPr>
              <a:lnSpc>
                <a:spcPct val="100000"/>
              </a:lnSpc>
            </a:pPr>
            <a:r>
              <a:rPr sz="1250" b="0">
                <a:solidFill>
                  <a:srgbClr val="E6E6E6"/>
                </a:solidFill>
                <a:latin typeface="Consolas"/>
              </a:rPr>
              <a:t> </a:t>
            </a:r>
          </a:p>
          <a:p>
            <a:pPr>
              <a:lnSpc>
                <a:spcPct val="100000"/>
              </a:lnSpc>
            </a:pPr>
            <a:r>
              <a:rPr sz="1250" b="0">
                <a:solidFill>
                  <a:srgbClr val="7EC699"/>
                </a:solidFill>
                <a:latin typeface="Consolas"/>
              </a:rPr>
              <a:t>-- 엔디안이 같으면(Linux↔Windows) CONVERT 불필요</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27.10</a:t>
            </a:r>
          </a:p>
        </p:txBody>
      </p:sp>
      <p:sp>
        <p:nvSpPr>
          <p:cNvPr id="4" name="TextBox 3"/>
          <p:cNvSpPr txBox="1"/>
          <p:nvPr/>
        </p:nvSpPr>
        <p:spPr>
          <a:xfrm>
            <a:off x="822960" y="3017520"/>
            <a:ext cx="10515600" cy="914400"/>
          </a:xfrm>
          <a:prstGeom prst="rect">
            <a:avLst/>
          </a:prstGeom>
          <a:noFill/>
        </p:spPr>
        <p:txBody>
          <a:bodyPr wrap="square">
            <a:spAutoFit/>
          </a:bodyPr>
          <a:lstStyle/>
          <a:p>
            <a:r>
              <a:rPr sz="2800" b="0">
                <a:solidFill>
                  <a:srgbClr val="FFFFFF"/>
                </a:solidFill>
                <a:latin typeface="맑은 고딕"/>
              </a:rPr>
              <a:t>이미지 카피 · 백업세트 전송</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400"/>
              </a:spcAft>
            </a:pPr>
            <a:r>
              <a:rPr sz="1600" b="0">
                <a:solidFill>
                  <a:srgbClr val="FFFFFF"/>
                </a:solidFill>
                <a:latin typeface="맑은 고딕"/>
              </a:rPr>
              <a:t>•  데이터파일을 옮기는 두 방식</a:t>
            </a:r>
          </a:p>
          <a:p>
            <a:pPr>
              <a:spcAft>
                <a:spcPts val="400"/>
              </a:spcAft>
            </a:pPr>
            <a:r>
              <a:rPr sz="1600" b="0">
                <a:solidFill>
                  <a:srgbClr val="FFFFFF"/>
                </a:solidFill>
                <a:latin typeface="맑은 고딕"/>
              </a:rPr>
              <a:t>•  1:1 복사 vs RMAN 백업세트</a:t>
            </a:r>
          </a:p>
          <a:p>
            <a:pPr>
              <a:spcAft>
                <a:spcPts val="400"/>
              </a:spcAft>
            </a:pPr>
            <a:r>
              <a:rPr sz="1600" b="0">
                <a:solidFill>
                  <a:srgbClr val="FFFFFF"/>
                </a:solidFill>
                <a:latin typeface="맑은 고딕"/>
              </a:rPr>
              <a:t>•  압축·변환 결합</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이미지 카피 vs 백업세트</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전송 매체의 선택</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500"/>
              </a:spcAft>
            </a:pPr>
            <a:r>
              <a:rPr sz="1800" b="0">
                <a:solidFill>
                  <a:srgbClr val="C0392B"/>
                </a:solidFill>
                <a:latin typeface="맑은 고딕"/>
              </a:rPr>
              <a:t>•  이미지 카피: 데이터파일 1:1 복사 — cp/scp, RMAN COPY, CONVERT 출력</a:t>
            </a:r>
          </a:p>
          <a:p>
            <a:pPr>
              <a:spcAft>
                <a:spcPts val="500"/>
              </a:spcAft>
            </a:pPr>
            <a:r>
              <a:rPr sz="1800" b="0">
                <a:solidFill>
                  <a:srgbClr val="C0392B"/>
                </a:solidFill>
                <a:latin typeface="맑은 고딕"/>
              </a:rPr>
              <a:t>•  → 대상에서 곧바로 데이터파일로 사용, 절차가 단순</a:t>
            </a:r>
          </a:p>
          <a:p>
            <a:pPr>
              <a:spcAft>
                <a:spcPts val="500"/>
              </a:spcAft>
            </a:pPr>
            <a:r>
              <a:rPr sz="1800" b="0">
                <a:solidFill>
                  <a:srgbClr val="C0392B"/>
                </a:solidFill>
                <a:latin typeface="맑은 고딕"/>
              </a:rPr>
              <a:t>•  백업세트: RMAN이 압축·다중화 가능한 고유 형식으로 만들어 전송·복원</a:t>
            </a:r>
          </a:p>
          <a:p>
            <a:pPr>
              <a:spcAft>
                <a:spcPts val="500"/>
              </a:spcAft>
            </a:pPr>
            <a:r>
              <a:rPr sz="1800" b="0">
                <a:solidFill>
                  <a:srgbClr val="C0392B"/>
                </a:solidFill>
                <a:latin typeface="맑은 고딕"/>
              </a:rPr>
              <a:t>•  → BACKUP ... FOR TRANSPORT / TO PLATFORM, AS COMPRESSED BACKUPSET로 전송량 절감</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27.11</a:t>
            </a:r>
          </a:p>
        </p:txBody>
      </p:sp>
      <p:sp>
        <p:nvSpPr>
          <p:cNvPr id="4" name="TextBox 3"/>
          <p:cNvSpPr txBox="1"/>
          <p:nvPr/>
        </p:nvSpPr>
        <p:spPr>
          <a:xfrm>
            <a:off x="822960" y="3017520"/>
            <a:ext cx="10515600" cy="914400"/>
          </a:xfrm>
          <a:prstGeom prst="rect">
            <a:avLst/>
          </a:prstGeom>
          <a:noFill/>
        </p:spPr>
        <p:txBody>
          <a:bodyPr wrap="square">
            <a:spAutoFit/>
          </a:bodyPr>
          <a:lstStyle/>
          <a:p>
            <a:r>
              <a:rPr sz="2800" b="0">
                <a:solidFill>
                  <a:srgbClr val="FFFFFF"/>
                </a:solidFill>
                <a:latin typeface="맑은 고딕"/>
              </a:rPr>
              <a:t>엔디안 확인 · 불일치 전송</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400"/>
              </a:spcAft>
            </a:pPr>
            <a:r>
              <a:rPr sz="1600" b="0">
                <a:solidFill>
                  <a:srgbClr val="FFFFFF"/>
                </a:solidFill>
                <a:latin typeface="맑은 고딕"/>
              </a:rPr>
              <a:t>•  V$DATABASE.PLATFORM_NAME</a:t>
            </a:r>
          </a:p>
          <a:p>
            <a:pPr>
              <a:spcAft>
                <a:spcPts val="400"/>
              </a:spcAft>
            </a:pPr>
            <a:r>
              <a:rPr sz="1600" b="0">
                <a:solidFill>
                  <a:srgbClr val="FFFFFF"/>
                </a:solidFill>
                <a:latin typeface="맑은 고딕"/>
              </a:rPr>
              <a:t>•  V$TRANSPORTABLE_PLATFORM</a:t>
            </a:r>
          </a:p>
          <a:p>
            <a:pPr>
              <a:spcAft>
                <a:spcPts val="400"/>
              </a:spcAft>
            </a:pPr>
            <a:r>
              <a:rPr sz="1600" b="0">
                <a:solidFill>
                  <a:srgbClr val="FFFFFF"/>
                </a:solidFill>
                <a:latin typeface="맑은 고딕"/>
              </a:rPr>
              <a:t>•  불일치 시 8단계 전체 흐름</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엔디안 포맷 확인</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두 동적 뷰의 조인</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spAutoFit/>
          </a:bodyPr>
          <a:lstStyle/>
          <a:p>
            <a:pPr>
              <a:lnSpc>
                <a:spcPct val="100000"/>
              </a:lnSpc>
            </a:pPr>
            <a:r>
              <a:rPr sz="1250" b="0">
                <a:solidFill>
                  <a:srgbClr val="7EC699"/>
                </a:solidFill>
                <a:latin typeface="Consolas"/>
              </a:rPr>
              <a:t>-- 현재 DB의 플랫폼 이름</a:t>
            </a:r>
          </a:p>
          <a:p>
            <a:pPr>
              <a:lnSpc>
                <a:spcPct val="100000"/>
              </a:lnSpc>
            </a:pPr>
            <a:r>
              <a:rPr sz="1250" b="0">
                <a:solidFill>
                  <a:srgbClr val="E6E6E6"/>
                </a:solidFill>
                <a:latin typeface="Consolas"/>
              </a:rPr>
              <a:t>SQL&gt; SELECT platform_name FROM v$database;</a:t>
            </a:r>
          </a:p>
          <a:p>
            <a:pPr>
              <a:lnSpc>
                <a:spcPct val="100000"/>
              </a:lnSpc>
            </a:pPr>
            <a:r>
              <a:rPr sz="1250" b="0">
                <a:solidFill>
                  <a:srgbClr val="E6E6E6"/>
                </a:solidFill>
                <a:latin typeface="Consolas"/>
              </a:rPr>
              <a:t> </a:t>
            </a:r>
          </a:p>
          <a:p>
            <a:pPr>
              <a:lnSpc>
                <a:spcPct val="100000"/>
              </a:lnSpc>
            </a:pPr>
            <a:r>
              <a:rPr sz="1250" b="0">
                <a:solidFill>
                  <a:srgbClr val="7EC699"/>
                </a:solidFill>
                <a:latin typeface="Consolas"/>
              </a:rPr>
              <a:t>-- 전송 가능 플랫폼별 엔디안 조회</a:t>
            </a:r>
          </a:p>
          <a:p>
            <a:pPr>
              <a:lnSpc>
                <a:spcPct val="100000"/>
              </a:lnSpc>
            </a:pPr>
            <a:r>
              <a:rPr sz="1250" b="0">
                <a:solidFill>
                  <a:srgbClr val="E6E6E6"/>
                </a:solidFill>
                <a:latin typeface="Consolas"/>
              </a:rPr>
              <a:t>SQL&gt; SELECT d.platform_name, tp.endian_format</a:t>
            </a:r>
          </a:p>
          <a:p>
            <a:pPr>
              <a:lnSpc>
                <a:spcPct val="100000"/>
              </a:lnSpc>
            </a:pPr>
            <a:r>
              <a:rPr sz="1250" b="0">
                <a:solidFill>
                  <a:srgbClr val="E6E6E6"/>
                </a:solidFill>
                <a:latin typeface="Consolas"/>
              </a:rPr>
              <a:t>     FROM   v$database d</a:t>
            </a:r>
          </a:p>
          <a:p>
            <a:pPr>
              <a:lnSpc>
                <a:spcPct val="100000"/>
              </a:lnSpc>
            </a:pPr>
            <a:r>
              <a:rPr sz="1250" b="0">
                <a:solidFill>
                  <a:srgbClr val="E6E6E6"/>
                </a:solidFill>
                <a:latin typeface="Consolas"/>
              </a:rPr>
              <a:t>     JOIN   v$transportable_platform tp</a:t>
            </a:r>
          </a:p>
          <a:p>
            <a:pPr>
              <a:lnSpc>
                <a:spcPct val="100000"/>
              </a:lnSpc>
            </a:pPr>
            <a:r>
              <a:rPr sz="1250" b="0">
                <a:solidFill>
                  <a:srgbClr val="E6E6E6"/>
                </a:solidFill>
                <a:latin typeface="Consolas"/>
              </a:rPr>
              <a:t>       ON   d.platform_id = tp.platform_id;</a:t>
            </a:r>
          </a:p>
          <a:p>
            <a:pPr>
              <a:lnSpc>
                <a:spcPct val="100000"/>
              </a:lnSpc>
            </a:pPr>
            <a:r>
              <a:rPr sz="1250" b="0">
                <a:solidFill>
                  <a:srgbClr val="E6E6E6"/>
                </a:solidFill>
                <a:latin typeface="Consolas"/>
              </a:rPr>
              <a:t> </a:t>
            </a:r>
          </a:p>
          <a:p>
            <a:pPr>
              <a:lnSpc>
                <a:spcPct val="100000"/>
              </a:lnSpc>
            </a:pPr>
            <a:r>
              <a:rPr sz="1250" b="0">
                <a:solidFill>
                  <a:srgbClr val="7EC699"/>
                </a:solidFill>
                <a:latin typeface="Consolas"/>
              </a:rPr>
              <a:t>-- 원본/대상 ENDIAN_FORMAT 비교 → 변환 필요 판정</a:t>
            </a:r>
          </a:p>
          <a:p>
            <a:pPr>
              <a:lnSpc>
                <a:spcPct val="100000"/>
              </a:lnSpc>
            </a:pPr>
            <a:r>
              <a:rPr sz="1250" b="0">
                <a:solidFill>
                  <a:srgbClr val="7EC699"/>
                </a:solidFill>
                <a:latin typeface="Consolas"/>
              </a:rPr>
              <a:t>--   같으면(Little=Little) CONVERT 불필요, 그냥 복사</a:t>
            </a:r>
          </a:p>
          <a:p>
            <a:pPr>
              <a:lnSpc>
                <a:spcPct val="100000"/>
              </a:lnSpc>
            </a:pPr>
            <a:r>
              <a:rPr sz="1250" b="0">
                <a:solidFill>
                  <a:srgbClr val="7EC699"/>
                </a:solidFill>
                <a:latin typeface="Consolas"/>
              </a:rPr>
              <a:t>--   다르면(Big≠Little) RMAN CONVERT 필수</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불일치 시 전체 흐름(8단계)</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엔디안 다른 플랫폼 간 TTS</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500"/>
              </a:spcAft>
            </a:pPr>
            <a:r>
              <a:rPr sz="1800" b="0">
                <a:solidFill>
                  <a:srgbClr val="C0392B"/>
                </a:solidFill>
                <a:latin typeface="맑은 고딕"/>
              </a:rPr>
              <a:t>•  ① 양쪽 엔디안을 V$TRANSPORTABLE_PLATFORM으로 확인·판정</a:t>
            </a:r>
          </a:p>
          <a:p>
            <a:pPr>
              <a:spcAft>
                <a:spcPts val="500"/>
              </a:spcAft>
            </a:pPr>
            <a:r>
              <a:rPr sz="1800" b="0">
                <a:solidFill>
                  <a:srgbClr val="C0392B"/>
                </a:solidFill>
                <a:latin typeface="맑은 고딕"/>
              </a:rPr>
              <a:t>•  ② 원본 TS를 READ ONLY 전환 → ③ TRANSPORT_SET_CHECK 자체 포함성 점검</a:t>
            </a:r>
          </a:p>
          <a:p>
            <a:pPr>
              <a:spcAft>
                <a:spcPts val="500"/>
              </a:spcAft>
            </a:pPr>
            <a:r>
              <a:rPr sz="1800" b="0">
                <a:solidFill>
                  <a:srgbClr val="C0392B"/>
                </a:solidFill>
                <a:latin typeface="맑은 고딕"/>
              </a:rPr>
              <a:t>•  ④ expdp TRANSPORT_TABLESPACES 메타데이터 내보내기</a:t>
            </a:r>
          </a:p>
          <a:p>
            <a:pPr>
              <a:spcAft>
                <a:spcPts val="500"/>
              </a:spcAft>
            </a:pPr>
            <a:r>
              <a:rPr sz="1800" b="0">
                <a:solidFill>
                  <a:srgbClr val="C0392B"/>
                </a:solidFill>
                <a:latin typeface="맑은 고딕"/>
              </a:rPr>
              <a:t>•  ⑤ RMAN CONVERT로 데이터파일 변환 → ⑥ 파일·덤프 대상 복사</a:t>
            </a:r>
          </a:p>
          <a:p>
            <a:pPr>
              <a:spcAft>
                <a:spcPts val="500"/>
              </a:spcAft>
            </a:pPr>
            <a:r>
              <a:rPr sz="1800" b="0">
                <a:solidFill>
                  <a:srgbClr val="C0392B"/>
                </a:solidFill>
                <a:latin typeface="맑은 고딕"/>
              </a:rPr>
              <a:t>•  ⑦ impdp TRANSPORT_DATAFILES로 가져오기 → ⑧ 양쪽 READ WRITE 복귀</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Quiz</a:t>
            </a:r>
          </a:p>
        </p:txBody>
      </p:sp>
      <p:sp>
        <p:nvSpPr>
          <p:cNvPr id="4" name="TextBox 3"/>
          <p:cNvSpPr txBox="1"/>
          <p:nvPr/>
        </p:nvSpPr>
        <p:spPr>
          <a:xfrm>
            <a:off x="822960" y="3017520"/>
            <a:ext cx="10515600" cy="914400"/>
          </a:xfrm>
          <a:prstGeom prst="rect">
            <a:avLst/>
          </a:prstGeom>
          <a:noFill/>
        </p:spPr>
        <p:txBody>
          <a:bodyPr wrap="square">
            <a:spAutoFit/>
          </a:bodyPr>
          <a:lstStyle/>
          <a:p>
            <a:r>
              <a:rPr sz="2800" b="0">
                <a:solidFill>
                  <a:srgbClr val="FFFFFF"/>
                </a:solidFill>
                <a:latin typeface="맑은 고딕"/>
              </a:rPr>
              <a:t>이해도 점검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400"/>
              </a:spcAft>
            </a:pPr>
            <a:r>
              <a:rPr sz="1600" b="0">
                <a:solidFill>
                  <a:srgbClr val="FFFFFF"/>
                </a:solidFill>
                <a:latin typeface="맑은 고딕"/>
              </a:rPr>
              <a:t>•  6문항 객관식</a:t>
            </a:r>
          </a:p>
          <a:p>
            <a:pPr>
              <a:spcAft>
                <a:spcPts val="400"/>
              </a:spcAft>
            </a:pPr>
            <a:r>
              <a:rPr sz="1600" b="0">
                <a:solidFill>
                  <a:srgbClr val="FFFFFF"/>
                </a:solidFill>
                <a:latin typeface="맑은 고딕"/>
              </a:rPr>
              <a:t>•  정답은 마지막 슬라이드</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퀴즈 Q1 ~ Q3</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정답은 노트 참고</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500"/>
              </a:spcAft>
            </a:pPr>
            <a:r>
              <a:rPr sz="1800" b="0">
                <a:solidFill>
                  <a:srgbClr val="C0392B"/>
                </a:solidFill>
                <a:latin typeface="맑은 고딕"/>
              </a:rPr>
              <a:t>•  Q1. Data Pump 파일이 생성되는 위치는?  ① 클라이언트 PC  ② DB 서버의 디렉터리 객체 경로  ③ 임의 OS 경로  ④ 네트워크 공유</a:t>
            </a:r>
          </a:p>
          <a:p>
            <a:pPr>
              <a:spcAft>
                <a:spcPts val="500"/>
              </a:spcAft>
            </a:pPr>
            <a:r>
              <a:rPr sz="1800" b="0">
                <a:solidFill>
                  <a:srgbClr val="C0392B"/>
                </a:solidFill>
                <a:latin typeface="맑은 고딕"/>
              </a:rPr>
              <a:t>•  Q2. 스키마 이름을 바꿔 가져오는 옵션은?  ① REMAP_TABLESPACE  ② TRANSFORM  ③ REMAP_SCHEMA  ④ REMAP_DATAFILE</a:t>
            </a:r>
          </a:p>
          <a:p>
            <a:pPr>
              <a:spcAft>
                <a:spcPts val="500"/>
              </a:spcAft>
            </a:pPr>
            <a:r>
              <a:rPr sz="1800" b="0">
                <a:solidFill>
                  <a:srgbClr val="C0392B"/>
                </a:solidFill>
                <a:latin typeface="맑은 고딕"/>
              </a:rPr>
              <a:t>•  Q3. NETWORK_LINK에 대한 설명으로 옳은 것은?  ① impdp에서 사용하며 대상이 원본을 당겨온다  ② expdp 전용  ③ 반드시 덤프파일이 필요  ④ 원본에 링크를 만든다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퀴즈 Q4 ~ Q6</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정답은 노트 참고</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500"/>
              </a:spcAft>
            </a:pPr>
            <a:r>
              <a:rPr sz="1800" b="0">
                <a:solidFill>
                  <a:srgbClr val="C0392B"/>
                </a:solidFill>
                <a:latin typeface="맑은 고딕"/>
              </a:rPr>
              <a:t>•  Q4. Full Transportable을 활성화하는 조합은?  ① SCHEMAS + TRANSPORTABLE  ② FULL=Y + TRANSPORTABLE=ALWAYS  ③ TABLES + NETWORK_LINK  ④ FULL=Y만</a:t>
            </a:r>
          </a:p>
          <a:p>
            <a:pPr>
              <a:spcAft>
                <a:spcPts val="500"/>
              </a:spcAft>
            </a:pPr>
            <a:r>
              <a:rPr sz="1800" b="0">
                <a:solidFill>
                  <a:srgbClr val="C0392B"/>
                </a:solidFill>
                <a:latin typeface="맑은 고딕"/>
              </a:rPr>
              <a:t>•  Q5. TTS의 핵심 제약은?  ① 자체 포함성(Self-Contained)  ② 문자집합 동일  ③ 블록 크기 4K  ④ READ WRITE 유지</a:t>
            </a:r>
          </a:p>
          <a:p>
            <a:pPr>
              <a:spcAft>
                <a:spcPts val="500"/>
              </a:spcAft>
            </a:pPr>
            <a:r>
              <a:rPr sz="1800" b="0">
                <a:solidFill>
                  <a:srgbClr val="C0392B"/>
                </a:solidFill>
                <a:latin typeface="맑은 고딕"/>
              </a:rPr>
              <a:t>•  Q6. 엔디안이 다른 플랫폼 간 전송에 필요한 도구는?  ① SQL*Loader  ② impdp만  ③ RMAN CONVERT  ④ 외부 테이블</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요약 (Summary)</a:t>
            </a:r>
          </a:p>
        </p:txBody>
      </p:sp>
      <p:sp>
        <p:nvSpPr>
          <p:cNvPr id="4" name="TextBox 3"/>
          <p:cNvSpPr txBox="1"/>
          <p:nvPr/>
        </p:nvSpPr>
        <p:spPr>
          <a:xfrm>
            <a:off x="640080" y="1463040"/>
            <a:ext cx="10881360" cy="4937760"/>
          </a:xfrm>
          <a:prstGeom prst="rect">
            <a:avLst/>
          </a:prstGeom>
          <a:noFill/>
        </p:spPr>
        <p:txBody>
          <a:bodyPr wrap="square">
            <a:spAutoFit/>
          </a:bodyPr>
          <a:lstStyle/>
          <a:p>
            <a:pPr>
              <a:spcAft>
                <a:spcPts val="600"/>
              </a:spcAft>
            </a:pPr>
            <a:r>
              <a:rPr sz="1600" b="0">
                <a:solidFill>
                  <a:srgbClr val="C0392B"/>
                </a:solidFill>
                <a:latin typeface="맑은 고딕"/>
              </a:rPr>
              <a:t>•  Data Pump(expdp/impdp)는 서버 측 인프라 — 파일은 DB 서버의 디렉터리 객체 경로에 생성</a:t>
            </a:r>
          </a:p>
          <a:p>
            <a:pPr>
              <a:spcAft>
                <a:spcPts val="600"/>
              </a:spcAft>
            </a:pPr>
            <a:r>
              <a:rPr sz="1600" b="0">
                <a:solidFill>
                  <a:srgbClr val="C0392B"/>
                </a:solidFill>
                <a:latin typeface="맑은 고딕"/>
              </a:rPr>
              <a:t>•  변환 옵션(REMAP_SCHEMA·REMAP_TABLESPACE·REMAP_DATAFILE·TRANSFORM)으로 구조를 바꿔 가져온다</a:t>
            </a:r>
          </a:p>
          <a:p>
            <a:pPr>
              <a:spcAft>
                <a:spcPts val="600"/>
              </a:spcAft>
            </a:pPr>
            <a:r>
              <a:rPr sz="1600" b="0">
                <a:solidFill>
                  <a:srgbClr val="C0392B"/>
                </a:solidFill>
                <a:latin typeface="맑은 고딕"/>
              </a:rPr>
              <a:t>•  멀티테넌트: 접속 컨테이너가 범위 결정 — PDB 접속=그 PDB, CDB$ROOT+FULL=Y=CDB 전체</a:t>
            </a:r>
          </a:p>
          <a:p>
            <a:pPr>
              <a:spcAft>
                <a:spcPts val="600"/>
              </a:spcAft>
            </a:pPr>
            <a:r>
              <a:rPr sz="1600" b="0">
                <a:solidFill>
                  <a:srgbClr val="C0392B"/>
                </a:solidFill>
                <a:latin typeface="맑은 고딕"/>
              </a:rPr>
              <a:t>•  non-CDB→PDB, PDB↔PDB 모두 Data Pump — 대용량은 Full Transportable이 빠르다</a:t>
            </a:r>
          </a:p>
          <a:p>
            <a:pPr>
              <a:spcAft>
                <a:spcPts val="600"/>
              </a:spcAft>
            </a:pPr>
            <a:r>
              <a:rPr sz="1600" b="0">
                <a:solidFill>
                  <a:srgbClr val="C0392B"/>
                </a:solidFill>
                <a:latin typeface="맑은 고딕"/>
              </a:rPr>
              <a:t>•  NETWORK_LINK는 덤프파일 없이 DB 링크로 대상이 원본을 직접 가져온다(impdp 전용)</a:t>
            </a:r>
          </a:p>
          <a:p>
            <a:pPr>
              <a:spcAft>
                <a:spcPts val="600"/>
              </a:spcAft>
            </a:pPr>
            <a:r>
              <a:rPr sz="1600" b="0">
                <a:solidFill>
                  <a:srgbClr val="C0392B"/>
                </a:solidFill>
                <a:latin typeface="맑은 고딕"/>
              </a:rPr>
              <a:t>•  TTS는 데이터파일 복사 + 메타데이터 이동 — 자체 포함성(Self-Contained) 충족 필요</a:t>
            </a:r>
          </a:p>
          <a:p>
            <a:pPr>
              <a:spcAft>
                <a:spcPts val="600"/>
              </a:spcAft>
            </a:pPr>
            <a:r>
              <a:rPr sz="1600" b="0">
                <a:solidFill>
                  <a:srgbClr val="C0392B"/>
                </a:solidFill>
                <a:latin typeface="맑은 고딕"/>
              </a:rPr>
              <a:t>•  엔디안이 다르면 RMAN CONVERT — V$DATABASE.PLATFORM_NAME/V$TRANSPORTABLE_PLATFORM으로 판정</a:t>
            </a:r>
          </a:p>
          <a:p>
            <a:pPr>
              <a:spcAft>
                <a:spcPts val="600"/>
              </a:spcAft>
            </a:pPr>
            <a:r>
              <a:rPr sz="1600" b="0">
                <a:solidFill>
                  <a:srgbClr val="C0392B"/>
                </a:solidFill>
                <a:latin typeface="맑은 고딕"/>
              </a:rPr>
              <a:t>•  전송 매체는 이미지 카피(1:1)와 백업세트(압축·변환 결합)를 상황에 맞게 선택</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실습 27 개요 (10개 트랜스크립트)</a:t>
            </a:r>
          </a:p>
        </p:txBody>
      </p:sp>
      <p:sp>
        <p:nvSpPr>
          <p:cNvPr id="4" name="TextBox 3"/>
          <p:cNvSpPr txBox="1"/>
          <p:nvPr/>
        </p:nvSpPr>
        <p:spPr>
          <a:xfrm>
            <a:off x="640080" y="1463040"/>
            <a:ext cx="10881360" cy="4937760"/>
          </a:xfrm>
          <a:prstGeom prst="rect">
            <a:avLst/>
          </a:prstGeom>
          <a:noFill/>
        </p:spPr>
        <p:txBody>
          <a:bodyPr wrap="square">
            <a:spAutoFit/>
          </a:bodyPr>
          <a:lstStyle/>
          <a:p>
            <a:pPr>
              <a:spcAft>
                <a:spcPts val="600"/>
              </a:spcAft>
            </a:pPr>
            <a:r>
              <a:rPr sz="1600" b="0">
                <a:solidFill>
                  <a:srgbClr val="C0392B"/>
                </a:solidFill>
                <a:latin typeface="맑은 고딕"/>
              </a:rPr>
              <a:t>•  실습 01 — Data Pump Export/Import 기본(expdp/impdp)</a:t>
            </a:r>
          </a:p>
          <a:p>
            <a:pPr>
              <a:spcAft>
                <a:spcPts val="600"/>
              </a:spcAft>
            </a:pPr>
            <a:r>
              <a:rPr sz="1600" b="0">
                <a:solidFill>
                  <a:srgbClr val="C0392B"/>
                </a:solidFill>
                <a:latin typeface="맑은 고딕"/>
              </a:rPr>
              <a:t>•  실습 02 — Data Pump Import 변환 옵션(REMAP/TRANSFORM)</a:t>
            </a:r>
          </a:p>
          <a:p>
            <a:pPr>
              <a:spcAft>
                <a:spcPts val="600"/>
              </a:spcAft>
            </a:pPr>
            <a:r>
              <a:rPr sz="1600" b="0">
                <a:solidFill>
                  <a:srgbClr val="C0392B"/>
                </a:solidFill>
                <a:latin typeface="맑은 고딕"/>
              </a:rPr>
              <a:t>•  실습 03 — PDB 환경에서 Data Pump 사용(FULL=Y 등)</a:t>
            </a:r>
          </a:p>
          <a:p>
            <a:pPr>
              <a:spcAft>
                <a:spcPts val="600"/>
              </a:spcAft>
            </a:pPr>
            <a:r>
              <a:rPr sz="1600" b="0">
                <a:solidFill>
                  <a:srgbClr val="C0392B"/>
                </a:solidFill>
                <a:latin typeface="맑은 고딕"/>
              </a:rPr>
              <a:t>•  실습 04 — non-CDB에서 내보내 PDB로 가져오기</a:t>
            </a:r>
          </a:p>
          <a:p>
            <a:pPr>
              <a:spcAft>
                <a:spcPts val="600"/>
              </a:spcAft>
            </a:pPr>
            <a:r>
              <a:rPr sz="1600" b="0">
                <a:solidFill>
                  <a:srgbClr val="C0392B"/>
                </a:solidFill>
                <a:latin typeface="맑은 고딕"/>
              </a:rPr>
              <a:t>•  실습 05 — PDB 간 데이터 내보내기/가져오기</a:t>
            </a:r>
          </a:p>
          <a:p>
            <a:pPr>
              <a:spcAft>
                <a:spcPts val="600"/>
              </a:spcAft>
            </a:pPr>
            <a:r>
              <a:rPr sz="1600" b="0">
                <a:solidFill>
                  <a:srgbClr val="C0392B"/>
                </a:solidFill>
                <a:latin typeface="맑은 고딕"/>
              </a:rPr>
              <a:t>•  실습 06 — Full Transportable Export/Import(TRANSPORTABLE=ALWAYS)</a:t>
            </a:r>
          </a:p>
          <a:p>
            <a:pPr>
              <a:spcAft>
                <a:spcPts val="600"/>
              </a:spcAft>
            </a:pPr>
            <a:r>
              <a:rPr sz="1600" b="0">
                <a:solidFill>
                  <a:srgbClr val="C0392B"/>
                </a:solidFill>
                <a:latin typeface="맑은 고딕"/>
              </a:rPr>
              <a:t>•  실습 07 — 네트워크를 통한 전송(NETWORK_LINK)</a:t>
            </a:r>
          </a:p>
          <a:p>
            <a:pPr>
              <a:spcAft>
                <a:spcPts val="600"/>
              </a:spcAft>
            </a:pPr>
            <a:r>
              <a:rPr sz="1600" b="0">
                <a:solidFill>
                  <a:srgbClr val="C0392B"/>
                </a:solidFill>
                <a:latin typeface="맑은 고딕"/>
              </a:rPr>
              <a:t>•  실습 08 — RMAN CONVERT로 플랫폼 간 데이터 변환</a:t>
            </a:r>
          </a:p>
          <a:p>
            <a:pPr>
              <a:spcAft>
                <a:spcPts val="600"/>
              </a:spcAft>
            </a:pPr>
            <a:r>
              <a:rPr sz="1600" b="0">
                <a:solidFill>
                  <a:srgbClr val="C0392B"/>
                </a:solidFill>
                <a:latin typeface="맑은 고딕"/>
              </a:rPr>
              <a:t>•  실습 09 — 이미지 카피/백업세트를 이용한 테이블스페이스 전송</a:t>
            </a:r>
          </a:p>
          <a:p>
            <a:pPr>
              <a:spcAft>
                <a:spcPts val="600"/>
              </a:spcAft>
            </a:pPr>
            <a:r>
              <a:rPr sz="1600" b="0">
                <a:solidFill>
                  <a:srgbClr val="C0392B"/>
                </a:solidFill>
                <a:latin typeface="맑은 고딕"/>
              </a:rPr>
              <a:t>•  실습 10 — 엔디안 포맷 확인 및 불일치 테이블스페이스 전송</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
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감사는 데이터베이스에서 발생하는 활동을 선택적으로 기록하고 추적하는 기능이다. 목적은 크게 세 가지로, 첫째 규정 준수는 금융·의료·공공 등에서 민감 데이터 접근 기록을 법으로 요구하기 때문이며, 둘째 사후 조사는 보안 사고 시 누가 언제 무엇을 했는지 되짚기 위함이고, 셋째 억지는 기록된다는 사실만으로 부적절한 행위를 예방하는 효과다. 반드시 강조할 점은 감사가 접근을 차단하는 기능이 아니라 결과를 기록하는 기능이라는 것이다. 차단은 권한·롤·프로파일이 담당하고, 감사는 실제로 무슨 일이 일어났는지를 남긴다.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12c 이전에는 감사 기능이 여러 갈래로 나뉘어 있었다. 표준 감사(전통적 감사)는 AUDIT 문과 AUD$ 테이블 또는 OS 파일을 사용했고, Fine-Grained Auditing은 DBMS_FGA 패키지와 FGA_LOG$ 테이블을, 그리고 SYS 사용자 감사와 OS 감사가 각각 별도로 존재했다. 관리자는 감사 유형마다 서로 다른 초기화 파라미터와 서로 다른 딕셔너리 뷰(DBA_AUDIT_TRAIL, DBA_FGA_AUDIT_TRAIL 등)를 오가야 했고, 감사 데이터가 여러 곳에 분산되어 통합적으로 분석하기가 어려웠다. 이 파편화가 통합 감사가 등장한 배경이다.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감사는 여러 감사 소스를 하나의 감사 추적으로 통합한다. 표준 감사, FGA뿐 아니라 RMAN, Data Pump, SQL*Loader Direct Path, Oracle Label Security, Real Application Security, Database Vault 등 다양한 구성요소의 감사 레코드가 단일 UNIFIED_AUDIT_TRAIL에 모인다. 이점은 단일 감사 추적으로 조회가 단순해지고, 개별 문장 대신 이름 있는 정책으로 감사를 켜고 끄는 정책 기반 관리가 가능하며, 감사 데이터가 AUDSYS의 보호된 저장소에 저장되어 변조가 어렵고, 큐 기반 쓰기로 성능이 개선되며, CDB/PDB를 인식해 공통·로컬 정책을 구분한다는 점이다. 19c의 표준은 이 통합 감사다.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레코드는 판정, 큐 적재, 배치 기록, 조회의 단계를 거친다. 사용자가 문장을 실행하면 서버 프로세스가 활성 정책 대상인지 판정하고, 대상이면 레코드를 SGA의 감사 큐에 넣는다. 이후 배경 프로세스가 주기적으로 또는 큐가 차면 AUDSYS 저장소로 기록한다. 이 큐 기반 구조 덕분에 문장 실행 경로에 감사가 주는 지연이 최소화된다. 한편 CREATE/ALTER/DROP AUDIT POLICY, AUDIT/NOAUDIT, DBMS_FGA·DBMS_AUDIT_MGMT 호출, 데이터베이스 시작·종료 같은 '감사 자체에 대한 활동'은 정책과 무관하게 항상 기록되는 필수 감사 항목으로, 감사 담당자가 몰래 설정을 끄는 것을 막는 안전장치다.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감사에서 감사 정책은 '무엇을 감사할지'를 이름으로 묶은 규칙 집합이다. 정책 안에는 시스템 권한, 미리 정의된 액션, 특정 객체에 대한 액션, 롤, 그리고 선택적으로 조건을 담을 수 있다. 핵심은 정책을 만드는 단계와 켜는 단계가 분리되어 있다는 점이다. CREATE AUDIT POLICY는 정의만 등록하고 실제 감사는 일어나지 않으며, AUDIT POLICY로 활성화해야 감사 레코드가 쌓인다. 이 분리 덕분에 표준 정책을 미리 만들어 두었다가 상황에 따라 활성화·비활성화할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Oracle은 자주 필요한 보안 감사 항목을 사전 정의 정책으로 제공한다. ORA_SECURECONFIG는 ALTER SYSTEM, CREATE/ALTER/DROP USER, GRANT/REVOKE, AUDIT, EXEMPT ACCESS POLICY 등 보안 태세에 직접 영향을 주는 권한·액션을 폭넓게 포함하며 기본 활성화되어 있다. ORA_LOGON_FAILURES는 실패한 로그온만 잡아 비인가 접속과 무차별 대입 공격의 징후를 탐지하며 역시 기본 활성화된다. 그 외 ORA_ACCOUNT_MGMT는 계정·롤 관리를, ORA_DATABASE_PARAMETER는 파라미터 변경을 감사한다. 활성 여부는 AUDIT_UNIFIED_ENABLED_POLICIES, 구성은 AUDIT_UNIFIED_POLICIES 뷰로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관리에는 두 개의 핵심 롤이 있다. AUDIT_ADMIN은 감사 정책의 생성·수정·삭제·활성화와 감사 추적의 아카이빙·정리까지 수행하는 강력한 롤로, 보통 전담 보안 관리자에게만 부여한다. AUDIT_VIEWER는 감사 레코드 조회만 가능해 감사 담당자와 검토자의 직무를 분리(SoD)할 때 검토자에게 부여한다. 정책 관련 주요 딕셔너리 뷰로는 현재 활성 정책과 적용 대상을 보여주는 AUDIT_UNIFIED_ENABLED_POLICIES, 정의된 정책의 권한·액션·객체·조건 구성을 보여주는 AUDIT_UNIFIED_POLICIES가 있다. 감사 설정을 변경한 뒤에는 이 뷰들로 반드시 검증한다.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AUDIT POLICY 구문의 골격이다. PRIVILEGES 절은 지정한 시스템 권한이 사용될 때, ACTIONS 절은 특정 SQL 액션이 실행될 때 감사한다. ROLES 절은 지정한 롤에 포함된 모든 권한·액션을 감사 대상으로 삼는다. WHEN 절은 조건이 참일 때만 감사하며 EVALUATE PER로 평가 단위를 정한다. ONLY TOPLEVEL은 최상위 문장만 감사하고, CONTAINER 절은 멀티테넌트 적용 범위를 정한다. 정책은 스키마에 속하지 않는 전역 객체이므로 스키마 접두사를 붙이지 않는다. 각 절은 선택적이지만 PRIVILEGES/ACTIONS/ROLES 중 최소 하나는 지정해야 의미가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정책을 설계할 때 여러 절을 함께 쓰면 나열된 권한·액션·롤 중 어느 하나라도 해당하면 감사되는 OR 결합이 된다. 하나의 정책에 성격이 다른 감사 항목을 지나치게 많이 담으면 나중에 조회와 해석이 어렵고 일부만 비활성화하기도 곤란하다. 따라서 로그온 관련, DDL 관련, 민감 테이블 접근 등 목적 단위로 정책을 나누어 관리하는 것이 유지보수에 유리하다. CREATE AUDIT POLICY를 실행하려면 AUDIT SYSTEM 권한 또는 AUDIT_ADMIN 롤이 필요하며, 이 권한은 강력하므로 전담 보안 관리자에게만 제한적으로 부여한다.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전반 감사는 특정 객체에 국한되지 않고 데이터베이스 전체에서 발생하는 권한 사용이나 문장 실행을 감사한다. PRIVILEGES 절은 지정한 시스템 권한이 실제 사용될 때 감사하므로 '강력한 권한을 누가 언제 실제로 썼는가'를 추적하는 데 적합하다. ACTIONS 절은 특정 SQL 문장 유형의 실행을 감사하며, 객체를 지정하지 않으면 데이터베이스 전체에서 해당 액션을 잡는다. ALL 키워드로 모든 액션을 감사할 수도 있으나 감사량이 폭증하므로 신중히 사용한다. 두 절은 한 정책 안에서 함께 지정할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감사와 액션 감사는 관점이 다르다. PRIVILEGES는 특정 시스템 권한이 실제 사용되는 순간을 잡는 권한 관점이고, ACTIONS는 특정 SQL 문장이 실행되는 순간을 잡는 문장 관점이다. 이 차이를 혼동하면 감사 범위가 예상과 달라진다. 예를 들어 사용자가 자기 스키마에 테이블을 만드는 CREATE TABLE은 별도의 ANY 권한이 필요 없으므로, CREATE ANY TABLE 권한 감사로는 잡히지 않는다. 반대로 CREATE TABLE 액션 감사는 자기 스키마 생성까지 모두 잡는다. 감사 목적에 맞게 권한 관점과 문장 관점을 선택해야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객체 지정 감사는 특정 테이블·뷰·프로시저 등 명명된 객체에 대한 액션만 감사한다. 구문은 ACTIONS action ON schema.object 형태다. 사용 가능한 액션은 객체 유형에 따라 다르다. 테이블·뷰에는 SELECT, INSERT, UPDATE, DELETE 등이, 프로시저·함수·패키지에는 EXECUTE가, 시퀀스에는 SELECT가 해당된다. 하나의 객체에 ALL을 지정하면 적용 가능한 모든 액션을 감사한다. 객체 지정 감사는 민감 데이터가 담긴 소수 핵심 테이블에 집중할 때 유용하며, 시스템 전반 감사보다 감사량이 훨씬 적어 성능 부담이 작다.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객체 지정 감사를 설계할 때는 접근 경로를 함께 고려해야 한다. 같은 데이터라도 원본 테이블 대신 뷰나 시노님을 거쳐 접근할 수 있으므로, 뷰에 대한 SELECT를 감사할지 기반 테이블을 감사할지에 따라 잡히는 레코드가 달라진다. 따라서 민감 데이터를 노출하는 모든 경로를 파악한 뒤 감사 대상을 정해야 누락을 막는다. 또한 객체가 삭제되었다가 다시 만들어지면 기존 정책이 새 객체에 자동으로 적용되지 않을 수 있으므로, 스키마 변경 시에는 감사 정책의 유효성도 함께 점검하는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절을 사용하면 조건이 참일 때만 감사하는 조건부 감사 정책을 만들 수 있다. 조건은 작은따옴표로 묶은 불리언 SQL 식이며, SYS_CONTEXT 같은 함수로 세션 정보를 참조한다. 위 예는 사내 대역(192.168.x.x)이 아닌 곳에서 EMPLOYEES를 조회하는 경우만 감사한다. 조건 식 안의 작은따옴표는 두 개를 연달아 써서 이스케이프한다. WHEN 절 뒤에는 반드시 EVALUATE PER 절이 따라와 조건을 문장·세션·인스턴스 단위 중 어느 것으로 평가할지 지정한다. 조건은 정책당 하나만 지정하며, 여러 조건은 AND/OR로 하나의 식에 결합한다.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 PER는 조건 평가 단위를 정한다. STATEMENT는 각 문장 실행 시마다 조건을 평가해 가장 정확하지만 평가 비용이 크고, SESSION은 세션 시작 시 한 번 평가한 결과를 세션 동안 유지하며, INSTANCE는 인스턴스 수준에서 한 번 평가한다. 세션·인스턴스 단위는 성능에 유리하지만 세션 도중 값이 바뀌는 조건(예: 시각)에는 부정확하므로 그때는 STATEMENT를 써야 한다. WHEN 조건에서 자주 쓰는 SYS_CONTEXT 속성으로는 SESSION_USER, IP_ADDRESS, HOST, OS_USER, MODULE, CLIENT_IDENTIFIER 등이 있어 '특정 계정만', '특정 프로그램에서만' 같은 정밀 규칙을 만들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정책을 효력 있게 만들려면 AUDIT POLICY로 활성화하고, 멈추려면 NOAUDIT POLICY로 비활성화한다. 비활성화해도 정의는 남으므로 다시 켤 수 있다. 완전 제거는 DROP AUDIT POLICY이며, 활성 정책은 먼저 NOAUDIT으로 끈 뒤에야 삭제된다. BY user는 지정 사용자만 감사하는 화이트리스트, EXCEPT user는 지정 사용자를 제외한 모두를 감사하는 블랙리스트이며 둘은 함께 쓸 수 없다. WHENEVER SUCCESSFUL은 성공한 문장만, WHENEVER NOT SUCCESSFUL은 실패한 문장만 감사한다. 권한 부족으로 실패한 접근 시도만 잡고 싶으면 NOT SUCCESSFUL을 쓴다. 이 절을 생략하면 성공·실패를 모두 감사한다.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전통적 감사의 BY SESSION / BY ACCESS 구분은 통합 감사에서 의미가 달라졌다. 통합 감사는 감사되는 각 액션마다 하나의 감사 레코드를 만드는 BY ACCESS 방식으로 동작한다. 즉 문장이 실행될 때마다 개별 레코드가 남으며, 세션당 하나로 요약하던 예전 BY SESSION 동작은 통합 감사 정책 활성화에는 적용되지 않는다. 덕분에 활동을 세밀하게 추적할 수 있지만 감사량 관리가 그만큼 중요해진다. 어떤 정책이 어떤 사용자 대상으로 성공/실패 어느 쪽으로 켜져 있는지는 AUDIT_UNIFIED_ENABLED_POLICIES 뷰의 컬럼으로 확인하고, 설정 변경 후 항상 검증하는 습관이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멀티테넌트에서는 감사 정책도 공통과 로컬로 나뉜다. 공통 정책은 루트(CDB$ROOT)에서 CONTAINER=ALL로 생성하며 CDB 전체와 모든 PDB에 적용할 수 있다. 로컬 정책은 특정 PDB(또는 루트) 안에서만 유효하며 CONTAINER=CURRENT(기본값)로 생성한다. 공통 정책은 루트에서만 만들 수 있고 PDB에서는 로컬 정책만 만들 수 있다. 중요한 제약은 공통 정책이 공통 객체만 참조할 수 있다는 점으로, HR.EMPLOYEES 같은 특정 PDB의 로컬 객체를 객체 지정으로 감사하려면 반드시 해당 PDB에서 로컬 정책으로 만들어야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레코드는 각 컨테이너의 감사 추적에 저장된다. PDB에서 발생한 감사는 그 PDB의 UNIFIED_AUDIT_TRAIL에, 루트에서 발생한 감사는 루트의 감사 추적에 남는다. CDB 전체의 감사를 한눈에 보려면 루트에서 CDB_UNIFIED_AUDIT_TRAIL 뷰를 조회하며, 이 뷰의 CON_ID 컬럼으로 각 레코드가 어느 컨테이너에서 발생했는지 구분한다. 실무 기준은 계정 관리·파라미터 변경 같은 CDB 전역 보안 표준은 루트의 공통 정책으로, 특정 애플리케이션 스키마의 민감 테이블 감사처럼 PDB에 국한된 규칙은 해당 PDB의 로컬 정책으로 나누는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 만든 정책에 항목을 추가·제거하려면 ALTER AUDIT POLICY를 사용한다. 정책을 삭제하고 다시 만들 필요 없이 옵션만 조정할 수 있어 운영 중인 정책을 무중단으로 조정하는 데 유용하다. ADD 절로 권한·액션·롤을 추가하고 DROP 절로 제거한다. 조건은 CONDITION 절과 EVALUATE PER를 함께 지정해 교체하거나 DROP CONDITION으로 제거한다. 유의점은 ADD/DROP하는 항목의 종류를 각각 명시해야 하고, 활성 상태에서도 수정 가능하며 변경은 이후 문장부터 반영된다는 것이다. ALTER가 DROP 후 재생성보다 안전한 이유는 정책의 활성화 상태와 BY/EXCEPT 설정이 그대로 유지되어 감사 공백이 생기지 않기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TOPLEVEL 옵션은 사용자가 직접 실행한 최상위 문장만 감사하고, PL/SQL 프로시저나 트리거 내부에서 간접 실행된 중첩 문장은 제외한다. 필요한 이유는 중복 감사다. 예를 들어 SELECT ON hr.employees를 감사할 때 사용자가 EMPLOYEES를 내부적으로 조회하는 프로시저를 호출하면, 프로시저 호출 한 번에 대해 내부 SELECT까지 각각 레코드가 생겨 감사 추적이 불필요하게 커진다. ONLY TOPLEVEL을 지정하면 사용자가 직접 실행한 문장만 감사되어 '누가 무엇을 시켰는가'라는 핵심 정보만 남는다. 다만 애플리케이션 내부 접근 경로까지 모두 추적해야 한다면 이 옵션을 지정하지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구체적인 예로 관리자가 UPDATE_SALARY 프로시저를 만들고 그 안에서 HR.EMPLOYEES를 UPDATE한다고 하자. ONLY TOPLEVEL 없이 감사하면 사용자가 EXEC UPDATE_SALARY를 한 번 호출할 때 프로시저 호출과 내부 UPDATE가 각각 감사되어 하나의 업무 행위에 여러 레코드가 남는다. 배치나 애플리케이션이 이런 프로시저를 대량 호출하면 감사 추적이 급격히 팽창한다. ONLY TOPLEVEL을 지정하면 사용자가 직접 실행한 프로시저 호출만 감사되어 레코드가 크게 줄고 핵심 정보만 남는다. 사용자 의도 행위 추적이면 적용하고, 내부 접근 경로까지 모두 추적해야 하면 적용하지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Fine-Grained Auditing은 특정 컬럼과 특정 조건이 결합된 정밀한 접근만 감사하는 기능이다. 통합 감사의 객체 지정 감사가 테이블 단위라면 FGA는 '어떤 컬럼을 어떤 조건에서 접근했는가'까지 내려간다. DBMS_FGA.ADD_POLICY로 정책을 만들며, object_schema·object_name으로 대상을, audit_column으로 감사 컬럼을, audit_condition으로 조건을, statement_types로 문장 유형(기본 SELECT)을 지정한다. audit_column_opts는 지정 컬럼 중 하나라도 참조되면(ANY_COLUMNS) 감사할지 모두 참조 시(ALL_COLUMNS) 감사할지 정한다. 정책은 ENABLE/DISABLE/DROP_POLICY로 관리한다.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FGA와 통합 감사의 객체 지정 감사는 목적이 겹치는 듯 보이지만 결이 다르다. 통합 감사 정책의 ACTIONS SELECT ON은 그 테이블에 대한 SELECT가 일어났는지를 문장 단위로 감사한다. 반면 FGA는 특정 컬럼이 참조되었고 동시에 특정 조건을 만족하는 행에 접근했는지까지 따진다. 따라서 넓은 범위 감사는 통합 감사 정책으로, 소수 민감 컬럼의 조건부 정밀 감사는 FGA로 나누어 설계하면 감사량을 통제하면서도 규정이 요구하는 세밀함을 확보한다. 두 방식은 함께 쓸 수 있고, 통합 감사가 켜진 환경에서는 어느 쪽이든 UNIFIED_AUDIT_TRAIL에서 함께 조회된다.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감사 레코드는 UNIFIED_AUDIT_TRAIL 뷰로 조회한다. 이 뷰는 이벤트 타임스탬프, 데이터베이스 사용자(DBUSERNAME), 클라이언트 정보, 실행 액션(ACTION_NAME), 대상 객체, 반환 코드(RETURN_CODE), 실행된 SQL 텍스트, 적용된 정책 등 풍부한 컬럼을 제공한다. RETURN_CODE가 0이면 성공, 0이 아니면 해당 오류로 실패한 것이다. 로그온 실패는 RETURN_CODE에 ORA-01017 같은 값이 남는다. 데이터가 많아지면 조회가 느려지므로 EVENT_TIMESTAMP 범위, DBUSERNAME, ACTION_NAME 같은 조건을 함께 걸어 필요한 레코드만 좁혀 조회하는 것이 원칙이다.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추적은 계속 커지므로 주기적으로 아카이빙하고 정리해야 한다. 통합 감사 데이터는 AUDSYS가 소유하는 저장소에 있으며 관리는 DBMS_AUDIT_MGMT로 한다. 흐름은 먼저 SET_LAST_ARCHIVE_TIMESTAMP로 '이 시점 이전은 이미 아카이브되었다'는 기준선을 설정하고, CLEAN_AUDIT_TRAIL을 use_last_arch_timestamp=TRUE로 실행해 기준선 이전 레코드만 안전하게 삭제한다. 반복 작업은 CREATE_PURGE_JOB으로 스케줄러 기반 자동 정리 작업을 만들어 지정 주기마다 실행한다. 작업은 SET_PURGE_JOB_INTERVAL·SET_PURGE_JOB_STATUS로 조정하고 DROP_PURGE_JOB으로 제거한다.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데이터의 저장 위치와 모드도 조정할 수 있다. SET_AUDIT_TRAIL_LOCATION으로 통합 감사 데이터를 전용 테이블스페이스로 옮기면 SYSAUX 부담을 줄인다. SET_AUDIT_TRAIL_PROPERTY로 큐 기반 쓰기와 즉시 쓰기 모드를 설정하는데, 기본 큐 기반은 성능이 좋지만 인스턴스 비정상 종료 시 미기록 레코드가 유실될 수 있으므로 무결성이 매우 중요하면 즉시 쓰기를 고려한다. AUDIT_TRAIL 초기화 파라미터(NONE/DB/DB,EXTENDED/OS/XML)는 전통적 감사의 기록 위치를 제어하지만, 순수 통합 감사 모드에서는 그 값이 무시되고 통합 감사 정책만 유효하다. 보존 기간과 정리 주기는 규정에 맞춰 문서화·자동화한다.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Q1의 핵심은 감사가 접근을 차단하는 기능이 아니라 활동을 기록하는 기능이라는 점이다. 통합 감사의 진짜 이점은 단일 감사 추적 통합, 정책 기반 관리, 보호된 AUDSYS 저장소, 큐 기반 성능이다. Q2는 감사 정책의 생성과 활성화가 분리되어 있다는 개념을 확인한다. CREATE AUDIT POLICY는 정의만 등록하고 실제 감사는 AUDIT POLICY 문으로 활성화해야 시작된다. 이 분리 덕분에 표준 정책을 미리 만들어 두었다가 필요할 때 켜고 끌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Q3은 활성화 시 WHENEVER 절로 성공·실패 범위를 한정하는 것을 확인한다. NOT SUCCESSFUL은 권한 부족 등으로 실패한 시도만 잡아 비인가 접근 탐지에 유용하다. Q4는 멀티테넌트 감사의 규칙을 묻는다. 공통 정책은 루트(CDB$ROOT)에서만 CONTAINER=ALL로 생성하며, 공통 정책은 공통 객체만 참조할 수 있으므로 HR.EMPLOYEES 같은 특정 PDB의 로컬 테이블을 객체 지정으로 감사하려면 반드시 해당 PDB에서 로컬 정책으로 만들어야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Q5는 ONLY TOPLEVEL이 PL/SQL·트리거 내부의 중첩 문장을 제외해 중복 감사를 줄이는 옵션임을 확인한다. 사용자가 직접 실행한 최상위 문장만 남겨 감사 추적 크기와 잡음을 낮춘다. Q6은 안전한 정리 절차를 묻는다. 먼저 SET_LAST_ARCHIVE_TIMESTAMP로 아카이브 기준선을 세운 뒤 CLEAN_AUDIT_TRAIL을 use_last_arch_timestamp=TRUE로 실행해야 기준선 이전 데이터만 삭제된다. 순서를 바꾸거나 기준선 없이 정리하면 아직 아카이브되지 않은 데이터를 잃을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ctr">
            <a:spAutoFit/>
          </a:bodyPr>
          <a:lstStyle/>
          <a:p>
            <a:pPr algn="l"/>
            <a:r>
              <a:rPr sz="1600" b="0">
                <a:solidFill>
                  <a:srgbClr val="FFFFFF"/>
                </a:solidFill>
                <a:latin typeface="맑은 고딕"/>
              </a:rPr>
              <a:t>Oracle Database 19c Administration Workshop</a:t>
            </a:r>
          </a:p>
        </p:txBody>
      </p:sp>
      <p:sp>
        <p:nvSpPr>
          <p:cNvPr id="6" name="TextBox 5"/>
          <p:cNvSpPr txBox="1"/>
          <p:nvPr/>
        </p:nvSpPr>
        <p:spPr>
          <a:xfrm>
            <a:off x="731520" y="2468880"/>
            <a:ext cx="10698480" cy="1463040"/>
          </a:xfrm>
          <a:prstGeom prst="rect">
            <a:avLst/>
          </a:prstGeom>
          <a:noFill/>
        </p:spPr>
        <p:txBody>
          <a:bodyPr wrap="square" anchor="t">
            <a:spAutoFit/>
          </a:bodyPr>
          <a:lstStyle/>
          <a:p>
            <a:pPr algn="l"/>
            <a:r>
              <a:rPr sz="4000" b="1">
                <a:solidFill>
                  <a:srgbClr val="C0392B"/>
                </a:solidFill>
                <a:latin typeface="맑은 고딕"/>
              </a:rPr>
              <a:t>Oracle 데이터베이스 감사 구현</a:t>
            </a:r>
          </a:p>
          <a:p>
            <a:pPr algn="l"/>
            <a:r>
              <a:rPr sz="4000" b="1">
                <a:solidFill>
                  <a:srgbClr val="C0392B"/>
                </a:solidFill>
                <a:latin typeface="맑은 고딕"/>
              </a:rPr>
              <a:t>Implementing Oracle Database Auditing</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통합 감사 · 감사 정책 · 시스템/객체/조건 감사 · FGA · 감사 추적 관리</a:t>
            </a:r>
          </a:p>
        </p:txBody>
      </p:sp>
      <p:sp>
        <p:nvSpPr>
          <p:cNvPr id="8" name="TextBox 7"/>
          <p:cNvSpPr txBox="1"/>
          <p:nvPr/>
        </p:nvSpPr>
        <p:spPr>
          <a:xfrm>
            <a:off x="731520" y="5577840"/>
            <a:ext cx="10698480" cy="914400"/>
          </a:xfrm>
          <a:prstGeom prst="rect">
            <a:avLst/>
          </a:prstGeom>
          <a:noFill/>
        </p:spPr>
        <p:txBody>
          <a:bodyPr wrap="square" anchor="ctr">
            <a:spAutoFit/>
          </a:bodyPr>
          <a:lstStyle/>
          <a:p>
            <a:pPr algn="l"/>
            <a:r>
              <a:rPr sz="2000" b="1">
                <a:solidFill>
                  <a:srgbClr val="C0392B"/>
                </a:solidFill>
                <a:latin typeface="맑은 고딕"/>
              </a:rPr>
              <a:t>제24장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463040"/>
            <a:ext cx="10881360" cy="4937760"/>
          </a:xfrm>
          <a:prstGeom prst="rect">
            <a:avLst/>
          </a:prstGeom>
          <a:noFill/>
        </p:spPr>
        <p:txBody>
          <a:bodyPr wrap="square" anchor="t">
            <a:spAutoFit/>
          </a:bodyPr>
          <a:lstStyle/>
          <a:p>
            <a:pPr algn="l">
              <a:spcAft>
                <a:spcPts val="1000"/>
              </a:spcAft>
            </a:pPr>
            <a:r>
              <a:rPr sz="1800" b="0">
                <a:solidFill>
                  <a:srgbClr val="C0392B"/>
                </a:solidFill>
                <a:latin typeface="맑은 고딕"/>
              </a:rPr>
              <a:t>•  데이터베이스 감사의 목적과 통합 감사(Unified Auditing) 개념을 이해한다</a:t>
            </a:r>
          </a:p>
          <a:p>
            <a:pPr algn="l">
              <a:spcAft>
                <a:spcPts val="1000"/>
              </a:spcAft>
            </a:pPr>
            <a:r>
              <a:rPr sz="1800" b="0">
                <a:solidFill>
                  <a:srgbClr val="C0392B"/>
                </a:solidFill>
                <a:latin typeface="맑은 고딕"/>
              </a:rPr>
              <a:t>•  사전 정의 감사 정책(ORA_SECURECONFIG, ORA_LOGON_FAILURES 등)의 역할을 안다</a:t>
            </a:r>
          </a:p>
          <a:p>
            <a:pPr algn="l">
              <a:spcAft>
                <a:spcPts val="1000"/>
              </a:spcAft>
            </a:pPr>
            <a:r>
              <a:rPr sz="1800" b="0">
                <a:solidFill>
                  <a:srgbClr val="C0392B"/>
                </a:solidFill>
                <a:latin typeface="맑은 고딕"/>
              </a:rPr>
              <a:t>•  CREATE AUDIT POLICY로 시스템/객체/조건 감사 정책을 작성한다</a:t>
            </a:r>
          </a:p>
          <a:p>
            <a:pPr algn="l">
              <a:spcAft>
                <a:spcPts val="1000"/>
              </a:spcAft>
            </a:pPr>
            <a:r>
              <a:rPr sz="1800" b="0">
                <a:solidFill>
                  <a:srgbClr val="C0392B"/>
                </a:solidFill>
                <a:latin typeface="맑은 고딕"/>
              </a:rPr>
              <a:t>•  AUDIT/NOAUDIT POLICY와 BY·WHENEVER 절로 감사를 제어한다</a:t>
            </a:r>
          </a:p>
          <a:p>
            <a:pPr algn="l">
              <a:spcAft>
                <a:spcPts val="1000"/>
              </a:spcAft>
            </a:pPr>
            <a:r>
              <a:rPr sz="1800" b="0">
                <a:solidFill>
                  <a:srgbClr val="C0392B"/>
                </a:solidFill>
                <a:latin typeface="맑은 고딕"/>
              </a:rPr>
              <a:t>•  멀티테넌트(CDB/PDB)에서 공통/로컬 정책을 구분해 운영한다</a:t>
            </a:r>
          </a:p>
          <a:p>
            <a:pPr algn="l">
              <a:spcAft>
                <a:spcPts val="1000"/>
              </a:spcAft>
            </a:pPr>
            <a:r>
              <a:rPr sz="1800" b="0">
                <a:solidFill>
                  <a:srgbClr val="C0392B"/>
                </a:solidFill>
                <a:latin typeface="맑은 고딕"/>
              </a:rPr>
              <a:t>•  ALTER AUDIT POLICY·ONLY TOPLEVEL·FGA(DBMS_FGA)를 활용한다</a:t>
            </a:r>
          </a:p>
          <a:p>
            <a:pPr algn="l">
              <a:spcAft>
                <a:spcPts val="1000"/>
              </a:spcAft>
            </a:pPr>
            <a:r>
              <a:rPr sz="1800" b="0">
                <a:solidFill>
                  <a:srgbClr val="C0392B"/>
                </a:solidFill>
                <a:latin typeface="맑은 고딕"/>
              </a:rPr>
              <a:t>•  UNIFIED_AUDIT_TRAIL 조회와 DBMS_AUDIT_MGMT 정리를 수행한다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463040"/>
            <a:ext cx="10881360" cy="4937760"/>
          </a:xfrm>
          <a:prstGeom prst="rect">
            <a:avLst/>
          </a:prstGeom>
          <a:noFill/>
        </p:spPr>
        <p:txBody>
          <a:bodyPr wrap="square" anchor="t">
            <a:spAutoFit/>
          </a:bodyPr>
          <a:lstStyle/>
          <a:p>
            <a:pPr algn="l">
              <a:spcAft>
                <a:spcPts val="1000"/>
              </a:spcAft>
            </a:pPr>
            <a:r>
              <a:rPr sz="1800" b="0">
                <a:solidFill>
                  <a:srgbClr val="C0392B"/>
                </a:solidFill>
                <a:latin typeface="맑은 고딕"/>
              </a:rPr>
              <a:t>•  24.A 감사 개념 및 통합 감사 개요</a:t>
            </a:r>
          </a:p>
          <a:p>
            <a:pPr algn="l">
              <a:spcAft>
                <a:spcPts val="1000"/>
              </a:spcAft>
            </a:pPr>
            <a:r>
              <a:rPr sz="1800" b="0">
                <a:solidFill>
                  <a:srgbClr val="C0392B"/>
                </a:solidFill>
                <a:latin typeface="맑은 고딕"/>
              </a:rPr>
              <a:t>•  24.B 감사 정책과 사전 정의 정책</a:t>
            </a:r>
          </a:p>
          <a:p>
            <a:pPr algn="l">
              <a:spcAft>
                <a:spcPts val="1000"/>
              </a:spcAft>
            </a:pPr>
            <a:r>
              <a:rPr sz="1800" b="0">
                <a:solidFill>
                  <a:srgbClr val="C0392B"/>
                </a:solidFill>
                <a:latin typeface="맑은 고딕"/>
              </a:rPr>
              <a:t>•  24.C CREATE AUDIT POLICY 구문</a:t>
            </a:r>
          </a:p>
          <a:p>
            <a:pPr algn="l">
              <a:spcAft>
                <a:spcPts val="1000"/>
              </a:spcAft>
            </a:pPr>
            <a:r>
              <a:rPr sz="1800" b="0">
                <a:solidFill>
                  <a:srgbClr val="C0392B"/>
                </a:solidFill>
                <a:latin typeface="맑은 고딕"/>
              </a:rPr>
              <a:t>•  24.D 시스템 전반 감사(PRIVILEGES/ACTIONS)</a:t>
            </a:r>
          </a:p>
          <a:p>
            <a:pPr algn="l">
              <a:spcAft>
                <a:spcPts val="1000"/>
              </a:spcAft>
            </a:pPr>
            <a:r>
              <a:rPr sz="1800" b="0">
                <a:solidFill>
                  <a:srgbClr val="C0392B"/>
                </a:solidFill>
                <a:latin typeface="맑은 고딕"/>
              </a:rPr>
              <a:t>•  24.E 객체 지정 감사 액션</a:t>
            </a:r>
          </a:p>
          <a:p>
            <a:pPr algn="l">
              <a:spcAft>
                <a:spcPts val="1000"/>
              </a:spcAft>
            </a:pPr>
            <a:r>
              <a:rPr sz="1800" b="0">
                <a:solidFill>
                  <a:srgbClr val="C0392B"/>
                </a:solidFill>
                <a:latin typeface="맑은 고딕"/>
              </a:rPr>
              <a:t>•  24.F 조건(WHEN)을 지정한 감사</a:t>
            </a:r>
          </a:p>
          <a:p>
            <a:pPr algn="l">
              <a:spcAft>
                <a:spcPts val="1000"/>
              </a:spcAft>
            </a:pPr>
            <a:r>
              <a:rPr sz="1800" b="0">
                <a:solidFill>
                  <a:srgbClr val="C0392B"/>
                </a:solidFill>
                <a:latin typeface="맑은 고딕"/>
              </a:rPr>
              <a:t>•  24.G 감사 정책 활성화/비활성화</a:t>
            </a:r>
          </a:p>
          <a:p>
            <a:pPr algn="l">
              <a:spcAft>
                <a:spcPts val="1000"/>
              </a:spcAft>
            </a:pPr>
            <a:r>
              <a:rPr sz="1800" b="0">
                <a:solidFill>
                  <a:srgbClr val="C0392B"/>
                </a:solidFill>
                <a:latin typeface="맑은 고딕"/>
              </a:rPr>
              <a:t>•  24.H 멀티테넌트 환경에서의 감사</a:t>
            </a:r>
          </a:p>
          <a:p>
            <a:pPr algn="l">
              <a:spcAft>
                <a:spcPts val="1000"/>
              </a:spcAft>
            </a:pPr>
            <a:r>
              <a:rPr sz="1800" b="0">
                <a:solidFill>
                  <a:srgbClr val="C0392B"/>
                </a:solidFill>
                <a:latin typeface="맑은 고딕"/>
              </a:rPr>
              <a:t>•  24.I ALTER AUDIT POLICY / 24.J ONLY TOPLEVEL</a:t>
            </a:r>
          </a:p>
          <a:p>
            <a:pPr algn="l">
              <a:spcAft>
                <a:spcPts val="1000"/>
              </a:spcAft>
            </a:pPr>
            <a:r>
              <a:rPr sz="1800" b="0">
                <a:solidFill>
                  <a:srgbClr val="C0392B"/>
                </a:solidFill>
                <a:latin typeface="맑은 고딕"/>
              </a:rPr>
              <a:t>•  24.K Fine-Grained Auditing / 24.L 감사 추적 조회·정리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24.A</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감사 개념 및 통합 감사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감사란 무엇인가: 기록·추적</a:t>
            </a:r>
          </a:p>
          <a:p>
            <a:pPr algn="l">
              <a:spcAft>
                <a:spcPts val="600"/>
              </a:spcAft>
            </a:pPr>
            <a:r>
              <a:rPr sz="1600" b="0">
                <a:solidFill>
                  <a:srgbClr val="FFFFFF"/>
                </a:solidFill>
                <a:latin typeface="맑은 고딕"/>
              </a:rPr>
              <a:t>•  감사의 세 가지 목적</a:t>
            </a:r>
          </a:p>
          <a:p>
            <a:pPr algn="l">
              <a:spcAft>
                <a:spcPts val="600"/>
              </a:spcAft>
            </a:pPr>
            <a:r>
              <a:rPr sz="1600" b="0">
                <a:solidFill>
                  <a:srgbClr val="FFFFFF"/>
                </a:solidFill>
                <a:latin typeface="맑은 고딕"/>
              </a:rPr>
              <a:t>•  통합 감사(Unified Auditing)의 도입과 이점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감사(Auditing)란 무엇인가</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기록 · 추적 · 규정 준수</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특정 데이터베이스 활동을 선택적으로 기록·추적하는 기능</a:t>
            </a:r>
          </a:p>
          <a:p>
            <a:pPr algn="l">
              <a:spcAft>
                <a:spcPts val="1000"/>
              </a:spcAft>
            </a:pPr>
            <a:r>
              <a:rPr sz="1800" b="0">
                <a:solidFill>
                  <a:srgbClr val="C0392B"/>
                </a:solidFill>
                <a:latin typeface="맑은 고딕"/>
              </a:rPr>
              <a:t>•  목적: 규정 준수(compliance) · 사후 조사(investigation) · 억지(deterrence)</a:t>
            </a:r>
          </a:p>
          <a:p>
            <a:pPr algn="l">
              <a:spcAft>
                <a:spcPts val="1000"/>
              </a:spcAft>
            </a:pPr>
            <a:r>
              <a:rPr sz="1800" b="0">
                <a:solidFill>
                  <a:srgbClr val="C0392B"/>
                </a:solidFill>
                <a:latin typeface="맑은 고딕"/>
              </a:rPr>
              <a:t>•  접근을 '막는' 기능이 아니라 '기록'하는 기능</a:t>
            </a:r>
          </a:p>
          <a:p>
            <a:pPr algn="l">
              <a:spcAft>
                <a:spcPts val="1000"/>
              </a:spcAft>
            </a:pPr>
            <a:r>
              <a:rPr sz="1800" b="0">
                <a:solidFill>
                  <a:srgbClr val="C0392B"/>
                </a:solidFill>
                <a:latin typeface="맑은 고딕"/>
              </a:rPr>
              <a:t>•  접근 통제는 권한·롤·프로파일, 기록은 감사가 담당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12c 이전의 분산된 감사</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여러 저장소·여러 관리 방식</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표준 감사(전통적): AUDIT 문 + AUD$ 테이블/OS 파일</a:t>
            </a:r>
          </a:p>
          <a:p>
            <a:pPr algn="l">
              <a:spcAft>
                <a:spcPts val="1000"/>
              </a:spcAft>
            </a:pPr>
            <a:r>
              <a:rPr sz="1800" b="0">
                <a:solidFill>
                  <a:srgbClr val="C0392B"/>
                </a:solidFill>
                <a:latin typeface="맑은 고딕"/>
              </a:rPr>
              <a:t>•  FGA: DBMS_FGA + FGA_LOG$ 테이블</a:t>
            </a:r>
          </a:p>
          <a:p>
            <a:pPr algn="l">
              <a:spcAft>
                <a:spcPts val="1000"/>
              </a:spcAft>
            </a:pPr>
            <a:r>
              <a:rPr sz="1800" b="0">
                <a:solidFill>
                  <a:srgbClr val="C0392B"/>
                </a:solidFill>
                <a:latin typeface="맑은 고딕"/>
              </a:rPr>
              <a:t>•  SYS 감사, OS 감사가 별도로 존재</a:t>
            </a:r>
          </a:p>
          <a:p>
            <a:pPr algn="l">
              <a:spcAft>
                <a:spcPts val="1000"/>
              </a:spcAft>
            </a:pPr>
            <a:r>
              <a:rPr sz="1800" b="0">
                <a:solidFill>
                  <a:srgbClr val="C0392B"/>
                </a:solidFill>
                <a:latin typeface="맑은 고딕"/>
              </a:rPr>
              <a:t>•  감사 유형마다 다른 파라미터·다른 딕셔너리 뷰 → 통합 분석 곤란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통합 감사(Unified Auditing)</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12c 도입, 19c 표준</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여러 감사 소스를 단일 감사 추적으로 통합</a:t>
            </a:r>
          </a:p>
          <a:p>
            <a:pPr algn="l">
              <a:spcAft>
                <a:spcPts val="1000"/>
              </a:spcAft>
            </a:pPr>
            <a:r>
              <a:rPr sz="1800" b="0">
                <a:solidFill>
                  <a:srgbClr val="C0392B"/>
                </a:solidFill>
                <a:latin typeface="맑은 고딕"/>
              </a:rPr>
              <a:t>•  표준·FGA·RMAN·Data Pump·SQL*Loader·OLS·RAS·DV 등 포함</a:t>
            </a:r>
          </a:p>
          <a:p>
            <a:pPr algn="l">
              <a:spcAft>
                <a:spcPts val="1000"/>
              </a:spcAft>
            </a:pPr>
            <a:r>
              <a:rPr sz="1800" b="0">
                <a:solidFill>
                  <a:srgbClr val="C0392B"/>
                </a:solidFill>
                <a:latin typeface="맑은 고딕"/>
              </a:rPr>
              <a:t>•  UNIFIED_AUDIT_TRAIL 하나로 전체 조회</a:t>
            </a:r>
          </a:p>
          <a:p>
            <a:pPr algn="l">
              <a:spcAft>
                <a:spcPts val="1000"/>
              </a:spcAft>
            </a:pPr>
            <a:r>
              <a:rPr sz="1800" b="0">
                <a:solidFill>
                  <a:srgbClr val="C0392B"/>
                </a:solidFill>
                <a:latin typeface="맑은 고딕"/>
              </a:rPr>
              <a:t>•  정책 기반 관리 · AUDSYS 보호 저장소 · 큐 기반 성능 · CDB/PDB 인식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감사 레코드의 흐름과 필수 감사</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판정→큐→기록→조회</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문장 실행 → 정책 대상 판정 → SGA 감사 큐 적재</a:t>
            </a:r>
          </a:p>
          <a:p>
            <a:pPr algn="l">
              <a:spcAft>
                <a:spcPts val="1000"/>
              </a:spcAft>
            </a:pPr>
            <a:r>
              <a:rPr sz="1800" b="0">
                <a:solidFill>
                  <a:srgbClr val="C0392B"/>
                </a:solidFill>
                <a:latin typeface="맑은 고딕"/>
              </a:rPr>
              <a:t>•  배경 프로세스가 AUDSYS 저장소로 배치 기록(flush)</a:t>
            </a:r>
          </a:p>
          <a:p>
            <a:pPr algn="l">
              <a:spcAft>
                <a:spcPts val="1000"/>
              </a:spcAft>
            </a:pPr>
            <a:r>
              <a:rPr sz="1800" b="0">
                <a:solidFill>
                  <a:srgbClr val="C0392B"/>
                </a:solidFill>
                <a:latin typeface="맑은 고딕"/>
              </a:rPr>
              <a:t>•  UNIFIED_AUDIT_TRAIL 뷰로 조회</a:t>
            </a:r>
          </a:p>
          <a:p>
            <a:pPr algn="l">
              <a:spcAft>
                <a:spcPts val="1000"/>
              </a:spcAft>
            </a:pPr>
            <a:r>
              <a:rPr sz="1800" b="0">
                <a:solidFill>
                  <a:srgbClr val="C0392B"/>
                </a:solidFill>
                <a:latin typeface="맑은 고딕"/>
              </a:rPr>
              <a:t>•  필수(mandatory) 감사: 감사 설정 변경·DB 시작/종료는 항상 기록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24.B</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감사 정책과 사전 정의 정책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감사 정책 개념: 생성 ≠ 활성화</a:t>
            </a:r>
          </a:p>
          <a:p>
            <a:pPr algn="l">
              <a:spcAft>
                <a:spcPts val="600"/>
              </a:spcAft>
            </a:pPr>
            <a:r>
              <a:rPr sz="1600" b="0">
                <a:solidFill>
                  <a:srgbClr val="FFFFFF"/>
                </a:solidFill>
                <a:latin typeface="맑은 고딕"/>
              </a:rPr>
              <a:t>•  사전 정의 정책 목록</a:t>
            </a:r>
          </a:p>
          <a:p>
            <a:pPr algn="l">
              <a:spcAft>
                <a:spcPts val="600"/>
              </a:spcAft>
            </a:pPr>
            <a:r>
              <a:rPr sz="1600" b="0">
                <a:solidFill>
                  <a:srgbClr val="FFFFFF"/>
                </a:solidFill>
                <a:latin typeface="맑은 고딕"/>
              </a:rPr>
              <a:t>•  AUDIT_ADMIN / AUDIT_VIEWER 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감사 정책(Audit Policy) 개념</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무엇을 감사할지를 이름으로 묶음</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시스템 권한·액션·객체 액션·롤·조건(WHEN)을 조합</a:t>
            </a:r>
          </a:p>
          <a:p>
            <a:pPr algn="l">
              <a:spcAft>
                <a:spcPts val="1000"/>
              </a:spcAft>
            </a:pPr>
            <a:r>
              <a:rPr sz="1800" b="0">
                <a:solidFill>
                  <a:srgbClr val="C0392B"/>
                </a:solidFill>
                <a:latin typeface="맑은 고딕"/>
              </a:rPr>
              <a:t>•  생성(CREATE AUDIT POLICY) ≠ 활성화(AUDIT POLICY)</a:t>
            </a:r>
          </a:p>
          <a:p>
            <a:pPr algn="l">
              <a:spcAft>
                <a:spcPts val="1000"/>
              </a:spcAft>
            </a:pPr>
            <a:r>
              <a:rPr sz="1800" b="0">
                <a:solidFill>
                  <a:srgbClr val="C0392B"/>
                </a:solidFill>
                <a:latin typeface="맑은 고딕"/>
              </a:rPr>
              <a:t>•  생성만 하면 감사 발생 안 함 → 반드시 활성화 필요</a:t>
            </a:r>
          </a:p>
          <a:p>
            <a:pPr algn="l">
              <a:spcAft>
                <a:spcPts val="1000"/>
              </a:spcAft>
            </a:pPr>
            <a:r>
              <a:rPr sz="1800" b="0">
                <a:solidFill>
                  <a:srgbClr val="C0392B"/>
                </a:solidFill>
                <a:latin typeface="맑은 고딕"/>
              </a:rPr>
              <a:t>•  여러 정책을 미리 준비해 두고 상황에 따라 켜고 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사전 정의된 감사 정책</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Oracle 기본 제공</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ORA_SECURECONFIG: 핵심 보안 구성(기본 활성화)</a:t>
            </a:r>
          </a:p>
          <a:p>
            <a:pPr algn="l">
              <a:spcAft>
                <a:spcPts val="1000"/>
              </a:spcAft>
            </a:pPr>
            <a:r>
              <a:rPr sz="1800" b="0">
                <a:solidFill>
                  <a:srgbClr val="C0392B"/>
                </a:solidFill>
                <a:latin typeface="맑은 고딕"/>
              </a:rPr>
              <a:t>•  ORA_LOGON_FAILURES: 로그온 실패(기본 활성화)</a:t>
            </a:r>
          </a:p>
          <a:p>
            <a:pPr algn="l">
              <a:spcAft>
                <a:spcPts val="1000"/>
              </a:spcAft>
            </a:pPr>
            <a:r>
              <a:rPr sz="1800" b="0">
                <a:solidFill>
                  <a:srgbClr val="C0392B"/>
                </a:solidFill>
                <a:latin typeface="맑은 고딕"/>
              </a:rPr>
              <a:t>•  ORA_ACCOUNT_MGMT: 계정·롤 관리 명령</a:t>
            </a:r>
          </a:p>
          <a:p>
            <a:pPr algn="l">
              <a:spcAft>
                <a:spcPts val="1000"/>
              </a:spcAft>
            </a:pPr>
            <a:r>
              <a:rPr sz="1800" b="0">
                <a:solidFill>
                  <a:srgbClr val="C0392B"/>
                </a:solidFill>
                <a:latin typeface="맑은 고딕"/>
              </a:rPr>
              <a:t>•  ORA_DATABASE_PARAMETER: DB/파라미터 변경</a:t>
            </a:r>
          </a:p>
          <a:p>
            <a:pPr algn="l">
              <a:spcAft>
                <a:spcPts val="1000"/>
              </a:spcAft>
            </a:pPr>
            <a:r>
              <a:rPr sz="1800" b="0">
                <a:solidFill>
                  <a:srgbClr val="C0392B"/>
                </a:solidFill>
                <a:latin typeface="맑은 고딕"/>
              </a:rPr>
              <a:t>•  ORA_RAS_POLICY_MGMT / ORA_RAS_SESSION_MGMT: RAS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감사 관리 롤 · 조회 뷰</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직무 분리(SoD)</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AUDIT_ADMIN: 정책 생성·수정·활성화·추적 관리(강력)</a:t>
            </a:r>
          </a:p>
          <a:p>
            <a:pPr algn="l">
              <a:spcAft>
                <a:spcPts val="1000"/>
              </a:spcAft>
            </a:pPr>
            <a:r>
              <a:rPr sz="1800" b="0">
                <a:solidFill>
                  <a:srgbClr val="C0392B"/>
                </a:solidFill>
                <a:latin typeface="맑은 고딕"/>
              </a:rPr>
              <a:t>•  AUDIT_VIEWER: 감사 레코드 조회만(검토자)</a:t>
            </a:r>
          </a:p>
          <a:p>
            <a:pPr algn="l">
              <a:spcAft>
                <a:spcPts val="1000"/>
              </a:spcAft>
            </a:pPr>
            <a:r>
              <a:rPr sz="1800" b="0">
                <a:solidFill>
                  <a:srgbClr val="C0392B"/>
                </a:solidFill>
                <a:latin typeface="맑은 고딕"/>
              </a:rPr>
              <a:t>•  AUDIT_UNIFIED_ENABLED_POLICIES: 활성 정책 확인</a:t>
            </a:r>
          </a:p>
          <a:p>
            <a:pPr algn="l">
              <a:spcAft>
                <a:spcPts val="1000"/>
              </a:spcAft>
            </a:pPr>
            <a:r>
              <a:rPr sz="1800" b="0">
                <a:solidFill>
                  <a:srgbClr val="C0392B"/>
                </a:solidFill>
                <a:latin typeface="맑은 고딕"/>
              </a:rPr>
              <a:t>•  AUDIT_UNIFIED_POLICIES: 정책 구성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24.C</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CREATE AUDIT POLICY 구문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구문 골격과 각 절의 의미</a:t>
            </a:r>
          </a:p>
          <a:p>
            <a:pPr algn="l">
              <a:spcAft>
                <a:spcPts val="600"/>
              </a:spcAft>
            </a:pPr>
            <a:r>
              <a:rPr sz="1600" b="0">
                <a:solidFill>
                  <a:srgbClr val="FFFFFF"/>
                </a:solidFill>
                <a:latin typeface="맑은 고딕"/>
              </a:rPr>
              <a:t>•  최소 하나의 감사 대상 지정</a:t>
            </a:r>
          </a:p>
          <a:p>
            <a:pPr algn="l">
              <a:spcAft>
                <a:spcPts val="600"/>
              </a:spcAft>
            </a:pPr>
            <a:r>
              <a:rPr sz="1600" b="0">
                <a:solidFill>
                  <a:srgbClr val="FFFFFF"/>
                </a:solidFill>
                <a:latin typeface="맑은 고딕"/>
              </a:rPr>
              <a:t>•  목적 단위 정책 분리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CREATE AUDIT POLICY 골격</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PRIVILEGES/ACTIONS/ROLES/WHEN/ONLY TOPLEVEL</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E6E6E6"/>
                </a:solidFill>
                <a:latin typeface="Consolas"/>
              </a:rPr>
              <a:t>CREATE AUDIT POLICY policy_name</a:t>
            </a:r>
          </a:p>
          <a:p>
            <a:pPr algn="l">
              <a:spcAft>
                <a:spcPts val="200"/>
              </a:spcAft>
            </a:pPr>
            <a:r>
              <a:rPr sz="1250" b="0">
                <a:solidFill>
                  <a:srgbClr val="E6E6E6"/>
                </a:solidFill>
                <a:latin typeface="Consolas"/>
              </a:rPr>
              <a:t>  [ PRIVILEGES system_privilege [, ...] ]</a:t>
            </a:r>
          </a:p>
          <a:p>
            <a:pPr algn="l">
              <a:spcAft>
                <a:spcPts val="200"/>
              </a:spcAft>
            </a:pPr>
            <a:r>
              <a:rPr sz="1250" b="0">
                <a:solidFill>
                  <a:srgbClr val="E6E6E6"/>
                </a:solidFill>
                <a:latin typeface="Consolas"/>
              </a:rPr>
              <a:t>  [ ACTIONS    action [, ...] ]</a:t>
            </a:r>
          </a:p>
          <a:p>
            <a:pPr algn="l">
              <a:spcAft>
                <a:spcPts val="200"/>
              </a:spcAft>
            </a:pPr>
            <a:r>
              <a:rPr sz="1250" b="0">
                <a:solidFill>
                  <a:srgbClr val="E6E6E6"/>
                </a:solidFill>
                <a:latin typeface="Consolas"/>
              </a:rPr>
              <a:t>  [ ROLES      role [, ...] ]</a:t>
            </a:r>
          </a:p>
          <a:p>
            <a:pPr algn="l">
              <a:spcAft>
                <a:spcPts val="200"/>
              </a:spcAft>
            </a:pPr>
            <a:r>
              <a:rPr sz="1250" b="0">
                <a:solidFill>
                  <a:srgbClr val="E6E6E6"/>
                </a:solidFill>
                <a:latin typeface="Consolas"/>
              </a:rPr>
              <a:t>  [ WHEN 'condition' EVALUATE PER {STATEMENT|SESSION|INSTANCE} ]</a:t>
            </a:r>
          </a:p>
          <a:p>
            <a:pPr algn="l">
              <a:spcAft>
                <a:spcPts val="200"/>
              </a:spcAft>
            </a:pPr>
            <a:r>
              <a:rPr sz="1250" b="0">
                <a:solidFill>
                  <a:srgbClr val="E6E6E6"/>
                </a:solidFill>
                <a:latin typeface="Consolas"/>
              </a:rPr>
              <a:t>  [ ONLY TOPLEVEL ]</a:t>
            </a:r>
          </a:p>
          <a:p>
            <a:pPr algn="l">
              <a:spcAft>
                <a:spcPts val="200"/>
              </a:spcAft>
            </a:pPr>
            <a:r>
              <a:rPr sz="1250" b="0">
                <a:solidFill>
                  <a:srgbClr val="E6E6E6"/>
                </a:solidFill>
                <a:latin typeface="Consolas"/>
              </a:rPr>
              <a:t>  [ CONTAINER = {CURRENT|ALL} ];</a:t>
            </a:r>
          </a:p>
          <a:p>
            <a:pPr algn="l">
              <a:spcAft>
                <a:spcPts val="200"/>
              </a:spcAft>
            </a:pPr>
            <a:r>
              <a:rPr sz="1250" b="0">
                <a:solidFill>
                  <a:srgbClr val="E6E6E6"/>
                </a:solidFill>
                <a:latin typeface="Consolas"/>
              </a:rPr>
              <a:t> </a:t>
            </a:r>
          </a:p>
          <a:p>
            <a:pPr algn="l">
              <a:spcAft>
                <a:spcPts val="200"/>
              </a:spcAft>
            </a:pPr>
            <a:r>
              <a:rPr sz="1250" b="0">
                <a:solidFill>
                  <a:srgbClr val="7EC699"/>
                </a:solidFill>
                <a:latin typeface="Consolas"/>
              </a:rPr>
              <a:t>-- 정책은 스키마에 속하지 않는 전역 객체(접두사 없음)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정책 설계 원칙</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목적 단위로 분리</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여러 절을 함께 쓰면 대상들이 OR로 결합</a:t>
            </a:r>
          </a:p>
          <a:p>
            <a:pPr algn="l">
              <a:spcAft>
                <a:spcPts val="1000"/>
              </a:spcAft>
            </a:pPr>
            <a:r>
              <a:rPr sz="1800" b="0">
                <a:solidFill>
                  <a:srgbClr val="C0392B"/>
                </a:solidFill>
                <a:latin typeface="맑은 고딕"/>
              </a:rPr>
              <a:t>•  한 정책에 너무 많이 담으면 조회·부분 비활성화가 곤란</a:t>
            </a:r>
          </a:p>
          <a:p>
            <a:pPr algn="l">
              <a:spcAft>
                <a:spcPts val="1000"/>
              </a:spcAft>
            </a:pPr>
            <a:r>
              <a:rPr sz="1800" b="0">
                <a:solidFill>
                  <a:srgbClr val="C0392B"/>
                </a:solidFill>
                <a:latin typeface="맑은 고딕"/>
              </a:rPr>
              <a:t>•  '로그온', 'DDL', '민감 테이블 접근' 등 목적 단위로 분리</a:t>
            </a:r>
          </a:p>
          <a:p>
            <a:pPr algn="l">
              <a:spcAft>
                <a:spcPts val="1000"/>
              </a:spcAft>
            </a:pPr>
            <a:r>
              <a:rPr sz="1800" b="0">
                <a:solidFill>
                  <a:srgbClr val="C0392B"/>
                </a:solidFill>
                <a:latin typeface="맑은 고딕"/>
              </a:rPr>
              <a:t>•  생성 권한: AUDIT SYSTEM 또는 AUDIT_ADMIN 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24.D</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시스템 전반 감사(PRIVILEGES/ACTIONS)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PRIVILEGES: 시스템 권한 사용 감사</a:t>
            </a:r>
          </a:p>
          <a:p>
            <a:pPr algn="l">
              <a:spcAft>
                <a:spcPts val="600"/>
              </a:spcAft>
            </a:pPr>
            <a:r>
              <a:rPr sz="1600" b="0">
                <a:solidFill>
                  <a:srgbClr val="FFFFFF"/>
                </a:solidFill>
                <a:latin typeface="맑은 고딕"/>
              </a:rPr>
              <a:t>•  ACTIONS: 문장 유형 감사</a:t>
            </a:r>
          </a:p>
          <a:p>
            <a:pPr algn="l">
              <a:spcAft>
                <a:spcPts val="600"/>
              </a:spcAft>
            </a:pPr>
            <a:r>
              <a:rPr sz="1600" b="0">
                <a:solidFill>
                  <a:srgbClr val="FFFFFF"/>
                </a:solidFill>
                <a:latin typeface="맑은 고딕"/>
              </a:rPr>
              <a:t>•  권한 감사 vs 액션 감사의 차이</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PRIVILEGES / ACTIONS 절</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시스템 권한 · 시스템 액션</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강력한 시스템 권한 사용 감사</a:t>
            </a:r>
          </a:p>
          <a:p>
            <a:pPr algn="l">
              <a:spcAft>
                <a:spcPts val="200"/>
              </a:spcAft>
            </a:pPr>
            <a:r>
              <a:rPr sz="1250" b="0">
                <a:solidFill>
                  <a:srgbClr val="E6E6E6"/>
                </a:solidFill>
                <a:latin typeface="Consolas"/>
              </a:rPr>
              <a:t>CREATE AUDIT POLICY sys_priv_pol</a:t>
            </a:r>
          </a:p>
          <a:p>
            <a:pPr algn="l">
              <a:spcAft>
                <a:spcPts val="200"/>
              </a:spcAft>
            </a:pPr>
            <a:r>
              <a:rPr sz="1250" b="0">
                <a:solidFill>
                  <a:srgbClr val="E6E6E6"/>
                </a:solidFill>
                <a:latin typeface="Consolas"/>
              </a:rPr>
              <a:t>  PRIVILEGES CREATE ANY TABLE, DROP ANY TABLE, ALTER ANY TABLE;</a:t>
            </a:r>
          </a:p>
          <a:p>
            <a:pPr algn="l">
              <a:spcAft>
                <a:spcPts val="200"/>
              </a:spcAft>
            </a:pPr>
            <a:r>
              <a:rPr sz="1250" b="0">
                <a:solidFill>
                  <a:srgbClr val="E6E6E6"/>
                </a:solidFill>
                <a:latin typeface="Consolas"/>
              </a:rPr>
              <a:t>AUDIT POLICY sys_priv_pol;</a:t>
            </a:r>
          </a:p>
          <a:p>
            <a:pPr algn="l">
              <a:spcAft>
                <a:spcPts val="200"/>
              </a:spcAft>
            </a:pPr>
            <a:r>
              <a:rPr sz="1250" b="0">
                <a:solidFill>
                  <a:srgbClr val="E6E6E6"/>
                </a:solidFill>
                <a:latin typeface="Consolas"/>
              </a:rPr>
              <a:t> </a:t>
            </a:r>
          </a:p>
          <a:p>
            <a:pPr algn="l">
              <a:spcAft>
                <a:spcPts val="200"/>
              </a:spcAft>
            </a:pPr>
            <a:r>
              <a:rPr sz="1250" b="0">
                <a:solidFill>
                  <a:srgbClr val="7EC699"/>
                </a:solidFill>
                <a:latin typeface="Consolas"/>
              </a:rPr>
              <a:t>-- DDL·로그온 등 시스템 액션 감사</a:t>
            </a:r>
          </a:p>
          <a:p>
            <a:pPr algn="l">
              <a:spcAft>
                <a:spcPts val="200"/>
              </a:spcAft>
            </a:pPr>
            <a:r>
              <a:rPr sz="1250" b="0">
                <a:solidFill>
                  <a:srgbClr val="E6E6E6"/>
                </a:solidFill>
                <a:latin typeface="Consolas"/>
              </a:rPr>
              <a:t>CREATE AUDIT POLICY ddl_logon_pol</a:t>
            </a:r>
          </a:p>
          <a:p>
            <a:pPr algn="l">
              <a:spcAft>
                <a:spcPts val="200"/>
              </a:spcAft>
            </a:pPr>
            <a:r>
              <a:rPr sz="1250" b="0">
                <a:solidFill>
                  <a:srgbClr val="E6E6E6"/>
                </a:solidFill>
                <a:latin typeface="Consolas"/>
              </a:rPr>
              <a:t>  ACTIONS CREATE TABLE, DROP TABLE, ALTER TABLE,</a:t>
            </a:r>
          </a:p>
          <a:p>
            <a:pPr algn="l">
              <a:spcAft>
                <a:spcPts val="200"/>
              </a:spcAft>
            </a:pPr>
            <a:r>
              <a:rPr sz="1250" b="0">
                <a:solidFill>
                  <a:srgbClr val="E6E6E6"/>
                </a:solidFill>
                <a:latin typeface="Consolas"/>
              </a:rPr>
              <a:t>          CREATE USER, DROP USER, LOGON, LOGOFF;</a:t>
            </a:r>
          </a:p>
          <a:p>
            <a:pPr algn="l">
              <a:spcAft>
                <a:spcPts val="200"/>
              </a:spcAft>
            </a:pPr>
            <a:r>
              <a:rPr sz="1250" b="0">
                <a:solidFill>
                  <a:srgbClr val="E6E6E6"/>
                </a:solidFill>
                <a:latin typeface="Consolas"/>
              </a:rPr>
              <a:t>AUDIT POLICY ddl_logon_pol;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권한 감사 vs 액션 감사</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관점의 차이 이해</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PRIVILEGES: 시스템 권한이 사용되는 순간('권한 관점')</a:t>
            </a:r>
          </a:p>
          <a:p>
            <a:pPr algn="l">
              <a:spcAft>
                <a:spcPts val="1000"/>
              </a:spcAft>
            </a:pPr>
            <a:r>
              <a:rPr sz="1800" b="0">
                <a:solidFill>
                  <a:srgbClr val="C0392B"/>
                </a:solidFill>
                <a:latin typeface="맑은 고딕"/>
              </a:rPr>
              <a:t>•  ACTIONS: 특정 SQL 문장이 실행되는 순간('문장 관점')</a:t>
            </a:r>
          </a:p>
          <a:p>
            <a:pPr algn="l">
              <a:spcAft>
                <a:spcPts val="1000"/>
              </a:spcAft>
            </a:pPr>
            <a:r>
              <a:rPr sz="1800" b="0">
                <a:solidFill>
                  <a:srgbClr val="C0392B"/>
                </a:solidFill>
                <a:latin typeface="맑은 고딕"/>
              </a:rPr>
              <a:t>•  자기 스키마 CREATE TABLE은 별도 권한 불필요</a:t>
            </a:r>
          </a:p>
          <a:p>
            <a:pPr algn="l">
              <a:spcAft>
                <a:spcPts val="1000"/>
              </a:spcAft>
            </a:pPr>
            <a:r>
              <a:rPr sz="1800" b="0">
                <a:solidFill>
                  <a:srgbClr val="C0392B"/>
                </a:solidFill>
                <a:latin typeface="맑은 고딕"/>
              </a:rPr>
              <a:t>•  → CREATE ANY TABLE 권한 감사로는 잡히지 않음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24.E</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객체 지정 감사 액션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ACTIONS ... ON schema.object</a:t>
            </a:r>
          </a:p>
          <a:p>
            <a:pPr algn="l">
              <a:spcAft>
                <a:spcPts val="600"/>
              </a:spcAft>
            </a:pPr>
            <a:r>
              <a:rPr sz="1600" b="0">
                <a:solidFill>
                  <a:srgbClr val="FFFFFF"/>
                </a:solidFill>
                <a:latin typeface="맑은 고딕"/>
              </a:rPr>
              <a:t>•  객체 유형별 가능한 액션</a:t>
            </a:r>
          </a:p>
          <a:p>
            <a:pPr algn="l">
              <a:spcAft>
                <a:spcPts val="600"/>
              </a:spcAft>
            </a:pPr>
            <a:r>
              <a:rPr sz="1600" b="0">
                <a:solidFill>
                  <a:srgbClr val="FFFFFF"/>
                </a:solidFill>
                <a:latin typeface="맑은 고딕"/>
              </a:rPr>
              <a:t>•  접근 경로(뷰·시노님) 고려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객체 지정 감사</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ACTIONS action ON schema.object</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특정 테이블에 대한 DML/조회만 감사</a:t>
            </a:r>
          </a:p>
          <a:p>
            <a:pPr algn="l">
              <a:spcAft>
                <a:spcPts val="200"/>
              </a:spcAft>
            </a:pPr>
            <a:r>
              <a:rPr sz="1250" b="0">
                <a:solidFill>
                  <a:srgbClr val="E6E6E6"/>
                </a:solidFill>
                <a:latin typeface="Consolas"/>
              </a:rPr>
              <a:t>CREATE AUDIT POLICY emp_access_pol</a:t>
            </a:r>
          </a:p>
          <a:p>
            <a:pPr algn="l">
              <a:spcAft>
                <a:spcPts val="200"/>
              </a:spcAft>
            </a:pPr>
            <a:r>
              <a:rPr sz="1250" b="0">
                <a:solidFill>
                  <a:srgbClr val="E6E6E6"/>
                </a:solidFill>
                <a:latin typeface="Consolas"/>
              </a:rPr>
              <a:t>  ACTIONS SELECT ON hr.employees,</a:t>
            </a:r>
          </a:p>
          <a:p>
            <a:pPr algn="l">
              <a:spcAft>
                <a:spcPts val="200"/>
              </a:spcAft>
            </a:pPr>
            <a:r>
              <a:rPr sz="1250" b="0">
                <a:solidFill>
                  <a:srgbClr val="E6E6E6"/>
                </a:solidFill>
                <a:latin typeface="Consolas"/>
              </a:rPr>
              <a:t>          UPDATE ON hr.employees,</a:t>
            </a:r>
          </a:p>
          <a:p>
            <a:pPr algn="l">
              <a:spcAft>
                <a:spcPts val="200"/>
              </a:spcAft>
            </a:pPr>
            <a:r>
              <a:rPr sz="1250" b="0">
                <a:solidFill>
                  <a:srgbClr val="E6E6E6"/>
                </a:solidFill>
                <a:latin typeface="Consolas"/>
              </a:rPr>
              <a:t>          DELETE ON hr.employees,</a:t>
            </a:r>
          </a:p>
          <a:p>
            <a:pPr algn="l">
              <a:spcAft>
                <a:spcPts val="200"/>
              </a:spcAft>
            </a:pPr>
            <a:r>
              <a:rPr sz="1250" b="0">
                <a:solidFill>
                  <a:srgbClr val="E6E6E6"/>
                </a:solidFill>
                <a:latin typeface="Consolas"/>
              </a:rPr>
              <a:t>          INSERT ON hr.employees;</a:t>
            </a:r>
          </a:p>
          <a:p>
            <a:pPr algn="l">
              <a:spcAft>
                <a:spcPts val="200"/>
              </a:spcAft>
            </a:pPr>
            <a:r>
              <a:rPr sz="1250" b="0">
                <a:solidFill>
                  <a:srgbClr val="E6E6E6"/>
                </a:solidFill>
                <a:latin typeface="Consolas"/>
              </a:rPr>
              <a:t>AUDIT POLICY emp_access_pol;</a:t>
            </a:r>
          </a:p>
          <a:p>
            <a:pPr algn="l">
              <a:spcAft>
                <a:spcPts val="200"/>
              </a:spcAft>
            </a:pPr>
            <a:r>
              <a:rPr sz="1250" b="0">
                <a:solidFill>
                  <a:srgbClr val="E6E6E6"/>
                </a:solidFill>
                <a:latin typeface="Consolas"/>
              </a:rPr>
              <a:t> </a:t>
            </a:r>
          </a:p>
          <a:p>
            <a:pPr algn="l">
              <a:spcAft>
                <a:spcPts val="200"/>
              </a:spcAft>
            </a:pPr>
            <a:r>
              <a:rPr sz="1250" b="0">
                <a:solidFill>
                  <a:srgbClr val="7EC699"/>
                </a:solidFill>
                <a:latin typeface="Consolas"/>
              </a:rPr>
              <a:t>-- 프로시저: EXECUTE, 시퀀스: SELECT, 전체: 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객체 지정 감사의 주의점</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접근 경로와 스키마 변경</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같은 데이터도 테이블·뷰·시노님 등 여러 경로로 접근 가능</a:t>
            </a:r>
          </a:p>
          <a:p>
            <a:pPr algn="l">
              <a:spcAft>
                <a:spcPts val="1000"/>
              </a:spcAft>
            </a:pPr>
            <a:r>
              <a:rPr sz="1800" b="0">
                <a:solidFill>
                  <a:srgbClr val="C0392B"/>
                </a:solidFill>
                <a:latin typeface="맑은 고딕"/>
              </a:rPr>
              <a:t>•  노출 경로를 모두 파악한 뒤 감사 대상 결정</a:t>
            </a:r>
          </a:p>
          <a:p>
            <a:pPr algn="l">
              <a:spcAft>
                <a:spcPts val="1000"/>
              </a:spcAft>
            </a:pPr>
            <a:r>
              <a:rPr sz="1800" b="0">
                <a:solidFill>
                  <a:srgbClr val="C0392B"/>
                </a:solidFill>
                <a:latin typeface="맑은 고딕"/>
              </a:rPr>
              <a:t>•  객체 삭제 후 재생성 시 정책 자동 적용 안 될 수 있음</a:t>
            </a:r>
          </a:p>
          <a:p>
            <a:pPr algn="l">
              <a:spcAft>
                <a:spcPts val="1000"/>
              </a:spcAft>
            </a:pPr>
            <a:r>
              <a:rPr sz="1800" b="0">
                <a:solidFill>
                  <a:srgbClr val="C0392B"/>
                </a:solidFill>
                <a:latin typeface="맑은 고딕"/>
              </a:rPr>
              <a:t>•  스키마 변경 시 감사 정책 유효성도 함께 점검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24.F</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조건(WHEN)을 지정한 감사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WHEN + EVALUATE PER</a:t>
            </a:r>
          </a:p>
          <a:p>
            <a:pPr algn="l">
              <a:spcAft>
                <a:spcPts val="600"/>
              </a:spcAft>
            </a:pPr>
            <a:r>
              <a:rPr sz="1600" b="0">
                <a:solidFill>
                  <a:srgbClr val="FFFFFF"/>
                </a:solidFill>
                <a:latin typeface="맑은 고딕"/>
              </a:rPr>
              <a:t>•  SYS_CONTEXT 활용</a:t>
            </a:r>
          </a:p>
          <a:p>
            <a:pPr algn="l">
              <a:spcAft>
                <a:spcPts val="600"/>
              </a:spcAft>
            </a:pPr>
            <a:r>
              <a:rPr sz="1600" b="0">
                <a:solidFill>
                  <a:srgbClr val="FFFFFF"/>
                </a:solidFill>
                <a:latin typeface="맑은 고딕"/>
              </a:rPr>
              <a:t>•  평가 단위 선택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조건부 감사 정책</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WHEN 'condition' EVALUATE PER ...</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사내 대역이 아닌 곳의 접근만 감사</a:t>
            </a:r>
          </a:p>
          <a:p>
            <a:pPr algn="l">
              <a:spcAft>
                <a:spcPts val="200"/>
              </a:spcAft>
            </a:pPr>
            <a:r>
              <a:rPr sz="1250" b="0">
                <a:solidFill>
                  <a:srgbClr val="E6E6E6"/>
                </a:solidFill>
                <a:latin typeface="Consolas"/>
              </a:rPr>
              <a:t>CREATE AUDIT POLICY offnet_emp_pol</a:t>
            </a:r>
          </a:p>
          <a:p>
            <a:pPr algn="l">
              <a:spcAft>
                <a:spcPts val="200"/>
              </a:spcAft>
            </a:pPr>
            <a:r>
              <a:rPr sz="1250" b="0">
                <a:solidFill>
                  <a:srgbClr val="E6E6E6"/>
                </a:solidFill>
                <a:latin typeface="Consolas"/>
              </a:rPr>
              <a:t>  ACTIONS SELECT ON hr.employees</a:t>
            </a:r>
          </a:p>
          <a:p>
            <a:pPr algn="l">
              <a:spcAft>
                <a:spcPts val="200"/>
              </a:spcAft>
            </a:pPr>
            <a:r>
              <a:rPr sz="1250" b="0">
                <a:solidFill>
                  <a:srgbClr val="E6E6E6"/>
                </a:solidFill>
                <a:latin typeface="Consolas"/>
              </a:rPr>
              <a:t>  WHEN 'SYS_CONTEXT(''USERENV'',''IP_ADDRESS'')</a:t>
            </a:r>
          </a:p>
          <a:p>
            <a:pPr algn="l">
              <a:spcAft>
                <a:spcPts val="200"/>
              </a:spcAft>
            </a:pPr>
            <a:r>
              <a:rPr sz="1250" b="0">
                <a:solidFill>
                  <a:srgbClr val="E6E6E6"/>
                </a:solidFill>
                <a:latin typeface="Consolas"/>
              </a:rPr>
              <a:t>        NOT LIKE ''192.168.%'''</a:t>
            </a:r>
          </a:p>
          <a:p>
            <a:pPr algn="l">
              <a:spcAft>
                <a:spcPts val="200"/>
              </a:spcAft>
            </a:pPr>
            <a:r>
              <a:rPr sz="1250" b="0">
                <a:solidFill>
                  <a:srgbClr val="E6E6E6"/>
                </a:solidFill>
                <a:latin typeface="Consolas"/>
              </a:rPr>
              <a:t>  EVALUATE PER SESSION;</a:t>
            </a:r>
          </a:p>
          <a:p>
            <a:pPr algn="l">
              <a:spcAft>
                <a:spcPts val="200"/>
              </a:spcAft>
            </a:pPr>
            <a:r>
              <a:rPr sz="1250" b="0">
                <a:solidFill>
                  <a:srgbClr val="E6E6E6"/>
                </a:solidFill>
                <a:latin typeface="Consolas"/>
              </a:rPr>
              <a:t>AUDIT POLICY offnet_emp_pol;</a:t>
            </a:r>
          </a:p>
          <a:p>
            <a:pPr algn="l">
              <a:spcAft>
                <a:spcPts val="200"/>
              </a:spcAft>
            </a:pPr>
            <a:r>
              <a:rPr sz="1250" b="0">
                <a:solidFill>
                  <a:srgbClr val="E6E6E6"/>
                </a:solidFill>
                <a:latin typeface="Consolas"/>
              </a:rPr>
              <a:t> </a:t>
            </a:r>
          </a:p>
          <a:p>
            <a:pPr algn="l">
              <a:spcAft>
                <a:spcPts val="200"/>
              </a:spcAft>
            </a:pPr>
            <a:r>
              <a:rPr sz="1250" b="0">
                <a:solidFill>
                  <a:srgbClr val="7EC699"/>
                </a:solidFill>
                <a:latin typeface="Consolas"/>
              </a:rPr>
              <a:t>-- 작은따옴표는 두 개('')로 이스케이프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EVALUATE PER와 컨텍스트</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평가 단위의 성능·정확성 트레이드오프</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PER STATEMENT: 문장마다 평가(가장 정확)</a:t>
            </a:r>
          </a:p>
          <a:p>
            <a:pPr algn="l">
              <a:spcAft>
                <a:spcPts val="1000"/>
              </a:spcAft>
            </a:pPr>
            <a:r>
              <a:rPr sz="1800" b="0">
                <a:solidFill>
                  <a:srgbClr val="C0392B"/>
                </a:solidFill>
                <a:latin typeface="맑은 고딕"/>
              </a:rPr>
              <a:t>•  PER SESSION: 세션 시작 시 1회 평가 후 유지</a:t>
            </a:r>
          </a:p>
          <a:p>
            <a:pPr algn="l">
              <a:spcAft>
                <a:spcPts val="1000"/>
              </a:spcAft>
            </a:pPr>
            <a:r>
              <a:rPr sz="1800" b="0">
                <a:solidFill>
                  <a:srgbClr val="C0392B"/>
                </a:solidFill>
                <a:latin typeface="맑은 고딕"/>
              </a:rPr>
              <a:t>•  PER INSTANCE: 인스턴스 수준 1회 평가</a:t>
            </a:r>
          </a:p>
          <a:p>
            <a:pPr algn="l">
              <a:spcAft>
                <a:spcPts val="1000"/>
              </a:spcAft>
            </a:pPr>
            <a:r>
              <a:rPr sz="1800" b="0">
                <a:solidFill>
                  <a:srgbClr val="C0392B"/>
                </a:solidFill>
                <a:latin typeface="맑은 고딕"/>
              </a:rPr>
              <a:t>•  SYS_CONTEXT: SESSION_USER, IP_ADDRESS, HOST, MODULE 등</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24.G</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감사 정책 활성화/비활성화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AUDIT / NOAUDIT POLICY</a:t>
            </a:r>
          </a:p>
          <a:p>
            <a:pPr algn="l">
              <a:spcAft>
                <a:spcPts val="600"/>
              </a:spcAft>
            </a:pPr>
            <a:r>
              <a:rPr sz="1600" b="0">
                <a:solidFill>
                  <a:srgbClr val="FFFFFF"/>
                </a:solidFill>
                <a:latin typeface="맑은 고딕"/>
              </a:rPr>
              <a:t>•  BY / EXCEPT</a:t>
            </a:r>
          </a:p>
          <a:p>
            <a:pPr algn="l">
              <a:spcAft>
                <a:spcPts val="600"/>
              </a:spcAft>
            </a:pPr>
            <a:r>
              <a:rPr sz="1600" b="0">
                <a:solidFill>
                  <a:srgbClr val="FFFFFF"/>
                </a:solidFill>
                <a:latin typeface="맑은 고딕"/>
              </a:rPr>
              <a:t>•  WHENEVER SUCCESSFUL/NOT SUCCESSFUL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활성화/비활성화 제어</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AUDIT / NOAUDIT / BY / WHENEVER</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활성화</a:t>
            </a:r>
          </a:p>
          <a:p>
            <a:pPr algn="l">
              <a:spcAft>
                <a:spcPts val="200"/>
              </a:spcAft>
            </a:pPr>
            <a:r>
              <a:rPr sz="1250" b="0">
                <a:solidFill>
                  <a:srgbClr val="E6E6E6"/>
                </a:solidFill>
                <a:latin typeface="Consolas"/>
              </a:rPr>
              <a:t>AUDIT POLICY emp_access_pol;</a:t>
            </a:r>
          </a:p>
          <a:p>
            <a:pPr algn="l">
              <a:spcAft>
                <a:spcPts val="200"/>
              </a:spcAft>
            </a:pPr>
            <a:r>
              <a:rPr sz="1250" b="0">
                <a:solidFill>
                  <a:srgbClr val="7EC699"/>
                </a:solidFill>
                <a:latin typeface="Consolas"/>
              </a:rPr>
              <a:t>-- 특정 사용자만(화이트리스트)</a:t>
            </a:r>
          </a:p>
          <a:p>
            <a:pPr algn="l">
              <a:spcAft>
                <a:spcPts val="200"/>
              </a:spcAft>
            </a:pPr>
            <a:r>
              <a:rPr sz="1250" b="0">
                <a:solidFill>
                  <a:srgbClr val="E6E6E6"/>
                </a:solidFill>
                <a:latin typeface="Consolas"/>
              </a:rPr>
              <a:t>AUDIT POLICY emp_access_pol BY hr, app_user;</a:t>
            </a:r>
          </a:p>
          <a:p>
            <a:pPr algn="l">
              <a:spcAft>
                <a:spcPts val="200"/>
              </a:spcAft>
            </a:pPr>
            <a:r>
              <a:rPr sz="1250" b="0">
                <a:solidFill>
                  <a:srgbClr val="7EC699"/>
                </a:solidFill>
                <a:latin typeface="Consolas"/>
              </a:rPr>
              <a:t>-- 특정 사용자 제외(블랙리스트)</a:t>
            </a:r>
          </a:p>
          <a:p>
            <a:pPr algn="l">
              <a:spcAft>
                <a:spcPts val="200"/>
              </a:spcAft>
            </a:pPr>
            <a:r>
              <a:rPr sz="1250" b="0">
                <a:solidFill>
                  <a:srgbClr val="E6E6E6"/>
                </a:solidFill>
                <a:latin typeface="Consolas"/>
              </a:rPr>
              <a:t>AUDIT POLICY emp_access_pol EXCEPT batch_user;</a:t>
            </a:r>
          </a:p>
          <a:p>
            <a:pPr algn="l">
              <a:spcAft>
                <a:spcPts val="200"/>
              </a:spcAft>
            </a:pPr>
            <a:r>
              <a:rPr sz="1250" b="0">
                <a:solidFill>
                  <a:srgbClr val="7EC699"/>
                </a:solidFill>
                <a:latin typeface="Consolas"/>
              </a:rPr>
              <a:t>-- 실패한 시도만 감사</a:t>
            </a:r>
          </a:p>
          <a:p>
            <a:pPr algn="l">
              <a:spcAft>
                <a:spcPts val="200"/>
              </a:spcAft>
            </a:pPr>
            <a:r>
              <a:rPr sz="1250" b="0">
                <a:solidFill>
                  <a:srgbClr val="E6E6E6"/>
                </a:solidFill>
                <a:latin typeface="Consolas"/>
              </a:rPr>
              <a:t>AUDIT POLICY orauto_pol WHENEVER NOT SUCCESSFUL;</a:t>
            </a:r>
          </a:p>
          <a:p>
            <a:pPr algn="l">
              <a:spcAft>
                <a:spcPts val="200"/>
              </a:spcAft>
            </a:pPr>
            <a:r>
              <a:rPr sz="1250" b="0">
                <a:solidFill>
                  <a:srgbClr val="7EC699"/>
                </a:solidFill>
                <a:latin typeface="Consolas"/>
              </a:rPr>
              <a:t>-- 비활성화 / 삭제</a:t>
            </a:r>
          </a:p>
          <a:p>
            <a:pPr algn="l">
              <a:spcAft>
                <a:spcPts val="200"/>
              </a:spcAft>
            </a:pPr>
            <a:r>
              <a:rPr sz="1250" b="0">
                <a:solidFill>
                  <a:srgbClr val="E6E6E6"/>
                </a:solidFill>
                <a:latin typeface="Consolas"/>
              </a:rPr>
              <a:t>NOAUDIT POLICY emp_access_pol;</a:t>
            </a:r>
          </a:p>
          <a:p>
            <a:pPr algn="l">
              <a:spcAft>
                <a:spcPts val="200"/>
              </a:spcAft>
            </a:pPr>
            <a:r>
              <a:rPr sz="1250" b="0">
                <a:solidFill>
                  <a:srgbClr val="E6E6E6"/>
                </a:solidFill>
                <a:latin typeface="Consolas"/>
              </a:rPr>
              <a:t>DROP AUDIT POLICY emp_access_pol;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통합 감사의 레코드 단위</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BY ACCESS 방식</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통합 감사는 감사되는 액션마다 1개 레코드(BY ACCESS)</a:t>
            </a:r>
          </a:p>
          <a:p>
            <a:pPr algn="l">
              <a:spcAft>
                <a:spcPts val="1000"/>
              </a:spcAft>
            </a:pPr>
            <a:r>
              <a:rPr sz="1800" b="0">
                <a:solidFill>
                  <a:srgbClr val="C0392B"/>
                </a:solidFill>
                <a:latin typeface="맑은 고딕"/>
              </a:rPr>
              <a:t>•  예전 BY SESSION의 세션당 1건 요약은 적용 안 됨</a:t>
            </a:r>
          </a:p>
          <a:p>
            <a:pPr algn="l">
              <a:spcAft>
                <a:spcPts val="1000"/>
              </a:spcAft>
            </a:pPr>
            <a:r>
              <a:rPr sz="1800" b="0">
                <a:solidFill>
                  <a:srgbClr val="C0392B"/>
                </a:solidFill>
                <a:latin typeface="맑은 고딕"/>
              </a:rPr>
              <a:t>•  세밀한 추적 가능 ↔ 감사량 관리가 중요</a:t>
            </a:r>
          </a:p>
          <a:p>
            <a:pPr algn="l">
              <a:spcAft>
                <a:spcPts val="1000"/>
              </a:spcAft>
            </a:pPr>
            <a:r>
              <a:rPr sz="1800" b="0">
                <a:solidFill>
                  <a:srgbClr val="C0392B"/>
                </a:solidFill>
                <a:latin typeface="맑은 고딕"/>
              </a:rPr>
              <a:t>•  활성 상태는 AUDIT_UNIFIED_ENABLED_POLICIES로 검증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24.H</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멀티테넌트 환경에서의 감사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공통(common) vs 로컬(local) 정책</a:t>
            </a:r>
          </a:p>
          <a:p>
            <a:pPr algn="l">
              <a:spcAft>
                <a:spcPts val="600"/>
              </a:spcAft>
            </a:pPr>
            <a:r>
              <a:rPr sz="1600" b="0">
                <a:solidFill>
                  <a:srgbClr val="FFFFFF"/>
                </a:solidFill>
                <a:latin typeface="맑은 고딕"/>
              </a:rPr>
              <a:t>•  CONTAINER = ALL / CURRENT</a:t>
            </a:r>
          </a:p>
          <a:p>
            <a:pPr algn="l">
              <a:spcAft>
                <a:spcPts val="600"/>
              </a:spcAft>
            </a:pPr>
            <a:r>
              <a:rPr sz="1600" b="0">
                <a:solidFill>
                  <a:srgbClr val="FFFFFF"/>
                </a:solidFill>
                <a:latin typeface="맑은 고딕"/>
              </a:rPr>
              <a:t>•  CDB_UNIFIED_AUDIT_TRAIL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공통/로컬 감사 정책</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CONTAINER 절</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[루트] 공통 정책 (모든 컨테이너 대상)</a:t>
            </a:r>
          </a:p>
          <a:p>
            <a:pPr algn="l">
              <a:spcAft>
                <a:spcPts val="200"/>
              </a:spcAft>
            </a:pPr>
            <a:r>
              <a:rPr sz="1250" b="0">
                <a:solidFill>
                  <a:srgbClr val="7EC699"/>
                </a:solidFill>
                <a:latin typeface="Consolas"/>
              </a:rPr>
              <a:t>-- 세션이 CDB$ROOT 에 있어야 함</a:t>
            </a:r>
          </a:p>
          <a:p>
            <a:pPr algn="l">
              <a:spcAft>
                <a:spcPts val="200"/>
              </a:spcAft>
            </a:pPr>
            <a:r>
              <a:rPr sz="1250" b="0">
                <a:solidFill>
                  <a:srgbClr val="E6E6E6"/>
                </a:solidFill>
                <a:latin typeface="Consolas"/>
              </a:rPr>
              <a:t>CREATE AUDIT POLICY c_secure_pol</a:t>
            </a:r>
          </a:p>
          <a:p>
            <a:pPr algn="l">
              <a:spcAft>
                <a:spcPts val="200"/>
              </a:spcAft>
            </a:pPr>
            <a:r>
              <a:rPr sz="1250" b="0">
                <a:solidFill>
                  <a:srgbClr val="E6E6E6"/>
                </a:solidFill>
                <a:latin typeface="Consolas"/>
              </a:rPr>
              <a:t>  ACTIONS CREATE USER, DROP USER, ALTER USER</a:t>
            </a:r>
          </a:p>
          <a:p>
            <a:pPr algn="l">
              <a:spcAft>
                <a:spcPts val="200"/>
              </a:spcAft>
            </a:pPr>
            <a:r>
              <a:rPr sz="1250" b="0">
                <a:solidFill>
                  <a:srgbClr val="E6E6E6"/>
                </a:solidFill>
                <a:latin typeface="Consolas"/>
              </a:rPr>
              <a:t>  CONTAINER = ALL;</a:t>
            </a:r>
          </a:p>
          <a:p>
            <a:pPr algn="l">
              <a:spcAft>
                <a:spcPts val="200"/>
              </a:spcAft>
            </a:pPr>
            <a:r>
              <a:rPr sz="1250" b="0">
                <a:solidFill>
                  <a:srgbClr val="E6E6E6"/>
                </a:solidFill>
                <a:latin typeface="Consolas"/>
              </a:rPr>
              <a:t>AUDIT POLICY c_secure_pol;</a:t>
            </a:r>
          </a:p>
          <a:p>
            <a:pPr algn="l">
              <a:spcAft>
                <a:spcPts val="200"/>
              </a:spcAft>
            </a:pPr>
            <a:r>
              <a:rPr sz="1250" b="0">
                <a:solidFill>
                  <a:srgbClr val="E6E6E6"/>
                </a:solidFill>
                <a:latin typeface="Consolas"/>
              </a:rPr>
              <a:t> </a:t>
            </a:r>
          </a:p>
          <a:p>
            <a:pPr algn="l">
              <a:spcAft>
                <a:spcPts val="200"/>
              </a:spcAft>
            </a:pPr>
            <a:r>
              <a:rPr sz="1250" b="0">
                <a:solidFill>
                  <a:srgbClr val="7EC699"/>
                </a:solidFill>
                <a:latin typeface="Consolas"/>
              </a:rPr>
              <a:t>-- [PDB] 로컬 정책 (CONTAINER=CURRENT 기본)</a:t>
            </a:r>
          </a:p>
          <a:p>
            <a:pPr algn="l">
              <a:spcAft>
                <a:spcPts val="200"/>
              </a:spcAft>
            </a:pPr>
            <a:r>
              <a:rPr sz="1250" b="0">
                <a:solidFill>
                  <a:srgbClr val="E6E6E6"/>
                </a:solidFill>
                <a:latin typeface="Consolas"/>
              </a:rPr>
              <a:t>ALTER SESSION SET CONTAINER = pdb1;</a:t>
            </a:r>
          </a:p>
          <a:p>
            <a:pPr algn="l">
              <a:spcAft>
                <a:spcPts val="200"/>
              </a:spcAft>
            </a:pPr>
            <a:r>
              <a:rPr sz="1250" b="0">
                <a:solidFill>
                  <a:srgbClr val="E6E6E6"/>
                </a:solidFill>
                <a:latin typeface="Consolas"/>
              </a:rPr>
              <a:t>CREATE AUDIT POLICY l_emp_pol</a:t>
            </a:r>
          </a:p>
          <a:p>
            <a:pPr algn="l">
              <a:spcAft>
                <a:spcPts val="200"/>
              </a:spcAft>
            </a:pPr>
            <a:r>
              <a:rPr sz="1250" b="0">
                <a:solidFill>
                  <a:srgbClr val="E6E6E6"/>
                </a:solidFill>
                <a:latin typeface="Consolas"/>
              </a:rPr>
              <a:t>  ACTIONS SELECT ON hr.employees;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컨테이너별 감사 추적</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CON_ID로 구분</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PDB 감사는 그 PDB의 UNIFIED_AUDIT_TRAIL에 저장</a:t>
            </a:r>
          </a:p>
          <a:p>
            <a:pPr algn="l">
              <a:spcAft>
                <a:spcPts val="1000"/>
              </a:spcAft>
            </a:pPr>
            <a:r>
              <a:rPr sz="1800" b="0">
                <a:solidFill>
                  <a:srgbClr val="C0392B"/>
                </a:solidFill>
                <a:latin typeface="맑은 고딕"/>
              </a:rPr>
              <a:t>•  루트 감사는 루트의 감사 추적에 저장</a:t>
            </a:r>
          </a:p>
          <a:p>
            <a:pPr algn="l">
              <a:spcAft>
                <a:spcPts val="1000"/>
              </a:spcAft>
            </a:pPr>
            <a:r>
              <a:rPr sz="1800" b="0">
                <a:solidFill>
                  <a:srgbClr val="C0392B"/>
                </a:solidFill>
                <a:latin typeface="맑은 고딕"/>
              </a:rPr>
              <a:t>•  CDB 전체 조회: 루트에서 CDB_UNIFIED_AUDIT_TRAIL</a:t>
            </a:r>
          </a:p>
          <a:p>
            <a:pPr algn="l">
              <a:spcAft>
                <a:spcPts val="1000"/>
              </a:spcAft>
            </a:pPr>
            <a:r>
              <a:rPr sz="1800" b="0">
                <a:solidFill>
                  <a:srgbClr val="C0392B"/>
                </a:solidFill>
                <a:latin typeface="맑은 고딕"/>
              </a:rPr>
              <a:t>•  CON_ID 컬럼으로 발생 컨테이너 식별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24.I</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ALTER AUDIT POLICY로 정책 수정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ADD / DROP으로 항목 조정</a:t>
            </a:r>
          </a:p>
          <a:p>
            <a:pPr algn="l">
              <a:spcAft>
                <a:spcPts val="600"/>
              </a:spcAft>
            </a:pPr>
            <a:r>
              <a:rPr sz="1600" b="0">
                <a:solidFill>
                  <a:srgbClr val="FFFFFF"/>
                </a:solidFill>
                <a:latin typeface="맑은 고딕"/>
              </a:rPr>
              <a:t>•  CONDITION 교체/제거</a:t>
            </a:r>
          </a:p>
          <a:p>
            <a:pPr algn="l">
              <a:spcAft>
                <a:spcPts val="600"/>
              </a:spcAft>
            </a:pPr>
            <a:r>
              <a:rPr sz="1600" b="0">
                <a:solidFill>
                  <a:srgbClr val="FFFFFF"/>
                </a:solidFill>
                <a:latin typeface="맑은 고딕"/>
              </a:rPr>
              <a:t>•  무중단 조정의 장점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ALTER AUDIT POLICY</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ADD / DROP / CONDITION</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기존 정책에 액션 추가</a:t>
            </a:r>
          </a:p>
          <a:p>
            <a:pPr algn="l">
              <a:spcAft>
                <a:spcPts val="200"/>
              </a:spcAft>
            </a:pPr>
            <a:r>
              <a:rPr sz="1250" b="0">
                <a:solidFill>
                  <a:srgbClr val="E6E6E6"/>
                </a:solidFill>
                <a:latin typeface="Consolas"/>
              </a:rPr>
              <a:t>ALTER AUDIT POLICY ddl_logon_pol</a:t>
            </a:r>
          </a:p>
          <a:p>
            <a:pPr algn="l">
              <a:spcAft>
                <a:spcPts val="200"/>
              </a:spcAft>
            </a:pPr>
            <a:r>
              <a:rPr sz="1250" b="0">
                <a:solidFill>
                  <a:srgbClr val="E6E6E6"/>
                </a:solidFill>
                <a:latin typeface="Consolas"/>
              </a:rPr>
              <a:t>  ADD ACTIONS TRUNCATE TABLE, COMMENT;</a:t>
            </a:r>
          </a:p>
          <a:p>
            <a:pPr algn="l">
              <a:spcAft>
                <a:spcPts val="200"/>
              </a:spcAft>
            </a:pPr>
            <a:r>
              <a:rPr sz="1250" b="0">
                <a:solidFill>
                  <a:srgbClr val="7EC699"/>
                </a:solidFill>
                <a:latin typeface="Consolas"/>
              </a:rPr>
              <a:t>-- 특정 권한 제거</a:t>
            </a:r>
          </a:p>
          <a:p>
            <a:pPr algn="l">
              <a:spcAft>
                <a:spcPts val="200"/>
              </a:spcAft>
            </a:pPr>
            <a:r>
              <a:rPr sz="1250" b="0">
                <a:solidFill>
                  <a:srgbClr val="E6E6E6"/>
                </a:solidFill>
                <a:latin typeface="Consolas"/>
              </a:rPr>
              <a:t>ALTER AUDIT POLICY sys_priv_pol</a:t>
            </a:r>
          </a:p>
          <a:p>
            <a:pPr algn="l">
              <a:spcAft>
                <a:spcPts val="200"/>
              </a:spcAft>
            </a:pPr>
            <a:r>
              <a:rPr sz="1250" b="0">
                <a:solidFill>
                  <a:srgbClr val="E6E6E6"/>
                </a:solidFill>
                <a:latin typeface="Consolas"/>
              </a:rPr>
              <a:t>  DROP PRIVILEGES ALTER ANY TABLE;</a:t>
            </a:r>
          </a:p>
          <a:p>
            <a:pPr algn="l">
              <a:spcAft>
                <a:spcPts val="200"/>
              </a:spcAft>
            </a:pPr>
            <a:r>
              <a:rPr sz="1250" b="0">
                <a:solidFill>
                  <a:srgbClr val="7EC699"/>
                </a:solidFill>
                <a:latin typeface="Consolas"/>
              </a:rPr>
              <a:t>-- 조건 교체</a:t>
            </a:r>
          </a:p>
          <a:p>
            <a:pPr algn="l">
              <a:spcAft>
                <a:spcPts val="200"/>
              </a:spcAft>
            </a:pPr>
            <a:r>
              <a:rPr sz="1250" b="0">
                <a:solidFill>
                  <a:srgbClr val="E6E6E6"/>
                </a:solidFill>
                <a:latin typeface="Consolas"/>
              </a:rPr>
              <a:t>ALTER AUDIT POLICY offnet_emp_pol</a:t>
            </a:r>
          </a:p>
          <a:p>
            <a:pPr algn="l">
              <a:spcAft>
                <a:spcPts val="200"/>
              </a:spcAft>
            </a:pPr>
            <a:r>
              <a:rPr sz="1250" b="0">
                <a:solidFill>
                  <a:srgbClr val="E6E6E6"/>
                </a:solidFill>
                <a:latin typeface="Consolas"/>
              </a:rPr>
              <a:t>  CONDITION 'SYS_CONTEXT(''USERENV'',''SESSION_USER'')=''APP_USER'''</a:t>
            </a:r>
          </a:p>
          <a:p>
            <a:pPr algn="l">
              <a:spcAft>
                <a:spcPts val="200"/>
              </a:spcAft>
            </a:pPr>
            <a:r>
              <a:rPr sz="1250" b="0">
                <a:solidFill>
                  <a:srgbClr val="E6E6E6"/>
                </a:solidFill>
                <a:latin typeface="Consolas"/>
              </a:rPr>
              <a:t>  EVALUATE PER SESSION;</a:t>
            </a:r>
          </a:p>
          <a:p>
            <a:pPr algn="l">
              <a:spcAft>
                <a:spcPts val="200"/>
              </a:spcAft>
            </a:pPr>
            <a:r>
              <a:rPr sz="1250" b="0">
                <a:solidFill>
                  <a:srgbClr val="7EC699"/>
                </a:solidFill>
                <a:latin typeface="Consolas"/>
              </a:rPr>
              <a:t>-- 조건 제거</a:t>
            </a:r>
          </a:p>
          <a:p>
            <a:pPr algn="l">
              <a:spcAft>
                <a:spcPts val="200"/>
              </a:spcAft>
            </a:pPr>
            <a:r>
              <a:rPr sz="1250" b="0">
                <a:solidFill>
                  <a:srgbClr val="E6E6E6"/>
                </a:solidFill>
                <a:latin typeface="Consolas"/>
              </a:rPr>
              <a:t>ALTER AUDIT POLICY offnet_emp_pol DROP CONDITION;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24.J</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최상위 문장만 감사(ONLY TOPLEVEL)</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중첩 호출로 인한 중복 감사 방지</a:t>
            </a:r>
          </a:p>
          <a:p>
            <a:pPr algn="l">
              <a:spcAft>
                <a:spcPts val="600"/>
              </a:spcAft>
            </a:pPr>
            <a:r>
              <a:rPr sz="1600" b="0">
                <a:solidFill>
                  <a:srgbClr val="FFFFFF"/>
                </a:solidFill>
                <a:latin typeface="맑은 고딕"/>
              </a:rPr>
              <a:t>•  최상위 vs 중첩 문장</a:t>
            </a:r>
          </a:p>
          <a:p>
            <a:pPr algn="l">
              <a:spcAft>
                <a:spcPts val="600"/>
              </a:spcAft>
            </a:pPr>
            <a:r>
              <a:rPr sz="1600" b="0">
                <a:solidFill>
                  <a:srgbClr val="FFFFFF"/>
                </a:solidFill>
                <a:latin typeface="맑은 고딕"/>
              </a:rPr>
              <a:t>•  사용 판단 기준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ONLY TOPLEVEL</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중복 감사 방지</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최상위 문장만 감사</a:t>
            </a:r>
          </a:p>
          <a:p>
            <a:pPr algn="l">
              <a:spcAft>
                <a:spcPts val="200"/>
              </a:spcAft>
            </a:pPr>
            <a:r>
              <a:rPr sz="1250" b="0">
                <a:solidFill>
                  <a:srgbClr val="E6E6E6"/>
                </a:solidFill>
                <a:latin typeface="Consolas"/>
              </a:rPr>
              <a:t>CREATE AUDIT POLICY toplevel_emp_pol</a:t>
            </a:r>
          </a:p>
          <a:p>
            <a:pPr algn="l">
              <a:spcAft>
                <a:spcPts val="200"/>
              </a:spcAft>
            </a:pPr>
            <a:r>
              <a:rPr sz="1250" b="0">
                <a:solidFill>
                  <a:srgbClr val="E6E6E6"/>
                </a:solidFill>
                <a:latin typeface="Consolas"/>
              </a:rPr>
              <a:t>  ACTIONS SELECT ON hr.employees</a:t>
            </a:r>
          </a:p>
          <a:p>
            <a:pPr algn="l">
              <a:spcAft>
                <a:spcPts val="200"/>
              </a:spcAft>
            </a:pPr>
            <a:r>
              <a:rPr sz="1250" b="0">
                <a:solidFill>
                  <a:srgbClr val="E6E6E6"/>
                </a:solidFill>
                <a:latin typeface="Consolas"/>
              </a:rPr>
              <a:t>  ONLY TOPLEVEL;</a:t>
            </a:r>
          </a:p>
          <a:p>
            <a:pPr algn="l">
              <a:spcAft>
                <a:spcPts val="200"/>
              </a:spcAft>
            </a:pPr>
            <a:r>
              <a:rPr sz="1250" b="0">
                <a:solidFill>
                  <a:srgbClr val="E6E6E6"/>
                </a:solidFill>
                <a:latin typeface="Consolas"/>
              </a:rPr>
              <a:t>AUDIT POLICY toplevel_emp_pol;</a:t>
            </a:r>
          </a:p>
          <a:p>
            <a:pPr algn="l">
              <a:spcAft>
                <a:spcPts val="200"/>
              </a:spcAft>
            </a:pPr>
            <a:r>
              <a:rPr sz="1250" b="0">
                <a:solidFill>
                  <a:srgbClr val="E6E6E6"/>
                </a:solidFill>
                <a:latin typeface="Consolas"/>
              </a:rPr>
              <a:t> </a:t>
            </a:r>
          </a:p>
          <a:p>
            <a:pPr algn="l">
              <a:spcAft>
                <a:spcPts val="200"/>
              </a:spcAft>
            </a:pPr>
            <a:r>
              <a:rPr sz="1250" b="0">
                <a:solidFill>
                  <a:srgbClr val="7EC699"/>
                </a:solidFill>
                <a:latin typeface="Consolas"/>
              </a:rPr>
              <a:t>-- 최상위 = 사용자가 직접 실행한 문장</a:t>
            </a:r>
          </a:p>
          <a:p>
            <a:pPr algn="l">
              <a:spcAft>
                <a:spcPts val="200"/>
              </a:spcAft>
            </a:pPr>
            <a:r>
              <a:rPr sz="1250" b="0">
                <a:solidFill>
                  <a:srgbClr val="7EC699"/>
                </a:solidFill>
                <a:latin typeface="Consolas"/>
              </a:rPr>
              <a:t>-- 중첩   = PL/SQL·트리거 내부에서 파생된 문장</a:t>
            </a:r>
          </a:p>
          <a:p>
            <a:pPr algn="l">
              <a:spcAft>
                <a:spcPts val="200"/>
              </a:spcAft>
            </a:pPr>
            <a:r>
              <a:rPr sz="1250" b="0">
                <a:solidFill>
                  <a:srgbClr val="7EC699"/>
                </a:solidFill>
                <a:latin typeface="Consolas"/>
              </a:rPr>
              <a:t>-- (ALTER 로 TOPLEVEL 속성만 변경 불가 → 재생성 필요)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ONLY TOPLEVEL 적용 예</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프로시저 호출 시나리오</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UPDATE_SALARY 프로시저 내부에서 EMPLOYEES UPDATE</a:t>
            </a:r>
          </a:p>
          <a:p>
            <a:pPr algn="l">
              <a:spcAft>
                <a:spcPts val="1000"/>
              </a:spcAft>
            </a:pPr>
            <a:r>
              <a:rPr sz="1800" b="0">
                <a:solidFill>
                  <a:srgbClr val="C0392B"/>
                </a:solidFill>
                <a:latin typeface="맑은 고딕"/>
              </a:rPr>
              <a:t>•  옵션 없음: 호출 + 내부 UPDATE 각각 감사 → 레코드 팽창</a:t>
            </a:r>
          </a:p>
          <a:p>
            <a:pPr algn="l">
              <a:spcAft>
                <a:spcPts val="1000"/>
              </a:spcAft>
            </a:pPr>
            <a:r>
              <a:rPr sz="1800" b="0">
                <a:solidFill>
                  <a:srgbClr val="C0392B"/>
                </a:solidFill>
                <a:latin typeface="맑은 고딕"/>
              </a:rPr>
              <a:t>•  옵션 적용: 사용자가 직접 호출한 최상위 문장만 감사</a:t>
            </a:r>
          </a:p>
          <a:p>
            <a:pPr algn="l">
              <a:spcAft>
                <a:spcPts val="1000"/>
              </a:spcAft>
            </a:pPr>
            <a:r>
              <a:rPr sz="1800" b="0">
                <a:solidFill>
                  <a:srgbClr val="C0392B"/>
                </a:solidFill>
                <a:latin typeface="맑은 고딕"/>
              </a:rPr>
              <a:t>•  판단: '사용자 의도 행위' 추적이면 적용, '모든 경로' 추적이면 미적용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24.K</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Fine-Grained Auditing(FGA)</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컬럼·조건 단위 정밀 감사</a:t>
            </a:r>
          </a:p>
          <a:p>
            <a:pPr algn="l">
              <a:spcAft>
                <a:spcPts val="600"/>
              </a:spcAft>
            </a:pPr>
            <a:r>
              <a:rPr sz="1600" b="0">
                <a:solidFill>
                  <a:srgbClr val="FFFFFF"/>
                </a:solidFill>
                <a:latin typeface="맑은 고딕"/>
              </a:rPr>
              <a:t>•  DBMS_FGA.ADD_POLICY</a:t>
            </a:r>
          </a:p>
          <a:p>
            <a:pPr algn="l">
              <a:spcAft>
                <a:spcPts val="600"/>
              </a:spcAft>
            </a:pPr>
            <a:r>
              <a:rPr sz="1600" b="0">
                <a:solidFill>
                  <a:srgbClr val="FFFFFF"/>
                </a:solidFill>
                <a:latin typeface="맑은 고딕"/>
              </a:rPr>
              <a:t>•  통합 감사 정책과의 차이</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DBMS_FGA.ADD_POLICY</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컬럼·조건 단위 감사</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E6E6E6"/>
                </a:solidFill>
                <a:latin typeface="Consolas"/>
              </a:rPr>
              <a:t>BEGIN</a:t>
            </a:r>
          </a:p>
          <a:p>
            <a:pPr algn="l">
              <a:spcAft>
                <a:spcPts val="200"/>
              </a:spcAft>
            </a:pPr>
            <a:r>
              <a:rPr sz="1250" b="0">
                <a:solidFill>
                  <a:srgbClr val="E6E6E6"/>
                </a:solidFill>
                <a:latin typeface="Consolas"/>
              </a:rPr>
              <a:t>  DBMS_FGA.ADD_POLICY(</a:t>
            </a:r>
          </a:p>
          <a:p>
            <a:pPr algn="l">
              <a:spcAft>
                <a:spcPts val="200"/>
              </a:spcAft>
            </a:pPr>
            <a:r>
              <a:rPr sz="1250" b="0">
                <a:solidFill>
                  <a:srgbClr val="E6E6E6"/>
                </a:solidFill>
                <a:latin typeface="Consolas"/>
              </a:rPr>
              <a:t>    object_schema     =&gt; 'HR',</a:t>
            </a:r>
          </a:p>
          <a:p>
            <a:pPr algn="l">
              <a:spcAft>
                <a:spcPts val="200"/>
              </a:spcAft>
            </a:pPr>
            <a:r>
              <a:rPr sz="1250" b="0">
                <a:solidFill>
                  <a:srgbClr val="E6E6E6"/>
                </a:solidFill>
                <a:latin typeface="Consolas"/>
              </a:rPr>
              <a:t>    object_name       =&gt; 'EMPLOYEES',</a:t>
            </a:r>
          </a:p>
          <a:p>
            <a:pPr algn="l">
              <a:spcAft>
                <a:spcPts val="200"/>
              </a:spcAft>
            </a:pPr>
            <a:r>
              <a:rPr sz="1250" b="0">
                <a:solidFill>
                  <a:srgbClr val="E6E6E6"/>
                </a:solidFill>
                <a:latin typeface="Consolas"/>
              </a:rPr>
              <a:t>    policy_name       =&gt; 'FGA_HIGH_SALARY',</a:t>
            </a:r>
          </a:p>
          <a:p>
            <a:pPr algn="l">
              <a:spcAft>
                <a:spcPts val="200"/>
              </a:spcAft>
            </a:pPr>
            <a:r>
              <a:rPr sz="1250" b="0">
                <a:solidFill>
                  <a:srgbClr val="E6E6E6"/>
                </a:solidFill>
                <a:latin typeface="Consolas"/>
              </a:rPr>
              <a:t>    audit_column      =&gt; 'SALARY',</a:t>
            </a:r>
          </a:p>
          <a:p>
            <a:pPr algn="l">
              <a:spcAft>
                <a:spcPts val="200"/>
              </a:spcAft>
            </a:pPr>
            <a:r>
              <a:rPr sz="1250" b="0">
                <a:solidFill>
                  <a:srgbClr val="E6E6E6"/>
                </a:solidFill>
                <a:latin typeface="Consolas"/>
              </a:rPr>
              <a:t>    audit_condition   =&gt; 'SALARY &gt; 100000',</a:t>
            </a:r>
          </a:p>
          <a:p>
            <a:pPr algn="l">
              <a:spcAft>
                <a:spcPts val="200"/>
              </a:spcAft>
            </a:pPr>
            <a:r>
              <a:rPr sz="1250" b="0">
                <a:solidFill>
                  <a:srgbClr val="E6E6E6"/>
                </a:solidFill>
                <a:latin typeface="Consolas"/>
              </a:rPr>
              <a:t>    statement_types   =&gt; 'SELECT,UPDATE',</a:t>
            </a:r>
          </a:p>
          <a:p>
            <a:pPr algn="l">
              <a:spcAft>
                <a:spcPts val="200"/>
              </a:spcAft>
            </a:pPr>
            <a:r>
              <a:rPr sz="1250" b="0">
                <a:solidFill>
                  <a:srgbClr val="E6E6E6"/>
                </a:solidFill>
                <a:latin typeface="Consolas"/>
              </a:rPr>
              <a:t>    audit_column_opts =&gt; DBMS_FGA.ANY_COLUMNS);</a:t>
            </a:r>
          </a:p>
          <a:p>
            <a:pPr algn="l">
              <a:spcAft>
                <a:spcPts val="200"/>
              </a:spcAft>
            </a:pPr>
            <a:r>
              <a:rPr sz="1250" b="0">
                <a:solidFill>
                  <a:srgbClr val="E6E6E6"/>
                </a:solidFill>
                <a:latin typeface="Consolas"/>
              </a:rPr>
              <a:t>END;</a:t>
            </a:r>
          </a:p>
          <a:p>
            <a:pPr algn="l">
              <a:spcAft>
                <a:spcPts val="200"/>
              </a:spcAft>
            </a:pPr>
            <a:r>
              <a:rPr sz="1250" b="0">
                <a:solidFill>
                  <a:srgbClr val="E6E6E6"/>
                </a:solidFill>
                <a:latin typeface="Consolas"/>
              </a:rPr>
              <a:t>/</a:t>
            </a:r>
          </a:p>
          <a:p>
            <a:pPr algn="l">
              <a:spcAft>
                <a:spcPts val="200"/>
              </a:spcAft>
            </a:pPr>
            <a:r>
              <a:rPr sz="1250" b="0">
                <a:solidFill>
                  <a:srgbClr val="7EC699"/>
                </a:solidFill>
                <a:latin typeface="Consolas"/>
              </a:rPr>
              <a:t>-- ENABLE_POLICY / DISABLE_POLICY / DROP_POLICY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FGA vs 통합 감사 객체 감사</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목적에 맞게 분리</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통합 감사 객체 감사: 테이블 단위 SELECT/DML 여부</a:t>
            </a:r>
          </a:p>
          <a:p>
            <a:pPr algn="l">
              <a:spcAft>
                <a:spcPts val="1000"/>
              </a:spcAft>
            </a:pPr>
            <a:r>
              <a:rPr sz="1800" b="0">
                <a:solidFill>
                  <a:srgbClr val="C0392B"/>
                </a:solidFill>
                <a:latin typeface="맑은 고딕"/>
              </a:rPr>
              <a:t>•  FGA: 특정 컬럼 + 조건 만족 행 접근까지 판단</a:t>
            </a:r>
          </a:p>
          <a:p>
            <a:pPr algn="l">
              <a:spcAft>
                <a:spcPts val="1000"/>
              </a:spcAft>
            </a:pPr>
            <a:r>
              <a:rPr sz="1800" b="0">
                <a:solidFill>
                  <a:srgbClr val="C0392B"/>
                </a:solidFill>
                <a:latin typeface="맑은 고딕"/>
              </a:rPr>
              <a:t>•  넓은 감사는 통합 정책, 정밀 컬럼 감사는 FGA</a:t>
            </a:r>
          </a:p>
          <a:p>
            <a:pPr algn="l">
              <a:spcAft>
                <a:spcPts val="1000"/>
              </a:spcAft>
            </a:pPr>
            <a:r>
              <a:rPr sz="1800" b="0">
                <a:solidFill>
                  <a:srgbClr val="C0392B"/>
                </a:solidFill>
                <a:latin typeface="맑은 고딕"/>
              </a:rPr>
              <a:t>•  통합 감사 켜진 환경이면 FGA도 UNIFIED_AUDIT_TRAIL로 조회</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24.L</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0">
                <a:solidFill>
                  <a:srgbClr val="FFFFFF"/>
                </a:solidFill>
                <a:latin typeface="맑은 고딕"/>
              </a:rPr>
              <a:t>감사 추적 조회·정리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lgn="l">
              <a:spcAft>
                <a:spcPts val="600"/>
              </a:spcAft>
            </a:pPr>
            <a:r>
              <a:rPr sz="1600" b="0">
                <a:solidFill>
                  <a:srgbClr val="FFFFFF"/>
                </a:solidFill>
                <a:latin typeface="맑은 고딕"/>
              </a:rPr>
              <a:t>•  UNIFIED_AUDIT_TRAIL 조회</a:t>
            </a:r>
          </a:p>
          <a:p>
            <a:pPr algn="l">
              <a:spcAft>
                <a:spcPts val="600"/>
              </a:spcAft>
            </a:pPr>
            <a:r>
              <a:rPr sz="1600" b="0">
                <a:solidFill>
                  <a:srgbClr val="FFFFFF"/>
                </a:solidFill>
                <a:latin typeface="맑은 고딕"/>
              </a:rPr>
              <a:t>•  DBMS_AUDIT_MGMT 아카이빙/정리</a:t>
            </a:r>
          </a:p>
          <a:p>
            <a:pPr algn="l">
              <a:spcAft>
                <a:spcPts val="600"/>
              </a:spcAft>
            </a:pPr>
            <a:r>
              <a:rPr sz="1600" b="0">
                <a:solidFill>
                  <a:srgbClr val="FFFFFF"/>
                </a:solidFill>
                <a:latin typeface="맑은 고딕"/>
              </a:rPr>
              <a:t>•  자동 정리 작업 · AUDIT_TRAIL 파라미터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감사 추적 조회</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UNIFIED_AUDIT_TRAIL</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최근 감사 레코드</a:t>
            </a:r>
          </a:p>
          <a:p>
            <a:pPr algn="l">
              <a:spcAft>
                <a:spcPts val="200"/>
              </a:spcAft>
            </a:pPr>
            <a:r>
              <a:rPr sz="1250" b="0">
                <a:solidFill>
                  <a:srgbClr val="E6E6E6"/>
                </a:solidFill>
                <a:latin typeface="Consolas"/>
              </a:rPr>
              <a:t>SELECT event_timestamp, dbusername, action_name,</a:t>
            </a:r>
          </a:p>
          <a:p>
            <a:pPr algn="l">
              <a:spcAft>
                <a:spcPts val="200"/>
              </a:spcAft>
            </a:pPr>
            <a:r>
              <a:rPr sz="1250" b="0">
                <a:solidFill>
                  <a:srgbClr val="E6E6E6"/>
                </a:solidFill>
                <a:latin typeface="Consolas"/>
              </a:rPr>
              <a:t>       object_schema, object_name, return_code,</a:t>
            </a:r>
          </a:p>
          <a:p>
            <a:pPr algn="l">
              <a:spcAft>
                <a:spcPts val="200"/>
              </a:spcAft>
            </a:pPr>
            <a:r>
              <a:rPr sz="1250" b="0">
                <a:solidFill>
                  <a:srgbClr val="E6E6E6"/>
                </a:solidFill>
                <a:latin typeface="Consolas"/>
              </a:rPr>
              <a:t>       unified_audit_policies</a:t>
            </a:r>
          </a:p>
          <a:p>
            <a:pPr algn="l">
              <a:spcAft>
                <a:spcPts val="200"/>
              </a:spcAft>
            </a:pPr>
            <a:r>
              <a:rPr sz="1250" b="0">
                <a:solidFill>
                  <a:srgbClr val="E6E6E6"/>
                </a:solidFill>
                <a:latin typeface="Consolas"/>
              </a:rPr>
              <a:t>FROM   unified_audit_trail</a:t>
            </a:r>
          </a:p>
          <a:p>
            <a:pPr algn="l">
              <a:spcAft>
                <a:spcPts val="200"/>
              </a:spcAft>
            </a:pPr>
            <a:r>
              <a:rPr sz="1250" b="0">
                <a:solidFill>
                  <a:srgbClr val="E6E6E6"/>
                </a:solidFill>
                <a:latin typeface="Consolas"/>
              </a:rPr>
              <a:t>WHERE  event_timestamp &gt; SYSTIMESTAMP - INTERVAL '1' DAY</a:t>
            </a:r>
          </a:p>
          <a:p>
            <a:pPr algn="l">
              <a:spcAft>
                <a:spcPts val="200"/>
              </a:spcAft>
            </a:pPr>
            <a:r>
              <a:rPr sz="1250" b="0">
                <a:solidFill>
                  <a:srgbClr val="E6E6E6"/>
                </a:solidFill>
                <a:latin typeface="Consolas"/>
              </a:rPr>
              <a:t>ORDER  BY event_timestamp DESC;</a:t>
            </a:r>
          </a:p>
          <a:p>
            <a:pPr algn="l">
              <a:spcAft>
                <a:spcPts val="200"/>
              </a:spcAft>
            </a:pPr>
            <a:r>
              <a:rPr sz="1250" b="0">
                <a:solidFill>
                  <a:srgbClr val="E6E6E6"/>
                </a:solidFill>
                <a:latin typeface="Consolas"/>
              </a:rPr>
              <a:t> </a:t>
            </a:r>
          </a:p>
          <a:p>
            <a:pPr algn="l">
              <a:spcAft>
                <a:spcPts val="200"/>
              </a:spcAft>
            </a:pPr>
            <a:r>
              <a:rPr sz="1250" b="0">
                <a:solidFill>
                  <a:srgbClr val="7EC699"/>
                </a:solidFill>
                <a:latin typeface="Consolas"/>
              </a:rPr>
              <a:t>-- 로그온 실패만 (return_code &lt;&gt; 0)</a:t>
            </a:r>
          </a:p>
          <a:p>
            <a:pPr algn="l">
              <a:spcAft>
                <a:spcPts val="200"/>
              </a:spcAft>
            </a:pPr>
            <a:r>
              <a:rPr sz="1250" b="0">
                <a:solidFill>
                  <a:srgbClr val="E6E6E6"/>
                </a:solidFill>
                <a:latin typeface="Consolas"/>
              </a:rPr>
              <a:t>SELECT dbusername, userhost, return_code, event_timestamp</a:t>
            </a:r>
          </a:p>
          <a:p>
            <a:pPr algn="l">
              <a:spcAft>
                <a:spcPts val="200"/>
              </a:spcAft>
            </a:pPr>
            <a:r>
              <a:rPr sz="1250" b="0">
                <a:solidFill>
                  <a:srgbClr val="E6E6E6"/>
                </a:solidFill>
                <a:latin typeface="Consolas"/>
              </a:rPr>
              <a:t>FROM   unified_audit_trail</a:t>
            </a:r>
          </a:p>
          <a:p>
            <a:pPr algn="l">
              <a:spcAft>
                <a:spcPts val="200"/>
              </a:spcAft>
            </a:pPr>
            <a:r>
              <a:rPr sz="1250" b="0">
                <a:solidFill>
                  <a:srgbClr val="E6E6E6"/>
                </a:solidFill>
                <a:latin typeface="Consolas"/>
              </a:rPr>
              <a:t>WHERE  action_name='LOGON' AND return_code&lt;&gt;0;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감사 추적 정리</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DBMS_AUDIT_MGMT</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lgn="l">
              <a:spcAft>
                <a:spcPts val="200"/>
              </a:spcAft>
            </a:pPr>
            <a:r>
              <a:rPr sz="1250" b="0">
                <a:solidFill>
                  <a:srgbClr val="7EC699"/>
                </a:solidFill>
                <a:latin typeface="Consolas"/>
              </a:rPr>
              <a:t>-- 1) 아카이브 기준선 설정</a:t>
            </a:r>
          </a:p>
          <a:p>
            <a:pPr algn="l">
              <a:spcAft>
                <a:spcPts val="200"/>
              </a:spcAft>
            </a:pPr>
            <a:r>
              <a:rPr sz="1250" b="0">
                <a:solidFill>
                  <a:srgbClr val="E6E6E6"/>
                </a:solidFill>
                <a:latin typeface="Consolas"/>
              </a:rPr>
              <a:t>EXEC DBMS_AUDIT_MGMT.SET_LAST_ARCHIVE_TIMESTAMP( -</a:t>
            </a:r>
          </a:p>
          <a:p>
            <a:pPr algn="l">
              <a:spcAft>
                <a:spcPts val="200"/>
              </a:spcAft>
            </a:pPr>
            <a:r>
              <a:rPr sz="1250" b="0">
                <a:solidFill>
                  <a:srgbClr val="E6E6E6"/>
                </a:solidFill>
                <a:latin typeface="Consolas"/>
              </a:rPr>
              <a:t>  DBMS_AUDIT_MGMT.AUDIT_TRAIL_UNIFIED, SYSTIMESTAMP-30);</a:t>
            </a:r>
          </a:p>
          <a:p>
            <a:pPr algn="l">
              <a:spcAft>
                <a:spcPts val="200"/>
              </a:spcAft>
            </a:pPr>
            <a:r>
              <a:rPr sz="1250" b="0">
                <a:solidFill>
                  <a:srgbClr val="7EC699"/>
                </a:solidFill>
                <a:latin typeface="Consolas"/>
              </a:rPr>
              <a:t>-- 2) 기준선 이전만 정리</a:t>
            </a:r>
          </a:p>
          <a:p>
            <a:pPr algn="l">
              <a:spcAft>
                <a:spcPts val="200"/>
              </a:spcAft>
            </a:pPr>
            <a:r>
              <a:rPr sz="1250" b="0">
                <a:solidFill>
                  <a:srgbClr val="E6E6E6"/>
                </a:solidFill>
                <a:latin typeface="Consolas"/>
              </a:rPr>
              <a:t>EXEC DBMS_AUDIT_MGMT.CLEAN_AUDIT_TRAIL( -</a:t>
            </a:r>
          </a:p>
          <a:p>
            <a:pPr algn="l">
              <a:spcAft>
                <a:spcPts val="200"/>
              </a:spcAft>
            </a:pPr>
            <a:r>
              <a:rPr sz="1250" b="0">
                <a:solidFill>
                  <a:srgbClr val="E6E6E6"/>
                </a:solidFill>
                <a:latin typeface="Consolas"/>
              </a:rPr>
              <a:t>  audit_trail_type =&gt; DBMS_AUDIT_MGMT.AUDIT_TRAIL_UNIFIED, -</a:t>
            </a:r>
          </a:p>
          <a:p>
            <a:pPr algn="l">
              <a:spcAft>
                <a:spcPts val="200"/>
              </a:spcAft>
            </a:pPr>
            <a:r>
              <a:rPr sz="1250" b="0">
                <a:solidFill>
                  <a:srgbClr val="E6E6E6"/>
                </a:solidFill>
                <a:latin typeface="Consolas"/>
              </a:rPr>
              <a:t>  use_last_arch_timestamp =&gt; TRUE);</a:t>
            </a:r>
          </a:p>
          <a:p>
            <a:pPr algn="l">
              <a:spcAft>
                <a:spcPts val="200"/>
              </a:spcAft>
            </a:pPr>
            <a:r>
              <a:rPr sz="1250" b="0">
                <a:solidFill>
                  <a:srgbClr val="7EC699"/>
                </a:solidFill>
                <a:latin typeface="Consolas"/>
              </a:rPr>
              <a:t>-- 3) 자동 정리 작업 생성(24시간 주기)</a:t>
            </a:r>
          </a:p>
          <a:p>
            <a:pPr algn="l">
              <a:spcAft>
                <a:spcPts val="200"/>
              </a:spcAft>
            </a:pPr>
            <a:r>
              <a:rPr sz="1250" b="0">
                <a:solidFill>
                  <a:srgbClr val="E6E6E6"/>
                </a:solidFill>
                <a:latin typeface="Consolas"/>
              </a:rPr>
              <a:t>EXEC DBMS_AUDIT_MGMT.CREATE_PURGE_JOB( -</a:t>
            </a:r>
          </a:p>
          <a:p>
            <a:pPr algn="l">
              <a:spcAft>
                <a:spcPts val="200"/>
              </a:spcAft>
            </a:pPr>
            <a:r>
              <a:rPr sz="1250" b="0">
                <a:solidFill>
                  <a:srgbClr val="E6E6E6"/>
                </a:solidFill>
                <a:latin typeface="Consolas"/>
              </a:rPr>
              <a:t>  DBMS_AUDIT_MGMT.AUDIT_TRAIL_UNIFIED, 24, -</a:t>
            </a:r>
          </a:p>
          <a:p>
            <a:pPr algn="l">
              <a:spcAft>
                <a:spcPts val="200"/>
              </a:spcAft>
            </a:pPr>
            <a:r>
              <a:rPr sz="1250" b="0">
                <a:solidFill>
                  <a:srgbClr val="E6E6E6"/>
                </a:solidFill>
                <a:latin typeface="Consolas"/>
              </a:rPr>
              <a:t>  'UNIFIED_PURGE_JOB', TRUE);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저장 위치·모드 · AUDIT_TRAIL 파라미터</a:t>
            </a:r>
          </a:p>
        </p:txBody>
      </p:sp>
      <p:sp>
        <p:nvSpPr>
          <p:cNvPr id="4" name="TextBox 3"/>
          <p:cNvSpPr txBox="1"/>
          <p:nvPr/>
        </p:nvSpPr>
        <p:spPr>
          <a:xfrm>
            <a:off x="640080" y="1097280"/>
            <a:ext cx="10881360" cy="457200"/>
          </a:xfrm>
          <a:prstGeom prst="rect">
            <a:avLst/>
          </a:prstGeom>
          <a:noFill/>
        </p:spPr>
        <p:txBody>
          <a:bodyPr wrap="square" anchor="t">
            <a:spAutoFit/>
          </a:bodyPr>
          <a:lstStyle/>
          <a:p>
            <a:pPr algn="l"/>
            <a:r>
              <a:rPr sz="1500" b="0">
                <a:solidFill>
                  <a:srgbClr val="5A6672"/>
                </a:solidFill>
                <a:latin typeface="맑은 고딕"/>
              </a:rPr>
              <a:t>운영 고려사항</a:t>
            </a:r>
          </a:p>
        </p:txBody>
      </p:sp>
      <p:sp>
        <p:nvSpPr>
          <p:cNvPr id="5" name="TextBox 4"/>
          <p:cNvSpPr txBox="1"/>
          <p:nvPr/>
        </p:nvSpPr>
        <p:spPr>
          <a:xfrm>
            <a:off x="640080" y="1737360"/>
            <a:ext cx="10881360" cy="4572000"/>
          </a:xfrm>
          <a:prstGeom prst="rect">
            <a:avLst/>
          </a:prstGeom>
          <a:noFill/>
        </p:spPr>
        <p:txBody>
          <a:bodyPr wrap="square" anchor="t">
            <a:spAutoFit/>
          </a:bodyPr>
          <a:lstStyle/>
          <a:p>
            <a:pPr algn="l">
              <a:spcAft>
                <a:spcPts val="1000"/>
              </a:spcAft>
            </a:pPr>
            <a:r>
              <a:rPr sz="1800" b="0">
                <a:solidFill>
                  <a:srgbClr val="C0392B"/>
                </a:solidFill>
                <a:latin typeface="맑은 고딕"/>
              </a:rPr>
              <a:t>•  SET_AUDIT_TRAIL_LOCATION: 전용 테이블스페이스로 이전</a:t>
            </a:r>
          </a:p>
          <a:p>
            <a:pPr algn="l">
              <a:spcAft>
                <a:spcPts val="1000"/>
              </a:spcAft>
            </a:pPr>
            <a:r>
              <a:rPr sz="1800" b="0">
                <a:solidFill>
                  <a:srgbClr val="C0392B"/>
                </a:solidFill>
                <a:latin typeface="맑은 고딕"/>
              </a:rPr>
              <a:t>•  큐 기반(기본) vs 즉시 쓰기 모드: 성능 vs 무결성</a:t>
            </a:r>
          </a:p>
          <a:p>
            <a:pPr algn="l">
              <a:spcAft>
                <a:spcPts val="1000"/>
              </a:spcAft>
            </a:pPr>
            <a:r>
              <a:rPr sz="1800" b="0">
                <a:solidFill>
                  <a:srgbClr val="C0392B"/>
                </a:solidFill>
                <a:latin typeface="맑은 고딕"/>
              </a:rPr>
              <a:t>•  AUDIT_TRAIL 파라미터: 전통적 감사 위치 제어</a:t>
            </a:r>
          </a:p>
          <a:p>
            <a:pPr algn="l">
              <a:spcAft>
                <a:spcPts val="1000"/>
              </a:spcAft>
            </a:pPr>
            <a:r>
              <a:rPr sz="1800" b="0">
                <a:solidFill>
                  <a:srgbClr val="C0392B"/>
                </a:solidFill>
                <a:latin typeface="맑은 고딕"/>
              </a:rPr>
              <a:t>•  순수 통합 감사 모드에서는 AUDIT_TRAIL 값 무시</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퀴즈 (Quiz) 1</a:t>
            </a:r>
          </a:p>
        </p:txBody>
      </p:sp>
      <p:sp>
        <p:nvSpPr>
          <p:cNvPr id="4" name="TextBox 3"/>
          <p:cNvSpPr txBox="1"/>
          <p:nvPr/>
        </p:nvSpPr>
        <p:spPr>
          <a:xfrm>
            <a:off x="640080" y="1554480"/>
            <a:ext cx="10881360" cy="4754880"/>
          </a:xfrm>
          <a:prstGeom prst="rect">
            <a:avLst/>
          </a:prstGeom>
          <a:noFill/>
        </p:spPr>
        <p:txBody>
          <a:bodyPr wrap="square" anchor="t">
            <a:spAutoFit/>
          </a:bodyPr>
          <a:lstStyle/>
          <a:p>
            <a:pPr algn="l">
              <a:spcAft>
                <a:spcPts val="800"/>
              </a:spcAft>
            </a:pPr>
            <a:r>
              <a:rPr sz="1800" b="0">
                <a:solidFill>
                  <a:srgbClr val="7030A0"/>
                </a:solidFill>
                <a:latin typeface="맑은 고딕"/>
              </a:rPr>
              <a:t>Q1. 통합 감사가 12c 이전 대비 갖는 이점이 아닌 것은?</a:t>
            </a:r>
          </a:p>
          <a:p>
            <a:pPr algn="l">
              <a:spcAft>
                <a:spcPts val="800"/>
              </a:spcAft>
            </a:pPr>
            <a:r>
              <a:rPr sz="1800" b="0">
                <a:solidFill>
                  <a:srgbClr val="7030A0"/>
                </a:solidFill>
                <a:latin typeface="맑은 고딕"/>
              </a:rPr>
              <a:t>  ① 단일 감사 추적으로 통합   ② 정책 기반 켜고 끄기</a:t>
            </a:r>
          </a:p>
          <a:p>
            <a:pPr algn="l">
              <a:spcAft>
                <a:spcPts val="800"/>
              </a:spcAft>
            </a:pPr>
            <a:r>
              <a:rPr sz="1800" b="0">
                <a:solidFill>
                  <a:srgbClr val="7030A0"/>
                </a:solidFill>
                <a:latin typeface="맑은 고딕"/>
              </a:rPr>
              <a:t>  ③ 접근을 원천 차단   ④ AUDSYS 보호 저장소</a:t>
            </a:r>
          </a:p>
          <a:p>
            <a:pPr algn="l">
              <a:spcAft>
                <a:spcPts val="800"/>
              </a:spcAft>
            </a:pPr>
            <a:r>
              <a:rPr sz="1800" b="0">
                <a:solidFill>
                  <a:srgbClr val="7030A0"/>
                </a:solidFill>
                <a:latin typeface="맑은 고딕"/>
              </a:rPr>
              <a:t>정답: ③  (감사는 차단이 아니라 기록 기능)</a:t>
            </a:r>
          </a:p>
          <a:p>
            <a:pPr algn="l">
              <a:spcAft>
                <a:spcPts val="800"/>
              </a:spcAft>
            </a:pPr>
            <a:r>
              <a:rPr sz="1800" b="0">
                <a:solidFill>
                  <a:srgbClr val="7030A0"/>
                </a:solidFill>
                <a:latin typeface="맑은 고딕"/>
              </a:rPr>
              <a:t/>
            </a:r>
          </a:p>
          <a:p>
            <a:pPr algn="l">
              <a:spcAft>
                <a:spcPts val="800"/>
              </a:spcAft>
            </a:pPr>
            <a:r>
              <a:rPr sz="1800" b="0">
                <a:solidFill>
                  <a:srgbClr val="7030A0"/>
                </a:solidFill>
                <a:latin typeface="맑은 고딕"/>
              </a:rPr>
              <a:t>Q2. CREATE AUDIT POLICY 직후 상태는?</a:t>
            </a:r>
          </a:p>
          <a:p>
            <a:pPr algn="l">
              <a:spcAft>
                <a:spcPts val="800"/>
              </a:spcAft>
            </a:pPr>
            <a:r>
              <a:rPr sz="1800" b="0">
                <a:solidFill>
                  <a:srgbClr val="7030A0"/>
                </a:solidFill>
                <a:latin typeface="맑은 고딕"/>
              </a:rPr>
              <a:t>  ① 즉시 감사 시작   ② AUDIT POLICY로 활성화해야 시작</a:t>
            </a:r>
          </a:p>
          <a:p>
            <a:pPr algn="l">
              <a:spcAft>
                <a:spcPts val="800"/>
              </a:spcAft>
            </a:pPr>
            <a:r>
              <a:rPr sz="1800" b="0">
                <a:solidFill>
                  <a:srgbClr val="7030A0"/>
                </a:solidFill>
                <a:latin typeface="맑은 고딕"/>
              </a:rPr>
              <a:t>  ③ ORA_SECURECONFIG에 병합   ④ 재부팅 필요</a:t>
            </a:r>
          </a:p>
          <a:p>
            <a:pPr algn="l">
              <a:spcAft>
                <a:spcPts val="800"/>
              </a:spcAft>
            </a:pPr>
            <a:r>
              <a:rPr sz="1800" b="0">
                <a:solidFill>
                  <a:srgbClr val="7030A0"/>
                </a:solidFill>
                <a:latin typeface="맑은 고딕"/>
              </a:rPr>
              <a:t>정답: ②  (생성과 활성화는 별개 단계)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퀴즈 (Quiz) 2</a:t>
            </a:r>
          </a:p>
        </p:txBody>
      </p:sp>
      <p:sp>
        <p:nvSpPr>
          <p:cNvPr id="4" name="TextBox 3"/>
          <p:cNvSpPr txBox="1"/>
          <p:nvPr/>
        </p:nvSpPr>
        <p:spPr>
          <a:xfrm>
            <a:off x="640080" y="1554480"/>
            <a:ext cx="10881360" cy="4754880"/>
          </a:xfrm>
          <a:prstGeom prst="rect">
            <a:avLst/>
          </a:prstGeom>
          <a:noFill/>
        </p:spPr>
        <p:txBody>
          <a:bodyPr wrap="square" anchor="t">
            <a:spAutoFit/>
          </a:bodyPr>
          <a:lstStyle/>
          <a:p>
            <a:pPr algn="l">
              <a:spcAft>
                <a:spcPts val="800"/>
              </a:spcAft>
            </a:pPr>
            <a:r>
              <a:rPr sz="1800" b="0">
                <a:solidFill>
                  <a:srgbClr val="7030A0"/>
                </a:solidFill>
                <a:latin typeface="맑은 고딕"/>
              </a:rPr>
              <a:t>Q3. 실패한 접근 시도만 감사하려면?</a:t>
            </a:r>
          </a:p>
          <a:p>
            <a:pPr algn="l">
              <a:spcAft>
                <a:spcPts val="800"/>
              </a:spcAft>
            </a:pPr>
            <a:r>
              <a:rPr sz="1800" b="0">
                <a:solidFill>
                  <a:srgbClr val="7030A0"/>
                </a:solidFill>
                <a:latin typeface="맑은 고딕"/>
              </a:rPr>
              <a:t>  ① WHENEVER SUCCESSFUL   ② BY SESSION</a:t>
            </a:r>
          </a:p>
          <a:p>
            <a:pPr algn="l">
              <a:spcAft>
                <a:spcPts val="800"/>
              </a:spcAft>
            </a:pPr>
            <a:r>
              <a:rPr sz="1800" b="0">
                <a:solidFill>
                  <a:srgbClr val="7030A0"/>
                </a:solidFill>
                <a:latin typeface="맑은 고딕"/>
              </a:rPr>
              <a:t>  ③ WHENEVER NOT SUCCESSFUL   ④ ONLY TOPLEVEL</a:t>
            </a:r>
          </a:p>
          <a:p>
            <a:pPr algn="l">
              <a:spcAft>
                <a:spcPts val="800"/>
              </a:spcAft>
            </a:pPr>
            <a:r>
              <a:rPr sz="1800" b="0">
                <a:solidFill>
                  <a:srgbClr val="7030A0"/>
                </a:solidFill>
                <a:latin typeface="맑은 고딕"/>
              </a:rPr>
              <a:t>정답: ③</a:t>
            </a:r>
          </a:p>
          <a:p>
            <a:pPr algn="l">
              <a:spcAft>
                <a:spcPts val="800"/>
              </a:spcAft>
            </a:pPr>
            <a:r>
              <a:rPr sz="1800" b="0">
                <a:solidFill>
                  <a:srgbClr val="7030A0"/>
                </a:solidFill>
                <a:latin typeface="맑은 고딕"/>
              </a:rPr>
              <a:t/>
            </a:r>
          </a:p>
          <a:p>
            <a:pPr algn="l">
              <a:spcAft>
                <a:spcPts val="800"/>
              </a:spcAft>
            </a:pPr>
            <a:r>
              <a:rPr sz="1800" b="0">
                <a:solidFill>
                  <a:srgbClr val="7030A0"/>
                </a:solidFill>
                <a:latin typeface="맑은 고딕"/>
              </a:rPr>
              <a:t>Q4. 공통(common) 감사 정책 설명으로 옳은 것은?</a:t>
            </a:r>
          </a:p>
          <a:p>
            <a:pPr algn="l">
              <a:spcAft>
                <a:spcPts val="800"/>
              </a:spcAft>
            </a:pPr>
            <a:r>
              <a:rPr sz="1800" b="0">
                <a:solidFill>
                  <a:srgbClr val="7030A0"/>
                </a:solidFill>
                <a:latin typeface="맑은 고딕"/>
              </a:rPr>
              <a:t>  ① 어느 PDB에서나 생성   ② 루트에서 CONTAINER=ALL로 생성</a:t>
            </a:r>
          </a:p>
          <a:p>
            <a:pPr algn="l">
              <a:spcAft>
                <a:spcPts val="800"/>
              </a:spcAft>
            </a:pPr>
            <a:r>
              <a:rPr sz="1800" b="0">
                <a:solidFill>
                  <a:srgbClr val="7030A0"/>
                </a:solidFill>
                <a:latin typeface="맑은 고딕"/>
              </a:rPr>
              <a:t>  ③ PDB 로컬 테이블 객체 감사 가능   ④ 항상 로컬보다 우선</a:t>
            </a:r>
          </a:p>
          <a:p>
            <a:pPr algn="l">
              <a:spcAft>
                <a:spcPts val="800"/>
              </a:spcAft>
            </a:pPr>
            <a:r>
              <a:rPr sz="1800" b="0">
                <a:solidFill>
                  <a:srgbClr val="7030A0"/>
                </a:solidFill>
                <a:latin typeface="맑은 고딕"/>
              </a:rPr>
              <a:t>정답: ②</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퀴즈 (Quiz) 3</a:t>
            </a:r>
          </a:p>
        </p:txBody>
      </p:sp>
      <p:sp>
        <p:nvSpPr>
          <p:cNvPr id="4" name="TextBox 3"/>
          <p:cNvSpPr txBox="1"/>
          <p:nvPr/>
        </p:nvSpPr>
        <p:spPr>
          <a:xfrm>
            <a:off x="640080" y="1554480"/>
            <a:ext cx="10881360" cy="4754880"/>
          </a:xfrm>
          <a:prstGeom prst="rect">
            <a:avLst/>
          </a:prstGeom>
          <a:noFill/>
        </p:spPr>
        <p:txBody>
          <a:bodyPr wrap="square" anchor="t">
            <a:spAutoFit/>
          </a:bodyPr>
          <a:lstStyle/>
          <a:p>
            <a:pPr algn="l">
              <a:spcAft>
                <a:spcPts val="800"/>
              </a:spcAft>
            </a:pPr>
            <a:r>
              <a:rPr sz="1800" b="0">
                <a:solidFill>
                  <a:srgbClr val="7030A0"/>
                </a:solidFill>
                <a:latin typeface="맑은 고딕"/>
              </a:rPr>
              <a:t>Q5. ONLY TOPLEVEL 옵션의 목적은?</a:t>
            </a:r>
          </a:p>
          <a:p>
            <a:pPr algn="l">
              <a:spcAft>
                <a:spcPts val="800"/>
              </a:spcAft>
            </a:pPr>
            <a:r>
              <a:rPr sz="1800" b="0">
                <a:solidFill>
                  <a:srgbClr val="7030A0"/>
                </a:solidFill>
                <a:latin typeface="맑은 고딕"/>
              </a:rPr>
              <a:t>  ① 성공한 문장만 감사   ② 중첩 문장을 제외해 중복 감사 감소</a:t>
            </a:r>
          </a:p>
          <a:p>
            <a:pPr algn="l">
              <a:spcAft>
                <a:spcPts val="800"/>
              </a:spcAft>
            </a:pPr>
            <a:r>
              <a:rPr sz="1800" b="0">
                <a:solidFill>
                  <a:srgbClr val="7030A0"/>
                </a:solidFill>
                <a:latin typeface="맑은 고딕"/>
              </a:rPr>
              <a:t>  ③ 특정 컬럼만 감사   ④ 감사 추적 자동 정리</a:t>
            </a:r>
          </a:p>
          <a:p>
            <a:pPr algn="l">
              <a:spcAft>
                <a:spcPts val="800"/>
              </a:spcAft>
            </a:pPr>
            <a:r>
              <a:rPr sz="1800" b="0">
                <a:solidFill>
                  <a:srgbClr val="7030A0"/>
                </a:solidFill>
                <a:latin typeface="맑은 고딕"/>
              </a:rPr>
              <a:t>정답: ②</a:t>
            </a:r>
          </a:p>
          <a:p>
            <a:pPr algn="l">
              <a:spcAft>
                <a:spcPts val="800"/>
              </a:spcAft>
            </a:pPr>
            <a:r>
              <a:rPr sz="1800" b="0">
                <a:solidFill>
                  <a:srgbClr val="7030A0"/>
                </a:solidFill>
                <a:latin typeface="맑은 고딕"/>
              </a:rPr>
              <a:t/>
            </a:r>
          </a:p>
          <a:p>
            <a:pPr algn="l">
              <a:spcAft>
                <a:spcPts val="800"/>
              </a:spcAft>
            </a:pPr>
            <a:r>
              <a:rPr sz="1800" b="0">
                <a:solidFill>
                  <a:srgbClr val="7030A0"/>
                </a:solidFill>
                <a:latin typeface="맑은 고딕"/>
              </a:rPr>
              <a:t>Q6. 감사 추적을 기준 시점 이전만 안전하게 정리하는 순서는?</a:t>
            </a:r>
          </a:p>
          <a:p>
            <a:pPr algn="l">
              <a:spcAft>
                <a:spcPts val="800"/>
              </a:spcAft>
            </a:pPr>
            <a:r>
              <a:rPr sz="1800" b="0">
                <a:solidFill>
                  <a:srgbClr val="7030A0"/>
                </a:solidFill>
                <a:latin typeface="맑은 고딕"/>
              </a:rPr>
              <a:t>  ① CLEAN 먼저 → SET_LAST_ARCHIVE_TIMESTAMP</a:t>
            </a:r>
          </a:p>
          <a:p>
            <a:pPr algn="l">
              <a:spcAft>
                <a:spcPts val="800"/>
              </a:spcAft>
            </a:pPr>
            <a:r>
              <a:rPr sz="1800" b="0">
                <a:solidFill>
                  <a:srgbClr val="7030A0"/>
                </a:solidFill>
                <a:latin typeface="맑은 고딕"/>
              </a:rPr>
              <a:t>  ② SET_LAST_ARCHIVE_TIMESTAMP 후 use_last_arch_timestamp=TRUE로 CLEAN</a:t>
            </a:r>
          </a:p>
          <a:p>
            <a:pPr algn="l">
              <a:spcAft>
                <a:spcPts val="800"/>
              </a:spcAft>
            </a:pPr>
            <a:r>
              <a:rPr sz="1800" b="0">
                <a:solidFill>
                  <a:srgbClr val="7030A0"/>
                </a:solidFill>
                <a:latin typeface="맑은 고딕"/>
              </a:rPr>
              <a:t>  ③ DROP_PURGE_JOB → CREATE_PURGE_JOB   ④ AUDIT_TRAIL=NONE 후 재부팅</a:t>
            </a:r>
          </a:p>
          <a:p>
            <a:pPr algn="l">
              <a:spcAft>
                <a:spcPts val="800"/>
              </a:spcAft>
            </a:pPr>
            <a:r>
              <a:rPr sz="1800" b="0">
                <a:solidFill>
                  <a:srgbClr val="7030A0"/>
                </a:solidFill>
                <a:latin typeface="맑은 고딕"/>
              </a:rPr>
              <a:t>정답: ②</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463040"/>
            <a:ext cx="10881360" cy="4937760"/>
          </a:xfrm>
          <a:prstGeom prst="rect">
            <a:avLst/>
          </a:prstGeom>
          <a:noFill/>
        </p:spPr>
        <p:txBody>
          <a:bodyPr wrap="square" anchor="t">
            <a:spAutoFit/>
          </a:bodyPr>
          <a:lstStyle/>
          <a:p>
            <a:pPr algn="l">
              <a:spcAft>
                <a:spcPts val="1000"/>
              </a:spcAft>
            </a:pPr>
            <a:r>
              <a:rPr sz="1800" b="0">
                <a:solidFill>
                  <a:srgbClr val="C0392B"/>
                </a:solidFill>
                <a:latin typeface="맑은 고딕"/>
              </a:rPr>
              <a:t>•  감사는 차단이 아니라 기록·추적 — 규정 준수·조사·억지가 목적</a:t>
            </a:r>
          </a:p>
          <a:p>
            <a:pPr algn="l">
              <a:spcAft>
                <a:spcPts val="1000"/>
              </a:spcAft>
            </a:pPr>
            <a:r>
              <a:rPr sz="1800" b="0">
                <a:solidFill>
                  <a:srgbClr val="C0392B"/>
                </a:solidFill>
                <a:latin typeface="맑은 고딕"/>
              </a:rPr>
              <a:t>•  12c부터 통합 감사, 19c 표준 — UNIFIED_AUDIT_TRAIL로 통합 조회</a:t>
            </a:r>
          </a:p>
          <a:p>
            <a:pPr algn="l">
              <a:spcAft>
                <a:spcPts val="1000"/>
              </a:spcAft>
            </a:pPr>
            <a:r>
              <a:rPr sz="1800" b="0">
                <a:solidFill>
                  <a:srgbClr val="C0392B"/>
                </a:solidFill>
                <a:latin typeface="맑은 고딕"/>
              </a:rPr>
              <a:t>•  CREATE AUDIT POLICY로 정의, AUDIT POLICY로 활성화(별개 단계)</a:t>
            </a:r>
          </a:p>
          <a:p>
            <a:pPr algn="l">
              <a:spcAft>
                <a:spcPts val="1000"/>
              </a:spcAft>
            </a:pPr>
            <a:r>
              <a:rPr sz="1800" b="0">
                <a:solidFill>
                  <a:srgbClr val="C0392B"/>
                </a:solidFill>
                <a:latin typeface="맑은 고딕"/>
              </a:rPr>
              <a:t>•  PRIVILEGES/ACTIONS/ACTIONS...ON/WHEN, BY·EXCEPT·WHENEVER로 제어</a:t>
            </a:r>
          </a:p>
          <a:p>
            <a:pPr algn="l">
              <a:spcAft>
                <a:spcPts val="1000"/>
              </a:spcAft>
            </a:pPr>
            <a:r>
              <a:rPr sz="1800" b="0">
                <a:solidFill>
                  <a:srgbClr val="C0392B"/>
                </a:solidFill>
                <a:latin typeface="맑은 고딕"/>
              </a:rPr>
              <a:t>•  멀티테넌트: 루트 공통(CONTAINER=ALL) vs PDB 로컬, 로컬 객체는 로컬 정책</a:t>
            </a:r>
          </a:p>
          <a:p>
            <a:pPr algn="l">
              <a:spcAft>
                <a:spcPts val="1000"/>
              </a:spcAft>
            </a:pPr>
            <a:r>
              <a:rPr sz="1800" b="0">
                <a:solidFill>
                  <a:srgbClr val="C0392B"/>
                </a:solidFill>
                <a:latin typeface="맑은 고딕"/>
              </a:rPr>
              <a:t>•  ALTER로 무중단 조정, ONLY TOPLEVEL로 중복 방지, FGA로 컬럼·조건 정밀 감사</a:t>
            </a:r>
          </a:p>
          <a:p>
            <a:pPr algn="l">
              <a:spcAft>
                <a:spcPts val="1000"/>
              </a:spcAft>
            </a:pPr>
            <a:r>
              <a:rPr sz="1800" b="0">
                <a:solidFill>
                  <a:srgbClr val="C0392B"/>
                </a:solidFill>
                <a:latin typeface="맑은 고딕"/>
              </a:rPr>
              <a:t>•  DBMS_AUDIT_MGMT로 아카이브 기준선·정리·자동 정리 작업 운영</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lgn="l"/>
            <a:r>
              <a:rPr sz="2600" b="1">
                <a:solidFill>
                  <a:srgbClr val="FFFFFF"/>
                </a:solidFill>
                <a:latin typeface="맑은 고딕"/>
              </a:rPr>
              <a:t>실습 24 개요</a:t>
            </a:r>
          </a:p>
        </p:txBody>
      </p:sp>
      <p:sp>
        <p:nvSpPr>
          <p:cNvPr id="4" name="TextBox 3"/>
          <p:cNvSpPr txBox="1"/>
          <p:nvPr/>
        </p:nvSpPr>
        <p:spPr>
          <a:xfrm>
            <a:off x="640080" y="1463040"/>
            <a:ext cx="10881360" cy="4937760"/>
          </a:xfrm>
          <a:prstGeom prst="rect">
            <a:avLst/>
          </a:prstGeom>
          <a:noFill/>
        </p:spPr>
        <p:txBody>
          <a:bodyPr wrap="square" anchor="t">
            <a:spAutoFit/>
          </a:bodyPr>
          <a:lstStyle/>
          <a:p>
            <a:pPr algn="l">
              <a:spcAft>
                <a:spcPts val="1000"/>
              </a:spcAft>
            </a:pPr>
            <a:r>
              <a:rPr sz="1800" b="0">
                <a:solidFill>
                  <a:srgbClr val="C0392B"/>
                </a:solidFill>
                <a:latin typeface="맑은 고딕"/>
              </a:rPr>
              <a:t>•  실습 01 통합 감사 정책 생성 기본 / 02 시스템 전반 감사</a:t>
            </a:r>
          </a:p>
          <a:p>
            <a:pPr algn="l">
              <a:spcAft>
                <a:spcPts val="1000"/>
              </a:spcAft>
            </a:pPr>
            <a:r>
              <a:rPr sz="1800" b="0">
                <a:solidFill>
                  <a:srgbClr val="C0392B"/>
                </a:solidFill>
                <a:latin typeface="맑은 고딕"/>
              </a:rPr>
              <a:t>•  실습 03 객체 지정 감사 / 04 조건(WHEN) 감사</a:t>
            </a:r>
          </a:p>
          <a:p>
            <a:pPr algn="l">
              <a:spcAft>
                <a:spcPts val="1000"/>
              </a:spcAft>
            </a:pPr>
            <a:r>
              <a:rPr sz="1800" b="0">
                <a:solidFill>
                  <a:srgbClr val="C0392B"/>
                </a:solidFill>
                <a:latin typeface="맑은 고딕"/>
              </a:rPr>
              <a:t>•  실습 05 활성화·비활성화 / 06 CDB·PDB 감사 액션 확인</a:t>
            </a:r>
          </a:p>
          <a:p>
            <a:pPr algn="l">
              <a:spcAft>
                <a:spcPts val="1000"/>
              </a:spcAft>
            </a:pPr>
            <a:r>
              <a:rPr sz="1800" b="0">
                <a:solidFill>
                  <a:srgbClr val="C0392B"/>
                </a:solidFill>
                <a:latin typeface="맑은 고딕"/>
              </a:rPr>
              <a:t>•  실습 07 ALTER AUDIT POLICY 수정 / 08 ONLY TOPLEVEL</a:t>
            </a:r>
          </a:p>
          <a:p>
            <a:pPr algn="l">
              <a:spcAft>
                <a:spcPts val="1000"/>
              </a:spcAft>
            </a:pPr>
            <a:r>
              <a:rPr sz="1800" b="0">
                <a:solidFill>
                  <a:srgbClr val="C0392B"/>
                </a:solidFill>
                <a:latin typeface="맑은 고딕"/>
              </a:rPr>
              <a:t>•  실습 09 Fine-Grained Auditing(FGA) / 10 감사 추적 아카이빙·정리</a:t>
            </a:r>
          </a:p>
          <a:p>
            <a:pPr algn="l">
              <a:spcAft>
                <a:spcPts val="1000"/>
              </a:spcAft>
            </a:pPr>
            <a:r>
              <a:rPr sz="1800" b="0">
                <a:solidFill>
                  <a:srgbClr val="C0392B"/>
                </a:solidFill>
                <a:latin typeface="맑은 고딕"/>
              </a:rPr>
              <a:t>•  각 실습은 오류 발생 → 원인 파악 → 수정 흐름을 포함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
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4장에서 클라이언트가 '데이터베이스 인스턴스'에 접속함을, 7·8장에서 인스턴스를 시작·구성·진단하는 법을 배웠다. 9장은 시야를 인스턴스 바깥으로 넓혀 원격 클라이언트가 어떤 경로로 인스턴스에 도달하는지를 다룬다. 중심에는 Oracle Net Services라는 네트워킹 계층과 리스너라는 게이트웨이 프로세스가 있다. 10~12장(네이밍·리스너·공유 서버)의 개념적 토대가 되는 장이다.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목표는 '네트워킹의 뼈대 이해'로 요약된다. 연결/세션 구분, Net Services 구성요소와 도구, 리스너 작동 방식, 전용/공유 서버 아키텍처 네 가지가 축이다.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앞부분(9.1~9.2)은 개념(연결/세션, Net Services), 중간(9.3~9.6)은 구성요소·도구·리스너, 뒷부분(9.7~9.9)은 서버 아키텍처(전용/공유)로 크게 세 묶음이다.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단어는 자주 뒤섞여 쓰이지만 의미가 다르다. 이 구분이 흐릿하면 전용/공유 서버 아키텍처를 정확히 이해하기 어렵다.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연결은 '데이터가 흐르는 선', 세션은 '그 선으로 로그인한 사용자의 살아 있는 작업 상태'다. 로컬 접속은 IPC로 통신 경로가 생겨 리스너 없이도 되지만, 원격 접속은 Oracle Net과 TCP/IP로 경로가 생기고 리스너가 이를 중개한다.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사용자로 여러 세션'이라는 사실이 연결과 세션이 다른 개념임을 잘 보여 준다. 이 성질은 뒤의 전용/공유 서버 아키텍처를 이해하는 열쇠다. V$SESSION은 세션을, V$PROCESS는 프로세스를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V$SESSION의 username별 집계로 한 사용자가 여러 세션을 가질 수 있음을 확인한다. SERVER 컬럼이 DEDICATED면 전용, SHARED면 공유 서버 방식이다. 세션·연결·서버 프로세스를 각각 구분하는 감각이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원격 접속의 통신 경로를 만드는 네트워크 소프트웨어가 Oracle Net Services다. 네트워크 세션 확립 후에는 양측을 위한 데이터 운반자로 동작한다.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Net(또는 JDBC 같은 시뮬레이터)은 DB와 통신하는 모든 컴퓨터에 존재한다. 클라이언트 측은 접속 시 동작하는 라이브러리 계층, 서버 측은 상주하는 능동적 리스너 프로세스를 포함한다는 비대칭을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리스너는 '연결을 맺어 주는 중매자', 실제 SQL 처리는 서버 프로세스가 맡는다. 양쪽에는 각각 Oracle Net 구성 파일이 놓여 서로를 찾고 통신 규칙을 정의한다. 이 역할 분담이 전용/공유 서버 아키텍처의 전제다.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사용자는 짧은 연결 식별자(sales)만 알면 되고, 네이밍 방법이 이를 ADDRESS+CONNECT_DATA를 담은 연결 기술자로 풀어 준다. 서버 주소가 바뀌어도 이름 매핑만 고치면 되는 위치 투명성을 준다. CONNECT_DATA의 SERVER 절로 전용/공유를 선택할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 Services는 단순 DB 접속 통로를 넘어, 외부 프로시저(EXTPROC) 호출과 이기종 데이터 소스 연동(Heterogeneous Services)의 기반이 된다. 내부적으로 Oracle Net은 메시지 관리 계층과 프로토콜 지원 계층으로 나뉜다.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구성요소는 EM Cloud Control과 Oracle Net Manager로 구성한다. 연결 식별자(짧은 이름)와 연결 기술자(실제 위치 정보)의 구분을 염두에 두면 네 요소가 어떻게 맞물리는지 이해하기 쉽다.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리스너는 서버에 상주하며 연결 요청을 받아 서버로 넘긴다. 네이밍 방법은 사용자가 댄 짧은 이름을 실제 네트워크 위치로 풀어 주는 규칙으로, 10장에서 상세히 다룬다.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 서비스 이름은 복잡한 주소를 대신하는 별칭이다. 프로파일은 클라이언트/서버 양측의 Net 동작을 세밀 조정하는 파라미터 모음으로 sqlnet.ora에 저장된다.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개의 .ora 파일이 어디에 무엇을 담는지 확실히 익힌다. listener.ora=서버 대기 주소·서비스, tnsnames.ora=이름→주소 매핑, sqlnet.ora=네이밍 우선순위·보안·로깅. 설치만 정상 마쳐도 기본 접속 환경이 갖춰진다.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목적과 환경에 따라 GUI 통합 관리 도구부터 커맨드라인 유틸리티까지 나누어 쓴다. 네 가지 도구의 용도를 구분하는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Cloud Control은 다수 대상을 중앙에서 다루는 데, Oracle Net Manager는 특정 한 호스트의 세부 구성을 편집하는 데 강점이 있다. 둘 다 GUI로 .ora 파일을 안전하게 생성·수정한다.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NETCA는 설치 중 자동 실행되며 설치 후에도 독립 실행할 수 있다. lsnrctl은 리스너의 일상적 시작·중지·상태 점검용 커맨드라인 도구로, 11장에서 상세히 다룬다. 고급 관리자는 텍스트 에디터로 .ora를 직접 편집할 수도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lsnrctl status로 리스너가 어떤 주소에서 대기하며 어떤 서비스를 등록했는지 확인하는 것이 리스너 진단의 출발점이다. services는 각 서비스가 전용/디스패처 중 어떤 핸들러를 갖는지까지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리스너는 구성요소 중 유일하게 서버에 상주하며 능동적으로 동작하는 프로세스다. 이 장에서 가장 비중 있게 다룰 대상이다.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로컬 OS 인증 접속(sqlplus / as sysdba)은 리스너를 안 거치지만, 네트워크로 서비스명을 통해 들어오는 접속은 모두 리스너를 거친다. 리스너가 죽어도 기존 세션은 살아 있지만 새 원격 연결은 리스너가 있어야 받는다 — '기존은 되는데 새 접속만 안 됨'이면 리스너/서비스 등록을 본다.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 파일은 기본적으로 network/admin에 있다. 직접 편집은 문법 오류로 리스너가 안 뜨는 사고 위험이 있어, 편집 전 백업과 편집 후 lsnrctl status/reload 검증을 습관화한다.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listener.ora는 DESCRIPTION_LIST 안에 대기할 ADDRESS들을 정의한다. TCP는 원격, IPC는 로컬(EXTPROC 등)용이다. sqlnet.ora의 NAMES.DIRECTORY_PATH는 네이밍 방법 시도 순서를 정한다.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설치·DB 생성 후 손대지 않아도 곧바로 쓸 수 있는 기본 리스너가 만들어진다. '아무 설정도 안 했는데 접속이 되는' 이유를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리스너는 이름이 LISTENER이며, 기동 직후에는 서비스가 없다가 동적 서비스 등록으로 사용 가능한 데이터베이스 서비스가 자동으로 채워진다. 그래서 관리자가 서비스를 일일이 적지 않아도 접속이 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LREG가 '나는 이러이러한 서비스를 제공한다'고 리스너에 등록하는 것이 동적 서비스 등록이다. 방금 연 인스턴스가 아직 리스너에 안 보이면 ALTER SYSTEM REGISTER로 즉시 등록을 유도한다. 정적/동적 등록의 세부는 11장에서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1521은 리스너의 사실상 표준 포트다. 인스턴스를 방금 열었는데 서비스가 리스너에 안 보이면 ALTER SYSTEM REGISTER 후 lsnrctl status로 확인한다. ORA-12514(서비스 없음)는 리스너 생사가 아니라 서비스 등록 상태를 보라는 신호다.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리스너가 연결을 넘겨준 뒤 실제 SQL 작업은 서버 프로세스가 한다. 이 프로세스를 연결마다 하나씩 두는 것이 전용 서버다.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서버는 구조가 단순하고 직관적이며 격리성·예측 가능성이 좋다. 한 세션이 무거운 작업을 오래 해도 다른 세션에 큐 경합을 유발하지 않는다. 그래서 대부분의 관리·배치 워크로드에서 표준으로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사용자가 쿼리를 안 하고 화면만 켜 둬도 전용 프로세스는 메모리를 점유한다. 수천 명이 접속하는 OLTP에서 유휴 프로세스가 쌓이면 낭비가 크다. 이때 자원을 늘리거나 공유 서버로 전환하는 두 선택지가 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 컬럼이 DEDICATED면 전용 서버다. V$SESSION과 V$PROCESS를 paddr=addr로 조인하면 세션이 어떤 OS 프로세스(spid)와 1:1로 짝지어졌는지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서버의 자원 낭비를 완화하려고 다수 클라이언트가 소수 프로세스를 나눠 쓰게 한 구성이다. 핵심 장치는 디스패처와 공유 풀 큐다.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 서버와 결정적 차이는 리스너가 새 전용 프로세스를 만들지 않고, 그 서비스를 담당하는 디스패처 중 가장 부하가 적은 것으로 연결을 라우팅한다는 점이다. 단일 디스패처가 수백 개 연결을 관리할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디스패처는 요청을 큐로 전달만 하고, 실제 일은 공유 서버 프로세스가 공통 큐에서 요청을 꺼내 처리한다. 어떤 사용자가 쉬면 공유 프로세스는 다른 사용자 요청을 처리하러 가므로 유휴 자원 낭비가 줄어든다. 대신 큐잉 오버헤드와 UGA의 SGA 이동이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SHARED_SERVERS&gt;0이면 공유 서버가 활성이다. V$DISPATCHER로 각 디스패처의 연결 부하를, V$SHARED_SERVER로 공유 서버 프로세스 현황을 본다. 공유 서버의 상세 구성은 12장에서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전용은 연결마다 프로세스를 전담시키는 단순·격리 지향, 공유는 프로세스를 나눠 쓰는 확장 지향 구조다. 어느 하나가 절대 우월한 것이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은행에 비유하면 전용은 '손님마다 전담 직원', 공유는 '창구 몇 개(디스패처)+처리 직원 풀(공유 서버)+대기표 큐'다. 손님이 많고 잠깐씩만 쓰면 공유가, 한 손님이 오래 걸리면 전용이 낫다. 실무에선 혼용해 연결마다 고른다.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'전용=UGA가 PGA에, 공유=UGA가 SGA(라지 풀)에'가 두 아키텍처 내부 차이의 한 줄 요약이다. 공유 서버에서는 한 세션이 요청마다 다른 프로세스에서 처리되므로 세션 정보를 특정 PGA에 둘 수 없어 SGA로 옮긴다.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Q1은 물리적 경로(연결) vs 논리적 상태(세션)를, Q2는 클라이언트(라이브러리)와 서버(능동적 리스너)의 비대칭을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Q3은 구성요소-파일 대응을, Q4는 기본 리스너의 자동 생성·동적 등록·기본 포트 세 특성을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Q5는 디스패처(전달)와 공유 서버 프로세스(처리)의 역할 분담을, Q6은 전용 서버의 자원 한계와 두 가지 대안을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'연결/세션 개념 → Net Services와 구성요소·도구 → 리스너 → 전용/공유 서버'의 흐름으로 요약된다. 10~12장 네트워킹 구성 실습의 개념적 토대가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실습은 개념을 실제 도구·뷰로 확인한다. 기본 리스너와 서비스 등록, 연결/세션 구분, 전용/공유 서버 방식 비교를 손으로 익힌다. 공유 서버 파라미터를 바꾼 경우 실습 후 원복한다.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rPr>
              <a:t>Oracle Database 19c Administration Workshop  ·  제9장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Oracle Net Services 개요</a:t>
            </a:r>
          </a:p>
        </p:txBody>
      </p:sp>
      <p:sp>
        <p:nvSpPr>
          <p:cNvPr id="5" name="TextBox 4"/>
          <p:cNvSpPr txBox="1"/>
          <p:nvPr/>
        </p:nvSpPr>
        <p:spPr>
          <a:xfrm>
            <a:off x="1188720" y="4297680"/>
            <a:ext cx="10058400" cy="1280160"/>
          </a:xfrm>
          <a:prstGeom prst="rect">
            <a:avLst/>
          </a:prstGeom>
          <a:noFill/>
        </p:spPr>
        <p:txBody>
          <a:bodyPr wrap="square">
            <a:spAutoFit/>
          </a:bodyPr>
          <a:lstStyle/>
          <a:p>
            <a:r>
              <a:rPr sz="1800" b="0">
                <a:solidFill>
                  <a:srgbClr val="C5CED6"/>
                </a:solidFill>
                <a:latin typeface="Malgun Gothic"/>
              </a:rPr>
              <a:t>연결과 세션 · Oracle Net · 구성요소/구성 파일 · 관리 도구 · 리스너 · 전용/공유 서버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연결(connection)과 세션(session)을 구분한다</a:t>
            </a:r>
          </a:p>
          <a:p>
            <a:pPr>
              <a:spcAft>
                <a:spcPts val="700"/>
              </a:spcAft>
            </a:pPr>
            <a:r>
              <a:rPr sz="1800" b="0">
                <a:solidFill>
                  <a:srgbClr val="202830"/>
                </a:solidFill>
                <a:latin typeface="Malgun Gothic"/>
              </a:rPr>
              <a:t>•  Oracle Net Services의 역할과 클라이언트-리스너-서버 흐름을 설명한다</a:t>
            </a:r>
          </a:p>
          <a:p>
            <a:pPr>
              <a:spcAft>
                <a:spcPts val="700"/>
              </a:spcAft>
            </a:pPr>
            <a:r>
              <a:rPr sz="1800" b="0">
                <a:solidFill>
                  <a:srgbClr val="202830"/>
                </a:solidFill>
                <a:latin typeface="Malgun Gothic"/>
              </a:rPr>
              <a:t>•  구성요소(리스너·네이밍 방법·넷 서비스 이름·프로파일)와 구성 파일을 나열한다</a:t>
            </a:r>
          </a:p>
          <a:p>
            <a:pPr>
              <a:spcAft>
                <a:spcPts val="700"/>
              </a:spcAft>
            </a:pPr>
            <a:r>
              <a:rPr sz="1800" b="0">
                <a:solidFill>
                  <a:srgbClr val="202830"/>
                </a:solidFill>
                <a:latin typeface="Malgun Gothic"/>
              </a:rPr>
              <a:t>•  관리 도구(EM Cloud Control·Net Manager·NETCA·lsnrctl)를 설명한다</a:t>
            </a:r>
          </a:p>
          <a:p>
            <a:pPr>
              <a:spcAft>
                <a:spcPts val="700"/>
              </a:spcAft>
            </a:pPr>
            <a:r>
              <a:rPr sz="1800" b="0">
                <a:solidFill>
                  <a:srgbClr val="202830"/>
                </a:solidFill>
                <a:latin typeface="Malgun Gothic"/>
              </a:rPr>
              <a:t>•  리스너 개념과 구성 파일 위치를 이해한다</a:t>
            </a:r>
          </a:p>
          <a:p>
            <a:pPr>
              <a:spcAft>
                <a:spcPts val="700"/>
              </a:spcAft>
            </a:pPr>
            <a:r>
              <a:rPr sz="1800" b="0">
                <a:solidFill>
                  <a:srgbClr val="202830"/>
                </a:solidFill>
                <a:latin typeface="Malgun Gothic"/>
              </a:rPr>
              <a:t>•  기본 리스너 LISTENER(동적 등록·포트 1521)를 설명한다</a:t>
            </a:r>
          </a:p>
          <a:p>
            <a:pPr>
              <a:spcAft>
                <a:spcPts val="700"/>
              </a:spcAft>
            </a:pPr>
            <a:r>
              <a:rPr sz="1800" b="0">
                <a:solidFill>
                  <a:srgbClr val="202830"/>
                </a:solidFill>
                <a:latin typeface="Malgun Gothic"/>
              </a:rPr>
              <a:t>•  전용 서버와 공유 서버 아키텍처의 차이를 비교한다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9.1 연결과 세션의 차이</a:t>
            </a:r>
          </a:p>
          <a:p>
            <a:pPr>
              <a:spcAft>
                <a:spcPts val="700"/>
              </a:spcAft>
            </a:pPr>
            <a:r>
              <a:rPr sz="1800" b="0">
                <a:solidFill>
                  <a:srgbClr val="202830"/>
                </a:solidFill>
                <a:latin typeface="Malgun Gothic"/>
              </a:rPr>
              <a:t>•  9.2 Oracle Net Services 개요(클라이언트-리스너-서버)</a:t>
            </a:r>
          </a:p>
          <a:p>
            <a:pPr>
              <a:spcAft>
                <a:spcPts val="700"/>
              </a:spcAft>
            </a:pPr>
            <a:r>
              <a:rPr sz="1800" b="0">
                <a:solidFill>
                  <a:srgbClr val="202830"/>
                </a:solidFill>
                <a:latin typeface="Malgun Gothic"/>
              </a:rPr>
              <a:t>•  9.3 구성요소 · 9.4 관리 도구</a:t>
            </a:r>
          </a:p>
          <a:p>
            <a:pPr>
              <a:spcAft>
                <a:spcPts val="700"/>
              </a:spcAft>
            </a:pPr>
            <a:r>
              <a:rPr sz="1800" b="0">
                <a:solidFill>
                  <a:srgbClr val="202830"/>
                </a:solidFill>
                <a:latin typeface="Malgun Gothic"/>
              </a:rPr>
              <a:t>•  9.5 리스너 개요와 구성 파일 · 9.6 기본 리스너(LISTENER)</a:t>
            </a:r>
          </a:p>
          <a:p>
            <a:pPr>
              <a:spcAft>
                <a:spcPts val="700"/>
              </a:spcAft>
            </a:pPr>
            <a:r>
              <a:rPr sz="1800" b="0">
                <a:solidFill>
                  <a:srgbClr val="202830"/>
                </a:solidFill>
                <a:latin typeface="Malgun Gothic"/>
              </a:rPr>
              <a:t>•  9.7 전용 서버 · 9.8 공유 서버 · 9.9 전용 vs 공유 비교</a:t>
            </a:r>
          </a:p>
          <a:p>
            <a:pPr>
              <a:spcAft>
                <a:spcPts val="700"/>
              </a:spcAft>
            </a:pPr>
            <a:r>
              <a:rPr sz="1800" b="0">
                <a:solidFill>
                  <a:srgbClr val="202830"/>
                </a:solidFill>
                <a:latin typeface="Malgun Gothic"/>
              </a:rPr>
              <a:t>•  9.10 퀴즈 · 9.11 요약 · 9.12 실습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연결(Connection)과 세션(Session)의 차이</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연결 = 물리적 통신 경로(선)</a:t>
            </a:r>
          </a:p>
          <a:p>
            <a:pPr>
              <a:spcAft>
                <a:spcPts val="600"/>
              </a:spcAft>
            </a:pPr>
            <a:r>
              <a:rPr sz="1600" b="0">
                <a:solidFill>
                  <a:srgbClr val="C5CED6"/>
                </a:solidFill>
                <a:latin typeface="Malgun Gothic"/>
              </a:rPr>
              <a:t>•  세션 = 논리적 로그인 상태</a:t>
            </a:r>
          </a:p>
          <a:p>
            <a:pPr>
              <a:spcAft>
                <a:spcPts val="600"/>
              </a:spcAft>
            </a:pPr>
            <a:r>
              <a:rPr sz="1600" b="0">
                <a:solidFill>
                  <a:srgbClr val="C5CED6"/>
                </a:solidFill>
                <a:latin typeface="Malgun Gothic"/>
              </a:rPr>
              <a:t>•  하나의 사용자로 여러 세션 동시 존재 가능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연결과 세션</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연결(connection): 사용자 프로세스 ↔ 인스턴스 물리적 통신 경로</a:t>
            </a:r>
          </a:p>
          <a:p>
            <a:pPr lvl="1">
              <a:spcAft>
                <a:spcPts val="700"/>
              </a:spcAft>
            </a:pPr>
            <a:r>
              <a:rPr sz="1600" b="0">
                <a:solidFill>
                  <a:srgbClr val="5A6672"/>
                </a:solidFill>
                <a:latin typeface="Malgun Gothic"/>
              </a:rPr>
              <a:t>    –  로컬(같은 머신): OS의 IPC 메커니즘 사용</a:t>
            </a:r>
          </a:p>
          <a:p>
            <a:pPr lvl="1">
              <a:spcAft>
                <a:spcPts val="700"/>
              </a:spcAft>
            </a:pPr>
            <a:r>
              <a:rPr sz="1600" b="0">
                <a:solidFill>
                  <a:srgbClr val="5A6672"/>
                </a:solidFill>
                <a:latin typeface="Malgun Gothic"/>
              </a:rPr>
              <a:t>    –  원격(다른 머신): 네트워크 소프트웨어(Oracle Net) 사용</a:t>
            </a:r>
          </a:p>
          <a:p>
            <a:pPr>
              <a:spcAft>
                <a:spcPts val="700"/>
              </a:spcAft>
            </a:pPr>
            <a:r>
              <a:rPr sz="1800" b="0">
                <a:solidFill>
                  <a:srgbClr val="202830"/>
                </a:solidFill>
                <a:latin typeface="Malgun Gothic"/>
              </a:rPr>
              <a:t>•  세션(session): 현재 사용자 로그인 상태의 논리적 엔티티</a:t>
            </a:r>
          </a:p>
          <a:p>
            <a:pPr lvl="1">
              <a:spcAft>
                <a:spcPts val="700"/>
              </a:spcAft>
            </a:pPr>
            <a:r>
              <a:rPr sz="1600" b="0">
                <a:solidFill>
                  <a:srgbClr val="5A6672"/>
                </a:solidFill>
                <a:latin typeface="Malgun Gothic"/>
              </a:rPr>
              <a:t>    –  SQL*Plus에 유효한 사용자/비밀번호 제공 시 세션 확립</a:t>
            </a:r>
          </a:p>
          <a:p>
            <a:pPr lvl="1">
              <a:spcAft>
                <a:spcPts val="700"/>
              </a:spcAft>
            </a:pPr>
            <a:r>
              <a:rPr sz="1600" b="0">
                <a:solidFill>
                  <a:srgbClr val="5A6672"/>
                </a:solidFill>
                <a:latin typeface="Malgun Gothic"/>
              </a:rPr>
              <a:t>    –  로그인부터 접속 해제/애플리케이션 종료까지 지속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하나의 사용자, 여러 세션</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동일 사용자이름으로 같은 인스턴스에 여러 번 접속 가능</a:t>
            </a:r>
          </a:p>
          <a:p>
            <a:pPr lvl="1">
              <a:spcAft>
                <a:spcPts val="700"/>
              </a:spcAft>
            </a:pPr>
            <a:r>
              <a:rPr sz="1600" b="0">
                <a:solidFill>
                  <a:srgbClr val="5A6672"/>
                </a:solidFill>
                <a:latin typeface="Malgun Gothic"/>
              </a:rPr>
              <a:t>    –  예: HR/HR로 여러 번 로그인 → 각각 별개 세션</a:t>
            </a:r>
          </a:p>
          <a:p>
            <a:pPr>
              <a:spcAft>
                <a:spcPts val="700"/>
              </a:spcAft>
            </a:pPr>
            <a:r>
              <a:rPr sz="1800" b="0">
                <a:solidFill>
                  <a:srgbClr val="202830"/>
                </a:solidFill>
                <a:latin typeface="Malgun Gothic"/>
              </a:rPr>
              <a:t>•  각 세션은 독립적(ALTER SESSION 설정이 서로 영향 없음)</a:t>
            </a:r>
          </a:p>
          <a:p>
            <a:pPr>
              <a:spcAft>
                <a:spcPts val="700"/>
              </a:spcAft>
            </a:pPr>
            <a:r>
              <a:rPr sz="1800" b="0">
                <a:solidFill>
                  <a:srgbClr val="202830"/>
                </a:solidFill>
                <a:latin typeface="Malgun Gothic"/>
              </a:rPr>
              <a:t>•  전용 서버: 대체로 연결 1 : 세션 1 : 서버 프로세스 1</a:t>
            </a:r>
          </a:p>
          <a:p>
            <a:pPr>
              <a:spcAft>
                <a:spcPts val="700"/>
              </a:spcAft>
            </a:pPr>
            <a:r>
              <a:rPr sz="1800" b="0">
                <a:solidFill>
                  <a:srgbClr val="202830"/>
                </a:solidFill>
                <a:latin typeface="Malgun Gothic"/>
              </a:rPr>
              <a:t>•  공유 서버/커넥션 풀: 연결-세션 대응이 유연해짐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연결·세션 확인</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V$SESSION 조회</a:t>
            </a:r>
          </a:p>
        </p:txBody>
      </p:sp>
      <p:sp>
        <p:nvSpPr>
          <p:cNvPr id="5" name="Rectangle 4"/>
          <p:cNvSpPr/>
          <p:nvPr/>
        </p:nvSpPr>
        <p:spPr>
          <a:xfrm>
            <a:off x="640080" y="1691640"/>
            <a:ext cx="10881360" cy="4407408"/>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187952"/>
          </a:xfrm>
          <a:prstGeom prst="rect">
            <a:avLst/>
          </a:prstGeom>
          <a:noFill/>
        </p:spPr>
        <p:txBody>
          <a:bodyPr wrap="square">
            <a:spAutoFit/>
          </a:bodyPr>
          <a:lstStyle/>
          <a:p>
            <a:pPr>
              <a:spcAft>
                <a:spcPts val="100"/>
              </a:spcAft>
            </a:pPr>
            <a:r>
              <a:rPr sz="1200" b="0">
                <a:solidFill>
                  <a:srgbClr val="7EC699"/>
                </a:solidFill>
                <a:latin typeface="Consolas"/>
              </a:rPr>
              <a:t>-- 사용자별 세션 수(동일 사용자로 다중 세션 가능)</a:t>
            </a:r>
          </a:p>
          <a:p>
            <a:pPr>
              <a:spcAft>
                <a:spcPts val="100"/>
              </a:spcAft>
            </a:pPr>
            <a:r>
              <a:rPr sz="1200" b="0">
                <a:solidFill>
                  <a:srgbClr val="E6E6E6"/>
                </a:solidFill>
                <a:latin typeface="Consolas"/>
              </a:rPr>
              <a:t>SQL&gt; SELECT username, count(*) AS session_cnt</a:t>
            </a:r>
          </a:p>
          <a:p>
            <a:pPr>
              <a:spcAft>
                <a:spcPts val="100"/>
              </a:spcAft>
            </a:pPr>
            <a:r>
              <a:rPr sz="1200" b="0">
                <a:solidFill>
                  <a:srgbClr val="E6E6E6"/>
                </a:solidFill>
                <a:latin typeface="Consolas"/>
              </a:rPr>
              <a:t>  2  FROM v$session WHERE username IS NOT NULL</a:t>
            </a:r>
          </a:p>
          <a:p>
            <a:pPr>
              <a:spcAft>
                <a:spcPts val="100"/>
              </a:spcAft>
            </a:pPr>
            <a:r>
              <a:rPr sz="1200" b="0">
                <a:solidFill>
                  <a:srgbClr val="E6E6E6"/>
                </a:solidFill>
                <a:latin typeface="Consolas"/>
              </a:rPr>
              <a:t>  3  GROUP BY username ORDER BY session_cnt DESC;</a:t>
            </a:r>
          </a:p>
          <a:p>
            <a:pPr>
              <a:spcAft>
                <a:spcPts val="100"/>
              </a:spcAft>
            </a:pPr>
            <a:r>
              <a:rPr sz="1200" b="0">
                <a:solidFill>
                  <a:srgbClr val="E6E6E6"/>
                </a:solidFill>
                <a:latin typeface="Consolas"/>
              </a:rPr>
              <a:t> </a:t>
            </a:r>
          </a:p>
          <a:p>
            <a:pPr>
              <a:spcAft>
                <a:spcPts val="100"/>
              </a:spcAft>
            </a:pPr>
            <a:r>
              <a:rPr sz="1200" b="0">
                <a:solidFill>
                  <a:srgbClr val="E6E6E6"/>
                </a:solidFill>
                <a:latin typeface="Consolas"/>
              </a:rPr>
              <a:t>USERNAME     SESSION_CNT</a:t>
            </a:r>
          </a:p>
          <a:p>
            <a:pPr>
              <a:spcAft>
                <a:spcPts val="100"/>
              </a:spcAft>
            </a:pPr>
            <a:r>
              <a:rPr sz="1200" b="0">
                <a:solidFill>
                  <a:srgbClr val="7EC699"/>
                </a:solidFill>
                <a:latin typeface="Consolas"/>
              </a:rPr>
              <a:t>------------ -----------</a:t>
            </a:r>
          </a:p>
          <a:p>
            <a:pPr>
              <a:spcAft>
                <a:spcPts val="100"/>
              </a:spcAft>
            </a:pPr>
            <a:r>
              <a:rPr sz="1200" b="0">
                <a:solidFill>
                  <a:srgbClr val="E6E6E6"/>
                </a:solidFill>
                <a:latin typeface="Consolas"/>
              </a:rPr>
              <a:t>HR                     3</a:t>
            </a:r>
          </a:p>
          <a:p>
            <a:pPr>
              <a:spcAft>
                <a:spcPts val="100"/>
              </a:spcAft>
            </a:pPr>
            <a:r>
              <a:rPr sz="1200" b="0">
                <a:solidFill>
                  <a:srgbClr val="E6E6E6"/>
                </a:solidFill>
                <a:latin typeface="Consolas"/>
              </a:rPr>
              <a:t>SYS                    2</a:t>
            </a:r>
          </a:p>
          <a:p>
            <a:pPr>
              <a:spcAft>
                <a:spcPts val="100"/>
              </a:spcAft>
            </a:pPr>
            <a:r>
              <a:rPr sz="1200" b="0">
                <a:solidFill>
                  <a:srgbClr val="E6E6E6"/>
                </a:solidFill>
                <a:latin typeface="Consolas"/>
              </a:rPr>
              <a:t> </a:t>
            </a:r>
          </a:p>
          <a:p>
            <a:pPr>
              <a:spcAft>
                <a:spcPts val="100"/>
              </a:spcAft>
            </a:pPr>
            <a:r>
              <a:rPr sz="1200" b="0">
                <a:solidFill>
                  <a:srgbClr val="7EC699"/>
                </a:solidFill>
                <a:latin typeface="Consolas"/>
              </a:rPr>
              <a:t>-- 내 세션의 서버 방식(DEDICATED/SHARED) 확인</a:t>
            </a:r>
          </a:p>
          <a:p>
            <a:pPr>
              <a:spcAft>
                <a:spcPts val="100"/>
              </a:spcAft>
            </a:pPr>
            <a:r>
              <a:rPr sz="1200" b="0">
                <a:solidFill>
                  <a:srgbClr val="E6E6E6"/>
                </a:solidFill>
                <a:latin typeface="Consolas"/>
              </a:rPr>
              <a:t>SQL&gt; SELECT sid, server, username FROM v$session</a:t>
            </a:r>
          </a:p>
          <a:p>
            <a:pPr>
              <a:spcAft>
                <a:spcPts val="100"/>
              </a:spcAft>
            </a:pPr>
            <a:r>
              <a:rPr sz="1200" b="0">
                <a:solidFill>
                  <a:srgbClr val="E6E6E6"/>
                </a:solidFill>
                <a:latin typeface="Consolas"/>
              </a:rPr>
              <a:t>  2  WHERE sid = SYS_CONTEXT('USERENV','SID');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Net Services 개요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클라이언트/미들티어 → 서버 네트워크 연결을 가능하게 함</a:t>
            </a:r>
          </a:p>
          <a:p>
            <a:pPr>
              <a:spcAft>
                <a:spcPts val="600"/>
              </a:spcAft>
            </a:pPr>
            <a:r>
              <a:rPr sz="1600" b="0">
                <a:solidFill>
                  <a:srgbClr val="C5CED6"/>
                </a:solidFill>
                <a:latin typeface="Malgun Gothic"/>
              </a:rPr>
              <a:t>•  연결 확립·유지 + 메시지 교환(데이터 운반자)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Oracle Net의 역할 — 데이터 운반자</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연결 확립(establish) + 유지(maintain) + 메시지 교환(exchange)</a:t>
            </a:r>
          </a:p>
          <a:p>
            <a:pPr>
              <a:spcAft>
                <a:spcPts val="700"/>
              </a:spcAft>
            </a:pPr>
            <a:r>
              <a:rPr sz="1800" b="0">
                <a:solidFill>
                  <a:srgbClr val="202830"/>
                </a:solidFill>
                <a:latin typeface="Malgun Gothic"/>
              </a:rPr>
              <a:t>•  SQL 문을 서버로, 결과를 애플리케이션으로 실어 나름</a:t>
            </a:r>
          </a:p>
          <a:p>
            <a:pPr>
              <a:spcAft>
                <a:spcPts val="700"/>
              </a:spcAft>
            </a:pPr>
            <a:r>
              <a:rPr sz="1800" b="0">
                <a:solidFill>
                  <a:srgbClr val="202830"/>
                </a:solidFill>
                <a:latin typeface="Malgun Gothic"/>
              </a:rPr>
              <a:t>•  클라이언트 측: 데이터베이스 연결 담당 백그라운드 컴포넌트(라이브러리)</a:t>
            </a:r>
          </a:p>
          <a:p>
            <a:pPr>
              <a:spcAft>
                <a:spcPts val="700"/>
              </a:spcAft>
            </a:pPr>
            <a:r>
              <a:rPr sz="1800" b="0">
                <a:solidFill>
                  <a:srgbClr val="202830"/>
                </a:solidFill>
                <a:latin typeface="Malgun Gothic"/>
              </a:rPr>
              <a:t>•  서버 측: 능동적 프로세스인 Oracle Net Listener 포함</a:t>
            </a:r>
          </a:p>
          <a:p>
            <a:pPr lvl="1">
              <a:spcAft>
                <a:spcPts val="700"/>
              </a:spcAft>
            </a:pPr>
            <a:r>
              <a:rPr sz="1600" b="0">
                <a:solidFill>
                  <a:srgbClr val="5A6672"/>
                </a:solidFill>
                <a:latin typeface="Malgun Gothic"/>
              </a:rPr>
              <a:t>    –  리스너가 DB와 외부 애플리케이션 간 연결을 조율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클라이언트 — 리스너 — 서버 연결 흐름</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① 클라이언트가 접속 문자열(user/pw@식별자) 제출</a:t>
            </a:r>
          </a:p>
          <a:p>
            <a:pPr>
              <a:spcAft>
                <a:spcPts val="700"/>
              </a:spcAft>
            </a:pPr>
            <a:r>
              <a:rPr sz="1800" b="0">
                <a:solidFill>
                  <a:srgbClr val="202830"/>
                </a:solidFill>
                <a:latin typeface="Malgun Gothic"/>
              </a:rPr>
              <a:t>•  ② 클라 측 Oracle Net이 네이밍 방법으로 연결 기술자로 해석</a:t>
            </a:r>
          </a:p>
          <a:p>
            <a:pPr>
              <a:spcAft>
                <a:spcPts val="700"/>
              </a:spcAft>
            </a:pPr>
            <a:r>
              <a:rPr sz="1800" b="0">
                <a:solidFill>
                  <a:srgbClr val="202830"/>
                </a:solidFill>
                <a:latin typeface="Malgun Gothic"/>
              </a:rPr>
              <a:t>•  ③ TCP/IP로 서버의 리스너에 연결 요청 도착</a:t>
            </a:r>
          </a:p>
          <a:p>
            <a:pPr>
              <a:spcAft>
                <a:spcPts val="700"/>
              </a:spcAft>
            </a:pPr>
            <a:r>
              <a:rPr sz="1800" b="0">
                <a:solidFill>
                  <a:srgbClr val="202830"/>
                </a:solidFill>
                <a:latin typeface="Malgun Gothic"/>
              </a:rPr>
              <a:t>•  ④ 리스너가 서버 프로세스(또는 디스패처)로 요청 전달(hand-off)</a:t>
            </a:r>
          </a:p>
          <a:p>
            <a:pPr>
              <a:spcAft>
                <a:spcPts val="700"/>
              </a:spcAft>
            </a:pPr>
            <a:r>
              <a:rPr sz="1800" b="0">
                <a:solidFill>
                  <a:srgbClr val="202830"/>
                </a:solidFill>
                <a:latin typeface="Malgun Gothic"/>
              </a:rPr>
              <a:t>•  ⑤ 이후 클라 ↔ 서버 프로세스가 직접 메시지 교환, 리스너는 다음 대기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연결 기술자(Connect Descriptor)</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넷 서비스 이름 → 상세 주소</a:t>
            </a:r>
          </a:p>
        </p:txBody>
      </p:sp>
      <p:sp>
        <p:nvSpPr>
          <p:cNvPr id="5" name="Rectangle 4"/>
          <p:cNvSpPr/>
          <p:nvPr/>
        </p:nvSpPr>
        <p:spPr>
          <a:xfrm>
            <a:off x="640080" y="1691640"/>
            <a:ext cx="10881360" cy="3474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3255264"/>
          </a:xfrm>
          <a:prstGeom prst="rect">
            <a:avLst/>
          </a:prstGeom>
          <a:noFill/>
        </p:spPr>
        <p:txBody>
          <a:bodyPr wrap="square">
            <a:spAutoFit/>
          </a:bodyPr>
          <a:lstStyle/>
          <a:p>
            <a:pPr>
              <a:spcAft>
                <a:spcPts val="100"/>
              </a:spcAft>
            </a:pPr>
            <a:r>
              <a:rPr sz="1200" b="0">
                <a:solidFill>
                  <a:srgbClr val="7EC699"/>
                </a:solidFill>
                <a:latin typeface="Consolas"/>
              </a:rPr>
              <a:t>-- tnsnames.ora의 넷 서비스 이름 sales</a:t>
            </a:r>
          </a:p>
          <a:p>
            <a:pPr>
              <a:spcAft>
                <a:spcPts val="100"/>
              </a:spcAft>
            </a:pPr>
            <a:r>
              <a:rPr sz="1200" b="0">
                <a:solidFill>
                  <a:srgbClr val="E6E6E6"/>
                </a:solidFill>
                <a:latin typeface="Consolas"/>
              </a:rPr>
              <a:t>sales =</a:t>
            </a:r>
          </a:p>
          <a:p>
            <a:pPr>
              <a:spcAft>
                <a:spcPts val="100"/>
              </a:spcAft>
            </a:pPr>
            <a:r>
              <a:rPr sz="1200" b="0">
                <a:solidFill>
                  <a:srgbClr val="E6E6E6"/>
                </a:solidFill>
                <a:latin typeface="Consolas"/>
              </a:rPr>
              <a:t>  (DESCRIPTION =</a:t>
            </a:r>
          </a:p>
          <a:p>
            <a:pPr>
              <a:spcAft>
                <a:spcPts val="100"/>
              </a:spcAft>
            </a:pPr>
            <a:r>
              <a:rPr sz="1200" b="0">
                <a:solidFill>
                  <a:srgbClr val="E6E6E6"/>
                </a:solidFill>
                <a:latin typeface="Consolas"/>
              </a:rPr>
              <a:t>    (ADDRESS = (PROTOCOL=TCP)(HOST=dbsvr)(PORT=1521))</a:t>
            </a:r>
          </a:p>
          <a:p>
            <a:pPr>
              <a:spcAft>
                <a:spcPts val="100"/>
              </a:spcAft>
            </a:pPr>
            <a:r>
              <a:rPr sz="1200" b="0">
                <a:solidFill>
                  <a:srgbClr val="E6E6E6"/>
                </a:solidFill>
                <a:latin typeface="Consolas"/>
              </a:rPr>
              <a:t>    (CONNECT_DATA =</a:t>
            </a:r>
          </a:p>
          <a:p>
            <a:pPr>
              <a:spcAft>
                <a:spcPts val="100"/>
              </a:spcAft>
            </a:pPr>
            <a:r>
              <a:rPr sz="1200" b="0">
                <a:solidFill>
                  <a:srgbClr val="E6E6E6"/>
                </a:solidFill>
                <a:latin typeface="Consolas"/>
              </a:rPr>
              <a:t>      (SERVER = DEDICATED)</a:t>
            </a:r>
          </a:p>
          <a:p>
            <a:pPr>
              <a:spcAft>
                <a:spcPts val="100"/>
              </a:spcAft>
            </a:pPr>
            <a:r>
              <a:rPr sz="1200" b="0">
                <a:solidFill>
                  <a:srgbClr val="E6E6E6"/>
                </a:solidFill>
                <a:latin typeface="Consolas"/>
              </a:rPr>
              <a:t>      (SERVICE_NAME = salespdb.example.com)))</a:t>
            </a:r>
          </a:p>
          <a:p>
            <a:pPr>
              <a:spcAft>
                <a:spcPts val="100"/>
              </a:spcAft>
            </a:pPr>
            <a:r>
              <a:rPr sz="1200" b="0">
                <a:solidFill>
                  <a:srgbClr val="E6E6E6"/>
                </a:solidFill>
                <a:latin typeface="Consolas"/>
              </a:rPr>
              <a:t> </a:t>
            </a:r>
          </a:p>
          <a:p>
            <a:pPr>
              <a:spcAft>
                <a:spcPts val="100"/>
              </a:spcAft>
            </a:pPr>
            <a:r>
              <a:rPr sz="1200" b="0">
                <a:solidFill>
                  <a:srgbClr val="7EC699"/>
                </a:solidFill>
                <a:latin typeface="Consolas"/>
              </a:rPr>
              <a:t>-- Easy Connect(별도 파일 없이): host[:port]/service</a:t>
            </a:r>
          </a:p>
          <a:p>
            <a:pPr>
              <a:spcAft>
                <a:spcPts val="100"/>
              </a:spcAft>
            </a:pPr>
            <a:r>
              <a:rPr sz="1200" b="0">
                <a:solidFill>
                  <a:srgbClr val="E6E6E6"/>
                </a:solidFill>
                <a:latin typeface="Consolas"/>
              </a:rPr>
              <a:t>$ sqlplus hr@dbsvr:1521/salespdb.example.com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Net Services의 확장 용도</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가장 일반적 용도: 들어오는 데이터베이스 연결 허용</a:t>
            </a:r>
          </a:p>
          <a:p>
            <a:pPr>
              <a:spcAft>
                <a:spcPts val="700"/>
              </a:spcAft>
            </a:pPr>
            <a:r>
              <a:rPr sz="1800" b="0">
                <a:solidFill>
                  <a:srgbClr val="202830"/>
                </a:solidFill>
                <a:latin typeface="Malgun Gothic"/>
              </a:rPr>
              <a:t>•  외부 코드 라이브러리(EXTPROC) 접근 허용 구성 가능</a:t>
            </a:r>
          </a:p>
          <a:p>
            <a:pPr>
              <a:spcAft>
                <a:spcPts val="700"/>
              </a:spcAft>
            </a:pPr>
            <a:r>
              <a:rPr sz="1800" b="0">
                <a:solidFill>
                  <a:srgbClr val="202830"/>
                </a:solidFill>
                <a:latin typeface="Malgun Gothic"/>
              </a:rPr>
              <a:t>•  Oracle Heterogeneous Services로 비Oracle 데이터 소스 연결</a:t>
            </a:r>
          </a:p>
          <a:p>
            <a:pPr>
              <a:spcAft>
                <a:spcPts val="700"/>
              </a:spcAft>
            </a:pPr>
            <a:r>
              <a:rPr sz="1800" b="0">
                <a:solidFill>
                  <a:srgbClr val="202830"/>
                </a:solidFill>
                <a:latin typeface="Malgun Gothic"/>
              </a:rPr>
              <a:t>•  Oracle Net Foundation Layer(메시지) + Protocol Support Layer(전송)로 구성</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Net Services의 구성요소</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리스너 · 네이밍 방법 · 넷 서비스 이름 · 프로파일</a:t>
            </a:r>
          </a:p>
          <a:p>
            <a:pPr>
              <a:spcAft>
                <a:spcPts val="600"/>
              </a:spcAft>
            </a:pPr>
            <a:r>
              <a:rPr sz="1600" b="0">
                <a:solidFill>
                  <a:srgbClr val="C5CED6"/>
                </a:solidFill>
                <a:latin typeface="Malgun Gothic"/>
              </a:rPr>
              <a:t>•  각 구성요소마다 대응하는 .ora 구성 파일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구성요소 (1) 리스너 · 네이밍 방법</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리스너(Listeners): 들어오는 연결 요청 수신, 서버 트래픽 관리</a:t>
            </a:r>
          </a:p>
          <a:p>
            <a:pPr lvl="1">
              <a:spcAft>
                <a:spcPts val="700"/>
              </a:spcAft>
            </a:pPr>
            <a:r>
              <a:rPr sz="1600" b="0">
                <a:solidFill>
                  <a:srgbClr val="5A6672"/>
                </a:solidFill>
                <a:latin typeface="Malgun Gothic"/>
              </a:rPr>
              <a:t>    –  구성=이름 지정 + 프로토콜 주소 + 수신 서비스</a:t>
            </a:r>
          </a:p>
          <a:p>
            <a:pPr lvl="1">
              <a:spcAft>
                <a:spcPts val="700"/>
              </a:spcAft>
            </a:pPr>
            <a:r>
              <a:rPr sz="1600" b="0">
                <a:solidFill>
                  <a:srgbClr val="5A6672"/>
                </a:solidFill>
                <a:latin typeface="Malgun Gothic"/>
              </a:rPr>
              <a:t>    –  구성 파일: listener.ora</a:t>
            </a:r>
          </a:p>
          <a:p>
            <a:pPr>
              <a:spcAft>
                <a:spcPts val="700"/>
              </a:spcAft>
            </a:pPr>
            <a:r>
              <a:rPr sz="1800" b="0">
                <a:solidFill>
                  <a:srgbClr val="202830"/>
                </a:solidFill>
                <a:latin typeface="Malgun Gothic"/>
              </a:rPr>
              <a:t>•  네이밍 방법(Naming methods): 연결 식별자 → 연결 기술자 해석 방식</a:t>
            </a:r>
          </a:p>
          <a:p>
            <a:pPr lvl="1">
              <a:spcAft>
                <a:spcPts val="700"/>
              </a:spcAft>
            </a:pPr>
            <a:r>
              <a:rPr sz="1600" b="0">
                <a:solidFill>
                  <a:srgbClr val="5A6672"/>
                </a:solidFill>
                <a:latin typeface="Malgun Gothic"/>
              </a:rPr>
              <a:t>    –  Easy Connect, 로컬(tnsnames.ora), 디렉터리(LDAP) 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구성요소 (2) 넷 서비스 이름 · 프로파일</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넷 서비스 이름(Net service name): 서비스의 단순 이름(연결 식별자)</a:t>
            </a:r>
          </a:p>
          <a:p>
            <a:pPr lvl="1">
              <a:spcAft>
                <a:spcPts val="700"/>
              </a:spcAft>
            </a:pPr>
            <a:r>
              <a:rPr sz="1600" b="0">
                <a:solidFill>
                  <a:srgbClr val="5A6672"/>
                </a:solidFill>
                <a:latin typeface="Malgun Gothic"/>
              </a:rPr>
              <a:t>    –  연결 기술자로 해석됨, 로컬 구성은 tnsnames.ora</a:t>
            </a:r>
          </a:p>
          <a:p>
            <a:pPr lvl="1">
              <a:spcAft>
                <a:spcPts val="700"/>
              </a:spcAft>
            </a:pPr>
            <a:r>
              <a:rPr sz="1600" b="0">
                <a:solidFill>
                  <a:srgbClr val="5A6672"/>
                </a:solidFill>
                <a:latin typeface="Malgun Gothic"/>
              </a:rPr>
              <a:t>    –  짧은 이름만 기억 → 주소 변경 시 파일만 수정</a:t>
            </a:r>
          </a:p>
          <a:p>
            <a:pPr>
              <a:spcAft>
                <a:spcPts val="700"/>
              </a:spcAft>
            </a:pPr>
            <a:r>
              <a:rPr sz="1800" b="0">
                <a:solidFill>
                  <a:srgbClr val="202830"/>
                </a:solidFill>
                <a:latin typeface="Malgun Gothic"/>
              </a:rPr>
              <a:t>•  프로파일(Profiles): Net 기능 활성화·구성 선호도 파라미터 모음</a:t>
            </a:r>
          </a:p>
          <a:p>
            <a:pPr lvl="1">
              <a:spcAft>
                <a:spcPts val="700"/>
              </a:spcAft>
            </a:pPr>
            <a:r>
              <a:rPr sz="1600" b="0">
                <a:solidFill>
                  <a:srgbClr val="5A6672"/>
                </a:solidFill>
                <a:latin typeface="Malgun Gothic"/>
              </a:rPr>
              <a:t>    –  기본 도메인·네이밍 우선순위·로깅·타임아웃 등</a:t>
            </a:r>
          </a:p>
          <a:p>
            <a:pPr lvl="1">
              <a:spcAft>
                <a:spcPts val="700"/>
              </a:spcAft>
            </a:pPr>
            <a:r>
              <a:rPr sz="1600" b="0">
                <a:solidFill>
                  <a:srgbClr val="5A6672"/>
                </a:solidFill>
                <a:latin typeface="Malgun Gothic"/>
              </a:rPr>
              <a:t>    –  구성 파일: sqlnet.ora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구성요소와 구성 파일 정리</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리스너 → listener.ora (서버 측)</a:t>
            </a:r>
          </a:p>
          <a:p>
            <a:pPr>
              <a:spcAft>
                <a:spcPts val="700"/>
              </a:spcAft>
            </a:pPr>
            <a:r>
              <a:rPr sz="1800" b="0">
                <a:solidFill>
                  <a:srgbClr val="202830"/>
                </a:solidFill>
                <a:latin typeface="Malgun Gothic"/>
              </a:rPr>
              <a:t>•  넷 서비스 이름 → tnsnames.ora (주로 클라이언트 측)</a:t>
            </a:r>
          </a:p>
          <a:p>
            <a:pPr>
              <a:spcAft>
                <a:spcPts val="700"/>
              </a:spcAft>
            </a:pPr>
            <a:r>
              <a:rPr sz="1800" b="0">
                <a:solidFill>
                  <a:srgbClr val="202830"/>
                </a:solidFill>
                <a:latin typeface="Malgun Gothic"/>
              </a:rPr>
              <a:t>•  네이밍 방법 우선순위 · 프로파일 → sqlnet.ora (양측)</a:t>
            </a:r>
          </a:p>
          <a:p>
            <a:pPr>
              <a:spcAft>
                <a:spcPts val="700"/>
              </a:spcAft>
            </a:pPr>
            <a:r>
              <a:rPr sz="1800" b="0">
                <a:solidFill>
                  <a:srgbClr val="202830"/>
                </a:solidFill>
                <a:latin typeface="Malgun Gothic"/>
              </a:rPr>
              <a:t>•  기본 위치: $ORACLE_HOME/network/admin</a:t>
            </a:r>
          </a:p>
          <a:p>
            <a:pPr>
              <a:spcAft>
                <a:spcPts val="700"/>
              </a:spcAft>
            </a:pPr>
            <a:r>
              <a:rPr sz="1800" b="0">
                <a:solidFill>
                  <a:srgbClr val="202830"/>
                </a:solidFill>
                <a:latin typeface="Malgun Gothic"/>
              </a:rPr>
              <a:t>•  TNS_ADMIN 환경변수로 위치 변경 가능</a:t>
            </a:r>
          </a:p>
          <a:p>
            <a:pPr>
              <a:spcAft>
                <a:spcPts val="700"/>
              </a:spcAft>
            </a:pPr>
            <a:r>
              <a:rPr sz="1800" b="0">
                <a:solidFill>
                  <a:srgbClr val="202830"/>
                </a:solidFill>
                <a:latin typeface="Malgun Gothic"/>
              </a:rPr>
              <a:t>•  설치 시 Net Configuration Assistant가 리스너·네이밍·tnsnames.ora 구성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Net Services 관리 도구</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EM Cloud Control · Oracle Net Manager</a:t>
            </a:r>
          </a:p>
          <a:p>
            <a:pPr>
              <a:spcAft>
                <a:spcPts val="600"/>
              </a:spcAft>
            </a:pPr>
            <a:r>
              <a:rPr sz="1600" b="0">
                <a:solidFill>
                  <a:srgbClr val="C5CED6"/>
                </a:solidFill>
                <a:latin typeface="Malgun Gothic"/>
              </a:rPr>
              <a:t>•  Net Configuration Assistant · Listener Control(lsnrctl)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EM Cloud Control · Oracle Net Manager</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EM Cloud Control: Net Services 통합 관리 환경</a:t>
            </a:r>
          </a:p>
          <a:p>
            <a:pPr lvl="1">
              <a:spcAft>
                <a:spcPts val="700"/>
              </a:spcAft>
            </a:pPr>
            <a:r>
              <a:rPr sz="1600" b="0">
                <a:solidFill>
                  <a:srgbClr val="5A6672"/>
                </a:solidFill>
                <a:latin typeface="Malgun Gothic"/>
              </a:rPr>
              <a:t>    –  여러 파일 시스템의 모든 Oracle 홈을 한 콘솔에서 구성</a:t>
            </a:r>
          </a:p>
          <a:p>
            <a:pPr lvl="1">
              <a:spcAft>
                <a:spcPts val="700"/>
              </a:spcAft>
            </a:pPr>
            <a:r>
              <a:rPr sz="1600" b="0">
                <a:solidFill>
                  <a:srgbClr val="5A6672"/>
                </a:solidFill>
                <a:latin typeface="Malgun Gothic"/>
              </a:rPr>
              <a:t>    –  리스너 관리, 대규모·다중 서버 중앙 관리에 적합</a:t>
            </a:r>
          </a:p>
          <a:p>
            <a:pPr>
              <a:spcAft>
                <a:spcPts val="700"/>
              </a:spcAft>
            </a:pPr>
            <a:r>
              <a:rPr sz="1800" b="0">
                <a:solidFill>
                  <a:srgbClr val="202830"/>
                </a:solidFill>
                <a:latin typeface="Malgun Gothic"/>
              </a:rPr>
              <a:t>•  Oracle Net Manager: 로컬 호스트 Oracle 홈 구성 GUI</a:t>
            </a:r>
          </a:p>
          <a:p>
            <a:pPr lvl="1">
              <a:spcAft>
                <a:spcPts val="700"/>
              </a:spcAft>
            </a:pPr>
            <a:r>
              <a:rPr sz="1600" b="0">
                <a:solidFill>
                  <a:srgbClr val="5A6672"/>
                </a:solidFill>
                <a:latin typeface="Malgun Gothic"/>
              </a:rPr>
              <a:t>    –  마법사 형태로 리스너·넷 서비스 이름·프로파일 편집</a:t>
            </a:r>
          </a:p>
          <a:p>
            <a:pPr lvl="1">
              <a:spcAft>
                <a:spcPts val="700"/>
              </a:spcAft>
            </a:pPr>
            <a:r>
              <a:rPr sz="1600" b="0">
                <a:solidFill>
                  <a:srgbClr val="5A6672"/>
                </a:solidFill>
                <a:latin typeface="Malgun Gothic"/>
              </a:rPr>
              <a:t>    –  결과가 listener.ora/tnsnames.ora/sqlnet.ora에 반영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Net Configuration Assistant · lsnrctl</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Net Configuration Assistant(NETCA): 설치 시 OUI가 자동 실행</a:t>
            </a:r>
          </a:p>
          <a:p>
            <a:pPr lvl="1">
              <a:spcAft>
                <a:spcPts val="700"/>
              </a:spcAft>
            </a:pPr>
            <a:r>
              <a:rPr sz="1600" b="0">
                <a:solidFill>
                  <a:srgbClr val="5A6672"/>
                </a:solidFill>
                <a:latin typeface="Malgun Gothic"/>
              </a:rPr>
              <a:t>    –  일반 설치: LISTENER(TCP/IP)라는 리스너 자동 구성</a:t>
            </a:r>
          </a:p>
          <a:p>
            <a:pPr lvl="1">
              <a:spcAft>
                <a:spcPts val="700"/>
              </a:spcAft>
            </a:pPr>
            <a:r>
              <a:rPr sz="1600" b="0">
                <a:solidFill>
                  <a:srgbClr val="5A6672"/>
                </a:solidFill>
                <a:latin typeface="Malgun Gothic"/>
              </a:rPr>
              <a:t>    –  커스텀 설치: 리스너 이름·프로토콜 주소를 프롬프트로 입력</a:t>
            </a:r>
          </a:p>
          <a:p>
            <a:pPr>
              <a:spcAft>
                <a:spcPts val="700"/>
              </a:spcAft>
            </a:pPr>
            <a:r>
              <a:rPr sz="1800" b="0">
                <a:solidFill>
                  <a:srgbClr val="202830"/>
                </a:solidFill>
                <a:latin typeface="Malgun Gothic"/>
              </a:rPr>
              <a:t>•  Listener Control Utility(lsnrctl): 리스너 시작·중지·상태 확인</a:t>
            </a:r>
          </a:p>
          <a:p>
            <a:pPr lvl="1">
              <a:spcAft>
                <a:spcPts val="700"/>
              </a:spcAft>
            </a:pPr>
            <a:r>
              <a:rPr sz="1600" b="0">
                <a:solidFill>
                  <a:srgbClr val="5A6672"/>
                </a:solidFill>
                <a:latin typeface="Malgun Gothic"/>
              </a:rPr>
              <a:t>    –  커맨드라인, DBA가 리스너를 다룰 때 가장 자주 사용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Listener Control Utility</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lsnrctl 기본 명령</a:t>
            </a:r>
          </a:p>
        </p:txBody>
      </p:sp>
      <p:sp>
        <p:nvSpPr>
          <p:cNvPr id="5" name="Rectangle 4"/>
          <p:cNvSpPr/>
          <p:nvPr/>
        </p:nvSpPr>
        <p:spPr>
          <a:xfrm>
            <a:off x="640080" y="1691640"/>
            <a:ext cx="10881360" cy="2231136"/>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2011680"/>
          </a:xfrm>
          <a:prstGeom prst="rect">
            <a:avLst/>
          </a:prstGeom>
          <a:noFill/>
        </p:spPr>
        <p:txBody>
          <a:bodyPr wrap="square">
            <a:spAutoFit/>
          </a:bodyPr>
          <a:lstStyle/>
          <a:p>
            <a:pPr>
              <a:spcAft>
                <a:spcPts val="100"/>
              </a:spcAft>
            </a:pPr>
            <a:r>
              <a:rPr sz="1200" b="0">
                <a:solidFill>
                  <a:srgbClr val="E6E6E6"/>
                </a:solidFill>
                <a:latin typeface="Consolas"/>
              </a:rPr>
              <a:t>$ lsnrctl status          -- 상태·대기 주소·등록 서비스 확인</a:t>
            </a:r>
          </a:p>
          <a:p>
            <a:pPr>
              <a:spcAft>
                <a:spcPts val="100"/>
              </a:spcAft>
            </a:pPr>
            <a:r>
              <a:rPr sz="1200" b="0">
                <a:solidFill>
                  <a:srgbClr val="E6E6E6"/>
                </a:solidFill>
                <a:latin typeface="Consolas"/>
              </a:rPr>
              <a:t>$ lsnrctl start           -- 리스너 시작(기본 LISTENER)</a:t>
            </a:r>
          </a:p>
          <a:p>
            <a:pPr>
              <a:spcAft>
                <a:spcPts val="100"/>
              </a:spcAft>
            </a:pPr>
            <a:r>
              <a:rPr sz="1200" b="0">
                <a:solidFill>
                  <a:srgbClr val="E6E6E6"/>
                </a:solidFill>
                <a:latin typeface="Consolas"/>
              </a:rPr>
              <a:t>$ lsnrctl start lsnr_sales-- 특정 이름 리스너 시작</a:t>
            </a:r>
          </a:p>
          <a:p>
            <a:pPr>
              <a:spcAft>
                <a:spcPts val="100"/>
              </a:spcAft>
            </a:pPr>
            <a:r>
              <a:rPr sz="1200" b="0">
                <a:solidFill>
                  <a:srgbClr val="E6E6E6"/>
                </a:solidFill>
                <a:latin typeface="Consolas"/>
              </a:rPr>
              <a:t>$ lsnrctl stop            -- 리스너 중지</a:t>
            </a:r>
          </a:p>
          <a:p>
            <a:pPr>
              <a:spcAft>
                <a:spcPts val="100"/>
              </a:spcAft>
            </a:pPr>
            <a:r>
              <a:rPr sz="1200" b="0">
                <a:solidFill>
                  <a:srgbClr val="E6E6E6"/>
                </a:solidFill>
                <a:latin typeface="Consolas"/>
              </a:rPr>
              <a:t>$ lsnrctl services        -- 서비스 핸들러(전용/디스패처) 상세</a:t>
            </a:r>
          </a:p>
          <a:p>
            <a:pPr>
              <a:spcAft>
                <a:spcPts val="100"/>
              </a:spcAft>
            </a:pPr>
            <a:r>
              <a:rPr sz="1200" b="0">
                <a:solidFill>
                  <a:srgbClr val="E6E6E6"/>
                </a:solidFill>
                <a:latin typeface="Consolas"/>
              </a:rPr>
              <a:t>$ lsnrctl reload          -- listener.ora 재적용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Net Listener 개요와 구성 파일</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비로컬 사용자 연결의 게이트웨이</a:t>
            </a:r>
          </a:p>
          <a:p>
            <a:pPr>
              <a:spcAft>
                <a:spcPts val="600"/>
              </a:spcAft>
            </a:pPr>
            <a:r>
              <a:rPr sz="1600" b="0">
                <a:solidFill>
                  <a:srgbClr val="C5CED6"/>
                </a:solidFill>
                <a:latin typeface="Malgun Gothic"/>
              </a:rPr>
              <a:t>•  단일 리스너가 여러 인스턴스·수천 연결 서비스 가능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리스너란 무엇인가</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모든 비로컬 사용자 연결의 Oracle 인스턴스행 게이트웨이</a:t>
            </a:r>
          </a:p>
          <a:p>
            <a:pPr lvl="1">
              <a:spcAft>
                <a:spcPts val="700"/>
              </a:spcAft>
            </a:pPr>
            <a:r>
              <a:rPr sz="1600" b="0">
                <a:solidFill>
                  <a:srgbClr val="5A6672"/>
                </a:solidFill>
                <a:latin typeface="Malgun Gothic"/>
              </a:rPr>
              <a:t>    –  비로컬 = 네트워크(TCP)를 거쳐 들어오는 모든 접속</a:t>
            </a:r>
          </a:p>
          <a:p>
            <a:pPr>
              <a:spcAft>
                <a:spcPts val="700"/>
              </a:spcAft>
            </a:pPr>
            <a:r>
              <a:rPr sz="1800" b="0">
                <a:solidFill>
                  <a:srgbClr val="202830"/>
                </a:solidFill>
                <a:latin typeface="Malgun Gothic"/>
              </a:rPr>
              <a:t>•  단일 리스너가 여러 DB 인스턴스와 수천 개 연결 서비스</a:t>
            </a:r>
          </a:p>
          <a:p>
            <a:pPr>
              <a:spcAft>
                <a:spcPts val="700"/>
              </a:spcAft>
            </a:pPr>
            <a:r>
              <a:rPr sz="1800" b="0">
                <a:solidFill>
                  <a:srgbClr val="202830"/>
                </a:solidFill>
                <a:latin typeface="Malgun Gothic"/>
              </a:rPr>
              <a:t>•  구성·로그 위치 지정: EM Cloud Control 또는 Net Manager</a:t>
            </a:r>
          </a:p>
          <a:p>
            <a:pPr>
              <a:spcAft>
                <a:spcPts val="700"/>
              </a:spcAft>
            </a:pPr>
            <a:r>
              <a:rPr sz="1800" b="0">
                <a:solidFill>
                  <a:srgbClr val="202830"/>
                </a:solidFill>
                <a:latin typeface="Malgun Gothic"/>
              </a:rPr>
              <a:t>•  리스너는 DB의 일부가 아닌 별도 프로세스(독립적 생사)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리스너 구성 파일</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&lt;ORACLE_HOME&gt;/network/admin/listener.ora</a:t>
            </a:r>
          </a:p>
          <a:p>
            <a:pPr lvl="1">
              <a:spcAft>
                <a:spcPts val="700"/>
              </a:spcAft>
            </a:pPr>
            <a:r>
              <a:rPr sz="1600" b="0">
                <a:solidFill>
                  <a:srgbClr val="5A6672"/>
                </a:solidFill>
                <a:latin typeface="Malgun Gothic"/>
              </a:rPr>
              <a:t>    –  리스너 이름·프로토콜 주소·(정적) 서비스 목록</a:t>
            </a:r>
          </a:p>
          <a:p>
            <a:pPr>
              <a:spcAft>
                <a:spcPts val="700"/>
              </a:spcAft>
            </a:pPr>
            <a:r>
              <a:rPr sz="1800" b="0">
                <a:solidFill>
                  <a:srgbClr val="202830"/>
                </a:solidFill>
                <a:latin typeface="Malgun Gothic"/>
              </a:rPr>
              <a:t>•  &lt;ORACLE_HOME&gt;/network/admin/sqlnet.ora</a:t>
            </a:r>
          </a:p>
          <a:p>
            <a:pPr lvl="1">
              <a:spcAft>
                <a:spcPts val="700"/>
              </a:spcAft>
            </a:pPr>
            <a:r>
              <a:rPr sz="1600" b="0">
                <a:solidFill>
                  <a:srgbClr val="5A6672"/>
                </a:solidFill>
                <a:latin typeface="Malgun Gothic"/>
              </a:rPr>
              <a:t>    –  프로파일 파라미터(로깅·트레이싱·보안·네이밍 우선순위)</a:t>
            </a:r>
          </a:p>
          <a:p>
            <a:pPr>
              <a:spcAft>
                <a:spcPts val="700"/>
              </a:spcAft>
            </a:pPr>
            <a:r>
              <a:rPr sz="1800" b="0">
                <a:solidFill>
                  <a:srgbClr val="202830"/>
                </a:solidFill>
                <a:latin typeface="Malgun Gothic"/>
              </a:rPr>
              <a:t>•  고급 관리자는 vi/gedit로 직접 편집 가능(백업 후 신중히)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구성 파일 예시</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listener.ora / sqlnet.ora</a:t>
            </a:r>
          </a:p>
        </p:txBody>
      </p:sp>
      <p:sp>
        <p:nvSpPr>
          <p:cNvPr id="5" name="Rectangle 4"/>
          <p:cNvSpPr/>
          <p:nvPr/>
        </p:nvSpPr>
        <p:spPr>
          <a:xfrm>
            <a:off x="640080" y="1691640"/>
            <a:ext cx="10881360" cy="3474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3255264"/>
          </a:xfrm>
          <a:prstGeom prst="rect">
            <a:avLst/>
          </a:prstGeom>
          <a:noFill/>
        </p:spPr>
        <p:txBody>
          <a:bodyPr wrap="square">
            <a:spAutoFit/>
          </a:bodyPr>
          <a:lstStyle/>
          <a:p>
            <a:pPr>
              <a:spcAft>
                <a:spcPts val="100"/>
              </a:spcAft>
            </a:pPr>
            <a:r>
              <a:rPr sz="1200" b="0">
                <a:solidFill>
                  <a:srgbClr val="7EC699"/>
                </a:solidFill>
                <a:latin typeface="Consolas"/>
              </a:rPr>
              <a:t>-- listener.ora (TCP 1521 대기)</a:t>
            </a:r>
          </a:p>
          <a:p>
            <a:pPr>
              <a:spcAft>
                <a:spcPts val="100"/>
              </a:spcAft>
            </a:pPr>
            <a:r>
              <a:rPr sz="1200" b="0">
                <a:solidFill>
                  <a:srgbClr val="E6E6E6"/>
                </a:solidFill>
                <a:latin typeface="Consolas"/>
              </a:rPr>
              <a:t>LISTENER =</a:t>
            </a:r>
          </a:p>
          <a:p>
            <a:pPr>
              <a:spcAft>
                <a:spcPts val="100"/>
              </a:spcAft>
            </a:pPr>
            <a:r>
              <a:rPr sz="1200" b="0">
                <a:solidFill>
                  <a:srgbClr val="E6E6E6"/>
                </a:solidFill>
                <a:latin typeface="Consolas"/>
              </a:rPr>
              <a:t>  (DESCRIPTION_LIST =</a:t>
            </a:r>
          </a:p>
          <a:p>
            <a:pPr>
              <a:spcAft>
                <a:spcPts val="100"/>
              </a:spcAft>
            </a:pPr>
            <a:r>
              <a:rPr sz="1200" b="0">
                <a:solidFill>
                  <a:srgbClr val="E6E6E6"/>
                </a:solidFill>
                <a:latin typeface="Consolas"/>
              </a:rPr>
              <a:t>    (DESCRIPTION =</a:t>
            </a:r>
          </a:p>
          <a:p>
            <a:pPr>
              <a:spcAft>
                <a:spcPts val="100"/>
              </a:spcAft>
            </a:pPr>
            <a:r>
              <a:rPr sz="1200" b="0">
                <a:solidFill>
                  <a:srgbClr val="E6E6E6"/>
                </a:solidFill>
                <a:latin typeface="Consolas"/>
              </a:rPr>
              <a:t>      (ADDRESS=(PROTOCOL=TCP)(HOST=dbsvr)(PORT=1521))</a:t>
            </a:r>
          </a:p>
          <a:p>
            <a:pPr>
              <a:spcAft>
                <a:spcPts val="100"/>
              </a:spcAft>
            </a:pPr>
            <a:r>
              <a:rPr sz="1200" b="0">
                <a:solidFill>
                  <a:srgbClr val="E6E6E6"/>
                </a:solidFill>
                <a:latin typeface="Consolas"/>
              </a:rPr>
              <a:t>      (ADDRESS=(PROTOCOL=IPC)(KEY=EXTPROC1521))))</a:t>
            </a:r>
          </a:p>
          <a:p>
            <a:pPr>
              <a:spcAft>
                <a:spcPts val="100"/>
              </a:spcAft>
            </a:pPr>
            <a:r>
              <a:rPr sz="1200" b="0">
                <a:solidFill>
                  <a:srgbClr val="E6E6E6"/>
                </a:solidFill>
                <a:latin typeface="Consolas"/>
              </a:rPr>
              <a:t> </a:t>
            </a:r>
          </a:p>
          <a:p>
            <a:pPr>
              <a:spcAft>
                <a:spcPts val="100"/>
              </a:spcAft>
            </a:pPr>
            <a:r>
              <a:rPr sz="1200" b="0">
                <a:solidFill>
                  <a:srgbClr val="7EC699"/>
                </a:solidFill>
                <a:latin typeface="Consolas"/>
              </a:rPr>
              <a:t>-- sqlnet.ora (네이밍 우선순위·도메인)</a:t>
            </a:r>
          </a:p>
          <a:p>
            <a:pPr>
              <a:spcAft>
                <a:spcPts val="100"/>
              </a:spcAft>
            </a:pPr>
            <a:r>
              <a:rPr sz="1200" b="0">
                <a:solidFill>
                  <a:srgbClr val="E6E6E6"/>
                </a:solidFill>
                <a:latin typeface="Consolas"/>
              </a:rPr>
              <a:t>NAMES.DIRECTORY_PATH = (EZCONNECT, TNSNAMES)</a:t>
            </a:r>
          </a:p>
          <a:p>
            <a:pPr>
              <a:spcAft>
                <a:spcPts val="100"/>
              </a:spcAft>
            </a:pPr>
            <a:r>
              <a:rPr sz="1200" b="0">
                <a:solidFill>
                  <a:srgbClr val="E6E6E6"/>
                </a:solidFill>
                <a:latin typeface="Consolas"/>
              </a:rPr>
              <a:t>NAMES.DEFAULT_DOMAIN = example.com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기본 리스너 (The Default Listener)</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이름 LISTENER, 자동 생성</a:t>
            </a:r>
          </a:p>
          <a:p>
            <a:pPr>
              <a:spcAft>
                <a:spcPts val="600"/>
              </a:spcAft>
            </a:pPr>
            <a:r>
              <a:rPr sz="1600" b="0">
                <a:solidFill>
                  <a:srgbClr val="C5CED6"/>
                </a:solidFill>
                <a:latin typeface="Malgun Gothic"/>
              </a:rPr>
              <a:t>•  동적 서비스 등록, TCP·포트 1521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LISTENER — 자동 생성 기본 리스너</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DB 생성 중 Net Configuration Assistant가 LISTENER 생성</a:t>
            </a:r>
          </a:p>
          <a:p>
            <a:pPr>
              <a:spcAft>
                <a:spcPts val="700"/>
              </a:spcAft>
            </a:pPr>
            <a:r>
              <a:rPr sz="1800" b="0">
                <a:solidFill>
                  <a:srgbClr val="202830"/>
                </a:solidFill>
                <a:latin typeface="Malgun Gothic"/>
              </a:rPr>
              <a:t>•  listener.ora 파라미터가 모두 기본값 → 구성 없이 시작·사용 가능</a:t>
            </a:r>
          </a:p>
          <a:p>
            <a:pPr>
              <a:spcAft>
                <a:spcPts val="700"/>
              </a:spcAft>
            </a:pPr>
            <a:r>
              <a:rPr sz="1800" b="0">
                <a:solidFill>
                  <a:srgbClr val="202830"/>
                </a:solidFill>
                <a:latin typeface="Malgun Gothic"/>
              </a:rPr>
              <a:t>•  시작 시엔 서비스 미지원 → 동적 등록으로 자동 채워짐</a:t>
            </a:r>
          </a:p>
          <a:p>
            <a:pPr>
              <a:spcAft>
                <a:spcPts val="700"/>
              </a:spcAft>
            </a:pPr>
            <a:r>
              <a:rPr sz="1800" b="0">
                <a:solidFill>
                  <a:srgbClr val="202830"/>
                </a:solidFill>
                <a:latin typeface="Malgun Gothic"/>
              </a:rPr>
              <a:t>•  별도 구성 없이 LISTENER로 인스턴스 즉시 접근 가능</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동적 서비스 등록 (Dynamic Registration)</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인스턴스의 LREG 백그라운드 프로세스가 리스너에 등록</a:t>
            </a:r>
          </a:p>
          <a:p>
            <a:pPr>
              <a:spcAft>
                <a:spcPts val="700"/>
              </a:spcAft>
            </a:pPr>
            <a:r>
              <a:rPr sz="1800" b="0">
                <a:solidFill>
                  <a:srgbClr val="202830"/>
                </a:solidFill>
                <a:latin typeface="Malgun Gothic"/>
              </a:rPr>
              <a:t>•  기동 직후 + 주기적(기본 약 60초)으로 서비스·인스턴스 등록</a:t>
            </a:r>
          </a:p>
          <a:p>
            <a:pPr>
              <a:spcAft>
                <a:spcPts val="700"/>
              </a:spcAft>
            </a:pPr>
            <a:r>
              <a:rPr sz="1800" b="0">
                <a:solidFill>
                  <a:srgbClr val="202830"/>
                </a:solidFill>
                <a:latin typeface="Malgun Gothic"/>
              </a:rPr>
              <a:t>•  listener.ora에 서비스를 안 적어도 자동 인식</a:t>
            </a:r>
          </a:p>
          <a:p>
            <a:pPr>
              <a:spcAft>
                <a:spcPts val="700"/>
              </a:spcAft>
            </a:pPr>
            <a:r>
              <a:rPr sz="1800" b="0">
                <a:solidFill>
                  <a:srgbClr val="202830"/>
                </a:solidFill>
                <a:latin typeface="Malgun Gothic"/>
              </a:rPr>
              <a:t>•  즉시 등록 강제: ALTER SYSTEM REGISTER</a:t>
            </a:r>
          </a:p>
          <a:p>
            <a:pPr>
              <a:spcAft>
                <a:spcPts val="700"/>
              </a:spcAft>
            </a:pPr>
            <a:r>
              <a:rPr sz="1800" b="0">
                <a:solidFill>
                  <a:srgbClr val="202830"/>
                </a:solidFill>
                <a:latin typeface="Malgun Gothic"/>
              </a:rPr>
              <a:t>•  리스너 이름이 LISTENER인데 해석 불가 시 TCP·1521 가정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기본 주소와 즉시 등록</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포트 1521 · ALTER SYSTEM REGISTER</a:t>
            </a:r>
          </a:p>
        </p:txBody>
      </p:sp>
      <p:sp>
        <p:nvSpPr>
          <p:cNvPr id="5" name="Rectangle 4"/>
          <p:cNvSpPr/>
          <p:nvPr/>
        </p:nvSpPr>
        <p:spPr>
          <a:xfrm>
            <a:off x="640080" y="1691640"/>
            <a:ext cx="10881360" cy="34747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3255264"/>
          </a:xfrm>
          <a:prstGeom prst="rect">
            <a:avLst/>
          </a:prstGeom>
          <a:noFill/>
        </p:spPr>
        <p:txBody>
          <a:bodyPr wrap="square">
            <a:spAutoFit/>
          </a:bodyPr>
          <a:lstStyle/>
          <a:p>
            <a:pPr>
              <a:spcAft>
                <a:spcPts val="100"/>
              </a:spcAft>
            </a:pPr>
            <a:r>
              <a:rPr sz="1200" b="0">
                <a:solidFill>
                  <a:srgbClr val="7EC699"/>
                </a:solidFill>
                <a:latin typeface="Consolas"/>
              </a:rPr>
              <a:t>-- 기본 리스너의 프로토콜 주소</a:t>
            </a:r>
          </a:p>
          <a:p>
            <a:pPr>
              <a:spcAft>
                <a:spcPts val="100"/>
              </a:spcAft>
            </a:pPr>
            <a:r>
              <a:rPr sz="1200" b="0">
                <a:solidFill>
                  <a:srgbClr val="E6E6E6"/>
                </a:solidFill>
                <a:latin typeface="Consolas"/>
              </a:rPr>
              <a:t>ADDRESS = (PROTOCOL=tcp)(HOST=host_name)(PORT=1521)</a:t>
            </a:r>
          </a:p>
          <a:p>
            <a:pPr>
              <a:spcAft>
                <a:spcPts val="100"/>
              </a:spcAft>
            </a:pPr>
            <a:r>
              <a:rPr sz="1200" b="0">
                <a:solidFill>
                  <a:srgbClr val="E6E6E6"/>
                </a:solidFill>
                <a:latin typeface="Consolas"/>
              </a:rPr>
              <a:t> </a:t>
            </a:r>
          </a:p>
          <a:p>
            <a:pPr>
              <a:spcAft>
                <a:spcPts val="100"/>
              </a:spcAft>
            </a:pPr>
            <a:r>
              <a:rPr sz="1200" b="0">
                <a:solidFill>
                  <a:srgbClr val="7EC699"/>
                </a:solidFill>
                <a:latin typeface="Consolas"/>
              </a:rPr>
              <a:t>-- 서비스를 리스너에 즉시 등록하도록 강제</a:t>
            </a:r>
          </a:p>
          <a:p>
            <a:pPr>
              <a:spcAft>
                <a:spcPts val="100"/>
              </a:spcAft>
            </a:pPr>
            <a:r>
              <a:rPr sz="1200" b="0">
                <a:solidFill>
                  <a:srgbClr val="E6E6E6"/>
                </a:solidFill>
                <a:latin typeface="Consolas"/>
              </a:rPr>
              <a:t>SQL&gt; ALTER SYSTEM REGISTER;</a:t>
            </a:r>
          </a:p>
          <a:p>
            <a:pPr>
              <a:spcAft>
                <a:spcPts val="100"/>
              </a:spcAft>
            </a:pPr>
            <a:r>
              <a:rPr sz="1200" b="0">
                <a:solidFill>
                  <a:srgbClr val="E6E6E6"/>
                </a:solidFill>
                <a:latin typeface="Consolas"/>
              </a:rPr>
              <a:t>System altered.</a:t>
            </a:r>
          </a:p>
          <a:p>
            <a:pPr>
              <a:spcAft>
                <a:spcPts val="100"/>
              </a:spcAft>
            </a:pPr>
            <a:r>
              <a:rPr sz="1200" b="0">
                <a:solidFill>
                  <a:srgbClr val="E6E6E6"/>
                </a:solidFill>
                <a:latin typeface="Consolas"/>
              </a:rPr>
              <a:t> </a:t>
            </a:r>
          </a:p>
          <a:p>
            <a:pPr>
              <a:spcAft>
                <a:spcPts val="100"/>
              </a:spcAft>
            </a:pPr>
            <a:r>
              <a:rPr sz="1200" b="0">
                <a:solidFill>
                  <a:srgbClr val="E6E6E6"/>
                </a:solidFill>
                <a:latin typeface="Consolas"/>
              </a:rPr>
              <a:t>$ lsnrctl status</a:t>
            </a:r>
          </a:p>
          <a:p>
            <a:pPr>
              <a:spcAft>
                <a:spcPts val="100"/>
              </a:spcAft>
            </a:pPr>
            <a:r>
              <a:rPr sz="1200" b="0">
                <a:solidFill>
                  <a:srgbClr val="E6E6E6"/>
                </a:solidFill>
                <a:latin typeface="Consolas"/>
              </a:rPr>
              <a:t>Service "salespdb.example.com" has 1 instance(s).</a:t>
            </a:r>
          </a:p>
          <a:p>
            <a:pPr>
              <a:spcAft>
                <a:spcPts val="100"/>
              </a:spcAft>
            </a:pPr>
            <a:r>
              <a:rPr sz="1200" b="0">
                <a:solidFill>
                  <a:srgbClr val="E6E6E6"/>
                </a:solidFill>
                <a:latin typeface="Consolas"/>
              </a:rPr>
              <a:t>  Instance "cdb1", status READY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전용 서버 아키텍처 (Dedicated)</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클라이언트 1 : 서버 프로세스 1 전담</a:t>
            </a:r>
          </a:p>
          <a:p>
            <a:pPr>
              <a:spcAft>
                <a:spcPts val="600"/>
              </a:spcAft>
            </a:pPr>
            <a:r>
              <a:rPr sz="1600" b="0">
                <a:solidFill>
                  <a:srgbClr val="C5CED6"/>
                </a:solidFill>
                <a:latin typeface="Malgun Gothic"/>
              </a:rPr>
              <a:t>•  단순·격리 지향, Oracle 기본 방식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전용 서버 구성의 구조</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하나의 서버 프로세스가 단일 클라이언트만 전담 처리</a:t>
            </a:r>
          </a:p>
          <a:p>
            <a:pPr>
              <a:spcAft>
                <a:spcPts val="700"/>
              </a:spcAft>
            </a:pPr>
            <a:r>
              <a:rPr sz="1800" b="0">
                <a:solidFill>
                  <a:srgbClr val="202830"/>
                </a:solidFill>
                <a:latin typeface="Malgun Gothic"/>
              </a:rPr>
              <a:t>•  접속 때마다 그 클라이언트 전용 서버 프로세스 생성</a:t>
            </a:r>
          </a:p>
          <a:p>
            <a:pPr>
              <a:spcAft>
                <a:spcPts val="700"/>
              </a:spcAft>
            </a:pPr>
            <a:r>
              <a:rPr sz="1800" b="0">
                <a:solidFill>
                  <a:srgbClr val="202830"/>
                </a:solidFill>
                <a:latin typeface="Malgun Gothic"/>
              </a:rPr>
              <a:t>•  세션 종료까지 클라이언트 ↔ 서버 프로세스 1:1 대응</a:t>
            </a:r>
          </a:p>
          <a:p>
            <a:pPr>
              <a:spcAft>
                <a:spcPts val="700"/>
              </a:spcAft>
            </a:pPr>
            <a:r>
              <a:rPr sz="1800" b="0">
                <a:solidFill>
                  <a:srgbClr val="202830"/>
                </a:solidFill>
                <a:latin typeface="Malgun Gothic"/>
              </a:rPr>
              <a:t>•  중간 큐 없이 직접 처리 → 왕복 지연 예측 가능</a:t>
            </a:r>
          </a:p>
          <a:p>
            <a:pPr>
              <a:spcAft>
                <a:spcPts val="700"/>
              </a:spcAft>
            </a:pPr>
            <a:r>
              <a:rPr sz="1800" b="0">
                <a:solidFill>
                  <a:srgbClr val="202830"/>
                </a:solidFill>
                <a:latin typeface="Malgun Gothic"/>
              </a:rPr>
              <a:t>•  세션별 PGA 개별 배정(정렬·해시 영역 격리)</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전용 서버의 자원 사용과 한계</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각 서버 프로세스가 CPU·메모리 자원 점유</a:t>
            </a:r>
          </a:p>
          <a:p>
            <a:pPr>
              <a:spcAft>
                <a:spcPts val="700"/>
              </a:spcAft>
            </a:pPr>
            <a:r>
              <a:rPr sz="1800" b="0">
                <a:solidFill>
                  <a:srgbClr val="202830"/>
                </a:solidFill>
                <a:latin typeface="Malgun Gothic"/>
              </a:rPr>
              <a:t>•  유휴(idle) 세션도 프로세스가 메모리를 붙들고 있음</a:t>
            </a:r>
          </a:p>
          <a:p>
            <a:pPr>
              <a:spcAft>
                <a:spcPts val="700"/>
              </a:spcAft>
            </a:pPr>
            <a:r>
              <a:rPr sz="1800" b="0">
                <a:solidFill>
                  <a:srgbClr val="202830"/>
                </a:solidFill>
                <a:latin typeface="Malgun Gothic"/>
              </a:rPr>
              <a:t>•  동시 접속 급증 시 자원 과도 → 확장성에 악영향</a:t>
            </a:r>
          </a:p>
          <a:p>
            <a:pPr>
              <a:spcAft>
                <a:spcPts val="700"/>
              </a:spcAft>
            </a:pPr>
            <a:r>
              <a:rPr sz="1800" b="0">
                <a:solidFill>
                  <a:srgbClr val="202830"/>
                </a:solidFill>
                <a:latin typeface="Malgun Gothic"/>
              </a:rPr>
              <a:t>•  대안 ① 메모리·CPU 증설(scale up)</a:t>
            </a:r>
          </a:p>
          <a:p>
            <a:pPr>
              <a:spcAft>
                <a:spcPts val="700"/>
              </a:spcAft>
            </a:pPr>
            <a:r>
              <a:rPr sz="1800" b="0">
                <a:solidFill>
                  <a:srgbClr val="202830"/>
                </a:solidFill>
                <a:latin typeface="Malgun Gothic"/>
              </a:rPr>
              <a:t>•  대안 ② Oracle 공유 서버 아키텍처 도입</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전용 서버 확인</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V$SESSION.SERVER = DEDICATED</a:t>
            </a:r>
          </a:p>
        </p:txBody>
      </p:sp>
      <p:sp>
        <p:nvSpPr>
          <p:cNvPr id="5" name="Rectangle 4"/>
          <p:cNvSpPr/>
          <p:nvPr/>
        </p:nvSpPr>
        <p:spPr>
          <a:xfrm>
            <a:off x="640080" y="1691640"/>
            <a:ext cx="10881360" cy="3785616"/>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3566160"/>
          </a:xfrm>
          <a:prstGeom prst="rect">
            <a:avLst/>
          </a:prstGeom>
          <a:noFill/>
        </p:spPr>
        <p:txBody>
          <a:bodyPr wrap="square">
            <a:spAutoFit/>
          </a:bodyPr>
          <a:lstStyle/>
          <a:p>
            <a:pPr>
              <a:spcAft>
                <a:spcPts val="100"/>
              </a:spcAft>
            </a:pPr>
            <a:r>
              <a:rPr sz="1200" b="0">
                <a:solidFill>
                  <a:srgbClr val="E6E6E6"/>
                </a:solidFill>
                <a:latin typeface="Consolas"/>
              </a:rPr>
              <a:t>SQL&gt; SELECT sid, server, username FROM v$session</a:t>
            </a:r>
          </a:p>
          <a:p>
            <a:pPr>
              <a:spcAft>
                <a:spcPts val="100"/>
              </a:spcAft>
            </a:pPr>
            <a:r>
              <a:rPr sz="1200" b="0">
                <a:solidFill>
                  <a:srgbClr val="E6E6E6"/>
                </a:solidFill>
                <a:latin typeface="Consolas"/>
              </a:rPr>
              <a:t>  2  WHERE type='USER' AND server='DEDICATED';</a:t>
            </a:r>
          </a:p>
          <a:p>
            <a:pPr>
              <a:spcAft>
                <a:spcPts val="100"/>
              </a:spcAft>
            </a:pPr>
            <a:r>
              <a:rPr sz="1200" b="0">
                <a:solidFill>
                  <a:srgbClr val="E6E6E6"/>
                </a:solidFill>
                <a:latin typeface="Consolas"/>
              </a:rPr>
              <a:t> </a:t>
            </a:r>
          </a:p>
          <a:p>
            <a:pPr>
              <a:spcAft>
                <a:spcPts val="100"/>
              </a:spcAft>
            </a:pPr>
            <a:r>
              <a:rPr sz="1200" b="0">
                <a:solidFill>
                  <a:srgbClr val="E6E6E6"/>
                </a:solidFill>
                <a:latin typeface="Consolas"/>
              </a:rPr>
              <a:t>       SID SERVER    USERNAME</a:t>
            </a:r>
          </a:p>
          <a:p>
            <a:pPr>
              <a:spcAft>
                <a:spcPts val="100"/>
              </a:spcAft>
            </a:pPr>
            <a:r>
              <a:rPr sz="1200" b="0">
                <a:solidFill>
                  <a:srgbClr val="7EC699"/>
                </a:solidFill>
                <a:latin typeface="Consolas"/>
              </a:rPr>
              <a:t>---------- --------- --------</a:t>
            </a:r>
          </a:p>
          <a:p>
            <a:pPr>
              <a:spcAft>
                <a:spcPts val="100"/>
              </a:spcAft>
            </a:pPr>
            <a:r>
              <a:rPr sz="1200" b="0">
                <a:solidFill>
                  <a:srgbClr val="E6E6E6"/>
                </a:solidFill>
                <a:latin typeface="Consolas"/>
              </a:rPr>
              <a:t>       142 DEDICATED HR</a:t>
            </a:r>
          </a:p>
          <a:p>
            <a:pPr>
              <a:spcAft>
                <a:spcPts val="100"/>
              </a:spcAft>
            </a:pPr>
            <a:r>
              <a:rPr sz="1200" b="0">
                <a:solidFill>
                  <a:srgbClr val="E6E6E6"/>
                </a:solidFill>
                <a:latin typeface="Consolas"/>
              </a:rPr>
              <a:t> </a:t>
            </a:r>
          </a:p>
          <a:p>
            <a:pPr>
              <a:spcAft>
                <a:spcPts val="100"/>
              </a:spcAft>
            </a:pPr>
            <a:r>
              <a:rPr sz="1200" b="0">
                <a:solidFill>
                  <a:srgbClr val="7EC699"/>
                </a:solidFill>
                <a:latin typeface="Consolas"/>
              </a:rPr>
              <a:t>-- 세션 ↔ 서버 프로세스(OS PID) 1:1 대응 확인</a:t>
            </a:r>
          </a:p>
          <a:p>
            <a:pPr>
              <a:spcAft>
                <a:spcPts val="100"/>
              </a:spcAft>
            </a:pPr>
            <a:r>
              <a:rPr sz="1200" b="0">
                <a:solidFill>
                  <a:srgbClr val="E6E6E6"/>
                </a:solidFill>
                <a:latin typeface="Consolas"/>
              </a:rPr>
              <a:t>SQL&gt; SELECT s.sid, p.spid FROM v$session s</a:t>
            </a:r>
          </a:p>
          <a:p>
            <a:pPr>
              <a:spcAft>
                <a:spcPts val="100"/>
              </a:spcAft>
            </a:pPr>
            <a:r>
              <a:rPr sz="1200" b="0">
                <a:solidFill>
                  <a:srgbClr val="E6E6E6"/>
                </a:solidFill>
                <a:latin typeface="Consolas"/>
              </a:rPr>
              <a:t>  2  JOIN v$process p ON s.paddr = p.addr</a:t>
            </a:r>
          </a:p>
          <a:p>
            <a:pPr>
              <a:spcAft>
                <a:spcPts val="100"/>
              </a:spcAft>
            </a:pPr>
            <a:r>
              <a:rPr sz="1200" b="0">
                <a:solidFill>
                  <a:srgbClr val="E6E6E6"/>
                </a:solidFill>
                <a:latin typeface="Consolas"/>
              </a:rPr>
              <a:t>  3  WHERE s.username='HR';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공유 서버 아키텍처 (Shared)</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다수 클라이언트 : 소수 서버 프로세스 공유</a:t>
            </a:r>
          </a:p>
          <a:p>
            <a:pPr>
              <a:spcAft>
                <a:spcPts val="600"/>
              </a:spcAft>
            </a:pPr>
            <a:r>
              <a:rPr sz="1600" b="0">
                <a:solidFill>
                  <a:srgbClr val="C5CED6"/>
                </a:solidFill>
                <a:latin typeface="Malgun Gothic"/>
              </a:rPr>
              <a:t>•  디스패처 + 공유 풀 공통 큐 + 공유 서버 프로세스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공유 서버 구성의 구조 — 디스패처</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여러 클라이언트가 적은 수의 서버 프로세스 공유</a:t>
            </a:r>
          </a:p>
          <a:p>
            <a:pPr>
              <a:spcAft>
                <a:spcPts val="700"/>
              </a:spcAft>
            </a:pPr>
            <a:r>
              <a:rPr sz="1800" b="0">
                <a:solidFill>
                  <a:srgbClr val="202830"/>
                </a:solidFill>
                <a:latin typeface="Malgun Gothic"/>
              </a:rPr>
              <a:t>•  각 서비스는 최소 1개(대개 여러 개)의 디스패처 보유</a:t>
            </a:r>
          </a:p>
          <a:p>
            <a:pPr>
              <a:spcAft>
                <a:spcPts val="700"/>
              </a:spcAft>
            </a:pPr>
            <a:r>
              <a:rPr sz="1800" b="0">
                <a:solidFill>
                  <a:srgbClr val="202830"/>
                </a:solidFill>
                <a:latin typeface="Malgun Gothic"/>
              </a:rPr>
              <a:t>•  연결 요청 와도 리스너가 전용 프로세스를 만들지 않음</a:t>
            </a:r>
          </a:p>
          <a:p>
            <a:pPr>
              <a:spcAft>
                <a:spcPts val="700"/>
              </a:spcAft>
            </a:pPr>
            <a:r>
              <a:rPr sz="1800" b="0">
                <a:solidFill>
                  <a:srgbClr val="202830"/>
                </a:solidFill>
                <a:latin typeface="Malgun Gothic"/>
              </a:rPr>
              <a:t>•  리스너는 서비스별 디스패처 목록·연결 부하를 파악</a:t>
            </a:r>
          </a:p>
          <a:p>
            <a:pPr>
              <a:spcAft>
                <a:spcPts val="700"/>
              </a:spcAft>
            </a:pPr>
            <a:r>
              <a:rPr sz="1800" b="0">
                <a:solidFill>
                  <a:srgbClr val="202830"/>
                </a:solidFill>
                <a:latin typeface="Malgun Gothic"/>
              </a:rPr>
              <a:t>•  요청을 부하가 가장 적은 디스패처로 라우팅</a:t>
            </a:r>
          </a:p>
          <a:p>
            <a:pPr>
              <a:spcAft>
                <a:spcPts val="700"/>
              </a:spcAft>
            </a:pPr>
            <a:r>
              <a:rPr sz="1800" b="0">
                <a:solidFill>
                  <a:srgbClr val="202830"/>
                </a:solidFill>
                <a:latin typeface="Malgun Gothic"/>
              </a:rPr>
              <a:t>•  세션 지속 동안 같은 디스패처에 연결 유지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디스패처의 역할과 공유 풀 큐</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단일 디스패처가 수백 개 연결 관리 가능</a:t>
            </a:r>
          </a:p>
          <a:p>
            <a:pPr>
              <a:spcAft>
                <a:spcPts val="700"/>
              </a:spcAft>
            </a:pPr>
            <a:r>
              <a:rPr sz="1800" b="0">
                <a:solidFill>
                  <a:srgbClr val="202830"/>
                </a:solidFill>
                <a:latin typeface="Malgun Gothic"/>
              </a:rPr>
              <a:t>•  디스패처는 실제 작업을 처리하지 않음(문지기·안내원)</a:t>
            </a:r>
          </a:p>
          <a:p>
            <a:pPr>
              <a:spcAft>
                <a:spcPts val="700"/>
              </a:spcAft>
            </a:pPr>
            <a:r>
              <a:rPr sz="1800" b="0">
                <a:solidFill>
                  <a:srgbClr val="202830"/>
                </a:solidFill>
                <a:latin typeface="Malgun Gothic"/>
              </a:rPr>
              <a:t>•  받은 요청을 SGA 공유 풀의 공통 큐(common queue)로 전달</a:t>
            </a:r>
          </a:p>
          <a:p>
            <a:pPr>
              <a:spcAft>
                <a:spcPts val="700"/>
              </a:spcAft>
            </a:pPr>
            <a:r>
              <a:rPr sz="1800" b="0">
                <a:solidFill>
                  <a:srgbClr val="202830"/>
                </a:solidFill>
                <a:latin typeface="Malgun Gothic"/>
              </a:rPr>
              <a:t>•  공유 서버 프로세스가 큐에서 요청을 꺼내 완료까지 처리</a:t>
            </a:r>
          </a:p>
          <a:p>
            <a:pPr>
              <a:spcAft>
                <a:spcPts val="700"/>
              </a:spcAft>
            </a:pPr>
            <a:r>
              <a:rPr sz="1800" b="0">
                <a:solidFill>
                  <a:srgbClr val="202830"/>
                </a:solidFill>
                <a:latin typeface="Malgun Gothic"/>
              </a:rPr>
              <a:t>•  적은 프로세스로 많은 사용자 수용 → 확장성 향상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공유 서버 관련 조회</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rPr>
              <a:t>파라미터 · V$DISPATCHER</a:t>
            </a:r>
          </a:p>
        </p:txBody>
      </p:sp>
      <p:sp>
        <p:nvSpPr>
          <p:cNvPr id="5" name="Rectangle 4"/>
          <p:cNvSpPr/>
          <p:nvPr/>
        </p:nvSpPr>
        <p:spPr>
          <a:xfrm>
            <a:off x="640080" y="1691640"/>
            <a:ext cx="10881360" cy="4096512"/>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3877056"/>
          </a:xfrm>
          <a:prstGeom prst="rect">
            <a:avLst/>
          </a:prstGeom>
          <a:noFill/>
        </p:spPr>
        <p:txBody>
          <a:bodyPr wrap="square">
            <a:spAutoFit/>
          </a:bodyPr>
          <a:lstStyle/>
          <a:p>
            <a:pPr>
              <a:spcAft>
                <a:spcPts val="100"/>
              </a:spcAft>
            </a:pPr>
            <a:r>
              <a:rPr sz="1200" b="0">
                <a:solidFill>
                  <a:srgbClr val="E6E6E6"/>
                </a:solidFill>
                <a:latin typeface="Consolas"/>
              </a:rPr>
              <a:t>SQL&gt; SHOW PARAMETER shared_servers</a:t>
            </a:r>
          </a:p>
          <a:p>
            <a:pPr>
              <a:spcAft>
                <a:spcPts val="100"/>
              </a:spcAft>
            </a:pPr>
            <a:r>
              <a:rPr sz="1200" b="0">
                <a:solidFill>
                  <a:srgbClr val="E6E6E6"/>
                </a:solidFill>
                <a:latin typeface="Consolas"/>
              </a:rPr>
              <a:t>NAME               TYPE     VALUE</a:t>
            </a:r>
          </a:p>
          <a:p>
            <a:pPr>
              <a:spcAft>
                <a:spcPts val="100"/>
              </a:spcAft>
            </a:pPr>
            <a:r>
              <a:rPr sz="1200" b="0">
                <a:solidFill>
                  <a:srgbClr val="7EC699"/>
                </a:solidFill>
                <a:latin typeface="Consolas"/>
              </a:rPr>
              <a:t>------------------ -------- -----</a:t>
            </a:r>
          </a:p>
          <a:p>
            <a:pPr>
              <a:spcAft>
                <a:spcPts val="100"/>
              </a:spcAft>
            </a:pPr>
            <a:r>
              <a:rPr sz="1200" b="0">
                <a:solidFill>
                  <a:srgbClr val="E6E6E6"/>
                </a:solidFill>
                <a:latin typeface="Consolas"/>
              </a:rPr>
              <a:t>shared_servers     integer  1</a:t>
            </a:r>
          </a:p>
          <a:p>
            <a:pPr>
              <a:spcAft>
                <a:spcPts val="100"/>
              </a:spcAft>
            </a:pPr>
            <a:r>
              <a:rPr sz="1200" b="0">
                <a:solidFill>
                  <a:srgbClr val="E6E6E6"/>
                </a:solidFill>
                <a:latin typeface="Consolas"/>
              </a:rPr>
              <a:t> </a:t>
            </a:r>
          </a:p>
          <a:p>
            <a:pPr>
              <a:spcAft>
                <a:spcPts val="100"/>
              </a:spcAft>
            </a:pPr>
            <a:r>
              <a:rPr sz="1200" b="0">
                <a:solidFill>
                  <a:srgbClr val="7EC699"/>
                </a:solidFill>
                <a:latin typeface="Consolas"/>
              </a:rPr>
              <a:t>-- 디스패처 부하 현황</a:t>
            </a:r>
          </a:p>
          <a:p>
            <a:pPr>
              <a:spcAft>
                <a:spcPts val="100"/>
              </a:spcAft>
            </a:pPr>
            <a:r>
              <a:rPr sz="1200" b="0">
                <a:solidFill>
                  <a:srgbClr val="E6E6E6"/>
                </a:solidFill>
                <a:latin typeface="Consolas"/>
              </a:rPr>
              <a:t>SQL&gt; SELECT name, status, accept,</a:t>
            </a:r>
          </a:p>
          <a:p>
            <a:pPr>
              <a:spcAft>
                <a:spcPts val="100"/>
              </a:spcAft>
            </a:pPr>
            <a:r>
              <a:rPr sz="1200" b="0">
                <a:solidFill>
                  <a:srgbClr val="E6E6E6"/>
                </a:solidFill>
                <a:latin typeface="Consolas"/>
              </a:rPr>
              <a:t>  2   (busy/(busy+idle))*100 AS busy_pct</a:t>
            </a:r>
          </a:p>
          <a:p>
            <a:pPr>
              <a:spcAft>
                <a:spcPts val="100"/>
              </a:spcAft>
            </a:pPr>
            <a:r>
              <a:rPr sz="1200" b="0">
                <a:solidFill>
                  <a:srgbClr val="E6E6E6"/>
                </a:solidFill>
                <a:latin typeface="Consolas"/>
              </a:rPr>
              <a:t>  3  FROM v$dispatcher;</a:t>
            </a:r>
          </a:p>
          <a:p>
            <a:pPr>
              <a:spcAft>
                <a:spcPts val="100"/>
              </a:spcAft>
            </a:pPr>
            <a:r>
              <a:rPr sz="1200" b="0">
                <a:solidFill>
                  <a:srgbClr val="E6E6E6"/>
                </a:solidFill>
                <a:latin typeface="Consolas"/>
              </a:rPr>
              <a:t> </a:t>
            </a:r>
          </a:p>
          <a:p>
            <a:pPr>
              <a:spcAft>
                <a:spcPts val="100"/>
              </a:spcAft>
            </a:pPr>
            <a:r>
              <a:rPr sz="1200" b="0">
                <a:solidFill>
                  <a:srgbClr val="7EC699"/>
                </a:solidFill>
                <a:latin typeface="Consolas"/>
              </a:rPr>
              <a:t>-- 공유 서버 프로세스 현황</a:t>
            </a:r>
          </a:p>
          <a:p>
            <a:pPr>
              <a:spcAft>
                <a:spcPts val="100"/>
              </a:spcAft>
            </a:pPr>
            <a:r>
              <a:rPr sz="1200" b="0">
                <a:solidFill>
                  <a:srgbClr val="E6E6E6"/>
                </a:solidFill>
                <a:latin typeface="Consolas"/>
              </a:rPr>
              <a:t>SQL&gt; SELECT name, status, messages FROM v$shared_server;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9.9</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전용 서버 vs 공유 서버 비교</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연결-프로세스 대응 관계로 갈리는 두 아키텍처</a:t>
            </a:r>
          </a:p>
          <a:p>
            <a:pPr>
              <a:spcAft>
                <a:spcPts val="600"/>
              </a:spcAft>
            </a:pPr>
            <a:r>
              <a:rPr sz="1600" b="0">
                <a:solidFill>
                  <a:srgbClr val="C5CED6"/>
                </a:solidFill>
                <a:latin typeface="Malgun Gothic"/>
              </a:rPr>
              <a:t>•  워크로드 특성에 맞춰 선택·혼용</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전용 vs 공유 — 핵심 차이</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대응: 전용=1:1 / 공유=다수:소수</a:t>
            </a:r>
          </a:p>
          <a:p>
            <a:pPr>
              <a:spcAft>
                <a:spcPts val="700"/>
              </a:spcAft>
            </a:pPr>
            <a:r>
              <a:rPr sz="1800" b="0">
                <a:solidFill>
                  <a:srgbClr val="202830"/>
                </a:solidFill>
                <a:latin typeface="Malgun Gothic"/>
              </a:rPr>
              <a:t>•  연결 처리: 전용=전용 프로세스 생성 / 공유=최소 부하 디스패처 라우팅</a:t>
            </a:r>
          </a:p>
          <a:p>
            <a:pPr>
              <a:spcAft>
                <a:spcPts val="700"/>
              </a:spcAft>
            </a:pPr>
            <a:r>
              <a:rPr sz="1800" b="0">
                <a:solidFill>
                  <a:srgbClr val="202830"/>
                </a:solidFill>
                <a:latin typeface="Malgun Gothic"/>
              </a:rPr>
              <a:t>•  작업 주체: 전용=전용 프로세스 / 공유=공유 서버 프로세스(큐 경유)</a:t>
            </a:r>
          </a:p>
          <a:p>
            <a:pPr>
              <a:spcAft>
                <a:spcPts val="700"/>
              </a:spcAft>
            </a:pPr>
            <a:r>
              <a:rPr sz="1800" b="0">
                <a:solidFill>
                  <a:srgbClr val="202830"/>
                </a:solidFill>
                <a:latin typeface="Malgun Gothic"/>
              </a:rPr>
              <a:t>•  유휴 자원: 전용=프로세스가 점유 / 공유=붙들지 않음</a:t>
            </a:r>
          </a:p>
          <a:p>
            <a:pPr>
              <a:spcAft>
                <a:spcPts val="700"/>
              </a:spcAft>
            </a:pPr>
            <a:r>
              <a:rPr sz="1800" b="0">
                <a:solidFill>
                  <a:srgbClr val="202830"/>
                </a:solidFill>
                <a:latin typeface="Malgun Gothic"/>
              </a:rPr>
              <a:t>•  적합: 전용=배치·DBA·장시간 작업 / 공유=동시접속 많은 OLTP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메모리 구조 차이 — UGA의 위치</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UGA: 로그인 정보·세션별 데이터(커서·세션 변수 등) 보관</a:t>
            </a:r>
          </a:p>
          <a:p>
            <a:pPr>
              <a:spcAft>
                <a:spcPts val="700"/>
              </a:spcAft>
            </a:pPr>
            <a:r>
              <a:rPr sz="1800" b="0">
                <a:solidFill>
                  <a:srgbClr val="202830"/>
                </a:solidFill>
                <a:latin typeface="Malgun Gothic"/>
              </a:rPr>
              <a:t>•  전용 서버: UGA가 서버 프로세스의 PGA 안에 위치</a:t>
            </a:r>
          </a:p>
          <a:p>
            <a:pPr>
              <a:spcAft>
                <a:spcPts val="700"/>
              </a:spcAft>
            </a:pPr>
            <a:r>
              <a:rPr sz="1800" b="0">
                <a:solidFill>
                  <a:srgbClr val="202830"/>
                </a:solidFill>
                <a:latin typeface="Malgun Gothic"/>
              </a:rPr>
              <a:t>•  공유 서버: 요청마다 다른 프로세스가 처리 → UGA를 SGA로 이동</a:t>
            </a:r>
          </a:p>
          <a:p>
            <a:pPr lvl="1">
              <a:spcAft>
                <a:spcPts val="700"/>
              </a:spcAft>
            </a:pPr>
            <a:r>
              <a:rPr sz="1600" b="0">
                <a:solidFill>
                  <a:srgbClr val="5A6672"/>
                </a:solidFill>
                <a:latin typeface="Malgun Gothic"/>
              </a:rPr>
              <a:t>    –  라지 풀 있으면 라지 풀, 없으면 공유 풀에 위치</a:t>
            </a:r>
          </a:p>
          <a:p>
            <a:pPr>
              <a:spcAft>
                <a:spcPts val="700"/>
              </a:spcAft>
            </a:pPr>
            <a:r>
              <a:rPr sz="1800" b="0">
                <a:solidFill>
                  <a:srgbClr val="202830"/>
                </a:solidFill>
                <a:latin typeface="Malgun Gothic"/>
              </a:rPr>
              <a:t>•  공유 서버 도입 시 라지 풀을 충분히 확보 권장</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퀴즈 1 · 2</a:t>
            </a:r>
          </a:p>
        </p:txBody>
      </p:sp>
      <p:sp>
        <p:nvSpPr>
          <p:cNvPr id="4" name="TextBox 3"/>
          <p:cNvSpPr txBox="1"/>
          <p:nvPr/>
        </p:nvSpPr>
        <p:spPr>
          <a:xfrm>
            <a:off x="640080" y="1280160"/>
            <a:ext cx="10881360" cy="5212080"/>
          </a:xfrm>
          <a:prstGeom prst="rect">
            <a:avLst/>
          </a:prstGeom>
          <a:noFill/>
        </p:spPr>
        <p:txBody>
          <a:bodyPr wrap="square">
            <a:spAutoFit/>
          </a:bodyPr>
          <a:lstStyle/>
          <a:p>
            <a:pPr>
              <a:spcBef>
                <a:spcPts val="600"/>
              </a:spcBef>
              <a:spcAft>
                <a:spcPts val="400"/>
              </a:spcAft>
            </a:pPr>
            <a:r>
              <a:rPr sz="1700" b="1">
                <a:solidFill>
                  <a:srgbClr val="C0392B"/>
                </a:solidFill>
                <a:latin typeface="Malgun Gothic"/>
              </a:rPr>
              <a:t>Q. 연결과 세션의 차이는?</a:t>
            </a:r>
          </a:p>
          <a:p>
            <a:pPr>
              <a:spcAft>
                <a:spcPts val="1000"/>
              </a:spcAft>
            </a:pPr>
            <a:r>
              <a:rPr sz="1500" b="0">
                <a:solidFill>
                  <a:srgbClr val="202830"/>
                </a:solidFill>
                <a:latin typeface="Malgun Gothic"/>
              </a:rPr>
              <a:t>A. 연결=사용자 프로세스↔인스턴스 물리적 통신 경로(선), 세션=현재 사용자 로그인 상태의 논리적 엔티티. 동일 사용자로 여러 세션 동시 존재 가능.</a:t>
            </a:r>
          </a:p>
          <a:p>
            <a:pPr>
              <a:spcBef>
                <a:spcPts val="600"/>
              </a:spcBef>
              <a:spcAft>
                <a:spcPts val="400"/>
              </a:spcAft>
            </a:pPr>
            <a:r>
              <a:rPr sz="1700" b="1">
                <a:solidFill>
                  <a:srgbClr val="C0392B"/>
                </a:solidFill>
                <a:latin typeface="Malgun Gothic"/>
              </a:rPr>
              <a:t>Q. 클라이언트 측과 서버 측 Oracle Net의 역할 차이는?</a:t>
            </a:r>
          </a:p>
          <a:p>
            <a:pPr>
              <a:spcAft>
                <a:spcPts val="1000"/>
              </a:spcAft>
            </a:pPr>
            <a:r>
              <a:rPr sz="1500" b="0">
                <a:solidFill>
                  <a:srgbClr val="202830"/>
                </a:solidFill>
                <a:latin typeface="Malgun Gothic"/>
              </a:rPr>
              <a:t>A. 클라이언트=연결 담당 백그라운드 컴포넌트(라이브러리). 서버=능동적 프로세스 리스너 포함, DB와 외부 애플리케이션 연결 조율. Net은 데이터 운반자로 연결 확립·유지·메시지 교환.</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퀴즈 3 · 4</a:t>
            </a:r>
          </a:p>
        </p:txBody>
      </p:sp>
      <p:sp>
        <p:nvSpPr>
          <p:cNvPr id="4" name="TextBox 3"/>
          <p:cNvSpPr txBox="1"/>
          <p:nvPr/>
        </p:nvSpPr>
        <p:spPr>
          <a:xfrm>
            <a:off x="640080" y="1280160"/>
            <a:ext cx="10881360" cy="5212080"/>
          </a:xfrm>
          <a:prstGeom prst="rect">
            <a:avLst/>
          </a:prstGeom>
          <a:noFill/>
        </p:spPr>
        <p:txBody>
          <a:bodyPr wrap="square">
            <a:spAutoFit/>
          </a:bodyPr>
          <a:lstStyle/>
          <a:p>
            <a:pPr>
              <a:spcBef>
                <a:spcPts val="600"/>
              </a:spcBef>
              <a:spcAft>
                <a:spcPts val="400"/>
              </a:spcAft>
            </a:pPr>
            <a:r>
              <a:rPr sz="1700" b="1">
                <a:solidFill>
                  <a:srgbClr val="C0392B"/>
                </a:solidFill>
                <a:latin typeface="Malgun Gothic"/>
              </a:rPr>
              <a:t>Q. Net Services 네 구성요소와 구성 파일을 짝지으면?</a:t>
            </a:r>
          </a:p>
          <a:p>
            <a:pPr>
              <a:spcAft>
                <a:spcPts val="1000"/>
              </a:spcAft>
            </a:pPr>
            <a:r>
              <a:rPr sz="1500" b="0">
                <a:solidFill>
                  <a:srgbClr val="202830"/>
                </a:solidFill>
                <a:latin typeface="Malgun Gothic"/>
              </a:rPr>
              <a:t>A. 리스너(listener.ora), 네이밍 방법(sqlnet.ora 우선순위), 넷 서비스 이름(tnsnames.ora), 프로파일(sqlnet.ora). 세 파일은 $ORACLE_HOME/network/admin에 위치.</a:t>
            </a:r>
          </a:p>
          <a:p>
            <a:pPr>
              <a:spcBef>
                <a:spcPts val="600"/>
              </a:spcBef>
              <a:spcAft>
                <a:spcPts val="400"/>
              </a:spcAft>
            </a:pPr>
            <a:r>
              <a:rPr sz="1700" b="1">
                <a:solidFill>
                  <a:srgbClr val="C0392B"/>
                </a:solidFill>
                <a:latin typeface="Malgun Gothic"/>
              </a:rPr>
              <a:t>Q. 기본 리스너 LISTENER의 특성은?</a:t>
            </a:r>
          </a:p>
          <a:p>
            <a:pPr>
              <a:spcAft>
                <a:spcPts val="1000"/>
              </a:spcAft>
            </a:pPr>
            <a:r>
              <a:rPr sz="1500" b="0">
                <a:solidFill>
                  <a:srgbClr val="202830"/>
                </a:solidFill>
                <a:latin typeface="Malgun Gothic"/>
              </a:rPr>
              <a:t>A. ① NETCA가 자동 생성 ② 동적 서비스 등록으로 서비스 자동 채움 ③ TCP·포트 1521 대기, 구성 없이 즉시 접근. 이름 LISTENER 해석 불가 시 TCP·1521 가정.</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퀴즈 5 · 6</a:t>
            </a:r>
          </a:p>
        </p:txBody>
      </p:sp>
      <p:sp>
        <p:nvSpPr>
          <p:cNvPr id="4" name="TextBox 3"/>
          <p:cNvSpPr txBox="1"/>
          <p:nvPr/>
        </p:nvSpPr>
        <p:spPr>
          <a:xfrm>
            <a:off x="640080" y="1280160"/>
            <a:ext cx="10881360" cy="5212080"/>
          </a:xfrm>
          <a:prstGeom prst="rect">
            <a:avLst/>
          </a:prstGeom>
          <a:noFill/>
        </p:spPr>
        <p:txBody>
          <a:bodyPr wrap="square">
            <a:spAutoFit/>
          </a:bodyPr>
          <a:lstStyle/>
          <a:p>
            <a:pPr>
              <a:spcBef>
                <a:spcPts val="600"/>
              </a:spcBef>
              <a:spcAft>
                <a:spcPts val="400"/>
              </a:spcAft>
            </a:pPr>
            <a:r>
              <a:rPr sz="1700" b="1">
                <a:solidFill>
                  <a:srgbClr val="C0392B"/>
                </a:solidFill>
                <a:latin typeface="Malgun Gothic"/>
              </a:rPr>
              <a:t>Q. 공유 서버에서 디스패처와 공유 서버 프로세스의 역할은?</a:t>
            </a:r>
          </a:p>
          <a:p>
            <a:pPr>
              <a:spcAft>
                <a:spcPts val="1000"/>
              </a:spcAft>
            </a:pPr>
            <a:r>
              <a:rPr sz="1500" b="0">
                <a:solidFill>
                  <a:srgbClr val="202830"/>
                </a:solidFill>
                <a:latin typeface="Malgun Gothic"/>
              </a:rPr>
              <a:t>A. 디스패처=요청을 처리하지 않고 SGA 공유 풀 공통 큐로 전달(수백 연결 관리). 공유 서버 프로세스=큐에서 요청을 꺼내 완료까지 처리. 리스너는 새 전용 프로세스 대신 최소 부하 디스패처로 라우팅.</a:t>
            </a:r>
          </a:p>
          <a:p>
            <a:pPr>
              <a:spcBef>
                <a:spcPts val="600"/>
              </a:spcBef>
              <a:spcAft>
                <a:spcPts val="400"/>
              </a:spcAft>
            </a:pPr>
            <a:r>
              <a:rPr sz="1700" b="1">
                <a:solidFill>
                  <a:srgbClr val="C0392B"/>
                </a:solidFill>
                <a:latin typeface="Malgun Gothic"/>
              </a:rPr>
              <a:t>Q. 전용 서버가 부하 큰 시스템에서 문제인 이유와 대안은?</a:t>
            </a:r>
          </a:p>
          <a:p>
            <a:pPr>
              <a:spcAft>
                <a:spcPts val="1000"/>
              </a:spcAft>
            </a:pPr>
            <a:r>
              <a:rPr sz="1500" b="0">
                <a:solidFill>
                  <a:srgbClr val="202830"/>
                </a:solidFill>
                <a:latin typeface="Malgun Gothic"/>
              </a:rPr>
              <a:t>A. 클라이언트마다 프로세스를 1:1 전담시켜 CPU·메모리 점유. 동시 접속·유휴 많으면 확장성 악영향. 대안: ① 메모리·CPU 증설 ② 공유 서버 도입.</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연결=물리적 경로, 세션=논리적 로그인 상태(1 사용자 다세션 가능)</a:t>
            </a:r>
          </a:p>
          <a:p>
            <a:pPr>
              <a:spcAft>
                <a:spcPts val="700"/>
              </a:spcAft>
            </a:pPr>
            <a:r>
              <a:rPr sz="1800" b="0">
                <a:solidFill>
                  <a:srgbClr val="202830"/>
                </a:solidFill>
                <a:latin typeface="Malgun Gothic"/>
              </a:rPr>
              <a:t>•  Oracle Net=데이터 운반자, 클라=백그라운드/서버=능동적 리스너</a:t>
            </a:r>
          </a:p>
          <a:p>
            <a:pPr>
              <a:spcAft>
                <a:spcPts val="700"/>
              </a:spcAft>
            </a:pPr>
            <a:r>
              <a:rPr sz="1800" b="0">
                <a:solidFill>
                  <a:srgbClr val="202830"/>
                </a:solidFill>
                <a:latin typeface="Malgun Gothic"/>
              </a:rPr>
              <a:t>•  구성요소: 리스너(listener.ora)·네이밍 방법·넷 서비스 이름(tnsnames.ora)·프로파일(sqlnet.ora)</a:t>
            </a:r>
          </a:p>
          <a:p>
            <a:pPr>
              <a:spcAft>
                <a:spcPts val="700"/>
              </a:spcAft>
            </a:pPr>
            <a:r>
              <a:rPr sz="1800" b="0">
                <a:solidFill>
                  <a:srgbClr val="202830"/>
                </a:solidFill>
                <a:latin typeface="Malgun Gothic"/>
              </a:rPr>
              <a:t>•  도구: EM Cloud Control·Net Manager·NETCA·lsnrctl</a:t>
            </a:r>
          </a:p>
          <a:p>
            <a:pPr>
              <a:spcAft>
                <a:spcPts val="700"/>
              </a:spcAft>
            </a:pPr>
            <a:r>
              <a:rPr sz="1800" b="0">
                <a:solidFill>
                  <a:srgbClr val="202830"/>
                </a:solidFill>
                <a:latin typeface="Malgun Gothic"/>
              </a:rPr>
              <a:t>•  리스너=비로컬 연결 게이트웨이, LISTENER는 동적 등록·TCP 1521</a:t>
            </a:r>
          </a:p>
          <a:p>
            <a:pPr>
              <a:spcAft>
                <a:spcPts val="700"/>
              </a:spcAft>
            </a:pPr>
            <a:r>
              <a:rPr sz="1800" b="0">
                <a:solidFill>
                  <a:srgbClr val="202830"/>
                </a:solidFill>
                <a:latin typeface="Malgun Gothic"/>
              </a:rPr>
              <a:t>•  전용=1:1 전담 / 공유=디스패처·공통 큐로 다수:소수 공유</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9 개요 (Practice Overview)</a:t>
            </a:r>
          </a:p>
        </p:txBody>
      </p:sp>
      <p:sp>
        <p:nvSpPr>
          <p:cNvPr id="4" name="TextBox 3"/>
          <p:cNvSpPr txBox="1"/>
          <p:nvPr/>
        </p:nvSpPr>
        <p:spPr>
          <a:xfrm>
            <a:off x="640080" y="1280160"/>
            <a:ext cx="10881360" cy="4937760"/>
          </a:xfrm>
          <a:prstGeom prst="rect">
            <a:avLst/>
          </a:prstGeom>
          <a:noFill/>
        </p:spPr>
        <p:txBody>
          <a:bodyPr wrap="square">
            <a:spAutoFit/>
          </a:bodyPr>
          <a:lstStyle/>
          <a:p>
            <a:pPr>
              <a:spcAft>
                <a:spcPts val="700"/>
              </a:spcAft>
            </a:pPr>
            <a:r>
              <a:rPr sz="1800" b="0">
                <a:solidFill>
                  <a:srgbClr val="202830"/>
                </a:solidFill>
                <a:latin typeface="Malgun Gothic"/>
              </a:rPr>
              <a:t>•  실습 9-01 구성요소·기본 리스너 — lsnrctl status로 LISTENER·서비스 확인, .ora 파일 살펴보기</a:t>
            </a:r>
          </a:p>
          <a:p>
            <a:pPr>
              <a:spcAft>
                <a:spcPts val="700"/>
              </a:spcAft>
            </a:pPr>
            <a:r>
              <a:rPr sz="1800" b="0">
                <a:solidFill>
                  <a:srgbClr val="202830"/>
                </a:solidFill>
                <a:latin typeface="Malgun Gothic"/>
              </a:rPr>
              <a:t>•  실습 9-02 연결과 세션 — 동일 사용자 다중 세션 생성 후 V$SESSION 관찰</a:t>
            </a:r>
          </a:p>
          <a:p>
            <a:pPr>
              <a:spcAft>
                <a:spcPts val="700"/>
              </a:spcAft>
            </a:pPr>
            <a:r>
              <a:rPr sz="1800" b="0">
                <a:solidFill>
                  <a:srgbClr val="202830"/>
                </a:solidFill>
                <a:latin typeface="Malgun Gothic"/>
              </a:rPr>
              <a:t>•  실습 9-03 전용 vs 공유 — V$SESSION.SERVER·V$DISPATCHER·V$SHARED_SERVER 비교, SERVER 절로 방식 선택</a:t>
            </a:r>
          </a:p>
          <a:p>
            <a:pPr>
              <a:spcAft>
                <a:spcPts val="700"/>
              </a:spcAft>
            </a:pPr>
            <a:r>
              <a:rPr sz="1800" b="0">
                <a:solidFill>
                  <a:srgbClr val="202830"/>
                </a:solidFill>
                <a:latin typeface="Malgun Gothic"/>
              </a:rPr>
              <a:t>•  ※ 반드시 학습·테스트용 CDB에서만 수행할 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
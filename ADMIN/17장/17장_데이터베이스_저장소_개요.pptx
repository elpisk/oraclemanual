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제17장 데이터베이스 저장소 개요 강의를 시작한다. 이 장은 CDB/PDB 안에서 데이터가 어디에 어떤 단위로 저장되는지를 다루며, 18~20장 공간 관리의 토대가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마치면 저장소 아키텍처의 논리/물리 구조, 세그먼트·익스텐트·블록 관계, 테이블스페이스와 데이터 파일, CDB 기본 테이블스페이스, 지연 세그먼트 생성, 공간 사용량 모니터링을 설명하고 수행할 수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12개 절로 구성된다. 개념(17.1~17.9)에서 저장 구조와 블록을 다루고, 17.10~17.11에서 지연 세그먼트 생성, 17.12에서 공간 모니터링을 다룬 뒤 퀴즈·요약·실습으로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 데이터베이스 저장소 아키텍처 개요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저장소는 운영체제가 보는 물리적 구조(데이터 파일·컨트롤 파일·리두 로그)와 DB 엔진이 공간을 쓰는 방식을 정의하는 논리적 구조(테이블스페이스·세그먼트·익스텐트·블록)로 나뉜다. 물리 구조는 디스크에 파일로 실재하지만, 논리 구조는 파일로 존재하지 않는 개념적 단위다. 데이터 파일은 실제 데이터가, 컨트롤 파일은 DB의 물리 구조 메타데이터가, 리두 로그는 변경 사항이 기록되는 파일이다.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아키텍처의 핵심 설계 원칙은 물리 구조와 논리 구조의 분리다. 분리되어 있으므로 데이터 파일 이름 변경이나 위치 이동 같은 물리적 변경이 테이블스페이스의 논리명이나 사용자 SQL 접근에 영향을 주지 않는다. 애플리케이션은 emp 테이블의 데이터 파일이 어디 있는지 몰라도 된다. 이 분리 덕분에 DBA는 애플리케이션을 멈추지 않고 스토리지를 재배치·확장할 수 있다. 하나의 테이블스페이스가 여러 데이터 파일에 걸치고, 하나의 데이터 블록이 여러 OS 블록으로 이뤄지는 등 두 세계는 유연하게 매핑된다.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 논리·물리 저장 구조의 계층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 저장 구조는 상위에서 하위로 명확한 포함 관계를 이룬다. 테이블스페이스 안에 세그먼트가, 세그먼트 안에 익스텐트가, 익스텐트 안에 데이터 블록이 담긴다. 데이터 블록은 DB가 사용하는 가장 작은 저장 단위이자 I/O 최소 단위다. 익스텐트는 연속된 블록의 묶음으로 한 번에 할당되고, 세그먼트는 특정 객체를 위한 익스텐트들의 집합이며, 테이블스페이스는 이 세그먼트들이 저장되는 최상위 단위로 물리적으로는 데이터 파일에 매핑된다.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블록은 DB가 쓰는 가장 작은 저장 공간이며 크기는 DB_BLOCK_SIZE로 결정된다. 보통 8KB가 기본값이고 4/16/32KB도 가능하나, 데이터베이스 생성 시 정해진 표준 블록 크기는 이후 변경할 수 없다. 하나의 Oracle 블록은 하나 이상의 OS 블록에 대응한다. DB가 디스크에서 읽고 쓸 때는 항상 이 블록 단위로 I/O하며, 한 행만 필요해도 그 행이 담긴 블록 전체를 버퍼 캐시로 읽어 온다.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17.3 세그먼트·익스텐트·블록의 관계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테이블·인덱스를 생성하면(정확히는 첫 데이터가 들어올 때) DB는 그 객체를 위한 세그먼트를 만든다. 세그먼트는 하나 이상의 익스텐트로 구성되며 처음엔 초기 익스텐트 하나가 할당된다. 행이 추가되어 현재 익스텐트가 소진되면 새 익스텐트를 추가 할당하며 세그먼트가 성장한다. 하나의 익스텐트 내부 블록은 연속적이지만 서로 다른 익스텐트는 데이터 파일 곳곳에, 심지어 여러 데이터 파일에 분산될 수 있다. 로컬 관리 테이블스페이스의 AUTOALLOCATE는 세그먼트가 커질수록 익스텐트 크기를 키워 준다.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세그먼트에 할당된 익스텐트가 항상 데이터로 꽉 찬 것은 아니다. 상위 워터마크(HWM)는 그 세그먼트에서 데이터가 사용된 적 있는 블록의 최고 지점이다. HWM 아래는 사용되었거나 사용 가능한 블록, 위는 할당만 되고 아직 쓰인 적 없는 블록이다. 전체 테이블 스캔은 HWM 아래 모든 블록을 읽으므로, 대량 DELETE로 데이터가 비어도 HWM가 안 내려가면 빈 블록까지 스캔해 성능이 나빠진다. 이 공간을 회수하려면 SHRINK나 재구성이 필요하다. 할당·사용·스캔 공간이 다를 수 있다는 점이 공간·성능 분석의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DBA_SEGMENTS는 세그먼트가 몇 개의 익스텐트와 블록, 총 몇 바이트를 쓰는지 보여 준다. 예시의 EMPLOYEES는 EXTENTS=1, BLOCKS=8로 아직 초기 익스텐트 하나만 가진 작은 테이블이다. 이 뷰로 세그먼트 → 익스텐트/블록 → 테이블스페이스로 이어지는 계층을 추적하며 공간 문제를 진단한다.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 테이블스페이스와 데이터 파일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DB는 논리적으로 테이블스페이스로 나뉘고, 각 테이블스페이스는 하나 이상의 데이터 파일로 구성된다. 모든 데이터는 결국 테이블스페이스에 속한 데이터 파일들에 집합적으로 저장된다. 규칙은 두 가지다. 하나의 테이블스페이스는 여러 데이터 파일을 가질 수 있고(1:N), 하나의 데이터 파일은 오직 하나의 테이블스페이스에만 속한다(N:1). 목적별로 테이블스페이스를 분리하면 백업·성능·공간 통제가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테이블스페이스는 여러 데이터 파일을 갖는 스몰파일과 단 하나의 초대형 파일을 갖는 빅파일로 나뉜다. 스몰파일은 파일을 여러 디스크에 분산해 I/O를 나눌 수 있고, 빅파일은 관리 포인트가 단순하며 테라바이트급까지 확장돼 ASM·대용량 스토리지에 적합하다. 데이터 파일에 AUTOEXTEND ON을 주면 가득 찰 때 NEXT 단위로 자동 확장되며 MAXSIZE까지 늘어난다. MAXSIZE 없이 무제한으로 두면 파일 시스템을 소진할 위험이 있으니 반드시 상한을 지정한다.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DBA_TABLESPACES와 DBA_DATA_FILES를 조인하면 각 테이블스페이스를 구성하는 데이터 파일의 경로·크기·자동 확장 여부를 한눈에 볼 수 있다. 한 테이블스페이스에 데이터 파일을 여러 개 붙이면 여러 행으로 나타난다. 이것이 테이블스페이스(논리)와 데이터 파일(물리)의 1:N 관계를 확인하는 기본 쿼리다.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17.5 CDB의 기본 테이블스페이스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멀티테넌트에서는 각 컨테이너(루트·시드·PDB)가 독립된 DB처럼 자체 테이블스페이스 집합을 갖는다. 핵심 원칙은 각 컨테이너가 자기만의 SYSTEM·SYSAUX를 갖는다는 것으로, 이는 컨테이너마다 자체 데이터 딕셔너리와 보조 데이터를 별도로 관리하기 때문이다. 덕분에 PDB를 언플러그해 옮기면 그 딕셔너리가 함께 따라가 이식성이 보장된다. USERS 같은 사용자 테이블스페이스도 컨테이너별로 별개이며, 19c 기본값인 로컬 언두 모드에서는 각 PDB가 자체 언두 테이블스페이스를 갖는다.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 루트에서 CDB_TABLESPACES를 CON_ID로 조회하면 모든 컨테이너의 테이블스페이스가 한눈에 보인다. CON_ID=1은 루트, 2는 시드, 3 이상은 PDB다. SYSTEM/SYSAUX/USERS 같은 이름이 CON_ID별로 각각 존재함에 주목하라. 각 PDB가 자체 UNDOTBS1(로컬 언두)를 갖는 것도 확인된다. 특정 PDB에 접속해 DBA_ 뷰를 쓰면 그 PDB의 테이블스페이스만 보인다 — 어디에 연결됐는지가 조회 범위를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17.6 SYSTEM과 SYSAUX 테이블스페이스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테이블스페이스는 코어 데이터 딕셔너리 테이블과 뷰를 담는 가장 핵심 테이블스페이스다. 테이블·인덱스·사용자·권한 등 모든 객체 정의가 딕셔너리에 기록된다. DB나 컨테이너 생성 시 자동으로 만들어지며 삭제할 수 없고, DB가 열려 있는 한 항상 온라인이어야 한다. SYSTEM이 손상되거나 오프라인이 되면 DB 자체가 정상 동작할 수 없다. 원칙적으로 사용자 데이터는 두지 않고 SYS 시스템 객체 전용으로 유지하며, 일반 사용자에게는 USERS 같은 별도 테이블스페이스를 기본으로 지정한다.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SYSAUX는 SYSTEM의 보조 테이블스페이스로, Enterprise Manager 리포지터리, 옵티마이저 통계 이력, AWR 데이터, LogMiner, Oracle Text 등 다양한 컴포넌트·기능이 쓰는 스키마 객체와 데이터를 담는다. SYSAUX 도입 전에는 이런 보조 데이터가 SYSTEM에 뒤섞이거나 컴포넌트마다 별도 테이블스페이스를 만들어야 해 SYSTEM에 부하가 집중되고 관리 대상이 많았다. 10g에서 SYSAUX를 도입해 이를 한곳에 모아 SYSTEM 부하를 줄이고 설치·구성을 크게 단순화했다. SYSAUX가 커지면 V$SYSAUX_OCCUPANTS로 어떤 컴포넌트가 공간을 쓰는지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SYSTEM은 DB가 스스로를 설명하는 최소한의 코어 메타데이터를, SYSAUX는 부가 기능·관리 도구가 쌓는 운영 데이터를 담당한다. 이 분업 덕분에 AWR 스냅샷 폭증이나 통계 이력 증가의 부담이 SYSAUX에 국한되어 코어 딕셔너리가 자리한 SYSTEM의 건전성이 보호된다. 둘 다 생성 시 자동으로 만들어지고 삭제할 수 없다. SYSTEM은 상대적으로 작고 안정적인 크기를 유지하는 것이 정상이며, 비정상적으로 빠르게 커지면 사용자 객체가 잘못 저장되고 있지 않은지 점검해야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17.7 세그먼트의 유형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세그먼트는 담는 내용에 따라 나뉜다. 데이터 세그먼트는 테이블·클러스터의 모든 데이터를 저장하고(비파티션 테이블 하나=세그먼트 하나), 인덱스 세그먼트는 인덱스 구조를 저장한다. 임시 세그먼트는 대량 정렬·해시 조인이 PGA에서 다 안 될 때 임시 테이블스페이스에 생겼다 작업 후 회수된다. 언두 세그먼트는 변경 전 원본 이미지를 보관해 롤백·읽기 일관성·플래시백에 쓰이며 언두 테이블스페이스에서 자동 관리된다. 이 외에 파티션은 각 파티션이 독립 세그먼트, LOB 데이터는 별도 LOB 세그먼트/인덱스로 저장된다.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DBA_SEGMENTS를 segment_type으로 집계하면 각 세그먼트 유형이 몇 개, 총 몇 MB를 쓰는지 파악할 수 있다. 실제 DB에는 기본 네 유형 외에 TABLE PARTITION, LOBSEGMENT, LOBINDEX 등 세분화된 유형이 나타난다. 파티션 테이블은 파티션별 독립 세그먼트로 관리돼 개별 배치·백업·삭제가 가능하고, CLOB/BLOB는 별도 LOB 세그먼트에 저장돼 큰 값이 테이블 본체 블록을 압박하지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17.8 테이블 데이터가 저장되는 방식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 데이터는 데이터 세그먼트에 저장되고, 세그먼트는 익스텐트로, 익스텐트는 블록으로 구성돼 모든 행은 어떤 블록 안에 자리 잡는다. 각 행은 블록 안에 하나 이상의 행 조각으로 저장된다. 행이 한 블록에 통째로 들어갈 만큼 작으면 전체를 하나의 행 조각으로 저장하는데 이것이 가장 효율적이다. 행이 너무 길어 한 블록에 안 들어가면 여러 행 조각으로 나눠 저장하며 각 조각은 다른 블록에 위치할 수 있다. 이렇게 한 행이 여러 블록에 걸치는 것을 행 체이닝이라 하며, 읽을 때 여러 블록을 방문해 I/O가 늘고 성능이 저하될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체이닝은 긴 행이 여러 블록에 걸쳐 저장되는 현상이고, 행 마이그레이션은 업데이트로 커진 행이 원래 블록에 안 들어가 다른 블록으로 이동하는 현상이다. 둘 다 여러 블록 방문으로 I/O가 늘어 성능을 저하시키며 19장에서 대처법을 다룬다. 각 행은 ROWID라는 물리적 주소로 식별되는데, ROWID에는 데이터 오브젝트 번호, 데이터 파일 번호, 블록 번호, 블록 내 행 번호가 인코딩돼 있다. ROWID를 알면 인덱스를 거치지 않고도 해당 블록으로 곧장 접근할 수 있다 — 인덱스가 빠른 이유의 상당 부분이 키→ROWID 매핑에 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17.9 데이터 블록의 구성요소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블록 내부는 몇 개의 논리 영역으로 나뉘며 형식은 표준 블록이든 ASSM 블록이든 유사하다. 블록 헤더는 블록 유형·디스크 주소·트랜잭션 정보를 담고, 테이블 디렉터리는 이 블록에 행을 저장한 테이블 정보를 담는다. 행 디렉터리는 블록 내 각 행의 위치를 가리키며, 행이 삭제된 뒤에도 그 슬롯 공간은 즉시 회수되지 않고 이후 새 행 삽입 시 재사용될 수 있다. 사용 가능 공간은 삽입·업데이트에 쓰는 여유로 블록 가운데에서 위아래로 소비되고, 행 데이터 영역에 실제 행 조각들이 담긴다.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블록의 사용 가능 공간 관리는 PCTFREE와 직결된다. PCTFREE는 각 블록에서 미래의 업데이트를 대비해 삽입에 쓰지 않고 비워 두는 비율이다. 업데이트가 잦아 행 길이가 느는 테이블에서 PCTFREE를 너무 낮게 잡으면 커진 행이 블록에 못 들어가 다른 블록으로 옮겨 가는 행 마이그레이션이 빈발한다. 반대로 삽입만 하는 이력 테이블은 PCTFREE를 낮춰 촘촘히 채우는 게 유리하다. ASSM 테이블스페이스에서는 블록 여유 상태를 프리리스트 대신 비트맵으로 관리해 동시 삽입이 많아도 경합 없이 빈 블록을 찾는다. 오늘날 대부분의 테이블스페이스가 ASSM을 기본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17.10 지연된 세그먼트 생성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현대 Oracle은 세그먼트 생성을 늦춘다. 기본적으로 테이블과 종속 객체(인덱스 등)를 생성할 때 실제 세그먼트 생성은 첫 행이 삽입되는 순간까지 지연된다. 이를 지연된 세그먼트 생성이라 하며 11.2부터 기본 동작이다. 애플리케이션이 설치 스크립트로 수백~수천 개 테이블을 만들지만 상당수가 즉시 안 쓰이는 경우 유용하다. 지연이 없으면 빈 테이블마다 초기 익스텐트가 즉시 할당돼 공간이 낭비된다. 세그먼트가 없는 테이블은 딕셔너리에는 정의로 존재하지만 실제 저장 공간은 전혀 차지하지 않고, 첫 행이 들어올 때 세그먼트와 초기 익스텐트가 할당된다.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빈 테이블은 세그먼트가 없어 DBA_SEGMENTS에서 조회되지 않는다. 첫 행을 삽입하면 그 순간 세그먼트와 초기 익스텐트가 생성돼 조회된다. 세그먼트가 없는 빈 테이블도 DBA_TABLES/USER_TABLES에는 정상적으로 나타나며, DBA_TABLES.SEGMENT_CREATED 컬럼이 NO로 표시된다. 따라서 테이블 개수와 세그먼트 개수가 일치하지 않을 수 있으니 공간 분석 시 이 차이를 염두에 둔다.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지연 동작은 세 수단으로 제어한다. 첫째, 전역 파라미터 DEFERRED_SEGMENT_CREATION(기본 TRUE)로 제어하며 TRUE면 지연, FALSE면 생성 즉시 세그먼트를 할당한다. ALTER SYSTEM/SESSION으로 변경 가능하다. 둘째, CREATE TABLE에 SEGMENT CREATION IMMEDIATE를 붙이면 전역이 TRUE라도 즉시 생성, SEGMENT CREATION DEFERRED를 붙이면 전역이 FALSE라도 그 테이블만 지연한다. 셋째, 이미 만들어졌지만 세그먼트가 없는 빈 테이블에 ALTER TABLE ... ALLOCATE EXTENT를 쓰면 익스텐트를 할당하며 세그먼트를 강제 생성한다. Data Pump로 빈 테이블 이관 시 누락을 피하려면 IMMEDIATE나 ALLOCATE EXTENT로 세그먼트를 확보해 두는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17.12 테이블스페이스 공간 사용량 모니터링 섹션을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저장소 관리의 실무는 공간이 부족해지기 전에 미리 알아차리는 것이다. 네 개 뷰가 핵심이다. DBA_TABLESPACES는 테이블스페이스 속성(상태·유형·블록 크기)을, DBA_DATA_FILES는 데이터 파일의 크기·자동 확장·MAXBYTES를, DBA_FREE_SPACE는 빈 공간을, DBA_SEGMENTS는 세그먼트가 실제 쓰는 공간을 보여 준다. 이를 조합해 사용률을 계산한다. 멀티테넌트에서는 CDB_ 뷰를 CON_ID로 묶어 모든 PDB의 공간 상태를 한 화면에서 조망하고, 각 PDB의 STORAGE(MAXSIZE) 한도 근접 여부도 함께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사용률은 DBA_DATA_FILES의 데이터 파일 크기 합계(총 용량)에서 DBA_FREE_SPACE의 빈 공간 합계를 빼 사용량을 구하고, 사용량/총 용량으로 계산한다. 자동 확장을 고려하면 총 용량 대신 MAXBYTES 합계를 쓴다. 이 쿼리를 크론 잡으로 돌려 사용률이 높은 테이블스페이스를 조기에 찾아낸다. DBA_DATA_FILES.BYTES는 현재 크기, MAXBYTES는 자동 확장 시 최대 크기다. AUTOEXTEND ON인 테이블스페이스의 진짜 여유는 현재 사용량을 MAXBYTES와 비교해야 정확하다.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사용률 계산은 임계값 경보와 연결한다. Oracle Enterprise Manager는 테이블스페이스 사용률에 대한 경고·위험 임계값(예 85%/97%)을 기본 제공하며, 초과 시 서버 생성 알림을 발생시킨다. 이 알림은 DBA_OUTSTANDING_ALERTS 뷰나 EM 대시보드로 확인한다. 임계값에 도달하면 ALTER TABLESPACE ... ADD DATAFILE로 데이터 파일을 추가하거나 AUTOEXTEND ON으로 자동 확장을 구성해 선제 대응한다. 야간 배치 전 사용률을 점검해 미리 확장하면 ORA-01653 같은 공간 부족으로 트랜잭션이 실패·롤백되는 사태를 예방할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 퀴즈로 이 장의 핵심을 점검한다. Q1은 물리·논리 분리의 이점(온라인 재배치·확장), Q2는 테이블스페이스&gt;세그먼트&gt;익스텐트&gt;블록, Q3은 1:N 관계와 데이터 파일이 하나의 테이블스페이스에만 속함, Q4는 컨테이너별 자체 딕셔너리·보조 데이터 관리와 이식성, Q5는 DEFERRED_SEGMENT_CREATION 파라미터·SEGMENT CREATION 절·ALLOCATE EXTENT, Q6은 DBA_DATA_FILES와 DBA_FREE_SPACE 조합으로 사용률 계산이다. 본문 17.13절 퀴즈 박스의 모범답안을 참고해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463040"/>
            <a:ext cx="10058400" cy="548640"/>
          </a:xfrm>
          <a:prstGeom prst="rect">
            <a:avLst/>
          </a:prstGeom>
          <a:noFill/>
        </p:spPr>
        <p:txBody>
          <a:bodyPr wrap="square">
            <a:spAutoFit/>
          </a:bodyPr>
          <a:lstStyle/>
          <a:p>
            <a:pPr algn="l">
              <a:spcAft>
                <a:spcPts val="600"/>
              </a:spcAft>
            </a:pPr>
            <a:r>
              <a:rPr sz="1800" b="1">
                <a:solidFill>
                  <a:srgbClr val="C0392B"/>
                </a:solidFill>
                <a:latin typeface="Malgun Gothic"/>
                <a:ea typeface="Malgun Gothic"/>
              </a:rPr>
              <a:t>Oracle Database 19c Administration Workshop</a:t>
            </a:r>
          </a:p>
        </p:txBody>
      </p:sp>
      <p:sp>
        <p:nvSpPr>
          <p:cNvPr id="5" name="TextBox 4"/>
          <p:cNvSpPr txBox="1"/>
          <p:nvPr/>
        </p:nvSpPr>
        <p:spPr>
          <a:xfrm>
            <a:off x="1188720" y="2194560"/>
            <a:ext cx="10332720" cy="2011680"/>
          </a:xfrm>
          <a:prstGeom prst="rect">
            <a:avLst/>
          </a:prstGeom>
          <a:noFill/>
        </p:spPr>
        <p:txBody>
          <a:bodyPr wrap="square">
            <a:spAutoFit/>
          </a:bodyPr>
          <a:lstStyle/>
          <a:p>
            <a:pPr algn="l">
              <a:spcAft>
                <a:spcPts val="600"/>
              </a:spcAft>
            </a:pPr>
            <a:r>
              <a:rPr sz="4400" b="1">
                <a:solidFill>
                  <a:srgbClr val="FFFFFF"/>
                </a:solidFill>
                <a:latin typeface="Malgun Gothic"/>
                <a:ea typeface="Malgun Gothic"/>
              </a:rPr>
              <a:t>데이터베이스 저장소 개요</a:t>
            </a:r>
          </a:p>
          <a:p>
            <a:pPr algn="l">
              <a:spcAft>
                <a:spcPts val="600"/>
              </a:spcAft>
            </a:pPr>
            <a:r>
              <a:rPr sz="4400" b="1">
                <a:solidFill>
                  <a:srgbClr val="FFFFFF"/>
                </a:solidFill>
                <a:latin typeface="Malgun Gothic"/>
                <a:ea typeface="Malgun Gothic"/>
              </a:rPr>
              <a:t>Database Storage Overview</a:t>
            </a:r>
          </a:p>
        </p:txBody>
      </p:sp>
      <p:sp>
        <p:nvSpPr>
          <p:cNvPr id="6" name="TextBox 5"/>
          <p:cNvSpPr txBox="1"/>
          <p:nvPr/>
        </p:nvSpPr>
        <p:spPr>
          <a:xfrm>
            <a:off x="1188720" y="4480560"/>
            <a:ext cx="10515600" cy="1280160"/>
          </a:xfrm>
          <a:prstGeom prst="rect">
            <a:avLst/>
          </a:prstGeom>
          <a:noFill/>
        </p:spPr>
        <p:txBody>
          <a:bodyPr wrap="square">
            <a:spAutoFit/>
          </a:bodyPr>
          <a:lstStyle/>
          <a:p>
            <a:pPr algn="l">
              <a:spcAft>
                <a:spcPts val="600"/>
              </a:spcAft>
            </a:pPr>
            <a:r>
              <a:rPr sz="1800" b="0">
                <a:solidFill>
                  <a:srgbClr val="C5CED6"/>
                </a:solidFill>
                <a:latin typeface="Malgun Gothic"/>
                <a:ea typeface="Malgun Gothic"/>
              </a:rPr>
              <a:t>논리·물리 구조 · 세그먼트/익스텐트/블록 · 테이블스페이스와 데이터 파일 · 지연 세그먼트 생성 · 공간 모니터링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80160"/>
            <a:ext cx="10881360" cy="5029200"/>
          </a:xfrm>
          <a:prstGeom prst="rect">
            <a:avLst/>
          </a:prstGeom>
          <a:noFill/>
        </p:spPr>
        <p:txBody>
          <a:bodyPr wrap="square">
            <a:spAutoFit/>
          </a:bodyPr>
          <a:lstStyle/>
          <a:p>
            <a:pPr algn="l">
              <a:spcAft>
                <a:spcPts val="1000"/>
              </a:spcAft>
            </a:pPr>
            <a:r>
              <a:rPr sz="1600" b="0">
                <a:solidFill>
                  <a:srgbClr val="C0392B"/>
                </a:solidFill>
                <a:latin typeface="Malgun Gothic"/>
                <a:ea typeface="Malgun Gothic"/>
              </a:rPr>
              <a:t>•  논리적 저장 구조와 물리적 저장 구조의 구분과 ‘분리’의 의미</a:t>
            </a:r>
          </a:p>
          <a:p>
            <a:pPr algn="l">
              <a:spcAft>
                <a:spcPts val="1000"/>
              </a:spcAft>
            </a:pPr>
            <a:r>
              <a:rPr sz="1600" b="0">
                <a:solidFill>
                  <a:srgbClr val="C0392B"/>
                </a:solidFill>
                <a:latin typeface="Malgun Gothic"/>
                <a:ea typeface="Malgun Gothic"/>
              </a:rPr>
              <a:t>•  테이블스페이스 &gt; 세그먼트 &gt; 익스텐트 &gt; 데이터 블록 계층</a:t>
            </a:r>
          </a:p>
          <a:p>
            <a:pPr algn="l">
              <a:spcAft>
                <a:spcPts val="1000"/>
              </a:spcAft>
            </a:pPr>
            <a:r>
              <a:rPr sz="1600" b="0">
                <a:solidFill>
                  <a:srgbClr val="C0392B"/>
                </a:solidFill>
                <a:latin typeface="Malgun Gothic"/>
                <a:ea typeface="Malgun Gothic"/>
              </a:rPr>
              <a:t>•  세그먼트·익스텐트·블록의 관계와 세그먼트 성장</a:t>
            </a:r>
          </a:p>
          <a:p>
            <a:pPr algn="l">
              <a:spcAft>
                <a:spcPts val="1000"/>
              </a:spcAft>
            </a:pPr>
            <a:r>
              <a:rPr sz="1600" b="0">
                <a:solidFill>
                  <a:srgbClr val="C0392B"/>
                </a:solidFill>
                <a:latin typeface="Malgun Gothic"/>
                <a:ea typeface="Malgun Gothic"/>
              </a:rPr>
              <a:t>•  테이블스페이스와 데이터 파일의 1:N 관계</a:t>
            </a:r>
          </a:p>
          <a:p>
            <a:pPr algn="l">
              <a:spcAft>
                <a:spcPts val="1000"/>
              </a:spcAft>
            </a:pPr>
            <a:r>
              <a:rPr sz="1600" b="0">
                <a:solidFill>
                  <a:srgbClr val="C0392B"/>
                </a:solidFill>
                <a:latin typeface="Malgun Gothic"/>
                <a:ea typeface="Malgun Gothic"/>
              </a:rPr>
              <a:t>•  CDB 컨테이너별 SYSTEM/SYSAUX/로컬 언두 테이블스페이스</a:t>
            </a:r>
          </a:p>
          <a:p>
            <a:pPr algn="l">
              <a:spcAft>
                <a:spcPts val="1000"/>
              </a:spcAft>
            </a:pPr>
            <a:r>
              <a:rPr sz="1600" b="0">
                <a:solidFill>
                  <a:srgbClr val="C0392B"/>
                </a:solidFill>
                <a:latin typeface="Malgun Gothic"/>
                <a:ea typeface="Malgun Gothic"/>
              </a:rPr>
              <a:t>•  세그먼트 유형·행 조각·데이터 블록 구성요소</a:t>
            </a:r>
          </a:p>
          <a:p>
            <a:pPr algn="l">
              <a:spcAft>
                <a:spcPts val="1000"/>
              </a:spcAft>
            </a:pPr>
            <a:r>
              <a:rPr sz="1600" b="0">
                <a:solidFill>
                  <a:srgbClr val="C0392B"/>
                </a:solidFill>
                <a:latin typeface="Malgun Gothic"/>
                <a:ea typeface="Malgun Gothic"/>
              </a:rPr>
              <a:t>•  지연된 세그먼트 생성의 개념과 제어</a:t>
            </a:r>
          </a:p>
          <a:p>
            <a:pPr algn="l">
              <a:spcAft>
                <a:spcPts val="1000"/>
              </a:spcAft>
            </a:pPr>
            <a:r>
              <a:rPr sz="1600" b="0">
                <a:solidFill>
                  <a:srgbClr val="C0392B"/>
                </a:solidFill>
                <a:latin typeface="Malgun Gothic"/>
                <a:ea typeface="Malgun Gothic"/>
              </a:rPr>
              <a:t>•  DBA_TABLESPACES/DATA_FILES/FREE_SPACE/SEGMENTS로 공간 모니터링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80160"/>
            <a:ext cx="10881360" cy="5029200"/>
          </a:xfrm>
          <a:prstGeom prst="rect">
            <a:avLst/>
          </a:prstGeom>
          <a:noFill/>
        </p:spPr>
        <p:txBody>
          <a:bodyPr wrap="square">
            <a:spAutoFit/>
          </a:bodyPr>
          <a:lstStyle/>
          <a:p>
            <a:pPr algn="l">
              <a:spcAft>
                <a:spcPts val="1000"/>
              </a:spcAft>
            </a:pPr>
            <a:r>
              <a:rPr sz="1700" b="0">
                <a:solidFill>
                  <a:srgbClr val="C0392B"/>
                </a:solidFill>
                <a:latin typeface="Malgun Gothic"/>
                <a:ea typeface="Malgun Gothic"/>
              </a:rPr>
              <a:t>•  17.1 저장소 아키텍처 개요  ·  17.2 논리/물리 저장 계층</a:t>
            </a:r>
          </a:p>
          <a:p>
            <a:pPr algn="l">
              <a:spcAft>
                <a:spcPts val="1000"/>
              </a:spcAft>
            </a:pPr>
            <a:r>
              <a:rPr sz="1700" b="0">
                <a:solidFill>
                  <a:srgbClr val="C0392B"/>
                </a:solidFill>
                <a:latin typeface="Malgun Gothic"/>
                <a:ea typeface="Malgun Gothic"/>
              </a:rPr>
              <a:t>•  17.3 세그먼트·익스텐트·블록  ·  17.4 테이블스페이스와 데이터 파일</a:t>
            </a:r>
          </a:p>
          <a:p>
            <a:pPr algn="l">
              <a:spcAft>
                <a:spcPts val="1000"/>
              </a:spcAft>
            </a:pPr>
            <a:r>
              <a:rPr sz="1700" b="0">
                <a:solidFill>
                  <a:srgbClr val="C0392B"/>
                </a:solidFill>
                <a:latin typeface="Malgun Gothic"/>
                <a:ea typeface="Malgun Gothic"/>
              </a:rPr>
              <a:t>•  17.5 CDB 기본 테이블스페이스  ·  17.6 SYSTEM/SYSAUX</a:t>
            </a:r>
          </a:p>
          <a:p>
            <a:pPr algn="l">
              <a:spcAft>
                <a:spcPts val="1000"/>
              </a:spcAft>
            </a:pPr>
            <a:r>
              <a:rPr sz="1700" b="0">
                <a:solidFill>
                  <a:srgbClr val="C0392B"/>
                </a:solidFill>
                <a:latin typeface="Malgun Gothic"/>
                <a:ea typeface="Malgun Gothic"/>
              </a:rPr>
              <a:t>•  17.7 세그먼트 유형  ·  17.8 테이블 데이터 저장(행 조각)</a:t>
            </a:r>
          </a:p>
          <a:p>
            <a:pPr algn="l">
              <a:spcAft>
                <a:spcPts val="1000"/>
              </a:spcAft>
            </a:pPr>
            <a:r>
              <a:rPr sz="1700" b="0">
                <a:solidFill>
                  <a:srgbClr val="C0392B"/>
                </a:solidFill>
                <a:latin typeface="Malgun Gothic"/>
                <a:ea typeface="Malgun Gothic"/>
              </a:rPr>
              <a:t>•  17.9 데이터 블록 구성요소  ·  17.10~11 지연 세그먼트 생성</a:t>
            </a:r>
          </a:p>
          <a:p>
            <a:pPr algn="l">
              <a:spcAft>
                <a:spcPts val="1000"/>
              </a:spcAft>
            </a:pPr>
            <a:r>
              <a:rPr sz="1700" b="0">
                <a:solidFill>
                  <a:srgbClr val="C0392B"/>
                </a:solidFill>
                <a:latin typeface="Malgun Gothic"/>
                <a:ea typeface="Malgun Gothic"/>
              </a:rPr>
              <a:t>•  17.12 테이블스페이스 공간 사용량 모니터링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17.1</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데이터베이스 저장소 아키텍처 개요</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물리적 구조 vs 논리적 구조</a:t>
            </a:r>
          </a:p>
          <a:p>
            <a:pPr algn="l">
              <a:spcAft>
                <a:spcPts val="800"/>
              </a:spcAft>
            </a:pPr>
            <a:r>
              <a:rPr sz="1600" b="0">
                <a:solidFill>
                  <a:srgbClr val="C5CED6"/>
                </a:solidFill>
                <a:latin typeface="Malgun Gothic"/>
                <a:ea typeface="Malgun Gothic"/>
              </a:rPr>
              <a:t>•  두 구조의 분리와 그 이점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물리적 구조와 논리적 구조</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운영체제가 보는 파일 vs DB가 공간을 쓰는 방식</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물리적 구조: 데이터 파일, 컨트롤 파일, 온라인 리두 로그 파일</a:t>
            </a:r>
          </a:p>
          <a:p>
            <a:pPr algn="l">
              <a:spcAft>
                <a:spcPts val="1000"/>
              </a:spcAft>
            </a:pPr>
            <a:r>
              <a:rPr sz="1800" b="0">
                <a:solidFill>
                  <a:srgbClr val="C0392B"/>
                </a:solidFill>
                <a:latin typeface="Malgun Gothic"/>
                <a:ea typeface="Malgun Gothic"/>
              </a:rPr>
              <a:t>•  논리적 구조: 테이블스페이스, 세그먼트, 익스텐트, 데이터 블록</a:t>
            </a:r>
          </a:p>
          <a:p>
            <a:pPr algn="l">
              <a:spcAft>
                <a:spcPts val="1000"/>
              </a:spcAft>
            </a:pPr>
            <a:r>
              <a:rPr sz="1800" b="0">
                <a:solidFill>
                  <a:srgbClr val="C0392B"/>
                </a:solidFill>
                <a:latin typeface="Malgun Gothic"/>
                <a:ea typeface="Malgun Gothic"/>
              </a:rPr>
              <a:t>•  물리 = 디스크에 실재하는 파일(경로·크기 존재)</a:t>
            </a:r>
          </a:p>
          <a:p>
            <a:pPr algn="l">
              <a:spcAft>
                <a:spcPts val="1000"/>
              </a:spcAft>
            </a:pPr>
            <a:r>
              <a:rPr sz="1800" b="0">
                <a:solidFill>
                  <a:srgbClr val="C0392B"/>
                </a:solidFill>
                <a:latin typeface="Malgun Gothic"/>
                <a:ea typeface="Malgun Gothic"/>
              </a:rPr>
              <a:t>•  논리 = 공간을 조직·할당하는 개념적 단위(파일로 존재 안 함)</a:t>
            </a:r>
          </a:p>
          <a:p>
            <a:pPr algn="l">
              <a:spcAft>
                <a:spcPts val="1000"/>
              </a:spcAft>
            </a:pPr>
            <a:r>
              <a:rPr sz="1800" b="0">
                <a:solidFill>
                  <a:srgbClr val="C0392B"/>
                </a:solidFill>
                <a:latin typeface="Malgun Gothic"/>
                <a:ea typeface="Malgun Gothic"/>
              </a:rPr>
              <a:t>•  사용자는 논리(테이블)를, DBA는 두 세계를 함께 사고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물리·논리 구조의 분리</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물리 변경이 논리 접근에 영향을 주지 않는다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분리 원칙: 물리 저장 관리가 논리 접근에 영향 없음</a:t>
            </a:r>
          </a:p>
          <a:p>
            <a:pPr algn="l">
              <a:spcAft>
                <a:spcPts val="1000"/>
              </a:spcAft>
            </a:pPr>
            <a:r>
              <a:rPr sz="1800" b="0">
                <a:solidFill>
                  <a:srgbClr val="C0392B"/>
                </a:solidFill>
                <a:latin typeface="Malgun Gothic"/>
                <a:ea typeface="Malgun Gothic"/>
              </a:rPr>
              <a:t>•  예) 데이터 파일 이름 변경(물리)은 테이블스페이스 논리명과 무관</a:t>
            </a:r>
          </a:p>
          <a:p>
            <a:pPr algn="l">
              <a:spcAft>
                <a:spcPts val="1000"/>
              </a:spcAft>
            </a:pPr>
            <a:r>
              <a:rPr sz="1800" b="0">
                <a:solidFill>
                  <a:srgbClr val="C0392B"/>
                </a:solidFill>
                <a:latin typeface="Malgun Gothic"/>
                <a:ea typeface="Malgun Gothic"/>
              </a:rPr>
              <a:t>•  애플리케이션은 SELECT * FROM emp만 알면 됨(위치 무관)</a:t>
            </a:r>
          </a:p>
          <a:p>
            <a:pPr algn="l">
              <a:spcAft>
                <a:spcPts val="1000"/>
              </a:spcAft>
            </a:pPr>
            <a:r>
              <a:rPr sz="1800" b="0">
                <a:solidFill>
                  <a:srgbClr val="C0392B"/>
                </a:solidFill>
                <a:latin typeface="Malgun Gothic"/>
                <a:ea typeface="Malgun Gothic"/>
              </a:rPr>
              <a:t>•  덕분에 온라인 재배치·확장·매체 이전이 자유로움</a:t>
            </a:r>
          </a:p>
          <a:p>
            <a:pPr algn="l">
              <a:spcAft>
                <a:spcPts val="1000"/>
              </a:spcAft>
            </a:pPr>
            <a:r>
              <a:rPr sz="1800" b="0">
                <a:solidFill>
                  <a:srgbClr val="C0392B"/>
                </a:solidFill>
                <a:latin typeface="Malgun Gothic"/>
                <a:ea typeface="Malgun Gothic"/>
              </a:rPr>
              <a:t>•  논리·물리는 1:1이 아닌 유연한(다대다) 매핑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17.2</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논리·물리 저장 구조의 계층</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테이블스페이스&gt;세그먼트&gt;익스텐트&gt;블록</a:t>
            </a:r>
          </a:p>
          <a:p>
            <a:pPr algn="l">
              <a:spcAft>
                <a:spcPts val="800"/>
              </a:spcAft>
            </a:pPr>
            <a:r>
              <a:rPr sz="1600" b="0">
                <a:solidFill>
                  <a:srgbClr val="C5CED6"/>
                </a:solidFill>
                <a:latin typeface="Malgun Gothic"/>
                <a:ea typeface="Malgun Gothic"/>
              </a:rPr>
              <a:t>•  데이터 블록과 DB_BLOCK_SIZE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논리 저장 계층</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큰 그릇 안에 작은 그릇 — 포함 관계</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테이블스페이스: 하나 이상의 데이터 파일로 구성된 최상위 단위</a:t>
            </a:r>
          </a:p>
          <a:p>
            <a:pPr algn="l">
              <a:spcAft>
                <a:spcPts val="1000"/>
              </a:spcAft>
            </a:pPr>
            <a:r>
              <a:rPr sz="1800" b="0">
                <a:solidFill>
                  <a:srgbClr val="C0392B"/>
                </a:solidFill>
                <a:latin typeface="Malgun Gothic"/>
                <a:ea typeface="Malgun Gothic"/>
              </a:rPr>
              <a:t>•  세그먼트: 객체(테이블·인덱스)를 위한 익스텐트들의 집합</a:t>
            </a:r>
          </a:p>
          <a:p>
            <a:pPr algn="l">
              <a:spcAft>
                <a:spcPts val="1000"/>
              </a:spcAft>
            </a:pPr>
            <a:r>
              <a:rPr sz="1800" b="0">
                <a:solidFill>
                  <a:srgbClr val="C0392B"/>
                </a:solidFill>
                <a:latin typeface="Malgun Gothic"/>
                <a:ea typeface="Malgun Gothic"/>
              </a:rPr>
              <a:t>•  익스텐트: 한 번에 할당되는 연속된 데이터 블록의 묶음</a:t>
            </a:r>
          </a:p>
          <a:p>
            <a:pPr algn="l">
              <a:spcAft>
                <a:spcPts val="1000"/>
              </a:spcAft>
            </a:pPr>
            <a:r>
              <a:rPr sz="1800" b="0">
                <a:solidFill>
                  <a:srgbClr val="C0392B"/>
                </a:solidFill>
                <a:latin typeface="Malgun Gothic"/>
                <a:ea typeface="Malgun Gothic"/>
              </a:rPr>
              <a:t>•  데이터 블록: I/O·저장의 최소 단위(가장 작은 공간 단위)</a:t>
            </a:r>
          </a:p>
          <a:p>
            <a:pPr algn="l">
              <a:spcAft>
                <a:spcPts val="1000"/>
              </a:spcAft>
            </a:pPr>
            <a:r>
              <a:rPr sz="1800" b="0">
                <a:solidFill>
                  <a:srgbClr val="C0392B"/>
                </a:solidFill>
                <a:latin typeface="Malgun Gothic"/>
                <a:ea typeface="Malgun Gothic"/>
              </a:rPr>
              <a:t>•  포함 관계: 테이블스페이스 ⊃ 세그먼트 ⊃ 익스텐트 ⊃ 블록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데이터 블록과 DB_BLOCK_SIZE</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블록 크기는 생성 시 고정되며 변경 불가</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7EC699"/>
                </a:solidFill>
                <a:latin typeface="Consolas"/>
              </a:rPr>
              <a:t>-- 표준 블록 크기 확인 (바이트)</a:t>
            </a:r>
          </a:p>
          <a:p>
            <a:pPr>
              <a:spcAft>
                <a:spcPts val="0"/>
              </a:spcAft>
            </a:pPr>
            <a:r>
              <a:rPr sz="1200">
                <a:solidFill>
                  <a:srgbClr val="E6E6E6"/>
                </a:solidFill>
                <a:latin typeface="Consolas"/>
              </a:rPr>
              <a:t>SYS@cdb1&gt; SHOW PARAMETER db_block_size</a:t>
            </a:r>
          </a:p>
          <a:p>
            <a:pPr>
              <a:spcAft>
                <a:spcPts val="0"/>
              </a:spcAft>
            </a:pPr>
            <a:r>
              <a:rPr sz="1200">
                <a:solidFill>
                  <a:srgbClr val="E6E6E6"/>
                </a:solidFill>
                <a:latin typeface="Consolas"/>
              </a:rPr>
              <a:t> </a:t>
            </a:r>
          </a:p>
          <a:p>
            <a:pPr>
              <a:spcAft>
                <a:spcPts val="0"/>
              </a:spcAft>
            </a:pPr>
            <a:r>
              <a:rPr sz="1200">
                <a:solidFill>
                  <a:srgbClr val="E6E6E6"/>
                </a:solidFill>
                <a:latin typeface="Consolas"/>
              </a:rPr>
              <a:t>NAME                     TYPE      VALUE</a:t>
            </a:r>
          </a:p>
          <a:p>
            <a:pPr>
              <a:spcAft>
                <a:spcPts val="0"/>
              </a:spcAft>
            </a:pPr>
            <a:r>
              <a:rPr sz="1200">
                <a:solidFill>
                  <a:srgbClr val="7EC699"/>
                </a:solidFill>
                <a:latin typeface="Consolas"/>
              </a:rPr>
              <a:t>------------------------ --------- -----</a:t>
            </a:r>
          </a:p>
          <a:p>
            <a:pPr>
              <a:spcAft>
                <a:spcPts val="0"/>
              </a:spcAft>
            </a:pPr>
            <a:r>
              <a:rPr sz="1200">
                <a:solidFill>
                  <a:srgbClr val="E6E6E6"/>
                </a:solidFill>
                <a:latin typeface="Consolas"/>
              </a:rPr>
              <a:t>db_block_size            integer   8192</a:t>
            </a:r>
          </a:p>
          <a:p>
            <a:pPr>
              <a:spcAft>
                <a:spcPts val="0"/>
              </a:spcAft>
            </a:pPr>
            <a:r>
              <a:rPr sz="1200">
                <a:solidFill>
                  <a:srgbClr val="E6E6E6"/>
                </a:solidFill>
                <a:latin typeface="Consolas"/>
              </a:rPr>
              <a:t> </a:t>
            </a:r>
          </a:p>
          <a:p>
            <a:pPr>
              <a:spcAft>
                <a:spcPts val="0"/>
              </a:spcAft>
            </a:pPr>
            <a:r>
              <a:rPr sz="1200">
                <a:solidFill>
                  <a:srgbClr val="7EC699"/>
                </a:solidFill>
                <a:latin typeface="Consolas"/>
              </a:rPr>
              <a:t>-- 8192 바이트 = 8KB</a:t>
            </a:r>
          </a:p>
          <a:p>
            <a:pPr>
              <a:spcAft>
                <a:spcPts val="0"/>
              </a:spcAft>
            </a:pPr>
            <a:r>
              <a:rPr sz="1200">
                <a:solidFill>
                  <a:srgbClr val="7EC699"/>
                </a:solidFill>
                <a:latin typeface="Consolas"/>
              </a:rPr>
              <a:t>-- 하나의 Oracle 블록 = 하나 이상의 OS 블록</a:t>
            </a:r>
          </a:p>
          <a:p>
            <a:pPr>
              <a:spcAft>
                <a:spcPts val="0"/>
              </a:spcAft>
            </a:pPr>
            <a:r>
              <a:rPr sz="1200">
                <a:solidFill>
                  <a:srgbClr val="7EC699"/>
                </a:solidFill>
                <a:latin typeface="Consolas"/>
              </a:rPr>
              <a:t>-- DB가 디스크 I/O를 수행하는 최소 단위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17.3</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세그먼트·익스텐트·블록의 관계</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세그먼트 성장 메커니즘</a:t>
            </a:r>
          </a:p>
          <a:p>
            <a:pPr algn="l">
              <a:spcAft>
                <a:spcPts val="800"/>
              </a:spcAft>
            </a:pPr>
            <a:r>
              <a:rPr sz="1600" b="0">
                <a:solidFill>
                  <a:srgbClr val="C5CED6"/>
                </a:solidFill>
                <a:latin typeface="Malgun Gothic"/>
                <a:ea typeface="Malgun Gothic"/>
              </a:rPr>
              <a:t>•  상위 워터마크(HWM)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세그먼트·익스텐트·블록의 관계</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객체 생성 시 세그먼트가 만들어진다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테이블/인덱스 생성 → 그 객체를 위한 세그먼트 생성</a:t>
            </a:r>
          </a:p>
          <a:p>
            <a:pPr algn="l">
              <a:spcAft>
                <a:spcPts val="1000"/>
              </a:spcAft>
            </a:pPr>
            <a:r>
              <a:rPr sz="1800" b="0">
                <a:solidFill>
                  <a:srgbClr val="C0392B"/>
                </a:solidFill>
                <a:latin typeface="Malgun Gothic"/>
                <a:ea typeface="Malgun Gothic"/>
              </a:rPr>
              <a:t>•  세그먼트는 최소 1개의 익스텐트(초기 익스텐트)로 시작</a:t>
            </a:r>
          </a:p>
          <a:p>
            <a:pPr algn="l">
              <a:spcAft>
                <a:spcPts val="1000"/>
              </a:spcAft>
            </a:pPr>
            <a:r>
              <a:rPr sz="1800" b="0">
                <a:solidFill>
                  <a:srgbClr val="C0392B"/>
                </a:solidFill>
                <a:latin typeface="Malgun Gothic"/>
                <a:ea typeface="Malgun Gothic"/>
              </a:rPr>
              <a:t>•  행이 추가되어 공간이 소진되면 익스텐트를 추가 할당 → 성장</a:t>
            </a:r>
          </a:p>
          <a:p>
            <a:pPr algn="l">
              <a:spcAft>
                <a:spcPts val="1000"/>
              </a:spcAft>
            </a:pPr>
            <a:r>
              <a:rPr sz="1800" b="0">
                <a:solidFill>
                  <a:srgbClr val="C0392B"/>
                </a:solidFill>
                <a:latin typeface="Malgun Gothic"/>
                <a:ea typeface="Malgun Gothic"/>
              </a:rPr>
              <a:t>•  익스텐트 ‘내부’ 블록은 연속, 서로 다른 익스텐트는 분산 가능</a:t>
            </a:r>
          </a:p>
          <a:p>
            <a:pPr algn="l">
              <a:spcAft>
                <a:spcPts val="1000"/>
              </a:spcAft>
            </a:pPr>
            <a:r>
              <a:rPr sz="1800" b="0">
                <a:solidFill>
                  <a:srgbClr val="C0392B"/>
                </a:solidFill>
                <a:latin typeface="Malgun Gothic"/>
                <a:ea typeface="Malgun Gothic"/>
              </a:rPr>
              <a:t>•  LMT AUTOALLOCATE: 세그먼트가 클수록 익스텐트 크기 증가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상위 워터마크(High Water Mark)</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할당·사용·스캔되는 공간은 서로 다르다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HWM: 세그먼트에서 지금까지 사용된 적 있는 블록의 최고 지점</a:t>
            </a:r>
          </a:p>
          <a:p>
            <a:pPr algn="l">
              <a:spcAft>
                <a:spcPts val="1000"/>
              </a:spcAft>
            </a:pPr>
            <a:r>
              <a:rPr sz="1800" b="0">
                <a:solidFill>
                  <a:srgbClr val="C0392B"/>
                </a:solidFill>
                <a:latin typeface="Malgun Gothic"/>
                <a:ea typeface="Malgun Gothic"/>
              </a:rPr>
              <a:t>•  HWM 아래 = 사용/사용가능 블록, 위 = 미사용(할당만 됨)</a:t>
            </a:r>
          </a:p>
          <a:p>
            <a:pPr algn="l">
              <a:spcAft>
                <a:spcPts val="1000"/>
              </a:spcAft>
            </a:pPr>
            <a:r>
              <a:rPr sz="1800" b="0">
                <a:solidFill>
                  <a:srgbClr val="C0392B"/>
                </a:solidFill>
                <a:latin typeface="Malgun Gothic"/>
                <a:ea typeface="Malgun Gothic"/>
              </a:rPr>
              <a:t>•  전체 테이블 스캔은 HWM 아래 모든 블록을 읽음</a:t>
            </a:r>
          </a:p>
          <a:p>
            <a:pPr algn="l">
              <a:spcAft>
                <a:spcPts val="1000"/>
              </a:spcAft>
            </a:pPr>
            <a:r>
              <a:rPr sz="1800" b="0">
                <a:solidFill>
                  <a:srgbClr val="C0392B"/>
                </a:solidFill>
                <a:latin typeface="Malgun Gothic"/>
                <a:ea typeface="Malgun Gothic"/>
              </a:rPr>
              <a:t>•  대량 DELETE로 비어도 HWM는 자동으로 내려가지 않음</a:t>
            </a:r>
          </a:p>
          <a:p>
            <a:pPr algn="l">
              <a:spcAft>
                <a:spcPts val="1000"/>
              </a:spcAft>
            </a:pPr>
            <a:r>
              <a:rPr sz="1800" b="0">
                <a:solidFill>
                  <a:srgbClr val="C0392B"/>
                </a:solidFill>
                <a:latin typeface="Malgun Gothic"/>
                <a:ea typeface="Malgun Gothic"/>
              </a:rPr>
              <a:t>•  공간 회수: SHRINK/재구성 필요(19장)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세그먼트 조회 예제</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DBA_SEGMENTS로 익스텐트·블록·크기 확인</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E6E6E6"/>
                </a:solidFill>
                <a:latin typeface="Consolas"/>
              </a:rPr>
              <a:t>SYS@cdb1&gt; ALTER SESSION SET CONTAINER = salespdb;</a:t>
            </a:r>
          </a:p>
          <a:p>
            <a:pPr>
              <a:spcAft>
                <a:spcPts val="0"/>
              </a:spcAft>
            </a:pPr>
            <a:r>
              <a:rPr sz="1200">
                <a:solidFill>
                  <a:srgbClr val="E6E6E6"/>
                </a:solidFill>
                <a:latin typeface="Consolas"/>
              </a:rPr>
              <a:t>SYS@cdb1&gt; SELECT segment_name, segment_type, extents,</a:t>
            </a:r>
          </a:p>
          <a:p>
            <a:pPr>
              <a:spcAft>
                <a:spcPts val="0"/>
              </a:spcAft>
            </a:pPr>
            <a:r>
              <a:rPr sz="1200">
                <a:solidFill>
                  <a:srgbClr val="E6E6E6"/>
                </a:solidFill>
                <a:latin typeface="Consolas"/>
              </a:rPr>
              <a:t>  2         blocks, bytes/1024/1024 AS mb</a:t>
            </a:r>
          </a:p>
          <a:p>
            <a:pPr>
              <a:spcAft>
                <a:spcPts val="0"/>
              </a:spcAft>
            </a:pPr>
            <a:r>
              <a:rPr sz="1200">
                <a:solidFill>
                  <a:srgbClr val="E6E6E6"/>
                </a:solidFill>
                <a:latin typeface="Consolas"/>
              </a:rPr>
              <a:t>  3  FROM   dba_segments</a:t>
            </a:r>
          </a:p>
          <a:p>
            <a:pPr>
              <a:spcAft>
                <a:spcPts val="0"/>
              </a:spcAft>
            </a:pPr>
            <a:r>
              <a:rPr sz="1200">
                <a:solidFill>
                  <a:srgbClr val="E6E6E6"/>
                </a:solidFill>
                <a:latin typeface="Consolas"/>
              </a:rPr>
              <a:t>  4  WHERE  owner='HR' AND segment_name='EMPLOYEES';</a:t>
            </a:r>
          </a:p>
          <a:p>
            <a:pPr>
              <a:spcAft>
                <a:spcPts val="0"/>
              </a:spcAft>
            </a:pPr>
            <a:r>
              <a:rPr sz="1200">
                <a:solidFill>
                  <a:srgbClr val="E6E6E6"/>
                </a:solidFill>
                <a:latin typeface="Consolas"/>
              </a:rPr>
              <a:t> </a:t>
            </a:r>
          </a:p>
          <a:p>
            <a:pPr>
              <a:spcAft>
                <a:spcPts val="0"/>
              </a:spcAft>
            </a:pPr>
            <a:r>
              <a:rPr sz="1200">
                <a:solidFill>
                  <a:srgbClr val="E6E6E6"/>
                </a:solidFill>
                <a:latin typeface="Consolas"/>
              </a:rPr>
              <a:t>SEGMENT_NAME  SEGMENT_TYPE  EXTENTS  BLOCKS    MB</a:t>
            </a:r>
          </a:p>
          <a:p>
            <a:pPr>
              <a:spcAft>
                <a:spcPts val="0"/>
              </a:spcAft>
            </a:pPr>
            <a:r>
              <a:rPr sz="1200">
                <a:solidFill>
                  <a:srgbClr val="7EC699"/>
                </a:solidFill>
                <a:latin typeface="Consolas"/>
              </a:rPr>
              <a:t>------------- ------------ -------- ------- -----</a:t>
            </a:r>
          </a:p>
          <a:p>
            <a:pPr>
              <a:spcAft>
                <a:spcPts val="0"/>
              </a:spcAft>
            </a:pPr>
            <a:r>
              <a:rPr sz="1200">
                <a:solidFill>
                  <a:srgbClr val="E6E6E6"/>
                </a:solidFill>
                <a:latin typeface="Consolas"/>
              </a:rPr>
              <a:t>EMPLOYEES     TABLE               1       8  .625</a:t>
            </a:r>
          </a:p>
          <a:p>
            <a:pPr>
              <a:spcAft>
                <a:spcPts val="0"/>
              </a:spcAft>
            </a:pPr>
            <a:r>
              <a:rPr sz="1200">
                <a:solidFill>
                  <a:srgbClr val="E6E6E6"/>
                </a:solidFill>
                <a:latin typeface="Consolas"/>
              </a:rPr>
              <a:t> </a:t>
            </a:r>
          </a:p>
          <a:p>
            <a:pPr>
              <a:spcAft>
                <a:spcPts val="0"/>
              </a:spcAft>
            </a:pPr>
            <a:r>
              <a:rPr sz="1200">
                <a:solidFill>
                  <a:srgbClr val="7EC699"/>
                </a:solidFill>
                <a:latin typeface="Consolas"/>
              </a:rPr>
              <a:t>-- EXTENTS=1 : 초기 익스텐트 하나만 할당된 작은 테이블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17.4</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테이블스페이스와 데이터 파일</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1:N 관계와 데이터 파일 제약</a:t>
            </a:r>
          </a:p>
          <a:p>
            <a:pPr algn="l">
              <a:spcAft>
                <a:spcPts val="800"/>
              </a:spcAft>
            </a:pPr>
            <a:r>
              <a:rPr sz="1600" b="0">
                <a:solidFill>
                  <a:srgbClr val="C5CED6"/>
                </a:solidFill>
                <a:latin typeface="Malgun Gothic"/>
                <a:ea typeface="Malgun Gothic"/>
              </a:rPr>
              <a:t>•  스몰파일/빅파일, 자동 확장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테이블스페이스와 데이터 파일</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논리 테이블스페이스는 물리 데이터 파일 위의 추상화</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DB는 논리적으로 테이블스페이스 단위로 나뉨</a:t>
            </a:r>
          </a:p>
          <a:p>
            <a:pPr algn="l">
              <a:spcAft>
                <a:spcPts val="1000"/>
              </a:spcAft>
            </a:pPr>
            <a:r>
              <a:rPr sz="1800" b="0">
                <a:solidFill>
                  <a:srgbClr val="C0392B"/>
                </a:solidFill>
                <a:latin typeface="Malgun Gothic"/>
                <a:ea typeface="Malgun Gothic"/>
              </a:rPr>
              <a:t>•  한 테이블스페이스 = 하나 이상의 데이터 파일(1:N)</a:t>
            </a:r>
          </a:p>
          <a:p>
            <a:pPr algn="l">
              <a:spcAft>
                <a:spcPts val="1000"/>
              </a:spcAft>
            </a:pPr>
            <a:r>
              <a:rPr sz="1800" b="0">
                <a:solidFill>
                  <a:srgbClr val="C0392B"/>
                </a:solidFill>
                <a:latin typeface="Malgun Gothic"/>
                <a:ea typeface="Malgun Gothic"/>
              </a:rPr>
              <a:t>•  한 데이터 파일 = 오직 하나의 테이블스페이스에만 속함(N:1)</a:t>
            </a:r>
          </a:p>
          <a:p>
            <a:pPr algn="l">
              <a:spcAft>
                <a:spcPts val="1000"/>
              </a:spcAft>
            </a:pPr>
            <a:r>
              <a:rPr sz="1800" b="0">
                <a:solidFill>
                  <a:srgbClr val="C0392B"/>
                </a:solidFill>
                <a:latin typeface="Malgun Gothic"/>
                <a:ea typeface="Malgun Gothic"/>
              </a:rPr>
              <a:t>•  모든 데이터는 테이블스페이스의 데이터 파일에 집합적으로 저장</a:t>
            </a:r>
          </a:p>
          <a:p>
            <a:pPr algn="l">
              <a:spcAft>
                <a:spcPts val="1000"/>
              </a:spcAft>
            </a:pPr>
            <a:r>
              <a:rPr sz="1800" b="0">
                <a:solidFill>
                  <a:srgbClr val="C0392B"/>
                </a:solidFill>
                <a:latin typeface="Malgun Gothic"/>
                <a:ea typeface="Malgun Gothic"/>
              </a:rPr>
              <a:t>•  목적별 분리(데이터/인덱스/이력)로 관리·성능 향상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스몰파일/빅파일과 자동 확장</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파일 구성 방식과 확장 정책</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스몰파일: 여러 데이터 파일 가능, 디스크 분산으로 I/O 분산</a:t>
            </a:r>
          </a:p>
          <a:p>
            <a:pPr algn="l">
              <a:spcAft>
                <a:spcPts val="1000"/>
              </a:spcAft>
            </a:pPr>
            <a:r>
              <a:rPr sz="1800" b="0">
                <a:solidFill>
                  <a:srgbClr val="C0392B"/>
                </a:solidFill>
                <a:latin typeface="Malgun Gothic"/>
                <a:ea typeface="Malgun Gothic"/>
              </a:rPr>
              <a:t>•  빅파일: 단 하나의 초대형 파일, 관리 단순(ASM/대용량에 적합)</a:t>
            </a:r>
          </a:p>
          <a:p>
            <a:pPr algn="l">
              <a:spcAft>
                <a:spcPts val="1000"/>
              </a:spcAft>
            </a:pPr>
            <a:r>
              <a:rPr sz="1800" b="0">
                <a:solidFill>
                  <a:srgbClr val="C0392B"/>
                </a:solidFill>
                <a:latin typeface="Malgun Gothic"/>
                <a:ea typeface="Malgun Gothic"/>
              </a:rPr>
              <a:t>•  AUTOEXTEND ON: 가득 차면 NEXT 단위로 자동 확장</a:t>
            </a:r>
          </a:p>
          <a:p>
            <a:pPr algn="l">
              <a:spcAft>
                <a:spcPts val="1000"/>
              </a:spcAft>
            </a:pPr>
            <a:r>
              <a:rPr sz="1800" b="0">
                <a:solidFill>
                  <a:srgbClr val="C0392B"/>
                </a:solidFill>
                <a:latin typeface="Malgun Gothic"/>
                <a:ea typeface="Malgun Gothic"/>
              </a:rPr>
              <a:t>•  MAXSIZE로 상한 지정 — 무제한은 디스크 소진 위험</a:t>
            </a:r>
          </a:p>
          <a:p>
            <a:pPr algn="l">
              <a:spcAft>
                <a:spcPts val="1000"/>
              </a:spcAft>
            </a:pPr>
            <a:r>
              <a:rPr sz="1800" b="0">
                <a:solidFill>
                  <a:srgbClr val="C0392B"/>
                </a:solidFill>
                <a:latin typeface="Malgun Gothic"/>
                <a:ea typeface="Malgun Gothic"/>
              </a:rPr>
              <a:t>•  확장 방식과 무관하게 세그먼트 저장 원리는 동일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테이블스페이스-데이터 파일 매핑</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DBA_TABLESPACES + DBA_DATA_FILES 조인</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E6E6E6"/>
                </a:solidFill>
                <a:latin typeface="Consolas"/>
              </a:rPr>
              <a:t>SYS@cdb1&gt; SELECT t.tablespace_name, f.file_name,</a:t>
            </a:r>
          </a:p>
          <a:p>
            <a:pPr>
              <a:spcAft>
                <a:spcPts val="0"/>
              </a:spcAft>
            </a:pPr>
            <a:r>
              <a:rPr sz="1200">
                <a:solidFill>
                  <a:srgbClr val="E6E6E6"/>
                </a:solidFill>
                <a:latin typeface="Consolas"/>
              </a:rPr>
              <a:t>  2         f.bytes/1024/1024 AS mb, f.autoextensible</a:t>
            </a:r>
          </a:p>
          <a:p>
            <a:pPr>
              <a:spcAft>
                <a:spcPts val="0"/>
              </a:spcAft>
            </a:pPr>
            <a:r>
              <a:rPr sz="1200">
                <a:solidFill>
                  <a:srgbClr val="E6E6E6"/>
                </a:solidFill>
                <a:latin typeface="Consolas"/>
              </a:rPr>
              <a:t>  3  FROM   dba_tablespaces t</a:t>
            </a:r>
          </a:p>
          <a:p>
            <a:pPr>
              <a:spcAft>
                <a:spcPts val="0"/>
              </a:spcAft>
            </a:pPr>
            <a:r>
              <a:rPr sz="1200">
                <a:solidFill>
                  <a:srgbClr val="E6E6E6"/>
                </a:solidFill>
                <a:latin typeface="Consolas"/>
              </a:rPr>
              <a:t>  4  JOIN   dba_data_files f</a:t>
            </a:r>
          </a:p>
          <a:p>
            <a:pPr>
              <a:spcAft>
                <a:spcPts val="0"/>
              </a:spcAft>
            </a:pPr>
            <a:r>
              <a:rPr sz="1200">
                <a:solidFill>
                  <a:srgbClr val="E6E6E6"/>
                </a:solidFill>
                <a:latin typeface="Consolas"/>
              </a:rPr>
              <a:t>  5    ON   t.tablespace_name = f.tablespace_name</a:t>
            </a:r>
          </a:p>
          <a:p>
            <a:pPr>
              <a:spcAft>
                <a:spcPts val="0"/>
              </a:spcAft>
            </a:pPr>
            <a:r>
              <a:rPr sz="1200">
                <a:solidFill>
                  <a:srgbClr val="E6E6E6"/>
                </a:solidFill>
                <a:latin typeface="Consolas"/>
              </a:rPr>
              <a:t>  6  ORDER  BY t.tablespace_name, f.file_id;</a:t>
            </a:r>
          </a:p>
          <a:p>
            <a:pPr>
              <a:spcAft>
                <a:spcPts val="0"/>
              </a:spcAft>
            </a:pPr>
            <a:r>
              <a:rPr sz="1200">
                <a:solidFill>
                  <a:srgbClr val="E6E6E6"/>
                </a:solidFill>
                <a:latin typeface="Consolas"/>
              </a:rPr>
              <a:t> </a:t>
            </a:r>
          </a:p>
          <a:p>
            <a:pPr>
              <a:spcAft>
                <a:spcPts val="0"/>
              </a:spcAft>
            </a:pPr>
            <a:r>
              <a:rPr sz="1200">
                <a:solidFill>
                  <a:srgbClr val="E6E6E6"/>
                </a:solidFill>
                <a:latin typeface="Consolas"/>
              </a:rPr>
              <a:t>TABLESPACE_NAME  FILE_NAME                  MB   AUT</a:t>
            </a:r>
          </a:p>
          <a:p>
            <a:pPr>
              <a:spcAft>
                <a:spcPts val="0"/>
              </a:spcAft>
            </a:pPr>
            <a:r>
              <a:rPr sz="1200">
                <a:solidFill>
                  <a:srgbClr val="7EC699"/>
                </a:solidFill>
                <a:latin typeface="Consolas"/>
              </a:rPr>
              <a:t>---------------- -------------------- ------- ---</a:t>
            </a:r>
          </a:p>
          <a:p>
            <a:pPr>
              <a:spcAft>
                <a:spcPts val="0"/>
              </a:spcAft>
            </a:pPr>
            <a:r>
              <a:rPr sz="1200">
                <a:solidFill>
                  <a:srgbClr val="E6E6E6"/>
                </a:solidFill>
                <a:latin typeface="Consolas"/>
              </a:rPr>
              <a:t>SYSAUX           .../sysaux01.dbf         550   YES</a:t>
            </a:r>
          </a:p>
          <a:p>
            <a:pPr>
              <a:spcAft>
                <a:spcPts val="0"/>
              </a:spcAft>
            </a:pPr>
            <a:r>
              <a:rPr sz="1200">
                <a:solidFill>
                  <a:srgbClr val="E6E6E6"/>
                </a:solidFill>
                <a:latin typeface="Consolas"/>
              </a:rPr>
              <a:t>SYSTEM           .../system01.dbf         340   YES</a:t>
            </a:r>
          </a:p>
          <a:p>
            <a:pPr>
              <a:spcAft>
                <a:spcPts val="0"/>
              </a:spcAft>
            </a:pPr>
            <a:r>
              <a:rPr sz="1200">
                <a:solidFill>
                  <a:srgbClr val="E6E6E6"/>
                </a:solidFill>
                <a:latin typeface="Consolas"/>
              </a:rPr>
              <a:t>USERS            .../users01.dbf            5   YES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17.5</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CDB의 기본 테이블스페이스</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컨테이너별 SYSTEM/SYSAUX</a:t>
            </a:r>
          </a:p>
          <a:p>
            <a:pPr algn="l">
              <a:spcAft>
                <a:spcPts val="800"/>
              </a:spcAft>
            </a:pPr>
            <a:r>
              <a:rPr sz="1600" b="0">
                <a:solidFill>
                  <a:srgbClr val="C5CED6"/>
                </a:solidFill>
                <a:latin typeface="Malgun Gothic"/>
                <a:ea typeface="Malgun Gothic"/>
              </a:rPr>
              <a:t>•  로컬 언두와 CDB_ 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CDB의 기본 테이블스페이스</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각 컨테이너는 자체 테이블스페이스 집합을 가진다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CDB = 루트(CDB$ROOT) + 시드(PDB$SEED) + PDB들</a:t>
            </a:r>
          </a:p>
          <a:p>
            <a:pPr algn="l">
              <a:spcAft>
                <a:spcPts val="1000"/>
              </a:spcAft>
            </a:pPr>
            <a:r>
              <a:rPr sz="1800" b="0">
                <a:solidFill>
                  <a:srgbClr val="C0392B"/>
                </a:solidFill>
                <a:latin typeface="Malgun Gothic"/>
                <a:ea typeface="Malgun Gothic"/>
              </a:rPr>
              <a:t>•  각 컨테이너가 자체 SYSTEM·SYSAUX 테이블스페이스 보유</a:t>
            </a:r>
          </a:p>
          <a:p>
            <a:pPr algn="l">
              <a:spcAft>
                <a:spcPts val="1000"/>
              </a:spcAft>
            </a:pPr>
            <a:r>
              <a:rPr sz="1800" b="0">
                <a:solidFill>
                  <a:srgbClr val="C0392B"/>
                </a:solidFill>
                <a:latin typeface="Malgun Gothic"/>
                <a:ea typeface="Malgun Gothic"/>
              </a:rPr>
              <a:t>•  이유: 컨테이너마다 자체 딕셔너리·보조 데이터를 별도 관리</a:t>
            </a:r>
          </a:p>
          <a:p>
            <a:pPr algn="l">
              <a:spcAft>
                <a:spcPts val="1000"/>
              </a:spcAft>
            </a:pPr>
            <a:r>
              <a:rPr sz="1800" b="0">
                <a:solidFill>
                  <a:srgbClr val="C0392B"/>
                </a:solidFill>
                <a:latin typeface="Malgun Gothic"/>
                <a:ea typeface="Malgun Gothic"/>
              </a:rPr>
              <a:t>•  사용자 테이블스페이스(USERS 등)도 컨테이너별로 별도 생성</a:t>
            </a:r>
          </a:p>
          <a:p>
            <a:pPr algn="l">
              <a:spcAft>
                <a:spcPts val="1000"/>
              </a:spcAft>
            </a:pPr>
            <a:r>
              <a:rPr sz="1800" b="0">
                <a:solidFill>
                  <a:srgbClr val="C0392B"/>
                </a:solidFill>
                <a:latin typeface="Malgun Gothic"/>
                <a:ea typeface="Malgun Gothic"/>
              </a:rPr>
              <a:t>•  19c 로컬 언두 모드: 각 PDB가 자체 언두 테이블스페이스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컨테이너별 테이블스페이스 조망</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CDB_TABLESPACES를 CON_ID로 조회</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E6E6E6"/>
                </a:solidFill>
                <a:latin typeface="Consolas"/>
              </a:rPr>
              <a:t>SYS@cdb1&gt; SELECT con_id, tablespace_name, contents</a:t>
            </a:r>
          </a:p>
          <a:p>
            <a:pPr>
              <a:spcAft>
                <a:spcPts val="0"/>
              </a:spcAft>
            </a:pPr>
            <a:r>
              <a:rPr sz="1200">
                <a:solidFill>
                  <a:srgbClr val="E6E6E6"/>
                </a:solidFill>
                <a:latin typeface="Consolas"/>
              </a:rPr>
              <a:t>  2  FROM   cdb_tablespaces ORDER BY con_id, tablespace_name;</a:t>
            </a:r>
          </a:p>
          <a:p>
            <a:pPr>
              <a:spcAft>
                <a:spcPts val="0"/>
              </a:spcAft>
            </a:pPr>
            <a:r>
              <a:rPr sz="1200">
                <a:solidFill>
                  <a:srgbClr val="E6E6E6"/>
                </a:solidFill>
                <a:latin typeface="Consolas"/>
              </a:rPr>
              <a:t> </a:t>
            </a:r>
          </a:p>
          <a:p>
            <a:pPr>
              <a:spcAft>
                <a:spcPts val="0"/>
              </a:spcAft>
            </a:pPr>
            <a:r>
              <a:rPr sz="1200">
                <a:solidFill>
                  <a:srgbClr val="E6E6E6"/>
                </a:solidFill>
                <a:latin typeface="Consolas"/>
              </a:rPr>
              <a:t>    CON_ID TABLESPACE_NAME  CONTENTS</a:t>
            </a:r>
          </a:p>
          <a:p>
            <a:pPr>
              <a:spcAft>
                <a:spcPts val="0"/>
              </a:spcAft>
            </a:pPr>
            <a:r>
              <a:rPr sz="1200">
                <a:solidFill>
                  <a:srgbClr val="7EC699"/>
                </a:solidFill>
                <a:latin typeface="Consolas"/>
              </a:rPr>
              <a:t>---------- ---------------- ----------</a:t>
            </a:r>
          </a:p>
          <a:p>
            <a:pPr>
              <a:spcAft>
                <a:spcPts val="0"/>
              </a:spcAft>
            </a:pPr>
            <a:r>
              <a:rPr sz="1200">
                <a:solidFill>
                  <a:srgbClr val="E6E6E6"/>
                </a:solidFill>
                <a:latin typeface="Consolas"/>
              </a:rPr>
              <a:t>         1 SYSTEM           PERMANENT    -- CDB$ROOT</a:t>
            </a:r>
          </a:p>
          <a:p>
            <a:pPr>
              <a:spcAft>
                <a:spcPts val="0"/>
              </a:spcAft>
            </a:pPr>
            <a:r>
              <a:rPr sz="1200">
                <a:solidFill>
                  <a:srgbClr val="E6E6E6"/>
                </a:solidFill>
                <a:latin typeface="Consolas"/>
              </a:rPr>
              <a:t>         1 SYSAUX           PERMANENT</a:t>
            </a:r>
          </a:p>
          <a:p>
            <a:pPr>
              <a:spcAft>
                <a:spcPts val="0"/>
              </a:spcAft>
            </a:pPr>
            <a:r>
              <a:rPr sz="1200">
                <a:solidFill>
                  <a:srgbClr val="E6E6E6"/>
                </a:solidFill>
                <a:latin typeface="Consolas"/>
              </a:rPr>
              <a:t>         1 UNDOTBS1         UNDO</a:t>
            </a:r>
          </a:p>
          <a:p>
            <a:pPr>
              <a:spcAft>
                <a:spcPts val="0"/>
              </a:spcAft>
            </a:pPr>
            <a:r>
              <a:rPr sz="1200">
                <a:solidFill>
                  <a:srgbClr val="E6E6E6"/>
                </a:solidFill>
                <a:latin typeface="Consolas"/>
              </a:rPr>
              <a:t>         3 SYSTEM           PERMANENT    -- salespdb</a:t>
            </a:r>
          </a:p>
          <a:p>
            <a:pPr>
              <a:spcAft>
                <a:spcPts val="0"/>
              </a:spcAft>
            </a:pPr>
            <a:r>
              <a:rPr sz="1200">
                <a:solidFill>
                  <a:srgbClr val="E6E6E6"/>
                </a:solidFill>
                <a:latin typeface="Consolas"/>
              </a:rPr>
              <a:t>         3 SYSAUX           PERMANENT</a:t>
            </a:r>
          </a:p>
          <a:p>
            <a:pPr>
              <a:spcAft>
                <a:spcPts val="0"/>
              </a:spcAft>
            </a:pPr>
            <a:r>
              <a:rPr sz="1200">
                <a:solidFill>
                  <a:srgbClr val="E6E6E6"/>
                </a:solidFill>
                <a:latin typeface="Consolas"/>
              </a:rPr>
              <a:t>         3 UNDOTBS1         UNDO         -- PDB 로컬 언두</a:t>
            </a:r>
          </a:p>
          <a:p>
            <a:pPr>
              <a:spcAft>
                <a:spcPts val="0"/>
              </a:spcAft>
            </a:pPr>
            <a:r>
              <a:rPr sz="1200">
                <a:solidFill>
                  <a:srgbClr val="7EC699"/>
                </a:solidFill>
                <a:latin typeface="Consolas"/>
              </a:rPr>
              <a:t>-- 같은 이름이 CON_ID별로 각각 존재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17.6</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SYSTEM과 SYSAUX 테이블스페이스</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코어 딕셔너리 vs 보조 데이터</a:t>
            </a:r>
          </a:p>
          <a:p>
            <a:pPr algn="l">
              <a:spcAft>
                <a:spcPts val="800"/>
              </a:spcAft>
            </a:pPr>
            <a:r>
              <a:rPr sz="1600" b="0">
                <a:solidFill>
                  <a:srgbClr val="C5CED6"/>
                </a:solidFill>
                <a:latin typeface="Malgun Gothic"/>
                <a:ea typeface="Malgun Gothic"/>
              </a:rPr>
              <a:t>•  SYSAUX 도입 배경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SYSTEM 테이블스페이스</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데이터베이스의 심장 — 코어 딕셔너리</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코어 데이터 딕셔너리 테이블·뷰 포함</a:t>
            </a:r>
          </a:p>
          <a:p>
            <a:pPr algn="l">
              <a:spcAft>
                <a:spcPts val="1000"/>
              </a:spcAft>
            </a:pPr>
            <a:r>
              <a:rPr sz="1800" b="0">
                <a:solidFill>
                  <a:srgbClr val="C0392B"/>
                </a:solidFill>
                <a:latin typeface="Malgun Gothic"/>
                <a:ea typeface="Malgun Gothic"/>
              </a:rPr>
              <a:t>•  객체·사용자·권한 등 모든 정의가 여기에 기록</a:t>
            </a:r>
          </a:p>
          <a:p>
            <a:pPr algn="l">
              <a:spcAft>
                <a:spcPts val="1000"/>
              </a:spcAft>
            </a:pPr>
            <a:r>
              <a:rPr sz="1800" b="0">
                <a:solidFill>
                  <a:srgbClr val="C0392B"/>
                </a:solidFill>
                <a:latin typeface="Malgun Gothic"/>
                <a:ea typeface="Malgun Gothic"/>
              </a:rPr>
              <a:t>•  DB/컨테이너 생성 시 자동 생성, 삭제 불가</a:t>
            </a:r>
          </a:p>
          <a:p>
            <a:pPr algn="l">
              <a:spcAft>
                <a:spcPts val="1000"/>
              </a:spcAft>
            </a:pPr>
            <a:r>
              <a:rPr sz="1800" b="0">
                <a:solidFill>
                  <a:srgbClr val="C0392B"/>
                </a:solidFill>
                <a:latin typeface="Malgun Gothic"/>
                <a:ea typeface="Malgun Gothic"/>
              </a:rPr>
              <a:t>•  항상 온라인이어야 함(손상 시 DB 정상 동작 불가)</a:t>
            </a:r>
          </a:p>
          <a:p>
            <a:pPr algn="l">
              <a:spcAft>
                <a:spcPts val="1000"/>
              </a:spcAft>
            </a:pPr>
            <a:r>
              <a:rPr sz="1800" b="0">
                <a:solidFill>
                  <a:srgbClr val="C0392B"/>
                </a:solidFill>
                <a:latin typeface="Malgun Gothic"/>
                <a:ea typeface="Malgun Gothic"/>
              </a:rPr>
              <a:t>•  원칙적으로 사용자 데이터를 두지 않음(SYS 전용)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SYSAUX 테이블스페이스</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SYSTEM의 보조 — 컴포넌트 데이터의 집결지</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SYSTEM의 보조(auxiliary) 테이블스페이스</a:t>
            </a:r>
          </a:p>
          <a:p>
            <a:pPr algn="l">
              <a:spcAft>
                <a:spcPts val="1000"/>
              </a:spcAft>
            </a:pPr>
            <a:r>
              <a:rPr sz="1800" b="0">
                <a:solidFill>
                  <a:srgbClr val="C0392B"/>
                </a:solidFill>
                <a:latin typeface="Malgun Gothic"/>
                <a:ea typeface="Malgun Gothic"/>
              </a:rPr>
              <a:t>•  AWR, 옵티마이저 통계 이력, EM 리포지터리, Text 등 저장</a:t>
            </a:r>
          </a:p>
          <a:p>
            <a:pPr algn="l">
              <a:spcAft>
                <a:spcPts val="1000"/>
              </a:spcAft>
            </a:pPr>
            <a:r>
              <a:rPr sz="1800" b="0">
                <a:solidFill>
                  <a:srgbClr val="C0392B"/>
                </a:solidFill>
                <a:latin typeface="Malgun Gothic"/>
                <a:ea typeface="Malgun Gothic"/>
              </a:rPr>
              <a:t>•  DB/컨테이너 생성 시 자동 생성</a:t>
            </a:r>
          </a:p>
          <a:p>
            <a:pPr algn="l">
              <a:spcAft>
                <a:spcPts val="1000"/>
              </a:spcAft>
            </a:pPr>
            <a:r>
              <a:rPr sz="1800" b="0">
                <a:solidFill>
                  <a:srgbClr val="C0392B"/>
                </a:solidFill>
                <a:latin typeface="Malgun Gothic"/>
                <a:ea typeface="Malgun Gothic"/>
              </a:rPr>
              <a:t>•  도입 전: 보조 데이터가 SYSTEM에 뒤섞이거나 개별 TS 난립</a:t>
            </a:r>
          </a:p>
          <a:p>
            <a:pPr algn="l">
              <a:spcAft>
                <a:spcPts val="1000"/>
              </a:spcAft>
            </a:pPr>
            <a:r>
              <a:rPr sz="1800" b="0">
                <a:solidFill>
                  <a:srgbClr val="C0392B"/>
                </a:solidFill>
                <a:latin typeface="Malgun Gothic"/>
                <a:ea typeface="Malgun Gothic"/>
              </a:rPr>
              <a:t>•  10g에서 도입 → SYSTEM 부하↓, 설치·구성 단순화</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SYSTEM vs SYSAUX 비교</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역할 분담이 코어의 건전성을 보호한다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SYSTEM: 코어 딕셔너리 / SYS 스키마 / 항상 온라인</a:t>
            </a:r>
          </a:p>
          <a:p>
            <a:pPr algn="l">
              <a:spcAft>
                <a:spcPts val="1000"/>
              </a:spcAft>
            </a:pPr>
            <a:r>
              <a:rPr sz="1800" b="0">
                <a:solidFill>
                  <a:srgbClr val="C0392B"/>
                </a:solidFill>
                <a:latin typeface="Malgun Gothic"/>
                <a:ea typeface="Malgun Gothic"/>
              </a:rPr>
              <a:t>•  SYSAUX: AWR·통계 이력·EM 등 보조 데이터</a:t>
            </a:r>
          </a:p>
          <a:p>
            <a:pPr algn="l">
              <a:spcAft>
                <a:spcPts val="1000"/>
              </a:spcAft>
            </a:pPr>
            <a:r>
              <a:rPr sz="1800" b="0">
                <a:solidFill>
                  <a:srgbClr val="C0392B"/>
                </a:solidFill>
                <a:latin typeface="Malgun Gothic"/>
                <a:ea typeface="Malgun Gothic"/>
              </a:rPr>
              <a:t>•  둘 다 생성 시 자동, 삭제 불가</a:t>
            </a:r>
          </a:p>
          <a:p>
            <a:pPr algn="l">
              <a:spcAft>
                <a:spcPts val="1000"/>
              </a:spcAft>
            </a:pPr>
            <a:r>
              <a:rPr sz="1800" b="0">
                <a:solidFill>
                  <a:srgbClr val="C0392B"/>
                </a:solidFill>
                <a:latin typeface="Malgun Gothic"/>
                <a:ea typeface="Malgun Gothic"/>
              </a:rPr>
              <a:t>•  SYSAUX 폭증해도 SYSTEM 건전성은 보호됨</a:t>
            </a:r>
          </a:p>
          <a:p>
            <a:pPr algn="l">
              <a:spcAft>
                <a:spcPts val="1000"/>
              </a:spcAft>
            </a:pPr>
            <a:r>
              <a:rPr sz="1800" b="0">
                <a:solidFill>
                  <a:srgbClr val="C0392B"/>
                </a:solidFill>
                <a:latin typeface="Malgun Gothic"/>
                <a:ea typeface="Malgun Gothic"/>
              </a:rPr>
              <a:t>•  SYSTEM이 비정상적으로 커지면 사용자 객체 오배치 의심</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17.7</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세그먼트의 유형</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데이터·인덱스·임시·언두</a:t>
            </a:r>
          </a:p>
          <a:p>
            <a:pPr algn="l">
              <a:spcAft>
                <a:spcPts val="800"/>
              </a:spcAft>
            </a:pPr>
            <a:r>
              <a:rPr sz="1600" b="0">
                <a:solidFill>
                  <a:srgbClr val="C5CED6"/>
                </a:solidFill>
                <a:latin typeface="Malgun Gothic"/>
                <a:ea typeface="Malgun Gothic"/>
              </a:rPr>
              <a:t>•  파티션·LOB 세그먼트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세그먼트의 유형</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무엇을 담느냐에 따라 나뉜다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데이터 세그먼트: 테이블·클러스터의 모든 데이터</a:t>
            </a:r>
          </a:p>
          <a:p>
            <a:pPr algn="l">
              <a:spcAft>
                <a:spcPts val="1000"/>
              </a:spcAft>
            </a:pPr>
            <a:r>
              <a:rPr sz="1800" b="0">
                <a:solidFill>
                  <a:srgbClr val="C0392B"/>
                </a:solidFill>
                <a:latin typeface="Malgun Gothic"/>
                <a:ea typeface="Malgun Gothic"/>
              </a:rPr>
              <a:t>•  인덱스 세그먼트: 인덱스 구조(B-Tree 등)</a:t>
            </a:r>
          </a:p>
          <a:p>
            <a:pPr algn="l">
              <a:spcAft>
                <a:spcPts val="1000"/>
              </a:spcAft>
            </a:pPr>
            <a:r>
              <a:rPr sz="1800" b="0">
                <a:solidFill>
                  <a:srgbClr val="C0392B"/>
                </a:solidFill>
                <a:latin typeface="Malgun Gothic"/>
                <a:ea typeface="Malgun Gothic"/>
              </a:rPr>
              <a:t>•  임시 세그먼트: 정렬·해시 등 임시 작업 공간(임시 TS)</a:t>
            </a:r>
          </a:p>
          <a:p>
            <a:pPr algn="l">
              <a:spcAft>
                <a:spcPts val="1000"/>
              </a:spcAft>
            </a:pPr>
            <a:r>
              <a:rPr sz="1800" b="0">
                <a:solidFill>
                  <a:srgbClr val="C0392B"/>
                </a:solidFill>
                <a:latin typeface="Malgun Gothic"/>
                <a:ea typeface="Malgun Gothic"/>
              </a:rPr>
              <a:t>•  언두 세그먼트: 변경 전 이미지(언두 TS 내 자동 관리)</a:t>
            </a:r>
          </a:p>
          <a:p>
            <a:pPr algn="l">
              <a:spcAft>
                <a:spcPts val="1000"/>
              </a:spcAft>
            </a:pPr>
            <a:r>
              <a:rPr sz="1800" b="0">
                <a:solidFill>
                  <a:srgbClr val="C0392B"/>
                </a:solidFill>
                <a:latin typeface="Malgun Gothic"/>
                <a:ea typeface="Malgun Gothic"/>
              </a:rPr>
              <a:t>•  확장 유형: TABLE PARTITION, LOBSEGMENT, LOBINDEX 등</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세그먼트 유형별 사용량</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DBA_SEGMENTS를 유형별로 집계</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E6E6E6"/>
                </a:solidFill>
                <a:latin typeface="Consolas"/>
              </a:rPr>
              <a:t>SYS@cdb1&gt; SELECT segment_type, COUNT(*) AS seg_cnt,</a:t>
            </a:r>
          </a:p>
          <a:p>
            <a:pPr>
              <a:spcAft>
                <a:spcPts val="0"/>
              </a:spcAft>
            </a:pPr>
            <a:r>
              <a:rPr sz="1200">
                <a:solidFill>
                  <a:srgbClr val="E6E6E6"/>
                </a:solidFill>
                <a:latin typeface="Consolas"/>
              </a:rPr>
              <a:t>  2         SUM(bytes)/1024/1024 AS total_mb</a:t>
            </a:r>
          </a:p>
          <a:p>
            <a:pPr>
              <a:spcAft>
                <a:spcPts val="0"/>
              </a:spcAft>
            </a:pPr>
            <a:r>
              <a:rPr sz="1200">
                <a:solidFill>
                  <a:srgbClr val="E6E6E6"/>
                </a:solidFill>
                <a:latin typeface="Consolas"/>
              </a:rPr>
              <a:t>  3  FROM   dba_segments</a:t>
            </a:r>
          </a:p>
          <a:p>
            <a:pPr>
              <a:spcAft>
                <a:spcPts val="0"/>
              </a:spcAft>
            </a:pPr>
            <a:r>
              <a:rPr sz="1200">
                <a:solidFill>
                  <a:srgbClr val="E6E6E6"/>
                </a:solidFill>
                <a:latin typeface="Consolas"/>
              </a:rPr>
              <a:t>  4  GROUP  BY segment_type</a:t>
            </a:r>
          </a:p>
          <a:p>
            <a:pPr>
              <a:spcAft>
                <a:spcPts val="0"/>
              </a:spcAft>
            </a:pPr>
            <a:r>
              <a:rPr sz="1200">
                <a:solidFill>
                  <a:srgbClr val="E6E6E6"/>
                </a:solidFill>
                <a:latin typeface="Consolas"/>
              </a:rPr>
              <a:t>  5  ORDER  BY total_mb DESC;</a:t>
            </a:r>
          </a:p>
          <a:p>
            <a:pPr>
              <a:spcAft>
                <a:spcPts val="0"/>
              </a:spcAft>
            </a:pPr>
            <a:r>
              <a:rPr sz="1200">
                <a:solidFill>
                  <a:srgbClr val="E6E6E6"/>
                </a:solidFill>
                <a:latin typeface="Consolas"/>
              </a:rPr>
              <a:t> </a:t>
            </a:r>
          </a:p>
          <a:p>
            <a:pPr>
              <a:spcAft>
                <a:spcPts val="0"/>
              </a:spcAft>
            </a:pPr>
            <a:r>
              <a:rPr sz="1200">
                <a:solidFill>
                  <a:srgbClr val="E6E6E6"/>
                </a:solidFill>
                <a:latin typeface="Consolas"/>
              </a:rPr>
              <a:t>SEGMENT_TYPE      SEG_CNT   TOTAL_MB</a:t>
            </a:r>
          </a:p>
          <a:p>
            <a:pPr>
              <a:spcAft>
                <a:spcPts val="0"/>
              </a:spcAft>
            </a:pPr>
            <a:r>
              <a:rPr sz="1200">
                <a:solidFill>
                  <a:srgbClr val="7EC699"/>
                </a:solidFill>
                <a:latin typeface="Consolas"/>
              </a:rPr>
              <a:t>----------------- ------- ----------</a:t>
            </a:r>
          </a:p>
          <a:p>
            <a:pPr>
              <a:spcAft>
                <a:spcPts val="0"/>
              </a:spcAft>
            </a:pPr>
            <a:r>
              <a:rPr sz="1200">
                <a:solidFill>
                  <a:srgbClr val="E6E6E6"/>
                </a:solidFill>
                <a:latin typeface="Consolas"/>
              </a:rPr>
              <a:t>TABLE                 512     1840.5</a:t>
            </a:r>
          </a:p>
          <a:p>
            <a:pPr>
              <a:spcAft>
                <a:spcPts val="0"/>
              </a:spcAft>
            </a:pPr>
            <a:r>
              <a:rPr sz="1200">
                <a:solidFill>
                  <a:srgbClr val="E6E6E6"/>
                </a:solidFill>
                <a:latin typeface="Consolas"/>
              </a:rPr>
              <a:t>INDEX                 430      620.0</a:t>
            </a:r>
          </a:p>
          <a:p>
            <a:pPr>
              <a:spcAft>
                <a:spcPts val="0"/>
              </a:spcAft>
            </a:pPr>
            <a:r>
              <a:rPr sz="1200">
                <a:solidFill>
                  <a:srgbClr val="E6E6E6"/>
                </a:solidFill>
                <a:latin typeface="Consolas"/>
              </a:rPr>
              <a:t>LOBSEGMENT             44      310.2</a:t>
            </a:r>
          </a:p>
          <a:p>
            <a:pPr>
              <a:spcAft>
                <a:spcPts val="0"/>
              </a:spcAft>
            </a:pPr>
            <a:r>
              <a:rPr sz="1200">
                <a:solidFill>
                  <a:srgbClr val="E6E6E6"/>
                </a:solidFill>
                <a:latin typeface="Consolas"/>
              </a:rPr>
              <a:t>TABLE PARTITION        18       95.0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17.8</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테이블 데이터가 저장되는 방식</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행 조각(row piece)</a:t>
            </a:r>
          </a:p>
          <a:p>
            <a:pPr algn="l">
              <a:spcAft>
                <a:spcPts val="800"/>
              </a:spcAft>
            </a:pPr>
            <a:r>
              <a:rPr sz="1600" b="0">
                <a:solidFill>
                  <a:srgbClr val="C5CED6"/>
                </a:solidFill>
                <a:latin typeface="Malgun Gothic"/>
                <a:ea typeface="Malgun Gothic"/>
              </a:rPr>
              <a:t>•  행 체이닝과 ROWID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행 조각(Row Piece)</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행은 블록 안에 조각으로 저장된다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테이블 데이터 = 데이터 세그먼트 → 익스텐트 → 블록</a:t>
            </a:r>
          </a:p>
          <a:p>
            <a:pPr algn="l">
              <a:spcAft>
                <a:spcPts val="1000"/>
              </a:spcAft>
            </a:pPr>
            <a:r>
              <a:rPr sz="1800" b="0">
                <a:solidFill>
                  <a:srgbClr val="C0392B"/>
                </a:solidFill>
                <a:latin typeface="Malgun Gothic"/>
                <a:ea typeface="Malgun Gothic"/>
              </a:rPr>
              <a:t>•  각 행은 하나 이상의 행 조각으로 블록에 저장</a:t>
            </a:r>
          </a:p>
          <a:p>
            <a:pPr algn="l">
              <a:spcAft>
                <a:spcPts val="1000"/>
              </a:spcAft>
            </a:pPr>
            <a:r>
              <a:rPr sz="1800" b="0">
                <a:solidFill>
                  <a:srgbClr val="C0392B"/>
                </a:solidFill>
                <a:latin typeface="Malgun Gothic"/>
                <a:ea typeface="Malgun Gothic"/>
              </a:rPr>
              <a:t>•  행이 블록에 다 들어가면 → 전체를 하나의 행 조각으로</a:t>
            </a:r>
          </a:p>
          <a:p>
            <a:pPr algn="l">
              <a:spcAft>
                <a:spcPts val="1000"/>
              </a:spcAft>
            </a:pPr>
            <a:r>
              <a:rPr sz="1800" b="0">
                <a:solidFill>
                  <a:srgbClr val="C0392B"/>
                </a:solidFill>
                <a:latin typeface="Malgun Gothic"/>
                <a:ea typeface="Malgun Gothic"/>
              </a:rPr>
              <a:t>•  행이 너무 길어 안 들어가면 → 여러 행 조각으로 분할</a:t>
            </a:r>
          </a:p>
          <a:p>
            <a:pPr algn="l">
              <a:spcAft>
                <a:spcPts val="1000"/>
              </a:spcAft>
            </a:pPr>
            <a:r>
              <a:rPr sz="1800" b="0">
                <a:solidFill>
                  <a:srgbClr val="C0392B"/>
                </a:solidFill>
                <a:latin typeface="Malgun Gothic"/>
                <a:ea typeface="Malgun Gothic"/>
              </a:rPr>
              <a:t>•  여러 블록에 걸침 = 행 체이닝(row chaining)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행 체이닝과 ROWID</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행의 물리적 주소</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행 체이닝: 긴 행이 여러 블록에 걸쳐 저장(I/O 증가)</a:t>
            </a:r>
          </a:p>
          <a:p>
            <a:pPr algn="l">
              <a:spcAft>
                <a:spcPts val="1000"/>
              </a:spcAft>
            </a:pPr>
            <a:r>
              <a:rPr sz="1800" b="0">
                <a:solidFill>
                  <a:srgbClr val="C0392B"/>
                </a:solidFill>
                <a:latin typeface="Malgun Gothic"/>
                <a:ea typeface="Malgun Gothic"/>
              </a:rPr>
              <a:t>•  행 마이그레이션: 업데이트로 커진 행이 다른 블록으로 이동</a:t>
            </a:r>
          </a:p>
          <a:p>
            <a:pPr algn="l">
              <a:spcAft>
                <a:spcPts val="1000"/>
              </a:spcAft>
            </a:pPr>
            <a:r>
              <a:rPr sz="1800" b="0">
                <a:solidFill>
                  <a:srgbClr val="C0392B"/>
                </a:solidFill>
                <a:latin typeface="Malgun Gothic"/>
                <a:ea typeface="Malgun Gothic"/>
              </a:rPr>
              <a:t>•  둘 다 성능 저하 요인 — 19장에서 대처법</a:t>
            </a:r>
          </a:p>
          <a:p>
            <a:pPr algn="l">
              <a:spcAft>
                <a:spcPts val="1000"/>
              </a:spcAft>
            </a:pPr>
            <a:r>
              <a:rPr sz="1800" b="0">
                <a:solidFill>
                  <a:srgbClr val="C0392B"/>
                </a:solidFill>
                <a:latin typeface="Malgun Gothic"/>
                <a:ea typeface="Malgun Gothic"/>
              </a:rPr>
              <a:t>•  ROWID = 행의 물리적 주소</a:t>
            </a:r>
          </a:p>
          <a:p>
            <a:pPr algn="l">
              <a:spcAft>
                <a:spcPts val="1000"/>
              </a:spcAft>
            </a:pPr>
            <a:r>
              <a:rPr sz="1800" b="0">
                <a:solidFill>
                  <a:srgbClr val="C0392B"/>
                </a:solidFill>
                <a:latin typeface="Malgun Gothic"/>
                <a:ea typeface="Malgun Gothic"/>
              </a:rPr>
              <a:t>•  ROWID에 오브젝트·데이터 파일·블록·행 번호 인코딩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17.9</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데이터 블록의 구성요소</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헤더·디렉터리·여유공간·행 데이터</a:t>
            </a:r>
          </a:p>
          <a:p>
            <a:pPr algn="l">
              <a:spcAft>
                <a:spcPts val="800"/>
              </a:spcAft>
            </a:pPr>
            <a:r>
              <a:rPr sz="1600" b="0">
                <a:solidFill>
                  <a:srgbClr val="C5CED6"/>
                </a:solidFill>
                <a:latin typeface="Malgun Gothic"/>
                <a:ea typeface="Malgun Gothic"/>
              </a:rPr>
              <a:t>•  PCTFREE와 ASSM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데이터 블록의 구성요소</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블록 내부의 논리적 영역</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블록 헤더: 블록 유형·주소·트랜잭션 정보</a:t>
            </a:r>
          </a:p>
          <a:p>
            <a:pPr algn="l">
              <a:spcAft>
                <a:spcPts val="1000"/>
              </a:spcAft>
            </a:pPr>
            <a:r>
              <a:rPr sz="1800" b="0">
                <a:solidFill>
                  <a:srgbClr val="C0392B"/>
                </a:solidFill>
                <a:latin typeface="Malgun Gothic"/>
                <a:ea typeface="Malgun Gothic"/>
              </a:rPr>
              <a:t>•  테이블 디렉터리: 블록에 데이터가 있는 테이블 정보</a:t>
            </a:r>
          </a:p>
          <a:p>
            <a:pPr algn="l">
              <a:spcAft>
                <a:spcPts val="1000"/>
              </a:spcAft>
            </a:pPr>
            <a:r>
              <a:rPr sz="1800" b="0">
                <a:solidFill>
                  <a:srgbClr val="C0392B"/>
                </a:solidFill>
                <a:latin typeface="Malgun Gothic"/>
                <a:ea typeface="Malgun Gothic"/>
              </a:rPr>
              <a:t>•  행 디렉터리: 블록 내 각 행의 위치(삭제 후 슬롯 재사용)</a:t>
            </a:r>
          </a:p>
          <a:p>
            <a:pPr algn="l">
              <a:spcAft>
                <a:spcPts val="1000"/>
              </a:spcAft>
            </a:pPr>
            <a:r>
              <a:rPr sz="1800" b="0">
                <a:solidFill>
                  <a:srgbClr val="C0392B"/>
                </a:solidFill>
                <a:latin typeface="Malgun Gothic"/>
                <a:ea typeface="Malgun Gothic"/>
              </a:rPr>
              <a:t>•  사용 가능 공간: 삽입·업데이트용 여유 공간(가운데)</a:t>
            </a:r>
          </a:p>
          <a:p>
            <a:pPr algn="l">
              <a:spcAft>
                <a:spcPts val="1000"/>
              </a:spcAft>
            </a:pPr>
            <a:r>
              <a:rPr sz="1800" b="0">
                <a:solidFill>
                  <a:srgbClr val="C0392B"/>
                </a:solidFill>
                <a:latin typeface="Malgun Gothic"/>
                <a:ea typeface="Malgun Gothic"/>
              </a:rPr>
              <a:t>•  행 데이터: 실제 테이블·인덱스 데이터(행 조각)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PCTFREE와 여유 공간 관리</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블록 공간을 어떻게 남겨 두는가</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PCTFREE: 미래의 업데이트(행 증가) 대비해 비워 두는 비율</a:t>
            </a:r>
          </a:p>
          <a:p>
            <a:pPr algn="l">
              <a:spcAft>
                <a:spcPts val="1000"/>
              </a:spcAft>
            </a:pPr>
            <a:r>
              <a:rPr sz="1800" b="0">
                <a:solidFill>
                  <a:srgbClr val="C0392B"/>
                </a:solidFill>
                <a:latin typeface="Malgun Gothic"/>
                <a:ea typeface="Malgun Gothic"/>
              </a:rPr>
              <a:t>•  PCTFREE 너무 낮음 + 잦은 업데이트 → 행 마이그레이션 빈발</a:t>
            </a:r>
          </a:p>
          <a:p>
            <a:pPr algn="l">
              <a:spcAft>
                <a:spcPts val="1000"/>
              </a:spcAft>
            </a:pPr>
            <a:r>
              <a:rPr sz="1800" b="0">
                <a:solidFill>
                  <a:srgbClr val="C0392B"/>
                </a:solidFill>
                <a:latin typeface="Malgun Gothic"/>
                <a:ea typeface="Malgun Gothic"/>
              </a:rPr>
              <a:t>•  삽입만 하는 이력 테이블 → PCTFREE 낮춰 촘촘히 채움</a:t>
            </a:r>
          </a:p>
          <a:p>
            <a:pPr algn="l">
              <a:spcAft>
                <a:spcPts val="1000"/>
              </a:spcAft>
            </a:pPr>
            <a:r>
              <a:rPr sz="1800" b="0">
                <a:solidFill>
                  <a:srgbClr val="C0392B"/>
                </a:solidFill>
                <a:latin typeface="Malgun Gothic"/>
                <a:ea typeface="Malgun Gothic"/>
              </a:rPr>
              <a:t>•  ASSM: 블록 여유 상태를 비트맵으로 관리(경합↓)</a:t>
            </a:r>
          </a:p>
          <a:p>
            <a:pPr algn="l">
              <a:spcAft>
                <a:spcPts val="1000"/>
              </a:spcAft>
            </a:pPr>
            <a:r>
              <a:rPr sz="1800" b="0">
                <a:solidFill>
                  <a:srgbClr val="C0392B"/>
                </a:solidFill>
                <a:latin typeface="Malgun Gothic"/>
                <a:ea typeface="Malgun Gothic"/>
              </a:rPr>
              <a:t>•  오늘날 대부분 테이블스페이스가 ASSM 기본 사용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17.10</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지연된 세그먼트 생성</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개념과 이점</a:t>
            </a:r>
          </a:p>
          <a:p>
            <a:pPr algn="l">
              <a:spcAft>
                <a:spcPts val="800"/>
              </a:spcAft>
            </a:pPr>
            <a:r>
              <a:rPr sz="1600" b="0">
                <a:solidFill>
                  <a:srgbClr val="C5CED6"/>
                </a:solidFill>
                <a:latin typeface="Malgun Gothic"/>
                <a:ea typeface="Malgun Gothic"/>
              </a:rPr>
              <a:t>•  DEFERRED_SEGMENT_CREATION / SEGMENT CREATION / ALLOCATE EXTENT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지연된 세그먼트 생성의 이해</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세그먼트 생성을 첫 삽입까지 미룬다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기본: 테이블·종속 객체 생성 시 세그먼트 생성을 지연</a:t>
            </a:r>
          </a:p>
          <a:p>
            <a:pPr algn="l">
              <a:spcAft>
                <a:spcPts val="1000"/>
              </a:spcAft>
            </a:pPr>
            <a:r>
              <a:rPr sz="1800" b="0">
                <a:solidFill>
                  <a:srgbClr val="C0392B"/>
                </a:solidFill>
                <a:latin typeface="Malgun Gothic"/>
                <a:ea typeface="Malgun Gothic"/>
              </a:rPr>
              <a:t>•  실제 세그먼트는 첫 행 INSERT 시점에 생성됨</a:t>
            </a:r>
          </a:p>
          <a:p>
            <a:pPr algn="l">
              <a:spcAft>
                <a:spcPts val="1000"/>
              </a:spcAft>
            </a:pPr>
            <a:r>
              <a:rPr sz="1800" b="0">
                <a:solidFill>
                  <a:srgbClr val="C0392B"/>
                </a:solidFill>
                <a:latin typeface="Malgun Gothic"/>
                <a:ea typeface="Malgun Gothic"/>
              </a:rPr>
              <a:t>•  이점: 많은 테이블 생성(설치 스크립트)에서 공간 절약</a:t>
            </a:r>
          </a:p>
          <a:p>
            <a:pPr algn="l">
              <a:spcAft>
                <a:spcPts val="1000"/>
              </a:spcAft>
            </a:pPr>
            <a:r>
              <a:rPr sz="1800" b="0">
                <a:solidFill>
                  <a:srgbClr val="C0392B"/>
                </a:solidFill>
                <a:latin typeface="Malgun Gothic"/>
                <a:ea typeface="Malgun Gothic"/>
              </a:rPr>
              <a:t>•  세그먼트 없는 빈 테이블 = 딕셔너리엔 존재, 공간은 0</a:t>
            </a:r>
          </a:p>
          <a:p>
            <a:pPr algn="l">
              <a:spcAft>
                <a:spcPts val="1000"/>
              </a:spcAft>
            </a:pPr>
            <a:r>
              <a:rPr sz="1800" b="0">
                <a:solidFill>
                  <a:srgbClr val="C0392B"/>
                </a:solidFill>
                <a:latin typeface="Malgun Gothic"/>
                <a:ea typeface="Malgun Gothic"/>
              </a:rPr>
              <a:t>•  11.2부터 기본 동작</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지연 세그먼트 생성 관찰</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빈 테이블은 세그먼트가 없다</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E6E6E6"/>
                </a:solidFill>
                <a:latin typeface="Consolas"/>
              </a:rPr>
              <a:t>SYS@cdb1&gt; CREATE TABLE hr.t_demo (id NUMBER, name VARCHAR2(50));</a:t>
            </a:r>
          </a:p>
          <a:p>
            <a:pPr>
              <a:spcAft>
                <a:spcPts val="0"/>
              </a:spcAft>
            </a:pPr>
            <a:r>
              <a:rPr sz="1200">
                <a:solidFill>
                  <a:srgbClr val="E6E6E6"/>
                </a:solidFill>
                <a:latin typeface="Consolas"/>
              </a:rPr>
              <a:t>Table created.</a:t>
            </a:r>
          </a:p>
          <a:p>
            <a:pPr>
              <a:spcAft>
                <a:spcPts val="0"/>
              </a:spcAft>
            </a:pPr>
            <a:r>
              <a:rPr sz="1200">
                <a:solidFill>
                  <a:srgbClr val="E6E6E6"/>
                </a:solidFill>
                <a:latin typeface="Consolas"/>
              </a:rPr>
              <a:t> </a:t>
            </a:r>
          </a:p>
          <a:p>
            <a:pPr>
              <a:spcAft>
                <a:spcPts val="0"/>
              </a:spcAft>
            </a:pPr>
            <a:r>
              <a:rPr sz="1200">
                <a:solidFill>
                  <a:srgbClr val="E6E6E6"/>
                </a:solidFill>
                <a:latin typeface="Consolas"/>
              </a:rPr>
              <a:t>SYS@cdb1&gt; SELECT segment_name FROM dba_segments</a:t>
            </a:r>
          </a:p>
          <a:p>
            <a:pPr>
              <a:spcAft>
                <a:spcPts val="0"/>
              </a:spcAft>
            </a:pPr>
            <a:r>
              <a:rPr sz="1200">
                <a:solidFill>
                  <a:srgbClr val="E6E6E6"/>
                </a:solidFill>
                <a:latin typeface="Consolas"/>
              </a:rPr>
              <a:t>  2  WHERE owner='HR' AND segment_name='T_DEMO';</a:t>
            </a:r>
          </a:p>
          <a:p>
            <a:pPr>
              <a:spcAft>
                <a:spcPts val="0"/>
              </a:spcAft>
            </a:pPr>
            <a:r>
              <a:rPr sz="1200">
                <a:solidFill>
                  <a:srgbClr val="E6E6E6"/>
                </a:solidFill>
                <a:latin typeface="Consolas"/>
              </a:rPr>
              <a:t>no rows selected                 -- 아직 세그먼트 없음</a:t>
            </a:r>
          </a:p>
          <a:p>
            <a:pPr>
              <a:spcAft>
                <a:spcPts val="0"/>
              </a:spcAft>
            </a:pPr>
            <a:r>
              <a:rPr sz="1200">
                <a:solidFill>
                  <a:srgbClr val="E6E6E6"/>
                </a:solidFill>
                <a:latin typeface="Consolas"/>
              </a:rPr>
              <a:t> </a:t>
            </a:r>
          </a:p>
          <a:p>
            <a:pPr>
              <a:spcAft>
                <a:spcPts val="0"/>
              </a:spcAft>
            </a:pPr>
            <a:r>
              <a:rPr sz="1200">
                <a:solidFill>
                  <a:srgbClr val="E6E6E6"/>
                </a:solidFill>
                <a:latin typeface="Consolas"/>
              </a:rPr>
              <a:t>SYS@cdb1&gt; INSERT INTO hr.t_demo VALUES (1,'first');</a:t>
            </a:r>
          </a:p>
          <a:p>
            <a:pPr>
              <a:spcAft>
                <a:spcPts val="0"/>
              </a:spcAft>
            </a:pPr>
            <a:r>
              <a:rPr sz="1200">
                <a:solidFill>
                  <a:srgbClr val="E6E6E6"/>
                </a:solidFill>
                <a:latin typeface="Consolas"/>
              </a:rPr>
              <a:t>SYS@cdb1&gt; COMMIT;</a:t>
            </a:r>
          </a:p>
          <a:p>
            <a:pPr>
              <a:spcAft>
                <a:spcPts val="0"/>
              </a:spcAft>
            </a:pPr>
            <a:r>
              <a:rPr sz="1200">
                <a:solidFill>
                  <a:srgbClr val="E6E6E6"/>
                </a:solidFill>
                <a:latin typeface="Consolas"/>
              </a:rPr>
              <a:t>SYS@cdb1&gt; SELECT segment_name FROM dba_segments</a:t>
            </a:r>
          </a:p>
          <a:p>
            <a:pPr>
              <a:spcAft>
                <a:spcPts val="0"/>
              </a:spcAft>
            </a:pPr>
            <a:r>
              <a:rPr sz="1200">
                <a:solidFill>
                  <a:srgbClr val="E6E6E6"/>
                </a:solidFill>
                <a:latin typeface="Consolas"/>
              </a:rPr>
              <a:t>  2  WHERE owner='HR' AND segment_name='T_DEMO';</a:t>
            </a:r>
          </a:p>
          <a:p>
            <a:pPr>
              <a:spcAft>
                <a:spcPts val="0"/>
              </a:spcAft>
            </a:pPr>
            <a:r>
              <a:rPr sz="1200">
                <a:solidFill>
                  <a:srgbClr val="E6E6E6"/>
                </a:solidFill>
                <a:latin typeface="Consolas"/>
              </a:rPr>
              <a:t>T_DEMO                           -- 첫 삽입 후 세그먼트 생성</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지연 생성 제어 — 파라미터와 절</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전역·개별·강제 생성</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7EC699"/>
                </a:solidFill>
                <a:latin typeface="Consolas"/>
              </a:rPr>
              <a:t>-- 전역 제어(기본 TRUE)</a:t>
            </a:r>
          </a:p>
          <a:p>
            <a:pPr>
              <a:spcAft>
                <a:spcPts val="0"/>
              </a:spcAft>
            </a:pPr>
            <a:r>
              <a:rPr sz="1200">
                <a:solidFill>
                  <a:srgbClr val="E6E6E6"/>
                </a:solidFill>
                <a:latin typeface="Consolas"/>
              </a:rPr>
              <a:t>SYS@cdb1&gt; SHOW PARAMETER deferred_segment_creation</a:t>
            </a:r>
          </a:p>
          <a:p>
            <a:pPr>
              <a:spcAft>
                <a:spcPts val="0"/>
              </a:spcAft>
            </a:pPr>
            <a:r>
              <a:rPr sz="1200">
                <a:solidFill>
                  <a:srgbClr val="E6E6E6"/>
                </a:solidFill>
                <a:latin typeface="Consolas"/>
              </a:rPr>
              <a:t>  → boolean  TRUE</a:t>
            </a:r>
          </a:p>
          <a:p>
            <a:pPr>
              <a:spcAft>
                <a:spcPts val="0"/>
              </a:spcAft>
            </a:pPr>
            <a:r>
              <a:rPr sz="1200">
                <a:solidFill>
                  <a:srgbClr val="E6E6E6"/>
                </a:solidFill>
                <a:latin typeface="Consolas"/>
              </a:rPr>
              <a:t>SYS@cdb1&gt; ALTER SESSION SET deferred_segment_creation=FALSE;</a:t>
            </a:r>
          </a:p>
          <a:p>
            <a:pPr>
              <a:spcAft>
                <a:spcPts val="0"/>
              </a:spcAft>
            </a:pPr>
            <a:r>
              <a:rPr sz="1200">
                <a:solidFill>
                  <a:srgbClr val="E6E6E6"/>
                </a:solidFill>
                <a:latin typeface="Consolas"/>
              </a:rPr>
              <a:t> </a:t>
            </a:r>
          </a:p>
          <a:p>
            <a:pPr>
              <a:spcAft>
                <a:spcPts val="0"/>
              </a:spcAft>
            </a:pPr>
            <a:r>
              <a:rPr sz="1200">
                <a:solidFill>
                  <a:srgbClr val="7EC699"/>
                </a:solidFill>
                <a:latin typeface="Consolas"/>
              </a:rPr>
              <a:t>-- 개별 오버라이드</a:t>
            </a:r>
          </a:p>
          <a:p>
            <a:pPr>
              <a:spcAft>
                <a:spcPts val="0"/>
              </a:spcAft>
            </a:pPr>
            <a:r>
              <a:rPr sz="1200">
                <a:solidFill>
                  <a:srgbClr val="E6E6E6"/>
                </a:solidFill>
                <a:latin typeface="Consolas"/>
              </a:rPr>
              <a:t>SYS@cdb1&gt; CREATE TABLE hr.t_now (id NUMBER)</a:t>
            </a:r>
          </a:p>
          <a:p>
            <a:pPr>
              <a:spcAft>
                <a:spcPts val="0"/>
              </a:spcAft>
            </a:pPr>
            <a:r>
              <a:rPr sz="1200">
                <a:solidFill>
                  <a:srgbClr val="E6E6E6"/>
                </a:solidFill>
                <a:latin typeface="Consolas"/>
              </a:rPr>
              <a:t>  2  SEGMENT CREATION IMMEDIATE;   -- 즉시 생성</a:t>
            </a:r>
          </a:p>
          <a:p>
            <a:pPr>
              <a:spcAft>
                <a:spcPts val="0"/>
              </a:spcAft>
            </a:pPr>
            <a:r>
              <a:rPr sz="1200">
                <a:solidFill>
                  <a:srgbClr val="E6E6E6"/>
                </a:solidFill>
                <a:latin typeface="Consolas"/>
              </a:rPr>
              <a:t>SYS@cdb1&gt; CREATE TABLE hr.t_later (id NUMBER)</a:t>
            </a:r>
          </a:p>
          <a:p>
            <a:pPr>
              <a:spcAft>
                <a:spcPts val="0"/>
              </a:spcAft>
            </a:pPr>
            <a:r>
              <a:rPr sz="1200">
                <a:solidFill>
                  <a:srgbClr val="E6E6E6"/>
                </a:solidFill>
                <a:latin typeface="Consolas"/>
              </a:rPr>
              <a:t>  2  SEGMENT CREATION DEFERRED;    -- 지연</a:t>
            </a:r>
          </a:p>
          <a:p>
            <a:pPr>
              <a:spcAft>
                <a:spcPts val="0"/>
              </a:spcAft>
            </a:pPr>
            <a:r>
              <a:rPr sz="1200">
                <a:solidFill>
                  <a:srgbClr val="E6E6E6"/>
                </a:solidFill>
                <a:latin typeface="Consolas"/>
              </a:rPr>
              <a:t> </a:t>
            </a:r>
          </a:p>
          <a:p>
            <a:pPr>
              <a:spcAft>
                <a:spcPts val="0"/>
              </a:spcAft>
            </a:pPr>
            <a:r>
              <a:rPr sz="1200">
                <a:solidFill>
                  <a:srgbClr val="7EC699"/>
                </a:solidFill>
                <a:latin typeface="Consolas"/>
              </a:rPr>
              <a:t>-- 빈 테이블에 세그먼트 강제 생성</a:t>
            </a:r>
          </a:p>
          <a:p>
            <a:pPr>
              <a:spcAft>
                <a:spcPts val="0"/>
              </a:spcAft>
            </a:pPr>
            <a:r>
              <a:rPr sz="1200">
                <a:solidFill>
                  <a:srgbClr val="E6E6E6"/>
                </a:solidFill>
                <a:latin typeface="Consolas"/>
              </a:rPr>
              <a:t>SYS@cdb1&gt; ALTER TABLE hr.t_later ALLOCATE EXTENT;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3657600" cy="1371600"/>
          </a:xfrm>
          <a:prstGeom prst="rect">
            <a:avLst/>
          </a:prstGeom>
          <a:noFill/>
        </p:spPr>
        <p:txBody>
          <a:bodyPr wrap="square">
            <a:spAutoFit/>
          </a:bodyPr>
          <a:lstStyle/>
          <a:p>
            <a:pPr algn="l">
              <a:spcAft>
                <a:spcPts val="600"/>
              </a:spcAft>
            </a:pPr>
            <a:r>
              <a:rPr sz="6600" b="1">
                <a:solidFill>
                  <a:srgbClr val="C0392B"/>
                </a:solidFill>
                <a:latin typeface="Malgun Gothic"/>
                <a:ea typeface="Malgun Gothic"/>
              </a:rPr>
              <a:t>17.12</a:t>
            </a:r>
          </a:p>
        </p:txBody>
      </p:sp>
      <p:sp>
        <p:nvSpPr>
          <p:cNvPr id="4" name="TextBox 3"/>
          <p:cNvSpPr txBox="1"/>
          <p:nvPr/>
        </p:nvSpPr>
        <p:spPr>
          <a:xfrm>
            <a:off x="822960" y="2743200"/>
            <a:ext cx="10515600" cy="1097280"/>
          </a:xfrm>
          <a:prstGeom prst="rect">
            <a:avLst/>
          </a:prstGeom>
          <a:noFill/>
        </p:spPr>
        <p:txBody>
          <a:bodyPr wrap="square">
            <a:spAutoFit/>
          </a:bodyPr>
          <a:lstStyle/>
          <a:p>
            <a:pPr algn="l">
              <a:spcAft>
                <a:spcPts val="600"/>
              </a:spcAft>
            </a:pPr>
            <a:r>
              <a:rPr sz="3400" b="1">
                <a:solidFill>
                  <a:srgbClr val="FFFFFF"/>
                </a:solidFill>
                <a:latin typeface="Malgun Gothic"/>
                <a:ea typeface="Malgun Gothic"/>
              </a:rPr>
              <a:t>테이블스페이스 공간 사용량 모니터링</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lgn="l">
              <a:spcAft>
                <a:spcPts val="800"/>
              </a:spcAft>
            </a:pPr>
            <a:r>
              <a:rPr sz="1600" b="0">
                <a:solidFill>
                  <a:srgbClr val="C5CED6"/>
                </a:solidFill>
                <a:latin typeface="Malgun Gothic"/>
                <a:ea typeface="Malgun Gothic"/>
              </a:rPr>
              <a:t>•  4대 딕셔너리 뷰</a:t>
            </a:r>
          </a:p>
          <a:p>
            <a:pPr algn="l">
              <a:spcAft>
                <a:spcPts val="800"/>
              </a:spcAft>
            </a:pPr>
            <a:r>
              <a:rPr sz="1600" b="0">
                <a:solidFill>
                  <a:srgbClr val="C5CED6"/>
                </a:solidFill>
                <a:latin typeface="Malgun Gothic"/>
                <a:ea typeface="Malgun Gothic"/>
              </a:rPr>
              <a:t>•  사용률 계산과 선제 대응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공간 모니터링 4대 뷰</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부족해지기 전에 미리 알아차리기</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DBA_TABLESPACES: 테이블스페이스 속성(상태·유형)</a:t>
            </a:r>
          </a:p>
          <a:p>
            <a:pPr algn="l">
              <a:spcAft>
                <a:spcPts val="1000"/>
              </a:spcAft>
            </a:pPr>
            <a:r>
              <a:rPr sz="1800" b="0">
                <a:solidFill>
                  <a:srgbClr val="C0392B"/>
                </a:solidFill>
                <a:latin typeface="Malgun Gothic"/>
                <a:ea typeface="Malgun Gothic"/>
              </a:rPr>
              <a:t>•  DBA_DATA_FILES: 데이터 파일(크기·자동확장·MAXBYTES)</a:t>
            </a:r>
          </a:p>
          <a:p>
            <a:pPr algn="l">
              <a:spcAft>
                <a:spcPts val="1000"/>
              </a:spcAft>
            </a:pPr>
            <a:r>
              <a:rPr sz="1800" b="0">
                <a:solidFill>
                  <a:srgbClr val="C0392B"/>
                </a:solidFill>
                <a:latin typeface="Malgun Gothic"/>
                <a:ea typeface="Malgun Gothic"/>
              </a:rPr>
              <a:t>•  DBA_FREE_SPACE: 테이블스페이스의 빈 공간</a:t>
            </a:r>
          </a:p>
          <a:p>
            <a:pPr algn="l">
              <a:spcAft>
                <a:spcPts val="1000"/>
              </a:spcAft>
            </a:pPr>
            <a:r>
              <a:rPr sz="1800" b="0">
                <a:solidFill>
                  <a:srgbClr val="C0392B"/>
                </a:solidFill>
                <a:latin typeface="Malgun Gothic"/>
                <a:ea typeface="Malgun Gothic"/>
              </a:rPr>
              <a:t>•  DBA_SEGMENTS: 세그먼트가 실제 사용하는 공간</a:t>
            </a:r>
          </a:p>
          <a:p>
            <a:pPr algn="l">
              <a:spcAft>
                <a:spcPts val="1000"/>
              </a:spcAft>
            </a:pPr>
            <a:r>
              <a:rPr sz="1800" b="0">
                <a:solidFill>
                  <a:srgbClr val="C0392B"/>
                </a:solidFill>
                <a:latin typeface="Malgun Gothic"/>
                <a:ea typeface="Malgun Gothic"/>
              </a:rPr>
              <a:t>•  CDB_ 뷰로 컨테이너별(CON_ID) 조망도 가능</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테이블스페이스 사용률 계산</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총 용량 − 빈 공간 = 사용량</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spcAft>
                <a:spcPts val="0"/>
              </a:spcAft>
            </a:pPr>
            <a:r>
              <a:rPr sz="1200">
                <a:solidFill>
                  <a:srgbClr val="E6E6E6"/>
                </a:solidFill>
                <a:latin typeface="Consolas"/>
              </a:rPr>
              <a:t>SYS@cdb1&gt; SELECT df.tablespace_name,</a:t>
            </a:r>
          </a:p>
          <a:p>
            <a:pPr>
              <a:spcAft>
                <a:spcPts val="0"/>
              </a:spcAft>
            </a:pPr>
            <a:r>
              <a:rPr sz="1200">
                <a:solidFill>
                  <a:srgbClr val="E6E6E6"/>
                </a:solidFill>
                <a:latin typeface="Consolas"/>
              </a:rPr>
              <a:t>  2    ROUND(df.total_mb,1) total_mb,</a:t>
            </a:r>
          </a:p>
          <a:p>
            <a:pPr>
              <a:spcAft>
                <a:spcPts val="0"/>
              </a:spcAft>
            </a:pPr>
            <a:r>
              <a:rPr sz="1200">
                <a:solidFill>
                  <a:srgbClr val="E6E6E6"/>
                </a:solidFill>
                <a:latin typeface="Consolas"/>
              </a:rPr>
              <a:t>  3    ROUND(df.total_mb-NVL(fs.free_mb,0),1) used_mb,</a:t>
            </a:r>
          </a:p>
          <a:p>
            <a:pPr>
              <a:spcAft>
                <a:spcPts val="0"/>
              </a:spcAft>
            </a:pPr>
            <a:r>
              <a:rPr sz="1200">
                <a:solidFill>
                  <a:srgbClr val="E6E6E6"/>
                </a:solidFill>
                <a:latin typeface="Consolas"/>
              </a:rPr>
              <a:t>  4    ROUND(100*(df.total_mb-NVL(fs.free_mb,0))</a:t>
            </a:r>
          </a:p>
          <a:p>
            <a:pPr>
              <a:spcAft>
                <a:spcPts val="0"/>
              </a:spcAft>
            </a:pPr>
            <a:r>
              <a:rPr sz="1200">
                <a:solidFill>
                  <a:srgbClr val="E6E6E6"/>
                </a:solidFill>
                <a:latin typeface="Consolas"/>
              </a:rPr>
              <a:t>  5          /df.total_mb,1) pct_used</a:t>
            </a:r>
          </a:p>
          <a:p>
            <a:pPr>
              <a:spcAft>
                <a:spcPts val="0"/>
              </a:spcAft>
            </a:pPr>
            <a:r>
              <a:rPr sz="1200">
                <a:solidFill>
                  <a:srgbClr val="E6E6E6"/>
                </a:solidFill>
                <a:latin typeface="Consolas"/>
              </a:rPr>
              <a:t>  6  FROM (SELECT tablespace_name, SUM(bytes)/1024/1024 total_mb</a:t>
            </a:r>
          </a:p>
          <a:p>
            <a:pPr>
              <a:spcAft>
                <a:spcPts val="0"/>
              </a:spcAft>
            </a:pPr>
            <a:r>
              <a:rPr sz="1200">
                <a:solidFill>
                  <a:srgbClr val="E6E6E6"/>
                </a:solidFill>
                <a:latin typeface="Consolas"/>
              </a:rPr>
              <a:t>  7        FROM dba_data_files GROUP BY tablespace_name) df</a:t>
            </a:r>
          </a:p>
          <a:p>
            <a:pPr>
              <a:spcAft>
                <a:spcPts val="0"/>
              </a:spcAft>
            </a:pPr>
            <a:r>
              <a:rPr sz="1200">
                <a:solidFill>
                  <a:srgbClr val="E6E6E6"/>
                </a:solidFill>
                <a:latin typeface="Consolas"/>
              </a:rPr>
              <a:t>  8  LEFT JOIN (SELECT tablespace_name, SUM(bytes)/1024/1024 free_mb</a:t>
            </a:r>
          </a:p>
          <a:p>
            <a:pPr>
              <a:spcAft>
                <a:spcPts val="0"/>
              </a:spcAft>
            </a:pPr>
            <a:r>
              <a:rPr sz="1200">
                <a:solidFill>
                  <a:srgbClr val="E6E6E6"/>
                </a:solidFill>
                <a:latin typeface="Consolas"/>
              </a:rPr>
              <a:t>  9        FROM dba_free_space GROUP BY tablespace_name) fs</a:t>
            </a:r>
          </a:p>
          <a:p>
            <a:pPr>
              <a:spcAft>
                <a:spcPts val="0"/>
              </a:spcAft>
            </a:pPr>
            <a:r>
              <a:rPr sz="1200">
                <a:solidFill>
                  <a:srgbClr val="E6E6E6"/>
                </a:solidFill>
                <a:latin typeface="Consolas"/>
              </a:rPr>
              <a:t> 10    ON df.tablespace_name=fs.tablespace_name</a:t>
            </a:r>
          </a:p>
          <a:p>
            <a:pPr>
              <a:spcAft>
                <a:spcPts val="0"/>
              </a:spcAft>
            </a:pPr>
            <a:r>
              <a:rPr sz="1200">
                <a:solidFill>
                  <a:srgbClr val="E6E6E6"/>
                </a:solidFill>
                <a:latin typeface="Consolas"/>
              </a:rPr>
              <a:t> 11  ORDER BY pct_used DESC;</a:t>
            </a:r>
          </a:p>
          <a:p>
            <a:pPr>
              <a:spcAft>
                <a:spcPts val="0"/>
              </a:spcAft>
            </a:pPr>
            <a:r>
              <a:rPr sz="1200">
                <a:solidFill>
                  <a:srgbClr val="E6E6E6"/>
                </a:solidFill>
                <a:latin typeface="Consolas"/>
              </a:rPr>
              <a:t> </a:t>
            </a:r>
          </a:p>
          <a:p>
            <a:pPr>
              <a:spcAft>
                <a:spcPts val="0"/>
              </a:spcAft>
            </a:pPr>
            <a:r>
              <a:rPr sz="1200">
                <a:solidFill>
                  <a:srgbClr val="E6E6E6"/>
                </a:solidFill>
                <a:latin typeface="Consolas"/>
              </a:rPr>
              <a:t>SYSTEM 340.0 332.1 97.7 / SYSAUX 550.0 498.6 90.7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임계값 경보와 선제 대응</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가득 차기 전에 조치한다</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EM 기본 임계값(예 경고 85% / 위험 97%) 제공</a:t>
            </a:r>
          </a:p>
          <a:p>
            <a:pPr algn="l">
              <a:spcAft>
                <a:spcPts val="1000"/>
              </a:spcAft>
            </a:pPr>
            <a:r>
              <a:rPr sz="1800" b="0">
                <a:solidFill>
                  <a:srgbClr val="C0392B"/>
                </a:solidFill>
                <a:latin typeface="Malgun Gothic"/>
                <a:ea typeface="Malgun Gothic"/>
              </a:rPr>
              <a:t>•  임계값 초과 시 서버 생성 알림 발생(32장)</a:t>
            </a:r>
          </a:p>
          <a:p>
            <a:pPr algn="l">
              <a:spcAft>
                <a:spcPts val="1000"/>
              </a:spcAft>
            </a:pPr>
            <a:r>
              <a:rPr sz="1800" b="0">
                <a:solidFill>
                  <a:srgbClr val="C0392B"/>
                </a:solidFill>
                <a:latin typeface="Malgun Gothic"/>
                <a:ea typeface="Malgun Gothic"/>
              </a:rPr>
              <a:t>•  DBA_OUTSTANDING_ALERTS / EM 대시보드로 확인</a:t>
            </a:r>
          </a:p>
          <a:p>
            <a:pPr algn="l">
              <a:spcAft>
                <a:spcPts val="1000"/>
              </a:spcAft>
            </a:pPr>
            <a:r>
              <a:rPr sz="1800" b="0">
                <a:solidFill>
                  <a:srgbClr val="C0392B"/>
                </a:solidFill>
                <a:latin typeface="Malgun Gothic"/>
                <a:ea typeface="Malgun Gothic"/>
              </a:rPr>
              <a:t>•  대응: 데이터 파일 추가(ADD DATAFILE)</a:t>
            </a:r>
          </a:p>
          <a:p>
            <a:pPr algn="l">
              <a:spcAft>
                <a:spcPts val="1000"/>
              </a:spcAft>
            </a:pPr>
            <a:r>
              <a:rPr sz="1800" b="0">
                <a:solidFill>
                  <a:srgbClr val="C0392B"/>
                </a:solidFill>
                <a:latin typeface="Malgun Gothic"/>
                <a:ea typeface="Malgun Gothic"/>
              </a:rPr>
              <a:t>•  대응: 자동 확장(AUTOEXTEND ON) 구성</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이해도 점검 퀴즈</a:t>
            </a:r>
          </a:p>
        </p:txBody>
      </p:sp>
      <p:sp>
        <p:nvSpPr>
          <p:cNvPr id="4" name="TextBox 3"/>
          <p:cNvSpPr txBox="1"/>
          <p:nvPr/>
        </p:nvSpPr>
        <p:spPr>
          <a:xfrm>
            <a:off x="640080" y="1115568"/>
            <a:ext cx="10881360" cy="457200"/>
          </a:xfrm>
          <a:prstGeom prst="rect">
            <a:avLst/>
          </a:prstGeom>
          <a:noFill/>
        </p:spPr>
        <p:txBody>
          <a:bodyPr wrap="square">
            <a:spAutoFit/>
          </a:bodyPr>
          <a:lstStyle/>
          <a:p>
            <a:pPr algn="l">
              <a:spcAft>
                <a:spcPts val="600"/>
              </a:spcAft>
            </a:pPr>
            <a:r>
              <a:rPr sz="1500" b="0">
                <a:solidFill>
                  <a:srgbClr val="5A6672"/>
                </a:solidFill>
                <a:latin typeface="Malgun Gothic"/>
                <a:ea typeface="Malgun Gothic"/>
              </a:rPr>
              <a:t>핵심 개념을 스스로 확인</a:t>
            </a:r>
          </a:p>
        </p:txBody>
      </p:sp>
      <p:sp>
        <p:nvSpPr>
          <p:cNvPr id="5" name="TextBox 4"/>
          <p:cNvSpPr txBox="1"/>
          <p:nvPr/>
        </p:nvSpPr>
        <p:spPr>
          <a:xfrm>
            <a:off x="640080" y="1600200"/>
            <a:ext cx="10881360" cy="4709160"/>
          </a:xfrm>
          <a:prstGeom prst="rect">
            <a:avLst/>
          </a:prstGeom>
          <a:noFill/>
        </p:spPr>
        <p:txBody>
          <a:bodyPr wrap="square">
            <a:spAutoFit/>
          </a:bodyPr>
          <a:lstStyle/>
          <a:p>
            <a:pPr algn="l">
              <a:spcAft>
                <a:spcPts val="1000"/>
              </a:spcAft>
            </a:pPr>
            <a:r>
              <a:rPr sz="1800" b="0">
                <a:solidFill>
                  <a:srgbClr val="C0392B"/>
                </a:solidFill>
                <a:latin typeface="Malgun Gothic"/>
                <a:ea typeface="Malgun Gothic"/>
              </a:rPr>
              <a:t>•  Q1. 물리·논리 구조가 분리되어 얻는 이점은?</a:t>
            </a:r>
          </a:p>
          <a:p>
            <a:pPr algn="l">
              <a:spcAft>
                <a:spcPts val="1000"/>
              </a:spcAft>
            </a:pPr>
            <a:r>
              <a:rPr sz="1800" b="0">
                <a:solidFill>
                  <a:srgbClr val="C0392B"/>
                </a:solidFill>
                <a:latin typeface="Malgun Gothic"/>
                <a:ea typeface="Malgun Gothic"/>
              </a:rPr>
              <a:t>•  Q2. 논리 저장 계층을 상위→하위로 나열하면?</a:t>
            </a:r>
          </a:p>
          <a:p>
            <a:pPr algn="l">
              <a:spcAft>
                <a:spcPts val="1000"/>
              </a:spcAft>
            </a:pPr>
            <a:r>
              <a:rPr sz="1800" b="0">
                <a:solidFill>
                  <a:srgbClr val="C0392B"/>
                </a:solidFill>
                <a:latin typeface="Malgun Gothic"/>
                <a:ea typeface="Malgun Gothic"/>
              </a:rPr>
              <a:t>•  Q3. 테이블스페이스와 데이터 파일의 관계·제약은?</a:t>
            </a:r>
          </a:p>
          <a:p>
            <a:pPr algn="l">
              <a:spcAft>
                <a:spcPts val="1000"/>
              </a:spcAft>
            </a:pPr>
            <a:r>
              <a:rPr sz="1800" b="0">
                <a:solidFill>
                  <a:srgbClr val="C0392B"/>
                </a:solidFill>
                <a:latin typeface="Malgun Gothic"/>
                <a:ea typeface="Malgun Gothic"/>
              </a:rPr>
              <a:t>•  Q4. CDB에서 컨테이너별 SYSTEM/SYSAUX를 두는 이유는?</a:t>
            </a:r>
          </a:p>
          <a:p>
            <a:pPr algn="l">
              <a:spcAft>
                <a:spcPts val="1000"/>
              </a:spcAft>
            </a:pPr>
            <a:r>
              <a:rPr sz="1800" b="0">
                <a:solidFill>
                  <a:srgbClr val="C0392B"/>
                </a:solidFill>
                <a:latin typeface="Malgun Gothic"/>
                <a:ea typeface="Malgun Gothic"/>
              </a:rPr>
              <a:t>•  Q5. 지연 세그먼트 생성의 전역·개별 제어 방법은?</a:t>
            </a:r>
          </a:p>
          <a:p>
            <a:pPr algn="l">
              <a:spcAft>
                <a:spcPts val="1000"/>
              </a:spcAft>
            </a:pPr>
            <a:r>
              <a:rPr sz="1800" b="0">
                <a:solidFill>
                  <a:srgbClr val="C0392B"/>
                </a:solidFill>
                <a:latin typeface="Malgun Gothic"/>
                <a:ea typeface="Malgun Gothic"/>
              </a:rPr>
              <a:t>•  Q6. 테이블스페이스 사용률은 어떤 뷰로 계산하는가?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요약 (Summary)</a:t>
            </a:r>
          </a:p>
        </p:txBody>
      </p:sp>
      <p:sp>
        <p:nvSpPr>
          <p:cNvPr id="4" name="TextBox 3"/>
          <p:cNvSpPr txBox="1"/>
          <p:nvPr/>
        </p:nvSpPr>
        <p:spPr>
          <a:xfrm>
            <a:off x="640080" y="1280160"/>
            <a:ext cx="10881360" cy="5029200"/>
          </a:xfrm>
          <a:prstGeom prst="rect">
            <a:avLst/>
          </a:prstGeom>
          <a:noFill/>
        </p:spPr>
        <p:txBody>
          <a:bodyPr wrap="square">
            <a:spAutoFit/>
          </a:bodyPr>
          <a:lstStyle/>
          <a:p>
            <a:pPr algn="l">
              <a:spcAft>
                <a:spcPts val="1000"/>
              </a:spcAft>
            </a:pPr>
            <a:r>
              <a:rPr sz="1600" b="0">
                <a:solidFill>
                  <a:srgbClr val="C0392B"/>
                </a:solidFill>
                <a:latin typeface="Malgun Gothic"/>
                <a:ea typeface="Malgun Gothic"/>
              </a:rPr>
              <a:t>•  저장소 = 물리(파일) + 논리(TS/세그먼트/익스텐트/블록), 둘은 분리</a:t>
            </a:r>
          </a:p>
          <a:p>
            <a:pPr algn="l">
              <a:spcAft>
                <a:spcPts val="1000"/>
              </a:spcAft>
            </a:pPr>
            <a:r>
              <a:rPr sz="1600" b="0">
                <a:solidFill>
                  <a:srgbClr val="C0392B"/>
                </a:solidFill>
                <a:latin typeface="Malgun Gothic"/>
                <a:ea typeface="Malgun Gothic"/>
              </a:rPr>
              <a:t>•  논리 계층: 테이블스페이스 ⊃ 세그먼트 ⊃ 익스텐트 ⊃ 블록</a:t>
            </a:r>
          </a:p>
          <a:p>
            <a:pPr algn="l">
              <a:spcAft>
                <a:spcPts val="1000"/>
              </a:spcAft>
            </a:pPr>
            <a:r>
              <a:rPr sz="1600" b="0">
                <a:solidFill>
                  <a:srgbClr val="C0392B"/>
                </a:solidFill>
                <a:latin typeface="Malgun Gothic"/>
                <a:ea typeface="Malgun Gothic"/>
              </a:rPr>
              <a:t>•  TS-데이터 파일 1:N, 데이터 파일은 하나의 TS에만 속함</a:t>
            </a:r>
          </a:p>
          <a:p>
            <a:pPr algn="l">
              <a:spcAft>
                <a:spcPts val="1000"/>
              </a:spcAft>
            </a:pPr>
            <a:r>
              <a:rPr sz="1600" b="0">
                <a:solidFill>
                  <a:srgbClr val="C0392B"/>
                </a:solidFill>
                <a:latin typeface="Malgun Gothic"/>
                <a:ea typeface="Malgun Gothic"/>
              </a:rPr>
              <a:t>•  CDB 컨테이너별 SYSTEM/SYSAUX/로컬 언두 보유</a:t>
            </a:r>
          </a:p>
          <a:p>
            <a:pPr algn="l">
              <a:spcAft>
                <a:spcPts val="1000"/>
              </a:spcAft>
            </a:pPr>
            <a:r>
              <a:rPr sz="1600" b="0">
                <a:solidFill>
                  <a:srgbClr val="C0392B"/>
                </a:solidFill>
                <a:latin typeface="Malgun Gothic"/>
                <a:ea typeface="Malgun Gothic"/>
              </a:rPr>
              <a:t>•  세그먼트 유형·행 조각·블록 구성요소 이해</a:t>
            </a:r>
          </a:p>
          <a:p>
            <a:pPr algn="l">
              <a:spcAft>
                <a:spcPts val="1000"/>
              </a:spcAft>
            </a:pPr>
            <a:r>
              <a:rPr sz="1600" b="0">
                <a:solidFill>
                  <a:srgbClr val="C0392B"/>
                </a:solidFill>
                <a:latin typeface="Malgun Gothic"/>
                <a:ea typeface="Malgun Gothic"/>
              </a:rPr>
              <a:t>•  지연 세그먼트 생성: 파라미터·절·ALLOCATE EXTENT로 제어</a:t>
            </a:r>
          </a:p>
          <a:p>
            <a:pPr algn="l">
              <a:spcAft>
                <a:spcPts val="1000"/>
              </a:spcAft>
            </a:pPr>
            <a:r>
              <a:rPr sz="1600" b="0">
                <a:solidFill>
                  <a:srgbClr val="C0392B"/>
                </a:solidFill>
                <a:latin typeface="Malgun Gothic"/>
                <a:ea typeface="Malgun Gothic"/>
              </a:rPr>
              <a:t>•  DBA_* 뷰로 공간 모니터링 + 임계값 경보·자동 확장</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spcAft>
                <a:spcPts val="600"/>
              </a:spcAft>
            </a:pPr>
            <a:r>
              <a:rPr sz="2600" b="1">
                <a:solidFill>
                  <a:srgbClr val="FFFFFF"/>
                </a:solidFill>
                <a:latin typeface="Malgun Gothic"/>
                <a:ea typeface="Malgun Gothic"/>
              </a:rPr>
              <a:t>실습 17 개요</a:t>
            </a:r>
          </a:p>
        </p:txBody>
      </p:sp>
      <p:sp>
        <p:nvSpPr>
          <p:cNvPr id="4" name="TextBox 3"/>
          <p:cNvSpPr txBox="1"/>
          <p:nvPr/>
        </p:nvSpPr>
        <p:spPr>
          <a:xfrm>
            <a:off x="640080" y="1280160"/>
            <a:ext cx="10881360" cy="5029200"/>
          </a:xfrm>
          <a:prstGeom prst="rect">
            <a:avLst/>
          </a:prstGeom>
          <a:noFill/>
        </p:spPr>
        <p:txBody>
          <a:bodyPr wrap="square">
            <a:spAutoFit/>
          </a:bodyPr>
          <a:lstStyle/>
          <a:p>
            <a:pPr algn="l">
              <a:spcAft>
                <a:spcPts val="1000"/>
              </a:spcAft>
            </a:pPr>
            <a:r>
              <a:rPr sz="1600" b="0">
                <a:solidFill>
                  <a:srgbClr val="C0392B"/>
                </a:solidFill>
                <a:latin typeface="Malgun Gothic"/>
                <a:ea typeface="Malgun Gothic"/>
              </a:rPr>
              <a:t>•  17-01 저장소 아키텍처 및 논리/물리 구조 확인</a:t>
            </a:r>
          </a:p>
          <a:p>
            <a:pPr algn="l">
              <a:spcAft>
                <a:spcPts val="1000"/>
              </a:spcAft>
            </a:pPr>
            <a:r>
              <a:rPr sz="1600" b="0">
                <a:solidFill>
                  <a:srgbClr val="C0392B"/>
                </a:solidFill>
                <a:latin typeface="Malgun Gothic"/>
                <a:ea typeface="Malgun Gothic"/>
              </a:rPr>
              <a:t>•  17-02 세그먼트/익스텐트/블록 개념 확인</a:t>
            </a:r>
          </a:p>
          <a:p>
            <a:pPr algn="l">
              <a:spcAft>
                <a:spcPts val="1000"/>
              </a:spcAft>
            </a:pPr>
            <a:r>
              <a:rPr sz="1600" b="0">
                <a:solidFill>
                  <a:srgbClr val="C0392B"/>
                </a:solidFill>
                <a:latin typeface="Malgun Gothic"/>
                <a:ea typeface="Malgun Gothic"/>
              </a:rPr>
              <a:t>•  17-03 테이블스페이스와 데이터 파일 관계 확인</a:t>
            </a:r>
          </a:p>
          <a:p>
            <a:pPr algn="l">
              <a:spcAft>
                <a:spcPts val="1000"/>
              </a:spcAft>
            </a:pPr>
            <a:r>
              <a:rPr sz="1600" b="0">
                <a:solidFill>
                  <a:srgbClr val="C0392B"/>
                </a:solidFill>
                <a:latin typeface="Malgun Gothic"/>
                <a:ea typeface="Malgun Gothic"/>
              </a:rPr>
              <a:t>•  17-04 CDB 컨테이너별 기본 테이블스페이스 확인</a:t>
            </a:r>
          </a:p>
          <a:p>
            <a:pPr algn="l">
              <a:spcAft>
                <a:spcPts val="1000"/>
              </a:spcAft>
            </a:pPr>
            <a:r>
              <a:rPr sz="1600" b="0">
                <a:solidFill>
                  <a:srgbClr val="C0392B"/>
                </a:solidFill>
                <a:latin typeface="Malgun Gothic"/>
                <a:ea typeface="Malgun Gothic"/>
              </a:rPr>
              <a:t>•  17-05 세그먼트 유형별 저장 방식 확인</a:t>
            </a:r>
          </a:p>
          <a:p>
            <a:pPr algn="l">
              <a:spcAft>
                <a:spcPts val="1000"/>
              </a:spcAft>
            </a:pPr>
            <a:r>
              <a:rPr sz="1600" b="0">
                <a:solidFill>
                  <a:srgbClr val="C0392B"/>
                </a:solidFill>
                <a:latin typeface="Malgun Gothic"/>
                <a:ea typeface="Malgun Gothic"/>
              </a:rPr>
              <a:t>•  17-06 지연 세그먼트 생성 활성화/비활성화</a:t>
            </a:r>
          </a:p>
          <a:p>
            <a:pPr algn="l">
              <a:spcAft>
                <a:spcPts val="1000"/>
              </a:spcAft>
            </a:pPr>
            <a:r>
              <a:rPr sz="1600" b="0">
                <a:solidFill>
                  <a:srgbClr val="C0392B"/>
                </a:solidFill>
                <a:latin typeface="Malgun Gothic"/>
                <a:ea typeface="Malgun Gothic"/>
              </a:rPr>
              <a:t>•  17-07 테이블스페이스 공간 사용량 모니터링</a:t>
            </a:r>
          </a:p>
          <a:p>
            <a:pPr algn="l">
              <a:spcAft>
                <a:spcPts val="1000"/>
              </a:spcAft>
            </a:pPr>
            <a:r>
              <a:rPr sz="1600" b="0">
                <a:solidFill>
                  <a:srgbClr val="C0392B"/>
                </a:solidFill>
                <a:latin typeface="Malgun Gothic"/>
                <a:ea typeface="Malgun Gothic"/>
              </a:rPr>
              <a:t>•  17-08 데이터베이스 블록 내용 구조 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
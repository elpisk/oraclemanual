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Oracle은 공간을 효율적으로 쓰고 공간 부족으로 인한 실패를 완화하기 위해 여러 계층의 기능을 제공한다. ASSM은 블록 내 빈 공간을 비트맵으로 관리하고, 테이블 압축은 중복 값을 심볼 테이블로 치환해 밀도를 높이며, 세그먼트 축소는 흩어진 공간을 회수하고 HWM를 낮춘다. Resumable은 공간 부족·할당량 초과·최대 익스텐트 도달 시 문장을 즉시 실패시키지 않고 일시 중단했다가 문제 해결 후 재개한다. 이 기능들은 서로 배타적이지 않으며, ASSM 위에 압축 테이블을 두고 대량 삭제 후 shrink로 회수하며 배치에 Resumable을 켜는 식으로 함께 사용한다. 단, Advanced Row Compression은 Advanced Compression 옵션 라이선스가 별도로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전통적 수동 세그먼트 공간 관리(MSSM)는 프리리스트라는 연결 리스트로 삽입 가능한 블록을 관리했는데, 동시 삽입이 많으면 buffer busy waits 경합을 유발하고 FREELISTS·PCTUSED를 수동 튜닝해야 했다. ASSM은 비트맵 블록으로 각 블록의 채움 정도(구간별)를 추적해 삽입 시 여유 블록을 빠르게 찾는다. PCTUSED·FREELISTS 조정이 필요 없어 관리가 단순하고, 비트맵이 분산되어 경합이 적으며 공간 활용도가 좋다. 19c에서 로컬 관리 테이블스페이스의 기본이며 SYSTEM(딕셔너리·MANUAL)을 제외하면 표준이다. SEGMENT SPACE MANAGEMENT는 생성 시 결정되며 이후 변경할 수 없다. 상위 워터마크(HWM)는 데이터가 쓰인 최고 지점으로, DELETE해도 내려가지 않아 전체 스캔은 빈 블록까지 읽는다. 이 낭비는 세그먼트 축소로 되돌린다.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dba_tablespaces의 segment_space_management 컬럼으로 각 테이블스페이스의 공간 관리 방식을 확인한다. SYSTEM은 데이터 딕셔너리를 담고 있어 하위 호환성과 안정성을 위해 MANUAL을 유지하며, USERS·SYSAUX 등 나머지는 AUTO(ASSM)다. 이 속성은 테이블스페이스 생성 시 결정되고 이후 변경할 수 없으므로, 방식을 바꾸려면 새 테이블스페이스를 만들고 세그먼트를 이동해야 한다. 사용자 데이터는 SYSTEM에 두지 않는 것이 원칙이다.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행 체이닝은 행 자체가 하나의 데이터 블록에 담기지 못할 만큼 클 때 발생한다. 8KB 블록에 담기지 않는 긴 LONG·LOB, 255개를 초과하는 컬럼을 가진 행이 대표적이다. Oracle은 행을 여러 조각으로 나눠 여러 블록에 저장하고 포인터로 연결하므로, 그 행에 접근하면 여러 블록 I/O가 발생해 성능이 떨어진다. 체이닝은 근본적으로 블록보다 행이 커서 생기므로 PCTFREE로는 해결되지 않으며, 더 큰 블록 크기의 테이블스페이스를 쓰거나 자주 쓰는 컬럼을 앞쪽에 두고 수직 분할하는 등 구조를 재설계해야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행 마이그레이션은 UPDATE로 행이 커져 원래 블록에 들어가지 못할 때 발생한다. Oracle은 행 전체를 여유 있는 새 블록으로 옮기고 원래 위치에는 새 위치를 가리키는 포인터만 남긴다. 인덱스는 여전히 원래 ROWID를 가리키므로 인덱스 접근 시 원래 블록과 새 블록을 모두 읽는 추가 I/O가 발생한다. 마이그레이션은 블록에 갱신용 여유 공간을 남기는 PCTFREE를 적절히 높여 예방하며, 이미 발생한 마이그레이션 행은 ANALYZE ... LIST CHAINED ROWS로 식별한 뒤 ALTER TABLE ... MOVE로 재구성하거나 임시 테이블로 옮겼다 넣어 해소한다.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PCTFREE는 블록에 새 행을 삽입하지 않고 기존 행의 갱신(크기 증가)을 위해 예약하는 공간의 비율이다. PCTFREE 10이면 블록이 90%까지 찼을 때 더 이상 새 행을 받지 않고 10%를 갱신용으로 남긴다. 너무 낮으면 갱신 공간 부족으로 행 마이그레이션이 늘고, 너무 높으면 블록이 덜 채워져 저장 공간과 스캔 효율이 나빠진다. ASSM에서는 PCTUSED가 무시되고 PCTFREE만 유효하므로, 관리자는 사실상 PCTFREE 하나로 블록 채움 정책을 제어한다. 갱신이 잦으면 20~30%, 삽입 위주 이력 테이블은 0~5%가 일반적이다.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세그먼트가 커지면 Oracle은 새 익스텐트를 할당한다. 로컬 관리 테이블스페이스(LMT, 19c 기본)는 익스텐트 할당을 데이터 파일 헤더의 비트맵으로 관리해, 딕셔너리 관리(DMT)의 UET$/FET$ 갱신에 따른 재귀 SQL·롤백 세그먼트 경합을 피한다. 익스텐트 관리 방식은 AUTOALLOCATE(세그먼트 크기에 따라 64KB→1MB→8MB→64MB 자동 증가, 권장)와 UNIFORM(모든 익스텐트 동일 크기) 두 가지다. 보통 자동 할당되지만 대량 적재 전 미리 공간을 확보하거나 특정 RAC 인스턴스에 공간을 배치하려면 ALTER TABLE ... ALLOCATE EXTENT로 명시 할당한다. 19c는 첫 삽입까지 세그먼트 생성을 지연(deferred)한다.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ALTER TABLE ... ALLOCATE EXTENT로 익스텐트를 명시적으로 추가 할당하고, dba_extents로 세그먼트의 익스텐트 개수·크기를 확인한다. 19c는 기본적으로 빈 테이블의 세그먼트 생성을 첫 삽입 시점까지 지연(deferred segment creation)하므로 CREATE TABLE 직후에는 dba_extents에 익스텐트가 없을 수 있다. 즉시 세그먼트를 만들려면 SEGMENT CREATION IMMEDIATE를 지정한다.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인덱스는 SQL*Loader 다이렉트 적재, 파티션·테이블 MOVE, 일부 대량 DDL 후 UNUSABLE 상태가 될 수 있다. SKIP_UNUSABLE_INDEXES가 TRUE(19c 기본)이면 사용 불가능한 비유일 인덱스는 조용히 무시되고 DML은 진행되지만, 인덱스가 없어 관련 쿼리는 느려질 수 있다. FALSE이면 관련 DML이 ORA-01502로 실패한다. 유일 인덱스나 기본 키를 강제하는 인덱스가 UNUSABLE이면 이 파라미터와 무관하게 DML이 실패한다. ALTER INDEX ... REBUILD로 재구축하며, ONLINE을 붙이면 재구축 중에도 원본 테이블 DML이 가능하다. 대량 적재 전 인덱스를 UNUSABLE/DROP했다가 적재 후 REBUILD하면 적재가 빨라진다.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dba_indexes.status로 UNUSABLE 인덱스를 찾는다. SKIP_UNUSABLE_INDEXES를 FALSE로 두면 해당 인덱스와 관련된 DML이 ORA-01502로 실패한다. ALTER INDEX ... REBUILD ONLINE으로 인덱스를 재구축하면 VALID 상태로 복구되고, ONLINE 옵션 덕분에 재구축 중에도 원본 테이블에 대한 DML이 가능하다. 대량 적재 시에는 인덱스를 UNUSABLE로 만들어 두고 적재 후 재구축하는 것이 성능상 유리하다.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임시 테이블은 세션이나 트랜잭션이 지속되는 동안에만 데이터가 존재하는 특수한 테이블로, 중간 결과 저장·리포트 단계별 집계·ETL 스테이징에 유용하다. 데이터는 각 세션에 프라이빗하여 다른 세션은 볼 수 없고, 사용자의 TEMP 테이블스페이스에 저장되며 리두를 거의 생성하지 않아 부하가 낮다. 두 종류가 있는데, 글로벌 임시 테이블(GTT)은 정의가 딕셔너리에 영구 존재하며 모든 세션이 공유하지만 데이터는 세션별 프라이빗이다. 프라이빗 임시 테이블(PTT, 18c)은 정의조차 생성 세션에만 존재하고 세션/트랜잭션 종료 시 정의까지 사라진다.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글로벌 임시 테이블은 CREATE GLOBAL TEMPORARY TABLE로 생성하며, ON COMMIT 절로 데이터 유지 범위를 정한다. ON COMMIT DELETE ROWS(기본값)는 커밋 시마다 행이 삭제되어 데이터가 트랜잭션 동안만 유지되고, ON COMMIT PRESERVE ROWS는 세션 종료까지 유지된다. 정의는 한 번 만들면 모든 세션이 공유하며 각 세션은 자기 데이터만 본다. 반복 실행되는 표준 배치·리포트의 스테이징 영역으로 이상적이고, 데이터가 자동 소멸하며 리두를 거의 생성하지 않는다. 다만 정의 자체를 바꾸려면 그 GTT를 사용 중인 세션이 하나도 없어야 하므로, 구조 변경이 잦으면 PTT가 더 적합하다.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종류의 GTT를 만든다. gtt_txn은 ON COMMIT DELETE ROWS(기본)로 커밋 시 행이 삭제되는 트랜잭션 전용이고, gtt_sess는 ON COMMIT PRESERVE ROWS로 세션 종료까지 데이터가 유지되는 세션 전용이다. dba_tables에서 temporary='Y'와 duration 컬럼(SYS$TRANSACTION / SYS$SESSION)으로 유형을 구분할 수 있다. 데이터는 TEMP 테이블스페이스에 저장되고 DROP TABLE 전까지 정의는 딕셔너리에 남는다.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프라이빗 임시 테이블(PTT)은 18c에서 도입된 기능으로, 정의와 데이터 모두 생성 세션에만 존재하는 완전히 프라이빗한 임시 테이블이다. 메모리에 저장되며 필요 시 임시 테이블스페이스로 스필되고, 다른 세션에는 이름조차 보이지 않으며 딕셔너리에 영구적으로 나타나지 않는다. 이름은 반드시 지정된 접두사로 시작해야 하며 접두사는 PRIVATE_TEMP_TABLE_PREFIX 파라미터(기본 ORA$PTT_)로 정한다. ON COMMIT DROP DEFINITION(기본)은 트랜잭션 종료 시 정의까지 삭제하고, ON COMMIT PRESERVE DEFINITION은 세션 종료까지 유지한다. 세션마다 다른 구조가 필요한 동적 SQL·애드혹 분석에 적합하다.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PTT의 이름은 PRIVATE_TEMP_TABLE_PREFIX(기본 ORA$PTT_)로 시작해야 한다. 접두사 규칙을 어기면 Oracle이 PTT로 인식하지 못해 오류가 난다. 올바른 접두사 ora$ptt_work로 다시 생성하면 성공한다. ON COMMIT PRESERVE DEFINITION은 세션 종료까지 정의·데이터를 유지하는 세션 전용이며, 기본값인 ON COMMIT DROP DEFINITION은 트랜잭션 종료 시 정의까지 사라진다. 여러 분석가가 서로 다른 임시 구조를 동시에 쓰는 애드혹 상황에서 딕셔너리를 오염시키지 않아 유용하다.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테이블 압축은 저장 공간을 절약하고 I/O를 줄여 성능을 개선한다. 압축된 블록은 더 많은 행을 담아 같은 데이터를 더 적은 블록으로 저장하므로 전체 스캔 블록 수가 줄고 버퍼 캐시 효율이 좋아진다. Oracle은 세 방식을 제공한다. 기본 압축(COMPRESS BASIC)은 다이렉트 패스 삽입에만 적용되어 대량 적재 이력 테이블에 적합하고 EE 기본이다. Advanced Row Compression은 일반 INSERT·UPDATE 등 모든 DML에 압축을 유지하며 Advanced Compression 옵션 라이선스가 필요하다. HCC(Hybrid Columnar Compression)는 컬럼 지향으로 극단적 압축률을 제공하지만 Exadata·ZFS Storage Appliance 등 특정 스토리지에서만 쓸 수 있고, 거의 읽기 전용인 아카이브 데이터에 적합하다.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Oracle의 행 수준 압축은 블록 단위로 동작한다. 한 블록 안에서 반복 등장하는 컬럼 값을 찾아 블록 시작부의 심볼 테이블에 한 번만 저장하고, 각 행에서는 그 값을 짧은 심볼로 대체한다. 'SALES'가 블록에 500번 나오면 원래 값은 한 번만 두고 500행은 심볼만 가져 밀도가 크게 높아진다. 압축은 투명하여 압축 데이터도 일반 SQL로 그대로 조회·갱신할 수 있으며 복원은 Oracle이 내부 처리한다. 저장·스캔 이득 대신 CPU를 약간 더 쓴다. 심볼 테이블은 블록마다 독립적이므로 압축률은 한 블록에 유사 값이 얼마나 몰렸는지에 좌우되며, ORDER BY로 정렬 적재하면 압축률이 향상된다.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기본 테이블 압축(COMPRESS BASIC)은 다이렉트 패스 경로(CTAS, INSERT /*+ APPEND */, SQL*Loader 다이렉트)로 삽입되는 데이터에만 압축을 적용한다. 일반 경로 INSERT나 이후 UPDATE로 들어간 데이터는 비압축으로 저장되므로, 한 번 적재하고 주로 읽는 이력·데이터 웨어하우스 테이블에 적합하다. Advanced Row Compression(ROW STORE COMPRESS ADVANCED, 과거 COMPRESS FOR OLTP)은 다이렉트 패스뿐 아니라 일반 DML에도 압축을 유지한다. 블록이 비압축으로 채워지다 임계치에 도달하면 자동 배치 압축되고 이후 갱신으로 다시 채워지면 재압축되므로, 갱신이 잦은 OLTP 테이블에서도 압축 효과가 유지된다. Advanced Compression 옵션 라이선스가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기본 압축 테이블은 CTAS 같은 다이렉트 패스로 적재해야 실제로 압축된다. 같은 테이블이라도 일반 INSERT ... SELECT로 넣은 행은 압축되지 않는다. Advanced Row Compression 테이블(ROW STORE COMPRESS ADVANCED)은 일반 INSERT·UPDATE를 포함한 모든 DML에 대해 압축을 유지한다. 압축 방식 선택은 워크로드가 대량 적재 위주인지 온라인 갱신 위주인지에 따라 결정한다.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압축은 CREATE TABLE 또는 ALTER TABLE의 압축 절로 지정한다. ROW STORE COMPRESS BASIC(=COMPRESS)은 기본 압축, ROW STORE COMPRESS ADVANCED는 고급 행 압축, NOCOMPRESS는 압축하지 않음(기본)이다. ALTER TABLE로 속성을 바꾸면 이후 삽입되는 데이터부터 적용되며 기존 데이터는 자동으로 압축·해제되지 않는다. 기존 데이터까지 새 속성으로 정리하려면 ALTER TABLE ... MOVE(온라인)로 세그먼트를 재작성한다. 파티션 테이블은 파티션별로 다른 압축 수준을 지정할 수 있어 오래된 파티션은 강하게 압축하고 최근 파티션은 압축하지 않는 ILM 전략이 가능하다.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압축 도입 전에 얼마나 절감될지 아는 것이 중요하다. DBMS_COMPRESSION.GET_COMPRESSION_RATIO(압축 어드바이저)는 대상 테이블을 실제로 압축하지 않고 표본을 이용해 예상 압축률을 추정한다. comptype 인자로 COMP_BASIC·COMP_ADVANCED·COMP_QUERY_HIGH 등 방식을 지정해 여러 방식을 비교하면 저장 절감과 CPU 비용 사이에서 최적을 근거 있게 고를 수 있다. 어드바이저는 scratchtbsname으로 지정한 임시 작업 영역에서 표본을 압축해 보고 결과만 반환하며 원본은 변경하지 않는다. 매우 큰 테이블은 subobjname으로 대표 파티션 하나만 지정해 추정하는 것이 실용적이다.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GET_COMPRESSION_RATIO 프로시저를 호출해 HR.SALES에 Advanced 압축을 적용했을 때의 예상 압축률을 추정한다. cmp_ratio 3.1은 압축 후 약 1/3.1 크기가 된다는 뜻이다. scratchtbsname에는 어드바이저가 표본을 압축해 볼 작업용 테이블스페이스(여유 공간 있는 곳)를 지정한다. 압축률은 데이터의 반복성에 크게 좌우되므로 대표성 있는 데이터로 추정해야 하며, 원본 테이블은 이 과정에서 전혀 변경되지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운영 중에는 상반된 두 공간 문제가 발생한다. 하나는 대량 삭제·갱신 후 세그먼트에 흩어진 빈 공간이 남아 실제 데이터보다 큰 공간을 차지하는 문제이고, 다른 하나는 대량 작업 중 공간 부족으로 문장이 실패하는 문제다. 전자는 세그먼트 축소(SHRINK SPACE)로 빈 공간을 회수하고 HWM를 낮춰 스캔 성능을 개선하고, 후자는 Resumable Space Allocation으로 문장을 일시 중단·재개해 방어한다. 예방·진단을 위해 DBA_FREE_SPACE(여유 공간), DBA_SEGMENTS(점유 크기), 세그먼트 어드바이저(shrink 후보 추천)를 활용한다. shrink는 사후 정리, Resumable은 진행 중 작업 방어라는 점에서 목적이 다르다.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세그먼트 축소는 ASSM 테이블스페이스의 세그먼트에서 사용되지 않는 공간을 온라인으로 회수한다. DELETE로 행을 지워도 HWM는 내려가지 않아 전체 스캔이 빈 블록까지 읽는데, SHRINK SPACE는 흩어진 행을 세그먼트 앞쪽으로 재배치해 빈 블록을 만들고 HWM를 낮춘 뒤 회수한 공간을 테이블스페이스에 반환한다. 두 전제가 필요하다. 첫째 세그먼트가 ASSM 테이블스페이스에 있어야 하고, 둘째 행 재배치로 ROWID가 바뀌므로 테이블에 ROW MOVEMENT가 허용(ENABLE ROW MOVEMENT)되어야 한다. 허용하지 않고 shrink하면 ORA-10636 오류가 난다.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행 이동을 허용하지 않고 SHRINK SPACE를 실행하면 ORA-10636 오류가 발생한다. ALTER TABLE ... ENABLE ROW MOVEMENT로 ROWID 변경을 허용한 뒤 다시 SHRINK SPACE를 실행하면 정상적으로 축소된다. dba_segments의 blocks·extents로 축소 전후 사용량을 비교할 수 있다. shrink는 대부분 온라인으로 수행되어 작업 중에도 DML이 가능하다.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SHRINK SPACE 절의 옵션으로 작업 범위를 조절한다. 옵션이 없으면 행 재배치·HWM 조정·공간 반환을 모두 수행한다. COMPACT는 행 재배치만 하고 HWM 조정과 공간 반환은 하지 않아, 짧은 배타적 잠금이 필요한 HWM 조정을 나중으로 미룰 때 쓴다(이후 옵션 없는 SHRINK SPACE로 완료). CASCADE는 종속 객체(인덱스 등)까지 함께 축소한다. 실무에서는 부하가 큰 대형 테이블에 대해 먼저 SHRINK SPACE COMPACT로 재배치(온라인, 오래 걸림)해 두고 트래픽이 적은 시간대에 SHRINK SPACE로 HWM 조정을 마무리하는 2단계 전략을 쓴다.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Shrink 작업이 끝나면 세그먼트가 실제 사용하는 블록·익스텐트 수가 줄고 HWM가 낮아진다. HWM가 낮아지면 전체 테이블 스캔이 읽어야 할 블록 수가 줄어 스캔 성능이 향상된다. DELETE만 했을 때는 공간과 스캔 비용이 그대로였지만 shrink 후에는 둘 다 개선된다. shrink는 대부분 온라인으로 수행되어 작업 중에도 DML이 가능하며, HWM를 조정하는 마지막 단계에서만 아주 짧은 배타적 잠금이 필요하다. 월말 대량 삭제 후 리포트가 느려졌다면 ENABLE ROW MOVEMENT 후 야간에 COMPACT, 새벽에 CASCADE로 마무리하는 방식이 효과적이다.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대량 적재나 인덱스 생성이 거의 끝날 무렵 공간 부족으로 실패하면 그때까지의 작업이 롤백되어 큰 낭비가 생긴다. Resumable Space Allocation은 이런 상황에서 문장을 즉시 실패시키는 대신 일시 중단(suspend)하고, 관리자가 원인을 해결하면 중단 지점에서 재개(resume)한다. 대상 오류는 공간 부족(ORA-01653), 할당량 초과(ORA-01536), 최대 익스텐트 도달(ORA-01628)이다. 문장이 중단되면 세션은 대기하고, 데이터 파일 추가나 할당량 증대로 문제를 해결하면 자동으로 이어서 진행된다. TIMEOUT 안에 해결되지 않으면 그때 비로소 실패한다. 야간 배치의 마지막 안전장치로 유용하다.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Resumable은 세션·시스템·프로그래밍 세 방식으로 제어한다. 세션 수준은 ALTER SESSION ENABLE RESUMABLE [TIMEOUT n] [NAME 'text']로 켜며 TIMEOUT은 일시 중단 상태로 대기할 최대 초를 지정한다. 시스템 수준은 RESUMABLE_TIMEOUT 파라미터를 0보다 큰 값으로 설정하면 모든 세션에 기본 적용된다(0이면 비활성). 프로그래밍 제어는 DBMS_RESUMABLE 패키지로 타임아웃 조회·변경, 특정 세션 강제 종료(ABORT)를 수행한다. 사용자에게 RESUMABLE 시스템 권한이 필요하며, 사용 후에는 ALTER SESSION DISABLE RESUMABLE로 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ALTER SESSION ENABLE RESUMABLE TIMEOUT 3600 NAME 'nightly_load'로 현재 세션에서 Resumable을 켜고 최대 3600초 대기, 문장 이름을 지정한다. NAME은 이후 DBA_RESUMABLE 모니터링에서 문장을 식별하는 데 쓰인다. 시스템 전역으로는 RESUMABLE_TIMEOUT 파라미터를 설정해 모든 세션에 기본 적용할 수 있다. 작업이 끝나면 ALTER SESSION DISABLE RESUMABLE로 비활성화한다.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일시 중단된 문장은 DBA_RESUMABLE(모든 세션)·USER_RESUMABLE(현재 사용자) 뷰로 모니터링한다. 세션 ID, 상태(SUSPENDED/NORMAL), 중단을 일으킨 오류, 중단 시각, 문장 이름을 보여 주며 알림 로그에도 기록된다. 자동 대응을 위해 AFTER SUSPEND 시스템 트리거를 만들 수 있다. 이 트리거는 문장이 중단될 때마다 실행되어 관리자에게 알림을 보내거나 데이터 파일을 자동 확장한다. DBMS_RESUMABLE.SPACE_ERROR_INFO 함수로 어떤 객체·테이블스페이스에서 문제가 생겼는지 파악해 대응을 자동화한다. TIMEOUT 내 해결되면 중단 지점에서 이어지고 기존 작업은 롤백되지 않으며, 초과하거나 ABORT하면 그때 오류·롤백된다.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DBA_RESUMABLE에서 status=SUSPENDED와 error_number(1653=공간 부족)로 어떤 세션의 어떤 문장이 왜 중단됐는지 확인한다. 데이터 파일을 추가해 공간을 확보하면 해당 세션(45번)의 문장이 아무 일 없었다는 듯 자동 재개된다. AFTER SUSPEND ON DATABASE 트리거를 만들면 중단 시마다 자동으로 실행되어, 내부에서 DBMS_RESUMABLE.SPACE_ERROR_INFO로 원인을 파악한 뒤 알림 전송이나 데이터 파일 자동 확장 같은 대응을 구현할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모든 작업이 Resumable이 되는 것은 아니며, 주로 대량 공간을 사용할 수 있는 작업이 대상이다. 쿼리는 대용량 정렬·해시 조인에서 임시 테이블스페이스가 부족한 경우, DML은 INSERT·UPDATE·DELETE와 INSERT ... SELECT·다이렉트 패스 적재, DDL은 CREATE TABLE AS SELECT·CREATE INDEX·ALTER INDEX REBUILD·ALTER TABLE MOVE·ADD PARTITION 등 세그먼트를 크게 확장하는 작업이다. 이들이 Resumable 활성 상태에서 공간 관련 오류(공간 부족·할당량 초과·MAXEXTENTS 도달)를 만나면 일시 중단된다. 반대로 문법 오류나 제약 위반처럼 공간과 무관한 오류는 Resumable로 처리되지 않고 즉시 실패한다.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Q1은 ASSM과 비트맵을 확인한다. SYSTEM은 딕셔너리 안정성을 위해 MANUAL을 유지하고 나머지는 AUTO다. Q2는 두 현상의 원인 차이를 구분한다. 체이닝은 행이 블록보다 커서 조각나므로 PCTFREE로 해결되지 않고 큰 블록·구조 재설계가 필요하며, 마이그레이션은 UPDATE로 커진 행이 이동하는 것으로 PCTFREE를 높여 예방하고 MOVE로 해소한다.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Q3은 임시 테이블 두 종류의 가시성·수명 차이를 확인한다. GTT는 정의가 딕셔너리에 영구 존재하고 공유되나 데이터는 세션 프라이빗이며, PTT는 정의조차 생성 세션에만 있고 세션/트랜잭션 종료 시 정의까지 사라지고 이름이 ORA$PTT_로 시작해야 한다. Q4는 압축 적용 대상을 확인한다. 기본 압축은 CTAS·APPEND·SQL*Loader 다이렉트 같은 다이렉트 패스에만, Advanced Row Compression은 일반 INSERT·UPDATE를 포함한 모든 DML에 압축을 유지하며 옵션 라이선스가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Q5는 shrink의 두 전제(ASSM 테이블스페이스, ROW MOVEMENT 허용)와 COMPACT 옵션(행 재배치만, HWM 조정·공간 반환은 이후 옵션 없는 SHRINK SPACE로 완료)을 확인한다. Q6은 Resumable이 반응하는 세 오류(공간 부족 ORA-01653, 할당량 초과 ORA-01536, 최대 익스텐트 ORA-01628)와 세션 활성화 구문(ALTER SESSION ENABLE RESUMABLE TIMEOUT n)을 확인하며, 문제 해결 시 문장이 자동 재개됨을 강조한다.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286000"/>
            <a:ext cx="182880"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463040"/>
            <a:ext cx="10058400" cy="548640"/>
          </a:xfrm>
          <a:prstGeom prst="rect">
            <a:avLst/>
          </a:prstGeom>
          <a:noFill/>
        </p:spPr>
        <p:txBody>
          <a:bodyPr wrap="square">
            <a:spAutoFit/>
          </a:bodyPr>
          <a:lstStyle/>
          <a:p>
            <a:r>
              <a:rPr sz="1800" b="1">
                <a:solidFill>
                  <a:srgbClr val="C0392B"/>
                </a:solidFill>
                <a:latin typeface="Malgun Gothic"/>
              </a:rPr>
              <a:t>Oracle Database 19c Administration Workshop</a:t>
            </a:r>
          </a:p>
        </p:txBody>
      </p:sp>
      <p:sp>
        <p:nvSpPr>
          <p:cNvPr id="5" name="TextBox 4"/>
          <p:cNvSpPr txBox="1"/>
          <p:nvPr/>
        </p:nvSpPr>
        <p:spPr>
          <a:xfrm>
            <a:off x="1188720" y="2194560"/>
            <a:ext cx="10332720" cy="2011680"/>
          </a:xfrm>
          <a:prstGeom prst="rect">
            <a:avLst/>
          </a:prstGeom>
          <a:noFill/>
        </p:spPr>
        <p:txBody>
          <a:bodyPr wrap="square">
            <a:spAutoFit/>
          </a:bodyPr>
          <a:lstStyle/>
          <a:p>
            <a:r>
              <a:rPr sz="4400" b="1">
                <a:solidFill>
                  <a:srgbClr val="FFFFFF"/>
                </a:solidFill>
                <a:latin typeface="Malgun Gothic"/>
              </a:rPr>
              <a:t>공간 사용 개선</a:t>
            </a:r>
          </a:p>
          <a:p>
            <a:r>
              <a:rPr sz="2800" b="0">
                <a:solidFill>
                  <a:srgbClr val="C5CED6"/>
                </a:solidFill>
                <a:latin typeface="Malgun Gothic"/>
              </a:rPr>
              <a:t>Improving Space Usage</a:t>
            </a:r>
          </a:p>
        </p:txBody>
      </p:sp>
      <p:sp>
        <p:nvSpPr>
          <p:cNvPr id="6" name="TextBox 5"/>
          <p:cNvSpPr txBox="1"/>
          <p:nvPr/>
        </p:nvSpPr>
        <p:spPr>
          <a:xfrm>
            <a:off x="1188720" y="4480560"/>
            <a:ext cx="10515600" cy="1280160"/>
          </a:xfrm>
          <a:prstGeom prst="rect">
            <a:avLst/>
          </a:prstGeom>
          <a:noFill/>
        </p:spPr>
        <p:txBody>
          <a:bodyPr wrap="square">
            <a:spAutoFit/>
          </a:bodyPr>
          <a:lstStyle/>
          <a:p>
            <a:r>
              <a:rPr sz="1600" b="0">
                <a:solidFill>
                  <a:srgbClr val="C5CED6"/>
                </a:solidFill>
                <a:latin typeface="Malgun Gothic"/>
              </a:rPr>
              <a:t>ASSM · 행 체이닝/마이그레이션 · 임시 테이블 · 테이블 압축 · SHRINK SPACE · Resumable Space Allocation</a:t>
            </a:r>
          </a:p>
        </p:txBody>
      </p:sp>
      <p:sp>
        <p:nvSpPr>
          <p:cNvPr id="7" name="TextBox 6"/>
          <p:cNvSpPr txBox="1"/>
          <p:nvPr/>
        </p:nvSpPr>
        <p:spPr>
          <a:xfrm>
            <a:off x="1188720" y="5760720"/>
            <a:ext cx="10515600" cy="548640"/>
          </a:xfrm>
          <a:prstGeom prst="rect">
            <a:avLst/>
          </a:prstGeom>
          <a:noFill/>
        </p:spPr>
        <p:txBody>
          <a:bodyPr wrap="square">
            <a:spAutoFit/>
          </a:bodyPr>
          <a:lstStyle/>
          <a:p>
            <a:r>
              <a:rPr sz="1600" b="1">
                <a:solidFill>
                  <a:srgbClr val="C0392B"/>
                </a:solidFill>
                <a:latin typeface="Malgun Gothic"/>
              </a:rPr>
              <a:t>제19장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spAutoFit/>
          </a:bodyPr>
          <a:lstStyle/>
          <a:p>
            <a:r>
              <a:rPr sz="2600" b="1">
                <a:solidFill>
                  <a:srgbClr val="FFFFFF"/>
                </a:solidFill>
                <a:latin typeface="Malgun Gothic"/>
              </a:rPr>
              <a:t>학습 목표 (Objectives)</a:t>
            </a:r>
          </a:p>
        </p:txBody>
      </p:sp>
      <p:sp>
        <p:nvSpPr>
          <p:cNvPr id="4" name="TextBox 3"/>
          <p:cNvSpPr txBox="1"/>
          <p:nvPr/>
        </p:nvSpPr>
        <p:spPr>
          <a:xfrm>
            <a:off x="640080" y="1325880"/>
            <a:ext cx="10881360" cy="5120640"/>
          </a:xfrm>
          <a:prstGeom prst="rect">
            <a:avLst/>
          </a:prstGeom>
          <a:noFill/>
        </p:spPr>
        <p:txBody>
          <a:bodyPr wrap="square">
            <a:spAutoFit/>
          </a:bodyPr>
          <a:lstStyle/>
          <a:p>
            <a:pPr>
              <a:spcAft>
                <a:spcPts val="600"/>
              </a:spcAft>
            </a:pPr>
            <a:r>
              <a:rPr sz="1600" b="0">
                <a:solidFill>
                  <a:srgbClr val="C0392B"/>
                </a:solidFill>
                <a:latin typeface="Malgun Gothic"/>
              </a:rPr>
              <a:t>•  공간 관리 기능(ASSM·압축·shrink·Resumable)을 개괄적으로 설명한다</a:t>
            </a:r>
          </a:p>
          <a:p>
            <a:pPr>
              <a:spcAft>
                <a:spcPts val="600"/>
              </a:spcAft>
            </a:pPr>
            <a:r>
              <a:rPr sz="1600" b="0">
                <a:solidFill>
                  <a:srgbClr val="C0392B"/>
                </a:solidFill>
                <a:latin typeface="Malgun Gothic"/>
              </a:rPr>
              <a:t>•  ASSM·블록 공간 관리 원리와 행 체이닝·마이그레이션의 원인·영향을 설명한다</a:t>
            </a:r>
          </a:p>
          <a:p>
            <a:pPr>
              <a:spcAft>
                <a:spcPts val="600"/>
              </a:spcAft>
            </a:pPr>
            <a:r>
              <a:rPr sz="1600" b="0">
                <a:solidFill>
                  <a:srgbClr val="C0392B"/>
                </a:solidFill>
                <a:latin typeface="Malgun Gothic"/>
              </a:rPr>
              <a:t>•  글로벌·프라이빗(18c) 임시 테이블을 생성하고 용도에 맞게 사용한다</a:t>
            </a:r>
          </a:p>
          <a:p>
            <a:pPr>
              <a:spcAft>
                <a:spcPts val="600"/>
              </a:spcAft>
            </a:pPr>
            <a:r>
              <a:rPr sz="1600" b="0">
                <a:solidFill>
                  <a:srgbClr val="C0392B"/>
                </a:solidFill>
                <a:latin typeface="Malgun Gothic"/>
              </a:rPr>
              <a:t>•  기본·Advanced Row·HCC 세 가지 압축 방식의 차이를 이해하고 지정한다</a:t>
            </a:r>
          </a:p>
          <a:p>
            <a:pPr>
              <a:spcAft>
                <a:spcPts val="600"/>
              </a:spcAft>
            </a:pPr>
            <a:r>
              <a:rPr sz="1600" b="0">
                <a:solidFill>
                  <a:srgbClr val="C0392B"/>
                </a:solidFill>
                <a:latin typeface="Malgun Gothic"/>
              </a:rPr>
              <a:t>•  DBMS_COMPRESSION으로 압축률을 예측하고 SHRINK SPACE로 공간을 회수한다</a:t>
            </a:r>
          </a:p>
          <a:p>
            <a:pPr>
              <a:spcAft>
                <a:spcPts val="600"/>
              </a:spcAft>
            </a:pPr>
            <a:r>
              <a:rPr sz="1600" b="0">
                <a:solidFill>
                  <a:srgbClr val="C0392B"/>
                </a:solidFill>
                <a:latin typeface="Malgun Gothic"/>
              </a:rPr>
              <a:t>•  Resumable Space Allocation으로 공간 부족 시 문장을 일시 중단·재개한다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spAutoFit/>
          </a:bodyPr>
          <a:lstStyle/>
          <a:p>
            <a:r>
              <a:rPr sz="2600" b="1">
                <a:solidFill>
                  <a:srgbClr val="FFFFFF"/>
                </a:solidFill>
                <a:latin typeface="Malgun Gothic"/>
              </a:rPr>
              <a:t>이 장의 구성 (Agenda)</a:t>
            </a:r>
          </a:p>
        </p:txBody>
      </p:sp>
      <p:sp>
        <p:nvSpPr>
          <p:cNvPr id="4" name="TextBox 3"/>
          <p:cNvSpPr txBox="1"/>
          <p:nvPr/>
        </p:nvSpPr>
        <p:spPr>
          <a:xfrm>
            <a:off x="640080" y="1325880"/>
            <a:ext cx="10881360" cy="5120640"/>
          </a:xfrm>
          <a:prstGeom prst="rect">
            <a:avLst/>
          </a:prstGeom>
          <a:noFill/>
        </p:spPr>
        <p:txBody>
          <a:bodyPr wrap="square">
            <a:spAutoFit/>
          </a:bodyPr>
          <a:lstStyle/>
          <a:p>
            <a:pPr>
              <a:spcAft>
                <a:spcPts val="600"/>
              </a:spcAft>
            </a:pPr>
            <a:r>
              <a:rPr sz="1600" b="0">
                <a:solidFill>
                  <a:srgbClr val="C0392B"/>
                </a:solidFill>
                <a:latin typeface="Malgun Gothic"/>
              </a:rPr>
              <a:t>•  19.1~19.6  블록 공간 관리(ASSM)·행 체이닝/마이그레이션·PCTFREE·익스텐트·인덱스</a:t>
            </a:r>
          </a:p>
          <a:p>
            <a:pPr>
              <a:spcAft>
                <a:spcPts val="600"/>
              </a:spcAft>
            </a:pPr>
            <a:r>
              <a:rPr sz="1600" b="0">
                <a:solidFill>
                  <a:srgbClr val="C0392B"/>
                </a:solidFill>
                <a:latin typeface="Malgun Gothic"/>
              </a:rPr>
              <a:t>•  19.7~19.9  임시 테이블: 글로벌(GTT)·프라이빗(PTT, 18c)</a:t>
            </a:r>
          </a:p>
          <a:p>
            <a:pPr>
              <a:spcAft>
                <a:spcPts val="600"/>
              </a:spcAft>
            </a:pPr>
            <a:r>
              <a:rPr sz="1600" b="0">
                <a:solidFill>
                  <a:srgbClr val="C0392B"/>
                </a:solidFill>
                <a:latin typeface="Malgun Gothic"/>
              </a:rPr>
              <a:t>•  19.10~19.14  테이블 압축: 개념·기본/Advanced/HCC·지정·압축 어드바이저</a:t>
            </a:r>
          </a:p>
          <a:p>
            <a:pPr>
              <a:spcAft>
                <a:spcPts val="600"/>
              </a:spcAft>
            </a:pPr>
            <a:r>
              <a:rPr sz="1600" b="0">
                <a:solidFill>
                  <a:srgbClr val="C0392B"/>
                </a:solidFill>
                <a:latin typeface="Malgun Gothic"/>
              </a:rPr>
              <a:t>•  19.15~19.18  공간 문제 해결: 세그먼트 축소(SHRINK SPACE)·HWM</a:t>
            </a:r>
          </a:p>
          <a:p>
            <a:pPr>
              <a:spcAft>
                <a:spcPts val="600"/>
              </a:spcAft>
            </a:pPr>
            <a:r>
              <a:rPr sz="1600" b="0">
                <a:solidFill>
                  <a:srgbClr val="C0392B"/>
                </a:solidFill>
                <a:latin typeface="Malgun Gothic"/>
              </a:rPr>
              <a:t>•  19.19~19.22  Resumable Space Allocation: 개념·사용·모니터링·대상 작업</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371600"/>
            <a:ext cx="5486400" cy="1371600"/>
          </a:xfrm>
          <a:prstGeom prst="rect">
            <a:avLst/>
          </a:prstGeom>
          <a:noFill/>
        </p:spPr>
        <p:txBody>
          <a:bodyPr wrap="square">
            <a:spAutoFit/>
          </a:bodyPr>
          <a:lstStyle/>
          <a:p>
            <a:r>
              <a:rPr sz="6600" b="1">
                <a:solidFill>
                  <a:srgbClr val="C0392B"/>
                </a:solidFill>
                <a:latin typeface="Malgun Gothic"/>
              </a:rPr>
              <a:t>19.A</a:t>
            </a:r>
          </a:p>
        </p:txBody>
      </p:sp>
      <p:sp>
        <p:nvSpPr>
          <p:cNvPr id="4" name="TextBox 3"/>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블록 공간 관리와 기초</a:t>
            </a:r>
          </a:p>
        </p:txBody>
      </p:sp>
      <p:sp>
        <p:nvSpPr>
          <p:cNvPr id="5" name="Rectangle 4"/>
          <p:cNvSpPr/>
          <p:nvPr/>
        </p:nvSpPr>
        <p:spPr>
          <a:xfrm>
            <a:off x="868680" y="388620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4114800"/>
            <a:ext cx="10424160" cy="2194560"/>
          </a:xfrm>
          <a:prstGeom prst="rect">
            <a:avLst/>
          </a:prstGeom>
          <a:noFill/>
        </p:spPr>
        <p:txBody>
          <a:bodyPr wrap="square">
            <a:spAutoFit/>
          </a:bodyPr>
          <a:lstStyle/>
          <a:p>
            <a:pPr>
              <a:spcAft>
                <a:spcPts val="600"/>
              </a:spcAft>
            </a:pPr>
            <a:r>
              <a:rPr sz="1600" b="0">
                <a:solidFill>
                  <a:srgbClr val="C5CED6"/>
                </a:solidFill>
                <a:latin typeface="Malgun Gothic"/>
              </a:rPr>
              <a:t>•  ASSM과 블록 공간 관리</a:t>
            </a:r>
          </a:p>
          <a:p>
            <a:pPr>
              <a:spcAft>
                <a:spcPts val="600"/>
              </a:spcAft>
            </a:pPr>
            <a:r>
              <a:rPr sz="1600" b="0">
                <a:solidFill>
                  <a:srgbClr val="C5CED6"/>
                </a:solidFill>
                <a:latin typeface="Malgun Gothic"/>
              </a:rPr>
              <a:t>•  행 체이닝·마이그레이션</a:t>
            </a:r>
          </a:p>
          <a:p>
            <a:pPr>
              <a:spcAft>
                <a:spcPts val="600"/>
              </a:spcAft>
            </a:pPr>
            <a:r>
              <a:rPr sz="1600" b="0">
                <a:solidFill>
                  <a:srgbClr val="C5CED6"/>
                </a:solidFill>
                <a:latin typeface="Malgun Gothic"/>
              </a:rPr>
              <a:t>•  PCTFREE·익스텐트·사용 불가능 인덱스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spAutoFit/>
          </a:bodyPr>
          <a:lstStyle/>
          <a:p>
            <a:r>
              <a:rPr sz="2600" b="1">
                <a:solidFill>
                  <a:srgbClr val="FFFFFF"/>
                </a:solidFill>
                <a:latin typeface="Malgun Gothic"/>
              </a:rPr>
              <a:t>공간 관리 기능 개요</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네 가지 축으로 이해한다</a:t>
            </a:r>
          </a:p>
        </p:txBody>
      </p:sp>
      <p:sp>
        <p:nvSpPr>
          <p:cNvPr id="5" name="TextBox 4"/>
          <p:cNvSpPr txBox="1"/>
          <p:nvPr/>
        </p:nvSpPr>
        <p:spPr>
          <a:xfrm>
            <a:off x="640080" y="1691640"/>
            <a:ext cx="10881360" cy="4572000"/>
          </a:xfrm>
          <a:prstGeom prst="rect">
            <a:avLst/>
          </a:prstGeom>
          <a:noFill/>
        </p:spPr>
        <p:txBody>
          <a:bodyPr wrap="square">
            <a:spAutoFit/>
          </a:bodyPr>
          <a:lstStyle/>
          <a:p>
            <a:pPr>
              <a:spcAft>
                <a:spcPts val="600"/>
              </a:spcAft>
            </a:pPr>
            <a:r>
              <a:rPr sz="1800" b="0">
                <a:solidFill>
                  <a:srgbClr val="C0392B"/>
                </a:solidFill>
                <a:latin typeface="Malgun Gothic"/>
              </a:rPr>
              <a:t>•  ASSM: 세그먼트 내 블록의 빈 공간을 비트맵으로 자동 관리</a:t>
            </a:r>
          </a:p>
          <a:p>
            <a:pPr>
              <a:spcAft>
                <a:spcPts val="600"/>
              </a:spcAft>
            </a:pPr>
            <a:r>
              <a:rPr sz="1800" b="0">
                <a:solidFill>
                  <a:srgbClr val="C0392B"/>
                </a:solidFill>
                <a:latin typeface="Malgun Gothic"/>
              </a:rPr>
              <a:t>•  테이블 압축: 중복 값을 심볼 테이블로 치환해 저장 밀도↑, I/O↓</a:t>
            </a:r>
          </a:p>
          <a:p>
            <a:pPr>
              <a:spcAft>
                <a:spcPts val="600"/>
              </a:spcAft>
            </a:pPr>
            <a:r>
              <a:rPr sz="1800" b="0">
                <a:solidFill>
                  <a:srgbClr val="C0392B"/>
                </a:solidFill>
                <a:latin typeface="Malgun Gothic"/>
              </a:rPr>
              <a:t>•  세그먼트 축소(shrink): 흩어진 빈 공간 온라인 회수, HWM 하락</a:t>
            </a:r>
          </a:p>
          <a:p>
            <a:pPr>
              <a:spcAft>
                <a:spcPts val="600"/>
              </a:spcAft>
            </a:pPr>
            <a:r>
              <a:rPr sz="1800" b="0">
                <a:solidFill>
                  <a:srgbClr val="C0392B"/>
                </a:solidFill>
                <a:latin typeface="Malgun Gothic"/>
              </a:rPr>
              <a:t>•  Resumable: 공간 부족 시 문장을 실패 대신 일시 중단·재개</a:t>
            </a:r>
          </a:p>
          <a:p>
            <a:pPr>
              <a:spcAft>
                <a:spcPts val="600"/>
              </a:spcAft>
            </a:pPr>
            <a:r>
              <a:rPr sz="1800" b="0">
                <a:solidFill>
                  <a:srgbClr val="C0392B"/>
                </a:solidFill>
                <a:latin typeface="Malgun Gothic"/>
              </a:rPr>
              <a:t>•  배타적이지 않으며 워크로드에 맞게 조합해 사용</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spAutoFit/>
          </a:bodyPr>
          <a:lstStyle/>
          <a:p>
            <a:r>
              <a:rPr sz="2600" b="1">
                <a:solidFill>
                  <a:srgbClr val="FFFFFF"/>
                </a:solidFill>
                <a:latin typeface="Malgun Gothic"/>
              </a:rPr>
              <a:t>블록 공간 관리(ASSM)</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프리리스트 대신 비트맵</a:t>
            </a:r>
          </a:p>
        </p:txBody>
      </p:sp>
      <p:sp>
        <p:nvSpPr>
          <p:cNvPr id="5" name="TextBox 4"/>
          <p:cNvSpPr txBox="1"/>
          <p:nvPr/>
        </p:nvSpPr>
        <p:spPr>
          <a:xfrm>
            <a:off x="640080" y="1691640"/>
            <a:ext cx="10881360" cy="4572000"/>
          </a:xfrm>
          <a:prstGeom prst="rect">
            <a:avLst/>
          </a:prstGeom>
          <a:noFill/>
        </p:spPr>
        <p:txBody>
          <a:bodyPr wrap="square">
            <a:spAutoFit/>
          </a:bodyPr>
          <a:lstStyle/>
          <a:p>
            <a:pPr>
              <a:spcAft>
                <a:spcPts val="600"/>
              </a:spcAft>
            </a:pPr>
            <a:r>
              <a:rPr sz="1800" b="0">
                <a:solidFill>
                  <a:srgbClr val="C0392B"/>
                </a:solidFill>
                <a:latin typeface="Malgun Gothic"/>
              </a:rPr>
              <a:t>•  MSSM: 프리리스트(연결 리스트)로 삽입 가능 블록 관리 → 경합·수동 튜닝</a:t>
            </a:r>
          </a:p>
          <a:p>
            <a:pPr>
              <a:spcAft>
                <a:spcPts val="600"/>
              </a:spcAft>
            </a:pPr>
            <a:r>
              <a:rPr sz="1800" b="0">
                <a:solidFill>
                  <a:srgbClr val="C0392B"/>
                </a:solidFill>
                <a:latin typeface="Malgun Gothic"/>
              </a:rPr>
              <a:t>•  ASSM: 비트맵 블록으로 각 블록 채움 정도 추적</a:t>
            </a:r>
          </a:p>
          <a:p>
            <a:pPr>
              <a:spcAft>
                <a:spcPts val="600"/>
              </a:spcAft>
            </a:pPr>
            <a:r>
              <a:rPr sz="1800" b="0">
                <a:solidFill>
                  <a:srgbClr val="C0392B"/>
                </a:solidFill>
                <a:latin typeface="Malgun Gothic"/>
              </a:rPr>
              <a:t>•  이점: 관리 단순(PCTUSED/FREELISTS 불필요), 경합↓, 활용도↑</a:t>
            </a:r>
          </a:p>
          <a:p>
            <a:pPr>
              <a:spcAft>
                <a:spcPts val="600"/>
              </a:spcAft>
            </a:pPr>
            <a:r>
              <a:rPr sz="1800" b="0">
                <a:solidFill>
                  <a:srgbClr val="C0392B"/>
                </a:solidFill>
                <a:latin typeface="Malgun Gothic"/>
              </a:rPr>
              <a:t>•  19c 기본값, SYSTEM 제외하면 사실상 표준</a:t>
            </a:r>
          </a:p>
          <a:p>
            <a:pPr>
              <a:spcAft>
                <a:spcPts val="600"/>
              </a:spcAft>
            </a:pPr>
            <a:r>
              <a:rPr sz="1800" b="0">
                <a:solidFill>
                  <a:srgbClr val="C0392B"/>
                </a:solidFill>
                <a:latin typeface="Malgun Gothic"/>
              </a:rPr>
              <a:t>•  HWM: DELETE해도 내려가지 않음 → shrink로 회수</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spAutoFit/>
          </a:bodyPr>
          <a:lstStyle/>
          <a:p>
            <a:r>
              <a:rPr sz="2600" b="1">
                <a:solidFill>
                  <a:srgbClr val="FFFFFF"/>
                </a:solidFill>
                <a:latin typeface="Malgun Gothic"/>
              </a:rPr>
              <a:t>ASSM 확인</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dba_tablespaces.segment_space_management</a:t>
            </a:r>
          </a:p>
        </p:txBody>
      </p:sp>
      <p:sp>
        <p:nvSpPr>
          <p:cNvPr id="5" name="Rectangle 4"/>
          <p:cNvSpPr/>
          <p:nvPr/>
        </p:nvSpPr>
        <p:spPr>
          <a:xfrm>
            <a:off x="640080" y="1645920"/>
            <a:ext cx="10908792" cy="47091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10515600" cy="4526280"/>
          </a:xfrm>
          <a:prstGeom prst="rect">
            <a:avLst/>
          </a:prstGeom>
          <a:noFill/>
        </p:spPr>
        <p:txBody>
          <a:bodyPr wrap="square">
            <a:spAutoFit/>
          </a:bodyPr>
          <a:lstStyle/>
          <a:p>
            <a:pPr>
              <a:lnSpc>
                <a:spcPct val="100000"/>
              </a:lnSpc>
              <a:spcAft>
                <a:spcPts val="0"/>
              </a:spcAft>
            </a:pPr>
            <a:r>
              <a:rPr sz="1200" b="0">
                <a:solidFill>
                  <a:srgbClr val="7EC699"/>
                </a:solidFill>
                <a:latin typeface="Consolas"/>
              </a:rPr>
              <a:t>-- 테이블스페이스의 세그먼트 공간 관리 방식 확인</a:t>
            </a:r>
          </a:p>
          <a:p>
            <a:pPr>
              <a:lnSpc>
                <a:spcPct val="100000"/>
              </a:lnSpc>
              <a:spcAft>
                <a:spcPts val="0"/>
              </a:spcAft>
            </a:pPr>
            <a:r>
              <a:rPr sz="1200" b="0">
                <a:solidFill>
                  <a:srgbClr val="E6E6E6"/>
                </a:solidFill>
                <a:latin typeface="Consolas"/>
              </a:rPr>
              <a:t>SYS@cdb1&gt; SELECT tablespace_name, segment_space_management</a:t>
            </a:r>
          </a:p>
          <a:p>
            <a:pPr>
              <a:lnSpc>
                <a:spcPct val="100000"/>
              </a:lnSpc>
              <a:spcAft>
                <a:spcPts val="0"/>
              </a:spcAft>
            </a:pPr>
            <a:r>
              <a:rPr sz="1200" b="0">
                <a:solidFill>
                  <a:srgbClr val="E6E6E6"/>
                </a:solidFill>
                <a:latin typeface="Consolas"/>
              </a:rPr>
              <a:t>  2  FROM   dba_tablespaces</a:t>
            </a:r>
          </a:p>
          <a:p>
            <a:pPr>
              <a:lnSpc>
                <a:spcPct val="100000"/>
              </a:lnSpc>
              <a:spcAft>
                <a:spcPts val="0"/>
              </a:spcAft>
            </a:pPr>
            <a:r>
              <a:rPr sz="1200" b="0">
                <a:solidFill>
                  <a:srgbClr val="E6E6E6"/>
                </a:solidFill>
                <a:latin typeface="Consolas"/>
              </a:rPr>
              <a:t>  3  ORDER  BY tablespace_name;</a:t>
            </a:r>
          </a:p>
          <a:p>
            <a:pPr>
              <a:lnSpc>
                <a:spcPct val="100000"/>
              </a:lnSpc>
              <a:spcAft>
                <a:spcPts val="0"/>
              </a:spcAft>
            </a:pPr>
            <a:r>
              <a:rPr sz="1200" b="0">
                <a:solidFill>
                  <a:srgbClr val="E6E6E6"/>
                </a:solidFill>
                <a:latin typeface="Consolas"/>
              </a:rPr>
              <a:t> </a:t>
            </a:r>
          </a:p>
          <a:p>
            <a:pPr>
              <a:lnSpc>
                <a:spcPct val="100000"/>
              </a:lnSpc>
              <a:spcAft>
                <a:spcPts val="0"/>
              </a:spcAft>
            </a:pPr>
            <a:r>
              <a:rPr sz="1200" b="0">
                <a:solidFill>
                  <a:srgbClr val="E6E6E6"/>
                </a:solidFill>
                <a:latin typeface="Consolas"/>
              </a:rPr>
              <a:t>TABLESPACE_NAME     SEGMEN</a:t>
            </a:r>
          </a:p>
          <a:p>
            <a:pPr>
              <a:lnSpc>
                <a:spcPct val="100000"/>
              </a:lnSpc>
              <a:spcAft>
                <a:spcPts val="0"/>
              </a:spcAft>
            </a:pPr>
            <a:r>
              <a:rPr sz="1200" b="0">
                <a:solidFill>
                  <a:srgbClr val="7EC699"/>
                </a:solidFill>
                <a:latin typeface="Consolas"/>
              </a:rPr>
              <a:t>------------------- ------</a:t>
            </a:r>
          </a:p>
          <a:p>
            <a:pPr>
              <a:lnSpc>
                <a:spcPct val="100000"/>
              </a:lnSpc>
              <a:spcAft>
                <a:spcPts val="0"/>
              </a:spcAft>
            </a:pPr>
            <a:r>
              <a:rPr sz="1200" b="0">
                <a:solidFill>
                  <a:srgbClr val="E6E6E6"/>
                </a:solidFill>
                <a:latin typeface="Consolas"/>
              </a:rPr>
              <a:t>SYSAUX              AUTO</a:t>
            </a:r>
          </a:p>
          <a:p>
            <a:pPr>
              <a:lnSpc>
                <a:spcPct val="100000"/>
              </a:lnSpc>
              <a:spcAft>
                <a:spcPts val="0"/>
              </a:spcAft>
            </a:pPr>
            <a:r>
              <a:rPr sz="1200" b="0">
                <a:solidFill>
                  <a:srgbClr val="E6E6E6"/>
                </a:solidFill>
                <a:latin typeface="Consolas"/>
              </a:rPr>
              <a:t>SYSTEM              MANUAL</a:t>
            </a:r>
          </a:p>
          <a:p>
            <a:pPr>
              <a:lnSpc>
                <a:spcPct val="100000"/>
              </a:lnSpc>
              <a:spcAft>
                <a:spcPts val="0"/>
              </a:spcAft>
            </a:pPr>
            <a:r>
              <a:rPr sz="1200" b="0">
                <a:solidFill>
                  <a:srgbClr val="E6E6E6"/>
                </a:solidFill>
                <a:latin typeface="Consolas"/>
              </a:rPr>
              <a:t>TEMP                MANUAL</a:t>
            </a:r>
          </a:p>
          <a:p>
            <a:pPr>
              <a:lnSpc>
                <a:spcPct val="100000"/>
              </a:lnSpc>
              <a:spcAft>
                <a:spcPts val="0"/>
              </a:spcAft>
            </a:pPr>
            <a:r>
              <a:rPr sz="1200" b="0">
                <a:solidFill>
                  <a:srgbClr val="E6E6E6"/>
                </a:solidFill>
                <a:latin typeface="Consolas"/>
              </a:rPr>
              <a:t>USERS               AUTO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spAutoFit/>
          </a:bodyPr>
          <a:lstStyle/>
          <a:p>
            <a:r>
              <a:rPr sz="2600" b="1">
                <a:solidFill>
                  <a:srgbClr val="FFFFFF"/>
                </a:solidFill>
                <a:latin typeface="Malgun Gothic"/>
              </a:rPr>
              <a:t>행 체이닝(Row Chaining)</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행이 블록보다 커서 조각남</a:t>
            </a:r>
          </a:p>
        </p:txBody>
      </p:sp>
      <p:sp>
        <p:nvSpPr>
          <p:cNvPr id="5" name="TextBox 4"/>
          <p:cNvSpPr txBox="1"/>
          <p:nvPr/>
        </p:nvSpPr>
        <p:spPr>
          <a:xfrm>
            <a:off x="640080" y="1691640"/>
            <a:ext cx="10881360" cy="4572000"/>
          </a:xfrm>
          <a:prstGeom prst="rect">
            <a:avLst/>
          </a:prstGeom>
          <a:noFill/>
        </p:spPr>
        <p:txBody>
          <a:bodyPr wrap="square">
            <a:spAutoFit/>
          </a:bodyPr>
          <a:lstStyle/>
          <a:p>
            <a:pPr>
              <a:spcAft>
                <a:spcPts val="600"/>
              </a:spcAft>
            </a:pPr>
            <a:r>
              <a:rPr sz="1800" b="0">
                <a:solidFill>
                  <a:srgbClr val="C0392B"/>
                </a:solidFill>
                <a:latin typeface="Malgun Gothic"/>
              </a:rPr>
              <a:t>•  원인: 행 자체가 블록(예: 8KB)보다 큼 — 긴 LOB·255개 초과 컬럼</a:t>
            </a:r>
          </a:p>
          <a:p>
            <a:pPr>
              <a:spcAft>
                <a:spcPts val="600"/>
              </a:spcAft>
            </a:pPr>
            <a:r>
              <a:rPr sz="1800" b="0">
                <a:solidFill>
                  <a:srgbClr val="C0392B"/>
                </a:solidFill>
                <a:latin typeface="Malgun Gothic"/>
              </a:rPr>
              <a:t>•  행을 여러 조각(row piece)으로 나눠 여러 블록에 저장, 포인터로 연결</a:t>
            </a:r>
          </a:p>
          <a:p>
            <a:pPr>
              <a:spcAft>
                <a:spcPts val="600"/>
              </a:spcAft>
            </a:pPr>
            <a:r>
              <a:rPr sz="1800" b="0">
                <a:solidFill>
                  <a:srgbClr val="C0392B"/>
                </a:solidFill>
                <a:latin typeface="Malgun Gothic"/>
              </a:rPr>
              <a:t>•  접근 시 여러 블록 I/O → 성능 저하</a:t>
            </a:r>
          </a:p>
          <a:p>
            <a:pPr>
              <a:spcAft>
                <a:spcPts val="600"/>
              </a:spcAft>
            </a:pPr>
            <a:r>
              <a:rPr sz="1800" b="0">
                <a:solidFill>
                  <a:srgbClr val="C0392B"/>
                </a:solidFill>
                <a:latin typeface="Malgun Gothic"/>
              </a:rPr>
              <a:t>•  PCTFREE로 해결 불가 → 큰 블록·구조 재설계(수직 분할)</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spAutoFit/>
          </a:bodyPr>
          <a:lstStyle/>
          <a:p>
            <a:r>
              <a:rPr sz="2600" b="1">
                <a:solidFill>
                  <a:srgbClr val="FFFFFF"/>
                </a:solidFill>
                <a:latin typeface="Malgun Gothic"/>
              </a:rPr>
              <a:t>행 마이그레이션(Row Migration)</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UPDATE로 커진 행이 이동</a:t>
            </a:r>
          </a:p>
        </p:txBody>
      </p:sp>
      <p:sp>
        <p:nvSpPr>
          <p:cNvPr id="5" name="TextBox 4"/>
          <p:cNvSpPr txBox="1"/>
          <p:nvPr/>
        </p:nvSpPr>
        <p:spPr>
          <a:xfrm>
            <a:off x="640080" y="1691640"/>
            <a:ext cx="10881360" cy="4572000"/>
          </a:xfrm>
          <a:prstGeom prst="rect">
            <a:avLst/>
          </a:prstGeom>
          <a:noFill/>
        </p:spPr>
        <p:txBody>
          <a:bodyPr wrap="square">
            <a:spAutoFit/>
          </a:bodyPr>
          <a:lstStyle/>
          <a:p>
            <a:pPr>
              <a:spcAft>
                <a:spcPts val="600"/>
              </a:spcAft>
            </a:pPr>
            <a:r>
              <a:rPr sz="1800" b="0">
                <a:solidFill>
                  <a:srgbClr val="C0392B"/>
                </a:solidFill>
                <a:latin typeface="Malgun Gothic"/>
              </a:rPr>
              <a:t>•  원인: UPDATE로 행이 커져 원래 블록에 안 들어감</a:t>
            </a:r>
          </a:p>
          <a:p>
            <a:pPr>
              <a:spcAft>
                <a:spcPts val="600"/>
              </a:spcAft>
            </a:pPr>
            <a:r>
              <a:rPr sz="1800" b="0">
                <a:solidFill>
                  <a:srgbClr val="C0392B"/>
                </a:solidFill>
                <a:latin typeface="Malgun Gothic"/>
              </a:rPr>
              <a:t>•  행 전체를 새 블록으로 이동, 원래 위치엔 포인터만 남김</a:t>
            </a:r>
          </a:p>
          <a:p>
            <a:pPr>
              <a:spcAft>
                <a:spcPts val="600"/>
              </a:spcAft>
            </a:pPr>
            <a:r>
              <a:rPr sz="1800" b="0">
                <a:solidFill>
                  <a:srgbClr val="C0392B"/>
                </a:solidFill>
                <a:latin typeface="Malgun Gothic"/>
              </a:rPr>
              <a:t>•  인덱스는 원래 ROWID → 원블록+새블록 이중 I/O</a:t>
            </a:r>
          </a:p>
          <a:p>
            <a:pPr>
              <a:spcAft>
                <a:spcPts val="600"/>
              </a:spcAft>
            </a:pPr>
            <a:r>
              <a:rPr sz="1800" b="0">
                <a:solidFill>
                  <a:srgbClr val="C0392B"/>
                </a:solidFill>
                <a:latin typeface="Malgun Gothic"/>
              </a:rPr>
              <a:t>•  예방: PCTFREE↑  /  해소: ANALYZE LIST CHAINED ROWS + MOVE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spAutoFit/>
          </a:bodyPr>
          <a:lstStyle/>
          <a:p>
            <a:r>
              <a:rPr sz="2600" b="1">
                <a:solidFill>
                  <a:srgbClr val="FFFFFF"/>
                </a:solidFill>
                <a:latin typeface="Malgun Gothic"/>
              </a:rPr>
              <a:t>세그먼트 내 공간 관리(PCTFREE)</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삽입용 vs 갱신용 예약</a:t>
            </a:r>
          </a:p>
        </p:txBody>
      </p:sp>
      <p:sp>
        <p:nvSpPr>
          <p:cNvPr id="5" name="TextBox 4"/>
          <p:cNvSpPr txBox="1"/>
          <p:nvPr/>
        </p:nvSpPr>
        <p:spPr>
          <a:xfrm>
            <a:off x="640080" y="1691640"/>
            <a:ext cx="10881360" cy="4572000"/>
          </a:xfrm>
          <a:prstGeom prst="rect">
            <a:avLst/>
          </a:prstGeom>
          <a:noFill/>
        </p:spPr>
        <p:txBody>
          <a:bodyPr wrap="square">
            <a:spAutoFit/>
          </a:bodyPr>
          <a:lstStyle/>
          <a:p>
            <a:pPr>
              <a:spcAft>
                <a:spcPts val="600"/>
              </a:spcAft>
            </a:pPr>
            <a:r>
              <a:rPr sz="1800" b="0">
                <a:solidFill>
                  <a:srgbClr val="C0392B"/>
                </a:solidFill>
                <a:latin typeface="Malgun Gothic"/>
              </a:rPr>
              <a:t>•  PCTFREE: 갱신을 위해 블록에 남겨 두는 공간 비율</a:t>
            </a:r>
          </a:p>
          <a:p>
            <a:pPr>
              <a:spcAft>
                <a:spcPts val="600"/>
              </a:spcAft>
            </a:pPr>
            <a:r>
              <a:rPr sz="1800" b="0">
                <a:solidFill>
                  <a:srgbClr val="C0392B"/>
                </a:solidFill>
                <a:latin typeface="Malgun Gothic"/>
              </a:rPr>
              <a:t>•  PCTFREE 10 → 90%까지만 삽입, 10%는 갱신 대비</a:t>
            </a:r>
          </a:p>
          <a:p>
            <a:pPr>
              <a:spcAft>
                <a:spcPts val="600"/>
              </a:spcAft>
            </a:pPr>
            <a:r>
              <a:rPr sz="1800" b="0">
                <a:solidFill>
                  <a:srgbClr val="C0392B"/>
                </a:solidFill>
                <a:latin typeface="Malgun Gothic"/>
              </a:rPr>
              <a:t>•  낮으면 마이그레이션↑, 높으면 저장·스캔 낭비</a:t>
            </a:r>
          </a:p>
          <a:p>
            <a:pPr>
              <a:spcAft>
                <a:spcPts val="600"/>
              </a:spcAft>
            </a:pPr>
            <a:r>
              <a:rPr sz="1800" b="0">
                <a:solidFill>
                  <a:srgbClr val="C0392B"/>
                </a:solidFill>
                <a:latin typeface="Malgun Gothic"/>
              </a:rPr>
              <a:t>•  ASSM에서 PCTUSED는 무시, PCTFREE만 유효</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spAutoFit/>
          </a:bodyPr>
          <a:lstStyle/>
          <a:p>
            <a:r>
              <a:rPr sz="2600" b="1">
                <a:solidFill>
                  <a:srgbClr val="FFFFFF"/>
                </a:solidFill>
                <a:latin typeface="Malgun Gothic"/>
              </a:rPr>
              <a:t>익스텐트 할당</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LMT는 비트맵으로 관리</a:t>
            </a:r>
          </a:p>
        </p:txBody>
      </p:sp>
      <p:sp>
        <p:nvSpPr>
          <p:cNvPr id="5" name="TextBox 4"/>
          <p:cNvSpPr txBox="1"/>
          <p:nvPr/>
        </p:nvSpPr>
        <p:spPr>
          <a:xfrm>
            <a:off x="640080" y="1691640"/>
            <a:ext cx="10881360" cy="4572000"/>
          </a:xfrm>
          <a:prstGeom prst="rect">
            <a:avLst/>
          </a:prstGeom>
          <a:noFill/>
        </p:spPr>
        <p:txBody>
          <a:bodyPr wrap="square">
            <a:spAutoFit/>
          </a:bodyPr>
          <a:lstStyle/>
          <a:p>
            <a:pPr>
              <a:spcAft>
                <a:spcPts val="600"/>
              </a:spcAft>
            </a:pPr>
            <a:r>
              <a:rPr sz="1800" b="0">
                <a:solidFill>
                  <a:srgbClr val="C0392B"/>
                </a:solidFill>
                <a:latin typeface="Malgun Gothic"/>
              </a:rPr>
              <a:t>•  세그먼트 성장 시 익스텐트를 추가 할당</a:t>
            </a:r>
          </a:p>
          <a:p>
            <a:pPr>
              <a:spcAft>
                <a:spcPts val="600"/>
              </a:spcAft>
            </a:pPr>
            <a:r>
              <a:rPr sz="1800" b="0">
                <a:solidFill>
                  <a:srgbClr val="C0392B"/>
                </a:solidFill>
                <a:latin typeface="Malgun Gothic"/>
              </a:rPr>
              <a:t>•  LMT(19c 기본): 데이터 파일 비트맵으로 관리 → 재귀 SQL 없음</a:t>
            </a:r>
          </a:p>
          <a:p>
            <a:pPr>
              <a:spcAft>
                <a:spcPts val="600"/>
              </a:spcAft>
            </a:pPr>
            <a:r>
              <a:rPr sz="1800" b="0">
                <a:solidFill>
                  <a:srgbClr val="C0392B"/>
                </a:solidFill>
                <a:latin typeface="Malgun Gothic"/>
              </a:rPr>
              <a:t>•  AUTOALLOCATE: 64K→1M→8M→64M 자동 증가(권장)</a:t>
            </a:r>
          </a:p>
          <a:p>
            <a:pPr>
              <a:spcAft>
                <a:spcPts val="600"/>
              </a:spcAft>
            </a:pPr>
            <a:r>
              <a:rPr sz="1800" b="0">
                <a:solidFill>
                  <a:srgbClr val="C0392B"/>
                </a:solidFill>
                <a:latin typeface="Malgun Gothic"/>
              </a:rPr>
              <a:t>•  UNIFORM: 모든 익스텐트 동일 크기</a:t>
            </a:r>
          </a:p>
          <a:p>
            <a:pPr>
              <a:spcAft>
                <a:spcPts val="600"/>
              </a:spcAft>
            </a:pPr>
            <a:r>
              <a:rPr sz="1800" b="0">
                <a:solidFill>
                  <a:srgbClr val="C0392B"/>
                </a:solidFill>
                <a:latin typeface="Malgun Gothic"/>
              </a:rPr>
              <a:t>•  ALTER TABLE ... ALLOCATE EXTENT로 명시적 할당 가능</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spAutoFit/>
          </a:bodyPr>
          <a:lstStyle/>
          <a:p>
            <a:r>
              <a:rPr sz="2600" b="1">
                <a:solidFill>
                  <a:srgbClr val="FFFFFF"/>
                </a:solidFill>
                <a:latin typeface="Malgun Gothic"/>
              </a:rPr>
              <a:t>익스텐트 명시 할당</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ALLOCATE EXTENT · dba_extents</a:t>
            </a:r>
          </a:p>
        </p:txBody>
      </p:sp>
      <p:sp>
        <p:nvSpPr>
          <p:cNvPr id="5" name="Rectangle 4"/>
          <p:cNvSpPr/>
          <p:nvPr/>
        </p:nvSpPr>
        <p:spPr>
          <a:xfrm>
            <a:off x="640080" y="1645920"/>
            <a:ext cx="10908792" cy="47091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10515600" cy="4526280"/>
          </a:xfrm>
          <a:prstGeom prst="rect">
            <a:avLst/>
          </a:prstGeom>
          <a:noFill/>
        </p:spPr>
        <p:txBody>
          <a:bodyPr wrap="square">
            <a:spAutoFit/>
          </a:bodyPr>
          <a:lstStyle/>
          <a:p>
            <a:pPr>
              <a:lnSpc>
                <a:spcPct val="100000"/>
              </a:lnSpc>
              <a:spcAft>
                <a:spcPts val="0"/>
              </a:spcAft>
            </a:pPr>
            <a:r>
              <a:rPr sz="1200" b="0">
                <a:solidFill>
                  <a:srgbClr val="7EC699"/>
                </a:solidFill>
                <a:latin typeface="Consolas"/>
              </a:rPr>
              <a:t>-- 명시적으로 익스텐트 하나를 추가 할당</a:t>
            </a:r>
          </a:p>
          <a:p>
            <a:pPr>
              <a:lnSpc>
                <a:spcPct val="100000"/>
              </a:lnSpc>
              <a:spcAft>
                <a:spcPts val="0"/>
              </a:spcAft>
            </a:pPr>
            <a:r>
              <a:rPr sz="1200" b="0">
                <a:solidFill>
                  <a:srgbClr val="E6E6E6"/>
                </a:solidFill>
                <a:latin typeface="Consolas"/>
              </a:rPr>
              <a:t>SYS@cdb1&gt; ALTER TABLE hr.orders ALLOCATE EXTENT (SIZE 8M);</a:t>
            </a:r>
          </a:p>
          <a:p>
            <a:pPr>
              <a:lnSpc>
                <a:spcPct val="100000"/>
              </a:lnSpc>
              <a:spcAft>
                <a:spcPts val="0"/>
              </a:spcAft>
            </a:pPr>
            <a:r>
              <a:rPr sz="1200" b="0">
                <a:solidFill>
                  <a:srgbClr val="E6E6E6"/>
                </a:solidFill>
                <a:latin typeface="Consolas"/>
              </a:rPr>
              <a:t>Table altered.</a:t>
            </a:r>
          </a:p>
          <a:p>
            <a:pPr>
              <a:lnSpc>
                <a:spcPct val="100000"/>
              </a:lnSpc>
              <a:spcAft>
                <a:spcPts val="0"/>
              </a:spcAft>
            </a:pPr>
            <a:r>
              <a:rPr sz="1200" b="0">
                <a:solidFill>
                  <a:srgbClr val="E6E6E6"/>
                </a:solidFill>
                <a:latin typeface="Consolas"/>
              </a:rPr>
              <a:t> </a:t>
            </a:r>
          </a:p>
          <a:p>
            <a:pPr>
              <a:lnSpc>
                <a:spcPct val="100000"/>
              </a:lnSpc>
              <a:spcAft>
                <a:spcPts val="0"/>
              </a:spcAft>
            </a:pPr>
            <a:r>
              <a:rPr sz="1200" b="0">
                <a:solidFill>
                  <a:srgbClr val="7EC699"/>
                </a:solidFill>
                <a:latin typeface="Consolas"/>
              </a:rPr>
              <a:t>-- 세그먼트의 익스텐트 개수/크기 확인</a:t>
            </a:r>
          </a:p>
          <a:p>
            <a:pPr>
              <a:lnSpc>
                <a:spcPct val="100000"/>
              </a:lnSpc>
              <a:spcAft>
                <a:spcPts val="0"/>
              </a:spcAft>
            </a:pPr>
            <a:r>
              <a:rPr sz="1200" b="0">
                <a:solidFill>
                  <a:srgbClr val="E6E6E6"/>
                </a:solidFill>
                <a:latin typeface="Consolas"/>
              </a:rPr>
              <a:t>SYS@cdb1&gt; SELECT segment_name, extent_id, bytes/1024 AS kb</a:t>
            </a:r>
          </a:p>
          <a:p>
            <a:pPr>
              <a:lnSpc>
                <a:spcPct val="100000"/>
              </a:lnSpc>
              <a:spcAft>
                <a:spcPts val="0"/>
              </a:spcAft>
            </a:pPr>
            <a:r>
              <a:rPr sz="1200" b="0">
                <a:solidFill>
                  <a:srgbClr val="E6E6E6"/>
                </a:solidFill>
                <a:latin typeface="Consolas"/>
              </a:rPr>
              <a:t>  2  FROM   dba_extents</a:t>
            </a:r>
          </a:p>
          <a:p>
            <a:pPr>
              <a:lnSpc>
                <a:spcPct val="100000"/>
              </a:lnSpc>
              <a:spcAft>
                <a:spcPts val="0"/>
              </a:spcAft>
            </a:pPr>
            <a:r>
              <a:rPr sz="1200" b="0">
                <a:solidFill>
                  <a:srgbClr val="E6E6E6"/>
                </a:solidFill>
                <a:latin typeface="Consolas"/>
              </a:rPr>
              <a:t>  3  WHERE  owner='HR' AND segment_name='ORDERS'</a:t>
            </a:r>
          </a:p>
          <a:p>
            <a:pPr>
              <a:lnSpc>
                <a:spcPct val="100000"/>
              </a:lnSpc>
              <a:spcAft>
                <a:spcPts val="0"/>
              </a:spcAft>
            </a:pPr>
            <a:r>
              <a:rPr sz="1200" b="0">
                <a:solidFill>
                  <a:srgbClr val="E6E6E6"/>
                </a:solidFill>
                <a:latin typeface="Consolas"/>
              </a:rPr>
              <a:t>  4  ORDER  BY extent_id;</a:t>
            </a:r>
          </a:p>
          <a:p>
            <a:pPr>
              <a:lnSpc>
                <a:spcPct val="100000"/>
              </a:lnSpc>
              <a:spcAft>
                <a:spcPts val="0"/>
              </a:spcAft>
            </a:pPr>
            <a:r>
              <a:rPr sz="1200" b="0">
                <a:solidFill>
                  <a:srgbClr val="E6E6E6"/>
                </a:solidFill>
                <a:latin typeface="Consolas"/>
              </a:rPr>
              <a:t> </a:t>
            </a:r>
          </a:p>
          <a:p>
            <a:pPr>
              <a:lnSpc>
                <a:spcPct val="100000"/>
              </a:lnSpc>
              <a:spcAft>
                <a:spcPts val="0"/>
              </a:spcAft>
            </a:pPr>
            <a:r>
              <a:rPr sz="1200" b="0">
                <a:solidFill>
                  <a:srgbClr val="7EC699"/>
                </a:solidFill>
                <a:latin typeface="Consolas"/>
              </a:rPr>
              <a:t>-- 즉시 세그먼트 생성이 필요하면</a:t>
            </a:r>
          </a:p>
          <a:p>
            <a:pPr>
              <a:lnSpc>
                <a:spcPct val="100000"/>
              </a:lnSpc>
              <a:spcAft>
                <a:spcPts val="0"/>
              </a:spcAft>
            </a:pPr>
            <a:r>
              <a:rPr sz="1200" b="0">
                <a:solidFill>
                  <a:srgbClr val="E6E6E6"/>
                </a:solidFill>
                <a:latin typeface="Consolas"/>
              </a:rPr>
              <a:t>SYS@cdb1&gt; CREATE TABLE hr.t (...) SEGMENT CREATION IMMEDIATE;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spAutoFit/>
          </a:bodyPr>
          <a:lstStyle/>
          <a:p>
            <a:r>
              <a:rPr sz="2600" b="1">
                <a:solidFill>
                  <a:srgbClr val="FFFFFF"/>
                </a:solidFill>
                <a:latin typeface="Malgun Gothic"/>
              </a:rPr>
              <a:t>사용 불가능한 인덱스 처리</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SKIP_UNUSABLE_INDEXES</a:t>
            </a:r>
          </a:p>
        </p:txBody>
      </p:sp>
      <p:sp>
        <p:nvSpPr>
          <p:cNvPr id="5" name="TextBox 4"/>
          <p:cNvSpPr txBox="1"/>
          <p:nvPr/>
        </p:nvSpPr>
        <p:spPr>
          <a:xfrm>
            <a:off x="640080" y="1691640"/>
            <a:ext cx="10881360" cy="4572000"/>
          </a:xfrm>
          <a:prstGeom prst="rect">
            <a:avLst/>
          </a:prstGeom>
          <a:noFill/>
        </p:spPr>
        <p:txBody>
          <a:bodyPr wrap="square">
            <a:spAutoFit/>
          </a:bodyPr>
          <a:lstStyle/>
          <a:p>
            <a:pPr>
              <a:spcAft>
                <a:spcPts val="600"/>
              </a:spcAft>
            </a:pPr>
            <a:r>
              <a:rPr sz="1800" b="0">
                <a:solidFill>
                  <a:srgbClr val="C0392B"/>
                </a:solidFill>
                <a:latin typeface="Malgun Gothic"/>
              </a:rPr>
              <a:t>•  인덱스가 UNUSABLE 되는 경우: 다이렉트 적재·MOVE·대량 DDL</a:t>
            </a:r>
          </a:p>
          <a:p>
            <a:pPr>
              <a:spcAft>
                <a:spcPts val="600"/>
              </a:spcAft>
            </a:pPr>
            <a:r>
              <a:rPr sz="1800" b="0">
                <a:solidFill>
                  <a:srgbClr val="C0392B"/>
                </a:solidFill>
                <a:latin typeface="Malgun Gothic"/>
              </a:rPr>
              <a:t>•  SKIP_UNUSABLE_INDEXES=TRUE(기본): 비유일 인덱스 무시, DML 진행</a:t>
            </a:r>
          </a:p>
          <a:p>
            <a:pPr>
              <a:spcAft>
                <a:spcPts val="600"/>
              </a:spcAft>
            </a:pPr>
            <a:r>
              <a:rPr sz="1800" b="0">
                <a:solidFill>
                  <a:srgbClr val="C0392B"/>
                </a:solidFill>
                <a:latin typeface="Malgun Gothic"/>
              </a:rPr>
              <a:t>•  FALSE: 관련 DML이 ORA-01502로 실패</a:t>
            </a:r>
          </a:p>
          <a:p>
            <a:pPr>
              <a:spcAft>
                <a:spcPts val="600"/>
              </a:spcAft>
            </a:pPr>
            <a:r>
              <a:rPr sz="1800" b="0">
                <a:solidFill>
                  <a:srgbClr val="C0392B"/>
                </a:solidFill>
                <a:latin typeface="Malgun Gothic"/>
              </a:rPr>
              <a:t>•  유일/PK 인덱스가 UNUSABLE이면 파라미터와 무관하게 실패</a:t>
            </a:r>
          </a:p>
          <a:p>
            <a:pPr>
              <a:spcAft>
                <a:spcPts val="600"/>
              </a:spcAft>
            </a:pPr>
            <a:r>
              <a:rPr sz="1800" b="0">
                <a:solidFill>
                  <a:srgbClr val="C0392B"/>
                </a:solidFill>
                <a:latin typeface="Malgun Gothic"/>
              </a:rPr>
              <a:t>•  복구: ALTER INDEX ... REBUILD [ONLINE]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spAutoFit/>
          </a:bodyPr>
          <a:lstStyle/>
          <a:p>
            <a:r>
              <a:rPr sz="2600" b="1">
                <a:solidFill>
                  <a:srgbClr val="FFFFFF"/>
                </a:solidFill>
                <a:latin typeface="Malgun Gothic"/>
              </a:rPr>
              <a:t>인덱스 재구축</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UNUSABLE → REBUILD ONLINE</a:t>
            </a:r>
          </a:p>
        </p:txBody>
      </p:sp>
      <p:sp>
        <p:nvSpPr>
          <p:cNvPr id="5" name="Rectangle 4"/>
          <p:cNvSpPr/>
          <p:nvPr/>
        </p:nvSpPr>
        <p:spPr>
          <a:xfrm>
            <a:off x="640080" y="1645920"/>
            <a:ext cx="10908792" cy="47091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10515600" cy="4526280"/>
          </a:xfrm>
          <a:prstGeom prst="rect">
            <a:avLst/>
          </a:prstGeom>
          <a:noFill/>
        </p:spPr>
        <p:txBody>
          <a:bodyPr wrap="square">
            <a:spAutoFit/>
          </a:bodyPr>
          <a:lstStyle/>
          <a:p>
            <a:pPr>
              <a:lnSpc>
                <a:spcPct val="100000"/>
              </a:lnSpc>
              <a:spcAft>
                <a:spcPts val="0"/>
              </a:spcAft>
            </a:pPr>
            <a:r>
              <a:rPr sz="1200" b="0">
                <a:solidFill>
                  <a:srgbClr val="7EC699"/>
                </a:solidFill>
                <a:latin typeface="Consolas"/>
              </a:rPr>
              <a:t>-- 인덱스 상태 확인</a:t>
            </a:r>
          </a:p>
          <a:p>
            <a:pPr>
              <a:lnSpc>
                <a:spcPct val="100000"/>
              </a:lnSpc>
              <a:spcAft>
                <a:spcPts val="0"/>
              </a:spcAft>
            </a:pPr>
            <a:r>
              <a:rPr sz="1200" b="0">
                <a:solidFill>
                  <a:srgbClr val="E6E6E6"/>
                </a:solidFill>
                <a:latin typeface="Consolas"/>
              </a:rPr>
              <a:t>SYS@cdb1&gt; SELECT index_name, status FROM dba_indexes</a:t>
            </a:r>
          </a:p>
          <a:p>
            <a:pPr>
              <a:lnSpc>
                <a:spcPct val="100000"/>
              </a:lnSpc>
              <a:spcAft>
                <a:spcPts val="0"/>
              </a:spcAft>
            </a:pPr>
            <a:r>
              <a:rPr sz="1200" b="0">
                <a:solidFill>
                  <a:srgbClr val="E6E6E6"/>
                </a:solidFill>
                <a:latin typeface="Consolas"/>
              </a:rPr>
              <a:t>  2  WHERE owner='HR' AND status='UNUSABLE';</a:t>
            </a:r>
          </a:p>
          <a:p>
            <a:pPr>
              <a:lnSpc>
                <a:spcPct val="100000"/>
              </a:lnSpc>
              <a:spcAft>
                <a:spcPts val="0"/>
              </a:spcAft>
            </a:pPr>
            <a:r>
              <a:rPr sz="1200" b="0">
                <a:solidFill>
                  <a:srgbClr val="E6E6E6"/>
                </a:solidFill>
                <a:latin typeface="Consolas"/>
              </a:rPr>
              <a:t>INDEX_NAME           STATUS</a:t>
            </a:r>
          </a:p>
          <a:p>
            <a:pPr>
              <a:lnSpc>
                <a:spcPct val="100000"/>
              </a:lnSpc>
              <a:spcAft>
                <a:spcPts val="0"/>
              </a:spcAft>
            </a:pPr>
            <a:r>
              <a:rPr sz="1200" b="0">
                <a:solidFill>
                  <a:srgbClr val="7EC699"/>
                </a:solidFill>
                <a:latin typeface="Consolas"/>
              </a:rPr>
              <a:t>-------------------- --------</a:t>
            </a:r>
          </a:p>
          <a:p>
            <a:pPr>
              <a:lnSpc>
                <a:spcPct val="100000"/>
              </a:lnSpc>
              <a:spcAft>
                <a:spcPts val="0"/>
              </a:spcAft>
            </a:pPr>
            <a:r>
              <a:rPr sz="1200" b="0">
                <a:solidFill>
                  <a:srgbClr val="E6E6E6"/>
                </a:solidFill>
                <a:latin typeface="Consolas"/>
              </a:rPr>
              <a:t>EMP_DEPT_IX          UNUSABLE</a:t>
            </a:r>
          </a:p>
          <a:p>
            <a:pPr>
              <a:lnSpc>
                <a:spcPct val="100000"/>
              </a:lnSpc>
              <a:spcAft>
                <a:spcPts val="0"/>
              </a:spcAft>
            </a:pPr>
            <a:r>
              <a:rPr sz="1200" b="0">
                <a:solidFill>
                  <a:srgbClr val="E6E6E6"/>
                </a:solidFill>
                <a:latin typeface="Consolas"/>
              </a:rPr>
              <a:t> </a:t>
            </a:r>
          </a:p>
          <a:p>
            <a:pPr>
              <a:lnSpc>
                <a:spcPct val="100000"/>
              </a:lnSpc>
              <a:spcAft>
                <a:spcPts val="0"/>
              </a:spcAft>
            </a:pPr>
            <a:r>
              <a:rPr sz="1200" b="0">
                <a:solidFill>
                  <a:srgbClr val="7EC699"/>
                </a:solidFill>
                <a:latin typeface="Consolas"/>
              </a:rPr>
              <a:t>-- (오류 재현) 파라미터 FALSE에서 DML 시도</a:t>
            </a:r>
          </a:p>
          <a:p>
            <a:pPr>
              <a:lnSpc>
                <a:spcPct val="100000"/>
              </a:lnSpc>
              <a:spcAft>
                <a:spcPts val="0"/>
              </a:spcAft>
            </a:pPr>
            <a:r>
              <a:rPr sz="1200" b="0">
                <a:solidFill>
                  <a:srgbClr val="E6E6E6"/>
                </a:solidFill>
                <a:latin typeface="Consolas"/>
              </a:rPr>
              <a:t>SYS@cdb1&gt; ALTER SESSION SET skip_unusable_indexes = FALSE;</a:t>
            </a:r>
          </a:p>
          <a:p>
            <a:pPr>
              <a:lnSpc>
                <a:spcPct val="100000"/>
              </a:lnSpc>
              <a:spcAft>
                <a:spcPts val="0"/>
              </a:spcAft>
            </a:pPr>
            <a:r>
              <a:rPr sz="1200" b="0">
                <a:solidFill>
                  <a:srgbClr val="E6E6E6"/>
                </a:solidFill>
                <a:latin typeface="Consolas"/>
              </a:rPr>
              <a:t>SYS@cdb1&gt; INSERT INTO hr.emp_big VALUES (...);</a:t>
            </a:r>
          </a:p>
          <a:p>
            <a:pPr>
              <a:lnSpc>
                <a:spcPct val="100000"/>
              </a:lnSpc>
              <a:spcAft>
                <a:spcPts val="0"/>
              </a:spcAft>
            </a:pPr>
            <a:r>
              <a:rPr sz="1200" b="0">
                <a:solidFill>
                  <a:srgbClr val="E6E6E6"/>
                </a:solidFill>
                <a:latin typeface="Consolas"/>
              </a:rPr>
              <a:t>ERROR at line 1:</a:t>
            </a:r>
          </a:p>
          <a:p>
            <a:pPr>
              <a:lnSpc>
                <a:spcPct val="100000"/>
              </a:lnSpc>
              <a:spcAft>
                <a:spcPts val="0"/>
              </a:spcAft>
            </a:pPr>
            <a:r>
              <a:rPr sz="1200" b="0">
                <a:solidFill>
                  <a:srgbClr val="E6E6E6"/>
                </a:solidFill>
                <a:latin typeface="Consolas"/>
              </a:rPr>
              <a:t>ORA-01502: index 'HR.EMP_DEPT_IX' ... is in unusable state</a:t>
            </a:r>
          </a:p>
          <a:p>
            <a:pPr>
              <a:lnSpc>
                <a:spcPct val="100000"/>
              </a:lnSpc>
              <a:spcAft>
                <a:spcPts val="0"/>
              </a:spcAft>
            </a:pPr>
            <a:r>
              <a:rPr sz="1200" b="0">
                <a:solidFill>
                  <a:srgbClr val="E6E6E6"/>
                </a:solidFill>
                <a:latin typeface="Consolas"/>
              </a:rPr>
              <a:t> </a:t>
            </a:r>
          </a:p>
          <a:p>
            <a:pPr>
              <a:lnSpc>
                <a:spcPct val="100000"/>
              </a:lnSpc>
              <a:spcAft>
                <a:spcPts val="0"/>
              </a:spcAft>
            </a:pPr>
            <a:r>
              <a:rPr sz="1200" b="0">
                <a:solidFill>
                  <a:srgbClr val="7EC699"/>
                </a:solidFill>
                <a:latin typeface="Consolas"/>
              </a:rPr>
              <a:t>-- 해결: 온라인 재구축</a:t>
            </a:r>
          </a:p>
          <a:p>
            <a:pPr>
              <a:lnSpc>
                <a:spcPct val="100000"/>
              </a:lnSpc>
              <a:spcAft>
                <a:spcPts val="0"/>
              </a:spcAft>
            </a:pPr>
            <a:r>
              <a:rPr sz="1200" b="0">
                <a:solidFill>
                  <a:srgbClr val="E6E6E6"/>
                </a:solidFill>
                <a:latin typeface="Consolas"/>
              </a:rPr>
              <a:t>SYS@cdb1&gt; ALTER INDEX hr.emp_dept_ix REBUILD ONLINE;</a:t>
            </a:r>
          </a:p>
          <a:p>
            <a:pPr>
              <a:lnSpc>
                <a:spcPct val="100000"/>
              </a:lnSpc>
              <a:spcAft>
                <a:spcPts val="0"/>
              </a:spcAft>
            </a:pPr>
            <a:r>
              <a:rPr sz="1200" b="0">
                <a:solidFill>
                  <a:srgbClr val="E6E6E6"/>
                </a:solidFill>
                <a:latin typeface="Consolas"/>
              </a:rPr>
              <a:t>Index altered.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371600"/>
            <a:ext cx="5486400" cy="1371600"/>
          </a:xfrm>
          <a:prstGeom prst="rect">
            <a:avLst/>
          </a:prstGeom>
          <a:noFill/>
        </p:spPr>
        <p:txBody>
          <a:bodyPr wrap="square">
            <a:spAutoFit/>
          </a:bodyPr>
          <a:lstStyle/>
          <a:p>
            <a:r>
              <a:rPr sz="6600" b="1">
                <a:solidFill>
                  <a:srgbClr val="C0392B"/>
                </a:solidFill>
                <a:latin typeface="Malgun Gothic"/>
              </a:rPr>
              <a:t>19.B</a:t>
            </a:r>
          </a:p>
        </p:txBody>
      </p:sp>
      <p:sp>
        <p:nvSpPr>
          <p:cNvPr id="4" name="TextBox 3"/>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임시 테이블</a:t>
            </a:r>
          </a:p>
        </p:txBody>
      </p:sp>
      <p:sp>
        <p:nvSpPr>
          <p:cNvPr id="5" name="Rectangle 4"/>
          <p:cNvSpPr/>
          <p:nvPr/>
        </p:nvSpPr>
        <p:spPr>
          <a:xfrm>
            <a:off x="868680" y="388620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4114800"/>
            <a:ext cx="10424160" cy="2194560"/>
          </a:xfrm>
          <a:prstGeom prst="rect">
            <a:avLst/>
          </a:prstGeom>
          <a:noFill/>
        </p:spPr>
        <p:txBody>
          <a:bodyPr wrap="square">
            <a:spAutoFit/>
          </a:bodyPr>
          <a:lstStyle/>
          <a:p>
            <a:pPr>
              <a:spcAft>
                <a:spcPts val="600"/>
              </a:spcAft>
            </a:pPr>
            <a:r>
              <a:rPr sz="1600" b="0">
                <a:solidFill>
                  <a:srgbClr val="C5CED6"/>
                </a:solidFill>
                <a:latin typeface="Malgun Gothic"/>
              </a:rPr>
              <a:t>•  글로벌 임시 테이블(GTT)</a:t>
            </a:r>
          </a:p>
          <a:p>
            <a:pPr>
              <a:spcAft>
                <a:spcPts val="600"/>
              </a:spcAft>
            </a:pPr>
            <a:r>
              <a:rPr sz="1600" b="0">
                <a:solidFill>
                  <a:srgbClr val="C5CED6"/>
                </a:solidFill>
                <a:latin typeface="Malgun Gothic"/>
              </a:rPr>
              <a:t>•  프라이빗 임시 테이블(PTT, 18c)</a:t>
            </a:r>
          </a:p>
          <a:p>
            <a:pPr>
              <a:spcAft>
                <a:spcPts val="600"/>
              </a:spcAft>
            </a:pPr>
            <a:r>
              <a:rPr sz="1600" b="0">
                <a:solidFill>
                  <a:srgbClr val="C5CED6"/>
                </a:solidFill>
                <a:latin typeface="Malgun Gothic"/>
              </a:rPr>
              <a:t>•  세션별 프라이빗 데이터</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spAutoFit/>
          </a:bodyPr>
          <a:lstStyle/>
          <a:p>
            <a:r>
              <a:rPr sz="2600" b="1">
                <a:solidFill>
                  <a:srgbClr val="FFFFFF"/>
                </a:solidFill>
                <a:latin typeface="Malgun Gothic"/>
              </a:rPr>
              <a:t>임시 테이블 개요</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세션/트랜잭션 동안만 존재</a:t>
            </a:r>
          </a:p>
        </p:txBody>
      </p:sp>
      <p:sp>
        <p:nvSpPr>
          <p:cNvPr id="5" name="TextBox 4"/>
          <p:cNvSpPr txBox="1"/>
          <p:nvPr/>
        </p:nvSpPr>
        <p:spPr>
          <a:xfrm>
            <a:off x="640080" y="1691640"/>
            <a:ext cx="10881360" cy="4572000"/>
          </a:xfrm>
          <a:prstGeom prst="rect">
            <a:avLst/>
          </a:prstGeom>
          <a:noFill/>
        </p:spPr>
        <p:txBody>
          <a:bodyPr wrap="square">
            <a:spAutoFit/>
          </a:bodyPr>
          <a:lstStyle/>
          <a:p>
            <a:pPr>
              <a:spcAft>
                <a:spcPts val="600"/>
              </a:spcAft>
            </a:pPr>
            <a:r>
              <a:rPr sz="1800" b="0">
                <a:solidFill>
                  <a:srgbClr val="C0392B"/>
                </a:solidFill>
                <a:latin typeface="Malgun Gothic"/>
              </a:rPr>
              <a:t>•  중간 결과·스테이징·단계별 집계에 사용</a:t>
            </a:r>
          </a:p>
          <a:p>
            <a:pPr>
              <a:spcAft>
                <a:spcPts val="600"/>
              </a:spcAft>
            </a:pPr>
            <a:r>
              <a:rPr sz="1800" b="0">
                <a:solidFill>
                  <a:srgbClr val="C0392B"/>
                </a:solidFill>
                <a:latin typeface="Malgun Gothic"/>
              </a:rPr>
              <a:t>•  데이터는 세션별 프라이빗, 다른 세션엔 안 보임</a:t>
            </a:r>
          </a:p>
          <a:p>
            <a:pPr>
              <a:spcAft>
                <a:spcPts val="600"/>
              </a:spcAft>
            </a:pPr>
            <a:r>
              <a:rPr sz="1800" b="0">
                <a:solidFill>
                  <a:srgbClr val="C0392B"/>
                </a:solidFill>
                <a:latin typeface="Malgun Gothic"/>
              </a:rPr>
              <a:t>•  TEMP 테이블스페이스에 저장, 리두 거의 없음(부하↓)</a:t>
            </a:r>
          </a:p>
          <a:p>
            <a:pPr>
              <a:spcAft>
                <a:spcPts val="600"/>
              </a:spcAft>
            </a:pPr>
            <a:r>
              <a:rPr sz="1600" b="0">
                <a:solidFill>
                  <a:srgbClr val="5A6672"/>
                </a:solidFill>
                <a:latin typeface="Malgun Gothic"/>
              </a:rPr>
              <a:t>   –  GTT: 정의는 딕셔너리에 영구, 모든 세션 공유</a:t>
            </a:r>
          </a:p>
          <a:p>
            <a:pPr>
              <a:spcAft>
                <a:spcPts val="600"/>
              </a:spcAft>
            </a:pPr>
            <a:r>
              <a:rPr sz="1600" b="0">
                <a:solidFill>
                  <a:srgbClr val="5A6672"/>
                </a:solidFill>
                <a:latin typeface="Malgun Gothic"/>
              </a:rPr>
              <a:t>   –  PTT(18c): 정의도 생성 세션에만 존재</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spAutoFit/>
          </a:bodyPr>
          <a:lstStyle/>
          <a:p>
            <a:r>
              <a:rPr sz="2600" b="1">
                <a:solidFill>
                  <a:srgbClr val="FFFFFF"/>
                </a:solidFill>
                <a:latin typeface="Malgun Gothic"/>
              </a:rPr>
              <a:t>글로벌 임시 테이블(GTT)</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ON COMMIT으로 유지 범위 결정</a:t>
            </a:r>
          </a:p>
        </p:txBody>
      </p:sp>
      <p:sp>
        <p:nvSpPr>
          <p:cNvPr id="5" name="TextBox 4"/>
          <p:cNvSpPr txBox="1"/>
          <p:nvPr/>
        </p:nvSpPr>
        <p:spPr>
          <a:xfrm>
            <a:off x="640080" y="1691640"/>
            <a:ext cx="10881360" cy="4572000"/>
          </a:xfrm>
          <a:prstGeom prst="rect">
            <a:avLst/>
          </a:prstGeom>
          <a:noFill/>
        </p:spPr>
        <p:txBody>
          <a:bodyPr wrap="square">
            <a:spAutoFit/>
          </a:bodyPr>
          <a:lstStyle/>
          <a:p>
            <a:pPr>
              <a:spcAft>
                <a:spcPts val="600"/>
              </a:spcAft>
            </a:pPr>
            <a:r>
              <a:rPr sz="1800" b="0">
                <a:solidFill>
                  <a:srgbClr val="C0392B"/>
                </a:solidFill>
                <a:latin typeface="Malgun Gothic"/>
              </a:rPr>
              <a:t>•  CREATE GLOBAL TEMPORARY TABLE로 생성</a:t>
            </a:r>
          </a:p>
          <a:p>
            <a:pPr>
              <a:spcAft>
                <a:spcPts val="600"/>
              </a:spcAft>
            </a:pPr>
            <a:r>
              <a:rPr sz="1800" b="0">
                <a:solidFill>
                  <a:srgbClr val="C0392B"/>
                </a:solidFill>
                <a:latin typeface="Malgun Gothic"/>
              </a:rPr>
              <a:t>•  ON COMMIT DELETE ROWS(기본): 커밋 시 행 삭제(트랜잭션 전용)</a:t>
            </a:r>
          </a:p>
          <a:p>
            <a:pPr>
              <a:spcAft>
                <a:spcPts val="600"/>
              </a:spcAft>
            </a:pPr>
            <a:r>
              <a:rPr sz="1800" b="0">
                <a:solidFill>
                  <a:srgbClr val="C0392B"/>
                </a:solidFill>
                <a:latin typeface="Malgun Gothic"/>
              </a:rPr>
              <a:t>•  ON COMMIT PRESERVE ROWS: 세션 종료까지 유지(세션 전용)</a:t>
            </a:r>
          </a:p>
          <a:p>
            <a:pPr>
              <a:spcAft>
                <a:spcPts val="600"/>
              </a:spcAft>
            </a:pPr>
            <a:r>
              <a:rPr sz="1800" b="0">
                <a:solidFill>
                  <a:srgbClr val="C0392B"/>
                </a:solidFill>
                <a:latin typeface="Malgun Gothic"/>
              </a:rPr>
              <a:t>•  정의는 공유, 데이터는 세션별 — 표준 스테이징에 적합</a:t>
            </a:r>
          </a:p>
          <a:p>
            <a:pPr>
              <a:spcAft>
                <a:spcPts val="600"/>
              </a:spcAft>
            </a:pPr>
            <a:r>
              <a:rPr sz="1800" b="0">
                <a:solidFill>
                  <a:srgbClr val="C0392B"/>
                </a:solidFill>
                <a:latin typeface="Malgun Gothic"/>
              </a:rPr>
              <a:t>•  정의 변경(DDL)은 사용 중 세션이 없어야 가능</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spAutoFit/>
          </a:bodyPr>
          <a:lstStyle/>
          <a:p>
            <a:r>
              <a:rPr sz="2600" b="1">
                <a:solidFill>
                  <a:srgbClr val="FFFFFF"/>
                </a:solidFill>
                <a:latin typeface="Malgun Gothic"/>
              </a:rPr>
              <a:t>GTT 생성</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ON COMMIT DELETE / PRESERVE ROWS</a:t>
            </a:r>
          </a:p>
        </p:txBody>
      </p:sp>
      <p:sp>
        <p:nvSpPr>
          <p:cNvPr id="5" name="Rectangle 4"/>
          <p:cNvSpPr/>
          <p:nvPr/>
        </p:nvSpPr>
        <p:spPr>
          <a:xfrm>
            <a:off x="640080" y="1645920"/>
            <a:ext cx="10908792" cy="47091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10515600" cy="4526280"/>
          </a:xfrm>
          <a:prstGeom prst="rect">
            <a:avLst/>
          </a:prstGeom>
          <a:noFill/>
        </p:spPr>
        <p:txBody>
          <a:bodyPr wrap="square">
            <a:spAutoFit/>
          </a:bodyPr>
          <a:lstStyle/>
          <a:p>
            <a:pPr>
              <a:lnSpc>
                <a:spcPct val="100000"/>
              </a:lnSpc>
              <a:spcAft>
                <a:spcPts val="0"/>
              </a:spcAft>
            </a:pPr>
            <a:r>
              <a:rPr sz="1200" b="0">
                <a:solidFill>
                  <a:srgbClr val="7EC699"/>
                </a:solidFill>
                <a:latin typeface="Consolas"/>
              </a:rPr>
              <a:t>-- 트랜잭션 전용 GTT (커밋 시 행 삭제)</a:t>
            </a:r>
          </a:p>
          <a:p>
            <a:pPr>
              <a:lnSpc>
                <a:spcPct val="100000"/>
              </a:lnSpc>
              <a:spcAft>
                <a:spcPts val="0"/>
              </a:spcAft>
            </a:pPr>
            <a:r>
              <a:rPr sz="1200" b="0">
                <a:solidFill>
                  <a:srgbClr val="E6E6E6"/>
                </a:solidFill>
                <a:latin typeface="Consolas"/>
              </a:rPr>
              <a:t>SYS@cdb1&gt; CREATE GLOBAL TEMPORARY TABLE hr.gtt_txn (</a:t>
            </a:r>
          </a:p>
          <a:p>
            <a:pPr>
              <a:lnSpc>
                <a:spcPct val="100000"/>
              </a:lnSpc>
              <a:spcAft>
                <a:spcPts val="0"/>
              </a:spcAft>
            </a:pPr>
            <a:r>
              <a:rPr sz="1200" b="0">
                <a:solidFill>
                  <a:srgbClr val="E6E6E6"/>
                </a:solidFill>
                <a:latin typeface="Consolas"/>
              </a:rPr>
              <a:t>  2    id NUMBER, val VARCHAR2(100))</a:t>
            </a:r>
          </a:p>
          <a:p>
            <a:pPr>
              <a:lnSpc>
                <a:spcPct val="100000"/>
              </a:lnSpc>
              <a:spcAft>
                <a:spcPts val="0"/>
              </a:spcAft>
            </a:pPr>
            <a:r>
              <a:rPr sz="1200" b="0">
                <a:solidFill>
                  <a:srgbClr val="E6E6E6"/>
                </a:solidFill>
                <a:latin typeface="Consolas"/>
              </a:rPr>
              <a:t>  3  ON COMMIT DELETE ROWS;</a:t>
            </a:r>
          </a:p>
          <a:p>
            <a:pPr>
              <a:lnSpc>
                <a:spcPct val="100000"/>
              </a:lnSpc>
              <a:spcAft>
                <a:spcPts val="0"/>
              </a:spcAft>
            </a:pPr>
            <a:r>
              <a:rPr sz="1200" b="0">
                <a:solidFill>
                  <a:srgbClr val="E6E6E6"/>
                </a:solidFill>
                <a:latin typeface="Consolas"/>
              </a:rPr>
              <a:t>Table created.</a:t>
            </a:r>
          </a:p>
          <a:p>
            <a:pPr>
              <a:lnSpc>
                <a:spcPct val="100000"/>
              </a:lnSpc>
              <a:spcAft>
                <a:spcPts val="0"/>
              </a:spcAft>
            </a:pPr>
            <a:r>
              <a:rPr sz="1200" b="0">
                <a:solidFill>
                  <a:srgbClr val="E6E6E6"/>
                </a:solidFill>
                <a:latin typeface="Consolas"/>
              </a:rPr>
              <a:t> </a:t>
            </a:r>
          </a:p>
          <a:p>
            <a:pPr>
              <a:lnSpc>
                <a:spcPct val="100000"/>
              </a:lnSpc>
              <a:spcAft>
                <a:spcPts val="0"/>
              </a:spcAft>
            </a:pPr>
            <a:r>
              <a:rPr sz="1200" b="0">
                <a:solidFill>
                  <a:srgbClr val="7EC699"/>
                </a:solidFill>
                <a:latin typeface="Consolas"/>
              </a:rPr>
              <a:t>-- 세션 전용 GTT (세션 종료까지 유지)</a:t>
            </a:r>
          </a:p>
          <a:p>
            <a:pPr>
              <a:lnSpc>
                <a:spcPct val="100000"/>
              </a:lnSpc>
              <a:spcAft>
                <a:spcPts val="0"/>
              </a:spcAft>
            </a:pPr>
            <a:r>
              <a:rPr sz="1200" b="0">
                <a:solidFill>
                  <a:srgbClr val="E6E6E6"/>
                </a:solidFill>
                <a:latin typeface="Consolas"/>
              </a:rPr>
              <a:t>SYS@cdb1&gt; CREATE GLOBAL TEMPORARY TABLE hr.gtt_sess (</a:t>
            </a:r>
          </a:p>
          <a:p>
            <a:pPr>
              <a:lnSpc>
                <a:spcPct val="100000"/>
              </a:lnSpc>
              <a:spcAft>
                <a:spcPts val="0"/>
              </a:spcAft>
            </a:pPr>
            <a:r>
              <a:rPr sz="1200" b="0">
                <a:solidFill>
                  <a:srgbClr val="E6E6E6"/>
                </a:solidFill>
                <a:latin typeface="Consolas"/>
              </a:rPr>
              <a:t>  2    id NUMBER, val VARCHAR2(100))</a:t>
            </a:r>
          </a:p>
          <a:p>
            <a:pPr>
              <a:lnSpc>
                <a:spcPct val="100000"/>
              </a:lnSpc>
              <a:spcAft>
                <a:spcPts val="0"/>
              </a:spcAft>
            </a:pPr>
            <a:r>
              <a:rPr sz="1200" b="0">
                <a:solidFill>
                  <a:srgbClr val="E6E6E6"/>
                </a:solidFill>
                <a:latin typeface="Consolas"/>
              </a:rPr>
              <a:t>  3  ON COMMIT PRESERVE ROWS;</a:t>
            </a:r>
          </a:p>
          <a:p>
            <a:pPr>
              <a:lnSpc>
                <a:spcPct val="100000"/>
              </a:lnSpc>
              <a:spcAft>
                <a:spcPts val="0"/>
              </a:spcAft>
            </a:pPr>
            <a:r>
              <a:rPr sz="1200" b="0">
                <a:solidFill>
                  <a:srgbClr val="E6E6E6"/>
                </a:solidFill>
                <a:latin typeface="Consolas"/>
              </a:rPr>
              <a:t>Table created.</a:t>
            </a:r>
          </a:p>
          <a:p>
            <a:pPr>
              <a:lnSpc>
                <a:spcPct val="100000"/>
              </a:lnSpc>
              <a:spcAft>
                <a:spcPts val="0"/>
              </a:spcAft>
            </a:pPr>
            <a:r>
              <a:rPr sz="1200" b="0">
                <a:solidFill>
                  <a:srgbClr val="E6E6E6"/>
                </a:solidFill>
                <a:latin typeface="Consolas"/>
              </a:rPr>
              <a:t> </a:t>
            </a:r>
          </a:p>
          <a:p>
            <a:pPr>
              <a:lnSpc>
                <a:spcPct val="100000"/>
              </a:lnSpc>
              <a:spcAft>
                <a:spcPts val="0"/>
              </a:spcAft>
            </a:pPr>
            <a:r>
              <a:rPr sz="1200" b="0">
                <a:solidFill>
                  <a:srgbClr val="E6E6E6"/>
                </a:solidFill>
                <a:latin typeface="Consolas"/>
              </a:rPr>
              <a:t>SYS@cdb1&gt; SELECT table_name, temporary, duration</a:t>
            </a:r>
          </a:p>
          <a:p>
            <a:pPr>
              <a:lnSpc>
                <a:spcPct val="100000"/>
              </a:lnSpc>
              <a:spcAft>
                <a:spcPts val="0"/>
              </a:spcAft>
            </a:pPr>
            <a:r>
              <a:rPr sz="1200" b="0">
                <a:solidFill>
                  <a:srgbClr val="E6E6E6"/>
                </a:solidFill>
                <a:latin typeface="Consolas"/>
              </a:rPr>
              <a:t>  2  FROM dba_tables WHERE owner='HR' AND temporary='Y';</a:t>
            </a:r>
          </a:p>
          <a:p>
            <a:pPr>
              <a:lnSpc>
                <a:spcPct val="100000"/>
              </a:lnSpc>
              <a:spcAft>
                <a:spcPts val="0"/>
              </a:spcAft>
            </a:pPr>
            <a:r>
              <a:rPr sz="1200" b="0">
                <a:solidFill>
                  <a:srgbClr val="E6E6E6"/>
                </a:solidFill>
                <a:latin typeface="Consolas"/>
              </a:rPr>
              <a:t>TABLE_NAME  T DURATION</a:t>
            </a:r>
          </a:p>
          <a:p>
            <a:pPr>
              <a:lnSpc>
                <a:spcPct val="100000"/>
              </a:lnSpc>
              <a:spcAft>
                <a:spcPts val="0"/>
              </a:spcAft>
            </a:pPr>
            <a:r>
              <a:rPr sz="1200" b="0">
                <a:solidFill>
                  <a:srgbClr val="7EC699"/>
                </a:solidFill>
                <a:latin typeface="Consolas"/>
              </a:rPr>
              <a:t>----------- - ---------------</a:t>
            </a:r>
          </a:p>
          <a:p>
            <a:pPr>
              <a:lnSpc>
                <a:spcPct val="100000"/>
              </a:lnSpc>
              <a:spcAft>
                <a:spcPts val="0"/>
              </a:spcAft>
            </a:pPr>
            <a:r>
              <a:rPr sz="1200" b="0">
                <a:solidFill>
                  <a:srgbClr val="E6E6E6"/>
                </a:solidFill>
                <a:latin typeface="Consolas"/>
              </a:rPr>
              <a:t>GTT_TXN     Y SYS$TRANSACTION</a:t>
            </a:r>
          </a:p>
          <a:p>
            <a:pPr>
              <a:lnSpc>
                <a:spcPct val="100000"/>
              </a:lnSpc>
              <a:spcAft>
                <a:spcPts val="0"/>
              </a:spcAft>
            </a:pPr>
            <a:r>
              <a:rPr sz="1200" b="0">
                <a:solidFill>
                  <a:srgbClr val="E6E6E6"/>
                </a:solidFill>
                <a:latin typeface="Consolas"/>
              </a:rPr>
              <a:t>GTT_SESS    Y SYS$SESSION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spAutoFit/>
          </a:bodyPr>
          <a:lstStyle/>
          <a:p>
            <a:r>
              <a:rPr sz="2600" b="1">
                <a:solidFill>
                  <a:srgbClr val="FFFFFF"/>
                </a:solidFill>
                <a:latin typeface="Malgun Gothic"/>
              </a:rPr>
              <a:t>프라이빗 임시 테이블(PTT, 18c)</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정의도 세션 프라이빗</a:t>
            </a:r>
          </a:p>
        </p:txBody>
      </p:sp>
      <p:sp>
        <p:nvSpPr>
          <p:cNvPr id="5" name="TextBox 4"/>
          <p:cNvSpPr txBox="1"/>
          <p:nvPr/>
        </p:nvSpPr>
        <p:spPr>
          <a:xfrm>
            <a:off x="640080" y="1691640"/>
            <a:ext cx="10881360" cy="4572000"/>
          </a:xfrm>
          <a:prstGeom prst="rect">
            <a:avLst/>
          </a:prstGeom>
          <a:noFill/>
        </p:spPr>
        <p:txBody>
          <a:bodyPr wrap="square">
            <a:spAutoFit/>
          </a:bodyPr>
          <a:lstStyle/>
          <a:p>
            <a:pPr>
              <a:spcAft>
                <a:spcPts val="600"/>
              </a:spcAft>
            </a:pPr>
            <a:r>
              <a:rPr sz="1800" b="0">
                <a:solidFill>
                  <a:srgbClr val="C0392B"/>
                </a:solidFill>
                <a:latin typeface="Malgun Gothic"/>
              </a:rPr>
              <a:t>•  18c 신기능 — 정의·데이터 모두 생성 세션에만</a:t>
            </a:r>
          </a:p>
          <a:p>
            <a:pPr>
              <a:spcAft>
                <a:spcPts val="600"/>
              </a:spcAft>
            </a:pPr>
            <a:r>
              <a:rPr sz="1800" b="0">
                <a:solidFill>
                  <a:srgbClr val="C0392B"/>
                </a:solidFill>
                <a:latin typeface="Malgun Gothic"/>
              </a:rPr>
              <a:t>•  메모리 저장, 필요 시 디스크 스필, 딕셔너리에 영구 미표시</a:t>
            </a:r>
          </a:p>
          <a:p>
            <a:pPr>
              <a:spcAft>
                <a:spcPts val="600"/>
              </a:spcAft>
            </a:pPr>
            <a:r>
              <a:rPr sz="1800" b="0">
                <a:solidFill>
                  <a:srgbClr val="C0392B"/>
                </a:solidFill>
                <a:latin typeface="Malgun Gothic"/>
              </a:rPr>
              <a:t>•  이름은 접두사로 시작해야 함(기본 ORA$PTT_)</a:t>
            </a:r>
          </a:p>
          <a:p>
            <a:pPr>
              <a:spcAft>
                <a:spcPts val="600"/>
              </a:spcAft>
            </a:pPr>
            <a:r>
              <a:rPr sz="1800" b="0">
                <a:solidFill>
                  <a:srgbClr val="C0392B"/>
                </a:solidFill>
                <a:latin typeface="Malgun Gothic"/>
              </a:rPr>
              <a:t>•  ON COMMIT DROP DEFINITION(기본): 트랜잭션 종료 시 정의까지 삭제</a:t>
            </a:r>
          </a:p>
          <a:p>
            <a:pPr>
              <a:spcAft>
                <a:spcPts val="600"/>
              </a:spcAft>
            </a:pPr>
            <a:r>
              <a:rPr sz="1800" b="0">
                <a:solidFill>
                  <a:srgbClr val="C0392B"/>
                </a:solidFill>
                <a:latin typeface="Malgun Gothic"/>
              </a:rPr>
              <a:t>•  ON COMMIT PRESERVE DEFINITION: 세션 종료까지 유지</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spAutoFit/>
          </a:bodyPr>
          <a:lstStyle/>
          <a:p>
            <a:r>
              <a:rPr sz="2600" b="1">
                <a:solidFill>
                  <a:srgbClr val="FFFFFF"/>
                </a:solidFill>
                <a:latin typeface="Malgun Gothic"/>
              </a:rPr>
              <a:t>PTT 생성</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접두사 규칙 · ON COMMIT PRESERVE DEFINITION</a:t>
            </a:r>
          </a:p>
        </p:txBody>
      </p:sp>
      <p:sp>
        <p:nvSpPr>
          <p:cNvPr id="5" name="Rectangle 4"/>
          <p:cNvSpPr/>
          <p:nvPr/>
        </p:nvSpPr>
        <p:spPr>
          <a:xfrm>
            <a:off x="640080" y="1645920"/>
            <a:ext cx="10908792" cy="47091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10515600" cy="4526280"/>
          </a:xfrm>
          <a:prstGeom prst="rect">
            <a:avLst/>
          </a:prstGeom>
          <a:noFill/>
        </p:spPr>
        <p:txBody>
          <a:bodyPr wrap="square">
            <a:spAutoFit/>
          </a:bodyPr>
          <a:lstStyle/>
          <a:p>
            <a:pPr>
              <a:lnSpc>
                <a:spcPct val="100000"/>
              </a:lnSpc>
              <a:spcAft>
                <a:spcPts val="0"/>
              </a:spcAft>
            </a:pPr>
            <a:r>
              <a:rPr sz="1200" b="0">
                <a:solidFill>
                  <a:srgbClr val="E6E6E6"/>
                </a:solidFill>
                <a:latin typeface="Consolas"/>
              </a:rPr>
              <a:t>SYS@cdb1&gt; SHOW PARAMETER private_temp_table_prefix</a:t>
            </a:r>
          </a:p>
          <a:p>
            <a:pPr>
              <a:lnSpc>
                <a:spcPct val="100000"/>
              </a:lnSpc>
              <a:spcAft>
                <a:spcPts val="0"/>
              </a:spcAft>
            </a:pPr>
            <a:r>
              <a:rPr sz="1200" b="0">
                <a:solidFill>
                  <a:srgbClr val="E6E6E6"/>
                </a:solidFill>
                <a:latin typeface="Consolas"/>
              </a:rPr>
              <a:t>NAME                        TYPE   VALUE</a:t>
            </a:r>
          </a:p>
          <a:p>
            <a:pPr>
              <a:lnSpc>
                <a:spcPct val="100000"/>
              </a:lnSpc>
              <a:spcAft>
                <a:spcPts val="0"/>
              </a:spcAft>
            </a:pPr>
            <a:r>
              <a:rPr sz="1200" b="0">
                <a:solidFill>
                  <a:srgbClr val="7EC699"/>
                </a:solidFill>
                <a:latin typeface="Consolas"/>
              </a:rPr>
              <a:t>--------------------------- ------ --------</a:t>
            </a:r>
          </a:p>
          <a:p>
            <a:pPr>
              <a:lnSpc>
                <a:spcPct val="100000"/>
              </a:lnSpc>
              <a:spcAft>
                <a:spcPts val="0"/>
              </a:spcAft>
            </a:pPr>
            <a:r>
              <a:rPr sz="1200" b="0">
                <a:solidFill>
                  <a:srgbClr val="E6E6E6"/>
                </a:solidFill>
                <a:latin typeface="Consolas"/>
              </a:rPr>
              <a:t>private_temp_table_prefix   string ORA$PTT_</a:t>
            </a:r>
          </a:p>
          <a:p>
            <a:pPr>
              <a:lnSpc>
                <a:spcPct val="100000"/>
              </a:lnSpc>
              <a:spcAft>
                <a:spcPts val="0"/>
              </a:spcAft>
            </a:pPr>
            <a:r>
              <a:rPr sz="1200" b="0">
                <a:solidFill>
                  <a:srgbClr val="E6E6E6"/>
                </a:solidFill>
                <a:latin typeface="Consolas"/>
              </a:rPr>
              <a:t> </a:t>
            </a:r>
          </a:p>
          <a:p>
            <a:pPr>
              <a:lnSpc>
                <a:spcPct val="100000"/>
              </a:lnSpc>
              <a:spcAft>
                <a:spcPts val="0"/>
              </a:spcAft>
            </a:pPr>
            <a:r>
              <a:rPr sz="1200" b="0">
                <a:solidFill>
                  <a:srgbClr val="7EC699"/>
                </a:solidFill>
                <a:latin typeface="Consolas"/>
              </a:rPr>
              <a:t>-- (오류 재현) 접두사 없는 이름으로 생성</a:t>
            </a:r>
          </a:p>
          <a:p>
            <a:pPr>
              <a:lnSpc>
                <a:spcPct val="100000"/>
              </a:lnSpc>
              <a:spcAft>
                <a:spcPts val="0"/>
              </a:spcAft>
            </a:pPr>
            <a:r>
              <a:rPr sz="1200" b="0">
                <a:solidFill>
                  <a:srgbClr val="E6E6E6"/>
                </a:solidFill>
                <a:latin typeface="Consolas"/>
              </a:rPr>
              <a:t>SYS@cdb1&gt; CREATE PRIVATE TEMPORARY TABLE ptt_work (id NUMBER)</a:t>
            </a:r>
          </a:p>
          <a:p>
            <a:pPr>
              <a:lnSpc>
                <a:spcPct val="100000"/>
              </a:lnSpc>
              <a:spcAft>
                <a:spcPts val="0"/>
              </a:spcAft>
            </a:pPr>
            <a:r>
              <a:rPr sz="1200" b="0">
                <a:solidFill>
                  <a:srgbClr val="E6E6E6"/>
                </a:solidFill>
                <a:latin typeface="Consolas"/>
              </a:rPr>
              <a:t>  2  ON COMMIT PRESERVE DEFINITION;</a:t>
            </a:r>
          </a:p>
          <a:p>
            <a:pPr>
              <a:lnSpc>
                <a:spcPct val="100000"/>
              </a:lnSpc>
              <a:spcAft>
                <a:spcPts val="0"/>
              </a:spcAft>
            </a:pPr>
            <a:r>
              <a:rPr sz="1200" b="0">
                <a:solidFill>
                  <a:srgbClr val="E6E6E6"/>
                </a:solidFill>
                <a:latin typeface="Consolas"/>
              </a:rPr>
              <a:t>ERROR at line 1:</a:t>
            </a:r>
          </a:p>
          <a:p>
            <a:pPr>
              <a:lnSpc>
                <a:spcPct val="100000"/>
              </a:lnSpc>
              <a:spcAft>
                <a:spcPts val="0"/>
              </a:spcAft>
            </a:pPr>
            <a:r>
              <a:rPr sz="1200" b="0">
                <a:solidFill>
                  <a:srgbClr val="E6E6E6"/>
                </a:solidFill>
                <a:latin typeface="Consolas"/>
              </a:rPr>
              <a:t>ORA-14459: missing GLOBAL keyword</a:t>
            </a:r>
          </a:p>
          <a:p>
            <a:pPr>
              <a:lnSpc>
                <a:spcPct val="100000"/>
              </a:lnSpc>
              <a:spcAft>
                <a:spcPts val="0"/>
              </a:spcAft>
            </a:pPr>
            <a:r>
              <a:rPr sz="1200" b="0">
                <a:solidFill>
                  <a:srgbClr val="7EC699"/>
                </a:solidFill>
                <a:latin typeface="Consolas"/>
              </a:rPr>
              <a:t>-- 원인: 이름이 ORA$PTT_ 로 시작하지 않음</a:t>
            </a:r>
          </a:p>
          <a:p>
            <a:pPr>
              <a:lnSpc>
                <a:spcPct val="100000"/>
              </a:lnSpc>
              <a:spcAft>
                <a:spcPts val="0"/>
              </a:spcAft>
            </a:pPr>
            <a:r>
              <a:rPr sz="1200" b="0">
                <a:solidFill>
                  <a:srgbClr val="E6E6E6"/>
                </a:solidFill>
                <a:latin typeface="Consolas"/>
              </a:rPr>
              <a:t> </a:t>
            </a:r>
          </a:p>
          <a:p>
            <a:pPr>
              <a:lnSpc>
                <a:spcPct val="100000"/>
              </a:lnSpc>
              <a:spcAft>
                <a:spcPts val="0"/>
              </a:spcAft>
            </a:pPr>
            <a:r>
              <a:rPr sz="1200" b="0">
                <a:solidFill>
                  <a:srgbClr val="7EC699"/>
                </a:solidFill>
                <a:latin typeface="Consolas"/>
              </a:rPr>
              <a:t>-- 해결: 올바른 접두사로 생성</a:t>
            </a:r>
          </a:p>
          <a:p>
            <a:pPr>
              <a:lnSpc>
                <a:spcPct val="100000"/>
              </a:lnSpc>
              <a:spcAft>
                <a:spcPts val="0"/>
              </a:spcAft>
            </a:pPr>
            <a:r>
              <a:rPr sz="1200" b="0">
                <a:solidFill>
                  <a:srgbClr val="E6E6E6"/>
                </a:solidFill>
                <a:latin typeface="Consolas"/>
              </a:rPr>
              <a:t>SYS@cdb1&gt; CREATE PRIVATE TEMPORARY TABLE ora$ptt_work (</a:t>
            </a:r>
          </a:p>
          <a:p>
            <a:pPr>
              <a:lnSpc>
                <a:spcPct val="100000"/>
              </a:lnSpc>
              <a:spcAft>
                <a:spcPts val="0"/>
              </a:spcAft>
            </a:pPr>
            <a:r>
              <a:rPr sz="1200" b="0">
                <a:solidFill>
                  <a:srgbClr val="E6E6E6"/>
                </a:solidFill>
                <a:latin typeface="Consolas"/>
              </a:rPr>
              <a:t>  2    id NUMBER, amount NUMBER)</a:t>
            </a:r>
          </a:p>
          <a:p>
            <a:pPr>
              <a:lnSpc>
                <a:spcPct val="100000"/>
              </a:lnSpc>
              <a:spcAft>
                <a:spcPts val="0"/>
              </a:spcAft>
            </a:pPr>
            <a:r>
              <a:rPr sz="1200" b="0">
                <a:solidFill>
                  <a:srgbClr val="E6E6E6"/>
                </a:solidFill>
                <a:latin typeface="Consolas"/>
              </a:rPr>
              <a:t>  3  ON COMMIT PRESERVE DEFINITION;</a:t>
            </a:r>
          </a:p>
          <a:p>
            <a:pPr>
              <a:lnSpc>
                <a:spcPct val="100000"/>
              </a:lnSpc>
              <a:spcAft>
                <a:spcPts val="0"/>
              </a:spcAft>
            </a:pPr>
            <a:r>
              <a:rPr sz="1200" b="0">
                <a:solidFill>
                  <a:srgbClr val="E6E6E6"/>
                </a:solidFill>
                <a:latin typeface="Consolas"/>
              </a:rPr>
              <a:t>Table created.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371600"/>
            <a:ext cx="5486400" cy="1371600"/>
          </a:xfrm>
          <a:prstGeom prst="rect">
            <a:avLst/>
          </a:prstGeom>
          <a:noFill/>
        </p:spPr>
        <p:txBody>
          <a:bodyPr wrap="square">
            <a:spAutoFit/>
          </a:bodyPr>
          <a:lstStyle/>
          <a:p>
            <a:r>
              <a:rPr sz="6600" b="1">
                <a:solidFill>
                  <a:srgbClr val="C0392B"/>
                </a:solidFill>
                <a:latin typeface="Malgun Gothic"/>
              </a:rPr>
              <a:t>19.C</a:t>
            </a:r>
          </a:p>
        </p:txBody>
      </p:sp>
      <p:sp>
        <p:nvSpPr>
          <p:cNvPr id="4" name="TextBox 3"/>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테이블 압축</a:t>
            </a:r>
          </a:p>
        </p:txBody>
      </p:sp>
      <p:sp>
        <p:nvSpPr>
          <p:cNvPr id="5" name="Rectangle 4"/>
          <p:cNvSpPr/>
          <p:nvPr/>
        </p:nvSpPr>
        <p:spPr>
          <a:xfrm>
            <a:off x="868680" y="388620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4114800"/>
            <a:ext cx="10424160" cy="2194560"/>
          </a:xfrm>
          <a:prstGeom prst="rect">
            <a:avLst/>
          </a:prstGeom>
          <a:noFill/>
        </p:spPr>
        <p:txBody>
          <a:bodyPr wrap="square">
            <a:spAutoFit/>
          </a:bodyPr>
          <a:lstStyle/>
          <a:p>
            <a:pPr>
              <a:spcAft>
                <a:spcPts val="600"/>
              </a:spcAft>
            </a:pPr>
            <a:r>
              <a:rPr sz="1600" b="0">
                <a:solidFill>
                  <a:srgbClr val="C5CED6"/>
                </a:solidFill>
                <a:latin typeface="Malgun Gothic"/>
              </a:rPr>
              <a:t>•  기본·Advanced Row·HCC 3방식</a:t>
            </a:r>
          </a:p>
          <a:p>
            <a:pPr>
              <a:spcAft>
                <a:spcPts val="600"/>
              </a:spcAft>
            </a:pPr>
            <a:r>
              <a:rPr sz="1600" b="0">
                <a:solidFill>
                  <a:srgbClr val="C5CED6"/>
                </a:solidFill>
                <a:latin typeface="Malgun Gothic"/>
              </a:rPr>
              <a:t>•  심볼 테이블 개념</a:t>
            </a:r>
          </a:p>
          <a:p>
            <a:pPr>
              <a:spcAft>
                <a:spcPts val="600"/>
              </a:spcAft>
            </a:pPr>
            <a:r>
              <a:rPr sz="1600" b="0">
                <a:solidFill>
                  <a:srgbClr val="C5CED6"/>
                </a:solidFill>
                <a:latin typeface="Malgun Gothic"/>
              </a:rPr>
              <a:t>•  압축 지정·압축 어드바이저</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spAutoFit/>
          </a:bodyPr>
          <a:lstStyle/>
          <a:p>
            <a:r>
              <a:rPr sz="2600" b="1">
                <a:solidFill>
                  <a:srgbClr val="FFFFFF"/>
                </a:solidFill>
                <a:latin typeface="Malgun Gothic"/>
              </a:rPr>
              <a:t>테이블 압축 개요</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세 가지 방식</a:t>
            </a:r>
          </a:p>
        </p:txBody>
      </p:sp>
      <p:sp>
        <p:nvSpPr>
          <p:cNvPr id="5" name="TextBox 4"/>
          <p:cNvSpPr txBox="1"/>
          <p:nvPr/>
        </p:nvSpPr>
        <p:spPr>
          <a:xfrm>
            <a:off x="640080" y="1691640"/>
            <a:ext cx="10881360" cy="4572000"/>
          </a:xfrm>
          <a:prstGeom prst="rect">
            <a:avLst/>
          </a:prstGeom>
          <a:noFill/>
        </p:spPr>
        <p:txBody>
          <a:bodyPr wrap="square">
            <a:spAutoFit/>
          </a:bodyPr>
          <a:lstStyle/>
          <a:p>
            <a:pPr>
              <a:spcAft>
                <a:spcPts val="600"/>
              </a:spcAft>
            </a:pPr>
            <a:r>
              <a:rPr sz="1800" b="0">
                <a:solidFill>
                  <a:srgbClr val="C0392B"/>
                </a:solidFill>
                <a:latin typeface="Malgun Gothic"/>
              </a:rPr>
              <a:t>•  기본 압축(COMPRESS BASIC): 다이렉트 패스 삽입만, EE 기본</a:t>
            </a:r>
          </a:p>
          <a:p>
            <a:pPr>
              <a:spcAft>
                <a:spcPts val="600"/>
              </a:spcAft>
            </a:pPr>
            <a:r>
              <a:rPr sz="1800" b="0">
                <a:solidFill>
                  <a:srgbClr val="C0392B"/>
                </a:solidFill>
                <a:latin typeface="Malgun Gothic"/>
              </a:rPr>
              <a:t>•  Advanced Row Compression: 모든 DML, Advanced Compression 옵션</a:t>
            </a:r>
          </a:p>
          <a:p>
            <a:pPr>
              <a:spcAft>
                <a:spcPts val="600"/>
              </a:spcAft>
            </a:pPr>
            <a:r>
              <a:rPr sz="1800" b="0">
                <a:solidFill>
                  <a:srgbClr val="C0392B"/>
                </a:solidFill>
                <a:latin typeface="Malgun Gothic"/>
              </a:rPr>
              <a:t>•  HCC: 컬럼 지향 극단 압축, Exadata·ZFS 등 특정 스토리지</a:t>
            </a:r>
          </a:p>
          <a:p>
            <a:pPr>
              <a:spcAft>
                <a:spcPts val="600"/>
              </a:spcAft>
            </a:pPr>
            <a:r>
              <a:rPr sz="1800" b="0">
                <a:solidFill>
                  <a:srgbClr val="C0392B"/>
                </a:solidFill>
                <a:latin typeface="Malgun Gothic"/>
              </a:rPr>
              <a:t>•  효과: 저장 공간 절감 + 스캔 블록 수 감소로 I/O↓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spAutoFit/>
          </a:bodyPr>
          <a:lstStyle/>
          <a:p>
            <a:r>
              <a:rPr sz="2600" b="1">
                <a:solidFill>
                  <a:srgbClr val="FFFFFF"/>
                </a:solidFill>
                <a:latin typeface="Malgun Gothic"/>
              </a:rPr>
              <a:t>압축 개념(심볼 테이블)</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블록 단위 중복 제거</a:t>
            </a:r>
          </a:p>
        </p:txBody>
      </p:sp>
      <p:sp>
        <p:nvSpPr>
          <p:cNvPr id="5" name="TextBox 4"/>
          <p:cNvSpPr txBox="1"/>
          <p:nvPr/>
        </p:nvSpPr>
        <p:spPr>
          <a:xfrm>
            <a:off x="640080" y="1691640"/>
            <a:ext cx="10881360" cy="4572000"/>
          </a:xfrm>
          <a:prstGeom prst="rect">
            <a:avLst/>
          </a:prstGeom>
          <a:noFill/>
        </p:spPr>
        <p:txBody>
          <a:bodyPr wrap="square">
            <a:spAutoFit/>
          </a:bodyPr>
          <a:lstStyle/>
          <a:p>
            <a:pPr>
              <a:spcAft>
                <a:spcPts val="600"/>
              </a:spcAft>
            </a:pPr>
            <a:r>
              <a:rPr sz="1800" b="0">
                <a:solidFill>
                  <a:srgbClr val="C0392B"/>
                </a:solidFill>
                <a:latin typeface="Malgun Gothic"/>
              </a:rPr>
              <a:t>•  블록 내 반복 값을 심볼 테이블에 한 번만 저장</a:t>
            </a:r>
          </a:p>
          <a:p>
            <a:pPr>
              <a:spcAft>
                <a:spcPts val="600"/>
              </a:spcAft>
            </a:pPr>
            <a:r>
              <a:rPr sz="1800" b="0">
                <a:solidFill>
                  <a:srgbClr val="C0392B"/>
                </a:solidFill>
                <a:latin typeface="Malgun Gothic"/>
              </a:rPr>
              <a:t>•  각 행은 짧은 심볼(참조)로 대체 → 밀도↑</a:t>
            </a:r>
          </a:p>
          <a:p>
            <a:pPr>
              <a:spcAft>
                <a:spcPts val="600"/>
              </a:spcAft>
            </a:pPr>
            <a:r>
              <a:rPr sz="1800" b="0">
                <a:solidFill>
                  <a:srgbClr val="C0392B"/>
                </a:solidFill>
                <a:latin typeface="Malgun Gothic"/>
              </a:rPr>
              <a:t>•  완전 투명: 일반 SQL로 조회·갱신 그대로</a:t>
            </a:r>
          </a:p>
          <a:p>
            <a:pPr>
              <a:spcAft>
                <a:spcPts val="600"/>
              </a:spcAft>
            </a:pPr>
            <a:r>
              <a:rPr sz="1800" b="0">
                <a:solidFill>
                  <a:srgbClr val="C0392B"/>
                </a:solidFill>
                <a:latin typeface="Malgun Gothic"/>
              </a:rPr>
              <a:t>•  CPU 약간↑, I/O↓ — 트레이드오프 고려</a:t>
            </a:r>
          </a:p>
          <a:p>
            <a:pPr>
              <a:spcAft>
                <a:spcPts val="600"/>
              </a:spcAft>
            </a:pPr>
            <a:r>
              <a:rPr sz="1800" b="0">
                <a:solidFill>
                  <a:srgbClr val="C0392B"/>
                </a:solidFill>
                <a:latin typeface="Malgun Gothic"/>
              </a:rPr>
              <a:t>•  정렬 적재하면 유사 값이 몰려 압축률↑</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spAutoFit/>
          </a:bodyPr>
          <a:lstStyle/>
          <a:p>
            <a:r>
              <a:rPr sz="2600" b="1">
                <a:solidFill>
                  <a:srgbClr val="FFFFFF"/>
                </a:solidFill>
                <a:latin typeface="Malgun Gothic"/>
              </a:rPr>
              <a:t>기본 압축 vs Advanced Row</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적용 대상 DML의 차이</a:t>
            </a:r>
          </a:p>
        </p:txBody>
      </p:sp>
      <p:sp>
        <p:nvSpPr>
          <p:cNvPr id="5" name="TextBox 4"/>
          <p:cNvSpPr txBox="1"/>
          <p:nvPr/>
        </p:nvSpPr>
        <p:spPr>
          <a:xfrm>
            <a:off x="640080" y="1691640"/>
            <a:ext cx="10881360" cy="4572000"/>
          </a:xfrm>
          <a:prstGeom prst="rect">
            <a:avLst/>
          </a:prstGeom>
          <a:noFill/>
        </p:spPr>
        <p:txBody>
          <a:bodyPr wrap="square">
            <a:spAutoFit/>
          </a:bodyPr>
          <a:lstStyle/>
          <a:p>
            <a:pPr>
              <a:spcAft>
                <a:spcPts val="600"/>
              </a:spcAft>
            </a:pPr>
            <a:r>
              <a:rPr sz="1800" b="0">
                <a:solidFill>
                  <a:srgbClr val="C0392B"/>
                </a:solidFill>
                <a:latin typeface="Malgun Gothic"/>
              </a:rPr>
              <a:t>•  기본 압축: CTAS·INSERT APPEND·SQL*Loader 다이렉트만</a:t>
            </a:r>
          </a:p>
          <a:p>
            <a:pPr>
              <a:spcAft>
                <a:spcPts val="600"/>
              </a:spcAft>
            </a:pPr>
            <a:r>
              <a:rPr sz="1800" b="0">
                <a:solidFill>
                  <a:srgbClr val="C0392B"/>
                </a:solidFill>
                <a:latin typeface="Malgun Gothic"/>
              </a:rPr>
              <a:t>•  일반 INSERT/UPDATE로 넣은 데이터는 비압축</a:t>
            </a:r>
          </a:p>
          <a:p>
            <a:pPr>
              <a:spcAft>
                <a:spcPts val="600"/>
              </a:spcAft>
            </a:pPr>
            <a:r>
              <a:rPr sz="1800" b="0">
                <a:solidFill>
                  <a:srgbClr val="C0392B"/>
                </a:solidFill>
                <a:latin typeface="Malgun Gothic"/>
              </a:rPr>
              <a:t>•  → 한 번 적재·주로 읽는 DW/이력 테이블에 적합</a:t>
            </a:r>
          </a:p>
          <a:p>
            <a:pPr>
              <a:spcAft>
                <a:spcPts val="600"/>
              </a:spcAft>
            </a:pPr>
            <a:r>
              <a:rPr sz="1800" b="0">
                <a:solidFill>
                  <a:srgbClr val="C0392B"/>
                </a:solidFill>
                <a:latin typeface="Malgun Gothic"/>
              </a:rPr>
              <a:t>•  Advanced Row: 모든 DML 압축 유지(임계치 도달 시 배치 압축)</a:t>
            </a:r>
          </a:p>
          <a:p>
            <a:pPr>
              <a:spcAft>
                <a:spcPts val="600"/>
              </a:spcAft>
            </a:pPr>
            <a:r>
              <a:rPr sz="1800" b="0">
                <a:solidFill>
                  <a:srgbClr val="C0392B"/>
                </a:solidFill>
                <a:latin typeface="Malgun Gothic"/>
              </a:rPr>
              <a:t>•  → 갱신 잦은 OLTP 테이블, 옵션 라이선스 필요</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spAutoFit/>
          </a:bodyPr>
          <a:lstStyle/>
          <a:p>
            <a:r>
              <a:rPr sz="2600" b="1">
                <a:solidFill>
                  <a:srgbClr val="FFFFFF"/>
                </a:solidFill>
                <a:latin typeface="Malgun Gothic"/>
              </a:rPr>
              <a:t>압축 지정</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COMPRESS BASIC / ROW STORE COMPRESS ADVANCED</a:t>
            </a:r>
          </a:p>
        </p:txBody>
      </p:sp>
      <p:sp>
        <p:nvSpPr>
          <p:cNvPr id="5" name="Rectangle 4"/>
          <p:cNvSpPr/>
          <p:nvPr/>
        </p:nvSpPr>
        <p:spPr>
          <a:xfrm>
            <a:off x="640080" y="1645920"/>
            <a:ext cx="10908792" cy="47091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10515600" cy="4526280"/>
          </a:xfrm>
          <a:prstGeom prst="rect">
            <a:avLst/>
          </a:prstGeom>
          <a:noFill/>
        </p:spPr>
        <p:txBody>
          <a:bodyPr wrap="square">
            <a:spAutoFit/>
          </a:bodyPr>
          <a:lstStyle/>
          <a:p>
            <a:pPr>
              <a:lnSpc>
                <a:spcPct val="100000"/>
              </a:lnSpc>
              <a:spcAft>
                <a:spcPts val="0"/>
              </a:spcAft>
            </a:pPr>
            <a:r>
              <a:rPr sz="1200" b="0">
                <a:solidFill>
                  <a:srgbClr val="7EC699"/>
                </a:solidFill>
                <a:latin typeface="Consolas"/>
              </a:rPr>
              <a:t>-- 기본 압축: 다이렉트 패스로 적재해야 압축됨</a:t>
            </a:r>
          </a:p>
          <a:p>
            <a:pPr>
              <a:lnSpc>
                <a:spcPct val="100000"/>
              </a:lnSpc>
              <a:spcAft>
                <a:spcPts val="0"/>
              </a:spcAft>
            </a:pPr>
            <a:r>
              <a:rPr sz="1200" b="0">
                <a:solidFill>
                  <a:srgbClr val="E6E6E6"/>
                </a:solidFill>
                <a:latin typeface="Consolas"/>
              </a:rPr>
              <a:t>SYS@cdb1&gt; CREATE TABLE hr.sales_arch COMPRESS BASIC</a:t>
            </a:r>
          </a:p>
          <a:p>
            <a:pPr>
              <a:lnSpc>
                <a:spcPct val="100000"/>
              </a:lnSpc>
              <a:spcAft>
                <a:spcPts val="0"/>
              </a:spcAft>
            </a:pPr>
            <a:r>
              <a:rPr sz="1200" b="0">
                <a:solidFill>
                  <a:srgbClr val="E6E6E6"/>
                </a:solidFill>
                <a:latin typeface="Consolas"/>
              </a:rPr>
              <a:t>  2  AS SELECT * FROM hr.sales;      -- CTAS → 압축 O</a:t>
            </a:r>
          </a:p>
          <a:p>
            <a:pPr>
              <a:lnSpc>
                <a:spcPct val="100000"/>
              </a:lnSpc>
              <a:spcAft>
                <a:spcPts val="0"/>
              </a:spcAft>
            </a:pPr>
            <a:r>
              <a:rPr sz="1200" b="0">
                <a:solidFill>
                  <a:srgbClr val="E6E6E6"/>
                </a:solidFill>
                <a:latin typeface="Consolas"/>
              </a:rPr>
              <a:t> </a:t>
            </a:r>
          </a:p>
          <a:p>
            <a:pPr>
              <a:lnSpc>
                <a:spcPct val="100000"/>
              </a:lnSpc>
              <a:spcAft>
                <a:spcPts val="0"/>
              </a:spcAft>
            </a:pPr>
            <a:r>
              <a:rPr sz="1200" b="0">
                <a:solidFill>
                  <a:srgbClr val="7EC699"/>
                </a:solidFill>
                <a:latin typeface="Consolas"/>
              </a:rPr>
              <a:t>-- 일반 INSERT는 기본 압축 대상 아님</a:t>
            </a:r>
          </a:p>
          <a:p>
            <a:pPr>
              <a:lnSpc>
                <a:spcPct val="100000"/>
              </a:lnSpc>
              <a:spcAft>
                <a:spcPts val="0"/>
              </a:spcAft>
            </a:pPr>
            <a:r>
              <a:rPr sz="1200" b="0">
                <a:solidFill>
                  <a:srgbClr val="E6E6E6"/>
                </a:solidFill>
                <a:latin typeface="Consolas"/>
              </a:rPr>
              <a:t>SYS@cdb1&gt; INSERT INTO hr.sales_arch</a:t>
            </a:r>
          </a:p>
          <a:p>
            <a:pPr>
              <a:lnSpc>
                <a:spcPct val="100000"/>
              </a:lnSpc>
              <a:spcAft>
                <a:spcPts val="0"/>
              </a:spcAft>
            </a:pPr>
            <a:r>
              <a:rPr sz="1200" b="0">
                <a:solidFill>
                  <a:srgbClr val="E6E6E6"/>
                </a:solidFill>
                <a:latin typeface="Consolas"/>
              </a:rPr>
              <a:t>  2  SELECT * FROM hr.sales;         -- 압축 X</a:t>
            </a:r>
          </a:p>
          <a:p>
            <a:pPr>
              <a:lnSpc>
                <a:spcPct val="100000"/>
              </a:lnSpc>
              <a:spcAft>
                <a:spcPts val="0"/>
              </a:spcAft>
            </a:pPr>
            <a:r>
              <a:rPr sz="1200" b="0">
                <a:solidFill>
                  <a:srgbClr val="E6E6E6"/>
                </a:solidFill>
                <a:latin typeface="Consolas"/>
              </a:rPr>
              <a:t> </a:t>
            </a:r>
          </a:p>
          <a:p>
            <a:pPr>
              <a:lnSpc>
                <a:spcPct val="100000"/>
              </a:lnSpc>
              <a:spcAft>
                <a:spcPts val="0"/>
              </a:spcAft>
            </a:pPr>
            <a:r>
              <a:rPr sz="1200" b="0">
                <a:solidFill>
                  <a:srgbClr val="7EC699"/>
                </a:solidFill>
                <a:latin typeface="Consolas"/>
              </a:rPr>
              <a:t>-- Advanced Row Compression: 모든 DML 압축</a:t>
            </a:r>
          </a:p>
          <a:p>
            <a:pPr>
              <a:lnSpc>
                <a:spcPct val="100000"/>
              </a:lnSpc>
              <a:spcAft>
                <a:spcPts val="0"/>
              </a:spcAft>
            </a:pPr>
            <a:r>
              <a:rPr sz="1200" b="0">
                <a:solidFill>
                  <a:srgbClr val="E6E6E6"/>
                </a:solidFill>
                <a:latin typeface="Consolas"/>
              </a:rPr>
              <a:t>SYS@cdb1&gt; CREATE TABLE hr.orders_c (</a:t>
            </a:r>
          </a:p>
          <a:p>
            <a:pPr>
              <a:lnSpc>
                <a:spcPct val="100000"/>
              </a:lnSpc>
              <a:spcAft>
                <a:spcPts val="0"/>
              </a:spcAft>
            </a:pPr>
            <a:r>
              <a:rPr sz="1200" b="0">
                <a:solidFill>
                  <a:srgbClr val="E6E6E6"/>
                </a:solidFill>
                <a:latin typeface="Consolas"/>
              </a:rPr>
              <a:t>  2    id NUMBER, cust VARCHAR2(50), amt NUMBER)</a:t>
            </a:r>
          </a:p>
          <a:p>
            <a:pPr>
              <a:lnSpc>
                <a:spcPct val="100000"/>
              </a:lnSpc>
              <a:spcAft>
                <a:spcPts val="0"/>
              </a:spcAft>
            </a:pPr>
            <a:r>
              <a:rPr sz="1200" b="0">
                <a:solidFill>
                  <a:srgbClr val="E6E6E6"/>
                </a:solidFill>
                <a:latin typeface="Consolas"/>
              </a:rPr>
              <a:t>  3  ROW STORE COMPRESS ADVANCED;</a:t>
            </a:r>
          </a:p>
          <a:p>
            <a:pPr>
              <a:lnSpc>
                <a:spcPct val="100000"/>
              </a:lnSpc>
              <a:spcAft>
                <a:spcPts val="0"/>
              </a:spcAft>
            </a:pPr>
            <a:r>
              <a:rPr sz="1200" b="0">
                <a:solidFill>
                  <a:srgbClr val="E6E6E6"/>
                </a:solidFill>
                <a:latin typeface="Consolas"/>
              </a:rPr>
              <a:t>Table created.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spAutoFit/>
          </a:bodyPr>
          <a:lstStyle/>
          <a:p>
            <a:r>
              <a:rPr sz="2600" b="1">
                <a:solidFill>
                  <a:srgbClr val="FFFFFF"/>
                </a:solidFill>
                <a:latin typeface="Malgun Gothic"/>
              </a:rPr>
              <a:t>압축 지정 방법</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CREATE/ALTER TABLE 압축 절</a:t>
            </a:r>
          </a:p>
        </p:txBody>
      </p:sp>
      <p:sp>
        <p:nvSpPr>
          <p:cNvPr id="5" name="TextBox 4"/>
          <p:cNvSpPr txBox="1"/>
          <p:nvPr/>
        </p:nvSpPr>
        <p:spPr>
          <a:xfrm>
            <a:off x="640080" y="1691640"/>
            <a:ext cx="10881360" cy="4572000"/>
          </a:xfrm>
          <a:prstGeom prst="rect">
            <a:avLst/>
          </a:prstGeom>
          <a:noFill/>
        </p:spPr>
        <p:txBody>
          <a:bodyPr wrap="square">
            <a:spAutoFit/>
          </a:bodyPr>
          <a:lstStyle/>
          <a:p>
            <a:pPr>
              <a:spcAft>
                <a:spcPts val="600"/>
              </a:spcAft>
            </a:pPr>
            <a:r>
              <a:rPr sz="1800" b="0">
                <a:solidFill>
                  <a:srgbClr val="C0392B"/>
                </a:solidFill>
                <a:latin typeface="Malgun Gothic"/>
              </a:rPr>
              <a:t>•  ROW STORE COMPRESS BASIC (=COMPRESS): 기본 압축</a:t>
            </a:r>
          </a:p>
          <a:p>
            <a:pPr>
              <a:spcAft>
                <a:spcPts val="600"/>
              </a:spcAft>
            </a:pPr>
            <a:r>
              <a:rPr sz="1800" b="0">
                <a:solidFill>
                  <a:srgbClr val="C0392B"/>
                </a:solidFill>
                <a:latin typeface="Malgun Gothic"/>
              </a:rPr>
              <a:t>•  ROW STORE COMPRESS ADVANCED: 고급 행 압축</a:t>
            </a:r>
          </a:p>
          <a:p>
            <a:pPr>
              <a:spcAft>
                <a:spcPts val="600"/>
              </a:spcAft>
            </a:pPr>
            <a:r>
              <a:rPr sz="1800" b="0">
                <a:solidFill>
                  <a:srgbClr val="C0392B"/>
                </a:solidFill>
                <a:latin typeface="Malgun Gothic"/>
              </a:rPr>
              <a:t>•  NOCOMPRESS: 압축 안 함(기본)</a:t>
            </a:r>
          </a:p>
          <a:p>
            <a:pPr>
              <a:spcAft>
                <a:spcPts val="600"/>
              </a:spcAft>
            </a:pPr>
            <a:r>
              <a:rPr sz="1800" b="0">
                <a:solidFill>
                  <a:srgbClr val="C0392B"/>
                </a:solidFill>
                <a:latin typeface="Malgun Gothic"/>
              </a:rPr>
              <a:t>•  ALTER는 이후 데이터부터 — 기존 데이터는 MOVE로 재작성</a:t>
            </a:r>
          </a:p>
          <a:p>
            <a:pPr>
              <a:spcAft>
                <a:spcPts val="600"/>
              </a:spcAft>
            </a:pPr>
            <a:r>
              <a:rPr sz="1800" b="0">
                <a:solidFill>
                  <a:srgbClr val="C0392B"/>
                </a:solidFill>
                <a:latin typeface="Malgun Gothic"/>
              </a:rPr>
              <a:t>•  파티션별로 다른 압축 수준 지정 가능(ILM 전략)</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spAutoFit/>
          </a:bodyPr>
          <a:lstStyle/>
          <a:p>
            <a:r>
              <a:rPr sz="2600" b="1">
                <a:solidFill>
                  <a:srgbClr val="FFFFFF"/>
                </a:solidFill>
                <a:latin typeface="Malgun Gothic"/>
              </a:rPr>
              <a:t>압축 어드바이저</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DBMS_COMPRESSION.GET_COMPRESSION_RATIO</a:t>
            </a:r>
          </a:p>
        </p:txBody>
      </p:sp>
      <p:sp>
        <p:nvSpPr>
          <p:cNvPr id="5" name="TextBox 4"/>
          <p:cNvSpPr txBox="1"/>
          <p:nvPr/>
        </p:nvSpPr>
        <p:spPr>
          <a:xfrm>
            <a:off x="640080" y="1691640"/>
            <a:ext cx="10881360" cy="4572000"/>
          </a:xfrm>
          <a:prstGeom prst="rect">
            <a:avLst/>
          </a:prstGeom>
          <a:noFill/>
        </p:spPr>
        <p:txBody>
          <a:bodyPr wrap="square">
            <a:spAutoFit/>
          </a:bodyPr>
          <a:lstStyle/>
          <a:p>
            <a:pPr>
              <a:spcAft>
                <a:spcPts val="600"/>
              </a:spcAft>
            </a:pPr>
            <a:r>
              <a:rPr sz="1800" b="0">
                <a:solidFill>
                  <a:srgbClr val="C0392B"/>
                </a:solidFill>
                <a:latin typeface="Malgun Gothic"/>
              </a:rPr>
              <a:t>•  실제 압축 없이 예상 압축률 추정</a:t>
            </a:r>
          </a:p>
          <a:p>
            <a:pPr>
              <a:spcAft>
                <a:spcPts val="600"/>
              </a:spcAft>
            </a:pPr>
            <a:r>
              <a:rPr sz="1800" b="0">
                <a:solidFill>
                  <a:srgbClr val="C0392B"/>
                </a:solidFill>
                <a:latin typeface="Malgun Gothic"/>
              </a:rPr>
              <a:t>•  comptype으로 BASIC/ADVANCED/HCC 각 방식 비교</a:t>
            </a:r>
          </a:p>
          <a:p>
            <a:pPr>
              <a:spcAft>
                <a:spcPts val="600"/>
              </a:spcAft>
            </a:pPr>
            <a:r>
              <a:rPr sz="1800" b="0">
                <a:solidFill>
                  <a:srgbClr val="C0392B"/>
                </a:solidFill>
                <a:latin typeface="Malgun Gothic"/>
              </a:rPr>
              <a:t>•  scratchtbsname 작업 영역에서 표본 압축 후 정리</a:t>
            </a:r>
          </a:p>
          <a:p>
            <a:pPr>
              <a:spcAft>
                <a:spcPts val="600"/>
              </a:spcAft>
            </a:pPr>
            <a:r>
              <a:rPr sz="1800" b="0">
                <a:solidFill>
                  <a:srgbClr val="C0392B"/>
                </a:solidFill>
                <a:latin typeface="Malgun Gothic"/>
              </a:rPr>
              <a:t>•  원본 테이블은 변경되지 않음</a:t>
            </a:r>
          </a:p>
          <a:p>
            <a:pPr>
              <a:spcAft>
                <a:spcPts val="600"/>
              </a:spcAft>
            </a:pPr>
            <a:r>
              <a:rPr sz="1800" b="0">
                <a:solidFill>
                  <a:srgbClr val="C0392B"/>
                </a:solidFill>
                <a:latin typeface="Malgun Gothic"/>
              </a:rPr>
              <a:t>•  큰 테이블은 파티션 하나(subobjname)로 추정</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spAutoFit/>
          </a:bodyPr>
          <a:lstStyle/>
          <a:p>
            <a:r>
              <a:rPr sz="2600" b="1">
                <a:solidFill>
                  <a:srgbClr val="FFFFFF"/>
                </a:solidFill>
                <a:latin typeface="Malgun Gothic"/>
              </a:rPr>
              <a:t>압축률 예측</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GET_COMPRESSION_RATIO</a:t>
            </a:r>
          </a:p>
        </p:txBody>
      </p:sp>
      <p:sp>
        <p:nvSpPr>
          <p:cNvPr id="5" name="Rectangle 4"/>
          <p:cNvSpPr/>
          <p:nvPr/>
        </p:nvSpPr>
        <p:spPr>
          <a:xfrm>
            <a:off x="640080" y="1645920"/>
            <a:ext cx="10908792" cy="47091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10515600" cy="4526280"/>
          </a:xfrm>
          <a:prstGeom prst="rect">
            <a:avLst/>
          </a:prstGeom>
          <a:noFill/>
        </p:spPr>
        <p:txBody>
          <a:bodyPr wrap="square">
            <a:spAutoFit/>
          </a:bodyPr>
          <a:lstStyle/>
          <a:p>
            <a:pPr>
              <a:lnSpc>
                <a:spcPct val="100000"/>
              </a:lnSpc>
              <a:spcAft>
                <a:spcPts val="0"/>
              </a:spcAft>
            </a:pPr>
            <a:r>
              <a:rPr sz="1200" b="0">
                <a:solidFill>
                  <a:srgbClr val="E6E6E6"/>
                </a:solidFill>
                <a:latin typeface="Consolas"/>
              </a:rPr>
              <a:t>SYS@cdb1&gt; SET SERVEROUTPUT ON</a:t>
            </a:r>
          </a:p>
          <a:p>
            <a:pPr>
              <a:lnSpc>
                <a:spcPct val="100000"/>
              </a:lnSpc>
              <a:spcAft>
                <a:spcPts val="0"/>
              </a:spcAft>
            </a:pPr>
            <a:r>
              <a:rPr sz="1200" b="0">
                <a:solidFill>
                  <a:srgbClr val="E6E6E6"/>
                </a:solidFill>
                <a:latin typeface="Consolas"/>
              </a:rPr>
              <a:t>SYS@cdb1&gt; DECLARE</a:t>
            </a:r>
          </a:p>
          <a:p>
            <a:pPr>
              <a:lnSpc>
                <a:spcPct val="100000"/>
              </a:lnSpc>
              <a:spcAft>
                <a:spcPts val="0"/>
              </a:spcAft>
            </a:pPr>
            <a:r>
              <a:rPr sz="1200" b="0">
                <a:solidFill>
                  <a:srgbClr val="E6E6E6"/>
                </a:solidFill>
                <a:latin typeface="Consolas"/>
              </a:rPr>
              <a:t>  2    v_bc NUMBER; v_bu NUMBER; v_rc NUMBER;</a:t>
            </a:r>
          </a:p>
          <a:p>
            <a:pPr>
              <a:lnSpc>
                <a:spcPct val="100000"/>
              </a:lnSpc>
              <a:spcAft>
                <a:spcPts val="0"/>
              </a:spcAft>
            </a:pPr>
            <a:r>
              <a:rPr sz="1200" b="0">
                <a:solidFill>
                  <a:srgbClr val="E6E6E6"/>
                </a:solidFill>
                <a:latin typeface="Consolas"/>
              </a:rPr>
              <a:t>  3    v_ru NUMBER; v_ratio NUMBER; v_str VARCHAR2(4000);</a:t>
            </a:r>
          </a:p>
          <a:p>
            <a:pPr>
              <a:lnSpc>
                <a:spcPct val="100000"/>
              </a:lnSpc>
              <a:spcAft>
                <a:spcPts val="0"/>
              </a:spcAft>
            </a:pPr>
            <a:r>
              <a:rPr sz="1200" b="0">
                <a:solidFill>
                  <a:srgbClr val="E6E6E6"/>
                </a:solidFill>
                <a:latin typeface="Consolas"/>
              </a:rPr>
              <a:t>  4  BEGIN</a:t>
            </a:r>
          </a:p>
          <a:p>
            <a:pPr>
              <a:lnSpc>
                <a:spcPct val="100000"/>
              </a:lnSpc>
              <a:spcAft>
                <a:spcPts val="0"/>
              </a:spcAft>
            </a:pPr>
            <a:r>
              <a:rPr sz="1200" b="0">
                <a:solidFill>
                  <a:srgbClr val="E6E6E6"/>
                </a:solidFill>
                <a:latin typeface="Consolas"/>
              </a:rPr>
              <a:t>  5    DBMS_COMPRESSION.GET_COMPRESSION_RATIO(</a:t>
            </a:r>
          </a:p>
          <a:p>
            <a:pPr>
              <a:lnSpc>
                <a:spcPct val="100000"/>
              </a:lnSpc>
              <a:spcAft>
                <a:spcPts val="0"/>
              </a:spcAft>
            </a:pPr>
            <a:r>
              <a:rPr sz="1200" b="0">
                <a:solidFill>
                  <a:srgbClr val="E6E6E6"/>
                </a:solidFill>
                <a:latin typeface="Consolas"/>
              </a:rPr>
              <a:t>  6      scratchtbsname=&gt;'USERS', ownname=&gt;'HR',</a:t>
            </a:r>
          </a:p>
          <a:p>
            <a:pPr>
              <a:lnSpc>
                <a:spcPct val="100000"/>
              </a:lnSpc>
              <a:spcAft>
                <a:spcPts val="0"/>
              </a:spcAft>
            </a:pPr>
            <a:r>
              <a:rPr sz="1200" b="0">
                <a:solidFill>
                  <a:srgbClr val="E6E6E6"/>
                </a:solidFill>
                <a:latin typeface="Consolas"/>
              </a:rPr>
              <a:t>  7      objname=&gt;'SALES', subobjname=&gt;NULL,</a:t>
            </a:r>
          </a:p>
          <a:p>
            <a:pPr>
              <a:lnSpc>
                <a:spcPct val="100000"/>
              </a:lnSpc>
              <a:spcAft>
                <a:spcPts val="0"/>
              </a:spcAft>
            </a:pPr>
            <a:r>
              <a:rPr sz="1200" b="0">
                <a:solidFill>
                  <a:srgbClr val="E6E6E6"/>
                </a:solidFill>
                <a:latin typeface="Consolas"/>
              </a:rPr>
              <a:t>  8      comptype=&gt;DBMS_COMPRESSION.COMP_ADVANCED,</a:t>
            </a:r>
          </a:p>
          <a:p>
            <a:pPr>
              <a:lnSpc>
                <a:spcPct val="100000"/>
              </a:lnSpc>
              <a:spcAft>
                <a:spcPts val="0"/>
              </a:spcAft>
            </a:pPr>
            <a:r>
              <a:rPr sz="1200" b="0">
                <a:solidFill>
                  <a:srgbClr val="E6E6E6"/>
                </a:solidFill>
                <a:latin typeface="Consolas"/>
              </a:rPr>
              <a:t>  9      blkcnt_cmp=&gt;v_bc, blkcnt_uncmp=&gt;v_bu,</a:t>
            </a:r>
          </a:p>
          <a:p>
            <a:pPr>
              <a:lnSpc>
                <a:spcPct val="100000"/>
              </a:lnSpc>
              <a:spcAft>
                <a:spcPts val="0"/>
              </a:spcAft>
            </a:pPr>
            <a:r>
              <a:rPr sz="1200" b="0">
                <a:solidFill>
                  <a:srgbClr val="E6E6E6"/>
                </a:solidFill>
                <a:latin typeface="Consolas"/>
              </a:rPr>
              <a:t> 10      row_cmp=&gt;v_rc, row_uncmp=&gt;v_ru,</a:t>
            </a:r>
          </a:p>
          <a:p>
            <a:pPr>
              <a:lnSpc>
                <a:spcPct val="100000"/>
              </a:lnSpc>
              <a:spcAft>
                <a:spcPts val="0"/>
              </a:spcAft>
            </a:pPr>
            <a:r>
              <a:rPr sz="1200" b="0">
                <a:solidFill>
                  <a:srgbClr val="E6E6E6"/>
                </a:solidFill>
                <a:latin typeface="Consolas"/>
              </a:rPr>
              <a:t> 11      cmp_ratio=&gt;v_ratio, comptype_str=&gt;v_str);</a:t>
            </a:r>
          </a:p>
          <a:p>
            <a:pPr>
              <a:lnSpc>
                <a:spcPct val="100000"/>
              </a:lnSpc>
              <a:spcAft>
                <a:spcPts val="0"/>
              </a:spcAft>
            </a:pPr>
            <a:r>
              <a:rPr sz="1200" b="0">
                <a:solidFill>
                  <a:srgbClr val="E6E6E6"/>
                </a:solidFill>
                <a:latin typeface="Consolas"/>
              </a:rPr>
              <a:t> 12    DBMS_OUTPUT.PUT_LINE('예상 압축률 : '||v_ratio||' : 1');</a:t>
            </a:r>
          </a:p>
          <a:p>
            <a:pPr>
              <a:lnSpc>
                <a:spcPct val="100000"/>
              </a:lnSpc>
              <a:spcAft>
                <a:spcPts val="0"/>
              </a:spcAft>
            </a:pPr>
            <a:r>
              <a:rPr sz="1200" b="0">
                <a:solidFill>
                  <a:srgbClr val="E6E6E6"/>
                </a:solidFill>
                <a:latin typeface="Consolas"/>
              </a:rPr>
              <a:t> 13  END;</a:t>
            </a:r>
          </a:p>
          <a:p>
            <a:pPr>
              <a:lnSpc>
                <a:spcPct val="100000"/>
              </a:lnSpc>
              <a:spcAft>
                <a:spcPts val="0"/>
              </a:spcAft>
            </a:pPr>
            <a:r>
              <a:rPr sz="1200" b="0">
                <a:solidFill>
                  <a:srgbClr val="E6E6E6"/>
                </a:solidFill>
                <a:latin typeface="Consolas"/>
              </a:rPr>
              <a:t> 14  /</a:t>
            </a:r>
          </a:p>
          <a:p>
            <a:pPr>
              <a:lnSpc>
                <a:spcPct val="100000"/>
              </a:lnSpc>
              <a:spcAft>
                <a:spcPts val="0"/>
              </a:spcAft>
            </a:pPr>
            <a:r>
              <a:rPr sz="1200" b="0">
                <a:solidFill>
                  <a:srgbClr val="E6E6E6"/>
                </a:solidFill>
                <a:latin typeface="Consolas"/>
              </a:rPr>
              <a:t>예상 압축률 : 3.1 : 1</a:t>
            </a:r>
          </a:p>
          <a:p>
            <a:pPr>
              <a:lnSpc>
                <a:spcPct val="100000"/>
              </a:lnSpc>
              <a:spcAft>
                <a:spcPts val="0"/>
              </a:spcAft>
            </a:pPr>
            <a:r>
              <a:rPr sz="1200" b="0">
                <a:solidFill>
                  <a:srgbClr val="E6E6E6"/>
                </a:solidFill>
                <a:latin typeface="Consolas"/>
              </a:rPr>
              <a:t>PL/SQL procedure successfully completed.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371600"/>
            <a:ext cx="5486400" cy="1371600"/>
          </a:xfrm>
          <a:prstGeom prst="rect">
            <a:avLst/>
          </a:prstGeom>
          <a:noFill/>
        </p:spPr>
        <p:txBody>
          <a:bodyPr wrap="square">
            <a:spAutoFit/>
          </a:bodyPr>
          <a:lstStyle/>
          <a:p>
            <a:r>
              <a:rPr sz="6600" b="1">
                <a:solidFill>
                  <a:srgbClr val="C0392B"/>
                </a:solidFill>
                <a:latin typeface="Malgun Gothic"/>
              </a:rPr>
              <a:t>19.D</a:t>
            </a:r>
          </a:p>
        </p:txBody>
      </p:sp>
      <p:sp>
        <p:nvSpPr>
          <p:cNvPr id="4" name="TextBox 3"/>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공간 사용 문제 해결</a:t>
            </a:r>
          </a:p>
        </p:txBody>
      </p:sp>
      <p:sp>
        <p:nvSpPr>
          <p:cNvPr id="5" name="Rectangle 4"/>
          <p:cNvSpPr/>
          <p:nvPr/>
        </p:nvSpPr>
        <p:spPr>
          <a:xfrm>
            <a:off x="868680" y="388620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4114800"/>
            <a:ext cx="10424160" cy="2194560"/>
          </a:xfrm>
          <a:prstGeom prst="rect">
            <a:avLst/>
          </a:prstGeom>
          <a:noFill/>
        </p:spPr>
        <p:txBody>
          <a:bodyPr wrap="square">
            <a:spAutoFit/>
          </a:bodyPr>
          <a:lstStyle/>
          <a:p>
            <a:pPr>
              <a:spcAft>
                <a:spcPts val="600"/>
              </a:spcAft>
            </a:pPr>
            <a:r>
              <a:rPr sz="1600" b="0">
                <a:solidFill>
                  <a:srgbClr val="C5CED6"/>
                </a:solidFill>
                <a:latin typeface="Malgun Gothic"/>
              </a:rPr>
              <a:t>•  세그먼트 축소(SHRINK SPACE)</a:t>
            </a:r>
          </a:p>
          <a:p>
            <a:pPr>
              <a:spcAft>
                <a:spcPts val="600"/>
              </a:spcAft>
            </a:pPr>
            <a:r>
              <a:rPr sz="1600" b="0">
                <a:solidFill>
                  <a:srgbClr val="C5CED6"/>
                </a:solidFill>
                <a:latin typeface="Malgun Gothic"/>
              </a:rPr>
              <a:t>•  COMPACT·CASCADE 옵션</a:t>
            </a:r>
          </a:p>
          <a:p>
            <a:pPr>
              <a:spcAft>
                <a:spcPts val="600"/>
              </a:spcAft>
            </a:pPr>
            <a:r>
              <a:rPr sz="1600" b="0">
                <a:solidFill>
                  <a:srgbClr val="C5CED6"/>
                </a:solidFill>
                <a:latin typeface="Malgun Gothic"/>
              </a:rPr>
              <a:t>•  HWM 하락과 스캔 성능</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spAutoFit/>
          </a:bodyPr>
          <a:lstStyle/>
          <a:p>
            <a:r>
              <a:rPr sz="2600" b="1">
                <a:solidFill>
                  <a:srgbClr val="FFFFFF"/>
                </a:solidFill>
                <a:latin typeface="Malgun Gothic"/>
              </a:rPr>
              <a:t>공간 사용 문제 해결 개요</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상반된 두 문제</a:t>
            </a:r>
          </a:p>
        </p:txBody>
      </p:sp>
      <p:sp>
        <p:nvSpPr>
          <p:cNvPr id="5" name="TextBox 4"/>
          <p:cNvSpPr txBox="1"/>
          <p:nvPr/>
        </p:nvSpPr>
        <p:spPr>
          <a:xfrm>
            <a:off x="640080" y="1691640"/>
            <a:ext cx="10881360" cy="4572000"/>
          </a:xfrm>
          <a:prstGeom prst="rect">
            <a:avLst/>
          </a:prstGeom>
          <a:noFill/>
        </p:spPr>
        <p:txBody>
          <a:bodyPr wrap="square">
            <a:spAutoFit/>
          </a:bodyPr>
          <a:lstStyle/>
          <a:p>
            <a:pPr>
              <a:spcAft>
                <a:spcPts val="600"/>
              </a:spcAft>
            </a:pPr>
            <a:r>
              <a:rPr sz="1800" b="0">
                <a:solidFill>
                  <a:srgbClr val="C0392B"/>
                </a:solidFill>
                <a:latin typeface="Malgun Gothic"/>
              </a:rPr>
              <a:t>•  흩어진 빈 공간: 삭제/갱신 후 실제보다 큰 공간 차지 → shrink</a:t>
            </a:r>
          </a:p>
          <a:p>
            <a:pPr>
              <a:spcAft>
                <a:spcPts val="600"/>
              </a:spcAft>
            </a:pPr>
            <a:r>
              <a:rPr sz="1800" b="0">
                <a:solidFill>
                  <a:srgbClr val="C0392B"/>
                </a:solidFill>
                <a:latin typeface="Malgun Gothic"/>
              </a:rPr>
              <a:t>•  공간 부족: 대량 작업 중 실패 → Resumable</a:t>
            </a:r>
          </a:p>
          <a:p>
            <a:pPr>
              <a:spcAft>
                <a:spcPts val="600"/>
              </a:spcAft>
            </a:pPr>
            <a:r>
              <a:rPr sz="1800" b="0">
                <a:solidFill>
                  <a:srgbClr val="C0392B"/>
                </a:solidFill>
                <a:latin typeface="Malgun Gothic"/>
              </a:rPr>
              <a:t>•  모니터링: DBA_FREE_SPACE·DBA_SEGMENTS·Segment Advisor</a:t>
            </a:r>
          </a:p>
          <a:p>
            <a:pPr>
              <a:spcAft>
                <a:spcPts val="600"/>
              </a:spcAft>
            </a:pPr>
            <a:r>
              <a:rPr sz="1800" b="0">
                <a:solidFill>
                  <a:srgbClr val="C0392B"/>
                </a:solidFill>
                <a:latin typeface="Malgun Gothic"/>
              </a:rPr>
              <a:t>•  shrink=사후 정리, Resumable=진행 작업 방어</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spAutoFit/>
          </a:bodyPr>
          <a:lstStyle/>
          <a:p>
            <a:r>
              <a:rPr sz="2600" b="1">
                <a:solidFill>
                  <a:srgbClr val="FFFFFF"/>
                </a:solidFill>
                <a:latin typeface="Malgun Gothic"/>
              </a:rPr>
              <a:t>세그먼트 축소(SHRINK SPACE)</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HWM를 낮춰 공간 회수</a:t>
            </a:r>
          </a:p>
        </p:txBody>
      </p:sp>
      <p:sp>
        <p:nvSpPr>
          <p:cNvPr id="5" name="TextBox 4"/>
          <p:cNvSpPr txBox="1"/>
          <p:nvPr/>
        </p:nvSpPr>
        <p:spPr>
          <a:xfrm>
            <a:off x="640080" y="1691640"/>
            <a:ext cx="10881360" cy="4572000"/>
          </a:xfrm>
          <a:prstGeom prst="rect">
            <a:avLst/>
          </a:prstGeom>
          <a:noFill/>
        </p:spPr>
        <p:txBody>
          <a:bodyPr wrap="square">
            <a:spAutoFit/>
          </a:bodyPr>
          <a:lstStyle/>
          <a:p>
            <a:pPr>
              <a:spcAft>
                <a:spcPts val="600"/>
              </a:spcAft>
            </a:pPr>
            <a:r>
              <a:rPr sz="1800" b="0">
                <a:solidFill>
                  <a:srgbClr val="C0392B"/>
                </a:solidFill>
                <a:latin typeface="Malgun Gothic"/>
              </a:rPr>
              <a:t>•  ASSM 테이블스페이스의 세그먼트에서 온라인 공간 회수</a:t>
            </a:r>
          </a:p>
          <a:p>
            <a:pPr>
              <a:spcAft>
                <a:spcPts val="600"/>
              </a:spcAft>
            </a:pPr>
            <a:r>
              <a:rPr sz="1800" b="0">
                <a:solidFill>
                  <a:srgbClr val="C0392B"/>
                </a:solidFill>
                <a:latin typeface="Malgun Gothic"/>
              </a:rPr>
              <a:t>•  행을 앞쪽으로 재배치(compact) → 빈 블록 생성 → HWM 하락</a:t>
            </a:r>
          </a:p>
          <a:p>
            <a:pPr>
              <a:spcAft>
                <a:spcPts val="600"/>
              </a:spcAft>
            </a:pPr>
            <a:r>
              <a:rPr sz="1800" b="0">
                <a:solidFill>
                  <a:srgbClr val="C0392B"/>
                </a:solidFill>
                <a:latin typeface="Malgun Gothic"/>
              </a:rPr>
              <a:t>•  전제1: ASSM 테이블스페이스</a:t>
            </a:r>
          </a:p>
          <a:p>
            <a:pPr>
              <a:spcAft>
                <a:spcPts val="600"/>
              </a:spcAft>
            </a:pPr>
            <a:r>
              <a:rPr sz="1800" b="0">
                <a:solidFill>
                  <a:srgbClr val="C0392B"/>
                </a:solidFill>
                <a:latin typeface="Malgun Gothic"/>
              </a:rPr>
              <a:t>•  전제2: ENABLE ROW MOVEMENT (ROWID 변경 허용)</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spAutoFit/>
          </a:bodyPr>
          <a:lstStyle/>
          <a:p>
            <a:r>
              <a:rPr sz="2600" b="1">
                <a:solidFill>
                  <a:srgbClr val="FFFFFF"/>
                </a:solidFill>
                <a:latin typeface="Malgun Gothic"/>
              </a:rPr>
              <a:t>SHRINK 실행</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ENABLE ROW MOVEMENT 후 SHRINK SPACE</a:t>
            </a:r>
          </a:p>
        </p:txBody>
      </p:sp>
      <p:sp>
        <p:nvSpPr>
          <p:cNvPr id="5" name="Rectangle 4"/>
          <p:cNvSpPr/>
          <p:nvPr/>
        </p:nvSpPr>
        <p:spPr>
          <a:xfrm>
            <a:off x="640080" y="1645920"/>
            <a:ext cx="10908792" cy="47091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10515600" cy="4526280"/>
          </a:xfrm>
          <a:prstGeom prst="rect">
            <a:avLst/>
          </a:prstGeom>
          <a:noFill/>
        </p:spPr>
        <p:txBody>
          <a:bodyPr wrap="square">
            <a:spAutoFit/>
          </a:bodyPr>
          <a:lstStyle/>
          <a:p>
            <a:pPr>
              <a:lnSpc>
                <a:spcPct val="100000"/>
              </a:lnSpc>
              <a:spcAft>
                <a:spcPts val="0"/>
              </a:spcAft>
            </a:pPr>
            <a:r>
              <a:rPr sz="1200" b="0">
                <a:solidFill>
                  <a:srgbClr val="7EC699"/>
                </a:solidFill>
                <a:latin typeface="Consolas"/>
              </a:rPr>
              <a:t>-- (오류 재현) 행 이동 미허용 상태로 shrink</a:t>
            </a:r>
          </a:p>
          <a:p>
            <a:pPr>
              <a:lnSpc>
                <a:spcPct val="100000"/>
              </a:lnSpc>
              <a:spcAft>
                <a:spcPts val="0"/>
              </a:spcAft>
            </a:pPr>
            <a:r>
              <a:rPr sz="1200" b="0">
                <a:solidFill>
                  <a:srgbClr val="E6E6E6"/>
                </a:solidFill>
                <a:latin typeface="Consolas"/>
              </a:rPr>
              <a:t>SYS@cdb1&gt; ALTER TABLE hr.no_move SHRINK SPACE;</a:t>
            </a:r>
          </a:p>
          <a:p>
            <a:pPr>
              <a:lnSpc>
                <a:spcPct val="100000"/>
              </a:lnSpc>
              <a:spcAft>
                <a:spcPts val="0"/>
              </a:spcAft>
            </a:pPr>
            <a:r>
              <a:rPr sz="1200" b="0">
                <a:solidFill>
                  <a:srgbClr val="E6E6E6"/>
                </a:solidFill>
                <a:latin typeface="Consolas"/>
              </a:rPr>
              <a:t>ERROR at line 1:</a:t>
            </a:r>
          </a:p>
          <a:p>
            <a:pPr>
              <a:lnSpc>
                <a:spcPct val="100000"/>
              </a:lnSpc>
              <a:spcAft>
                <a:spcPts val="0"/>
              </a:spcAft>
            </a:pPr>
            <a:r>
              <a:rPr sz="1200" b="0">
                <a:solidFill>
                  <a:srgbClr val="E6E6E6"/>
                </a:solidFill>
                <a:latin typeface="Consolas"/>
              </a:rPr>
              <a:t>ORA-10636: ROW MOVEMENT is not enabled</a:t>
            </a:r>
          </a:p>
          <a:p>
            <a:pPr>
              <a:lnSpc>
                <a:spcPct val="100000"/>
              </a:lnSpc>
              <a:spcAft>
                <a:spcPts val="0"/>
              </a:spcAft>
            </a:pPr>
            <a:r>
              <a:rPr sz="1200" b="0">
                <a:solidFill>
                  <a:srgbClr val="E6E6E6"/>
                </a:solidFill>
                <a:latin typeface="Consolas"/>
              </a:rPr>
              <a:t> </a:t>
            </a:r>
          </a:p>
          <a:p>
            <a:pPr>
              <a:lnSpc>
                <a:spcPct val="100000"/>
              </a:lnSpc>
              <a:spcAft>
                <a:spcPts val="0"/>
              </a:spcAft>
            </a:pPr>
            <a:r>
              <a:rPr sz="1200" b="0">
                <a:solidFill>
                  <a:srgbClr val="7EC699"/>
                </a:solidFill>
                <a:latin typeface="Consolas"/>
              </a:rPr>
              <a:t>-- 해결: 행 이동 허용 후 축소</a:t>
            </a:r>
          </a:p>
          <a:p>
            <a:pPr>
              <a:lnSpc>
                <a:spcPct val="100000"/>
              </a:lnSpc>
              <a:spcAft>
                <a:spcPts val="0"/>
              </a:spcAft>
            </a:pPr>
            <a:r>
              <a:rPr sz="1200" b="0">
                <a:solidFill>
                  <a:srgbClr val="E6E6E6"/>
                </a:solidFill>
                <a:latin typeface="Consolas"/>
              </a:rPr>
              <a:t>SYS@cdb1&gt; ALTER TABLE hr.no_move ENABLE ROW MOVEMENT;</a:t>
            </a:r>
          </a:p>
          <a:p>
            <a:pPr>
              <a:lnSpc>
                <a:spcPct val="100000"/>
              </a:lnSpc>
              <a:spcAft>
                <a:spcPts val="0"/>
              </a:spcAft>
            </a:pPr>
            <a:r>
              <a:rPr sz="1200" b="0">
                <a:solidFill>
                  <a:srgbClr val="E6E6E6"/>
                </a:solidFill>
                <a:latin typeface="Consolas"/>
              </a:rPr>
              <a:t>Table altered.</a:t>
            </a:r>
          </a:p>
          <a:p>
            <a:pPr>
              <a:lnSpc>
                <a:spcPct val="100000"/>
              </a:lnSpc>
              <a:spcAft>
                <a:spcPts val="0"/>
              </a:spcAft>
            </a:pPr>
            <a:r>
              <a:rPr sz="1200" b="0">
                <a:solidFill>
                  <a:srgbClr val="E6E6E6"/>
                </a:solidFill>
                <a:latin typeface="Consolas"/>
              </a:rPr>
              <a:t>SYS@cdb1&gt; ALTER TABLE hr.no_move SHRINK SPACE;</a:t>
            </a:r>
          </a:p>
          <a:p>
            <a:pPr>
              <a:lnSpc>
                <a:spcPct val="100000"/>
              </a:lnSpc>
              <a:spcAft>
                <a:spcPts val="0"/>
              </a:spcAft>
            </a:pPr>
            <a:r>
              <a:rPr sz="1200" b="0">
                <a:solidFill>
                  <a:srgbClr val="E6E6E6"/>
                </a:solidFill>
                <a:latin typeface="Consolas"/>
              </a:rPr>
              <a:t>Table altered.</a:t>
            </a:r>
          </a:p>
          <a:p>
            <a:pPr>
              <a:lnSpc>
                <a:spcPct val="100000"/>
              </a:lnSpc>
              <a:spcAft>
                <a:spcPts val="0"/>
              </a:spcAft>
            </a:pPr>
            <a:r>
              <a:rPr sz="1200" b="0">
                <a:solidFill>
                  <a:srgbClr val="E6E6E6"/>
                </a:solidFill>
                <a:latin typeface="Consolas"/>
              </a:rPr>
              <a:t> </a:t>
            </a:r>
          </a:p>
          <a:p>
            <a:pPr>
              <a:lnSpc>
                <a:spcPct val="100000"/>
              </a:lnSpc>
              <a:spcAft>
                <a:spcPts val="0"/>
              </a:spcAft>
            </a:pPr>
            <a:r>
              <a:rPr sz="1200" b="0">
                <a:solidFill>
                  <a:srgbClr val="7EC699"/>
                </a:solidFill>
                <a:latin typeface="Consolas"/>
              </a:rPr>
              <a:t>-- 사용 블록/익스텐트 확인</a:t>
            </a:r>
          </a:p>
          <a:p>
            <a:pPr>
              <a:lnSpc>
                <a:spcPct val="100000"/>
              </a:lnSpc>
              <a:spcAft>
                <a:spcPts val="0"/>
              </a:spcAft>
            </a:pPr>
            <a:r>
              <a:rPr sz="1200" b="0">
                <a:solidFill>
                  <a:srgbClr val="E6E6E6"/>
                </a:solidFill>
                <a:latin typeface="Consolas"/>
              </a:rPr>
              <a:t>SYS@cdb1&gt; SELECT blocks, extents FROM dba_segments</a:t>
            </a:r>
          </a:p>
          <a:p>
            <a:pPr>
              <a:lnSpc>
                <a:spcPct val="100000"/>
              </a:lnSpc>
              <a:spcAft>
                <a:spcPts val="0"/>
              </a:spcAft>
            </a:pPr>
            <a:r>
              <a:rPr sz="1200" b="0">
                <a:solidFill>
                  <a:srgbClr val="E6E6E6"/>
                </a:solidFill>
                <a:latin typeface="Consolas"/>
              </a:rPr>
              <a:t>  2  WHERE owner='HR' AND segment_name='NO_MOVE';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spAutoFit/>
          </a:bodyPr>
          <a:lstStyle/>
          <a:p>
            <a:r>
              <a:rPr sz="2600" b="1">
                <a:solidFill>
                  <a:srgbClr val="FFFFFF"/>
                </a:solidFill>
                <a:latin typeface="Malgun Gothic"/>
              </a:rPr>
              <a:t>Shrink 옵션(COMPACT / CASCADE)</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작업 범위 조절</a:t>
            </a:r>
          </a:p>
        </p:txBody>
      </p:sp>
      <p:sp>
        <p:nvSpPr>
          <p:cNvPr id="5" name="TextBox 4"/>
          <p:cNvSpPr txBox="1"/>
          <p:nvPr/>
        </p:nvSpPr>
        <p:spPr>
          <a:xfrm>
            <a:off x="640080" y="1691640"/>
            <a:ext cx="10881360" cy="4572000"/>
          </a:xfrm>
          <a:prstGeom prst="rect">
            <a:avLst/>
          </a:prstGeom>
          <a:noFill/>
        </p:spPr>
        <p:txBody>
          <a:bodyPr wrap="square">
            <a:spAutoFit/>
          </a:bodyPr>
          <a:lstStyle/>
          <a:p>
            <a:pPr>
              <a:spcAft>
                <a:spcPts val="600"/>
              </a:spcAft>
            </a:pPr>
            <a:r>
              <a:rPr sz="1800" b="0">
                <a:solidFill>
                  <a:srgbClr val="C0392B"/>
                </a:solidFill>
                <a:latin typeface="Malgun Gothic"/>
              </a:rPr>
              <a:t>•  옵션 없음: 재배치 + HWM 조정 + 공간 반환(전체)</a:t>
            </a:r>
          </a:p>
          <a:p>
            <a:pPr>
              <a:spcAft>
                <a:spcPts val="600"/>
              </a:spcAft>
            </a:pPr>
            <a:r>
              <a:rPr sz="1800" b="0">
                <a:solidFill>
                  <a:srgbClr val="C0392B"/>
                </a:solidFill>
                <a:latin typeface="Malgun Gothic"/>
              </a:rPr>
              <a:t>•  COMPACT: 재배치만, HWM 조정·반환은 미룸</a:t>
            </a:r>
          </a:p>
          <a:p>
            <a:pPr>
              <a:spcAft>
                <a:spcPts val="600"/>
              </a:spcAft>
            </a:pPr>
            <a:r>
              <a:rPr sz="1800" b="0">
                <a:solidFill>
                  <a:srgbClr val="C0392B"/>
                </a:solidFill>
                <a:latin typeface="Malgun Gothic"/>
              </a:rPr>
              <a:t>•  CASCADE: 종속 객체(인덱스 등)도 함께 축소</a:t>
            </a:r>
          </a:p>
          <a:p>
            <a:pPr>
              <a:spcAft>
                <a:spcPts val="600"/>
              </a:spcAft>
            </a:pPr>
            <a:r>
              <a:rPr sz="1800" b="0">
                <a:solidFill>
                  <a:srgbClr val="C0392B"/>
                </a:solidFill>
                <a:latin typeface="Malgun Gothic"/>
              </a:rPr>
              <a:t>•  2단계 전략: COMPACT(온라인)→저부하 시 SHRINK SPACE 마무리</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spAutoFit/>
          </a:bodyPr>
          <a:lstStyle/>
          <a:p>
            <a:r>
              <a:rPr sz="2600" b="1">
                <a:solidFill>
                  <a:srgbClr val="FFFFFF"/>
                </a:solidFill>
                <a:latin typeface="Malgun Gothic"/>
              </a:rPr>
              <a:t>Shrink 결과와 HWM</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스캔 성능 향상</a:t>
            </a:r>
          </a:p>
        </p:txBody>
      </p:sp>
      <p:sp>
        <p:nvSpPr>
          <p:cNvPr id="5" name="TextBox 4"/>
          <p:cNvSpPr txBox="1"/>
          <p:nvPr/>
        </p:nvSpPr>
        <p:spPr>
          <a:xfrm>
            <a:off x="640080" y="1691640"/>
            <a:ext cx="10881360" cy="4572000"/>
          </a:xfrm>
          <a:prstGeom prst="rect">
            <a:avLst/>
          </a:prstGeom>
          <a:noFill/>
        </p:spPr>
        <p:txBody>
          <a:bodyPr wrap="square">
            <a:spAutoFit/>
          </a:bodyPr>
          <a:lstStyle/>
          <a:p>
            <a:pPr>
              <a:spcAft>
                <a:spcPts val="600"/>
              </a:spcAft>
            </a:pPr>
            <a:r>
              <a:rPr sz="1800" b="0">
                <a:solidFill>
                  <a:srgbClr val="C0392B"/>
                </a:solidFill>
                <a:latin typeface="Malgun Gothic"/>
              </a:rPr>
              <a:t>•  사용 블록·익스텐트 수 감소, HWM 하락</a:t>
            </a:r>
          </a:p>
          <a:p>
            <a:pPr>
              <a:spcAft>
                <a:spcPts val="600"/>
              </a:spcAft>
            </a:pPr>
            <a:r>
              <a:rPr sz="1800" b="0">
                <a:solidFill>
                  <a:srgbClr val="C0392B"/>
                </a:solidFill>
                <a:latin typeface="Malgun Gothic"/>
              </a:rPr>
              <a:t>•  전체 스캔이 읽을 블록 수↓ → 스캔 성능↑</a:t>
            </a:r>
          </a:p>
          <a:p>
            <a:pPr>
              <a:spcAft>
                <a:spcPts val="600"/>
              </a:spcAft>
            </a:pPr>
            <a:r>
              <a:rPr sz="1800" b="0">
                <a:solidFill>
                  <a:srgbClr val="C0392B"/>
                </a:solidFill>
                <a:latin typeface="Malgun Gothic"/>
              </a:rPr>
              <a:t>•  DELETE만으론 공간·스캔 그대로, shrink로 함께 개선</a:t>
            </a:r>
          </a:p>
          <a:p>
            <a:pPr>
              <a:spcAft>
                <a:spcPts val="600"/>
              </a:spcAft>
            </a:pPr>
            <a:r>
              <a:rPr sz="1800" b="0">
                <a:solidFill>
                  <a:srgbClr val="C0392B"/>
                </a:solidFill>
                <a:latin typeface="Malgun Gothic"/>
              </a:rPr>
              <a:t>•  대부분 온라인, HWM 조정 단계만 짧은 배타 잠금</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371600"/>
            <a:ext cx="5486400" cy="1371600"/>
          </a:xfrm>
          <a:prstGeom prst="rect">
            <a:avLst/>
          </a:prstGeom>
          <a:noFill/>
        </p:spPr>
        <p:txBody>
          <a:bodyPr wrap="square">
            <a:spAutoFit/>
          </a:bodyPr>
          <a:lstStyle/>
          <a:p>
            <a:r>
              <a:rPr sz="6600" b="1">
                <a:solidFill>
                  <a:srgbClr val="C0392B"/>
                </a:solidFill>
                <a:latin typeface="Malgun Gothic"/>
              </a:rPr>
              <a:t>19.E</a:t>
            </a:r>
          </a:p>
        </p:txBody>
      </p:sp>
      <p:sp>
        <p:nvSpPr>
          <p:cNvPr id="4" name="TextBox 3"/>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Resumable Space Allocation</a:t>
            </a:r>
          </a:p>
        </p:txBody>
      </p:sp>
      <p:sp>
        <p:nvSpPr>
          <p:cNvPr id="5" name="Rectangle 4"/>
          <p:cNvSpPr/>
          <p:nvPr/>
        </p:nvSpPr>
        <p:spPr>
          <a:xfrm>
            <a:off x="868680" y="388620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4114800"/>
            <a:ext cx="10424160" cy="2194560"/>
          </a:xfrm>
          <a:prstGeom prst="rect">
            <a:avLst/>
          </a:prstGeom>
          <a:noFill/>
        </p:spPr>
        <p:txBody>
          <a:bodyPr wrap="square">
            <a:spAutoFit/>
          </a:bodyPr>
          <a:lstStyle/>
          <a:p>
            <a:pPr>
              <a:spcAft>
                <a:spcPts val="600"/>
              </a:spcAft>
            </a:pPr>
            <a:r>
              <a:rPr sz="1600" b="0">
                <a:solidFill>
                  <a:srgbClr val="C5CED6"/>
                </a:solidFill>
                <a:latin typeface="Malgun Gothic"/>
              </a:rPr>
              <a:t>•  공간 부족 시 일시 중단·재개</a:t>
            </a:r>
          </a:p>
          <a:p>
            <a:pPr>
              <a:spcAft>
                <a:spcPts val="600"/>
              </a:spcAft>
            </a:pPr>
            <a:r>
              <a:rPr sz="1600" b="0">
                <a:solidFill>
                  <a:srgbClr val="C5CED6"/>
                </a:solidFill>
                <a:latin typeface="Malgun Gothic"/>
              </a:rPr>
              <a:t>•  ALTER SESSION ENABLE RESUMABLE</a:t>
            </a:r>
          </a:p>
          <a:p>
            <a:pPr>
              <a:spcAft>
                <a:spcPts val="600"/>
              </a:spcAft>
            </a:pPr>
            <a:r>
              <a:rPr sz="1600" b="0">
                <a:solidFill>
                  <a:srgbClr val="C5CED6"/>
                </a:solidFill>
                <a:latin typeface="Malgun Gothic"/>
              </a:rPr>
              <a:t>•  모니터링·AFTER SUSPEND 트리거</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spAutoFit/>
          </a:bodyPr>
          <a:lstStyle/>
          <a:p>
            <a:r>
              <a:rPr sz="2600" b="1">
                <a:solidFill>
                  <a:srgbClr val="FFFFFF"/>
                </a:solidFill>
                <a:latin typeface="Malgun Gothic"/>
              </a:rPr>
              <a:t>Resumable 개념</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실패 대신 일시 중단</a:t>
            </a:r>
          </a:p>
        </p:txBody>
      </p:sp>
      <p:sp>
        <p:nvSpPr>
          <p:cNvPr id="5" name="TextBox 4"/>
          <p:cNvSpPr txBox="1"/>
          <p:nvPr/>
        </p:nvSpPr>
        <p:spPr>
          <a:xfrm>
            <a:off x="640080" y="1691640"/>
            <a:ext cx="10881360" cy="4572000"/>
          </a:xfrm>
          <a:prstGeom prst="rect">
            <a:avLst/>
          </a:prstGeom>
          <a:noFill/>
        </p:spPr>
        <p:txBody>
          <a:bodyPr wrap="square">
            <a:spAutoFit/>
          </a:bodyPr>
          <a:lstStyle/>
          <a:p>
            <a:pPr>
              <a:spcAft>
                <a:spcPts val="600"/>
              </a:spcAft>
            </a:pPr>
            <a:r>
              <a:rPr sz="1800" b="0">
                <a:solidFill>
                  <a:srgbClr val="C0392B"/>
                </a:solidFill>
                <a:latin typeface="Malgun Gothic"/>
              </a:rPr>
              <a:t>•  장시간 작업이 공간 부족으로 실패 → 롤백 낭비</a:t>
            </a:r>
          </a:p>
          <a:p>
            <a:pPr>
              <a:spcAft>
                <a:spcPts val="600"/>
              </a:spcAft>
            </a:pPr>
            <a:r>
              <a:rPr sz="1800" b="0">
                <a:solidFill>
                  <a:srgbClr val="C0392B"/>
                </a:solidFill>
                <a:latin typeface="Malgun Gothic"/>
              </a:rPr>
              <a:t>•  Resumable: 실패 대신 suspend, 해결 후 자동 resume</a:t>
            </a:r>
          </a:p>
          <a:p>
            <a:pPr>
              <a:spcAft>
                <a:spcPts val="600"/>
              </a:spcAft>
            </a:pPr>
            <a:r>
              <a:rPr sz="1800" b="0">
                <a:solidFill>
                  <a:srgbClr val="C0392B"/>
                </a:solidFill>
                <a:latin typeface="Malgun Gothic"/>
              </a:rPr>
              <a:t>•  대상 오류: 공간 부족(ORA-01653)</a:t>
            </a:r>
          </a:p>
          <a:p>
            <a:pPr>
              <a:spcAft>
                <a:spcPts val="600"/>
              </a:spcAft>
            </a:pPr>
            <a:r>
              <a:rPr sz="1800" b="0">
                <a:solidFill>
                  <a:srgbClr val="C0392B"/>
                </a:solidFill>
                <a:latin typeface="Malgun Gothic"/>
              </a:rPr>
              <a:t>•  할당량 초과(ORA-01536), 최대 익스텐트(ORA-01628)</a:t>
            </a:r>
          </a:p>
          <a:p>
            <a:pPr>
              <a:spcAft>
                <a:spcPts val="600"/>
              </a:spcAft>
            </a:pPr>
            <a:r>
              <a:rPr sz="1800" b="0">
                <a:solidFill>
                  <a:srgbClr val="C0392B"/>
                </a:solidFill>
                <a:latin typeface="Malgun Gothic"/>
              </a:rPr>
              <a:t>•  TIMEOUT 내 미해결 시 그때 실패</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spAutoFit/>
          </a:bodyPr>
          <a:lstStyle/>
          <a:p>
            <a:r>
              <a:rPr sz="2600" b="1">
                <a:solidFill>
                  <a:srgbClr val="FFFFFF"/>
                </a:solidFill>
                <a:latin typeface="Malgun Gothic"/>
              </a:rPr>
              <a:t>Resumable 사용법</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세션·시스템·프로그래밍</a:t>
            </a:r>
          </a:p>
        </p:txBody>
      </p:sp>
      <p:sp>
        <p:nvSpPr>
          <p:cNvPr id="5" name="TextBox 4"/>
          <p:cNvSpPr txBox="1"/>
          <p:nvPr/>
        </p:nvSpPr>
        <p:spPr>
          <a:xfrm>
            <a:off x="640080" y="1691640"/>
            <a:ext cx="10881360" cy="4572000"/>
          </a:xfrm>
          <a:prstGeom prst="rect">
            <a:avLst/>
          </a:prstGeom>
          <a:noFill/>
        </p:spPr>
        <p:txBody>
          <a:bodyPr wrap="square">
            <a:spAutoFit/>
          </a:bodyPr>
          <a:lstStyle/>
          <a:p>
            <a:pPr>
              <a:spcAft>
                <a:spcPts val="600"/>
              </a:spcAft>
            </a:pPr>
            <a:r>
              <a:rPr sz="1800" b="0">
                <a:solidFill>
                  <a:srgbClr val="C0392B"/>
                </a:solidFill>
                <a:latin typeface="Malgun Gothic"/>
              </a:rPr>
              <a:t>•  세션: ALTER SESSION ENABLE RESUMABLE [TIMEOUT n] [NAME '..']</a:t>
            </a:r>
          </a:p>
          <a:p>
            <a:pPr>
              <a:spcAft>
                <a:spcPts val="600"/>
              </a:spcAft>
            </a:pPr>
            <a:r>
              <a:rPr sz="1800" b="0">
                <a:solidFill>
                  <a:srgbClr val="C0392B"/>
                </a:solidFill>
                <a:latin typeface="Malgun Gothic"/>
              </a:rPr>
              <a:t>•  시스템: RESUMABLE_TIMEOUT 파라미터(&gt;0이면 전 세션 적용)</a:t>
            </a:r>
          </a:p>
          <a:p>
            <a:pPr>
              <a:spcAft>
                <a:spcPts val="600"/>
              </a:spcAft>
            </a:pPr>
            <a:r>
              <a:rPr sz="1800" b="0">
                <a:solidFill>
                  <a:srgbClr val="C0392B"/>
                </a:solidFill>
                <a:latin typeface="Malgun Gothic"/>
              </a:rPr>
              <a:t>•  프로그래밍: DBMS_RESUMABLE 패키지</a:t>
            </a:r>
          </a:p>
          <a:p>
            <a:pPr>
              <a:spcAft>
                <a:spcPts val="600"/>
              </a:spcAft>
            </a:pPr>
            <a:r>
              <a:rPr sz="1800" b="0">
                <a:solidFill>
                  <a:srgbClr val="C0392B"/>
                </a:solidFill>
                <a:latin typeface="Malgun Gothic"/>
              </a:rPr>
              <a:t>•  RESUMABLE 시스템 권한 필요</a:t>
            </a:r>
          </a:p>
          <a:p>
            <a:pPr>
              <a:spcAft>
                <a:spcPts val="600"/>
              </a:spcAft>
            </a:pPr>
            <a:r>
              <a:rPr sz="1800" b="0">
                <a:solidFill>
                  <a:srgbClr val="C0392B"/>
                </a:solidFill>
                <a:latin typeface="Malgun Gothic"/>
              </a:rPr>
              <a:t>•  사용 후 ALTER SESSION DISABLE RESUMABLE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spAutoFit/>
          </a:bodyPr>
          <a:lstStyle/>
          <a:p>
            <a:r>
              <a:rPr sz="2600" b="1">
                <a:solidFill>
                  <a:srgbClr val="FFFFFF"/>
                </a:solidFill>
                <a:latin typeface="Malgun Gothic"/>
              </a:rPr>
              <a:t>Resumable 활성화</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ALTER SESSION ENABLE RESUMABLE</a:t>
            </a:r>
          </a:p>
        </p:txBody>
      </p:sp>
      <p:sp>
        <p:nvSpPr>
          <p:cNvPr id="5" name="Rectangle 4"/>
          <p:cNvSpPr/>
          <p:nvPr/>
        </p:nvSpPr>
        <p:spPr>
          <a:xfrm>
            <a:off x="640080" y="1645920"/>
            <a:ext cx="10908792" cy="47091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10515600" cy="4526280"/>
          </a:xfrm>
          <a:prstGeom prst="rect">
            <a:avLst/>
          </a:prstGeom>
          <a:noFill/>
        </p:spPr>
        <p:txBody>
          <a:bodyPr wrap="square">
            <a:spAutoFit/>
          </a:bodyPr>
          <a:lstStyle/>
          <a:p>
            <a:pPr>
              <a:lnSpc>
                <a:spcPct val="100000"/>
              </a:lnSpc>
              <a:spcAft>
                <a:spcPts val="0"/>
              </a:spcAft>
            </a:pPr>
            <a:r>
              <a:rPr sz="1200" b="0">
                <a:solidFill>
                  <a:srgbClr val="7EC699"/>
                </a:solidFill>
                <a:latin typeface="Consolas"/>
              </a:rPr>
              <a:t>-- 세션에서 활성화 (최대 3600초 대기, 이름 지정)</a:t>
            </a:r>
          </a:p>
          <a:p>
            <a:pPr>
              <a:lnSpc>
                <a:spcPct val="100000"/>
              </a:lnSpc>
              <a:spcAft>
                <a:spcPts val="0"/>
              </a:spcAft>
            </a:pPr>
            <a:r>
              <a:rPr sz="1200" b="0">
                <a:solidFill>
                  <a:srgbClr val="E6E6E6"/>
                </a:solidFill>
                <a:latin typeface="Consolas"/>
              </a:rPr>
              <a:t>SYS@cdb1&gt; ALTER SESSION ENABLE RESUMABLE TIMEOUT 3600</a:t>
            </a:r>
          </a:p>
          <a:p>
            <a:pPr>
              <a:lnSpc>
                <a:spcPct val="100000"/>
              </a:lnSpc>
              <a:spcAft>
                <a:spcPts val="0"/>
              </a:spcAft>
            </a:pPr>
            <a:r>
              <a:rPr sz="1200" b="0">
                <a:solidFill>
                  <a:srgbClr val="E6E6E6"/>
                </a:solidFill>
                <a:latin typeface="Consolas"/>
              </a:rPr>
              <a:t>  2         NAME 'nightly_load';</a:t>
            </a:r>
          </a:p>
          <a:p>
            <a:pPr>
              <a:lnSpc>
                <a:spcPct val="100000"/>
              </a:lnSpc>
              <a:spcAft>
                <a:spcPts val="0"/>
              </a:spcAft>
            </a:pPr>
            <a:r>
              <a:rPr sz="1200" b="0">
                <a:solidFill>
                  <a:srgbClr val="E6E6E6"/>
                </a:solidFill>
                <a:latin typeface="Consolas"/>
              </a:rPr>
              <a:t>Session altered.</a:t>
            </a:r>
          </a:p>
          <a:p>
            <a:pPr>
              <a:lnSpc>
                <a:spcPct val="100000"/>
              </a:lnSpc>
              <a:spcAft>
                <a:spcPts val="0"/>
              </a:spcAft>
            </a:pPr>
            <a:r>
              <a:rPr sz="1200" b="0">
                <a:solidFill>
                  <a:srgbClr val="E6E6E6"/>
                </a:solidFill>
                <a:latin typeface="Consolas"/>
              </a:rPr>
              <a:t> </a:t>
            </a:r>
          </a:p>
          <a:p>
            <a:pPr>
              <a:lnSpc>
                <a:spcPct val="100000"/>
              </a:lnSpc>
              <a:spcAft>
                <a:spcPts val="0"/>
              </a:spcAft>
            </a:pPr>
            <a:r>
              <a:rPr sz="1200" b="0">
                <a:solidFill>
                  <a:srgbClr val="7EC699"/>
                </a:solidFill>
                <a:latin typeface="Consolas"/>
              </a:rPr>
              <a:t>-- 시스템 기본값 설정 (모든 세션 2시간)</a:t>
            </a:r>
          </a:p>
          <a:p>
            <a:pPr>
              <a:lnSpc>
                <a:spcPct val="100000"/>
              </a:lnSpc>
              <a:spcAft>
                <a:spcPts val="0"/>
              </a:spcAft>
            </a:pPr>
            <a:r>
              <a:rPr sz="1200" b="0">
                <a:solidFill>
                  <a:srgbClr val="E6E6E6"/>
                </a:solidFill>
                <a:latin typeface="Consolas"/>
              </a:rPr>
              <a:t>SYS@cdb1&gt; ALTER SYSTEM SET resumable_timeout = 7200;</a:t>
            </a:r>
          </a:p>
          <a:p>
            <a:pPr>
              <a:lnSpc>
                <a:spcPct val="100000"/>
              </a:lnSpc>
              <a:spcAft>
                <a:spcPts val="0"/>
              </a:spcAft>
            </a:pPr>
            <a:r>
              <a:rPr sz="1200" b="0">
                <a:solidFill>
                  <a:srgbClr val="E6E6E6"/>
                </a:solidFill>
                <a:latin typeface="Consolas"/>
              </a:rPr>
              <a:t>System altered.</a:t>
            </a:r>
          </a:p>
          <a:p>
            <a:pPr>
              <a:lnSpc>
                <a:spcPct val="100000"/>
              </a:lnSpc>
              <a:spcAft>
                <a:spcPts val="0"/>
              </a:spcAft>
            </a:pPr>
            <a:r>
              <a:rPr sz="1200" b="0">
                <a:solidFill>
                  <a:srgbClr val="E6E6E6"/>
                </a:solidFill>
                <a:latin typeface="Consolas"/>
              </a:rPr>
              <a:t> </a:t>
            </a:r>
          </a:p>
          <a:p>
            <a:pPr>
              <a:lnSpc>
                <a:spcPct val="100000"/>
              </a:lnSpc>
              <a:spcAft>
                <a:spcPts val="0"/>
              </a:spcAft>
            </a:pPr>
            <a:r>
              <a:rPr sz="1200" b="0">
                <a:solidFill>
                  <a:srgbClr val="7EC699"/>
                </a:solidFill>
                <a:latin typeface="Consolas"/>
              </a:rPr>
              <a:t>-- 사용 후 비활성화</a:t>
            </a:r>
          </a:p>
          <a:p>
            <a:pPr>
              <a:lnSpc>
                <a:spcPct val="100000"/>
              </a:lnSpc>
              <a:spcAft>
                <a:spcPts val="0"/>
              </a:spcAft>
            </a:pPr>
            <a:r>
              <a:rPr sz="1200" b="0">
                <a:solidFill>
                  <a:srgbClr val="E6E6E6"/>
                </a:solidFill>
                <a:latin typeface="Consolas"/>
              </a:rPr>
              <a:t>SYS@cdb1&gt; ALTER SESSION DISABLE RESUMABLE;</a:t>
            </a:r>
          </a:p>
          <a:p>
            <a:pPr>
              <a:lnSpc>
                <a:spcPct val="100000"/>
              </a:lnSpc>
              <a:spcAft>
                <a:spcPts val="0"/>
              </a:spcAft>
            </a:pPr>
            <a:r>
              <a:rPr sz="1200" b="0">
                <a:solidFill>
                  <a:srgbClr val="E6E6E6"/>
                </a:solidFill>
                <a:latin typeface="Consolas"/>
              </a:rPr>
              <a:t>Session altered.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spAutoFit/>
          </a:bodyPr>
          <a:lstStyle/>
          <a:p>
            <a:r>
              <a:rPr sz="2600" b="1">
                <a:solidFill>
                  <a:srgbClr val="FFFFFF"/>
                </a:solidFill>
                <a:latin typeface="Malgun Gothic"/>
              </a:rPr>
              <a:t>일시 중단 문장 모니터링</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DBA_RESUMABLE·AFTER SUSPEND</a:t>
            </a:r>
          </a:p>
        </p:txBody>
      </p:sp>
      <p:sp>
        <p:nvSpPr>
          <p:cNvPr id="5" name="TextBox 4"/>
          <p:cNvSpPr txBox="1"/>
          <p:nvPr/>
        </p:nvSpPr>
        <p:spPr>
          <a:xfrm>
            <a:off x="640080" y="1691640"/>
            <a:ext cx="10881360" cy="4572000"/>
          </a:xfrm>
          <a:prstGeom prst="rect">
            <a:avLst/>
          </a:prstGeom>
          <a:noFill/>
        </p:spPr>
        <p:txBody>
          <a:bodyPr wrap="square">
            <a:spAutoFit/>
          </a:bodyPr>
          <a:lstStyle/>
          <a:p>
            <a:pPr>
              <a:spcAft>
                <a:spcPts val="600"/>
              </a:spcAft>
            </a:pPr>
            <a:r>
              <a:rPr sz="1800" b="0">
                <a:solidFill>
                  <a:srgbClr val="C0392B"/>
                </a:solidFill>
                <a:latin typeface="Malgun Gothic"/>
              </a:rPr>
              <a:t>•  DBA_RESUMABLE/USER_RESUMABLE: 상태·오류·시각·이름</a:t>
            </a:r>
          </a:p>
          <a:p>
            <a:pPr>
              <a:spcAft>
                <a:spcPts val="600"/>
              </a:spcAft>
            </a:pPr>
            <a:r>
              <a:rPr sz="1800" b="0">
                <a:solidFill>
                  <a:srgbClr val="C0392B"/>
                </a:solidFill>
                <a:latin typeface="Malgun Gothic"/>
              </a:rPr>
              <a:t>•  알림 로그에도 suspend 이벤트 기록</a:t>
            </a:r>
          </a:p>
          <a:p>
            <a:pPr>
              <a:spcAft>
                <a:spcPts val="600"/>
              </a:spcAft>
            </a:pPr>
            <a:r>
              <a:rPr sz="1800" b="0">
                <a:solidFill>
                  <a:srgbClr val="C0392B"/>
                </a:solidFill>
                <a:latin typeface="Malgun Gothic"/>
              </a:rPr>
              <a:t>•  AFTER SUSPEND 트리거로 자동 대응(알림·파일 확장)</a:t>
            </a:r>
          </a:p>
          <a:p>
            <a:pPr>
              <a:spcAft>
                <a:spcPts val="600"/>
              </a:spcAft>
            </a:pPr>
            <a:r>
              <a:rPr sz="1800" b="0">
                <a:solidFill>
                  <a:srgbClr val="C0392B"/>
                </a:solidFill>
                <a:latin typeface="Malgun Gothic"/>
              </a:rPr>
              <a:t>•  DBMS_RESUMABLE.SPACE_ERROR_INFO로 원인 객체 파악</a:t>
            </a:r>
          </a:p>
          <a:p>
            <a:pPr>
              <a:spcAft>
                <a:spcPts val="600"/>
              </a:spcAft>
            </a:pPr>
            <a:r>
              <a:rPr sz="1800" b="0">
                <a:solidFill>
                  <a:srgbClr val="C0392B"/>
                </a:solidFill>
                <a:latin typeface="Malgun Gothic"/>
              </a:rPr>
              <a:t>•  해결 시 자동 resume, 기존 작업 롤백 없음</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spAutoFit/>
          </a:bodyPr>
          <a:lstStyle/>
          <a:p>
            <a:r>
              <a:rPr sz="2600" b="1">
                <a:solidFill>
                  <a:srgbClr val="FFFFFF"/>
                </a:solidFill>
                <a:latin typeface="Malgun Gothic"/>
              </a:rPr>
              <a:t>모니터링과 자동 대응</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DBA_RESUMABLE · AFTER SUSPEND</a:t>
            </a:r>
          </a:p>
        </p:txBody>
      </p:sp>
      <p:sp>
        <p:nvSpPr>
          <p:cNvPr id="5" name="Rectangle 4"/>
          <p:cNvSpPr/>
          <p:nvPr/>
        </p:nvSpPr>
        <p:spPr>
          <a:xfrm>
            <a:off x="640080" y="1645920"/>
            <a:ext cx="10908792" cy="47091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10515600" cy="4526280"/>
          </a:xfrm>
          <a:prstGeom prst="rect">
            <a:avLst/>
          </a:prstGeom>
          <a:noFill/>
        </p:spPr>
        <p:txBody>
          <a:bodyPr wrap="square">
            <a:spAutoFit/>
          </a:bodyPr>
          <a:lstStyle/>
          <a:p>
            <a:pPr>
              <a:lnSpc>
                <a:spcPct val="100000"/>
              </a:lnSpc>
              <a:spcAft>
                <a:spcPts val="0"/>
              </a:spcAft>
            </a:pPr>
            <a:r>
              <a:rPr sz="1200" b="0">
                <a:solidFill>
                  <a:srgbClr val="7EC699"/>
                </a:solidFill>
                <a:latin typeface="Consolas"/>
              </a:rPr>
              <a:t>-- 일시 중단된 문장 조회</a:t>
            </a:r>
          </a:p>
          <a:p>
            <a:pPr>
              <a:lnSpc>
                <a:spcPct val="100000"/>
              </a:lnSpc>
              <a:spcAft>
                <a:spcPts val="0"/>
              </a:spcAft>
            </a:pPr>
            <a:r>
              <a:rPr sz="1200" b="0">
                <a:solidFill>
                  <a:srgbClr val="E6E6E6"/>
                </a:solidFill>
                <a:latin typeface="Consolas"/>
              </a:rPr>
              <a:t>SYS@cdb1&gt; SELECT session_id, status, name, error_number</a:t>
            </a:r>
          </a:p>
          <a:p>
            <a:pPr>
              <a:lnSpc>
                <a:spcPct val="100000"/>
              </a:lnSpc>
              <a:spcAft>
                <a:spcPts val="0"/>
              </a:spcAft>
            </a:pPr>
            <a:r>
              <a:rPr sz="1200" b="0">
                <a:solidFill>
                  <a:srgbClr val="E6E6E6"/>
                </a:solidFill>
                <a:latin typeface="Consolas"/>
              </a:rPr>
              <a:t>  2  FROM   dba_resumable;</a:t>
            </a:r>
          </a:p>
          <a:p>
            <a:pPr>
              <a:lnSpc>
                <a:spcPct val="100000"/>
              </a:lnSpc>
              <a:spcAft>
                <a:spcPts val="0"/>
              </a:spcAft>
            </a:pPr>
            <a:r>
              <a:rPr sz="1200" b="0">
                <a:solidFill>
                  <a:srgbClr val="E6E6E6"/>
                </a:solidFill>
                <a:latin typeface="Consolas"/>
              </a:rPr>
              <a:t>SESSION_ID STATUS    NAME          ERROR_NUMBER</a:t>
            </a:r>
          </a:p>
          <a:p>
            <a:pPr>
              <a:lnSpc>
                <a:spcPct val="100000"/>
              </a:lnSpc>
              <a:spcAft>
                <a:spcPts val="0"/>
              </a:spcAft>
            </a:pPr>
            <a:r>
              <a:rPr sz="1200" b="0">
                <a:solidFill>
                  <a:srgbClr val="7EC699"/>
                </a:solidFill>
                <a:latin typeface="Consolas"/>
              </a:rPr>
              <a:t>---------- --------- ------------- ------------</a:t>
            </a:r>
          </a:p>
          <a:p>
            <a:pPr>
              <a:lnSpc>
                <a:spcPct val="100000"/>
              </a:lnSpc>
              <a:spcAft>
                <a:spcPts val="0"/>
              </a:spcAft>
            </a:pPr>
            <a:r>
              <a:rPr sz="1200" b="0">
                <a:solidFill>
                  <a:srgbClr val="E6E6E6"/>
                </a:solidFill>
                <a:latin typeface="Consolas"/>
              </a:rPr>
              <a:t>        45 SUSPENDED nightly_load          1653</a:t>
            </a:r>
          </a:p>
          <a:p>
            <a:pPr>
              <a:lnSpc>
                <a:spcPct val="100000"/>
              </a:lnSpc>
              <a:spcAft>
                <a:spcPts val="0"/>
              </a:spcAft>
            </a:pPr>
            <a:r>
              <a:rPr sz="1200" b="0">
                <a:solidFill>
                  <a:srgbClr val="E6E6E6"/>
                </a:solidFill>
                <a:latin typeface="Consolas"/>
              </a:rPr>
              <a:t> </a:t>
            </a:r>
          </a:p>
          <a:p>
            <a:pPr>
              <a:lnSpc>
                <a:spcPct val="100000"/>
              </a:lnSpc>
              <a:spcAft>
                <a:spcPts val="0"/>
              </a:spcAft>
            </a:pPr>
            <a:r>
              <a:rPr sz="1200" b="0">
                <a:solidFill>
                  <a:srgbClr val="7EC699"/>
                </a:solidFill>
                <a:latin typeface="Consolas"/>
              </a:rPr>
              <a:t>-- 원인 해결: 데이터 파일 추가 → 45번 세션 자동 재개</a:t>
            </a:r>
          </a:p>
          <a:p>
            <a:pPr>
              <a:lnSpc>
                <a:spcPct val="100000"/>
              </a:lnSpc>
              <a:spcAft>
                <a:spcPts val="0"/>
              </a:spcAft>
            </a:pPr>
            <a:r>
              <a:rPr sz="1200" b="0">
                <a:solidFill>
                  <a:srgbClr val="E6E6E6"/>
                </a:solidFill>
                <a:latin typeface="Consolas"/>
              </a:rPr>
              <a:t>SYS@cdb1&gt; ALTER TABLESPACE users</a:t>
            </a:r>
          </a:p>
          <a:p>
            <a:pPr>
              <a:lnSpc>
                <a:spcPct val="100000"/>
              </a:lnSpc>
              <a:spcAft>
                <a:spcPts val="0"/>
              </a:spcAft>
            </a:pPr>
            <a:r>
              <a:rPr sz="1200" b="0">
                <a:solidFill>
                  <a:srgbClr val="E6E6E6"/>
                </a:solidFill>
                <a:latin typeface="Consolas"/>
              </a:rPr>
              <a:t>  2    ADD DATAFILE '/u01/.../users02.dbf' SIZE 2G;</a:t>
            </a:r>
          </a:p>
          <a:p>
            <a:pPr>
              <a:lnSpc>
                <a:spcPct val="100000"/>
              </a:lnSpc>
              <a:spcAft>
                <a:spcPts val="0"/>
              </a:spcAft>
            </a:pPr>
            <a:r>
              <a:rPr sz="1200" b="0">
                <a:solidFill>
                  <a:srgbClr val="E6E6E6"/>
                </a:solidFill>
                <a:latin typeface="Consolas"/>
              </a:rPr>
              <a:t>Tablespace altered.</a:t>
            </a:r>
          </a:p>
          <a:p>
            <a:pPr>
              <a:lnSpc>
                <a:spcPct val="100000"/>
              </a:lnSpc>
              <a:spcAft>
                <a:spcPts val="0"/>
              </a:spcAft>
            </a:pPr>
            <a:r>
              <a:rPr sz="1200" b="0">
                <a:solidFill>
                  <a:srgbClr val="E6E6E6"/>
                </a:solidFill>
                <a:latin typeface="Consolas"/>
              </a:rPr>
              <a:t> </a:t>
            </a:r>
          </a:p>
          <a:p>
            <a:pPr>
              <a:lnSpc>
                <a:spcPct val="100000"/>
              </a:lnSpc>
              <a:spcAft>
                <a:spcPts val="0"/>
              </a:spcAft>
            </a:pPr>
            <a:r>
              <a:rPr sz="1200" b="0">
                <a:solidFill>
                  <a:srgbClr val="7EC699"/>
                </a:solidFill>
                <a:latin typeface="Consolas"/>
              </a:rPr>
              <a:t>-- 자동 알림 트리거(개요)</a:t>
            </a:r>
          </a:p>
          <a:p>
            <a:pPr>
              <a:lnSpc>
                <a:spcPct val="100000"/>
              </a:lnSpc>
              <a:spcAft>
                <a:spcPts val="0"/>
              </a:spcAft>
            </a:pPr>
            <a:r>
              <a:rPr sz="1200" b="0">
                <a:solidFill>
                  <a:srgbClr val="E6E6E6"/>
                </a:solidFill>
                <a:latin typeface="Consolas"/>
              </a:rPr>
              <a:t>SYS@cdb1&gt; CREATE OR REPLACE TRIGGER notify_suspend</a:t>
            </a:r>
          </a:p>
          <a:p>
            <a:pPr>
              <a:lnSpc>
                <a:spcPct val="100000"/>
              </a:lnSpc>
              <a:spcAft>
                <a:spcPts val="0"/>
              </a:spcAft>
            </a:pPr>
            <a:r>
              <a:rPr sz="1200" b="0">
                <a:solidFill>
                  <a:srgbClr val="E6E6E6"/>
                </a:solidFill>
                <a:latin typeface="Consolas"/>
              </a:rPr>
              <a:t>  2  AFTER SUSPEND ON DATABASE</a:t>
            </a:r>
          </a:p>
          <a:p>
            <a:pPr>
              <a:lnSpc>
                <a:spcPct val="100000"/>
              </a:lnSpc>
              <a:spcAft>
                <a:spcPts val="0"/>
              </a:spcAft>
            </a:pPr>
            <a:r>
              <a:rPr sz="1200" b="0">
                <a:solidFill>
                  <a:srgbClr val="E6E6E6"/>
                </a:solidFill>
                <a:latin typeface="Consolas"/>
              </a:rPr>
              <a:t>  3  BEGIN NULL; END;</a:t>
            </a:r>
          </a:p>
          <a:p>
            <a:pPr>
              <a:lnSpc>
                <a:spcPct val="100000"/>
              </a:lnSpc>
              <a:spcAft>
                <a:spcPts val="0"/>
              </a:spcAft>
            </a:pPr>
            <a:r>
              <a:rPr sz="1200" b="0">
                <a:solidFill>
                  <a:srgbClr val="E6E6E6"/>
                </a:solidFill>
                <a:latin typeface="Consolas"/>
              </a:rPr>
              <a:t>  4  /</a:t>
            </a:r>
          </a:p>
          <a:p>
            <a:pPr>
              <a:lnSpc>
                <a:spcPct val="100000"/>
              </a:lnSpc>
              <a:spcAft>
                <a:spcPts val="0"/>
              </a:spcAft>
            </a:pPr>
            <a:r>
              <a:rPr sz="1200" b="0">
                <a:solidFill>
                  <a:srgbClr val="E6E6E6"/>
                </a:solidFill>
                <a:latin typeface="Consolas"/>
              </a:rPr>
              <a:t>Trigger created.</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spAutoFit/>
          </a:bodyPr>
          <a:lstStyle/>
          <a:p>
            <a:r>
              <a:rPr sz="2600" b="1">
                <a:solidFill>
                  <a:srgbClr val="FFFFFF"/>
                </a:solidFill>
                <a:latin typeface="Malgun Gothic"/>
              </a:rPr>
              <a:t>Resumable 대상 작업</a:t>
            </a:r>
          </a:p>
        </p:txBody>
      </p:sp>
      <p:sp>
        <p:nvSpPr>
          <p:cNvPr id="4" name="TextBox 3"/>
          <p:cNvSpPr txBox="1"/>
          <p:nvPr/>
        </p:nvSpPr>
        <p:spPr>
          <a:xfrm>
            <a:off x="640080" y="1115568"/>
            <a:ext cx="10881360" cy="457200"/>
          </a:xfrm>
          <a:prstGeom prst="rect">
            <a:avLst/>
          </a:prstGeom>
          <a:noFill/>
        </p:spPr>
        <p:txBody>
          <a:bodyPr wrap="square">
            <a:spAutoFit/>
          </a:bodyPr>
          <a:lstStyle/>
          <a:p>
            <a:r>
              <a:rPr sz="1500" b="0">
                <a:solidFill>
                  <a:srgbClr val="5A6672"/>
                </a:solidFill>
                <a:latin typeface="Malgun Gothic"/>
              </a:rPr>
              <a:t>대량 공간 사용 작업</a:t>
            </a:r>
          </a:p>
        </p:txBody>
      </p:sp>
      <p:sp>
        <p:nvSpPr>
          <p:cNvPr id="5" name="TextBox 4"/>
          <p:cNvSpPr txBox="1"/>
          <p:nvPr/>
        </p:nvSpPr>
        <p:spPr>
          <a:xfrm>
            <a:off x="640080" y="1691640"/>
            <a:ext cx="10881360" cy="4572000"/>
          </a:xfrm>
          <a:prstGeom prst="rect">
            <a:avLst/>
          </a:prstGeom>
          <a:noFill/>
        </p:spPr>
        <p:txBody>
          <a:bodyPr wrap="square">
            <a:spAutoFit/>
          </a:bodyPr>
          <a:lstStyle/>
          <a:p>
            <a:pPr>
              <a:spcAft>
                <a:spcPts val="600"/>
              </a:spcAft>
            </a:pPr>
            <a:r>
              <a:rPr sz="1800" b="0">
                <a:solidFill>
                  <a:srgbClr val="C0392B"/>
                </a:solidFill>
                <a:latin typeface="Malgun Gothic"/>
              </a:rPr>
              <a:t>•  쿼리: 대용량 정렬·해시 조인 시 임시 공간 부족</a:t>
            </a:r>
          </a:p>
          <a:p>
            <a:pPr>
              <a:spcAft>
                <a:spcPts val="600"/>
              </a:spcAft>
            </a:pPr>
            <a:r>
              <a:rPr sz="1800" b="0">
                <a:solidFill>
                  <a:srgbClr val="C0392B"/>
                </a:solidFill>
                <a:latin typeface="Malgun Gothic"/>
              </a:rPr>
              <a:t>•  DML: INSERT/UPDATE/DELETE·INSERT SELECT·다이렉트 적재</a:t>
            </a:r>
          </a:p>
          <a:p>
            <a:pPr>
              <a:spcAft>
                <a:spcPts val="600"/>
              </a:spcAft>
            </a:pPr>
            <a:r>
              <a:rPr sz="1800" b="0">
                <a:solidFill>
                  <a:srgbClr val="C0392B"/>
                </a:solidFill>
                <a:latin typeface="Malgun Gothic"/>
              </a:rPr>
              <a:t>•  DDL: CTAS·CREATE INDEX·REBUILD·MOVE·ADD PARTITION</a:t>
            </a:r>
          </a:p>
          <a:p>
            <a:pPr>
              <a:spcAft>
                <a:spcPts val="600"/>
              </a:spcAft>
            </a:pPr>
            <a:r>
              <a:rPr sz="1800" b="0">
                <a:solidFill>
                  <a:srgbClr val="C0392B"/>
                </a:solidFill>
                <a:latin typeface="Malgun Gothic"/>
              </a:rPr>
              <a:t>•  공간 무관 오류(문법·제약 위반)는 즉시 실패</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spAutoFit/>
          </a:bodyPr>
          <a:lstStyle/>
          <a:p>
            <a:r>
              <a:rPr sz="2600" b="1">
                <a:solidFill>
                  <a:srgbClr val="FFFFFF"/>
                </a:solidFill>
                <a:latin typeface="Malgun Gothic"/>
              </a:rPr>
              <a:t>확인 학습 (Quiz) — 1</a:t>
            </a:r>
          </a:p>
        </p:txBody>
      </p:sp>
      <p:sp>
        <p:nvSpPr>
          <p:cNvPr id="4" name="TextBox 3"/>
          <p:cNvSpPr txBox="1"/>
          <p:nvPr/>
        </p:nvSpPr>
        <p:spPr>
          <a:xfrm>
            <a:off x="640080" y="1371600"/>
            <a:ext cx="10881360" cy="4937760"/>
          </a:xfrm>
          <a:prstGeom prst="rect">
            <a:avLst/>
          </a:prstGeom>
          <a:noFill/>
        </p:spPr>
        <p:txBody>
          <a:bodyPr wrap="square">
            <a:spAutoFit/>
          </a:bodyPr>
          <a:lstStyle/>
          <a:p>
            <a:pPr>
              <a:spcAft>
                <a:spcPts val="400"/>
              </a:spcAft>
            </a:pPr>
            <a:r>
              <a:rPr sz="1700" b="1">
                <a:solidFill>
                  <a:srgbClr val="C0392B"/>
                </a:solidFill>
                <a:latin typeface="Malgun Gothic"/>
              </a:rPr>
              <a:t>Q1. SYSTEM을 제외한 19c 테이블스페이스의 세그먼트 공간 관리 방식과 자료구조는?</a:t>
            </a:r>
          </a:p>
          <a:p>
            <a:pPr>
              <a:spcAft>
                <a:spcPts val="1400"/>
              </a:spcAft>
            </a:pPr>
            <a:r>
              <a:rPr sz="1500" b="0">
                <a:solidFill>
                  <a:srgbClr val="222222"/>
                </a:solidFill>
                <a:latin typeface="Malgun Gothic"/>
              </a:rPr>
              <a:t>→ ASSM(자동 세그먼트 공간 관리). 프리리스트 대신 비트맵 블록으로 각 블록 채움 정도를 추적한다.</a:t>
            </a:r>
          </a:p>
          <a:p>
            <a:pPr>
              <a:spcAft>
                <a:spcPts val="400"/>
              </a:spcAft>
            </a:pPr>
            <a:r>
              <a:rPr sz="1700" b="1">
                <a:solidFill>
                  <a:srgbClr val="C0392B"/>
                </a:solidFill>
                <a:latin typeface="Malgun Gothic"/>
              </a:rPr>
              <a:t>Q2. 행 체이닝과 행 마이그레이션의 차이와 대응은?</a:t>
            </a:r>
          </a:p>
          <a:p>
            <a:pPr>
              <a:spcAft>
                <a:spcPts val="1400"/>
              </a:spcAft>
            </a:pPr>
            <a:r>
              <a:rPr sz="1500" b="0">
                <a:solidFill>
                  <a:srgbClr val="222222"/>
                </a:solidFill>
                <a:latin typeface="Malgun Gothic"/>
              </a:rPr>
              <a:t>→ 체이닝=행&gt;블록(큰 블록·재설계). 마이그레이션=UPDATE로 이동(PCTFREE↑ 예방, MOVE 해소).</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spAutoFit/>
          </a:bodyPr>
          <a:lstStyle/>
          <a:p>
            <a:r>
              <a:rPr sz="2600" b="1">
                <a:solidFill>
                  <a:srgbClr val="FFFFFF"/>
                </a:solidFill>
                <a:latin typeface="Malgun Gothic"/>
              </a:rPr>
              <a:t>확인 학습 (Quiz) — 2</a:t>
            </a:r>
          </a:p>
        </p:txBody>
      </p:sp>
      <p:sp>
        <p:nvSpPr>
          <p:cNvPr id="4" name="TextBox 3"/>
          <p:cNvSpPr txBox="1"/>
          <p:nvPr/>
        </p:nvSpPr>
        <p:spPr>
          <a:xfrm>
            <a:off x="640080" y="1371600"/>
            <a:ext cx="10881360" cy="4937760"/>
          </a:xfrm>
          <a:prstGeom prst="rect">
            <a:avLst/>
          </a:prstGeom>
          <a:noFill/>
        </p:spPr>
        <p:txBody>
          <a:bodyPr wrap="square">
            <a:spAutoFit/>
          </a:bodyPr>
          <a:lstStyle/>
          <a:p>
            <a:pPr>
              <a:spcAft>
                <a:spcPts val="400"/>
              </a:spcAft>
            </a:pPr>
            <a:r>
              <a:rPr sz="1700" b="1">
                <a:solidFill>
                  <a:srgbClr val="C0392B"/>
                </a:solidFill>
                <a:latin typeface="Malgun Gothic"/>
              </a:rPr>
              <a:t>Q3. GTT와 PTT의 핵심 차이는?</a:t>
            </a:r>
          </a:p>
          <a:p>
            <a:pPr>
              <a:spcAft>
                <a:spcPts val="1400"/>
              </a:spcAft>
            </a:pPr>
            <a:r>
              <a:rPr sz="1500" b="0">
                <a:solidFill>
                  <a:srgbClr val="222222"/>
                </a:solidFill>
                <a:latin typeface="Malgun Gothic"/>
              </a:rPr>
              <a:t>→ GTT=정의 영구·공유, 데이터 세션 프라이빗. PTT(18c)=정의도 세션 전용, 이름 ORA$PTT_ 접두사.</a:t>
            </a:r>
          </a:p>
          <a:p>
            <a:pPr>
              <a:spcAft>
                <a:spcPts val="400"/>
              </a:spcAft>
            </a:pPr>
            <a:r>
              <a:rPr sz="1700" b="1">
                <a:solidFill>
                  <a:srgbClr val="C0392B"/>
                </a:solidFill>
                <a:latin typeface="Malgun Gothic"/>
              </a:rPr>
              <a:t>Q4. 기본 압축과 Advanced Row Compression의 적용 대상 차이는?</a:t>
            </a:r>
          </a:p>
          <a:p>
            <a:pPr>
              <a:spcAft>
                <a:spcPts val="1400"/>
              </a:spcAft>
            </a:pPr>
            <a:r>
              <a:rPr sz="1500" b="0">
                <a:solidFill>
                  <a:srgbClr val="222222"/>
                </a:solidFill>
                <a:latin typeface="Malgun Gothic"/>
              </a:rPr>
              <a:t>→ 기본=다이렉트 패스만. Advanced=모든 DML, Advanced Compression 옵션 필요.</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spAutoFit/>
          </a:bodyPr>
          <a:lstStyle/>
          <a:p>
            <a:r>
              <a:rPr sz="2600" b="1">
                <a:solidFill>
                  <a:srgbClr val="FFFFFF"/>
                </a:solidFill>
                <a:latin typeface="Malgun Gothic"/>
              </a:rPr>
              <a:t>확인 학습 (Quiz) — 3</a:t>
            </a:r>
          </a:p>
        </p:txBody>
      </p:sp>
      <p:sp>
        <p:nvSpPr>
          <p:cNvPr id="4" name="TextBox 3"/>
          <p:cNvSpPr txBox="1"/>
          <p:nvPr/>
        </p:nvSpPr>
        <p:spPr>
          <a:xfrm>
            <a:off x="640080" y="1371600"/>
            <a:ext cx="10881360" cy="4937760"/>
          </a:xfrm>
          <a:prstGeom prst="rect">
            <a:avLst/>
          </a:prstGeom>
          <a:noFill/>
        </p:spPr>
        <p:txBody>
          <a:bodyPr wrap="square">
            <a:spAutoFit/>
          </a:bodyPr>
          <a:lstStyle/>
          <a:p>
            <a:pPr>
              <a:spcAft>
                <a:spcPts val="400"/>
              </a:spcAft>
            </a:pPr>
            <a:r>
              <a:rPr sz="1700" b="1">
                <a:solidFill>
                  <a:srgbClr val="C0392B"/>
                </a:solidFill>
                <a:latin typeface="Malgun Gothic"/>
              </a:rPr>
              <a:t>Q5. SHRINK SPACE의 전제 조건 2가지와 COMPACT 옵션의 역할은?</a:t>
            </a:r>
          </a:p>
          <a:p>
            <a:pPr>
              <a:spcAft>
                <a:spcPts val="1400"/>
              </a:spcAft>
            </a:pPr>
            <a:r>
              <a:rPr sz="1500" b="0">
                <a:solidFill>
                  <a:srgbClr val="222222"/>
                </a:solidFill>
                <a:latin typeface="Malgun Gothic"/>
              </a:rPr>
              <a:t>→ ①ASSM 테이블스페이스 ②ENABLE ROW MOVEMENT. COMPACT=재배치만, HWM 조정·반환은 미룸.</a:t>
            </a:r>
          </a:p>
          <a:p>
            <a:pPr>
              <a:spcAft>
                <a:spcPts val="400"/>
              </a:spcAft>
            </a:pPr>
            <a:r>
              <a:rPr sz="1700" b="1">
                <a:solidFill>
                  <a:srgbClr val="C0392B"/>
                </a:solidFill>
                <a:latin typeface="Malgun Gothic"/>
              </a:rPr>
              <a:t>Q6. Resumable에서 문장이 중단되는 오류와 세션 활성화 구문은?</a:t>
            </a:r>
          </a:p>
          <a:p>
            <a:pPr>
              <a:spcAft>
                <a:spcPts val="1400"/>
              </a:spcAft>
            </a:pPr>
            <a:r>
              <a:rPr sz="1500" b="0">
                <a:solidFill>
                  <a:srgbClr val="222222"/>
                </a:solidFill>
                <a:latin typeface="Malgun Gothic"/>
              </a:rPr>
              <a:t>→ ORA-01653/01536/01628. ALTER SESSION ENABLE RESUMABLE [TIMEOUT n], 해결 시 자동 재개.</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spAutoFit/>
          </a:bodyPr>
          <a:lstStyle/>
          <a:p>
            <a:r>
              <a:rPr sz="2600" b="1">
                <a:solidFill>
                  <a:srgbClr val="FFFFFF"/>
                </a:solidFill>
                <a:latin typeface="Malgun Gothic"/>
              </a:rPr>
              <a:t>요약 (Summary)</a:t>
            </a:r>
          </a:p>
        </p:txBody>
      </p:sp>
      <p:sp>
        <p:nvSpPr>
          <p:cNvPr id="4" name="TextBox 3"/>
          <p:cNvSpPr txBox="1"/>
          <p:nvPr/>
        </p:nvSpPr>
        <p:spPr>
          <a:xfrm>
            <a:off x="640080" y="1325880"/>
            <a:ext cx="10881360" cy="5120640"/>
          </a:xfrm>
          <a:prstGeom prst="rect">
            <a:avLst/>
          </a:prstGeom>
          <a:noFill/>
        </p:spPr>
        <p:txBody>
          <a:bodyPr wrap="square">
            <a:spAutoFit/>
          </a:bodyPr>
          <a:lstStyle/>
          <a:p>
            <a:pPr>
              <a:spcAft>
                <a:spcPts val="600"/>
              </a:spcAft>
            </a:pPr>
            <a:r>
              <a:rPr sz="1600" b="0">
                <a:solidFill>
                  <a:srgbClr val="C0392B"/>
                </a:solidFill>
                <a:latin typeface="Malgun Gothic"/>
              </a:rPr>
              <a:t>•  공간 관리는 ASSM(블록)·압축(밀도)·shrink(회수)·Resumable(방어) 네 축</a:t>
            </a:r>
          </a:p>
          <a:p>
            <a:pPr>
              <a:spcAft>
                <a:spcPts val="600"/>
              </a:spcAft>
            </a:pPr>
            <a:r>
              <a:rPr sz="1600" b="0">
                <a:solidFill>
                  <a:srgbClr val="C0392B"/>
                </a:solidFill>
                <a:latin typeface="Malgun Gothic"/>
              </a:rPr>
              <a:t>•  ASSM은 비트맵 관리, PCTFREE로 마이그레이션 예방, 체이닝은 큰 행에서 발생</a:t>
            </a:r>
          </a:p>
          <a:p>
            <a:pPr>
              <a:spcAft>
                <a:spcPts val="600"/>
              </a:spcAft>
            </a:pPr>
            <a:r>
              <a:rPr sz="1600" b="0">
                <a:solidFill>
                  <a:srgbClr val="C0392B"/>
                </a:solidFill>
                <a:latin typeface="Malgun Gothic"/>
              </a:rPr>
              <a:t>•  임시 테이블: GTT(정의 공유)·PTT(18c, 정의까지 프라이빗)</a:t>
            </a:r>
          </a:p>
          <a:p>
            <a:pPr>
              <a:spcAft>
                <a:spcPts val="600"/>
              </a:spcAft>
            </a:pPr>
            <a:r>
              <a:rPr sz="1600" b="0">
                <a:solidFill>
                  <a:srgbClr val="C0392B"/>
                </a:solidFill>
                <a:latin typeface="Malgun Gothic"/>
              </a:rPr>
              <a:t>•  압축: 기본(다이렉트)·Advanced(모든 DML)·HCC, DBMS_COMPRESSION으로 예측</a:t>
            </a:r>
          </a:p>
          <a:p>
            <a:pPr>
              <a:spcAft>
                <a:spcPts val="600"/>
              </a:spcAft>
            </a:pPr>
            <a:r>
              <a:rPr sz="1600" b="0">
                <a:solidFill>
                  <a:srgbClr val="C0392B"/>
                </a:solidFill>
                <a:latin typeface="Malgun Gothic"/>
              </a:rPr>
              <a:t>•  SHRINK SPACE로 공간 회수·HWM↓, Resumable로 공간 부족 방어</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77240"/>
          </a:xfrm>
          <a:prstGeom prst="rect">
            <a:avLst/>
          </a:prstGeom>
          <a:noFill/>
        </p:spPr>
        <p:txBody>
          <a:bodyPr wrap="square">
            <a:spAutoFit/>
          </a:bodyPr>
          <a:lstStyle/>
          <a:p>
            <a:r>
              <a:rPr sz="2600" b="1">
                <a:solidFill>
                  <a:srgbClr val="FFFFFF"/>
                </a:solidFill>
                <a:latin typeface="Malgun Gothic"/>
              </a:rPr>
              <a:t>실습 19 개요 (Practice Overview)</a:t>
            </a:r>
          </a:p>
        </p:txBody>
      </p:sp>
      <p:sp>
        <p:nvSpPr>
          <p:cNvPr id="4" name="TextBox 3"/>
          <p:cNvSpPr txBox="1"/>
          <p:nvPr/>
        </p:nvSpPr>
        <p:spPr>
          <a:xfrm>
            <a:off x="640080" y="1325880"/>
            <a:ext cx="10881360" cy="5120640"/>
          </a:xfrm>
          <a:prstGeom prst="rect">
            <a:avLst/>
          </a:prstGeom>
          <a:noFill/>
        </p:spPr>
        <p:txBody>
          <a:bodyPr wrap="square">
            <a:spAutoFit/>
          </a:bodyPr>
          <a:lstStyle/>
          <a:p>
            <a:pPr>
              <a:spcAft>
                <a:spcPts val="600"/>
              </a:spcAft>
            </a:pPr>
            <a:r>
              <a:rPr sz="1600" b="0">
                <a:solidFill>
                  <a:srgbClr val="C0392B"/>
                </a:solidFill>
                <a:latin typeface="Malgun Gothic"/>
              </a:rPr>
              <a:t>•  19-01 블록 공간 관리·행 체이닝/마이그레이션 확인</a:t>
            </a:r>
          </a:p>
          <a:p>
            <a:pPr>
              <a:spcAft>
                <a:spcPts val="600"/>
              </a:spcAft>
            </a:pPr>
            <a:r>
              <a:rPr sz="1600" b="0">
                <a:solidFill>
                  <a:srgbClr val="C0392B"/>
                </a:solidFill>
                <a:latin typeface="Malgun Gothic"/>
              </a:rPr>
              <a:t>•  19-02 익스텐트 할당·사용 불가능 인덱스 처리</a:t>
            </a:r>
          </a:p>
          <a:p>
            <a:pPr>
              <a:spcAft>
                <a:spcPts val="600"/>
              </a:spcAft>
            </a:pPr>
            <a:r>
              <a:rPr sz="1600" b="0">
                <a:solidFill>
                  <a:srgbClr val="C0392B"/>
                </a:solidFill>
                <a:latin typeface="Malgun Gothic"/>
              </a:rPr>
              <a:t>•  19-03 글로벌 임시 테이블  /  19-04 프라이빗 임시 테이블(18c)</a:t>
            </a:r>
          </a:p>
          <a:p>
            <a:pPr>
              <a:spcAft>
                <a:spcPts val="600"/>
              </a:spcAft>
            </a:pPr>
            <a:r>
              <a:rPr sz="1600" b="0">
                <a:solidFill>
                  <a:srgbClr val="C0392B"/>
                </a:solidFill>
                <a:latin typeface="Malgun Gothic"/>
              </a:rPr>
              <a:t>•  19-05 Direct-Path 압축  /  19-06 Advanced Row Compression</a:t>
            </a:r>
          </a:p>
          <a:p>
            <a:pPr>
              <a:spcAft>
                <a:spcPts val="600"/>
              </a:spcAft>
            </a:pPr>
            <a:r>
              <a:rPr sz="1600" b="0">
                <a:solidFill>
                  <a:srgbClr val="C0392B"/>
                </a:solidFill>
                <a:latin typeface="Malgun Gothic"/>
              </a:rPr>
              <a:t>•  19-07 압축 어드바이저  /  19-08 SHRINK SPACE</a:t>
            </a:r>
          </a:p>
          <a:p>
            <a:pPr>
              <a:spcAft>
                <a:spcPts val="600"/>
              </a:spcAft>
            </a:pPr>
            <a:r>
              <a:rPr sz="1600" b="0">
                <a:solidFill>
                  <a:srgbClr val="C0392B"/>
                </a:solidFill>
                <a:latin typeface="Malgun Gothic"/>
              </a:rPr>
              <a:t>•  19-09 Resumable 활성화·재개  /  19-10 Resumable 대상 확인</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
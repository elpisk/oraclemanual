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4장까지는 이미 만들어진 데이터베이스에 접속하고 구조를 이해하는 데 초점을 두었다. 이 장부터는 관점을 바꾸어 DBA가 데이터베이스를 직접 만드는 일을 다룬다. 생성은 명령 한 줄이 아니라 저장소·설계·백업을 계획하고, 워크로드에 맞는 템플릿을 고르고, 되돌리기 어려운 문자 집합을 신중히 정한 다음 DBCA로 실체화하는 과정이다. 특히 문자 집합과 클라이언트 NLS_LANG은 한 번 잘못 정하면 데이터가 조용히 깨진 채 쌓이는, 실무에서 가장 값비싼 실수 영역이다.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DBA로서 데이터베이스를 생성하기 전에 반드시 계획해야 할 세 가지가 있다. 첫째는 논리적 저장소 구조와 그 물리적 구현, 둘째는 전체 데이터베이스 설계, 셋째는 백업 전략이다. 생성 마법사를 실행하는 순간에 즉흥적으로 결정하기에는 파급 효과가 너무 큰 항목들이므로, 화이트보드 위에서 먼저 끝내야 하는 작업이다. 계획 단계에서 내린 결정은 이후 시스템 성능과 수많은 데이터베이스 관리 작업의 난이도를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논리적 저장소 구조가 시스템 성능과 관리 작업에 어떻게 영향을 미치는지 계획하는 것이 중요하다. 테이블스페이스를 만들기 전에 하나의 테이블스페이스를 몇 개의 데이터 파일로 구성할지, 각 테이블스페이스에 어떤 정보가 저장될지, 그 데이터 파일이 물리적으로 어느 디스크·마운트 포인트에 놓일지를 알고 있어야 한다. 계획 시 확인할 질문: 어떤 저장소(로컬 디스크·NAS·SAN·ASM)를 쓸 것인가, 테이블스페이스와 데이터 파일은 몇 개인가, 어떤 유형의 정보(OLTP·이력/분석·LOB)를 저장하는가, 유형이나 크기 때문에 특별한 저장소 요구를 갖는 객체(초대형 파티션 테이블·BLOB 컬럼·인덱스 조직 테이블)가 있는가. 이 결정들은 나중에 바꾸는 것이 불가능하지는 않지만 운영 중 데이터베이스에서는 상당한 비용과 다운타임을 수반한다.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저장소 유형은 크게 네 가지다. 로컬 디스크는 단순하고 지연이 낮지만 확장성·고가용성에 한계가 있어 소규모·개발 환경에 적합하다. NAS는 파일 수준(NFS 등) 공유 저장소로 여러 서버가 함께 접근하기 편하지만 NAS 가용성과 프라이빗 스토리지 네트워크 대역폭이 성능을 좌우한다. SAN은 블록 수준 고성능 공유 저장소로 LUN 구성과 스트라이프 크기를 알아야 성능을 예측할 수 있다. Oracle ASM은 디스크 그룹에 자동 스트라이핑·미러링하는 볼륨 관리자로 RAC·대규모 환경의 사실상 표준이며 34장에서 다룬다. 하부 구조를 모른 채 데이터 파일을 배치하면 논리적으로 다른 테이블스페이스라도 같은 디스크 스핀들에 몰려 I/O 병목이 생긴다. OMF(Oracle Managed Files)를 쓰면 DB_CREATE_FILE_DEST 등 몇 개 파라미터로 기본 위치만 지정하고 실제 파일명·경로는 Oracle이 자동 관리한다. 표준 명명 규칙과 삭제 시 자동 정리를 얻는 대신 파일명을 직접 통제하는 자유는 일부 포기한다.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시나리오] 운영 6개월 차에 배치 성능이 급락한 사례. 용량은 40%만 찼는데도 야간 집계가 두 배 넘게 걸렸다. 원인은 REDO 로그, UNDO 테이블스페이스, 대형 팩트 테이블 데이터 파일이 모두 같은 물리 볼륨에 놓여 쓰기 경합을 일으킨 것이었다. 이 문제의 뿌리는 튜닝이 아니라 계획이었다. 생성 시점에 REDO/UNDO/데이터/인덱스를 서로 다른 I/O 경로에 분산하도록 물리 배치를 설계했다면 애초에 발생하지 않았을 병목이다. 논리 설계(테이블스페이스)와 물리 구현(파일 위치)을 항상 함께 그려두는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5.1.2 전체 데이터베이스 설계: 전체 논리적 저장소를 계획할 때 그 구조가 데이터베이스가 생성·실행될 때 미칠 영향을 함께 고려해야 한다. 유형·크기 때문에 특별한 저장소 요구를 갖는 객체는 별도 테이블스페이스나 전용 저장소로 분리하는 것이 유리하다. 분산 데이터베이스 환경에서는 이 단계가 특히 중요하며, 자주 접근하는 데이터가 물리적으로 어디에 있느냐가 애플리케이션 성능에 극적인 차이를 만든다. 사용자와 가까운 노드에 자주 쓰는 데이터를 두는 데이터 지역성 설계는 네트워크 왕복 비용을 줄인다. 5.1.3 백업 전략: 백업은 사후 작업이 아니라 생성 시점 설계 결정에 직접 영향을 준다. RTO/RPO를 만족하려면 ARCHIVELOG를 켜야 하고 그러려면 Fast Recovery Area 위치·크기를 생성 시점에 정해야 한다. 읽기 전용으로 굳은 이력 데이터를 별도 테이블스페이스로 분리해 한 번만 백업하고 이후 제외하는 것이 대표적 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 새 데이터베이스를 만들 때 DBCA의 'Enable archiving'과 Fast Recovery Area 설정을 그냥 넘기지 말고 백업 정책과 연동해 결정하라. 아카이브 로그 모드가 꺼진 채 운영에 들어가면 온라인 백업과 시점 복구(PITR)가 불가능해져 나중에 반드시 다운타임을 감수하고 모드를 바꿔야 한다. 생성 직후 곧바로 RMAN 전체 백업을 한 번 떠 두는 것을 표준 절차로 삼으면 최초 구성 상태를 언제든 되돌릴 수 있는 안전망이 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다른 유형의 데이터베이스는 각자 고유한 인스턴스 요구사항과 저장소 요구사항을 갖는다. OLTP 데이터베이스는 짧은 트랜잭션을 대량으로 처리해야 하므로 작은 블록과 빠른 커밋에 유리하게 구성하고, 데이터 웨어하우스는 대량 스캔과 집계에 유리하게 구성한다. Oracle 데이터베이스 소프트웨어에는 이런 서로 다른 유형의 데이터베이스를 손쉽게 생성하도록 미리 만들어진 템플릿이 포함되어 있으며, DBCA는 데이터베이스를 만들 때 이 템플릿 중 하나를 고르게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 대표 템플릿 세 가지. General Purpose or Transaction Processing(범용/트랜잭션 처리)은 OLTP 시스템에 적합하며 트랜잭션을 처리하고 데이터를 중간 기간 보관하는 일반 업무 시스템에 두루 쓰인다(예: 소매 청구, 원비 청구). Custom Database(커스텀)는 범용/데이터 웨어하우스에 딱 맞지 않는 커스터마이즈 DB(OLTP+DW 결합 등)를 만들 때 쓰며, 옵션·컴포넌트·초기화 파라미터를 세밀히 지정할 수 있는 대신 시드 데이터베이스를 복사하지 않고 스크립트로 처음부터 생성해 시간이 더 걸린다. Data Warehouse는 장기 저장·읽기(조회·집계) 위주 용도에 적합하다(예: 연구·마케팅 분석, 세금 납부 이력, 전문 라이선스 이력). 정리하면 General Purpose는 섞인 워크로드를 무난하게, Data Warehouse는 장기 보관·읽기 위주로, Custom은 특수 요구를 세밀하게 만들 때 고른다. 확신이 안 서면 General Purpose or Transaction Processing이 안전한 기본값이다.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템플릿을 고를 때 함께 생각할 것이 데이터베이스 블록 크기(DB_BLOCK_SIZE)다. OLTP는 작은 행을 무작위로 읽고 쓰므로 8KB 표준 블록이 무난하고, 데이터 웨어하우스는 넓은 범위를 순차 스캔하므로 16KB 이상의 큰 블록이 I/O 효율에 유리한 경우가 많다. 블록 크기는 생성 시점에 결정되어 이후 변경이 어려운 대표 항목이므로 문자 집합처럼 계획 단계에서 신중히 정한다. General Purpose 템플릿은 이런 표준값을 이미 합리적으로 담고 있어 대부분 기본값으로 충분하다. [참고] 시드형 템플릿과 커스텀 템플릿의 결정적 차이: General Purpose와 Data Warehouse 템플릿은 시드 데이터베이스를 포함한다. 미리 만든 데이터 파일(.dbf)과 컨트롤 파일 이미지가 템플릿에 들어 있어 DBCA는 이 파일들을 올바른 위치로 복사만 하면 되므로 생성이 매우 빠르다. 반면 Custom 템플릿은 시드 파일이 없으므로 CREATE DATABASE 문과 데이터 딕셔너리 구축 스크립트(catalog.sql, catproc.sql 등)를 실제로 실행한다. 자유도는 높지만 생성 시간이 훨씬 길다. 표준 구성이면 시드형을, 세밀한 통제가 필요하면 커스텀형을 선택한다.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컴퓨터는 문자를 처리할 때 그래픽 모양이 아니라 대응하는 숫자 코드를 사용한다(ASCII에서 'A'는 65). 인코딩된 문자 집합이란 숫자 코드를 실제 문자에 매핑한 규칙표이며, 서로 다른 문자 집합은 서로 다른 문자 저장소를 지원한다. 문자 집합은 대개 특정 문자 체계(writing system)를 기반으로 하므로 하나 이상의 언어를 지원할 수 있다(서유럽 문자 집합으로 영어·프랑스어·독일어·스페인어). 그러나 스크립트 기반 문자 집합은 비슷한 스크립트를 쓰는 언어 그룹으로 범위가 제한되어 서유럽 문자 집합으로는 한글·일본어를 담을 수 없다. 이 한계를 극복하려 등장한 것이 유니버설 문자 집합으로 현대 세계 거의 모든 주요 스크립트를 아우른다. Oracle은 크게 싱글바이트, 가변폭 멀티바이트, 유니버설 세 클래스의 인코딩 스킴을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싱글바이트 문자 집합에서는 각 문자가 정확히 1바이트를 차지한다. 7비트 인코딩은 2^7=128자, 8비트 인코딩은 2^8=256자를 정의할 수 있다. 대표 예: US7ASCII(7비트 ASCII, 영어 알파벳·숫자·기본 기호), WE8ISO8859P1(ISO 8859-1 서유럽 8비트, 악센트 문자 포함), WE8DEC(DEC 8비트 서유럽), I8EBCDIC1144(EBCDIC 코드 페이지 1144 이탈리아어, IBM 메인프레임 계열). 싱글바이트는 멀티바이트보다 성능이 좋고 저장 공간이 가장 효율적인데, 문자 하나가 1바이트로 고정되어 길이 계산과 부분 문자열 처리가 단순하기 때문이다. 그러나 지원 언어 수가 근본적으로 제한되며 한글·중국어·일본어처럼 문자 수가 128~256개를 훌쩍 넘는 언어는 싱글바이트로는 표현조차 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가변폭 멀티바이트 문자 집합에서는 하나의 문자가 하나 이상의 바이트로 표현된다. 어떤 문자는 1바이트, 어떤 문자는 2·3바이트로 저장된다. 멀티바이트는 주로 아시아 언어(한국어·중국어·일본어)를 지원하는 데 쓰이는데 문자 수가 많아 싱글바이트로 담을 수 없기 때문이다. 지금 읽는 바이트가 한 글자인지 여러 바이트 글자의 일부인지 구별하는 방식은 스킴마다 다르다. 일부 스킴은 바이트의 최상위 비트(MSB) 값으로 싱글바이트인지 여러 바이트 시퀀스의 일부인지 나타낸다. 또 다른 스킴은 시프트 제어 코드를 사용해 장치가 시프트아웃 코드를 보내면 그 이후 바이트를 시프트인 코드를 만날 때까지 더블바이트로 해석한다. 이런 시프트 민감 인코딩은 주로 IBM 플랫폼에서 사용되었다.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유니코드는 모든 언어 정보를 단일 문자 집합으로 저장하는 유니버설 인코딩이다. 플랫폼·프로그램·언어에 관계없이 모든 문자에 고유 코드 값(code point)을 부여해 같은 글자는 어디서나 같은 번호를 갖는다. 대부분의 OS·브라우저가 지원하고 XML·Java·JavaScript·LDAP·WML 등은 유니코드를 요구하며 ISO/IEC 10646과 동기화되어 있다. 대표 예: JA16SJIS(Shift-JIS 일본어), ZHT16HKSCS(번체 중국어), AL32UTF8(UTF-8, 가변폭, ASCII의 엄격한 상위 집합이라 순수 ASCII는 동일한 1바이트로 표현되어 완벽 호환, Oracle이 가장 권장), AL16UTF16(UTF-16, 주로 NCHAR/NVARCHAR2 국가 문자 집합용). 일반적으로 Oracle은 모든 새 데이터베이스에 유니코드(특히 AL32UTF8) 사용을 권장한다. 가장 유연해 현재·미래의 다국어 요구를 수용하고 나중의 고통스러운 문자 집합 변환을 애초에 피할 수 있으며 XML·Java 같은 표준이 유니코드를 요구하기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 특별한 이유가 없는 한 데이터베이스 문자 집합은 AL32UTF8로 생성하라. 한글만 쓰는 시스템이라도 마찬가지다. 이모지, 외국 고객명, 특수 기호는 예고 없이 유입되며 그때 KO16MSWIN949 같은 지역 인코딩으로는 데이터가 깨진다. AL32UTF8은 ASCII 상위 집합이라 기존 영문/숫자 데이터와도 호환된다. AL32UTF8(데이터베이스 문자 집합)과 AL16UTF16(국가 문자 집합, NCHAR용)을 혼동하지 마라. 전자는 CHAR/VARCHAR2/CLOB에, 후자는 NCHAR/NVARCHAR2/NCLOB에 적용된다. 데이터베이스 문자 집합을 이미 유니코드로 잡았다면 굳이 NCHAR 타입을 쓸 이유는 크지 않다.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한국어 환경에서 자주 마주치는 문자 집합은 두 부류다. 하나는 과거부터 널리 쓰인 지역 인코딩 KO16MSWIN949(및 유사한 KO16KSC5601), 다른 하나는 오늘날 표준인 유니코드 AL32UTF8이다. 같은 한글 한 글자라도 인코딩에 따라 저장 바이트 수가 다르다. '가'는 KO16MSWIN949에서 2바이트, AL32UTF8에서 3바이트를 차지하고, 영문·숫자(ASCII)는 두 인코딩 모두 1바이트다. 이 바이트 수 차이가 컬럼 길이 정의와 직결된 함정을 만든다. VARCHAR2(10)처럼 길이를 선언할 때 그 10이 바이트인지 문자인지에 따라 담을 수 있는 한글 수가 완전히 달라진다. Oracle은 길이 의미(length semantics)를 BYTE와 CHAR 두 가지로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길이 의미 두 가지. BYTE 의미: VARCHAR2(10 BYTE)는 10바이트까지 저장한다. AL32UTF8에서 한글은 3바이트이므로 최대 3글자(9바이트)밖에 못 담고 4번째 글자를 넣으면 길이 초과 오류가 난다. CHAR 의미: VARCHAR2(10 CHAR)는 인코딩과 무관하게 10글자를 보장하여 다국어 데이터를 다룰 때 직관적이고 안전하다. 기본 길이 의미는 NLS_LENGTH_SEMANTICS 파라미터로 결정되며 기본값은 BYTE다. 유니코드 데이터베이스에서 지역 인코딩 시절의 바이트 기준 길이 설계를 그대로 옮기면 멀쩡하던 데이터가 이관 후 '값이 너무 큽니다(ORA-12899)' 오류로 튕겨 나오는 사고가 흔하다. 다국어를 염두에 둔다면 컬럼을 CHAR 의미로 선언하거나 길이를 넉넉히 잡는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LENGTH는 문자 수, LENGTHB는 바이트 수를 반환한다. AL32UTF8에서 '가'는 LENGTH=1, LENGTHB=3으로, 한글 한 글자가 3바이트임을 직접 확인할 수 있다. 컬럼을 VARCHAR2(10 CHAR)로 정의하면 인코딩과 무관하게 10글자를 보장한다. [참고] 문자 집합 변경이 어려운 이유: 문자 집합은 이미 저장된 모든 문자열의 해석 규칙이다. 이 규칙을 바꾸면 디스크에 있는 바이트 열의 의미가 통째로 달라진다. 그래서 지역 인코딩에서 AL32UTF8로 바꾸려면 보통 Database Migration Assistant for Unicode(DMU) 같은 전용 도구로 전체 데이터를 스캔·변환해야 하며 컬럼 길이 초과 같은 부작용도 점검해야 한다. 생성 시점에 유니코드로 제대로 정하면 이 고된 마이그레이션 자체가 필요 없다. '나중에 바꾸면 되지'가 가장 비싼 실수다.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NLS_LANG 파라미터는 클라이언트 터미널(SQL*Plus나 애플리케이션이 실행되는 쪽)의 문자 인코딩 스킴을 정의한다. 클라이언트마다 다른 인코딩을 쓸 수 있다(Windows WE8MSWIN1252, 한국어 Windows KO16MSWIN949, 리눅스 AL32UTF8). NLS_LANG은 이 클라이언트에서 오가는 데이터가 이러이러한 인코딩이라고 데이터베이스에 알리는 선언이며 전체 형식은 language_territory.charset이고 점 뒤 문자 집합이 핵심이다. 핵심 규칙: 데이터베이스 인코딩 스킴은 모든 클라이언트 인코딩 스킴의 상위 집합이거나 동등해야 한다. 데이터베이스가 AL32UTF8이면 어떤 클라이언트 문자든 담을 수 있어 이 조건을 자연히 만족한다. 반대로 좁은 지역 인코딩이면 범위를 벗어나는 클라이언트 문자는 저장할 수 없어 데이터 손실이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NLS_LANG=language_territory.charset에서 language는 오류 메시지·요일·월 이름 같은 언어 요소를, territory는 통화 기호·기본 날짜 형식·소수점 표기 같은 지역 관례를, 점 뒤 charset이 이 클라이언트가 주고받는 바이트의 문자 인코딩을 지정한다. AMERICAN_AMERICA.AL32UTF8은 영어 메시지·미국 지역 관례·UTF-8 인코딩을, KOREAN_KOREA.KO16MSWIN949는 한국어 메시지·한국 지역 관례·MS949 인코딩을 의미한다. 세 요소 중 문자 손상과 직접 관련되는 것은 오직 마지막 charset 부분이라는 점을 기억하면 진단할 때 어디를 봐야 하는지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 사이를 오가는 문자 데이터는 상황에 따라 변환되거나 안 된다. ① 데이터베이스 문자 집합과 클라이언트 문자 집합이 동일할 때: 데이터베이스는 주고받는 데이터가 같은 문자 집합이라고 가정하므로 검증이나 변환을 전혀 하지 않고 바이트가 그대로 오간다. ② 클라이언트·서버가 서로 다른 플랫폼에 있고 동일 인코딩 스킴을 안 쓸 때: 변환이 필요하며 두 인코딩 사이 변환은 Oracle Net을 통해 자동으로, 클라이언트 애플리케이션에는 투명하게 일어나 개발자는 변환 발생조차 신경 쓸 필요가 없다. 요약하면 Oracle Net은 클라이언트 NLS_LANG을 서버 문자 집합과 비교해 필요 시 자동·투명 변환한다. [참고] 이 메커니즘이 올바로 작동하는 유일한 전제는 NLS_LANG이 클라이언트의 실제 인코딩을 정직하게 반영하는 것이다. NLS_LANG이 거짓말을 하면 데이터베이스는 그대로 믿고 잘못 변환하거나 변환을 생략해 조용한 데이터 손상이 발생한다. 자동 변환은 마법이 아니라 NLS_LANG이라는 선언을 신뢰한 계약이다.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잘못된 데이터는 대개 클라이언트에서 NLS_LANG 파라미터가 제대로 설정되지 않았을 때 데이터베이스에 입력된다. NLS_LANG 값은 반드시 들어오는 데이터의 실제 인코딩을 반영해야 한다. NLS_LANG이 제대로 설정되면 데이터베이스는 클라이언트 운영 체제로부터 들어오는 데이터를 데이터베이스 문자 집합으로 자동 변환할 수 있다. NLS_LANG이 잘못 설정되면 들어오는 데이터가 올바로 변환되지 않은 채 그대로 저장된다. 이때 INSERT는 성공하고 아무 오류도 나지 않으므로 손상이 조용히 진행되는 것이 가장 위험한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흔한 실수 시나리오. 가정: 데이터베이스 문자 집합 AL32UTF8, 클라이언트는 영어 Windows(실제 코드 페이지 WE8MSWIN1252), 클라이언트 NLS_LANG 문자 집합을 실제 코드 페이지가 아니라 서버 문자 집합 AL32UTF8로 맞춰버림. 사용자가 é나 ü를 입력하면 클라이언트가 실제로 보내는 바이트는 WE8MSWIN1252 인코딩이다. 그런데 NLS_LANG이 AL32UTF8이라고 선언되어 서버 문자 집합과 정확히 일치하므로 Oracle 서버는 '클라이언트도 나와 같은 AL32UTF8을 쓰니 변환이 필요 없다'고 가정한다. 그래서 WE8MSWIN1252 바이트를 변환하지 않고 온 그대로 저장해 UTF-8로서는 유효하지 않은 바이트 열이 그대로 입력된다. 핵심은 변환이 필요한 상황인데도 NLS_LANG이 서버 문자 집합과 같아 '변환이 필요 없어 보이기 때문에' 변환이 생략된다는 것이다. 올바른 설정은 NLS_LANG 문자 집합을 클라이언트 실제 코드 페이지 WE8MSWIN1252로 지정하는 것이며, 그러면 데이터베이스가 WE8MSWIN1252 바이트를 AL32UTF8로 바꿔 저장한다고 올바르게 판단해 자동 변환을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클라이언트에서는 echo $NLS_LANG으로 현재 값을 확인하고, 터미널의 실제 인코딩에 맞게 설정한다(UTF-8 터미널이면 AL32UTF8, 한국어 Windows면 KO16MSWIN949). 리눅스는 export NLS_LANG=..., Windows CMD는 set NLS_LANG=...으로 지정한다. 서버 쪽에서는 SYS로 접속해 nls_database_parameters를 조회하면 데이터베이스가 실제로 어떤 문자 집합(NLS_CHARACTERSET)과 국가 문자 집합(NLS_NCHAR_CHARACTERSET)으로 생성되었는지 확인할 수 있다. 현재 세션이 인식하는 NLS 설정은 nls_session_parameters로 확인하며 이는 클라이언트 NLS_LANG을 반영한다. NLS_LANG 값은 반드시 들어오는 데이터의 실제 인코딩을 반영해야 자동 변환이 올바로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시나리오] 콜센터 상담 이력에서 특정 고객명만 물음표(?)로 보인다는 신고가 반복됐다. SQL*Plus로 조회하면 멀쩡한데 웹 화면에서만 깨졌다. 조사해 보니 두 경로의 NLS_LANG이 서로 달랐다. 데이터를 넣은 배치 서버의 NLS_LANG이 실제 인코딩과 어긋나 있었고 그 결과 일부 레코드가 손상된 바이트로 저장되어 있었다. 교훈: (1) 데이터를 넣는 모든 경로(배치·ETL·앱 서버)의 NLS_LANG이 각자의 실제 인코딩을 정확히 반영하는지 점검하라. (2) 손상은 조회 도구가 아니라 입력 시점에 이미 발생한다. 화면에서 안 깨진다고 데이터가 온전한 것은 아니다. DUMP() 함수로 실제 바이트를 확인하는 습관이 진단에 결정적이다. DUMP(컬럼,1016)은 16진수 표기와 문자 집합 이름을 함께 보여주며 정상 UTF-8이면 한글 한 글자가 3바이트로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Database Configuration Assistant(DBCA)는 Oracle 데이터베이스를 생성·구성하는 표준 도구다. 선택한 설치 유형에 따라 Oracle Universal Installer(OUI)가 자동 실행할 수도 있고 소프트웨어 설치 후 독립형 도구로 직접 실행할 수도 있다. DBCA로 수행하는 대표 작업(표): 데이터베이스 생성(새 DB를 생성·구성), 템플릿 생성·관리(생성 정보를 담은 XML 파일을 만들고 관리), 데이터베이스 삭제(인스턴스 종료 후 모든 DB 파일 삭제), PDB 관리(멀티테넌트 아키텍처에서 PDB 생성·삭제·언플러그), 구성 변경(DB나 PDB의 옵션 및 보안 설정 구성).</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DBCA는 대화형(interactive) 모드나 비대화형/사일런트(silent) 모드로 실행할 수 있다. 대화형 모드는 데이터베이스 생성·구성을 위한 그래픽 인터페이스와 단계별로 안내되는 워크플로우를 제공한다. 마법사가 던지는 질문에 답을 채우면 되므로 직관적이고 학습용이나 일회성 생성에 적합하다. 사일런트 모드는 그래픽 없이 커맨드라인 인자와 응답 파일로 동작하므로 데이터베이스 생성을 스크립트로 자동화하고 여러 서버에 동일하게 반복 배포할 때 유용하다. [참고] DBCA는 데이터베이스를 만들 서버의 운영 체제에서 실행한다. 원격 PC에서 네트워크로 CDB를 새로 만드는 도구가 아니다. 대화형 모드는 X 윈도우(또는 그에 준하는 디스플레이)가 필요하므로 리눅스 서버라면 X11 포워딩이나 VNC 환경을 갖춰야 한다. 그래픽 환경을 쓸 수 없는 헤드리스 서버에서는 사일런트 모드가 사실상 유일한 선택지이며 그래서 자동화·클라우드 환경에서 사일런트 모드의 중요성이 더욱 크다.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DBCA는 Oracle이 제공한 템플릿이나 사용자가 만든 템플릿으로 데이터베이스를 생성한다. DBCA 템플릿은 데이터베이스 생성에 필요한 정보를 담은 XML 파일이다. 지원할 워크로드 유형에 맞는 템플릿을 고르면 되고 무엇을 골라야 할지 확실하지 않으면 General purpose OR online transaction processing 템플릿을 쓴다. 특정 워크로드 요구를 충족하려 커스텀 템플릿을 새로 만들 수도 있다. 템플릿에 담기는 정보에는 데이터베이스 옵션, 초기화 파라미터, 저장소 속성(데이터 파일·테이블스페이스·컨트롤 파일·온라인 리두 로그 파일에 대한 속성)이 포함된다. 템플릿은 스크립트처럼 쓸 수 있지만 더 강력한데, 데이터베이스를 복제(clone)하는 옵션이 있기 때문이다. 시드 데이터베이스라 부르는 기존 데이터베이스 파일들을 올바른 위치로 복사하므로 처음부터 만드는 대신 복제하는 방식이 상당한 시간을 절약한다.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컨테이너 데이터베이스(CDB)가 이미 존재하는 경우 DBCA로 그 CDB 안에서 플러거블 데이터베이스(PDB) 작업을 수행할 수 있다. 구체적으로 PDB를 생성(create), 삭제(delete), 언플러그(unplug)할 수 있다. 이는 6장 이후에서 다룰 SQL 명령 기반 PDB 관리와 목적이 같지만 GUI/스크립트로 편리하게 처리한다는 점이 다르다. 또한 DBCA로 기존 데이터베이스의 구성을 변경할 수도 있다. 예를 들어 이전에 구성되지 않았던 데이터베이스 옵션을 추가하거나, 기본 보안 설정을 변경하거나, 서버 모드를 전용 서버(dedicated)에서 공유 서버(shared)로(또는 그 반대로) 전환하는 것 등이다.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대화형 모드로 DBCA를 실행하면(리눅스는 $ORACLE_HOME/bin/dbca, Windows는 시작 메뉴) 데이터베이스 생성이 단계로 안내된다. ① 작업 선택: 데이터베이스 생성/구성 변경/삭제/템플릿 관리/PDB 관리 중 'Create a database' 선택. ② 생성 모드: 기본 구성(Typical)으로 빠르게 만들지 고급 구성(Advanced)으로 세밀하게 만들지 선택하며, 문자 집합·저장소·초기화 파라미터를 직접 통제하려면 Advanced를 고른다. ③ 배포 유형과 템플릿: General Purpose or Transaction Processing, Data Warehouse, Custom 중 워크로드에 맞는 템플릿 선택(5.2). ④ 데이터베이스 식별: 전역 데이터베이스 이름과 SID 지정, CDB로 만들지 여부와 함께 만들 PDB 이름·개수 결정. ⑤ 저장소 옵션: 데이터 파일 위치, 파일 시스템 vs ASM, OMF 사용 여부 선택(5.1). ⑥ Fast Recovery Area·아카이브: FRA 위치·크기와 아카이브 로그 모드(ARCHIVELOG) 활성화 결정(5.1.3 백업 전략).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⑦ 구성 옵션: 메모리(자동 메모리 관리 크기), 문자 집합(AL32UTF8 권장), 연결 모드(전용/공유), 샘플 스키마 설치 여부 등을 지정한다. ⑧ 관리 옵션: EM Database Express 포트 구성 등 관리 도구를 설정한다. ⑨ 사용자 자격 증명: SYS·SYSTEM·PDBADMIN 등 관리 계정의 비밀번호를 입력한다. ⑩ 생성 옵션: 데이터베이스 생성을 바로 실행할지, 생성 스크립트만 저장할지, 템플릿으로 저장할지 선택한다. 스크립트만 저장하면 이 장의 두 번째 목표인 생성 스크립트 생성이 달성된다. ⑪ 요약·진행: 선택 내용을 요약 화면에서 최종 확인한 뒤 Finish를 누르면 진행 막대와 함께 생성이 수행된다.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Purpose 템플릿으로 ORCL이라는 CDB를 생성하는 전체 명령. PDB(pdb1) 하나를 함께 만들고 문자 집합 AL32UTF8, 아카이브 로그와 FRA까지 구성한다. 주요 인자: -createDatabase는 생성 작업 지시, -templateName은 사용할 템플릿(General_Purpose.dbc), -gdbname은 전역 데이터베이스 이름, -sid는 인스턴스 식별자. -createAsContainerDatabase true로 CDB로 만들고 -numberOfPDBs·-pdbName으로 함께 생성할 PDB를 정한다. -useLocalUndoForPDBs true는 PDB별 로컬 언두(19c 권장). -characterSet AL32UTF8이 앞 절들에서 강조한 문자 집합 지정. -totalMemory는 메모리 총량(MB), -sysPassword/-systemPassword/-pdbAdminPassword는 각 관리 계정 비밀번호. -enableArchive true와 -recoveryAreaDestination/-recoveryAreaSize는 5.1.3 백업 전략과 직결되는 아카이브·FRA 설정. -datafileDestination은 데이터 파일 기본 위치. -emConfiguration DBEXPRESS와 -emExpressPort 5500은 4장의 EM Database Express를 함께 구성해 브라우저로 즉시 모니터링하게 하고 -dbsnmpPassword는 DBSNMP 계정 비밀번호다. 사일런트 명령 한 줄에는 저장소·메모리·문자 집합·백업·관리 도구·비밀번호까지 초기 상태를 결정하는 거의 모든 설계 결정이 응축되어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생성과 대칭으로 데이터베이스를 삭제하는 명령도 사일런트로 실행한다. -deleteDatabase는 인스턴스를 종료하고 모든 데이터베이스 파일을 제거한다. -sourceDB는 삭제 대상 데이터베이스를 지정하고 -sysPassword로 관리 인증을 수행한다. 이 명령은 되돌릴 수 없는 파괴적 작업이므로 대상 이름을 두 번 세 번 확인하고 반드시 사전에 백업이 존재하는지 검증한 뒤 실행해야 한다. 생성이 끝나면 반드시 결과를 검증한다. SQL*Plus로 접속해 v$database로 CDB가 READ WRITE·ARCHIVELOG로 정상 열렸는지, v$pdbs로 PDB(pdb1)가 만들어졌는지, nls_database_parameters로 문자 집합이 AL32UTF8로 생성되었는지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커맨드라인에 인자를 길게 나열하는 대신 응답 파일(response file)에 값을 채워 -responseFile로 넘길 수도 있다. DBCA는 데이터베이스를 즉시 만드는 대신 '데이터베이스 생성 스크립트'만 생성하도록 지시할 수도 있다(-generateScripts 계열 옵션 또는 대화형 마법사의 스크립트 생성 선택). 이렇게 생성된 스크립트를 검토·수정한 뒤 수동 실행하면 DBCA의 편의성과 SQL 스크립트 방식의 투명성·재현성을 동시에 얻는다. 이는 이 장의 두 번째 학습 목표인 DBCA로 데이터베이스 생성 스크립트 생성하기에 해당한다. [Best Practice] 운영에서 반복 생성하는 데이터베이스는 사일런트 명령이나 응답 파일을 셸 스크립트로 저장해 형상 관리(Git 등)에 넣어라. 그래야 어떤 옵션·문자 집합·메모리·FRA로 만들었는지가 코드로 남아 재해 복구나 동일 환경 재구축 시 그대로 재현할 수 있다. 비밀번호를 스크립트에 평문으로 두지 말고 실행 시점에 변수로 주입하거나 지갑(wallet)/시크릿 매니저를 사용하라. 예제의 Welcome_1 같은 값은 학습용일 뿐 실제 운영에서는 절대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Q1-(d): 계획 항목은 논리적/물리적 저장소, 전체 설계, 백업 전략이다. 화면 색상은 데이터베이스 생성 계획과 무관하다. 정답 Q2-(b): 워크로드가 불확실하면 범용/트랜잭션 처리 템플릿이 안전한 기본값이며 시드 복제로 생성도 빠르다. 정답 Q3-(c): 7비트는 128자, 8비트가 256자다. 싱글바이트가 저장/성능 효율이 좋고 문자 집합 변경은 어렵다. AL32UTF8은 ASCII의 엄격한 상위 집합이 맞다.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Q4-(b): 데이터베이스가 모든 클라이언트 문자를 담을 수 있어야 손실이 없으므로 상위 집합(또는 동등)이어야 한다. 정답 Q5-(b): NLS_LANG이 서버 문자 집합과 같아 변환이 필요 없어 보이므로 변환이 생략되고 손상된 바이트가 조용히 저장된다. 올바른 값은 WE8MSWIN1252다. 정답 Q6-(d): 사일런트 모드는 그래픽이 필요 없어 헤드리스 서버·자동화에 적합하다. 그래픽이 필요한 것은 대화형 모드다.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  ·  제5장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DBCA를 이용한 Oracle 데이터베이스 생성</a:t>
            </a:r>
          </a:p>
        </p:txBody>
      </p:sp>
      <p:sp>
        <p:nvSpPr>
          <p:cNvPr id="5" name="TextBox 4"/>
          <p:cNvSpPr txBox="1"/>
          <p:nvPr/>
        </p:nvSpPr>
        <p:spPr>
          <a:xfrm>
            <a:off x="1188720" y="4297680"/>
            <a:ext cx="10058400" cy="1280160"/>
          </a:xfrm>
          <a:prstGeom prst="rect">
            <a:avLst/>
          </a:prstGeom>
          <a:noFill/>
        </p:spPr>
        <p:txBody>
          <a:bodyPr wrap="square">
            <a:spAutoFit/>
          </a:bodyPr>
          <a:lstStyle/>
          <a:p>
            <a:r>
              <a:rPr sz="1800" b="0">
                <a:solidFill>
                  <a:srgbClr val="C5CED6"/>
                </a:solidFill>
                <a:latin typeface="Malgun Gothic"/>
              </a:rPr>
              <a:t>생성 전 계획 · 템플릿 선택 · 문자 집합 · NLS_LANG · 문자 손상 진단 · DBCA 대화형/사일런트 모드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학습 목표 (Objectives)</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700" b="0">
                <a:solidFill>
                  <a:srgbClr val="202830"/>
                </a:solidFill>
                <a:latin typeface="Malgun Gothic"/>
              </a:rPr>
              <a:t>생성 전 계획(논리적 저장소·물리적 구현·전체 설계·백업 전략)을 설명한다</a:t>
            </a:r>
          </a:p>
          <a:p>
            <a:pPr>
              <a:spcAft>
                <a:spcPts val="600"/>
              </a:spcAft>
            </a:pPr>
            <a:r>
              <a:rPr sz="1700" b="0">
                <a:solidFill>
                  <a:srgbClr val="202830"/>
                </a:solidFill>
                <a:latin typeface="Malgun Gothic"/>
              </a:rPr>
              <a:t>DBCA 템플릿(General Purpose·Custom·Data Warehouse)의 차이를 이해하고 선택한다</a:t>
            </a:r>
          </a:p>
          <a:p>
            <a:pPr>
              <a:spcAft>
                <a:spcPts val="600"/>
              </a:spcAft>
            </a:pPr>
            <a:r>
              <a:rPr sz="1700" b="0">
                <a:solidFill>
                  <a:srgbClr val="202830"/>
                </a:solidFill>
                <a:latin typeface="Malgun Gothic"/>
              </a:rPr>
              <a:t>싱글바이트·멀티바이트·유니버설(유니코드) 문자 집합을 구분하고 적절히 선택한다</a:t>
            </a:r>
          </a:p>
          <a:p>
            <a:pPr>
              <a:spcAft>
                <a:spcPts val="600"/>
              </a:spcAft>
            </a:pPr>
            <a:r>
              <a:rPr sz="1700" b="0">
                <a:solidFill>
                  <a:srgbClr val="202830"/>
                </a:solidFill>
                <a:latin typeface="Malgun Gothic"/>
              </a:rPr>
              <a:t>데이터베이스 문자 집합과 클라이언트 NLS_LANG의 관계·변환 시점을 설명한다</a:t>
            </a:r>
          </a:p>
          <a:p>
            <a:pPr>
              <a:spcAft>
                <a:spcPts val="600"/>
              </a:spcAft>
            </a:pPr>
            <a:r>
              <a:rPr sz="1700" b="0">
                <a:solidFill>
                  <a:srgbClr val="202830"/>
                </a:solidFill>
                <a:latin typeface="Malgun Gothic"/>
              </a:rPr>
              <a:t>NLS_LANG 오설정이 데이터를 손상시키는 원리를 분석하고 예방·진단한다</a:t>
            </a:r>
          </a:p>
          <a:p>
            <a:pPr>
              <a:spcAft>
                <a:spcPts val="600"/>
              </a:spcAft>
            </a:pPr>
            <a:r>
              <a:rPr sz="1700" b="0">
                <a:solidFill>
                  <a:srgbClr val="202830"/>
                </a:solidFill>
                <a:latin typeface="Malgun Gothic"/>
              </a:rPr>
              <a:t>DBCA로 데이터베이스를 생성하고 생성 스크립트를 만든다(대화형/사일런트)</a:t>
            </a:r>
          </a:p>
          <a:p>
            <a:pPr>
              <a:spcAft>
                <a:spcPts val="600"/>
              </a:spcAft>
            </a:pPr>
            <a:r>
              <a:rPr sz="1700" b="0">
                <a:solidFill>
                  <a:srgbClr val="202830"/>
                </a:solidFill>
                <a:latin typeface="Malgun Gothic"/>
              </a:rPr>
              <a:t>사일런트 모드로 CDB 생성(-createDatabase)·삭제(-deleteDatabase) 명령을 작성한다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이 장의 구성 (Agenda)</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5.1 데이터베이스 생성 전의 계획(저장소·설계·백업)</a:t>
            </a:r>
          </a:p>
          <a:p>
            <a:pPr>
              <a:spcAft>
                <a:spcPts val="600"/>
              </a:spcAft>
            </a:pPr>
            <a:r>
              <a:rPr sz="1800" b="0">
                <a:solidFill>
                  <a:srgbClr val="202830"/>
                </a:solidFill>
                <a:latin typeface="Malgun Gothic"/>
              </a:rPr>
              <a:t>5.2 데이터베이스 템플릿 선택(General Purpose·Custom·Data Warehouse)</a:t>
            </a:r>
          </a:p>
          <a:p>
            <a:pPr>
              <a:spcAft>
                <a:spcPts val="600"/>
              </a:spcAft>
            </a:pPr>
            <a:r>
              <a:rPr sz="1800" b="0">
                <a:solidFill>
                  <a:srgbClr val="202830"/>
                </a:solidFill>
                <a:latin typeface="Malgun Gothic"/>
              </a:rPr>
              <a:t>5.3 적절한 문자 집합 선택(싱글바이트·멀티바이트·유니코드·한국어)</a:t>
            </a:r>
          </a:p>
          <a:p>
            <a:pPr>
              <a:spcAft>
                <a:spcPts val="600"/>
              </a:spcAft>
            </a:pPr>
            <a:r>
              <a:rPr sz="1800" b="0">
                <a:solidFill>
                  <a:srgbClr val="202830"/>
                </a:solidFill>
                <a:latin typeface="Malgun Gothic"/>
              </a:rPr>
              <a:t>5.4 문자 집합은 어떻게 사용되는가(NLS_LANG·자동 변환)</a:t>
            </a:r>
          </a:p>
          <a:p>
            <a:pPr>
              <a:spcAft>
                <a:spcPts val="600"/>
              </a:spcAft>
            </a:pPr>
            <a:r>
              <a:rPr sz="1800" b="0">
                <a:solidFill>
                  <a:srgbClr val="202830"/>
                </a:solidFill>
                <a:latin typeface="Malgun Gothic"/>
              </a:rPr>
              <a:t>5.5 클라이언트에서 NLS_LANG을 올바로 설정하기(손상 원리·진단)</a:t>
            </a:r>
          </a:p>
          <a:p>
            <a:pPr>
              <a:spcAft>
                <a:spcPts val="600"/>
              </a:spcAft>
            </a:pPr>
            <a:r>
              <a:rPr sz="1800" b="0">
                <a:solidFill>
                  <a:srgbClr val="202830"/>
                </a:solidFill>
                <a:latin typeface="Malgun Gothic"/>
              </a:rPr>
              <a:t>5.6 DBCA 개요(작업·모드·템플릿·마법사 단계)</a:t>
            </a:r>
          </a:p>
          <a:p>
            <a:pPr>
              <a:spcAft>
                <a:spcPts val="600"/>
              </a:spcAft>
            </a:pPr>
            <a:r>
              <a:rPr sz="1800" b="0">
                <a:solidFill>
                  <a:srgbClr val="202830"/>
                </a:solidFill>
                <a:latin typeface="Malgun Gothic"/>
              </a:rPr>
              <a:t>5.7 DBCA 사일런트 모드 실습  ·  5.8 퀴즈  ·  5.9 요약  ·  5.10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데이터베이스 생성 전의 계획</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생성 전에 반드시 계획할 세 가지: 저장소 구조 · 전체 설계 · 백업 전략</a:t>
            </a:r>
          </a:p>
          <a:p>
            <a:pPr>
              <a:spcAft>
                <a:spcPts val="400"/>
              </a:spcAft>
            </a:pPr>
            <a:r>
              <a:rPr sz="1600" b="0">
                <a:solidFill>
                  <a:srgbClr val="C5CED6"/>
                </a:solidFill>
                <a:latin typeface="Malgun Gothic"/>
              </a:rPr>
              <a:t>•  생성 마법사를 켜는 순간 즉흥 결정하기엔 파급 효과가 너무 크다</a:t>
            </a:r>
          </a:p>
          <a:p>
            <a:pPr>
              <a:spcAft>
                <a:spcPts val="400"/>
              </a:spcAft>
            </a:pPr>
            <a:r>
              <a:rPr sz="1600" b="0">
                <a:solidFill>
                  <a:srgbClr val="C5CED6"/>
                </a:solidFill>
                <a:latin typeface="Malgun Gothic"/>
              </a:rPr>
              <a:t>•  계획 단계의 결정이 이후 성능과 관리 난이도를 좌우한다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5.1 생성 전 계획해야 할 세 가지</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① 논리적 저장소 구조와 그 물리적 구현</a:t>
            </a:r>
          </a:p>
          <a:p>
            <a:pPr>
              <a:spcAft>
                <a:spcPts val="600"/>
              </a:spcAft>
            </a:pPr>
            <a:r>
              <a:rPr sz="1800" b="0">
                <a:solidFill>
                  <a:srgbClr val="202830"/>
                </a:solidFill>
                <a:latin typeface="Malgun Gothic"/>
              </a:rPr>
              <a:t>② 전체 데이터베이스 설계</a:t>
            </a:r>
          </a:p>
          <a:p>
            <a:pPr>
              <a:spcAft>
                <a:spcPts val="600"/>
              </a:spcAft>
            </a:pPr>
            <a:r>
              <a:rPr sz="1800" b="0">
                <a:solidFill>
                  <a:srgbClr val="202830"/>
                </a:solidFill>
                <a:latin typeface="Malgun Gothic"/>
              </a:rPr>
              <a:t>③ 데이터베이스 백업 전략</a:t>
            </a:r>
          </a:p>
          <a:p>
            <a:pPr>
              <a:spcAft>
                <a:spcPts val="600"/>
              </a:spcAft>
            </a:pPr>
            <a:r>
              <a:rPr sz="1800" b="0">
                <a:solidFill>
                  <a:srgbClr val="202830"/>
                </a:solidFill>
                <a:latin typeface="Malgun Gothic"/>
              </a:rPr>
              <a:t>생성 마법사 실행 순간에 즉흥 결정하기엔 파급 효과가 너무 큼</a:t>
            </a:r>
          </a:p>
          <a:p>
            <a:pPr>
              <a:spcAft>
                <a:spcPts val="600"/>
              </a:spcAft>
            </a:pPr>
            <a:r>
              <a:rPr sz="1800" b="0">
                <a:solidFill>
                  <a:srgbClr val="202830"/>
                </a:solidFill>
                <a:latin typeface="Malgun Gothic"/>
              </a:rPr>
              <a:t>→ '화이트보드 위'에서 먼저 끝내야 하는 작업</a:t>
            </a:r>
          </a:p>
          <a:p>
            <a:pPr>
              <a:spcAft>
                <a:spcPts val="600"/>
              </a:spcAft>
            </a:pPr>
            <a:r>
              <a:rPr sz="1800" b="0">
                <a:solidFill>
                  <a:srgbClr val="202830"/>
                </a:solidFill>
                <a:latin typeface="Malgun Gothic"/>
              </a:rPr>
              <a:t>계획 단계의 결정 = 이후 시스템 성능·관리 작업 난이도를 좌우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5.1.1 논리적 저장소 구조와 물리적 구현</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테이블스페이스 생성 전에 알아야 할 것: 데이터 파일 수, 저장 정보 종류, 물리 위치</a:t>
            </a:r>
          </a:p>
          <a:p>
            <a:pPr>
              <a:spcAft>
                <a:spcPts val="600"/>
              </a:spcAft>
            </a:pPr>
            <a:r>
              <a:rPr sz="1800" b="0">
                <a:solidFill>
                  <a:srgbClr val="202830"/>
                </a:solidFill>
                <a:latin typeface="Malgun Gothic"/>
              </a:rPr>
              <a:t>확인 질문: 어떤 저장소(로컬/NAS/SAN/ASM)를 쓸 것인가?</a:t>
            </a:r>
          </a:p>
          <a:p>
            <a:pPr>
              <a:spcAft>
                <a:spcPts val="600"/>
              </a:spcAft>
            </a:pPr>
            <a:r>
              <a:rPr sz="1800" b="0">
                <a:solidFill>
                  <a:srgbClr val="202830"/>
                </a:solidFill>
                <a:latin typeface="Malgun Gothic"/>
              </a:rPr>
              <a:t>테이블스페이스는 몇 개, 각 데이터 파일은 몇 개 필요한가?</a:t>
            </a:r>
          </a:p>
          <a:p>
            <a:pPr>
              <a:spcAft>
                <a:spcPts val="600"/>
              </a:spcAft>
            </a:pPr>
            <a:r>
              <a:rPr sz="1800" b="0">
                <a:solidFill>
                  <a:srgbClr val="202830"/>
                </a:solidFill>
                <a:latin typeface="Malgun Gothic"/>
              </a:rPr>
              <a:t>어떤 정보(OLTP 트랜잭션·이력/분석·LOB)를 저장하는가?</a:t>
            </a:r>
          </a:p>
          <a:p>
            <a:pPr>
              <a:spcAft>
                <a:spcPts val="600"/>
              </a:spcAft>
            </a:pPr>
            <a:r>
              <a:rPr sz="1800" b="0">
                <a:solidFill>
                  <a:srgbClr val="202830"/>
                </a:solidFill>
                <a:latin typeface="Malgun Gothic"/>
              </a:rPr>
              <a:t>특별한 저장소 요구를 갖는 객체(초대형 파티션·BLOB·IOT)가 있는가?</a:t>
            </a:r>
          </a:p>
          <a:p>
            <a:pPr>
              <a:spcAft>
                <a:spcPts val="600"/>
              </a:spcAft>
            </a:pPr>
            <a:r>
              <a:rPr sz="1800" b="0">
                <a:solidFill>
                  <a:srgbClr val="202830"/>
                </a:solidFill>
                <a:latin typeface="Malgun Gothic"/>
              </a:rPr>
              <a:t>이 결정은 운영 중 변경 시 상당한 비용·다운타임을 수반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저장소 유형 네 가지와 OMF</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로컬 디스크 — 단순·저지연이나 확장성·고가용성 한계. 소규모·개발용</a:t>
            </a:r>
          </a:p>
          <a:p>
            <a:pPr>
              <a:spcAft>
                <a:spcPts val="600"/>
              </a:spcAft>
            </a:pPr>
            <a:r>
              <a:rPr sz="1800" b="0">
                <a:solidFill>
                  <a:srgbClr val="202830"/>
                </a:solidFill>
                <a:latin typeface="Malgun Gothic"/>
              </a:rPr>
              <a:t>NAS — 파일 수준 공유. NAS 가용성·프라이빗 네트워크 대역폭이 성능 좌우</a:t>
            </a:r>
          </a:p>
          <a:p>
            <a:pPr>
              <a:spcAft>
                <a:spcPts val="600"/>
              </a:spcAft>
            </a:pPr>
            <a:r>
              <a:rPr sz="1800" b="0">
                <a:solidFill>
                  <a:srgbClr val="202830"/>
                </a:solidFill>
                <a:latin typeface="Malgun Gothic"/>
              </a:rPr>
              <a:t>SAN — 블록 수준 고성능. LUN 구성·스트라이프 크기를 알아야 성능 예측 가능</a:t>
            </a:r>
          </a:p>
          <a:p>
            <a:pPr>
              <a:spcAft>
                <a:spcPts val="600"/>
              </a:spcAft>
            </a:pPr>
            <a:r>
              <a:rPr sz="1800" b="0">
                <a:solidFill>
                  <a:srgbClr val="202830"/>
                </a:solidFill>
                <a:latin typeface="Malgun Gothic"/>
              </a:rPr>
              <a:t>Oracle ASM — Oracle 볼륨 관리자, 자동 스트라이핑·미러링. RAC 표준(34장)</a:t>
            </a:r>
          </a:p>
          <a:p>
            <a:pPr>
              <a:spcAft>
                <a:spcPts val="600"/>
              </a:spcAft>
            </a:pPr>
            <a:r>
              <a:rPr sz="1800" b="0">
                <a:solidFill>
                  <a:srgbClr val="202830"/>
                </a:solidFill>
                <a:latin typeface="Malgun Gothic"/>
              </a:rPr>
              <a:t>OMF(Oracle Managed Files): 몇 개 파라미터로 위치만 지정, 파일명은 Oracle이 자동 관리</a:t>
            </a:r>
          </a:p>
          <a:p>
            <a:pPr>
              <a:spcAft>
                <a:spcPts val="600"/>
              </a:spcAft>
            </a:pPr>
            <a:r>
              <a:rPr sz="1800" b="0">
                <a:solidFill>
                  <a:srgbClr val="202830"/>
                </a:solidFill>
                <a:latin typeface="Malgun Gothic"/>
              </a:rPr>
              <a:t>→ 표준 명명·자동 정리를 얻는 대신 파일명 직접 통제 자유는 일부 포기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실무 시나리오 — '디스크가 남는데 왜 느리죠?'</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C0392B"/>
                </a:solidFill>
                <a:latin typeface="Malgun Gothic"/>
              </a:rPr>
              <a:t>실무 시나리오:</a:t>
            </a:r>
          </a:p>
          <a:p>
            <a:pPr>
              <a:spcAft>
                <a:spcPts val="600"/>
              </a:spcAft>
            </a:pPr>
            <a:r>
              <a:rPr sz="1800" b="0">
                <a:solidFill>
                  <a:srgbClr val="202830"/>
                </a:solidFill>
                <a:latin typeface="Malgun Gothic"/>
              </a:rPr>
              <a:t>운영 6개월 차 배치 성능 급락 — 용량은 40%만 찼는데 야간 집계가 2배 이상 소요</a:t>
            </a:r>
          </a:p>
          <a:p>
            <a:pPr>
              <a:spcAft>
                <a:spcPts val="600"/>
              </a:spcAft>
            </a:pPr>
            <a:r>
              <a:rPr sz="1800" b="0">
                <a:solidFill>
                  <a:srgbClr val="202830"/>
                </a:solidFill>
                <a:latin typeface="Malgun Gothic"/>
              </a:rPr>
              <a:t>원인: REDO 로그 · UNDO 테이블스페이스 · 대형 팩트 테이블 데이터 파일이</a:t>
            </a:r>
          </a:p>
          <a:p>
            <a:pPr>
              <a:spcAft>
                <a:spcPts val="600"/>
              </a:spcAft>
            </a:pPr>
            <a:r>
              <a:rPr sz="1800" b="0">
                <a:solidFill>
                  <a:srgbClr val="202830"/>
                </a:solidFill>
                <a:latin typeface="Malgun Gothic"/>
              </a:rPr>
              <a:t>모두 같은 물리 볼륨에 놓여 쓰기 경합 발생</a:t>
            </a:r>
          </a:p>
          <a:p>
            <a:pPr>
              <a:spcAft>
                <a:spcPts val="600"/>
              </a:spcAft>
            </a:pPr>
            <a:r>
              <a:rPr sz="1800" b="0">
                <a:solidFill>
                  <a:srgbClr val="202830"/>
                </a:solidFill>
                <a:latin typeface="Malgun Gothic"/>
              </a:rPr>
              <a:t>뿌리는 튜닝이 아니라 '계획' — 생성 시 REDO/UNDO/데이터/인덱스를</a:t>
            </a:r>
          </a:p>
          <a:p>
            <a:pPr>
              <a:spcAft>
                <a:spcPts val="600"/>
              </a:spcAft>
            </a:pPr>
            <a:r>
              <a:rPr sz="1800" b="0">
                <a:solidFill>
                  <a:srgbClr val="202830"/>
                </a:solidFill>
                <a:latin typeface="Malgun Gothic"/>
              </a:rPr>
              <a:t>서로 다른 I/O 경로에 분산 설계했다면 애초에 없었을 병목</a:t>
            </a:r>
          </a:p>
          <a:p>
            <a:pPr>
              <a:spcAft>
                <a:spcPts val="600"/>
              </a:spcAft>
            </a:pPr>
            <a:r>
              <a:rPr sz="1800" b="0">
                <a:solidFill>
                  <a:srgbClr val="202830"/>
                </a:solidFill>
                <a:latin typeface="Malgun Gothic"/>
              </a:rPr>
              <a:t>→ 논리 설계(테이블스페이스)와 물리 구현(파일 위치)을 항상 함께 그려두라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5.1.2 전체 설계  ·  5.1.3 백업 전략</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전체 설계: 저장소 구조가 실제 생성·실행 시 미칠 영향을 함께 고려</a:t>
            </a:r>
          </a:p>
          <a:p>
            <a:pPr>
              <a:spcAft>
                <a:spcPts val="600"/>
              </a:spcAft>
            </a:pPr>
            <a:r>
              <a:rPr sz="1800" b="0">
                <a:solidFill>
                  <a:srgbClr val="202830"/>
                </a:solidFill>
                <a:latin typeface="Malgun Gothic"/>
              </a:rPr>
              <a:t>특별한 저장소 요구 객체는 별도 테이블스페이스/전용 저장소로 분리</a:t>
            </a:r>
          </a:p>
          <a:p>
            <a:pPr>
              <a:spcAft>
                <a:spcPts val="600"/>
              </a:spcAft>
            </a:pPr>
            <a:r>
              <a:rPr sz="1800" b="0">
                <a:solidFill>
                  <a:srgbClr val="202830"/>
                </a:solidFill>
                <a:latin typeface="Malgun Gothic"/>
              </a:rPr>
              <a:t>분산 DB에서는 '데이터 지역성(data locality)' 설계로 네트워크 왕복 절감</a:t>
            </a:r>
          </a:p>
          <a:p>
            <a:pPr>
              <a:spcAft>
                <a:spcPts val="600"/>
              </a:spcAft>
            </a:pPr>
            <a:r>
              <a:rPr sz="1800" b="0">
                <a:solidFill>
                  <a:srgbClr val="202830"/>
                </a:solidFill>
                <a:latin typeface="Malgun Gothic"/>
              </a:rPr>
              <a:t>백업 전략: 사후 작업이 아니라 생성 시점 설계 결정에 직접 영향</a:t>
            </a:r>
          </a:p>
          <a:p>
            <a:pPr>
              <a:spcAft>
                <a:spcPts val="600"/>
              </a:spcAft>
            </a:pPr>
            <a:r>
              <a:rPr sz="1800" b="0">
                <a:solidFill>
                  <a:srgbClr val="202830"/>
                </a:solidFill>
                <a:latin typeface="Malgun Gothic"/>
              </a:rPr>
              <a:t>RTO/RPO 만족 → ARCHIVELOG 필요 → FRA 위치·크기를 생성 시점에 결정</a:t>
            </a:r>
          </a:p>
          <a:p>
            <a:pPr>
              <a:spcAft>
                <a:spcPts val="600"/>
              </a:spcAft>
            </a:pPr>
            <a:r>
              <a:rPr sz="1800" b="0">
                <a:solidFill>
                  <a:srgbClr val="202830"/>
                </a:solidFill>
                <a:latin typeface="Malgun Gothic"/>
              </a:rPr>
              <a:t>읽기전용 이력 데이터는 별도 테이블스페이스로 분리해 한 번만 백업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모범 사례 — 생성 시점에 백업 전략을 확정하라</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C0392B"/>
                </a:solidFill>
                <a:latin typeface="Malgun Gothic"/>
              </a:rPr>
              <a:t>모범 사례:</a:t>
            </a:r>
          </a:p>
          <a:p>
            <a:pPr>
              <a:spcAft>
                <a:spcPts val="600"/>
              </a:spcAft>
            </a:pPr>
            <a:r>
              <a:rPr sz="1800" b="0">
                <a:solidFill>
                  <a:srgbClr val="202830"/>
                </a:solidFill>
                <a:latin typeface="Malgun Gothic"/>
              </a:rPr>
              <a:t>DBCA의 'Enable archiving'과 Fast Recovery Area 설정을 그냥 넘기지 말고</a:t>
            </a:r>
          </a:p>
          <a:p>
            <a:pPr>
              <a:spcAft>
                <a:spcPts val="600"/>
              </a:spcAft>
            </a:pPr>
            <a:r>
              <a:rPr sz="1800" b="0">
                <a:solidFill>
                  <a:srgbClr val="202830"/>
                </a:solidFill>
                <a:latin typeface="Malgun Gothic"/>
              </a:rPr>
              <a:t>백업 정책과 연동해 결정하라</a:t>
            </a:r>
          </a:p>
          <a:p>
            <a:pPr>
              <a:spcAft>
                <a:spcPts val="600"/>
              </a:spcAft>
            </a:pPr>
            <a:r>
              <a:rPr sz="1800" b="0">
                <a:solidFill>
                  <a:srgbClr val="202830"/>
                </a:solidFill>
                <a:latin typeface="Malgun Gothic"/>
              </a:rPr>
              <a:t>아카이브 로그 모드가 꺼진 채 운영에 들어가면 온라인 백업·시점 복구(PITR) 불가</a:t>
            </a:r>
          </a:p>
          <a:p>
            <a:pPr>
              <a:spcAft>
                <a:spcPts val="600"/>
              </a:spcAft>
            </a:pPr>
            <a:r>
              <a:rPr sz="1800" b="0">
                <a:solidFill>
                  <a:srgbClr val="202830"/>
                </a:solidFill>
                <a:latin typeface="Malgun Gothic"/>
              </a:rPr>
              <a:t>→ 나중에 반드시 다운타임을 감수하고 모드를 바꿔야 함</a:t>
            </a:r>
          </a:p>
          <a:p>
            <a:pPr>
              <a:spcAft>
                <a:spcPts val="600"/>
              </a:spcAft>
            </a:pPr>
            <a:r>
              <a:rPr sz="1800" b="0">
                <a:solidFill>
                  <a:srgbClr val="202830"/>
                </a:solidFill>
                <a:latin typeface="Malgun Gothic"/>
              </a:rPr>
              <a:t>생성 직후 RMAN 전체 백업을 한 번 떠두는 것을 표준 절차로 → 최초 구성 안전망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데이터베이스 템플릿 선택</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데이터베이스 유형마다 고유한 인스턴스·저장소 요구사항을 가짐</a:t>
            </a:r>
          </a:p>
          <a:p>
            <a:pPr>
              <a:spcAft>
                <a:spcPts val="400"/>
              </a:spcAft>
            </a:pPr>
            <a:r>
              <a:rPr sz="1600" b="0">
                <a:solidFill>
                  <a:srgbClr val="C5CED6"/>
                </a:solidFill>
                <a:latin typeface="Malgun Gothic"/>
              </a:rPr>
              <a:t>•  Oracle은 미리 만든 템플릿을 제공, DBCA가 그중 하나를 고르게 함</a:t>
            </a:r>
          </a:p>
          <a:p>
            <a:pPr>
              <a:spcAft>
                <a:spcPts val="400"/>
              </a:spcAft>
            </a:pPr>
            <a:r>
              <a:rPr sz="1600" b="0">
                <a:solidFill>
                  <a:srgbClr val="C5CED6"/>
                </a:solidFill>
                <a:latin typeface="Malgun Gothic"/>
              </a:rPr>
              <a:t>•  General Purpose · Custom · Data Warehouse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5.2 템플릿 선택 개요</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서로 다른 유형의 DB는 각자 고유한 인스턴스·저장소 요구사항을 가짐</a:t>
            </a:r>
          </a:p>
          <a:p>
            <a:pPr>
              <a:spcAft>
                <a:spcPts val="600"/>
              </a:spcAft>
            </a:pPr>
            <a:r>
              <a:rPr sz="1800" b="0">
                <a:solidFill>
                  <a:srgbClr val="202830"/>
                </a:solidFill>
                <a:latin typeface="Malgun Gothic"/>
              </a:rPr>
              <a:t>OLTP: 짧은 트랜잭션 대량 처리 → 작은 블록·빠른 커밋에 유리하게 구성</a:t>
            </a:r>
          </a:p>
          <a:p>
            <a:pPr>
              <a:spcAft>
                <a:spcPts val="600"/>
              </a:spcAft>
            </a:pPr>
            <a:r>
              <a:rPr sz="1800" b="0">
                <a:solidFill>
                  <a:srgbClr val="202830"/>
                </a:solidFill>
                <a:latin typeface="Malgun Gothic"/>
              </a:rPr>
              <a:t>데이터 웨어하우스: 대량 스캔·집계에 유리하게 구성</a:t>
            </a:r>
          </a:p>
          <a:p>
            <a:pPr>
              <a:spcAft>
                <a:spcPts val="600"/>
              </a:spcAft>
            </a:pPr>
            <a:r>
              <a:rPr sz="1800" b="0">
                <a:solidFill>
                  <a:srgbClr val="202830"/>
                </a:solidFill>
                <a:latin typeface="Malgun Gothic"/>
              </a:rPr>
              <a:t>Oracle 소프트웨어에는 이런 유형을 손쉽게 만드는 템플릿이 내장</a:t>
            </a:r>
          </a:p>
          <a:p>
            <a:pPr>
              <a:spcAft>
                <a:spcPts val="600"/>
              </a:spcAft>
            </a:pPr>
            <a:r>
              <a:rPr sz="1800" b="0">
                <a:solidFill>
                  <a:srgbClr val="202830"/>
                </a:solidFill>
                <a:latin typeface="Malgun Gothic"/>
              </a:rPr>
              <a:t>DBCA는 생성 시 이 템플릿 중 하나를 선택하게 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세 가지 대표 템플릿의 특성</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General Purpose / Transaction Processing — OLTP에 적합, 트랜잭션 처리+중기 보관</a:t>
            </a:r>
          </a:p>
          <a:p>
            <a:pPr>
              <a:spcAft>
                <a:spcPts val="600"/>
              </a:spcAft>
            </a:pPr>
            <a:r>
              <a:rPr sz="1800" b="0">
                <a:solidFill>
                  <a:srgbClr val="202830"/>
                </a:solidFill>
                <a:latin typeface="Malgun Gothic"/>
              </a:rPr>
              <a:t>   예: 소매 청구 시스템, 원비 청구 등 일상 업무 시스템 (안전한 기본값)</a:t>
            </a:r>
          </a:p>
          <a:p>
            <a:pPr>
              <a:spcAft>
                <a:spcPts val="600"/>
              </a:spcAft>
            </a:pPr>
            <a:r>
              <a:rPr sz="1800" b="0">
                <a:solidFill>
                  <a:srgbClr val="202830"/>
                </a:solidFill>
                <a:latin typeface="Malgun Gothic"/>
              </a:rPr>
              <a:t>Custom — 범용/DW에 안 맞는 커스터마이즈 DB(OLTP+DW 혼합 등)</a:t>
            </a:r>
          </a:p>
          <a:p>
            <a:pPr>
              <a:spcAft>
                <a:spcPts val="600"/>
              </a:spcAft>
            </a:pPr>
            <a:r>
              <a:rPr sz="1800" b="0">
                <a:solidFill>
                  <a:srgbClr val="202830"/>
                </a:solidFill>
                <a:latin typeface="Malgun Gothic"/>
              </a:rPr>
              <a:t>   옵션·컴포넌트·파라미터를 세밀히 지정, 시드 복사 없이 스크립트 생성 → 느림</a:t>
            </a:r>
          </a:p>
          <a:p>
            <a:pPr>
              <a:spcAft>
                <a:spcPts val="600"/>
              </a:spcAft>
            </a:pPr>
            <a:r>
              <a:rPr sz="1800" b="0">
                <a:solidFill>
                  <a:srgbClr val="202830"/>
                </a:solidFill>
                <a:latin typeface="Malgun Gothic"/>
              </a:rPr>
              <a:t>Data Warehouse — 장기 보관·읽기(조회·집계) 위주</a:t>
            </a:r>
          </a:p>
          <a:p>
            <a:pPr>
              <a:spcAft>
                <a:spcPts val="600"/>
              </a:spcAft>
            </a:pPr>
            <a:r>
              <a:rPr sz="1800" b="0">
                <a:solidFill>
                  <a:srgbClr val="202830"/>
                </a:solidFill>
                <a:latin typeface="Malgun Gothic"/>
              </a:rPr>
              <a:t>   예: 연구/마케팅 분석, 세금 납부 이력, 라이선스 이력 등 장기 대량 조회 데이터</a:t>
            </a:r>
          </a:p>
          <a:p>
            <a:pPr>
              <a:spcAft>
                <a:spcPts val="600"/>
              </a:spcAft>
            </a:pPr>
            <a:r>
              <a:rPr sz="1800" b="0">
                <a:solidFill>
                  <a:srgbClr val="202830"/>
                </a:solidFill>
                <a:latin typeface="Malgun Gothic"/>
              </a:rPr>
              <a:t>확신이 안 서면 → General Purpose or Transaction Processing 선택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블록 크기와 시드형 vs 커스텀 템플릿</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블록 크기(DB_BLOCK_SIZE): OLTP는 8KB 표준, DW는 16KB+가 I/O 효율에 유리</a:t>
            </a:r>
          </a:p>
          <a:p>
            <a:pPr>
              <a:spcAft>
                <a:spcPts val="600"/>
              </a:spcAft>
            </a:pPr>
            <a:r>
              <a:rPr sz="1800" b="0">
                <a:solidFill>
                  <a:srgbClr val="202830"/>
                </a:solidFill>
                <a:latin typeface="Malgun Gothic"/>
              </a:rPr>
              <a:t>블록 크기도 생성 시점에 정해져 이후 변경이 어려움 → 계획 단계에서 신중히</a:t>
            </a:r>
          </a:p>
          <a:p>
            <a:pPr>
              <a:spcAft>
                <a:spcPts val="600"/>
              </a:spcAft>
            </a:pPr>
            <a:r>
              <a:rPr sz="1800" b="0">
                <a:solidFill>
                  <a:srgbClr val="202830"/>
                </a:solidFill>
                <a:latin typeface="Malgun Gothic"/>
              </a:rPr>
              <a:t>General Purpose 템플릿은 표준값을 이미 담고 있어 대부분 기본값으로 충분</a:t>
            </a:r>
          </a:p>
          <a:p>
            <a:pPr>
              <a:spcAft>
                <a:spcPts val="600"/>
              </a:spcAft>
            </a:pPr>
            <a:r>
              <a:rPr sz="1800" b="0">
                <a:solidFill>
                  <a:srgbClr val="C0392B"/>
                </a:solidFill>
                <a:latin typeface="Malgun Gothic"/>
              </a:rPr>
              <a:t>참고: 시드형(GP·DW)은 미리 만든 .dbf·컨트롤 파일을 복사만 → 매우 빠름</a:t>
            </a:r>
          </a:p>
          <a:p>
            <a:pPr>
              <a:spcAft>
                <a:spcPts val="600"/>
              </a:spcAft>
            </a:pPr>
            <a:r>
              <a:rPr sz="1800" b="0">
                <a:solidFill>
                  <a:srgbClr val="C0392B"/>
                </a:solidFill>
                <a:latin typeface="Malgun Gothic"/>
              </a:rPr>
              <a:t>참고: Custom은 시드 없음 → CREATE DATABASE + catalog/catproc.sql 실행 → 느림</a:t>
            </a:r>
          </a:p>
          <a:p>
            <a:pPr>
              <a:spcAft>
                <a:spcPts val="600"/>
              </a:spcAft>
            </a:pPr>
            <a:r>
              <a:rPr sz="1800" b="0">
                <a:solidFill>
                  <a:srgbClr val="202830"/>
                </a:solidFill>
                <a:latin typeface="Malgun Gothic"/>
              </a:rPr>
              <a:t>→ 표준이면 시드형, 세밀한 통제가 필요하면 커스텀형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적절한 문자 집합 선택</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문자 집합은 생성 시점에 선택되며, 이 장에서 가장 신중한 결정</a:t>
            </a:r>
          </a:p>
          <a:p>
            <a:pPr>
              <a:spcAft>
                <a:spcPts val="400"/>
              </a:spcAft>
            </a:pPr>
            <a:r>
              <a:rPr sz="1600" b="0">
                <a:solidFill>
                  <a:srgbClr val="C5CED6"/>
                </a:solidFill>
                <a:latin typeface="Malgun Gothic"/>
              </a:rPr>
              <a:t>•  나중에 바꾸기 매우 어렵고 잘못하면 저장된 데이터를 손상시킴</a:t>
            </a:r>
          </a:p>
          <a:p>
            <a:pPr>
              <a:spcAft>
                <a:spcPts val="400"/>
              </a:spcAft>
            </a:pPr>
            <a:r>
              <a:rPr sz="1600" b="0">
                <a:solidFill>
                  <a:srgbClr val="C5CED6"/>
                </a:solidFill>
                <a:latin typeface="Malgun Gothic"/>
              </a:rPr>
              <a:t>•  현재는 물론 미래 요구까지 충족하는 문자 집합을 처음에 제대로 선택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5.3 문자 집합이란 무엇인가</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컴퓨터는 문자의 모양이 아니라 대응하는 숫자 코드를 사용 (예: 'A'=65)</a:t>
            </a:r>
          </a:p>
          <a:p>
            <a:pPr>
              <a:spcAft>
                <a:spcPts val="600"/>
              </a:spcAft>
            </a:pPr>
            <a:r>
              <a:rPr sz="1800" b="0">
                <a:solidFill>
                  <a:srgbClr val="202830"/>
                </a:solidFill>
                <a:latin typeface="Malgun Gothic"/>
              </a:rPr>
              <a:t>인코딩된 문자 집합 = 숫자 코드를 실제 문자에 매핑한 규칙표</a:t>
            </a:r>
          </a:p>
          <a:p>
            <a:pPr>
              <a:spcAft>
                <a:spcPts val="600"/>
              </a:spcAft>
            </a:pPr>
            <a:r>
              <a:rPr sz="1800" b="0">
                <a:solidFill>
                  <a:srgbClr val="202830"/>
                </a:solidFill>
                <a:latin typeface="Malgun Gothic"/>
              </a:rPr>
              <a:t>문자 집합은 특정 문자 체계(writing system) 기반 → 여러 언어 지원 가능</a:t>
            </a:r>
          </a:p>
          <a:p>
            <a:pPr>
              <a:spcAft>
                <a:spcPts val="600"/>
              </a:spcAft>
            </a:pPr>
            <a:r>
              <a:rPr sz="1800" b="0">
                <a:solidFill>
                  <a:srgbClr val="202830"/>
                </a:solidFill>
                <a:latin typeface="Malgun Gothic"/>
              </a:rPr>
              <a:t>예: 서유럽 문자 집합 하나로 영어·프랑스어·독일어·스페인어</a:t>
            </a:r>
          </a:p>
          <a:p>
            <a:pPr>
              <a:spcAft>
                <a:spcPts val="600"/>
              </a:spcAft>
            </a:pPr>
            <a:r>
              <a:rPr sz="1800" b="0">
                <a:solidFill>
                  <a:srgbClr val="202830"/>
                </a:solidFill>
                <a:latin typeface="Malgun Gothic"/>
              </a:rPr>
              <a:t>그러나 한글·일본어는 담을 수 없음 → 유니버설 문자 집합이 해법</a:t>
            </a:r>
          </a:p>
          <a:p>
            <a:pPr>
              <a:spcAft>
                <a:spcPts val="600"/>
              </a:spcAft>
            </a:pPr>
            <a:r>
              <a:rPr sz="1800" b="0">
                <a:solidFill>
                  <a:srgbClr val="202830"/>
                </a:solidFill>
                <a:latin typeface="Malgun Gothic"/>
              </a:rPr>
              <a:t>Oracle 3대 클래스: 싱글바이트 · 가변폭 멀티바이트 · 유니버설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5.3.2 싱글바이트 문자 집합</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각 문자가 정확히 1바이트를 차지</a:t>
            </a:r>
          </a:p>
          <a:p>
            <a:pPr>
              <a:spcAft>
                <a:spcPts val="600"/>
              </a:spcAft>
            </a:pPr>
            <a:r>
              <a:rPr sz="1800" b="0">
                <a:solidFill>
                  <a:srgbClr val="202830"/>
                </a:solidFill>
                <a:latin typeface="Malgun Gothic"/>
              </a:rPr>
              <a:t>7비트 인코딩: 2^7 = 최대 128자 / 8비트 인코딩: 2^8 = 최대 256자</a:t>
            </a:r>
          </a:p>
          <a:p>
            <a:pPr>
              <a:spcAft>
                <a:spcPts val="600"/>
              </a:spcAft>
            </a:pPr>
            <a:r>
              <a:rPr sz="1800" b="0">
                <a:solidFill>
                  <a:srgbClr val="202830"/>
                </a:solidFill>
                <a:latin typeface="Malgun Gothic"/>
              </a:rPr>
              <a:t>예: US7ASCII(영어 기본), WE8ISO8859P1(서유럽), WE8DEC, I8EBCDIC1144</a:t>
            </a:r>
          </a:p>
          <a:p>
            <a:pPr>
              <a:spcAft>
                <a:spcPts val="600"/>
              </a:spcAft>
            </a:pPr>
            <a:r>
              <a:rPr sz="1800" b="0">
                <a:solidFill>
                  <a:srgbClr val="202830"/>
                </a:solidFill>
                <a:latin typeface="Malgun Gothic"/>
              </a:rPr>
              <a:t>장점: 멀티바이트보다 성능 우수, 저장 공간 가장 효율적(길이 계산 단순)</a:t>
            </a:r>
          </a:p>
          <a:p>
            <a:pPr>
              <a:spcAft>
                <a:spcPts val="600"/>
              </a:spcAft>
            </a:pPr>
            <a:r>
              <a:rPr sz="1800" b="0">
                <a:solidFill>
                  <a:srgbClr val="202830"/>
                </a:solidFill>
                <a:latin typeface="Malgun Gothic"/>
              </a:rPr>
              <a:t>단점: 지원 언어 수가 근본적으로 제한됨</a:t>
            </a:r>
          </a:p>
          <a:p>
            <a:pPr>
              <a:spcAft>
                <a:spcPts val="600"/>
              </a:spcAft>
            </a:pPr>
            <a:r>
              <a:rPr sz="1800" b="0">
                <a:solidFill>
                  <a:srgbClr val="202830"/>
                </a:solidFill>
                <a:latin typeface="Malgun Gothic"/>
              </a:rPr>
              <a:t>→ 한글·중국어·일본어는 128~256자를 넘어 싱글바이트로 표현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5.3.3 멀티바이트 문자 집합</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하나의 문자가 하나 이상의 바이트로 표현(어떤 문자는 1·2·3바이트)</a:t>
            </a:r>
          </a:p>
          <a:p>
            <a:pPr>
              <a:spcAft>
                <a:spcPts val="600"/>
              </a:spcAft>
            </a:pPr>
            <a:r>
              <a:rPr sz="1800" b="0">
                <a:solidFill>
                  <a:srgbClr val="202830"/>
                </a:solidFill>
                <a:latin typeface="Malgun Gothic"/>
              </a:rPr>
              <a:t>주로 아시아 언어(한국어·중국어·일본어) 지원에 사용 — 문자 수가 많기 때문</a:t>
            </a:r>
          </a:p>
          <a:p>
            <a:pPr>
              <a:spcAft>
                <a:spcPts val="600"/>
              </a:spcAft>
            </a:pPr>
            <a:r>
              <a:rPr sz="1800" b="0">
                <a:solidFill>
                  <a:srgbClr val="202830"/>
                </a:solidFill>
                <a:latin typeface="Malgun Gothic"/>
              </a:rPr>
              <a:t>'이 바이트가 한 글자인지, 여러 바이트 글자의 일부인지' 구별 방식이 스킴마다 다름</a:t>
            </a:r>
          </a:p>
          <a:p>
            <a:pPr>
              <a:spcAft>
                <a:spcPts val="600"/>
              </a:spcAft>
            </a:pPr>
            <a:r>
              <a:rPr sz="1800" b="0">
                <a:solidFill>
                  <a:srgbClr val="202830"/>
                </a:solidFill>
                <a:latin typeface="Malgun Gothic"/>
              </a:rPr>
              <a:t>일부: 바이트의 최상위 비트(MSB) 값으로 싱글/멀티바이트를 표시</a:t>
            </a:r>
          </a:p>
          <a:p>
            <a:pPr>
              <a:spcAft>
                <a:spcPts val="600"/>
              </a:spcAft>
            </a:pPr>
            <a:r>
              <a:rPr sz="1800" b="0">
                <a:solidFill>
                  <a:srgbClr val="202830"/>
                </a:solidFill>
                <a:latin typeface="Malgun Gothic"/>
              </a:rPr>
              <a:t>일부: 시프트 제어 코드 — shift-out 이후는 shift-in까지 더블바이트로 해석</a:t>
            </a:r>
          </a:p>
          <a:p>
            <a:pPr>
              <a:spcAft>
                <a:spcPts val="600"/>
              </a:spcAft>
            </a:pPr>
            <a:r>
              <a:rPr sz="1800" b="0">
                <a:solidFill>
                  <a:srgbClr val="202830"/>
                </a:solidFill>
                <a:latin typeface="Malgun Gothic"/>
              </a:rPr>
              <a:t>이런 시프트 민감 인코딩은 주로 IBM 플랫폼에서 사용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5.3.4 유니코드와 유니버설 문자 집합</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유니코드 = 모든 언어 정보를 단일 문자 집합으로 저장하는 유니버설 인코딩</a:t>
            </a:r>
          </a:p>
          <a:p>
            <a:pPr>
              <a:spcAft>
                <a:spcPts val="600"/>
              </a:spcAft>
            </a:pPr>
            <a:r>
              <a:rPr sz="1800" b="0">
                <a:solidFill>
                  <a:srgbClr val="202830"/>
                </a:solidFill>
                <a:latin typeface="Malgun Gothic"/>
              </a:rPr>
              <a:t>플랫폼·프로그램·언어 무관하게 모든 문자에 고유 코드 값(code point) 부여</a:t>
            </a:r>
          </a:p>
          <a:p>
            <a:pPr>
              <a:spcAft>
                <a:spcPts val="600"/>
              </a:spcAft>
            </a:pPr>
            <a:r>
              <a:rPr sz="1800" b="0">
                <a:solidFill>
                  <a:srgbClr val="202830"/>
                </a:solidFill>
                <a:latin typeface="Malgun Gothic"/>
              </a:rPr>
              <a:t>XML·Java·JavaScript·LDAP 등은 유니코드를 요구, ISO/IEC 10646과 동기화</a:t>
            </a:r>
          </a:p>
          <a:p>
            <a:pPr>
              <a:spcAft>
                <a:spcPts val="600"/>
              </a:spcAft>
            </a:pPr>
            <a:r>
              <a:rPr sz="1800" b="0">
                <a:solidFill>
                  <a:srgbClr val="202830"/>
                </a:solidFill>
                <a:latin typeface="Malgun Gothic"/>
              </a:rPr>
              <a:t>AL32UTF8 — UTF-8, 가변폭, ASCII의 엄격한 상위 집합 → Oracle 최우선 권장</a:t>
            </a:r>
          </a:p>
          <a:p>
            <a:pPr>
              <a:spcAft>
                <a:spcPts val="600"/>
              </a:spcAft>
            </a:pPr>
            <a:r>
              <a:rPr sz="1800" b="0">
                <a:solidFill>
                  <a:srgbClr val="202830"/>
                </a:solidFill>
                <a:latin typeface="Malgun Gothic"/>
              </a:rPr>
              <a:t>AL16UTF16 — UTF-16, 주로 NCHAR/NVARCHAR2 국가 문자 집합용</a:t>
            </a:r>
          </a:p>
          <a:p>
            <a:pPr>
              <a:spcAft>
                <a:spcPts val="600"/>
              </a:spcAft>
            </a:pPr>
            <a:r>
              <a:rPr sz="1800" b="0">
                <a:solidFill>
                  <a:srgbClr val="202830"/>
                </a:solidFill>
                <a:latin typeface="Malgun Gothic"/>
              </a:rPr>
              <a:t>JA16SJIS(Shift-JIS 일본어), ZHT16HKSCS(번체 중국어) 등도 멀티바이트 예</a:t>
            </a:r>
          </a:p>
          <a:p>
            <a:pPr>
              <a:spcAft>
                <a:spcPts val="600"/>
              </a:spcAft>
            </a:pPr>
            <a:r>
              <a:rPr sz="1800" b="0">
                <a:solidFill>
                  <a:srgbClr val="202830"/>
                </a:solidFill>
                <a:latin typeface="Malgun Gothic"/>
              </a:rPr>
              <a:t>→ 모든 새 DB에 유니코드(AL32UTF8) 권장: 미래 다국어까지 수용, 변환 회피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모범 사례 — 새 DB는 AL32UTF8로, NCHAR는 신중히</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C0392B"/>
                </a:solidFill>
                <a:latin typeface="Malgun Gothic"/>
              </a:rPr>
              <a:t>모범 사례:</a:t>
            </a:r>
          </a:p>
          <a:p>
            <a:pPr>
              <a:spcAft>
                <a:spcPts val="600"/>
              </a:spcAft>
            </a:pPr>
            <a:r>
              <a:rPr sz="1800" b="0">
                <a:solidFill>
                  <a:srgbClr val="202830"/>
                </a:solidFill>
                <a:latin typeface="Malgun Gothic"/>
              </a:rPr>
              <a:t>특별한 이유가 없는 한 DB 문자 집합은 AL32UTF8로 생성 — 한글 전용이라도 마찬가지</a:t>
            </a:r>
          </a:p>
          <a:p>
            <a:pPr>
              <a:spcAft>
                <a:spcPts val="600"/>
              </a:spcAft>
            </a:pPr>
            <a:r>
              <a:rPr sz="1800" b="0">
                <a:solidFill>
                  <a:srgbClr val="202830"/>
                </a:solidFill>
                <a:latin typeface="Malgun Gothic"/>
              </a:rPr>
              <a:t>이모지·외국 고객명·특수 기호는 예고 없이 유입 → 지역 인코딩이면 깨짐</a:t>
            </a:r>
          </a:p>
          <a:p>
            <a:pPr>
              <a:spcAft>
                <a:spcPts val="600"/>
              </a:spcAft>
            </a:pPr>
            <a:r>
              <a:rPr sz="1800" b="0">
                <a:solidFill>
                  <a:srgbClr val="202830"/>
                </a:solidFill>
                <a:latin typeface="Malgun Gothic"/>
              </a:rPr>
              <a:t>AL32UTF8은 ASCII 상위 집합 → 기존 영문/숫자 데이터와도 호환</a:t>
            </a:r>
          </a:p>
          <a:p>
            <a:pPr>
              <a:spcAft>
                <a:spcPts val="600"/>
              </a:spcAft>
            </a:pPr>
            <a:r>
              <a:rPr sz="1800" b="0">
                <a:solidFill>
                  <a:srgbClr val="202830"/>
                </a:solidFill>
                <a:latin typeface="Malgun Gothic"/>
              </a:rPr>
              <a:t>AL32UTF8(DB 문자 집합)과 AL16UTF16(국가 문자 집합, NCHAR용)을 혼동 말 것</a:t>
            </a:r>
          </a:p>
          <a:p>
            <a:pPr>
              <a:spcAft>
                <a:spcPts val="600"/>
              </a:spcAft>
            </a:pPr>
            <a:r>
              <a:rPr sz="1800" b="0">
                <a:solidFill>
                  <a:srgbClr val="202830"/>
                </a:solidFill>
                <a:latin typeface="Malgun Gothic"/>
              </a:rPr>
              <a:t>→ DB를 이미 유니코드로 잡았다면 NCHAR 타입을 굳이 쓸 이유는 크지 않음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5.3.5 한국어 문자 집합과 길이 의미</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한국어 실무의 두 부류: 지역 인코딩 KO16MSWIN949(≈KO16KSC5601) vs 유니코드 AL32UTF8</a:t>
            </a:r>
          </a:p>
          <a:p>
            <a:pPr>
              <a:spcAft>
                <a:spcPts val="600"/>
              </a:spcAft>
            </a:pPr>
            <a:r>
              <a:rPr sz="1800" b="0">
                <a:solidFill>
                  <a:srgbClr val="202830"/>
                </a:solidFill>
                <a:latin typeface="Malgun Gothic"/>
              </a:rPr>
              <a:t>같은 한글 한 글자도 인코딩에 따라 바이트 수가 다름</a:t>
            </a:r>
          </a:p>
          <a:p>
            <a:pPr>
              <a:spcAft>
                <a:spcPts val="600"/>
              </a:spcAft>
            </a:pPr>
            <a:r>
              <a:rPr sz="1800" b="0">
                <a:solidFill>
                  <a:srgbClr val="202830"/>
                </a:solidFill>
                <a:latin typeface="Malgun Gothic"/>
              </a:rPr>
              <a:t>'가' → KO16MSWIN949에서 2바이트, AL32UTF8에서 3바이트 (영문/숫자는 둘 다 1바이트)</a:t>
            </a:r>
          </a:p>
          <a:p>
            <a:pPr>
              <a:spcAft>
                <a:spcPts val="600"/>
              </a:spcAft>
            </a:pPr>
            <a:r>
              <a:rPr sz="1800" b="0">
                <a:solidFill>
                  <a:srgbClr val="202830"/>
                </a:solidFill>
                <a:latin typeface="Malgun Gothic"/>
              </a:rPr>
              <a:t>이 차이가 컬럼 길이 정의의 함정을 만듦 — VARCHAR2(10)의 '10'이 바이트냐 문자냐</a:t>
            </a:r>
          </a:p>
          <a:p>
            <a:pPr>
              <a:spcAft>
                <a:spcPts val="600"/>
              </a:spcAft>
            </a:pPr>
            <a:r>
              <a:rPr sz="1800" b="0">
                <a:solidFill>
                  <a:srgbClr val="202830"/>
                </a:solidFill>
                <a:latin typeface="Malgun Gothic"/>
              </a:rPr>
              <a:t>Oracle 길이 의미(length semantics): BYTE / CHAR 두 가지 지원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BYTE 의미 vs CHAR 의미</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BYTE 의미 — VARCHAR2(10 BYTE)는 10바이트까지 저장</a:t>
            </a:r>
          </a:p>
          <a:p>
            <a:pPr>
              <a:spcAft>
                <a:spcPts val="600"/>
              </a:spcAft>
            </a:pPr>
            <a:r>
              <a:rPr sz="1800" b="0">
                <a:solidFill>
                  <a:srgbClr val="202830"/>
                </a:solidFill>
                <a:latin typeface="Malgun Gothic"/>
              </a:rPr>
              <a:t>   AL32UTF8에서 한글은 3바이트 → 최대 3글자(9바이트), 4번째는 길이 초과 오류</a:t>
            </a:r>
          </a:p>
          <a:p>
            <a:pPr>
              <a:spcAft>
                <a:spcPts val="600"/>
              </a:spcAft>
            </a:pPr>
            <a:r>
              <a:rPr sz="1800" b="0">
                <a:solidFill>
                  <a:srgbClr val="202830"/>
                </a:solidFill>
                <a:latin typeface="Malgun Gothic"/>
              </a:rPr>
              <a:t>CHAR 의미 — VARCHAR2(10 CHAR)는 인코딩 무관하게 10'글자' 보장</a:t>
            </a:r>
          </a:p>
          <a:p>
            <a:pPr>
              <a:spcAft>
                <a:spcPts val="600"/>
              </a:spcAft>
            </a:pPr>
            <a:r>
              <a:rPr sz="1800" b="0">
                <a:solidFill>
                  <a:srgbClr val="202830"/>
                </a:solidFill>
                <a:latin typeface="Malgun Gothic"/>
              </a:rPr>
              <a:t>   다국어 데이터에 직관적이고 안전</a:t>
            </a:r>
          </a:p>
          <a:p>
            <a:pPr>
              <a:spcAft>
                <a:spcPts val="600"/>
              </a:spcAft>
            </a:pPr>
            <a:r>
              <a:rPr sz="1800" b="0">
                <a:solidFill>
                  <a:srgbClr val="202830"/>
                </a:solidFill>
                <a:latin typeface="Malgun Gothic"/>
              </a:rPr>
              <a:t>기본 길이 의미는 NLS_LENGTH_SEMANTICS 파라미터가 결정, 기본값 = BYTE</a:t>
            </a:r>
          </a:p>
          <a:p>
            <a:pPr>
              <a:spcAft>
                <a:spcPts val="600"/>
              </a:spcAft>
            </a:pPr>
            <a:r>
              <a:rPr sz="1800" b="0">
                <a:solidFill>
                  <a:srgbClr val="202830"/>
                </a:solidFill>
                <a:latin typeface="Malgun Gothic"/>
              </a:rPr>
              <a:t>주의: 지역 인코딩 시절 바이트 기준 설계를 유니코드로 옮기면 ORA-12899(값이 너무 큼) 빈발</a:t>
            </a:r>
          </a:p>
          <a:p>
            <a:pPr>
              <a:spcAft>
                <a:spcPts val="600"/>
              </a:spcAft>
            </a:pPr>
            <a:r>
              <a:rPr sz="1800" b="0">
                <a:solidFill>
                  <a:srgbClr val="202830"/>
                </a:solidFill>
                <a:latin typeface="Malgun Gothic"/>
              </a:rPr>
              <a:t>→ 다국어라면 CHAR 의미로 선언하거나 길이를 넉넉히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길이 의미 확인 — LENGTH vs LENGTHB</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AL32UTF8에서 한글 1글자 = 3바이트임을 직접 확인</a:t>
            </a:r>
          </a:p>
        </p:txBody>
      </p:sp>
      <p:sp>
        <p:nvSpPr>
          <p:cNvPr id="5" name="Rectangle 4"/>
          <p:cNvSpPr/>
          <p:nvPr/>
        </p:nvSpPr>
        <p:spPr>
          <a:xfrm>
            <a:off x="640080" y="1691640"/>
            <a:ext cx="10881360" cy="42976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64792"/>
            <a:ext cx="10424160" cy="4151376"/>
          </a:xfrm>
          <a:prstGeom prst="rect">
            <a:avLst/>
          </a:prstGeom>
          <a:noFill/>
        </p:spPr>
        <p:txBody>
          <a:bodyPr wrap="square">
            <a:spAutoFit/>
          </a:bodyPr>
          <a:lstStyle/>
          <a:p>
            <a:pPr>
              <a:spcAft>
                <a:spcPts val="0"/>
              </a:spcAft>
            </a:pPr>
            <a:r>
              <a:rPr sz="1200" b="0">
                <a:solidFill>
                  <a:srgbClr val="7EC699"/>
                </a:solidFill>
                <a:latin typeface="Consolas"/>
              </a:rPr>
              <a:t>-- 현재 세션의 길이 의미 확인</a:t>
            </a:r>
          </a:p>
          <a:p>
            <a:pPr>
              <a:spcAft>
                <a:spcPts val="0"/>
              </a:spcAft>
            </a:pPr>
            <a:r>
              <a:rPr sz="1200" b="0">
                <a:solidFill>
                  <a:srgbClr val="E6E6E6"/>
                </a:solidFill>
                <a:latin typeface="Consolas"/>
              </a:rPr>
              <a:t>SQL&gt; SHOW PARAMETER nls_length_semantics</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문자(CHAR) 의미로 컬럼 정의: 인코딩 무관하게 '글자 수' 보장</a:t>
            </a:r>
          </a:p>
          <a:p>
            <a:pPr>
              <a:spcAft>
                <a:spcPts val="0"/>
              </a:spcAft>
            </a:pPr>
            <a:r>
              <a:rPr sz="1200" b="0">
                <a:solidFill>
                  <a:srgbClr val="E6E6E6"/>
                </a:solidFill>
                <a:latin typeface="Consolas"/>
              </a:rPr>
              <a:t>SQL&gt; CREATE TABLE t_name (nm VARCHAR2(10 CHAR));</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AL32UTF8에서 한글 1글자는 3바이트임을 확인</a:t>
            </a:r>
          </a:p>
          <a:p>
            <a:pPr>
              <a:spcAft>
                <a:spcPts val="0"/>
              </a:spcAft>
            </a:pPr>
            <a:r>
              <a:rPr sz="1200" b="0">
                <a:solidFill>
                  <a:srgbClr val="E6E6E6"/>
                </a:solidFill>
                <a:latin typeface="Consolas"/>
              </a:rPr>
              <a:t>SQL&gt; SELECT LENGTH('가') AS chars,</a:t>
            </a:r>
          </a:p>
          <a:p>
            <a:pPr>
              <a:spcAft>
                <a:spcPts val="0"/>
              </a:spcAft>
            </a:pPr>
            <a:r>
              <a:rPr sz="1200" b="0">
                <a:solidFill>
                  <a:srgbClr val="E6E6E6"/>
                </a:solidFill>
                <a:latin typeface="Consolas"/>
              </a:rPr>
              <a:t>  2         LENGTHB('가') AS bytes</a:t>
            </a:r>
          </a:p>
          <a:p>
            <a:pPr>
              <a:spcAft>
                <a:spcPts val="0"/>
              </a:spcAft>
            </a:pPr>
            <a:r>
              <a:rPr sz="1200" b="0">
                <a:solidFill>
                  <a:srgbClr val="E6E6E6"/>
                </a:solidFill>
                <a:latin typeface="Consolas"/>
              </a:rPr>
              <a:t>  3  FROM dual;</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     CHARS      BYTES</a:t>
            </a:r>
          </a:p>
          <a:p>
            <a:pPr>
              <a:spcAft>
                <a:spcPts val="0"/>
              </a:spcAft>
            </a:pPr>
            <a:r>
              <a:rPr sz="1200" b="0">
                <a:solidFill>
                  <a:srgbClr val="7EC699"/>
                </a:solidFill>
                <a:latin typeface="Consolas"/>
              </a:rPr>
              <a:t>---------- ----------</a:t>
            </a:r>
          </a:p>
          <a:p>
            <a:pPr>
              <a:spcAft>
                <a:spcPts val="0"/>
              </a:spcAft>
            </a:pPr>
            <a:r>
              <a:rPr sz="1200" b="0">
                <a:solidFill>
                  <a:srgbClr val="E6E6E6"/>
                </a:solidFill>
                <a:latin typeface="Consolas"/>
              </a:rPr>
              <a:t>         1          3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문자 집합은 어떻게 사용되는가</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서버 문자 집합과 각 클라이언트 문자 집합이 함께 작동</a:t>
            </a:r>
          </a:p>
          <a:p>
            <a:pPr>
              <a:spcAft>
                <a:spcPts val="400"/>
              </a:spcAft>
            </a:pPr>
            <a:r>
              <a:rPr sz="1600" b="0">
                <a:solidFill>
                  <a:srgbClr val="C5CED6"/>
                </a:solidFill>
                <a:latin typeface="Malgun Gothic"/>
              </a:rPr>
              <a:t>•  그 사이에서 자동 변환이 일어남 — 그 메커니즘을 정확히 이해</a:t>
            </a:r>
          </a:p>
          <a:p>
            <a:pPr>
              <a:spcAft>
                <a:spcPts val="400"/>
              </a:spcAft>
            </a:pPr>
            <a:r>
              <a:rPr sz="1600" b="0">
                <a:solidFill>
                  <a:srgbClr val="C5CED6"/>
                </a:solidFill>
                <a:latin typeface="Malgun Gothic"/>
              </a:rPr>
              <a:t>•  NLS_LANG · 상위 집합 규칙 · 자동/투명 변환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5.4.1 NLS_LANG과 상위 집합 규칙</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NLS_LANG = 클라이언트 터미널(SQL*Plus·앱)의 문자 인코딩 스킴을 정의</a:t>
            </a:r>
          </a:p>
          <a:p>
            <a:pPr>
              <a:spcAft>
                <a:spcPts val="600"/>
              </a:spcAft>
            </a:pPr>
            <a:r>
              <a:rPr sz="1800" b="0">
                <a:solidFill>
                  <a:srgbClr val="202830"/>
                </a:solidFill>
                <a:latin typeface="Malgun Gothic"/>
              </a:rPr>
              <a:t>클라이언트마다 다름: Windows WE8MSWIN1252 / 한국어 KO16MSWIN949 / 리눅스 AL32UTF8</a:t>
            </a:r>
          </a:p>
          <a:p>
            <a:pPr>
              <a:spcAft>
                <a:spcPts val="600"/>
              </a:spcAft>
            </a:pPr>
            <a:r>
              <a:rPr sz="1800" b="0">
                <a:solidFill>
                  <a:srgbClr val="202830"/>
                </a:solidFill>
                <a:latin typeface="Malgun Gothic"/>
              </a:rPr>
              <a:t>NLS_LANG = '이 클라이언트 데이터는 이런 인코딩이다'라는 선언</a:t>
            </a:r>
          </a:p>
          <a:p>
            <a:pPr>
              <a:spcAft>
                <a:spcPts val="600"/>
              </a:spcAft>
            </a:pPr>
            <a:r>
              <a:rPr sz="1800" b="0">
                <a:solidFill>
                  <a:srgbClr val="202830"/>
                </a:solidFill>
                <a:latin typeface="Malgun Gothic"/>
              </a:rPr>
              <a:t>형식: language_territory.charset — 점(.) 뒤의 charset이 핵심</a:t>
            </a:r>
          </a:p>
          <a:p>
            <a:pPr>
              <a:spcAft>
                <a:spcPts val="600"/>
              </a:spcAft>
            </a:pPr>
            <a:r>
              <a:rPr sz="1800" b="1">
                <a:solidFill>
                  <a:srgbClr val="C0392B"/>
                </a:solidFill>
                <a:latin typeface="Malgun Gothic"/>
              </a:rPr>
              <a:t>핵심 규칙: DB 인코딩은 모든 클라이언트 인코딩의 상위 집합이거나 동등해야 함</a:t>
            </a:r>
          </a:p>
          <a:p>
            <a:pPr>
              <a:spcAft>
                <a:spcPts val="600"/>
              </a:spcAft>
            </a:pPr>
            <a:r>
              <a:rPr sz="1800" b="0">
                <a:solidFill>
                  <a:srgbClr val="202830"/>
                </a:solidFill>
                <a:latin typeface="Malgun Gothic"/>
              </a:rPr>
              <a:t>DB가 AL32UTF8이면 어떤 클라이언트 문자든 담아 조건 자연 충족</a:t>
            </a:r>
          </a:p>
          <a:p>
            <a:pPr>
              <a:spcAft>
                <a:spcPts val="600"/>
              </a:spcAft>
            </a:pPr>
            <a:r>
              <a:rPr sz="1800" b="0">
                <a:solidFill>
                  <a:srgbClr val="202830"/>
                </a:solidFill>
                <a:latin typeface="Malgun Gothic"/>
              </a:rPr>
              <a:t>DB가 좁은 지역 인코딩이면 범위 밖 문자는 저장 불가 → 데이터 손실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NLS_LANG 구문 자세히</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NLS_LANG = language_territory.charset</a:t>
            </a:r>
          </a:p>
          <a:p>
            <a:pPr>
              <a:spcAft>
                <a:spcPts val="600"/>
              </a:spcAft>
            </a:pPr>
            <a:r>
              <a:rPr sz="1800" b="0">
                <a:solidFill>
                  <a:srgbClr val="202830"/>
                </a:solidFill>
                <a:latin typeface="Malgun Gothic"/>
              </a:rPr>
              <a:t>language — 오류 메시지·요일·월 이름 같은 언어 요소 결정</a:t>
            </a:r>
          </a:p>
          <a:p>
            <a:pPr>
              <a:spcAft>
                <a:spcPts val="600"/>
              </a:spcAft>
            </a:pPr>
            <a:r>
              <a:rPr sz="1800" b="0">
                <a:solidFill>
                  <a:srgbClr val="202830"/>
                </a:solidFill>
                <a:latin typeface="Malgun Gothic"/>
              </a:rPr>
              <a:t>territory — 통화 기호·기본 날짜 형식·소수점 표기 같은 지역 관례 결정</a:t>
            </a:r>
          </a:p>
          <a:p>
            <a:pPr>
              <a:spcAft>
                <a:spcPts val="600"/>
              </a:spcAft>
            </a:pPr>
            <a:r>
              <a:rPr sz="1800" b="0">
                <a:solidFill>
                  <a:srgbClr val="202830"/>
                </a:solidFill>
                <a:latin typeface="Malgun Gothic"/>
              </a:rPr>
              <a:t>charset (점 뒤) — 이 클라이언트가 주고받는 바이트의 문자 인코딩 지정</a:t>
            </a:r>
          </a:p>
          <a:p>
            <a:pPr>
              <a:spcAft>
                <a:spcPts val="600"/>
              </a:spcAft>
            </a:pPr>
            <a:r>
              <a:rPr sz="1800" b="0">
                <a:solidFill>
                  <a:srgbClr val="202830"/>
                </a:solidFill>
                <a:latin typeface="Malgun Gothic"/>
              </a:rPr>
              <a:t>예: AMERICAN_AMERICA.AL32UTF8 = 영어 메시지·미국 관례·UTF-8 인코딩</a:t>
            </a:r>
          </a:p>
          <a:p>
            <a:pPr>
              <a:spcAft>
                <a:spcPts val="600"/>
              </a:spcAft>
            </a:pPr>
            <a:r>
              <a:rPr sz="1800" b="0">
                <a:solidFill>
                  <a:srgbClr val="202830"/>
                </a:solidFill>
                <a:latin typeface="Malgun Gothic"/>
              </a:rPr>
              <a:t>예: KOREAN_KOREA.KO16MSWIN949 = 한국어 메시지·한국 관례·MS949 인코딩</a:t>
            </a:r>
          </a:p>
          <a:p>
            <a:pPr>
              <a:spcAft>
                <a:spcPts val="600"/>
              </a:spcAft>
            </a:pPr>
            <a:r>
              <a:rPr sz="1800" b="0">
                <a:solidFill>
                  <a:srgbClr val="202830"/>
                </a:solidFill>
                <a:latin typeface="Malgun Gothic"/>
              </a:rPr>
              <a:t>→ 문자 손상과 직접 관련되는 것은 오직 마지막 charset 부분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5.4.2 자동 변환의 두 가지 경우</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202830"/>
                </a:solidFill>
                <a:latin typeface="Malgun Gothic"/>
              </a:rPr>
              <a:t>① DB 문자 집합 = 클라이언트 문자 집합이 동일할 때</a:t>
            </a:r>
          </a:p>
          <a:p>
            <a:pPr>
              <a:spcAft>
                <a:spcPts val="600"/>
              </a:spcAft>
            </a:pPr>
            <a:r>
              <a:rPr sz="1800" b="0">
                <a:solidFill>
                  <a:srgbClr val="202830"/>
                </a:solidFill>
                <a:latin typeface="Malgun Gothic"/>
              </a:rPr>
              <a:t>   DB는 같은 문자 집합으로 가정 → 검증·변환 전혀 안 함, 바이트 그대로 오감</a:t>
            </a:r>
          </a:p>
          <a:p>
            <a:pPr>
              <a:spcAft>
                <a:spcPts val="600"/>
              </a:spcAft>
            </a:pPr>
            <a:r>
              <a:rPr sz="1800" b="1">
                <a:solidFill>
                  <a:srgbClr val="202830"/>
                </a:solidFill>
                <a:latin typeface="Malgun Gothic"/>
              </a:rPr>
              <a:t>② 서로 다른 플랫폼·다른 인코딩 스킴일 때</a:t>
            </a:r>
          </a:p>
          <a:p>
            <a:pPr>
              <a:spcAft>
                <a:spcPts val="600"/>
              </a:spcAft>
            </a:pPr>
            <a:r>
              <a:rPr sz="1800" b="0">
                <a:solidFill>
                  <a:srgbClr val="202830"/>
                </a:solidFill>
                <a:latin typeface="Malgun Gothic"/>
              </a:rPr>
              <a:t>   변환 필요 → Oracle Net을 통해 자동·투명하게(transparent) 일어남</a:t>
            </a:r>
          </a:p>
          <a:p>
            <a:pPr>
              <a:spcAft>
                <a:spcPts val="600"/>
              </a:spcAft>
            </a:pPr>
            <a:r>
              <a:rPr sz="1800" b="0">
                <a:solidFill>
                  <a:srgbClr val="202830"/>
                </a:solidFill>
                <a:latin typeface="Malgun Gothic"/>
              </a:rPr>
              <a:t>   개발자는 변환 발생 여부조차 신경 쓸 필요 없음</a:t>
            </a:r>
          </a:p>
          <a:p>
            <a:pPr>
              <a:spcAft>
                <a:spcPts val="600"/>
              </a:spcAft>
            </a:pPr>
            <a:r>
              <a:rPr sz="1800" b="0">
                <a:solidFill>
                  <a:srgbClr val="202830"/>
                </a:solidFill>
                <a:latin typeface="Malgun Gothic"/>
              </a:rPr>
              <a:t>참고: 자동 변환은 'NLS_LANG이 사실을 정확히 말할 때만' 옳게 작동</a:t>
            </a:r>
          </a:p>
          <a:p>
            <a:pPr>
              <a:spcAft>
                <a:spcPts val="600"/>
              </a:spcAft>
            </a:pPr>
            <a:r>
              <a:rPr sz="1800" b="0">
                <a:solidFill>
                  <a:srgbClr val="202830"/>
                </a:solidFill>
                <a:latin typeface="Malgun Gothic"/>
              </a:rPr>
              <a:t>→ NLS_LANG이 거짓이면 잘못 변환하거나 변환 생략 → 조용한 손상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클라이언트에서 NLS_LANG을
올바로 설정하기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NLS_LANG을 잘못 설정하면 잘못된 데이터가 DB에 들어감</a:t>
            </a:r>
          </a:p>
          <a:p>
            <a:pPr>
              <a:spcAft>
                <a:spcPts val="400"/>
              </a:spcAft>
            </a:pPr>
            <a:r>
              <a:rPr sz="1600" b="0">
                <a:solidFill>
                  <a:srgbClr val="C5CED6"/>
                </a:solidFill>
                <a:latin typeface="Malgun Gothic"/>
              </a:rPr>
              <a:t>•  더 무서운 것: 그 과정에서 아무런 오류도 발생하지 않음</a:t>
            </a:r>
          </a:p>
          <a:p>
            <a:pPr>
              <a:spcAft>
                <a:spcPts val="400"/>
              </a:spcAft>
            </a:pPr>
            <a:r>
              <a:rPr sz="1600" b="0">
                <a:solidFill>
                  <a:srgbClr val="C5CED6"/>
                </a:solidFill>
                <a:latin typeface="Malgun Gothic"/>
              </a:rPr>
              <a:t>•  INSERT 성공·커밋됨·겉보기 정상 → 나중에 꺼내면 글자가 깨져 있음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5.5.1 손상이 일어나는 원리</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잘못된 데이터는 대개 클라이언트 NLS_LANG이 제대로 설정되지 않았을 때 입력됨</a:t>
            </a:r>
          </a:p>
          <a:p>
            <a:pPr>
              <a:spcAft>
                <a:spcPts val="600"/>
              </a:spcAft>
            </a:pPr>
            <a:r>
              <a:rPr sz="1800" b="0">
                <a:solidFill>
                  <a:srgbClr val="202830"/>
                </a:solidFill>
                <a:latin typeface="Malgun Gothic"/>
              </a:rPr>
              <a:t>NLS_LANG 값은 반드시 '들어오는 데이터의 실제 인코딩'을 반영해야 함</a:t>
            </a:r>
          </a:p>
          <a:p>
            <a:pPr>
              <a:spcAft>
                <a:spcPts val="600"/>
              </a:spcAft>
            </a:pPr>
            <a:r>
              <a:rPr sz="1800" b="0">
                <a:solidFill>
                  <a:srgbClr val="202830"/>
                </a:solidFill>
                <a:latin typeface="Malgun Gothic"/>
              </a:rPr>
              <a:t>제대로 설정되면 → DB가 클라이언트 OS에서 오는 데이터를 DB 문자 집합으로 자동 변환</a:t>
            </a:r>
          </a:p>
          <a:p>
            <a:pPr>
              <a:spcAft>
                <a:spcPts val="600"/>
              </a:spcAft>
            </a:pPr>
            <a:r>
              <a:rPr sz="1800" b="0">
                <a:solidFill>
                  <a:srgbClr val="202830"/>
                </a:solidFill>
                <a:latin typeface="Malgun Gothic"/>
              </a:rPr>
              <a:t>잘못 설정되면 → 들어오는 데이터가 변환되지 않은 채 그대로 저장</a:t>
            </a:r>
          </a:p>
          <a:p>
            <a:pPr>
              <a:spcAft>
                <a:spcPts val="600"/>
              </a:spcAft>
            </a:pPr>
            <a:r>
              <a:rPr sz="1800" b="0">
                <a:solidFill>
                  <a:srgbClr val="202830"/>
                </a:solidFill>
                <a:latin typeface="Malgun Gothic"/>
              </a:rPr>
              <a:t>INSERT는 성공하고 오류도 없음 → 손상은 '조용히' 진행됨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5.5.2 대표 사례 — 서버 문자 집합에 맞춰버리는 실수</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가정: DB=AL32UTF8, 클라이언트=영어 Windows(실제 코드페이지 WE8MSWIN1252)</a:t>
            </a:r>
          </a:p>
          <a:p>
            <a:pPr>
              <a:spcAft>
                <a:spcPts val="600"/>
              </a:spcAft>
            </a:pPr>
            <a:r>
              <a:rPr sz="1800" b="0">
                <a:solidFill>
                  <a:srgbClr val="202830"/>
                </a:solidFill>
                <a:latin typeface="Malgun Gothic"/>
              </a:rPr>
              <a:t>그런데 클라이언트 NLS_LANG charset을 AL32UTF8로 설정(서버에 맞춰버림)</a:t>
            </a:r>
          </a:p>
          <a:p>
            <a:pPr>
              <a:spcAft>
                <a:spcPts val="600"/>
              </a:spcAft>
            </a:pPr>
            <a:r>
              <a:rPr sz="1800" b="0">
                <a:solidFill>
                  <a:srgbClr val="202830"/>
                </a:solidFill>
                <a:latin typeface="Malgun Gothic"/>
              </a:rPr>
              <a:t>사용자가 é·ü 입력 → 실제 전송 바이트는 WE8MSWIN1252 인코딩</a:t>
            </a:r>
          </a:p>
          <a:p>
            <a:pPr>
              <a:spcAft>
                <a:spcPts val="600"/>
              </a:spcAft>
            </a:pPr>
            <a:r>
              <a:rPr sz="1800" b="0">
                <a:solidFill>
                  <a:srgbClr val="202830"/>
                </a:solidFill>
                <a:latin typeface="Malgun Gothic"/>
              </a:rPr>
              <a:t>선언은 AL32UTF8이라 서버 문자 집합과 정확히 일치</a:t>
            </a:r>
          </a:p>
          <a:p>
            <a:pPr>
              <a:spcAft>
                <a:spcPts val="600"/>
              </a:spcAft>
            </a:pPr>
            <a:r>
              <a:rPr sz="1800" b="0">
                <a:solidFill>
                  <a:srgbClr val="202830"/>
                </a:solidFill>
                <a:latin typeface="Malgun Gothic"/>
              </a:rPr>
              <a:t>→ 서버: '클라이언트도 AL32UTF8이네, 변환 불필요' 가정 → 변환 없이 그대로 저장</a:t>
            </a:r>
          </a:p>
          <a:p>
            <a:pPr>
              <a:spcAft>
                <a:spcPts val="600"/>
              </a:spcAft>
            </a:pPr>
            <a:r>
              <a:rPr sz="1800" b="0">
                <a:solidFill>
                  <a:srgbClr val="202830"/>
                </a:solidFill>
                <a:latin typeface="Malgun Gothic"/>
              </a:rPr>
              <a:t>→ UTF-8로선 유효하지 않은 바이트 열이 그대로 입력 = 조용한 손상</a:t>
            </a:r>
          </a:p>
          <a:p>
            <a:pPr>
              <a:spcAft>
                <a:spcPts val="600"/>
              </a:spcAft>
            </a:pPr>
            <a:r>
              <a:rPr sz="1800" b="1">
                <a:solidFill>
                  <a:srgbClr val="C0392B"/>
                </a:solidFill>
                <a:latin typeface="Malgun Gothic"/>
              </a:rPr>
              <a:t>올바른 설정: NLS_LANG charset = 실제 코드페이지 WE8MSWIN1252 → 자동 변환 수행</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NLS_LANG 확인·설정과 서버 문자 집합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클라이언트 쉘 설정 + 서버 nls_database_parameters 조회</a:t>
            </a:r>
          </a:p>
        </p:txBody>
      </p:sp>
      <p:sp>
        <p:nvSpPr>
          <p:cNvPr id="5" name="Rectangle 4"/>
          <p:cNvSpPr/>
          <p:nvPr/>
        </p:nvSpPr>
        <p:spPr>
          <a:xfrm>
            <a:off x="640080" y="1691640"/>
            <a:ext cx="10881360" cy="42976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64792"/>
            <a:ext cx="10424160" cy="4151376"/>
          </a:xfrm>
          <a:prstGeom prst="rect">
            <a:avLst/>
          </a:prstGeom>
          <a:noFill/>
        </p:spPr>
        <p:txBody>
          <a:bodyPr wrap="square">
            <a:spAutoFit/>
          </a:bodyPr>
          <a:lstStyle/>
          <a:p>
            <a:pPr>
              <a:spcAft>
                <a:spcPts val="0"/>
              </a:spcAft>
            </a:pPr>
            <a:r>
              <a:rPr sz="1200" b="0">
                <a:solidFill>
                  <a:srgbClr val="7EC699"/>
                </a:solidFill>
                <a:latin typeface="Consolas"/>
              </a:rPr>
              <a:t>-- (쉘) 현재 NLS_LANG 환경 변수 확인</a:t>
            </a:r>
          </a:p>
          <a:p>
            <a:pPr>
              <a:spcAft>
                <a:spcPts val="0"/>
              </a:spcAft>
            </a:pPr>
            <a:r>
              <a:rPr sz="1200" b="0">
                <a:solidFill>
                  <a:srgbClr val="E6E6E6"/>
                </a:solidFill>
                <a:latin typeface="Consolas"/>
              </a:rPr>
              <a:t>$ echo $NLS_LANG</a:t>
            </a:r>
          </a:p>
          <a:p>
            <a:pPr>
              <a:spcAft>
                <a:spcPts val="0"/>
              </a:spcAft>
            </a:pPr>
            <a:r>
              <a:rPr sz="1200" b="0">
                <a:solidFill>
                  <a:srgbClr val="E6E6E6"/>
                </a:solidFill>
                <a:latin typeface="Consolas"/>
              </a:rPr>
              <a:t>AMERICAN_AMERICA.AL32UTF8</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(쉘) 클라이언트 터미널의 실제 인코딩에 맞게 설정</a:t>
            </a:r>
          </a:p>
          <a:p>
            <a:pPr>
              <a:spcAft>
                <a:spcPts val="0"/>
              </a:spcAft>
            </a:pPr>
            <a:r>
              <a:rPr sz="1200" b="0">
                <a:solidFill>
                  <a:srgbClr val="7EC699"/>
                </a:solidFill>
                <a:latin typeface="Consolas"/>
              </a:rPr>
              <a:t>--   UTF-8 터미널이면 AL32UTF8, 한국어 Windows면 KO16MSWIN949</a:t>
            </a:r>
          </a:p>
          <a:p>
            <a:pPr>
              <a:spcAft>
                <a:spcPts val="0"/>
              </a:spcAft>
            </a:pPr>
            <a:r>
              <a:rPr sz="1200" b="0">
                <a:solidFill>
                  <a:srgbClr val="E6E6E6"/>
                </a:solidFill>
                <a:latin typeface="Consolas"/>
              </a:rPr>
              <a:t>$ export NLS_LANG=AMERICAN_AMERICA.AL32UTF8</a:t>
            </a:r>
          </a:p>
          <a:p>
            <a:pPr>
              <a:spcAft>
                <a:spcPts val="0"/>
              </a:spcAft>
            </a:pPr>
            <a:r>
              <a:rPr sz="1200" b="0">
                <a:solidFill>
                  <a:srgbClr val="E6E6E6"/>
                </a:solidFill>
                <a:latin typeface="Consolas"/>
              </a:rPr>
              <a:t>C:\&gt; set NLS_LANG=KOREAN_KOREA.KO16MSWIN949</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(서버) DB 문자 집합과 국가 문자 집합 확인</a:t>
            </a:r>
          </a:p>
          <a:p>
            <a:pPr>
              <a:spcAft>
                <a:spcPts val="0"/>
              </a:spcAft>
            </a:pPr>
            <a:r>
              <a:rPr sz="1200" b="0">
                <a:solidFill>
                  <a:srgbClr val="E6E6E6"/>
                </a:solidFill>
                <a:latin typeface="Consolas"/>
              </a:rPr>
              <a:t>SQL&gt; SELECT parameter, value FROM nls_database_parameters</a:t>
            </a:r>
          </a:p>
          <a:p>
            <a:pPr>
              <a:spcAft>
                <a:spcPts val="0"/>
              </a:spcAft>
            </a:pPr>
            <a:r>
              <a:rPr sz="1200" b="0">
                <a:solidFill>
                  <a:srgbClr val="E6E6E6"/>
                </a:solidFill>
                <a:latin typeface="Consolas"/>
              </a:rPr>
              <a:t>  2  WHERE parameter IN ('NLS_CHARACTERSET','NLS_NCHAR_CHARACTERSET');</a:t>
            </a:r>
          </a:p>
          <a:p>
            <a:pPr>
              <a:spcAft>
                <a:spcPts val="0"/>
              </a:spcAft>
            </a:pPr>
            <a:r>
              <a:rPr sz="1200" b="0">
                <a:solidFill>
                  <a:srgbClr val="E6E6E6"/>
                </a:solidFill>
                <a:latin typeface="Consolas"/>
              </a:rPr>
              <a:t>NLS_CHARACTERSET           AL32UTF8</a:t>
            </a:r>
          </a:p>
          <a:p>
            <a:pPr>
              <a:spcAft>
                <a:spcPts val="0"/>
              </a:spcAft>
            </a:pPr>
            <a:r>
              <a:rPr sz="1200" b="0">
                <a:solidFill>
                  <a:srgbClr val="E6E6E6"/>
                </a:solidFill>
                <a:latin typeface="Consolas"/>
              </a:rPr>
              <a:t>NLS_NCHAR_CHARACTERSET     AL16UTF16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실무 시나리오 — 'DB엔 잘 보이는데 웹에서만 깨져요'</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DUMP() 함수로 저장된 실제 바이트 확인</a:t>
            </a:r>
          </a:p>
        </p:txBody>
      </p:sp>
      <p:sp>
        <p:nvSpPr>
          <p:cNvPr id="5" name="Rectangle 4"/>
          <p:cNvSpPr/>
          <p:nvPr/>
        </p:nvSpPr>
        <p:spPr>
          <a:xfrm>
            <a:off x="640080" y="1691640"/>
            <a:ext cx="10881360" cy="2651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64792"/>
            <a:ext cx="10424160" cy="2505456"/>
          </a:xfrm>
          <a:prstGeom prst="rect">
            <a:avLst/>
          </a:prstGeom>
          <a:noFill/>
        </p:spPr>
        <p:txBody>
          <a:bodyPr wrap="square">
            <a:spAutoFit/>
          </a:bodyPr>
          <a:lstStyle/>
          <a:p>
            <a:pPr>
              <a:spcAft>
                <a:spcPts val="0"/>
              </a:spcAft>
            </a:pPr>
            <a:r>
              <a:rPr sz="1200" b="0">
                <a:solidFill>
                  <a:srgbClr val="7EC699"/>
                </a:solidFill>
                <a:latin typeface="Consolas"/>
              </a:rPr>
              <a:t>-- 저장된 문자열의 실제 바이트와 문자 집합 ID 확인</a:t>
            </a:r>
          </a:p>
          <a:p>
            <a:pPr>
              <a:spcAft>
                <a:spcPts val="0"/>
              </a:spcAft>
            </a:pPr>
            <a:r>
              <a:rPr sz="1200" b="0">
                <a:solidFill>
                  <a:srgbClr val="E6E6E6"/>
                </a:solidFill>
                <a:latin typeface="Consolas"/>
              </a:rPr>
              <a:t>SQL&gt; SELECT customer_name,</a:t>
            </a:r>
          </a:p>
          <a:p>
            <a:pPr>
              <a:spcAft>
                <a:spcPts val="0"/>
              </a:spcAft>
            </a:pPr>
            <a:r>
              <a:rPr sz="1200" b="0">
                <a:solidFill>
                  <a:srgbClr val="E6E6E6"/>
                </a:solidFill>
                <a:latin typeface="Consolas"/>
              </a:rPr>
              <a:t>  2         DUMP(customer_name, 1016) AS raw_bytes</a:t>
            </a:r>
          </a:p>
          <a:p>
            <a:pPr>
              <a:spcAft>
                <a:spcPts val="0"/>
              </a:spcAft>
            </a:pPr>
            <a:r>
              <a:rPr sz="1200" b="0">
                <a:solidFill>
                  <a:srgbClr val="E6E6E6"/>
                </a:solidFill>
                <a:latin typeface="Consolas"/>
              </a:rPr>
              <a:t>  3  FROM   customers</a:t>
            </a:r>
          </a:p>
          <a:p>
            <a:pPr>
              <a:spcAft>
                <a:spcPts val="0"/>
              </a:spcAft>
            </a:pPr>
            <a:r>
              <a:rPr sz="1200" b="0">
                <a:solidFill>
                  <a:srgbClr val="E6E6E6"/>
                </a:solidFill>
                <a:latin typeface="Consolas"/>
              </a:rPr>
              <a:t>  4  WHERE  customer_id = 4021;</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-- 1016 = 16진수 표기 + 문자 집합 이름 표시 옵션</a:t>
            </a:r>
          </a:p>
          <a:p>
            <a:pPr>
              <a:spcAft>
                <a:spcPts val="0"/>
              </a:spcAft>
            </a:pPr>
            <a:r>
              <a:rPr sz="1200" b="0">
                <a:solidFill>
                  <a:srgbClr val="7EC699"/>
                </a:solidFill>
                <a:latin typeface="Consolas"/>
              </a:rPr>
              <a:t>-- 정상 UTF-8이라면 한글 한 글자가 3바이트(E?..)로 나타난다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Database Configuration
Assistant(DBCA)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계획·템플릿·문자 집합을 정했으면 이제 실제로 데이터베이스를 만들 차례</a:t>
            </a:r>
          </a:p>
          <a:p>
            <a:pPr>
              <a:spcAft>
                <a:spcPts val="400"/>
              </a:spcAft>
            </a:pPr>
            <a:r>
              <a:rPr sz="1600" b="0">
                <a:solidFill>
                  <a:srgbClr val="C5CED6"/>
                </a:solidFill>
                <a:latin typeface="Malgun Gothic"/>
              </a:rPr>
              <a:t>•  DBCA = Oracle DB를 생성·구성하는 표준 도구</a:t>
            </a:r>
          </a:p>
          <a:p>
            <a:pPr>
              <a:spcAft>
                <a:spcPts val="400"/>
              </a:spcAft>
            </a:pPr>
            <a:r>
              <a:rPr sz="1600" b="0">
                <a:solidFill>
                  <a:srgbClr val="C5CED6"/>
                </a:solidFill>
                <a:latin typeface="Malgun Gothic"/>
              </a:rPr>
              <a:t>•  OUI가 자동 실행하거나, 설치 후 독립형 도구로 직접 실행</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 DBCA로 할 수 있는 작업</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데이터베이스 생성 — 새 DB를 생성하고 구성</a:t>
            </a:r>
          </a:p>
          <a:p>
            <a:pPr>
              <a:spcAft>
                <a:spcPts val="600"/>
              </a:spcAft>
            </a:pPr>
            <a:r>
              <a:rPr sz="1800" b="0">
                <a:solidFill>
                  <a:srgbClr val="202830"/>
                </a:solidFill>
                <a:latin typeface="Malgun Gothic"/>
              </a:rPr>
              <a:t>템플릿 생성·관리 — 생성 정보를 담은 XML 파일(템플릿)을 만들고 관리</a:t>
            </a:r>
          </a:p>
          <a:p>
            <a:pPr>
              <a:spcAft>
                <a:spcPts val="600"/>
              </a:spcAft>
            </a:pPr>
            <a:r>
              <a:rPr sz="1800" b="0">
                <a:solidFill>
                  <a:srgbClr val="202830"/>
                </a:solidFill>
                <a:latin typeface="Malgun Gothic"/>
              </a:rPr>
              <a:t>데이터베이스 삭제 — 인스턴스를 종료하고 모든 DB 파일을 삭제</a:t>
            </a:r>
          </a:p>
          <a:p>
            <a:pPr>
              <a:spcAft>
                <a:spcPts val="600"/>
              </a:spcAft>
            </a:pPr>
            <a:r>
              <a:rPr sz="1800" b="0">
                <a:solidFill>
                  <a:srgbClr val="202830"/>
                </a:solidFill>
                <a:latin typeface="Malgun Gothic"/>
              </a:rPr>
              <a:t>PDB 관리(멀티테넌트) — PDB를 생성·삭제·언플러그</a:t>
            </a:r>
          </a:p>
          <a:p>
            <a:pPr>
              <a:spcAft>
                <a:spcPts val="600"/>
              </a:spcAft>
            </a:pPr>
            <a:r>
              <a:rPr sz="1800" b="0">
                <a:solidFill>
                  <a:srgbClr val="202830"/>
                </a:solidFill>
                <a:latin typeface="Malgun Gothic"/>
              </a:rPr>
              <a:t>구성 변경 — DB나 PDB의 옵션 및 보안 설정을 구성</a:t>
            </a:r>
          </a:p>
          <a:p>
            <a:pPr>
              <a:spcAft>
                <a:spcPts val="600"/>
              </a:spcAft>
            </a:pPr>
            <a:r>
              <a:rPr sz="1800" b="0">
                <a:solidFill>
                  <a:srgbClr val="202830"/>
                </a:solidFill>
                <a:latin typeface="Malgun Gothic"/>
              </a:rPr>
              <a:t>OUI가 설치 유형에 따라 자동 실행 / 또는 설치 후 독립형으로 직접 실행</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5.6.2 대화형 모드 vs 사일런트 모드</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202830"/>
                </a:solidFill>
                <a:latin typeface="Malgun Gothic"/>
              </a:rPr>
              <a:t>대화형(interactive) 모드</a:t>
            </a:r>
          </a:p>
          <a:p>
            <a:pPr>
              <a:spcAft>
                <a:spcPts val="600"/>
              </a:spcAft>
            </a:pPr>
            <a:r>
              <a:rPr sz="1800" b="0">
                <a:solidFill>
                  <a:srgbClr val="202830"/>
                </a:solidFill>
                <a:latin typeface="Malgun Gothic"/>
              </a:rPr>
              <a:t>   그래픽 인터페이스 + 단계별 안내 워크플로우, 질문에 답을 채움</a:t>
            </a:r>
          </a:p>
          <a:p>
            <a:pPr>
              <a:spcAft>
                <a:spcPts val="600"/>
              </a:spcAft>
            </a:pPr>
            <a:r>
              <a:rPr sz="1800" b="0">
                <a:solidFill>
                  <a:srgbClr val="202830"/>
                </a:solidFill>
                <a:latin typeface="Malgun Gothic"/>
              </a:rPr>
              <a:t>   직관적 → 학습용·일회성 생성에 적합</a:t>
            </a:r>
          </a:p>
          <a:p>
            <a:pPr>
              <a:spcAft>
                <a:spcPts val="600"/>
              </a:spcAft>
            </a:pPr>
            <a:r>
              <a:rPr sz="1800" b="1">
                <a:solidFill>
                  <a:srgbClr val="202830"/>
                </a:solidFill>
                <a:latin typeface="Malgun Gothic"/>
              </a:rPr>
              <a:t>사일런트(silent) 모드</a:t>
            </a:r>
          </a:p>
          <a:p>
            <a:pPr>
              <a:spcAft>
                <a:spcPts val="600"/>
              </a:spcAft>
            </a:pPr>
            <a:r>
              <a:rPr sz="1800" b="0">
                <a:solidFill>
                  <a:srgbClr val="202830"/>
                </a:solidFill>
                <a:latin typeface="Malgun Gothic"/>
              </a:rPr>
              <a:t>   그래픽 없이 커맨드라인 인자 + 응답 파일로 동작</a:t>
            </a:r>
          </a:p>
          <a:p>
            <a:pPr>
              <a:spcAft>
                <a:spcPts val="600"/>
              </a:spcAft>
            </a:pPr>
            <a:r>
              <a:rPr sz="1800" b="0">
                <a:solidFill>
                  <a:srgbClr val="202830"/>
                </a:solidFill>
                <a:latin typeface="Malgun Gothic"/>
              </a:rPr>
              <a:t>   생성을 스크립트로 자동화, 여러 서버에 동일 반복 배포에 유용</a:t>
            </a:r>
          </a:p>
          <a:p>
            <a:pPr>
              <a:spcAft>
                <a:spcPts val="600"/>
              </a:spcAft>
            </a:pPr>
            <a:r>
              <a:rPr sz="1800" b="0">
                <a:solidFill>
                  <a:srgbClr val="C0392B"/>
                </a:solidFill>
                <a:latin typeface="Malgun Gothic"/>
              </a:rPr>
              <a:t>참고: DBCA는 DB를 만들 '서버 OS'에서 실행. 헤드리스 서버는 사일런트가 사실상 유일</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5.6.3 템플릿의 정체와 강점</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DBCA 템플릿 = 데이터베이스 생성에 필요한 정보를 담은 XML 파일</a:t>
            </a:r>
          </a:p>
          <a:p>
            <a:pPr>
              <a:spcAft>
                <a:spcPts val="600"/>
              </a:spcAft>
            </a:pPr>
            <a:r>
              <a:rPr sz="1800" b="0">
                <a:solidFill>
                  <a:srgbClr val="202830"/>
                </a:solidFill>
                <a:latin typeface="Malgun Gothic"/>
              </a:rPr>
              <a:t>워크로드 유형에 맞는 템플릿을 고름 / 불확실하면 General Purpose 사용</a:t>
            </a:r>
          </a:p>
          <a:p>
            <a:pPr>
              <a:spcAft>
                <a:spcPts val="600"/>
              </a:spcAft>
            </a:pPr>
            <a:r>
              <a:rPr sz="1800" b="0">
                <a:solidFill>
                  <a:srgbClr val="202830"/>
                </a:solidFill>
                <a:latin typeface="Malgun Gothic"/>
              </a:rPr>
              <a:t>특정 요구를 위해 커스텀 템플릿을 새로 만들 수도 있음</a:t>
            </a:r>
          </a:p>
          <a:p>
            <a:pPr>
              <a:spcAft>
                <a:spcPts val="600"/>
              </a:spcAft>
            </a:pPr>
            <a:r>
              <a:rPr sz="1800" b="0">
                <a:solidFill>
                  <a:srgbClr val="202830"/>
                </a:solidFill>
                <a:latin typeface="Malgun Gothic"/>
              </a:rPr>
              <a:t>담기는 정보: 데이터베이스 옵션, 초기화 파라미터, 저장소 속성</a:t>
            </a:r>
          </a:p>
          <a:p>
            <a:pPr>
              <a:spcAft>
                <a:spcPts val="600"/>
              </a:spcAft>
            </a:pPr>
            <a:r>
              <a:rPr sz="1800" b="0">
                <a:solidFill>
                  <a:srgbClr val="202830"/>
                </a:solidFill>
                <a:latin typeface="Malgun Gothic"/>
              </a:rPr>
              <a:t>   (데이터 파일·테이블스페이스·컨트롤 파일·온라인 리두 로그 속성)</a:t>
            </a:r>
          </a:p>
          <a:p>
            <a:pPr>
              <a:spcAft>
                <a:spcPts val="600"/>
              </a:spcAft>
            </a:pPr>
            <a:r>
              <a:rPr sz="1800" b="0">
                <a:solidFill>
                  <a:srgbClr val="202830"/>
                </a:solidFill>
                <a:latin typeface="Malgun Gothic"/>
              </a:rPr>
              <a:t>템플릿은 스크립트보다 강력 — 데이터베이스 '복제(clone)' 옵션 존재</a:t>
            </a:r>
          </a:p>
          <a:p>
            <a:pPr>
              <a:spcAft>
                <a:spcPts val="600"/>
              </a:spcAft>
            </a:pPr>
            <a:r>
              <a:rPr sz="1800" b="0">
                <a:solidFill>
                  <a:srgbClr val="202830"/>
                </a:solidFill>
                <a:latin typeface="Malgun Gothic"/>
              </a:rPr>
              <a:t>   → 시드 DB 파일을 올바른 위치로 복사 → 처음부터 만드는 것보다 시간 절약</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5.6.4 멀티테넌트 PDB 관리와 구성 변경</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CDB가 이미 존재하면 DBCA로 그 안에서 PDB 작업 수행</a:t>
            </a:r>
          </a:p>
          <a:p>
            <a:pPr>
              <a:spcAft>
                <a:spcPts val="600"/>
              </a:spcAft>
            </a:pPr>
            <a:r>
              <a:rPr sz="1800" b="0">
                <a:solidFill>
                  <a:srgbClr val="202830"/>
                </a:solidFill>
                <a:latin typeface="Malgun Gothic"/>
              </a:rPr>
              <a:t>PDB 생성(create) · 삭제(delete) · 언플러그(unplug)</a:t>
            </a:r>
          </a:p>
          <a:p>
            <a:pPr>
              <a:spcAft>
                <a:spcPts val="600"/>
              </a:spcAft>
            </a:pPr>
            <a:r>
              <a:rPr sz="1800" b="0">
                <a:solidFill>
                  <a:srgbClr val="202830"/>
                </a:solidFill>
                <a:latin typeface="Malgun Gothic"/>
              </a:rPr>
              <a:t>6장 이후 SQL 기반 PDB 관리와 목적은 같고, GUI/스크립트로 편리하게 처리</a:t>
            </a:r>
          </a:p>
          <a:p>
            <a:pPr>
              <a:spcAft>
                <a:spcPts val="600"/>
              </a:spcAft>
            </a:pPr>
            <a:r>
              <a:rPr sz="1800" b="0">
                <a:solidFill>
                  <a:srgbClr val="202830"/>
                </a:solidFill>
                <a:latin typeface="Malgun Gothic"/>
              </a:rPr>
              <a:t>DBCA로 기존 DB의 구성 변경도 가능:</a:t>
            </a:r>
          </a:p>
          <a:p>
            <a:pPr>
              <a:spcAft>
                <a:spcPts val="600"/>
              </a:spcAft>
            </a:pPr>
            <a:r>
              <a:rPr sz="1800" b="0">
                <a:solidFill>
                  <a:srgbClr val="202830"/>
                </a:solidFill>
                <a:latin typeface="Malgun Gothic"/>
              </a:rPr>
              <a:t>   이전에 없던 데이터베이스 옵션 추가</a:t>
            </a:r>
          </a:p>
          <a:p>
            <a:pPr>
              <a:spcAft>
                <a:spcPts val="600"/>
              </a:spcAft>
            </a:pPr>
            <a:r>
              <a:rPr sz="1800" b="0">
                <a:solidFill>
                  <a:srgbClr val="202830"/>
                </a:solidFill>
                <a:latin typeface="Malgun Gothic"/>
              </a:rPr>
              <a:t>   기본 보안 설정 변경</a:t>
            </a:r>
          </a:p>
          <a:p>
            <a:pPr>
              <a:spcAft>
                <a:spcPts val="600"/>
              </a:spcAft>
            </a:pPr>
            <a:r>
              <a:rPr sz="1800" b="0">
                <a:solidFill>
                  <a:srgbClr val="202830"/>
                </a:solidFill>
                <a:latin typeface="Malgun Gothic"/>
              </a:rPr>
              <a:t>   서버 모드를 전용(dedicated) ↔ 공유(shared)로 전환</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5.6.5 대화형 마법사 단계 (1) — ①~⑥</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① 작업 선택 — 'Create a database' 선택(생성/구성 변경/삭제/템플릿/PDB 중)</a:t>
            </a:r>
          </a:p>
          <a:p>
            <a:pPr>
              <a:spcAft>
                <a:spcPts val="600"/>
              </a:spcAft>
            </a:pPr>
            <a:r>
              <a:rPr sz="1800" b="0">
                <a:solidFill>
                  <a:srgbClr val="202830"/>
                </a:solidFill>
                <a:latin typeface="Malgun Gothic"/>
              </a:rPr>
              <a:t>② 생성 모드 — 기본(Typical) 빠르게 vs 고급(Advanced) 세밀하게</a:t>
            </a:r>
          </a:p>
          <a:p>
            <a:pPr>
              <a:spcAft>
                <a:spcPts val="600"/>
              </a:spcAft>
            </a:pPr>
            <a:r>
              <a:rPr sz="1800" b="0">
                <a:solidFill>
                  <a:srgbClr val="202830"/>
                </a:solidFill>
                <a:latin typeface="Malgun Gothic"/>
              </a:rPr>
              <a:t>   문자 집합·저장소·파라미터를 직접 통제하려면 Advanced</a:t>
            </a:r>
          </a:p>
          <a:p>
            <a:pPr>
              <a:spcAft>
                <a:spcPts val="600"/>
              </a:spcAft>
            </a:pPr>
            <a:r>
              <a:rPr sz="1800" b="0">
                <a:solidFill>
                  <a:srgbClr val="202830"/>
                </a:solidFill>
                <a:latin typeface="Malgun Gothic"/>
              </a:rPr>
              <a:t>③ 배포 유형·템플릿 — General Purpose / Data Warehouse / Custom (5.2)</a:t>
            </a:r>
          </a:p>
          <a:p>
            <a:pPr>
              <a:spcAft>
                <a:spcPts val="600"/>
              </a:spcAft>
            </a:pPr>
            <a:r>
              <a:rPr sz="1800" b="0">
                <a:solidFill>
                  <a:srgbClr val="202830"/>
                </a:solidFill>
                <a:latin typeface="Malgun Gothic"/>
              </a:rPr>
              <a:t>④ 데이터베이스 식별 — 전역 이름·SID, CDB 여부, PDB 이름·개수</a:t>
            </a:r>
          </a:p>
          <a:p>
            <a:pPr>
              <a:spcAft>
                <a:spcPts val="600"/>
              </a:spcAft>
            </a:pPr>
            <a:r>
              <a:rPr sz="1800" b="0">
                <a:solidFill>
                  <a:srgbClr val="202830"/>
                </a:solidFill>
                <a:latin typeface="Malgun Gothic"/>
              </a:rPr>
              <a:t>⑤ 저장소 옵션 — 데이터 파일 위치, 파일 시스템 vs ASM, OMF 사용 (5.1)</a:t>
            </a:r>
          </a:p>
          <a:p>
            <a:pPr>
              <a:spcAft>
                <a:spcPts val="600"/>
              </a:spcAft>
            </a:pPr>
            <a:r>
              <a:rPr sz="1800" b="0">
                <a:solidFill>
                  <a:srgbClr val="202830"/>
                </a:solidFill>
                <a:latin typeface="Malgun Gothic"/>
              </a:rPr>
              <a:t>⑥ FRA·아카이브 — FRA 위치·크기, ARCHIVELOG 활성화 (5.1.3 백업)</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5.6.5 대화형 마법사 단계 (2) — ⑦~⑪</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⑦ 구성 옵션 — 메모리(자동 메모리 관리), 문자 집합(AL32UTF8 권장),</a:t>
            </a:r>
          </a:p>
          <a:p>
            <a:pPr>
              <a:spcAft>
                <a:spcPts val="600"/>
              </a:spcAft>
            </a:pPr>
            <a:r>
              <a:rPr sz="1800" b="0">
                <a:solidFill>
                  <a:srgbClr val="202830"/>
                </a:solidFill>
                <a:latin typeface="Malgun Gothic"/>
              </a:rPr>
              <a:t>   연결 모드(전용/공유), 샘플 스키마 설치 여부</a:t>
            </a:r>
          </a:p>
          <a:p>
            <a:pPr>
              <a:spcAft>
                <a:spcPts val="600"/>
              </a:spcAft>
            </a:pPr>
            <a:r>
              <a:rPr sz="1800" b="0">
                <a:solidFill>
                  <a:srgbClr val="202830"/>
                </a:solidFill>
                <a:latin typeface="Malgun Gothic"/>
              </a:rPr>
              <a:t>⑧ 관리 옵션 — EM Database Express 포트 구성 등 관리 도구 설정</a:t>
            </a:r>
          </a:p>
          <a:p>
            <a:pPr>
              <a:spcAft>
                <a:spcPts val="600"/>
              </a:spcAft>
            </a:pPr>
            <a:r>
              <a:rPr sz="1800" b="0">
                <a:solidFill>
                  <a:srgbClr val="202830"/>
                </a:solidFill>
                <a:latin typeface="Malgun Gothic"/>
              </a:rPr>
              <a:t>⑨ 사용자 자격 증명 — SYS·SYSTEM·PDBADMIN 등 관리 계정 비밀번호</a:t>
            </a:r>
          </a:p>
          <a:p>
            <a:pPr>
              <a:spcAft>
                <a:spcPts val="600"/>
              </a:spcAft>
            </a:pPr>
            <a:r>
              <a:rPr sz="1800" b="0">
                <a:solidFill>
                  <a:srgbClr val="202830"/>
                </a:solidFill>
                <a:latin typeface="Malgun Gothic"/>
              </a:rPr>
              <a:t>⑩ 생성 옵션 — 즉시 생성 / 생성 스크립트만 저장 / 템플릿으로 저장</a:t>
            </a:r>
          </a:p>
          <a:p>
            <a:pPr>
              <a:spcAft>
                <a:spcPts val="600"/>
              </a:spcAft>
            </a:pPr>
            <a:r>
              <a:rPr sz="1800" b="0">
                <a:solidFill>
                  <a:srgbClr val="202830"/>
                </a:solidFill>
                <a:latin typeface="Malgun Gothic"/>
              </a:rPr>
              <a:t>   → 스크립트만 저장하면 두 번째 목표 '생성 스크립트 생성' 달성</a:t>
            </a:r>
          </a:p>
          <a:p>
            <a:pPr>
              <a:spcAft>
                <a:spcPts val="600"/>
              </a:spcAft>
            </a:pPr>
            <a:r>
              <a:rPr sz="1800" b="0">
                <a:solidFill>
                  <a:srgbClr val="202830"/>
                </a:solidFill>
                <a:latin typeface="Malgun Gothic"/>
              </a:rPr>
              <a:t>⑪ 요약·진행 — 요약 화면 최종 확인 후 Finish → 진행 막대와 함께 생성</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5.7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DBCA 사일런트 모드 실습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사일런트 모드로 데이터베이스 생성을 완전히 스크립트화</a:t>
            </a:r>
          </a:p>
          <a:p>
            <a:pPr>
              <a:spcAft>
                <a:spcPts val="400"/>
              </a:spcAft>
            </a:pPr>
            <a:r>
              <a:rPr sz="1600" b="0">
                <a:solidFill>
                  <a:srgbClr val="C5CED6"/>
                </a:solidFill>
                <a:latin typeface="Malgun Gothic"/>
              </a:rPr>
              <a:t>•  커맨드라인 인자 / 응답 파일 / 둘의 조합으로 지정</a:t>
            </a:r>
          </a:p>
          <a:p>
            <a:pPr>
              <a:spcAft>
                <a:spcPts val="400"/>
              </a:spcAft>
            </a:pPr>
            <a:r>
              <a:rPr sz="1600" b="0">
                <a:solidFill>
                  <a:srgbClr val="C5CED6"/>
                </a:solidFill>
                <a:latin typeface="Malgun Gothic"/>
              </a:rPr>
              <a:t>•  가장 대표적인 두 작업: CDB 생성과 삭제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5.7.1 사일런트 모드로 CDB 생성</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General Purpose 템플릿으로 ORCL CDB(+pdb1) 생성</a:t>
            </a:r>
          </a:p>
        </p:txBody>
      </p:sp>
      <p:sp>
        <p:nvSpPr>
          <p:cNvPr id="5" name="Rectangle 4"/>
          <p:cNvSpPr/>
          <p:nvPr/>
        </p:nvSpPr>
        <p:spPr>
          <a:xfrm>
            <a:off x="640080" y="1691640"/>
            <a:ext cx="10881360" cy="37490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64792"/>
            <a:ext cx="10424160" cy="3602735"/>
          </a:xfrm>
          <a:prstGeom prst="rect">
            <a:avLst/>
          </a:prstGeom>
          <a:noFill/>
        </p:spPr>
        <p:txBody>
          <a:bodyPr wrap="square">
            <a:spAutoFit/>
          </a:bodyPr>
          <a:lstStyle/>
          <a:p>
            <a:pPr>
              <a:spcAft>
                <a:spcPts val="0"/>
              </a:spcAft>
            </a:pPr>
            <a:r>
              <a:rPr sz="1200" b="0">
                <a:solidFill>
                  <a:srgbClr val="E6E6E6"/>
                </a:solidFill>
                <a:latin typeface="Consolas"/>
              </a:rPr>
              <a:t>$ $ORACLE_HOME/bin/dbca -silent -createDatabase \</a:t>
            </a:r>
          </a:p>
          <a:p>
            <a:pPr>
              <a:spcAft>
                <a:spcPts val="0"/>
              </a:spcAft>
            </a:pPr>
            <a:r>
              <a:rPr sz="1200" b="0">
                <a:solidFill>
                  <a:srgbClr val="E6E6E6"/>
                </a:solidFill>
                <a:latin typeface="Consolas"/>
              </a:rPr>
              <a:t>    -templateName General_Purpose.dbc -gdbname ORCL \</a:t>
            </a:r>
          </a:p>
          <a:p>
            <a:pPr>
              <a:spcAft>
                <a:spcPts val="0"/>
              </a:spcAft>
            </a:pPr>
            <a:r>
              <a:rPr sz="1200" b="0">
                <a:solidFill>
                  <a:srgbClr val="E6E6E6"/>
                </a:solidFill>
                <a:latin typeface="Consolas"/>
              </a:rPr>
              <a:t>    -sid ORCL -createAsContainerDatabase true \</a:t>
            </a:r>
          </a:p>
          <a:p>
            <a:pPr>
              <a:spcAft>
                <a:spcPts val="0"/>
              </a:spcAft>
            </a:pPr>
            <a:r>
              <a:rPr sz="1200" b="0">
                <a:solidFill>
                  <a:srgbClr val="E6E6E6"/>
                </a:solidFill>
                <a:latin typeface="Consolas"/>
              </a:rPr>
              <a:t>    -numberOfPDBs 1 -pdbName pdb1 -useLocalUndoForPDBs true \</a:t>
            </a:r>
          </a:p>
          <a:p>
            <a:pPr>
              <a:spcAft>
                <a:spcPts val="0"/>
              </a:spcAft>
            </a:pPr>
            <a:r>
              <a:rPr sz="1200" b="0">
                <a:solidFill>
                  <a:srgbClr val="E6E6E6"/>
                </a:solidFill>
                <a:latin typeface="Consolas"/>
              </a:rPr>
              <a:t>    -responseFile NO_VALUE -characterSet AL32UTF8 \</a:t>
            </a:r>
          </a:p>
          <a:p>
            <a:pPr>
              <a:spcAft>
                <a:spcPts val="0"/>
              </a:spcAft>
            </a:pPr>
            <a:r>
              <a:rPr sz="1200" b="0">
                <a:solidFill>
                  <a:srgbClr val="E6E6E6"/>
                </a:solidFill>
                <a:latin typeface="Consolas"/>
              </a:rPr>
              <a:t>    -totalMemory 1800 -sysPassword Welcome_1 \</a:t>
            </a:r>
          </a:p>
          <a:p>
            <a:pPr>
              <a:spcAft>
                <a:spcPts val="0"/>
              </a:spcAft>
            </a:pPr>
            <a:r>
              <a:rPr sz="1200" b="0">
                <a:solidFill>
                  <a:srgbClr val="E6E6E6"/>
                </a:solidFill>
                <a:latin typeface="Consolas"/>
              </a:rPr>
              <a:t>    -systemPassword Welcome_1 -pdbAdminPassword Welcome_1 \</a:t>
            </a:r>
          </a:p>
          <a:p>
            <a:pPr>
              <a:spcAft>
                <a:spcPts val="0"/>
              </a:spcAft>
            </a:pPr>
            <a:r>
              <a:rPr sz="1200" b="0">
                <a:solidFill>
                  <a:srgbClr val="E6E6E6"/>
                </a:solidFill>
                <a:latin typeface="Consolas"/>
              </a:rPr>
              <a:t>    -emConfiguration DBEXPRESS -dbsnmpPassword Welcome_1 \</a:t>
            </a:r>
          </a:p>
          <a:p>
            <a:pPr>
              <a:spcAft>
                <a:spcPts val="0"/>
              </a:spcAft>
            </a:pPr>
            <a:r>
              <a:rPr sz="1200" b="0">
                <a:solidFill>
                  <a:srgbClr val="E6E6E6"/>
                </a:solidFill>
                <a:latin typeface="Consolas"/>
              </a:rPr>
              <a:t>    -emExpressPort 5500 -enableArchive true \</a:t>
            </a:r>
          </a:p>
          <a:p>
            <a:pPr>
              <a:spcAft>
                <a:spcPts val="0"/>
              </a:spcAft>
            </a:pPr>
            <a:r>
              <a:rPr sz="1200" b="0">
                <a:solidFill>
                  <a:srgbClr val="E6E6E6"/>
                </a:solidFill>
                <a:latin typeface="Consolas"/>
              </a:rPr>
              <a:t>    -recoveryAreaDestination /u03/app/oracle/fast_recovery_area \</a:t>
            </a:r>
          </a:p>
          <a:p>
            <a:pPr>
              <a:spcAft>
                <a:spcPts val="0"/>
              </a:spcAft>
            </a:pPr>
            <a:r>
              <a:rPr sz="1200" b="0">
                <a:solidFill>
                  <a:srgbClr val="E6E6E6"/>
                </a:solidFill>
                <a:latin typeface="Consolas"/>
              </a:rPr>
              <a:t>    -recoveryAreaSize 15000 \</a:t>
            </a:r>
          </a:p>
          <a:p>
            <a:pPr>
              <a:spcAft>
                <a:spcPts val="0"/>
              </a:spcAft>
            </a:pPr>
            <a:r>
              <a:rPr sz="1200" b="0">
                <a:solidFill>
                  <a:srgbClr val="E6E6E6"/>
                </a:solidFill>
                <a:latin typeface="Consolas"/>
              </a:rPr>
              <a:t>    -datafileDestination /u02/app/oracle/oradata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5.7.2 삭제  ·  5.7.3 생성 결과 검증</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-deleteDatabase는 되돌릴 수 없는 파괴적 작업</a:t>
            </a:r>
          </a:p>
        </p:txBody>
      </p:sp>
      <p:sp>
        <p:nvSpPr>
          <p:cNvPr id="5" name="Rectangle 4"/>
          <p:cNvSpPr/>
          <p:nvPr/>
        </p:nvSpPr>
        <p:spPr>
          <a:xfrm>
            <a:off x="640080" y="1691640"/>
            <a:ext cx="10881360" cy="40233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64792"/>
            <a:ext cx="10424160" cy="3877056"/>
          </a:xfrm>
          <a:prstGeom prst="rect">
            <a:avLst/>
          </a:prstGeom>
          <a:noFill/>
        </p:spPr>
        <p:txBody>
          <a:bodyPr wrap="square">
            <a:spAutoFit/>
          </a:bodyPr>
          <a:lstStyle/>
          <a:p>
            <a:pPr>
              <a:spcAft>
                <a:spcPts val="0"/>
              </a:spcAft>
            </a:pPr>
            <a:r>
              <a:rPr sz="1200" b="0">
                <a:solidFill>
                  <a:srgbClr val="7EC699"/>
                </a:solidFill>
                <a:latin typeface="Consolas"/>
              </a:rPr>
              <a:t>-- 데이터베이스 삭제(인스턴스 종료 + 모든 파일 제거)</a:t>
            </a:r>
          </a:p>
          <a:p>
            <a:pPr>
              <a:spcAft>
                <a:spcPts val="0"/>
              </a:spcAft>
            </a:pPr>
            <a:r>
              <a:rPr sz="1200" b="0">
                <a:solidFill>
                  <a:srgbClr val="E6E6E6"/>
                </a:solidFill>
                <a:latin typeface="Consolas"/>
              </a:rPr>
              <a:t>$ $ORACLE_HOME/bin/dbca -silent -deleteDatabase \</a:t>
            </a:r>
          </a:p>
          <a:p>
            <a:pPr>
              <a:spcAft>
                <a:spcPts val="0"/>
              </a:spcAft>
            </a:pPr>
            <a:r>
              <a:rPr sz="1200" b="0">
                <a:solidFill>
                  <a:srgbClr val="E6E6E6"/>
                </a:solidFill>
                <a:latin typeface="Consolas"/>
              </a:rPr>
              <a:t>    -sourceDB ORCL -sid ORCL -sysPassword Welcome_1</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생성 결과 검증: OPEN 모드·CDB·아카이브 확인</a:t>
            </a:r>
          </a:p>
          <a:p>
            <a:pPr>
              <a:spcAft>
                <a:spcPts val="0"/>
              </a:spcAft>
            </a:pPr>
            <a:r>
              <a:rPr sz="1200" b="0">
                <a:solidFill>
                  <a:srgbClr val="E6E6E6"/>
                </a:solidFill>
                <a:latin typeface="Consolas"/>
              </a:rPr>
              <a:t>SQL&gt; SELECT name, open_mode, cdb, log_mode FROM v$database;</a:t>
            </a:r>
          </a:p>
          <a:p>
            <a:pPr>
              <a:spcAft>
                <a:spcPts val="0"/>
              </a:spcAft>
            </a:pPr>
            <a:r>
              <a:rPr sz="1200" b="0">
                <a:solidFill>
                  <a:srgbClr val="E6E6E6"/>
                </a:solidFill>
                <a:latin typeface="Consolas"/>
              </a:rPr>
              <a:t>NAME    OPEN_MODE      CDB LOG_MODE</a:t>
            </a:r>
          </a:p>
          <a:p>
            <a:pPr>
              <a:spcAft>
                <a:spcPts val="0"/>
              </a:spcAft>
            </a:pPr>
            <a:r>
              <a:rPr sz="1200" b="0">
                <a:solidFill>
                  <a:srgbClr val="7EC699"/>
                </a:solidFill>
                <a:latin typeface="Consolas"/>
              </a:rPr>
              <a:t>------- -------------- --- ------------</a:t>
            </a:r>
          </a:p>
          <a:p>
            <a:pPr>
              <a:spcAft>
                <a:spcPts val="0"/>
              </a:spcAft>
            </a:pPr>
            <a:r>
              <a:rPr sz="1200" b="0">
                <a:solidFill>
                  <a:srgbClr val="E6E6E6"/>
                </a:solidFill>
                <a:latin typeface="Consolas"/>
              </a:rPr>
              <a:t>ORCL    READ WRITE     YES ARCHIVELOG</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SQL&gt; SELECT con_id, name, open_mode FROM v$pdbs ORDER BY con_id;</a:t>
            </a:r>
          </a:p>
          <a:p>
            <a:pPr>
              <a:spcAft>
                <a:spcPts val="0"/>
              </a:spcAft>
            </a:pPr>
            <a:r>
              <a:rPr sz="1200" b="0">
                <a:solidFill>
                  <a:srgbClr val="E6E6E6"/>
                </a:solidFill>
                <a:latin typeface="Consolas"/>
              </a:rPr>
              <a:t>SQL&gt; SELECT value FROM nls_database_parameters</a:t>
            </a:r>
          </a:p>
          <a:p>
            <a:pPr>
              <a:spcAft>
                <a:spcPts val="0"/>
              </a:spcAft>
            </a:pPr>
            <a:r>
              <a:rPr sz="1200" b="0">
                <a:solidFill>
                  <a:srgbClr val="E6E6E6"/>
                </a:solidFill>
                <a:latin typeface="Consolas"/>
              </a:rPr>
              <a:t>  2  WHERE parameter='NLS_CHARACTERSET';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5.7.3 응답 파일과 생성 스크립트 생성</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커맨드라인에 길게 나열하는 대신 응답 파일(response file)에 값을 채워 -responseFile로 넘김</a:t>
            </a:r>
          </a:p>
          <a:p>
            <a:pPr>
              <a:spcAft>
                <a:spcPts val="600"/>
              </a:spcAft>
            </a:pPr>
            <a:r>
              <a:rPr sz="1800" b="0">
                <a:solidFill>
                  <a:srgbClr val="202830"/>
                </a:solidFill>
                <a:latin typeface="Malgun Gothic"/>
              </a:rPr>
              <a:t>DBCA는 즉시 생성 대신 '데이터베이스 생성 스크립트'만 생성하도록 지시 가능</a:t>
            </a:r>
          </a:p>
          <a:p>
            <a:pPr>
              <a:spcAft>
                <a:spcPts val="600"/>
              </a:spcAft>
            </a:pPr>
            <a:r>
              <a:rPr sz="1800" b="0">
                <a:solidFill>
                  <a:srgbClr val="202830"/>
                </a:solidFill>
                <a:latin typeface="Malgun Gothic"/>
              </a:rPr>
              <a:t>   (-generateScripts 계열 옵션 또는 대화형 마법사의 '스크립트 생성' 선택)</a:t>
            </a:r>
          </a:p>
          <a:p>
            <a:pPr>
              <a:spcAft>
                <a:spcPts val="600"/>
              </a:spcAft>
            </a:pPr>
            <a:r>
              <a:rPr sz="1800" b="0">
                <a:solidFill>
                  <a:srgbClr val="202830"/>
                </a:solidFill>
                <a:latin typeface="Malgun Gothic"/>
              </a:rPr>
              <a:t>생성된 스크립트를 검토·수정 후 수동 실행 → 편의성 + 투명성·재현성 동시 확보</a:t>
            </a:r>
          </a:p>
          <a:p>
            <a:pPr>
              <a:spcAft>
                <a:spcPts val="600"/>
              </a:spcAft>
            </a:pPr>
            <a:r>
              <a:rPr sz="1800" b="0">
                <a:solidFill>
                  <a:srgbClr val="202830"/>
                </a:solidFill>
                <a:latin typeface="Malgun Gothic"/>
              </a:rPr>
              <a:t>→ 이 장의 두 번째 학습 목표 'DBCA로 생성 스크립트 생성하기'에 해당</a:t>
            </a:r>
          </a:p>
          <a:p>
            <a:pPr>
              <a:spcAft>
                <a:spcPts val="600"/>
              </a:spcAft>
            </a:pPr>
            <a:r>
              <a:rPr sz="1800" b="1">
                <a:solidFill>
                  <a:srgbClr val="C0392B"/>
                </a:solidFill>
                <a:latin typeface="Malgun Gothic"/>
              </a:rPr>
              <a:t>모범 사례: 사일런트 명령·응답 파일을 셸 스크립트로 저장해 Git 형상 관리에 넣어라</a:t>
            </a:r>
          </a:p>
          <a:p>
            <a:pPr>
              <a:spcAft>
                <a:spcPts val="600"/>
              </a:spcAft>
            </a:pPr>
            <a:r>
              <a:rPr sz="1800" b="0">
                <a:solidFill>
                  <a:srgbClr val="C0392B"/>
                </a:solidFill>
                <a:latin typeface="Malgun Gothic"/>
              </a:rPr>
              <a:t>   비밀번호는 평문 금지 — 실행 시 변수 주입 또는 지갑/시크릿 매니저 사용</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확인 퀴즈 (1/2) — 문제 1~3</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202830"/>
                </a:solidFill>
                <a:latin typeface="Malgun Gothic"/>
              </a:rPr>
              <a:t>Q1. 데이터베이스 생성 전 DBA가 계획할 항목으로 가장 거리가 먼 것은?</a:t>
            </a:r>
          </a:p>
          <a:p>
            <a:pPr>
              <a:spcAft>
                <a:spcPts val="600"/>
              </a:spcAft>
            </a:pPr>
            <a:r>
              <a:rPr sz="1800" b="0">
                <a:solidFill>
                  <a:srgbClr val="202830"/>
                </a:solidFill>
                <a:latin typeface="Malgun Gothic"/>
              </a:rPr>
              <a:t>   (a) 논리적/물리적 저장소   (b) 전체 설계   (c) 백업 전략   (d) 화면 색상</a:t>
            </a:r>
          </a:p>
          <a:p>
            <a:pPr>
              <a:spcAft>
                <a:spcPts val="600"/>
              </a:spcAft>
            </a:pPr>
            <a:r>
              <a:rPr sz="1800" b="1">
                <a:solidFill>
                  <a:srgbClr val="202830"/>
                </a:solidFill>
                <a:latin typeface="Malgun Gothic"/>
              </a:rPr>
              <a:t>Q2. 워크로드가 불확실할 때 권장되는 DBCA 템플릿은?</a:t>
            </a:r>
          </a:p>
          <a:p>
            <a:pPr>
              <a:spcAft>
                <a:spcPts val="600"/>
              </a:spcAft>
            </a:pPr>
            <a:r>
              <a:rPr sz="1800" b="0">
                <a:solidFill>
                  <a:srgbClr val="202830"/>
                </a:solidFill>
                <a:latin typeface="Malgun Gothic"/>
              </a:rPr>
              <a:t>   (a) Custom   (b) General Purpose/Transaction Processing   (c) Data Warehouse   (d) 템플릿 없이</a:t>
            </a:r>
          </a:p>
          <a:p>
            <a:pPr>
              <a:spcAft>
                <a:spcPts val="600"/>
              </a:spcAft>
            </a:pPr>
            <a:r>
              <a:rPr sz="1800" b="1">
                <a:solidFill>
                  <a:srgbClr val="202830"/>
                </a:solidFill>
                <a:latin typeface="Malgun Gothic"/>
              </a:rPr>
              <a:t>Q3. 문자 집합에 대한 설명으로 옳은 것은?</a:t>
            </a:r>
          </a:p>
          <a:p>
            <a:pPr>
              <a:spcAft>
                <a:spcPts val="600"/>
              </a:spcAft>
            </a:pPr>
            <a:r>
              <a:rPr sz="1800" b="0">
                <a:solidFill>
                  <a:srgbClr val="202830"/>
                </a:solidFill>
                <a:latin typeface="Malgun Gothic"/>
              </a:rPr>
              <a:t>   (a) 7비트=256자   (b) 멀티바이트가 항상 효율 최고   (c) AL32UTF8은 ASCII 상위 집합   (d) 생성 후 쉽게 변경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확인 퀴즈 (2/2) — 문제 4~6</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1">
                <a:solidFill>
                  <a:srgbClr val="202830"/>
                </a:solidFill>
                <a:latin typeface="Malgun Gothic"/>
              </a:rPr>
              <a:t>Q4. 클라이언트/서버 문자 집합 관계 규칙으로 옳은 것은?</a:t>
            </a:r>
          </a:p>
          <a:p>
            <a:pPr>
              <a:spcAft>
                <a:spcPts val="600"/>
              </a:spcAft>
            </a:pPr>
            <a:r>
              <a:rPr sz="1800" b="0">
                <a:solidFill>
                  <a:srgbClr val="202830"/>
                </a:solidFill>
                <a:latin typeface="Malgun Gothic"/>
              </a:rPr>
              <a:t>   (a) DB가 클라이언트의 부분 집합   (b) DB가 모든 클라이언트의 상위 집합/동등   (c) 항상 동일   (d) 관계없음</a:t>
            </a:r>
          </a:p>
          <a:p>
            <a:pPr>
              <a:spcAft>
                <a:spcPts val="600"/>
              </a:spcAft>
            </a:pPr>
            <a:r>
              <a:rPr sz="1800" b="1">
                <a:solidFill>
                  <a:srgbClr val="202830"/>
                </a:solidFill>
                <a:latin typeface="Malgun Gothic"/>
              </a:rPr>
              <a:t>Q5. DB=AL32UTF8, 실제 코드페이지=WE8MSWIN1252인데 NLS_LANG을 AL32UTF8로 설정하면?</a:t>
            </a:r>
          </a:p>
          <a:p>
            <a:pPr>
              <a:spcAft>
                <a:spcPts val="600"/>
              </a:spcAft>
            </a:pPr>
            <a:r>
              <a:rPr sz="1800" b="0">
                <a:solidFill>
                  <a:srgbClr val="202830"/>
                </a:solidFill>
                <a:latin typeface="Malgun Gothic"/>
              </a:rPr>
              <a:t>   (a) INSERT 거부   (b) 변환 생략 → 잘못된 데이터 입력   (c) 자동 올바르게 변환   (d) 접속 불가</a:t>
            </a:r>
          </a:p>
          <a:p>
            <a:pPr>
              <a:spcAft>
                <a:spcPts val="600"/>
              </a:spcAft>
            </a:pPr>
            <a:r>
              <a:rPr sz="1800" b="1">
                <a:solidFill>
                  <a:srgbClr val="202830"/>
                </a:solidFill>
                <a:latin typeface="Malgun Gothic"/>
              </a:rPr>
              <a:t>Q6. DBCA 사일런트 모드 설명으로 옳지 않은 것은?</a:t>
            </a:r>
          </a:p>
          <a:p>
            <a:pPr>
              <a:spcAft>
                <a:spcPts val="600"/>
              </a:spcAft>
            </a:pPr>
            <a:r>
              <a:rPr sz="1800" b="0">
                <a:solidFill>
                  <a:srgbClr val="202830"/>
                </a:solidFill>
                <a:latin typeface="Malgun Gothic"/>
              </a:rPr>
              <a:t>   (a) -createDatabase로 생성   (b) -deleteDatabase로 삭제   (c) 인자/응답 파일로 지정   (d) 반드시 X 윈도우 필요</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요약 (1/2)</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데이터베이스 생성은 계획에서 시작 — 논리적/물리적 저장소, 전체 설계, 백업 전략을 생성 전 확정</a:t>
            </a:r>
          </a:p>
          <a:p>
            <a:pPr>
              <a:spcAft>
                <a:spcPts val="600"/>
              </a:spcAft>
            </a:pPr>
            <a:r>
              <a:rPr sz="1800" b="0">
                <a:solidFill>
                  <a:srgbClr val="202830"/>
                </a:solidFill>
                <a:latin typeface="Malgun Gothic"/>
              </a:rPr>
              <a:t>DBCA 템플릿: General Purpose(OLTP), Data Warehouse(장기·읽기), Custom(특수). 불확실하면 GP</a:t>
            </a:r>
          </a:p>
          <a:p>
            <a:pPr>
              <a:spcAft>
                <a:spcPts val="600"/>
              </a:spcAft>
            </a:pPr>
            <a:r>
              <a:rPr sz="1800" b="0">
                <a:solidFill>
                  <a:srgbClr val="202830"/>
                </a:solidFill>
                <a:latin typeface="Malgun Gothic"/>
              </a:rPr>
              <a:t>문자 집합은 생성 시점에 결정, 나중에 바꾸기 어려움</a:t>
            </a:r>
          </a:p>
          <a:p>
            <a:pPr>
              <a:spcAft>
                <a:spcPts val="600"/>
              </a:spcAft>
            </a:pPr>
            <a:r>
              <a:rPr sz="1800" b="0">
                <a:solidFill>
                  <a:srgbClr val="202830"/>
                </a:solidFill>
                <a:latin typeface="Malgun Gothic"/>
              </a:rPr>
              <a:t>싱글바이트(효율·언어 제한), 멀티바이트(아시아 언어), 유니버설(유니코드)</a:t>
            </a:r>
          </a:p>
          <a:p>
            <a:pPr>
              <a:spcAft>
                <a:spcPts val="600"/>
              </a:spcAft>
            </a:pPr>
            <a:r>
              <a:rPr sz="1800" b="0">
                <a:solidFill>
                  <a:srgbClr val="202830"/>
                </a:solidFill>
                <a:latin typeface="Malgun Gothic"/>
              </a:rPr>
              <a:t>→ 새 데이터베이스는 AL32UTF8 권장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요약 (2/2)</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DB 문자 집합은 모든 클라이언트 인코딩의 상위 집합이어야 함</a:t>
            </a:r>
          </a:p>
          <a:p>
            <a:pPr>
              <a:spcAft>
                <a:spcPts val="600"/>
              </a:spcAft>
            </a:pPr>
            <a:r>
              <a:rPr sz="1800" b="0">
                <a:solidFill>
                  <a:srgbClr val="202830"/>
                </a:solidFill>
                <a:latin typeface="Malgun Gothic"/>
              </a:rPr>
              <a:t>변환은 Oracle Net이 NLS_LANG을 근거로 자동·투명하게 수행</a:t>
            </a:r>
          </a:p>
          <a:p>
            <a:pPr>
              <a:spcAft>
                <a:spcPts val="600"/>
              </a:spcAft>
            </a:pPr>
            <a:r>
              <a:rPr sz="1800" b="0">
                <a:solidFill>
                  <a:srgbClr val="202830"/>
                </a:solidFill>
                <a:latin typeface="Malgun Gothic"/>
              </a:rPr>
              <a:t>NLS_LANG은 클라이언트의 '실제 인코딩'을 반영해야 함</a:t>
            </a:r>
          </a:p>
          <a:p>
            <a:pPr>
              <a:spcAft>
                <a:spcPts val="600"/>
              </a:spcAft>
            </a:pPr>
            <a:r>
              <a:rPr sz="1800" b="0">
                <a:solidFill>
                  <a:srgbClr val="202830"/>
                </a:solidFill>
                <a:latin typeface="Malgun Gothic"/>
              </a:rPr>
              <a:t>→ 서버 문자 집합에 무작정 맞추면 변환이 생략되어 데이터가 조용히 손상</a:t>
            </a:r>
          </a:p>
          <a:p>
            <a:pPr>
              <a:spcAft>
                <a:spcPts val="600"/>
              </a:spcAft>
            </a:pPr>
            <a:r>
              <a:rPr sz="1800" b="0">
                <a:solidFill>
                  <a:srgbClr val="202830"/>
                </a:solidFill>
                <a:latin typeface="Malgun Gothic"/>
              </a:rPr>
              <a:t>DBCA로 데이터베이스 생성 + 생성 스크립트 생성, 대화형/사일런트 두 모드를 목적에 맞게 사용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실습 개요 (Practice Overview) — 새 CDB 생성하기</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600"/>
              </a:spcAft>
            </a:pPr>
            <a:r>
              <a:rPr sz="1800" b="0">
                <a:solidFill>
                  <a:srgbClr val="202830"/>
                </a:solidFill>
                <a:latin typeface="Malgun Gothic"/>
              </a:rPr>
              <a:t>실습 1 — DBCA 대화형 모드로 데이터베이스 생성</a:t>
            </a:r>
          </a:p>
          <a:p>
            <a:pPr>
              <a:spcAft>
                <a:spcPts val="600"/>
              </a:spcAft>
            </a:pPr>
            <a:r>
              <a:rPr sz="1800" b="0">
                <a:solidFill>
                  <a:srgbClr val="202830"/>
                </a:solidFill>
                <a:latin typeface="Malgun Gothic"/>
              </a:rPr>
              <a:t>   마법사 각 단계 입력값 안내 + 생성 후 SQL*Plus로 결과 확인</a:t>
            </a:r>
          </a:p>
          <a:p>
            <a:pPr>
              <a:spcAft>
                <a:spcPts val="600"/>
              </a:spcAft>
            </a:pPr>
            <a:r>
              <a:rPr sz="1800" b="0">
                <a:solidFill>
                  <a:srgbClr val="202830"/>
                </a:solidFill>
                <a:latin typeface="Malgun Gothic"/>
              </a:rPr>
              <a:t>실습 2 — 문자 집합 선택 및 NLS_LANG 설정 확인</a:t>
            </a:r>
          </a:p>
          <a:p>
            <a:pPr>
              <a:spcAft>
                <a:spcPts val="600"/>
              </a:spcAft>
            </a:pPr>
            <a:r>
              <a:rPr sz="1800" b="0">
                <a:solidFill>
                  <a:srgbClr val="202830"/>
                </a:solidFill>
                <a:latin typeface="Malgun Gothic"/>
              </a:rPr>
              <a:t>   NLS_LANG 오류로 데이터 손상 시나리오 재현 → 원인 파악 → 올바른 설정 재시도</a:t>
            </a:r>
          </a:p>
          <a:p>
            <a:pPr>
              <a:spcAft>
                <a:spcPts val="600"/>
              </a:spcAft>
            </a:pPr>
            <a:r>
              <a:rPr sz="1800" b="0">
                <a:solidFill>
                  <a:srgbClr val="202830"/>
                </a:solidFill>
                <a:latin typeface="Malgun Gothic"/>
              </a:rPr>
              <a:t>실습 3 — DBCA 사일런트 모드로 CDB 생성(-createDatabase)·삭제(-deleteDatabase)</a:t>
            </a:r>
          </a:p>
          <a:p>
            <a:pPr>
              <a:spcAft>
                <a:spcPts val="600"/>
              </a:spcAft>
            </a:pPr>
            <a:r>
              <a:rPr sz="1800" b="0">
                <a:solidFill>
                  <a:srgbClr val="202830"/>
                </a:solidFill>
                <a:latin typeface="Malgun Gothic"/>
              </a:rPr>
              <a:t>   셸 명령 전체 절차, 오타 오류를 만나 수정하고 성공에 이르는 흐름 경험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
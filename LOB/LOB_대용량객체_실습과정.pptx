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문서·이미지·로그처럼 4000바이트를 넘는 값을 다루는 LOB 타입을 정리한다. 타입 소개에서 끝내지 않고 저장 구조와 공간 관리, 이관까지 한 흐름으로 묶는 것이 목표다. 모든 수치는 19.3 랩에서 실제로 측정한 값이며 트랜스크립트 여덟 개에 같은 화면이 들어 있다. 첫 시간에는 "왜 VARCHAR2 로 안 되는가" 라는 질문에서 출발해 LOB 이 필요한 상황을 먼저 합의하고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"타입을 안다" 가 아니라 "고르고 운영한다" 에 있다. 실무에서 LOB 문의는 대부분 공간과 성능, 그리고 로케이터 오류로 들어온다. 그래서 목표의 절반이 저장 옵션과 공간 관리에 배정되어 있다. 마지막 항목의 오류 스무 종은 과정안내의 오류 사전과 대응하며 실습에서 모두 직접 재현한다. 수강생에게 지금 다루는 시스템에 LOB 컬럼이 몇 개 있는지 먼저 세어 보게 하면 동기가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부분은 실습 여덟 개와 대응한다. 1~2부는 실습 01, 3부는 실습 01·06, 4부는 실습 02~05, 5부는 실습 07, 6부는 실습 08 이다. 앞부분만 듣고 저장 옵션을 결정하면 공간 사고가 나므로 5부까지 묶어 한 번에 다루는 편이 낫다. 시간이 부족하면 3부와 5부를 우선하고 4부의 API 세부는 트랜스크립트로 넘긴다. 시간이 부족하면 3부와 5부를 중심으로 진행하고 나머지는 참고 자료로 남긴다.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 을 배우는 출발점은 "왜 필요한가" 다. SQL 의 VARCHAR2 는 4000바이트가 한계이고 확장해도 32767바이트다. 문서 한 편, 사진 한 장을 담을 수 없다. LOB 은 값을 별도 세그먼트에 두고 행에는 위치 정보만 남기는 구조로 이 한계를 넘는다. 그 구조가 뒤에 나오는 모든 성질, 곧 부분 읽기와 인덱스 불가와 로케이터 규칙의 원인이 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 의 최대 크기는 블록 크기에 비례한다. 8K 블록에서 약 15.9TB 이며 GET_STORAGE_LIMIT 로 확인한다. 이 함수는 로케이터를 인자로 받는다는 점을 기억한다. 인자 없이 호출하면 PLS-306 이 난다. 표의 마지막 두 줄이 실무에서 가장 중요하다. 부분 읽기가 가능하다는 것은 스트리밍이 된다는 뜻이고, 로케이터로 다룬다는 것은 트랜잭션 규칙이 따라붙는다는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 은 SQL 에서 조건·함수·CTAS 에 쓸 수 없고 테이블당 한 개만 둘 수 있다. 8i 이후로는 호환성 때문에 남아 있는 타입이므로 신규 설계에서는 쓰지 않는다. 인수한 시스템에 남아 있으면 TO_LOB 으로 복제 전환하거나 ALTER TABLE MODIFY 로 제자리 전환한다. 후자는 한 문장이지만 테이블을 배타적으로 잠그고 모든 행을 다시 쓰며 되돌릴 수 없다. 전환 전 백업은 예외가 없다.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타입 선택은 "무엇을 담는가" 보다 "무엇을 할 것인가" 로 결정된다. 정렬과 검색이 필요한 값을 LOB 으로 두면 뒤에 인덱스를 만들 수 없어 곤란해진다. 마지막 항목이 특히 중요하다. 여유를 둔다는 이유로 짧은 값을 CLOB 으로 선언하면 세그먼트 두 개가 추가되고 조회 코드도 복잡해진다. 실무에서는 본문은 CLOB, 제목·요약·해시는 VARCHAR2 로 나누는 조합이 표준이다.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타입의 차이는 두 축으로 정리된다. 첫째 축은 데이터가 DB 안에 있는가 밖에 있는가이고, 둘째 축은 문자인가 바이트인가다. 임시 LOB 은 테이블에 속하지 않는 다섯 번째 부류다. 이 구분이 백업 대상, 트랜잭션 통제, 길이 단위까지 전부 결정한다. 수강생에게 자기 시스템의 첨부 컬럼이 어느 칸에 들어가는지 지목하게 하면 이해가 빠르다. 네 타입의 차이를 한 문장으로 말할 수 있으면 이 부분의 목표는 달성된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BLOB 은 문자집합 변환이 없어 파일 크기와 GETLENGTH 가 정확히 일치한다. 12288바이트 파일이 12288바이트로 들어갔다. 적재 검증을 이 한 줄로 할 수 있다는 점이 BLOB 의 장점이다. 오프셋 인자는 IN OUT 이라 호출 뒤에는 다음에 쓸 위치가 들어 있어 여러 파일을 한 LOB 으로 이어 붙일 때 그대로 재사용한다. 앞 16바이트를 16진수로 보는 습관은 업로드 파일의 형식 검증에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CLOB 에서 가장 많이 어긋나는 것이 길이 단위다. GETLENGTH 는 문자 수, 파일 크기는 바이트이므로 한글이 섞이면 두 값이 다르다. 적재 검증을 파일 크기와 GETLENGTH 비교로 하면 정상인데도 실패로 판정한다. 읽은 바이트는 s_off 로 확인한다. 저장 폭이 문자당 2바이트라는 사실은 용량 산정에 직접 영향을 준다. 한글 1만 자 문서는 약 20KB 를 쓰고 ASCII 문서는 원본 파일의 두 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NCLOB 은 DB 문자집합이 그 언어를 담지 못할 때만 필요하다. AL32UTF8 환경에서는 CLOB 으로 충분하며 실측에서도 길이가 같다. BFILE 은 성질이 완전히 다르다. 이름만 저장하므로 파일이 없어도 INSERT 가 성공하고 user_lobs 에 나타나지 않으며 LOB 세그먼트도 없다. 무결성 검사는 애플리케이션이 FILEEXISTS 로 해야 한다. 여기서 왜 BFILE 이 백업 대상이 아닌지 질문을 끌어내면 좋다.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실측이 BFILE 의 성격을 규정한다. 읽기 전용이고 읽기 일관성이 없고 파일 소실에 그대로 노출된다. 두 번째는 감사와 이력 관리가 필요한 데이터에 BFILE 을 쓸 수 없는 이유다. 세 번째는 목록 조회 한 건이 전체 SELECT 를 실패시키므로 FILEEXISTS 로 감싸는 방어 코드가 필요하다는 뜻이다. 마지막 줄은 복구 훈련에서 꼭 확인할 내용이다. DB 를 복구해도 파일은 돌아오지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임시 LOB 은 TEMP 를 쓴다. 800만 문자 하나가 17MB 다. 대용량 가공을 하는 배치가 여럿이면 정렬 작업과 TEMP 를 나눠 쓰다가 공간 부족으로 서로를 실패시킨다. FREETEMPORARY 로 즉시 반납되므로 예외 경로까지 포함해 반드시 해제한다. 해제 뒤 같은 변수를 다시 쓰면 ORA-22275 가 나므로 해제 책임을 한 곳에만 둔다. 누수 점검은 v$temporary_lobs 로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 흐름은 단순하지만 마지막 세 줄이 실제 결정을 좌우한다. 검색 요건을 나중에 발견하면 운영 중에 되돌리기 어렵다. 값 크기 분포는 평균으로 보면 틀린다. 대부분 작고 일부만 큰 분포에서는 인라인이 유리하고 고르게 큰 분포에서는 아웃라인이 유리하다. BFILE 을 고를 때는 파일 백업과 경로 이관 절차를 함께 문서화한다는 조건을 붙인다. 결정 순서를 문서로 남겨 두면 새 컬럼을 추가할 때마다 같은 논쟁을 반복하지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 구조를 모르면 용량 산정과 성능 진단을 할 수 없다. LOB 컬럼 하나는 테이블 세그먼트 외에 LOB 세그먼트와 LOB 인덱스를 추가로 쓴다. 값이 작으면 행 안에, 크면 LOB 세그먼트에 저장되는데 그 경계를 실측으로 확정했다. 마지막으로 SecureFile 과 BasicFile 의 차이가 압축·중복 제거·암호화 가능 여부를 가른다. 이 부분의 수치는 모두 19.3 · 8K 블록 · AL32UTF8 환경에서 직접 측정한 값이다.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9바이트뿐인데 LOB 세그먼트가 128KB 다. 첫 익스텐트 크기이며 데이터 양과 무관하다. LOB 컬럼이 열 개면 세그먼트가 스물한 개가 되므로 테이블스페이스 용량 계획에 이 몫을 포함해야 한다. 이름의 C00003 은 컬럼 번호이고 앞의 숫자는 객체 번호이므로 환경마다 다르다. BFILE 컬럼에는 세그먼트가 없다는 점도 함께 확인한다. 세그먼트 이름은 시스템이 정하므로 user_lobs 로 매핑을 확인하는 습관이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"4000바이트까지 행 안에 들어간다" 는 흔한 설명은 대략적인 값이다. 실측하면 3968바이트이고 CLOB 은 문자당 2바이트로 계산되어 1984문자에서 경계가 갈린다. 처음 3900문자로 시험했을 때 행 밖으로 나가 이상해서 이분 탐색으로 확정한 값이다. 용량 산정과 인라인 여부 판단은 이 숫자를 쓴다. 판정 방법 자체도 현장에서 쓸 수 있는 기법이므로 함께 익히게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여부는 성능 문제다. LOB 을 읽지 않는 조회가 많은 테이블에서 값을 행 안에 두면 테이블 세그먼트가 부풀어 전체 스캔이 느려진다. 반대로 작은 값을 아웃라인으로 두면 행을 읽고 LOB 세그먼트를 또 읽어 I/O 가 두 번이 된다. 목록 화면이 느리다는 문의가 들어오면 LOB 의 인라인 설정을 먼저 본다. 분포를 보라는 말은 히스토그램을 그려 보라는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차이는 기능 목록이 아니라 "무엇을 할 수 있는가" 다. 압축·중복 제거·암호화가 필요하면 선택지가 SecureFile 하나로 좁혀진다. 표의 마지막 줄은 5부에서 다시 나온다. 공간 회수 방법이 다르다. PCTVERSION 과 RETENTION 은 상호 배타적이라 딕셔너리에서 한쪽만 값이 있다. 인수한 DB 에서 BasicFile 이 남아 있는지 점검하는 쿼리를 함께 만들어 둔다.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오류가 방식 선택의 제약을 그대로 보여 준다. 첫째가 가장 자주 만나는 것이다. 오래된 DB 를 인수하면 MSSM 테이블스페이스가 남아 있어 SecureFile 을 만들 수 없다. 더 곤란한 경우는 오류가 나지 않고 조용히 BasicFile 로 만들어지는 것이다. 그래서 마지막 줄의 점검 쿼리를 정기 작업에 넣는다. 압축을 걸었는데 효과가 없다는 문의의 원인이 대부분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와 RETENTION 은 눈에 잘 띄지 않지만 공간 문제의 핵심이다. CHUNK 때문에 작은 LOB 은 실제 데이터보다 훨씬 많은 공간을 쓴다. 실습 03 에서 5154문자 두 건이 1216KB 세그먼트를 쓴 것이 그 예다. RETENTION 은 5부의 공간 회수와 직접 연결된다. 삭제한 공간이 왜 미만료로 남아 있는지, 왜 파일이 줄지 않는지가 이 설정으로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 은 "SQL 로 넣고 PL/SQL 로 다룬다" 가 원칙이다. SQL 만으로는 4000바이트 제한과 비교·정렬 제약에 걸린다. 이 부분에서는 실무에서 쓰는 적재 패턴 하나와 조작 API 목록, 그리고 애플리케이션 오류의 대부분을 차지하는 로케이터 규칙을 다룬다. 규칙 두 개(행 잠금·트랜잭션 경계)만 지켜도 LOB 관련 장애 문의가 크게 줄어든다. 실습 02 와 05 가 이 부분의 내용을 그대로 따라간다.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 값은 행 밖에 있을 수 있는 값이다. 정렬·그룹화·유일성 판정은 값 전체를 메모리에 올려 비교해야 하므로 허용되지 않는다. 인덱스도 같은 이유다. 중요한 것은 각 제약의 대안을 설계 단계에서 준비하는 것이다. 특히 검색은 Oracle Text 를 쓸지 아니면 검색 대상을 VARCHAR2 컬럼으로 분리할지 미리 결정해야 한다. 운영 뒤에 발견하면 되돌리기 어렵다.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RPAD 가 오류 없이 4000바이트에서 잘린다는 점이 이 슬라이드의 핵심이다. 적재 스크립트가 성공으로 끝나면서 데이터를 잃는 전형적인 경로다. 그래서 적재 직후 GETLENGTH 로 길이를 검증하는 코드를 습관처럼 넣어야 한다. PL/SQL 의 RPAD 는 32767까지 되므로 같은 코드가 SQL 과 PL/SQL 에서 다르게 동작한다. CLOB 끼리 이어 붙이면 조각별 4000 제한만 지키면 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패턴은 애플리케이션에서도 같다. JDBC 든 OCI 든 빈 LOB 을 넣고 로케이터를 받아 스트림으로 쓰는 순서를 따른다. INSERT 로 값을 한 번에 보내는 방식은 4000바이트 이하에서만 통한다. NULL 과 EMPTY_CLOB 의 차이를 여기서 강조한다. NULL 은 로케이터가 없어 DBMS_LOB 호출이 실패한다. LOB 컬럼에 NOT NULL DEFAULT EMPTY_CLOB() 을 주면 애플리케이션 코드가 단순해진다.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를 외울 필요는 없지만 두 가지 함정은 기억해야 한다. 첫째 SUBSTR 의 인자 순서가 SQL 과 반대다. 둘째 ERASE 는 길이를 줄이지 않는다. 지웠는데 길이가 그대로라는 문의가 여기서 나온다. FRAGMENT 계열은 SecureFile 에서만 동작하며 실제로 길이를 바꾸므로 문서 중간 수정에 적합하다. 파일 계열은 반드시 닫아야 하고 FILECLOSEALL 도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API 의 차이를 출력으로 보여 주는 슬라이드다. ERASE 는 106이 아니라 100을 유지하며 가운데가 공백으로 남는다. FRAGMENT 계열은 문서 중간에 문장을 끼워 넣거나 빼는 편집 작업에 맞다. 다만 SecureFile 전용이라 BasicFile 테이블에서는 쓸 수 없다. 여기서 ERASE 의 두 번째 인자가 IN OUT 이라는 점도 함께 짚는다. 실제로 지운 양이 그 변수로 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는 요청량과 실제 읽은 양을 같은 변수로 주고받는다. 루프 안에서 매번 요청량을 다시 설정해야 한다는 점이 실수 지점이다. 변환 API 는 양쪽에서 같은 문자집합 ID 를 줘야 손실이 없다. 왕복 변환 뒤 COMPARE 가 0 인 것으로 검증했다. 파일로 내보내는 기능을 만들 때 이 변환을 거치므로 인코딩 선택이 결과 파일의 내용을 결정한다. 버퍼 크기는 32767 이 상한이므로 그보다 큰 값을 주면 오류가 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두 개만 기억하면 된다. 쓰려면 같은 트랜잭션 안에서 행을 잠근 상태여야 한다. 읽기는 제약이 없다. 커밋을 여러 번 하는 긴 배치에서는 커밋 후 로케이터를 다시 얻는 루프 구조로 작성한다. 마지막 줄은 NULL 과 EMPTY_CLOB 의 차이를 다시 확인해 주는 오류다. 화면에서 첨부를 처음 추가할 때 이 오류를 만나는 경우가 많다. 세 규칙을 애플리케이션 표준 코드로 만들어 두면 같은 오류가 재발하지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 일관성은 장점이자 함정이다. 한 번 받은 로케이터로 계속 읽으면 트랜잭션 시작 시점의 값을 본다. 긴 화면 세션이나 커서를 오래 유지하는 리포트에서 값이 갱신되지 않는 현상의 원인이다. 반대로 너무 오래 들고 있으면 이전 버전이 사라져 오류가 난다. 두 문제 모두 RETENTION 설정과 연결되므로 5부의 공간 회수와 함께 판단해야 한다. 커서를 오래 유지하는 배치는 로케이터를 주기적으로 다시 얻도록 설계한다.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5부가 이 과정에서 가장 실무적인 부분이다. LOB 관련 문의의 대부분이 공간과 성능이다. 삭제와 공간 회수의 관계, SecureFile 의 회수 방법, 압축과 중복 제거의 실제 효과, 적재 시 리두와 읽기 시 캐시를 모두 측정값으로 확인한다. 수치는 데이터 성격에 따라 달라지므로 "측정해서 결정한다" 는 태도를 함께 가르친다. 이 부분만 따로 떼어 운영 담당자 교육 자료로 써도 무리가 없는 구성이다. 수치는 반드시 자기 환경에서 다시 측정하게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 공간 진단은 이 프로시저로 시작한다. dba_segments 의 bytes 는 할당량일 뿐이어서 안을 볼 수 없다. 네 숫자의 관계를 읽는 순서를 정해 두면 판단이 빨라진다. 사용 비율이 낮고 미만료가 크면 RETENTION 조정 후 MOVE, 만료가 크면 그대로 두어도 재사용된다. 인자 개수 실수는 흔하므로 SecureFile 시그니처를 별도 스니펫으로 저장해 두는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문의의 답이다. 삭제 직후 사용 블록은 확실히 줄지만 세그먼트와 데이터파일은 그대로다. 지워진 블록은 미만료 상태로 옮겨져 RETENTION 기간이 지나야 재사용 후보가 된다. 운영에서 중요한 판단은 "파일을 정말 줄여야 하는가" 다. 곧 다시 채워질 테이블이면 그대로 두는 것이 맞고, 데이터가 영구히 줄어든 경우에만 MOVE 로 회수한다. 표의 네 행은 실습 07 에서 순서대로 직접 확인하는 내용이다.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SecureFile 에서 SHRINK SPACE 가 막히는 것을 모르면 오류 메시지만 보고 헤맨다. 오류 문구가 원인을 알려 주지 않기 때문이다. 회수는 MOVE 가 담당하며 LOB 세그먼트만 재작성한다. MOVE 는 배타 잠금을 잡으므로 작업 창이 필요하고, 무중단이 요구되면 온라인 재정의를 쓴다. LOB 만 다른 테이블스페이스로 보내는 기능은 백업 정책이나 디스크 등급을 LOB 만 다르게 할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"압축을 걸었는데 더 커졌다" 는 결과가 나오는 이유가 이 표에 있다. ALTER 는 새 형식으로 다시 쓰지만 옛 데이터가 차지한 공간을 반납하지 않는다. SPACE_USAGE 의 사용 블록을 보면 실제로는 줄어 있다. 마무리로 MOVE 를 해야 파일 크기가 따라온다. 운영 절차서에는 이 두 단계를 한 작업으로 묶어 적어 둔다. 중간에 멈추면 공간이 일시적으로 두 배가 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수치를 그대로 외우게 하지 말고 "측정해서 결정한다" 는 결론을 남긴다. 압축률은 데이터가 결정한다. 등급 간 차이가 없다면 가장 싼 LOW 를 쓰는 것이 합리적이다. 중복 제거는 같은 첨부가 여러 행에 붙는 업무에서만 의미가 있으므로 먼저 중복률을 세어 본다. 압축과 중복 제거는 Advanced Compression, 암호화는 Advanced Security 옵션이라는 라이선스 조건도 반드시 함께 말한다.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리두를 반으로 줄일 수 있다는 것은 초기 대량 적재에서 큰 차이다. 대가는 복구 불가라는 점을 분명히 해야 한다. 적재 후 백업을 같은 절차에 묶지 않으면 사고가 된다. Data Guard 환경에서는 FORCE LOGGING 때문에 효과가 없고 그래야 맞다. 딕셔너리가 두 설정을 구분하지 못하므로 실제 설정은 DDL 을 추출해 확인한다. 절 순서 오류도 한 번은 만나게 되니 미리 알려 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캐시 설정은 효과가 분명하다. 물리 읽기가 100 대 0 이다. 그러나 무조건 CACHE 가 좋은 것은 아니다. 큰 LOB 을 캐시에 올리면 다른 객체의 블록을 밀어내 전체 성능이 떨어진다. 그래서 작고 반복 조회되는 LOB 에만 적용한다. CACHE READS 는 쓰기는 캐시하지 않는 중간 선택지다. 속성은 나중에 바꿀 수 있고 재작성이 필요 없다는 점도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부분은 이관이다. 옛 LONG 컬럼을 LOB 으로 바꾸는 작업과 Data Pump 로 LOB 테이블을 옮기는 작업을 다룬다. 핵심은 "성공 메시지를 믿지 말고 무엇이 빠졌는지 확인한다" 다. BFILE 은 파일이 따라가지 않고 암호화 LOB 은 평문으로 나간다. 두 함정을 모르면 이관 뒤에 사고가 드러난다. 이관 작업은 되돌리기 어려우므로 리허설 환경에서 한 번 통과시킨 뒤 본 작업에 들어간다. 검증 쿼리를 미리 준비하는 것이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자체는 쉽지만 되돌릴 수 없다는 점이 결정을 무겁게 한다. CLOB 을 LONG 으로 되돌리는 경로는 없다. 그래서 백업을 조건으로 건다. 큰 테이블에서 ALTER 를 걸면 정지 시간이 길어지므로 사전에 소요 시간을 표본으로 측정한다. 전환을 계기로 저장 옵션을 재설계하는 것이 좋으므로 방법 ①이 실무에서 더 자주 쓰인다. 남아 있는 LONG 컬럼을 찾는 점검 쿼리를 함께 배포한다.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 는 LOB 데이터와 저장 속성을 잘 보존한다. 검증은 행 수가 아니라 LOB 길이 합계로 해야 한다. 행 수만 비교하면 LOB 이 비어 있어도 통과한다. 덤프 크기와 시간이 LOB 에 지배되는 것도 확인할 수 있다. 39MB 테이블 하나가 전체의 90퍼센트다. 큰 LOB 테이블은 QUERY 로 범위를 나누거나 PARALLEL 을 쓴다. 마지막 두 줄이 다음 슬라이드의 주제다.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함정 모두 "성공" 메시지 뒤에 숨는다. BFILE 은 같은 서버에서 테스트하면 정상으로 보여 이관 당일에야 드러난다. 암호화 LOB 은 경고 한 줄로 지나가지만 덤프 파일은 DB 밖으로 나가는 파일이다. 지갑 없이 읽을 수 있는 상태로 나간 것이므로 반출 절차에 ENCRYPTION_PASSWORD 를 표준으로 넣어야 한다. 암호는 덤프와 다른 경로로 전달하고 보관 책임자를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점검 목록은 그대로 운영 문서에 옮겨 쓸 수 있게 구성했다. 특히 정기 점검의 네 쿼리는 스크립트로 만들어 월 단위로 돌리는 것을 권한다. 절차로 묶어 둘 것 네 항목은 중간에 멈추면 오히려 나빠지는 작업들이다. 한 작업 단위로 문서화하고 담당자를 지정해야 한다. 마지막 항목은 보안 감사에서 지적받는 대표 항목이므로 반출 스크립트의 기본값으로 넣어 둔다. 항목마다 담당자와 주기를 적어 두면 점검이 실제로 돌아간다.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세 번째 1984문자다. 인라인 한계는 3968바이트이고 CLOB 은 가변폭 문자집합에서 문자당 2바이트로 저장되므로 절반인 1984문자가 경계다. 내용이 ASCII 만이어도 같다. BLOB 은 변환이 없어 3968바이트가 그대로 경계다. 실측에서 1984는 행 안, 1985는 행 밖으로 갈렸다. "4000바이트" 라는 통설이 왜 부정확한지 함께 설명하면 기억에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SecureFile 은 SHRINK SPACE 를 지원하지 않고 ORA-10635 로 막힌다. 회수는 MOVE LOB 으로 세그먼트를 재작성해야 하며, 그 전에 RETENTION 을 조정해 미만료 공간을 만료로 바꿔 두면 효과가 커진다. 실측에서 48.2MB 가 5.1MB 로 줄었다. BasicFile 이라면 첫 번째 답도 동작한다는 점을 함께 짚어 두면 두 방식의 차이가 정리된다.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LOB 쓰기는 그 행에 대한 갱신이므로 행 잠금이 필요하다. SELECT 만 한 로케이터는 읽기용이다. FOR UPDATE 로 잠그거나 INSERT ... RETURNING 으로 받은 로케이터를 쓴다. 첫 번째 상황은 ORA-22275, 세 번째도 ORA-22275 가 난다. 오류 번호로 원인을 구분하는 훈련을 여기서 해 두면 현장에서 진단이 빨라진다.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첫 줄이 모든 성질의 근원이다. 값이 행 밖에 있을 수 있다는 구조 때문에 인덱스가 불가능하고 로케이터 규칙이 생기고 공간 관리가 별도로 필요하다. 세 번째 줄과 일곱 번째 줄이 이 과정에서 새로 얻은 실측 지식이다. 마지막 줄은 이관 사고를 막는 체크포인트다. 수강생이 자기 시스템에서 한 가지만 점검한다면 BasicFile 잔존 여부와 LOB 세그먼트 사용률부터 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순서 의존성이 있어 건너뛰면 막힌다. 01 에서 만든 계정과 테이블스페이스, 03 에서 만든 OS 파일을 뒤 실습이 계속 쓴다. 06 과 07 은 적재 시간이 몇 분 걸리므로 강의 중에는 미리 돌려 두고 결과를 함께 읽는 방식이 효율적이다. 08 을 마치면 과정안내의 정리 절차로 환경을 철거한다. 트랜스크립트의 화면은 모두 실측이므로 자기 결과와 비교하게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rPr>
              <a:t>Oracle Database 19c  ·  대용량 객체(LOB) 실습 과정</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rPr>
              <a:t>LOB — 타입과 저장, 조작, 공간과 이관</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rPr>
              <a:t>LOB 이란 무엇인가 · 네 가지 타입 · 저장 구조 · 조작 API · 공간 관리와 성능 · 전환과 이관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이 과정을 마치면 다음을 수행할 수 있어야 한다.</a:t>
            </a:r>
          </a:p>
          <a:p>
            <a:pPr>
              <a:spcAft>
                <a:spcPts val="600"/>
              </a:spcAft>
            </a:pPr>
            <a:r>
              <a:rPr sz="1600" b="0">
                <a:solidFill>
                  <a:srgbClr val="202830"/>
                </a:solidFill>
                <a:latin typeface="Malgun Gothic"/>
              </a:rPr>
              <a:t>    –  BLOB·CLOB·NCLOB·BFILE·임시 LOB 의 성질을 구분해 타입을 고른다</a:t>
            </a:r>
          </a:p>
          <a:p>
            <a:pPr>
              <a:spcAft>
                <a:spcPts val="600"/>
              </a:spcAft>
            </a:pPr>
            <a:r>
              <a:rPr sz="1600" b="0">
                <a:solidFill>
                  <a:srgbClr val="202830"/>
                </a:solidFill>
                <a:latin typeface="Malgun Gothic"/>
              </a:rPr>
              <a:t>    –  인라인 저장 경계를 근거로 저장 옵션을 결정한다</a:t>
            </a:r>
          </a:p>
          <a:p>
            <a:pPr>
              <a:spcAft>
                <a:spcPts val="600"/>
              </a:spcAft>
            </a:pPr>
            <a:r>
              <a:rPr sz="1600" b="0">
                <a:solidFill>
                  <a:srgbClr val="202830"/>
                </a:solidFill>
                <a:latin typeface="Malgun Gothic"/>
              </a:rPr>
              <a:t>    –  SecureFile 의 압축·중복 제거·암호화를 적용하고 효과를 측정한다</a:t>
            </a:r>
          </a:p>
          <a:p>
            <a:pPr>
              <a:spcAft>
                <a:spcPts val="600"/>
              </a:spcAft>
            </a:pPr>
            <a:r>
              <a:rPr sz="1600" b="0">
                <a:solidFill>
                  <a:srgbClr val="202830"/>
                </a:solidFill>
                <a:latin typeface="Malgun Gothic"/>
              </a:rPr>
              <a:t>    –  DBMS_LOB 로 LOB 을 적재·수정·읽기하고 로케이터 규칙을 지킨다</a:t>
            </a:r>
          </a:p>
          <a:p>
            <a:pPr>
              <a:spcAft>
                <a:spcPts val="600"/>
              </a:spcAft>
            </a:pPr>
            <a:r>
              <a:rPr sz="1600" b="0">
                <a:solidFill>
                  <a:srgbClr val="202830"/>
                </a:solidFill>
                <a:latin typeface="Malgun Gothic"/>
              </a:rPr>
              <a:t>    –  LOB 세그먼트의 실제 사용량을 확인하고 공간을 회수한다</a:t>
            </a:r>
          </a:p>
          <a:p>
            <a:pPr>
              <a:spcAft>
                <a:spcPts val="600"/>
              </a:spcAft>
            </a:pPr>
            <a:r>
              <a:rPr sz="1600" b="0">
                <a:solidFill>
                  <a:srgbClr val="202830"/>
                </a:solidFill>
                <a:latin typeface="Malgun Gothic"/>
              </a:rPr>
              <a:t>    –  LONG 컬럼을 LOB 으로 전환하고 Data Pump 로 이관한다</a:t>
            </a:r>
          </a:p>
          <a:p>
            <a:pPr>
              <a:spcAft>
                <a:spcPts val="600"/>
              </a:spcAft>
            </a:pPr>
            <a:r>
              <a:rPr sz="1600" b="0">
                <a:solidFill>
                  <a:srgbClr val="202830"/>
                </a:solidFill>
                <a:latin typeface="Malgun Gothic"/>
              </a:rPr>
              <a:t>    –  LOB 관련 오류 스무 종을 원인별로 진단한다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이 과정의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1  LOB 이란 무엇인가 — VARCHAR2 와의 차이 · LONG 을 쓰지 않는 이유</a:t>
            </a:r>
          </a:p>
          <a:p>
            <a:pPr>
              <a:spcAft>
                <a:spcPts val="600"/>
              </a:spcAft>
            </a:pPr>
            <a:r>
              <a:rPr sz="1800" b="0">
                <a:solidFill>
                  <a:srgbClr val="202830"/>
                </a:solidFill>
                <a:latin typeface="Malgun Gothic"/>
              </a:rPr>
              <a:t>•  2  네 가지 타입 — BLOB · CLOB · NCLOB · BFILE · 임시 LOB</a:t>
            </a:r>
          </a:p>
          <a:p>
            <a:pPr>
              <a:spcAft>
                <a:spcPts val="600"/>
              </a:spcAft>
            </a:pPr>
            <a:r>
              <a:rPr sz="1800" b="0">
                <a:solidFill>
                  <a:srgbClr val="202830"/>
                </a:solidFill>
                <a:latin typeface="Malgun Gothic"/>
              </a:rPr>
              <a:t>•  3  저장 구조 — 세그먼트 세 개 · 인라인 경계 · SecureFile 과 BasicFile</a:t>
            </a:r>
          </a:p>
          <a:p>
            <a:pPr>
              <a:spcAft>
                <a:spcPts val="600"/>
              </a:spcAft>
            </a:pPr>
            <a:r>
              <a:rPr sz="1800" b="0">
                <a:solidFill>
                  <a:srgbClr val="202830"/>
                </a:solidFill>
                <a:latin typeface="Malgun Gothic"/>
              </a:rPr>
              <a:t>•  4  다루는 방법 — SQL 의 한계 · 표준 적재 패턴 · DBMS_LOB · 로케이터 규칙</a:t>
            </a:r>
          </a:p>
          <a:p>
            <a:pPr>
              <a:spcAft>
                <a:spcPts val="600"/>
              </a:spcAft>
            </a:pPr>
            <a:r>
              <a:rPr sz="1800" b="0">
                <a:solidFill>
                  <a:srgbClr val="202830"/>
                </a:solidFill>
                <a:latin typeface="Malgun Gothic"/>
              </a:rPr>
              <a:t>•  5  공간과 성능 — SPACE_USAGE · MOVE · 리두 · 캐시</a:t>
            </a:r>
          </a:p>
          <a:p>
            <a:pPr>
              <a:spcAft>
                <a:spcPts val="600"/>
              </a:spcAft>
            </a:pPr>
            <a:r>
              <a:rPr sz="1800" b="0">
                <a:solidFill>
                  <a:srgbClr val="202830"/>
                </a:solidFill>
                <a:latin typeface="Malgun Gothic"/>
              </a:rPr>
              <a:t>•  6  전환과 이관 — LONG → LOB · Data Pump · BFILE 과 암호화의 함정</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실습 준비:</a:t>
            </a:r>
          </a:p>
          <a:p>
            <a:pPr>
              <a:spcAft>
                <a:spcPts val="600"/>
              </a:spcAft>
            </a:pPr>
            <a:r>
              <a:rPr sz="1300" b="0">
                <a:solidFill>
                  <a:srgbClr val="202830"/>
                </a:solidFill>
                <a:latin typeface="Malgun Gothic"/>
              </a:rPr>
              <a:t>ASSM·MSSM 테이블스페이스 두 개, 전용 계정 loblab, 디렉터리 객체 lob_dir 과 OS 경로가 필요하다.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LOB 이란 무엇인가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4000 바이트의 벽 — VARCHAR2 로 담을 수 없는 값</a:t>
            </a:r>
          </a:p>
          <a:p>
            <a:pPr>
              <a:spcAft>
                <a:spcPts val="600"/>
              </a:spcAft>
            </a:pPr>
            <a:r>
              <a:rPr sz="1600" b="0">
                <a:solidFill>
                  <a:srgbClr val="C5CED6"/>
                </a:solidFill>
                <a:latin typeface="Malgun Gothic"/>
              </a:rPr>
              <a:t>•  값은 별도 세그먼트, 행에는 로케이터</a:t>
            </a:r>
          </a:p>
          <a:p>
            <a:pPr>
              <a:spcAft>
                <a:spcPts val="600"/>
              </a:spcAft>
            </a:pPr>
            <a:r>
              <a:rPr sz="1600" b="0">
                <a:solidFill>
                  <a:srgbClr val="C5CED6"/>
                </a:solidFill>
                <a:latin typeface="Malgun Gothic"/>
              </a:rPr>
              <a:t>•  LONG 은 호환용으로 남은 타입이다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VARCHAR2 · RAW 와 LOB</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구조가 달라 성질이 달라진다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구분               | VARCHAR2 / RAW        | LOB</a:t>
            </a:r>
          </a:p>
          <a:p>
            <a:r>
              <a:rPr sz="1250" b="0">
                <a:solidFill>
                  <a:srgbClr val="E6E6E6"/>
                </a:solidFill>
                <a:latin typeface="Consolas"/>
              </a:rPr>
              <a:t>-------------------|-----------------------|--------------------------------</a:t>
            </a:r>
          </a:p>
          <a:p>
            <a:r>
              <a:rPr sz="1250" b="0">
                <a:solidFill>
                  <a:srgbClr val="E6E6E6"/>
                </a:solidFill>
                <a:latin typeface="Consolas"/>
              </a:rPr>
              <a:t>최대 크기          | 4000 바이트           | 약 15.9 TB  (8K 블록 실측)</a:t>
            </a:r>
          </a:p>
          <a:p>
            <a:r>
              <a:rPr sz="1250" b="0">
                <a:solidFill>
                  <a:srgbClr val="E6E6E6"/>
                </a:solidFill>
                <a:latin typeface="Consolas"/>
              </a:rPr>
              <a:t>                   | (확장 시 32767)       |</a:t>
            </a:r>
          </a:p>
          <a:p>
            <a:r>
              <a:rPr sz="1250" b="0">
                <a:solidFill>
                  <a:srgbClr val="E6E6E6"/>
                </a:solidFill>
                <a:latin typeface="Consolas"/>
              </a:rPr>
              <a:t>저장 위치          | 행 안                 | 작으면 행 안, 크면 LOB 세그먼트</a:t>
            </a:r>
          </a:p>
          <a:p>
            <a:r>
              <a:rPr sz="1250" b="0">
                <a:solidFill>
                  <a:srgbClr val="E6E6E6"/>
                </a:solidFill>
                <a:latin typeface="Consolas"/>
              </a:rPr>
              <a:t>SQL 에서 값 다루기 | 모든 함수·비교·정렬   | 일부만. 비교·정렬·인덱스 불가</a:t>
            </a:r>
          </a:p>
          <a:p>
            <a:r>
              <a:rPr sz="1250" b="0">
                <a:solidFill>
                  <a:srgbClr val="E6E6E6"/>
                </a:solidFill>
                <a:latin typeface="Consolas"/>
              </a:rPr>
              <a:t>부분 읽기·쓰기     | 불가 (항상 전체)      | 가능 (오프셋 지정)</a:t>
            </a:r>
          </a:p>
          <a:p>
            <a:r>
              <a:rPr sz="1250" b="0">
                <a:solidFill>
                  <a:srgbClr val="E6E6E6"/>
                </a:solidFill>
                <a:latin typeface="Consolas"/>
              </a:rPr>
              <a:t>프로그램 인터페이스| 값 자체               | 로케이터(포인터) + DBMS_LOB</a:t>
            </a:r>
          </a:p>
          <a:p>
            <a:r>
              <a:rPr sz="1250" b="0">
                <a:solidFill>
                  <a:srgbClr val="E6E6E6"/>
                </a:solidFill>
                <a:latin typeface="Consolas"/>
              </a:rPr>
              <a:t/>
            </a:r>
          </a:p>
          <a:p>
            <a:r>
              <a:rPr sz="1250" b="0">
                <a:solidFill>
                  <a:srgbClr val="E6E6E6"/>
                </a:solidFill>
                <a:latin typeface="Consolas"/>
              </a:rPr>
              <a:t>-- 한 LOB 이 담을 수 있는 최대 크기 (실측)</a:t>
            </a:r>
          </a:p>
          <a:p>
            <a:r>
              <a:rPr sz="1250" b="0">
                <a:solidFill>
                  <a:srgbClr val="E6E6E6"/>
                </a:solidFill>
                <a:latin typeface="Consolas"/>
              </a:rPr>
              <a:t>LOBLAB@orcl&gt; DECLARE v_c CLOB;</a:t>
            </a:r>
          </a:p>
          <a:p>
            <a:r>
              <a:rPr sz="1250" b="0">
                <a:solidFill>
                  <a:srgbClr val="E6E6E6"/>
                </a:solidFill>
                <a:latin typeface="Consolas"/>
              </a:rPr>
              <a:t>  2  BEGIN</a:t>
            </a:r>
          </a:p>
          <a:p>
            <a:r>
              <a:rPr sz="1250" b="0">
                <a:solidFill>
                  <a:srgbClr val="E6E6E6"/>
                </a:solidFill>
                <a:latin typeface="Consolas"/>
              </a:rPr>
              <a:t>  3    SELECT c INTO v_c FROM cf_1984 WHERE id=1;</a:t>
            </a:r>
          </a:p>
          <a:p>
            <a:r>
              <a:rPr sz="1250" b="0">
                <a:solidFill>
                  <a:srgbClr val="E6E6E6"/>
                </a:solidFill>
                <a:latin typeface="Consolas"/>
              </a:rPr>
              <a:t>  4    DBMS_OUTPUT.PUT_LINE('저장 한계=' || DBMS_LOB.GET_STORAGE_LIMIT(v_c));</a:t>
            </a:r>
          </a:p>
          <a:p>
            <a:r>
              <a:rPr sz="1250" b="0">
                <a:solidFill>
                  <a:srgbClr val="E6E6E6"/>
                </a:solidFill>
                <a:latin typeface="Consolas"/>
              </a:rPr>
              <a:t>  5  END;</a:t>
            </a:r>
          </a:p>
          <a:p>
            <a:r>
              <a:rPr sz="1250" b="0">
                <a:solidFill>
                  <a:srgbClr val="E6E6E6"/>
                </a:solidFill>
                <a:latin typeface="Consolas"/>
              </a:rPr>
              <a:t>  6  /</a:t>
            </a:r>
          </a:p>
          <a:p>
            <a:r>
              <a:rPr sz="1250" b="0">
                <a:solidFill>
                  <a:srgbClr val="E6E6E6"/>
                </a:solidFill>
                <a:latin typeface="Consolas"/>
              </a:rPr>
              <a:t>저장 한계=17463337021470            -- 약 15.9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LONG 은 왜 쓰지 않는가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세 가지 오류가 답이다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LOBLAB@orcl&gt; CREATE TABLE legacy_note (id NUMBER PRIMARY KEY, note LONG);</a:t>
            </a:r>
          </a:p>
          <a:p>
            <a:r>
              <a:rPr sz="1250" b="0">
                <a:solidFill>
                  <a:srgbClr val="E6E6E6"/>
                </a:solidFill>
                <a:latin typeface="Consolas"/>
              </a:rPr>
              <a:t>Table created.</a:t>
            </a:r>
          </a:p>
          <a:p>
            <a:r>
              <a:rPr sz="1250" b="0">
                <a:solidFill>
                  <a:srgbClr val="E6E6E6"/>
                </a:solidFill>
                <a:latin typeface="Consolas"/>
              </a:rPr>
              <a:t/>
            </a:r>
          </a:p>
          <a:p>
            <a:r>
              <a:rPr sz="1250" b="0">
                <a:solidFill>
                  <a:srgbClr val="E6E6E6"/>
                </a:solidFill>
                <a:latin typeface="Consolas"/>
              </a:rPr>
              <a:t>LOBLAB@orcl&gt; SELECT id FROM legacy_note WHERE note LIKE '%본문%';</a:t>
            </a:r>
          </a:p>
          <a:p>
            <a:r>
              <a:rPr sz="1250" b="0">
                <a:solidFill>
                  <a:srgbClr val="E6E6E6"/>
                </a:solidFill>
                <a:latin typeface="Consolas"/>
              </a:rPr>
              <a:t>ORA-00932: inconsistent datatypes: expected CHAR got LONG</a:t>
            </a:r>
          </a:p>
          <a:p>
            <a:r>
              <a:rPr sz="1250" b="0">
                <a:solidFill>
                  <a:srgbClr val="E6E6E6"/>
                </a:solidFill>
                <a:latin typeface="Consolas"/>
              </a:rPr>
              <a:t/>
            </a:r>
          </a:p>
          <a:p>
            <a:r>
              <a:rPr sz="1250" b="0">
                <a:solidFill>
                  <a:srgbClr val="E6E6E6"/>
                </a:solidFill>
                <a:latin typeface="Consolas"/>
              </a:rPr>
              <a:t>LOBLAB@orcl&gt; SELECT LENGTH(note) FROM legacy_note WHERE id=1;</a:t>
            </a:r>
          </a:p>
          <a:p>
            <a:r>
              <a:rPr sz="1250" b="0">
                <a:solidFill>
                  <a:srgbClr val="E6E6E6"/>
                </a:solidFill>
                <a:latin typeface="Consolas"/>
              </a:rPr>
              <a:t>ORA-00932: inconsistent datatypes: expected CHAR got LONG</a:t>
            </a:r>
          </a:p>
          <a:p>
            <a:r>
              <a:rPr sz="1250" b="0">
                <a:solidFill>
                  <a:srgbClr val="E6E6E6"/>
                </a:solidFill>
                <a:latin typeface="Consolas"/>
              </a:rPr>
              <a:t/>
            </a:r>
          </a:p>
          <a:p>
            <a:r>
              <a:rPr sz="1250" b="0">
                <a:solidFill>
                  <a:srgbClr val="E6E6E6"/>
                </a:solidFill>
                <a:latin typeface="Consolas"/>
              </a:rPr>
              <a:t>LOBLAB@orcl&gt; CREATE TABLE legacy_copy AS SELECT * FROM legacy_note;</a:t>
            </a:r>
          </a:p>
          <a:p>
            <a:r>
              <a:rPr sz="1250" b="0">
                <a:solidFill>
                  <a:srgbClr val="E6E6E6"/>
                </a:solidFill>
                <a:latin typeface="Consolas"/>
              </a:rPr>
              <a:t>ORA-00997: illegal use of LONG datatype</a:t>
            </a:r>
          </a:p>
          <a:p>
            <a:r>
              <a:rPr sz="1250" b="0">
                <a:solidFill>
                  <a:srgbClr val="E6E6E6"/>
                </a:solidFill>
                <a:latin typeface="Consolas"/>
              </a:rPr>
              <a:t/>
            </a:r>
          </a:p>
          <a:p>
            <a:r>
              <a:rPr sz="1250" b="0">
                <a:solidFill>
                  <a:srgbClr val="E6E6E6"/>
                </a:solidFill>
                <a:latin typeface="Consolas"/>
              </a:rPr>
              <a:t>-- 전환 : 두 방법 모두 한 문장이다 (실습 08)</a:t>
            </a:r>
          </a:p>
          <a:p>
            <a:r>
              <a:rPr sz="1250" b="0">
                <a:solidFill>
                  <a:srgbClr val="E6E6E6"/>
                </a:solidFill>
                <a:latin typeface="Consolas"/>
              </a:rPr>
              <a:t>CREATE TABLE note_clob AS SELECT id, TO_LOB(note) AS note FROM legacy_note;</a:t>
            </a:r>
          </a:p>
          <a:p>
            <a:r>
              <a:rPr sz="1250" b="0">
                <a:solidFill>
                  <a:srgbClr val="E6E6E6"/>
                </a:solidFill>
                <a:latin typeface="Consolas"/>
              </a:rPr>
              <a:t>ALTER TABLE legacy_note MODIFY (note CLOB);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LOB 이 쓰이는 상황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문서·본문 — 게시글, 계약서, 로그, JSON·XML 문서</a:t>
            </a:r>
          </a:p>
          <a:p>
            <a:pPr>
              <a:spcAft>
                <a:spcPts val="600"/>
              </a:spcAft>
            </a:pPr>
            <a:r>
              <a:rPr sz="1600" b="0">
                <a:solidFill>
                  <a:srgbClr val="202830"/>
                </a:solidFill>
                <a:latin typeface="Malgun Gothic"/>
              </a:rPr>
              <a:t>    –  CLOB. 검색이 필요하면 Oracle Text 를 함께 계획한다</a:t>
            </a:r>
          </a:p>
          <a:p>
            <a:pPr>
              <a:spcAft>
                <a:spcPts val="600"/>
              </a:spcAft>
            </a:pPr>
            <a:r>
              <a:rPr sz="1800" b="0">
                <a:solidFill>
                  <a:srgbClr val="202830"/>
                </a:solidFill>
                <a:latin typeface="Malgun Gothic"/>
              </a:rPr>
              <a:t>•  첨부·이미지 — 스캔 파일, 서명, PDF, 직렬화한 바이너리</a:t>
            </a:r>
          </a:p>
          <a:p>
            <a:pPr>
              <a:spcAft>
                <a:spcPts val="600"/>
              </a:spcAft>
            </a:pPr>
            <a:r>
              <a:rPr sz="1600" b="0">
                <a:solidFill>
                  <a:srgbClr val="202830"/>
                </a:solidFill>
                <a:latin typeface="Malgun Gothic"/>
              </a:rPr>
              <a:t>    –  BLOB. 문자집합 변환이 없어 바이트가 그대로 보존된다</a:t>
            </a:r>
          </a:p>
          <a:p>
            <a:pPr>
              <a:spcAft>
                <a:spcPts val="600"/>
              </a:spcAft>
            </a:pPr>
            <a:r>
              <a:rPr sz="1800" b="0">
                <a:solidFill>
                  <a:srgbClr val="202830"/>
                </a:solidFill>
                <a:latin typeface="Malgun Gothic"/>
              </a:rPr>
              <a:t>•  대용량 원본 — 동영상, 수백 MB 이상의 불변 파일</a:t>
            </a:r>
          </a:p>
          <a:p>
            <a:pPr>
              <a:spcAft>
                <a:spcPts val="600"/>
              </a:spcAft>
            </a:pPr>
            <a:r>
              <a:rPr sz="1600" b="0">
                <a:solidFill>
                  <a:srgbClr val="202830"/>
                </a:solidFill>
                <a:latin typeface="Malgun Gothic"/>
              </a:rPr>
              <a:t>    –  BFILE 또는 DB 밖 저장소. 트랜잭션·백업 책임이 애플리케이션으로 넘어간다</a:t>
            </a:r>
          </a:p>
          <a:p>
            <a:pPr>
              <a:spcAft>
                <a:spcPts val="600"/>
              </a:spcAft>
            </a:pPr>
            <a:r>
              <a:rPr sz="1800" b="0">
                <a:solidFill>
                  <a:srgbClr val="202830"/>
                </a:solidFill>
                <a:latin typeface="Malgun Gothic"/>
              </a:rPr>
              <a:t>•  가공 중간 산출물 — 조각을 이어 붙여 만드는 보고서 본문</a:t>
            </a:r>
          </a:p>
          <a:p>
            <a:pPr>
              <a:spcAft>
                <a:spcPts val="600"/>
              </a:spcAft>
            </a:pPr>
            <a:r>
              <a:rPr sz="1600" b="0">
                <a:solidFill>
                  <a:srgbClr val="202830"/>
                </a:solidFill>
                <a:latin typeface="Malgun Gothic"/>
              </a:rPr>
              <a:t>    –  임시 LOB. 임시 테이블스페이스를 쓰므로 반드시 해제한다</a:t>
            </a:r>
          </a:p>
          <a:p>
            <a:pPr>
              <a:spcAft>
                <a:spcPts val="600"/>
              </a:spcAft>
            </a:pPr>
            <a:r>
              <a:rPr sz="1800" b="0">
                <a:solidFill>
                  <a:srgbClr val="202830"/>
                </a:solidFill>
                <a:latin typeface="Malgun Gothic"/>
              </a:rPr>
              <a:t>•  쓰지 않는 편이 나은 경우</a:t>
            </a:r>
          </a:p>
          <a:p>
            <a:pPr>
              <a:spcAft>
                <a:spcPts val="600"/>
              </a:spcAft>
            </a:pPr>
            <a:r>
              <a:rPr sz="1600" b="0">
                <a:solidFill>
                  <a:srgbClr val="202830"/>
                </a:solidFill>
                <a:latin typeface="Malgun Gothic"/>
              </a:rPr>
              <a:t>    –  정렬·그룹화·유일성 판정이 필요한 값 — 인덱스를 만들 수 없다</a:t>
            </a:r>
          </a:p>
          <a:p>
            <a:pPr>
              <a:spcAft>
                <a:spcPts val="600"/>
              </a:spcAft>
            </a:pPr>
            <a:r>
              <a:rPr sz="1600" b="0">
                <a:solidFill>
                  <a:srgbClr val="202830"/>
                </a:solidFill>
                <a:latin typeface="Malgun Gothic"/>
              </a:rPr>
              <a:t>    –  4000 바이트 안에 확실히 들어가는 값 — VARCHAR2 가 단순하고 빠르다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네 가지 타입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BLOB — 이진, DB 안, 트랜잭션 대상</a:t>
            </a:r>
          </a:p>
          <a:p>
            <a:pPr>
              <a:spcAft>
                <a:spcPts val="600"/>
              </a:spcAft>
            </a:pPr>
            <a:r>
              <a:rPr sz="1600" b="0">
                <a:solidFill>
                  <a:srgbClr val="C5CED6"/>
                </a:solidFill>
                <a:latin typeface="Malgun Gothic"/>
              </a:rPr>
              <a:t>•  CLOB / NCLOB — 문자, 문자집합의 영향을 받는다</a:t>
            </a:r>
          </a:p>
          <a:p>
            <a:pPr>
              <a:spcAft>
                <a:spcPts val="600"/>
              </a:spcAft>
            </a:pPr>
            <a:r>
              <a:rPr sz="1600" b="0">
                <a:solidFill>
                  <a:srgbClr val="C5CED6"/>
                </a:solidFill>
                <a:latin typeface="Malgun Gothic"/>
              </a:rPr>
              <a:t>•  BFILE — DB 밖 파일 포인터, 읽기 전용</a:t>
            </a:r>
          </a:p>
          <a:p>
            <a:pPr>
              <a:spcAft>
                <a:spcPts val="600"/>
              </a:spcAft>
            </a:pPr>
            <a:r>
              <a:rPr sz="1600" b="0">
                <a:solidFill>
                  <a:srgbClr val="C5CED6"/>
                </a:solidFill>
                <a:latin typeface="Malgun Gothic"/>
              </a:rPr>
              <a:t>•  임시 LOB — 세션 수명의 작업용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BLOB — 이진 대용량 객체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바이트 열을 그대로 보관한다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파일을 그대로 적재한다 (실습 03)</a:t>
            </a:r>
          </a:p>
          <a:p>
            <a:r>
              <a:rPr sz="1250" b="0">
                <a:solidFill>
                  <a:srgbClr val="E6E6E6"/>
                </a:solidFill>
                <a:latin typeface="Consolas"/>
              </a:rPr>
              <a:t>DECLARE</a:t>
            </a:r>
          </a:p>
          <a:p>
            <a:r>
              <a:rPr sz="1250" b="0">
                <a:solidFill>
                  <a:srgbClr val="E6E6E6"/>
                </a:solidFill>
                <a:latin typeface="Consolas"/>
              </a:rPr>
              <a:t>  v_b BLOB; v_f BFILE := BFILENAME('LOB_DIR','photo.bin');</a:t>
            </a:r>
          </a:p>
          <a:p>
            <a:r>
              <a:rPr sz="1250" b="0">
                <a:solidFill>
                  <a:srgbClr val="E6E6E6"/>
                </a:solidFill>
                <a:latin typeface="Consolas"/>
              </a:rPr>
              <a:t>  d_off INTEGER := 1; s_off INTEGER := 1;</a:t>
            </a:r>
          </a:p>
          <a:p>
            <a:r>
              <a:rPr sz="1250" b="0">
                <a:solidFill>
                  <a:srgbClr val="E6E6E6"/>
                </a:solidFill>
                <a:latin typeface="Consolas"/>
              </a:rPr>
              <a:t>BEGIN</a:t>
            </a:r>
          </a:p>
          <a:p>
            <a:r>
              <a:rPr sz="1250" b="0">
                <a:solidFill>
                  <a:srgbClr val="E6E6E6"/>
                </a:solidFill>
                <a:latin typeface="Consolas"/>
              </a:rPr>
              <a:t>  INSERT INTO file_store (id, fname, content)</a:t>
            </a:r>
          </a:p>
          <a:p>
            <a:r>
              <a:rPr sz="1250" b="0">
                <a:solidFill>
                  <a:srgbClr val="E6E6E6"/>
                </a:solidFill>
                <a:latin typeface="Consolas"/>
              </a:rPr>
              <a:t>    VALUES (1, 'photo.bin', EMPTY_BLOB()) RETURNING content INTO v_b;</a:t>
            </a:r>
          </a:p>
          <a:p>
            <a:r>
              <a:rPr sz="1250" b="0">
                <a:solidFill>
                  <a:srgbClr val="E6E6E6"/>
                </a:solidFill>
                <a:latin typeface="Consolas"/>
              </a:rPr>
              <a:t>  DBMS_LOB.FILEOPEN(v_f, DBMS_LOB.FILE_READONLY);</a:t>
            </a:r>
          </a:p>
          <a:p>
            <a:r>
              <a:rPr sz="1250" b="0">
                <a:solidFill>
                  <a:srgbClr val="E6E6E6"/>
                </a:solidFill>
                <a:latin typeface="Consolas"/>
              </a:rPr>
              <a:t>  DBMS_LOB.LOADBLOBFROMFILE(v_b, v_f, DBMS_LOB.LOBMAXSIZE, d_off, s_off);</a:t>
            </a:r>
          </a:p>
          <a:p>
            <a:r>
              <a:rPr sz="1250" b="0">
                <a:solidFill>
                  <a:srgbClr val="E6E6E6"/>
                </a:solidFill>
                <a:latin typeface="Consolas"/>
              </a:rPr>
              <a:t>  DBMS_LOB.FILECLOSE(v_f);</a:t>
            </a:r>
          </a:p>
          <a:p>
            <a:r>
              <a:rPr sz="1250" b="0">
                <a:solidFill>
                  <a:srgbClr val="E6E6E6"/>
                </a:solidFill>
                <a:latin typeface="Consolas"/>
              </a:rPr>
              <a:t>END;</a:t>
            </a:r>
          </a:p>
          <a:p>
            <a:r>
              <a:rPr sz="1250" b="0">
                <a:solidFill>
                  <a:srgbClr val="E6E6E6"/>
                </a:solidFill>
                <a:latin typeface="Consolas"/>
              </a:rPr>
              <a:t/>
            </a:r>
          </a:p>
          <a:p>
            <a:r>
              <a:rPr sz="1250" b="0">
                <a:solidFill>
                  <a:srgbClr val="E6E6E6"/>
                </a:solidFill>
                <a:latin typeface="Consolas"/>
              </a:rPr>
              <a:t>BLOB 길이=12288  다음 목적지 오프셋=12289  다음 원본 오프셋=12289</a:t>
            </a:r>
          </a:p>
          <a:p>
            <a:r>
              <a:rPr sz="1250" b="0">
                <a:solidFill>
                  <a:srgbClr val="E6E6E6"/>
                </a:solidFill>
                <a:latin typeface="Consolas"/>
              </a:rPr>
              <a:t/>
            </a:r>
          </a:p>
          <a:p>
            <a:r>
              <a:rPr sz="1250" b="0">
                <a:solidFill>
                  <a:srgbClr val="E6E6E6"/>
                </a:solidFill>
                <a:latin typeface="Consolas"/>
              </a:rPr>
              <a:t>-- 앞부분으로 파일 형식을 확인한다 (매직 넘버)</a:t>
            </a:r>
          </a:p>
          <a:p>
            <a:r>
              <a:rPr sz="1250" b="0">
                <a:solidFill>
                  <a:srgbClr val="E6E6E6"/>
                </a:solidFill>
                <a:latin typeface="Consolas"/>
              </a:rPr>
              <a:t>SELECT RAWTOHEX(DBMS_LOB.SUBSTR(content, 16, 1)) FROM file_store WHERE id=1;</a:t>
            </a:r>
          </a:p>
          <a:p>
            <a:r>
              <a:rPr sz="1250" b="0">
                <a:solidFill>
                  <a:srgbClr val="E6E6E6"/>
                </a:solidFill>
                <a:latin typeface="Consolas"/>
              </a:rPr>
              <a:t>8959CA2E061285E7F866CB2A8C68E166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CLOB — 문자 대용량 객체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가변폭 문자집합에서는 문자당 2바이트로 저장된다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같은 파일을 CLOB 으로 적재하면 숫자가 달라진다 (실습 03)</a:t>
            </a:r>
          </a:p>
          <a:p>
            <a:r>
              <a:rPr sz="1250" b="0">
                <a:solidFill>
                  <a:srgbClr val="E6E6E6"/>
                </a:solidFill>
                <a:latin typeface="Consolas"/>
              </a:rPr>
              <a:t>DBMS_LOB.LOADCLOBFROMFILE(v_c, v_f, DBMS_LOB.LOBMAXSIZE, d_off, s_off,</a:t>
            </a:r>
          </a:p>
          <a:p>
            <a:r>
              <a:rPr sz="1250" b="0">
                <a:solidFill>
                  <a:srgbClr val="E6E6E6"/>
                </a:solidFill>
                <a:latin typeface="Consolas"/>
              </a:rPr>
              <a:t>                          NLS_CHARSET_ID('AL32UTF8'), lang, warn);</a:t>
            </a:r>
          </a:p>
          <a:p>
            <a:r>
              <a:rPr sz="1250" b="0">
                <a:solidFill>
                  <a:srgbClr val="E6E6E6"/>
                </a:solidFill>
                <a:latin typeface="Consolas"/>
              </a:rPr>
              <a:t/>
            </a:r>
          </a:p>
          <a:p>
            <a:r>
              <a:rPr sz="1250" b="0">
                <a:solidFill>
                  <a:srgbClr val="E6E6E6"/>
                </a:solidFill>
                <a:latin typeface="Consolas"/>
              </a:rPr>
              <a:t>CLOB 문자수=5154  읽은 바이트=7566  warning=0</a:t>
            </a:r>
          </a:p>
          <a:p>
            <a:r>
              <a:rPr sz="1250" b="0">
                <a:solidFill>
                  <a:srgbClr val="E6E6E6"/>
                </a:solidFill>
                <a:latin typeface="Consolas"/>
              </a:rPr>
              <a:t>        ↑ GETLENGTH 는 문자 수       ↑ s_off 는 원본 파일의 바이트</a:t>
            </a:r>
          </a:p>
          <a:p>
            <a:r>
              <a:rPr sz="1250" b="0">
                <a:solidFill>
                  <a:srgbClr val="E6E6E6"/>
                </a:solidFill>
                <a:latin typeface="Consolas"/>
              </a:rPr>
              <a:t/>
            </a:r>
          </a:p>
          <a:p>
            <a:r>
              <a:rPr sz="1250" b="0">
                <a:solidFill>
                  <a:srgbClr val="E6E6E6"/>
                </a:solidFill>
                <a:latin typeface="Consolas"/>
              </a:rPr>
              <a:t>-- 바이트로 세려 하면 막힌다</a:t>
            </a:r>
          </a:p>
          <a:p>
            <a:r>
              <a:rPr sz="1250" b="0">
                <a:solidFill>
                  <a:srgbClr val="E6E6E6"/>
                </a:solidFill>
                <a:latin typeface="Consolas"/>
              </a:rPr>
              <a:t>LOBLAB@orcl&gt; SELECT LENGTHB(c) FROM cf_1984 WHERE id=1;</a:t>
            </a:r>
          </a:p>
          <a:p>
            <a:r>
              <a:rPr sz="1250" b="0">
                <a:solidFill>
                  <a:srgbClr val="E6E6E6"/>
                </a:solidFill>
                <a:latin typeface="Consolas"/>
              </a:rPr>
              <a:t>ORA-22998: CLOB or NCLOB in multibyte character set not supported</a:t>
            </a:r>
          </a:p>
          <a:p>
            <a:r>
              <a:rPr sz="1250" b="0">
                <a:solidFill>
                  <a:srgbClr val="E6E6E6"/>
                </a:solidFill>
                <a:latin typeface="Consolas"/>
              </a:rPr>
              <a:t/>
            </a:r>
          </a:p>
          <a:p>
            <a:r>
              <a:rPr sz="1250" b="0">
                <a:solidFill>
                  <a:srgbClr val="E6E6E6"/>
                </a:solidFill>
                <a:latin typeface="Consolas"/>
              </a:rPr>
              <a:t>-- 저장 폭의 증거 : 인라인 경계가 문자로는 절반이다</a:t>
            </a:r>
          </a:p>
          <a:p>
            <a:r>
              <a:rPr sz="1250" b="0">
                <a:solidFill>
                  <a:srgbClr val="E6E6E6"/>
                </a:solidFill>
                <a:latin typeface="Consolas"/>
              </a:rPr>
              <a:t>BLOB  3968 바이트 = 행 안      CLOB  1984 문자 = 행 안</a:t>
            </a:r>
          </a:p>
          <a:p>
            <a:r>
              <a:rPr sz="1250" b="0">
                <a:solidFill>
                  <a:srgbClr val="E6E6E6"/>
                </a:solidFill>
                <a:latin typeface="Consolas"/>
              </a:rPr>
              <a:t>3968 / 1984 = 2   -&gt;   문자당 2바이트(UCS-2)로 저장된다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NCLOB 과 BFILE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하나는 문자집합, 하나는 DB 밖</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NCLOB : 국가문자집합(AL16UTF16)으로 저장. 항상 고정폭 2바이트</a:t>
            </a:r>
          </a:p>
          <a:p>
            <a:r>
              <a:rPr sz="1250" b="0">
                <a:solidFill>
                  <a:srgbClr val="E6E6E6"/>
                </a:solidFill>
                <a:latin typeface="Consolas"/>
              </a:rPr>
              <a:t>UPDATE article SET body = TO_CLOB('가나다라마'), body_n = TO_NCLOB('가나다라마');</a:t>
            </a:r>
          </a:p>
          <a:p>
            <a:r>
              <a:rPr sz="1250" b="0">
                <a:solidFill>
                  <a:srgbClr val="E6E6E6"/>
                </a:solidFill>
                <a:latin typeface="Consolas"/>
              </a:rPr>
              <a:t/>
            </a:r>
          </a:p>
          <a:p>
            <a:r>
              <a:rPr sz="1250" b="0">
                <a:solidFill>
                  <a:srgbClr val="E6E6E6"/>
                </a:solidFill>
                <a:latin typeface="Consolas"/>
              </a:rPr>
              <a:t>CLOB_CHARS NCLOB_CHARS      LEN_C</a:t>
            </a:r>
          </a:p>
          <a:p>
            <a:r>
              <a:rPr sz="1250" b="0">
                <a:solidFill>
                  <a:srgbClr val="E6E6E6"/>
                </a:solidFill>
                <a:latin typeface="Consolas"/>
              </a:rPr>
              <a:t>---------- ----------- ----------</a:t>
            </a:r>
          </a:p>
          <a:p>
            <a:r>
              <a:rPr sz="1250" b="0">
                <a:solidFill>
                  <a:srgbClr val="E6E6E6"/>
                </a:solidFill>
                <a:latin typeface="Consolas"/>
              </a:rPr>
              <a:t>         5           5          5      &lt;- DB 가 AL32UTF8 이면 차이가 없다</a:t>
            </a:r>
          </a:p>
          <a:p>
            <a:r>
              <a:rPr sz="1250" b="0">
                <a:solidFill>
                  <a:srgbClr val="E6E6E6"/>
                </a:solidFill>
                <a:latin typeface="Consolas"/>
              </a:rPr>
              <a:t/>
            </a:r>
          </a:p>
          <a:p>
            <a:r>
              <a:rPr sz="1250" b="0">
                <a:solidFill>
                  <a:srgbClr val="E6E6E6"/>
                </a:solidFill>
                <a:latin typeface="Consolas"/>
              </a:rPr>
              <a:t>-- BFILE : 이름만 저장한다. 파일이 없어도 INSERT 는 성공한다</a:t>
            </a:r>
          </a:p>
          <a:p>
            <a:r>
              <a:rPr sz="1250" b="0">
                <a:solidFill>
                  <a:srgbClr val="E6E6E6"/>
                </a:solidFill>
                <a:latin typeface="Consolas"/>
              </a:rPr>
              <a:t>INSERT INTO ext_doc VALUES (3, 'ghost', BFILENAME('LOB_DIR','ghost.txt'));</a:t>
            </a:r>
          </a:p>
          <a:p>
            <a:r>
              <a:rPr sz="1250" b="0">
                <a:solidFill>
                  <a:srgbClr val="E6E6E6"/>
                </a:solidFill>
                <a:latin typeface="Consolas"/>
              </a:rPr>
              <a:t/>
            </a:r>
          </a:p>
          <a:p>
            <a:r>
              <a:rPr sz="1250" b="0">
                <a:solidFill>
                  <a:srgbClr val="E6E6E6"/>
                </a:solidFill>
                <a:latin typeface="Consolas"/>
              </a:rPr>
              <a:t>        ID NAME     EXISTS_FLAG</a:t>
            </a:r>
          </a:p>
          <a:p>
            <a:r>
              <a:rPr sz="1250" b="0">
                <a:solidFill>
                  <a:srgbClr val="E6E6E6"/>
                </a:solidFill>
                <a:latin typeface="Consolas"/>
              </a:rPr>
              <a:t>---------- -------- -----------</a:t>
            </a:r>
          </a:p>
          <a:p>
            <a:r>
              <a:rPr sz="1250" b="0">
                <a:solidFill>
                  <a:srgbClr val="E6E6E6"/>
                </a:solidFill>
                <a:latin typeface="Consolas"/>
              </a:rPr>
              <a:t>         1 manual             1</a:t>
            </a:r>
          </a:p>
          <a:p>
            <a:r>
              <a:rPr sz="1250" b="0">
                <a:solidFill>
                  <a:srgbClr val="E6E6E6"/>
                </a:solidFill>
                <a:latin typeface="Consolas"/>
              </a:rPr>
              <a:t>         3 ghost              0      &lt;- FILEEXISTS 로 직접 확인해야 한다</a:t>
            </a:r>
          </a:p>
          <a:p>
            <a:r>
              <a:rPr sz="1250" b="0">
                <a:solidFill>
                  <a:srgbClr val="E6E6E6"/>
                </a:solidFill>
                <a:latin typeface="Consolas"/>
              </a:rPr>
              <a:t/>
            </a:r>
          </a:p>
          <a:p>
            <a:r>
              <a:rPr sz="1250" b="0">
                <a:solidFill>
                  <a:srgbClr val="E6E6E6"/>
                </a:solidFill>
                <a:latin typeface="Consolas"/>
              </a:rPr>
              <a:t>SELECT COUNT(*) FROM user_lobs WHERE table_name='EXT_DOC';   -&gt;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BFILE — 트랜잭션 밖에 있다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세 가지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읽기 전용이다 (컴파일 단계에서 막힌다)</a:t>
            </a:r>
          </a:p>
          <a:p>
            <a:r>
              <a:rPr sz="1250" b="0">
                <a:solidFill>
                  <a:srgbClr val="E6E6E6"/>
                </a:solidFill>
                <a:latin typeface="Consolas"/>
              </a:rPr>
              <a:t>DBMS_LOB.WRITEAPPEND(v_f, 3, ...);</a:t>
            </a:r>
          </a:p>
          <a:p>
            <a:r>
              <a:rPr sz="1250" b="0">
                <a:solidFill>
                  <a:srgbClr val="E6E6E6"/>
                </a:solidFill>
                <a:latin typeface="Consolas"/>
              </a:rPr>
              <a:t>PLS-00306: wrong number or types of arguments in call to 'WRITEAPPEND'</a:t>
            </a:r>
          </a:p>
          <a:p>
            <a:r>
              <a:rPr sz="1250" b="0">
                <a:solidFill>
                  <a:srgbClr val="E6E6E6"/>
                </a:solidFill>
                <a:latin typeface="Consolas"/>
              </a:rPr>
              <a:t/>
            </a:r>
          </a:p>
          <a:p>
            <a:r>
              <a:rPr sz="1250" b="0">
                <a:solidFill>
                  <a:srgbClr val="E6E6E6"/>
                </a:solidFill>
                <a:latin typeface="Consolas"/>
              </a:rPr>
              <a:t>-- ② OS 파일이 바뀌면 값도 바뀐다 (UPDATE·COMMIT 없이)</a:t>
            </a:r>
          </a:p>
          <a:p>
            <a:r>
              <a:rPr sz="1250" b="0">
                <a:solidFill>
                  <a:srgbClr val="E6E6E6"/>
                </a:solidFill>
                <a:latin typeface="Consolas"/>
              </a:rPr>
              <a:t>SELECT DBMS_LOB.GETLENGTH(f) FROM ext_doc WHERE id=2;      -&gt;  12288</a:t>
            </a:r>
          </a:p>
          <a:p>
            <a:r>
              <a:rPr sz="1250" b="0">
                <a:solidFill>
                  <a:srgbClr val="E6E6E6"/>
                </a:solidFill>
                <a:latin typeface="Consolas"/>
              </a:rPr>
              <a:t>HOST dd if=/dev/urandom of=.../photo.bin bs=1024 count=20</a:t>
            </a:r>
          </a:p>
          <a:p>
            <a:r>
              <a:rPr sz="1250" b="0">
                <a:solidFill>
                  <a:srgbClr val="E6E6E6"/>
                </a:solidFill>
                <a:latin typeface="Consolas"/>
              </a:rPr>
              <a:t>SELECT DBMS_LOB.GETLENGTH(f) FROM ext_doc WHERE id=2;      -&gt;  20480</a:t>
            </a:r>
          </a:p>
          <a:p>
            <a:r>
              <a:rPr sz="1250" b="0">
                <a:solidFill>
                  <a:srgbClr val="E6E6E6"/>
                </a:solidFill>
                <a:latin typeface="Consolas"/>
              </a:rPr>
              <a:t/>
            </a:r>
          </a:p>
          <a:p>
            <a:r>
              <a:rPr sz="1250" b="0">
                <a:solidFill>
                  <a:srgbClr val="E6E6E6"/>
                </a:solidFill>
                <a:latin typeface="Consolas"/>
              </a:rPr>
              <a:t>-- ③ 파일이 사라지면 조회가 실패한다</a:t>
            </a:r>
          </a:p>
          <a:p>
            <a:r>
              <a:rPr sz="1250" b="0">
                <a:solidFill>
                  <a:srgbClr val="E6E6E6"/>
                </a:solidFill>
                <a:latin typeface="Consolas"/>
              </a:rPr>
              <a:t>HOST mv .../photo.bin .../photo.bin.bak</a:t>
            </a:r>
          </a:p>
          <a:p>
            <a:r>
              <a:rPr sz="1250" b="0">
                <a:solidFill>
                  <a:srgbClr val="E6E6E6"/>
                </a:solidFill>
                <a:latin typeface="Consolas"/>
              </a:rPr>
              <a:t>SELECT DBMS_LOB.GETLENGTH(f) FROM ext_doc WHERE id=2;</a:t>
            </a:r>
          </a:p>
          <a:p>
            <a:r>
              <a:rPr sz="1250" b="0">
                <a:solidFill>
                  <a:srgbClr val="E6E6E6"/>
                </a:solidFill>
                <a:latin typeface="Consolas"/>
              </a:rPr>
              <a:t>ORA-22288: file or LOB operation GETLENGTH failed</a:t>
            </a:r>
          </a:p>
          <a:p>
            <a:r>
              <a:rPr sz="1250" b="0">
                <a:solidFill>
                  <a:srgbClr val="E6E6E6"/>
                </a:solidFill>
                <a:latin typeface="Consolas"/>
              </a:rPr>
              <a:t>No such file or directory</a:t>
            </a:r>
          </a:p>
          <a:p>
            <a:r>
              <a:rPr sz="1250" b="0">
                <a:solidFill>
                  <a:srgbClr val="E6E6E6"/>
                </a:solidFill>
                <a:latin typeface="Consolas"/>
              </a:rPr>
              <a:t/>
            </a:r>
          </a:p>
          <a:p>
            <a:r>
              <a:rPr sz="1250" b="0">
                <a:solidFill>
                  <a:srgbClr val="E6E6E6"/>
                </a:solidFill>
                <a:latin typeface="Consolas"/>
              </a:rPr>
              <a:t>-- 포인터는 롤백된다. 파일 내용은 롤백되지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임시 LOB — 세션 수명의 작업용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임시 테이블스페이스를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DECLARE v_t CLOB;</a:t>
            </a:r>
          </a:p>
          <a:p>
            <a:r>
              <a:rPr sz="1250" b="0">
                <a:solidFill>
                  <a:srgbClr val="E6E6E6"/>
                </a:solidFill>
                <a:latin typeface="Consolas"/>
              </a:rPr>
              <a:t>BEGIN</a:t>
            </a:r>
          </a:p>
          <a:p>
            <a:r>
              <a:rPr sz="1250" b="0">
                <a:solidFill>
                  <a:srgbClr val="E6E6E6"/>
                </a:solidFill>
                <a:latin typeface="Consolas"/>
              </a:rPr>
              <a:t>  DBMS_LOB.CREATETEMPORARY(v_t, TRUE);        -- TRUE = 캐시 사용</a:t>
            </a:r>
          </a:p>
          <a:p>
            <a:r>
              <a:rPr sz="1250" b="0">
                <a:solidFill>
                  <a:srgbClr val="E6E6E6"/>
                </a:solidFill>
                <a:latin typeface="Consolas"/>
              </a:rPr>
              <a:t>  FOR i IN 1..40000 LOOP DBMS_LOB.WRITEAPPEND(v_t, 200, v_chunk); END LOOP;</a:t>
            </a:r>
          </a:p>
          <a:p>
            <a:r>
              <a:rPr sz="1250" b="0">
                <a:solidFill>
                  <a:srgbClr val="E6E6E6"/>
                </a:solidFill>
                <a:latin typeface="Consolas"/>
              </a:rPr>
              <a:t>  ...</a:t>
            </a:r>
          </a:p>
          <a:p>
            <a:r>
              <a:rPr sz="1250" b="0">
                <a:solidFill>
                  <a:srgbClr val="E6E6E6"/>
                </a:solidFill>
                <a:latin typeface="Consolas"/>
              </a:rPr>
              <a:t>  DBMS_LOB.FREETEMPORARY(v_t);</a:t>
            </a:r>
          </a:p>
          <a:p>
            <a:r>
              <a:rPr sz="1250" b="0">
                <a:solidFill>
                  <a:srgbClr val="E6E6E6"/>
                </a:solidFill>
                <a:latin typeface="Consolas"/>
              </a:rPr>
              <a:t>END;</a:t>
            </a:r>
          </a:p>
          <a:p>
            <a:r>
              <a:rPr sz="1250" b="0">
                <a:solidFill>
                  <a:srgbClr val="E6E6E6"/>
                </a:solidFill>
                <a:latin typeface="Consolas"/>
              </a:rPr>
              <a:t/>
            </a:r>
          </a:p>
          <a:p>
            <a:r>
              <a:rPr sz="1250" b="0">
                <a:solidFill>
                  <a:srgbClr val="E6E6E6"/>
                </a:solidFill>
                <a:latin typeface="Consolas"/>
              </a:rPr>
              <a:t>임시 LOB 길이=8000000 문자</a:t>
            </a:r>
          </a:p>
          <a:p>
            <a:r>
              <a:rPr sz="1250" b="0">
                <a:solidFill>
                  <a:srgbClr val="E6E6E6"/>
                </a:solidFill>
                <a:latin typeface="Consolas"/>
              </a:rPr>
              <a:t>임시 세그먼트 : LOB_INDEX  2176 블록 = 17 MB</a:t>
            </a:r>
          </a:p>
          <a:p>
            <a:r>
              <a:rPr sz="1250" b="0">
                <a:solidFill>
                  <a:srgbClr val="E6E6E6"/>
                </a:solidFill>
                <a:latin typeface="Consolas"/>
              </a:rPr>
              <a:t>해제 후 임시 블록=0</a:t>
            </a:r>
          </a:p>
          <a:p>
            <a:r>
              <a:rPr sz="1250" b="0">
                <a:solidFill>
                  <a:srgbClr val="E6E6E6"/>
                </a:solidFill>
                <a:latin typeface="Consolas"/>
              </a:rPr>
              <a:t/>
            </a:r>
          </a:p>
          <a:p>
            <a:r>
              <a:rPr sz="1250" b="0">
                <a:solidFill>
                  <a:srgbClr val="E6E6E6"/>
                </a:solidFill>
                <a:latin typeface="Consolas"/>
              </a:rPr>
              <a:t>-- 해제한 로케이터를 다시 쓰면</a:t>
            </a:r>
          </a:p>
          <a:p>
            <a:r>
              <a:rPr sz="1250" b="0">
                <a:solidFill>
                  <a:srgbClr val="E6E6E6"/>
                </a:solidFill>
                <a:latin typeface="Consolas"/>
              </a:rPr>
              <a:t>DBMS_LOB.GETLENGTH(v_t);</a:t>
            </a:r>
          </a:p>
          <a:p>
            <a:r>
              <a:rPr sz="1250" b="0">
                <a:solidFill>
                  <a:srgbClr val="E6E6E6"/>
                </a:solidFill>
                <a:latin typeface="Consolas"/>
              </a:rPr>
              <a:t>ORA-22275: invalid LOB locator specified</a:t>
            </a:r>
          </a:p>
          <a:p>
            <a:r>
              <a:rPr sz="1250" b="0">
                <a:solidFill>
                  <a:srgbClr val="E6E6E6"/>
                </a:solidFill>
                <a:latin typeface="Consolas"/>
              </a:rPr>
              <a:t/>
            </a:r>
          </a:p>
          <a:p>
            <a:r>
              <a:rPr sz="1250" b="0">
                <a:solidFill>
                  <a:srgbClr val="E6E6E6"/>
                </a:solidFill>
                <a:latin typeface="Consolas"/>
              </a:rPr>
              <a:t>v$temporary_lobs : cache=1  nocache=0  abstract=0   &lt;- 세션별 누수 점검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타입 선택 — 결정 순서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값이 문자인가?</a:t>
            </a:r>
          </a:p>
          <a:p>
            <a:pPr>
              <a:spcAft>
                <a:spcPts val="600"/>
              </a:spcAft>
            </a:pPr>
            <a:r>
              <a:rPr sz="1600" b="0">
                <a:solidFill>
                  <a:srgbClr val="202830"/>
                </a:solidFill>
                <a:latin typeface="Malgun Gothic"/>
              </a:rPr>
              <a:t>    –  아니다(이진) → BLOB</a:t>
            </a:r>
          </a:p>
          <a:p>
            <a:pPr>
              <a:spcAft>
                <a:spcPts val="600"/>
              </a:spcAft>
            </a:pPr>
            <a:r>
              <a:rPr sz="1600" b="0">
                <a:solidFill>
                  <a:srgbClr val="202830"/>
                </a:solidFill>
                <a:latin typeface="Malgun Gothic"/>
              </a:rPr>
              <a:t>    –  그렇다 → DB 문자집합이 그 언어를 담는가? 담으면 CLOB, 아니면 NCLOB</a:t>
            </a:r>
          </a:p>
          <a:p>
            <a:pPr>
              <a:spcAft>
                <a:spcPts val="600"/>
              </a:spcAft>
            </a:pPr>
            <a:r>
              <a:rPr sz="1800" b="0">
                <a:solidFill>
                  <a:srgbClr val="202830"/>
                </a:solidFill>
                <a:latin typeface="Malgun Gothic"/>
              </a:rPr>
              <a:t>•  파일이 DB 밖에 있어야 하는가?</a:t>
            </a:r>
          </a:p>
          <a:p>
            <a:pPr>
              <a:spcAft>
                <a:spcPts val="600"/>
              </a:spcAft>
            </a:pPr>
            <a:r>
              <a:rPr sz="1600" b="0">
                <a:solidFill>
                  <a:srgbClr val="202830"/>
                </a:solidFill>
                <a:latin typeface="Malgun Gothic"/>
              </a:rPr>
              <a:t>    –  수백 MB 이상 · 불변 · 외부에서 관리 → BFILE (읽기 전용, 백업 별도)</a:t>
            </a:r>
          </a:p>
          <a:p>
            <a:pPr>
              <a:spcAft>
                <a:spcPts val="600"/>
              </a:spcAft>
            </a:pPr>
            <a:r>
              <a:rPr sz="1600" b="0">
                <a:solidFill>
                  <a:srgbClr val="202830"/>
                </a:solidFill>
                <a:latin typeface="Malgun Gothic"/>
              </a:rPr>
              <a:t>    –  그렇지 않다면 DB 안에 두는 것이 기본이다. 트랜잭션과 백업이 따라온다</a:t>
            </a:r>
          </a:p>
          <a:p>
            <a:pPr>
              <a:spcAft>
                <a:spcPts val="600"/>
              </a:spcAft>
            </a:pPr>
            <a:r>
              <a:rPr sz="1800" b="0">
                <a:solidFill>
                  <a:srgbClr val="202830"/>
                </a:solidFill>
                <a:latin typeface="Malgun Gothic"/>
              </a:rPr>
              <a:t>•  테이블에 담지 않는 가공용인가? → 임시 LOB, 그리고 반드시 FREETEMPORARY</a:t>
            </a:r>
          </a:p>
          <a:p>
            <a:pPr>
              <a:spcAft>
                <a:spcPts val="600"/>
              </a:spcAft>
            </a:pPr>
            <a:r>
              <a:rPr sz="1800" b="0">
                <a:solidFill>
                  <a:srgbClr val="202830"/>
                </a:solidFill>
                <a:latin typeface="Malgun Gothic"/>
              </a:rPr>
              <a:t>•  고르기 전에 확인할 것</a:t>
            </a:r>
          </a:p>
          <a:p>
            <a:pPr>
              <a:spcAft>
                <a:spcPts val="600"/>
              </a:spcAft>
            </a:pPr>
            <a:r>
              <a:rPr sz="1600" b="0">
                <a:solidFill>
                  <a:srgbClr val="202830"/>
                </a:solidFill>
                <a:latin typeface="Malgun Gothic"/>
              </a:rPr>
              <a:t>    –  검색 요건 — 인덱스를 만들 수 없다. Oracle Text 가 필요한가</a:t>
            </a:r>
          </a:p>
          <a:p>
            <a:pPr>
              <a:spcAft>
                <a:spcPts val="600"/>
              </a:spcAft>
            </a:pPr>
            <a:r>
              <a:rPr sz="1600" b="0">
                <a:solidFill>
                  <a:srgbClr val="202830"/>
                </a:solidFill>
                <a:latin typeface="Malgun Gothic"/>
              </a:rPr>
              <a:t>    –  값 크기 분포 — 평균이 아니라 분포를 본다 (인라인 경계 판단)</a:t>
            </a:r>
          </a:p>
          <a:p>
            <a:pPr>
              <a:spcAft>
                <a:spcPts val="600"/>
              </a:spcAft>
            </a:pPr>
            <a:r>
              <a:rPr sz="1600" b="0">
                <a:solidFill>
                  <a:srgbClr val="202830"/>
                </a:solidFill>
                <a:latin typeface="Malgun Gothic"/>
              </a:rPr>
              <a:t>    –  백업·이관 책임 — BFILE 이면 파일 백업 절차가 따로 있어야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저장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컬럼 하나가 세그먼트 세 개를 쓴다</a:t>
            </a:r>
          </a:p>
          <a:p>
            <a:pPr>
              <a:spcAft>
                <a:spcPts val="600"/>
              </a:spcAft>
            </a:pPr>
            <a:r>
              <a:rPr sz="1600" b="0">
                <a:solidFill>
                  <a:srgbClr val="C5CED6"/>
                </a:solidFill>
                <a:latin typeface="Malgun Gothic"/>
              </a:rPr>
              <a:t>•  인라인 경계는 3968 바이트 (실측)</a:t>
            </a:r>
          </a:p>
          <a:p>
            <a:pPr>
              <a:spcAft>
                <a:spcPts val="600"/>
              </a:spcAft>
            </a:pPr>
            <a:r>
              <a:rPr sz="1600" b="0">
                <a:solidFill>
                  <a:srgbClr val="C5CED6"/>
                </a:solidFill>
                <a:latin typeface="Malgun Gothic"/>
              </a:rPr>
              <a:t>•  SecureFile 과 BasicFile — 19c 는 SecureFile 이 기본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세그먼트 세 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첫 행을 넣을 때 만들어진다 (지연 세그먼트 생성)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LOBLAB@orcl&gt; SELECT COUNT(*) AS seg_cnt FROM user_segments;</a:t>
            </a:r>
          </a:p>
          <a:p>
            <a:r>
              <a:rPr sz="1250" b="0">
                <a:solidFill>
                  <a:srgbClr val="E6E6E6"/>
                </a:solidFill>
                <a:latin typeface="Consolas"/>
              </a:rPr>
              <a:t>   SEG_CNT</a:t>
            </a:r>
          </a:p>
          <a:p>
            <a:r>
              <a:rPr sz="1250" b="0">
                <a:solidFill>
                  <a:srgbClr val="E6E6E6"/>
                </a:solidFill>
                <a:latin typeface="Consolas"/>
              </a:rPr>
              <a:t>----------</a:t>
            </a:r>
          </a:p>
          <a:p>
            <a:r>
              <a:rPr sz="1250" b="0">
                <a:solidFill>
                  <a:srgbClr val="E6E6E6"/>
                </a:solidFill>
                <a:latin typeface="Consolas"/>
              </a:rPr>
              <a:t>         0                     &lt;- CREATE TABLE 직후에는 세그먼트가 없다</a:t>
            </a:r>
          </a:p>
          <a:p>
            <a:r>
              <a:rPr sz="1250" b="0">
                <a:solidFill>
                  <a:srgbClr val="E6E6E6"/>
                </a:solidFill>
                <a:latin typeface="Consolas"/>
              </a:rPr>
              <a:t/>
            </a:r>
          </a:p>
          <a:p>
            <a:r>
              <a:rPr sz="1250" b="0">
                <a:solidFill>
                  <a:srgbClr val="E6E6E6"/>
                </a:solidFill>
                <a:latin typeface="Consolas"/>
              </a:rPr>
              <a:t>LOBLAB@orcl&gt; INSERT INTO doc_master (title, body, attach) VALUES ('첫 문서', ...);</a:t>
            </a:r>
          </a:p>
          <a:p>
            <a:r>
              <a:rPr sz="1250" b="0">
                <a:solidFill>
                  <a:srgbClr val="E6E6E6"/>
                </a:solidFill>
                <a:latin typeface="Consolas"/>
              </a:rPr>
              <a:t>LOBLAB@orcl&gt; SELECT segment_name, segment_type, bytes/1024 AS kb FROM user_segments;</a:t>
            </a:r>
          </a:p>
          <a:p>
            <a:r>
              <a:rPr sz="1250" b="0">
                <a:solidFill>
                  <a:srgbClr val="E6E6E6"/>
                </a:solidFill>
                <a:latin typeface="Consolas"/>
              </a:rPr>
              <a:t/>
            </a:r>
          </a:p>
          <a:p>
            <a:r>
              <a:rPr sz="1250" b="0">
                <a:solidFill>
                  <a:srgbClr val="E6E6E6"/>
                </a:solidFill>
                <a:latin typeface="Consolas"/>
              </a:rPr>
              <a:t>SEGMENT_NAME               SEGMENT_TYPE         KB</a:t>
            </a:r>
          </a:p>
          <a:p>
            <a:r>
              <a:rPr sz="1250" b="0">
                <a:solidFill>
                  <a:srgbClr val="E6E6E6"/>
                </a:solidFill>
                <a:latin typeface="Consolas"/>
              </a:rPr>
              <a:t>-------------------------- ------------ ----------</a:t>
            </a:r>
          </a:p>
          <a:p>
            <a:r>
              <a:rPr sz="1250" b="0">
                <a:solidFill>
                  <a:srgbClr val="E6E6E6"/>
                </a:solidFill>
                <a:latin typeface="Consolas"/>
              </a:rPr>
              <a:t>SYS_C007695                INDEX                64</a:t>
            </a:r>
          </a:p>
          <a:p>
            <a:r>
              <a:rPr sz="1250" b="0">
                <a:solidFill>
                  <a:srgbClr val="E6E6E6"/>
                </a:solidFill>
                <a:latin typeface="Consolas"/>
              </a:rPr>
              <a:t>SYS_IL0000075116C00003$$   LOBINDEX             64      &lt;- BODY</a:t>
            </a:r>
          </a:p>
          <a:p>
            <a:r>
              <a:rPr sz="1250" b="0">
                <a:solidFill>
                  <a:srgbClr val="E6E6E6"/>
                </a:solidFill>
                <a:latin typeface="Consolas"/>
              </a:rPr>
              <a:t>SYS_IL0000075116C00004$$   LOBINDEX             64      &lt;- BODY_N</a:t>
            </a:r>
          </a:p>
          <a:p>
            <a:r>
              <a:rPr sz="1250" b="0">
                <a:solidFill>
                  <a:srgbClr val="E6E6E6"/>
                </a:solidFill>
                <a:latin typeface="Consolas"/>
              </a:rPr>
              <a:t>SYS_IL0000075116C00005$$   LOBINDEX             64      &lt;- ATTACH</a:t>
            </a:r>
          </a:p>
          <a:p>
            <a:r>
              <a:rPr sz="1250" b="0">
                <a:solidFill>
                  <a:srgbClr val="E6E6E6"/>
                </a:solidFill>
                <a:latin typeface="Consolas"/>
              </a:rPr>
              <a:t>SYS_LOB0000075116C00003$$  LOBSEGMENT          128</a:t>
            </a:r>
          </a:p>
          <a:p>
            <a:r>
              <a:rPr sz="1250" b="0">
                <a:solidFill>
                  <a:srgbClr val="E6E6E6"/>
                </a:solidFill>
                <a:latin typeface="Consolas"/>
              </a:rPr>
              <a:t>SYS_LOB0000075116C00004$$  LOBSEGMENT          128</a:t>
            </a:r>
          </a:p>
          <a:p>
            <a:r>
              <a:rPr sz="1250" b="0">
                <a:solidFill>
                  <a:srgbClr val="E6E6E6"/>
                </a:solidFill>
                <a:latin typeface="Consolas"/>
              </a:rPr>
              <a:t>SYS_LOB0000075116C00005$$  LOBSEGMENT          128</a:t>
            </a:r>
          </a:p>
          <a:p>
            <a:r>
              <a:rPr sz="1250" b="0">
                <a:solidFill>
                  <a:srgbClr val="E6E6E6"/>
                </a:solidFill>
                <a:latin typeface="Consolas"/>
              </a:rPr>
              <a:t>DOC_MASTER                 TABLE                64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인라인 경계 — 실측 3968 바이트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같은 데이터를 넣고 세그먼트 크기를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타입   | 값 크기       | LOB 세그먼트 | 테이블 세그먼트 | 판정</a:t>
            </a:r>
          </a:p>
          <a:p>
            <a:r>
              <a:rPr sz="1250" b="0">
                <a:solidFill>
                  <a:srgbClr val="E6E6E6"/>
                </a:solidFill>
                <a:latin typeface="Consolas"/>
              </a:rPr>
              <a:t>-------|---------------|--------------|-----------------|--------</a:t>
            </a:r>
          </a:p>
          <a:p>
            <a:r>
              <a:rPr sz="1250" b="0">
                <a:solidFill>
                  <a:srgbClr val="E6E6E6"/>
                </a:solidFill>
                <a:latin typeface="Consolas"/>
              </a:rPr>
              <a:t>BLOB   | 3968 바이트   | 128 KB       | 2048 KB         | 행 안</a:t>
            </a:r>
          </a:p>
          <a:p>
            <a:r>
              <a:rPr sz="1250" b="0">
                <a:solidFill>
                  <a:srgbClr val="E6E6E6"/>
                </a:solidFill>
                <a:latin typeface="Consolas"/>
              </a:rPr>
              <a:t>BLOB   | 3969 바이트   | 4288 KB      |   64 KB         | 행 밖</a:t>
            </a:r>
          </a:p>
          <a:p>
            <a:r>
              <a:rPr sz="1250" b="0">
                <a:solidFill>
                  <a:srgbClr val="E6E6E6"/>
                </a:solidFill>
                <a:latin typeface="Consolas"/>
              </a:rPr>
              <a:t>CLOB   | 1984 문자     | 128 KB       | 3072 KB         | 행 안</a:t>
            </a:r>
          </a:p>
          <a:p>
            <a:r>
              <a:rPr sz="1250" b="0">
                <a:solidFill>
                  <a:srgbClr val="E6E6E6"/>
                </a:solidFill>
                <a:latin typeface="Consolas"/>
              </a:rPr>
              <a:t>CLOB   | 1985 문자     | 4288 KB      |   64 KB         | 행 밖</a:t>
            </a:r>
          </a:p>
          <a:p>
            <a:r>
              <a:rPr sz="1250" b="0">
                <a:solidFill>
                  <a:srgbClr val="E6E6E6"/>
                </a:solidFill>
                <a:latin typeface="Consolas"/>
              </a:rPr>
              <a:t/>
            </a:r>
          </a:p>
          <a:p>
            <a:r>
              <a:rPr sz="1250" b="0">
                <a:solidFill>
                  <a:srgbClr val="E6E6E6"/>
                </a:solidFill>
                <a:latin typeface="Consolas"/>
              </a:rPr>
              <a:t>판정 방법</a:t>
            </a:r>
          </a:p>
          <a:p>
            <a:r>
              <a:rPr sz="1250" b="0">
                <a:solidFill>
                  <a:srgbClr val="E6E6E6"/>
                </a:solidFill>
                <a:latin typeface="Consolas"/>
              </a:rPr>
              <a:t>  값이 행 안 : 테이블 세그먼트가 커지고 LOB 세그먼트는 초기 128KB 에 머문다</a:t>
            </a:r>
          </a:p>
          <a:p>
            <a:r>
              <a:rPr sz="1250" b="0">
                <a:solidFill>
                  <a:srgbClr val="E6E6E6"/>
                </a:solidFill>
                <a:latin typeface="Consolas"/>
              </a:rPr>
              <a:t>  값이 행 밖 : LOB 세그먼트가 커지고 테이블 세그먼트는 64KB 에 머문다</a:t>
            </a:r>
          </a:p>
          <a:p>
            <a:r>
              <a:rPr sz="1250" b="0">
                <a:solidFill>
                  <a:srgbClr val="E6E6E6"/>
                </a:solidFill>
                <a:latin typeface="Consolas"/>
              </a:rPr>
              <a:t/>
            </a:r>
          </a:p>
          <a:p>
            <a:r>
              <a:rPr sz="1250" b="0">
                <a:solidFill>
                  <a:srgbClr val="E6E6E6"/>
                </a:solidFill>
                <a:latin typeface="Consolas"/>
              </a:rPr>
              <a:t>결론</a:t>
            </a:r>
          </a:p>
          <a:p>
            <a:r>
              <a:rPr sz="1250" b="0">
                <a:solidFill>
                  <a:srgbClr val="E6E6E6"/>
                </a:solidFill>
                <a:latin typeface="Consolas"/>
              </a:rPr>
              <a:t>  한계는 3968 바이트다</a:t>
            </a:r>
          </a:p>
          <a:p>
            <a:r>
              <a:rPr sz="1250" b="0">
                <a:solidFill>
                  <a:srgbClr val="E6E6E6"/>
                </a:solidFill>
                <a:latin typeface="Consolas"/>
              </a:rPr>
              <a:t>  CLOB·NCLOB 은 문자당 2바이트로 계산된다  -&gt;  3968 / 2 = 1984 문자</a:t>
            </a:r>
          </a:p>
          <a:p>
            <a:r>
              <a:rPr sz="1250" b="0">
                <a:solidFill>
                  <a:srgbClr val="E6E6E6"/>
                </a:solidFill>
                <a:latin typeface="Consolas"/>
              </a:rPr>
              <a:t>  ASCII 만 들어 있어도 같다 (AL32UTF8 기준 실측)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인라인 여부가 성능에 주는 영향</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같은 300행인데 테이블 세그먼트가 48배 차이 난다</a:t>
            </a:r>
          </a:p>
          <a:p>
            <a:pPr>
              <a:spcAft>
                <a:spcPts val="600"/>
              </a:spcAft>
            </a:pPr>
            <a:r>
              <a:rPr sz="1600" b="0">
                <a:solidFill>
                  <a:srgbClr val="202830"/>
                </a:solidFill>
                <a:latin typeface="Malgun Gothic"/>
              </a:rPr>
              <a:t>    –  1984문자(행 안) : 테이블 3072KB / LOB 128KB</a:t>
            </a:r>
          </a:p>
          <a:p>
            <a:pPr>
              <a:spcAft>
                <a:spcPts val="600"/>
              </a:spcAft>
            </a:pPr>
            <a:r>
              <a:rPr sz="1600" b="0">
                <a:solidFill>
                  <a:srgbClr val="202830"/>
                </a:solidFill>
                <a:latin typeface="Malgun Gothic"/>
              </a:rPr>
              <a:t>    –  1985문자(행 밖) : 테이블   64KB / LOB 4288KB</a:t>
            </a:r>
          </a:p>
          <a:p>
            <a:pPr>
              <a:spcAft>
                <a:spcPts val="600"/>
              </a:spcAft>
            </a:pPr>
            <a:r>
              <a:rPr sz="1800" b="0">
                <a:solidFill>
                  <a:srgbClr val="202830"/>
                </a:solidFill>
                <a:latin typeface="Malgun Gothic"/>
              </a:rPr>
              <a:t>•  ENABLE STORAGE IN ROW (기본) 이 유리한 경우</a:t>
            </a:r>
          </a:p>
          <a:p>
            <a:pPr>
              <a:spcAft>
                <a:spcPts val="600"/>
              </a:spcAft>
            </a:pPr>
            <a:r>
              <a:rPr sz="1600" b="0">
                <a:solidFill>
                  <a:srgbClr val="202830"/>
                </a:solidFill>
                <a:latin typeface="Malgun Gothic"/>
              </a:rPr>
              <a:t>    –  값이 대부분 작고 행과 함께 자주 읽는다 — 행 한 번 읽기로 끝난다</a:t>
            </a:r>
          </a:p>
          <a:p>
            <a:pPr>
              <a:spcAft>
                <a:spcPts val="600"/>
              </a:spcAft>
            </a:pPr>
            <a:r>
              <a:rPr sz="1600" b="0">
                <a:solidFill>
                  <a:srgbClr val="202830"/>
                </a:solidFill>
                <a:latin typeface="Malgun Gothic"/>
              </a:rPr>
              <a:t>    –  LOB 을 읽는 조회가 대부분이다</a:t>
            </a:r>
          </a:p>
          <a:p>
            <a:pPr>
              <a:spcAft>
                <a:spcPts val="600"/>
              </a:spcAft>
            </a:pPr>
            <a:r>
              <a:rPr sz="1800" b="0">
                <a:solidFill>
                  <a:srgbClr val="202830"/>
                </a:solidFill>
                <a:latin typeface="Malgun Gothic"/>
              </a:rPr>
              <a:t>•  DISABLE STORAGE IN ROW 가 유리한 경우</a:t>
            </a:r>
          </a:p>
          <a:p>
            <a:pPr>
              <a:spcAft>
                <a:spcPts val="600"/>
              </a:spcAft>
            </a:pPr>
            <a:r>
              <a:rPr sz="1600" b="0">
                <a:solidFill>
                  <a:srgbClr val="202830"/>
                </a:solidFill>
                <a:latin typeface="Malgun Gothic"/>
              </a:rPr>
              <a:t>    –  값이 크고 LOB 을 읽지 않는 조회가 많다 — 전체 스캔이 48배 빨라질 수 있다</a:t>
            </a:r>
          </a:p>
          <a:p>
            <a:pPr>
              <a:spcAft>
                <a:spcPts val="600"/>
              </a:spcAft>
            </a:pPr>
            <a:r>
              <a:rPr sz="1600" b="0">
                <a:solidFill>
                  <a:srgbClr val="202830"/>
                </a:solidFill>
                <a:latin typeface="Malgun Gothic"/>
              </a:rPr>
              <a:t>    –  COUNT(*) · 목록 조회가 주된 접근 패턴이다</a:t>
            </a:r>
          </a:p>
          <a:p>
            <a:pPr>
              <a:spcAft>
                <a:spcPts val="600"/>
              </a:spcAft>
            </a:pPr>
            <a:r>
              <a:rPr sz="1800" b="0">
                <a:solidFill>
                  <a:srgbClr val="202830"/>
                </a:solidFill>
                <a:latin typeface="Malgun Gothic"/>
              </a:rPr>
              <a:t>•  판단은 값 크기의 분포로 한다. 평균이 아니라 분포다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SecureFile 과 BasicFile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19c 기본은 SecureFile (db_securefile=PREFERRED)</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구분             | BasicFile (구)      | SecureFile (11g~, 기본)</a:t>
            </a:r>
          </a:p>
          <a:p>
            <a:r>
              <a:rPr sz="1250" b="0">
                <a:solidFill>
                  <a:srgbClr val="E6E6E6"/>
                </a:solidFill>
                <a:latin typeface="Consolas"/>
              </a:rPr>
              <a:t>-----------------|---------------------|---------------------------------</a:t>
            </a:r>
          </a:p>
          <a:p>
            <a:r>
              <a:rPr sz="1250" b="0">
                <a:solidFill>
                  <a:srgbClr val="E6E6E6"/>
                </a:solidFill>
                <a:latin typeface="Consolas"/>
              </a:rPr>
              <a:t>지정             | STORE AS BASICFILE  | STORE AS SECUREFILE</a:t>
            </a:r>
          </a:p>
          <a:p>
            <a:r>
              <a:rPr sz="1250" b="0">
                <a:solidFill>
                  <a:srgbClr val="E6E6E6"/>
                </a:solidFill>
                <a:latin typeface="Consolas"/>
              </a:rPr>
              <a:t>전제             | 모든 테이블스페이스 | ASSM 테이블스페이스만</a:t>
            </a:r>
          </a:p>
          <a:p>
            <a:r>
              <a:rPr sz="1250" b="0">
                <a:solidFill>
                  <a:srgbClr val="E6E6E6"/>
                </a:solidFill>
                <a:latin typeface="Consolas"/>
              </a:rPr>
              <a:t>이전 버전 공간   | PCTVERSION          | RETENTION (AUTO/MIN/MAX/NONE)</a:t>
            </a:r>
          </a:p>
          <a:p>
            <a:r>
              <a:rPr sz="1250" b="0">
                <a:solidFill>
                  <a:srgbClr val="E6E6E6"/>
                </a:solidFill>
                <a:latin typeface="Consolas"/>
              </a:rPr>
              <a:t>중복 제거        | 없음                | DEDUPLICATE</a:t>
            </a:r>
          </a:p>
          <a:p>
            <a:r>
              <a:rPr sz="1250" b="0">
                <a:solidFill>
                  <a:srgbClr val="E6E6E6"/>
                </a:solidFill>
                <a:latin typeface="Consolas"/>
              </a:rPr>
              <a:t>압축             | 없음                | COMPRESS LOW/MEDIUM/HIGH</a:t>
            </a:r>
          </a:p>
          <a:p>
            <a:r>
              <a:rPr sz="1250" b="0">
                <a:solidFill>
                  <a:srgbClr val="E6E6E6"/>
                </a:solidFill>
                <a:latin typeface="Consolas"/>
              </a:rPr>
              <a:t>암호화           | 없음                | ENCRYPT USING ...</a:t>
            </a:r>
          </a:p>
          <a:p>
            <a:r>
              <a:rPr sz="1250" b="0">
                <a:solidFill>
                  <a:srgbClr val="E6E6E6"/>
                </a:solidFill>
                <a:latin typeface="Consolas"/>
              </a:rPr>
              <a:t>FRAGMENT_* API   | 없음                | 있음</a:t>
            </a:r>
          </a:p>
          <a:p>
            <a:r>
              <a:rPr sz="1250" b="0">
                <a:solidFill>
                  <a:srgbClr val="E6E6E6"/>
                </a:solidFill>
                <a:latin typeface="Consolas"/>
              </a:rPr>
              <a:t>SHRINK SPACE     | 가능                | 불가 (ORA-10635) -&gt; MOVE 로 대체</a:t>
            </a:r>
          </a:p>
          <a:p>
            <a:r>
              <a:rPr sz="1250" b="0">
                <a:solidFill>
                  <a:srgbClr val="E6E6E6"/>
                </a:solidFill>
                <a:latin typeface="Consolas"/>
              </a:rPr>
              <a:t/>
            </a:r>
          </a:p>
          <a:p>
            <a:r>
              <a:rPr sz="1250" b="0">
                <a:solidFill>
                  <a:srgbClr val="E6E6E6"/>
                </a:solidFill>
                <a:latin typeface="Consolas"/>
              </a:rPr>
              <a:t>LOBLAB@orcl&gt; SELECT table_name, securefile, pctversion, retention_type FROM user_lobs;</a:t>
            </a:r>
          </a:p>
          <a:p>
            <a:r>
              <a:rPr sz="1250" b="0">
                <a:solidFill>
                  <a:srgbClr val="E6E6E6"/>
                </a:solidFill>
                <a:latin typeface="Consolas"/>
              </a:rPr>
              <a:t>TABLE_NAME   SEC PCTVERSION RETENTI</a:t>
            </a:r>
          </a:p>
          <a:p>
            <a:r>
              <a:rPr sz="1250" b="0">
                <a:solidFill>
                  <a:srgbClr val="E6E6E6"/>
                </a:solidFill>
                <a:latin typeface="Consolas"/>
              </a:rPr>
              <a:t>------------ --- ---------- -------</a:t>
            </a:r>
          </a:p>
          <a:p>
            <a:r>
              <a:rPr sz="1250" b="0">
                <a:solidFill>
                  <a:srgbClr val="E6E6E6"/>
                </a:solidFill>
                <a:latin typeface="Consolas"/>
              </a:rPr>
              <a:t>S_BASIC      NO  YES</a:t>
            </a:r>
          </a:p>
          <a:p>
            <a:r>
              <a:rPr sz="1250" b="0">
                <a:solidFill>
                  <a:srgbClr val="E6E6E6"/>
                </a:solidFill>
                <a:latin typeface="Consolas"/>
              </a:rPr>
              <a:t>S_SECURE     YES            DEFAULT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방식이 어긋나면 나는 오류 세 가지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모두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MSSM 테이블스페이스에 SecureFile</a:t>
            </a:r>
          </a:p>
          <a:p>
            <a:r>
              <a:rPr sz="1250" b="0">
                <a:solidFill>
                  <a:srgbClr val="E6E6E6"/>
                </a:solidFill>
                <a:latin typeface="Consolas"/>
              </a:rPr>
              <a:t>CREATE TABLE s_mssm (id NUMBER, c CLOB) TABLESPACE lobmssm</a:t>
            </a:r>
          </a:p>
          <a:p>
            <a:r>
              <a:rPr sz="1250" b="0">
                <a:solidFill>
                  <a:srgbClr val="E6E6E6"/>
                </a:solidFill>
                <a:latin typeface="Consolas"/>
              </a:rPr>
              <a:t>  LOB (c) STORE AS SECUREFILE (DISABLE STORAGE IN ROW);</a:t>
            </a:r>
          </a:p>
          <a:p>
            <a:r>
              <a:rPr sz="1250" b="0">
                <a:solidFill>
                  <a:srgbClr val="E6E6E6"/>
                </a:solidFill>
                <a:latin typeface="Consolas"/>
              </a:rPr>
              <a:t>ORA-43853: SECUREFILE lobs cannot be used in non-ASSM tablespace "LOBMSSM"</a:t>
            </a:r>
          </a:p>
          <a:p>
            <a:r>
              <a:rPr sz="1250" b="0">
                <a:solidFill>
                  <a:srgbClr val="E6E6E6"/>
                </a:solidFill>
                <a:latin typeface="Consolas"/>
              </a:rPr>
              <a:t/>
            </a:r>
          </a:p>
          <a:p>
            <a:r>
              <a:rPr sz="1250" b="0">
                <a:solidFill>
                  <a:srgbClr val="E6E6E6"/>
                </a:solidFill>
                <a:latin typeface="Consolas"/>
              </a:rPr>
              <a:t>-- ② BasicFile 에 SecureFile 전용 절</a:t>
            </a:r>
          </a:p>
          <a:p>
            <a:r>
              <a:rPr sz="1250" b="0">
                <a:solidFill>
                  <a:srgbClr val="E6E6E6"/>
                </a:solidFill>
                <a:latin typeface="Consolas"/>
              </a:rPr>
              <a:t>CREATE TABLE s_bad1 (id NUMBER, c CLOB)</a:t>
            </a:r>
          </a:p>
          <a:p>
            <a:r>
              <a:rPr sz="1250" b="0">
                <a:solidFill>
                  <a:srgbClr val="E6E6E6"/>
                </a:solidFill>
                <a:latin typeface="Consolas"/>
              </a:rPr>
              <a:t>  LOB (c) STORE AS BASICFILE (COMPRESS HIGH);</a:t>
            </a:r>
          </a:p>
          <a:p>
            <a:r>
              <a:rPr sz="1250" b="0">
                <a:solidFill>
                  <a:srgbClr val="E6E6E6"/>
                </a:solidFill>
                <a:latin typeface="Consolas"/>
              </a:rPr>
              <a:t>ORA-43856: Unsupported LOB type for SECUREFILE LOB operation</a:t>
            </a:r>
          </a:p>
          <a:p>
            <a:r>
              <a:rPr sz="1250" b="0">
                <a:solidFill>
                  <a:srgbClr val="E6E6E6"/>
                </a:solidFill>
                <a:latin typeface="Consolas"/>
              </a:rPr>
              <a:t/>
            </a:r>
          </a:p>
          <a:p>
            <a:r>
              <a:rPr sz="1250" b="0">
                <a:solidFill>
                  <a:srgbClr val="E6E6E6"/>
                </a:solidFill>
                <a:latin typeface="Consolas"/>
              </a:rPr>
              <a:t>-- ③ SecureFile 에 BasicFile 전용 절</a:t>
            </a:r>
          </a:p>
          <a:p>
            <a:r>
              <a:rPr sz="1250" b="0">
                <a:solidFill>
                  <a:srgbClr val="E6E6E6"/>
                </a:solidFill>
                <a:latin typeface="Consolas"/>
              </a:rPr>
              <a:t>CREATE TABLE s_bad2 (id NUMBER, c CLOB)</a:t>
            </a:r>
          </a:p>
          <a:p>
            <a:r>
              <a:rPr sz="1250" b="0">
                <a:solidFill>
                  <a:srgbClr val="E6E6E6"/>
                </a:solidFill>
                <a:latin typeface="Consolas"/>
              </a:rPr>
              <a:t>  LOB (c) STORE AS SECUREFILE (PCTVERSION 20);</a:t>
            </a:r>
          </a:p>
          <a:p>
            <a:r>
              <a:rPr sz="1250" b="0">
                <a:solidFill>
                  <a:srgbClr val="E6E6E6"/>
                </a:solidFill>
                <a:latin typeface="Consolas"/>
              </a:rPr>
              <a:t>ORA-22853: invalid LOB storage option specification</a:t>
            </a:r>
          </a:p>
          <a:p>
            <a:r>
              <a:rPr sz="1250" b="0">
                <a:solidFill>
                  <a:srgbClr val="E6E6E6"/>
                </a:solidFill>
                <a:latin typeface="Consolas"/>
              </a:rPr>
              <a:t/>
            </a:r>
          </a:p>
          <a:p>
            <a:r>
              <a:rPr sz="1250" b="0">
                <a:solidFill>
                  <a:srgbClr val="E6E6E6"/>
                </a:solidFill>
                <a:latin typeface="Consolas"/>
              </a:rPr>
              <a:t>-- 주의 : db_securefile=PREFERRED 는 ASSM 이 아니면 오류 없이 BasicFile 로 만든다</a:t>
            </a:r>
          </a:p>
          <a:p>
            <a:r>
              <a:rPr sz="1250" b="0">
                <a:solidFill>
                  <a:srgbClr val="E6E6E6"/>
                </a:solidFill>
                <a:latin typeface="Consolas"/>
              </a:rPr>
              <a:t>  SELECT table_name, column_name FROM dba_lobs WHERE securefile='NO';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CHUNK 와 RETENTION</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CHUNK — LOB I/O 의 최소 단위 (기본 8192, 블록 크기의 배수)</a:t>
            </a:r>
          </a:p>
          <a:p>
            <a:pPr>
              <a:spcAft>
                <a:spcPts val="600"/>
              </a:spcAft>
            </a:pPr>
            <a:r>
              <a:rPr sz="1600" b="0">
                <a:solidFill>
                  <a:srgbClr val="202830"/>
                </a:solidFill>
                <a:latin typeface="Malgun Gothic"/>
              </a:rPr>
              <a:t>    –  한 LOB 이 CHUNK 단위로 공간을 잡는다. 1바이트를 써도 한 CHUNK 를 쓴다</a:t>
            </a:r>
          </a:p>
          <a:p>
            <a:pPr>
              <a:spcAft>
                <a:spcPts val="600"/>
              </a:spcAft>
            </a:pPr>
            <a:r>
              <a:rPr sz="1600" b="0">
                <a:solidFill>
                  <a:srgbClr val="202830"/>
                </a:solidFill>
                <a:latin typeface="Malgun Gothic"/>
              </a:rPr>
              <a:t>    –  작은 LOB 을 많이 넣으면 데이터보다 세그먼트가 훨씬 커진다</a:t>
            </a:r>
          </a:p>
          <a:p>
            <a:pPr>
              <a:spcAft>
                <a:spcPts val="600"/>
              </a:spcAft>
            </a:pPr>
            <a:r>
              <a:rPr sz="1600" b="0">
                <a:solidFill>
                  <a:srgbClr val="202830"/>
                </a:solidFill>
                <a:latin typeface="Malgun Gothic"/>
              </a:rPr>
              <a:t>    –  큰 LOB 을 순차로 읽는 시스템은 CHUNK 를 키워 I/O 횟수를 줄인다</a:t>
            </a:r>
          </a:p>
          <a:p>
            <a:pPr>
              <a:spcAft>
                <a:spcPts val="600"/>
              </a:spcAft>
            </a:pPr>
            <a:r>
              <a:rPr sz="1800" b="0">
                <a:solidFill>
                  <a:srgbClr val="202830"/>
                </a:solidFill>
                <a:latin typeface="Malgun Gothic"/>
              </a:rPr>
              <a:t>•  RETENTION — 이전 버전을 언제까지 보관하는가 (SecureFile)</a:t>
            </a:r>
          </a:p>
          <a:p>
            <a:pPr>
              <a:spcAft>
                <a:spcPts val="600"/>
              </a:spcAft>
            </a:pPr>
            <a:r>
              <a:rPr sz="1600" b="0">
                <a:solidFill>
                  <a:srgbClr val="202830"/>
                </a:solidFill>
                <a:latin typeface="Malgun Gothic"/>
              </a:rPr>
              <a:t>    –  AUTO : UNDO 보존 설정에 맞춘다   MIN n : 최소 n 초</a:t>
            </a:r>
          </a:p>
          <a:p>
            <a:pPr>
              <a:spcAft>
                <a:spcPts val="600"/>
              </a:spcAft>
            </a:pPr>
            <a:r>
              <a:rPr sz="1600" b="0">
                <a:solidFill>
                  <a:srgbClr val="202830"/>
                </a:solidFill>
                <a:latin typeface="Malgun Gothic"/>
              </a:rPr>
              <a:t>    –  MAX : MAXSIZE 한도까지          NONE : 보관하지 않는다</a:t>
            </a:r>
          </a:p>
          <a:p>
            <a:pPr>
              <a:spcAft>
                <a:spcPts val="600"/>
              </a:spcAft>
            </a:pPr>
            <a:r>
              <a:rPr sz="1600" b="0">
                <a:solidFill>
                  <a:srgbClr val="202830"/>
                </a:solidFill>
                <a:latin typeface="Malgun Gothic"/>
              </a:rPr>
              <a:t>    –  DEFAULT(기본) 는 UNDO 설정을 따른다</a:t>
            </a:r>
          </a:p>
          <a:p>
            <a:pPr>
              <a:spcAft>
                <a:spcPts val="600"/>
              </a:spcAft>
            </a:pPr>
            <a:r>
              <a:rPr sz="1800" b="0">
                <a:solidFill>
                  <a:srgbClr val="202830"/>
                </a:solidFill>
                <a:latin typeface="Malgun Gothic"/>
              </a:rPr>
              <a:t>•  RETENTION 이 공간과 읽기 일관성을 동시에 결정한다</a:t>
            </a:r>
          </a:p>
          <a:p>
            <a:pPr>
              <a:spcAft>
                <a:spcPts val="600"/>
              </a:spcAft>
            </a:pPr>
            <a:r>
              <a:rPr sz="1600" b="0">
                <a:solidFill>
                  <a:srgbClr val="202830"/>
                </a:solidFill>
                <a:latin typeface="Malgun Gothic"/>
              </a:rPr>
              <a:t>    –  NONE 은 공간 회수에 유리하지만 오래 들고 있는 로케이터가 실패할 수 있다</a:t>
            </a:r>
          </a:p>
          <a:p>
            <a:pPr>
              <a:spcAft>
                <a:spcPts val="600"/>
              </a:spcAft>
            </a:pPr>
            <a:r>
              <a:rPr sz="1600" b="0">
                <a:solidFill>
                  <a:srgbClr val="202830"/>
                </a:solidFill>
                <a:latin typeface="Malgun Gothic"/>
              </a:rPr>
              <a:t>    –  긴 리포트가 도는 시스템은 AUTO 나 MIN 을 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다루는 방법</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SQL 로 되는 것과 안 되는 것</a:t>
            </a:r>
          </a:p>
          <a:p>
            <a:pPr>
              <a:spcAft>
                <a:spcPts val="600"/>
              </a:spcAft>
            </a:pPr>
            <a:r>
              <a:rPr sz="1600" b="0">
                <a:solidFill>
                  <a:srgbClr val="C5CED6"/>
                </a:solidFill>
                <a:latin typeface="Malgun Gothic"/>
              </a:rPr>
              <a:t>•  표준 적재 패턴 : EMPTY_LOB + RETURNING + WRITEAPPEND</a:t>
            </a:r>
          </a:p>
          <a:p>
            <a:pPr>
              <a:spcAft>
                <a:spcPts val="600"/>
              </a:spcAft>
            </a:pPr>
            <a:r>
              <a:rPr sz="1600" b="0">
                <a:solidFill>
                  <a:srgbClr val="C5CED6"/>
                </a:solidFill>
                <a:latin typeface="Malgun Gothic"/>
              </a:rPr>
              <a:t>•  DBMS_LOB 의 읽기·쓰기 API</a:t>
            </a:r>
          </a:p>
          <a:p>
            <a:pPr>
              <a:spcAft>
                <a:spcPts val="600"/>
              </a:spcAft>
            </a:pPr>
            <a:r>
              <a:rPr sz="1600" b="0">
                <a:solidFill>
                  <a:srgbClr val="C5CED6"/>
                </a:solidFill>
                <a:latin typeface="Malgun Gothic"/>
              </a:rPr>
              <a:t>•  로케이터의 세 가지 규칙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SQL 에서 막히는 것들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전부 실측 — 대안을 함께 외운다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작업                               | 가능 | 오류 / 대안</a:t>
            </a:r>
          </a:p>
          <a:p>
            <a:r>
              <a:rPr sz="1250" b="0">
                <a:solidFill>
                  <a:srgbClr val="E6E6E6"/>
                </a:solidFill>
                <a:latin typeface="Consolas"/>
              </a:rPr>
              <a:t>-----------------------------------|------|--------------------------------</a:t>
            </a:r>
          </a:p>
          <a:p>
            <a:r>
              <a:rPr sz="1250" b="0">
                <a:solidFill>
                  <a:srgbClr val="E6E6E6"/>
                </a:solidFill>
                <a:latin typeface="Consolas"/>
              </a:rPr>
              <a:t>INSERT·UPDATE (4000바이트 이하)     |  O   |</a:t>
            </a:r>
          </a:p>
          <a:p>
            <a:r>
              <a:rPr sz="1250" b="0">
                <a:solidFill>
                  <a:srgbClr val="E6E6E6"/>
                </a:solidFill>
                <a:latin typeface="Consolas"/>
              </a:rPr>
              <a:t>4000바이트 초과 단일 리터럴         |  X   | ORA-01704 -&gt; TO_CLOB 이어붙이기</a:t>
            </a:r>
          </a:p>
          <a:p>
            <a:r>
              <a:rPr sz="1250" b="0">
                <a:solidFill>
                  <a:srgbClr val="E6E6E6"/>
                </a:solidFill>
                <a:latin typeface="Consolas"/>
              </a:rPr>
              <a:t>LENGTH · SUBSTR · INSTR · LIKE      |  O   | 결과가 4000바이트 이하일 때 안전</a:t>
            </a:r>
          </a:p>
          <a:p>
            <a:r>
              <a:rPr sz="1250" b="0">
                <a:solidFill>
                  <a:srgbClr val="E6E6E6"/>
                </a:solidFill>
                <a:latin typeface="Consolas"/>
              </a:rPr>
              <a:t>= 비교                              |  X   | ORA-00932 -&gt; DBMS_LOB.COMPARE</a:t>
            </a:r>
          </a:p>
          <a:p>
            <a:r>
              <a:rPr sz="1250" b="0">
                <a:solidFill>
                  <a:srgbClr val="E6E6E6"/>
                </a:solidFill>
                <a:latin typeface="Consolas"/>
              </a:rPr>
              <a:t>DISTINCT · ORDER BY · GROUP BY      |  X   | ORA-00932 -&gt; 정렬 키를 별도 컬럼으로</a:t>
            </a:r>
          </a:p>
          <a:p>
            <a:r>
              <a:rPr sz="1250" b="0">
                <a:solidFill>
                  <a:srgbClr val="E6E6E6"/>
                </a:solidFill>
                <a:latin typeface="Consolas"/>
              </a:rPr>
              <a:t>인덱스 생성                         |  X   | ORA-02327 -&gt; Oracle Text 인덱스</a:t>
            </a:r>
          </a:p>
          <a:p>
            <a:r>
              <a:rPr sz="1250" b="0">
                <a:solidFill>
                  <a:srgbClr val="E6E6E6"/>
                </a:solidFill>
                <a:latin typeface="Consolas"/>
              </a:rPr>
              <a:t>LENGTHB (멀티바이트 CLOB)           |  X   | ORA-22998 -&gt; GETLENGTH(문자 수)</a:t>
            </a:r>
          </a:p>
          <a:p>
            <a:r>
              <a:rPr sz="1250" b="0">
                <a:solidFill>
                  <a:srgbClr val="E6E6E6"/>
                </a:solidFill>
                <a:latin typeface="Consolas"/>
              </a:rPr>
              <a:t/>
            </a:r>
          </a:p>
          <a:p>
            <a:r>
              <a:rPr sz="1250" b="0">
                <a:solidFill>
                  <a:srgbClr val="E6E6E6"/>
                </a:solidFill>
                <a:latin typeface="Consolas"/>
              </a:rPr>
              <a:t>-- 비교의 대안 (실측)</a:t>
            </a:r>
          </a:p>
          <a:p>
            <a:r>
              <a:rPr sz="1250" b="0">
                <a:solidFill>
                  <a:srgbClr val="E6E6E6"/>
                </a:solidFill>
                <a:latin typeface="Consolas"/>
              </a:rPr>
              <a:t>LOBLAB@orcl&gt; SELECT id FROM article a</a:t>
            </a:r>
          </a:p>
          <a:p>
            <a:r>
              <a:rPr sz="1250" b="0">
                <a:solidFill>
                  <a:srgbClr val="E6E6E6"/>
                </a:solidFill>
                <a:latin typeface="Consolas"/>
              </a:rPr>
              <a:t>  2  WHERE DBMS_LOB.COMPARE(a.body, TO_CLOB('가나다라마')) = 0;</a:t>
            </a:r>
          </a:p>
          <a:p>
            <a:r>
              <a:rPr sz="1250" b="0">
                <a:solidFill>
                  <a:srgbClr val="E6E6E6"/>
                </a:solidFill>
                <a:latin typeface="Consolas"/>
              </a:rPr>
              <a:t>        ID</a:t>
            </a:r>
          </a:p>
          <a:p>
            <a:r>
              <a:rPr sz="1250" b="0">
                <a:solidFill>
                  <a:srgbClr val="E6E6E6"/>
                </a:solidFill>
                <a:latin typeface="Consolas"/>
              </a:rPr>
              <a:t>----------</a:t>
            </a:r>
          </a:p>
          <a:p>
            <a:r>
              <a:rPr sz="1250" b="0">
                <a:solidFill>
                  <a:srgbClr val="E6E6E6"/>
                </a:solidFill>
                <a:latin typeface="Consolas"/>
              </a:rPr>
              <a:t>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리터럴의 한계와 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RPAD 는 조용히 잘린다 — 이것이 더 위험하다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LOBLAB@orcl&gt; SELECT LENGTH(RPAD('A',5000,'A')) AS rpad5000,</a:t>
            </a:r>
          </a:p>
          <a:p>
            <a:r>
              <a:rPr sz="1250" b="0">
                <a:solidFill>
                  <a:srgbClr val="E6E6E6"/>
                </a:solidFill>
                <a:latin typeface="Consolas"/>
              </a:rPr>
              <a:t>  2         LENGTH(RPAD('A',4001,'A')) AS rpad4001 FROM dual;</a:t>
            </a:r>
          </a:p>
          <a:p>
            <a:r>
              <a:rPr sz="1250" b="0">
                <a:solidFill>
                  <a:srgbClr val="E6E6E6"/>
                </a:solidFill>
                <a:latin typeface="Consolas"/>
              </a:rPr>
              <a:t>  RPAD5000   RPAD4001</a:t>
            </a:r>
          </a:p>
          <a:p>
            <a:r>
              <a:rPr sz="1250" b="0">
                <a:solidFill>
                  <a:srgbClr val="E6E6E6"/>
                </a:solidFill>
                <a:latin typeface="Consolas"/>
              </a:rPr>
              <a:t>---------- ----------</a:t>
            </a:r>
          </a:p>
          <a:p>
            <a:r>
              <a:rPr sz="1250" b="0">
                <a:solidFill>
                  <a:srgbClr val="E6E6E6"/>
                </a:solidFill>
                <a:latin typeface="Consolas"/>
              </a:rPr>
              <a:t>      4000       4000        &lt;- 오류 없이 4000 으로 잘린다</a:t>
            </a:r>
          </a:p>
          <a:p>
            <a:r>
              <a:rPr sz="1250" b="0">
                <a:solidFill>
                  <a:srgbClr val="E6E6E6"/>
                </a:solidFill>
                <a:latin typeface="Consolas"/>
              </a:rPr>
              <a:t/>
            </a:r>
          </a:p>
          <a:p>
            <a:r>
              <a:rPr sz="1250" b="0">
                <a:solidFill>
                  <a:srgbClr val="E6E6E6"/>
                </a:solidFill>
                <a:latin typeface="Consolas"/>
              </a:rPr>
              <a:t>-- 4000바이트를 넘는 단일 리터럴은 막힌다</a:t>
            </a:r>
          </a:p>
          <a:p>
            <a:r>
              <a:rPr sz="1250" b="0">
                <a:solidFill>
                  <a:srgbClr val="E6E6E6"/>
                </a:solidFill>
                <a:latin typeface="Consolas"/>
              </a:rPr>
              <a:t>INSERT INTO article VALUES (1, '긴 리터럴', 'AAAA…(5500자)…AAAA', NULL);</a:t>
            </a:r>
          </a:p>
          <a:p>
            <a:r>
              <a:rPr sz="1250" b="0">
                <a:solidFill>
                  <a:srgbClr val="E6E6E6"/>
                </a:solidFill>
                <a:latin typeface="Consolas"/>
              </a:rPr>
              <a:t>ORA-01704: string literal too long</a:t>
            </a:r>
          </a:p>
          <a:p>
            <a:r>
              <a:rPr sz="1250" b="0">
                <a:solidFill>
                  <a:srgbClr val="E6E6E6"/>
                </a:solidFill>
                <a:latin typeface="Consolas"/>
              </a:rPr>
              <a:t/>
            </a:r>
          </a:p>
          <a:p>
            <a:r>
              <a:rPr sz="1250" b="0">
                <a:solidFill>
                  <a:srgbClr val="E6E6E6"/>
                </a:solidFill>
                <a:latin typeface="Consolas"/>
              </a:rPr>
              <a:t>-- SQL*Plus 는 한 줄이 4999자를 넘으면 서버로 보내지도 않는다</a:t>
            </a:r>
          </a:p>
          <a:p>
            <a:r>
              <a:rPr sz="1250" b="0">
                <a:solidFill>
                  <a:srgbClr val="E6E6E6"/>
                </a:solidFill>
                <a:latin typeface="Consolas"/>
              </a:rPr>
              <a:t>SP2-0027: Input is too long (&gt; 4999 characters) - line ignored</a:t>
            </a:r>
          </a:p>
          <a:p>
            <a:r>
              <a:rPr sz="1250" b="0">
                <a:solidFill>
                  <a:srgbClr val="E6E6E6"/>
                </a:solidFill>
                <a:latin typeface="Consolas"/>
              </a:rPr>
              <a:t/>
            </a:r>
          </a:p>
          <a:p>
            <a:r>
              <a:rPr sz="1250" b="0">
                <a:solidFill>
                  <a:srgbClr val="E6E6E6"/>
                </a:solidFill>
                <a:latin typeface="Consolas"/>
              </a:rPr>
              <a:t>-- 우회 ① PL/SQL 변수 (최대 32767)      우회 ② TO_CLOB 이어붙이기</a:t>
            </a:r>
          </a:p>
          <a:p>
            <a:r>
              <a:rPr sz="1250" b="0">
                <a:solidFill>
                  <a:srgbClr val="E6E6E6"/>
                </a:solidFill>
                <a:latin typeface="Consolas"/>
              </a:rPr>
              <a:t>v_txt VARCHAR2(32767) := RPAD('A',5000,'A');</a:t>
            </a:r>
          </a:p>
          <a:p>
            <a:r>
              <a:rPr sz="1250" b="0">
                <a:solidFill>
                  <a:srgbClr val="E6E6E6"/>
                </a:solidFill>
                <a:latin typeface="Consolas"/>
              </a:rPr>
              <a:t>PL/SQL VARCHAR2 길이=5000  CLOB 길이=5000</a:t>
            </a:r>
          </a:p>
          <a:p>
            <a:r>
              <a:rPr sz="1250" b="0">
                <a:solidFill>
                  <a:srgbClr val="E6E6E6"/>
                </a:solidFill>
                <a:latin typeface="Consolas"/>
              </a:rPr>
              <a:t>INSERT INTO article VALUES (2, '...', TO_CLOB(RPAD('A',4000,'A'))</a:t>
            </a:r>
          </a:p>
          <a:p>
            <a:r>
              <a:rPr sz="1250" b="0">
                <a:solidFill>
                  <a:srgbClr val="E6E6E6"/>
                </a:solidFill>
                <a:latin typeface="Consolas"/>
              </a:rPr>
              <a:t>                                    || TO_CLOB(RPAD('B',1500,'B')), NULL);   -&gt; 5500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표준 적재 패턴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EMPTY_LOB() + RETURNING + WRITEAPPEND</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LOBLAB@orcl&gt; DECLARE v_c CLOB;</a:t>
            </a:r>
          </a:p>
          <a:p>
            <a:r>
              <a:rPr sz="1250" b="0">
                <a:solidFill>
                  <a:srgbClr val="E6E6E6"/>
                </a:solidFill>
                <a:latin typeface="Consolas"/>
              </a:rPr>
              <a:t>  2  BEGIN</a:t>
            </a:r>
          </a:p>
          <a:p>
            <a:r>
              <a:rPr sz="1250" b="0">
                <a:solidFill>
                  <a:srgbClr val="E6E6E6"/>
                </a:solidFill>
                <a:latin typeface="Consolas"/>
              </a:rPr>
              <a:t>  3    INSERT INTO article VALUES (3, 'WRITEAPPEND 반복', EMPTY_CLOB(), NULL)</a:t>
            </a:r>
          </a:p>
          <a:p>
            <a:r>
              <a:rPr sz="1250" b="0">
                <a:solidFill>
                  <a:srgbClr val="E6E6E6"/>
                </a:solidFill>
                <a:latin typeface="Consolas"/>
              </a:rPr>
              <a:t>  4      RETURNING body INTO v_c;</a:t>
            </a:r>
          </a:p>
          <a:p>
            <a:r>
              <a:rPr sz="1250" b="0">
                <a:solidFill>
                  <a:srgbClr val="E6E6E6"/>
                </a:solidFill>
                <a:latin typeface="Consolas"/>
              </a:rPr>
              <a:t>  5    FOR i IN 1..10 LOOP</a:t>
            </a:r>
          </a:p>
          <a:p>
            <a:r>
              <a:rPr sz="1250" b="0">
                <a:solidFill>
                  <a:srgbClr val="E6E6E6"/>
                </a:solidFill>
                <a:latin typeface="Consolas"/>
              </a:rPr>
              <a:t>  6      DBMS_LOB.WRITEAPPEND(v_c, 1000, RPAD('L'||TO_CHAR(i,'FM00'),1000,'.'));</a:t>
            </a:r>
          </a:p>
          <a:p>
            <a:r>
              <a:rPr sz="1250" b="0">
                <a:solidFill>
                  <a:srgbClr val="E6E6E6"/>
                </a:solidFill>
                <a:latin typeface="Consolas"/>
              </a:rPr>
              <a:t>  7    END LOOP;</a:t>
            </a:r>
          </a:p>
          <a:p>
            <a:r>
              <a:rPr sz="1250" b="0">
                <a:solidFill>
                  <a:srgbClr val="E6E6E6"/>
                </a:solidFill>
                <a:latin typeface="Consolas"/>
              </a:rPr>
              <a:t>  8    DBMS_OUTPUT.PUT_LINE('누적 길이=' || DBMS_LOB.GETLENGTH(v_c));</a:t>
            </a:r>
          </a:p>
          <a:p>
            <a:r>
              <a:rPr sz="1250" b="0">
                <a:solidFill>
                  <a:srgbClr val="E6E6E6"/>
                </a:solidFill>
                <a:latin typeface="Consolas"/>
              </a:rPr>
              <a:t>  9    COMMIT;</a:t>
            </a:r>
          </a:p>
          <a:p>
            <a:r>
              <a:rPr sz="1250" b="0">
                <a:solidFill>
                  <a:srgbClr val="E6E6E6"/>
                </a:solidFill>
                <a:latin typeface="Consolas"/>
              </a:rPr>
              <a:t> 10  END;</a:t>
            </a:r>
          </a:p>
          <a:p>
            <a:r>
              <a:rPr sz="1250" b="0">
                <a:solidFill>
                  <a:srgbClr val="E6E6E6"/>
                </a:solidFill>
                <a:latin typeface="Consolas"/>
              </a:rPr>
              <a:t> 11  /</a:t>
            </a:r>
          </a:p>
          <a:p>
            <a:r>
              <a:rPr sz="1250" b="0">
                <a:solidFill>
                  <a:srgbClr val="E6E6E6"/>
                </a:solidFill>
                <a:latin typeface="Consolas"/>
              </a:rPr>
              <a:t>누적 길이=10000</a:t>
            </a:r>
          </a:p>
          <a:p>
            <a:r>
              <a:rPr sz="1250" b="0">
                <a:solidFill>
                  <a:srgbClr val="E6E6E6"/>
                </a:solidFill>
                <a:latin typeface="Consolas"/>
              </a:rPr>
              <a:t/>
            </a:r>
          </a:p>
          <a:p>
            <a:r>
              <a:rPr sz="1250" b="0">
                <a:solidFill>
                  <a:srgbClr val="E6E6E6"/>
                </a:solidFill>
                <a:latin typeface="Consolas"/>
              </a:rPr>
              <a:t>세 단계가 기본형이다</a:t>
            </a:r>
          </a:p>
          <a:p>
            <a:r>
              <a:rPr sz="1250" b="0">
                <a:solidFill>
                  <a:srgbClr val="E6E6E6"/>
                </a:solidFill>
                <a:latin typeface="Consolas"/>
              </a:rPr>
              <a:t>  ① EMPTY_CLOB() 으로 빈 LOB 을 만들어 행을 넣는다  (NULL 과 다르다)</a:t>
            </a:r>
          </a:p>
          <a:p>
            <a:r>
              <a:rPr sz="1250" b="0">
                <a:solidFill>
                  <a:srgbClr val="E6E6E6"/>
                </a:solidFill>
                <a:latin typeface="Consolas"/>
              </a:rPr>
              <a:t>  ② RETURNING 으로 그 행의 로케이터를 받는다        (이미 행이 잠긴 상태다)</a:t>
            </a:r>
          </a:p>
          <a:p>
            <a:r>
              <a:rPr sz="1250" b="0">
                <a:solidFill>
                  <a:srgbClr val="E6E6E6"/>
                </a:solidFill>
                <a:latin typeface="Consolas"/>
              </a:rPr>
              <a:t>  ③ 조각을 이어 쓴다                                (한 번에 보내지 않아도 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DBMS_LOB 주요 프로시저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조회 — GETLENGTH · SUBSTR · INSTR · COMPARE · GETCHUNKSIZE · GET_STORAGE_LIMIT</a:t>
            </a:r>
          </a:p>
          <a:p>
            <a:pPr>
              <a:spcAft>
                <a:spcPts val="600"/>
              </a:spcAft>
            </a:pPr>
            <a:r>
              <a:rPr sz="1600" b="0">
                <a:solidFill>
                  <a:srgbClr val="202830"/>
                </a:solidFill>
                <a:latin typeface="Malgun Gothic"/>
              </a:rPr>
              <a:t>    –  SUBSTR 은 (LOB, 길이, 시작오프셋) 순서다. SQL 의 SUBSTR 과 인자가 다르다. 최대 32767</a:t>
            </a:r>
          </a:p>
          <a:p>
            <a:pPr>
              <a:spcAft>
                <a:spcPts val="600"/>
              </a:spcAft>
            </a:pPr>
            <a:r>
              <a:rPr sz="1800" b="0">
                <a:solidFill>
                  <a:srgbClr val="202830"/>
                </a:solidFill>
                <a:latin typeface="Malgun Gothic"/>
              </a:rPr>
              <a:t>•  쓰기 — WRITE · WRITEAPPEND · APPEND · COPY · ERASE · TRIM</a:t>
            </a:r>
          </a:p>
          <a:p>
            <a:pPr>
              <a:spcAft>
                <a:spcPts val="600"/>
              </a:spcAft>
            </a:pPr>
            <a:r>
              <a:rPr sz="1600" b="0">
                <a:solidFill>
                  <a:srgbClr val="202830"/>
                </a:solidFill>
                <a:latin typeface="Malgun Gothic"/>
              </a:rPr>
              <a:t>    –  ERASE 는 지운 자리를 공백·0 으로 채운다. 길이가 줄지 않는다</a:t>
            </a:r>
          </a:p>
          <a:p>
            <a:pPr>
              <a:spcAft>
                <a:spcPts val="600"/>
              </a:spcAft>
            </a:pPr>
            <a:r>
              <a:rPr sz="1600" b="0">
                <a:solidFill>
                  <a:srgbClr val="202830"/>
                </a:solidFill>
                <a:latin typeface="Malgun Gothic"/>
              </a:rPr>
              <a:t>    –  TRIM 은 길이를 실제로 줄인다</a:t>
            </a:r>
          </a:p>
          <a:p>
            <a:pPr>
              <a:spcAft>
                <a:spcPts val="600"/>
              </a:spcAft>
            </a:pPr>
            <a:r>
              <a:rPr sz="1800" b="0">
                <a:solidFill>
                  <a:srgbClr val="202830"/>
                </a:solidFill>
                <a:latin typeface="Malgun Gothic"/>
              </a:rPr>
              <a:t>•  SecureFile 전용 — FRAGMENT_INSERT · FRAGMENT_DELETE · FRAGMENT_MOVE · FRAGMENT_REPLACE</a:t>
            </a:r>
          </a:p>
          <a:p>
            <a:pPr>
              <a:spcAft>
                <a:spcPts val="600"/>
              </a:spcAft>
            </a:pPr>
            <a:r>
              <a:rPr sz="1600" b="0">
                <a:solidFill>
                  <a:srgbClr val="202830"/>
                </a:solidFill>
                <a:latin typeface="Malgun Gothic"/>
              </a:rPr>
              <a:t>    –  길이가 실제로 늘거나 줄어든다. BasicFile 에서는 ORA-43856</a:t>
            </a:r>
          </a:p>
          <a:p>
            <a:pPr>
              <a:spcAft>
                <a:spcPts val="600"/>
              </a:spcAft>
            </a:pPr>
            <a:r>
              <a:rPr sz="1800" b="0">
                <a:solidFill>
                  <a:srgbClr val="202830"/>
                </a:solidFill>
                <a:latin typeface="Malgun Gothic"/>
              </a:rPr>
              <a:t>•  임시 LOB — CREATETEMPORARY · ISTEMPORARY · FREETEMPORARY</a:t>
            </a:r>
          </a:p>
          <a:p>
            <a:pPr>
              <a:spcAft>
                <a:spcPts val="600"/>
              </a:spcAft>
            </a:pPr>
            <a:r>
              <a:rPr sz="1800" b="0">
                <a:solidFill>
                  <a:srgbClr val="202830"/>
                </a:solidFill>
                <a:latin typeface="Malgun Gothic"/>
              </a:rPr>
              <a:t>•  파일 — BFILENAME · FILEOPEN · FILECLOSE · FILEEXISTS · FILEGETNAME · FILECLOSEALL</a:t>
            </a:r>
          </a:p>
          <a:p>
            <a:pPr>
              <a:spcAft>
                <a:spcPts val="600"/>
              </a:spcAft>
            </a:pPr>
            <a:r>
              <a:rPr sz="1800" b="0">
                <a:solidFill>
                  <a:srgbClr val="202830"/>
                </a:solidFill>
                <a:latin typeface="Malgun Gothic"/>
              </a:rPr>
              <a:t>•  적재·변환 — LOADBLOBFROMFILE · LOADCLOBFROMFILE · CONVERTTOBLOB · CONVERTTOCLOB</a:t>
            </a:r>
          </a:p>
          <a:p>
            <a:pPr>
              <a:spcAft>
                <a:spcPts val="600"/>
              </a:spcAft>
            </a:pPr>
            <a:r>
              <a:rPr sz="1600" b="0">
                <a:solidFill>
                  <a:srgbClr val="202830"/>
                </a:solidFill>
                <a:latin typeface="Malgun Gothic"/>
              </a:rPr>
              <a:t>    –  문자집합 ID 와 warning 출력 인자가 필요하다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ERASE 와 FRAGMENT_DELETE 의 차이</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길이를 줄이는가 아닌가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WRITE / ERASE / TRIM</a:t>
            </a:r>
          </a:p>
          <a:p>
            <a:r>
              <a:rPr sz="1250" b="0">
                <a:solidFill>
                  <a:srgbClr val="E6E6E6"/>
                </a:solidFill>
                <a:latin typeface="Consolas"/>
              </a:rPr>
              <a:t>DBMS_LOB.WRITE(v_c, 5, 1, 'HELLO');       -- 1번째부터 5문자 덮어쓰기</a:t>
            </a:r>
          </a:p>
          <a:p>
            <a:r>
              <a:rPr sz="1250" b="0">
                <a:solidFill>
                  <a:srgbClr val="E6E6E6"/>
                </a:solidFill>
                <a:latin typeface="Consolas"/>
              </a:rPr>
              <a:t>DBMS_LOB.ERASE(v_c, v_amt, 11);           -- 11번째부터 10문자 지우기</a:t>
            </a:r>
          </a:p>
          <a:p>
            <a:r>
              <a:rPr sz="1250" b="0">
                <a:solidFill>
                  <a:srgbClr val="E6E6E6"/>
                </a:solidFill>
                <a:latin typeface="Consolas"/>
              </a:rPr>
              <a:t>DBMS_LOB.TRIM(v_c, 100);                  -- 100문자로 자르기</a:t>
            </a:r>
          </a:p>
          <a:p>
            <a:r>
              <a:rPr sz="1250" b="0">
                <a:solidFill>
                  <a:srgbClr val="E6E6E6"/>
                </a:solidFill>
                <a:latin typeface="Consolas"/>
              </a:rPr>
              <a:t/>
            </a:r>
          </a:p>
          <a:p>
            <a:r>
              <a:rPr sz="1250" b="0">
                <a:solidFill>
                  <a:srgbClr val="E6E6E6"/>
                </a:solidFill>
                <a:latin typeface="Consolas"/>
              </a:rPr>
              <a:t>ERASE 가 지운 문자 수=10  TRIM 후 길이=100</a:t>
            </a:r>
          </a:p>
          <a:p>
            <a:r>
              <a:rPr sz="1250" b="0">
                <a:solidFill>
                  <a:srgbClr val="E6E6E6"/>
                </a:solidFill>
                <a:latin typeface="Consolas"/>
              </a:rPr>
              <a:t>앞 30문자=[HELLO.....          ..........]</a:t>
            </a:r>
          </a:p>
          <a:p>
            <a:r>
              <a:rPr sz="1250" b="0">
                <a:solidFill>
                  <a:srgbClr val="E6E6E6"/>
                </a:solidFill>
                <a:latin typeface="Consolas"/>
              </a:rPr>
              <a:t>                    ^^^^^^^^^^ ERASE 는 자리를 비운다 (길이 유지)</a:t>
            </a:r>
          </a:p>
          <a:p>
            <a:r>
              <a:rPr sz="1250" b="0">
                <a:solidFill>
                  <a:srgbClr val="E6E6E6"/>
                </a:solidFill>
                <a:latin typeface="Consolas"/>
              </a:rPr>
              <a:t/>
            </a:r>
          </a:p>
          <a:p>
            <a:r>
              <a:rPr sz="1250" b="0">
                <a:solidFill>
                  <a:srgbClr val="E6E6E6"/>
                </a:solidFill>
                <a:latin typeface="Consolas"/>
              </a:rPr>
              <a:t>-- FRAGMENT_INSERT / FRAGMENT_DELETE (SecureFile 전용)</a:t>
            </a:r>
          </a:p>
          <a:p>
            <a:r>
              <a:rPr sz="1250" b="0">
                <a:solidFill>
                  <a:srgbClr val="E6E6E6"/>
                </a:solidFill>
                <a:latin typeface="Consolas"/>
              </a:rPr>
              <a:t>DBMS_LOB.FRAGMENT_INSERT(v_c, 6, 11, '&lt;INS&gt; ');</a:t>
            </a:r>
          </a:p>
          <a:p>
            <a:r>
              <a:rPr sz="1250" b="0">
                <a:solidFill>
                  <a:srgbClr val="E6E6E6"/>
                </a:solidFill>
                <a:latin typeface="Consolas"/>
              </a:rPr>
              <a:t>FRAGMENT_INSERT 후 길이=106</a:t>
            </a:r>
          </a:p>
          <a:p>
            <a:r>
              <a:rPr sz="1250" b="0">
                <a:solidFill>
                  <a:srgbClr val="E6E6E6"/>
                </a:solidFill>
                <a:latin typeface="Consolas"/>
              </a:rPr>
              <a:t>앞 30문자=[HELLO.....&lt;INS&gt;           ....]</a:t>
            </a:r>
          </a:p>
          <a:p>
            <a:r>
              <a:rPr sz="1250" b="0">
                <a:solidFill>
                  <a:srgbClr val="E6E6E6"/>
                </a:solidFill>
                <a:latin typeface="Consolas"/>
              </a:rPr>
              <a:t/>
            </a:r>
          </a:p>
          <a:p>
            <a:r>
              <a:rPr sz="1250" b="0">
                <a:solidFill>
                  <a:srgbClr val="E6E6E6"/>
                </a:solidFill>
                <a:latin typeface="Consolas"/>
              </a:rPr>
              <a:t>DBMS_LOB.FRAGMENT_DELETE(v_c, 6, 11);</a:t>
            </a:r>
          </a:p>
          <a:p>
            <a:r>
              <a:rPr sz="1250" b="0">
                <a:solidFill>
                  <a:srgbClr val="E6E6E6"/>
                </a:solidFill>
                <a:latin typeface="Consolas"/>
              </a:rPr>
              <a:t>FRAGMENT_DELETE 후 길이=100      &lt;- 뒤를 끌어당겨 길이가 줄어든다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나눠 읽기와 파일 변환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큰 LOB 은 한 번에 변수로 받지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READ : 오프셋을 옮기며 버퍼 단위로 읽는다. 끝에서 NO_DATA_FOUND</a:t>
            </a:r>
          </a:p>
          <a:p>
            <a:r>
              <a:rPr sz="1250" b="0">
                <a:solidFill>
                  <a:srgbClr val="E6E6E6"/>
                </a:solidFill>
                <a:latin typeface="Consolas"/>
              </a:rPr>
              <a:t>LOOP</a:t>
            </a:r>
          </a:p>
          <a:p>
            <a:r>
              <a:rPr sz="1250" b="0">
                <a:solidFill>
                  <a:srgbClr val="E6E6E6"/>
                </a:solidFill>
                <a:latin typeface="Consolas"/>
              </a:rPr>
              <a:t>  v_amt := 20;                                  -- 요청량 (실제 읽은 양이 돌아온다)</a:t>
            </a:r>
          </a:p>
          <a:p>
            <a:r>
              <a:rPr sz="1250" b="0">
                <a:solidFill>
                  <a:srgbClr val="E6E6E6"/>
                </a:solidFill>
                <a:latin typeface="Consolas"/>
              </a:rPr>
              <a:t>  BEGIN DBMS_LOB.READ(v_c, v_amt, v_off, v_buf);</a:t>
            </a:r>
          </a:p>
          <a:p>
            <a:r>
              <a:rPr sz="1250" b="0">
                <a:solidFill>
                  <a:srgbClr val="E6E6E6"/>
                </a:solidFill>
                <a:latin typeface="Consolas"/>
              </a:rPr>
              <a:t>  EXCEPTION WHEN NO_DATA_FOUND THEN EXIT; END;</a:t>
            </a:r>
          </a:p>
          <a:p>
            <a:r>
              <a:rPr sz="1250" b="0">
                <a:solidFill>
                  <a:srgbClr val="E6E6E6"/>
                </a:solidFill>
                <a:latin typeface="Consolas"/>
              </a:rPr>
              <a:t>  v_off := v_off + v_amt;</a:t>
            </a:r>
          </a:p>
          <a:p>
            <a:r>
              <a:rPr sz="1250" b="0">
                <a:solidFill>
                  <a:srgbClr val="E6E6E6"/>
                </a:solidFill>
                <a:latin typeface="Consolas"/>
              </a:rPr>
              <a:t>END LOOP;</a:t>
            </a:r>
          </a:p>
          <a:p>
            <a:r>
              <a:rPr sz="1250" b="0">
                <a:solidFill>
                  <a:srgbClr val="E6E6E6"/>
                </a:solidFill>
                <a:latin typeface="Consolas"/>
              </a:rPr>
              <a:t/>
            </a:r>
          </a:p>
          <a:p>
            <a:r>
              <a:rPr sz="1250" b="0">
                <a:solidFill>
                  <a:srgbClr val="E6E6E6"/>
                </a:solidFill>
                <a:latin typeface="Consolas"/>
              </a:rPr>
              <a:t>1번째 20문자=[HELLO.....          ]</a:t>
            </a:r>
          </a:p>
          <a:p>
            <a:r>
              <a:rPr sz="1250" b="0">
                <a:solidFill>
                  <a:srgbClr val="E6E6E6"/>
                </a:solidFill>
                <a:latin typeface="Consolas"/>
              </a:rPr>
              <a:t>2번째 20문자=[....................]</a:t>
            </a:r>
          </a:p>
          <a:p>
            <a:r>
              <a:rPr sz="1250" b="0">
                <a:solidFill>
                  <a:srgbClr val="E6E6E6"/>
                </a:solidFill>
                <a:latin typeface="Consolas"/>
              </a:rPr>
              <a:t>총 5회 읽었다 (다음 오프셋 101)</a:t>
            </a:r>
          </a:p>
          <a:p>
            <a:r>
              <a:rPr sz="1250" b="0">
                <a:solidFill>
                  <a:srgbClr val="E6E6E6"/>
                </a:solidFill>
                <a:latin typeface="Consolas"/>
              </a:rPr>
              <a:t/>
            </a:r>
          </a:p>
          <a:p>
            <a:r>
              <a:rPr sz="1250" b="0">
                <a:solidFill>
                  <a:srgbClr val="E6E6E6"/>
                </a:solidFill>
                <a:latin typeface="Consolas"/>
              </a:rPr>
              <a:t>-- CLOB &lt;-&gt; BLOB 왕복 변환도 문자집합 ID 를 준다</a:t>
            </a:r>
          </a:p>
          <a:p>
            <a:r>
              <a:rPr sz="1250" b="0">
                <a:solidFill>
                  <a:srgbClr val="E6E6E6"/>
                </a:solidFill>
                <a:latin typeface="Consolas"/>
              </a:rPr>
              <a:t>DBMS_LOB.CONVERTTOBLOB(v_b, v_c, LOBMAXSIZE, d_off, s_off, NLS_CHARSET_ID(...), l, w);</a:t>
            </a:r>
          </a:p>
          <a:p>
            <a:r>
              <a:rPr sz="1250" b="0">
                <a:solidFill>
                  <a:srgbClr val="E6E6E6"/>
                </a:solidFill>
                <a:latin typeface="Consolas"/>
              </a:rPr>
              <a:t>CONVERTTOBLOB 결과 바이트=7566  warning=0     &lt;- 5154문자 -&gt; 7566바이트</a:t>
            </a:r>
          </a:p>
          <a:p>
            <a:r>
              <a:rPr sz="1250" b="0">
                <a:solidFill>
                  <a:srgbClr val="E6E6E6"/>
                </a:solidFill>
                <a:latin typeface="Consolas"/>
              </a:rPr>
              <a:t>CONVERTTOCLOB 결과 문자수=5154  warning=0     &lt;- 되돌리면 원래 문자 수</a:t>
            </a:r>
          </a:p>
          <a:p>
            <a:r>
              <a:rPr sz="1250" b="0">
                <a:solidFill>
                  <a:srgbClr val="E6E6E6"/>
                </a:solidFill>
                <a:latin typeface="Consolas"/>
              </a:rPr>
              <a:t>SELECT DBMS_LOB.COMPARE(원본, 왕복결과) -&gt; 0   &lt;- 손실 없음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로케이터의 세 가지 규칙</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애플리케이션 LOB 오류의 대부분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쓰려면 행을 잠가야 한다</a:t>
            </a:r>
          </a:p>
          <a:p>
            <a:r>
              <a:rPr sz="1250" b="0">
                <a:solidFill>
                  <a:srgbClr val="E6E6E6"/>
                </a:solidFill>
                <a:latin typeface="Consolas"/>
              </a:rPr>
              <a:t>SELECT body INTO v_c FROM article WHERE id=3;          -- 잠금 없음</a:t>
            </a:r>
          </a:p>
          <a:p>
            <a:r>
              <a:rPr sz="1250" b="0">
                <a:solidFill>
                  <a:srgbClr val="E6E6E6"/>
                </a:solidFill>
                <a:latin typeface="Consolas"/>
              </a:rPr>
              <a:t>DBMS_LOB.WRITEAPPEND(v_c, 5, 'XXXXX');</a:t>
            </a:r>
          </a:p>
          <a:p>
            <a:r>
              <a:rPr sz="1250" b="0">
                <a:solidFill>
                  <a:srgbClr val="E6E6E6"/>
                </a:solidFill>
                <a:latin typeface="Consolas"/>
              </a:rPr>
              <a:t>ORA-22920: row containing the LOB value is not locked</a:t>
            </a:r>
          </a:p>
          <a:p>
            <a:r>
              <a:rPr sz="1250" b="0">
                <a:solidFill>
                  <a:srgbClr val="E6E6E6"/>
                </a:solidFill>
                <a:latin typeface="Consolas"/>
              </a:rPr>
              <a:t>   -&gt; SELECT ... FOR UPDATE  (또는 INSERT ... RETURNING)</a:t>
            </a:r>
          </a:p>
          <a:p>
            <a:r>
              <a:rPr sz="1250" b="0">
                <a:solidFill>
                  <a:srgbClr val="E6E6E6"/>
                </a:solidFill>
                <a:latin typeface="Consolas"/>
              </a:rPr>
              <a:t/>
            </a:r>
          </a:p>
          <a:p>
            <a:r>
              <a:rPr sz="1250" b="0">
                <a:solidFill>
                  <a:srgbClr val="E6E6E6"/>
                </a:solidFill>
                <a:latin typeface="Consolas"/>
              </a:rPr>
              <a:t>-- ② 쓰기용 로케이터는 트랜잭션을 넘지 못한다</a:t>
            </a:r>
          </a:p>
          <a:p>
            <a:r>
              <a:rPr sz="1250" b="0">
                <a:solidFill>
                  <a:srgbClr val="E6E6E6"/>
                </a:solidFill>
                <a:latin typeface="Consolas"/>
              </a:rPr>
              <a:t>SELECT body INTO v_c FROM article WHERE id=3 FOR UPDATE;</a:t>
            </a:r>
          </a:p>
          <a:p>
            <a:r>
              <a:rPr sz="1250" b="0">
                <a:solidFill>
                  <a:srgbClr val="E6E6E6"/>
                </a:solidFill>
                <a:latin typeface="Consolas"/>
              </a:rPr>
              <a:t>COMMIT;</a:t>
            </a:r>
          </a:p>
          <a:p>
            <a:r>
              <a:rPr sz="1250" b="0">
                <a:solidFill>
                  <a:srgbClr val="E6E6E6"/>
                </a:solidFill>
                <a:latin typeface="Consolas"/>
              </a:rPr>
              <a:t>DBMS_LOB.WRITEAPPEND(v_c, 5, 'YYYYY');</a:t>
            </a:r>
          </a:p>
          <a:p>
            <a:r>
              <a:rPr sz="1250" b="0">
                <a:solidFill>
                  <a:srgbClr val="E6E6E6"/>
                </a:solidFill>
                <a:latin typeface="Consolas"/>
              </a:rPr>
              <a:t>ORA-22990: LOB locators cannot span transactions</a:t>
            </a:r>
          </a:p>
          <a:p>
            <a:r>
              <a:rPr sz="1250" b="0">
                <a:solidFill>
                  <a:srgbClr val="E6E6E6"/>
                </a:solidFill>
                <a:latin typeface="Consolas"/>
              </a:rPr>
              <a:t>   -&gt; 커밋 뒤에는 로케이터를 다시 얻는다</a:t>
            </a:r>
          </a:p>
          <a:p>
            <a:r>
              <a:rPr sz="1250" b="0">
                <a:solidFill>
                  <a:srgbClr val="E6E6E6"/>
                </a:solidFill>
                <a:latin typeface="Consolas"/>
              </a:rPr>
              <a:t/>
            </a:r>
          </a:p>
          <a:p>
            <a:r>
              <a:rPr sz="1250" b="0">
                <a:solidFill>
                  <a:srgbClr val="E6E6E6"/>
                </a:solidFill>
                <a:latin typeface="Consolas"/>
              </a:rPr>
              <a:t>-- ③ 읽기용 로케이터는 커밋 뒤에도 읽힌다</a:t>
            </a:r>
          </a:p>
          <a:p>
            <a:r>
              <a:rPr sz="1250" b="0">
                <a:solidFill>
                  <a:srgbClr val="E6E6E6"/>
                </a:solidFill>
                <a:latin typeface="Consolas"/>
              </a:rPr>
              <a:t>커밋 전 길이=105  커밋 후 같은 로케이터 길이=105</a:t>
            </a:r>
          </a:p>
          <a:p>
            <a:r>
              <a:rPr sz="1250" b="0">
                <a:solidFill>
                  <a:srgbClr val="E6E6E6"/>
                </a:solidFill>
                <a:latin typeface="Consolas"/>
              </a:rPr>
              <a:t/>
            </a:r>
          </a:p>
          <a:p>
            <a:r>
              <a:rPr sz="1250" b="0">
                <a:solidFill>
                  <a:srgbClr val="E6E6E6"/>
                </a:solidFill>
                <a:latin typeface="Consolas"/>
              </a:rPr>
              <a:t>-- NULL LOB 에는 로케이터가 없다</a:t>
            </a:r>
          </a:p>
          <a:p>
            <a:r>
              <a:rPr sz="1250" b="0">
                <a:solidFill>
                  <a:srgbClr val="E6E6E6"/>
                </a:solidFill>
                <a:latin typeface="Consolas"/>
              </a:rPr>
              <a:t>ORA-06502: ... invalid LOB locator specified: ORA-22275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읽기 일관성 — 로케이터는 스냅숏이다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변수를 오래 들고 있으면 옛 값을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LOBLAB@orcl&gt; DECLARE v_old CLOB; v_len_old INTEGER; v_len_new INTEGER;</a:t>
            </a:r>
          </a:p>
          <a:p>
            <a:r>
              <a:rPr sz="1250" b="0">
                <a:solidFill>
                  <a:srgbClr val="E6E6E6"/>
                </a:solidFill>
                <a:latin typeface="Consolas"/>
              </a:rPr>
              <a:t>  2  BEGIN</a:t>
            </a:r>
          </a:p>
          <a:p>
            <a:r>
              <a:rPr sz="1250" b="0">
                <a:solidFill>
                  <a:srgbClr val="E6E6E6"/>
                </a:solidFill>
                <a:latin typeface="Consolas"/>
              </a:rPr>
              <a:t>  3    SELECT body INTO v_old FROM article WHERE id=3;      -- 이 시점의 스냅숏</a:t>
            </a:r>
          </a:p>
          <a:p>
            <a:r>
              <a:rPr sz="1250" b="0">
                <a:solidFill>
                  <a:srgbClr val="E6E6E6"/>
                </a:solidFill>
                <a:latin typeface="Consolas"/>
              </a:rPr>
              <a:t>  4    UPDATE article SET body = TO_CLOB(RPAD('Z',200,'Z')) WHERE id=3;</a:t>
            </a:r>
          </a:p>
          <a:p>
            <a:r>
              <a:rPr sz="1250" b="0">
                <a:solidFill>
                  <a:srgbClr val="E6E6E6"/>
                </a:solidFill>
                <a:latin typeface="Consolas"/>
              </a:rPr>
              <a:t>  5    COMMIT;</a:t>
            </a:r>
          </a:p>
          <a:p>
            <a:r>
              <a:rPr sz="1250" b="0">
                <a:solidFill>
                  <a:srgbClr val="E6E6E6"/>
                </a:solidFill>
                <a:latin typeface="Consolas"/>
              </a:rPr>
              <a:t>  6    v_len_old := DBMS_LOB.GETLENGTH(v_old);              -- 예전 로케이터</a:t>
            </a:r>
          </a:p>
          <a:p>
            <a:r>
              <a:rPr sz="1250" b="0">
                <a:solidFill>
                  <a:srgbClr val="E6E6E6"/>
                </a:solidFill>
                <a:latin typeface="Consolas"/>
              </a:rPr>
              <a:t>  7    SELECT DBMS_LOB.GETLENGTH(body) INTO v_len_new FROM article WHERE id=3;</a:t>
            </a:r>
          </a:p>
          <a:p>
            <a:r>
              <a:rPr sz="1250" b="0">
                <a:solidFill>
                  <a:srgbClr val="E6E6E6"/>
                </a:solidFill>
                <a:latin typeface="Consolas"/>
              </a:rPr>
              <a:t>  8    ...</a:t>
            </a:r>
          </a:p>
          <a:p>
            <a:r>
              <a:rPr sz="1250" b="0">
                <a:solidFill>
                  <a:srgbClr val="E6E6E6"/>
                </a:solidFill>
                <a:latin typeface="Consolas"/>
              </a:rPr>
              <a:t>  9  END;</a:t>
            </a:r>
          </a:p>
          <a:p>
            <a:r>
              <a:rPr sz="1250" b="0">
                <a:solidFill>
                  <a:srgbClr val="E6E6E6"/>
                </a:solidFill>
                <a:latin typeface="Consolas"/>
              </a:rPr>
              <a:t> 10  /</a:t>
            </a:r>
          </a:p>
          <a:p>
            <a:r>
              <a:rPr sz="1250" b="0">
                <a:solidFill>
                  <a:srgbClr val="E6E6E6"/>
                </a:solidFill>
                <a:latin typeface="Consolas"/>
              </a:rPr>
              <a:t>예전 로케이터 길이=105  현재 값 길이=200</a:t>
            </a:r>
          </a:p>
          <a:p>
            <a:r>
              <a:rPr sz="1250" b="0">
                <a:solidFill>
                  <a:srgbClr val="E6E6E6"/>
                </a:solidFill>
                <a:latin typeface="Consolas"/>
              </a:rPr>
              <a:t/>
            </a:r>
          </a:p>
          <a:p>
            <a:r>
              <a:rPr sz="1250" b="0">
                <a:solidFill>
                  <a:srgbClr val="E6E6E6"/>
                </a:solidFill>
                <a:latin typeface="Consolas"/>
              </a:rPr>
              <a:t>같은 행인데 105 와 200 이 동시에 보인다</a:t>
            </a:r>
          </a:p>
          <a:p>
            <a:r>
              <a:rPr sz="1250" b="0">
                <a:solidFill>
                  <a:srgbClr val="E6E6E6"/>
                </a:solidFill>
                <a:latin typeface="Consolas"/>
              </a:rPr>
              <a:t>  · 로케이터는 "그 시점의 LOB" 을 가리킨다</a:t>
            </a:r>
          </a:p>
          <a:p>
            <a:r>
              <a:rPr sz="1250" b="0">
                <a:solidFill>
                  <a:srgbClr val="E6E6E6"/>
                </a:solidFill>
                <a:latin typeface="Consolas"/>
              </a:rPr>
              <a:t>  · 화면·리포트에서 값이 안 바뀐다는 문의는 로케이터 수명을 먼저 본다</a:t>
            </a:r>
          </a:p>
          <a:p>
            <a:r>
              <a:rPr sz="1250" b="0">
                <a:solidFill>
                  <a:srgbClr val="E6E6E6"/>
                </a:solidFill>
                <a:latin typeface="Consolas"/>
              </a:rPr>
              <a:t>  · 시간이 더 지나 이전 버전이 덮이면 ORA-22924 계열로 실패한다</a:t>
            </a:r>
          </a:p>
          <a:p>
            <a:r>
              <a:rPr sz="1250" b="0">
                <a:solidFill>
                  <a:srgbClr val="E6E6E6"/>
                </a:solidFill>
                <a:latin typeface="Consolas"/>
              </a:rPr>
              <a:t>  · RETENTION 설정이 이 보존 기간을 결정한다 (3부·5부)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공간과 성능</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"지웠는데 파일이 줄지 않는다" 의 답</a:t>
            </a:r>
          </a:p>
          <a:p>
            <a:pPr>
              <a:spcAft>
                <a:spcPts val="600"/>
              </a:spcAft>
            </a:pPr>
            <a:r>
              <a:rPr sz="1600" b="0">
                <a:solidFill>
                  <a:srgbClr val="C5CED6"/>
                </a:solidFill>
                <a:latin typeface="Malgun Gothic"/>
              </a:rPr>
              <a:t>•  SecureFile 은 SHRINK 가 없다 — MOVE 로 회수한다</a:t>
            </a:r>
          </a:p>
          <a:p>
            <a:pPr>
              <a:spcAft>
                <a:spcPts val="600"/>
              </a:spcAft>
            </a:pPr>
            <a:r>
              <a:rPr sz="1600" b="0">
                <a:solidFill>
                  <a:srgbClr val="C5CED6"/>
                </a:solidFill>
                <a:latin typeface="Malgun Gothic"/>
              </a:rPr>
              <a:t>•  압축·중복 제거·암호화의 실제 효과</a:t>
            </a:r>
          </a:p>
          <a:p>
            <a:pPr>
              <a:spcAft>
                <a:spcPts val="600"/>
              </a:spcAft>
            </a:pPr>
            <a:r>
              <a:rPr sz="1600" b="0">
                <a:solidFill>
                  <a:srgbClr val="C5CED6"/>
                </a:solidFill>
                <a:latin typeface="Malgun Gothic"/>
              </a:rPr>
              <a:t>•  리두와 캐시 — 적재와 읽기의 비용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SPACE_USAGE — 네 개의 숫자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dba_segments 만 보면 원인을 못 찾는다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DBMS_SPACE.SPACE_USAGE(USER, v_seg, 'LOB',</a:t>
            </a:r>
          </a:p>
          <a:p>
            <a:r>
              <a:rPr sz="1250" b="0">
                <a:solidFill>
                  <a:srgbClr val="E6E6E6"/>
                </a:solidFill>
                <a:latin typeface="Consolas"/>
              </a:rPr>
              <a:t>  v_sb, v_sby,    -- segment blocks / bytes   할당된 전체</a:t>
            </a:r>
          </a:p>
          <a:p>
            <a:r>
              <a:rPr sz="1250" b="0">
                <a:solidFill>
                  <a:srgbClr val="E6E6E6"/>
                </a:solidFill>
                <a:latin typeface="Consolas"/>
              </a:rPr>
              <a:t>  v_ub, v_uby,    -- used                     현재 데이터가 있는 블록</a:t>
            </a:r>
          </a:p>
          <a:p>
            <a:r>
              <a:rPr sz="1250" b="0">
                <a:solidFill>
                  <a:srgbClr val="E6E6E6"/>
                </a:solidFill>
                <a:latin typeface="Consolas"/>
              </a:rPr>
              <a:t>  v_eb, v_eby,    -- expired                  재사용 가능</a:t>
            </a:r>
          </a:p>
          <a:p>
            <a:r>
              <a:rPr sz="1250" b="0">
                <a:solidFill>
                  <a:srgbClr val="E6E6E6"/>
                </a:solidFill>
                <a:latin typeface="Consolas"/>
              </a:rPr>
              <a:t>  v_xb, v_xby);   -- unexpired                RETENTION 때문에 아직 못 쓴다</a:t>
            </a:r>
          </a:p>
          <a:p>
            <a:r>
              <a:rPr sz="1250" b="0">
                <a:solidFill>
                  <a:srgbClr val="E6E6E6"/>
                </a:solidFill>
                <a:latin typeface="Consolas"/>
              </a:rPr>
              <a:t/>
            </a:r>
          </a:p>
          <a:p>
            <a:r>
              <a:rPr sz="1250" b="0">
                <a:solidFill>
                  <a:srgbClr val="E6E6E6"/>
                </a:solidFill>
                <a:latin typeface="Consolas"/>
              </a:rPr>
              <a:t>적재 직후    : 세그먼트 6168 블록(48.2 MB), 사용 5200, 만료  881, 미만료    0</a:t>
            </a:r>
          </a:p>
          <a:p>
            <a:r>
              <a:rPr sz="1250" b="0">
                <a:solidFill>
                  <a:srgbClr val="E6E6E6"/>
                </a:solidFill>
                <a:latin typeface="Consolas"/>
              </a:rPr>
              <a:t/>
            </a:r>
          </a:p>
          <a:p>
            <a:r>
              <a:rPr sz="1250" b="0">
                <a:solidFill>
                  <a:srgbClr val="E6E6E6"/>
                </a:solidFill>
                <a:latin typeface="Consolas"/>
              </a:rPr>
              <a:t>주의 : SecureFile 용 시그니처는 인자 11개다.</a:t>
            </a:r>
          </a:p>
          <a:p>
            <a:r>
              <a:rPr sz="1250" b="0">
                <a:solidFill>
                  <a:srgbClr val="E6E6E6"/>
                </a:solidFill>
                <a:latin typeface="Consolas"/>
              </a:rPr>
              <a:t>       ASSM 세그먼트용(unformatted_blocks, fs1_blocks …)과 섞어 쓰면</a:t>
            </a:r>
          </a:p>
          <a:p>
            <a:r>
              <a:rPr sz="1250" b="0">
                <a:solidFill>
                  <a:srgbClr val="E6E6E6"/>
                </a:solidFill>
                <a:latin typeface="Consolas"/>
              </a:rPr>
              <a:t>       PLS-00306: wrong number or types of arguments 가 난다.</a:t>
            </a:r>
          </a:p>
          <a:p>
            <a:r>
              <a:rPr sz="1250" b="0">
                <a:solidFill>
                  <a:srgbClr val="E6E6E6"/>
                </a:solidFill>
                <a:latin typeface="Consolas"/>
              </a:rPr>
              <a:t/>
            </a:r>
          </a:p>
          <a:p>
            <a:r>
              <a:rPr sz="1250" b="0">
                <a:solidFill>
                  <a:srgbClr val="E6E6E6"/>
                </a:solidFill>
                <a:latin typeface="Consolas"/>
              </a:rPr>
              <a:t>읽는 순서</a:t>
            </a:r>
          </a:p>
          <a:p>
            <a:r>
              <a:rPr sz="1250" b="0">
                <a:solidFill>
                  <a:srgbClr val="E6E6E6"/>
                </a:solidFill>
                <a:latin typeface="Consolas"/>
              </a:rPr>
              <a:t>  ① 사용 / 세그먼트 비율로 낭비를 본다</a:t>
            </a:r>
          </a:p>
          <a:p>
            <a:r>
              <a:rPr sz="1250" b="0">
                <a:solidFill>
                  <a:srgbClr val="E6E6E6"/>
                </a:solidFill>
                <a:latin typeface="Consolas"/>
              </a:rPr>
              <a:t>  ② 미만료가 크면 RETENTION 을 본다</a:t>
            </a:r>
          </a:p>
          <a:p>
            <a:r>
              <a:rPr sz="1250" b="0">
                <a:solidFill>
                  <a:srgbClr val="E6E6E6"/>
                </a:solidFill>
                <a:latin typeface="Consolas"/>
              </a:rPr>
              <a:t>  ③ 만료가 크면 다음 적재가 그 공간을 재사용한다 (회수 불필요)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삭제해도 세그먼트는 줄지 않는다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90% 를 지운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시점              | 세그먼트            | 사용 | 만료 | 미만료</a:t>
            </a:r>
          </a:p>
          <a:p>
            <a:r>
              <a:rPr sz="1250" b="0">
                <a:solidFill>
                  <a:srgbClr val="E6E6E6"/>
                </a:solidFill>
                <a:latin typeface="Consolas"/>
              </a:rPr>
              <a:t>------------------|---------------------|------|------|-------</a:t>
            </a:r>
          </a:p>
          <a:p>
            <a:r>
              <a:rPr sz="1250" b="0">
                <a:solidFill>
                  <a:srgbClr val="E6E6E6"/>
                </a:solidFill>
                <a:latin typeface="Consolas"/>
              </a:rPr>
              <a:t>200건 적재 후     | 6168 블록 (48.2 MB) | 5200 |  881 |     0</a:t>
            </a:r>
          </a:p>
          <a:p>
            <a:r>
              <a:rPr sz="1250" b="0">
                <a:solidFill>
                  <a:srgbClr val="E6E6E6"/>
                </a:solidFill>
                <a:latin typeface="Consolas"/>
              </a:rPr>
              <a:t>180건 삭제 후     | 6168 블록 (48.2 MB) |  520 |  881 |  4680</a:t>
            </a:r>
          </a:p>
          <a:p>
            <a:r>
              <a:rPr sz="1250" b="0">
                <a:solidFill>
                  <a:srgbClr val="E6E6E6"/>
                </a:solidFill>
                <a:latin typeface="Consolas"/>
              </a:rPr>
              <a:t>RETENTION NONE 후 | 6168 블록 (48.2 MB) |  520 | 5561 |     0</a:t>
            </a:r>
          </a:p>
          <a:p>
            <a:r>
              <a:rPr sz="1250" b="0">
                <a:solidFill>
                  <a:srgbClr val="E6E6E6"/>
                </a:solidFill>
                <a:latin typeface="Consolas"/>
              </a:rPr>
              <a:t>MOVE LOB 후       |  656 블록 ( 5.1 MB) |  520 |   62 |     0</a:t>
            </a:r>
          </a:p>
          <a:p>
            <a:r>
              <a:rPr sz="1250" b="0">
                <a:solidFill>
                  <a:srgbClr val="E6E6E6"/>
                </a:solidFill>
                <a:latin typeface="Consolas"/>
              </a:rPr>
              <a:t/>
            </a:r>
          </a:p>
          <a:p>
            <a:r>
              <a:rPr sz="1250" b="0">
                <a:solidFill>
                  <a:srgbClr val="E6E6E6"/>
                </a:solidFill>
                <a:latin typeface="Consolas"/>
              </a:rPr>
              <a:t>-- 삭제가 한 일</a:t>
            </a:r>
          </a:p>
          <a:p>
            <a:r>
              <a:rPr sz="1250" b="0">
                <a:solidFill>
                  <a:srgbClr val="E6E6E6"/>
                </a:solidFill>
                <a:latin typeface="Consolas"/>
              </a:rPr>
              <a:t>DELETE FROM s_plain WHERE id &gt; 20;   -&gt;  180 rows deleted</a:t>
            </a:r>
          </a:p>
          <a:p>
            <a:r>
              <a:rPr sz="1250" b="0">
                <a:solidFill>
                  <a:srgbClr val="E6E6E6"/>
                </a:solidFill>
                <a:latin typeface="Consolas"/>
              </a:rPr>
              <a:t>사용 5200 -&gt; 520 (데이터는 지워졌다)</a:t>
            </a:r>
          </a:p>
          <a:p>
            <a:r>
              <a:rPr sz="1250" b="0">
                <a:solidFill>
                  <a:srgbClr val="E6E6E6"/>
                </a:solidFill>
                <a:latin typeface="Consolas"/>
              </a:rPr>
              <a:t>세그먼트 6168 -&gt; 6168 (파일 크기는 그대로)</a:t>
            </a:r>
          </a:p>
          <a:p>
            <a:r>
              <a:rPr sz="1250" b="0">
                <a:solidFill>
                  <a:srgbClr val="E6E6E6"/>
                </a:solidFill>
                <a:latin typeface="Consolas"/>
              </a:rPr>
              <a:t/>
            </a:r>
          </a:p>
          <a:p>
            <a:r>
              <a:rPr sz="1250" b="0">
                <a:solidFill>
                  <a:srgbClr val="E6E6E6"/>
                </a:solidFill>
                <a:latin typeface="Consolas"/>
              </a:rPr>
              <a:t>삭제는 "공간을 비우는" 것이 아니라 "재사용 후보로 바꾸는" 작업이다.</a:t>
            </a:r>
          </a:p>
          <a:p>
            <a:r>
              <a:rPr sz="1250" b="0">
                <a:solidFill>
                  <a:srgbClr val="E6E6E6"/>
                </a:solidFill>
                <a:latin typeface="Consolas"/>
              </a:rPr>
              <a:t>새 데이터를 넣으면 그 공간을 다시 쓴다. 파일을 줄이려면 별도 작업이 필요하다.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SecureFile 은 SHRINK 가 없다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MOVE 로 재작성한다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SecureFile 에 SHRINK SPACE</a:t>
            </a:r>
          </a:p>
          <a:p>
            <a:r>
              <a:rPr sz="1250" b="0">
                <a:solidFill>
                  <a:srgbClr val="E6E6E6"/>
                </a:solidFill>
                <a:latin typeface="Consolas"/>
              </a:rPr>
              <a:t>LOBLAB@orcl&gt; ALTER TABLE s_plain MODIFY LOB (c) (SHRINK SPACE);</a:t>
            </a:r>
          </a:p>
          <a:p>
            <a:r>
              <a:rPr sz="1250" b="0">
                <a:solidFill>
                  <a:srgbClr val="E6E6E6"/>
                </a:solidFill>
                <a:latin typeface="Consolas"/>
              </a:rPr>
              <a:t>ORA-10635: Invalid segment or tablespace type</a:t>
            </a:r>
          </a:p>
          <a:p>
            <a:r>
              <a:rPr sz="1250" b="0">
                <a:solidFill>
                  <a:srgbClr val="E6E6E6"/>
                </a:solidFill>
                <a:latin typeface="Consolas"/>
              </a:rPr>
              <a:t/>
            </a:r>
          </a:p>
          <a:p>
            <a:r>
              <a:rPr sz="1250" b="0">
                <a:solidFill>
                  <a:srgbClr val="E6E6E6"/>
                </a:solidFill>
                <a:latin typeface="Consolas"/>
              </a:rPr>
              <a:t>-- 두 단계로 회수한다</a:t>
            </a:r>
          </a:p>
          <a:p>
            <a:r>
              <a:rPr sz="1250" b="0">
                <a:solidFill>
                  <a:srgbClr val="E6E6E6"/>
                </a:solidFill>
                <a:latin typeface="Consolas"/>
              </a:rPr>
              <a:t>ALTER TABLE s_plain MODIFY LOB (c) (RETENTION NONE);   -- ① 미만료 -&gt; 만료</a:t>
            </a:r>
          </a:p>
          <a:p>
            <a:r>
              <a:rPr sz="1250" b="0">
                <a:solidFill>
                  <a:srgbClr val="E6E6E6"/>
                </a:solidFill>
                <a:latin typeface="Consolas"/>
              </a:rPr>
              <a:t>ALTER TABLE s_plain MOVE LOB (c) STORE AS (TABLESPACE lobtbs);  -- ② 재작성</a:t>
            </a:r>
          </a:p>
          <a:p>
            <a:r>
              <a:rPr sz="1250" b="0">
                <a:solidFill>
                  <a:srgbClr val="E6E6E6"/>
                </a:solidFill>
                <a:latin typeface="Consolas"/>
              </a:rPr>
              <a:t>세그먼트 6168 블록(48.2 MB)  -&gt;  656 블록(5.1 MB)</a:t>
            </a:r>
          </a:p>
          <a:p>
            <a:r>
              <a:rPr sz="1250" b="0">
                <a:solidFill>
                  <a:srgbClr val="E6E6E6"/>
                </a:solidFill>
                <a:latin typeface="Consolas"/>
              </a:rPr>
              <a:t>데이터는 그대로 : 20건, 각 102,400 문자</a:t>
            </a:r>
          </a:p>
          <a:p>
            <a:r>
              <a:rPr sz="1250" b="0">
                <a:solidFill>
                  <a:srgbClr val="E6E6E6"/>
                </a:solidFill>
                <a:latin typeface="Consolas"/>
              </a:rPr>
              <a:t/>
            </a:r>
          </a:p>
          <a:p>
            <a:r>
              <a:rPr sz="1250" b="0">
                <a:solidFill>
                  <a:srgbClr val="E6E6E6"/>
                </a:solidFill>
                <a:latin typeface="Consolas"/>
              </a:rPr>
              <a:t>-- BasicFile 이라면 SHRINK 가 동작한다</a:t>
            </a:r>
          </a:p>
          <a:p>
            <a:r>
              <a:rPr sz="1250" b="0">
                <a:solidFill>
                  <a:srgbClr val="E6E6E6"/>
                </a:solidFill>
                <a:latin typeface="Consolas"/>
              </a:rPr>
              <a:t>ALTER TABLE s_basic MODIFY LOB (c) (SHRINK SPACE);</a:t>
            </a:r>
          </a:p>
          <a:p>
            <a:r>
              <a:rPr sz="1250" b="0">
                <a:solidFill>
                  <a:srgbClr val="E6E6E6"/>
                </a:solidFill>
                <a:latin typeface="Consolas"/>
              </a:rPr>
              <a:t>21 MB  -&gt;  6.94 MB   (25건 남음)</a:t>
            </a:r>
          </a:p>
          <a:p>
            <a:r>
              <a:rPr sz="1250" b="0">
                <a:solidFill>
                  <a:srgbClr val="E6E6E6"/>
                </a:solidFill>
                <a:latin typeface="Consolas"/>
              </a:rPr>
              <a:t/>
            </a:r>
          </a:p>
          <a:p>
            <a:r>
              <a:rPr sz="1250" b="0">
                <a:solidFill>
                  <a:srgbClr val="E6E6E6"/>
                </a:solidFill>
                <a:latin typeface="Consolas"/>
              </a:rPr>
              <a:t>-- LOB 만 다른 테이블스페이스로 옮길 수도 있다</a:t>
            </a:r>
          </a:p>
          <a:p>
            <a:r>
              <a:rPr sz="1250" b="0">
                <a:solidFill>
                  <a:srgbClr val="E6E6E6"/>
                </a:solidFill>
                <a:latin typeface="Consolas"/>
              </a:rPr>
              <a:t>ALTER TABLE s_plain MOVE LOB (c) STORE AS (TABLESPACE users);</a:t>
            </a:r>
          </a:p>
          <a:p>
            <a:r>
              <a:rPr sz="1250" b="0">
                <a:solidFill>
                  <a:srgbClr val="E6E6E6"/>
                </a:solidFill>
                <a:latin typeface="Consolas"/>
              </a:rPr>
              <a:t>   · 테이블·인덱스는 건드리지 않는다</a:t>
            </a:r>
          </a:p>
          <a:p>
            <a:r>
              <a:rPr sz="1250" b="0">
                <a:solidFill>
                  <a:srgbClr val="E6E6E6"/>
                </a:solidFill>
                <a:latin typeface="Consolas"/>
              </a:rPr>
              <a:t>   · 작업 중 배타 잠금. 무중단이 필요하면 DBMS_REDEFINITION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속성 변경 뒤에는 MOVE 로 마무리한다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ALTER 만 하면 오히려 커진다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시점                                    | 세그먼트            | 사용 | 만료 | 미만료</a:t>
            </a:r>
          </a:p>
          <a:p>
            <a:r>
              <a:rPr sz="1250" b="0">
                <a:solidFill>
                  <a:srgbClr val="E6E6E6"/>
                </a:solidFill>
                <a:latin typeface="Consolas"/>
              </a:rPr>
              <a:t>----------------------------------------|---------------------|------|------|-------</a:t>
            </a:r>
          </a:p>
          <a:p>
            <a:r>
              <a:rPr sz="1250" b="0">
                <a:solidFill>
                  <a:srgbClr val="E6E6E6"/>
                </a:solidFill>
                <a:latin typeface="Consolas"/>
              </a:rPr>
              <a:t>적재 후 (50건, 각 51,200 문자)          |  7.19 MB            |      |      |</a:t>
            </a:r>
          </a:p>
          <a:p>
            <a:r>
              <a:rPr sz="1250" b="0">
                <a:solidFill>
                  <a:srgbClr val="E6E6E6"/>
                </a:solidFill>
                <a:latin typeface="Consolas"/>
              </a:rPr>
              <a:t>ALTER (DEDUPLICATE) + (COMPRESS HIGH)   | 16.19 MB (2072 블록)|  638 |  692 |   663</a:t>
            </a:r>
          </a:p>
          <a:p>
            <a:r>
              <a:rPr sz="1250" b="0">
                <a:solidFill>
                  <a:srgbClr val="E6E6E6"/>
                </a:solidFill>
                <a:latin typeface="Consolas"/>
              </a:rPr>
              <a:t>이어서 MOVE LOB                         |  1.13 MB ( 144 블록)|    1 |   77 |     0</a:t>
            </a:r>
          </a:p>
          <a:p>
            <a:r>
              <a:rPr sz="1250" b="0">
                <a:solidFill>
                  <a:srgbClr val="E6E6E6"/>
                </a:solidFill>
                <a:latin typeface="Consolas"/>
              </a:rPr>
              <a:t/>
            </a:r>
          </a:p>
          <a:p>
            <a:r>
              <a:rPr sz="1250" b="0">
                <a:solidFill>
                  <a:srgbClr val="E6E6E6"/>
                </a:solidFill>
                <a:latin typeface="Consolas"/>
              </a:rPr>
              <a:t>ALTER 직후에 커지는 이유</a:t>
            </a:r>
          </a:p>
          <a:p>
            <a:r>
              <a:rPr sz="1250" b="0">
                <a:solidFill>
                  <a:srgbClr val="E6E6E6"/>
                </a:solidFill>
                <a:latin typeface="Consolas"/>
              </a:rPr>
              <a:t>  · LOB 을 새 형식으로 다시 쓰면서 옛 버전이 세그먼트에 남는다</a:t>
            </a:r>
          </a:p>
          <a:p>
            <a:r>
              <a:rPr sz="1250" b="0">
                <a:solidFill>
                  <a:srgbClr val="E6E6E6"/>
                </a:solidFill>
                <a:latin typeface="Consolas"/>
              </a:rPr>
              <a:t>  · 사용 블록은 이미 638(5MB)로 줄어 있다. 남은 것은 만료·미만료 공간이다</a:t>
            </a:r>
          </a:p>
          <a:p>
            <a:r>
              <a:rPr sz="1250" b="0">
                <a:solidFill>
                  <a:srgbClr val="E6E6E6"/>
                </a:solidFill>
                <a:latin typeface="Consolas"/>
              </a:rPr>
              <a:t/>
            </a:r>
          </a:p>
          <a:p>
            <a:r>
              <a:rPr sz="1250" b="0">
                <a:solidFill>
                  <a:srgbClr val="E6E6E6"/>
                </a:solidFill>
                <a:latin typeface="Consolas"/>
              </a:rPr>
              <a:t>MOVE 뒤 사용 1 블록</a:t>
            </a:r>
          </a:p>
          <a:p>
            <a:r>
              <a:rPr sz="1250" b="0">
                <a:solidFill>
                  <a:srgbClr val="E6E6E6"/>
                </a:solidFill>
                <a:latin typeface="Consolas"/>
              </a:rPr>
              <a:t>  · 50건이 모두 같은 내용이므로 중복 제거가 한 벌만 남겼다</a:t>
            </a:r>
          </a:p>
          <a:p>
            <a:r>
              <a:rPr sz="1250" b="0">
                <a:solidFill>
                  <a:srgbClr val="E6E6E6"/>
                </a:solidFill>
                <a:latin typeface="Consolas"/>
              </a:rPr>
              <a:t>  · DISTINCT_HEAD = 1 로 확인</a:t>
            </a:r>
          </a:p>
          <a:p>
            <a:r>
              <a:rPr sz="1250" b="0">
                <a:solidFill>
                  <a:srgbClr val="E6E6E6"/>
                </a:solidFill>
                <a:latin typeface="Consolas"/>
              </a:rPr>
              <a:t/>
            </a:r>
          </a:p>
          <a:p>
            <a:r>
              <a:rPr sz="1250" b="0">
                <a:solidFill>
                  <a:srgbClr val="E6E6E6"/>
                </a:solidFill>
                <a:latin typeface="Consolas"/>
              </a:rPr>
              <a:t>순서 : 속성 변경(ALTER) -&gt; 재작성(MOVE). ALTER 만 하고 끝내지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압축·중복 제거·암호화의 실제 효과</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같은 데이터 200건(각 102,400 문자)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구성                      | LOB 세그먼트 | 기본 대비</a:t>
            </a:r>
          </a:p>
          <a:p>
            <a:r>
              <a:rPr sz="1250" b="0">
                <a:solidFill>
                  <a:srgbClr val="E6E6E6"/>
                </a:solidFill>
                <a:latin typeface="Consolas"/>
              </a:rPr>
              <a:t>--------------------------|--------------|-----------</a:t>
            </a:r>
          </a:p>
          <a:p>
            <a:r>
              <a:rPr sz="1250" b="0">
                <a:solidFill>
                  <a:srgbClr val="E6E6E6"/>
                </a:solidFill>
                <a:latin typeface="Consolas"/>
              </a:rPr>
              <a:t>기본 (SecureFile)         |  48.19 MB    |  1.00</a:t>
            </a:r>
          </a:p>
          <a:p>
            <a:r>
              <a:rPr sz="1250" b="0">
                <a:solidFill>
                  <a:srgbClr val="E6E6E6"/>
                </a:solidFill>
                <a:latin typeface="Consolas"/>
              </a:rPr>
              <a:t>ENCRYPT USING 'AES256'    |  48.19 MB    |  1.00      &lt;- 크기 변화 없음</a:t>
            </a:r>
          </a:p>
          <a:p>
            <a:r>
              <a:rPr sz="1250" b="0">
                <a:solidFill>
                  <a:srgbClr val="E6E6E6"/>
                </a:solidFill>
                <a:latin typeface="Consolas"/>
              </a:rPr>
              <a:t>COMPRESS LOW              |   3.19 MB    |  0.07</a:t>
            </a:r>
          </a:p>
          <a:p>
            <a:r>
              <a:rPr sz="1250" b="0">
                <a:solidFill>
                  <a:srgbClr val="E6E6E6"/>
                </a:solidFill>
                <a:latin typeface="Consolas"/>
              </a:rPr>
              <a:t>COMPRESS MEDIUM           |   3.19 MB    |  0.07</a:t>
            </a:r>
          </a:p>
          <a:p>
            <a:r>
              <a:rPr sz="1250" b="0">
                <a:solidFill>
                  <a:srgbClr val="E6E6E6"/>
                </a:solidFill>
                <a:latin typeface="Consolas"/>
              </a:rPr>
              <a:t>COMPRESS HIGH             |   3.19 MB    |  0.07</a:t>
            </a:r>
          </a:p>
          <a:p>
            <a:r>
              <a:rPr sz="1250" b="0">
                <a:solidFill>
                  <a:srgbClr val="E6E6E6"/>
                </a:solidFill>
                <a:latin typeface="Consolas"/>
              </a:rPr>
              <a:t>DEDUPLICATE               |   1.19 MB    |  0.02</a:t>
            </a:r>
          </a:p>
          <a:p>
            <a:r>
              <a:rPr sz="1250" b="0">
                <a:solidFill>
                  <a:srgbClr val="E6E6E6"/>
                </a:solidFill>
                <a:latin typeface="Consolas"/>
              </a:rPr>
              <a:t/>
            </a:r>
          </a:p>
          <a:p>
            <a:r>
              <a:rPr sz="1250" b="0">
                <a:solidFill>
                  <a:srgbClr val="E6E6E6"/>
                </a:solidFill>
                <a:latin typeface="Consolas"/>
              </a:rPr>
              <a:t>읽는 법</a:t>
            </a:r>
          </a:p>
          <a:p>
            <a:r>
              <a:rPr sz="1250" b="0">
                <a:solidFill>
                  <a:srgbClr val="E6E6E6"/>
                </a:solidFill>
                <a:latin typeface="Consolas"/>
              </a:rPr>
              <a:t>  · 이 데이터는 200자 단위 반복이라 LOW/MEDIUM/HIGH 차이가 나타나지 않았다</a:t>
            </a:r>
          </a:p>
          <a:p>
            <a:r>
              <a:rPr sz="1250" b="0">
                <a:solidFill>
                  <a:srgbClr val="E6E6E6"/>
                </a:solidFill>
                <a:latin typeface="Consolas"/>
              </a:rPr>
              <a:t>    실제 문서·로그는 LOW &lt; MEDIUM &lt; HIGH 순으로 줄고 CPU 도 그 순서다</a:t>
            </a:r>
          </a:p>
          <a:p>
            <a:r>
              <a:rPr sz="1250" b="0">
                <a:solidFill>
                  <a:srgbClr val="E6E6E6"/>
                </a:solidFill>
                <a:latin typeface="Consolas"/>
              </a:rPr>
              <a:t>    이미 압축된 이미지·동영상은 거의 줄지 않는다 (CPU 만 쓴다)</a:t>
            </a:r>
          </a:p>
          <a:p>
            <a:r>
              <a:rPr sz="1250" b="0">
                <a:solidFill>
                  <a:srgbClr val="E6E6E6"/>
                </a:solidFill>
                <a:latin typeface="Consolas"/>
              </a:rPr>
              <a:t>  · 중복 제거 1.19MB 는 200건이 완전히 동일할 때의 상한이다</a:t>
            </a:r>
          </a:p>
          <a:p>
            <a:r>
              <a:rPr sz="1250" b="0">
                <a:solidFill>
                  <a:srgbClr val="E6E6E6"/>
                </a:solidFill>
                <a:latin typeface="Consolas"/>
              </a:rPr>
              <a:t>    1바이트만 달라도 별개로 저장된다 (해시 기반)</a:t>
            </a:r>
          </a:p>
          <a:p>
            <a:r>
              <a:rPr sz="1250" b="0">
                <a:solidFill>
                  <a:srgbClr val="E6E6E6"/>
                </a:solidFill>
                <a:latin typeface="Consolas"/>
              </a:rPr>
              <a:t>  · 암호화는 공간을 늘리지 않는다. 비용은 CPU 와 키 관리다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적재 비용 — 리두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LOGGING / NOLOGGING / FILESYSTEM_LIKE_LOGGING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구성                        | 리두     | 비고</a:t>
            </a:r>
          </a:p>
          <a:p>
            <a:r>
              <a:rPr sz="1250" b="0">
                <a:solidFill>
                  <a:srgbClr val="E6E6E6"/>
                </a:solidFill>
                <a:latin typeface="Consolas"/>
              </a:rPr>
              <a:t>----------------------------|----------|--------------------------------</a:t>
            </a:r>
          </a:p>
          <a:p>
            <a:r>
              <a:rPr sz="1250" b="0">
                <a:solidFill>
                  <a:srgbClr val="E6E6E6"/>
                </a:solidFill>
                <a:latin typeface="Consolas"/>
              </a:rPr>
              <a:t>LOGGING (기본)              | 6.45 MB  | 데이터 + 메타데이터 전부 기록</a:t>
            </a:r>
          </a:p>
          <a:p>
            <a:r>
              <a:rPr sz="1250" b="0">
                <a:solidFill>
                  <a:srgbClr val="E6E6E6"/>
                </a:solidFill>
                <a:latin typeface="Consolas"/>
              </a:rPr>
              <a:t>NOLOGGING                   | 3.06 MB  | LOB 데이터는 기록하지 않는다</a:t>
            </a:r>
          </a:p>
          <a:p>
            <a:r>
              <a:rPr sz="1250" b="0">
                <a:solidFill>
                  <a:srgbClr val="E6E6E6"/>
                </a:solidFill>
                <a:latin typeface="Consolas"/>
              </a:rPr>
              <a:t>FILESYSTEM_LIKE_LOGGING     | 3.06 MB  | SecureFile 전용, 메타데이터만</a:t>
            </a:r>
          </a:p>
          <a:p>
            <a:r>
              <a:rPr sz="1250" b="0">
                <a:solidFill>
                  <a:srgbClr val="E6E6E6"/>
                </a:solidFill>
                <a:latin typeface="Consolas"/>
              </a:rPr>
              <a:t>   (20건 × 102,400 문자 ≈ 4MB 적재, 세그먼트 6.19MB)</a:t>
            </a:r>
          </a:p>
          <a:p>
            <a:r>
              <a:rPr sz="1250" b="0">
                <a:solidFill>
                  <a:srgbClr val="E6E6E6"/>
                </a:solidFill>
                <a:latin typeface="Consolas"/>
              </a:rPr>
              <a:t/>
            </a:r>
          </a:p>
          <a:p>
            <a:r>
              <a:rPr sz="1250" b="0">
                <a:solidFill>
                  <a:srgbClr val="E6E6E6"/>
                </a:solidFill>
                <a:latin typeface="Consolas"/>
              </a:rPr>
              <a:t>-- 절 순서에 주의한다 (NOCACHE 를 LOGGING 앞에)</a:t>
            </a:r>
          </a:p>
          <a:p>
            <a:r>
              <a:rPr sz="1250" b="0">
                <a:solidFill>
                  <a:srgbClr val="E6E6E6"/>
                </a:solidFill>
                <a:latin typeface="Consolas"/>
              </a:rPr>
              <a:t>LOB (c) STORE AS SECUREFILE (DISABLE STORAGE IN ROW NOCACHE NOLOGGING)</a:t>
            </a:r>
          </a:p>
          <a:p>
            <a:r>
              <a:rPr sz="1250" b="0">
                <a:solidFill>
                  <a:srgbClr val="E6E6E6"/>
                </a:solidFill>
                <a:latin typeface="Consolas"/>
              </a:rPr>
              <a:t>   (DISABLE STORAGE IN ROW LOGGING) 처럼 쓰면 ORA-22853</a:t>
            </a:r>
          </a:p>
          <a:p>
            <a:r>
              <a:rPr sz="1250" b="0">
                <a:solidFill>
                  <a:srgbClr val="E6E6E6"/>
                </a:solidFill>
                <a:latin typeface="Consolas"/>
              </a:rPr>
              <a:t/>
            </a:r>
          </a:p>
          <a:p>
            <a:r>
              <a:rPr sz="1250" b="0">
                <a:solidFill>
                  <a:srgbClr val="E6E6E6"/>
                </a:solidFill>
                <a:latin typeface="Consolas"/>
              </a:rPr>
              <a:t>NOLOGGING 도 리두가 0 이 되지는 않는다 (메타데이터·UNDO 는 남는다)</a:t>
            </a:r>
          </a:p>
          <a:p>
            <a:r>
              <a:rPr sz="1250" b="0">
                <a:solidFill>
                  <a:srgbClr val="E6E6E6"/>
                </a:solidFill>
                <a:latin typeface="Consolas"/>
              </a:rPr>
              <a:t/>
            </a:r>
          </a:p>
          <a:p>
            <a:r>
              <a:rPr sz="1250" b="0">
                <a:solidFill>
                  <a:srgbClr val="E6E6E6"/>
                </a:solidFill>
                <a:latin typeface="Consolas"/>
              </a:rPr>
              <a:t>NOLOGGING 으로 넣은 LOB 은 미디어 복구로 되살아나지 않는다</a:t>
            </a:r>
          </a:p>
          <a:p>
            <a:r>
              <a:rPr sz="1250" b="0">
                <a:solidFill>
                  <a:srgbClr val="E6E6E6"/>
                </a:solidFill>
                <a:latin typeface="Consolas"/>
              </a:rPr>
              <a:t>  · 적재 직후 백업 -&gt; LOGGING 복귀를 한 절차로 묶는다</a:t>
            </a:r>
          </a:p>
          <a:p>
            <a:r>
              <a:rPr sz="1250" b="0">
                <a:solidFill>
                  <a:srgbClr val="E6E6E6"/>
                </a:solidFill>
                <a:latin typeface="Consolas"/>
              </a:rPr>
              <a:t>  · ARCHIVELOG + FORCE LOGGING 이면 이 설정은 무시된다 (Data Guard 환경)</a:t>
            </a:r>
          </a:p>
          <a:p>
            <a:r>
              <a:rPr sz="1250" b="0">
                <a:solidFill>
                  <a:srgbClr val="E6E6E6"/>
                </a:solidFill>
                <a:latin typeface="Consolas"/>
              </a:rPr>
              <a:t>  · user_lobs.LOGGING 은 NOLOGGING 과 FILESYSTEM_LIKE_LOGGING 을 구분하지 못한다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읽기 비용 — CACHE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같은 100KB LOB 50건을 두 번 읽었다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구성      | 1회차      | 2회차</a:t>
            </a:r>
          </a:p>
          <a:p>
            <a:r>
              <a:rPr sz="1250" b="0">
                <a:solidFill>
                  <a:srgbClr val="E6E6E6"/>
                </a:solidFill>
                <a:latin typeface="Consolas"/>
              </a:rPr>
              <a:t>----------|------------|------------</a:t>
            </a:r>
          </a:p>
          <a:p>
            <a:r>
              <a:rPr sz="1250" b="0">
                <a:solidFill>
                  <a:srgbClr val="E6E6E6"/>
                </a:solidFill>
                <a:latin typeface="Consolas"/>
              </a:rPr>
              <a:t>NOCACHE   | 100 블록   | 100 블록      &lt;- 매번 디스크에서 읽는다</a:t>
            </a:r>
          </a:p>
          <a:p>
            <a:r>
              <a:rPr sz="1250" b="0">
                <a:solidFill>
                  <a:srgbClr val="E6E6E6"/>
                </a:solidFill>
                <a:latin typeface="Consolas"/>
              </a:rPr>
              <a:t>CACHE     |   0 블록   |   0 블록      &lt;- 버퍼 캐시에 남아 있다</a:t>
            </a:r>
          </a:p>
          <a:p>
            <a:r>
              <a:rPr sz="1250" b="0">
                <a:solidFill>
                  <a:srgbClr val="E6E6E6"/>
                </a:solidFill>
                <a:latin typeface="Consolas"/>
              </a:rPr>
              <a:t/>
            </a:r>
          </a:p>
          <a:p>
            <a:r>
              <a:rPr sz="1250" b="0">
                <a:solidFill>
                  <a:srgbClr val="E6E6E6"/>
                </a:solidFill>
                <a:latin typeface="Consolas"/>
              </a:rPr>
              <a:t>LOB (c) STORE AS SECUREFILE (... NOCACHE)   -- 기본값</a:t>
            </a:r>
          </a:p>
          <a:p>
            <a:r>
              <a:rPr sz="1250" b="0">
                <a:solidFill>
                  <a:srgbClr val="E6E6E6"/>
                </a:solidFill>
                <a:latin typeface="Consolas"/>
              </a:rPr>
              <a:t>LOB (c) STORE AS SECUREFILE (... CACHE)</a:t>
            </a:r>
          </a:p>
          <a:p>
            <a:r>
              <a:rPr sz="1250" b="0">
                <a:solidFill>
                  <a:srgbClr val="E6E6E6"/>
                </a:solidFill>
                <a:latin typeface="Consolas"/>
              </a:rPr>
              <a:t>LOB (c) STORE AS SECUREFILE (... CACHE READS)  -- 읽기만 캐시</a:t>
            </a:r>
          </a:p>
          <a:p>
            <a:r>
              <a:rPr sz="1250" b="0">
                <a:solidFill>
                  <a:srgbClr val="E6E6E6"/>
                </a:solidFill>
                <a:latin typeface="Consolas"/>
              </a:rPr>
              <a:t/>
            </a:r>
          </a:p>
          <a:p>
            <a:r>
              <a:rPr sz="1250" b="0">
                <a:solidFill>
                  <a:srgbClr val="E6E6E6"/>
                </a:solidFill>
                <a:latin typeface="Consolas"/>
              </a:rPr>
              <a:t>판단은 "재읽기 빈도" 로 한다</a:t>
            </a:r>
          </a:p>
          <a:p>
            <a:r>
              <a:rPr sz="1250" b="0">
                <a:solidFill>
                  <a:srgbClr val="E6E6E6"/>
                </a:solidFill>
                <a:latin typeface="Consolas"/>
              </a:rPr>
              <a:t>  · 작고 자주 읽는 LOB (썸네일·아이콘·공통 양식)        -&gt; CACHE</a:t>
            </a:r>
          </a:p>
          <a:p>
            <a:r>
              <a:rPr sz="1250" b="0">
                <a:solidFill>
                  <a:srgbClr val="E6E6E6"/>
                </a:solidFill>
                <a:latin typeface="Consolas"/>
              </a:rPr>
              <a:t>  · 크고 한 번씩 스트리밍하는 LOB (첨부 다운로드)       -&gt; NOCACHE (기본)</a:t>
            </a:r>
          </a:p>
          <a:p>
            <a:r>
              <a:rPr sz="1250" b="0">
                <a:solidFill>
                  <a:srgbClr val="E6E6E6"/>
                </a:solidFill>
                <a:latin typeface="Consolas"/>
              </a:rPr>
              <a:t/>
            </a:r>
          </a:p>
          <a:p>
            <a:r>
              <a:rPr sz="1250" b="0">
                <a:solidFill>
                  <a:srgbClr val="E6E6E6"/>
                </a:solidFill>
                <a:latin typeface="Consolas"/>
              </a:rPr>
              <a:t>주의 : 큰 LOB 을 CACHE 로 두면 버퍼 캐시를 LOB 이 점령한다</a:t>
            </a:r>
          </a:p>
          <a:p>
            <a:r>
              <a:rPr sz="1250" b="0">
                <a:solidFill>
                  <a:srgbClr val="E6E6E6"/>
                </a:solidFill>
                <a:latin typeface="Consolas"/>
              </a:rPr>
              <a:t>       다른 테이블의 조회까지 함께 느려진다</a:t>
            </a:r>
          </a:p>
          <a:p>
            <a:r>
              <a:rPr sz="1250" b="0">
                <a:solidFill>
                  <a:srgbClr val="E6E6E6"/>
                </a:solidFill>
                <a:latin typeface="Consolas"/>
              </a:rPr>
              <a:t/>
            </a:r>
          </a:p>
          <a:p>
            <a:r>
              <a:rPr sz="1250" b="0">
                <a:solidFill>
                  <a:srgbClr val="E6E6E6"/>
                </a:solidFill>
                <a:latin typeface="Consolas"/>
              </a:rPr>
              <a:t>-- 나중에 바꿀 수 있다</a:t>
            </a:r>
          </a:p>
          <a:p>
            <a:r>
              <a:rPr sz="1250" b="0">
                <a:solidFill>
                  <a:srgbClr val="E6E6E6"/>
                </a:solidFill>
                <a:latin typeface="Consolas"/>
              </a:rPr>
              <a:t>ALTER TABLE r_nocache MODIFY LOB (c) (CACHE);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전환과 이관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LONG -&gt; LOB : 두 가지 방법과 선택 기준</a:t>
            </a:r>
          </a:p>
          <a:p>
            <a:pPr>
              <a:spcAft>
                <a:spcPts val="600"/>
              </a:spcAft>
            </a:pPr>
            <a:r>
              <a:rPr sz="1600" b="0">
                <a:solidFill>
                  <a:srgbClr val="C5CED6"/>
                </a:solidFill>
                <a:latin typeface="Malgun Gothic"/>
              </a:rPr>
              <a:t>•  Data Pump 는 무엇을 보존하고 무엇을 보존하지 않는가</a:t>
            </a:r>
          </a:p>
          <a:p>
            <a:pPr>
              <a:spcAft>
                <a:spcPts val="600"/>
              </a:spcAft>
            </a:pPr>
            <a:r>
              <a:rPr sz="1600" b="0">
                <a:solidFill>
                  <a:srgbClr val="C5CED6"/>
                </a:solidFill>
                <a:latin typeface="Malgun Gothic"/>
              </a:rPr>
              <a:t>•  BFILE 과 암호화 LOB 의 함정</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LONG -&gt; LOB 전환 — 방법 선택</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방법 ① TO_LOB 으로 복제 전환</a:t>
            </a:r>
          </a:p>
          <a:p>
            <a:pPr>
              <a:spcAft>
                <a:spcPts val="600"/>
              </a:spcAft>
            </a:pPr>
            <a:r>
              <a:rPr sz="1600" b="0">
                <a:solidFill>
                  <a:srgbClr val="202830"/>
                </a:solidFill>
                <a:latin typeface="Malgun Gothic"/>
              </a:rPr>
              <a:t>    –  CREATE TABLE note_clob AS SELECT id, TO_LOB(note) AS note FROM legacy_note;</a:t>
            </a:r>
          </a:p>
          <a:p>
            <a:pPr>
              <a:spcAft>
                <a:spcPts val="600"/>
              </a:spcAft>
            </a:pPr>
            <a:r>
              <a:rPr sz="1600" b="0">
                <a:solidFill>
                  <a:srgbClr val="202830"/>
                </a:solidFill>
                <a:latin typeface="Malgun Gothic"/>
              </a:rPr>
              <a:t>    –  원본을 남겨 검증할 수 있고 새 테이블에 저장 옵션을 마음대로 준다</a:t>
            </a:r>
          </a:p>
          <a:p>
            <a:pPr>
              <a:spcAft>
                <a:spcPts val="600"/>
              </a:spcAft>
            </a:pPr>
            <a:r>
              <a:rPr sz="1600" b="0">
                <a:solidFill>
                  <a:srgbClr val="202830"/>
                </a:solidFill>
                <a:latin typeface="Malgun Gothic"/>
              </a:rPr>
              <a:t>    –  공간이 두 배 필요하고 이름 교체·권한·인덱스·제약 재생성이 따른다</a:t>
            </a:r>
          </a:p>
          <a:p>
            <a:pPr>
              <a:spcAft>
                <a:spcPts val="600"/>
              </a:spcAft>
            </a:pPr>
            <a:r>
              <a:rPr sz="1600" b="0">
                <a:solidFill>
                  <a:srgbClr val="202830"/>
                </a:solidFill>
                <a:latin typeface="Malgun Gothic"/>
              </a:rPr>
              <a:t>    –  TO_LOB 은 SELECT 목록에서만 쓸 수 있다 (WHERE 절 불가)</a:t>
            </a:r>
          </a:p>
          <a:p>
            <a:pPr>
              <a:spcAft>
                <a:spcPts val="600"/>
              </a:spcAft>
            </a:pPr>
            <a:r>
              <a:rPr sz="1800" b="0">
                <a:solidFill>
                  <a:srgbClr val="202830"/>
                </a:solidFill>
                <a:latin typeface="Malgun Gothic"/>
              </a:rPr>
              <a:t>•  방법 ② ALTER TABLE MODIFY 로 제자리 전환</a:t>
            </a:r>
          </a:p>
          <a:p>
            <a:pPr>
              <a:spcAft>
                <a:spcPts val="600"/>
              </a:spcAft>
            </a:pPr>
            <a:r>
              <a:rPr sz="1600" b="0">
                <a:solidFill>
                  <a:srgbClr val="202830"/>
                </a:solidFill>
                <a:latin typeface="Malgun Gothic"/>
              </a:rPr>
              <a:t>    –  ALTER TABLE legacy_note MODIFY (note CLOB);</a:t>
            </a:r>
          </a:p>
          <a:p>
            <a:pPr>
              <a:spcAft>
                <a:spcPts val="600"/>
              </a:spcAft>
            </a:pPr>
            <a:r>
              <a:rPr sz="1600" b="0">
                <a:solidFill>
                  <a:srgbClr val="202830"/>
                </a:solidFill>
                <a:latin typeface="Malgun Gothic"/>
              </a:rPr>
              <a:t>    –  한 문장으로 끝나고 데이터도 그대로다 (실측 2996·1995 유지)</a:t>
            </a:r>
          </a:p>
          <a:p>
            <a:pPr>
              <a:spcAft>
                <a:spcPts val="600"/>
              </a:spcAft>
            </a:pPr>
            <a:r>
              <a:rPr sz="1600" b="0">
                <a:solidFill>
                  <a:srgbClr val="202830"/>
                </a:solidFill>
                <a:latin typeface="Malgun Gothic"/>
              </a:rPr>
              <a:t>    –  테이블을 배타적으로 잠그고 모든 행을 다시 쓴다. 되돌릴 수 없다</a:t>
            </a:r>
          </a:p>
          <a:p>
            <a:pPr>
              <a:spcAft>
                <a:spcPts val="600"/>
              </a:spcAft>
            </a:pPr>
            <a:r>
              <a:rPr sz="1600" b="0">
                <a:solidFill>
                  <a:srgbClr val="202830"/>
                </a:solidFill>
                <a:latin typeface="Malgun Gothic"/>
              </a:rPr>
              <a:t>    –  저장 옵션을 함께 지정할 수 있다 — MODIFY (note CLOB) LOB (note) STORE AS ...</a:t>
            </a:r>
          </a:p>
          <a:p>
            <a:pPr>
              <a:spcAft>
                <a:spcPts val="600"/>
              </a:spcAft>
            </a:pPr>
            <a:r>
              <a:rPr sz="1800" b="0">
                <a:solidFill>
                  <a:srgbClr val="202830"/>
                </a:solidFill>
                <a:latin typeface="Malgun Gothic"/>
              </a:rPr>
              <a:t>•  선택 기준</a:t>
            </a:r>
          </a:p>
          <a:p>
            <a:pPr>
              <a:spcAft>
                <a:spcPts val="600"/>
              </a:spcAft>
            </a:pPr>
            <a:r>
              <a:rPr sz="1600" b="0">
                <a:solidFill>
                  <a:srgbClr val="202830"/>
                </a:solidFill>
                <a:latin typeface="Malgun Gothic"/>
              </a:rPr>
              <a:t>    –  작은 테이블·짧은 정지 허용 -&gt; ②   /   큰 테이블·옵션 변경 -&gt; ①</a:t>
            </a:r>
          </a:p>
          <a:p>
            <a:pPr>
              <a:spcAft>
                <a:spcPts val="600"/>
              </a:spcAft>
            </a:pPr>
            <a:r>
              <a:rPr sz="1600" b="0">
                <a:solidFill>
                  <a:srgbClr val="202830"/>
                </a:solidFill>
                <a:latin typeface="Malgun Gothic"/>
              </a:rPr>
              <a:t>    –  무중단 요구 -&gt; DBMS_REDEFINITION.   어느 쪽이든 전환 전 백업은 예외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Data Pump — 보존되는 것과 아닌 것</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실측 (3개 테이블)</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expdp loblab/**** directory=LOB_DIR dumpfile=lob_tabs.dmp \</a:t>
            </a:r>
          </a:p>
          <a:p>
            <a:r>
              <a:rPr sz="1250" b="0">
                <a:solidFill>
                  <a:srgbClr val="E6E6E6"/>
                </a:solidFill>
                <a:latin typeface="Consolas"/>
              </a:rPr>
              <a:t>        tables=file_store,ext_doc,s_enc</a:t>
            </a:r>
          </a:p>
          <a:p>
            <a:r>
              <a:rPr sz="1250" b="0">
                <a:solidFill>
                  <a:srgbClr val="E6E6E6"/>
                </a:solidFill>
                <a:latin typeface="Consolas"/>
              </a:rPr>
              <a:t/>
            </a:r>
          </a:p>
          <a:p>
            <a:r>
              <a:rPr sz="1250" b="0">
                <a:solidFill>
                  <a:srgbClr val="E6E6E6"/>
                </a:solidFill>
                <a:latin typeface="Consolas"/>
              </a:rPr>
              <a:t>. . exported "LOBLAB"."EXT_DOC"        5.984 KB    3 rows   &lt;- BFILE : 포인터만</a:t>
            </a:r>
          </a:p>
          <a:p>
            <a:r>
              <a:rPr sz="1250" b="0">
                <a:solidFill>
                  <a:srgbClr val="E6E6E6"/>
                </a:solidFill>
                <a:latin typeface="Consolas"/>
              </a:rPr>
              <a:t>. . exported "LOBLAB"."FILE_STORE"     2.045 MB    5 rows</a:t>
            </a:r>
          </a:p>
          <a:p>
            <a:r>
              <a:rPr sz="1250" b="0">
                <a:solidFill>
                  <a:srgbClr val="E6E6E6"/>
                </a:solidFill>
                <a:latin typeface="Consolas"/>
              </a:rPr>
              <a:t>. . exported "LOBLAB"."S_ENC"         39.07  MB  200 rows   &lt;- 암호화 LOB</a:t>
            </a:r>
          </a:p>
          <a:p>
            <a:r>
              <a:rPr sz="1250" b="0">
                <a:solidFill>
                  <a:srgbClr val="E6E6E6"/>
                </a:solidFill>
                <a:latin typeface="Consolas"/>
              </a:rPr>
              <a:t>ORA-39173: Encrypted data has been stored unencrypted in dump file set.</a:t>
            </a:r>
          </a:p>
          <a:p>
            <a:r>
              <a:rPr sz="1250" b="0">
                <a:solidFill>
                  <a:srgbClr val="E6E6E6"/>
                </a:solidFill>
                <a:latin typeface="Consolas"/>
              </a:rPr>
              <a:t>덤프 43,360,256 바이트 / 내보내기 19초 · 들여오기 11초</a:t>
            </a:r>
          </a:p>
          <a:p>
            <a:r>
              <a:rPr sz="1250" b="0">
                <a:solidFill>
                  <a:srgbClr val="E6E6E6"/>
                </a:solidFill>
                <a:latin typeface="Consolas"/>
              </a:rPr>
              <a:t/>
            </a:r>
          </a:p>
          <a:p>
            <a:r>
              <a:rPr sz="1250" b="0">
                <a:solidFill>
                  <a:srgbClr val="E6E6E6"/>
                </a:solidFill>
                <a:latin typeface="Consolas"/>
              </a:rPr>
              <a:t>들여온 뒤 검증</a:t>
            </a:r>
          </a:p>
          <a:p>
            <a:r>
              <a:rPr sz="1250" b="0">
                <a:solidFill>
                  <a:srgbClr val="E6E6E6"/>
                </a:solidFill>
                <a:latin typeface="Consolas"/>
              </a:rPr>
              <a:t>  BLOB_BYTES 2117006  CLOB_CHARS 10308     &lt;- 내보내기 전과 동일</a:t>
            </a:r>
          </a:p>
          <a:p>
            <a:r>
              <a:rPr sz="1250" b="0">
                <a:solidFill>
                  <a:srgbClr val="E6E6E6"/>
                </a:solidFill>
                <a:latin typeface="Consolas"/>
              </a:rPr>
              <a:t>  user_lobs : SECUREFILE YES · ENCRYPT YES · IN_ROW 그대로</a:t>
            </a:r>
          </a:p>
          <a:p>
            <a:r>
              <a:rPr sz="1250" b="0">
                <a:solidFill>
                  <a:srgbClr val="E6E6E6"/>
                </a:solidFill>
                <a:latin typeface="Consolas"/>
              </a:rPr>
              <a:t/>
            </a:r>
          </a:p>
          <a:p>
            <a:r>
              <a:rPr sz="1250" b="0">
                <a:solidFill>
                  <a:srgbClr val="E6E6E6"/>
                </a:solidFill>
                <a:latin typeface="Consolas"/>
              </a:rPr>
              <a:t>보존   : LOB 데이터, SecureFile·ENCRYPT·인라인 등 저장 속성</a:t>
            </a:r>
          </a:p>
          <a:p>
            <a:r>
              <a:rPr sz="1250" b="0">
                <a:solidFill>
                  <a:srgbClr val="E6E6E6"/>
                </a:solidFill>
                <a:latin typeface="Consolas"/>
              </a:rPr>
              <a:t>비보존 : BFILE 이 가리키는 실제 파일 (포인터만 이동)</a:t>
            </a:r>
          </a:p>
          <a:p>
            <a:r>
              <a:rPr sz="1250" b="0">
                <a:solidFill>
                  <a:srgbClr val="E6E6E6"/>
                </a:solidFill>
                <a:latin typeface="Consolas"/>
              </a:rPr>
              <a:t>경고   : 암호화 LOB 이 평문으로 덤프에 들어간다 (ORA-39173)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두 가지 함정 — BFILE 과 암호화</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이관 뒤에 드러나는 사고</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BFILE : 같은 서버라 파일이 있어 1 로 보였을 뿐이다</a:t>
            </a:r>
          </a:p>
          <a:p>
            <a:r>
              <a:rPr sz="1250" b="0">
                <a:solidFill>
                  <a:srgbClr val="E6E6E6"/>
                </a:solidFill>
                <a:latin typeface="Consolas"/>
              </a:rPr>
              <a:t>SELECT id, name, DBMS_LOB.FILEEXISTS(f) FROM ext_doc;    -&gt;  1, 1, 0</a:t>
            </a:r>
          </a:p>
          <a:p>
            <a:r>
              <a:rPr sz="1250" b="0">
                <a:solidFill>
                  <a:srgbClr val="E6E6E6"/>
                </a:solidFill>
                <a:latin typeface="Consolas"/>
              </a:rPr>
              <a:t>HOST mv .../manual.txt .../manual.txt.moved</a:t>
            </a:r>
          </a:p>
          <a:p>
            <a:r>
              <a:rPr sz="1250" b="0">
                <a:solidFill>
                  <a:srgbClr val="E6E6E6"/>
                </a:solidFill>
                <a:latin typeface="Consolas"/>
              </a:rPr>
              <a:t>SELECT ... FILEEXISTS(f) ... WHERE id=1;                 -&gt;  0</a:t>
            </a:r>
          </a:p>
          <a:p>
            <a:r>
              <a:rPr sz="1250" b="0">
                <a:solidFill>
                  <a:srgbClr val="E6E6E6"/>
                </a:solidFill>
                <a:latin typeface="Consolas"/>
              </a:rPr>
              <a:t/>
            </a:r>
          </a:p>
          <a:p>
            <a:r>
              <a:rPr sz="1250" b="0">
                <a:solidFill>
                  <a:srgbClr val="E6E6E6"/>
                </a:solidFill>
                <a:latin typeface="Consolas"/>
              </a:rPr>
              <a:t>   다른 서버로 옮기면 처음부터 전부 0 이다. 절차가 셋이어야 한다.</a:t>
            </a:r>
          </a:p>
          <a:p>
            <a:r>
              <a:rPr sz="1250" b="0">
                <a:solidFill>
                  <a:srgbClr val="E6E6E6"/>
                </a:solidFill>
                <a:latin typeface="Consolas"/>
              </a:rPr>
              <a:t>     ① Data Pump 로 테이블(포인터) 이동</a:t>
            </a:r>
          </a:p>
          <a:p>
            <a:r>
              <a:rPr sz="1250" b="0">
                <a:solidFill>
                  <a:srgbClr val="E6E6E6"/>
                </a:solidFill>
                <a:latin typeface="Consolas"/>
              </a:rPr>
              <a:t>     ② rsync·scp·스토리지 복제로 파일 이동</a:t>
            </a:r>
          </a:p>
          <a:p>
            <a:r>
              <a:rPr sz="1250" b="0">
                <a:solidFill>
                  <a:srgbClr val="E6E6E6"/>
                </a:solidFill>
                <a:latin typeface="Consolas"/>
              </a:rPr>
              <a:t>     ③ 대상 서버의 디렉터리 객체 경로 맞추기 (CREATE OR REPLACE DIRECTORY)</a:t>
            </a:r>
          </a:p>
          <a:p>
            <a:r>
              <a:rPr sz="1250" b="0">
                <a:solidFill>
                  <a:srgbClr val="E6E6E6"/>
                </a:solidFill>
                <a:latin typeface="Consolas"/>
              </a:rPr>
              <a:t/>
            </a:r>
          </a:p>
          <a:p>
            <a:r>
              <a:rPr sz="1250" b="0">
                <a:solidFill>
                  <a:srgbClr val="E6E6E6"/>
                </a:solidFill>
                <a:latin typeface="Consolas"/>
              </a:rPr>
              <a:t>-- ② 암호화 LOB : 기본 반출은 평문이다</a:t>
            </a:r>
          </a:p>
          <a:p>
            <a:r>
              <a:rPr sz="1250" b="0">
                <a:solidFill>
                  <a:srgbClr val="E6E6E6"/>
                </a:solidFill>
                <a:latin typeface="Consolas"/>
              </a:rPr>
              <a:t>expdp ... tables=s_enc</a:t>
            </a:r>
          </a:p>
          <a:p>
            <a:r>
              <a:rPr sz="1250" b="0">
                <a:solidFill>
                  <a:srgbClr val="E6E6E6"/>
                </a:solidFill>
                <a:latin typeface="Consolas"/>
              </a:rPr>
              <a:t>ORA-39173: Encrypted data has been stored unencrypted in dump file set.</a:t>
            </a:r>
          </a:p>
          <a:p>
            <a:r>
              <a:rPr sz="1250" b="0">
                <a:solidFill>
                  <a:srgbClr val="E6E6E6"/>
                </a:solidFill>
                <a:latin typeface="Consolas"/>
              </a:rPr>
              <a:t/>
            </a:r>
          </a:p>
          <a:p>
            <a:r>
              <a:rPr sz="1250" b="0">
                <a:solidFill>
                  <a:srgbClr val="E6E6E6"/>
                </a:solidFill>
                <a:latin typeface="Consolas"/>
              </a:rPr>
              <a:t>expdp ... tables=s_enc encryption=encrypted_columns_only \</a:t>
            </a:r>
          </a:p>
          <a:p>
            <a:r>
              <a:rPr sz="1250" b="0">
                <a:solidFill>
                  <a:srgbClr val="E6E6E6"/>
                </a:solidFill>
                <a:latin typeface="Consolas"/>
              </a:rPr>
              <a:t>          encryption_password=oracle_4U</a:t>
            </a:r>
          </a:p>
          <a:p>
            <a:r>
              <a:rPr sz="1250" b="0">
                <a:solidFill>
                  <a:srgbClr val="E6E6E6"/>
                </a:solidFill>
                <a:latin typeface="Consolas"/>
              </a:rPr>
              <a:t>   -&gt; 경고 없음. 크기는 같다(41,152,512 바이트). impdp 에 같은 암호가 필요하다</a:t>
            </a:r>
          </a:p>
          <a:p>
            <a:r>
              <a:rPr sz="1250" b="0">
                <a:solidFill>
                  <a:srgbClr val="E6E6E6"/>
                </a:solidFill>
                <a:latin typeface="Consolas"/>
              </a:rPr>
              <a:t>   ENCRYPTION=ALL (덤프 전체) / ENCRYPTION_MODE=TRANSPARENT (지갑 사용)</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운영 점검 항목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설계 시점</a:t>
            </a:r>
          </a:p>
          <a:p>
            <a:pPr>
              <a:spcAft>
                <a:spcPts val="600"/>
              </a:spcAft>
            </a:pPr>
            <a:r>
              <a:rPr sz="1600" b="0">
                <a:solidFill>
                  <a:srgbClr val="202830"/>
                </a:solidFill>
                <a:latin typeface="Malgun Gothic"/>
              </a:rPr>
              <a:t>    –  LOB 전용 테이블스페이스를 두었는가 (백업·이동·용량 단위 분리)</a:t>
            </a:r>
          </a:p>
          <a:p>
            <a:pPr>
              <a:spcAft>
                <a:spcPts val="600"/>
              </a:spcAft>
            </a:pPr>
            <a:r>
              <a:rPr sz="1600" b="0">
                <a:solidFill>
                  <a:srgbClr val="202830"/>
                </a:solidFill>
                <a:latin typeface="Malgun Gothic"/>
              </a:rPr>
              <a:t>    –  ASSM 테이블스페이스인가 (SecureFile 전제)</a:t>
            </a:r>
          </a:p>
          <a:p>
            <a:pPr>
              <a:spcAft>
                <a:spcPts val="600"/>
              </a:spcAft>
            </a:pPr>
            <a:r>
              <a:rPr sz="1600" b="0">
                <a:solidFill>
                  <a:srgbClr val="202830"/>
                </a:solidFill>
                <a:latin typeface="Malgun Gothic"/>
              </a:rPr>
              <a:t>    –  인라인 여부를 값 크기 분포로 정했는가</a:t>
            </a:r>
          </a:p>
          <a:p>
            <a:pPr>
              <a:spcAft>
                <a:spcPts val="600"/>
              </a:spcAft>
            </a:pPr>
            <a:r>
              <a:rPr sz="1600" b="0">
                <a:solidFill>
                  <a:srgbClr val="202830"/>
                </a:solidFill>
                <a:latin typeface="Malgun Gothic"/>
              </a:rPr>
              <a:t>    –  검색 요건이 있으면 Oracle Text 를 계획했는가</a:t>
            </a:r>
          </a:p>
          <a:p>
            <a:pPr>
              <a:spcAft>
                <a:spcPts val="600"/>
              </a:spcAft>
            </a:pPr>
            <a:r>
              <a:rPr sz="1800" b="0">
                <a:solidFill>
                  <a:srgbClr val="202830"/>
                </a:solidFill>
                <a:latin typeface="Malgun Gothic"/>
              </a:rPr>
              <a:t>•  정기 점검</a:t>
            </a:r>
          </a:p>
          <a:p>
            <a:pPr>
              <a:spcAft>
                <a:spcPts val="600"/>
              </a:spcAft>
            </a:pPr>
            <a:r>
              <a:rPr sz="1600" b="0">
                <a:solidFill>
                  <a:srgbClr val="202830"/>
                </a:solidFill>
                <a:latin typeface="Malgun Gothic"/>
              </a:rPr>
              <a:t>    –  BasicFile 이 남아 있는가 — dba_lobs WHERE securefile='NO'</a:t>
            </a:r>
          </a:p>
          <a:p>
            <a:pPr>
              <a:spcAft>
                <a:spcPts val="600"/>
              </a:spcAft>
            </a:pPr>
            <a:r>
              <a:rPr sz="1600" b="0">
                <a:solidFill>
                  <a:srgbClr val="202830"/>
                </a:solidFill>
                <a:latin typeface="Malgun Gothic"/>
              </a:rPr>
              <a:t>    –  LONG 컬럼이 남아 있는가 — dba_tab_columns WHERE data_type LIKE 'LONG%'</a:t>
            </a:r>
          </a:p>
          <a:p>
            <a:pPr>
              <a:spcAft>
                <a:spcPts val="600"/>
              </a:spcAft>
            </a:pPr>
            <a:r>
              <a:rPr sz="1600" b="0">
                <a:solidFill>
                  <a:srgbClr val="202830"/>
                </a:solidFill>
                <a:latin typeface="Malgun Gothic"/>
              </a:rPr>
              <a:t>    –  사용률이 낮은 LOB 세그먼트 — SPACE_USAGE 로 used/segment 비율 기록</a:t>
            </a:r>
          </a:p>
          <a:p>
            <a:pPr>
              <a:spcAft>
                <a:spcPts val="600"/>
              </a:spcAft>
            </a:pPr>
            <a:r>
              <a:rPr sz="1600" b="0">
                <a:solidFill>
                  <a:srgbClr val="202830"/>
                </a:solidFill>
                <a:latin typeface="Malgun Gothic"/>
              </a:rPr>
              <a:t>    –  임시 LOB 누수 — v$temporary_lobs</a:t>
            </a:r>
          </a:p>
          <a:p>
            <a:pPr>
              <a:spcAft>
                <a:spcPts val="600"/>
              </a:spcAft>
            </a:pPr>
            <a:r>
              <a:rPr sz="1800" b="0">
                <a:solidFill>
                  <a:srgbClr val="202830"/>
                </a:solidFill>
                <a:latin typeface="Malgun Gothic"/>
              </a:rPr>
              <a:t>•  절차로 묶어 둘 것</a:t>
            </a:r>
          </a:p>
          <a:p>
            <a:pPr>
              <a:spcAft>
                <a:spcPts val="600"/>
              </a:spcAft>
            </a:pPr>
            <a:r>
              <a:rPr sz="1600" b="0">
                <a:solidFill>
                  <a:srgbClr val="202830"/>
                </a:solidFill>
                <a:latin typeface="Malgun Gothic"/>
              </a:rPr>
              <a:t>    –  NOLOGGING 적재 -&gt; 즉시 백업 -&gt; LOGGING 복귀</a:t>
            </a:r>
          </a:p>
          <a:p>
            <a:pPr>
              <a:spcAft>
                <a:spcPts val="600"/>
              </a:spcAft>
            </a:pPr>
            <a:r>
              <a:rPr sz="1600" b="0">
                <a:solidFill>
                  <a:srgbClr val="202830"/>
                </a:solidFill>
                <a:latin typeface="Malgun Gothic"/>
              </a:rPr>
              <a:t>    –  속성 변경(ALTER) -&gt; 재작성(MOVE)</a:t>
            </a:r>
          </a:p>
          <a:p>
            <a:pPr>
              <a:spcAft>
                <a:spcPts val="600"/>
              </a:spcAft>
            </a:pPr>
            <a:r>
              <a:rPr sz="1600" b="0">
                <a:solidFill>
                  <a:srgbClr val="202830"/>
                </a:solidFill>
                <a:latin typeface="Malgun Gothic"/>
              </a:rPr>
              <a:t>    –  BFILE 이관 -&gt; 테이블 · 파일 · 디렉터리 객체 세 단계</a:t>
            </a:r>
          </a:p>
          <a:p>
            <a:pPr>
              <a:spcAft>
                <a:spcPts val="600"/>
              </a:spcAft>
            </a:pPr>
            <a:r>
              <a:rPr sz="1600" b="0">
                <a:solidFill>
                  <a:srgbClr val="202830"/>
                </a:solidFill>
                <a:latin typeface="Malgun Gothic"/>
              </a:rPr>
              <a:t>    –  암호화 LOB 반출 -&gt; ENCRYPTION_PASSWORD 지정과 암호 보관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CLOB 의 인라인 저장 경계</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AL32UTF8 데이터베이스에서 CLOB 값이 행 안에 저장되는 한계는 몇 문자인가? (블록 8K)</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4000 문자</a:t>
            </a:r>
          </a:p>
          <a:p>
            <a:pPr>
              <a:spcAft>
                <a:spcPts val="600"/>
              </a:spcAft>
            </a:pPr>
            <a:r>
              <a:rPr sz="1700" b="0">
                <a:solidFill>
                  <a:srgbClr val="202830"/>
                </a:solidFill>
                <a:latin typeface="Malgun Gothic"/>
              </a:rPr>
              <a:t>3968 문자</a:t>
            </a:r>
          </a:p>
          <a:p>
            <a:pPr>
              <a:spcAft>
                <a:spcPts val="600"/>
              </a:spcAft>
            </a:pPr>
            <a:r>
              <a:rPr sz="1700" b="0">
                <a:solidFill>
                  <a:srgbClr val="202830"/>
                </a:solidFill>
                <a:latin typeface="Malgun Gothic"/>
              </a:rPr>
              <a:t>1984 문자</a:t>
            </a:r>
          </a:p>
          <a:p>
            <a:pPr>
              <a:spcAft>
                <a:spcPts val="600"/>
              </a:spcAft>
            </a:pPr>
            <a:r>
              <a:rPr sz="1700" b="0">
                <a:solidFill>
                  <a:srgbClr val="202830"/>
                </a:solidFill>
                <a:latin typeface="Malgun Gothic"/>
              </a:rPr>
              <a:t>값 크기와 무관하게 항상 행 밖에 저장된다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SecureFile 의 공간 회수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SecureFile LOB 에서 삭제한 공간을 회수해 데이터파일 크기를 줄이려면 어떻게 해야 하는가?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ALTER TABLE ... MODIFY LOB (c) (SHRINK SPACE)</a:t>
            </a:r>
          </a:p>
          <a:p>
            <a:pPr>
              <a:spcAft>
                <a:spcPts val="600"/>
              </a:spcAft>
            </a:pPr>
            <a:r>
              <a:rPr sz="1700" b="0">
                <a:solidFill>
                  <a:srgbClr val="202830"/>
                </a:solidFill>
                <a:latin typeface="Malgun Gothic"/>
              </a:rPr>
              <a:t>ALTER TABLE ... MOVE LOB (c) STORE AS (TABLESPACE ...)</a:t>
            </a:r>
          </a:p>
          <a:p>
            <a:pPr>
              <a:spcAft>
                <a:spcPts val="600"/>
              </a:spcAft>
            </a:pPr>
            <a:r>
              <a:rPr sz="1700" b="0">
                <a:solidFill>
                  <a:srgbClr val="202830"/>
                </a:solidFill>
                <a:latin typeface="Malgun Gothic"/>
              </a:rPr>
              <a:t>DELETE 후 COMMIT 만 하면 자동으로 줄어든다</a:t>
            </a:r>
          </a:p>
          <a:p>
            <a:pPr>
              <a:spcAft>
                <a:spcPts val="600"/>
              </a:spcAft>
            </a:pPr>
            <a:r>
              <a:rPr sz="1700" b="0">
                <a:solidFill>
                  <a:srgbClr val="202830"/>
                </a:solidFill>
                <a:latin typeface="Malgun Gothic"/>
              </a:rPr>
              <a:t>ALTER DATABASE DATAFILE ... RESIZE 로만 가능하다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LOB 쓰기의 전제 조건</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SELECT 로 받은 로케이터로 DBMS_LOB.WRITEAPPEND 를 호출했더니 ORA-22920 이 났다. 원인은?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LOB 이 NULL 이다</a:t>
            </a:r>
          </a:p>
          <a:p>
            <a:pPr>
              <a:spcAft>
                <a:spcPts val="600"/>
              </a:spcAft>
            </a:pPr>
            <a:r>
              <a:rPr sz="1700" b="0">
                <a:solidFill>
                  <a:srgbClr val="202830"/>
                </a:solidFill>
                <a:latin typeface="Malgun Gothic"/>
              </a:rPr>
              <a:t>행을 잠그지 않았다 (FOR UPDATE 가 없다)</a:t>
            </a:r>
          </a:p>
          <a:p>
            <a:pPr>
              <a:spcAft>
                <a:spcPts val="600"/>
              </a:spcAft>
            </a:pPr>
            <a:r>
              <a:rPr sz="1700" b="0">
                <a:solidFill>
                  <a:srgbClr val="202830"/>
                </a:solidFill>
                <a:latin typeface="Malgun Gothic"/>
              </a:rPr>
              <a:t>임시 LOB 을 해제했다</a:t>
            </a:r>
          </a:p>
          <a:p>
            <a:pPr>
              <a:spcAft>
                <a:spcPts val="600"/>
              </a:spcAft>
            </a:pPr>
            <a:r>
              <a:rPr sz="1700" b="0">
                <a:solidFill>
                  <a:srgbClr val="202830"/>
                </a:solidFill>
                <a:latin typeface="Malgun Gothic"/>
              </a:rPr>
              <a:t>LOB 세그먼트가 가득 찼다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LOB 은 값을 별도 세그먼트에 두고 행에는 로케이터만 남기는 타입이다</a:t>
            </a:r>
          </a:p>
          <a:p>
            <a:pPr>
              <a:spcAft>
                <a:spcPts val="600"/>
              </a:spcAft>
            </a:pPr>
            <a:r>
              <a:rPr sz="1800" b="0">
                <a:solidFill>
                  <a:srgbClr val="202830"/>
                </a:solidFill>
                <a:latin typeface="Malgun Gothic"/>
              </a:rPr>
              <a:t>•  타입은 문자/이진, DB 안/밖으로 갈린다 — CLOB·NCLOB · BLOB · BFILE · 임시 LOB</a:t>
            </a:r>
          </a:p>
          <a:p>
            <a:pPr>
              <a:spcAft>
                <a:spcPts val="600"/>
              </a:spcAft>
            </a:pPr>
            <a:r>
              <a:rPr sz="1800" b="0">
                <a:solidFill>
                  <a:srgbClr val="202830"/>
                </a:solidFill>
                <a:latin typeface="Malgun Gothic"/>
              </a:rPr>
              <a:t>•  인라인 경계는 3968 바이트. CLOB 은 문자당 2바이트이므로 1984 문자다</a:t>
            </a:r>
          </a:p>
          <a:p>
            <a:pPr>
              <a:spcAft>
                <a:spcPts val="600"/>
              </a:spcAft>
            </a:pPr>
            <a:r>
              <a:rPr sz="1800" b="0">
                <a:solidFill>
                  <a:srgbClr val="202830"/>
                </a:solidFill>
                <a:latin typeface="Malgun Gothic"/>
              </a:rPr>
              <a:t>•  19c 기본은 SecureFile 이며 ASSM 테이블스페이스를 전제한다</a:t>
            </a:r>
          </a:p>
          <a:p>
            <a:pPr>
              <a:spcAft>
                <a:spcPts val="600"/>
              </a:spcAft>
            </a:pPr>
            <a:r>
              <a:rPr sz="1800" b="0">
                <a:solidFill>
                  <a:srgbClr val="202830"/>
                </a:solidFill>
                <a:latin typeface="Malgun Gothic"/>
              </a:rPr>
              <a:t>•  SQL 로는 비교·정렬·인덱스가 안 된다. 적재는 EMPTY_LOB + RETURNING + WRITEAPPEND</a:t>
            </a:r>
          </a:p>
          <a:p>
            <a:pPr>
              <a:spcAft>
                <a:spcPts val="600"/>
              </a:spcAft>
            </a:pPr>
            <a:r>
              <a:rPr sz="1800" b="0">
                <a:solidFill>
                  <a:srgbClr val="202830"/>
                </a:solidFill>
                <a:latin typeface="Malgun Gothic"/>
              </a:rPr>
              <a:t>•  쓰기 로케이터는 행 잠금과 같은 트랜잭션을 요구한다 (ORA-22920 · ORA-22990)</a:t>
            </a:r>
          </a:p>
          <a:p>
            <a:pPr>
              <a:spcAft>
                <a:spcPts val="600"/>
              </a:spcAft>
            </a:pPr>
            <a:r>
              <a:rPr sz="1800" b="0">
                <a:solidFill>
                  <a:srgbClr val="202830"/>
                </a:solidFill>
                <a:latin typeface="Malgun Gothic"/>
              </a:rPr>
              <a:t>•  삭제는 공간을 비우지 않는다. SecureFile 은 MOVE 로 회수한다 (SHRINK 불가)</a:t>
            </a:r>
          </a:p>
          <a:p>
            <a:pPr>
              <a:spcAft>
                <a:spcPts val="600"/>
              </a:spcAft>
            </a:pPr>
            <a:r>
              <a:rPr sz="1800" b="0">
                <a:solidFill>
                  <a:srgbClr val="202830"/>
                </a:solidFill>
                <a:latin typeface="Malgun Gothic"/>
              </a:rPr>
              <a:t>•  압축·중복 제거·암호화의 효과는 데이터가 결정한다 — 표본으로 측정해 고른다</a:t>
            </a:r>
          </a:p>
          <a:p>
            <a:pPr>
              <a:spcAft>
                <a:spcPts val="600"/>
              </a:spcAft>
            </a:pPr>
            <a:r>
              <a:rPr sz="1800" b="0">
                <a:solidFill>
                  <a:srgbClr val="202830"/>
                </a:solidFill>
                <a:latin typeface="Malgun Gothic"/>
              </a:rPr>
              <a:t>•  BFILE 은 파일이 따라가지 않고, 암호화 LOB 은 기본 반출이 평문이다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실습 개요 (8종)</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01 타입과 저장구조  ·  02 CLOB 조작과 SQL 한계</a:t>
            </a:r>
          </a:p>
          <a:p>
            <a:pPr>
              <a:spcAft>
                <a:spcPts val="600"/>
              </a:spcAft>
            </a:pPr>
            <a:r>
              <a:rPr sz="1800" b="0">
                <a:solidFill>
                  <a:srgbClr val="202830"/>
                </a:solidFill>
                <a:latin typeface="Malgun Gothic"/>
              </a:rPr>
              <a:t>•  03 BLOB 파일적재와 변환  ·  04 BFILE</a:t>
            </a:r>
          </a:p>
          <a:p>
            <a:pPr>
              <a:spcAft>
                <a:spcPts val="600"/>
              </a:spcAft>
            </a:pPr>
            <a:r>
              <a:rPr sz="1800" b="0">
                <a:solidFill>
                  <a:srgbClr val="202830"/>
                </a:solidFill>
                <a:latin typeface="Malgun Gothic"/>
              </a:rPr>
              <a:t>•  05 임시 LOB 와 로케이터  ·  06 SecureFile 옵션</a:t>
            </a:r>
          </a:p>
          <a:p>
            <a:pPr>
              <a:spcAft>
                <a:spcPts val="600"/>
              </a:spcAft>
            </a:pPr>
            <a:r>
              <a:rPr sz="1800" b="0">
                <a:solidFill>
                  <a:srgbClr val="202830"/>
                </a:solidFill>
                <a:latin typeface="Malgun Gothic"/>
              </a:rPr>
              <a:t>•  07 공간관리와 성능  ·  08 LONG 전환과 Data Pump</a:t>
            </a:r>
          </a:p>
          <a:p>
            <a:pPr>
              <a:spcAft>
                <a:spcPts val="600"/>
              </a:spcAft>
            </a:pPr>
            <a:r>
              <a:rPr sz="1800" b="0">
                <a:solidFill>
                  <a:srgbClr val="202830"/>
                </a:solidFill>
                <a:latin typeface="Malgun Gothic"/>
              </a:rPr>
              <a:t>•  진행 방식</a:t>
            </a:r>
          </a:p>
          <a:p>
            <a:pPr>
              <a:spcAft>
                <a:spcPts val="600"/>
              </a:spcAft>
            </a:pPr>
            <a:r>
              <a:rPr sz="1600" b="0">
                <a:solidFill>
                  <a:srgbClr val="202830"/>
                </a:solidFill>
                <a:latin typeface="Malgun Gothic"/>
              </a:rPr>
              <a:t>    –  순서대로 진행한다. 01 이 만든 계정·테이블스페이스를 뒤 실습이 쓴다</a:t>
            </a:r>
          </a:p>
          <a:p>
            <a:pPr>
              <a:spcAft>
                <a:spcPts val="600"/>
              </a:spcAft>
            </a:pPr>
            <a:r>
              <a:rPr sz="1600" b="0">
                <a:solidFill>
                  <a:srgbClr val="202830"/>
                </a:solidFill>
                <a:latin typeface="Malgun Gothic"/>
              </a:rPr>
              <a:t>    –  각 실습은 8단계 구성이며 최소 한 번 "오류 -&gt; 원인 -&gt; 수정" 흐름이 들어 있다</a:t>
            </a:r>
          </a:p>
          <a:p>
            <a:pPr>
              <a:spcAft>
                <a:spcPts val="600"/>
              </a:spcAft>
            </a:pPr>
            <a:r>
              <a:rPr sz="1600" b="0">
                <a:solidFill>
                  <a:srgbClr val="202830"/>
                </a:solidFill>
                <a:latin typeface="Malgun Gothic"/>
              </a:rPr>
              <a:t>    –  06·07 은 200건 × 100KB 를 적재하므로 lobtbs 에 200MB 이상 여유가 필요하다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실습 준비:</a:t>
            </a:r>
          </a:p>
          <a:p>
            <a:pPr>
              <a:spcAft>
                <a:spcPts val="600"/>
              </a:spcAft>
            </a:pPr>
            <a:r>
              <a:rPr sz="1300" b="0">
                <a:solidFill>
                  <a:srgbClr val="202830"/>
                </a:solidFill>
                <a:latin typeface="Malgun Gothic"/>
              </a:rPr>
              <a:t>lobtbs(ASSM) 200MB 이상, lobmssm(MSSM), 계정 loblab, 디렉터리 객체 lob_dir 과 OS 경로 /home/oracle/lobfiles 가 필요하다.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
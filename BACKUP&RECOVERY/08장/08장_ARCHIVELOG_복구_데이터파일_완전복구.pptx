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4~7장이 NOARCHIVELOG 환경의 복구를 다뤘다면 8장부터는 ARCHIVELOG 환경으로 넘어간다. 판정 흐름과 명령은 대부분 그대로 재사용되며 달라지는 것은 '리두가 있는가'라는 조건 하나다. 아카이브가 남아 있으면 그 조건이 거의 항상 참이 되므로 결말이 완전 복구로 바뀐다. 그래서 이 장의 서술 무게는 '어떻게 완전 복구로 끌고 가는가'에 있다. 본문 26,827자를 발표용으로 압축한 자료다.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목표는 서비스 중단 여부를 기준으로 배열되어 있다. 무중단 복구가 가능한 경우가 대부분이고 SYSTEM과 UNDO만 예외다. 4~7장에서 '리두가 없어 전체 복원'으로 끝났던 시나리오들이 여기서는 대부분 완전 복구로 마무리된다는 점을 먼저 각인시킨다. 같은 장애가 두 모드에서 전혀 다른 사건이 된다는 것이 이 장의 출발점이다. 절차 자체는 4~7장과 크게 다르지 않으므로 부담 없이 진행할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절은 '떼어 낼 수 있는가 → 백업본이 있는가 → 원래 위치를 쓸 수 있는가'라는 세 갈래 질문으로 꿰인다. 이 질문들이 결정되면 절차가 하나로 좁혀지며 8.8절의 판단표가 결론을 정리한다. 8.5절의 CREATE DATAFILE 은 NOARCHIVELOG에서는 존재하지 않던 선택지이므로 시간을 넉넉히 배분한다. 실습이 여덟 개로 이 과정에서 가장 많은 장이다.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8.1절은 이 장 전체의 전제를 세운다. NOARCHIVELOG의 복구 범위는 온라인 리두가 담을 수 있는 만큼이었지만 아카이브가 있으면 그 한계가 사라진다. 일주일 전 백업본이라도 그 사이 아카이브가 모두 있으면 완전 복구가 된다. 이 사실 하나가 4~7장의 여러 시나리오를 무의미하게 만든다. 대신 새로운 전제가 생긴다. 아카이브가 끊김 없이 보관되어야 한다는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4~7장에서 반복해 계산했던 '백업본 SCN vs 최소 리두 SCN' 판정이 여기서는 거의 항상 통과한다. 그 판정 자체가 사라지는 것은 아니고 판정에 쓰는 재료가 온라인 리두에서 아카이브로 넓어질 뿐이다. 대신 새로운 점검 항목이 생긴다. 아카이브 시퀀스가 연속인지, 삭제되지 않았는지를 봐야 한다. ARCHIVE LOG LIST 와 v$archived_log 가 그 확인 수단이다.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 LOG LIST 는 한 화면으로 모드와 대상, 시퀀스 상황을 알려 주는 가장 빠른 점검 수단이다. Oldest online log sequence 와 Current log sequence 사이가 온라인 리두가 담고 있는 구간이고 그 이전은 아카이브가 담당한다. v$archived_log 의 STATUS 컬럼도 함께 봐야 한다. A는 사용 가능, D는 삭제됨을 뜻하며 D인 구간은 복구에 쓸 수 없다.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조건 중 실무에서 가장 자주 깨지는 것이 ②다. 아카이브 디스크가 가득 차 일부가 삭제되었거나, 정리 스크립트가 필요한 구간까지 지웠거나, 다중 대상 중 한쪽만 남은 경우가 흔하다. 그래서 아카이브 연속성 점검을 정기 작업으로 만들어야 한다. 빠진 시퀀스가 있으면 그 지점 이전의 백업본은 사실상 무효이므로 즉시 새 백업을 받는 것이 대응이다. 점검 쿼리를 스크립트로 만들어 일일 점검에 넣도록 지도한다.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오류 코드를 짝지어 외우게 하면 실습에서 헤매지 않는다. ORA-01126은 '상태가 틀렸다'는 뜻이고 ORA-01121은 '대상이 사용 중이다'는 뜻이다. 전자는 MOUNT로 내려서, 후자는 OFFLINE으로 내려서 해결한다. 이 두 제약에서 무중단 복구의 표준 절차가 자동으로 도출된다. OFFLINE → 복원 → RECOVER → ONLINE 이라는 네 단계다.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복구를 시작하기 전에 필요한 아카이브가 모두 있는지 확인하는 절차다. v$recover_file 의 CHANGE# 가 복구 시작 SCN이고, 그 SCN을 포함하는 시퀀스부터 현재까지가 필요한 구간이다. 이 확인을 먼저 하면 복구 도중 아카이브가 없어 멈추는 상황을 피할 수 있다. 빠진 구간이 있으면 그때는 완전 복구를 포기하고 10장의 불완전 복구를 계획해야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8.2절이 이 장의 핵심이다. 데이터베이스를 한 번도 내리지 않고 손상된 데이터파일을 복구한다. 이것이 가능한 이유는 두 가지다. 손상 파일을 떼어 내도 되살릴 수단이 있기 때문이고, 아카이브가 그 사이의 변경을 모두 담고 있기 때문이다. NOARCHIVELOG 환경에서는 떼어 내는 것이 곧 포기를 뜻했지만 여기서는 복구의 첫 단계일 뿐이다. 그래서 OFFLINE DROP 대신 그냥 OFFLINE을 쓴다는 점도 함께 짚는다.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OFFLINE은 ARCHIVELOG 모드의 가장 실용적인 이점이다. 장애가 데이터베이스 전체의 사건이 아니라 특정 테이블스페이스의 사건으로 축소된다. 사용자 입장에서는 일부 화면만 오류가 나고 나머지는 정상이다. v$datafile의 STATUS가 RECOVER로 바뀌는 것이 그 신호다. 이 상태를 확인하면 복구 대상과 영향 범위를 즉시 파악할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IMMEDIATE 를 쓰는 이유를 짚어 준다. NORMAL은 체크포인트를 시도하는데 파일이 이미 없으므로 실패한다. IMMEDIATE는 체크포인트 없이 즉시 내리므로 이 상황에 맞는다. SET AUTORECOVERY ON 을 미리 설정하면 아카이브 경로가 자동 계산되어 프롬프트가 뜨지 않는다. 마지막 ONLINE을 잊는 것이 가장 흔한 실수이며 '복구했는데 여전히 조회가 안 된다'는 신고로 돌아온다.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OFFLINE과 OFFLINE DROP의 구분을 다시 강조한다. NOARCHIVELOG에서 OFFLINE DROP은 '되살리지 않겠다'는 선언이었지만 ARCHIVELOG에서는 그냥 OFFLINE으로 충분하다. 복구할 수단이 있기 때문이다. SYSTEM과 UNDO는 두 모드 공통으로 예외이며 데이터베이스를 내려야 한다. 다만 아카이브가 있으므로 완전 복구가 가능하다는 점이 다르다.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사례가 아카이브 모드 전환을 설득하는 데 가장 효과적이다. 추가되는 비용은 아카이브 디스크와 관리 부담이고, 얻는 것은 장애 범위의 축소와 복구 시간 단축이다. 12분과 반나절의 차이를 업무 손실 금액으로 환산해 제시하면 의사 결정이 빨라진다. 다만 아카이브 대상 관리를 소홀히 하면 ORA-00257로 데이터베이스가 멈추는 새로운 위험이 생긴다는 점도 함께 알려야 공정하다.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8.3절은 5장의 읽기 전용 테이블스페이스와 같은 원리를 다룬다. 체크포인트가 완료되어 헤더 SCN이 고정된 상태에서는 그 이후 리두가 생성되지 않으므로 복원만으로 SCN이 맞는다. 두 종류의 OFFLINE을 구분하는 것이 이 절의 핵심이다. NORMAL은 체크포인트를 수행하고 IMMEDIATE는 수행하지 않는다. 그 차이가 복구 필요 여부를 가르며, 손상된 파일에는 선택의 여지 없이 IMMEDIATE를 써야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출력을 나란히 놓으면 차이가 분명해진다. NORMAL로 내린 파일은 v$recover_file 에 나타나지 않고 IMMEDIATE로 내린 파일은 곧바로 나타난다. 실무에서는 계획된 작업이라면 NORMAL을, 장애 대응이라면 IMMEDIATE를 쓴다. 손상된 파일에 NORMAL을 쓰면 체크포인트를 시도하다 실패하므로 선택의 여지가 없다는 점도 함께 짚는다.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ONLINE 명령이 검증 역할을 겸한다는 점이 이 절의 실용적 포인트다. Oracle이 헤더 SCN을 검사해 맞지 않으면 상태를 바꾸지 않는다. 따라서 ONLINE이 성공했다면 복구가 제대로 끝난 것이다. 다만 데이터 확인은 별도로 해야 한다. 그 테이블스페이스의 대표 테이블을 조회해 건수를 대조하고, 인덱스가 함께 들어 있었다면 조회 계획도 확인한다. ONLINE이 성공했다는 사실만으로 보고를 마치지 않도록 지도한다.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8.4절은 무중단이 불가능한 경우를 다룬다. 손상 파일에 SYSTEM이나 UNDO가 포함되면 데이터베이스를 내려야 한다. 대신 MOUNT 상태에서는 RECOVER DATABASE 라는 강력한 명령을 쓸 수 있어 여러 파일을 한 번에 처리한다. 각 파일의 시작 SCN이 달라도 Oracle이 알아서 맞춘다. 이 절에서는 복구 시간을 예측하고 줄이는 방법도 함께 다룬다.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손상된 파일만 복원한다는 점이 중요하다. 멀쩡한 파일까지 되돌리면 복구할 구간이 늘어 시간만 길어진다. v$recover_file 목록과 실제 파일 존재 여부를 대조해 대상을 정한다. RESETLOGS 없이 열린다는 점도 확인시킨다. 완전 복구가 성립했다는 증거이며 인카네이션이 그대로여서 기존 백업본이 계속 유효하다. 4~7장에서 RESETLOGS가 강제되던 상황과 대비시켜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부분 오픈 전략은 업무 우선순위 문서가 전제되어야 쓸 수 있다. 장애 상황에서 '무엇을 먼저 살릴지' 논의하기 시작하면 이미 늦다. 테이블스페이스별 복구 우선순위를 평소에 정해 문서화해 두도록 지도한다. 복구 시간을 줄이는 근본 대책은 백업 주기 단축이며, 증분 백업을 쓰면 부담 없이 같은 효과를 얻는다. 이 내용은 14장에서 이어진다. 우선순위 문서는 장애 시점이 아니라 평소에 만들어 두어야 쓸모가 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복구가 길어질 때 현업에서 가장 먼저 묻는 것이 '얼마나 남았느냐'다. 별도 세션에서 이 뷰를 조회하면 적용한 양과 전체 양을 볼 수 있어 예상 시간을 답할 수 있다. SOFAR와 TOTAL의 비율로 진행률을 계산한다. 병렬도는 기본값 0으로 두면 Oracle이 CPU 수에 맞춰 정하므로 대부분 손댈 필요가 없다. 복구가 예상보다 느리면 I/O 병목이나 아카이브 위치의 성능을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8.5절은 NOARCHIVELOG 환경에는 존재하지 않던 선택지를 다룬다. 백업본이 없어도 복구가 가능하다는 것은 직관에 반하지만 원리는 단순하다. 파일이 만들어진 순간부터의 모든 변경이 아카이브에 남아 있으므로, 빈 파일을 출발점으로 삼아 그 리두를 처음부터 적용하면 내용이 재현된다. 백업본 대신 '빈 파일'을 쓰는 복구라고 설명하면 이해가 빠르다. 다만 아카이브 하나만 빠져도 성립하지 않는 취약한 방법이라는 점을 함께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CREATION_CHANGE# 가 이 방법의 성패를 가르는 값이다. 그 SCN 이후의 아카이브가 하나라도 빠지면 복구가 중간에서 멈춘다. 실습 전에 v$archived_log 로 연속성을 확인하는 습관을 들이게 한다. AS 절을 생략하면 원래 경로에 만들고, 경로를 지정하면 다른 위치에 만들면서 컨트롤파일의 경로도 갱신된다. 즉 RENAME이 따로 필요 없다는 점이 편리하다.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NOLOGGING 문제는 복구가 끝난 뒤에야 드러난다는 점이 특히 곤란하다. 명령은 모두 성공하고 테이블스페이스도 ONLINE이 되지만 특정 블록을 읽을 때 오류가 난다. 해당 객체를 다시 만드는 것 외에 방법이 없다. 그래서 NOLOGGING은 '재적재가 가능한 데이터에만' 쓴다는 원칙이 필요하다. 데이터베이스나 테이블스페이스 단위 FORCE LOGGING 으로 강제할 수도 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8.6절은 원래 디스크를 쓸 수 없는 상황을 다룬다. 다른 위치로 복원하면 컨트롤파일이 아는 경로와 실제 위치가 어긋나므로 그 사실을 알려야 한다. RENAME FILE 이 그 명령이며 파일을 옮기지 않고 컨트롤파일의 기록만 바꾼다는 점을 분명히 해야 한다. 19c의 MOVE DATAFILE 과 혼동하기 쉬우므로 두 명령의 목적 차이를 나란히 놓고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순서가 중요하다. RENAME을 복구보다 먼저 해야 복구가 새 파일을 대상으로 진행된다. 반대로 하면 예전 경로의 존재하지 않는 파일을 복구하려다 실패한다. RENAME은 MOUNT 상태이거나 대상 테이블스페이스가 OFFLINE인 OPEN 상태에서만 가능하다. 온라인 파일에 시도하면 ORA-01511 또는 ORA-01121이 발생한다. 새 위치는 oracle 계정 권한과 여유 공간을 먼저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명령의 목적을 한 문장으로 정리하면, RENAME은 '이미 옮겨진 파일을 알려 주는' 명령이고 MOVE는 '지금 옮기는' 명령이다. 복구 상황에서는 RENAME을, 정리 작업에서는 MOVE를 쓴다. 실무에서 자주 놓치는 것은 경로 변경 후의 후속 작업이다. 백업 스크립트가 예전 경로를 복사하려다 실패하면 그날부터 백업이 없는 상태가 되고 다음 장애에서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8.7절은 두 가지 특수한 경우를 묶어 다룬다. 읽기 전용 테이블스페이스는 5장에서 이미 원리를 배웠고 ARCHIVELOG 환경에서도 결과가 같다. 다만 READ ONLY 이전 백업본이라도 아카이브로 전환 시점까지 복구할 수 있어 더 유연하다. 부분 손상은 기술적으로는 우아하지만 사용자 경험 관점에서는 혼란을 줄 수 있다는 점을 함께 짚는다. 절 끝에서는 복구 후 검증 네 단계를 체크리스트로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부분 손상 사례를 하나 들어 주면 마지막 항목이 설득력을 얻는다. 파티션 테이블의 한 파티션이 든 파일만 복구하는 동안 다른 파티션 조회는 정상이었지만, 전체를 스캔하는 배치가 ORA-00376으로 실패해 문의가 몰린 사례가 있다. 기술적 최소 영향과 사용자 체감이 다르다는 점을 짚어 주고, 상황에 따라 테이블스페이스 전체를 내리는 편이 나을 수도 있음을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단계가 ARCHIVELOG 환경에서 추가된 항목이다. 로그 스위치와 아카이브 생성이 정상 동작하는지 확인해야 한다. 복구 중 아카이브 디스크가 가득 차 있었다면 이후 ORA-00257로 데이터베이스가 멈춘다. 복구는 끝났는데 몇 시간 뒤 다시 장애가 나는 전형적인 경로다. 블록 수준 손상이 의심되면 RMAN VALIDATE 로 추가 점검하며, 이 내용은 16장에서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표에서 읽어야 할 원칙은 세 가지다. 첫째, 대부분의 경우가 완전 복구로 끝난다는 것이 ARCHIVELOG의 가치다. 둘째, OFFLINE 가능 여부가 무중단 처리 여부를 결정한다. 셋째, 백업본이 없어도 길이 남아 있다. 마지막 행만 예외이며 아카이브가 빠지면 10장의 불완전 복구로 넘어간다. 그래서 아카이브 연속성 점검이 이 장 모든 절차의 전제가 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사용 중인 파일은 복구할 수 없어 ORA-01121이 발생한다. OFFLINE → 복원 → RECOVER → ONLINE 순서가 무중단 복구의 표준 절차이며 이 장의 뼈대다. 손상된 파일에는 OFFLINE IMMEDIATE 를 쓴다. NORMAL은 체크포인트를 시도하다 실패하기 때문이다. 마지막 ONLINE을 잊는 실수가 가장 흔하다는 점도 함께 상기시킨다.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파일 생성 시점부터의 아카이브가 모두 있으면 빈 파일에 리두를 적용해 내용을 재현할 수 있다. 첫 번째 보기는 NOARCHIVELOG 환경의 답이며 두 모드의 차이를 보여 준다. 다만 NOLOGGING으로 만든 세그먼트는 리두가 없어 복구되지 않고 ORA-01578로 드러난다. 그래서 NOLOGGING 작업 직후에는 반드시 백업을 새로 받아야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RENAME FILE 은 파일을 옮기지 않고 컨트롤파일의 경로만 갱신한다. 복원 → RENAME → RECOVER 순서를 지켜야 복구가 새 파일을 대상으로 진행된다. 첫 번째 보기의 MOVE DATAFILE 은 온라인 이동용이며 손상된 파일에는 쓸 수 없다. 읽을 수 없는 파일을 옮길 방법이 없기 때문이다. MOVE는 복구가 끝난 뒤 경로 체계를 정리할 때 쓰는 명령이다.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요약의 일곱 줄이 그대로 실무 체크리스트가 된다. 마지막 줄이 특히 중요하다. 앞의 여섯 절차는 모두 아카이브가 연속으로 있다는 전제 위에 서 있고, 그 전제가 깨지면 9장과 10장의 다른 이야기가 시작된다. 아카이브 시퀀스 연속성 점검을 정기 작업으로 만들도록 지도한다. 다음 장에서는 전체 데이터파일 손상과 UNDO 손상, 아카이브 결손을 다룬다. 아카이브가 빠졌을 때의 처리가 9장과 10장의 주제다.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실습은 이 과정에서 가장 많은 수다. 8-1이 표준 절차이고 나머지는 그 변형이므로 8-1을 확실히 익히면 나머지는 빠르게 진행된다. 시간이 부족하면 8-2와 8-8을 시연으로 대체하고 8-1, 8-3, 8-4, 8-6은 반드시 직접 수행하게 한다. 네 실습이 서로 다른 명령 계열을 담고 있기 때문이다. 모든 실습에 오류 발생과 수정 과정이 최소 한 번 포함되어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제8장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ARCHIVELOG 복구 ① 데이터파일 완전복구</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무중단 복구 · 복구 명령 세 단위 · CREATE DATAFILE · RENAME FILE · 오프라인/읽기 전용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완전 복구가 성립하는 세 조건을 설명한다</a:t>
            </a:r>
          </a:p>
          <a:p>
            <a:pPr>
              <a:spcAft>
                <a:spcPts val="600"/>
              </a:spcAft>
            </a:pPr>
            <a:r>
              <a:rPr sz="1600" b="0">
                <a:solidFill>
                  <a:srgbClr val="5A6672"/>
                </a:solidFill>
                <a:latin typeface="Malgun Gothic"/>
                <a:ea typeface="Malgun Gothic"/>
              </a:rPr>
              <a:t>    –  데이터베이스를 열어 둔 채 데이터파일을 복구한다</a:t>
            </a:r>
          </a:p>
          <a:p>
            <a:pPr>
              <a:spcAft>
                <a:spcPts val="600"/>
              </a:spcAft>
            </a:pPr>
            <a:r>
              <a:rPr sz="1600" b="0">
                <a:solidFill>
                  <a:srgbClr val="5A6672"/>
                </a:solidFill>
                <a:latin typeface="Malgun Gothic"/>
                <a:ea typeface="Malgun Gothic"/>
              </a:rPr>
              <a:t>    –  복구 명령의 세 단위를 상황에 맞게 선택한다</a:t>
            </a:r>
          </a:p>
          <a:p>
            <a:pPr>
              <a:spcAft>
                <a:spcPts val="600"/>
              </a:spcAft>
            </a:pPr>
            <a:r>
              <a:rPr sz="1600" b="0">
                <a:solidFill>
                  <a:srgbClr val="5A6672"/>
                </a:solidFill>
                <a:latin typeface="Malgun Gothic"/>
                <a:ea typeface="Malgun Gothic"/>
              </a:rPr>
              <a:t>    –  백업이 없는 데이터파일을 CREATE DATAFILE로 되살린다</a:t>
            </a:r>
          </a:p>
          <a:p>
            <a:pPr>
              <a:spcAft>
                <a:spcPts val="600"/>
              </a:spcAft>
            </a:pPr>
            <a:r>
              <a:rPr sz="1600" b="0">
                <a:solidFill>
                  <a:srgbClr val="5A6672"/>
                </a:solidFill>
                <a:latin typeface="Malgun Gothic"/>
                <a:ea typeface="Malgun Gothic"/>
              </a:rPr>
              <a:t>    –  손상 파일을 새 위치로 복구하고 경로를 갱신한다</a:t>
            </a:r>
          </a:p>
          <a:p>
            <a:pPr>
              <a:spcAft>
                <a:spcPts val="600"/>
              </a:spcAft>
            </a:pPr>
            <a:r>
              <a:rPr sz="1600" b="0">
                <a:solidFill>
                  <a:srgbClr val="5A6672"/>
                </a:solidFill>
                <a:latin typeface="Malgun Gothic"/>
                <a:ea typeface="Malgun Gothic"/>
              </a:rPr>
              <a:t>    –  오프라인·읽기 전용 테이블스페이스의 복구 특성을 구분한다</a:t>
            </a:r>
          </a:p>
          <a:p>
            <a:pPr>
              <a:spcAft>
                <a:spcPts val="600"/>
              </a:spcAft>
            </a:pPr>
            <a:r>
              <a:rPr sz="1800" b="0">
                <a:solidFill>
                  <a:srgbClr val="202830"/>
                </a:solidFill>
                <a:latin typeface="Malgun Gothic"/>
                <a:ea typeface="Malgun Gothic"/>
              </a:rPr>
              <a:t>•  여섯 목표는 각각 8.1 / 8.2 / 8.1.3 / 8.5 / 8.6 / 8.3·8.7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8.1  ARCHIVELOG 환경이 바꾸는 것 — 복구 범위 · 완전 복구 조건 · 명령 단위</a:t>
            </a:r>
          </a:p>
          <a:p>
            <a:pPr>
              <a:spcAft>
                <a:spcPts val="600"/>
              </a:spcAft>
            </a:pPr>
            <a:r>
              <a:rPr sz="1800" b="0">
                <a:solidFill>
                  <a:srgbClr val="202830"/>
                </a:solidFill>
                <a:latin typeface="Malgun Gothic"/>
                <a:ea typeface="Malgun Gothic"/>
              </a:rPr>
              <a:t>•  8.2  무중단 복구 — 자동 OFFLINE · TS 단위 · DF 단위 · 예외</a:t>
            </a:r>
          </a:p>
          <a:p>
            <a:pPr>
              <a:spcAft>
                <a:spcPts val="600"/>
              </a:spcAft>
            </a:pPr>
            <a:r>
              <a:rPr sz="1800" b="0">
                <a:solidFill>
                  <a:srgbClr val="202830"/>
                </a:solidFill>
                <a:latin typeface="Malgun Gothic"/>
                <a:ea typeface="Malgun Gothic"/>
              </a:rPr>
              <a:t>•  8.3  오프라인 테이블스페이스 손상 — NORMAL과 IMMEDIATE의 차이</a:t>
            </a:r>
          </a:p>
          <a:p>
            <a:pPr>
              <a:spcAft>
                <a:spcPts val="600"/>
              </a:spcAft>
            </a:pPr>
            <a:r>
              <a:rPr sz="1800" b="0">
                <a:solidFill>
                  <a:srgbClr val="202830"/>
                </a:solidFill>
                <a:latin typeface="Malgun Gothic"/>
                <a:ea typeface="Malgun Gothic"/>
              </a:rPr>
              <a:t>•  8.4  여러 데이터파일 손상 — 일괄 복구 · 소요 시간 · 부분 오픈</a:t>
            </a:r>
          </a:p>
          <a:p>
            <a:pPr>
              <a:spcAft>
                <a:spcPts val="600"/>
              </a:spcAft>
            </a:pPr>
            <a:r>
              <a:rPr sz="1800" b="0">
                <a:solidFill>
                  <a:srgbClr val="202830"/>
                </a:solidFill>
                <a:latin typeface="Malgun Gothic"/>
                <a:ea typeface="Malgun Gothic"/>
              </a:rPr>
              <a:t>•  8.5  백업 없는 데이터파일 — CREATE DATAFILE 의 원리와 제약</a:t>
            </a:r>
          </a:p>
          <a:p>
            <a:pPr>
              <a:spcAft>
                <a:spcPts val="600"/>
              </a:spcAft>
            </a:pPr>
            <a:r>
              <a:rPr sz="1800" b="0">
                <a:solidFill>
                  <a:srgbClr val="202830"/>
                </a:solidFill>
                <a:latin typeface="Malgun Gothic"/>
                <a:ea typeface="Malgun Gothic"/>
              </a:rPr>
              <a:t>•  8.6  새 위치로 복구 — RENAME FILE · MOVE DATAFILE</a:t>
            </a:r>
          </a:p>
          <a:p>
            <a:pPr>
              <a:spcAft>
                <a:spcPts val="600"/>
              </a:spcAft>
            </a:pPr>
            <a:r>
              <a:rPr sz="1800" b="0">
                <a:solidFill>
                  <a:srgbClr val="202830"/>
                </a:solidFill>
                <a:latin typeface="Malgun Gothic"/>
                <a:ea typeface="Malgun Gothic"/>
              </a:rPr>
              <a:t>•  8.7 읽기 전용·부분 손상 · 8.8 판단표 · 8.9 퀴즈 · 요약 · 실습 8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실습은 ARCHIVELOG 환경에서 진행한다. 2장에서 구성한 아카이브 대상과 FRA를 그대로 쓴다.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8.1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ARCHIVELOG 환경이 바꾸는 것</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복구 가능 범위가 아카이브 보관 기간까지 넓어진다</a:t>
            </a:r>
          </a:p>
          <a:p>
            <a:pPr>
              <a:spcAft>
                <a:spcPts val="600"/>
              </a:spcAft>
            </a:pPr>
            <a:r>
              <a:rPr sz="1600" b="0">
                <a:solidFill>
                  <a:srgbClr val="C5CED6"/>
                </a:solidFill>
                <a:latin typeface="Malgun Gothic"/>
                <a:ea typeface="Malgun Gothic"/>
              </a:rPr>
              <a:t>•  백업 주기와 복구 가능성의 관계가 끊어진다</a:t>
            </a:r>
          </a:p>
          <a:p>
            <a:pPr>
              <a:spcAft>
                <a:spcPts val="600"/>
              </a:spcAft>
            </a:pPr>
            <a:r>
              <a:rPr sz="1600" b="0">
                <a:solidFill>
                  <a:srgbClr val="C5CED6"/>
                </a:solidFill>
                <a:latin typeface="Malgun Gothic"/>
                <a:ea typeface="Malgun Gothic"/>
              </a:rPr>
              <a:t>•  완전 복구는 백업본·연속 리두·컨트롤파일 세 가지로 성립한다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아카이브가 복구 범위를 넓히는 방식</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NOARCHIVELOG — 복구 범위는 온라인 리두가 담는 만큼</a:t>
            </a:r>
          </a:p>
          <a:p>
            <a:pPr>
              <a:spcAft>
                <a:spcPts val="600"/>
              </a:spcAft>
            </a:pPr>
            <a:r>
              <a:rPr sz="1600" b="0">
                <a:solidFill>
                  <a:srgbClr val="5A6672"/>
                </a:solidFill>
                <a:latin typeface="Malgun Gothic"/>
                <a:ea typeface="Malgun Gothic"/>
              </a:rPr>
              <a:t>    –  그룹 3개 × 200MB, 변경이 많으면 몇 시간 만에 덮어써짐</a:t>
            </a:r>
          </a:p>
          <a:p>
            <a:pPr>
              <a:spcAft>
                <a:spcPts val="600"/>
              </a:spcAft>
            </a:pPr>
            <a:r>
              <a:rPr sz="1800" b="0">
                <a:solidFill>
                  <a:srgbClr val="202830"/>
                </a:solidFill>
                <a:latin typeface="Malgun Gothic"/>
                <a:ea typeface="Malgun Gothic"/>
              </a:rPr>
              <a:t>•  ARCHIVELOG — 스위치마다 아카이브 사본 생성</a:t>
            </a:r>
          </a:p>
          <a:p>
            <a:pPr>
              <a:spcAft>
                <a:spcPts val="600"/>
              </a:spcAft>
            </a:pPr>
            <a:r>
              <a:rPr sz="1600" b="0">
                <a:solidFill>
                  <a:srgbClr val="5A6672"/>
                </a:solidFill>
                <a:latin typeface="Malgun Gothic"/>
                <a:ea typeface="Malgun Gothic"/>
              </a:rPr>
              <a:t>    –  온라인 리두가 덮어써져도 내용이 파일로 남음</a:t>
            </a:r>
          </a:p>
          <a:p>
            <a:pPr>
              <a:spcAft>
                <a:spcPts val="600"/>
              </a:spcAft>
            </a:pPr>
            <a:r>
              <a:rPr sz="1600" b="0">
                <a:solidFill>
                  <a:srgbClr val="5A6672"/>
                </a:solidFill>
                <a:latin typeface="Malgun Gothic"/>
                <a:ea typeface="Malgun Gothic"/>
              </a:rPr>
              <a:t>    –  복구 범위가 아카이브 보관 기간까지 확장</a:t>
            </a:r>
          </a:p>
          <a:p>
            <a:pPr>
              <a:spcAft>
                <a:spcPts val="600"/>
              </a:spcAft>
            </a:pPr>
            <a:r>
              <a:rPr sz="1800" b="0">
                <a:solidFill>
                  <a:srgbClr val="202830"/>
                </a:solidFill>
                <a:latin typeface="Malgun Gothic"/>
                <a:ea typeface="Malgun Gothic"/>
              </a:rPr>
              <a:t>•  백업 주기와 복구 가능성의 관계가 끊어진다</a:t>
            </a:r>
          </a:p>
          <a:p>
            <a:pPr>
              <a:spcAft>
                <a:spcPts val="600"/>
              </a:spcAft>
            </a:pPr>
            <a:r>
              <a:rPr sz="1600" b="0">
                <a:solidFill>
                  <a:srgbClr val="5A6672"/>
                </a:solidFill>
                <a:latin typeface="Malgun Gothic"/>
                <a:ea typeface="Malgun Gothic"/>
              </a:rPr>
              <a:t>    –  일주일 전 백업본 + 연속 아카이브 = 완전 복구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아카이브 구성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ARCHIVE LOG LIST · v$archived_log</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ARCHIVE LOG LIST</a:t>
            </a:r>
          </a:p>
          <a:p>
            <a:pPr>
              <a:spcAft>
                <a:spcPts val="0"/>
              </a:spcAft>
            </a:pPr>
            <a:r>
              <a:rPr sz="1250" b="0">
                <a:solidFill>
                  <a:srgbClr val="E6E6E6"/>
                </a:solidFill>
                <a:latin typeface="Consolas"/>
                <a:ea typeface="Consolas"/>
              </a:rPr>
              <a:t>Database log mode              Archive Mode</a:t>
            </a:r>
          </a:p>
          <a:p>
            <a:pPr>
              <a:spcAft>
                <a:spcPts val="0"/>
              </a:spcAft>
            </a:pPr>
            <a:r>
              <a:rPr sz="1250" b="0">
                <a:solidFill>
                  <a:srgbClr val="E6E6E6"/>
                </a:solidFill>
                <a:latin typeface="Consolas"/>
                <a:ea typeface="Consolas"/>
              </a:rPr>
              <a:t>Automatic archival             Enabled</a:t>
            </a:r>
          </a:p>
          <a:p>
            <a:pPr>
              <a:spcAft>
                <a:spcPts val="0"/>
              </a:spcAft>
            </a:pPr>
            <a:r>
              <a:rPr sz="1250" b="0">
                <a:solidFill>
                  <a:srgbClr val="E6E6E6"/>
                </a:solidFill>
                <a:latin typeface="Consolas"/>
                <a:ea typeface="Consolas"/>
              </a:rPr>
              <a:t>Archive destination            /home/oracle/arch1</a:t>
            </a:r>
          </a:p>
          <a:p>
            <a:pPr>
              <a:spcAft>
                <a:spcPts val="0"/>
              </a:spcAft>
            </a:pPr>
            <a:r>
              <a:rPr sz="1250" b="0">
                <a:solidFill>
                  <a:srgbClr val="E6E6E6"/>
                </a:solidFill>
                <a:latin typeface="Consolas"/>
                <a:ea typeface="Consolas"/>
              </a:rPr>
              <a:t>Oldest online log sequence     18</a:t>
            </a:r>
          </a:p>
          <a:p>
            <a:pPr>
              <a:spcAft>
                <a:spcPts val="0"/>
              </a:spcAft>
            </a:pPr>
            <a:r>
              <a:rPr sz="1250" b="0">
                <a:solidFill>
                  <a:srgbClr val="E6E6E6"/>
                </a:solidFill>
                <a:latin typeface="Consolas"/>
                <a:ea typeface="Consolas"/>
              </a:rPr>
              <a:t>Current log sequence           20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sequence#, name, completion_time</a:t>
            </a:r>
          </a:p>
          <a:p>
            <a:pPr>
              <a:spcAft>
                <a:spcPts val="0"/>
              </a:spcAft>
            </a:pPr>
            <a:r>
              <a:rPr sz="1250" b="0">
                <a:solidFill>
                  <a:srgbClr val="E6E6E6"/>
                </a:solidFill>
                <a:latin typeface="Consolas"/>
                <a:ea typeface="Consolas"/>
              </a:rPr>
              <a:t>  2  FROM   v$archived_log ORDER BY sequence# DESC FETCH FIRST 3 ROWS ONLY;</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SEQUENCE# NAME                                    COMPLETION_TIME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19 /home/oracle/arch1/arch_1_19_1200533800.arc          11-MAY-25</a:t>
            </a:r>
          </a:p>
          <a:p>
            <a:pPr>
              <a:spcAft>
                <a:spcPts val="0"/>
              </a:spcAft>
            </a:pPr>
            <a:r>
              <a:rPr sz="1250" b="0">
                <a:solidFill>
                  <a:srgbClr val="E6E6E6"/>
                </a:solidFill>
                <a:latin typeface="Consolas"/>
                <a:ea typeface="Consolas"/>
              </a:rPr>
              <a:t>        18 /home/oracle/arch1/arch_1_18_1200533800.arc          11-MAY-25</a:t>
            </a:r>
          </a:p>
          <a:p>
            <a:pPr>
              <a:spcAft>
                <a:spcPts val="0"/>
              </a:spcAft>
            </a:pPr>
            <a:r>
              <a:rPr sz="1250" b="0">
                <a:solidFill>
                  <a:srgbClr val="E6E6E6"/>
                </a:solidFill>
                <a:latin typeface="Consolas"/>
                <a:ea typeface="Consolas"/>
              </a:rPr>
              <a:t>        17 /home/oracle/arch1/arch_1_17_1200533800.arc          11-MAY-25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완전 복구의 성립 조건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완전 복구 — 손상 직전까지 모든 커밋을 되살림, RESETLOGS 불필요</a:t>
            </a:r>
          </a:p>
          <a:p>
            <a:pPr>
              <a:spcAft>
                <a:spcPts val="600"/>
              </a:spcAft>
            </a:pPr>
            <a:r>
              <a:rPr sz="1800" b="0">
                <a:solidFill>
                  <a:srgbClr val="202830"/>
                </a:solidFill>
                <a:latin typeface="Malgun Gothic"/>
                <a:ea typeface="Malgun Gothic"/>
              </a:rPr>
              <a:t>•  세 가지가 모두 갖춰져야 성립</a:t>
            </a:r>
          </a:p>
          <a:p>
            <a:pPr>
              <a:spcAft>
                <a:spcPts val="600"/>
              </a:spcAft>
            </a:pPr>
            <a:r>
              <a:rPr sz="1600" b="0">
                <a:solidFill>
                  <a:srgbClr val="5A6672"/>
                </a:solidFill>
                <a:latin typeface="Malgun Gothic"/>
                <a:ea typeface="Malgun Gothic"/>
              </a:rPr>
              <a:t>    –  ① 손상된 파일의 백업본</a:t>
            </a:r>
          </a:p>
          <a:p>
            <a:pPr>
              <a:spcAft>
                <a:spcPts val="600"/>
              </a:spcAft>
            </a:pPr>
            <a:r>
              <a:rPr sz="1600" b="0">
                <a:solidFill>
                  <a:srgbClr val="5A6672"/>
                </a:solidFill>
                <a:latin typeface="Malgun Gothic"/>
                <a:ea typeface="Malgun Gothic"/>
              </a:rPr>
              <a:t>    –  ② 백업 시점부터 손상 시점까지 끊김 없는 리두</a:t>
            </a:r>
          </a:p>
          <a:p>
            <a:pPr>
              <a:spcAft>
                <a:spcPts val="600"/>
              </a:spcAft>
            </a:pPr>
            <a:r>
              <a:rPr sz="1600" b="0">
                <a:solidFill>
                  <a:srgbClr val="5A6672"/>
                </a:solidFill>
                <a:latin typeface="Malgun Gothic"/>
                <a:ea typeface="Malgun Gothic"/>
              </a:rPr>
              <a:t>    –  ③ 현재 구조를 아는 컨트롤파일</a:t>
            </a:r>
          </a:p>
          <a:p>
            <a:pPr>
              <a:spcAft>
                <a:spcPts val="600"/>
              </a:spcAft>
            </a:pPr>
            <a:r>
              <a:rPr sz="1800" b="0">
                <a:solidFill>
                  <a:srgbClr val="202830"/>
                </a:solidFill>
                <a:latin typeface="Malgun Gothic"/>
                <a:ea typeface="Malgun Gothic"/>
              </a:rPr>
              <a:t>•  ②는 아카이브 + 온라인 리두를 합쳐 판단</a:t>
            </a:r>
          </a:p>
          <a:p>
            <a:pPr>
              <a:spcAft>
                <a:spcPts val="600"/>
              </a:spcAft>
            </a:pPr>
            <a:r>
              <a:rPr sz="1600" b="0">
                <a:solidFill>
                  <a:srgbClr val="5A6672"/>
                </a:solidFill>
                <a:latin typeface="Malgun Gothic"/>
                <a:ea typeface="Malgun Gothic"/>
              </a:rPr>
              <a:t>    –  ①이 없어도 CREATE DATAFILE 이라는 길이 남아 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명령의 세 단위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RECOVER DATABASE — 복구가 필요한 모든 파일을 한 번에</a:t>
            </a:r>
          </a:p>
          <a:p>
            <a:pPr>
              <a:spcAft>
                <a:spcPts val="600"/>
              </a:spcAft>
            </a:pPr>
            <a:r>
              <a:rPr sz="1800" b="0">
                <a:solidFill>
                  <a:srgbClr val="202830"/>
                </a:solidFill>
                <a:latin typeface="Malgun Gothic"/>
                <a:ea typeface="Malgun Gothic"/>
              </a:rPr>
              <a:t>•  RECOVER TABLESPACE 이름 — 그 테이블스페이스의 파일만</a:t>
            </a:r>
          </a:p>
          <a:p>
            <a:pPr>
              <a:spcAft>
                <a:spcPts val="600"/>
              </a:spcAft>
            </a:pPr>
            <a:r>
              <a:rPr sz="1800" b="0">
                <a:solidFill>
                  <a:srgbClr val="202830"/>
                </a:solidFill>
                <a:latin typeface="Malgun Gothic"/>
                <a:ea typeface="Malgun Gothic"/>
              </a:rPr>
              <a:t>•  RECOVER DATAFILE 번호 — 지정한 파일만</a:t>
            </a:r>
          </a:p>
          <a:p>
            <a:pPr>
              <a:spcAft>
                <a:spcPts val="600"/>
              </a:spcAft>
            </a:pPr>
            <a:r>
              <a:rPr sz="1800" b="0">
                <a:solidFill>
                  <a:srgbClr val="202830"/>
                </a:solidFill>
                <a:latin typeface="Malgun Gothic"/>
                <a:ea typeface="Malgun Gothic"/>
              </a:rPr>
              <a:t>•  선택 기준은 데이터베이스 상태</a:t>
            </a:r>
          </a:p>
          <a:p>
            <a:pPr>
              <a:spcAft>
                <a:spcPts val="600"/>
              </a:spcAft>
            </a:pPr>
            <a:r>
              <a:rPr sz="1600" b="0">
                <a:solidFill>
                  <a:srgbClr val="5A6672"/>
                </a:solidFill>
                <a:latin typeface="Malgun Gothic"/>
                <a:ea typeface="Malgun Gothic"/>
              </a:rPr>
              <a:t>    –  MOUNT — 셋 다 가능</a:t>
            </a:r>
          </a:p>
          <a:p>
            <a:pPr>
              <a:spcAft>
                <a:spcPts val="600"/>
              </a:spcAft>
            </a:pPr>
            <a:r>
              <a:rPr sz="1600" b="0">
                <a:solidFill>
                  <a:srgbClr val="5A6672"/>
                </a:solidFill>
                <a:latin typeface="Malgun Gothic"/>
                <a:ea typeface="Malgun Gothic"/>
              </a:rPr>
              <a:t>    –  OPEN — TABLESPACE와 DATAFILE만 가능(DATABASE는 ORA-01126)</a:t>
            </a:r>
          </a:p>
          <a:p>
            <a:pPr>
              <a:spcAft>
                <a:spcPts val="600"/>
              </a:spcAft>
            </a:pPr>
            <a:r>
              <a:rPr sz="1600" b="0">
                <a:solidFill>
                  <a:srgbClr val="5A6672"/>
                </a:solidFill>
                <a:latin typeface="Malgun Gothic"/>
                <a:ea typeface="Malgun Gothic"/>
              </a:rPr>
              <a:t>    –  OPEN 상태의 복구 대상은 반드시 OFFLINE이어야 함(아니면 ORA-01121)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필요한 아카이브 구간 계산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v$recover_file → v$log_history → v$archived_log</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file#, error, change#, time FROM v$recover_file;</a:t>
            </a:r>
          </a:p>
          <a:p>
            <a:pPr>
              <a:spcAft>
                <a:spcPts val="0"/>
              </a:spcAft>
            </a:pPr>
            <a:r>
              <a:rPr sz="1250" b="0">
                <a:solidFill>
                  <a:srgbClr val="E6E6E6"/>
                </a:solidFill>
                <a:latin typeface="Consolas"/>
                <a:ea typeface="Consolas"/>
              </a:rPr>
              <a:t>     FILE# ERROR                    CHANGE# TIME</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7                          2401200 11-MAY-25</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sequence#, first_change#, next_change#</a:t>
            </a:r>
          </a:p>
          <a:p>
            <a:pPr>
              <a:spcAft>
                <a:spcPts val="0"/>
              </a:spcAft>
            </a:pPr>
            <a:r>
              <a:rPr sz="1250" b="0">
                <a:solidFill>
                  <a:srgbClr val="E6E6E6"/>
                </a:solidFill>
                <a:latin typeface="Consolas"/>
                <a:ea typeface="Consolas"/>
              </a:rPr>
              <a:t>  2  FROM   v$log_history WHERE 2401200 BETWEEN first_change# AND next_change#;</a:t>
            </a:r>
          </a:p>
          <a:p>
            <a:pPr>
              <a:spcAft>
                <a:spcPts val="0"/>
              </a:spcAft>
            </a:pPr>
            <a:r>
              <a:rPr sz="1250" b="0">
                <a:solidFill>
                  <a:srgbClr val="E6E6E6"/>
                </a:solidFill>
                <a:latin typeface="Consolas"/>
                <a:ea typeface="Consolas"/>
              </a:rPr>
              <a:t> SEQUENCE# FIRST_CHANGE# NEXT_CHANGE#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18       2400980      2401640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sequence#, archived, deleted, status</a:t>
            </a:r>
          </a:p>
          <a:p>
            <a:pPr>
              <a:spcAft>
                <a:spcPts val="0"/>
              </a:spcAft>
            </a:pPr>
            <a:r>
              <a:rPr sz="1250" b="0">
                <a:solidFill>
                  <a:srgbClr val="E6E6E6"/>
                </a:solidFill>
                <a:latin typeface="Consolas"/>
                <a:ea typeface="Consolas"/>
              </a:rPr>
              <a:t>  2  FROM   v$archived_log WHERE sequence# &gt;= 18 ORDER BY sequence#;</a:t>
            </a:r>
          </a:p>
          <a:p>
            <a:pPr>
              <a:spcAft>
                <a:spcPts val="0"/>
              </a:spcAft>
            </a:pPr>
            <a:r>
              <a:rPr sz="1250" b="0">
                <a:solidFill>
                  <a:srgbClr val="E6E6E6"/>
                </a:solidFill>
                <a:latin typeface="Consolas"/>
                <a:ea typeface="Consolas"/>
              </a:rPr>
              <a:t> SEQUENCE# ARC DEL S</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18 YES NO  A</a:t>
            </a:r>
          </a:p>
          <a:p>
            <a:pPr>
              <a:spcAft>
                <a:spcPts val="0"/>
              </a:spcAft>
            </a:pPr>
            <a:r>
              <a:rPr sz="1250" b="0">
                <a:solidFill>
                  <a:srgbClr val="E6E6E6"/>
                </a:solidFill>
                <a:latin typeface="Consolas"/>
                <a:ea typeface="Consolas"/>
              </a:rPr>
              <a:t>        19 YES NO  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8.2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무중단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ARCHIVELOG 모드에서는 손상 파일이 자동으로 OFFLINE 된다</a:t>
            </a:r>
          </a:p>
          <a:p>
            <a:pPr>
              <a:spcAft>
                <a:spcPts val="600"/>
              </a:spcAft>
            </a:pPr>
            <a:r>
              <a:rPr sz="1600" b="0">
                <a:solidFill>
                  <a:srgbClr val="C5CED6"/>
                </a:solidFill>
                <a:latin typeface="Malgun Gothic"/>
                <a:ea typeface="Malgun Gothic"/>
              </a:rPr>
              <a:t>•  나머지 테이블스페이스는 계속 서비스된다</a:t>
            </a:r>
          </a:p>
          <a:p>
            <a:pPr>
              <a:spcAft>
                <a:spcPts val="600"/>
              </a:spcAft>
            </a:pPr>
            <a:r>
              <a:rPr sz="1600" b="0">
                <a:solidFill>
                  <a:srgbClr val="C5CED6"/>
                </a:solidFill>
                <a:latin typeface="Malgun Gothic"/>
                <a:ea typeface="Malgun Gothic"/>
              </a:rPr>
              <a:t>•  OFFLINE → 복원 → RECOVER → ONLINE 이 표준 절차다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자동 OFFLINE과 증상</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운영 중 데이터파일 유실 → 그 파일 접근에서 ORA-01116</a:t>
            </a:r>
          </a:p>
          <a:p>
            <a:pPr>
              <a:spcAft>
                <a:spcPts val="600"/>
              </a:spcAft>
            </a:pPr>
            <a:r>
              <a:rPr sz="1600" b="0">
                <a:solidFill>
                  <a:srgbClr val="5A6672"/>
                </a:solidFill>
                <a:latin typeface="Malgun Gothic"/>
                <a:ea typeface="Malgun Gothic"/>
              </a:rPr>
              <a:t>    –  DBWR가 쓰지 못하면 Oracle이 파일을 자동으로 OFFLINE 처리</a:t>
            </a:r>
          </a:p>
          <a:p>
            <a:pPr>
              <a:spcAft>
                <a:spcPts val="600"/>
              </a:spcAft>
            </a:pPr>
            <a:r>
              <a:rPr sz="1600" b="0">
                <a:solidFill>
                  <a:srgbClr val="5A6672"/>
                </a:solidFill>
                <a:latin typeface="Malgun Gothic"/>
                <a:ea typeface="Malgun Gothic"/>
              </a:rPr>
              <a:t>    –  ARCHIVELOG 모드에서만 일어나는 동작</a:t>
            </a:r>
          </a:p>
          <a:p>
            <a:pPr>
              <a:spcAft>
                <a:spcPts val="600"/>
              </a:spcAft>
            </a:pPr>
            <a:r>
              <a:rPr sz="1800" b="0">
                <a:solidFill>
                  <a:srgbClr val="202830"/>
                </a:solidFill>
                <a:latin typeface="Malgun Gothic"/>
                <a:ea typeface="Malgun Gothic"/>
              </a:rPr>
              <a:t>•  NOARCHIVELOG 모드에서는 자동 OFFLINE 없음</a:t>
            </a:r>
          </a:p>
          <a:p>
            <a:pPr>
              <a:spcAft>
                <a:spcPts val="600"/>
              </a:spcAft>
            </a:pPr>
            <a:r>
              <a:rPr sz="1600" b="0">
                <a:solidFill>
                  <a:srgbClr val="5A6672"/>
                </a:solidFill>
                <a:latin typeface="Malgun Gothic"/>
                <a:ea typeface="Malgun Gothic"/>
              </a:rPr>
              <a:t>    –  되살릴 수단이 없어 그 상태가 의미가 없기 때문</a:t>
            </a:r>
          </a:p>
          <a:p>
            <a:pPr>
              <a:spcAft>
                <a:spcPts val="600"/>
              </a:spcAft>
            </a:pPr>
            <a:r>
              <a:rPr sz="1800" b="0">
                <a:solidFill>
                  <a:srgbClr val="202830"/>
                </a:solidFill>
                <a:latin typeface="Malgun Gothic"/>
                <a:ea typeface="Malgun Gothic"/>
              </a:rPr>
              <a:t>•  덕분에 나머지 테이블스페이스는 계속 서비스</a:t>
            </a:r>
          </a:p>
          <a:p>
            <a:pPr>
              <a:spcAft>
                <a:spcPts val="600"/>
              </a:spcAft>
            </a:pPr>
            <a:r>
              <a:rPr sz="1600" b="0">
                <a:solidFill>
                  <a:srgbClr val="5A6672"/>
                </a:solidFill>
                <a:latin typeface="Malgun Gothic"/>
                <a:ea typeface="Malgun Gothic"/>
              </a:rPr>
              <a:t>    –  손상 범위가 그 파일에 든 객체로 제한됨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무중단 복구 절차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OFFLINE → 복원 → RECOVER → ONLINE</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TABLESPACE users OFFLINE IMMEDIATE;</a:t>
            </a:r>
          </a:p>
          <a:p>
            <a:pPr>
              <a:spcAft>
                <a:spcPts val="0"/>
              </a:spcAft>
            </a:pPr>
            <a:r>
              <a:rPr sz="1250" b="0">
                <a:solidFill>
                  <a:srgbClr val="E6E6E6"/>
                </a:solidFill>
                <a:latin typeface="Consolas"/>
                <a:ea typeface="Consolas"/>
              </a:rPr>
              <a:t>Tablespace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!cp -p /home/oracle/backup/ch08/users01.dbf /u01/app/oracle/oradata/orcl/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SET AUTORECOVERY ON</a:t>
            </a:r>
          </a:p>
          <a:p>
            <a:pPr>
              <a:spcAft>
                <a:spcPts val="0"/>
              </a:spcAft>
            </a:pPr>
            <a:r>
              <a:rPr sz="1250" b="0">
                <a:solidFill>
                  <a:srgbClr val="E6E6E6"/>
                </a:solidFill>
                <a:latin typeface="Consolas"/>
                <a:ea typeface="Consolas"/>
              </a:rPr>
              <a:t>SYS@orcl&gt; RECOVER TABLESPACE users;</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TABLESPACE users ONLINE;</a:t>
            </a:r>
          </a:p>
          <a:p>
            <a:pPr>
              <a:spcAft>
                <a:spcPts val="0"/>
              </a:spcAft>
            </a:pPr>
            <a:r>
              <a:rPr sz="1250" b="0">
                <a:solidFill>
                  <a:srgbClr val="E6E6E6"/>
                </a:solidFill>
                <a:latin typeface="Consolas"/>
                <a:ea typeface="Consolas"/>
              </a:rPr>
              <a:t>Tablespace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COUNT(*) FROM hr.emp81;</a:t>
            </a:r>
          </a:p>
          <a:p>
            <a:pPr>
              <a:spcAft>
                <a:spcPts val="0"/>
              </a:spcAft>
            </a:pPr>
            <a:r>
              <a:rPr sz="1250" b="0">
                <a:solidFill>
                  <a:srgbClr val="E6E6E6"/>
                </a:solidFill>
                <a:latin typeface="Consolas"/>
                <a:ea typeface="Consolas"/>
              </a:rPr>
              <a:t>  COUNT(*)</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1000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데이터베이스를 한 번도 내리지 않았다.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데이터파일 단위 복구와 예외</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TS에 파일이 여러 개면 파일 단위로 처리해 영향을 줄임</a:t>
            </a:r>
          </a:p>
          <a:p>
            <a:pPr>
              <a:spcAft>
                <a:spcPts val="600"/>
              </a:spcAft>
            </a:pPr>
            <a:r>
              <a:rPr sz="1600" b="0">
                <a:solidFill>
                  <a:srgbClr val="5A6672"/>
                </a:solidFill>
                <a:latin typeface="Malgun Gothic"/>
                <a:ea typeface="Malgun Gothic"/>
              </a:rPr>
              <a:t>    –  ALTER DATABASE DATAFILE n OFFLINE → 복원 → RECOVER DATAFILE n → ONLINE</a:t>
            </a:r>
          </a:p>
          <a:p>
            <a:pPr>
              <a:spcAft>
                <a:spcPts val="600"/>
              </a:spcAft>
            </a:pPr>
            <a:r>
              <a:rPr sz="1600" b="0">
                <a:solidFill>
                  <a:srgbClr val="5A6672"/>
                </a:solidFill>
                <a:latin typeface="Malgun Gothic"/>
                <a:ea typeface="Malgun Gothic"/>
              </a:rPr>
              <a:t>    –  dba_extents 를 FILE_ID로 조회해 영향 객체를 미리 파악</a:t>
            </a:r>
          </a:p>
          <a:p>
            <a:pPr>
              <a:spcAft>
                <a:spcPts val="600"/>
              </a:spcAft>
            </a:pPr>
            <a:r>
              <a:rPr sz="1800" b="0">
                <a:solidFill>
                  <a:srgbClr val="202830"/>
                </a:solidFill>
                <a:latin typeface="Malgun Gothic"/>
                <a:ea typeface="Malgun Gothic"/>
              </a:rPr>
              <a:t>•  ARCHIVELOG에서는 OFFLINE DROP이 아니라 그냥 OFFLINE</a:t>
            </a:r>
          </a:p>
          <a:p>
            <a:pPr>
              <a:spcAft>
                <a:spcPts val="600"/>
              </a:spcAft>
            </a:pPr>
            <a:r>
              <a:rPr sz="1800" b="0">
                <a:solidFill>
                  <a:srgbClr val="202830"/>
                </a:solidFill>
                <a:latin typeface="Malgun Gothic"/>
                <a:ea typeface="Malgun Gothic"/>
              </a:rPr>
              <a:t>•  SYSTEM은 OFFLINE 불가 — ORA-01541, MOUNT에서 처리</a:t>
            </a:r>
          </a:p>
          <a:p>
            <a:pPr>
              <a:spcAft>
                <a:spcPts val="600"/>
              </a:spcAft>
            </a:pPr>
            <a:r>
              <a:rPr sz="1800" b="0">
                <a:solidFill>
                  <a:srgbClr val="202830"/>
                </a:solidFill>
                <a:latin typeface="Malgun Gothic"/>
                <a:ea typeface="Malgun Gothic"/>
              </a:rPr>
              <a:t>•  UNDO는 사실상 불가 — 떼어 내면 새 트랜잭션 불가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실무 사례 — 무중단 복구가 만드는 차이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야간 배치 중 사용자 TS의 데이터파일 하나가 스토리지 오류로 유실</a:t>
            </a:r>
          </a:p>
          <a:p>
            <a:pPr>
              <a:spcAft>
                <a:spcPts val="600"/>
              </a:spcAft>
            </a:pPr>
            <a:r>
              <a:rPr sz="1600" b="0">
                <a:solidFill>
                  <a:srgbClr val="5A6672"/>
                </a:solidFill>
                <a:latin typeface="Malgun Gothic"/>
                <a:ea typeface="Malgun Gothic"/>
              </a:rPr>
              <a:t>    –  NOARCHIVELOG였다면 DB를 내리고 전체를 확인해야 했음</a:t>
            </a:r>
          </a:p>
          <a:p>
            <a:pPr>
              <a:spcAft>
                <a:spcPts val="600"/>
              </a:spcAft>
            </a:pPr>
            <a:r>
              <a:rPr sz="1800" b="0">
                <a:solidFill>
                  <a:srgbClr val="202830"/>
                </a:solidFill>
                <a:latin typeface="Malgun Gothic"/>
                <a:ea typeface="Malgun Gothic"/>
              </a:rPr>
              <a:t>•  ARCHIVELOG라 해당 TS만 OFFLINE 하고 복원·복구 후 ONLINE</a:t>
            </a:r>
          </a:p>
          <a:p>
            <a:pPr>
              <a:spcAft>
                <a:spcPts val="600"/>
              </a:spcAft>
            </a:pPr>
            <a:r>
              <a:rPr sz="1600" b="0">
                <a:solidFill>
                  <a:srgbClr val="5A6672"/>
                </a:solidFill>
                <a:latin typeface="Malgun Gothic"/>
                <a:ea typeface="Malgun Gothic"/>
              </a:rPr>
              <a:t>    –  다른 업무는 영향 없음, 총 소요 12분</a:t>
            </a:r>
          </a:p>
          <a:p>
            <a:pPr>
              <a:spcAft>
                <a:spcPts val="600"/>
              </a:spcAft>
            </a:pPr>
            <a:r>
              <a:rPr sz="1800" b="0">
                <a:solidFill>
                  <a:srgbClr val="202830"/>
                </a:solidFill>
                <a:latin typeface="Malgun Gothic"/>
                <a:ea typeface="Malgun Gothic"/>
              </a:rPr>
              <a:t>•  같은 장애가 두 모드에서 전혀 다른 사건이 된다</a:t>
            </a:r>
          </a:p>
          <a:p>
            <a:pPr>
              <a:spcAft>
                <a:spcPts val="600"/>
              </a:spcAft>
            </a:pPr>
            <a:r>
              <a:rPr sz="1600" b="0">
                <a:solidFill>
                  <a:srgbClr val="5A6672"/>
                </a:solidFill>
                <a:latin typeface="Malgun Gothic"/>
                <a:ea typeface="Malgun Gothic"/>
              </a:rPr>
              <a:t>    –  아카이브 모드 전환의 가장 설득력 있는 근거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8.3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오프라인 테이블스페이스의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OFFLINE NORMAL은 헤더 SCN이 고정된 상태다</a:t>
            </a:r>
          </a:p>
          <a:p>
            <a:pPr>
              <a:spcAft>
                <a:spcPts val="600"/>
              </a:spcAft>
            </a:pPr>
            <a:r>
              <a:rPr sz="1600" b="0">
                <a:solidFill>
                  <a:srgbClr val="C5CED6"/>
                </a:solidFill>
                <a:latin typeface="Malgun Gothic"/>
                <a:ea typeface="Malgun Gothic"/>
              </a:rPr>
              <a:t>•  복원만으로 끝나는 경우가 있다</a:t>
            </a:r>
          </a:p>
          <a:p>
            <a:pPr>
              <a:spcAft>
                <a:spcPts val="600"/>
              </a:spcAft>
            </a:pPr>
            <a:r>
              <a:rPr sz="1600" b="0">
                <a:solidFill>
                  <a:srgbClr val="C5CED6"/>
                </a:solidFill>
                <a:latin typeface="Malgun Gothic"/>
                <a:ea typeface="Malgun Gothic"/>
              </a:rPr>
              <a:t>•  OFFLINE IMMEDIATE는 반드시 복구가 필요하다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두 OFFLINE의 차이</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NORMAL vs IMMEDIATE</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TABLESPACE hist OFFLINE NORMAL;</a:t>
            </a:r>
          </a:p>
          <a:p>
            <a:pPr>
              <a:spcAft>
                <a:spcPts val="0"/>
              </a:spcAft>
            </a:pPr>
            <a:r>
              <a:rPr sz="1250" b="0">
                <a:solidFill>
                  <a:srgbClr val="E6E6E6"/>
                </a:solidFill>
                <a:latin typeface="Consolas"/>
                <a:ea typeface="Consolas"/>
              </a:rPr>
              <a:t>SYS@orcl&gt; SELECT file#, checkpoint_change#, status FROM v$datafile WHERE file# = 10;</a:t>
            </a:r>
          </a:p>
          <a:p>
            <a:pPr>
              <a:spcAft>
                <a:spcPts val="0"/>
              </a:spcAft>
            </a:pPr>
            <a:r>
              <a:rPr sz="1250" b="0">
                <a:solidFill>
                  <a:srgbClr val="E6E6E6"/>
                </a:solidFill>
                <a:latin typeface="Consolas"/>
                <a:ea typeface="Consolas"/>
              </a:rPr>
              <a:t>     FILE# CHECKPOINT_CHANGE# STATUS</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10            2402880 OFFLINE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 FROM v$recover_file WHERE file# = 10;</a:t>
            </a:r>
          </a:p>
          <a:p>
            <a:pPr>
              <a:spcAft>
                <a:spcPts val="0"/>
              </a:spcAft>
            </a:pPr>
            <a:r>
              <a:rPr sz="1250" b="0">
                <a:solidFill>
                  <a:srgbClr val="E6E6E6"/>
                </a:solidFill>
                <a:latin typeface="Consolas"/>
                <a:ea typeface="Consolas"/>
              </a:rPr>
              <a:t>no rows selected</a:t>
            </a:r>
          </a:p>
          <a:p>
            <a:pPr>
              <a:spcAft>
                <a:spcPts val="0"/>
              </a:spcAft>
            </a:pPr>
            <a:r>
              <a:rPr sz="1250" b="0">
                <a:solidFill>
                  <a:srgbClr val="7EC699"/>
                </a:solidFill>
                <a:latin typeface="Consolas"/>
                <a:ea typeface="Consolas"/>
              </a:rPr>
              <a:t>-- 복구 대상이 아니다.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TABLESPACE hist ONLINE;</a:t>
            </a:r>
          </a:p>
          <a:p>
            <a:pPr>
              <a:spcAft>
                <a:spcPts val="0"/>
              </a:spcAft>
            </a:pPr>
            <a:r>
              <a:rPr sz="1250" b="0">
                <a:solidFill>
                  <a:srgbClr val="E6E6E6"/>
                </a:solidFill>
                <a:latin typeface="Consolas"/>
                <a:ea typeface="Consolas"/>
              </a:rPr>
              <a:t>SYS@orcl&gt; ALTER TABLESPACE hist OFFLINE IMMEDIATE;</a:t>
            </a:r>
          </a:p>
          <a:p>
            <a:pPr>
              <a:spcAft>
                <a:spcPts val="0"/>
              </a:spcAft>
            </a:pPr>
            <a:r>
              <a:rPr sz="1250" b="0">
                <a:solidFill>
                  <a:srgbClr val="E6E6E6"/>
                </a:solidFill>
                <a:latin typeface="Consolas"/>
                <a:ea typeface="Consolas"/>
              </a:rPr>
              <a:t>SYS@orcl&gt; SELECT file#, change# FROM v$recover_file WHERE file# = 10;</a:t>
            </a:r>
          </a:p>
          <a:p>
            <a:pPr>
              <a:spcAft>
                <a:spcPts val="0"/>
              </a:spcAft>
            </a:pPr>
            <a:r>
              <a:rPr sz="1250" b="0">
                <a:solidFill>
                  <a:srgbClr val="E6E6E6"/>
                </a:solidFill>
                <a:latin typeface="Consolas"/>
                <a:ea typeface="Consolas"/>
              </a:rPr>
              <a:t>     FILE#     CHANGE#</a:t>
            </a:r>
          </a:p>
          <a:p>
            <a:pPr>
              <a:spcAft>
                <a:spcPts val="0"/>
              </a:spcAft>
            </a:pPr>
            <a:r>
              <a:rPr sz="1250" b="0">
                <a:solidFill>
                  <a:srgbClr val="7EC699"/>
                </a:solidFill>
                <a:latin typeface="Consolas"/>
                <a:ea typeface="Consolas"/>
              </a:rPr>
              <a:t>---------- -----------</a:t>
            </a:r>
          </a:p>
          <a:p>
            <a:pPr>
              <a:spcAft>
                <a:spcPts val="0"/>
              </a:spcAft>
            </a:pPr>
            <a:r>
              <a:rPr sz="1250" b="0">
                <a:solidFill>
                  <a:srgbClr val="E6E6E6"/>
                </a:solidFill>
                <a:latin typeface="Consolas"/>
                <a:ea typeface="Consolas"/>
              </a:rPr>
              <a:t>        10     2402940</a:t>
            </a:r>
          </a:p>
          <a:p>
            <a:pPr>
              <a:spcAft>
                <a:spcPts val="0"/>
              </a:spcAft>
            </a:pPr>
            <a:r>
              <a:rPr sz="1250" b="0">
                <a:solidFill>
                  <a:srgbClr val="7EC699"/>
                </a:solidFill>
                <a:latin typeface="Consolas"/>
                <a:ea typeface="Consolas"/>
              </a:rPr>
              <a:t>-- 즉시 복구 대상이 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오프라인 TS 복구 절차와 판정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이미 OFFLINE이므로 내리는 단계가 없다</a:t>
            </a:r>
          </a:p>
          <a:p>
            <a:pPr>
              <a:spcAft>
                <a:spcPts val="600"/>
              </a:spcAft>
            </a:pPr>
            <a:r>
              <a:rPr sz="1600" b="0">
                <a:solidFill>
                  <a:srgbClr val="5A6672"/>
                </a:solidFill>
                <a:latin typeface="Malgun Gothic"/>
                <a:ea typeface="Malgun Gothic"/>
              </a:rPr>
              <a:t>    –  복원 → v$recover_file 확인 → 필요 시 RECOVER → ONLINE</a:t>
            </a:r>
          </a:p>
          <a:p>
            <a:pPr>
              <a:spcAft>
                <a:spcPts val="600"/>
              </a:spcAft>
            </a:pPr>
            <a:r>
              <a:rPr sz="1800" b="0">
                <a:solidFill>
                  <a:srgbClr val="202830"/>
                </a:solidFill>
                <a:latin typeface="Malgun Gothic"/>
                <a:ea typeface="Malgun Gothic"/>
              </a:rPr>
              <a:t>•  복구 필요 여부는 v$recover_file 로 판단</a:t>
            </a:r>
          </a:p>
          <a:p>
            <a:pPr>
              <a:spcAft>
                <a:spcPts val="600"/>
              </a:spcAft>
            </a:pPr>
            <a:r>
              <a:rPr sz="1600" b="0">
                <a:solidFill>
                  <a:srgbClr val="5A6672"/>
                </a:solidFill>
                <a:latin typeface="Malgun Gothic"/>
                <a:ea typeface="Malgun Gothic"/>
              </a:rPr>
              <a:t>    –  나오지 않으면 복원만으로 SCN이 맞은 것</a:t>
            </a:r>
          </a:p>
          <a:p>
            <a:pPr>
              <a:spcAft>
                <a:spcPts val="600"/>
              </a:spcAft>
            </a:pPr>
            <a:r>
              <a:rPr sz="1800" b="0">
                <a:solidFill>
                  <a:srgbClr val="202830"/>
                </a:solidFill>
                <a:latin typeface="Malgun Gothic"/>
                <a:ea typeface="Malgun Gothic"/>
              </a:rPr>
              <a:t>•  ONLINE 성공이 곧 복구 완료의 증거</a:t>
            </a:r>
          </a:p>
          <a:p>
            <a:pPr>
              <a:spcAft>
                <a:spcPts val="600"/>
              </a:spcAft>
            </a:pPr>
            <a:r>
              <a:rPr sz="1600" b="0">
                <a:solidFill>
                  <a:srgbClr val="5A6672"/>
                </a:solidFill>
                <a:latin typeface="Malgun Gothic"/>
                <a:ea typeface="Malgun Gothic"/>
              </a:rPr>
              <a:t>    –  헤더 SCN이 컨트롤파일 기대값과 맞아야 통과</a:t>
            </a:r>
          </a:p>
          <a:p>
            <a:pPr>
              <a:spcAft>
                <a:spcPts val="600"/>
              </a:spcAft>
            </a:pPr>
            <a:r>
              <a:rPr sz="1600" b="0">
                <a:solidFill>
                  <a:srgbClr val="5A6672"/>
                </a:solidFill>
                <a:latin typeface="Malgun Gothic"/>
                <a:ea typeface="Malgun Gothic"/>
              </a:rPr>
              <a:t>    –  ORA-01113이면 미디어 복구, ORA-01190이면 인카네이션 불일치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8.4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여러 데이터파일이 손상된 경우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MOUNT 상태에서 RECOVER DATABASE 로 일괄 처리</a:t>
            </a:r>
          </a:p>
          <a:p>
            <a:pPr>
              <a:spcAft>
                <a:spcPts val="600"/>
              </a:spcAft>
            </a:pPr>
            <a:r>
              <a:rPr sz="1600" b="0">
                <a:solidFill>
                  <a:srgbClr val="C5CED6"/>
                </a:solidFill>
                <a:latin typeface="Malgun Gothic"/>
                <a:ea typeface="Malgun Gothic"/>
              </a:rPr>
              <a:t>•  복구 시간은 적용할 아카이브 양에 비례한다</a:t>
            </a:r>
          </a:p>
          <a:p>
            <a:pPr>
              <a:spcAft>
                <a:spcPts val="600"/>
              </a:spcAft>
            </a:pPr>
            <a:r>
              <a:rPr sz="1600" b="0">
                <a:solidFill>
                  <a:srgbClr val="C5CED6"/>
                </a:solidFill>
                <a:latin typeface="Malgun Gothic"/>
                <a:ea typeface="Malgun Gothic"/>
              </a:rPr>
              <a:t>•  부분 오픈 전략으로 RTO를 업무 단위로 쪼갤 수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MOUNT 단계 일괄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RECOVER DATABASE</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error, change# FROM v$recover_file;</a:t>
            </a:r>
          </a:p>
          <a:p>
            <a:pPr>
              <a:spcAft>
                <a:spcPts val="0"/>
              </a:spcAft>
            </a:pPr>
            <a:r>
              <a:rPr sz="1250" b="0">
                <a:solidFill>
                  <a:srgbClr val="E6E6E6"/>
                </a:solidFill>
                <a:latin typeface="Consolas"/>
                <a:ea typeface="Consolas"/>
              </a:rPr>
              <a:t>     FILE# ERROR                    CHANGE#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3 FILE NOT FOUND                 0</a:t>
            </a:r>
          </a:p>
          <a:p>
            <a:pPr>
              <a:spcAft>
                <a:spcPts val="0"/>
              </a:spcAft>
            </a:pPr>
            <a:r>
              <a:rPr sz="1250" b="0">
                <a:solidFill>
                  <a:srgbClr val="E6E6E6"/>
                </a:solidFill>
                <a:latin typeface="Consolas"/>
                <a:ea typeface="Consolas"/>
              </a:rPr>
              <a:t>         7 FILE NOT FOUND                 0</a:t>
            </a:r>
          </a:p>
          <a:p>
            <a:pPr>
              <a:spcAft>
                <a:spcPts val="0"/>
              </a:spcAft>
            </a:pPr>
            <a:r>
              <a:rPr sz="1250" b="0">
                <a:solidFill>
                  <a:srgbClr val="E6E6E6"/>
                </a:solidFill>
                <a:latin typeface="Consolas"/>
                <a:ea typeface="Consolas"/>
              </a:rPr>
              <a:t>         8 FILE NOT FOUND                 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!cp -p /home/oracle/backup/ch08/sysaux01.dbf \</a:t>
            </a:r>
          </a:p>
          <a:p>
            <a:pPr>
              <a:spcAft>
                <a:spcPts val="0"/>
              </a:spcAft>
            </a:pPr>
            <a:r>
              <a:rPr sz="1250" b="0">
                <a:solidFill>
                  <a:srgbClr val="E6E6E6"/>
                </a:solidFill>
                <a:latin typeface="Consolas"/>
                <a:ea typeface="Consolas"/>
              </a:rPr>
              <a:t>                 /home/oracle/backup/ch08/users01.dbf \</a:t>
            </a:r>
          </a:p>
          <a:p>
            <a:pPr>
              <a:spcAft>
                <a:spcPts val="0"/>
              </a:spcAft>
            </a:pPr>
            <a:r>
              <a:rPr sz="1250" b="0">
                <a:solidFill>
                  <a:srgbClr val="E6E6E6"/>
                </a:solidFill>
                <a:latin typeface="Consolas"/>
                <a:ea typeface="Consolas"/>
              </a:rPr>
              <a:t>                 /home/oracle/backup/ch08/users02.dbf /u01/app/oracle/oradata/orcl/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SET AUTORECOVERY ON</a:t>
            </a:r>
          </a:p>
          <a:p>
            <a:pPr>
              <a:spcAft>
                <a:spcPts val="0"/>
              </a:spcAft>
            </a:pPr>
            <a:r>
              <a:rPr sz="1250" b="0">
                <a:solidFill>
                  <a:srgbClr val="E6E6E6"/>
                </a:solidFill>
                <a:latin typeface="Consolas"/>
                <a:ea typeface="Consolas"/>
              </a:rPr>
              <a:t>SYS@orcl&gt; RECOVER DATABASE;</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SYS@orcl&gt; ALTER DATABASE OPEN;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시간과 부분 오픈 전략</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복구 시간은 적용할 아카이브 양에 비례</a:t>
            </a:r>
          </a:p>
          <a:p>
            <a:pPr>
              <a:spcAft>
                <a:spcPts val="600"/>
              </a:spcAft>
            </a:pPr>
            <a:r>
              <a:rPr sz="1600" b="0">
                <a:solidFill>
                  <a:srgbClr val="5A6672"/>
                </a:solidFill>
                <a:latin typeface="Malgun Gothic"/>
                <a:ea typeface="Malgun Gothic"/>
              </a:rPr>
              <a:t>    –  백업이 오래될수록 길어짐 → 백업 주기가 RTO를 결정</a:t>
            </a:r>
          </a:p>
          <a:p>
            <a:pPr>
              <a:spcAft>
                <a:spcPts val="600"/>
              </a:spcAft>
            </a:pPr>
            <a:r>
              <a:rPr sz="1600" b="0">
                <a:solidFill>
                  <a:srgbClr val="5A6672"/>
                </a:solidFill>
                <a:latin typeface="Malgun Gothic"/>
                <a:ea typeface="Malgun Gothic"/>
              </a:rPr>
              <a:t>    –  v$recovery_progress 로 진행 상황과 예상 시간 확인</a:t>
            </a:r>
          </a:p>
          <a:p>
            <a:pPr>
              <a:spcAft>
                <a:spcPts val="600"/>
              </a:spcAft>
            </a:pPr>
            <a:r>
              <a:rPr sz="1800" b="0">
                <a:solidFill>
                  <a:srgbClr val="202830"/>
                </a:solidFill>
                <a:latin typeface="Malgun Gothic"/>
                <a:ea typeface="Malgun Gothic"/>
              </a:rPr>
              <a:t>•  부분 오픈 전략 — RTO를 업무 단위로 쪼갬</a:t>
            </a:r>
          </a:p>
          <a:p>
            <a:pPr>
              <a:spcAft>
                <a:spcPts val="600"/>
              </a:spcAft>
            </a:pPr>
            <a:r>
              <a:rPr sz="1600" b="0">
                <a:solidFill>
                  <a:srgbClr val="5A6672"/>
                </a:solidFill>
                <a:latin typeface="Malgun Gothic"/>
                <a:ea typeface="Malgun Gothic"/>
              </a:rPr>
              <a:t>    –  MOUNT에서 나중에 복구할 파일을 OFFLINE</a:t>
            </a:r>
          </a:p>
          <a:p>
            <a:pPr>
              <a:spcAft>
                <a:spcPts val="600"/>
              </a:spcAft>
            </a:pPr>
            <a:r>
              <a:rPr sz="1600" b="0">
                <a:solidFill>
                  <a:srgbClr val="5A6672"/>
                </a:solidFill>
                <a:latin typeface="Malgun Gothic"/>
                <a:ea typeface="Malgun Gothic"/>
              </a:rPr>
              <a:t>    –  핵심 파일만 복구하고 OPEN → 열린 뒤 나머지 순차 복구</a:t>
            </a:r>
          </a:p>
          <a:p>
            <a:pPr>
              <a:spcAft>
                <a:spcPts val="600"/>
              </a:spcAft>
            </a:pPr>
            <a:r>
              <a:rPr sz="1600" b="0">
                <a:solidFill>
                  <a:srgbClr val="5A6672"/>
                </a:solidFill>
                <a:latin typeface="Malgun Gothic"/>
                <a:ea typeface="Malgun Gothic"/>
              </a:rPr>
              <a:t>    –  SYSTEM·UNDO에는 쓸 수 없음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진행 상황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v$recovery_progress</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type, item, units, sofar, total</a:t>
            </a:r>
          </a:p>
          <a:p>
            <a:pPr>
              <a:spcAft>
                <a:spcPts val="0"/>
              </a:spcAft>
            </a:pPr>
            <a:r>
              <a:rPr sz="1250" b="0">
                <a:solidFill>
                  <a:srgbClr val="E6E6E6"/>
                </a:solidFill>
                <a:latin typeface="Consolas"/>
                <a:ea typeface="Consolas"/>
              </a:rPr>
              <a:t>  2  FROM   v$recovery_progress WHERE item IN ('Redo Blocks','Redo Applied');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TYPE            ITEM          UNITS       SOFAR      TOTAL</a:t>
            </a:r>
          </a:p>
          <a:p>
            <a:pPr>
              <a:spcAft>
                <a:spcPts val="0"/>
              </a:spcAft>
            </a:pPr>
            <a:r>
              <a:rPr sz="1250" b="0">
                <a:solidFill>
                  <a:srgbClr val="7EC699"/>
                </a:solidFill>
                <a:latin typeface="Consolas"/>
                <a:ea typeface="Consolas"/>
              </a:rPr>
              <a:t>--------------- ------------- ------- ---------- ----------</a:t>
            </a:r>
          </a:p>
          <a:p>
            <a:pPr>
              <a:spcAft>
                <a:spcPts val="0"/>
              </a:spcAft>
            </a:pPr>
            <a:r>
              <a:rPr sz="1250" b="0">
                <a:solidFill>
                  <a:srgbClr val="E6E6E6"/>
                </a:solidFill>
                <a:latin typeface="Consolas"/>
                <a:ea typeface="Consolas"/>
              </a:rPr>
              <a:t>Media Recovery  Redo Blocks   Blocks      184320     420000</a:t>
            </a:r>
          </a:p>
          <a:p>
            <a:pPr>
              <a:spcAft>
                <a:spcPts val="0"/>
              </a:spcAft>
            </a:pPr>
            <a:r>
              <a:rPr sz="1250" b="0">
                <a:solidFill>
                  <a:srgbClr val="E6E6E6"/>
                </a:solidFill>
                <a:latin typeface="Consolas"/>
                <a:ea typeface="Consolas"/>
              </a:rPr>
              <a:t>Media Recovery  Redo Applied  Megabytes       90        205</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SHOW PARAMETER recovery_parallelism</a:t>
            </a:r>
          </a:p>
          <a:p>
            <a:pPr>
              <a:spcAft>
                <a:spcPts val="0"/>
              </a:spcAft>
            </a:pPr>
            <a:r>
              <a:rPr sz="1250" b="0">
                <a:solidFill>
                  <a:srgbClr val="E6E6E6"/>
                </a:solidFill>
                <a:latin typeface="Consolas"/>
                <a:ea typeface="Consolas"/>
              </a:rPr>
              <a:t>NAME                    TYPE      VALUE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recovery_parallelism    integer   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-- 0이면 Oracle이 CPU 수에 맞춰 자동 결정</a:t>
            </a:r>
          </a:p>
          <a:p>
            <a:pPr>
              <a:spcAft>
                <a:spcPts val="0"/>
              </a:spcAft>
            </a:pPr>
            <a:r>
              <a:rPr sz="1250" b="0">
                <a:solidFill>
                  <a:srgbClr val="7EC699"/>
                </a:solidFill>
                <a:latin typeface="Consolas"/>
                <a:ea typeface="Consolas"/>
              </a:rPr>
              <a:t>-- 명시 지정 : RECOVER DATABASE PARALLEL 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8.5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백업이 없는 데이터파일의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빈 파일을 만들고 처음부터 리두를 적용한다</a:t>
            </a:r>
          </a:p>
          <a:p>
            <a:pPr>
              <a:spcAft>
                <a:spcPts val="600"/>
              </a:spcAft>
            </a:pPr>
            <a:r>
              <a:rPr sz="1600" b="0">
                <a:solidFill>
                  <a:srgbClr val="C5CED6"/>
                </a:solidFill>
                <a:latin typeface="Malgun Gothic"/>
                <a:ea typeface="Malgun Gothic"/>
              </a:rPr>
              <a:t>•  파일 생성 이후 아카이브가 모두 있어야 성립한다</a:t>
            </a:r>
          </a:p>
          <a:p>
            <a:pPr>
              <a:spcAft>
                <a:spcPts val="600"/>
              </a:spcAft>
            </a:pPr>
            <a:r>
              <a:rPr sz="1600" b="0">
                <a:solidFill>
                  <a:srgbClr val="C5CED6"/>
                </a:solidFill>
                <a:latin typeface="Malgun Gothic"/>
                <a:ea typeface="Malgun Gothic"/>
              </a:rPr>
              <a:t>•  NOLOGGING 세그먼트는 복구되지 않는다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CREATE DATAFILE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빈 파일 → 리두 적용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file#, name, creation_change# FROM v$datafile</a:t>
            </a:r>
          </a:p>
          <a:p>
            <a:pPr>
              <a:spcAft>
                <a:spcPts val="0"/>
              </a:spcAft>
            </a:pPr>
            <a:r>
              <a:rPr sz="1250" b="0">
                <a:solidFill>
                  <a:srgbClr val="E6E6E6"/>
                </a:solidFill>
                <a:latin typeface="Consolas"/>
                <a:ea typeface="Consolas"/>
              </a:rPr>
              <a:t>  2  WHERE name LIKE '%tbs01%';</a:t>
            </a:r>
          </a:p>
          <a:p>
            <a:pPr>
              <a:spcAft>
                <a:spcPts val="0"/>
              </a:spcAft>
            </a:pPr>
            <a:r>
              <a:rPr sz="1250" b="0">
                <a:solidFill>
                  <a:srgbClr val="E6E6E6"/>
                </a:solidFill>
                <a:latin typeface="Consolas"/>
                <a:ea typeface="Consolas"/>
              </a:rPr>
              <a:t>     FILE# NAME                                   CREATION_CHANGE#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11 /u01/app/oracle/oradata/orcl/tbs01.dbf          2404180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TABLESPACE tbs01 OFFLINE IMMEDIATE;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CREATE DATAFILE 11</a:t>
            </a:r>
          </a:p>
          <a:p>
            <a:pPr>
              <a:spcAft>
                <a:spcPts val="0"/>
              </a:spcAft>
            </a:pPr>
            <a:r>
              <a:rPr sz="1250" b="0">
                <a:solidFill>
                  <a:srgbClr val="E6E6E6"/>
                </a:solidFill>
                <a:latin typeface="Consolas"/>
                <a:ea typeface="Consolas"/>
              </a:rPr>
              <a:t>  2  AS '/u01/app/oracle/oradata/orcl/tbs01.dbf';</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SET AUTORECOVERY ON</a:t>
            </a:r>
          </a:p>
          <a:p>
            <a:pPr>
              <a:spcAft>
                <a:spcPts val="0"/>
              </a:spcAft>
            </a:pPr>
            <a:r>
              <a:rPr sz="1250" b="0">
                <a:solidFill>
                  <a:srgbClr val="E6E6E6"/>
                </a:solidFill>
                <a:latin typeface="Consolas"/>
                <a:ea typeface="Consolas"/>
              </a:rPr>
              <a:t>SYS@orcl&gt; RECOVER TABLESPACE tbs01;</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SYS@orcl&gt; ALTER TABLESPACE tbs01 ONLINE;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제약과 NOLOGGING</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제약 1 — 파일 생성 이후 아카이브가 모두 있어야 함</a:t>
            </a:r>
          </a:p>
          <a:p>
            <a:pPr>
              <a:spcAft>
                <a:spcPts val="600"/>
              </a:spcAft>
            </a:pPr>
            <a:r>
              <a:rPr sz="1600" b="0">
                <a:solidFill>
                  <a:srgbClr val="5A6672"/>
                </a:solidFill>
                <a:latin typeface="Malgun Gothic"/>
                <a:ea typeface="Malgun Gothic"/>
              </a:rPr>
              <a:t>    –  하나라도 빠지면 그 지점에서 복구가 멈춤</a:t>
            </a:r>
          </a:p>
          <a:p>
            <a:pPr>
              <a:spcAft>
                <a:spcPts val="600"/>
              </a:spcAft>
            </a:pPr>
            <a:r>
              <a:rPr sz="1800" b="0">
                <a:solidFill>
                  <a:srgbClr val="202830"/>
                </a:solidFill>
                <a:latin typeface="Malgun Gothic"/>
                <a:ea typeface="Malgun Gothic"/>
              </a:rPr>
              <a:t>•  제약 2 — NOLOGGING 세그먼트는 복구되지 않음</a:t>
            </a:r>
          </a:p>
          <a:p>
            <a:pPr>
              <a:spcAft>
                <a:spcPts val="600"/>
              </a:spcAft>
            </a:pPr>
            <a:r>
              <a:rPr sz="1600" b="0">
                <a:solidFill>
                  <a:srgbClr val="5A6672"/>
                </a:solidFill>
                <a:latin typeface="Malgun Gothic"/>
                <a:ea typeface="Malgun Gothic"/>
              </a:rPr>
              <a:t>    –  리두가 생성되지 않았으므로 재현할 내용이 없음</a:t>
            </a:r>
          </a:p>
          <a:p>
            <a:pPr>
              <a:spcAft>
                <a:spcPts val="600"/>
              </a:spcAft>
            </a:pPr>
            <a:r>
              <a:rPr sz="1600" b="0">
                <a:solidFill>
                  <a:srgbClr val="5A6672"/>
                </a:solidFill>
                <a:latin typeface="Malgun Gothic"/>
                <a:ea typeface="Malgun Gothic"/>
              </a:rPr>
              <a:t>    –  복구 후 블록을 읽을 때 ORA-01578 또는 ORA-26040</a:t>
            </a:r>
          </a:p>
          <a:p>
            <a:pPr>
              <a:spcAft>
                <a:spcPts val="600"/>
              </a:spcAft>
            </a:pPr>
            <a:r>
              <a:rPr sz="1800" b="0">
                <a:solidFill>
                  <a:srgbClr val="202830"/>
                </a:solidFill>
                <a:latin typeface="Malgun Gothic"/>
                <a:ea typeface="Malgun Gothic"/>
              </a:rPr>
              <a:t>•  대책 — NOLOGGING 작업 직후 해당 TS 백업, 또는 FORCE LOGGING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8.6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새 위치로 복구하기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RENAME FILE 은 파일을 옮기지 않고 경로만 갱신한다</a:t>
            </a:r>
          </a:p>
          <a:p>
            <a:pPr>
              <a:spcAft>
                <a:spcPts val="600"/>
              </a:spcAft>
            </a:pPr>
            <a:r>
              <a:rPr sz="1600" b="0">
                <a:solidFill>
                  <a:srgbClr val="C5CED6"/>
                </a:solidFill>
                <a:latin typeface="Malgun Gothic"/>
                <a:ea typeface="Malgun Gothic"/>
              </a:rPr>
              <a:t>•  복원 → RENAME → RECOVER 순서를 지킨다</a:t>
            </a:r>
          </a:p>
          <a:p>
            <a:pPr>
              <a:spcAft>
                <a:spcPts val="600"/>
              </a:spcAft>
            </a:pPr>
            <a:r>
              <a:rPr sz="1600" b="0">
                <a:solidFill>
                  <a:srgbClr val="C5CED6"/>
                </a:solidFill>
                <a:latin typeface="Malgun Gothic"/>
                <a:ea typeface="Malgun Gothic"/>
              </a:rPr>
              <a:t>•  MOVE DATAFILE 은 온라인 이동용이며 손상 파일에는 못 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RENAME FILE 절차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복원 → RENAME → RECOVER → ONLINE</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TABLESPACE users OFFLINE IMMEDIATE;</a:t>
            </a:r>
          </a:p>
          <a:p>
            <a:pPr>
              <a:spcAft>
                <a:spcPts val="0"/>
              </a:spcAft>
            </a:pPr>
            <a:r>
              <a:rPr sz="1250" b="0">
                <a:solidFill>
                  <a:srgbClr val="E6E6E6"/>
                </a:solidFill>
                <a:latin typeface="Consolas"/>
                <a:ea typeface="Consolas"/>
              </a:rPr>
              <a:t>SYS@orcl&gt; !mkdir -p /u02/oradata/orcl</a:t>
            </a:r>
          </a:p>
          <a:p>
            <a:pPr>
              <a:spcAft>
                <a:spcPts val="0"/>
              </a:spcAft>
            </a:pPr>
            <a:r>
              <a:rPr sz="1250" b="0">
                <a:solidFill>
                  <a:srgbClr val="E6E6E6"/>
                </a:solidFill>
                <a:latin typeface="Consolas"/>
                <a:ea typeface="Consolas"/>
              </a:rPr>
              <a:t>SYS@orcl&gt; !cp -p /home/oracle/backup/ch08/users01.dbf /u02/oradata/orcl/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RENAME FILE</a:t>
            </a:r>
          </a:p>
          <a:p>
            <a:pPr>
              <a:spcAft>
                <a:spcPts val="0"/>
              </a:spcAft>
            </a:pPr>
            <a:r>
              <a:rPr sz="1250" b="0">
                <a:solidFill>
                  <a:srgbClr val="E6E6E6"/>
                </a:solidFill>
                <a:latin typeface="Consolas"/>
                <a:ea typeface="Consolas"/>
              </a:rPr>
              <a:t>  2    '/u01/app/oracle/oradata/orcl/users01.dbf'</a:t>
            </a:r>
          </a:p>
          <a:p>
            <a:pPr>
              <a:spcAft>
                <a:spcPts val="0"/>
              </a:spcAft>
            </a:pPr>
            <a:r>
              <a:rPr sz="1250" b="0">
                <a:solidFill>
                  <a:srgbClr val="E6E6E6"/>
                </a:solidFill>
                <a:latin typeface="Consolas"/>
                <a:ea typeface="Consolas"/>
              </a:rPr>
              <a:t>  3  TO '/u02/oradata/orcl/users01.dbf';</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SET AUTORECOVERY ON</a:t>
            </a:r>
          </a:p>
          <a:p>
            <a:pPr>
              <a:spcAft>
                <a:spcPts val="0"/>
              </a:spcAft>
            </a:pPr>
            <a:r>
              <a:rPr sz="1250" b="0">
                <a:solidFill>
                  <a:srgbClr val="E6E6E6"/>
                </a:solidFill>
                <a:latin typeface="Consolas"/>
                <a:ea typeface="Consolas"/>
              </a:rPr>
              <a:t>SYS@orcl&gt; RECOVER TABLESPACE users;</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SYS@orcl&gt; ALTER TABLESPACE users ONLINE;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MOVE DATAFILE 과 경로 변경 후 확인</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ALTER DATABASE MOVE DATAFILE — 12c부터, 온라인으로 실제 이동</a:t>
            </a:r>
          </a:p>
          <a:p>
            <a:pPr>
              <a:spcAft>
                <a:spcPts val="600"/>
              </a:spcAft>
            </a:pPr>
            <a:r>
              <a:rPr sz="1600" b="0">
                <a:solidFill>
                  <a:srgbClr val="5A6672"/>
                </a:solidFill>
                <a:latin typeface="Malgun Gothic"/>
                <a:ea typeface="Malgun Gothic"/>
              </a:rPr>
              <a:t>    –  OFFLINE 불필요, 서비스 중단 없음</a:t>
            </a:r>
          </a:p>
          <a:p>
            <a:pPr>
              <a:spcAft>
                <a:spcPts val="600"/>
              </a:spcAft>
            </a:pPr>
            <a:r>
              <a:rPr sz="1600" b="0">
                <a:solidFill>
                  <a:srgbClr val="5A6672"/>
                </a:solidFill>
                <a:latin typeface="Malgun Gothic"/>
                <a:ea typeface="Malgun Gothic"/>
              </a:rPr>
              <a:t>    –  손상된 파일에는 쓸 수 없음 — 읽을 수 없기 때문</a:t>
            </a:r>
          </a:p>
          <a:p>
            <a:pPr>
              <a:spcAft>
                <a:spcPts val="600"/>
              </a:spcAft>
            </a:pPr>
            <a:r>
              <a:rPr sz="1600" b="0">
                <a:solidFill>
                  <a:srgbClr val="5A6672"/>
                </a:solidFill>
                <a:latin typeface="Malgun Gothic"/>
                <a:ea typeface="Malgun Gothic"/>
              </a:rPr>
              <a:t>    –  KEEP 붙이면 원본 유지, 생략하면 삭제</a:t>
            </a:r>
          </a:p>
          <a:p>
            <a:pPr>
              <a:spcAft>
                <a:spcPts val="600"/>
              </a:spcAft>
            </a:pPr>
            <a:r>
              <a:rPr sz="1800" b="0">
                <a:solidFill>
                  <a:srgbClr val="202830"/>
                </a:solidFill>
                <a:latin typeface="Malgun Gothic"/>
                <a:ea typeface="Malgun Gothic"/>
              </a:rPr>
              <a:t>•  경로 변경 후 함께 손볼 것</a:t>
            </a:r>
          </a:p>
          <a:p>
            <a:pPr>
              <a:spcAft>
                <a:spcPts val="600"/>
              </a:spcAft>
            </a:pPr>
            <a:r>
              <a:rPr sz="1600" b="0">
                <a:solidFill>
                  <a:srgbClr val="5A6672"/>
                </a:solidFill>
                <a:latin typeface="Malgun Gothic"/>
                <a:ea typeface="Malgun Gothic"/>
              </a:rPr>
              <a:t>    –  백업 스크립트 · 컨트롤파일 백업 · 매니페스트 · 모니터링 대상</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8.7</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읽기 전용 테이블스페이스와 부분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읽기 전용은 복원만으로 끝나는 경우가 있다</a:t>
            </a:r>
          </a:p>
          <a:p>
            <a:pPr>
              <a:spcAft>
                <a:spcPts val="600"/>
              </a:spcAft>
            </a:pPr>
            <a:r>
              <a:rPr sz="1600" b="0">
                <a:solidFill>
                  <a:srgbClr val="C5CED6"/>
                </a:solidFill>
                <a:latin typeface="Malgun Gothic"/>
                <a:ea typeface="Malgun Gothic"/>
              </a:rPr>
              <a:t>•  여러 파일 중 하나만 손상되면 파일 단위로 처리한다</a:t>
            </a:r>
          </a:p>
          <a:p>
            <a:pPr>
              <a:spcAft>
                <a:spcPts val="600"/>
              </a:spcAft>
            </a:pPr>
            <a:r>
              <a:rPr sz="1600" b="0">
                <a:solidFill>
                  <a:srgbClr val="C5CED6"/>
                </a:solidFill>
                <a:latin typeface="Malgun Gothic"/>
                <a:ea typeface="Malgun Gothic"/>
              </a:rPr>
              <a:t>•  부분 처리는 사용자에게 '되다 안 되다'로 보인다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읽기 전용 복구와 부분 손상 처리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READ ONLY 전환 시 헤더 SCN 고정 → 이후 리두 없음</a:t>
            </a:r>
          </a:p>
          <a:p>
            <a:pPr>
              <a:spcAft>
                <a:spcPts val="600"/>
              </a:spcAft>
            </a:pPr>
            <a:r>
              <a:rPr sz="1600" b="0">
                <a:solidFill>
                  <a:srgbClr val="5A6672"/>
                </a:solidFill>
                <a:latin typeface="Malgun Gothic"/>
                <a:ea typeface="Malgun Gothic"/>
              </a:rPr>
              <a:t>    –  전환 이후 백업본이면 복원만으로 완료, v$recover_file 에 안 나옴</a:t>
            </a:r>
          </a:p>
          <a:p>
            <a:pPr>
              <a:spcAft>
                <a:spcPts val="600"/>
              </a:spcAft>
            </a:pPr>
            <a:r>
              <a:rPr sz="1600" b="0">
                <a:solidFill>
                  <a:srgbClr val="5A6672"/>
                </a:solidFill>
                <a:latin typeface="Malgun Gothic"/>
                <a:ea typeface="Malgun Gothic"/>
              </a:rPr>
              <a:t>    –  전환 이전 백업본이면 전환 시점까지 아카이브 적용</a:t>
            </a:r>
          </a:p>
          <a:p>
            <a:pPr>
              <a:spcAft>
                <a:spcPts val="600"/>
              </a:spcAft>
            </a:pPr>
            <a:r>
              <a:rPr sz="1800" b="0">
                <a:solidFill>
                  <a:srgbClr val="202830"/>
                </a:solidFill>
                <a:latin typeface="Malgun Gothic"/>
                <a:ea typeface="Malgun Gothic"/>
              </a:rPr>
              <a:t>•  여러 파일 중 하나만 손상 — 파일 단위 OFFLINE</a:t>
            </a:r>
          </a:p>
          <a:p>
            <a:pPr>
              <a:spcAft>
                <a:spcPts val="600"/>
              </a:spcAft>
            </a:pPr>
            <a:r>
              <a:rPr sz="1600" b="0">
                <a:solidFill>
                  <a:srgbClr val="5A6672"/>
                </a:solidFill>
                <a:latin typeface="Malgun Gothic"/>
                <a:ea typeface="Malgun Gothic"/>
              </a:rPr>
              <a:t>    –  dba_extents 로 영향 객체를 먼저 파악</a:t>
            </a:r>
          </a:p>
          <a:p>
            <a:pPr>
              <a:spcAft>
                <a:spcPts val="600"/>
              </a:spcAft>
            </a:pPr>
            <a:r>
              <a:rPr sz="1600" b="0">
                <a:solidFill>
                  <a:srgbClr val="5A6672"/>
                </a:solidFill>
                <a:latin typeface="Malgun Gothic"/>
                <a:ea typeface="Malgun Gothic"/>
              </a:rPr>
              <a:t>    –  파티션·인덱스가 걸쳐 있으면 부분 접근이 실패</a:t>
            </a:r>
          </a:p>
          <a:p>
            <a:pPr>
              <a:spcAft>
                <a:spcPts val="600"/>
              </a:spcAft>
            </a:pPr>
            <a:r>
              <a:rPr sz="1800" b="0">
                <a:solidFill>
                  <a:srgbClr val="202830"/>
                </a:solidFill>
                <a:latin typeface="Malgun Gothic"/>
                <a:ea typeface="Malgun Gothic"/>
              </a:rPr>
              <a:t>•  영향 범위를 먼저 공지하는 편이 실제로는 빠른 대응</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후 검증 세트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네 단계 확인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 FROM v$recover_file;</a:t>
            </a:r>
          </a:p>
          <a:p>
            <a:pPr>
              <a:spcAft>
                <a:spcPts val="0"/>
              </a:spcAft>
            </a:pPr>
            <a:r>
              <a:rPr sz="1250" b="0">
                <a:solidFill>
                  <a:srgbClr val="E6E6E6"/>
                </a:solidFill>
                <a:latin typeface="Consolas"/>
                <a:ea typeface="Consolas"/>
              </a:rPr>
              <a:t>no rows selected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status, COUNT(*) FROM v$datafile GROUP BY status;</a:t>
            </a:r>
          </a:p>
          <a:p>
            <a:pPr>
              <a:spcAft>
                <a:spcPts val="0"/>
              </a:spcAft>
            </a:pPr>
            <a:r>
              <a:rPr sz="1250" b="0">
                <a:solidFill>
                  <a:srgbClr val="E6E6E6"/>
                </a:solidFill>
                <a:latin typeface="Consolas"/>
                <a:ea typeface="Consolas"/>
              </a:rPr>
              <a:t>STATUS    COUNT(*)</a:t>
            </a:r>
          </a:p>
          <a:p>
            <a:pPr>
              <a:spcAft>
                <a:spcPts val="0"/>
              </a:spcAft>
            </a:pPr>
            <a:r>
              <a:rPr sz="1250" b="0">
                <a:solidFill>
                  <a:srgbClr val="7EC699"/>
                </a:solidFill>
                <a:latin typeface="Consolas"/>
                <a:ea typeface="Consolas"/>
              </a:rPr>
              <a:t>------- ----------</a:t>
            </a:r>
          </a:p>
          <a:p>
            <a:pPr>
              <a:spcAft>
                <a:spcPts val="0"/>
              </a:spcAft>
            </a:pPr>
            <a:r>
              <a:rPr sz="1250" b="0">
                <a:solidFill>
                  <a:srgbClr val="E6E6E6"/>
                </a:solidFill>
                <a:latin typeface="Consolas"/>
                <a:ea typeface="Consolas"/>
              </a:rPr>
              <a:t>ONLINE           5</a:t>
            </a:r>
          </a:p>
          <a:p>
            <a:pPr>
              <a:spcAft>
                <a:spcPts val="0"/>
              </a:spcAft>
            </a:pPr>
            <a:r>
              <a:rPr sz="1250" b="0">
                <a:solidFill>
                  <a:srgbClr val="E6E6E6"/>
                </a:solidFill>
                <a:latin typeface="Consolas"/>
                <a:ea typeface="Consolas"/>
              </a:rPr>
              <a:t>SYSTEM           1</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COUNT(*) FROM hr.emp81;</a:t>
            </a:r>
          </a:p>
          <a:p>
            <a:pPr>
              <a:spcAft>
                <a:spcPts val="0"/>
              </a:spcAft>
            </a:pPr>
            <a:r>
              <a:rPr sz="1250" b="0">
                <a:solidFill>
                  <a:srgbClr val="E6E6E6"/>
                </a:solidFill>
                <a:latin typeface="Consolas"/>
                <a:ea typeface="Consolas"/>
              </a:rPr>
              <a:t>      1000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SYSTEM ARCHIVE LOG CURRENT;</a:t>
            </a:r>
          </a:p>
          <a:p>
            <a:pPr>
              <a:spcAft>
                <a:spcPts val="0"/>
              </a:spcAft>
            </a:pPr>
            <a:r>
              <a:rPr sz="1250" b="0">
                <a:solidFill>
                  <a:srgbClr val="E6E6E6"/>
                </a:solidFill>
                <a:latin typeface="Consolas"/>
                <a:ea typeface="Consolas"/>
              </a:rPr>
              <a:t>SYS@orcl&gt; SELECT sequence#, status FROM v$archived_log</a:t>
            </a:r>
          </a:p>
          <a:p>
            <a:pPr>
              <a:spcAft>
                <a:spcPts val="0"/>
              </a:spcAft>
            </a:pPr>
            <a:r>
              <a:rPr sz="1250" b="0">
                <a:solidFill>
                  <a:srgbClr val="E6E6E6"/>
                </a:solidFill>
                <a:latin typeface="Consolas"/>
                <a:ea typeface="Consolas"/>
              </a:rPr>
              <a:t>  2  ORDER BY sequence# DESC FETCH FIRST 2 ROWS ONLY;</a:t>
            </a:r>
          </a:p>
          <a:p>
            <a:pPr>
              <a:spcAft>
                <a:spcPts val="0"/>
              </a:spcAft>
            </a:pPr>
            <a:r>
              <a:rPr sz="1250" b="0">
                <a:solidFill>
                  <a:srgbClr val="E6E6E6"/>
                </a:solidFill>
                <a:latin typeface="Consolas"/>
                <a:ea typeface="Consolas"/>
              </a:rPr>
              <a:t>        24 A</a:t>
            </a:r>
          </a:p>
          <a:p>
            <a:pPr>
              <a:spcAft>
                <a:spcPts val="0"/>
              </a:spcAft>
            </a:pPr>
            <a:r>
              <a:rPr sz="1250" b="0">
                <a:solidFill>
                  <a:srgbClr val="E6E6E6"/>
                </a:solidFill>
                <a:latin typeface="Consolas"/>
                <a:ea typeface="Consolas"/>
              </a:rPr>
              <a:t>        23 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장애 유형 → 복구 전략 판단표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OFFLINE 가능 여부 × 백업본 유무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상황                        | OFFLINE | 백업본 | 조치                            | 중단</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일반 TS 데이터파일 손상     | 가능    | 있음   | OFFLINE → 복원 → RECOVER → ON   | 없음</a:t>
            </a:r>
          </a:p>
          <a:p>
            <a:pPr>
              <a:spcAft>
                <a:spcPts val="0"/>
              </a:spcAft>
            </a:pPr>
            <a:r>
              <a:rPr sz="1250" b="0">
                <a:solidFill>
                  <a:srgbClr val="E6E6E6"/>
                </a:solidFill>
                <a:latin typeface="Consolas"/>
                <a:ea typeface="Consolas"/>
              </a:rPr>
              <a:t>일반 TS, 백업본 없음        | 가능    | 없음   | CREATE DATAFILE → RECOVER       | 없음</a:t>
            </a:r>
          </a:p>
          <a:p>
            <a:pPr>
              <a:spcAft>
                <a:spcPts val="0"/>
              </a:spcAft>
            </a:pPr>
            <a:r>
              <a:rPr sz="1250" b="0">
                <a:solidFill>
                  <a:srgbClr val="E6E6E6"/>
                </a:solidFill>
                <a:latin typeface="Consolas"/>
                <a:ea typeface="Consolas"/>
              </a:rPr>
              <a:t>원래 위치 사용 불가         | 가능    | 있음   | 새 위치 복원 → RENAME → RECOVER | 없음</a:t>
            </a:r>
          </a:p>
          <a:p>
            <a:pPr>
              <a:spcAft>
                <a:spcPts val="0"/>
              </a:spcAft>
            </a:pPr>
            <a:r>
              <a:rPr sz="1250" b="0">
                <a:solidFill>
                  <a:srgbClr val="E6E6E6"/>
                </a:solidFill>
                <a:latin typeface="Consolas"/>
                <a:ea typeface="Consolas"/>
              </a:rPr>
              <a:t>여러 DF 중 하나만           | 가능    | 있음   | DATAFILE 단위 OFFLINE → 복구    | 부분</a:t>
            </a:r>
          </a:p>
          <a:p>
            <a:pPr>
              <a:spcAft>
                <a:spcPts val="0"/>
              </a:spcAft>
            </a:pPr>
            <a:r>
              <a:rPr sz="1250" b="0">
                <a:solidFill>
                  <a:srgbClr val="E6E6E6"/>
                </a:solidFill>
                <a:latin typeface="Consolas"/>
                <a:ea typeface="Consolas"/>
              </a:rPr>
              <a:t>오프라인 TS 손상            | 이미    | 있음   | 복원 → 필요 시 RECOVER → ON     | 없음</a:t>
            </a:r>
          </a:p>
          <a:p>
            <a:pPr>
              <a:spcAft>
                <a:spcPts val="0"/>
              </a:spcAft>
            </a:pPr>
            <a:r>
              <a:rPr sz="1250" b="0">
                <a:solidFill>
                  <a:srgbClr val="E6E6E6"/>
                </a:solidFill>
                <a:latin typeface="Consolas"/>
                <a:ea typeface="Consolas"/>
              </a:rPr>
              <a:t>읽기 전용 TS 손상           | 가능    | 있음   | 복원만으로 완료                  | 없음</a:t>
            </a:r>
          </a:p>
          <a:p>
            <a:pPr>
              <a:spcAft>
                <a:spcPts val="0"/>
              </a:spcAft>
            </a:pPr>
            <a:r>
              <a:rPr sz="1250" b="0">
                <a:solidFill>
                  <a:srgbClr val="E6E6E6"/>
                </a:solidFill>
                <a:latin typeface="Consolas"/>
                <a:ea typeface="Consolas"/>
              </a:rPr>
              <a:t>SYSTEM · UNDO 손상          | 불가    | 있음   | MOUNT → 복원 → RECOVER → OPEN   | 전면</a:t>
            </a:r>
          </a:p>
          <a:p>
            <a:pPr>
              <a:spcAft>
                <a:spcPts val="0"/>
              </a:spcAft>
            </a:pPr>
            <a:r>
              <a:rPr sz="1250" b="0">
                <a:solidFill>
                  <a:srgbClr val="E6E6E6"/>
                </a:solidFill>
                <a:latin typeface="Consolas"/>
                <a:ea typeface="Consolas"/>
              </a:rPr>
              <a:t>필요한 아카이브 결손        | 무관    | 있음   | 불완전 복구로 전환(10장)         | 전면</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무중단 복구의 조건</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데이터베이스를 연 채로 데이터파일을 복구하려면 무엇이 선행되어야 하는가?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아카이브 모드 해제</a:t>
            </a:r>
          </a:p>
          <a:p>
            <a:pPr>
              <a:spcAft>
                <a:spcPts val="800"/>
              </a:spcAft>
            </a:pPr>
            <a:r>
              <a:rPr sz="1700" b="0">
                <a:solidFill>
                  <a:srgbClr val="202830"/>
                </a:solidFill>
                <a:latin typeface="Malgun Gothic"/>
                <a:ea typeface="Malgun Gothic"/>
              </a:rPr>
              <a:t>대상 테이블스페이스 또는 파일을 OFFLINE 으로 내리는 것</a:t>
            </a:r>
          </a:p>
          <a:p>
            <a:pPr>
              <a:spcAft>
                <a:spcPts val="800"/>
              </a:spcAft>
            </a:pPr>
            <a:r>
              <a:rPr sz="1700" b="0">
                <a:solidFill>
                  <a:srgbClr val="202830"/>
                </a:solidFill>
                <a:latin typeface="Malgun Gothic"/>
                <a:ea typeface="Malgun Gothic"/>
              </a:rPr>
              <a:t>RESETLOGS 수행</a:t>
            </a:r>
          </a:p>
          <a:p>
            <a:pPr>
              <a:spcAft>
                <a:spcPts val="800"/>
              </a:spcAft>
            </a:pPr>
            <a:r>
              <a:rPr sz="1700" b="0">
                <a:solidFill>
                  <a:srgbClr val="202830"/>
                </a:solidFill>
                <a:latin typeface="Malgun Gothic"/>
                <a:ea typeface="Malgun Gothic"/>
              </a:rPr>
              <a:t>컨트롤파일 재생성</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백업 없는 파일의 복구</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백업 이후 생성된 테이블스페이스의 데이터파일이 손상되었다. 복구 방법은?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복구 불가, 테이블스페이스를 버린다</a:t>
            </a:r>
          </a:p>
          <a:p>
            <a:pPr>
              <a:spcAft>
                <a:spcPts val="800"/>
              </a:spcAft>
            </a:pPr>
            <a:r>
              <a:rPr sz="1700" b="0">
                <a:solidFill>
                  <a:srgbClr val="202830"/>
                </a:solidFill>
                <a:latin typeface="Malgun Gothic"/>
                <a:ea typeface="Malgun Gothic"/>
              </a:rPr>
              <a:t>CREATE DATAFILE 로 빈 파일을 만들고 리두를 적용한다</a:t>
            </a:r>
          </a:p>
          <a:p>
            <a:pPr>
              <a:spcAft>
                <a:spcPts val="800"/>
              </a:spcAft>
            </a:pPr>
            <a:r>
              <a:rPr sz="1700" b="0">
                <a:solidFill>
                  <a:srgbClr val="202830"/>
                </a:solidFill>
                <a:latin typeface="Malgun Gothic"/>
                <a:ea typeface="Malgun Gothic"/>
              </a:rPr>
              <a:t>전체 복원</a:t>
            </a:r>
          </a:p>
          <a:p>
            <a:pPr>
              <a:spcAft>
                <a:spcPts val="800"/>
              </a:spcAft>
            </a:pPr>
            <a:r>
              <a:rPr sz="1700" b="0">
                <a:solidFill>
                  <a:srgbClr val="202830"/>
                </a:solidFill>
                <a:latin typeface="Malgun Gothic"/>
                <a:ea typeface="Malgun Gothic"/>
              </a:rPr>
              <a:t>OFFLINE DROP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새 위치로 복구</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원래 디스크를 쓸 수 없어 다른 위치로 복원했다. 이후 필요한 명령은?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ALTER DATABASE MOVE DATAFILE</a:t>
            </a:r>
          </a:p>
          <a:p>
            <a:pPr>
              <a:spcAft>
                <a:spcPts val="800"/>
              </a:spcAft>
            </a:pPr>
            <a:r>
              <a:rPr sz="1700" b="0">
                <a:solidFill>
                  <a:srgbClr val="202830"/>
                </a:solidFill>
                <a:latin typeface="Malgun Gothic"/>
                <a:ea typeface="Malgun Gothic"/>
              </a:rPr>
              <a:t>ALTER DATABASE RENAME FILE</a:t>
            </a:r>
          </a:p>
          <a:p>
            <a:pPr>
              <a:spcAft>
                <a:spcPts val="800"/>
              </a:spcAft>
            </a:pPr>
            <a:r>
              <a:rPr sz="1700" b="0">
                <a:solidFill>
                  <a:srgbClr val="202830"/>
                </a:solidFill>
                <a:latin typeface="Malgun Gothic"/>
                <a:ea typeface="Malgun Gothic"/>
              </a:rPr>
              <a:t>ALTER TABLESPACE ADD DATAFILE</a:t>
            </a:r>
          </a:p>
          <a:p>
            <a:pPr>
              <a:spcAft>
                <a:spcPts val="800"/>
              </a:spcAft>
            </a:pPr>
            <a:r>
              <a:rPr sz="1700" b="0">
                <a:solidFill>
                  <a:srgbClr val="202830"/>
                </a:solidFill>
                <a:latin typeface="Malgun Gothic"/>
                <a:ea typeface="Malgun Gothic"/>
              </a:rPr>
              <a:t>ALTER DATABASE CREATE DATAFILE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아카이브는 복구 범위를 보관 기간까지 넓혀 백업 주기와의 관계를 끊는다</a:t>
            </a:r>
          </a:p>
          <a:p>
            <a:pPr>
              <a:spcAft>
                <a:spcPts val="600"/>
              </a:spcAft>
            </a:pPr>
            <a:r>
              <a:rPr sz="1800" b="0">
                <a:solidFill>
                  <a:srgbClr val="202830"/>
                </a:solidFill>
                <a:latin typeface="Malgun Gothic"/>
                <a:ea typeface="Malgun Gothic"/>
              </a:rPr>
              <a:t>•  완전 복구는 백업본 · 끊김 없는 리두 · 컨트롤파일 세 가지로 성립</a:t>
            </a:r>
          </a:p>
          <a:p>
            <a:pPr>
              <a:spcAft>
                <a:spcPts val="600"/>
              </a:spcAft>
            </a:pPr>
            <a:r>
              <a:rPr sz="1800" b="0">
                <a:solidFill>
                  <a:srgbClr val="202830"/>
                </a:solidFill>
                <a:latin typeface="Malgun Gothic"/>
                <a:ea typeface="Malgun Gothic"/>
              </a:rPr>
              <a:t>•  OFFLINE → 복원 → RECOVER → ONLINE 이 무중단 복구의 표준</a:t>
            </a:r>
          </a:p>
          <a:p>
            <a:pPr>
              <a:spcAft>
                <a:spcPts val="600"/>
              </a:spcAft>
            </a:pPr>
            <a:r>
              <a:rPr sz="1800" b="0">
                <a:solidFill>
                  <a:srgbClr val="202830"/>
                </a:solidFill>
                <a:latin typeface="Malgun Gothic"/>
                <a:ea typeface="Malgun Gothic"/>
              </a:rPr>
              <a:t>•  복구 명령은 세 단위이고 데이터베이스 상태가 선택을 제한한다</a:t>
            </a:r>
          </a:p>
          <a:p>
            <a:pPr>
              <a:spcAft>
                <a:spcPts val="600"/>
              </a:spcAft>
            </a:pPr>
            <a:r>
              <a:rPr sz="1800" b="0">
                <a:solidFill>
                  <a:srgbClr val="202830"/>
                </a:solidFill>
                <a:latin typeface="Malgun Gothic"/>
                <a:ea typeface="Malgun Gothic"/>
              </a:rPr>
              <a:t>•  백업본이 없어도 CREATE DATAFILE 로 되살릴 수 있다</a:t>
            </a:r>
          </a:p>
          <a:p>
            <a:pPr>
              <a:spcAft>
                <a:spcPts val="600"/>
              </a:spcAft>
            </a:pPr>
            <a:r>
              <a:rPr sz="1800" b="0">
                <a:solidFill>
                  <a:srgbClr val="202830"/>
                </a:solidFill>
                <a:latin typeface="Malgun Gothic"/>
                <a:ea typeface="Malgun Gothic"/>
              </a:rPr>
              <a:t>•  다른 위치로 복원했다면 RENAME FILE 로 경로를 갱신한다</a:t>
            </a:r>
          </a:p>
          <a:p>
            <a:pPr>
              <a:spcAft>
                <a:spcPts val="600"/>
              </a:spcAft>
            </a:pPr>
            <a:r>
              <a:rPr sz="1800" b="0">
                <a:solidFill>
                  <a:srgbClr val="202830"/>
                </a:solidFill>
                <a:latin typeface="Malgun Gothic"/>
                <a:ea typeface="Malgun Gothic"/>
              </a:rPr>
              <a:t>•  모든 절차의 전제는 아카이브 연속성이다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8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실습 8-1  운영 중 데이터파일 손상 — 무중단 복구</a:t>
            </a:r>
          </a:p>
          <a:p>
            <a:pPr>
              <a:spcAft>
                <a:spcPts val="600"/>
              </a:spcAft>
            </a:pPr>
            <a:r>
              <a:rPr sz="1800" b="0">
                <a:solidFill>
                  <a:srgbClr val="202830"/>
                </a:solidFill>
                <a:latin typeface="Malgun Gothic"/>
                <a:ea typeface="Malgun Gothic"/>
              </a:rPr>
              <a:t>•  실습 8-2  오프라인 테이블스페이스의 데이터파일 손상</a:t>
            </a:r>
          </a:p>
          <a:p>
            <a:pPr>
              <a:spcAft>
                <a:spcPts val="600"/>
              </a:spcAft>
            </a:pPr>
            <a:r>
              <a:rPr sz="1800" b="0">
                <a:solidFill>
                  <a:srgbClr val="202830"/>
                </a:solidFill>
                <a:latin typeface="Malgun Gothic"/>
                <a:ea typeface="Malgun Gothic"/>
              </a:rPr>
              <a:t>•  실습 8-3  정상 종료 후 여러 데이터파일 손상</a:t>
            </a:r>
          </a:p>
          <a:p>
            <a:pPr>
              <a:spcAft>
                <a:spcPts val="600"/>
              </a:spcAft>
            </a:pPr>
            <a:r>
              <a:rPr sz="1800" b="0">
                <a:solidFill>
                  <a:srgbClr val="202830"/>
                </a:solidFill>
                <a:latin typeface="Malgun Gothic"/>
                <a:ea typeface="Malgun Gothic"/>
              </a:rPr>
              <a:t>•  실습 8-4  백업 받지 않은 테이블스페이스의 복구</a:t>
            </a:r>
          </a:p>
          <a:p>
            <a:pPr>
              <a:spcAft>
                <a:spcPts val="600"/>
              </a:spcAft>
            </a:pPr>
            <a:r>
              <a:rPr sz="1800" b="0">
                <a:solidFill>
                  <a:srgbClr val="202830"/>
                </a:solidFill>
                <a:latin typeface="Malgun Gothic"/>
                <a:ea typeface="Malgun Gothic"/>
              </a:rPr>
              <a:t>•  실습 8-5  백업 없는 테이블스페이스를 새 위치로 복구</a:t>
            </a:r>
          </a:p>
          <a:p>
            <a:pPr>
              <a:spcAft>
                <a:spcPts val="600"/>
              </a:spcAft>
            </a:pPr>
            <a:r>
              <a:rPr sz="1800" b="0">
                <a:solidFill>
                  <a:srgbClr val="202830"/>
                </a:solidFill>
                <a:latin typeface="Malgun Gothic"/>
                <a:ea typeface="Malgun Gothic"/>
              </a:rPr>
              <a:t>•  실습 8-6  데이터파일을 새 위치로 복구 — RENAME FILE</a:t>
            </a:r>
          </a:p>
          <a:p>
            <a:pPr>
              <a:spcAft>
                <a:spcPts val="600"/>
              </a:spcAft>
            </a:pPr>
            <a:r>
              <a:rPr sz="1800" b="0">
                <a:solidFill>
                  <a:srgbClr val="202830"/>
                </a:solidFill>
                <a:latin typeface="Malgun Gothic"/>
                <a:ea typeface="Malgun Gothic"/>
              </a:rPr>
              <a:t>•  실습 8-7  여러 파일 중 하나만 손상 / 실습 8-8  읽기 전용 TS 복구</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ARCHIVELOG 모드와 아카이브 대상을 먼저 확인하고, 실습 전 Hot Backup 또는 Cold Backup을 받아 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
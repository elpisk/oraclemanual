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8~12장에서 손으로 한 복구를 RMAN 명령으로 다시 수행한다. 판정 흐름은 그대로이고 명령만 바뀐다는 점을 확인하는 것이 이 장의 핵심이다. 무엇을 어디까지 복구할지는 여전히 사람이 정한다. 14장에서 만든 백업이 이 장 실습의 전제이며 실습이 열 개로 이 과정에서 가장 많다. 실습이 열 개로 이 과정에서 가장 많으므로 이론은 압축하고 실습에 시간을 크게 배분한다. 8~12장 실습과 짝을 이룬다.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목표가 8~12장의 시나리오와 하나씩 대응된다. 같은 장애를 두 방식으로 처리해 보면 무엇이 자동화되고 무엇이 사람의 몫으로 남는지 분명해진다. 명령의 수는 줄었지만 판단할 것은 그대로라는 점이 이 장의 결론이다. 여섯 목표가 8~12장의 시나리오와 하나씩 대응된다는 점을 먼저 짚어 준다. 같은 장애를 두 방식으로 처리해 본다. 명령 수를 비교해 기록해 두면 결론이 수치로 남는다.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절이 손상 범위를 넓혀 가는 순서로 배열되어 있다. 8~12장과 같은 구조이며 각 절이 그 장들과 짝을 이룬다. 15.5절의 인카네이션 되돌리기가 User Managed 방식과 가장 크게 갈리는 지점이다. 실습이 열 개이므로 이론은 압축하고 실습에 시간을 크게 배분한다. 15.5절의 인카네이션이 가장 큰 차이다. 각 절이 8~12장의 해당 장과 짝을 이룬다는 점을 함께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15.1절은 이 장 전체의 틀을 세운다. 명령은 두 개뿐이고 상태별 제약도 단순하다. 중요한 것은 순서와 사전 확인이다. 장애 상황에서 무엇을 먼저 볼지 정해 두면 복구 시간이 크게 줄어든다. 8~12장의 판정 흐름이 그대로 쓰인다는 점도 확인한다. 장애 상황에서 무엇을 먼저 볼지 정해 두면 복구 시간이 크게 줄어든다. 사전 확인이 이 절의 요지다. 명령은 두 개뿐이고 상태별 제약도 단순하다는 점을 먼저 말한다.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RMAN이 자동화하는 것은 판별과 탐색이다. 어느 백업 조각을 쓸지, 어느 아카이브가 필요한지를 리포지터리에서 찾는다. 복구 지점과 손실 범위 판단은 여전히 사람의 몫이며 그 판단의 근거가 8~12장에서 배운 내용이다. 두 명령의 역할을 구분하면 상황에 따라 하나만 쓰는 판단도 자연스럽게 나온다. 두 명령의 역할을 구분하면 하나만 쓰는 판단도 자연스럽게 나온다.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무중단 복구가 가능한 조건은 8장과 같다. SYSTEM과 UNDO는 OFFLINE으로 내릴 수 없어 전면 중단이 불가피하다. 이 판단이 현업 통보의 첫 내용이 되므로 진단 직후에 결정해야 한다. 상태 확인은 v$instance 의 STATUS 컬럼으로 한다. 이 판단이 현업 통보의 첫 내용이 되므로 진단 직후에 결정한다. v$instance의 STATUS로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두 줄이 특히 중요하다. 복구를 어느 SCN 이상까지 진행해야 일관성이 확보되는지 알려 준다. 불완전 복구를 계획할 때 이 값보다 앞선 지점은 선택할 수 없다. 야간에 PREVIEW 없이 복원을 시작했다가 필요한 백업이 테이프에만 있어 처음부터 다시 한 사례가 있다. PREVIEW는 몇 초면 끝나고 위험도 없다. PREVIEW는 몇 초면 끝나고 위험도 없다는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질문 중 앞의 두 개는 확인 방법까지 같다. 뒤의 두 개는 확인 수단이 명령 하나로 바뀌었을 뿐이다. 마지막 두 항목은 도구가 바뀌어도 사람의 판단으로 남는다. 그래서 이 장의 실습은 8~12장의 실습과 짝을 이룬다. 같은 장애를 두 방식으로 처리해 보면 명령의 수가 줄었을 뿐 판단할 것은 그대로라는 점을 확인하게 된다. 같은 장애를 두 방식으로 처리해 보면 차이가 분명해진다.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15.2절은 가장 자주 만나는 복구를 다룬다. 절차는 세 줄로 요약된다. OFFLINE으로 내리고 RESTORE와 RECOVER를 수행한 뒤 ONLINE으로 되돌린다. 8장에서 손으로 하던 절차와 순서가 같으며 복원 대상 판별과 아카이브 탐색만 사라졌다. 절차가 세 줄로 요약된다는 점을 먼저 말하고 세부로 들어간다. 8장의 절차와 순서가 같다. 복원 대상 판별과 아카이브 탐색만 사라졌을 뿐이다.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복원 경로를 지정하지 않아도 원래 위치로 되돌아간다. 어느 백업 조각을 읽을지도 RMAN이 정한다. 8장에서 백업본 경로를 찾아 cp 명령을 만들던 단계가 사라진 것이다. 테이블스페이스 단위로도 같은 절차를 쓰며 여러 파일이 속해 있으면 그쪽이 간편하다. RUN 블록으로 묶으면 네 명령이 한 번에 실행되어 실수가 줄어든다. 복원 경로를 지정하지 않아도 원래 위치로 돌아간다는 점이 편리하다.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SWITCH를 빠뜨리면 파일은 새 위치에 만들어졌지만 컨트롤파일은 옛 경로를 가리킨다. ONLINE 시도 시 파일을 찾지 못해 실패하므로 두 명령은 항상 짝으로 쓴다. %b 는 원래 파일명만 남기는 치환 문자이며 전체를 새 디스크로 옮길 때 명령이 크게 줄어든다. SET NEWNAME 은 RUN 블록 안에서만 쓸 수 있다는 점도 함께 기억한다. SET NEWNAME은 RUN 블록 안에서만 쓸 수 있다는 점도 함께 기억한다.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9장에서 손으로 한 절차와 비교하면 차이가 분명하다. 복원 대상 판별, 경로 지정, 아카이브 위치 입력이 모두 사라지고 명령 세 줄로 끝난다. 다만 내부에서 하는 일은 같다. UNDO도 같은 제약을 받는다. 활성 트랜잭션의 되돌리기 정보가 들어 있어 OFFLINE으로 내릴 수 없고 전면 중단이 불가피하다. 9장의 절차와 나란히 놓고 명령 수를 비교하면 차이가 분명하다.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대형 복구는 시간이 오래 걸려 진행 상황을 알아야 한다. RMAN 화면에는 단계별 시작과 종료만 표시되므로 별도 세션에서 성능 뷰로 확인한다. 진행률을 현업에 알리면 대기 부담이 크게 줄어든다. time_remaining 은 추정값이므로 여유를 두고 전달한다. 복구 훈련에서 이 값을 기록해 두면 실제 소요 시간의 근거가 된다. 복구 훈련에서 이 값을 기록해 두면 소요 시간의 근거가 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15.3절은 예외적인 상황을 다룬다. 백업을 받지 않은 파일, 일부 파일만 손상된 경우, 블록 단위 손상이 그것이다. 어느 경우든 판정 기준은 같다. 무엇이 손상되었고 무엇으로 되살릴 수 있는가다. 어느 경우든 판정 기준은 같다는 점을 절 초반에 확인한다. 무엇이 손상되었고 무엇으로 되살릴 수 있는가다. 백업 없는 파일, 일부 손상, 블록 손상 세 가지를 다룬다.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파일이 만들어진 시점부터의 아카이브가 하나도 빠지지 않아야 성립한다. NOLOGGING으로 적재된 데이터가 있으면 그 부분은 복구되지 않는다. 월 마감용 테이블스페이스를 만들고 백업을 다음 주기로 미뤘다가 디스크를 잃은 사례가 있다. 복구는 되었지만 NOLOGGING 적재분은 재적재가 필요했다. 구조를 바꾸면 즉시 백업한다는 원칙이 여기서도 확인된다. 구조를 바꾸면 즉시 백업한다는 원칙이 여기서도 확인된다.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RMAN은 복원 대상을 스스로 판별하기도 한다. RESTORE TABLESPACE 를 써도 이미 최신인 파일은 건너뛴다. 다만 판별 조건이 SCN이므로 안전을 위해 파일 단위 지정을 권한다. 복구 시간의 대부분은 복원과 적용이 차지하므로 이 네 가지가 개선 지점이다. v$rman_status 로 단계별 소요 시간을 측정해 두면 어디를 손볼지 드러난다. v$rman_status로 단계별 소요 시간을 측정해 두면 개선 지점이 드러난다.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15.4절은 6장과 11장의 컨트롤파일 복구에 대응한다. RMAN에서는 모든 경로에 자동으로 복원되므로 사본을 하나씩 복사하던 단계가 사라진다. 다만 카탈로그가 없으면 DBID가 필요하다는 점이 새로운 조건이다. 13장에서 %F 를 강조한 이유가 여기에서 드러난다. 13장에서 %F를 강조한 이유가 이 절에서 드러난다. 6장·11장의 컨트롤파일 복구에 대응한다.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CONTROL_FILES에 나열된 모든 경로에 자동으로 복원된다. 6장에서 경로마다 복사하고 하나를 빠뜨려 ORA-00205를 다시 만나던 일이 사라진다. DBID를 모르면 자동 백업 경로를 구성할 수 없으므로 매니페스트·절차서·파일명 세 곳에 남겨 둔다. 백업 컨트롤파일을 썼으므로 RESETLOGS는 강제된다. DBID를 매니페스트·절차서·파일명 세 곳에 남겨 둔다.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복원한 컨트롤파일은 백업 시점의 정보만 갖고 있어 그 이후의 백업을 모른다. 카탈로그가 있으면 자동으로 채워지고 없으면 CATALOG 명령으로 등록한다. RESETLOGS 후 전체 백업은 선택이 아니라 필수다. 새 인카네이션에는 아직 기준 백업이 없어 이 상태에서 장애가 나면 이전 인카네이션으로 되돌아가야 한다. RESETLOGS 후 전체 백업은 선택이 아니라 필수다.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spfile이 없으면 인스턴스를 올릴 수 없어 순서가 까다롭다. 최소한의 pfile로 인스턴스만 띄운 뒤 복원하고 다시 올리는 두 단계가 필요하다. 복구 순서는 spfile → 컨트롤파일 → 데이터파일이다. 이 절차는 16장에서 더 자세히 다루며 여기서는 순서만 확인한다. 복구 순서는 spfile → 컨트롤파일 → 데이터파일이다. 16장에서 더 자세히 다룬다.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15.5절은 10장에 대응한다. 기준과 경계 규칙이 그대로 쓰이므로 새로 배울 개념은 적다. 대신 RMAN만의 이점이 하나 있다. 인카네이션 이력을 관리하므로 RESETLOGS 이후에도 과거 시점으로 돌아갈 수 있다. User Managed 방식에서 매우 까다로웠던 작업이다. 기준과 경계 규칙이 10장 그대로이므로 새로 배울 개념은 적다. 인카네이션 되돌리기가 새로운 부분이다.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UNTIL 은 RESTORE에도 영향을 준다. 그 시점에 맞는 백업을 골라 복원하므로 RUN 블록 첫 줄에 두어야 한다. RESTORE를 먼저 수행하면 잘못된 백업이 선택될 수 있다. 경계 규칙은 10장과 같아서 SCN과 SEQUENCE는 지정한 값 직전까지 적용된다. 잘못된 작업을 되돌리려면 그 작업의 SCN을 그대로 지정하면 된다. 잘못된 작업의 SCN을 그대로 지정하면 그 직전까지 복구된다.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위험한 배치 작업 전에 복원 지점을 만들어 두면 시점 지정이 가장 간편해진다. SCN을 찾을 필요 없이 이름으로 지정한다. RESETLOGS 전에 READ ONLY로 열어 원하는 시점인지 확인하는 절차도 10장과 같다. 아니면 다른 시점으로 다시 시도할 수 있고 RESETLOGS를 수행하면 되돌릴 수 없다. 위험한 배치 작업 전에 복원 지점을 만드는 습관을 권한다.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RESETLOGS로 열고 나서 그 이전 시점이 필요해지는 일이 실제로 생긴다. 시점을 잘못 잡았거나 복구 후에야 문제가 드러나는 경우다. 10장에서는 이 상황이 매우 까다로웠지만 RMAN은 인카네이션 이력을 관리하므로 명령 한 줄로 처리된다. 카탈로그를 쓰면 이전 인카네이션 백업도 계속 관리되어 이 작업의 근거가 된다. RESETLOGS 후 그 이전 시점이 필요해지는 일이 실제로 생긴다.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RMAN-06054는 오류가 아니라 신호다. 적용할 아카이브가 더 없다는 뜻이며 도달 가능한 한계에 이른 것이다. 12장에서 UNTIL CANCEL 후 CANCEL을 입력하던 상황과 같다. 오류 스택은 아래부터 읽는다. RMAN- 번호는 어느 단계에서 실패했는지를 알려 주고 그 아래의 ORA- 오류가 실제 원인인 경우가 대부분이다. RMAN-06054는 오류가 아니라 한계 도달 신호라는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관통하는 원칙은 8~12장과 같다. SYSTEM과 UNDO가 포함되면 전면 중단이고 컨트롤파일이 손상되면 NOMOUNT부터 시작한다. 리두가 함께 손실되면 그만큼의 데이터 손실이 확정된다. 명령만 바뀌었을 뿐 판정 기준은 그대로라는 점을 이 표로 확인할 수 있다. 절차서의 RMAN 편에 이 표를 그대로 넣어 두면 유용하다. 절차서의 RMAN 편에 이 표를 그대로 넣어 두면 유용하다.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복구가 끝나면 확인할 것이 정해져 있다. v$recover_file 이 비었는지, OFFLINE으로 남은 파일이 없는지, 업무 데이터가 정상인지, 그리고 새 백업을 받았는지다. 임시 파일이 자동으로 만들어지는 것은 User Managed 복구와 달라진 점이며 매번 수행하던 ADD TEMPFILE 단계가 사라진다. RESETLOGS로 열었다면 즉시 전체 백업을 받는 것이 특히 중요하다. 복구 후 마무리를 빠뜨려 다음 장애 때 곤란해지는 일이 실무에서 흔하다.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데이터베이스 전체를 되돌리지 않고 일부만 과거로 보내는 방법이다. 나머지 테이블스페이스는 현재 시점을 유지하므로 업무 영향이 훨씬 적다. 자기 완결성은 DBMS_TTS.TRANSPORT_SET_CHECK 로 사전 점검한다. 복제 절차가 내부에서 일어나므로 17장의 내용과 이어지며 이 장에서는 개요만 다루고 자세한 절차는 17장에서 수행한다. 17장의 복제와 이어지는 주제이므로 여기서는 개요만 잡고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보고에 담을 항목은 다섯 가지다. 장애 발생 시각과 감지 경로, 손상 범위와 판정 근거, 복구 시점과 손실 구간, 단계별 소요 시간, 후속 조치다. 앞의 두 조회로 세 번째와 네 번째가 채워진다. 손실 구간은 반드시 업무 언어로 바꿔 전달한다. SCN이나 시퀀스가 아니라 몇 시 몇 분 이후의 어떤 업무인지로 표현해야 재처리 대상을 현업이 판단할 수 있다. 보고까지가 복구 작업의 일부라는 점을 강조한다. 12장의 보고 양식과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실습이 열 개이므로 준비 절차를 표준화해 두면 시간이 크게 절약된다. 매 실습 전 기준 백업을 새로 받는 이유는 앞 실습의 결과가 다음 실습에 영향을 주지 않게 하기 위해서다. 특히 RESETLOGS를 수행한 실습 뒤에는 반드시 새 백업이 필요하다. 각 실습의 명령 수를 8~12장과 비교해 기록해 두면 이 장의 결론이 수치로 남는다. 준비 절차를 표준화해 두면 열 개 실습의 진행 시간이 크게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파일이 온전하고 SCN만 뒤처졌으면 RECOVER만 수행한다. 이미지 카피가 있으면 RESTORE 대신 SWITCH를 쓸 수 있다. 두 명령의 역할을 구분해야 상황에 맞는 최소한의 작업으로 복구할 수 있다. 상황에 맞는 최소한의 작업으로 복구하는 판단이 중요하다. 불필요한 RESTORE는 시간 낭비다. 불필요한 RESTORE는 시간 낭비이므로 상태를 먼저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SET NEWNAME은 복원 위치만 지정하므로 SWITCH로 컨트롤파일에 새 경로를 등록해야 한다. 빠뜨리면 파일은 새 위치에 있는데 컨트롤파일은 옛 경로를 가리켜 ONLINE 시도가 실패한다. 두 명령은 항상 짝으로 쓴다. 실습 15-2와 15-5에서 이 짝을 직접 확인한다. 빠뜨리면 ONLINE 시도가 실패한다. 실습 15-2와 15-5에서 이 짝을 직접 확인하게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RMAN이 인카네이션 이력을 관리하므로 명령 한 줄로 처리된다. User Managed 방식에서 매우 까다로웠던 작업이며 RMAN의 결정적 이점 중 하나다. 카탈로그를 쓰면 이전 인카네이션 백업도 계속 관리되어 이 작업의 근거가 된다. RMAN의 결정적 이점 중 하나이므로 시간을 들여 설명한다. 10장과 나란히 비교한다. 10장의 절차와 나란히 놓고 비교하면 차이가 분명하다.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명령은 줄었지만 판정 흐름은 8~12장 그대로다. 무엇을 어디까지 복구할지, 손실 범위가 얼마인지는 여전히 사람이 정한다. 이 장으로 RMAN의 기본 복구가 정리되며 16장에서는 블록 단위 복구와 spfile 복구, Data Recovery Advisor를 다룬다. 16장에서 블록 단위 복구와 Data Recovery Advisor를 다룬다는 예고로 마무리한다.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실습이 열 개로 이 과정에서 가장 많다. 15-1부터 15-7까지가 데이터파일 관련이며 손상 범위가 넓어지는 순서다. 15-8부터가 컨트롤파일과 불완전 복구다. 시간이 부족하면 15-5와 15-7을 시연으로 대체할 수 있다. 각 실습을 8~12장의 대응 실습과 나란히 놓고 명령 수를 비교해 보면 차이가 분명해진다. 각 실습을 8~12장의 대응 실습과 나란히 놓고 비교해 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ea typeface="Malgun Gothic"/>
              </a:rPr>
              <a:t>Oracle Database 19c Backup &amp; Recovery  ·  제15장</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ea typeface="Malgun Gothic"/>
              </a:rPr>
              <a:t>RMAN 복구 시나리오</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ea typeface="Malgun Gothic"/>
              </a:rPr>
              <a:t>RESTORE와 RECOVER · 데이터파일 · 위치 변경 · 컨트롤파일과 spfile · 불완전 복구 · 인카네이션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장을 마치면 다음을 수행할 수 있어야 한다.</a:t>
            </a:r>
          </a:p>
          <a:p>
            <a:pPr>
              <a:spcAft>
                <a:spcPts val="600"/>
              </a:spcAft>
            </a:pPr>
            <a:r>
              <a:rPr sz="1600" b="0">
                <a:solidFill>
                  <a:srgbClr val="5A6672"/>
                </a:solidFill>
                <a:latin typeface="Malgun Gothic"/>
                <a:ea typeface="Malgun Gothic"/>
              </a:rPr>
              <a:t>    –  RESTORE와 RECOVER의 역할을 구분하고 상태별로 사용한다</a:t>
            </a:r>
          </a:p>
          <a:p>
            <a:pPr>
              <a:spcAft>
                <a:spcPts val="600"/>
              </a:spcAft>
            </a:pPr>
            <a:r>
              <a:rPr sz="1600" b="0">
                <a:solidFill>
                  <a:srgbClr val="5A6672"/>
                </a:solidFill>
                <a:latin typeface="Malgun Gothic"/>
                <a:ea typeface="Malgun Gothic"/>
              </a:rPr>
              <a:t>    –  데이터파일 손상을 무중단으로 복구한다</a:t>
            </a:r>
          </a:p>
          <a:p>
            <a:pPr>
              <a:spcAft>
                <a:spcPts val="600"/>
              </a:spcAft>
            </a:pPr>
            <a:r>
              <a:rPr sz="1600" b="0">
                <a:solidFill>
                  <a:srgbClr val="5A6672"/>
                </a:solidFill>
                <a:latin typeface="Malgun Gothic"/>
                <a:ea typeface="Malgun Gothic"/>
              </a:rPr>
              <a:t>    –  SYSTEM·UNDO 손상과 전체 손상을 복구한다</a:t>
            </a:r>
          </a:p>
          <a:p>
            <a:pPr>
              <a:spcAft>
                <a:spcPts val="600"/>
              </a:spcAft>
            </a:pPr>
            <a:r>
              <a:rPr sz="1600" b="0">
                <a:solidFill>
                  <a:srgbClr val="5A6672"/>
                </a:solidFill>
                <a:latin typeface="Malgun Gothic"/>
                <a:ea typeface="Malgun Gothic"/>
              </a:rPr>
              <a:t>    –  파일 위치를 바꿔 복구한다</a:t>
            </a:r>
          </a:p>
          <a:p>
            <a:pPr>
              <a:spcAft>
                <a:spcPts val="600"/>
              </a:spcAft>
            </a:pPr>
            <a:r>
              <a:rPr sz="1600" b="0">
                <a:solidFill>
                  <a:srgbClr val="5A6672"/>
                </a:solidFill>
                <a:latin typeface="Malgun Gothic"/>
                <a:ea typeface="Malgun Gothic"/>
              </a:rPr>
              <a:t>    –  백업이 없는 파일을 복구한다</a:t>
            </a:r>
          </a:p>
          <a:p>
            <a:pPr>
              <a:spcAft>
                <a:spcPts val="600"/>
              </a:spcAft>
            </a:pPr>
            <a:r>
              <a:rPr sz="1600" b="0">
                <a:solidFill>
                  <a:srgbClr val="5A6672"/>
                </a:solidFill>
                <a:latin typeface="Malgun Gothic"/>
                <a:ea typeface="Malgun Gothic"/>
              </a:rPr>
              <a:t>    –  컨트롤파일 손상과 불완전 복구를 RMAN으로 수행한다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15.1  RMAN 복구의 기본 구조 — 두 명령 · 상태 · 사전 확인 · 판정 대응</a:t>
            </a:r>
          </a:p>
          <a:p>
            <a:pPr>
              <a:spcAft>
                <a:spcPts val="600"/>
              </a:spcAft>
            </a:pPr>
            <a:r>
              <a:rPr sz="1800" b="0">
                <a:solidFill>
                  <a:srgbClr val="202830"/>
                </a:solidFill>
                <a:latin typeface="Malgun Gothic"/>
                <a:ea typeface="Malgun Gothic"/>
              </a:rPr>
              <a:t>•  15.2  데이터파일 복구 — 무중단 · 위치 변경 · SYSTEM · 전체 · 진행 확인</a:t>
            </a:r>
          </a:p>
          <a:p>
            <a:pPr>
              <a:spcAft>
                <a:spcPts val="600"/>
              </a:spcAft>
            </a:pPr>
            <a:r>
              <a:rPr sz="1800" b="0">
                <a:solidFill>
                  <a:srgbClr val="202830"/>
                </a:solidFill>
                <a:latin typeface="Malgun Gothic"/>
                <a:ea typeface="Malgun Gothic"/>
              </a:rPr>
              <a:t>•  15.3  특수 상황 — 백업 없는 파일 · 일부 손상 · 블록 손상 · 시간 단축</a:t>
            </a:r>
          </a:p>
          <a:p>
            <a:pPr>
              <a:spcAft>
                <a:spcPts val="600"/>
              </a:spcAft>
            </a:pPr>
            <a:r>
              <a:rPr sz="1800" b="0">
                <a:solidFill>
                  <a:srgbClr val="202830"/>
                </a:solidFill>
                <a:latin typeface="Malgun Gothic"/>
                <a:ea typeface="Malgun Gothic"/>
              </a:rPr>
              <a:t>•  15.4  컨트롤파일과 spfile — 카탈로그 · 자동 백업 · 사후 처리</a:t>
            </a:r>
          </a:p>
          <a:p>
            <a:pPr>
              <a:spcAft>
                <a:spcPts val="600"/>
              </a:spcAft>
            </a:pPr>
            <a:r>
              <a:rPr sz="1800" b="0">
                <a:solidFill>
                  <a:srgbClr val="202830"/>
                </a:solidFill>
                <a:latin typeface="Malgun Gothic"/>
                <a:ea typeface="Malgun Gothic"/>
              </a:rPr>
              <a:t>•  15.5  불완전 복구 — 네 기준 · 경계 · 인카네이션 · TSPITR · 오류 해석</a:t>
            </a:r>
          </a:p>
          <a:p>
            <a:pPr>
              <a:spcAft>
                <a:spcPts val="600"/>
              </a:spcAft>
            </a:pPr>
            <a:r>
              <a:rPr sz="1800" b="0">
                <a:solidFill>
                  <a:srgbClr val="202830"/>
                </a:solidFill>
                <a:latin typeface="Malgun Gothic"/>
                <a:ea typeface="Malgun Gothic"/>
              </a:rPr>
              <a:t>•  15.6 판단표 · 15.7 퀴즈 · 요약 · 실습 10 개요</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14장에서 만든 백업과 13장의 카탈로그가 그대로 있어야 실습이 진행된다.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15.1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RMAN 복구의 기본 구조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RESTORE는 되돌리고 RECOVER는 적용한다</a:t>
            </a:r>
          </a:p>
          <a:p>
            <a:pPr>
              <a:spcAft>
                <a:spcPts val="600"/>
              </a:spcAft>
            </a:pPr>
            <a:r>
              <a:rPr sz="1600" b="0">
                <a:solidFill>
                  <a:srgbClr val="C5CED6"/>
                </a:solidFill>
                <a:latin typeface="Malgun Gothic"/>
                <a:ea typeface="Malgun Gothic"/>
              </a:rPr>
              <a:t>•  상태에 따라 가능한 복구가 정해진다</a:t>
            </a:r>
          </a:p>
          <a:p>
            <a:pPr>
              <a:spcAft>
                <a:spcPts val="600"/>
              </a:spcAft>
            </a:pPr>
            <a:r>
              <a:rPr sz="1600" b="0">
                <a:solidFill>
                  <a:srgbClr val="C5CED6"/>
                </a:solidFill>
                <a:latin typeface="Malgun Gothic"/>
                <a:ea typeface="Malgun Gothic"/>
              </a:rPr>
              <a:t>•  복구는 PREVIEW부터 시작한다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RESTORE와 RECOVER</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User Managed와의 대응</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작업            | User Managed                | RMAN</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복원            | cp -p 백업본 원위치         | RESTORE</a:t>
            </a:r>
          </a:p>
          <a:p>
            <a:pPr>
              <a:spcAft>
                <a:spcPts val="0"/>
              </a:spcAft>
            </a:pPr>
            <a:r>
              <a:rPr sz="1250" b="0">
                <a:solidFill>
                  <a:srgbClr val="E6E6E6"/>
                </a:solidFill>
                <a:latin typeface="Consolas"/>
                <a:ea typeface="Consolas"/>
              </a:rPr>
              <a:t>복원 대상 판별  | v$recover_file 로 사람이    | 자동</a:t>
            </a:r>
          </a:p>
          <a:p>
            <a:pPr>
              <a:spcAft>
                <a:spcPts val="0"/>
              </a:spcAft>
            </a:pPr>
            <a:r>
              <a:rPr sz="1250" b="0">
                <a:solidFill>
                  <a:srgbClr val="E6E6E6"/>
                </a:solidFill>
                <a:latin typeface="Consolas"/>
                <a:ea typeface="Consolas"/>
              </a:rPr>
              <a:t>아카이브 위치   | 사람이 입력                 | 자동</a:t>
            </a:r>
          </a:p>
          <a:p>
            <a:pPr>
              <a:spcAft>
                <a:spcPts val="0"/>
              </a:spcAft>
            </a:pPr>
            <a:r>
              <a:rPr sz="1250" b="0">
                <a:solidFill>
                  <a:srgbClr val="E6E6E6"/>
                </a:solidFill>
                <a:latin typeface="Consolas"/>
                <a:ea typeface="Consolas"/>
              </a:rPr>
              <a:t>복구            | RECOVER DATAFILE n          | RECOVER DATAFILE n</a:t>
            </a:r>
          </a:p>
          <a:p>
            <a:pPr>
              <a:spcAft>
                <a:spcPts val="0"/>
              </a:spcAft>
            </a:pPr>
            <a:r>
              <a:rPr sz="1250" b="0">
                <a:solidFill>
                  <a:srgbClr val="E6E6E6"/>
                </a:solidFill>
                <a:latin typeface="Consolas"/>
                <a:ea typeface="Consolas"/>
              </a:rPr>
              <a:t>OFFLINE 처리    | ALTER DATABASE DATAFILE ... | SQL 'ALTER ...'</a:t>
            </a:r>
          </a:p>
          <a:p>
            <a:pPr>
              <a:spcAft>
                <a:spcPts val="0"/>
              </a:spcAft>
            </a:pPr>
            <a:r>
              <a:rPr sz="1250" b="0">
                <a:solidFill>
                  <a:srgbClr val="E6E6E6"/>
                </a:solidFill>
                <a:latin typeface="Consolas"/>
                <a:ea typeface="Consolas"/>
              </a:rPr>
              <a:t>TEMP 재생성     | ADD TEMPFILE 수동           | 자동</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파일이 온전하고 SCN만 뒤처졌으면 RECOVER만 수행</a:t>
            </a:r>
          </a:p>
          <a:p>
            <a:pPr>
              <a:spcAft>
                <a:spcPts val="0"/>
              </a:spcAft>
            </a:pPr>
            <a:r>
              <a:rPr sz="1250" b="0">
                <a:solidFill>
                  <a:srgbClr val="7EC699"/>
                </a:solidFill>
                <a:latin typeface="Consolas"/>
                <a:ea typeface="Consolas"/>
              </a:rPr>
              <a:t>-- 이미지 카피가 있으면 RESTORE 대신 SWITCH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상태별 가능한 복구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명령을 내리기 전에 확인</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상태     | 가능한 작업</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NOMOUNT  | RESTORE SPFILE / RESTORE CONTROLFILE</a:t>
            </a:r>
          </a:p>
          <a:p>
            <a:pPr>
              <a:spcAft>
                <a:spcPts val="0"/>
              </a:spcAft>
            </a:pPr>
            <a:r>
              <a:rPr sz="1250" b="0">
                <a:solidFill>
                  <a:srgbClr val="E6E6E6"/>
                </a:solidFill>
                <a:latin typeface="Consolas"/>
                <a:ea typeface="Consolas"/>
              </a:rPr>
              <a:t>MOUNT    | RESTORE DATABASE / RECOVER DATABASE / 모든 데이터파일</a:t>
            </a:r>
          </a:p>
          <a:p>
            <a:pPr>
              <a:spcAft>
                <a:spcPts val="0"/>
              </a:spcAft>
            </a:pPr>
            <a:r>
              <a:rPr sz="1250" b="0">
                <a:solidFill>
                  <a:srgbClr val="E6E6E6"/>
                </a:solidFill>
                <a:latin typeface="Consolas"/>
                <a:ea typeface="Consolas"/>
              </a:rPr>
              <a:t>OPEN     | RESTORE DATAFILE / RECOVER DATAFILE (해당 파일 OFFLINE)</a:t>
            </a:r>
          </a:p>
          <a:p>
            <a:pPr>
              <a:spcAft>
                <a:spcPts val="0"/>
              </a:spcAft>
            </a:pPr>
            <a:r>
              <a:rPr sz="1250" b="0">
                <a:solidFill>
                  <a:srgbClr val="E6E6E6"/>
                </a:solidFill>
                <a:latin typeface="Consolas"/>
                <a:ea typeface="Consolas"/>
              </a:rPr>
              <a:t>         | RESTORE TABLESPACE / RECOVER TABLESPACE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무중단 복구의 조건</a:t>
            </a:r>
          </a:p>
          <a:p>
            <a:pPr>
              <a:spcAft>
                <a:spcPts val="0"/>
              </a:spcAft>
            </a:pPr>
            <a:r>
              <a:rPr sz="1250" b="0">
                <a:solidFill>
                  <a:srgbClr val="7EC699"/>
                </a:solidFill>
                <a:latin typeface="Consolas"/>
                <a:ea typeface="Consolas"/>
              </a:rPr>
              <a:t>--   손상 파일이 SYSTEM·UNDO가 아닐 것</a:t>
            </a:r>
          </a:p>
          <a:p>
            <a:pPr>
              <a:spcAft>
                <a:spcPts val="0"/>
              </a:spcAft>
            </a:pPr>
            <a:r>
              <a:rPr sz="1250" b="0">
                <a:solidFill>
                  <a:srgbClr val="7EC699"/>
                </a:solidFill>
                <a:latin typeface="Consolas"/>
                <a:ea typeface="Consolas"/>
              </a:rPr>
              <a:t>--   그 테이블스페이스를 쓰지 않는 업무는 계속 진행 가능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RESTORE PREVIEW</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복구는 여기서 시작한다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RESTORE DATABASE PREVIEW SUMMARY;</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List of Backups</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Key     TY LV S Device Type Completion Time #Pieces Tag</a:t>
            </a:r>
          </a:p>
          <a:p>
            <a:pPr>
              <a:spcAft>
                <a:spcPts val="0"/>
              </a:spcAft>
            </a:pPr>
            <a:r>
              <a:rPr sz="1250" b="0">
                <a:solidFill>
                  <a:srgbClr val="7EC699"/>
                </a:solidFill>
                <a:latin typeface="Consolas"/>
                <a:ea typeface="Consolas"/>
              </a:rPr>
              <a:t>------- -- -- - ----------- --------------- ------- ----------</a:t>
            </a:r>
          </a:p>
          <a:p>
            <a:pPr>
              <a:spcAft>
                <a:spcPts val="0"/>
              </a:spcAft>
            </a:pPr>
            <a:r>
              <a:rPr sz="1250" b="0">
                <a:solidFill>
                  <a:srgbClr val="E6E6E6"/>
                </a:solidFill>
                <a:latin typeface="Consolas"/>
                <a:ea typeface="Consolas"/>
              </a:rPr>
              <a:t>25      B  F  A DISK        14-MAY-25       1       FULL_DAILY</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List of Archived Log Copies for database with db_unique_name ORCL</a:t>
            </a:r>
          </a:p>
          <a:p>
            <a:pPr>
              <a:spcAft>
                <a:spcPts val="0"/>
              </a:spcAft>
            </a:pPr>
            <a:r>
              <a:rPr sz="1250" b="0">
                <a:solidFill>
                  <a:srgbClr val="E6E6E6"/>
                </a:solidFill>
                <a:latin typeface="Consolas"/>
                <a:ea typeface="Consolas"/>
              </a:rPr>
              <a:t>Key     Thrd Seq     S Low Time</a:t>
            </a:r>
          </a:p>
          <a:p>
            <a:pPr>
              <a:spcAft>
                <a:spcPts val="0"/>
              </a:spcAft>
            </a:pPr>
            <a:r>
              <a:rPr sz="1250" b="0">
                <a:solidFill>
                  <a:srgbClr val="7EC699"/>
                </a:solidFill>
                <a:latin typeface="Consolas"/>
                <a:ea typeface="Consolas"/>
              </a:rPr>
              <a:t>------- ---- ------- - ---------</a:t>
            </a:r>
          </a:p>
          <a:p>
            <a:pPr>
              <a:spcAft>
                <a:spcPts val="0"/>
              </a:spcAft>
            </a:pPr>
            <a:r>
              <a:rPr sz="1250" b="0">
                <a:solidFill>
                  <a:srgbClr val="E6E6E6"/>
                </a:solidFill>
                <a:latin typeface="Consolas"/>
                <a:ea typeface="Consolas"/>
              </a:rPr>
              <a:t>44      1    18      A 15-MAY-25</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Media recovery start SCN is 2568400</a:t>
            </a:r>
          </a:p>
          <a:p>
            <a:pPr>
              <a:spcAft>
                <a:spcPts val="0"/>
              </a:spcAft>
            </a:pPr>
            <a:r>
              <a:rPr sz="1250" b="0">
                <a:solidFill>
                  <a:srgbClr val="E6E6E6"/>
                </a:solidFill>
                <a:latin typeface="Consolas"/>
                <a:ea typeface="Consolas"/>
              </a:rPr>
              <a:t>Recovery must be done beyond SCN 2570100 to clear datafile fuzziness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8~12장 판정 흐름과의 대응</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명령만 바뀐다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판정 질문            | User Managed(8~12장)  | RMAN(15장)</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무엇이 손상되었는가  | v$recover_file        | v$recover_file (동일)</a:t>
            </a:r>
          </a:p>
          <a:p>
            <a:pPr>
              <a:spcAft>
                <a:spcPts val="0"/>
              </a:spcAft>
            </a:pPr>
            <a:r>
              <a:rPr sz="1250" b="0">
                <a:solidFill>
                  <a:srgbClr val="E6E6E6"/>
                </a:solidFill>
                <a:latin typeface="Consolas"/>
                <a:ea typeface="Consolas"/>
              </a:rPr>
              <a:t>떼어 낼 수 있는가    | SYSTEM·UNDO 판단      | 동일</a:t>
            </a:r>
          </a:p>
          <a:p>
            <a:pPr>
              <a:spcAft>
                <a:spcPts val="0"/>
              </a:spcAft>
            </a:pPr>
            <a:r>
              <a:rPr sz="1250" b="0">
                <a:solidFill>
                  <a:srgbClr val="E6E6E6"/>
                </a:solidFill>
                <a:latin typeface="Consolas"/>
                <a:ea typeface="Consolas"/>
              </a:rPr>
              <a:t>백업본이 있는가      | 매니페스트 확인       | RESTORE PREVIEW</a:t>
            </a:r>
          </a:p>
          <a:p>
            <a:pPr>
              <a:spcAft>
                <a:spcPts val="0"/>
              </a:spcAft>
            </a:pPr>
            <a:r>
              <a:rPr sz="1250" b="0">
                <a:solidFill>
                  <a:srgbClr val="E6E6E6"/>
                </a:solidFill>
                <a:latin typeface="Consolas"/>
                <a:ea typeface="Consolas"/>
              </a:rPr>
              <a:t>리두가 연속인가      | 아카이브 파일 목록    | RESTORE PREVIEW 요약</a:t>
            </a:r>
          </a:p>
          <a:p>
            <a:pPr>
              <a:spcAft>
                <a:spcPts val="0"/>
              </a:spcAft>
            </a:pPr>
            <a:r>
              <a:rPr sz="1250" b="0">
                <a:solidFill>
                  <a:srgbClr val="E6E6E6"/>
                </a:solidFill>
                <a:latin typeface="Consolas"/>
                <a:ea typeface="Consolas"/>
              </a:rPr>
              <a:t>어디까지 복구할까    | 사람                  | 사람</a:t>
            </a:r>
          </a:p>
          <a:p>
            <a:pPr>
              <a:spcAft>
                <a:spcPts val="0"/>
              </a:spcAft>
            </a:pPr>
            <a:r>
              <a:rPr sz="1250" b="0">
                <a:solidFill>
                  <a:srgbClr val="E6E6E6"/>
                </a:solidFill>
                <a:latin typeface="Consolas"/>
                <a:ea typeface="Consolas"/>
              </a:rPr>
              <a:t>손실 범위는 얼마인가 | 사람                  | 사람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15.2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데이터파일 복구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일반 파일은 열어 둔 채 복구한다</a:t>
            </a:r>
          </a:p>
          <a:p>
            <a:pPr>
              <a:spcAft>
                <a:spcPts val="600"/>
              </a:spcAft>
            </a:pPr>
            <a:r>
              <a:rPr sz="1600" b="0">
                <a:solidFill>
                  <a:srgbClr val="C5CED6"/>
                </a:solidFill>
                <a:latin typeface="Malgun Gothic"/>
                <a:ea typeface="Malgun Gothic"/>
              </a:rPr>
              <a:t>•  위치를 바꾸려면 SET NEWNAME과 SWITCH</a:t>
            </a:r>
          </a:p>
          <a:p>
            <a:pPr>
              <a:spcAft>
                <a:spcPts val="600"/>
              </a:spcAft>
            </a:pPr>
            <a:r>
              <a:rPr sz="1600" b="0">
                <a:solidFill>
                  <a:srgbClr val="C5CED6"/>
                </a:solidFill>
                <a:latin typeface="Malgun Gothic"/>
                <a:ea typeface="Malgun Gothic"/>
              </a:rPr>
              <a:t>•  SYSTEM·UNDO·전체는 MOUNT에서</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무중단 복구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OFFLINE → RESTORE → RECOVER → ONLINE</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SQL 'ALTER DATABASE DATAFILE 7 OFFLINE';</a:t>
            </a:r>
          </a:p>
          <a:p>
            <a:pPr>
              <a:spcAft>
                <a:spcPts val="0"/>
              </a:spcAft>
            </a:pPr>
            <a:r>
              <a:rPr sz="1250" b="0">
                <a:solidFill>
                  <a:srgbClr val="E6E6E6"/>
                </a:solidFill>
                <a:latin typeface="Consolas"/>
                <a:ea typeface="Consolas"/>
              </a:rPr>
              <a:t>RMAN&gt; RESTORE DATAFILE 7;</a:t>
            </a:r>
          </a:p>
          <a:p>
            <a:pPr>
              <a:spcAft>
                <a:spcPts val="0"/>
              </a:spcAft>
            </a:pPr>
            <a:r>
              <a:rPr sz="1250" b="0">
                <a:solidFill>
                  <a:srgbClr val="E6E6E6"/>
                </a:solidFill>
                <a:latin typeface="Consolas"/>
                <a:ea typeface="Consolas"/>
              </a:rPr>
              <a:t>channel ORA_DISK_1: restoring datafile 00007 to /u01/app/oracle/oradata/orcl/users01.dbf</a:t>
            </a:r>
          </a:p>
          <a:p>
            <a:pPr>
              <a:spcAft>
                <a:spcPts val="0"/>
              </a:spcAft>
            </a:pPr>
            <a:r>
              <a:rPr sz="1250" b="0">
                <a:solidFill>
                  <a:srgbClr val="E6E6E6"/>
                </a:solidFill>
                <a:latin typeface="Consolas"/>
                <a:ea typeface="Consolas"/>
              </a:rPr>
              <a:t>channel ORA_DISK_1: restore complete, elapsed time: 00:00:03</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RECOVER DATAFILE 7;</a:t>
            </a:r>
          </a:p>
          <a:p>
            <a:pPr>
              <a:spcAft>
                <a:spcPts val="0"/>
              </a:spcAft>
            </a:pPr>
            <a:r>
              <a:rPr sz="1250" b="0">
                <a:solidFill>
                  <a:srgbClr val="E6E6E6"/>
                </a:solidFill>
                <a:latin typeface="Consolas"/>
                <a:ea typeface="Consolas"/>
              </a:rPr>
              <a:t>starting media recovery</a:t>
            </a:r>
          </a:p>
          <a:p>
            <a:pPr>
              <a:spcAft>
                <a:spcPts val="0"/>
              </a:spcAft>
            </a:pPr>
            <a:r>
              <a:rPr sz="1250" b="0">
                <a:solidFill>
                  <a:srgbClr val="E6E6E6"/>
                </a:solidFill>
                <a:latin typeface="Consolas"/>
                <a:ea typeface="Consolas"/>
              </a:rPr>
              <a:t>archived log file name=/home/oracle/arch1/arch_1_21_1200592300.arc thread=1 sequence=21</a:t>
            </a:r>
          </a:p>
          <a:p>
            <a:pPr>
              <a:spcAft>
                <a:spcPts val="0"/>
              </a:spcAft>
            </a:pPr>
            <a:r>
              <a:rPr sz="1250" b="0">
                <a:solidFill>
                  <a:srgbClr val="E6E6E6"/>
                </a:solidFill>
                <a:latin typeface="Consolas"/>
                <a:ea typeface="Consolas"/>
              </a:rPr>
              <a:t>media recovery complete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SQL 'ALTER DATABASE DATAFILE 7 ONLINE';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RUN 블록으로 묶으면 한 번에 실행된다.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다른 위치로 복구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SET NEWNAME과 SWITCH는 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RUN {</a:t>
            </a:r>
          </a:p>
          <a:p>
            <a:pPr>
              <a:spcAft>
                <a:spcPts val="0"/>
              </a:spcAft>
            </a:pPr>
            <a:r>
              <a:rPr sz="1250" b="0">
                <a:solidFill>
                  <a:srgbClr val="E6E6E6"/>
                </a:solidFill>
                <a:latin typeface="Consolas"/>
                <a:ea typeface="Consolas"/>
              </a:rPr>
              <a:t>  2&gt;   SQL 'ALTER TABLESPACE users OFFLINE IMMEDIATE';</a:t>
            </a:r>
          </a:p>
          <a:p>
            <a:pPr>
              <a:spcAft>
                <a:spcPts val="0"/>
              </a:spcAft>
            </a:pPr>
            <a:r>
              <a:rPr sz="1250" b="0">
                <a:solidFill>
                  <a:srgbClr val="E6E6E6"/>
                </a:solidFill>
                <a:latin typeface="Consolas"/>
                <a:ea typeface="Consolas"/>
              </a:rPr>
              <a:t>  3&gt;   SET NEWNAME FOR DATAFILE 7 TO '/u03/oradata/ORCL/users01.dbf';</a:t>
            </a:r>
          </a:p>
          <a:p>
            <a:pPr>
              <a:spcAft>
                <a:spcPts val="0"/>
              </a:spcAft>
            </a:pPr>
            <a:r>
              <a:rPr sz="1250" b="0">
                <a:solidFill>
                  <a:srgbClr val="E6E6E6"/>
                </a:solidFill>
                <a:latin typeface="Consolas"/>
                <a:ea typeface="Consolas"/>
              </a:rPr>
              <a:t>  4&gt;   RESTORE TABLESPACE users;</a:t>
            </a:r>
          </a:p>
          <a:p>
            <a:pPr>
              <a:spcAft>
                <a:spcPts val="0"/>
              </a:spcAft>
            </a:pPr>
            <a:r>
              <a:rPr sz="1250" b="0">
                <a:solidFill>
                  <a:srgbClr val="E6E6E6"/>
                </a:solidFill>
                <a:latin typeface="Consolas"/>
                <a:ea typeface="Consolas"/>
              </a:rPr>
              <a:t>  5&gt;   SWITCH DATAFILE ALL;</a:t>
            </a:r>
          </a:p>
          <a:p>
            <a:pPr>
              <a:spcAft>
                <a:spcPts val="0"/>
              </a:spcAft>
            </a:pPr>
            <a:r>
              <a:rPr sz="1250" b="0">
                <a:solidFill>
                  <a:srgbClr val="E6E6E6"/>
                </a:solidFill>
                <a:latin typeface="Consolas"/>
                <a:ea typeface="Consolas"/>
              </a:rPr>
              <a:t>  6&gt;   RECOVER TABLESPACE users;</a:t>
            </a:r>
          </a:p>
          <a:p>
            <a:pPr>
              <a:spcAft>
                <a:spcPts val="0"/>
              </a:spcAft>
            </a:pPr>
            <a:r>
              <a:rPr sz="1250" b="0">
                <a:solidFill>
                  <a:srgbClr val="E6E6E6"/>
                </a:solidFill>
                <a:latin typeface="Consolas"/>
                <a:ea typeface="Consolas"/>
              </a:rPr>
              <a:t>  7&gt;   SQL 'ALTER TABLESPACE users ONLINE';</a:t>
            </a:r>
          </a:p>
          <a:p>
            <a:pPr>
              <a:spcAft>
                <a:spcPts val="0"/>
              </a:spcAft>
            </a:pPr>
            <a:r>
              <a:rPr sz="1250" b="0">
                <a:solidFill>
                  <a:srgbClr val="E6E6E6"/>
                </a:solidFill>
                <a:latin typeface="Consolas"/>
                <a:ea typeface="Consolas"/>
              </a:rPr>
              <a:t>  8&gt; }</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datafile 7 switched to datafile copy</a:t>
            </a:r>
          </a:p>
          <a:p>
            <a:pPr>
              <a:spcAft>
                <a:spcPts val="0"/>
              </a:spcAft>
            </a:pPr>
            <a:r>
              <a:rPr sz="1250" b="0">
                <a:solidFill>
                  <a:srgbClr val="E6E6E6"/>
                </a:solidFill>
                <a:latin typeface="Consolas"/>
                <a:ea typeface="Consolas"/>
              </a:rPr>
              <a:t>file name=/u03/oradata/ORCL/users01.dbf</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전체를 옮길 때 : SET NEWNAME FOR DATABASE TO '/u03/oradata/ORCL/%b';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SYSTEM·UNDO·전체 손상</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MOUNT 상태에서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SYSTEM 데이터파일</a:t>
            </a:r>
          </a:p>
          <a:p>
            <a:pPr>
              <a:spcAft>
                <a:spcPts val="0"/>
              </a:spcAft>
            </a:pPr>
            <a:r>
              <a:rPr sz="1250" b="0">
                <a:solidFill>
                  <a:srgbClr val="E6E6E6"/>
                </a:solidFill>
                <a:latin typeface="Consolas"/>
                <a:ea typeface="Consolas"/>
              </a:rPr>
              <a:t>RMAN&gt; SHUTDOWN ABORT</a:t>
            </a:r>
          </a:p>
          <a:p>
            <a:pPr>
              <a:spcAft>
                <a:spcPts val="0"/>
              </a:spcAft>
            </a:pPr>
            <a:r>
              <a:rPr sz="1250" b="0">
                <a:solidFill>
                  <a:srgbClr val="E6E6E6"/>
                </a:solidFill>
                <a:latin typeface="Consolas"/>
                <a:ea typeface="Consolas"/>
              </a:rPr>
              <a:t>RMAN&gt; STARTUP MOUNT</a:t>
            </a:r>
          </a:p>
          <a:p>
            <a:pPr>
              <a:spcAft>
                <a:spcPts val="0"/>
              </a:spcAft>
            </a:pPr>
            <a:r>
              <a:rPr sz="1250" b="0">
                <a:solidFill>
                  <a:srgbClr val="E6E6E6"/>
                </a:solidFill>
                <a:latin typeface="Consolas"/>
                <a:ea typeface="Consolas"/>
              </a:rPr>
              <a:t>RMAN&gt; RESTORE DATAFILE 1;</a:t>
            </a:r>
          </a:p>
          <a:p>
            <a:pPr>
              <a:spcAft>
                <a:spcPts val="0"/>
              </a:spcAft>
            </a:pPr>
            <a:r>
              <a:rPr sz="1250" b="0">
                <a:solidFill>
                  <a:srgbClr val="E6E6E6"/>
                </a:solidFill>
                <a:latin typeface="Consolas"/>
                <a:ea typeface="Consolas"/>
              </a:rPr>
              <a:t>RMAN&gt; RECOVER DATAFILE 1;</a:t>
            </a:r>
          </a:p>
          <a:p>
            <a:pPr>
              <a:spcAft>
                <a:spcPts val="0"/>
              </a:spcAft>
            </a:pPr>
            <a:r>
              <a:rPr sz="1250" b="0">
                <a:solidFill>
                  <a:srgbClr val="E6E6E6"/>
                </a:solidFill>
                <a:latin typeface="Consolas"/>
                <a:ea typeface="Consolas"/>
              </a:rPr>
              <a:t>RMAN&gt; ALTER DATABASE OPEN;</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전체 데이터파일 손상</a:t>
            </a:r>
          </a:p>
          <a:p>
            <a:pPr>
              <a:spcAft>
                <a:spcPts val="0"/>
              </a:spcAft>
            </a:pPr>
            <a:r>
              <a:rPr sz="1250" b="0">
                <a:solidFill>
                  <a:srgbClr val="E6E6E6"/>
                </a:solidFill>
                <a:latin typeface="Consolas"/>
                <a:ea typeface="Consolas"/>
              </a:rPr>
              <a:t>RMAN&gt; STARTUP MOUNT</a:t>
            </a:r>
          </a:p>
          <a:p>
            <a:pPr>
              <a:spcAft>
                <a:spcPts val="0"/>
              </a:spcAft>
            </a:pPr>
            <a:r>
              <a:rPr sz="1250" b="0">
                <a:solidFill>
                  <a:srgbClr val="E6E6E6"/>
                </a:solidFill>
                <a:latin typeface="Consolas"/>
                <a:ea typeface="Consolas"/>
              </a:rPr>
              <a:t>RMAN&gt; RESTORE DATABASE;</a:t>
            </a:r>
          </a:p>
          <a:p>
            <a:pPr>
              <a:spcAft>
                <a:spcPts val="0"/>
              </a:spcAft>
            </a:pPr>
            <a:r>
              <a:rPr sz="1250" b="0">
                <a:solidFill>
                  <a:srgbClr val="E6E6E6"/>
                </a:solidFill>
                <a:latin typeface="Consolas"/>
                <a:ea typeface="Consolas"/>
              </a:rPr>
              <a:t>RMAN&gt; RECOVER DATABASE;</a:t>
            </a:r>
          </a:p>
          <a:p>
            <a:pPr>
              <a:spcAft>
                <a:spcPts val="0"/>
              </a:spcAft>
            </a:pPr>
            <a:r>
              <a:rPr sz="1250" b="0">
                <a:solidFill>
                  <a:srgbClr val="E6E6E6"/>
                </a:solidFill>
                <a:latin typeface="Consolas"/>
                <a:ea typeface="Consolas"/>
              </a:rPr>
              <a:t>RMAN&gt; ALTER DATABASE OPEN;</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컨트롤파일이 온전하면 RESETLOGS도 필요 없다.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진행 상황 확인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별도 세션에서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sid, opname,</a:t>
            </a:r>
          </a:p>
          <a:p>
            <a:pPr>
              <a:spcAft>
                <a:spcPts val="0"/>
              </a:spcAft>
            </a:pPr>
            <a:r>
              <a:rPr sz="1250" b="0">
                <a:solidFill>
                  <a:srgbClr val="E6E6E6"/>
                </a:solidFill>
                <a:latin typeface="Consolas"/>
                <a:ea typeface="Consolas"/>
              </a:rPr>
              <a:t>  2         ROUND(sofar/totalwork*100, 1) AS pct,</a:t>
            </a:r>
          </a:p>
          <a:p>
            <a:pPr>
              <a:spcAft>
                <a:spcPts val="0"/>
              </a:spcAft>
            </a:pPr>
            <a:r>
              <a:rPr sz="1250" b="0">
                <a:solidFill>
                  <a:srgbClr val="E6E6E6"/>
                </a:solidFill>
                <a:latin typeface="Consolas"/>
                <a:ea typeface="Consolas"/>
              </a:rPr>
              <a:t>  3         time_remaining AS remain_sec</a:t>
            </a:r>
          </a:p>
          <a:p>
            <a:pPr>
              <a:spcAft>
                <a:spcPts val="0"/>
              </a:spcAft>
            </a:pPr>
            <a:r>
              <a:rPr sz="1250" b="0">
                <a:solidFill>
                  <a:srgbClr val="E6E6E6"/>
                </a:solidFill>
                <a:latin typeface="Consolas"/>
                <a:ea typeface="Consolas"/>
              </a:rPr>
              <a:t>  4  FROM   v$session_longops</a:t>
            </a:r>
          </a:p>
          <a:p>
            <a:pPr>
              <a:spcAft>
                <a:spcPts val="0"/>
              </a:spcAft>
            </a:pPr>
            <a:r>
              <a:rPr sz="1250" b="0">
                <a:solidFill>
                  <a:srgbClr val="E6E6E6"/>
                </a:solidFill>
                <a:latin typeface="Consolas"/>
                <a:ea typeface="Consolas"/>
              </a:rPr>
              <a:t>  5  WHERE  opname LIKE 'RMAN%' AND sofar &lt;&gt; totalwork;</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SID OPNAME                        PCT REMAIN_SEC</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45 RMAN: aggregate input        42.7        188</a:t>
            </a:r>
          </a:p>
          <a:p>
            <a:pPr>
              <a:spcAft>
                <a:spcPts val="0"/>
              </a:spcAft>
            </a:pPr>
            <a:r>
              <a:rPr sz="1250" b="0">
                <a:solidFill>
                  <a:srgbClr val="E6E6E6"/>
                </a:solidFill>
                <a:latin typeface="Consolas"/>
                <a:ea typeface="Consolas"/>
              </a:rPr>
              <a:t>   52 RMAN: full datafile restore  38.1        202</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operation, status, mbytes_processed</a:t>
            </a:r>
          </a:p>
          <a:p>
            <a:pPr>
              <a:spcAft>
                <a:spcPts val="0"/>
              </a:spcAft>
            </a:pPr>
            <a:r>
              <a:rPr sz="1250" b="0">
                <a:solidFill>
                  <a:srgbClr val="E6E6E6"/>
                </a:solidFill>
                <a:latin typeface="Consolas"/>
                <a:ea typeface="Consolas"/>
              </a:rPr>
              <a:t>  2  FROM v$rman_status WHERE status = 'RUNNING';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15.3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특수한 데이터파일 상황</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백업이 없어도 아카이브가 연속이면 복구된다</a:t>
            </a:r>
          </a:p>
          <a:p>
            <a:pPr>
              <a:spcAft>
                <a:spcPts val="600"/>
              </a:spcAft>
            </a:pPr>
            <a:r>
              <a:rPr sz="1600" b="0">
                <a:solidFill>
                  <a:srgbClr val="C5CED6"/>
                </a:solidFill>
                <a:latin typeface="Malgun Gothic"/>
                <a:ea typeface="Malgun Gothic"/>
              </a:rPr>
              <a:t>•  손상된 파일만 지정하는 것이 원칙</a:t>
            </a:r>
          </a:p>
          <a:p>
            <a:pPr>
              <a:spcAft>
                <a:spcPts val="600"/>
              </a:spcAft>
            </a:pPr>
            <a:r>
              <a:rPr sz="1600" b="0">
                <a:solidFill>
                  <a:srgbClr val="C5CED6"/>
                </a:solidFill>
                <a:latin typeface="Malgun Gothic"/>
                <a:ea typeface="Malgun Gothic"/>
              </a:rPr>
              <a:t>•  블록 손상은 16장에서 별도로 다룬다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백업이 없는 데이터파일</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CREATE DATAFILE 후 복구</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SQL 'ALTER DATABASE DATAFILE 10 OFFLINE';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RESTORE DATAFILE 10;</a:t>
            </a:r>
          </a:p>
          <a:p>
            <a:pPr>
              <a:spcAft>
                <a:spcPts val="0"/>
              </a:spcAft>
            </a:pPr>
            <a:r>
              <a:rPr sz="1250" b="0">
                <a:solidFill>
                  <a:srgbClr val="E6E6E6"/>
                </a:solidFill>
                <a:latin typeface="Consolas"/>
                <a:ea typeface="Consolas"/>
              </a:rPr>
              <a:t>RMAN-06023: no backup or copy of datafile 10 found to restore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백업이 없으므로 빈 파일을 만든다.</a:t>
            </a:r>
          </a:p>
          <a:p>
            <a:pPr>
              <a:spcAft>
                <a:spcPts val="0"/>
              </a:spcAft>
            </a:pPr>
            <a:r>
              <a:rPr sz="1250" b="0">
                <a:solidFill>
                  <a:srgbClr val="E6E6E6"/>
                </a:solidFill>
                <a:latin typeface="Consolas"/>
                <a:ea typeface="Consolas"/>
              </a:rPr>
              <a:t>RMAN&gt; SQL "ALTER DATABASE CREATE DATAFILE 10 AS</a:t>
            </a:r>
          </a:p>
          <a:p>
            <a:pPr>
              <a:spcAft>
                <a:spcPts val="0"/>
              </a:spcAft>
            </a:pPr>
            <a:r>
              <a:rPr sz="1250" b="0">
                <a:solidFill>
                  <a:srgbClr val="E6E6E6"/>
                </a:solidFill>
                <a:latin typeface="Consolas"/>
                <a:ea typeface="Consolas"/>
              </a:rPr>
              <a:t>  2&gt;   ''/u01/app/oracle/oradata/orcl/tbs_new01.dbf''";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RECOVER DATAFILE 10;</a:t>
            </a:r>
          </a:p>
          <a:p>
            <a:pPr>
              <a:spcAft>
                <a:spcPts val="0"/>
              </a:spcAft>
            </a:pPr>
            <a:r>
              <a:rPr sz="1250" b="0">
                <a:solidFill>
                  <a:srgbClr val="E6E6E6"/>
                </a:solidFill>
                <a:latin typeface="Consolas"/>
                <a:ea typeface="Consolas"/>
              </a:rPr>
              <a:t>archived log file name=/home/oracle/arch1/arch_1_19_1200592300.arc thread=1 sequence=19</a:t>
            </a:r>
          </a:p>
          <a:p>
            <a:pPr>
              <a:spcAft>
                <a:spcPts val="0"/>
              </a:spcAft>
            </a:pPr>
            <a:r>
              <a:rPr sz="1250" b="0">
                <a:solidFill>
                  <a:srgbClr val="E6E6E6"/>
                </a:solidFill>
                <a:latin typeface="Consolas"/>
                <a:ea typeface="Consolas"/>
              </a:rPr>
              <a:t>media recovery complete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SQL 'ALTER DATABASE DATAFILE 10 ONLINE';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일부 손상과 복구 시간 단축</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테이블스페이스의 일부 파일만 손상된 경우</a:t>
            </a:r>
          </a:p>
          <a:p>
            <a:pPr>
              <a:spcAft>
                <a:spcPts val="600"/>
              </a:spcAft>
            </a:pPr>
            <a:r>
              <a:rPr sz="1600" b="0">
                <a:solidFill>
                  <a:srgbClr val="5A6672"/>
                </a:solidFill>
                <a:latin typeface="Malgun Gothic"/>
                <a:ea typeface="Malgun Gothic"/>
              </a:rPr>
              <a:t>    –  v$recover_file 로 대상을 확인하고 그 파일만 지정</a:t>
            </a:r>
          </a:p>
          <a:p>
            <a:pPr>
              <a:spcAft>
                <a:spcPts val="600"/>
              </a:spcAft>
            </a:pPr>
            <a:r>
              <a:rPr sz="1600" b="0">
                <a:solidFill>
                  <a:srgbClr val="5A6672"/>
                </a:solidFill>
                <a:latin typeface="Malgun Gothic"/>
                <a:ea typeface="Malgun Gothic"/>
              </a:rPr>
              <a:t>    –  TABLESPACE 지정 시 멀쩡한 파일까지 복원 대상이 될 수 있음</a:t>
            </a:r>
          </a:p>
          <a:p>
            <a:pPr>
              <a:spcAft>
                <a:spcPts val="600"/>
              </a:spcAft>
            </a:pPr>
            <a:r>
              <a:rPr sz="1800" b="0">
                <a:solidFill>
                  <a:srgbClr val="202830"/>
                </a:solidFill>
                <a:latin typeface="Malgun Gothic"/>
                <a:ea typeface="Malgun Gothic"/>
              </a:rPr>
              <a:t>•  복구 시간 단축 네 가지</a:t>
            </a:r>
          </a:p>
          <a:p>
            <a:pPr>
              <a:spcAft>
                <a:spcPts val="600"/>
              </a:spcAft>
            </a:pPr>
            <a:r>
              <a:rPr sz="1600" b="0">
                <a:solidFill>
                  <a:srgbClr val="5A6672"/>
                </a:solidFill>
                <a:latin typeface="Malgun Gothic"/>
                <a:ea typeface="Malgun Gothic"/>
              </a:rPr>
              <a:t>    –  복원 대상 최소화 · 채널 증가</a:t>
            </a:r>
          </a:p>
          <a:p>
            <a:pPr>
              <a:spcAft>
                <a:spcPts val="600"/>
              </a:spcAft>
            </a:pPr>
            <a:r>
              <a:rPr sz="1600" b="0">
                <a:solidFill>
                  <a:srgbClr val="5A6672"/>
                </a:solidFill>
                <a:latin typeface="Malgun Gothic"/>
                <a:ea typeface="Malgun Gothic"/>
              </a:rPr>
              <a:t>    –  이미지 카피가 있으면 SWITCH로 복원 단계 생략</a:t>
            </a:r>
          </a:p>
          <a:p>
            <a:pPr>
              <a:spcAft>
                <a:spcPts val="600"/>
              </a:spcAft>
            </a:pPr>
            <a:r>
              <a:rPr sz="1600" b="0">
                <a:solidFill>
                  <a:srgbClr val="5A6672"/>
                </a:solidFill>
                <a:latin typeface="Malgun Gothic"/>
                <a:ea typeface="Malgun Gothic"/>
              </a:rPr>
              <a:t>    –  증분 주기 조정으로 적용할 아카이브 감소</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15.4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컨트롤파일과 spfile 복구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카탈로그가 있으면 바로 복원된다</a:t>
            </a:r>
          </a:p>
          <a:p>
            <a:pPr>
              <a:spcAft>
                <a:spcPts val="600"/>
              </a:spcAft>
            </a:pPr>
            <a:r>
              <a:rPr sz="1600" b="0">
                <a:solidFill>
                  <a:srgbClr val="C5CED6"/>
                </a:solidFill>
                <a:latin typeface="Malgun Gothic"/>
                <a:ea typeface="Malgun Gothic"/>
              </a:rPr>
              <a:t>•  없으면 DBID로 자동 백업을 찾는다</a:t>
            </a:r>
          </a:p>
          <a:p>
            <a:pPr>
              <a:spcAft>
                <a:spcPts val="600"/>
              </a:spcAft>
            </a:pPr>
            <a:r>
              <a:rPr sz="1600" b="0">
                <a:solidFill>
                  <a:srgbClr val="C5CED6"/>
                </a:solidFill>
                <a:latin typeface="Malgun Gothic"/>
                <a:ea typeface="Malgun Gothic"/>
              </a:rPr>
              <a:t>•  복원 후 리포지터리 정리가 필요하다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컨트롤파일 복원</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카탈로그 / 자동 백업</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카탈로그가 있을 때</a:t>
            </a:r>
          </a:p>
          <a:p>
            <a:pPr>
              <a:spcAft>
                <a:spcPts val="0"/>
              </a:spcAft>
            </a:pPr>
            <a:r>
              <a:rPr sz="1250" b="0">
                <a:solidFill>
                  <a:srgbClr val="E6E6E6"/>
                </a:solidFill>
                <a:latin typeface="Consolas"/>
                <a:ea typeface="Consolas"/>
              </a:rPr>
              <a:t>RMAN&gt; STARTUP NOMOUNT</a:t>
            </a:r>
          </a:p>
          <a:p>
            <a:pPr>
              <a:spcAft>
                <a:spcPts val="0"/>
              </a:spcAft>
            </a:pPr>
            <a:r>
              <a:rPr sz="1250" b="0">
                <a:solidFill>
                  <a:srgbClr val="E6E6E6"/>
                </a:solidFill>
                <a:latin typeface="Consolas"/>
                <a:ea typeface="Consolas"/>
              </a:rPr>
              <a:t>RMAN&gt; RESTORE CONTROLFILE;</a:t>
            </a:r>
          </a:p>
          <a:p>
            <a:pPr>
              <a:spcAft>
                <a:spcPts val="0"/>
              </a:spcAft>
            </a:pPr>
            <a:r>
              <a:rPr sz="1250" b="0">
                <a:solidFill>
                  <a:srgbClr val="E6E6E6"/>
                </a:solidFill>
                <a:latin typeface="Consolas"/>
                <a:ea typeface="Consolas"/>
              </a:rPr>
              <a:t>output file name=/u01/app/oracle/oradata/orcl/control01.ctl</a:t>
            </a:r>
          </a:p>
          <a:p>
            <a:pPr>
              <a:spcAft>
                <a:spcPts val="0"/>
              </a:spcAft>
            </a:pPr>
            <a:r>
              <a:rPr sz="1250" b="0">
                <a:solidFill>
                  <a:srgbClr val="E6E6E6"/>
                </a:solidFill>
                <a:latin typeface="Consolas"/>
                <a:ea typeface="Consolas"/>
              </a:rPr>
              <a:t>output file name=/u01/app/oracle/oradata/orcl/control02.ctl</a:t>
            </a:r>
          </a:p>
          <a:p>
            <a:pPr>
              <a:spcAft>
                <a:spcPts val="0"/>
              </a:spcAft>
            </a:pPr>
            <a:r>
              <a:rPr sz="1250" b="0">
                <a:solidFill>
                  <a:srgbClr val="E6E6E6"/>
                </a:solidFill>
                <a:latin typeface="Consolas"/>
                <a:ea typeface="Consolas"/>
              </a:rPr>
              <a:t>output file name=/u02/oradata/orcl/control03.ctl</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카탈로그가 없을 때</a:t>
            </a:r>
          </a:p>
          <a:p>
            <a:pPr>
              <a:spcAft>
                <a:spcPts val="0"/>
              </a:spcAft>
            </a:pPr>
            <a:r>
              <a:rPr sz="1250" b="0">
                <a:solidFill>
                  <a:srgbClr val="E6E6E6"/>
                </a:solidFill>
                <a:latin typeface="Consolas"/>
                <a:ea typeface="Consolas"/>
              </a:rPr>
              <a:t>RMAN&gt; STARTUP NOMOUNT</a:t>
            </a:r>
          </a:p>
          <a:p>
            <a:pPr>
              <a:spcAft>
                <a:spcPts val="0"/>
              </a:spcAft>
            </a:pPr>
            <a:r>
              <a:rPr sz="1250" b="0">
                <a:solidFill>
                  <a:srgbClr val="E6E6E6"/>
                </a:solidFill>
                <a:latin typeface="Consolas"/>
                <a:ea typeface="Consolas"/>
              </a:rPr>
              <a:t>RMAN&gt; SET DBID 1200530011;</a:t>
            </a:r>
          </a:p>
          <a:p>
            <a:pPr>
              <a:spcAft>
                <a:spcPts val="0"/>
              </a:spcAft>
            </a:pPr>
            <a:r>
              <a:rPr sz="1250" b="0">
                <a:solidFill>
                  <a:srgbClr val="E6E6E6"/>
                </a:solidFill>
                <a:latin typeface="Consolas"/>
                <a:ea typeface="Consolas"/>
              </a:rPr>
              <a:t>RMAN&gt; RESTORE CONTROLFILE FROM AUTOBACKUP;</a:t>
            </a:r>
          </a:p>
          <a:p>
            <a:pPr>
              <a:spcAft>
                <a:spcPts val="0"/>
              </a:spcAft>
            </a:pPr>
            <a:r>
              <a:rPr sz="1250" b="0">
                <a:solidFill>
                  <a:srgbClr val="E6E6E6"/>
                </a:solidFill>
                <a:latin typeface="Consolas"/>
                <a:ea typeface="Consolas"/>
              </a:rPr>
              <a:t>channel ORA_DISK_1: AUTOBACKUP found: .../cf_c-1200530011-20250516-00</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ALTER DATABASE MOUNT;</a:t>
            </a:r>
          </a:p>
          <a:p>
            <a:pPr>
              <a:spcAft>
                <a:spcPts val="0"/>
              </a:spcAft>
            </a:pPr>
            <a:r>
              <a:rPr sz="1250" b="0">
                <a:solidFill>
                  <a:srgbClr val="E6E6E6"/>
                </a:solidFill>
                <a:latin typeface="Consolas"/>
                <a:ea typeface="Consolas"/>
              </a:rPr>
              <a:t>RMAN&gt; RECOVER DATABASE;</a:t>
            </a:r>
          </a:p>
          <a:p>
            <a:pPr>
              <a:spcAft>
                <a:spcPts val="0"/>
              </a:spcAft>
            </a:pPr>
            <a:r>
              <a:rPr sz="1250" b="0">
                <a:solidFill>
                  <a:srgbClr val="E6E6E6"/>
                </a:solidFill>
                <a:latin typeface="Consolas"/>
                <a:ea typeface="Consolas"/>
              </a:rPr>
              <a:t>RMAN&gt; ALTER DATABASE OPEN RESETLOGS;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복원 후 처리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리포지터리 정리와 재백업</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컨트롤파일이 모르는 백업을 등록</a:t>
            </a:r>
          </a:p>
          <a:p>
            <a:pPr>
              <a:spcAft>
                <a:spcPts val="0"/>
              </a:spcAft>
            </a:pPr>
            <a:r>
              <a:rPr sz="1250" b="0">
                <a:solidFill>
                  <a:srgbClr val="E6E6E6"/>
                </a:solidFill>
                <a:latin typeface="Consolas"/>
                <a:ea typeface="Consolas"/>
              </a:rPr>
              <a:t>RMAN&gt; CATALOG START WITH '/home/oracle/rmanbk/';</a:t>
            </a:r>
          </a:p>
          <a:p>
            <a:pPr>
              <a:spcAft>
                <a:spcPts val="0"/>
              </a:spcAft>
            </a:pPr>
            <a:r>
              <a:rPr sz="1250" b="0">
                <a:solidFill>
                  <a:srgbClr val="E6E6E6"/>
                </a:solidFill>
                <a:latin typeface="Consolas"/>
                <a:ea typeface="Consolas"/>
              </a:rPr>
              <a:t>RMAN&gt; CROSSCHECK BACKUP;</a:t>
            </a:r>
          </a:p>
          <a:p>
            <a:pPr>
              <a:spcAft>
                <a:spcPts val="0"/>
              </a:spcAft>
            </a:pPr>
            <a:r>
              <a:rPr sz="1250" b="0">
                <a:solidFill>
                  <a:srgbClr val="E6E6E6"/>
                </a:solidFill>
                <a:latin typeface="Consolas"/>
                <a:ea typeface="Consolas"/>
              </a:rPr>
              <a:t>RMAN&gt; DELETE NOPROMPT EXPIRED BACKUP;</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LIST INCARNATION;</a:t>
            </a:r>
          </a:p>
          <a:p>
            <a:pPr>
              <a:spcAft>
                <a:spcPts val="0"/>
              </a:spcAft>
            </a:pPr>
            <a:r>
              <a:rPr sz="1250" b="0">
                <a:solidFill>
                  <a:srgbClr val="E6E6E6"/>
                </a:solidFill>
                <a:latin typeface="Consolas"/>
                <a:ea typeface="Consolas"/>
              </a:rPr>
              <a:t>RMAN&gt; RESYNC CATALOG;</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새 인카네이션의 기준 백업을 즉시 만든다</a:t>
            </a:r>
          </a:p>
          <a:p>
            <a:pPr>
              <a:spcAft>
                <a:spcPts val="0"/>
              </a:spcAft>
            </a:pPr>
            <a:r>
              <a:rPr sz="1250" b="0">
                <a:solidFill>
                  <a:srgbClr val="E6E6E6"/>
                </a:solidFill>
                <a:latin typeface="Consolas"/>
                <a:ea typeface="Consolas"/>
              </a:rPr>
              <a:t>RMAN&gt; BACKUP DATABASE PLUS ARCHIVELOG TAG 'AFTER_RECOVER';</a:t>
            </a:r>
          </a:p>
          <a:p>
            <a:pPr>
              <a:spcAft>
                <a:spcPts val="0"/>
              </a:spcAft>
            </a:pPr>
            <a:r>
              <a:rPr sz="1250" b="0">
                <a:solidFill>
                  <a:srgbClr val="E6E6E6"/>
                </a:solidFill>
                <a:latin typeface="Consolas"/>
                <a:ea typeface="Consolas"/>
              </a:rPr>
              <a:t>RMAN&gt; REPORT NEED BACKUP;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spfile 복구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순서가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STARTUP NOMOUNT</a:t>
            </a:r>
          </a:p>
          <a:p>
            <a:pPr>
              <a:spcAft>
                <a:spcPts val="0"/>
              </a:spcAft>
            </a:pPr>
            <a:r>
              <a:rPr sz="1250" b="0">
                <a:solidFill>
                  <a:srgbClr val="E6E6E6"/>
                </a:solidFill>
                <a:latin typeface="Consolas"/>
                <a:ea typeface="Consolas"/>
              </a:rPr>
              <a:t>ORA-01078: failure in processing system parameters</a:t>
            </a:r>
          </a:p>
          <a:p>
            <a:pPr>
              <a:spcAft>
                <a:spcPts val="0"/>
              </a:spcAft>
            </a:pPr>
            <a:r>
              <a:rPr sz="1250" b="0">
                <a:solidFill>
                  <a:srgbClr val="E6E6E6"/>
                </a:solidFill>
                <a:latin typeface="Consolas"/>
                <a:ea typeface="Consolas"/>
              </a:rPr>
              <a:t>LRM-00109: could not open parameter file '.../dbs/initorcl.ora'</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최소 pfile로 인스턴스만 올린다.</a:t>
            </a:r>
          </a:p>
          <a:p>
            <a:pPr>
              <a:spcAft>
                <a:spcPts val="0"/>
              </a:spcAft>
            </a:pPr>
            <a:r>
              <a:rPr sz="1250" b="0">
                <a:solidFill>
                  <a:srgbClr val="E6E6E6"/>
                </a:solidFill>
                <a:latin typeface="Consolas"/>
                <a:ea typeface="Consolas"/>
              </a:rPr>
              <a:t>[oracle@oel7v9r1 ~]$ echo "db_name=orcl" &gt; /tmp/init_tmp.ora</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STARTUP NOMOUNT PFILE='/tmp/init_tmp.ora';</a:t>
            </a:r>
          </a:p>
          <a:p>
            <a:pPr>
              <a:spcAft>
                <a:spcPts val="0"/>
              </a:spcAft>
            </a:pPr>
            <a:r>
              <a:rPr sz="1250" b="0">
                <a:solidFill>
                  <a:srgbClr val="E6E6E6"/>
                </a:solidFill>
                <a:latin typeface="Consolas"/>
                <a:ea typeface="Consolas"/>
              </a:rPr>
              <a:t>RMAN&gt; SET DBID 1200530011;</a:t>
            </a:r>
          </a:p>
          <a:p>
            <a:pPr>
              <a:spcAft>
                <a:spcPts val="0"/>
              </a:spcAft>
            </a:pPr>
            <a:r>
              <a:rPr sz="1250" b="0">
                <a:solidFill>
                  <a:srgbClr val="E6E6E6"/>
                </a:solidFill>
                <a:latin typeface="Consolas"/>
                <a:ea typeface="Consolas"/>
              </a:rPr>
              <a:t>RMAN&gt; RESTORE SPFILE FROM AUTOBACKUP;</a:t>
            </a:r>
          </a:p>
          <a:p>
            <a:pPr>
              <a:spcAft>
                <a:spcPts val="0"/>
              </a:spcAft>
            </a:pPr>
            <a:r>
              <a:rPr sz="1250" b="0">
                <a:solidFill>
                  <a:srgbClr val="E6E6E6"/>
                </a:solidFill>
                <a:latin typeface="Consolas"/>
                <a:ea typeface="Consolas"/>
              </a:rPr>
              <a:t>RMAN&gt; SHUTDOWN IMMEDIATE</a:t>
            </a:r>
          </a:p>
          <a:p>
            <a:pPr>
              <a:spcAft>
                <a:spcPts val="0"/>
              </a:spcAft>
            </a:pPr>
            <a:r>
              <a:rPr sz="1250" b="0">
                <a:solidFill>
                  <a:srgbClr val="E6E6E6"/>
                </a:solidFill>
                <a:latin typeface="Consolas"/>
                <a:ea typeface="Consolas"/>
              </a:rPr>
              <a:t>RMAN&gt; STARTUP NOMOUNT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15.5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불완전 복구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네 기준과 경계 규칙은 10장과 같다</a:t>
            </a:r>
          </a:p>
          <a:p>
            <a:pPr>
              <a:spcAft>
                <a:spcPts val="600"/>
              </a:spcAft>
            </a:pPr>
            <a:r>
              <a:rPr sz="1600" b="0">
                <a:solidFill>
                  <a:srgbClr val="C5CED6"/>
                </a:solidFill>
                <a:latin typeface="Malgun Gothic"/>
                <a:ea typeface="Malgun Gothic"/>
              </a:rPr>
              <a:t>•  SET UNTIL은 RUN 블록 첫 줄에</a:t>
            </a:r>
          </a:p>
          <a:p>
            <a:pPr>
              <a:spcAft>
                <a:spcPts val="600"/>
              </a:spcAft>
            </a:pPr>
            <a:r>
              <a:rPr sz="1600" b="0">
                <a:solidFill>
                  <a:srgbClr val="C5CED6"/>
                </a:solidFill>
                <a:latin typeface="Malgun Gothic"/>
                <a:ea typeface="Malgun Gothic"/>
              </a:rPr>
              <a:t>•  인카네이션을 되돌릴 수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네 기준과 경계 규칙</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SET UNTIL은 첫 줄에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RUN {</a:t>
            </a:r>
          </a:p>
          <a:p>
            <a:pPr>
              <a:spcAft>
                <a:spcPts val="0"/>
              </a:spcAft>
            </a:pPr>
            <a:r>
              <a:rPr sz="1250" b="0">
                <a:solidFill>
                  <a:srgbClr val="E6E6E6"/>
                </a:solidFill>
                <a:latin typeface="Consolas"/>
                <a:ea typeface="Consolas"/>
              </a:rPr>
              <a:t>  2&gt;   SET UNTIL TIME "TO_DATE('2025-05-16 14:30:00','YYYY-MM-DD HH24:MI:SS')";</a:t>
            </a:r>
          </a:p>
          <a:p>
            <a:pPr>
              <a:spcAft>
                <a:spcPts val="0"/>
              </a:spcAft>
            </a:pPr>
            <a:r>
              <a:rPr sz="1250" b="0">
                <a:solidFill>
                  <a:srgbClr val="E6E6E6"/>
                </a:solidFill>
                <a:latin typeface="Consolas"/>
                <a:ea typeface="Consolas"/>
              </a:rPr>
              <a:t>  3&gt;   RESTORE DATABASE;</a:t>
            </a:r>
          </a:p>
          <a:p>
            <a:pPr>
              <a:spcAft>
                <a:spcPts val="0"/>
              </a:spcAft>
            </a:pPr>
            <a:r>
              <a:rPr sz="1250" b="0">
                <a:solidFill>
                  <a:srgbClr val="E6E6E6"/>
                </a:solidFill>
                <a:latin typeface="Consolas"/>
                <a:ea typeface="Consolas"/>
              </a:rPr>
              <a:t>  4&gt;   RECOVER DATABASE;</a:t>
            </a:r>
          </a:p>
          <a:p>
            <a:pPr>
              <a:spcAft>
                <a:spcPts val="0"/>
              </a:spcAft>
            </a:pPr>
            <a:r>
              <a:rPr sz="1250" b="0">
                <a:solidFill>
                  <a:srgbClr val="E6E6E6"/>
                </a:solidFill>
                <a:latin typeface="Consolas"/>
                <a:ea typeface="Consolas"/>
              </a:rPr>
              <a:t>  5&gt; }</a:t>
            </a:r>
          </a:p>
          <a:p>
            <a:pPr>
              <a:spcAft>
                <a:spcPts val="0"/>
              </a:spcAft>
            </a:pPr>
            <a:r>
              <a:rPr sz="1250" b="0">
                <a:solidFill>
                  <a:srgbClr val="E6E6E6"/>
                </a:solidFill>
                <a:latin typeface="Consolas"/>
                <a:ea typeface="Consolas"/>
              </a:rPr>
              <a:t>RMAN&gt; ALTER DATABASE OPEN RESETLOGS;</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기준                | 적용 범위</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UNTIL TIME          | 지정 시각까지 (포함)</a:t>
            </a:r>
          </a:p>
          <a:p>
            <a:pPr>
              <a:spcAft>
                <a:spcPts val="0"/>
              </a:spcAft>
            </a:pPr>
            <a:r>
              <a:rPr sz="1250" b="0">
                <a:solidFill>
                  <a:srgbClr val="E6E6E6"/>
                </a:solidFill>
                <a:latin typeface="Consolas"/>
                <a:ea typeface="Consolas"/>
              </a:rPr>
              <a:t>UNTIL SCN           | 지정 SCN 직전까지 (미포함)</a:t>
            </a:r>
          </a:p>
          <a:p>
            <a:pPr>
              <a:spcAft>
                <a:spcPts val="0"/>
              </a:spcAft>
            </a:pPr>
            <a:r>
              <a:rPr sz="1250" b="0">
                <a:solidFill>
                  <a:srgbClr val="E6E6E6"/>
                </a:solidFill>
                <a:latin typeface="Consolas"/>
                <a:ea typeface="Consolas"/>
              </a:rPr>
              <a:t>UNTIL SEQUENCE      | 지정 시퀀스 직전까지 (미포함)</a:t>
            </a:r>
          </a:p>
          <a:p>
            <a:pPr>
              <a:spcAft>
                <a:spcPts val="0"/>
              </a:spcAft>
            </a:pPr>
            <a:r>
              <a:rPr sz="1250" b="0">
                <a:solidFill>
                  <a:srgbClr val="E6E6E6"/>
                </a:solidFill>
                <a:latin typeface="Consolas"/>
                <a:ea typeface="Consolas"/>
              </a:rPr>
              <a:t>UNTIL RESTORE POINT | 그 지점까지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복원 지점과 오픈 전 검증</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가장 간편한 시점 지정</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CREATE RESTORE POINT before_batch;</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name, scn, TO_CHAR(time,'HH24:MI:SS') AS t</a:t>
            </a:r>
          </a:p>
          <a:p>
            <a:pPr>
              <a:spcAft>
                <a:spcPts val="0"/>
              </a:spcAft>
            </a:pPr>
            <a:r>
              <a:rPr sz="1250" b="0">
                <a:solidFill>
                  <a:srgbClr val="E6E6E6"/>
                </a:solidFill>
                <a:latin typeface="Consolas"/>
                <a:ea typeface="Consolas"/>
              </a:rPr>
              <a:t>  2  FROM v$restore_point;</a:t>
            </a:r>
          </a:p>
          <a:p>
            <a:pPr>
              <a:spcAft>
                <a:spcPts val="0"/>
              </a:spcAft>
            </a:pPr>
            <a:r>
              <a:rPr sz="1250" b="0">
                <a:solidFill>
                  <a:srgbClr val="E6E6E6"/>
                </a:solidFill>
                <a:latin typeface="Consolas"/>
                <a:ea typeface="Consolas"/>
              </a:rPr>
              <a:t>NAME              SCN      T</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BEFORE_BATCH  2601480 14:25:11</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RUN {</a:t>
            </a:r>
          </a:p>
          <a:p>
            <a:pPr>
              <a:spcAft>
                <a:spcPts val="0"/>
              </a:spcAft>
            </a:pPr>
            <a:r>
              <a:rPr sz="1250" b="0">
                <a:solidFill>
                  <a:srgbClr val="E6E6E6"/>
                </a:solidFill>
                <a:latin typeface="Consolas"/>
                <a:ea typeface="Consolas"/>
              </a:rPr>
              <a:t>  2&gt;   SET UNTIL RESTORE POINT before_batch;</a:t>
            </a:r>
          </a:p>
          <a:p>
            <a:pPr>
              <a:spcAft>
                <a:spcPts val="0"/>
              </a:spcAft>
            </a:pPr>
            <a:r>
              <a:rPr sz="1250" b="0">
                <a:solidFill>
                  <a:srgbClr val="E6E6E6"/>
                </a:solidFill>
                <a:latin typeface="Consolas"/>
                <a:ea typeface="Consolas"/>
              </a:rPr>
              <a:t>  3&gt;   RESTORE DATABASE;</a:t>
            </a:r>
          </a:p>
          <a:p>
            <a:pPr>
              <a:spcAft>
                <a:spcPts val="0"/>
              </a:spcAft>
            </a:pPr>
            <a:r>
              <a:rPr sz="1250" b="0">
                <a:solidFill>
                  <a:srgbClr val="E6E6E6"/>
                </a:solidFill>
                <a:latin typeface="Consolas"/>
                <a:ea typeface="Consolas"/>
              </a:rPr>
              <a:t>  4&gt;   RECOVER DATABASE;</a:t>
            </a:r>
          </a:p>
          <a:p>
            <a:pPr>
              <a:spcAft>
                <a:spcPts val="0"/>
              </a:spcAft>
            </a:pPr>
            <a:r>
              <a:rPr sz="1250" b="0">
                <a:solidFill>
                  <a:srgbClr val="E6E6E6"/>
                </a:solidFill>
                <a:latin typeface="Consolas"/>
                <a:ea typeface="Consolas"/>
              </a:rPr>
              <a:t>  5&gt; }</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ALTER DATABASE OPEN READ ONLY;   -- 확인 후 결정</a:t>
            </a:r>
          </a:p>
          <a:p>
            <a:pPr>
              <a:spcAft>
                <a:spcPts val="0"/>
              </a:spcAft>
            </a:pPr>
            <a:r>
              <a:rPr sz="1250" b="0">
                <a:solidFill>
                  <a:srgbClr val="E6E6E6"/>
                </a:solidFill>
                <a:latin typeface="Consolas"/>
                <a:ea typeface="Consolas"/>
              </a:rPr>
              <a:t>RMAN&gt; ALTER DATABASE OPEN RESETLOGS;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인카네이션 되돌리기</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RMAN의 결정적 이점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LIST INCARNATION;</a:t>
            </a:r>
          </a:p>
          <a:p>
            <a:pPr>
              <a:spcAft>
                <a:spcPts val="0"/>
              </a:spcAft>
            </a:pPr>
            <a:r>
              <a:rPr sz="1250" b="0">
                <a:solidFill>
                  <a:srgbClr val="E6E6E6"/>
                </a:solidFill>
                <a:latin typeface="Consolas"/>
                <a:ea typeface="Consolas"/>
              </a:rPr>
              <a:t>DB Key  Inc Key DB Name  DB ID       STATUS  Reset SCN  Reset Time</a:t>
            </a:r>
          </a:p>
          <a:p>
            <a:pPr>
              <a:spcAft>
                <a:spcPts val="0"/>
              </a:spcAft>
            </a:pPr>
            <a:r>
              <a:rPr sz="1250" b="0">
                <a:solidFill>
                  <a:srgbClr val="7EC699"/>
                </a:solidFill>
                <a:latin typeface="Consolas"/>
                <a:ea typeface="Consolas"/>
              </a:rPr>
              <a:t>------- ------- -------- ----------- ------- ---------- ----------</a:t>
            </a:r>
          </a:p>
          <a:p>
            <a:pPr>
              <a:spcAft>
                <a:spcPts val="0"/>
              </a:spcAft>
            </a:pPr>
            <a:r>
              <a:rPr sz="1250" b="0">
                <a:solidFill>
                  <a:srgbClr val="E6E6E6"/>
                </a:solidFill>
                <a:latin typeface="Consolas"/>
                <a:ea typeface="Consolas"/>
              </a:rPr>
              <a:t>1       15      ORCL     1200530011  PARENT  2484701    13-MAY-25</a:t>
            </a:r>
          </a:p>
          <a:p>
            <a:pPr>
              <a:spcAft>
                <a:spcPts val="0"/>
              </a:spcAft>
            </a:pPr>
            <a:r>
              <a:rPr sz="1250" b="0">
                <a:solidFill>
                  <a:srgbClr val="E6E6E6"/>
                </a:solidFill>
                <a:latin typeface="Consolas"/>
                <a:ea typeface="Consolas"/>
              </a:rPr>
              <a:t>1       21      ORCL     1200530011  CURRENT 2601501    16-MAY-25</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SHUTDOWN IMMEDIATE</a:t>
            </a:r>
          </a:p>
          <a:p>
            <a:pPr>
              <a:spcAft>
                <a:spcPts val="0"/>
              </a:spcAft>
            </a:pPr>
            <a:r>
              <a:rPr sz="1250" b="0">
                <a:solidFill>
                  <a:srgbClr val="E6E6E6"/>
                </a:solidFill>
                <a:latin typeface="Consolas"/>
                <a:ea typeface="Consolas"/>
              </a:rPr>
              <a:t>RMAN&gt; STARTUP MOUNT</a:t>
            </a:r>
          </a:p>
          <a:p>
            <a:pPr>
              <a:spcAft>
                <a:spcPts val="0"/>
              </a:spcAft>
            </a:pPr>
            <a:r>
              <a:rPr sz="1250" b="0">
                <a:solidFill>
                  <a:srgbClr val="E6E6E6"/>
                </a:solidFill>
                <a:latin typeface="Consolas"/>
                <a:ea typeface="Consolas"/>
              </a:rPr>
              <a:t>RMAN&gt; RESET DATABASE TO INCARNATION 15;</a:t>
            </a:r>
          </a:p>
          <a:p>
            <a:pPr>
              <a:spcAft>
                <a:spcPts val="0"/>
              </a:spcAft>
            </a:pPr>
            <a:r>
              <a:rPr sz="1250" b="0">
                <a:solidFill>
                  <a:srgbClr val="E6E6E6"/>
                </a:solidFill>
                <a:latin typeface="Consolas"/>
                <a:ea typeface="Consolas"/>
              </a:rPr>
              <a:t>RMAN&gt; RUN { SET UNTIL SCN 2601000; RESTORE DATABASE; RECOVER DATABASE; }</a:t>
            </a:r>
          </a:p>
          <a:p>
            <a:pPr>
              <a:spcAft>
                <a:spcPts val="0"/>
              </a:spcAft>
            </a:pPr>
            <a:r>
              <a:rPr sz="1250" b="0">
                <a:solidFill>
                  <a:srgbClr val="E6E6E6"/>
                </a:solidFill>
                <a:latin typeface="Consolas"/>
                <a:ea typeface="Consolas"/>
              </a:rPr>
              <a:t>RMAN&gt; ALTER DATABASE OPEN RESETLOGS;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자주 만나는 복구 오류</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아래부터 읽는다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오류 코드    | 뜻                              | 조치</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RMAN-06023   | 복원할 백업이 없다              | CREATE DATAFILE</a:t>
            </a:r>
          </a:p>
          <a:p>
            <a:pPr>
              <a:spcAft>
                <a:spcPts val="0"/>
              </a:spcAft>
            </a:pPr>
            <a:r>
              <a:rPr sz="1250" b="0">
                <a:solidFill>
                  <a:srgbClr val="E6E6E6"/>
                </a:solidFill>
                <a:latin typeface="Consolas"/>
                <a:ea typeface="Consolas"/>
              </a:rPr>
              <a:t>RMAN-06054   | 요청한 아카이브가 없다          | 한계 도달, RESETLOGS</a:t>
            </a:r>
          </a:p>
          <a:p>
            <a:pPr>
              <a:spcAft>
                <a:spcPts val="0"/>
              </a:spcAft>
            </a:pPr>
            <a:r>
              <a:rPr sz="1250" b="0">
                <a:solidFill>
                  <a:srgbClr val="E6E6E6"/>
                </a:solidFill>
                <a:latin typeface="Consolas"/>
                <a:ea typeface="Consolas"/>
              </a:rPr>
              <a:t>RMAN-06026   | 일부 대상을 복원할 수 없다      | 목록 확인 후 개별 처리</a:t>
            </a:r>
          </a:p>
          <a:p>
            <a:pPr>
              <a:spcAft>
                <a:spcPts val="0"/>
              </a:spcAft>
            </a:pPr>
            <a:r>
              <a:rPr sz="1250" b="0">
                <a:solidFill>
                  <a:srgbClr val="E6E6E6"/>
                </a:solidFill>
                <a:latin typeface="Consolas"/>
                <a:ea typeface="Consolas"/>
              </a:rPr>
              <a:t>RMAN-20202   | 리포지터리에 그 대상이 없다     | 이름 확인, RESYNC</a:t>
            </a:r>
          </a:p>
          <a:p>
            <a:pPr>
              <a:spcAft>
                <a:spcPts val="0"/>
              </a:spcAft>
            </a:pPr>
            <a:r>
              <a:rPr sz="1250" b="0">
                <a:solidFill>
                  <a:srgbClr val="E6E6E6"/>
                </a:solidFill>
                <a:latin typeface="Consolas"/>
                <a:ea typeface="Consolas"/>
              </a:rPr>
              <a:t>ORA-19870    | 백업 조각을 읽을 수 없다        | CROSSCHECK, 다른 백업</a:t>
            </a:r>
          </a:p>
          <a:p>
            <a:pPr>
              <a:spcAft>
                <a:spcPts val="0"/>
              </a:spcAft>
            </a:pPr>
            <a:r>
              <a:rPr sz="1250" b="0">
                <a:solidFill>
                  <a:srgbClr val="E6E6E6"/>
                </a:solidFill>
                <a:latin typeface="Consolas"/>
                <a:ea typeface="Consolas"/>
              </a:rPr>
              <a:t>ORA-19913    | 복호화 실패                     | SET DECRYPTION 지정</a:t>
            </a:r>
          </a:p>
          <a:p>
            <a:pPr>
              <a:spcAft>
                <a:spcPts val="0"/>
              </a:spcAft>
            </a:pPr>
            <a:r>
              <a:rPr sz="1250" b="0">
                <a:solidFill>
                  <a:srgbClr val="E6E6E6"/>
                </a:solidFill>
                <a:latin typeface="Consolas"/>
                <a:ea typeface="Consolas"/>
              </a:rPr>
              <a:t>ORA-01110    | 어느 파일인지 알려 주는 보조    | 위 오류와 함께 읽는다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시나리오 판단표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손상 유형별 명령</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손상 유형            | 상태    | 명령                        | 중단</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일반 DF 1개          | OPEN    | OFFLINE→RESTORE→RECOVER→ON  | 부분</a:t>
            </a:r>
          </a:p>
          <a:p>
            <a:pPr>
              <a:spcAft>
                <a:spcPts val="0"/>
              </a:spcAft>
            </a:pPr>
            <a:r>
              <a:rPr sz="1250" b="0">
                <a:solidFill>
                  <a:srgbClr val="E6E6E6"/>
                </a:solidFill>
                <a:latin typeface="Consolas"/>
                <a:ea typeface="Consolas"/>
              </a:rPr>
              <a:t>다른 위치로 복구     | OPEN    | SET NEWNAME→RESTORE→SWITCH  | 부분</a:t>
            </a:r>
          </a:p>
          <a:p>
            <a:pPr>
              <a:spcAft>
                <a:spcPts val="0"/>
              </a:spcAft>
            </a:pPr>
            <a:r>
              <a:rPr sz="1250" b="0">
                <a:solidFill>
                  <a:srgbClr val="E6E6E6"/>
                </a:solidFill>
                <a:latin typeface="Consolas"/>
                <a:ea typeface="Consolas"/>
              </a:rPr>
              <a:t>SYSTEM DF            | MOUNT   | RESTORE/RECOVER DATAFILE 1  | 전면</a:t>
            </a:r>
          </a:p>
          <a:p>
            <a:pPr>
              <a:spcAft>
                <a:spcPts val="0"/>
              </a:spcAft>
            </a:pPr>
            <a:r>
              <a:rPr sz="1250" b="0">
                <a:solidFill>
                  <a:srgbClr val="E6E6E6"/>
                </a:solidFill>
                <a:latin typeface="Consolas"/>
                <a:ea typeface="Consolas"/>
              </a:rPr>
              <a:t>UNDO DF              | MOUNT   | RESTORE/RECOVER TABLESPACE  | 전면</a:t>
            </a:r>
          </a:p>
          <a:p>
            <a:pPr>
              <a:spcAft>
                <a:spcPts val="0"/>
              </a:spcAft>
            </a:pPr>
            <a:r>
              <a:rPr sz="1250" b="0">
                <a:solidFill>
                  <a:srgbClr val="E6E6E6"/>
                </a:solidFill>
                <a:latin typeface="Consolas"/>
                <a:ea typeface="Consolas"/>
              </a:rPr>
              <a:t>전체 DF              | MOUNT   | RESTORE/RECOVER DATABASE    | 전면</a:t>
            </a:r>
          </a:p>
          <a:p>
            <a:pPr>
              <a:spcAft>
                <a:spcPts val="0"/>
              </a:spcAft>
            </a:pPr>
            <a:r>
              <a:rPr sz="1250" b="0">
                <a:solidFill>
                  <a:srgbClr val="E6E6E6"/>
                </a:solidFill>
                <a:latin typeface="Consolas"/>
                <a:ea typeface="Consolas"/>
              </a:rPr>
              <a:t>백업 없는 DF         | OPEN    | CREATE DATAFILE→RECOVER     | 부분</a:t>
            </a:r>
          </a:p>
          <a:p>
            <a:pPr>
              <a:spcAft>
                <a:spcPts val="0"/>
              </a:spcAft>
            </a:pPr>
            <a:r>
              <a:rPr sz="1250" b="0">
                <a:solidFill>
                  <a:srgbClr val="E6E6E6"/>
                </a:solidFill>
                <a:latin typeface="Consolas"/>
                <a:ea typeface="Consolas"/>
              </a:rPr>
              <a:t>컨트롤파일           | NOMOUNT | RESTORE CONTROLFILE         | 전면</a:t>
            </a:r>
          </a:p>
          <a:p>
            <a:pPr>
              <a:spcAft>
                <a:spcPts val="0"/>
              </a:spcAft>
            </a:pPr>
            <a:r>
              <a:rPr sz="1250" b="0">
                <a:solidFill>
                  <a:srgbClr val="E6E6E6"/>
                </a:solidFill>
                <a:latin typeface="Consolas"/>
                <a:ea typeface="Consolas"/>
              </a:rPr>
              <a:t>spfile               | NOMOUNT | 임시 pfile→RESTORE SPFILE   | 전면</a:t>
            </a:r>
          </a:p>
          <a:p>
            <a:pPr>
              <a:spcAft>
                <a:spcPts val="0"/>
              </a:spcAft>
            </a:pPr>
            <a:r>
              <a:rPr sz="1250" b="0">
                <a:solidFill>
                  <a:srgbClr val="E6E6E6"/>
                </a:solidFill>
                <a:latin typeface="Consolas"/>
                <a:ea typeface="Consolas"/>
              </a:rPr>
              <a:t>불완전 복구          | MOUNT   | SET UNTIL→RESTORE→RECOVER   | 전면</a:t>
            </a:r>
          </a:p>
          <a:p>
            <a:pPr>
              <a:spcAft>
                <a:spcPts val="0"/>
              </a:spcAft>
            </a:pPr>
            <a:r>
              <a:rPr sz="1250" b="0">
                <a:solidFill>
                  <a:srgbClr val="E6E6E6"/>
                </a:solidFill>
                <a:latin typeface="Consolas"/>
                <a:ea typeface="Consolas"/>
              </a:rPr>
              <a:t>전체 손실(리두 포함) | NOMOUNT | CF→DB→RECOVER→RESETLOGS     | 전면</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후 확인 항목</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빠뜨리기 쉬운 마무리</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 FROM v$recover_file;</a:t>
            </a:r>
          </a:p>
          <a:p>
            <a:pPr>
              <a:spcAft>
                <a:spcPts val="0"/>
              </a:spcAft>
            </a:pPr>
            <a:r>
              <a:rPr sz="1250" b="0">
                <a:solidFill>
                  <a:srgbClr val="E6E6E6"/>
                </a:solidFill>
                <a:latin typeface="Consolas"/>
                <a:ea typeface="Consolas"/>
              </a:rPr>
              <a:t>no rows selected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file#, status FROM v$datafile</a:t>
            </a:r>
          </a:p>
          <a:p>
            <a:pPr>
              <a:spcAft>
                <a:spcPts val="0"/>
              </a:spcAft>
            </a:pPr>
            <a:r>
              <a:rPr sz="1250" b="0">
                <a:solidFill>
                  <a:srgbClr val="E6E6E6"/>
                </a:solidFill>
                <a:latin typeface="Consolas"/>
                <a:ea typeface="Consolas"/>
              </a:rPr>
              <a:t>  2  WHERE  status NOT IN ('SYSTEM','ONLINE');</a:t>
            </a:r>
          </a:p>
          <a:p>
            <a:pPr>
              <a:spcAft>
                <a:spcPts val="0"/>
              </a:spcAft>
            </a:pPr>
            <a:r>
              <a:rPr sz="1250" b="0">
                <a:solidFill>
                  <a:srgbClr val="E6E6E6"/>
                </a:solidFill>
                <a:latin typeface="Consolas"/>
                <a:ea typeface="Consolas"/>
              </a:rPr>
              <a:t>no rows selected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COUNT(*) FROM v$tempfile;</a:t>
            </a:r>
          </a:p>
          <a:p>
            <a:pPr>
              <a:spcAft>
                <a:spcPts val="0"/>
              </a:spcAft>
            </a:pPr>
            <a:r>
              <a:rPr sz="1250" b="0">
                <a:solidFill>
                  <a:srgbClr val="7EC699"/>
                </a:solidFill>
                <a:latin typeface="Consolas"/>
                <a:ea typeface="Consolas"/>
              </a:rPr>
              <a:t>-- RMAN 복구에서는 임시 파일이 자동으로 만들어진다.</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COUNT(*) FROM dba_objects WHERE status = 'INVALID';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BACKUP DATABASE PLUS ARCHIVELOG TAG 'AFTER_RECOVER';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테이블스페이스 단위 시점 복구 개요</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TSPITR</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RECOVER TABLESPACE tbs_batch</a:t>
            </a:r>
          </a:p>
          <a:p>
            <a:pPr>
              <a:spcAft>
                <a:spcPts val="0"/>
              </a:spcAft>
            </a:pPr>
            <a:r>
              <a:rPr sz="1250" b="0">
                <a:solidFill>
                  <a:srgbClr val="E6E6E6"/>
                </a:solidFill>
                <a:latin typeface="Consolas"/>
                <a:ea typeface="Consolas"/>
              </a:rPr>
              <a:t>  2&gt;   UNTIL TIME "TO_DATE('2025-05-16 14:00:00','YYYY-MM-DD HH24:MI:SS')"</a:t>
            </a:r>
          </a:p>
          <a:p>
            <a:pPr>
              <a:spcAft>
                <a:spcPts val="0"/>
              </a:spcAft>
            </a:pPr>
            <a:r>
              <a:rPr sz="1250" b="0">
                <a:solidFill>
                  <a:srgbClr val="E6E6E6"/>
                </a:solidFill>
                <a:latin typeface="Consolas"/>
                <a:ea typeface="Consolas"/>
              </a:rPr>
              <a:t>  3&gt;   AUXILIARY DESTINATION '/u03/aux';</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보조 인스턴스를 만들어 그 시점의 테이블스페이스를 복원한 뒤</a:t>
            </a:r>
          </a:p>
          <a:p>
            <a:pPr>
              <a:spcAft>
                <a:spcPts val="0"/>
              </a:spcAft>
            </a:pPr>
            <a:r>
              <a:rPr sz="1250" b="0">
                <a:solidFill>
                  <a:srgbClr val="7EC699"/>
                </a:solidFill>
                <a:latin typeface="Consolas"/>
                <a:ea typeface="Consolas"/>
              </a:rPr>
              <a:t>-- Data Pump로 원본에 옮겨 붙인다. 보조 인스턴스는 자동 정리된다.</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제약</a:t>
            </a:r>
          </a:p>
          <a:p>
            <a:pPr>
              <a:spcAft>
                <a:spcPts val="0"/>
              </a:spcAft>
            </a:pPr>
            <a:r>
              <a:rPr sz="1250" b="0">
                <a:solidFill>
                  <a:srgbClr val="E6E6E6"/>
                </a:solidFill>
                <a:latin typeface="Consolas"/>
                <a:ea typeface="Consolas"/>
              </a:rPr>
              <a:t>  대상 테이블스페이스가 자기 완결적이어야 한다</a:t>
            </a:r>
          </a:p>
          <a:p>
            <a:pPr>
              <a:spcAft>
                <a:spcPts val="0"/>
              </a:spcAft>
            </a:pPr>
            <a:r>
              <a:rPr sz="1250" b="0">
                <a:solidFill>
                  <a:srgbClr val="E6E6E6"/>
                </a:solidFill>
                <a:latin typeface="Consolas"/>
                <a:ea typeface="Consolas"/>
              </a:rPr>
              <a:t>  다른 TS의 객체와 참조 관계가 있으면 함께 지정</a:t>
            </a:r>
          </a:p>
          <a:p>
            <a:pPr>
              <a:spcAft>
                <a:spcPts val="0"/>
              </a:spcAft>
            </a:pPr>
            <a:r>
              <a:rPr sz="1250" b="0">
                <a:solidFill>
                  <a:srgbClr val="E6E6E6"/>
                </a:solidFill>
                <a:latin typeface="Consolas"/>
                <a:ea typeface="Consolas"/>
              </a:rPr>
              <a:t>  SYSTEM, SYSAUX, UNDO는 대상이 될 수 없다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결과 보고</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조회 결과를 그대로 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TO_CHAR(SCN_TO_TIMESTAMP(checkpoint_change#),</a:t>
            </a:r>
          </a:p>
          <a:p>
            <a:pPr>
              <a:spcAft>
                <a:spcPts val="0"/>
              </a:spcAft>
            </a:pPr>
            <a:r>
              <a:rPr sz="1250" b="0">
                <a:solidFill>
                  <a:srgbClr val="E6E6E6"/>
                </a:solidFill>
                <a:latin typeface="Consolas"/>
                <a:ea typeface="Consolas"/>
              </a:rPr>
              <a:t>  2    'YYYY-MM-DD HH24:MI:SS') AS recovered_time,</a:t>
            </a:r>
          </a:p>
          <a:p>
            <a:pPr>
              <a:spcAft>
                <a:spcPts val="0"/>
              </a:spcAft>
            </a:pPr>
            <a:r>
              <a:rPr sz="1250" b="0">
                <a:solidFill>
                  <a:srgbClr val="E6E6E6"/>
                </a:solidFill>
                <a:latin typeface="Consolas"/>
                <a:ea typeface="Consolas"/>
              </a:rPr>
              <a:t>  3    checkpoint_change# AS recovered_scn FROM v$database;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RECOVERED_TIME      RECOVERED_SCN</a:t>
            </a:r>
          </a:p>
          <a:p>
            <a:pPr>
              <a:spcAft>
                <a:spcPts val="0"/>
              </a:spcAft>
            </a:pPr>
            <a:r>
              <a:rPr sz="1250" b="0">
                <a:solidFill>
                  <a:srgbClr val="7EC699"/>
                </a:solidFill>
                <a:latin typeface="Consolas"/>
                <a:ea typeface="Consolas"/>
              </a:rPr>
              <a:t>------------------- -------------</a:t>
            </a:r>
          </a:p>
          <a:p>
            <a:pPr>
              <a:spcAft>
                <a:spcPts val="0"/>
              </a:spcAft>
            </a:pPr>
            <a:r>
              <a:rPr sz="1250" b="0">
                <a:solidFill>
                  <a:srgbClr val="E6E6E6"/>
                </a:solidFill>
                <a:latin typeface="Consolas"/>
                <a:ea typeface="Consolas"/>
              </a:rPr>
              <a:t>2025-05-16 14:29:58       2601499</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operation, status,</a:t>
            </a:r>
          </a:p>
          <a:p>
            <a:pPr>
              <a:spcAft>
                <a:spcPts val="0"/>
              </a:spcAft>
            </a:pPr>
            <a:r>
              <a:rPr sz="1250" b="0">
                <a:solidFill>
                  <a:srgbClr val="E6E6E6"/>
                </a:solidFill>
                <a:latin typeface="Consolas"/>
                <a:ea typeface="Consolas"/>
              </a:rPr>
              <a:t>  2    TO_CHAR(start_time,'HH24:MI:SS') AS started,</a:t>
            </a:r>
          </a:p>
          <a:p>
            <a:pPr>
              <a:spcAft>
                <a:spcPts val="0"/>
              </a:spcAft>
            </a:pPr>
            <a:r>
              <a:rPr sz="1250" b="0">
                <a:solidFill>
                  <a:srgbClr val="E6E6E6"/>
                </a:solidFill>
                <a:latin typeface="Consolas"/>
                <a:ea typeface="Consolas"/>
              </a:rPr>
              <a:t>  3    TO_CHAR(end_time,'HH24:MI:SS') AS ended</a:t>
            </a:r>
          </a:p>
          <a:p>
            <a:pPr>
              <a:spcAft>
                <a:spcPts val="0"/>
              </a:spcAft>
            </a:pPr>
            <a:r>
              <a:rPr sz="1250" b="0">
                <a:solidFill>
                  <a:srgbClr val="E6E6E6"/>
                </a:solidFill>
                <a:latin typeface="Consolas"/>
                <a:ea typeface="Consolas"/>
              </a:rPr>
              <a:t>  4  FROM v$rman_status WHERE start_time &gt; SYSDATE - 1/24;</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RESTORE    COMPLETED  14:41:02 14:44:18</a:t>
            </a:r>
          </a:p>
          <a:p>
            <a:pPr>
              <a:spcAft>
                <a:spcPts val="0"/>
              </a:spcAft>
            </a:pPr>
            <a:r>
              <a:rPr sz="1250" b="0">
                <a:solidFill>
                  <a:srgbClr val="E6E6E6"/>
                </a:solidFill>
                <a:latin typeface="Consolas"/>
                <a:ea typeface="Consolas"/>
              </a:rPr>
              <a:t>RECOVER    COMPLETED  14:44:20 14:46:02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실습 준비와 진행 요령</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매 실습 전 기준 백업을 새로 받는다</a:t>
            </a:r>
          </a:p>
          <a:p>
            <a:pPr>
              <a:spcAft>
                <a:spcPts val="600"/>
              </a:spcAft>
            </a:pPr>
            <a:r>
              <a:rPr sz="1600" b="0">
                <a:solidFill>
                  <a:srgbClr val="5A6672"/>
                </a:solidFill>
                <a:latin typeface="Malgun Gothic"/>
                <a:ea typeface="Malgun Gothic"/>
              </a:rPr>
              <a:t>    –  BACKUP DATABASE PLUS ARCHIVELOG TAG 'BASE'</a:t>
            </a:r>
          </a:p>
          <a:p>
            <a:pPr>
              <a:spcAft>
                <a:spcPts val="600"/>
              </a:spcAft>
            </a:pPr>
            <a:r>
              <a:rPr sz="1800" b="0">
                <a:solidFill>
                  <a:srgbClr val="202830"/>
                </a:solidFill>
                <a:latin typeface="Malgun Gothic"/>
                <a:ea typeface="Malgun Gothic"/>
              </a:rPr>
              <a:t>•  장애 유발 전 현재 상태를 기록한다</a:t>
            </a:r>
          </a:p>
          <a:p>
            <a:pPr>
              <a:spcAft>
                <a:spcPts val="600"/>
              </a:spcAft>
            </a:pPr>
            <a:r>
              <a:rPr sz="1600" b="0">
                <a:solidFill>
                  <a:srgbClr val="5A6672"/>
                </a:solidFill>
                <a:latin typeface="Malgun Gothic"/>
                <a:ea typeface="Malgun Gothic"/>
              </a:rPr>
              <a:t>    –  REPORT SCHEMA · LIST BACKUP SUMMARY 결과를 SPOOL</a:t>
            </a:r>
          </a:p>
          <a:p>
            <a:pPr>
              <a:spcAft>
                <a:spcPts val="600"/>
              </a:spcAft>
            </a:pPr>
            <a:r>
              <a:rPr sz="1800" b="0">
                <a:solidFill>
                  <a:srgbClr val="202830"/>
                </a:solidFill>
                <a:latin typeface="Malgun Gothic"/>
                <a:ea typeface="Malgun Gothic"/>
              </a:rPr>
              <a:t>•  복구 전 RESTORE PREVIEW를 습관으로</a:t>
            </a:r>
          </a:p>
          <a:p>
            <a:pPr>
              <a:spcAft>
                <a:spcPts val="600"/>
              </a:spcAft>
            </a:pPr>
            <a:r>
              <a:rPr sz="1800" b="0">
                <a:solidFill>
                  <a:srgbClr val="202830"/>
                </a:solidFill>
                <a:latin typeface="Malgun Gothic"/>
                <a:ea typeface="Malgun Gothic"/>
              </a:rPr>
              <a:t>•  복구 후 v$recover_file 과 데이터 확인</a:t>
            </a:r>
          </a:p>
          <a:p>
            <a:pPr>
              <a:spcAft>
                <a:spcPts val="600"/>
              </a:spcAft>
            </a:pPr>
            <a:r>
              <a:rPr sz="1800" b="0">
                <a:solidFill>
                  <a:srgbClr val="202830"/>
                </a:solidFill>
                <a:latin typeface="Malgun Gothic"/>
                <a:ea typeface="Malgun Gothic"/>
              </a:rPr>
              <a:t>•  8~12장의 대응 실습과 명령 수를 비교한다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RESTORE와 RECOVER</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두 명령의 역할 구분으로 옳은 것은?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RESTORE가 아카이브를 적용한다</a:t>
            </a:r>
          </a:p>
          <a:p>
            <a:pPr>
              <a:spcAft>
                <a:spcPts val="800"/>
              </a:spcAft>
            </a:pPr>
            <a:r>
              <a:rPr sz="1700" b="0">
                <a:solidFill>
                  <a:srgbClr val="202830"/>
                </a:solidFill>
                <a:latin typeface="Malgun Gothic"/>
                <a:ea typeface="Malgun Gothic"/>
              </a:rPr>
              <a:t>RESTORE는 백업에서 파일을 되돌리고 RECOVER는 아카이브를 적용한다</a:t>
            </a:r>
          </a:p>
          <a:p>
            <a:pPr>
              <a:spcAft>
                <a:spcPts val="800"/>
              </a:spcAft>
            </a:pPr>
            <a:r>
              <a:rPr sz="1700" b="0">
                <a:solidFill>
                  <a:srgbClr val="202830"/>
                </a:solidFill>
                <a:latin typeface="Malgun Gothic"/>
                <a:ea typeface="Malgun Gothic"/>
              </a:rPr>
              <a:t>둘은 같은 명령이다</a:t>
            </a:r>
          </a:p>
          <a:p>
            <a:pPr>
              <a:spcAft>
                <a:spcPts val="800"/>
              </a:spcAft>
            </a:pPr>
            <a:r>
              <a:rPr sz="1700" b="0">
                <a:solidFill>
                  <a:srgbClr val="202830"/>
                </a:solidFill>
                <a:latin typeface="Malgun Gothic"/>
                <a:ea typeface="Malgun Gothic"/>
              </a:rPr>
              <a:t>RECOVER가 백업 조각을 읽는다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SET NEWNAME의 짝</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SET NEWNAME과 반드시 함께 써야 하는 명령은?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CROSSCHECK</a:t>
            </a:r>
          </a:p>
          <a:p>
            <a:pPr>
              <a:spcAft>
                <a:spcPts val="800"/>
              </a:spcAft>
            </a:pPr>
            <a:r>
              <a:rPr sz="1700" b="0">
                <a:solidFill>
                  <a:srgbClr val="202830"/>
                </a:solidFill>
                <a:latin typeface="Malgun Gothic"/>
                <a:ea typeface="Malgun Gothic"/>
              </a:rPr>
              <a:t>SWITCH</a:t>
            </a:r>
          </a:p>
          <a:p>
            <a:pPr>
              <a:spcAft>
                <a:spcPts val="800"/>
              </a:spcAft>
            </a:pPr>
            <a:r>
              <a:rPr sz="1700" b="0">
                <a:solidFill>
                  <a:srgbClr val="202830"/>
                </a:solidFill>
                <a:latin typeface="Malgun Gothic"/>
                <a:ea typeface="Malgun Gothic"/>
              </a:rPr>
              <a:t>CATALOG</a:t>
            </a:r>
          </a:p>
          <a:p>
            <a:pPr>
              <a:spcAft>
                <a:spcPts val="800"/>
              </a:spcAft>
            </a:pPr>
            <a:r>
              <a:rPr sz="1700" b="0">
                <a:solidFill>
                  <a:srgbClr val="202830"/>
                </a:solidFill>
                <a:latin typeface="Malgun Gothic"/>
                <a:ea typeface="Malgun Gothic"/>
              </a:rPr>
              <a:t>VALIDATE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인카네이션 되돌리기</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RESETLOGS 이후 과거 인카네이션 시점으로 복구하려면?</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불가능하다</a:t>
            </a:r>
          </a:p>
          <a:p>
            <a:pPr>
              <a:spcAft>
                <a:spcPts val="800"/>
              </a:spcAft>
            </a:pPr>
            <a:r>
              <a:rPr sz="1700" b="0">
                <a:solidFill>
                  <a:srgbClr val="202830"/>
                </a:solidFill>
                <a:latin typeface="Malgun Gothic"/>
                <a:ea typeface="Malgun Gothic"/>
              </a:rPr>
              <a:t>RESET DATABASE TO INCARNATION 후 복구한다</a:t>
            </a:r>
          </a:p>
          <a:p>
            <a:pPr>
              <a:spcAft>
                <a:spcPts val="800"/>
              </a:spcAft>
            </a:pPr>
            <a:r>
              <a:rPr sz="1700" b="0">
                <a:solidFill>
                  <a:srgbClr val="202830"/>
                </a:solidFill>
                <a:latin typeface="Malgun Gothic"/>
                <a:ea typeface="Malgun Gothic"/>
              </a:rPr>
              <a:t>컨트롤파일을 재생성한다</a:t>
            </a:r>
          </a:p>
          <a:p>
            <a:pPr>
              <a:spcAft>
                <a:spcPts val="800"/>
              </a:spcAft>
            </a:pPr>
            <a:r>
              <a:rPr sz="1700" b="0">
                <a:solidFill>
                  <a:srgbClr val="202830"/>
                </a:solidFill>
                <a:latin typeface="Malgun Gothic"/>
                <a:ea typeface="Malgun Gothic"/>
              </a:rPr>
              <a:t>백업을 다시 받는다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요약</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RESTORE는 되돌리고 RECOVER는 적용한다</a:t>
            </a:r>
          </a:p>
          <a:p>
            <a:pPr>
              <a:spcAft>
                <a:spcPts val="600"/>
              </a:spcAft>
            </a:pPr>
            <a:r>
              <a:rPr sz="1800" b="0">
                <a:solidFill>
                  <a:srgbClr val="202830"/>
                </a:solidFill>
                <a:latin typeface="Malgun Gothic"/>
                <a:ea typeface="Malgun Gothic"/>
              </a:rPr>
              <a:t>•  NOMOUNT는 CF·spfile, MOUNT는 전부, OPEN은 SYSTEM·UNDO 외</a:t>
            </a:r>
          </a:p>
          <a:p>
            <a:pPr>
              <a:spcAft>
                <a:spcPts val="600"/>
              </a:spcAft>
            </a:pPr>
            <a:r>
              <a:rPr sz="1800" b="0">
                <a:solidFill>
                  <a:srgbClr val="202830"/>
                </a:solidFill>
                <a:latin typeface="Malgun Gothic"/>
                <a:ea typeface="Malgun Gothic"/>
              </a:rPr>
              <a:t>•  복구는 RESTORE PREVIEW로 시작한다</a:t>
            </a:r>
          </a:p>
          <a:p>
            <a:pPr>
              <a:spcAft>
                <a:spcPts val="600"/>
              </a:spcAft>
            </a:pPr>
            <a:r>
              <a:rPr sz="1800" b="0">
                <a:solidFill>
                  <a:srgbClr val="202830"/>
                </a:solidFill>
                <a:latin typeface="Malgun Gothic"/>
                <a:ea typeface="Malgun Gothic"/>
              </a:rPr>
              <a:t>•  SET NEWNAME과 SWITCH는 짝으로 쓴다</a:t>
            </a:r>
          </a:p>
          <a:p>
            <a:pPr>
              <a:spcAft>
                <a:spcPts val="600"/>
              </a:spcAft>
            </a:pPr>
            <a:r>
              <a:rPr sz="1800" b="0">
                <a:solidFill>
                  <a:srgbClr val="202830"/>
                </a:solidFill>
                <a:latin typeface="Malgun Gothic"/>
                <a:ea typeface="Malgun Gothic"/>
              </a:rPr>
              <a:t>•  카탈로그가 없으면 DBID로 자동 백업을 찾는다</a:t>
            </a:r>
          </a:p>
          <a:p>
            <a:pPr>
              <a:spcAft>
                <a:spcPts val="600"/>
              </a:spcAft>
            </a:pPr>
            <a:r>
              <a:rPr sz="1800" b="0">
                <a:solidFill>
                  <a:srgbClr val="202830"/>
                </a:solidFill>
                <a:latin typeface="Malgun Gothic"/>
                <a:ea typeface="Malgun Gothic"/>
              </a:rPr>
              <a:t>•  SET UNTIL은 RUN 블록 첫 줄에 둔다</a:t>
            </a:r>
          </a:p>
          <a:p>
            <a:pPr>
              <a:spcAft>
                <a:spcPts val="600"/>
              </a:spcAft>
            </a:pPr>
            <a:r>
              <a:rPr sz="1800" b="0">
                <a:solidFill>
                  <a:srgbClr val="202830"/>
                </a:solidFill>
                <a:latin typeface="Malgun Gothic"/>
                <a:ea typeface="Malgun Gothic"/>
              </a:rPr>
              <a:t>•  RESETLOGS 후에도 인카네이션을 되돌릴 수 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실습 15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15-1 데이터파일 유실  ·  15-2 다른 위치로 복구</a:t>
            </a:r>
          </a:p>
          <a:p>
            <a:pPr>
              <a:spcAft>
                <a:spcPts val="600"/>
              </a:spcAft>
            </a:pPr>
            <a:r>
              <a:rPr sz="1800" b="0">
                <a:solidFill>
                  <a:srgbClr val="202830"/>
                </a:solidFill>
                <a:latin typeface="Malgun Gothic"/>
                <a:ea typeface="Malgun Gothic"/>
              </a:rPr>
              <a:t>•  15-3 SYSTEM DF 손상  ·  15-4 모든 DF 손상</a:t>
            </a:r>
          </a:p>
          <a:p>
            <a:pPr>
              <a:spcAft>
                <a:spcPts val="600"/>
              </a:spcAft>
            </a:pPr>
            <a:r>
              <a:rPr sz="1800" b="0">
                <a:solidFill>
                  <a:srgbClr val="202830"/>
                </a:solidFill>
                <a:latin typeface="Malgun Gothic"/>
                <a:ea typeface="Malgun Gothic"/>
              </a:rPr>
              <a:t>•  15-5 모든 DF를 새 위치로  ·  15-6 백업 없는 DF</a:t>
            </a:r>
          </a:p>
          <a:p>
            <a:pPr>
              <a:spcAft>
                <a:spcPts val="600"/>
              </a:spcAft>
            </a:pPr>
            <a:r>
              <a:rPr sz="1800" b="0">
                <a:solidFill>
                  <a:srgbClr val="202830"/>
                </a:solidFill>
                <a:latin typeface="Malgun Gothic"/>
                <a:ea typeface="Malgun Gothic"/>
              </a:rPr>
              <a:t>•  15-7 UNDO DF 손상  ·  15-8 컨트롤파일 손상</a:t>
            </a:r>
          </a:p>
          <a:p>
            <a:pPr>
              <a:spcAft>
                <a:spcPts val="600"/>
              </a:spcAft>
            </a:pPr>
            <a:r>
              <a:rPr sz="1800" b="0">
                <a:solidFill>
                  <a:srgbClr val="202830"/>
                </a:solidFill>
                <a:latin typeface="Malgun Gothic"/>
                <a:ea typeface="Malgun Gothic"/>
              </a:rPr>
              <a:t>•  15-9 시점 기반 불완전 복구</a:t>
            </a:r>
          </a:p>
          <a:p>
            <a:pPr>
              <a:spcAft>
                <a:spcPts val="600"/>
              </a:spcAft>
            </a:pPr>
            <a:r>
              <a:rPr sz="1800" b="0">
                <a:solidFill>
                  <a:srgbClr val="202830"/>
                </a:solidFill>
                <a:latin typeface="Malgun Gothic"/>
                <a:ea typeface="Malgun Gothic"/>
              </a:rPr>
              <a:t>•  15-10 전체 손실과 인카네이션 되돌리기</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실습 준비:</a:t>
            </a:r>
          </a:p>
          <a:p>
            <a:pPr>
              <a:spcAft>
                <a:spcPts val="0"/>
              </a:spcAft>
            </a:pPr>
            <a:r>
              <a:rPr sz="1250" b="0">
                <a:solidFill>
                  <a:srgbClr val="202830"/>
                </a:solidFill>
                <a:latin typeface="Malgun Gothic"/>
                <a:ea typeface="Malgun Gothic"/>
              </a:rPr>
              <a:t>매 실습 전 BACKUP DATABASE PLUS ARCHIVELOG로 기준 백업을 새로 받는다.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
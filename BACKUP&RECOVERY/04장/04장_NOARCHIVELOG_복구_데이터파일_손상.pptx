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4장부터 실제 복구가 시작된다. 3장에서 받은 Cold Backup 백업본이 출발점이다. 4~7장은 NOARCHIVELOG 환경을 다루는데, 이 모드를 권장해서가 아니라 리두가 보존되지 않을 때 무엇을 잃는지 먼저 겪어야 8장 이후 ARCHIVELOG의 가치가 분명해지기 때문이다. 실습을 위해 2장에서 전환한 ARCHIVELOG를 일시적으로 되돌리고, 8장 전에 다시 전환한다. 본문 27,189자를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핵심은 명령을 외우는 것이 아니라 판정하는 것이다. 같은 장애라도 리두가 남아 있는지에 따라 완전 복구와 백업 시점 복귀로 갈리는데, 그 판정을 못 하면 살릴 수 있는 데이터를 버리거나 안 되는 복구를 붙들고 시간을 쓰게 된다. 여섯 시나리오를 다루지만 실제로는 하나의 판정 흐름을 여섯 번 적용하는 구성이므로, 개별 절차보다 4.6절의 판단표를 먼저 머리에 넣게 하는 편이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절의 흐름은 '판정 기준을 세우고(4.1) → 파일 종류별로 적용하고(4.2~4.5) → 하나의 표로 정리한다(4.6)' 순이다. 4.6절을 마지막에 두었지만 강의에서는 4.1절 끝에 판단표를 미리 보여 주고 각 절에서 채워 가는 방식도 좋다. 수강생이 전체 지도를 갖고 개별 시나리오를 만나면 이해가 훨씬 빠르다. 실습이 일곱 개로 많으므로 이론은 90분 안에 마치고 실습에 시간을 배분한다.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4.1절이 이 장 전체의 기반이다. 여기서 세운 판정 기준을 4.2절부터 반복 적용한다. 특히 OFFLINE과 OFFLINE DROP의 차이, 그리고 그 차이가 왜 NOARCHIVELOG에서만 문제가 되는지를 정확히 짚어야 이후 절차가 납득된다. 개념 설명에 시간을 충분히 쓰는 편이 좋다. 이 절만 제대로 서면 나머지 절은 같은 판정을 파일 종류별로 반복하는 것이라 속도가 붙는다.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기준을 단순한 부등식 하나로 정리해 주면 수강생이 기억한다. 백업본 SCN이 현존하는 리두 구간 안에 들어오는가가 전부다. 백업본 SCN은 3장에서 만든 매니페스트에 기록해 두었고, 없다면 백업본을 임시 위치에 복원해 v$datafile_header로 읽으면 된다. 이 값을 백업 때마다 남겨 두는 습관이 왜 필요한지가 여기서 드러난다. 3장에서 매니페스트를 만든 이유를 되짚어 주면 두 장이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그룹의 NEXT_CHANGE#가 1.8447E+19로 표시되는 것에 주목시킨다. 아직 끝나지 않은 로그라 상한이 정해지지 않았다는 뜻이며 오류가 아니다. 리두 로그는 그룹 수만큼만 보존되므로 이 구간은 계속 앞으로 밀린다. 그룹이 세 개이고 각 10MB라면 30MB 분량만 남는 셈이고, 변경이 많은 시스템에서는 몇 분 만에 한 바퀴가 돈다. 이 조회는 시점에 따라 결과가 달라진다는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DROP이라는 이름이 오해를 부른다. DROP이 붙어 있어 파일이 삭제된다고 생각하기 쉬운데, OS 파일도 그대로 남고 테이블스페이스도 사라지지 않는다. 다만 그 파일을 다시 쓰려면 반드시 RECOVER DATAFILE을 거쳐야 하고, 적용할 리두가 없으면 영영 ONLINE으로 만들 수 없다. 그때는 테이블스페이스를 버리는 수밖에 없어 결과적으로 DROP에 가까워진다. 이 인과를 설명하면 이름이 납득된다.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실무적으로 가장 유용하다. NOARCHIVELOG에서 필요한 리두가 온라인 로그에 있으면 RECOVER는 프롬프트 없이 즉시 Media recovery complete를 반환한다. 반대로 ORA-00279와 함께 파일명을 입력하라는 프롬프트가 뜨면 그 순간 '리두가 부족하다'는 판정이 이미 내려진 것이다. 별도로 SCN을 비교하지 않아도 이 반응만으로 알 수 있다. v$recover_file로 대상을 미리 확인하는 습관도 함께 권한다.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v$recover_file은 복구가 필요한 파일만 보여 주므로 대상을 좁히는 데 유용하다. ERROR 컬럼의 값이 진단을 나눈다. FILE NOT FOUND면 복원부터 해야 하고, 비어 있고 CHANGE#만 있으면 파일은 제자리에 있으나 뒤처져 있다는 뜻이라 RECOVER만 하면 된다. 복원 전후로 두 번 조회해 변화를 보여 주면 이 차이가 분명해진다. 복구가 끝나면 이 뷰가 비어야 한다. 행이 남아 있으면 아직 처리되지 않은 파일이 있다는 신호다.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4.2절은 원본 시나리오 1과 2를 다룬다. 같은 장애인데 결과가 다른 두 경우를 나란히 놓아 판정의 중요성을 체감시키는 것이 목적이다. 절차 자체는 짧으므로 '왜 제어 파일과 리두 로그를 복원하면 안 되는가'에 시간을 쓰는 편이 좋다. 이 실수가 실제 현장에서 가장 자주 나오며, 3장에서 다룬 'Hot Backup에 리두 로그를 넣지 말라'와 같은 뿌리의 문제라는 점을 연결해 주면 이해가 깊어진다.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대상이 users01.dbf 하나뿐이라는 점을 강조한다. 제어 파일은 현재 시점 정보를 갖고 있어야 복구 종료 지점을 스스로 판단하고, 온라인 리두 로그는 적용할 재료이므로 덮어쓰면 복구 자체가 불가능해진다. 백업 디렉터리를 통째로 복사하는 습관이 여기서 사고를 만든다. Media recovery complete가 프롬프트 없이 바로 나온 것도 짚어 준다. 필요한 리두가 온라인 로그에 있었다는 뜻이며, 이 반응 자체가 완전 복구 성공의 신호다.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ORA-01547의 메시지가 'RECOVER succeeded'로 시작해 성공처럼 읽히는 것이 함정이다. 실제로는 '적용할 수 있는 만큼은 적용했으나 일관성에 도달하지 못했다'는 뜻이고, 이어지는 ORA-01194가 더 많은 복구가 필요하다고 명확히 알려 준다. 이 상태에서 OPEN을 시도하면 ORA-01113으로 실패한다. 전체 복원에서는 데이터 파일뿐 아니라 제어 파일과 리두 로그까지 모두 되돌린다는 점이 앞 슬라이드와 정반대라는 것을 짚어 준다. 일관성 있는 상태 전체를 옮기는 것이므로 RESETLOGS도 필요 없다.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야간 백업 직후 새벽에 장애가 나면 대개 완전 복구가 되고, 하루 종일 업무가 돌아간 저녁에 같은 장애가 나면 거의 불완전 복구가 된다. 같은 시스템, 같은 장애인데 발생 시각만으로 결과가 갈린다는 점을 강조한다. 이 불확실성 자체가 NOARCHIVELOG를 운영에 쓸 수 없는 이유이며, 8장 이후 ARCHIVELOG에서는 같은 여섯 시나리오가 전부 완전 복구로 끝난다는 예고로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RENAME FILE은 OS 파일을 옮기지 않는다. 제어 파일의 기록만 바꾸는 명령이라 새 경로에 파일이 실제로 없으면 ORA-27037로 실패한다. 그래서 복사가 먼저다. 19c에는 열린 상태에서 실제로 파일을 옮기는 ALTER DATABASE MOVE DATAFILE도 있으나, 이는 정상 운영 중 재배치용이지 복구용이 아니다. 경로를 바꾼 뒤에는 백업 스크립트와 모니터링 대상도 함께 손봐야 한다는 점을 덧붙인다. 옛 경로를 하드코딩한 스크립트가 있으면 그날부터 그 파일이 백업에서 빠진다.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4.3절은 원본 시나리오 3과 4를 다룬다. 백업 이후 만든 테이블스페이스라 복원할 원본이 아예 없는 상황인데도 복구가 되는 이유를 이해하는 것이 핵심이다. 리두에 CREATE TABLESPACE부터 기록되어 있다는 사실이 열쇠이며, 이 원리를 알면 ALTER DATABASE CREATE DATAFILE이라는 명령이 자연스럽게 이해된다. 수강생에게 '백업본에 없는 파일을 어떻게 복구하나'를 먼저 물어보고 들어가면 몰입도가 높다.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절을 생략하면 원래 경로에 그대로 만들고, 뒤에 새 경로를 주면 다른 위치에 만든다. 생성되는 것은 원본과 같은 크기의 빈 파일이며 제어 파일에 등록된다. 그 상태에서 RECOVER를 수행하면 CREATE TABLESPACE 시점부터의 리두가 순서대로 적용되어 테이블스페이스와 그 안의 데이터가 모두 재현된다. 조건은 앞과 같다. 테이블스페이스 생성 시점부터의 리두가 온라인 로그에 남아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순서가 중요하다. OPEN 상태에서 DROP TABLESPACE를 먼저 시도하면 데이터 파일을 읽을 수 없어 실패한다. DROP TABLESPACE는 해당 테이블스페이스의 세그먼트 정보를 읽어 딕셔너리를 정리하기 때문이다. OFFLINE DROP으로 파일을 먼저 떼어 내면 Oracle이 그 파일을 읽지 않고 정리할 수 있다. 결과적으로 그 테이블스페이스의 데이터는 전부 잃지만 나머지는 최신 상태로 유지된다. 전체 복원보다 손실이 적으므로 실무에서는 이쪽을 택하는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4.4절은 원본 시나리오 5와 6을 다룬다. 절차 자체는 4.2절과 같지만 '선택지가 없다'는 점이 다르다. 일반 테이블스페이스는 최악의 경우 그것만 버릴 수 있지만 SYSTEM은 그럴 수 없다. 이 차이가 NOARCHIVELOG의 위험을 가장 분명하게 드러내는 지점이므로 강조해서 다룬다. UNDO도 같은 성격이며 5장에서 이어진다는 예고를 함께 하면 흐름이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SYSTEM에는 테이블·인덱스·사용자·권한 등 모든 메타데이터가 들어 있고, Oracle은 이 정보 없이 데이터베이스를 열 수 없다. 그래서 오프라인으로 내리는 것 자체가 금지된다. UNDO 테이블스페이스도 같은 성격이다. 롤백 세그먼트가 없으면 트랜잭션을 처리할 수 없어 역시 내릴 수 없으며, 5장에서 다룬다. STATUS 컬럼이 SYSTEM으로 표시되는 것 자체가 이 파일의 특별한 지위를 나타낸다.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v$datafile_header 출력에서 file# 1만 SCN이 뒤처져 있는 것이 한눈에 보인다. 나머지 파일이 FUZZY YES인 것은 ABORT로 내렸기 때문이며, 인스턴스 복구로 함께 처리된다. RECOVER DATAFILE 1 대신 RECOVER DATABASE를 쓴 이유도 짚는다. 복구가 필요한 모든 파일을 한 번에 처리하므로 어느 파일이 뒤처져 있는지 일일이 확인하지 않아도 된다. SYSTEM 손상은 데이터베이스를 반드시 내려야 하므로 어차피 MOUNT 상태이며, 이 명령을 쓰기 좋은 상황이다.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조회는 구조적 정합성만 확인한다. 파일이 다 붙어 있고 SCN이 맞는다는 뜻일 뿐이다. 실제로 데이터가 살아 있는지는 별개 문제이므로 복구 전에 특정 값을 조회해 기록해 두고 복구 후 같은 조회로 대조해야 한다. 완전 복구였다면 값이 같아야 하고, 불완전 복구였다면 백업 시점 값으로 돌아가 있어야 한다. 그리고 그 결과를 문서로 남긴다. 어느 시점까지 복구되었는지가 현업의 업무 재처리 범위를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4.5절은 원본 시나리오에 없는 결손 보완 케이스다. SYSTEM과 대비해 '어느 파일이 얼마나 치명적인가'를 이해시키는 것이 목적이다. 실무에서 SYSAUX 손상은 드물지 않은데, 데이터베이스가 멈추지 않아 대응 우선순위를 잘못 잡는 경우가 있다. 무엇이 안 되고 무엇은 되는지를 정확히 아는 것이 판단의 출발점이며, 복구 우선순위 SYSTEM → UNDO → 일반 → SYSAUX를 함께 제시한다.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우선순위는 SYSTEM → UNDO → 일반 → SYSAUX 순이다. 앞의 둘은 데이터베이스 가동 자체를 막고 뒤의 둘은 기능 일부만 막는다. SYSAUX가 OFFLINE DROP은 되지만 DROP TABLESPACE는 안 된다는 점이 중요하다. 필수 테이블스페이스라 지울 수 없으므로 OFFLINE DROP은 임시 조치일 뿐이며, 결국 복구하거나 데이터베이스를 재구축해야 한다. 시간을 버는 수단으로만 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손상과의 대비가 이 슬라이드의 목적이다. SYSTEM이면 dba_tables 조회부터 실패했지만 SYSAUX는 hr.employees 조회가 정상이고 dba_hist_snapshot만 실패한다. 즉 증상만 보고도 어느 파일이 문제인지 좁힐 수 있다. 리두가 없는 경우 SYSAUX는 OFFLINE DROP으로 데이터베이스를 열어 업무를 재개할 수 있다. AWR 수집과 통계 갱신은 멈추지만 서비스는 유지되므로, 정비 시간에 전체 복원을 계획하면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4.6절은 앞의 내용을 하나의 흐름으로 묶는다. 개별 시나리오를 외우는 대신 판단 순서를 익히면 처음 보는 상황에도 대응할 수 있다. 특히 자주 나오는 오판 세 가지는 실제 현장에서 반복되는 것들이므로 사례처럼 전달하면 기억에 남는다. 이 절을 마치면 수강생이 임의의 데이터 파일 장애를 듣고 어떤 경로로 갈지 스스로 말할 수 있어야 한다. 그것이 이 장의 실질적 도달 목표다.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벽에 붙여 두라고 권한다. 장애 상황에서는 네 단계를 순서대로 밟는 것만으로도 잘못된 명령을 크게 줄일 수 있다. 특히 3단계를 건너뛰고 바로 전체 복원으로 가는 실수가 흔한데, 리두가 남아 있는데도 전체 복원을 하면 살릴 수 있었던 데이터를 스스로 버리는 셈이다. 반대로 리두가 없는데 RECOVER를 반복 시도하면 시간만 쓴다. 판단 순서를 익히는 것이 개별 명령을 외우는 것보다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오판 모두 서두름에서 나온다. 그래서 점검표를 실행 순서로 만들어 두는 것이 효과적이다. SELECT log_mode FROM v$database, SELECT file#, error, change# FROM v$recover_file, SELECT MIN(first_change#) FROM v$log 세 줄의 결과가 나오기 전에는 복원 명령을 내리지 않는다는 규칙 하나로 대부분을 피할 수 있다. 특히 ②는 3장에서 'Hot Backup에 리두 로그를 넣지 말라'고 한 것과 같은 뿌리의 문제다.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예시에서는 백업본의 SCN이 현존하는 리두 구간보다 앞서 있다. 필요한 리두가 이미 덮어써졌다는 뜻이므로 부분 복원은 성립하지 않고 전체 복원으로 가야 한다. 세 줄을 실행하는 데 1분도 걸리지 않지만 이 판정 없이 시작하면 잘못된 경로로 20분을 쓰게 된다. 점검표를 스크립트 파일로 만들어 두고 장애 시 @check로 실행하는 방식을 권한다. 결과를 캡처해 두면 복구 완료 보고의 근거 자료로도 그대로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백업 시점의 SCN을 담은 리두가 아직 온라인 리두 로그에 살아 있는지가 판정 기준이다. 백업본 SCN이 현존하는 리두 구간 안에 들어오면 완전 복구가 가능하다. (d)는 NOARCHIVELOG에 아카이브 로그가 아예 없으므로 성립하지 않는다. 이 판정을 못 하면 살릴 수 있는 데이터를 버리거나 안 되는 복구에 시간을 쓰게 된다. 조회 두 줄로 끝나는 판정이라는 점을 다시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OFFLINE은 미디어 복구가 활성화된 환경에서만 허용된다. NOARCHIVELOG에서는 OFFLINE DROP만 가능하며, 그 파일은 STATUS가 RECOVER로 바뀌어 RECOVER를 거쳐야 ONLINE이 된다. 이 제약 때문에 NOARCHIVELOG에는 부분 복구라는 선택지가 없고 MOUNT 상태 처리가 표준이 된다. (c)를 고른 수강생에게는 Oracle이 사용자 의도를 임의로 바꾸지 않는다는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(c). 제어 파일은 현재 시점 정보를 갖고 있어야 복구 종료 지점을 스스로 판단한다. 과거로 되돌리면 이후 추가된 데이터 파일 정보가 사라진다. 온라인 리두 로그는 적용할 재료 그 자체이므로 덮어쓰면 복구가 불가능해진다. 백업 디렉터리를 통째로 복사하다 이 실수가 나오며, 실제 현장에서 가장 자주 발생한다. 복원은 반드시 필요한 파일만 개별로 지정한다는 원칙으로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원본과 같은 크기의 빈 파일을 만들어 제어 파일에 등록한 뒤 RECOVER로 리두를 적용한다. CREATE TABLESPACE 자체가 리두에 기록되므로 생성 이후의 모든 변경이 재현된다. AS 절을 생략하면 원래 경로에, 새 경로를 주면 다른 위치에 만든다. 조건은 다른 시나리오와 같다. 테이블스페이스 생성 시점부터의 리두가 남아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SYSTEM에는 데이터 딕셔너리가 있어 오프라인으로 내릴 수 없다. 일반 테이블스페이스와 달리 '그것만 버리고 나머지를 살린다'는 선택지가 존재하지 않는다. 따라서 리두가 없으면 데이터 파일·제어 파일·리두 로그를 모두 백업 시점으로 되돌리는 전체 복원 외에 방법이 없으며, 이 점이 NOARCHIVELOG의 위험을 가장 분명하게 보여 준다. SYSTEM 파일을 다중화된 디스크에 두는 것이 부분적 완화책이다.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핵심 딕셔너리는 SYSTEM에 있으므로 일반 업무는 영향을 받지 않는다. dba_hist_snapshot 같은 AWR 관련 조회만 ORA-01116으로 실패한다. 리두가 없으면 OFFLINE DROP으로 서비스를 유지하며 정비 시간을 벌 수 있다. 다만 SYSAUX는 필수 테이블스페이스라 DROP TABLESPACE로 지울 수 없어 임시 조치일 뿐이다.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항목이 학습 목표 다섯 가지에 모두 대응한다. 네 번째와 다섯 번째가 정반대라는 점을 다시 짚어 준다. 부분 복원에서는 제어 파일과 리두 로그를 건드리지 않고, 전체 복원에서는 반드시 함께 되돌린다. 이 구분이 흐릿하면 두 절차를 섞어 쓰게 되고 그 순간 복구가 불가능해진다. 다음 5장은 UNDO·TEMP·전체 디스크 장애를 같은 판정 틀로 이어서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실습은 순서대로 수행한다. 리두 유무를 조절하려면 로그 스위치 횟수를 달리하면 된다. 리두를 없애려면 그룹 수보다 많이 스위치해 한 바퀴를 돌린다. 4-2와 4-6은 전체 복원을 수행하므로 3장 백업본이 온전해야 한다. 시작 전에 파일 개수를 확인시킨다. 각 실습은 데이터베이스를 손상시키므로 반드시 복구까지 마친 뒤 다음으로 넘어간다. 전체 소요 시간은 100~120분으로 잡는다.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제4장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NOARCHIVELOG 복구 ① 데이터파일 손상</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복구 가능 범위 판정 · 일반 TS · 백업 없는 TS · SYSTEM · SYSAUX · 판단표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NOARCHIVELOG 환경에서 복구 가능 범위를 판정한다</a:t>
            </a:r>
          </a:p>
          <a:p>
            <a:pPr>
              <a:spcAft>
                <a:spcPts val="600"/>
              </a:spcAft>
            </a:pPr>
            <a:r>
              <a:rPr sz="1600" b="0">
                <a:solidFill>
                  <a:srgbClr val="5A6672"/>
                </a:solidFill>
                <a:latin typeface="Malgun Gothic"/>
                <a:ea typeface="Malgun Gothic"/>
              </a:rPr>
              <a:t>    –  완전 복구와 불완전 복구를 구분해 절차를 선택한다</a:t>
            </a:r>
          </a:p>
          <a:p>
            <a:pPr>
              <a:spcAft>
                <a:spcPts val="600"/>
              </a:spcAft>
            </a:pPr>
            <a:r>
              <a:rPr sz="1600" b="0">
                <a:solidFill>
                  <a:srgbClr val="5A6672"/>
                </a:solidFill>
                <a:latin typeface="Malgun Gothic"/>
                <a:ea typeface="Malgun Gothic"/>
              </a:rPr>
              <a:t>    –  백업 이후 생성된 테이블스페이스의 데이터 파일 손상을 처리한다</a:t>
            </a:r>
          </a:p>
          <a:p>
            <a:pPr>
              <a:spcAft>
                <a:spcPts val="600"/>
              </a:spcAft>
            </a:pPr>
            <a:r>
              <a:rPr sz="1600" b="0">
                <a:solidFill>
                  <a:srgbClr val="5A6672"/>
                </a:solidFill>
                <a:latin typeface="Malgun Gothic"/>
                <a:ea typeface="Malgun Gothic"/>
              </a:rPr>
              <a:t>    –  SYSTEM과 SYSAUX 손상의 차이를 설명하고 각각 복구한다</a:t>
            </a:r>
          </a:p>
          <a:p>
            <a:pPr>
              <a:spcAft>
                <a:spcPts val="600"/>
              </a:spcAft>
            </a:pPr>
            <a:r>
              <a:rPr sz="1600" b="0">
                <a:solidFill>
                  <a:srgbClr val="5A6672"/>
                </a:solidFill>
                <a:latin typeface="Malgun Gothic"/>
                <a:ea typeface="Malgun Gothic"/>
              </a:rPr>
              <a:t>    –  OFFLINE DROP이 필요한 이유와 그 결과를 설명한다</a:t>
            </a:r>
          </a:p>
          <a:p>
            <a:pPr>
              <a:spcAft>
                <a:spcPts val="600"/>
              </a:spcAft>
            </a:pPr>
            <a:r>
              <a:rPr sz="1800" b="0">
                <a:solidFill>
                  <a:srgbClr val="202830"/>
                </a:solidFill>
                <a:latin typeface="Malgun Gothic"/>
                <a:ea typeface="Malgun Gothic"/>
              </a:rPr>
              <a:t>•  다섯 목표는 각각 4.1 / 4.2 / 4.3 / 4.4~4.5 / 4.1.2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4.1  NOARCHIVELOG 복구의 원리 — 판정 기준 · OFFLINE DROP · 복구 명령 단위</a:t>
            </a:r>
          </a:p>
          <a:p>
            <a:pPr>
              <a:spcAft>
                <a:spcPts val="600"/>
              </a:spcAft>
            </a:pPr>
            <a:r>
              <a:rPr sz="1800" b="0">
                <a:solidFill>
                  <a:srgbClr val="202830"/>
                </a:solidFill>
                <a:latin typeface="Malgun Gothic"/>
                <a:ea typeface="Malgun Gothic"/>
              </a:rPr>
              <a:t>•  4.2  일반 테이블스페이스 데이터파일 손상 — 리두 O / X · 새 위치 복원</a:t>
            </a:r>
          </a:p>
          <a:p>
            <a:pPr>
              <a:spcAft>
                <a:spcPts val="600"/>
              </a:spcAft>
            </a:pPr>
            <a:r>
              <a:rPr sz="1800" b="0">
                <a:solidFill>
                  <a:srgbClr val="202830"/>
                </a:solidFill>
                <a:latin typeface="Malgun Gothic"/>
                <a:ea typeface="Malgun Gothic"/>
              </a:rPr>
              <a:t>•  4.3  백업 받지 않은 테이블스페이스 — CREATE DATAFILE · DROP TABLESPACE</a:t>
            </a:r>
          </a:p>
          <a:p>
            <a:pPr>
              <a:spcAft>
                <a:spcPts val="600"/>
              </a:spcAft>
            </a:pPr>
            <a:r>
              <a:rPr sz="1800" b="0">
                <a:solidFill>
                  <a:srgbClr val="202830"/>
                </a:solidFill>
                <a:latin typeface="Malgun Gothic"/>
                <a:ea typeface="Malgun Gothic"/>
              </a:rPr>
              <a:t>•  4.4  SYSTEM 데이터파일 손상 — 특수성 · 복구 · 검증</a:t>
            </a:r>
          </a:p>
          <a:p>
            <a:pPr>
              <a:spcAft>
                <a:spcPts val="600"/>
              </a:spcAft>
            </a:pPr>
            <a:r>
              <a:rPr sz="1800" b="0">
                <a:solidFill>
                  <a:srgbClr val="202830"/>
                </a:solidFill>
                <a:latin typeface="Malgun Gothic"/>
                <a:ea typeface="Malgun Gothic"/>
              </a:rPr>
              <a:t>•  4.5  SYSAUX 데이터파일 손상 — SYSTEM과의 대비</a:t>
            </a:r>
          </a:p>
          <a:p>
            <a:pPr>
              <a:spcAft>
                <a:spcPts val="600"/>
              </a:spcAft>
            </a:pPr>
            <a:r>
              <a:rPr sz="1800" b="0">
                <a:solidFill>
                  <a:srgbClr val="202830"/>
                </a:solidFill>
                <a:latin typeface="Malgun Gothic"/>
                <a:ea typeface="Malgun Gothic"/>
              </a:rPr>
              <a:t>•  4.6  복구 전략 판단표 — 4단계 흐름 · 자주 나오는 오판</a:t>
            </a:r>
          </a:p>
          <a:p>
            <a:pPr>
              <a:spcAft>
                <a:spcPts val="600"/>
              </a:spcAft>
            </a:pPr>
            <a:r>
              <a:rPr sz="1800" b="0">
                <a:solidFill>
                  <a:srgbClr val="202830"/>
                </a:solidFill>
                <a:latin typeface="Malgun Gothic"/>
                <a:ea typeface="Malgun Gothic"/>
              </a:rPr>
              <a:t>•  4.7 퀴즈 · 4.8 요약 · 4.9 실습 4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이 장의 실습은 3장 Cold Backup 백업본을 사용한다. 실습 전 ARCHIVELOG를 NOARCHIVELOG로 되돌린다.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4.1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NOARCHIVELOG 복구의 원리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복구 재료는 백업본과 온라인 리두 로그뿐</a:t>
            </a:r>
          </a:p>
          <a:p>
            <a:pPr>
              <a:spcAft>
                <a:spcPts val="600"/>
              </a:spcAft>
            </a:pPr>
            <a:r>
              <a:rPr sz="1600" b="0">
                <a:solidFill>
                  <a:srgbClr val="C5CED6"/>
                </a:solidFill>
                <a:latin typeface="Malgun Gothic"/>
                <a:ea typeface="Malgun Gothic"/>
              </a:rPr>
              <a:t>•  OFFLINE이 막혀 부분 복구라는 선택지가 없다</a:t>
            </a:r>
          </a:p>
          <a:p>
            <a:pPr>
              <a:spcAft>
                <a:spcPts val="600"/>
              </a:spcAft>
            </a:pPr>
            <a:r>
              <a:rPr sz="1600" b="0">
                <a:solidFill>
                  <a:srgbClr val="C5CED6"/>
                </a:solidFill>
                <a:latin typeface="Malgun Gothic"/>
                <a:ea typeface="Malgun Gothic"/>
              </a:rPr>
              <a:t>•  판정은 SCN 비교 한 줄로 끝난다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가능 범위를 결정하는 것</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NOARCHIVELOG에는 아카이브 로그가 없다</a:t>
            </a:r>
          </a:p>
          <a:p>
            <a:pPr>
              <a:spcAft>
                <a:spcPts val="600"/>
              </a:spcAft>
            </a:pPr>
            <a:r>
              <a:rPr sz="1600" b="0">
                <a:solidFill>
                  <a:srgbClr val="5A6672"/>
                </a:solidFill>
                <a:latin typeface="Malgun Gothic"/>
                <a:ea typeface="Malgun Gothic"/>
              </a:rPr>
              <a:t>    –  복구 재료는 백업본과 온라인 리두 로그뿐</a:t>
            </a:r>
          </a:p>
          <a:p>
            <a:pPr>
              <a:spcAft>
                <a:spcPts val="600"/>
              </a:spcAft>
            </a:pPr>
            <a:r>
              <a:rPr sz="1800" b="0">
                <a:solidFill>
                  <a:srgbClr val="202830"/>
                </a:solidFill>
                <a:latin typeface="Malgun Gothic"/>
                <a:ea typeface="Malgun Gothic"/>
              </a:rPr>
              <a:t>•  판정 질문은 하나 — 백업 시점부터의 리두가 아직 살아 있는가</a:t>
            </a:r>
          </a:p>
          <a:p>
            <a:pPr>
              <a:spcAft>
                <a:spcPts val="600"/>
              </a:spcAft>
            </a:pPr>
            <a:r>
              <a:rPr sz="1600" b="0">
                <a:solidFill>
                  <a:srgbClr val="5A6672"/>
                </a:solidFill>
                <a:latin typeface="Malgun Gothic"/>
                <a:ea typeface="Malgun Gothic"/>
              </a:rPr>
              <a:t>    –  살아 있으면 손상 파일만 복원 + RECOVER → 완전 복구</a:t>
            </a:r>
          </a:p>
          <a:p>
            <a:pPr>
              <a:spcAft>
                <a:spcPts val="600"/>
              </a:spcAft>
            </a:pPr>
            <a:r>
              <a:rPr sz="1600" b="0">
                <a:solidFill>
                  <a:srgbClr val="5A6672"/>
                </a:solidFill>
                <a:latin typeface="Malgun Gothic"/>
                <a:ea typeface="Malgun Gothic"/>
              </a:rPr>
              <a:t>    –  없으면 전체를 백업 시점으로 되돌림 → 불완전 복구</a:t>
            </a:r>
          </a:p>
          <a:p>
            <a:pPr>
              <a:spcAft>
                <a:spcPts val="600"/>
              </a:spcAft>
            </a:pPr>
            <a:r>
              <a:rPr sz="1800" b="0">
                <a:solidFill>
                  <a:srgbClr val="202830"/>
                </a:solidFill>
                <a:latin typeface="Malgun Gothic"/>
                <a:ea typeface="Malgun Gothic"/>
              </a:rPr>
              <a:t>•  비교할 두 값</a:t>
            </a:r>
          </a:p>
          <a:p>
            <a:pPr>
              <a:spcAft>
                <a:spcPts val="600"/>
              </a:spcAft>
            </a:pPr>
            <a:r>
              <a:rPr sz="1600" b="0">
                <a:solidFill>
                  <a:srgbClr val="5A6672"/>
                </a:solidFill>
                <a:latin typeface="Malgun Gothic"/>
                <a:ea typeface="Malgun Gothic"/>
              </a:rPr>
              <a:t>    –  백업본 데이터 파일 헤더의 CHECKPOINT_CHANGE#</a:t>
            </a:r>
          </a:p>
          <a:p>
            <a:pPr>
              <a:spcAft>
                <a:spcPts val="600"/>
              </a:spcAft>
            </a:pPr>
            <a:r>
              <a:rPr sz="1600" b="0">
                <a:solidFill>
                  <a:srgbClr val="5A6672"/>
                </a:solidFill>
                <a:latin typeface="Malgun Gothic"/>
                <a:ea typeface="Malgun Gothic"/>
              </a:rPr>
              <a:t>    –  v$log의 최소 FIRST_CHANGE#</a:t>
            </a:r>
          </a:p>
          <a:p>
            <a:pPr>
              <a:spcAft>
                <a:spcPts val="600"/>
              </a:spcAft>
            </a:pPr>
            <a:r>
              <a:rPr sz="1800" b="0">
                <a:solidFill>
                  <a:srgbClr val="202830"/>
                </a:solidFill>
                <a:latin typeface="Malgun Gothic"/>
                <a:ea typeface="Malgun Gothic"/>
              </a:rPr>
              <a:t>•  전자가 후자 이상이면 필요한 리두가 살아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 생존 구간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v$log의 SCN 구간이 판정의 한쪽 값이 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group#, sequence#, first_change#, next_change#, status</a:t>
            </a:r>
          </a:p>
          <a:p>
            <a:pPr>
              <a:spcAft>
                <a:spcPts val="0"/>
              </a:spcAft>
            </a:pPr>
            <a:r>
              <a:rPr sz="1250" b="0">
                <a:solidFill>
                  <a:srgbClr val="E6E6E6"/>
                </a:solidFill>
                <a:latin typeface="Consolas"/>
                <a:ea typeface="Consolas"/>
              </a:rPr>
              <a:t>  2  FROM   v$log ORDER BY first_change#;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GROUP#  SEQUENCE# FIRST_CHANGE# NEXT_CHANGE# STATUS</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         1         42       2343910   2344512     INACTIVE</a:t>
            </a:r>
          </a:p>
          <a:p>
            <a:pPr>
              <a:spcAft>
                <a:spcPts val="0"/>
              </a:spcAft>
            </a:pPr>
            <a:r>
              <a:rPr sz="1250" b="0">
                <a:solidFill>
                  <a:srgbClr val="E6E6E6"/>
                </a:solidFill>
                <a:latin typeface="Consolas"/>
                <a:ea typeface="Consolas"/>
              </a:rPr>
              <a:t>         3         43       2344512   2345018     INACTIVE</a:t>
            </a:r>
          </a:p>
          <a:p>
            <a:pPr>
              <a:spcAft>
                <a:spcPts val="0"/>
              </a:spcAft>
            </a:pPr>
            <a:r>
              <a:rPr sz="1250" b="0">
                <a:solidFill>
                  <a:srgbClr val="E6E6E6"/>
                </a:solidFill>
                <a:latin typeface="Consolas"/>
                <a:ea typeface="Consolas"/>
              </a:rPr>
              <a:t>         4         44       2345018   1.8447E+19  CURRENT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MIN(first_change#) AS oldest_redo_scn FROM v$log;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OLDEST_REDO_SCN</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2343910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백업본의 CHECKPOINT_CHANGE#가 2343910 이상이면 완전 복구가 가능하다.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OFFLINE과 OFFLINE DROP</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ARCHIVELOG — 손상 파일만 OFFLINE으로 내리고 복구, 무중단 가능</a:t>
            </a:r>
          </a:p>
          <a:p>
            <a:pPr>
              <a:spcAft>
                <a:spcPts val="600"/>
              </a:spcAft>
            </a:pPr>
            <a:r>
              <a:rPr sz="1800" b="0">
                <a:solidFill>
                  <a:srgbClr val="202830"/>
                </a:solidFill>
                <a:latin typeface="Malgun Gothic"/>
                <a:ea typeface="Malgun Gothic"/>
              </a:rPr>
              <a:t>•  NOARCHIVELOG — OFFLINE이 금지된다</a:t>
            </a:r>
          </a:p>
          <a:p>
            <a:pPr>
              <a:spcAft>
                <a:spcPts val="600"/>
              </a:spcAft>
            </a:pPr>
            <a:r>
              <a:rPr sz="1600" b="0">
                <a:solidFill>
                  <a:srgbClr val="5A6672"/>
                </a:solidFill>
                <a:latin typeface="Malgun Gothic"/>
                <a:ea typeface="Malgun Gothic"/>
              </a:rPr>
              <a:t>    –  ALTER DATABASE DATAFILE n OFFLINE → ORA-01145</a:t>
            </a:r>
          </a:p>
          <a:p>
            <a:pPr>
              <a:spcAft>
                <a:spcPts val="600"/>
              </a:spcAft>
            </a:pPr>
            <a:r>
              <a:rPr sz="1600" b="0">
                <a:solidFill>
                  <a:srgbClr val="5A6672"/>
                </a:solidFill>
                <a:latin typeface="Malgun Gothic"/>
                <a:ea typeface="Malgun Gothic"/>
              </a:rPr>
              <a:t>    –  미디어 복구가 활성화된 환경에서만 허용되기 때문</a:t>
            </a:r>
          </a:p>
          <a:p>
            <a:pPr>
              <a:spcAft>
                <a:spcPts val="600"/>
              </a:spcAft>
            </a:pPr>
            <a:r>
              <a:rPr sz="1800" b="0">
                <a:solidFill>
                  <a:srgbClr val="202830"/>
                </a:solidFill>
                <a:latin typeface="Malgun Gothic"/>
                <a:ea typeface="Malgun Gothic"/>
              </a:rPr>
              <a:t>•  OFFLINE DROP만 가능하다</a:t>
            </a:r>
          </a:p>
          <a:p>
            <a:pPr>
              <a:spcAft>
                <a:spcPts val="600"/>
              </a:spcAft>
            </a:pPr>
            <a:r>
              <a:rPr sz="1600" b="0">
                <a:solidFill>
                  <a:srgbClr val="5A6672"/>
                </a:solidFill>
                <a:latin typeface="Malgun Gothic"/>
                <a:ea typeface="Malgun Gothic"/>
              </a:rPr>
              <a:t>    –  파일이나 테이블스페이스를 지우는 명령이 아니다</a:t>
            </a:r>
          </a:p>
          <a:p>
            <a:pPr>
              <a:spcAft>
                <a:spcPts val="600"/>
              </a:spcAft>
            </a:pPr>
            <a:r>
              <a:rPr sz="1600" b="0">
                <a:solidFill>
                  <a:srgbClr val="5A6672"/>
                </a:solidFill>
                <a:latin typeface="Malgun Gothic"/>
                <a:ea typeface="Malgun Gothic"/>
              </a:rPr>
              <a:t>    –  '복구 없이는 다시 못 쓴다'는 표시를 남길 뿐 — STATUS가 RECOVER로 바뀐다</a:t>
            </a:r>
          </a:p>
          <a:p>
            <a:pPr>
              <a:spcAft>
                <a:spcPts val="600"/>
              </a:spcAft>
            </a:pPr>
            <a:r>
              <a:rPr sz="1800" b="0">
                <a:solidFill>
                  <a:srgbClr val="202830"/>
                </a:solidFill>
                <a:latin typeface="Malgun Gothic"/>
                <a:ea typeface="Malgun Gothic"/>
              </a:rPr>
              <a:t>•  결과: 부분 복구라는 선택지가 없어 MOUNT 상태 처리가 표준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명령의 세 가지 단위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RECOVER DATABASE — 복구가 필요한 모든 파일을 한 번에</a:t>
            </a:r>
          </a:p>
          <a:p>
            <a:pPr>
              <a:spcAft>
                <a:spcPts val="600"/>
              </a:spcAft>
            </a:pPr>
            <a:r>
              <a:rPr sz="1600" b="0">
                <a:solidFill>
                  <a:srgbClr val="5A6672"/>
                </a:solidFill>
                <a:latin typeface="Malgun Gothic"/>
                <a:ea typeface="Malgun Gothic"/>
              </a:rPr>
              <a:t>    –  MOUNT 상태에서만 수행. 실무에서 가장 많이 쓴다</a:t>
            </a:r>
          </a:p>
          <a:p>
            <a:pPr>
              <a:spcAft>
                <a:spcPts val="600"/>
              </a:spcAft>
            </a:pPr>
            <a:r>
              <a:rPr sz="1800" b="0">
                <a:solidFill>
                  <a:srgbClr val="202830"/>
                </a:solidFill>
                <a:latin typeface="Malgun Gothic"/>
                <a:ea typeface="Malgun Gothic"/>
              </a:rPr>
              <a:t>•  RECOVER TABLESPACE &lt;이름&gt; — 해당 TS만</a:t>
            </a:r>
          </a:p>
          <a:p>
            <a:pPr>
              <a:spcAft>
                <a:spcPts val="600"/>
              </a:spcAft>
            </a:pPr>
            <a:r>
              <a:rPr sz="1600" b="0">
                <a:solidFill>
                  <a:srgbClr val="5A6672"/>
                </a:solidFill>
                <a:latin typeface="Malgun Gothic"/>
                <a:ea typeface="Malgun Gothic"/>
              </a:rPr>
              <a:t>    –  OPEN 상태이고 그 TS가 OFFLINE이어야 한다</a:t>
            </a:r>
          </a:p>
          <a:p>
            <a:pPr>
              <a:spcAft>
                <a:spcPts val="600"/>
              </a:spcAft>
            </a:pPr>
            <a:r>
              <a:rPr sz="1600" b="0">
                <a:solidFill>
                  <a:srgbClr val="5A6672"/>
                </a:solidFill>
                <a:latin typeface="Malgun Gothic"/>
                <a:ea typeface="Malgun Gothic"/>
              </a:rPr>
              <a:t>    –  NOARCHIVELOG에서는 OFFLINE이 불가능해 사실상 못 쓴다</a:t>
            </a:r>
          </a:p>
          <a:p>
            <a:pPr>
              <a:spcAft>
                <a:spcPts val="600"/>
              </a:spcAft>
            </a:pPr>
            <a:r>
              <a:rPr sz="1800" b="0">
                <a:solidFill>
                  <a:srgbClr val="202830"/>
                </a:solidFill>
                <a:latin typeface="Malgun Gothic"/>
                <a:ea typeface="Malgun Gothic"/>
              </a:rPr>
              <a:t>•  RECOVER DATAFILE &lt;번호|경로&gt; — 특정 파일만</a:t>
            </a:r>
          </a:p>
          <a:p>
            <a:pPr>
              <a:spcAft>
                <a:spcPts val="600"/>
              </a:spcAft>
            </a:pPr>
            <a:r>
              <a:rPr sz="1800" b="0">
                <a:solidFill>
                  <a:srgbClr val="202830"/>
                </a:solidFill>
                <a:latin typeface="Malgun Gothic"/>
                <a:ea typeface="Malgun Gothic"/>
              </a:rPr>
              <a:t>•  리두 적용 방식 — 대화형 / 자동(AUTO, SET AUTORECOVERY ON)</a:t>
            </a:r>
          </a:p>
          <a:p>
            <a:pPr>
              <a:spcAft>
                <a:spcPts val="600"/>
              </a:spcAft>
            </a:pPr>
            <a:r>
              <a:rPr sz="1600" b="0">
                <a:solidFill>
                  <a:srgbClr val="5A6672"/>
                </a:solidFill>
                <a:latin typeface="Malgun Gothic"/>
                <a:ea typeface="Malgun Gothic"/>
              </a:rPr>
              <a:t>    –  프롬프트가 나오면 아카이브를 요구한다는 뜻 = 리두 부족 신호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대상 미리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V$RECOVER_FILE — 명령을 내리기 전에 범위를 좁힌다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file#, error, change#, time FROM v$recover_file;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ERROR                    CHANGE# TIME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7 FILE NOT FOUND                 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ERROR가 FILE NOT FOUND면 파일이 아예 없다는 뜻이다.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백업본을 복원한 뒤 다시 조회하면</a:t>
            </a:r>
          </a:p>
          <a:p>
            <a:pPr>
              <a:spcAft>
                <a:spcPts val="0"/>
              </a:spcAft>
            </a:pPr>
            <a:r>
              <a:rPr sz="1250" b="0">
                <a:solidFill>
                  <a:srgbClr val="E6E6E6"/>
                </a:solidFill>
                <a:latin typeface="Consolas"/>
                <a:ea typeface="Consolas"/>
              </a:rPr>
              <a:t>SYS@orcl&gt; !cp -p /home/oracle/backup/cold/20250509/users01.dbf \</a:t>
            </a:r>
          </a:p>
          <a:p>
            <a:pPr>
              <a:spcAft>
                <a:spcPts val="0"/>
              </a:spcAft>
            </a:pPr>
            <a:r>
              <a:rPr sz="1250" b="0">
                <a:solidFill>
                  <a:srgbClr val="E6E6E6"/>
                </a:solidFill>
                <a:latin typeface="Consolas"/>
                <a:ea typeface="Consolas"/>
              </a:rPr>
              <a:t>                 /u01/app/oracle/oradata/orcl/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error, change#, time FROM v$recover_file;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ERROR                    CHANGE# TIME</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7                          2341598 2025-05-09 12:02:11</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ERROR가 비고 CHANGE#만 남았다. 파일은 있으나 그 SCN에서 뒤처져 있다는 뜻이다.</a:t>
            </a:r>
          </a:p>
          <a:p>
            <a:pPr>
              <a:spcAft>
                <a:spcPts val="0"/>
              </a:spcAft>
            </a:pPr>
            <a:r>
              <a:rPr sz="1250" b="0">
                <a:solidFill>
                  <a:srgbClr val="7EC699"/>
                </a:solidFill>
                <a:latin typeface="Consolas"/>
                <a:ea typeface="Consolas"/>
              </a:rPr>
              <a:t>-- 이 값이 앞서 본 v$log의 구간 안에 들어오면 완전 복구가 가능하다.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4.2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일반 테이블스페이스 데이터파일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리두 O — 손상 파일만 복원하고 RECOVER</a:t>
            </a:r>
          </a:p>
          <a:p>
            <a:pPr>
              <a:spcAft>
                <a:spcPts val="600"/>
              </a:spcAft>
            </a:pPr>
            <a:r>
              <a:rPr sz="1600" b="0">
                <a:solidFill>
                  <a:srgbClr val="C5CED6"/>
                </a:solidFill>
                <a:latin typeface="Malgun Gothic"/>
                <a:ea typeface="Malgun Gothic"/>
              </a:rPr>
              <a:t>•  리두 X — 전체를 백업 시점으로 되돌린다</a:t>
            </a:r>
          </a:p>
          <a:p>
            <a:pPr>
              <a:spcAft>
                <a:spcPts val="600"/>
              </a:spcAft>
            </a:pPr>
            <a:r>
              <a:rPr sz="1600" b="0">
                <a:solidFill>
                  <a:srgbClr val="C5CED6"/>
                </a:solidFill>
                <a:latin typeface="Malgun Gothic"/>
                <a:ea typeface="Malgun Gothic"/>
              </a:rPr>
              <a:t>•  결과를 가른 것은 기술이 아니라 장애 시각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리두가 남아 있는 경우 — 완전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손상 파일만 복원, 제어 파일과 리두 로그는 건드리지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장애 발생</a:t>
            </a:r>
          </a:p>
          <a:p>
            <a:pPr>
              <a:spcAft>
                <a:spcPts val="0"/>
              </a:spcAft>
            </a:pPr>
            <a:r>
              <a:rPr sz="1250" b="0">
                <a:solidFill>
                  <a:srgbClr val="E6E6E6"/>
                </a:solidFill>
                <a:latin typeface="Consolas"/>
                <a:ea typeface="Consolas"/>
              </a:rPr>
              <a:t>SYS@orcl&gt; !rm -f /u01/app/oracle/oradata/orcl/users01.dbf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hr.emp_temp;</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ORA-01116: error in opening database file 7</a:t>
            </a:r>
          </a:p>
          <a:p>
            <a:pPr>
              <a:spcAft>
                <a:spcPts val="0"/>
              </a:spcAft>
            </a:pPr>
            <a:r>
              <a:rPr sz="1250" b="0">
                <a:solidFill>
                  <a:srgbClr val="E6E6E6"/>
                </a:solidFill>
                <a:latin typeface="Consolas"/>
                <a:ea typeface="Consolas"/>
              </a:rPr>
              <a:t>ORA-01110: data file 7: '/u01/app/oracle/oradata/orcl/users01.dbf'</a:t>
            </a:r>
          </a:p>
          <a:p>
            <a:pPr>
              <a:spcAft>
                <a:spcPts val="0"/>
              </a:spcAft>
            </a:pPr>
            <a:r>
              <a:rPr sz="1250" b="0">
                <a:solidFill>
                  <a:srgbClr val="E6E6E6"/>
                </a:solidFill>
                <a:latin typeface="Consolas"/>
                <a:ea typeface="Consolas"/>
              </a:rPr>
              <a:t>ORA-27041: unable to open file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복구</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/home/oracle/backup/cold/20250509/users01.dbf \</a:t>
            </a:r>
          </a:p>
          <a:p>
            <a:pPr>
              <a:spcAft>
                <a:spcPts val="0"/>
              </a:spcAft>
            </a:pPr>
            <a:r>
              <a:rPr sz="1250" b="0">
                <a:solidFill>
                  <a:srgbClr val="E6E6E6"/>
                </a:solidFill>
                <a:latin typeface="Consolas"/>
                <a:ea typeface="Consolas"/>
              </a:rPr>
              <a:t>                 /u01/app/oracle/oradata/orcl/</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RECOVER DATAFILE 7;</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리두가 없는 경우 — 전체 복원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RECOVER가 없는 아카이브를 요구하면 전체 복원으로 전환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RECOVER DATAFILE 7;</a:t>
            </a:r>
          </a:p>
          <a:p>
            <a:pPr>
              <a:spcAft>
                <a:spcPts val="0"/>
              </a:spcAft>
            </a:pPr>
            <a:r>
              <a:rPr sz="1250" b="0">
                <a:solidFill>
                  <a:srgbClr val="E6E6E6"/>
                </a:solidFill>
                <a:latin typeface="Consolas"/>
                <a:ea typeface="Consolas"/>
              </a:rPr>
              <a:t>ORA-00279: change 2341598 generated at 05/09/2025 12:02:11 needed for thread 1</a:t>
            </a:r>
          </a:p>
          <a:p>
            <a:pPr>
              <a:spcAft>
                <a:spcPts val="0"/>
              </a:spcAft>
            </a:pPr>
            <a:r>
              <a:rPr sz="1250" b="0">
                <a:solidFill>
                  <a:srgbClr val="E6E6E6"/>
                </a:solidFill>
                <a:latin typeface="Consolas"/>
                <a:ea typeface="Consolas"/>
              </a:rPr>
              <a:t>ORA-00289: suggestion : /home/oracle/arch1/arch_1_38_1200525254.arc</a:t>
            </a:r>
          </a:p>
          <a:p>
            <a:pPr>
              <a:spcAft>
                <a:spcPts val="0"/>
              </a:spcAft>
            </a:pPr>
            <a:r>
              <a:rPr sz="1250" b="0">
                <a:solidFill>
                  <a:srgbClr val="E6E6E6"/>
                </a:solidFill>
                <a:latin typeface="Consolas"/>
                <a:ea typeface="Consolas"/>
              </a:rPr>
              <a:t>ORA-00280: change 2341598 for thread 1 is in sequence #38</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CANCEL</a:t>
            </a:r>
          </a:p>
          <a:p>
            <a:pPr>
              <a:spcAft>
                <a:spcPts val="0"/>
              </a:spcAft>
            </a:pPr>
            <a:r>
              <a:rPr sz="1250" b="0">
                <a:solidFill>
                  <a:srgbClr val="E6E6E6"/>
                </a:solidFill>
                <a:latin typeface="Consolas"/>
                <a:ea typeface="Consolas"/>
              </a:rPr>
              <a:t>ORA-01547: warning: RECOVER succeeded but OPEN RESETLOGS would get error below</a:t>
            </a:r>
          </a:p>
          <a:p>
            <a:pPr>
              <a:spcAft>
                <a:spcPts val="0"/>
              </a:spcAft>
            </a:pPr>
            <a:r>
              <a:rPr sz="1250" b="0">
                <a:solidFill>
                  <a:srgbClr val="E6E6E6"/>
                </a:solidFill>
                <a:latin typeface="Consolas"/>
                <a:ea typeface="Consolas"/>
              </a:rPr>
              <a:t>ORA-01194: file 7 needs more recovery to be consistent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전체 복원으로 전환</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/home/oracle/backup/cold/20250509/*.dbf /u01/app/oracle/oradata/orcl/</a:t>
            </a:r>
          </a:p>
          <a:p>
            <a:pPr>
              <a:spcAft>
                <a:spcPts val="0"/>
              </a:spcAft>
            </a:pPr>
            <a:r>
              <a:rPr sz="1250" b="0">
                <a:solidFill>
                  <a:srgbClr val="E6E6E6"/>
                </a:solidFill>
                <a:latin typeface="Consolas"/>
                <a:ea typeface="Consolas"/>
              </a:rPr>
              <a:t>SYS@orcl&gt; !cp -p .../control0[12].ctl /u01/app/oracle/oradata/orcl/</a:t>
            </a:r>
          </a:p>
          <a:p>
            <a:pPr>
              <a:spcAft>
                <a:spcPts val="0"/>
              </a:spcAft>
            </a:pPr>
            <a:r>
              <a:rPr sz="1250" b="0">
                <a:solidFill>
                  <a:srgbClr val="E6E6E6"/>
                </a:solidFill>
                <a:latin typeface="Consolas"/>
                <a:ea typeface="Consolas"/>
              </a:rPr>
              <a:t>SYS@orcl&gt; !cp -p .../redo0[134].log /u01/app/oracle/oradata/orcl/</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opened.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두 결과를 가른 것</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차이는 하나 — 백업 시점 SCN을 담은 리두가 살아 있었는가</a:t>
            </a:r>
          </a:p>
          <a:p>
            <a:pPr>
              <a:spcAft>
                <a:spcPts val="600"/>
              </a:spcAft>
            </a:pPr>
            <a:r>
              <a:rPr sz="1800" b="0">
                <a:solidFill>
                  <a:srgbClr val="202830"/>
                </a:solidFill>
                <a:latin typeface="Malgun Gothic"/>
                <a:ea typeface="Malgun Gothic"/>
              </a:rPr>
              <a:t>•  리두 로그는 그룹 수만큼만 보존되고 순환하며 덮어쓰인다</a:t>
            </a:r>
          </a:p>
          <a:p>
            <a:pPr>
              <a:spcAft>
                <a:spcPts val="600"/>
              </a:spcAft>
            </a:pPr>
            <a:r>
              <a:rPr sz="1600" b="0">
                <a:solidFill>
                  <a:srgbClr val="5A6672"/>
                </a:solidFill>
                <a:latin typeface="Malgun Gothic"/>
                <a:ea typeface="Malgun Gothic"/>
              </a:rPr>
              <a:t>    –  그룹 3개 × 10MB = 30MB 분량만 남는다</a:t>
            </a:r>
          </a:p>
          <a:p>
            <a:pPr>
              <a:spcAft>
                <a:spcPts val="600"/>
              </a:spcAft>
            </a:pPr>
            <a:r>
              <a:rPr sz="1600" b="0">
                <a:solidFill>
                  <a:srgbClr val="5A6672"/>
                </a:solidFill>
                <a:latin typeface="Malgun Gothic"/>
                <a:ea typeface="Malgun Gothic"/>
              </a:rPr>
              <a:t>    –  변경이 많은 시스템에서는 몇 분 만에 한 바퀴가 돈다</a:t>
            </a:r>
          </a:p>
          <a:p>
            <a:pPr>
              <a:spcAft>
                <a:spcPts val="600"/>
              </a:spcAft>
            </a:pPr>
            <a:r>
              <a:rPr sz="1800" b="0">
                <a:solidFill>
                  <a:srgbClr val="202830"/>
                </a:solidFill>
                <a:latin typeface="Malgun Gothic"/>
                <a:ea typeface="Malgun Gothic"/>
              </a:rPr>
              <a:t>•  즉 NOARCHIVELOG의 완전 복구는 '운이 좋았을 때'만 성립</a:t>
            </a:r>
          </a:p>
          <a:p>
            <a:pPr>
              <a:spcAft>
                <a:spcPts val="600"/>
              </a:spcAft>
            </a:pPr>
            <a:r>
              <a:rPr sz="1600" b="0">
                <a:solidFill>
                  <a:srgbClr val="5A6672"/>
                </a:solidFill>
                <a:latin typeface="Malgun Gothic"/>
                <a:ea typeface="Malgun Gothic"/>
              </a:rPr>
              <a:t>    –  정책이라 부를 수 없고 복구 계획의 근거로 삼을 수 없다</a:t>
            </a:r>
          </a:p>
          <a:p>
            <a:pPr>
              <a:spcAft>
                <a:spcPts val="600"/>
              </a:spcAft>
            </a:pPr>
            <a:r>
              <a:rPr sz="1800" b="0">
                <a:solidFill>
                  <a:srgbClr val="202830"/>
                </a:solidFill>
                <a:latin typeface="Malgun Gothic"/>
                <a:ea typeface="Malgun Gothic"/>
              </a:rPr>
              <a:t>•  리두 그룹을 키우면 확률은 올라가나 인스턴스 복구 시간이 길어진다</a:t>
            </a:r>
          </a:p>
          <a:p>
            <a:pPr>
              <a:spcAft>
                <a:spcPts val="600"/>
              </a:spcAft>
            </a:pPr>
            <a:r>
              <a:rPr sz="1600" b="0">
                <a:solidFill>
                  <a:srgbClr val="5A6672"/>
                </a:solidFill>
                <a:latin typeface="Malgun Gothic"/>
                <a:ea typeface="Malgun Gothic"/>
              </a:rPr>
              <a:t>    –  근본 해결은 ARCHIVELOG 전환 — 8장부터의 주제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다른 위치로 복원하기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복사를 먼저, RENAME을 나중에. RENAME은 파일을 옮기지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/u01 디스크가 손상되어 /u03으로 복원하는 경우</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!mkdir -p /u03/oradata/ORCL</a:t>
            </a:r>
          </a:p>
          <a:p>
            <a:pPr>
              <a:spcAft>
                <a:spcPts val="0"/>
              </a:spcAft>
            </a:pPr>
            <a:r>
              <a:rPr sz="1250" b="0">
                <a:solidFill>
                  <a:srgbClr val="E6E6E6"/>
                </a:solidFill>
                <a:latin typeface="Consolas"/>
                <a:ea typeface="Consolas"/>
              </a:rPr>
              <a:t>SYS@orcl&gt; !cp -p /home/oracle/backup/cold/20250509/users01.dbf /u03/oradata/ORCL/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RENAME FILE</a:t>
            </a:r>
          </a:p>
          <a:p>
            <a:pPr>
              <a:spcAft>
                <a:spcPts val="0"/>
              </a:spcAft>
            </a:pPr>
            <a:r>
              <a:rPr sz="1250" b="0">
                <a:solidFill>
                  <a:srgbClr val="E6E6E6"/>
                </a:solidFill>
                <a:latin typeface="Consolas"/>
                <a:ea typeface="Consolas"/>
              </a:rPr>
              <a:t>  2    '/u01/app/oracle/oradata/orcl/users01.dbf'</a:t>
            </a:r>
          </a:p>
          <a:p>
            <a:pPr>
              <a:spcAft>
                <a:spcPts val="0"/>
              </a:spcAft>
            </a:pPr>
            <a:r>
              <a:rPr sz="1250" b="0">
                <a:solidFill>
                  <a:srgbClr val="E6E6E6"/>
                </a:solidFill>
                <a:latin typeface="Consolas"/>
                <a:ea typeface="Consolas"/>
              </a:rPr>
              <a:t>  3    TO '/u03/oradata/ORCL/users01.dbf';</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name FROM v$datafile WHERE file# = 7;</a:t>
            </a:r>
          </a:p>
          <a:p>
            <a:pPr>
              <a:spcAft>
                <a:spcPts val="0"/>
              </a:spcAft>
            </a:pPr>
            <a:r>
              <a:rPr sz="1250" b="0">
                <a:solidFill>
                  <a:srgbClr val="E6E6E6"/>
                </a:solidFill>
                <a:latin typeface="Consolas"/>
                <a:ea typeface="Consolas"/>
              </a:rPr>
              <a:t>     FILE# NAME</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         7 /u03/oradata/ORCL/users01.dbf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DATAFILE 7;</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4.3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 받지 않은 테이블스페이스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백업본에 없는 파일은 빈 파일을 만들어 복구한다</a:t>
            </a:r>
          </a:p>
          <a:p>
            <a:pPr>
              <a:spcAft>
                <a:spcPts val="600"/>
              </a:spcAft>
            </a:pPr>
            <a:r>
              <a:rPr sz="1600" b="0">
                <a:solidFill>
                  <a:srgbClr val="C5CED6"/>
                </a:solidFill>
                <a:latin typeface="Malgun Gothic"/>
                <a:ea typeface="Malgun Gothic"/>
              </a:rPr>
              <a:t>•  CREATE TABLESPACE 자체가 리두에 기록되기 때문</a:t>
            </a:r>
          </a:p>
          <a:p>
            <a:pPr>
              <a:spcAft>
                <a:spcPts val="600"/>
              </a:spcAft>
            </a:pPr>
            <a:r>
              <a:rPr sz="1600" b="0">
                <a:solidFill>
                  <a:srgbClr val="C5CED6"/>
                </a:solidFill>
                <a:latin typeface="Malgun Gothic"/>
                <a:ea typeface="Malgun Gothic"/>
              </a:rPr>
              <a:t>•  리두가 없으면 그 TS만 버리고 나머지를 살린다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리두가 있으면 — CREATE DATAFILE 후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빈 파일을 만들고 리두로 내용을 채운다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SELECT file#, error FROM v$datafile_header WHERE file# = 8;</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ERROR</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         8 FILE NOT FOUND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백업본에 없는 파일이므로 복원 대신 빈 파일을 생성</a:t>
            </a:r>
          </a:p>
          <a:p>
            <a:pPr>
              <a:spcAft>
                <a:spcPts val="0"/>
              </a:spcAft>
            </a:pPr>
            <a:r>
              <a:rPr sz="1250" b="0">
                <a:solidFill>
                  <a:srgbClr val="E6E6E6"/>
                </a:solidFill>
                <a:latin typeface="Consolas"/>
                <a:ea typeface="Consolas"/>
              </a:rPr>
              <a:t>SYS@orcl&gt; ALTER DATABASE CREATE DATAFILE</a:t>
            </a:r>
          </a:p>
          <a:p>
            <a:pPr>
              <a:spcAft>
                <a:spcPts val="0"/>
              </a:spcAft>
            </a:pPr>
            <a:r>
              <a:rPr sz="1250" b="0">
                <a:solidFill>
                  <a:srgbClr val="E6E6E6"/>
                </a:solidFill>
                <a:latin typeface="Consolas"/>
                <a:ea typeface="Consolas"/>
              </a:rPr>
              <a:t>  2    '/u01/app/oracle/oradata/orcl/tbs01.dbf'</a:t>
            </a:r>
          </a:p>
          <a:p>
            <a:pPr>
              <a:spcAft>
                <a:spcPts val="0"/>
              </a:spcAft>
            </a:pPr>
            <a:r>
              <a:rPr sz="1250" b="0">
                <a:solidFill>
                  <a:srgbClr val="E6E6E6"/>
                </a:solidFill>
                <a:latin typeface="Consolas"/>
                <a:ea typeface="Consolas"/>
              </a:rPr>
              <a:t>  3    AS '/u01/app/oracle/oradata/orcl/tbs01.dbf';</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DATAFILE 8;</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SYS@orcl&gt; SELECT COUNT(*) FROM hr.emp1;</a:t>
            </a:r>
          </a:p>
          <a:p>
            <a:pPr>
              <a:spcAft>
                <a:spcPts val="0"/>
              </a:spcAft>
            </a:pPr>
            <a:r>
              <a:rPr sz="1250" b="0">
                <a:solidFill>
                  <a:srgbClr val="E6E6E6"/>
                </a:solidFill>
                <a:latin typeface="Consolas"/>
                <a:ea typeface="Consolas"/>
              </a:rPr>
              <a:t>  COUNT(*)</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리두가 없으면 — OFFLINE DROP과 DROP TABLESPACE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그 TS만 버리고 나머지를 최신 상태로 살린다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RECOVER DATAFILE 8;</a:t>
            </a:r>
          </a:p>
          <a:p>
            <a:pPr>
              <a:spcAft>
                <a:spcPts val="0"/>
              </a:spcAft>
            </a:pPr>
            <a:r>
              <a:rPr sz="1250" b="0">
                <a:solidFill>
                  <a:srgbClr val="E6E6E6"/>
                </a:solidFill>
                <a:latin typeface="Consolas"/>
                <a:ea typeface="Consolas"/>
              </a:rPr>
              <a:t>ORA-00279: change 2344920 generated at 05/09/2025 15:11:03 needed for thread 1</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CANCEL</a:t>
            </a:r>
          </a:p>
          <a:p>
            <a:pPr>
              <a:spcAft>
                <a:spcPts val="0"/>
              </a:spcAft>
            </a:pPr>
            <a:r>
              <a:rPr sz="1250" b="0">
                <a:solidFill>
                  <a:srgbClr val="E6E6E6"/>
                </a:solidFill>
                <a:latin typeface="Consolas"/>
                <a:ea typeface="Consolas"/>
              </a:rPr>
              <a:t>ORA-01547: warning: RECOVER succeeded but OPEN RESETLOGS would get error below</a:t>
            </a:r>
          </a:p>
          <a:p>
            <a:pPr>
              <a:spcAft>
                <a:spcPts val="0"/>
              </a:spcAft>
            </a:pPr>
            <a:r>
              <a:rPr sz="1250" b="0">
                <a:solidFill>
                  <a:srgbClr val="E6E6E6"/>
                </a:solidFill>
                <a:latin typeface="Consolas"/>
                <a:ea typeface="Consolas"/>
              </a:rPr>
              <a:t>ORA-01194: file 8 needs more recovery to be consistent</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해당 테이블스페이스만 버린다</a:t>
            </a:r>
          </a:p>
          <a:p>
            <a:pPr>
              <a:spcAft>
                <a:spcPts val="0"/>
              </a:spcAft>
            </a:pPr>
            <a:r>
              <a:rPr sz="1250" b="0">
                <a:solidFill>
                  <a:srgbClr val="E6E6E6"/>
                </a:solidFill>
                <a:latin typeface="Consolas"/>
                <a:ea typeface="Consolas"/>
              </a:rPr>
              <a:t>SYS@orcl&gt; ALTER DATABASE DATAFILE 8 OFFLINE DROP;</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DROP TABLESPACE tbs INCLUDING CONTENTS AND DATAFILES;</a:t>
            </a:r>
          </a:p>
          <a:p>
            <a:pPr>
              <a:spcAft>
                <a:spcPts val="0"/>
              </a:spcAft>
            </a:pPr>
            <a:r>
              <a:rPr sz="1250" b="0">
                <a:solidFill>
                  <a:srgbClr val="E6E6E6"/>
                </a:solidFill>
                <a:latin typeface="Consolas"/>
                <a:ea typeface="Consolas"/>
              </a:rPr>
              <a:t>Tablespace dropped.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4.4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SYSTEM 데이터파일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데이터 딕셔너리가 있어 OFFLINE DROP조차 불가</a:t>
            </a:r>
          </a:p>
          <a:p>
            <a:pPr>
              <a:spcAft>
                <a:spcPts val="600"/>
              </a:spcAft>
            </a:pPr>
            <a:r>
              <a:rPr sz="1600" b="0">
                <a:solidFill>
                  <a:srgbClr val="C5CED6"/>
                </a:solidFill>
                <a:latin typeface="Malgun Gothic"/>
                <a:ea typeface="Malgun Gothic"/>
              </a:rPr>
              <a:t>•  리두가 없으면 전체 복원 외에 방법이 없다</a:t>
            </a:r>
          </a:p>
          <a:p>
            <a:pPr>
              <a:spcAft>
                <a:spcPts val="600"/>
              </a:spcAft>
            </a:pPr>
            <a:r>
              <a:rPr sz="1600" b="0">
                <a:solidFill>
                  <a:srgbClr val="C5CED6"/>
                </a:solidFill>
                <a:latin typeface="Malgun Gothic"/>
                <a:ea typeface="Malgun Gothic"/>
              </a:rPr>
              <a:t>•  복구 후 검증은 데이터까지 확인해야 끝난다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SYSTEM의 특수성</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OFFLINE도 OFFLINE DROP도 허용되지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DATAFILE 1 OFFLINE DROP;</a:t>
            </a:r>
          </a:p>
          <a:p>
            <a:pPr>
              <a:spcAft>
                <a:spcPts val="0"/>
              </a:spcAft>
            </a:pPr>
            <a:r>
              <a:rPr sz="1250" b="0">
                <a:solidFill>
                  <a:srgbClr val="E6E6E6"/>
                </a:solidFill>
                <a:latin typeface="Consolas"/>
                <a:ea typeface="Consolas"/>
              </a:rPr>
              <a:t>ALTER DATABASE DATAFILE 1 OFFLINE DROP</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ORA-01541: system tablespace cannot be brought offline;</a:t>
            </a:r>
          </a:p>
          <a:p>
            <a:pPr>
              <a:spcAft>
                <a:spcPts val="0"/>
              </a:spcAft>
            </a:pPr>
            <a:r>
              <a:rPr sz="1250" b="0">
                <a:solidFill>
                  <a:srgbClr val="E6E6E6"/>
                </a:solidFill>
                <a:latin typeface="Consolas"/>
                <a:ea typeface="Consolas"/>
              </a:rPr>
              <a:t>           shut down if necessary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name, status FROM v$datafile ORDER BY 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NAME                                          STATUS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/u01/app/oracle/oradata/orcl/system01.dbf     SYSTEM</a:t>
            </a:r>
          </a:p>
          <a:p>
            <a:pPr>
              <a:spcAft>
                <a:spcPts val="0"/>
              </a:spcAft>
            </a:pPr>
            <a:r>
              <a:rPr sz="1250" b="0">
                <a:solidFill>
                  <a:srgbClr val="E6E6E6"/>
                </a:solidFill>
                <a:latin typeface="Consolas"/>
                <a:ea typeface="Consolas"/>
              </a:rPr>
              <a:t>         3 /u01/app/oracle/oradata/orcl/sysaux01.dbf     ONLINE</a:t>
            </a:r>
          </a:p>
          <a:p>
            <a:pPr>
              <a:spcAft>
                <a:spcPts val="0"/>
              </a:spcAft>
            </a:pPr>
            <a:r>
              <a:rPr sz="1250" b="0">
                <a:solidFill>
                  <a:srgbClr val="E6E6E6"/>
                </a:solidFill>
                <a:latin typeface="Consolas"/>
                <a:ea typeface="Consolas"/>
              </a:rPr>
              <a:t>         4 /u01/app/oracle/oradata/orcl/undotbs01.dbf    ONLINE</a:t>
            </a:r>
          </a:p>
          <a:p>
            <a:pPr>
              <a:spcAft>
                <a:spcPts val="0"/>
              </a:spcAft>
            </a:pPr>
            <a:r>
              <a:rPr sz="1250" b="0">
                <a:solidFill>
                  <a:srgbClr val="E6E6E6"/>
                </a:solidFill>
                <a:latin typeface="Consolas"/>
                <a:ea typeface="Consolas"/>
              </a:rPr>
              <a:t>         7 /u01/app/oracle/oradata/orcl/users01.dbf      ONLINE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STATUS가 SYSTEM인 파일은 OFFLINE 대상이 아니다.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SYSTEM 손상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종료 → 해당 파일만 복원 → MOUNT → RECOVER → OPEN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!rm -f /u01/app/oracle/oradata/orcl/system01.dbf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dba_tables;</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ORA-01116: error in opening database file 1</a:t>
            </a:r>
          </a:p>
          <a:p>
            <a:pPr>
              <a:spcAft>
                <a:spcPts val="0"/>
              </a:spcAft>
            </a:pPr>
            <a:r>
              <a:rPr sz="1250" b="0">
                <a:solidFill>
                  <a:srgbClr val="E6E6E6"/>
                </a:solidFill>
                <a:latin typeface="Consolas"/>
                <a:ea typeface="Consolas"/>
              </a:rPr>
              <a:t>ORA-01110: data file 1: '/u01/app/oracle/oradata/orcl/system01.dbf'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/home/oracle/backup/cold/20250509/system01.dbf \</a:t>
            </a:r>
          </a:p>
          <a:p>
            <a:pPr>
              <a:spcAft>
                <a:spcPts val="0"/>
              </a:spcAft>
            </a:pPr>
            <a:r>
              <a:rPr sz="1250" b="0">
                <a:solidFill>
                  <a:srgbClr val="E6E6E6"/>
                </a:solidFill>
                <a:latin typeface="Consolas"/>
                <a:ea typeface="Consolas"/>
              </a:rPr>
              <a:t>                 /u01/app/oracle/oradata/orcl/</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checkpoint_change#, fuzzy FROM v$datafile_header ORDER BY file#;</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2341598 NO</a:t>
            </a:r>
          </a:p>
          <a:p>
            <a:pPr>
              <a:spcAft>
                <a:spcPts val="0"/>
              </a:spcAft>
            </a:pPr>
            <a:r>
              <a:rPr sz="1250" b="0">
                <a:solidFill>
                  <a:srgbClr val="E6E6E6"/>
                </a:solidFill>
                <a:latin typeface="Consolas"/>
                <a:ea typeface="Consolas"/>
              </a:rPr>
              <a:t>         3            2345120 YES</a:t>
            </a:r>
          </a:p>
          <a:p>
            <a:pPr>
              <a:spcAft>
                <a:spcPts val="0"/>
              </a:spcAft>
            </a:pPr>
            <a:r>
              <a:rPr sz="1250" b="0">
                <a:solidFill>
                  <a:srgbClr val="E6E6E6"/>
                </a:solidFill>
                <a:latin typeface="Consolas"/>
                <a:ea typeface="Consolas"/>
              </a:rPr>
              <a:t>         4            2345120 YES</a:t>
            </a:r>
          </a:p>
          <a:p>
            <a:pPr>
              <a:spcAft>
                <a:spcPts val="0"/>
              </a:spcAft>
            </a:pPr>
            <a:r>
              <a:rPr sz="1250" b="0">
                <a:solidFill>
                  <a:srgbClr val="E6E6E6"/>
                </a:solidFill>
                <a:latin typeface="Consolas"/>
                <a:ea typeface="Consolas"/>
              </a:rPr>
              <a:t>         7            2345120 YES</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검증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구조 정합성 확인 다음에 데이터 확인까지 해야 끝난다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 FROM v$recover_file;</a:t>
            </a:r>
          </a:p>
          <a:p>
            <a:pPr>
              <a:spcAft>
                <a:spcPts val="0"/>
              </a:spcAft>
            </a:pPr>
            <a:r>
              <a:rPr sz="1250" b="0">
                <a:solidFill>
                  <a:srgbClr val="E6E6E6"/>
                </a:solidFill>
                <a:latin typeface="Consolas"/>
                <a:ea typeface="Consolas"/>
              </a:rPr>
              <a:t>no rows selected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d.file#, d.checkpoint_change# AS ctl_scn,</a:t>
            </a:r>
          </a:p>
          <a:p>
            <a:pPr>
              <a:spcAft>
                <a:spcPts val="0"/>
              </a:spcAft>
            </a:pPr>
            <a:r>
              <a:rPr sz="1250" b="0">
                <a:solidFill>
                  <a:srgbClr val="E6E6E6"/>
                </a:solidFill>
                <a:latin typeface="Consolas"/>
                <a:ea typeface="Consolas"/>
              </a:rPr>
              <a:t>  2         h.checkpoint_change# AS hdr_scn,</a:t>
            </a:r>
          </a:p>
          <a:p>
            <a:pPr>
              <a:spcAft>
                <a:spcPts val="0"/>
              </a:spcAft>
            </a:pPr>
            <a:r>
              <a:rPr sz="1250" b="0">
                <a:solidFill>
                  <a:srgbClr val="E6E6E6"/>
                </a:solidFill>
                <a:latin typeface="Consolas"/>
                <a:ea typeface="Consolas"/>
              </a:rPr>
              <a:t>  3         CASE WHEN d.checkpoint_change# = h.checkpoint_change#</a:t>
            </a:r>
          </a:p>
          <a:p>
            <a:pPr>
              <a:spcAft>
                <a:spcPts val="0"/>
              </a:spcAft>
            </a:pPr>
            <a:r>
              <a:rPr sz="1250" b="0">
                <a:solidFill>
                  <a:srgbClr val="E6E6E6"/>
                </a:solidFill>
                <a:latin typeface="Consolas"/>
                <a:ea typeface="Consolas"/>
              </a:rPr>
              <a:t>  4              THEN 'OK' ELSE 'MISMATCH' END AS result</a:t>
            </a:r>
          </a:p>
          <a:p>
            <a:pPr>
              <a:spcAft>
                <a:spcPts val="0"/>
              </a:spcAft>
            </a:pPr>
            <a:r>
              <a:rPr sz="1250" b="0">
                <a:solidFill>
                  <a:srgbClr val="E6E6E6"/>
                </a:solidFill>
                <a:latin typeface="Consolas"/>
                <a:ea typeface="Consolas"/>
              </a:rPr>
              <a:t>  5  FROM   v$datafile d, v$datafile_header h</a:t>
            </a:r>
          </a:p>
          <a:p>
            <a:pPr>
              <a:spcAft>
                <a:spcPts val="0"/>
              </a:spcAft>
            </a:pPr>
            <a:r>
              <a:rPr sz="1250" b="0">
                <a:solidFill>
                  <a:srgbClr val="E6E6E6"/>
                </a:solidFill>
                <a:latin typeface="Consolas"/>
                <a:ea typeface="Consolas"/>
              </a:rPr>
              <a:t>  6  WHERE  d.file# = h.file# ORDER BY d.file#;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CTL_SCN    HDR_SCN RESULT</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2345412    2345412 OK</a:t>
            </a:r>
          </a:p>
          <a:p>
            <a:pPr>
              <a:spcAft>
                <a:spcPts val="0"/>
              </a:spcAft>
            </a:pPr>
            <a:r>
              <a:rPr sz="1250" b="0">
                <a:solidFill>
                  <a:srgbClr val="E6E6E6"/>
                </a:solidFill>
                <a:latin typeface="Consolas"/>
                <a:ea typeface="Consolas"/>
              </a:rPr>
              <a:t>         3    2345412    2345412 OK</a:t>
            </a:r>
          </a:p>
          <a:p>
            <a:pPr>
              <a:spcAft>
                <a:spcPts val="0"/>
              </a:spcAft>
            </a:pPr>
            <a:r>
              <a:rPr sz="1250" b="0">
                <a:solidFill>
                  <a:srgbClr val="E6E6E6"/>
                </a:solidFill>
                <a:latin typeface="Consolas"/>
                <a:ea typeface="Consolas"/>
              </a:rPr>
              <a:t>         4    2345412    2345412 OK</a:t>
            </a:r>
          </a:p>
          <a:p>
            <a:pPr>
              <a:spcAft>
                <a:spcPts val="0"/>
              </a:spcAft>
            </a:pPr>
            <a:r>
              <a:rPr sz="1250" b="0">
                <a:solidFill>
                  <a:srgbClr val="E6E6E6"/>
                </a:solidFill>
                <a:latin typeface="Consolas"/>
                <a:ea typeface="Consolas"/>
              </a:rPr>
              <a:t>         7    2345412    2345412 OK</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복구 전에 기록해 둔 값과 대조</a:t>
            </a:r>
          </a:p>
          <a:p>
            <a:pPr>
              <a:spcAft>
                <a:spcPts val="0"/>
              </a:spcAft>
            </a:pPr>
            <a:r>
              <a:rPr sz="1250" b="0">
                <a:solidFill>
                  <a:srgbClr val="E6E6E6"/>
                </a:solidFill>
                <a:latin typeface="Consolas"/>
                <a:ea typeface="Consolas"/>
              </a:rPr>
              <a:t>SYS@orcl&gt; SELECT COUNT(*) AS cnt, MAX(salary) AS max_sal FROM hr.employees;</a:t>
            </a:r>
          </a:p>
          <a:p>
            <a:pPr>
              <a:spcAft>
                <a:spcPts val="0"/>
              </a:spcAft>
            </a:pPr>
            <a:r>
              <a:rPr sz="1250" b="0">
                <a:solidFill>
                  <a:srgbClr val="E6E6E6"/>
                </a:solidFill>
                <a:latin typeface="Consolas"/>
                <a:ea typeface="Consolas"/>
              </a:rPr>
              <a:t>       CNT    MAX_SAL</a:t>
            </a:r>
          </a:p>
          <a:p>
            <a:pPr>
              <a:spcAft>
                <a:spcPts val="0"/>
              </a:spcAft>
            </a:pPr>
            <a:r>
              <a:rPr sz="1250" b="0">
                <a:solidFill>
                  <a:srgbClr val="7EC699"/>
                </a:solidFill>
                <a:latin typeface="Consolas"/>
                <a:ea typeface="Consolas"/>
              </a:rPr>
              <a:t>---------- ----------</a:t>
            </a:r>
          </a:p>
          <a:p>
            <a:pPr>
              <a:spcAft>
                <a:spcPts val="0"/>
              </a:spcAft>
            </a:pPr>
            <a:r>
              <a:rPr sz="1250" b="0">
                <a:solidFill>
                  <a:srgbClr val="E6E6E6"/>
                </a:solidFill>
                <a:latin typeface="Consolas"/>
                <a:ea typeface="Consolas"/>
              </a:rPr>
              <a:t>       107      26400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4.5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SYSAUX 데이터파일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부가 기능의 데이터만 담는 보조 테이블스페이스</a:t>
            </a:r>
          </a:p>
          <a:p>
            <a:pPr>
              <a:spcAft>
                <a:spcPts val="600"/>
              </a:spcAft>
            </a:pPr>
            <a:r>
              <a:rPr sz="1600" b="0">
                <a:solidFill>
                  <a:srgbClr val="C5CED6"/>
                </a:solidFill>
                <a:latin typeface="Malgun Gothic"/>
                <a:ea typeface="Malgun Gothic"/>
              </a:rPr>
              <a:t>•  손상되어도 일반 업무는 계속된다</a:t>
            </a:r>
          </a:p>
          <a:p>
            <a:pPr>
              <a:spcAft>
                <a:spcPts val="600"/>
              </a:spcAft>
            </a:pPr>
            <a:r>
              <a:rPr sz="1600" b="0">
                <a:solidFill>
                  <a:srgbClr val="C5CED6"/>
                </a:solidFill>
                <a:latin typeface="Malgun Gothic"/>
                <a:ea typeface="Malgun Gothic"/>
              </a:rPr>
              <a:t>•  OFFLINE DROP으로 서비스를 유지하며 시간을 벌 수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SYSAUX의 성격과 SYSTEM과의 차이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SYSAUX가 담는 것 — 대부분 부가 기능 데이터</a:t>
            </a:r>
          </a:p>
          <a:p>
            <a:pPr>
              <a:spcAft>
                <a:spcPts val="600"/>
              </a:spcAft>
            </a:pPr>
            <a:r>
              <a:rPr sz="1600" b="0">
                <a:solidFill>
                  <a:srgbClr val="5A6672"/>
                </a:solidFill>
                <a:latin typeface="Malgun Gothic"/>
                <a:ea typeface="Malgun Gothic"/>
              </a:rPr>
              <a:t>    –  AWR 스냅숏·ASH 이력 / 옵티마이저 통계 이력</a:t>
            </a:r>
          </a:p>
          <a:p>
            <a:pPr>
              <a:spcAft>
                <a:spcPts val="600"/>
              </a:spcAft>
            </a:pPr>
            <a:r>
              <a:rPr sz="1600" b="0">
                <a:solidFill>
                  <a:srgbClr val="5A6672"/>
                </a:solidFill>
                <a:latin typeface="Malgun Gothic"/>
                <a:ea typeface="Malgun Gothic"/>
              </a:rPr>
              <a:t>    –  SQL 관리 기반, LogMiner 딕셔너리, Text·Spatial 메타데이터</a:t>
            </a:r>
          </a:p>
          <a:p>
            <a:pPr>
              <a:spcAft>
                <a:spcPts val="600"/>
              </a:spcAft>
            </a:pPr>
            <a:r>
              <a:rPr sz="1800" b="0">
                <a:solidFill>
                  <a:srgbClr val="202830"/>
                </a:solidFill>
                <a:latin typeface="Malgun Gothic"/>
                <a:ea typeface="Malgun Gothic"/>
              </a:rPr>
              <a:t>•  핵심 딕셔너리는 SYSTEM에 있으므로 일반 업무는 계속된다</a:t>
            </a:r>
          </a:p>
          <a:p>
            <a:pPr>
              <a:spcAft>
                <a:spcPts val="600"/>
              </a:spcAft>
            </a:pPr>
            <a:r>
              <a:rPr sz="1800" b="0">
                <a:solidFill>
                  <a:srgbClr val="202830"/>
                </a:solidFill>
                <a:latin typeface="Malgun Gothic"/>
                <a:ea typeface="Malgun Gothic"/>
              </a:rPr>
              <a:t>•  세 종류 비교</a:t>
            </a:r>
          </a:p>
          <a:p>
            <a:pPr>
              <a:spcAft>
                <a:spcPts val="600"/>
              </a:spcAft>
            </a:pPr>
            <a:r>
              <a:rPr sz="1600" b="0">
                <a:solidFill>
                  <a:srgbClr val="5A6672"/>
                </a:solidFill>
                <a:latin typeface="Malgun Gothic"/>
                <a:ea typeface="Malgun Gothic"/>
              </a:rPr>
              <a:t>    –  SYSTEM — OFFLINE DROP 불가, 리두 없으면 전체 복원뿐</a:t>
            </a:r>
          </a:p>
          <a:p>
            <a:pPr>
              <a:spcAft>
                <a:spcPts val="600"/>
              </a:spcAft>
            </a:pPr>
            <a:r>
              <a:rPr sz="1600" b="0">
                <a:solidFill>
                  <a:srgbClr val="5A6672"/>
                </a:solidFill>
                <a:latin typeface="Malgun Gothic"/>
                <a:ea typeface="Malgun Gothic"/>
              </a:rPr>
              <a:t>    –  SYSAUX — OFFLINE DROP 가능, DROP TABLESPACE 불가</a:t>
            </a:r>
          </a:p>
          <a:p>
            <a:pPr>
              <a:spcAft>
                <a:spcPts val="600"/>
              </a:spcAft>
            </a:pPr>
            <a:r>
              <a:rPr sz="1600" b="0">
                <a:solidFill>
                  <a:srgbClr val="5A6672"/>
                </a:solidFill>
                <a:latin typeface="Malgun Gothic"/>
                <a:ea typeface="Malgun Gothic"/>
              </a:rPr>
              <a:t>    –  일반 TS — OFFLINE DROP·DROP TABLESPACE 모두 가능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SYSAUX 손상 시의 증상과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일반 쿼리는 정상, AWR 관련만 실패한다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!rm -f /u01/app/oracle/oradata/orcl/sysaux01.dbf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hr.employees;</a:t>
            </a:r>
          </a:p>
          <a:p>
            <a:pPr>
              <a:spcAft>
                <a:spcPts val="0"/>
              </a:spcAft>
            </a:pPr>
            <a:r>
              <a:rPr sz="1250" b="0">
                <a:solidFill>
                  <a:srgbClr val="E6E6E6"/>
                </a:solidFill>
                <a:latin typeface="Consolas"/>
                <a:ea typeface="Consolas"/>
              </a:rPr>
              <a:t>  COUNT(*)</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107</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일반 업무 쿼리는 정상이다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dba_hist_snapshot;</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ORA-01116: error in opening database file 3</a:t>
            </a:r>
          </a:p>
          <a:p>
            <a:pPr>
              <a:spcAft>
                <a:spcPts val="0"/>
              </a:spcAft>
            </a:pPr>
            <a:r>
              <a:rPr sz="1250" b="0">
                <a:solidFill>
                  <a:srgbClr val="E6E6E6"/>
                </a:solidFill>
                <a:latin typeface="Consolas"/>
                <a:ea typeface="Consolas"/>
              </a:rPr>
              <a:t>ORA-01110: data file 3: '/u01/app/oracle/oradata/orcl/sysaux01.dbf'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복구: 해당 파일만 복원 후 리두 적용</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/home/oracle/backup/cold/20250509/sysaux01.dbf \</a:t>
            </a:r>
          </a:p>
          <a:p>
            <a:pPr>
              <a:spcAft>
                <a:spcPts val="0"/>
              </a:spcAft>
            </a:pPr>
            <a:r>
              <a:rPr sz="1250" b="0">
                <a:solidFill>
                  <a:srgbClr val="E6E6E6"/>
                </a:solidFill>
                <a:latin typeface="Consolas"/>
                <a:ea typeface="Consolas"/>
              </a:rPr>
              <a:t>                 /u01/app/oracle/oradata/orcl/</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RECOVER DATAFILE 3;</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4.6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복구 전략 판단표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네 단계 흐름으로 여섯 시나리오가 모두 정리된다</a:t>
            </a:r>
          </a:p>
          <a:p>
            <a:pPr>
              <a:spcAft>
                <a:spcPts val="600"/>
              </a:spcAft>
            </a:pPr>
            <a:r>
              <a:rPr sz="1600" b="0">
                <a:solidFill>
                  <a:srgbClr val="C5CED6"/>
                </a:solidFill>
                <a:latin typeface="Malgun Gothic"/>
                <a:ea typeface="Malgun Gothic"/>
              </a:rPr>
              <a:t>•  3단계(리두 확인)를 건너뛰는 실수가 가장 흔하다</a:t>
            </a:r>
          </a:p>
          <a:p>
            <a:pPr>
              <a:spcAft>
                <a:spcPts val="600"/>
              </a:spcAft>
            </a:pPr>
            <a:r>
              <a:rPr sz="1600" b="0">
                <a:solidFill>
                  <a:srgbClr val="C5CED6"/>
                </a:solidFill>
                <a:latin typeface="Malgun Gothic"/>
                <a:ea typeface="Malgun Gothic"/>
              </a:rPr>
              <a:t>•  NOARCHIVELOG의 한계는 결과를 통제할 수 없다는 것</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네 단계 판단 흐름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1단계 — 손상 파일이 SYSTEM 또는 UNDO인가</a:t>
            </a:r>
          </a:p>
          <a:p>
            <a:pPr>
              <a:spcAft>
                <a:spcPts val="600"/>
              </a:spcAft>
            </a:pPr>
            <a:r>
              <a:rPr sz="1600" b="0">
                <a:solidFill>
                  <a:srgbClr val="5A6672"/>
                </a:solidFill>
                <a:latin typeface="Malgun Gothic"/>
                <a:ea typeface="Malgun Gothic"/>
              </a:rPr>
              <a:t>    –  그렇다면 데이터베이스를 내리고 MOUNT에서 처리. 부분 조치 불가</a:t>
            </a:r>
          </a:p>
          <a:p>
            <a:pPr>
              <a:spcAft>
                <a:spcPts val="600"/>
              </a:spcAft>
            </a:pPr>
            <a:r>
              <a:rPr sz="1800" b="0">
                <a:solidFill>
                  <a:srgbClr val="202830"/>
                </a:solidFill>
                <a:latin typeface="Malgun Gothic"/>
                <a:ea typeface="Malgun Gothic"/>
              </a:rPr>
              <a:t>•  2단계 — 그 파일이 백업본에 존재하는가</a:t>
            </a:r>
          </a:p>
          <a:p>
            <a:pPr>
              <a:spcAft>
                <a:spcPts val="600"/>
              </a:spcAft>
            </a:pPr>
            <a:r>
              <a:rPr sz="1600" b="0">
                <a:solidFill>
                  <a:srgbClr val="5A6672"/>
                </a:solidFill>
                <a:latin typeface="Malgun Gothic"/>
                <a:ea typeface="Malgun Gothic"/>
              </a:rPr>
              <a:t>    –  있으면 복원 후 RECOVER / 없으면 CREATE DATAFILE 후 RECOVER</a:t>
            </a:r>
          </a:p>
          <a:p>
            <a:pPr>
              <a:spcAft>
                <a:spcPts val="600"/>
              </a:spcAft>
            </a:pPr>
            <a:r>
              <a:rPr sz="1800" b="0">
                <a:solidFill>
                  <a:srgbClr val="202830"/>
                </a:solidFill>
                <a:latin typeface="Malgun Gothic"/>
                <a:ea typeface="Malgun Gothic"/>
              </a:rPr>
              <a:t>•  3단계 — 필요한 리두가 온라인 리두 로그에 남아 있는가</a:t>
            </a:r>
          </a:p>
          <a:p>
            <a:pPr>
              <a:spcAft>
                <a:spcPts val="600"/>
              </a:spcAft>
            </a:pPr>
            <a:r>
              <a:rPr sz="1600" b="0">
                <a:solidFill>
                  <a:srgbClr val="5A6672"/>
                </a:solidFill>
                <a:latin typeface="Malgun Gothic"/>
                <a:ea typeface="Malgun Gothic"/>
              </a:rPr>
              <a:t>    –  남아 있으면 RECOVER 성공 → 완전 복구로 종료</a:t>
            </a:r>
          </a:p>
          <a:p>
            <a:pPr>
              <a:spcAft>
                <a:spcPts val="600"/>
              </a:spcAft>
            </a:pPr>
            <a:r>
              <a:rPr sz="1800" b="0">
                <a:solidFill>
                  <a:srgbClr val="202830"/>
                </a:solidFill>
                <a:latin typeface="Malgun Gothic"/>
                <a:ea typeface="Malgun Gothic"/>
              </a:rPr>
              <a:t>•  4단계 — 손상된 것이 SYSTEM인가</a:t>
            </a:r>
          </a:p>
          <a:p>
            <a:pPr>
              <a:spcAft>
                <a:spcPts val="600"/>
              </a:spcAft>
            </a:pPr>
            <a:r>
              <a:rPr sz="1600" b="0">
                <a:solidFill>
                  <a:srgbClr val="5A6672"/>
                </a:solidFill>
                <a:latin typeface="Malgun Gothic"/>
                <a:ea typeface="Malgun Gothic"/>
              </a:rPr>
              <a:t>    –  SYSTEM이면 전체 복원 / 일반 TS면 OFFLINE DROP 후 DROP TABLESPACE</a:t>
            </a:r>
          </a:p>
          <a:p>
            <a:pPr>
              <a:spcAft>
                <a:spcPts val="600"/>
              </a:spcAft>
            </a:pPr>
            <a:r>
              <a:rPr sz="1600" b="0">
                <a:solidFill>
                  <a:srgbClr val="5A6672"/>
                </a:solidFill>
                <a:latin typeface="Malgun Gothic"/>
                <a:ea typeface="Malgun Gothic"/>
              </a:rPr>
              <a:t>    –  SYSAUX면 OFFLINE DROP으로 서비스 유지 후 정비 시간에 복원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자주 나오는 오판 세 가지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리두 확인을 건너뛰고 바로 전체 복원</a:t>
            </a:r>
          </a:p>
          <a:p>
            <a:pPr>
              <a:spcAft>
                <a:spcPts val="600"/>
              </a:spcAft>
            </a:pPr>
            <a:r>
              <a:rPr sz="1600" b="0">
                <a:solidFill>
                  <a:srgbClr val="5A6672"/>
                </a:solidFill>
                <a:latin typeface="Malgun Gothic"/>
                <a:ea typeface="Malgun Gothic"/>
              </a:rPr>
              <a:t>    –  v$log의 MIN(FIRST_CHANGE#) 조회 한 줄이면 30초도 안 걸린다</a:t>
            </a:r>
          </a:p>
          <a:p>
            <a:pPr>
              <a:spcAft>
                <a:spcPts val="600"/>
              </a:spcAft>
            </a:pPr>
            <a:r>
              <a:rPr sz="1800" b="0">
                <a:solidFill>
                  <a:srgbClr val="202830"/>
                </a:solidFill>
                <a:latin typeface="Malgun Gothic"/>
                <a:ea typeface="Malgun Gothic"/>
              </a:rPr>
              <a:t>•  ② 부분 복원인데 제어 파일·리두 로그까지 되돌림</a:t>
            </a:r>
          </a:p>
          <a:p>
            <a:pPr>
              <a:spcAft>
                <a:spcPts val="600"/>
              </a:spcAft>
            </a:pPr>
            <a:r>
              <a:rPr sz="1600" b="0">
                <a:solidFill>
                  <a:srgbClr val="5A6672"/>
                </a:solidFill>
                <a:latin typeface="Malgun Gothic"/>
                <a:ea typeface="Malgun Gothic"/>
              </a:rPr>
              <a:t>    –  백업 디렉터리를 통째로 복사하다 벌어진다</a:t>
            </a:r>
          </a:p>
          <a:p>
            <a:pPr>
              <a:spcAft>
                <a:spcPts val="600"/>
              </a:spcAft>
            </a:pPr>
            <a:r>
              <a:rPr sz="1600" b="0">
                <a:solidFill>
                  <a:srgbClr val="5A6672"/>
                </a:solidFill>
                <a:latin typeface="Malgun Gothic"/>
                <a:ea typeface="Malgun Gothic"/>
              </a:rPr>
              <a:t>    –  제어 파일이 과거로 가면 이후 추가된 파일 정보가 사라진다</a:t>
            </a:r>
          </a:p>
          <a:p>
            <a:pPr>
              <a:spcAft>
                <a:spcPts val="600"/>
              </a:spcAft>
            </a:pPr>
            <a:r>
              <a:rPr sz="1600" b="0">
                <a:solidFill>
                  <a:srgbClr val="5A6672"/>
                </a:solidFill>
                <a:latin typeface="Malgun Gothic"/>
                <a:ea typeface="Malgun Gothic"/>
              </a:rPr>
              <a:t>    –  리두가 덮어써지면 적용할 재료 자체가 없어진다</a:t>
            </a:r>
          </a:p>
          <a:p>
            <a:pPr>
              <a:spcAft>
                <a:spcPts val="600"/>
              </a:spcAft>
            </a:pPr>
            <a:r>
              <a:rPr sz="1800" b="0">
                <a:solidFill>
                  <a:srgbClr val="202830"/>
                </a:solidFill>
                <a:latin typeface="Malgun Gothic"/>
                <a:ea typeface="Malgun Gothic"/>
              </a:rPr>
              <a:t>•  ③ ORA-01547을 성공으로 오해</a:t>
            </a:r>
          </a:p>
          <a:p>
            <a:pPr>
              <a:spcAft>
                <a:spcPts val="600"/>
              </a:spcAft>
            </a:pPr>
            <a:r>
              <a:rPr sz="1600" b="0">
                <a:solidFill>
                  <a:srgbClr val="5A6672"/>
                </a:solidFill>
                <a:latin typeface="Malgun Gothic"/>
                <a:ea typeface="Malgun Gothic"/>
              </a:rPr>
              <a:t>    –  'RECOVER succeeded'로 시작하지만 ORA-01194가 실패를 알린다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Best Practice:</a:t>
            </a:r>
          </a:p>
          <a:p>
            <a:pPr>
              <a:spcAft>
                <a:spcPts val="0"/>
              </a:spcAft>
            </a:pPr>
            <a:r>
              <a:rPr sz="1250" b="0">
                <a:solidFill>
                  <a:srgbClr val="202830"/>
                </a:solidFill>
                <a:latin typeface="Malgun Gothic"/>
                <a:ea typeface="Malgun Gothic"/>
              </a:rPr>
              <a:t>복구를 시작하기 전에 손상된 현재 상태를 그대로 복사해 둔다. 되돌아올 지점 없이 시작하지 않는다.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세 줄 점검표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이 세 줄의 결과가 나오기 전에는 복원 명령을 내리지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-- 1) 로그 모드 확인</a:t>
            </a:r>
          </a:p>
          <a:p>
            <a:pPr>
              <a:spcAft>
                <a:spcPts val="0"/>
              </a:spcAft>
            </a:pPr>
            <a:r>
              <a:rPr sz="1250" b="0">
                <a:solidFill>
                  <a:srgbClr val="E6E6E6"/>
                </a:solidFill>
                <a:latin typeface="Consolas"/>
                <a:ea typeface="Consolas"/>
              </a:rPr>
              <a:t>SYS@orcl&gt; SELECT name, log_mode, open_mode FROM v$database;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NAME      LOG_MODE     OPEN_MODE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ORCL      NOARCHIVELOG MOUNTED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-- 2) 복구 대상 확인</a:t>
            </a:r>
          </a:p>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FILE# ERROR                    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7 FILE NOT FOUND                 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-- 3) 리두 생존 구간 확인</a:t>
            </a:r>
          </a:p>
          <a:p>
            <a:pPr>
              <a:spcAft>
                <a:spcPts val="0"/>
              </a:spcAft>
            </a:pPr>
            <a:r>
              <a:rPr sz="1250" b="0">
                <a:solidFill>
                  <a:srgbClr val="E6E6E6"/>
                </a:solidFill>
                <a:latin typeface="Consolas"/>
                <a:ea typeface="Consolas"/>
              </a:rPr>
              <a:t>SYS@orcl&gt; SELECT MIN(first_change#) AS oldest_redo_scn FROM v$log;</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OLDEST_REDO_SCN</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2343910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백업본 SCN(2341598) &lt; 최소 리두 SCN(2343910) → 리두 부족 → 전체 복원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복구 가능 범위의 판정</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NOARCHIVELOG 환경에서 완전 복구 가능 여부를 판정하는 기준으로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백업본의 크기와 현재 데이터 파일 크기 비교</a:t>
            </a:r>
          </a:p>
          <a:p>
            <a:pPr>
              <a:spcAft>
                <a:spcPts val="800"/>
              </a:spcAft>
            </a:pPr>
            <a:r>
              <a:rPr sz="1700" b="0">
                <a:solidFill>
                  <a:srgbClr val="202830"/>
                </a:solidFill>
                <a:latin typeface="Malgun Gothic"/>
                <a:ea typeface="Malgun Gothic"/>
              </a:rPr>
              <a:t>(b) 백업본의 CHECKPOINT_CHANGE#와 v$log의 최소 FIRST_CHANGE# 비교</a:t>
            </a:r>
          </a:p>
          <a:p>
            <a:pPr>
              <a:spcAft>
                <a:spcPts val="800"/>
              </a:spcAft>
            </a:pPr>
            <a:r>
              <a:rPr sz="1700" b="0">
                <a:solidFill>
                  <a:srgbClr val="202830"/>
                </a:solidFill>
                <a:latin typeface="Malgun Gothic"/>
                <a:ea typeface="Malgun Gothic"/>
              </a:rPr>
              <a:t>(c) 제어 파일의 생성 시각 확인</a:t>
            </a:r>
          </a:p>
          <a:p>
            <a:pPr>
              <a:spcAft>
                <a:spcPts val="800"/>
              </a:spcAft>
            </a:pPr>
            <a:r>
              <a:rPr sz="1700" b="0">
                <a:solidFill>
                  <a:srgbClr val="202830"/>
                </a:solidFill>
                <a:latin typeface="Malgun Gothic"/>
                <a:ea typeface="Malgun Gothic"/>
              </a:rPr>
              <a:t>(d) 아카이브 로그 개수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OFFLINE과 OFFLINE DROP</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NOARCHIVELOG 환경에서 ALTER DATABASE DATAFILE 7 OFFLINE을 시도하면?</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정상 수행된다</a:t>
            </a:r>
          </a:p>
          <a:p>
            <a:pPr>
              <a:spcAft>
                <a:spcPts val="800"/>
              </a:spcAft>
            </a:pPr>
            <a:r>
              <a:rPr sz="1700" b="0">
                <a:solidFill>
                  <a:srgbClr val="202830"/>
                </a:solidFill>
                <a:latin typeface="Malgun Gothic"/>
                <a:ea typeface="Malgun Gothic"/>
              </a:rPr>
              <a:t>(b) ORA-01145로 거부된다</a:t>
            </a:r>
          </a:p>
          <a:p>
            <a:pPr>
              <a:spcAft>
                <a:spcPts val="800"/>
              </a:spcAft>
            </a:pPr>
            <a:r>
              <a:rPr sz="1700" b="0">
                <a:solidFill>
                  <a:srgbClr val="202830"/>
                </a:solidFill>
                <a:latin typeface="Malgun Gothic"/>
                <a:ea typeface="Malgun Gothic"/>
              </a:rPr>
              <a:t>(c) 자동으로 OFFLINE DROP으로 처리된다</a:t>
            </a:r>
          </a:p>
          <a:p>
            <a:pPr>
              <a:spcAft>
                <a:spcPts val="800"/>
              </a:spcAft>
            </a:pPr>
            <a:r>
              <a:rPr sz="1700" b="0">
                <a:solidFill>
                  <a:srgbClr val="202830"/>
                </a:solidFill>
                <a:latin typeface="Malgun Gothic"/>
                <a:ea typeface="Malgun Gothic"/>
              </a:rPr>
              <a:t>(d) 데이터베이스가 종료된다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부분 복원 시 복원하지 않는 것</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리두가 남아 있어 완전 복구를 시도한다. 백업본에서 복원하지 말아야 하는 것을 모두 고르시오.</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손상된 데이터 파일</a:t>
            </a:r>
          </a:p>
          <a:p>
            <a:pPr>
              <a:spcAft>
                <a:spcPts val="800"/>
              </a:spcAft>
            </a:pPr>
            <a:r>
              <a:rPr sz="1700" b="0">
                <a:solidFill>
                  <a:srgbClr val="202830"/>
                </a:solidFill>
                <a:latin typeface="Malgun Gothic"/>
                <a:ea typeface="Malgun Gothic"/>
              </a:rPr>
              <a:t>(b) 제어 파일</a:t>
            </a:r>
          </a:p>
          <a:p>
            <a:pPr>
              <a:spcAft>
                <a:spcPts val="800"/>
              </a:spcAft>
            </a:pPr>
            <a:r>
              <a:rPr sz="1700" b="0">
                <a:solidFill>
                  <a:srgbClr val="202830"/>
                </a:solidFill>
                <a:latin typeface="Malgun Gothic"/>
                <a:ea typeface="Malgun Gothic"/>
              </a:rPr>
              <a:t>(c) 온라인 리두 로그</a:t>
            </a:r>
          </a:p>
          <a:p>
            <a:pPr>
              <a:spcAft>
                <a:spcPts val="800"/>
              </a:spcAft>
            </a:pPr>
            <a:r>
              <a:rPr sz="1700" b="0">
                <a:solidFill>
                  <a:srgbClr val="202830"/>
                </a:solidFill>
                <a:latin typeface="Malgun Gothic"/>
                <a:ea typeface="Malgun Gothic"/>
              </a:rPr>
              <a:t>(d) 파라미터 파일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4</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백업 이후 생성된 테이블스페이스</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백업 이후 만든 테이블스페이스의 데이터 파일이 유실되었다. 백업본에 그 파일이 없을 때 사용하는 명령은?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RECOVER TABLESPACE</a:t>
            </a:r>
          </a:p>
          <a:p>
            <a:pPr>
              <a:spcAft>
                <a:spcPts val="800"/>
              </a:spcAft>
            </a:pPr>
            <a:r>
              <a:rPr sz="1700" b="0">
                <a:solidFill>
                  <a:srgbClr val="202830"/>
                </a:solidFill>
                <a:latin typeface="Malgun Gothic"/>
                <a:ea typeface="Malgun Gothic"/>
              </a:rPr>
              <a:t>(b) ALTER DATABASE CREATE DATAFILE</a:t>
            </a:r>
          </a:p>
          <a:p>
            <a:pPr>
              <a:spcAft>
                <a:spcPts val="800"/>
              </a:spcAft>
            </a:pPr>
            <a:r>
              <a:rPr sz="1700" b="0">
                <a:solidFill>
                  <a:srgbClr val="202830"/>
                </a:solidFill>
                <a:latin typeface="Malgun Gothic"/>
                <a:ea typeface="Malgun Gothic"/>
              </a:rPr>
              <a:t>(c) ALTER TABLESPACE ADD DATAFILE</a:t>
            </a:r>
          </a:p>
          <a:p>
            <a:pPr>
              <a:spcAft>
                <a:spcPts val="800"/>
              </a:spcAft>
            </a:pPr>
            <a:r>
              <a:rPr sz="1700" b="0">
                <a:solidFill>
                  <a:srgbClr val="202830"/>
                </a:solidFill>
                <a:latin typeface="Malgun Gothic"/>
                <a:ea typeface="Malgun Gothic"/>
              </a:rPr>
              <a:t>(d) DROP TABLESPACE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5</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SYSTEM 데이터파일의 특수성</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SYSTEM 데이터 파일에 대해 ALTER DATABASE DATAFILE 1 OFFLINE DROP을 시도하면?</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정상 수행된다</a:t>
            </a:r>
          </a:p>
          <a:p>
            <a:pPr>
              <a:spcAft>
                <a:spcPts val="800"/>
              </a:spcAft>
            </a:pPr>
            <a:r>
              <a:rPr sz="1700" b="0">
                <a:solidFill>
                  <a:srgbClr val="202830"/>
                </a:solidFill>
                <a:latin typeface="Malgun Gothic"/>
                <a:ea typeface="Malgun Gothic"/>
              </a:rPr>
              <a:t>(b) ORA-01541로 거부된다</a:t>
            </a:r>
          </a:p>
          <a:p>
            <a:pPr>
              <a:spcAft>
                <a:spcPts val="800"/>
              </a:spcAft>
            </a:pPr>
            <a:r>
              <a:rPr sz="1700" b="0">
                <a:solidFill>
                  <a:srgbClr val="202830"/>
                </a:solidFill>
                <a:latin typeface="Malgun Gothic"/>
                <a:ea typeface="Malgun Gothic"/>
              </a:rPr>
              <a:t>(c) 데이터베이스가 자동 종료된다</a:t>
            </a:r>
          </a:p>
          <a:p>
            <a:pPr>
              <a:spcAft>
                <a:spcPts val="800"/>
              </a:spcAft>
            </a:pPr>
            <a:r>
              <a:rPr sz="1700" b="0">
                <a:solidFill>
                  <a:srgbClr val="202830"/>
                </a:solidFill>
                <a:latin typeface="Malgun Gothic"/>
                <a:ea typeface="Malgun Gothic"/>
              </a:rPr>
              <a:t>(d) RESETLOGS가 필요해진다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6</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SYSAUX 손상의 영향</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SYSAUX 데이터 파일이 유실되었을 때 나타나는 현상으로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데이터베이스가 즉시 종료된다</a:t>
            </a:r>
          </a:p>
          <a:p>
            <a:pPr>
              <a:spcAft>
                <a:spcPts val="800"/>
              </a:spcAft>
            </a:pPr>
            <a:r>
              <a:rPr sz="1700" b="0">
                <a:solidFill>
                  <a:srgbClr val="202830"/>
                </a:solidFill>
                <a:latin typeface="Malgun Gothic"/>
                <a:ea typeface="Malgun Gothic"/>
              </a:rPr>
              <a:t>(b) 일반 업무 트랜잭션은 계속되지만 AWR·통계 기능이 실패한다</a:t>
            </a:r>
          </a:p>
          <a:p>
            <a:pPr>
              <a:spcAft>
                <a:spcPts val="800"/>
              </a:spcAft>
            </a:pPr>
            <a:r>
              <a:rPr sz="1700" b="0">
                <a:solidFill>
                  <a:srgbClr val="202830"/>
                </a:solidFill>
                <a:latin typeface="Malgun Gothic"/>
                <a:ea typeface="Malgun Gothic"/>
              </a:rPr>
              <a:t>(c) 모든 사용자 접속이 차단된다</a:t>
            </a:r>
          </a:p>
          <a:p>
            <a:pPr>
              <a:spcAft>
                <a:spcPts val="800"/>
              </a:spcAft>
            </a:pPr>
            <a:r>
              <a:rPr sz="1700" b="0">
                <a:solidFill>
                  <a:srgbClr val="202830"/>
                </a:solidFill>
                <a:latin typeface="Malgun Gothic"/>
                <a:ea typeface="Malgun Gothic"/>
              </a:rPr>
              <a:t>(d) UNDO 세그먼트를 사용할 수 없다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복구 재료는 백업본과 온라인 리두 로그뿐 — 리두 생존 여부가 범위를 결정</a:t>
            </a:r>
          </a:p>
          <a:p>
            <a:pPr>
              <a:spcAft>
                <a:spcPts val="600"/>
              </a:spcAft>
            </a:pPr>
            <a:r>
              <a:rPr sz="1800" b="0">
                <a:solidFill>
                  <a:srgbClr val="202830"/>
                </a:solidFill>
                <a:latin typeface="Malgun Gothic"/>
                <a:ea typeface="Malgun Gothic"/>
              </a:rPr>
              <a:t>•  판정은 백업본 CHECKPOINT_CHANGE# vs v$log 최소 FIRST_CHANGE# 비교 한 줄</a:t>
            </a:r>
          </a:p>
          <a:p>
            <a:pPr>
              <a:spcAft>
                <a:spcPts val="600"/>
              </a:spcAft>
            </a:pPr>
            <a:r>
              <a:rPr sz="1800" b="0">
                <a:solidFill>
                  <a:srgbClr val="202830"/>
                </a:solidFill>
                <a:latin typeface="Malgun Gothic"/>
                <a:ea typeface="Malgun Gothic"/>
              </a:rPr>
              <a:t>•  OFFLINE 금지, OFFLINE DROP만 가능 — 부분 복구라는 선택지가 없다</a:t>
            </a:r>
          </a:p>
          <a:p>
            <a:pPr>
              <a:spcAft>
                <a:spcPts val="600"/>
              </a:spcAft>
            </a:pPr>
            <a:r>
              <a:rPr sz="1800" b="0">
                <a:solidFill>
                  <a:srgbClr val="202830"/>
                </a:solidFill>
                <a:latin typeface="Malgun Gothic"/>
                <a:ea typeface="Malgun Gothic"/>
              </a:rPr>
              <a:t>•  리두 O — 손상 파일만 복원 + RECOVER. 제어 파일·리두 로그는 절대 복원하지 않는다</a:t>
            </a:r>
          </a:p>
          <a:p>
            <a:pPr>
              <a:spcAft>
                <a:spcPts val="600"/>
              </a:spcAft>
            </a:pPr>
            <a:r>
              <a:rPr sz="1800" b="0">
                <a:solidFill>
                  <a:srgbClr val="202830"/>
                </a:solidFill>
                <a:latin typeface="Malgun Gothic"/>
                <a:ea typeface="Malgun Gothic"/>
              </a:rPr>
              <a:t>•  리두 X — 데이터/제어/리두 모두 되돌림. 일관성 있는 상태라 RESETLOGS 불필요</a:t>
            </a:r>
          </a:p>
          <a:p>
            <a:pPr>
              <a:spcAft>
                <a:spcPts val="600"/>
              </a:spcAft>
            </a:pPr>
            <a:r>
              <a:rPr sz="1800" b="0">
                <a:solidFill>
                  <a:srgbClr val="202830"/>
                </a:solidFill>
                <a:latin typeface="Malgun Gothic"/>
                <a:ea typeface="Malgun Gothic"/>
              </a:rPr>
              <a:t>•  백업 없는 TS — ALTER DATABASE CREATE DATAFILE로 빈 파일 생성 후 복구</a:t>
            </a:r>
          </a:p>
          <a:p>
            <a:pPr>
              <a:spcAft>
                <a:spcPts val="600"/>
              </a:spcAft>
            </a:pPr>
            <a:r>
              <a:rPr sz="1800" b="0">
                <a:solidFill>
                  <a:srgbClr val="202830"/>
                </a:solidFill>
                <a:latin typeface="Malgun Gothic"/>
                <a:ea typeface="Malgun Gothic"/>
              </a:rPr>
              <a:t>•  SYSTEM은 OFFLINE DROP조차 불가 — 리두 없으면 전체 복원뿐</a:t>
            </a:r>
          </a:p>
          <a:p>
            <a:pPr>
              <a:spcAft>
                <a:spcPts val="600"/>
              </a:spcAft>
            </a:pPr>
            <a:r>
              <a:rPr sz="1800" b="0">
                <a:solidFill>
                  <a:srgbClr val="202830"/>
                </a:solidFill>
                <a:latin typeface="Malgun Gothic"/>
                <a:ea typeface="Malgun Gothic"/>
              </a:rPr>
              <a:t>•  SYSAUX는 손상되어도 업무 유지 — OFFLINE DROP으로 시간을 벌 수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4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3장에서 받은 Cold Backup 백업본을 사용한다. 실습 전 NOARCHIVELOG로 되돌린다</a:t>
            </a:r>
          </a:p>
          <a:p>
            <a:pPr>
              <a:spcAft>
                <a:spcPts val="600"/>
              </a:spcAft>
            </a:pPr>
            <a:r>
              <a:rPr sz="1800" b="0">
                <a:solidFill>
                  <a:srgbClr val="202830"/>
                </a:solidFill>
                <a:latin typeface="Malgun Gothic"/>
                <a:ea typeface="Malgun Gothic"/>
              </a:rPr>
              <a:t>•  실습 4-1  특정 데이터파일 손상 — 리두 O, 완전 복구</a:t>
            </a:r>
          </a:p>
          <a:p>
            <a:pPr>
              <a:spcAft>
                <a:spcPts val="600"/>
              </a:spcAft>
            </a:pPr>
            <a:r>
              <a:rPr sz="1800" b="0">
                <a:solidFill>
                  <a:srgbClr val="202830"/>
                </a:solidFill>
                <a:latin typeface="Malgun Gothic"/>
                <a:ea typeface="Malgun Gothic"/>
              </a:rPr>
              <a:t>•  실습 4-2  특정 데이터파일 손상 — 리두 X, 전체 복원</a:t>
            </a:r>
          </a:p>
          <a:p>
            <a:pPr>
              <a:spcAft>
                <a:spcPts val="600"/>
              </a:spcAft>
            </a:pPr>
            <a:r>
              <a:rPr sz="1800" b="0">
                <a:solidFill>
                  <a:srgbClr val="202830"/>
                </a:solidFill>
                <a:latin typeface="Malgun Gothic"/>
                <a:ea typeface="Malgun Gothic"/>
              </a:rPr>
              <a:t>•  실습 4-3  백업 없는 TS — 리두 O, CREATE DATAFILE 후 복구</a:t>
            </a:r>
          </a:p>
          <a:p>
            <a:pPr>
              <a:spcAft>
                <a:spcPts val="600"/>
              </a:spcAft>
            </a:pPr>
            <a:r>
              <a:rPr sz="1800" b="0">
                <a:solidFill>
                  <a:srgbClr val="202830"/>
                </a:solidFill>
                <a:latin typeface="Malgun Gothic"/>
                <a:ea typeface="Malgun Gothic"/>
              </a:rPr>
              <a:t>•  실습 4-4  백업 없는 TS — 리두 X, OFFLINE DROP과 DROP TABLESPACE</a:t>
            </a:r>
          </a:p>
          <a:p>
            <a:pPr>
              <a:spcAft>
                <a:spcPts val="600"/>
              </a:spcAft>
            </a:pPr>
            <a:r>
              <a:rPr sz="1800" b="0">
                <a:solidFill>
                  <a:srgbClr val="202830"/>
                </a:solidFill>
                <a:latin typeface="Malgun Gothic"/>
                <a:ea typeface="Malgun Gothic"/>
              </a:rPr>
              <a:t>•  실습 4-5  SYSTEM 데이터파일 손상 — 리두 O</a:t>
            </a:r>
          </a:p>
          <a:p>
            <a:pPr>
              <a:spcAft>
                <a:spcPts val="600"/>
              </a:spcAft>
            </a:pPr>
            <a:r>
              <a:rPr sz="1800" b="0">
                <a:solidFill>
                  <a:srgbClr val="202830"/>
                </a:solidFill>
                <a:latin typeface="Malgun Gothic"/>
                <a:ea typeface="Malgun Gothic"/>
              </a:rPr>
              <a:t>•  실습 4-6  SYSTEM 데이터파일 손상 — 리두 X, 전체 복원</a:t>
            </a:r>
          </a:p>
          <a:p>
            <a:pPr>
              <a:spcAft>
                <a:spcPts val="600"/>
              </a:spcAft>
            </a:pPr>
            <a:r>
              <a:rPr sz="1800" b="0">
                <a:solidFill>
                  <a:srgbClr val="202830"/>
                </a:solidFill>
                <a:latin typeface="Malgun Gothic"/>
                <a:ea typeface="Malgun Gothic"/>
              </a:rPr>
              <a:t>•  실습 4-7  SYSAUX 데이터파일 손상 — SYSTEM과의 차이 확인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모든 실습이 끝나면 8장을 위해 다시 ARCHIVELOG로 전환하고 전체 백업을 새로 받는다.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
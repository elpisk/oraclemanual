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15장에서 파일 단위 복구를 마쳤다. 16장은 그보다 작은 범위를 다룬다. 테이블 하나, 블록 하나, 파라미터 파일이 그 대상이다. 범위가 작을수록 업무 영향이 줄어들므로 실무에서 자주 쓰인다. Data Recovery Advisor는 진단과 조치를 자동화하는 기능이며 11g에서 도입되었다. 실습은 여덟 개다. 실습은 여덟 개이며 16-5부터 16-7까지가 블록 손상의 재현·진단·복구로 이어진다. 범위를 좁히는 것이 이 장의 주제다.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장을 관통하는 주제는 범위를 좁히는 것이다. 같은 문제라도 좁은 범위로 해결하면 업무 중단이 줄고 복구 시간도 짧아진다. 대신 판정이 정확해야 한다. 블록 몇 개인데 파일 전체를 복구하면 불필요한 중단을 만들기 때문이다. 블록 몇 개인데 파일 전체를 복구하면 불필요한 중단을 만든다는 점을 강조한다. 판정이 정확해야 한다. 판정이 정확해야 좁은 범위를 택할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16.1과 16.2가 특수한 대상의 복구를, 16.3과 16.4가 블록 손상을 다룬다. 16.5절의 DRA는 앞의 내용을 알고 있어야 제대로 쓸 수 있는 기능이다. 제시안이 타당한지 판단하려면 절차를 먼저 이해해야 하기 때문이다. 16.5절의 DRA는 앞의 내용을 알아야 제대로 쓸 수 있는 기능이므로 순서를 지켜 진행한다. 순서를 지켜 진행하면 DRA 절이 자연스럽게 이해된다.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16.1절은 복구 범위를 테이블 하나로 좁히는 방법을 다룬다. 명령은 한 줄이지만 내부에서는 복제 데이터베이스를 만드는 것과 같은 일이 일어난다. 그래서 공간 요구가 크고 시간도 짧지 않다. 그 대신 다른 업무는 전혀 영향받지 않는다. 명령은 한 줄이지만 내부에서는 복제와 같은 일이 일어난다는 점을 먼저 말해 둔다. 공간 요구가 크다. 공간 요구가 크므로 실습 전 확인이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선택 기준은 시점과 UNDO 보존 기간이다. 몇 분 전이고 UNDO가 남아 있으면 Flashback이 빠르고 간단하다. 며칠 전이거나 UNDO가 이미 덮였으면 RECOVER TABLE이 답이다. Flashback은 18장에서 다루므로 여기서는 선택지가 있다는 것만 확인한다. TRUNCATE는 UNDO를 만들지 않으므로 Flashback Query로 되돌릴 수 없다는 점도 기억한다. Flashback은 18장에서 다루므로 여기서는 선택지가 있다는 것만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옵션이 필요하다. UNTIL로 시점을, AUXILIARY DESTINATION으로 보조 인스턴스가 쓸 공간을, REMAP TABLE로 가져올 이름을 지정한다. REMAP을 생략하면 현재 테이블을 덮어쓰므로 다른 이름으로 가져와 확인한 뒤 옮기는 편이 안전하다. 확인 후 필요한 행만 MERGE나 INSERT SELECT로 반영할 수도 있다. REMAP을 생략하면 현재 테이블을 덮어쓴다는 점을 반드시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공간 요구가 가장 자주 문제가 된다. 보조 인스턴스가 SYSTEM·SYSAUX·UNDO를 통째로 복원하므로 복구할 테이블이 몇 MB여도 수 GB의 공간이 필요하다. AUXILIARY DESTINATION의 여유를 미리 확인하지 않으면 작업 도중 실패한다. 정리 단계가 실패하면 그 파일들이 남으므로 작업 후 디렉터리를 확인하는 것도 필요하다. 공간 요구가 가장 자주 문제가 되므로 실습 전에 반드시 확인시킨다.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로그가 길지만 구간이 정해져 있어 읽기 어렵지 않다. clone 이 붙은 명령이 보조 인스턴스 대상이다. 확인할 것은 세 가지다. Export 단계의 행 수가 기대와 맞는지, Import가 어떤 이름으로 들어왔는지, 정리 단계가 끝났는지다. 정리가 실패하면 보조 인스턴스 파일이 남아 다음 수행 때 공간 부족을 만들 수 있다. clone이 붙은 명령이 보조 인스턴스 대상이라는 점을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16.2절은 인스턴스를 아예 올릴 수 없는 상황을 다룬다. spfile이 없거나 값이 잘못되면 데이터베이스 이전에 인스턴스가 뜨지 않는다. 해결 방법은 단순하지만 순서를 알아야 한다. 최소한의 pfile로 인스턴스만 띄우는 것이 공통된 첫 단계다. 인스턴스가 아예 뜨지 않는 상황이라 당황하기 쉬운 주제다. 순서만 알면 어렵지 않다. 순서만 알면 어렵지 않으므로 절차를 외워 둔다.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db_name 한 줄만 있어도 인스턴스가 뜬다. 기본값으로 작은 인스턴스가 만들어지지만 복원 작업에는 충분하다. DBID가 필요한 이유는 컨트롤파일 복원과 같다. 자동 백업 파일명에서 대상을 식별해야 하기 때문이다. RESTORE SPFILE TO PFILE 로 내용을 먼저 확인할 수도 있다. db_name 한 줄만 있어도 인스턴스가 뜬다는 점이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spfile은 이진 파일이라 직접 편집할 수 없어 당황하기 쉽다. pfile로 변환해 값을 고친 뒤 그 pfile로 기동하면 해결된다. 메모리 파라미터를 SCOPE=SPFILE로 조정했다가 다음 재기동 때 인스턴스가 뜨지 않은 사례가 실무에서 드물지 않다. 변경 전에 CREATE PFILE로 사본을 남기는 습관이 이 상황을 막는다. 변경 전에 CREATE PFILE로 사본을 남기는 습관을 권한다.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복구는 성공했는데 아카이브가 다른 경로에 쌓여 다음 장애를 만든 사례가 있다. 파라미터 확인은 몇 분이면 끝나지만 빠뜨리면 대가가 크다. 복구 절차서의 마무리 항목에 이 점검을 넣어 둔다. 이전 pfile 사본과 diff 로 비교하면 무엇이 달라졌는지 한눈에 보인다. 그래서 파라미터를 바꿀 때마다 사본을 남기는 것이 중요하다. 복구 절차서의 마무리 항목에 이 점검을 넣어 두도록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16.3절은 블록 단위 손상을 다룬다. 발견이 늦을수록 복구가 어려워진다. 손상된 블록이 백업에 그대로 들어가면 그 백업으로는 복구할 수 없기 때문이다. 정기 검사와 파라미터 설정으로 발견 시점을 앞당기는 것이 이 절의 목표다. 발견이 늦을수록 복구가 어려워진다는 점을 절 초반에 강조한다. 백업에 손상이 들어가면 늦다. 백업에 손상이 들어가면 그 백업으로 복구할 수 없다.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ORA-26040이 함께 나오면 원인이 분명하다. NOLOGGING 작업 후 그 파일을 복구한 경우이며 블록 복구를 시도해도 되살릴 내용이 없다. DBVERIFY는 데이터베이스가 내려간 상태에서도 쓸 수 있어 복사해 온 백업 파일의 무결성을 확인할 때 유용하다. VALIDATE 결과는 v$database_block_corruption 에 기록되어 이후 복구 명령의 대상이 된다. ORA-26040이 함께 나오면 원인이 분명하다는 점을 짚는다.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파라미터 모두 CPU 부담을 늘린다. db_block_checking을 FULL로 두면 수 %의 성능 저하가 보고되므로 MEDIUM 정도가 실무에서 무리 없이 쓰이는 값이다. 손상 이력이 있는 환경이라면 부담을 감수할 가치가 있다. 여기에 월 1회 VALIDATE CHECK LOGICAL DATABASE 를 더하면 발견 시점이 크게 앞당겨진다. MEDIUM 정도가 실무에서 무리 없이 쓰이는 값이다.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백업 실패로 그날 백업이 통째로 빠지는 것도 문제이므로 MAXCORRUPT가 임시 대안이 된다. 다만 손상을 담은 백업이 만들어지므로 그 블록은 그 백업으로 복구할 수 없다. 백업을 마친 뒤 반드시 블록 복구를 수행해야 한다. MAXCORRUPT를 상시 설정으로 두면 손상이 조용히 쌓이므로 임시 조치로만 쓴다. MAXCORRUPT를 상시 설정으로 두면 손상이 조용히 쌓인다.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판정에 쓰는 조회는 세 가지다. v$database_block_corruption으로 손상 블록의 수와 유형을, v$recover_file로 복구가 필요한 파일을, dba_extents로 그 블록이 속한 객체를 확인한다. 세 조회를 순서대로 수행하면 범위와 대상이 드러난다. 손상 객체가 인덱스라면 블록 복구보다 REBUILD가 빠르고 확실하다. 세 조회를 순서대로 수행하면 범위와 대상이 드러난다.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16.4절은 이 장에서 가장 실용적인 기능을 다룬다. 손상 블록이 몇 개일 때 파일 전체를 복구하는 것은 과하다. 블록 복구는 수 초 만에 끝나고 업무도 멈추지 않는다. 다만 성립하지 않는 조건이 있으므로 그 판별이 함께 필요하다. 이 장에서 가장 실용적인 기능이므로 실습에 시간을 넉넉히 배분한다. 업무를 멈추지 않는다. 업무를 멈추지 않는다는 점이 가장 큰 이점이다.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VALIDATE로 목록을 채운 뒤 RECOVER CORRUPTION LIST 를 수행하는 것이 표준 절차다. 복구되면 목록에서 사라지므로 개수가 0이 되는 것이 성공의 증거다. 남아 있다면 복구되지 않은 블록이 있다는 뜻이며 대부분 NOLOGGING 유형이다. 동작 방식은 파일 복구와 같아서 백업에서 그 블록을 꺼내고 아카이브를 적용한다. 복구되면 목록에서 사라지므로 개수가 0이 되는 것이 성공의 증거다.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블록 복구는 업무를 멈추지 않는다는 점이 가장 큰 이점이다. 손상 블록을 읽는 세션만 오류를 만나고 나머지는 정상 동작하며 복구 중에도 그 파일에 쓰기가 가능하다. 판단 기준을 미리 정해 두면 장애 시 망설이지 않는다. 수십 개 이하면 블록 복구를, 수백 개를 넘거나 목록이 계속 늘어나면 파일 복구를 택한다. 판단 기준을 미리 정해 두면 장애 시 망설이지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DBMS_REPAIR는 데이터 손실을 감수하고 서비스를 이어 가는 선택이다. 빠진 행이 무엇인지 확인해 별도로 보완해야 한다. NOLOGGING 유형은 어떤 방법으로도 복구되지 않으므로 재적재가 유일한 답이다. 그래서 대량 적재에 NOLOGGING을 쓴다면 직후 백업을 절차에 넣는 것이 중요하다. NOLOGGING 유형은 어떤 방법으로도 복구되지 않는다는 점을 다시 짚는다.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16.5절은 진단을 돕는 기능을 다룬다. 장애 상황에서 무엇이 문제인지 파악하는 데 시간이 많이 걸리므로 그 부분을 줄여 준다. 다만 제시안을 그대로 실행하는 것은 위험하다. DRA는 감지된 정보만으로 판단하며 업무 맥락을 모르기 때문이다. 제시안을 그대로 실행하는 것이 왜 위험한지 사례로 설명한다. 진단 도구로만 쓰는 편이 안전하다. 진단 도구로만 쓰는 편이 안전하다는 결론으로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심각도는 CRITICAL, HIGH, LOW 세 단계다. CRITICAL은 데이터베이스를 열 수 없게 만드는 문제이며 여러 장애가 있으면 이것부터 처리한다. ADVISE FAILURE는 수동 조치를 먼저 보여 주는데 그것이 더 나은 해결일 수 있기 때문이다. 파일을 실수로 옮긴 것이라면 복원보다 되돌려 놓는 편이 빠르다. 여러 장애가 있으면 CRITICAL부터 처리한다는 원칙을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DRA는 표준 절차를 자동으로 구성할 뿐이다. 그래서 절차를 알고 있어야 제시안이 타당한지 판단할 수 있다. 특히 주의할 제시안이 둘 있다. CLEAR UNARCHIVED LOGFILE 이 포함되면 아카이브 연속성이 끊기고, 불완전 복구가 포함되면 손실이 발생한다. 스크립트에 UNTIL이나 UNARCHIVED가 보이면 그대로 실행하지 않는다. DRA는 표준 절차를 자동으로 구성할 뿐이라는 점이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장애 상황에서 REPAIR FAILURE를 확인 없이 실행해 예상보다 많은 데이터를 잃은 사례가 있다. 제시된 조치가 불완전 복구를 포함하고 있었는데 PREVIEW로 봤다면 시점을 조정할 수 있었다. DRA는 진단 시간을 줄여 주는 도구이며 판단을 대신하지 않는다. 이 원칙은 RMAN 전체에 걸쳐 반복되는 결론이기도 하다. 이 원칙은 RMAN 전체에 걸쳐 반복되는 결론이기도 하다.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표에서 읽어야 할 원칙은 두 가지다. 범위가 작을수록 업무 영향이 적으므로 가능한 좁은 범위를 택한다. 다만 손상이 넓으면 좁은 범위 복구를 반복하는 것보다 파일 복구가 빠르다. 이 표를 복구 절차서의 고급 항목으로 넣어 두면 판단이 빨라진다. 특히 블록 손상 항목은 진단 조회 세 가지와 함께 적어 둔다. 이 표를 복구 절차서의 고급 항목으로 넣어 두면 판단이 빨라진다.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RECOVER TABLE은 이 다섯 단계를 자동화한 것이다. 17장에서 같은 절차를 손으로 수행해 보면 내부에서 무슨 일이 일어나는지 눈으로 확인할 수 있다. 복제의 원리를 알면 RECOVER TABLE이 실패했을 때 원인을 찾을 수 있다는 점이 더 중요하다. 공간 부족인지, 백업 부재인지, 권한 문제인지가 로그에서 구분된다. 17장에서 손으로 수행해 보면 내부 동작을 눈으로 확인할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단순한 대비책이 pfile 사본이다. 이 파일 하나면 인스턴스를 기동할 수 있고 텍스트라 편집도 자유롭다. 파라미터를 바꿀 때마다 남기는 것을 절차로 두면 복구 후 값 비교도 쉬워진다. 메모리나 프로세스 관련 값이 바뀌면 복구 후 같은 값으로 되돌려야 하므로 이력이 필요하다. 파라미터를 바꿀 때마다 사본을 남기는 것을 절차로 두도록 권한다. 로그에서 실패 원인을 구분할 수 있게 된다.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테이블 하나 복구가 수십 분 걸리는 것은 보조 인스턴스를 만들기 때문이다. 블록 복구가 수 초인 것과 대비된다. 그래도 업무 영향이 없다는 점에서는 같다. 세 조회를 순서대로 수행하면 범위와 대상이 드러나므로 이 순서를 복구 절차서의 블록 손상 항목에 적어 둔다. 세 조회의 순서를 복구 절차서의 블록 손상 항목에 적어 두게 한다. 복구 후 값 비교에도 이 사본이 쓰인다.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보조 인스턴스를 만들어 그 시점으로 복구한 뒤 Data Pump로 테이블을 옮긴다. AUXILIARY DESTINATION에 SYSTEM·SYSAUX·UNDO만큼의 공간이 필요하므로 복구할 테이블이 작아도 수 GB가 요구된다. 공간 부족으로 작업 도중 실패하는 일이 흔하다. 제시안은 참고 자료이며 최종 판단은 사람의 몫이라는 결론으로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NOLOGGING 작업은 리두에 기록되지 않아 어떤 복구 방법으로도 되살릴 수 없다. 조회 시 ORA-01578과 ORA-26040이 함께 나오는 것이 그 신호다. 대량 적재에 NOLOGGING을 쓴다면 직후 백업을 절차에 넣어야 한다. 공간 부족으로 작업 도중 실패하는 일이 흔하므로 사전 확인을 강조한다. 이 순서를 절차서의 블록 손상 항목에 적어 둔다.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DRA는 감지된 정보만으로 판단하며 업무 맥락을 모른다. CLEAR UNARCHIVED LOGFILE이나 불완전 복구가 포함되면 손실이 발생하므로 스크립트를 확인한 뒤 직접 판단해야 한다. 제시안은 참고 자료다. 대량 적재에 NOLOGGING을 쓴다면 직후 백업을 절차에 넣어야 한다는 점을 짚는다. 공간 부족으로 도중에 실패하는 일이 흔하다.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모든 방법은 복구 범위를 좁히는 것을 목표로 한다. 범위가 작을수록 업무 영향이 줄지만 그만큼 판정이 정확해야 한다. 다음 장에서는 데이터베이스 복제를 다루며 RECOVER TABLE이 내부에서 하던 일을 손으로 수행해 본다. 다음 장에서 RECOVER TABLE이 내부에서 하던 일을 손으로 수행해 본다는 예고로 마무리한다. 직후 백업을 절차에 넣는 것이 유일한 대비다.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방법들은 모두 범위를 좁혀 업무 영향을 줄이는 것을 목표로 한다. 그러나 좁은 범위를 택하려면 손상이 정확히 어디까지인지 알아야 한다. 판정이 틀리면 좁은 범위 복구를 반복하며 시간을 낭비하거나 불필요하게 넓은 범위를 중단시키게 된다. 진단 조회 세 가지를 몸에 익히는 것이 이 장에서 가져갈 가장 실용적인 내용이다. 진단 조회 세 가지를 몸에 익히는 것이 이 장에서 가져갈 가장 실용적인 내용이다.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여덟 실습이 절 순서를 따른다. 16-5부터 16-7까지가 블록 손상의 재현·진단·복구로 이어지므로 연속으로 수행해야 흐름이 살아난다. 16-1은 공간 요구가 크므로 AUXILIARY DESTINATION의 여유를 미리 확인한다. 16-5에서 dd 명령으로 블록을 손상시키는데 반드시 실습 환경에서만 수행한다. 16-5에서 dd 명령을 쓰므로 반드시 실습 환경에서만 수행한다.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pPr>
              <a:spcAft>
                <a:spcPts val="600"/>
              </a:spcAft>
            </a:pPr>
            <a:r>
              <a:rPr sz="1800" b="1">
                <a:solidFill>
                  <a:srgbClr val="C0392B"/>
                </a:solidFill>
                <a:latin typeface="Malgun Gothic"/>
                <a:ea typeface="Malgun Gothic"/>
              </a:rPr>
              <a:t>Oracle Database 19c Backup &amp; Recovery  ·  제16장</a:t>
            </a:r>
          </a:p>
        </p:txBody>
      </p:sp>
      <p:sp>
        <p:nvSpPr>
          <p:cNvPr id="4" name="TextBox 3"/>
          <p:cNvSpPr txBox="1"/>
          <p:nvPr/>
        </p:nvSpPr>
        <p:spPr>
          <a:xfrm>
            <a:off x="1188720" y="2194560"/>
            <a:ext cx="10332720" cy="2011680"/>
          </a:xfrm>
          <a:prstGeom prst="rect">
            <a:avLst/>
          </a:prstGeom>
          <a:noFill/>
        </p:spPr>
        <p:txBody>
          <a:bodyPr wrap="square">
            <a:spAutoFit/>
          </a:bodyPr>
          <a:lstStyle/>
          <a:p>
            <a:pPr>
              <a:spcAft>
                <a:spcPts val="600"/>
              </a:spcAft>
            </a:pPr>
            <a:r>
              <a:rPr sz="4400" b="1">
                <a:solidFill>
                  <a:srgbClr val="FFFFFF"/>
                </a:solidFill>
                <a:latin typeface="Malgun Gothic"/>
                <a:ea typeface="Malgun Gothic"/>
              </a:rPr>
              <a:t>RMAN 고급 복구와 블록 손상 복구</a:t>
            </a:r>
          </a:p>
        </p:txBody>
      </p:sp>
      <p:sp>
        <p:nvSpPr>
          <p:cNvPr id="5" name="TextBox 4"/>
          <p:cNvSpPr txBox="1"/>
          <p:nvPr/>
        </p:nvSpPr>
        <p:spPr>
          <a:xfrm>
            <a:off x="1188720" y="4297680"/>
            <a:ext cx="10058400" cy="1097280"/>
          </a:xfrm>
          <a:prstGeom prst="rect">
            <a:avLst/>
          </a:prstGeom>
          <a:noFill/>
        </p:spPr>
        <p:txBody>
          <a:bodyPr wrap="square">
            <a:spAutoFit/>
          </a:bodyPr>
          <a:lstStyle/>
          <a:p>
            <a:pPr>
              <a:spcAft>
                <a:spcPts val="600"/>
              </a:spcAft>
            </a:pPr>
            <a:r>
              <a:rPr sz="1800" b="0">
                <a:solidFill>
                  <a:srgbClr val="C5CED6"/>
                </a:solidFill>
                <a:latin typeface="Malgun Gothic"/>
                <a:ea typeface="Malgun Gothic"/>
              </a:rPr>
              <a:t>RECOVER TABLE · spfile 복구 · 블록 손상 감지와 판정 · Block Media Recovery · Data Recovery Advisor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이 장을 마치면 다음을 수행할 수 있어야 한다.</a:t>
            </a:r>
          </a:p>
          <a:p>
            <a:pPr>
              <a:spcAft>
                <a:spcPts val="600"/>
              </a:spcAft>
            </a:pPr>
            <a:r>
              <a:rPr sz="1600" b="0">
                <a:solidFill>
                  <a:srgbClr val="5A6672"/>
                </a:solidFill>
                <a:latin typeface="Malgun Gothic"/>
                <a:ea typeface="Malgun Gothic"/>
              </a:rPr>
              <a:t>    –  테이블 하나만 과거 시점으로 되살린다</a:t>
            </a:r>
          </a:p>
          <a:p>
            <a:pPr>
              <a:spcAft>
                <a:spcPts val="600"/>
              </a:spcAft>
            </a:pPr>
            <a:r>
              <a:rPr sz="1600" b="0">
                <a:solidFill>
                  <a:srgbClr val="5A6672"/>
                </a:solidFill>
                <a:latin typeface="Malgun Gothic"/>
                <a:ea typeface="Malgun Gothic"/>
              </a:rPr>
              <a:t>    –  spfile과 pfile 손상을 복구한다</a:t>
            </a:r>
          </a:p>
          <a:p>
            <a:pPr>
              <a:spcAft>
                <a:spcPts val="600"/>
              </a:spcAft>
            </a:pPr>
            <a:r>
              <a:rPr sz="1600" b="0">
                <a:solidFill>
                  <a:srgbClr val="5A6672"/>
                </a:solidFill>
                <a:latin typeface="Malgun Gothic"/>
                <a:ea typeface="Malgun Gothic"/>
              </a:rPr>
              <a:t>    –  블록 손상을 감지하고 원인을 판정한다</a:t>
            </a:r>
          </a:p>
          <a:p>
            <a:pPr>
              <a:spcAft>
                <a:spcPts val="600"/>
              </a:spcAft>
            </a:pPr>
            <a:r>
              <a:rPr sz="1600" b="0">
                <a:solidFill>
                  <a:srgbClr val="5A6672"/>
                </a:solidFill>
                <a:latin typeface="Malgun Gothic"/>
                <a:ea typeface="Malgun Gothic"/>
              </a:rPr>
              <a:t>    –  손상된 블록만 복구한다</a:t>
            </a:r>
          </a:p>
          <a:p>
            <a:pPr>
              <a:spcAft>
                <a:spcPts val="600"/>
              </a:spcAft>
            </a:pPr>
            <a:r>
              <a:rPr sz="1600" b="0">
                <a:solidFill>
                  <a:srgbClr val="5A6672"/>
                </a:solidFill>
                <a:latin typeface="Malgun Gothic"/>
                <a:ea typeface="Malgun Gothic"/>
              </a:rPr>
              <a:t>    –  Data Recovery Advisor로 장애를 진단하고 조치한다</a:t>
            </a:r>
          </a:p>
          <a:p>
            <a:pPr>
              <a:spcAft>
                <a:spcPts val="600"/>
              </a:spcAft>
            </a:pPr>
            <a:r>
              <a:rPr sz="1600" b="0">
                <a:solidFill>
                  <a:srgbClr val="5A6672"/>
                </a:solidFill>
                <a:latin typeface="Malgun Gothic"/>
                <a:ea typeface="Malgun Gothic"/>
              </a:rPr>
              <a:t>    –  블록 손상을 조기에 탐지하는 설정을 적용한다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16.1  테이블 단위 복구 — 선택지 · 동작 · 제약 · 로그 읽기</a:t>
            </a:r>
          </a:p>
          <a:p>
            <a:pPr>
              <a:spcAft>
                <a:spcPts val="600"/>
              </a:spcAft>
            </a:pPr>
            <a:r>
              <a:rPr sz="1800" b="0">
                <a:solidFill>
                  <a:srgbClr val="202830"/>
                </a:solidFill>
                <a:latin typeface="Malgun Gothic"/>
                <a:ea typeface="Malgun Gothic"/>
              </a:rPr>
              <a:t>•  16.2  파라미터 파일 복구 — spfile/pfile · 자동 백업 · 값 오류 · 점검</a:t>
            </a:r>
          </a:p>
          <a:p>
            <a:pPr>
              <a:spcAft>
                <a:spcPts val="600"/>
              </a:spcAft>
            </a:pPr>
            <a:r>
              <a:rPr sz="1800" b="0">
                <a:solidFill>
                  <a:srgbClr val="202830"/>
                </a:solidFill>
                <a:latin typeface="Malgun Gothic"/>
                <a:ea typeface="Malgun Gothic"/>
              </a:rPr>
              <a:t>•  16.3  블록 손상의 감지와 판정 — 종류 · 감지 · 조기 탐지 · 백업 중 손상</a:t>
            </a:r>
          </a:p>
          <a:p>
            <a:pPr>
              <a:spcAft>
                <a:spcPts val="600"/>
              </a:spcAft>
            </a:pPr>
            <a:r>
              <a:rPr sz="1800" b="0">
                <a:solidFill>
                  <a:srgbClr val="202830"/>
                </a:solidFill>
                <a:latin typeface="Malgun Gothic"/>
                <a:ea typeface="Malgun Gothic"/>
              </a:rPr>
              <a:t>•  16.4  블록 미디어 복구 — RECOVER BLOCK · CORRUPTION LIST · 우회 · 비교</a:t>
            </a:r>
          </a:p>
          <a:p>
            <a:pPr>
              <a:spcAft>
                <a:spcPts val="600"/>
              </a:spcAft>
            </a:pPr>
            <a:r>
              <a:rPr sz="1800" b="0">
                <a:solidFill>
                  <a:srgbClr val="202830"/>
                </a:solidFill>
                <a:latin typeface="Malgun Gothic"/>
                <a:ea typeface="Malgun Gothic"/>
              </a:rPr>
              <a:t>•  16.5  Data Recovery Advisor — LIST/ADVISE/REPAIR · 주의</a:t>
            </a:r>
          </a:p>
          <a:p>
            <a:pPr>
              <a:spcAft>
                <a:spcPts val="600"/>
              </a:spcAft>
            </a:pPr>
            <a:r>
              <a:rPr sz="1800" b="0">
                <a:solidFill>
                  <a:srgbClr val="202830"/>
                </a:solidFill>
                <a:latin typeface="Malgun Gothic"/>
                <a:ea typeface="Malgun Gothic"/>
              </a:rPr>
              <a:t>•  16.6 판단표 · 16.7 퀴즈 · 요약 · 실습 8 개요</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B88600"/>
                </a:solidFill>
                <a:latin typeface="Malgun Gothic"/>
                <a:ea typeface="Malgun Gothic"/>
              </a:rPr>
              <a:t>참고:</a:t>
            </a:r>
          </a:p>
          <a:p>
            <a:pPr>
              <a:spcAft>
                <a:spcPts val="0"/>
              </a:spcAft>
            </a:pPr>
            <a:r>
              <a:rPr sz="1250" b="0">
                <a:solidFill>
                  <a:srgbClr val="202830"/>
                </a:solidFill>
                <a:latin typeface="Malgun Gothic"/>
                <a:ea typeface="Malgun Gothic"/>
              </a:rPr>
              <a:t>15장까지의 실습이 완료되어 백업과 아카이브가 준비된 상태를 전제로 한다.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16.1</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테이블 단위 복구</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테이블 하나를 과거 시점으로 되살린다</a:t>
            </a:r>
          </a:p>
          <a:p>
            <a:pPr>
              <a:spcAft>
                <a:spcPts val="600"/>
              </a:spcAft>
            </a:pPr>
            <a:r>
              <a:rPr sz="1600" b="0">
                <a:solidFill>
                  <a:srgbClr val="C5CED6"/>
                </a:solidFill>
                <a:latin typeface="Malgun Gothic"/>
                <a:ea typeface="Malgun Gothic"/>
              </a:rPr>
              <a:t>•  보조 인스턴스와 Data Pump를 내부에서 사용</a:t>
            </a:r>
          </a:p>
          <a:p>
            <a:pPr>
              <a:spcAft>
                <a:spcPts val="600"/>
              </a:spcAft>
            </a:pPr>
            <a:r>
              <a:rPr sz="1600" b="0">
                <a:solidFill>
                  <a:srgbClr val="C5CED6"/>
                </a:solidFill>
                <a:latin typeface="Malgun Gothic"/>
                <a:ea typeface="Malgun Gothic"/>
              </a:rPr>
              <a:t>•  REMAP TABLE을 기본으로 쓴다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방법의 선택</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시점과 UNDO가 기준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상황                          | 권장 방법</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몇 분 전 DELETE, UNDO 있음    | Flashback Query / Flashback Table</a:t>
            </a:r>
          </a:p>
          <a:p>
            <a:pPr>
              <a:spcAft>
                <a:spcPts val="0"/>
              </a:spcAft>
            </a:pPr>
            <a:r>
              <a:rPr sz="1250" b="0">
                <a:solidFill>
                  <a:srgbClr val="E6E6E6"/>
                </a:solidFill>
                <a:latin typeface="Consolas"/>
                <a:ea typeface="Consolas"/>
              </a:rPr>
              <a:t>DROP 직후, 휴지통에 있음      | Flashback Drop</a:t>
            </a:r>
          </a:p>
          <a:p>
            <a:pPr>
              <a:spcAft>
                <a:spcPts val="0"/>
              </a:spcAft>
            </a:pPr>
            <a:r>
              <a:rPr sz="1250" b="0">
                <a:solidFill>
                  <a:srgbClr val="E6E6E6"/>
                </a:solidFill>
                <a:latin typeface="Consolas"/>
                <a:ea typeface="Consolas"/>
              </a:rPr>
              <a:t>며칠 전 시점, UNDO 없음       | RECOVER TABLE</a:t>
            </a:r>
          </a:p>
          <a:p>
            <a:pPr>
              <a:spcAft>
                <a:spcPts val="0"/>
              </a:spcAft>
            </a:pPr>
            <a:r>
              <a:rPr sz="1250" b="0">
                <a:solidFill>
                  <a:srgbClr val="E6E6E6"/>
                </a:solidFill>
                <a:latin typeface="Consolas"/>
                <a:ea typeface="Consolas"/>
              </a:rPr>
              <a:t>TRUNCATE 후 시간 경과         | RECOVER TABLE</a:t>
            </a:r>
          </a:p>
          <a:p>
            <a:pPr>
              <a:spcAft>
                <a:spcPts val="0"/>
              </a:spcAft>
            </a:pPr>
            <a:r>
              <a:rPr sz="1250" b="0">
                <a:solidFill>
                  <a:srgbClr val="E6E6E6"/>
                </a:solidFill>
                <a:latin typeface="Consolas"/>
                <a:ea typeface="Consolas"/>
              </a:rPr>
              <a:t>테이블스페이스 전체가 대상    | TSPITR</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Flashback은 UNDO에 의존하고 RECOVER TABLE은 백업과 아카이브를 쓴다.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RECOVER TABLE</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명령 하나, 다섯 단계</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RMAN&gt; RECOVER TABLE hr.emp160</a:t>
            </a:r>
          </a:p>
          <a:p>
            <a:pPr>
              <a:spcAft>
                <a:spcPts val="0"/>
              </a:spcAft>
            </a:pPr>
            <a:r>
              <a:rPr sz="1250" b="0">
                <a:solidFill>
                  <a:srgbClr val="E6E6E6"/>
                </a:solidFill>
                <a:latin typeface="Consolas"/>
                <a:ea typeface="Consolas"/>
              </a:rPr>
              <a:t>  2&gt;   UNTIL TIME "TO_DATE('2025-05-18 09:00:00','YYYY-MM-DD HH24:MI:SS')"</a:t>
            </a:r>
          </a:p>
          <a:p>
            <a:pPr>
              <a:spcAft>
                <a:spcPts val="0"/>
              </a:spcAft>
            </a:pPr>
            <a:r>
              <a:rPr sz="1250" b="0">
                <a:solidFill>
                  <a:srgbClr val="E6E6E6"/>
                </a:solidFill>
                <a:latin typeface="Consolas"/>
                <a:ea typeface="Consolas"/>
              </a:rPr>
              <a:t>  3&gt;   AUXILIARY DESTINATION '/u03/aux'</a:t>
            </a:r>
          </a:p>
          <a:p>
            <a:pPr>
              <a:spcAft>
                <a:spcPts val="0"/>
              </a:spcAft>
            </a:pPr>
            <a:r>
              <a:rPr sz="1250" b="0">
                <a:solidFill>
                  <a:srgbClr val="E6E6E6"/>
                </a:solidFill>
                <a:latin typeface="Consolas"/>
                <a:ea typeface="Consolas"/>
              </a:rPr>
              <a:t>  4&gt;   REMAP TABLE hr.emp160:emp160_recovered;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① 보조 인스턴스를 임시로 생성</a:t>
            </a:r>
          </a:p>
          <a:p>
            <a:pPr>
              <a:spcAft>
                <a:spcPts val="0"/>
              </a:spcAft>
            </a:pPr>
            <a:r>
              <a:rPr sz="1250" b="0">
                <a:solidFill>
                  <a:srgbClr val="E6E6E6"/>
                </a:solidFill>
                <a:latin typeface="Consolas"/>
                <a:ea typeface="Consolas"/>
              </a:rPr>
              <a:t>② 그 시점의 SYSTEM·SYSAUX·UNDO와 대상 TS 복원</a:t>
            </a:r>
          </a:p>
          <a:p>
            <a:pPr>
              <a:spcAft>
                <a:spcPts val="0"/>
              </a:spcAft>
            </a:pPr>
            <a:r>
              <a:rPr sz="1250" b="0">
                <a:solidFill>
                  <a:srgbClr val="E6E6E6"/>
                </a:solidFill>
                <a:latin typeface="Consolas"/>
                <a:ea typeface="Consolas"/>
              </a:rPr>
              <a:t>③ 보조 인스턴스를 그 시점까지 복구해 오픈</a:t>
            </a:r>
          </a:p>
          <a:p>
            <a:pPr>
              <a:spcAft>
                <a:spcPts val="0"/>
              </a:spcAft>
            </a:pPr>
            <a:r>
              <a:rPr sz="1250" b="0">
                <a:solidFill>
                  <a:srgbClr val="E6E6E6"/>
                </a:solidFill>
                <a:latin typeface="Consolas"/>
                <a:ea typeface="Consolas"/>
              </a:rPr>
              <a:t>④ Data Pump로 대상 테이블 추출</a:t>
            </a:r>
          </a:p>
          <a:p>
            <a:pPr>
              <a:spcAft>
                <a:spcPts val="0"/>
              </a:spcAft>
            </a:pPr>
            <a:r>
              <a:rPr sz="1250" b="0">
                <a:solidFill>
                  <a:srgbClr val="E6E6E6"/>
                </a:solidFill>
                <a:latin typeface="Consolas"/>
                <a:ea typeface="Consolas"/>
              </a:rPr>
              <a:t>⑤ 원본으로 가져온 뒤 보조 인스턴스 정리</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제약과 준비 사항</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대상이 될 수 없는 것</a:t>
            </a:r>
          </a:p>
          <a:p>
            <a:pPr>
              <a:spcAft>
                <a:spcPts val="600"/>
              </a:spcAft>
            </a:pPr>
            <a:r>
              <a:rPr sz="1600" b="0">
                <a:solidFill>
                  <a:srgbClr val="5A6672"/>
                </a:solidFill>
                <a:latin typeface="Malgun Gothic"/>
                <a:ea typeface="Malgun Gothic"/>
              </a:rPr>
              <a:t>    –  SYS 스키마의 테이블</a:t>
            </a:r>
          </a:p>
          <a:p>
            <a:pPr>
              <a:spcAft>
                <a:spcPts val="600"/>
              </a:spcAft>
            </a:pPr>
            <a:r>
              <a:rPr sz="1600" b="0">
                <a:solidFill>
                  <a:srgbClr val="5A6672"/>
                </a:solidFill>
                <a:latin typeface="Malgun Gothic"/>
                <a:ea typeface="Malgun Gothic"/>
              </a:rPr>
              <a:t>    –  SYSTEM·SYSAUX 테이블스페이스의 테이블</a:t>
            </a:r>
          </a:p>
          <a:p>
            <a:pPr>
              <a:spcAft>
                <a:spcPts val="600"/>
              </a:spcAft>
            </a:pPr>
            <a:r>
              <a:rPr sz="1800" b="0">
                <a:solidFill>
                  <a:srgbClr val="202830"/>
                </a:solidFill>
                <a:latin typeface="Malgun Gothic"/>
                <a:ea typeface="Malgun Gothic"/>
              </a:rPr>
              <a:t>•  전제 조건</a:t>
            </a:r>
          </a:p>
          <a:p>
            <a:pPr>
              <a:spcAft>
                <a:spcPts val="600"/>
              </a:spcAft>
            </a:pPr>
            <a:r>
              <a:rPr sz="1600" b="0">
                <a:solidFill>
                  <a:srgbClr val="5A6672"/>
                </a:solidFill>
                <a:latin typeface="Malgun Gothic"/>
                <a:ea typeface="Malgun Gothic"/>
              </a:rPr>
              <a:t>    –  ARCHIVELOG 모드</a:t>
            </a:r>
          </a:p>
          <a:p>
            <a:pPr>
              <a:spcAft>
                <a:spcPts val="600"/>
              </a:spcAft>
            </a:pPr>
            <a:r>
              <a:rPr sz="1600" b="0">
                <a:solidFill>
                  <a:srgbClr val="5A6672"/>
                </a:solidFill>
                <a:latin typeface="Malgun Gothic"/>
                <a:ea typeface="Malgun Gothic"/>
              </a:rPr>
              <a:t>    –  지정 시점의 SYSTEM·SYSAUX·UNDO 백업이 모두 있을 것</a:t>
            </a:r>
          </a:p>
          <a:p>
            <a:pPr>
              <a:spcAft>
                <a:spcPts val="600"/>
              </a:spcAft>
            </a:pPr>
            <a:r>
              <a:rPr sz="1800" b="0">
                <a:solidFill>
                  <a:srgbClr val="202830"/>
                </a:solidFill>
                <a:latin typeface="Malgun Gothic"/>
                <a:ea typeface="Malgun Gothic"/>
              </a:rPr>
              <a:t>•  공간 — 대상 테이블이 작아도 세 TS만큼 필요</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수행 로그 읽기</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다섯 구간</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Creating automatic instance, with SID='qBxA'        ① 생성</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contents of Memory Script:                          ② 자동 구성 스크립트</a:t>
            </a:r>
          </a:p>
          <a:p>
            <a:pPr>
              <a:spcAft>
                <a:spcPts val="0"/>
              </a:spcAft>
            </a:pPr>
            <a:r>
              <a:rPr sz="1250" b="0">
                <a:solidFill>
                  <a:srgbClr val="E6E6E6"/>
                </a:solidFill>
                <a:latin typeface="Consolas"/>
                <a:ea typeface="Consolas"/>
              </a:rPr>
              <a:t>{</a:t>
            </a:r>
          </a:p>
          <a:p>
            <a:pPr>
              <a:spcAft>
                <a:spcPts val="0"/>
              </a:spcAft>
            </a:pPr>
            <a:r>
              <a:rPr sz="1250" b="0">
                <a:solidFill>
                  <a:srgbClr val="E6E6E6"/>
                </a:solidFill>
                <a:latin typeface="Consolas"/>
                <a:ea typeface="Consolas"/>
              </a:rPr>
              <a:t>  set until time ...;</a:t>
            </a:r>
          </a:p>
          <a:p>
            <a:pPr>
              <a:spcAft>
                <a:spcPts val="0"/>
              </a:spcAft>
            </a:pPr>
            <a:r>
              <a:rPr sz="1250" b="0">
                <a:solidFill>
                  <a:srgbClr val="E6E6E6"/>
                </a:solidFill>
                <a:latin typeface="Consolas"/>
                <a:ea typeface="Consolas"/>
              </a:rPr>
              <a:t>  restore clone controlfile;</a:t>
            </a:r>
          </a:p>
          <a:p>
            <a:pPr>
              <a:spcAft>
                <a:spcPts val="0"/>
              </a:spcAft>
            </a:pPr>
            <a:r>
              <a:rPr sz="1250" b="0">
                <a:solidFill>
                  <a:srgbClr val="E6E6E6"/>
                </a:solidFill>
                <a:latin typeface="Consolas"/>
                <a:ea typeface="Consolas"/>
              </a:rPr>
              <a:t>  recover clone database tablespace 'SYSTEM','UNDOTBS1','SYSAUX','USERS';</a:t>
            </a:r>
          </a:p>
          <a:p>
            <a:pPr>
              <a:spcAft>
                <a:spcPts val="0"/>
              </a:spcAft>
            </a:pPr>
            <a:r>
              <a:rPr sz="1250" b="0">
                <a:solidFill>
                  <a:srgbClr val="E6E6E6"/>
                </a:solidFill>
                <a:latin typeface="Consolas"/>
                <a:ea typeface="Consolas"/>
              </a:rPr>
              <a:t>}</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EXPDP&gt; . . exported "HR"."EMP160"  8.789 KB  107 rows      ③ 추출</a:t>
            </a:r>
          </a:p>
          <a:p>
            <a:pPr>
              <a:spcAft>
                <a:spcPts val="0"/>
              </a:spcAft>
            </a:pPr>
            <a:r>
              <a:rPr sz="1250" b="0">
                <a:solidFill>
                  <a:srgbClr val="E6E6E6"/>
                </a:solidFill>
                <a:latin typeface="Consolas"/>
                <a:ea typeface="Consolas"/>
              </a:rPr>
              <a:t>IMPDP&gt; . . imported "HR"."EMP160_RECOVERED"  107 rows      ④ 반입</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Removing automatic instance                          ⑤ 정리</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16.2</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파라미터 파일 복구</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spfile은 자동 백업에 함께 들어간다</a:t>
            </a:r>
          </a:p>
          <a:p>
            <a:pPr>
              <a:spcAft>
                <a:spcPts val="600"/>
              </a:spcAft>
            </a:pPr>
            <a:r>
              <a:rPr sz="1600" b="0">
                <a:solidFill>
                  <a:srgbClr val="C5CED6"/>
                </a:solidFill>
                <a:latin typeface="Malgun Gothic"/>
                <a:ea typeface="Malgun Gothic"/>
              </a:rPr>
              <a:t>•  복원 순서가 까다롭다</a:t>
            </a:r>
          </a:p>
          <a:p>
            <a:pPr>
              <a:spcAft>
                <a:spcPts val="600"/>
              </a:spcAft>
            </a:pPr>
            <a:r>
              <a:rPr sz="1600" b="0">
                <a:solidFill>
                  <a:srgbClr val="C5CED6"/>
                </a:solidFill>
                <a:latin typeface="Malgun Gothic"/>
                <a:ea typeface="Malgun Gothic"/>
              </a:rPr>
              <a:t>•  값 오류는 pfile을 경유해 고친다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spfile 복원</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임시 pfile → SET DBID → RESTORE</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RMAN&gt; STARTUP NOMOUNT</a:t>
            </a:r>
          </a:p>
          <a:p>
            <a:pPr>
              <a:spcAft>
                <a:spcPts val="0"/>
              </a:spcAft>
            </a:pPr>
            <a:r>
              <a:rPr sz="1250" b="0">
                <a:solidFill>
                  <a:srgbClr val="E6E6E6"/>
                </a:solidFill>
                <a:latin typeface="Consolas"/>
                <a:ea typeface="Consolas"/>
              </a:rPr>
              <a:t>startup failed: ORA-01078: failure in processing system parameters</a:t>
            </a:r>
          </a:p>
          <a:p>
            <a:pPr>
              <a:spcAft>
                <a:spcPts val="0"/>
              </a:spcAft>
            </a:pPr>
            <a:r>
              <a:rPr sz="1250" b="0">
                <a:solidFill>
                  <a:srgbClr val="E6E6E6"/>
                </a:solidFill>
                <a:latin typeface="Consolas"/>
                <a:ea typeface="Consolas"/>
              </a:rPr>
              <a:t>LRM-00109: could not open parameter file '.../dbs/initorcl.ora'</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최소 pfile을 만든다</a:t>
            </a:r>
          </a:p>
          <a:p>
            <a:pPr>
              <a:spcAft>
                <a:spcPts val="0"/>
              </a:spcAft>
            </a:pPr>
            <a:r>
              <a:rPr sz="1250" b="0">
                <a:solidFill>
                  <a:srgbClr val="E6E6E6"/>
                </a:solidFill>
                <a:latin typeface="Consolas"/>
                <a:ea typeface="Consolas"/>
              </a:rPr>
              <a:t>[oracle@oel7v9r1 ~]$ echo "db_name=orcl" &gt; /tmp/init_tmp.ora</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STARTUP NOMOUNT PFILE='/tmp/init_tmp.ora';</a:t>
            </a:r>
          </a:p>
          <a:p>
            <a:pPr>
              <a:spcAft>
                <a:spcPts val="0"/>
              </a:spcAft>
            </a:pPr>
            <a:r>
              <a:rPr sz="1250" b="0">
                <a:solidFill>
                  <a:srgbClr val="E6E6E6"/>
                </a:solidFill>
                <a:latin typeface="Consolas"/>
                <a:ea typeface="Consolas"/>
              </a:rPr>
              <a:t>RMAN&gt; SET DBID 1200530011;</a:t>
            </a:r>
          </a:p>
          <a:p>
            <a:pPr>
              <a:spcAft>
                <a:spcPts val="0"/>
              </a:spcAft>
            </a:pPr>
            <a:r>
              <a:rPr sz="1250" b="0">
                <a:solidFill>
                  <a:srgbClr val="E6E6E6"/>
                </a:solidFill>
                <a:latin typeface="Consolas"/>
                <a:ea typeface="Consolas"/>
              </a:rPr>
              <a:t>RMAN&gt; RESTORE SPFILE FROM AUTOBACKUP;</a:t>
            </a:r>
          </a:p>
          <a:p>
            <a:pPr>
              <a:spcAft>
                <a:spcPts val="0"/>
              </a:spcAft>
            </a:pPr>
            <a:r>
              <a:rPr sz="1250" b="0">
                <a:solidFill>
                  <a:srgbClr val="E6E6E6"/>
                </a:solidFill>
                <a:latin typeface="Consolas"/>
                <a:ea typeface="Consolas"/>
              </a:rPr>
              <a:t>channel ORA_DISK_1: SPFILE restore from AUTOBACKUP complete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SHUTDOWN IMMEDIATE</a:t>
            </a:r>
          </a:p>
          <a:p>
            <a:pPr>
              <a:spcAft>
                <a:spcPts val="0"/>
              </a:spcAft>
            </a:pPr>
            <a:r>
              <a:rPr sz="1250" b="0">
                <a:solidFill>
                  <a:srgbClr val="E6E6E6"/>
                </a:solidFill>
                <a:latin typeface="Consolas"/>
                <a:ea typeface="Consolas"/>
              </a:rPr>
              <a:t>RMAN&gt; STARTUP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값 오류로 기동 불가</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pfile을 경유해 수정</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ALTER SYSTEM SET sga_target = 40G SCOPE = SPFILE;</a:t>
            </a:r>
          </a:p>
          <a:p>
            <a:pPr>
              <a:spcAft>
                <a:spcPts val="0"/>
              </a:spcAft>
            </a:pPr>
            <a:r>
              <a:rPr sz="1250" b="0">
                <a:solidFill>
                  <a:srgbClr val="E6E6E6"/>
                </a:solidFill>
                <a:latin typeface="Consolas"/>
                <a:ea typeface="Consolas"/>
              </a:rPr>
              <a:t>System altered.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SHUTDOWN IMMEDIATE</a:t>
            </a:r>
          </a:p>
          <a:p>
            <a:pPr>
              <a:spcAft>
                <a:spcPts val="0"/>
              </a:spcAft>
            </a:pPr>
            <a:r>
              <a:rPr sz="1250" b="0">
                <a:solidFill>
                  <a:srgbClr val="E6E6E6"/>
                </a:solidFill>
                <a:latin typeface="Consolas"/>
                <a:ea typeface="Consolas"/>
              </a:rPr>
              <a:t>SYS@orcl&gt; STARTUP</a:t>
            </a:r>
          </a:p>
          <a:p>
            <a:pPr>
              <a:spcAft>
                <a:spcPts val="0"/>
              </a:spcAft>
            </a:pPr>
            <a:r>
              <a:rPr sz="1250" b="0">
                <a:solidFill>
                  <a:srgbClr val="E6E6E6"/>
                </a:solidFill>
                <a:latin typeface="Consolas"/>
                <a:ea typeface="Consolas"/>
              </a:rPr>
              <a:t>ORA-00821: Specified value of sga_target is too small</a:t>
            </a:r>
          </a:p>
          <a:p>
            <a:pPr>
              <a:spcAft>
                <a:spcPts val="0"/>
              </a:spcAft>
            </a:pPr>
            <a:r>
              <a:rPr sz="1250" b="0">
                <a:solidFill>
                  <a:srgbClr val="7EC699"/>
                </a:solidFill>
                <a:latin typeface="Consolas"/>
                <a:ea typeface="Consolas"/>
              </a:rPr>
              <a:t>-- 또는 메모리 부족으로 기동 실패</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CREATE PFILE='/tmp/fix.ora' FROM SPFILE;</a:t>
            </a:r>
          </a:p>
          <a:p>
            <a:pPr>
              <a:spcAft>
                <a:spcPts val="0"/>
              </a:spcAft>
            </a:pPr>
            <a:r>
              <a:rPr sz="1250" b="0">
                <a:solidFill>
                  <a:srgbClr val="E6E6E6"/>
                </a:solidFill>
                <a:latin typeface="Consolas"/>
                <a:ea typeface="Consolas"/>
              </a:rPr>
              <a:t>SYS@orcl&gt; !sed -i 's/^\*.sga_target=.*/*.sga_target=1073741824/' /tmp/fix.ora</a:t>
            </a:r>
          </a:p>
          <a:p>
            <a:pPr>
              <a:spcAft>
                <a:spcPts val="0"/>
              </a:spcAft>
            </a:pPr>
            <a:r>
              <a:rPr sz="1250" b="0">
                <a:solidFill>
                  <a:srgbClr val="E6E6E6"/>
                </a:solidFill>
                <a:latin typeface="Consolas"/>
                <a:ea typeface="Consolas"/>
              </a:rPr>
              <a:t>SYS@orcl&gt; STARTUP PFILE='/tmp/fix.ora';</a:t>
            </a:r>
          </a:p>
          <a:p>
            <a:pPr>
              <a:spcAft>
                <a:spcPts val="0"/>
              </a:spcAft>
            </a:pPr>
            <a:r>
              <a:rPr sz="1250" b="0">
                <a:solidFill>
                  <a:srgbClr val="E6E6E6"/>
                </a:solidFill>
                <a:latin typeface="Consolas"/>
                <a:ea typeface="Consolas"/>
              </a:rPr>
              <a:t>SYS@orcl&gt; CREATE SPFILE FROM PFILE='/tmp/fix.ora';</a:t>
            </a:r>
          </a:p>
          <a:p>
            <a:pPr>
              <a:spcAft>
                <a:spcPts val="0"/>
              </a:spcAft>
            </a:pPr>
            <a:r>
              <a:rPr sz="1250" b="0">
                <a:solidFill>
                  <a:srgbClr val="E6E6E6"/>
                </a:solidFill>
                <a:latin typeface="Consolas"/>
                <a:ea typeface="Consolas"/>
              </a:rPr>
              <a:t>SYS@orcl&gt; SHUTDOWN IMMEDIATE</a:t>
            </a:r>
          </a:p>
          <a:p>
            <a:pPr>
              <a:spcAft>
                <a:spcPts val="0"/>
              </a:spcAft>
            </a:pPr>
            <a:r>
              <a:rPr sz="1250" b="0">
                <a:solidFill>
                  <a:srgbClr val="E6E6E6"/>
                </a:solidFill>
                <a:latin typeface="Consolas"/>
                <a:ea typeface="Consolas"/>
              </a:rPr>
              <a:t>SYS@orcl&gt; STARTUP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후 파라미터 점검</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복원본에는 자동 백업 이후의 변경이 없다</a:t>
            </a:r>
          </a:p>
          <a:p>
            <a:pPr>
              <a:spcAft>
                <a:spcPts val="600"/>
              </a:spcAft>
            </a:pPr>
            <a:r>
              <a:rPr sz="1800" b="0">
                <a:solidFill>
                  <a:srgbClr val="202830"/>
                </a:solidFill>
                <a:latin typeface="Malgun Gothic"/>
                <a:ea typeface="Malgun Gothic"/>
              </a:rPr>
              <a:t>•  반드시 확인할 항목</a:t>
            </a:r>
          </a:p>
          <a:p>
            <a:pPr>
              <a:spcAft>
                <a:spcPts val="600"/>
              </a:spcAft>
            </a:pPr>
            <a:r>
              <a:rPr sz="1600" b="0">
                <a:solidFill>
                  <a:srgbClr val="5A6672"/>
                </a:solidFill>
                <a:latin typeface="Malgun Gothic"/>
                <a:ea typeface="Malgun Gothic"/>
              </a:rPr>
              <a:t>    –  log_archive_dest — 아카이브 경로</a:t>
            </a:r>
          </a:p>
          <a:p>
            <a:pPr>
              <a:spcAft>
                <a:spcPts val="600"/>
              </a:spcAft>
            </a:pPr>
            <a:r>
              <a:rPr sz="1600" b="0">
                <a:solidFill>
                  <a:srgbClr val="5A6672"/>
                </a:solidFill>
                <a:latin typeface="Malgun Gothic"/>
                <a:ea typeface="Malgun Gothic"/>
              </a:rPr>
              <a:t>    –  control_files — 컨트롤파일 경로</a:t>
            </a:r>
          </a:p>
          <a:p>
            <a:pPr>
              <a:spcAft>
                <a:spcPts val="600"/>
              </a:spcAft>
            </a:pPr>
            <a:r>
              <a:rPr sz="1600" b="0">
                <a:solidFill>
                  <a:srgbClr val="5A6672"/>
                </a:solidFill>
                <a:latin typeface="Malgun Gothic"/>
                <a:ea typeface="Malgun Gothic"/>
              </a:rPr>
              <a:t>    –  db_recovery_file_dest — FRA 경로와 크기</a:t>
            </a:r>
          </a:p>
          <a:p>
            <a:pPr>
              <a:spcAft>
                <a:spcPts val="600"/>
              </a:spcAft>
            </a:pPr>
            <a:r>
              <a:rPr sz="1600" b="0">
                <a:solidFill>
                  <a:srgbClr val="5A6672"/>
                </a:solidFill>
                <a:latin typeface="Malgun Gothic"/>
                <a:ea typeface="Malgun Gothic"/>
              </a:rPr>
              <a:t>    –  메모리 관련 값 — 서버 사양과 맞는지</a:t>
            </a:r>
          </a:p>
          <a:p>
            <a:pPr>
              <a:spcAft>
                <a:spcPts val="600"/>
              </a:spcAft>
            </a:pPr>
            <a:r>
              <a:rPr sz="1800" b="0">
                <a:solidFill>
                  <a:srgbClr val="202830"/>
                </a:solidFill>
                <a:latin typeface="Malgun Gothic"/>
                <a:ea typeface="Malgun Gothic"/>
              </a:rPr>
              <a:t>•  v$parameter 의 isdefault='FALSE' 목록으로 확인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16.3</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블록 손상의 감지와 판정</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물리적 손상과 논리적 손상</a:t>
            </a:r>
          </a:p>
          <a:p>
            <a:pPr>
              <a:spcAft>
                <a:spcPts val="600"/>
              </a:spcAft>
            </a:pPr>
            <a:r>
              <a:rPr sz="1600" b="0">
                <a:solidFill>
                  <a:srgbClr val="C5CED6"/>
                </a:solidFill>
                <a:latin typeface="Malgun Gothic"/>
                <a:ea typeface="Malgun Gothic"/>
              </a:rPr>
              <a:t>•  감지 경로는 네 가지</a:t>
            </a:r>
          </a:p>
          <a:p>
            <a:pPr>
              <a:spcAft>
                <a:spcPts val="600"/>
              </a:spcAft>
            </a:pPr>
            <a:r>
              <a:rPr sz="1600" b="0">
                <a:solidFill>
                  <a:srgbClr val="C5CED6"/>
                </a:solidFill>
                <a:latin typeface="Malgun Gothic"/>
                <a:ea typeface="Malgun Gothic"/>
              </a:rPr>
              <a:t>•  조기 탐지가 복구 가능성을 좌우한다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손상의 감지</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네 가지 경로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① 사용자 조회 중 (가장 늦은 발견)</a:t>
            </a:r>
          </a:p>
          <a:p>
            <a:pPr>
              <a:spcAft>
                <a:spcPts val="0"/>
              </a:spcAft>
            </a:pPr>
            <a:r>
              <a:rPr sz="1250" b="0">
                <a:solidFill>
                  <a:srgbClr val="E6E6E6"/>
                </a:solidFill>
                <a:latin typeface="Consolas"/>
                <a:ea typeface="Consolas"/>
              </a:rPr>
              <a:t>ORA-01578: ORACLE data block corrupted (file # 7, block # 142)</a:t>
            </a:r>
          </a:p>
          <a:p>
            <a:pPr>
              <a:spcAft>
                <a:spcPts val="0"/>
              </a:spcAft>
            </a:pPr>
            <a:r>
              <a:rPr sz="1250" b="0">
                <a:solidFill>
                  <a:srgbClr val="E6E6E6"/>
                </a:solidFill>
                <a:latin typeface="Consolas"/>
                <a:ea typeface="Consolas"/>
              </a:rPr>
              <a:t>ORA-01110: data file 7: '/u01/app/oracle/oradata/orcl/users01.dbf'</a:t>
            </a:r>
          </a:p>
          <a:p>
            <a:pPr>
              <a:spcAft>
                <a:spcPts val="0"/>
              </a:spcAft>
            </a:pPr>
            <a:r>
              <a:rPr sz="1250" b="0">
                <a:solidFill>
                  <a:srgbClr val="E6E6E6"/>
                </a:solidFill>
                <a:latin typeface="Consolas"/>
                <a:ea typeface="Consolas"/>
              </a:rPr>
              <a:t>ORA-26040: Data block was loaded using the NOLOGGING option  -- 원인 표시</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② RMAN 백업 중 자동 감지  ③ VALIDATE 명령</a:t>
            </a:r>
          </a:p>
          <a:p>
            <a:pPr>
              <a:spcAft>
                <a:spcPts val="0"/>
              </a:spcAft>
            </a:pPr>
            <a:r>
              <a:rPr sz="1250" b="0">
                <a:solidFill>
                  <a:srgbClr val="E6E6E6"/>
                </a:solidFill>
                <a:latin typeface="Consolas"/>
                <a:ea typeface="Consolas"/>
              </a:rPr>
              <a:t>RMAN&gt; VALIDATE DATAFILE 7;</a:t>
            </a:r>
          </a:p>
          <a:p>
            <a:pPr>
              <a:spcAft>
                <a:spcPts val="0"/>
              </a:spcAft>
            </a:pPr>
            <a:r>
              <a:rPr sz="1250" b="0">
                <a:solidFill>
                  <a:srgbClr val="E6E6E6"/>
                </a:solidFill>
                <a:latin typeface="Consolas"/>
                <a:ea typeface="Consolas"/>
              </a:rPr>
              <a:t>File Status Marked Corrupt Empty Blocks Blocks Examined High SCN</a:t>
            </a:r>
          </a:p>
          <a:p>
            <a:pPr>
              <a:spcAft>
                <a:spcPts val="0"/>
              </a:spcAft>
            </a:pPr>
            <a:r>
              <a:rPr sz="1250" b="0">
                <a:solidFill>
                  <a:srgbClr val="7EC699"/>
                </a:solidFill>
                <a:latin typeface="Consolas"/>
                <a:ea typeface="Consolas"/>
              </a:rPr>
              <a:t>---- ------ -------------- ------------ --------------- --------</a:t>
            </a:r>
          </a:p>
          <a:p>
            <a:pPr>
              <a:spcAft>
                <a:spcPts val="0"/>
              </a:spcAft>
            </a:pPr>
            <a:r>
              <a:rPr sz="1250" b="0">
                <a:solidFill>
                  <a:srgbClr val="E6E6E6"/>
                </a:solidFill>
                <a:latin typeface="Consolas"/>
                <a:ea typeface="Consolas"/>
              </a:rPr>
              <a:t>7    FAILED 3              384          1280            2690400</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④ DBVERIFY (데이터베이스 밖에서)</a:t>
            </a:r>
          </a:p>
          <a:p>
            <a:pPr>
              <a:spcAft>
                <a:spcPts val="0"/>
              </a:spcAft>
            </a:pPr>
            <a:r>
              <a:rPr sz="1250" b="0">
                <a:solidFill>
                  <a:srgbClr val="E6E6E6"/>
                </a:solidFill>
                <a:latin typeface="Consolas"/>
                <a:ea typeface="Consolas"/>
              </a:rPr>
              <a:t>[oracle@oel7v9r1 ~]$ dbv file=/u01/app/oracle/oradata/orcl/users01.dbf blocksize=8192</a:t>
            </a:r>
          </a:p>
          <a:p>
            <a:pPr>
              <a:spcAft>
                <a:spcPts val="0"/>
              </a:spcAft>
            </a:pPr>
            <a:r>
              <a:rPr sz="1250" b="0">
                <a:solidFill>
                  <a:srgbClr val="E6E6E6"/>
                </a:solidFill>
                <a:latin typeface="Consolas"/>
                <a:ea typeface="Consolas"/>
              </a:rPr>
              <a:t>Total Pages Marked Corrupt   : 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조기 탐지 설정</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CPU와 맞바꾼다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SHOW PARAMETER db_block_check</a:t>
            </a:r>
          </a:p>
          <a:p>
            <a:pPr>
              <a:spcAft>
                <a:spcPts val="0"/>
              </a:spcAft>
            </a:pPr>
            <a:r>
              <a:rPr sz="1250" b="0">
                <a:solidFill>
                  <a:srgbClr val="E6E6E6"/>
                </a:solidFill>
                <a:latin typeface="Consolas"/>
                <a:ea typeface="Consolas"/>
              </a:rPr>
              <a:t>NAME                 TYPE    VALUE</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db_block_checking    string  FALSE</a:t>
            </a:r>
          </a:p>
          <a:p>
            <a:pPr>
              <a:spcAft>
                <a:spcPts val="0"/>
              </a:spcAft>
            </a:pPr>
            <a:r>
              <a:rPr sz="1250" b="0">
                <a:solidFill>
                  <a:srgbClr val="E6E6E6"/>
                </a:solidFill>
                <a:latin typeface="Consolas"/>
                <a:ea typeface="Consolas"/>
              </a:rPr>
              <a:t>db_block_checksum    string  TYPICAL</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권장 설정</a:t>
            </a:r>
          </a:p>
          <a:p>
            <a:pPr>
              <a:spcAft>
                <a:spcPts val="0"/>
              </a:spcAft>
            </a:pPr>
            <a:r>
              <a:rPr sz="1250" b="0">
                <a:solidFill>
                  <a:srgbClr val="E6E6E6"/>
                </a:solidFill>
                <a:latin typeface="Consolas"/>
                <a:ea typeface="Consolas"/>
              </a:rPr>
              <a:t>SYS@orcl&gt; ALTER SYSTEM SET db_block_checksum = FULL SCOPE = BOTH;</a:t>
            </a:r>
          </a:p>
          <a:p>
            <a:pPr>
              <a:spcAft>
                <a:spcPts val="0"/>
              </a:spcAft>
            </a:pPr>
            <a:r>
              <a:rPr sz="1250" b="0">
                <a:solidFill>
                  <a:srgbClr val="E6E6E6"/>
                </a:solidFill>
                <a:latin typeface="Consolas"/>
                <a:ea typeface="Consolas"/>
              </a:rPr>
              <a:t>SYS@orcl&gt; ALTER SYSTEM SET db_block_checking = MEDIUM SCOPE = BOTH;</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db_block_checksum : OFF / TYPICAL(기본) / FULL</a:t>
            </a:r>
          </a:p>
          <a:p>
            <a:pPr>
              <a:spcAft>
                <a:spcPts val="0"/>
              </a:spcAft>
            </a:pPr>
            <a:r>
              <a:rPr sz="1250" b="0">
                <a:solidFill>
                  <a:srgbClr val="7EC699"/>
                </a:solidFill>
                <a:latin typeface="Consolas"/>
                <a:ea typeface="Consolas"/>
              </a:rPr>
              <a:t>-- db_block_checking : OFF / LOW / MEDIUM / FULL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백업 중 손상을 만났을 때</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MAXCORRUPT</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RMAN&gt; BACKUP DATAFILE 7;</a:t>
            </a:r>
          </a:p>
          <a:p>
            <a:pPr>
              <a:spcAft>
                <a:spcPts val="0"/>
              </a:spcAft>
            </a:pPr>
            <a:r>
              <a:rPr sz="1250" b="0">
                <a:solidFill>
                  <a:srgbClr val="E6E6E6"/>
                </a:solidFill>
                <a:latin typeface="Consolas"/>
                <a:ea typeface="Consolas"/>
              </a:rPr>
              <a:t>RMAN-03009: failure of backup command</a:t>
            </a:r>
          </a:p>
          <a:p>
            <a:pPr>
              <a:spcAft>
                <a:spcPts val="0"/>
              </a:spcAft>
            </a:pPr>
            <a:r>
              <a:rPr sz="1250" b="0">
                <a:solidFill>
                  <a:srgbClr val="E6E6E6"/>
                </a:solidFill>
                <a:latin typeface="Consolas"/>
                <a:ea typeface="Consolas"/>
              </a:rPr>
              <a:t>ORA-19566: exceeded limit of 0 corrupt blocks for file</a:t>
            </a:r>
          </a:p>
          <a:p>
            <a:pPr>
              <a:spcAft>
                <a:spcPts val="0"/>
              </a:spcAft>
            </a:pPr>
            <a:r>
              <a:rPr sz="1250" b="0">
                <a:solidFill>
                  <a:srgbClr val="E6E6E6"/>
                </a:solidFill>
                <a:latin typeface="Consolas"/>
                <a:ea typeface="Consolas"/>
              </a:rPr>
              <a:t> /u01/app/oracle/oradata/orcl/users01.dbf</a:t>
            </a:r>
          </a:p>
          <a:p>
            <a:pPr>
              <a:spcAft>
                <a:spcPts val="0"/>
              </a:spcAft>
            </a:pPr>
            <a:r>
              <a:rPr sz="1250" b="0">
                <a:solidFill>
                  <a:srgbClr val="7EC699"/>
                </a:solidFill>
                <a:latin typeface="Consolas"/>
                <a:ea typeface="Consolas"/>
              </a:rPr>
              <a:t>-- 기본 허용치가 0이므로 손상 하나에도 실패한다.</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RUN {</a:t>
            </a:r>
          </a:p>
          <a:p>
            <a:pPr>
              <a:spcAft>
                <a:spcPts val="0"/>
              </a:spcAft>
            </a:pPr>
            <a:r>
              <a:rPr sz="1250" b="0">
                <a:solidFill>
                  <a:srgbClr val="E6E6E6"/>
                </a:solidFill>
                <a:latin typeface="Consolas"/>
                <a:ea typeface="Consolas"/>
              </a:rPr>
              <a:t>  2&gt;   SET MAXCORRUPT FOR DATAFILE 7 TO 10;</a:t>
            </a:r>
          </a:p>
          <a:p>
            <a:pPr>
              <a:spcAft>
                <a:spcPts val="0"/>
              </a:spcAft>
            </a:pPr>
            <a:r>
              <a:rPr sz="1250" b="0">
                <a:solidFill>
                  <a:srgbClr val="E6E6E6"/>
                </a:solidFill>
                <a:latin typeface="Consolas"/>
                <a:ea typeface="Consolas"/>
              </a:rPr>
              <a:t>  3&gt;   BACKUP DATAFILE 7;</a:t>
            </a:r>
          </a:p>
          <a:p>
            <a:pPr>
              <a:spcAft>
                <a:spcPts val="0"/>
              </a:spcAft>
            </a:pPr>
            <a:r>
              <a:rPr sz="1250" b="0">
                <a:solidFill>
                  <a:srgbClr val="E6E6E6"/>
                </a:solidFill>
                <a:latin typeface="Consolas"/>
                <a:ea typeface="Consolas"/>
              </a:rPr>
              <a:t>  4&gt; }</a:t>
            </a:r>
          </a:p>
          <a:p>
            <a:pPr>
              <a:spcAft>
                <a:spcPts val="0"/>
              </a:spcAft>
            </a:pPr>
            <a:r>
              <a:rPr sz="1250" b="0">
                <a:solidFill>
                  <a:srgbClr val="7EC699"/>
                </a:solidFill>
                <a:latin typeface="Consolas"/>
                <a:ea typeface="Consolas"/>
              </a:rPr>
              <a:t>-- 10개까지는 기록하고 계속 진행한다.</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BACKUP CHECK LOGICAL 로 논리 손상까지 검사하며 백업할 수도 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손상 발견 후의 판정</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범위·원인·방법</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판정 조건                       | 조치</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블록 몇 개, 백업 있음           | RECOVER ... BLOCK</a:t>
            </a:r>
          </a:p>
          <a:p>
            <a:pPr>
              <a:spcAft>
                <a:spcPts val="0"/>
              </a:spcAft>
            </a:pPr>
            <a:r>
              <a:rPr sz="1250" b="0">
                <a:solidFill>
                  <a:srgbClr val="E6E6E6"/>
                </a:solidFill>
                <a:latin typeface="Consolas"/>
                <a:ea typeface="Consolas"/>
              </a:rPr>
              <a:t>블록 다수, 파일 전반            | 파일 단위 RESTORE/RECOVER</a:t>
            </a:r>
          </a:p>
          <a:p>
            <a:pPr>
              <a:spcAft>
                <a:spcPts val="0"/>
              </a:spcAft>
            </a:pPr>
            <a:r>
              <a:rPr sz="1250" b="0">
                <a:solidFill>
                  <a:srgbClr val="E6E6E6"/>
                </a:solidFill>
                <a:latin typeface="Consolas"/>
                <a:ea typeface="Consolas"/>
              </a:rPr>
              <a:t>CORRUPTION_TYPE이 NOLOGGING     | 재적재 (복구 불가)</a:t>
            </a:r>
          </a:p>
          <a:p>
            <a:pPr>
              <a:spcAft>
                <a:spcPts val="0"/>
              </a:spcAft>
            </a:pPr>
            <a:r>
              <a:rPr sz="1250" b="0">
                <a:solidFill>
                  <a:srgbClr val="E6E6E6"/>
                </a:solidFill>
                <a:latin typeface="Consolas"/>
                <a:ea typeface="Consolas"/>
              </a:rPr>
              <a:t>같은 파일에서 반복 발생         | 디스크 교체 후 파일 복구</a:t>
            </a:r>
          </a:p>
          <a:p>
            <a:pPr>
              <a:spcAft>
                <a:spcPts val="0"/>
              </a:spcAft>
            </a:pPr>
            <a:r>
              <a:rPr sz="1250" b="0">
                <a:solidFill>
                  <a:srgbClr val="E6E6E6"/>
                </a:solidFill>
                <a:latin typeface="Consolas"/>
                <a:ea typeface="Consolas"/>
              </a:rPr>
              <a:t>백업에도 손상 블록 포함         | 더 오래된 백업 + 아카이브 적용</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owner, segment_name, segment_type FROM dba_extents</a:t>
            </a:r>
          </a:p>
          <a:p>
            <a:pPr>
              <a:spcAft>
                <a:spcPts val="0"/>
              </a:spcAft>
            </a:pPr>
            <a:r>
              <a:rPr sz="1250" b="0">
                <a:solidFill>
                  <a:srgbClr val="E6E6E6"/>
                </a:solidFill>
                <a:latin typeface="Consolas"/>
                <a:ea typeface="Consolas"/>
              </a:rPr>
              <a:t>  2  WHERE file_id = 7 AND 142 BETWEEN block_id AND block_id + blocks - 1;</a:t>
            </a:r>
          </a:p>
          <a:p>
            <a:pPr>
              <a:spcAft>
                <a:spcPts val="0"/>
              </a:spcAft>
            </a:pPr>
            <a:r>
              <a:rPr sz="1250" b="0">
                <a:solidFill>
                  <a:srgbClr val="7EC699"/>
                </a:solidFill>
                <a:latin typeface="Consolas"/>
                <a:ea typeface="Consolas"/>
              </a:rPr>
              <a:t>-- 손상 블록이 인덱스라면 REBUILD가 더 빠르다.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16.4</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블록 미디어 복구</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손상된 블록만 되돌린다</a:t>
            </a:r>
          </a:p>
          <a:p>
            <a:pPr>
              <a:spcAft>
                <a:spcPts val="600"/>
              </a:spcAft>
            </a:pPr>
            <a:r>
              <a:rPr sz="1600" b="0">
                <a:solidFill>
                  <a:srgbClr val="C5CED6"/>
                </a:solidFill>
                <a:latin typeface="Malgun Gothic"/>
                <a:ea typeface="Malgun Gothic"/>
              </a:rPr>
              <a:t>•  업무를 멈추지 않는다</a:t>
            </a:r>
          </a:p>
          <a:p>
            <a:pPr>
              <a:spcAft>
                <a:spcPts val="600"/>
              </a:spcAft>
            </a:pPr>
            <a:r>
              <a:rPr sz="1600" b="0">
                <a:solidFill>
                  <a:srgbClr val="C5CED6"/>
                </a:solidFill>
                <a:latin typeface="Malgun Gothic"/>
                <a:ea typeface="Malgun Gothic"/>
              </a:rPr>
              <a:t>•  NOLOGGING 유형은 복구되지 않는다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RECOVER BLOCK</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두 가지 방식</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특정 블록 지정</a:t>
            </a:r>
          </a:p>
          <a:p>
            <a:pPr>
              <a:spcAft>
                <a:spcPts val="0"/>
              </a:spcAft>
            </a:pPr>
            <a:r>
              <a:rPr sz="1250" b="0">
                <a:solidFill>
                  <a:srgbClr val="E6E6E6"/>
                </a:solidFill>
                <a:latin typeface="Consolas"/>
                <a:ea typeface="Consolas"/>
              </a:rPr>
              <a:t>RMAN&gt; RECOVER DATAFILE 7 BLOCK 142;</a:t>
            </a:r>
          </a:p>
          <a:p>
            <a:pPr>
              <a:spcAft>
                <a:spcPts val="0"/>
              </a:spcAft>
            </a:pPr>
            <a:r>
              <a:rPr sz="1250" b="0">
                <a:solidFill>
                  <a:srgbClr val="E6E6E6"/>
                </a:solidFill>
                <a:latin typeface="Consolas"/>
                <a:ea typeface="Consolas"/>
              </a:rPr>
              <a:t>RMAN&gt; RECOVER DATAFILE 7 BLOCK 142 TO 144;</a:t>
            </a:r>
          </a:p>
          <a:p>
            <a:pPr>
              <a:spcAft>
                <a:spcPts val="0"/>
              </a:spcAft>
            </a:pPr>
            <a:r>
              <a:rPr sz="1250" b="0">
                <a:solidFill>
                  <a:srgbClr val="E6E6E6"/>
                </a:solidFill>
                <a:latin typeface="Consolas"/>
                <a:ea typeface="Consolas"/>
              </a:rPr>
              <a:t>RMAN&gt; RECOVER DATAFILE 7 BLOCK 142, 150, 201;</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손상 목록 전체를 한 번에</a:t>
            </a:r>
          </a:p>
          <a:p>
            <a:pPr>
              <a:spcAft>
                <a:spcPts val="0"/>
              </a:spcAft>
            </a:pPr>
            <a:r>
              <a:rPr sz="1250" b="0">
                <a:solidFill>
                  <a:srgbClr val="E6E6E6"/>
                </a:solidFill>
                <a:latin typeface="Consolas"/>
                <a:ea typeface="Consolas"/>
              </a:rPr>
              <a:t>RMAN&gt; VALIDATE DATABASE;</a:t>
            </a:r>
          </a:p>
          <a:p>
            <a:pPr>
              <a:spcAft>
                <a:spcPts val="0"/>
              </a:spcAft>
            </a:pPr>
            <a:r>
              <a:rPr sz="1250" b="0">
                <a:solidFill>
                  <a:srgbClr val="E6E6E6"/>
                </a:solidFill>
                <a:latin typeface="Consolas"/>
                <a:ea typeface="Consolas"/>
              </a:rPr>
              <a:t>RMAN&gt; RECOVER CORRUPTION LIST;</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Starting recover at 18-MAY-25</a:t>
            </a:r>
          </a:p>
          <a:p>
            <a:pPr>
              <a:spcAft>
                <a:spcPts val="0"/>
              </a:spcAft>
            </a:pPr>
            <a:r>
              <a:rPr sz="1250" b="0">
                <a:solidFill>
                  <a:srgbClr val="E6E6E6"/>
                </a:solidFill>
                <a:latin typeface="Consolas"/>
                <a:ea typeface="Consolas"/>
              </a:rPr>
              <a:t>channel ORA_DISK_1: restoring block(s)</a:t>
            </a:r>
          </a:p>
          <a:p>
            <a:pPr>
              <a:spcAft>
                <a:spcPts val="0"/>
              </a:spcAft>
            </a:pPr>
            <a:r>
              <a:rPr sz="1250" b="0">
                <a:solidFill>
                  <a:srgbClr val="E6E6E6"/>
                </a:solidFill>
                <a:latin typeface="Consolas"/>
                <a:ea typeface="Consolas"/>
              </a:rPr>
              <a:t>starting media recovery</a:t>
            </a:r>
          </a:p>
          <a:p>
            <a:pPr>
              <a:spcAft>
                <a:spcPts val="0"/>
              </a:spcAft>
            </a:pPr>
            <a:r>
              <a:rPr sz="1250" b="0">
                <a:solidFill>
                  <a:srgbClr val="E6E6E6"/>
                </a:solidFill>
                <a:latin typeface="Consolas"/>
                <a:ea typeface="Consolas"/>
              </a:rPr>
              <a:t>media recovery complete, elapsed time: 00:00:02</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COUNT(*) FROM v$database_block_corruption;   -- 0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블록 복구와 파일 복구 비교</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판단 기준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구분          | 블록 복구              | 파일 복구</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대상          | 손상된 블록만          | 파일 전체</a:t>
            </a:r>
          </a:p>
          <a:p>
            <a:pPr>
              <a:spcAft>
                <a:spcPts val="0"/>
              </a:spcAft>
            </a:pPr>
            <a:r>
              <a:rPr sz="1250" b="0">
                <a:solidFill>
                  <a:srgbClr val="E6E6E6"/>
                </a:solidFill>
                <a:latin typeface="Consolas"/>
                <a:ea typeface="Consolas"/>
              </a:rPr>
              <a:t>읽는 양       | KB 단위                | 파일 크기 전체</a:t>
            </a:r>
          </a:p>
          <a:p>
            <a:pPr>
              <a:spcAft>
                <a:spcPts val="0"/>
              </a:spcAft>
            </a:pPr>
            <a:r>
              <a:rPr sz="1250" b="0">
                <a:solidFill>
                  <a:srgbClr val="E6E6E6"/>
                </a:solidFill>
                <a:latin typeface="Consolas"/>
                <a:ea typeface="Consolas"/>
              </a:rPr>
              <a:t>소요 시간     | 수 초                  | 크기에 비례</a:t>
            </a:r>
          </a:p>
          <a:p>
            <a:pPr>
              <a:spcAft>
                <a:spcPts val="0"/>
              </a:spcAft>
            </a:pPr>
            <a:r>
              <a:rPr sz="1250" b="0">
                <a:solidFill>
                  <a:srgbClr val="E6E6E6"/>
                </a:solidFill>
                <a:latin typeface="Consolas"/>
                <a:ea typeface="Consolas"/>
              </a:rPr>
              <a:t>OFFLINE 필요  | 불필요                 | 필요</a:t>
            </a:r>
          </a:p>
          <a:p>
            <a:pPr>
              <a:spcAft>
                <a:spcPts val="0"/>
              </a:spcAft>
            </a:pPr>
            <a:r>
              <a:rPr sz="1250" b="0">
                <a:solidFill>
                  <a:srgbClr val="E6E6E6"/>
                </a:solidFill>
                <a:latin typeface="Consolas"/>
                <a:ea typeface="Consolas"/>
              </a:rPr>
              <a:t>업무 영향     | 그 블록을 읽는 세션만  | 해당 TS 전체 중단</a:t>
            </a:r>
          </a:p>
          <a:p>
            <a:pPr>
              <a:spcAft>
                <a:spcPts val="0"/>
              </a:spcAft>
            </a:pPr>
            <a:r>
              <a:rPr sz="1250" b="0">
                <a:solidFill>
                  <a:srgbClr val="E6E6E6"/>
                </a:solidFill>
                <a:latin typeface="Consolas"/>
                <a:ea typeface="Consolas"/>
              </a:rPr>
              <a:t>적합한 상황   | 손상 수십 개 이하      | 손상이 파일 전반</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복구가 불가능한 경우와 우회</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블록 복구가 성립하지 않는 조건</a:t>
            </a:r>
          </a:p>
          <a:p>
            <a:pPr>
              <a:spcAft>
                <a:spcPts val="600"/>
              </a:spcAft>
            </a:pPr>
            <a:r>
              <a:rPr sz="1600" b="0">
                <a:solidFill>
                  <a:srgbClr val="5A6672"/>
                </a:solidFill>
                <a:latin typeface="Malgun Gothic"/>
                <a:ea typeface="Malgun Gothic"/>
              </a:rPr>
              <a:t>    –  백업에도 같은 블록이 손상된 경우</a:t>
            </a:r>
          </a:p>
          <a:p>
            <a:pPr>
              <a:spcAft>
                <a:spcPts val="600"/>
              </a:spcAft>
            </a:pPr>
            <a:r>
              <a:rPr sz="1600" b="0">
                <a:solidFill>
                  <a:srgbClr val="5A6672"/>
                </a:solidFill>
                <a:latin typeface="Malgun Gothic"/>
                <a:ea typeface="Malgun Gothic"/>
              </a:rPr>
              <a:t>    –  아카이브가 결손된 경우</a:t>
            </a:r>
          </a:p>
          <a:p>
            <a:pPr>
              <a:spcAft>
                <a:spcPts val="600"/>
              </a:spcAft>
            </a:pPr>
            <a:r>
              <a:rPr sz="1600" b="0">
                <a:solidFill>
                  <a:srgbClr val="5A6672"/>
                </a:solidFill>
                <a:latin typeface="Malgun Gothic"/>
                <a:ea typeface="Malgun Gothic"/>
              </a:rPr>
              <a:t>    –  NOLOGGING으로 적재되어 리두에 내용이 없는 경우</a:t>
            </a:r>
          </a:p>
          <a:p>
            <a:pPr>
              <a:spcAft>
                <a:spcPts val="600"/>
              </a:spcAft>
            </a:pPr>
            <a:r>
              <a:rPr sz="1800" b="0">
                <a:solidFill>
                  <a:srgbClr val="202830"/>
                </a:solidFill>
                <a:latin typeface="Malgun Gothic"/>
                <a:ea typeface="Malgun Gothic"/>
              </a:rPr>
              <a:t>•  임시 우회 — DBMS_REPAIR.skip_corrupt_blocks</a:t>
            </a:r>
          </a:p>
          <a:p>
            <a:pPr>
              <a:spcAft>
                <a:spcPts val="600"/>
              </a:spcAft>
            </a:pPr>
            <a:r>
              <a:rPr sz="1600" b="0">
                <a:solidFill>
                  <a:srgbClr val="5A6672"/>
                </a:solidFill>
                <a:latin typeface="Malgun Gothic"/>
                <a:ea typeface="Malgun Gothic"/>
              </a:rPr>
              <a:t>    –  손상 블록을 건너뛰고 조회한다 (그 행은 손실)</a:t>
            </a:r>
          </a:p>
          <a:p>
            <a:pPr>
              <a:spcAft>
                <a:spcPts val="600"/>
              </a:spcAft>
            </a:pPr>
            <a:r>
              <a:rPr sz="1600" b="0">
                <a:solidFill>
                  <a:srgbClr val="5A6672"/>
                </a:solidFill>
                <a:latin typeface="Malgun Gothic"/>
                <a:ea typeface="Malgun Gothic"/>
              </a:rPr>
              <a:t>    –  마지막 수단이며 복구 가능해지면 즉시 되돌린다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16.5</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Data Recovery Advisor</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감지된 장애를 목록으로 관리한다</a:t>
            </a:r>
          </a:p>
          <a:p>
            <a:pPr>
              <a:spcAft>
                <a:spcPts val="600"/>
              </a:spcAft>
            </a:pPr>
            <a:r>
              <a:rPr sz="1600" b="0">
                <a:solidFill>
                  <a:srgbClr val="C5CED6"/>
                </a:solidFill>
                <a:latin typeface="Malgun Gothic"/>
                <a:ea typeface="Malgun Gothic"/>
              </a:rPr>
              <a:t>•  조치안과 스크립트를 제시한다</a:t>
            </a:r>
          </a:p>
          <a:p>
            <a:pPr>
              <a:spcAft>
                <a:spcPts val="600"/>
              </a:spcAft>
            </a:pPr>
            <a:r>
              <a:rPr sz="1600" b="0">
                <a:solidFill>
                  <a:srgbClr val="C5CED6"/>
                </a:solidFill>
                <a:latin typeface="Malgun Gothic"/>
                <a:ea typeface="Malgun Gothic"/>
              </a:rPr>
              <a:t>•  판단은 여전히 사람의 몫</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LIST / ADVISE / REPAIR</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네 명령의 흐름</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RMAN&gt; LIST FAILURE;</a:t>
            </a:r>
          </a:p>
          <a:p>
            <a:pPr>
              <a:spcAft>
                <a:spcPts val="0"/>
              </a:spcAft>
            </a:pPr>
            <a:r>
              <a:rPr sz="1250" b="0">
                <a:solidFill>
                  <a:srgbClr val="E6E6E6"/>
                </a:solidFill>
                <a:latin typeface="Consolas"/>
                <a:ea typeface="Consolas"/>
              </a:rPr>
              <a:t>Failure ID Priority Status    Time Detected Summary</a:t>
            </a:r>
          </a:p>
          <a:p>
            <a:pPr>
              <a:spcAft>
                <a:spcPts val="0"/>
              </a:spcAft>
            </a:pPr>
            <a:r>
              <a:rPr sz="1250" b="0">
                <a:solidFill>
                  <a:srgbClr val="7EC699"/>
                </a:solidFill>
                <a:latin typeface="Consolas"/>
                <a:ea typeface="Consolas"/>
              </a:rPr>
              <a:t>---------- -------- --------- ------------- ------------------------</a:t>
            </a:r>
          </a:p>
          <a:p>
            <a:pPr>
              <a:spcAft>
                <a:spcPts val="0"/>
              </a:spcAft>
            </a:pPr>
            <a:r>
              <a:rPr sz="1250" b="0">
                <a:solidFill>
                  <a:srgbClr val="E6E6E6"/>
                </a:solidFill>
                <a:latin typeface="Consolas"/>
                <a:ea typeface="Consolas"/>
              </a:rPr>
              <a:t>142        HIGH     OPEN      18-MAY-25     One or more non-system</a:t>
            </a:r>
          </a:p>
          <a:p>
            <a:pPr>
              <a:spcAft>
                <a:spcPts val="0"/>
              </a:spcAft>
            </a:pPr>
            <a:r>
              <a:rPr sz="1250" b="0">
                <a:solidFill>
                  <a:srgbClr val="E6E6E6"/>
                </a:solidFill>
                <a:latin typeface="Consolas"/>
                <a:ea typeface="Consolas"/>
              </a:rPr>
              <a:t>                                            datafiles are missing</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ADVISE FAILURE;</a:t>
            </a:r>
          </a:p>
          <a:p>
            <a:pPr>
              <a:spcAft>
                <a:spcPts val="0"/>
              </a:spcAft>
            </a:pPr>
            <a:r>
              <a:rPr sz="1250" b="0">
                <a:solidFill>
                  <a:srgbClr val="E6E6E6"/>
                </a:solidFill>
                <a:latin typeface="Consolas"/>
                <a:ea typeface="Consolas"/>
              </a:rPr>
              <a:t>Optional Manual Actions</a:t>
            </a:r>
          </a:p>
          <a:p>
            <a:pPr>
              <a:spcAft>
                <a:spcPts val="0"/>
              </a:spcAft>
            </a:pPr>
            <a:r>
              <a:rPr sz="1250" b="0">
                <a:solidFill>
                  <a:srgbClr val="E6E6E6"/>
                </a:solidFill>
                <a:latin typeface="Consolas"/>
                <a:ea typeface="Consolas"/>
              </a:rPr>
              <a:t>1. If file ... was unintentionally renamed or moved, restore it</a:t>
            </a:r>
          </a:p>
          <a:p>
            <a:pPr>
              <a:spcAft>
                <a:spcPts val="0"/>
              </a:spcAft>
            </a:pPr>
            <a:r>
              <a:rPr sz="1250" b="0">
                <a:solidFill>
                  <a:srgbClr val="E6E6E6"/>
                </a:solidFill>
                <a:latin typeface="Consolas"/>
                <a:ea typeface="Consolas"/>
              </a:rPr>
              <a:t>Automated Repair Options</a:t>
            </a:r>
          </a:p>
          <a:p>
            <a:pPr>
              <a:spcAft>
                <a:spcPts val="0"/>
              </a:spcAft>
            </a:pPr>
            <a:r>
              <a:rPr sz="1250" b="0">
                <a:solidFill>
                  <a:srgbClr val="E6E6E6"/>
                </a:solidFill>
                <a:latin typeface="Consolas"/>
                <a:ea typeface="Consolas"/>
              </a:rPr>
              <a:t>1      Restore and recover datafile 7</a:t>
            </a:r>
          </a:p>
          <a:p>
            <a:pPr>
              <a:spcAft>
                <a:spcPts val="0"/>
              </a:spcAft>
            </a:pPr>
            <a:r>
              <a:rPr sz="1250" b="0">
                <a:solidFill>
                  <a:srgbClr val="E6E6E6"/>
                </a:solidFill>
                <a:latin typeface="Consolas"/>
                <a:ea typeface="Consolas"/>
              </a:rPr>
              <a:t>  Strategy: complete media recovery with no data loss</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REPAIR FAILURE PREVIEW;      -- 스크립트 확인</a:t>
            </a:r>
          </a:p>
          <a:p>
            <a:pPr>
              <a:spcAft>
                <a:spcPts val="0"/>
              </a:spcAft>
            </a:pPr>
            <a:r>
              <a:rPr sz="1250" b="0">
                <a:solidFill>
                  <a:srgbClr val="E6E6E6"/>
                </a:solidFill>
                <a:latin typeface="Consolas"/>
                <a:ea typeface="Consolas"/>
              </a:rPr>
              <a:t>RMAN&gt; REPAIR FAILURE;              -- 실행</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DRA 제시안과 15장 절차</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특별한 방법이 아니다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감지된 장애              | DRA 제시 스크립트</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일반 데이터파일 부재     | DATAFILE OFFLINE → RESTORE → RECOVER</a:t>
            </a:r>
          </a:p>
          <a:p>
            <a:pPr>
              <a:spcAft>
                <a:spcPts val="0"/>
              </a:spcAft>
            </a:pPr>
            <a:r>
              <a:rPr sz="1250" b="0">
                <a:solidFill>
                  <a:srgbClr val="E6E6E6"/>
                </a:solidFill>
                <a:latin typeface="Consolas"/>
                <a:ea typeface="Consolas"/>
              </a:rPr>
              <a:t>                         | → DATAFILE ONLINE</a:t>
            </a:r>
          </a:p>
          <a:p>
            <a:pPr>
              <a:spcAft>
                <a:spcPts val="0"/>
              </a:spcAft>
            </a:pPr>
            <a:r>
              <a:rPr sz="1250" b="0">
                <a:solidFill>
                  <a:srgbClr val="E6E6E6"/>
                </a:solidFill>
                <a:latin typeface="Consolas"/>
                <a:ea typeface="Consolas"/>
              </a:rPr>
              <a:t>SYSTEM 데이터파일 부재   | (MOUNT 요구) RESTORE → RECOVER</a:t>
            </a:r>
          </a:p>
          <a:p>
            <a:pPr>
              <a:spcAft>
                <a:spcPts val="0"/>
              </a:spcAft>
            </a:pPr>
            <a:r>
              <a:rPr sz="1250" b="0">
                <a:solidFill>
                  <a:srgbClr val="E6E6E6"/>
                </a:solidFill>
                <a:latin typeface="Consolas"/>
                <a:ea typeface="Consolas"/>
              </a:rPr>
              <a:t>컨트롤파일 부재          | RESTORE CONTROLFILE FROM AUTOBACKUP</a:t>
            </a:r>
          </a:p>
          <a:p>
            <a:pPr>
              <a:spcAft>
                <a:spcPts val="0"/>
              </a:spcAft>
            </a:pPr>
            <a:r>
              <a:rPr sz="1250" b="0">
                <a:solidFill>
                  <a:srgbClr val="E6E6E6"/>
                </a:solidFill>
                <a:latin typeface="Consolas"/>
                <a:ea typeface="Consolas"/>
              </a:rPr>
              <a:t>                         | → MOUNT → RECOVER → OPEN RESETLOGS</a:t>
            </a:r>
          </a:p>
          <a:p>
            <a:pPr>
              <a:spcAft>
                <a:spcPts val="0"/>
              </a:spcAft>
            </a:pPr>
            <a:r>
              <a:rPr sz="1250" b="0">
                <a:solidFill>
                  <a:srgbClr val="E6E6E6"/>
                </a:solidFill>
                <a:latin typeface="Consolas"/>
                <a:ea typeface="Consolas"/>
              </a:rPr>
              <a:t>블록 손상                | RECOVER ... BLOCK</a:t>
            </a:r>
          </a:p>
          <a:p>
            <a:pPr>
              <a:spcAft>
                <a:spcPts val="0"/>
              </a:spcAft>
            </a:pPr>
            <a:r>
              <a:rPr sz="1250" b="0">
                <a:solidFill>
                  <a:srgbClr val="E6E6E6"/>
                </a:solidFill>
                <a:latin typeface="Consolas"/>
                <a:ea typeface="Consolas"/>
              </a:rPr>
              <a:t>온라인 리두 그룹 부재    | ALTER DATABASE CLEAR LOGFILE GROUP 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DRA를 안전하게 쓰는 방법</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LIST FAILURE로 상황 파악까지만 쓴다</a:t>
            </a:r>
          </a:p>
          <a:p>
            <a:pPr>
              <a:spcAft>
                <a:spcPts val="600"/>
              </a:spcAft>
            </a:pPr>
            <a:r>
              <a:rPr sz="1800" b="0">
                <a:solidFill>
                  <a:srgbClr val="202830"/>
                </a:solidFill>
                <a:latin typeface="Malgun Gothic"/>
                <a:ea typeface="Malgun Gothic"/>
              </a:rPr>
              <a:t>•  ADVISE FAILURE로 조치안을 참고한다</a:t>
            </a:r>
          </a:p>
          <a:p>
            <a:pPr>
              <a:spcAft>
                <a:spcPts val="600"/>
              </a:spcAft>
            </a:pPr>
            <a:r>
              <a:rPr sz="1800" b="0">
                <a:solidFill>
                  <a:srgbClr val="202830"/>
                </a:solidFill>
                <a:latin typeface="Malgun Gothic"/>
                <a:ea typeface="Malgun Gothic"/>
              </a:rPr>
              <a:t>•  REPAIR FAILURE PREVIEW로 내용을 확인한다</a:t>
            </a:r>
          </a:p>
          <a:p>
            <a:pPr>
              <a:spcAft>
                <a:spcPts val="600"/>
              </a:spcAft>
            </a:pPr>
            <a:r>
              <a:rPr sz="1800" b="0">
                <a:solidFill>
                  <a:srgbClr val="202830"/>
                </a:solidFill>
                <a:latin typeface="Malgun Gothic"/>
                <a:ea typeface="Malgun Gothic"/>
              </a:rPr>
              <a:t>•  직접 판단한 뒤 필요하면 스크립트를 수정해 실행</a:t>
            </a:r>
          </a:p>
          <a:p>
            <a:pPr>
              <a:spcAft>
                <a:spcPts val="600"/>
              </a:spcAft>
            </a:pPr>
            <a:r>
              <a:rPr sz="1800" b="0">
                <a:solidFill>
                  <a:srgbClr val="202830"/>
                </a:solidFill>
                <a:latin typeface="Malgun Gothic"/>
                <a:ea typeface="Malgun Gothic"/>
              </a:rPr>
              <a:t>•  여러 장애가 있으면 CRITICAL부터</a:t>
            </a:r>
          </a:p>
          <a:p>
            <a:pPr>
              <a:spcAft>
                <a:spcPts val="600"/>
              </a:spcAft>
            </a:pPr>
            <a:r>
              <a:rPr sz="1800" b="0">
                <a:solidFill>
                  <a:srgbClr val="202830"/>
                </a:solidFill>
                <a:latin typeface="Malgun Gothic"/>
                <a:ea typeface="Malgun Gothic"/>
              </a:rPr>
              <a:t>•  해결된 장애는 CHANGE FAILURE ... CLOSE 로 정리</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고급 복구 판단표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범위를 좁힐수록 영향이 적다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상황                         | 조치                       | 영향</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테이블 하나, 며칠 전 시점    | RECOVER TABLE ... UNTIL    | 없음</a:t>
            </a:r>
          </a:p>
          <a:p>
            <a:pPr>
              <a:spcAft>
                <a:spcPts val="0"/>
              </a:spcAft>
            </a:pPr>
            <a:r>
              <a:rPr sz="1250" b="0">
                <a:solidFill>
                  <a:srgbClr val="E6E6E6"/>
                </a:solidFill>
                <a:latin typeface="Consolas"/>
                <a:ea typeface="Consolas"/>
              </a:rPr>
              <a:t>테이블 하나, 몇 분 전        | Flashback (18장)           | 없음</a:t>
            </a:r>
          </a:p>
          <a:p>
            <a:pPr>
              <a:spcAft>
                <a:spcPts val="0"/>
              </a:spcAft>
            </a:pPr>
            <a:r>
              <a:rPr sz="1250" b="0">
                <a:solidFill>
                  <a:srgbClr val="E6E6E6"/>
                </a:solidFill>
                <a:latin typeface="Consolas"/>
                <a:ea typeface="Consolas"/>
              </a:rPr>
              <a:t>TS 전체, 과거 시점           | TSPITR                     | 해당 TS</a:t>
            </a:r>
          </a:p>
          <a:p>
            <a:pPr>
              <a:spcAft>
                <a:spcPts val="0"/>
              </a:spcAft>
            </a:pPr>
            <a:r>
              <a:rPr sz="1250" b="0">
                <a:solidFill>
                  <a:srgbClr val="E6E6E6"/>
                </a:solidFill>
                <a:latin typeface="Consolas"/>
                <a:ea typeface="Consolas"/>
              </a:rPr>
              <a:t>spfile 손상                  | 임시 pfile + RESTORE SPFILE| 전면 중단</a:t>
            </a:r>
          </a:p>
          <a:p>
            <a:pPr>
              <a:spcAft>
                <a:spcPts val="0"/>
              </a:spcAft>
            </a:pPr>
            <a:r>
              <a:rPr sz="1250" b="0">
                <a:solidFill>
                  <a:srgbClr val="E6E6E6"/>
                </a:solidFill>
                <a:latin typeface="Consolas"/>
                <a:ea typeface="Consolas"/>
              </a:rPr>
              <a:t>파라미터 오류로 기동 불가    | pfile 변환 후 수정         | 전면 중단</a:t>
            </a:r>
          </a:p>
          <a:p>
            <a:pPr>
              <a:spcAft>
                <a:spcPts val="0"/>
              </a:spcAft>
            </a:pPr>
            <a:r>
              <a:rPr sz="1250" b="0">
                <a:solidFill>
                  <a:srgbClr val="E6E6E6"/>
                </a:solidFill>
                <a:latin typeface="Consolas"/>
                <a:ea typeface="Consolas"/>
              </a:rPr>
              <a:t>블록 몇 개 손상              | RECOVER ... BLOCK          | 없음</a:t>
            </a:r>
          </a:p>
          <a:p>
            <a:pPr>
              <a:spcAft>
                <a:spcPts val="0"/>
              </a:spcAft>
            </a:pPr>
            <a:r>
              <a:rPr sz="1250" b="0">
                <a:solidFill>
                  <a:srgbClr val="E6E6E6"/>
                </a:solidFill>
                <a:latin typeface="Consolas"/>
                <a:ea typeface="Consolas"/>
              </a:rPr>
              <a:t>손상 목록 전체               | RECOVER CORRUPTION LIST    | 없음</a:t>
            </a:r>
          </a:p>
          <a:p>
            <a:pPr>
              <a:spcAft>
                <a:spcPts val="0"/>
              </a:spcAft>
            </a:pPr>
            <a:r>
              <a:rPr sz="1250" b="0">
                <a:solidFill>
                  <a:srgbClr val="E6E6E6"/>
                </a:solidFill>
                <a:latin typeface="Consolas"/>
                <a:ea typeface="Consolas"/>
              </a:rPr>
              <a:t>NOLOGGING 블록               | 재적재                     | 해당 객체</a:t>
            </a:r>
          </a:p>
          <a:p>
            <a:pPr>
              <a:spcAft>
                <a:spcPts val="0"/>
              </a:spcAft>
            </a:pPr>
            <a:r>
              <a:rPr sz="1250" b="0">
                <a:solidFill>
                  <a:srgbClr val="E6E6E6"/>
                </a:solidFill>
                <a:latin typeface="Consolas"/>
                <a:ea typeface="Consolas"/>
              </a:rPr>
              <a:t>블록 다수 손상               | 파일 단위 복구             | 해당 파일</a:t>
            </a:r>
          </a:p>
          <a:p>
            <a:pPr>
              <a:spcAft>
                <a:spcPts val="0"/>
              </a:spcAft>
            </a:pPr>
            <a:r>
              <a:rPr sz="1250" b="0">
                <a:solidFill>
                  <a:srgbClr val="E6E6E6"/>
                </a:solidFill>
                <a:latin typeface="Consolas"/>
                <a:ea typeface="Consolas"/>
              </a:rPr>
              <a:t>진단이 막막할 때             | LIST/ADVISE FAILURE        | 없음</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수동 절차와의 대응</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17장에서 손으로 수행한다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RECOVER TABLE이 없던 시절의 절차</a:t>
            </a:r>
          </a:p>
          <a:p>
            <a:pPr>
              <a:spcAft>
                <a:spcPts val="0"/>
              </a:spcAft>
            </a:pPr>
            <a:r>
              <a:rPr sz="1250" b="0">
                <a:solidFill>
                  <a:srgbClr val="E6E6E6"/>
                </a:solidFill>
                <a:latin typeface="Consolas"/>
                <a:ea typeface="Consolas"/>
              </a:rPr>
              <a:t>  ① 별도 서버에 복제 데이터베이스 생성</a:t>
            </a:r>
          </a:p>
          <a:p>
            <a:pPr>
              <a:spcAft>
                <a:spcPts val="0"/>
              </a:spcAft>
            </a:pPr>
            <a:r>
              <a:rPr sz="1250" b="0">
                <a:solidFill>
                  <a:srgbClr val="E6E6E6"/>
                </a:solidFill>
                <a:latin typeface="Consolas"/>
                <a:ea typeface="Consolas"/>
              </a:rPr>
              <a:t>  ② 그 시점까지 복구해 오픈</a:t>
            </a:r>
          </a:p>
          <a:p>
            <a:pPr>
              <a:spcAft>
                <a:spcPts val="0"/>
              </a:spcAft>
            </a:pPr>
            <a:r>
              <a:rPr sz="1250" b="0">
                <a:solidFill>
                  <a:srgbClr val="E6E6E6"/>
                </a:solidFill>
                <a:latin typeface="Consolas"/>
                <a:ea typeface="Consolas"/>
              </a:rPr>
              <a:t>  ③ Data Pump로 테이블 추출</a:t>
            </a:r>
          </a:p>
          <a:p>
            <a:pPr>
              <a:spcAft>
                <a:spcPts val="0"/>
              </a:spcAft>
            </a:pPr>
            <a:r>
              <a:rPr sz="1250" b="0">
                <a:solidFill>
                  <a:srgbClr val="E6E6E6"/>
                </a:solidFill>
                <a:latin typeface="Consolas"/>
                <a:ea typeface="Consolas"/>
              </a:rPr>
              <a:t>  ④ 원본으로 반입</a:t>
            </a:r>
          </a:p>
          <a:p>
            <a:pPr>
              <a:spcAft>
                <a:spcPts val="0"/>
              </a:spcAft>
            </a:pPr>
            <a:r>
              <a:rPr sz="1250" b="0">
                <a:solidFill>
                  <a:srgbClr val="E6E6E6"/>
                </a:solidFill>
                <a:latin typeface="Consolas"/>
                <a:ea typeface="Consolas"/>
              </a:rPr>
              <a:t>  ⑤ 복제본 삭제</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지금도 수동 절차가 필요한 경우</a:t>
            </a:r>
          </a:p>
          <a:p>
            <a:pPr>
              <a:spcAft>
                <a:spcPts val="0"/>
              </a:spcAft>
            </a:pPr>
            <a:r>
              <a:rPr sz="1250" b="0">
                <a:solidFill>
                  <a:srgbClr val="E6E6E6"/>
                </a:solidFill>
                <a:latin typeface="Consolas"/>
                <a:ea typeface="Consolas"/>
              </a:rPr>
              <a:t>  SYS 스키마나 SYSTEM TS의 객체를 되살릴 때</a:t>
            </a:r>
          </a:p>
          <a:p>
            <a:pPr>
              <a:spcAft>
                <a:spcPts val="0"/>
              </a:spcAft>
            </a:pPr>
            <a:r>
              <a:rPr sz="1250" b="0">
                <a:solidFill>
                  <a:srgbClr val="E6E6E6"/>
                </a:solidFill>
                <a:latin typeface="Consolas"/>
                <a:ea typeface="Consolas"/>
              </a:rPr>
              <a:t>  보조 인스턴스를 같은 서버에 만들 수 없을 때</a:t>
            </a:r>
          </a:p>
          <a:p>
            <a:pPr>
              <a:spcAft>
                <a:spcPts val="0"/>
              </a:spcAft>
            </a:pPr>
            <a:r>
              <a:rPr sz="1250" b="0">
                <a:solidFill>
                  <a:srgbClr val="E6E6E6"/>
                </a:solidFill>
                <a:latin typeface="Consolas"/>
                <a:ea typeface="Consolas"/>
              </a:rPr>
              <a:t>  여러 테이블을 각각 다른 시점으로 되살려야 할 때</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파라미터 파일 관리 원칙</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세 겹의 대비</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① 컨트롤파일 자동 백업     — RMAN으로 복원 가능</a:t>
            </a:r>
          </a:p>
          <a:p>
            <a:pPr>
              <a:spcAft>
                <a:spcPts val="0"/>
              </a:spcAft>
            </a:pPr>
            <a:r>
              <a:rPr sz="1250" b="0">
                <a:solidFill>
                  <a:srgbClr val="E6E6E6"/>
                </a:solidFill>
                <a:latin typeface="Consolas"/>
                <a:ea typeface="Consolas"/>
              </a:rPr>
              <a:t>② pfile 텍스트 사본        — 변경 때마다 남긴다</a:t>
            </a:r>
          </a:p>
          <a:p>
            <a:pPr>
              <a:spcAft>
                <a:spcPts val="0"/>
              </a:spcAft>
            </a:pPr>
            <a:r>
              <a:rPr sz="1250" b="0">
                <a:solidFill>
                  <a:srgbClr val="E6E6E6"/>
                </a:solidFill>
                <a:latin typeface="Consolas"/>
                <a:ea typeface="Consolas"/>
              </a:rPr>
              <a:t>③ 형상 관리 저장소         — 변경 이력 추적</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[oracle@oel7v9r1 ~]$ sqlplus -s / as sysdba &lt;&lt;EOF</a:t>
            </a:r>
          </a:p>
          <a:p>
            <a:pPr>
              <a:spcAft>
                <a:spcPts val="0"/>
              </a:spcAft>
            </a:pPr>
            <a:r>
              <a:rPr sz="1250" b="0">
                <a:solidFill>
                  <a:srgbClr val="E6E6E6"/>
                </a:solidFill>
                <a:latin typeface="Consolas"/>
                <a:ea typeface="Consolas"/>
              </a:rPr>
              <a:t>&gt; CREATE PFILE='/home/oracle/backup/initorcl_$(date +%Y%m%d).ora' FROM SPFILE;</a:t>
            </a:r>
          </a:p>
          <a:p>
            <a:pPr>
              <a:spcAft>
                <a:spcPts val="0"/>
              </a:spcAft>
            </a:pPr>
            <a:r>
              <a:rPr sz="1250" b="0">
                <a:solidFill>
                  <a:srgbClr val="E6E6E6"/>
                </a:solidFill>
                <a:latin typeface="Consolas"/>
                <a:ea typeface="Consolas"/>
              </a:rPr>
              <a:t>&gt; EOF</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[oracle@oel7v9r1 ~]$ diff /home/oracle/backup/initorcl_20250510.ora \</a:t>
            </a:r>
          </a:p>
          <a:p>
            <a:pPr>
              <a:spcAft>
                <a:spcPts val="0"/>
              </a:spcAft>
            </a:pPr>
            <a:r>
              <a:rPr sz="1250" b="0">
                <a:solidFill>
                  <a:srgbClr val="E6E6E6"/>
                </a:solidFill>
                <a:latin typeface="Consolas"/>
                <a:ea typeface="Consolas"/>
              </a:rPr>
              <a:t>&gt;   /home/oracle/backup/initorcl_20250518.ora</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값이 언제 어떻게 바뀌었는지 추적할 수 있다.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범위와 소요 시간</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좁힐수록 영향이 적다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복구 범위        | 예상 소요        | 업무 영향</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블록 몇 개       | 수 초            | 없음 (해당 블록 조회만)</a:t>
            </a:r>
          </a:p>
          <a:p>
            <a:pPr>
              <a:spcAft>
                <a:spcPts val="0"/>
              </a:spcAft>
            </a:pPr>
            <a:r>
              <a:rPr sz="1250" b="0">
                <a:solidFill>
                  <a:srgbClr val="E6E6E6"/>
                </a:solidFill>
                <a:latin typeface="Consolas"/>
                <a:ea typeface="Consolas"/>
              </a:rPr>
              <a:t>테이블 하나      | 수십 분          | 없음 (별도 이름으로)</a:t>
            </a:r>
          </a:p>
          <a:p>
            <a:pPr>
              <a:spcAft>
                <a:spcPts val="0"/>
              </a:spcAft>
            </a:pPr>
            <a:r>
              <a:rPr sz="1250" b="0">
                <a:solidFill>
                  <a:srgbClr val="E6E6E6"/>
                </a:solidFill>
                <a:latin typeface="Consolas"/>
                <a:ea typeface="Consolas"/>
              </a:rPr>
              <a:t>데이터파일 하나  | 크기에 비례      | 해당 TS 중단</a:t>
            </a:r>
          </a:p>
          <a:p>
            <a:pPr>
              <a:spcAft>
                <a:spcPts val="0"/>
              </a:spcAft>
            </a:pPr>
            <a:r>
              <a:rPr sz="1250" b="0">
                <a:solidFill>
                  <a:srgbClr val="E6E6E6"/>
                </a:solidFill>
                <a:latin typeface="Consolas"/>
                <a:ea typeface="Consolas"/>
              </a:rPr>
              <a:t>테이블스페이스   | 크기에 비례      | 해당 TS 중단</a:t>
            </a:r>
          </a:p>
          <a:p>
            <a:pPr>
              <a:spcAft>
                <a:spcPts val="0"/>
              </a:spcAft>
            </a:pPr>
            <a:r>
              <a:rPr sz="1250" b="0">
                <a:solidFill>
                  <a:srgbClr val="E6E6E6"/>
                </a:solidFill>
                <a:latin typeface="Consolas"/>
                <a:ea typeface="Consolas"/>
              </a:rPr>
              <a:t>데이터베이스 전체| 전체 크기 비례   | 전면 중단</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판단에 쓰는 조회</a:t>
            </a:r>
          </a:p>
          <a:p>
            <a:pPr>
              <a:spcAft>
                <a:spcPts val="0"/>
              </a:spcAft>
            </a:pPr>
            <a:r>
              <a:rPr sz="1250" b="0">
                <a:solidFill>
                  <a:srgbClr val="E6E6E6"/>
                </a:solidFill>
                <a:latin typeface="Consolas"/>
                <a:ea typeface="Consolas"/>
              </a:rPr>
              <a:t>  v$database_block_corruption  — 손상 블록의 수와 유형</a:t>
            </a:r>
          </a:p>
          <a:p>
            <a:pPr>
              <a:spcAft>
                <a:spcPts val="0"/>
              </a:spcAft>
            </a:pPr>
            <a:r>
              <a:rPr sz="1250" b="0">
                <a:solidFill>
                  <a:srgbClr val="E6E6E6"/>
                </a:solidFill>
                <a:latin typeface="Consolas"/>
                <a:ea typeface="Consolas"/>
              </a:rPr>
              <a:t>  v$recover_file               — 복구가 필요한 파일</a:t>
            </a:r>
          </a:p>
          <a:p>
            <a:pPr>
              <a:spcAft>
                <a:spcPts val="0"/>
              </a:spcAft>
            </a:pPr>
            <a:r>
              <a:rPr sz="1250" b="0">
                <a:solidFill>
                  <a:srgbClr val="E6E6E6"/>
                </a:solidFill>
                <a:latin typeface="Consolas"/>
                <a:ea typeface="Consolas"/>
              </a:rPr>
              <a:t>  dba_extents                  — 손상 블록이 속한 객체</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1</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RECOVER TABLE의 내부 동작</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RECOVER TABLE이 내부적으로 사용하는 것은?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Flashback 영역</a:t>
            </a:r>
          </a:p>
          <a:p>
            <a:pPr>
              <a:spcAft>
                <a:spcPts val="800"/>
              </a:spcAft>
            </a:pPr>
            <a:r>
              <a:rPr sz="1700" b="0">
                <a:solidFill>
                  <a:srgbClr val="202830"/>
                </a:solidFill>
                <a:latin typeface="Malgun Gothic"/>
                <a:ea typeface="Malgun Gothic"/>
              </a:rPr>
              <a:t>보조 인스턴스와 Data Pump</a:t>
            </a:r>
          </a:p>
          <a:p>
            <a:pPr>
              <a:spcAft>
                <a:spcPts val="800"/>
              </a:spcAft>
            </a:pPr>
            <a:r>
              <a:rPr sz="1700" b="0">
                <a:solidFill>
                  <a:srgbClr val="202830"/>
                </a:solidFill>
                <a:latin typeface="Malgun Gothic"/>
                <a:ea typeface="Malgun Gothic"/>
              </a:rPr>
              <a:t>Data Guard</a:t>
            </a:r>
          </a:p>
          <a:p>
            <a:pPr>
              <a:spcAft>
                <a:spcPts val="800"/>
              </a:spcAft>
            </a:pPr>
            <a:r>
              <a:rPr sz="1700" b="0">
                <a:solidFill>
                  <a:srgbClr val="202830"/>
                </a:solidFill>
                <a:latin typeface="Malgun Gothic"/>
                <a:ea typeface="Malgun Gothic"/>
              </a:rPr>
              <a:t>카탈로그</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2</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NOLOGGING 블록의 처리</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CORRUPTION_TYPE이 NOLOGGING인 블록의 처리 방법은?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RECOVER BLOCK으로 복구</a:t>
            </a:r>
          </a:p>
          <a:p>
            <a:pPr>
              <a:spcAft>
                <a:spcPts val="800"/>
              </a:spcAft>
            </a:pPr>
            <a:r>
              <a:rPr sz="1700" b="0">
                <a:solidFill>
                  <a:srgbClr val="202830"/>
                </a:solidFill>
                <a:latin typeface="Malgun Gothic"/>
                <a:ea typeface="Malgun Gothic"/>
              </a:rPr>
              <a:t>리두에 내용이 없으므로 재적재</a:t>
            </a:r>
          </a:p>
          <a:p>
            <a:pPr>
              <a:spcAft>
                <a:spcPts val="800"/>
              </a:spcAft>
            </a:pPr>
            <a:r>
              <a:rPr sz="1700" b="0">
                <a:solidFill>
                  <a:srgbClr val="202830"/>
                </a:solidFill>
                <a:latin typeface="Malgun Gothic"/>
                <a:ea typeface="Malgun Gothic"/>
              </a:rPr>
              <a:t>DBMS_REPAIR로 복구</a:t>
            </a:r>
          </a:p>
          <a:p>
            <a:pPr>
              <a:spcAft>
                <a:spcPts val="800"/>
              </a:spcAft>
            </a:pPr>
            <a:r>
              <a:rPr sz="1700" b="0">
                <a:solidFill>
                  <a:srgbClr val="202830"/>
                </a:solidFill>
                <a:latin typeface="Malgun Gothic"/>
                <a:ea typeface="Malgun Gothic"/>
              </a:rPr>
              <a:t>파일 복구</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3</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REPAIR FAILURE 전 PREVIEW</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REPAIR FAILURE를 바로 실행하지 않고 PREVIEW를 먼저 보는 이유는?</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속도가 빨라서</a:t>
            </a:r>
          </a:p>
          <a:p>
            <a:pPr>
              <a:spcAft>
                <a:spcPts val="800"/>
              </a:spcAft>
            </a:pPr>
            <a:r>
              <a:rPr sz="1700" b="0">
                <a:solidFill>
                  <a:srgbClr val="202830"/>
                </a:solidFill>
                <a:latin typeface="Malgun Gothic"/>
                <a:ea typeface="Malgun Gothic"/>
              </a:rPr>
              <a:t>제시안이 손실을 수반할 수 있어 내용 확인이 필요하므로</a:t>
            </a:r>
          </a:p>
          <a:p>
            <a:pPr>
              <a:spcAft>
                <a:spcPts val="800"/>
              </a:spcAft>
            </a:pPr>
            <a:r>
              <a:rPr sz="1700" b="0">
                <a:solidFill>
                  <a:srgbClr val="202830"/>
                </a:solidFill>
                <a:latin typeface="Malgun Gothic"/>
                <a:ea typeface="Malgun Gothic"/>
              </a:rPr>
              <a:t>권한 때문에</a:t>
            </a:r>
          </a:p>
          <a:p>
            <a:pPr>
              <a:spcAft>
                <a:spcPts val="800"/>
              </a:spcAft>
            </a:pPr>
            <a:r>
              <a:rPr sz="1700" b="0">
                <a:solidFill>
                  <a:srgbClr val="202830"/>
                </a:solidFill>
                <a:latin typeface="Malgun Gothic"/>
                <a:ea typeface="Malgun Gothic"/>
              </a:rPr>
              <a:t>로그 기록 때문</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요약</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RECOVER TABLE은 보조 인스턴스와 Data Pump를 내부에서 쓴다</a:t>
            </a:r>
          </a:p>
          <a:p>
            <a:pPr>
              <a:spcAft>
                <a:spcPts val="600"/>
              </a:spcAft>
            </a:pPr>
            <a:r>
              <a:rPr sz="1800" b="0">
                <a:solidFill>
                  <a:srgbClr val="202830"/>
                </a:solidFill>
                <a:latin typeface="Malgun Gothic"/>
                <a:ea typeface="Malgun Gothic"/>
              </a:rPr>
              <a:t>•  REMAP TABLE을 기본으로 써 현재 테이블을 덮어쓰지 않는다</a:t>
            </a:r>
          </a:p>
          <a:p>
            <a:pPr>
              <a:spcAft>
                <a:spcPts val="600"/>
              </a:spcAft>
            </a:pPr>
            <a:r>
              <a:rPr sz="1800" b="0">
                <a:solidFill>
                  <a:srgbClr val="202830"/>
                </a:solidFill>
                <a:latin typeface="Malgun Gothic"/>
                <a:ea typeface="Malgun Gothic"/>
              </a:rPr>
              <a:t>•  spfile은 임시 pfile로 기동한 뒤 자동 백업에서 복원한다</a:t>
            </a:r>
          </a:p>
          <a:p>
            <a:pPr>
              <a:spcAft>
                <a:spcPts val="600"/>
              </a:spcAft>
            </a:pPr>
            <a:r>
              <a:rPr sz="1800" b="0">
                <a:solidFill>
                  <a:srgbClr val="202830"/>
                </a:solidFill>
                <a:latin typeface="Malgun Gothic"/>
                <a:ea typeface="Malgun Gothic"/>
              </a:rPr>
              <a:t>•  파라미터 값 오류는 pfile로 변환해 수정한다</a:t>
            </a:r>
          </a:p>
          <a:p>
            <a:pPr>
              <a:spcAft>
                <a:spcPts val="600"/>
              </a:spcAft>
            </a:pPr>
            <a:r>
              <a:rPr sz="1800" b="0">
                <a:solidFill>
                  <a:srgbClr val="202830"/>
                </a:solidFill>
                <a:latin typeface="Malgun Gothic"/>
                <a:ea typeface="Malgun Gothic"/>
              </a:rPr>
              <a:t>•  블록 손상은 VALIDATE와 DBVERIFY로 감지한다</a:t>
            </a:r>
          </a:p>
          <a:p>
            <a:pPr>
              <a:spcAft>
                <a:spcPts val="600"/>
              </a:spcAft>
            </a:pPr>
            <a:r>
              <a:rPr sz="1800" b="0">
                <a:solidFill>
                  <a:srgbClr val="202830"/>
                </a:solidFill>
                <a:latin typeface="Malgun Gothic"/>
                <a:ea typeface="Malgun Gothic"/>
              </a:rPr>
              <a:t>•  블록 몇 개면 RECOVER BLOCK이 압도적으로 빠르다</a:t>
            </a:r>
          </a:p>
          <a:p>
            <a:pPr>
              <a:spcAft>
                <a:spcPts val="600"/>
              </a:spcAft>
            </a:pPr>
            <a:r>
              <a:rPr sz="1800" b="0">
                <a:solidFill>
                  <a:srgbClr val="202830"/>
                </a:solidFill>
                <a:latin typeface="Malgun Gothic"/>
                <a:ea typeface="Malgun Gothic"/>
              </a:rPr>
              <a:t>•  DRA는 진단을 돕지만 판단을 대신하지 않는다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 장의 결론</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복구 범위를 좁히는 것이 이 장의 주제</a:t>
            </a:r>
          </a:p>
          <a:p>
            <a:pPr>
              <a:spcAft>
                <a:spcPts val="600"/>
              </a:spcAft>
            </a:pPr>
            <a:r>
              <a:rPr sz="1600" b="0">
                <a:solidFill>
                  <a:srgbClr val="5A6672"/>
                </a:solidFill>
                <a:latin typeface="Malgun Gothic"/>
                <a:ea typeface="Malgun Gothic"/>
              </a:rPr>
              <a:t>    –  테이블 하나 · 블록 몇 개 · 파라미터 파일</a:t>
            </a:r>
          </a:p>
          <a:p>
            <a:pPr>
              <a:spcAft>
                <a:spcPts val="600"/>
              </a:spcAft>
            </a:pPr>
            <a:r>
              <a:rPr sz="1800" b="0">
                <a:solidFill>
                  <a:srgbClr val="202830"/>
                </a:solidFill>
                <a:latin typeface="Malgun Gothic"/>
                <a:ea typeface="Malgun Gothic"/>
              </a:rPr>
              <a:t>•  좁힐수록 업무 영향이 줄지만 판정이 정확해야 한다</a:t>
            </a:r>
          </a:p>
          <a:p>
            <a:pPr>
              <a:spcAft>
                <a:spcPts val="600"/>
              </a:spcAft>
            </a:pPr>
            <a:r>
              <a:rPr sz="1800" b="0">
                <a:solidFill>
                  <a:srgbClr val="202830"/>
                </a:solidFill>
                <a:latin typeface="Malgun Gothic"/>
                <a:ea typeface="Malgun Gothic"/>
              </a:rPr>
              <a:t>•  판정에 쓰는 조회 세 가지를 절차서에 적어 둔다</a:t>
            </a:r>
          </a:p>
          <a:p>
            <a:pPr>
              <a:spcAft>
                <a:spcPts val="600"/>
              </a:spcAft>
            </a:pPr>
            <a:r>
              <a:rPr sz="1800" b="0">
                <a:solidFill>
                  <a:srgbClr val="202830"/>
                </a:solidFill>
                <a:latin typeface="Malgun Gothic"/>
                <a:ea typeface="Malgun Gothic"/>
              </a:rPr>
              <a:t>•  도구가 자동화해도 판단은 사람의 몫</a:t>
            </a:r>
          </a:p>
          <a:p>
            <a:pPr>
              <a:spcAft>
                <a:spcPts val="600"/>
              </a:spcAft>
            </a:pPr>
            <a:r>
              <a:rPr sz="1600" b="0">
                <a:solidFill>
                  <a:srgbClr val="5A6672"/>
                </a:solidFill>
                <a:latin typeface="Malgun Gothic"/>
                <a:ea typeface="Malgun Gothic"/>
              </a:rPr>
              <a:t>    –  DRA의 제시안은 참고 자료다</a:t>
            </a:r>
          </a:p>
          <a:p>
            <a:pPr>
              <a:spcAft>
                <a:spcPts val="600"/>
              </a:spcAft>
            </a:pPr>
            <a:r>
              <a:rPr sz="1800" b="0">
                <a:solidFill>
                  <a:srgbClr val="202830"/>
                </a:solidFill>
                <a:latin typeface="Malgun Gothic"/>
                <a:ea typeface="Malgun Gothic"/>
              </a:rPr>
              <a:t>•  다음 장 — 복제로 같은 일을 손으로 수행</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실습 16 개요</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16-1 RECOVER TABLE  ·  16-2 보조 인스턴스 관찰</a:t>
            </a:r>
          </a:p>
          <a:p>
            <a:pPr>
              <a:spcAft>
                <a:spcPts val="600"/>
              </a:spcAft>
            </a:pPr>
            <a:r>
              <a:rPr sz="1800" b="0">
                <a:solidFill>
                  <a:srgbClr val="202830"/>
                </a:solidFill>
                <a:latin typeface="Malgun Gothic"/>
                <a:ea typeface="Malgun Gothic"/>
              </a:rPr>
              <a:t>•  16-3 spfile 복구  ·  16-4 파라미터 값 오류 복구</a:t>
            </a:r>
          </a:p>
          <a:p>
            <a:pPr>
              <a:spcAft>
                <a:spcPts val="600"/>
              </a:spcAft>
            </a:pPr>
            <a:r>
              <a:rPr sz="1800" b="0">
                <a:solidFill>
                  <a:srgbClr val="202830"/>
                </a:solidFill>
                <a:latin typeface="Malgun Gothic"/>
                <a:ea typeface="Malgun Gothic"/>
              </a:rPr>
              <a:t>•  16-5 블록 손상 재현과 VALIDATE</a:t>
            </a:r>
          </a:p>
          <a:p>
            <a:pPr>
              <a:spcAft>
                <a:spcPts val="600"/>
              </a:spcAft>
            </a:pPr>
            <a:r>
              <a:rPr sz="1800" b="0">
                <a:solidFill>
                  <a:srgbClr val="202830"/>
                </a:solidFill>
                <a:latin typeface="Malgun Gothic"/>
                <a:ea typeface="Malgun Gothic"/>
              </a:rPr>
              <a:t>•  16-6 Data Recovery Advisor</a:t>
            </a:r>
          </a:p>
          <a:p>
            <a:pPr>
              <a:spcAft>
                <a:spcPts val="600"/>
              </a:spcAft>
            </a:pPr>
            <a:r>
              <a:rPr sz="1800" b="0">
                <a:solidFill>
                  <a:srgbClr val="202830"/>
                </a:solidFill>
                <a:latin typeface="Malgun Gothic"/>
                <a:ea typeface="Malgun Gothic"/>
              </a:rPr>
              <a:t>•  16-7 RECOVER BLOCK  ·  16-8 DBVERIFY와 조기 탐지</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1F5CA8"/>
                </a:solidFill>
                <a:latin typeface="Malgun Gothic"/>
                <a:ea typeface="Malgun Gothic"/>
              </a:rPr>
              <a:t>실습 준비:</a:t>
            </a:r>
          </a:p>
          <a:p>
            <a:pPr>
              <a:spcAft>
                <a:spcPts val="0"/>
              </a:spcAft>
            </a:pPr>
            <a:r>
              <a:rPr sz="1250" b="0">
                <a:solidFill>
                  <a:srgbClr val="202830"/>
                </a:solidFill>
                <a:latin typeface="Malgun Gothic"/>
                <a:ea typeface="Malgun Gothic"/>
              </a:rPr>
              <a:t>16-1과 16-2는 보조 인스턴스용으로 수 GB의 여유 공간이 필요하다.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
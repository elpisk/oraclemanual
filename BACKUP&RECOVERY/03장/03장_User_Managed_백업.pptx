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2장에서 만든 구성 위에서 실제로 백업을 받는다. 4장부터의 모든 복구 시나리오는 여기서 받은 백업본을 출발점으로 삼으므로, 이 장의 실습 산출물은 삭제하지 않는다. OS 명령으로 파일을 직접 복사하는 User Managed 방식을 다루며, 이는 RMAN의 RESTORE·RECOVER가 내부적으로 하는 일과 같다. 손으로 한 번 해 본 사람만이 RMAN이 무엇을 대신해 주는지 알 수 있다. 본문 27,256자를 발표용으로 압축한 자료다.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목표는 '백업을 받는다'가 아니라 '쓸 수 있는 백업을 받는다'이다. 실무에서 백업 스크립트는 대부분 돌아가고 있고 파일도 쌓여 있는데, 정작 복구하려면 못 쓰는 경우가 많다. 제어 파일이 빠졌거나, 아카이브 구간이 끊겼거나, 백업 모드가 잔류한 채 받은 것이 원인이다. 다섯 목표 중 넷째와 다섯째가 그 문제를 직접 다루므로 강의 비중을 그쪽에 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절의 흐름은 '무엇을 고를 것인가(3.1) → 두 방식을 각각 수행(3.2~3.3) → 대가와 함정(3.4) → 빠진 조각 채우기(3.5) → 자동화(3.6)' 순이다. 3.4절이 이 장에서 가장 실무적인 절이며 시간이 부족해도 줄이지 않는다. 백업 모드 잔류는 겉으로 드러나지 않아 실제 장애 때까지 발견되지 않는 문제이기 때문이다. 3.6절은 실습 시간에 넘겨도 무방하다.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3.1절은 결정의 근거를 세운다. 백업 방식을 관행대로 정하는 대신 요구사항에서 도출하도록 만드는 것이 목표다. 특히 백업 주기를 RPO 문제로 오해하는 경우가 많은데, ARCHIVELOG 환경에서 RPO는 아카이브 보존이 책임지므로 주기는 복구 시간을 맞추기 위한 조절 장치라는 점을 분명히 한다. 수강생에게 현재 담당 시스템의 백업 주기와 그 근거를 물어보면 대부분 답하지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축을 곱하면 여덟 가지지만 실제로 의미 있는 것은 네 가지다. '전체+일관성 있는+온라인' 같은 조합은 성립하지 않는다. 온라인이면 SCN이 어긋나기 때문이다. 수강생에게 여덟 조합 중 몇 개가 가능한지 먼저 물어보고 하나씩 지워 가면 이해가 빠르다. 이 표가 4~12장 시나리오의 전제를 정한다.</a:t>
            </a:r>
          </a:p>
          <a:p/>
          <a:p>
            <a:r>
              <a:t>세 축을 곱하면 여덟 가지지만 실제로 의미 있는 것은 네 가지다. '전체+일관성 있는+온라인' 같은 조합은 성립하지 않는다. 온라인이면 파일 간 SCN이 어긋나기 때문이다. 수강생에게 여덟 조합 중 몇 개가 가능한지 먼저 물어보고 하나씩 지워 가면 이해가 빠르다. 이 표가 4~12장 시나리오의 전제를 정하므로 여기서 확실히 정리하고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실무에서는 '상태'가 먼저 정해진다. 서비스를 멈출 수 있느냐는 협상 대상이 아니기 때문이다. 24시간 서비스라면 온라인 백업이 강제되고, 그러면 일관성 없는 백업이 되며, ARCHIVELOG가 전제된다. 즉 '무중단 요구'가 곧 'ARCHIVELOG 요구'다. 백업 창을 확보할 수 있는 시스템만이 Cold Backup을 선택지로 가진다는 점을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온라인 리두 로그의 처리가 두 방식에서 정반대라는 점이 핵심이다. Cold에서는 반드시 포함한다. 데이터 파일과 SCN이 일치하는 상태라 함께 되돌리면 그대로 열린다. Hot에서는 반드시 제외한다. 원본 교재의 일부 예제가 *.log까지 복사하는데, 그 습관이 사고로 이어진다. 복구 작업 중 백업 디렉터리를 통째로 되돌리는 순간 CURRENT 리두가 사라진다.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1TB 데이터베이스를 주 1회 백업하고 매일 200GB 아카이브가 쌓인다면, 주말 직전 장애 시 복원 1TB에 아카이브 1.2TB 적용이라 RTO를 맞추기 어렵다. 백업을 매일로 바꾸면 적용할 아카이브가 하루치로 줄어 복구 시간이 크게 짧아진다. 증분 백업(14장)은 이 계산을 다시 바꾼다. 매일 전체를 받지 않고도 같은 효과를 낸다. 보존 두 세대 원칙도 함께 강조한다. 한 세대만 두면 백업 도중 장애 시 쓸 백업이 없다.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3.2절은 가장 단순한 백업 방식을 다룬다. 절차가 짧아 금방 끝나지만, 검증 방법과 SHUTDOWN ABORT 후 백업의 위험을 함께 다루면 시간이 충분히 채워진다. 특히 FUZZY 컬럼은 이후 장에서 백업본의 성격을 판단할 때 반복해서 쓰므로 여기서 확실히 짚는다. Cold Backup은 NOARCHIVELOG 환경의 유일한 백업 수단이라는 점도 함께 언급한다.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종료 방식이 이 절차의 전부다. NORMAL·IMMEDIATE·TRANSACTIONAL은 모두 종료 전 체크포인트를 완료해 파일 간 SCN을 일치시킨다. ABORT는 그 단계를 생략한다. 복사 경로가 /u01과 /u02 두 곳으로 나뉜 것에 주목한다. 2장에서 리두 로그를 다중화하면서 멤버를 /u02에 만들었기 때문이다. 경로가 흩어질수록 손으로 적은 스크립트는 빠뜨리기 쉬우므로 조회 결과에서 생성하는 방식이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FUZZY 컬럼이 이 슬라이드의 핵심이다. YES면 그 파일에 아직 반영되지 않은 변경이 있다는 뜻이고, 정상 종료된 데이터베이스의 파일은 NO다. Hot Backup 중 복사한 파일은 FUZZY가 YES인 상태로 저장되며 그래서 복원 후 리두 적용이 필요하다. 종료 직전 SCN을 기록해 두는 습관도 강조한다. 4장 이후 시나리오에서 '이 백업본으로 어디까지 복구되는가'를 계산할 때 그 값이 출발점이 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NOARCHIVELOG 환경에서 이 백업본은 사실상 쓸 수 없다. 리두 적용이 필요한데 그 리두가 보존되지 않기 때문이다. 더 위험한 것은 '백업이 있다'고 착각하는 상태다. 장애가 나서야 못 쓴다는 사실을 알게 된다. 안전화 절차는 간단하다. 한 번 열어 인스턴스 복구를 끝내고 정상 종료하면 FUZZY가 NO가 된다. 이 절차를 거치지 않은 백업은 폐기하는 편이 낫다. 실습 3-2에서 직접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3.3절이 이 장의 중심이다. BEGIN BACKUP이 무엇을 하고 무엇을 하지 않는지를 정확히 이해하는 것이 목표다. '쓰기를 멈춘다'는 오해가 가장 흔한데, 그러면 무중단 백업이라는 목적 자체가 성립하지 않는다는 점을 짚어 주면 스스로 정정한다.</a:t>
            </a:r>
          </a:p>
          <a:p/>
          <a:p>
            <a:r>
              <a:t>3.3절이 이 장의 중심이다. BEGIN BACKUP이 무엇을 하고 무엇을 하지 않는지를 정확히 이해하는 것이 목표다. '쓰기를 멈춘다'는 오해가 가장 흔한데, 그러면 무중단 백업이라는 목적 자체가 성립하지 않는다는 점을 짚어 주면 스스로 정정한다. 테이블스페이스 단위와 전체 단위 두 방식을 모두 보여 주되, 실무에서는 전자를 권한다는 점을 분명히 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항목이 리두 증가의 원인이자 fractured block 해결의 열쇠다. 평소에는 바뀐 바이트만 기록하지만 백업 모드에서는 블록 전체를 기록한다. 복원 후 리두를 적용할 때 깨진 블록을 통째로 덮어쓰기 위해서다. 즉 백업 모드는 fractured block을 막는 것이 아니라 생겨도 복구되게 만드는 장치다. 이 구분을 정확히 해 두면 3.4절의 리두 증가가 자연스럽게 설명된다.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v$backup이 백업 모드 상태를 알려 주는 유일한 뷰다. STATUS가 ACTIVE면 백업 모드이고 CHANGE#가 동결된 SCN, TIME이 백업 모드에 들어간 시각이다. 테이블스페이스 단위로 나눠 받으면 백업 모드에 머무는 시간이 짧아 리두 증가가 최소화된다. 전체를 한 번에 백업 모드로 두는 ALTER DATABASE BEGIN BACKUP도 있지만, 복사 시간 내내 모든 파일이 영향을 받으므로 소규모이거나 스토리지 스냅숏과 조합할 때만 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 구간의 리두가 아직 온라인 리두 로그에만 있을 수 있다는 것이 이 단계의 이유다. 아카이브해 두지 않으면 로그가 순환할 때 그 구간이 사라져 백업본을 쓸 수 없게 된다. SWITCH LOGFILE로 대체하면 안 된다. 스위치만 하고 즉시 반환되므로 아카이브가 끝나기 전에 스크립트가 다음 단계로 넘어간다. ARCHIVE LOG CURRENT는 완료까지 기다린다. 백업 스크립트는 END BACKUP, ARCHIVE LOG CURRENT, 제어 파일 백업 세 줄로 끝나야 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3.4절이 이 장에서 가장 실무적인 절이다. Hot Backup은 절차 자체보다 그 대가와 함정을 아는 것이 중요하다. 리두 증가는 예측 가능한 대가이고 백업 모드 잔류는 예측하지 못한 함정인데, 실제 장애로 이어지는 것은 후자다.</a:t>
            </a:r>
          </a:p>
          <a:p/>
          <a:p>
            <a:r>
              <a:t>3.4절이 이 장에서 가장 실무적인 절이다. Hot Backup은 절차 자체보다 그 대가와 함정을 아는 것이 중요하다. 리두 증가는 예측 가능한 대가이고 백업 모드 잔류는 예측하지 못한 함정인데, 실제 장애로 이어지는 것은 후자다. 세 개의 code 슬라이드가 이어지므로 각각의 목적을 먼저 예고하고 들어가면 흐름을 놓치지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증가 폭은 작업 성격에 따라 다르다. 한 블록 안의 여러 행을 고치면 첫 변경에만 전체 이미지가 기록되고 이후는 평소와 같지만, 넓게 흩어진 블록을 조금씩 고치면 증가 폭이 크다. 실무적 영향은 아카이브 생성량 폭증이다. 백업 시간대에만 평소의 몇 배가 되는 것은 정상이지만, 대상 공간을 평소 기준으로만 잡아 두면 백업 도중 ORA-00257이 발생해 백업과 서비스가 동시에 멈춘다. 대상 공간은 '백업 시간대 최대 생성량'을 기준으로 잡는다.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IMMEDIATE가 거부되는 것은 안전장치다. 백업 중인 파일을 닫으면 그 백업본이 무효가 되기 때문이다. ABORT는 성공하지만 다음 기동의 OPEN에서 걸린다. 백업 모드로 남은 파일의 헤더 SCN이 동결된 상태라 Oracle이 복구가 필요하다고 판단하기 때문이다. 해소는 MOUNT 상태에서 ALTER DATABASE END BACKUP 한 줄이다. 개별 파일만 해제하려면 ALTER DATABASE DATAFILE '경로' END BACKUP을 쓴다. 실습 3-5에서 직접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잔류 상태는 겉으로 정상이다. 데이터베이스는 계속 동작하고 사용자도 이상을 느끼지 못한다. 드러나는 것은 리두 생성량이 계속 많다는 점과, 다음 종료나 장애 때 오픈이 막힌다는 점이다. TIME 컬럼으로 언제부터 백업 모드였는지 확인한다. 몇 시간 이상이면 확실한 잔류다. 백업 스크립트에는 실패해도 END BACKUP이 실행되도록 보호 장치를 둔다. 셸의 trap이나 예외 처리로 마지막에 ALTER DATABASE END BACKUP을 한 번 더 호출하는 방식이 간단하다.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RMAN이 백업 모드를 쓰지 않는 이유를 여기서 설명하면 대비가 선명해진다. RMAN은 Oracle 블록 단위로 읽고 블록의 정합성을 직접 검사한다. 깨진 블록을 만나면 다시 읽으므로 fractured block 자체가 생기지 않는다. 따라서 BEGIN BACKUP이 필요 없고 리두도 늘지 않는다. 이것이 RMAN이 User Managed 방식보다 유리한 대표적 지점이며 14장에서 다시 다룬다.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3.5절은 백업을 '완성'하는 절이다. 실무에서 복구가 실패하는 원인의 대부분이 여기서 빠진 조각이다. 데이터 파일 백업은 대개 잘 되어 있고, 빠지는 것은 제어 파일 백업과 백업 구간을 덮는 아카이브다. 매니페스트 작성은 사소해 보이지만 장애 시점의 판단 시간을 크게 줄여 준다.</a:t>
            </a:r>
          </a:p>
          <a:p/>
          <a:p>
            <a:r>
              <a:t>3.5절은 백업을 완성하는 절이다. 실무에서 복구가 실패하는 원인의 대부분이 여기서 빠진 조각이다. 데이터 파일 백업은 대개 잘 되어 있고, 빠지는 것은 제어 파일 백업과 백업 구간을 덮는 아카이브다. 매니페스트 작성은 사소해 보이지만 장애 시점의 판단 시간을 크게 줄여 준다. 그 시간이 곧 서비스 중단 시간이라는 점을 연결해 주면 필요성이 와닿는다.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필요한 리두의 범위는 백업 시작 SCN부터 END BACKUP 직후 아카이브까지다. 시작 SCN은 v$backup의 CHANGE# 값이며, 이 값보다 NEXT_CHANGE#가 큰 아카이브부터 필요하다. 아카이브만 별도 위치에 두고 데이터 파일 백업본만 옮기는 구성은 위험하다. 복구 시점에 두 곳을 모두 확보할 수 있는지 미리 확인해 둔다. 백업 디렉터리에 .log 파일이 없다는 점도 함께 확인시킨다. Hot Backup에서는 의도적으로 제외한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매니페스트는 SPOOL로 간단히 만들 수 있다. SET PAGESIZE 0 FEEDBACK OFF HEADING OFF를 적용하고 필요한 값을 UNION ALL로 뽑아 파일로 남기면 된다. DBID를 반드시 포함시킨다. 제어 파일을 모두 잃었을 때 RMAN 자동 백업을 찾는 열쇠이며 15·16장에서 실제로 사용한다. 이 기록의 가치는 장애가 나 봐야 알 수 있는데, 그때는 이미 늦다는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3.6절은 앞의 내용을 자동화로 묶는다. 스크립트 자체보다 '무엇을 보호해야 하는가'가 요점이다. 종료 실패 시 복사로 넘어가지 않기, 중간 실패 시 백업 모드를 반드시 해제하기, 그리고 결과를 스스로 검증하기 세 가지다.</a:t>
            </a:r>
          </a:p>
          <a:p/>
          <a:p>
            <a:r>
              <a:t>3.6절은 앞의 내용을 자동화로 묶는다. 스크립트 자체보다 '무엇을 보호해야 하는가'가 요점이다. 종료 실패 시 복사로 넘어가지 않기, 중간 실패 시 백업 모드를 반드시 해제하기, 그리고 결과를 스스로 검증하기 세 가지다. 실습 시간이 부족하면 이 절은 스크립트를 배포하고 읽어 보게 하는 것으로 대체해도 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-e와 WHENEVER SQLERROR EXIT 1이 이 스크립트의 안전장치다. 종료가 실패했는데 복사가 진행되면 열려 있는 데이터베이스의 파일을 복사하게 되어 일관성 없는 백업본이 만들어진다. 더 나쁜 것은 그것을 정상 백업으로 오인하는 것이다. 날짜별 디렉터리를 쓰는 이유도 짚는다. 덮어쓰기 방식은 복사 중 기존 백업본이 부분적으로 지워진 상태가 되므로, 그 순간 장애가 나면 쓸 수 있는 백업이 하나도 없다.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가지 검증 항목 중 '백업 모드 잔류 0'이 가장 자주 누락된다. 겉으로 드러나지 않기 때문이다. 검증 조회 하나로 세 가지를 한 번에 볼 수 있다. v$datafile 개수, v$backup의 ACTIVE 개수, v$archived_log의 최대 시퀀스를 한 행으로 뽑으면 스크립트 로그에 남기기도 쉽다. 그리고 백업은 복원 테스트로 완성된다. 분기 1회 정도 별도 장비에서 실제로 복원해 열어 보지 않으면 그 백업이 유효한지 알 수 없다. 17장의 복제 절차가 이 테스트에 그대로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리두가 보존되지 않으므로 부분 백업과 온라인 백업이 모두 불가능하다. 부분 백업은 개별 파일을 나머지와 같은 시점으로 끌어올릴 리두를 전제하고, 온라인 백업은 백업 중 발생한 변경을 복구할 리두를 전제하기 때문이다. 정상 종료 후 전체를 복사하는 조합 하나만 성립하며, 이것이 4~7장 시나리오의 전제다.</a:t>
            </a:r>
          </a:p>
          <a:p/>
          <a:p>
            <a:r>
              <a:t>정답 (b). 리두가 보존되지 않으므로 부분 백업과 온라인 백업이 모두 불가능하다. 부분 백업은 개별 파일을 나머지와 같은 시점으로 끌어올릴 리두를 전제하고, 온라인 백업은 백업 중 발생한 변경을 복구할 리두를 전제하기 때문이다. 정상 종료 후 전체를 복사하는 조합 하나만 성립하며, 이것이 4~7장 시나리오의 전제가 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(d). 데이터 파일은 백업 모드에서도 계속 갱신된다. 동결되는 것은 헤더의 SCN뿐이다. 쓰기를 멈추면 무중단 백업이라는 목적 자체가 성립하지 않는다. (d)를 고르지 못한 수강생이 많다면 '쓰기를 멈추면 그동안 DML은 어떻게 되나'를 되물으면 스스로 정정한다. 헤더 SCN 동결과 데이터 블록 갱신이 별개라는 점이 핵심이다.</a:t>
            </a:r>
          </a:p>
          <a:p/>
          <a:p>
            <a:r>
              <a:t>정답 (d). 데이터 파일은 백업 모드에서도 계속 갱신된다. 동결되는 것은 헤더의 SCN뿐이다. 쓰기를 멈추면 무중단 백업이라는 목적 자체가 성립하지 않는다. (d)를 고르지 못한 수강생이 많다면 '쓰기를 멈추면 그동안 DML은 어떻게 되나'를 되물으면 스스로 정정한다. 헤더 SCN 동결과 데이터 블록 갱신이 별개라는 점이 이 문제의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평소에는 바뀐 부분만 기록하지만 백업 모드에서는 블록 전체가 기록된다. 복원 후 리두 적용 시 fractured block을 통째로 덮어쓰기 위해서다. 증가 폭은 작업 성격에 따라 다르다. 한 블록 안의 여러 행을 고치면 첫 변경에만 전체 이미지가 남지만, 넓게 흩어진 블록을 조금씩 고치면 증가 폭이 크다. 실습 3-4에서 직접 측정한다.</a:t>
            </a:r>
          </a:p>
          <a:p/>
          <a:p>
            <a:r>
              <a:t>정답 (b). 평소에는 바뀐 부분만 기록하지만 백업 모드에서는 블록 전체가 기록된다. 복원 후 리두 적용 시 fractured block을 통째로 덮어쓰기 위해서다. 증가 폭은 작업 성격에 따라 다르다. 한 블록 안의 여러 행을 고치면 첫 변경에만 전체 이미지가 남지만, 넓게 흩어진 블록을 조금씩 고치면 증가 폭이 크다. 실습 3-4에서 직접 측정한다.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백업 중인 파일이 있어 닫을 수 없다는 뜻이며, 백업본이 무효가 되는 것을 막는 안전장치다. ABORT는 성공하지만 다음 기동의 OPEN에서 ORA-10873이 발생한다. 해소는 MOUNT 상태에서 ALTER DATABASE END BACKUP을 수행한 뒤 OPEN 하는 것이다. 이 상황은 백업 스크립트가 중간에 실패했을 때 실제로 자주 발생한다.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복사 중에도 계속 기록되어 의미 있는 사본이 되지 않는다. 더 큰 문제는 복구 작업 중 백업 디렉터리를 통째로 되돌릴 때 현재 CURRENT 리두를 덮어써 완전 복구가 불가능해진다는 점이다. Cold Backup에서는 반대로 반드시 포함한다. 데이터 파일과 SCN이 일치하는 상태라 함께 되돌리면 일관성 있는 상태가 되어 그대로 열린다.</a:t>
            </a:r>
          </a:p>
          <a:p/>
          <a:p>
            <a:r>
              <a:t>정답 (b). 복사 중에도 계속 기록되어 의미 있는 사본이 되지 않는다. 더 큰 문제는 복구 작업 중 백업 디렉터리를 통째로 되돌릴 때 현재 CURRENT 리두를 덮어써 완전 복구가 불가능해진다는 점이다. Cold Backup에서는 반대로 반드시 포함한다. 데이터 파일과 SCN이 일치하는 상태라 함께 되돌리면 일관성 있는 상태가 되어 그대로 열린다.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백업 구간의 리두가 아직 온라인 리두에만 있을 수 있다. 아카이브해 두지 않으면 로그가 순환할 때 그 구간이 사라져 백업본을 쓸 수 없게 된다. (a)를 고르는 경우가 많은데, SWITCH LOGFILE은 스위치만 하고 즉시 반환되어 아카이브 완료를 기다리지 않는다. 스크립트에서는 다음 단계로 바로 넘어가므로 경합이 생길 수 있다. ARCHIVE LOG CURRENT는 아카이브가 끝날 때까지 대기한다.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항목이 학습 목표 다섯 가지에 모두 대응한다. 특히 네 번째의 FUZZY와 일곱 번째의 백업 모드 잔류는 이후 장에서 반복 사용되므로 여기서 확실히 정리한다. 요약을 질문 형태로 되물으면 정착률이 올라간다. 'Hot Backup에 리두 로그를 넣지 않는 이유는?' 'END BACKUP 다음에 무엇을 해야 하나?' 같은 식이다. 다음 장인 4장부터 여기서 받은 백업본으로 실제 복구를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실습은 순서대로 수행한다. 3-1과 3-2는 재기동이 잦으므로 개별 환경에서만 진행한다. 3-2는 의도적으로 일관성 없는 백업본을 만들며 실습 후 폐기한다. 3-5는 백업 모드를 남긴 채 종료를 시도하므로 반드시 해소까지 마치고 넘어가도록 확인한다. Cold 백업본은 4~7장에서, Hot 백업본은 8장 이후에서 쓰므로 서로 다른 디렉터리에 분리 보관한다. 전체 소요 시간은 60~70분으로 잡는다.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제3장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User Managed 백업</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백업 방식의 선택 · Cold Backup · Hot Backup · 부작용과 주의 · 백업 세트 완성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백업의 세 축을 조합해 상황에 맞는 백업 방식을 선택한다</a:t>
            </a:r>
          </a:p>
          <a:p>
            <a:pPr>
              <a:spcAft>
                <a:spcPts val="600"/>
              </a:spcAft>
            </a:pPr>
            <a:r>
              <a:rPr sz="1600" b="0">
                <a:solidFill>
                  <a:srgbClr val="5A6672"/>
                </a:solidFill>
                <a:latin typeface="Malgun Gothic"/>
                <a:ea typeface="Malgun Gothic"/>
              </a:rPr>
              <a:t>    –  Cold Backup을 수행하고 백업본의 SCN 일치를 확인한다</a:t>
            </a:r>
          </a:p>
          <a:p>
            <a:pPr>
              <a:spcAft>
                <a:spcPts val="600"/>
              </a:spcAft>
            </a:pPr>
            <a:r>
              <a:rPr sz="1600" b="0">
                <a:solidFill>
                  <a:srgbClr val="5A6672"/>
                </a:solidFill>
                <a:latin typeface="Malgun Gothic"/>
                <a:ea typeface="Malgun Gothic"/>
              </a:rPr>
              <a:t>    –  Hot Backup을 수행하고 BEGIN BACKUP이 무엇을 바꾸는지 설명한다</a:t>
            </a:r>
          </a:p>
          <a:p>
            <a:pPr>
              <a:spcAft>
                <a:spcPts val="600"/>
              </a:spcAft>
            </a:pPr>
            <a:r>
              <a:rPr sz="1600" b="0">
                <a:solidFill>
                  <a:srgbClr val="5A6672"/>
                </a:solidFill>
                <a:latin typeface="Malgun Gothic"/>
                <a:ea typeface="Malgun Gothic"/>
              </a:rPr>
              <a:t>    –  백업 모드가 잔류한 상태를 진단하고 해소한다</a:t>
            </a:r>
          </a:p>
          <a:p>
            <a:pPr>
              <a:spcAft>
                <a:spcPts val="600"/>
              </a:spcAft>
            </a:pPr>
            <a:r>
              <a:rPr sz="1600" b="0">
                <a:solidFill>
                  <a:srgbClr val="5A6672"/>
                </a:solidFill>
                <a:latin typeface="Malgun Gothic"/>
                <a:ea typeface="Malgun Gothic"/>
              </a:rPr>
              <a:t>    –  제어 파일과 아카이브 로그를 포함한 백업 세트를 완성한다</a:t>
            </a:r>
          </a:p>
          <a:p>
            <a:pPr>
              <a:spcAft>
                <a:spcPts val="600"/>
              </a:spcAft>
            </a:pPr>
            <a:r>
              <a:rPr sz="1800" b="0">
                <a:solidFill>
                  <a:srgbClr val="202830"/>
                </a:solidFill>
                <a:latin typeface="Malgun Gothic"/>
                <a:ea typeface="Malgun Gothic"/>
              </a:rPr>
              <a:t>•  다섯 목표는 각각 3.1 / 3.2 / 3.3 / 3.4 / 3.5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3.1  백업 방식의 선택 — 세 축 조합 · Cold/Hot 기준 · 대상 목록 · 주기와 보존</a:t>
            </a:r>
          </a:p>
          <a:p>
            <a:pPr>
              <a:spcAft>
                <a:spcPts val="600"/>
              </a:spcAft>
            </a:pPr>
            <a:r>
              <a:rPr sz="1800" b="0">
                <a:solidFill>
                  <a:srgbClr val="202830"/>
                </a:solidFill>
                <a:latin typeface="Malgun Gothic"/>
                <a:ea typeface="Malgun Gothic"/>
              </a:rPr>
              <a:t>•  3.2  Cold Backup — 절차 · SCN 일치 확인 · ABORT 후 백업의 위험</a:t>
            </a:r>
          </a:p>
          <a:p>
            <a:pPr>
              <a:spcAft>
                <a:spcPts val="600"/>
              </a:spcAft>
            </a:pPr>
            <a:r>
              <a:rPr sz="1800" b="0">
                <a:solidFill>
                  <a:srgbClr val="202830"/>
                </a:solidFill>
                <a:latin typeface="Malgun Gothic"/>
                <a:ea typeface="Malgun Gothic"/>
              </a:rPr>
              <a:t>•  3.3  Hot Backup — BEGIN BACKUP의 동작 · TS 단위/전체 단위 · 아카이브 강제</a:t>
            </a:r>
          </a:p>
          <a:p>
            <a:pPr>
              <a:spcAft>
                <a:spcPts val="600"/>
              </a:spcAft>
            </a:pPr>
            <a:r>
              <a:rPr sz="1800" b="0">
                <a:solidFill>
                  <a:srgbClr val="202830"/>
                </a:solidFill>
                <a:latin typeface="Malgun Gothic"/>
                <a:ea typeface="Malgun Gothic"/>
              </a:rPr>
              <a:t>•  3.4  부작용과 주의 — 리두 증가 · 백업 모드 잔류 · Fractured Block</a:t>
            </a:r>
          </a:p>
          <a:p>
            <a:pPr>
              <a:spcAft>
                <a:spcPts val="600"/>
              </a:spcAft>
            </a:pPr>
            <a:r>
              <a:rPr sz="1800" b="0">
                <a:solidFill>
                  <a:srgbClr val="202830"/>
                </a:solidFill>
                <a:latin typeface="Malgun Gothic"/>
                <a:ea typeface="Malgun Gothic"/>
              </a:rPr>
              <a:t>•  3.5  백업 세트 완성 — 제어 파일 · 아카이브 · 매니페스트</a:t>
            </a:r>
          </a:p>
          <a:p>
            <a:pPr>
              <a:spcAft>
                <a:spcPts val="600"/>
              </a:spcAft>
            </a:pPr>
            <a:r>
              <a:rPr sz="1800" b="0">
                <a:solidFill>
                  <a:srgbClr val="202830"/>
                </a:solidFill>
                <a:latin typeface="Malgun Gothic"/>
                <a:ea typeface="Malgun Gothic"/>
              </a:rPr>
              <a:t>•  3.6  백업 스크립트 작성 — Cold/Hot 스크립트 · 검증 항목</a:t>
            </a:r>
          </a:p>
          <a:p>
            <a:pPr>
              <a:spcAft>
                <a:spcPts val="600"/>
              </a:spcAft>
            </a:pPr>
            <a:r>
              <a:rPr sz="1800" b="0">
                <a:solidFill>
                  <a:srgbClr val="202830"/>
                </a:solidFill>
                <a:latin typeface="Malgun Gothic"/>
                <a:ea typeface="Malgun Gothic"/>
              </a:rPr>
              <a:t>•  3.7 퀴즈 · 3.8 요약 · 3.9 실습 3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이 장의 실습에서 만든 백업본은 4장 이후 모든 복구 시나리오의 출발점이 된다. 삭제하지 않는다.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3.1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백업 방식의 선택</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세 축의 가능한 조합은 로그 모드가 제한한다</a:t>
            </a:r>
          </a:p>
          <a:p>
            <a:pPr>
              <a:spcAft>
                <a:spcPts val="600"/>
              </a:spcAft>
            </a:pPr>
            <a:r>
              <a:rPr sz="1600" b="0">
                <a:solidFill>
                  <a:srgbClr val="C5CED6"/>
                </a:solidFill>
                <a:latin typeface="Malgun Gothic"/>
                <a:ea typeface="Malgun Gothic"/>
              </a:rPr>
              <a:t>•  Cold냐 Hot이냐는 백업 창 확보 여부로 갈린다</a:t>
            </a:r>
          </a:p>
          <a:p>
            <a:pPr>
              <a:spcAft>
                <a:spcPts val="600"/>
              </a:spcAft>
            </a:pPr>
            <a:r>
              <a:rPr sz="1600" b="0">
                <a:solidFill>
                  <a:srgbClr val="C5CED6"/>
                </a:solidFill>
                <a:latin typeface="Malgun Gothic"/>
                <a:ea typeface="Malgun Gothic"/>
              </a:rPr>
              <a:t>•  백업 주기는 RPO가 아니라 RTO가 결정한다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세 축의 조합</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범위 — 전체(whole) / 부분(partial)</a:t>
            </a:r>
          </a:p>
          <a:p>
            <a:pPr>
              <a:spcAft>
                <a:spcPts val="600"/>
              </a:spcAft>
            </a:pPr>
            <a:r>
              <a:rPr sz="1800" b="0">
                <a:solidFill>
                  <a:srgbClr val="202830"/>
                </a:solidFill>
                <a:latin typeface="Malgun Gothic"/>
                <a:ea typeface="Malgun Gothic"/>
              </a:rPr>
              <a:t>•  일관성 — 일관성 있음(consistent) / 없음(inconsistent)</a:t>
            </a:r>
          </a:p>
          <a:p>
            <a:pPr>
              <a:spcAft>
                <a:spcPts val="600"/>
              </a:spcAft>
            </a:pPr>
            <a:r>
              <a:rPr sz="1800" b="0">
                <a:solidFill>
                  <a:srgbClr val="202830"/>
                </a:solidFill>
                <a:latin typeface="Malgun Gothic"/>
                <a:ea typeface="Malgun Gothic"/>
              </a:rPr>
              <a:t>•  상태 — 오프라인(cold) / 온라인(hot)</a:t>
            </a:r>
          </a:p>
          <a:p>
            <a:pPr>
              <a:spcAft>
                <a:spcPts val="600"/>
              </a:spcAft>
            </a:pPr>
            <a:r>
              <a:rPr sz="1800" b="0">
                <a:solidFill>
                  <a:srgbClr val="202830"/>
                </a:solidFill>
                <a:latin typeface="Malgun Gothic"/>
                <a:ea typeface="Malgun Gothic"/>
              </a:rPr>
              <a:t>•  NOARCHIVELOG에서 성립하는 조합은 하나뿐</a:t>
            </a:r>
          </a:p>
          <a:p>
            <a:pPr>
              <a:spcAft>
                <a:spcPts val="600"/>
              </a:spcAft>
            </a:pPr>
            <a:r>
              <a:rPr sz="1600" b="0">
                <a:solidFill>
                  <a:srgbClr val="5A6672"/>
                </a:solidFill>
                <a:latin typeface="Malgun Gothic"/>
                <a:ea typeface="Malgun Gothic"/>
              </a:rPr>
              <a:t>    –  전체 + 일관성 있는 + 오프라인</a:t>
            </a:r>
          </a:p>
          <a:p>
            <a:pPr>
              <a:spcAft>
                <a:spcPts val="600"/>
              </a:spcAft>
            </a:pPr>
            <a:r>
              <a:rPr sz="1600" b="0">
                <a:solidFill>
                  <a:srgbClr val="5A6672"/>
                </a:solidFill>
                <a:latin typeface="Malgun Gothic"/>
                <a:ea typeface="Malgun Gothic"/>
              </a:rPr>
              <a:t>    –  부분 백업 불가 — 개별 파일을 최신으로 끌어올릴 리두가 없다</a:t>
            </a:r>
          </a:p>
          <a:p>
            <a:pPr>
              <a:spcAft>
                <a:spcPts val="600"/>
              </a:spcAft>
            </a:pPr>
            <a:r>
              <a:rPr sz="1600" b="0">
                <a:solidFill>
                  <a:srgbClr val="5A6672"/>
                </a:solidFill>
                <a:latin typeface="Malgun Gothic"/>
                <a:ea typeface="Malgun Gothic"/>
              </a:rPr>
              <a:t>    –  온라인 백업 불가 — 백업 중 변경을 복구할 리두가 없다</a:t>
            </a:r>
          </a:p>
          <a:p>
            <a:pPr>
              <a:spcAft>
                <a:spcPts val="600"/>
              </a:spcAft>
            </a:pPr>
            <a:r>
              <a:rPr sz="1800" b="0">
                <a:solidFill>
                  <a:srgbClr val="202830"/>
                </a:solidFill>
                <a:latin typeface="Malgun Gothic"/>
                <a:ea typeface="Malgun Gothic"/>
              </a:rPr>
              <a:t>•  ARCHIVELOG에서는 네 조합이 모두 쓰인다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Cold와 Hot의 결정 기준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Cold의 장점 — 단순함</a:t>
            </a:r>
          </a:p>
          <a:p>
            <a:pPr>
              <a:spcAft>
                <a:spcPts val="600"/>
              </a:spcAft>
            </a:pPr>
            <a:r>
              <a:rPr sz="1600" b="0">
                <a:solidFill>
                  <a:srgbClr val="5A6672"/>
                </a:solidFill>
                <a:latin typeface="Malgun Gothic"/>
                <a:ea typeface="Malgun Gothic"/>
              </a:rPr>
              <a:t>    –  복원 후 리두 적용 없이 그대로 열린다. 실수할 여지가 적다</a:t>
            </a:r>
          </a:p>
          <a:p>
            <a:pPr>
              <a:spcAft>
                <a:spcPts val="600"/>
              </a:spcAft>
            </a:pPr>
            <a:r>
              <a:rPr sz="1800" b="0">
                <a:solidFill>
                  <a:srgbClr val="202830"/>
                </a:solidFill>
                <a:latin typeface="Malgun Gothic"/>
                <a:ea typeface="Malgun Gothic"/>
              </a:rPr>
              <a:t>•  Cold의 단점 — 중단 시간</a:t>
            </a:r>
          </a:p>
          <a:p>
            <a:pPr>
              <a:spcAft>
                <a:spcPts val="600"/>
              </a:spcAft>
            </a:pPr>
            <a:r>
              <a:rPr sz="1600" b="0">
                <a:solidFill>
                  <a:srgbClr val="5A6672"/>
                </a:solidFill>
                <a:latin typeface="Malgun Gothic"/>
                <a:ea typeface="Malgun Gothic"/>
              </a:rPr>
              <a:t>    –  크기에 비례해 복사 시간이 길어지고 그 시간 전체가 서비스 중단</a:t>
            </a:r>
          </a:p>
          <a:p>
            <a:pPr>
              <a:spcAft>
                <a:spcPts val="600"/>
              </a:spcAft>
            </a:pPr>
            <a:r>
              <a:rPr sz="1800" b="0">
                <a:solidFill>
                  <a:srgbClr val="202830"/>
                </a:solidFill>
                <a:latin typeface="Malgun Gothic"/>
                <a:ea typeface="Malgun Gothic"/>
              </a:rPr>
              <a:t>•  Hot의 장점 — 무중단, 테이블스페이스 단위 분할 가능</a:t>
            </a:r>
          </a:p>
          <a:p>
            <a:pPr>
              <a:spcAft>
                <a:spcPts val="600"/>
              </a:spcAft>
            </a:pPr>
            <a:r>
              <a:rPr sz="1800" b="0">
                <a:solidFill>
                  <a:srgbClr val="202830"/>
                </a:solidFill>
                <a:latin typeface="Malgun Gothic"/>
                <a:ea typeface="Malgun Gothic"/>
              </a:rPr>
              <a:t>•  Hot의 단점 — 리두 증가, END BACKUP 누락 위험, 복원 후 리두 적용 필수</a:t>
            </a:r>
          </a:p>
          <a:p>
            <a:pPr>
              <a:spcAft>
                <a:spcPts val="600"/>
              </a:spcAft>
            </a:pPr>
            <a:r>
              <a:rPr sz="1800" b="0">
                <a:solidFill>
                  <a:srgbClr val="202830"/>
                </a:solidFill>
                <a:latin typeface="Malgun Gothic"/>
                <a:ea typeface="Malgun Gothic"/>
              </a:rPr>
              <a:t>•  선택 기준은 하나 — 백업 창을 확보할 수 있는가</a:t>
            </a:r>
          </a:p>
          <a:p>
            <a:pPr>
              <a:spcAft>
                <a:spcPts val="600"/>
              </a:spcAft>
            </a:pPr>
            <a:r>
              <a:rPr sz="1600" b="0">
                <a:solidFill>
                  <a:srgbClr val="5A6672"/>
                </a:solidFill>
                <a:latin typeface="Malgun Gothic"/>
                <a:ea typeface="Malgun Gothic"/>
              </a:rPr>
              <a:t>    –  규모가 커질수록 Cold의 중단 시간이 감당하기 어려워 Hot으로 넘어간다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대상 목록</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Cold Backup에 포함</a:t>
            </a:r>
          </a:p>
          <a:p>
            <a:pPr>
              <a:spcAft>
                <a:spcPts val="600"/>
              </a:spcAft>
            </a:pPr>
            <a:r>
              <a:rPr sz="1600" b="0">
                <a:solidFill>
                  <a:srgbClr val="5A6672"/>
                </a:solidFill>
                <a:latin typeface="Malgun Gothic"/>
                <a:ea typeface="Malgun Gothic"/>
              </a:rPr>
              <a:t>    –  모든 데이터 파일 · 제어 파일 · 온라인 리두 로그 · 파라미터 파일</a:t>
            </a:r>
          </a:p>
          <a:p>
            <a:pPr>
              <a:spcAft>
                <a:spcPts val="600"/>
              </a:spcAft>
            </a:pPr>
            <a:r>
              <a:rPr sz="1800" b="0">
                <a:solidFill>
                  <a:srgbClr val="202830"/>
                </a:solidFill>
                <a:latin typeface="Malgun Gothic"/>
                <a:ea typeface="Malgun Gothic"/>
              </a:rPr>
              <a:t>•  Hot Backup에 포함</a:t>
            </a:r>
          </a:p>
          <a:p>
            <a:pPr>
              <a:spcAft>
                <a:spcPts val="600"/>
              </a:spcAft>
            </a:pPr>
            <a:r>
              <a:rPr sz="1600" b="0">
                <a:solidFill>
                  <a:srgbClr val="5A6672"/>
                </a:solidFill>
                <a:latin typeface="Malgun Gothic"/>
                <a:ea typeface="Malgun Gothic"/>
              </a:rPr>
              <a:t>    –  모든 데이터 파일 · 제어 파일 백업 · 백업 구간을 덮는 아카이브 · 파라미터 파일</a:t>
            </a:r>
          </a:p>
          <a:p>
            <a:pPr>
              <a:spcAft>
                <a:spcPts val="600"/>
              </a:spcAft>
            </a:pPr>
            <a:r>
              <a:rPr sz="1800" b="0">
                <a:solidFill>
                  <a:srgbClr val="202830"/>
                </a:solidFill>
                <a:latin typeface="Malgun Gothic"/>
                <a:ea typeface="Malgun Gothic"/>
              </a:rPr>
              <a:t>•  Hot Backup에서 온라인 리두 로그는 복사하지 않는다</a:t>
            </a:r>
          </a:p>
          <a:p>
            <a:pPr>
              <a:spcAft>
                <a:spcPts val="600"/>
              </a:spcAft>
            </a:pPr>
            <a:r>
              <a:rPr sz="1600" b="0">
                <a:solidFill>
                  <a:srgbClr val="5A6672"/>
                </a:solidFill>
                <a:latin typeface="Malgun Gothic"/>
                <a:ea typeface="Malgun Gothic"/>
              </a:rPr>
              <a:t>    –  복사 중에도 계속 기록되어 의미 있는 사본이 되지 않는다</a:t>
            </a:r>
          </a:p>
          <a:p>
            <a:pPr>
              <a:spcAft>
                <a:spcPts val="600"/>
              </a:spcAft>
            </a:pPr>
            <a:r>
              <a:rPr sz="1600" b="0">
                <a:solidFill>
                  <a:srgbClr val="5A6672"/>
                </a:solidFill>
                <a:latin typeface="Malgun Gothic"/>
                <a:ea typeface="Malgun Gothic"/>
              </a:rPr>
              <a:t>    –  복구 중 되돌리면 CURRENT 리두를 덮어써 완전 복구가 불가능해진다</a:t>
            </a:r>
          </a:p>
          <a:p>
            <a:pPr>
              <a:spcAft>
                <a:spcPts val="600"/>
              </a:spcAft>
            </a:pPr>
            <a:r>
              <a:rPr sz="1800" b="0">
                <a:solidFill>
                  <a:srgbClr val="202830"/>
                </a:solidFill>
                <a:latin typeface="Malgun Gothic"/>
                <a:ea typeface="Malgun Gothic"/>
              </a:rPr>
              <a:t>•  TEMP 파일은 어느 방식에서도 제외 — 유실 시 재생성으로 끝난다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주기와 보존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백업 주기는 RPO가 아니라 복구 시간이 결정한다</a:t>
            </a:r>
          </a:p>
          <a:p>
            <a:pPr>
              <a:spcAft>
                <a:spcPts val="600"/>
              </a:spcAft>
            </a:pPr>
            <a:r>
              <a:rPr sz="1600" b="0">
                <a:solidFill>
                  <a:srgbClr val="5A6672"/>
                </a:solidFill>
                <a:latin typeface="Malgun Gothic"/>
                <a:ea typeface="Malgun Gothic"/>
              </a:rPr>
              <a:t>    –  ARCHIVELOG에서 RPO는 아카이브 보존이 책임진다</a:t>
            </a:r>
          </a:p>
          <a:p>
            <a:pPr>
              <a:spcAft>
                <a:spcPts val="600"/>
              </a:spcAft>
            </a:pPr>
            <a:r>
              <a:rPr sz="1600" b="0">
                <a:solidFill>
                  <a:srgbClr val="5A6672"/>
                </a:solidFill>
                <a:latin typeface="Malgun Gothic"/>
                <a:ea typeface="Malgun Gothic"/>
              </a:rPr>
              <a:t>    –  백업 간격이 길수록 적용할 아카이브가 많아져 복구가 느려진다</a:t>
            </a:r>
          </a:p>
          <a:p>
            <a:pPr>
              <a:spcAft>
                <a:spcPts val="600"/>
              </a:spcAft>
            </a:pPr>
            <a:r>
              <a:rPr sz="1800" b="0">
                <a:solidFill>
                  <a:srgbClr val="202830"/>
                </a:solidFill>
                <a:latin typeface="Malgun Gothic"/>
                <a:ea typeface="Malgun Gothic"/>
              </a:rPr>
              <a:t>•  보존은 최소 두 세대</a:t>
            </a:r>
          </a:p>
          <a:p>
            <a:pPr>
              <a:spcAft>
                <a:spcPts val="600"/>
              </a:spcAft>
            </a:pPr>
            <a:r>
              <a:rPr sz="1600" b="0">
                <a:solidFill>
                  <a:srgbClr val="5A6672"/>
                </a:solidFill>
                <a:latin typeface="Malgun Gothic"/>
                <a:ea typeface="Malgun Gothic"/>
              </a:rPr>
              <a:t>    –  최근 백업본이 손상됐을 때 되돌아갈 곳이 필요하다</a:t>
            </a:r>
          </a:p>
          <a:p>
            <a:pPr>
              <a:spcAft>
                <a:spcPts val="600"/>
              </a:spcAft>
            </a:pPr>
            <a:r>
              <a:rPr sz="1800" b="0">
                <a:solidFill>
                  <a:srgbClr val="202830"/>
                </a:solidFill>
                <a:latin typeface="Malgun Gothic"/>
                <a:ea typeface="Malgun Gothic"/>
              </a:rPr>
              <a:t>•  백업본을 덮어쓰는 방식은 위험하다</a:t>
            </a:r>
          </a:p>
          <a:p>
            <a:pPr>
              <a:spcAft>
                <a:spcPts val="600"/>
              </a:spcAft>
            </a:pPr>
            <a:r>
              <a:rPr sz="1600" b="0">
                <a:solidFill>
                  <a:srgbClr val="5A6672"/>
                </a:solidFill>
                <a:latin typeface="Malgun Gothic"/>
                <a:ea typeface="Malgun Gothic"/>
              </a:rPr>
              <a:t>    –  복사 중에는 기존 백업본이 부분적으로 지워진 상태가 된다</a:t>
            </a:r>
          </a:p>
          <a:p>
            <a:pPr>
              <a:spcAft>
                <a:spcPts val="600"/>
              </a:spcAft>
            </a:pPr>
            <a:r>
              <a:rPr sz="1600" b="0">
                <a:solidFill>
                  <a:srgbClr val="5A6672"/>
                </a:solidFill>
                <a:latin typeface="Malgun Gothic"/>
                <a:ea typeface="Malgun Gothic"/>
              </a:rPr>
              <a:t>    –  날짜별 디렉터리를 만들고 오래된 것을 나중에 지운다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3.2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Cold Backup</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정상 종료 후 전체를 복사한다</a:t>
            </a:r>
          </a:p>
          <a:p>
            <a:pPr>
              <a:spcAft>
                <a:spcPts val="600"/>
              </a:spcAft>
            </a:pPr>
            <a:r>
              <a:rPr sz="1600" b="0">
                <a:solidFill>
                  <a:srgbClr val="C5CED6"/>
                </a:solidFill>
                <a:latin typeface="Malgun Gothic"/>
                <a:ea typeface="Malgun Gothic"/>
              </a:rPr>
              <a:t>•  SCN이 모두 일치하고 FUZZY가 NO여야 한다</a:t>
            </a:r>
          </a:p>
          <a:p>
            <a:pPr>
              <a:spcAft>
                <a:spcPts val="600"/>
              </a:spcAft>
            </a:pPr>
            <a:r>
              <a:rPr sz="1600" b="0">
                <a:solidFill>
                  <a:srgbClr val="C5CED6"/>
                </a:solidFill>
                <a:latin typeface="Malgun Gothic"/>
                <a:ea typeface="Malgun Gothic"/>
              </a:rPr>
              <a:t>•  ABORT 후 받은 백업은 일관성이 없다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Cold Backup 절차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종료 → 복사 → 기동. 종료 방식이 결정적이다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-- 1) 백업 대상 확인</a:t>
            </a:r>
          </a:p>
          <a:p>
            <a:pPr>
              <a:spcAft>
                <a:spcPts val="0"/>
              </a:spcAft>
            </a:pPr>
            <a:r>
              <a:rPr sz="1250" b="0">
                <a:solidFill>
                  <a:srgbClr val="E6E6E6"/>
                </a:solidFill>
                <a:latin typeface="Consolas"/>
                <a:ea typeface="Consolas"/>
              </a:rPr>
              <a:t>SYS@orcl&gt; SELECT name FROM v$datafile</a:t>
            </a:r>
          </a:p>
          <a:p>
            <a:pPr>
              <a:spcAft>
                <a:spcPts val="0"/>
              </a:spcAft>
            </a:pPr>
            <a:r>
              <a:rPr sz="1250" b="0">
                <a:solidFill>
                  <a:srgbClr val="E6E6E6"/>
                </a:solidFill>
                <a:latin typeface="Consolas"/>
                <a:ea typeface="Consolas"/>
              </a:rPr>
              <a:t>  2  UNION ALL SELECT name FROM v$controlfile</a:t>
            </a:r>
          </a:p>
          <a:p>
            <a:pPr>
              <a:spcAft>
                <a:spcPts val="0"/>
              </a:spcAft>
            </a:pPr>
            <a:r>
              <a:rPr sz="1250" b="0">
                <a:solidFill>
                  <a:srgbClr val="E6E6E6"/>
                </a:solidFill>
                <a:latin typeface="Consolas"/>
                <a:ea typeface="Consolas"/>
              </a:rPr>
              <a:t>  3  UNION ALL SELECT member FROM v$logfile;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-- 2) 정상 종료 (NORMAL / IMMEDIATE / TRANSACTIONAL 중 하나)</a:t>
            </a:r>
          </a:p>
          <a:p>
            <a:pPr>
              <a:spcAft>
                <a:spcPts val="0"/>
              </a:spcAft>
            </a:pPr>
            <a:r>
              <a:rPr sz="1250" b="0">
                <a:solidFill>
                  <a:srgbClr val="E6E6E6"/>
                </a:solidFill>
                <a:latin typeface="Consolas"/>
                <a:ea typeface="Consolas"/>
              </a:rPr>
              <a:t>SYS@orcl&gt; SHUTDOWN IMMEDIATE</a:t>
            </a:r>
          </a:p>
          <a:p>
            <a:pPr>
              <a:spcAft>
                <a:spcPts val="0"/>
              </a:spcAft>
            </a:pPr>
            <a:r>
              <a:rPr sz="1250" b="0">
                <a:solidFill>
                  <a:srgbClr val="E6E6E6"/>
                </a:solidFill>
                <a:latin typeface="Consolas"/>
                <a:ea typeface="Consolas"/>
              </a:rPr>
              <a:t>Database closed.  Database dismounted.  ORACLE instance shut down.</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-- 3) 복사</a:t>
            </a:r>
          </a:p>
          <a:p>
            <a:pPr>
              <a:spcAft>
                <a:spcPts val="0"/>
              </a:spcAft>
            </a:pPr>
            <a:r>
              <a:rPr sz="1250" b="0">
                <a:solidFill>
                  <a:srgbClr val="E6E6E6"/>
                </a:solidFill>
                <a:latin typeface="Consolas"/>
                <a:ea typeface="Consolas"/>
              </a:rPr>
              <a:t>SYS@orcl&gt; !mkdir -p /home/oracle/backup/cold</a:t>
            </a:r>
          </a:p>
          <a:p>
            <a:pPr>
              <a:spcAft>
                <a:spcPts val="0"/>
              </a:spcAft>
            </a:pPr>
            <a:r>
              <a:rPr sz="1250" b="0">
                <a:solidFill>
                  <a:srgbClr val="E6E6E6"/>
                </a:solidFill>
                <a:latin typeface="Consolas"/>
                <a:ea typeface="Consolas"/>
              </a:rPr>
              <a:t>SYS@orcl&gt; !cp -v /u01/app/oracle/oradata/orcl/*.dbf /home/oracle/backup/cold/</a:t>
            </a:r>
          </a:p>
          <a:p>
            <a:pPr>
              <a:spcAft>
                <a:spcPts val="0"/>
              </a:spcAft>
            </a:pPr>
            <a:r>
              <a:rPr sz="1250" b="0">
                <a:solidFill>
                  <a:srgbClr val="E6E6E6"/>
                </a:solidFill>
                <a:latin typeface="Consolas"/>
                <a:ea typeface="Consolas"/>
              </a:rPr>
              <a:t>SYS@orcl&gt; !cp -v /u01/app/oracle/oradata/orcl/*.ctl /home/oracle/backup/cold/</a:t>
            </a:r>
          </a:p>
          <a:p>
            <a:pPr>
              <a:spcAft>
                <a:spcPts val="0"/>
              </a:spcAft>
            </a:pPr>
            <a:r>
              <a:rPr sz="1250" b="0">
                <a:solidFill>
                  <a:srgbClr val="E6E6E6"/>
                </a:solidFill>
                <a:latin typeface="Consolas"/>
                <a:ea typeface="Consolas"/>
              </a:rPr>
              <a:t>SYS@orcl&gt; !cp -v /u01/app/oracle/oradata/orcl/*.log /home/oracle/backup/cold/</a:t>
            </a:r>
          </a:p>
          <a:p>
            <a:pPr>
              <a:spcAft>
                <a:spcPts val="0"/>
              </a:spcAft>
            </a:pPr>
            <a:r>
              <a:rPr sz="1250" b="0">
                <a:solidFill>
                  <a:srgbClr val="E6E6E6"/>
                </a:solidFill>
                <a:latin typeface="Consolas"/>
                <a:ea typeface="Consolas"/>
              </a:rPr>
              <a:t>SYS@orcl&gt; !cp -v /u02/oradata/orcl/*.log /home/oracle/backup/cold/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-- 4) 기동</a:t>
            </a:r>
          </a:p>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Database mounted.  Database opened.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SCN 일치와 FUZZY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일관성 있는 백업본의 조건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종료 직전에 SCN을 기록해 둔다</a:t>
            </a:r>
          </a:p>
          <a:p>
            <a:pPr>
              <a:spcAft>
                <a:spcPts val="0"/>
              </a:spcAft>
            </a:pPr>
            <a:r>
              <a:rPr sz="1250" b="0">
                <a:solidFill>
                  <a:srgbClr val="E6E6E6"/>
                </a:solidFill>
                <a:latin typeface="Consolas"/>
                <a:ea typeface="Consolas"/>
              </a:rPr>
              <a:t>SYS@orcl&gt; SELECT checkpoint_change# FROM v$database;</a:t>
            </a:r>
          </a:p>
          <a:p>
            <a:pPr>
              <a:spcAft>
                <a:spcPts val="0"/>
              </a:spcAft>
            </a:pPr>
            <a:r>
              <a:rPr sz="1250" b="0">
                <a:solidFill>
                  <a:srgbClr val="E6E6E6"/>
                </a:solidFill>
                <a:latin typeface="Consolas"/>
                <a:ea typeface="Consolas"/>
              </a:rPr>
              <a:t>CHECKPOINT_CHANGE#</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2097189</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checkpoint_change#, status FROM v$datafile ORDER BY file#;</a:t>
            </a:r>
          </a:p>
          <a:p>
            <a:pPr>
              <a:spcAft>
                <a:spcPts val="0"/>
              </a:spcAft>
            </a:pPr>
            <a:r>
              <a:rPr sz="1250" b="0">
                <a:solidFill>
                  <a:srgbClr val="E6E6E6"/>
                </a:solidFill>
                <a:latin typeface="Consolas"/>
                <a:ea typeface="Consolas"/>
              </a:rPr>
              <a:t>     FILE# CHECKPOINT_CHANGE# STATUS</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2097189 SYSTEM</a:t>
            </a:r>
          </a:p>
          <a:p>
            <a:pPr>
              <a:spcAft>
                <a:spcPts val="0"/>
              </a:spcAft>
            </a:pPr>
            <a:r>
              <a:rPr sz="1250" b="0">
                <a:solidFill>
                  <a:srgbClr val="E6E6E6"/>
                </a:solidFill>
                <a:latin typeface="Consolas"/>
                <a:ea typeface="Consolas"/>
              </a:rPr>
              <a:t>         3            2097189 ONLINE</a:t>
            </a:r>
          </a:p>
          <a:p>
            <a:pPr>
              <a:spcAft>
                <a:spcPts val="0"/>
              </a:spcAft>
            </a:pPr>
            <a:r>
              <a:rPr sz="1250" b="0">
                <a:solidFill>
                  <a:srgbClr val="E6E6E6"/>
                </a:solidFill>
                <a:latin typeface="Consolas"/>
                <a:ea typeface="Consolas"/>
              </a:rPr>
              <a:t>         4            2097189 ONLINE</a:t>
            </a:r>
          </a:p>
          <a:p>
            <a:pPr>
              <a:spcAft>
                <a:spcPts val="0"/>
              </a:spcAft>
            </a:pPr>
            <a:r>
              <a:rPr sz="1250" b="0">
                <a:solidFill>
                  <a:srgbClr val="E6E6E6"/>
                </a:solidFill>
                <a:latin typeface="Consolas"/>
                <a:ea typeface="Consolas"/>
              </a:rPr>
              <a:t>         7            2097189 ONLINE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종료 후 MOUNT 상태에서 파일 헤더를 직접 확인</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SELECT file#, checkpoint_change#, fuzzy FROM v$datafile_header ORDER BY file#;</a:t>
            </a:r>
          </a:p>
          <a:p>
            <a:pPr>
              <a:spcAft>
                <a:spcPts val="0"/>
              </a:spcAft>
            </a:pPr>
            <a:r>
              <a:rPr sz="1250" b="0">
                <a:solidFill>
                  <a:srgbClr val="E6E6E6"/>
                </a:solidFill>
                <a:latin typeface="Consolas"/>
                <a:ea typeface="Consolas"/>
              </a:rPr>
              <a:t>     FILE# CHECKPOINT_CHANGE# FUZ</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2097189 NO</a:t>
            </a:r>
          </a:p>
          <a:p>
            <a:pPr>
              <a:spcAft>
                <a:spcPts val="0"/>
              </a:spcAft>
            </a:pPr>
            <a:r>
              <a:rPr sz="1250" b="0">
                <a:solidFill>
                  <a:srgbClr val="E6E6E6"/>
                </a:solidFill>
                <a:latin typeface="Consolas"/>
                <a:ea typeface="Consolas"/>
              </a:rPr>
              <a:t>         3            2097189 NO</a:t>
            </a:r>
          </a:p>
          <a:p>
            <a:pPr>
              <a:spcAft>
                <a:spcPts val="0"/>
              </a:spcAft>
            </a:pPr>
            <a:r>
              <a:rPr sz="1250" b="0">
                <a:solidFill>
                  <a:srgbClr val="E6E6E6"/>
                </a:solidFill>
                <a:latin typeface="Consolas"/>
                <a:ea typeface="Consolas"/>
              </a:rPr>
              <a:t>         4            2097189 NO</a:t>
            </a:r>
          </a:p>
          <a:p>
            <a:pPr>
              <a:spcAft>
                <a:spcPts val="0"/>
              </a:spcAft>
            </a:pPr>
            <a:r>
              <a:rPr sz="1250" b="0">
                <a:solidFill>
                  <a:srgbClr val="E6E6E6"/>
                </a:solidFill>
                <a:latin typeface="Consolas"/>
                <a:ea typeface="Consolas"/>
              </a:rPr>
              <a:t>         7            2097189 NO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ABORT 후 백업의 위험</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오프라인이지만 일관성이 없는 상태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ORACLE instance shut down.</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SELECT file#, checkpoint_change#, fuzzy FROM v$datafile_header ORDER BY file#;</a:t>
            </a:r>
          </a:p>
          <a:p>
            <a:pPr>
              <a:spcAft>
                <a:spcPts val="0"/>
              </a:spcAft>
            </a:pPr>
            <a:r>
              <a:rPr sz="1250" b="0">
                <a:solidFill>
                  <a:srgbClr val="E6E6E6"/>
                </a:solidFill>
                <a:latin typeface="Consolas"/>
                <a:ea typeface="Consolas"/>
              </a:rPr>
              <a:t>     FILE# CHECKPOINT_CHANGE# FUZ</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2098102 YES</a:t>
            </a:r>
          </a:p>
          <a:p>
            <a:pPr>
              <a:spcAft>
                <a:spcPts val="0"/>
              </a:spcAft>
            </a:pPr>
            <a:r>
              <a:rPr sz="1250" b="0">
                <a:solidFill>
                  <a:srgbClr val="E6E6E6"/>
                </a:solidFill>
                <a:latin typeface="Consolas"/>
                <a:ea typeface="Consolas"/>
              </a:rPr>
              <a:t>         3            2098102 YES</a:t>
            </a:r>
          </a:p>
          <a:p>
            <a:pPr>
              <a:spcAft>
                <a:spcPts val="0"/>
              </a:spcAft>
            </a:pPr>
            <a:r>
              <a:rPr sz="1250" b="0">
                <a:solidFill>
                  <a:srgbClr val="E6E6E6"/>
                </a:solidFill>
                <a:latin typeface="Consolas"/>
                <a:ea typeface="Consolas"/>
              </a:rPr>
              <a:t>         4            2098102 YES</a:t>
            </a:r>
          </a:p>
          <a:p>
            <a:pPr>
              <a:spcAft>
                <a:spcPts val="0"/>
              </a:spcAft>
            </a:pPr>
            <a:r>
              <a:rPr sz="1250" b="0">
                <a:solidFill>
                  <a:srgbClr val="E6E6E6"/>
                </a:solidFill>
                <a:latin typeface="Consolas"/>
                <a:ea typeface="Consolas"/>
              </a:rPr>
              <a:t>         7            2098102 YES</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FUZZY가 YES다. 이 상태의 복사본은 복원 후 리두 적용 없이 열 수 없다.</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안전하게 만드는 절차: 한 번 열어 인스턴스 복구를 끝내고 정상 종료</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SYS@orcl&gt; SHUTDOWN IMMEDIATE</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SELECT file#, checkpoint_change#, fuzzy FROM v$datafile_header ORDER BY file#;</a:t>
            </a:r>
          </a:p>
          <a:p>
            <a:pPr>
              <a:spcAft>
                <a:spcPts val="0"/>
              </a:spcAft>
            </a:pPr>
            <a:r>
              <a:rPr sz="1250" b="0">
                <a:solidFill>
                  <a:srgbClr val="E6E6E6"/>
                </a:solidFill>
                <a:latin typeface="Consolas"/>
                <a:ea typeface="Consolas"/>
              </a:rPr>
              <a:t>     FILE# CHECKPOINT_CHANGE# FUZ</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2098905 NO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3.3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Hot Backup</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BEGIN BACKUP은 헤더 SCN을 동결한다</a:t>
            </a:r>
          </a:p>
          <a:p>
            <a:pPr>
              <a:spcAft>
                <a:spcPts val="600"/>
              </a:spcAft>
            </a:pPr>
            <a:r>
              <a:rPr sz="1600" b="0">
                <a:solidFill>
                  <a:srgbClr val="C5CED6"/>
                </a:solidFill>
                <a:latin typeface="Malgun Gothic"/>
                <a:ea typeface="Malgun Gothic"/>
              </a:rPr>
              <a:t>•  데이터 파일 쓰기는 계속된다</a:t>
            </a:r>
          </a:p>
          <a:p>
            <a:pPr>
              <a:spcAft>
                <a:spcPts val="600"/>
              </a:spcAft>
            </a:pPr>
            <a:r>
              <a:rPr sz="1600" b="0">
                <a:solidFill>
                  <a:srgbClr val="C5CED6"/>
                </a:solidFill>
                <a:latin typeface="Malgun Gothic"/>
                <a:ea typeface="Malgun Gothic"/>
              </a:rPr>
              <a:t>•  END BACKUP 직후 아카이브를 강제한다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BEGIN BACKUP이 하는 일</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문제 — 복사하는 동안에도 데이터 파일이 계속 변경된다</a:t>
            </a:r>
          </a:p>
          <a:p>
            <a:pPr>
              <a:spcAft>
                <a:spcPts val="600"/>
              </a:spcAft>
            </a:pPr>
            <a:r>
              <a:rPr sz="1600" b="0">
                <a:solidFill>
                  <a:srgbClr val="5A6672"/>
                </a:solidFill>
                <a:latin typeface="Malgun Gothic"/>
                <a:ea typeface="Malgun Gothic"/>
              </a:rPr>
              <a:t>    –  cp가 앞부분을 읽은 뒤 뒷부분을 읽기 전에 그 블록이 바뀌면 두 시점이 섞인다</a:t>
            </a:r>
          </a:p>
          <a:p>
            <a:pPr>
              <a:spcAft>
                <a:spcPts val="600"/>
              </a:spcAft>
            </a:pPr>
            <a:r>
              <a:rPr sz="1600" b="0">
                <a:solidFill>
                  <a:srgbClr val="5A6672"/>
                </a:solidFill>
                <a:latin typeface="Malgun Gothic"/>
                <a:ea typeface="Malgun Gothic"/>
              </a:rPr>
              <a:t>    –  이를 fractured block 또는 split block이라 한다</a:t>
            </a:r>
          </a:p>
          <a:p>
            <a:pPr>
              <a:spcAft>
                <a:spcPts val="600"/>
              </a:spcAft>
            </a:pPr>
            <a:r>
              <a:rPr sz="1800" b="0">
                <a:solidFill>
                  <a:srgbClr val="202830"/>
                </a:solidFill>
                <a:latin typeface="Malgun Gothic"/>
                <a:ea typeface="Malgun Gothic"/>
              </a:rPr>
              <a:t>•  BEGIN BACKUP이 수행하는 세 가지</a:t>
            </a:r>
          </a:p>
          <a:p>
            <a:pPr>
              <a:spcAft>
                <a:spcPts val="600"/>
              </a:spcAft>
            </a:pPr>
            <a:r>
              <a:rPr sz="1600" b="0">
                <a:solidFill>
                  <a:srgbClr val="5A6672"/>
                </a:solidFill>
                <a:latin typeface="Malgun Gothic"/>
                <a:ea typeface="Malgun Gothic"/>
              </a:rPr>
              <a:t>    –  해당 테이블스페이스에 체크포인트를 수행해 시점을 고정</a:t>
            </a:r>
          </a:p>
          <a:p>
            <a:pPr>
              <a:spcAft>
                <a:spcPts val="600"/>
              </a:spcAft>
            </a:pPr>
            <a:r>
              <a:rPr sz="1600" b="0">
                <a:solidFill>
                  <a:srgbClr val="5A6672"/>
                </a:solidFill>
                <a:latin typeface="Malgun Gothic"/>
                <a:ea typeface="Malgun Gothic"/>
              </a:rPr>
              <a:t>    –  데이터 파일 헤더의 체크포인트 SCN을 동결 (복사 중 갱신되지 않음)</a:t>
            </a:r>
          </a:p>
          <a:p>
            <a:pPr>
              <a:spcAft>
                <a:spcPts val="600"/>
              </a:spcAft>
            </a:pPr>
            <a:r>
              <a:rPr sz="1600" b="0">
                <a:solidFill>
                  <a:srgbClr val="5A6672"/>
                </a:solidFill>
                <a:latin typeface="Malgun Gothic"/>
                <a:ea typeface="Malgun Gothic"/>
              </a:rPr>
              <a:t>    –  변경 블록의 전체 이미지를 리두에 기록하도록 전환</a:t>
            </a:r>
          </a:p>
          <a:p>
            <a:pPr>
              <a:spcAft>
                <a:spcPts val="600"/>
              </a:spcAft>
            </a:pPr>
            <a:r>
              <a:rPr sz="1800" b="0">
                <a:solidFill>
                  <a:srgbClr val="202830"/>
                </a:solidFill>
                <a:latin typeface="Malgun Gothic"/>
                <a:ea typeface="Malgun Gothic"/>
              </a:rPr>
              <a:t>•  데이터 파일 자체는 계속 갱신된다 — 동결되는 것은 헤더의 SCN뿐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테이블스페이스 단위 Hot Backup</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BEGIN → 복사 → END를 테이블스페이스마다 반복</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tablespace_name, file_name FROM dba_data_files ORDER BY tablespace_name;</a:t>
            </a:r>
          </a:p>
          <a:p>
            <a:pPr>
              <a:spcAft>
                <a:spcPts val="0"/>
              </a:spcAft>
            </a:pPr>
            <a:r>
              <a:rPr sz="1250" b="0">
                <a:solidFill>
                  <a:srgbClr val="E6E6E6"/>
                </a:solidFill>
                <a:latin typeface="Consolas"/>
                <a:ea typeface="Consolas"/>
              </a:rPr>
              <a:t>TABLESPACE_NAME FILE_NAME</a:t>
            </a:r>
          </a:p>
          <a:p>
            <a:pPr>
              <a:spcAft>
                <a:spcPts val="0"/>
              </a:spcAft>
            </a:pPr>
            <a:r>
              <a:rPr sz="1250" b="0">
                <a:solidFill>
                  <a:srgbClr val="7EC699"/>
                </a:solidFill>
                <a:latin typeface="Consolas"/>
                <a:ea typeface="Consolas"/>
              </a:rPr>
              <a:t>--------------- --------------------------------------------------</a:t>
            </a:r>
          </a:p>
          <a:p>
            <a:pPr>
              <a:spcAft>
                <a:spcPts val="0"/>
              </a:spcAft>
            </a:pPr>
            <a:r>
              <a:rPr sz="1250" b="0">
                <a:solidFill>
                  <a:srgbClr val="E6E6E6"/>
                </a:solidFill>
                <a:latin typeface="Consolas"/>
                <a:ea typeface="Consolas"/>
              </a:rPr>
              <a:t>SYSAUX          /u01/app/oracle/oradata/orcl/sysaux01.dbf</a:t>
            </a:r>
          </a:p>
          <a:p>
            <a:pPr>
              <a:spcAft>
                <a:spcPts val="0"/>
              </a:spcAft>
            </a:pPr>
            <a:r>
              <a:rPr sz="1250" b="0">
                <a:solidFill>
                  <a:srgbClr val="E6E6E6"/>
                </a:solidFill>
                <a:latin typeface="Consolas"/>
                <a:ea typeface="Consolas"/>
              </a:rPr>
              <a:t>SYSTEM          /u01/app/oracle/oradata/orcl/system01.dbf</a:t>
            </a:r>
          </a:p>
          <a:p>
            <a:pPr>
              <a:spcAft>
                <a:spcPts val="0"/>
              </a:spcAft>
            </a:pPr>
            <a:r>
              <a:rPr sz="1250" b="0">
                <a:solidFill>
                  <a:srgbClr val="E6E6E6"/>
                </a:solidFill>
                <a:latin typeface="Consolas"/>
                <a:ea typeface="Consolas"/>
              </a:rPr>
              <a:t>UNDOTBS1        /u01/app/oracle/oradata/orcl/undotbs01.dbf</a:t>
            </a:r>
          </a:p>
          <a:p>
            <a:pPr>
              <a:spcAft>
                <a:spcPts val="0"/>
              </a:spcAft>
            </a:pPr>
            <a:r>
              <a:rPr sz="1250" b="0">
                <a:solidFill>
                  <a:srgbClr val="E6E6E6"/>
                </a:solidFill>
                <a:latin typeface="Consolas"/>
                <a:ea typeface="Consolas"/>
              </a:rPr>
              <a:t>USERS           /u01/app/oracle/oradata/orcl/users01.dbf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TABLESPACE users BEGIN BACKUP;</a:t>
            </a:r>
          </a:p>
          <a:p>
            <a:pPr>
              <a:spcAft>
                <a:spcPts val="0"/>
              </a:spcAft>
            </a:pPr>
            <a:r>
              <a:rPr sz="1250" b="0">
                <a:solidFill>
                  <a:srgbClr val="E6E6E6"/>
                </a:solidFill>
                <a:latin typeface="Consolas"/>
                <a:ea typeface="Consolas"/>
              </a:rPr>
              <a:t>Tablespace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status, change#, time FROM v$backup WHERE file# = 7;</a:t>
            </a:r>
          </a:p>
          <a:p>
            <a:pPr>
              <a:spcAft>
                <a:spcPts val="0"/>
              </a:spcAft>
            </a:pPr>
            <a:r>
              <a:rPr sz="1250" b="0">
                <a:solidFill>
                  <a:srgbClr val="E6E6E6"/>
                </a:solidFill>
                <a:latin typeface="Consolas"/>
                <a:ea typeface="Consolas"/>
              </a:rPr>
              <a:t>     FILE# STATUS               CHANGE# TIME</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7 ACTIVE               2341425 2025-05-09 13:22:14</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!cp -v /u01/app/oracle/oradata/orcl/users01.dbf /home/oracle/backup/hot/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TABLESPACE users END BACKUP;</a:t>
            </a:r>
          </a:p>
          <a:p>
            <a:pPr>
              <a:spcAft>
                <a:spcPts val="0"/>
              </a:spcAft>
            </a:pPr>
            <a:r>
              <a:rPr sz="1250" b="0">
                <a:solidFill>
                  <a:srgbClr val="E6E6E6"/>
                </a:solidFill>
                <a:latin typeface="Consolas"/>
                <a:ea typeface="Consolas"/>
              </a:rPr>
              <a:t>Tablespace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status FROM v$backup WHERE file# = 7;</a:t>
            </a:r>
          </a:p>
          <a:p>
            <a:pPr>
              <a:spcAft>
                <a:spcPts val="0"/>
              </a:spcAft>
            </a:pPr>
            <a:r>
              <a:rPr sz="1250" b="0">
                <a:solidFill>
                  <a:srgbClr val="E6E6E6"/>
                </a:solidFill>
                <a:latin typeface="Consolas"/>
                <a:ea typeface="Consolas"/>
              </a:rPr>
              <a:t>         7 NOT ACTIVE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END BACKUP 직후 아카이브 강제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백업 구간의 리두를 영구 보존한다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group#, sequence#, archived, status FROM v$log ORDER BY group#;</a:t>
            </a:r>
          </a:p>
          <a:p>
            <a:pPr>
              <a:spcAft>
                <a:spcPts val="0"/>
              </a:spcAft>
            </a:pPr>
            <a:r>
              <a:rPr sz="1250" b="0">
                <a:solidFill>
                  <a:srgbClr val="E6E6E6"/>
                </a:solidFill>
                <a:latin typeface="Consolas"/>
                <a:ea typeface="Consolas"/>
              </a:rPr>
              <a:t>    GROUP#  SEQUENCE# ARC STATUS</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1         37 NO  CURRENT</a:t>
            </a:r>
          </a:p>
          <a:p>
            <a:pPr>
              <a:spcAft>
                <a:spcPts val="0"/>
              </a:spcAft>
            </a:pPr>
            <a:r>
              <a:rPr sz="1250" b="0">
                <a:solidFill>
                  <a:srgbClr val="E6E6E6"/>
                </a:solidFill>
                <a:latin typeface="Consolas"/>
                <a:ea typeface="Consolas"/>
              </a:rPr>
              <a:t>         3         36 YES INACTIVE</a:t>
            </a:r>
          </a:p>
          <a:p>
            <a:pPr>
              <a:spcAft>
                <a:spcPts val="0"/>
              </a:spcAft>
            </a:pPr>
            <a:r>
              <a:rPr sz="1250" b="0">
                <a:solidFill>
                  <a:srgbClr val="E6E6E6"/>
                </a:solidFill>
                <a:latin typeface="Consolas"/>
                <a:ea typeface="Consolas"/>
              </a:rPr>
              <a:t>         4         35 YES INACTIVE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SYSTEM ARCHIVE LOG CURRENT;</a:t>
            </a:r>
          </a:p>
          <a:p>
            <a:pPr>
              <a:spcAft>
                <a:spcPts val="0"/>
              </a:spcAft>
            </a:pPr>
            <a:r>
              <a:rPr sz="1250" b="0">
                <a:solidFill>
                  <a:srgbClr val="E6E6E6"/>
                </a:solidFill>
                <a:latin typeface="Consolas"/>
                <a:ea typeface="Consolas"/>
              </a:rPr>
              <a:t>System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group#, sequence#, archived, status FROM v$log ORDER BY group#;</a:t>
            </a:r>
          </a:p>
          <a:p>
            <a:pPr>
              <a:spcAft>
                <a:spcPts val="0"/>
              </a:spcAft>
            </a:pPr>
            <a:r>
              <a:rPr sz="1250" b="0">
                <a:solidFill>
                  <a:srgbClr val="E6E6E6"/>
                </a:solidFill>
                <a:latin typeface="Consolas"/>
                <a:ea typeface="Consolas"/>
              </a:rPr>
              <a:t>    GROUP#  SEQUENCE# ARC STATUS</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1         37 YES INACTIVE</a:t>
            </a:r>
          </a:p>
          <a:p>
            <a:pPr>
              <a:spcAft>
                <a:spcPts val="0"/>
              </a:spcAft>
            </a:pPr>
            <a:r>
              <a:rPr sz="1250" b="0">
                <a:solidFill>
                  <a:srgbClr val="E6E6E6"/>
                </a:solidFill>
                <a:latin typeface="Consolas"/>
                <a:ea typeface="Consolas"/>
              </a:rPr>
              <a:t>         3         38 NO  CURRENT</a:t>
            </a:r>
          </a:p>
          <a:p>
            <a:pPr>
              <a:spcAft>
                <a:spcPts val="0"/>
              </a:spcAft>
            </a:pPr>
            <a:r>
              <a:rPr sz="1250" b="0">
                <a:solidFill>
                  <a:srgbClr val="E6E6E6"/>
                </a:solidFill>
                <a:latin typeface="Consolas"/>
                <a:ea typeface="Consolas"/>
              </a:rPr>
              <a:t>         4         35 YES INACTIVE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sequence#, name FROM v$archived_log</a:t>
            </a:r>
          </a:p>
          <a:p>
            <a:pPr>
              <a:spcAft>
                <a:spcPts val="0"/>
              </a:spcAft>
            </a:pPr>
            <a:r>
              <a:rPr sz="1250" b="0">
                <a:solidFill>
                  <a:srgbClr val="E6E6E6"/>
                </a:solidFill>
                <a:latin typeface="Consolas"/>
                <a:ea typeface="Consolas"/>
              </a:rPr>
              <a:t>  2  WHERE  sequence# = 37 AND dest_id = 1;</a:t>
            </a:r>
          </a:p>
          <a:p>
            <a:pPr>
              <a:spcAft>
                <a:spcPts val="0"/>
              </a:spcAft>
            </a:pPr>
            <a:r>
              <a:rPr sz="1250" b="0">
                <a:solidFill>
                  <a:srgbClr val="E6E6E6"/>
                </a:solidFill>
                <a:latin typeface="Consolas"/>
                <a:ea typeface="Consolas"/>
              </a:rPr>
              <a:t> SEQUENCE# NAME</a:t>
            </a:r>
          </a:p>
          <a:p>
            <a:pPr>
              <a:spcAft>
                <a:spcPts val="0"/>
              </a:spcAft>
            </a:pPr>
            <a:r>
              <a:rPr sz="1250" b="0">
                <a:solidFill>
                  <a:srgbClr val="7EC699"/>
                </a:solidFill>
                <a:latin typeface="Consolas"/>
                <a:ea typeface="Consolas"/>
              </a:rPr>
              <a:t>---------- ---------------------------------------------</a:t>
            </a:r>
          </a:p>
          <a:p>
            <a:pPr>
              <a:spcAft>
                <a:spcPts val="0"/>
              </a:spcAft>
            </a:pPr>
            <a:r>
              <a:rPr sz="1250" b="0">
                <a:solidFill>
                  <a:srgbClr val="E6E6E6"/>
                </a:solidFill>
                <a:latin typeface="Consolas"/>
                <a:ea typeface="Consolas"/>
              </a:rPr>
              <a:t>        37 /home/oracle/arch1/arch_1_37_1200525254.arc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3.4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Hot Backup의 부작용과 주의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백업 모드에서 리두 생성량이 크게 늘어난다</a:t>
            </a:r>
          </a:p>
          <a:p>
            <a:pPr>
              <a:spcAft>
                <a:spcPts val="600"/>
              </a:spcAft>
            </a:pPr>
            <a:r>
              <a:rPr sz="1600" b="0">
                <a:solidFill>
                  <a:srgbClr val="C5CED6"/>
                </a:solidFill>
                <a:latin typeface="Malgun Gothic"/>
                <a:ea typeface="Malgun Gothic"/>
              </a:rPr>
              <a:t>•  백업 모드 잔류는 겉으로 드러나지 않는다</a:t>
            </a:r>
          </a:p>
          <a:p>
            <a:pPr>
              <a:spcAft>
                <a:spcPts val="600"/>
              </a:spcAft>
            </a:pPr>
            <a:r>
              <a:rPr sz="1600" b="0">
                <a:solidFill>
                  <a:srgbClr val="C5CED6"/>
                </a:solidFill>
                <a:latin typeface="Malgun Gothic"/>
                <a:ea typeface="Malgun Gothic"/>
              </a:rPr>
              <a:t>•  복원 후 리두 적용은 선택이 아니라 필수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 생성량 비교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같은 작업인데 4.5배가 넘는다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백업 모드가 아닌 상태에서 100건 갱신</a:t>
            </a:r>
          </a:p>
          <a:p>
            <a:pPr>
              <a:spcAft>
                <a:spcPts val="0"/>
              </a:spcAft>
            </a:pPr>
            <a:r>
              <a:rPr sz="1250" b="0">
                <a:solidFill>
                  <a:srgbClr val="E6E6E6"/>
                </a:solidFill>
                <a:latin typeface="Consolas"/>
                <a:ea typeface="Consolas"/>
              </a:rPr>
              <a:t>SYS@orcl&gt; SELECT m.value FROM v$mystat m, v$statname s</a:t>
            </a:r>
          </a:p>
          <a:p>
            <a:pPr>
              <a:spcAft>
                <a:spcPts val="0"/>
              </a:spcAft>
            </a:pPr>
            <a:r>
              <a:rPr sz="1250" b="0">
                <a:solidFill>
                  <a:srgbClr val="E6E6E6"/>
                </a:solidFill>
                <a:latin typeface="Consolas"/>
                <a:ea typeface="Consolas"/>
              </a:rPr>
              <a:t>  2  WHERE  m.statistic# = s.statistic# AND s.name = 'redo size';</a:t>
            </a:r>
          </a:p>
          <a:p>
            <a:pPr>
              <a:spcAft>
                <a:spcPts val="0"/>
              </a:spcAft>
            </a:pPr>
            <a:r>
              <a:rPr sz="1250" b="0">
                <a:solidFill>
                  <a:srgbClr val="E6E6E6"/>
                </a:solidFill>
                <a:latin typeface="Consolas"/>
                <a:ea typeface="Consolas"/>
              </a:rPr>
              <a:t>     VALUE</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41236</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UPDATE hr.employees SET salary = salary + 1 WHERE ROWNUM &lt;= 100;</a:t>
            </a:r>
          </a:p>
          <a:p>
            <a:pPr>
              <a:spcAft>
                <a:spcPts val="0"/>
              </a:spcAft>
            </a:pPr>
            <a:r>
              <a:rPr sz="1250" b="0">
                <a:solidFill>
                  <a:srgbClr val="E6E6E6"/>
                </a:solidFill>
                <a:latin typeface="Consolas"/>
                <a:ea typeface="Consolas"/>
              </a:rPr>
              <a:t>SYS@orcl&gt; COMMIT;</a:t>
            </a:r>
          </a:p>
          <a:p>
            <a:pPr>
              <a:spcAft>
                <a:spcPts val="0"/>
              </a:spcAft>
            </a:pPr>
            <a:r>
              <a:rPr sz="1250" b="0">
                <a:solidFill>
                  <a:srgbClr val="E6E6E6"/>
                </a:solidFill>
                <a:latin typeface="Consolas"/>
                <a:ea typeface="Consolas"/>
              </a:rPr>
              <a:t>SYS@orcl&gt; SELECT m.value FROM v$mystat m, v$statname s ... ;</a:t>
            </a:r>
          </a:p>
          <a:p>
            <a:pPr>
              <a:spcAft>
                <a:spcPts val="0"/>
              </a:spcAft>
            </a:pPr>
            <a:r>
              <a:rPr sz="1250" b="0">
                <a:solidFill>
                  <a:srgbClr val="E6E6E6"/>
                </a:solidFill>
                <a:latin typeface="Consolas"/>
                <a:ea typeface="Consolas"/>
              </a:rPr>
              <a:t>     68420          -- 증가분 27,184 바이트</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백업 모드에서 같은 작업</a:t>
            </a:r>
          </a:p>
          <a:p>
            <a:pPr>
              <a:spcAft>
                <a:spcPts val="0"/>
              </a:spcAft>
            </a:pPr>
            <a:r>
              <a:rPr sz="1250" b="0">
                <a:solidFill>
                  <a:srgbClr val="E6E6E6"/>
                </a:solidFill>
                <a:latin typeface="Consolas"/>
                <a:ea typeface="Consolas"/>
              </a:rPr>
              <a:t>SYS@orcl&gt; ALTER TABLESPACE users BEGIN BACKUP;</a:t>
            </a:r>
          </a:p>
          <a:p>
            <a:pPr>
              <a:spcAft>
                <a:spcPts val="0"/>
              </a:spcAft>
            </a:pPr>
            <a:r>
              <a:rPr sz="1250" b="0">
                <a:solidFill>
                  <a:srgbClr val="E6E6E6"/>
                </a:solidFill>
                <a:latin typeface="Consolas"/>
                <a:ea typeface="Consolas"/>
              </a:rPr>
              <a:t>SYS@orcl&gt; UPDATE hr.employees SET salary = salary - 1 WHERE ROWNUM &lt;= 100;</a:t>
            </a:r>
          </a:p>
          <a:p>
            <a:pPr>
              <a:spcAft>
                <a:spcPts val="0"/>
              </a:spcAft>
            </a:pPr>
            <a:r>
              <a:rPr sz="1250" b="0">
                <a:solidFill>
                  <a:srgbClr val="E6E6E6"/>
                </a:solidFill>
                <a:latin typeface="Consolas"/>
                <a:ea typeface="Consolas"/>
              </a:rPr>
              <a:t>SYS@orcl&gt; COMMIT;</a:t>
            </a:r>
          </a:p>
          <a:p>
            <a:pPr>
              <a:spcAft>
                <a:spcPts val="0"/>
              </a:spcAft>
            </a:pPr>
            <a:r>
              <a:rPr sz="1250" b="0">
                <a:solidFill>
                  <a:srgbClr val="E6E6E6"/>
                </a:solidFill>
                <a:latin typeface="Consolas"/>
                <a:ea typeface="Consolas"/>
              </a:rPr>
              <a:t>SYS@orcl&gt; SELECT m.value FROM v$mystat m, v$statname s ... ;</a:t>
            </a:r>
          </a:p>
          <a:p>
            <a:pPr>
              <a:spcAft>
                <a:spcPts val="0"/>
              </a:spcAft>
            </a:pPr>
            <a:r>
              <a:rPr sz="1250" b="0">
                <a:solidFill>
                  <a:srgbClr val="E6E6E6"/>
                </a:solidFill>
                <a:latin typeface="Consolas"/>
                <a:ea typeface="Consolas"/>
              </a:rPr>
              <a:t>    192864          -- 증가분 124,444 바이트</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TABLESPACE users END BACKUP;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모드에서의 종료 시도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ORA-01149 → ABORT → 오픈 실패 → MOUNT에서 해제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DATABASE BEGIN BACKUP;</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SHUTDOWN IMMEDIATE</a:t>
            </a:r>
          </a:p>
          <a:p>
            <a:pPr>
              <a:spcAft>
                <a:spcPts val="0"/>
              </a:spcAft>
            </a:pPr>
            <a:r>
              <a:rPr sz="1250" b="0">
                <a:solidFill>
                  <a:srgbClr val="E6E6E6"/>
                </a:solidFill>
                <a:latin typeface="Consolas"/>
                <a:ea typeface="Consolas"/>
              </a:rPr>
              <a:t>ORA-01149: cannot shutdown - file 1 has online backup set</a:t>
            </a:r>
          </a:p>
          <a:p>
            <a:pPr>
              <a:spcAft>
                <a:spcPts val="0"/>
              </a:spcAft>
            </a:pPr>
            <a:r>
              <a:rPr sz="1250" b="0">
                <a:solidFill>
                  <a:srgbClr val="E6E6E6"/>
                </a:solidFill>
                <a:latin typeface="Consolas"/>
                <a:ea typeface="Consolas"/>
              </a:rPr>
              <a:t>ORA-01110: data file 1: '/u01/app/oracle/oradata/orcl/system01.dbf'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ORACLE instance shut down.</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Database mounted.</a:t>
            </a:r>
          </a:p>
          <a:p>
            <a:pPr>
              <a:spcAft>
                <a:spcPts val="0"/>
              </a:spcAft>
            </a:pPr>
            <a:r>
              <a:rPr sz="1250" b="0">
                <a:solidFill>
                  <a:srgbClr val="E6E6E6"/>
                </a:solidFill>
                <a:latin typeface="Consolas"/>
                <a:ea typeface="Consolas"/>
              </a:rPr>
              <a:t>ORA-10873: file 1 needs to be either taken out of backup mode or media recovered</a:t>
            </a:r>
          </a:p>
          <a:p>
            <a:pPr>
              <a:spcAft>
                <a:spcPts val="0"/>
              </a:spcAft>
            </a:pPr>
            <a:r>
              <a:rPr sz="1250" b="0">
                <a:solidFill>
                  <a:srgbClr val="E6E6E6"/>
                </a:solidFill>
                <a:latin typeface="Consolas"/>
                <a:ea typeface="Consolas"/>
              </a:rPr>
              <a:t>ORA-01110: data file 1: '/u01/app/oracle/oradata/orcl/system01.dbf'</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MOUNT 상태에서 백업 모드 해제 후 오픈</a:t>
            </a:r>
          </a:p>
          <a:p>
            <a:pPr>
              <a:spcAft>
                <a:spcPts val="0"/>
              </a:spcAft>
            </a:pPr>
            <a:r>
              <a:rPr sz="1250" b="0">
                <a:solidFill>
                  <a:srgbClr val="E6E6E6"/>
                </a:solidFill>
                <a:latin typeface="Consolas"/>
                <a:ea typeface="Consolas"/>
              </a:rPr>
              <a:t>SYS@orcl&gt; SELECT file#, status, change# FROM v$backup WHERE status = 'ACTIVE';</a:t>
            </a:r>
          </a:p>
          <a:p>
            <a:pPr>
              <a:spcAft>
                <a:spcPts val="0"/>
              </a:spcAft>
            </a:pPr>
            <a:r>
              <a:rPr sz="1250" b="0">
                <a:solidFill>
                  <a:srgbClr val="E6E6E6"/>
                </a:solidFill>
                <a:latin typeface="Consolas"/>
                <a:ea typeface="Consolas"/>
              </a:rPr>
              <a:t>SYS@orcl&gt; ALTER DATABASE END BACKUP;</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Database altered.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모드 잔류 점검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겉으로 드러나지 않으므로 정기 점검 항목에 넣는다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b.file#, d.name, b.status, b.change#, b.time,</a:t>
            </a:r>
          </a:p>
          <a:p>
            <a:pPr>
              <a:spcAft>
                <a:spcPts val="0"/>
              </a:spcAft>
            </a:pPr>
            <a:r>
              <a:rPr sz="1250" b="0">
                <a:solidFill>
                  <a:srgbClr val="E6E6E6"/>
                </a:solidFill>
                <a:latin typeface="Consolas"/>
                <a:ea typeface="Consolas"/>
              </a:rPr>
              <a:t>  2         ROUND((SYSDATE - b.time) * 24, 1) AS hours_in_backup</a:t>
            </a:r>
          </a:p>
          <a:p>
            <a:pPr>
              <a:spcAft>
                <a:spcPts val="0"/>
              </a:spcAft>
            </a:pPr>
            <a:r>
              <a:rPr sz="1250" b="0">
                <a:solidFill>
                  <a:srgbClr val="E6E6E6"/>
                </a:solidFill>
                <a:latin typeface="Consolas"/>
                <a:ea typeface="Consolas"/>
              </a:rPr>
              <a:t>  3  FROM   v$backup b, v$datafile d</a:t>
            </a:r>
          </a:p>
          <a:p>
            <a:pPr>
              <a:spcAft>
                <a:spcPts val="0"/>
              </a:spcAft>
            </a:pPr>
            <a:r>
              <a:rPr sz="1250" b="0">
                <a:solidFill>
                  <a:srgbClr val="E6E6E6"/>
                </a:solidFill>
                <a:latin typeface="Consolas"/>
                <a:ea typeface="Consolas"/>
              </a:rPr>
              <a:t>  4  WHERE  b.file# = d.file# AND b.status = 'ACTIVE';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FILE# NAME                                     STATUS     CHANGE# TIME                HOURS_IN_BACKUP</a:t>
            </a:r>
          </a:p>
          <a:p>
            <a:pPr>
              <a:spcAft>
                <a:spcPts val="0"/>
              </a:spcAft>
            </a:pPr>
            <a:r>
              <a:rPr sz="1250" b="0">
                <a:solidFill>
                  <a:srgbClr val="7EC699"/>
                </a:solidFill>
                <a:latin typeface="Consolas"/>
                <a:ea typeface="Consolas"/>
              </a:rPr>
              <a:t>---------- ---------------------------------------- -------- --------- ------------------- ---------------</a:t>
            </a:r>
          </a:p>
          <a:p>
            <a:pPr>
              <a:spcAft>
                <a:spcPts val="0"/>
              </a:spcAft>
            </a:pPr>
            <a:r>
              <a:rPr sz="1250" b="0">
                <a:solidFill>
                  <a:srgbClr val="E6E6E6"/>
                </a:solidFill>
                <a:latin typeface="Consolas"/>
                <a:ea typeface="Consolas"/>
              </a:rPr>
              <a:t>         7 /u01/app/oracle/oradata/orcl/users01.dbf ACTIVE     2341425 2025-05-09 13:22:14             6.4</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-- 6.4시간째 백업 모드다. 스크립트가 중간에 실패한 것으로 판단된다.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TABLESPACE users END BACKUP;</a:t>
            </a:r>
          </a:p>
          <a:p>
            <a:pPr>
              <a:spcAft>
                <a:spcPts val="0"/>
              </a:spcAft>
            </a:pPr>
            <a:r>
              <a:rPr sz="1250" b="0">
                <a:solidFill>
                  <a:srgbClr val="E6E6E6"/>
                </a:solidFill>
                <a:latin typeface="Consolas"/>
                <a:ea typeface="Consolas"/>
              </a:rPr>
              <a:t>Tablespace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COUNT(*) AS active_backup FROM v$backup WHERE status = 'ACTIVE';</a:t>
            </a:r>
          </a:p>
          <a:p>
            <a:pPr>
              <a:spcAft>
                <a:spcPts val="0"/>
              </a:spcAft>
            </a:pPr>
            <a:r>
              <a:rPr sz="1250" b="0">
                <a:solidFill>
                  <a:srgbClr val="E6E6E6"/>
                </a:solidFill>
                <a:latin typeface="Consolas"/>
                <a:ea typeface="Consolas"/>
              </a:rPr>
              <a:t>ACTIVE_BACKUP</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Fractured Block과 복구 원리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원인은 복사 단위와 쓰기 단위의 불일치</a:t>
            </a:r>
          </a:p>
          <a:p>
            <a:pPr>
              <a:spcAft>
                <a:spcPts val="600"/>
              </a:spcAft>
            </a:pPr>
            <a:r>
              <a:rPr sz="1600" b="0">
                <a:solidFill>
                  <a:srgbClr val="5A6672"/>
                </a:solidFill>
                <a:latin typeface="Malgun Gothic"/>
                <a:ea typeface="Malgun Gothic"/>
              </a:rPr>
              <a:t>    –  Oracle 블록은 기본 8KB, OS 파일시스템 블록은 흔히 4KB</a:t>
            </a:r>
          </a:p>
          <a:p>
            <a:pPr>
              <a:spcAft>
                <a:spcPts val="600"/>
              </a:spcAft>
            </a:pPr>
            <a:r>
              <a:rPr sz="1600" b="0">
                <a:solidFill>
                  <a:srgbClr val="5A6672"/>
                </a:solidFill>
                <a:latin typeface="Malgun Gothic"/>
                <a:ea typeface="Malgun Gothic"/>
              </a:rPr>
              <a:t>    –  cp가 앞 4KB를 읽은 뒤 DBWn이 그 블록을 갱신하면 두 시점이 섞인다</a:t>
            </a:r>
          </a:p>
          <a:p>
            <a:pPr>
              <a:spcAft>
                <a:spcPts val="600"/>
              </a:spcAft>
            </a:pPr>
            <a:r>
              <a:rPr sz="1600" b="0">
                <a:solidFill>
                  <a:srgbClr val="5A6672"/>
                </a:solidFill>
                <a:latin typeface="Malgun Gothic"/>
                <a:ea typeface="Malgun Gothic"/>
              </a:rPr>
              <a:t>    –  블록 헤더와 테일이 어긋나 Oracle이 손상으로 인식한다</a:t>
            </a:r>
          </a:p>
          <a:p>
            <a:pPr>
              <a:spcAft>
                <a:spcPts val="600"/>
              </a:spcAft>
            </a:pPr>
            <a:r>
              <a:rPr sz="1800" b="0">
                <a:solidFill>
                  <a:srgbClr val="202830"/>
                </a:solidFill>
                <a:latin typeface="Malgun Gothic"/>
                <a:ea typeface="Malgun Gothic"/>
              </a:rPr>
              <a:t>•  백업 모드는 이 문제를 막는 것이 아니라 복구되게 만든다</a:t>
            </a:r>
          </a:p>
          <a:p>
            <a:pPr>
              <a:spcAft>
                <a:spcPts val="600"/>
              </a:spcAft>
            </a:pPr>
            <a:r>
              <a:rPr sz="1600" b="0">
                <a:solidFill>
                  <a:srgbClr val="5A6672"/>
                </a:solidFill>
                <a:latin typeface="Malgun Gothic"/>
                <a:ea typeface="Malgun Gothic"/>
              </a:rPr>
              <a:t>    –  변경 블록의 전체 이미지가 리두에 남아 복원 후 통째로 덮어써진다</a:t>
            </a:r>
          </a:p>
          <a:p>
            <a:pPr>
              <a:spcAft>
                <a:spcPts val="600"/>
              </a:spcAft>
            </a:pPr>
            <a:r>
              <a:rPr sz="1800" b="0">
                <a:solidFill>
                  <a:srgbClr val="202830"/>
                </a:solidFill>
                <a:latin typeface="Malgun Gothic"/>
                <a:ea typeface="Malgun Gothic"/>
              </a:rPr>
              <a:t>•  그래서 Hot Backup 복원 후에는 반드시 리두 적용이 필요하다</a:t>
            </a:r>
          </a:p>
          <a:p>
            <a:pPr>
              <a:spcAft>
                <a:spcPts val="600"/>
              </a:spcAft>
            </a:pPr>
            <a:r>
              <a:rPr sz="1600" b="0">
                <a:solidFill>
                  <a:srgbClr val="5A6672"/>
                </a:solidFill>
                <a:latin typeface="Malgun Gothic"/>
                <a:ea typeface="Malgun Gothic"/>
              </a:rPr>
              <a:t>    –  복원만 하고 열면 ORA-01113 — 4장 이후 반복해서 보게 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3.5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백업 세트 완성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데이터 파일만 복사한 것은 백업이 아니다</a:t>
            </a:r>
          </a:p>
          <a:p>
            <a:pPr>
              <a:spcAft>
                <a:spcPts val="600"/>
              </a:spcAft>
            </a:pPr>
            <a:r>
              <a:rPr sz="1600" b="0">
                <a:solidFill>
                  <a:srgbClr val="C5CED6"/>
                </a:solidFill>
                <a:latin typeface="Malgun Gothic"/>
                <a:ea typeface="Malgun Gothic"/>
              </a:rPr>
              <a:t>•  제어 파일 · 아카이브 · 파라미터 파일이 함께 있어야 한다</a:t>
            </a:r>
          </a:p>
          <a:p>
            <a:pPr>
              <a:spcAft>
                <a:spcPts val="600"/>
              </a:spcAft>
            </a:pPr>
            <a:r>
              <a:rPr sz="1600" b="0">
                <a:solidFill>
                  <a:srgbClr val="C5CED6"/>
                </a:solidFill>
                <a:latin typeface="Malgun Gothic"/>
                <a:ea typeface="Malgun Gothic"/>
              </a:rPr>
              <a:t>•  무엇을 언제 받았는지 기록으로 남긴다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제어 파일 백업과 아카이브 확보</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백업 세트를 구성하는 나머지 조각</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DATABASE BACKUP CONTROLFILE TO</a:t>
            </a:r>
          </a:p>
          <a:p>
            <a:pPr>
              <a:spcAft>
                <a:spcPts val="0"/>
              </a:spcAft>
            </a:pPr>
            <a:r>
              <a:rPr sz="1250" b="0">
                <a:solidFill>
                  <a:srgbClr val="E6E6E6"/>
                </a:solidFill>
                <a:latin typeface="Consolas"/>
                <a:ea typeface="Consolas"/>
              </a:rPr>
              <a:t>  2    '/home/oracle/backup/hot/control_20250509.ctl' REUSE;</a:t>
            </a:r>
          </a:p>
          <a:p>
            <a:pPr>
              <a:spcAft>
                <a:spcPts val="0"/>
              </a:spcAft>
            </a:pPr>
            <a:r>
              <a:rPr sz="1250" b="0">
                <a:solidFill>
                  <a:srgbClr val="E6E6E6"/>
                </a:solidFill>
                <a:latin typeface="Consolas"/>
                <a:ea typeface="Consolas"/>
              </a:rPr>
              <a:t>SYS@orcl&gt; ALTER DATABASE BACKUP CONTROLFILE TO TRACE</a:t>
            </a:r>
          </a:p>
          <a:p>
            <a:pPr>
              <a:spcAft>
                <a:spcPts val="0"/>
              </a:spcAft>
            </a:pPr>
            <a:r>
              <a:rPr sz="1250" b="0">
                <a:solidFill>
                  <a:srgbClr val="E6E6E6"/>
                </a:solidFill>
                <a:latin typeface="Consolas"/>
                <a:ea typeface="Consolas"/>
              </a:rPr>
              <a:t>  2    AS '/home/oracle/backup/hot/control_20250509.txt';</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백업 구간을 덮는 아카이브 확인</a:t>
            </a:r>
          </a:p>
          <a:p>
            <a:pPr>
              <a:spcAft>
                <a:spcPts val="0"/>
              </a:spcAft>
            </a:pPr>
            <a:r>
              <a:rPr sz="1250" b="0">
                <a:solidFill>
                  <a:srgbClr val="E6E6E6"/>
                </a:solidFill>
                <a:latin typeface="Consolas"/>
                <a:ea typeface="Consolas"/>
              </a:rPr>
              <a:t>SYS@orcl&gt; SELECT MIN(change#) AS backup_start_scn FROM v$backup;</a:t>
            </a:r>
          </a:p>
          <a:p>
            <a:pPr>
              <a:spcAft>
                <a:spcPts val="0"/>
              </a:spcAft>
            </a:pPr>
            <a:r>
              <a:rPr sz="1250" b="0">
                <a:solidFill>
                  <a:srgbClr val="E6E6E6"/>
                </a:solidFill>
                <a:latin typeface="Consolas"/>
                <a:ea typeface="Consolas"/>
              </a:rPr>
              <a:t>BACKUP_START_SCN</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2341598</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sequence#, name, first_change#, next_change#</a:t>
            </a:r>
          </a:p>
          <a:p>
            <a:pPr>
              <a:spcAft>
                <a:spcPts val="0"/>
              </a:spcAft>
            </a:pPr>
            <a:r>
              <a:rPr sz="1250" b="0">
                <a:solidFill>
                  <a:srgbClr val="E6E6E6"/>
                </a:solidFill>
                <a:latin typeface="Consolas"/>
                <a:ea typeface="Consolas"/>
              </a:rPr>
              <a:t>  2  FROM   v$archived_log</a:t>
            </a:r>
          </a:p>
          <a:p>
            <a:pPr>
              <a:spcAft>
                <a:spcPts val="0"/>
              </a:spcAft>
            </a:pPr>
            <a:r>
              <a:rPr sz="1250" b="0">
                <a:solidFill>
                  <a:srgbClr val="E6E6E6"/>
                </a:solidFill>
                <a:latin typeface="Consolas"/>
                <a:ea typeface="Consolas"/>
              </a:rPr>
              <a:t>  3  WHERE  dest_id = 1 AND next_change# &gt; 2341598 ORDER BY sequence#;</a:t>
            </a:r>
          </a:p>
          <a:p>
            <a:pPr>
              <a:spcAft>
                <a:spcPts val="0"/>
              </a:spcAft>
            </a:pPr>
            <a:r>
              <a:rPr sz="1250" b="0">
                <a:solidFill>
                  <a:srgbClr val="E6E6E6"/>
                </a:solidFill>
                <a:latin typeface="Consolas"/>
                <a:ea typeface="Consolas"/>
              </a:rPr>
              <a:t> SEQUENCE# NAME                                          FIRST_CHANGE# NEXT_CHANGE#</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37 /home/oracle/arch1/arch_1_37_1200525254.arc         2341425      2342806</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!cp -v /home/oracle/arch1/arch_1_37_1200525254.arc /home/oracle/backup/hot/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목록 문서화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백업본이 어느 시점의 것이고 무엇을 포함하는지 기록한다</a:t>
            </a:r>
          </a:p>
          <a:p>
            <a:pPr>
              <a:spcAft>
                <a:spcPts val="600"/>
              </a:spcAft>
            </a:pPr>
            <a:r>
              <a:rPr sz="1800" b="0">
                <a:solidFill>
                  <a:srgbClr val="202830"/>
                </a:solidFill>
                <a:latin typeface="Malgun Gothic"/>
                <a:ea typeface="Malgun Gothic"/>
              </a:rPr>
              <a:t>•  최소한 남길 항목</a:t>
            </a:r>
          </a:p>
          <a:p>
            <a:pPr>
              <a:spcAft>
                <a:spcPts val="600"/>
              </a:spcAft>
            </a:pPr>
            <a:r>
              <a:rPr sz="1600" b="0">
                <a:solidFill>
                  <a:srgbClr val="5A6672"/>
                </a:solidFill>
                <a:latin typeface="Malgun Gothic"/>
                <a:ea typeface="Malgun Gothic"/>
              </a:rPr>
              <a:t>    –  백업 수행 시각과 방식 (cold/hot, 전체/부분)</a:t>
            </a:r>
          </a:p>
          <a:p>
            <a:pPr>
              <a:spcAft>
                <a:spcPts val="600"/>
              </a:spcAft>
            </a:pPr>
            <a:r>
              <a:rPr sz="1600" b="0">
                <a:solidFill>
                  <a:srgbClr val="5A6672"/>
                </a:solidFill>
                <a:latin typeface="Malgun Gothic"/>
                <a:ea typeface="Malgun Gothic"/>
              </a:rPr>
              <a:t>    –  백업 시작·종료 SCN</a:t>
            </a:r>
          </a:p>
          <a:p>
            <a:pPr>
              <a:spcAft>
                <a:spcPts val="600"/>
              </a:spcAft>
            </a:pPr>
            <a:r>
              <a:rPr sz="1600" b="0">
                <a:solidFill>
                  <a:srgbClr val="5A6672"/>
                </a:solidFill>
                <a:latin typeface="Malgun Gothic"/>
                <a:ea typeface="Malgun Gothic"/>
              </a:rPr>
              <a:t>    –  포함된 데이터 파일 목록</a:t>
            </a:r>
          </a:p>
          <a:p>
            <a:pPr>
              <a:spcAft>
                <a:spcPts val="600"/>
              </a:spcAft>
            </a:pPr>
            <a:r>
              <a:rPr sz="1600" b="0">
                <a:solidFill>
                  <a:srgbClr val="5A6672"/>
                </a:solidFill>
                <a:latin typeface="Malgun Gothic"/>
                <a:ea typeface="Malgun Gothic"/>
              </a:rPr>
              <a:t>    –  필요한 아카이브 로그의 시퀀스 범위</a:t>
            </a:r>
          </a:p>
          <a:p>
            <a:pPr>
              <a:spcAft>
                <a:spcPts val="600"/>
              </a:spcAft>
            </a:pPr>
            <a:r>
              <a:rPr sz="1600" b="0">
                <a:solidFill>
                  <a:srgbClr val="5A6672"/>
                </a:solidFill>
                <a:latin typeface="Malgun Gothic"/>
                <a:ea typeface="Malgun Gothic"/>
              </a:rPr>
              <a:t>    –  제어 파일 백업 파일명, DBID</a:t>
            </a:r>
          </a:p>
          <a:p>
            <a:pPr>
              <a:spcAft>
                <a:spcPts val="600"/>
              </a:spcAft>
            </a:pPr>
            <a:r>
              <a:rPr sz="1800" b="0">
                <a:solidFill>
                  <a:srgbClr val="202830"/>
                </a:solidFill>
                <a:latin typeface="Malgun Gothic"/>
                <a:ea typeface="Malgun Gothic"/>
              </a:rPr>
              <a:t>•  기록이 없으면 장애 시점에 판단하는 데 시간을 쓴다 — 그 시간이 곧 중단 시간</a:t>
            </a:r>
          </a:p>
          <a:p>
            <a:pPr>
              <a:spcAft>
                <a:spcPts val="600"/>
              </a:spcAft>
            </a:pPr>
            <a:r>
              <a:rPr sz="1800" b="0">
                <a:solidFill>
                  <a:srgbClr val="202830"/>
                </a:solidFill>
                <a:latin typeface="Malgun Gothic"/>
                <a:ea typeface="Malgun Gothic"/>
              </a:rPr>
              <a:t>•  RMAN을 쓰면 이 정보가 제어 파일이나 카탈로그에 자동 기록된다 (13장)</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3.6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백업 스크립트 작성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복사 대상은 손으로 적지 않고 조회로 생성한다</a:t>
            </a:r>
          </a:p>
          <a:p>
            <a:pPr>
              <a:spcAft>
                <a:spcPts val="600"/>
              </a:spcAft>
            </a:pPr>
            <a:r>
              <a:rPr sz="1600" b="0">
                <a:solidFill>
                  <a:srgbClr val="C5CED6"/>
                </a:solidFill>
                <a:latin typeface="Malgun Gothic"/>
                <a:ea typeface="Malgun Gothic"/>
              </a:rPr>
              <a:t>•  실패해도 END BACKUP이 실행되도록 보호한다</a:t>
            </a:r>
          </a:p>
          <a:p>
            <a:pPr>
              <a:spcAft>
                <a:spcPts val="600"/>
              </a:spcAft>
            </a:pPr>
            <a:r>
              <a:rPr sz="1600" b="0">
                <a:solidFill>
                  <a:srgbClr val="C5CED6"/>
                </a:solidFill>
                <a:latin typeface="Malgun Gothic"/>
                <a:ea typeface="Malgun Gothic"/>
              </a:rPr>
              <a:t>•  성공 코드만 믿지 말고 결과를 검증한다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Cold Backup 스크립트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종료가 성공했을 때만 복사로 넘어간다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#!/bin/bash</a:t>
            </a:r>
          </a:p>
          <a:p>
            <a:pPr>
              <a:spcAft>
                <a:spcPts val="0"/>
              </a:spcAft>
            </a:pPr>
            <a:r>
              <a:rPr sz="1250" b="0">
                <a:solidFill>
                  <a:srgbClr val="E6E6E6"/>
                </a:solidFill>
                <a:latin typeface="Consolas"/>
                <a:ea typeface="Consolas"/>
              </a:rPr>
              <a:t>set -e</a:t>
            </a:r>
          </a:p>
          <a:p>
            <a:pPr>
              <a:spcAft>
                <a:spcPts val="0"/>
              </a:spcAft>
            </a:pPr>
            <a:r>
              <a:rPr sz="1250" b="0">
                <a:solidFill>
                  <a:srgbClr val="E6E6E6"/>
                </a:solidFill>
                <a:latin typeface="Consolas"/>
                <a:ea typeface="Consolas"/>
              </a:rPr>
              <a:t>BKP=/home/oracle/backup/cold/$(date +%Y%m%d)</a:t>
            </a:r>
          </a:p>
          <a:p>
            <a:pPr>
              <a:spcAft>
                <a:spcPts val="0"/>
              </a:spcAft>
            </a:pPr>
            <a:r>
              <a:rPr sz="1250" b="0">
                <a:solidFill>
                  <a:srgbClr val="E6E6E6"/>
                </a:solidFill>
                <a:latin typeface="Consolas"/>
                <a:ea typeface="Consolas"/>
              </a:rPr>
              <a:t>SRC=/u01/app/oracle/oradata/orcl</a:t>
            </a:r>
          </a:p>
          <a:p>
            <a:pPr>
              <a:spcAft>
                <a:spcPts val="0"/>
              </a:spcAft>
            </a:pPr>
            <a:r>
              <a:rPr sz="1250" b="0">
                <a:solidFill>
                  <a:srgbClr val="E6E6E6"/>
                </a:solidFill>
                <a:latin typeface="Consolas"/>
                <a:ea typeface="Consolas"/>
              </a:rPr>
              <a:t>SRC2=/u02/oradata/orcl</a:t>
            </a:r>
          </a:p>
          <a:p>
            <a:pPr>
              <a:spcAft>
                <a:spcPts val="0"/>
              </a:spcAft>
            </a:pPr>
            <a:r>
              <a:rPr sz="1250" b="0">
                <a:solidFill>
                  <a:srgbClr val="E6E6E6"/>
                </a:solidFill>
                <a:latin typeface="Consolas"/>
                <a:ea typeface="Consolas"/>
              </a:rPr>
              <a:t>mkdir -p $BKP</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1) 정상 종료</a:t>
            </a:r>
          </a:p>
          <a:p>
            <a:pPr>
              <a:spcAft>
                <a:spcPts val="0"/>
              </a:spcAft>
            </a:pPr>
            <a:r>
              <a:rPr sz="1250" b="0">
                <a:solidFill>
                  <a:srgbClr val="E6E6E6"/>
                </a:solidFill>
                <a:latin typeface="Consolas"/>
                <a:ea typeface="Consolas"/>
              </a:rPr>
              <a:t>sqlplus -s / as sysdba &lt;&lt;EOF</a:t>
            </a:r>
          </a:p>
          <a:p>
            <a:pPr>
              <a:spcAft>
                <a:spcPts val="0"/>
              </a:spcAft>
            </a:pPr>
            <a:r>
              <a:rPr sz="1250" b="0">
                <a:solidFill>
                  <a:srgbClr val="E6E6E6"/>
                </a:solidFill>
                <a:latin typeface="Consolas"/>
                <a:ea typeface="Consolas"/>
              </a:rPr>
              <a:t>WHENEVER SQLERROR EXIT 1</a:t>
            </a:r>
          </a:p>
          <a:p>
            <a:pPr>
              <a:spcAft>
                <a:spcPts val="0"/>
              </a:spcAft>
            </a:pPr>
            <a:r>
              <a:rPr sz="1250" b="0">
                <a:solidFill>
                  <a:srgbClr val="E6E6E6"/>
                </a:solidFill>
                <a:latin typeface="Consolas"/>
                <a:ea typeface="Consolas"/>
              </a:rPr>
              <a:t>SHUTDOWN IMMEDIATE</a:t>
            </a:r>
          </a:p>
          <a:p>
            <a:pPr>
              <a:spcAft>
                <a:spcPts val="0"/>
              </a:spcAft>
            </a:pPr>
            <a:r>
              <a:rPr sz="1250" b="0">
                <a:solidFill>
                  <a:srgbClr val="E6E6E6"/>
                </a:solidFill>
                <a:latin typeface="Consolas"/>
                <a:ea typeface="Consolas"/>
              </a:rPr>
              <a:t>EOF</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2) 복사 (종료가 성공했을 때만 도달)</a:t>
            </a:r>
          </a:p>
          <a:p>
            <a:pPr>
              <a:spcAft>
                <a:spcPts val="0"/>
              </a:spcAft>
            </a:pPr>
            <a:r>
              <a:rPr sz="1250" b="0">
                <a:solidFill>
                  <a:srgbClr val="E6E6E6"/>
                </a:solidFill>
                <a:latin typeface="Consolas"/>
                <a:ea typeface="Consolas"/>
              </a:rPr>
              <a:t>cp -p $SRC/*.dbf $SRC/*.ctl $SRC/*.log $BKP/</a:t>
            </a:r>
          </a:p>
          <a:p>
            <a:pPr>
              <a:spcAft>
                <a:spcPts val="0"/>
              </a:spcAft>
            </a:pPr>
            <a:r>
              <a:rPr sz="1250" b="0">
                <a:solidFill>
                  <a:srgbClr val="E6E6E6"/>
                </a:solidFill>
                <a:latin typeface="Consolas"/>
                <a:ea typeface="Consolas"/>
              </a:rPr>
              <a:t>cp -p $SRC2/*.log $BKP/ 2&gt;/dev/null || true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3) 기동 + 파라미터 파일 사본</a:t>
            </a:r>
          </a:p>
          <a:p>
            <a:pPr>
              <a:spcAft>
                <a:spcPts val="0"/>
              </a:spcAft>
            </a:pPr>
            <a:r>
              <a:rPr sz="1250" b="0">
                <a:solidFill>
                  <a:srgbClr val="E6E6E6"/>
                </a:solidFill>
                <a:latin typeface="Consolas"/>
                <a:ea typeface="Consolas"/>
              </a:rPr>
              <a:t>sqlplus -s / as sysdba &lt;&lt;EOF</a:t>
            </a:r>
          </a:p>
          <a:p>
            <a:pPr>
              <a:spcAft>
                <a:spcPts val="0"/>
              </a:spcAft>
            </a:pPr>
            <a:r>
              <a:rPr sz="1250" b="0">
                <a:solidFill>
                  <a:srgbClr val="E6E6E6"/>
                </a:solidFill>
                <a:latin typeface="Consolas"/>
                <a:ea typeface="Consolas"/>
              </a:rPr>
              <a:t>STARTUP</a:t>
            </a:r>
          </a:p>
          <a:p>
            <a:pPr>
              <a:spcAft>
                <a:spcPts val="0"/>
              </a:spcAft>
            </a:pPr>
            <a:r>
              <a:rPr sz="1250" b="0">
                <a:solidFill>
                  <a:srgbClr val="E6E6E6"/>
                </a:solidFill>
                <a:latin typeface="Consolas"/>
                <a:ea typeface="Consolas"/>
              </a:rPr>
              <a:t>CREATE PFILE='$BKP/initorcl.ora' FROM SPFILE;</a:t>
            </a:r>
          </a:p>
          <a:p>
            <a:pPr>
              <a:spcAft>
                <a:spcPts val="0"/>
              </a:spcAft>
            </a:pPr>
            <a:r>
              <a:rPr sz="1250" b="0">
                <a:solidFill>
                  <a:srgbClr val="E6E6E6"/>
                </a:solidFill>
                <a:latin typeface="Consolas"/>
                <a:ea typeface="Consolas"/>
              </a:rPr>
              <a:t>EXIT</a:t>
            </a:r>
          </a:p>
          <a:p>
            <a:pPr>
              <a:spcAft>
                <a:spcPts val="0"/>
              </a:spcAft>
            </a:pPr>
            <a:r>
              <a:rPr sz="1250" b="0">
                <a:solidFill>
                  <a:srgbClr val="E6E6E6"/>
                </a:solidFill>
                <a:latin typeface="Consolas"/>
                <a:ea typeface="Consolas"/>
              </a:rPr>
              <a:t>EOF</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Hot Backup 스크립트와 검증</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구조 — 테이블스페이스 단위 반복</a:t>
            </a:r>
          </a:p>
          <a:p>
            <a:pPr>
              <a:spcAft>
                <a:spcPts val="600"/>
              </a:spcAft>
            </a:pPr>
            <a:r>
              <a:rPr sz="1600" b="0">
                <a:solidFill>
                  <a:srgbClr val="5A6672"/>
                </a:solidFill>
                <a:latin typeface="Malgun Gothic"/>
                <a:ea typeface="Malgun Gothic"/>
              </a:rPr>
              <a:t>    –  목록 조회 → BEGIN BACKUP → 복사 → END BACKUP 반복</a:t>
            </a:r>
          </a:p>
          <a:p>
            <a:pPr>
              <a:spcAft>
                <a:spcPts val="600"/>
              </a:spcAft>
            </a:pPr>
            <a:r>
              <a:rPr sz="1600" b="0">
                <a:solidFill>
                  <a:srgbClr val="5A6672"/>
                </a:solidFill>
                <a:latin typeface="Malgun Gothic"/>
                <a:ea typeface="Malgun Gothic"/>
              </a:rPr>
              <a:t>    –  전체 종료 후 ARCHIVE LOG CURRENT와 제어 파일 백업</a:t>
            </a:r>
          </a:p>
          <a:p>
            <a:pPr>
              <a:spcAft>
                <a:spcPts val="600"/>
              </a:spcAft>
            </a:pPr>
            <a:r>
              <a:rPr sz="1800" b="0">
                <a:solidFill>
                  <a:srgbClr val="202830"/>
                </a:solidFill>
                <a:latin typeface="Malgun Gothic"/>
                <a:ea typeface="Malgun Gothic"/>
              </a:rPr>
              <a:t>•  보호 장치 — trap으로 마지막에 END BACKUP을 한 번 더 호출</a:t>
            </a:r>
          </a:p>
          <a:p>
            <a:pPr>
              <a:spcAft>
                <a:spcPts val="600"/>
              </a:spcAft>
            </a:pPr>
            <a:r>
              <a:rPr sz="1600" b="0">
                <a:solidFill>
                  <a:srgbClr val="5A6672"/>
                </a:solidFill>
                <a:latin typeface="Malgun Gothic"/>
                <a:ea typeface="Malgun Gothic"/>
              </a:rPr>
              <a:t>    –  이미 해제된 상태에서 호출하면 오류가 나지만 무시해도 된다</a:t>
            </a:r>
          </a:p>
          <a:p>
            <a:pPr>
              <a:spcAft>
                <a:spcPts val="600"/>
              </a:spcAft>
            </a:pPr>
            <a:r>
              <a:rPr sz="1800" b="0">
                <a:solidFill>
                  <a:srgbClr val="202830"/>
                </a:solidFill>
                <a:latin typeface="Malgun Gothic"/>
                <a:ea typeface="Malgun Gothic"/>
              </a:rPr>
              <a:t>•  백업 후 검증 다섯 가지</a:t>
            </a:r>
          </a:p>
          <a:p>
            <a:pPr>
              <a:spcAft>
                <a:spcPts val="600"/>
              </a:spcAft>
            </a:pPr>
            <a:r>
              <a:rPr sz="1600" b="0">
                <a:solidFill>
                  <a:srgbClr val="5A6672"/>
                </a:solidFill>
                <a:latin typeface="Malgun Gothic"/>
                <a:ea typeface="Malgun Gothic"/>
              </a:rPr>
              <a:t>    –  파일 개수·크기가 원본과 일치 / 백업 모드 잔류 0</a:t>
            </a:r>
          </a:p>
          <a:p>
            <a:pPr>
              <a:spcAft>
                <a:spcPts val="600"/>
              </a:spcAft>
            </a:pPr>
            <a:r>
              <a:rPr sz="1600" b="0">
                <a:solidFill>
                  <a:srgbClr val="5A6672"/>
                </a:solidFill>
                <a:latin typeface="Malgun Gothic"/>
                <a:ea typeface="Malgun Gothic"/>
              </a:rPr>
              <a:t>    –  백업 구간 아카이브 생성 / 제어 파일 백업 존재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NOARCHIVELOG에서 가능한 백업</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NOARCHIVELOG 모드에서 성립하는 백업 조합은?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부분 + 일관성 없는 + 온라인</a:t>
            </a:r>
          </a:p>
          <a:p>
            <a:pPr>
              <a:spcAft>
                <a:spcPts val="800"/>
              </a:spcAft>
            </a:pPr>
            <a:r>
              <a:rPr sz="1700" b="0">
                <a:solidFill>
                  <a:srgbClr val="202830"/>
                </a:solidFill>
                <a:latin typeface="Malgun Gothic"/>
                <a:ea typeface="Malgun Gothic"/>
              </a:rPr>
              <a:t>(b) 전체 + 일관성 있는 + 오프라인</a:t>
            </a:r>
          </a:p>
          <a:p>
            <a:pPr>
              <a:spcAft>
                <a:spcPts val="800"/>
              </a:spcAft>
            </a:pPr>
            <a:r>
              <a:rPr sz="1700" b="0">
                <a:solidFill>
                  <a:srgbClr val="202830"/>
                </a:solidFill>
                <a:latin typeface="Malgun Gothic"/>
                <a:ea typeface="Malgun Gothic"/>
              </a:rPr>
              <a:t>(c) 전체 + 일관성 없는 + 온라인</a:t>
            </a:r>
          </a:p>
          <a:p>
            <a:pPr>
              <a:spcAft>
                <a:spcPts val="800"/>
              </a:spcAft>
            </a:pPr>
            <a:r>
              <a:rPr sz="1700" b="0">
                <a:solidFill>
                  <a:srgbClr val="202830"/>
                </a:solidFill>
                <a:latin typeface="Malgun Gothic"/>
                <a:ea typeface="Malgun Gothic"/>
              </a:rPr>
              <a:t>(d) 부분 + 일관성 있는 + 오프라인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BEGIN BACKUP이 하는 일</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ALTER TABLESPACE ... BEGIN BACKUP이 수행하는 동작이 아닌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해당 테이블스페이스에 체크포인트를 수행한다</a:t>
            </a:r>
          </a:p>
          <a:p>
            <a:pPr>
              <a:spcAft>
                <a:spcPts val="800"/>
              </a:spcAft>
            </a:pPr>
            <a:r>
              <a:rPr sz="1700" b="0">
                <a:solidFill>
                  <a:srgbClr val="202830"/>
                </a:solidFill>
                <a:latin typeface="Malgun Gothic"/>
                <a:ea typeface="Malgun Gothic"/>
              </a:rPr>
              <a:t>(b) 데이터 파일 헤더의 체크포인트 SCN을 동결한다</a:t>
            </a:r>
          </a:p>
          <a:p>
            <a:pPr>
              <a:spcAft>
                <a:spcPts val="800"/>
              </a:spcAft>
            </a:pPr>
            <a:r>
              <a:rPr sz="1700" b="0">
                <a:solidFill>
                  <a:srgbClr val="202830"/>
                </a:solidFill>
                <a:latin typeface="Malgun Gothic"/>
                <a:ea typeface="Malgun Gothic"/>
              </a:rPr>
              <a:t>(c) 변경 블록의 전체 이미지를 리두에 기록하도록 전환한다</a:t>
            </a:r>
          </a:p>
          <a:p>
            <a:pPr>
              <a:spcAft>
                <a:spcPts val="800"/>
              </a:spcAft>
            </a:pPr>
            <a:r>
              <a:rPr sz="1700" b="0">
                <a:solidFill>
                  <a:srgbClr val="202830"/>
                </a:solidFill>
                <a:latin typeface="Malgun Gothic"/>
                <a:ea typeface="Malgun Gothic"/>
              </a:rPr>
              <a:t>(d) 데이터 파일에 대한 쓰기를 중단시킨다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Hot Backup의 리두 증가</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백업 모드에서 리두 생성량이 늘어나는 이유는?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리두 로그 버퍼가 작아지기 때문</a:t>
            </a:r>
          </a:p>
          <a:p>
            <a:pPr>
              <a:spcAft>
                <a:spcPts val="800"/>
              </a:spcAft>
            </a:pPr>
            <a:r>
              <a:rPr sz="1700" b="0">
                <a:solidFill>
                  <a:srgbClr val="202830"/>
                </a:solidFill>
                <a:latin typeface="Malgun Gothic"/>
                <a:ea typeface="Malgun Gothic"/>
              </a:rPr>
              <a:t>(b) 변경된 블록의 전체 이미지가 리두에 기록되기 때문</a:t>
            </a:r>
          </a:p>
          <a:p>
            <a:pPr>
              <a:spcAft>
                <a:spcPts val="800"/>
              </a:spcAft>
            </a:pPr>
            <a:r>
              <a:rPr sz="1700" b="0">
                <a:solidFill>
                  <a:srgbClr val="202830"/>
                </a:solidFill>
                <a:latin typeface="Malgun Gothic"/>
                <a:ea typeface="Malgun Gothic"/>
              </a:rPr>
              <a:t>(c) 아카이브가 두 배로 생성되기 때문</a:t>
            </a:r>
          </a:p>
          <a:p>
            <a:pPr>
              <a:spcAft>
                <a:spcPts val="800"/>
              </a:spcAft>
            </a:pPr>
            <a:r>
              <a:rPr sz="1700" b="0">
                <a:solidFill>
                  <a:srgbClr val="202830"/>
                </a:solidFill>
                <a:latin typeface="Malgun Gothic"/>
                <a:ea typeface="Malgun Gothic"/>
              </a:rPr>
              <a:t>(d) 체크포인트가 자주 발생하기 때문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4</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백업 모드 잔류</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백업 모드인 상태에서 SHUTDOWN IMMEDIATE를 시도하면?</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정상 종료된다</a:t>
            </a:r>
          </a:p>
          <a:p>
            <a:pPr>
              <a:spcAft>
                <a:spcPts val="800"/>
              </a:spcAft>
            </a:pPr>
            <a:r>
              <a:rPr sz="1700" b="0">
                <a:solidFill>
                  <a:srgbClr val="202830"/>
                </a:solidFill>
                <a:latin typeface="Malgun Gothic"/>
                <a:ea typeface="Malgun Gothic"/>
              </a:rPr>
              <a:t>(b) ORA-01149로 거부된다</a:t>
            </a:r>
          </a:p>
          <a:p>
            <a:pPr>
              <a:spcAft>
                <a:spcPts val="800"/>
              </a:spcAft>
            </a:pPr>
            <a:r>
              <a:rPr sz="1700" b="0">
                <a:solidFill>
                  <a:srgbClr val="202830"/>
                </a:solidFill>
                <a:latin typeface="Malgun Gothic"/>
                <a:ea typeface="Malgun Gothic"/>
              </a:rPr>
              <a:t>(c) 자동으로 END BACKUP이 수행된다</a:t>
            </a:r>
          </a:p>
          <a:p>
            <a:pPr>
              <a:spcAft>
                <a:spcPts val="800"/>
              </a:spcAft>
            </a:pPr>
            <a:r>
              <a:rPr sz="1700" b="0">
                <a:solidFill>
                  <a:srgbClr val="202830"/>
                </a:solidFill>
                <a:latin typeface="Malgun Gothic"/>
                <a:ea typeface="Malgun Gothic"/>
              </a:rPr>
              <a:t>(d) 인스턴스가 강제 종료된다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5</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Hot Backup에 포함하지 않는 것</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Hot Backup에서 복사하지 않아야 하는 파일은?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데이터 파일</a:t>
            </a:r>
          </a:p>
          <a:p>
            <a:pPr>
              <a:spcAft>
                <a:spcPts val="800"/>
              </a:spcAft>
            </a:pPr>
            <a:r>
              <a:rPr sz="1700" b="0">
                <a:solidFill>
                  <a:srgbClr val="202830"/>
                </a:solidFill>
                <a:latin typeface="Malgun Gothic"/>
                <a:ea typeface="Malgun Gothic"/>
              </a:rPr>
              <a:t>(b) 온라인 리두 로그</a:t>
            </a:r>
          </a:p>
          <a:p>
            <a:pPr>
              <a:spcAft>
                <a:spcPts val="800"/>
              </a:spcAft>
            </a:pPr>
            <a:r>
              <a:rPr sz="1700" b="0">
                <a:solidFill>
                  <a:srgbClr val="202830"/>
                </a:solidFill>
                <a:latin typeface="Malgun Gothic"/>
                <a:ea typeface="Malgun Gothic"/>
              </a:rPr>
              <a:t>(c) 제어 파일 백업</a:t>
            </a:r>
          </a:p>
          <a:p>
            <a:pPr>
              <a:spcAft>
                <a:spcPts val="800"/>
              </a:spcAft>
            </a:pPr>
            <a:r>
              <a:rPr sz="1700" b="0">
                <a:solidFill>
                  <a:srgbClr val="202830"/>
                </a:solidFill>
                <a:latin typeface="Malgun Gothic"/>
                <a:ea typeface="Malgun Gothic"/>
              </a:rPr>
              <a:t>(d) 아카이브 리두 로그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6</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END BACKUP 직후의 작업</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Hot Backup 종료 직후 반드시 수행해야 하는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ALTER SYSTEM SWITCH LOGFILE</a:t>
            </a:r>
          </a:p>
          <a:p>
            <a:pPr>
              <a:spcAft>
                <a:spcPts val="800"/>
              </a:spcAft>
            </a:pPr>
            <a:r>
              <a:rPr sz="1700" b="0">
                <a:solidFill>
                  <a:srgbClr val="202830"/>
                </a:solidFill>
                <a:latin typeface="Malgun Gothic"/>
                <a:ea typeface="Malgun Gothic"/>
              </a:rPr>
              <a:t>(b) ALTER SYSTEM ARCHIVE LOG CURRENT</a:t>
            </a:r>
          </a:p>
          <a:p>
            <a:pPr>
              <a:spcAft>
                <a:spcPts val="800"/>
              </a:spcAft>
            </a:pPr>
            <a:r>
              <a:rPr sz="1700" b="0">
                <a:solidFill>
                  <a:srgbClr val="202830"/>
                </a:solidFill>
                <a:latin typeface="Malgun Gothic"/>
                <a:ea typeface="Malgun Gothic"/>
              </a:rPr>
              <a:t>(c) ALTER SYSTEM CHECKPOINT</a:t>
            </a:r>
          </a:p>
          <a:p>
            <a:pPr>
              <a:spcAft>
                <a:spcPts val="800"/>
              </a:spcAft>
            </a:pPr>
            <a:r>
              <a:rPr sz="1700" b="0">
                <a:solidFill>
                  <a:srgbClr val="202830"/>
                </a:solidFill>
                <a:latin typeface="Malgun Gothic"/>
                <a:ea typeface="Malgun Gothic"/>
              </a:rPr>
              <a:t>(d) SHUTDOWN IMMEDIATE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백업의 세 축은 로그 모드가 제한한다 — NOARCHIVELOG에서는 조합이 하나뿐</a:t>
            </a:r>
          </a:p>
          <a:p>
            <a:pPr>
              <a:spcAft>
                <a:spcPts val="600"/>
              </a:spcAft>
            </a:pPr>
            <a:r>
              <a:rPr sz="1800" b="0">
                <a:solidFill>
                  <a:srgbClr val="202830"/>
                </a:solidFill>
                <a:latin typeface="Malgun Gothic"/>
                <a:ea typeface="Malgun Gothic"/>
              </a:rPr>
              <a:t>•  Cold와 Hot의 선택 기준은 백업 창 확보 가능 여부</a:t>
            </a:r>
          </a:p>
          <a:p>
            <a:pPr>
              <a:spcAft>
                <a:spcPts val="600"/>
              </a:spcAft>
            </a:pPr>
            <a:r>
              <a:rPr sz="1800" b="0">
                <a:solidFill>
                  <a:srgbClr val="202830"/>
                </a:solidFill>
                <a:latin typeface="Malgun Gothic"/>
                <a:ea typeface="Malgun Gothic"/>
              </a:rPr>
              <a:t>•  Cold는 정상 종료 후 복사. ABORT 후 백업은 일관성이 없어 NOARCHIVELOG에서 쓸 수 없다</a:t>
            </a:r>
          </a:p>
          <a:p>
            <a:pPr>
              <a:spcAft>
                <a:spcPts val="600"/>
              </a:spcAft>
            </a:pPr>
            <a:r>
              <a:rPr sz="1800" b="0">
                <a:solidFill>
                  <a:srgbClr val="202830"/>
                </a:solidFill>
                <a:latin typeface="Malgun Gothic"/>
                <a:ea typeface="Malgun Gothic"/>
              </a:rPr>
              <a:t>•  FUZZY가 NO이고 SCN이 일치하면 일관성 있는 백업본 — 복원 후 바로 열린다</a:t>
            </a:r>
          </a:p>
          <a:p>
            <a:pPr>
              <a:spcAft>
                <a:spcPts val="600"/>
              </a:spcAft>
            </a:pPr>
            <a:r>
              <a:rPr sz="1800" b="0">
                <a:solidFill>
                  <a:srgbClr val="202830"/>
                </a:solidFill>
                <a:latin typeface="Malgun Gothic"/>
                <a:ea typeface="Malgun Gothic"/>
              </a:rPr>
              <a:t>•  BEGIN BACKUP은 헤더 SCN을 동결하고 블록 전체 이미지를 리두에 남긴다. 쓰기는 계속된다</a:t>
            </a:r>
          </a:p>
          <a:p>
            <a:pPr>
              <a:spcAft>
                <a:spcPts val="600"/>
              </a:spcAft>
            </a:pPr>
            <a:r>
              <a:rPr sz="1800" b="0">
                <a:solidFill>
                  <a:srgbClr val="202830"/>
                </a:solidFill>
                <a:latin typeface="Malgun Gothic"/>
                <a:ea typeface="Malgun Gothic"/>
              </a:rPr>
              <a:t>•  백업 모드에서 리두가 크게 늘어난다 — TS 단위로 나눠 받으면 영향이 준다</a:t>
            </a:r>
          </a:p>
          <a:p>
            <a:pPr>
              <a:spcAft>
                <a:spcPts val="600"/>
              </a:spcAft>
            </a:pPr>
            <a:r>
              <a:rPr sz="1800" b="0">
                <a:solidFill>
                  <a:srgbClr val="202830"/>
                </a:solidFill>
                <a:latin typeface="Malgun Gothic"/>
                <a:ea typeface="Malgun Gothic"/>
              </a:rPr>
              <a:t>•  백업 모드 잔류는 겉으로 드러나지 않는다 — v$backup의 ACTIVE를 정기 점검</a:t>
            </a:r>
          </a:p>
          <a:p>
            <a:pPr>
              <a:spcAft>
                <a:spcPts val="600"/>
              </a:spcAft>
            </a:pPr>
            <a:r>
              <a:rPr sz="1800" b="0">
                <a:solidFill>
                  <a:srgbClr val="202830"/>
                </a:solidFill>
                <a:latin typeface="Malgun Gothic"/>
                <a:ea typeface="Malgun Gothic"/>
              </a:rPr>
              <a:t>•  END BACKUP → ARCHIVE LOG CURRENT → 제어 파일 백업으로 백업 세트를 완성한다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3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장의 실습에서 만든 백업본은 4장 이후 모든 시나리오의 출발점이다. 삭제하지 않는다</a:t>
            </a:r>
          </a:p>
          <a:p>
            <a:pPr>
              <a:spcAft>
                <a:spcPts val="600"/>
              </a:spcAft>
            </a:pPr>
            <a:r>
              <a:rPr sz="1800" b="0">
                <a:solidFill>
                  <a:srgbClr val="202830"/>
                </a:solidFill>
                <a:latin typeface="Malgun Gothic"/>
                <a:ea typeface="Malgun Gothic"/>
              </a:rPr>
              <a:t>•  실습 3-1  Cold Backup 수행 — 정상 종료 후 전체 복사, SCN 일치 확인</a:t>
            </a:r>
          </a:p>
          <a:p>
            <a:pPr>
              <a:spcAft>
                <a:spcPts val="600"/>
              </a:spcAft>
            </a:pPr>
            <a:r>
              <a:rPr sz="1800" b="0">
                <a:solidFill>
                  <a:srgbClr val="202830"/>
                </a:solidFill>
                <a:latin typeface="Malgun Gothic"/>
                <a:ea typeface="Malgun Gothic"/>
              </a:rPr>
              <a:t>•  실습 3-2  ABORT 후 백업본의 위험성 — FUZZY 관찰과 안전화 절차</a:t>
            </a:r>
          </a:p>
          <a:p>
            <a:pPr>
              <a:spcAft>
                <a:spcPts val="600"/>
              </a:spcAft>
            </a:pPr>
            <a:r>
              <a:rPr sz="1800" b="0">
                <a:solidFill>
                  <a:srgbClr val="202830"/>
                </a:solidFill>
                <a:latin typeface="Malgun Gothic"/>
                <a:ea typeface="Malgun Gothic"/>
              </a:rPr>
              <a:t>•  실습 3-3  Hot Backup 수행 — 테이블스페이스 단위 BEGIN/END BACKUP</a:t>
            </a:r>
          </a:p>
          <a:p>
            <a:pPr>
              <a:spcAft>
                <a:spcPts val="600"/>
              </a:spcAft>
            </a:pPr>
            <a:r>
              <a:rPr sz="1800" b="0">
                <a:solidFill>
                  <a:srgbClr val="202830"/>
                </a:solidFill>
                <a:latin typeface="Malgun Gothic"/>
                <a:ea typeface="Malgun Gothic"/>
              </a:rPr>
              <a:t>•  실습 3-4  백업 모드의 리두 생성량 관찰 — v$mystat 전후 비교</a:t>
            </a:r>
          </a:p>
          <a:p>
            <a:pPr>
              <a:spcAft>
                <a:spcPts val="600"/>
              </a:spcAft>
            </a:pPr>
            <a:r>
              <a:rPr sz="1800" b="0">
                <a:solidFill>
                  <a:srgbClr val="202830"/>
                </a:solidFill>
                <a:latin typeface="Malgun Gothic"/>
                <a:ea typeface="Malgun Gothic"/>
              </a:rPr>
              <a:t>•  실습 3-5  백업 모드 잔류 재현과 해소 — 종료 오류, MOUNT에서 END BACKUP</a:t>
            </a:r>
          </a:p>
          <a:p>
            <a:pPr>
              <a:spcAft>
                <a:spcPts val="600"/>
              </a:spcAft>
            </a:pPr>
            <a:r>
              <a:rPr sz="1800" b="0">
                <a:solidFill>
                  <a:srgbClr val="202830"/>
                </a:solidFill>
                <a:latin typeface="Malgun Gothic"/>
                <a:ea typeface="Malgun Gothic"/>
              </a:rPr>
              <a:t>•  실습 3-6  백업 세트 완성 — 제어 파일 백업, 아카이브 확보, 매니페스트</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백업은 복원 테스트로 완성된다. 분기 1회 별도 장비에서 실제로 복원해 열어 보지 않으면 유효성을 알 수 없다.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
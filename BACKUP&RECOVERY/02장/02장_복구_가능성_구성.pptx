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1장이 '무엇이 복구를 가능하게 하는가'를 개념으로 다뤘다면 2장은 그것을 실제 구성으로 옮긴다. 여기서 만든 구성이 3장 이후 모든 백업·복구 실습의 전제가 된다. 특히 ARCHIVELOG 전환은 8~12장 시나리오의 출발점이므로 이 장에서 전환한 상태를 그대로 유지한다. 4~7장은 NOARCHIVELOG 시나리오라 그 구간에서만 일시적으로 모드를 내렸다가 8장 전에 복원한다. 본문 27,580자를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1장과 달리 실제로 데이터베이스 구성을 바꾼다. 수강생이 실습 환경을 직접 만지는 첫 장이므로 되돌리는 방법을 함께 알려 주는 편이 좋다. 특히 ARCHIVELOG 전환은 되돌릴 수 있지만 그 사이 생성된 아카이브 관리가 남으므로, 실습 환경이라도 무심코 반복 전환하지 않도록 안내한다. 다섯 목표 중 마지막 항목만 장애 상황을 다루며 나머지는 구성 작업이다.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절의 흐름은 '리두를 보존하게 만들고(2.1~2.2) → 저장 공간을 관리하고(2.3) → 핵심 파일을 이중화하고(2.4~2.5) → 구성 자체를 백업한다(2.6)' 순이다. 앞의 셋은 복구 재료를 확보하는 작업이고 뒤의 둘은 유실 자체를 예방하는 작업이라는 점을 구분해 주면 이해가 빠르다.</a:t>
            </a:r>
          </a:p>
          <a:p/>
          <a:p>
            <a:r>
              <a:t>여섯 절을 다 다루면 실습 포함 4시간 안팎이 걸린다. 시간이 부족하면 2.6절을 실습 2-7로 넘겨도 되지만 2.1과 2.3은 줄이지 않는다. 전자는 이후 모든 장의 전제이고 후자는 실무에서 가장 자주 겪는 장애다.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2.1절은 이 과정에서 가장 중요한 구성 작업을 다룬다. ARCHIVELOG 전환 하나로 '백업 시점 복귀'가 '완전 복구'로 바뀌기 때문이다. 절차 자체는 명령 세 줄이라 짧지만, 전후에 해야 할 일과 확인 항목을 빠뜨리면 설정만 되고 실제로는 동작하지 않는 상태가 만들어진다.</a:t>
            </a:r>
          </a:p>
          <a:p/>
          <a:p>
            <a:r>
              <a:t>ARCHIVELOG 전환은 되돌릴 수 있다. ALTER DATABASE NOARCHIVELOG를 같은 절차로 수행하면 된다. 다만 되돌린 뒤에는 그때까지 쌓인 아카이브가 의미를 잃으므로 정리 계획을 함께 세워야 한다. 4~7장 실습을 위해 일시적으로 내릴 때 이 점을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강조한다. 수강생은 흔히 ARCHIVELOG를 '아카이브 파일이 쌓이는 모드' 정도로 이해하는데, 실제로 달라지는 것은 부분 복구와 무중단 백업이라는 운영 방식 전체다. NOARCHIVELOG는 개발·테스트나 재적재가 쉬운 스테이징 영역에 한정되며, 대량 적재 동안 일시적으로 모드를 내리는 운영도 있지만 그 구간의 복구를 포기한다는 뜻임을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단계 중 실수가 나오는 곳은 ③과 ⑤다. ABORT로 내리면 MOUNT는 되지만 ALTER DATABASE ARCHIVELOG가 실패하거나 이후 오픈 시 복구를 요구한다. 또 ⑤를 OPEN 상태에서 시도하는 경우가 많은데, 제어 파일에 로그 모드를 기록하는 작업이라 마운트 단계여야 한다는 점을 설명하면 납득이 빠르다.</a:t>
            </a:r>
          </a:p>
          <a:p/>
          <a:p>
            <a:r>
              <a:t>여섯 단계를 칠판에 적어 두고 진행하면 좋다. 실습에서 수강생이 가장 많이 틀리는 것은 ④를 STARTUP으로 잘못 입력해 OPEN까지 올라가 버리는 경우다. 그러면 ⑤가 ORA-01126으로 거부되고, 다시 종료해서 MOUNT로 올려야 한다. 미리 경고해 두면 시간을 아낄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SCOPE=spfile를 쓴 이유는 LOG_ARCHIVE_DEST_n이 동적 파라미터임에도 전환과 함께 적용하기 위해서다. SCOPE=both로 즉시 적용해도 무방하다. 실습에서는 재기동이 어차피 필요하므로 spfile로 두고 한 번에 반영한다. mandatory와 optional 철자에 특히 주의한다. 틀려도 System altered가 나오지만 재기동 후 그 대상이 활성화되지 않아 아카이브가 생성되지 않는다. 실습 2-2에서 이 상황을 의도적으로 재현한다.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%r을 빠뜨리는 실수가 실제로 사고로 이어진다. 불완전 복구 후 RESETLOGS로 열면 시퀀스가 1부터 다시 시작하는데, %r이 없으면 이전 인카네이션의 arch_1_1.arc를 새 인카네이션의 같은 이름 파일이 덮어쓴다. 그 결과 이전 시점으로 되돌아갈 길이 사라진다. 19c 기본값은 %t_%s_%r.dbf라 %r이 이미 들어 있으나, 형식을 바꿀 때 무심코 빼는 경우가 있다. 대문자 형식은 파일명 정렬이 깔끔해지는 이점이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확인 항목은 세 가지다. v$database의 LOG_MODE, ARCHIVE LOG LIST의 Automatic archival, 그리고 로그 스위치 후 실제 파일 생성이다. 앞의 둘만 보고 넘어가면 경로 오타나 디렉터리 권한 문제를 놓친다. ARCHIVE LOG LIST가 표시하는 Archive destination은 LOG_ARCHIVE_DEST_1이 아니라 마지막으로 성공한 대상을 보여 줄 수 있으므로, 대상별 정확한 상태는 v$archive_dest로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ARCn 개수를 늘려 해결되는 경우는 대상이 여러 개이고 각각 느릴 때 정도다. 단일 대상에서 디스크가 느리면 프로세스를 늘려도 같은 디스크를 두고 경합만 심해진다. ps 명령으로 실제 기동을 확인하는 것도 의미가 있다. 파라미터는 4인데 프로세스가 보이지 않으면 ARCHIVELOG 모드가 아니거나 인스턴스가 방금 기동된 상태다.</a:t>
            </a:r>
          </a:p>
          <a:p/>
          <a:p>
            <a:r>
              <a:t>ARCn은 인스턴스 기동 시점에 함께 뜬다. NOARCHIVELOG 모드에서는 아예 기동되지 않으므로 ps 결과가 비어 있는 것이 정상이다. 전환 후 재기동해야 프로세스가 보인다는 점을 짚어 준다. LOG_ARCHIVE_MAX_PROCESSES는 동적 파라미터라 재기동 없이 늘릴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2.2절은 아카이브를 '만드는' 것에서 '지키는' 것으로 넘어간다. 두 곳에 쓰는 이유, 속성 선택의 결과, 언제 지워도 되는가가 핵심이다. 세 주제 모두 9장의 복구 시나리오와 직접 연결되므로 그때 다시 볼 내용이라는 점을 언급해 두면 수강생이 연결 고리를 잡는다. 아카이브를 두 곳에 쓰는 구성은 비용이 거의 들지 않는 반면 얻는 것이 크다. 디스크 두 배가 아니라 아카이브 보관 기간만큼의 용량만 추가되기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MANDATORY와 OPTIONAL의 선택은 '멈추는 쪽'과 '조용히 잃는 쪽' 중 무엇을 택할지의 문제다. 정답은 상황에 따라 다르다. RPO 0이 요구되면 MANDATORY로 두고 멈추는 편이 낫고, 가용성이 우선이면 OPTIONAL로 두되 감시를 강화해야 한다. 철자 오류가 조용히 무시된다는 점이 가장 위험하다. 설정 명령은 성공하고 재기동 후에야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조회를 짝으로 쓴다. 위쪽은 현재 상태, 아래쪽은 누적 실적이다. 두 대상의 CNT가 다르면 그 차이만큼 한쪽이 실패했다는 뜻이며, 흔한 원인은 공간 부족·권한·NFS 마운트 해제다. OPTIONAL 대상이라 데이터베이스는 멈추지 않았고 아무도 모른 채 지나간 상태다. 이 상태에서 정상 쪽 디스크가 손상되면 없는 아카이브 때문에 완전 복구가 무너진다. 그래서 이 조회를 정기 점검 항목으로 만들어 두는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아카이브 삭제는 백업 운영에서 가장 사고가 잦은 지점이다. 야간 스크립트에서 '백업 → 아카이브 삭제'를 한 줄로 이어 붙였다가 백업이 실패해도 삭제만 실행되어 아카이브가 사라지는 경우가 대표적이다. 삭제는 반드시 백업 종료 코드를 확인한 뒤 조건부로 수행하고, 대상도 '오늘 백업 이전'이 아니라 '가장 오래된 유효 백업 이전'으로 잡아야 한다.</a:t>
            </a:r>
          </a:p>
          <a:p/>
          <a:p>
            <a:r>
              <a:t>이 슬라이드의 조회 두 개는 정기 점검 스크립트로 만들어 둘 가치가 있다. v$archive_dest에서 STATUS가 VALID가 아닌 활성 대상, 대상별 건수 불일치, 그리고 가장 최근 아카이브 시각이 지나치게 오래된 경우 세 가지를 잡아낸다. 마지막 항목은 로그 스위치 자체가 멈춘 초기 신호라 특히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기준값 2097189는 가장 오래된 유효 백업본의 데이터 파일 헤더 CHECKPOINT_CHANGE#다. 그 값보다 NEXT_CHANGE#가 작은 아카이브는 그 백업본을 복원한 뒤 적용할 일이 없다. 경계에 있는 시퀀스 24는 NEXT_CHANGE#가 정확히 기준값과 같은데, 구간이 반개구간이므로 이 로그가 2097189 직전까지를 담는다. 안전하게 보관 쪽으로 분류했다. 실무에서는 경계를 넉넉히 잡아 며칠분을 더 남기는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2.3절은 FRA의 구성과 공간 관리를 다룬다. FRA의 핵심 가치는 저장 위치를 모으는 것이 아니라 삭제를 자동화하는 것이다. 다만 그 자동 관리는 RMAN이 관리하는 파일에 한정되며 OS로 복사해 둔 파일은 대상이 아니라는 점을 분명히 해야 한다. 이 오해 때문에 FRA를 켜 두고도 디스크가 가득 차는 일이 생긴다. FRA를 쓸지 LOG_ARCHIVE_DEST_n만 쓸지는 RMAN 사용 여부로 갈린다. RMAN을 주로 쓰면 FRA가 유리하고, OS 복사 기반이면 FRA의 자동 관리 이점을 못 누리므로 굳이 쓸 필요가 없다.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 제약을 반드시 짚는다. 크기가 정해지지 않은 상태에서 경로만 줄 수 없다는 것이 Oracle의 설계다. FRA를 지정하면 LOG_ARCHIVE_DEST_10이 자동으로 FRA를 가리키게 되는데, 명시적으로 DEST_1을 설정해 두었다면 두 곳 모두에 기록된다는 점도 함께 설명한다. 이 과정의 실습은 4~12장에서 OS 디렉터리를, 13~16장에서 FRA를 주로 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RECLAIMABLE_SPACE가 핵심 지표다. 보존 정책을 충족해 언제든 지울 수 있는 공간이며, SPACE_USED에서 이 값을 뺀 것이 실제로 묶여 있는 공간이다. 사용률이 높아도 회수 가능량이 크면 여유가 있는 것이고, 회수 가능량이 0에 가까운데 사용률이 높으면 곧 문제가 된다. 85%를 넘으면 alert log에 경고가 기록되고 100%에서 아카이브가 멈춘다. DB_RECOVERY_FILE_DEST_SIZE는 실제 디스크 용량과 무관한 논리적 상한이라, 디스크를 늘려도 이 값을 올리지 않으면 여전히 멈춘다.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발생 시점에 이미 서비스가 멈춘 상태이므로 대응 시간이 곧 장애 시간이다. 세 가지 해소 방법 중 가장 빠른 것은 대상 변경이지만, 아카이브가 두 경로에 흩어지게 되어 복구 시 두 곳을 모두 뒤져야 한다는 부작용이 있다. 반드시 어디로 옮겼는지 기록해 둔다. 예방이 유일한 실질 대책이며, FRA 85% 경고 모니터링과 정기 정리 자동화가 그 수단이다.</a:t>
            </a:r>
          </a:p>
          <a:p/>
          <a:p>
            <a:r>
              <a:t>발생 시점에 이미 서비스가 멈춘 상태이므로 대응 시간이 곧 장애 시간이다. 세 가지 해소 방법 중 가장 빠른 것은 대상 변경이지만 아카이브가 두 경로에 흩어져 복구 시 두 곳을 모두 뒤져야 한다. 반드시 어디로 옮겼는지 기록해 둔다. 예방이 유일한 실질 대책이며 FRA 85% 경고 모니터링과 정기 정리 자동화가 그 수단이다.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 순서는 v$archive_dest의 ERROR 컬럼 → OS의 df로 실제 공간 확인이다. ORA-19502는 파일 쓰기 실패를 뜻하며 공간 부족이 가장 흔한 원인이지만 권한이나 마운트 문제일 수도 있다. 공간을 확보한 뒤 ALTER SYSTEM ARCHIVE LOG ALL로 밀린 아카이브를 한꺼번에 처리한다. 이 명령 없이 기다려도 ARCn이 재시도하지만 즉시 해소하려면 명시적으로 실행한다. 실습 2-6에서 이 상황을 직접 만들고 해소한다.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2.4절과 2.5절은 유실 자체를 예방하는 작업이다. 앞의 세 절이 복구 재료를 확보하는 것이었다면 여기서는 재료를 잃지 않도록 이중화한다. 제어 파일은 재기동이 필요하고 리두 로그는 무중단이라는 차이가 있으며, 그 때문에 실무에서 제어 파일 다중화가 미뤄지다 그대로 몇 년을 가는 경우가 흔하다. 구축 시점에 세 곳으로 잡아 두면 이후 손댈 일이 없다는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절차의 순서가 이 슬라이드의 전부다. 열려 있는 동안 제어 파일은 계속 갱신되므로 그때 복사한 사본은 기동 시점에 이미 낡아 있다. 반대로 복사를 아예 빠뜨리고 기동하면 목록에 있는 파일이 없어 ORA-00205가 난다. 수강생이 자주 하는 실수는 SCOPE=both를 쓰는 것인데, CONTROL_FILES는 정적 파라미터라 ORA-02095로 거부된다는 점을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 방법이 중요하다. v$controlfile 조회는 파라미터에 무엇이 적혀 있는지만 보여 줄 뿐 실제로 쓰이고 있는지는 알려 주지 않는다. 체크포인트를 강제한 뒤 세 파일의 크기와 갱신 시각이 함께 움직이는지 OS에서 확인해야 확실하다. 한 파일만 시각이 오래되었다면 그 경로가 실제로는 쓰이지 않는 상태다. 실습 2-4에서 이 검증까지 수행한다.</a:t>
            </a:r>
          </a:p>
          <a:p/>
          <a:p>
            <a:r>
              <a:t>2.5절은 리두 로그를 다룬다. 제어 파일과 달리 무중단으로 작업할 수 있어 부담이 적지만 상태에 따른 제약이 많아 명령이 거부되는 경우가 잦다. 그 제약들이 왜 존재하는지를 1장에서 배운 CURRENT·ACTIVE·INACTIVE 개념과 연결해 설명하면 자연스럽게 이해된다. 제약을 외우게 하지 말고 상태에서 도출하게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추가 직후 STATUS가 INVALID로 표시되는 것이 이 슬라이드의 핵심이다. 손상이 아니라 아직 한 번도 기록되지 않았다는 뜻이며, 해당 그룹이 CURRENT가 되어 한 번 쓰이고 나면 상태가 비어 정상이 된다. 그래서 스위치를 그룹 수만큼 돌려 확인한다. 운영 중 갑자기 INVALID가 나타난 경우와 구분하려면 추가 시각을 함께 봐야 한다. 이 차이를 모르면 방금 추가한 멤버를 손상으로 오인하게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추가 직후 STATUS가 INVALID로 표시되는 것이 이 슬라이드의 핵심이다. 손상이 아니라 아직 한 번도 기록되지 않았다는 뜻이며, 해당 그룹이 CURRENT가 되어 한 번 쓰이고 나면 상태가 비어 정상이 된다. 그래서 스위치를 그룹 수만큼 돌려 확인한다. 운영 중 갑자기 INVALID가 나타난 경우와 구분하려면 추가 시각을 함께 봐야 한다. 이 차이를 모르면 방금 추가한 멤버를 손상으로 오인해 지웠다 다시 만드는 일을 반복하게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삭제 제약은 네 가지다. CURRENT 그룹, ACTIVE 그룹, 아카이브되지 않은 그룹, 그리고 삭제 후 그룹이 두 개 미만이 되는 경우다. 모두 1장에서 배운 상태 개념으로 설명된다. CURRENT는 기록 중이고, ACTIVE는 인스턴스 복구에 필요할 수 있으며, 미아카이브 그룹은 지우면 그 리두를 영영 잃는다. 삭제해도 OS 파일이 남는다는 점도 반드시 짚는다. 이것을 모르면 디스크 공간이 회수되지 않는 이유를 찾지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스위치 빈도 집계는 실무에서 자주 쓰는 조회다. 배치 구간에만 튀는 것은 정상이고, 상시로 시간당 10회를 넘으면 크기를 키운다. 반대로 하루 두세 번뿐이면 크기가 과하거나 변경량이 적은 시스템이다. 손상 멤버 재추가 시 REUSE 키워드를 쓰면 기존 파일이 남아 있어도 덮어쓴다. OS 파일을 먼저 지웠다면 REUSE 없이도 된다.</a:t>
            </a:r>
          </a:p>
          <a:p/>
          <a:p>
            <a:r>
              <a:t>2.6절은 구성 자체를 백업한다. 데이터 파일만 백업해 두면 복원은 되지만 인스턴스를 기동할 수 없다는 1장의 지적을 여기서 해결한다. 두 종류의 제어 파일 백업이 어떻게 다른지가 핵심이며 그 차이가 6장과 11장의 복구 절차 선택으로 이어진다. 시간이 부족하면 이 절은 실습으로 넘겨도 되지만 트레이스 백업만은 반드시 시연한다.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PFILE로 기동한 상태에서는 ALTER SYSTEM ... SCOPE=spfile이 동작하지 않는다는 점을 짚어 준다. SPFILE을 만든 뒤 반드시 재기동해야 그때부터 SPFILE로 동작한다. alert log에 기동 시 비기본값 파라미터가 전부 기록된다는 사실은 의외로 잘 알려져 있지 않은데 최후의 복구 수단이 되므로 알아 둘 가치가 있다. 16장에서 RMAN으로 SPFILE을 복원하는 방법도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PFILE로 기동한 상태에서는 ALTER SYSTEM ... SCOPE=spfile이 동작하지 않는다는 점을 짚어 준다. SPFILE을 만든 뒤 반드시 재기동해야 그때부터 SPFILE로 동작한다. alert log에 기동 시 비기본값 파라미터가 전부 기록된다는 사실은 의외로 잘 알려져 있지 않은데, 최후의 복구 수단이 되므로 알아 둘 가치가 있다. 16장에서 RMAN으로 SPFILE을 복원하는 방법도 다룬다.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차이가 복구 절차를 가른다. 바이너리 백업은 받은 시점의 구조와 SCN을 그대로 갖지만 이후 추가된 데이터 파일 정보가 없다. 트레이스 백업은 실행 시점의 최신 구조로 스크립트를 만들지만 SCN 정보가 없어 복구 종료 지점을 스스로 판단하지 못한다. 트레이스 파일에 두 버전이 들어 있다는 점도 중요하다. 온라인 리두가 온전하면 NORESETLOGS, 유실되었으면 RESETLOGS를 쓴다. 선택 기준은 6장과 11장에서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전환은 MOUNT 상태에서만 가능하다. 제어 파일에 로그 모드를 기록하는 작업이므로 제어 파일은 읽었지만 데이터 파일은 아직 열지 않은 단계여야 한다. OPEN 상태에서 시도하면 ORA-01126이 발생한다. 전환 전 SHUTDOWN IMMEDIATE로 정상 종료하는 것도 필수이며 ABORT로 내리면 일관성 없는 상태가 남아 전환이나 이후 오픈에서 문제가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전환은 MOUNT 상태에서만 가능하다. 제어 파일에 로그 모드를 기록하는 작업이므로 제어 파일은 읽었지만 데이터 파일은 아직 열지 않은 단계여야 한다. OPEN 상태에서 시도하면 ORA-01126이 발생한다. 전환 전 SHUTDOWN IMMEDIATE로 정상 종료하는 것도 필수이며, ABORT로 내리면 일관성 없는 상태가 남아 전환이나 이후 오픈에서 문제가 생긴다.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크기를 먼저 정해야 한다. 크기 없이 경로만 설정하면 ORA-32001이 발생한다. FRA는 논리적 상한으로 관리되는 영역이라 상한이 없으면 영역 자체를 정의할 수 없다는 설계다. 두 파라미터 모두 SCOPE=both로 즉시 적용되며 재기동이 필요 없다. 실제 디스크 용량과 무관한 값이므로 디스크를 늘렸다면 이 값도 함께 올려야 한다. (a)를 고른 수강생에게는 실제로 그 순서로 실행해 ORA-32001을 눈으로 보여 주는 편이 빠르다.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(c). 열려 있는 동안 제어 파일은 계속 갱신되므로 그때 복사한 사본은 기동 시점에 이미 뒤처져 있다. 정상 종료 후 복사해야 모든 사본의 내용이 일치한다. 복사를 빠뜨리고 기동하면 목록에 있는 파일이 존재하지 않아 ORA-00205가 발생하며 NOMOUNT에 머문다. 이 경우 파라미터에서 해당 경로를 빼거나 파일을 복사한 뒤 다시 기동하면 된다. (b)를 고르는 수강생이 많은데, 무중단으로 하고 싶다는 바람이 판단에 섞인 결과다. 제어 파일은 정적 파라미터라 무중단 추가가 불가능하다는 점을 다시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새 멤버는 해당 그룹이 CURRENT가 되어 한 번 기록될 때까지 INVALID로 표시된다. 그룹 수만큼 로그 스위치를 돌리면 모든 멤버의 상태가 비어 정상이 된다. 운영 중 갑자기 INVALID가 나타난 경우는 실제 손상이므로 구분해야 하며 판단 기준은 멤버 추가 시각이다. 이 차이를 모르면 정상 멤버를 손상으로 오인해 지웠다 다시 만드는 일을 반복하게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새 멤버는 해당 그룹이 CURRENT가 되어 한 번 기록될 때까지 INVALID로 표시된다. 그룹 수만큼 로그 스위치를 돌리면 모든 멤버의 상태가 비어 정상이 된다. 운영 중 갑자기 INVALID가 나타난 경우는 실제 손상이므로 구분해야 하며, 판단 기준은 멤버 추가 시각이다. 이 차이를 모르면 정상 멤버를 손상으로 오인해 지웠다 다시 만드는 일을 반복하게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바이너리 백업은 받은 시점의 구조를 그대로 담으므로 이후 추가된 파일 정보가 없다. 그 상태로 복원하면 제어 파일이 모르는 데이터 파일이 생겨 불일치가 발생하며, 11장 시나리오 26이 정확히 그 상황을 다룬다. 트레이스 백업은 실행 시점의 구조로 스크립트를 생성하므로 다시 받으면 최신이 된다. 구조가 바뀔 때마다 두 백업을 모두 새로 받는 것이 원칙이다.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항목이 이 장의 학습 목표 다섯 가지에 모두 대응한다. 특히 세 번째와 다섯 번째는 실무에서 사고로 이어지는 항목이므로 강조해 마무리한다. 요약을 읽어 주기만 하지 말고 '전환 직후 반드시 해야 할 두 가지는?' 같은 질문 형태로 되물으면 정착률이 올라간다. 다음 장인 3장은 여기서 구성한 환경 위에서 실제 백업을 받는다. 여덟 항목 중 절반이 '순서'에 관한 것이라는 점도 짚을 만하다. 이 장의 작업은 대부분 명령 자체는 간단하고 순서를 지키는 것이 어렵다.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개 실습은 순서대로 수행한다. 2-1은 재기동을 두 번 하므로 개별 환경에서만 진행한다. 2-6은 의도적으로 데이터베이스를 정지 상태로 만들므로 반드시 해소 절차까지 마치고 넘어가도록 확인한다. 2-4와 2-5는 /u02 디렉터리를 쓰므로 미리 만들고 oracle 계정 권한을 준다. 전체 소요 시간은 70~80분 정도로 잡는다. 실습을 마치면 v$database의 LOG_MODE, v$archive_dest의 STATUS, v$controlfile의 행 수, v$logfile의 MEMBERS를 한 번씩 조회해 구성이 의도대로 되었는지 함께 확인한다.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제2장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복구 가능성 구성</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ARCHIVELOG 전환 · 아카이브 대상 · Fast Recovery Area · 제어 파일/리두 로그 다중화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NOARCHIVELOG와 ARCHIVELOG의 차이를 설명하고 전환 절차를 수행한다</a:t>
            </a:r>
          </a:p>
          <a:p>
            <a:pPr>
              <a:spcAft>
                <a:spcPts val="600"/>
              </a:spcAft>
            </a:pPr>
            <a:r>
              <a:rPr sz="1600" b="0">
                <a:solidFill>
                  <a:srgbClr val="5A6672"/>
                </a:solidFill>
                <a:latin typeface="Malgun Gothic"/>
                <a:ea typeface="Malgun Gothic"/>
              </a:rPr>
              <a:t>    –  LOG_ARCHIVE_DEST_n으로 아카이브 대상을 다중 구성하고 상태를 점검한다</a:t>
            </a:r>
          </a:p>
          <a:p>
            <a:pPr>
              <a:spcAft>
                <a:spcPts val="600"/>
              </a:spcAft>
            </a:pPr>
            <a:r>
              <a:rPr sz="1600" b="0">
                <a:solidFill>
                  <a:srgbClr val="5A6672"/>
                </a:solidFill>
                <a:latin typeface="Malgun Gothic"/>
                <a:ea typeface="Malgun Gothic"/>
              </a:rPr>
              <a:t>    –  Fast Recovery Area를 구성하고 공간 사용량을 조회한다</a:t>
            </a:r>
          </a:p>
          <a:p>
            <a:pPr>
              <a:spcAft>
                <a:spcPts val="600"/>
              </a:spcAft>
            </a:pPr>
            <a:r>
              <a:rPr sz="1600" b="0">
                <a:solidFill>
                  <a:srgbClr val="5A6672"/>
                </a:solidFill>
                <a:latin typeface="Malgun Gothic"/>
                <a:ea typeface="Malgun Gothic"/>
              </a:rPr>
              <a:t>    –  제어 파일과 리두 로그를 다중화한다</a:t>
            </a:r>
          </a:p>
          <a:p>
            <a:pPr>
              <a:spcAft>
                <a:spcPts val="600"/>
              </a:spcAft>
            </a:pPr>
            <a:r>
              <a:rPr sz="1600" b="0">
                <a:solidFill>
                  <a:srgbClr val="5A6672"/>
                </a:solidFill>
                <a:latin typeface="Malgun Gothic"/>
                <a:ea typeface="Malgun Gothic"/>
              </a:rPr>
              <a:t>    –  아카이브 공간 부족으로 데이터베이스가 멈추는 상황을 진단하고 해소한다</a:t>
            </a:r>
          </a:p>
          <a:p>
            <a:pPr>
              <a:spcAft>
                <a:spcPts val="600"/>
              </a:spcAft>
            </a:pPr>
            <a:r>
              <a:rPr sz="1800" b="0">
                <a:solidFill>
                  <a:srgbClr val="202830"/>
                </a:solidFill>
                <a:latin typeface="Malgun Gothic"/>
                <a:ea typeface="Malgun Gothic"/>
              </a:rPr>
              <a:t>•  다섯 목표는 각각 2.1 / 2.2 / 2.3 / 2.4~2.5 / 2.3.4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2.1  ARCHIVELOG 모드 — 두 모드의 차이 · 전환 절차 · ARCn</a:t>
            </a:r>
          </a:p>
          <a:p>
            <a:pPr>
              <a:spcAft>
                <a:spcPts val="600"/>
              </a:spcAft>
            </a:pPr>
            <a:r>
              <a:rPr sz="1800" b="0">
                <a:solidFill>
                  <a:srgbClr val="202830"/>
                </a:solidFill>
                <a:latin typeface="Malgun Gothic"/>
                <a:ea typeface="Malgun Gothic"/>
              </a:rPr>
              <a:t>•  2.2  아카이브 대상 구성 — 다중 대상 · MANDATORY/OPTIONAL · 보관과 정리</a:t>
            </a:r>
          </a:p>
          <a:p>
            <a:pPr>
              <a:spcAft>
                <a:spcPts val="600"/>
              </a:spcAft>
            </a:pPr>
            <a:r>
              <a:rPr sz="1800" b="0">
                <a:solidFill>
                  <a:srgbClr val="202830"/>
                </a:solidFill>
                <a:latin typeface="Malgun Gothic"/>
                <a:ea typeface="Malgun Gothic"/>
              </a:rPr>
              <a:t>•  2.3  Fast Recovery Area — 역할 · 구성 · 공간 관리 · ORA-00257</a:t>
            </a:r>
          </a:p>
          <a:p>
            <a:pPr>
              <a:spcAft>
                <a:spcPts val="600"/>
              </a:spcAft>
            </a:pPr>
            <a:r>
              <a:rPr sz="1800" b="0">
                <a:solidFill>
                  <a:srgbClr val="202830"/>
                </a:solidFill>
                <a:latin typeface="Malgun Gothic"/>
                <a:ea typeface="Malgun Gothic"/>
              </a:rPr>
              <a:t>•  2.4  제어 파일 다중화 — 원칙 · SPFILE 환경 절차 · 검증</a:t>
            </a:r>
          </a:p>
          <a:p>
            <a:pPr>
              <a:spcAft>
                <a:spcPts val="600"/>
              </a:spcAft>
            </a:pPr>
            <a:r>
              <a:rPr sz="1800" b="0">
                <a:solidFill>
                  <a:srgbClr val="202830"/>
                </a:solidFill>
                <a:latin typeface="Malgun Gothic"/>
                <a:ea typeface="Malgun Gothic"/>
              </a:rPr>
              <a:t>•  2.5  리두 로그 다중화와 그룹 관리 — 멤버/그룹 · 크기 결정 · 손상 처리</a:t>
            </a:r>
          </a:p>
          <a:p>
            <a:pPr>
              <a:spcAft>
                <a:spcPts val="600"/>
              </a:spcAft>
            </a:pPr>
            <a:r>
              <a:rPr sz="1800" b="0">
                <a:solidFill>
                  <a:srgbClr val="202830"/>
                </a:solidFill>
                <a:latin typeface="Malgun Gothic"/>
                <a:ea typeface="Malgun Gothic"/>
              </a:rPr>
              <a:t>•  2.6  파라미터 파일과 제어 파일 백업</a:t>
            </a:r>
          </a:p>
          <a:p>
            <a:pPr>
              <a:spcAft>
                <a:spcPts val="600"/>
              </a:spcAft>
            </a:pPr>
            <a:r>
              <a:rPr sz="1800" b="0">
                <a:solidFill>
                  <a:srgbClr val="202830"/>
                </a:solidFill>
                <a:latin typeface="Malgun Gothic"/>
                <a:ea typeface="Malgun Gothic"/>
              </a:rPr>
              <a:t>•  2.7 퀴즈 · 2.8 요약 · 2.9 실습 2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이 장에서 구성한 상태는 8장부터 다시 사용한다. 실습 후 되돌리지 않는다.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2.1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ARCHIVELOG 모드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리두를 영구 보존할지 여부가 복구 가능 범위를 결정</a:t>
            </a:r>
          </a:p>
          <a:p>
            <a:pPr>
              <a:spcAft>
                <a:spcPts val="600"/>
              </a:spcAft>
            </a:pPr>
            <a:r>
              <a:rPr sz="1600" b="0">
                <a:solidFill>
                  <a:srgbClr val="C5CED6"/>
                </a:solidFill>
                <a:latin typeface="Malgun Gothic"/>
                <a:ea typeface="Malgun Gothic"/>
              </a:rPr>
              <a:t>•  전환은 정상 종료 후 MOUNT 상태에서만 가능</a:t>
            </a:r>
          </a:p>
          <a:p>
            <a:pPr>
              <a:spcAft>
                <a:spcPts val="600"/>
              </a:spcAft>
            </a:pPr>
            <a:r>
              <a:rPr sz="1600" b="0">
                <a:solidFill>
                  <a:srgbClr val="C5CED6"/>
                </a:solidFill>
                <a:latin typeface="Malgun Gothic"/>
                <a:ea typeface="Malgun Gothic"/>
              </a:rPr>
              <a:t>•  전환 직후 전체 백업을 새로 받아야 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두 모드의 차이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NOARCHIVELOG — 온라인 리두가 순환하며 덮어쓰인다</a:t>
            </a:r>
          </a:p>
          <a:p>
            <a:pPr>
              <a:spcAft>
                <a:spcPts val="600"/>
              </a:spcAft>
            </a:pPr>
            <a:r>
              <a:rPr sz="1600" b="0">
                <a:solidFill>
                  <a:srgbClr val="5A6672"/>
                </a:solidFill>
                <a:latin typeface="Malgun Gothic"/>
                <a:ea typeface="Malgun Gothic"/>
              </a:rPr>
              <a:t>    –  직전 그룹 내용은 다음 순환 때 지워진다</a:t>
            </a:r>
          </a:p>
          <a:p>
            <a:pPr>
              <a:spcAft>
                <a:spcPts val="600"/>
              </a:spcAft>
            </a:pPr>
            <a:r>
              <a:rPr sz="1600" b="0">
                <a:solidFill>
                  <a:srgbClr val="5A6672"/>
                </a:solidFill>
                <a:latin typeface="Malgun Gothic"/>
                <a:ea typeface="Malgun Gothic"/>
              </a:rPr>
              <a:t>    –  백업 이후 변경을 되살릴 범위가 온라인 리두에 남은 만큼으로 제한</a:t>
            </a:r>
          </a:p>
          <a:p>
            <a:pPr>
              <a:spcAft>
                <a:spcPts val="600"/>
              </a:spcAft>
            </a:pPr>
            <a:r>
              <a:rPr sz="1800" b="0">
                <a:solidFill>
                  <a:srgbClr val="202830"/>
                </a:solidFill>
                <a:latin typeface="Malgun Gothic"/>
                <a:ea typeface="Malgun Gothic"/>
              </a:rPr>
              <a:t>•  ARCHIVELOG — 덮어쓰기 전에 ARCn이 별도 위치로 복사</a:t>
            </a:r>
          </a:p>
          <a:p>
            <a:pPr>
              <a:spcAft>
                <a:spcPts val="600"/>
              </a:spcAft>
            </a:pPr>
            <a:r>
              <a:rPr sz="1600" b="0">
                <a:solidFill>
                  <a:srgbClr val="5A6672"/>
                </a:solidFill>
                <a:latin typeface="Malgun Gothic"/>
                <a:ea typeface="Malgun Gothic"/>
              </a:rPr>
              <a:t>    –  리두가 영구 보존 → 백업본과 아카이브가 이어지는 한 완전 복구</a:t>
            </a:r>
          </a:p>
          <a:p>
            <a:pPr>
              <a:spcAft>
                <a:spcPts val="600"/>
              </a:spcAft>
            </a:pPr>
            <a:r>
              <a:rPr sz="1600" b="0">
                <a:solidFill>
                  <a:srgbClr val="5A6672"/>
                </a:solidFill>
                <a:latin typeface="Malgun Gothic"/>
                <a:ea typeface="Malgun Gothic"/>
              </a:rPr>
              <a:t>    –  데이터베이스를 연 채 백업 가능(Hot Backup)</a:t>
            </a:r>
          </a:p>
          <a:p>
            <a:pPr>
              <a:spcAft>
                <a:spcPts val="600"/>
              </a:spcAft>
            </a:pPr>
            <a:r>
              <a:rPr sz="1600" b="0">
                <a:solidFill>
                  <a:srgbClr val="5A6672"/>
                </a:solidFill>
                <a:latin typeface="Malgun Gothic"/>
                <a:ea typeface="Malgun Gothic"/>
              </a:rPr>
              <a:t>    –  테이블스페이스·데이터 파일 단위 부분 복구 가능</a:t>
            </a:r>
          </a:p>
          <a:p>
            <a:pPr>
              <a:spcAft>
                <a:spcPts val="600"/>
              </a:spcAft>
            </a:pPr>
            <a:r>
              <a:rPr sz="1800" b="0">
                <a:solidFill>
                  <a:srgbClr val="202830"/>
                </a:solidFill>
                <a:latin typeface="Malgun Gothic"/>
                <a:ea typeface="Malgun Gothic"/>
              </a:rPr>
              <a:t>•  차이는 파일 하나가 더 생기는 것이 아니라 복구 가능 범위 자체가 달라지는 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전환 절차</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아카이브 대상 디렉터리를 OS에 생성</a:t>
            </a:r>
          </a:p>
          <a:p>
            <a:pPr>
              <a:spcAft>
                <a:spcPts val="600"/>
              </a:spcAft>
            </a:pPr>
            <a:r>
              <a:rPr sz="1800" b="0">
                <a:solidFill>
                  <a:srgbClr val="202830"/>
                </a:solidFill>
                <a:latin typeface="Malgun Gothic"/>
                <a:ea typeface="Malgun Gothic"/>
              </a:rPr>
              <a:t>•  ② LOG_ARCHIVE_DEST_n · LOG_ARCHIVE_FORMAT을 SPFILE에 설정</a:t>
            </a:r>
          </a:p>
          <a:p>
            <a:pPr>
              <a:spcAft>
                <a:spcPts val="600"/>
              </a:spcAft>
            </a:pPr>
            <a:r>
              <a:rPr sz="1800" b="0">
                <a:solidFill>
                  <a:srgbClr val="202830"/>
                </a:solidFill>
                <a:latin typeface="Malgun Gothic"/>
                <a:ea typeface="Malgun Gothic"/>
              </a:rPr>
              <a:t>•  ③ SHUTDOWN IMMEDIATE — 반드시 정상 종료</a:t>
            </a:r>
          </a:p>
          <a:p>
            <a:pPr>
              <a:spcAft>
                <a:spcPts val="600"/>
              </a:spcAft>
            </a:pPr>
            <a:r>
              <a:rPr sz="1800" b="0">
                <a:solidFill>
                  <a:srgbClr val="202830"/>
                </a:solidFill>
                <a:latin typeface="Malgun Gothic"/>
                <a:ea typeface="Malgun Gothic"/>
              </a:rPr>
              <a:t>•  ④ STARTUP MOUNT — 마운트까지만</a:t>
            </a:r>
          </a:p>
          <a:p>
            <a:pPr>
              <a:spcAft>
                <a:spcPts val="600"/>
              </a:spcAft>
            </a:pPr>
            <a:r>
              <a:rPr sz="1800" b="0">
                <a:solidFill>
                  <a:srgbClr val="202830"/>
                </a:solidFill>
                <a:latin typeface="Malgun Gothic"/>
                <a:ea typeface="Malgun Gothic"/>
              </a:rPr>
              <a:t>•  ⑤ ALTER DATABASE ARCHIVELOG</a:t>
            </a:r>
          </a:p>
          <a:p>
            <a:pPr>
              <a:spcAft>
                <a:spcPts val="600"/>
              </a:spcAft>
            </a:pPr>
            <a:r>
              <a:rPr sz="1800" b="0">
                <a:solidFill>
                  <a:srgbClr val="202830"/>
                </a:solidFill>
                <a:latin typeface="Malgun Gothic"/>
                <a:ea typeface="Malgun Gothic"/>
              </a:rPr>
              <a:t>•  ⑥ ALTER DATABASE OPEN</a:t>
            </a:r>
          </a:p>
          <a:p>
            <a:pPr>
              <a:spcAft>
                <a:spcPts val="600"/>
              </a:spcAft>
            </a:pPr>
            <a:r>
              <a:rPr sz="1800" b="0">
                <a:solidFill>
                  <a:srgbClr val="202830"/>
                </a:solidFill>
                <a:latin typeface="Malgun Gothic"/>
                <a:ea typeface="Malgun Gothic"/>
              </a:rPr>
              <a:t>•  OPEN 상태에서 ⑤를 시도하면 ORA-01126으로 거부된다</a:t>
            </a:r>
          </a:p>
          <a:p>
            <a:pPr>
              <a:spcAft>
                <a:spcPts val="600"/>
              </a:spcAft>
            </a:pPr>
            <a:r>
              <a:rPr sz="1800" b="0">
                <a:solidFill>
                  <a:srgbClr val="202830"/>
                </a:solidFill>
                <a:latin typeface="Malgun Gothic"/>
                <a:ea typeface="Malgun Gothic"/>
              </a:rPr>
              <a:t>•  SHUTDOWN ABORT 후 전환하면 일관성 없는 상태가 남아 오류가 발생한다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Best Practice:</a:t>
            </a:r>
          </a:p>
          <a:p>
            <a:pPr>
              <a:spcAft>
                <a:spcPts val="0"/>
              </a:spcAft>
            </a:pPr>
            <a:r>
              <a:rPr sz="1250" b="0">
                <a:solidFill>
                  <a:srgbClr val="202830"/>
                </a:solidFill>
                <a:latin typeface="Malgun Gothic"/>
                <a:ea typeface="Malgun Gothic"/>
              </a:rPr>
              <a:t>전환 직후 두 가지를 반드시 한다 — 전체 백업 재수행, 로그 스위치 강제로 아카이브 파일 생성 확인.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전환 실행</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설정 → 정상 종료 → MOUNT 전환 → OPEN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아카이브 대상 디렉터리 생성</a:t>
            </a:r>
          </a:p>
          <a:p>
            <a:pPr>
              <a:spcAft>
                <a:spcPts val="0"/>
              </a:spcAft>
            </a:pPr>
            <a:r>
              <a:rPr sz="1250" b="0">
                <a:solidFill>
                  <a:srgbClr val="E6E6E6"/>
                </a:solidFill>
                <a:latin typeface="Consolas"/>
                <a:ea typeface="Consolas"/>
              </a:rPr>
              <a:t>SYS@orcl&gt; !mkdir -p /home/oracle/arch1 /home/oracle/arch2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대상과 파일명 형식 설정 (SPFILE에만 기록, 재기동 후 적용)</a:t>
            </a:r>
          </a:p>
          <a:p>
            <a:pPr>
              <a:spcAft>
                <a:spcPts val="0"/>
              </a:spcAft>
            </a:pPr>
            <a:r>
              <a:rPr sz="1250" b="0">
                <a:solidFill>
                  <a:srgbClr val="E6E6E6"/>
                </a:solidFill>
                <a:latin typeface="Consolas"/>
                <a:ea typeface="Consolas"/>
              </a:rPr>
              <a:t>SYS@orcl&gt; ALTER SYSTEM SET log_archive_dest_1 = 'location=/home/oracle/arch1 mandatory' SCOPE=spfile;</a:t>
            </a:r>
          </a:p>
          <a:p>
            <a:pPr>
              <a:spcAft>
                <a:spcPts val="0"/>
              </a:spcAft>
            </a:pPr>
            <a:r>
              <a:rPr sz="1250" b="0">
                <a:solidFill>
                  <a:srgbClr val="E6E6E6"/>
                </a:solidFill>
                <a:latin typeface="Consolas"/>
                <a:ea typeface="Consolas"/>
              </a:rPr>
              <a:t>SYS@orcl&gt; ALTER SYSTEM SET log_archive_dest_2 = 'location=/home/oracle/arch2 optional' SCOPE=spfile;</a:t>
            </a:r>
          </a:p>
          <a:p>
            <a:pPr>
              <a:spcAft>
                <a:spcPts val="0"/>
              </a:spcAft>
            </a:pPr>
            <a:r>
              <a:rPr sz="1250" b="0">
                <a:solidFill>
                  <a:srgbClr val="E6E6E6"/>
                </a:solidFill>
                <a:latin typeface="Consolas"/>
                <a:ea typeface="Consolas"/>
              </a:rPr>
              <a:t>SYS@orcl&gt; ALTER SYSTEM SET log_archive_format = 'arch_%t_%s_%r.arc' SCOPE=spfile;</a:t>
            </a:r>
          </a:p>
          <a:p>
            <a:pPr>
              <a:spcAft>
                <a:spcPts val="0"/>
              </a:spcAft>
            </a:pPr>
            <a:r>
              <a:rPr sz="1250" b="0">
                <a:solidFill>
                  <a:srgbClr val="E6E6E6"/>
                </a:solidFill>
                <a:latin typeface="Consolas"/>
                <a:ea typeface="Consolas"/>
              </a:rPr>
              <a:t>System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Database closed.  Database dismounted.  ORACLE instance shut down.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ORACLE instance started.</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ARCHIVELOG;</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LOG_ARCHIVE_FORMAT 치환 문자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%t — thread 번호 (단일 인스턴스는 항상 1)</a:t>
            </a:r>
          </a:p>
          <a:p>
            <a:pPr>
              <a:spcAft>
                <a:spcPts val="600"/>
              </a:spcAft>
            </a:pPr>
            <a:r>
              <a:rPr sz="1800" b="0">
                <a:solidFill>
                  <a:srgbClr val="202830"/>
                </a:solidFill>
                <a:latin typeface="Malgun Gothic"/>
                <a:ea typeface="Malgun Gothic"/>
              </a:rPr>
              <a:t>•  %s — 로그 시퀀스 번호</a:t>
            </a:r>
          </a:p>
          <a:p>
            <a:pPr>
              <a:spcAft>
                <a:spcPts val="600"/>
              </a:spcAft>
            </a:pPr>
            <a:r>
              <a:rPr sz="1800" b="0">
                <a:solidFill>
                  <a:srgbClr val="202830"/>
                </a:solidFill>
                <a:latin typeface="Malgun Gothic"/>
                <a:ea typeface="Malgun Gothic"/>
              </a:rPr>
              <a:t>•  %r — RESETLOGS 식별자</a:t>
            </a:r>
          </a:p>
          <a:p>
            <a:pPr>
              <a:spcAft>
                <a:spcPts val="600"/>
              </a:spcAft>
            </a:pPr>
            <a:r>
              <a:rPr sz="1800" b="0">
                <a:solidFill>
                  <a:srgbClr val="202830"/>
                </a:solidFill>
                <a:latin typeface="Malgun Gothic"/>
                <a:ea typeface="Malgun Gothic"/>
              </a:rPr>
              <a:t>•  소문자는 그대로, 대문자(%T·%S·%R)는 앞을 0으로 채운 고정 폭</a:t>
            </a:r>
          </a:p>
          <a:p>
            <a:pPr>
              <a:spcAft>
                <a:spcPts val="600"/>
              </a:spcAft>
            </a:pPr>
            <a:r>
              <a:rPr sz="1600" b="0">
                <a:solidFill>
                  <a:srgbClr val="5A6672"/>
                </a:solidFill>
                <a:latin typeface="Malgun Gothic"/>
                <a:ea typeface="Malgun Gothic"/>
              </a:rPr>
              <a:t>    –  'arch_%t_%s_%r.arc'  →  arch_1_24_1200525254.arc</a:t>
            </a:r>
          </a:p>
          <a:p>
            <a:pPr>
              <a:spcAft>
                <a:spcPts val="600"/>
              </a:spcAft>
            </a:pPr>
            <a:r>
              <a:rPr sz="1600" b="0">
                <a:solidFill>
                  <a:srgbClr val="5A6672"/>
                </a:solidFill>
                <a:latin typeface="Malgun Gothic"/>
                <a:ea typeface="Malgun Gothic"/>
              </a:rPr>
              <a:t>    –  '%T_%S_%R.arc'       →  0001_0000000024_1200525254.arc</a:t>
            </a:r>
          </a:p>
          <a:p>
            <a:pPr>
              <a:spcAft>
                <a:spcPts val="600"/>
              </a:spcAft>
            </a:pPr>
            <a:r>
              <a:rPr sz="1800" b="0">
                <a:solidFill>
                  <a:srgbClr val="202830"/>
                </a:solidFill>
                <a:latin typeface="Malgun Gothic"/>
                <a:ea typeface="Malgun Gothic"/>
              </a:rPr>
              <a:t>•  %r은 반드시 포함한다</a:t>
            </a:r>
          </a:p>
          <a:p>
            <a:pPr>
              <a:spcAft>
                <a:spcPts val="600"/>
              </a:spcAft>
            </a:pPr>
            <a:r>
              <a:rPr sz="1600" b="0">
                <a:solidFill>
                  <a:srgbClr val="5A6672"/>
                </a:solidFill>
                <a:latin typeface="Malgun Gothic"/>
                <a:ea typeface="Malgun Gothic"/>
              </a:rPr>
              <a:t>    –  빠지면 RESETLOGS 전후 아카이브가 같은 이름으로 겹쳐 덮어쓰인다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전환 후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설정만 하고 생성 확인을 빠뜨리면 대상 경로 오타·권한 문제를 놓친다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name, log_mode, open_mode FROM v$database;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NAME      LOG_MODE     OPEN_MODE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ORCL      ARCHIVELOG   READ WRITE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ARCHIVE LOG LIST</a:t>
            </a:r>
          </a:p>
          <a:p>
            <a:pPr>
              <a:spcAft>
                <a:spcPts val="0"/>
              </a:spcAft>
            </a:pPr>
            <a:r>
              <a:rPr sz="1250" b="0">
                <a:solidFill>
                  <a:srgbClr val="E6E6E6"/>
                </a:solidFill>
                <a:latin typeface="Consolas"/>
                <a:ea typeface="Consolas"/>
              </a:rPr>
              <a:t>Database log mode              Archive Mode</a:t>
            </a:r>
          </a:p>
          <a:p>
            <a:pPr>
              <a:spcAft>
                <a:spcPts val="0"/>
              </a:spcAft>
            </a:pPr>
            <a:r>
              <a:rPr sz="1250" b="0">
                <a:solidFill>
                  <a:srgbClr val="E6E6E6"/>
                </a:solidFill>
                <a:latin typeface="Consolas"/>
                <a:ea typeface="Consolas"/>
              </a:rPr>
              <a:t>Automatic archival             Enabled</a:t>
            </a:r>
          </a:p>
          <a:p>
            <a:pPr>
              <a:spcAft>
                <a:spcPts val="0"/>
              </a:spcAft>
            </a:pPr>
            <a:r>
              <a:rPr sz="1250" b="0">
                <a:solidFill>
                  <a:srgbClr val="E6E6E6"/>
                </a:solidFill>
                <a:latin typeface="Consolas"/>
                <a:ea typeface="Consolas"/>
              </a:rPr>
              <a:t>Archive destination            /home/oracle/arch1</a:t>
            </a:r>
          </a:p>
          <a:p>
            <a:pPr>
              <a:spcAft>
                <a:spcPts val="0"/>
              </a:spcAft>
            </a:pPr>
            <a:r>
              <a:rPr sz="1250" b="0">
                <a:solidFill>
                  <a:srgbClr val="E6E6E6"/>
                </a:solidFill>
                <a:latin typeface="Consolas"/>
                <a:ea typeface="Consolas"/>
              </a:rPr>
              <a:t>Oldest online log sequence     22</a:t>
            </a:r>
          </a:p>
          <a:p>
            <a:pPr>
              <a:spcAft>
                <a:spcPts val="0"/>
              </a:spcAft>
            </a:pPr>
            <a:r>
              <a:rPr sz="1250" b="0">
                <a:solidFill>
                  <a:srgbClr val="E6E6E6"/>
                </a:solidFill>
                <a:latin typeface="Consolas"/>
                <a:ea typeface="Consolas"/>
              </a:rPr>
              <a:t>Current log sequence           24</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로그 스위치로 실제 생성 확인</a:t>
            </a:r>
          </a:p>
          <a:p>
            <a:pPr>
              <a:spcAft>
                <a:spcPts val="0"/>
              </a:spcAft>
            </a:pPr>
            <a:r>
              <a:rPr sz="1250" b="0">
                <a:solidFill>
                  <a:srgbClr val="E6E6E6"/>
                </a:solidFill>
                <a:latin typeface="Consolas"/>
                <a:ea typeface="Consolas"/>
              </a:rPr>
              <a:t>SYS@orcl&gt; ALTER SYSTEM SWITCH LOGFILE;</a:t>
            </a:r>
          </a:p>
          <a:p>
            <a:pPr>
              <a:spcAft>
                <a:spcPts val="0"/>
              </a:spcAft>
            </a:pPr>
            <a:r>
              <a:rPr sz="1250" b="0">
                <a:solidFill>
                  <a:srgbClr val="E6E6E6"/>
                </a:solidFill>
                <a:latin typeface="Consolas"/>
                <a:ea typeface="Consolas"/>
              </a:rPr>
              <a:t>SYS@orcl&gt; !ls /home/oracle/arch1 /home/oracle/arch2</a:t>
            </a:r>
          </a:p>
          <a:p>
            <a:pPr>
              <a:spcAft>
                <a:spcPts val="0"/>
              </a:spcAft>
            </a:pPr>
            <a:r>
              <a:rPr sz="1250" b="0">
                <a:solidFill>
                  <a:srgbClr val="E6E6E6"/>
                </a:solidFill>
                <a:latin typeface="Consolas"/>
                <a:ea typeface="Consolas"/>
              </a:rPr>
              <a:t>/home/oracle/arch1:</a:t>
            </a:r>
          </a:p>
          <a:p>
            <a:pPr>
              <a:spcAft>
                <a:spcPts val="0"/>
              </a:spcAft>
            </a:pPr>
            <a:r>
              <a:rPr sz="1250" b="0">
                <a:solidFill>
                  <a:srgbClr val="E6E6E6"/>
                </a:solidFill>
                <a:latin typeface="Consolas"/>
                <a:ea typeface="Consolas"/>
              </a:rPr>
              <a:t>arch_1_24_1200525254.arc</a:t>
            </a:r>
          </a:p>
          <a:p>
            <a:pPr>
              <a:spcAft>
                <a:spcPts val="0"/>
              </a:spcAft>
            </a:pPr>
            <a:r>
              <a:rPr sz="1250" b="0">
                <a:solidFill>
                  <a:srgbClr val="E6E6E6"/>
                </a:solidFill>
                <a:latin typeface="Consolas"/>
                <a:ea typeface="Consolas"/>
              </a:rPr>
              <a:t>/home/oracle/arch2:</a:t>
            </a:r>
          </a:p>
          <a:p>
            <a:pPr>
              <a:spcAft>
                <a:spcPts val="0"/>
              </a:spcAft>
            </a:pPr>
            <a:r>
              <a:rPr sz="1250" b="0">
                <a:solidFill>
                  <a:srgbClr val="E6E6E6"/>
                </a:solidFill>
                <a:latin typeface="Consolas"/>
                <a:ea typeface="Consolas"/>
              </a:rPr>
              <a:t>arch_1_24_1200525254.arc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ARCn 프로세스</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아카이브 복사를 담당하는 백그라운드 프로세스</a:t>
            </a:r>
          </a:p>
          <a:p>
            <a:pPr>
              <a:spcAft>
                <a:spcPts val="600"/>
              </a:spcAft>
            </a:pPr>
            <a:r>
              <a:rPr sz="1600" b="0">
                <a:solidFill>
                  <a:srgbClr val="5A6672"/>
                </a:solidFill>
                <a:latin typeface="Malgun Gothic"/>
                <a:ea typeface="Malgun Gothic"/>
              </a:rPr>
              <a:t>    –  ARCHIVELOG 모드에서만 기동된다</a:t>
            </a:r>
          </a:p>
          <a:p>
            <a:pPr>
              <a:spcAft>
                <a:spcPts val="600"/>
              </a:spcAft>
            </a:pPr>
            <a:r>
              <a:rPr sz="1800" b="0">
                <a:solidFill>
                  <a:srgbClr val="202830"/>
                </a:solidFill>
                <a:latin typeface="Malgun Gothic"/>
                <a:ea typeface="Malgun Gothic"/>
              </a:rPr>
              <a:t>•  LOG_ARCHIVE_MAX_PROCESSES가 개수를 결정 — 기본값 4</a:t>
            </a:r>
          </a:p>
          <a:p>
            <a:pPr>
              <a:spcAft>
                <a:spcPts val="600"/>
              </a:spcAft>
            </a:pPr>
            <a:r>
              <a:rPr sz="1800" b="0">
                <a:solidFill>
                  <a:srgbClr val="202830"/>
                </a:solidFill>
                <a:latin typeface="Malgun Gothic"/>
                <a:ea typeface="Malgun Gothic"/>
              </a:rPr>
              <a:t>•  OS에서 ora_arc0_&lt;SID&gt; 형태로 확인 가능</a:t>
            </a:r>
          </a:p>
          <a:p>
            <a:pPr>
              <a:spcAft>
                <a:spcPts val="600"/>
              </a:spcAft>
            </a:pPr>
            <a:r>
              <a:rPr sz="1800" b="0">
                <a:solidFill>
                  <a:srgbClr val="202830"/>
                </a:solidFill>
                <a:latin typeface="Malgun Gothic"/>
                <a:ea typeface="Malgun Gothic"/>
              </a:rPr>
              <a:t>•  아카이브가 밀릴 때 개수를 늘릴 수 있으나</a:t>
            </a:r>
          </a:p>
          <a:p>
            <a:pPr>
              <a:spcAft>
                <a:spcPts val="600"/>
              </a:spcAft>
            </a:pPr>
            <a:r>
              <a:rPr sz="1600" b="0">
                <a:solidFill>
                  <a:srgbClr val="5A6672"/>
                </a:solidFill>
                <a:latin typeface="Malgun Gothic"/>
                <a:ea typeface="Malgun Gothic"/>
              </a:rPr>
              <a:t>    –  대개 병목은 프로세스 수가 아니라 디스크 대역폭이다</a:t>
            </a:r>
          </a:p>
          <a:p>
            <a:pPr>
              <a:spcAft>
                <a:spcPts val="600"/>
              </a:spcAft>
            </a:pPr>
            <a:r>
              <a:rPr sz="1600" b="0">
                <a:solidFill>
                  <a:srgbClr val="5A6672"/>
                </a:solidFill>
                <a:latin typeface="Malgun Gothic"/>
                <a:ea typeface="Malgun Gothic"/>
              </a:rPr>
              <a:t>    –  v$archive_dest 상태와 대상 디스크 여유 공간을 먼저 확인한 뒤 판단한다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2.2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아카이브 대상 구성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아카이브 유실은 완전 복구를 무너뜨린다</a:t>
            </a:r>
          </a:p>
          <a:p>
            <a:pPr>
              <a:spcAft>
                <a:spcPts val="600"/>
              </a:spcAft>
            </a:pPr>
            <a:r>
              <a:rPr sz="1600" b="0">
                <a:solidFill>
                  <a:srgbClr val="C5CED6"/>
                </a:solidFill>
                <a:latin typeface="Malgun Gothic"/>
                <a:ea typeface="Malgun Gothic"/>
              </a:rPr>
              <a:t>•  MANDATORY 실패는 정지, OPTIONAL 실패는 조용한 누적</a:t>
            </a:r>
          </a:p>
          <a:p>
            <a:pPr>
              <a:spcAft>
                <a:spcPts val="600"/>
              </a:spcAft>
            </a:pPr>
            <a:r>
              <a:rPr sz="1600" b="0">
                <a:solidFill>
                  <a:srgbClr val="C5CED6"/>
                </a:solidFill>
                <a:latin typeface="Malgun Gothic"/>
                <a:ea typeface="Malgun Gothic"/>
              </a:rPr>
              <a:t>•  삭제 기준은 '백업본과 짝이 맞는가'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다중 대상과 속성</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LOG_ARCHIVE_DEST_1 ~ DEST_31까지 지정 가능</a:t>
            </a:r>
          </a:p>
          <a:p>
            <a:pPr>
              <a:spcAft>
                <a:spcPts val="600"/>
              </a:spcAft>
            </a:pPr>
            <a:r>
              <a:rPr sz="1600" b="0">
                <a:solidFill>
                  <a:srgbClr val="5A6672"/>
                </a:solidFill>
                <a:latin typeface="Malgun Gothic"/>
                <a:ea typeface="Malgun Gothic"/>
              </a:rPr>
              <a:t>    –  로컬 디스크뿐 아니라 원격 대기 DB(SERVICE=)도 대상이 된다 — Data Guard</a:t>
            </a:r>
          </a:p>
          <a:p>
            <a:pPr>
              <a:spcAft>
                <a:spcPts val="600"/>
              </a:spcAft>
            </a:pPr>
            <a:r>
              <a:rPr sz="1800" b="0">
                <a:solidFill>
                  <a:srgbClr val="202830"/>
                </a:solidFill>
                <a:latin typeface="Malgun Gothic"/>
                <a:ea typeface="Malgun Gothic"/>
              </a:rPr>
              <a:t>•  MANDATORY — 반드시 성공해야 함</a:t>
            </a:r>
          </a:p>
          <a:p>
            <a:pPr>
              <a:spcAft>
                <a:spcPts val="600"/>
              </a:spcAft>
            </a:pPr>
            <a:r>
              <a:rPr sz="1600" b="0">
                <a:solidFill>
                  <a:srgbClr val="5A6672"/>
                </a:solidFill>
                <a:latin typeface="Malgun Gothic"/>
                <a:ea typeface="Malgun Gothic"/>
              </a:rPr>
              <a:t>    –  실패 시 해당 리두 그룹을 재사용 못 해 결국 DB가 멈춘다</a:t>
            </a:r>
          </a:p>
          <a:p>
            <a:pPr>
              <a:spcAft>
                <a:spcPts val="600"/>
              </a:spcAft>
            </a:pPr>
            <a:r>
              <a:rPr sz="1800" b="0">
                <a:solidFill>
                  <a:srgbClr val="202830"/>
                </a:solidFill>
                <a:latin typeface="Malgun Gothic"/>
                <a:ea typeface="Malgun Gothic"/>
              </a:rPr>
              <a:t>•  OPTIONAL — 실패해도 다음 그룹으로 진행 (지정 없으면 기본값)</a:t>
            </a:r>
          </a:p>
          <a:p>
            <a:pPr>
              <a:spcAft>
                <a:spcPts val="600"/>
              </a:spcAft>
            </a:pPr>
            <a:r>
              <a:rPr sz="1600" b="0">
                <a:solidFill>
                  <a:srgbClr val="5A6672"/>
                </a:solidFill>
                <a:latin typeface="Malgun Gothic"/>
                <a:ea typeface="Malgun Gothic"/>
              </a:rPr>
              <a:t>    –  그 아카이브는 존재하지 않게 되어 복구 시 구멍이 된다</a:t>
            </a:r>
          </a:p>
          <a:p>
            <a:pPr>
              <a:spcAft>
                <a:spcPts val="600"/>
              </a:spcAft>
            </a:pPr>
            <a:r>
              <a:rPr sz="1800" b="0">
                <a:solidFill>
                  <a:srgbClr val="202830"/>
                </a:solidFill>
                <a:latin typeface="Malgun Gothic"/>
                <a:ea typeface="Malgun Gothic"/>
              </a:rPr>
              <a:t>•  LOG_ARCHIVE_MIN_SUCCEED_DEST — 최소 성공 개수, 기본 1</a:t>
            </a:r>
          </a:p>
          <a:p>
            <a:pPr>
              <a:spcAft>
                <a:spcPts val="600"/>
              </a:spcAft>
            </a:pPr>
            <a:r>
              <a:rPr sz="1800" b="0">
                <a:solidFill>
                  <a:srgbClr val="202830"/>
                </a:solidFill>
                <a:latin typeface="Malgun Gothic"/>
                <a:ea typeface="Malgun Gothic"/>
              </a:rPr>
              <a:t>•  속성 철자를 틀리면 대상이 조용히 비활성화된다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대상 상태 점검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V$ARCHIVE_DEST — 설정 후 반드시 확인해야 할 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dest_id, status, binding, target, destination, error</a:t>
            </a:r>
          </a:p>
          <a:p>
            <a:pPr>
              <a:spcAft>
                <a:spcPts val="0"/>
              </a:spcAft>
            </a:pPr>
            <a:r>
              <a:rPr sz="1250" b="0">
                <a:solidFill>
                  <a:srgbClr val="E6E6E6"/>
                </a:solidFill>
                <a:latin typeface="Consolas"/>
                <a:ea typeface="Consolas"/>
              </a:rPr>
              <a:t>  2  FROM   v$archive_dest WHERE dest_id &lt;= 3;</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DEST_ID STATUS    BINDING   TARGET  DESTINATION           ERROR</a:t>
            </a:r>
          </a:p>
          <a:p>
            <a:pPr>
              <a:spcAft>
                <a:spcPts val="0"/>
              </a:spcAft>
            </a:pPr>
            <a:r>
              <a:rPr sz="1250" b="0">
                <a:solidFill>
                  <a:srgbClr val="7EC699"/>
                </a:solidFill>
                <a:latin typeface="Consolas"/>
                <a:ea typeface="Consolas"/>
              </a:rPr>
              <a:t>---------- --------- --------- ------- --------------------- --------------------</a:t>
            </a:r>
          </a:p>
          <a:p>
            <a:pPr>
              <a:spcAft>
                <a:spcPts val="0"/>
              </a:spcAft>
            </a:pPr>
            <a:r>
              <a:rPr sz="1250" b="0">
                <a:solidFill>
                  <a:srgbClr val="E6E6E6"/>
                </a:solidFill>
                <a:latin typeface="Consolas"/>
                <a:ea typeface="Consolas"/>
              </a:rPr>
              <a:t>         1 VALID     MANDATORY PRIMARY /home/oracle/arch1</a:t>
            </a:r>
          </a:p>
          <a:p>
            <a:pPr>
              <a:spcAft>
                <a:spcPts val="0"/>
              </a:spcAft>
            </a:pPr>
            <a:r>
              <a:rPr sz="1250" b="0">
                <a:solidFill>
                  <a:srgbClr val="E6E6E6"/>
                </a:solidFill>
                <a:latin typeface="Consolas"/>
                <a:ea typeface="Consolas"/>
              </a:rPr>
              <a:t>         2 VALID     OPTIONAL  PRIMARY /home/oracle/arch2</a:t>
            </a:r>
          </a:p>
          <a:p>
            <a:pPr>
              <a:spcAft>
                <a:spcPts val="0"/>
              </a:spcAft>
            </a:pPr>
            <a:r>
              <a:rPr sz="1250" b="0">
                <a:solidFill>
                  <a:srgbClr val="E6E6E6"/>
                </a:solidFill>
                <a:latin typeface="Consolas"/>
                <a:ea typeface="Consolas"/>
              </a:rPr>
              <a:t>         3 INACTIVE  OPTIONAL  PRIMARY</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대상별 아카이브 성공 이력</a:t>
            </a:r>
          </a:p>
          <a:p>
            <a:pPr>
              <a:spcAft>
                <a:spcPts val="0"/>
              </a:spcAft>
            </a:pPr>
            <a:r>
              <a:rPr sz="1250" b="0">
                <a:solidFill>
                  <a:srgbClr val="E6E6E6"/>
                </a:solidFill>
                <a:latin typeface="Consolas"/>
                <a:ea typeface="Consolas"/>
              </a:rPr>
              <a:t>SYS@orcl&gt; SELECT dest_id, COUNT(*) AS cnt, MAX(sequence#) AS last_seq</a:t>
            </a:r>
          </a:p>
          <a:p>
            <a:pPr>
              <a:spcAft>
                <a:spcPts val="0"/>
              </a:spcAft>
            </a:pPr>
            <a:r>
              <a:rPr sz="1250" b="0">
                <a:solidFill>
                  <a:srgbClr val="E6E6E6"/>
                </a:solidFill>
                <a:latin typeface="Consolas"/>
                <a:ea typeface="Consolas"/>
              </a:rPr>
              <a:t>  2  FROM   v$archived_log WHERE deleted = 'NO' GROUP BY dest_id ORDER BY dest_id;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DEST_ID        CNT   LAST_SEQ</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1         26         26</a:t>
            </a:r>
          </a:p>
          <a:p>
            <a:pPr>
              <a:spcAft>
                <a:spcPts val="0"/>
              </a:spcAft>
            </a:pPr>
            <a:r>
              <a:rPr sz="1250" b="0">
                <a:solidFill>
                  <a:srgbClr val="E6E6E6"/>
                </a:solidFill>
                <a:latin typeface="Consolas"/>
                <a:ea typeface="Consolas"/>
              </a:rPr>
              <a:t>         2         26         26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보관과 정리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삭제 기준은 '백업본과 짝이 맞는가'</a:t>
            </a:r>
          </a:p>
          <a:p>
            <a:pPr>
              <a:spcAft>
                <a:spcPts val="600"/>
              </a:spcAft>
            </a:pPr>
            <a:r>
              <a:rPr sz="1600" b="0">
                <a:solidFill>
                  <a:srgbClr val="5A6672"/>
                </a:solidFill>
                <a:latin typeface="Malgun Gothic"/>
                <a:ea typeface="Malgun Gothic"/>
              </a:rPr>
              <a:t>    –  가장 오래된 유효 백업본보다 앞선 아카이브는 더 이상 쓰이지 않는다</a:t>
            </a:r>
          </a:p>
          <a:p>
            <a:pPr>
              <a:spcAft>
                <a:spcPts val="600"/>
              </a:spcAft>
            </a:pPr>
            <a:r>
              <a:rPr sz="1600" b="0">
                <a:solidFill>
                  <a:srgbClr val="5A6672"/>
                </a:solidFill>
                <a:latin typeface="Malgun Gothic"/>
                <a:ea typeface="Malgun Gothic"/>
              </a:rPr>
              <a:t>    –  그 백업본 이후의 아카이브를 지우면 완전 복구가 불가능해진다</a:t>
            </a:r>
          </a:p>
          <a:p>
            <a:pPr>
              <a:spcAft>
                <a:spcPts val="600"/>
              </a:spcAft>
            </a:pPr>
            <a:r>
              <a:rPr sz="1800" b="0">
                <a:solidFill>
                  <a:srgbClr val="202830"/>
                </a:solidFill>
                <a:latin typeface="Malgun Gothic"/>
                <a:ea typeface="Malgun Gothic"/>
              </a:rPr>
              <a:t>•  판단 근거는 백업본 데이터 파일 헤더의 CHECKPOINT_CHANGE#</a:t>
            </a:r>
          </a:p>
          <a:p>
            <a:pPr>
              <a:spcAft>
                <a:spcPts val="600"/>
              </a:spcAft>
            </a:pPr>
            <a:r>
              <a:rPr sz="1600" b="0">
                <a:solidFill>
                  <a:srgbClr val="5A6672"/>
                </a:solidFill>
                <a:latin typeface="Malgun Gothic"/>
                <a:ea typeface="Malgun Gothic"/>
              </a:rPr>
              <a:t>    –  그 값보다 NEXT_CHANGE#가 작은 아카이브는 안전하게 삭제 가능</a:t>
            </a:r>
          </a:p>
          <a:p>
            <a:pPr>
              <a:spcAft>
                <a:spcPts val="600"/>
              </a:spcAft>
            </a:pPr>
            <a:r>
              <a:rPr sz="1800" b="0">
                <a:solidFill>
                  <a:srgbClr val="202830"/>
                </a:solidFill>
                <a:latin typeface="Malgun Gothic"/>
                <a:ea typeface="Malgun Gothic"/>
              </a:rPr>
              <a:t>•  OS 명령으로 직접 지우면 제어 파일 이력과 어긋난다</a:t>
            </a:r>
          </a:p>
          <a:p>
            <a:pPr>
              <a:spcAft>
                <a:spcPts val="600"/>
              </a:spcAft>
            </a:pPr>
            <a:r>
              <a:rPr sz="1600" b="0">
                <a:solidFill>
                  <a:srgbClr val="5A6672"/>
                </a:solidFill>
                <a:latin typeface="Malgun Gothic"/>
                <a:ea typeface="Malgun Gothic"/>
              </a:rPr>
              <a:t>    –  RMAN 환경 — CROSSCHECK 후 DELETE EXPIRED</a:t>
            </a:r>
          </a:p>
          <a:p>
            <a:pPr>
              <a:spcAft>
                <a:spcPts val="600"/>
              </a:spcAft>
            </a:pPr>
            <a:r>
              <a:rPr sz="1800" b="0">
                <a:solidFill>
                  <a:srgbClr val="202830"/>
                </a:solidFill>
                <a:latin typeface="Malgun Gothic"/>
                <a:ea typeface="Malgun Gothic"/>
              </a:rPr>
              <a:t>•  FRA를 쓰면 Oracle이 보존 정책에 따라 자동 삭제한다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삭제 후보 판단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SCN 기준으로 안전하게 지울 수 있는 아카이브 고르기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삭제 후보 판단: 특정 SCN 이전의 아카이브</a:t>
            </a:r>
          </a:p>
          <a:p>
            <a:pPr>
              <a:spcAft>
                <a:spcPts val="0"/>
              </a:spcAft>
            </a:pPr>
            <a:r>
              <a:rPr sz="1250" b="0">
                <a:solidFill>
                  <a:srgbClr val="E6E6E6"/>
                </a:solidFill>
                <a:latin typeface="Consolas"/>
                <a:ea typeface="Consolas"/>
              </a:rPr>
              <a:t>SYS@orcl&gt; SELECT sequence#, name, next_change#,</a:t>
            </a:r>
          </a:p>
          <a:p>
            <a:pPr>
              <a:spcAft>
                <a:spcPts val="0"/>
              </a:spcAft>
            </a:pPr>
            <a:r>
              <a:rPr sz="1250" b="0">
                <a:solidFill>
                  <a:srgbClr val="E6E6E6"/>
                </a:solidFill>
                <a:latin typeface="Consolas"/>
                <a:ea typeface="Consolas"/>
              </a:rPr>
              <a:t>  2         CASE WHEN next_change# &lt; 2097189 THEN '삭제 가능' ELSE '보관 필요' END AS judgement</a:t>
            </a:r>
          </a:p>
          <a:p>
            <a:pPr>
              <a:spcAft>
                <a:spcPts val="0"/>
              </a:spcAft>
            </a:pPr>
            <a:r>
              <a:rPr sz="1250" b="0">
                <a:solidFill>
                  <a:srgbClr val="E6E6E6"/>
                </a:solidFill>
                <a:latin typeface="Consolas"/>
                <a:ea typeface="Consolas"/>
              </a:rPr>
              <a:t>  3  FROM   v$archived_log WHERE deleted = 'NO' AND dest_id = 1 ORDER BY sequence#;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SEQUENCE# NAME                                     NEXT_CHANGE# JUDGEMENT</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22 /home/oracle/arch1/arch_1_22_1200525.arc      2081984 삭제 가능</a:t>
            </a:r>
          </a:p>
          <a:p>
            <a:pPr>
              <a:spcAft>
                <a:spcPts val="0"/>
              </a:spcAft>
            </a:pPr>
            <a:r>
              <a:rPr sz="1250" b="0">
                <a:solidFill>
                  <a:srgbClr val="E6E6E6"/>
                </a:solidFill>
                <a:latin typeface="Consolas"/>
                <a:ea typeface="Consolas"/>
              </a:rPr>
              <a:t>        23 /home/oracle/arch1/arch_1_23_1200525.arc      2090995 삭제 가능</a:t>
            </a:r>
          </a:p>
          <a:p>
            <a:pPr>
              <a:spcAft>
                <a:spcPts val="0"/>
              </a:spcAft>
            </a:pPr>
            <a:r>
              <a:rPr sz="1250" b="0">
                <a:solidFill>
                  <a:srgbClr val="E6E6E6"/>
                </a:solidFill>
                <a:latin typeface="Consolas"/>
                <a:ea typeface="Consolas"/>
              </a:rPr>
              <a:t>        24 /home/oracle/arch1/arch_1_24_1200525.arc      2097189 보관 필요</a:t>
            </a:r>
          </a:p>
          <a:p>
            <a:pPr>
              <a:spcAft>
                <a:spcPts val="0"/>
              </a:spcAft>
            </a:pPr>
            <a:r>
              <a:rPr sz="1250" b="0">
                <a:solidFill>
                  <a:srgbClr val="E6E6E6"/>
                </a:solidFill>
                <a:latin typeface="Consolas"/>
                <a:ea typeface="Consolas"/>
              </a:rPr>
              <a:t>        25 /home/oracle/arch1/arch_1_25_1200525.arc      2103440 보관 필요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2.3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Fast Recovery Area</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복구 파일을 한곳에 모아 Oracle이 공간을 자동 관리</a:t>
            </a:r>
          </a:p>
          <a:p>
            <a:pPr>
              <a:spcAft>
                <a:spcPts val="600"/>
              </a:spcAft>
            </a:pPr>
            <a:r>
              <a:rPr sz="1600" b="0">
                <a:solidFill>
                  <a:srgbClr val="C5CED6"/>
                </a:solidFill>
                <a:latin typeface="Malgun Gothic"/>
                <a:ea typeface="Malgun Gothic"/>
              </a:rPr>
              <a:t>•  크기를 먼저, 경로를 나중에 지정</a:t>
            </a:r>
          </a:p>
          <a:p>
            <a:pPr>
              <a:spcAft>
                <a:spcPts val="600"/>
              </a:spcAft>
            </a:pPr>
            <a:r>
              <a:rPr sz="1600" b="0">
                <a:solidFill>
                  <a:srgbClr val="C5CED6"/>
                </a:solidFill>
                <a:latin typeface="Malgun Gothic"/>
                <a:ea typeface="Malgun Gothic"/>
              </a:rPr>
              <a:t>•  가득 차면 ORA-00257로 데이터베이스가 멈춘다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FRA의 역할과 구성</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FRA에 저장될 수 있는 파일</a:t>
            </a:r>
          </a:p>
          <a:p>
            <a:pPr>
              <a:spcAft>
                <a:spcPts val="600"/>
              </a:spcAft>
            </a:pPr>
            <a:r>
              <a:rPr sz="1600" b="0">
                <a:solidFill>
                  <a:srgbClr val="5A6672"/>
                </a:solidFill>
                <a:latin typeface="Malgun Gothic"/>
                <a:ea typeface="Malgun Gothic"/>
              </a:rPr>
              <a:t>    –  아카이브 리두 로그 · RMAN 백업 세트와 이미지 복사본</a:t>
            </a:r>
          </a:p>
          <a:p>
            <a:pPr>
              <a:spcAft>
                <a:spcPts val="600"/>
              </a:spcAft>
            </a:pPr>
            <a:r>
              <a:rPr sz="1600" b="0">
                <a:solidFill>
                  <a:srgbClr val="5A6672"/>
                </a:solidFill>
                <a:latin typeface="Malgun Gothic"/>
                <a:ea typeface="Malgun Gothic"/>
              </a:rPr>
              <a:t>    –  제어 파일 자동 백업 · 플래시백 로그</a:t>
            </a:r>
          </a:p>
          <a:p>
            <a:pPr>
              <a:spcAft>
                <a:spcPts val="600"/>
              </a:spcAft>
            </a:pPr>
            <a:r>
              <a:rPr sz="1600" b="0">
                <a:solidFill>
                  <a:srgbClr val="5A6672"/>
                </a:solidFill>
                <a:latin typeface="Malgun Gothic"/>
                <a:ea typeface="Malgun Gothic"/>
              </a:rPr>
              <a:t>    –  제어 파일과 온라인 리두 로그의 다중화 사본</a:t>
            </a:r>
          </a:p>
          <a:p>
            <a:pPr>
              <a:spcAft>
                <a:spcPts val="600"/>
              </a:spcAft>
            </a:pPr>
            <a:r>
              <a:rPr sz="1800" b="0">
                <a:solidFill>
                  <a:srgbClr val="202830"/>
                </a:solidFill>
                <a:latin typeface="Malgun Gothic"/>
                <a:ea typeface="Malgun Gothic"/>
              </a:rPr>
              <a:t>•  핵심 이점은 자동 삭제 — 보존 정책 충족 파일을 공간 압박 시 스스로 제거</a:t>
            </a:r>
          </a:p>
          <a:p>
            <a:pPr>
              <a:spcAft>
                <a:spcPts val="600"/>
              </a:spcAft>
            </a:pPr>
            <a:r>
              <a:rPr sz="1600" b="0">
                <a:solidFill>
                  <a:srgbClr val="5A6672"/>
                </a:solidFill>
                <a:latin typeface="Malgun Gothic"/>
                <a:ea typeface="Malgun Gothic"/>
              </a:rPr>
              <a:t>    –  단 RMAN이 관리하는 파일에 한정. OS로 복사한 파일은 대상이 아니다</a:t>
            </a:r>
          </a:p>
          <a:p>
            <a:pPr>
              <a:spcAft>
                <a:spcPts val="600"/>
              </a:spcAft>
            </a:pPr>
            <a:r>
              <a:rPr sz="1800" b="0">
                <a:solidFill>
                  <a:srgbClr val="202830"/>
                </a:solidFill>
                <a:latin typeface="Malgun Gothic"/>
                <a:ea typeface="Malgun Gothic"/>
              </a:rPr>
              <a:t>•  구성은 파라미터 두 개, 순서가 중요하다</a:t>
            </a:r>
          </a:p>
          <a:p>
            <a:pPr>
              <a:spcAft>
                <a:spcPts val="600"/>
              </a:spcAft>
            </a:pPr>
            <a:r>
              <a:rPr sz="1600" b="0">
                <a:solidFill>
                  <a:srgbClr val="5A6672"/>
                </a:solidFill>
                <a:latin typeface="Malgun Gothic"/>
                <a:ea typeface="Malgun Gothic"/>
              </a:rPr>
              <a:t>    –  ① DB_RECOVERY_FILE_DEST_SIZE → ② DB_RECOVERY_FILE_DEST</a:t>
            </a:r>
          </a:p>
          <a:p>
            <a:pPr>
              <a:spcAft>
                <a:spcPts val="600"/>
              </a:spcAft>
            </a:pPr>
            <a:r>
              <a:rPr sz="1600" b="0">
                <a:solidFill>
                  <a:srgbClr val="5A6672"/>
                </a:solidFill>
                <a:latin typeface="Malgun Gothic"/>
                <a:ea typeface="Malgun Gothic"/>
              </a:rPr>
              <a:t>    –  순서를 바꾸면 ORA-32001. 둘 다 재기동 없이 즉시 적용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FRA 구성과 사용량 조회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크기 → 경로 순서, 그리고 두 개의 사용량 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크기를 먼저, 경로를 나중에</a:t>
            </a:r>
          </a:p>
          <a:p>
            <a:pPr>
              <a:spcAft>
                <a:spcPts val="0"/>
              </a:spcAft>
            </a:pPr>
            <a:r>
              <a:rPr sz="1250" b="0">
                <a:solidFill>
                  <a:srgbClr val="E6E6E6"/>
                </a:solidFill>
                <a:latin typeface="Consolas"/>
                <a:ea typeface="Consolas"/>
              </a:rPr>
              <a:t>SYS@orcl&gt; ALTER SYSTEM SET db_recovery_file_dest_size = 4G SCOPE=both;</a:t>
            </a:r>
          </a:p>
          <a:p>
            <a:pPr>
              <a:spcAft>
                <a:spcPts val="0"/>
              </a:spcAft>
            </a:pPr>
            <a:r>
              <a:rPr sz="1250" b="0">
                <a:solidFill>
                  <a:srgbClr val="E6E6E6"/>
                </a:solidFill>
                <a:latin typeface="Consolas"/>
                <a:ea typeface="Consolas"/>
              </a:rPr>
              <a:t>SYS@orcl&gt; ALTER SYSTEM SET db_recovery_file_dest = '/u01/app/oracle/fast_recovery_area' SCOPE=both;</a:t>
            </a:r>
          </a:p>
          <a:p>
            <a:pPr>
              <a:spcAft>
                <a:spcPts val="0"/>
              </a:spcAft>
            </a:pPr>
            <a:r>
              <a:rPr sz="1250" b="0">
                <a:solidFill>
                  <a:srgbClr val="E6E6E6"/>
                </a:solidFill>
                <a:latin typeface="Consolas"/>
                <a:ea typeface="Consolas"/>
              </a:rPr>
              <a:t>System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FRA 전체 사용량</a:t>
            </a:r>
          </a:p>
          <a:p>
            <a:pPr>
              <a:spcAft>
                <a:spcPts val="0"/>
              </a:spcAft>
            </a:pPr>
            <a:r>
              <a:rPr sz="1250" b="0">
                <a:solidFill>
                  <a:srgbClr val="E6E6E6"/>
                </a:solidFill>
                <a:latin typeface="Consolas"/>
                <a:ea typeface="Consolas"/>
              </a:rPr>
              <a:t>SYS@orcl&gt; SELECT name, ROUND(space_limit/1024/1024) AS limit_mb,</a:t>
            </a:r>
          </a:p>
          <a:p>
            <a:pPr>
              <a:spcAft>
                <a:spcPts val="0"/>
              </a:spcAft>
            </a:pPr>
            <a:r>
              <a:rPr sz="1250" b="0">
                <a:solidFill>
                  <a:srgbClr val="E6E6E6"/>
                </a:solidFill>
                <a:latin typeface="Consolas"/>
                <a:ea typeface="Consolas"/>
              </a:rPr>
              <a:t>  2         ROUND(space_used/1024/1024) AS used_mb,</a:t>
            </a:r>
          </a:p>
          <a:p>
            <a:pPr>
              <a:spcAft>
                <a:spcPts val="0"/>
              </a:spcAft>
            </a:pPr>
            <a:r>
              <a:rPr sz="1250" b="0">
                <a:solidFill>
                  <a:srgbClr val="E6E6E6"/>
                </a:solidFill>
                <a:latin typeface="Consolas"/>
                <a:ea typeface="Consolas"/>
              </a:rPr>
              <a:t>  3         ROUND(space_reclaimable/1024/1024) AS reclaim_mb,</a:t>
            </a:r>
          </a:p>
          <a:p>
            <a:pPr>
              <a:spcAft>
                <a:spcPts val="0"/>
              </a:spcAft>
            </a:pPr>
            <a:r>
              <a:rPr sz="1250" b="0">
                <a:solidFill>
                  <a:srgbClr val="E6E6E6"/>
                </a:solidFill>
                <a:latin typeface="Consolas"/>
                <a:ea typeface="Consolas"/>
              </a:rPr>
              <a:t>  4         ROUND(space_used/space_limit*100, 1) AS pct</a:t>
            </a:r>
          </a:p>
          <a:p>
            <a:pPr>
              <a:spcAft>
                <a:spcPts val="0"/>
              </a:spcAft>
            </a:pPr>
            <a:r>
              <a:rPr sz="1250" b="0">
                <a:solidFill>
                  <a:srgbClr val="E6E6E6"/>
                </a:solidFill>
                <a:latin typeface="Consolas"/>
                <a:ea typeface="Consolas"/>
              </a:rPr>
              <a:t>  5  FROM   v$recovery_file_dest;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NAME                                 LIMIT_MB    USED_MB RECLAIM_MB   PCT</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/u01/app/oracle/fast_recovery_area       4096        612        180  14.9</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파일 종류별 비율</a:t>
            </a:r>
          </a:p>
          <a:p>
            <a:pPr>
              <a:spcAft>
                <a:spcPts val="0"/>
              </a:spcAft>
            </a:pPr>
            <a:r>
              <a:rPr sz="1250" b="0">
                <a:solidFill>
                  <a:srgbClr val="E6E6E6"/>
                </a:solidFill>
                <a:latin typeface="Consolas"/>
                <a:ea typeface="Consolas"/>
              </a:rPr>
              <a:t>SYS@orcl&gt; SELECT file_type, percent_space_used, percent_space_reclaimable, number_of_files</a:t>
            </a:r>
          </a:p>
          <a:p>
            <a:pPr>
              <a:spcAft>
                <a:spcPts val="0"/>
              </a:spcAft>
            </a:pPr>
            <a:r>
              <a:rPr sz="1250" b="0">
                <a:solidFill>
                  <a:srgbClr val="E6E6E6"/>
                </a:solidFill>
                <a:latin typeface="Consolas"/>
                <a:ea typeface="Consolas"/>
              </a:rPr>
              <a:t>  2  FROM   v$flash_recovery_area_usage WHERE number_of_files &gt; 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FILE_TYPE               PERCENT_SPACE_USED PERCENT_SPACE_RECLAIMABLE NUMBER_OF_FILES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ARCHIVED LOG                          14.94                      4.39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ORA-00257 — 아카이브 정지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증상은 다음 순서로 나타난다</a:t>
            </a:r>
          </a:p>
          <a:p>
            <a:pPr>
              <a:spcAft>
                <a:spcPts val="600"/>
              </a:spcAft>
            </a:pPr>
            <a:r>
              <a:rPr sz="1600" b="0">
                <a:solidFill>
                  <a:srgbClr val="5A6672"/>
                </a:solidFill>
                <a:latin typeface="Malgun Gothic"/>
                <a:ea typeface="Malgun Gothic"/>
              </a:rPr>
              <a:t>    –  alert log에 ARC0: Archival stopped, error occurred 기록</a:t>
            </a:r>
          </a:p>
          <a:p>
            <a:pPr>
              <a:spcAft>
                <a:spcPts val="600"/>
              </a:spcAft>
            </a:pPr>
            <a:r>
              <a:rPr sz="1600" b="0">
                <a:solidFill>
                  <a:srgbClr val="5A6672"/>
                </a:solidFill>
                <a:latin typeface="Malgun Gothic"/>
                <a:ea typeface="Malgun Gothic"/>
              </a:rPr>
              <a:t>    –  새 접속·DML이 응답 없이 대기</a:t>
            </a:r>
          </a:p>
          <a:p>
            <a:pPr>
              <a:spcAft>
                <a:spcPts val="600"/>
              </a:spcAft>
            </a:pPr>
            <a:r>
              <a:rPr sz="1600" b="0">
                <a:solidFill>
                  <a:srgbClr val="5A6672"/>
                </a:solidFill>
                <a:latin typeface="Malgun Gothic"/>
                <a:ea typeface="Malgun Gothic"/>
              </a:rPr>
              <a:t>    –  기존 세션에서 ORA-00257: archiver error 반환</a:t>
            </a:r>
          </a:p>
          <a:p>
            <a:pPr>
              <a:spcAft>
                <a:spcPts val="600"/>
              </a:spcAft>
            </a:pPr>
            <a:r>
              <a:rPr sz="1800" b="0">
                <a:solidFill>
                  <a:srgbClr val="202830"/>
                </a:solidFill>
                <a:latin typeface="Malgun Gothic"/>
                <a:ea typeface="Malgun Gothic"/>
              </a:rPr>
              <a:t>•  해소 방법 세 가지 — 상황에 따라 선택</a:t>
            </a:r>
          </a:p>
          <a:p>
            <a:pPr>
              <a:spcAft>
                <a:spcPts val="600"/>
              </a:spcAft>
            </a:pPr>
            <a:r>
              <a:rPr sz="1600" b="0">
                <a:solidFill>
                  <a:srgbClr val="5A6672"/>
                </a:solidFill>
                <a:latin typeface="Malgun Gothic"/>
                <a:ea typeface="Malgun Gothic"/>
              </a:rPr>
              <a:t>    –  공간 확보 — 백업이 끝난 오래된 아카이브를 이동·삭제</a:t>
            </a:r>
          </a:p>
          <a:p>
            <a:pPr>
              <a:spcAft>
                <a:spcPts val="600"/>
              </a:spcAft>
            </a:pPr>
            <a:r>
              <a:rPr sz="1600" b="0">
                <a:solidFill>
                  <a:srgbClr val="5A6672"/>
                </a:solidFill>
                <a:latin typeface="Malgun Gothic"/>
                <a:ea typeface="Malgun Gothic"/>
              </a:rPr>
              <a:t>    –  상한 조정 — FRA면 DB_RECOVERY_FILE_DEST_SIZE 증가 (디스크 여유가 있을 때)</a:t>
            </a:r>
          </a:p>
          <a:p>
            <a:pPr>
              <a:spcAft>
                <a:spcPts val="600"/>
              </a:spcAft>
            </a:pPr>
            <a:r>
              <a:rPr sz="1600" b="0">
                <a:solidFill>
                  <a:srgbClr val="5A6672"/>
                </a:solidFill>
                <a:latin typeface="Malgun Gothic"/>
                <a:ea typeface="Malgun Gothic"/>
              </a:rPr>
              <a:t>    –  대상 변경 — LOG_ARCHIVE_DEST_1을 여유 경로로 즉시 변경(SCOPE=both)</a:t>
            </a:r>
          </a:p>
          <a:p>
            <a:pPr>
              <a:spcAft>
                <a:spcPts val="600"/>
              </a:spcAft>
            </a:pPr>
            <a:r>
              <a:rPr sz="1800" b="0">
                <a:solidFill>
                  <a:srgbClr val="202830"/>
                </a:solidFill>
                <a:latin typeface="Malgun Gothic"/>
                <a:ea typeface="Malgun Gothic"/>
              </a:rPr>
              <a:t>•  SYSDBA로는 접속되므로 그 세션에서 진단한다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ORA-00257 진단과 해소</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SYSDBA 세션에서 원인을 특정하고 공간을 확보한다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sysdate FROM dual;</a:t>
            </a:r>
          </a:p>
          <a:p>
            <a:pPr>
              <a:spcAft>
                <a:spcPts val="0"/>
              </a:spcAft>
            </a:pPr>
            <a:r>
              <a:rPr sz="1250" b="0">
                <a:solidFill>
                  <a:srgbClr val="E6E6E6"/>
                </a:solidFill>
                <a:latin typeface="Consolas"/>
                <a:ea typeface="Consolas"/>
              </a:rPr>
              <a:t>SELECT sysdate FROM dual</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ORA-00257: archiver error. Connect AS SYSDBA only until resolved.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SYSDBA로는 접속되므로 원인을 확인한다</a:t>
            </a:r>
          </a:p>
          <a:p>
            <a:pPr>
              <a:spcAft>
                <a:spcPts val="0"/>
              </a:spcAft>
            </a:pPr>
            <a:r>
              <a:rPr sz="1250" b="0">
                <a:solidFill>
                  <a:srgbClr val="E6E6E6"/>
                </a:solidFill>
                <a:latin typeface="Consolas"/>
                <a:ea typeface="Consolas"/>
              </a:rPr>
              <a:t>SYS@orcl&gt; SELECT dest_id, status, error FROM v$archive_dest WHERE status &lt;&gt; 'INACTIVE';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DEST_ID STATUS    ERROR</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ERROR     ORA-19502: write error on file "...arch_1_31_...arc"</a:t>
            </a:r>
          </a:p>
          <a:p>
            <a:pPr>
              <a:spcAft>
                <a:spcPts val="0"/>
              </a:spcAft>
            </a:pPr>
            <a:r>
              <a:rPr sz="1250" b="0">
                <a:solidFill>
                  <a:srgbClr val="E6E6E6"/>
                </a:solidFill>
                <a:latin typeface="Consolas"/>
                <a:ea typeface="Consolas"/>
              </a:rPr>
              <a:t>         2 VALID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!df -h /home/oracle/arch1</a:t>
            </a:r>
          </a:p>
          <a:p>
            <a:pPr>
              <a:spcAft>
                <a:spcPts val="0"/>
              </a:spcAft>
            </a:pPr>
            <a:r>
              <a:rPr sz="1250" b="0">
                <a:solidFill>
                  <a:srgbClr val="E6E6E6"/>
                </a:solidFill>
                <a:latin typeface="Consolas"/>
                <a:ea typeface="Consolas"/>
              </a:rPr>
              <a:t>Filesystem      Size  Used Avail Use% Mounted on</a:t>
            </a:r>
          </a:p>
          <a:p>
            <a:pPr>
              <a:spcAft>
                <a:spcPts val="0"/>
              </a:spcAft>
            </a:pPr>
            <a:r>
              <a:rPr sz="1250" b="0">
                <a:solidFill>
                  <a:srgbClr val="E6E6E6"/>
                </a:solidFill>
                <a:latin typeface="Consolas"/>
                <a:ea typeface="Consolas"/>
              </a:rPr>
              <a:t>/dev/sda3        20G   20G     0 100% /home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공간 확보 후 아카이브 재개</a:t>
            </a:r>
          </a:p>
          <a:p>
            <a:pPr>
              <a:spcAft>
                <a:spcPts val="0"/>
              </a:spcAft>
            </a:pPr>
            <a:r>
              <a:rPr sz="1250" b="0">
                <a:solidFill>
                  <a:srgbClr val="E6E6E6"/>
                </a:solidFill>
                <a:latin typeface="Consolas"/>
                <a:ea typeface="Consolas"/>
              </a:rPr>
              <a:t>SYS@orcl&gt; !mv /home/oracle/arch1/arch_1_2*.arc /backup/arch_old/</a:t>
            </a:r>
          </a:p>
          <a:p>
            <a:pPr>
              <a:spcAft>
                <a:spcPts val="0"/>
              </a:spcAft>
            </a:pPr>
            <a:r>
              <a:rPr sz="1250" b="0">
                <a:solidFill>
                  <a:srgbClr val="E6E6E6"/>
                </a:solidFill>
                <a:latin typeface="Consolas"/>
                <a:ea typeface="Consolas"/>
              </a:rPr>
              <a:t>SYS@orcl&gt; ALTER SYSTEM ARCHIVE LOG ALL;</a:t>
            </a:r>
          </a:p>
          <a:p>
            <a:pPr>
              <a:spcAft>
                <a:spcPts val="0"/>
              </a:spcAft>
            </a:pPr>
            <a:r>
              <a:rPr sz="1250" b="0">
                <a:solidFill>
                  <a:srgbClr val="E6E6E6"/>
                </a:solidFill>
                <a:latin typeface="Consolas"/>
                <a:ea typeface="Consolas"/>
              </a:rPr>
              <a:t>System altered.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2.4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제어 파일 다중화</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모든 경로에 동일 내용이 동시 기록된다</a:t>
            </a:r>
          </a:p>
          <a:p>
            <a:pPr>
              <a:spcAft>
                <a:spcPts val="600"/>
              </a:spcAft>
            </a:pPr>
            <a:r>
              <a:rPr sz="1600" b="0">
                <a:solidFill>
                  <a:srgbClr val="C5CED6"/>
                </a:solidFill>
                <a:latin typeface="Malgun Gothic"/>
                <a:ea typeface="Malgun Gothic"/>
              </a:rPr>
              <a:t>•  SPFILE 설정 → 정상 종료 → 복사 → 기동 순서</a:t>
            </a:r>
          </a:p>
          <a:p>
            <a:pPr>
              <a:spcAft>
                <a:spcPts val="600"/>
              </a:spcAft>
            </a:pPr>
            <a:r>
              <a:rPr sz="1600" b="0">
                <a:solidFill>
                  <a:srgbClr val="C5CED6"/>
                </a:solidFill>
                <a:latin typeface="Malgun Gothic"/>
                <a:ea typeface="Malgun Gothic"/>
              </a:rPr>
              <a:t>•  서로 다른 물리 디스크여야 의미가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원칙과 절차</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CONTROL_FILES에 나열된 모든 경로에 동일 내용이 동시 기록</a:t>
            </a:r>
          </a:p>
          <a:p>
            <a:pPr>
              <a:spcAft>
                <a:spcPts val="600"/>
              </a:spcAft>
            </a:pPr>
            <a:r>
              <a:rPr sz="1800" b="0">
                <a:solidFill>
                  <a:srgbClr val="202830"/>
                </a:solidFill>
                <a:latin typeface="Malgun Gothic"/>
                <a:ea typeface="Malgun Gothic"/>
              </a:rPr>
              <a:t>•  하나라도 읽을 수 없으면 마운트되지 않는다</a:t>
            </a:r>
          </a:p>
          <a:p>
            <a:pPr>
              <a:spcAft>
                <a:spcPts val="600"/>
              </a:spcAft>
            </a:pPr>
            <a:r>
              <a:rPr sz="1600" b="0">
                <a:solidFill>
                  <a:srgbClr val="5A6672"/>
                </a:solidFill>
                <a:latin typeface="Malgun Gothic"/>
                <a:ea typeface="Malgun Gothic"/>
              </a:rPr>
              <a:t>    –  다중화 = '하나가 깨져도 동작' 이 아니라 '그것을 빼고 재기동할 수 있다'</a:t>
            </a:r>
          </a:p>
          <a:p>
            <a:pPr>
              <a:spcAft>
                <a:spcPts val="600"/>
              </a:spcAft>
            </a:pPr>
            <a:r>
              <a:rPr sz="1800" b="0">
                <a:solidFill>
                  <a:srgbClr val="202830"/>
                </a:solidFill>
                <a:latin typeface="Malgun Gothic"/>
                <a:ea typeface="Malgun Gothic"/>
              </a:rPr>
              <a:t>•  경로가 서로 다른 물리 디스크에 있어야 의미가 있다</a:t>
            </a:r>
          </a:p>
          <a:p>
            <a:pPr>
              <a:spcAft>
                <a:spcPts val="600"/>
              </a:spcAft>
            </a:pPr>
            <a:r>
              <a:rPr sz="1800" b="0">
                <a:solidFill>
                  <a:srgbClr val="202830"/>
                </a:solidFill>
                <a:latin typeface="Malgun Gothic"/>
                <a:ea typeface="Malgun Gothic"/>
              </a:rPr>
              <a:t>•  권장 개수는 2~3개. 늘려도 안전성 향상은 완만하고 쓰기 부하만 증가</a:t>
            </a:r>
          </a:p>
          <a:p>
            <a:pPr>
              <a:spcAft>
                <a:spcPts val="600"/>
              </a:spcAft>
            </a:pPr>
            <a:r>
              <a:rPr sz="1800" b="0">
                <a:solidFill>
                  <a:srgbClr val="202830"/>
                </a:solidFill>
                <a:latin typeface="Malgun Gothic"/>
                <a:ea typeface="Malgun Gothic"/>
              </a:rPr>
              <a:t>•  절차 — CONTROL_FILES는 정적 파라미터라 재기동 필요</a:t>
            </a:r>
          </a:p>
          <a:p>
            <a:pPr>
              <a:spcAft>
                <a:spcPts val="600"/>
              </a:spcAft>
            </a:pPr>
            <a:r>
              <a:rPr sz="1600" b="0">
                <a:solidFill>
                  <a:srgbClr val="5A6672"/>
                </a:solidFill>
                <a:latin typeface="Malgun Gothic"/>
                <a:ea typeface="Malgun Gothic"/>
              </a:rPr>
              <a:t>    –  ① SCOPE=spfile 설정 → ② SHUTDOWN IMMEDIATE</a:t>
            </a:r>
          </a:p>
          <a:p>
            <a:pPr>
              <a:spcAft>
                <a:spcPts val="600"/>
              </a:spcAft>
            </a:pPr>
            <a:r>
              <a:rPr sz="1600" b="0">
                <a:solidFill>
                  <a:srgbClr val="5A6672"/>
                </a:solidFill>
                <a:latin typeface="Malgun Gothic"/>
                <a:ea typeface="Malgun Gothic"/>
              </a:rPr>
              <a:t>    –  ③ OS로 복사 → ④ STARTUP</a:t>
            </a:r>
          </a:p>
          <a:p>
            <a:pPr>
              <a:spcAft>
                <a:spcPts val="600"/>
              </a:spcAft>
            </a:pPr>
            <a:r>
              <a:rPr sz="1800" b="0">
                <a:solidFill>
                  <a:srgbClr val="202830"/>
                </a:solidFill>
                <a:latin typeface="Malgun Gothic"/>
                <a:ea typeface="Malgun Gothic"/>
              </a:rPr>
              <a:t>•  ③을 종료 전에 하면 뒤처진 사본이 된다. 빠뜨리면 ORA-00205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다중화 실행과 검증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설정 → 종료 → 복사 → 기동, 그리고 동시 기록 확인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SYSTEM SET control_files =</a:t>
            </a:r>
          </a:p>
          <a:p>
            <a:pPr>
              <a:spcAft>
                <a:spcPts val="0"/>
              </a:spcAft>
            </a:pPr>
            <a:r>
              <a:rPr sz="1250" b="0">
                <a:solidFill>
                  <a:srgbClr val="E6E6E6"/>
                </a:solidFill>
                <a:latin typeface="Consolas"/>
                <a:ea typeface="Consolas"/>
              </a:rPr>
              <a:t>  2    '/u01/app/oracle/oradata/orcl/control01.ctl',</a:t>
            </a:r>
          </a:p>
          <a:p>
            <a:pPr>
              <a:spcAft>
                <a:spcPts val="0"/>
              </a:spcAft>
            </a:pPr>
            <a:r>
              <a:rPr sz="1250" b="0">
                <a:solidFill>
                  <a:srgbClr val="E6E6E6"/>
                </a:solidFill>
                <a:latin typeface="Consolas"/>
                <a:ea typeface="Consolas"/>
              </a:rPr>
              <a:t>  3    '/u01/app/oracle/oradata/orcl/control02.ctl',</a:t>
            </a:r>
          </a:p>
          <a:p>
            <a:pPr>
              <a:spcAft>
                <a:spcPts val="0"/>
              </a:spcAft>
            </a:pPr>
            <a:r>
              <a:rPr sz="1250" b="0">
                <a:solidFill>
                  <a:srgbClr val="E6E6E6"/>
                </a:solidFill>
                <a:latin typeface="Consolas"/>
                <a:ea typeface="Consolas"/>
              </a:rPr>
              <a:t>  4    '/u02/oradata/orcl/control03.ctl' SCOPE=spfile;</a:t>
            </a:r>
          </a:p>
          <a:p>
            <a:pPr>
              <a:spcAft>
                <a:spcPts val="0"/>
              </a:spcAft>
            </a:pPr>
            <a:r>
              <a:rPr sz="1250" b="0">
                <a:solidFill>
                  <a:srgbClr val="E6E6E6"/>
                </a:solidFill>
                <a:latin typeface="Consolas"/>
                <a:ea typeface="Consolas"/>
              </a:rPr>
              <a:t>System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종료 후 복사 (순서 중요)</a:t>
            </a:r>
          </a:p>
          <a:p>
            <a:pPr>
              <a:spcAft>
                <a:spcPts val="0"/>
              </a:spcAft>
            </a:pPr>
            <a:r>
              <a:rPr sz="1250" b="0">
                <a:solidFill>
                  <a:srgbClr val="E6E6E6"/>
                </a:solidFill>
                <a:latin typeface="Consolas"/>
                <a:ea typeface="Consolas"/>
              </a:rPr>
              <a:t>SYS@orcl&gt; !mkdir -p /u02/oradata/orcl</a:t>
            </a:r>
          </a:p>
          <a:p>
            <a:pPr>
              <a:spcAft>
                <a:spcPts val="0"/>
              </a:spcAft>
            </a:pPr>
            <a:r>
              <a:rPr sz="1250" b="0">
                <a:solidFill>
                  <a:srgbClr val="E6E6E6"/>
                </a:solidFill>
                <a:latin typeface="Consolas"/>
                <a:ea typeface="Consolas"/>
              </a:rPr>
              <a:t>SYS@orcl&gt; !cp -v /u01/app/oracle/oradata/orcl/control01.ctl /u02/oradata/orcl/control03.ctl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  Database opened.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검증: 체크포인트 후 세 파일의 크기·시각이 함께 움직이는가</a:t>
            </a:r>
          </a:p>
          <a:p>
            <a:pPr>
              <a:spcAft>
                <a:spcPts val="0"/>
              </a:spcAft>
            </a:pPr>
            <a:r>
              <a:rPr sz="1250" b="0">
                <a:solidFill>
                  <a:srgbClr val="E6E6E6"/>
                </a:solidFill>
                <a:latin typeface="Consolas"/>
                <a:ea typeface="Consolas"/>
              </a:rPr>
              <a:t>SYS@orcl&gt; ALTER SYSTEM CHECKPOINT;</a:t>
            </a:r>
          </a:p>
          <a:p>
            <a:pPr>
              <a:spcAft>
                <a:spcPts val="0"/>
              </a:spcAft>
            </a:pPr>
            <a:r>
              <a:rPr sz="1250" b="0">
                <a:solidFill>
                  <a:srgbClr val="E6E6E6"/>
                </a:solidFill>
                <a:latin typeface="Consolas"/>
                <a:ea typeface="Consolas"/>
              </a:rPr>
              <a:t>SYS@orcl&gt; !ls -l --time-style=+%H:%M:%S /u01/.../control0*.ctl /u02/oradata/orcl/control03.ctl</a:t>
            </a:r>
          </a:p>
          <a:p>
            <a:pPr>
              <a:spcAft>
                <a:spcPts val="0"/>
              </a:spcAft>
            </a:pPr>
            <a:r>
              <a:rPr sz="1250" b="0">
                <a:solidFill>
                  <a:srgbClr val="E6E6E6"/>
                </a:solidFill>
                <a:latin typeface="Consolas"/>
                <a:ea typeface="Consolas"/>
              </a:rPr>
              <a:t>-rw-r-----. 1 oracle dba 10600448 15:41:22 .../control01.ctl</a:t>
            </a:r>
          </a:p>
          <a:p>
            <a:pPr>
              <a:spcAft>
                <a:spcPts val="0"/>
              </a:spcAft>
            </a:pPr>
            <a:r>
              <a:rPr sz="1250" b="0">
                <a:solidFill>
                  <a:srgbClr val="E6E6E6"/>
                </a:solidFill>
                <a:latin typeface="Consolas"/>
                <a:ea typeface="Consolas"/>
              </a:rPr>
              <a:t>-rw-r-----. 1 oracle dba 10600448 15:41:22 .../control02.ctl</a:t>
            </a:r>
          </a:p>
          <a:p>
            <a:pPr>
              <a:spcAft>
                <a:spcPts val="0"/>
              </a:spcAft>
            </a:pPr>
            <a:r>
              <a:rPr sz="1250" b="0">
                <a:solidFill>
                  <a:srgbClr val="E6E6E6"/>
                </a:solidFill>
                <a:latin typeface="Consolas"/>
                <a:ea typeface="Consolas"/>
              </a:rPr>
              <a:t>-rw-r-----. 1 oracle dba 10600448 15:41:22 /u02/oradata/orcl/control03.ctl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2.5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리두 로그 다중화와 그룹 관리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멤버 추가는 무중단으로 가능하다</a:t>
            </a:r>
          </a:p>
          <a:p>
            <a:pPr>
              <a:spcAft>
                <a:spcPts val="600"/>
              </a:spcAft>
            </a:pPr>
            <a:r>
              <a:rPr sz="1600" b="0">
                <a:solidFill>
                  <a:srgbClr val="C5CED6"/>
                </a:solidFill>
                <a:latin typeface="Malgun Gothic"/>
                <a:ea typeface="Malgun Gothic"/>
              </a:rPr>
              <a:t>•  새 멤버의 INVALID 상태는 정상</a:t>
            </a:r>
          </a:p>
          <a:p>
            <a:pPr>
              <a:spcAft>
                <a:spcPts val="600"/>
              </a:spcAft>
            </a:pPr>
            <a:r>
              <a:rPr sz="1600" b="0">
                <a:solidFill>
                  <a:srgbClr val="C5CED6"/>
                </a:solidFill>
                <a:latin typeface="Malgun Gothic"/>
                <a:ea typeface="Malgun Gothic"/>
              </a:rPr>
              <a:t>•  그룹 삭제에는 상태 제약이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멤버 추가로 다중화</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LGWR가 그룹의 모든 멤버에 동시 기록 — 용량은 그대로, 안전성만 상승</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ADD LOGFILE MEMBER</a:t>
            </a:r>
          </a:p>
          <a:p>
            <a:pPr>
              <a:spcAft>
                <a:spcPts val="0"/>
              </a:spcAft>
            </a:pPr>
            <a:r>
              <a:rPr sz="1250" b="0">
                <a:solidFill>
                  <a:srgbClr val="E6E6E6"/>
                </a:solidFill>
                <a:latin typeface="Consolas"/>
                <a:ea typeface="Consolas"/>
              </a:rPr>
              <a:t>  2    '/u02/oradata/orcl/redo01b.log' TO GROUP 1;</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그룹 2, 3에도 동일하게 추가한 뒤 상태 확인</a:t>
            </a:r>
          </a:p>
          <a:p>
            <a:pPr>
              <a:spcAft>
                <a:spcPts val="0"/>
              </a:spcAft>
            </a:pPr>
            <a:r>
              <a:rPr sz="1250" b="0">
                <a:solidFill>
                  <a:srgbClr val="E6E6E6"/>
                </a:solidFill>
                <a:latin typeface="Consolas"/>
                <a:ea typeface="Consolas"/>
              </a:rPr>
              <a:t>SYS@orcl&gt; SELECT group#, member, status FROM v$logfile ORDER BY group#, member;</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GROUP# MEMBER                                        STATUS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/u01/app/oracle/oradata/orcl/redo01.log</a:t>
            </a:r>
          </a:p>
          <a:p>
            <a:pPr>
              <a:spcAft>
                <a:spcPts val="0"/>
              </a:spcAft>
            </a:pPr>
            <a:r>
              <a:rPr sz="1250" b="0">
                <a:solidFill>
                  <a:srgbClr val="E6E6E6"/>
                </a:solidFill>
                <a:latin typeface="Consolas"/>
                <a:ea typeface="Consolas"/>
              </a:rPr>
              <a:t>         1 /u02/oradata/orcl/redo01b.log                 INVALID</a:t>
            </a:r>
          </a:p>
          <a:p>
            <a:pPr>
              <a:spcAft>
                <a:spcPts val="0"/>
              </a:spcAft>
            </a:pPr>
            <a:r>
              <a:rPr sz="1250" b="0">
                <a:solidFill>
                  <a:srgbClr val="E6E6E6"/>
                </a:solidFill>
                <a:latin typeface="Consolas"/>
                <a:ea typeface="Consolas"/>
              </a:rPr>
              <a:t>         2 /u01/app/oracle/oradata/orcl/redo02.log</a:t>
            </a:r>
          </a:p>
          <a:p>
            <a:pPr>
              <a:spcAft>
                <a:spcPts val="0"/>
              </a:spcAft>
            </a:pPr>
            <a:r>
              <a:rPr sz="1250" b="0">
                <a:solidFill>
                  <a:srgbClr val="E6E6E6"/>
                </a:solidFill>
                <a:latin typeface="Consolas"/>
                <a:ea typeface="Consolas"/>
              </a:rPr>
              <a:t>         2 /u02/oradata/orcl/redo02b.log                 INVALID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로그 스위치를 세 번 돌려 모든 그룹을 한 번씩 CURRENT로</a:t>
            </a:r>
          </a:p>
          <a:p>
            <a:pPr>
              <a:spcAft>
                <a:spcPts val="0"/>
              </a:spcAft>
            </a:pPr>
            <a:r>
              <a:rPr sz="1250" b="0">
                <a:solidFill>
                  <a:srgbClr val="E6E6E6"/>
                </a:solidFill>
                <a:latin typeface="Consolas"/>
                <a:ea typeface="Consolas"/>
              </a:rPr>
              <a:t>SYS@orcl&gt; ALTER SYSTEM SWITCH LOGFILE;</a:t>
            </a:r>
          </a:p>
          <a:p>
            <a:pPr>
              <a:spcAft>
                <a:spcPts val="0"/>
              </a:spcAft>
            </a:pPr>
            <a:r>
              <a:rPr sz="1250" b="0">
                <a:solidFill>
                  <a:srgbClr val="E6E6E6"/>
                </a:solidFill>
                <a:latin typeface="Consolas"/>
                <a:ea typeface="Consolas"/>
              </a:rPr>
              <a:t>SYS@orcl&gt; /</a:t>
            </a:r>
          </a:p>
          <a:p>
            <a:pPr>
              <a:spcAft>
                <a:spcPts val="0"/>
              </a:spcAft>
            </a:pPr>
            <a:r>
              <a:rPr sz="1250" b="0">
                <a:solidFill>
                  <a:srgbClr val="E6E6E6"/>
                </a:solidFill>
                <a:latin typeface="Consolas"/>
                <a:ea typeface="Consolas"/>
              </a:rPr>
              <a:t>SYS@orcl&gt; /</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member, status FROM v$logfile ORDER BY group#, member;</a:t>
            </a:r>
          </a:p>
          <a:p>
            <a:pPr>
              <a:spcAft>
                <a:spcPts val="0"/>
              </a:spcAft>
            </a:pPr>
            <a:r>
              <a:rPr sz="1250" b="0">
                <a:solidFill>
                  <a:srgbClr val="E6E6E6"/>
                </a:solidFill>
                <a:latin typeface="Consolas"/>
                <a:ea typeface="Consolas"/>
              </a:rPr>
              <a:t>    GROUP# MEMBER                                        STATUS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/u01/app/oracle/oradata/orcl/redo01.log</a:t>
            </a:r>
          </a:p>
          <a:p>
            <a:pPr>
              <a:spcAft>
                <a:spcPts val="0"/>
              </a:spcAft>
            </a:pPr>
            <a:r>
              <a:rPr sz="1250" b="0">
                <a:solidFill>
                  <a:srgbClr val="E6E6E6"/>
                </a:solidFill>
                <a:latin typeface="Consolas"/>
                <a:ea typeface="Consolas"/>
              </a:rPr>
              <a:t>         1 /u02/oradata/orcl/redo01b.log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그룹 추가와 삭제 제약</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CURRENT·ACTIVE·미아카이브 그룹은 삭제할 수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ADD LOGFILE GROUP 4</a:t>
            </a:r>
          </a:p>
          <a:p>
            <a:pPr>
              <a:spcAft>
                <a:spcPts val="0"/>
              </a:spcAft>
            </a:pPr>
            <a:r>
              <a:rPr sz="1250" b="0">
                <a:solidFill>
                  <a:srgbClr val="E6E6E6"/>
                </a:solidFill>
                <a:latin typeface="Consolas"/>
                <a:ea typeface="Consolas"/>
              </a:rPr>
              <a:t>  2    ('/u01/app/oracle/oradata/orcl/redo04.log',</a:t>
            </a:r>
          </a:p>
          <a:p>
            <a:pPr>
              <a:spcAft>
                <a:spcPts val="0"/>
              </a:spcAft>
            </a:pPr>
            <a:r>
              <a:rPr sz="1250" b="0">
                <a:solidFill>
                  <a:srgbClr val="E6E6E6"/>
                </a:solidFill>
                <a:latin typeface="Consolas"/>
                <a:ea typeface="Consolas"/>
              </a:rPr>
              <a:t>  3     '/u02/oradata/orcl/redo04b.log') SIZE 50M;</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CURRENT 그룹은 삭제할 수 없다</a:t>
            </a:r>
          </a:p>
          <a:p>
            <a:pPr>
              <a:spcAft>
                <a:spcPts val="0"/>
              </a:spcAft>
            </a:pPr>
            <a:r>
              <a:rPr sz="1250" b="0">
                <a:solidFill>
                  <a:srgbClr val="E6E6E6"/>
                </a:solidFill>
                <a:latin typeface="Consolas"/>
                <a:ea typeface="Consolas"/>
              </a:rPr>
              <a:t>SYS@orcl&gt; ALTER DATABASE DROP LOGFILE GROUP 2;</a:t>
            </a:r>
          </a:p>
          <a:p>
            <a:pPr>
              <a:spcAft>
                <a:spcPts val="0"/>
              </a:spcAft>
            </a:pPr>
            <a:r>
              <a:rPr sz="1250" b="0">
                <a:solidFill>
                  <a:srgbClr val="E6E6E6"/>
                </a:solidFill>
                <a:latin typeface="Consolas"/>
                <a:ea typeface="Consolas"/>
              </a:rPr>
              <a:t>ALTER DATABASE DROP LOGFILE GROUP 2</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ORA-01623: log 2 is current log for instance orcl (thread 1) - cannot drop</a:t>
            </a:r>
          </a:p>
          <a:p>
            <a:pPr>
              <a:spcAft>
                <a:spcPts val="0"/>
              </a:spcAft>
            </a:pPr>
            <a:r>
              <a:rPr sz="1250" b="0">
                <a:solidFill>
                  <a:srgbClr val="E6E6E6"/>
                </a:solidFill>
                <a:latin typeface="Consolas"/>
                <a:ea typeface="Consolas"/>
              </a:rPr>
              <a:t>ORA-00312: online log 2 thread 1: '/u01/app/oracle/oradata/orcl/redo02.log'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스위치로 CURRENT를 옮기고 상태를 확인한 뒤 삭제</a:t>
            </a:r>
          </a:p>
          <a:p>
            <a:pPr>
              <a:spcAft>
                <a:spcPts val="0"/>
              </a:spcAft>
            </a:pPr>
            <a:r>
              <a:rPr sz="1250" b="0">
                <a:solidFill>
                  <a:srgbClr val="E6E6E6"/>
                </a:solidFill>
                <a:latin typeface="Consolas"/>
                <a:ea typeface="Consolas"/>
              </a:rPr>
              <a:t>SYS@orcl&gt; ALTER SYSTEM SWITCH LOGFILE;</a:t>
            </a:r>
          </a:p>
          <a:p>
            <a:pPr>
              <a:spcAft>
                <a:spcPts val="0"/>
              </a:spcAft>
            </a:pPr>
            <a:r>
              <a:rPr sz="1250" b="0">
                <a:solidFill>
                  <a:srgbClr val="E6E6E6"/>
                </a:solidFill>
                <a:latin typeface="Consolas"/>
                <a:ea typeface="Consolas"/>
              </a:rPr>
              <a:t>SYS@orcl&gt; SELECT group#, status, archived FROM v$log ORDER BY group#;</a:t>
            </a:r>
          </a:p>
          <a:p>
            <a:pPr>
              <a:spcAft>
                <a:spcPts val="0"/>
              </a:spcAft>
            </a:pPr>
            <a:r>
              <a:rPr sz="1250" b="0">
                <a:solidFill>
                  <a:srgbClr val="E6E6E6"/>
                </a:solidFill>
                <a:latin typeface="Consolas"/>
                <a:ea typeface="Consolas"/>
              </a:rPr>
              <a:t>    GROUP# STATUS           ARC</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2 INACTIVE         YES</a:t>
            </a:r>
          </a:p>
          <a:p>
            <a:pPr>
              <a:spcAft>
                <a:spcPts val="0"/>
              </a:spcAft>
            </a:pPr>
            <a:r>
              <a:rPr sz="1250" b="0">
                <a:solidFill>
                  <a:srgbClr val="E6E6E6"/>
                </a:solidFill>
                <a:latin typeface="Consolas"/>
                <a:ea typeface="Consolas"/>
              </a:rPr>
              <a:t>         4 CURRENT          NO</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DROP LOGFILE GROUP 2;</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OS 파일은 남으므로 직접 지운다</a:t>
            </a:r>
          </a:p>
          <a:p>
            <a:pPr>
              <a:spcAft>
                <a:spcPts val="0"/>
              </a:spcAft>
            </a:pPr>
            <a:r>
              <a:rPr sz="1250" b="0">
                <a:solidFill>
                  <a:srgbClr val="E6E6E6"/>
                </a:solidFill>
                <a:latin typeface="Consolas"/>
                <a:ea typeface="Consolas"/>
              </a:rPr>
              <a:t>SYS@orcl&gt; !rm -f /u01/app/oracle/oradata/orcl/redo02.log /u02/oradata/orcl/redo02b.log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그룹 크기 결정과 손상 멤버 처리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크기는 로그 스위치 빈도로 판단 — 통상 시간당 3~6회가 적정</a:t>
            </a:r>
          </a:p>
          <a:p>
            <a:pPr>
              <a:spcAft>
                <a:spcPts val="600"/>
              </a:spcAft>
            </a:pPr>
            <a:r>
              <a:rPr sz="1600" b="0">
                <a:solidFill>
                  <a:srgbClr val="5A6672"/>
                </a:solidFill>
                <a:latin typeface="Malgun Gothic"/>
                <a:ea typeface="Malgun Gothic"/>
              </a:rPr>
              <a:t>    –  너무 잦으면 스위치마다 체크포인트가 발생해 I/O 부하 증가</a:t>
            </a:r>
          </a:p>
          <a:p>
            <a:pPr>
              <a:spcAft>
                <a:spcPts val="600"/>
              </a:spcAft>
            </a:pPr>
            <a:r>
              <a:rPr sz="1600" b="0">
                <a:solidFill>
                  <a:srgbClr val="5A6672"/>
                </a:solidFill>
                <a:latin typeface="Malgun Gothic"/>
                <a:ea typeface="Malgun Gothic"/>
              </a:rPr>
              <a:t>    –  너무 드물면 인스턴스 복구 시 적용할 리두가 많아져 복구가 느려진다</a:t>
            </a:r>
          </a:p>
          <a:p>
            <a:pPr>
              <a:spcAft>
                <a:spcPts val="600"/>
              </a:spcAft>
            </a:pPr>
            <a:r>
              <a:rPr sz="1600" b="0">
                <a:solidFill>
                  <a:srgbClr val="5A6672"/>
                </a:solidFill>
                <a:latin typeface="Malgun Gothic"/>
                <a:ea typeface="Malgun Gothic"/>
              </a:rPr>
              <a:t>    –  v$log_history를 시간대별로 집계해 실제 빈도를 확인</a:t>
            </a:r>
          </a:p>
          <a:p>
            <a:pPr>
              <a:spcAft>
                <a:spcPts val="600"/>
              </a:spcAft>
            </a:pPr>
            <a:r>
              <a:rPr sz="1800" b="0">
                <a:solidFill>
                  <a:srgbClr val="202830"/>
                </a:solidFill>
                <a:latin typeface="Malgun Gothic"/>
                <a:ea typeface="Malgun Gothic"/>
              </a:rPr>
              <a:t>•  크기 변경은 직접 늘릴 수 없다 — 새 크기 그룹 추가 후 기존 그룹 삭제</a:t>
            </a:r>
          </a:p>
          <a:p>
            <a:pPr>
              <a:spcAft>
                <a:spcPts val="600"/>
              </a:spcAft>
            </a:pPr>
            <a:r>
              <a:rPr sz="1800" b="0">
                <a:solidFill>
                  <a:srgbClr val="202830"/>
                </a:solidFill>
                <a:latin typeface="Malgun Gothic"/>
                <a:ea typeface="Malgun Gothic"/>
              </a:rPr>
              <a:t>•  손상 멤버는 삭제 후 같은 경로로 재추가</a:t>
            </a:r>
          </a:p>
          <a:p>
            <a:pPr>
              <a:spcAft>
                <a:spcPts val="600"/>
              </a:spcAft>
            </a:pPr>
            <a:r>
              <a:rPr sz="1600" b="0">
                <a:solidFill>
                  <a:srgbClr val="5A6672"/>
                </a:solidFill>
                <a:latin typeface="Malgun Gothic"/>
                <a:ea typeface="Malgun Gothic"/>
              </a:rPr>
              <a:t>    –  DROP LOGFILE MEMBER는 CURRENT 그룹 멤버에는 쓸 수 없다</a:t>
            </a:r>
          </a:p>
          <a:p>
            <a:pPr>
              <a:spcAft>
                <a:spcPts val="600"/>
              </a:spcAft>
            </a:pPr>
            <a:r>
              <a:rPr sz="1600" b="0">
                <a:solidFill>
                  <a:srgbClr val="5A6672"/>
                </a:solidFill>
                <a:latin typeface="Malgun Gothic"/>
                <a:ea typeface="Malgun Gothic"/>
              </a:rPr>
              <a:t>    –  그룹의 마지막 멤버도 삭제 불가 — 그룹 자체를 지워야 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2.6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파라미터 파일과 제어 파일 백업</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SPFILE은 바이너리 — 텍스트 사본 확보가 백업</a:t>
            </a:r>
          </a:p>
          <a:p>
            <a:pPr>
              <a:spcAft>
                <a:spcPts val="600"/>
              </a:spcAft>
            </a:pPr>
            <a:r>
              <a:rPr sz="1600" b="0">
                <a:solidFill>
                  <a:srgbClr val="C5CED6"/>
                </a:solidFill>
                <a:latin typeface="Malgun Gothic"/>
                <a:ea typeface="Malgun Gothic"/>
              </a:rPr>
              <a:t>•  제어 파일 백업은 바이너리와 트레이스 두 방식</a:t>
            </a:r>
          </a:p>
          <a:p>
            <a:pPr>
              <a:spcAft>
                <a:spcPts val="600"/>
              </a:spcAft>
            </a:pPr>
            <a:r>
              <a:rPr sz="1600" b="0">
                <a:solidFill>
                  <a:srgbClr val="C5CED6"/>
                </a:solidFill>
                <a:latin typeface="Malgun Gothic"/>
                <a:ea typeface="Malgun Gothic"/>
              </a:rPr>
              <a:t>•  구조가 바뀔 때마다 새로 받는다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SPFILE 백업과 복원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SPFILE은 바이너리라 편집 불가 — 텍스트 사본 확보가 곧 백업</a:t>
            </a:r>
          </a:p>
          <a:p>
            <a:pPr>
              <a:spcAft>
                <a:spcPts val="600"/>
              </a:spcAft>
            </a:pPr>
            <a:r>
              <a:rPr sz="1800" b="0">
                <a:solidFill>
                  <a:srgbClr val="202830"/>
                </a:solidFill>
                <a:latin typeface="Malgun Gothic"/>
                <a:ea typeface="Malgun Gothic"/>
              </a:rPr>
              <a:t>•  CREATE PFILE ... FROM SPFILE</a:t>
            </a:r>
          </a:p>
          <a:p>
            <a:pPr>
              <a:spcAft>
                <a:spcPts val="600"/>
              </a:spcAft>
            </a:pPr>
            <a:r>
              <a:rPr sz="1600" b="0">
                <a:solidFill>
                  <a:srgbClr val="5A6672"/>
                </a:solidFill>
                <a:latin typeface="Malgun Gothic"/>
                <a:ea typeface="Malgun Gothic"/>
              </a:rPr>
              <a:t>    –  OPEN이 아니어도 된다. MOUNT·NOMOUNT 상태에서도 가능</a:t>
            </a:r>
          </a:p>
          <a:p>
            <a:pPr>
              <a:spcAft>
                <a:spcPts val="600"/>
              </a:spcAft>
            </a:pPr>
            <a:r>
              <a:rPr sz="1600" b="0">
                <a:solidFill>
                  <a:srgbClr val="5A6672"/>
                </a:solidFill>
                <a:latin typeface="Malgun Gothic"/>
                <a:ea typeface="Malgun Gothic"/>
              </a:rPr>
              <a:t>    –  파라미터 변경 때마다 새로 받아 두면 변경 이력이 남는다</a:t>
            </a:r>
          </a:p>
          <a:p>
            <a:pPr>
              <a:spcAft>
                <a:spcPts val="600"/>
              </a:spcAft>
            </a:pPr>
            <a:r>
              <a:rPr sz="1800" b="0">
                <a:solidFill>
                  <a:srgbClr val="202830"/>
                </a:solidFill>
                <a:latin typeface="Malgun Gothic"/>
                <a:ea typeface="Malgun Gothic"/>
              </a:rPr>
              <a:t>•  SPFILE 유실 시 — 기동 불가, 그러나 데이터는 무사</a:t>
            </a:r>
          </a:p>
          <a:p>
            <a:pPr>
              <a:spcAft>
                <a:spcPts val="600"/>
              </a:spcAft>
            </a:pPr>
            <a:r>
              <a:rPr sz="1600" b="0">
                <a:solidFill>
                  <a:srgbClr val="5A6672"/>
                </a:solidFill>
                <a:latin typeface="Malgun Gothic"/>
                <a:ea typeface="Malgun Gothic"/>
              </a:rPr>
              <a:t>    –  STARTUP PFILE='경로'로 기동</a:t>
            </a:r>
          </a:p>
          <a:p>
            <a:pPr>
              <a:spcAft>
                <a:spcPts val="600"/>
              </a:spcAft>
            </a:pPr>
            <a:r>
              <a:rPr sz="1600" b="0">
                <a:solidFill>
                  <a:srgbClr val="5A6672"/>
                </a:solidFill>
                <a:latin typeface="Malgun Gothic"/>
                <a:ea typeface="Malgun Gothic"/>
              </a:rPr>
              <a:t>    –  CREATE SPFILE FROM PFILE로 되살린 뒤 재기동해야 적용된다</a:t>
            </a:r>
          </a:p>
          <a:p>
            <a:pPr>
              <a:spcAft>
                <a:spcPts val="600"/>
              </a:spcAft>
            </a:pPr>
            <a:r>
              <a:rPr sz="1600" b="0">
                <a:solidFill>
                  <a:srgbClr val="5A6672"/>
                </a:solidFill>
                <a:latin typeface="Malgun Gothic"/>
                <a:ea typeface="Malgun Gothic"/>
              </a:rPr>
              <a:t>    –  PFILE도 없으면 alert log의 기동 시 파라미터 목록으로 재작성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제어 파일 백업 두 방식</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바이너리는 SCN 정보를, 트레이스는 최신 구조를 갖는다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바이너리 백업</a:t>
            </a:r>
          </a:p>
          <a:p>
            <a:pPr>
              <a:spcAft>
                <a:spcPts val="0"/>
              </a:spcAft>
            </a:pPr>
            <a:r>
              <a:rPr sz="1250" b="0">
                <a:solidFill>
                  <a:srgbClr val="E6E6E6"/>
                </a:solidFill>
                <a:latin typeface="Consolas"/>
                <a:ea typeface="Consolas"/>
              </a:rPr>
              <a:t>SYS@orcl&gt; ALTER DATABASE BACKUP CONTROLFILE TO</a:t>
            </a:r>
          </a:p>
          <a:p>
            <a:pPr>
              <a:spcAft>
                <a:spcPts val="0"/>
              </a:spcAft>
            </a:pPr>
            <a:r>
              <a:rPr sz="1250" b="0">
                <a:solidFill>
                  <a:srgbClr val="E6E6E6"/>
                </a:solidFill>
                <a:latin typeface="Consolas"/>
                <a:ea typeface="Consolas"/>
              </a:rPr>
              <a:t>  2    '/home/oracle/backup/control_20250509.ctl' REUSE;</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트레이스 백업</a:t>
            </a:r>
          </a:p>
          <a:p>
            <a:pPr>
              <a:spcAft>
                <a:spcPts val="0"/>
              </a:spcAft>
            </a:pPr>
            <a:r>
              <a:rPr sz="1250" b="0">
                <a:solidFill>
                  <a:srgbClr val="E6E6E6"/>
                </a:solidFill>
                <a:latin typeface="Consolas"/>
                <a:ea typeface="Consolas"/>
              </a:rPr>
              <a:t>SYS@orcl&gt; ALTER DATABASE BACKUP CONTROLFILE TO TRACE</a:t>
            </a:r>
          </a:p>
          <a:p>
            <a:pPr>
              <a:spcAft>
                <a:spcPts val="0"/>
              </a:spcAft>
            </a:pPr>
            <a:r>
              <a:rPr sz="1250" b="0">
                <a:solidFill>
                  <a:srgbClr val="E6E6E6"/>
                </a:solidFill>
                <a:latin typeface="Consolas"/>
                <a:ea typeface="Consolas"/>
              </a:rPr>
              <a:t>  2    AS '/home/oracle/backup/control_orcl.txt' REUSE;</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!grep -c 'CREATE CONTROLFILE' /home/oracle/backup/control_orcl.txt</a:t>
            </a:r>
          </a:p>
          <a:p>
            <a:pPr>
              <a:spcAft>
                <a:spcPts val="0"/>
              </a:spcAft>
            </a:pPr>
            <a:r>
              <a:rPr sz="1250" b="0">
                <a:solidFill>
                  <a:srgbClr val="E6E6E6"/>
                </a:solidFill>
                <a:latin typeface="Consolas"/>
                <a:ea typeface="Consolas"/>
              </a:rPr>
              <a:t>2</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두 개가 나온다. NORESETLOGS 버전과 RESETLOGS 버전이다.</a:t>
            </a:r>
          </a:p>
          <a:p>
            <a:pPr>
              <a:spcAft>
                <a:spcPts val="0"/>
              </a:spcAft>
            </a:pPr>
            <a:r>
              <a:rPr sz="1250" b="0">
                <a:solidFill>
                  <a:srgbClr val="E6E6E6"/>
                </a:solidFill>
                <a:latin typeface="Consolas"/>
                <a:ea typeface="Consolas"/>
              </a:rPr>
              <a:t>SYS@orcl&gt; !grep 'CREATE CONTROLFILE' /home/oracle/backup/control_orcl.txt</a:t>
            </a:r>
          </a:p>
          <a:p>
            <a:pPr>
              <a:spcAft>
                <a:spcPts val="0"/>
              </a:spcAft>
            </a:pPr>
            <a:r>
              <a:rPr sz="1250" b="0">
                <a:solidFill>
                  <a:srgbClr val="E6E6E6"/>
                </a:solidFill>
                <a:latin typeface="Consolas"/>
                <a:ea typeface="Consolas"/>
              </a:rPr>
              <a:t>CREATE CONTROLFILE REUSE DATABASE "ORCL" NORESETLOGS  ARCHIVELOG</a:t>
            </a:r>
          </a:p>
          <a:p>
            <a:pPr>
              <a:spcAft>
                <a:spcPts val="0"/>
              </a:spcAft>
            </a:pPr>
            <a:r>
              <a:rPr sz="1250" b="0">
                <a:solidFill>
                  <a:srgbClr val="E6E6E6"/>
                </a:solidFill>
                <a:latin typeface="Consolas"/>
                <a:ea typeface="Consolas"/>
              </a:rPr>
              <a:t>CREATE CONTROLFILE REUSE DATABASE "ORCL" RESETLOGS  ARCHIVELOG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RMAN 자동 백업 설정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CONFIGURE CONTROLFILE AUTOBACKUP ON — 한 번 설정하면 자동</a:t>
            </a:r>
          </a:p>
          <a:p>
            <a:pPr>
              <a:spcAft>
                <a:spcPts val="600"/>
              </a:spcAft>
            </a:pPr>
            <a:r>
              <a:rPr sz="1800" b="0">
                <a:solidFill>
                  <a:srgbClr val="202830"/>
                </a:solidFill>
                <a:latin typeface="Malgun Gothic"/>
                <a:ea typeface="Malgun Gothic"/>
              </a:rPr>
              <a:t>•  자동 수행 시점</a:t>
            </a:r>
          </a:p>
          <a:p>
            <a:pPr>
              <a:spcAft>
                <a:spcPts val="600"/>
              </a:spcAft>
            </a:pPr>
            <a:r>
              <a:rPr sz="1600" b="0">
                <a:solidFill>
                  <a:srgbClr val="5A6672"/>
                </a:solidFill>
                <a:latin typeface="Malgun Gothic"/>
                <a:ea typeface="Malgun Gothic"/>
              </a:rPr>
              <a:t>    –  RMAN 백업이 끝날 때</a:t>
            </a:r>
          </a:p>
          <a:p>
            <a:pPr>
              <a:spcAft>
                <a:spcPts val="600"/>
              </a:spcAft>
            </a:pPr>
            <a:r>
              <a:rPr sz="1600" b="0">
                <a:solidFill>
                  <a:srgbClr val="5A6672"/>
                </a:solidFill>
                <a:latin typeface="Malgun Gothic"/>
                <a:ea typeface="Malgun Gothic"/>
              </a:rPr>
              <a:t>    –  데이터 파일 추가처럼 구조가 변경될 때</a:t>
            </a:r>
          </a:p>
          <a:p>
            <a:pPr>
              <a:spcAft>
                <a:spcPts val="600"/>
              </a:spcAft>
            </a:pPr>
            <a:r>
              <a:rPr sz="1800" b="0">
                <a:solidFill>
                  <a:srgbClr val="202830"/>
                </a:solidFill>
                <a:latin typeface="Malgun Gothic"/>
                <a:ea typeface="Malgun Gothic"/>
              </a:rPr>
              <a:t>•  자동 백업 파일은 정해진 이름 규칙(%F)을 따른다</a:t>
            </a:r>
          </a:p>
          <a:p>
            <a:pPr>
              <a:spcAft>
                <a:spcPts val="600"/>
              </a:spcAft>
            </a:pPr>
            <a:r>
              <a:rPr sz="1600" b="0">
                <a:solidFill>
                  <a:srgbClr val="5A6672"/>
                </a:solidFill>
                <a:latin typeface="Malgun Gothic"/>
                <a:ea typeface="Malgun Gothic"/>
              </a:rPr>
              <a:t>    –  제어 파일을 모두 잃어도 DBID만 알면 찾아 복원 가능</a:t>
            </a:r>
          </a:p>
          <a:p>
            <a:pPr>
              <a:spcAft>
                <a:spcPts val="600"/>
              </a:spcAft>
            </a:pPr>
            <a:r>
              <a:rPr sz="1600" b="0">
                <a:solidFill>
                  <a:srgbClr val="5A6672"/>
                </a:solidFill>
                <a:latin typeface="Malgun Gothic"/>
                <a:ea typeface="Malgun Gothic"/>
              </a:rPr>
              <a:t>    –  15·16장의 제어 파일·SPFILE 복구의 출발점</a:t>
            </a:r>
          </a:p>
          <a:p>
            <a:pPr>
              <a:spcAft>
                <a:spcPts val="600"/>
              </a:spcAft>
            </a:pPr>
            <a:r>
              <a:rPr sz="1800" b="0">
                <a:solidFill>
                  <a:srgbClr val="202830"/>
                </a:solidFill>
                <a:latin typeface="Malgun Gothic"/>
                <a:ea typeface="Malgun Gothic"/>
              </a:rPr>
              <a:t>•  이 장에서는 설정만, 실제 활용은 13장 이후</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구성 변경 직후 세 가지를 새로 받는다 — PFILE 텍스트 사본, 제어 파일 트레이스, v$archive_dest 조회 결과.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ARCHIVELOG 전환 절차</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NOARCHIVELOG에서 ARCHIVELOG로 전환할 때 ALTER DATABASE ARCHIVELOG를 수행해야 하는 상태는?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NOMOUNT</a:t>
            </a:r>
          </a:p>
          <a:p>
            <a:pPr>
              <a:spcAft>
                <a:spcPts val="800"/>
              </a:spcAft>
            </a:pPr>
            <a:r>
              <a:rPr sz="1700" b="0">
                <a:solidFill>
                  <a:srgbClr val="202830"/>
                </a:solidFill>
                <a:latin typeface="Malgun Gothic"/>
                <a:ea typeface="Malgun Gothic"/>
              </a:rPr>
              <a:t>(b) MOUNT</a:t>
            </a:r>
          </a:p>
          <a:p>
            <a:pPr>
              <a:spcAft>
                <a:spcPts val="800"/>
              </a:spcAft>
            </a:pPr>
            <a:r>
              <a:rPr sz="1700" b="0">
                <a:solidFill>
                  <a:srgbClr val="202830"/>
                </a:solidFill>
                <a:latin typeface="Malgun Gothic"/>
                <a:ea typeface="Malgun Gothic"/>
              </a:rPr>
              <a:t>(c) OPEN</a:t>
            </a:r>
          </a:p>
          <a:p>
            <a:pPr>
              <a:spcAft>
                <a:spcPts val="800"/>
              </a:spcAft>
            </a:pPr>
            <a:r>
              <a:rPr sz="1700" b="0">
                <a:solidFill>
                  <a:srgbClr val="202830"/>
                </a:solidFill>
                <a:latin typeface="Malgun Gothic"/>
                <a:ea typeface="Malgun Gothic"/>
              </a:rPr>
              <a:t>(d) OPEN READ ONLY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MANDATORY와 OPTIONAL</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LOG_ARCHIVE_DEST_1에 MANDATORY를 지정한 대상의 디스크가 가득 찼다. 결과로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해당 대상만 건너뛰고 정상 운영된다</a:t>
            </a:r>
          </a:p>
          <a:p>
            <a:pPr>
              <a:spcAft>
                <a:spcPts val="800"/>
              </a:spcAft>
            </a:pPr>
            <a:r>
              <a:rPr sz="1700" b="0">
                <a:solidFill>
                  <a:srgbClr val="202830"/>
                </a:solidFill>
                <a:latin typeface="Malgun Gothic"/>
                <a:ea typeface="Malgun Gothic"/>
              </a:rPr>
              <a:t>(b) 로그 스위치가 완료되지 못해 결국 데이터베이스가 멈춘다</a:t>
            </a:r>
          </a:p>
          <a:p>
            <a:pPr>
              <a:spcAft>
                <a:spcPts val="800"/>
              </a:spcAft>
            </a:pPr>
            <a:r>
              <a:rPr sz="1700" b="0">
                <a:solidFill>
                  <a:srgbClr val="202830"/>
                </a:solidFill>
                <a:latin typeface="Malgun Gothic"/>
                <a:ea typeface="Malgun Gothic"/>
              </a:rPr>
              <a:t>(c) 자동으로 OPTIONAL로 변경된다</a:t>
            </a:r>
          </a:p>
          <a:p>
            <a:pPr>
              <a:spcAft>
                <a:spcPts val="800"/>
              </a:spcAft>
            </a:pPr>
            <a:r>
              <a:rPr sz="1700" b="0">
                <a:solidFill>
                  <a:srgbClr val="202830"/>
                </a:solidFill>
                <a:latin typeface="Malgun Gothic"/>
                <a:ea typeface="Malgun Gothic"/>
              </a:rPr>
              <a:t>(d) 아카이브 없이 온라인 리두를 덮어쓴다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FRA 구성 순서</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Fast Recovery Area를 구성할 때 파라미터 설정 순서로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DB_RECOVERY_FILE_DEST → DB_RECOVERY_FILE_DEST_SIZE</a:t>
            </a:r>
          </a:p>
          <a:p>
            <a:pPr>
              <a:spcAft>
                <a:spcPts val="800"/>
              </a:spcAft>
            </a:pPr>
            <a:r>
              <a:rPr sz="1700" b="0">
                <a:solidFill>
                  <a:srgbClr val="202830"/>
                </a:solidFill>
                <a:latin typeface="Malgun Gothic"/>
                <a:ea typeface="Malgun Gothic"/>
              </a:rPr>
              <a:t>(b) DB_RECOVERY_FILE_DEST_SIZE → DB_RECOVERY_FILE_DEST</a:t>
            </a:r>
          </a:p>
          <a:p>
            <a:pPr>
              <a:spcAft>
                <a:spcPts val="800"/>
              </a:spcAft>
            </a:pPr>
            <a:r>
              <a:rPr sz="1700" b="0">
                <a:solidFill>
                  <a:srgbClr val="202830"/>
                </a:solidFill>
                <a:latin typeface="Malgun Gothic"/>
                <a:ea typeface="Malgun Gothic"/>
              </a:rPr>
              <a:t>(c) 순서와 무관하다</a:t>
            </a:r>
          </a:p>
          <a:p>
            <a:pPr>
              <a:spcAft>
                <a:spcPts val="800"/>
              </a:spcAft>
            </a:pPr>
            <a:r>
              <a:rPr sz="1700" b="0">
                <a:solidFill>
                  <a:srgbClr val="202830"/>
                </a:solidFill>
                <a:latin typeface="Malgun Gothic"/>
                <a:ea typeface="Malgun Gothic"/>
              </a:rPr>
              <a:t>(d) 두 파라미터를 동시에 설정해야 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4</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제어 파일 다중화 절차</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CONTROL_FILES에 새 경로를 추가할 때 제어 파일 복사를 수행해야 하는 시점은?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SCOPE=spfile 설정 직전</a:t>
            </a:r>
          </a:p>
          <a:p>
            <a:pPr>
              <a:spcAft>
                <a:spcPts val="800"/>
              </a:spcAft>
            </a:pPr>
            <a:r>
              <a:rPr sz="1700" b="0">
                <a:solidFill>
                  <a:srgbClr val="202830"/>
                </a:solidFill>
                <a:latin typeface="Malgun Gothic"/>
                <a:ea typeface="Malgun Gothic"/>
              </a:rPr>
              <a:t>(b) 설정 후 데이터베이스가 열려 있는 동안</a:t>
            </a:r>
          </a:p>
          <a:p>
            <a:pPr>
              <a:spcAft>
                <a:spcPts val="800"/>
              </a:spcAft>
            </a:pPr>
            <a:r>
              <a:rPr sz="1700" b="0">
                <a:solidFill>
                  <a:srgbClr val="202830"/>
                </a:solidFill>
                <a:latin typeface="Malgun Gothic"/>
                <a:ea typeface="Malgun Gothic"/>
              </a:rPr>
              <a:t>(c) SHUTDOWN 이후 STARTUP 이전</a:t>
            </a:r>
          </a:p>
          <a:p>
            <a:pPr>
              <a:spcAft>
                <a:spcPts val="800"/>
              </a:spcAft>
            </a:pPr>
            <a:r>
              <a:rPr sz="1700" b="0">
                <a:solidFill>
                  <a:srgbClr val="202830"/>
                </a:solidFill>
                <a:latin typeface="Malgun Gothic"/>
                <a:ea typeface="Malgun Gothic"/>
              </a:rPr>
              <a:t>(d) STARTUP 이후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5</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리두 로그 멤버 상태</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ADD LOGFILE MEMBER로 멤버를 추가한 직후 v$logfile의 STATUS가 INVALID로 표시되었다. 옳은 판단은?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파일이 손상되었으므로 삭제 후 재추가한다</a:t>
            </a:r>
          </a:p>
          <a:p>
            <a:pPr>
              <a:spcAft>
                <a:spcPts val="800"/>
              </a:spcAft>
            </a:pPr>
            <a:r>
              <a:rPr sz="1700" b="0">
                <a:solidFill>
                  <a:srgbClr val="202830"/>
                </a:solidFill>
                <a:latin typeface="Malgun Gothic"/>
                <a:ea typeface="Malgun Gothic"/>
              </a:rPr>
              <a:t>(b) 아직 사용된 적이 없어서이며, 로그 스위치가 한 바퀴 돌면 정상이 된다</a:t>
            </a:r>
          </a:p>
          <a:p>
            <a:pPr>
              <a:spcAft>
                <a:spcPts val="800"/>
              </a:spcAft>
            </a:pPr>
            <a:r>
              <a:rPr sz="1700" b="0">
                <a:solidFill>
                  <a:srgbClr val="202830"/>
                </a:solidFill>
                <a:latin typeface="Malgun Gothic"/>
                <a:ea typeface="Malgun Gothic"/>
              </a:rPr>
              <a:t>(c) 경로 권한이 잘못되었다</a:t>
            </a:r>
          </a:p>
          <a:p>
            <a:pPr>
              <a:spcAft>
                <a:spcPts val="800"/>
              </a:spcAft>
            </a:pPr>
            <a:r>
              <a:rPr sz="1700" b="0">
                <a:solidFill>
                  <a:srgbClr val="202830"/>
                </a:solidFill>
                <a:latin typeface="Malgun Gothic"/>
                <a:ea typeface="Malgun Gothic"/>
              </a:rPr>
              <a:t>(d) 그룹을 삭제하고 다시 만들어야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6</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제어 파일 백업 두 방식</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백업 이후에 데이터 파일을 추가했다. 이 상태에서 두 종류의 제어 파일 백업에 대한 설명으로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바이너리 백업은 추가된 파일 정보를 갖고 있다</a:t>
            </a:r>
          </a:p>
          <a:p>
            <a:pPr>
              <a:spcAft>
                <a:spcPts val="800"/>
              </a:spcAft>
            </a:pPr>
            <a:r>
              <a:rPr sz="1700" b="0">
                <a:solidFill>
                  <a:srgbClr val="202830"/>
                </a:solidFill>
                <a:latin typeface="Malgun Gothic"/>
                <a:ea typeface="Malgun Gothic"/>
              </a:rPr>
              <a:t>(b) 트레이스 백업을 새로 받으면 현재 구조가 반영된다</a:t>
            </a:r>
          </a:p>
          <a:p>
            <a:pPr>
              <a:spcAft>
                <a:spcPts val="800"/>
              </a:spcAft>
            </a:pPr>
            <a:r>
              <a:rPr sz="1700" b="0">
                <a:solidFill>
                  <a:srgbClr val="202830"/>
                </a:solidFill>
                <a:latin typeface="Malgun Gothic"/>
                <a:ea typeface="Malgun Gothic"/>
              </a:rPr>
              <a:t>(c) 두 방식 모두 자동으로 갱신된다</a:t>
            </a:r>
          </a:p>
          <a:p>
            <a:pPr>
              <a:spcAft>
                <a:spcPts val="800"/>
              </a:spcAft>
            </a:pPr>
            <a:r>
              <a:rPr sz="1700" b="0">
                <a:solidFill>
                  <a:srgbClr val="202830"/>
                </a:solidFill>
                <a:latin typeface="Malgun Gothic"/>
                <a:ea typeface="Malgun Gothic"/>
              </a:rPr>
              <a:t>(d) 어느 쪽도 복구에 쓸 수 없다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ARCHIVELOG 전환은 정상 종료 후 MOUNT에서 수행하고, 직후 전체 백업을 새로 받는다</a:t>
            </a:r>
          </a:p>
          <a:p>
            <a:pPr>
              <a:spcAft>
                <a:spcPts val="600"/>
              </a:spcAft>
            </a:pPr>
            <a:r>
              <a:rPr sz="1800" b="0">
                <a:solidFill>
                  <a:srgbClr val="202830"/>
                </a:solidFill>
                <a:latin typeface="Malgun Gothic"/>
                <a:ea typeface="Malgun Gothic"/>
              </a:rPr>
              <a:t>•  아카이브는 두 곳 이상에 기록한다 — MANDATORY 실패는 정지, OPTIONAL 실패는 조용한 누적</a:t>
            </a:r>
          </a:p>
          <a:p>
            <a:pPr>
              <a:spcAft>
                <a:spcPts val="600"/>
              </a:spcAft>
            </a:pPr>
            <a:r>
              <a:rPr sz="1800" b="0">
                <a:solidFill>
                  <a:srgbClr val="202830"/>
                </a:solidFill>
                <a:latin typeface="Malgun Gothic"/>
                <a:ea typeface="Malgun Gothic"/>
              </a:rPr>
              <a:t>•  LOG_ARCHIVE_FORMAT에 %r을 반드시 포함한다 (RESETLOGS 전후 이름 충돌 방지)</a:t>
            </a:r>
          </a:p>
          <a:p>
            <a:pPr>
              <a:spcAft>
                <a:spcPts val="600"/>
              </a:spcAft>
            </a:pPr>
            <a:r>
              <a:rPr sz="1800" b="0">
                <a:solidFill>
                  <a:srgbClr val="202830"/>
                </a:solidFill>
                <a:latin typeface="Malgun Gothic"/>
                <a:ea typeface="Malgun Gothic"/>
              </a:rPr>
              <a:t>•  FRA는 크기를 먼저, 경로를 나중에. 85% 경고 / 100% 정지</a:t>
            </a:r>
          </a:p>
          <a:p>
            <a:pPr>
              <a:spcAft>
                <a:spcPts val="600"/>
              </a:spcAft>
            </a:pPr>
            <a:r>
              <a:rPr sz="1800" b="0">
                <a:solidFill>
                  <a:srgbClr val="202830"/>
                </a:solidFill>
                <a:latin typeface="Malgun Gothic"/>
                <a:ea typeface="Malgun Gothic"/>
              </a:rPr>
              <a:t>•  ORA-00257 해소는 공간 확보 · 상한 조정 · 대상 변경 중 하나, 예방이 유일한 실질 대책</a:t>
            </a:r>
          </a:p>
          <a:p>
            <a:pPr>
              <a:spcAft>
                <a:spcPts val="600"/>
              </a:spcAft>
            </a:pPr>
            <a:r>
              <a:rPr sz="1800" b="0">
                <a:solidFill>
                  <a:srgbClr val="202830"/>
                </a:solidFill>
                <a:latin typeface="Malgun Gothic"/>
                <a:ea typeface="Malgun Gothic"/>
              </a:rPr>
              <a:t>•  제어 파일 다중화 — SCOPE=spfile → 정상 종료 → 복사 → 기동 순서</a:t>
            </a:r>
          </a:p>
          <a:p>
            <a:pPr>
              <a:spcAft>
                <a:spcPts val="600"/>
              </a:spcAft>
            </a:pPr>
            <a:r>
              <a:rPr sz="1800" b="0">
                <a:solidFill>
                  <a:srgbClr val="202830"/>
                </a:solidFill>
                <a:latin typeface="Malgun Gothic"/>
                <a:ea typeface="Malgun Gothic"/>
              </a:rPr>
              <a:t>•  리두 로그 다중화는 멤버 추가로 무중단. 새 멤버의 INVALID는 정상</a:t>
            </a:r>
          </a:p>
          <a:p>
            <a:pPr>
              <a:spcAft>
                <a:spcPts val="600"/>
              </a:spcAft>
            </a:pPr>
            <a:r>
              <a:rPr sz="1800" b="0">
                <a:solidFill>
                  <a:srgbClr val="202830"/>
                </a:solidFill>
                <a:latin typeface="Malgun Gothic"/>
                <a:ea typeface="Malgun Gothic"/>
              </a:rPr>
              <a:t>•  제어 파일 백업은 바이너리(SCN 보유)와 트레이스(최신 구조) 두 방식, 구조 변경 시 둘 다 갱신</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2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장의 실습은 이후 모든 장이 전제하는 환경을 만든다</a:t>
            </a:r>
          </a:p>
          <a:p>
            <a:pPr>
              <a:spcAft>
                <a:spcPts val="600"/>
              </a:spcAft>
            </a:pPr>
            <a:r>
              <a:rPr sz="1800" b="0">
                <a:solidFill>
                  <a:srgbClr val="202830"/>
                </a:solidFill>
                <a:latin typeface="Malgun Gothic"/>
                <a:ea typeface="Malgun Gothic"/>
              </a:rPr>
              <a:t>•  실습 2-1  ARCHIVELOG 모드 전환 — 설정 · MOUNT 전환 · 생성 확인</a:t>
            </a:r>
          </a:p>
          <a:p>
            <a:pPr>
              <a:spcAft>
                <a:spcPts val="600"/>
              </a:spcAft>
            </a:pPr>
            <a:r>
              <a:rPr sz="1800" b="0">
                <a:solidFill>
                  <a:srgbClr val="202830"/>
                </a:solidFill>
                <a:latin typeface="Malgun Gothic"/>
                <a:ea typeface="Malgun Gothic"/>
              </a:rPr>
              <a:t>•  실습 2-2  아카이브 대상 다중 구성 — 속성 오타 재현과 수정</a:t>
            </a:r>
          </a:p>
          <a:p>
            <a:pPr>
              <a:spcAft>
                <a:spcPts val="600"/>
              </a:spcAft>
            </a:pPr>
            <a:r>
              <a:rPr sz="1800" b="0">
                <a:solidFill>
                  <a:srgbClr val="202830"/>
                </a:solidFill>
                <a:latin typeface="Malgun Gothic"/>
                <a:ea typeface="Malgun Gothic"/>
              </a:rPr>
              <a:t>•  실습 2-3  Fast Recovery Area 구성 — 크기·경로 설정, 사용량 조회</a:t>
            </a:r>
          </a:p>
          <a:p>
            <a:pPr>
              <a:spcAft>
                <a:spcPts val="600"/>
              </a:spcAft>
            </a:pPr>
            <a:r>
              <a:rPr sz="1800" b="0">
                <a:solidFill>
                  <a:srgbClr val="202830"/>
                </a:solidFill>
                <a:latin typeface="Malgun Gothic"/>
                <a:ea typeface="Malgun Gothic"/>
              </a:rPr>
              <a:t>•  실습 2-4  제어 파일 다중화 — 정상 종료 후 복사, 동시 기록 검증</a:t>
            </a:r>
          </a:p>
          <a:p>
            <a:pPr>
              <a:spcAft>
                <a:spcPts val="600"/>
              </a:spcAft>
            </a:pPr>
            <a:r>
              <a:rPr sz="1800" b="0">
                <a:solidFill>
                  <a:srgbClr val="202830"/>
                </a:solidFill>
                <a:latin typeface="Malgun Gothic"/>
                <a:ea typeface="Malgun Gothic"/>
              </a:rPr>
              <a:t>•  실습 2-5  리두 로그 다중화와 그룹 관리 — 멤버·그룹 추가와 삭제</a:t>
            </a:r>
          </a:p>
          <a:p>
            <a:pPr>
              <a:spcAft>
                <a:spcPts val="600"/>
              </a:spcAft>
            </a:pPr>
            <a:r>
              <a:rPr sz="1800" b="0">
                <a:solidFill>
                  <a:srgbClr val="202830"/>
                </a:solidFill>
                <a:latin typeface="Malgun Gothic"/>
                <a:ea typeface="Malgun Gothic"/>
              </a:rPr>
              <a:t>•  실습 2-6  ORA-00257 재현과 해소 — 의도적 정지 후 복구</a:t>
            </a:r>
          </a:p>
          <a:p>
            <a:pPr>
              <a:spcAft>
                <a:spcPts val="600"/>
              </a:spcAft>
            </a:pPr>
            <a:r>
              <a:rPr sz="1800" b="0">
                <a:solidFill>
                  <a:srgbClr val="202830"/>
                </a:solidFill>
                <a:latin typeface="Malgun Gothic"/>
                <a:ea typeface="Malgun Gothic"/>
              </a:rPr>
              <a:t>•  실습 2-7  파라미터 파일과 제어 파일 백업 — PFILE · 트레이스 · RMAN 자동 백업</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이 장에서 만든 ARCHIVELOG 구성은 8장부터 다시 쓴다. 4~7장 구간에서만 일시적으로 모드를 내렸다가 8장 전에 복원한다.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
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4장이 일반 테이블스페이스와 SYSTEM을 다뤘다면 5장은 나머지 파일 종류를 다룬다. UNDO는 SYSTEM에 준하는 필수 파일이고 TEMP는 백업 대상조차 아니다. 두 극단을 나란히 놓으면 '어느 파일이 얼마나 치명적인가'라는 스펙트럼이 완성된다. 판정 흐름은 4.6절의 네 단계를 그대로 쓰며, 이 장은 그 흐름을 새로운 파일 종류에 적용하는 연습이다. 본문 26,691자를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장은 파일 종류별 스펙트럼을 완성한다. 한쪽 끝에 SYSTEM과 UNDO가 있고 반대쪽 끝에 TEMP가 있다. TEMP는 아예 백업 대상이 아니고 기동 시 자동 재생성되며, UNDO는 떼어 낼 수는 있으나 그 상태로 열 수 없다. 이 대비를 통해 수강생이 '복구 우선순위'를 감으로가 아니라 근거로 말할 수 있게 만드는 것이 목표다. 읽기 전용 테이블스페이스는 원본 시나리오에 없는 결손 보완 케이스다.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절은 파일 종류별로 나뉘어 있지만 판정 흐름은 하나다. 4장에서 세운 네 단계를 반복 적용한다. 5.4절만 예외인데, 읽기 전용 테이블스페이스는 리두 생존 판정 자체가 필요 없는 유일한 경우다. 5.6절은 3장에서 'Cold Backup에 리두 로그를 포함하라'고 한 이유가 실증되는 자리이며, 6장의 제어 파일 재생성으로 자연스럽게 이어진다. 이론은 90분 안에 마치고 실습 일곱 개에 시간을 배분하는 편이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5.1절은 UNDO가 왜 SYSTEM에 준하는 취급을 받는지 근거를 세운다. 명령이 거부되지 않는다고 해서 그 경로가 열려 있는 것은 아니라는 점이 이 절의 핵심 교훈이다. SYSTEM은 ORA-01541로 시도 자체를 막지만 UNDO는 성공한 뒤 오픈에서 막히므로 오히려 혼란스러울 수 있다. 이 차이를 명확히 짚어 준다. SELECT는 되고 DML만 실패한다는 증상 조합도 이 절에서 함께 익힌다.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SELECT는 되는데 INSERT·UPDATE만 실패한다는 신고가 들어오면 UNDO를 의심한다. 읽기는 이미 캐시된 블록으로 처리되지만 변경은 언두 블록 할당을 요구하기 때문이다. 이 증상 조합이면 v$recover_file을 먼저 보고 UNDO 파일 번호가 나오는지 확인한다. 시간이 지나면 결국 인스턴스가 죽으므로, 증상이 보이는 단계에서 계획을 세우고 통제된 종료를 하는 편이 낫다.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오류를 나란히 보여 주는 것이 이 슬라이드의 목적이다. SYSTEM은 ORA-01541로 시도를 막고, UNDO는 명령이 성공한 뒤 오픈에서 ORA-01157로 막는다. 결과는 같지만 도달하는 경로가 다르므로 진단 과정에서 혼동하기 쉽다. '명령이 성공했으니 이 경로가 맞다'고 판단해 시간을 쓰는 경우가 실제로 나온다. UNDO는 떼어 낼 수는 있으나 떼어 낸 채로는 못 여는 파일이라고 정리해 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전환은 손상 대응 속도를 높이는 부수 효과가 있다. 미리 두 번째 UNDO 테이블스페이스를 다른 디스크에 만들어 두면, 한쪽이 손상됐을 때 전환만으로 서비스를 이어 갈 수 있는 경우가 있다. 다만 손상 시점에 그 UNDO를 쓰던 트랜잭션은 여전히 문제로 남는다. 전환 후 기존 UNDO는 활성 트랜잭션이 끝나야 PENDING OFFLINE에서 OFFLINE으로 바뀐다는 점도 함께 언급해 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UNDOBLKS는 그 구간에 사용된 언두 블록 수다. 이 값에 블록 크기를 곱하고 UNDO_RETENTION 기간을 적용하면 필요한 크기가 나온다. 여유를 두지 않으면 ORA-30036이나 ORA-01555를 만난다. MAXQUERYLEN은 그 구간의 최장 질의 시간이며, 이 값이 UNDO_RETENTION보다 크면 장시간 질의가 언두를 요구하다 실패할 수 있다는 신호다. 동적 전환은 손상 대응 속도를 높이는 부수 효과가 있으나, 손상 시점의 트랜잭션 문제는 남는다.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5.2절은 4장에서 익힌 절차를 UNDO에 적용한다. 절차 자체는 같지만 데이터베이스를 반드시 내려야 한다는 제약이 붙는다. 미완료 트랜잭션이 있을 때의 처리와 최후 수단을 함께 다루는 것이 이 절의 고유한 부분이다. 최후 수단은 절차보다 '왜 위험한가'를 이해시키는 데 무게를 둔다. 실습에서는 수행하지 않고 본문 설명으로만 다루므로, 강의에서 개념을 확실히 잡아 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 DATAFILE 4 대신 RECOVER DATABASE를 쓴 이유를 짚는다. ABORT로 내렸다면 다른 파일도 인스턴스 복구가 필요한 상태이므로 한 번에 처리하는 편이 안전하다. 어느 파일이 뒤처져 있는지 일일이 확인하지 않아도 되는 것도 이점이다. SELECT는 성공하는데 UPDATE만 ORA-01116으로 실패하는 증상도 다시 짚어 준다. 이 조합이 UNDO 손상의 특징적인 신호다.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1장에서 배운 '롤포워드가 롤백보다 먼저인 이유'가 여기서 실증된다. 언두 블록도 데이터 블록이므로 리두 적용 대상이고, 롤포워드가 끝나야 온전한 언두를 얻어 롤백할 수 있다. 결과적으로 커밋하지 않은 1.5배 인상이 깔끔하게 되돌아왔다. 리두가 없으면 이 경로가 막히지만, 전체 복원을 하면 미완료 트랜잭션은 백업 시점에 존재하지 않았으므로 문제 자체가 사라진다는 점도 함께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경로는 '열렸다'는 안도감 때문에 오용되기 쉽다. 열자마자 필요한 스키마를 expdp로 내보내고 그 덤프를 정상 데이터베이스에 적재하는 것이 정석이며, 그 순서를 미리 정해 두지 않으면 그대로 운영에 복귀시키게 된다. 논리적 정합성이 깨진 상태로 몇 주를 쓰다가 나중에 원인 불명의 블록 오류로 드러나는 사례가 있다. 운영 환경에서는 Oracle Support의 확인을 받고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5.3절은 이 과정에서 가장 가벼운 장애를 다룬다. TEMP는 복구 계획의 고려 대상이 아니라는 점을 확실히 해 두면 장애 대응 시 우선순위 판단이 빨라진다. 다만 '가볍다'는 것이 '무시해도 된다'는 뜻은 아니다. 정렬이 필요한 SQL이 실패하면 업무에는 즉각 영향이 가므로 조치는 빨라야 한다. TEMP 파일 번호가 201부터 시작해 일반 데이터 파일과 번호 공간이 분리되어 있다는 점도 이 절에서 짚는다. 복구 우선순위에서 가장 뒤에 놓이지만 조치 자체는 몇 초면 끝난다.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동작 때문에 TEMP는 복구 계획의 고려 대상이 아니다. 제어 파일에 크기와 경로가 기록되어 있으므로 Oracle이 그대로 다시 만들고 사용자는 아무 조치도 하지 않는다. 다만 자동 재생성은 기동 시점에만 일어난다. 열린 상태에서 잃으면 다음 슬라이드처럼 수동으로 ADD 후 DROP 해야 한다. 이 차이가 실습 5-4의 두 경우를 나누는 기준이다. 재생성된 파일의 크기가 원본과 같은지 v$tempfile로 확인하는 습관도 함께 권한다.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바꾸면 임시 테이블스페이스에 파일이 하나도 없는 순간이 생기고, 그 사이 정렬 작업이 ORA-01652로 실패한다. 추가를 먼저 하고 제거를 나중에 한다는 원칙을 강조한다. TEMP 파일 번호가 201부터 시작하는 것도 짚어 준다. 일반 데이터 파일과 번호 공간이 분리되어 있어 오류 메시지의 file 201을 보고 데이터 파일을 찾다가 헤매는 경우가 있다. 종료 상태에서 잃었다면 STARTUP만 하면 Oracle이 자동 재생성한다.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기본 임시 테이블스페이스는 DROP할 수 없으므로 전환이 먼저라는 순서를 짚는다. 사용자별로 다른 임시 테이블스페이스가 지정되어 있으면 dba_users의 TEMPORARY_TABLESPACE도 함께 바꿔야 한다는 점을 덧붙인다. SHRINK SPACE는 11g에서 도입되어 19c에서도 그대로 쓴다. KEEP 절로 최소 유지 크기를 지정할 수 있다. 대량 정렬 작업 후 커진 TEMP를 정리할 때 유용하다.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3단계가 이 절차의 목적이다. 열자마자 데이터를 꺼내는 것이 핵심이며, 그 순서를 미리 정해 두지 않으면 '열렸다'는 안도감에 그대로 운영에 복귀시키게 된다. 손상 시점에 미완료였던 트랜잭션은 롤백되지 못한 채 남아 그 블록 접근 시 ORA-01578이나 ORA-00600이 발생할 수 있다. 논리적 정합성이 깨진 데이터베이스가 되는 것이다. 실습에서는 수행하지 않으며, 운영 환경에서는 Oracle Support의 확인을 받고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5.4절은 원본 시나리오에 없는 결손 보완 케이스다. 대용량 이력 데이터를 다루는 시스템에서 흔히 쓰는 구성이며, 백업 시간과 복구 시간을 함께 줄이는 실질적 기법이다. 이 장에서 유일하게 판정 흐름의 3단계를 건너뛸 수 있는 경우라는 점이 학습 포인트다. 월별 파티션을 오래된 것부터 READ ONLY로 돌리는 운영이 대표적 적용 사례이며, 수강생이 담당하는 시스템에 적용 가능한지 물어보면 논의가 살아난다.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v$recover_file이 비어 있다는 것이 핵심 증거다. READ ONLY 전환 시 체크포인트가 수행되어 헤더 SCN이 고정되고 이후 리두가 생성되지 않으므로, 제어 파일이 기억하는 값과 파일의 값이 계속 일치한다. 따라서 NOARCHIVELOG 환경에서도 리두 생존과 무관하게 완전 복구가 성립한다. 다만 백업 이후 READ WRITE로 되돌렸다 변경이 일어났거나 RESETLOGS가 있었다면 무효가 되므로, 전환·해제 이력을 백업 매니페스트에 기록해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5년치 이력을 담은 3TB 데이터베이스에서 최근 3개월만 변경된다면, 나머지를 READ ONLY로 돌리고 한 번만 백업해 두는 것으로 매일 백업 대상이 크게 줄어든다. 다만 READ ONLY 백업본을 별도 위치에 안전하게 보관해야 한다. 매일 백업 대상에서 빠지므로 그것을 잃으면 대체할 사본이 없다는 점이 이 전략의 유일한 위험이다. 전환 이력을 기록하지 않으면 장애 시점에 '이 백업본이 아직 유효한가'를 판단할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5.5절은 2장에서 다중화를 왜 했는지가 실증되는 자리다. 같은 장애인데 /u02에 사본이 있느냐 없느냐로 완전 복구와 백업 시점 복귀가 갈린다. 새 위치 복원에서는 바꿔야 할 것이 세 종류이고 순서가 정해져 있다는 점이 실무적으로 중요하다. 제어 파일을 읽어야 나머지를 바꿀 수 있으므로 제어 파일 경로가 먼저다. 복구 직후 다중화를 다시 세우는 단계까지가 이 절의 범위다.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chown을 빠뜨리는 실수를 짚어 준다. 새 디렉터리를 root로 만들면 Oracle이 파일을 열지 못해 ORA-27054나 권한 오류가 발생하고, 원인을 찾느라 시간을 쓴다. 제어 파일을 백업본이 아니라 살아남은 사본에서 채우는 것이 핵심이다. 백업본 제어 파일을 쓰면 USING BACKUP CONTROLFILE이 필요해지고 RESETLOGS가 강제된다. 살아남은 사본은 최신이므로 그런 제약 없이 RECOVER DATABASE만으로 끝난다.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파일이 수십 개면 RENAME FILE을 손으로 적다가 반드시 빠뜨린다. MOUNT 상태에서 v$datafile과 v$logfile을 조회해 RENAME 문을 생성하는 방식을 권한다. REPLACE 함수로 경로 접두어만 바꾸면 스크립트가 한 줄로 만들어진다. 마지막에 SPFILE을 다시 만드는 단계를 빠뜨리면 다음 기동 때 옛 경로로 돌아가 실패한다. PFILE로 기동한 상태에서는 SCOPE=spfile이 동작하지 않는다는 점도 함께 짚는다.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완료 체크리스트에 '다중화 재구성'과 '전체 백업 재수행'을 명시적으로 넣어 두라고 권한다. 두 항목이 끝나야 복구가 끝난 것으로 보고한다는 규칙을 만들면 이 단계가 빠지지 않는다. 경로가 바뀌었다면 백업 스크립트의 복사 대상도 함께 손봐야 한다. 조회 결과에서 복사 명령을 생성하는 방식을 쓰면 이 문제가 자동으로 해결된다는 점을 다시 짚는다. 제어 파일 추가는 재기동이 필요하므로 일정을 함께 잡아야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5.6절은 3장에서 'Cold Backup에 리두 로그를 포함하라'고 한 이유가 실증되는 자리다. 복구 기법을 배우는 절이면서 동시에 백업 절차의 중요성을 되짚는 절이다. 제어 파일 재생성은 6장의 주제이므로 여기서는 흐름만 익히고 상세는 다음 장으로 넘긴다. 이 절을 마치면 수강생이 '왜 Cold Backup에 리두 로그를 넣어야 하는가'에 스스로 답할 수 있어야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제어 파일과 리두 로그의 시퀀스가 어긋난 것이 원인이다. 데이터 파일과 제어 파일은 백업 시점으로 돌아갔는데 리두 로그만 현재 것이기 때문이다. 트레이스 백업의 RESETLOGS 버전을 쓰면 LOGFILE 절의 경로에 파일이 없을 때 Oracle이 새로 만든다. 새 제어 파일에는 SCN 이력이 없어 복구 종료 지점을 스스로 판단하지 못하므로 USING BACKUP CONTROLFILE과 UNTIL CANCEL이 함께 필요하다. 상세는 6장에서 다룬다.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복구 기법을 익히는 것보다 이 상황을 만들지 않는 것이 훨씬 중요하다는 메시지로 절을 닫는다. 3장 실습 3-1에서 리두 로그를 빠뜨렸다가 파일 개수 불일치로 발견한 경험과 연결하면 효과적이다. 그때는 백업 단계에서 발견했지만, 발견하지 못했다면 이 장의 상황이 되었을 것이다. 백업 후 검증 단계가 왜 필요한지를 보여 주는 사례이기도 하다. 복구 기법보다 이 상황을 만들지 않는 것이 훨씬 중요하다는 메시지로 절을 닫는다.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SYSTEM과 달리 명령 자체는 거부되지 않는다. 그러나 오픈 시 활성 롤백 세그먼트가 필요하므로 ORA-01157이나 ORA-30012로 막힌다. (a)는 SYSTEM의 동작이며, 두 파일의 차이를 구분하는 것이 이 문제의 목적이다. 명령이 성공한다고 해서 그 경로가 열려 있는 것은 아니라는 교훈으로 정리한다. (d)를 고른 수강생에게는 Oracle이 사용자 의도를 임의로 대신하지 않는다는 점을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(c). 11g 이후 기동 시 TEMP 파일이 없으면 제어 파일에 기록된 크기와 경로로 자동 재생성한다. alert log에 Re-creating tempfile 메시지가 남는다. 이 동작 때문에 TEMP는 복구 계획의 고려 대상이 아니며, 백업 대상에서도 제외한다. 다만 열린 상태에서 잃으면 자동 재생성되지 않으므로 수동 처리가 필요하다. 종료 중과 열린 중의 차이를 구분하는 것이 이 문제의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먼저 DROP 하면 임시 테이블스페이스에 파일이 하나도 없는 순간이 생겨 그 사이 정렬 작업이 ORA-01652로 실패한다. 추가를 먼저 하고 제거를 나중에 한다는 원칙은 다른 상황에도 적용된다. (d)의 RECOVER TEMPFILE이라는 명령은 존재하지 않는다. TEMP는 복구가 아니라 재생성 대상이다. 추가를 먼저 하고 제거를 나중에 한다는 원칙은 리두 로그 그룹 교체에도 같은 방식으로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READ ONLY 전환 시 헤더 SCN이 고정되고 이후 리두가 생성되지 않는다. 제어 파일이 기억하는 값과 일치하므로 복구 대상이 아니며 v$recover_file에도 나타나지 않는다. 이 장에서 유일하게 리두 생존 판정을 건너뛸 수 있는 경우다. 단 백업 이후 READ WRITE로 되돌렸다 변경이 있었다면 무효가 된다. 따라서 전환·해제 이력을 백업 매니페스트에 기록해 두어야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살아남은 제어 파일은 백업본보다 최신이고 리두 멤버는 적용할 재료가 된다. 데이터 파일은 여전히 백업본에서 복원해야 하지만 그 위에 리두를 적용해 최신까지 올릴 수 있다. (c)가 보장되지는 않는다. 리두 구간이 백업본 SCN을 덮지 못하면 여전히 불완전 복구가 된다. 2장에서 다중화를 왜 했는지가 실증되는 지점이다. 다중화가 없었다면 제어 파일과 리두를 모두 잃어 전체 복원 외에 방법이 없었을 것이다.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 (b). 제어 파일이 기억하는 로그 시퀀스와 실제 리두 로그의 시퀀스가 어긋나 ORA-00314가 발생한다. 해결은 제어 파일을 RESETLOGS 버전으로 재생성하고 OPEN RESETLOGS로 여는 것이며, 그 직후 전체 백업을 새로 받아야 한다. 근본 원인은 백업 절차의 결함이므로, 복구 기법보다 백업 대상을 조회 결과에서 생성하는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항목이 학습 목표 다섯 가지에 모두 대응한다. 이 장을 마치면 파일 종류별 스펙트럼이 완성된다. SYSTEM·UNDO는 데이터베이스 가동 자체를 막고, 일반 TS는 그 객체만, SYSAUX는 부가 기능만, TEMP는 정렬 작업만 막는다. 이 순서가 곧 복구 우선순위다. 다음 6장은 파일이 아니라 제어 파일 자체가 손상된 경우를 다루며, 5.6절에서 맛본 재생성 절차를 본격적으로 다룬다.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실습은 순서대로 수행한다. 5-2와 5-7은 전체 복원 또는 RESETLOGS를 수행하므로 백업본이 온전해야 한다. 5-5는 별도 테이블스페이스 HIST를 만들어 READ ONLY로 전환한 뒤 진행한다. 5-6은 /u01 디렉터리를 통째로 옮겨 디스크 손상을 흉내 내며 실제 디스크는 건드리지 않는다. 5-7 이후에는 인카네이션이 바뀌므로 반드시 전체 백업을 새로 받고 6장으로 넘어간다. 전체 소요 시간은 100~120분으로 잡는다.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제5장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NOARCHIVELOG 복구 ② UNDO·TEMP·전체 디스크 장애</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UNDO의 특수성 · TEMP 재생성 · 읽기 전용 TS · 디스크 전체 손상 · 리두로그 없는 백업본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UNDO 데이터 파일 손상의 특수성을 설명하고 상황별로 복구한다</a:t>
            </a:r>
          </a:p>
          <a:p>
            <a:pPr>
              <a:spcAft>
                <a:spcPts val="600"/>
              </a:spcAft>
            </a:pPr>
            <a:r>
              <a:rPr sz="1600" b="0">
                <a:solidFill>
                  <a:srgbClr val="5A6672"/>
                </a:solidFill>
                <a:latin typeface="Malgun Gothic"/>
                <a:ea typeface="Malgun Gothic"/>
              </a:rPr>
              <a:t>    –  트랜잭션 진행 중 UNDO 손상의 처리 절차를 수행한다</a:t>
            </a:r>
          </a:p>
          <a:p>
            <a:pPr>
              <a:spcAft>
                <a:spcPts val="600"/>
              </a:spcAft>
            </a:pPr>
            <a:r>
              <a:rPr sz="1600" b="0">
                <a:solidFill>
                  <a:srgbClr val="5A6672"/>
                </a:solidFill>
                <a:latin typeface="Malgun Gothic"/>
                <a:ea typeface="Malgun Gothic"/>
              </a:rPr>
              <a:t>    –  TEMP 파일 손상을 진단하고 재생성한다</a:t>
            </a:r>
          </a:p>
          <a:p>
            <a:pPr>
              <a:spcAft>
                <a:spcPts val="600"/>
              </a:spcAft>
            </a:pPr>
            <a:r>
              <a:rPr sz="1600" b="0">
                <a:solidFill>
                  <a:srgbClr val="5A6672"/>
                </a:solidFill>
                <a:latin typeface="Malgun Gothic"/>
                <a:ea typeface="Malgun Gothic"/>
              </a:rPr>
              <a:t>    –  읽기 전용 테이블스페이스의 복구가 왜 단순한지 설명한다</a:t>
            </a:r>
          </a:p>
          <a:p>
            <a:pPr>
              <a:spcAft>
                <a:spcPts val="600"/>
              </a:spcAft>
            </a:pPr>
            <a:r>
              <a:rPr sz="1600" b="0">
                <a:solidFill>
                  <a:srgbClr val="5A6672"/>
                </a:solidFill>
                <a:latin typeface="Malgun Gothic"/>
                <a:ea typeface="Malgun Gothic"/>
              </a:rPr>
              <a:t>    –  디스크 전체 손상에서 같은 위치·새 위치로 각각 복원한다</a:t>
            </a:r>
          </a:p>
          <a:p>
            <a:pPr>
              <a:spcAft>
                <a:spcPts val="600"/>
              </a:spcAft>
            </a:pPr>
            <a:r>
              <a:rPr sz="1800" b="0">
                <a:solidFill>
                  <a:srgbClr val="202830"/>
                </a:solidFill>
                <a:latin typeface="Malgun Gothic"/>
                <a:ea typeface="Malgun Gothic"/>
              </a:rPr>
              <a:t>•  다섯 목표는 각각 5.1~5.2 / 5.2.3 / 5.3 / 5.4 / 5.5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5.1  UNDO 테이블스페이스의 특수성 — 역할 · 증상 · OFFLINE 가능 여부 · 사전 예방</a:t>
            </a:r>
          </a:p>
          <a:p>
            <a:pPr>
              <a:spcAft>
                <a:spcPts val="600"/>
              </a:spcAft>
            </a:pPr>
            <a:r>
              <a:rPr sz="1800" b="0">
                <a:solidFill>
                  <a:srgbClr val="202830"/>
                </a:solidFill>
                <a:latin typeface="Malgun Gothic"/>
                <a:ea typeface="Malgun Gothic"/>
              </a:rPr>
              <a:t>•  5.2  UNDO 데이터파일 손상 복구 — 리두 O/X · 트랜잭션 진행 중 · 최후 수단</a:t>
            </a:r>
          </a:p>
          <a:p>
            <a:pPr>
              <a:spcAft>
                <a:spcPts val="600"/>
              </a:spcAft>
            </a:pPr>
            <a:r>
              <a:rPr sz="1800" b="0">
                <a:solidFill>
                  <a:srgbClr val="202830"/>
                </a:solidFill>
                <a:latin typeface="Malgun Gothic"/>
                <a:ea typeface="Malgun Gothic"/>
              </a:rPr>
              <a:t>•  5.3  TEMP 파일 손상 — 자동 재생성 · 수동 처리 · 사용량 점검 · TS 전환</a:t>
            </a:r>
          </a:p>
          <a:p>
            <a:pPr>
              <a:spcAft>
                <a:spcPts val="600"/>
              </a:spcAft>
            </a:pPr>
            <a:r>
              <a:rPr sz="1800" b="0">
                <a:solidFill>
                  <a:srgbClr val="202830"/>
                </a:solidFill>
                <a:latin typeface="Malgun Gothic"/>
                <a:ea typeface="Malgun Gothic"/>
              </a:rPr>
              <a:t>•  5.4  읽기 전용 테이블스페이스 — 복원만으로 끝나는 이유</a:t>
            </a:r>
          </a:p>
          <a:p>
            <a:pPr>
              <a:spcAft>
                <a:spcPts val="600"/>
              </a:spcAft>
            </a:pPr>
            <a:r>
              <a:rPr sz="1800" b="0">
                <a:solidFill>
                  <a:srgbClr val="202830"/>
                </a:solidFill>
                <a:latin typeface="Malgun Gothic"/>
                <a:ea typeface="Malgun Gothic"/>
              </a:rPr>
              <a:t>•  5.5  디스크 전체 손상 — 판정 · 같은 위치 · 새 위치 · 다중화 재구성</a:t>
            </a:r>
          </a:p>
          <a:p>
            <a:pPr>
              <a:spcAft>
                <a:spcPts val="600"/>
              </a:spcAft>
            </a:pPr>
            <a:r>
              <a:rPr sz="1800" b="0">
                <a:solidFill>
                  <a:srgbClr val="202830"/>
                </a:solidFill>
                <a:latin typeface="Malgun Gothic"/>
                <a:ea typeface="Malgun Gothic"/>
              </a:rPr>
              <a:t>•  5.6  백업본에 리두로그가 없는 경우 — ORA-00314와 제어 파일 재생성</a:t>
            </a:r>
          </a:p>
          <a:p>
            <a:pPr>
              <a:spcAft>
                <a:spcPts val="600"/>
              </a:spcAft>
            </a:pPr>
            <a:r>
              <a:rPr sz="1800" b="0">
                <a:solidFill>
                  <a:srgbClr val="202830"/>
                </a:solidFill>
                <a:latin typeface="Malgun Gothic"/>
                <a:ea typeface="Malgun Gothic"/>
              </a:rPr>
              <a:t>•  5.7 퀴즈 · 5.8 요약 · 5.9 실습 5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이 장의 실습은 NOARCHIVELOG 환경에서 진행한다. 각 실습 전 Cold Backup을 새로 받아 조건을 맞춘다.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UNDO 테이블스페이스의 특수성</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롤백 세그먼트가 없으면 데이터베이스를 열 수 없다</a:t>
            </a:r>
          </a:p>
          <a:p>
            <a:pPr>
              <a:spcAft>
                <a:spcPts val="600"/>
              </a:spcAft>
            </a:pPr>
            <a:r>
              <a:rPr sz="1600" b="0">
                <a:solidFill>
                  <a:srgbClr val="C5CED6"/>
                </a:solidFill>
                <a:latin typeface="Malgun Gothic"/>
                <a:ea typeface="Malgun Gothic"/>
              </a:rPr>
              <a:t>•  OFFLINE DROP 명령은 성공하지만 그 상태로는 못 연다</a:t>
            </a:r>
          </a:p>
          <a:p>
            <a:pPr>
              <a:spcAft>
                <a:spcPts val="600"/>
              </a:spcAft>
            </a:pPr>
            <a:r>
              <a:rPr sz="1600" b="0">
                <a:solidFill>
                  <a:srgbClr val="C5CED6"/>
                </a:solidFill>
                <a:latin typeface="Malgun Gothic"/>
                <a:ea typeface="Malgun Gothic"/>
              </a:rPr>
              <a:t>•  SELECT는 되고 DML만 실패하는 형태로 드러난다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UNDO가 하는 일과 손상 증상</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롤백 세그먼트를 담아 롤백·읽기 일관성·Flashback Query를 지원</a:t>
            </a:r>
          </a:p>
          <a:p>
            <a:pPr>
              <a:spcAft>
                <a:spcPts val="600"/>
              </a:spcAft>
            </a:pPr>
            <a:r>
              <a:rPr sz="1600" b="0">
                <a:solidFill>
                  <a:srgbClr val="5A6672"/>
                </a:solidFill>
                <a:latin typeface="Malgun Gothic"/>
                <a:ea typeface="Malgun Gothic"/>
              </a:rPr>
              <a:t>    –  자동 관리 모드에서 _SYSSMU 로 시작하는 세그먼트가 자동 생성</a:t>
            </a:r>
          </a:p>
          <a:p>
            <a:pPr>
              <a:spcAft>
                <a:spcPts val="600"/>
              </a:spcAft>
            </a:pPr>
            <a:r>
              <a:rPr sz="1800" b="0">
                <a:solidFill>
                  <a:srgbClr val="202830"/>
                </a:solidFill>
                <a:latin typeface="Malgun Gothic"/>
                <a:ea typeface="Malgun Gothic"/>
              </a:rPr>
              <a:t>•  오픈 과정에서 미완료 트랜잭션 롤백에 UNDO가 필요하다</a:t>
            </a:r>
          </a:p>
          <a:p>
            <a:pPr>
              <a:spcAft>
                <a:spcPts val="600"/>
              </a:spcAft>
            </a:pPr>
            <a:r>
              <a:rPr sz="1600" b="0">
                <a:solidFill>
                  <a:srgbClr val="5A6672"/>
                </a:solidFill>
                <a:latin typeface="Malgun Gothic"/>
                <a:ea typeface="Malgun Gothic"/>
              </a:rPr>
              <a:t>    –  SMON이 언두를 읽지 못하면 오픈이 중단된다</a:t>
            </a:r>
          </a:p>
          <a:p>
            <a:pPr>
              <a:spcAft>
                <a:spcPts val="600"/>
              </a:spcAft>
            </a:pPr>
            <a:r>
              <a:rPr sz="1800" b="0">
                <a:solidFill>
                  <a:srgbClr val="202830"/>
                </a:solidFill>
                <a:latin typeface="Malgun Gothic"/>
                <a:ea typeface="Malgun Gothic"/>
              </a:rPr>
              <a:t>•  손상 증상은 단계적으로 나타난다</a:t>
            </a:r>
          </a:p>
          <a:p>
            <a:pPr>
              <a:spcAft>
                <a:spcPts val="600"/>
              </a:spcAft>
            </a:pPr>
            <a:r>
              <a:rPr sz="1600" b="0">
                <a:solidFill>
                  <a:srgbClr val="5A6672"/>
                </a:solidFill>
                <a:latin typeface="Malgun Gothic"/>
                <a:ea typeface="Malgun Gothic"/>
              </a:rPr>
              <a:t>    –  캐시에 있는 언두로 잠시 버틴다</a:t>
            </a:r>
          </a:p>
          <a:p>
            <a:pPr>
              <a:spcAft>
                <a:spcPts val="600"/>
              </a:spcAft>
            </a:pPr>
            <a:r>
              <a:rPr sz="1600" b="0">
                <a:solidFill>
                  <a:srgbClr val="5A6672"/>
                </a:solidFill>
                <a:latin typeface="Malgun Gothic"/>
                <a:ea typeface="Malgun Gothic"/>
              </a:rPr>
              <a:t>    –  새 언두 블록 할당 시점에 ORA-01116</a:t>
            </a:r>
          </a:p>
          <a:p>
            <a:pPr>
              <a:spcAft>
                <a:spcPts val="600"/>
              </a:spcAft>
            </a:pPr>
            <a:r>
              <a:rPr sz="1600" b="0">
                <a:solidFill>
                  <a:srgbClr val="5A6672"/>
                </a:solidFill>
                <a:latin typeface="Malgun Gothic"/>
                <a:ea typeface="Malgun Gothic"/>
              </a:rPr>
              <a:t>    –  재기동하면 MOUNT까지만 올라가고 OPEN에서 ORA-01157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OFFLINE DROP은 성공하지만 오픈이 막힌다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SYSTEM과 달리 명령은 거부되지 않는다. 그래서 더 헷갈린다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DATABASE DATAFILE 4 OFFLINE DROP;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ALTER DATABASE OPEN</a:t>
            </a:r>
          </a:p>
          <a:p>
            <a:pPr>
              <a:spcAft>
                <a:spcPts val="0"/>
              </a:spcAft>
            </a:pPr>
            <a:r>
              <a:rPr sz="1250" b="0">
                <a:solidFill>
                  <a:srgbClr val="E6E6E6"/>
                </a:solidFill>
                <a:latin typeface="Consolas"/>
                <a:ea typeface="Consolas"/>
              </a:rPr>
              <a:t>*</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ORA-01157: cannot identify/lock data file 4 - see DBWR trace file</a:t>
            </a:r>
          </a:p>
          <a:p>
            <a:pPr>
              <a:spcAft>
                <a:spcPts val="0"/>
              </a:spcAft>
            </a:pPr>
            <a:r>
              <a:rPr sz="1250" b="0">
                <a:solidFill>
                  <a:srgbClr val="E6E6E6"/>
                </a:solidFill>
                <a:latin typeface="Consolas"/>
                <a:ea typeface="Consolas"/>
              </a:rPr>
              <a:t>ORA-01110: data file 4: '/u01/app/oracle/oradata/orcl/undotbs01.dbf'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alert log</a:t>
            </a:r>
          </a:p>
          <a:p>
            <a:pPr>
              <a:spcAft>
                <a:spcPts val="0"/>
              </a:spcAft>
            </a:pPr>
            <a:r>
              <a:rPr sz="1250" b="0">
                <a:solidFill>
                  <a:srgbClr val="E6E6E6"/>
                </a:solidFill>
                <a:latin typeface="Consolas"/>
                <a:ea typeface="Consolas"/>
              </a:rPr>
              <a:t>Errors in file .../orcl_smon_12044.trc:</a:t>
            </a:r>
          </a:p>
          <a:p>
            <a:pPr>
              <a:spcAft>
                <a:spcPts val="0"/>
              </a:spcAft>
            </a:pPr>
            <a:r>
              <a:rPr sz="1250" b="0">
                <a:solidFill>
                  <a:srgbClr val="E6E6E6"/>
                </a:solidFill>
                <a:latin typeface="Consolas"/>
                <a:ea typeface="Consolas"/>
              </a:rPr>
              <a:t>ORA-01595: error freeing extent (3) of rollback segment (_SYSSMU3$)</a:t>
            </a:r>
          </a:p>
          <a:p>
            <a:pPr>
              <a:spcAft>
                <a:spcPts val="0"/>
              </a:spcAft>
            </a:pPr>
            <a:r>
              <a:rPr sz="1250" b="0">
                <a:solidFill>
                  <a:srgbClr val="E6E6E6"/>
                </a:solidFill>
                <a:latin typeface="Consolas"/>
                <a:ea typeface="Consolas"/>
              </a:rPr>
              <a:t>ORA-00376: file 4 cannot be read at this time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SYSTEM이었다면 명령 자체가 거부되었을 것이다</a:t>
            </a:r>
          </a:p>
          <a:p>
            <a:pPr>
              <a:spcAft>
                <a:spcPts val="0"/>
              </a:spcAft>
            </a:pPr>
            <a:r>
              <a:rPr sz="1250" b="0">
                <a:solidFill>
                  <a:srgbClr val="E6E6E6"/>
                </a:solidFill>
                <a:latin typeface="Consolas"/>
                <a:ea typeface="Consolas"/>
              </a:rPr>
              <a:t>SYS@orcl&gt; ALTER DATABASE DATAFILE 1 OFFLINE DROP;</a:t>
            </a:r>
          </a:p>
          <a:p>
            <a:pPr>
              <a:spcAft>
                <a:spcPts val="0"/>
              </a:spcAft>
            </a:pPr>
            <a:r>
              <a:rPr sz="1250" b="0">
                <a:solidFill>
                  <a:srgbClr val="E6E6E6"/>
                </a:solidFill>
                <a:latin typeface="Consolas"/>
                <a:ea typeface="Consolas"/>
              </a:rPr>
              <a:t>ORA-01541: system tablespace cannot be brought offline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사전 예방 — 배치와 크기</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UNDO는 모든 DML이 언두 블록을 할당해 I/O가 집중되는 파일</a:t>
            </a:r>
          </a:p>
          <a:p>
            <a:pPr>
              <a:spcAft>
                <a:spcPts val="600"/>
              </a:spcAft>
            </a:pPr>
            <a:r>
              <a:rPr sz="1600" b="0">
                <a:solidFill>
                  <a:srgbClr val="5A6672"/>
                </a:solidFill>
                <a:latin typeface="Malgun Gothic"/>
                <a:ea typeface="Malgun Gothic"/>
              </a:rPr>
              <a:t>    –  성능 좋은 디스크에 두되 SYSTEM과 같은 물리 디스크에 몰지 않는다</a:t>
            </a:r>
          </a:p>
          <a:p>
            <a:pPr>
              <a:spcAft>
                <a:spcPts val="600"/>
              </a:spcAft>
            </a:pPr>
            <a:r>
              <a:rPr sz="1600" b="0">
                <a:solidFill>
                  <a:srgbClr val="5A6672"/>
                </a:solidFill>
                <a:latin typeface="Malgun Gothic"/>
                <a:ea typeface="Malgun Gothic"/>
              </a:rPr>
              <a:t>    –  둘을 함께 잃으면 복구 난도가 가장 높은 두 파일을 동시에 잃는 것</a:t>
            </a:r>
          </a:p>
          <a:p>
            <a:pPr>
              <a:spcAft>
                <a:spcPts val="600"/>
              </a:spcAft>
            </a:pPr>
            <a:r>
              <a:rPr sz="1800" b="0">
                <a:solidFill>
                  <a:srgbClr val="202830"/>
                </a:solidFill>
                <a:latin typeface="Malgun Gothic"/>
                <a:ea typeface="Malgun Gothic"/>
              </a:rPr>
              <a:t>•  크기는 UNDO_RETENTION과 초당 언두 생성량으로 산정</a:t>
            </a:r>
          </a:p>
          <a:p>
            <a:pPr>
              <a:spcAft>
                <a:spcPts val="600"/>
              </a:spcAft>
            </a:pPr>
            <a:r>
              <a:rPr sz="1600" b="0">
                <a:solidFill>
                  <a:srgbClr val="5A6672"/>
                </a:solidFill>
                <a:latin typeface="Malgun Gothic"/>
                <a:ea typeface="Malgun Gothic"/>
              </a:rPr>
              <a:t>    –  v$undostat의 UNDOBLKS로 실제 사용량을 관찰한 뒤 여유를 둔다</a:t>
            </a:r>
          </a:p>
          <a:p>
            <a:pPr>
              <a:spcAft>
                <a:spcPts val="600"/>
              </a:spcAft>
            </a:pPr>
            <a:r>
              <a:rPr sz="1600" b="0">
                <a:solidFill>
                  <a:srgbClr val="5A6672"/>
                </a:solidFill>
                <a:latin typeface="Malgun Gothic"/>
                <a:ea typeface="Malgun Gothic"/>
              </a:rPr>
              <a:t>    –  SSOLDERRCNT가 0이 아니면 ORA-01555가 발생한 구간</a:t>
            </a:r>
          </a:p>
          <a:p>
            <a:pPr>
              <a:spcAft>
                <a:spcPts val="600"/>
              </a:spcAft>
            </a:pPr>
            <a:r>
              <a:rPr sz="1800" b="0">
                <a:solidFill>
                  <a:srgbClr val="202830"/>
                </a:solidFill>
                <a:latin typeface="Malgun Gothic"/>
                <a:ea typeface="Malgun Gothic"/>
              </a:rPr>
              <a:t>•  여러 UNDO 테이블스페이스를 두고 동적 전환하는 구성도 가능</a:t>
            </a:r>
          </a:p>
          <a:p>
            <a:pPr>
              <a:spcAft>
                <a:spcPts val="600"/>
              </a:spcAft>
            </a:pPr>
            <a:r>
              <a:rPr sz="1600" b="0">
                <a:solidFill>
                  <a:srgbClr val="5A6672"/>
                </a:solidFill>
                <a:latin typeface="Malgun Gothic"/>
                <a:ea typeface="Malgun Gothic"/>
              </a:rPr>
              <a:t>    –  UNDO_TABLESPACE를 SCOPE=both로 바꾸면 즉시 전환된다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언두 사용량 관찰과 동적 전환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V$UNDOSTAT — 크기 산정의 근거이자 ORA-01555 발생 이력</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TO_CHAR(begin_time,'MM-DD HH24:MI') AS begin_t,</a:t>
            </a:r>
          </a:p>
          <a:p>
            <a:pPr>
              <a:spcAft>
                <a:spcPts val="0"/>
              </a:spcAft>
            </a:pPr>
            <a:r>
              <a:rPr sz="1250" b="0">
                <a:solidFill>
                  <a:srgbClr val="E6E6E6"/>
                </a:solidFill>
                <a:latin typeface="Consolas"/>
                <a:ea typeface="Consolas"/>
              </a:rPr>
              <a:t>  2         undoblks, maxquerylen, tuned_undoretention, ssolderrcnt</a:t>
            </a:r>
          </a:p>
          <a:p>
            <a:pPr>
              <a:spcAft>
                <a:spcPts val="0"/>
              </a:spcAft>
            </a:pPr>
            <a:r>
              <a:rPr sz="1250" b="0">
                <a:solidFill>
                  <a:srgbClr val="E6E6E6"/>
                </a:solidFill>
                <a:latin typeface="Consolas"/>
                <a:ea typeface="Consolas"/>
              </a:rPr>
              <a:t>  3  FROM   v$undostat WHERE ROWNUM &lt;= 5 ORDER BY begin_time DESC;</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BEGIN_T        UNDOBLKS MAXQUERYLEN TUNED_UNDORETENTION SSOLDERRCNT</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05-10 10:20        1842          34                 900           0</a:t>
            </a:r>
          </a:p>
          <a:p>
            <a:pPr>
              <a:spcAft>
                <a:spcPts val="0"/>
              </a:spcAft>
            </a:pPr>
            <a:r>
              <a:rPr sz="1250" b="0">
                <a:solidFill>
                  <a:srgbClr val="E6E6E6"/>
                </a:solidFill>
                <a:latin typeface="Consolas"/>
                <a:ea typeface="Consolas"/>
              </a:rPr>
              <a:t>05-10 10:10        2104          28                 900           0</a:t>
            </a:r>
          </a:p>
          <a:p>
            <a:pPr>
              <a:spcAft>
                <a:spcPts val="0"/>
              </a:spcAft>
            </a:pPr>
            <a:r>
              <a:rPr sz="1250" b="0">
                <a:solidFill>
                  <a:srgbClr val="E6E6E6"/>
                </a:solidFill>
                <a:latin typeface="Consolas"/>
                <a:ea typeface="Consolas"/>
              </a:rPr>
              <a:t>05-10 10:00         986          12                 900           0</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SSOLDERRCNT가 0이 아니면 그 구간에 ORA-01555가 발생했다는 뜻이다.</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두 번째 UNDO 테이블스페이스를 다른 디스크에 만들어 두면 대응이 빨라진다</a:t>
            </a:r>
          </a:p>
          <a:p>
            <a:pPr>
              <a:spcAft>
                <a:spcPts val="0"/>
              </a:spcAft>
            </a:pPr>
            <a:r>
              <a:rPr sz="1250" b="0">
                <a:solidFill>
                  <a:srgbClr val="E6E6E6"/>
                </a:solidFill>
                <a:latin typeface="Consolas"/>
                <a:ea typeface="Consolas"/>
              </a:rPr>
              <a:t>SYS@orcl&gt; CREATE UNDO TABLESPACE undotbs2</a:t>
            </a:r>
          </a:p>
          <a:p>
            <a:pPr>
              <a:spcAft>
                <a:spcPts val="0"/>
              </a:spcAft>
            </a:pPr>
            <a:r>
              <a:rPr sz="1250" b="0">
                <a:solidFill>
                  <a:srgbClr val="E6E6E6"/>
                </a:solidFill>
                <a:latin typeface="Consolas"/>
                <a:ea typeface="Consolas"/>
              </a:rPr>
              <a:t>  2    DATAFILE '/u01/app/oracle/oradata/orcl/undotbs02.dbf' SIZE 200M AUTOEXTEND ON;</a:t>
            </a:r>
          </a:p>
          <a:p>
            <a:pPr>
              <a:spcAft>
                <a:spcPts val="0"/>
              </a:spcAft>
            </a:pPr>
            <a:r>
              <a:rPr sz="1250" b="0">
                <a:solidFill>
                  <a:srgbClr val="E6E6E6"/>
                </a:solidFill>
                <a:latin typeface="Consolas"/>
                <a:ea typeface="Consolas"/>
              </a:rPr>
              <a:t>Tablespace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SET undo_tablespace = UNDOTBS2 SCOPE=both;</a:t>
            </a:r>
          </a:p>
          <a:p>
            <a:pPr>
              <a:spcAft>
                <a:spcPts val="0"/>
              </a:spcAft>
            </a:pPr>
            <a:r>
              <a:rPr sz="1250" b="0">
                <a:solidFill>
                  <a:srgbClr val="E6E6E6"/>
                </a:solidFill>
                <a:latin typeface="Consolas"/>
                <a:ea typeface="Consolas"/>
              </a:rPr>
              <a:t>System altered.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UNDO 데이터파일 손상 복구</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리두 O — 파일만 복원 후 RECOVER DATABASE</a:t>
            </a:r>
          </a:p>
          <a:p>
            <a:pPr>
              <a:spcAft>
                <a:spcPts val="600"/>
              </a:spcAft>
            </a:pPr>
            <a:r>
              <a:rPr sz="1600" b="0">
                <a:solidFill>
                  <a:srgbClr val="C5CED6"/>
                </a:solidFill>
                <a:latin typeface="Malgun Gothic"/>
                <a:ea typeface="Malgun Gothic"/>
              </a:rPr>
              <a:t>•  리두 X — 전체 복원이 원칙</a:t>
            </a:r>
          </a:p>
          <a:p>
            <a:pPr>
              <a:spcAft>
                <a:spcPts val="600"/>
              </a:spcAft>
            </a:pPr>
            <a:r>
              <a:rPr sz="1600" b="0">
                <a:solidFill>
                  <a:srgbClr val="C5CED6"/>
                </a:solidFill>
                <a:latin typeface="Malgun Gothic"/>
                <a:ea typeface="Malgun Gothic"/>
              </a:rPr>
              <a:t>•  최후 수단은 데이터를 꺼내는 방법이지 살리는 방법이 아니다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리두가 있으면 파일만 복원하고 RECOVER</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UNDO는 떼어 낸 채로 열 수 없어 MOUNT 상태 처리가 강제된다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!rm -f /u01/app/oracle/oradata/orcl/undotbs01.dbf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UPDATE hr.employees SET salary = salary + 1 WHERE ROWNUM &lt;= 10;</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ORA-01116: error in opening database file 4</a:t>
            </a:r>
          </a:p>
          <a:p>
            <a:pPr>
              <a:spcAft>
                <a:spcPts val="0"/>
              </a:spcAft>
            </a:pPr>
            <a:r>
              <a:rPr sz="1250" b="0">
                <a:solidFill>
                  <a:srgbClr val="E6E6E6"/>
                </a:solidFill>
                <a:latin typeface="Consolas"/>
                <a:ea typeface="Consolas"/>
              </a:rPr>
              <a:t>ORA-01110: data file 4: '/u01/app/oracle/oradata/orcl/undotbs01.dbf'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/home/oracle/backup/ch05/undotbs01.dbf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4                          2361204</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트랜잭션 진행 중 손상 — 롤백까지 복구된다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롤포워드가 언두 블록도 복구하므로 롤백이 정상 완료된다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HR@orcl&gt; UPDATE employees SET salary = salary * 1.5;</a:t>
            </a:r>
          </a:p>
          <a:p>
            <a:pPr>
              <a:spcAft>
                <a:spcPts val="0"/>
              </a:spcAft>
            </a:pPr>
            <a:r>
              <a:rPr sz="1250" b="0">
                <a:solidFill>
                  <a:srgbClr val="E6E6E6"/>
                </a:solidFill>
                <a:latin typeface="Consolas"/>
                <a:ea typeface="Consolas"/>
              </a:rPr>
              <a:t>107 rows updated.</a:t>
            </a:r>
          </a:p>
          <a:p>
            <a:pPr>
              <a:spcAft>
                <a:spcPts val="0"/>
              </a:spcAft>
            </a:pPr>
            <a:r>
              <a:rPr sz="1250" b="0">
                <a:solidFill>
                  <a:srgbClr val="7EC699"/>
                </a:solidFill>
                <a:latin typeface="Consolas"/>
                <a:ea typeface="Consolas"/>
              </a:rPr>
              <a:t>-- 커밋하지 않은 상태</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!rm -f /u01/app/oracle/oradata/orcl/undotbs01.dbf</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ORA-01157: cannot identify/lock data file 4</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alert log</a:t>
            </a:r>
          </a:p>
          <a:p>
            <a:pPr>
              <a:spcAft>
                <a:spcPts val="0"/>
              </a:spcAft>
            </a:pPr>
            <a:r>
              <a:rPr sz="1250" b="0">
                <a:solidFill>
                  <a:srgbClr val="E6E6E6"/>
                </a:solidFill>
                <a:latin typeface="Consolas"/>
                <a:ea typeface="Consolas"/>
              </a:rPr>
              <a:t>SMON: enabling tx recovery</a:t>
            </a:r>
          </a:p>
          <a:p>
            <a:pPr>
              <a:spcAft>
                <a:spcPts val="0"/>
              </a:spcAft>
            </a:pPr>
            <a:r>
              <a:rPr sz="1250" b="0">
                <a:solidFill>
                  <a:srgbClr val="E6E6E6"/>
                </a:solidFill>
                <a:latin typeface="Consolas"/>
                <a:ea typeface="Consolas"/>
              </a:rPr>
              <a:t>ORA-00376: file 4 cannot be read at this time</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복원 후 복구</a:t>
            </a:r>
          </a:p>
          <a:p>
            <a:pPr>
              <a:spcAft>
                <a:spcPts val="0"/>
              </a:spcAft>
            </a:pPr>
            <a:r>
              <a:rPr sz="1250" b="0">
                <a:solidFill>
                  <a:srgbClr val="E6E6E6"/>
                </a:solidFill>
                <a:latin typeface="Consolas"/>
                <a:ea typeface="Consolas"/>
              </a:rPr>
              <a:t>SYS@orcl&gt; !cp -p /home/oracle/backup/ch05/undotbs01.dbf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MAX(salary) FROM hr.employees;</a:t>
            </a:r>
          </a:p>
          <a:p>
            <a:pPr>
              <a:spcAft>
                <a:spcPts val="0"/>
              </a:spcAft>
            </a:pPr>
            <a:r>
              <a:rPr sz="1250" b="0">
                <a:solidFill>
                  <a:srgbClr val="E6E6E6"/>
                </a:solidFill>
                <a:latin typeface="Consolas"/>
                <a:ea typeface="Consolas"/>
              </a:rPr>
              <a:t>MAX(SALARY)</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24000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최후 수단 — UNDO 수동 전환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전체 복원의 손실이 감당 불가능할 때만 쓰는 우회로</a:t>
            </a:r>
          </a:p>
          <a:p>
            <a:pPr>
              <a:spcAft>
                <a:spcPts val="600"/>
              </a:spcAft>
            </a:pPr>
            <a:r>
              <a:rPr sz="1800" b="0">
                <a:solidFill>
                  <a:srgbClr val="202830"/>
                </a:solidFill>
                <a:latin typeface="Malgun Gothic"/>
                <a:ea typeface="Malgun Gothic"/>
              </a:rPr>
              <a:t>•  절차의 골자</a:t>
            </a:r>
          </a:p>
          <a:p>
            <a:pPr>
              <a:spcAft>
                <a:spcPts val="600"/>
              </a:spcAft>
            </a:pPr>
            <a:r>
              <a:rPr sz="1600" b="0">
                <a:solidFill>
                  <a:srgbClr val="5A6672"/>
                </a:solidFill>
                <a:latin typeface="Malgun Gothic"/>
                <a:ea typeface="Malgun Gothic"/>
              </a:rPr>
              <a:t>    –  PFILE에서 UNDO_MANAGEMENT=MANUAL, UNDO_TABLESPACE 항목 제거</a:t>
            </a:r>
          </a:p>
          <a:p>
            <a:pPr>
              <a:spcAft>
                <a:spcPts val="600"/>
              </a:spcAft>
            </a:pPr>
            <a:r>
              <a:rPr sz="1600" b="0">
                <a:solidFill>
                  <a:srgbClr val="5A6672"/>
                </a:solidFill>
                <a:latin typeface="Malgun Gothic"/>
                <a:ea typeface="Malgun Gothic"/>
              </a:rPr>
              <a:t>    –  그 PFILE로 기동 — SYSTEM 롤백 세그먼트만으로 열린다</a:t>
            </a:r>
          </a:p>
          <a:p>
            <a:pPr>
              <a:spcAft>
                <a:spcPts val="600"/>
              </a:spcAft>
            </a:pPr>
            <a:r>
              <a:rPr sz="1600" b="0">
                <a:solidFill>
                  <a:srgbClr val="5A6672"/>
                </a:solidFill>
                <a:latin typeface="Malgun Gothic"/>
                <a:ea typeface="Malgun Gothic"/>
              </a:rPr>
              <a:t>    –  새 UNDO 테이블스페이스 생성 후 AUTO로 되돌려 재기동</a:t>
            </a:r>
          </a:p>
          <a:p>
            <a:pPr>
              <a:spcAft>
                <a:spcPts val="600"/>
              </a:spcAft>
            </a:pPr>
            <a:r>
              <a:rPr sz="1600" b="0">
                <a:solidFill>
                  <a:srgbClr val="5A6672"/>
                </a:solidFill>
                <a:latin typeface="Malgun Gothic"/>
                <a:ea typeface="Malgun Gothic"/>
              </a:rPr>
              <a:t>    –  손상된 옛 UNDO 테이블스페이스 DROP</a:t>
            </a:r>
          </a:p>
          <a:p>
            <a:pPr>
              <a:spcAft>
                <a:spcPts val="600"/>
              </a:spcAft>
            </a:pPr>
            <a:r>
              <a:rPr sz="1800" b="0">
                <a:solidFill>
                  <a:srgbClr val="202830"/>
                </a:solidFill>
                <a:latin typeface="Malgun Gothic"/>
                <a:ea typeface="Malgun Gothic"/>
              </a:rPr>
              <a:t>•  대가 — 미완료였던 트랜잭션이 롤백되지 못한 채 남는다</a:t>
            </a:r>
          </a:p>
          <a:p>
            <a:pPr>
              <a:spcAft>
                <a:spcPts val="600"/>
              </a:spcAft>
            </a:pPr>
            <a:r>
              <a:rPr sz="1600" b="0">
                <a:solidFill>
                  <a:srgbClr val="5A6672"/>
                </a:solidFill>
                <a:latin typeface="Malgun Gothic"/>
                <a:ea typeface="Malgun Gothic"/>
              </a:rPr>
              <a:t>    –  그 블록 접근 시 ORA-01578·ORA-00600 가능성</a:t>
            </a:r>
          </a:p>
          <a:p>
            <a:pPr>
              <a:spcAft>
                <a:spcPts val="600"/>
              </a:spcAft>
            </a:pPr>
            <a:r>
              <a:rPr sz="1800" b="0">
                <a:solidFill>
                  <a:srgbClr val="202830"/>
                </a:solidFill>
                <a:latin typeface="Malgun Gothic"/>
                <a:ea typeface="Malgun Gothic"/>
              </a:rPr>
              <a:t>•  데이터를 꺼내는 방법이지 살리는 방법이 아니다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TEMP 파일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백업 대상이 아니며 복구 개념도 다르다</a:t>
            </a:r>
          </a:p>
          <a:p>
            <a:pPr>
              <a:spcAft>
                <a:spcPts val="600"/>
              </a:spcAft>
            </a:pPr>
            <a:r>
              <a:rPr sz="1600" b="0">
                <a:solidFill>
                  <a:srgbClr val="C5CED6"/>
                </a:solidFill>
                <a:latin typeface="Malgun Gothic"/>
                <a:ea typeface="Malgun Gothic"/>
              </a:rPr>
              <a:t>•  종료 상태에서 잃으면 기동 시 자동 재생성된다</a:t>
            </a:r>
          </a:p>
          <a:p>
            <a:pPr>
              <a:spcAft>
                <a:spcPts val="600"/>
              </a:spcAft>
            </a:pPr>
            <a:r>
              <a:rPr sz="1600" b="0">
                <a:solidFill>
                  <a:srgbClr val="C5CED6"/>
                </a:solidFill>
                <a:latin typeface="Malgun Gothic"/>
                <a:ea typeface="Malgun Gothic"/>
              </a:rPr>
              <a:t>•  열린 상태에서는 ADD 먼저, DROP 나중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종료 상태에서 잃으면 자동 재생성된다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11g 이후 STARTUP 시 제어 파일 정보로 TEMP 파일을 다시 만든다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Database closed.  Database dismounted.  ORACLE instance shut down.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!rm -f /u01/app/oracle/oradata/orcl/temp01.dbf</a:t>
            </a:r>
          </a:p>
          <a:p>
            <a:pPr>
              <a:spcAft>
                <a:spcPts val="0"/>
              </a:spcAft>
            </a:pPr>
            <a:r>
              <a:rPr sz="1250" b="0">
                <a:solidFill>
                  <a:srgbClr val="E6E6E6"/>
                </a:solidFill>
                <a:latin typeface="Consolas"/>
                <a:ea typeface="Consolas"/>
              </a:rPr>
              <a:t>SYS@orcl&gt; !ls /u01/app/oracle/oradata/orcl/temp01.dbf</a:t>
            </a:r>
          </a:p>
          <a:p>
            <a:pPr>
              <a:spcAft>
                <a:spcPts val="0"/>
              </a:spcAft>
            </a:pPr>
            <a:r>
              <a:rPr sz="1250" b="0">
                <a:solidFill>
                  <a:srgbClr val="E6E6E6"/>
                </a:solidFill>
                <a:latin typeface="Consolas"/>
                <a:ea typeface="Consolas"/>
              </a:rPr>
              <a:t>ls: cannot access ... : No such file or directory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ORACLE instance started.</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Database opened.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오류 없이 열렸다. alert log를 확인한다.</a:t>
            </a:r>
          </a:p>
          <a:p>
            <a:pPr>
              <a:spcAft>
                <a:spcPts val="0"/>
              </a:spcAft>
            </a:pPr>
            <a:r>
              <a:rPr sz="1250" b="0">
                <a:solidFill>
                  <a:srgbClr val="E6E6E6"/>
                </a:solidFill>
                <a:latin typeface="Consolas"/>
                <a:ea typeface="Consolas"/>
              </a:rPr>
              <a:t>SYS@orcl&gt; !grep -i 'Re-creating tempfile' \</a:t>
            </a:r>
          </a:p>
          <a:p>
            <a:pPr>
              <a:spcAft>
                <a:spcPts val="0"/>
              </a:spcAft>
            </a:pPr>
            <a:r>
              <a:rPr sz="1250" b="0">
                <a:solidFill>
                  <a:srgbClr val="E6E6E6"/>
                </a:solidFill>
                <a:latin typeface="Consolas"/>
                <a:ea typeface="Consolas"/>
              </a:rPr>
              <a:t>        /u01/app/oracle/diag/rdbms/orcl/orcl/trace/alert_orcl.log | tail -1</a:t>
            </a:r>
          </a:p>
          <a:p>
            <a:pPr>
              <a:spcAft>
                <a:spcPts val="0"/>
              </a:spcAft>
            </a:pPr>
            <a:r>
              <a:rPr sz="1250" b="0">
                <a:solidFill>
                  <a:srgbClr val="E6E6E6"/>
                </a:solidFill>
                <a:latin typeface="Consolas"/>
                <a:ea typeface="Consolas"/>
              </a:rPr>
              <a:t>Re-creating tempfile /u01/app/oracle/oradata/orcl/temp01.dbf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name, bytes/1024/1024 AS mb, status FROM v$tempfile;</a:t>
            </a:r>
          </a:p>
          <a:p>
            <a:pPr>
              <a:spcAft>
                <a:spcPts val="0"/>
              </a:spcAft>
            </a:pPr>
            <a:r>
              <a:rPr sz="1250" b="0">
                <a:solidFill>
                  <a:srgbClr val="E6E6E6"/>
                </a:solidFill>
                <a:latin typeface="Consolas"/>
                <a:ea typeface="Consolas"/>
              </a:rPr>
              <a:t>     FILE# NAME                                          MB STATUS</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/u01/app/oracle/oradata/orcl/temp01.dbf      60 ONLINE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TEMP 손상 증상과 재생성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추가를 먼저 하고 제거를 나중에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!rm -f /u01/app/oracle/oradata/orcl/temp01.dbf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 FROM (SELECT * FROM dba_objects ORDER BY object_name) WHERE ROWNUM &lt;= 5;</a:t>
            </a:r>
          </a:p>
          <a:p>
            <a:pPr>
              <a:spcAft>
                <a:spcPts val="0"/>
              </a:spcAft>
            </a:pPr>
            <a:r>
              <a:rPr sz="1250" b="0">
                <a:solidFill>
                  <a:srgbClr val="E6E6E6"/>
                </a:solidFill>
                <a:latin typeface="Consolas"/>
                <a:ea typeface="Consolas"/>
              </a:rPr>
              <a:t>ERROR at line 1:</a:t>
            </a:r>
          </a:p>
          <a:p>
            <a:pPr>
              <a:spcAft>
                <a:spcPts val="0"/>
              </a:spcAft>
            </a:pPr>
            <a:r>
              <a:rPr sz="1250" b="0">
                <a:solidFill>
                  <a:srgbClr val="E6E6E6"/>
                </a:solidFill>
                <a:latin typeface="Consolas"/>
                <a:ea typeface="Consolas"/>
              </a:rPr>
              <a:t>ORA-01116: error in opening database file 201</a:t>
            </a:r>
          </a:p>
          <a:p>
            <a:pPr>
              <a:spcAft>
                <a:spcPts val="0"/>
              </a:spcAft>
            </a:pPr>
            <a:r>
              <a:rPr sz="1250" b="0">
                <a:solidFill>
                  <a:srgbClr val="E6E6E6"/>
                </a:solidFill>
                <a:latin typeface="Consolas"/>
                <a:ea typeface="Consolas"/>
              </a:rPr>
              <a:t>ORA-01110: data file 201: '/u01/app/oracle/oradata/orcl/temp01.dbf'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TEMP 파일은 201번부터 시작하는 별도 번호 체계를 쓴다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TABLESPACE temp ADD TEMPFILE</a:t>
            </a:r>
          </a:p>
          <a:p>
            <a:pPr>
              <a:spcAft>
                <a:spcPts val="0"/>
              </a:spcAft>
            </a:pPr>
            <a:r>
              <a:rPr sz="1250" b="0">
                <a:solidFill>
                  <a:srgbClr val="E6E6E6"/>
                </a:solidFill>
                <a:latin typeface="Consolas"/>
                <a:ea typeface="Consolas"/>
              </a:rPr>
              <a:t>  2    '/u01/app/oracle/oradata/orcl/temp02.dbf' SIZE 60M;</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TEMPFILE '/u01/app/oracle/oradata/orcl/temp01.dbf' DROP;</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name, status FROM v$tempfile;</a:t>
            </a:r>
          </a:p>
          <a:p>
            <a:pPr>
              <a:spcAft>
                <a:spcPts val="0"/>
              </a:spcAft>
            </a:pPr>
            <a:r>
              <a:rPr sz="1250" b="0">
                <a:solidFill>
                  <a:srgbClr val="E6E6E6"/>
                </a:solidFill>
                <a:latin typeface="Consolas"/>
                <a:ea typeface="Consolas"/>
              </a:rPr>
              <a:t>     FILE# NAME                                       STATUS</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2 /u01/app/oracle/oradata/orcl/temp02.dbf    ONLINE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사용량 점검과 테이블스페이스 전환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v$sort_segment — 할당된 정렬 세그먼트 크기와 최대 사용 이력</a:t>
            </a:r>
          </a:p>
          <a:p>
            <a:pPr>
              <a:spcAft>
                <a:spcPts val="600"/>
              </a:spcAft>
            </a:pPr>
            <a:r>
              <a:rPr sz="1800" b="0">
                <a:solidFill>
                  <a:srgbClr val="202830"/>
                </a:solidFill>
                <a:latin typeface="Malgun Gothic"/>
                <a:ea typeface="Malgun Gothic"/>
              </a:rPr>
              <a:t>•  v$tempseg_usage — 어느 세션이 얼마나 쓰는지</a:t>
            </a:r>
          </a:p>
          <a:p>
            <a:pPr>
              <a:spcAft>
                <a:spcPts val="600"/>
              </a:spcAft>
            </a:pPr>
            <a:r>
              <a:rPr sz="1800" b="0">
                <a:solidFill>
                  <a:srgbClr val="202830"/>
                </a:solidFill>
                <a:latin typeface="Malgun Gothic"/>
                <a:ea typeface="Malgun Gothic"/>
              </a:rPr>
              <a:t>•  TEMP 파일은 늘어난 공간을 자동 반납하지 않는다</a:t>
            </a:r>
          </a:p>
          <a:p>
            <a:pPr>
              <a:spcAft>
                <a:spcPts val="600"/>
              </a:spcAft>
            </a:pPr>
            <a:r>
              <a:rPr sz="1600" b="0">
                <a:solidFill>
                  <a:srgbClr val="5A6672"/>
                </a:solidFill>
                <a:latin typeface="Malgun Gothic"/>
                <a:ea typeface="Malgun Gothic"/>
              </a:rPr>
              <a:t>    –  내부적으로 재사용되며 파일 크기는 그대로</a:t>
            </a:r>
          </a:p>
          <a:p>
            <a:pPr>
              <a:spcAft>
                <a:spcPts val="600"/>
              </a:spcAft>
            </a:pPr>
            <a:r>
              <a:rPr sz="1600" b="0">
                <a:solidFill>
                  <a:srgbClr val="5A6672"/>
                </a:solidFill>
                <a:latin typeface="Malgun Gothic"/>
                <a:ea typeface="Malgun Gothic"/>
              </a:rPr>
              <a:t>    –  줄이려면 재생성하거나 SHRINK SPACE 수행</a:t>
            </a:r>
          </a:p>
          <a:p>
            <a:pPr>
              <a:spcAft>
                <a:spcPts val="600"/>
              </a:spcAft>
            </a:pPr>
            <a:r>
              <a:rPr sz="1800" b="0">
                <a:solidFill>
                  <a:srgbClr val="202830"/>
                </a:solidFill>
                <a:latin typeface="Malgun Gothic"/>
                <a:ea typeface="Malgun Gothic"/>
              </a:rPr>
              <a:t>•  임시 테이블스페이스 자체를 교체하는 방법</a:t>
            </a:r>
          </a:p>
          <a:p>
            <a:pPr>
              <a:spcAft>
                <a:spcPts val="600"/>
              </a:spcAft>
            </a:pPr>
            <a:r>
              <a:rPr sz="1600" b="0">
                <a:solidFill>
                  <a:srgbClr val="5A6672"/>
                </a:solidFill>
                <a:latin typeface="Malgun Gothic"/>
                <a:ea typeface="Malgun Gothic"/>
              </a:rPr>
              <a:t>    –  새 TS 생성 → DEFAULT TEMPORARY TABLESPACE 전환 → 기존 DROP</a:t>
            </a:r>
          </a:p>
          <a:p>
            <a:pPr>
              <a:spcAft>
                <a:spcPts val="600"/>
              </a:spcAft>
            </a:pPr>
            <a:r>
              <a:rPr sz="1600" b="0">
                <a:solidFill>
                  <a:srgbClr val="5A6672"/>
                </a:solidFill>
                <a:latin typeface="Malgun Gothic"/>
                <a:ea typeface="Malgun Gothic"/>
              </a:rPr>
              <a:t>    –  전환 전 DROP 시도는 ORA-12906으로 거부된다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최후 수단 — UNDO 수동 전환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데이터를 꺼내기 위한 임시 조치. 정합성을 보장하지 않는다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ea typeface="Consolas"/>
              </a:rPr>
              <a:t>-- 1) PFILE 수정</a:t>
            </a:r>
          </a:p>
          <a:p>
            <a:pPr>
              <a:spcAft>
                <a:spcPts val="0"/>
              </a:spcAft>
            </a:pPr>
            <a:r>
              <a:rPr sz="1250" b="0">
                <a:solidFill>
                  <a:srgbClr val="E6E6E6"/>
                </a:solidFill>
                <a:latin typeface="Consolas"/>
                <a:ea typeface="Consolas"/>
              </a:rPr>
              <a:t>[oracle@oel7v9r1 ~]$ vi /home/oracle/backup/ch05/init_manual.ora</a:t>
            </a:r>
          </a:p>
          <a:p>
            <a:pPr>
              <a:spcAft>
                <a:spcPts val="0"/>
              </a:spcAft>
            </a:pPr>
            <a:r>
              <a:rPr sz="1250" b="0">
                <a:solidFill>
                  <a:srgbClr val="E6E6E6"/>
                </a:solidFill>
                <a:latin typeface="Consolas"/>
                <a:ea typeface="Consolas"/>
              </a:rPr>
              <a:t>*.undo_management='MANUAL'</a:t>
            </a:r>
          </a:p>
          <a:p>
            <a:pPr>
              <a:spcAft>
                <a:spcPts val="0"/>
              </a:spcAft>
            </a:pPr>
            <a:r>
              <a:rPr sz="1250" b="0">
                <a:solidFill>
                  <a:srgbClr val="7EC699"/>
                </a:solidFill>
                <a:latin typeface="Consolas"/>
                <a:ea typeface="Consolas"/>
              </a:rPr>
              <a:t>#*.undo_tablespace='UNDOTBS1'       &lt;- 주석 처리</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-- 2) 그 PFILE로 기동 (SYSTEM 롤백 세그먼트만으로 열린다)</a:t>
            </a:r>
          </a:p>
          <a:p>
            <a:pPr>
              <a:spcAft>
                <a:spcPts val="0"/>
              </a:spcAft>
            </a:pPr>
            <a:r>
              <a:rPr sz="1250" b="0">
                <a:solidFill>
                  <a:srgbClr val="E6E6E6"/>
                </a:solidFill>
                <a:latin typeface="Consolas"/>
                <a:ea typeface="Consolas"/>
              </a:rPr>
              <a:t>SYS@orcl&gt; STARTUP PFILE='/home/oracle/backup/ch05/init_manual.ora';</a:t>
            </a:r>
          </a:p>
          <a:p>
            <a:pPr>
              <a:spcAft>
                <a:spcPts val="0"/>
              </a:spcAft>
            </a:pPr>
            <a:r>
              <a:rPr sz="1250" b="0">
                <a:solidFill>
                  <a:srgbClr val="E6E6E6"/>
                </a:solidFill>
                <a:latin typeface="Consolas"/>
                <a:ea typeface="Consolas"/>
              </a:rPr>
              <a:t>Database opened.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-- 3) 즉시 필요한 스키마를 내보낸다 (이것이 이 경로의 목적이다)</a:t>
            </a:r>
          </a:p>
          <a:p>
            <a:pPr>
              <a:spcAft>
                <a:spcPts val="0"/>
              </a:spcAft>
            </a:pPr>
            <a:r>
              <a:rPr sz="1250" b="0">
                <a:solidFill>
                  <a:srgbClr val="E6E6E6"/>
                </a:solidFill>
                <a:latin typeface="Consolas"/>
                <a:ea typeface="Consolas"/>
              </a:rPr>
              <a:t>SYS@orcl&gt; !expdp system/oracle schemas=hr directory=dirpump dumpfile=hr_rescue.dmp</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-- 4) 새 UNDO 생성 후 자동 관리로 복귀</a:t>
            </a:r>
          </a:p>
          <a:p>
            <a:pPr>
              <a:spcAft>
                <a:spcPts val="0"/>
              </a:spcAft>
            </a:pPr>
            <a:r>
              <a:rPr sz="1250" b="0">
                <a:solidFill>
                  <a:srgbClr val="E6E6E6"/>
                </a:solidFill>
                <a:latin typeface="Consolas"/>
                <a:ea typeface="Consolas"/>
              </a:rPr>
              <a:t>SYS@orcl&gt; CREATE UNDO TABLESPACE undotbs_new</a:t>
            </a:r>
          </a:p>
          <a:p>
            <a:pPr>
              <a:spcAft>
                <a:spcPts val="0"/>
              </a:spcAft>
            </a:pPr>
            <a:r>
              <a:rPr sz="1250" b="0">
                <a:solidFill>
                  <a:srgbClr val="E6E6E6"/>
                </a:solidFill>
                <a:latin typeface="Consolas"/>
                <a:ea typeface="Consolas"/>
              </a:rPr>
              <a:t>  2    DATAFILE '/u01/app/oracle/oradata/orcl/undotbs_new.dbf' SIZE 200M;</a:t>
            </a:r>
          </a:p>
          <a:p>
            <a:pPr>
              <a:spcAft>
                <a:spcPts val="0"/>
              </a:spcAft>
            </a:pPr>
            <a:r>
              <a:rPr sz="1250" b="0">
                <a:solidFill>
                  <a:srgbClr val="E6E6E6"/>
                </a:solidFill>
                <a:latin typeface="Consolas"/>
                <a:ea typeface="Consolas"/>
              </a:rPr>
              <a:t>SYS@orcl&gt; ALTER SYSTEM SET undo_management='AUTO' SCOPE=spfile;</a:t>
            </a:r>
          </a:p>
          <a:p>
            <a:pPr>
              <a:spcAft>
                <a:spcPts val="0"/>
              </a:spcAft>
            </a:pPr>
            <a:r>
              <a:rPr sz="1250" b="0">
                <a:solidFill>
                  <a:srgbClr val="E6E6E6"/>
                </a:solidFill>
                <a:latin typeface="Consolas"/>
                <a:ea typeface="Consolas"/>
              </a:rPr>
              <a:t>SYS@orcl&gt; ALTER SYSTEM SET undo_tablespace='UNDOTBS_NEW' SCOPE=spfile;</a:t>
            </a:r>
          </a:p>
          <a:p>
            <a:pPr>
              <a:spcAft>
                <a:spcPts val="0"/>
              </a:spcAft>
            </a:pPr>
            <a:r>
              <a:rPr sz="1250" b="0">
                <a:solidFill>
                  <a:srgbClr val="E6E6E6"/>
                </a:solidFill>
                <a:latin typeface="Consolas"/>
                <a:ea typeface="Consolas"/>
              </a:rPr>
              <a:t>SYS@orcl&gt; SHUTDOWN IMMEDIATE</a:t>
            </a:r>
          </a:p>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DROP TABLESPACE undotbs1 INCLUDING CONTENTS AND DATAFILES;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읽기 전용 테이블스페이스</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READ ONLY 전환 시 헤더 SCN이 고정된다</a:t>
            </a:r>
          </a:p>
          <a:p>
            <a:pPr>
              <a:spcAft>
                <a:spcPts val="600"/>
              </a:spcAft>
            </a:pPr>
            <a:r>
              <a:rPr sz="1600" b="0">
                <a:solidFill>
                  <a:srgbClr val="C5CED6"/>
                </a:solidFill>
                <a:latin typeface="Malgun Gothic"/>
                <a:ea typeface="Malgun Gothic"/>
              </a:rPr>
              <a:t>•  복원만으로 복구가 끝난다</a:t>
            </a:r>
          </a:p>
          <a:p>
            <a:pPr>
              <a:spcAft>
                <a:spcPts val="600"/>
              </a:spcAft>
            </a:pPr>
            <a:r>
              <a:rPr sz="1600" b="0">
                <a:solidFill>
                  <a:srgbClr val="C5CED6"/>
                </a:solidFill>
                <a:latin typeface="Malgun Gothic"/>
                <a:ea typeface="Malgun Gothic"/>
              </a:rPr>
              <a:t>•  리두 생존 판정이 필요 없는 유일한 경우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복원만으로 끝나는 복구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리두가 여러 바퀴 돌아도 복구 대상이 아니다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TABLESPACE hist READ ONLY;</a:t>
            </a:r>
          </a:p>
          <a:p>
            <a:pPr>
              <a:spcAft>
                <a:spcPts val="0"/>
              </a:spcAft>
            </a:pPr>
            <a:r>
              <a:rPr sz="1250" b="0">
                <a:solidFill>
                  <a:srgbClr val="E6E6E6"/>
                </a:solidFill>
                <a:latin typeface="Consolas"/>
                <a:ea typeface="Consolas"/>
              </a:rPr>
              <a:t>Tablespace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checkpoint_change#, enabled FROM v$datafile WHERE file# = 10;</a:t>
            </a:r>
          </a:p>
          <a:p>
            <a:pPr>
              <a:spcAft>
                <a:spcPts val="0"/>
              </a:spcAft>
            </a:pPr>
            <a:r>
              <a:rPr sz="1250" b="0">
                <a:solidFill>
                  <a:srgbClr val="E6E6E6"/>
                </a:solidFill>
                <a:latin typeface="Consolas"/>
                <a:ea typeface="Consolas"/>
              </a:rPr>
              <a:t>     FILE# CHECKPOINT_CHANGE# ENABLED</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10            2364108 READ ONLY</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!cp -p /u01/app/oracle/oradata/orcl/hist01.dbf /home/oracle/backup/ch05/</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이후 대량 변경으로 리두가 여러 바퀴 돈 뒤 유실</a:t>
            </a:r>
          </a:p>
          <a:p>
            <a:pPr>
              <a:spcAft>
                <a:spcPts val="0"/>
              </a:spcAft>
            </a:pPr>
            <a:r>
              <a:rPr sz="1250" b="0">
                <a:solidFill>
                  <a:srgbClr val="E6E6E6"/>
                </a:solidFill>
                <a:latin typeface="Consolas"/>
                <a:ea typeface="Consolas"/>
              </a:rPr>
              <a:t>SYS@orcl&gt; !rm -f /u01/app/oracle/oradata/orcl/hist01.dbf</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/home/oracle/backup/ch05/hist01.dbf /u01/app/oracle/oradata/orcl/</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 FROM v$recover_file;</a:t>
            </a:r>
          </a:p>
          <a:p>
            <a:pPr>
              <a:spcAft>
                <a:spcPts val="0"/>
              </a:spcAft>
            </a:pPr>
            <a:r>
              <a:rPr sz="1250" b="0">
                <a:solidFill>
                  <a:srgbClr val="E6E6E6"/>
                </a:solidFill>
                <a:latin typeface="Consolas"/>
                <a:ea typeface="Consolas"/>
              </a:rPr>
              <a:t>no rows selected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읽기 전용 활용 전략과 주의점</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활용 — 이력 데이터를 오래된 파티션부터 READ ONLY로 전환</a:t>
            </a:r>
          </a:p>
          <a:p>
            <a:pPr>
              <a:spcAft>
                <a:spcPts val="600"/>
              </a:spcAft>
            </a:pPr>
            <a:r>
              <a:rPr sz="1600" b="0">
                <a:solidFill>
                  <a:srgbClr val="5A6672"/>
                </a:solidFill>
                <a:latin typeface="Malgun Gothic"/>
                <a:ea typeface="Malgun Gothic"/>
              </a:rPr>
              <a:t>    –  매일 백업할 대상이 줄어 백업 창이 짧아진다</a:t>
            </a:r>
          </a:p>
          <a:p>
            <a:pPr>
              <a:spcAft>
                <a:spcPts val="600"/>
              </a:spcAft>
            </a:pPr>
            <a:r>
              <a:rPr sz="1600" b="0">
                <a:solidFill>
                  <a:srgbClr val="5A6672"/>
                </a:solidFill>
                <a:latin typeface="Malgun Gothic"/>
                <a:ea typeface="Malgun Gothic"/>
              </a:rPr>
              <a:t>    –  복구 시에도 복원만으로 끝나 RTO가 짧아진다</a:t>
            </a:r>
          </a:p>
          <a:p>
            <a:pPr>
              <a:spcAft>
                <a:spcPts val="600"/>
              </a:spcAft>
            </a:pPr>
            <a:r>
              <a:rPr sz="1800" b="0">
                <a:solidFill>
                  <a:srgbClr val="202830"/>
                </a:solidFill>
                <a:latin typeface="Malgun Gothic"/>
                <a:ea typeface="Malgun Gothic"/>
              </a:rPr>
              <a:t>•  주의 1 — 백업 이후 READ WRITE로 되돌렸다 변경이 일어나면 무효</a:t>
            </a:r>
          </a:p>
          <a:p>
            <a:pPr>
              <a:spcAft>
                <a:spcPts val="600"/>
              </a:spcAft>
            </a:pPr>
            <a:r>
              <a:rPr sz="1600" b="0">
                <a:solidFill>
                  <a:srgbClr val="5A6672"/>
                </a:solidFill>
                <a:latin typeface="Malgun Gothic"/>
                <a:ea typeface="Malgun Gothic"/>
              </a:rPr>
              <a:t>    –  그 순간부터 SCN이 다시 움직여 일반 데이터 파일과 같아진다</a:t>
            </a:r>
          </a:p>
          <a:p>
            <a:pPr>
              <a:spcAft>
                <a:spcPts val="600"/>
              </a:spcAft>
            </a:pPr>
            <a:r>
              <a:rPr sz="1800" b="0">
                <a:solidFill>
                  <a:srgbClr val="202830"/>
                </a:solidFill>
                <a:latin typeface="Malgun Gothic"/>
                <a:ea typeface="Malgun Gothic"/>
              </a:rPr>
              <a:t>•  주의 2 — RESETLOGS가 수행되면 계보가 달라 쓸 수 없다</a:t>
            </a:r>
          </a:p>
          <a:p>
            <a:pPr>
              <a:spcAft>
                <a:spcPts val="600"/>
              </a:spcAft>
            </a:pPr>
            <a:r>
              <a:rPr sz="1800" b="0">
                <a:solidFill>
                  <a:srgbClr val="202830"/>
                </a:solidFill>
                <a:latin typeface="Malgun Gothic"/>
                <a:ea typeface="Malgun Gothic"/>
              </a:rPr>
              <a:t>•  따라서 전환·해제 이력을 백업 매니페스트에 기록한다</a:t>
            </a:r>
          </a:p>
          <a:p>
            <a:pPr>
              <a:spcAft>
                <a:spcPts val="600"/>
              </a:spcAft>
            </a:pPr>
            <a:r>
              <a:rPr sz="1600" b="0">
                <a:solidFill>
                  <a:srgbClr val="5A6672"/>
                </a:solidFill>
                <a:latin typeface="Malgun Gothic"/>
                <a:ea typeface="Malgun Gothic"/>
              </a:rPr>
              <a:t>    –  dba_tablespaces의 STATUS와 v$datafile의 ENABLED로 현재 상태 확인</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디스크 전체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다중화 사본의 유무가 결과를 가른다</a:t>
            </a:r>
          </a:p>
          <a:p>
            <a:pPr>
              <a:spcAft>
                <a:spcPts val="600"/>
              </a:spcAft>
            </a:pPr>
            <a:r>
              <a:rPr sz="1600" b="0">
                <a:solidFill>
                  <a:srgbClr val="C5CED6"/>
                </a:solidFill>
                <a:latin typeface="Malgun Gothic"/>
                <a:ea typeface="Malgun Gothic"/>
              </a:rPr>
              <a:t>•  제어 파일 경로 변경이 먼저, RENAME은 나중</a:t>
            </a:r>
          </a:p>
          <a:p>
            <a:pPr>
              <a:spcAft>
                <a:spcPts val="600"/>
              </a:spcAft>
            </a:pPr>
            <a:r>
              <a:rPr sz="1600" b="0">
                <a:solidFill>
                  <a:srgbClr val="C5CED6"/>
                </a:solidFill>
                <a:latin typeface="Malgun Gothic"/>
                <a:ea typeface="Malgun Gothic"/>
              </a:rPr>
              <a:t>•  복구 직후 다중화 재구성이 남아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같은 위치로 복원 — 살아남은 사본 활용</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제어 파일은 백업본보다 살아남은 사본이 최신이다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[root@oel7v9r1 ~]# mkdir -p /u01/app/oracle/oradata/orcl</a:t>
            </a:r>
          </a:p>
          <a:p>
            <a:pPr>
              <a:spcAft>
                <a:spcPts val="0"/>
              </a:spcAft>
            </a:pPr>
            <a:r>
              <a:rPr sz="1250" b="0">
                <a:solidFill>
                  <a:srgbClr val="E6E6E6"/>
                </a:solidFill>
                <a:latin typeface="Consolas"/>
                <a:ea typeface="Consolas"/>
              </a:rPr>
              <a:t>[root@oel7v9r1 ~]# chown -R oracle:oinstall /u01/app/oracle/oradata</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ls -l /u02/oradata/orcl/</a:t>
            </a:r>
          </a:p>
          <a:p>
            <a:pPr>
              <a:spcAft>
                <a:spcPts val="0"/>
              </a:spcAft>
            </a:pPr>
            <a:r>
              <a:rPr sz="1250" b="0">
                <a:solidFill>
                  <a:srgbClr val="E6E6E6"/>
                </a:solidFill>
                <a:latin typeface="Consolas"/>
                <a:ea typeface="Consolas"/>
              </a:rPr>
              <a:t>-rw-r-----. 1 oracle dba 10600448 May 10 09:12 control03.ctl</a:t>
            </a:r>
          </a:p>
          <a:p>
            <a:pPr>
              <a:spcAft>
                <a:spcPts val="0"/>
              </a:spcAft>
            </a:pPr>
            <a:r>
              <a:rPr sz="1250" b="0">
                <a:solidFill>
                  <a:srgbClr val="E6E6E6"/>
                </a:solidFill>
                <a:latin typeface="Consolas"/>
                <a:ea typeface="Consolas"/>
              </a:rPr>
              <a:t>-rw-r-----. 1 oracle dba 10486272 May 10 09:12 redo01b.log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제어 파일은 살아남은 사본으로 채운다</a:t>
            </a:r>
          </a:p>
          <a:p>
            <a:pPr>
              <a:spcAft>
                <a:spcPts val="0"/>
              </a:spcAft>
            </a:pPr>
            <a:r>
              <a:rPr sz="1250" b="0">
                <a:solidFill>
                  <a:srgbClr val="E6E6E6"/>
                </a:solidFill>
                <a:latin typeface="Consolas"/>
                <a:ea typeface="Consolas"/>
              </a:rPr>
              <a:t>[oracle@oel7v9r1 ~]$ cp -p /u02/oradata/orcl/control03.ctl \</a:t>
            </a:r>
          </a:p>
          <a:p>
            <a:pPr>
              <a:spcAft>
                <a:spcPts val="0"/>
              </a:spcAft>
            </a:pPr>
            <a:r>
              <a:rPr sz="1250" b="0">
                <a:solidFill>
                  <a:srgbClr val="E6E6E6"/>
                </a:solidFill>
                <a:latin typeface="Consolas"/>
                <a:ea typeface="Consolas"/>
              </a:rPr>
              <a:t>        /u01/app/oracle/oradata/orcl/control01.ctl</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데이터 파일은 백업본에서 복원</a:t>
            </a:r>
          </a:p>
          <a:p>
            <a:pPr>
              <a:spcAft>
                <a:spcPts val="0"/>
              </a:spcAft>
            </a:pPr>
            <a:r>
              <a:rPr sz="1250" b="0">
                <a:solidFill>
                  <a:srgbClr val="E6E6E6"/>
                </a:solidFill>
                <a:latin typeface="Consolas"/>
                <a:ea typeface="Consolas"/>
              </a:rPr>
              <a:t>[oracle@oel7v9r1 ~]$ cp -p /home/oracle/backup/ch05/*.dbf /u01/app/oracle/oradata/orcl/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1                          2364520</a:t>
            </a:r>
          </a:p>
          <a:p>
            <a:pPr>
              <a:spcAft>
                <a:spcPts val="0"/>
              </a:spcAft>
            </a:pPr>
            <a:r>
              <a:rPr sz="1250" b="0">
                <a:solidFill>
                  <a:srgbClr val="E6E6E6"/>
                </a:solidFill>
                <a:latin typeface="Consolas"/>
                <a:ea typeface="Consolas"/>
              </a:rPr>
              <a:t>         3                          2364520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SYS@orcl&gt; ALTER DATABASE OPEN;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새 위치로 복원 — 순서가 정해져 있다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제어 파일 경로 → NOMOUNT/MOUNT → RENAME FILE → RECOVER</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vi /home/oracle/backup/ch05/initorcl.ora</a:t>
            </a:r>
          </a:p>
          <a:p>
            <a:pPr>
              <a:spcAft>
                <a:spcPts val="0"/>
              </a:spcAft>
            </a:pPr>
            <a:r>
              <a:rPr sz="1250" b="0">
                <a:solidFill>
                  <a:srgbClr val="E6E6E6"/>
                </a:solidFill>
                <a:latin typeface="Consolas"/>
                <a:ea typeface="Consolas"/>
              </a:rPr>
              <a:t>*.control_files='/u03/oradata/ORCL/control01.ctl','/u02/oradata/orcl/control03.ctl'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[oracle@oel7v9r1 ~]$ mkdir -p /u03/oradata/ORCL</a:t>
            </a:r>
          </a:p>
          <a:p>
            <a:pPr>
              <a:spcAft>
                <a:spcPts val="0"/>
              </a:spcAft>
            </a:pPr>
            <a:r>
              <a:rPr sz="1250" b="0">
                <a:solidFill>
                  <a:srgbClr val="E6E6E6"/>
                </a:solidFill>
                <a:latin typeface="Consolas"/>
                <a:ea typeface="Consolas"/>
              </a:rPr>
              <a:t>[oracle@oel7v9r1 ~]$ cp -p /u02/oradata/orcl/control03.ctl /u03/oradata/ORCL/control01.ctl</a:t>
            </a:r>
          </a:p>
          <a:p>
            <a:pPr>
              <a:spcAft>
                <a:spcPts val="0"/>
              </a:spcAft>
            </a:pPr>
            <a:r>
              <a:rPr sz="1250" b="0">
                <a:solidFill>
                  <a:srgbClr val="E6E6E6"/>
                </a:solidFill>
                <a:latin typeface="Consolas"/>
                <a:ea typeface="Consolas"/>
              </a:rPr>
              <a:t>[oracle@oel7v9r1 ~]$ cp -p /home/oracle/backup/ch05/*.dbf /u03/oradata/ORCL/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 PFILE='/home/oracle/backup/ch05/initorcl.ora';</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RENAME FILE</a:t>
            </a:r>
          </a:p>
          <a:p>
            <a:pPr>
              <a:spcAft>
                <a:spcPts val="0"/>
              </a:spcAft>
            </a:pPr>
            <a:r>
              <a:rPr sz="1250" b="0">
                <a:solidFill>
                  <a:srgbClr val="E6E6E6"/>
                </a:solidFill>
                <a:latin typeface="Consolas"/>
                <a:ea typeface="Consolas"/>
              </a:rPr>
              <a:t>  2    '/u01/app/oracle/oradata/orcl/system01.dbf'</a:t>
            </a:r>
          </a:p>
          <a:p>
            <a:pPr>
              <a:spcAft>
                <a:spcPts val="0"/>
              </a:spcAft>
            </a:pPr>
            <a:r>
              <a:rPr sz="1250" b="0">
                <a:solidFill>
                  <a:srgbClr val="E6E6E6"/>
                </a:solidFill>
                <a:latin typeface="Consolas"/>
                <a:ea typeface="Consolas"/>
              </a:rPr>
              <a:t>  3    TO '/u03/oradata/ORCL/system01.dbf';</a:t>
            </a:r>
          </a:p>
          <a:p>
            <a:pPr>
              <a:spcAft>
                <a:spcPts val="0"/>
              </a:spcAft>
            </a:pPr>
            <a:r>
              <a:rPr sz="1250" b="0">
                <a:solidFill>
                  <a:srgbClr val="E6E6E6"/>
                </a:solidFill>
                <a:latin typeface="Consolas"/>
                <a:ea typeface="Consolas"/>
              </a:rPr>
              <a:t>Database altered.</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리두 로그도 같은 방식으로 처리한다</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CREATE SPFILE FROM PFILE='/home/oracle/backup/ch05/initorcl.ora';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다중화 재구성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복구 직후는 다중화가 무너져 있고 백업본도 방금 쓴 것뿐이다</a:t>
            </a:r>
          </a:p>
          <a:p>
            <a:pPr>
              <a:spcAft>
                <a:spcPts val="600"/>
              </a:spcAft>
            </a:pPr>
            <a:r>
              <a:rPr sz="1600" b="0">
                <a:solidFill>
                  <a:srgbClr val="5A6672"/>
                </a:solidFill>
                <a:latin typeface="Malgun Gothic"/>
                <a:ea typeface="Malgun Gothic"/>
              </a:rPr>
              <a:t>    –  실질적으로 무방비 상태인데 가장 방심하기 쉬운 시점</a:t>
            </a:r>
          </a:p>
          <a:p>
            <a:pPr>
              <a:spcAft>
                <a:spcPts val="600"/>
              </a:spcAft>
            </a:pPr>
            <a:r>
              <a:rPr sz="1800" b="0">
                <a:solidFill>
                  <a:srgbClr val="202830"/>
                </a:solidFill>
                <a:latin typeface="Malgun Gothic"/>
                <a:ea typeface="Malgun Gothic"/>
              </a:rPr>
              <a:t>•  확인과 재구성 순서</a:t>
            </a:r>
          </a:p>
          <a:p>
            <a:pPr>
              <a:spcAft>
                <a:spcPts val="600"/>
              </a:spcAft>
            </a:pPr>
            <a:r>
              <a:rPr sz="1600" b="0">
                <a:solidFill>
                  <a:srgbClr val="5A6672"/>
                </a:solidFill>
                <a:latin typeface="Malgun Gothic"/>
                <a:ea typeface="Malgun Gothic"/>
              </a:rPr>
              <a:t>    –  v$controlfile 행 수 확인 → 서로 다른 디스크에 세 개가 되도록 채운다</a:t>
            </a:r>
          </a:p>
          <a:p>
            <a:pPr>
              <a:spcAft>
                <a:spcPts val="600"/>
              </a:spcAft>
            </a:pPr>
            <a:r>
              <a:rPr sz="1600" b="0">
                <a:solidFill>
                  <a:srgbClr val="5A6672"/>
                </a:solidFill>
                <a:latin typeface="Malgun Gothic"/>
                <a:ea typeface="Malgun Gothic"/>
              </a:rPr>
              <a:t>    –  v$log의 MEMBERS 확인 → 그룹마다 둘 이상이 되도록 멤버 추가</a:t>
            </a:r>
          </a:p>
          <a:p>
            <a:pPr>
              <a:spcAft>
                <a:spcPts val="600"/>
              </a:spcAft>
            </a:pPr>
            <a:r>
              <a:rPr sz="1600" b="0">
                <a:solidFill>
                  <a:srgbClr val="5A6672"/>
                </a:solidFill>
                <a:latin typeface="Malgun Gothic"/>
                <a:ea typeface="Malgun Gothic"/>
              </a:rPr>
              <a:t>    –  제어 파일은 재기동 필요, 리두 멤버는 무중단</a:t>
            </a:r>
          </a:p>
          <a:p>
            <a:pPr>
              <a:spcAft>
                <a:spcPts val="600"/>
              </a:spcAft>
            </a:pPr>
            <a:r>
              <a:rPr sz="1800" b="0">
                <a:solidFill>
                  <a:srgbClr val="202830"/>
                </a:solidFill>
                <a:latin typeface="Malgun Gothic"/>
                <a:ea typeface="Malgun Gothic"/>
              </a:rPr>
              <a:t>•  이어서 전체 백업을 새로 받고 백업 스크립트 경로를 갱신한다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실무 시나리오:</a:t>
            </a:r>
          </a:p>
          <a:p>
            <a:pPr>
              <a:spcAft>
                <a:spcPts val="0"/>
              </a:spcAft>
            </a:pPr>
            <a:r>
              <a:rPr sz="1250" b="0">
                <a:solidFill>
                  <a:srgbClr val="202830"/>
                </a:solidFill>
                <a:latin typeface="Malgun Gothic"/>
                <a:ea typeface="Malgun Gothic"/>
              </a:rPr>
              <a:t>복구 직후가 가장 위험한 구간이다. 큰 일을 끝냈다는 안도감이 방심을 부른다.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5.6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백업본에 리두로그가 없는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ORA-00314 — 시퀀스가 어긋난다</a:t>
            </a:r>
          </a:p>
          <a:p>
            <a:pPr>
              <a:spcAft>
                <a:spcPts val="600"/>
              </a:spcAft>
            </a:pPr>
            <a:r>
              <a:rPr sz="1600" b="0">
                <a:solidFill>
                  <a:srgbClr val="C5CED6"/>
                </a:solidFill>
                <a:latin typeface="Malgun Gothic"/>
                <a:ea typeface="Malgun Gothic"/>
              </a:rPr>
              <a:t>•  제어 파일 재생성과 RESETLOGS로 푼다</a:t>
            </a:r>
          </a:p>
          <a:p>
            <a:pPr>
              <a:spcAft>
                <a:spcPts val="600"/>
              </a:spcAft>
            </a:pPr>
            <a:r>
              <a:rPr sz="1600" b="0">
                <a:solidFill>
                  <a:srgbClr val="C5CED6"/>
                </a:solidFill>
                <a:latin typeface="Malgun Gothic"/>
                <a:ea typeface="Malgun Gothic"/>
              </a:rPr>
              <a:t>•  백업 절차의 결함이 만든 상황이다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ORA-00314와 제어 파일 재생성</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새 제어 파일에는 SCN 이력이 없어 USING BACKUP CONTROLFILE이 필요하다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ORA-00314: log 1 of thread 1, expected sequence# 45 doesn't match 52</a:t>
            </a:r>
          </a:p>
          <a:p>
            <a:pPr>
              <a:spcAft>
                <a:spcPts val="0"/>
              </a:spcAft>
            </a:pPr>
            <a:r>
              <a:rPr sz="1250" b="0">
                <a:solidFill>
                  <a:srgbClr val="E6E6E6"/>
                </a:solidFill>
                <a:latin typeface="Consolas"/>
                <a:ea typeface="Consolas"/>
              </a:rPr>
              <a:t>ORA-00312: online log 1 thread 1: '/u01/app/oracle/oradata/orcl/redo01.log'</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제어 파일 재생성 경로로 전환</a:t>
            </a:r>
          </a:p>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STARTUP NOMOUNT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@/home/oracle/backup/ch05/creorcl_resetlogs.sql</a:t>
            </a:r>
          </a:p>
          <a:p>
            <a:pPr>
              <a:spcAft>
                <a:spcPts val="0"/>
              </a:spcAft>
            </a:pPr>
            <a:r>
              <a:rPr sz="1250" b="0">
                <a:solidFill>
                  <a:srgbClr val="E6E6E6"/>
                </a:solidFill>
                <a:latin typeface="Consolas"/>
                <a:ea typeface="Consolas"/>
              </a:rPr>
              <a:t>Control file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 USING BACKUP CONTROLFILE UNTIL CANCEL;</a:t>
            </a:r>
          </a:p>
          <a:p>
            <a:pPr>
              <a:spcAft>
                <a:spcPts val="0"/>
              </a:spcAft>
            </a:pPr>
            <a:r>
              <a:rPr sz="1250" b="0">
                <a:solidFill>
                  <a:srgbClr val="E6E6E6"/>
                </a:solidFill>
                <a:latin typeface="Consolas"/>
                <a:ea typeface="Consolas"/>
              </a:rPr>
              <a:t>ORA-00279: change 2364520 generated at 05/10/2025 09:41:02 needed for thread 1</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CANCEL</a:t>
            </a:r>
          </a:p>
          <a:p>
            <a:pPr>
              <a:spcAft>
                <a:spcPts val="0"/>
              </a:spcAft>
            </a:pPr>
            <a:r>
              <a:rPr sz="1250" b="0">
                <a:solidFill>
                  <a:srgbClr val="E6E6E6"/>
                </a:solidFill>
                <a:latin typeface="Consolas"/>
                <a:ea typeface="Consolas"/>
              </a:rPr>
              <a:t>Media recovery cancelled.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 RESETLOGS;</a:t>
            </a:r>
          </a:p>
          <a:p>
            <a:pPr>
              <a:spcAft>
                <a:spcPts val="0"/>
              </a:spcAft>
            </a:pPr>
            <a:r>
              <a:rPr sz="1250" b="0">
                <a:solidFill>
                  <a:srgbClr val="E6E6E6"/>
                </a:solidFill>
                <a:latin typeface="Consolas"/>
                <a:ea typeface="Consolas"/>
              </a:rPr>
              <a:t>Database altered.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RESETLOGS의 대가와 예방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리두 시퀀스가 1로 초기화되고 새 인카네이션이 시작된다</a:t>
            </a:r>
          </a:p>
          <a:p>
            <a:pPr>
              <a:spcAft>
                <a:spcPts val="600"/>
              </a:spcAft>
            </a:pPr>
            <a:r>
              <a:rPr sz="1600" b="0">
                <a:solidFill>
                  <a:srgbClr val="5A6672"/>
                </a:solidFill>
                <a:latin typeface="Malgun Gothic"/>
                <a:ea typeface="Malgun Gothic"/>
              </a:rPr>
              <a:t>    –  이전 백업본과 아카이브는 계보가 달라 쓸 수 없게 된다</a:t>
            </a:r>
          </a:p>
          <a:p>
            <a:pPr>
              <a:spcAft>
                <a:spcPts val="600"/>
              </a:spcAft>
            </a:pPr>
            <a:r>
              <a:rPr sz="1600" b="0">
                <a:solidFill>
                  <a:srgbClr val="5A6672"/>
                </a:solidFill>
                <a:latin typeface="Malgun Gothic"/>
                <a:ea typeface="Malgun Gothic"/>
              </a:rPr>
              <a:t>    –  직후 전체 백업을 새로 받는 것이 원칙</a:t>
            </a:r>
          </a:p>
          <a:p>
            <a:pPr>
              <a:spcAft>
                <a:spcPts val="600"/>
              </a:spcAft>
            </a:pPr>
            <a:r>
              <a:rPr sz="1800" b="0">
                <a:solidFill>
                  <a:srgbClr val="202830"/>
                </a:solidFill>
                <a:latin typeface="Malgun Gothic"/>
                <a:ea typeface="Malgun Gothic"/>
              </a:rPr>
              <a:t>•  이 사례는 애초에 백업 절차의 결함에서 비롯되었다</a:t>
            </a:r>
          </a:p>
          <a:p>
            <a:pPr>
              <a:spcAft>
                <a:spcPts val="600"/>
              </a:spcAft>
            </a:pPr>
            <a:r>
              <a:rPr sz="1600" b="0">
                <a:solidFill>
                  <a:srgbClr val="5A6672"/>
                </a:solidFill>
                <a:latin typeface="Malgun Gothic"/>
                <a:ea typeface="Malgun Gothic"/>
              </a:rPr>
              <a:t>    –  Cold Backup에 리두 로그를 포함했다면 전체 복원만으로 끝났을 일</a:t>
            </a:r>
          </a:p>
          <a:p>
            <a:pPr>
              <a:spcAft>
                <a:spcPts val="600"/>
              </a:spcAft>
            </a:pPr>
            <a:r>
              <a:rPr sz="1600" b="0">
                <a:solidFill>
                  <a:srgbClr val="5A6672"/>
                </a:solidFill>
                <a:latin typeface="Malgun Gothic"/>
                <a:ea typeface="Malgun Gothic"/>
              </a:rPr>
              <a:t>    –  RESETLOGS까지 가면서 백업 체계를 새로 세워야 하는 상황이 되었다</a:t>
            </a:r>
          </a:p>
          <a:p>
            <a:pPr>
              <a:spcAft>
                <a:spcPts val="600"/>
              </a:spcAft>
            </a:pPr>
            <a:r>
              <a:rPr sz="1800" b="0">
                <a:solidFill>
                  <a:srgbClr val="202830"/>
                </a:solidFill>
                <a:latin typeface="Malgun Gothic"/>
                <a:ea typeface="Malgun Gothic"/>
              </a:rPr>
              <a:t>•  예방책은 백업 대상을 조회 결과에서 생성하는 것</a:t>
            </a:r>
          </a:p>
          <a:p>
            <a:pPr>
              <a:spcAft>
                <a:spcPts val="600"/>
              </a:spcAft>
            </a:pPr>
            <a:r>
              <a:rPr sz="1600" b="0">
                <a:solidFill>
                  <a:srgbClr val="5A6672"/>
                </a:solidFill>
                <a:latin typeface="Malgun Gothic"/>
                <a:ea typeface="Malgun Gothic"/>
              </a:rPr>
              <a:t>    –  손으로 적은 와일드카드는 언젠가 무엇인가를 빠뜨린다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UNDO의 특수성</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UNDO 데이터 파일에 대해 ALTER DATABASE DATAFILE n OFFLINE DROP을 수행한 결과로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ORA-01541로 거부된다</a:t>
            </a:r>
          </a:p>
          <a:p>
            <a:pPr>
              <a:spcAft>
                <a:spcPts val="800"/>
              </a:spcAft>
            </a:pPr>
            <a:r>
              <a:rPr sz="1700" b="0">
                <a:solidFill>
                  <a:srgbClr val="202830"/>
                </a:solidFill>
                <a:latin typeface="Malgun Gothic"/>
                <a:ea typeface="Malgun Gothic"/>
              </a:rPr>
              <a:t>(b) 명령은 성공하지만 데이터베이스를 열 수 없다</a:t>
            </a:r>
          </a:p>
          <a:p>
            <a:pPr>
              <a:spcAft>
                <a:spcPts val="800"/>
              </a:spcAft>
            </a:pPr>
            <a:r>
              <a:rPr sz="1700" b="0">
                <a:solidFill>
                  <a:srgbClr val="202830"/>
                </a:solidFill>
                <a:latin typeface="Malgun Gothic"/>
                <a:ea typeface="Malgun Gothic"/>
              </a:rPr>
              <a:t>(c) 명령이 성공하고 정상적으로 열린다</a:t>
            </a:r>
          </a:p>
          <a:p>
            <a:pPr>
              <a:spcAft>
                <a:spcPts val="800"/>
              </a:spcAft>
            </a:pPr>
            <a:r>
              <a:rPr sz="1700" b="0">
                <a:solidFill>
                  <a:srgbClr val="202830"/>
                </a:solidFill>
                <a:latin typeface="Malgun Gothic"/>
                <a:ea typeface="Malgun Gothic"/>
              </a:rPr>
              <a:t>(d) 자동으로 새 UNDO 테이블스페이스가 생성된다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TEMP 파일의 자동 재생성</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데이터베이스가 종료된 상태에서 TEMP 파일이 삭제되었다. STARTUP 시 나타나는 현상은?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ORA-01157로 기동이 실패한다</a:t>
            </a:r>
          </a:p>
          <a:p>
            <a:pPr>
              <a:spcAft>
                <a:spcPts val="800"/>
              </a:spcAft>
            </a:pPr>
            <a:r>
              <a:rPr sz="1700" b="0">
                <a:solidFill>
                  <a:srgbClr val="202830"/>
                </a:solidFill>
                <a:latin typeface="Malgun Gothic"/>
                <a:ea typeface="Malgun Gothic"/>
              </a:rPr>
              <a:t>(b) MOUNT까지만 올라간다</a:t>
            </a:r>
          </a:p>
          <a:p>
            <a:pPr>
              <a:spcAft>
                <a:spcPts val="800"/>
              </a:spcAft>
            </a:pPr>
            <a:r>
              <a:rPr sz="1700" b="0">
                <a:solidFill>
                  <a:srgbClr val="202830"/>
                </a:solidFill>
                <a:latin typeface="Malgun Gothic"/>
                <a:ea typeface="Malgun Gothic"/>
              </a:rPr>
              <a:t>(c) Oracle이 자동으로 재생성하고 정상 기동된다</a:t>
            </a:r>
          </a:p>
          <a:p>
            <a:pPr>
              <a:spcAft>
                <a:spcPts val="800"/>
              </a:spcAft>
            </a:pPr>
            <a:r>
              <a:rPr sz="1700" b="0">
                <a:solidFill>
                  <a:srgbClr val="202830"/>
                </a:solidFill>
                <a:latin typeface="Malgun Gothic"/>
                <a:ea typeface="Malgun Gothic"/>
              </a:rPr>
              <a:t>(d) RESETLOGS가 필요해진다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TEMP 파일 재생성 순서</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열린 상태에서 TEMP 파일이 유실되었다. 올바른 처리 순서는?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없어진 파일 DROP → 새 파일 ADD</a:t>
            </a:r>
          </a:p>
          <a:p>
            <a:pPr>
              <a:spcAft>
                <a:spcPts val="800"/>
              </a:spcAft>
            </a:pPr>
            <a:r>
              <a:rPr sz="1700" b="0">
                <a:solidFill>
                  <a:srgbClr val="202830"/>
                </a:solidFill>
                <a:latin typeface="Malgun Gothic"/>
                <a:ea typeface="Malgun Gothic"/>
              </a:rPr>
              <a:t>(b) 새 파일 ADD → 없어진 파일 DROP</a:t>
            </a:r>
          </a:p>
          <a:p>
            <a:pPr>
              <a:spcAft>
                <a:spcPts val="800"/>
              </a:spcAft>
            </a:pPr>
            <a:r>
              <a:rPr sz="1700" b="0">
                <a:solidFill>
                  <a:srgbClr val="202830"/>
                </a:solidFill>
                <a:latin typeface="Malgun Gothic"/>
                <a:ea typeface="Malgun Gothic"/>
              </a:rPr>
              <a:t>(c) 데이터베이스 재기동 후 ADD</a:t>
            </a:r>
          </a:p>
          <a:p>
            <a:pPr>
              <a:spcAft>
                <a:spcPts val="800"/>
              </a:spcAft>
            </a:pPr>
            <a:r>
              <a:rPr sz="1700" b="0">
                <a:solidFill>
                  <a:srgbClr val="202830"/>
                </a:solidFill>
                <a:latin typeface="Malgun Gothic"/>
                <a:ea typeface="Malgun Gothic"/>
              </a:rPr>
              <a:t>(d) RECOVER TEMPFILE 수행</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읽기 전용 테이블스페이스</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READ ONLY 상태에서 받은 백업본으로 복원했다. 리두가 이미 여러 바퀴 돌았다면?</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복구가 불가능하다</a:t>
            </a:r>
          </a:p>
          <a:p>
            <a:pPr>
              <a:spcAft>
                <a:spcPts val="800"/>
              </a:spcAft>
            </a:pPr>
            <a:r>
              <a:rPr sz="1700" b="0">
                <a:solidFill>
                  <a:srgbClr val="202830"/>
                </a:solidFill>
                <a:latin typeface="Malgun Gothic"/>
                <a:ea typeface="Malgun Gothic"/>
              </a:rPr>
              <a:t>(b) 복원만으로 완전 복구가 성립한다</a:t>
            </a:r>
          </a:p>
          <a:p>
            <a:pPr>
              <a:spcAft>
                <a:spcPts val="800"/>
              </a:spcAft>
            </a:pPr>
            <a:r>
              <a:rPr sz="1700" b="0">
                <a:solidFill>
                  <a:srgbClr val="202830"/>
                </a:solidFill>
                <a:latin typeface="Malgun Gothic"/>
                <a:ea typeface="Malgun Gothic"/>
              </a:rPr>
              <a:t>(c) 전체 복원이 필요하다</a:t>
            </a:r>
          </a:p>
          <a:p>
            <a:pPr>
              <a:spcAft>
                <a:spcPts val="800"/>
              </a:spcAft>
            </a:pPr>
            <a:r>
              <a:rPr sz="1700" b="0">
                <a:solidFill>
                  <a:srgbClr val="202830"/>
                </a:solidFill>
                <a:latin typeface="Malgun Gothic"/>
                <a:ea typeface="Malgun Gothic"/>
              </a:rPr>
              <a:t>(d) RESETLOGS가 필요하다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5</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디스크 전체 손상 시 다중화의 가치</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모든 파일이 있던 /u01 디스크가 손상되었다. /u02에 제어 파일 사본과 리두 멤버가 있을 때 얻는 이점은?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데이터 파일을 복원하지 않아도 된다</a:t>
            </a:r>
          </a:p>
          <a:p>
            <a:pPr>
              <a:spcAft>
                <a:spcPts val="800"/>
              </a:spcAft>
            </a:pPr>
            <a:r>
              <a:rPr sz="1700" b="0">
                <a:solidFill>
                  <a:srgbClr val="202830"/>
                </a:solidFill>
                <a:latin typeface="Malgun Gothic"/>
                <a:ea typeface="Malgun Gothic"/>
              </a:rPr>
              <a:t>(b) 최신 제어 파일과 리두를 확보해 완전 복구 가능성이 열린다</a:t>
            </a:r>
          </a:p>
          <a:p>
            <a:pPr>
              <a:spcAft>
                <a:spcPts val="800"/>
              </a:spcAft>
            </a:pPr>
            <a:r>
              <a:rPr sz="1700" b="0">
                <a:solidFill>
                  <a:srgbClr val="202830"/>
                </a:solidFill>
                <a:latin typeface="Malgun Gothic"/>
                <a:ea typeface="Malgun Gothic"/>
              </a:rPr>
              <a:t>(c) RESETLOGS 없이 열 수 있음이 보장된다</a:t>
            </a:r>
          </a:p>
          <a:p>
            <a:pPr>
              <a:spcAft>
                <a:spcPts val="800"/>
              </a:spcAft>
            </a:pPr>
            <a:r>
              <a:rPr sz="1700" b="0">
                <a:solidFill>
                  <a:srgbClr val="202830"/>
                </a:solidFill>
                <a:latin typeface="Malgun Gothic"/>
                <a:ea typeface="Malgun Gothic"/>
              </a:rPr>
              <a:t>(d) 백업본이 필요 없다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6</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백업본에 리두로그가 없을 때</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리두 로그를 복사하지 않은 Cold Backup으로 전체 복원했을 때 나타나는 오류는?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(a) ORA-01113</a:t>
            </a:r>
          </a:p>
          <a:p>
            <a:pPr>
              <a:spcAft>
                <a:spcPts val="800"/>
              </a:spcAft>
            </a:pPr>
            <a:r>
              <a:rPr sz="1700" b="0">
                <a:solidFill>
                  <a:srgbClr val="202830"/>
                </a:solidFill>
                <a:latin typeface="Malgun Gothic"/>
                <a:ea typeface="Malgun Gothic"/>
              </a:rPr>
              <a:t>(b) ORA-00314</a:t>
            </a:r>
          </a:p>
          <a:p>
            <a:pPr>
              <a:spcAft>
                <a:spcPts val="800"/>
              </a:spcAft>
            </a:pPr>
            <a:r>
              <a:rPr sz="1700" b="0">
                <a:solidFill>
                  <a:srgbClr val="202830"/>
                </a:solidFill>
                <a:latin typeface="Malgun Gothic"/>
                <a:ea typeface="Malgun Gothic"/>
              </a:rPr>
              <a:t>(c) ORA-01541</a:t>
            </a:r>
          </a:p>
          <a:p>
            <a:pPr>
              <a:spcAft>
                <a:spcPts val="800"/>
              </a:spcAft>
            </a:pPr>
            <a:r>
              <a:rPr sz="1700" b="0">
                <a:solidFill>
                  <a:srgbClr val="202830"/>
                </a:solidFill>
                <a:latin typeface="Malgun Gothic"/>
                <a:ea typeface="Malgun Gothic"/>
              </a:rPr>
              <a:t>(d) ORA-01652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UNDO는 SYSTEM에 준하는 필수 파일 — OFFLINE DROP은 되지만 그 상태로 못 연다</a:t>
            </a:r>
          </a:p>
          <a:p>
            <a:pPr>
              <a:spcAft>
                <a:spcPts val="600"/>
              </a:spcAft>
            </a:pPr>
            <a:r>
              <a:rPr sz="1800" b="0">
                <a:solidFill>
                  <a:srgbClr val="202830"/>
                </a:solidFill>
                <a:latin typeface="Malgun Gothic"/>
                <a:ea typeface="Malgun Gothic"/>
              </a:rPr>
              <a:t>•  SELECT는 되고 DML만 실패하면 UNDO를 의심하고 v$recover_file로 확정</a:t>
            </a:r>
          </a:p>
          <a:p>
            <a:pPr>
              <a:spcAft>
                <a:spcPts val="600"/>
              </a:spcAft>
            </a:pPr>
            <a:r>
              <a:rPr sz="1800" b="0">
                <a:solidFill>
                  <a:srgbClr val="202830"/>
                </a:solidFill>
                <a:latin typeface="Malgun Gothic"/>
                <a:ea typeface="Malgun Gothic"/>
              </a:rPr>
              <a:t>•  리두 O면 UNDO 파일만 복원 후 RECOVER DATABASE, 미완료 트랜잭션도 정상 롤백</a:t>
            </a:r>
          </a:p>
          <a:p>
            <a:pPr>
              <a:spcAft>
                <a:spcPts val="600"/>
              </a:spcAft>
            </a:pPr>
            <a:r>
              <a:rPr sz="1800" b="0">
                <a:solidFill>
                  <a:srgbClr val="202830"/>
                </a:solidFill>
                <a:latin typeface="Malgun Gothic"/>
                <a:ea typeface="Malgun Gothic"/>
              </a:rPr>
              <a:t>•  리두 X면 전체 복원 — UNDO 수동 전환은 데이터를 꺼내는 최후 수단일 뿐</a:t>
            </a:r>
          </a:p>
          <a:p>
            <a:pPr>
              <a:spcAft>
                <a:spcPts val="600"/>
              </a:spcAft>
            </a:pPr>
            <a:r>
              <a:rPr sz="1800" b="0">
                <a:solidFill>
                  <a:srgbClr val="202830"/>
                </a:solidFill>
                <a:latin typeface="Malgun Gothic"/>
                <a:ea typeface="Malgun Gothic"/>
              </a:rPr>
              <a:t>•  TEMP는 백업 대상 아님 — 종료 중 유실은 자동 재생성, 열린 중은 ADD 후 DROP</a:t>
            </a:r>
          </a:p>
          <a:p>
            <a:pPr>
              <a:spcAft>
                <a:spcPts val="600"/>
              </a:spcAft>
            </a:pPr>
            <a:r>
              <a:rPr sz="1800" b="0">
                <a:solidFill>
                  <a:srgbClr val="202830"/>
                </a:solidFill>
                <a:latin typeface="Malgun Gothic"/>
                <a:ea typeface="Malgun Gothic"/>
              </a:rPr>
              <a:t>•  READ ONLY TS는 헤더 SCN 고정 — 복원만으로 복구 완료</a:t>
            </a:r>
          </a:p>
          <a:p>
            <a:pPr>
              <a:spcAft>
                <a:spcPts val="600"/>
              </a:spcAft>
            </a:pPr>
            <a:r>
              <a:rPr sz="1800" b="0">
                <a:solidFill>
                  <a:srgbClr val="202830"/>
                </a:solidFill>
                <a:latin typeface="Malgun Gothic"/>
                <a:ea typeface="Malgun Gothic"/>
              </a:rPr>
              <a:t>•  디스크 전체 손상은 다중화 사본 유무가 결과를 가른다</a:t>
            </a:r>
          </a:p>
          <a:p>
            <a:pPr>
              <a:spcAft>
                <a:spcPts val="600"/>
              </a:spcAft>
            </a:pPr>
            <a:r>
              <a:rPr sz="1800" b="0">
                <a:solidFill>
                  <a:srgbClr val="202830"/>
                </a:solidFill>
                <a:latin typeface="Malgun Gothic"/>
                <a:ea typeface="Malgun Gothic"/>
              </a:rPr>
              <a:t>•  새 위치 복원은 제어 파일 경로 → RENAME FILE → RECOVER 순서</a:t>
            </a:r>
          </a:p>
          <a:p>
            <a:pPr>
              <a:spcAft>
                <a:spcPts val="600"/>
              </a:spcAft>
            </a:pPr>
            <a:r>
              <a:rPr sz="1800" b="0">
                <a:solidFill>
                  <a:srgbClr val="202830"/>
                </a:solidFill>
                <a:latin typeface="Malgun Gothic"/>
                <a:ea typeface="Malgun Gothic"/>
              </a:rPr>
              <a:t>•  리두로그 없는 백업본은 ORA-00314 — 제어 파일 재생성과 RESETLOGS로 푼다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5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NOARCHIVELOG 환경에서 진행. 각 실습 전 Cold Backup을 새로 받아 조건을 맞춘다</a:t>
            </a:r>
          </a:p>
          <a:p>
            <a:pPr>
              <a:spcAft>
                <a:spcPts val="600"/>
              </a:spcAft>
            </a:pPr>
            <a:r>
              <a:rPr sz="1800" b="0">
                <a:solidFill>
                  <a:srgbClr val="202830"/>
                </a:solidFill>
                <a:latin typeface="Malgun Gothic"/>
                <a:ea typeface="Malgun Gothic"/>
              </a:rPr>
              <a:t>•  실습 5-1  UNDO 손상 — 리두 O, 완전 복구</a:t>
            </a:r>
          </a:p>
          <a:p>
            <a:pPr>
              <a:spcAft>
                <a:spcPts val="600"/>
              </a:spcAft>
            </a:pPr>
            <a:r>
              <a:rPr sz="1800" b="0">
                <a:solidFill>
                  <a:srgbClr val="202830"/>
                </a:solidFill>
                <a:latin typeface="Malgun Gothic"/>
                <a:ea typeface="Malgun Gothic"/>
              </a:rPr>
              <a:t>•  실습 5-2  UNDO 손상 — 리두 X, OFFLINE DROP 한계 확인 후 전체 복원</a:t>
            </a:r>
          </a:p>
          <a:p>
            <a:pPr>
              <a:spcAft>
                <a:spcPts val="600"/>
              </a:spcAft>
            </a:pPr>
            <a:r>
              <a:rPr sz="1800" b="0">
                <a:solidFill>
                  <a:srgbClr val="202830"/>
                </a:solidFill>
                <a:latin typeface="Malgun Gothic"/>
                <a:ea typeface="Malgun Gothic"/>
              </a:rPr>
              <a:t>•  실습 5-3  트랜잭션 진행 중 UNDO 손상 — 롤백 처리 관찰</a:t>
            </a:r>
          </a:p>
          <a:p>
            <a:pPr>
              <a:spcAft>
                <a:spcPts val="600"/>
              </a:spcAft>
            </a:pPr>
            <a:r>
              <a:rPr sz="1800" b="0">
                <a:solidFill>
                  <a:srgbClr val="202830"/>
                </a:solidFill>
                <a:latin typeface="Malgun Gothic"/>
                <a:ea typeface="Malgun Gothic"/>
              </a:rPr>
              <a:t>•  실습 5-4  TEMP 파일 손상과 재생성 — 자동/수동 두 경우</a:t>
            </a:r>
          </a:p>
          <a:p>
            <a:pPr>
              <a:spcAft>
                <a:spcPts val="600"/>
              </a:spcAft>
            </a:pPr>
            <a:r>
              <a:rPr sz="1800" b="0">
                <a:solidFill>
                  <a:srgbClr val="202830"/>
                </a:solidFill>
                <a:latin typeface="Malgun Gothic"/>
                <a:ea typeface="Malgun Gothic"/>
              </a:rPr>
              <a:t>•  실습 5-5  읽기 전용 TS 손상 — 복원만으로 끝나는 복구</a:t>
            </a:r>
          </a:p>
          <a:p>
            <a:pPr>
              <a:spcAft>
                <a:spcPts val="600"/>
              </a:spcAft>
            </a:pPr>
            <a:r>
              <a:rPr sz="1800" b="0">
                <a:solidFill>
                  <a:srgbClr val="202830"/>
                </a:solidFill>
                <a:latin typeface="Malgun Gothic"/>
                <a:ea typeface="Malgun Gothic"/>
              </a:rPr>
              <a:t>•  실습 5-6  디스크 전체 손상 — 다중화 사본 활용과 새 위치 복원</a:t>
            </a:r>
          </a:p>
          <a:p>
            <a:pPr>
              <a:spcAft>
                <a:spcPts val="600"/>
              </a:spcAft>
            </a:pPr>
            <a:r>
              <a:rPr sz="1800" b="0">
                <a:solidFill>
                  <a:srgbClr val="202830"/>
                </a:solidFill>
                <a:latin typeface="Malgun Gothic"/>
                <a:ea typeface="Malgun Gothic"/>
              </a:rPr>
              <a:t>•  실습 5-7  백업본에 리두로그가 없는 경우 — ORA-00314와 제어 파일 재생성</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UNDO 수동 전환(5.2.4절)은 본문에서 절차만 다루고 실습에서는 수행하지 않는다.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
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4장과 5장은 데이터파일 손상을 다뤘다. 6장부터는 데이터가 아닌 제어·기록 파일로 넘어간다. 컨트롤파일은 사용자 데이터를 한 건도 담지 않지만 없으면 MOUNT조차 되지 않는다. 그래서 진단 뷰를 쓸 수 없는 상태에서 복구를 시작한다는 점이 앞의 두 장과 결정적으로 다르다. 판정 순서도 달라져 v$recover_file을 보기 전에 컨트롤파일부터 세워야 한다. 본문 27,277자를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학습 목표는 손실 크기 순으로 배열되어 있다. 사본 복사는 손실이 전혀 없고, 정상 종료 상태의 재생성도 손실이 없으며, 비정상 종료 상태는 RESETLOGS를 강제당한다. 동시 손상에서 리두까지 없으면 전체 복원으로 떨어진다. 이 순서를 먼저 각인시키면 실습에서 어느 경로에 있는지 스스로 판단할 수 있다. 수강생이 감이 아니라 근거로 경로를 고르게 만드는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절은 '사본이 남아 있는가 → 백업본이 있는가 → 마지막 종료가 정상이었는가'라는 세 갈래 질문으로 꿰인다. 이 세 질문이 결정되면 경로가 하나로 좁혀지며 6.8절의 판단표가 그 결론을 정리한다. 6.7절의 마무리 작업은 사소해 보이지만 실무 사고가 가장 자주 나는 지점이다. 이론은 100분 안에 마치고 실습 여섯 개에 시간을 넉넉히 배분하는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6.1절은 나머지 절의 근거를 세우는 자리다. 컨트롤파일이 무엇을 담고 어떻게 갱신되는지를 알면 왜 사본 복사가 통하는지, 왜 백업본이 시간이 지나면 어긋나는지가 자동으로 설명된다. 특히 '구조 변경 때마다 갱신된다'는 사실이 6.3.4절의 사고 사례와 직결되므로 여기서 확실히 짚는다. 다중화의 방식이 리두 로그와 다르다는 점도 이 절에서 대비시킨다. 컨트롤파일 백업 두 가지의 성격 차이는 6.3절과 6.4절의 갈림길이므로 여기서 미리 못을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컨트롤파일을 '데이터베이스의 목차'로 설명하면 이해가 빠르다. 책의 본문은 데이터파일에 있고 컨트롤파일은 어느 장이 어디에 있는지를 적어 둔 목차다. 목차가 없어도 본문은 그대로 있지만 책을 펼칠 수는 없다. 이 비유가 '데이터 손실은 없는데 열리지 않는다'는 상황을 납득시키는 데 효과적이다. 크기가 작다는 점이 다중화를 부담 없이 늘릴 수 있는 근거이기도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사본의 크기가 정확히 같다는 점을 화면에서 확인시킨다. 이것이 6.2절의 '복사만으로 복구된다'는 결론의 근거다. record_section 조회는 컨트롤파일이 섹션별 레코드 배열이라는 내부 구조를 보여 준다. RECORDS_TOTAL이 한계값이므로 데이터파일을 그 이상 추가할 수 없다는 점도 함께 언급한다. MOUNT 상태에서도 조회 가능한 뷰라는 사실을 짚어 두면 진단 단계에서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로그와의 대비가 이 슬라이드의 핵심이다. 두 파일 모두 다중화한다고 배웠지만 내성이 전혀 다르다. 리두는 멤버 하나를 잃어도 STATUS가 INVALID로 표시될 뿐 서비스가 이어지는 반면, 컨트롤파일은 하나만 없어도 그 자리에서 멈춘다. 이 차이가 컨트롤파일 다중화를 더 엄격하게 배치해야 하는 이유다. 구조 변경 때마다 갱신된다는 점은 백업 주기 논의로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오류를 구분시키는 것이 중요하다. ORA-00205는 '파일이 없다'는 뜻이고 ORA-00214는 '파일은 있는데 내용이 서로 다르다'는 뜻이다. 대응도 다르다. 전자는 살아 있는 사본을 복사하면 되지만 후자는 어느 쪽이 최신인지 먼저 판별해야 한다. 복구 중 급하게 예전 백업본을 한 경로에만 덮어썼다가 ORA-00214를 만드는 사고가 실무에서 자주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ORA-00205는 오류 메시지 자체가 원인을 알려 주지 않는다. check alert log for more info라는 문구대로 alert log를 봐야 어느 경로가 문제인지 알 수 있다. 이 습관을 실습에서 반복시킨다. ORA-00214의 version 숫자는 체크포인트 카운트다. 큰 쪽이 최신이므로 그것을 나머지 경로로 복사하면 해소된다. 두 오류 모두 MOUNT 이전 단계에서 나오므로 진단 뷰를 쓸 수 없다는 공통점이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백업의 성격 차이를 한 문장으로 정리하면 'Binary는 빠르고 Trace는 유연하다'가 된다. Binary는 절차가 세 줄이면 끝나지만 백업 시점의 구조에 갇힌다. Trace는 텍스트라 편집할 수 있어 데이터파일이 추가된 뒤에도 손으로 맞춰 쓸 수 있다. 19c에서는 TO TRACE AS로 경로를 직접 지정할 수 있어 트레이스 디렉터리를 뒤질 필요가 없다는 점도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명령 자체는 간단하지만 파일명에 날짜를 넣는 습관이 중요하다. 컨트롤파일 백업은 덮어쓰기 쉬워서 세대 관리를 하지 않으면 구조 변경 직전 시점의 백업본을 잃는다. 최소 세 세대를 유지하도록 지도한다. TO TRACE는 열린 상태에서만 가능하다는 점, MOUNT 상태에서는 받을 수 없다는 점을 짚어 둔다. 즉 장애가 난 뒤에는 만들 수 없으므로 평소에 받아 둬야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6.2절은 가장 쉬운 경로이자 가장 바람직한 결말이다. 다중화를 제대로 해 두면 대부분의 컨트롤파일 장애가 여기서 끝난다는 점을 강조한다. 뒤이어 나오는 6.3~6.6절의 복잡한 절차는 모두 '사본이 하나도 없을 때'의 이야기다. 즉 이 절의 결론은 절차가 아니라 예방이며, 2장의 다중화 구성과 직접 연결된다. 임시 우회 후 원복을 잊는 사고 사례도 이 절에서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MOUNT 이전 단계에서 쓸 수 있는 진단 수단이 제한적이라는 점을 체감시키는 슬라이드다. v$ 뷰 대부분은 컨트롤파일을 읽어야 채워지므로 조회할 수 없지만, SHOW PARAMETER는 파라미터 파일에서 값을 읽으므로 NOMOUNT에서도 동작한다. 이 하나가 진단의 실마리가 된다. 남은 사본들의 크기와 수정 시각이 같은지 확인하는 습관은 ORA-00214를 미리 걸러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 명령 하나로 끝난다는 점이 이 슬라이드의 메시지다. RECOVER도, RESETLOGS도, 인카네이션 증가도 없다. -p 옵션으로 권한과 소유자를 유지하는 것이 중요한데, 이것을 빠뜨려 oracle 계정이 읽지 못하는 파일이 되는 실수가 흔하다. 인스턴스를 완전히 내린 뒤 복사해야 한다는 점도 강조한다. 열린 상태에서 복사하면 그 사이 갱신이 일어나 사본 간 불일치가 생길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조치는 서비스를 빨리 재개하기 위한 응급 처치다. 문제는 원복을 잊는 것이다. 디스크가 복구된 뒤에도 파라미터를 되돌리지 않아 몇 달째 사본 두 벌로 운영되는 사례가 실제로 있다. 그 상태에서 남은 디스크가 다시 문제를 일으키면 6.3절의 어려운 경로로 떨어진다. 임시 조치는 반드시 작업 로그에 '원복 필요' 항목으로 남기고 정기 점검에 사본 수 확인을 넣도록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6.3절부터가 본격적인 복구다. 사본이 하나도 없으면 백업본을 쓸 수밖에 없고, 그 순간부터 제약이 따라붙는다. 이 절의 핵심 개념은 'Oracle이 백업 컨트롤파일을 신뢰하지 않는다'는 것이다. 신뢰하지 않기 때문에 별도 절을 요구하고, 신뢰할 수 없기 때문에 RESETLOGS를 강제한다. 데이터 손실이 없어도 RESETLOGS가 강제된다는 점이 수강생이 가장 자주 혼동하는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BACKUP CONTROLFILE 은 '컨트롤파일 말고 데이터파일을 믿어라'는 지시다. 일반 복구는 컨트롤파일의 체크포인트 SCN을 복구 목표로 삼지만, 그 값이 과거라면 목표가 잘못 잡힌다. 이 절을 붙이면 각 데이터파일 헤더의 SCN에서 출발해 적용 가능한 리두를 모두 적용한다. NOARCHIVELOG 환경에서는 온라인 리두만 쓸 수 있으므로 적용 범위가 좁다는 한계도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③단계의 프롬프트가 실습에서 가장 당황하는 지점이다. ORA-00289가 아카이브 파일명을 제안하지만 NOARCHIVELOG 환경에는 그런 파일이 없다. 제안을 무시하고 온라인 리두 로그의 실제 경로를 입력해야 한다. 어느 그룹을 넣을지는 요구되는 시퀀스 번호와 v$log의 대조로 결정한다. 이 대조표를 복구 시작 전에 미리 만들어 두면 프롬프트에서 헤매지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경로 모두에 같은 백업본을 복사해야 한다는 점을 놓치기 쉽다. 하나만 복사하면 나머지 두 경로가 여전히 없어 ORA-00205가 그대로 나온다. 프롬프트에 입력하는 것은 파일명이 아니라 전체 경로다. Log applied. 가 나오면 그 로그가 맞았다는 뜻이고, 다시 같은 시퀀스를 요구하면 잘못 넣은 것이다. CANCEL 후 Media recovery cancelled. 를 확인하고 RESETLOGS로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MOUNT 상태에서도 v$log와 v$logfile은 조회할 수 있다는 점이 이 슬라이드의 실용적 가치다. 복구를 시작하기 전에 이 대조표를 만들어 놓으면 프롬프트가 요구하는 시퀀스를 즉시 경로로 바꿀 수 있다. 시퀀스는 보통 연속으로 요구되므로 순서대로 입력할 목록을 준비해 두면 좋다. 요구된 시퀀스가 목록에 없으면 그 지점이 복구 한계이며 CANCEL 후 손실 범위를 산정해야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사고 사례로 설명하면 효과적이다. 테이블스페이스를 확장하며 데이터파일을 추가하고 컨트롤파일 백업을 다음 주기로 미룬 사이 장애가 나면, 복구 후 그 파일이 목록에서 빠진 채 열린다. 최근 데이터가 통째로 보이지 않아 업무가 멈추지만 오류는 나지 않아 발견도 늦다. 구조 변경 직후 컨트롤파일 백업은 선택이 아니라 절차의 일부로 다뤄야 한다는 결론으로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6.4절은 Binary 방식으로 해결되지 않는 상황의 답이다. 텍스트라 편집할 수 있다는 점 하나가 이 방식의 모든 장점을 만든다. 경로를 바꿔 다른 위치로 복원할 수도 있고, 추가된 데이터파일을 목록에 끼워 넣을 수도 있으며, 데이터베이스 이름을 바꿔 복제본을 만들 수도 있다. 17장의 Clone DB가 바로 이 문법을 쓰므로 여기서 익혀 두면 나중이 수월하다.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형식은 한 파일 안에 함께 들어 있는 경우가 많으므로 어느 쪽을 쓸지 고르는 것이 첫 작업이다. 선택 기준은 리두 로그를 그대로 믿을 수 있는가 하나뿐이다. 정상 종료 후 컨트롤파일만 잃었다면 리두는 온전하므로 NORESETLOGS를 쓴다. 이 경우 인카네이션이 올라가지 않아 기존 백업본이 계속 유효하다. 판단이 서지 않으면 RESETLOGS 쪽이 안전하다는 원칙도 함께 전달한다.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문장은 데이터베이스의 물리 구조를 그대로 텍스트로 옮긴 것이다. 문장을 한 줄씩 읽으면서 각 절이 무엇을 결정하는지 짚어 준다. REUSE는 기존 파일을 덮어쓰라는 지시이고, LOGFILE과 DATAFILE 절이 컨트롤파일에 등록될 목록이다. TEMP 파일이 목록에 없다는 점을 여기서 미리 지적하면 6.7절의 마무리 작업이 자연스럽게 이해된다. MAXLOGFILES 같은 상한값은 현재 구성보다 넉넉히 잡아야 이후 확장에서 막히지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DATAFILE 절의 누락이 가장 위험하다. 빠뜨린 파일은 오류 없이 조용히 사라지므로 발견이 늦다. 재생성 전에 데이터파일 목록을 별도로 확보해 대조하는 절차를 반드시 넣도록 지도한다. 컨트롤파일이 이미 없다면 백업 매니페스트, 이전 조회 결과, alert log의 파일 생성 기록이 근거가 된다. MAXDATAFILES를 현재 개수에 딱 맞춰 잡으면 이후 파일 추가에서 막히므로 여유를 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실습에서 혼란을 부르는 지점이다. 방금 만든 새 파일인데도 Oracle은 이를 백업 컨트롤파일로 취급하므로 복구 시 USING BACKUP CONTROLFILE 절을 요구한다. 이유는 간단하다. 새 컨트롤파일에는 리두 적용 이력이 없어 어디까지 복구되었는지 알 수 없기 때문이다. NOMOUNT에서 실행해야 한다는 점도 반복해서 강조한다. MOUNT 상태에서 실행하면 ORA-01507이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file created. 메시지 이후 곧바로 MOUNT 상태가 된다는 점을 화면으로 확인시킨다. 별도의 ALTER DATABASE MOUNT 명령이 필요 없다. 이 시점부터 v$datafile, v$log 같은 진단 뷰를 다시 쓸 수 있으므로 OPEN 전에 상태를 점검하는 습관을 들이도록 한다. 여기서는 리두가 온전해 RESETLOGS 없이 열렸고 인카네이션도 그대로다.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ORA-01503만 보고 원인을 찾으려 하면 시간을 낭비한다. 총괄 오류이므로 바로 아래 줄을 봐야 한다. 네 가지 후속 오류는 각각 확인해야 할 지점이 다르다. ORA-01565는 경로, ORA-01161은 파일의 출신, ORA-01163은 크기 값, ORA-01507은 인스턴스 상태다. 실습에서 일부러 오타를 넣어 ORA-01565를 재현시키면 오류 읽는 법이 몸에 남는다. 가장 빠른 확인 방법은 ls 로 실제 파일 목록과 대조하는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6.5절은 앞의 두 절에서 다룬 방법 중 어느 것을 쓸지 결정하는 판정 기준을 세운다. 판정의 핵심은 마지막 종료가 정상이었는가 하나다. 정상 종료였다면 모든 데이터파일이 같은 SCN에서 일관성 있게 닫혀 있어 복구가 필요 없다. 비정상 종료였다면 적용되지 않은 리두가 남아 있어 손으로 적용해야 하고 그 대가로 RESETLOGS를 치른다. 이 대비를 화면 출력으로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경로의 가치는 인카네이션이 올라가지 않는다는 데 있다. RESETLOGS를 하면 이전 백업본이 모두 무효가 되어 즉시 전체 백업을 다시 받아야 하는데, 이 경로는 그 부담이 없다. 그래서 계획된 종료 후 작업 중이라면 NORESETLOGS 경로를 확보하려는 노력이 값어치를 한다. 판정 근거인 FUZZY 컬럼은 다음 슬라이드에서 실제 출력으로 확인한다. 이 경로가 성립하려면 리두 로그가 손상되지 않았어야 한다는 전제도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반복해서 강조한다. RESETLOGS는 데이터 손실의 표시가 아니라 리두의 연속성이 끊겼다는 표시다. 수강생은 RESETLOGS를 보면 데이터를 잃었다고 오해하기 쉬운데, 이 경로에서는 커밋된 데이터가 모두 살아 있다. 다만 이전 백업본이 무효가 되므로 직후 전체 백업이 필수라는 실무 결론은 동일하다. 이 구분이 현업 보고서의 정확도를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놓으면 판정 기준이 한눈에 들어온다. FUZZY는 '이 파일에 아직 적용되지 않은 리두가 있다'는 표시다. 1장에서 배운 개념이 여기서 실제 판정 도구로 쓰인다. 문제는 컨트롤파일을 만들기 전에는 이 뷰를 볼 수 없다는 점이다. 그래서 실무에서는 alert log의 마지막 종료 기록을 먼저 확인한다. Completed: ALTER DATABASE CLOSE NORMAL 이 있으면 정상 종료다.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④단계가 실무에서 가장 중요하다. 복구 시도 자체가 상태를 더 훼손할 수 있으므로 손대기 전에 현재 파일 전체를 별도 위치로 복사해 두는 것이 원칙이다. 이 사본이 있으면 몇 번이든 다시 시도할 수 있지만 없으면 한 번의 실수로 되돌릴 수 없는 상태가 된다. 실습에서도 매번 before_recover 디렉터리를 만들어 복사하는 절차를 반복시킨다. 디스크 여유가 없으면 최소한 컨트롤파일과 리두 로그만이라도 복사해 둔다.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6.6절은 앞의 절들을 조합하는 자리다. 새로운 명령은 나오지 않고 순서만 배운다. 핵심은 하나다. 컨트롤파일이 없으면 진단 뷰를 쓸 수 없으므로 어느 데이터파일이 어떤 상태인지 알 방법이 없다. 따라서 컨트롤파일을 먼저 세우고 그다음 4장의 네 단계 판정을 적용한다. 5장까지 익힌 판정 흐름이 그대로 재사용된다는 점을 확인시킨다. 이 절에서 새로 배우는 것은 절차의 순서 하나뿐이며, 그 하나가 복구 성패를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 판정이 4장부터 계속 재사용된다는 점이 이 과정의 설계 의도다. 장애 유형이 달라져도 판정 흐름은 하나이며, 달라지는 것은 그 흐름에 넣는 입력값뿐이다. 여기서는 ①단계 이전에 '컨트롤파일 세우기'라는 0단계가 추가된 것으로 이해하면 된다. 리두 로그까지 함께 없어진 경우에는 단계가 한 번 더 늘어나며 그 조합은 7장에서 다룬다. 판정 결과를 종이에 적어 두면 여러 파일이 얽혔을 때 혼선을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손실을 줄이려고 부분 복원에 매달리다 시간을 잃는 사례가 많다. 리두가 없는 상태에서는 어떤 조합을 써도 열리지 않는다. 판정 3단계에서 리두 부족이 확인되면 그 시점에 전체 복원으로 방향을 정하는 것이 낫다. 복구 시간 목표가 있다면 '언제까지 시도하고 언제 전환할지'를 미리 정해 두도록 지도한다. 손실 구간은 반드시 시각으로 환산해 현업에 통보한다. 전체 복원은 실패가 아니라 조건에 맞는 선택이라는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6.7절은 절차상 마지막이지만 실무 사고는 여기서 가장 자주 난다. 데이터베이스가 열렸다는 사실에 안심하고 마무리를 건너뛰면 다음 날 정렬 쿼리가 실패하거나, 다음 장애에서 쓸 백업본이 없거나, 사본 두 벌로 운영되는 상태가 굳어진다. 복구는 열리는 것으로 끝나지 않는다는 점을 강조한다. 체크리스트로 만들어 두면 놓치지 않는다. 마무리 항목은 세 가지뿐이므로 복구 절차서 마지막 장에 고정해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ORA-01652는 5장에서 이미 본 오류다. 원인이 달라도 증상은 같으므로 '컨트롤파일을 재생성했다면 TEMP를 의심하라'는 연결을 만들어 준다. REUSE 옵션을 붙이면 같은 이름의 기존 파일을 다시 쓰므로 디스크에 파일이 남아 있는 경우 편리하다. 검증 네 가지는 체크리스트로 만들어 실습마다 반복시킨다. 데이터베이스가 열렸다는 것만으로 복구가 끝났다고 보고해서는 안 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non-CDB 기준이지만 실무 환경은 대부분 CDB이므로 차이를 짚어 둔다. 핵심은 컨트롤파일이 컨테이너 단위라는 점이다. PDB를 아무리 잘게 나눠도 컨트롤파일 장애 앞에서는 전체가 함께 멈춘다. 재생성 후 PDB가 MOUNTED로 남아 있으면 ALTER PLUGGABLE DATABASE ALL OPEN 을 수행해야 한다는 점도 함께 알려 준다. 19c의 PDB 단위 Flashback도 컨트롤파일 장애에는 도움이 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두 가지다. 첫째, 사본이 하나라도 살아 있으면 손실이 없다. 즉 다중화가 최선의 대비이며 나머지 절차는 모두 차선책이다. 둘째, 손실 여부와 RESETLOGS 여부는 별개다. 표의 여러 행이 '손실 없음'이면서도 RESETLOGS를 요구한다. 이 구분을 명확히 해야 현업 보고가 정확해지고, RESETLOGS 직후 전체 백업이라는 후속 조치도 빠뜨리지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백업 컨트롤파일은 SCN이 과거라 복구 목표를 잘못 잡는다. 이 절은 '컨트롤파일 말고 데이터파일을 믿어라'는 지시이며, 사용 후에는 OPEN RESETLOGS가 오히려 강제된다. 세 번째 보기를 고르는 수강생이 많은데 정반대라는 점을 짚어 준다. 첫 번째 보기는 AUTO 입력이나 SET AUTORECOVERY ON 의 역할과 혼동한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정상 종료 상태는 모든 데이터파일의 SCN이 같고 FUZZY가 NO다. NORESETLOGS로 재생성하면 복구 없이 열리고 인카네이션도 올라가지 않아 기존 백업본이 유효하다. 세 번째 보기가 틀린 이유를 설명하는 것이 중요하다. RESETLOGS를 쓰면 열리기는 하지만 인카네이션이 올라가 이전 백업본이 모두 무효가 되므로 결과가 결코 같지 않다.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TEMP 파일은 CREATE CONTROLFILE 문에 나열하지 않으므로 재생성하면 정보가 사라진다. ALTER TABLESPACE temp ADD TEMPFILE 로 추가하면 즉시 해소된다. 5장에서 본 것과 같은 오류지만 원인이 다르다는 점이 이 문제의 핵심이다. 복구 후 검증 항목에 정렬 쿼리를 넣어 두면 이 문제를 현장에서 바로 발견할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일곱 줄은 그대로 실무 체크리스트가 된다. 특히 네 번째와 여섯 번째가 짝을 이룬다. 판정에 따라 RESETLOGS가 강제되고, 강제되었다면 후속 백업이 절차의 일부가 된다. 일곱 번째는 사소해 보이지만 복구 성공 여부를 뒤늦게 뒤집는 항목이다. 다음 장에서는 리두 로그 장애와 컨트롤파일이 겹치는 복합 장애를 다루며 이 장의 절차를 조합해 쓴다. 여기까지가 NOARCHIVELOG 계통의 마지막 준비 단계다.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실습은 손실이 적은 경로에서 큰 경로 순으로 배열되어 있지 않고 방법별로 묶여 있다. 6-1과 6-2가 방법의 대비, 6-3이 예방의 가치, 6-4와 6-5가 판정의 대비, 6-6이 조합이다. 시간이 부족하면 6-3을 시연으로 대체하고 6-4와 6-5는 반드시 직접 수행하게 한다. 두 실습의 대비가 이 장에서 가장 중요한 학습 지점이기 때문이다. 실습 6-6은 앞의 다섯 실습을 조합하는 형태이므로 마지막에 배치했다.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제6장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NOARCHIVELOG 복구 ③ 컨트롤파일 장애</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구조와 역할 · 사본 복사 · Binary 백업본 · trace 재생성 · 정상/비정상 종료 · 동시 손상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컨트롤파일이 담는 정보와 손상 증상을 설명한다</a:t>
            </a:r>
          </a:p>
          <a:p>
            <a:pPr>
              <a:spcAft>
                <a:spcPts val="600"/>
              </a:spcAft>
            </a:pPr>
            <a:r>
              <a:rPr sz="1600" b="0">
                <a:solidFill>
                  <a:srgbClr val="5A6672"/>
                </a:solidFill>
                <a:latin typeface="Malgun Gothic"/>
                <a:ea typeface="Malgun Gothic"/>
              </a:rPr>
              <a:t>    –  사본 일부 손상을 복사와 파라미터 조정으로 처리한다</a:t>
            </a:r>
          </a:p>
          <a:p>
            <a:pPr>
              <a:spcAft>
                <a:spcPts val="600"/>
              </a:spcAft>
            </a:pPr>
            <a:r>
              <a:rPr sz="1600" b="0">
                <a:solidFill>
                  <a:srgbClr val="5A6672"/>
                </a:solidFill>
                <a:latin typeface="Malgun Gothic"/>
                <a:ea typeface="Malgun Gothic"/>
              </a:rPr>
              <a:t>    –  Binary 백업본으로 복구하고 RESETLOGS로 연다</a:t>
            </a:r>
          </a:p>
          <a:p>
            <a:pPr>
              <a:spcAft>
                <a:spcPts val="600"/>
              </a:spcAft>
            </a:pPr>
            <a:r>
              <a:rPr sz="1600" b="0">
                <a:solidFill>
                  <a:srgbClr val="5A6672"/>
                </a:solidFill>
                <a:latin typeface="Malgun Gothic"/>
                <a:ea typeface="Malgun Gothic"/>
              </a:rPr>
              <a:t>    –  trace의 CREATE CONTROLFILE 문으로 재생성한다</a:t>
            </a:r>
          </a:p>
          <a:p>
            <a:pPr>
              <a:spcAft>
                <a:spcPts val="600"/>
              </a:spcAft>
            </a:pPr>
            <a:r>
              <a:rPr sz="1600" b="0">
                <a:solidFill>
                  <a:srgbClr val="5A6672"/>
                </a:solidFill>
                <a:latin typeface="Malgun Gothic"/>
                <a:ea typeface="Malgun Gothic"/>
              </a:rPr>
              <a:t>    –  정상/비정상 종료에 따라 복구 경로를 판정한다</a:t>
            </a:r>
          </a:p>
          <a:p>
            <a:pPr>
              <a:spcAft>
                <a:spcPts val="600"/>
              </a:spcAft>
            </a:pPr>
            <a:r>
              <a:rPr sz="1600" b="0">
                <a:solidFill>
                  <a:srgbClr val="5A6672"/>
                </a:solidFill>
                <a:latin typeface="Malgun Gothic"/>
                <a:ea typeface="Malgun Gothic"/>
              </a:rPr>
              <a:t>    –  데이터파일과 컨트롤파일 동시 손상을 순서대로 처리한다</a:t>
            </a:r>
          </a:p>
          <a:p>
            <a:pPr>
              <a:spcAft>
                <a:spcPts val="600"/>
              </a:spcAft>
            </a:pPr>
            <a:r>
              <a:rPr sz="1800" b="0">
                <a:solidFill>
                  <a:srgbClr val="202830"/>
                </a:solidFill>
                <a:latin typeface="Malgun Gothic"/>
                <a:ea typeface="Malgun Gothic"/>
              </a:rPr>
              <a:t>•  여섯 목표는 각각 6.1 / 6.2 / 6.3 / 6.4 / 6.5 / 6.6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6.1  컨트롤파일의 구조와 역할 — 담는 정보 · 다중화 · 증상 · 백업 두 가지</a:t>
            </a:r>
          </a:p>
          <a:p>
            <a:pPr>
              <a:spcAft>
                <a:spcPts val="600"/>
              </a:spcAft>
            </a:pPr>
            <a:r>
              <a:rPr sz="1800" b="0">
                <a:solidFill>
                  <a:srgbClr val="202830"/>
                </a:solidFill>
                <a:latin typeface="Malgun Gothic"/>
                <a:ea typeface="Malgun Gothic"/>
              </a:rPr>
              <a:t>•  6.2  사본 일부 손상 — 복사 복구 · 파라미터 조정 우회</a:t>
            </a:r>
          </a:p>
          <a:p>
            <a:pPr>
              <a:spcAft>
                <a:spcPts val="600"/>
              </a:spcAft>
            </a:pPr>
            <a:r>
              <a:rPr sz="1800" b="0">
                <a:solidFill>
                  <a:srgbClr val="202830"/>
                </a:solidFill>
                <a:latin typeface="Malgun Gothic"/>
                <a:ea typeface="Malgun Gothic"/>
              </a:rPr>
              <a:t>•  6.3  전체 손상, Binary 백업본 — USING BACKUP CONTROLFILE · RESETLOGS</a:t>
            </a:r>
          </a:p>
          <a:p>
            <a:pPr>
              <a:spcAft>
                <a:spcPts val="600"/>
              </a:spcAft>
            </a:pPr>
            <a:r>
              <a:rPr sz="1800" b="0">
                <a:solidFill>
                  <a:srgbClr val="202830"/>
                </a:solidFill>
                <a:latin typeface="Malgun Gothic"/>
                <a:ea typeface="Malgun Gothic"/>
              </a:rPr>
              <a:t>•  6.4  전체 손상, trace 재생성 — 두 형식 · 구성 요소 · 절차 · 오류</a:t>
            </a:r>
          </a:p>
          <a:p>
            <a:pPr>
              <a:spcAft>
                <a:spcPts val="600"/>
              </a:spcAft>
            </a:pPr>
            <a:r>
              <a:rPr sz="1800" b="0">
                <a:solidFill>
                  <a:srgbClr val="202830"/>
                </a:solidFill>
                <a:latin typeface="Malgun Gothic"/>
                <a:ea typeface="Malgun Gothic"/>
              </a:rPr>
              <a:t>•  6.5  정상 종료와 비정상 종료 — FUZZY 판정 · 경로 분기</a:t>
            </a:r>
          </a:p>
          <a:p>
            <a:pPr>
              <a:spcAft>
                <a:spcPts val="600"/>
              </a:spcAft>
            </a:pPr>
            <a:r>
              <a:rPr sz="1800" b="0">
                <a:solidFill>
                  <a:srgbClr val="202830"/>
                </a:solidFill>
                <a:latin typeface="Malgun Gothic"/>
                <a:ea typeface="Malgun Gothic"/>
              </a:rPr>
              <a:t>•  6.6  데이터파일과 동시 손상 — 처리 순서 · 리두 유무</a:t>
            </a:r>
          </a:p>
          <a:p>
            <a:pPr>
              <a:spcAft>
                <a:spcPts val="600"/>
              </a:spcAft>
            </a:pPr>
            <a:r>
              <a:rPr sz="1800" b="0">
                <a:solidFill>
                  <a:srgbClr val="202830"/>
                </a:solidFill>
                <a:latin typeface="Malgun Gothic"/>
                <a:ea typeface="Malgun Gothic"/>
              </a:rPr>
              <a:t>•  6.7 마무리 작업 · 6.8 판단표 · 6.9 퀴즈 · 요약 · 실습 6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NOARCHIVELOG 환경에서 진행하며, 각 실습 전 Cold Backup과 컨트롤파일 백업을 새로 받는다.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컨트롤파일의 구조와 역할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데이터를 한 건도 담지 않지만 없으면 MOUNT조차 되지 않는다</a:t>
            </a:r>
          </a:p>
          <a:p>
            <a:pPr>
              <a:spcAft>
                <a:spcPts val="600"/>
              </a:spcAft>
            </a:pPr>
            <a:r>
              <a:rPr sz="1600" b="0">
                <a:solidFill>
                  <a:srgbClr val="C5CED6"/>
                </a:solidFill>
                <a:latin typeface="Malgun Gothic"/>
                <a:ea typeface="Malgun Gothic"/>
              </a:rPr>
              <a:t>•  사본끼리 완전히 동일해 복사만으로 복구된다</a:t>
            </a:r>
          </a:p>
          <a:p>
            <a:pPr>
              <a:spcAft>
                <a:spcPts val="600"/>
              </a:spcAft>
            </a:pPr>
            <a:r>
              <a:rPr sz="1600" b="0">
                <a:solidFill>
                  <a:srgbClr val="C5CED6"/>
                </a:solidFill>
                <a:latin typeface="Malgun Gothic"/>
                <a:ea typeface="Malgun Gothic"/>
              </a:rPr>
              <a:t>•  Binary 백업과 trace 백업은 대체가 아니라 보완 관계다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컨트롤파일이 담는 정보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데이터베이스 이름 · DBID · 생성 시각</a:t>
            </a:r>
          </a:p>
          <a:p>
            <a:pPr>
              <a:spcAft>
                <a:spcPts val="600"/>
              </a:spcAft>
            </a:pPr>
            <a:r>
              <a:rPr sz="1800" b="0">
                <a:solidFill>
                  <a:srgbClr val="202830"/>
                </a:solidFill>
                <a:latin typeface="Malgun Gothic"/>
                <a:ea typeface="Malgun Gothic"/>
              </a:rPr>
              <a:t>•  모든 데이터파일과 리두 로그의 이름 · 번호 · 크기 · 상태</a:t>
            </a:r>
          </a:p>
          <a:p>
            <a:pPr>
              <a:spcAft>
                <a:spcPts val="600"/>
              </a:spcAft>
            </a:pPr>
            <a:r>
              <a:rPr sz="1800" b="0">
                <a:solidFill>
                  <a:srgbClr val="202830"/>
                </a:solidFill>
                <a:latin typeface="Malgun Gothic"/>
                <a:ea typeface="Malgun Gothic"/>
              </a:rPr>
              <a:t>•  현재 로그 시퀀스 · 체크포인트 SCN · RESETLOGS 이력</a:t>
            </a:r>
          </a:p>
          <a:p>
            <a:pPr>
              <a:spcAft>
                <a:spcPts val="600"/>
              </a:spcAft>
            </a:pPr>
            <a:r>
              <a:rPr sz="1800" b="0">
                <a:solidFill>
                  <a:srgbClr val="202830"/>
                </a:solidFill>
                <a:latin typeface="Malgun Gothic"/>
                <a:ea typeface="Malgun Gothic"/>
              </a:rPr>
              <a:t>•  아카이브 로그 이력 · RMAN 백업 메타데이터</a:t>
            </a:r>
          </a:p>
          <a:p>
            <a:pPr>
              <a:spcAft>
                <a:spcPts val="600"/>
              </a:spcAft>
            </a:pPr>
            <a:r>
              <a:rPr sz="1800" b="0">
                <a:solidFill>
                  <a:srgbClr val="202830"/>
                </a:solidFill>
                <a:latin typeface="Malgun Gothic"/>
                <a:ea typeface="Malgun Gothic"/>
              </a:rPr>
              <a:t>•  사용자 데이터는 한 건도 없다</a:t>
            </a:r>
          </a:p>
          <a:p>
            <a:pPr>
              <a:spcAft>
                <a:spcPts val="600"/>
              </a:spcAft>
            </a:pPr>
            <a:r>
              <a:rPr sz="1600" b="0">
                <a:solidFill>
                  <a:srgbClr val="5A6672"/>
                </a:solidFill>
                <a:latin typeface="Malgun Gothic"/>
                <a:ea typeface="Malgun Gothic"/>
              </a:rPr>
              <a:t>    –  그럼에도 없으면 어느 파일을 열어야 할지 알 수 없다</a:t>
            </a:r>
          </a:p>
          <a:p>
            <a:pPr>
              <a:spcAft>
                <a:spcPts val="600"/>
              </a:spcAft>
            </a:pPr>
            <a:r>
              <a:rPr sz="1600" b="0">
                <a:solidFill>
                  <a:srgbClr val="5A6672"/>
                </a:solidFill>
                <a:latin typeface="Malgun Gothic"/>
                <a:ea typeface="Malgun Gothic"/>
              </a:rPr>
              <a:t>    –  수십 MB짜리 파일 하나가 전체 가용성을 좌우한다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v$controlfile · v$controlfile_record_section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name, block_size, file_size_blks FROM v$controlfile;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                                         BLOCK_SIZE FILE_SIZE_BLKS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/u01/app/oracle/oradata/orcl/control01.ctl        16384           1142</a:t>
            </a:r>
          </a:p>
          <a:p>
            <a:pPr>
              <a:spcAft>
                <a:spcPts val="0"/>
              </a:spcAft>
            </a:pPr>
            <a:r>
              <a:rPr sz="1250" b="0">
                <a:solidFill>
                  <a:srgbClr val="E6E6E6"/>
                </a:solidFill>
                <a:latin typeface="Consolas"/>
                <a:ea typeface="Consolas"/>
              </a:rPr>
              <a:t>/u01/app/oracle/oradata/orcl/control02.ctl        16384           1142</a:t>
            </a:r>
          </a:p>
          <a:p>
            <a:pPr>
              <a:spcAft>
                <a:spcPts val="0"/>
              </a:spcAft>
            </a:pPr>
            <a:r>
              <a:rPr sz="1250" b="0">
                <a:solidFill>
                  <a:srgbClr val="E6E6E6"/>
                </a:solidFill>
                <a:latin typeface="Consolas"/>
                <a:ea typeface="Consolas"/>
              </a:rPr>
              <a:t>/u02/oradata/orcl/control03.ctl                   16384           1142</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type, records_total, records_used</a:t>
            </a:r>
          </a:p>
          <a:p>
            <a:pPr>
              <a:spcAft>
                <a:spcPts val="0"/>
              </a:spcAft>
            </a:pPr>
            <a:r>
              <a:rPr sz="1250" b="0">
                <a:solidFill>
                  <a:srgbClr val="E6E6E6"/>
                </a:solidFill>
                <a:latin typeface="Consolas"/>
                <a:ea typeface="Consolas"/>
              </a:rPr>
              <a:t>  2  FROM   v$controlfile_record_section WHERE type = 'DATAFILE';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TYPE            RECORDS_TOTAL RECORDS_USED</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DATAFILE                 1024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다중화와 갱신 방식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CONTROL_FILES에 나열된 모든 경로에 동일 내용 유지</a:t>
            </a:r>
          </a:p>
          <a:p>
            <a:pPr>
              <a:spcAft>
                <a:spcPts val="600"/>
              </a:spcAft>
            </a:pPr>
            <a:r>
              <a:rPr sz="1600" b="0">
                <a:solidFill>
                  <a:srgbClr val="5A6672"/>
                </a:solidFill>
                <a:latin typeface="Malgun Gothic"/>
                <a:ea typeface="Malgun Gothic"/>
              </a:rPr>
              <a:t>    –  Oracle이 동시에 같은 내용을 기록 → 사본끼리 완전히 같음</a:t>
            </a:r>
          </a:p>
          <a:p>
            <a:pPr>
              <a:spcAft>
                <a:spcPts val="600"/>
              </a:spcAft>
            </a:pPr>
            <a:r>
              <a:rPr sz="1600" b="0">
                <a:solidFill>
                  <a:srgbClr val="5A6672"/>
                </a:solidFill>
                <a:latin typeface="Malgun Gothic"/>
                <a:ea typeface="Malgun Gothic"/>
              </a:rPr>
              <a:t>    –  살아 있는 사본 하나를 복사하면 나머지가 복구됨</a:t>
            </a:r>
          </a:p>
          <a:p>
            <a:pPr>
              <a:spcAft>
                <a:spcPts val="600"/>
              </a:spcAft>
            </a:pPr>
            <a:r>
              <a:rPr sz="1800" b="0">
                <a:solidFill>
                  <a:srgbClr val="202830"/>
                </a:solidFill>
                <a:latin typeface="Malgun Gothic"/>
                <a:ea typeface="Malgun Gothic"/>
              </a:rPr>
              <a:t>•  리두 로그 다중화와 방식이 다르다</a:t>
            </a:r>
          </a:p>
          <a:p>
            <a:pPr>
              <a:spcAft>
                <a:spcPts val="600"/>
              </a:spcAft>
            </a:pPr>
            <a:r>
              <a:rPr sz="1600" b="0">
                <a:solidFill>
                  <a:srgbClr val="5A6672"/>
                </a:solidFill>
                <a:latin typeface="Malgun Gothic"/>
                <a:ea typeface="Malgun Gothic"/>
              </a:rPr>
              <a:t>    –  리두는 그룹 안의 멤버, 컨트롤파일은 파라미터의 경로 목록</a:t>
            </a:r>
          </a:p>
          <a:p>
            <a:pPr>
              <a:spcAft>
                <a:spcPts val="600"/>
              </a:spcAft>
            </a:pPr>
            <a:r>
              <a:rPr sz="1600" b="0">
                <a:solidFill>
                  <a:srgbClr val="5A6672"/>
                </a:solidFill>
                <a:latin typeface="Malgun Gothic"/>
                <a:ea typeface="Malgun Gothic"/>
              </a:rPr>
              <a:t>    –  리두는 멤버 하나가 깨져도 계속 돌아가지만 컨트롤파일은 즉시 멈춤</a:t>
            </a:r>
          </a:p>
          <a:p>
            <a:pPr>
              <a:spcAft>
                <a:spcPts val="600"/>
              </a:spcAft>
            </a:pPr>
            <a:r>
              <a:rPr sz="1800" b="0">
                <a:solidFill>
                  <a:srgbClr val="202830"/>
                </a:solidFill>
                <a:latin typeface="Malgun Gothic"/>
                <a:ea typeface="Malgun Gothic"/>
              </a:rPr>
              <a:t>•  체크포인트 · 로그 스위치 · 구조 변경 때마다 갱신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손상 시 증상과 오류 코드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열려 있는 상태에서 사본 유실 → 인스턴스가 즉시 중단되기도 함</a:t>
            </a:r>
          </a:p>
          <a:p>
            <a:pPr>
              <a:spcAft>
                <a:spcPts val="600"/>
              </a:spcAft>
            </a:pPr>
            <a:r>
              <a:rPr sz="1600" b="0">
                <a:solidFill>
                  <a:srgbClr val="5A6672"/>
                </a:solidFill>
                <a:latin typeface="Malgun Gothic"/>
                <a:ea typeface="Malgun Gothic"/>
              </a:rPr>
              <a:t>    –  모든 사본에 기록해야 하므로 하나라도 못 쓰면 진행 불가</a:t>
            </a:r>
          </a:p>
          <a:p>
            <a:pPr>
              <a:spcAft>
                <a:spcPts val="600"/>
              </a:spcAft>
            </a:pPr>
            <a:r>
              <a:rPr sz="1800" b="0">
                <a:solidFill>
                  <a:srgbClr val="202830"/>
                </a:solidFill>
                <a:latin typeface="Malgun Gothic"/>
                <a:ea typeface="Malgun Gothic"/>
              </a:rPr>
              <a:t>•  기동 시 MOUNT 단계에서 막힘 — ORA-00205</a:t>
            </a:r>
          </a:p>
          <a:p>
            <a:pPr>
              <a:spcAft>
                <a:spcPts val="600"/>
              </a:spcAft>
            </a:pPr>
            <a:r>
              <a:rPr sz="1600" b="0">
                <a:solidFill>
                  <a:srgbClr val="5A6672"/>
                </a:solidFill>
                <a:latin typeface="Malgun Gothic"/>
                <a:ea typeface="Malgun Gothic"/>
              </a:rPr>
              <a:t>    –  alert log에 ORA-00210 · ORA-00202 · ORA-27037이 이어짐</a:t>
            </a:r>
          </a:p>
          <a:p>
            <a:pPr>
              <a:spcAft>
                <a:spcPts val="600"/>
              </a:spcAft>
            </a:pPr>
            <a:r>
              <a:rPr sz="1600" b="0">
                <a:solidFill>
                  <a:srgbClr val="5A6672"/>
                </a:solidFill>
                <a:latin typeface="Malgun Gothic"/>
                <a:ea typeface="Malgun Gothic"/>
              </a:rPr>
              <a:t>    –  어느 경로가 문제인지는 alert log가 알려 준다</a:t>
            </a:r>
          </a:p>
          <a:p>
            <a:pPr>
              <a:spcAft>
                <a:spcPts val="600"/>
              </a:spcAft>
            </a:pPr>
            <a:r>
              <a:rPr sz="1800" b="0">
                <a:solidFill>
                  <a:srgbClr val="202830"/>
                </a:solidFill>
                <a:latin typeface="Malgun Gothic"/>
                <a:ea typeface="Malgun Gothic"/>
              </a:rPr>
              <a:t>•  사본끼리 어긋나면 ORA-00214</a:t>
            </a:r>
          </a:p>
          <a:p>
            <a:pPr>
              <a:spcAft>
                <a:spcPts val="600"/>
              </a:spcAft>
            </a:pPr>
            <a:r>
              <a:rPr sz="1600" b="0">
                <a:solidFill>
                  <a:srgbClr val="5A6672"/>
                </a:solidFill>
                <a:latin typeface="Malgun Gothic"/>
                <a:ea typeface="Malgun Gothic"/>
              </a:rPr>
              <a:t>    –  오래된 사본을 최신 사본 위에 덮어썼을 때 발생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가지 증상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ORA-00205 vs ORA-00214</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증상 1 : 컨트롤파일이 없을 때</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ORA-00205: error in identifying control file, check alert log for more info</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alert log</a:t>
            </a:r>
          </a:p>
          <a:p>
            <a:pPr>
              <a:spcAft>
                <a:spcPts val="0"/>
              </a:spcAft>
            </a:pPr>
            <a:r>
              <a:rPr sz="1250" b="0">
                <a:solidFill>
                  <a:srgbClr val="E6E6E6"/>
                </a:solidFill>
                <a:latin typeface="Consolas"/>
                <a:ea typeface="Consolas"/>
              </a:rPr>
              <a:t>ORA-00210: cannot open the specified control file</a:t>
            </a:r>
          </a:p>
          <a:p>
            <a:pPr>
              <a:spcAft>
                <a:spcPts val="0"/>
              </a:spcAft>
            </a:pPr>
            <a:r>
              <a:rPr sz="1250" b="0">
                <a:solidFill>
                  <a:srgbClr val="E6E6E6"/>
                </a:solidFill>
                <a:latin typeface="Consolas"/>
                <a:ea typeface="Consolas"/>
              </a:rPr>
              <a:t>ORA-00202: control file: '/u01/app/oracle/oradata/orcl/control01.ctl'</a:t>
            </a:r>
          </a:p>
          <a:p>
            <a:pPr>
              <a:spcAft>
                <a:spcPts val="0"/>
              </a:spcAft>
            </a:pPr>
            <a:r>
              <a:rPr sz="1250" b="0">
                <a:solidFill>
                  <a:srgbClr val="E6E6E6"/>
                </a:solidFill>
                <a:latin typeface="Consolas"/>
                <a:ea typeface="Consolas"/>
              </a:rPr>
              <a:t>ORA-27037: unable to obtain file status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증상 2 : 사본끼리 내용이 어긋날 때</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ORA-00214: control file '.../control01.ctl' version 2841</a:t>
            </a:r>
          </a:p>
          <a:p>
            <a:pPr>
              <a:spcAft>
                <a:spcPts val="0"/>
              </a:spcAft>
            </a:pPr>
            <a:r>
              <a:rPr sz="1250" b="0">
                <a:solidFill>
                  <a:srgbClr val="E6E6E6"/>
                </a:solidFill>
                <a:latin typeface="Consolas"/>
                <a:ea typeface="Consolas"/>
              </a:rPr>
              <a:t>           inconsistent with file '.../control03.ctl' version 2795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방법 두 가지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Binary 백업 — 이진 복사본</a:t>
            </a:r>
          </a:p>
          <a:p>
            <a:pPr>
              <a:spcAft>
                <a:spcPts val="600"/>
              </a:spcAft>
            </a:pPr>
            <a:r>
              <a:rPr sz="1600" b="0">
                <a:solidFill>
                  <a:srgbClr val="5A6672"/>
                </a:solidFill>
                <a:latin typeface="Malgun Gothic"/>
                <a:ea typeface="Malgun Gothic"/>
              </a:rPr>
              <a:t>    –  ALTER DATABASE BACKUP CONTROLFILE TO '경로'</a:t>
            </a:r>
          </a:p>
          <a:p>
            <a:pPr>
              <a:spcAft>
                <a:spcPts val="600"/>
              </a:spcAft>
            </a:pPr>
            <a:r>
              <a:rPr sz="1600" b="0">
                <a:solidFill>
                  <a:srgbClr val="5A6672"/>
                </a:solidFill>
                <a:latin typeface="Malgun Gothic"/>
                <a:ea typeface="Malgun Gothic"/>
              </a:rPr>
              <a:t>    –  열린 상태에서도 받을 수 있음 / 복원 후 RESETLOGS 강제</a:t>
            </a:r>
          </a:p>
          <a:p>
            <a:pPr>
              <a:spcAft>
                <a:spcPts val="600"/>
              </a:spcAft>
            </a:pPr>
            <a:r>
              <a:rPr sz="1800" b="0">
                <a:solidFill>
                  <a:srgbClr val="202830"/>
                </a:solidFill>
                <a:latin typeface="Malgun Gothic"/>
                <a:ea typeface="Malgun Gothic"/>
              </a:rPr>
              <a:t>•  Trace 백업 — CREATE CONTROLFILE 문 텍스트</a:t>
            </a:r>
          </a:p>
          <a:p>
            <a:pPr>
              <a:spcAft>
                <a:spcPts val="600"/>
              </a:spcAft>
            </a:pPr>
            <a:r>
              <a:rPr sz="1600" b="0">
                <a:solidFill>
                  <a:srgbClr val="5A6672"/>
                </a:solidFill>
                <a:latin typeface="Malgun Gothic"/>
                <a:ea typeface="Malgun Gothic"/>
              </a:rPr>
              <a:t>    –  ALTER DATABASE BACKUP CONTROLFILE TO TRACE [AS '경로']</a:t>
            </a:r>
          </a:p>
          <a:p>
            <a:pPr>
              <a:spcAft>
                <a:spcPts val="600"/>
              </a:spcAft>
            </a:pPr>
            <a:r>
              <a:rPr sz="1600" b="0">
                <a:solidFill>
                  <a:srgbClr val="5A6672"/>
                </a:solidFill>
                <a:latin typeface="Malgun Gothic"/>
                <a:ea typeface="Malgun Gothic"/>
              </a:rPr>
              <a:t>    –  경로·크기를 편집해 다른 구조로 재생성 가능</a:t>
            </a:r>
          </a:p>
          <a:p>
            <a:pPr>
              <a:spcAft>
                <a:spcPts val="600"/>
              </a:spcAft>
            </a:pPr>
            <a:r>
              <a:rPr sz="1800" b="0">
                <a:solidFill>
                  <a:srgbClr val="202830"/>
                </a:solidFill>
                <a:latin typeface="Malgun Gothic"/>
                <a:ea typeface="Malgun Gothic"/>
              </a:rPr>
              <a:t>•  대체 관계가 아니라 보완 관계 — 둘 다 받아 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명령</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Binary와 Trace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Binary 백업</a:t>
            </a:r>
          </a:p>
          <a:p>
            <a:pPr>
              <a:spcAft>
                <a:spcPts val="0"/>
              </a:spcAft>
            </a:pPr>
            <a:r>
              <a:rPr sz="1250" b="0">
                <a:solidFill>
                  <a:srgbClr val="E6E6E6"/>
                </a:solidFill>
                <a:latin typeface="Consolas"/>
                <a:ea typeface="Consolas"/>
              </a:rPr>
              <a:t>SYS@orcl&gt; ALTER DATABASE BACKUP CONTROLFILE TO</a:t>
            </a:r>
          </a:p>
          <a:p>
            <a:pPr>
              <a:spcAft>
                <a:spcPts val="0"/>
              </a:spcAft>
            </a:pPr>
            <a:r>
              <a:rPr sz="1250" b="0">
                <a:solidFill>
                  <a:srgbClr val="E6E6E6"/>
                </a:solidFill>
                <a:latin typeface="Consolas"/>
                <a:ea typeface="Consolas"/>
              </a:rPr>
              <a:t>  2    '/home/oracle/backup/control_20250510.bkp';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Trace 백업 (19c: 경로 직접 지정)</a:t>
            </a:r>
          </a:p>
          <a:p>
            <a:pPr>
              <a:spcAft>
                <a:spcPts val="0"/>
              </a:spcAft>
            </a:pPr>
            <a:r>
              <a:rPr sz="1250" b="0">
                <a:solidFill>
                  <a:srgbClr val="E6E6E6"/>
                </a:solidFill>
                <a:latin typeface="Consolas"/>
                <a:ea typeface="Consolas"/>
              </a:rPr>
              <a:t>SYS@orcl&gt; ALTER DATABASE BACKUP CONTROLFILE TO TRACE</a:t>
            </a:r>
          </a:p>
          <a:p>
            <a:pPr>
              <a:spcAft>
                <a:spcPts val="0"/>
              </a:spcAft>
            </a:pPr>
            <a:r>
              <a:rPr sz="1250" b="0">
                <a:solidFill>
                  <a:srgbClr val="E6E6E6"/>
                </a:solidFill>
                <a:latin typeface="Consolas"/>
                <a:ea typeface="Consolas"/>
              </a:rPr>
              <a:t>  2    AS '/home/oracle/backup/cf_20250510.sql';</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경로 미지정 시 트레이스 파일로 생성</a:t>
            </a:r>
          </a:p>
          <a:p>
            <a:pPr>
              <a:spcAft>
                <a:spcPts val="0"/>
              </a:spcAft>
            </a:pPr>
            <a:r>
              <a:rPr sz="1250" b="0">
                <a:solidFill>
                  <a:srgbClr val="E6E6E6"/>
                </a:solidFill>
                <a:latin typeface="Consolas"/>
                <a:ea typeface="Consolas"/>
              </a:rPr>
              <a:t>SYS@orcl&gt; SELECT value FROM v$diag_info WHERE name = 'Default Trace 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/u01/app/oracle/diag/rdbms/orcl/orcl/trace/orcl_ora_15204.trc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사본 일부 손상 — 복사로 해결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컨트롤파일 장애 중 유일하게 손실이 없는 경로</a:t>
            </a:r>
          </a:p>
          <a:p>
            <a:pPr>
              <a:spcAft>
                <a:spcPts val="600"/>
              </a:spcAft>
            </a:pPr>
            <a:r>
              <a:rPr sz="1600" b="0">
                <a:solidFill>
                  <a:srgbClr val="C5CED6"/>
                </a:solidFill>
                <a:latin typeface="Malgun Gothic"/>
                <a:ea typeface="Malgun Gothic"/>
              </a:rPr>
              <a:t>•  복구 명령도 RESETLOGS도 필요 없다</a:t>
            </a:r>
          </a:p>
          <a:p>
            <a:pPr>
              <a:spcAft>
                <a:spcPts val="600"/>
              </a:spcAft>
            </a:pPr>
            <a:r>
              <a:rPr sz="1600" b="0">
                <a:solidFill>
                  <a:srgbClr val="C5CED6"/>
                </a:solidFill>
                <a:latin typeface="Malgun Gothic"/>
                <a:ea typeface="Malgun Gothic"/>
              </a:rPr>
              <a:t>•  디스크를 당장 못 쓰면 CONTROL_FILES 조정으로 우회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증상과 진단</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가장 흔한 형태 — 디스크 하나 문제 또는 실수로 삭제</a:t>
            </a:r>
          </a:p>
          <a:p>
            <a:pPr>
              <a:spcAft>
                <a:spcPts val="600"/>
              </a:spcAft>
            </a:pPr>
            <a:r>
              <a:rPr sz="1800" b="0">
                <a:solidFill>
                  <a:srgbClr val="202830"/>
                </a:solidFill>
                <a:latin typeface="Malgun Gothic"/>
                <a:ea typeface="Malgun Gothic"/>
              </a:rPr>
              <a:t>•  재기동하면 ORA-00205, STARTED 상태에서 멈춤</a:t>
            </a:r>
          </a:p>
          <a:p>
            <a:pPr>
              <a:spcAft>
                <a:spcPts val="600"/>
              </a:spcAft>
            </a:pPr>
            <a:r>
              <a:rPr sz="1600" b="0">
                <a:solidFill>
                  <a:srgbClr val="5A6672"/>
                </a:solidFill>
                <a:latin typeface="Malgun Gothic"/>
                <a:ea typeface="Malgun Gothic"/>
              </a:rPr>
              <a:t>    –  MOUNT가 안 되므로 v$controlfile도 조회 불가</a:t>
            </a:r>
          </a:p>
          <a:p>
            <a:pPr>
              <a:spcAft>
                <a:spcPts val="600"/>
              </a:spcAft>
            </a:pPr>
            <a:r>
              <a:rPr sz="1600" b="0">
                <a:solidFill>
                  <a:srgbClr val="5A6672"/>
                </a:solidFill>
                <a:latin typeface="Malgun Gothic"/>
                <a:ea typeface="Malgun Gothic"/>
              </a:rPr>
              <a:t>    –  SHOW PARAMETER control_files는 파라미터 파일에서 읽으므로 사용 가능</a:t>
            </a:r>
          </a:p>
          <a:p>
            <a:pPr>
              <a:spcAft>
                <a:spcPts val="600"/>
              </a:spcAft>
            </a:pPr>
            <a:r>
              <a:rPr sz="1800" b="0">
                <a:solidFill>
                  <a:srgbClr val="202830"/>
                </a:solidFill>
                <a:latin typeface="Malgun Gothic"/>
                <a:ea typeface="Malgun Gothic"/>
              </a:rPr>
              <a:t>•  진단의 출발점은 파라미터와 OS 파일 목록의 대조</a:t>
            </a:r>
          </a:p>
          <a:p>
            <a:pPr>
              <a:spcAft>
                <a:spcPts val="600"/>
              </a:spcAft>
            </a:pPr>
            <a:r>
              <a:rPr sz="1600" b="0">
                <a:solidFill>
                  <a:srgbClr val="5A6672"/>
                </a:solidFill>
                <a:latin typeface="Malgun Gothic"/>
                <a:ea typeface="Malgun Gothic"/>
              </a:rPr>
              <a:t>    –  없는 경로를 찾고, 남은 사본의 크기·시각이 같은지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복사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손실 없이 끝나는 경로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-p /u02/oradata/orcl/control03.ctl \</a:t>
            </a:r>
          </a:p>
          <a:p>
            <a:pPr>
              <a:spcAft>
                <a:spcPts val="0"/>
              </a:spcAft>
            </a:pPr>
            <a:r>
              <a:rPr sz="1250" b="0">
                <a:solidFill>
                  <a:srgbClr val="E6E6E6"/>
                </a:solidFill>
                <a:latin typeface="Consolas"/>
                <a:ea typeface="Consolas"/>
              </a:rPr>
              <a:t>                 /u01/app/oracle/oradata/orcl/control01.ctl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Database opened.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name FROM v$controlfile;</a:t>
            </a:r>
          </a:p>
          <a:p>
            <a:pPr>
              <a:spcAft>
                <a:spcPts val="0"/>
              </a:spcAft>
            </a:pPr>
            <a:r>
              <a:rPr sz="1250" b="0">
                <a:solidFill>
                  <a:srgbClr val="7EC699"/>
                </a:solidFill>
                <a:latin typeface="Consolas"/>
                <a:ea typeface="Consolas"/>
              </a:rPr>
              <a:t>-- 세 경로 모두 정상 조회됨</a:t>
            </a:r>
          </a:p>
          <a:p>
            <a:pPr>
              <a:spcAft>
                <a:spcPts val="0"/>
              </a:spcAft>
            </a:pPr>
            <a:r>
              <a:rPr sz="1250" b="0">
                <a:solidFill>
                  <a:srgbClr val="7EC699"/>
                </a:solidFill>
                <a:latin typeface="Consolas"/>
                <a:ea typeface="Consolas"/>
              </a:rPr>
              <a:t>-- 복구 명령 없이 끝났고 손실도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파라미터 조정으로 임시 우회</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손상된 사본의 디스크를 당장 못 쓰는 경우</a:t>
            </a:r>
          </a:p>
          <a:p>
            <a:pPr>
              <a:spcAft>
                <a:spcPts val="600"/>
              </a:spcAft>
            </a:pPr>
            <a:r>
              <a:rPr sz="1600" b="0">
                <a:solidFill>
                  <a:srgbClr val="5A6672"/>
                </a:solidFill>
                <a:latin typeface="Malgun Gothic"/>
                <a:ea typeface="Malgun Gothic"/>
              </a:rPr>
              <a:t>    –  CONTROL_FILES에서 그 경로를 빼고 남은 사본으로 기동</a:t>
            </a:r>
          </a:p>
          <a:p>
            <a:pPr>
              <a:spcAft>
                <a:spcPts val="600"/>
              </a:spcAft>
            </a:pPr>
            <a:r>
              <a:rPr sz="1800" b="0">
                <a:solidFill>
                  <a:srgbClr val="202830"/>
                </a:solidFill>
                <a:latin typeface="Malgun Gothic"/>
                <a:ea typeface="Malgun Gothic"/>
              </a:rPr>
              <a:t>•  SPFILE 환경에서는 순서가 중요</a:t>
            </a:r>
          </a:p>
          <a:p>
            <a:pPr>
              <a:spcAft>
                <a:spcPts val="600"/>
              </a:spcAft>
            </a:pPr>
            <a:r>
              <a:rPr sz="1600" b="0">
                <a:solidFill>
                  <a:srgbClr val="5A6672"/>
                </a:solidFill>
                <a:latin typeface="Malgun Gothic"/>
                <a:ea typeface="Malgun Gothic"/>
              </a:rPr>
              <a:t>    –  NOMOUNT 상태에서 ALTER SYSTEM ... SCOPE=SPFILE</a:t>
            </a:r>
          </a:p>
          <a:p>
            <a:pPr>
              <a:spcAft>
                <a:spcPts val="600"/>
              </a:spcAft>
            </a:pPr>
            <a:r>
              <a:rPr sz="1600" b="0">
                <a:solidFill>
                  <a:srgbClr val="5A6672"/>
                </a:solidFill>
                <a:latin typeface="Malgun Gothic"/>
                <a:ea typeface="Malgun Gothic"/>
              </a:rPr>
              <a:t>    –  변경 후 인스턴스를 다시 내렸다 올려야 적용</a:t>
            </a:r>
          </a:p>
          <a:p>
            <a:pPr>
              <a:spcAft>
                <a:spcPts val="600"/>
              </a:spcAft>
            </a:pPr>
            <a:r>
              <a:rPr sz="1800" b="0">
                <a:solidFill>
                  <a:srgbClr val="202830"/>
                </a:solidFill>
                <a:latin typeface="Malgun Gothic"/>
                <a:ea typeface="Malgun Gothic"/>
              </a:rPr>
              <a:t>•  어디까지나 임시 조치</a:t>
            </a:r>
          </a:p>
          <a:p>
            <a:pPr>
              <a:spcAft>
                <a:spcPts val="600"/>
              </a:spcAft>
            </a:pPr>
            <a:r>
              <a:rPr sz="1600" b="0">
                <a:solidFill>
                  <a:srgbClr val="5A6672"/>
                </a:solidFill>
                <a:latin typeface="Malgun Gothic"/>
                <a:ea typeface="Malgun Gothic"/>
              </a:rPr>
              <a:t>    –  사본이 줄어든 만큼 다음 장애에 취약해짐 — 복구되면 즉시 원복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전체 손상 — Binary 백업본으로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백업본은 만들어진 시점의 구조와 SCN에 갇혀 있다</a:t>
            </a:r>
          </a:p>
          <a:p>
            <a:pPr>
              <a:spcAft>
                <a:spcPts val="600"/>
              </a:spcAft>
            </a:pPr>
            <a:r>
              <a:rPr sz="1600" b="0">
                <a:solidFill>
                  <a:srgbClr val="C5CED6"/>
                </a:solidFill>
                <a:latin typeface="Malgun Gothic"/>
                <a:ea typeface="Malgun Gothic"/>
              </a:rPr>
              <a:t>•  USING BACKUP CONTROLFILE 로 기준을 데이터파일 헤더로 전환</a:t>
            </a:r>
          </a:p>
          <a:p>
            <a:pPr>
              <a:spcAft>
                <a:spcPts val="600"/>
              </a:spcAft>
            </a:pPr>
            <a:r>
              <a:rPr sz="1600" b="0">
                <a:solidFill>
                  <a:srgbClr val="C5CED6"/>
                </a:solidFill>
                <a:latin typeface="Malgun Gothic"/>
                <a:ea typeface="Malgun Gothic"/>
              </a:rPr>
              <a:t>•  복구가 끝나도 OPEN RESETLOGS 가 강제된다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컨트롤파일의 한계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백업본은 만들어진 시점의 구조와 SCN을 담는다</a:t>
            </a:r>
          </a:p>
          <a:p>
            <a:pPr>
              <a:spcAft>
                <a:spcPts val="600"/>
              </a:spcAft>
            </a:pPr>
            <a:r>
              <a:rPr sz="1600" b="0">
                <a:solidFill>
                  <a:srgbClr val="5A6672"/>
                </a:solidFill>
                <a:latin typeface="Malgun Gothic"/>
                <a:ea typeface="Malgun Gothic"/>
              </a:rPr>
              <a:t>    –  현재 데이터파일의 SCN보다 뒤처져 있는 것이 보통</a:t>
            </a:r>
          </a:p>
          <a:p>
            <a:pPr>
              <a:spcAft>
                <a:spcPts val="600"/>
              </a:spcAft>
            </a:pPr>
            <a:r>
              <a:rPr sz="1800" b="0">
                <a:solidFill>
                  <a:srgbClr val="202830"/>
                </a:solidFill>
                <a:latin typeface="Malgun Gothic"/>
                <a:ea typeface="Malgun Gothic"/>
              </a:rPr>
              <a:t>•  이 시차 때문에 Oracle은 백업본을 신뢰하지 않는다</a:t>
            </a:r>
          </a:p>
          <a:p>
            <a:pPr>
              <a:spcAft>
                <a:spcPts val="600"/>
              </a:spcAft>
            </a:pPr>
            <a:r>
              <a:rPr sz="1600" b="0">
                <a:solidFill>
                  <a:srgbClr val="5A6672"/>
                </a:solidFill>
                <a:latin typeface="Malgun Gothic"/>
                <a:ea typeface="Malgun Gothic"/>
              </a:rPr>
              <a:t>    –  RECOVER DATABASE 만으로는 진행되지 않음</a:t>
            </a:r>
          </a:p>
          <a:p>
            <a:pPr>
              <a:spcAft>
                <a:spcPts val="600"/>
              </a:spcAft>
            </a:pPr>
            <a:r>
              <a:rPr sz="1600" b="0">
                <a:solidFill>
                  <a:srgbClr val="5A6672"/>
                </a:solidFill>
                <a:latin typeface="Malgun Gothic"/>
                <a:ea typeface="Malgun Gothic"/>
              </a:rPr>
              <a:t>    –  USING BACKUP CONTROLFILE 을 붙여야 진행</a:t>
            </a:r>
          </a:p>
          <a:p>
            <a:pPr>
              <a:spcAft>
                <a:spcPts val="600"/>
              </a:spcAft>
            </a:pPr>
            <a:r>
              <a:rPr sz="1800" b="0">
                <a:solidFill>
                  <a:srgbClr val="202830"/>
                </a:solidFill>
                <a:latin typeface="Malgun Gothic"/>
                <a:ea typeface="Malgun Gothic"/>
              </a:rPr>
              <a:t>•  복구가 끝나도 일반 OPEN은 거부된다</a:t>
            </a:r>
          </a:p>
          <a:p>
            <a:pPr>
              <a:spcAft>
                <a:spcPts val="600"/>
              </a:spcAft>
            </a:pPr>
            <a:r>
              <a:rPr sz="1600" b="0">
                <a:solidFill>
                  <a:srgbClr val="5A6672"/>
                </a:solidFill>
                <a:latin typeface="Malgun Gothic"/>
                <a:ea typeface="Malgun Gothic"/>
              </a:rPr>
              <a:t>    –  리두의 최신 상태를 모르므로 RESETLOGS로 초기화 필요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절차 네 단계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백업본을 CONTROL_FILES의 모든 경로로 복사</a:t>
            </a:r>
          </a:p>
          <a:p>
            <a:pPr>
              <a:spcAft>
                <a:spcPts val="600"/>
              </a:spcAft>
            </a:pPr>
            <a:r>
              <a:rPr sz="1800" b="0">
                <a:solidFill>
                  <a:srgbClr val="202830"/>
                </a:solidFill>
                <a:latin typeface="Malgun Gothic"/>
                <a:ea typeface="Malgun Gothic"/>
              </a:rPr>
              <a:t>•  ② STARTUP MOUNT</a:t>
            </a:r>
          </a:p>
          <a:p>
            <a:pPr>
              <a:spcAft>
                <a:spcPts val="600"/>
              </a:spcAft>
            </a:pPr>
            <a:r>
              <a:rPr sz="1800" b="0">
                <a:solidFill>
                  <a:srgbClr val="202830"/>
                </a:solidFill>
                <a:latin typeface="Malgun Gothic"/>
                <a:ea typeface="Malgun Gothic"/>
              </a:rPr>
              <a:t>•  ③ RECOVER DATABASE USING BACKUP CONTROLFILE</a:t>
            </a:r>
          </a:p>
          <a:p>
            <a:pPr>
              <a:spcAft>
                <a:spcPts val="600"/>
              </a:spcAft>
            </a:pPr>
            <a:r>
              <a:rPr sz="1600" b="0">
                <a:solidFill>
                  <a:srgbClr val="5A6672"/>
                </a:solidFill>
                <a:latin typeface="Malgun Gothic"/>
                <a:ea typeface="Malgun Gothic"/>
              </a:rPr>
              <a:t>    –  아카이브를 요구하는 프롬프트 → 온라인 리두 경로를 직접 입력</a:t>
            </a:r>
          </a:p>
          <a:p>
            <a:pPr>
              <a:spcAft>
                <a:spcPts val="600"/>
              </a:spcAft>
            </a:pPr>
            <a:r>
              <a:rPr sz="1600" b="0">
                <a:solidFill>
                  <a:srgbClr val="5A6672"/>
                </a:solidFill>
                <a:latin typeface="Malgun Gothic"/>
                <a:ea typeface="Malgun Gothic"/>
              </a:rPr>
              <a:t>    –  맞는 로그를 넣으면 Log applied. 출력 후 다음 시퀀스 요구</a:t>
            </a:r>
          </a:p>
          <a:p>
            <a:pPr>
              <a:spcAft>
                <a:spcPts val="600"/>
              </a:spcAft>
            </a:pPr>
            <a:r>
              <a:rPr sz="1600" b="0">
                <a:solidFill>
                  <a:srgbClr val="5A6672"/>
                </a:solidFill>
                <a:latin typeface="Malgun Gothic"/>
                <a:ea typeface="Malgun Gothic"/>
              </a:rPr>
              <a:t>    –  더 적용할 리두가 없으면 CANCEL</a:t>
            </a:r>
          </a:p>
          <a:p>
            <a:pPr>
              <a:spcAft>
                <a:spcPts val="600"/>
              </a:spcAft>
            </a:pPr>
            <a:r>
              <a:rPr sz="1800" b="0">
                <a:solidFill>
                  <a:srgbClr val="202830"/>
                </a:solidFill>
                <a:latin typeface="Malgun Gothic"/>
                <a:ea typeface="Malgun Gothic"/>
              </a:rPr>
              <a:t>•  ④ ALTER DATABASE OPEN RESETLOGS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Binary 백업본으로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USING BACKUP CONTROLFILE → RESETLOGS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/home/oracle/backup/control_20250510.bkp \</a:t>
            </a:r>
          </a:p>
          <a:p>
            <a:pPr>
              <a:spcAft>
                <a:spcPts val="0"/>
              </a:spcAft>
            </a:pPr>
            <a:r>
              <a:rPr sz="1250" b="0">
                <a:solidFill>
                  <a:srgbClr val="E6E6E6"/>
                </a:solidFill>
                <a:latin typeface="Consolas"/>
                <a:ea typeface="Consolas"/>
              </a:rPr>
              <a:t>                 /u01/app/oracle/oradata/orcl/control01.ctl</a:t>
            </a:r>
          </a:p>
          <a:p>
            <a:pPr>
              <a:spcAft>
                <a:spcPts val="0"/>
              </a:spcAft>
            </a:pPr>
            <a:r>
              <a:rPr sz="1250" b="0">
                <a:solidFill>
                  <a:srgbClr val="7EC699"/>
                </a:solidFill>
                <a:latin typeface="Consolas"/>
                <a:ea typeface="Consolas"/>
              </a:rPr>
              <a:t>-- control02.ctl, control03.ctl 도 동일하게 복사</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ORA-00279: change 2381044 ... needed for thread 1</a:t>
            </a:r>
          </a:p>
          <a:p>
            <a:pPr>
              <a:spcAft>
                <a:spcPts val="0"/>
              </a:spcAft>
            </a:pPr>
            <a:r>
              <a:rPr sz="1250" b="0">
                <a:solidFill>
                  <a:srgbClr val="E6E6E6"/>
                </a:solidFill>
                <a:latin typeface="Consolas"/>
                <a:ea typeface="Consolas"/>
              </a:rPr>
              <a:t>ORA-00280: change 2381044 for thread 1 is in sequence #71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/u01/app/oracle/oradata/orcl/redo03.log</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필요한 리두 찾기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MOUNT 상태에서 대조표 만들기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l.group#, l.sequence#, l.status, f.member</a:t>
            </a:r>
          </a:p>
          <a:p>
            <a:pPr>
              <a:spcAft>
                <a:spcPts val="0"/>
              </a:spcAft>
            </a:pPr>
            <a:r>
              <a:rPr sz="1250" b="0">
                <a:solidFill>
                  <a:srgbClr val="E6E6E6"/>
                </a:solidFill>
                <a:latin typeface="Consolas"/>
                <a:ea typeface="Consolas"/>
              </a:rPr>
              <a:t>  2  FROM   v$log l, v$logfile f</a:t>
            </a:r>
          </a:p>
          <a:p>
            <a:pPr>
              <a:spcAft>
                <a:spcPts val="0"/>
              </a:spcAft>
            </a:pPr>
            <a:r>
              <a:rPr sz="1250" b="0">
                <a:solidFill>
                  <a:srgbClr val="E6E6E6"/>
                </a:solidFill>
                <a:latin typeface="Consolas"/>
                <a:ea typeface="Consolas"/>
              </a:rPr>
              <a:t>  3  WHERE  l.group# = f.group# ORDER BY l.sequence#;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SEQUENCE# STATUS     MEMBER</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3         71 INACTIVE   /u01/app/oracle/oradata/orcl/redo03.log</a:t>
            </a:r>
          </a:p>
          <a:p>
            <a:pPr>
              <a:spcAft>
                <a:spcPts val="0"/>
              </a:spcAft>
            </a:pPr>
            <a:r>
              <a:rPr sz="1250" b="0">
                <a:solidFill>
                  <a:srgbClr val="E6E6E6"/>
                </a:solidFill>
                <a:latin typeface="Consolas"/>
                <a:ea typeface="Consolas"/>
              </a:rPr>
              <a:t>         4         72 INACTIVE   /u01/app/oracle/oradata/orcl/redo04.log</a:t>
            </a:r>
          </a:p>
          <a:p>
            <a:pPr>
              <a:spcAft>
                <a:spcPts val="0"/>
              </a:spcAft>
            </a:pPr>
            <a:r>
              <a:rPr sz="1250" b="0">
                <a:solidFill>
                  <a:srgbClr val="E6E6E6"/>
                </a:solidFill>
                <a:latin typeface="Consolas"/>
                <a:ea typeface="Consolas"/>
              </a:rPr>
              <a:t>         1         73 CURRENT    /u01/app/oracle/oradata/orcl/redo01.log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시퀀스 71 → redo03.log, 72 → redo04.log, 73 → redo01.log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이후 구조가 바뀐 경우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백업본을 받은 뒤 추가된 데이터파일은 백업본에 없다</a:t>
            </a:r>
          </a:p>
          <a:p>
            <a:pPr>
              <a:spcAft>
                <a:spcPts val="600"/>
              </a:spcAft>
            </a:pPr>
            <a:r>
              <a:rPr sz="1600" b="0">
                <a:solidFill>
                  <a:srgbClr val="5A6672"/>
                </a:solidFill>
                <a:latin typeface="Malgun Gothic"/>
                <a:ea typeface="Malgun Gothic"/>
              </a:rPr>
              <a:t>    –  복구 중 오류가 나거나 그 파일이 통째로 무시됨</a:t>
            </a:r>
          </a:p>
          <a:p>
            <a:pPr>
              <a:spcAft>
                <a:spcPts val="600"/>
              </a:spcAft>
            </a:pPr>
            <a:r>
              <a:rPr sz="1800" b="0">
                <a:solidFill>
                  <a:srgbClr val="202830"/>
                </a:solidFill>
                <a:latin typeface="Malgun Gothic"/>
                <a:ea typeface="Malgun Gothic"/>
              </a:rPr>
              <a:t>•  ALTER DATABASE CREATE DATAFILE 로 자리를 만들 수 있으나</a:t>
            </a:r>
          </a:p>
          <a:p>
            <a:pPr>
              <a:spcAft>
                <a:spcPts val="600"/>
              </a:spcAft>
            </a:pPr>
            <a:r>
              <a:rPr sz="1600" b="0">
                <a:solidFill>
                  <a:srgbClr val="5A6672"/>
                </a:solidFill>
                <a:latin typeface="Malgun Gothic"/>
                <a:ea typeface="Malgun Gothic"/>
              </a:rPr>
              <a:t>    –  그 파일에 대한 리두가 모두 남아 있어야 의미가 있음</a:t>
            </a:r>
          </a:p>
          <a:p>
            <a:pPr>
              <a:spcAft>
                <a:spcPts val="600"/>
              </a:spcAft>
            </a:pPr>
            <a:r>
              <a:rPr sz="1600" b="0">
                <a:solidFill>
                  <a:srgbClr val="5A6672"/>
                </a:solidFill>
                <a:latin typeface="Malgun Gothic"/>
                <a:ea typeface="Malgun Gothic"/>
              </a:rPr>
              <a:t>    –  NOARCHIVELOG 환경에서는 성공 확률이 낮다</a:t>
            </a:r>
          </a:p>
          <a:p>
            <a:pPr>
              <a:spcAft>
                <a:spcPts val="600"/>
              </a:spcAft>
            </a:pPr>
            <a:r>
              <a:rPr sz="1800" b="0">
                <a:solidFill>
                  <a:srgbClr val="202830"/>
                </a:solidFill>
                <a:latin typeface="Malgun Gothic"/>
                <a:ea typeface="Malgun Gothic"/>
              </a:rPr>
              <a:t>•  현실적 대안 — trace 편집으로 새 파일까지 포함해 재생성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전체 손상 — Trace로 재생성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CREATE CONTROLFILE 문을 텍스트로 확보해 두는 방식</a:t>
            </a:r>
          </a:p>
          <a:p>
            <a:pPr>
              <a:spcAft>
                <a:spcPts val="600"/>
              </a:spcAft>
            </a:pPr>
            <a:r>
              <a:rPr sz="1600" b="0">
                <a:solidFill>
                  <a:srgbClr val="C5CED6"/>
                </a:solidFill>
                <a:latin typeface="Malgun Gothic"/>
                <a:ea typeface="Malgun Gothic"/>
              </a:rPr>
              <a:t>•  NORESETLOGS 형식과 RESETLOGS 형식이 갈린다</a:t>
            </a:r>
          </a:p>
          <a:p>
            <a:pPr>
              <a:spcAft>
                <a:spcPts val="600"/>
              </a:spcAft>
            </a:pPr>
            <a:r>
              <a:rPr sz="1600" b="0">
                <a:solidFill>
                  <a:srgbClr val="C5CED6"/>
                </a:solidFill>
                <a:latin typeface="Malgun Gothic"/>
                <a:ea typeface="Malgun Gothic"/>
              </a:rPr>
              <a:t>•  편집이 가능해 구조가 바뀐 상황에도 대응한다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trace 파일의 두 형식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NORESETLOGS 형식 — 리두 로그가 온전할 때</a:t>
            </a:r>
          </a:p>
          <a:p>
            <a:pPr>
              <a:spcAft>
                <a:spcPts val="600"/>
              </a:spcAft>
            </a:pPr>
            <a:r>
              <a:rPr sz="1600" b="0">
                <a:solidFill>
                  <a:srgbClr val="5A6672"/>
                </a:solidFill>
                <a:latin typeface="Malgun Gothic"/>
                <a:ea typeface="Malgun Gothic"/>
              </a:rPr>
              <a:t>    –  리두를 그대로 인식 → RESETLOGS 없이 OPEN</a:t>
            </a:r>
          </a:p>
          <a:p>
            <a:pPr>
              <a:spcAft>
                <a:spcPts val="600"/>
              </a:spcAft>
            </a:pPr>
            <a:r>
              <a:rPr sz="1600" b="0">
                <a:solidFill>
                  <a:srgbClr val="5A6672"/>
                </a:solidFill>
                <a:latin typeface="Malgun Gothic"/>
                <a:ea typeface="Malgun Gothic"/>
              </a:rPr>
              <a:t>    –  정상 종료 상태에서 컨트롤파일만 잃은 경우</a:t>
            </a:r>
          </a:p>
          <a:p>
            <a:pPr>
              <a:spcAft>
                <a:spcPts val="600"/>
              </a:spcAft>
            </a:pPr>
            <a:r>
              <a:rPr sz="1800" b="0">
                <a:solidFill>
                  <a:srgbClr val="202830"/>
                </a:solidFill>
                <a:latin typeface="Malgun Gothic"/>
                <a:ea typeface="Malgun Gothic"/>
              </a:rPr>
              <a:t>•  RESETLOGS 형식 — 리두를 신뢰할 수 없을 때</a:t>
            </a:r>
          </a:p>
          <a:p>
            <a:pPr>
              <a:spcAft>
                <a:spcPts val="600"/>
              </a:spcAft>
            </a:pPr>
            <a:r>
              <a:rPr sz="1600" b="0">
                <a:solidFill>
                  <a:srgbClr val="5A6672"/>
                </a:solidFill>
                <a:latin typeface="Malgun Gothic"/>
                <a:ea typeface="Malgun Gothic"/>
              </a:rPr>
              <a:t>    –  리두를 새로 만들어 인식 → OPEN RESETLOGS 필요</a:t>
            </a:r>
          </a:p>
          <a:p>
            <a:pPr>
              <a:spcAft>
                <a:spcPts val="600"/>
              </a:spcAft>
            </a:pPr>
            <a:r>
              <a:rPr sz="1600" b="0">
                <a:solidFill>
                  <a:srgbClr val="5A6672"/>
                </a:solidFill>
                <a:latin typeface="Malgun Gothic"/>
                <a:ea typeface="Malgun Gothic"/>
              </a:rPr>
              <a:t>    –  비정상 종료 상태이거나 리두가 함께 손상된 경우</a:t>
            </a:r>
          </a:p>
          <a:p>
            <a:pPr>
              <a:spcAft>
                <a:spcPts val="600"/>
              </a:spcAft>
            </a:pPr>
            <a:r>
              <a:rPr sz="1800" b="0">
                <a:solidFill>
                  <a:srgbClr val="202830"/>
                </a:solidFill>
                <a:latin typeface="Malgun Gothic"/>
                <a:ea typeface="Malgun Gothic"/>
              </a:rPr>
              <a:t>•  trace 파일이 없으면 이 경로 자체가 막힌다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trace 파일 내용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NORESETLOGS 형식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STARTUP NOMOUNT</a:t>
            </a:r>
          </a:p>
          <a:p>
            <a:pPr>
              <a:spcAft>
                <a:spcPts val="0"/>
              </a:spcAft>
            </a:pPr>
            <a:r>
              <a:rPr sz="1250" b="0">
                <a:solidFill>
                  <a:srgbClr val="E6E6E6"/>
                </a:solidFill>
                <a:latin typeface="Consolas"/>
                <a:ea typeface="Consolas"/>
              </a:rPr>
              <a:t>CREATE CONTROLFILE REUSE DATABASE "ORCL" NORESETLOGS NOARCHIVELOG</a:t>
            </a:r>
          </a:p>
          <a:p>
            <a:pPr>
              <a:spcAft>
                <a:spcPts val="0"/>
              </a:spcAft>
            </a:pPr>
            <a:r>
              <a:rPr sz="1250" b="0">
                <a:solidFill>
                  <a:srgbClr val="E6E6E6"/>
                </a:solidFill>
                <a:latin typeface="Consolas"/>
                <a:ea typeface="Consolas"/>
              </a:rPr>
              <a:t>    MAXLOGFILES 16</a:t>
            </a:r>
          </a:p>
          <a:p>
            <a:pPr>
              <a:spcAft>
                <a:spcPts val="0"/>
              </a:spcAft>
            </a:pPr>
            <a:r>
              <a:rPr sz="1250" b="0">
                <a:solidFill>
                  <a:srgbClr val="E6E6E6"/>
                </a:solidFill>
                <a:latin typeface="Consolas"/>
                <a:ea typeface="Consolas"/>
              </a:rPr>
              <a:t>    MAXLOGMEMBERS 3</a:t>
            </a:r>
          </a:p>
          <a:p>
            <a:pPr>
              <a:spcAft>
                <a:spcPts val="0"/>
              </a:spcAft>
            </a:pPr>
            <a:r>
              <a:rPr sz="1250" b="0">
                <a:solidFill>
                  <a:srgbClr val="E6E6E6"/>
                </a:solidFill>
                <a:latin typeface="Consolas"/>
                <a:ea typeface="Consolas"/>
              </a:rPr>
              <a:t>    MAXDATAFILES 100</a:t>
            </a:r>
          </a:p>
          <a:p>
            <a:pPr>
              <a:spcAft>
                <a:spcPts val="0"/>
              </a:spcAft>
            </a:pPr>
            <a:r>
              <a:rPr sz="1250" b="0">
                <a:solidFill>
                  <a:srgbClr val="E6E6E6"/>
                </a:solidFill>
                <a:latin typeface="Consolas"/>
                <a:ea typeface="Consolas"/>
              </a:rPr>
              <a:t>LOGFILE</a:t>
            </a:r>
          </a:p>
          <a:p>
            <a:pPr>
              <a:spcAft>
                <a:spcPts val="0"/>
              </a:spcAft>
            </a:pPr>
            <a:r>
              <a:rPr sz="1250" b="0">
                <a:solidFill>
                  <a:srgbClr val="E6E6E6"/>
                </a:solidFill>
                <a:latin typeface="Consolas"/>
                <a:ea typeface="Consolas"/>
              </a:rPr>
              <a:t>  GROUP 1 (</a:t>
            </a:r>
          </a:p>
          <a:p>
            <a:pPr>
              <a:spcAft>
                <a:spcPts val="0"/>
              </a:spcAft>
            </a:pPr>
            <a:r>
              <a:rPr sz="1250" b="0">
                <a:solidFill>
                  <a:srgbClr val="E6E6E6"/>
                </a:solidFill>
                <a:latin typeface="Consolas"/>
                <a:ea typeface="Consolas"/>
              </a:rPr>
              <a:t>    '/u01/app/oracle/oradata/orcl/redo01.log',</a:t>
            </a:r>
          </a:p>
          <a:p>
            <a:pPr>
              <a:spcAft>
                <a:spcPts val="0"/>
              </a:spcAft>
            </a:pPr>
            <a:r>
              <a:rPr sz="1250" b="0">
                <a:solidFill>
                  <a:srgbClr val="E6E6E6"/>
                </a:solidFill>
                <a:latin typeface="Consolas"/>
                <a:ea typeface="Consolas"/>
              </a:rPr>
              <a:t>    '/u02/oradata/orcl/redo01b.log'</a:t>
            </a:r>
          </a:p>
          <a:p>
            <a:pPr>
              <a:spcAft>
                <a:spcPts val="0"/>
              </a:spcAft>
            </a:pPr>
            <a:r>
              <a:rPr sz="1250" b="0">
                <a:solidFill>
                  <a:srgbClr val="E6E6E6"/>
                </a:solidFill>
                <a:latin typeface="Consolas"/>
                <a:ea typeface="Consolas"/>
              </a:rPr>
              <a:t>  ) SIZE 200M BLOCKSIZE 512</a:t>
            </a:r>
          </a:p>
          <a:p>
            <a:pPr>
              <a:spcAft>
                <a:spcPts val="0"/>
              </a:spcAft>
            </a:pPr>
            <a:r>
              <a:rPr sz="1250" b="0">
                <a:solidFill>
                  <a:srgbClr val="E6E6E6"/>
                </a:solidFill>
                <a:latin typeface="Consolas"/>
                <a:ea typeface="Consolas"/>
              </a:rPr>
              <a:t>DATAFILE</a:t>
            </a:r>
          </a:p>
          <a:p>
            <a:pPr>
              <a:spcAft>
                <a:spcPts val="0"/>
              </a:spcAft>
            </a:pPr>
            <a:r>
              <a:rPr sz="1250" b="0">
                <a:solidFill>
                  <a:srgbClr val="E6E6E6"/>
                </a:solidFill>
                <a:latin typeface="Consolas"/>
                <a:ea typeface="Consolas"/>
              </a:rPr>
              <a:t>  '/u01/app/oracle/oradata/orcl/system01.dbf',</a:t>
            </a:r>
          </a:p>
          <a:p>
            <a:pPr>
              <a:spcAft>
                <a:spcPts val="0"/>
              </a:spcAft>
            </a:pPr>
            <a:r>
              <a:rPr sz="1250" b="0">
                <a:solidFill>
                  <a:srgbClr val="E6E6E6"/>
                </a:solidFill>
                <a:latin typeface="Consolas"/>
                <a:ea typeface="Consolas"/>
              </a:rPr>
              <a:t>  '/u01/app/oracle/oradata/orcl/users01.dbf'</a:t>
            </a:r>
          </a:p>
          <a:p>
            <a:pPr>
              <a:spcAft>
                <a:spcPts val="0"/>
              </a:spcAft>
            </a:pPr>
            <a:r>
              <a:rPr sz="1250" b="0">
                <a:solidFill>
                  <a:srgbClr val="E6E6E6"/>
                </a:solidFill>
                <a:latin typeface="Consolas"/>
                <a:ea typeface="Consolas"/>
              </a:rPr>
              <a:t>CHARACTER SET AL32UTF8</a:t>
            </a:r>
          </a:p>
          <a:p>
            <a:pPr>
              <a:spcAft>
                <a:spcPts val="0"/>
              </a:spcAft>
            </a:pPr>
            <a:r>
              <a:rPr sz="1250" b="0">
                <a:solidFill>
                  <a:srgbClr val="E6E6E6"/>
                </a:solidFill>
                <a:latin typeface="Consolas"/>
                <a:ea typeface="Consolas"/>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CREATE CONTROLFILE 구성 요소</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REUSE / SET DATABASE — 덮어쓰기 / 이름 변경(복제용)</a:t>
            </a:r>
          </a:p>
          <a:p>
            <a:pPr>
              <a:spcAft>
                <a:spcPts val="600"/>
              </a:spcAft>
            </a:pPr>
            <a:r>
              <a:rPr sz="1800" b="0">
                <a:solidFill>
                  <a:srgbClr val="202830"/>
                </a:solidFill>
                <a:latin typeface="Malgun Gothic"/>
                <a:ea typeface="Malgun Gothic"/>
              </a:rPr>
              <a:t>•  NORESETLOGS · RESETLOGS — 리두 처리 방식 결정</a:t>
            </a:r>
          </a:p>
          <a:p>
            <a:pPr>
              <a:spcAft>
                <a:spcPts val="600"/>
              </a:spcAft>
            </a:pPr>
            <a:r>
              <a:rPr sz="1800" b="0">
                <a:solidFill>
                  <a:srgbClr val="202830"/>
                </a:solidFill>
                <a:latin typeface="Malgun Gothic"/>
                <a:ea typeface="Malgun Gothic"/>
              </a:rPr>
              <a:t>•  LOGFILE 절 — 모든 그룹과 멤버, SIZE·BLOCKSIZE가 실제와 일치해야 함</a:t>
            </a:r>
          </a:p>
          <a:p>
            <a:pPr>
              <a:spcAft>
                <a:spcPts val="600"/>
              </a:spcAft>
            </a:pPr>
            <a:r>
              <a:rPr sz="1800" b="0">
                <a:solidFill>
                  <a:srgbClr val="202830"/>
                </a:solidFill>
                <a:latin typeface="Malgun Gothic"/>
                <a:ea typeface="Malgun Gothic"/>
              </a:rPr>
              <a:t>•  DATAFILE 절 — 모든 데이터파일을 빠짐없이 나열</a:t>
            </a:r>
          </a:p>
          <a:p>
            <a:pPr>
              <a:spcAft>
                <a:spcPts val="600"/>
              </a:spcAft>
            </a:pPr>
            <a:r>
              <a:rPr sz="1600" b="0">
                <a:solidFill>
                  <a:srgbClr val="5A6672"/>
                </a:solidFill>
                <a:latin typeface="Malgun Gothic"/>
                <a:ea typeface="Malgun Gothic"/>
              </a:rPr>
              <a:t>    –  빠진 파일은 등록되지 않아 사실상 사라진 것이 됨</a:t>
            </a:r>
          </a:p>
          <a:p>
            <a:pPr>
              <a:spcAft>
                <a:spcPts val="600"/>
              </a:spcAft>
            </a:pPr>
            <a:r>
              <a:rPr sz="1600" b="0">
                <a:solidFill>
                  <a:srgbClr val="5A6672"/>
                </a:solidFill>
                <a:latin typeface="Malgun Gothic"/>
                <a:ea typeface="Malgun Gothic"/>
              </a:rPr>
              <a:t>    –  TEMP 파일은 나열하지 않는다 — 재생성 후 별도 추가</a:t>
            </a:r>
          </a:p>
          <a:p>
            <a:pPr>
              <a:spcAft>
                <a:spcPts val="600"/>
              </a:spcAft>
            </a:pPr>
            <a:r>
              <a:rPr sz="1800" b="0">
                <a:solidFill>
                  <a:srgbClr val="202830"/>
                </a:solidFill>
                <a:latin typeface="Malgun Gothic"/>
                <a:ea typeface="Malgun Gothic"/>
              </a:rPr>
              <a:t>•  MAXDATAFILES 등은 현재보다 넉넉하게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재생성 절차</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NOMOUNT 상태에서 수행 — MOUNT까지 갈 수 없고 갈 필요도 없다</a:t>
            </a:r>
          </a:p>
          <a:p>
            <a:pPr>
              <a:spcAft>
                <a:spcPts val="600"/>
              </a:spcAft>
            </a:pPr>
            <a:r>
              <a:rPr sz="1600" b="0">
                <a:solidFill>
                  <a:srgbClr val="5A6672"/>
                </a:solidFill>
                <a:latin typeface="Malgun Gothic"/>
                <a:ea typeface="Malgun Gothic"/>
              </a:rPr>
              <a:t>    –  CREATE CONTROLFILE 이 성공하면 자동으로 MOUNT 상태가 됨</a:t>
            </a:r>
          </a:p>
          <a:p>
            <a:pPr>
              <a:spcAft>
                <a:spcPts val="600"/>
              </a:spcAft>
            </a:pPr>
            <a:r>
              <a:rPr sz="1800" b="0">
                <a:solidFill>
                  <a:srgbClr val="202830"/>
                </a:solidFill>
                <a:latin typeface="Malgun Gothic"/>
                <a:ea typeface="Malgun Gothic"/>
              </a:rPr>
              <a:t>•  기존 컨트롤파일 파일이 남아 있으면 미리 삭제</a:t>
            </a:r>
          </a:p>
          <a:p>
            <a:pPr>
              <a:spcAft>
                <a:spcPts val="600"/>
              </a:spcAft>
            </a:pPr>
            <a:r>
              <a:rPr sz="1800" b="0">
                <a:solidFill>
                  <a:srgbClr val="202830"/>
                </a:solidFill>
                <a:latin typeface="Malgun Gothic"/>
                <a:ea typeface="Malgun Gothic"/>
              </a:rPr>
              <a:t>•  재생성 후 처리는 형식에 따라 갈림</a:t>
            </a:r>
          </a:p>
          <a:p>
            <a:pPr>
              <a:spcAft>
                <a:spcPts val="600"/>
              </a:spcAft>
            </a:pPr>
            <a:r>
              <a:rPr sz="1600" b="0">
                <a:solidFill>
                  <a:srgbClr val="5A6672"/>
                </a:solidFill>
                <a:latin typeface="Malgun Gothic"/>
                <a:ea typeface="Malgun Gothic"/>
              </a:rPr>
              <a:t>    –  NORESETLOGS → ALTER DATABASE OPEN 으로 바로</a:t>
            </a:r>
          </a:p>
          <a:p>
            <a:pPr>
              <a:spcAft>
                <a:spcPts val="600"/>
              </a:spcAft>
            </a:pPr>
            <a:r>
              <a:rPr sz="1600" b="0">
                <a:solidFill>
                  <a:srgbClr val="5A6672"/>
                </a:solidFill>
                <a:latin typeface="Malgun Gothic"/>
                <a:ea typeface="Malgun Gothic"/>
              </a:rPr>
              <a:t>    –  RESETLOGS → 복구 후 OPEN RESETLOGS</a:t>
            </a:r>
          </a:p>
          <a:p>
            <a:pPr>
              <a:spcAft>
                <a:spcPts val="600"/>
              </a:spcAft>
            </a:pPr>
            <a:r>
              <a:rPr sz="1800" b="0">
                <a:solidFill>
                  <a:srgbClr val="202830"/>
                </a:solidFill>
                <a:latin typeface="Malgun Gothic"/>
                <a:ea typeface="Malgun Gothic"/>
              </a:rPr>
              <a:t>•  새로 만든 컨트롤파일도 '백업 컨트롤파일'로 간주된다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재생성 실행</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NOMOUNT → CREATE CONTROLFILE →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!rm -f /u01/app/oracle/oradata/orcl/*.ctl /u02/oradata/orcl/*.ctl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NOMOUNT</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@/home/oracle/backup/cf_20250510.sql</a:t>
            </a:r>
          </a:p>
          <a:p>
            <a:pPr>
              <a:spcAft>
                <a:spcPts val="0"/>
              </a:spcAft>
            </a:pPr>
            <a:r>
              <a:rPr sz="1250" b="0">
                <a:solidFill>
                  <a:srgbClr val="E6E6E6"/>
                </a:solidFill>
                <a:latin typeface="Consolas"/>
                <a:ea typeface="Consolas"/>
              </a:rPr>
              <a:t>Control file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name, open_mode FROM v$database;</a:t>
            </a:r>
          </a:p>
          <a:p>
            <a:pPr>
              <a:spcAft>
                <a:spcPts val="0"/>
              </a:spcAft>
            </a:pPr>
            <a:r>
              <a:rPr sz="1250" b="0">
                <a:solidFill>
                  <a:srgbClr val="E6E6E6"/>
                </a:solidFill>
                <a:latin typeface="Consolas"/>
                <a:ea typeface="Consolas"/>
              </a:rPr>
              <a:t>NAME      OPEN_MODE</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ORCL      MOUNTED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재생성 중 자주 나는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ORA-01503 — 생성 실패 총괄. 뒤에 붙는 오류가 실제 원인</a:t>
            </a:r>
          </a:p>
          <a:p>
            <a:pPr>
              <a:spcAft>
                <a:spcPts val="600"/>
              </a:spcAft>
            </a:pPr>
            <a:r>
              <a:rPr sz="1800" b="0">
                <a:solidFill>
                  <a:srgbClr val="202830"/>
                </a:solidFill>
                <a:latin typeface="Malgun Gothic"/>
                <a:ea typeface="Malgun Gothic"/>
              </a:rPr>
              <a:t>•  ORA-01565 — 나열한 파일을 열 수 없음 (경로 오타 · 파일 부재)</a:t>
            </a:r>
          </a:p>
          <a:p>
            <a:pPr>
              <a:spcAft>
                <a:spcPts val="600"/>
              </a:spcAft>
            </a:pPr>
            <a:r>
              <a:rPr sz="1800" b="0">
                <a:solidFill>
                  <a:srgbClr val="202830"/>
                </a:solidFill>
                <a:latin typeface="Malgun Gothic"/>
                <a:ea typeface="Malgun Gothic"/>
              </a:rPr>
              <a:t>•  ORA-01161 — 파일 안의 DB 이름이 문의 이름과 다름</a:t>
            </a:r>
          </a:p>
          <a:p>
            <a:pPr>
              <a:spcAft>
                <a:spcPts val="600"/>
              </a:spcAft>
            </a:pPr>
            <a:r>
              <a:rPr sz="1800" b="0">
                <a:solidFill>
                  <a:srgbClr val="202830"/>
                </a:solidFill>
                <a:latin typeface="Malgun Gothic"/>
                <a:ea typeface="Malgun Gothic"/>
              </a:rPr>
              <a:t>•  ORA-01163 — 파일 크기가 문에 적힌 값과 다름 (리두 SIZE 오기)</a:t>
            </a:r>
          </a:p>
          <a:p>
            <a:pPr>
              <a:spcAft>
                <a:spcPts val="600"/>
              </a:spcAft>
            </a:pPr>
            <a:r>
              <a:rPr sz="1800" b="0">
                <a:solidFill>
                  <a:srgbClr val="202830"/>
                </a:solidFill>
                <a:latin typeface="Malgun Gothic"/>
                <a:ea typeface="Malgun Gothic"/>
              </a:rPr>
              <a:t>•  ORA-01507 — MOUNT 상태에서 실행함. NOMOUNT에서 실행할 것</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정상 종료와 비정상 종료</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FUZZY 컬럼이 두 경로를 가른다</a:t>
            </a:r>
          </a:p>
          <a:p>
            <a:pPr>
              <a:spcAft>
                <a:spcPts val="600"/>
              </a:spcAft>
            </a:pPr>
            <a:r>
              <a:rPr sz="1600" b="0">
                <a:solidFill>
                  <a:srgbClr val="C5CED6"/>
                </a:solidFill>
                <a:latin typeface="Malgun Gothic"/>
                <a:ea typeface="Malgun Gothic"/>
              </a:rPr>
              <a:t>•  정상 종료 → NORESETLOGS, 손실도 인카네이션 증가도 없음</a:t>
            </a:r>
          </a:p>
          <a:p>
            <a:pPr>
              <a:spcAft>
                <a:spcPts val="600"/>
              </a:spcAft>
            </a:pPr>
            <a:r>
              <a:rPr sz="1600" b="0">
                <a:solidFill>
                  <a:srgbClr val="C5CED6"/>
                </a:solidFill>
                <a:latin typeface="Malgun Gothic"/>
                <a:ea typeface="Malgun Gothic"/>
              </a:rPr>
              <a:t>•  비정상 종료 → 리두 수동 적용 후 RESETLOGS 강제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정상 종료 후 손상 — NORESETLOGS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SHUTDOWN IMMEDIATE 로 내린 뒤 컨트롤파일 유실</a:t>
            </a:r>
          </a:p>
          <a:p>
            <a:pPr>
              <a:spcAft>
                <a:spcPts val="600"/>
              </a:spcAft>
            </a:pPr>
            <a:r>
              <a:rPr sz="1600" b="0">
                <a:solidFill>
                  <a:srgbClr val="5A6672"/>
                </a:solidFill>
                <a:latin typeface="Malgun Gothic"/>
                <a:ea typeface="Malgun Gothic"/>
              </a:rPr>
              <a:t>    –  모든 데이터파일이 같은 SCN에서 일관성 있게 닫힘</a:t>
            </a:r>
          </a:p>
          <a:p>
            <a:pPr>
              <a:spcAft>
                <a:spcPts val="600"/>
              </a:spcAft>
            </a:pPr>
            <a:r>
              <a:rPr sz="1600" b="0">
                <a:solidFill>
                  <a:srgbClr val="5A6672"/>
                </a:solidFill>
                <a:latin typeface="Malgun Gothic"/>
                <a:ea typeface="Malgun Gothic"/>
              </a:rPr>
              <a:t>    –  리두 로그도 온전하고 미적용 리두가 없음</a:t>
            </a:r>
          </a:p>
          <a:p>
            <a:pPr>
              <a:spcAft>
                <a:spcPts val="600"/>
              </a:spcAft>
            </a:pPr>
            <a:r>
              <a:rPr sz="1800" b="0">
                <a:solidFill>
                  <a:srgbClr val="202830"/>
                </a:solidFill>
                <a:latin typeface="Malgun Gothic"/>
                <a:ea typeface="Malgun Gothic"/>
              </a:rPr>
              <a:t>•  NORESETLOGS 형식으로 재생성하면 그대로 열림</a:t>
            </a:r>
          </a:p>
          <a:p>
            <a:pPr>
              <a:spcAft>
                <a:spcPts val="600"/>
              </a:spcAft>
            </a:pPr>
            <a:r>
              <a:rPr sz="1600" b="0">
                <a:solidFill>
                  <a:srgbClr val="5A6672"/>
                </a:solidFill>
                <a:latin typeface="Malgun Gothic"/>
                <a:ea typeface="Malgun Gothic"/>
              </a:rPr>
              <a:t>    –  복구도 RESETLOGS도 불필요</a:t>
            </a:r>
          </a:p>
          <a:p>
            <a:pPr>
              <a:spcAft>
                <a:spcPts val="600"/>
              </a:spcAft>
            </a:pPr>
            <a:r>
              <a:rPr sz="1600" b="0">
                <a:solidFill>
                  <a:srgbClr val="5A6672"/>
                </a:solidFill>
                <a:latin typeface="Malgun Gothic"/>
                <a:ea typeface="Malgun Gothic"/>
              </a:rPr>
              <a:t>    –  인카네이션이 그대로여서 기존 백업본이 계속 유효</a:t>
            </a:r>
          </a:p>
          <a:p>
            <a:pPr>
              <a:spcAft>
                <a:spcPts val="600"/>
              </a:spcAft>
            </a:pPr>
            <a:r>
              <a:rPr sz="1800" b="0">
                <a:solidFill>
                  <a:srgbClr val="202830"/>
                </a:solidFill>
                <a:latin typeface="Malgun Gothic"/>
                <a:ea typeface="Malgun Gothic"/>
              </a:rPr>
              <a:t>•  사본 복사 다음으로 손실이 적은 경로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비정상 종료 후 손상 — RESETLOGS 강제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SHUTDOWN ABORT · 정전 뒤 컨트롤파일 유실</a:t>
            </a:r>
          </a:p>
          <a:p>
            <a:pPr>
              <a:spcAft>
                <a:spcPts val="600"/>
              </a:spcAft>
            </a:pPr>
            <a:r>
              <a:rPr sz="1600" b="0">
                <a:solidFill>
                  <a:srgbClr val="5A6672"/>
                </a:solidFill>
                <a:latin typeface="Malgun Gothic"/>
                <a:ea typeface="Malgun Gothic"/>
              </a:rPr>
              <a:t>    –  데이터파일마다 SCN이 다르고 FUZZY가 YES</a:t>
            </a:r>
          </a:p>
          <a:p>
            <a:pPr>
              <a:spcAft>
                <a:spcPts val="600"/>
              </a:spcAft>
            </a:pPr>
            <a:r>
              <a:rPr sz="1800" b="0">
                <a:solidFill>
                  <a:srgbClr val="202830"/>
                </a:solidFill>
                <a:latin typeface="Malgun Gothic"/>
                <a:ea typeface="Malgun Gothic"/>
              </a:rPr>
              <a:t>•  새 컨트롤파일은 인스턴스 복구 정보를 갖고 있지 않음</a:t>
            </a:r>
          </a:p>
          <a:p>
            <a:pPr>
              <a:spcAft>
                <a:spcPts val="600"/>
              </a:spcAft>
            </a:pPr>
            <a:r>
              <a:rPr sz="1600" b="0">
                <a:solidFill>
                  <a:srgbClr val="5A6672"/>
                </a:solidFill>
                <a:latin typeface="Malgun Gothic"/>
                <a:ea typeface="Malgun Gothic"/>
              </a:rPr>
              <a:t>    –  ALTER DATABASE OPEN 이 ORA-01113으로 거부됨</a:t>
            </a:r>
          </a:p>
          <a:p>
            <a:pPr>
              <a:spcAft>
                <a:spcPts val="600"/>
              </a:spcAft>
            </a:pPr>
            <a:r>
              <a:rPr sz="1800" b="0">
                <a:solidFill>
                  <a:srgbClr val="202830"/>
                </a:solidFill>
                <a:latin typeface="Malgun Gothic"/>
                <a:ea typeface="Malgun Gothic"/>
              </a:rPr>
              <a:t>•  RECOVER DATABASE USING BACKUP CONTROLFILE 로 리두 수동 적용</a:t>
            </a:r>
          </a:p>
          <a:p>
            <a:pPr>
              <a:spcAft>
                <a:spcPts val="600"/>
              </a:spcAft>
            </a:pPr>
            <a:r>
              <a:rPr sz="1600" b="0">
                <a:solidFill>
                  <a:srgbClr val="5A6672"/>
                </a:solidFill>
                <a:latin typeface="Malgun Gothic"/>
                <a:ea typeface="Malgun Gothic"/>
              </a:rPr>
              <a:t>    –  온라인 리두 경로를 프롬프트에 직접 입력 → CANCEL → OPEN RESETLOGS</a:t>
            </a:r>
          </a:p>
          <a:p>
            <a:pPr>
              <a:spcAft>
                <a:spcPts val="600"/>
              </a:spcAft>
            </a:pPr>
            <a:r>
              <a:rPr sz="1800" b="0">
                <a:solidFill>
                  <a:srgbClr val="202830"/>
                </a:solidFill>
                <a:latin typeface="Malgun Gothic"/>
                <a:ea typeface="Malgun Gothic"/>
              </a:rPr>
              <a:t>•  데이터 손실이 없더라도 인카네이션은 올라간다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FUZZY 판정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정상 종료 vs 비정상 종료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정상 종료 상태</a:t>
            </a:r>
          </a:p>
          <a:p>
            <a:pPr>
              <a:spcAft>
                <a:spcPts val="0"/>
              </a:spcAft>
            </a:pPr>
            <a:r>
              <a:rPr sz="1250" b="0">
                <a:solidFill>
                  <a:srgbClr val="E6E6E6"/>
                </a:solidFill>
                <a:latin typeface="Consolas"/>
                <a:ea typeface="Consolas"/>
              </a:rPr>
              <a:t>     FILE# STATUS  CHECKPOINT_CHANGE# FUZ</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ONLINE             2384100 NO</a:t>
            </a:r>
          </a:p>
          <a:p>
            <a:pPr>
              <a:spcAft>
                <a:spcPts val="0"/>
              </a:spcAft>
            </a:pPr>
            <a:r>
              <a:rPr sz="1250" b="0">
                <a:solidFill>
                  <a:srgbClr val="E6E6E6"/>
                </a:solidFill>
                <a:latin typeface="Consolas"/>
                <a:ea typeface="Consolas"/>
              </a:rPr>
              <a:t>         3 ONLINE             2384100 NO</a:t>
            </a:r>
          </a:p>
          <a:p>
            <a:pPr>
              <a:spcAft>
                <a:spcPts val="0"/>
              </a:spcAft>
            </a:pPr>
            <a:r>
              <a:rPr sz="1250" b="0">
                <a:solidFill>
                  <a:srgbClr val="E6E6E6"/>
                </a:solidFill>
                <a:latin typeface="Consolas"/>
                <a:ea typeface="Consolas"/>
              </a:rPr>
              <a:t>         7 ONLINE             2384100 NO</a:t>
            </a:r>
          </a:p>
          <a:p>
            <a:pPr>
              <a:spcAft>
                <a:spcPts val="0"/>
              </a:spcAft>
            </a:pPr>
            <a:r>
              <a:rPr sz="1250" b="0">
                <a:solidFill>
                  <a:srgbClr val="7EC699"/>
                </a:solidFill>
                <a:latin typeface="Consolas"/>
                <a:ea typeface="Consolas"/>
              </a:rPr>
              <a:t>-- SCN이 모두 같고 FUZZY가 NO → NORESETLOGS 경로</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비정상 종료 상태</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2385220 YES</a:t>
            </a:r>
          </a:p>
          <a:p>
            <a:pPr>
              <a:spcAft>
                <a:spcPts val="0"/>
              </a:spcAft>
            </a:pPr>
            <a:r>
              <a:rPr sz="1250" b="0">
                <a:solidFill>
                  <a:srgbClr val="E6E6E6"/>
                </a:solidFill>
                <a:latin typeface="Consolas"/>
                <a:ea typeface="Consolas"/>
              </a:rPr>
              <a:t>         7            2385180 YES</a:t>
            </a:r>
          </a:p>
          <a:p>
            <a:pPr>
              <a:spcAft>
                <a:spcPts val="0"/>
              </a:spcAft>
            </a:pPr>
            <a:r>
              <a:rPr sz="1250" b="0">
                <a:solidFill>
                  <a:srgbClr val="7EC699"/>
                </a:solidFill>
                <a:latin typeface="Consolas"/>
                <a:ea typeface="Consolas"/>
              </a:rPr>
              <a:t>-- SCN이 어긋나고 FUZZY가 YES → RESETLOGS 경로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판정이 애매할 때의 순서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alert log에서 마지막 종료 기록 확인 — 가장 확실한 근거</a:t>
            </a:r>
          </a:p>
          <a:p>
            <a:pPr>
              <a:spcAft>
                <a:spcPts val="600"/>
              </a:spcAft>
            </a:pPr>
            <a:r>
              <a:rPr sz="1800" b="0">
                <a:solidFill>
                  <a:srgbClr val="202830"/>
                </a:solidFill>
                <a:latin typeface="Malgun Gothic"/>
                <a:ea typeface="Malgun Gothic"/>
              </a:rPr>
              <a:t>•  ② trace가 있으면 NORESETLOGS 형식으로 먼저 시도</a:t>
            </a:r>
          </a:p>
          <a:p>
            <a:pPr>
              <a:spcAft>
                <a:spcPts val="600"/>
              </a:spcAft>
            </a:pPr>
            <a:r>
              <a:rPr sz="1800" b="0">
                <a:solidFill>
                  <a:srgbClr val="202830"/>
                </a:solidFill>
                <a:latin typeface="Malgun Gothic"/>
                <a:ea typeface="Malgun Gothic"/>
              </a:rPr>
              <a:t>•  ③ 실패하면 컨트롤파일을 지우고 RESETLOGS 형식으로 재생성</a:t>
            </a:r>
          </a:p>
          <a:p>
            <a:pPr>
              <a:spcAft>
                <a:spcPts val="600"/>
              </a:spcAft>
            </a:pPr>
            <a:r>
              <a:rPr sz="1800" b="0">
                <a:solidFill>
                  <a:srgbClr val="202830"/>
                </a:solidFill>
                <a:latin typeface="Malgun Gothic"/>
                <a:ea typeface="Malgun Gothic"/>
              </a:rPr>
              <a:t>•  ④ 재생성 전 데이터파일·리두 로그를 별도 위치로 복사</a:t>
            </a:r>
          </a:p>
          <a:p>
            <a:pPr>
              <a:spcAft>
                <a:spcPts val="600"/>
              </a:spcAft>
            </a:pPr>
            <a:r>
              <a:rPr sz="1600" b="0">
                <a:solidFill>
                  <a:srgbClr val="5A6672"/>
                </a:solidFill>
                <a:latin typeface="Malgun Gothic"/>
                <a:ea typeface="Malgun Gothic"/>
              </a:rPr>
              <a:t>    –  시도가 실패해도 원상 복귀할 수 있게 함</a:t>
            </a:r>
          </a:p>
          <a:p>
            <a:pPr>
              <a:spcAft>
                <a:spcPts val="600"/>
              </a:spcAft>
            </a:pPr>
            <a:r>
              <a:rPr sz="1800" b="0">
                <a:solidFill>
                  <a:srgbClr val="202830"/>
                </a:solidFill>
                <a:latin typeface="Malgun Gothic"/>
                <a:ea typeface="Malgun Gothic"/>
              </a:rPr>
              <a:t>•  ⑤ 어느 경로든 성공 후 즉시 전체 백업</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데이터파일과 컨트롤파일 동시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언제나 컨트롤파일이 먼저다</a:t>
            </a:r>
          </a:p>
          <a:p>
            <a:pPr>
              <a:spcAft>
                <a:spcPts val="600"/>
              </a:spcAft>
            </a:pPr>
            <a:r>
              <a:rPr sz="1600" b="0">
                <a:solidFill>
                  <a:srgbClr val="C5CED6"/>
                </a:solidFill>
                <a:latin typeface="Malgun Gothic"/>
                <a:ea typeface="Malgun Gothic"/>
              </a:rPr>
              <a:t>•  MOUNT가 되어야 데이터파일 상태를 판정할 수 있다</a:t>
            </a:r>
          </a:p>
          <a:p>
            <a:pPr>
              <a:spcAft>
                <a:spcPts val="600"/>
              </a:spcAft>
            </a:pPr>
            <a:r>
              <a:rPr sz="1600" b="0">
                <a:solidFill>
                  <a:srgbClr val="C5CED6"/>
                </a:solidFill>
                <a:latin typeface="Malgun Gothic"/>
                <a:ea typeface="Malgun Gothic"/>
              </a:rPr>
              <a:t>•  리두 유무가 부분 복원과 전체 복원을 가른다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처리 순서와 판정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컨트롤파일이 먼저 — MOUNT가 되어야 v$recover_file 조회 가능</a:t>
            </a:r>
          </a:p>
          <a:p>
            <a:pPr>
              <a:spcAft>
                <a:spcPts val="600"/>
              </a:spcAft>
            </a:pPr>
            <a:r>
              <a:rPr sz="1600" b="0">
                <a:solidFill>
                  <a:srgbClr val="5A6672"/>
                </a:solidFill>
                <a:latin typeface="Malgun Gothic"/>
                <a:ea typeface="Malgun Gothic"/>
              </a:rPr>
              <a:t>    –  순서를 뒤집으면 진단 자체가 불가능</a:t>
            </a:r>
          </a:p>
          <a:p>
            <a:pPr>
              <a:spcAft>
                <a:spcPts val="600"/>
              </a:spcAft>
            </a:pPr>
            <a:r>
              <a:rPr sz="1800" b="0">
                <a:solidFill>
                  <a:srgbClr val="202830"/>
                </a:solidFill>
                <a:latin typeface="Malgun Gothic"/>
                <a:ea typeface="Malgun Gothic"/>
              </a:rPr>
              <a:t>•  컨트롤파일을 세운 뒤 4장의 네 단계 판정 적용</a:t>
            </a:r>
          </a:p>
          <a:p>
            <a:pPr>
              <a:spcAft>
                <a:spcPts val="600"/>
              </a:spcAft>
            </a:pPr>
            <a:r>
              <a:rPr sz="1600" b="0">
                <a:solidFill>
                  <a:srgbClr val="5A6672"/>
                </a:solidFill>
                <a:latin typeface="Malgun Gothic"/>
                <a:ea typeface="Malgun Gothic"/>
              </a:rPr>
              <a:t>    –  ① 어느 파일이 손상되었는가</a:t>
            </a:r>
          </a:p>
          <a:p>
            <a:pPr>
              <a:spcAft>
                <a:spcPts val="600"/>
              </a:spcAft>
            </a:pPr>
            <a:r>
              <a:rPr sz="1600" b="0">
                <a:solidFill>
                  <a:srgbClr val="5A6672"/>
                </a:solidFill>
                <a:latin typeface="Malgun Gothic"/>
                <a:ea typeface="Malgun Gothic"/>
              </a:rPr>
              <a:t>    –  ② 백업본에 그 파일이 있는가</a:t>
            </a:r>
          </a:p>
          <a:p>
            <a:pPr>
              <a:spcAft>
                <a:spcPts val="600"/>
              </a:spcAft>
            </a:pPr>
            <a:r>
              <a:rPr sz="1600" b="0">
                <a:solidFill>
                  <a:srgbClr val="5A6672"/>
                </a:solidFill>
                <a:latin typeface="Malgun Gothic"/>
                <a:ea typeface="Malgun Gothic"/>
              </a:rPr>
              <a:t>    –  ③ 백업 이후의 리두가 남아 있는가</a:t>
            </a:r>
          </a:p>
          <a:p>
            <a:pPr>
              <a:spcAft>
                <a:spcPts val="600"/>
              </a:spcAft>
            </a:pPr>
            <a:r>
              <a:rPr sz="1600" b="0">
                <a:solidFill>
                  <a:srgbClr val="5A6672"/>
                </a:solidFill>
                <a:latin typeface="Malgun Gothic"/>
                <a:ea typeface="Malgun Gothic"/>
              </a:rPr>
              <a:t>    –  ④ 그 파일을 떼어 낼 수 있는가</a:t>
            </a:r>
          </a:p>
          <a:p>
            <a:pPr>
              <a:spcAft>
                <a:spcPts val="600"/>
              </a:spcAft>
            </a:pPr>
            <a:r>
              <a:rPr sz="1800" b="0">
                <a:solidFill>
                  <a:srgbClr val="202830"/>
                </a:solidFill>
                <a:latin typeface="Malgun Gothic"/>
                <a:ea typeface="Malgun Gothic"/>
              </a:rPr>
              <a:t>•  복구 명령에는 반드시 USING BACKUP CONTROLFILE 절</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유무에 따른 분기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리두 있음 — 부분 복원으로 완전 복구</a:t>
            </a:r>
          </a:p>
          <a:p>
            <a:pPr>
              <a:spcAft>
                <a:spcPts val="600"/>
              </a:spcAft>
            </a:pPr>
            <a:r>
              <a:rPr sz="1600" b="0">
                <a:solidFill>
                  <a:srgbClr val="5A6672"/>
                </a:solidFill>
                <a:latin typeface="Malgun Gothic"/>
                <a:ea typeface="Malgun Gothic"/>
              </a:rPr>
              <a:t>    –  DF 복원 → CF 재생성 → 복구 → OPEN RESETLOGS</a:t>
            </a:r>
          </a:p>
          <a:p>
            <a:pPr>
              <a:spcAft>
                <a:spcPts val="600"/>
              </a:spcAft>
            </a:pPr>
            <a:r>
              <a:rPr sz="1600" b="0">
                <a:solidFill>
                  <a:srgbClr val="5A6672"/>
                </a:solidFill>
                <a:latin typeface="Malgun Gothic"/>
                <a:ea typeface="Malgun Gothic"/>
              </a:rPr>
              <a:t>    –  데이터 손실 없음, 인카네이션은 올라감</a:t>
            </a:r>
          </a:p>
          <a:p>
            <a:pPr>
              <a:spcAft>
                <a:spcPts val="600"/>
              </a:spcAft>
            </a:pPr>
            <a:r>
              <a:rPr sz="1800" b="0">
                <a:solidFill>
                  <a:srgbClr val="202830"/>
                </a:solidFill>
                <a:latin typeface="Malgun Gothic"/>
                <a:ea typeface="Malgun Gothic"/>
              </a:rPr>
              <a:t>•  리두 없음 — 전체 복원</a:t>
            </a:r>
          </a:p>
          <a:p>
            <a:pPr>
              <a:spcAft>
                <a:spcPts val="600"/>
              </a:spcAft>
            </a:pPr>
            <a:r>
              <a:rPr sz="1600" b="0">
                <a:solidFill>
                  <a:srgbClr val="5A6672"/>
                </a:solidFill>
                <a:latin typeface="Malgun Gothic"/>
                <a:ea typeface="Malgun Gothic"/>
              </a:rPr>
              <a:t>    –  복원한 DF와 나머지 파일의 SCN이 어긋나 OPEN 거부</a:t>
            </a:r>
          </a:p>
          <a:p>
            <a:pPr>
              <a:spcAft>
                <a:spcPts val="600"/>
              </a:spcAft>
            </a:pPr>
            <a:r>
              <a:rPr sz="1600" b="0">
                <a:solidFill>
                  <a:srgbClr val="5A6672"/>
                </a:solidFill>
                <a:latin typeface="Malgun Gothic"/>
                <a:ea typeface="Malgun Gothic"/>
              </a:rPr>
              <a:t>    –  DF·CF·리두 로그를 모두 백업본으로 교체 → 복구 없이 열림</a:t>
            </a:r>
          </a:p>
          <a:p>
            <a:pPr>
              <a:spcAft>
                <a:spcPts val="600"/>
              </a:spcAft>
            </a:pPr>
            <a:r>
              <a:rPr sz="1600" b="0">
                <a:solidFill>
                  <a:srgbClr val="5A6672"/>
                </a:solidFill>
                <a:latin typeface="Malgun Gothic"/>
                <a:ea typeface="Malgun Gothic"/>
              </a:rPr>
              <a:t>    –  백업 이후 작업 전량 손실 → SCN_TO_TIMESTAMP 로 구간 통보</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6.7</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복구 후 마무리 작업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재생성하면 TEMP 정보가 사라진다</a:t>
            </a:r>
          </a:p>
          <a:p>
            <a:pPr>
              <a:spcAft>
                <a:spcPts val="600"/>
              </a:spcAft>
            </a:pPr>
            <a:r>
              <a:rPr sz="1600" b="0">
                <a:solidFill>
                  <a:srgbClr val="C5CED6"/>
                </a:solidFill>
                <a:latin typeface="Malgun Gothic"/>
                <a:ea typeface="Malgun Gothic"/>
              </a:rPr>
              <a:t>•  RESETLOGS로 열었다면 예외 없이 전체 백업</a:t>
            </a:r>
          </a:p>
          <a:p>
            <a:pPr>
              <a:spcAft>
                <a:spcPts val="600"/>
              </a:spcAft>
            </a:pPr>
            <a:r>
              <a:rPr sz="1600" b="0">
                <a:solidFill>
                  <a:srgbClr val="C5CED6"/>
                </a:solidFill>
                <a:latin typeface="Malgun Gothic"/>
                <a:ea typeface="Malgun Gothic"/>
              </a:rPr>
              <a:t>•  사본 수와 배치를 원래대로 되돌린다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TEMP 재생성과 검증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CREATE CONTROLFILE 문에 TEMP 파일이 없어 정보가 사라짐</a:t>
            </a:r>
          </a:p>
          <a:p>
            <a:pPr>
              <a:spcAft>
                <a:spcPts val="600"/>
              </a:spcAft>
            </a:pPr>
            <a:r>
              <a:rPr sz="1600" b="0">
                <a:solidFill>
                  <a:srgbClr val="5A6672"/>
                </a:solidFill>
                <a:latin typeface="Malgun Gothic"/>
                <a:ea typeface="Malgun Gothic"/>
              </a:rPr>
              <a:t>    –  ALTER TABLESPACE temp ADD TEMPFILE ... REUSE 로 추가</a:t>
            </a:r>
          </a:p>
          <a:p>
            <a:pPr>
              <a:spcAft>
                <a:spcPts val="600"/>
              </a:spcAft>
            </a:pPr>
            <a:r>
              <a:rPr sz="1600" b="0">
                <a:solidFill>
                  <a:srgbClr val="5A6672"/>
                </a:solidFill>
                <a:latin typeface="Malgun Gothic"/>
                <a:ea typeface="Malgun Gothic"/>
              </a:rPr>
              <a:t>    –  추가하지 않으면 큰 정렬에서 ORA-01652</a:t>
            </a:r>
          </a:p>
          <a:p>
            <a:pPr>
              <a:spcAft>
                <a:spcPts val="600"/>
              </a:spcAft>
            </a:pPr>
            <a:r>
              <a:rPr sz="1800" b="0">
                <a:solidFill>
                  <a:srgbClr val="202830"/>
                </a:solidFill>
                <a:latin typeface="Malgun Gothic"/>
                <a:ea typeface="Malgun Gothic"/>
              </a:rPr>
              <a:t>•  RESETLOGS로 열었다면 즉시 전체 백업 — 인카네이션이 달라졌기 때문</a:t>
            </a:r>
          </a:p>
          <a:p>
            <a:pPr>
              <a:spcAft>
                <a:spcPts val="600"/>
              </a:spcAft>
            </a:pPr>
            <a:r>
              <a:rPr sz="1800" b="0">
                <a:solidFill>
                  <a:srgbClr val="202830"/>
                </a:solidFill>
                <a:latin typeface="Malgun Gothic"/>
                <a:ea typeface="Malgun Gothic"/>
              </a:rPr>
              <a:t>•  검증 네 가지</a:t>
            </a:r>
          </a:p>
          <a:p>
            <a:pPr>
              <a:spcAft>
                <a:spcPts val="600"/>
              </a:spcAft>
            </a:pPr>
            <a:r>
              <a:rPr sz="1600" b="0">
                <a:solidFill>
                  <a:srgbClr val="5A6672"/>
                </a:solidFill>
                <a:latin typeface="Malgun Gothic"/>
                <a:ea typeface="Malgun Gothic"/>
              </a:rPr>
              <a:t>    –  v$recover_file 비었는지 · 모든 DF가 ONLINE인지</a:t>
            </a:r>
          </a:p>
          <a:p>
            <a:pPr>
              <a:spcAft>
                <a:spcPts val="600"/>
              </a:spcAft>
            </a:pPr>
            <a:r>
              <a:rPr sz="1600" b="0">
                <a:solidFill>
                  <a:srgbClr val="5A6672"/>
                </a:solidFill>
                <a:latin typeface="Malgun Gothic"/>
                <a:ea typeface="Malgun Gothic"/>
              </a:rPr>
              <a:t>    –  로그 스위치 정상인지 · TEMP 쓰는 정렬 쿼리가 성공하는지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CDB 환경에서 달라지는 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컨트롤파일은 컨테이너 전체에 하나뿐 — PDB별로 갖지 않음</a:t>
            </a:r>
          </a:p>
          <a:p>
            <a:pPr>
              <a:spcAft>
                <a:spcPts val="600"/>
              </a:spcAft>
            </a:pPr>
            <a:r>
              <a:rPr sz="1600" b="0">
                <a:solidFill>
                  <a:srgbClr val="5A6672"/>
                </a:solidFill>
                <a:latin typeface="Malgun Gothic"/>
                <a:ea typeface="Malgun Gothic"/>
              </a:rPr>
              <a:t>    –  따라서 컨트롤파일 장애는 CDB 전체의 장애</a:t>
            </a:r>
          </a:p>
          <a:p>
            <a:pPr>
              <a:spcAft>
                <a:spcPts val="600"/>
              </a:spcAft>
            </a:pPr>
            <a:r>
              <a:rPr sz="1800" b="0">
                <a:solidFill>
                  <a:srgbClr val="202830"/>
                </a:solidFill>
                <a:latin typeface="Malgun Gothic"/>
                <a:ea typeface="Malgun Gothic"/>
              </a:rPr>
              <a:t>•  재생성 시 모든 PDB의 데이터파일이 포함되어야 함</a:t>
            </a:r>
          </a:p>
          <a:p>
            <a:pPr>
              <a:spcAft>
                <a:spcPts val="600"/>
              </a:spcAft>
            </a:pPr>
            <a:r>
              <a:rPr sz="1600" b="0">
                <a:solidFill>
                  <a:srgbClr val="5A6672"/>
                </a:solidFill>
                <a:latin typeface="Malgun Gothic"/>
                <a:ea typeface="Malgun Gothic"/>
              </a:rPr>
              <a:t>    –  TO TRACE 로 뽑으면 자동 포함 — 손으로 나열하는 실수를 피함</a:t>
            </a:r>
          </a:p>
          <a:p>
            <a:pPr>
              <a:spcAft>
                <a:spcPts val="600"/>
              </a:spcAft>
            </a:pPr>
            <a:r>
              <a:rPr sz="1800" b="0">
                <a:solidFill>
                  <a:srgbClr val="202830"/>
                </a:solidFill>
                <a:latin typeface="Malgun Gothic"/>
                <a:ea typeface="Malgun Gothic"/>
              </a:rPr>
              <a:t>•  PDB 단위 복구는 컨트롤파일이 살아 있을 때만 의미가 있음</a:t>
            </a:r>
          </a:p>
          <a:p>
            <a:pPr>
              <a:spcAft>
                <a:spcPts val="600"/>
              </a:spcAft>
            </a:pPr>
            <a:r>
              <a:rPr sz="1600" b="0">
                <a:solidFill>
                  <a:srgbClr val="5A6672"/>
                </a:solidFill>
                <a:latin typeface="Malgun Gothic"/>
                <a:ea typeface="Malgun Gothic"/>
              </a:rPr>
              <a:t>    –  PDB에서 BACKUP CONTROLFILE 실행 시 ORA-65040으로 거부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세 축: 사본 · 백업 · 종료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사본 | 백업/trace | 종료 | 조치                     | 손실</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사본 일부 손상                | 있음 | 무관       | 무관 | 사본 복사                | 없음</a:t>
            </a:r>
          </a:p>
          <a:p>
            <a:pPr>
              <a:spcAft>
                <a:spcPts val="0"/>
              </a:spcAft>
            </a:pPr>
            <a:r>
              <a:rPr sz="1250" b="0">
                <a:solidFill>
                  <a:srgbClr val="E6E6E6"/>
                </a:solidFill>
                <a:latin typeface="Consolas"/>
                <a:ea typeface="Consolas"/>
              </a:rPr>
              <a:t>전체 손상, trace 있음         | 없음 | trace      | 정상 | NORESETLOGS 재생성       | 없음</a:t>
            </a:r>
          </a:p>
          <a:p>
            <a:pPr>
              <a:spcAft>
                <a:spcPts val="0"/>
              </a:spcAft>
            </a:pPr>
            <a:r>
              <a:rPr sz="1250" b="0">
                <a:solidFill>
                  <a:srgbClr val="E6E6E6"/>
                </a:solidFill>
                <a:latin typeface="Consolas"/>
                <a:ea typeface="Consolas"/>
              </a:rPr>
              <a:t>전체 손상, trace 있음         | 없음 | trace      | 비정상| RESETLOGS 재생성 → 복구  | 없음</a:t>
            </a:r>
          </a:p>
          <a:p>
            <a:pPr>
              <a:spcAft>
                <a:spcPts val="0"/>
              </a:spcAft>
            </a:pPr>
            <a:r>
              <a:rPr sz="1250" b="0">
                <a:solidFill>
                  <a:srgbClr val="E6E6E6"/>
                </a:solidFill>
                <a:latin typeface="Consolas"/>
                <a:ea typeface="Consolas"/>
              </a:rPr>
              <a:t>전체 손상, binary 백업만      | 없음 | binary     | 무관 | USING BACKUP CF → RESET  | 없음</a:t>
            </a:r>
          </a:p>
          <a:p>
            <a:pPr>
              <a:spcAft>
                <a:spcPts val="0"/>
              </a:spcAft>
            </a:pPr>
            <a:r>
              <a:rPr sz="1250" b="0">
                <a:solidFill>
                  <a:srgbClr val="E6E6E6"/>
                </a:solidFill>
                <a:latin typeface="Consolas"/>
                <a:ea typeface="Consolas"/>
              </a:rPr>
              <a:t>구조 변경 후 백업 없음        | 없음 | 오래된 것  | 무관 | trace 편집 후 재생성     | 상황별</a:t>
            </a:r>
          </a:p>
          <a:p>
            <a:pPr>
              <a:spcAft>
                <a:spcPts val="0"/>
              </a:spcAft>
            </a:pPr>
            <a:r>
              <a:rPr sz="1250" b="0">
                <a:solidFill>
                  <a:srgbClr val="E6E6E6"/>
                </a:solidFill>
                <a:latin typeface="Consolas"/>
                <a:ea typeface="Consolas"/>
              </a:rPr>
              <a:t>CF + DF 손상, 리두 있음       | 없음 | 있음       | 무관 | CF 먼저 → DF 복원 → 복구 | 없음</a:t>
            </a:r>
          </a:p>
          <a:p>
            <a:pPr>
              <a:spcAft>
                <a:spcPts val="0"/>
              </a:spcAft>
            </a:pPr>
            <a:r>
              <a:rPr sz="1250" b="0">
                <a:solidFill>
                  <a:srgbClr val="E6E6E6"/>
                </a:solidFill>
                <a:latin typeface="Consolas"/>
                <a:ea typeface="Consolas"/>
              </a:rPr>
              <a:t>CF + DF 손상, 리두 없음       | 없음 | 있음       | 무관 | 전체 복원                | 백업 이후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USING BACKUP CONTROLFILE</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RECOVER DATABASE 에 USING BACKUP CONTROLFILE 절을 붙이는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아카이브 로그를 자동으로 찾게 하려고</a:t>
            </a:r>
          </a:p>
          <a:p>
            <a:pPr>
              <a:spcAft>
                <a:spcPts val="800"/>
              </a:spcAft>
            </a:pPr>
            <a:r>
              <a:rPr sz="1700" b="0">
                <a:solidFill>
                  <a:srgbClr val="202830"/>
                </a:solidFill>
                <a:latin typeface="Malgun Gothic"/>
                <a:ea typeface="Malgun Gothic"/>
              </a:rPr>
              <a:t>복구 기준을 컨트롤파일 SCN 대신 데이터파일 헤더로 바꾸려고</a:t>
            </a:r>
          </a:p>
          <a:p>
            <a:pPr>
              <a:spcAft>
                <a:spcPts val="800"/>
              </a:spcAft>
            </a:pPr>
            <a:r>
              <a:rPr sz="1700" b="0">
                <a:solidFill>
                  <a:srgbClr val="202830"/>
                </a:solidFill>
                <a:latin typeface="Malgun Gothic"/>
                <a:ea typeface="Malgun Gothic"/>
              </a:rPr>
              <a:t>RESETLOGS를 생략하려고</a:t>
            </a:r>
          </a:p>
          <a:p>
            <a:pPr>
              <a:spcAft>
                <a:spcPts val="800"/>
              </a:spcAft>
            </a:pPr>
            <a:r>
              <a:rPr sz="1700" b="0">
                <a:solidFill>
                  <a:srgbClr val="202830"/>
                </a:solidFill>
                <a:latin typeface="Malgun Gothic"/>
                <a:ea typeface="Malgun Gothic"/>
              </a:rPr>
              <a:t>리두 로그를 새로 만들려고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trace 형식 선택</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SHUTDOWN IMMEDIATE 로 내린 뒤 컨트롤파일 전체가 유실되었다. 적절한 재생성 형식은?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RESETLOGS 형식 — 리두를 새로 만들어야 하므로</a:t>
            </a:r>
          </a:p>
          <a:p>
            <a:pPr>
              <a:spcAft>
                <a:spcPts val="800"/>
              </a:spcAft>
            </a:pPr>
            <a:r>
              <a:rPr sz="1700" b="0">
                <a:solidFill>
                  <a:srgbClr val="202830"/>
                </a:solidFill>
                <a:latin typeface="Malgun Gothic"/>
                <a:ea typeface="Malgun Gothic"/>
              </a:rPr>
              <a:t>NORESETLOGS 형식 — 리두가 온전하고 일관성 있는 상태이므로</a:t>
            </a:r>
          </a:p>
          <a:p>
            <a:pPr>
              <a:spcAft>
                <a:spcPts val="800"/>
              </a:spcAft>
            </a:pPr>
            <a:r>
              <a:rPr sz="1700" b="0">
                <a:solidFill>
                  <a:srgbClr val="202830"/>
                </a:solidFill>
                <a:latin typeface="Malgun Gothic"/>
                <a:ea typeface="Malgun Gothic"/>
              </a:rPr>
              <a:t>어느 쪽이든 결과가 같다</a:t>
            </a:r>
          </a:p>
          <a:p>
            <a:pPr>
              <a:spcAft>
                <a:spcPts val="800"/>
              </a:spcAft>
            </a:pPr>
            <a:r>
              <a:rPr sz="1700" b="0">
                <a:solidFill>
                  <a:srgbClr val="202830"/>
                </a:solidFill>
                <a:latin typeface="Malgun Gothic"/>
                <a:ea typeface="Malgun Gothic"/>
              </a:rPr>
              <a:t>재생성이 불가능하므로 전체 복원한다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재생성 후 마무리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컨트롤파일 재생성 후 큰 정렬 쿼리가 ORA-01652로 실패했다. 원인은?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UNDO 테이블스페이스가 등록되지 않았다</a:t>
            </a:r>
          </a:p>
          <a:p>
            <a:pPr>
              <a:spcAft>
                <a:spcPts val="800"/>
              </a:spcAft>
            </a:pPr>
            <a:r>
              <a:rPr sz="1700" b="0">
                <a:solidFill>
                  <a:srgbClr val="202830"/>
                </a:solidFill>
                <a:latin typeface="Malgun Gothic"/>
                <a:ea typeface="Malgun Gothic"/>
              </a:rPr>
              <a:t>CREATE CONTROLFILE 문에 TEMP 파일이 없어 임시 파일이 사라졌다</a:t>
            </a:r>
          </a:p>
          <a:p>
            <a:pPr>
              <a:spcAft>
                <a:spcPts val="800"/>
              </a:spcAft>
            </a:pPr>
            <a:r>
              <a:rPr sz="1700" b="0">
                <a:solidFill>
                  <a:srgbClr val="202830"/>
                </a:solidFill>
                <a:latin typeface="Malgun Gothic"/>
                <a:ea typeface="Malgun Gothic"/>
              </a:rPr>
              <a:t>RESETLOGS를 수행하지 않았다</a:t>
            </a:r>
          </a:p>
          <a:p>
            <a:pPr>
              <a:spcAft>
                <a:spcPts val="800"/>
              </a:spcAft>
            </a:pPr>
            <a:r>
              <a:rPr sz="1700" b="0">
                <a:solidFill>
                  <a:srgbClr val="202830"/>
                </a:solidFill>
                <a:latin typeface="Malgun Gothic"/>
                <a:ea typeface="Malgun Gothic"/>
              </a:rPr>
              <a:t>데이터파일이 OFFLINE 상태다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컨트롤파일은 데이터를 담지 않지만 없으면 MOUNT조차 안 된다</a:t>
            </a:r>
          </a:p>
          <a:p>
            <a:pPr>
              <a:spcAft>
                <a:spcPts val="600"/>
              </a:spcAft>
            </a:pPr>
            <a:r>
              <a:rPr sz="1800" b="0">
                <a:solidFill>
                  <a:srgbClr val="202830"/>
                </a:solidFill>
                <a:latin typeface="Malgun Gothic"/>
                <a:ea typeface="Malgun Gothic"/>
              </a:rPr>
              <a:t>•  사본이 하나라도 남아 있으면 복사로 손실 없이 끝난다</a:t>
            </a:r>
          </a:p>
          <a:p>
            <a:pPr>
              <a:spcAft>
                <a:spcPts val="600"/>
              </a:spcAft>
            </a:pPr>
            <a:r>
              <a:rPr sz="1800" b="0">
                <a:solidFill>
                  <a:srgbClr val="202830"/>
                </a:solidFill>
                <a:latin typeface="Malgun Gothic"/>
                <a:ea typeface="Malgun Gothic"/>
              </a:rPr>
              <a:t>•  전체 손상 시 Binary는 빠르고 trace는 유연하다</a:t>
            </a:r>
          </a:p>
          <a:p>
            <a:pPr>
              <a:spcAft>
                <a:spcPts val="600"/>
              </a:spcAft>
            </a:pPr>
            <a:r>
              <a:rPr sz="1800" b="0">
                <a:solidFill>
                  <a:srgbClr val="202830"/>
                </a:solidFill>
                <a:latin typeface="Malgun Gothic"/>
                <a:ea typeface="Malgun Gothic"/>
              </a:rPr>
              <a:t>•  마지막 종료가 정상이었는지가 NORESETLOGS와 RESETLOGS를 가른다</a:t>
            </a:r>
          </a:p>
          <a:p>
            <a:pPr>
              <a:spcAft>
                <a:spcPts val="600"/>
              </a:spcAft>
            </a:pPr>
            <a:r>
              <a:rPr sz="1800" b="0">
                <a:solidFill>
                  <a:srgbClr val="202830"/>
                </a:solidFill>
                <a:latin typeface="Malgun Gothic"/>
                <a:ea typeface="Malgun Gothic"/>
              </a:rPr>
              <a:t>•  데이터파일과 함께 손상되면 컨트롤파일이 언제나 먼저다</a:t>
            </a:r>
          </a:p>
          <a:p>
            <a:pPr>
              <a:spcAft>
                <a:spcPts val="600"/>
              </a:spcAft>
            </a:pPr>
            <a:r>
              <a:rPr sz="1800" b="0">
                <a:solidFill>
                  <a:srgbClr val="202830"/>
                </a:solidFill>
                <a:latin typeface="Malgun Gothic"/>
                <a:ea typeface="Malgun Gothic"/>
              </a:rPr>
              <a:t>•  RESETLOGS로 열었다면 즉시 전체 백업 — 인카네이션이 달라졌다</a:t>
            </a:r>
          </a:p>
          <a:p>
            <a:pPr>
              <a:spcAft>
                <a:spcPts val="600"/>
              </a:spcAft>
            </a:pPr>
            <a:r>
              <a:rPr sz="1800" b="0">
                <a:solidFill>
                  <a:srgbClr val="202830"/>
                </a:solidFill>
                <a:latin typeface="Malgun Gothic"/>
                <a:ea typeface="Malgun Gothic"/>
              </a:rPr>
              <a:t>•  재생성 후 TEMP 추가를 빠뜨리면 장애가 재발한 것처럼 보인다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6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6-1  컨트롤파일 전체 손상 — Binary 백업본으로 복구</a:t>
            </a:r>
          </a:p>
          <a:p>
            <a:pPr>
              <a:spcAft>
                <a:spcPts val="600"/>
              </a:spcAft>
            </a:pPr>
            <a:r>
              <a:rPr sz="1800" b="0">
                <a:solidFill>
                  <a:srgbClr val="202830"/>
                </a:solidFill>
                <a:latin typeface="Malgun Gothic"/>
                <a:ea typeface="Malgun Gothic"/>
              </a:rPr>
              <a:t>•  실습 6-2  컨트롤파일 전체 손상 — trace로 재생성</a:t>
            </a:r>
          </a:p>
          <a:p>
            <a:pPr>
              <a:spcAft>
                <a:spcPts val="600"/>
              </a:spcAft>
            </a:pPr>
            <a:r>
              <a:rPr sz="1800" b="0">
                <a:solidFill>
                  <a:srgbClr val="202830"/>
                </a:solidFill>
                <a:latin typeface="Malgun Gothic"/>
                <a:ea typeface="Malgun Gothic"/>
              </a:rPr>
              <a:t>•  실습 6-3  사본 일부 손상 — 복사와 파라미터 조정</a:t>
            </a:r>
          </a:p>
          <a:p>
            <a:pPr>
              <a:spcAft>
                <a:spcPts val="600"/>
              </a:spcAft>
            </a:pPr>
            <a:r>
              <a:rPr sz="1800" b="0">
                <a:solidFill>
                  <a:srgbClr val="202830"/>
                </a:solidFill>
                <a:latin typeface="Malgun Gothic"/>
                <a:ea typeface="Malgun Gothic"/>
              </a:rPr>
              <a:t>•  실습 6-4  정상 종료 상태에서의 재생성 (NORESETLOGS)</a:t>
            </a:r>
          </a:p>
          <a:p>
            <a:pPr>
              <a:spcAft>
                <a:spcPts val="600"/>
              </a:spcAft>
            </a:pPr>
            <a:r>
              <a:rPr sz="1800" b="0">
                <a:solidFill>
                  <a:srgbClr val="202830"/>
                </a:solidFill>
                <a:latin typeface="Malgun Gothic"/>
                <a:ea typeface="Malgun Gothic"/>
              </a:rPr>
              <a:t>•  실습 6-5  비정상 종료 상태에서의 재생성 (RESETLOGS)</a:t>
            </a:r>
          </a:p>
          <a:p>
            <a:pPr>
              <a:spcAft>
                <a:spcPts val="600"/>
              </a:spcAft>
            </a:pPr>
            <a:r>
              <a:rPr sz="1800" b="0">
                <a:solidFill>
                  <a:srgbClr val="202830"/>
                </a:solidFill>
                <a:latin typeface="Malgun Gothic"/>
                <a:ea typeface="Malgun Gothic"/>
              </a:rPr>
              <a:t>•  실습 6-6  데이터파일과 컨트롤파일 동시 손상</a:t>
            </a:r>
          </a:p>
          <a:p>
            <a:pPr>
              <a:spcAft>
                <a:spcPts val="600"/>
              </a:spcAft>
            </a:pPr>
            <a:r>
              <a:rPr sz="1800" b="0">
                <a:solidFill>
                  <a:srgbClr val="202830"/>
                </a:solidFill>
                <a:latin typeface="Malgun Gothic"/>
                <a:ea typeface="Malgun Gothic"/>
              </a:rPr>
              <a:t>•  모든 실습에 오류 발생과 수정 과정이 최소 한 번 포함</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각 실습 전 Cold Backup과 컨트롤파일 Binary·trace 백업을 모두 새로 받아 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
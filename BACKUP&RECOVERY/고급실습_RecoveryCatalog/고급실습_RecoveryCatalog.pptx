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1~19장과 종합 실습 과제를 이수한 사람을 대상으로 하는 심화 과정이다. 기본 과정이 데이터베이스 한 대를 혼자 관리하는 관점이었다면 이 과정은 여러 대를 카탈로그 하나로 통제하는 운영자 관점으로 올라간다. 열 개 예제 28.5시간이며 각 예제는 현업에 그대로 반입할 수 있는 스크립트를 산출물로 남긴다. 서버 두 대와 인스턴스 네 개가 필요하다. 실습 환경 구축에만 반나절이 걸리므로 과정 시작 전에 미리 마쳐 두도록 안내한다. 준비 체크리스트를 사전에 배포한다.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목표가 이 과정의 결론이다. 백업이 매일 성공한다는 것과 몇 시간 만에 복구된다는 것은 다른 이야기다. 후자에 답하려면 검증 체계와 훈련 기록이 있어야 한다. 나머지 목표는 그 답을 만들기 위한 단계이며 순서대로 쌓인다. 각 목표가 어느 예제에서 달성되는지 미리 연결해 주면 수강생이 전체 흐름을 잡는 데 도움이 된다. 목표는 순서대로 쌓인다.각 목표가 어느 예제에서 달성되는지 미리 연결해 주면 전체 흐름을 잡는 데 도움이 된다. 특히 마지막 두 목표는 수료 필수 항목과 직결된다.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예제는 순서대로 진행해야 한다. 뒤 예제가 앞 예제의 산출물을 전제로 하기 때문이다. 예제 03의 글로벌 스크립트가 04와 10에서 쓰이고, 07의 실측치가 10의 RTO 산정 근거가 되며, 09의 암호화 설정이 10의 체계 점검 대상이 된다. 순서를 바꾸면 전제가 없어 막힌다. 예제 사이의 의존 관계를 여기서 분명히 해 둔다. 순서를 바꿔 진행하다 뒤에서 막히는 경우가 실제로 자주 생긴다.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왼쪽을 모른 채 오른쪽을 배울 수는 없다. 13장을 복습하지 않고 진행하면 첫 예제부터 막힌다. 각 예제의 환경 준비 단계에 필요한 선행 지식을 명시해 두었다. 오른쪽 항목들은 데이터베이스가 한 대일 때는 필요 없던 것들이다. 여러 대를 맡는 순간 전부 필요해진다는 점이 이 과정의 출발점이다. 수강생에게 13장에서 무엇을 기억하는지 먼저 물어보고 부족하면 그 부분만 짧게 복습한 뒤 진행하는 편이 효율적이다.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예제가 카탈로그를 조직의 통제 지점으로 만든다. 01은 권한, 02는 가시성, 03은 표준화를 다룬다. 이 셋이 갖춰지면 데이터베이스가 세 대든 서른 대든 같은 방식으로 관리할 수 있다. 반대로 이것이 없으면 DB가 늘어날 때마다 관리 부담이 비례해 늘어난다. 이 세 예제를 마치면 DB가 몇 대든 같은 방식으로 관리할 수 있다는 점을 먼저 말해 두면 동기가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없음이 아니라 없는 DB로 보인다는 점이 설계 의도다. 다른 시스템의 존재 자체가 노출되지 않는다. 감사 요구 사항이 정확히 이 동작으로 충족된다. VPC는 뷰와 동의어의 모음이므로 저장 공간이 거의 들지 않고 DROP CATALOG로 지워도 백업 이력은 사라지지 않는다. 설정 순서는 계정 생성, 롤 부여, 범위 부여, 가상 카탈로그 생성이며 마지막 단계를 빠뜨리는 실수가 가장 흔하다.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등록 권한을 한 사람에게만 준 이유가 있다. 영업 시스템은 분기마다 테스트 DB가 늘어나므로 매번 기본 소유자를 부르는 것이 비효율적이다. 반면 등록 권한이 있으면 카탈로그에 항목을 계속 만들 수 있어 공간과 관리 범위가 통제를 벗어날 수 있다. rc_report는 VPC로 만들 수 없다. VPC는 조회와 변경 권한을 함께 부여하기 때문이며 읽기 전용 감사자는 예제 02에서 별도 방식으로 만든다.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오류 모두 실무에서 반드시 만난다. 첫 번째가 특히 헷갈린다. connected to recovery catalog database 라는 메시지가 나오므로 권한이 충분하다고 착각하고 다른 원인을 찾게 된다. 권한 부여는 RMAN 명령이고 계정 생성은 SQL이라는 점도 처음에는 혼란스럽다. GRANT CATALOG FOR DATABASE 는 SQL*Plus에서 실행되지 않는다. 두 도구를 오가야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성공 여부가 아니라 복구 가능한가로 기준을 잡은 것이 핵심이다. 명령이 성공해도 대상이 빠져 있으면 복구할 수 없다. 실제 사례에서 아카이브 백업이 11일간 누락되었는데 로그 마지막 줄에는 매일 성공으로 찍혀 있었다. 마지막 줄만 보는 점검으로는 잡을 수 없는 유형이었다. 카탈로그 동기화 시각을 넣은 이유도 같다. 이 값이 오래되었으면 나머지 모든 판정을 신뢰할 수 없다는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수치만 나열하면 사람이 읽지 않는다. 판정과 조치 방향까지 출력해야 매일 확인하게 된다. 이 리포트를 만들 때 반드시 지켜야 할 것이 있다. 전체를 볼 수 있는 계정으로 돌려야 한다. VPC 계정으로 돌리면 조용히 일부만 점검하고 정상으로 보고한다. 오류도 없고 결과가 비어 있지도 않으므로 알아채기 어렵다. 조회 가능 DB 수를 리포트 첫 줄에 찍어 안전장치로 삼는다.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감사에서 조회 권한과 변경 권한이 분리되어 있는가를 묻는다. 이 구성이 그 답이다. rc_report 계정은 SQL로는 조회되지만 RMAN으로 접속하면 ORA-00942로 막힌다. 설계대로 동작하는 것이다. rc_ 뷰만 쓰게 하는 것도 중요하다. 인터넷 예제를 그대로 붙여 넣으면 내부 테이블을 참조하는 경우가 많은데 그러면 버전 업그레이드에서 깨지고 권한 경계도 우회하게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성질이 다중 DB 표준화의 핵심이다. 백업 절차를 한 곳에 두고 세 DB가 같은 것을 쓴다. 정책이 바뀌면 REPLACE 한 번으로 세 DB에 즉시 반영된다. 서버에는 실행기 하나만 배포하고 절차 자체는 배포하지 않는다. 다만 그 스크립트를 수정할 수 있는 사람은 통제해야 한다. 카탈로그는 변경 이력을 남기지 않으므로 원본 파일을 형상 관리 도구에 두고 카탈로그는 배포 대상으로만 다룬다.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EXECUTE SCRIPT 는 독립 명령이 아니라 RUN 블록 안에서만 쓰는 작업이다. PRINT 와 LIST 는 밖에서 되므로 더 헷갈린다. 오류 메시지의 expecting one of 목록에 execute 가 없고 run 이 있다는 점을 읽으면 원인이 바로 보인다. 스크립트를 파일에서 만드는 이유도 있다. 대화형 CREATE 는 치환 변수 값을 물어볼 수 있어 자동화에 맞지 않고 형상 관리와도 이어지지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이것이 이 프레임워크의 가장 큰 약점이며 예제 05로 이어지는 지점이다. 절차를 한 곳에 모으면 표준화가 되지만 그 한 곳이 단일 장애점이 된다. 실제로 카탈로그 서버 디스크 고장으로 세 대의 야간 백업이 모두 실패한 사례가 있다. 폴백 파일을 매일 추출해 배포하고 실행기에 전환 로직을 넣으면 카탈로그가 며칠 없어도 백업은 계속된다. 카탈로그 서버 장애로 세 대의 야간 백업이 모두 실패한 사례를 들려주면 폴백 설계의 필요성이 바로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1에서 만든 체계를 유지하는 방법을 다룬다. 04는 공간, 05는 카탈로그 자체의 생존, 06은 보존 정책의 예외를 다룬다. 세 예제 모두 잘못하면 되돌릴 수 없는 결과를 낳는 작업이므로 안전장치 설계에 비중을 크게 두었다. 세 예제 모두 되돌릴 수 없는 결과를 낳을 수 있는 작업이라는 점을 절 초반에 분명히 짚고 시작한다.04는 되돌릴 수 없는 삭제, 05는 카탈로그 자체의 생존, 06은 보존 정책의 예외를 다룬다. 안전장치 설계에 비중을 크게 둔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 했는데 공간이 줄지 않는다는 문의의 답이 여기 있다. 그리고 보존 정책이 NONE 이면 어떤 백업도 OBSOLETE 가 되지 않는다. 오류 없이 no obsolete backups found 로 끝나므로 지울 것이 없다고 잘못 판단하게 된다. 출력의 retention policy is set to 줄을 반드시 읽어야 한다. 공간이 계속 차는 시스템의 근본 원인이 대개 이것이다.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②가 이 순서에서 가장 중요하다. RMAN은 접근 불가와 파일 부재를 구분하지 못한다. NFS가 새벽에 잠깐 끊기고 05시 정기 작업이 그 위를 지나가면 유효한 백업 전량이 EXPIRED 로 표시된다. 그 상태에서 DELETE EXPIRED 가 실행되면 카탈로그 기록이 사라지고 파일은 남아 있지만 어느 백업인지 알 수 없게 된다. CROSSCHECK 는 되돌릴 수 있지만 DELETE EXPIRED 는 되돌릴 수 없다. 실행기에 마운트 검사와 EXPIRED 비율 검사를 넣는다.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22MB짜리 스키마 덤프 하나로 11분 만에 복구되었다. DB 전체 복원은 30분 이상 걸린다. 스키마만 잃은 경우에는 2차 보호로 충분하다는 것이 훈련으로 확인되었다. 세 가지 오류를 구분하는 것도 중요하다. ORA-01017은 계정 문제, RMAN-06428은 카탈로그 미설치, RMAN-20001은 DB 미등록이다. 장애 상황에서 이 구분이 대응 속도를 좌우한다.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버전 규칙이 실무에서 중요하다. 신규 상위 버전 타깃이 들어오면 카탈로그를 먼저 올려야 한다. 순서를 지키지 않으면 접속 자체가 거부되어 그 DB뿐 아니라 기존 DB들의 운영까지 영향을 받는다. 19장의 Data Pump VERSION 파라미터와 같은 구조의 규칙이다. 통합에서는 어느 쪽 이력을 살릴지 먼저 판단해야 한다. UNREGISTER 는 그 DB의 이력을 전부 지우며 되돌릴 수 없다.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장기 보관 요건이 있는 조직에서 Recovery Catalog 도입이 선택이 아니라 필수인 이유가 여기에 있다. 금융이나 공공 분야의 5년 보관 요건은 KEEP FOREVER 없이는 관리할 수 없다. 파일을 따로 복사해 두는 우회책은 그 파일이 어느 시점의 것인지, 복원에 필요한 아카이브가 무엇인지 기록이 남지 않아 5년 뒤에 쓸 수 없다. 장기 보관 요건이 있는 조직에서는 이 슬라이드 하나가 카탈로그 도입의 근거가 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가장 자주 사고를 만든다. CHANGE ... KEEP 실행 시 archived logs required to recover from this backup will be backed up 이라는 메시지가 나오는데 이것은 앞으로 백업하겠다는 뜻이지 이미 있다는 뜻이 아니다. 그 아카이브가 이미 정리 작업에서 지워졌다면 그 백업은 복원할 수 없다. 장기 보관은 처음부터 BACKUP ... KEEP 으로 받아야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여섯 예제에서 만든 체계를 실제 상황에 적용한다. 07은 재해, 08은 성능, 09는 기밀성, 10은 검증이다. 10은 앞의 아홉 예제를 모두 검증하는 마지막 단계이며 이 과정의 결론에 해당한다. 여기서부터가 앞의 여섯 예제를 실제로 써 보는 단계라는 점을 말해 주면 집중도가 올라간다.앞의 여섯 예제가 체계를 만드는 단계였다면 여기서부터는 그것이 실제로 동작하는지 확인하는 단계다. 마지막 예제가 이 과정 전체의 결론이 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재해에서 6번 데이터파일이 예외 경로에 있었다. 이전 작업에서 SWITCH 로 옮긴 결과였는데 카탈로그가 없었다면 그 파일의 존재조차 몰랐을 것이다. DBID 하나만 있어도 시작은 할 수 있지만 계획 수립과 시간 산정에는 나머지가 모두 필요하다. 평시에 이 조회를 주 1회 실행해 결과를 운영 서버 밖에 보관해 두면 카탈로그까지 잃은 최악의 상황에서 마지막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를 빠뜨리면 RMAN-06571 datafile does not have recoverable copy 가 나온다. SET NEWNAME 을 빠뜨리면 ORA-19504 로 원본 경로에 쓰려다 실패한다. 각 명령이 무엇을 바꾸는지 이해하면 순서를 외울 필요가 없다. ⑤단계도 자주 빠진다. 복원한 spfile은 원본 경로를 그대로 담고 있으므로 pfile로 변환해 경로를 고치고 다시 만들어야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RTO 산정의 근거가 된다. 추정치보다 빨랐던 이유는 백업이 로컬 디스크에 있었기 때문이다. 백업이 원격에 있거나 테이프에서 가져와야 한다면 ⑦이 크게 늘어난다. 그래서 최악의 경우를 가정해 여유 계수를 둔다. 손실 범위를 먼저 산정해 보고하는 것도 중요하다. 복구 시작 전에 어디까지 살릴 수 있는지 확정해야 업무 측이 수작업 복원을 병행할 수 있고 전체 복구 시간이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분석에서 증분 백업이 매번 8.42GB를 읽고 1.2GB만 쓰고 있었다. 데이터베이스 전체 크기를 매번 읽은 것이다. 어느 블록이 바뀌었는지 알려면 모든 블록의 SCN을 확인해야 하기 때문이다. Block Change Tracking이 그 확인을 대신한다. 카탈로그에 3개월치 이력이 있었기에 이 원인을 데이터로 특정할 수 있었다. 이력이 없었다면 세 사람의 의견 중 무엇이 맞는지 알 방법이 없었다.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압축이 시간을 늘렸다는 점이 중요하다. 압축하면 I/O가 줄어 빨라진다는 통념은 이 환경에서 틀렸다. BCT로 이미 읽는 양이 줄어 I/O 병목이 해소되었고 남은 병목은 CPU인데 압축은 그것을 더 쓴다. 압축은 백업 창이 아니라 저장 공간이 문제일 때 쓴다. BCT가 켠 직후에 효과가 없다는 점도 기억한다. 새 Level 0이 있어야 기준이 생긴다. 이것을 모르면 효과가 없다고 잘못 판단하게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strings 명령 하나로 고객 데이터가 노출된다. 파일 시스템 권한만으로는 부족하다. 반출용을 별도로 만드는 이유가 여기 있다. 정기 백업은 투명 방식으로 두고 외부에 줄 것만 이중 모드로 따로 만든다. 지갑을 외부에 넘기는 순간 모든 정기 백업이 노출되기 때문이다. 지갑 비밀번호는 지갑 파일을 여는 것이고 백업 비밀번호는 백업을 여는 것이다. 두 개념을 혼동하면 복원에서 막힌다.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ORA-19914와 ORA-28365가 함께 나오면 지갑이 닫혀 있다는 뜻이다. CONFIGURE ENCRYPTION FOR DATABASE ON 상태에서는 모든 백업이 암호화되므로 지갑이 닫히면 그날 백업이 통째로 실패한다. 자동 로그인 지갑을 쓸 수 없는 정책이라면 기동 후 지갑을 여는 절차를 반드시 자동화한다. 지갑 손실은 데이터 손실과 같다는 점을 관리 절차에 명시해야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검증에서 L1과 L3이 각각 하나씩 문제를 발견했다. 아카이브 갭과 블록 손상이었고 두 문제 모두 일일 리포트에서는 정상으로 보였다. 백업이 있는가와 복구되는가가 다른 질문임이 이렇게 확인된다. MAXCORRUPT를 설정한 환경에서는 L3이 특히 중요하다. 손상 블록이 백업에 담긴 채 L2를 통과하기 때문이다. 완전한 검증은 없으므로 비용과 확신도의 균형을 정하는 문제로 접근한다.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훈련 산출물을 정리하지 않아 파일 시스템이 97%에 도달한 사례가 있었다. 그 파일 시스템에 다른 운영 DB의 데이터파일이 있어 자동 확장이 실패할 뻔했다. 훈련이 운영에 영향을 주는 경로다. 드릴 B가 확인하는 것은 백업만으로 데이터베이스가 열리는지다. 원본 서버에 접속하지 않고 BACKUP LOCATION 만으로 수행하는 이유가 그것이다. 훈련이 운영에 영향을 준 실제 사례를 들려주면 정리 단계를 건너뛰지 않게 된다. SID 확인은 몇 번을 강조해도 지나치지 않다.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임원 질문 몇 시간 만에 복구됩니까에 대한 답이 이 표다. 3시간이라고 적어 두는 것과 실측 112분에 여유 1.5배라고 말하는 것은 다르다. 후자만이 답이 된다. 여유 계수를 두는 이유도 설명할 수 있어야 한다. 백업이 원격에 있을 수 있고 담당자가 즉시 대응하지 못할 수 있으며 여러 DB가 동시에 영향받을 수 있다. 그 답을 어떻게 확신하는가라는 후속 질문에는 검증 4단계와 분기 훈련 기록으로 답한다.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스크립트보다 설계를 먼저 가져가야 한다. 각 예제의 사전 설계 단계에 권한 매트릭스, 판정 기준, 명명 규칙이 있다. 스크립트만 복사하면 그 근거를 모른 채 운영하게 된다. 반입 전에 반드시 고칠 것은 접속 문자열의 평문 비밀번호, 메일 주소와 경로, 임계값, 민감 데이터 탐지 패턴 네 가지다. 특히 비밀번호는 외부 비밀번호 저장소를 쓰도록 바꾼다. 이 표를 인쇄해 나눠 주고 각자 담당 시스템에 어떤 것부터 적용할지 골라 보게 하면 과정이 실무로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일차마다 그날의 결과물이 손에 남는 구성이다. 마무리 확인 항목도 정해 두었다. 3일차 마무리는 카탈로그 스키마를 지웠다가 11분 안에 되살릴 수 있는가이고 5일차 마무리는 RTO와 RPO를 수치로 말할 수 있는가다. 수료 필수 두 항목은 실제로 수행해야 하며 절차를 읽은 것으로는 인정하지 않는다. 가상 머신 스냅숏을 미리 확보해 두면 실패해도 다시 시도할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컨트롤파일의 백업 기록은 CONTROL_FILE_RECORD_KEEP_TIME 이 지나면 덮인다. 파일이 남아 있어도 그것이 무엇인지 아는 기록이 사라진다. 영원히를 보장할 수 있는 저장소가 카탈로그뿐이다. nocatalog 에서 시도하면 RMAN-06511 로 거부된다. 장기 보관 요건이 있는 조직에서 카탈로그가 선택이 아닌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RMAN 은 접근 불가와 파일 부재를 구분하지 못한다. 그 상태에서 DELETE EXPIRED 가 실행되면 유효한 백업의 카탈로그 기록이 사라진다. CROSSCHECK 자체는 되돌릴 수 있지만 DELETE EXPIRED 는 되돌릴 수 없다. 그래서 정기 정리 실행기에 마운트 검사와 EXPIRED 비율 검사를 넣고, 대조 단계와 삭제 단계를 반드시 분리한다.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세 번째다. RESTORE VALIDATE 는 백업 조각을 읽고 체크섬을 확인할 뿐 그 안에 담긴 데이터 블록의 논리적 정합성은 보지 않는다. MAXCORRUPT 를 설정한 상태에서 손상 블록이 백업에 담기면 이 검증을 그대로 통과한다. 복원한 뒤 조회할 때에야 ORA-01578 을 만난다. 그래서 VALIDATE CHECK LOGICAL 을 주간 작업으로 함께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이 과정 전체의 결론이다. 임원 보고 자리에서 3시간이라고 답하는 것과 실측 112분에 여유 1.5배이며 분기 훈련에서 백업만으로 데이터베이스가 열리는 것을 확인했다고 답하는 것은 전혀 다르다. 열 개 예제가 만드는 것은 스크립트가 아니라 그 답을 뒷받침하는 근거 체계다. 각자 담당 시스템의 절차서를 이 형식으로 다시 쓰고 정기적으로 실제로 돌려 보는 것을 권한다. 문서로만 있는 절차는 동작하지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심화 과정</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Recovery Catalog 고급 실습</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권한 분리 · 중앙 관리 · 표준화 · 자체 보호 · 장기 보관 · 재해복구 · 성능 · 기밀성 · 검증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과정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과정을 마치면 다음을 수행할 수 있어야 한다.</a:t>
            </a:r>
          </a:p>
          <a:p>
            <a:pPr>
              <a:spcAft>
                <a:spcPts val="600"/>
              </a:spcAft>
            </a:pPr>
            <a:r>
              <a:rPr sz="1600" b="0">
                <a:solidFill>
                  <a:srgbClr val="5A6672"/>
                </a:solidFill>
                <a:latin typeface="Malgun Gothic"/>
                <a:ea typeface="Malgun Gothic"/>
              </a:rPr>
              <a:t>    –  다중 DBA 환경에서 카탈로그 접근 범위를 분리한다</a:t>
            </a:r>
          </a:p>
          <a:p>
            <a:pPr>
              <a:spcAft>
                <a:spcPts val="600"/>
              </a:spcAft>
            </a:pPr>
            <a:r>
              <a:rPr sz="1600" b="0">
                <a:solidFill>
                  <a:srgbClr val="5A6672"/>
                </a:solidFill>
                <a:latin typeface="Malgun Gothic"/>
                <a:ea typeface="Malgun Gothic"/>
              </a:rPr>
              <a:t>    –  여러 DB의 복구 가능성을 한 화면에서 판정한다</a:t>
            </a:r>
          </a:p>
          <a:p>
            <a:pPr>
              <a:spcAft>
                <a:spcPts val="600"/>
              </a:spcAft>
            </a:pPr>
            <a:r>
              <a:rPr sz="1600" b="0">
                <a:solidFill>
                  <a:srgbClr val="5A6672"/>
                </a:solidFill>
                <a:latin typeface="Malgun Gothic"/>
                <a:ea typeface="Malgun Gothic"/>
              </a:rPr>
              <a:t>    –  백업 절차를 한 곳에서 정의하고 여러 서버에 적용한다</a:t>
            </a:r>
          </a:p>
          <a:p>
            <a:pPr>
              <a:spcAft>
                <a:spcPts val="600"/>
              </a:spcAft>
            </a:pPr>
            <a:r>
              <a:rPr sz="1600" b="0">
                <a:solidFill>
                  <a:srgbClr val="5A6672"/>
                </a:solidFill>
                <a:latin typeface="Malgun Gothic"/>
                <a:ea typeface="Malgun Gothic"/>
              </a:rPr>
              <a:t>    –  카탈로그가 단일 장애점이 되지 않게 보호한다</a:t>
            </a:r>
          </a:p>
          <a:p>
            <a:pPr>
              <a:spcAft>
                <a:spcPts val="600"/>
              </a:spcAft>
            </a:pPr>
            <a:r>
              <a:rPr sz="1600" b="0">
                <a:solidFill>
                  <a:srgbClr val="5A6672"/>
                </a:solidFill>
                <a:latin typeface="Malgun Gothic"/>
                <a:ea typeface="Malgun Gothic"/>
              </a:rPr>
              <a:t>    –  카탈로그만으로 타 서버에 데이터베이스를 재구축한다</a:t>
            </a:r>
          </a:p>
          <a:p>
            <a:pPr>
              <a:spcAft>
                <a:spcPts val="600"/>
              </a:spcAft>
            </a:pPr>
            <a:r>
              <a:rPr sz="1600" b="0">
                <a:solidFill>
                  <a:srgbClr val="5A6672"/>
                </a:solidFill>
                <a:latin typeface="Malgun Gothic"/>
                <a:ea typeface="Malgun Gothic"/>
              </a:rPr>
              <a:t>    –  RTO와 RPO를 실측 근거와 함께 선언한다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과정의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Part 1. 카탈로그 운영 체계 — 예제 01·02·03  (8.5h)</a:t>
            </a:r>
          </a:p>
          <a:p>
            <a:pPr>
              <a:spcAft>
                <a:spcPts val="600"/>
              </a:spcAft>
            </a:pPr>
            <a:r>
              <a:rPr sz="1600" b="0">
                <a:solidFill>
                  <a:srgbClr val="5A6672"/>
                </a:solidFill>
                <a:latin typeface="Malgun Gothic"/>
                <a:ea typeface="Malgun Gothic"/>
              </a:rPr>
              <a:t>    –  Virtual Private Catalog · 중앙 리포팅 · 글로벌 Stored Script</a:t>
            </a:r>
          </a:p>
          <a:p>
            <a:pPr>
              <a:spcAft>
                <a:spcPts val="600"/>
              </a:spcAft>
            </a:pPr>
            <a:r>
              <a:rPr sz="1800" b="0">
                <a:solidFill>
                  <a:srgbClr val="202830"/>
                </a:solidFill>
                <a:latin typeface="Malgun Gothic"/>
                <a:ea typeface="Malgun Gothic"/>
              </a:rPr>
              <a:t>•  Part 2. 유지관리와 보존 — 예제 04·05·06  (8.0h)</a:t>
            </a:r>
          </a:p>
          <a:p>
            <a:pPr>
              <a:spcAft>
                <a:spcPts val="600"/>
              </a:spcAft>
            </a:pPr>
            <a:r>
              <a:rPr sz="1600" b="0">
                <a:solidFill>
                  <a:srgbClr val="5A6672"/>
                </a:solidFill>
                <a:latin typeface="Malgun Gothic"/>
                <a:ea typeface="Malgun Gothic"/>
              </a:rPr>
              <a:t>    –  정합성과 공간 회수 · 카탈로그 자체 보호 · KEEP FOREVER</a:t>
            </a:r>
          </a:p>
          <a:p>
            <a:pPr>
              <a:spcAft>
                <a:spcPts val="600"/>
              </a:spcAft>
            </a:pPr>
            <a:r>
              <a:rPr sz="1800" b="0">
                <a:solidFill>
                  <a:srgbClr val="202830"/>
                </a:solidFill>
                <a:latin typeface="Malgun Gothic"/>
                <a:ea typeface="Malgun Gothic"/>
              </a:rPr>
              <a:t>•  Part 3. 실전 활용 — 예제 07·08·09·10  (12.0h)</a:t>
            </a:r>
          </a:p>
          <a:p>
            <a:pPr>
              <a:spcAft>
                <a:spcPts val="600"/>
              </a:spcAft>
            </a:pPr>
            <a:r>
              <a:rPr sz="1600" b="0">
                <a:solidFill>
                  <a:srgbClr val="5A6672"/>
                </a:solidFill>
                <a:latin typeface="Malgun Gothic"/>
                <a:ea typeface="Malgun Gothic"/>
              </a:rPr>
              <a:t>    –  재해복구 · 성능 튜닝 · 암호화 반출 · 상시 검증과 DR 훈련</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3일로 축약해야 한다면 01·03·04·07·10 다섯 개를 고른다.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기본 과정과의 경계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13장 위에서 시작한다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13장에서 다룬 것              | 이 과정에서 다루는 것</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카탈로그 생성과 대상 등록     | 접근 범위 분리 (VPC)</a:t>
            </a:r>
          </a:p>
          <a:p>
            <a:pPr>
              <a:spcAft>
                <a:spcPts val="0"/>
              </a:spcAft>
            </a:pPr>
            <a:r>
              <a:rPr sz="1250" b="0">
                <a:solidFill>
                  <a:srgbClr val="E6E6E6"/>
                </a:solidFill>
                <a:latin typeface="Consolas"/>
                <a:ea typeface="Consolas"/>
              </a:rPr>
              <a:t>RESYNC와 유지 관리            | 정합성 사고 방지와 공간 회수</a:t>
            </a:r>
          </a:p>
          <a:p>
            <a:pPr>
              <a:spcAft>
                <a:spcPts val="0"/>
              </a:spcAft>
            </a:pPr>
            <a:r>
              <a:rPr sz="1250" b="0">
                <a:solidFill>
                  <a:srgbClr val="E6E6E6"/>
                </a:solidFill>
                <a:latin typeface="Consolas"/>
                <a:ea typeface="Consolas"/>
              </a:rPr>
              <a:t>CONFIGURE 영구 설정           | 다중 DB 설정 표준화와 이탈 감시</a:t>
            </a:r>
          </a:p>
          <a:p>
            <a:pPr>
              <a:spcAft>
                <a:spcPts val="0"/>
              </a:spcAft>
            </a:pPr>
            <a:r>
              <a:rPr sz="1250" b="0">
                <a:solidFill>
                  <a:srgbClr val="E6E6E6"/>
                </a:solidFill>
                <a:latin typeface="Consolas"/>
                <a:ea typeface="Consolas"/>
              </a:rPr>
              <a:t>보존 정책과 CROSSCHECK        | 보존 예외(KEEP)와 장기 보관</a:t>
            </a:r>
          </a:p>
          <a:p>
            <a:pPr>
              <a:spcAft>
                <a:spcPts val="0"/>
              </a:spcAft>
            </a:pPr>
            <a:r>
              <a:rPr sz="1250" b="0">
                <a:solidFill>
                  <a:srgbClr val="E6E6E6"/>
                </a:solidFill>
                <a:latin typeface="Consolas"/>
                <a:ea typeface="Consolas"/>
              </a:rPr>
              <a:t>Stored Script 기초            | 글로벌 스크립트 + 치환 변수 프레임워크</a:t>
            </a:r>
          </a:p>
          <a:p>
            <a:pPr>
              <a:spcAft>
                <a:spcPts val="0"/>
              </a:spcAft>
            </a:pPr>
            <a:r>
              <a:rPr sz="1250" b="0">
                <a:solidFill>
                  <a:srgbClr val="E6E6E6"/>
                </a:solidFill>
                <a:latin typeface="Consolas"/>
                <a:ea typeface="Consolas"/>
              </a:rPr>
              <a:t>LIST와 REPORT                 | RC_ 뷰 기반 판정 리포트</a:t>
            </a:r>
          </a:p>
          <a:p>
            <a:pPr>
              <a:spcAft>
                <a:spcPts val="0"/>
              </a:spcAft>
            </a:pPr>
            <a:r>
              <a:rPr sz="1250" b="0">
                <a:solidFill>
                  <a:srgbClr val="E6E6E6"/>
                </a:solidFill>
                <a:latin typeface="Consolas"/>
                <a:ea typeface="Consolas"/>
              </a:rPr>
              <a:t>(다루지 않음)                 | 카탈로그 자체의 보호·통합·업그레이드</a:t>
            </a:r>
          </a:p>
          <a:p>
            <a:pPr>
              <a:spcAft>
                <a:spcPts val="0"/>
              </a:spcAft>
            </a:pPr>
            <a:r>
              <a:rPr sz="1250" b="0">
                <a:solidFill>
                  <a:srgbClr val="E6E6E6"/>
                </a:solidFill>
                <a:latin typeface="Consolas"/>
                <a:ea typeface="Consolas"/>
              </a:rPr>
              <a:t>(다루지 않음)                 | 복구 가능성 상시 검증과 훈련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Part 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카탈로그 운영 체계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누가 무엇을 볼 수 있는가</a:t>
            </a:r>
          </a:p>
          <a:p>
            <a:pPr>
              <a:spcAft>
                <a:spcPts val="600"/>
              </a:spcAft>
            </a:pPr>
            <a:r>
              <a:rPr sz="1600" b="0">
                <a:solidFill>
                  <a:srgbClr val="C5CED6"/>
                </a:solidFill>
                <a:latin typeface="Malgun Gothic"/>
                <a:ea typeface="Malgun Gothic"/>
              </a:rPr>
              <a:t>•  무엇을 점검해야 하는가</a:t>
            </a:r>
          </a:p>
          <a:p>
            <a:pPr>
              <a:spcAft>
                <a:spcPts val="600"/>
              </a:spcAft>
            </a:pPr>
            <a:r>
              <a:rPr sz="1600" b="0">
                <a:solidFill>
                  <a:srgbClr val="C5CED6"/>
                </a:solidFill>
                <a:latin typeface="Malgun Gothic"/>
                <a:ea typeface="Malgun Gothic"/>
              </a:rPr>
              <a:t>•  절차를 어디에 둘 것인가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01 · Virtual Private Catalog</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데이터를 복제하지 않고 범위만 나눈다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기본 카탈로그 소유자가 접근 범위를 부여한다 (RMAN 명령)</a:t>
            </a:r>
          </a:p>
          <a:p>
            <a:pPr>
              <a:spcAft>
                <a:spcPts val="0"/>
              </a:spcAft>
            </a:pPr>
            <a:r>
              <a:rPr sz="1250" b="0">
                <a:solidFill>
                  <a:srgbClr val="E6E6E6"/>
                </a:solidFill>
                <a:latin typeface="Consolas"/>
                <a:ea typeface="Consolas"/>
              </a:rPr>
              <a:t>RMAN&gt; GRANT CATALOG FOR DATABASE orcl TO vpc_core;</a:t>
            </a:r>
          </a:p>
          <a:p>
            <a:pPr>
              <a:spcAft>
                <a:spcPts val="0"/>
              </a:spcAft>
            </a:pPr>
            <a:r>
              <a:rPr sz="1250" b="0">
                <a:solidFill>
                  <a:srgbClr val="E6E6E6"/>
                </a:solidFill>
                <a:latin typeface="Consolas"/>
                <a:ea typeface="Consolas"/>
              </a:rPr>
              <a:t>RMAN&gt; GRANT REGISTER DATABASE TO vpc_sales;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VPC 사용자가 자기 카탈로그를 만든다 (이 단계를 빠뜨리면 아무것도 안 보인다)</a:t>
            </a:r>
          </a:p>
          <a:p>
            <a:pPr>
              <a:spcAft>
                <a:spcPts val="0"/>
              </a:spcAft>
            </a:pPr>
            <a:r>
              <a:rPr sz="1250" b="0">
                <a:solidFill>
                  <a:srgbClr val="E6E6E6"/>
                </a:solidFill>
                <a:latin typeface="Consolas"/>
                <a:ea typeface="Consolas"/>
              </a:rPr>
              <a:t>RMAN&gt; CREATE VIRTUAL CATALOG;</a:t>
            </a:r>
          </a:p>
          <a:p>
            <a:pPr>
              <a:spcAft>
                <a:spcPts val="0"/>
              </a:spcAft>
            </a:pPr>
            <a:r>
              <a:rPr sz="1250" b="0">
                <a:solidFill>
                  <a:srgbClr val="E6E6E6"/>
                </a:solidFill>
                <a:latin typeface="Consolas"/>
                <a:ea typeface="Consolas"/>
              </a:rPr>
              <a:t>found eligible base catalog owned by RCATOWNER</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결과 : 부여받지 않은 DB는 '없는 DB'로 취급된다</a:t>
            </a:r>
          </a:p>
          <a:p>
            <a:pPr>
              <a:spcAft>
                <a:spcPts val="0"/>
              </a:spcAft>
            </a:pPr>
            <a:r>
              <a:rPr sz="1250" b="0">
                <a:solidFill>
                  <a:srgbClr val="E6E6E6"/>
                </a:solidFill>
                <a:latin typeface="Consolas"/>
                <a:ea typeface="Consolas"/>
              </a:rPr>
              <a:t>RMAN&gt; LIST BACKUP SUMMARY;         -- sales 에 접속한 vpc_core</a:t>
            </a:r>
          </a:p>
          <a:p>
            <a:pPr>
              <a:spcAft>
                <a:spcPts val="0"/>
              </a:spcAft>
            </a:pPr>
            <a:r>
              <a:rPr sz="1250" b="0">
                <a:solidFill>
                  <a:srgbClr val="E6E6E6"/>
                </a:solidFill>
                <a:latin typeface="Consolas"/>
                <a:ea typeface="Consolas"/>
              </a:rPr>
              <a:t>RMAN-06004: ORACLE error from recovery catalog database:</a:t>
            </a:r>
          </a:p>
          <a:p>
            <a:pPr>
              <a:spcAft>
                <a:spcPts val="0"/>
              </a:spcAft>
            </a:pPr>
            <a:r>
              <a:rPr sz="1250" b="0">
                <a:solidFill>
                  <a:srgbClr val="E6E6E6"/>
                </a:solidFill>
                <a:latin typeface="Consolas"/>
                <a:ea typeface="Consolas"/>
              </a:rPr>
              <a:t>RMAN-20001: target database not found in recovery catalog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01 · 권한 매트릭스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설계를 먼저 확정한다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사용자        | 담당 DB | CATALOG FOR DATABASE | REGISTER DATABASE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rcatowner     | 전체    | (소유자)             | (소유자)</a:t>
            </a:r>
          </a:p>
          <a:p>
            <a:pPr>
              <a:spcAft>
                <a:spcPts val="0"/>
              </a:spcAft>
            </a:pPr>
            <a:r>
              <a:rPr sz="1250" b="0">
                <a:solidFill>
                  <a:srgbClr val="E6E6E6"/>
                </a:solidFill>
                <a:latin typeface="Consolas"/>
                <a:ea typeface="Consolas"/>
              </a:rPr>
              <a:t>vpc_core      | orcl    | orcl                 | 없음</a:t>
            </a:r>
          </a:p>
          <a:p>
            <a:pPr>
              <a:spcAft>
                <a:spcPts val="0"/>
              </a:spcAft>
            </a:pPr>
            <a:r>
              <a:rPr sz="1250" b="0">
                <a:solidFill>
                  <a:srgbClr val="E6E6E6"/>
                </a:solidFill>
                <a:latin typeface="Consolas"/>
                <a:ea typeface="Consolas"/>
              </a:rPr>
              <a:t>vpc_sales     | sales   | sales                | 있음</a:t>
            </a:r>
          </a:p>
          <a:p>
            <a:pPr>
              <a:spcAft>
                <a:spcPts val="0"/>
              </a:spcAft>
            </a:pPr>
            <a:r>
              <a:rPr sz="1250" b="0">
                <a:solidFill>
                  <a:srgbClr val="E6E6E6"/>
                </a:solidFill>
                <a:latin typeface="Consolas"/>
                <a:ea typeface="Consolas"/>
              </a:rPr>
              <a:t>vpc_hr        | hrdb    | hrdb                 | 없음</a:t>
            </a:r>
          </a:p>
          <a:p>
            <a:pPr>
              <a:spcAft>
                <a:spcPts val="0"/>
              </a:spcAft>
            </a:pPr>
            <a:r>
              <a:rPr sz="1250" b="0">
                <a:solidFill>
                  <a:srgbClr val="E6E6E6"/>
                </a:solidFill>
                <a:latin typeface="Consolas"/>
                <a:ea typeface="Consolas"/>
              </a:rPr>
              <a:t>rc_report     | 전체    | (조회 전용 별도 계정)| 없음</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두 권한은 서로 다르다</a:t>
            </a:r>
          </a:p>
          <a:p>
            <a:pPr>
              <a:spcAft>
                <a:spcPts val="0"/>
              </a:spcAft>
            </a:pPr>
            <a:r>
              <a:rPr sz="1250" b="0">
                <a:solidFill>
                  <a:srgbClr val="7EC699"/>
                </a:solidFill>
                <a:latin typeface="Consolas"/>
                <a:ea typeface="Consolas"/>
              </a:rPr>
              <a:t>--   CATALOG FOR DATABASE : 이미 등록된 특정 DB를 다룰 권한</a:t>
            </a:r>
          </a:p>
          <a:p>
            <a:pPr>
              <a:spcAft>
                <a:spcPts val="0"/>
              </a:spcAft>
            </a:pPr>
            <a:r>
              <a:rPr sz="1250" b="0">
                <a:solidFill>
                  <a:srgbClr val="7EC699"/>
                </a:solidFill>
                <a:latin typeface="Consolas"/>
                <a:ea typeface="Consolas"/>
              </a:rPr>
              <a:t>--   REGISTER DATABASE    : 새 DB를 카탈로그에 등록할 권한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01 · 만나게 되는 오류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ORA-01031 — RECOVERY_CATALOG_OWNER 롤 없이 CREATE VIRTUAL CATALOG</a:t>
            </a:r>
          </a:p>
          <a:p>
            <a:pPr>
              <a:spcAft>
                <a:spcPts val="600"/>
              </a:spcAft>
            </a:pPr>
            <a:r>
              <a:rPr sz="1600" b="0">
                <a:solidFill>
                  <a:srgbClr val="5A6672"/>
                </a:solidFill>
                <a:latin typeface="Malgun Gothic"/>
                <a:ea typeface="Malgun Gothic"/>
              </a:rPr>
              <a:t>    –  접속은 되지만 명령에서 막힌다. 접속 성공이 권한 충분을 뜻하지 않는다</a:t>
            </a:r>
          </a:p>
          <a:p>
            <a:pPr>
              <a:spcAft>
                <a:spcPts val="600"/>
              </a:spcAft>
            </a:pPr>
            <a:r>
              <a:rPr sz="1800" b="0">
                <a:solidFill>
                  <a:srgbClr val="202830"/>
                </a:solidFill>
                <a:latin typeface="Malgun Gothic"/>
                <a:ea typeface="Malgun Gothic"/>
              </a:rPr>
              <a:t>•  RMAN-20001 — 담당이 아닌 DB에 접속</a:t>
            </a:r>
          </a:p>
          <a:p>
            <a:pPr>
              <a:spcAft>
                <a:spcPts val="600"/>
              </a:spcAft>
            </a:pPr>
            <a:r>
              <a:rPr sz="1600" b="0">
                <a:solidFill>
                  <a:srgbClr val="5A6672"/>
                </a:solidFill>
                <a:latin typeface="Malgun Gothic"/>
                <a:ea typeface="Malgun Gothic"/>
              </a:rPr>
              <a:t>    –  권한 없음이 아니라 없는 DB로 취급. 설계 의도다</a:t>
            </a:r>
          </a:p>
          <a:p>
            <a:pPr>
              <a:spcAft>
                <a:spcPts val="600"/>
              </a:spcAft>
            </a:pPr>
            <a:r>
              <a:rPr sz="1800" b="0">
                <a:solidFill>
                  <a:srgbClr val="202830"/>
                </a:solidFill>
                <a:latin typeface="Malgun Gothic"/>
                <a:ea typeface="Malgun Gothic"/>
              </a:rPr>
              <a:t>•  ORA-01031 — 등록 권한 없이 REGISTER DATABASE</a:t>
            </a:r>
          </a:p>
          <a:p>
            <a:pPr>
              <a:spcAft>
                <a:spcPts val="600"/>
              </a:spcAft>
            </a:pPr>
            <a:r>
              <a:rPr sz="1600" b="0">
                <a:solidFill>
                  <a:srgbClr val="5A6672"/>
                </a:solidFill>
                <a:latin typeface="Malgun Gothic"/>
                <a:ea typeface="Malgun Gothic"/>
              </a:rPr>
              <a:t>    –  CATALOG FOR DATABASE 와 REGISTER DATABASE 는 별개의 권한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02 · 점검 항목과 판정 기준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성공이 아니라 복구 가능성을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항목                      | 조회 대상                      | 경고 기준</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최근 백업 작업 결과       | rc_rman_backup_job_details     | COMPLETED 아님</a:t>
            </a:r>
          </a:p>
          <a:p>
            <a:pPr>
              <a:spcAft>
                <a:spcPts val="0"/>
              </a:spcAft>
            </a:pPr>
            <a:r>
              <a:rPr sz="1250" b="0">
                <a:solidFill>
                  <a:srgbClr val="E6E6E6"/>
                </a:solidFill>
                <a:latin typeface="Consolas"/>
                <a:ea typeface="Consolas"/>
              </a:rPr>
              <a:t>전체 백업 최신성          | rc_backup_set                  | 7일 초과</a:t>
            </a:r>
          </a:p>
          <a:p>
            <a:pPr>
              <a:spcAft>
                <a:spcPts val="0"/>
              </a:spcAft>
            </a:pPr>
            <a:r>
              <a:rPr sz="1250" b="0">
                <a:solidFill>
                  <a:srgbClr val="E6E6E6"/>
                </a:solidFill>
                <a:latin typeface="Consolas"/>
                <a:ea typeface="Consolas"/>
              </a:rPr>
              <a:t>아카이브 백업 최신성      | rc_backup_set (bck_type='L')   | 1일 초과</a:t>
            </a:r>
          </a:p>
          <a:p>
            <a:pPr>
              <a:spcAft>
                <a:spcPts val="0"/>
              </a:spcAft>
            </a:pPr>
            <a:r>
              <a:rPr sz="1250" b="0">
                <a:solidFill>
                  <a:srgbClr val="E6E6E6"/>
                </a:solidFill>
                <a:latin typeface="Consolas"/>
                <a:ea typeface="Consolas"/>
              </a:rPr>
              <a:t>백업이 없는 데이터파일    | rc_datafile / rc_backup_datafile| 1건 이상</a:t>
            </a:r>
          </a:p>
          <a:p>
            <a:pPr>
              <a:spcAft>
                <a:spcPts val="0"/>
              </a:spcAft>
            </a:pPr>
            <a:r>
              <a:rPr sz="1250" b="0">
                <a:solidFill>
                  <a:srgbClr val="E6E6E6"/>
                </a:solidFill>
                <a:latin typeface="Consolas"/>
                <a:ea typeface="Consolas"/>
              </a:rPr>
              <a:t>사용 불가 백업            | rc_unusable_backupfile_details | 1건 이상</a:t>
            </a:r>
          </a:p>
          <a:p>
            <a:pPr>
              <a:spcAft>
                <a:spcPts val="0"/>
              </a:spcAft>
            </a:pPr>
            <a:r>
              <a:rPr sz="1250" b="0">
                <a:solidFill>
                  <a:srgbClr val="E6E6E6"/>
                </a:solidFill>
                <a:latin typeface="Consolas"/>
                <a:ea typeface="Consolas"/>
              </a:rPr>
              <a:t>카탈로그 동기화 시각      | rc_resync                      | 24시간 초과</a:t>
            </a:r>
          </a:p>
          <a:p>
            <a:pPr>
              <a:spcAft>
                <a:spcPts val="0"/>
              </a:spcAft>
            </a:pPr>
            <a:r>
              <a:rPr sz="1250" b="0">
                <a:solidFill>
                  <a:srgbClr val="E6E6E6"/>
                </a:solidFill>
                <a:latin typeface="Consolas"/>
                <a:ea typeface="Consolas"/>
              </a:rPr>
              <a:t>백업되지 않은 아카이브    | rc_archived_log                | 임계값 초과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02 · 일일 리포트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판정까지 해 주어야 쓸모가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 섹션 1. 요약 ]</a:t>
            </a:r>
          </a:p>
          <a:p>
            <a:pPr>
              <a:spcAft>
                <a:spcPts val="0"/>
              </a:spcAft>
            </a:pPr>
            <a:r>
              <a:rPr sz="1250" b="0">
                <a:solidFill>
                  <a:srgbClr val="E6E6E6"/>
                </a:solidFill>
                <a:latin typeface="Consolas"/>
                <a:ea typeface="Consolas"/>
              </a:rPr>
              <a:t>DB_NAME    LAST_FULL     LAST_ARCH     NEED_BKP UNUSABLE RESYNC_H JUDGE</a:t>
            </a:r>
          </a:p>
          <a:p>
            <a:pPr>
              <a:spcAft>
                <a:spcPts val="0"/>
              </a:spcAft>
            </a:pPr>
            <a:r>
              <a:rPr sz="1250" b="0">
                <a:solidFill>
                  <a:srgbClr val="7EC699"/>
                </a:solidFill>
                <a:latin typeface="Consolas"/>
                <a:ea typeface="Consolas"/>
              </a:rPr>
              <a:t>---------- ------------- ------------- -------- -------- -------- ------</a:t>
            </a:r>
          </a:p>
          <a:p>
            <a:pPr>
              <a:spcAft>
                <a:spcPts val="0"/>
              </a:spcAft>
            </a:pPr>
            <a:r>
              <a:rPr sz="1250" b="0">
                <a:solidFill>
                  <a:srgbClr val="E6E6E6"/>
                </a:solidFill>
                <a:latin typeface="Consolas"/>
                <a:ea typeface="Consolas"/>
              </a:rPr>
              <a:t>HRDB       06-01 02:04   06-03 02:16          0        0      7.2 OK</a:t>
            </a:r>
          </a:p>
          <a:p>
            <a:pPr>
              <a:spcAft>
                <a:spcPts val="0"/>
              </a:spcAft>
            </a:pPr>
            <a:r>
              <a:rPr sz="1250" b="0">
                <a:solidFill>
                  <a:srgbClr val="E6E6E6"/>
                </a:solidFill>
                <a:latin typeface="Consolas"/>
                <a:ea typeface="Consolas"/>
              </a:rPr>
              <a:t>ORCL       06-01 02:00   06-03 02:10          0        4      7.3 WARN</a:t>
            </a:r>
          </a:p>
          <a:p>
            <a:pPr>
              <a:spcAft>
                <a:spcPts val="0"/>
              </a:spcAft>
            </a:pPr>
            <a:r>
              <a:rPr sz="1250" b="0">
                <a:solidFill>
                  <a:srgbClr val="E6E6E6"/>
                </a:solidFill>
                <a:latin typeface="Consolas"/>
                <a:ea typeface="Consolas"/>
              </a:rPr>
              <a:t>SALES      06-01 02:20   05-23 02:22          1        1      6.9 CRIT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섹션 3. 예외 — 조치 필요 ]</a:t>
            </a:r>
          </a:p>
          <a:p>
            <a:pPr>
              <a:spcAft>
                <a:spcPts val="0"/>
              </a:spcAft>
            </a:pPr>
            <a:r>
              <a:rPr sz="1250" b="0">
                <a:solidFill>
                  <a:srgbClr val="E6E6E6"/>
                </a:solidFill>
                <a:latin typeface="Consolas"/>
                <a:ea typeface="Consolas"/>
              </a:rPr>
              <a:t>[CRIT] SALES : 아카이브 로그 백업이 11.4일간 수행되지 않음</a:t>
            </a:r>
          </a:p>
          <a:p>
            <a:pPr>
              <a:spcAft>
                <a:spcPts val="0"/>
              </a:spcAft>
            </a:pPr>
            <a:r>
              <a:rPr sz="1250" b="0">
                <a:solidFill>
                  <a:srgbClr val="E6E6E6"/>
                </a:solidFill>
                <a:latin typeface="Consolas"/>
                <a:ea typeface="Consolas"/>
              </a:rPr>
              <a:t>       → 백업 스크립트에 PLUS ARCHIVELOG 누락 여부 확인</a:t>
            </a:r>
          </a:p>
          <a:p>
            <a:pPr>
              <a:spcAft>
                <a:spcPts val="0"/>
              </a:spcAft>
            </a:pPr>
            <a:r>
              <a:rPr sz="1250" b="0">
                <a:solidFill>
                  <a:srgbClr val="E6E6E6"/>
                </a:solidFill>
                <a:latin typeface="Consolas"/>
                <a:ea typeface="Consolas"/>
              </a:rPr>
              <a:t>[CRIT] SALES : 백업 없는 데이터파일 1개 (file# 7, SALES_ARCHIVE)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02 · 리포팅 계정 설계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VPC로는 읽기 전용 감사자를 만들 수 없다</a:t>
            </a:r>
          </a:p>
          <a:p>
            <a:pPr>
              <a:spcAft>
                <a:spcPts val="600"/>
              </a:spcAft>
            </a:pPr>
            <a:r>
              <a:rPr sz="1600" b="0">
                <a:solidFill>
                  <a:srgbClr val="5A6672"/>
                </a:solidFill>
                <a:latin typeface="Malgun Gothic"/>
                <a:ea typeface="Malgun Gothic"/>
              </a:rPr>
              <a:t>    –  CATALOG FOR DATABASE 는 조회와 변경을 함께 부여한다</a:t>
            </a:r>
          </a:p>
          <a:p>
            <a:pPr>
              <a:spcAft>
                <a:spcPts val="600"/>
              </a:spcAft>
            </a:pPr>
            <a:r>
              <a:rPr sz="1800" b="0">
                <a:solidFill>
                  <a:srgbClr val="202830"/>
                </a:solidFill>
                <a:latin typeface="Malgun Gothic"/>
                <a:ea typeface="Malgun Gothic"/>
              </a:rPr>
              <a:t>•  별도 계정에 RC_ 뷰 SELECT 권한만 부여한다</a:t>
            </a:r>
          </a:p>
          <a:p>
            <a:pPr>
              <a:spcAft>
                <a:spcPts val="600"/>
              </a:spcAft>
            </a:pPr>
            <a:r>
              <a:rPr sz="1600" b="0">
                <a:solidFill>
                  <a:srgbClr val="5A6672"/>
                </a:solidFill>
                <a:latin typeface="Malgun Gothic"/>
                <a:ea typeface="Malgun Gothic"/>
              </a:rPr>
              <a:t>    –  CREATE SESSION + RC_ 뷰 SELECT + QUOTA 0</a:t>
            </a:r>
          </a:p>
          <a:p>
            <a:pPr>
              <a:spcAft>
                <a:spcPts val="600"/>
              </a:spcAft>
            </a:pPr>
            <a:r>
              <a:rPr sz="1800" b="0">
                <a:solidFill>
                  <a:srgbClr val="202830"/>
                </a:solidFill>
                <a:latin typeface="Malgun Gothic"/>
                <a:ea typeface="Malgun Gothic"/>
              </a:rPr>
              <a:t>•  내부 테이블은 접근하지 못하게 둔다</a:t>
            </a:r>
          </a:p>
          <a:p>
            <a:pPr>
              <a:spcAft>
                <a:spcPts val="600"/>
              </a:spcAft>
            </a:pPr>
            <a:r>
              <a:rPr sz="1600" b="0">
                <a:solidFill>
                  <a:srgbClr val="5A6672"/>
                </a:solidFill>
                <a:latin typeface="Malgun Gothic"/>
                <a:ea typeface="Malgun Gothic"/>
              </a:rPr>
              <a:t>    –  버전 간 구조가 바뀌고 VPC 필터링도 우회한다</a:t>
            </a:r>
          </a:p>
          <a:p>
            <a:pPr>
              <a:spcAft>
                <a:spcPts val="600"/>
              </a:spcAft>
            </a:pPr>
            <a:r>
              <a:rPr sz="1800" b="0">
                <a:solidFill>
                  <a:srgbClr val="202830"/>
                </a:solidFill>
                <a:latin typeface="Malgun Gothic"/>
                <a:ea typeface="Malgun Gothic"/>
              </a:rPr>
              <a:t>•  결과 — RMAN 도구로는 접속조차 되지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03 · 로컬과 글로벌 스크립트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절차를 카탈로그에 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구분        | 로컬 스크립트           | 글로벌 스크립트</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생성 명령   | CREATE SCRIPT           | CREATE GLOBAL SCRIPT</a:t>
            </a:r>
          </a:p>
          <a:p>
            <a:pPr>
              <a:spcAft>
                <a:spcPts val="0"/>
              </a:spcAft>
            </a:pPr>
            <a:r>
              <a:rPr sz="1250" b="0">
                <a:solidFill>
                  <a:srgbClr val="E6E6E6"/>
                </a:solidFill>
                <a:latin typeface="Consolas"/>
                <a:ea typeface="Consolas"/>
              </a:rPr>
              <a:t>소속        | 특정 대상 DB            | 카탈로그 전체</a:t>
            </a:r>
          </a:p>
          <a:p>
            <a:pPr>
              <a:spcAft>
                <a:spcPts val="0"/>
              </a:spcAft>
            </a:pPr>
            <a:r>
              <a:rPr sz="1250" b="0">
                <a:solidFill>
                  <a:srgbClr val="E6E6E6"/>
                </a:solidFill>
                <a:latin typeface="Consolas"/>
                <a:ea typeface="Consolas"/>
              </a:rPr>
              <a:t>접속 요건   | 대상 DB 접속 필요       | 카탈로그만으로 생성 가능</a:t>
            </a:r>
          </a:p>
          <a:p>
            <a:pPr>
              <a:spcAft>
                <a:spcPts val="0"/>
              </a:spcAft>
            </a:pPr>
            <a:r>
              <a:rPr sz="1250" b="0">
                <a:solidFill>
                  <a:srgbClr val="E6E6E6"/>
                </a:solidFill>
                <a:latin typeface="Consolas"/>
                <a:ea typeface="Consolas"/>
              </a:rPr>
              <a:t>가시 범위   | 그 DB에서만             | 등록된 모든 DB에서</a:t>
            </a:r>
          </a:p>
          <a:p>
            <a:pPr>
              <a:spcAft>
                <a:spcPts val="0"/>
              </a:spcAft>
            </a:pPr>
            <a:r>
              <a:rPr sz="1250" b="0">
                <a:solidFill>
                  <a:srgbClr val="E6E6E6"/>
                </a:solidFill>
                <a:latin typeface="Consolas"/>
                <a:ea typeface="Consolas"/>
              </a:rPr>
              <a:t>VPC 사용자  | 자기 DB의 것만          | 모두 보임</a:t>
            </a:r>
          </a:p>
          <a:p>
            <a:pPr>
              <a:spcAft>
                <a:spcPts val="0"/>
              </a:spcAft>
            </a:pPr>
            <a:r>
              <a:rPr sz="1250" b="0">
                <a:solidFill>
                  <a:srgbClr val="E6E6E6"/>
                </a:solidFill>
                <a:latin typeface="Consolas"/>
                <a:ea typeface="Consolas"/>
              </a:rPr>
              <a:t>용도        | 그 DB만의 예외 절차     | 조직 표준 절차</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글로벌 스크립트는 VPC 경계를 넘어 공유된다.</a:t>
            </a:r>
          </a:p>
          <a:p>
            <a:pPr>
              <a:spcAft>
                <a:spcPts val="0"/>
              </a:spcAft>
            </a:pPr>
            <a:r>
              <a:rPr sz="1250" b="0">
                <a:solidFill>
                  <a:srgbClr val="7EC699"/>
                </a:solidFill>
                <a:latin typeface="Consolas"/>
                <a:ea typeface="Consolas"/>
              </a:rPr>
              <a:t>-- 표준 절차는 공유하고 데이터 범위는 나누는 구조가 가능하다.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03 · 치환 변수와 실행</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DB별 값은 파라미터로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스크립트 본문 (파일로 작성해 FROM FILE 로 등록한다)</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BACKUP INCREMENTAL LEVEL 1 CHECK LOGICAL DATABASE</a:t>
            </a:r>
          </a:p>
          <a:p>
            <a:pPr>
              <a:spcAft>
                <a:spcPts val="0"/>
              </a:spcAft>
            </a:pPr>
            <a:r>
              <a:rPr sz="1250" b="0">
                <a:solidFill>
                  <a:srgbClr val="E6E6E6"/>
                </a:solidFill>
                <a:latin typeface="Consolas"/>
                <a:ea typeface="Consolas"/>
              </a:rPr>
              <a:t>    TAG '&amp;1_INCR' MAXPIECESIZE 2G</a:t>
            </a:r>
          </a:p>
          <a:p>
            <a:pPr>
              <a:spcAft>
                <a:spcPts val="0"/>
              </a:spcAft>
            </a:pPr>
            <a:r>
              <a:rPr sz="1250" b="0">
                <a:solidFill>
                  <a:srgbClr val="E6E6E6"/>
                </a:solidFill>
                <a:latin typeface="Consolas"/>
                <a:ea typeface="Consolas"/>
              </a:rPr>
              <a:t>    PLUS ARCHIVELOG TAG '&amp;1_ARCH' NOT BACKED UP 1 TIMES;</a:t>
            </a:r>
          </a:p>
          <a:p>
            <a:pPr>
              <a:spcAft>
                <a:spcPts val="0"/>
              </a:spcAft>
            </a:pPr>
            <a:r>
              <a:rPr sz="1250" b="0">
                <a:solidFill>
                  <a:srgbClr val="E6E6E6"/>
                </a:solidFill>
                <a:latin typeface="Consolas"/>
                <a:ea typeface="Consolas"/>
              </a:rPr>
              <a:t>  BACKUP CURRENT CONTROLFILE TAG '&amp;1_CF';</a:t>
            </a:r>
          </a:p>
          <a:p>
            <a:pPr>
              <a:spcAft>
                <a:spcPts val="0"/>
              </a:spcAft>
            </a:pPr>
            <a:r>
              <a:rPr sz="1250" b="0">
                <a:solidFill>
                  <a:srgbClr val="E6E6E6"/>
                </a:solidFill>
                <a:latin typeface="Consolas"/>
                <a:ea typeface="Consolas"/>
              </a:rPr>
              <a:t>  DELETE NOPROMPT OBSOLETE;</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실행 — 반드시 RUN 블록 안에서</a:t>
            </a:r>
          </a:p>
          <a:p>
            <a:pPr>
              <a:spcAft>
                <a:spcPts val="0"/>
              </a:spcAft>
            </a:pPr>
            <a:r>
              <a:rPr sz="1250" b="0">
                <a:solidFill>
                  <a:srgbClr val="E6E6E6"/>
                </a:solidFill>
                <a:latin typeface="Consolas"/>
                <a:ea typeface="Consolas"/>
              </a:rPr>
              <a:t>RMAN&gt; RUN { EXECUTE GLOBAL SCRIPT gs_daily_incr USING 'ORCL'; }</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RUN 없이 실행하면</a:t>
            </a:r>
          </a:p>
          <a:p>
            <a:pPr>
              <a:spcAft>
                <a:spcPts val="0"/>
              </a:spcAft>
            </a:pPr>
            <a:r>
              <a:rPr sz="1250" b="0">
                <a:solidFill>
                  <a:srgbClr val="E6E6E6"/>
                </a:solidFill>
                <a:latin typeface="Consolas"/>
                <a:ea typeface="Consolas"/>
              </a:rPr>
              <a:t>RMAN-01009: syntax error: found "execute": expecting one of: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03 · 구조의 약점과 대비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스토어드 스크립트는 카탈로그에만 저장된다</a:t>
            </a:r>
          </a:p>
          <a:p>
            <a:pPr>
              <a:spcAft>
                <a:spcPts val="600"/>
              </a:spcAft>
            </a:pPr>
            <a:r>
              <a:rPr sz="1600" b="0">
                <a:solidFill>
                  <a:srgbClr val="5A6672"/>
                </a:solidFill>
                <a:latin typeface="Malgun Gothic"/>
                <a:ea typeface="Malgun Gothic"/>
              </a:rPr>
              <a:t>    –  nocatalog 로 접속하면 RMAN-06171 로 막힌다</a:t>
            </a:r>
          </a:p>
          <a:p>
            <a:pPr>
              <a:spcAft>
                <a:spcPts val="600"/>
              </a:spcAft>
            </a:pPr>
            <a:r>
              <a:rPr sz="1800" b="0">
                <a:solidFill>
                  <a:srgbClr val="202830"/>
                </a:solidFill>
                <a:latin typeface="Malgun Gothic"/>
                <a:ea typeface="Malgun Gothic"/>
              </a:rPr>
              <a:t>•  카탈로그가 내려가면 표준 백업 절차 전체가 멈춘다</a:t>
            </a:r>
          </a:p>
          <a:p>
            <a:pPr>
              <a:spcAft>
                <a:spcPts val="600"/>
              </a:spcAft>
            </a:pPr>
            <a:r>
              <a:rPr sz="1800" b="0">
                <a:solidFill>
                  <a:srgbClr val="202830"/>
                </a:solidFill>
                <a:latin typeface="Malgun Gothic"/>
                <a:ea typeface="Malgun Gothic"/>
              </a:rPr>
              <a:t>•  대비책 두 가지를 함께 준비한다</a:t>
            </a:r>
          </a:p>
          <a:p>
            <a:pPr>
              <a:spcAft>
                <a:spcPts val="600"/>
              </a:spcAft>
            </a:pPr>
            <a:r>
              <a:rPr sz="1600" b="0">
                <a:solidFill>
                  <a:srgbClr val="5A6672"/>
                </a:solidFill>
                <a:latin typeface="Malgun Gothic"/>
                <a:ea typeface="Malgun Gothic"/>
              </a:rPr>
              <a:t>    –  스크립트 본문을 파일로 상시 추출해 각 서버에 배포</a:t>
            </a:r>
          </a:p>
          <a:p>
            <a:pPr>
              <a:spcAft>
                <a:spcPts val="600"/>
              </a:spcAft>
            </a:pPr>
            <a:r>
              <a:rPr sz="1600" b="0">
                <a:solidFill>
                  <a:srgbClr val="5A6672"/>
                </a:solidFill>
                <a:latin typeface="Malgun Gothic"/>
                <a:ea typeface="Malgun Gothic"/>
              </a:rPr>
              <a:t>    –  실행기가 카탈로그 접속 실패를 감지해 폴백으로 전환</a:t>
            </a:r>
          </a:p>
          <a:p>
            <a:pPr>
              <a:spcAft>
                <a:spcPts val="600"/>
              </a:spcAft>
            </a:pPr>
            <a:r>
              <a:rPr sz="1800" b="0">
                <a:solidFill>
                  <a:srgbClr val="202830"/>
                </a:solidFill>
                <a:latin typeface="Malgun Gothic"/>
                <a:ea typeface="Malgun Gothic"/>
              </a:rPr>
              <a:t>•  폴백 수행 후에는 반드시 RESYNC CATALOG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Part 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유지관리와 보존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무엇을 지워도 되는가</a:t>
            </a:r>
          </a:p>
          <a:p>
            <a:pPr>
              <a:spcAft>
                <a:spcPts val="600"/>
              </a:spcAft>
            </a:pPr>
            <a:r>
              <a:rPr sz="1600" b="0">
                <a:solidFill>
                  <a:srgbClr val="C5CED6"/>
                </a:solidFill>
                <a:latin typeface="Malgun Gothic"/>
                <a:ea typeface="Malgun Gothic"/>
              </a:rPr>
              <a:t>•  카탈로그는 누가 지키는가</a:t>
            </a:r>
          </a:p>
          <a:p>
            <a:pPr>
              <a:spcAft>
                <a:spcPts val="600"/>
              </a:spcAft>
            </a:pPr>
            <a:r>
              <a:rPr sz="1600" b="0">
                <a:solidFill>
                  <a:srgbClr val="C5CED6"/>
                </a:solidFill>
                <a:latin typeface="Malgun Gothic"/>
                <a:ea typeface="Malgun Gothic"/>
              </a:rPr>
              <a:t>•  5년을 어떻게 보관하는가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04 · 네 가지 상태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EXPIRED와 OBSOLETE는 다른 축이다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상태        | 뜻                            | 판정 명령       | 조치</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AVAILABLE   | 기록도 있고 파일도 있다       | (기본)          | 없음</a:t>
            </a:r>
          </a:p>
          <a:p>
            <a:pPr>
              <a:spcAft>
                <a:spcPts val="0"/>
              </a:spcAft>
            </a:pPr>
            <a:r>
              <a:rPr sz="1250" b="0">
                <a:solidFill>
                  <a:srgbClr val="E6E6E6"/>
                </a:solidFill>
                <a:latin typeface="Consolas"/>
                <a:ea typeface="Consolas"/>
              </a:rPr>
              <a:t>EXPIRED     | 기록은 있는데 파일이 없다     | CROSSCHECK      | DELETE EXPIRED</a:t>
            </a:r>
          </a:p>
          <a:p>
            <a:pPr>
              <a:spcAft>
                <a:spcPts val="0"/>
              </a:spcAft>
            </a:pPr>
            <a:r>
              <a:rPr sz="1250" b="0">
                <a:solidFill>
                  <a:srgbClr val="E6E6E6"/>
                </a:solidFill>
                <a:latin typeface="Consolas"/>
                <a:ea typeface="Consolas"/>
              </a:rPr>
              <a:t>OBSOLETE    | 보존 정책상 필요 없다         | REPORT OBSOLETE | DELETE OBSOLETE</a:t>
            </a:r>
          </a:p>
          <a:p>
            <a:pPr>
              <a:spcAft>
                <a:spcPts val="0"/>
              </a:spcAft>
            </a:pPr>
            <a:r>
              <a:rPr sz="1250" b="0">
                <a:solidFill>
                  <a:srgbClr val="E6E6E6"/>
                </a:solidFill>
                <a:latin typeface="Consolas"/>
                <a:ea typeface="Consolas"/>
              </a:rPr>
              <a:t>UNAVAILABLE | 사람이 일시 제외 표시함       | (수동 지정)     | 확인 후 복원</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가장 흔한 오해</a:t>
            </a:r>
          </a:p>
          <a:p>
            <a:pPr>
              <a:spcAft>
                <a:spcPts val="0"/>
              </a:spcAft>
            </a:pPr>
            <a:r>
              <a:rPr sz="1250" b="0">
                <a:solidFill>
                  <a:srgbClr val="7EC699"/>
                </a:solidFill>
                <a:latin typeface="Consolas"/>
                <a:ea typeface="Consolas"/>
              </a:rPr>
              <a:t>--   EXPIRED 는 '오래되었다'가 아니라 '파일이 없다'는 뜻이다</a:t>
            </a:r>
          </a:p>
          <a:p>
            <a:pPr>
              <a:spcAft>
                <a:spcPts val="0"/>
              </a:spcAft>
            </a:pPr>
            <a:r>
              <a:rPr sz="1250" b="0">
                <a:solidFill>
                  <a:srgbClr val="7EC699"/>
                </a:solidFill>
                <a:latin typeface="Consolas"/>
                <a:ea typeface="Consolas"/>
              </a:rPr>
              <a:t>--   공간을 회수하는 것은 DELETE OBSOLETE 이고</a:t>
            </a:r>
          </a:p>
          <a:p>
            <a:pPr>
              <a:spcAft>
                <a:spcPts val="0"/>
              </a:spcAft>
            </a:pPr>
            <a:r>
              <a:rPr sz="1250" b="0">
                <a:solidFill>
                  <a:srgbClr val="7EC699"/>
                </a:solidFill>
                <a:latin typeface="Consolas"/>
                <a:ea typeface="Consolas"/>
              </a:rPr>
              <a:t>--   DELETE EXPIRED 는 기록만 정리한다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04 · 처리 순서와 안전 원칙</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②를 건너뛰면 사고가 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① 보존 정책 확인       — 정책이 없으면 OBSOLETE 판정 자체가 안 된다</a:t>
            </a:r>
          </a:p>
          <a:p>
            <a:pPr>
              <a:spcAft>
                <a:spcPts val="0"/>
              </a:spcAft>
            </a:pPr>
            <a:r>
              <a:rPr sz="1250" b="0">
                <a:solidFill>
                  <a:srgbClr val="E6E6E6"/>
                </a:solidFill>
                <a:latin typeface="Consolas"/>
                <a:ea typeface="Consolas"/>
              </a:rPr>
              <a:t>② 저장 장치 마운트 확인 — 안 되어 있으면 CROSSCHECK 가 전량을 EXPIRED 로</a:t>
            </a:r>
          </a:p>
          <a:p>
            <a:pPr>
              <a:spcAft>
                <a:spcPts val="0"/>
              </a:spcAft>
            </a:pPr>
            <a:r>
              <a:rPr sz="1250" b="0">
                <a:solidFill>
                  <a:srgbClr val="E6E6E6"/>
                </a:solidFill>
                <a:latin typeface="Consolas"/>
                <a:ea typeface="Consolas"/>
              </a:rPr>
              <a:t>③ CROSSCHECK          — 기록과 파일을 대조한다</a:t>
            </a:r>
          </a:p>
          <a:p>
            <a:pPr>
              <a:spcAft>
                <a:spcPts val="0"/>
              </a:spcAft>
            </a:pPr>
            <a:r>
              <a:rPr sz="1250" b="0">
                <a:solidFill>
                  <a:srgbClr val="E6E6E6"/>
                </a:solidFill>
                <a:latin typeface="Consolas"/>
                <a:ea typeface="Consolas"/>
              </a:rPr>
              <a:t>④ EXPIRED 목록 검토    — 지우기 전에 사람이 본다</a:t>
            </a:r>
          </a:p>
          <a:p>
            <a:pPr>
              <a:spcAft>
                <a:spcPts val="0"/>
              </a:spcAft>
            </a:pPr>
            <a:r>
              <a:rPr sz="1250" b="0">
                <a:solidFill>
                  <a:srgbClr val="E6E6E6"/>
                </a:solidFill>
                <a:latin typeface="Consolas"/>
                <a:ea typeface="Consolas"/>
              </a:rPr>
              <a:t>⑤ DELETE EXPIRED      — 기록만 지운다</a:t>
            </a:r>
          </a:p>
          <a:p>
            <a:pPr>
              <a:spcAft>
                <a:spcPts val="0"/>
              </a:spcAft>
            </a:pPr>
            <a:r>
              <a:rPr sz="1250" b="0">
                <a:solidFill>
                  <a:srgbClr val="E6E6E6"/>
                </a:solidFill>
                <a:latin typeface="Consolas"/>
                <a:ea typeface="Consolas"/>
              </a:rPr>
              <a:t>⑥ REPORT OBSOLETE     — 지울 대상을 미리 본다</a:t>
            </a:r>
          </a:p>
          <a:p>
            <a:pPr>
              <a:spcAft>
                <a:spcPts val="0"/>
              </a:spcAft>
            </a:pPr>
            <a:r>
              <a:rPr sz="1250" b="0">
                <a:solidFill>
                  <a:srgbClr val="E6E6E6"/>
                </a:solidFill>
                <a:latin typeface="Consolas"/>
                <a:ea typeface="Consolas"/>
              </a:rPr>
              <a:t>⑦ DELETE OBSOLETE     — 기록과 파일을 함께 지운다 (공간 회수)</a:t>
            </a:r>
          </a:p>
          <a:p>
            <a:pPr>
              <a:spcAft>
                <a:spcPts val="0"/>
              </a:spcAft>
            </a:pPr>
            <a:r>
              <a:rPr sz="1250" b="0">
                <a:solidFill>
                  <a:srgbClr val="E6E6E6"/>
                </a:solidFill>
                <a:latin typeface="Consolas"/>
                <a:ea typeface="Consolas"/>
              </a:rPr>
              <a:t>⑧ CATALOG START WITH  — 기록 없는 파일을 되찾는다</a:t>
            </a:r>
          </a:p>
          <a:p>
            <a:pPr>
              <a:spcAft>
                <a:spcPts val="0"/>
              </a:spcAft>
            </a:pPr>
            <a:r>
              <a:rPr sz="1250" b="0">
                <a:solidFill>
                  <a:srgbClr val="E6E6E6"/>
                </a:solidFill>
                <a:latin typeface="Consolas"/>
                <a:ea typeface="Consolas"/>
              </a:rPr>
              <a:t>⑨ RESTORE PREVIEW     — 지운 뒤에도 복구 가능한지 확인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05 · 카탈로그 3중 보호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백업을 관리하는 것을 백업한다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계층 | 수단                         | 복구 대상   | 소요</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1차  | rcat DB의 RMAN 백업          | DB 전체     | 30~60분</a:t>
            </a:r>
          </a:p>
          <a:p>
            <a:pPr>
              <a:spcAft>
                <a:spcPts val="0"/>
              </a:spcAft>
            </a:pPr>
            <a:r>
              <a:rPr sz="1250" b="0">
                <a:solidFill>
                  <a:srgbClr val="E6E6E6"/>
                </a:solidFill>
                <a:latin typeface="Consolas"/>
                <a:ea typeface="Consolas"/>
              </a:rPr>
              <a:t>2차  | 카탈로그 스키마 Data Pump    | 스키마만    | 약 11분</a:t>
            </a:r>
          </a:p>
          <a:p>
            <a:pPr>
              <a:spcAft>
                <a:spcPts val="0"/>
              </a:spcAft>
            </a:pPr>
            <a:r>
              <a:rPr sz="1250" b="0">
                <a:solidFill>
                  <a:srgbClr val="E6E6E6"/>
                </a:solidFill>
                <a:latin typeface="Consolas"/>
                <a:ea typeface="Consolas"/>
              </a:rPr>
              <a:t>3차  | 스토어드 스크립트 파일 추출  | 절차만      | 즉시</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절대 원칙 : rcat 의 백업은 nocatalog 로 받는다</a:t>
            </a:r>
          </a:p>
          <a:p>
            <a:pPr>
              <a:spcAft>
                <a:spcPts val="0"/>
              </a:spcAft>
            </a:pPr>
            <a:r>
              <a:rPr sz="1250" b="0">
                <a:solidFill>
                  <a:srgbClr val="7EC699"/>
                </a:solidFill>
                <a:latin typeface="Consolas"/>
                <a:ea typeface="Consolas"/>
              </a:rPr>
              <a:t>-- 자기 자신을 저장소로 쓰면 그것이 사라졌을 때 복구할 수 없다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카탈로그가 없어도 버틸 수 있게 한다</a:t>
            </a:r>
          </a:p>
          <a:p>
            <a:pPr>
              <a:spcAft>
                <a:spcPts val="0"/>
              </a:spcAft>
            </a:pPr>
            <a:r>
              <a:rPr sz="1250" b="0">
                <a:solidFill>
                  <a:srgbClr val="7EC699"/>
                </a:solidFill>
                <a:latin typeface="Consolas"/>
                <a:ea typeface="Consolas"/>
              </a:rPr>
              <a:t>-- CONTROL_FILE_RECORD_KEEP_TIME &gt;= 보존 기간 + 카탈로그 복구 여유</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05 · 통합과 업그레이드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방향과 순서가 정해져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통합 : 대상 카탈로그로 접속해 원본을 지정한다</a:t>
            </a:r>
          </a:p>
          <a:p>
            <a:pPr>
              <a:spcAft>
                <a:spcPts val="0"/>
              </a:spcAft>
            </a:pPr>
            <a:r>
              <a:rPr sz="1250" b="0">
                <a:solidFill>
                  <a:srgbClr val="E6E6E6"/>
                </a:solidFill>
                <a:latin typeface="Consolas"/>
                <a:ea typeface="Consolas"/>
              </a:rPr>
              <a:t>RMAN&gt; IMPORT CATALOG rcatowner2/pw@rcat;</a:t>
            </a:r>
          </a:p>
          <a:p>
            <a:pPr>
              <a:spcAft>
                <a:spcPts val="0"/>
              </a:spcAft>
            </a:pPr>
            <a:r>
              <a:rPr sz="1250" b="0">
                <a:solidFill>
                  <a:srgbClr val="E6E6E6"/>
                </a:solidFill>
                <a:latin typeface="Consolas"/>
                <a:ea typeface="Consolas"/>
              </a:rPr>
              <a:t>RMAN&gt; IMPORT CATALOG rcatowner2/pw@rcat NO UNREGISTER;   -- 검증 기간</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같은 DBID가 대상에 있으면</a:t>
            </a:r>
          </a:p>
          <a:p>
            <a:pPr>
              <a:spcAft>
                <a:spcPts val="0"/>
              </a:spcAft>
            </a:pPr>
            <a:r>
              <a:rPr sz="1250" b="0">
                <a:solidFill>
                  <a:srgbClr val="E6E6E6"/>
                </a:solidFill>
                <a:latin typeface="Consolas"/>
                <a:ea typeface="Consolas"/>
              </a:rPr>
              <a:t>RMAN-20002: target database already registered in recovery catalog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업그레이드 : 두 번 입력해 확인한다</a:t>
            </a:r>
          </a:p>
          <a:p>
            <a:pPr>
              <a:spcAft>
                <a:spcPts val="0"/>
              </a:spcAft>
            </a:pPr>
            <a:r>
              <a:rPr sz="1250" b="0">
                <a:solidFill>
                  <a:srgbClr val="E6E6E6"/>
                </a:solidFill>
                <a:latin typeface="Consolas"/>
                <a:ea typeface="Consolas"/>
              </a:rPr>
              <a:t>RMAN&gt; UPGRADE CATALOG;</a:t>
            </a:r>
          </a:p>
          <a:p>
            <a:pPr>
              <a:spcAft>
                <a:spcPts val="0"/>
              </a:spcAft>
            </a:pPr>
            <a:r>
              <a:rPr sz="1250" b="0">
                <a:solidFill>
                  <a:srgbClr val="E6E6E6"/>
                </a:solidFill>
                <a:latin typeface="Consolas"/>
                <a:ea typeface="Consolas"/>
              </a:rPr>
              <a:t>enter UPGRADE CATALOG command again to confirm catalog upgrade</a:t>
            </a:r>
          </a:p>
          <a:p>
            <a:pPr>
              <a:spcAft>
                <a:spcPts val="0"/>
              </a:spcAft>
            </a:pPr>
            <a:r>
              <a:rPr sz="1250" b="0">
                <a:solidFill>
                  <a:srgbClr val="E6E6E6"/>
                </a:solidFill>
                <a:latin typeface="Consolas"/>
                <a:ea typeface="Consolas"/>
              </a:rPr>
              <a:t>RMAN&gt; UPGRADE CATALOG;</a:t>
            </a:r>
          </a:p>
          <a:p>
            <a:pPr>
              <a:spcAft>
                <a:spcPts val="0"/>
              </a:spcAft>
            </a:pPr>
            <a:r>
              <a:rPr sz="1250" b="0">
                <a:solidFill>
                  <a:srgbClr val="E6E6E6"/>
                </a:solidFill>
                <a:latin typeface="Consolas"/>
                <a:ea typeface="Consolas"/>
              </a:rPr>
              <a:t>recovery catalog upgraded to version 19.03.00.00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버전 규칙 : 카탈로그 스키마 &gt;= RMAN 클라이언트</a:t>
            </a:r>
          </a:p>
          <a:p>
            <a:pPr>
              <a:spcAft>
                <a:spcPts val="0"/>
              </a:spcAft>
            </a:pPr>
            <a:r>
              <a:rPr sz="1250" b="0">
                <a:solidFill>
                  <a:srgbClr val="E6E6E6"/>
                </a:solidFill>
                <a:latin typeface="Consolas"/>
                <a:ea typeface="Consolas"/>
              </a:rPr>
              <a:t>RMAN-06429: RCVCAT database is not compatible with this version of RMAN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06 · KEEP 세 가지 형태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FOREVER는 카탈로그가 있어야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구문                          | 보존 기한 | 카탈로그 | 용도</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KEEP UNTIL TIME '&lt;날짜&gt;'      | 지정 시각 | 불필요   | 기한이 정해진 보관</a:t>
            </a:r>
          </a:p>
          <a:p>
            <a:pPr>
              <a:spcAft>
                <a:spcPts val="0"/>
              </a:spcAft>
            </a:pPr>
            <a:r>
              <a:rPr sz="1250" b="0">
                <a:solidFill>
                  <a:srgbClr val="E6E6E6"/>
                </a:solidFill>
                <a:latin typeface="Consolas"/>
                <a:ea typeface="Consolas"/>
              </a:rPr>
              <a:t>KEEP FOREVER                  | 무기한    | 필수     | 영구 보관</a:t>
            </a:r>
          </a:p>
          <a:p>
            <a:pPr>
              <a:spcAft>
                <a:spcPts val="0"/>
              </a:spcAft>
            </a:pPr>
            <a:r>
              <a:rPr sz="1250" b="0">
                <a:solidFill>
                  <a:srgbClr val="E6E6E6"/>
                </a:solidFill>
                <a:latin typeface="Consolas"/>
                <a:ea typeface="Consolas"/>
              </a:rPr>
              <a:t>KEEP ... RESTORE POINT &lt;이름&gt; | 위와 동일 | 위와 동일| 시점에 이름 부여</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카탈로그가 필요한 이유</a:t>
            </a:r>
          </a:p>
          <a:p>
            <a:pPr>
              <a:spcAft>
                <a:spcPts val="0"/>
              </a:spcAft>
            </a:pPr>
            <a:r>
              <a:rPr sz="1250" b="0">
                <a:solidFill>
                  <a:srgbClr val="7EC699"/>
                </a:solidFill>
                <a:latin typeface="Consolas"/>
                <a:ea typeface="Consolas"/>
              </a:rPr>
              <a:t>--   컨트롤파일은 순환 재사용 영역이다</a:t>
            </a:r>
          </a:p>
          <a:p>
            <a:pPr>
              <a:spcAft>
                <a:spcPts val="0"/>
              </a:spcAft>
            </a:pPr>
            <a:r>
              <a:rPr sz="1250" b="0">
                <a:solidFill>
                  <a:srgbClr val="7EC699"/>
                </a:solidFill>
                <a:latin typeface="Consolas"/>
                <a:ea typeface="Consolas"/>
              </a:rPr>
              <a:t>--   CONTROL_FILE_RECORD_KEEP_TIME 이 지나면 기록이 덮인다</a:t>
            </a:r>
          </a:p>
          <a:p>
            <a:pPr>
              <a:spcAft>
                <a:spcPts val="0"/>
              </a:spcAft>
            </a:pPr>
            <a:r>
              <a:rPr sz="1250" b="0">
                <a:solidFill>
                  <a:srgbClr val="7EC699"/>
                </a:solidFill>
                <a:latin typeface="Consolas"/>
                <a:ea typeface="Consolas"/>
              </a:rPr>
              <a:t>--   '영원히'를 보장할 수 있는 저장소가 카탈로그뿐이다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RMAN-06511: cannot use KEEP FOREVER option without a recovery catalog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06 · KEEP 백업의 성질</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보존 정책의 대상에서 제외된다</a:t>
            </a:r>
          </a:p>
          <a:p>
            <a:pPr>
              <a:spcAft>
                <a:spcPts val="600"/>
              </a:spcAft>
            </a:pPr>
            <a:r>
              <a:rPr sz="1600" b="0">
                <a:solidFill>
                  <a:srgbClr val="5A6672"/>
                </a:solidFill>
                <a:latin typeface="Malgun Gothic"/>
                <a:ea typeface="Malgun Gothic"/>
              </a:rPr>
              <a:t>    –  REPORT OBSOLETE 에 나타나지 않고 DELETE OBSOLETE 로 지워지지 않는다</a:t>
            </a:r>
          </a:p>
          <a:p>
            <a:pPr>
              <a:spcAft>
                <a:spcPts val="600"/>
              </a:spcAft>
            </a:pPr>
            <a:r>
              <a:rPr sz="1800" b="0">
                <a:solidFill>
                  <a:srgbClr val="202830"/>
                </a:solidFill>
                <a:latin typeface="Malgun Gothic"/>
                <a:ea typeface="Malgun Gothic"/>
              </a:rPr>
              <a:t>•  자기 완결적으로 만들어진다</a:t>
            </a:r>
          </a:p>
          <a:p>
            <a:pPr>
              <a:spcAft>
                <a:spcPts val="600"/>
              </a:spcAft>
            </a:pPr>
            <a:r>
              <a:rPr sz="1600" b="0">
                <a:solidFill>
                  <a:srgbClr val="5A6672"/>
                </a:solidFill>
                <a:latin typeface="Malgun Gothic"/>
                <a:ea typeface="Malgun Gothic"/>
              </a:rPr>
              <a:t>    –  복원에 필요한 아카이브·spfile·컨트롤파일이 함께 백업된다</a:t>
            </a:r>
          </a:p>
          <a:p>
            <a:pPr>
              <a:spcAft>
                <a:spcPts val="600"/>
              </a:spcAft>
            </a:pPr>
            <a:r>
              <a:rPr sz="1800" b="0">
                <a:solidFill>
                  <a:srgbClr val="202830"/>
                </a:solidFill>
                <a:latin typeface="Malgun Gothic"/>
                <a:ea typeface="Malgun Gothic"/>
              </a:rPr>
              <a:t>•  FRA 에 저장할 수 없다 — ORA-19811</a:t>
            </a:r>
          </a:p>
          <a:p>
            <a:pPr>
              <a:spcAft>
                <a:spcPts val="600"/>
              </a:spcAft>
            </a:pPr>
            <a:r>
              <a:rPr sz="1600" b="0">
                <a:solidFill>
                  <a:srgbClr val="5A6672"/>
                </a:solidFill>
                <a:latin typeface="Malgun Gothic"/>
                <a:ea typeface="Malgun Gothic"/>
              </a:rPr>
              <a:t>    –  자동 관리와 영구 보관은 양립하지 않는다</a:t>
            </a:r>
          </a:p>
          <a:p>
            <a:pPr>
              <a:spcAft>
                <a:spcPts val="600"/>
              </a:spcAft>
            </a:pPr>
            <a:r>
              <a:rPr sz="1800" b="0">
                <a:solidFill>
                  <a:srgbClr val="202830"/>
                </a:solidFill>
                <a:latin typeface="Malgun Gothic"/>
                <a:ea typeface="Malgun Gothic"/>
              </a:rPr>
              <a:t>•  사후에 CHANGE ... KEEP 을 걸면 위험하다</a:t>
            </a:r>
          </a:p>
          <a:p>
            <a:pPr>
              <a:spcAft>
                <a:spcPts val="600"/>
              </a:spcAft>
            </a:pPr>
            <a:r>
              <a:rPr sz="1600" b="0">
                <a:solidFill>
                  <a:srgbClr val="5A6672"/>
                </a:solidFill>
                <a:latin typeface="Malgun Gothic"/>
                <a:ea typeface="Malgun Gothic"/>
              </a:rPr>
              <a:t>    –  필요한 아카이브가 이미 지워졌을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Part 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실전 활용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카탈로그만 남았을 때</a:t>
            </a:r>
          </a:p>
          <a:p>
            <a:pPr>
              <a:spcAft>
                <a:spcPts val="600"/>
              </a:spcAft>
            </a:pPr>
            <a:r>
              <a:rPr sz="1600" b="0">
                <a:solidFill>
                  <a:srgbClr val="C5CED6"/>
                </a:solidFill>
                <a:latin typeface="Malgun Gothic"/>
                <a:ea typeface="Malgun Gothic"/>
              </a:rPr>
              <a:t>•  왜 느려지는지 데이터로</a:t>
            </a:r>
          </a:p>
          <a:p>
            <a:pPr>
              <a:spcAft>
                <a:spcPts val="600"/>
              </a:spcAft>
            </a:pPr>
            <a:r>
              <a:rPr sz="1600" b="0">
                <a:solidFill>
                  <a:srgbClr val="C5CED6"/>
                </a:solidFill>
                <a:latin typeface="Malgun Gothic"/>
                <a:ea typeface="Malgun Gothic"/>
              </a:rPr>
              <a:t>•  복구된다고 어떻게 확신하는가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07 · 카탈로그에서 수집할 정보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이것 없이는 계획도 못 세운다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정보              | 조회 대상             | 없으면 생기는 문제</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DBID              | rc_database           | 자동 백업을 찾지 못한다</a:t>
            </a:r>
          </a:p>
          <a:p>
            <a:pPr>
              <a:spcAft>
                <a:spcPts val="0"/>
              </a:spcAft>
            </a:pPr>
            <a:r>
              <a:rPr sz="1250" b="0">
                <a:solidFill>
                  <a:srgbClr val="E6E6E6"/>
                </a:solidFill>
                <a:latin typeface="Consolas"/>
                <a:ea typeface="Consolas"/>
              </a:rPr>
              <a:t>데이터파일 구성   | rc_datafile           | SET NEWNAME 목록을 못 만든다</a:t>
            </a:r>
          </a:p>
          <a:p>
            <a:pPr>
              <a:spcAft>
                <a:spcPts val="0"/>
              </a:spcAft>
            </a:pPr>
            <a:r>
              <a:rPr sz="1250" b="0">
                <a:solidFill>
                  <a:srgbClr val="E6E6E6"/>
                </a:solidFill>
                <a:latin typeface="Consolas"/>
                <a:ea typeface="Consolas"/>
              </a:rPr>
              <a:t>리두 로그 구성    | rc_redo_log           | LOGFILE 절을 못 만든다</a:t>
            </a:r>
          </a:p>
          <a:p>
            <a:pPr>
              <a:spcAft>
                <a:spcPts val="0"/>
              </a:spcAft>
            </a:pPr>
            <a:r>
              <a:rPr sz="1250" b="0">
                <a:solidFill>
                  <a:srgbClr val="E6E6E6"/>
                </a:solidFill>
                <a:latin typeface="Consolas"/>
                <a:ea typeface="Consolas"/>
              </a:rPr>
              <a:t>마지막 백업 시각  | rc_backup_set         | 손실 범위를 산정할 수 없다</a:t>
            </a:r>
          </a:p>
          <a:p>
            <a:pPr>
              <a:spcAft>
                <a:spcPts val="0"/>
              </a:spcAft>
            </a:pPr>
            <a:r>
              <a:rPr sz="1250" b="0">
                <a:solidFill>
                  <a:srgbClr val="E6E6E6"/>
                </a:solidFill>
                <a:latin typeface="Consolas"/>
                <a:ea typeface="Consolas"/>
              </a:rPr>
              <a:t>백업된 아카이브   | rc_archived_log       | 복구 종점을 모른다</a:t>
            </a:r>
          </a:p>
          <a:p>
            <a:pPr>
              <a:spcAft>
                <a:spcPts val="0"/>
              </a:spcAft>
            </a:pPr>
            <a:r>
              <a:rPr sz="1250" b="0">
                <a:solidFill>
                  <a:srgbClr val="E6E6E6"/>
                </a:solidFill>
                <a:latin typeface="Consolas"/>
                <a:ea typeface="Consolas"/>
              </a:rPr>
              <a:t>백업 조각 경로    | rc_backup_piece       | 매체를 준비할 수 없다</a:t>
            </a:r>
          </a:p>
          <a:p>
            <a:pPr>
              <a:spcAft>
                <a:spcPts val="0"/>
              </a:spcAft>
            </a:pPr>
            <a:r>
              <a:rPr sz="1250" b="0">
                <a:solidFill>
                  <a:srgbClr val="E6E6E6"/>
                </a:solidFill>
                <a:latin typeface="Consolas"/>
                <a:ea typeface="Consolas"/>
              </a:rPr>
              <a:t>CONFIGURE 설정    | rc_rman_configuration | 채널 구성을 재현할 수 없다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07 · 복구 순서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순서를 바꿀 수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① 카탈로그에서 정보 수집       ⑦ SET NEWNAME + RESTORE + SWITCH</a:t>
            </a:r>
          </a:p>
          <a:p>
            <a:pPr>
              <a:spcAft>
                <a:spcPts val="0"/>
              </a:spcAft>
            </a:pPr>
            <a:r>
              <a:rPr sz="1250" b="0">
                <a:solidFill>
                  <a:srgbClr val="E6E6E6"/>
                </a:solidFill>
                <a:latin typeface="Consolas"/>
                <a:ea typeface="Consolas"/>
              </a:rPr>
              <a:t>② 대상 서버 준비               ⑧ RECOVER</a:t>
            </a:r>
          </a:p>
          <a:p>
            <a:pPr>
              <a:spcAft>
                <a:spcPts val="0"/>
              </a:spcAft>
            </a:pPr>
            <a:r>
              <a:rPr sz="1250" b="0">
                <a:solidFill>
                  <a:srgbClr val="E6E6E6"/>
                </a:solidFill>
                <a:latin typeface="Consolas"/>
                <a:ea typeface="Consolas"/>
              </a:rPr>
              <a:t>③ NOMOUNT 기동                 ⑨ OPEN RESETLOGS</a:t>
            </a:r>
          </a:p>
          <a:p>
            <a:pPr>
              <a:spcAft>
                <a:spcPts val="0"/>
              </a:spcAft>
            </a:pPr>
            <a:r>
              <a:rPr sz="1250" b="0">
                <a:solidFill>
                  <a:srgbClr val="E6E6E6"/>
                </a:solidFill>
                <a:latin typeface="Consolas"/>
                <a:ea typeface="Consolas"/>
              </a:rPr>
              <a:t>④ spfile 복원                  ⑩ 리스너·검증</a:t>
            </a:r>
          </a:p>
          <a:p>
            <a:pPr>
              <a:spcAft>
                <a:spcPts val="0"/>
              </a:spcAft>
            </a:pPr>
            <a:r>
              <a:rPr sz="1250" b="0">
                <a:solidFill>
                  <a:srgbClr val="E6E6E6"/>
                </a:solidFill>
                <a:latin typeface="Consolas"/>
                <a:ea typeface="Consolas"/>
              </a:rPr>
              <a:t>⑤ spfile 경로 수정 후 재기동    ⑪ 새 인카네이션 전체 백업</a:t>
            </a:r>
          </a:p>
          <a:p>
            <a:pPr>
              <a:spcAft>
                <a:spcPts val="0"/>
              </a:spcAft>
            </a:pPr>
            <a:r>
              <a:rPr sz="1250" b="0">
                <a:solidFill>
                  <a:srgbClr val="E6E6E6"/>
                </a:solidFill>
                <a:latin typeface="Consolas"/>
                <a:ea typeface="Consolas"/>
              </a:rPr>
              <a:t>⑥ 컨트롤파일 복원 후 MOUNT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네 명령이 한 묶음이다. 하나라도 빠지면 막힌다</a:t>
            </a:r>
          </a:p>
          <a:p>
            <a:pPr>
              <a:spcAft>
                <a:spcPts val="0"/>
              </a:spcAft>
            </a:pPr>
            <a:r>
              <a:rPr sz="1250" b="0">
                <a:solidFill>
                  <a:srgbClr val="7EC699"/>
                </a:solidFill>
                <a:latin typeface="Consolas"/>
                <a:ea typeface="Consolas"/>
              </a:rPr>
              <a:t>--   SET NEWNAME  어디에 복원할지 지정</a:t>
            </a:r>
          </a:p>
          <a:p>
            <a:pPr>
              <a:spcAft>
                <a:spcPts val="0"/>
              </a:spcAft>
            </a:pPr>
            <a:r>
              <a:rPr sz="1250" b="0">
                <a:solidFill>
                  <a:srgbClr val="7EC699"/>
                </a:solidFill>
                <a:latin typeface="Consolas"/>
                <a:ea typeface="Consolas"/>
              </a:rPr>
              <a:t>--   RESTORE      그 위치에 파일을 만든다</a:t>
            </a:r>
          </a:p>
          <a:p>
            <a:pPr>
              <a:spcAft>
                <a:spcPts val="0"/>
              </a:spcAft>
            </a:pPr>
            <a:r>
              <a:rPr sz="1250" b="0">
                <a:solidFill>
                  <a:srgbClr val="7EC699"/>
                </a:solidFill>
                <a:latin typeface="Consolas"/>
                <a:ea typeface="Consolas"/>
              </a:rPr>
              <a:t>--   SWITCH       컨트롤파일이 그 파일을 인식하게 한다</a:t>
            </a:r>
          </a:p>
          <a:p>
            <a:pPr>
              <a:spcAft>
                <a:spcPts val="0"/>
              </a:spcAft>
            </a:pPr>
            <a:r>
              <a:rPr sz="1250" b="0">
                <a:solidFill>
                  <a:srgbClr val="7EC699"/>
                </a:solidFill>
                <a:latin typeface="Consolas"/>
                <a:ea typeface="Consolas"/>
              </a:rPr>
              <a:t>--   RECOVER      그 파일에 리두를 적용한다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07 · RTO 실측</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추정이 아니라 측정값을 남긴다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단계                        | 추정   | 실측   | 비고</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① 카탈로그 정보 수집       | 10분   | 14분   | 조회 작성에 시간</a:t>
            </a:r>
          </a:p>
          <a:p>
            <a:pPr>
              <a:spcAft>
                <a:spcPts val="0"/>
              </a:spcAft>
            </a:pPr>
            <a:r>
              <a:rPr sz="1250" b="0">
                <a:solidFill>
                  <a:srgbClr val="E6E6E6"/>
                </a:solidFill>
                <a:latin typeface="Consolas"/>
                <a:ea typeface="Consolas"/>
              </a:rPr>
              <a:t>④⑤ spfile 복원·수정        |  8분   | 10분   | 경로 확인에 시간</a:t>
            </a:r>
          </a:p>
          <a:p>
            <a:pPr>
              <a:spcAft>
                <a:spcPts val="0"/>
              </a:spcAft>
            </a:pPr>
            <a:r>
              <a:rPr sz="1250" b="0">
                <a:solidFill>
                  <a:srgbClr val="E6E6E6"/>
                </a:solidFill>
                <a:latin typeface="Consolas"/>
                <a:ea typeface="Consolas"/>
              </a:rPr>
              <a:t>⑥ 컨트롤파일 복원·MOUNT    |  5분   |  3분   |</a:t>
            </a:r>
          </a:p>
          <a:p>
            <a:pPr>
              <a:spcAft>
                <a:spcPts val="0"/>
              </a:spcAft>
            </a:pPr>
            <a:r>
              <a:rPr sz="1250" b="0">
                <a:solidFill>
                  <a:srgbClr val="E6E6E6"/>
                </a:solidFill>
                <a:latin typeface="Consolas"/>
                <a:ea typeface="Consolas"/>
              </a:rPr>
              <a:t>⑦ RESTORE + SWITCH         | 40분   | 19분   | 로컬 디스크</a:t>
            </a:r>
          </a:p>
          <a:p>
            <a:pPr>
              <a:spcAft>
                <a:spcPts val="0"/>
              </a:spcAft>
            </a:pPr>
            <a:r>
              <a:rPr sz="1250" b="0">
                <a:solidFill>
                  <a:srgbClr val="E6E6E6"/>
                </a:solidFill>
                <a:latin typeface="Consolas"/>
                <a:ea typeface="Consolas"/>
              </a:rPr>
              <a:t>⑧ RECOVER                  | 20분   | 12분   |</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오픈까지 합계               | 100분  | 67분   |</a:t>
            </a:r>
          </a:p>
          <a:p>
            <a:pPr>
              <a:spcAft>
                <a:spcPts val="0"/>
              </a:spcAft>
            </a:pPr>
            <a:r>
              <a:rPr sz="1250" b="0">
                <a:solidFill>
                  <a:srgbClr val="E6E6E6"/>
                </a:solidFill>
                <a:latin typeface="Consolas"/>
                <a:ea typeface="Consolas"/>
              </a:rPr>
              <a:t>⑪ 새 기준 백업 포함         | 130분  | 95분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08 · 분석 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의견이 아니라 데이터로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축                | 지표                       | 조회 대상</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처리량            | input_bytes / elapsed_sec  | rc_rman_backup_job_details</a:t>
            </a:r>
          </a:p>
          <a:p>
            <a:pPr>
              <a:spcAft>
                <a:spcPts val="0"/>
              </a:spcAft>
            </a:pPr>
            <a:r>
              <a:rPr sz="1250" b="0">
                <a:solidFill>
                  <a:srgbClr val="E6E6E6"/>
                </a:solidFill>
                <a:latin typeface="Consolas"/>
                <a:ea typeface="Consolas"/>
              </a:rPr>
              <a:t>증분 효율         | input_bytes / output_bytes | 위와 동일</a:t>
            </a:r>
          </a:p>
          <a:p>
            <a:pPr>
              <a:spcAft>
                <a:spcPts val="0"/>
              </a:spcAft>
            </a:pPr>
            <a:r>
              <a:rPr sz="1250" b="0">
                <a:solidFill>
                  <a:srgbClr val="E6E6E6"/>
                </a:solidFill>
                <a:latin typeface="Consolas"/>
                <a:ea typeface="Consolas"/>
              </a:rPr>
              <a:t>변경 추적 사용    | used_change_tracking       | v$backup_datafile</a:t>
            </a:r>
          </a:p>
          <a:p>
            <a:pPr>
              <a:spcAft>
                <a:spcPts val="0"/>
              </a:spcAft>
            </a:pPr>
            <a:r>
              <a:rPr sz="1250" b="0">
                <a:solidFill>
                  <a:srgbClr val="E6E6E6"/>
                </a:solidFill>
                <a:latin typeface="Consolas"/>
                <a:ea typeface="Consolas"/>
              </a:rPr>
              <a:t>채널별 편중       | 채널별 처리량              | v$backup_async_io</a:t>
            </a:r>
          </a:p>
          <a:p>
            <a:pPr>
              <a:spcAft>
                <a:spcPts val="0"/>
              </a:spcAft>
            </a:pPr>
            <a:r>
              <a:rPr sz="1250" b="0">
                <a:solidFill>
                  <a:srgbClr val="E6E6E6"/>
                </a:solidFill>
                <a:latin typeface="Consolas"/>
                <a:ea typeface="Consolas"/>
              </a:rPr>
              <a:t>작업 시간 중복    | start_time / end_time 교차 | rc_rman_backup_job_details</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핵심 질문 : 증분 백업이 왜 전체 백업만큼 오래 걸리는가</a:t>
            </a:r>
          </a:p>
          <a:p>
            <a:pPr>
              <a:spcAft>
                <a:spcPts val="0"/>
              </a:spcAft>
            </a:pPr>
            <a:r>
              <a:rPr sz="1250" b="0">
                <a:solidFill>
                  <a:srgbClr val="7EC699"/>
                </a:solidFill>
                <a:latin typeface="Consolas"/>
                <a:ea typeface="Consolas"/>
              </a:rPr>
              <a:t>-- 증분은 변경된 블록만 쓰지만 기본 동작은 전체 블록을 읽는다</a:t>
            </a:r>
          </a:p>
          <a:p>
            <a:pPr>
              <a:spcAft>
                <a:spcPts val="0"/>
              </a:spcAft>
            </a:pPr>
            <a:r>
              <a:rPr sz="1250" b="0">
                <a:solidFill>
                  <a:srgbClr val="7EC699"/>
                </a:solidFill>
                <a:latin typeface="Consolas"/>
                <a:ea typeface="Consolas"/>
              </a:rPr>
              <a:t>-- 읽는 양이 DB 크기에 근접하면 Block Change Tracking 검토 대상이다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08 · 개선안별 측정 결과</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하나씩 적용하고 매번 측정한다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구성                              | 소요   | 읽기   | 쓰기  | 판정</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기준선 (채널2, BCT 없음)          | 1004초 | 8.42GB | 204MB |</a:t>
            </a:r>
          </a:p>
          <a:p>
            <a:pPr>
              <a:spcAft>
                <a:spcPts val="0"/>
              </a:spcAft>
            </a:pPr>
            <a:r>
              <a:rPr sz="1250" b="0">
                <a:solidFill>
                  <a:srgbClr val="E6E6E6"/>
                </a:solidFill>
                <a:latin typeface="Consolas"/>
                <a:ea typeface="Consolas"/>
              </a:rPr>
              <a:t>+ BCT (기준 Level 0 없음)         |  996초 | 8.42GB | 206MB | 효과 없음</a:t>
            </a:r>
          </a:p>
          <a:p>
            <a:pPr>
              <a:spcAft>
                <a:spcPts val="0"/>
              </a:spcAft>
            </a:pPr>
            <a:r>
              <a:rPr sz="1250" b="0">
                <a:solidFill>
                  <a:srgbClr val="E6E6E6"/>
                </a:solidFill>
                <a:latin typeface="Consolas"/>
                <a:ea typeface="Consolas"/>
              </a:rPr>
              <a:t>+ BCT (기준 Level 0 후)           |  140초 | 0.68GB | 187MB | -86%</a:t>
            </a:r>
          </a:p>
          <a:p>
            <a:pPr>
              <a:spcAft>
                <a:spcPts val="0"/>
              </a:spcAft>
            </a:pPr>
            <a:r>
              <a:rPr sz="1250" b="0">
                <a:solidFill>
                  <a:srgbClr val="E6E6E6"/>
                </a:solidFill>
                <a:latin typeface="Consolas"/>
                <a:ea typeface="Consolas"/>
              </a:rPr>
              <a:t>+ 채널 4                          |  129초 | 0.67GB | 188MB | -8%</a:t>
            </a:r>
          </a:p>
          <a:p>
            <a:pPr>
              <a:spcAft>
                <a:spcPts val="0"/>
              </a:spcAft>
            </a:pPr>
            <a:r>
              <a:rPr sz="1250" b="0">
                <a:solidFill>
                  <a:srgbClr val="E6E6E6"/>
                </a:solidFill>
                <a:latin typeface="Consolas"/>
                <a:ea typeface="Consolas"/>
              </a:rPr>
              <a:t>+ SECTION SIZE 256M               |  104초 | 0.68GB | 190MB | -19%</a:t>
            </a:r>
          </a:p>
          <a:p>
            <a:pPr>
              <a:spcAft>
                <a:spcPts val="0"/>
              </a:spcAft>
            </a:pPr>
            <a:r>
              <a:rPr sz="1250" b="0">
                <a:solidFill>
                  <a:srgbClr val="E6E6E6"/>
                </a:solidFill>
                <a:latin typeface="Consolas"/>
                <a:ea typeface="Consolas"/>
              </a:rPr>
              <a:t>+ 압축 BASIC                      |  166초 | 0.68GB |  62MB | +60%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09 · 암호화 세 가지 방식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정기 백업과 반출용을 분리한다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방식        | 키 저장     | 복원 조건       | 용도</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투명(지갑)  | 지갑 파일   | 같은 지갑 필요  | 정기 백업</a:t>
            </a:r>
          </a:p>
          <a:p>
            <a:pPr>
              <a:spcAft>
                <a:spcPts val="0"/>
              </a:spcAft>
            </a:pPr>
            <a:r>
              <a:rPr sz="1250" b="0">
                <a:solidFill>
                  <a:srgbClr val="E6E6E6"/>
                </a:solidFill>
                <a:latin typeface="Consolas"/>
                <a:ea typeface="Consolas"/>
              </a:rPr>
              <a:t>비밀번호    | 없음        | 비밀번호 필요   | 외부 반출</a:t>
            </a:r>
          </a:p>
          <a:p>
            <a:pPr>
              <a:spcAft>
                <a:spcPts val="0"/>
              </a:spcAft>
            </a:pPr>
            <a:r>
              <a:rPr sz="1250" b="0">
                <a:solidFill>
                  <a:srgbClr val="E6E6E6"/>
                </a:solidFill>
                <a:latin typeface="Consolas"/>
                <a:ea typeface="Consolas"/>
              </a:rPr>
              <a:t>이중        | 지갑 + 비번 | 둘 중 하나로    | 양쪽 겸용</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 파일은 데이터베이스 권한 밖에 있다</a:t>
            </a:r>
          </a:p>
          <a:p>
            <a:pPr>
              <a:spcAft>
                <a:spcPts val="0"/>
              </a:spcAft>
            </a:pPr>
            <a:r>
              <a:rPr sz="1250" b="0">
                <a:solidFill>
                  <a:srgbClr val="E6E6E6"/>
                </a:solidFill>
                <a:latin typeface="Consolas"/>
                <a:ea typeface="Consolas"/>
              </a:rPr>
              <a:t>[oracle@r1 ~]$ strings /backup/SALES/piece_01 | grep -c '010-'</a:t>
            </a:r>
          </a:p>
          <a:p>
            <a:pPr>
              <a:spcAft>
                <a:spcPts val="0"/>
              </a:spcAft>
            </a:pPr>
            <a:r>
              <a:rPr sz="1250" b="0">
                <a:solidFill>
                  <a:srgbClr val="E6E6E6"/>
                </a:solidFill>
                <a:latin typeface="Consolas"/>
                <a:ea typeface="Consolas"/>
              </a:rPr>
              <a:t>18422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지갑 비밀번호와 백업 비밀번호는 다른 것이다</a:t>
            </a:r>
          </a:p>
          <a:p>
            <a:pPr>
              <a:spcAft>
                <a:spcPts val="0"/>
              </a:spcAft>
            </a:pPr>
            <a:r>
              <a:rPr sz="1250" b="0">
                <a:solidFill>
                  <a:srgbClr val="7EC699"/>
                </a:solidFill>
                <a:latin typeface="Consolas"/>
                <a:ea typeface="Consolas"/>
              </a:rPr>
              <a:t>-- 투명 방식 백업은 SET DECRYPTION 으로 열 수 없다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09 · 키 관리 원칙</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지갑과 백업을 같은 매체에 함께 두지 않는다</a:t>
            </a:r>
          </a:p>
          <a:p>
            <a:pPr>
              <a:spcAft>
                <a:spcPts val="600"/>
              </a:spcAft>
            </a:pPr>
            <a:r>
              <a:rPr sz="1600" b="0">
                <a:solidFill>
                  <a:srgbClr val="5A6672"/>
                </a:solidFill>
                <a:latin typeface="Malgun Gothic"/>
                <a:ea typeface="Malgun Gothic"/>
              </a:rPr>
              <a:t>    –  함께 두면 암호화의 의미가 사라진다</a:t>
            </a:r>
          </a:p>
          <a:p>
            <a:pPr>
              <a:spcAft>
                <a:spcPts val="600"/>
              </a:spcAft>
            </a:pPr>
            <a:r>
              <a:rPr sz="1800" b="0">
                <a:solidFill>
                  <a:srgbClr val="202830"/>
                </a:solidFill>
                <a:latin typeface="Malgun Gothic"/>
                <a:ea typeface="Malgun Gothic"/>
              </a:rPr>
              <a:t>•  cwallet.sso 가 특히 위험하다</a:t>
            </a:r>
          </a:p>
          <a:p>
            <a:pPr>
              <a:spcAft>
                <a:spcPts val="600"/>
              </a:spcAft>
            </a:pPr>
            <a:r>
              <a:rPr sz="1600" b="0">
                <a:solidFill>
                  <a:srgbClr val="5A6672"/>
                </a:solidFill>
                <a:latin typeface="Malgun Gothic"/>
                <a:ea typeface="Malgun Gothic"/>
              </a:rPr>
              <a:t>    –  가져가면 비밀번호 없이 지갑을 쓸 수 있다</a:t>
            </a:r>
          </a:p>
          <a:p>
            <a:pPr>
              <a:spcAft>
                <a:spcPts val="600"/>
              </a:spcAft>
            </a:pPr>
            <a:r>
              <a:rPr sz="1800" b="0">
                <a:solidFill>
                  <a:srgbClr val="202830"/>
                </a:solidFill>
                <a:latin typeface="Malgun Gothic"/>
                <a:ea typeface="Malgun Gothic"/>
              </a:rPr>
              <a:t>•  지갑을 잃으면 백업 전체가 무용지물이다</a:t>
            </a:r>
          </a:p>
          <a:p>
            <a:pPr>
              <a:spcAft>
                <a:spcPts val="600"/>
              </a:spcAft>
            </a:pPr>
            <a:r>
              <a:rPr sz="1600" b="0">
                <a:solidFill>
                  <a:srgbClr val="5A6672"/>
                </a:solidFill>
                <a:latin typeface="Malgun Gothic"/>
                <a:ea typeface="Malgun Gothic"/>
              </a:rPr>
              <a:t>    –  되살릴 방법이 없다. 오라클도 열어 줄 수 없다</a:t>
            </a:r>
          </a:p>
          <a:p>
            <a:pPr>
              <a:spcAft>
                <a:spcPts val="600"/>
              </a:spcAft>
            </a:pPr>
            <a:r>
              <a:rPr sz="1800" b="0">
                <a:solidFill>
                  <a:srgbClr val="202830"/>
                </a:solidFill>
                <a:latin typeface="Malgun Gothic"/>
                <a:ea typeface="Malgun Gothic"/>
              </a:rPr>
              <a:t>•  지갑 백업을 데이터베이스 백업과 다른 매체에 보관한다</a:t>
            </a:r>
          </a:p>
          <a:p>
            <a:pPr>
              <a:spcAft>
                <a:spcPts val="600"/>
              </a:spcAft>
            </a:pPr>
            <a:r>
              <a:rPr sz="1800" b="0">
                <a:solidFill>
                  <a:srgbClr val="202830"/>
                </a:solidFill>
                <a:latin typeface="Malgun Gothic"/>
                <a:ea typeface="Malgun Gothic"/>
              </a:rPr>
              <a:t>•  자동 로그인 지갑이 없으면 야간 백업이 실패한다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10 · 검증 4단계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각 단계가 잡아내는 것이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단계 | 이름        | 확인하는 것            | 명령                   | 주기</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L1   | 메타 검증   | 복원 경로가 존재하는가 | RESTORE PREVIEW        | 매일</a:t>
            </a:r>
          </a:p>
          <a:p>
            <a:pPr>
              <a:spcAft>
                <a:spcPts val="0"/>
              </a:spcAft>
            </a:pPr>
            <a:r>
              <a:rPr sz="1250" b="0">
                <a:solidFill>
                  <a:srgbClr val="E6E6E6"/>
                </a:solidFill>
                <a:latin typeface="Consolas"/>
                <a:ea typeface="Consolas"/>
              </a:rPr>
              <a:t>L2   | 읽기 검증   | 백업 파일이 읽히는가   | RESTORE ... VALIDATE   | 매일</a:t>
            </a:r>
          </a:p>
          <a:p>
            <a:pPr>
              <a:spcAft>
                <a:spcPts val="0"/>
              </a:spcAft>
            </a:pPr>
            <a:r>
              <a:rPr sz="1250" b="0">
                <a:solidFill>
                  <a:srgbClr val="E6E6E6"/>
                </a:solidFill>
                <a:latin typeface="Consolas"/>
                <a:ea typeface="Consolas"/>
              </a:rPr>
              <a:t>L3   | 논리 검증   | 블록이 온전한가        | VALIDATE CHECK LOGICAL | 주간</a:t>
            </a:r>
          </a:p>
          <a:p>
            <a:pPr>
              <a:spcAft>
                <a:spcPts val="0"/>
              </a:spcAft>
            </a:pPr>
            <a:r>
              <a:rPr sz="1250" b="0">
                <a:solidFill>
                  <a:srgbClr val="E6E6E6"/>
                </a:solidFill>
                <a:latin typeface="Consolas"/>
                <a:ea typeface="Consolas"/>
              </a:rPr>
              <a:t>L4   | 실복원 훈련 | 실제로 열리는가        | DUPLICATE / 전체 복원  | 분기</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각 단계가 놓치는 것</a:t>
            </a:r>
          </a:p>
          <a:p>
            <a:pPr>
              <a:spcAft>
                <a:spcPts val="0"/>
              </a:spcAft>
            </a:pPr>
            <a:r>
              <a:rPr sz="1250" b="0">
                <a:solidFill>
                  <a:srgbClr val="7EC699"/>
                </a:solidFill>
                <a:latin typeface="Consolas"/>
                <a:ea typeface="Consolas"/>
              </a:rPr>
              <a:t>--   L1 통과해도 파일이 손상되었을 수 있다</a:t>
            </a:r>
          </a:p>
          <a:p>
            <a:pPr>
              <a:spcAft>
                <a:spcPts val="0"/>
              </a:spcAft>
            </a:pPr>
            <a:r>
              <a:rPr sz="1250" b="0">
                <a:solidFill>
                  <a:srgbClr val="7EC699"/>
                </a:solidFill>
                <a:latin typeface="Consolas"/>
                <a:ea typeface="Consolas"/>
              </a:rPr>
              <a:t>--   L2 통과해도 블록 내부가 깨졌을 수 있다</a:t>
            </a:r>
          </a:p>
          <a:p>
            <a:pPr>
              <a:spcAft>
                <a:spcPts val="0"/>
              </a:spcAft>
            </a:pPr>
            <a:r>
              <a:rPr sz="1250" b="0">
                <a:solidFill>
                  <a:srgbClr val="7EC699"/>
                </a:solidFill>
                <a:latin typeface="Consolas"/>
                <a:ea typeface="Consolas"/>
              </a:rPr>
              <a:t>--   L3 통과해도 열리지 않을 수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10 · 훈련 등급</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정리까지가 한 작업이다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등급  | 범위                    | 소요  | 주기  | 서비스 영향</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드릴A | 테이블 하나 복원        | 30분  | 월간  | 없음</a:t>
            </a:r>
          </a:p>
          <a:p>
            <a:pPr>
              <a:spcAft>
                <a:spcPts val="0"/>
              </a:spcAft>
            </a:pPr>
            <a:r>
              <a:rPr sz="1250" b="0">
                <a:solidFill>
                  <a:srgbClr val="E6E6E6"/>
                </a:solidFill>
                <a:latin typeface="Consolas"/>
                <a:ea typeface="Consolas"/>
              </a:rPr>
              <a:t>드릴B | 다른 서버에 DUPLICATE   | 2시간 | 분기  | 없음</a:t>
            </a:r>
          </a:p>
          <a:p>
            <a:pPr>
              <a:spcAft>
                <a:spcPts val="0"/>
              </a:spcAft>
            </a:pPr>
            <a:r>
              <a:rPr sz="1250" b="0">
                <a:solidFill>
                  <a:srgbClr val="E6E6E6"/>
                </a:solidFill>
                <a:latin typeface="Consolas"/>
                <a:ea typeface="Consolas"/>
              </a:rPr>
              <a:t>드릴C | 운영 DB 실제 복구       | 3시간 | 연간  | 계획 정지</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드릴 B 정리 단계 (생략하면 다음 훈련을 막는다)</a:t>
            </a:r>
          </a:p>
          <a:p>
            <a:pPr>
              <a:spcAft>
                <a:spcPts val="0"/>
              </a:spcAft>
            </a:pPr>
            <a:r>
              <a:rPr sz="1250" b="0">
                <a:solidFill>
                  <a:srgbClr val="E6E6E6"/>
                </a:solidFill>
                <a:latin typeface="Consolas"/>
                <a:ea typeface="Consolas"/>
              </a:rPr>
              <a:t>RMAN&gt; STARTUP FORCE MOUNT;</a:t>
            </a:r>
          </a:p>
          <a:p>
            <a:pPr>
              <a:spcAft>
                <a:spcPts val="0"/>
              </a:spcAft>
            </a:pPr>
            <a:r>
              <a:rPr sz="1250" b="0">
                <a:solidFill>
                  <a:srgbClr val="E6E6E6"/>
                </a:solidFill>
                <a:latin typeface="Consolas"/>
                <a:ea typeface="Consolas"/>
              </a:rPr>
              <a:t>RMAN&gt; DROP DATABASE INCLUDING BACKUPS NOPROMPT;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DROP DATABASE 는 복제본에만 쓴다. SID 를 반드시 확인한다.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예제 10 · RTO와 RPO 산정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선언이 아니라 실측이다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RPO = 아카이브 백업 주기가 정한다</a:t>
            </a:r>
          </a:p>
          <a:p>
            <a:pPr>
              <a:spcAft>
                <a:spcPts val="0"/>
              </a:spcAft>
            </a:pPr>
            <a:r>
              <a:rPr sz="1250" b="0">
                <a:solidFill>
                  <a:srgbClr val="E6E6E6"/>
                </a:solidFill>
                <a:latin typeface="Consolas"/>
                <a:ea typeface="Consolas"/>
              </a:rPr>
              <a:t>  4시간 주기 → 최악 4시간 손실, 평균 2시간</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RTO = 각 단계를 실측해 합산한다</a:t>
            </a:r>
          </a:p>
          <a:p>
            <a:pPr>
              <a:spcAft>
                <a:spcPts val="0"/>
              </a:spcAft>
            </a:pPr>
            <a:r>
              <a:rPr sz="1250" b="0">
                <a:solidFill>
                  <a:srgbClr val="E6E6E6"/>
                </a:solidFill>
                <a:latin typeface="Consolas"/>
                <a:ea typeface="Consolas"/>
              </a:rPr>
              <a:t>  단계              | 실측  | 근거</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  장애 감지         | 10분  | 모니터링 알림 주기</a:t>
            </a:r>
          </a:p>
          <a:p>
            <a:pPr>
              <a:spcAft>
                <a:spcPts val="0"/>
              </a:spcAft>
            </a:pPr>
            <a:r>
              <a:rPr sz="1250" b="0">
                <a:solidFill>
                  <a:srgbClr val="E6E6E6"/>
                </a:solidFill>
                <a:latin typeface="Consolas"/>
                <a:ea typeface="Consolas"/>
              </a:rPr>
              <a:t>  판단·의사결정     | 15분  | 런북 판정 절차</a:t>
            </a:r>
          </a:p>
          <a:p>
            <a:pPr>
              <a:spcAft>
                <a:spcPts val="0"/>
              </a:spcAft>
            </a:pPr>
            <a:r>
              <a:rPr sz="1250" b="0">
                <a:solidFill>
                  <a:srgbClr val="E6E6E6"/>
                </a:solidFill>
                <a:latin typeface="Consolas"/>
                <a:ea typeface="Consolas"/>
              </a:rPr>
              <a:t>  복구 정보 수집    | 14분  | 예제 07 실측</a:t>
            </a:r>
          </a:p>
          <a:p>
            <a:pPr>
              <a:spcAft>
                <a:spcPts val="0"/>
              </a:spcAft>
            </a:pPr>
            <a:r>
              <a:rPr sz="1250" b="0">
                <a:solidFill>
                  <a:srgbClr val="E6E6E6"/>
                </a:solidFill>
                <a:latin typeface="Consolas"/>
                <a:ea typeface="Consolas"/>
              </a:rPr>
              <a:t>  복원·복구         | 34분  | 예제 07 실측</a:t>
            </a:r>
          </a:p>
          <a:p>
            <a:pPr>
              <a:spcAft>
                <a:spcPts val="0"/>
              </a:spcAft>
            </a:pPr>
            <a:r>
              <a:rPr sz="1250" b="0">
                <a:solidFill>
                  <a:srgbClr val="E6E6E6"/>
                </a:solidFill>
                <a:latin typeface="Consolas"/>
                <a:ea typeface="Consolas"/>
              </a:rPr>
              <a:t>  오픈·검증         | 19분  | 예제 07 실측</a:t>
            </a:r>
          </a:p>
          <a:p>
            <a:pPr>
              <a:spcAft>
                <a:spcPts val="0"/>
              </a:spcAft>
            </a:pPr>
            <a:r>
              <a:rPr sz="1250" b="0">
                <a:solidFill>
                  <a:srgbClr val="E6E6E6"/>
                </a:solidFill>
                <a:latin typeface="Consolas"/>
                <a:ea typeface="Consolas"/>
              </a:rPr>
              <a:t>  서비스 전환       | 20분  | 접속 변경·풀 재시작</a:t>
            </a:r>
          </a:p>
          <a:p>
            <a:pPr>
              <a:spcAft>
                <a:spcPts val="0"/>
              </a:spcAft>
            </a:pPr>
            <a:r>
              <a:rPr sz="1250" b="0">
                <a:solidFill>
                  <a:srgbClr val="E6E6E6"/>
                </a:solidFill>
                <a:latin typeface="Consolas"/>
                <a:ea typeface="Consolas"/>
              </a:rPr>
              <a:t>  합계 112분 × 여유 1.5 = 168분  →  RTO 3시간 선언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운영 산출물 12종</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환경 값만 고치면 반입할 수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파일                      | 출처 | 용도                    | 주기</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rc_daily_report.sql       |  02  | 일일 백업 점검          | 매일</a:t>
            </a:r>
          </a:p>
          <a:p>
            <a:pPr>
              <a:spcAft>
                <a:spcPts val="0"/>
              </a:spcAft>
            </a:pPr>
            <a:r>
              <a:rPr sz="1250" b="0">
                <a:solidFill>
                  <a:srgbClr val="E6E6E6"/>
                </a:solidFill>
                <a:latin typeface="Consolas"/>
                <a:ea typeface="Consolas"/>
              </a:rPr>
              <a:t>rc_backup_framework.sh    |  03  | 백업 실행기             | 매일</a:t>
            </a:r>
          </a:p>
          <a:p>
            <a:pPr>
              <a:spcAft>
                <a:spcPts val="0"/>
              </a:spcAft>
            </a:pPr>
            <a:r>
              <a:rPr sz="1250" b="0">
                <a:solidFill>
                  <a:srgbClr val="E6E6E6"/>
                </a:solidFill>
                <a:latin typeface="Consolas"/>
                <a:ea typeface="Consolas"/>
              </a:rPr>
              <a:t>rc_global_scripts.rman    |  03  | 표준 스크립트 정의      | 변경 시</a:t>
            </a:r>
          </a:p>
          <a:p>
            <a:pPr>
              <a:spcAft>
                <a:spcPts val="0"/>
              </a:spcAft>
            </a:pPr>
            <a:r>
              <a:rPr sz="1250" b="0">
                <a:solidFill>
                  <a:srgbClr val="E6E6E6"/>
                </a:solidFill>
                <a:latin typeface="Consolas"/>
                <a:ea typeface="Consolas"/>
              </a:rPr>
              <a:t>rc_maint_crosscheck.sh    |  04  | 정합성 점검·공간 회수   | 매일</a:t>
            </a:r>
          </a:p>
          <a:p>
            <a:pPr>
              <a:spcAft>
                <a:spcPts val="0"/>
              </a:spcAft>
            </a:pPr>
            <a:r>
              <a:rPr sz="1250" b="0">
                <a:solidFill>
                  <a:srgbClr val="E6E6E6"/>
                </a:solidFill>
                <a:latin typeface="Consolas"/>
                <a:ea typeface="Consolas"/>
              </a:rPr>
              <a:t>rc_catalog_backup.sh      |  05  | 카탈로그 3중 보호       | 매일</a:t>
            </a:r>
          </a:p>
          <a:p>
            <a:pPr>
              <a:spcAft>
                <a:spcPts val="0"/>
              </a:spcAft>
            </a:pPr>
            <a:r>
              <a:rPr sz="1250" b="0">
                <a:solidFill>
                  <a:srgbClr val="E6E6E6"/>
                </a:solidFill>
                <a:latin typeface="Consolas"/>
                <a:ea typeface="Consolas"/>
              </a:rPr>
              <a:t>rc_keep_audit.sql         |  06  | 장기 보관 감사          | 분기</a:t>
            </a:r>
          </a:p>
          <a:p>
            <a:pPr>
              <a:spcAft>
                <a:spcPts val="0"/>
              </a:spcAft>
            </a:pPr>
            <a:r>
              <a:rPr sz="1250" b="0">
                <a:solidFill>
                  <a:srgbClr val="E6E6E6"/>
                </a:solidFill>
                <a:latin typeface="Consolas"/>
                <a:ea typeface="Consolas"/>
              </a:rPr>
              <a:t>dr_collect_info.sql       |  07  | 재해 시 정보 수집       | 주 1회</a:t>
            </a:r>
          </a:p>
          <a:p>
            <a:pPr>
              <a:spcAft>
                <a:spcPts val="0"/>
              </a:spcAft>
            </a:pPr>
            <a:r>
              <a:rPr sz="1250" b="0">
                <a:solidFill>
                  <a:srgbClr val="E6E6E6"/>
                </a:solidFill>
                <a:latin typeface="Consolas"/>
                <a:ea typeface="Consolas"/>
              </a:rPr>
              <a:t>dr_rebuild.sh             |  07  | 타 서버 재구축 준비     | 재해 시</a:t>
            </a:r>
          </a:p>
          <a:p>
            <a:pPr>
              <a:spcAft>
                <a:spcPts val="0"/>
              </a:spcAft>
            </a:pPr>
            <a:r>
              <a:rPr sz="1250" b="0">
                <a:solidFill>
                  <a:srgbClr val="E6E6E6"/>
                </a:solidFill>
                <a:latin typeface="Consolas"/>
                <a:ea typeface="Consolas"/>
              </a:rPr>
              <a:t>rc_perf_analysis.sql      |  08  | 백업 성능 분석          | 주간</a:t>
            </a:r>
          </a:p>
          <a:p>
            <a:pPr>
              <a:spcAft>
                <a:spcPts val="0"/>
              </a:spcAft>
            </a:pPr>
            <a:r>
              <a:rPr sz="1250" b="0">
                <a:solidFill>
                  <a:srgbClr val="E6E6E6"/>
                </a:solidFill>
                <a:latin typeface="Consolas"/>
                <a:ea typeface="Consolas"/>
              </a:rPr>
              <a:t>rc_secure_export.sh       |  09  | 반출용 암호화 백업      | 요청 시</a:t>
            </a:r>
          </a:p>
          <a:p>
            <a:pPr>
              <a:spcAft>
                <a:spcPts val="0"/>
              </a:spcAft>
            </a:pPr>
            <a:r>
              <a:rPr sz="1250" b="0">
                <a:solidFill>
                  <a:srgbClr val="E6E6E6"/>
                </a:solidFill>
                <a:latin typeface="Consolas"/>
                <a:ea typeface="Consolas"/>
              </a:rPr>
              <a:t>rc_restore_validate.sh    |  10  | 복구 가능성 검증        | 매일</a:t>
            </a:r>
          </a:p>
          <a:p>
            <a:pPr>
              <a:spcAft>
                <a:spcPts val="0"/>
              </a:spcAft>
            </a:pPr>
            <a:r>
              <a:rPr sz="1250" b="0">
                <a:solidFill>
                  <a:srgbClr val="E6E6E6"/>
                </a:solidFill>
                <a:latin typeface="Consolas"/>
                <a:ea typeface="Consolas"/>
              </a:rPr>
              <a:t>dr_drill_runbook.md       |  10  | 장애 대응·훈련 런북     | 상시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진행 순서 (5일 구성)</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1일 — 01, 02 : VPC 권한 매트릭스 · 일일 점검 리포트</a:t>
            </a:r>
          </a:p>
          <a:p>
            <a:pPr>
              <a:spcAft>
                <a:spcPts val="600"/>
              </a:spcAft>
            </a:pPr>
            <a:r>
              <a:rPr sz="1800" b="0">
                <a:solidFill>
                  <a:srgbClr val="202830"/>
                </a:solidFill>
                <a:latin typeface="Malgun Gothic"/>
                <a:ea typeface="Malgun Gothic"/>
              </a:rPr>
              <a:t>•  2일 — 03, 04 : 표준 백업 프레임워크 · 정기 정리 절차</a:t>
            </a:r>
          </a:p>
          <a:p>
            <a:pPr>
              <a:spcAft>
                <a:spcPts val="600"/>
              </a:spcAft>
            </a:pPr>
            <a:r>
              <a:rPr sz="1800" b="0">
                <a:solidFill>
                  <a:srgbClr val="202830"/>
                </a:solidFill>
                <a:latin typeface="Malgun Gothic"/>
                <a:ea typeface="Malgun Gothic"/>
              </a:rPr>
              <a:t>•  3일 — 05, 06 : 카탈로그 3중 보호 · 장기 보관 체계</a:t>
            </a:r>
          </a:p>
          <a:p>
            <a:pPr>
              <a:spcAft>
                <a:spcPts val="600"/>
              </a:spcAft>
            </a:pPr>
            <a:r>
              <a:rPr sz="1800" b="0">
                <a:solidFill>
                  <a:srgbClr val="202830"/>
                </a:solidFill>
                <a:latin typeface="Malgun Gothic"/>
                <a:ea typeface="Malgun Gothic"/>
              </a:rPr>
              <a:t>•  4일 — 07, 08 : 재해복구 런북 · 성능 개선 실측치</a:t>
            </a:r>
          </a:p>
          <a:p>
            <a:pPr>
              <a:spcAft>
                <a:spcPts val="600"/>
              </a:spcAft>
            </a:pPr>
            <a:r>
              <a:rPr sz="1800" b="0">
                <a:solidFill>
                  <a:srgbClr val="202830"/>
                </a:solidFill>
                <a:latin typeface="Malgun Gothic"/>
                <a:ea typeface="Malgun Gothic"/>
              </a:rPr>
              <a:t>•  5일 — 09, 10 : 암호화 반출 절차 · DR 훈련 런북</a:t>
            </a:r>
          </a:p>
          <a:p>
            <a:pPr>
              <a:spcAft>
                <a:spcPts val="600"/>
              </a:spcAft>
            </a:pPr>
            <a:r>
              <a:rPr sz="1800" b="0">
                <a:solidFill>
                  <a:srgbClr val="202830"/>
                </a:solidFill>
                <a:latin typeface="Malgun Gothic"/>
                <a:ea typeface="Malgun Gothic"/>
              </a:rPr>
              <a:t>•  수료 필수 항목 두 가지</a:t>
            </a:r>
          </a:p>
          <a:p>
            <a:pPr>
              <a:spcAft>
                <a:spcPts val="600"/>
              </a:spcAft>
            </a:pPr>
            <a:r>
              <a:rPr sz="1600" b="0">
                <a:solidFill>
                  <a:srgbClr val="5A6672"/>
                </a:solidFill>
                <a:latin typeface="Malgun Gothic"/>
                <a:ea typeface="Malgun Gothic"/>
              </a:rPr>
              <a:t>    –  예제 07의 타 서버 재구축을 실제로 완료할 것</a:t>
            </a:r>
          </a:p>
          <a:p>
            <a:pPr>
              <a:spcAft>
                <a:spcPts val="600"/>
              </a:spcAft>
            </a:pPr>
            <a:r>
              <a:rPr sz="1600" b="0">
                <a:solidFill>
                  <a:srgbClr val="5A6672"/>
                </a:solidFill>
                <a:latin typeface="Malgun Gothic"/>
                <a:ea typeface="Malgun Gothic"/>
              </a:rPr>
              <a:t>    –  예제 10의 드릴 B(백업만으로 DB 열기)를 성공할 것</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KEEP FOREVER 와 카탈로그</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KEEP FOREVER 가 Recovery Catalog 를 요구하는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명령이 복잡해서</a:t>
            </a:r>
          </a:p>
          <a:p>
            <a:pPr>
              <a:spcAft>
                <a:spcPts val="800"/>
              </a:spcAft>
            </a:pPr>
            <a:r>
              <a:rPr sz="1700" b="0">
                <a:solidFill>
                  <a:srgbClr val="202830"/>
                </a:solidFill>
                <a:latin typeface="Malgun Gothic"/>
                <a:ea typeface="Malgun Gothic"/>
              </a:rPr>
              <a:t>컨트롤파일은 순환 재사용 영역이라 영구 보관을 보장할 수 없어서</a:t>
            </a:r>
          </a:p>
          <a:p>
            <a:pPr>
              <a:spcAft>
                <a:spcPts val="800"/>
              </a:spcAft>
            </a:pPr>
            <a:r>
              <a:rPr sz="1700" b="0">
                <a:solidFill>
                  <a:srgbClr val="202830"/>
                </a:solidFill>
                <a:latin typeface="Malgun Gothic"/>
                <a:ea typeface="Malgun Gothic"/>
              </a:rPr>
              <a:t>라이선스 때문에</a:t>
            </a:r>
          </a:p>
          <a:p>
            <a:pPr>
              <a:spcAft>
                <a:spcPts val="800"/>
              </a:spcAft>
            </a:pPr>
            <a:r>
              <a:rPr sz="1700" b="0">
                <a:solidFill>
                  <a:srgbClr val="202830"/>
                </a:solidFill>
                <a:latin typeface="Malgun Gothic"/>
                <a:ea typeface="Malgun Gothic"/>
              </a:rPr>
              <a:t>FRA 를 쓰기 위해서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CROSSCHECK 의 위험</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NFS 가 끊긴 상태에서 CROSSCHECK 를 실행하면?</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오류로 중단된다</a:t>
            </a:r>
          </a:p>
          <a:p>
            <a:pPr>
              <a:spcAft>
                <a:spcPts val="800"/>
              </a:spcAft>
            </a:pPr>
            <a:r>
              <a:rPr sz="1700" b="0">
                <a:solidFill>
                  <a:srgbClr val="202830"/>
                </a:solidFill>
                <a:latin typeface="Malgun Gothic"/>
                <a:ea typeface="Malgun Gothic"/>
              </a:rPr>
              <a:t>유효한 백업 전량이 EXPIRED 로 표시된다</a:t>
            </a:r>
          </a:p>
          <a:p>
            <a:pPr>
              <a:spcAft>
                <a:spcPts val="800"/>
              </a:spcAft>
            </a:pPr>
            <a:r>
              <a:rPr sz="1700" b="0">
                <a:solidFill>
                  <a:srgbClr val="202830"/>
                </a:solidFill>
                <a:latin typeface="Malgun Gothic"/>
                <a:ea typeface="Malgun Gothic"/>
              </a:rPr>
              <a:t>아무 일도 일어나지 않는다</a:t>
            </a:r>
          </a:p>
          <a:p>
            <a:pPr>
              <a:spcAft>
                <a:spcPts val="800"/>
              </a:spcAft>
            </a:pPr>
            <a:r>
              <a:rPr sz="1700" b="0">
                <a:solidFill>
                  <a:srgbClr val="202830"/>
                </a:solidFill>
                <a:latin typeface="Malgun Gothic"/>
                <a:ea typeface="Malgun Gothic"/>
              </a:rPr>
              <a:t>자동으로 재시도한다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검증 단계의 한계</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RESTORE DATABASE VALIDATE 가 통과했다. 확신할 수 없는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백업 조각이 읽힌다</a:t>
            </a:r>
          </a:p>
          <a:p>
            <a:pPr>
              <a:spcAft>
                <a:spcPts val="800"/>
              </a:spcAft>
            </a:pPr>
            <a:r>
              <a:rPr sz="1700" b="0">
                <a:solidFill>
                  <a:srgbClr val="202830"/>
                </a:solidFill>
                <a:latin typeface="Malgun Gothic"/>
                <a:ea typeface="Malgun Gothic"/>
              </a:rPr>
              <a:t>백업 조각의 체크섬이 맞다</a:t>
            </a:r>
          </a:p>
          <a:p>
            <a:pPr>
              <a:spcAft>
                <a:spcPts val="800"/>
              </a:spcAft>
            </a:pPr>
            <a:r>
              <a:rPr sz="1700" b="0">
                <a:solidFill>
                  <a:srgbClr val="202830"/>
                </a:solidFill>
                <a:latin typeface="Malgun Gothic"/>
                <a:ea typeface="Malgun Gothic"/>
              </a:rPr>
              <a:t>그 안의 데이터 블록이 논리적으로 온전하다</a:t>
            </a:r>
          </a:p>
          <a:p>
            <a:pPr>
              <a:spcAft>
                <a:spcPts val="800"/>
              </a:spcAft>
            </a:pPr>
            <a:r>
              <a:rPr sz="1700" b="0">
                <a:solidFill>
                  <a:srgbClr val="202830"/>
                </a:solidFill>
                <a:latin typeface="Malgun Gothic"/>
                <a:ea typeface="Malgun Gothic"/>
              </a:rPr>
              <a:t>백업이 카탈로그에 등록되어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과정의 결론</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카탈로그는 저장소가 아니라 통제 지점이다</a:t>
            </a:r>
          </a:p>
          <a:p>
            <a:pPr>
              <a:spcAft>
                <a:spcPts val="600"/>
              </a:spcAft>
            </a:pPr>
            <a:r>
              <a:rPr sz="1600" b="0">
                <a:solidFill>
                  <a:srgbClr val="5A6672"/>
                </a:solidFill>
                <a:latin typeface="Malgun Gothic"/>
                <a:ea typeface="Malgun Gothic"/>
              </a:rPr>
              <a:t>    –  권한 분리 · 중앙 판정 · 절차 표준화가 모두 여기서 나온다</a:t>
            </a:r>
          </a:p>
          <a:p>
            <a:pPr>
              <a:spcAft>
                <a:spcPts val="600"/>
              </a:spcAft>
            </a:pPr>
            <a:r>
              <a:rPr sz="1800" b="0">
                <a:solidFill>
                  <a:srgbClr val="202830"/>
                </a:solidFill>
                <a:latin typeface="Malgun Gothic"/>
                <a:ea typeface="Malgun Gothic"/>
              </a:rPr>
              <a:t>•  통제 지점은 단일 장애점이기도 하다</a:t>
            </a:r>
          </a:p>
          <a:p>
            <a:pPr>
              <a:spcAft>
                <a:spcPts val="600"/>
              </a:spcAft>
            </a:pPr>
            <a:r>
              <a:rPr sz="1600" b="0">
                <a:solidFill>
                  <a:srgbClr val="5A6672"/>
                </a:solidFill>
                <a:latin typeface="Malgun Gothic"/>
                <a:ea typeface="Malgun Gothic"/>
              </a:rPr>
              <a:t>    –  3중 보호와 폴백을 함께 설계해야 한다</a:t>
            </a:r>
          </a:p>
          <a:p>
            <a:pPr>
              <a:spcAft>
                <a:spcPts val="600"/>
              </a:spcAft>
            </a:pPr>
            <a:r>
              <a:rPr sz="1800" b="0">
                <a:solidFill>
                  <a:srgbClr val="202830"/>
                </a:solidFill>
                <a:latin typeface="Malgun Gothic"/>
                <a:ea typeface="Malgun Gothic"/>
              </a:rPr>
              <a:t>•  "백업이 있는가"와 "복구되는가"는 다른 질문이다</a:t>
            </a:r>
          </a:p>
          <a:p>
            <a:pPr>
              <a:spcAft>
                <a:spcPts val="600"/>
              </a:spcAft>
            </a:pPr>
            <a:r>
              <a:rPr sz="1600" b="0">
                <a:solidFill>
                  <a:srgbClr val="5A6672"/>
                </a:solidFill>
                <a:latin typeface="Malgun Gothic"/>
                <a:ea typeface="Malgun Gothic"/>
              </a:rPr>
              <a:t>    –  검증 4단계와 정기 훈련이 후자에 답한다</a:t>
            </a:r>
          </a:p>
          <a:p>
            <a:pPr>
              <a:spcAft>
                <a:spcPts val="600"/>
              </a:spcAft>
            </a:pPr>
            <a:r>
              <a:rPr sz="1800" b="0">
                <a:solidFill>
                  <a:srgbClr val="202830"/>
                </a:solidFill>
                <a:latin typeface="Malgun Gothic"/>
                <a:ea typeface="Malgun Gothic"/>
              </a:rPr>
              <a:t>•  RTO와 RPO는 선언이 아니라 실측이다</a:t>
            </a:r>
          </a:p>
          <a:p>
            <a:pPr>
              <a:spcAft>
                <a:spcPts val="600"/>
              </a:spcAft>
            </a:pPr>
            <a:r>
              <a:rPr sz="1600" b="0">
                <a:solidFill>
                  <a:srgbClr val="5A6672"/>
                </a:solidFill>
                <a:latin typeface="Malgun Gothic"/>
                <a:ea typeface="Malgun Gothic"/>
              </a:rPr>
              <a:t>    –  훈련 기록이 없는 숫자는 근거가 되지 못한다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다음 단계:</a:t>
            </a:r>
          </a:p>
          <a:p>
            <a:pPr>
              <a:spcAft>
                <a:spcPts val="0"/>
              </a:spcAft>
            </a:pPr>
            <a:r>
              <a:rPr sz="1250" b="0">
                <a:solidFill>
                  <a:srgbClr val="202830"/>
                </a:solidFill>
                <a:latin typeface="Malgun Gothic"/>
                <a:ea typeface="Malgun Gothic"/>
              </a:rPr>
              <a:t>운영스크립트 폴더의 12종을 자기 환경에 맞게 고치는 것부터 시작한다.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
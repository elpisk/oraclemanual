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6장과 7장에서 NOARCHIVELOG 환경의 컨트롤파일·리두 장애를 다뤘다. 11장은 같은 장애를 ARCHIVELOG 환경에서 다시 본다. 절차는 대부분 같고 달라지는 것은 두 가지다. 아카이브 덕분에 복구 범위가 넓어지고, 리두 CLEAR 시 아카이브 여부라는 판단 항목이 추가된다. 본문 26,104자를 발표용으로 압축한 자료다. 여덟 개의 실습이 리두 계열과 컨트롤파일 계열로 나뉘어 배치되어 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메시지는 하나로 요약된다. 아카이브가 있으면 컨트롤파일 장애로 데이터를 잃지 않지만 CURRENT 리두 손상만은 예외라는 것이다. 그 예외를 막는 방법이 멤버 다중화이며 손실 규모를 정하는 것이 스위치 간격이다. 컨트롤파일 절차는 6장의 반복이므로 빠르게 넘기고 리두 쪽에 시간을 배분하는 편이 좋다. 예방과 대응을 함께 다루되 예방 쪽에 더 무게를 두고 진행한다.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절이 리두 계열(11.1~11.2)과 컨트롤파일 계열(11.3~11.5)로 나뉜다. 리두 쪽은 새로운 개념이 있고 컨트롤파일 쪽은 6장의 확장이다. 실습이 여덟 개이며 앞의 네 개가 리두, 뒤의 네 개가 컨트롤파일이다. 이론은 90분, 실습은 나머지 시간 전부를 배분하는 것이 적절하다. 각 절의 실습이 바로 이어지므로 이론과 실습을 번갈아 배치해도 좋다.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11.1절은 7장의 결론이 ARCHIVELOG 환경에서도 유효함을 확인하는 자리다. 아카이브 모드는 과거 리두를 보존할 뿐 현재 리두를 보호하지 않는다. 따라서 CURRENT 그룹 손상은 두 모드 공통으로 손실 위험을 안고 있다. 달라지는 것은 손실의 크기다. 이전 구간은 아카이브로 모두 복구되므로 손실이 마지막 스위치 이후로 제한된다. 이 절의 결론은 절차가 아니라 구성 설계라는 점을 미리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출력 하나로 CURRENT 손상의 위험이 설명된다. 아카이브는 13까지이고 현재 쓰이는 14는 아직 사본이 없다. 그룹 3을 잃으면 시퀀스 14 구간의 변경을 되살릴 방법이 없다. ARCHIVED 컬럼이 NO인 그룹이 항상 하나 존재한다는 사실이 이 위험의 본질이다. 예방 수단은 멤버 다중화뿐이며 아카이브 모드 전환으로는 해결되지 않는다. ARCHIVED가 NO인 그룹을 확인하는 습관이 진단의 출발점이 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 순서가 중요하다. 멤버가 하나라도 살아 있으면 복사로 끝나므로 그것부터 확인한다. 그다음 그룹 상태를 본다. CURRENT가 아니고 ARCHIVED가 YES이면 10장의 CLEAR 경로다. CURRENT 손상이 확정되면 alert log의 종료 기록과 FUZZY 컬럼으로 결과를 예측한다. 이 네 단계를 순서대로 밟으면 불필요한 손실을 만들지 않는다. 판정 결과를 종이에 적어 두면 여러 파일이 얽혔을 때 혼선을 줄일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출력을 나란히 놓으면 판정이 즉시 끝난다. 위쪽은 모든 파일이 같은 SCN이고 FUZZY가 NO여서 적용할 리두가 없다. 아래쪽은 SCN이 어긋나고 FUZZY가 YES여서 CURRENT 그룹에 미적용 리두가 있었다. 1장에서 개념으로 배운 FUZZY가 여기서 손실 유무를 예고하는 판정 도구로 쓰인다. 컨트롤파일이 살아 있어야 조회할 수 있으므로 그것부터 확보하는 순서가 여기서도 지켜진다.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RPO를 리두 설계와 연결하는 계산이다. 손실 구간은 마지막 스위치 이후의 변경이므로 최대 손실은 스위치 간격에 해당한다. RPO가 15분이면 간격도 그 수준이어야 한다. 리두를 크게 잡으면 스위치 부하는 줄지만 손실 후보 구간이 길어진다는 상충이 있다. 다만 이 계산은 다중화가 없을 때의 이야기이며, 멤버가 분산되어 있으면 그룹 전손 자체가 드물다. RPO 계산 결과는 문서로 남기고 구성 변경 시 다시 계산한다.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11.2절은 판정 결과에 따른 처리를 다룬다. 두 경로의 명령은 비슷하지만 결과가 전혀 다르다. 정상 종료 상태에서는 그룹을 다시 만들기만 하면 되고 손실이 없다. 비정상 종료 상태에서는 인스턴스 복구에 필요한 리두가 사라져 불완전 복구가 강제된다. 어느 경우든 RESETLOGS와 즉시 전체 백업으로 마무리된다. 두 경로의 대비가 실습 11-1과 11-2에서 그대로 재현된다.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FUZZY가 모두 NO라는 것이 이 경로의 전제다. 적용할 리두가 없으므로 그룹을 비워도 잃을 것이 없다. ORA-01589는 오류처럼 보이지만 정상적인 흐름이다. 컨트롤파일이 그 그룹을 CURRENT로 알고 있어 리두 연속성이 끊긴 상태이므로 RESETLOGS를 요구하는 것이다. 손실은 없지만 인카네이션이 올라가므로 즉시 전체 백업을 받아야 한다. 실습 11-1에서 이 흐름을 직접 수행하며 인카네이션 변화를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ORA-01113이 나오는 이유가 핵심이다. 적용해야 할 리두가 있는데 그것이 사라졌기 때문이다. CLEAR로 그룹은 비웠지만 데이터파일의 일관성 문제는 그대로 남는다. 따라서 모든 데이터파일을 복원하고 아카이브된 마지막 시퀀스까지만 적용하는 불완전 복구로 전환한다. 손실은 마지막 스위치 이후의 변경이며 10장에서 익힌 절차를 그대로 쓴다. 실습 11-2에서 손실 구간을 산정하고 현업 통보 자료를 만든다.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CLEAR UNARCHIVED 를 수행한 사실은 반드시 작업 기록에 남긴다. 이후 아카이브 연속성 점검에서 빠진 구간이 발견되면 담당자가 원인을 알 수 있어야 하기 때문이다. 인카네이션까지 올라갔다면 그 정보도 함께 기록한다. 새 백업이 새로운 복구 기준점이 되므로 이전 백업본은 라벨을 붙여 구분한다. 작업 기록에 남기지 않으면 나중에 연속성 점검 결과를 오판하게 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CLEAR가 실패했다고 곧바로 컨트롤파일 재생성으로 넘어갈 필요는 없다. 오류 코드가 원인을 정확히 알려 주므로 그것부터 해결하는 편이 빠르다. ORA-00301에 딸려 나오는 OS 오류 번호를 보면 권한 문제인지 공간 문제인지 즉시 구분된다. 그룹 수 부족은 MOUNT 상태에서도 그룹을 추가할 수 있으므로 간단히 해결된다. 재생성은 마지막 수단으로 남겨 둔다.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11.3절은 6장의 반복이므로 빠르게 진행할 수 있다. 사본 복사, Binary 복원, trace 재생성 세 경로가 그대로 쓰이고 USING BACKUP CONTROLFILE 절과 RESETLOGS 강제도 같다. 달라지는 것은 복구 범위다. NOARCHIVELOG에서는 온라인 리두에 남은 만큼만 적용할 수 있었지만 여기서는 백업 컨트롤파일로도 현재 시점까지 복구된다.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AUTORECOVERY가 아카이브 구간을 자동으로 처리해 주므로 NOARCHIVELOG보다 훨씬 편하다. 다만 마지막 구간에서 멈춘다. 아직 아카이브되지 않은 CURRENT 그룹의 리두이기 때문이다. 이때 AUTORECOVERY를 끄고 온라인 리두 경로를 직접 입력하면 끝까지 적용된다. 이 두 단계 조합이 ARCHIVELOG 환경 컨트롤파일 복구의 표준 형태다.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경로가 컨트롤파일 복구 중 두 번째로 유리하다. 사본 복사 다음이며 복구도 RESETLOGS도 필요 없다. 성립 조건은 두 가지다. 마지막 종료가 정상이었고 리두 로그가 온전해야 한다. alert log의 CLOSE NORMAL 기록으로 첫 조건을 확인하고, LOGFILE 절의 파일이 실제로 있는지로 두 번째 조건을 확인한다. 인카네이션이 유지되므로 기존 백업본이 계속 유효하다는 점이 가장 큰 이점이다.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손실은 다섯 경로 모두 없다는 점을 먼저 강조한다. 아카이브가 연속이면 어느 경로로 가든 현재 시점까지 복구된다. 차이는 인카네이션 변화와 그에 따른 후속 백업 부담이다. 그래서 선택 기준은 단순하다. 사본이 있으면 복사, 없고 정상 종료였으면 trace NORESETLOGS, 그 외에는 RESETLOGS 계열이다. 구조가 바뀐 뒤라면 trace 편집만이 답이다.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7장에서 다룬 제약이 여기서도 동일하다. NORESETLOGS 형식은 LOGFILE 절에 나열된 파일을 그대로 인식하려 하므로 파일이 없으면 문 자체가 실패한다. 리두가 함께 손상된 상황에서는 선택의 여지 없이 RESETLOGS 형식을 쓰게 된다. 다만 ARCHIVELOG 환경이므로 아카이브가 대부분의 구간을 채워 주어 데이터 손실은 발생하지 않는다. 실습 11-7이 이 경우이며 아카이브 자동 적용을 함께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11.4절은 6장과 7장에서 반복해 다룬 주제를 ARCHIVELOG 환경에서 마무리한다. 차이가 하나 있다. 리두에 구조 변경 기록이 남아 있고 아카이브가 연속이므로 대부분의 어긋남을 보정할 수 있다는 점이다. NOARCHIVELOG에서는 빈 파일을 채울 방법이 없어 손실로 이어지던 상황이 여기서는 해결된다. 6장과 7장에서 반복한 주제이므로 차이점 위주로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방법의 조건이 다르다. RENAME은 실제 파일이 새 경로에 있어야 하고, CREATE DATAFILE은 파일 생성 시점부터의 아카이브가 있어야 한다. 복구 중에 보정하는 것이 순서다. OPEN 이후에는 그 파일을 읽는 순간 오류가 나므로 발견이 늦다. 복구 직후 v$datafile 에서 UNNAMED 경로를 확인하는 습관이 필요하다. 실습 11-8에서 두 방법을 모두 수행해 조건 차이를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추가된 파일과 삭제된 파일의 처리가 정반대라는 점을 짚어 준다. 추가된 파일은 UNNAMED로 등록되어 이름을 연결해 주어야 하고, 삭제된 파일은 존재하지 않는데 컨트롤파일이 요구하므로 떼어 내야 한다. 두 경우 모두 구조 변경 직후 컨트롤파일 백업을 받았다면 생기지 않는다. 6장부터 반복해 온 원칙이 여기서도 결론으로 이어진다. 추가와 삭제의 처리가 정반대라는 점을 표로 정리해 두면 기억하기 쉽다.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매니페스트는 두 용도로 쓰인다. 복원 시 파일 목록 대조로 빠진 파일을 즉시 찾을 수 있고, 컨트롤파일이 없을 때 CREATE CONTROLFILE 문을 작성하는 근거가 된다. 백업 스크립트 마지막에 이 SPOOL 블록을 넣어 자동 생성되게 하면 관리 부담이 없다. 인카네이션 정보를 함께 남기는 것이 특히 중요하며 백업본의 유효성 판단에 직결된다. 백업 스크립트 마지막에 이 블록을 넣어 자동 생성되게 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11.5절은 앞의 절들을 조합하는 자리다. 처리 순서는 7장에서 정리한 것과 같지만 ARCHIVELOG 환경에서는 리두 손실의 영향이 훨씬 작다. 아카이브가 대부분의 구간을 담당하고 온라인 리두가 필요한 구간은 마지막 스위치 이후뿐이기 때문이다. 절 후반에서는 복구 시간 배분과 CDB 환경의 차이를 다룬다. 새로운 명령은 없고 순서와 시간 배분이 주제이므로 실습보다 토론 형식이 어울린다.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표를 복구 절차서에 그대로 넣을 수 있도록 구성했다. 0단계가 가장 자주 생략되지만 가장 중요하다. CLEAR와 RESETLOGS는 되돌릴 수 없으므로 사본이 없으면 재시도가 불가능하다. 2단계에서 CURRENT 전손이 확인되면 그 시점에 손실이 확정되므로 현업에 미리 알린다. 5단계의 마무리 항목도 체크리스트로 만들어 두면 누락되지 않는다. 이 표를 인쇄해 복구 절차서 앞에 붙여 두면 실무에서 바로 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복구 시간 기록을 훈련마다 남기면 개선 지점이 보인다. 실제 사례에서 전체 1시간 7분 중 복원과 적용이 35분을 차지했다. 나머지는 준비와 마무리 시간이다. 측정값이 RTO를 넘으면 백업 전략을 조정해야 하며 14장의 증분 백업이 대표적 수단이다. 현업 안내를 단계별로 하면 대기 시간에 대한 불안을 줄일 수 있다. 훈련 기록이 쌓이면 백업 전략 개선의 근거 자료가 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복구 훈련마다 이런 기록을 남기면 개선 지점이 드러난다. 이 예에서 복원과 적용이 전체의 절반을 차지하므로 백업 주기 단축이나 증분 백업 도입이 가장 효과적인 개선책이다. 6단계의 마무리가 25분으로 의외로 길다는 점도 눈에 띈다. 전체 백업이 그 대부분이다. 현업에는 단계별로 상황을 알리면 대기 시간에 대한 불안을 줄일 수 있다. 기록 양식을 미리 만들어 두면 장애 중에도 부담 없이 채울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과정은 non-CDB 기준이지만 실무 환경은 대부분 CDB이므로 차이를 짚어 둔다. 핵심은 컨트롤파일과 리두가 컨테이너 단위라는 점이다. PDB를 아무리 잘게 나눠도 이 두 파일의 장애 앞에서는 전체가 함께 멈춘다. RESETLOGS 후 PDB가 RESTRICTED YES로 열리면 무언가 정상이 아니라는 신호이므로 확인이 필요하다. 실습은 non-CDB로 진행하지만 현장 환경과의 차이를 알고 있어야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컨트롤파일을 새로 만들었으므로 확인 항목이 늘어난다. TEMP 등록 여부, UNNAMED 파일 유무, 사본 개수, 리두 구성 네 가지가 추가된다. 특히 trace 재생성이면 TEMP가 사라지므로 반드시 확인해야 한다. 인카네이션과 복구 지점을 기록하고 마지막으로 전체 백업과 컨트롤파일 백업을 새로 받으면 복구가 완결된다. 확인 항목을 체크리스트로 만들어 복구 절차서에 포함시킨다.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사례가 다중화의 가치를 설득하는 데 가장 효과적이다. 추가 비용은 디스크 공간과 약간의 I/O뿐이고 얻는 것은 손실 유무의 차이다. 리두 멤버 하나를 다른 디스크에 두는 작업은 온라인으로 몇 분이면 끝난다. 정기 점검 항목에 '멤버 수와 배치'를 넣어 두면 이런 구성이 방치되는 것을 막을 수 있다. 정기 점검에 멤버 수와 배치 확인을 넣어 두면 이런 구성이 방치되지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표에서 읽어야 할 원칙은 세 가지다. 첫째, 아카이브가 있으면 컨트롤파일 장애로 인한 데이터 손실은 없다. 둘째, CURRENT 리두 손실만이 실제 데이터 손실을 만든다. 셋째, 손실 여부와 RESETLOGS 여부는 여전히 별개다. 두 번째가 이 장의 핵심이며 아카이브 모드에서도 마지막 구간은 다중화로만 보호된다. 세 원칙 중 두 번째가 이 장 전체의 핵심 메시지다.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아카이브는 로그 스위치 후에 만들어지므로 현재 쓰이는 그룹에는 사본이 없다. 아카이브 모드는 과거 리두를 보존할 뿐 현재 리두를 보호하지 않는다. 예방 수단은 멤버 다중화뿐이며 모드 전환으로는 해결되지 않는다는 점을 강조한다. 이 사실이 7장에서 이미 나왔던 결론이며 ARCHIVELOG에서도 그대로 유효하다. 실습 11-3에서 운영 중 손상까지 확인하면 이 개념이 확실히 자리 잡는다.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첫 번째다. 종료 시 체크포인트가 완료되어 리두에만 있는 변경이 없다. 그룹을 다시 만들고 RESETLOGS로 열면 되며 데이터 손실은 없다. v$datafile_header 의 FUZZY가 모두 NO인 것이 그 근거다. 다만 인카네이션이 올라가므로 즉시 전체 백업을 받아야 한다는 점은 동일하다. FUZZY 컬럼 확인이 판정의 근거가 된다는 점을 함께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새로 만든 컨트롤파일도 백업 컨트롤파일로 취급되므로 USING BACKUP CONTROLFILE 절이 필요하다. 오류 메시지가 그 절을 그대로 알려 주므로 읽고 다시 수행하면 된다. 이유는 새 컨트롤파일에 리두 적용 이력이 없어 어디까지 복구되었는지 알 수 없기 때문이며 그래서 RESETLOGS도 함께 강제된다. 오류 메시지가 필요한 절을 그대로 알려 주므로 읽고 다시 수행하면 된다.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요약의 마지막 두 줄이 이 장의 결론이다. 컨트롤파일은 아무리 심하게 손상되어도 아카이브가 있으면 데이터를 잃지 않는다. 실제 손실을 만드는 것은 CURRENT 리두 손상뿐이며 그 예방은 멤버 다중화라는 구성 하나에 달려 있다. 다음 장에서는 여러 파일이 동시에 손상된 복합 장애를 종합적으로 다룬다. 다음 장에서는 여러 파일이 동시에 손상된 복합 장애를 종합적으로 다룬다.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네 실습이 리두 계열이고 뒤의 네 실습이 컨트롤파일 계열이다. 11-1과 11-2의 대비가 이 장에서 가장 중요한 학습 지점이므로 반드시 직접 수행하게 한다. 11-5와 11-6도 인카네이션 변화 차이를 확인해야 하므로 함께 수행하는 편이 좋다. 시간이 부족하면 11-3과 11-7을 시연으로 대체한다. 실습 11-1과 11-2를 나란히 수행해 결과 차이를 체감시키는 것이 목표다.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ea typeface="Malgun Gothic"/>
              </a:rPr>
              <a:t>Oracle Database 19c Backup &amp; Recovery  ·  제11장</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ea typeface="Malgun Gothic"/>
              </a:rPr>
              <a:t>ARCHIVELOG 복구 ④ CURRENT 리두로그 장애와 컨트롤파일 복구</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ea typeface="Malgun Gothic"/>
              </a:rPr>
              <a:t>CURRENT 손실의 의미 · RPO와 스위치 간격 · CLEAR UNARCHIVED · CF 복구 세 경로 · 구조 불일치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장을 마치면 다음을 수행할 수 있어야 한다.</a:t>
            </a:r>
          </a:p>
          <a:p>
            <a:pPr>
              <a:spcAft>
                <a:spcPts val="600"/>
              </a:spcAft>
            </a:pPr>
            <a:r>
              <a:rPr sz="1600" b="0">
                <a:solidFill>
                  <a:srgbClr val="5A6672"/>
                </a:solidFill>
                <a:latin typeface="Malgun Gothic"/>
                <a:ea typeface="Malgun Gothic"/>
              </a:rPr>
              <a:t>    –  CURRENT 손상이 아카이브 모드에서도 손실을 만드는 이유를 설명한다</a:t>
            </a:r>
          </a:p>
          <a:p>
            <a:pPr>
              <a:spcAft>
                <a:spcPts val="600"/>
              </a:spcAft>
            </a:pPr>
            <a:r>
              <a:rPr sz="1600" b="0">
                <a:solidFill>
                  <a:srgbClr val="5A6672"/>
                </a:solidFill>
                <a:latin typeface="Malgun Gothic"/>
                <a:ea typeface="Malgun Gothic"/>
              </a:rPr>
              <a:t>    –  종료 방식과 백업 종류로 결과를 판정한다</a:t>
            </a:r>
          </a:p>
          <a:p>
            <a:pPr>
              <a:spcAft>
                <a:spcPts val="600"/>
              </a:spcAft>
            </a:pPr>
            <a:r>
              <a:rPr sz="1600" b="0">
                <a:solidFill>
                  <a:srgbClr val="5A6672"/>
                </a:solidFill>
                <a:latin typeface="Malgun Gothic"/>
                <a:ea typeface="Malgun Gothic"/>
              </a:rPr>
              <a:t>    –  CLEAR UNARCHIVED 를 이용한 복구를 수행한다</a:t>
            </a:r>
          </a:p>
          <a:p>
            <a:pPr>
              <a:spcAft>
                <a:spcPts val="600"/>
              </a:spcAft>
            </a:pPr>
            <a:r>
              <a:rPr sz="1600" b="0">
                <a:solidFill>
                  <a:srgbClr val="5A6672"/>
                </a:solidFill>
                <a:latin typeface="Malgun Gothic"/>
                <a:ea typeface="Malgun Gothic"/>
              </a:rPr>
              <a:t>    –  컨트롤파일을 백업본과 trace로 복구한다</a:t>
            </a:r>
          </a:p>
          <a:p>
            <a:pPr>
              <a:spcAft>
                <a:spcPts val="600"/>
              </a:spcAft>
            </a:pPr>
            <a:r>
              <a:rPr sz="1600" b="0">
                <a:solidFill>
                  <a:srgbClr val="5A6672"/>
                </a:solidFill>
                <a:latin typeface="Malgun Gothic"/>
                <a:ea typeface="Malgun Gothic"/>
              </a:rPr>
              <a:t>    –  백업 CF와 현재 구조의 불일치를 보정한다</a:t>
            </a:r>
          </a:p>
          <a:p>
            <a:pPr>
              <a:spcAft>
                <a:spcPts val="600"/>
              </a:spcAft>
            </a:pPr>
            <a:r>
              <a:rPr sz="1600" b="0">
                <a:solidFill>
                  <a:srgbClr val="5A6672"/>
                </a:solidFill>
                <a:latin typeface="Malgun Gothic"/>
                <a:ea typeface="Malgun Gothic"/>
              </a:rPr>
              <a:t>    –  USING BACKUP CONTROLFILE 절의 역할을 설명한다</a:t>
            </a:r>
          </a:p>
          <a:p>
            <a:pPr>
              <a:spcAft>
                <a:spcPts val="600"/>
              </a:spcAft>
            </a:pPr>
            <a:r>
              <a:rPr sz="1800" b="0">
                <a:solidFill>
                  <a:srgbClr val="202830"/>
                </a:solidFill>
                <a:latin typeface="Malgun Gothic"/>
                <a:ea typeface="Malgun Gothic"/>
              </a:rPr>
              <a:t>•  여섯 목표는 각각 11.1 / 11.1.2 / 11.2 / 11.3 / 11.4 / 11.5 절과 대응된다.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11.1  CURRENT 리두 손상의 특성 — 보호되지 않는 이유 · 두 변수 · 판정 · RPO</a:t>
            </a:r>
          </a:p>
          <a:p>
            <a:pPr>
              <a:spcAft>
                <a:spcPts val="600"/>
              </a:spcAft>
            </a:pPr>
            <a:r>
              <a:rPr sz="1800" b="0">
                <a:solidFill>
                  <a:srgbClr val="202830"/>
                </a:solidFill>
                <a:latin typeface="Malgun Gothic"/>
                <a:ea typeface="Malgun Gothic"/>
              </a:rPr>
              <a:t>•  11.2  CURRENT 손상 복구 — 정상/비정상 종료 · 운영 중 · CLEAR 이후 처리</a:t>
            </a:r>
          </a:p>
          <a:p>
            <a:pPr>
              <a:spcAft>
                <a:spcPts val="600"/>
              </a:spcAft>
            </a:pPr>
            <a:r>
              <a:rPr sz="1800" b="0">
                <a:solidFill>
                  <a:srgbClr val="202830"/>
                </a:solidFill>
                <a:latin typeface="Malgun Gothic"/>
                <a:ea typeface="Malgun Gothic"/>
              </a:rPr>
              <a:t>•  11.3  컨트롤파일 복구 — 6장과의 차이 · 종료 방식별 · 세 경로 비교</a:t>
            </a:r>
          </a:p>
          <a:p>
            <a:pPr>
              <a:spcAft>
                <a:spcPts val="600"/>
              </a:spcAft>
            </a:pPr>
            <a:r>
              <a:rPr sz="1800" b="0">
                <a:solidFill>
                  <a:srgbClr val="202830"/>
                </a:solidFill>
                <a:latin typeface="Malgun Gothic"/>
                <a:ea typeface="Malgun Gothic"/>
              </a:rPr>
              <a:t>•  11.4  백업 CF와 구조 불일치 — UNNAMED · 보정 · 매니페스트</a:t>
            </a:r>
          </a:p>
          <a:p>
            <a:pPr>
              <a:spcAft>
                <a:spcPts val="600"/>
              </a:spcAft>
            </a:pPr>
            <a:r>
              <a:rPr sz="1800" b="0">
                <a:solidFill>
                  <a:srgbClr val="202830"/>
                </a:solidFill>
                <a:latin typeface="Malgun Gothic"/>
                <a:ea typeface="Malgun Gothic"/>
              </a:rPr>
              <a:t>•  11.5  복합 손상 — 처리 순서 · 명령 선택 · 확인 · 시간 · CDB</a:t>
            </a:r>
          </a:p>
          <a:p>
            <a:pPr>
              <a:spcAft>
                <a:spcPts val="600"/>
              </a:spcAft>
            </a:pPr>
            <a:r>
              <a:rPr sz="1800" b="0">
                <a:solidFill>
                  <a:srgbClr val="202830"/>
                </a:solidFill>
                <a:latin typeface="Malgun Gothic"/>
                <a:ea typeface="Malgun Gothic"/>
              </a:rPr>
              <a:t>•  11.6 판단표 · 11.7 퀴즈 · 요약 · 실습 8 개요</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실습은 ARCHIVELOG 환경에서 진행하며, 각 실습 전 전체 백업과 컨트롤파일 백업을 받아 둔다.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11.1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CURRENT 리두 로그 손상의 특성</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아카이브는 스위치 후에 만들어진다</a:t>
            </a:r>
          </a:p>
          <a:p>
            <a:pPr>
              <a:spcAft>
                <a:spcPts val="600"/>
              </a:spcAft>
            </a:pPr>
            <a:r>
              <a:rPr sz="1600" b="0">
                <a:solidFill>
                  <a:srgbClr val="C5CED6"/>
                </a:solidFill>
                <a:latin typeface="Malgun Gothic"/>
                <a:ea typeface="Malgun Gothic"/>
              </a:rPr>
              <a:t>•  CURRENT 그룹은 아직 사본이 없다</a:t>
            </a:r>
          </a:p>
          <a:p>
            <a:pPr>
              <a:spcAft>
                <a:spcPts val="600"/>
              </a:spcAft>
            </a:pPr>
            <a:r>
              <a:rPr sz="1600" b="0">
                <a:solidFill>
                  <a:srgbClr val="C5CED6"/>
                </a:solidFill>
                <a:latin typeface="Malgun Gothic"/>
                <a:ea typeface="Malgun Gothic"/>
              </a:rPr>
              <a:t>•  손실 구간은 마지막 스위치 이후의 변경이다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아카이브와 CURRENT의 관계</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사본이 없는 구간</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group#, sequence#, archived, status FROM v$log ORDER BY sequence#;</a:t>
            </a:r>
          </a:p>
          <a:p>
            <a:pPr>
              <a:spcAft>
                <a:spcPts val="0"/>
              </a:spcAft>
            </a:pPr>
            <a:r>
              <a:rPr sz="1250" b="0">
                <a:solidFill>
                  <a:srgbClr val="E6E6E6"/>
                </a:solidFill>
                <a:latin typeface="Consolas"/>
                <a:ea typeface="Consolas"/>
              </a:rPr>
              <a:t>    GROUP#  SEQUENCE# ARC STATUS</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4         12 YES INACTIVE</a:t>
            </a:r>
          </a:p>
          <a:p>
            <a:pPr>
              <a:spcAft>
                <a:spcPts val="0"/>
              </a:spcAft>
            </a:pPr>
            <a:r>
              <a:rPr sz="1250" b="0">
                <a:solidFill>
                  <a:srgbClr val="E6E6E6"/>
                </a:solidFill>
                <a:latin typeface="Consolas"/>
                <a:ea typeface="Consolas"/>
              </a:rPr>
              <a:t>         1         13 YES INACTIVE</a:t>
            </a:r>
          </a:p>
          <a:p>
            <a:pPr>
              <a:spcAft>
                <a:spcPts val="0"/>
              </a:spcAft>
            </a:pPr>
            <a:r>
              <a:rPr sz="1250" b="0">
                <a:solidFill>
                  <a:srgbClr val="E6E6E6"/>
                </a:solidFill>
                <a:latin typeface="Consolas"/>
                <a:ea typeface="Consolas"/>
              </a:rPr>
              <a:t>         3         14 NO  CURRENT</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MAX(sequence#) AS archived_max FROM v$archived_log</a:t>
            </a:r>
          </a:p>
          <a:p>
            <a:pPr>
              <a:spcAft>
                <a:spcPts val="0"/>
              </a:spcAft>
            </a:pPr>
            <a:r>
              <a:rPr sz="1250" b="0">
                <a:solidFill>
                  <a:srgbClr val="E6E6E6"/>
                </a:solidFill>
                <a:latin typeface="Consolas"/>
                <a:ea typeface="Consolas"/>
              </a:rPr>
              <a:t>  2  WHERE  status = 'A';</a:t>
            </a:r>
          </a:p>
          <a:p>
            <a:pPr>
              <a:spcAft>
                <a:spcPts val="0"/>
              </a:spcAft>
            </a:pPr>
            <a:r>
              <a:rPr sz="1250" b="0">
                <a:solidFill>
                  <a:srgbClr val="E6E6E6"/>
                </a:solidFill>
                <a:latin typeface="Consolas"/>
                <a:ea typeface="Consolas"/>
              </a:rPr>
              <a:t>ARCHIVED_MAX</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          13</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시퀀스 14는 아직 사본이 없다.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결과를 가르는 두 변수와 판정</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① 마지막 종료가 정상이었는가</a:t>
            </a:r>
          </a:p>
          <a:p>
            <a:pPr>
              <a:spcAft>
                <a:spcPts val="600"/>
              </a:spcAft>
            </a:pPr>
            <a:r>
              <a:rPr sz="1600" b="0">
                <a:solidFill>
                  <a:srgbClr val="5A6672"/>
                </a:solidFill>
                <a:latin typeface="Malgun Gothic"/>
                <a:ea typeface="Malgun Gothic"/>
              </a:rPr>
              <a:t>    –  정상 종료 → FUZZY NO, 적용할 리두 없음 → 손실 없음</a:t>
            </a:r>
          </a:p>
          <a:p>
            <a:pPr>
              <a:spcAft>
                <a:spcPts val="600"/>
              </a:spcAft>
            </a:pPr>
            <a:r>
              <a:rPr sz="1600" b="0">
                <a:solidFill>
                  <a:srgbClr val="5A6672"/>
                </a:solidFill>
                <a:latin typeface="Malgun Gothic"/>
                <a:ea typeface="Malgun Gothic"/>
              </a:rPr>
              <a:t>    –  비정상 종료 → FUZZY YES, 미반영 변경 손실</a:t>
            </a:r>
          </a:p>
          <a:p>
            <a:pPr>
              <a:spcAft>
                <a:spcPts val="600"/>
              </a:spcAft>
            </a:pPr>
            <a:r>
              <a:rPr sz="1800" b="0">
                <a:solidFill>
                  <a:srgbClr val="202830"/>
                </a:solidFill>
                <a:latin typeface="Malgun Gothic"/>
                <a:ea typeface="Malgun Gothic"/>
              </a:rPr>
              <a:t>•  ② 어떤 백업본을 쓰는가</a:t>
            </a:r>
          </a:p>
          <a:p>
            <a:pPr>
              <a:spcAft>
                <a:spcPts val="600"/>
              </a:spcAft>
            </a:pPr>
            <a:r>
              <a:rPr sz="1600" b="0">
                <a:solidFill>
                  <a:srgbClr val="5A6672"/>
                </a:solidFill>
                <a:latin typeface="Malgun Gothic"/>
                <a:ea typeface="Malgun Gothic"/>
              </a:rPr>
              <a:t>    –  Cold → 어느 지점이든 지정 가능 / Hot → END BACKUP 이후만</a:t>
            </a:r>
          </a:p>
          <a:p>
            <a:pPr>
              <a:spcAft>
                <a:spcPts val="600"/>
              </a:spcAft>
            </a:pPr>
            <a:r>
              <a:rPr sz="1800" b="0">
                <a:solidFill>
                  <a:srgbClr val="202830"/>
                </a:solidFill>
                <a:latin typeface="Malgun Gothic"/>
                <a:ea typeface="Malgun Gothic"/>
              </a:rPr>
              <a:t>•  판정 네 단계 — 멤버 생존 · 그룹 상태와 ARCHIVED · alert log · FUZZY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종료 방식별 상태 비교</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FUZZY 컬럼이 결과를 예고한다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정상 종료 후</a:t>
            </a:r>
          </a:p>
          <a:p>
            <a:pPr>
              <a:spcAft>
                <a:spcPts val="0"/>
              </a:spcAft>
            </a:pPr>
            <a:r>
              <a:rPr sz="1250" b="0">
                <a:solidFill>
                  <a:srgbClr val="E6E6E6"/>
                </a:solidFill>
                <a:latin typeface="Consolas"/>
                <a:ea typeface="Consolas"/>
              </a:rPr>
              <a:t>SYS@orcl&gt; SELECT file#, checkpoint_change#, fuzzy FROM v$datafile_header;</a:t>
            </a:r>
          </a:p>
          <a:p>
            <a:pPr>
              <a:spcAft>
                <a:spcPts val="0"/>
              </a:spcAft>
            </a:pPr>
            <a:r>
              <a:rPr sz="1250" b="0">
                <a:solidFill>
                  <a:srgbClr val="E6E6E6"/>
                </a:solidFill>
                <a:latin typeface="Consolas"/>
                <a:ea typeface="Consolas"/>
              </a:rPr>
              <a:t>     FILE# CHECKPOINT_CHANGE# FUZ</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            2431000 NO</a:t>
            </a:r>
          </a:p>
          <a:p>
            <a:pPr>
              <a:spcAft>
                <a:spcPts val="0"/>
              </a:spcAft>
            </a:pPr>
            <a:r>
              <a:rPr sz="1250" b="0">
                <a:solidFill>
                  <a:srgbClr val="E6E6E6"/>
                </a:solidFill>
                <a:latin typeface="Consolas"/>
                <a:ea typeface="Consolas"/>
              </a:rPr>
              <a:t>         3            2431000 NO</a:t>
            </a:r>
          </a:p>
          <a:p>
            <a:pPr>
              <a:spcAft>
                <a:spcPts val="0"/>
              </a:spcAft>
            </a:pPr>
            <a:r>
              <a:rPr sz="1250" b="0">
                <a:solidFill>
                  <a:srgbClr val="E6E6E6"/>
                </a:solidFill>
                <a:latin typeface="Consolas"/>
                <a:ea typeface="Consolas"/>
              </a:rPr>
              <a:t>         7            2431000 NO</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비정상 종료 후</a:t>
            </a:r>
          </a:p>
          <a:p>
            <a:pPr>
              <a:spcAft>
                <a:spcPts val="0"/>
              </a:spcAft>
            </a:pPr>
            <a:r>
              <a:rPr sz="1250" b="0">
                <a:solidFill>
                  <a:srgbClr val="E6E6E6"/>
                </a:solidFill>
                <a:latin typeface="Consolas"/>
                <a:ea typeface="Consolas"/>
              </a:rPr>
              <a:t>     FILE# CHECKPOINT_CHANGE# FUZ</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            2431640 YES</a:t>
            </a:r>
          </a:p>
          <a:p>
            <a:pPr>
              <a:spcAft>
                <a:spcPts val="0"/>
              </a:spcAft>
            </a:pPr>
            <a:r>
              <a:rPr sz="1250" b="0">
                <a:solidFill>
                  <a:srgbClr val="E6E6E6"/>
                </a:solidFill>
                <a:latin typeface="Consolas"/>
                <a:ea typeface="Consolas"/>
              </a:rPr>
              <a:t>         3            2431640 YES</a:t>
            </a:r>
          </a:p>
          <a:p>
            <a:pPr>
              <a:spcAft>
                <a:spcPts val="0"/>
              </a:spcAft>
            </a:pPr>
            <a:r>
              <a:rPr sz="1250" b="0">
                <a:solidFill>
                  <a:srgbClr val="E6E6E6"/>
                </a:solidFill>
                <a:latin typeface="Consolas"/>
                <a:ea typeface="Consolas"/>
              </a:rPr>
              <a:t>         7            2431580 YES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손실 구간 산정과 RPO</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스위치 간격이 최대 손실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TO_CHAR(first_time, 'YYYY-MM-DD HH24') AS hh,</a:t>
            </a:r>
          </a:p>
          <a:p>
            <a:pPr>
              <a:spcAft>
                <a:spcPts val="0"/>
              </a:spcAft>
            </a:pPr>
            <a:r>
              <a:rPr sz="1250" b="0">
                <a:solidFill>
                  <a:srgbClr val="E6E6E6"/>
                </a:solidFill>
                <a:latin typeface="Consolas"/>
                <a:ea typeface="Consolas"/>
              </a:rPr>
              <a:t>  2         COUNT(*) AS switches, ROUND(60/COUNT(*),1) AS avg_minutes</a:t>
            </a:r>
          </a:p>
          <a:p>
            <a:pPr>
              <a:spcAft>
                <a:spcPts val="0"/>
              </a:spcAft>
            </a:pPr>
            <a:r>
              <a:rPr sz="1250" b="0">
                <a:solidFill>
                  <a:srgbClr val="E6E6E6"/>
                </a:solidFill>
                <a:latin typeface="Consolas"/>
                <a:ea typeface="Consolas"/>
              </a:rPr>
              <a:t>  3  FROM   v$log_history WHERE first_time &gt; SYSDATE - 1</a:t>
            </a:r>
          </a:p>
          <a:p>
            <a:pPr>
              <a:spcAft>
                <a:spcPts val="0"/>
              </a:spcAft>
            </a:pPr>
            <a:r>
              <a:rPr sz="1250" b="0">
                <a:solidFill>
                  <a:srgbClr val="E6E6E6"/>
                </a:solidFill>
                <a:latin typeface="Consolas"/>
                <a:ea typeface="Consolas"/>
              </a:rPr>
              <a:t>  4  GROUP  BY TO_CHAR(first_time,'YYYY-MM-DD HH24') ORDER BY 1 DESC</a:t>
            </a:r>
          </a:p>
          <a:p>
            <a:pPr>
              <a:spcAft>
                <a:spcPts val="0"/>
              </a:spcAft>
            </a:pPr>
            <a:r>
              <a:rPr sz="1250" b="0">
                <a:solidFill>
                  <a:srgbClr val="E6E6E6"/>
                </a:solidFill>
                <a:latin typeface="Consolas"/>
                <a:ea typeface="Consolas"/>
              </a:rPr>
              <a:t>  5  FETCH  FIRST 4 ROWS ONLY;</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HH               SWITCHES AVG_MINUTES</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2025-05-13 10           4        15.0</a:t>
            </a:r>
          </a:p>
          <a:p>
            <a:pPr>
              <a:spcAft>
                <a:spcPts val="0"/>
              </a:spcAft>
            </a:pPr>
            <a:r>
              <a:rPr sz="1250" b="0">
                <a:solidFill>
                  <a:srgbClr val="E6E6E6"/>
                </a:solidFill>
                <a:latin typeface="Consolas"/>
                <a:ea typeface="Consolas"/>
              </a:rPr>
              <a:t>2025-05-13 09           3        20.0</a:t>
            </a:r>
          </a:p>
          <a:p>
            <a:pPr>
              <a:spcAft>
                <a:spcPts val="0"/>
              </a:spcAft>
            </a:pPr>
            <a:r>
              <a:rPr sz="1250" b="0">
                <a:solidFill>
                  <a:srgbClr val="E6E6E6"/>
                </a:solidFill>
                <a:latin typeface="Consolas"/>
                <a:ea typeface="Consolas"/>
              </a:rPr>
              <a:t>2025-05-13 08           5        12.0</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평균 15분 간격 = 최악의 경우 15분치 손실 후보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11.2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CURRENT 리두 로그 손상 복구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정상 종료였다면 CLEAR와 RESETLOGS로 끝난다</a:t>
            </a:r>
          </a:p>
          <a:p>
            <a:pPr>
              <a:spcAft>
                <a:spcPts val="600"/>
              </a:spcAft>
            </a:pPr>
            <a:r>
              <a:rPr sz="1600" b="0">
                <a:solidFill>
                  <a:srgbClr val="C5CED6"/>
                </a:solidFill>
                <a:latin typeface="Malgun Gothic"/>
                <a:ea typeface="Malgun Gothic"/>
              </a:rPr>
              <a:t>•  비정상 종료였다면 불완전 복구로 전환한다</a:t>
            </a:r>
          </a:p>
          <a:p>
            <a:pPr>
              <a:spcAft>
                <a:spcPts val="600"/>
              </a:spcAft>
            </a:pPr>
            <a:r>
              <a:rPr sz="1600" b="0">
                <a:solidFill>
                  <a:srgbClr val="C5CED6"/>
                </a:solidFill>
                <a:latin typeface="Malgun Gothic"/>
                <a:ea typeface="Malgun Gothic"/>
              </a:rPr>
              <a:t>•  CLEAR UNARCHIVED 는 되돌릴 수 없는 선언이다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정상 종료 후 손상</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CLEAR UNARCHIVED → OPEN RESETLOGS</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SYS@orcl&gt; SELECT group#, sequence#, archived, status FROM v$log ORDER BY group#;</a:t>
            </a:r>
          </a:p>
          <a:p>
            <a:pPr>
              <a:spcAft>
                <a:spcPts val="0"/>
              </a:spcAft>
            </a:pPr>
            <a:r>
              <a:rPr sz="1250" b="0">
                <a:solidFill>
                  <a:srgbClr val="E6E6E6"/>
                </a:solidFill>
                <a:latin typeface="Consolas"/>
                <a:ea typeface="Consolas"/>
              </a:rPr>
              <a:t>         1         13 YES INACTIVE</a:t>
            </a:r>
          </a:p>
          <a:p>
            <a:pPr>
              <a:spcAft>
                <a:spcPts val="0"/>
              </a:spcAft>
            </a:pPr>
            <a:r>
              <a:rPr sz="1250" b="0">
                <a:solidFill>
                  <a:srgbClr val="E6E6E6"/>
                </a:solidFill>
                <a:latin typeface="Consolas"/>
                <a:ea typeface="Consolas"/>
              </a:rPr>
              <a:t>         3         14 NO  CURRENT</a:t>
            </a:r>
          </a:p>
          <a:p>
            <a:pPr>
              <a:spcAft>
                <a:spcPts val="0"/>
              </a:spcAft>
            </a:pPr>
            <a:r>
              <a:rPr sz="1250" b="0">
                <a:solidFill>
                  <a:srgbClr val="E6E6E6"/>
                </a:solidFill>
                <a:latin typeface="Consolas"/>
                <a:ea typeface="Consolas"/>
              </a:rPr>
              <a:t>         4         12 YES INACTIVE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file#, checkpoint_change#, fuzzy FROM v$datafile_header;</a:t>
            </a:r>
          </a:p>
          <a:p>
            <a:pPr>
              <a:spcAft>
                <a:spcPts val="0"/>
              </a:spcAft>
            </a:pPr>
            <a:r>
              <a:rPr sz="1250" b="0">
                <a:solidFill>
                  <a:srgbClr val="7EC699"/>
                </a:solidFill>
                <a:latin typeface="Consolas"/>
                <a:ea typeface="Consolas"/>
              </a:rPr>
              <a:t>-- 모두 FUZZY NO, 같은 SCN</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CLEAR UNARCHIVED LOGFILE GROUP 3;</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SYS@orcl&gt; ALTER DATABASE OPEN;</a:t>
            </a:r>
          </a:p>
          <a:p>
            <a:pPr>
              <a:spcAft>
                <a:spcPts val="0"/>
              </a:spcAft>
            </a:pPr>
            <a:r>
              <a:rPr sz="1250" b="0">
                <a:solidFill>
                  <a:srgbClr val="E6E6E6"/>
                </a:solidFill>
                <a:latin typeface="Consolas"/>
                <a:ea typeface="Consolas"/>
              </a:rPr>
              <a:t>ORA-01589: must use RESETLOGS or NORESETLOGS option for database open</a:t>
            </a:r>
          </a:p>
          <a:p>
            <a:pPr>
              <a:spcAft>
                <a:spcPts val="0"/>
              </a:spcAft>
            </a:pPr>
            <a:r>
              <a:rPr sz="1250" b="0">
                <a:solidFill>
                  <a:srgbClr val="E6E6E6"/>
                </a:solidFill>
                <a:latin typeface="Consolas"/>
                <a:ea typeface="Consolas"/>
              </a:rPr>
              <a:t>SYS@orcl&gt; ALTER DATABASE OPEN RESETLOGS;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비정상 종료 후 손상</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불완전 복구로 전환</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ALTER DATABASE CLEAR UNARCHIVED LOGFILE GROUP 3;</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SYS@orcl&gt; ALTER DATABASE OPEN RESETLOGS;</a:t>
            </a:r>
          </a:p>
          <a:p>
            <a:pPr>
              <a:spcAft>
                <a:spcPts val="0"/>
              </a:spcAft>
            </a:pPr>
            <a:r>
              <a:rPr sz="1250" b="0">
                <a:solidFill>
                  <a:srgbClr val="E6E6E6"/>
                </a:solidFill>
                <a:latin typeface="Consolas"/>
                <a:ea typeface="Consolas"/>
              </a:rPr>
              <a:t>ORA-01113: file 1 needs media recovery</a:t>
            </a:r>
          </a:p>
          <a:p>
            <a:pPr>
              <a:spcAft>
                <a:spcPts val="0"/>
              </a:spcAft>
            </a:pPr>
            <a:r>
              <a:rPr sz="1250" b="0">
                <a:solidFill>
                  <a:srgbClr val="E6E6E6"/>
                </a:solidFill>
                <a:latin typeface="Consolas"/>
                <a:ea typeface="Consolas"/>
              </a:rPr>
              <a:t>ORA-01110: data file 1: '/u01/app/oracle/oradata/orcl/system01.dbf'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SHUTDOWN ABORT</a:t>
            </a:r>
          </a:p>
          <a:p>
            <a:pPr>
              <a:spcAft>
                <a:spcPts val="0"/>
              </a:spcAft>
            </a:pPr>
            <a:r>
              <a:rPr sz="1250" b="0">
                <a:solidFill>
                  <a:srgbClr val="E6E6E6"/>
                </a:solidFill>
                <a:latin typeface="Consolas"/>
                <a:ea typeface="Consolas"/>
              </a:rPr>
              <a:t>SYS@orcl&gt; !cp -p /home/oracle/backup/ch11/*.dbf /u02/oradata/orcl/</a:t>
            </a:r>
          </a:p>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SYS@orcl&gt; RECOVER DATABASE UNTIL CANCEL;</a:t>
            </a:r>
          </a:p>
          <a:p>
            <a:pPr>
              <a:spcAft>
                <a:spcPts val="0"/>
              </a:spcAft>
            </a:pPr>
            <a:r>
              <a:rPr sz="1250" b="0">
                <a:solidFill>
                  <a:srgbClr val="7EC699"/>
                </a:solidFill>
                <a:latin typeface="Consolas"/>
                <a:ea typeface="Consolas"/>
              </a:rPr>
              <a:t>-- 아카이브된 마지막 시퀀스까지 적용 후 CANCEL</a:t>
            </a:r>
          </a:p>
          <a:p>
            <a:pPr>
              <a:spcAft>
                <a:spcPts val="0"/>
              </a:spcAft>
            </a:pPr>
            <a:r>
              <a:rPr sz="1250" b="0">
                <a:solidFill>
                  <a:srgbClr val="E6E6E6"/>
                </a:solidFill>
                <a:latin typeface="Consolas"/>
                <a:ea typeface="Consolas"/>
              </a:rPr>
              <a:t>SYS@orcl&gt; ALTER DATABASE OPEN RESETLOGS;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운영 중 손상과 CLEAR 이후 처리</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운영 중 CURRENT 전손 → LGWR가 쓰지 못해 인스턴스 중단</a:t>
            </a:r>
          </a:p>
          <a:p>
            <a:pPr>
              <a:spcAft>
                <a:spcPts val="600"/>
              </a:spcAft>
            </a:pPr>
            <a:r>
              <a:rPr sz="1600" b="0">
                <a:solidFill>
                  <a:srgbClr val="5A6672"/>
                </a:solidFill>
                <a:latin typeface="Malgun Gothic"/>
                <a:ea typeface="Malgun Gothic"/>
              </a:rPr>
              <a:t>    –  사실상 비정상 종료와 동일하게 처리</a:t>
            </a:r>
          </a:p>
          <a:p>
            <a:pPr>
              <a:spcAft>
                <a:spcPts val="600"/>
              </a:spcAft>
            </a:pPr>
            <a:r>
              <a:rPr sz="1600" b="0">
                <a:solidFill>
                  <a:srgbClr val="5A6672"/>
                </a:solidFill>
                <a:latin typeface="Malgun Gothic"/>
                <a:ea typeface="Malgun Gothic"/>
              </a:rPr>
              <a:t>    –  다른 멤버가 남아 있으면 복사로 즉시 해결</a:t>
            </a:r>
          </a:p>
          <a:p>
            <a:pPr>
              <a:spcAft>
                <a:spcPts val="600"/>
              </a:spcAft>
            </a:pPr>
            <a:r>
              <a:rPr sz="1800" b="0">
                <a:solidFill>
                  <a:srgbClr val="202830"/>
                </a:solidFill>
                <a:latin typeface="Malgun Gothic"/>
                <a:ea typeface="Malgun Gothic"/>
              </a:rPr>
              <a:t>•  CLEAR UNARCHIVED 는 그 구간 리두를 영구히 버린다</a:t>
            </a:r>
          </a:p>
          <a:p>
            <a:pPr>
              <a:spcAft>
                <a:spcPts val="600"/>
              </a:spcAft>
            </a:pPr>
            <a:r>
              <a:rPr sz="1600" b="0">
                <a:solidFill>
                  <a:srgbClr val="5A6672"/>
                </a:solidFill>
                <a:latin typeface="Malgun Gothic"/>
                <a:ea typeface="Malgun Gothic"/>
              </a:rPr>
              <a:t>    –  아카이브 연속성 점검에서 빠진 구간으로 나타남</a:t>
            </a:r>
          </a:p>
          <a:p>
            <a:pPr>
              <a:spcAft>
                <a:spcPts val="600"/>
              </a:spcAft>
            </a:pPr>
            <a:r>
              <a:rPr sz="1600" b="0">
                <a:solidFill>
                  <a:srgbClr val="5A6672"/>
                </a:solidFill>
                <a:latin typeface="Malgun Gothic"/>
                <a:ea typeface="Malgun Gothic"/>
              </a:rPr>
              <a:t>    –  그 시점 이전의 백업본이 사실상 무효</a:t>
            </a:r>
          </a:p>
          <a:p>
            <a:pPr>
              <a:spcAft>
                <a:spcPts val="600"/>
              </a:spcAft>
            </a:pPr>
            <a:r>
              <a:rPr sz="1800" b="0">
                <a:solidFill>
                  <a:srgbClr val="202830"/>
                </a:solidFill>
                <a:latin typeface="Malgun Gothic"/>
                <a:ea typeface="Malgun Gothic"/>
              </a:rPr>
              <a:t>•  수행 직후 전체 백업이 필수</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CLEAR가 실패할 때의 대안</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그룹이 하나뿐 — ORA-01567</a:t>
            </a:r>
          </a:p>
          <a:p>
            <a:pPr>
              <a:spcAft>
                <a:spcPts val="600"/>
              </a:spcAft>
            </a:pPr>
            <a:r>
              <a:rPr sz="1600" b="0">
                <a:solidFill>
                  <a:srgbClr val="5A6672"/>
                </a:solidFill>
                <a:latin typeface="Malgun Gothic"/>
                <a:ea typeface="Malgun Gothic"/>
              </a:rPr>
              <a:t>    –  ALTER DATABASE ADD LOGFILE GROUP 으로 그룹을 먼저 추가</a:t>
            </a:r>
          </a:p>
          <a:p>
            <a:pPr>
              <a:spcAft>
                <a:spcPts val="600"/>
              </a:spcAft>
            </a:pPr>
            <a:r>
              <a:rPr sz="1800" b="0">
                <a:solidFill>
                  <a:srgbClr val="202830"/>
                </a:solidFill>
                <a:latin typeface="Malgun Gothic"/>
                <a:ea typeface="Malgun Gothic"/>
              </a:rPr>
              <a:t>•  디렉터리 권한·공간 부족 — ORA-00301 계열</a:t>
            </a:r>
          </a:p>
          <a:p>
            <a:pPr>
              <a:spcAft>
                <a:spcPts val="600"/>
              </a:spcAft>
            </a:pPr>
            <a:r>
              <a:rPr sz="1600" b="0">
                <a:solidFill>
                  <a:srgbClr val="5A6672"/>
                </a:solidFill>
                <a:latin typeface="Malgun Gothic"/>
                <a:ea typeface="Malgun Gothic"/>
              </a:rPr>
              <a:t>    –  CLEAR는 파일을 새로 만드는 명령이라 쓰기 권한이 필요</a:t>
            </a:r>
          </a:p>
          <a:p>
            <a:pPr>
              <a:spcAft>
                <a:spcPts val="600"/>
              </a:spcAft>
            </a:pPr>
            <a:r>
              <a:rPr sz="1800" b="0">
                <a:solidFill>
                  <a:srgbClr val="202830"/>
                </a:solidFill>
                <a:latin typeface="Malgun Gothic"/>
                <a:ea typeface="Malgun Gothic"/>
              </a:rPr>
              <a:t>•  그래도 실패하면 컨트롤파일 재생성으로 전환</a:t>
            </a:r>
          </a:p>
          <a:p>
            <a:pPr>
              <a:spcAft>
                <a:spcPts val="600"/>
              </a:spcAft>
            </a:pPr>
            <a:r>
              <a:rPr sz="1600" b="0">
                <a:solidFill>
                  <a:srgbClr val="5A6672"/>
                </a:solidFill>
                <a:latin typeface="Malgun Gothic"/>
                <a:ea typeface="Malgun Gothic"/>
              </a:rPr>
              <a:t>    –  RESETLOGS 형식은 리두 로그를 새로 만들어 인식시킨다</a:t>
            </a:r>
          </a:p>
          <a:p>
            <a:pPr>
              <a:spcAft>
                <a:spcPts val="600"/>
              </a:spcAft>
            </a:pPr>
            <a:r>
              <a:rPr sz="1800" b="0">
                <a:solidFill>
                  <a:srgbClr val="202830"/>
                </a:solidFill>
                <a:latin typeface="Malgun Gothic"/>
                <a:ea typeface="Malgun Gothic"/>
              </a:rPr>
              <a:t>•  어느 경로든 마지막은 RESETLOGS와 전체 백업</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11.3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ARCHIVELOG 환경의 컨트롤파일 복구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절차는 6장과 같고 복구 범위가 넓어진다</a:t>
            </a:r>
          </a:p>
          <a:p>
            <a:pPr>
              <a:spcAft>
                <a:spcPts val="600"/>
              </a:spcAft>
            </a:pPr>
            <a:r>
              <a:rPr sz="1600" b="0">
                <a:solidFill>
                  <a:srgbClr val="C5CED6"/>
                </a:solidFill>
                <a:latin typeface="Malgun Gothic"/>
                <a:ea typeface="Malgun Gothic"/>
              </a:rPr>
              <a:t>•  아카이브가 자동 적용되어 조작이 편해진다</a:t>
            </a:r>
          </a:p>
          <a:p>
            <a:pPr>
              <a:spcAft>
                <a:spcPts val="600"/>
              </a:spcAft>
            </a:pPr>
            <a:r>
              <a:rPr sz="1600" b="0">
                <a:solidFill>
                  <a:srgbClr val="C5CED6"/>
                </a:solidFill>
                <a:latin typeface="Malgun Gothic"/>
                <a:ea typeface="Malgun Gothic"/>
              </a:rPr>
              <a:t>•  마지막 구간은 온라인 리두를 직접 지정한다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백업 CF 복원 후 복구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아카이브 자동 적용 + 마지막 구간 수동</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SYS@orcl&gt; SET AUTORECOVERY ON</a:t>
            </a:r>
          </a:p>
          <a:p>
            <a:pPr>
              <a:spcAft>
                <a:spcPts val="0"/>
              </a:spcAft>
            </a:pPr>
            <a:r>
              <a:rPr sz="1250" b="0">
                <a:solidFill>
                  <a:srgbClr val="E6E6E6"/>
                </a:solidFill>
                <a:latin typeface="Consolas"/>
                <a:ea typeface="Consolas"/>
              </a:rPr>
              <a:t>SYS@orcl&gt; RECOVER DATABASE USING BACKUP CONTROLFILE;</a:t>
            </a:r>
          </a:p>
          <a:p>
            <a:pPr>
              <a:spcAft>
                <a:spcPts val="0"/>
              </a:spcAft>
            </a:pPr>
            <a:r>
              <a:rPr sz="1250" b="0">
                <a:solidFill>
                  <a:srgbClr val="E6E6E6"/>
                </a:solidFill>
                <a:latin typeface="Consolas"/>
                <a:ea typeface="Consolas"/>
              </a:rPr>
              <a:t>ORA-00280: change 2430200 for thread 1 is in sequence #11</a:t>
            </a:r>
          </a:p>
          <a:p>
            <a:pPr>
              <a:spcAft>
                <a:spcPts val="0"/>
              </a:spcAft>
            </a:pPr>
            <a:r>
              <a:rPr sz="1250" b="0">
                <a:solidFill>
                  <a:srgbClr val="E6E6E6"/>
                </a:solidFill>
                <a:latin typeface="Consolas"/>
                <a:ea typeface="Consolas"/>
              </a:rPr>
              <a:t>Log applied.</a:t>
            </a:r>
          </a:p>
          <a:p>
            <a:pPr>
              <a:spcAft>
                <a:spcPts val="0"/>
              </a:spcAft>
            </a:pPr>
            <a:r>
              <a:rPr sz="1250" b="0">
                <a:solidFill>
                  <a:srgbClr val="E6E6E6"/>
                </a:solidFill>
                <a:latin typeface="Consolas"/>
                <a:ea typeface="Consolas"/>
              </a:rPr>
              <a:t>Log applied.</a:t>
            </a:r>
          </a:p>
          <a:p>
            <a:pPr>
              <a:spcAft>
                <a:spcPts val="0"/>
              </a:spcAft>
            </a:pPr>
            <a:r>
              <a:rPr sz="1250" b="0">
                <a:solidFill>
                  <a:srgbClr val="E6E6E6"/>
                </a:solidFill>
                <a:latin typeface="Consolas"/>
                <a:ea typeface="Consolas"/>
              </a:rPr>
              <a:t>ORA-00308: cannot open archived log '/home/oracle/arch1/arch_1_14_1200574102.arc'</a:t>
            </a:r>
          </a:p>
          <a:p>
            <a:pPr>
              <a:spcAft>
                <a:spcPts val="0"/>
              </a:spcAft>
            </a:pPr>
            <a:r>
              <a:rPr sz="1250" b="0">
                <a:solidFill>
                  <a:srgbClr val="7EC699"/>
                </a:solidFill>
                <a:latin typeface="Consolas"/>
                <a:ea typeface="Consolas"/>
              </a:rPr>
              <a:t>-- 14는 CURRENT라 아직 아카이브되지 않았다.</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SET AUTORECOVERY OFF</a:t>
            </a:r>
          </a:p>
          <a:p>
            <a:pPr>
              <a:spcAft>
                <a:spcPts val="0"/>
              </a:spcAft>
            </a:pPr>
            <a:r>
              <a:rPr sz="1250" b="0">
                <a:solidFill>
                  <a:srgbClr val="E6E6E6"/>
                </a:solidFill>
                <a:latin typeface="Consolas"/>
                <a:ea typeface="Consolas"/>
              </a:rPr>
              <a:t>SYS@orcl&gt; RECOVER DATABASE USING BACKUP CONTROLFILE;</a:t>
            </a:r>
          </a:p>
          <a:p>
            <a:pPr>
              <a:spcAft>
                <a:spcPts val="0"/>
              </a:spcAft>
            </a:pPr>
            <a:r>
              <a:rPr sz="1250" b="0">
                <a:solidFill>
                  <a:srgbClr val="E6E6E6"/>
                </a:solidFill>
                <a:latin typeface="Consolas"/>
                <a:ea typeface="Consolas"/>
              </a:rPr>
              <a:t>Specify log: {&lt;RET&gt;=suggested | filename | AUTO | CANCEL}</a:t>
            </a:r>
          </a:p>
          <a:p>
            <a:pPr>
              <a:spcAft>
                <a:spcPts val="0"/>
              </a:spcAft>
            </a:pPr>
            <a:r>
              <a:rPr sz="1250" b="0">
                <a:solidFill>
                  <a:srgbClr val="E6E6E6"/>
                </a:solidFill>
                <a:latin typeface="Consolas"/>
                <a:ea typeface="Consolas"/>
              </a:rPr>
              <a:t>/u01/app/oracle/oradata/orcl/redo03.log</a:t>
            </a:r>
          </a:p>
          <a:p>
            <a:pPr>
              <a:spcAft>
                <a:spcPts val="0"/>
              </a:spcAft>
            </a:pPr>
            <a:r>
              <a:rPr sz="1250" b="0">
                <a:solidFill>
                  <a:srgbClr val="E6E6E6"/>
                </a:solidFill>
                <a:latin typeface="Consolas"/>
                <a:ea typeface="Consolas"/>
              </a:rPr>
              <a:t>Log applied.</a:t>
            </a:r>
          </a:p>
          <a:p>
            <a:pPr>
              <a:spcAft>
                <a:spcPts val="0"/>
              </a:spcAft>
            </a:pPr>
            <a:r>
              <a:rPr sz="1250" b="0">
                <a:solidFill>
                  <a:srgbClr val="E6E6E6"/>
                </a:solidFill>
                <a:latin typeface="Consolas"/>
                <a:ea typeface="Consolas"/>
              </a:rPr>
              <a:t>Media recovery complete.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정상 종료 후 trace 재생성</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인카네이션을 유지하는 경로</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!grep -n 'CLOSE NORMAL' \</a:t>
            </a:r>
          </a:p>
          <a:p>
            <a:pPr>
              <a:spcAft>
                <a:spcPts val="0"/>
              </a:spcAft>
            </a:pPr>
            <a:r>
              <a:rPr sz="1250" b="0">
                <a:solidFill>
                  <a:srgbClr val="E6E6E6"/>
                </a:solidFill>
                <a:latin typeface="Consolas"/>
                <a:ea typeface="Consolas"/>
              </a:rPr>
              <a:t>        /u01/app/oracle/diag/rdbms/orcl/orcl/trace/alert_orcl.log | tail -1</a:t>
            </a:r>
          </a:p>
          <a:p>
            <a:pPr>
              <a:spcAft>
                <a:spcPts val="0"/>
              </a:spcAft>
            </a:pPr>
            <a:r>
              <a:rPr sz="1250" b="0">
                <a:solidFill>
                  <a:srgbClr val="E6E6E6"/>
                </a:solidFill>
                <a:latin typeface="Consolas"/>
                <a:ea typeface="Consolas"/>
              </a:rPr>
              <a:t>20114:Completed: ALTER DATABASE CLOSE NORMAL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STARTUP NOMOUNT</a:t>
            </a:r>
          </a:p>
          <a:p>
            <a:pPr>
              <a:spcAft>
                <a:spcPts val="0"/>
              </a:spcAft>
            </a:pPr>
            <a:r>
              <a:rPr sz="1250" b="0">
                <a:solidFill>
                  <a:srgbClr val="E6E6E6"/>
                </a:solidFill>
                <a:latin typeface="Consolas"/>
                <a:ea typeface="Consolas"/>
              </a:rPr>
              <a:t>SYS@orcl&gt; @/home/oracle/backup/cf_noresetlogs.sql</a:t>
            </a:r>
          </a:p>
          <a:p>
            <a:pPr>
              <a:spcAft>
                <a:spcPts val="0"/>
              </a:spcAft>
            </a:pPr>
            <a:r>
              <a:rPr sz="1250" b="0">
                <a:solidFill>
                  <a:srgbClr val="E6E6E6"/>
                </a:solidFill>
                <a:latin typeface="Consolas"/>
                <a:ea typeface="Consolas"/>
              </a:rPr>
              <a:t>Control file created.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 FROM v$recover_file;</a:t>
            </a:r>
          </a:p>
          <a:p>
            <a:pPr>
              <a:spcAft>
                <a:spcPts val="0"/>
              </a:spcAft>
            </a:pPr>
            <a:r>
              <a:rPr sz="1250" b="0">
                <a:solidFill>
                  <a:srgbClr val="E6E6E6"/>
                </a:solidFill>
                <a:latin typeface="Consolas"/>
                <a:ea typeface="Consolas"/>
              </a:rPr>
              <a:t>no rows selected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OPEN;</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SYS@orcl&gt; SELECT resetlogs_change# FROM v$database;</a:t>
            </a:r>
          </a:p>
          <a:p>
            <a:pPr>
              <a:spcAft>
                <a:spcPts val="0"/>
              </a:spcAft>
            </a:pPr>
            <a:r>
              <a:rPr sz="1250" b="0">
                <a:solidFill>
                  <a:srgbClr val="7EC699"/>
                </a:solidFill>
                <a:latin typeface="Consolas"/>
                <a:ea typeface="Consolas"/>
              </a:rPr>
              <a:t>-- 값이 그대로다. 인카네이션이 올라가지 않았다.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컨트롤파일 복구 세 경로 비교</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선택 기준은 보유 자원</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경로                    | 복구 필요 | RESETLOGS | 인카네이션 | 조건</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사본 복사               | 없음      | 불필요     | 유지       | 사본 하나 이상 생존</a:t>
            </a:r>
          </a:p>
          <a:p>
            <a:pPr>
              <a:spcAft>
                <a:spcPts val="0"/>
              </a:spcAft>
            </a:pPr>
            <a:r>
              <a:rPr sz="1250" b="0">
                <a:solidFill>
                  <a:srgbClr val="E6E6E6"/>
                </a:solidFill>
                <a:latin typeface="Consolas"/>
                <a:ea typeface="Consolas"/>
              </a:rPr>
              <a:t>trace NORESETLOGS 재생성| 없음      | 불필요     | 유지       | 정상 종료 + 리두 온전</a:t>
            </a:r>
          </a:p>
          <a:p>
            <a:pPr>
              <a:spcAft>
                <a:spcPts val="0"/>
              </a:spcAft>
            </a:pPr>
            <a:r>
              <a:rPr sz="1250" b="0">
                <a:solidFill>
                  <a:srgbClr val="E6E6E6"/>
                </a:solidFill>
                <a:latin typeface="Consolas"/>
                <a:ea typeface="Consolas"/>
              </a:rPr>
              <a:t>trace RESETLOGS 재생성  | 필요      | 강제       | 증가       | 비정상 종료 또는 리두 손실</a:t>
            </a:r>
          </a:p>
          <a:p>
            <a:pPr>
              <a:spcAft>
                <a:spcPts val="0"/>
              </a:spcAft>
            </a:pPr>
            <a:r>
              <a:rPr sz="1250" b="0">
                <a:solidFill>
                  <a:srgbClr val="E6E6E6"/>
                </a:solidFill>
                <a:latin typeface="Consolas"/>
                <a:ea typeface="Consolas"/>
              </a:rPr>
              <a:t>Binary 백업본 복원      | 필요      | 강제       | 증가       | Binary 백업 보유</a:t>
            </a:r>
          </a:p>
          <a:p>
            <a:pPr>
              <a:spcAft>
                <a:spcPts val="0"/>
              </a:spcAft>
            </a:pPr>
            <a:r>
              <a:rPr sz="1250" b="0">
                <a:solidFill>
                  <a:srgbClr val="E6E6E6"/>
                </a:solidFill>
                <a:latin typeface="Consolas"/>
                <a:ea typeface="Consolas"/>
              </a:rPr>
              <a:t>trace 편집 후 재생성    | 필요      | 상황별     | 상황별     | 구조 변경 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비정상 종료 후 컨트롤파일 손상</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적용할 리두가 남아 있어 OPEN이 ORA-01113으로 거부</a:t>
            </a:r>
          </a:p>
          <a:p>
            <a:pPr>
              <a:spcAft>
                <a:spcPts val="600"/>
              </a:spcAft>
            </a:pPr>
            <a:r>
              <a:rPr sz="1800" b="0">
                <a:solidFill>
                  <a:srgbClr val="202830"/>
                </a:solidFill>
                <a:latin typeface="Malgun Gothic"/>
                <a:ea typeface="Malgun Gothic"/>
              </a:rPr>
              <a:t>•  RECOVER DATABASE USING BACKUP CONTROLFILE 로 적용</a:t>
            </a:r>
          </a:p>
          <a:p>
            <a:pPr>
              <a:spcAft>
                <a:spcPts val="600"/>
              </a:spcAft>
            </a:pPr>
            <a:r>
              <a:rPr sz="1600" b="0">
                <a:solidFill>
                  <a:srgbClr val="5A6672"/>
                </a:solidFill>
                <a:latin typeface="Malgun Gothic"/>
                <a:ea typeface="Malgun Gothic"/>
              </a:rPr>
              <a:t>    –  아카이브는 자동 적용, 마지막 구간만 온라인 리두 지정</a:t>
            </a:r>
          </a:p>
          <a:p>
            <a:pPr>
              <a:spcAft>
                <a:spcPts val="600"/>
              </a:spcAft>
            </a:pPr>
            <a:r>
              <a:rPr sz="1800" b="0">
                <a:solidFill>
                  <a:srgbClr val="202830"/>
                </a:solidFill>
                <a:latin typeface="Malgun Gothic"/>
                <a:ea typeface="Malgun Gothic"/>
              </a:rPr>
              <a:t>•  적용 후 OPEN RESETLOGS — 손실은 없지만 인카네이션 증가</a:t>
            </a:r>
          </a:p>
          <a:p>
            <a:pPr>
              <a:spcAft>
                <a:spcPts val="600"/>
              </a:spcAft>
            </a:pPr>
            <a:r>
              <a:rPr sz="1800" b="0">
                <a:solidFill>
                  <a:srgbClr val="202830"/>
                </a:solidFill>
                <a:latin typeface="Malgun Gothic"/>
                <a:ea typeface="Malgun Gothic"/>
              </a:rPr>
              <a:t>•  리두가 함께 없어졌다면 RESETLOGS 형식으로 재생성</a:t>
            </a:r>
          </a:p>
          <a:p>
            <a:pPr>
              <a:spcAft>
                <a:spcPts val="600"/>
              </a:spcAft>
            </a:pPr>
            <a:r>
              <a:rPr sz="1600" b="0">
                <a:solidFill>
                  <a:srgbClr val="5A6672"/>
                </a:solidFill>
                <a:latin typeface="Malgun Gothic"/>
                <a:ea typeface="Malgun Gothic"/>
              </a:rPr>
              <a:t>    –  NORESETLOGS 형식은 리두 파일이 실제로 있어야 성립</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11.4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백업 CF와 현재 구조의 불일치</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추가된 파일이 UNNAMED로 등록된다</a:t>
            </a:r>
          </a:p>
          <a:p>
            <a:pPr>
              <a:spcAft>
                <a:spcPts val="600"/>
              </a:spcAft>
            </a:pPr>
            <a:r>
              <a:rPr sz="1600" b="0">
                <a:solidFill>
                  <a:srgbClr val="C5CED6"/>
                </a:solidFill>
                <a:latin typeface="Malgun Gothic"/>
                <a:ea typeface="Malgun Gothic"/>
              </a:rPr>
              <a:t>•  삭제된 파일은 OFFLINE DROP으로 정리한다</a:t>
            </a:r>
          </a:p>
          <a:p>
            <a:pPr>
              <a:spcAft>
                <a:spcPts val="600"/>
              </a:spcAft>
            </a:pPr>
            <a:r>
              <a:rPr sz="1600" b="0">
                <a:solidFill>
                  <a:srgbClr val="C5CED6"/>
                </a:solidFill>
                <a:latin typeface="Malgun Gothic"/>
                <a:ea typeface="Malgun Gothic"/>
              </a:rPr>
              <a:t>•  예방은 구조 변경 직후 백업뿐이다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UNNAMED 파일 보정</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RENAME 또는 CREATE DATAFILE</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file#, name FROM v$datafile WHERE name LIKE '%UNNAMED%';</a:t>
            </a:r>
          </a:p>
          <a:p>
            <a:pPr>
              <a:spcAft>
                <a:spcPts val="0"/>
              </a:spcAft>
            </a:pPr>
            <a:r>
              <a:rPr sz="1250" b="0">
                <a:solidFill>
                  <a:srgbClr val="E6E6E6"/>
                </a:solidFill>
                <a:latin typeface="Consolas"/>
                <a:ea typeface="Consolas"/>
              </a:rPr>
              <a:t>        13 /u01/app/oracle/product/19.3.0/dbhome_1/dbs/UNNAMED00013</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실제 파일이 있는 경우</a:t>
            </a:r>
          </a:p>
          <a:p>
            <a:pPr>
              <a:spcAft>
                <a:spcPts val="0"/>
              </a:spcAft>
            </a:pPr>
            <a:r>
              <a:rPr sz="1250" b="0">
                <a:solidFill>
                  <a:srgbClr val="E6E6E6"/>
                </a:solidFill>
                <a:latin typeface="Consolas"/>
                <a:ea typeface="Consolas"/>
              </a:rPr>
              <a:t>SYS@orcl&gt; ALTER DATABASE RENAME FILE</a:t>
            </a:r>
          </a:p>
          <a:p>
            <a:pPr>
              <a:spcAft>
                <a:spcPts val="0"/>
              </a:spcAft>
            </a:pPr>
            <a:r>
              <a:rPr sz="1250" b="0">
                <a:solidFill>
                  <a:srgbClr val="E6E6E6"/>
                </a:solidFill>
                <a:latin typeface="Consolas"/>
                <a:ea typeface="Consolas"/>
              </a:rPr>
              <a:t>  2    '/u01/app/oracle/product/19.3.0/dbhome_1/dbs/UNNAMED00013'</a:t>
            </a:r>
          </a:p>
          <a:p>
            <a:pPr>
              <a:spcAft>
                <a:spcPts val="0"/>
              </a:spcAft>
            </a:pPr>
            <a:r>
              <a:rPr sz="1250" b="0">
                <a:solidFill>
                  <a:srgbClr val="E6E6E6"/>
                </a:solidFill>
                <a:latin typeface="Consolas"/>
                <a:ea typeface="Consolas"/>
              </a:rPr>
              <a:t>  3  TO '/u01/app/oracle/oradata/orcl/tbs11.dbf';</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실제 파일이 없는 경우</a:t>
            </a:r>
          </a:p>
          <a:p>
            <a:pPr>
              <a:spcAft>
                <a:spcPts val="0"/>
              </a:spcAft>
            </a:pPr>
            <a:r>
              <a:rPr sz="1250" b="0">
                <a:solidFill>
                  <a:srgbClr val="E6E6E6"/>
                </a:solidFill>
                <a:latin typeface="Consolas"/>
                <a:ea typeface="Consolas"/>
              </a:rPr>
              <a:t>SYS@orcl&gt; ALTER DATABASE CREATE DATAFILE 13</a:t>
            </a:r>
          </a:p>
          <a:p>
            <a:pPr>
              <a:spcAft>
                <a:spcPts val="0"/>
              </a:spcAft>
            </a:pPr>
            <a:r>
              <a:rPr sz="1250" b="0">
                <a:solidFill>
                  <a:srgbClr val="E6E6E6"/>
                </a:solidFill>
                <a:latin typeface="Consolas"/>
                <a:ea typeface="Consolas"/>
              </a:rPr>
              <a:t>  2  AS '/u01/app/oracle/oradata/orcl/tbs11.dbf';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RECOVER DATABASE USING BACKUP CONTROLFILE;</a:t>
            </a:r>
          </a:p>
          <a:p>
            <a:pPr>
              <a:spcAft>
                <a:spcPts val="0"/>
              </a:spcAft>
            </a:pPr>
            <a:r>
              <a:rPr sz="1250" b="0">
                <a:solidFill>
                  <a:srgbClr val="E6E6E6"/>
                </a:solidFill>
                <a:latin typeface="Consolas"/>
                <a:ea typeface="Consolas"/>
              </a:rPr>
              <a:t>SYS@orcl&gt; ALTER DATABASE OPEN RESETLOGS;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삭제된 테이블스페이스의 처리</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백업 이후 TS를 지웠다면 백업본에는 그 파일이 남아 있다</a:t>
            </a:r>
          </a:p>
          <a:p>
            <a:pPr>
              <a:spcAft>
                <a:spcPts val="600"/>
              </a:spcAft>
            </a:pPr>
            <a:r>
              <a:rPr sz="1800" b="0">
                <a:solidFill>
                  <a:srgbClr val="202830"/>
                </a:solidFill>
                <a:latin typeface="Malgun Gothic"/>
                <a:ea typeface="Malgun Gothic"/>
              </a:rPr>
              <a:t>•  복원 시 컨트롤파일이 그 파일을 요구 — ORA-01157</a:t>
            </a:r>
          </a:p>
          <a:p>
            <a:pPr>
              <a:spcAft>
                <a:spcPts val="600"/>
              </a:spcAft>
            </a:pPr>
            <a:r>
              <a:rPr sz="1800" b="0">
                <a:solidFill>
                  <a:srgbClr val="202830"/>
                </a:solidFill>
                <a:latin typeface="Malgun Gothic"/>
                <a:ea typeface="Malgun Gothic"/>
              </a:rPr>
              <a:t>•  복구 중 ALTER DATABASE DATAFILE n OFFLINE DROP 으로 떼어 냄</a:t>
            </a:r>
          </a:p>
          <a:p>
            <a:pPr>
              <a:spcAft>
                <a:spcPts val="600"/>
              </a:spcAft>
            </a:pPr>
            <a:r>
              <a:rPr sz="1600" b="0">
                <a:solidFill>
                  <a:srgbClr val="5A6672"/>
                </a:solidFill>
                <a:latin typeface="Malgun Gothic"/>
                <a:ea typeface="Malgun Gothic"/>
              </a:rPr>
              <a:t>    –  그 파일을 무시하고 나머지를 복구할 수 있다</a:t>
            </a:r>
          </a:p>
          <a:p>
            <a:pPr>
              <a:spcAft>
                <a:spcPts val="600"/>
              </a:spcAft>
            </a:pPr>
            <a:r>
              <a:rPr sz="1800" b="0">
                <a:solidFill>
                  <a:srgbClr val="202830"/>
                </a:solidFill>
                <a:latin typeface="Malgun Gothic"/>
                <a:ea typeface="Malgun Gothic"/>
              </a:rPr>
              <a:t>•  OPEN 후 DROP TABLESPACE ... INCLUDING CONTENTS 로 정리</a:t>
            </a:r>
          </a:p>
          <a:p>
            <a:pPr>
              <a:spcAft>
                <a:spcPts val="600"/>
              </a:spcAft>
            </a:pPr>
            <a:r>
              <a:rPr sz="1800" b="0">
                <a:solidFill>
                  <a:srgbClr val="202830"/>
                </a:solidFill>
                <a:latin typeface="Malgun Gothic"/>
                <a:ea typeface="Malgun Gothic"/>
              </a:rPr>
              <a:t>•  구조 변경 직후 CF 백업을 받았다면 발생하지 않는 문제</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매니페스트 생성</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복원 대조와 CF 재작성의 근거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SET LINESIZE 200 PAGESIZE 200</a:t>
            </a:r>
          </a:p>
          <a:p>
            <a:pPr>
              <a:spcAft>
                <a:spcPts val="0"/>
              </a:spcAft>
            </a:pPr>
            <a:r>
              <a:rPr sz="1250" b="0">
                <a:solidFill>
                  <a:srgbClr val="E6E6E6"/>
                </a:solidFill>
                <a:latin typeface="Consolas"/>
                <a:ea typeface="Consolas"/>
              </a:rPr>
              <a:t>SYS@orcl&gt; SPOOL /home/oracle/backup/manifest_20250513.txt</a:t>
            </a:r>
          </a:p>
          <a:p>
            <a:pPr>
              <a:spcAft>
                <a:spcPts val="0"/>
              </a:spcAft>
            </a:pPr>
            <a:r>
              <a:rPr sz="1250" b="0">
                <a:solidFill>
                  <a:srgbClr val="E6E6E6"/>
                </a:solidFill>
                <a:latin typeface="Consolas"/>
                <a:ea typeface="Consolas"/>
              </a:rPr>
              <a:t>SYS@orcl&gt; SELECT dbid, name, checkpoint_change#, resetlogs_change# FROM v$database;</a:t>
            </a:r>
          </a:p>
          <a:p>
            <a:pPr>
              <a:spcAft>
                <a:spcPts val="0"/>
              </a:spcAft>
            </a:pPr>
            <a:r>
              <a:rPr sz="1250" b="0">
                <a:solidFill>
                  <a:srgbClr val="E6E6E6"/>
                </a:solidFill>
                <a:latin typeface="Consolas"/>
                <a:ea typeface="Consolas"/>
              </a:rPr>
              <a:t>SYS@orcl&gt; SELECT file#, name, bytes/1024/1024 AS mb, status FROM v$datafile;</a:t>
            </a:r>
          </a:p>
          <a:p>
            <a:pPr>
              <a:spcAft>
                <a:spcPts val="0"/>
              </a:spcAft>
            </a:pPr>
            <a:r>
              <a:rPr sz="1250" b="0">
                <a:solidFill>
                  <a:srgbClr val="E6E6E6"/>
                </a:solidFill>
                <a:latin typeface="Consolas"/>
                <a:ea typeface="Consolas"/>
              </a:rPr>
              <a:t>SYS@orcl&gt; SELECT file#, name FROM v$tempfile;</a:t>
            </a:r>
          </a:p>
          <a:p>
            <a:pPr>
              <a:spcAft>
                <a:spcPts val="0"/>
              </a:spcAft>
            </a:pPr>
            <a:r>
              <a:rPr sz="1250" b="0">
                <a:solidFill>
                  <a:srgbClr val="E6E6E6"/>
                </a:solidFill>
                <a:latin typeface="Consolas"/>
                <a:ea typeface="Consolas"/>
              </a:rPr>
              <a:t>SYS@orcl&gt; SELECT group#, member FROM v$logfile ORDER BY group#;</a:t>
            </a:r>
          </a:p>
          <a:p>
            <a:pPr>
              <a:spcAft>
                <a:spcPts val="0"/>
              </a:spcAft>
            </a:pPr>
            <a:r>
              <a:rPr sz="1250" b="0">
                <a:solidFill>
                  <a:srgbClr val="E6E6E6"/>
                </a:solidFill>
                <a:latin typeface="Consolas"/>
                <a:ea typeface="Consolas"/>
              </a:rPr>
              <a:t>SYS@orcl&gt; SELECT name FROM v$controlfile;</a:t>
            </a:r>
          </a:p>
          <a:p>
            <a:pPr>
              <a:spcAft>
                <a:spcPts val="0"/>
              </a:spcAft>
            </a:pPr>
            <a:r>
              <a:rPr sz="1250" b="0">
                <a:solidFill>
                  <a:srgbClr val="E6E6E6"/>
                </a:solidFill>
                <a:latin typeface="Consolas"/>
                <a:ea typeface="Consolas"/>
              </a:rPr>
              <a:t>SYS@orcl&gt; SELECT incarnation#, resetlogs_change#, status</a:t>
            </a:r>
          </a:p>
          <a:p>
            <a:pPr>
              <a:spcAft>
                <a:spcPts val="0"/>
              </a:spcAft>
            </a:pPr>
            <a:r>
              <a:rPr sz="1250" b="0">
                <a:solidFill>
                  <a:srgbClr val="E6E6E6"/>
                </a:solidFill>
                <a:latin typeface="Consolas"/>
                <a:ea typeface="Consolas"/>
              </a:rPr>
              <a:t>  2  FROM   v$database_incarnation;</a:t>
            </a:r>
          </a:p>
          <a:p>
            <a:pPr>
              <a:spcAft>
                <a:spcPts val="0"/>
              </a:spcAft>
            </a:pPr>
            <a:r>
              <a:rPr sz="1250" b="0">
                <a:solidFill>
                  <a:srgbClr val="E6E6E6"/>
                </a:solidFill>
                <a:latin typeface="Consolas"/>
                <a:ea typeface="Consolas"/>
              </a:rPr>
              <a:t>SYS@orcl&gt; SPOOL OFF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11.5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컨트롤파일과 다른 파일의 복합 손상</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컨트롤파일 → 리두 → 데이터파일 순서</a:t>
            </a:r>
          </a:p>
          <a:p>
            <a:pPr>
              <a:spcAft>
                <a:spcPts val="600"/>
              </a:spcAft>
            </a:pPr>
            <a:r>
              <a:rPr sz="1600" b="0">
                <a:solidFill>
                  <a:srgbClr val="C5CED6"/>
                </a:solidFill>
                <a:latin typeface="Malgun Gothic"/>
                <a:ea typeface="Malgun Gothic"/>
              </a:rPr>
              <a:t>•  새로 만든 CF도 백업 CF로 취급된다</a:t>
            </a:r>
          </a:p>
          <a:p>
            <a:pPr>
              <a:spcAft>
                <a:spcPts val="600"/>
              </a:spcAft>
            </a:pPr>
            <a:r>
              <a:rPr sz="1600" b="0">
                <a:solidFill>
                  <a:srgbClr val="C5CED6"/>
                </a:solidFill>
                <a:latin typeface="Malgun Gothic"/>
                <a:ea typeface="Malgun Gothic"/>
              </a:rPr>
              <a:t>•  복구 시간의 대부분은 복원과 적용이 차지한다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복합 장애 처리 순서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ARCHIVELOG 환경</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0. 현재 파일 전체를 별도 위치로 복사</a:t>
            </a:r>
          </a:p>
          <a:p>
            <a:pPr>
              <a:spcAft>
                <a:spcPts val="0"/>
              </a:spcAft>
            </a:pPr>
            <a:r>
              <a:rPr sz="1250" b="0">
                <a:solidFill>
                  <a:srgbClr val="E6E6E6"/>
                </a:solidFill>
                <a:latin typeface="Consolas"/>
                <a:ea typeface="Consolas"/>
              </a:rPr>
              <a:t>1. 컨트롤파일</a:t>
            </a:r>
          </a:p>
          <a:p>
            <a:pPr>
              <a:spcAft>
                <a:spcPts val="0"/>
              </a:spcAft>
            </a:pPr>
            <a:r>
              <a:rPr sz="1250" b="0">
                <a:solidFill>
                  <a:srgbClr val="E6E6E6"/>
                </a:solidFill>
                <a:latin typeface="Consolas"/>
                <a:ea typeface="Consolas"/>
              </a:rPr>
              <a:t>   사본 → 복사 | Binary → 복원 | trace → 재생성(리두 유무로 형식 선택)</a:t>
            </a:r>
          </a:p>
          <a:p>
            <a:pPr>
              <a:spcAft>
                <a:spcPts val="0"/>
              </a:spcAft>
            </a:pPr>
            <a:r>
              <a:rPr sz="1250" b="0">
                <a:solidFill>
                  <a:srgbClr val="E6E6E6"/>
                </a:solidFill>
                <a:latin typeface="Consolas"/>
                <a:ea typeface="Consolas"/>
              </a:rPr>
              <a:t>2. 리두 로그</a:t>
            </a:r>
          </a:p>
          <a:p>
            <a:pPr>
              <a:spcAft>
                <a:spcPts val="0"/>
              </a:spcAft>
            </a:pPr>
            <a:r>
              <a:rPr sz="1250" b="0">
                <a:solidFill>
                  <a:srgbClr val="E6E6E6"/>
                </a:solidFill>
                <a:latin typeface="Consolas"/>
                <a:ea typeface="Consolas"/>
              </a:rPr>
              <a:t>   멤버 생존 → 복사 | INACTIVE 전손 → 아카이브로 대체 | CURRENT 전손 → 손실 확정</a:t>
            </a:r>
          </a:p>
          <a:p>
            <a:pPr>
              <a:spcAft>
                <a:spcPts val="0"/>
              </a:spcAft>
            </a:pPr>
            <a:r>
              <a:rPr sz="1250" b="0">
                <a:solidFill>
                  <a:srgbClr val="E6E6E6"/>
                </a:solidFill>
                <a:latin typeface="Consolas"/>
                <a:ea typeface="Consolas"/>
              </a:rPr>
              <a:t>3. 데이터파일</a:t>
            </a:r>
          </a:p>
          <a:p>
            <a:pPr>
              <a:spcAft>
                <a:spcPts val="0"/>
              </a:spcAft>
            </a:pPr>
            <a:r>
              <a:rPr sz="1250" b="0">
                <a:solidFill>
                  <a:srgbClr val="E6E6E6"/>
                </a:solidFill>
                <a:latin typeface="Consolas"/>
                <a:ea typeface="Consolas"/>
              </a:rPr>
              <a:t>   복원 → RECOVER DATABASE USING BACKUP CONTROLFILE</a:t>
            </a:r>
          </a:p>
          <a:p>
            <a:pPr>
              <a:spcAft>
                <a:spcPts val="0"/>
              </a:spcAft>
            </a:pPr>
            <a:r>
              <a:rPr sz="1250" b="0">
                <a:solidFill>
                  <a:srgbClr val="E6E6E6"/>
                </a:solidFill>
                <a:latin typeface="Consolas"/>
                <a:ea typeface="Consolas"/>
              </a:rPr>
              <a:t>4. 오픈</a:t>
            </a:r>
          </a:p>
          <a:p>
            <a:pPr>
              <a:spcAft>
                <a:spcPts val="0"/>
              </a:spcAft>
            </a:pPr>
            <a:r>
              <a:rPr sz="1250" b="0">
                <a:solidFill>
                  <a:srgbClr val="E6E6E6"/>
                </a:solidFill>
                <a:latin typeface="Consolas"/>
                <a:ea typeface="Consolas"/>
              </a:rPr>
              <a:t>   OPEN RESETLOGS (백업 CF를 썼으므로 강제)</a:t>
            </a:r>
          </a:p>
          <a:p>
            <a:pPr>
              <a:spcAft>
                <a:spcPts val="0"/>
              </a:spcAft>
            </a:pPr>
            <a:r>
              <a:rPr sz="1250" b="0">
                <a:solidFill>
                  <a:srgbClr val="E6E6E6"/>
                </a:solidFill>
                <a:latin typeface="Consolas"/>
                <a:ea typeface="Consolas"/>
              </a:rPr>
              <a:t>5. 마무리</a:t>
            </a:r>
          </a:p>
          <a:p>
            <a:pPr>
              <a:spcAft>
                <a:spcPts val="0"/>
              </a:spcAft>
            </a:pPr>
            <a:r>
              <a:rPr sz="1250" b="0">
                <a:solidFill>
                  <a:srgbClr val="E6E6E6"/>
                </a:solidFill>
                <a:latin typeface="Consolas"/>
                <a:ea typeface="Consolas"/>
              </a:rPr>
              <a:t>   UNNAMED 확인 · TEMP 추가 · 다중화 재구성 · 전체 백업 · 손실 통보</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시간 배분과 우선순위</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컨트롤파일 재생성 — 수 초, 리두 처리 — 수 분</a:t>
            </a:r>
          </a:p>
          <a:p>
            <a:pPr>
              <a:spcAft>
                <a:spcPts val="600"/>
              </a:spcAft>
            </a:pPr>
            <a:r>
              <a:rPr sz="1800" b="0">
                <a:solidFill>
                  <a:srgbClr val="202830"/>
                </a:solidFill>
                <a:latin typeface="Malgun Gothic"/>
                <a:ea typeface="Malgun Gothic"/>
              </a:rPr>
              <a:t>•  대부분의 시간은 데이터파일 복원과 아카이브 적용</a:t>
            </a:r>
          </a:p>
          <a:p>
            <a:pPr>
              <a:spcAft>
                <a:spcPts val="600"/>
              </a:spcAft>
            </a:pPr>
            <a:r>
              <a:rPr sz="1600" b="0">
                <a:solidFill>
                  <a:srgbClr val="5A6672"/>
                </a:solidFill>
                <a:latin typeface="Malgun Gothic"/>
                <a:ea typeface="Malgun Gothic"/>
              </a:rPr>
              <a:t>    –  복원 대상 최소화 · 적용할 아카이브 감소가 개선 방향</a:t>
            </a:r>
          </a:p>
          <a:p>
            <a:pPr>
              <a:spcAft>
                <a:spcPts val="600"/>
              </a:spcAft>
            </a:pPr>
            <a:r>
              <a:rPr sz="1600" b="0">
                <a:solidFill>
                  <a:srgbClr val="5A6672"/>
                </a:solidFill>
                <a:latin typeface="Malgun Gothic"/>
                <a:ea typeface="Malgun Gothic"/>
              </a:rPr>
              <a:t>    –  백업 주기를 짧게 가져가면 두 가지가 함께 개선</a:t>
            </a:r>
          </a:p>
          <a:p>
            <a:pPr>
              <a:spcAft>
                <a:spcPts val="600"/>
              </a:spcAft>
            </a:pPr>
            <a:r>
              <a:rPr sz="1800" b="0">
                <a:solidFill>
                  <a:srgbClr val="202830"/>
                </a:solidFill>
                <a:latin typeface="Malgun Gothic"/>
                <a:ea typeface="Malgun Gothic"/>
              </a:rPr>
              <a:t>•  부분 오픈 전략 — CF와 SYSTEM·UNDO 먼저, 나머지는 순차</a:t>
            </a:r>
          </a:p>
          <a:p>
            <a:pPr>
              <a:spcAft>
                <a:spcPts val="600"/>
              </a:spcAft>
            </a:pPr>
            <a:r>
              <a:rPr sz="1800" b="0">
                <a:solidFill>
                  <a:srgbClr val="202830"/>
                </a:solidFill>
                <a:latin typeface="Malgun Gothic"/>
                <a:ea typeface="Malgun Gothic"/>
              </a:rPr>
              <a:t>•  현업 안내는 단계별로 — 확보 · 복원 · 적용률 · 오픈</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시간 기록 예시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어디에 시간이 쓰이는가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단계                        시작        종료        소요</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0. 현재 파일 사본 확보      09:41:00    09:44:10    3분 10초</a:t>
            </a:r>
          </a:p>
          <a:p>
            <a:pPr>
              <a:spcAft>
                <a:spcPts val="0"/>
              </a:spcAft>
            </a:pPr>
            <a:r>
              <a:rPr sz="1250" b="0">
                <a:solidFill>
                  <a:srgbClr val="E6E6E6"/>
                </a:solidFill>
                <a:latin typeface="Consolas"/>
                <a:ea typeface="Consolas"/>
              </a:rPr>
              <a:t>1. 컨트롤파일 재생성        09:44:10    09:45:02    52초</a:t>
            </a:r>
          </a:p>
          <a:p>
            <a:pPr>
              <a:spcAft>
                <a:spcPts val="0"/>
              </a:spcAft>
            </a:pPr>
            <a:r>
              <a:rPr sz="1250" b="0">
                <a:solidFill>
                  <a:srgbClr val="E6E6E6"/>
                </a:solidFill>
                <a:latin typeface="Consolas"/>
                <a:ea typeface="Consolas"/>
              </a:rPr>
              <a:t>2. 리두 그룹 CLEAR          09:45:02    09:46:20    1분 18초</a:t>
            </a:r>
          </a:p>
          <a:p>
            <a:pPr>
              <a:spcAft>
                <a:spcPts val="0"/>
              </a:spcAft>
            </a:pPr>
            <a:r>
              <a:rPr sz="1250" b="0">
                <a:solidFill>
                  <a:srgbClr val="E6E6E6"/>
                </a:solidFill>
                <a:latin typeface="Consolas"/>
                <a:ea typeface="Consolas"/>
              </a:rPr>
              <a:t>3. 데이터파일 복원          09:46:20    10:02:44    16분 24초</a:t>
            </a:r>
          </a:p>
          <a:p>
            <a:pPr>
              <a:spcAft>
                <a:spcPts val="0"/>
              </a:spcAft>
            </a:pPr>
            <a:r>
              <a:rPr sz="1250" b="0">
                <a:solidFill>
                  <a:srgbClr val="E6E6E6"/>
                </a:solidFill>
                <a:latin typeface="Consolas"/>
                <a:ea typeface="Consolas"/>
              </a:rPr>
              <a:t>4. 아카이브 적용            10:02:44    10:21:08    18분 24초</a:t>
            </a:r>
          </a:p>
          <a:p>
            <a:pPr>
              <a:spcAft>
                <a:spcPts val="0"/>
              </a:spcAft>
            </a:pPr>
            <a:r>
              <a:rPr sz="1250" b="0">
                <a:solidFill>
                  <a:srgbClr val="E6E6E6"/>
                </a:solidFill>
                <a:latin typeface="Consolas"/>
                <a:ea typeface="Consolas"/>
              </a:rPr>
              <a:t>5. OPEN RESETLOGS           10:21:08    10:22:30    1분 22초</a:t>
            </a:r>
          </a:p>
          <a:p>
            <a:pPr>
              <a:spcAft>
                <a:spcPts val="0"/>
              </a:spcAft>
            </a:pPr>
            <a:r>
              <a:rPr sz="1250" b="0">
                <a:solidFill>
                  <a:srgbClr val="E6E6E6"/>
                </a:solidFill>
                <a:latin typeface="Consolas"/>
                <a:ea typeface="Consolas"/>
              </a:rPr>
              <a:t>6. 마무리(TEMP·백업)        10:22:30    10:48:00    25분 30초</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전체 1시간 7분 중 복원과 적용이 35분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CDB 환경에서 달라지는 점</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컨트롤파일과 리두 로그는 컨테이너 단위 — PDB별로 갖지 않음</a:t>
            </a:r>
          </a:p>
          <a:p>
            <a:pPr>
              <a:spcAft>
                <a:spcPts val="600"/>
              </a:spcAft>
            </a:pPr>
            <a:r>
              <a:rPr sz="1600" b="0">
                <a:solidFill>
                  <a:srgbClr val="5A6672"/>
                </a:solidFill>
                <a:latin typeface="Malgun Gothic"/>
                <a:ea typeface="Malgun Gothic"/>
              </a:rPr>
              <a:t>    –  CURRENT 손상은 모든 PDB에 영향</a:t>
            </a:r>
          </a:p>
          <a:p>
            <a:pPr>
              <a:spcAft>
                <a:spcPts val="600"/>
              </a:spcAft>
            </a:pPr>
            <a:r>
              <a:rPr sz="1800" b="0">
                <a:solidFill>
                  <a:srgbClr val="202830"/>
                </a:solidFill>
                <a:latin typeface="Malgun Gothic"/>
                <a:ea typeface="Malgun Gothic"/>
              </a:rPr>
              <a:t>•  복구 명령은 루트에서 수행</a:t>
            </a:r>
          </a:p>
          <a:p>
            <a:pPr>
              <a:spcAft>
                <a:spcPts val="600"/>
              </a:spcAft>
            </a:pPr>
            <a:r>
              <a:rPr sz="1600" b="0">
                <a:solidFill>
                  <a:srgbClr val="5A6672"/>
                </a:solidFill>
                <a:latin typeface="Malgun Gothic"/>
                <a:ea typeface="Malgun Gothic"/>
              </a:rPr>
              <a:t>    –  PDB에서 BACKUP CONTROLFILE 은 ORA-65040으로 거부</a:t>
            </a:r>
          </a:p>
          <a:p>
            <a:pPr>
              <a:spcAft>
                <a:spcPts val="600"/>
              </a:spcAft>
            </a:pPr>
            <a:r>
              <a:rPr sz="1800" b="0">
                <a:solidFill>
                  <a:srgbClr val="202830"/>
                </a:solidFill>
                <a:latin typeface="Malgun Gothic"/>
                <a:ea typeface="Malgun Gothic"/>
              </a:rPr>
              <a:t>•  RESETLOGS 후 v$pdbs 로 상태 확인</a:t>
            </a:r>
          </a:p>
          <a:p>
            <a:pPr>
              <a:spcAft>
                <a:spcPts val="600"/>
              </a:spcAft>
            </a:pPr>
            <a:r>
              <a:rPr sz="1600" b="0">
                <a:solidFill>
                  <a:srgbClr val="5A6672"/>
                </a:solidFill>
                <a:latin typeface="Malgun Gothic"/>
                <a:ea typeface="Malgun Gothic"/>
              </a:rPr>
              <a:t>    –  MOUNTED로 남으면 ALTER PLUGGABLE DATABASE ALL OPEN</a:t>
            </a:r>
          </a:p>
          <a:p>
            <a:pPr>
              <a:spcAft>
                <a:spcPts val="600"/>
              </a:spcAft>
            </a:pPr>
            <a:r>
              <a:rPr sz="1800" b="0">
                <a:solidFill>
                  <a:srgbClr val="202830"/>
                </a:solidFill>
                <a:latin typeface="Malgun Gothic"/>
                <a:ea typeface="Malgun Gothic"/>
              </a:rPr>
              <a:t>•  PDB 단위 시점 복구는 RMAN의 PDB PITR로 별도 수행</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후 확인 세트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컨트롤파일 재생성 시 추가 항목</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COUNT(*) AS unnamed_cnt FROM v$datafile</a:t>
            </a:r>
          </a:p>
          <a:p>
            <a:pPr>
              <a:spcAft>
                <a:spcPts val="0"/>
              </a:spcAft>
            </a:pPr>
            <a:r>
              <a:rPr sz="1250" b="0">
                <a:solidFill>
                  <a:srgbClr val="E6E6E6"/>
                </a:solidFill>
                <a:latin typeface="Consolas"/>
                <a:ea typeface="Consolas"/>
              </a:rPr>
              <a:t>  2  WHERE  name LIKE '%UNNAMED%';</a:t>
            </a:r>
          </a:p>
          <a:p>
            <a:pPr>
              <a:spcAft>
                <a:spcPts val="0"/>
              </a:spcAft>
            </a:pPr>
            <a:r>
              <a:rPr sz="1250" b="0">
                <a:solidFill>
                  <a:srgbClr val="E6E6E6"/>
                </a:solidFill>
                <a:latin typeface="Consolas"/>
                <a:ea typeface="Consolas"/>
              </a:rPr>
              <a:t>         0</a:t>
            </a:r>
          </a:p>
          <a:p>
            <a:pPr>
              <a:spcAft>
                <a:spcPts val="0"/>
              </a:spcAft>
            </a:pPr>
            <a:r>
              <a:rPr sz="1250" b="0">
                <a:solidFill>
                  <a:srgbClr val="E6E6E6"/>
                </a:solidFill>
                <a:latin typeface="Consolas"/>
                <a:ea typeface="Consolas"/>
              </a:rPr>
              <a:t>SYS@orcl&gt; SELECT COUNT(*) AS tempfiles FROM v$tempfile;</a:t>
            </a:r>
          </a:p>
          <a:p>
            <a:pPr>
              <a:spcAft>
                <a:spcPts val="0"/>
              </a:spcAft>
            </a:pPr>
            <a:r>
              <a:rPr sz="1250" b="0">
                <a:solidFill>
                  <a:srgbClr val="E6E6E6"/>
                </a:solidFill>
                <a:latin typeface="Consolas"/>
                <a:ea typeface="Consolas"/>
              </a:rPr>
              <a:t>         1</a:t>
            </a:r>
          </a:p>
          <a:p>
            <a:pPr>
              <a:spcAft>
                <a:spcPts val="0"/>
              </a:spcAft>
            </a:pPr>
            <a:r>
              <a:rPr sz="1250" b="0">
                <a:solidFill>
                  <a:srgbClr val="E6E6E6"/>
                </a:solidFill>
                <a:latin typeface="Consolas"/>
                <a:ea typeface="Consolas"/>
              </a:rPr>
              <a:t>SYS@orcl&gt; SELECT COUNT(*) AS cf_cnt FROM v$controlfile;</a:t>
            </a:r>
          </a:p>
          <a:p>
            <a:pPr>
              <a:spcAft>
                <a:spcPts val="0"/>
              </a:spcAft>
            </a:pPr>
            <a:r>
              <a:rPr sz="1250" b="0">
                <a:solidFill>
                  <a:srgbClr val="E6E6E6"/>
                </a:solidFill>
                <a:latin typeface="Consolas"/>
                <a:ea typeface="Consolas"/>
              </a:rPr>
              <a:t>         3</a:t>
            </a:r>
          </a:p>
          <a:p>
            <a:pPr>
              <a:spcAft>
                <a:spcPts val="0"/>
              </a:spcAft>
            </a:pPr>
            <a:r>
              <a:rPr sz="1250" b="0">
                <a:solidFill>
                  <a:srgbClr val="E6E6E6"/>
                </a:solidFill>
                <a:latin typeface="Consolas"/>
                <a:ea typeface="Consolas"/>
              </a:rPr>
              <a:t>SYS@orcl&gt; SELECT group#, COUNT(*) AS members FROM v$logfile GROUP BY group#;</a:t>
            </a:r>
          </a:p>
          <a:p>
            <a:pPr>
              <a:spcAft>
                <a:spcPts val="0"/>
              </a:spcAft>
            </a:pPr>
            <a:r>
              <a:rPr sz="1250" b="0">
                <a:solidFill>
                  <a:srgbClr val="E6E6E6"/>
                </a:solidFill>
                <a:latin typeface="Consolas"/>
                <a:ea typeface="Consolas"/>
              </a:rPr>
              <a:t>         1          2</a:t>
            </a:r>
          </a:p>
          <a:p>
            <a:pPr>
              <a:spcAft>
                <a:spcPts val="0"/>
              </a:spcAft>
            </a:pPr>
            <a:r>
              <a:rPr sz="1250" b="0">
                <a:solidFill>
                  <a:srgbClr val="E6E6E6"/>
                </a:solidFill>
                <a:latin typeface="Consolas"/>
                <a:ea typeface="Consolas"/>
              </a:rPr>
              <a:t>         3          2</a:t>
            </a:r>
          </a:p>
          <a:p>
            <a:pPr>
              <a:spcAft>
                <a:spcPts val="0"/>
              </a:spcAft>
            </a:pPr>
            <a:r>
              <a:rPr sz="1250" b="0">
                <a:solidFill>
                  <a:srgbClr val="E6E6E6"/>
                </a:solidFill>
                <a:latin typeface="Consolas"/>
                <a:ea typeface="Consolas"/>
              </a:rPr>
              <a:t>         4          2</a:t>
            </a:r>
          </a:p>
          <a:p>
            <a:pPr>
              <a:spcAft>
                <a:spcPts val="0"/>
              </a:spcAft>
            </a:pPr>
            <a:r>
              <a:rPr sz="1250" b="0">
                <a:solidFill>
                  <a:srgbClr val="E6E6E6"/>
                </a:solidFill>
                <a:latin typeface="Consolas"/>
                <a:ea typeface="Consolas"/>
              </a:rPr>
              <a:t>SYS@orcl&gt; SELECT incarnation#, resetlogs_change#, status</a:t>
            </a:r>
          </a:p>
          <a:p>
            <a:pPr>
              <a:spcAft>
                <a:spcPts val="0"/>
              </a:spcAft>
            </a:pPr>
            <a:r>
              <a:rPr sz="1250" b="0">
                <a:solidFill>
                  <a:srgbClr val="E6E6E6"/>
                </a:solidFill>
                <a:latin typeface="Consolas"/>
                <a:ea typeface="Consolas"/>
              </a:rPr>
              <a:t>  2  FROM   v$database_incarnation WHERE status = 'CURRENT';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실무 사례 — 다중화 하나가 만든 차이</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같은 스토리지 장애를 두 시스템이 동시에 겪음</a:t>
            </a:r>
          </a:p>
          <a:p>
            <a:pPr>
              <a:spcAft>
                <a:spcPts val="600"/>
              </a:spcAft>
            </a:pPr>
            <a:r>
              <a:rPr sz="1600" b="0">
                <a:solidFill>
                  <a:srgbClr val="5A6672"/>
                </a:solidFill>
                <a:latin typeface="Malgun Gothic"/>
                <a:ea typeface="Malgun Gothic"/>
              </a:rPr>
              <a:t>    –  한쪽은 리두 멤버를 두 디스크에 분산</a:t>
            </a:r>
          </a:p>
          <a:p>
            <a:pPr>
              <a:spcAft>
                <a:spcPts val="600"/>
              </a:spcAft>
            </a:pPr>
            <a:r>
              <a:rPr sz="1600" b="0">
                <a:solidFill>
                  <a:srgbClr val="5A6672"/>
                </a:solidFill>
                <a:latin typeface="Malgun Gothic"/>
                <a:ea typeface="Malgun Gothic"/>
              </a:rPr>
              <a:t>    –  다른 쪽은 한 디스크에 몰아 둠</a:t>
            </a:r>
          </a:p>
          <a:p>
            <a:pPr>
              <a:spcAft>
                <a:spcPts val="600"/>
              </a:spcAft>
            </a:pPr>
            <a:r>
              <a:rPr sz="1800" b="0">
                <a:solidFill>
                  <a:srgbClr val="202830"/>
                </a:solidFill>
                <a:latin typeface="Malgun Gothic"/>
                <a:ea typeface="Malgun Gothic"/>
              </a:rPr>
              <a:t>•  앞쪽 — 살아 있는 멤버를 복사해 20분 만에 재개, 손실 없음</a:t>
            </a:r>
          </a:p>
          <a:p>
            <a:pPr>
              <a:spcAft>
                <a:spcPts val="600"/>
              </a:spcAft>
            </a:pPr>
            <a:r>
              <a:rPr sz="1800" b="0">
                <a:solidFill>
                  <a:srgbClr val="202830"/>
                </a:solidFill>
                <a:latin typeface="Malgun Gothic"/>
                <a:ea typeface="Malgun Gothic"/>
              </a:rPr>
              <a:t>•  뒤쪽 — CURRENT 전손으로 불완전 복구, 40분치 거래 손실</a:t>
            </a:r>
          </a:p>
          <a:p>
            <a:pPr>
              <a:spcAft>
                <a:spcPts val="600"/>
              </a:spcAft>
            </a:pPr>
            <a:r>
              <a:rPr sz="1800" b="0">
                <a:solidFill>
                  <a:srgbClr val="202830"/>
                </a:solidFill>
                <a:latin typeface="Malgun Gothic"/>
                <a:ea typeface="Malgun Gothic"/>
              </a:rPr>
              <a:t>•  구성 파일 한 줄의 차이가 손실 유무를 갈랐다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장애 유형 → 복구 전략 판단표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리두 계열 · 컨트롤파일 계열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상황                          | 조건          | 조치                        | 손실</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CURRENT 멤버 일부 손상        | 멤버 생존     | 복사 또는 DROP/ADD MEMBER   | 없음</a:t>
            </a:r>
          </a:p>
          <a:p>
            <a:pPr>
              <a:spcAft>
                <a:spcPts val="0"/>
              </a:spcAft>
            </a:pPr>
            <a:r>
              <a:rPr sz="1250" b="0">
                <a:solidFill>
                  <a:srgbClr val="E6E6E6"/>
                </a:solidFill>
                <a:latin typeface="Consolas"/>
                <a:ea typeface="Consolas"/>
              </a:rPr>
              <a:t>CURRENT 전손, 정상 종료       | FUZZY NO      | CLEAR UNARCH → RESETLOGS    | 없음</a:t>
            </a:r>
          </a:p>
          <a:p>
            <a:pPr>
              <a:spcAft>
                <a:spcPts val="0"/>
              </a:spcAft>
            </a:pPr>
            <a:r>
              <a:rPr sz="1250" b="0">
                <a:solidFill>
                  <a:srgbClr val="E6E6E6"/>
                </a:solidFill>
                <a:latin typeface="Consolas"/>
                <a:ea typeface="Consolas"/>
              </a:rPr>
              <a:t>CURRENT 전손, 비정상 종료     | FUZZY YES     | 전체 복원 → 불완전 복구     | 스위치 이후</a:t>
            </a:r>
          </a:p>
          <a:p>
            <a:pPr>
              <a:spcAft>
                <a:spcPts val="0"/>
              </a:spcAft>
            </a:pPr>
            <a:r>
              <a:rPr sz="1250" b="0">
                <a:solidFill>
                  <a:srgbClr val="E6E6E6"/>
                </a:solidFill>
                <a:latin typeface="Consolas"/>
                <a:ea typeface="Consolas"/>
              </a:rPr>
              <a:t>CF 사본 일부 손상             | 사본 생존     | 복사                        | 없음</a:t>
            </a:r>
          </a:p>
          <a:p>
            <a:pPr>
              <a:spcAft>
                <a:spcPts val="0"/>
              </a:spcAft>
            </a:pPr>
            <a:r>
              <a:rPr sz="1250" b="0">
                <a:solidFill>
                  <a:srgbClr val="E6E6E6"/>
                </a:solidFill>
                <a:latin typeface="Consolas"/>
                <a:ea typeface="Consolas"/>
              </a:rPr>
              <a:t>CF 전손, 정상 종료            | trace 보유    | NORESETLOGS 재생성          | 없음</a:t>
            </a:r>
          </a:p>
          <a:p>
            <a:pPr>
              <a:spcAft>
                <a:spcPts val="0"/>
              </a:spcAft>
            </a:pPr>
            <a:r>
              <a:rPr sz="1250" b="0">
                <a:solidFill>
                  <a:srgbClr val="E6E6E6"/>
                </a:solidFill>
                <a:latin typeface="Consolas"/>
                <a:ea typeface="Consolas"/>
              </a:rPr>
              <a:t>CF 전손, 비정상 종료          | trace 보유    | 재생성 → USING BACKUP CF    | 없음</a:t>
            </a:r>
          </a:p>
          <a:p>
            <a:pPr>
              <a:spcAft>
                <a:spcPts val="0"/>
              </a:spcAft>
            </a:pPr>
            <a:r>
              <a:rPr sz="1250" b="0">
                <a:solidFill>
                  <a:srgbClr val="E6E6E6"/>
                </a:solidFill>
                <a:latin typeface="Consolas"/>
                <a:ea typeface="Consolas"/>
              </a:rPr>
              <a:t>백업 CF와 구조 불일치         | 리두 보유     | RENAME 또는 CREATE DATAFILE | 없음</a:t>
            </a:r>
          </a:p>
          <a:p>
            <a:pPr>
              <a:spcAft>
                <a:spcPts val="0"/>
              </a:spcAft>
            </a:pPr>
            <a:r>
              <a:rPr sz="1250" b="0">
                <a:solidFill>
                  <a:srgbClr val="E6E6E6"/>
                </a:solidFill>
                <a:latin typeface="Consolas"/>
                <a:ea typeface="Consolas"/>
              </a:rPr>
              <a:t>CF + 리두 + DF 복합           | 아카이브 연속 | CF → 리두 → DF 순           | 상황별</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CURRENT 리두와 아카이브</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ARCHIVELOG 모드에서도 CURRENT 리두 손실이 데이터 손실로 이어지는 이유는?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아카이브가 자동으로 삭제되기 때문</a:t>
            </a:r>
          </a:p>
          <a:p>
            <a:pPr>
              <a:spcAft>
                <a:spcPts val="800"/>
              </a:spcAft>
            </a:pPr>
            <a:r>
              <a:rPr sz="1700" b="0">
                <a:solidFill>
                  <a:srgbClr val="202830"/>
                </a:solidFill>
                <a:latin typeface="Malgun Gothic"/>
                <a:ea typeface="Malgun Gothic"/>
              </a:rPr>
              <a:t>CURRENT 그룹은 아직 스위치되지 않아 아카이브 사본이 없기 때문</a:t>
            </a:r>
          </a:p>
          <a:p>
            <a:pPr>
              <a:spcAft>
                <a:spcPts val="800"/>
              </a:spcAft>
            </a:pPr>
            <a:r>
              <a:rPr sz="1700" b="0">
                <a:solidFill>
                  <a:srgbClr val="202830"/>
                </a:solidFill>
                <a:latin typeface="Malgun Gothic"/>
                <a:ea typeface="Malgun Gothic"/>
              </a:rPr>
              <a:t>컨트롤파일이 손상되기 때문</a:t>
            </a:r>
          </a:p>
          <a:p>
            <a:pPr>
              <a:spcAft>
                <a:spcPts val="800"/>
              </a:spcAft>
            </a:pPr>
            <a:r>
              <a:rPr sz="1700" b="0">
                <a:solidFill>
                  <a:srgbClr val="202830"/>
                </a:solidFill>
                <a:latin typeface="Malgun Gothic"/>
                <a:ea typeface="Malgun Gothic"/>
              </a:rPr>
              <a:t>UNDO가 부족하기 때문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종료 방식에 따른 결과</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정상 종료 상태에서 CURRENT 그룹이 전손되었다. 예상되는 결과는?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손실 없이 CLEAR UNARCHIVED 후 RESETLOGS로 열린다</a:t>
            </a:r>
          </a:p>
          <a:p>
            <a:pPr>
              <a:spcAft>
                <a:spcPts val="800"/>
              </a:spcAft>
            </a:pPr>
            <a:r>
              <a:rPr sz="1700" b="0">
                <a:solidFill>
                  <a:srgbClr val="202830"/>
                </a:solidFill>
                <a:latin typeface="Malgun Gothic"/>
                <a:ea typeface="Malgun Gothic"/>
              </a:rPr>
              <a:t>반드시 전체 복원이 필요하다</a:t>
            </a:r>
          </a:p>
          <a:p>
            <a:pPr>
              <a:spcAft>
                <a:spcPts val="800"/>
              </a:spcAft>
            </a:pPr>
            <a:r>
              <a:rPr sz="1700" b="0">
                <a:solidFill>
                  <a:srgbClr val="202830"/>
                </a:solidFill>
                <a:latin typeface="Malgun Gothic"/>
                <a:ea typeface="Malgun Gothic"/>
              </a:rPr>
              <a:t>복구가 불가능하다</a:t>
            </a:r>
          </a:p>
          <a:p>
            <a:pPr>
              <a:spcAft>
                <a:spcPts val="800"/>
              </a:spcAft>
            </a:pPr>
            <a:r>
              <a:rPr sz="1700" b="0">
                <a:solidFill>
                  <a:srgbClr val="202830"/>
                </a:solidFill>
                <a:latin typeface="Malgun Gothic"/>
                <a:ea typeface="Malgun Gothic"/>
              </a:rPr>
              <a:t>아카이브로 자동 복구된다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컨트롤파일 복구 명령</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재생성한 컨트롤파일로 복구할 때 RECOVER DATABASE 만 쓰면 나오는 오류는?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ORA-01113</a:t>
            </a:r>
          </a:p>
          <a:p>
            <a:pPr>
              <a:spcAft>
                <a:spcPts val="800"/>
              </a:spcAft>
            </a:pPr>
            <a:r>
              <a:rPr sz="1700" b="0">
                <a:solidFill>
                  <a:srgbClr val="202830"/>
                </a:solidFill>
                <a:latin typeface="Malgun Gothic"/>
                <a:ea typeface="Malgun Gothic"/>
              </a:rPr>
              <a:t>ORA-01610</a:t>
            </a:r>
          </a:p>
          <a:p>
            <a:pPr>
              <a:spcAft>
                <a:spcPts val="800"/>
              </a:spcAft>
            </a:pPr>
            <a:r>
              <a:rPr sz="1700" b="0">
                <a:solidFill>
                  <a:srgbClr val="202830"/>
                </a:solidFill>
                <a:latin typeface="Malgun Gothic"/>
                <a:ea typeface="Malgun Gothic"/>
              </a:rPr>
              <a:t>ORA-01152</a:t>
            </a:r>
          </a:p>
          <a:p>
            <a:pPr>
              <a:spcAft>
                <a:spcPts val="800"/>
              </a:spcAft>
            </a:pPr>
            <a:r>
              <a:rPr sz="1700" b="0">
                <a:solidFill>
                  <a:srgbClr val="202830"/>
                </a:solidFill>
                <a:latin typeface="Malgun Gothic"/>
                <a:ea typeface="Malgun Gothic"/>
              </a:rPr>
              <a:t>ORA-00350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요약</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CURRENT 리두는 아카이브 모드에서도 보호되지 않는다 — 예방은 다중화뿐</a:t>
            </a:r>
          </a:p>
          <a:p>
            <a:pPr>
              <a:spcAft>
                <a:spcPts val="600"/>
              </a:spcAft>
            </a:pPr>
            <a:r>
              <a:rPr sz="1800" b="0">
                <a:solidFill>
                  <a:srgbClr val="202830"/>
                </a:solidFill>
                <a:latin typeface="Malgun Gothic"/>
                <a:ea typeface="Malgun Gothic"/>
              </a:rPr>
              <a:t>•  결과는 종료 방식이 가른다 — 정상이면 손실 없음, 비정상이면 스위치 이후 손실</a:t>
            </a:r>
          </a:p>
          <a:p>
            <a:pPr>
              <a:spcAft>
                <a:spcPts val="600"/>
              </a:spcAft>
            </a:pPr>
            <a:r>
              <a:rPr sz="1800" b="0">
                <a:solidFill>
                  <a:srgbClr val="202830"/>
                </a:solidFill>
                <a:latin typeface="Malgun Gothic"/>
                <a:ea typeface="Malgun Gothic"/>
              </a:rPr>
              <a:t>•  손실 구간은 스위치 간격에 비례 — RPO와 함께 설계</a:t>
            </a:r>
          </a:p>
          <a:p>
            <a:pPr>
              <a:spcAft>
                <a:spcPts val="600"/>
              </a:spcAft>
            </a:pPr>
            <a:r>
              <a:rPr sz="1800" b="0">
                <a:solidFill>
                  <a:srgbClr val="202830"/>
                </a:solidFill>
                <a:latin typeface="Malgun Gothic"/>
                <a:ea typeface="Malgun Gothic"/>
              </a:rPr>
              <a:t>•  컨트롤파일 절차는 6장과 같고 복구 범위가 넓어진다</a:t>
            </a:r>
          </a:p>
          <a:p>
            <a:pPr>
              <a:spcAft>
                <a:spcPts val="600"/>
              </a:spcAft>
            </a:pPr>
            <a:r>
              <a:rPr sz="1800" b="0">
                <a:solidFill>
                  <a:srgbClr val="202830"/>
                </a:solidFill>
                <a:latin typeface="Malgun Gothic"/>
                <a:ea typeface="Malgun Gothic"/>
              </a:rPr>
              <a:t>•  구조 불일치는 UNNAMED로 드러나며 복구 중에 보정한다</a:t>
            </a:r>
          </a:p>
          <a:p>
            <a:pPr>
              <a:spcAft>
                <a:spcPts val="600"/>
              </a:spcAft>
            </a:pPr>
            <a:r>
              <a:rPr sz="1800" b="0">
                <a:solidFill>
                  <a:srgbClr val="202830"/>
                </a:solidFill>
                <a:latin typeface="Malgun Gothic"/>
                <a:ea typeface="Malgun Gothic"/>
              </a:rPr>
              <a:t>•  복합 손상은 CF → 리두 → DF 순, 새 CF는 백업 CF로 취급</a:t>
            </a:r>
          </a:p>
          <a:p>
            <a:pPr>
              <a:spcAft>
                <a:spcPts val="600"/>
              </a:spcAft>
            </a:pPr>
            <a:r>
              <a:rPr sz="1800" b="0">
                <a:solidFill>
                  <a:srgbClr val="202830"/>
                </a:solidFill>
                <a:latin typeface="Malgun Gothic"/>
                <a:ea typeface="Malgun Gothic"/>
              </a:rPr>
              <a:t>•  아카이브가 있으면 CF 장애로 인한 데이터 손실은 없다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실습 11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실습 11-1  CURRENT 리두 삭제 후 정상 종료</a:t>
            </a:r>
          </a:p>
          <a:p>
            <a:pPr>
              <a:spcAft>
                <a:spcPts val="600"/>
              </a:spcAft>
            </a:pPr>
            <a:r>
              <a:rPr sz="1800" b="0">
                <a:solidFill>
                  <a:srgbClr val="202830"/>
                </a:solidFill>
                <a:latin typeface="Malgun Gothic"/>
                <a:ea typeface="Malgun Gothic"/>
              </a:rPr>
              <a:t>•  실습 11-2  CURRENT 리두 삭제 후 비정상 종료</a:t>
            </a:r>
          </a:p>
          <a:p>
            <a:pPr>
              <a:spcAft>
                <a:spcPts val="600"/>
              </a:spcAft>
            </a:pPr>
            <a:r>
              <a:rPr sz="1800" b="0">
                <a:solidFill>
                  <a:srgbClr val="202830"/>
                </a:solidFill>
                <a:latin typeface="Malgun Gothic"/>
                <a:ea typeface="Malgun Gothic"/>
              </a:rPr>
              <a:t>•  실습 11-3  운영 중 CURRENT 리두 삭제</a:t>
            </a:r>
          </a:p>
          <a:p>
            <a:pPr>
              <a:spcAft>
                <a:spcPts val="600"/>
              </a:spcAft>
            </a:pPr>
            <a:r>
              <a:rPr sz="1800" b="0">
                <a:solidFill>
                  <a:srgbClr val="202830"/>
                </a:solidFill>
                <a:latin typeface="Malgun Gothic"/>
                <a:ea typeface="Malgun Gothic"/>
              </a:rPr>
              <a:t>•  실습 11-4  CLEAR UNARCHIVED LOGFILE 을 이용한 복구</a:t>
            </a:r>
          </a:p>
          <a:p>
            <a:pPr>
              <a:spcAft>
                <a:spcPts val="600"/>
              </a:spcAft>
            </a:pPr>
            <a:r>
              <a:rPr sz="1800" b="0">
                <a:solidFill>
                  <a:srgbClr val="202830"/>
                </a:solidFill>
                <a:latin typeface="Malgun Gothic"/>
                <a:ea typeface="Malgun Gothic"/>
              </a:rPr>
              <a:t>•  실습 11-5  정상 종료 후 CF 손상 — 백업본 사용</a:t>
            </a:r>
          </a:p>
          <a:p>
            <a:pPr>
              <a:spcAft>
                <a:spcPts val="600"/>
              </a:spcAft>
            </a:pPr>
            <a:r>
              <a:rPr sz="1800" b="0">
                <a:solidFill>
                  <a:srgbClr val="202830"/>
                </a:solidFill>
                <a:latin typeface="Malgun Gothic"/>
                <a:ea typeface="Malgun Gothic"/>
              </a:rPr>
              <a:t>•  실습 11-6  정상 종료 후 CF 손상 — trace 재생성</a:t>
            </a:r>
          </a:p>
          <a:p>
            <a:pPr>
              <a:spcAft>
                <a:spcPts val="600"/>
              </a:spcAft>
            </a:pPr>
            <a:r>
              <a:rPr sz="1800" b="0">
                <a:solidFill>
                  <a:srgbClr val="202830"/>
                </a:solidFill>
                <a:latin typeface="Malgun Gothic"/>
                <a:ea typeface="Malgun Gothic"/>
              </a:rPr>
              <a:t>•  실습 11-7  비정상 종료 후 CF 손상 — 재생성</a:t>
            </a:r>
          </a:p>
          <a:p>
            <a:pPr>
              <a:spcAft>
                <a:spcPts val="600"/>
              </a:spcAft>
            </a:pPr>
            <a:r>
              <a:rPr sz="1800" b="0">
                <a:solidFill>
                  <a:srgbClr val="202830"/>
                </a:solidFill>
                <a:latin typeface="Malgun Gothic"/>
                <a:ea typeface="Malgun Gothic"/>
              </a:rPr>
              <a:t>•  실습 11-8  백업 CF와 구조 불일치 보정</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실습 준비:</a:t>
            </a:r>
          </a:p>
          <a:p>
            <a:pPr>
              <a:spcAft>
                <a:spcPts val="0"/>
              </a:spcAft>
            </a:pPr>
            <a:r>
              <a:rPr sz="1250" b="0">
                <a:solidFill>
                  <a:srgbClr val="202830"/>
                </a:solidFill>
                <a:latin typeface="Malgun Gothic"/>
                <a:ea typeface="Malgun Gothic"/>
              </a:rPr>
              <a:t>각 실습 전 전체 백업과 컨트롤파일 Binary·trace 백업을 모두 새로 받아 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
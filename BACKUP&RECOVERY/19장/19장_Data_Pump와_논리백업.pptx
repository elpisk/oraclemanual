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1장부터 18장까지는 파일과 리두를 다루는 물리 백업과 복구를 다뤘다. 이 장은 객체와 데이터를 다루는 논리 백업을 다룬다. 물리 백업을 대체하지 않으며 이관과 부분 복원, 장기 보관, 구조 문서화라는 다른 역할을 맡는다. Data Pump는 서버에서 동작하므로 디렉터리 객체가 먼저 필요하다는 점이 exp/imp와의 가장 큰 차이다. 실습은 열 개이며 이 과정의 마지막 장이다.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목표가 이 장의 방향을 정한다. 논리 백업을 물리 백업의 대체재로 오해하면 복구 지점 목표를 만족하지 못하는 구성을 만들게 된다. 두 방식은 대체 관계가 아니라 역할이 다른 보완 관계다. 나머지 목표는 그 역할을 실제로 수행하는 방법이며 이관과 부분 복원이 대부분을 차지한다. 물리 백업 체계 없이 논리 백업만으로 운영하는 구성이 실제로 존재한다는 점을 사례로 짚어 주면 첫 목표의 의미가 분명해진다.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19.1절에서 세운 역할 구분이 나머지 절을 관통한다. 어떤 요구가 논리 백업의 몫이고 어떤 요구가 RMAN의 몫인지 판단하는 기준을 먼저 세운다. 19.2절과 19.3절이 실무에서 가장 자주 쓰이는 부분이며 19.4절은 대용량 작업에서 필요해진다. 19.6절의 정리표가 이 장의 결론이다. 절 순서를 그대로 따라가되 19.2절과 19.3절에 시간을 더 배분한다. 실습 열 개 가운데 절반이 이 두 절에 걸려 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19.1절은 이 장 전체의 틀을 세운다. 논리 백업은 데이터파일을 복사하지 않고 객체 정의와 데이터를 뽑아낸다. 그래서 경로와 버전에 얽매이지 않고 옮길 수 있지만 특정 시점으로 되돌리는 일은 하지 못한다. 이 차이를 먼저 이해해야 어떤 요구에 어떤 도구를 쓸지 판단할 수 있다. 이 절의 결론은 어떤 요구가 어느 도구의 몫인지 나누는 기준이며 나머지 절은 그 기준 위에서 전개된다는 점을 미리 말해 둔다.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시점 복구 행이 결정적이다. 논리 백업은 덤프를 만든 그 순간의 상태만 담고 있으므로 그 이후의 변경은 되살릴 수 없다. 하루 한 번 expdp를 돌린다면 최악의 경우 24시간치를 잃는다는 뜻이다. 반면 이관에서는 논리 백업이 압도적으로 편하다. 경로가 달라도 되고 테이블스페이스 이름이 달라도 되며 버전 차이도 흡수한다. 표를 위에서 아래로 훑기보다 시점 복구 행과 이관 행 두 줄만 대비시켜 설명하면 차이가 훨씬 빨리 전달된다.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파일 위치 행이 실습에서 가장 먼저 부딪히는 차이다. Data Pump는 서버 프로세스가 파일을 쓰므로 클라이언트에서 경로를 지정할 수 없다. 반드시 디렉터리 객체를 통해야 한다. 이 점을 모르고 출력 파일을 자기 PC에서 찾다가 헤매는 경우가 많다. 중단과 재개가 가능하다는 점도 대용량 작업에서 큰 차이를 만든다. 실습 19-1에서 곧바로 이 차이를 몸으로 겪게 되므로 여기서 미리 예고해 두면 오류를 만났을 때 스스로 원인을 찾는다.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가지 용도 가운데 이관이 가장 큰 비중을 차지한다. 개발 환경을 운영과 비슷하게 맞춰야 할 때 스키마 단위로 옮기는 작업이 반복된다. 장기 보관도 중요한 용도다. 5년 전 물리 백업은 당시 버전의 소프트웨어가 있어야 복원되지만 논리 덤프는 상위 버전에서도 반입된다. 구조 문서화는 형상 관리 목적으로 정기 수행하기도 한다. 네 용도 가운데 수강생이 현장에서 가장 자주 맡게 될 일이 이관이라는 점을 짚고 나머지는 필요할 때 찾아 쓰도록 안내한다.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권한이 두 겹이라는 점이 핵심이다. 데이터베이스 쪽 READ/WRITE 권한과 OS 쪽 oracle 사용자의 쓰기 권한이 모두 있어야 한다. 하나만 빠져도 실패하는데 오류 메시지가 어느 쪽인지 명확히 알려 주지 않아 혼란스럽다. ORA-39087은 대개 데이터베이스 권한 문제이고 ORA-39070에 ORA-29283이 따라오면 OS 권한 문제다. 실습 19-1에서 두 경우를 모두 재현한다.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요구를 듣고 어느 도구의 영역인지 먼저 나누는 습관이 필요하다. 어제 저녁 상태로 전체를 되돌리라는 요구는 RMAN의 영역이고 어제 저녁의 특정 테이블만 필요하다는 요구는 논리 백업이나 RECOVER TABLE의 영역이다. 두 요구를 구분하지 않고 한 도구로 처리하려 하면 불필요하게 크게 되돌리거나 반대로 요구를 만족하지 못하게 된다. 이 표는 19.6절의 정리표와 짝을 이룬다. 여기서는 도구 선택, 거기서는 옵션 선택을 다룬다는 차이를 말해 둔다.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19.2절은 실제 명령을 다룬다. 모드를 정하는 것이 첫 단계이고 그다음이 필터링이다. 옵션이 많아 보이지만 실제로 자주 쓰이는 것은 열 개 남짓이다. 로그를 읽고 오류와 경고를 구분하는 능력이 자동화의 전제가 되므로 함께 다룬다. 옵션을 모두 외우려 하지 말고 자주 쓰는 것부터 익히도록 안내한다. 나머지는 필요할 때 문서를 찾으면 된다. 실습 19-2부터 19-4까지가 이 절의 내용을 그대로 따라가므로 명령 형태에 익숙해지도록 반복해 보여 준다.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스키마 모드가 가장 자주 쓰인다. 다만 그 사용자가 소유한 객체를 옮기는 것이므로 다른 사용자가 부여한 시스템 권한이나 롤은 포함되지 않을 수 있다. 이관 후 권한이 없다는 문의가 들어오는 이유가 대개 여기에 있다. 테이블스페이스 모드는 그 테이블스페이스에 세그먼트가 있는 테이블을 대상으로 하며 소유자와는 무관하다. FULL 모드는 DATAPUMP_EXP_FULL_DATABASE 롤이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줄을 반드시 확인한다. successfully completed 와 completed with N error(s) 는 다르며 후자는 일부 객체가 빠졌다는 뜻이다. 행 수가 찍히는 줄도 중요하다. 이관 후 원본과 대조할 근거가 된다. 자동화 스크립트에서는 로그에서 ORA- 나 error 를 검사해 실패를 판정하도록 만든다. 종료 코드만 보면 부분 실패를 놓친다.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기본값이 SKIP이라는 점이 함정이다. 복원 목적으로 반입했는데 대상 테이블이 이미 있으면 아무 일도 하지 않고 넘어간다. 로그에는 이미 존재한다는 메시지만 남아 성공한 것처럼 보인다. 복원이 목적이라면 TRUNCATE나 REPLACE를 명시해야 한다. SQLFILE은 실제로 반입하지 않고 실행될 DDL만 파일로 뽑는 옵션이며 운영 환경에 넣기 전 확인 수단으로 쓴다.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INCLUDE와 EXCLUDE는 한 작업에서 동시에 쓸 수 없다. 둘 다 지정하면 오류가 난다. 따옴표 처리가 까다로워 셸에서 이스케이프하다 실수하기 쉬우므로 PARFILE에 넣는 편이 안전하다. CONTENT=METADATA_ONLY는 구조만 뽑아 빈 스키마를 만들 때 쓰고 DATA_ONLY는 구조가 이미 있는 곳에 데이터만 채울 때 쓴다. QUERY는 테이블별로 조건을 다르게 줄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반입은 명령이 끝난 시점이 아니라 확인이 끝난 시점에 완료된다. 참조 순서 때문에 패키지나 뷰가 무효 상태로 만들어지는 일이 흔하므로 utlrp.sql 실행을 절차에 넣는다. 행 수 대조는 Export 로그의 rows 값과 대상의 COUNT를 비교하면 된다. 통계는 덤프에 포함되더라도 대상 환경의 데이터 분포와 맞지 않을 수 있어 다시 수집하는 편이 안전하다.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19.3절은 이관 작업의 핵심이다. 원본과 대상의 사용자 이름, 테이블스페이스 이름, 파일 경로가 다른 것이 오히려 일반적이다. REMAP 계열이 그 차이를 흡수한다. 저장 속성까지 그대로 가져오면 대상에서 공간이 부족해질 수 있어 TRANSFORM으로 무시하는 방법도 함께 다룬다. 이 절의 내용이 실습 19-5로 바로 이어지므로 명령 형태를 눈에 익히도록 여러 번 반복해 보여 주는 편이 좋다.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REMAP_SCHEMA는 권한이 있는 사용자로 실행해야 한다. 일반 사용자가 시도하면 ORA-39122로 거부된다. 대상 사용자가 없으면 덤프에 사용자 정의가 들어 있을 때 자동으로 만들어지지만 테이블 모드 덤프에는 사용자 정의가 없어 미리 만들어야 한다. 자동 생성된 경우에도 롤과 시스템 권한은 원본과 같지 않을 수 있으므로 별도로 확인한다. 권한 문제로 막히는 경우가 많으므로 실행 계정을 먼저 확인하는 습관을 들이도록 지도한다. 실습에서도 이 오류를 재현한다.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REMAP_TABLESPACE는 대상 테이블스페이스가 미리 있어야 한다. 자동으로 만들어 주지 않으므로 ORA-00959가 나면 이관을 멈추고 먼저 생성해야 한다. 할당량도 함께 확인한다. 테이블스페이스는 있는데 대상 사용자에게 QUOTA가 없으면 ORA-01950으로 막힌다. REMAP_DATAFILE은 전송 가능 테이블스페이스 방식에서 파일 경로가 달라질 때 쓴다.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운영에서 개발로 옮길 때 특히 유용하다. 운영 테이블이 INITIAL 100M으로 만들어져 있으면 데이터가 몇 건이든 개발 환경에서도 100M을 잡는다. 테이블이 수백 개면 개발 서버 공간이 금방 바닥난다. SEGMENT_ATTRIBUTES:N을 주면 대상의 기본 저장 속성을 쓴다. 마지막 줄이 실무에서 가장 자주 쓰는 조합이며 세 옵션을 함께 지정한다. 저장 속성이 그대로 따라와 개발 서버 공간이 바닥난 사례를 들어 주면 이 옵션의 필요성이 바로 이해된다.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덤프 파일을 만들지 않으므로 디스크 여유가 없을 때 유용하다. 원본에서 읽어 네트워크로 보내 바로 반입하는 방식이라 중간 파일이 없다. 대신 재시도가 어렵다. 중단되면 남은 것이 없어 처음부터 다시 해야 한다. 네트워크가 불안정한 구간에서는 덤프 파일 방식이 안전하다. LONG 타입 컬럼이 있으면 이 방식을 쓸 수 없다는 제약도 있다. 덤프를 만들 공간이 없을 때의 대안이라는 위치를 분명히 하고 재시도가 어렵다는 단점을 함께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이관은 명령 한 줄로 끝나는 작업이 아니다. 준비가 부족하면 반입 중간에 멈추고 일부만 들어간 상태가 되어 정리가 번거로워진다. 특히 권한 확인이 자주 빠진다. 스키마 모드 덤프에는 그 사용자에게 부여된 롤과 시스템 권한이 포함되지 않을 수 있으므로 dba_sys_privs와 dba_role_privs를 미리 뽑아 두고 반입 후 대조한다. 각 단계에서 빠지기 쉬운 것을 하나씩 짚어 주면 실습에서 같은 실수를 반복하지 않는다. 특히 권한 확인이 자주 빠진다.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19.4절은 대용량 작업에서 필요해지는 옵션을 다룬다. 소규모 스키마라면 기본 설정으로도 충분하지만 수십 GB를 넘어가면 병렬과 압축이 소요 시간을 크게 바꾼다. 일관성 문제도 작업이 길어질수록 커진다. 옵션을 하나씩 보되 실제로 함께 쓰이는 조합 위주로 이해하는 편이 실용적이다. 소규모 실습 환경에서는 효과가 잘 보이지 않으므로 값을 바꿔 가며 측정하는 실습 19-6과 연결해 설명한다.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워커 프로세스가 하나의 파일에 동시에 쓸 수 없기 때문에 파일이 나뉘어야 한다. %U를 빼고 PARALLEL만 주면 워커는 만들어지지만 실제로는 하나만 일하게 되어 효과가 없다. 적정 값은 CPU 코어 수를 넘지 않게 잡는 것에서 출발하되 디스크가 병목이면 값을 올려도 빨라지지 않는다. Standard Edition에서는 병렬도가 1로 제한된다는 점도 알아 둔다.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COMPRESSION=METADATA_ONLY는 추가 라이선스 없이 쓸 수 있지만 DATA_ONLY와 ALL은 Advanced Compression Option이 필요하다. 암호화는 Advanced Security Option이 필요하다. 테스트 환경에서 쓰다가 감사에서 문제가 되는 경우가 있으니 도입 전에 확인한다. 암호화 비밀번호는 14장의 백업 암호화와 같은 원칙이 적용된다. 잃어버리면 덤프를 열 방법이 없으므로 보관 위치를 절차서에 남긴다.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대용량 작업 전에 반드시 확인하는 습관을 들인다. 덤프를 만들다가 디스크가 차면 작업이 중단되고 남은 파일을 정리해야 하며 다시 시작하는 데 시간이 든다. BLOCKS 방식은 할당된 블록으로 계산하므로 삭제가 많았던 테이블은 실제보다 크게 나온다. STATISTICS 방식이 더 정확하지만 통계가 오래되었으면 반대로 어긋난다. 실제 덤프 크기는 압축 여부에 따라 또 달라진다는 점도 감안한다.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지정하지 않으면 테이블마다 읽는 시점이 달라질 수 있다. 부모 테이블을 읽은 뒤 자식 테이블을 읽는 사이에 삽입이 있었다면 참조가 맞지 않는 덤프가 만들어진다. FLASHBACK_SCN으로 고정하면 모든 테이블이 같은 시점으로 읽힌다. 18장에서 다룬 Flashback Query와 같은 원리로 UNDO를 이용하므로 작업이 길어지면 ORA-01555 위험이 커진다. 대용량이면 UNDO 크기와 보존 기간을 미리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방향을 헷갈리기 쉽다. 19c 덤프를 21c에 넣는 것은 아무 조치 없이 된다. 반대로 19c에서 만든 덤프를 12.2에 넣으려면 내보낼 때 VERSION=12.2를 지정해야 한다. 반입 시점에 지정하는 것이 아니라 내보낼 때 지정한다는 점이 중요하다. 이미 만든 덤프를 하위 버전에 넣을 수 없다는 뜻이며 다시 내보내야 한다. 하위 버전에 없는 기능은 자동으로 제외되므로 일부 객체가 빠질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옵션이 많아 보이지만 실제 조합은 몇 가지로 수렴한다. 함께 쓸 수 없는 조합도 기억해 둔다. FLASHBACK_SCN과 FLASHBACK_TIME은 동시 지정이 불가하고 NETWORK_LINK는 덤프를 만들지 않으므로 DUMPFILE과 같이 쓰지 않는다. TRANSPORT_TABLESPACES는 다른 모드 파라미터와 함께 쓸 수 없다. 명령줄이 길어지면 PARFILE에 넣어 관리하는 편이 실수를 줄인다.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19.5절은 실행 중인 작업을 다루는 방법과 부가 기능을 다룬다. Data Pump 작업은 데이터베이스가 관리하므로 클라이언트를 닫아도 계속 실행된다. 이 성질 덕분에 장시간 작업을 안전하게 돌릴 수 있지만 중단된 작업이 남아 다음 실행을 막는 문제도 생긴다. 두 가지를 함께 이해해야 한다. 클라이언트를 닫아도 작업이 계속된다는 점이 장점이자 함정이라는 양면을 함께 설명하면 이해가 오래간다.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dba_datapump_jobs가 시작점이다. STATE가 EXECUTING이면 진행 중이고 NOT RUNNING이면 중단되었거나 완료 대기 상태다. v$session_longops로 남은 시간을 대략 볼 수 있다. 장시간 작업에서 진행률 문의가 들어올 때 이 두 조회를 준비해 두면 대응이 쉬워진다. NOT RUNNING 상태의 작업이 남아 있는 것을 발견하면 정리 대상인지 재개 대상인지 먼저 판단한다.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STOP_JOB과 KILL_JOB의 차이가 결정적이다. STOP_JOB은 마스터 테이블과 지금까지의 덤프를 남기므로 START_JOB으로 이어서 할 수 있다. KILL_JOB은 작업을 없애고 덤프 파일까지 지워 처음부터 다시 해야 한다. 급하게 멈추려다 KILL_JOB을 눌러 몇 시간치 작업을 날리는 일이 실제로 일어난다. EXIT_CLIENT는 작업을 그대로 두고 화면만 빠져나오는 것이며 야간 작업을 걸어 두고 나올 때 쓴다.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마스터 테이블은 어떤 객체를 어디까지 처리했는지 기록한다. 이 기록이 있어 중단된 작업을 이어서 할 수 있다. 정상 종료되면 자동으로 지워지지만 비정상 종료되면 남는다. 다음 날 같은 이름으로 실행하면 ORA-31634로 막히므로 ATTACH해서 정리하거나 마스터 테이블을 직접 지워야 한다. JOB_NAME으로 의미 있는 이름을 주면 조회와 제어가 쉬워지고 정기 작업이라면 날짜를 붙여 구분한다.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구조만 텍스트로 필요할 때 Data Pump보다 간편하다. 덤프를 만들 필요 없이 SQL로 바로 뽑는다. STORAGE를 FALSE로 두면 INITIAL 같은 저장 절이 빠져 다른 환경에서 그대로 쓰기 좋다. SQLFILE과 목적이 비슷해 보이지만 대상이 다르다. SQLFILE은 덤프 파일에 담긴 내용을 추출하고 DBMS_METADATA는 현재 데이터베이스의 상태를 추출한다. 형상 관리 용도로 정기 실행해 두면 변경 이력을 남길 수 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데이터를 SQL로 처리하지 않고 데이터파일을 그대로 옮기므로 압도적으로 빠르다. 수백 GB도 파일 복사 시간만 있으면 끝난다. 대신 조건이 있다. 테이블스페이스가 자기 완결적이어야 하며 이는 17장 TSPITR에서 다룬 조건과 같다. 내보내는 동안 읽기 전용이어야 하므로 그 시간만큼 쓰기가 막힌다는 점도 미리 협의해야 한다. 플랫폼 엔디안이 다르면 RMAN CONVERT를 거쳐야 한다.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실무에서 가장 자주 참조하게 될 표다. 요구를 듣고 이 표에서 방법을 고른 뒤 주의 열을 먼저 확인하는 순서로 쓰면 된다. 주의 열에 적힌 것들이 대부분 실제로 문제를 일으키는 지점이다. 권한 누락과 TABLE_EXISTS_ACTION 기본값 두 가지가 특히 자주 나오며 둘 다 오류 없이 조용히 넘어가 나중에 발견된다는 공통점이 있다. 요구를 듣고 이 표에서 방법을 고른 뒤 주의 열을 먼저 확인하는 순서를 실제로 한 번 시연해 보이면 좋다.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논리 백업은 도입 부담이 적어 먼저 손이 가는 수단이다. 설정할 것이 디렉터리 객체 하나뿐이고 아카이브 모드와도 무관하다. 그래서 물리 백업 체계가 없는 곳에서 이것만으로 버티는 경우가 있는데 그 상태에서 장애가 나면 마지막 expdp 시점까지밖에 돌아가지 못한다. 운영 문서에는 물리 백업 일정과 논리 백업 일정을 함께 적어 각각의 역할을 분명히 한다. 점검 항목을 정기 작업 문서에 그대로 옮겨 쓸 수 있도록 만든 목록이라는 점을 알려 준다.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두 번째다. 서버 프로세스가 수행하므로 출력 파일이 서버 경로에 만들어진다. 그래서 디렉터리 객체와 READ/WRITE 권한이 먼저 필요하며 클라이언트 경로를 지정할 수 없다. 이 점을 모르면 출력 파일을 자기 PC에서 찾다가 헤매게 된다. 병렬 처리와 중단·재개도 Data Pump에서 추가된 기능이다. 출력 파일을 자기 PC에서 찾다가 헤맨 경험을 물어보면 이 차이가 왜 중요한지 자연스럽게 공유된다.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네 번째다. 기본값이 SKIP이므로 대상 테이블이 이미 있으면 아무 일도 하지 않는다. 복원 목적으로 반입했는데 성공한 것처럼 보이고 데이터는 그대로인 상황이 여기서 나온다. 복원이 목적이라면 TRUNCATE나 REPLACE를 반드시 명시한다. REPLACE는 테이블을 지우고 다시 만들므로 제약과 인덱스도 덤프 기준으로 재생성된다. 오류 없이 조용히 넘어가는 유형이라 나중에 발견된다는 점이 가장 위험하다는 것을 다시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두 번째다. STOP_JOB은 마스터 테이블과 지금까지 만들어진 덤프를 남기므로 START_JOB으로 이어서 할 수 있다. KILL_JOB은 작업을 없애고 덤프 파일까지 지워 되돌릴 수 없다. 급하게 멈추려다 KILL_JOB을 실행해 몇 시간치 작업을 날리는 일이 실제로 일어나므로 두 명령을 분명히 구분해 둔다. 실제로 몇 시간치 작업을 날린 사례를 들려주면 두 명령의 구분이 오래 기억된다.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줄이 이 장의 결론이자 이 과정 전체의 마무리다. 논리 백업은 이관과 부분 복원, 장기 보관, 구조 문서화를 담당하는 보조 수단이며 복구 지점 목표는 물리 백업이 책임진다. 1장부터 18장까지 다룬 백업과 복구 체계 위에 이 장의 도구를 얹는 구성이 맞다. 두 축을 모두 갖춘 상태가 되어야 어떤 요구가 들어와도 대응할 수 있다. 이 과정 전체의 마지막 슬라이드이므로 1장부터 이어진 흐름을 한 번 되짚고 마무리한다.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19-1을 건너뛰면 이후 실습이 모두 막히므로 디렉터리 객체 준비를 반드시 먼저 한다. 19-2와 19-3이 짝을 이루고 19-5는 19-2의 덤프를 재사용하므로 순서대로 진행하는 편이 좋다. 19-6은 소요 시간을 측정하는 실습이라 테스트 데이터를 충분히 만들어 두어야 차이가 보인다. 19-9는 실행 중인 작업에 붙는 실습이므로 오래 걸리는 작업을 먼저 걸어 둔다.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548640"/>
          </a:xfrm>
          <a:prstGeom prst="rect">
            <a:avLst/>
          </a:prstGeom>
          <a:noFill/>
        </p:spPr>
        <p:txBody>
          <a:bodyPr wrap="square">
            <a:spAutoFit/>
          </a:bodyPr>
          <a:lstStyle/>
          <a:p>
            <a:pPr>
              <a:spcAft>
                <a:spcPts val="600"/>
              </a:spcAft>
            </a:pPr>
            <a:r>
              <a:rPr sz="1800" b="1">
                <a:solidFill>
                  <a:srgbClr val="C0392B"/>
                </a:solidFill>
                <a:latin typeface="Malgun Gothic"/>
                <a:ea typeface="Malgun Gothic"/>
              </a:rPr>
              <a:t>Oracle Database 19c Backup &amp; Recovery  ·  제19장</a:t>
            </a:r>
          </a:p>
        </p:txBody>
      </p:sp>
      <p:sp>
        <p:nvSpPr>
          <p:cNvPr id="4" name="TextBox 3"/>
          <p:cNvSpPr txBox="1"/>
          <p:nvPr/>
        </p:nvSpPr>
        <p:spPr>
          <a:xfrm>
            <a:off x="1188720" y="2194560"/>
            <a:ext cx="10332720" cy="2011680"/>
          </a:xfrm>
          <a:prstGeom prst="rect">
            <a:avLst/>
          </a:prstGeom>
          <a:noFill/>
        </p:spPr>
        <p:txBody>
          <a:bodyPr wrap="square">
            <a:spAutoFit/>
          </a:bodyPr>
          <a:lstStyle/>
          <a:p>
            <a:pPr>
              <a:spcAft>
                <a:spcPts val="600"/>
              </a:spcAft>
            </a:pPr>
            <a:r>
              <a:rPr sz="4400" b="1">
                <a:solidFill>
                  <a:srgbClr val="FFFFFF"/>
                </a:solidFill>
                <a:latin typeface="Malgun Gothic"/>
                <a:ea typeface="Malgun Gothic"/>
              </a:rPr>
              <a:t>Data Pump와 논리 백업</a:t>
            </a:r>
          </a:p>
        </p:txBody>
      </p:sp>
      <p:sp>
        <p:nvSpPr>
          <p:cNvPr id="5" name="TextBox 4"/>
          <p:cNvSpPr txBox="1"/>
          <p:nvPr/>
        </p:nvSpPr>
        <p:spPr>
          <a:xfrm>
            <a:off x="1188720" y="4297680"/>
            <a:ext cx="10058400" cy="1097280"/>
          </a:xfrm>
          <a:prstGeom prst="rect">
            <a:avLst/>
          </a:prstGeom>
          <a:noFill/>
        </p:spPr>
        <p:txBody>
          <a:bodyPr wrap="square">
            <a:spAutoFit/>
          </a:bodyPr>
          <a:lstStyle/>
          <a:p>
            <a:pPr>
              <a:spcAft>
                <a:spcPts val="600"/>
              </a:spcAft>
            </a:pPr>
            <a:r>
              <a:rPr sz="1800" b="0">
                <a:solidFill>
                  <a:srgbClr val="C5CED6"/>
                </a:solidFill>
                <a:latin typeface="Malgun Gothic"/>
                <a:ea typeface="Malgun Gothic"/>
              </a:rPr>
              <a:t>논리 백업의 위치 · Export와 Import · REMAP과 이관 · 성능과 일관성 · 작업 관리</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이 장을 마치면 다음을 수행할 수 있어야 한다.</a:t>
            </a:r>
          </a:p>
          <a:p>
            <a:pPr>
              <a:spcAft>
                <a:spcPts val="600"/>
              </a:spcAft>
            </a:pPr>
            <a:r>
              <a:rPr sz="1600" b="0">
                <a:solidFill>
                  <a:srgbClr val="5A6672"/>
                </a:solidFill>
                <a:latin typeface="Malgun Gothic"/>
                <a:ea typeface="Malgun Gothic"/>
              </a:rPr>
              <a:t>    –  논리 백업과 물리 백업의 역할을 구분한다</a:t>
            </a:r>
          </a:p>
          <a:p>
            <a:pPr>
              <a:spcAft>
                <a:spcPts val="600"/>
              </a:spcAft>
            </a:pPr>
            <a:r>
              <a:rPr sz="1600" b="0">
                <a:solidFill>
                  <a:srgbClr val="5A6672"/>
                </a:solidFill>
                <a:latin typeface="Malgun Gothic"/>
                <a:ea typeface="Malgun Gothic"/>
              </a:rPr>
              <a:t>    –  디렉터리 객체를 만들고 권한을 부여한다</a:t>
            </a:r>
          </a:p>
          <a:p>
            <a:pPr>
              <a:spcAft>
                <a:spcPts val="600"/>
              </a:spcAft>
            </a:pPr>
            <a:r>
              <a:rPr sz="1600" b="0">
                <a:solidFill>
                  <a:srgbClr val="5A6672"/>
                </a:solidFill>
                <a:latin typeface="Malgun Gothic"/>
                <a:ea typeface="Malgun Gothic"/>
              </a:rPr>
              <a:t>    –  네 가지 모드로 Export와 Import를 수행한다</a:t>
            </a:r>
          </a:p>
          <a:p>
            <a:pPr>
              <a:spcAft>
                <a:spcPts val="600"/>
              </a:spcAft>
            </a:pPr>
            <a:r>
              <a:rPr sz="1600" b="0">
                <a:solidFill>
                  <a:srgbClr val="5A6672"/>
                </a:solidFill>
                <a:latin typeface="Malgun Gothic"/>
                <a:ea typeface="Malgun Gothic"/>
              </a:rPr>
              <a:t>    –  REMAP과 TRANSFORM으로 다른 환경에 반입한다</a:t>
            </a:r>
          </a:p>
          <a:p>
            <a:pPr>
              <a:spcAft>
                <a:spcPts val="600"/>
              </a:spcAft>
            </a:pPr>
            <a:r>
              <a:rPr sz="1600" b="0">
                <a:solidFill>
                  <a:srgbClr val="5A6672"/>
                </a:solidFill>
                <a:latin typeface="Malgun Gothic"/>
                <a:ea typeface="Malgun Gothic"/>
              </a:rPr>
              <a:t>    –  PARALLEL·COMPRESSION·FLASHBACK_SCN을 적용한다</a:t>
            </a:r>
          </a:p>
          <a:p>
            <a:pPr>
              <a:spcAft>
                <a:spcPts val="600"/>
              </a:spcAft>
            </a:pPr>
            <a:r>
              <a:rPr sz="1600" b="0">
                <a:solidFill>
                  <a:srgbClr val="5A6672"/>
                </a:solidFill>
                <a:latin typeface="Malgun Gothic"/>
                <a:ea typeface="Malgun Gothic"/>
              </a:rPr>
              <a:t>    –  실행 중인 작업을 모니터링하고 제어한다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19.1  논리 백업의 위치 — 물리 백업과의 차이 · Data Pump · 디렉터리 객체 · 역할 분담</a:t>
            </a:r>
          </a:p>
          <a:p>
            <a:pPr>
              <a:spcAft>
                <a:spcPts val="600"/>
              </a:spcAft>
            </a:pPr>
            <a:r>
              <a:rPr sz="1800" b="0">
                <a:solidFill>
                  <a:srgbClr val="202830"/>
                </a:solidFill>
                <a:latin typeface="Malgun Gothic"/>
                <a:ea typeface="Malgun Gothic"/>
              </a:rPr>
              <a:t>•  19.2  Export와 Import의 기본 — 네 모드 · 로그 읽기 · 반입 · 필터링 · 오류 처리</a:t>
            </a:r>
          </a:p>
          <a:p>
            <a:pPr>
              <a:spcAft>
                <a:spcPts val="600"/>
              </a:spcAft>
            </a:pPr>
            <a:r>
              <a:rPr sz="1800" b="0">
                <a:solidFill>
                  <a:srgbClr val="202830"/>
                </a:solidFill>
                <a:latin typeface="Malgun Gothic"/>
                <a:ea typeface="Malgun Gothic"/>
              </a:rPr>
              <a:t>•  19.3  REMAP과 이관 — SCHEMA · TABLESPACE · TRANSFORM · NETWORK_LINK · 작업 순서</a:t>
            </a:r>
          </a:p>
          <a:p>
            <a:pPr>
              <a:spcAft>
                <a:spcPts val="600"/>
              </a:spcAft>
            </a:pPr>
            <a:r>
              <a:rPr sz="1800" b="0">
                <a:solidFill>
                  <a:srgbClr val="202830"/>
                </a:solidFill>
                <a:latin typeface="Malgun Gothic"/>
                <a:ea typeface="Malgun Gothic"/>
              </a:rPr>
              <a:t>•  19.4  성능과 일관성 — PARALLEL · 압축과 암호화 · ESTIMATE · FLASHBACK_SCN · VERSION</a:t>
            </a:r>
          </a:p>
          <a:p>
            <a:pPr>
              <a:spcAft>
                <a:spcPts val="600"/>
              </a:spcAft>
            </a:pPr>
            <a:r>
              <a:rPr sz="1800" b="0">
                <a:solidFill>
                  <a:srgbClr val="202830"/>
                </a:solidFill>
                <a:latin typeface="Malgun Gothic"/>
                <a:ea typeface="Malgun Gothic"/>
              </a:rPr>
              <a:t>•  19.5  작업 관리 — 모니터링 · ATTACH 제어 · 마스터 테이블 · DBMS_METADATA · TTS</a:t>
            </a:r>
          </a:p>
          <a:p>
            <a:pPr>
              <a:spcAft>
                <a:spcPts val="600"/>
              </a:spcAft>
            </a:pPr>
            <a:r>
              <a:rPr sz="1800" b="0">
                <a:solidFill>
                  <a:srgbClr val="202830"/>
                </a:solidFill>
                <a:latin typeface="Malgun Gothic"/>
                <a:ea typeface="Malgun Gothic"/>
              </a:rPr>
              <a:t>•  19.6 운영 정리 · 19.7 퀴즈 · 요약 · 실습 10 개요</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200"/>
              </a:spcAft>
            </a:pPr>
            <a:r>
              <a:rPr sz="1300" b="1">
                <a:solidFill>
                  <a:srgbClr val="B88600"/>
                </a:solidFill>
                <a:latin typeface="Malgun Gothic"/>
                <a:ea typeface="Malgun Gothic"/>
              </a:rPr>
              <a:t>참고:</a:t>
            </a:r>
          </a:p>
          <a:p>
            <a:pPr>
              <a:spcAft>
                <a:spcPts val="0"/>
              </a:spcAft>
            </a:pPr>
            <a:r>
              <a:rPr sz="1250" b="0">
                <a:solidFill>
                  <a:srgbClr val="202830"/>
                </a:solidFill>
                <a:latin typeface="Malgun Gothic"/>
                <a:ea typeface="Malgun Gothic"/>
              </a:rPr>
              <a:t>실습에는 디렉터리 객체용 OS 경로와 oracle 사용자의 쓰기 권한이 필요하다.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19.1</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논리 백업의 위치</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객체와 데이터를 다룬다</a:t>
            </a:r>
          </a:p>
          <a:p>
            <a:pPr>
              <a:spcAft>
                <a:spcPts val="600"/>
              </a:spcAft>
            </a:pPr>
            <a:r>
              <a:rPr sz="1600" b="0">
                <a:solidFill>
                  <a:srgbClr val="C5CED6"/>
                </a:solidFill>
                <a:latin typeface="Malgun Gothic"/>
                <a:ea typeface="Malgun Gothic"/>
              </a:rPr>
              <a:t>•  물리 백업의 대체재가 아니다</a:t>
            </a:r>
          </a:p>
          <a:p>
            <a:pPr>
              <a:spcAft>
                <a:spcPts val="600"/>
              </a:spcAft>
            </a:pPr>
            <a:r>
              <a:rPr sz="1600" b="0">
                <a:solidFill>
                  <a:srgbClr val="C5CED6"/>
                </a:solidFill>
                <a:latin typeface="Malgun Gothic"/>
                <a:ea typeface="Malgun Gothic"/>
              </a:rPr>
              <a:t>•  서버에서 동작하며 디렉터리 객체가 전제</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물리 백업과 논리 백업</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다루는 대상이 다르다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구분           | 물리 백업(1~18장)   | 논리 백업(19장)</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대상           | 데이터파일·리두     | 객체 정의와 데이터</a:t>
            </a:r>
          </a:p>
          <a:p>
            <a:pPr>
              <a:spcAft>
                <a:spcPts val="0"/>
              </a:spcAft>
            </a:pPr>
            <a:r>
              <a:rPr sz="1250" b="0">
                <a:solidFill>
                  <a:srgbClr val="E6E6E6"/>
                </a:solidFill>
                <a:latin typeface="Consolas"/>
                <a:ea typeface="Consolas"/>
              </a:rPr>
              <a:t>복구 단위      | 파일·테이블스페이스 | 스키마·테이블·행</a:t>
            </a:r>
          </a:p>
          <a:p>
            <a:pPr>
              <a:spcAft>
                <a:spcPts val="0"/>
              </a:spcAft>
            </a:pPr>
            <a:r>
              <a:rPr sz="1250" b="0">
                <a:solidFill>
                  <a:srgbClr val="E6E6E6"/>
                </a:solidFill>
                <a:latin typeface="Consolas"/>
                <a:ea typeface="Consolas"/>
              </a:rPr>
              <a:t>시점 복구      | 가능 (아카이브)     | 불가 (덤프 시점만)</a:t>
            </a:r>
          </a:p>
          <a:p>
            <a:pPr>
              <a:spcAft>
                <a:spcPts val="0"/>
              </a:spcAft>
            </a:pPr>
            <a:r>
              <a:rPr sz="1250" b="0">
                <a:solidFill>
                  <a:srgbClr val="E6E6E6"/>
                </a:solidFill>
                <a:latin typeface="Consolas"/>
                <a:ea typeface="Consolas"/>
              </a:rPr>
              <a:t>다른 서버 이관 | 물리 구조 동일 필요 | 구조 달라도 가능</a:t>
            </a:r>
          </a:p>
          <a:p>
            <a:pPr>
              <a:spcAft>
                <a:spcPts val="0"/>
              </a:spcAft>
            </a:pPr>
            <a:r>
              <a:rPr sz="1250" b="0">
                <a:solidFill>
                  <a:srgbClr val="E6E6E6"/>
                </a:solidFill>
                <a:latin typeface="Consolas"/>
                <a:ea typeface="Consolas"/>
              </a:rPr>
              <a:t>버전 차이      | 제약 큼             | VERSION으로 대응</a:t>
            </a:r>
          </a:p>
          <a:p>
            <a:pPr>
              <a:spcAft>
                <a:spcPts val="0"/>
              </a:spcAft>
            </a:pPr>
            <a:r>
              <a:rPr sz="1250" b="0">
                <a:solidFill>
                  <a:srgbClr val="E6E6E6"/>
                </a:solidFill>
                <a:latin typeface="Consolas"/>
                <a:ea typeface="Consolas"/>
              </a:rPr>
              <a:t>블록 손상 대응 | 가능                | 대상 아님</a:t>
            </a:r>
          </a:p>
          <a:p>
            <a:pPr>
              <a:spcAft>
                <a:spcPts val="0"/>
              </a:spcAft>
            </a:pPr>
            <a:r>
              <a:rPr sz="1250" b="0">
                <a:solidFill>
                  <a:srgbClr val="E6E6E6"/>
                </a:solidFill>
                <a:latin typeface="Consolas"/>
                <a:ea typeface="Consolas"/>
              </a:rPr>
              <a:t>소요 시간      | 파일 크기에 비례    | 객체 수와 행 수에 비례</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Data Pump와 기존 EXP/IMP</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서버에서 동작한다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구분         | exp/imp (구)      | expdp/impdp (Data Pump)</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수행 주체    | 클라이언트        | 서버 프로세스</a:t>
            </a:r>
          </a:p>
          <a:p>
            <a:pPr>
              <a:spcAft>
                <a:spcPts val="0"/>
              </a:spcAft>
            </a:pPr>
            <a:r>
              <a:rPr sz="1250" b="0">
                <a:solidFill>
                  <a:srgbClr val="E6E6E6"/>
                </a:solidFill>
                <a:latin typeface="Consolas"/>
                <a:ea typeface="Consolas"/>
              </a:rPr>
              <a:t>파일 위치    | 클라이언트 경로   | 디렉터리 객체 경로</a:t>
            </a:r>
          </a:p>
          <a:p>
            <a:pPr>
              <a:spcAft>
                <a:spcPts val="0"/>
              </a:spcAft>
            </a:pPr>
            <a:r>
              <a:rPr sz="1250" b="0">
                <a:solidFill>
                  <a:srgbClr val="E6E6E6"/>
                </a:solidFill>
                <a:latin typeface="Consolas"/>
                <a:ea typeface="Consolas"/>
              </a:rPr>
              <a:t>병렬 처리    | 없음              | PARALLEL</a:t>
            </a:r>
          </a:p>
          <a:p>
            <a:pPr>
              <a:spcAft>
                <a:spcPts val="0"/>
              </a:spcAft>
            </a:pPr>
            <a:r>
              <a:rPr sz="1250" b="0">
                <a:solidFill>
                  <a:srgbClr val="E6E6E6"/>
                </a:solidFill>
                <a:latin typeface="Consolas"/>
                <a:ea typeface="Consolas"/>
              </a:rPr>
              <a:t>중단과 재개  | 불가              | STOP_JOB / START_JOB</a:t>
            </a:r>
          </a:p>
          <a:p>
            <a:pPr>
              <a:spcAft>
                <a:spcPts val="0"/>
              </a:spcAft>
            </a:pPr>
            <a:r>
              <a:rPr sz="1250" b="0">
                <a:solidFill>
                  <a:srgbClr val="E6E6E6"/>
                </a:solidFill>
                <a:latin typeface="Consolas"/>
                <a:ea typeface="Consolas"/>
              </a:rPr>
              <a:t>필터링       | 제한적            | INCLUDE·EXCLUDE·QUERY</a:t>
            </a:r>
          </a:p>
          <a:p>
            <a:pPr>
              <a:spcAft>
                <a:spcPts val="0"/>
              </a:spcAft>
            </a:pPr>
            <a:r>
              <a:rPr sz="1250" b="0">
                <a:solidFill>
                  <a:srgbClr val="E6E6E6"/>
                </a:solidFill>
                <a:latin typeface="Consolas"/>
                <a:ea typeface="Consolas"/>
              </a:rPr>
              <a:t>이름 변경    | FROMUSER/TOUSER   | REMAP_ 계열</a:t>
            </a:r>
          </a:p>
          <a:p>
            <a:pPr>
              <a:spcAft>
                <a:spcPts val="0"/>
              </a:spcAft>
            </a:pPr>
            <a:r>
              <a:rPr sz="1250" b="0">
                <a:solidFill>
                  <a:srgbClr val="E6E6E6"/>
                </a:solidFill>
                <a:latin typeface="Consolas"/>
                <a:ea typeface="Consolas"/>
              </a:rPr>
              <a:t>속도         | 느림              | 수 배 이상 빠름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논리 백업이 쓰이는 상황</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이관 — 운영에서 개발·테스트로 스키마 복사</a:t>
            </a:r>
          </a:p>
          <a:p>
            <a:pPr>
              <a:spcAft>
                <a:spcPts val="600"/>
              </a:spcAft>
            </a:pPr>
            <a:r>
              <a:rPr sz="1600" b="0">
                <a:solidFill>
                  <a:srgbClr val="5A6672"/>
                </a:solidFill>
                <a:latin typeface="Malgun Gothic"/>
                <a:ea typeface="Malgun Gothic"/>
              </a:rPr>
              <a:t>    –  경로·테이블스페이스·버전이 달라도 된다</a:t>
            </a:r>
          </a:p>
          <a:p>
            <a:pPr>
              <a:spcAft>
                <a:spcPts val="600"/>
              </a:spcAft>
            </a:pPr>
            <a:r>
              <a:rPr sz="1800" b="0">
                <a:solidFill>
                  <a:srgbClr val="202830"/>
                </a:solidFill>
                <a:latin typeface="Malgun Gothic"/>
                <a:ea typeface="Malgun Gothic"/>
              </a:rPr>
              <a:t>•  부분 복원 — 특정 테이블만 과거 상태로</a:t>
            </a:r>
          </a:p>
          <a:p>
            <a:pPr>
              <a:spcAft>
                <a:spcPts val="600"/>
              </a:spcAft>
            </a:pPr>
            <a:r>
              <a:rPr sz="1600" b="0">
                <a:solidFill>
                  <a:srgbClr val="5A6672"/>
                </a:solidFill>
                <a:latin typeface="Malgun Gothic"/>
                <a:ea typeface="Malgun Gothic"/>
              </a:rPr>
              <a:t>    –  16장의 RECOVER TABLE과 목적이 겹친다</a:t>
            </a:r>
          </a:p>
          <a:p>
            <a:pPr>
              <a:spcAft>
                <a:spcPts val="600"/>
              </a:spcAft>
            </a:pPr>
            <a:r>
              <a:rPr sz="1800" b="0">
                <a:solidFill>
                  <a:srgbClr val="202830"/>
                </a:solidFill>
                <a:latin typeface="Malgun Gothic"/>
                <a:ea typeface="Malgun Gothic"/>
              </a:rPr>
              <a:t>•  장기 보관 — 수년 단위 아카이빙</a:t>
            </a:r>
          </a:p>
          <a:p>
            <a:pPr>
              <a:spcAft>
                <a:spcPts val="600"/>
              </a:spcAft>
            </a:pPr>
            <a:r>
              <a:rPr sz="1600" b="0">
                <a:solidFill>
                  <a:srgbClr val="5A6672"/>
                </a:solidFill>
                <a:latin typeface="Malgun Gothic"/>
                <a:ea typeface="Malgun Gothic"/>
              </a:rPr>
              <a:t>    –  물리 백업은 버전 종속이 커 오래 보관하기 어렵다</a:t>
            </a:r>
          </a:p>
          <a:p>
            <a:pPr>
              <a:spcAft>
                <a:spcPts val="600"/>
              </a:spcAft>
            </a:pPr>
            <a:r>
              <a:rPr sz="1800" b="0">
                <a:solidFill>
                  <a:srgbClr val="202830"/>
                </a:solidFill>
                <a:latin typeface="Malgun Gothic"/>
                <a:ea typeface="Malgun Gothic"/>
              </a:rPr>
              <a:t>•  구조 문서화 — CONTENT=METADATA_ONLY</a:t>
            </a:r>
          </a:p>
          <a:p>
            <a:pPr>
              <a:spcAft>
                <a:spcPts val="600"/>
              </a:spcAft>
            </a:pPr>
            <a:r>
              <a:rPr sz="1800" b="0">
                <a:solidFill>
                  <a:srgbClr val="202830"/>
                </a:solidFill>
                <a:latin typeface="Malgun Gothic"/>
                <a:ea typeface="Malgun Gothic"/>
              </a:rPr>
              <a:t>•  재구성 — 조각난 테이블을 다시 만들 때</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디렉터리 객체 — 두 겹의 권한</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먼저 준비해야 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① OS 경로 준비 (oracle 사용자 쓰기 가능해야 한다)</a:t>
            </a:r>
          </a:p>
          <a:p>
            <a:pPr>
              <a:spcAft>
                <a:spcPts val="0"/>
              </a:spcAft>
            </a:pPr>
            <a:r>
              <a:rPr sz="1250" b="0">
                <a:solidFill>
                  <a:srgbClr val="E6E6E6"/>
                </a:solidFill>
                <a:latin typeface="Consolas"/>
                <a:ea typeface="Consolas"/>
              </a:rPr>
              <a:t>[root@oel7v9r1 ~]# mkdir -p /u03/dpdump</a:t>
            </a:r>
          </a:p>
          <a:p>
            <a:pPr>
              <a:spcAft>
                <a:spcPts val="0"/>
              </a:spcAft>
            </a:pPr>
            <a:r>
              <a:rPr sz="1250" b="0">
                <a:solidFill>
                  <a:srgbClr val="E6E6E6"/>
                </a:solidFill>
                <a:latin typeface="Consolas"/>
                <a:ea typeface="Consolas"/>
              </a:rPr>
              <a:t>[root@oel7v9r1 ~]# chown oracle:oinstall /u03/dpdump</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② 디렉터리 객체 생성</a:t>
            </a:r>
          </a:p>
          <a:p>
            <a:pPr>
              <a:spcAft>
                <a:spcPts val="0"/>
              </a:spcAft>
            </a:pPr>
            <a:r>
              <a:rPr sz="1250" b="0">
                <a:solidFill>
                  <a:srgbClr val="E6E6E6"/>
                </a:solidFill>
                <a:latin typeface="Consolas"/>
                <a:ea typeface="Consolas"/>
              </a:rPr>
              <a:t>SYS@orcl&gt; CREATE OR REPLACE DIRECTORY dp_dir AS '/u03/dpdump';</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③ 사용 권한 부여</a:t>
            </a:r>
          </a:p>
          <a:p>
            <a:pPr>
              <a:spcAft>
                <a:spcPts val="0"/>
              </a:spcAft>
            </a:pPr>
            <a:r>
              <a:rPr sz="1250" b="0">
                <a:solidFill>
                  <a:srgbClr val="E6E6E6"/>
                </a:solidFill>
                <a:latin typeface="Consolas"/>
                <a:ea typeface="Consolas"/>
              </a:rPr>
              <a:t>SYS@orcl&gt; GRANT READ, WRITE ON DIRECTORY dp_dir TO hr;</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권한이 없으면</a:t>
            </a:r>
          </a:p>
          <a:p>
            <a:pPr>
              <a:spcAft>
                <a:spcPts val="0"/>
              </a:spcAft>
            </a:pPr>
            <a:r>
              <a:rPr sz="1250" b="0">
                <a:solidFill>
                  <a:srgbClr val="E6E6E6"/>
                </a:solidFill>
                <a:latin typeface="Consolas"/>
                <a:ea typeface="Consolas"/>
              </a:rPr>
              <a:t>ORA-39002: invalid operation</a:t>
            </a:r>
          </a:p>
          <a:p>
            <a:pPr>
              <a:spcAft>
                <a:spcPts val="0"/>
              </a:spcAft>
            </a:pPr>
            <a:r>
              <a:rPr sz="1250" b="0">
                <a:solidFill>
                  <a:srgbClr val="E6E6E6"/>
                </a:solidFill>
                <a:latin typeface="Consolas"/>
                <a:ea typeface="Consolas"/>
              </a:rPr>
              <a:t>ORA-39070: Unable to open the log file.</a:t>
            </a:r>
          </a:p>
          <a:p>
            <a:pPr>
              <a:spcAft>
                <a:spcPts val="0"/>
              </a:spcAft>
            </a:pPr>
            <a:r>
              <a:rPr sz="1250" b="0">
                <a:solidFill>
                  <a:srgbClr val="E6E6E6"/>
                </a:solidFill>
                <a:latin typeface="Consolas"/>
                <a:ea typeface="Consolas"/>
              </a:rPr>
              <a:t>ORA-39087: directory name DP_DIR is invalid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요구 사항별 적합한 방법</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판단의 출발점</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요구 사항                    | 적합한 방법           | 이유</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전체를 특정 시점으로         | RMAN 불완전 복구      | 시점 일관성 보장</a:t>
            </a:r>
          </a:p>
          <a:p>
            <a:pPr>
              <a:spcAft>
                <a:spcPts val="0"/>
              </a:spcAft>
            </a:pPr>
            <a:r>
              <a:rPr sz="1250" b="0">
                <a:solidFill>
                  <a:srgbClr val="E6E6E6"/>
                </a:solidFill>
                <a:latin typeface="Consolas"/>
                <a:ea typeface="Consolas"/>
              </a:rPr>
              <a:t>테이블 한 개만 과거 상태로   | RECOVER TABLE / impdp | 나머지 영향 없음</a:t>
            </a:r>
          </a:p>
          <a:p>
            <a:pPr>
              <a:spcAft>
                <a:spcPts val="0"/>
              </a:spcAft>
            </a:pPr>
            <a:r>
              <a:rPr sz="1250" b="0">
                <a:solidFill>
                  <a:srgbClr val="E6E6E6"/>
                </a:solidFill>
                <a:latin typeface="Consolas"/>
                <a:ea typeface="Consolas"/>
              </a:rPr>
              <a:t>다른 서버로 스키마 이관      | expdp / impdp         | 경로·버전 무관</a:t>
            </a:r>
          </a:p>
          <a:p>
            <a:pPr>
              <a:spcAft>
                <a:spcPts val="0"/>
              </a:spcAft>
            </a:pPr>
            <a:r>
              <a:rPr sz="1250" b="0">
                <a:solidFill>
                  <a:srgbClr val="E6E6E6"/>
                </a:solidFill>
                <a:latin typeface="Consolas"/>
                <a:ea typeface="Consolas"/>
              </a:rPr>
              <a:t>다른 서버로 DB 전체 복제     | RMAN DUPLICATE        | 물리 구조 그대로</a:t>
            </a:r>
          </a:p>
          <a:p>
            <a:pPr>
              <a:spcAft>
                <a:spcPts val="0"/>
              </a:spcAft>
            </a:pPr>
            <a:r>
              <a:rPr sz="1250" b="0">
                <a:solidFill>
                  <a:srgbClr val="E6E6E6"/>
                </a:solidFill>
                <a:latin typeface="Consolas"/>
                <a:ea typeface="Consolas"/>
              </a:rPr>
              <a:t>구조만 문서로 남기기         | CONTENT=METADATA_ONLY | 데이터 불필요</a:t>
            </a:r>
          </a:p>
          <a:p>
            <a:pPr>
              <a:spcAft>
                <a:spcPts val="0"/>
              </a:spcAft>
            </a:pPr>
            <a:r>
              <a:rPr sz="1250" b="0">
                <a:solidFill>
                  <a:srgbClr val="E6E6E6"/>
                </a:solidFill>
                <a:latin typeface="Consolas"/>
                <a:ea typeface="Consolas"/>
              </a:rPr>
              <a:t>장기 보관 (수년 단위)        | 논리 백업             | 버전 종속 낮음</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19.2</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Export와 Import의 기본</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네 가지 모드</a:t>
            </a:r>
          </a:p>
          <a:p>
            <a:pPr>
              <a:spcAft>
                <a:spcPts val="600"/>
              </a:spcAft>
            </a:pPr>
            <a:r>
              <a:rPr sz="1600" b="0">
                <a:solidFill>
                  <a:srgbClr val="C5CED6"/>
                </a:solidFill>
                <a:latin typeface="Malgun Gothic"/>
                <a:ea typeface="Malgun Gothic"/>
              </a:rPr>
              <a:t>•  로그를 읽는 법</a:t>
            </a:r>
          </a:p>
          <a:p>
            <a:pPr>
              <a:spcAft>
                <a:spcPts val="600"/>
              </a:spcAft>
            </a:pPr>
            <a:r>
              <a:rPr sz="1600" b="0">
                <a:solidFill>
                  <a:srgbClr val="C5CED6"/>
                </a:solidFill>
                <a:latin typeface="Malgun Gothic"/>
                <a:ea typeface="Malgun Gothic"/>
              </a:rPr>
              <a:t>•  필터링으로 범위를 좁힌다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네 가지 모드</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대상 범위가 다르다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모드         | 파라미터              | 대상</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FULL         | full=y                | SYS 등 일부 제외 전체</a:t>
            </a:r>
          </a:p>
          <a:p>
            <a:pPr>
              <a:spcAft>
                <a:spcPts val="0"/>
              </a:spcAft>
            </a:pPr>
            <a:r>
              <a:rPr sz="1250" b="0">
                <a:solidFill>
                  <a:srgbClr val="E6E6E6"/>
                </a:solidFill>
                <a:latin typeface="Consolas"/>
                <a:ea typeface="Consolas"/>
              </a:rPr>
              <a:t>SCHEMA       | schemas=hr,oe         | 지정 사용자 소유 객체</a:t>
            </a:r>
          </a:p>
          <a:p>
            <a:pPr>
              <a:spcAft>
                <a:spcPts val="0"/>
              </a:spcAft>
            </a:pPr>
            <a:r>
              <a:rPr sz="1250" b="0">
                <a:solidFill>
                  <a:srgbClr val="E6E6E6"/>
                </a:solidFill>
                <a:latin typeface="Consolas"/>
                <a:ea typeface="Consolas"/>
              </a:rPr>
              <a:t>TABLE        | tables=hr.employees   | 지정 테이블</a:t>
            </a:r>
          </a:p>
          <a:p>
            <a:pPr>
              <a:spcAft>
                <a:spcPts val="0"/>
              </a:spcAft>
            </a:pPr>
            <a:r>
              <a:rPr sz="1250" b="0">
                <a:solidFill>
                  <a:srgbClr val="E6E6E6"/>
                </a:solidFill>
                <a:latin typeface="Consolas"/>
                <a:ea typeface="Consolas"/>
              </a:rPr>
              <a:t>TABLESPACE   | tablespaces=users     | 그 TS에 있는 객체</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[oracle@oel7v9r1 ~]$ expdp system/oracle_4U directory=dp_dir \</a:t>
            </a:r>
          </a:p>
          <a:p>
            <a:pPr>
              <a:spcAft>
                <a:spcPts val="0"/>
              </a:spcAft>
            </a:pPr>
            <a:r>
              <a:rPr sz="1250" b="0">
                <a:solidFill>
                  <a:srgbClr val="E6E6E6"/>
                </a:solidFill>
                <a:latin typeface="Consolas"/>
                <a:ea typeface="Consolas"/>
              </a:rPr>
              <a:t>&gt;   dumpfile=hr.dmp logfile=hr_exp.log schemas=hr</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지정하지 않으면 로그인한 사용자의 스키마 모드가 기본이다.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Export 로그 읽기</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성공해도 확인한다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Starting "SYSTEM"."SYS_EXPORT_SCHEMA_01":  system/******** ...</a:t>
            </a:r>
          </a:p>
          <a:p>
            <a:pPr>
              <a:spcAft>
                <a:spcPts val="0"/>
              </a:spcAft>
            </a:pPr>
            <a:r>
              <a:rPr sz="1250" b="0">
                <a:solidFill>
                  <a:srgbClr val="E6E6E6"/>
                </a:solidFill>
                <a:latin typeface="Consolas"/>
                <a:ea typeface="Consolas"/>
              </a:rPr>
              <a:t>Estimate in progress using BLOCKS method...</a:t>
            </a:r>
          </a:p>
          <a:p>
            <a:pPr>
              <a:spcAft>
                <a:spcPts val="0"/>
              </a:spcAft>
            </a:pPr>
            <a:r>
              <a:rPr sz="1250" b="0">
                <a:solidFill>
                  <a:srgbClr val="E6E6E6"/>
                </a:solidFill>
                <a:latin typeface="Consolas"/>
                <a:ea typeface="Consolas"/>
              </a:rPr>
              <a:t>Total estimation using BLOCKS method: 1.375 MB</a:t>
            </a:r>
          </a:p>
          <a:p>
            <a:pPr>
              <a:spcAft>
                <a:spcPts val="0"/>
              </a:spcAft>
            </a:pPr>
            <a:r>
              <a:rPr sz="1250" b="0">
                <a:solidFill>
                  <a:srgbClr val="E6E6E6"/>
                </a:solidFill>
                <a:latin typeface="Consolas"/>
                <a:ea typeface="Consolas"/>
              </a:rPr>
              <a:t>Processing object type SCHEMA_EXPORT/USER</a:t>
            </a:r>
          </a:p>
          <a:p>
            <a:pPr>
              <a:spcAft>
                <a:spcPts val="0"/>
              </a:spcAft>
            </a:pPr>
            <a:r>
              <a:rPr sz="1250" b="0">
                <a:solidFill>
                  <a:srgbClr val="E6E6E6"/>
                </a:solidFill>
                <a:latin typeface="Consolas"/>
                <a:ea typeface="Consolas"/>
              </a:rPr>
              <a:t>Processing object type SCHEMA_EXPORT/TABLE/TABLE</a:t>
            </a:r>
          </a:p>
          <a:p>
            <a:pPr>
              <a:spcAft>
                <a:spcPts val="0"/>
              </a:spcAft>
            </a:pPr>
            <a:r>
              <a:rPr sz="1250" b="0">
                <a:solidFill>
                  <a:srgbClr val="E6E6E6"/>
                </a:solidFill>
                <a:latin typeface="Consolas"/>
                <a:ea typeface="Consolas"/>
              </a:rPr>
              <a:t>. . exported "HR"."EMPLOYEES"    17.05 KB     107 rows</a:t>
            </a:r>
          </a:p>
          <a:p>
            <a:pPr>
              <a:spcAft>
                <a:spcPts val="0"/>
              </a:spcAft>
            </a:pPr>
            <a:r>
              <a:rPr sz="1250" b="0">
                <a:solidFill>
                  <a:srgbClr val="E6E6E6"/>
                </a:solidFill>
                <a:latin typeface="Consolas"/>
                <a:ea typeface="Consolas"/>
              </a:rPr>
              <a:t>. . exported "HR"."DEPARTMENTS"   7.12 KB      27 rows</a:t>
            </a:r>
          </a:p>
          <a:p>
            <a:pPr>
              <a:spcAft>
                <a:spcPts val="0"/>
              </a:spcAft>
            </a:pPr>
            <a:r>
              <a:rPr sz="1250" b="0">
                <a:solidFill>
                  <a:srgbClr val="E6E6E6"/>
                </a:solidFill>
                <a:latin typeface="Consolas"/>
                <a:ea typeface="Consolas"/>
              </a:rPr>
              <a:t>Master table "SYSTEM"."SYS_EXPORT_SCHEMA_01" successfully loaded</a:t>
            </a:r>
          </a:p>
          <a:p>
            <a:pPr>
              <a:spcAft>
                <a:spcPts val="0"/>
              </a:spcAft>
            </a:pPr>
            <a:r>
              <a:rPr sz="1250" b="0">
                <a:solidFill>
                  <a:srgbClr val="E6E6E6"/>
                </a:solidFill>
                <a:latin typeface="Consolas"/>
                <a:ea typeface="Consolas"/>
              </a:rPr>
              <a:t>Dump file set for SYSTEM.SYS_EXPORT_SCHEMA_01 is:</a:t>
            </a:r>
          </a:p>
          <a:p>
            <a:pPr>
              <a:spcAft>
                <a:spcPts val="0"/>
              </a:spcAft>
            </a:pPr>
            <a:r>
              <a:rPr sz="1250" b="0">
                <a:solidFill>
                  <a:srgbClr val="E6E6E6"/>
                </a:solidFill>
                <a:latin typeface="Consolas"/>
                <a:ea typeface="Consolas"/>
              </a:rPr>
              <a:t>  /u03/dpdump/hr.dmp</a:t>
            </a:r>
          </a:p>
          <a:p>
            <a:pPr>
              <a:spcAft>
                <a:spcPts val="0"/>
              </a:spcAft>
            </a:pPr>
            <a:r>
              <a:rPr sz="1250" b="0">
                <a:solidFill>
                  <a:srgbClr val="E6E6E6"/>
                </a:solidFill>
                <a:latin typeface="Consolas"/>
                <a:ea typeface="Consolas"/>
              </a:rPr>
              <a:t>Job "SYSTEM"."SYS_EXPORT_SCHEMA_01" successfully completed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Import의 기본</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TABLE_EXISTS_ACTION에 주의</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[oracle@oel7v9r1 ~]$ impdp system/oracle_4U directory=dp_dir \</a:t>
            </a:r>
          </a:p>
          <a:p>
            <a:pPr>
              <a:spcAft>
                <a:spcPts val="0"/>
              </a:spcAft>
            </a:pPr>
            <a:r>
              <a:rPr sz="1250" b="0">
                <a:solidFill>
                  <a:srgbClr val="E6E6E6"/>
                </a:solidFill>
                <a:latin typeface="Consolas"/>
                <a:ea typeface="Consolas"/>
              </a:rPr>
              <a:t>&gt;   dumpfile=hr.dmp logfile=hr_imp.log schemas=hr</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값        | 동작</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SKIP      | 건너뛴다 (기본값)</a:t>
            </a:r>
          </a:p>
          <a:p>
            <a:pPr>
              <a:spcAft>
                <a:spcPts val="0"/>
              </a:spcAft>
            </a:pPr>
            <a:r>
              <a:rPr sz="1250" b="0">
                <a:solidFill>
                  <a:srgbClr val="E6E6E6"/>
                </a:solidFill>
                <a:latin typeface="Consolas"/>
                <a:ea typeface="Consolas"/>
              </a:rPr>
              <a:t>APPEND    | 기존 행을 두고 추가</a:t>
            </a:r>
          </a:p>
          <a:p>
            <a:pPr>
              <a:spcAft>
                <a:spcPts val="0"/>
              </a:spcAft>
            </a:pPr>
            <a:r>
              <a:rPr sz="1250" b="0">
                <a:solidFill>
                  <a:srgbClr val="E6E6E6"/>
                </a:solidFill>
                <a:latin typeface="Consolas"/>
                <a:ea typeface="Consolas"/>
              </a:rPr>
              <a:t>TRUNCATE  | 비우고 넣는다</a:t>
            </a:r>
          </a:p>
          <a:p>
            <a:pPr>
              <a:spcAft>
                <a:spcPts val="0"/>
              </a:spcAft>
            </a:pPr>
            <a:r>
              <a:rPr sz="1250" b="0">
                <a:solidFill>
                  <a:srgbClr val="E6E6E6"/>
                </a:solidFill>
                <a:latin typeface="Consolas"/>
                <a:ea typeface="Consolas"/>
              </a:rPr>
              <a:t>REPLACE   | DROP 후 다시 만들고 넣는다</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실행될 DDL을 미리 확인</a:t>
            </a:r>
          </a:p>
          <a:p>
            <a:pPr>
              <a:spcAft>
                <a:spcPts val="0"/>
              </a:spcAft>
            </a:pPr>
            <a:r>
              <a:rPr sz="1250" b="0">
                <a:solidFill>
                  <a:srgbClr val="E6E6E6"/>
                </a:solidFill>
                <a:latin typeface="Consolas"/>
                <a:ea typeface="Consolas"/>
              </a:rPr>
              <a:t>$ impdp system/oracle_4U directory=dp_dir dumpfile=hr.dmp \</a:t>
            </a:r>
          </a:p>
          <a:p>
            <a:pPr>
              <a:spcAft>
                <a:spcPts val="0"/>
              </a:spcAft>
            </a:pPr>
            <a:r>
              <a:rPr sz="1250" b="0">
                <a:solidFill>
                  <a:srgbClr val="E6E6E6"/>
                </a:solidFill>
                <a:latin typeface="Consolas"/>
                <a:ea typeface="Consolas"/>
              </a:rPr>
              <a:t>&gt;   schemas=hr sqlfile=hr_check.sql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필터링 옵션</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범위를 좁힌다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객체 종류 선택</a:t>
            </a:r>
          </a:p>
          <a:p>
            <a:pPr>
              <a:spcAft>
                <a:spcPts val="0"/>
              </a:spcAft>
            </a:pPr>
            <a:r>
              <a:rPr sz="1250" b="0">
                <a:solidFill>
                  <a:srgbClr val="E6E6E6"/>
                </a:solidFill>
                <a:latin typeface="Consolas"/>
                <a:ea typeface="Consolas"/>
              </a:rPr>
              <a:t>include=TABLE:\"IN ('EMPLOYEES','DEPARTMENTS')\"</a:t>
            </a:r>
          </a:p>
          <a:p>
            <a:pPr>
              <a:spcAft>
                <a:spcPts val="0"/>
              </a:spcAft>
            </a:pPr>
            <a:r>
              <a:rPr sz="1250" b="0">
                <a:solidFill>
                  <a:srgbClr val="E6E6E6"/>
                </a:solidFill>
                <a:latin typeface="Consolas"/>
                <a:ea typeface="Consolas"/>
              </a:rPr>
              <a:t>exclude=INDEX,STATISTICS,GRANT</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행 조건</a:t>
            </a:r>
          </a:p>
          <a:p>
            <a:pPr>
              <a:spcAft>
                <a:spcPts val="0"/>
              </a:spcAft>
            </a:pPr>
            <a:r>
              <a:rPr sz="1250" b="0">
                <a:solidFill>
                  <a:srgbClr val="E6E6E6"/>
                </a:solidFill>
                <a:latin typeface="Consolas"/>
                <a:ea typeface="Consolas"/>
              </a:rPr>
              <a:t>query=hr.employees:\"WHERE department_id = 50\"</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내용 선택</a:t>
            </a:r>
          </a:p>
          <a:p>
            <a:pPr>
              <a:spcAft>
                <a:spcPts val="0"/>
              </a:spcAft>
            </a:pPr>
            <a:r>
              <a:rPr sz="1250" b="0">
                <a:solidFill>
                  <a:srgbClr val="E6E6E6"/>
                </a:solidFill>
                <a:latin typeface="Consolas"/>
                <a:ea typeface="Consolas"/>
              </a:rPr>
              <a:t>content=METADATA_ONLY    -- 구조만</a:t>
            </a:r>
          </a:p>
          <a:p>
            <a:pPr>
              <a:spcAft>
                <a:spcPts val="0"/>
              </a:spcAft>
            </a:pPr>
            <a:r>
              <a:rPr sz="1250" b="0">
                <a:solidFill>
                  <a:srgbClr val="E6E6E6"/>
                </a:solidFill>
                <a:latin typeface="Consolas"/>
                <a:ea typeface="Consolas"/>
              </a:rPr>
              <a:t>content=DATA_ONLY        -- 데이터만</a:t>
            </a:r>
          </a:p>
          <a:p>
            <a:pPr>
              <a:spcAft>
                <a:spcPts val="0"/>
              </a:spcAft>
            </a:pPr>
            <a:r>
              <a:rPr sz="1250" b="0">
                <a:solidFill>
                  <a:srgbClr val="E6E6E6"/>
                </a:solidFill>
                <a:latin typeface="Consolas"/>
                <a:ea typeface="Consolas"/>
              </a:rPr>
              <a:t>content=ALL              -- 기본값</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INCLUDE와 EXCLUDE는 함께 쓸 수 없다</a:t>
            </a:r>
          </a:p>
          <a:p>
            <a:pPr>
              <a:spcAft>
                <a:spcPts val="0"/>
              </a:spcAft>
            </a:pPr>
            <a:r>
              <a:rPr sz="1250" b="0">
                <a:solidFill>
                  <a:srgbClr val="E6E6E6"/>
                </a:solidFill>
                <a:latin typeface="Consolas"/>
                <a:ea typeface="Consolas"/>
              </a:rPr>
              <a:t>ORA-39071: Value for EXCLUDE is badly formed.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로그 검사와 반입 후 확인</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ORA-31684 이미 존재 — 대개 무시 가능</a:t>
            </a:r>
          </a:p>
          <a:p>
            <a:pPr>
              <a:spcAft>
                <a:spcPts val="600"/>
              </a:spcAft>
            </a:pPr>
            <a:r>
              <a:rPr sz="1800" b="0">
                <a:solidFill>
                  <a:srgbClr val="202830"/>
                </a:solidFill>
                <a:latin typeface="Malgun Gothic"/>
                <a:ea typeface="Malgun Gothic"/>
              </a:rPr>
              <a:t>•  ORA-39082 컴파일 경고 — utlrp.sql로 재컴파일</a:t>
            </a:r>
          </a:p>
          <a:p>
            <a:pPr>
              <a:spcAft>
                <a:spcPts val="600"/>
              </a:spcAft>
            </a:pPr>
            <a:r>
              <a:rPr sz="1800" b="0">
                <a:solidFill>
                  <a:srgbClr val="202830"/>
                </a:solidFill>
                <a:latin typeface="Malgun Gothic"/>
                <a:ea typeface="Malgun Gothic"/>
              </a:rPr>
              <a:t>•  ORA-39083 제약 생성 실패 — 부모 테이블·데이터 확인</a:t>
            </a:r>
          </a:p>
          <a:p>
            <a:pPr>
              <a:spcAft>
                <a:spcPts val="600"/>
              </a:spcAft>
            </a:pPr>
            <a:r>
              <a:rPr sz="1800" b="0">
                <a:solidFill>
                  <a:srgbClr val="202830"/>
                </a:solidFill>
                <a:latin typeface="Malgun Gothic"/>
                <a:ea typeface="Malgun Gothic"/>
              </a:rPr>
              <a:t>•  ORA-01950 할당량 없음 — QUOTA 부여</a:t>
            </a:r>
          </a:p>
          <a:p>
            <a:pPr>
              <a:spcAft>
                <a:spcPts val="600"/>
              </a:spcAft>
            </a:pPr>
            <a:r>
              <a:rPr sz="1800" b="0">
                <a:solidFill>
                  <a:srgbClr val="202830"/>
                </a:solidFill>
                <a:latin typeface="Malgun Gothic"/>
                <a:ea typeface="Malgun Gothic"/>
              </a:rPr>
              <a:t>•  반입 후 표준 확인 절차</a:t>
            </a:r>
          </a:p>
          <a:p>
            <a:pPr>
              <a:spcAft>
                <a:spcPts val="600"/>
              </a:spcAft>
            </a:pPr>
            <a:r>
              <a:rPr sz="1600" b="0">
                <a:solidFill>
                  <a:srgbClr val="5A6672"/>
                </a:solidFill>
                <a:latin typeface="Malgun Gothic"/>
                <a:ea typeface="Malgun Gothic"/>
              </a:rPr>
              <a:t>    –  무효 객체 재컴파일 · 행 수 대조</a:t>
            </a:r>
          </a:p>
          <a:p>
            <a:pPr>
              <a:spcAft>
                <a:spcPts val="600"/>
              </a:spcAft>
            </a:pPr>
            <a:r>
              <a:rPr sz="1600" b="0">
                <a:solidFill>
                  <a:srgbClr val="5A6672"/>
                </a:solidFill>
                <a:latin typeface="Malgun Gothic"/>
                <a:ea typeface="Malgun Gothic"/>
              </a:rPr>
              <a:t>    –  제약과 인덱스 상태 · 통계 재수집</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19.3</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REMAP과 이관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이름과 위치를 바꿔 반입한다</a:t>
            </a:r>
          </a:p>
          <a:p>
            <a:pPr>
              <a:spcAft>
                <a:spcPts val="600"/>
              </a:spcAft>
            </a:pPr>
            <a:r>
              <a:rPr sz="1600" b="0">
                <a:solidFill>
                  <a:srgbClr val="C5CED6"/>
                </a:solidFill>
                <a:latin typeface="Malgun Gothic"/>
                <a:ea typeface="Malgun Gothic"/>
              </a:rPr>
              <a:t>•  환경이 다르면 TRANSFORM</a:t>
            </a:r>
          </a:p>
          <a:p>
            <a:pPr>
              <a:spcAft>
                <a:spcPts val="600"/>
              </a:spcAft>
            </a:pPr>
            <a:r>
              <a:rPr sz="1600" b="0">
                <a:solidFill>
                  <a:srgbClr val="C5CED6"/>
                </a:solidFill>
                <a:latin typeface="Malgun Gothic"/>
                <a:ea typeface="Malgun Gothic"/>
              </a:rPr>
              <a:t>•  덤프 없이 직접 옮기는 NETWORK_LINK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REMAP_SCHEMA</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다른 사용자로 반입</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[oracle@oel7v9r1 ~]$ impdp system/oracle_4U directory=dp_dir \</a:t>
            </a:r>
          </a:p>
          <a:p>
            <a:pPr>
              <a:spcAft>
                <a:spcPts val="0"/>
              </a:spcAft>
            </a:pPr>
            <a:r>
              <a:rPr sz="1250" b="0">
                <a:solidFill>
                  <a:srgbClr val="E6E6E6"/>
                </a:solidFill>
                <a:latin typeface="Consolas"/>
                <a:ea typeface="Consolas"/>
              </a:rPr>
              <a:t>&gt;   dumpfile=hr.dmp remap_schema=hr:hr_dev</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대상 사용자가 없으면 자동 생성되기도 한다</a:t>
            </a:r>
          </a:p>
          <a:p>
            <a:pPr>
              <a:spcAft>
                <a:spcPts val="0"/>
              </a:spcAft>
            </a:pPr>
            <a:r>
              <a:rPr sz="1250" b="0">
                <a:solidFill>
                  <a:srgbClr val="7EC699"/>
                </a:solidFill>
                <a:latin typeface="Consolas"/>
                <a:ea typeface="Consolas"/>
              </a:rPr>
              <a:t>-- 다만 권한은 따로 부여해야 한다</a:t>
            </a:r>
          </a:p>
          <a:p>
            <a:pPr>
              <a:spcAft>
                <a:spcPts val="0"/>
              </a:spcAft>
            </a:pPr>
            <a:r>
              <a:rPr sz="1250" b="0">
                <a:solidFill>
                  <a:srgbClr val="E6E6E6"/>
                </a:solidFill>
                <a:latin typeface="Consolas"/>
                <a:ea typeface="Consolas"/>
              </a:rPr>
              <a:t>SYS@orcl&gt; CREATE USER hr_dev IDENTIFIED BY oracle_4U</a:t>
            </a:r>
          </a:p>
          <a:p>
            <a:pPr>
              <a:spcAft>
                <a:spcPts val="0"/>
              </a:spcAft>
            </a:pPr>
            <a:r>
              <a:rPr sz="1250" b="0">
                <a:solidFill>
                  <a:srgbClr val="E6E6E6"/>
                </a:solidFill>
                <a:latin typeface="Consolas"/>
                <a:ea typeface="Consolas"/>
              </a:rPr>
              <a:t>  2    DEFAULT TABLESPACE users QUOTA UNLIMITED ON users;</a:t>
            </a:r>
          </a:p>
          <a:p>
            <a:pPr>
              <a:spcAft>
                <a:spcPts val="0"/>
              </a:spcAft>
            </a:pPr>
            <a:r>
              <a:rPr sz="1250" b="0">
                <a:solidFill>
                  <a:srgbClr val="E6E6E6"/>
                </a:solidFill>
                <a:latin typeface="Consolas"/>
                <a:ea typeface="Consolas"/>
              </a:rPr>
              <a:t>SYS@orcl&gt; GRANT CREATE SESSION, RESOURCE TO hr_dev;</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여러 스키마를 한 번에</a:t>
            </a:r>
          </a:p>
          <a:p>
            <a:pPr>
              <a:spcAft>
                <a:spcPts val="0"/>
              </a:spcAft>
            </a:pPr>
            <a:r>
              <a:rPr sz="1250" b="0">
                <a:solidFill>
                  <a:srgbClr val="E6E6E6"/>
                </a:solidFill>
                <a:latin typeface="Consolas"/>
                <a:ea typeface="Consolas"/>
              </a:rPr>
              <a:t>remap_schema=hr:hr_dev,oe:oe_dev</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ORA-39122: Unprivileged users may not perform REMAP_SCHEMA remappings.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REMAP_TABLESPACE와 DATAFILE</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저장 위치를 바꾼다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테이블스페이스 이름이 다른 곳으로</a:t>
            </a:r>
          </a:p>
          <a:p>
            <a:pPr>
              <a:spcAft>
                <a:spcPts val="0"/>
              </a:spcAft>
            </a:pPr>
            <a:r>
              <a:rPr sz="1250" b="0">
                <a:solidFill>
                  <a:srgbClr val="E6E6E6"/>
                </a:solidFill>
                <a:latin typeface="Consolas"/>
                <a:ea typeface="Consolas"/>
              </a:rPr>
              <a:t>impdp ... remap_tablespace=users:dev_data</a:t>
            </a:r>
          </a:p>
          <a:p>
            <a:pPr>
              <a:spcAft>
                <a:spcPts val="0"/>
              </a:spcAft>
            </a:pPr>
            <a:r>
              <a:rPr sz="1250" b="0">
                <a:solidFill>
                  <a:srgbClr val="E6E6E6"/>
                </a:solidFill>
                <a:latin typeface="Consolas"/>
                <a:ea typeface="Consolas"/>
              </a:rPr>
              <a:t>impdp ... remap_tablespace=users:dev_data,example:dev_ex</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전송 가능 테이블스페이스에서 파일 경로 변경</a:t>
            </a:r>
          </a:p>
          <a:p>
            <a:pPr>
              <a:spcAft>
                <a:spcPts val="0"/>
              </a:spcAft>
            </a:pPr>
            <a:r>
              <a:rPr sz="1250" b="0">
                <a:solidFill>
                  <a:srgbClr val="E6E6E6"/>
                </a:solidFill>
                <a:latin typeface="Consolas"/>
                <a:ea typeface="Consolas"/>
              </a:rPr>
              <a:t>impdp ... remap_datafile='/u02/old/users01.dbf':'/u03/new/users01.dbf'</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대상 테이블스페이스가 없으면</a:t>
            </a:r>
          </a:p>
          <a:p>
            <a:pPr>
              <a:spcAft>
                <a:spcPts val="0"/>
              </a:spcAft>
            </a:pPr>
            <a:r>
              <a:rPr sz="1250" b="0">
                <a:solidFill>
                  <a:srgbClr val="E6E6E6"/>
                </a:solidFill>
                <a:latin typeface="Consolas"/>
                <a:ea typeface="Consolas"/>
              </a:rPr>
              <a:t>ORA-00959: tablespace 'DEV_DATA' does not exist</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할당량이 없으면</a:t>
            </a:r>
          </a:p>
          <a:p>
            <a:pPr>
              <a:spcAft>
                <a:spcPts val="0"/>
              </a:spcAft>
            </a:pPr>
            <a:r>
              <a:rPr sz="1250" b="0">
                <a:solidFill>
                  <a:srgbClr val="E6E6E6"/>
                </a:solidFill>
                <a:latin typeface="Consolas"/>
                <a:ea typeface="Consolas"/>
              </a:rPr>
              <a:t>ORA-01950: no privileges on tablespace 'DEV_DATA'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TRANSFORM 옵션</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저장 속성을 무시한다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원본의 INITIAL·NEXT 등 저장 절을 무시</a:t>
            </a:r>
          </a:p>
          <a:p>
            <a:pPr>
              <a:spcAft>
                <a:spcPts val="0"/>
              </a:spcAft>
            </a:pPr>
            <a:r>
              <a:rPr sz="1250" b="0">
                <a:solidFill>
                  <a:srgbClr val="E6E6E6"/>
                </a:solidFill>
                <a:latin typeface="Consolas"/>
                <a:ea typeface="Consolas"/>
              </a:rPr>
              <a:t>impdp ... transform=SEGMENT_ATTRIBUTES:N</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저장 절만 무시 (테이블스페이스 지정은 유지)</a:t>
            </a:r>
          </a:p>
          <a:p>
            <a:pPr>
              <a:spcAft>
                <a:spcPts val="0"/>
              </a:spcAft>
            </a:pPr>
            <a:r>
              <a:rPr sz="1250" b="0">
                <a:solidFill>
                  <a:srgbClr val="E6E6E6"/>
                </a:solidFill>
                <a:latin typeface="Consolas"/>
                <a:ea typeface="Consolas"/>
              </a:rPr>
              <a:t>impdp ... transform=STORAGE:N</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익스텐트 크기를 대상 기본값으로</a:t>
            </a:r>
          </a:p>
          <a:p>
            <a:pPr>
              <a:spcAft>
                <a:spcPts val="0"/>
              </a:spcAft>
            </a:pPr>
            <a:r>
              <a:rPr sz="1250" b="0">
                <a:solidFill>
                  <a:srgbClr val="E6E6E6"/>
                </a:solidFill>
                <a:latin typeface="Consolas"/>
                <a:ea typeface="Consolas"/>
              </a:rPr>
              <a:t>impdp ... transform=SEGMENT_ATTRIBUTES:N:TABLE</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LOB 저장 속성 지정</a:t>
            </a:r>
          </a:p>
          <a:p>
            <a:pPr>
              <a:spcAft>
                <a:spcPts val="0"/>
              </a:spcAft>
            </a:pPr>
            <a:r>
              <a:rPr sz="1250" b="0">
                <a:solidFill>
                  <a:srgbClr val="E6E6E6"/>
                </a:solidFill>
                <a:latin typeface="Consolas"/>
                <a:ea typeface="Consolas"/>
              </a:rPr>
              <a:t>impdp ... transform=LOB_STORAGE:SECUREFILE</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운영 → 개발 이관의 일반적 조합</a:t>
            </a:r>
          </a:p>
          <a:p>
            <a:pPr>
              <a:spcAft>
                <a:spcPts val="0"/>
              </a:spcAft>
            </a:pPr>
            <a:r>
              <a:rPr sz="1250" b="0">
                <a:solidFill>
                  <a:srgbClr val="E6E6E6"/>
                </a:solidFill>
                <a:latin typeface="Consolas"/>
                <a:ea typeface="Consolas"/>
              </a:rPr>
              <a:t>remap_schema=hr:hr_dev remap_tablespace=users:dev_data \</a:t>
            </a:r>
          </a:p>
          <a:p>
            <a:pPr>
              <a:spcAft>
                <a:spcPts val="0"/>
              </a:spcAft>
            </a:pPr>
            <a:r>
              <a:rPr sz="1250" b="0">
                <a:solidFill>
                  <a:srgbClr val="E6E6E6"/>
                </a:solidFill>
                <a:latin typeface="Consolas"/>
                <a:ea typeface="Consolas"/>
              </a:rPr>
              <a:t>transform=SEGMENT_ATTRIBUTES:N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NETWORK_LINK</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덤프 파일 없이 직접</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원본을 가리키는 DB 링크</a:t>
            </a:r>
          </a:p>
          <a:p>
            <a:pPr>
              <a:spcAft>
                <a:spcPts val="0"/>
              </a:spcAft>
            </a:pPr>
            <a:r>
              <a:rPr sz="1250" b="0">
                <a:solidFill>
                  <a:srgbClr val="E6E6E6"/>
                </a:solidFill>
                <a:latin typeface="Consolas"/>
                <a:ea typeface="Consolas"/>
              </a:rPr>
              <a:t>SYS@orcl&gt; CREATE DATABASE LINK src_link</a:t>
            </a:r>
          </a:p>
          <a:p>
            <a:pPr>
              <a:spcAft>
                <a:spcPts val="0"/>
              </a:spcAft>
            </a:pPr>
            <a:r>
              <a:rPr sz="1250" b="0">
                <a:solidFill>
                  <a:srgbClr val="E6E6E6"/>
                </a:solidFill>
                <a:latin typeface="Consolas"/>
                <a:ea typeface="Consolas"/>
              </a:rPr>
              <a:t>  2    CONNECT TO system IDENTIFIED BY oracle_4U USING 'PRODDB';</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대상에서 실행하면 원본에서 읽어 바로 반입한다</a:t>
            </a:r>
          </a:p>
          <a:p>
            <a:pPr>
              <a:spcAft>
                <a:spcPts val="0"/>
              </a:spcAft>
            </a:pPr>
            <a:r>
              <a:rPr sz="1250" b="0">
                <a:solidFill>
                  <a:srgbClr val="E6E6E6"/>
                </a:solidFill>
                <a:latin typeface="Consolas"/>
                <a:ea typeface="Consolas"/>
              </a:rPr>
              <a:t>[oracle@oel7v9r1 ~]$ impdp system/oracle_4U directory=dp_dir \</a:t>
            </a:r>
          </a:p>
          <a:p>
            <a:pPr>
              <a:spcAft>
                <a:spcPts val="0"/>
              </a:spcAft>
            </a:pPr>
            <a:r>
              <a:rPr sz="1250" b="0">
                <a:solidFill>
                  <a:srgbClr val="E6E6E6"/>
                </a:solidFill>
                <a:latin typeface="Consolas"/>
                <a:ea typeface="Consolas"/>
              </a:rPr>
              <a:t>&gt;   network_link=src_link schemas=hr remap_schema=hr:hr_dev \</a:t>
            </a:r>
          </a:p>
          <a:p>
            <a:pPr>
              <a:spcAft>
                <a:spcPts val="0"/>
              </a:spcAft>
            </a:pPr>
            <a:r>
              <a:rPr sz="1250" b="0">
                <a:solidFill>
                  <a:srgbClr val="E6E6E6"/>
                </a:solidFill>
                <a:latin typeface="Consolas"/>
                <a:ea typeface="Consolas"/>
              </a:rPr>
              <a:t>&gt;   logfile=net_imp.log</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덤프 파일이 없으므로 dumpfile을 지정하지 않는다</a:t>
            </a:r>
          </a:p>
          <a:p>
            <a:pPr>
              <a:spcAft>
                <a:spcPts val="0"/>
              </a:spcAft>
            </a:pPr>
            <a:r>
              <a:rPr sz="1250" b="0">
                <a:solidFill>
                  <a:srgbClr val="7EC699"/>
                </a:solidFill>
                <a:latin typeface="Consolas"/>
                <a:ea typeface="Consolas"/>
              </a:rPr>
              <a:t>-- 중단되면 처음부터 다시 해야 한다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이관 작업의 순서</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네 단계로 나눈다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① 사전 준비</a:t>
            </a:r>
          </a:p>
          <a:p>
            <a:pPr>
              <a:spcAft>
                <a:spcPts val="0"/>
              </a:spcAft>
            </a:pPr>
            <a:r>
              <a:rPr sz="1250" b="0">
                <a:solidFill>
                  <a:srgbClr val="E6E6E6"/>
                </a:solidFill>
                <a:latin typeface="Consolas"/>
                <a:ea typeface="Consolas"/>
              </a:rPr>
              <a:t>   - estimate_only=y 로 크기 확인</a:t>
            </a:r>
          </a:p>
          <a:p>
            <a:pPr>
              <a:spcAft>
                <a:spcPts val="0"/>
              </a:spcAft>
            </a:pPr>
            <a:r>
              <a:rPr sz="1250" b="0">
                <a:solidFill>
                  <a:srgbClr val="E6E6E6"/>
                </a:solidFill>
                <a:latin typeface="Consolas"/>
                <a:ea typeface="Consolas"/>
              </a:rPr>
              <a:t>   - 대상에 테이블스페이스·사용자·디렉터리 객체 생성</a:t>
            </a:r>
          </a:p>
          <a:p>
            <a:pPr>
              <a:spcAft>
                <a:spcPts val="0"/>
              </a:spcAft>
            </a:pPr>
            <a:r>
              <a:rPr sz="1250" b="0">
                <a:solidFill>
                  <a:srgbClr val="E6E6E6"/>
                </a:solidFill>
                <a:latin typeface="Consolas"/>
                <a:ea typeface="Consolas"/>
              </a:rPr>
              <a:t>   - 버전 차이 확인 (하위로 가면 VERSION 지정)</a:t>
            </a:r>
          </a:p>
          <a:p>
            <a:pPr>
              <a:spcAft>
                <a:spcPts val="0"/>
              </a:spcAft>
            </a:pPr>
            <a:r>
              <a:rPr sz="1250" b="0">
                <a:solidFill>
                  <a:srgbClr val="E6E6E6"/>
                </a:solidFill>
                <a:latin typeface="Consolas"/>
                <a:ea typeface="Consolas"/>
              </a:rPr>
              <a:t>② 내보내기</a:t>
            </a:r>
          </a:p>
          <a:p>
            <a:pPr>
              <a:spcAft>
                <a:spcPts val="0"/>
              </a:spcAft>
            </a:pPr>
            <a:r>
              <a:rPr sz="1250" b="0">
                <a:solidFill>
                  <a:srgbClr val="E6E6E6"/>
                </a:solidFill>
                <a:latin typeface="Consolas"/>
                <a:ea typeface="Consolas"/>
              </a:rPr>
              <a:t>   - 일관성 필요 시 FLASHBACK_SCN</a:t>
            </a:r>
          </a:p>
          <a:p>
            <a:pPr>
              <a:spcAft>
                <a:spcPts val="0"/>
              </a:spcAft>
            </a:pPr>
            <a:r>
              <a:rPr sz="1250" b="0">
                <a:solidFill>
                  <a:srgbClr val="E6E6E6"/>
                </a:solidFill>
                <a:latin typeface="Consolas"/>
                <a:ea typeface="Consolas"/>
              </a:rPr>
              <a:t>   - 완료 후 로그에서 error 검사</a:t>
            </a:r>
          </a:p>
          <a:p>
            <a:pPr>
              <a:spcAft>
                <a:spcPts val="0"/>
              </a:spcAft>
            </a:pPr>
            <a:r>
              <a:rPr sz="1250" b="0">
                <a:solidFill>
                  <a:srgbClr val="E6E6E6"/>
                </a:solidFill>
                <a:latin typeface="Consolas"/>
                <a:ea typeface="Consolas"/>
              </a:rPr>
              <a:t>③ 반입</a:t>
            </a:r>
          </a:p>
          <a:p>
            <a:pPr>
              <a:spcAft>
                <a:spcPts val="0"/>
              </a:spcAft>
            </a:pPr>
            <a:r>
              <a:rPr sz="1250" b="0">
                <a:solidFill>
                  <a:srgbClr val="E6E6E6"/>
                </a:solidFill>
                <a:latin typeface="Consolas"/>
                <a:ea typeface="Consolas"/>
              </a:rPr>
              <a:t>   - SQLFILE로 실행될 DDL 확인</a:t>
            </a:r>
          </a:p>
          <a:p>
            <a:pPr>
              <a:spcAft>
                <a:spcPts val="0"/>
              </a:spcAft>
            </a:pPr>
            <a:r>
              <a:rPr sz="1250" b="0">
                <a:solidFill>
                  <a:srgbClr val="E6E6E6"/>
                </a:solidFill>
                <a:latin typeface="Consolas"/>
                <a:ea typeface="Consolas"/>
              </a:rPr>
              <a:t>   - REMAP·TRANSFORM·TABLE_EXISTS_ACTION 지정</a:t>
            </a:r>
          </a:p>
          <a:p>
            <a:pPr>
              <a:spcAft>
                <a:spcPts val="0"/>
              </a:spcAft>
            </a:pPr>
            <a:r>
              <a:rPr sz="1250" b="0">
                <a:solidFill>
                  <a:srgbClr val="E6E6E6"/>
                </a:solidFill>
                <a:latin typeface="Consolas"/>
                <a:ea typeface="Consolas"/>
              </a:rPr>
              <a:t>④ 사후 확인</a:t>
            </a:r>
          </a:p>
          <a:p>
            <a:pPr>
              <a:spcAft>
                <a:spcPts val="0"/>
              </a:spcAft>
            </a:pPr>
            <a:r>
              <a:rPr sz="1250" b="0">
                <a:solidFill>
                  <a:srgbClr val="E6E6E6"/>
                </a:solidFill>
                <a:latin typeface="Consolas"/>
                <a:ea typeface="Consolas"/>
              </a:rPr>
              <a:t>   - utlrp.sql · 행 수 대조 · 권한 확인 · 통계 재수집</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19.4</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성능과 일관성 옵션</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PARALLEL은 %U와 함께</a:t>
            </a:r>
          </a:p>
          <a:p>
            <a:pPr>
              <a:spcAft>
                <a:spcPts val="600"/>
              </a:spcAft>
            </a:pPr>
            <a:r>
              <a:rPr sz="1600" b="0">
                <a:solidFill>
                  <a:srgbClr val="C5CED6"/>
                </a:solidFill>
                <a:latin typeface="Malgun Gothic"/>
                <a:ea typeface="Malgun Gothic"/>
              </a:rPr>
              <a:t>•  압축과 암호화는 라이선스 확인</a:t>
            </a:r>
          </a:p>
          <a:p>
            <a:pPr>
              <a:spcAft>
                <a:spcPts val="600"/>
              </a:spcAft>
            </a:pPr>
            <a:r>
              <a:rPr sz="1600" b="0">
                <a:solidFill>
                  <a:srgbClr val="C5CED6"/>
                </a:solidFill>
                <a:latin typeface="Malgun Gothic"/>
                <a:ea typeface="Malgun Gothic"/>
              </a:rPr>
              <a:t>•  일관성은 FLASHBACK_SCN으로</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PARALLEL</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%U가 없으면 효과가 없다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[oracle@oel7v9r1 ~]$ expdp system/oracle_4U directory=dp_dir \</a:t>
            </a:r>
          </a:p>
          <a:p>
            <a:pPr>
              <a:spcAft>
                <a:spcPts val="0"/>
              </a:spcAft>
            </a:pPr>
            <a:r>
              <a:rPr sz="1250" b="0">
                <a:solidFill>
                  <a:srgbClr val="E6E6E6"/>
                </a:solidFill>
                <a:latin typeface="Consolas"/>
                <a:ea typeface="Consolas"/>
              </a:rPr>
              <a:t>&gt;   dumpfile=hr_%U.dmp logfile=hr_par.log schemas=hr parallel=4</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Dump file set for SYSTEM.SYS_EXPORT_SCHEMA_01 is:</a:t>
            </a:r>
          </a:p>
          <a:p>
            <a:pPr>
              <a:spcAft>
                <a:spcPts val="0"/>
              </a:spcAft>
            </a:pPr>
            <a:r>
              <a:rPr sz="1250" b="0">
                <a:solidFill>
                  <a:srgbClr val="E6E6E6"/>
                </a:solidFill>
                <a:latin typeface="Consolas"/>
                <a:ea typeface="Consolas"/>
              </a:rPr>
              <a:t>  /u03/dpdump/hr_01.dmp</a:t>
            </a:r>
          </a:p>
          <a:p>
            <a:pPr>
              <a:spcAft>
                <a:spcPts val="0"/>
              </a:spcAft>
            </a:pPr>
            <a:r>
              <a:rPr sz="1250" b="0">
                <a:solidFill>
                  <a:srgbClr val="E6E6E6"/>
                </a:solidFill>
                <a:latin typeface="Consolas"/>
                <a:ea typeface="Consolas"/>
              </a:rPr>
              <a:t>  /u03/dpdump/hr_02.dmp</a:t>
            </a:r>
          </a:p>
          <a:p>
            <a:pPr>
              <a:spcAft>
                <a:spcPts val="0"/>
              </a:spcAft>
            </a:pPr>
            <a:r>
              <a:rPr sz="1250" b="0">
                <a:solidFill>
                  <a:srgbClr val="E6E6E6"/>
                </a:solidFill>
                <a:latin typeface="Consolas"/>
                <a:ea typeface="Consolas"/>
              </a:rPr>
              <a:t>  /u03/dpdump/hr_03.dmp</a:t>
            </a:r>
          </a:p>
          <a:p>
            <a:pPr>
              <a:spcAft>
                <a:spcPts val="0"/>
              </a:spcAft>
            </a:pPr>
            <a:r>
              <a:rPr sz="1250" b="0">
                <a:solidFill>
                  <a:srgbClr val="E6E6E6"/>
                </a:solidFill>
                <a:latin typeface="Consolas"/>
                <a:ea typeface="Consolas"/>
              </a:rPr>
              <a:t>  /u03/dpdump/hr_04.dmp</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반입 시에도 지정한다</a:t>
            </a:r>
          </a:p>
          <a:p>
            <a:pPr>
              <a:spcAft>
                <a:spcPts val="0"/>
              </a:spcAft>
            </a:pPr>
            <a:r>
              <a:rPr sz="1250" b="0">
                <a:solidFill>
                  <a:srgbClr val="E6E6E6"/>
                </a:solidFill>
                <a:latin typeface="Consolas"/>
                <a:ea typeface="Consolas"/>
              </a:rPr>
              <a:t>$ impdp system/oracle_4U directory=dp_dir dumpfile=hr_%U.dmp \</a:t>
            </a:r>
          </a:p>
          <a:p>
            <a:pPr>
              <a:spcAft>
                <a:spcPts val="0"/>
              </a:spcAft>
            </a:pPr>
            <a:r>
              <a:rPr sz="1250" b="0">
                <a:solidFill>
                  <a:srgbClr val="E6E6E6"/>
                </a:solidFill>
                <a:latin typeface="Consolas"/>
                <a:ea typeface="Consolas"/>
              </a:rPr>
              <a:t>&gt;   schemas=hr parallel=4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COMPRESSION과 ENCRYPTION</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라이선스를 확인한다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압축</a:t>
            </a:r>
          </a:p>
          <a:p>
            <a:pPr>
              <a:spcAft>
                <a:spcPts val="0"/>
              </a:spcAft>
            </a:pPr>
            <a:r>
              <a:rPr sz="1250" b="0">
                <a:solidFill>
                  <a:srgbClr val="E6E6E6"/>
                </a:solidFill>
                <a:latin typeface="Consolas"/>
                <a:ea typeface="Consolas"/>
              </a:rPr>
              <a:t>$ expdp ... compression=all           -- ACO 필요</a:t>
            </a:r>
          </a:p>
          <a:p>
            <a:pPr>
              <a:spcAft>
                <a:spcPts val="0"/>
              </a:spcAft>
            </a:pPr>
            <a:r>
              <a:rPr sz="1250" b="0">
                <a:solidFill>
                  <a:srgbClr val="E6E6E6"/>
                </a:solidFill>
                <a:latin typeface="Consolas"/>
                <a:ea typeface="Consolas"/>
              </a:rPr>
              <a:t>$ expdp ... compression=metadata_only -- 기본 포함</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암호화 (Advanced Security Option 필요)</a:t>
            </a:r>
          </a:p>
          <a:p>
            <a:pPr>
              <a:spcAft>
                <a:spcPts val="0"/>
              </a:spcAft>
            </a:pPr>
            <a:r>
              <a:rPr sz="1250" b="0">
                <a:solidFill>
                  <a:srgbClr val="E6E6E6"/>
                </a:solidFill>
                <a:latin typeface="Consolas"/>
                <a:ea typeface="Consolas"/>
              </a:rPr>
              <a:t>$ expdp ... encryption=all encryption_password=Dump#2025</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반입 시 같은 비밀번호 필요</a:t>
            </a:r>
          </a:p>
          <a:p>
            <a:pPr>
              <a:spcAft>
                <a:spcPts val="0"/>
              </a:spcAft>
            </a:pPr>
            <a:r>
              <a:rPr sz="1250" b="0">
                <a:solidFill>
                  <a:srgbClr val="E6E6E6"/>
                </a:solidFill>
                <a:latin typeface="Consolas"/>
                <a:ea typeface="Consolas"/>
              </a:rPr>
              <a:t>$ impdp ... encryption_password=Dump#2025</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비밀번호 없이 반입하면</a:t>
            </a:r>
          </a:p>
          <a:p>
            <a:pPr>
              <a:spcAft>
                <a:spcPts val="0"/>
              </a:spcAft>
            </a:pPr>
            <a:r>
              <a:rPr sz="1250" b="0">
                <a:solidFill>
                  <a:srgbClr val="E6E6E6"/>
                </a:solidFill>
                <a:latin typeface="Consolas"/>
                <a:ea typeface="Consolas"/>
              </a:rPr>
              <a:t>ORA-39002: invalid operation</a:t>
            </a:r>
          </a:p>
          <a:p>
            <a:pPr>
              <a:spcAft>
                <a:spcPts val="0"/>
              </a:spcAft>
            </a:pPr>
            <a:r>
              <a:rPr sz="1250" b="0">
                <a:solidFill>
                  <a:srgbClr val="E6E6E6"/>
                </a:solidFill>
                <a:latin typeface="Consolas"/>
                <a:ea typeface="Consolas"/>
              </a:rPr>
              <a:t>ORA-39174: Encryption password must be supplied.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ESTIMATE로 사전 확인</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디스크 여유를 본다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[oracle@oel7v9r1 ~]$ expdp system/oracle_4U directory=dp_dir \</a:t>
            </a:r>
          </a:p>
          <a:p>
            <a:pPr>
              <a:spcAft>
                <a:spcPts val="0"/>
              </a:spcAft>
            </a:pPr>
            <a:r>
              <a:rPr sz="1250" b="0">
                <a:solidFill>
                  <a:srgbClr val="E6E6E6"/>
                </a:solidFill>
                <a:latin typeface="Consolas"/>
                <a:ea typeface="Consolas"/>
              </a:rPr>
              <a:t>&gt;   schemas=hr estimate_only=y</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Estimate in progress using BLOCKS method...</a:t>
            </a:r>
          </a:p>
          <a:p>
            <a:pPr>
              <a:spcAft>
                <a:spcPts val="0"/>
              </a:spcAft>
            </a:pPr>
            <a:r>
              <a:rPr sz="1250" b="0">
                <a:solidFill>
                  <a:srgbClr val="E6E6E6"/>
                </a:solidFill>
                <a:latin typeface="Consolas"/>
                <a:ea typeface="Consolas"/>
              </a:rPr>
              <a:t>.  estimated "HR"."EMPLOYEES"       64 KB</a:t>
            </a:r>
          </a:p>
          <a:p>
            <a:pPr>
              <a:spcAft>
                <a:spcPts val="0"/>
              </a:spcAft>
            </a:pPr>
            <a:r>
              <a:rPr sz="1250" b="0">
                <a:solidFill>
                  <a:srgbClr val="E6E6E6"/>
                </a:solidFill>
                <a:latin typeface="Consolas"/>
                <a:ea typeface="Consolas"/>
              </a:rPr>
              <a:t>.  estimated "HR"."DEPARTMENTS"     64 KB</a:t>
            </a:r>
          </a:p>
          <a:p>
            <a:pPr>
              <a:spcAft>
                <a:spcPts val="0"/>
              </a:spcAft>
            </a:pPr>
            <a:r>
              <a:rPr sz="1250" b="0">
                <a:solidFill>
                  <a:srgbClr val="E6E6E6"/>
                </a:solidFill>
                <a:latin typeface="Consolas"/>
                <a:ea typeface="Consolas"/>
              </a:rPr>
              <a:t>Total estimation using BLOCKS method: 1.375 MB</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통계 기반으로 더 정확하게</a:t>
            </a:r>
          </a:p>
          <a:p>
            <a:pPr>
              <a:spcAft>
                <a:spcPts val="0"/>
              </a:spcAft>
            </a:pPr>
            <a:r>
              <a:rPr sz="1250" b="0">
                <a:solidFill>
                  <a:srgbClr val="E6E6E6"/>
                </a:solidFill>
                <a:latin typeface="Consolas"/>
                <a:ea typeface="Consolas"/>
              </a:rPr>
              <a:t>$ expdp ... estimate_only=y estimate=statistics</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BLOCKS   : 할당 블록 기준. 빠르지만 과대 추정</a:t>
            </a:r>
          </a:p>
          <a:p>
            <a:pPr>
              <a:spcAft>
                <a:spcPts val="0"/>
              </a:spcAft>
            </a:pPr>
            <a:r>
              <a:rPr sz="1250" b="0">
                <a:solidFill>
                  <a:srgbClr val="7EC699"/>
                </a:solidFill>
                <a:latin typeface="Consolas"/>
                <a:ea typeface="Consolas"/>
              </a:rPr>
              <a:t>-- STATISTICS: 통계 기준. 정확하지만 통계가 최신이어야 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FLASHBACK_SCN과 일관성</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18장의 원리를 쓴다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SELECT current_scn FROM v$database;</a:t>
            </a:r>
          </a:p>
          <a:p>
            <a:pPr>
              <a:spcAft>
                <a:spcPts val="0"/>
              </a:spcAft>
            </a:pPr>
            <a:r>
              <a:rPr sz="1250" b="0">
                <a:solidFill>
                  <a:srgbClr val="E6E6E6"/>
                </a:solidFill>
                <a:latin typeface="Consolas"/>
                <a:ea typeface="Consolas"/>
              </a:rPr>
              <a:t>   2830400</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 expdp ... schemas=hr flashback_scn=2830400</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시각으로 지정할 수도 있다</a:t>
            </a:r>
          </a:p>
          <a:p>
            <a:pPr>
              <a:spcAft>
                <a:spcPts val="0"/>
              </a:spcAft>
            </a:pPr>
            <a:r>
              <a:rPr sz="1250" b="0">
                <a:solidFill>
                  <a:srgbClr val="E6E6E6"/>
                </a:solidFill>
                <a:latin typeface="Consolas"/>
                <a:ea typeface="Consolas"/>
              </a:rPr>
              <a:t>$ expdp ... flashback_time=\"TO_TIMESTAMP('2025-05-21 09:00:00',\</a:t>
            </a:r>
          </a:p>
          <a:p>
            <a:pPr>
              <a:spcAft>
                <a:spcPts val="0"/>
              </a:spcAft>
            </a:pPr>
            <a:r>
              <a:rPr sz="1250" b="0">
                <a:solidFill>
                  <a:srgbClr val="E6E6E6"/>
                </a:solidFill>
                <a:latin typeface="Consolas"/>
                <a:ea typeface="Consolas"/>
              </a:rPr>
              <a:t>  'YYYY-MM-DD HH24:MI:SS')\"</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두 옵션은 함께 쓸 수 없다</a:t>
            </a:r>
          </a:p>
          <a:p>
            <a:pPr>
              <a:spcAft>
                <a:spcPts val="0"/>
              </a:spcAft>
            </a:pPr>
            <a:r>
              <a:rPr sz="1250" b="0">
                <a:solidFill>
                  <a:srgbClr val="7EC699"/>
                </a:solidFill>
                <a:latin typeface="Consolas"/>
                <a:ea typeface="Consolas"/>
              </a:rPr>
              <a:t>-- UNDO 보존 기간을 넘으면</a:t>
            </a:r>
          </a:p>
          <a:p>
            <a:pPr>
              <a:spcAft>
                <a:spcPts val="0"/>
              </a:spcAft>
            </a:pPr>
            <a:r>
              <a:rPr sz="1250" b="0">
                <a:solidFill>
                  <a:srgbClr val="E6E6E6"/>
                </a:solidFill>
                <a:latin typeface="Consolas"/>
                <a:ea typeface="Consolas"/>
              </a:rPr>
              <a:t>ORA-01555: snapshot too old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VERSION 파라미터</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방향에 주의한다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-- 12.2에서 읽을 수 있는 덤프 만들기</a:t>
            </a:r>
          </a:p>
          <a:p>
            <a:pPr>
              <a:spcAft>
                <a:spcPts val="0"/>
              </a:spcAft>
            </a:pPr>
            <a:r>
              <a:rPr sz="1250" b="0">
                <a:solidFill>
                  <a:srgbClr val="E6E6E6"/>
                </a:solidFill>
                <a:latin typeface="Consolas"/>
                <a:ea typeface="Consolas"/>
              </a:rPr>
              <a:t>$ expdp ... schemas=hr version=12.2</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지정하지 않고 하위 버전에서 반입하면</a:t>
            </a:r>
          </a:p>
          <a:p>
            <a:pPr>
              <a:spcAft>
                <a:spcPts val="0"/>
              </a:spcAft>
            </a:pPr>
            <a:r>
              <a:rPr sz="1250" b="0">
                <a:solidFill>
                  <a:srgbClr val="E6E6E6"/>
                </a:solidFill>
                <a:latin typeface="Consolas"/>
                <a:ea typeface="Consolas"/>
              </a:rPr>
              <a:t>ORA-39142: incompatible version number 5.1 in dump file</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방향          | 필요한 조치</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하위 → 상위   | 없음. 그대로 반입된다</a:t>
            </a:r>
          </a:p>
          <a:p>
            <a:pPr>
              <a:spcAft>
                <a:spcPts val="0"/>
              </a:spcAft>
            </a:pPr>
            <a:r>
              <a:rPr sz="1250" b="0">
                <a:solidFill>
                  <a:srgbClr val="E6E6E6"/>
                </a:solidFill>
                <a:latin typeface="Consolas"/>
                <a:ea typeface="Consolas"/>
              </a:rPr>
              <a:t>상위 → 하위   | VERSION 지정 필수</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하위 버전에 없는 기능은 제외된다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옵션 조합 정리</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함께 쓰이는 것은 정해져 있다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목적                  | 조합</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야간 정기 논리 백업   | schemas + parallel + compression + logfile</a:t>
            </a:r>
          </a:p>
          <a:p>
            <a:pPr>
              <a:spcAft>
                <a:spcPts val="0"/>
              </a:spcAft>
            </a:pPr>
            <a:r>
              <a:rPr sz="1250" b="0">
                <a:solidFill>
                  <a:srgbClr val="E6E6E6"/>
                </a:solidFill>
                <a:latin typeface="Consolas"/>
                <a:ea typeface="Consolas"/>
              </a:rPr>
              <a:t>대용량 이관           | parallel + %U + estimate_only 사전 확인</a:t>
            </a:r>
          </a:p>
          <a:p>
            <a:pPr>
              <a:spcAft>
                <a:spcPts val="0"/>
              </a:spcAft>
            </a:pPr>
            <a:r>
              <a:rPr sz="1250" b="0">
                <a:solidFill>
                  <a:srgbClr val="E6E6E6"/>
                </a:solidFill>
                <a:latin typeface="Consolas"/>
                <a:ea typeface="Consolas"/>
              </a:rPr>
              <a:t>일관성 있는 스냅숏    | flashback_scn + parallel</a:t>
            </a:r>
          </a:p>
          <a:p>
            <a:pPr>
              <a:spcAft>
                <a:spcPts val="0"/>
              </a:spcAft>
            </a:pPr>
            <a:r>
              <a:rPr sz="1250" b="0">
                <a:solidFill>
                  <a:srgbClr val="E6E6E6"/>
                </a:solidFill>
                <a:latin typeface="Consolas"/>
                <a:ea typeface="Consolas"/>
              </a:rPr>
              <a:t>외부 반출             | encryption_password + compression</a:t>
            </a:r>
          </a:p>
          <a:p>
            <a:pPr>
              <a:spcAft>
                <a:spcPts val="0"/>
              </a:spcAft>
            </a:pPr>
            <a:r>
              <a:rPr sz="1250" b="0">
                <a:solidFill>
                  <a:srgbClr val="E6E6E6"/>
                </a:solidFill>
                <a:latin typeface="Consolas"/>
                <a:ea typeface="Consolas"/>
              </a:rPr>
              <a:t>하위 버전 대상        | version + schemas</a:t>
            </a:r>
          </a:p>
          <a:p>
            <a:pPr>
              <a:spcAft>
                <a:spcPts val="0"/>
              </a:spcAft>
            </a:pPr>
            <a:r>
              <a:rPr sz="1250" b="0">
                <a:solidFill>
                  <a:srgbClr val="E6E6E6"/>
                </a:solidFill>
                <a:latin typeface="Consolas"/>
                <a:ea typeface="Consolas"/>
              </a:rPr>
              <a:t>구조만 문서화         | content=metadata_only + sqlfile</a:t>
            </a:r>
          </a:p>
          <a:p>
            <a:pPr>
              <a:spcAft>
                <a:spcPts val="0"/>
              </a:spcAft>
            </a:pPr>
            <a:r>
              <a:rPr sz="1250" b="0">
                <a:solidFill>
                  <a:srgbClr val="E6E6E6"/>
                </a:solidFill>
                <a:latin typeface="Consolas"/>
                <a:ea typeface="Consolas"/>
              </a:rPr>
              <a:t>네트워크 직접 이관    | network_link + remap_schema</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19.5</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작업 관리와 부가 기능</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중단하고 재개할 수 있다</a:t>
            </a:r>
          </a:p>
          <a:p>
            <a:pPr>
              <a:spcAft>
                <a:spcPts val="600"/>
              </a:spcAft>
            </a:pPr>
            <a:r>
              <a:rPr sz="1600" b="0">
                <a:solidFill>
                  <a:srgbClr val="C5CED6"/>
                </a:solidFill>
                <a:latin typeface="Malgun Gothic"/>
                <a:ea typeface="Malgun Gothic"/>
              </a:rPr>
              <a:t>•  마스터 테이블이 그 근거</a:t>
            </a:r>
          </a:p>
          <a:p>
            <a:pPr>
              <a:spcAft>
                <a:spcPts val="600"/>
              </a:spcAft>
            </a:pPr>
            <a:r>
              <a:rPr sz="1600" b="0">
                <a:solidFill>
                  <a:srgbClr val="C5CED6"/>
                </a:solidFill>
                <a:latin typeface="Malgun Gothic"/>
                <a:ea typeface="Malgun Gothic"/>
              </a:rPr>
              <a:t>•  DDL 추출과 TTS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작업 모니터링</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진행 상황을 본다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SELECT owner_name, job_name, operation, job_mode, state,</a:t>
            </a:r>
          </a:p>
          <a:p>
            <a:pPr>
              <a:spcAft>
                <a:spcPts val="0"/>
              </a:spcAft>
            </a:pPr>
            <a:r>
              <a:rPr sz="1250" b="0">
                <a:solidFill>
                  <a:srgbClr val="E6E6E6"/>
                </a:solidFill>
                <a:latin typeface="Consolas"/>
                <a:ea typeface="Consolas"/>
              </a:rPr>
              <a:t>  2         degree FROM dba_datapump_jobs;</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OWNER_NAME JOB_NAME              OPERATION JOB_MODE STATE     DEGREE</a:t>
            </a:r>
          </a:p>
          <a:p>
            <a:pPr>
              <a:spcAft>
                <a:spcPts val="0"/>
              </a:spcAft>
            </a:pPr>
            <a:r>
              <a:rPr sz="1250" b="0">
                <a:solidFill>
                  <a:srgbClr val="7EC699"/>
                </a:solidFill>
                <a:latin typeface="Consolas"/>
                <a:ea typeface="Consolas"/>
              </a:rPr>
              <a:t>---------- --------------------- --------- -------- --------- ------</a:t>
            </a:r>
          </a:p>
          <a:p>
            <a:pPr>
              <a:spcAft>
                <a:spcPts val="0"/>
              </a:spcAft>
            </a:pPr>
            <a:r>
              <a:rPr sz="1250" b="0">
                <a:solidFill>
                  <a:srgbClr val="E6E6E6"/>
                </a:solidFill>
                <a:latin typeface="Consolas"/>
                <a:ea typeface="Consolas"/>
              </a:rPr>
              <a:t>SYSTEM     SYS_EXPORT_SCHEMA_01  EXPORT    SCHEMA   EXECUTING      4</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sid, opname, ROUND(sofar/totalwork*100,1) AS pct,</a:t>
            </a:r>
          </a:p>
          <a:p>
            <a:pPr>
              <a:spcAft>
                <a:spcPts val="0"/>
              </a:spcAft>
            </a:pPr>
            <a:r>
              <a:rPr sz="1250" b="0">
                <a:solidFill>
                  <a:srgbClr val="E6E6E6"/>
                </a:solidFill>
                <a:latin typeface="Consolas"/>
                <a:ea typeface="Consolas"/>
              </a:rPr>
              <a:t>  2         time_remaining FROM v$session_longops</a:t>
            </a:r>
          </a:p>
          <a:p>
            <a:pPr>
              <a:spcAft>
                <a:spcPts val="0"/>
              </a:spcAft>
            </a:pPr>
            <a:r>
              <a:rPr sz="1250" b="0">
                <a:solidFill>
                  <a:srgbClr val="E6E6E6"/>
                </a:solidFill>
                <a:latin typeface="Consolas"/>
                <a:ea typeface="Consolas"/>
              </a:rPr>
              <a:t>  3  WHERE  opname LIKE 'SYS_EXPORT%' AND sofar &lt;&gt; totalwork;</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STATE : EXECUTING / NOT RUNNING / DEFINING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ATTACH로 제어</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붙어서 명령을 내린다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[oracle@oel7v9r1 ~]$ expdp system/oracle_4U attach=SYS_EXPORT_SCHEMA_01</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Export&gt; STATUS             -- 진행 상황</a:t>
            </a:r>
          </a:p>
          <a:p>
            <a:pPr>
              <a:spcAft>
                <a:spcPts val="0"/>
              </a:spcAft>
            </a:pPr>
            <a:r>
              <a:rPr sz="1250" b="0">
                <a:solidFill>
                  <a:srgbClr val="E6E6E6"/>
                </a:solidFill>
                <a:latin typeface="Consolas"/>
                <a:ea typeface="Consolas"/>
              </a:rPr>
              <a:t>Export&gt; PARALLEL=2         -- 병렬도 변경</a:t>
            </a:r>
          </a:p>
          <a:p>
            <a:pPr>
              <a:spcAft>
                <a:spcPts val="0"/>
              </a:spcAft>
            </a:pPr>
            <a:r>
              <a:rPr sz="1250" b="0">
                <a:solidFill>
                  <a:srgbClr val="E6E6E6"/>
                </a:solidFill>
                <a:latin typeface="Consolas"/>
                <a:ea typeface="Consolas"/>
              </a:rPr>
              <a:t>Export&gt; STOP_JOB=IMMEDIATE -- 중단 (재개 가능)</a:t>
            </a:r>
          </a:p>
          <a:p>
            <a:pPr>
              <a:spcAft>
                <a:spcPts val="0"/>
              </a:spcAft>
            </a:pPr>
            <a:r>
              <a:rPr sz="1250" b="0">
                <a:solidFill>
                  <a:srgbClr val="E6E6E6"/>
                </a:solidFill>
                <a:latin typeface="Consolas"/>
                <a:ea typeface="Consolas"/>
              </a:rPr>
              <a:t>Export&gt; START_JOB          -- 재개</a:t>
            </a:r>
          </a:p>
          <a:p>
            <a:pPr>
              <a:spcAft>
                <a:spcPts val="0"/>
              </a:spcAft>
            </a:pPr>
            <a:r>
              <a:rPr sz="1250" b="0">
                <a:solidFill>
                  <a:srgbClr val="E6E6E6"/>
                </a:solidFill>
                <a:latin typeface="Consolas"/>
                <a:ea typeface="Consolas"/>
              </a:rPr>
              <a:t>Export&gt; KILL_JOB           -- 취소 + 덤프 삭제</a:t>
            </a:r>
          </a:p>
          <a:p>
            <a:pPr>
              <a:spcAft>
                <a:spcPts val="0"/>
              </a:spcAft>
            </a:pPr>
            <a:r>
              <a:rPr sz="1250" b="0">
                <a:solidFill>
                  <a:srgbClr val="E6E6E6"/>
                </a:solidFill>
                <a:latin typeface="Consolas"/>
                <a:ea typeface="Consolas"/>
              </a:rPr>
              <a:t>Export&gt; CONTINUE_CLIENT    -- 로그 출력 모드로</a:t>
            </a:r>
          </a:p>
          <a:p>
            <a:pPr>
              <a:spcAft>
                <a:spcPts val="0"/>
              </a:spcAft>
            </a:pPr>
            <a:r>
              <a:rPr sz="1250" b="0">
                <a:solidFill>
                  <a:srgbClr val="E6E6E6"/>
                </a:solidFill>
                <a:latin typeface="Consolas"/>
                <a:ea typeface="Consolas"/>
              </a:rPr>
              <a:t>Export&gt; EXIT_CLIENT        -- 작업은 두고 빠져나오기</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STOP_JOB : 마스터 테이블과 덤프를 남긴다</a:t>
            </a:r>
          </a:p>
          <a:p>
            <a:pPr>
              <a:spcAft>
                <a:spcPts val="0"/>
              </a:spcAft>
            </a:pPr>
            <a:r>
              <a:rPr sz="1250" b="0">
                <a:solidFill>
                  <a:srgbClr val="7EC699"/>
                </a:solidFill>
                <a:latin typeface="Consolas"/>
                <a:ea typeface="Consolas"/>
              </a:rPr>
              <a:t>-- KILL_JOB : 덤프까지 지운다. 되돌릴 수 없다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마스터 테이블</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재개의 근거</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SELECT owner, table_name, num_rows FROM dba_tables</a:t>
            </a:r>
          </a:p>
          <a:p>
            <a:pPr>
              <a:spcAft>
                <a:spcPts val="0"/>
              </a:spcAft>
            </a:pPr>
            <a:r>
              <a:rPr sz="1250" b="0">
                <a:solidFill>
                  <a:srgbClr val="E6E6E6"/>
                </a:solidFill>
                <a:latin typeface="Consolas"/>
                <a:ea typeface="Consolas"/>
              </a:rPr>
              <a:t>  2  WHERE  table_name LIKE 'SYS_EXPORT%';</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OWNER   TABLE_NAME             NUM_ROWS</a:t>
            </a:r>
          </a:p>
          <a:p>
            <a:pPr>
              <a:spcAft>
                <a:spcPts val="0"/>
              </a:spcAft>
            </a:pPr>
            <a:r>
              <a:rPr sz="1250" b="0">
                <a:solidFill>
                  <a:srgbClr val="7EC699"/>
                </a:solidFill>
                <a:latin typeface="Consolas"/>
                <a:ea typeface="Consolas"/>
              </a:rPr>
              <a:t>------- ---------------------- --------</a:t>
            </a:r>
          </a:p>
          <a:p>
            <a:pPr>
              <a:spcAft>
                <a:spcPts val="0"/>
              </a:spcAft>
            </a:pPr>
            <a:r>
              <a:rPr sz="1250" b="0">
                <a:solidFill>
                  <a:srgbClr val="E6E6E6"/>
                </a:solidFill>
                <a:latin typeface="Consolas"/>
                <a:ea typeface="Consolas"/>
              </a:rPr>
              <a:t>SYSTEM  SYS_EXPORT_SCHEMA_01       1842</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정상 종료 시 자동 삭제, 비정상 종료 시 남는다</a:t>
            </a:r>
          </a:p>
          <a:p>
            <a:pPr>
              <a:spcAft>
                <a:spcPts val="0"/>
              </a:spcAft>
            </a:pPr>
            <a:r>
              <a:rPr sz="1250" b="0">
                <a:solidFill>
                  <a:srgbClr val="7EC699"/>
                </a:solidFill>
                <a:latin typeface="Consolas"/>
                <a:ea typeface="Consolas"/>
              </a:rPr>
              <a:t>-- 남아 있으면 같은 이름을 다시 쓸 수 없다</a:t>
            </a:r>
          </a:p>
          <a:p>
            <a:pPr>
              <a:spcAft>
                <a:spcPts val="0"/>
              </a:spcAft>
            </a:pPr>
            <a:r>
              <a:rPr sz="1250" b="0">
                <a:solidFill>
                  <a:srgbClr val="E6E6E6"/>
                </a:solidFill>
                <a:latin typeface="Consolas"/>
                <a:ea typeface="Consolas"/>
              </a:rPr>
              <a:t>ORA-31634: job already exists</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의미 있는 이름을 직접 준다</a:t>
            </a:r>
          </a:p>
          <a:p>
            <a:pPr>
              <a:spcAft>
                <a:spcPts val="0"/>
              </a:spcAft>
            </a:pPr>
            <a:r>
              <a:rPr sz="1250" b="0">
                <a:solidFill>
                  <a:srgbClr val="E6E6E6"/>
                </a:solidFill>
                <a:latin typeface="Consolas"/>
                <a:ea typeface="Consolas"/>
              </a:rPr>
              <a:t>$ expdp ... job_name=HR_NIGHTLY_0521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DBMS_METADATA로 DDL 추출</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구조 문서화</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SET LONG 20000 PAGESIZE 0 LINESIZE 200</a:t>
            </a:r>
          </a:p>
          <a:p>
            <a:pPr>
              <a:spcAft>
                <a:spcPts val="0"/>
              </a:spcAft>
            </a:pPr>
            <a:r>
              <a:rPr sz="1250" b="0">
                <a:solidFill>
                  <a:srgbClr val="E6E6E6"/>
                </a:solidFill>
                <a:latin typeface="Consolas"/>
                <a:ea typeface="Consolas"/>
              </a:rPr>
              <a:t>SYS@orcl&gt; EXEC DBMS_METADATA.set_transform_param(</a:t>
            </a:r>
          </a:p>
          <a:p>
            <a:pPr>
              <a:spcAft>
                <a:spcPts val="0"/>
              </a:spcAft>
            </a:pPr>
            <a:r>
              <a:rPr sz="1250" b="0">
                <a:solidFill>
                  <a:srgbClr val="E6E6E6"/>
                </a:solidFill>
                <a:latin typeface="Consolas"/>
                <a:ea typeface="Consolas"/>
              </a:rPr>
              <a:t>  2    DBMS_METADATA.session_transform, 'PRETTY', TRUE);</a:t>
            </a:r>
          </a:p>
          <a:p>
            <a:pPr>
              <a:spcAft>
                <a:spcPts val="0"/>
              </a:spcAft>
            </a:pPr>
            <a:r>
              <a:rPr sz="1250" b="0">
                <a:solidFill>
                  <a:srgbClr val="E6E6E6"/>
                </a:solidFill>
                <a:latin typeface="Consolas"/>
                <a:ea typeface="Consolas"/>
              </a:rPr>
              <a:t>SYS@orcl&gt; EXEC DBMS_METADATA.set_transform_param(</a:t>
            </a:r>
          </a:p>
          <a:p>
            <a:pPr>
              <a:spcAft>
                <a:spcPts val="0"/>
              </a:spcAft>
            </a:pPr>
            <a:r>
              <a:rPr sz="1250" b="0">
                <a:solidFill>
                  <a:srgbClr val="E6E6E6"/>
                </a:solidFill>
                <a:latin typeface="Consolas"/>
                <a:ea typeface="Consolas"/>
              </a:rPr>
              <a:t>  2    DBMS_METADATA.session_transform, 'STORAGE', FALSE);</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DBMS_METADATA.get_ddl('TABLE','EMPLOYEES','HR')</a:t>
            </a:r>
          </a:p>
          <a:p>
            <a:pPr>
              <a:spcAft>
                <a:spcPts val="0"/>
              </a:spcAft>
            </a:pPr>
            <a:r>
              <a:rPr sz="1250" b="0">
                <a:solidFill>
                  <a:srgbClr val="E6E6E6"/>
                </a:solidFill>
                <a:latin typeface="Consolas"/>
                <a:ea typeface="Consolas"/>
              </a:rPr>
              <a:t>  2  FROM dual;</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  CREATE TABLE "HR"."EMPLOYEES" ( ... ) TABLESPACE "USERS" ;</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SQLFILE은 덤프 내용, DBMS_METADATA는 현재 상태</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Transportable Tablespace</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대용량 이관의 답</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① SYS@orcl&gt; EXEC DBMS_TTS.transport_set_check('USERS', TRUE);</a:t>
            </a:r>
          </a:p>
          <a:p>
            <a:pPr>
              <a:spcAft>
                <a:spcPts val="0"/>
              </a:spcAft>
            </a:pPr>
            <a:r>
              <a:rPr sz="1250" b="0">
                <a:solidFill>
                  <a:srgbClr val="E6E6E6"/>
                </a:solidFill>
                <a:latin typeface="Consolas"/>
                <a:ea typeface="Consolas"/>
              </a:rPr>
              <a:t>   SYS@orcl&gt; SELECT * FROM transport_set_violations;</a:t>
            </a:r>
          </a:p>
          <a:p>
            <a:pPr>
              <a:spcAft>
                <a:spcPts val="0"/>
              </a:spcAft>
            </a:pPr>
            <a:r>
              <a:rPr sz="1250" b="0">
                <a:solidFill>
                  <a:srgbClr val="E6E6E6"/>
                </a:solidFill>
                <a:latin typeface="Consolas"/>
                <a:ea typeface="Consolas"/>
              </a:rPr>
              <a:t>② SYS@orcl&gt; ALTER TABLESPACE users READ ONLY;</a:t>
            </a:r>
          </a:p>
          <a:p>
            <a:pPr>
              <a:spcAft>
                <a:spcPts val="0"/>
              </a:spcAft>
            </a:pPr>
            <a:r>
              <a:rPr sz="1250" b="0">
                <a:solidFill>
                  <a:srgbClr val="E6E6E6"/>
                </a:solidFill>
                <a:latin typeface="Consolas"/>
                <a:ea typeface="Consolas"/>
              </a:rPr>
              <a:t>③ $ expdp ... transport_tablespaces=users</a:t>
            </a:r>
          </a:p>
          <a:p>
            <a:pPr>
              <a:spcAft>
                <a:spcPts val="0"/>
              </a:spcAft>
            </a:pPr>
            <a:r>
              <a:rPr sz="1250" b="0">
                <a:solidFill>
                  <a:srgbClr val="E6E6E6"/>
                </a:solidFill>
                <a:latin typeface="Consolas"/>
                <a:ea typeface="Consolas"/>
              </a:rPr>
              <a:t>④ $ cp /u03/oradata/ORCL/users01.dbf /u04/target/</a:t>
            </a:r>
          </a:p>
          <a:p>
            <a:pPr>
              <a:spcAft>
                <a:spcPts val="0"/>
              </a:spcAft>
            </a:pPr>
            <a:r>
              <a:rPr sz="1250" b="0">
                <a:solidFill>
                  <a:srgbClr val="E6E6E6"/>
                </a:solidFill>
                <a:latin typeface="Consolas"/>
                <a:ea typeface="Consolas"/>
              </a:rPr>
              <a:t>⑤ $ impdp ... transport_datafiles='/u04/target/users01.dbf'</a:t>
            </a:r>
          </a:p>
          <a:p>
            <a:pPr>
              <a:spcAft>
                <a:spcPts val="0"/>
              </a:spcAft>
            </a:pPr>
            <a:r>
              <a:rPr sz="1250" b="0">
                <a:solidFill>
                  <a:srgbClr val="E6E6E6"/>
                </a:solidFill>
                <a:latin typeface="Consolas"/>
                <a:ea typeface="Consolas"/>
              </a:rPr>
              <a:t>⑥ SYS@orcl&gt; ALTER TABLESPACE users READ WRITE;</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자기 완결성 필요 (17장 TSPITR와 같은 조건)</a:t>
            </a:r>
          </a:p>
          <a:p>
            <a:pPr>
              <a:spcAft>
                <a:spcPts val="0"/>
              </a:spcAft>
            </a:pPr>
            <a:r>
              <a:rPr sz="1250" b="0">
                <a:solidFill>
                  <a:srgbClr val="7EC699"/>
                </a:solidFill>
                <a:latin typeface="Consolas"/>
                <a:ea typeface="Consolas"/>
              </a:rPr>
              <a:t>-- 내보내는 동안 읽기 전용</a:t>
            </a:r>
          </a:p>
          <a:p>
            <a:pPr>
              <a:spcAft>
                <a:spcPts val="0"/>
              </a:spcAft>
            </a:pPr>
            <a:r>
              <a:rPr sz="1250" b="0">
                <a:solidFill>
                  <a:srgbClr val="7EC699"/>
                </a:solidFill>
                <a:latin typeface="Consolas"/>
                <a:ea typeface="Consolas"/>
              </a:rPr>
              <a:t>-- 플랫폼이 다르면 RMAN CONVERT 필요</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상황별 방법 정리</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이 장의 결론</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상황                      | 방법                        | 주의</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스키마 이관               | SCHEMAS + REMAP_SCHEMA      | 권한 별도 부여</a:t>
            </a:r>
          </a:p>
          <a:p>
            <a:pPr>
              <a:spcAft>
                <a:spcPts val="0"/>
              </a:spcAft>
            </a:pPr>
            <a:r>
              <a:rPr sz="1250" b="0">
                <a:solidFill>
                  <a:srgbClr val="E6E6E6"/>
                </a:solidFill>
                <a:latin typeface="Consolas"/>
                <a:ea typeface="Consolas"/>
              </a:rPr>
              <a:t>테이블 몇 개 복원         | TABLES + TABLE_EXISTS_ACTION| SKIP 기본값</a:t>
            </a:r>
          </a:p>
          <a:p>
            <a:pPr>
              <a:spcAft>
                <a:spcPts val="0"/>
              </a:spcAft>
            </a:pPr>
            <a:r>
              <a:rPr sz="1250" b="0">
                <a:solidFill>
                  <a:srgbClr val="E6E6E6"/>
                </a:solidFill>
                <a:latin typeface="Consolas"/>
                <a:ea typeface="Consolas"/>
              </a:rPr>
              <a:t>환경이 다른 곳으로        | REMAP_TABLESPACE, TRANSFORM | SQLFILE 확인</a:t>
            </a:r>
          </a:p>
          <a:p>
            <a:pPr>
              <a:spcAft>
                <a:spcPts val="0"/>
              </a:spcAft>
            </a:pPr>
            <a:r>
              <a:rPr sz="1250" b="0">
                <a:solidFill>
                  <a:srgbClr val="E6E6E6"/>
                </a:solidFill>
                <a:latin typeface="Consolas"/>
                <a:ea typeface="Consolas"/>
              </a:rPr>
              <a:t>버전이 낮은 곳으로        | VERSION                     | 미지정 시 39142</a:t>
            </a:r>
          </a:p>
          <a:p>
            <a:pPr>
              <a:spcAft>
                <a:spcPts val="0"/>
              </a:spcAft>
            </a:pPr>
            <a:r>
              <a:rPr sz="1250" b="0">
                <a:solidFill>
                  <a:srgbClr val="E6E6E6"/>
                </a:solidFill>
                <a:latin typeface="Consolas"/>
                <a:ea typeface="Consolas"/>
              </a:rPr>
              <a:t>일관성이 필요한 내보내기  | FLASHBACK_SCN               | UNDO 보존</a:t>
            </a:r>
          </a:p>
          <a:p>
            <a:pPr>
              <a:spcAft>
                <a:spcPts val="0"/>
              </a:spcAft>
            </a:pPr>
            <a:r>
              <a:rPr sz="1250" b="0">
                <a:solidFill>
                  <a:srgbClr val="E6E6E6"/>
                </a:solidFill>
                <a:latin typeface="Consolas"/>
                <a:ea typeface="Consolas"/>
              </a:rPr>
              <a:t>대용량 이관               | Transportable Tablespace    | 자기 완결성</a:t>
            </a:r>
          </a:p>
          <a:p>
            <a:pPr>
              <a:spcAft>
                <a:spcPts val="0"/>
              </a:spcAft>
            </a:pPr>
            <a:r>
              <a:rPr sz="1250" b="0">
                <a:solidFill>
                  <a:srgbClr val="E6E6E6"/>
                </a:solidFill>
                <a:latin typeface="Consolas"/>
                <a:ea typeface="Consolas"/>
              </a:rPr>
              <a:t>구조만 문서화             | DBMS_METADATA / SQLFILE     | STORAGE 제거</a:t>
            </a:r>
          </a:p>
          <a:p>
            <a:pPr>
              <a:spcAft>
                <a:spcPts val="0"/>
              </a:spcAft>
            </a:pPr>
            <a:r>
              <a:rPr sz="1250" b="0">
                <a:solidFill>
                  <a:srgbClr val="E6E6E6"/>
                </a:solidFill>
                <a:latin typeface="Consolas"/>
                <a:ea typeface="Consolas"/>
              </a:rPr>
              <a:t>네트워크 직접 이관        | NETWORK_LINK                | 중단 시 재시작</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논리 백업 운영 시 점검 항목</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덤프 파일 보관 기간과 삭제 정책</a:t>
            </a:r>
          </a:p>
          <a:p>
            <a:pPr>
              <a:spcAft>
                <a:spcPts val="600"/>
              </a:spcAft>
            </a:pPr>
            <a:r>
              <a:rPr sz="1600" b="0">
                <a:solidFill>
                  <a:srgbClr val="5A6672"/>
                </a:solidFill>
                <a:latin typeface="Malgun Gothic"/>
                <a:ea typeface="Malgun Gothic"/>
              </a:rPr>
              <a:t>    –  쌓이면 디스크가 찬다. find -mtime 으로 정리</a:t>
            </a:r>
          </a:p>
          <a:p>
            <a:pPr>
              <a:spcAft>
                <a:spcPts val="600"/>
              </a:spcAft>
            </a:pPr>
            <a:r>
              <a:rPr sz="1800" b="0">
                <a:solidFill>
                  <a:srgbClr val="202830"/>
                </a:solidFill>
                <a:latin typeface="Malgun Gothic"/>
                <a:ea typeface="Malgun Gothic"/>
              </a:rPr>
              <a:t>•  디렉터리 객체 경로의 공간 감시</a:t>
            </a:r>
          </a:p>
          <a:p>
            <a:pPr>
              <a:spcAft>
                <a:spcPts val="600"/>
              </a:spcAft>
            </a:pPr>
            <a:r>
              <a:rPr sz="1800" b="0">
                <a:solidFill>
                  <a:srgbClr val="202830"/>
                </a:solidFill>
                <a:latin typeface="Malgun Gothic"/>
                <a:ea typeface="Malgun Gothic"/>
              </a:rPr>
              <a:t>•  로그에서 오류와 경고를 검사하는 절차</a:t>
            </a:r>
          </a:p>
          <a:p>
            <a:pPr>
              <a:spcAft>
                <a:spcPts val="600"/>
              </a:spcAft>
            </a:pPr>
            <a:r>
              <a:rPr sz="1600" b="0">
                <a:solidFill>
                  <a:srgbClr val="5A6672"/>
                </a:solidFill>
                <a:latin typeface="Malgun Gothic"/>
                <a:ea typeface="Malgun Gothic"/>
              </a:rPr>
              <a:t>    –  종료 코드만 보면 부분 실패를 놓친다</a:t>
            </a:r>
          </a:p>
          <a:p>
            <a:pPr>
              <a:spcAft>
                <a:spcPts val="600"/>
              </a:spcAft>
            </a:pPr>
            <a:r>
              <a:rPr sz="1800" b="0">
                <a:solidFill>
                  <a:srgbClr val="202830"/>
                </a:solidFill>
                <a:latin typeface="Malgun Gothic"/>
                <a:ea typeface="Malgun Gothic"/>
              </a:rPr>
              <a:t>•  물리 백업을 대체하지 않는다는 점을 문서에 명시</a:t>
            </a:r>
          </a:p>
          <a:p>
            <a:pPr>
              <a:spcAft>
                <a:spcPts val="600"/>
              </a:spcAft>
            </a:pPr>
            <a:r>
              <a:rPr sz="1800" b="0">
                <a:solidFill>
                  <a:srgbClr val="202830"/>
                </a:solidFill>
                <a:latin typeface="Malgun Gothic"/>
                <a:ea typeface="Malgun Gothic"/>
              </a:rPr>
              <a:t>•  암호화 비밀번호 보관 위치 기록</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1</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Data Pump와 exp/imp의 차이</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Data Pump가 기존 exp/imp와 다른 가장 큰 점은?</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명령 이름</a:t>
            </a:r>
          </a:p>
          <a:p>
            <a:pPr>
              <a:spcAft>
                <a:spcPts val="800"/>
              </a:spcAft>
            </a:pPr>
            <a:r>
              <a:rPr sz="1700" b="0">
                <a:solidFill>
                  <a:srgbClr val="202830"/>
                </a:solidFill>
                <a:latin typeface="Malgun Gothic"/>
                <a:ea typeface="Malgun Gothic"/>
              </a:rPr>
              <a:t>서버에서 동작하며 디렉터리 객체를 통해 파일을 다룬다</a:t>
            </a:r>
          </a:p>
          <a:p>
            <a:pPr>
              <a:spcAft>
                <a:spcPts val="800"/>
              </a:spcAft>
            </a:pPr>
            <a:r>
              <a:rPr sz="1700" b="0">
                <a:solidFill>
                  <a:srgbClr val="202830"/>
                </a:solidFill>
                <a:latin typeface="Malgun Gothic"/>
                <a:ea typeface="Malgun Gothic"/>
              </a:rPr>
              <a:t>압축을 지원한다</a:t>
            </a:r>
          </a:p>
          <a:p>
            <a:pPr>
              <a:spcAft>
                <a:spcPts val="800"/>
              </a:spcAft>
            </a:pPr>
            <a:r>
              <a:rPr sz="1700" b="0">
                <a:solidFill>
                  <a:srgbClr val="202830"/>
                </a:solidFill>
                <a:latin typeface="Malgun Gothic"/>
                <a:ea typeface="Malgun Gothic"/>
              </a:rPr>
              <a:t>SQL을 사용한다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2</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TABLE_EXISTS_ACTION의 기본값</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impdp의 TABLE_EXISTS_ACTION 기본값은?</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APPEND</a:t>
            </a:r>
          </a:p>
          <a:p>
            <a:pPr>
              <a:spcAft>
                <a:spcPts val="800"/>
              </a:spcAft>
            </a:pPr>
            <a:r>
              <a:rPr sz="1700" b="0">
                <a:solidFill>
                  <a:srgbClr val="202830"/>
                </a:solidFill>
                <a:latin typeface="Malgun Gothic"/>
                <a:ea typeface="Malgun Gothic"/>
              </a:rPr>
              <a:t>TRUNCATE</a:t>
            </a:r>
          </a:p>
          <a:p>
            <a:pPr>
              <a:spcAft>
                <a:spcPts val="800"/>
              </a:spcAft>
            </a:pPr>
            <a:r>
              <a:rPr sz="1700" b="0">
                <a:solidFill>
                  <a:srgbClr val="202830"/>
                </a:solidFill>
                <a:latin typeface="Malgun Gothic"/>
                <a:ea typeface="Malgun Gothic"/>
              </a:rPr>
              <a:t>REPLACE</a:t>
            </a:r>
          </a:p>
          <a:p>
            <a:pPr>
              <a:spcAft>
                <a:spcPts val="800"/>
              </a:spcAft>
            </a:pPr>
            <a:r>
              <a:rPr sz="1700" b="0">
                <a:solidFill>
                  <a:srgbClr val="202830"/>
                </a:solidFill>
                <a:latin typeface="Malgun Gothic"/>
                <a:ea typeface="Malgun Gothic"/>
              </a:rPr>
              <a:t>SKIP</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3</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STOP_JOB과 KILL_JOB</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STOP_JOB과 KILL_JOB의 차이는?</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같다</a:t>
            </a:r>
          </a:p>
          <a:p>
            <a:pPr>
              <a:spcAft>
                <a:spcPts val="800"/>
              </a:spcAft>
            </a:pPr>
            <a:r>
              <a:rPr sz="1700" b="0">
                <a:solidFill>
                  <a:srgbClr val="202830"/>
                </a:solidFill>
                <a:latin typeface="Malgun Gothic"/>
                <a:ea typeface="Malgun Gothic"/>
              </a:rPr>
              <a:t>STOP_JOB은 재개할 수 있고 KILL_JOB은 덤프까지 지운다</a:t>
            </a:r>
          </a:p>
          <a:p>
            <a:pPr>
              <a:spcAft>
                <a:spcPts val="800"/>
              </a:spcAft>
            </a:pPr>
            <a:r>
              <a:rPr sz="1700" b="0">
                <a:solidFill>
                  <a:srgbClr val="202830"/>
                </a:solidFill>
                <a:latin typeface="Malgun Gothic"/>
                <a:ea typeface="Malgun Gothic"/>
              </a:rPr>
              <a:t>KILL_JOB이 더 안전하다</a:t>
            </a:r>
          </a:p>
          <a:p>
            <a:pPr>
              <a:spcAft>
                <a:spcPts val="800"/>
              </a:spcAft>
            </a:pPr>
            <a:r>
              <a:rPr sz="1700" b="0">
                <a:solidFill>
                  <a:srgbClr val="202830"/>
                </a:solidFill>
                <a:latin typeface="Malgun Gothic"/>
                <a:ea typeface="Malgun Gothic"/>
              </a:rPr>
              <a:t>STOP_JOB이 덤프를 지운다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요약</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논리 백업은 객체와 데이터를 다루며 물리 백업을 대체하지 않는다</a:t>
            </a:r>
          </a:p>
          <a:p>
            <a:pPr>
              <a:spcAft>
                <a:spcPts val="600"/>
              </a:spcAft>
            </a:pPr>
            <a:r>
              <a:rPr sz="1800" b="0">
                <a:solidFill>
                  <a:srgbClr val="202830"/>
                </a:solidFill>
                <a:latin typeface="Malgun Gothic"/>
                <a:ea typeface="Malgun Gothic"/>
              </a:rPr>
              <a:t>•  Data Pump는 서버에서 동작하며 디렉터리 객체가 전제</a:t>
            </a:r>
          </a:p>
          <a:p>
            <a:pPr>
              <a:spcAft>
                <a:spcPts val="600"/>
              </a:spcAft>
            </a:pPr>
            <a:r>
              <a:rPr sz="1800" b="0">
                <a:solidFill>
                  <a:srgbClr val="202830"/>
                </a:solidFill>
                <a:latin typeface="Malgun Gothic"/>
                <a:ea typeface="Malgun Gothic"/>
              </a:rPr>
              <a:t>•  모드는 FULL·SCHEMAS·TABLES·TABLESPACES 네 가지</a:t>
            </a:r>
          </a:p>
          <a:p>
            <a:pPr>
              <a:spcAft>
                <a:spcPts val="600"/>
              </a:spcAft>
            </a:pPr>
            <a:r>
              <a:rPr sz="1800" b="0">
                <a:solidFill>
                  <a:srgbClr val="202830"/>
                </a:solidFill>
                <a:latin typeface="Malgun Gothic"/>
                <a:ea typeface="Malgun Gothic"/>
              </a:rPr>
              <a:t>•  TABLE_EXISTS_ACTION 기본값 SKIP에 주의</a:t>
            </a:r>
          </a:p>
          <a:p>
            <a:pPr>
              <a:spcAft>
                <a:spcPts val="600"/>
              </a:spcAft>
            </a:pPr>
            <a:r>
              <a:rPr sz="1800" b="0">
                <a:solidFill>
                  <a:srgbClr val="202830"/>
                </a:solidFill>
                <a:latin typeface="Malgun Gothic"/>
                <a:ea typeface="Malgun Gothic"/>
              </a:rPr>
              <a:t>•  REMAP과 TRANSFORM으로 다른 환경에 반입</a:t>
            </a:r>
          </a:p>
          <a:p>
            <a:pPr>
              <a:spcAft>
                <a:spcPts val="600"/>
              </a:spcAft>
            </a:pPr>
            <a:r>
              <a:rPr sz="1800" b="0">
                <a:solidFill>
                  <a:srgbClr val="202830"/>
                </a:solidFill>
                <a:latin typeface="Malgun Gothic"/>
                <a:ea typeface="Malgun Gothic"/>
              </a:rPr>
              <a:t>•  PARALLEL은 %U와 함께, 일관성은 FLASHBACK_SCN</a:t>
            </a:r>
          </a:p>
          <a:p>
            <a:pPr>
              <a:spcAft>
                <a:spcPts val="600"/>
              </a:spcAft>
            </a:pPr>
            <a:r>
              <a:rPr sz="1800" b="0">
                <a:solidFill>
                  <a:srgbClr val="202830"/>
                </a:solidFill>
                <a:latin typeface="Malgun Gothic"/>
                <a:ea typeface="Malgun Gothic"/>
              </a:rPr>
              <a:t>•  작업은 중단·재개 가능하며 마스터 테이블이 근거</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실습 19 개요</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19-1 디렉터리 객체와 권한  ·  19-2 스키마 Export</a:t>
            </a:r>
          </a:p>
          <a:p>
            <a:pPr>
              <a:spcAft>
                <a:spcPts val="600"/>
              </a:spcAft>
            </a:pPr>
            <a:r>
              <a:rPr sz="1800" b="0">
                <a:solidFill>
                  <a:srgbClr val="202830"/>
                </a:solidFill>
                <a:latin typeface="Malgun Gothic"/>
                <a:ea typeface="Malgun Gothic"/>
              </a:rPr>
              <a:t>•  19-3 테이블 Import 복원  ·  19-4 FULL과 TABLESPACES 모드</a:t>
            </a:r>
          </a:p>
          <a:p>
            <a:pPr>
              <a:spcAft>
                <a:spcPts val="600"/>
              </a:spcAft>
            </a:pPr>
            <a:r>
              <a:rPr sz="1800" b="0">
                <a:solidFill>
                  <a:srgbClr val="202830"/>
                </a:solidFill>
                <a:latin typeface="Malgun Gothic"/>
                <a:ea typeface="Malgun Gothic"/>
              </a:rPr>
              <a:t>•  19-5 REMAP과 TRANSFORM  ·  19-6 PARALLEL·COMPRESSION·ESTIMATE</a:t>
            </a:r>
          </a:p>
          <a:p>
            <a:pPr>
              <a:spcAft>
                <a:spcPts val="600"/>
              </a:spcAft>
            </a:pPr>
            <a:r>
              <a:rPr sz="1800" b="0">
                <a:solidFill>
                  <a:srgbClr val="202830"/>
                </a:solidFill>
                <a:latin typeface="Malgun Gothic"/>
                <a:ea typeface="Malgun Gothic"/>
              </a:rPr>
              <a:t>•  19-7 FLASHBACK_SCN 일관성  ·  19-8 NETWORK_LINK와 VERSION</a:t>
            </a:r>
          </a:p>
          <a:p>
            <a:pPr>
              <a:spcAft>
                <a:spcPts val="600"/>
              </a:spcAft>
            </a:pPr>
            <a:r>
              <a:rPr sz="1800" b="0">
                <a:solidFill>
                  <a:srgbClr val="202830"/>
                </a:solidFill>
                <a:latin typeface="Malgun Gothic"/>
                <a:ea typeface="Malgun Gothic"/>
              </a:rPr>
              <a:t>•  19-9 작업 모니터링과 제어</a:t>
            </a:r>
          </a:p>
          <a:p>
            <a:pPr>
              <a:spcAft>
                <a:spcPts val="600"/>
              </a:spcAft>
            </a:pPr>
            <a:r>
              <a:rPr sz="1800" b="0">
                <a:solidFill>
                  <a:srgbClr val="202830"/>
                </a:solidFill>
                <a:latin typeface="Malgun Gothic"/>
                <a:ea typeface="Malgun Gothic"/>
              </a:rPr>
              <a:t>•  19-10 DBMS_METADATA와 Transportable Tablespace</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200"/>
              </a:spcAft>
            </a:pPr>
            <a:r>
              <a:rPr sz="1300" b="1">
                <a:solidFill>
                  <a:srgbClr val="1F5CA8"/>
                </a:solidFill>
                <a:latin typeface="Malgun Gothic"/>
                <a:ea typeface="Malgun Gothic"/>
              </a:rPr>
              <a:t>실습 준비:</a:t>
            </a:r>
          </a:p>
          <a:p>
            <a:pPr>
              <a:spcAft>
                <a:spcPts val="0"/>
              </a:spcAft>
            </a:pPr>
            <a:r>
              <a:rPr sz="1250" b="0">
                <a:solidFill>
                  <a:srgbClr val="202830"/>
                </a:solidFill>
                <a:latin typeface="Malgun Gothic"/>
                <a:ea typeface="Malgun Gothic"/>
              </a:rPr>
              <a:t>/u03/dpdump 경로에 5GB 이상 여유와 oracle 사용자 쓰기 권한이 필요하다.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
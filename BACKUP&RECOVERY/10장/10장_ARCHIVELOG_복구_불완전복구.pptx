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8장과 9장은 완전 복구가 성립하는 경우를 다뤘다. 10장은 그 조건이 깨졌을 때의 선택지다. 아카이브가 손상되었거나 삭제되어 되살릴 수 없는 구간이 생기면 그 앞까지만 복구한다. 불완전 복구는 실패가 아니라 조건에 맞는 선택이며 손실 범위를 통제하는 기술이다. 사용자 실수를 되돌리는 용도로도 쓰인다. 본문 26,296자를 발표용으로 압축한 자료다. 네 가지 기준을 하나씩 실습하며 차이를 몸으로 익히는 것이 이 장의 목표다.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목표는 '어디서 멈출 것인가'라는 하나의 질문으로 수렴한다. 멈출 지점을 정하는 방법이 네 가지이고, 그 지점을 고르는 근거를 확보하는 방법이 또 몇 가지 있다. 기술적으로는 어렵지 않지만 판단이 어렵다는 점이 이 장의 특징이다. 잘못 정하면 손실이 커지거나 되돌리려던 변경이 남으므로 검증 절차가 중요하다. 실습 순서도 이 목표 순서를 따르므로 강의와 실습이 자연스럽게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절 중 앞의 네 개가 하나의 주제를 방법별로 나눈 것이고 10.5절이 공통 후처리다. 10.6절은 별도 주제이지만 CLEAR UNARCHIVED가 복구 범위를 줄인다는 점에서 같은 축에 있다. 실습이 일곱 개이며 10-1부터 10-4까지가 네 기준을 하나씩 다루므로 반복 학습이 된다. 이론은 90분 안에 마치고 실습에 시간을 넉넉히 배분한다. 10.5절은 네 방식 공통의 후처리이므로 어느 실습을 하든 반복해서 확인하게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10.1절은 나머지 절의 전제를 세운다. 불완전 복구가 무엇이고 언제 선택하는지, 그리고 어떤 절차를 공통으로 밟는지를 다룬다. 가장 자주 실수하는 지점이 복원 범위다. 손상된 파일만 복원하면 되는 완전 복구와 달리 불완전 복구는 모든 데이터파일을 되돌려야 한다. 데이터베이스 전체를 과거로 보내는 작업이기 때문이다. 이 오해가 ORA-01152라는 형태로 드러나며 실습에서 직접 재현한다.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의도적 시점 복귀는 이 과정에서 가장 무거운 도구다. 정상적으로 처리된 다른 업무까지 함께 사라지므로 영향 범위가 크다. 그래서 대안을 먼저 검토하도록 지도한다. Flashback Table이나 Flashback Query는 해당 테이블만 되돌리므로 훨씬 가볍고, RECOVER TABLE은 명령 한 줄로 특정 테이블만 시점 복구한다. 이 장의 방법은 최후의 선택지다.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CHANGE와 SEQUENCE가 '직전까지'라는 점을 반복해서 강조한다. 지정한 값은 포함되지 않는다. 되돌리려는 DELETE의 SCN을 그대로 지정하면 그 DELETE 직전 상태가 되므로 직관과 일치한다. 결손 시퀀스를 그대로 지정하는 것도 같은 원리다. 이 규칙을 헷갈리면 한 트랜잭션만큼 어긋난 지점으로 복구하게 되므로 실습에서 확인시킨다. 네 기준의 차이는 결과가 아니라 조작 방식과 필요한 사전 정보에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ORA-01152는 이 장에서 가장 자주 만나는 오류다. 메시지를 그대로 읽으면 '충분히 오래된 백업본에서 복원되지 않았다'는 뜻이다. 어느 파일이 문제인지 알려 주므로 그 파일만 다시 복원하면 된다. v$datafile_header 로 파일별 체크포인트 시각을 비교하면 어긋난 파일을 한눈에 찾을 수 있다. 백업 세트를 섞어 쓰지 않는 것이 근본 대책이다.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Hot Backup의 최소 복구 지점은 실습에서 반드시 확인시켜야 하는 개념이다. 백업 중 fuzzy 상태였던 블록을 리두로 정리해야 일관성이 맞으므로 END BACKUP 이전으로는 복구 지점을 잡을 수 없다. 시도하면 ORA-01113으로 오픈이 거부된다. 따라서 복구 목표 시각이 백업 완료 시각보다 이르면 더 오래된 백업 세트를 찾아야 한다. Cold Backup은 실무에서 드물지만 기준을 이해하는 데 좋은 대조군이 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10.2절은 가장 유연한 방식이다. 단계마다 확인하며 진행할 수 있어 판단 근거가 부족할 때 유용하다. 대신 프롬프트 조작이 필요해 실수 여지가 있다. CANCEL을 너무 일찍 입력하면 오픈이 거부되고 너무 늦게 입력하면 되돌리려던 변경까지 적용된다. 그래서 이 절 후반에서 다시 시작하는 방법과 READ ONLY 검증을 함께 다룬다. 이 절의 실습이 10-1이며 아카이브 결손 상황을 그대로 재현한다.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엔터만 치면 제안된 파일이 적용되므로 아카이브가 연속인 구간은 빠르게 넘길 수 있다. 끊긴 지점에 도달하면 그때 CANCEL을 입력한다. 끊긴 시퀀스를 미리 알아 두면 몇 번 엔터를 쳐야 하는지 예상할 수 있어 조작이 수월하다. Media recovery cancelled. 메시지를 확인한 뒤 RESETLOGS로 넘어간다. AUTORECOVERY를 끄고 진행해야 프롬프트에서 판단할 기회가 생긴다.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비대칭이 실무의 요령을 만든다. 부족하면 이어서 적용하면 되지만 지나치면 처음부터 다시 해야 한다. 따라서 목표보다 조금 이르게 잡고 READ ONLY로 확인하며 조금씩 나아가는 방식이 안전하다. 복원부터 다시 하는 것은 시간이 오래 걸리므로 대형 데이터베이스에서는 특히 부담이 크다. 복구 보고서에는 SCN과 시각, 마지막 적용 시퀀스를 함께 기록한다.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사례를 들어 주면 효과적이다. 잘못된 대량 UPDATE를 되돌리려 시점 복구를 했는데 READ ONLY로 확인해 보니 목표 시각이 30분 이르게 잡혀 정상 업무 데이터까지 사라진 상태였던 경우가 있다. 다시 MOUNT로 내려 30분 더 적용한 뒤 RESETLOGS로 열어 손실을 최소화했다. RESETLOGS를 먼저 했다면 되돌릴 수 없었을 상황이다. READ ONLY 검증은 이 장 전체에서 가장 실용적인 습관이므로 반복해서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10.3절은 실무에서 가장 자주 쓰는 기준이다. 사고 보고가 대개 시각으로 들어오기 때문이다. 다만 시각만으로는 같은 순간의 여러 트랜잭션을 구분할 수 없다는 한계가 있다. 그래서 시점 선정의 근거를 어떻게 확보하는지가 이 절의 핵심이다. 애플리케이션 로그, 감사 로그, LogMiner 세 가지 경로를 다룬다. 시각 근거 없이 추측으로 지정하면 손실 범위를 통제할 수 없다.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NLS 형식을 지정하지 않으면 세션 기본값을 따르는데 환경에 따라 다르므로 혼동이 생긴다. ALTER SESSION 한 줄을 습관처럼 먼저 실행하도록 지도한다. 지정 시각까지의 리두가 적용되고 커밋되지 않은 트랜잭션은 롤백되므로 일관성 있는 상태가 된다. 적용할 아카이브가 자동으로 선택되어 프롬프트가 뜨지 않는다는 점도 CANCEL 방식과 다르다. 이 한 줄을 빠뜨려 형식 오류로 시간을 낭비하는 경우가 실습에서도 흔하다.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장애로 강제된 경우에는 '어디까지 갈 수 있는가'를 먼저 계산한다. 연속된 마지막 시퀀스의 NEXT_CHANGE# 직전이 한계다. 그 값을 시각으로 환산해 두면 현업에 손실 구간을 즉시 안내할 수 있다. 사용자 실수를 되돌리는 경우에는 반대로 '어디서 멈춰야 하는가'를 찾는다. 두 경우 모두 근거 자료 없이 시각을 추측해서는 안 된다. 두 방향의 계산을 모두 익혀야 상황에 맞게 근거를 만들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LogMiner는 사고 시각이 불분명할 때 결정적인 도구다. 어떤 DML이 언제 어떤 SCN에서 수행되었는지 직접 확인할 수 있으므로 추측이 필요 없다. 찾아낸 SCN을 UNTIL CHANGE 에 그대로 쓰면 그 DML 직전 상태로 복구된다. 중요한 제약은 복구 전에 수행해야 한다는 것이다. 복구 후에는 그 리두가 이미 적용되었거나 RESETLOGS로 끊긴 상태가 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10.4절은 앞의 두 방식을 보완하는 기준을 다룬다. SCN 기준은 시각보다 정밀해 같은 순간의 여러 트랜잭션도 구분할 수 있다. 시퀀스 기준은 아카이브 결손 상황에서 빠진 번호를 그대로 지정하면 되므로 계산이 필요 없다. 두 기준 모두 지정 값이 포함되지 않는다는 규칙이 같다. SCN과 시퀀스 기준은 프롬프트 조작이 없어 실수 여지가 가장 적다는 점도 함께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TIMESTAMP_TO_SCN 은 시각을 SCN으로 환산하므로 두 기준을 오갈 수 있다. 다만 변환 가능 범위가 대략 최근 5일이라는 제약이 있어 오래된 시점은 ORA-08181로 실패한다. 시퀀스 기준에서는 THREAD 절을 함께 지정한다. 단일 인스턴스는 THREAD 1이며 RAC에서는 스레드마다 지정해야 한다는 점도 함께 언급한다. RAC 환경에서는 스레드마다 지정해야 한다는 점도 함께 기억한다.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기준은 결과가 같을 수 있으나 조작 난이도와 정밀도가 다르다. 아는 것이 많을수록 정밀한 기준을 쓸 수 있다는 원칙으로 정리하면 기억하기 쉽다. 실무에서는 TIME과 SEQUENCE가 대부분을 차지하고, 정밀한 되돌림이 필요할 때만 CHANGE를 쓴다. 어떤 기준을 쓰든 결론은 같다. RESETLOGS로 열고 즉시 전체 백업을 받는다. 정보가 부족하면 CANCEL로 시작해 단계적으로 좁혀 가는 방법이 안전하다.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10.5절은 네 기준 모두의 공통 후처리를 다룬다. RESETLOGS는 단순히 리두를 비우는 것이 아니라 리두의 계보를 새로 시작하는 선언이다. 그래서 이전 백업본과 아카이브가 그대로는 쓸 수 없게 된다. 이 개념을 정확히 이해해야 복구 후 백업 정책을 제대로 세울 수 있다. 인카네이션 이력은 v$database_incarnation 으로 언제든 확인할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인카네이션 번호가 2로 올라가고 이전 것이 PARENT가 된다. 시퀀스는 1부터 다시 시작한다. 여기서 문제가 생긴다. 같은 시퀀스 번호가 서로 다른 인카네이션에서 다른 내용을 가리키게 된다. 그래서 파일명에 RESETLOGS_ID를 넣는 %r 형식이 중요하다. 19c의 기본 형식에는 포함되어 있지만 예전 설정을 물려받은 환경에서는 확인이 필요하다. 이 절의 내용은 15장 RMAN 복구에서도 그대로 재사용된다.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RMAN 환경에서는 RESET DATABASE TO INCARNATION 으로 이전 계보로 되돌릴 수 있다. 그래서 이전 백업본을 성급히 폐기하지 않는 것이 좋다. 다만 라벨 없이 섞이면 복구 시 어느 것이 쓸 수 있는 백업인지 판단할 수 없으므로 구분 보관이 전제다. 매니페스트에 인카네이션 정보를 함께 남기는 습관을 들이도록 지도한다. %r 이 없는 예전 형식을 쓰는 환경이라면 즉시 형식을 바꾸는 것이 안전하다.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10.6절은 7장의 리두 로그 장애를 ARCHIVELOG 환경에서 다시 본다. 처리 원칙은 같지만 확인해야 할 항목이 하나 늘어난다. 그 그룹이 이미 아카이브되었는지 여부다. 아카이브되었으면 내용이 파일로 남아 있으므로 CLEAR 해도 잃을 것이 없다. 아카이브되지 않았으면 UNARCHIVED가 필요하고 그만큼 복구 범위가 줄어든다. 매니페스트에 인카네이션을 남기는 습관이 다음 담당자의 판단을 좌우한다.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ORA-00350은 '아직 아카이브되지 않았다'는 뜻이며 7장의 ORA-01624와 구분해야 한다. ORA-01624는 인스턴스 복구에 필요하다는 뜻이고 ORA-00350은 아카이브가 남아 있지 않다는 뜻이다. 두 경우 모두 UNARCHIVED로 우회할 수 있지만 대가가 다르다. 후자는 미디어 복구용 리두를 잃는 것이므로 이전 백업본이 무효가 된다. 7장과 같은 원칙이지만 확인 항목이 하나 늘어난다는 점이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ARCHIVED가 NO인 이유를 먼저 확인하라는 것이 이 슬라이드의 메시지다. 아카이브 대상 문제로 밀린 것이라면 대상을 고치고 ALTER SYSTEM ARCHIVE LOG ALL 로 처리하면 손실이 없다. 파일이 이미 없어 아카이브할 수 없는 경우에만 UNARCHIVED를 쓴다. 7장에서 다룬 CLEAR 남용의 위험이 ARCHIVELOG 환경에서도 그대로 적용된다.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ARCHIVED가 YES이므로 그 그룹의 내용이 이미 아카이브에 남아 있다. 따라서 CLEAR 해도 미디어 복구용 리두를 잃지 않는다. 정상 종료 상태여서 인스턴스 복구도 필요 없으므로 CLEAR 후 바로 열린다. 이것이 리두 로그 장애 중 가장 단순한 경로이며 7장에서 익힌 절차가 ARCHIVELOG 환경에서도 그대로 적용된다는 것을 확인시킨다. 실습 10-7의 앞부분이 이 경우이며 뒷부분에서 운영 중 손상을 다룬다.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완전 복구의 검증 항목에 두 가지가 추가된다. 되돌리려던 변경이 사라졌는지와 정상 업무 데이터가 남아 있는지다. 두 항목은 서로 반대 방향이라 함께 확인해야 균형이 맞는다. 너무 이른 지점으로 복구하면 앞 항목은 만족하지만 뒤 항목이 깨진다. READ ONLY 단계에서 이미 확인했더라도 RESETLOGS 후 다시 한 번 확인하는 것이 안전하다. 검증을 마친 뒤에야 복구가 끝났다고 보고할 수 있다는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불완전 복구는 손실을 동반하므로 보고가 절차의 일부다. 기술적 복구가 끝나도 업무 재처리가 남아 있기 때문이다. SCN만 적으면 현업이 무엇을 다시 해야 하는지 판단할 수 없으므로 반드시 업무 시각으로 환산해 제시한다. 핵심 테이블의 최종 갱신 시각을 함께 적으면 재처리 범위를 정하는 데 직접 쓸 수 있다. 보고 양식을 미리 만들어 두면 장애 대응 시간이 크게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조회의 결과를 그대로 보고서에 옮기면 필요한 항목이 거의 채워진다. 첫 번째가 복구 시점, 두 번째가 인카네이션 변경, 세 번째가 업무 관점의 마지막 데이터다. 이 세 줄을 표준 양식으로 만들어 두면 복구 때마다 같은 형식으로 보고할 수 있다. SCN_TO_TIMESTAMP 는 최근 값만 변환하므로 복구 직후에 수행해야 한다는 점도 유의한다. 세 조회를 스크립트로 묶어 복구 절차서 마지막 단계에 넣어 둔다.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표에서 읽어야 할 원칙은 세 가지다. 첫째, 기준 선택은 정보량에 따라 정해지며 아는 것이 많을수록 정밀해진다. 둘째, Hot Backup 기반에는 최소 복구 지점이 있어 END BACKUP 이전으로는 갈 수 없다. 셋째, CLEAR UNARCHIVED는 복구 범위를 스스로 줄이는 선택이다. 그리고 모든 불완전 복구는 RESETLOGS와 즉시 전체 백업으로 끝난다.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데이터베이스 전체를 과거 시점으로 되돌리는 작업이므로 모든 파일이 그 시점보다 이전 백업본이어야 한다. 일부만 과거로 가면 SCN이 어긋나 ORA-01152가 발생한다. 완전 복구에서는 손상된 파일만 복원하면 되므로 두 경우를 명확히 구분해야 한다. 백업 세트를 섞어 쓰지 않는 것이 이 오류를 피하는 근본 대책이다. 세 축을 표로 정리해 두면 장애 상황에서 판단 시간이 크게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UNTIL CHANGE 와 UNTIL SEQUENCE 는 모두 지정 값 직전까지 적용한다. 되돌리려는 트랜잭션의 SCN을 그대로 지정하면 그 직전 상태가 되므로 직관과 일치한다. 결손 시퀀스를 그대로 지정하는 것도 같은 원리이며, 이 규칙을 헷갈리면 한 트랜잭션이나 한 로그만큼 어긋난 지점으로 복구하게 된다. 실습 10-1에서 이 오류를 직접 만들어 보고 대응까지 수행한다.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READ ONLY로 열면 조회가 가능하고 만족스럽지 않으면 다시 MOUNT로 내려 복구를 이어 갈 수 있다. RESETLOGS 후에는 인카네이션이 바뀌어 되돌리기 어렵다. 다만 덜 적용한 경우에만 이어 갈 수 있고 지나치게 적용했다면 복원부터 다시 해야 한다. 그래서 복구 지점은 보수적으로 잡는 편이 안전하다. 실습에서 두 기준을 나란히 수행해 결과가 같은지 확인시킨다.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요약의 일곱 줄이 그대로 실무 체크리스트가 된다. 특히 두 번째와 다섯 번째가 사고가 잦은 지점이다. 복원 범위를 잘못 잡아 ORA-01152를 만나거나, 검증 없이 RESETLOGS를 수행해 되돌릴 기회를 잃는다. 다음 장에서는 CURRENT 리두 로그 장애와 컨트롤파일 복구를 ARCHIVELOG 환경에서 다룬다. 불완전 복구가 그 장에서도 자주 등장하므로 이 장의 절차를 확실히 익혀 두어야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10-1부터 10-4까지가 네 기준을 하나씩 다루므로 같은 상황을 방법만 바꿔 반복한다. 반복이 지루하지 않도록 각 실습의 진단 단계를 다르게 구성했다. 시간이 부족하면 10-4와 10-6을 시연으로 대체하고 10-2와 10-5는 반드시 직접 수행하게 한다. READ ONLY 검증과 최소 복구 지점이 이 장에서 가장 중요한 학습 지점이기 때문이다. 요약을 인쇄해 복구 절차서 앞에 붙여 두면 실무에서 바로 쓸 수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Database 19c Backup &amp; Recovery  ·  제10장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ARCHIVELOG 복구 ③ 불완전 복구와 INACTIVE 리두로그 장애</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네 가지 기준 · 복구 지점 선정 · READ ONLY 검증 · RESETLOGS와 인카네이션 · CLEAR 판단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장을 마치면 다음을 수행할 수 있어야 한다.</a:t>
            </a:r>
          </a:p>
          <a:p>
            <a:pPr>
              <a:spcAft>
                <a:spcPts val="600"/>
              </a:spcAft>
            </a:pPr>
            <a:r>
              <a:rPr sz="1600" b="0">
                <a:solidFill>
                  <a:srgbClr val="5A6672"/>
                </a:solidFill>
                <a:latin typeface="Malgun Gothic"/>
                <a:ea typeface="Malgun Gothic"/>
              </a:rPr>
              <a:t>    –  완전 복구가 불가능한 조건을 판정하고 전환한다</a:t>
            </a:r>
          </a:p>
          <a:p>
            <a:pPr>
              <a:spcAft>
                <a:spcPts val="600"/>
              </a:spcAft>
            </a:pPr>
            <a:r>
              <a:rPr sz="1600" b="0">
                <a:solidFill>
                  <a:srgbClr val="5A6672"/>
                </a:solidFill>
                <a:latin typeface="Malgun Gothic"/>
                <a:ea typeface="Malgun Gothic"/>
              </a:rPr>
              <a:t>    –  네 가지 기준으로 복구 지점을 지정한다</a:t>
            </a:r>
          </a:p>
          <a:p>
            <a:pPr>
              <a:spcAft>
                <a:spcPts val="600"/>
              </a:spcAft>
            </a:pPr>
            <a:r>
              <a:rPr sz="1600" b="0">
                <a:solidFill>
                  <a:srgbClr val="5A6672"/>
                </a:solidFill>
                <a:latin typeface="Malgun Gothic"/>
                <a:ea typeface="Malgun Gothic"/>
              </a:rPr>
              <a:t>    –  복구 지점 선정 근거를 자료로 확보한다</a:t>
            </a:r>
          </a:p>
          <a:p>
            <a:pPr>
              <a:spcAft>
                <a:spcPts val="600"/>
              </a:spcAft>
            </a:pPr>
            <a:r>
              <a:rPr sz="1600" b="0">
                <a:solidFill>
                  <a:srgbClr val="5A6672"/>
                </a:solidFill>
                <a:latin typeface="Malgun Gothic"/>
                <a:ea typeface="Malgun Gothic"/>
              </a:rPr>
              <a:t>    –  RESETLOGS 이후 인카네이션 변화와 후속 조치를 설명한다</a:t>
            </a:r>
          </a:p>
          <a:p>
            <a:pPr>
              <a:spcAft>
                <a:spcPts val="600"/>
              </a:spcAft>
            </a:pPr>
            <a:r>
              <a:rPr sz="1600" b="0">
                <a:solidFill>
                  <a:srgbClr val="5A6672"/>
                </a:solidFill>
                <a:latin typeface="Malgun Gothic"/>
                <a:ea typeface="Malgun Gothic"/>
              </a:rPr>
              <a:t>    –  Hot/Cold Backup 기반 불완전 복구의 차이를 구분한다</a:t>
            </a:r>
          </a:p>
          <a:p>
            <a:pPr>
              <a:spcAft>
                <a:spcPts val="600"/>
              </a:spcAft>
            </a:pPr>
            <a:r>
              <a:rPr sz="1600" b="0">
                <a:solidFill>
                  <a:srgbClr val="5A6672"/>
                </a:solidFill>
                <a:latin typeface="Malgun Gothic"/>
                <a:ea typeface="Malgun Gothic"/>
              </a:rPr>
              <a:t>    –  INACTIVE 리두 로그 손상을 상황별로 처리한다</a:t>
            </a:r>
          </a:p>
          <a:p>
            <a:pPr>
              <a:spcAft>
                <a:spcPts val="600"/>
              </a:spcAft>
            </a:pPr>
            <a:r>
              <a:rPr sz="1800" b="0">
                <a:solidFill>
                  <a:srgbClr val="202830"/>
                </a:solidFill>
                <a:latin typeface="Malgun Gothic"/>
                <a:ea typeface="Malgun Gothic"/>
              </a:rPr>
              <a:t>•  여섯 목표는 각각 10.1 / 10.2~10.4 / 10.3.2 / 10.5 / 10.1.4 / 10.6 절과 대응된다.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10.1  불완전 복구의 개념과 조건 — 선택 상황 · 네 기준 · 공통 절차 · 백업 종류</a:t>
            </a:r>
          </a:p>
          <a:p>
            <a:pPr>
              <a:spcAft>
                <a:spcPts val="600"/>
              </a:spcAft>
            </a:pPr>
            <a:r>
              <a:rPr sz="1800" b="0">
                <a:solidFill>
                  <a:srgbClr val="202830"/>
                </a:solidFill>
                <a:latin typeface="Malgun Gothic"/>
                <a:ea typeface="Malgun Gothic"/>
              </a:rPr>
              <a:t>•  10.2  Cancel-based — 절차 · 중단 지점 판정 · 다시 시작하기</a:t>
            </a:r>
          </a:p>
          <a:p>
            <a:pPr>
              <a:spcAft>
                <a:spcPts val="600"/>
              </a:spcAft>
            </a:pPr>
            <a:r>
              <a:rPr sz="1800" b="0">
                <a:solidFill>
                  <a:srgbClr val="202830"/>
                </a:solidFill>
                <a:latin typeface="Malgun Gothic"/>
                <a:ea typeface="Malgun Gothic"/>
              </a:rPr>
              <a:t>•  10.3  Time-based — UNTIL TIME · 시점 선정 근거 · LogMiner</a:t>
            </a:r>
          </a:p>
          <a:p>
            <a:pPr>
              <a:spcAft>
                <a:spcPts val="600"/>
              </a:spcAft>
            </a:pPr>
            <a:r>
              <a:rPr sz="1800" b="0">
                <a:solidFill>
                  <a:srgbClr val="202830"/>
                </a:solidFill>
                <a:latin typeface="Malgun Gothic"/>
                <a:ea typeface="Malgun Gothic"/>
              </a:rPr>
              <a:t>•  10.4  SCN·시퀀스 기준 — UNTIL CHANGE · UNTIL SEQUENCE · 선택 요령</a:t>
            </a:r>
          </a:p>
          <a:p>
            <a:pPr>
              <a:spcAft>
                <a:spcPts val="600"/>
              </a:spcAft>
            </a:pPr>
            <a:r>
              <a:rPr sz="1800" b="0">
                <a:solidFill>
                  <a:srgbClr val="202830"/>
                </a:solidFill>
                <a:latin typeface="Malgun Gothic"/>
                <a:ea typeface="Malgun Gothic"/>
              </a:rPr>
              <a:t>•  10.5  RESETLOGS와 인카네이션 — 의미 · 아카이브 · 이후 백업 정책</a:t>
            </a:r>
          </a:p>
          <a:p>
            <a:pPr>
              <a:spcAft>
                <a:spcPts val="600"/>
              </a:spcAft>
            </a:pPr>
            <a:r>
              <a:rPr sz="1800" b="0">
                <a:solidFill>
                  <a:srgbClr val="202830"/>
                </a:solidFill>
                <a:latin typeface="Malgun Gothic"/>
                <a:ea typeface="Malgun Gothic"/>
              </a:rPr>
              <a:t>•  10.6  INACTIVE 리두 로그 장애 — ARCHIVED 확인 · CLEAR 판단</a:t>
            </a:r>
          </a:p>
          <a:p>
            <a:pPr>
              <a:spcAft>
                <a:spcPts val="600"/>
              </a:spcAft>
            </a:pPr>
            <a:r>
              <a:rPr sz="1800" b="0">
                <a:solidFill>
                  <a:srgbClr val="202830"/>
                </a:solidFill>
                <a:latin typeface="Malgun Gothic"/>
                <a:ea typeface="Malgun Gothic"/>
              </a:rPr>
              <a:t>•  10.7 판단표 · 10.8 퀴즈 · 요약 · 실습 7 개요</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실습은 ARCHIVELOG 환경에서 진행하며, 각 실습 전 전체 백업을 새로 받아 둔다.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10.1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불완전 복구의 개념과 조건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특정 시점까지만 리두를 적용하고 멈추는 복구</a:t>
            </a:r>
          </a:p>
          <a:p>
            <a:pPr>
              <a:spcAft>
                <a:spcPts val="600"/>
              </a:spcAft>
            </a:pPr>
            <a:r>
              <a:rPr sz="1600" b="0">
                <a:solidFill>
                  <a:srgbClr val="C5CED6"/>
                </a:solidFill>
                <a:latin typeface="Malgun Gothic"/>
                <a:ea typeface="Malgun Gothic"/>
              </a:rPr>
              <a:t>•  강제되는 경우와 의도하는 경우가 있다</a:t>
            </a:r>
          </a:p>
          <a:p>
            <a:pPr>
              <a:spcAft>
                <a:spcPts val="600"/>
              </a:spcAft>
            </a:pPr>
            <a:r>
              <a:rPr sz="1600" b="0">
                <a:solidFill>
                  <a:srgbClr val="C5CED6"/>
                </a:solidFill>
                <a:latin typeface="Malgun Gothic"/>
                <a:ea typeface="Malgun Gothic"/>
              </a:rPr>
              <a:t>•  모든 데이터파일을 그 시점 이전 백업본으로 복원해야 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언제 선택하는가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강제되는 경우 — 필요한 아카이브가 손상·삭제되어 완전 복구 불가</a:t>
            </a:r>
          </a:p>
          <a:p>
            <a:pPr>
              <a:spcAft>
                <a:spcPts val="600"/>
              </a:spcAft>
            </a:pPr>
            <a:r>
              <a:rPr sz="1800" b="0">
                <a:solidFill>
                  <a:srgbClr val="202830"/>
                </a:solidFill>
                <a:latin typeface="Malgun Gothic"/>
                <a:ea typeface="Malgun Gothic"/>
              </a:rPr>
              <a:t>•  의도하는 경우 — 사용자 실수를 되돌리려고 그 직전으로 복귀</a:t>
            </a:r>
          </a:p>
          <a:p>
            <a:pPr>
              <a:spcAft>
                <a:spcPts val="600"/>
              </a:spcAft>
            </a:pPr>
            <a:r>
              <a:rPr sz="1600" b="0">
                <a:solidFill>
                  <a:srgbClr val="5A6672"/>
                </a:solidFill>
                <a:latin typeface="Malgun Gothic"/>
                <a:ea typeface="Malgun Gothic"/>
              </a:rPr>
              <a:t>    –  테이블을 잘못 지웠거나 대량 갱신을 잘못 수행한 경우</a:t>
            </a:r>
          </a:p>
          <a:p>
            <a:pPr>
              <a:spcAft>
                <a:spcPts val="600"/>
              </a:spcAft>
            </a:pPr>
            <a:r>
              <a:rPr sz="1800" b="0">
                <a:solidFill>
                  <a:srgbClr val="202830"/>
                </a:solidFill>
                <a:latin typeface="Malgun Gothic"/>
                <a:ea typeface="Malgun Gothic"/>
              </a:rPr>
              <a:t>•  전체 데이터베이스가 함께 되돌아간다는 점이 부담</a:t>
            </a:r>
          </a:p>
          <a:p>
            <a:pPr>
              <a:spcAft>
                <a:spcPts val="600"/>
              </a:spcAft>
            </a:pPr>
            <a:r>
              <a:rPr sz="1600" b="0">
                <a:solidFill>
                  <a:srgbClr val="5A6672"/>
                </a:solidFill>
                <a:latin typeface="Malgun Gothic"/>
                <a:ea typeface="Malgun Gothic"/>
              </a:rPr>
              <a:t>    –  한 테이블의 실수를 되돌리려고 전체를 과거로 보내는 셈</a:t>
            </a:r>
          </a:p>
          <a:p>
            <a:pPr>
              <a:spcAft>
                <a:spcPts val="600"/>
              </a:spcAft>
            </a:pPr>
            <a:r>
              <a:rPr sz="1800" b="0">
                <a:solidFill>
                  <a:srgbClr val="202830"/>
                </a:solidFill>
                <a:latin typeface="Malgun Gothic"/>
                <a:ea typeface="Malgun Gothic"/>
              </a:rPr>
              <a:t>•  대안을 먼저 검토 — Flashback(18장) · RECOVER TABLE(16장) · TSPITR(17장)</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네 가지 기준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UNTIL CANCEL — 수동으로 CANCEL 입력까지 적용</a:t>
            </a:r>
          </a:p>
          <a:p>
            <a:pPr>
              <a:spcAft>
                <a:spcPts val="600"/>
              </a:spcAft>
            </a:pPr>
            <a:r>
              <a:rPr sz="1800" b="0">
                <a:solidFill>
                  <a:srgbClr val="202830"/>
                </a:solidFill>
                <a:latin typeface="Malgun Gothic"/>
                <a:ea typeface="Malgun Gothic"/>
              </a:rPr>
              <a:t>•  UNTIL TIME — 지정 시각까지 적용</a:t>
            </a:r>
          </a:p>
          <a:p>
            <a:pPr>
              <a:spcAft>
                <a:spcPts val="600"/>
              </a:spcAft>
            </a:pPr>
            <a:r>
              <a:rPr sz="1800" b="0">
                <a:solidFill>
                  <a:srgbClr val="202830"/>
                </a:solidFill>
                <a:latin typeface="Malgun Gothic"/>
                <a:ea typeface="Malgun Gothic"/>
              </a:rPr>
              <a:t>•  UNTIL CHANGE — 지정 SCN 직전까지 적용</a:t>
            </a:r>
          </a:p>
          <a:p>
            <a:pPr>
              <a:spcAft>
                <a:spcPts val="600"/>
              </a:spcAft>
            </a:pPr>
            <a:r>
              <a:rPr sz="1800" b="0">
                <a:solidFill>
                  <a:srgbClr val="202830"/>
                </a:solidFill>
                <a:latin typeface="Malgun Gothic"/>
                <a:ea typeface="Malgun Gothic"/>
              </a:rPr>
              <a:t>•  UNTIL SEQUENCE — 지정 시퀀스 직전까지 적용</a:t>
            </a:r>
          </a:p>
          <a:p>
            <a:pPr>
              <a:spcAft>
                <a:spcPts val="600"/>
              </a:spcAft>
            </a:pPr>
            <a:r>
              <a:rPr sz="1800" b="0">
                <a:solidFill>
                  <a:srgbClr val="202830"/>
                </a:solidFill>
                <a:latin typeface="Malgun Gothic"/>
                <a:ea typeface="Malgun Gothic"/>
              </a:rPr>
              <a:t>•  선택 기준은 '무엇을 알고 있는가'</a:t>
            </a:r>
          </a:p>
          <a:p>
            <a:pPr>
              <a:spcAft>
                <a:spcPts val="600"/>
              </a:spcAft>
            </a:pPr>
            <a:r>
              <a:rPr sz="1600" b="0">
                <a:solidFill>
                  <a:srgbClr val="5A6672"/>
                </a:solidFill>
                <a:latin typeface="Malgun Gothic"/>
                <a:ea typeface="Malgun Gothic"/>
              </a:rPr>
              <a:t>    –  결손 시퀀스만 안다 → SEQUENCE, 사고 시각을 안다 → TIME</a:t>
            </a:r>
          </a:p>
          <a:p>
            <a:pPr>
              <a:spcAft>
                <a:spcPts val="600"/>
              </a:spcAft>
            </a:pPr>
            <a:r>
              <a:rPr sz="1600" b="0">
                <a:solidFill>
                  <a:srgbClr val="5A6672"/>
                </a:solidFill>
                <a:latin typeface="Malgun Gothic"/>
                <a:ea typeface="Malgun Gothic"/>
              </a:rPr>
              <a:t>    –  정확한 SCN을 안다 → CHANGE, 아무것도 모른다 → CANCEL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공통 절차와 복원 범위</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모든 데이터파일을 되돌린다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RECOVER DATABASE UNTIL TIME '2025-05-12 09:30:00';</a:t>
            </a:r>
          </a:p>
          <a:p>
            <a:pPr>
              <a:spcAft>
                <a:spcPts val="0"/>
              </a:spcAft>
            </a:pPr>
            <a:r>
              <a:rPr sz="1250" b="0">
                <a:solidFill>
                  <a:srgbClr val="E6E6E6"/>
                </a:solidFill>
                <a:latin typeface="Consolas"/>
                <a:ea typeface="Consolas"/>
              </a:rPr>
              <a:t>ORA-00283: recovery session canceled due to errors</a:t>
            </a:r>
          </a:p>
          <a:p>
            <a:pPr>
              <a:spcAft>
                <a:spcPts val="0"/>
              </a:spcAft>
            </a:pPr>
            <a:r>
              <a:rPr sz="1250" b="0">
                <a:solidFill>
                  <a:srgbClr val="E6E6E6"/>
                </a:solidFill>
                <a:latin typeface="Consolas"/>
                <a:ea typeface="Consolas"/>
              </a:rPr>
              <a:t>ORA-01152: file 3 was not restored from a sufficiently old backup</a:t>
            </a:r>
          </a:p>
          <a:p>
            <a:pPr>
              <a:spcAft>
                <a:spcPts val="0"/>
              </a:spcAft>
            </a:pPr>
            <a:r>
              <a:rPr sz="1250" b="0">
                <a:solidFill>
                  <a:srgbClr val="E6E6E6"/>
                </a:solidFill>
                <a:latin typeface="Consolas"/>
                <a:ea typeface="Consolas"/>
              </a:rPr>
              <a:t>ORA-01110: data file 3: '/u01/app/oracle/oradata/orcl/sysaux01.dbf'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 checkpoint_change#,</a:t>
            </a:r>
          </a:p>
          <a:p>
            <a:pPr>
              <a:spcAft>
                <a:spcPts val="0"/>
              </a:spcAft>
            </a:pPr>
            <a:r>
              <a:rPr sz="1250" b="0">
                <a:solidFill>
                  <a:srgbClr val="E6E6E6"/>
                </a:solidFill>
                <a:latin typeface="Consolas"/>
                <a:ea typeface="Consolas"/>
              </a:rPr>
              <a:t>  2         TO_CHAR(checkpoint_time, 'YYYY-MM-DD HH24:MI:SS') AS ckpt_time</a:t>
            </a:r>
          </a:p>
          <a:p>
            <a:pPr>
              <a:spcAft>
                <a:spcPts val="0"/>
              </a:spcAft>
            </a:pPr>
            <a:r>
              <a:rPr sz="1250" b="0">
                <a:solidFill>
                  <a:srgbClr val="E6E6E6"/>
                </a:solidFill>
                <a:latin typeface="Consolas"/>
                <a:ea typeface="Consolas"/>
              </a:rPr>
              <a:t>  3  FROM   v$datafile_header ORDER BY file#;</a:t>
            </a:r>
          </a:p>
          <a:p>
            <a:pPr>
              <a:spcAft>
                <a:spcPts val="0"/>
              </a:spcAft>
            </a:pPr>
            <a:r>
              <a:rPr sz="1250" b="0">
                <a:solidFill>
                  <a:srgbClr val="E6E6E6"/>
                </a:solidFill>
                <a:latin typeface="Consolas"/>
                <a:ea typeface="Consolas"/>
              </a:rPr>
              <a:t>     FILE# CHECKPOINT_CHANGE# CKPT_TIME</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            2419200 2025-05-12 09:02:11</a:t>
            </a:r>
          </a:p>
          <a:p>
            <a:pPr>
              <a:spcAft>
                <a:spcPts val="0"/>
              </a:spcAft>
            </a:pPr>
            <a:r>
              <a:rPr sz="1250" b="0">
                <a:solidFill>
                  <a:srgbClr val="E6E6E6"/>
                </a:solidFill>
                <a:latin typeface="Consolas"/>
                <a:ea typeface="Consolas"/>
              </a:rPr>
              <a:t>         3            2421800 2025-05-12 09:44:05</a:t>
            </a:r>
          </a:p>
          <a:p>
            <a:pPr>
              <a:spcAft>
                <a:spcPts val="0"/>
              </a:spcAft>
            </a:pPr>
            <a:r>
              <a:rPr sz="1250" b="0">
                <a:solidFill>
                  <a:srgbClr val="7EC699"/>
                </a:solidFill>
                <a:latin typeface="Consolas"/>
                <a:ea typeface="Consolas"/>
              </a:rPr>
              <a:t>-- 파일 3만 목표 시점보다 최근이다. 같은 백업 세트에서 다시 복원한다.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 종류에 따른 차이</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Cold Backup 기반 — 복원 직후 상태가 일관적</a:t>
            </a:r>
          </a:p>
          <a:p>
            <a:pPr>
              <a:spcAft>
                <a:spcPts val="600"/>
              </a:spcAft>
            </a:pPr>
            <a:r>
              <a:rPr sz="1600" b="0">
                <a:solidFill>
                  <a:srgbClr val="5A6672"/>
                </a:solidFill>
                <a:latin typeface="Malgun Gothic"/>
                <a:ea typeface="Malgun Gothic"/>
              </a:rPr>
              <a:t>    –  모든 파일이 같은 SCN에서 닫혀 있어 시작점이 명확</a:t>
            </a:r>
          </a:p>
          <a:p>
            <a:pPr>
              <a:spcAft>
                <a:spcPts val="600"/>
              </a:spcAft>
            </a:pPr>
            <a:r>
              <a:rPr sz="1600" b="0">
                <a:solidFill>
                  <a:srgbClr val="5A6672"/>
                </a:solidFill>
                <a:latin typeface="Malgun Gothic"/>
                <a:ea typeface="Malgun Gothic"/>
              </a:rPr>
              <a:t>    –  복구 없이 열 수도 있으나 그러면 백업 시점으로 끝난다</a:t>
            </a:r>
          </a:p>
          <a:p>
            <a:pPr>
              <a:spcAft>
                <a:spcPts val="600"/>
              </a:spcAft>
            </a:pPr>
            <a:r>
              <a:rPr sz="1800" b="0">
                <a:solidFill>
                  <a:srgbClr val="202830"/>
                </a:solidFill>
                <a:latin typeface="Malgun Gothic"/>
                <a:ea typeface="Malgun Gothic"/>
              </a:rPr>
              <a:t>•  Hot Backup 기반 — 복원 직후 일관적이지 않음</a:t>
            </a:r>
          </a:p>
          <a:p>
            <a:pPr>
              <a:spcAft>
                <a:spcPts val="600"/>
              </a:spcAft>
            </a:pPr>
            <a:r>
              <a:rPr sz="1600" b="0">
                <a:solidFill>
                  <a:srgbClr val="5A6672"/>
                </a:solidFill>
                <a:latin typeface="Malgun Gothic"/>
                <a:ea typeface="Malgun Gothic"/>
              </a:rPr>
              <a:t>    –  백업 중에도 변경이 진행되어 파일마다 SCN이 다름</a:t>
            </a:r>
          </a:p>
          <a:p>
            <a:pPr>
              <a:spcAft>
                <a:spcPts val="600"/>
              </a:spcAft>
            </a:pPr>
            <a:r>
              <a:rPr sz="1600" b="0">
                <a:solidFill>
                  <a:srgbClr val="5A6672"/>
                </a:solidFill>
                <a:latin typeface="Malgun Gothic"/>
                <a:ea typeface="Malgun Gothic"/>
              </a:rPr>
              <a:t>    –  END BACKUP 시점 이후로만 복구 지점을 잡을 수 있음</a:t>
            </a:r>
          </a:p>
          <a:p>
            <a:pPr>
              <a:spcAft>
                <a:spcPts val="600"/>
              </a:spcAft>
            </a:pPr>
            <a:r>
              <a:rPr sz="1800" b="0">
                <a:solidFill>
                  <a:srgbClr val="202830"/>
                </a:solidFill>
                <a:latin typeface="Malgun Gothic"/>
                <a:ea typeface="Malgun Gothic"/>
              </a:rPr>
              <a:t>•  실무는 대부분 Hot Backup — 백업 완료 시각을 먼저 확인</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10.2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Cancel-based 불완전 복구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적용 가능한 지점까지 넣고 수동으로 멈춘다</a:t>
            </a:r>
          </a:p>
          <a:p>
            <a:pPr>
              <a:spcAft>
                <a:spcPts val="600"/>
              </a:spcAft>
            </a:pPr>
            <a:r>
              <a:rPr sz="1600" b="0">
                <a:solidFill>
                  <a:srgbClr val="C5CED6"/>
                </a:solidFill>
                <a:latin typeface="Malgun Gothic"/>
                <a:ea typeface="Malgun Gothic"/>
              </a:rPr>
              <a:t>•  아카이브가 끊긴 상황에서 자연스럽게 선택된다</a:t>
            </a:r>
          </a:p>
          <a:p>
            <a:pPr>
              <a:spcAft>
                <a:spcPts val="600"/>
              </a:spcAft>
            </a:pPr>
            <a:r>
              <a:rPr sz="1600" b="0">
                <a:solidFill>
                  <a:srgbClr val="C5CED6"/>
                </a:solidFill>
                <a:latin typeface="Malgun Gothic"/>
                <a:ea typeface="Malgun Gothic"/>
              </a:rPr>
              <a:t>•  RESETLOGS 전에는 다시 시작할 여지가 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Cancel-based 절차</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프롬프트에서 CANCEL 입력</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SYS@orcl&gt; !cp -p /home/oracle/backup/ch10/*.dbf /u02/oradata/orcl/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SET AUTORECOVERY OFF</a:t>
            </a:r>
          </a:p>
          <a:p>
            <a:pPr>
              <a:spcAft>
                <a:spcPts val="0"/>
              </a:spcAft>
            </a:pPr>
            <a:r>
              <a:rPr sz="1250" b="0">
                <a:solidFill>
                  <a:srgbClr val="E6E6E6"/>
                </a:solidFill>
                <a:latin typeface="Consolas"/>
                <a:ea typeface="Consolas"/>
              </a:rPr>
              <a:t>SYS@orcl&gt; RECOVER DATABASE UNTIL CANCEL;</a:t>
            </a:r>
          </a:p>
          <a:p>
            <a:pPr>
              <a:spcAft>
                <a:spcPts val="0"/>
              </a:spcAft>
            </a:pPr>
            <a:r>
              <a:rPr sz="1250" b="0">
                <a:solidFill>
                  <a:srgbClr val="E6E6E6"/>
                </a:solidFill>
                <a:latin typeface="Consolas"/>
                <a:ea typeface="Consolas"/>
              </a:rPr>
              <a:t>ORA-00280: change 2419200 for thread 1 is in sequence #60</a:t>
            </a:r>
          </a:p>
          <a:p>
            <a:pPr>
              <a:spcAft>
                <a:spcPts val="0"/>
              </a:spcAft>
            </a:pPr>
            <a:r>
              <a:rPr sz="1250" b="0">
                <a:solidFill>
                  <a:srgbClr val="E6E6E6"/>
                </a:solidFill>
                <a:latin typeface="Consolas"/>
                <a:ea typeface="Consolas"/>
              </a:rPr>
              <a:t>Specify log: {&lt;RET&gt;=suggested | filename | AUTO | CANCEL}</a:t>
            </a:r>
          </a:p>
          <a:p>
            <a:pPr>
              <a:spcAft>
                <a:spcPts val="0"/>
              </a:spcAft>
            </a:pPr>
            <a:r>
              <a:rPr sz="1250" b="0">
                <a:solidFill>
                  <a:srgbClr val="E6E6E6"/>
                </a:solidFill>
                <a:latin typeface="Consolas"/>
                <a:ea typeface="Consolas"/>
              </a:rPr>
              <a:t>&lt;RET&gt;</a:t>
            </a:r>
          </a:p>
          <a:p>
            <a:pPr>
              <a:spcAft>
                <a:spcPts val="0"/>
              </a:spcAft>
            </a:pPr>
            <a:r>
              <a:rPr sz="1250" b="0">
                <a:solidFill>
                  <a:srgbClr val="E6E6E6"/>
                </a:solidFill>
                <a:latin typeface="Consolas"/>
                <a:ea typeface="Consolas"/>
              </a:rPr>
              <a:t>Log applied.</a:t>
            </a:r>
          </a:p>
          <a:p>
            <a:pPr>
              <a:spcAft>
                <a:spcPts val="0"/>
              </a:spcAft>
            </a:pPr>
            <a:r>
              <a:rPr sz="1250" b="0">
                <a:solidFill>
                  <a:srgbClr val="E6E6E6"/>
                </a:solidFill>
                <a:latin typeface="Consolas"/>
                <a:ea typeface="Consolas"/>
              </a:rPr>
              <a:t>ORA-00280: change 2420100 for thread 1 is in sequence #62</a:t>
            </a:r>
          </a:p>
          <a:p>
            <a:pPr>
              <a:spcAft>
                <a:spcPts val="0"/>
              </a:spcAft>
            </a:pPr>
            <a:r>
              <a:rPr sz="1250" b="0">
                <a:solidFill>
                  <a:srgbClr val="E6E6E6"/>
                </a:solidFill>
                <a:latin typeface="Consolas"/>
                <a:ea typeface="Consolas"/>
              </a:rPr>
              <a:t>Specify log: {&lt;RET&gt;=suggested | filename | AUTO | CANCEL}</a:t>
            </a:r>
          </a:p>
          <a:p>
            <a:pPr>
              <a:spcAft>
                <a:spcPts val="0"/>
              </a:spcAft>
            </a:pPr>
            <a:r>
              <a:rPr sz="1250" b="0">
                <a:solidFill>
                  <a:srgbClr val="E6E6E6"/>
                </a:solidFill>
                <a:latin typeface="Consolas"/>
                <a:ea typeface="Consolas"/>
              </a:rPr>
              <a:t>CANCEL</a:t>
            </a:r>
          </a:p>
          <a:p>
            <a:pPr>
              <a:spcAft>
                <a:spcPts val="0"/>
              </a:spcAft>
            </a:pPr>
            <a:r>
              <a:rPr sz="1250" b="0">
                <a:solidFill>
                  <a:srgbClr val="E6E6E6"/>
                </a:solidFill>
                <a:latin typeface="Consolas"/>
                <a:ea typeface="Consolas"/>
              </a:rPr>
              <a:t>Media recovery cancelled.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OPEN RESETLOGS;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중단 지점 판정과 다시 시작</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복구 후 checkpoint_change# 가 복구된 SCN</a:t>
            </a:r>
          </a:p>
          <a:p>
            <a:pPr>
              <a:spcAft>
                <a:spcPts val="600"/>
              </a:spcAft>
            </a:pPr>
            <a:r>
              <a:rPr sz="1600" b="0">
                <a:solidFill>
                  <a:srgbClr val="5A6672"/>
                </a:solidFill>
                <a:latin typeface="Malgun Gothic"/>
                <a:ea typeface="Malgun Gothic"/>
              </a:rPr>
              <a:t>    –  SCN_TO_TIMESTAMP 로 시각을 구해 현업에 통보</a:t>
            </a:r>
          </a:p>
          <a:p>
            <a:pPr>
              <a:spcAft>
                <a:spcPts val="600"/>
              </a:spcAft>
            </a:pPr>
            <a:r>
              <a:rPr sz="1600" b="0">
                <a:solidFill>
                  <a:srgbClr val="5A6672"/>
                </a:solidFill>
                <a:latin typeface="Malgun Gothic"/>
                <a:ea typeface="Malgun Gothic"/>
              </a:rPr>
              <a:t>    –  v$log_history 로 마지막 적용 시퀀스도 함께 기록</a:t>
            </a:r>
          </a:p>
          <a:p>
            <a:pPr>
              <a:spcAft>
                <a:spcPts val="600"/>
              </a:spcAft>
            </a:pPr>
            <a:r>
              <a:rPr sz="1800" b="0">
                <a:solidFill>
                  <a:srgbClr val="202830"/>
                </a:solidFill>
                <a:latin typeface="Malgun Gothic"/>
                <a:ea typeface="Malgun Gothic"/>
              </a:rPr>
              <a:t>•  더 적용해야 한다면 RECOVER 를 다시 수행 — 멈춘 지점부터 이어짐</a:t>
            </a:r>
          </a:p>
          <a:p>
            <a:pPr>
              <a:spcAft>
                <a:spcPts val="600"/>
              </a:spcAft>
            </a:pPr>
            <a:r>
              <a:rPr sz="1800" b="0">
                <a:solidFill>
                  <a:srgbClr val="202830"/>
                </a:solidFill>
                <a:latin typeface="Malgun Gothic"/>
                <a:ea typeface="Malgun Gothic"/>
              </a:rPr>
              <a:t>•  덜 적용해야 한다면 복원부터 다시 — 적용한 리두는 되돌릴 수 없음</a:t>
            </a:r>
          </a:p>
          <a:p>
            <a:pPr>
              <a:spcAft>
                <a:spcPts val="600"/>
              </a:spcAft>
            </a:pPr>
            <a:r>
              <a:rPr sz="1600" b="0">
                <a:solidFill>
                  <a:srgbClr val="5A6672"/>
                </a:solidFill>
                <a:latin typeface="Malgun Gothic"/>
                <a:ea typeface="Malgun Gothic"/>
              </a:rPr>
              <a:t>    –  그래서 복구 지점은 보수적으로 잡는 편이 낫다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RESETLOGS 전 READ ONLY 검증</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ALTER DATABASE OPEN READ ONLY 로 열어 데이터 확인</a:t>
            </a:r>
          </a:p>
          <a:p>
            <a:pPr>
              <a:spcAft>
                <a:spcPts val="600"/>
              </a:spcAft>
            </a:pPr>
            <a:r>
              <a:rPr sz="1800" b="0">
                <a:solidFill>
                  <a:srgbClr val="202830"/>
                </a:solidFill>
                <a:latin typeface="Malgun Gothic"/>
                <a:ea typeface="Malgun Gothic"/>
              </a:rPr>
              <a:t>•  확인 항목 세 가지</a:t>
            </a:r>
          </a:p>
          <a:p>
            <a:pPr>
              <a:spcAft>
                <a:spcPts val="600"/>
              </a:spcAft>
            </a:pPr>
            <a:r>
              <a:rPr sz="1600" b="0">
                <a:solidFill>
                  <a:srgbClr val="5A6672"/>
                </a:solidFill>
                <a:latin typeface="Malgun Gothic"/>
                <a:ea typeface="Malgun Gothic"/>
              </a:rPr>
              <a:t>    –  되돌리려던 변경이 사라졌는가</a:t>
            </a:r>
          </a:p>
          <a:p>
            <a:pPr>
              <a:spcAft>
                <a:spcPts val="600"/>
              </a:spcAft>
            </a:pPr>
            <a:r>
              <a:rPr sz="1600" b="0">
                <a:solidFill>
                  <a:srgbClr val="5A6672"/>
                </a:solidFill>
                <a:latin typeface="Malgun Gothic"/>
                <a:ea typeface="Malgun Gothic"/>
              </a:rPr>
              <a:t>    –  정상 업무 데이터가 남아 있는가</a:t>
            </a:r>
          </a:p>
          <a:p>
            <a:pPr>
              <a:spcAft>
                <a:spcPts val="600"/>
              </a:spcAft>
            </a:pPr>
            <a:r>
              <a:rPr sz="1600" b="0">
                <a:solidFill>
                  <a:srgbClr val="5A6672"/>
                </a:solidFill>
                <a:latin typeface="Malgun Gothic"/>
                <a:ea typeface="Malgun Gothic"/>
              </a:rPr>
              <a:t>    –  손실 구간이 예상 범위 안인가</a:t>
            </a:r>
          </a:p>
          <a:p>
            <a:pPr>
              <a:spcAft>
                <a:spcPts val="600"/>
              </a:spcAft>
            </a:pPr>
            <a:r>
              <a:rPr sz="1800" b="0">
                <a:solidFill>
                  <a:srgbClr val="202830"/>
                </a:solidFill>
                <a:latin typeface="Malgun Gothic"/>
                <a:ea typeface="Malgun Gothic"/>
              </a:rPr>
              <a:t>•  만족스럽지 않으면 다시 MOUNT로 내려 복구를 이어 간다</a:t>
            </a:r>
          </a:p>
          <a:p>
            <a:pPr>
              <a:spcAft>
                <a:spcPts val="600"/>
              </a:spcAft>
            </a:pPr>
            <a:r>
              <a:rPr sz="1800" b="0">
                <a:solidFill>
                  <a:srgbClr val="202830"/>
                </a:solidFill>
                <a:latin typeface="Malgun Gothic"/>
                <a:ea typeface="Malgun Gothic"/>
              </a:rPr>
              <a:t>•  RESETLOGS 후에는 되돌리기 어렵다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10.3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Time-based 불완전 복구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사고 시각을 알면 가장 직관적인 기준</a:t>
            </a:r>
          </a:p>
          <a:p>
            <a:pPr>
              <a:spcAft>
                <a:spcPts val="600"/>
              </a:spcAft>
            </a:pPr>
            <a:r>
              <a:rPr sz="1600" b="0">
                <a:solidFill>
                  <a:srgbClr val="C5CED6"/>
                </a:solidFill>
                <a:latin typeface="Malgun Gothic"/>
                <a:ea typeface="Malgun Gothic"/>
              </a:rPr>
              <a:t>•  NLS_DATE_FORMAT 을 명시적으로 지정한다</a:t>
            </a:r>
          </a:p>
          <a:p>
            <a:pPr>
              <a:spcAft>
                <a:spcPts val="600"/>
              </a:spcAft>
            </a:pPr>
            <a:r>
              <a:rPr sz="1600" b="0">
                <a:solidFill>
                  <a:srgbClr val="C5CED6"/>
                </a:solidFill>
                <a:latin typeface="Malgun Gothic"/>
                <a:ea typeface="Malgun Gothic"/>
              </a:rPr>
              <a:t>•  시점 선정의 근거를 자료로 확보해야 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UNTIL TIME 문법</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NLS 형식 지정이 먼저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ALTER SESSION SET nls_date_format = 'YYYY-MM-DD HH24:MI:SS';</a:t>
            </a:r>
          </a:p>
          <a:p>
            <a:pPr>
              <a:spcAft>
                <a:spcPts val="0"/>
              </a:spcAft>
            </a:pPr>
            <a:r>
              <a:rPr sz="1250" b="0">
                <a:solidFill>
                  <a:srgbClr val="E6E6E6"/>
                </a:solidFill>
                <a:latin typeface="Consolas"/>
                <a:ea typeface="Consolas"/>
              </a:rPr>
              <a:t>Session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SYS@orcl&gt; !cp -p /home/oracle/backup/ch10/*.dbf /u02/oradata/orcl/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RECOVER DATABASE UNTIL TIME '2025-05-12 09:30:00';</a:t>
            </a:r>
          </a:p>
          <a:p>
            <a:pPr>
              <a:spcAft>
                <a:spcPts val="0"/>
              </a:spcAft>
            </a:pPr>
            <a:r>
              <a:rPr sz="1250" b="0">
                <a:solidFill>
                  <a:srgbClr val="E6E6E6"/>
                </a:solidFill>
                <a:latin typeface="Consolas"/>
                <a:ea typeface="Consolas"/>
              </a:rPr>
              <a:t>Log applied.</a:t>
            </a:r>
          </a:p>
          <a:p>
            <a:pPr>
              <a:spcAft>
                <a:spcPts val="0"/>
              </a:spcAft>
            </a:pPr>
            <a:r>
              <a:rPr sz="1250" b="0">
                <a:solidFill>
                  <a:srgbClr val="E6E6E6"/>
                </a:solidFill>
                <a:latin typeface="Consolas"/>
                <a:ea typeface="Consolas"/>
              </a:rPr>
              <a:t>Media recovery complete.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OPEN RESETLOGS;</a:t>
            </a:r>
          </a:p>
          <a:p>
            <a:pPr>
              <a:spcAft>
                <a:spcPts val="0"/>
              </a:spcAft>
            </a:pPr>
            <a:r>
              <a:rPr sz="1250" b="0">
                <a:solidFill>
                  <a:srgbClr val="E6E6E6"/>
                </a:solidFill>
                <a:latin typeface="Consolas"/>
                <a:ea typeface="Consolas"/>
              </a:rPr>
              <a:t>SYS@orcl&gt; SELECT SCN_TO_TIMESTAMP(checkpoint_change#) FROM v$database;</a:t>
            </a:r>
          </a:p>
          <a:p>
            <a:pPr>
              <a:spcAft>
                <a:spcPts val="0"/>
              </a:spcAft>
            </a:pPr>
            <a:r>
              <a:rPr sz="1250" b="0">
                <a:solidFill>
                  <a:srgbClr val="E6E6E6"/>
                </a:solidFill>
                <a:latin typeface="Consolas"/>
                <a:ea typeface="Consolas"/>
              </a:rPr>
              <a:t>12-MAY-25 09.29.58.000000000 AM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시점 선정 근거 확보</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적용 가능한 마지막 지점 계산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sequence#, first_change#, next_change#,</a:t>
            </a:r>
          </a:p>
          <a:p>
            <a:pPr>
              <a:spcAft>
                <a:spcPts val="0"/>
              </a:spcAft>
            </a:pPr>
            <a:r>
              <a:rPr sz="1250" b="0">
                <a:solidFill>
                  <a:srgbClr val="E6E6E6"/>
                </a:solidFill>
                <a:latin typeface="Consolas"/>
                <a:ea typeface="Consolas"/>
              </a:rPr>
              <a:t>  2         TO_CHAR(first_time, 'YYYY-MM-DD HH24:MI:SS') AS first_time</a:t>
            </a:r>
          </a:p>
          <a:p>
            <a:pPr>
              <a:spcAft>
                <a:spcPts val="0"/>
              </a:spcAft>
            </a:pPr>
            <a:r>
              <a:rPr sz="1250" b="0">
                <a:solidFill>
                  <a:srgbClr val="E6E6E6"/>
                </a:solidFill>
                <a:latin typeface="Consolas"/>
                <a:ea typeface="Consolas"/>
              </a:rPr>
              <a:t>  3  FROM   v$log_history WHERE sequence# = 61;</a:t>
            </a:r>
          </a:p>
          <a:p>
            <a:pPr>
              <a:spcAft>
                <a:spcPts val="0"/>
              </a:spcAft>
            </a:pPr>
            <a:r>
              <a:rPr sz="1250" b="0">
                <a:solidFill>
                  <a:srgbClr val="E6E6E6"/>
                </a:solidFill>
                <a:latin typeface="Consolas"/>
                <a:ea typeface="Consolas"/>
              </a:rPr>
              <a:t> SEQUENCE# FIRST_CHANGE# NEXT_CHANGE# FIRST_TIME</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61       2419840      2420100 2025-05-12 09:08:22</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SCN_TO_TIMESTAMP(2420099) AS max_recover_point FROM dual;</a:t>
            </a:r>
          </a:p>
          <a:p>
            <a:pPr>
              <a:spcAft>
                <a:spcPts val="0"/>
              </a:spcAft>
            </a:pPr>
            <a:r>
              <a:rPr sz="1250" b="0">
                <a:solidFill>
                  <a:srgbClr val="E6E6E6"/>
                </a:solidFill>
                <a:latin typeface="Consolas"/>
                <a:ea typeface="Consolas"/>
              </a:rPr>
              <a:t>MAX_RECOVER_POINT</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12-MAY-25 09.12.40.000000000 AM</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-- 09:12:40 까지 복구할 수 있다. 그 이후는 아카이브가 없다.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LogMiner로 SCN 찾기</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문제 DML의 정확한 지점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BEGIN</a:t>
            </a:r>
          </a:p>
          <a:p>
            <a:pPr>
              <a:spcAft>
                <a:spcPts val="0"/>
              </a:spcAft>
            </a:pPr>
            <a:r>
              <a:rPr sz="1250" b="0">
                <a:solidFill>
                  <a:srgbClr val="E6E6E6"/>
                </a:solidFill>
                <a:latin typeface="Consolas"/>
                <a:ea typeface="Consolas"/>
              </a:rPr>
              <a:t>  2    DBMS_LOGMNR.ADD_LOGFILE('/home/oracle/arch1/arch_1_61_1200533800.arc',</a:t>
            </a:r>
          </a:p>
          <a:p>
            <a:pPr>
              <a:spcAft>
                <a:spcPts val="0"/>
              </a:spcAft>
            </a:pPr>
            <a:r>
              <a:rPr sz="1250" b="0">
                <a:solidFill>
                  <a:srgbClr val="E6E6E6"/>
                </a:solidFill>
                <a:latin typeface="Consolas"/>
                <a:ea typeface="Consolas"/>
              </a:rPr>
              <a:t>  3                            DBMS_LOGMNR.NEW);</a:t>
            </a:r>
          </a:p>
          <a:p>
            <a:pPr>
              <a:spcAft>
                <a:spcPts val="0"/>
              </a:spcAft>
            </a:pPr>
            <a:r>
              <a:rPr sz="1250" b="0">
                <a:solidFill>
                  <a:srgbClr val="E6E6E6"/>
                </a:solidFill>
                <a:latin typeface="Consolas"/>
                <a:ea typeface="Consolas"/>
              </a:rPr>
              <a:t>  4  END;</a:t>
            </a:r>
          </a:p>
          <a:p>
            <a:pPr>
              <a:spcAft>
                <a:spcPts val="0"/>
              </a:spcAft>
            </a:pPr>
            <a:r>
              <a:rPr sz="1250" b="0">
                <a:solidFill>
                  <a:srgbClr val="E6E6E6"/>
                </a:solidFill>
                <a:latin typeface="Consolas"/>
                <a:ea typeface="Consolas"/>
              </a:rPr>
              <a:t>  5  /</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EXEC DBMS_LOGMNR.START_LOGMNR(-</a:t>
            </a:r>
          </a:p>
          <a:p>
            <a:pPr>
              <a:spcAft>
                <a:spcPts val="0"/>
              </a:spcAft>
            </a:pPr>
            <a:r>
              <a:rPr sz="1250" b="0">
                <a:solidFill>
                  <a:srgbClr val="E6E6E6"/>
                </a:solidFill>
                <a:latin typeface="Consolas"/>
                <a:ea typeface="Consolas"/>
              </a:rPr>
              <a:t>  2    OPTIONS =&gt; DBMS_LOGMNR.DICT_FROM_ONLINE_CATALOG);</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scn, TO_CHAR(timestamp,'HH24:MI:SS') t, seg_name, operation</a:t>
            </a:r>
          </a:p>
          <a:p>
            <a:pPr>
              <a:spcAft>
                <a:spcPts val="0"/>
              </a:spcAft>
            </a:pPr>
            <a:r>
              <a:rPr sz="1250" b="0">
                <a:solidFill>
                  <a:srgbClr val="E6E6E6"/>
                </a:solidFill>
                <a:latin typeface="Consolas"/>
                <a:ea typeface="Consolas"/>
              </a:rPr>
              <a:t>  2  FROM   v$logmnr_contents WHERE seg_owner='HR' AND operation='DELETE';</a:t>
            </a:r>
          </a:p>
          <a:p>
            <a:pPr>
              <a:spcAft>
                <a:spcPts val="0"/>
              </a:spcAft>
            </a:pPr>
            <a:r>
              <a:rPr sz="1250" b="0">
                <a:solidFill>
                  <a:srgbClr val="E6E6E6"/>
                </a:solidFill>
                <a:latin typeface="Consolas"/>
                <a:ea typeface="Consolas"/>
              </a:rPr>
              <a:t>   2420618 09:29:41 EMP101     DELETE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EXEC DBMS_LOGMNR.END_LOGMNR;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10.4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SCN 기준과 시퀀스 기준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UNTIL CHANGE — 가장 정밀, SCN 확보가 전제</a:t>
            </a:r>
          </a:p>
          <a:p>
            <a:pPr>
              <a:spcAft>
                <a:spcPts val="600"/>
              </a:spcAft>
            </a:pPr>
            <a:r>
              <a:rPr sz="1600" b="0">
                <a:solidFill>
                  <a:srgbClr val="C5CED6"/>
                </a:solidFill>
                <a:latin typeface="Malgun Gothic"/>
                <a:ea typeface="Malgun Gothic"/>
              </a:rPr>
              <a:t>•  UNTIL SEQUENCE — 결손 상황에서 가장 간단</a:t>
            </a:r>
          </a:p>
          <a:p>
            <a:pPr>
              <a:spcAft>
                <a:spcPts val="600"/>
              </a:spcAft>
            </a:pPr>
            <a:r>
              <a:rPr sz="1600" b="0">
                <a:solidFill>
                  <a:srgbClr val="C5CED6"/>
                </a:solidFill>
                <a:latin typeface="Malgun Gothic"/>
                <a:ea typeface="Malgun Gothic"/>
              </a:rPr>
              <a:t>•  둘 다 지정 값 직전까지 적용된다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UNTIL CHANGE 와 UNTIL SEQUENCE</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지정 값 직전까지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SCN 기준</a:t>
            </a:r>
          </a:p>
          <a:p>
            <a:pPr>
              <a:spcAft>
                <a:spcPts val="0"/>
              </a:spcAft>
            </a:pPr>
            <a:r>
              <a:rPr sz="1250" b="0">
                <a:solidFill>
                  <a:srgbClr val="E6E6E6"/>
                </a:solidFill>
                <a:latin typeface="Consolas"/>
                <a:ea typeface="Consolas"/>
              </a:rPr>
              <a:t>SYS@orcl&gt; SELECT TIMESTAMP_TO_SCN(</a:t>
            </a:r>
          </a:p>
          <a:p>
            <a:pPr>
              <a:spcAft>
                <a:spcPts val="0"/>
              </a:spcAft>
            </a:pPr>
            <a:r>
              <a:rPr sz="1250" b="0">
                <a:solidFill>
                  <a:srgbClr val="E6E6E6"/>
                </a:solidFill>
                <a:latin typeface="Consolas"/>
                <a:ea typeface="Consolas"/>
              </a:rPr>
              <a:t>  2    TO_TIMESTAMP('2025-05-12 09:30:00','YYYY-MM-DD HH24:MI:SS')) FROM dual;</a:t>
            </a:r>
          </a:p>
          <a:p>
            <a:pPr>
              <a:spcAft>
                <a:spcPts val="0"/>
              </a:spcAft>
            </a:pPr>
            <a:r>
              <a:rPr sz="1250" b="0">
                <a:solidFill>
                  <a:srgbClr val="E6E6E6"/>
                </a:solidFill>
                <a:latin typeface="Consolas"/>
                <a:ea typeface="Consolas"/>
              </a:rPr>
              <a:t>   2420640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RECOVER DATABASE UNTIL CHANGE 2420640;</a:t>
            </a:r>
          </a:p>
          <a:p>
            <a:pPr>
              <a:spcAft>
                <a:spcPts val="0"/>
              </a:spcAft>
            </a:pPr>
            <a:r>
              <a:rPr sz="1250" b="0">
                <a:solidFill>
                  <a:srgbClr val="E6E6E6"/>
                </a:solidFill>
                <a:latin typeface="Consolas"/>
                <a:ea typeface="Consolas"/>
              </a:rPr>
              <a:t>Media recovery complete.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시퀀스 기준 (시퀀스 62가 결손)</a:t>
            </a:r>
          </a:p>
          <a:p>
            <a:pPr>
              <a:spcAft>
                <a:spcPts val="0"/>
              </a:spcAft>
            </a:pPr>
            <a:r>
              <a:rPr sz="1250" b="0">
                <a:solidFill>
                  <a:srgbClr val="E6E6E6"/>
                </a:solidFill>
                <a:latin typeface="Consolas"/>
                <a:ea typeface="Consolas"/>
              </a:rPr>
              <a:t>SYS@orcl&gt; RECOVER DATABASE UNTIL SEQUENCE 62 THREAD 1;</a:t>
            </a:r>
          </a:p>
          <a:p>
            <a:pPr>
              <a:spcAft>
                <a:spcPts val="0"/>
              </a:spcAft>
            </a:pPr>
            <a:r>
              <a:rPr sz="1250" b="0">
                <a:solidFill>
                  <a:srgbClr val="E6E6E6"/>
                </a:solidFill>
                <a:latin typeface="Consolas"/>
                <a:ea typeface="Consolas"/>
              </a:rPr>
              <a:t>Log applied.</a:t>
            </a:r>
          </a:p>
          <a:p>
            <a:pPr>
              <a:spcAft>
                <a:spcPts val="0"/>
              </a:spcAft>
            </a:pPr>
            <a:r>
              <a:rPr sz="1250" b="0">
                <a:solidFill>
                  <a:srgbClr val="E6E6E6"/>
                </a:solidFill>
                <a:latin typeface="Consolas"/>
                <a:ea typeface="Consolas"/>
              </a:rPr>
              <a:t>Log applied.</a:t>
            </a:r>
          </a:p>
          <a:p>
            <a:pPr>
              <a:spcAft>
                <a:spcPts val="0"/>
              </a:spcAft>
            </a:pPr>
            <a:r>
              <a:rPr sz="1250" b="0">
                <a:solidFill>
                  <a:srgbClr val="E6E6E6"/>
                </a:solidFill>
                <a:latin typeface="Consolas"/>
                <a:ea typeface="Consolas"/>
              </a:rPr>
              <a:t>Media recovery complete.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OPEN RESETLOGS;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기준 선택 요령</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정보량에 따라 정해진다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기준          | 지정 방식              | 강점                  | 주의</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UNTIL CANCEL  | 프롬프트 수동 중단     | 유연, 단계별 확인     | 조작 실수 여지</a:t>
            </a:r>
          </a:p>
          <a:p>
            <a:pPr>
              <a:spcAft>
                <a:spcPts val="0"/>
              </a:spcAft>
            </a:pPr>
            <a:r>
              <a:rPr sz="1250" b="0">
                <a:solidFill>
                  <a:srgbClr val="E6E6E6"/>
                </a:solidFill>
                <a:latin typeface="Consolas"/>
                <a:ea typeface="Consolas"/>
              </a:rPr>
              <a:t>UNTIL TIME    | 시각 문자열            | 직관적, 사고 시각 활용| NLS 형식·정밀도</a:t>
            </a:r>
          </a:p>
          <a:p>
            <a:pPr>
              <a:spcAft>
                <a:spcPts val="0"/>
              </a:spcAft>
            </a:pPr>
            <a:r>
              <a:rPr sz="1250" b="0">
                <a:solidFill>
                  <a:srgbClr val="E6E6E6"/>
                </a:solidFill>
                <a:latin typeface="Consolas"/>
                <a:ea typeface="Consolas"/>
              </a:rPr>
              <a:t>UNTIL CHANGE  | SCN                    | 가장 정밀             | SCN 확보 준비 필요</a:t>
            </a:r>
          </a:p>
          <a:p>
            <a:pPr>
              <a:spcAft>
                <a:spcPts val="0"/>
              </a:spcAft>
            </a:pPr>
            <a:r>
              <a:rPr sz="1250" b="0">
                <a:solidFill>
                  <a:srgbClr val="E6E6E6"/>
                </a:solidFill>
                <a:latin typeface="Consolas"/>
                <a:ea typeface="Consolas"/>
              </a:rPr>
              <a:t>UNTIL SEQUENCE| 시퀀스 + THREAD        | 결손 상황에 간단      | 지정 시퀀스 미적용</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아카이브 결손        → SEQUENCE 또는 CANCEL</a:t>
            </a:r>
          </a:p>
          <a:p>
            <a:pPr>
              <a:spcAft>
                <a:spcPts val="0"/>
              </a:spcAft>
            </a:pPr>
            <a:r>
              <a:rPr sz="1250" b="0">
                <a:solidFill>
                  <a:srgbClr val="E6E6E6"/>
                </a:solidFill>
                <a:latin typeface="Consolas"/>
                <a:ea typeface="Consolas"/>
              </a:rPr>
              <a:t>사용자 실수, 시각    → TIME</a:t>
            </a:r>
          </a:p>
          <a:p>
            <a:pPr>
              <a:spcAft>
                <a:spcPts val="0"/>
              </a:spcAft>
            </a:pPr>
            <a:r>
              <a:rPr sz="1250" b="0">
                <a:solidFill>
                  <a:srgbClr val="E6E6E6"/>
                </a:solidFill>
                <a:latin typeface="Consolas"/>
                <a:ea typeface="Consolas"/>
              </a:rPr>
              <a:t>사용자 실수, SCN     → CHANGE</a:t>
            </a:r>
          </a:p>
          <a:p>
            <a:pPr>
              <a:spcAft>
                <a:spcPts val="0"/>
              </a:spcAft>
            </a:pPr>
            <a:r>
              <a:rPr sz="1250" b="0">
                <a:solidFill>
                  <a:srgbClr val="E6E6E6"/>
                </a:solidFill>
                <a:latin typeface="Consolas"/>
                <a:ea typeface="Consolas"/>
              </a:rPr>
              <a:t>근거 불확실          → CANCEL 후 READ ONLY 확인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10.5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RESETLOGS와 인카네이션</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리두를 초기화하고 시퀀스를 1부터 다시 시작한다</a:t>
            </a:r>
          </a:p>
          <a:p>
            <a:pPr>
              <a:spcAft>
                <a:spcPts val="600"/>
              </a:spcAft>
            </a:pPr>
            <a:r>
              <a:rPr sz="1600" b="0">
                <a:solidFill>
                  <a:srgbClr val="C5CED6"/>
                </a:solidFill>
                <a:latin typeface="Malgun Gothic"/>
                <a:ea typeface="Malgun Gothic"/>
              </a:rPr>
              <a:t>•  인카네이션이 바뀌어 이전 백업본을 쓸 수 없다</a:t>
            </a:r>
          </a:p>
          <a:p>
            <a:pPr>
              <a:spcAft>
                <a:spcPts val="600"/>
              </a:spcAft>
            </a:pPr>
            <a:r>
              <a:rPr sz="1600" b="0">
                <a:solidFill>
                  <a:srgbClr val="C5CED6"/>
                </a:solidFill>
                <a:latin typeface="Malgun Gothic"/>
                <a:ea typeface="Malgun Gothic"/>
              </a:rPr>
              <a:t>•  직후 전체 백업이 절차의 일부다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RESETLOGS 전후</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인카네이션과 시퀀스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incarnation#, resetlogs_change#,</a:t>
            </a:r>
          </a:p>
          <a:p>
            <a:pPr>
              <a:spcAft>
                <a:spcPts val="0"/>
              </a:spcAft>
            </a:pPr>
            <a:r>
              <a:rPr sz="1250" b="0">
                <a:solidFill>
                  <a:srgbClr val="E6E6E6"/>
                </a:solidFill>
                <a:latin typeface="Consolas"/>
                <a:ea typeface="Consolas"/>
              </a:rPr>
              <a:t>  2         TO_CHAR(resetlogs_time,'YYYY-MM-DD HH24:MI:SS') AS reset_time, status</a:t>
            </a:r>
          </a:p>
          <a:p>
            <a:pPr>
              <a:spcAft>
                <a:spcPts val="0"/>
              </a:spcAft>
            </a:pPr>
            <a:r>
              <a:rPr sz="1250" b="0">
                <a:solidFill>
                  <a:srgbClr val="E6E6E6"/>
                </a:solidFill>
                <a:latin typeface="Consolas"/>
                <a:ea typeface="Consolas"/>
              </a:rPr>
              <a:t>  3  FROM   v$database_incarnation ORDER BY incarnation#;</a:t>
            </a:r>
          </a:p>
          <a:p>
            <a:pPr>
              <a:spcAft>
                <a:spcPts val="0"/>
              </a:spcAft>
            </a:pPr>
            <a:r>
              <a:rPr sz="1250" b="0">
                <a:solidFill>
                  <a:srgbClr val="E6E6E6"/>
                </a:solidFill>
                <a:latin typeface="Consolas"/>
                <a:ea typeface="Consolas"/>
              </a:rPr>
              <a:t>INCARNATION# RESETLOGS_CHANGE# RESET_TIME          STATUS</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1                 1 2025-05-08 10:00:00 PARENT</a:t>
            </a:r>
          </a:p>
          <a:p>
            <a:pPr>
              <a:spcAft>
                <a:spcPts val="0"/>
              </a:spcAft>
            </a:pPr>
            <a:r>
              <a:rPr sz="1250" b="0">
                <a:solidFill>
                  <a:srgbClr val="E6E6E6"/>
                </a:solidFill>
                <a:latin typeface="Consolas"/>
                <a:ea typeface="Consolas"/>
              </a:rPr>
              <a:t>           2           2420640 2025-05-12 09:52:14 CURRENT</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group#, sequence#, status FROM v$log ORDER BY group#;</a:t>
            </a:r>
          </a:p>
          <a:p>
            <a:pPr>
              <a:spcAft>
                <a:spcPts val="0"/>
              </a:spcAft>
            </a:pPr>
            <a:r>
              <a:rPr sz="1250" b="0">
                <a:solidFill>
                  <a:srgbClr val="E6E6E6"/>
                </a:solidFill>
                <a:latin typeface="Consolas"/>
                <a:ea typeface="Consolas"/>
              </a:rPr>
              <a:t>         1          1 CURRENT</a:t>
            </a:r>
          </a:p>
          <a:p>
            <a:pPr>
              <a:spcAft>
                <a:spcPts val="0"/>
              </a:spcAft>
            </a:pPr>
            <a:r>
              <a:rPr sz="1250" b="0">
                <a:solidFill>
                  <a:srgbClr val="E6E6E6"/>
                </a:solidFill>
                <a:latin typeface="Consolas"/>
                <a:ea typeface="Consolas"/>
              </a:rPr>
              <a:t>         3          0 UNUSED</a:t>
            </a:r>
          </a:p>
          <a:p>
            <a:pPr>
              <a:spcAft>
                <a:spcPts val="0"/>
              </a:spcAft>
            </a:pPr>
            <a:r>
              <a:rPr sz="1250" b="0">
                <a:solidFill>
                  <a:srgbClr val="E6E6E6"/>
                </a:solidFill>
                <a:latin typeface="Consolas"/>
                <a:ea typeface="Consolas"/>
              </a:rPr>
              <a:t>         4          0 UNUSED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이후 백업 정책</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RESETLOGS 직후 전체 백업 — 새 인카네이션의 첫 백업</a:t>
            </a:r>
          </a:p>
          <a:p>
            <a:pPr>
              <a:spcAft>
                <a:spcPts val="600"/>
              </a:spcAft>
            </a:pPr>
            <a:r>
              <a:rPr sz="1800" b="0">
                <a:solidFill>
                  <a:srgbClr val="202830"/>
                </a:solidFill>
                <a:latin typeface="Malgun Gothic"/>
                <a:ea typeface="Malgun Gothic"/>
              </a:rPr>
              <a:t>•  이전 백업본을 즉시 폐기하지 않는다</a:t>
            </a:r>
          </a:p>
          <a:p>
            <a:pPr>
              <a:spcAft>
                <a:spcPts val="600"/>
              </a:spcAft>
            </a:pPr>
            <a:r>
              <a:rPr sz="1600" b="0">
                <a:solidFill>
                  <a:srgbClr val="5A6672"/>
                </a:solidFill>
                <a:latin typeface="Malgun Gothic"/>
                <a:ea typeface="Malgun Gothic"/>
              </a:rPr>
              <a:t>    –  이전 인카네이션으로 되돌릴 필요가 생길 수 있음</a:t>
            </a:r>
          </a:p>
          <a:p>
            <a:pPr>
              <a:spcAft>
                <a:spcPts val="600"/>
              </a:spcAft>
            </a:pPr>
            <a:r>
              <a:rPr sz="1600" b="0">
                <a:solidFill>
                  <a:srgbClr val="5A6672"/>
                </a:solidFill>
                <a:latin typeface="Malgun Gothic"/>
                <a:ea typeface="Malgun Gothic"/>
              </a:rPr>
              <a:t>    –  라벨을 붙여 구분 보관</a:t>
            </a:r>
          </a:p>
          <a:p>
            <a:pPr>
              <a:spcAft>
                <a:spcPts val="600"/>
              </a:spcAft>
            </a:pPr>
            <a:r>
              <a:rPr sz="1800" b="0">
                <a:solidFill>
                  <a:srgbClr val="202830"/>
                </a:solidFill>
                <a:latin typeface="Malgun Gothic"/>
                <a:ea typeface="Malgun Gothic"/>
              </a:rPr>
              <a:t>•  매니페스트에 RESETLOGS_CHANGE# 와 시각을 기록</a:t>
            </a:r>
          </a:p>
          <a:p>
            <a:pPr>
              <a:spcAft>
                <a:spcPts val="600"/>
              </a:spcAft>
            </a:pPr>
            <a:r>
              <a:rPr sz="1800" b="0">
                <a:solidFill>
                  <a:srgbClr val="202830"/>
                </a:solidFill>
                <a:latin typeface="Malgun Gothic"/>
                <a:ea typeface="Malgun Gothic"/>
              </a:rPr>
              <a:t>•  복구 절차서 갱신 — 다음 담당자가 알 수 있어야 한다</a:t>
            </a:r>
          </a:p>
          <a:p>
            <a:pPr>
              <a:spcAft>
                <a:spcPts val="600"/>
              </a:spcAft>
            </a:pPr>
            <a:r>
              <a:rPr sz="1800" b="0">
                <a:solidFill>
                  <a:srgbClr val="202830"/>
                </a:solidFill>
                <a:latin typeface="Malgun Gothic"/>
                <a:ea typeface="Malgun Gothic"/>
              </a:rPr>
              <a:t>•  TEMP와 다중화 구성도 함께 점검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10.6</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INACTIVE 리두 로그 장애</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ARCHIVED 컬럼 확인이 먼저다</a:t>
            </a:r>
          </a:p>
          <a:p>
            <a:pPr>
              <a:spcAft>
                <a:spcPts val="600"/>
              </a:spcAft>
            </a:pPr>
            <a:r>
              <a:rPr sz="1600" b="0">
                <a:solidFill>
                  <a:srgbClr val="C5CED6"/>
                </a:solidFill>
                <a:latin typeface="Malgun Gothic"/>
                <a:ea typeface="Malgun Gothic"/>
              </a:rPr>
              <a:t>•  아카이브된 그룹이면 CLEAR로 손실 없이 끝난다</a:t>
            </a:r>
          </a:p>
          <a:p>
            <a:pPr>
              <a:spcAft>
                <a:spcPts val="600"/>
              </a:spcAft>
            </a:pPr>
            <a:r>
              <a:rPr sz="1600" b="0">
                <a:solidFill>
                  <a:srgbClr val="C5CED6"/>
                </a:solidFill>
                <a:latin typeface="Malgun Gothic"/>
                <a:ea typeface="Malgun Gothic"/>
              </a:rPr>
              <a:t>•  UNARCHIVED는 복구 범위를 스스로 줄이는 선택이다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ARCHIVED 확인과 CLEAR</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ORA-00350</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group#, sequence#, archived, status FROM v$log ORDER BY group#;</a:t>
            </a:r>
          </a:p>
          <a:p>
            <a:pPr>
              <a:spcAft>
                <a:spcPts val="0"/>
              </a:spcAft>
            </a:pPr>
            <a:r>
              <a:rPr sz="1250" b="0">
                <a:solidFill>
                  <a:srgbClr val="E6E6E6"/>
                </a:solidFill>
                <a:latin typeface="Consolas"/>
                <a:ea typeface="Consolas"/>
              </a:rPr>
              <a:t>    GROUP#  SEQUENCE# ARC STATUS</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1         12 YES CURRENT</a:t>
            </a:r>
          </a:p>
          <a:p>
            <a:pPr>
              <a:spcAft>
                <a:spcPts val="0"/>
              </a:spcAft>
            </a:pPr>
            <a:r>
              <a:rPr sz="1250" b="0">
                <a:solidFill>
                  <a:srgbClr val="E6E6E6"/>
                </a:solidFill>
                <a:latin typeface="Consolas"/>
                <a:ea typeface="Consolas"/>
              </a:rPr>
              <a:t>         3         10 NO  INACTIVE</a:t>
            </a:r>
          </a:p>
          <a:p>
            <a:pPr>
              <a:spcAft>
                <a:spcPts val="0"/>
              </a:spcAft>
            </a:pPr>
            <a:r>
              <a:rPr sz="1250" b="0">
                <a:solidFill>
                  <a:srgbClr val="E6E6E6"/>
                </a:solidFill>
                <a:latin typeface="Consolas"/>
                <a:ea typeface="Consolas"/>
              </a:rPr>
              <a:t>         4         11 YES INACTIVE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CLEAR LOGFILE GROUP 3;</a:t>
            </a:r>
          </a:p>
          <a:p>
            <a:pPr>
              <a:spcAft>
                <a:spcPts val="0"/>
              </a:spcAft>
            </a:pPr>
            <a:r>
              <a:rPr sz="1250" b="0">
                <a:solidFill>
                  <a:srgbClr val="E6E6E6"/>
                </a:solidFill>
                <a:latin typeface="Consolas"/>
                <a:ea typeface="Consolas"/>
              </a:rPr>
              <a:t>ORA-00350: log 3 of instance orcl (thread 1) needs to be archived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CLEAR UNARCHIVED LOGFILE GROUP 3;</a:t>
            </a:r>
          </a:p>
          <a:p>
            <a:pPr>
              <a:spcAft>
                <a:spcPts val="0"/>
              </a:spcAft>
            </a:pPr>
            <a:r>
              <a:rPr sz="1250" b="0">
                <a:solidFill>
                  <a:srgbClr val="E6E6E6"/>
                </a:solidFill>
                <a:latin typeface="Consolas"/>
                <a:ea typeface="Consolas"/>
              </a:rPr>
              <a:t>Database altered.</a:t>
            </a:r>
          </a:p>
          <a:p>
            <a:pPr>
              <a:spcAft>
                <a:spcPts val="0"/>
              </a:spcAft>
            </a:pPr>
            <a:r>
              <a:rPr sz="1250" b="0">
                <a:solidFill>
                  <a:srgbClr val="7EC699"/>
                </a:solidFill>
                <a:latin typeface="Consolas"/>
                <a:ea typeface="Consolas"/>
              </a:rPr>
              <a:t>-- 그 구간의 리두를 버렸다. 즉시 전체 백업을 받는다.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확인 없이 UNARCHIVED를 붙인 사례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리두 그룹 손상 오류에 습관적으로 CLEAR UNARCHIVED 수행</a:t>
            </a:r>
          </a:p>
          <a:p>
            <a:pPr>
              <a:spcAft>
                <a:spcPts val="600"/>
              </a:spcAft>
            </a:pPr>
            <a:r>
              <a:rPr sz="1600" b="0">
                <a:solidFill>
                  <a:srgbClr val="5A6672"/>
                </a:solidFill>
                <a:latin typeface="Malgun Gothic"/>
                <a:ea typeface="Malgun Gothic"/>
              </a:rPr>
              <a:t>    –  실제로는 아카이브 대상이 잠시 full이었을 뿐 파일은 멀쩡</a:t>
            </a:r>
          </a:p>
          <a:p>
            <a:pPr>
              <a:spcAft>
                <a:spcPts val="600"/>
              </a:spcAft>
            </a:pPr>
            <a:r>
              <a:rPr sz="1600" b="0">
                <a:solidFill>
                  <a:srgbClr val="5A6672"/>
                </a:solidFill>
                <a:latin typeface="Malgun Gothic"/>
                <a:ea typeface="Malgun Gothic"/>
              </a:rPr>
              <a:t>    –  공간 확보 후 ARCHIVE LOG ALL 만 했으면 손실이 없었을 상황</a:t>
            </a:r>
          </a:p>
          <a:p>
            <a:pPr>
              <a:spcAft>
                <a:spcPts val="600"/>
              </a:spcAft>
            </a:pPr>
            <a:r>
              <a:rPr sz="1800" b="0">
                <a:solidFill>
                  <a:srgbClr val="202830"/>
                </a:solidFill>
                <a:latin typeface="Malgun Gothic"/>
                <a:ea typeface="Malgun Gothic"/>
              </a:rPr>
              <a:t>•  UNARCHIVED로 비운 탓에 그 구간 리두가 사라짐</a:t>
            </a:r>
          </a:p>
          <a:p>
            <a:pPr>
              <a:spcAft>
                <a:spcPts val="600"/>
              </a:spcAft>
            </a:pPr>
            <a:r>
              <a:rPr sz="1600" b="0">
                <a:solidFill>
                  <a:srgbClr val="5A6672"/>
                </a:solidFill>
                <a:latin typeface="Malgun Gothic"/>
                <a:ea typeface="Malgun Gothic"/>
              </a:rPr>
              <a:t>    –  이전 백업본이 무효가 되어 즉시 전체 백업 필요</a:t>
            </a:r>
          </a:p>
          <a:p>
            <a:pPr>
              <a:spcAft>
                <a:spcPts val="600"/>
              </a:spcAft>
            </a:pPr>
            <a:r>
              <a:rPr sz="1800" b="0">
                <a:solidFill>
                  <a:srgbClr val="202830"/>
                </a:solidFill>
                <a:latin typeface="Malgun Gothic"/>
                <a:ea typeface="Malgun Gothic"/>
              </a:rPr>
              <a:t>•  명령이 성공한다는 것과 옳은 선택이라는 것은 다른 문제</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정상 종료 후 INACTIVE 그룹 손상</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가장 단순한 경로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STARTUP</a:t>
            </a:r>
          </a:p>
          <a:p>
            <a:pPr>
              <a:spcAft>
                <a:spcPts val="0"/>
              </a:spcAft>
            </a:pPr>
            <a:r>
              <a:rPr sz="1250" b="0">
                <a:solidFill>
                  <a:srgbClr val="E6E6E6"/>
                </a:solidFill>
                <a:latin typeface="Consolas"/>
                <a:ea typeface="Consolas"/>
              </a:rPr>
              <a:t>Database mounted.</a:t>
            </a:r>
          </a:p>
          <a:p>
            <a:pPr>
              <a:spcAft>
                <a:spcPts val="0"/>
              </a:spcAft>
            </a:pPr>
            <a:r>
              <a:rPr sz="1250" b="0">
                <a:solidFill>
                  <a:srgbClr val="E6E6E6"/>
                </a:solidFill>
                <a:latin typeface="Consolas"/>
                <a:ea typeface="Consolas"/>
              </a:rPr>
              <a:t>ORA-00313: open failed for members of log group 3 of thread 1</a:t>
            </a:r>
          </a:p>
          <a:p>
            <a:pPr>
              <a:spcAft>
                <a:spcPts val="0"/>
              </a:spcAft>
            </a:pPr>
            <a:r>
              <a:rPr sz="1250" b="0">
                <a:solidFill>
                  <a:srgbClr val="E6E6E6"/>
                </a:solidFill>
                <a:latin typeface="Consolas"/>
                <a:ea typeface="Consolas"/>
              </a:rPr>
              <a:t>ORA-00312: online log 3 thread 1: '/u01/app/oracle/oradata/orcl/redo03.log'</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group#, sequence#, archived, status FROM v$log ORDER BY group#;</a:t>
            </a:r>
          </a:p>
          <a:p>
            <a:pPr>
              <a:spcAft>
                <a:spcPts val="0"/>
              </a:spcAft>
            </a:pPr>
            <a:r>
              <a:rPr sz="1250" b="0">
                <a:solidFill>
                  <a:srgbClr val="E6E6E6"/>
                </a:solidFill>
                <a:latin typeface="Consolas"/>
                <a:ea typeface="Consolas"/>
              </a:rPr>
              <a:t>    GROUP#  SEQUENCE# ARC STATUS</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1          8 YES CURRENT</a:t>
            </a:r>
          </a:p>
          <a:p>
            <a:pPr>
              <a:spcAft>
                <a:spcPts val="0"/>
              </a:spcAft>
            </a:pPr>
            <a:r>
              <a:rPr sz="1250" b="0">
                <a:solidFill>
                  <a:srgbClr val="E6E6E6"/>
                </a:solidFill>
                <a:latin typeface="Consolas"/>
                <a:ea typeface="Consolas"/>
              </a:rPr>
              <a:t>         3          6 YES INACTIVE</a:t>
            </a:r>
          </a:p>
          <a:p>
            <a:pPr>
              <a:spcAft>
                <a:spcPts val="0"/>
              </a:spcAft>
            </a:pPr>
            <a:r>
              <a:rPr sz="1250" b="0">
                <a:solidFill>
                  <a:srgbClr val="E6E6E6"/>
                </a:solidFill>
                <a:latin typeface="Consolas"/>
                <a:ea typeface="Consolas"/>
              </a:rPr>
              <a:t>         4          7 YES INACTIVE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CLEAR LOGFILE GROUP 3;</a:t>
            </a:r>
          </a:p>
          <a:p>
            <a:pPr>
              <a:spcAft>
                <a:spcPts val="0"/>
              </a:spcAft>
            </a:pPr>
            <a:r>
              <a:rPr sz="1250" b="0">
                <a:solidFill>
                  <a:srgbClr val="E6E6E6"/>
                </a:solidFill>
                <a:latin typeface="Consolas"/>
                <a:ea typeface="Consolas"/>
              </a:rPr>
              <a:t>SYS@orcl&gt; ALTER DATABASE OPEN;</a:t>
            </a:r>
          </a:p>
          <a:p>
            <a:pPr>
              <a:spcAft>
                <a:spcPts val="0"/>
              </a:spcAft>
            </a:pPr>
            <a:r>
              <a:rPr sz="1250" b="0">
                <a:solidFill>
                  <a:srgbClr val="7EC699"/>
                </a:solidFill>
                <a:latin typeface="Consolas"/>
                <a:ea typeface="Consolas"/>
              </a:rPr>
              <a:t>-- 손실도 RESETLOGS도 없다.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불완전 복구 후 검증 항목</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v$recover_file 이 비었는지</a:t>
            </a:r>
          </a:p>
          <a:p>
            <a:pPr>
              <a:spcAft>
                <a:spcPts val="600"/>
              </a:spcAft>
            </a:pPr>
            <a:r>
              <a:rPr sz="1800" b="0">
                <a:solidFill>
                  <a:srgbClr val="202830"/>
                </a:solidFill>
                <a:latin typeface="Malgun Gothic"/>
                <a:ea typeface="Malgun Gothic"/>
              </a:rPr>
              <a:t>•  모든 데이터파일이 ONLINE 또는 SYSTEM 상태인지</a:t>
            </a:r>
          </a:p>
          <a:p>
            <a:pPr>
              <a:spcAft>
                <a:spcPts val="600"/>
              </a:spcAft>
            </a:pPr>
            <a:r>
              <a:rPr sz="1800" b="0">
                <a:solidFill>
                  <a:srgbClr val="202830"/>
                </a:solidFill>
                <a:latin typeface="Malgun Gothic"/>
                <a:ea typeface="Malgun Gothic"/>
              </a:rPr>
              <a:t>•  되돌리려던 변경이 실제로 사라졌는지</a:t>
            </a:r>
          </a:p>
          <a:p>
            <a:pPr>
              <a:spcAft>
                <a:spcPts val="600"/>
              </a:spcAft>
            </a:pPr>
            <a:r>
              <a:rPr sz="1800" b="0">
                <a:solidFill>
                  <a:srgbClr val="202830"/>
                </a:solidFill>
                <a:latin typeface="Malgun Gothic"/>
                <a:ea typeface="Malgun Gothic"/>
              </a:rPr>
              <a:t>•  정상 업무 데이터가 남아 있는지</a:t>
            </a:r>
          </a:p>
          <a:p>
            <a:pPr>
              <a:spcAft>
                <a:spcPts val="600"/>
              </a:spcAft>
            </a:pPr>
            <a:r>
              <a:rPr sz="1800" b="0">
                <a:solidFill>
                  <a:srgbClr val="202830"/>
                </a:solidFill>
                <a:latin typeface="Malgun Gothic"/>
                <a:ea typeface="Malgun Gothic"/>
              </a:rPr>
              <a:t>•  인카네이션이 올라갔는지 — v$database_incarnation</a:t>
            </a:r>
          </a:p>
          <a:p>
            <a:pPr>
              <a:spcAft>
                <a:spcPts val="600"/>
              </a:spcAft>
            </a:pPr>
            <a:r>
              <a:rPr sz="1800" b="0">
                <a:solidFill>
                  <a:srgbClr val="202830"/>
                </a:solidFill>
                <a:latin typeface="Malgun Gothic"/>
                <a:ea typeface="Malgun Gothic"/>
              </a:rPr>
              <a:t>•  TEMP 파일과 다중화 구성 점검</a:t>
            </a:r>
          </a:p>
          <a:p>
            <a:pPr>
              <a:spcAft>
                <a:spcPts val="600"/>
              </a:spcAft>
            </a:pPr>
            <a:r>
              <a:rPr sz="1800" b="0">
                <a:solidFill>
                  <a:srgbClr val="202830"/>
                </a:solidFill>
                <a:latin typeface="Malgun Gothic"/>
                <a:ea typeface="Malgun Gothic"/>
              </a:rPr>
              <a:t>•  전체 백업 수행과 완료 확인</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보고서에 담을 항목</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① 복구된 시점 — SCN과 시각을 함께</a:t>
            </a:r>
          </a:p>
          <a:p>
            <a:pPr>
              <a:spcAft>
                <a:spcPts val="600"/>
              </a:spcAft>
            </a:pPr>
            <a:r>
              <a:rPr sz="1800" b="0">
                <a:solidFill>
                  <a:srgbClr val="202830"/>
                </a:solidFill>
                <a:latin typeface="Malgun Gothic"/>
                <a:ea typeface="Malgun Gothic"/>
              </a:rPr>
              <a:t>•  ② 손실 구간 — 시작과 끝을 업무 시각으로</a:t>
            </a:r>
          </a:p>
          <a:p>
            <a:pPr>
              <a:spcAft>
                <a:spcPts val="600"/>
              </a:spcAft>
            </a:pPr>
            <a:r>
              <a:rPr sz="1800" b="0">
                <a:solidFill>
                  <a:srgbClr val="202830"/>
                </a:solidFill>
                <a:latin typeface="Malgun Gothic"/>
                <a:ea typeface="Malgun Gothic"/>
              </a:rPr>
              <a:t>•  ③ 영향 범위 — 재처리 대상 테이블과 업무</a:t>
            </a:r>
          </a:p>
          <a:p>
            <a:pPr>
              <a:spcAft>
                <a:spcPts val="600"/>
              </a:spcAft>
            </a:pPr>
            <a:r>
              <a:rPr sz="1800" b="0">
                <a:solidFill>
                  <a:srgbClr val="202830"/>
                </a:solidFill>
                <a:latin typeface="Malgun Gothic"/>
                <a:ea typeface="Malgun Gothic"/>
              </a:rPr>
              <a:t>•  ④ 인카네이션 변경 — RESETLOGS 수행 사실과 새 번호</a:t>
            </a:r>
          </a:p>
          <a:p>
            <a:pPr>
              <a:spcAft>
                <a:spcPts val="600"/>
              </a:spcAft>
            </a:pPr>
            <a:r>
              <a:rPr sz="1800" b="0">
                <a:solidFill>
                  <a:srgbClr val="202830"/>
                </a:solidFill>
                <a:latin typeface="Malgun Gothic"/>
                <a:ea typeface="Malgun Gothic"/>
              </a:rPr>
              <a:t>•  ⑤ 후속 조치 — 전체 백업 수행 여부와 완료 시각</a:t>
            </a:r>
          </a:p>
          <a:p>
            <a:pPr>
              <a:spcAft>
                <a:spcPts val="600"/>
              </a:spcAft>
            </a:pPr>
            <a:r>
              <a:rPr sz="1800" b="0">
                <a:solidFill>
                  <a:srgbClr val="202830"/>
                </a:solidFill>
                <a:latin typeface="Malgun Gothic"/>
                <a:ea typeface="Malgun Gothic"/>
              </a:rPr>
              <a:t>•  재처리 가능 여부도 함께 판단</a:t>
            </a:r>
          </a:p>
          <a:p>
            <a:pPr>
              <a:spcAft>
                <a:spcPts val="600"/>
              </a:spcAft>
            </a:pPr>
            <a:r>
              <a:rPr sz="1600" b="0">
                <a:solidFill>
                  <a:srgbClr val="5A6672"/>
                </a:solidFill>
                <a:latin typeface="Malgun Gothic"/>
                <a:ea typeface="Malgun Gothic"/>
              </a:rPr>
              <a:t>    –  원천이 있으면 재적재, 온라인 거래는 별도 대응</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후 확인 조회 모음</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보고 자료 수집</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checkpoint_change# AS recovered_scn,</a:t>
            </a:r>
          </a:p>
          <a:p>
            <a:pPr>
              <a:spcAft>
                <a:spcPts val="0"/>
              </a:spcAft>
            </a:pPr>
            <a:r>
              <a:rPr sz="1250" b="0">
                <a:solidFill>
                  <a:srgbClr val="E6E6E6"/>
                </a:solidFill>
                <a:latin typeface="Consolas"/>
                <a:ea typeface="Consolas"/>
              </a:rPr>
              <a:t>  2         TO_CHAR(SCN_TO_TIMESTAMP(checkpoint_change#),</a:t>
            </a:r>
          </a:p>
          <a:p>
            <a:pPr>
              <a:spcAft>
                <a:spcPts val="0"/>
              </a:spcAft>
            </a:pPr>
            <a:r>
              <a:rPr sz="1250" b="0">
                <a:solidFill>
                  <a:srgbClr val="E6E6E6"/>
                </a:solidFill>
                <a:latin typeface="Consolas"/>
                <a:ea typeface="Consolas"/>
              </a:rPr>
              <a:t>  3                 'YYYY-MM-DD HH24:MI:SS') AS recovered_time</a:t>
            </a:r>
          </a:p>
          <a:p>
            <a:pPr>
              <a:spcAft>
                <a:spcPts val="0"/>
              </a:spcAft>
            </a:pPr>
            <a:r>
              <a:rPr sz="1250" b="0">
                <a:solidFill>
                  <a:srgbClr val="E6E6E6"/>
                </a:solidFill>
                <a:latin typeface="Consolas"/>
                <a:ea typeface="Consolas"/>
              </a:rPr>
              <a:t>  4  FROM   v$database;</a:t>
            </a:r>
          </a:p>
          <a:p>
            <a:pPr>
              <a:spcAft>
                <a:spcPts val="0"/>
              </a:spcAft>
            </a:pPr>
            <a:r>
              <a:rPr sz="1250" b="0">
                <a:solidFill>
                  <a:srgbClr val="E6E6E6"/>
                </a:solidFill>
                <a:latin typeface="Consolas"/>
                <a:ea typeface="Consolas"/>
              </a:rPr>
              <a:t>      2420640 2025-05-12 09:29:58</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incarnation#, resetlogs_change#,</a:t>
            </a:r>
          </a:p>
          <a:p>
            <a:pPr>
              <a:spcAft>
                <a:spcPts val="0"/>
              </a:spcAft>
            </a:pPr>
            <a:r>
              <a:rPr sz="1250" b="0">
                <a:solidFill>
                  <a:srgbClr val="E6E6E6"/>
                </a:solidFill>
                <a:latin typeface="Consolas"/>
                <a:ea typeface="Consolas"/>
              </a:rPr>
              <a:t>  2         TO_CHAR(resetlogs_time,'YYYY-MM-DD HH24:MI:SS')</a:t>
            </a:r>
          </a:p>
          <a:p>
            <a:pPr>
              <a:spcAft>
                <a:spcPts val="0"/>
              </a:spcAft>
            </a:pPr>
            <a:r>
              <a:rPr sz="1250" b="0">
                <a:solidFill>
                  <a:srgbClr val="E6E6E6"/>
                </a:solidFill>
                <a:latin typeface="Consolas"/>
                <a:ea typeface="Consolas"/>
              </a:rPr>
              <a:t>  3  FROM   v$database_incarnation WHERE status = 'CURRENT';</a:t>
            </a:r>
          </a:p>
          <a:p>
            <a:pPr>
              <a:spcAft>
                <a:spcPts val="0"/>
              </a:spcAft>
            </a:pPr>
            <a:r>
              <a:rPr sz="1250" b="0">
                <a:solidFill>
                  <a:srgbClr val="E6E6E6"/>
                </a:solidFill>
                <a:latin typeface="Consolas"/>
                <a:ea typeface="Consolas"/>
              </a:rPr>
              <a:t>            2           2420640 2025-05-12 09:52:14</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MAX(order_date) AS last_business_data FROM hr.insa_2025;</a:t>
            </a:r>
          </a:p>
          <a:p>
            <a:pPr>
              <a:spcAft>
                <a:spcPts val="0"/>
              </a:spcAft>
            </a:pPr>
            <a:r>
              <a:rPr sz="1250" b="0">
                <a:solidFill>
                  <a:srgbClr val="E6E6E6"/>
                </a:solidFill>
                <a:latin typeface="Consolas"/>
                <a:ea typeface="Consolas"/>
              </a:rPr>
              <a:t>12-MAY-25 09.29.44 AM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장애 유형 → 복구 전략 판단표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아는 것과 없는 것</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상황                          | 아는 것        | 기준            | 결과</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아카이브 중간 결손            | 끊긴 시퀀스    | UNTIL SEQUENCE  | 결손 직전까지</a:t>
            </a:r>
          </a:p>
          <a:p>
            <a:pPr>
              <a:spcAft>
                <a:spcPts val="0"/>
              </a:spcAft>
            </a:pPr>
            <a:r>
              <a:rPr sz="1250" b="0">
                <a:solidFill>
                  <a:srgbClr val="E6E6E6"/>
                </a:solidFill>
                <a:latin typeface="Consolas"/>
                <a:ea typeface="Consolas"/>
              </a:rPr>
              <a:t>아카이브 결손, 시퀀스 불명    | 없음           | UNTIL CANCEL    | 가능한 데까지</a:t>
            </a:r>
          </a:p>
          <a:p>
            <a:pPr>
              <a:spcAft>
                <a:spcPts val="0"/>
              </a:spcAft>
            </a:pPr>
            <a:r>
              <a:rPr sz="1250" b="0">
                <a:solidFill>
                  <a:srgbClr val="E6E6E6"/>
                </a:solidFill>
                <a:latin typeface="Consolas"/>
                <a:ea typeface="Consolas"/>
              </a:rPr>
              <a:t>사용자 실수, 시각 파악        | 사고 시각      | UNTIL TIME      | 사고 직전까지</a:t>
            </a:r>
          </a:p>
          <a:p>
            <a:pPr>
              <a:spcAft>
                <a:spcPts val="0"/>
              </a:spcAft>
            </a:pPr>
            <a:r>
              <a:rPr sz="1250" b="0">
                <a:solidFill>
                  <a:srgbClr val="E6E6E6"/>
                </a:solidFill>
                <a:latin typeface="Consolas"/>
                <a:ea typeface="Consolas"/>
              </a:rPr>
              <a:t>사용자 실수, SCN 파악         | 사고 SCN       | UNTIL CHANGE    | 사고 직전까지</a:t>
            </a:r>
          </a:p>
          <a:p>
            <a:pPr>
              <a:spcAft>
                <a:spcPts val="0"/>
              </a:spcAft>
            </a:pPr>
            <a:r>
              <a:rPr sz="1250" b="0">
                <a:solidFill>
                  <a:srgbClr val="E6E6E6"/>
                </a:solidFill>
                <a:latin typeface="Consolas"/>
                <a:ea typeface="Consolas"/>
              </a:rPr>
              <a:t>Hot Backup 기반               | 백업 완료 시각 | 그 이후로 지정  | END BACKUP 이후</a:t>
            </a:r>
          </a:p>
          <a:p>
            <a:pPr>
              <a:spcAft>
                <a:spcPts val="0"/>
              </a:spcAft>
            </a:pPr>
            <a:r>
              <a:rPr sz="1250" b="0">
                <a:solidFill>
                  <a:srgbClr val="E6E6E6"/>
                </a:solidFill>
                <a:latin typeface="Consolas"/>
                <a:ea typeface="Consolas"/>
              </a:rPr>
              <a:t>INACTIVE 손상, 아카이브 O     | 그룹 번호      | CLEAR LOGFILE   | 손실 없음</a:t>
            </a:r>
          </a:p>
          <a:p>
            <a:pPr>
              <a:spcAft>
                <a:spcPts val="0"/>
              </a:spcAft>
            </a:pPr>
            <a:r>
              <a:rPr sz="1250" b="0">
                <a:solidFill>
                  <a:srgbClr val="E6E6E6"/>
                </a:solidFill>
                <a:latin typeface="Consolas"/>
                <a:ea typeface="Consolas"/>
              </a:rPr>
              <a:t>INACTIVE 손상, 아카이브 X     | 그룹 번호      | CLEAR UNARCHIVED| 그 구간 손실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불완전 복구의 복원 범위</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불완전 복구를 수행할 때 복원해야 하는 데이터파일은?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손상된 파일만</a:t>
            </a:r>
          </a:p>
          <a:p>
            <a:pPr>
              <a:spcAft>
                <a:spcPts val="800"/>
              </a:spcAft>
            </a:pPr>
            <a:r>
              <a:rPr sz="1700" b="0">
                <a:solidFill>
                  <a:srgbClr val="202830"/>
                </a:solidFill>
                <a:latin typeface="Malgun Gothic"/>
                <a:ea typeface="Malgun Gothic"/>
              </a:rPr>
              <a:t>모든 데이터파일</a:t>
            </a:r>
          </a:p>
          <a:p>
            <a:pPr>
              <a:spcAft>
                <a:spcPts val="800"/>
              </a:spcAft>
            </a:pPr>
            <a:r>
              <a:rPr sz="1700" b="0">
                <a:solidFill>
                  <a:srgbClr val="202830"/>
                </a:solidFill>
                <a:latin typeface="Malgun Gothic"/>
                <a:ea typeface="Malgun Gothic"/>
              </a:rPr>
              <a:t>SYSTEM과 UNDO만</a:t>
            </a:r>
          </a:p>
          <a:p>
            <a:pPr>
              <a:spcAft>
                <a:spcPts val="800"/>
              </a:spcAft>
            </a:pPr>
            <a:r>
              <a:rPr sz="1700" b="0">
                <a:solidFill>
                  <a:srgbClr val="202830"/>
                </a:solidFill>
                <a:latin typeface="Malgun Gothic"/>
                <a:ea typeface="Malgun Gothic"/>
              </a:rPr>
              <a:t>복원이 필요 없다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UNTIL CHANGE의 범위</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RECOVER DATABASE UNTIL CHANGE 2420640 을 수행하면 어디까지 적용되는가?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SCN 2420640 포함</a:t>
            </a:r>
          </a:p>
          <a:p>
            <a:pPr>
              <a:spcAft>
                <a:spcPts val="800"/>
              </a:spcAft>
            </a:pPr>
            <a:r>
              <a:rPr sz="1700" b="0">
                <a:solidFill>
                  <a:srgbClr val="202830"/>
                </a:solidFill>
                <a:latin typeface="Malgun Gothic"/>
                <a:ea typeface="Malgun Gothic"/>
              </a:rPr>
              <a:t>SCN 2420639까지(지정 SCN 직전)</a:t>
            </a:r>
          </a:p>
          <a:p>
            <a:pPr>
              <a:spcAft>
                <a:spcPts val="800"/>
              </a:spcAft>
            </a:pPr>
            <a:r>
              <a:rPr sz="1700" b="0">
                <a:solidFill>
                  <a:srgbClr val="202830"/>
                </a:solidFill>
                <a:latin typeface="Malgun Gothic"/>
                <a:ea typeface="Malgun Gothic"/>
              </a:rPr>
              <a:t>SCN 2420641까지</a:t>
            </a:r>
          </a:p>
          <a:p>
            <a:pPr>
              <a:spcAft>
                <a:spcPts val="800"/>
              </a:spcAft>
            </a:pPr>
            <a:r>
              <a:rPr sz="1700" b="0">
                <a:solidFill>
                  <a:srgbClr val="202830"/>
                </a:solidFill>
                <a:latin typeface="Malgun Gothic"/>
                <a:ea typeface="Malgun Gothic"/>
              </a:rPr>
              <a:t>전체 적용</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RESETLOGS 전 확인</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복구 지점이 맞는지 RESETLOGS 전에 확인하는 방법은?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확인할 방법이 없다</a:t>
            </a:r>
          </a:p>
          <a:p>
            <a:pPr>
              <a:spcAft>
                <a:spcPts val="800"/>
              </a:spcAft>
            </a:pPr>
            <a:r>
              <a:rPr sz="1700" b="0">
                <a:solidFill>
                  <a:srgbClr val="202830"/>
                </a:solidFill>
                <a:latin typeface="Malgun Gothic"/>
                <a:ea typeface="Malgun Gothic"/>
              </a:rPr>
              <a:t>ALTER DATABASE OPEN READ ONLY 로 열어 조회한다</a:t>
            </a:r>
          </a:p>
          <a:p>
            <a:pPr>
              <a:spcAft>
                <a:spcPts val="800"/>
              </a:spcAft>
            </a:pPr>
            <a:r>
              <a:rPr sz="1700" b="0">
                <a:solidFill>
                  <a:srgbClr val="202830"/>
                </a:solidFill>
                <a:latin typeface="Malgun Gothic"/>
                <a:ea typeface="Malgun Gothic"/>
              </a:rPr>
              <a:t>RESETLOGS 후 확인하고 필요하면 되돌린다</a:t>
            </a:r>
          </a:p>
          <a:p>
            <a:pPr>
              <a:spcAft>
                <a:spcPts val="800"/>
              </a:spcAft>
            </a:pPr>
            <a:r>
              <a:rPr sz="1700" b="0">
                <a:solidFill>
                  <a:srgbClr val="202830"/>
                </a:solidFill>
                <a:latin typeface="Malgun Gothic"/>
                <a:ea typeface="Malgun Gothic"/>
              </a:rPr>
              <a:t>alert log만 확인한다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요약</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불완전 복구는 특정 시점까지만 적용하고 멈추는 복구</a:t>
            </a:r>
          </a:p>
          <a:p>
            <a:pPr>
              <a:spcAft>
                <a:spcPts val="600"/>
              </a:spcAft>
            </a:pPr>
            <a:r>
              <a:rPr sz="1800" b="0">
                <a:solidFill>
                  <a:srgbClr val="202830"/>
                </a:solidFill>
                <a:latin typeface="Malgun Gothic"/>
                <a:ea typeface="Malgun Gothic"/>
              </a:rPr>
              <a:t>•  복원 대상은 손상 파일이 아니라 모든 데이터파일</a:t>
            </a:r>
          </a:p>
          <a:p>
            <a:pPr>
              <a:spcAft>
                <a:spcPts val="600"/>
              </a:spcAft>
            </a:pPr>
            <a:r>
              <a:rPr sz="1800" b="0">
                <a:solidFill>
                  <a:srgbClr val="202830"/>
                </a:solidFill>
                <a:latin typeface="Malgun Gothic"/>
                <a:ea typeface="Malgun Gothic"/>
              </a:rPr>
              <a:t>•  기준 네 가지 — 아는 정보에 따라 선택</a:t>
            </a:r>
          </a:p>
          <a:p>
            <a:pPr>
              <a:spcAft>
                <a:spcPts val="600"/>
              </a:spcAft>
            </a:pPr>
            <a:r>
              <a:rPr sz="1800" b="0">
                <a:solidFill>
                  <a:srgbClr val="202830"/>
                </a:solidFill>
                <a:latin typeface="Malgun Gothic"/>
                <a:ea typeface="Malgun Gothic"/>
              </a:rPr>
              <a:t>•  CHANGE와 SEQUENCE는 지정 값 직전까지 적용</a:t>
            </a:r>
          </a:p>
          <a:p>
            <a:pPr>
              <a:spcAft>
                <a:spcPts val="600"/>
              </a:spcAft>
            </a:pPr>
            <a:r>
              <a:rPr sz="1800" b="0">
                <a:solidFill>
                  <a:srgbClr val="202830"/>
                </a:solidFill>
                <a:latin typeface="Malgun Gothic"/>
                <a:ea typeface="Malgun Gothic"/>
              </a:rPr>
              <a:t>•  RESETLOGS 전 READ ONLY 검증으로 되돌릴 여지를 남긴다</a:t>
            </a:r>
          </a:p>
          <a:p>
            <a:pPr>
              <a:spcAft>
                <a:spcPts val="600"/>
              </a:spcAft>
            </a:pPr>
            <a:r>
              <a:rPr sz="1800" b="0">
                <a:solidFill>
                  <a:srgbClr val="202830"/>
                </a:solidFill>
                <a:latin typeface="Malgun Gothic"/>
                <a:ea typeface="Malgun Gothic"/>
              </a:rPr>
              <a:t>•  Hot Backup 기반은 END BACKUP 이후로만 지정 가능</a:t>
            </a:r>
          </a:p>
          <a:p>
            <a:pPr>
              <a:spcAft>
                <a:spcPts val="600"/>
              </a:spcAft>
            </a:pPr>
            <a:r>
              <a:rPr sz="1800" b="0">
                <a:solidFill>
                  <a:srgbClr val="202830"/>
                </a:solidFill>
                <a:latin typeface="Malgun Gothic"/>
                <a:ea typeface="Malgun Gothic"/>
              </a:rPr>
              <a:t>•  RESETLOGS 이후 즉시 전체 백업 — 인카네이션이 달라졌다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10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실습 10-1  아카이브 손상 — Cancel-based 불완전 복구</a:t>
            </a:r>
          </a:p>
          <a:p>
            <a:pPr>
              <a:spcAft>
                <a:spcPts val="600"/>
              </a:spcAft>
            </a:pPr>
            <a:r>
              <a:rPr sz="1800" b="0">
                <a:solidFill>
                  <a:srgbClr val="202830"/>
                </a:solidFill>
                <a:latin typeface="Malgun Gothic"/>
                <a:ea typeface="Malgun Gothic"/>
              </a:rPr>
              <a:t>•  실습 10-2  Time-based 불완전 복구와 READ ONLY 검증</a:t>
            </a:r>
          </a:p>
          <a:p>
            <a:pPr>
              <a:spcAft>
                <a:spcPts val="600"/>
              </a:spcAft>
            </a:pPr>
            <a:r>
              <a:rPr sz="1800" b="0">
                <a:solidFill>
                  <a:srgbClr val="202830"/>
                </a:solidFill>
                <a:latin typeface="Malgun Gothic"/>
                <a:ea typeface="Malgun Gothic"/>
              </a:rPr>
              <a:t>•  실습 10-3  SCN-based 불완전 복구</a:t>
            </a:r>
          </a:p>
          <a:p>
            <a:pPr>
              <a:spcAft>
                <a:spcPts val="600"/>
              </a:spcAft>
            </a:pPr>
            <a:r>
              <a:rPr sz="1800" b="0">
                <a:solidFill>
                  <a:srgbClr val="202830"/>
                </a:solidFill>
                <a:latin typeface="Malgun Gothic"/>
                <a:ea typeface="Malgun Gothic"/>
              </a:rPr>
              <a:t>•  실습 10-4  Sequence-based 불완전 복구</a:t>
            </a:r>
          </a:p>
          <a:p>
            <a:pPr>
              <a:spcAft>
                <a:spcPts val="600"/>
              </a:spcAft>
            </a:pPr>
            <a:r>
              <a:rPr sz="1800" b="0">
                <a:solidFill>
                  <a:srgbClr val="202830"/>
                </a:solidFill>
                <a:latin typeface="Malgun Gothic"/>
                <a:ea typeface="Malgun Gothic"/>
              </a:rPr>
              <a:t>•  실습 10-5  Hot Backup 기반 — 최소 복구 지점 확인</a:t>
            </a:r>
          </a:p>
          <a:p>
            <a:pPr>
              <a:spcAft>
                <a:spcPts val="600"/>
              </a:spcAft>
            </a:pPr>
            <a:r>
              <a:rPr sz="1800" b="0">
                <a:solidFill>
                  <a:srgbClr val="202830"/>
                </a:solidFill>
                <a:latin typeface="Malgun Gothic"/>
                <a:ea typeface="Malgun Gothic"/>
              </a:rPr>
              <a:t>•  실습 10-6  Cold Backup 기반 — 일관성 있는 출발점</a:t>
            </a:r>
          </a:p>
          <a:p>
            <a:pPr>
              <a:spcAft>
                <a:spcPts val="600"/>
              </a:spcAft>
            </a:pPr>
            <a:r>
              <a:rPr sz="1800" b="0">
                <a:solidFill>
                  <a:srgbClr val="202830"/>
                </a:solidFill>
                <a:latin typeface="Malgun Gothic"/>
                <a:ea typeface="Malgun Gothic"/>
              </a:rPr>
              <a:t>•  실습 10-7  INACTIVE 리두 로그 삭제 — 정상 종료 후와 운영 중</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실습 준비:</a:t>
            </a:r>
          </a:p>
          <a:p>
            <a:pPr>
              <a:spcAft>
                <a:spcPts val="0"/>
              </a:spcAft>
            </a:pPr>
            <a:r>
              <a:rPr sz="1250" b="0">
                <a:solidFill>
                  <a:srgbClr val="202830"/>
                </a:solidFill>
                <a:latin typeface="Malgun Gothic"/>
                <a:ea typeface="Malgun Gothic"/>
              </a:rPr>
              <a:t>각 실습 전 전체 백업(Hot 또는 Cold)을 새로 받고 아카이브 상태를 확인한다.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
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8~11장은 손상 유형별로 하나씩 다뤘다. 12장은 그것들이 겹친 상황을 다룬다. 새로운 명령은 거의 나오지 않고 이미 배운 절차를 조합하는 것이 전부다. 대신 판정의 무게가 커진다. 어떤 조합이냐에 따라 손실 여부가 갈리기 때문이다. 이 장으로 User Managed 복구가 마무리되고 13장부터 RMAN으로 넘어간다. 본문 26,151자를 발표용으로 압축한 자료다.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목표는 조합과 판정에 집중되어 있다. 명령은 이미 다 배웠으므로 무엇을 어떤 순서로 할지, 그리고 결과가 어떻게 될지를 예측하는 능력이 목표다. 마지막 목표인 절차서와 훈련은 기술이 아니라 준비의 문제이며 실제 대응 시간을 좌우하는 요소이므로 함께 다룬다. 명령은 이미 다 배웠으므로 새로운 문법 학습 부담은 없다는 점을 먼저 알려 준다. 판단력에 집중한다.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절이 손상 범위를 넓혀 가는 순서로 배열되어 있다. 12.2에서 두 종류, 12.3에서 세 종류, 12.4에서 전체 손실을 다룬다. 12.5절은 기술이 아니라 준비의 주제이며 User Managed 복구 전체를 정리하고 RMAN으로 넘어갈 준비를 한다. 실습이 여덟 개로 손상 조합을 하나씩 재현한다. 실습이 여덟 개이므로 이론은 압축하고 실습에 시간을 넉넉히 배분하는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12.1절은 이 장 전체의 틀을 세운다. 복합 장애가 어려운 이유는 명령이 어려워서가 아니라 무엇부터 손대야 할지 판단하기 어렵기 때문이다. 세 파일 종류의 의존 관계를 이해하면 순서가 자동으로 정해지고, 세 질문으로 결과까지 미리 예측할 수 있다. 이 예측을 현업에 먼저 알리는 것이 실무 대응의 시작이다. 예측을 현업에 먼저 알리는 것이 실무 대응의 시작이라는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흐름도를 절차서 첫 장에 붙여 두면 장애 상황에서 바로 참조할 수 있다. 각 단계에서 확보 수단이 있으면 다음으로 넘어가고, 없으면 그 지점에서 복구 범위가 줄어든다. 위에서 아래로 내려갈수록 손실이 커지는 구조이므로 어느 지점에서 막혔는지가 그대로 예상 손실이 된다. 세 단계를 각각 몇 초 안에 판정할 수 있어야 한다. 세 단계 중 어느 지점에서 막혔는지가 곧 예상 손실이 된다는 구조를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질문의 답을 조합하면 결과가 나온다. ②가 참이면 대부분 완전 복구이고, ③이 거짓이면 그만큼의 손실이 붙는다. ①이 없으면 결과가 아니라 시간이 문제가 된다. 이 예측을 복구 시작 전에 현업에 알리면 대응이 훨씬 매끄러워진다. 나중에 손실이 드러나는 것보다 미리 범위를 알리는 편이 신뢰를 얻는다. 세 질문을 카드로 만들어 두고 장애 시 하나씩 확인하는 방식도 실무에서 쓰인다.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0단계는 가장 자주 생략되지만 가장 중요하다. 몇 분이 걸리는 대신 실패해도 다시 시작할 수 있게 해 준다. 복합 장애에서는 첫 시도가 맞는 경우가 오히려 드물다. 형식을 잘못 골랐거나 복원 대상을 잘못 판단하는 일이 흔하다. 사본이 있으면 몇 번이든 다시 할 수 있지만 없으면 한 번의 착오가 복구 자체를 막는다. 실습에서도 매번 before_recover 디렉터리를 만드는 절차를 반복시킨다.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진단도 단계적으로 진행된다는 점이 복합 장애의 특징이다. NOMOUNT에서는 파라미터와 OS 명령만 쓸 수 있고 컨트롤파일을 세워야 v$ 뷰가 열린다. 그래서 초기 진단은 OS 명령과 alert log가 주력이 된다. 각 단계의 조회를 절차서에 명령 그대로 적어 두고 복사해 쓰면 시간을 크게 아낀다. SPOOL 로 결과를 저장해 두면 이후 보고 자료로도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12.2절은 실무에서 가장 자주 만나는 조합이다. 데이터 디스크에 컨트롤파일 사본을 함께 두는 구성이 흔하기 때문이다. 리두 로그와 아카이브가 다른 디스크에 있으면 완전 복구가 된다. 절차는 컨트롤파일 단계가 앞에 붙은 8장의 확장일 뿐이며 새로운 개념은 없다. 대신 복원 대상을 정확히 판별하는 요령이 복구 시간을 좌우한다. 8장의 절차에 컨트롤파일 단계가 앞에 붙은 형태이므로 부담이 크지 않다.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단계가 명확히 구분된다는 점을 강조한다. 각 단계가 끝날 때마다 상태를 확인하고 다음으로 넘어간다. 2단계에서 리두가 온전하면 아무것도 하지 않아도 되므로 확인만 하고 지나간다. 3단계의 마지막 구간에서는 온라인 리두를 직접 지정해야 할 수 있다. 완전 복구가 성립하지만 백업 컨트롤파일을 썼으므로 RESETLOGS는 강제된다. 각 단계 사이에 상태 확인을 넣는 습관이 실수를 줄인다.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SYSTEM이 포함되면 손상 범위가 좁아도 전면 중단이다. OFFLINE 할 수 없어 부분 처리가 불가능하기 때문이다. 대신 복원 대상이 적으므로 시간은 짧다. v$recover_file 목록과 OS의 파일 개수를 대조해 실제로 없어진 파일만 판별하는 것이 요령이다. 8장의 여러 파일 손상 절차에 컨트롤파일 단계가 앞에 붙은 형태이며 새로운 개념은 없다. 실습 12-2가 이 경우이며 복원 대상 판별을 직접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 장애에서 시간을 가장 크게 낭비하는 것이 불필요한 복원이다. v$recover_file 목록과 OS의 파일 존재 여부를 대조해 실제로 없어진 것만 되돌린다. 파일 하나를 잘못 복원하면 그만큼 아카이브를 더 적용해야 한다. 부분 오픈 전략은 체감 시간을 크게 줄이지만 SYSTEM과 UNDO에는 쓸 수 없고 업무 우선순위 문서가 전제된다. 시간 단축은 기술보다 판단의 문제라는 점을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12.3절은 리두 로그가 조합에 들어왔을 때를 다룬다. 컨트롤파일 재생성 시 형식 선택이 리두 존재 여부에 달려 있으므로 두 파일이 함께 손상되면 선택지가 좁아진다. 데이터파일이 온전해도 비정상 종료였다면 불완전 복구가 되는 경우가 있다는 점도 이 절에서 확인한다. 마지막으로 로그 스위치로 정지된 상태의 원인 구분을 다룬다. 형식 선택 하나로 절차가 갈린다는 점이 이 절의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리두가 없으므로 NORESETLOGS 형식은 문 단계에서 실패한다. RESETLOGS 형식으로 만들면 리두를 새로 생성하므로 성립한다. 정상 종료 상태라면 적용할 리두가 없어 데이터파일 복원조차 필요 없다. 손상 파일이 두 종류인데도 가장 간단하게 끝나는 조합이며 복합 장애라고 해서 항상 복잡한 것은 아니라는 점을 보여 준다. 손상 파일이 두 종류인데도 가장 간단하게 끝나는 조합이다.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정지 상태의 증상은 두 원인이 비슷하다. 새 트랜잭션이 진행되지 않고 세션이 대기로 쌓인다. alert log의 오류 코드가 결정적 단서다. 리두 파일 문제라면 멤버 복사나 CLEAR로 해결되고 아카이브 문제라면 공간 확보가 답이다. 두 경우의 조치가 전혀 다르므로 원인을 확정하지 않고 손대면 상황을 악화시킬 수 있다. 실습 12-5에서 정지 상태의 원인 구분을 직접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원인의 증상이 비슷해 구분이 필요하다. ORA-00312·00313이면 리두 파일 문제이고 ORA-19809·16038이면 아카이브 대상 문제다. 전자는 멤버 복사나 CLEAR로 해결되고 후자는 공간 확보가 답이다. 조치가 전혀 다르므로 원인을 확정하지 않고 손대면 상황을 악화시킬 수 있다. v$logfile의 STATUS가 INVALID인지 확인하면 확정된다.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12.4절이 이 장의 핵심이다. 최악의 상황에서 무엇이 남아 있느냐에 따라 결과가 세 갈래로 갈린다. 아카이브가 있으면 마지막 스위치까지 복구되고, 없으면 백업 종류가 결정한다. Hot Backup은 일관성을 맞출 리두가 없어 아예 열리지 않고 Cold Backup만이 최후의 보루가 된다. 이 세 갈래가 그대로 백업 보관 정책의 근거가 된다. 세 갈래를 실습 12-6부터 12-8까지 나란히 수행해 차이를 체감시킨다.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손실이 있지만 복구는 성공한다. 손실 구간은 마지막 아카이브 이후이며 스위치 간격에 비례한다. 백업 스크립트 마지막에 ALTER SYSTEM ARCHIVE LOG CURRENT 를 넣어 두면 그 시점까지 아카이브가 만들어져 손실 후보 구간이 줄어든다. 이 한 줄이 최악의 상황에서 손실을 몇 분 단위로 줄여 준다. 백업 스크립트 한 줄이 최악의 상황에서 손실을 크게 줄여 준다.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결과의 차이가 이 절의 결론이다. Hot Backup은 백업 구간의 리두가 없으면 무용지물이 되고 Cold Backup은 손실이 크지만 반드시 열린다. 그래서 정기 정지 시간에 Cold Backup을 받아 장기 보관하는 것이 최후의 보루가 된다. Cold Backup은 세 종류를 모두 받아야 한다는 점도 여기서 확인된다. 데이터파일만 되돌리면 다른 파일과 SCN이 어긋난다.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 장애에서 시간을 가장 크게 낭비하는 것이 불필요한 복원이다. 파일 하나를 잘못 복원하면 그만큼 아카이브를 더 적용해야 한다. 병렬 복사는 셸의 백그라운드 실행으로 간단히 구현할 수 있다. 부분 오픈 전략은 체감 시간을 크게 줄이지만 SYSTEM과 UNDO에는 쓸 수 없다. 두 테이블스페이스가 OFFLINE인 상태로는 데이터베이스를 열 수 없기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 사례를 들어 주면 두 번째 원칙이 설득력을 얻는다. 스토리지 손상으로 모든 파일이 사라진 상황에서 Hot Backup은 다른 서버에 있었지만 아카이브가 손상된 스토리지에만 있어 함께 없어진 경우가 있다. 복원해도 ORA-01195로 열리지 않아 결국 한 달 전 Cold Backup으로 되돌렸다. 백업본만 챙기고 아카이브를 빠뜨리면 이런 결과가 된다. 세 원칙 중 두 번째가 실무에서 가장 자주 깨진다는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최악의 경우 CREATE CONTROLFILE 문을 손으로 작성해야 한다. 근거는 세 가지다. 백업 매니페스트가 가장 정확하고, alert log에는 구조 변경이 SQL 문 그대로 기록되어 있으며, OS의 파일 목록으로 이름과 크기를 알 수 있다. 다만 파일 번호 순서는 다른 근거와 대조해야 한다. DBID는 RMAN 복구에서 필요할 수 있으므로 매니페스트에 반드시 남긴다.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2&gt;/dev/null 을 붙이는 이유는 없어진 파일에 대한 오류를 무시하기 위해서다. 남아 있는 것만 복사하면 되므로 오류가 나도 진행에 문제가 없다. 복사 시각과 파일 목록을 파일로 남기는 것이 중요하다. 여러 번 시도하다 보면 어느 사본이 어느 시점 것인지 혼동하기 쉽다. 이 몇 줄이 복구 실패를 되돌릴 수 있는 유일한 수단이다. 복사 시각 기록이 여러 번 시도할 때 혼선을 막아 준다.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12.5절은 기술이 아니라 준비의 주제다. 같은 장애를 겪은 두 팀 중 절차서가 있던 쪽은 한 시간 안에 서비스를 재개했고 없던 쪽은 무엇부터 확인할지 논의하는 데만 40분을 썼다. 복구 자체는 비슷하게 걸렸으나 총 소요가 두 배 이상 차이 났다. 이 절의 내용은 장애가 나기 전에 해 두어야 하는 일들이다. 장애가 나기 전에만 할 수 있는 일들이라는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명령은 복사해 붙일 수 있는 형태로 적는 것이 중요하다. 경로와 파일명을 환경에 맞게 채워 두면 장애 중에 타이핑할 일이 줄어 실수도 준다. 절차서는 구조 변경 시마다 갱신해야 하며 경로가 바뀌었는데 절차서가 예전 것이면 오히려 방해가 된다. 갱신 책임자를 정해 두고 구조 변경 티켓에 절차서 갱신을 항목으로 넣는다. 목차를 그대로 가져다 환경 정보만 채우면 절차서 초안이 완성된다.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훈련의 진짜 목적은 절차서 검증이다. 실제로 해 보면 빠진 단계나 잘못된 경로가 반드시 나온다. 두 번째 측정 항목이 특히 중요하다. 절차서만으로 완료하지 못했다면 그 부분이 보완 대상이다. 숙련자가 기억으로 해결했다면 절차서는 여전히 불완전한 것이다. 가능하면 그 시스템을 잘 모르는 담당자가 절차서만 보고 수행하게 한다. 그 시스템을 잘 모르는 담당자가 절차서만 보고 수행하게 하는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절차서가 실제로 쓰이려면 두 조건이 필요하다. 최신 상태여야 하고 그대로 따라 할 수 있어야 한다. 둘 중 하나라도 깨지면 장애 상황에서 오히려 혼란을 만든다. 갱신 책임자를 정해 두고 구조 변경 티켓의 체크 항목에 절차서 갱신을 넣는 것이 가장 확실한 방법이다. 보고 양식까지 포함하면 복구 후 작성 부담도 줄어든다. 갱신되지 않은 절차서는 없는 것보다 위험할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아래 두 행이 이 과정 전체의 핵심이다. RMAN은 손을 덜어 주지만 판단을 대신하지 않는다. 무엇을 어디까지 복구할지는 여전히 사람이 정하며 그 판단의 근거가 4~12장에서 배운 내용이다. RMAN이 실패했을 때 무슨 일이 일어나는지 알아야 대응할 수 있다는 점도 중요하다. 그래서 User Managed를 먼저 배우고 RMAN으로 넘어가는 순서가 자연스럽다.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관통하는 결론은 세 가지다. 아카이브 모드 전환이 복구 가능성을 근본적으로 바꾸고, 다중화가 손실 없는 복구의 전제를 만들며, 판정 흐름은 어느 장에서든 같다. 네 질문은 4장에서 세워져 12장까지 그대로 쓰였다. 어떤 파일이 손상되었는가, 떼어 낼 수 있는가, 백업본이 있는가, 그 이후의 리두가 있는가. 네 질문이 4장에서 세워져 12장까지 그대로 쓰였다는 점을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사례가 12.5절 전체의 요지를 담고 있다. 두 팀의 DBA 실력에는 큰 차이가 없었다. 차이는 장애가 나기 전에 무엇을 준비해 두었느냐였다. 절차서와 매니페스트, 정기 훈련이 그 준비의 내용이다. 이 세 가지는 평소에는 아무 효과가 없어 보이지만 장애가 났을 때 한 번에 값을 한다. 이 세 가지는 평소에는 효과가 없어 보이지만 장애 때 한 번에 값을 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표에서 읽어야 할 원칙은 세 가지다. 첫째, 아카이브가 연속이면 대부분의 조합이 완전 복구로 끝난다. 둘째, CURRENT 리두 손실만이 실제 데이터 손실을 만든다. 셋째, 아카이브가 없으면 Hot Backup은 무용지물이고 Cold Backup만 남는다. 세 번째가 백업 보관 정책의 근거이며 백업본과 아카이브를 짝으로 보관해야 하는 이유다. 세 번째 원칙이 백업 보관 정책의 근거가 된다는 점을 다시 짚는다.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컨트롤파일 없이는 진단 뷰를 쓸 수 없어 무엇이 어떤 상태인지 알 수 없고, 리두는 복구의 재료이므로 데이터파일보다 먼저 갖춰야 한다. 의존 관계에서 나온 순서이며 예외가 없다. 이 순서는 6장부터 반복해 온 원칙이며 복합 장애에서 특히 중요하다. 순서를 뒤집으면 진단조차 하지 못한 채 시간을 낭비하게 된다. 순서를 뒤집으면 진단조차 하지 못한 채 시간을 낭비하게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Hot Backup은 열린 상태에서 받아 파일마다 SCN이 다르고 fuzzy 블록이 섞여 있다. 일관성을 맞추려면 백업 구간의 리두를 적용해야 하는데 그것이 없으면 ORA-01195로 오픈이 거부된다. 같은 상황에서 Cold Backup이 있으면 세 종류를 모두 복원해 복구 없이 열 수 있다. 이 차이가 백업본과 아카이브를 짝으로 보관해야 하는 이유다.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아카이브가 연속이면 컨트롤파일과 데이터파일은 모두 복구된다. CURRENT 그룹만 아카이브 사본이 없어 마지막 스위치 이후를 잃는다. 이 결론은 11장에서 이미 나왔고 복합 장애에서도 그대로 유효하다. 따라서 복구 능력을 높이는 것보다 리두 멤버를 다중화하는 것이 손실 방지에 직결된다. 복구 능력보다 리두 멤버 다중화가 손실 방지에 직결된다는 결론으로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요약의 마지막 줄이 이 장의 결론이다. 복구 능력의 차이가 아니라 준비의 차이가 결과를 가른다. 절차서를 만들고 훈련으로 검증하는 일은 장애가 나기 전에만 할 수 있다. 이 장으로 User Managed 복구가 마무리되며 다음 장부터는 RMAN을 다룬다. 도구가 바뀌어도 지금까지 배운 판정 흐름은 그대로 쓰인다. 도구가 바뀌어도 지금까지 배운 판정 흐름은 그대로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실습이 손상 범위를 넓혀 가며 배치되어 있다. 12-6부터 12-8까지가 같은 상황에서 남아 있는 것만 다른 세 갈래이므로 나란히 수행하면 차이가 분명해진다. 특히 12-7의 ORA-01195와 12-8의 성공을 연속으로 보면 백업 보관 정책의 필요성이 체감된다. 시간이 부족하면 12-2와 12-4를 시연으로 대체한다. 12-7의 실패와 12-8의 성공을 연속으로 보면 보관 정책의 필요성이 체감된다.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제12장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ARCHIVELOG 복구 ⑤ 복합 장애 종합 복구</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판정 체계 · 처리 순서 · 전체 손실의 세 갈래 · 백업 보관 원칙 · 절차서와 훈련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여러 파일이 동시에 손상된 상황을 하나의 절차로 정리한다</a:t>
            </a:r>
          </a:p>
          <a:p>
            <a:pPr>
              <a:spcAft>
                <a:spcPts val="600"/>
              </a:spcAft>
            </a:pPr>
            <a:r>
              <a:rPr sz="1600" b="0">
                <a:solidFill>
                  <a:srgbClr val="5A6672"/>
                </a:solidFill>
                <a:latin typeface="Malgun Gothic"/>
                <a:ea typeface="Malgun Gothic"/>
              </a:rPr>
              <a:t>    –  손상 조합별로 복구 범위와 손실을 예측한다</a:t>
            </a:r>
          </a:p>
          <a:p>
            <a:pPr>
              <a:spcAft>
                <a:spcPts val="600"/>
              </a:spcAft>
            </a:pPr>
            <a:r>
              <a:rPr sz="1600" b="0">
                <a:solidFill>
                  <a:srgbClr val="5A6672"/>
                </a:solidFill>
                <a:latin typeface="Malgun Gothic"/>
                <a:ea typeface="Malgun Gothic"/>
              </a:rPr>
              <a:t>    –  모든 파일이 사라진 상황을 백업 종류별로 복구한다</a:t>
            </a:r>
          </a:p>
          <a:p>
            <a:pPr>
              <a:spcAft>
                <a:spcPts val="600"/>
              </a:spcAft>
            </a:pPr>
            <a:r>
              <a:rPr sz="1600" b="0">
                <a:solidFill>
                  <a:srgbClr val="5A6672"/>
                </a:solidFill>
                <a:latin typeface="Malgun Gothic"/>
                <a:ea typeface="Malgun Gothic"/>
              </a:rPr>
              <a:t>    –  아카이브 유무가 결과를 어떻게 가르는지 판정한다</a:t>
            </a:r>
          </a:p>
          <a:p>
            <a:pPr>
              <a:spcAft>
                <a:spcPts val="600"/>
              </a:spcAft>
            </a:pPr>
            <a:r>
              <a:rPr sz="1600" b="0">
                <a:solidFill>
                  <a:srgbClr val="5A6672"/>
                </a:solidFill>
                <a:latin typeface="Malgun Gothic"/>
                <a:ea typeface="Malgun Gothic"/>
              </a:rPr>
              <a:t>    –  로그 스위치로 정지된 상태를 진단하고 되살린다</a:t>
            </a:r>
          </a:p>
          <a:p>
            <a:pPr>
              <a:spcAft>
                <a:spcPts val="600"/>
              </a:spcAft>
            </a:pPr>
            <a:r>
              <a:rPr sz="1600" b="0">
                <a:solidFill>
                  <a:srgbClr val="5A6672"/>
                </a:solidFill>
                <a:latin typeface="Malgun Gothic"/>
                <a:ea typeface="Malgun Gothic"/>
              </a:rPr>
              <a:t>    –  복구 절차서와 훈련 체계를 설계한다</a:t>
            </a:r>
          </a:p>
          <a:p>
            <a:pPr>
              <a:spcAft>
                <a:spcPts val="600"/>
              </a:spcAft>
            </a:pPr>
            <a:r>
              <a:rPr sz="1800" b="0">
                <a:solidFill>
                  <a:srgbClr val="202830"/>
                </a:solidFill>
                <a:latin typeface="Malgun Gothic"/>
                <a:ea typeface="Malgun Gothic"/>
              </a:rPr>
              <a:t>•  여섯 목표는 각각 12.1 / 12.1.2 / 12.4 / 12.4 / 12.3.3 / 12.5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12.1  복합 장애의 판정 체계 — 의존 관계 · 결과 예측 · 0단계 · 진단 조회</a:t>
            </a:r>
          </a:p>
          <a:p>
            <a:pPr>
              <a:spcAft>
                <a:spcPts val="600"/>
              </a:spcAft>
            </a:pPr>
            <a:r>
              <a:rPr sz="1800" b="0">
                <a:solidFill>
                  <a:srgbClr val="202830"/>
                </a:solidFill>
                <a:latin typeface="Malgun Gothic"/>
                <a:ea typeface="Malgun Gothic"/>
              </a:rPr>
              <a:t>•  12.2  DF + CF 복합 손상 — 전체·SYSTEM · 범위 판별 · 시간 단축</a:t>
            </a:r>
          </a:p>
          <a:p>
            <a:pPr>
              <a:spcAft>
                <a:spcPts val="600"/>
              </a:spcAft>
            </a:pPr>
            <a:r>
              <a:rPr sz="1800" b="0">
                <a:solidFill>
                  <a:srgbClr val="202830"/>
                </a:solidFill>
                <a:latin typeface="Malgun Gothic"/>
                <a:ea typeface="Malgun Gothic"/>
              </a:rPr>
              <a:t>•  12.3  리두가 포함된 복합 손상 — 형식 선택 · 세 종류 동시 · 정지 상태</a:t>
            </a:r>
          </a:p>
          <a:p>
            <a:pPr>
              <a:spcAft>
                <a:spcPts val="600"/>
              </a:spcAft>
            </a:pPr>
            <a:r>
              <a:rPr sz="1800" b="0">
                <a:solidFill>
                  <a:srgbClr val="202830"/>
                </a:solidFill>
                <a:latin typeface="Malgun Gothic"/>
                <a:ea typeface="Malgun Gothic"/>
              </a:rPr>
              <a:t>•  12.4  모든 파일 손실 — 아카이브 O / Hot / Cold · 보관 원칙 · CF 재작성</a:t>
            </a:r>
          </a:p>
          <a:p>
            <a:pPr>
              <a:spcAft>
                <a:spcPts val="600"/>
              </a:spcAft>
            </a:pPr>
            <a:r>
              <a:rPr sz="1800" b="0">
                <a:solidFill>
                  <a:srgbClr val="202830"/>
                </a:solidFill>
                <a:latin typeface="Malgun Gothic"/>
                <a:ea typeface="Malgun Gothic"/>
              </a:rPr>
              <a:t>•  12.5  절차서와 훈련 — 내용 · 설계 · User Managed 정리 · RMAN 준비</a:t>
            </a:r>
          </a:p>
          <a:p>
            <a:pPr>
              <a:spcAft>
                <a:spcPts val="600"/>
              </a:spcAft>
            </a:pPr>
            <a:r>
              <a:rPr sz="1800" b="0">
                <a:solidFill>
                  <a:srgbClr val="202830"/>
                </a:solidFill>
                <a:latin typeface="Malgun Gothic"/>
                <a:ea typeface="Malgun Gothic"/>
              </a:rPr>
              <a:t>•  12.6 판단표 · 12.7 퀴즈 · 요약 · 실습 8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실습은 ARCHIVELOG 환경에서 진행하며, 매 실습 전 백업 세트와 아카이브 상태를 확인한다.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12.1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복합 장애의 판정 체계</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세 파일 종류 사이에 의존 관계가 있다</a:t>
            </a:r>
          </a:p>
          <a:p>
            <a:pPr>
              <a:spcAft>
                <a:spcPts val="600"/>
              </a:spcAft>
            </a:pPr>
            <a:r>
              <a:rPr sz="1600" b="0">
                <a:solidFill>
                  <a:srgbClr val="C5CED6"/>
                </a:solidFill>
                <a:latin typeface="Malgun Gothic"/>
                <a:ea typeface="Malgun Gothic"/>
              </a:rPr>
              <a:t>•  처리 순서는 컨트롤파일 → 리두 → 데이터파일</a:t>
            </a:r>
          </a:p>
          <a:p>
            <a:pPr>
              <a:spcAft>
                <a:spcPts val="600"/>
              </a:spcAft>
            </a:pPr>
            <a:r>
              <a:rPr sz="1600" b="0">
                <a:solidFill>
                  <a:srgbClr val="C5CED6"/>
                </a:solidFill>
                <a:latin typeface="Malgun Gothic"/>
                <a:ea typeface="Malgun Gothic"/>
              </a:rPr>
              <a:t>•  결과는 세 질문으로 예측한다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판정 흐름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단계별 확보 수단과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[컨트롤파일]</a:t>
            </a:r>
          </a:p>
          <a:p>
            <a:pPr>
              <a:spcAft>
                <a:spcPts val="0"/>
              </a:spcAft>
            </a:pPr>
            <a:r>
              <a:rPr sz="1250" b="0">
                <a:solidFill>
                  <a:srgbClr val="E6E6E6"/>
                </a:solidFill>
                <a:latin typeface="Consolas"/>
                <a:ea typeface="Consolas"/>
              </a:rPr>
              <a:t>  사본 생존 → 복사 (손실 없음)</a:t>
            </a:r>
          </a:p>
          <a:p>
            <a:pPr>
              <a:spcAft>
                <a:spcPts val="0"/>
              </a:spcAft>
            </a:pPr>
            <a:r>
              <a:rPr sz="1250" b="0">
                <a:solidFill>
                  <a:srgbClr val="E6E6E6"/>
                </a:solidFill>
                <a:latin typeface="Consolas"/>
                <a:ea typeface="Consolas"/>
              </a:rPr>
              <a:t>  Binary 백업 → 복원 (RESETLOGS 강제)</a:t>
            </a:r>
          </a:p>
          <a:p>
            <a:pPr>
              <a:spcAft>
                <a:spcPts val="0"/>
              </a:spcAft>
            </a:pPr>
            <a:r>
              <a:rPr sz="1250" b="0">
                <a:solidFill>
                  <a:srgbClr val="E6E6E6"/>
                </a:solidFill>
                <a:latin typeface="Consolas"/>
                <a:ea typeface="Consolas"/>
              </a:rPr>
              <a:t>  trace 백업 → 재생성 (리두 유무로 형식 선택)</a:t>
            </a:r>
          </a:p>
          <a:p>
            <a:pPr>
              <a:spcAft>
                <a:spcPts val="0"/>
              </a:spcAft>
            </a:pPr>
            <a:r>
              <a:rPr sz="1250" b="0">
                <a:solidFill>
                  <a:srgbClr val="E6E6E6"/>
                </a:solidFill>
                <a:latin typeface="Consolas"/>
                <a:ea typeface="Consolas"/>
              </a:rPr>
              <a:t>  아무것도 없음 → 매니페스트로 CREATE CONTROLFILE 작성</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[리두 로그]</a:t>
            </a:r>
          </a:p>
          <a:p>
            <a:pPr>
              <a:spcAft>
                <a:spcPts val="0"/>
              </a:spcAft>
            </a:pPr>
            <a:r>
              <a:rPr sz="1250" b="0">
                <a:solidFill>
                  <a:srgbClr val="E6E6E6"/>
                </a:solidFill>
                <a:latin typeface="Consolas"/>
                <a:ea typeface="Consolas"/>
              </a:rPr>
              <a:t>  멤버 생존 → 복사 (손실 없음)</a:t>
            </a:r>
          </a:p>
          <a:p>
            <a:pPr>
              <a:spcAft>
                <a:spcPts val="0"/>
              </a:spcAft>
            </a:pPr>
            <a:r>
              <a:rPr sz="1250" b="0">
                <a:solidFill>
                  <a:srgbClr val="E6E6E6"/>
                </a:solidFill>
                <a:latin typeface="Consolas"/>
                <a:ea typeface="Consolas"/>
              </a:rPr>
              <a:t>  INACTIVE 전손 + 아카이브 O → 아카이브로 대체</a:t>
            </a:r>
          </a:p>
          <a:p>
            <a:pPr>
              <a:spcAft>
                <a:spcPts val="0"/>
              </a:spcAft>
            </a:pPr>
            <a:r>
              <a:rPr sz="1250" b="0">
                <a:solidFill>
                  <a:srgbClr val="E6E6E6"/>
                </a:solidFill>
                <a:latin typeface="Consolas"/>
                <a:ea typeface="Consolas"/>
              </a:rPr>
              <a:t>  CURRENT 전손 → 마지막 스위치 이후 손실 확정</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[데이터파일]</a:t>
            </a:r>
          </a:p>
          <a:p>
            <a:pPr>
              <a:spcAft>
                <a:spcPts val="0"/>
              </a:spcAft>
            </a:pPr>
            <a:r>
              <a:rPr sz="1250" b="0">
                <a:solidFill>
                  <a:srgbClr val="E6E6E6"/>
                </a:solidFill>
                <a:latin typeface="Consolas"/>
                <a:ea typeface="Consolas"/>
              </a:rPr>
              <a:t>  백업본 O + 아카이브 연속 → 완전 복구</a:t>
            </a:r>
          </a:p>
          <a:p>
            <a:pPr>
              <a:spcAft>
                <a:spcPts val="0"/>
              </a:spcAft>
            </a:pPr>
            <a:r>
              <a:rPr sz="1250" b="0">
                <a:solidFill>
                  <a:srgbClr val="E6E6E6"/>
                </a:solidFill>
                <a:latin typeface="Consolas"/>
                <a:ea typeface="Consolas"/>
              </a:rPr>
              <a:t>  백업본 O + 아카이브 결손 → 불완전 복구</a:t>
            </a:r>
          </a:p>
          <a:p>
            <a:pPr>
              <a:spcAft>
                <a:spcPts val="0"/>
              </a:spcAft>
            </a:pPr>
            <a:r>
              <a:rPr sz="1250" b="0">
                <a:solidFill>
                  <a:srgbClr val="E6E6E6"/>
                </a:solidFill>
                <a:latin typeface="Consolas"/>
                <a:ea typeface="Consolas"/>
              </a:rPr>
              <a:t>  백업본 X → CREATE DATAFILE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세 질문과 결과 예측</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① 컨트롤파일을 세울 수단이 있는가</a:t>
            </a:r>
          </a:p>
          <a:p>
            <a:pPr>
              <a:spcAft>
                <a:spcPts val="600"/>
              </a:spcAft>
            </a:pPr>
            <a:r>
              <a:rPr sz="1600" b="0">
                <a:solidFill>
                  <a:srgbClr val="5A6672"/>
                </a:solidFill>
                <a:latin typeface="Malgun Gothic"/>
                <a:ea typeface="Malgun Gothic"/>
              </a:rPr>
              <a:t>    –  없으면 매니페스트·alert log로 구조를 복원해야 해 시간이 길어짐</a:t>
            </a:r>
          </a:p>
          <a:p>
            <a:pPr>
              <a:spcAft>
                <a:spcPts val="600"/>
              </a:spcAft>
            </a:pPr>
            <a:r>
              <a:rPr sz="1800" b="0">
                <a:solidFill>
                  <a:srgbClr val="202830"/>
                </a:solidFill>
                <a:latin typeface="Malgun Gothic"/>
                <a:ea typeface="Malgun Gothic"/>
              </a:rPr>
              <a:t>•  ② 아카이브가 연속으로 있는가</a:t>
            </a:r>
          </a:p>
          <a:p>
            <a:pPr>
              <a:spcAft>
                <a:spcPts val="600"/>
              </a:spcAft>
            </a:pPr>
            <a:r>
              <a:rPr sz="1600" b="0">
                <a:solidFill>
                  <a:srgbClr val="5A6672"/>
                </a:solidFill>
                <a:latin typeface="Malgun Gothic"/>
                <a:ea typeface="Malgun Gothic"/>
              </a:rPr>
              <a:t>    –  참이면 데이터파일이 전부 없어져도 완전 복구</a:t>
            </a:r>
          </a:p>
          <a:p>
            <a:pPr>
              <a:spcAft>
                <a:spcPts val="600"/>
              </a:spcAft>
            </a:pPr>
            <a:r>
              <a:rPr sz="1800" b="0">
                <a:solidFill>
                  <a:srgbClr val="202830"/>
                </a:solidFill>
                <a:latin typeface="Malgun Gothic"/>
                <a:ea typeface="Malgun Gothic"/>
              </a:rPr>
              <a:t>•  ③ CURRENT 리두가 살아 있는가</a:t>
            </a:r>
          </a:p>
          <a:p>
            <a:pPr>
              <a:spcAft>
                <a:spcPts val="600"/>
              </a:spcAft>
            </a:pPr>
            <a:r>
              <a:rPr sz="1600" b="0">
                <a:solidFill>
                  <a:srgbClr val="5A6672"/>
                </a:solidFill>
                <a:latin typeface="Malgun Gothic"/>
                <a:ea typeface="Malgun Gothic"/>
              </a:rPr>
              <a:t>    –  거짓이면 마지막 스위치 이후 손실 확정</a:t>
            </a:r>
          </a:p>
          <a:p>
            <a:pPr>
              <a:spcAft>
                <a:spcPts val="600"/>
              </a:spcAft>
            </a:pPr>
            <a:r>
              <a:rPr sz="1600" b="0">
                <a:solidFill>
                  <a:srgbClr val="5A6672"/>
                </a:solidFill>
                <a:latin typeface="Malgun Gothic"/>
                <a:ea typeface="Malgun Gothic"/>
              </a:rPr>
              <a:t>    –  ①②가 참이어도 이 손실은 피할 수 없다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0단계 — 현재 상태 보존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복구 전에 남아 있는 모든 파일을 별도 위치로 복사</a:t>
            </a:r>
          </a:p>
          <a:p>
            <a:pPr>
              <a:spcAft>
                <a:spcPts val="600"/>
              </a:spcAft>
            </a:pPr>
            <a:r>
              <a:rPr sz="1600" b="0">
                <a:solidFill>
                  <a:srgbClr val="5A6672"/>
                </a:solidFill>
                <a:latin typeface="Malgun Gothic"/>
                <a:ea typeface="Malgun Gothic"/>
              </a:rPr>
              <a:t>    –  데이터파일 · 리두 로그 · 컨트롤파일 · 아카이브</a:t>
            </a:r>
          </a:p>
          <a:p>
            <a:pPr>
              <a:spcAft>
                <a:spcPts val="600"/>
              </a:spcAft>
            </a:pPr>
            <a:r>
              <a:rPr sz="1600" b="0">
                <a:solidFill>
                  <a:srgbClr val="5A6672"/>
                </a:solidFill>
                <a:latin typeface="Malgun Gothic"/>
                <a:ea typeface="Malgun Gothic"/>
              </a:rPr>
              <a:t>    –  여유가 없으면 최소한 리두와 컨트롤파일만이라도</a:t>
            </a:r>
          </a:p>
          <a:p>
            <a:pPr>
              <a:spcAft>
                <a:spcPts val="600"/>
              </a:spcAft>
            </a:pPr>
            <a:r>
              <a:rPr sz="1800" b="0">
                <a:solidFill>
                  <a:srgbClr val="202830"/>
                </a:solidFill>
                <a:latin typeface="Malgun Gothic"/>
                <a:ea typeface="Malgun Gothic"/>
              </a:rPr>
              <a:t>•  복합 장애는 시도가 여러 번 필요한 경우가 많다</a:t>
            </a:r>
          </a:p>
          <a:p>
            <a:pPr>
              <a:spcAft>
                <a:spcPts val="600"/>
              </a:spcAft>
            </a:pPr>
            <a:r>
              <a:rPr sz="1600" b="0">
                <a:solidFill>
                  <a:srgbClr val="5A6672"/>
                </a:solidFill>
                <a:latin typeface="Malgun Gothic"/>
                <a:ea typeface="Malgun Gothic"/>
              </a:rPr>
              <a:t>    –  CLEAR와 RESETLOGS는 되돌릴 수 없다</a:t>
            </a:r>
          </a:p>
          <a:p>
            <a:pPr>
              <a:spcAft>
                <a:spcPts val="600"/>
              </a:spcAft>
            </a:pPr>
            <a:r>
              <a:rPr sz="1800" b="0">
                <a:solidFill>
                  <a:srgbClr val="202830"/>
                </a:solidFill>
                <a:latin typeface="Malgun Gothic"/>
                <a:ea typeface="Malgun Gothic"/>
              </a:rPr>
              <a:t>•  복사 시각과 파일 목록을 기록</a:t>
            </a:r>
          </a:p>
          <a:p>
            <a:pPr>
              <a:spcAft>
                <a:spcPts val="600"/>
              </a:spcAft>
            </a:pPr>
            <a:r>
              <a:rPr sz="1800" b="0">
                <a:solidFill>
                  <a:srgbClr val="202830"/>
                </a:solidFill>
                <a:latin typeface="Malgun Gothic"/>
                <a:ea typeface="Malgun Gothic"/>
              </a:rPr>
              <a:t>•  이 단계가 복구 시간의 일부임을 현업에 미리 알린다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상태별 진단 조회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쓸 수 있는 도구가 단계마다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NOMOUNT 단계</a:t>
            </a:r>
          </a:p>
          <a:p>
            <a:pPr>
              <a:spcAft>
                <a:spcPts val="0"/>
              </a:spcAft>
            </a:pPr>
            <a:r>
              <a:rPr sz="1250" b="0">
                <a:solidFill>
                  <a:srgbClr val="E6E6E6"/>
                </a:solidFill>
                <a:latin typeface="Consolas"/>
                <a:ea typeface="Consolas"/>
              </a:rPr>
              <a:t>SYS@orcl&gt; SHOW PARAMETER control_files</a:t>
            </a:r>
          </a:p>
          <a:p>
            <a:pPr>
              <a:spcAft>
                <a:spcPts val="0"/>
              </a:spcAft>
            </a:pPr>
            <a:r>
              <a:rPr sz="1250" b="0">
                <a:solidFill>
                  <a:srgbClr val="E6E6E6"/>
                </a:solidFill>
                <a:latin typeface="Consolas"/>
                <a:ea typeface="Consolas"/>
              </a:rPr>
              <a:t>SYS@orcl&gt; !ls -l /u02/oradata/orcl/</a:t>
            </a:r>
          </a:p>
          <a:p>
            <a:pPr>
              <a:spcAft>
                <a:spcPts val="0"/>
              </a:spcAft>
            </a:pPr>
            <a:r>
              <a:rPr sz="1250" b="0">
                <a:solidFill>
                  <a:srgbClr val="E6E6E6"/>
                </a:solidFill>
                <a:latin typeface="Consolas"/>
                <a:ea typeface="Consolas"/>
              </a:rPr>
              <a:t>SYS@orcl&gt; !tail -50 /u01/app/oracle/diag/rdbms/orcl/orcl/trace/alert_orcl.log</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MOUNT 단계에서 추가</a:t>
            </a:r>
          </a:p>
          <a:p>
            <a:pPr>
              <a:spcAft>
                <a:spcPts val="0"/>
              </a:spcAft>
            </a:pPr>
            <a:r>
              <a:rPr sz="1250" b="0">
                <a:solidFill>
                  <a:srgbClr val="E6E6E6"/>
                </a:solidFill>
                <a:latin typeface="Consolas"/>
                <a:ea typeface="Consolas"/>
              </a:rPr>
              <a:t>SYS@orcl&gt; SELECT file#, error, change# FROM v$recover_file;</a:t>
            </a:r>
          </a:p>
          <a:p>
            <a:pPr>
              <a:spcAft>
                <a:spcPts val="0"/>
              </a:spcAft>
            </a:pPr>
            <a:r>
              <a:rPr sz="1250" b="0">
                <a:solidFill>
                  <a:srgbClr val="E6E6E6"/>
                </a:solidFill>
                <a:latin typeface="Consolas"/>
                <a:ea typeface="Consolas"/>
              </a:rPr>
              <a:t>SYS@orcl&gt; SELECT group#, sequence#, archived, status FROM v$log;</a:t>
            </a:r>
          </a:p>
          <a:p>
            <a:pPr>
              <a:spcAft>
                <a:spcPts val="0"/>
              </a:spcAft>
            </a:pPr>
            <a:r>
              <a:rPr sz="1250" b="0">
                <a:solidFill>
                  <a:srgbClr val="E6E6E6"/>
                </a:solidFill>
                <a:latin typeface="Consolas"/>
                <a:ea typeface="Consolas"/>
              </a:rPr>
              <a:t>SYS@orcl&gt; SELECT file#, checkpoint_change#, fuzzy FROM v$datafile_header;</a:t>
            </a:r>
          </a:p>
          <a:p>
            <a:pPr>
              <a:spcAft>
                <a:spcPts val="0"/>
              </a:spcAft>
            </a:pPr>
            <a:r>
              <a:rPr sz="1250" b="0">
                <a:solidFill>
                  <a:srgbClr val="E6E6E6"/>
                </a:solidFill>
                <a:latin typeface="Consolas"/>
                <a:ea typeface="Consolas"/>
              </a:rPr>
              <a:t>SYS@orcl&gt; SELECT MIN(sequence#), MAX(sequence#), COUNT(*) FROM v$archived_log</a:t>
            </a:r>
          </a:p>
          <a:p>
            <a:pPr>
              <a:spcAft>
                <a:spcPts val="0"/>
              </a:spcAft>
            </a:pPr>
            <a:r>
              <a:rPr sz="1250" b="0">
                <a:solidFill>
                  <a:srgbClr val="E6E6E6"/>
                </a:solidFill>
                <a:latin typeface="Consolas"/>
                <a:ea typeface="Consolas"/>
              </a:rPr>
              <a:t>  2  WHERE status = 'A';</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OPEN 단계에서 추가</a:t>
            </a:r>
          </a:p>
          <a:p>
            <a:pPr>
              <a:spcAft>
                <a:spcPts val="0"/>
              </a:spcAft>
            </a:pPr>
            <a:r>
              <a:rPr sz="1250" b="0">
                <a:solidFill>
                  <a:srgbClr val="E6E6E6"/>
                </a:solidFill>
                <a:latin typeface="Consolas"/>
                <a:ea typeface="Consolas"/>
              </a:rPr>
              <a:t>SYS@orcl&gt; SELECT COUNT(*) FROM dba_objects WHERE status = 'INVALID';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12.2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데이터파일과 컨트롤파일의 복합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가장 흔한 조합 — 데이터 디스크 하나가 사라진 경우</a:t>
            </a:r>
          </a:p>
          <a:p>
            <a:pPr>
              <a:spcAft>
                <a:spcPts val="600"/>
              </a:spcAft>
            </a:pPr>
            <a:r>
              <a:rPr sz="1600" b="0">
                <a:solidFill>
                  <a:srgbClr val="C5CED6"/>
                </a:solidFill>
                <a:latin typeface="Malgun Gothic"/>
                <a:ea typeface="Malgun Gothic"/>
              </a:rPr>
              <a:t>•  리두와 아카이브가 살아 있으면 완전 복구</a:t>
            </a:r>
          </a:p>
          <a:p>
            <a:pPr>
              <a:spcAft>
                <a:spcPts val="600"/>
              </a:spcAft>
            </a:pPr>
            <a:r>
              <a:rPr sz="1600" b="0">
                <a:solidFill>
                  <a:srgbClr val="C5CED6"/>
                </a:solidFill>
                <a:latin typeface="Malgun Gothic"/>
                <a:ea typeface="Malgun Gothic"/>
              </a:rPr>
              <a:t>•  복원 대상 판별이 시간 단축의 핵심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모든 DF + CF 손상</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순서대로 진행</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-- 1단계 : 컨트롤파일</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!cp -p /home/oracle/backup/control_ch12.bkp \</a:t>
            </a:r>
          </a:p>
          <a:p>
            <a:pPr>
              <a:spcAft>
                <a:spcPts val="0"/>
              </a:spcAft>
            </a:pPr>
            <a:r>
              <a:rPr sz="1250" b="0">
                <a:solidFill>
                  <a:srgbClr val="E6E6E6"/>
                </a:solidFill>
                <a:latin typeface="Consolas"/>
                <a:ea typeface="Consolas"/>
              </a:rPr>
              <a:t>                 /u01/app/oracle/oradata/orcl/control01.ctl</a:t>
            </a:r>
          </a:p>
          <a:p>
            <a:pPr>
              <a:spcAft>
                <a:spcPts val="0"/>
              </a:spcAft>
            </a:pPr>
            <a:r>
              <a:rPr sz="1250" b="0">
                <a:solidFill>
                  <a:srgbClr val="7EC699"/>
                </a:solidFill>
                <a:latin typeface="Consolas"/>
                <a:ea typeface="Consolas"/>
              </a:rPr>
              <a:t>-- 모든 경로에 복사</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-- 2단계 : 리두 확인 (온전하면 그대로)</a:t>
            </a:r>
          </a:p>
          <a:p>
            <a:pPr>
              <a:spcAft>
                <a:spcPts val="0"/>
              </a:spcAft>
            </a:pPr>
            <a:r>
              <a:rPr sz="1250" b="0">
                <a:solidFill>
                  <a:srgbClr val="E6E6E6"/>
                </a:solidFill>
                <a:latin typeface="Consolas"/>
                <a:ea typeface="Consolas"/>
              </a:rPr>
              <a:t>SYS@orcl&gt; SELECT group#, sequence#, status FROM v$log ORDER BY group#;</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-- 3단계 : 데이터파일 복원과 복구</a:t>
            </a:r>
          </a:p>
          <a:p>
            <a:pPr>
              <a:spcAft>
                <a:spcPts val="0"/>
              </a:spcAft>
            </a:pPr>
            <a:r>
              <a:rPr sz="1250" b="0">
                <a:solidFill>
                  <a:srgbClr val="E6E6E6"/>
                </a:solidFill>
                <a:latin typeface="Consolas"/>
                <a:ea typeface="Consolas"/>
              </a:rPr>
              <a:t>SYS@orcl&gt; !cp -p /home/oracle/backup/ch12/*.dbf /u02/oradata/orcl/</a:t>
            </a:r>
          </a:p>
          <a:p>
            <a:pPr>
              <a:spcAft>
                <a:spcPts val="0"/>
              </a:spcAft>
            </a:pPr>
            <a:r>
              <a:rPr sz="1250" b="0">
                <a:solidFill>
                  <a:srgbClr val="E6E6E6"/>
                </a:solidFill>
                <a:latin typeface="Consolas"/>
                <a:ea typeface="Consolas"/>
              </a:rPr>
              <a:t>SYS@orcl&gt; SET AUTORECOVERY ON</a:t>
            </a:r>
          </a:p>
          <a:p>
            <a:pPr>
              <a:spcAft>
                <a:spcPts val="0"/>
              </a:spcAft>
            </a:pPr>
            <a:r>
              <a:rPr sz="1250" b="0">
                <a:solidFill>
                  <a:srgbClr val="E6E6E6"/>
                </a:solidFill>
                <a:latin typeface="Consolas"/>
                <a:ea typeface="Consolas"/>
              </a:rPr>
              <a:t>SYS@orcl&gt; RECOVER DATABASE USING BACKUP CONTROLFILE;</a:t>
            </a:r>
          </a:p>
          <a:p>
            <a:pPr>
              <a:spcAft>
                <a:spcPts val="0"/>
              </a:spcAft>
            </a:pPr>
            <a:r>
              <a:rPr sz="1250" b="0">
                <a:solidFill>
                  <a:srgbClr val="E6E6E6"/>
                </a:solidFill>
                <a:latin typeface="Consolas"/>
                <a:ea typeface="Consolas"/>
              </a:rPr>
              <a:t>SYS@orcl&gt; ALTER DATABASE OPEN RESETLOGS;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SYSTEM + CF 손상</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복원 대상 최소화</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 MOUNT   -- 컨트롤파일 복원 후</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error, change# FROM v$recover_file;</a:t>
            </a:r>
          </a:p>
          <a:p>
            <a:pPr>
              <a:spcAft>
                <a:spcPts val="0"/>
              </a:spcAft>
            </a:pPr>
            <a:r>
              <a:rPr sz="1250" b="0">
                <a:solidFill>
                  <a:srgbClr val="E6E6E6"/>
                </a:solidFill>
                <a:latin typeface="Consolas"/>
                <a:ea typeface="Consolas"/>
              </a:rPr>
              <a:t>     FILE# ERROR                    CHANGE#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FILE NOT FOUND                 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!ls -l /u01/app/oracle/oradata/orcl/*.dbf | wc -l</a:t>
            </a:r>
          </a:p>
          <a:p>
            <a:pPr>
              <a:spcAft>
                <a:spcPts val="0"/>
              </a:spcAft>
            </a:pPr>
            <a:r>
              <a:rPr sz="1250" b="0">
                <a:solidFill>
                  <a:srgbClr val="E6E6E6"/>
                </a:solidFill>
                <a:latin typeface="Consolas"/>
                <a:ea typeface="Consolas"/>
              </a:rPr>
              <a:t>6</a:t>
            </a:r>
          </a:p>
          <a:p>
            <a:pPr>
              <a:spcAft>
                <a:spcPts val="0"/>
              </a:spcAft>
            </a:pPr>
            <a:r>
              <a:rPr sz="1250" b="0">
                <a:solidFill>
                  <a:srgbClr val="7EC699"/>
                </a:solidFill>
                <a:latin typeface="Consolas"/>
                <a:ea typeface="Consolas"/>
              </a:rPr>
              <a:t>-- 7개 중 1개만 없다. 그 파일만 복원한다.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!cp -p /home/oracle/backup/ch12/system01.dbf /u02/oradata/orcl/</a:t>
            </a:r>
          </a:p>
          <a:p>
            <a:pPr>
              <a:spcAft>
                <a:spcPts val="0"/>
              </a:spcAft>
            </a:pPr>
            <a:r>
              <a:rPr sz="1250" b="0">
                <a:solidFill>
                  <a:srgbClr val="E6E6E6"/>
                </a:solidFill>
                <a:latin typeface="Consolas"/>
                <a:ea typeface="Consolas"/>
              </a:rPr>
              <a:t>SYS@orcl&gt; SET AUTORECOVERY ON</a:t>
            </a:r>
          </a:p>
          <a:p>
            <a:pPr>
              <a:spcAft>
                <a:spcPts val="0"/>
              </a:spcAft>
            </a:pPr>
            <a:r>
              <a:rPr sz="1250" b="0">
                <a:solidFill>
                  <a:srgbClr val="E6E6E6"/>
                </a:solidFill>
                <a:latin typeface="Consolas"/>
                <a:ea typeface="Consolas"/>
              </a:rPr>
              <a:t>SYS@orcl&gt; RECOVER DATABASE USING BACKUP CONTROLFILE;</a:t>
            </a:r>
          </a:p>
          <a:p>
            <a:pPr>
              <a:spcAft>
                <a:spcPts val="0"/>
              </a:spcAft>
            </a:pPr>
            <a:r>
              <a:rPr sz="1250" b="0">
                <a:solidFill>
                  <a:srgbClr val="E6E6E6"/>
                </a:solidFill>
                <a:latin typeface="Consolas"/>
                <a:ea typeface="Consolas"/>
              </a:rPr>
              <a:t>SYS@orcl&gt; ALTER DATABASE OPEN RESETLOGS;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손상 범위 판별과 시간 단축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OS 명령으로 파일 종류별 개수를 세는 것이 가장 빠름</a:t>
            </a:r>
          </a:p>
          <a:p>
            <a:pPr>
              <a:spcAft>
                <a:spcPts val="600"/>
              </a:spcAft>
            </a:pPr>
            <a:r>
              <a:rPr sz="1600" b="0">
                <a:solidFill>
                  <a:srgbClr val="5A6672"/>
                </a:solidFill>
                <a:latin typeface="Malgun Gothic"/>
                <a:ea typeface="Malgun Gothic"/>
              </a:rPr>
              <a:t>    –  매니페스트의 개수와 비교하면 즉시 차이가 드러남</a:t>
            </a:r>
          </a:p>
          <a:p>
            <a:pPr>
              <a:spcAft>
                <a:spcPts val="600"/>
              </a:spcAft>
            </a:pPr>
            <a:r>
              <a:rPr sz="1800" b="0">
                <a:solidFill>
                  <a:srgbClr val="202830"/>
                </a:solidFill>
                <a:latin typeface="Malgun Gothic"/>
                <a:ea typeface="Malgun Gothic"/>
              </a:rPr>
              <a:t>•  복원 대상은 실제로 없어진 파일만</a:t>
            </a:r>
          </a:p>
          <a:p>
            <a:pPr>
              <a:spcAft>
                <a:spcPts val="600"/>
              </a:spcAft>
            </a:pPr>
            <a:r>
              <a:rPr sz="1600" b="0">
                <a:solidFill>
                  <a:srgbClr val="5A6672"/>
                </a:solidFill>
                <a:latin typeface="Malgun Gothic"/>
                <a:ea typeface="Malgun Gothic"/>
              </a:rPr>
              <a:t>    –  멀쩡한 파일까지 되돌리면 적용할 아카이브가 늘어남</a:t>
            </a:r>
          </a:p>
          <a:p>
            <a:pPr>
              <a:spcAft>
                <a:spcPts val="600"/>
              </a:spcAft>
            </a:pPr>
            <a:r>
              <a:rPr sz="1800" b="0">
                <a:solidFill>
                  <a:srgbClr val="202830"/>
                </a:solidFill>
                <a:latin typeface="Malgun Gothic"/>
                <a:ea typeface="Malgun Gothic"/>
              </a:rPr>
              <a:t>•  시간 단축 — 대상 최소화 · 빠른 매체 · 병렬 복사</a:t>
            </a:r>
          </a:p>
          <a:p>
            <a:pPr>
              <a:spcAft>
                <a:spcPts val="600"/>
              </a:spcAft>
            </a:pPr>
            <a:r>
              <a:rPr sz="1800" b="0">
                <a:solidFill>
                  <a:srgbClr val="202830"/>
                </a:solidFill>
                <a:latin typeface="Malgun Gothic"/>
                <a:ea typeface="Malgun Gothic"/>
              </a:rPr>
              <a:t>•  적용 단축 — 백업 주기 단축 · 병렬도 조정</a:t>
            </a:r>
          </a:p>
          <a:p>
            <a:pPr>
              <a:spcAft>
                <a:spcPts val="600"/>
              </a:spcAft>
            </a:pPr>
            <a:r>
              <a:rPr sz="1800" b="0">
                <a:solidFill>
                  <a:srgbClr val="202830"/>
                </a:solidFill>
                <a:latin typeface="Malgun Gothic"/>
                <a:ea typeface="Malgun Gothic"/>
              </a:rPr>
              <a:t>•  부분 오픈 — 핵심만 먼저 열고 나머지는 순차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12.3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리두 로그가 포함된 복합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리두가 없으면 NORESETLOGS 형식이 성립하지 않는다</a:t>
            </a:r>
          </a:p>
          <a:p>
            <a:pPr>
              <a:spcAft>
                <a:spcPts val="600"/>
              </a:spcAft>
            </a:pPr>
            <a:r>
              <a:rPr sz="1600" b="0">
                <a:solidFill>
                  <a:srgbClr val="C5CED6"/>
                </a:solidFill>
                <a:latin typeface="Malgun Gothic"/>
                <a:ea typeface="Malgun Gothic"/>
              </a:rPr>
              <a:t>•  종료 방식이 손실 여부를 가른다</a:t>
            </a:r>
          </a:p>
          <a:p>
            <a:pPr>
              <a:spcAft>
                <a:spcPts val="600"/>
              </a:spcAft>
            </a:pPr>
            <a:r>
              <a:rPr sz="1600" b="0">
                <a:solidFill>
                  <a:srgbClr val="C5CED6"/>
                </a:solidFill>
                <a:latin typeface="Malgun Gothic"/>
                <a:ea typeface="Malgun Gothic"/>
              </a:rPr>
              <a:t>•  정지 상태의 원인은 두 가지로 구분한다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 + CF 손상 (정상 종료)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데이터파일 복원 없이 완료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 NOMOUNT</a:t>
            </a:r>
          </a:p>
          <a:p>
            <a:pPr>
              <a:spcAft>
                <a:spcPts val="0"/>
              </a:spcAft>
            </a:pPr>
            <a:r>
              <a:rPr sz="1250" b="0">
                <a:solidFill>
                  <a:srgbClr val="E6E6E6"/>
                </a:solidFill>
                <a:latin typeface="Consolas"/>
                <a:ea typeface="Consolas"/>
              </a:rPr>
              <a:t>SYS@orcl&gt; @/home/oracle/backup/cf_resetlogs.sql</a:t>
            </a:r>
          </a:p>
          <a:p>
            <a:pPr>
              <a:spcAft>
                <a:spcPts val="0"/>
              </a:spcAft>
            </a:pPr>
            <a:r>
              <a:rPr sz="1250" b="0">
                <a:solidFill>
                  <a:srgbClr val="E6E6E6"/>
                </a:solidFill>
                <a:latin typeface="Consolas"/>
                <a:ea typeface="Consolas"/>
              </a:rPr>
              <a:t>Control file created.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checkpoint_change#, fuzzy FROM v$datafile_header;</a:t>
            </a:r>
          </a:p>
          <a:p>
            <a:pPr>
              <a:spcAft>
                <a:spcPts val="0"/>
              </a:spcAft>
            </a:pPr>
            <a:r>
              <a:rPr sz="1250" b="0">
                <a:solidFill>
                  <a:srgbClr val="E6E6E6"/>
                </a:solidFill>
                <a:latin typeface="Consolas"/>
                <a:ea typeface="Consolas"/>
              </a:rPr>
              <a:t>     FILE# CHECKPOINT_CHANGE# FUZ</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2440200 NO</a:t>
            </a:r>
          </a:p>
          <a:p>
            <a:pPr>
              <a:spcAft>
                <a:spcPts val="0"/>
              </a:spcAft>
            </a:pPr>
            <a:r>
              <a:rPr sz="1250" b="0">
                <a:solidFill>
                  <a:srgbClr val="E6E6E6"/>
                </a:solidFill>
                <a:latin typeface="Consolas"/>
                <a:ea typeface="Consolas"/>
              </a:rPr>
              <a:t>         3            2440200 NO</a:t>
            </a:r>
          </a:p>
          <a:p>
            <a:pPr>
              <a:spcAft>
                <a:spcPts val="0"/>
              </a:spcAft>
            </a:pPr>
            <a:r>
              <a:rPr sz="1250" b="0">
                <a:solidFill>
                  <a:srgbClr val="7EC699"/>
                </a:solidFill>
                <a:latin typeface="Consolas"/>
                <a:ea typeface="Consolas"/>
              </a:rPr>
              <a:t>-- FUZZY가 NO. 적용할 리두가 없다.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 RESETLOGS;</a:t>
            </a:r>
          </a:p>
          <a:p>
            <a:pPr>
              <a:spcAft>
                <a:spcPts val="0"/>
              </a:spcAft>
            </a:pPr>
            <a:r>
              <a:rPr sz="1250" b="0">
                <a:solidFill>
                  <a:srgbClr val="E6E6E6"/>
                </a:solidFill>
                <a:latin typeface="Consolas"/>
                <a:ea typeface="Consolas"/>
              </a:rPr>
              <a:t>Database altered.</a:t>
            </a:r>
          </a:p>
          <a:p>
            <a:pPr>
              <a:spcAft>
                <a:spcPts val="0"/>
              </a:spcAft>
            </a:pPr>
            <a:r>
              <a:rPr sz="1250" b="0">
                <a:solidFill>
                  <a:srgbClr val="7EC699"/>
                </a:solidFill>
                <a:latin typeface="Consolas"/>
                <a:ea typeface="Consolas"/>
              </a:rPr>
              <a:t>-- 데이터파일 복원 없이 끝났다. 손실도 없다.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세 종류 동시 손상과 정지 상태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DF + 리두 + CF, 아카이브 O</a:t>
            </a:r>
          </a:p>
          <a:p>
            <a:pPr>
              <a:spcAft>
                <a:spcPts val="600"/>
              </a:spcAft>
            </a:pPr>
            <a:r>
              <a:rPr sz="1600" b="0">
                <a:solidFill>
                  <a:srgbClr val="5A6672"/>
                </a:solidFill>
                <a:latin typeface="Malgun Gothic"/>
                <a:ea typeface="Malgun Gothic"/>
              </a:rPr>
              <a:t>    –  재생성 → 전체 복원 → 아카이브 적용 → RESETLOGS</a:t>
            </a:r>
          </a:p>
          <a:p>
            <a:pPr>
              <a:spcAft>
                <a:spcPts val="600"/>
              </a:spcAft>
            </a:pPr>
            <a:r>
              <a:rPr sz="1600" b="0">
                <a:solidFill>
                  <a:srgbClr val="5A6672"/>
                </a:solidFill>
                <a:latin typeface="Malgun Gothic"/>
                <a:ea typeface="Malgun Gothic"/>
              </a:rPr>
              <a:t>    –  손실은 CURRENT 구간(마지막 스위치 이후)</a:t>
            </a:r>
          </a:p>
          <a:p>
            <a:pPr>
              <a:spcAft>
                <a:spcPts val="600"/>
              </a:spcAft>
            </a:pPr>
            <a:r>
              <a:rPr sz="1800" b="0">
                <a:solidFill>
                  <a:srgbClr val="202830"/>
                </a:solidFill>
                <a:latin typeface="Malgun Gothic"/>
                <a:ea typeface="Malgun Gothic"/>
              </a:rPr>
              <a:t>•  로그 스위치로 정지된 상태 — 두 원인 구분</a:t>
            </a:r>
          </a:p>
          <a:p>
            <a:pPr>
              <a:spcAft>
                <a:spcPts val="600"/>
              </a:spcAft>
            </a:pPr>
            <a:r>
              <a:rPr sz="1600" b="0">
                <a:solidFill>
                  <a:srgbClr val="5A6672"/>
                </a:solidFill>
                <a:latin typeface="Malgun Gothic"/>
                <a:ea typeface="Malgun Gothic"/>
              </a:rPr>
              <a:t>    –  ORA-00312/00313 → 리두 파일 문제</a:t>
            </a:r>
          </a:p>
          <a:p>
            <a:pPr>
              <a:spcAft>
                <a:spcPts val="600"/>
              </a:spcAft>
            </a:pPr>
            <a:r>
              <a:rPr sz="1600" b="0">
                <a:solidFill>
                  <a:srgbClr val="5A6672"/>
                </a:solidFill>
                <a:latin typeface="Malgun Gothic"/>
                <a:ea typeface="Malgun Gothic"/>
              </a:rPr>
              <a:t>    –  ORA-19809/16038 → 아카이브 대상 문제</a:t>
            </a:r>
          </a:p>
          <a:p>
            <a:pPr>
              <a:spcAft>
                <a:spcPts val="600"/>
              </a:spcAft>
            </a:pPr>
            <a:r>
              <a:rPr sz="1600" b="0">
                <a:solidFill>
                  <a:srgbClr val="5A6672"/>
                </a:solidFill>
                <a:latin typeface="Malgun Gothic"/>
                <a:ea typeface="Malgun Gothic"/>
              </a:rPr>
              <a:t>    –  v$log의 ARCHIVED와 v$logfile의 STATUS로 확정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정지 상태의 원인 구분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alert log가 결정적 단서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!tail -10 /u01/app/oracle/diag/rdbms/orcl/orcl/trace/alert_orcl.log</a:t>
            </a:r>
          </a:p>
          <a:p>
            <a:pPr>
              <a:spcAft>
                <a:spcPts val="0"/>
              </a:spcAft>
            </a:pPr>
            <a:r>
              <a:rPr sz="1250" b="0">
                <a:solidFill>
                  <a:srgbClr val="E6E6E6"/>
                </a:solidFill>
                <a:latin typeface="Consolas"/>
                <a:ea typeface="Consolas"/>
              </a:rPr>
              <a:t>ARC0: Archival started</a:t>
            </a:r>
          </a:p>
          <a:p>
            <a:pPr>
              <a:spcAft>
                <a:spcPts val="0"/>
              </a:spcAft>
            </a:pPr>
            <a:r>
              <a:rPr sz="1250" b="0">
                <a:solidFill>
                  <a:srgbClr val="E6E6E6"/>
                </a:solidFill>
                <a:latin typeface="Consolas"/>
                <a:ea typeface="Consolas"/>
              </a:rPr>
              <a:t>ORA-00313: open failed for members of log group 4 of thread 1</a:t>
            </a:r>
          </a:p>
          <a:p>
            <a:pPr>
              <a:spcAft>
                <a:spcPts val="0"/>
              </a:spcAft>
            </a:pPr>
            <a:r>
              <a:rPr sz="1250" b="0">
                <a:solidFill>
                  <a:srgbClr val="E6E6E6"/>
                </a:solidFill>
                <a:latin typeface="Consolas"/>
                <a:ea typeface="Consolas"/>
              </a:rPr>
              <a:t>ORA-00312: online log 4 thread 1: '/u01/app/oracle/oradata/orcl/redo04.log'</a:t>
            </a:r>
          </a:p>
          <a:p>
            <a:pPr>
              <a:spcAft>
                <a:spcPts val="0"/>
              </a:spcAft>
            </a:pPr>
            <a:r>
              <a:rPr sz="1250" b="0">
                <a:solidFill>
                  <a:srgbClr val="E6E6E6"/>
                </a:solidFill>
                <a:latin typeface="Consolas"/>
                <a:ea typeface="Consolas"/>
              </a:rPr>
              <a:t>ARCH: Archival stopped, error occurred. Will continue retrying</a:t>
            </a:r>
          </a:p>
          <a:p>
            <a:pPr>
              <a:spcAft>
                <a:spcPts val="0"/>
              </a:spcAft>
            </a:pPr>
            <a:r>
              <a:rPr sz="1250" b="0">
                <a:solidFill>
                  <a:srgbClr val="7EC699"/>
                </a:solidFill>
                <a:latin typeface="Consolas"/>
                <a:ea typeface="Consolas"/>
              </a:rPr>
              <a:t>-- 리두 파일 문제다. 아카이브 공간 문제가 아니다.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group#, sequence#, archived, status FROM v$log;</a:t>
            </a:r>
          </a:p>
          <a:p>
            <a:pPr>
              <a:spcAft>
                <a:spcPts val="0"/>
              </a:spcAft>
            </a:pPr>
            <a:r>
              <a:rPr sz="1250" b="0">
                <a:solidFill>
                  <a:srgbClr val="E6E6E6"/>
                </a:solidFill>
                <a:latin typeface="Consolas"/>
                <a:ea typeface="Consolas"/>
              </a:rPr>
              <a:t>         1         18 NO  CURRENT</a:t>
            </a:r>
          </a:p>
          <a:p>
            <a:pPr>
              <a:spcAft>
                <a:spcPts val="0"/>
              </a:spcAft>
            </a:pPr>
            <a:r>
              <a:rPr sz="1250" b="0">
                <a:solidFill>
                  <a:srgbClr val="E6E6E6"/>
                </a:solidFill>
                <a:latin typeface="Consolas"/>
                <a:ea typeface="Consolas"/>
              </a:rPr>
              <a:t>         3         17 YES INACTIVE</a:t>
            </a:r>
          </a:p>
          <a:p>
            <a:pPr>
              <a:spcAft>
                <a:spcPts val="0"/>
              </a:spcAft>
            </a:pPr>
            <a:r>
              <a:rPr sz="1250" b="0">
                <a:solidFill>
                  <a:srgbClr val="E6E6E6"/>
                </a:solidFill>
                <a:latin typeface="Consolas"/>
                <a:ea typeface="Consolas"/>
              </a:rPr>
              <a:t>         4         16 NO  ACTIVE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group#, member, status FROM v$logfile WHERE status='INVALID';</a:t>
            </a:r>
          </a:p>
          <a:p>
            <a:pPr>
              <a:spcAft>
                <a:spcPts val="0"/>
              </a:spcAft>
            </a:pPr>
            <a:r>
              <a:rPr sz="1250" b="0">
                <a:solidFill>
                  <a:srgbClr val="E6E6E6"/>
                </a:solidFill>
                <a:latin typeface="Consolas"/>
                <a:ea typeface="Consolas"/>
              </a:rPr>
              <a:t>         4 /u01/app/oracle/oradata/orcl/redo04.log      INVALID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12.4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모든 파일이 사라진 경우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아카이브가 있으면 마지막 스위치까지 복구</a:t>
            </a:r>
          </a:p>
          <a:p>
            <a:pPr>
              <a:spcAft>
                <a:spcPts val="600"/>
              </a:spcAft>
            </a:pPr>
            <a:r>
              <a:rPr sz="1600" b="0">
                <a:solidFill>
                  <a:srgbClr val="C5CED6"/>
                </a:solidFill>
                <a:latin typeface="Malgun Gothic"/>
                <a:ea typeface="Malgun Gothic"/>
              </a:rPr>
              <a:t>•  아카이브가 없으면 백업 종류가 결과를 가른다</a:t>
            </a:r>
          </a:p>
          <a:p>
            <a:pPr>
              <a:spcAft>
                <a:spcPts val="600"/>
              </a:spcAft>
            </a:pPr>
            <a:r>
              <a:rPr sz="1600" b="0">
                <a:solidFill>
                  <a:srgbClr val="C5CED6"/>
                </a:solidFill>
                <a:latin typeface="Malgun Gothic"/>
                <a:ea typeface="Malgun Gothic"/>
              </a:rPr>
              <a:t>•  Hot Backup은 열리지 않고 Cold Backup만 남는다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전체 손실, 아카이브 보유</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마지막 아카이브까지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 NOMOUNT</a:t>
            </a:r>
          </a:p>
          <a:p>
            <a:pPr>
              <a:spcAft>
                <a:spcPts val="0"/>
              </a:spcAft>
            </a:pPr>
            <a:r>
              <a:rPr sz="1250" b="0">
                <a:solidFill>
                  <a:srgbClr val="E6E6E6"/>
                </a:solidFill>
                <a:latin typeface="Consolas"/>
                <a:ea typeface="Consolas"/>
              </a:rPr>
              <a:t>SYS@orcl&gt; @/home/oracle/backup/cf_resetlogs.sql</a:t>
            </a:r>
          </a:p>
          <a:p>
            <a:pPr>
              <a:spcAft>
                <a:spcPts val="0"/>
              </a:spcAft>
            </a:pPr>
            <a:r>
              <a:rPr sz="1250" b="0">
                <a:solidFill>
                  <a:srgbClr val="E6E6E6"/>
                </a:solidFill>
                <a:latin typeface="Consolas"/>
                <a:ea typeface="Consolas"/>
              </a:rPr>
              <a:t>SYS@orcl&gt; !cp -p /home/oracle/backup/ch12/*.dbf /u02/oradata/orcl/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MIN(sequence#), MAX(sequence#), COUNT(*)</a:t>
            </a:r>
          </a:p>
          <a:p>
            <a:pPr>
              <a:spcAft>
                <a:spcPts val="0"/>
              </a:spcAft>
            </a:pPr>
            <a:r>
              <a:rPr sz="1250" b="0">
                <a:solidFill>
                  <a:srgbClr val="E6E6E6"/>
                </a:solidFill>
                <a:latin typeface="Consolas"/>
                <a:ea typeface="Consolas"/>
              </a:rPr>
              <a:t>  2  FROM   v$archived_log WHERE status = 'A';</a:t>
            </a:r>
          </a:p>
          <a:p>
            <a:pPr>
              <a:spcAft>
                <a:spcPts val="0"/>
              </a:spcAft>
            </a:pPr>
            <a:r>
              <a:rPr sz="1250" b="0">
                <a:solidFill>
                  <a:srgbClr val="E6E6E6"/>
                </a:solidFill>
                <a:latin typeface="Consolas"/>
                <a:ea typeface="Consolas"/>
              </a:rPr>
              <a:t>             1             14         14</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DATABASE USING BACKUP CONTROLFILE UNTIL CANCEL;</a:t>
            </a:r>
          </a:p>
          <a:p>
            <a:pPr>
              <a:spcAft>
                <a:spcPts val="0"/>
              </a:spcAft>
            </a:pPr>
            <a:r>
              <a:rPr sz="1250" b="0">
                <a:solidFill>
                  <a:srgbClr val="7EC699"/>
                </a:solidFill>
                <a:latin typeface="Consolas"/>
                <a:ea typeface="Consolas"/>
              </a:rPr>
              <a:t>-- 14까지 적용 후 15를 요구하며 멈춘다 → CANCEL</a:t>
            </a:r>
          </a:p>
          <a:p>
            <a:pPr>
              <a:spcAft>
                <a:spcPts val="0"/>
              </a:spcAft>
            </a:pPr>
            <a:r>
              <a:rPr sz="1250" b="0">
                <a:solidFill>
                  <a:srgbClr val="E6E6E6"/>
                </a:solidFill>
                <a:latin typeface="Consolas"/>
                <a:ea typeface="Consolas"/>
              </a:rPr>
              <a:t>SYS@orcl&gt; ALTER DATABASE OPEN RESETLOGS;</a:t>
            </a:r>
          </a:p>
          <a:p>
            <a:pPr>
              <a:spcAft>
                <a:spcPts val="0"/>
              </a:spcAft>
            </a:pPr>
            <a:r>
              <a:rPr sz="1250" b="0">
                <a:solidFill>
                  <a:srgbClr val="7EC699"/>
                </a:solidFill>
                <a:latin typeface="Consolas"/>
                <a:ea typeface="Consolas"/>
              </a:rPr>
              <a:t>-- 시퀀스 15 구간이 손실된다.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아카이브 없음 — Hot vs Cold</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결정적 차이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Hot Backup만 있는 경우</a:t>
            </a:r>
          </a:p>
          <a:p>
            <a:pPr>
              <a:spcAft>
                <a:spcPts val="0"/>
              </a:spcAft>
            </a:pPr>
            <a:r>
              <a:rPr sz="1250" b="0">
                <a:solidFill>
                  <a:srgbClr val="E6E6E6"/>
                </a:solidFill>
                <a:latin typeface="Consolas"/>
                <a:ea typeface="Consolas"/>
              </a:rPr>
              <a:t>SYS@orcl&gt; SELECT file#, checkpoint_change#, fuzzy FROM v$datafile_header;</a:t>
            </a:r>
          </a:p>
          <a:p>
            <a:pPr>
              <a:spcAft>
                <a:spcPts val="0"/>
              </a:spcAft>
            </a:pPr>
            <a:r>
              <a:rPr sz="1250" b="0">
                <a:solidFill>
                  <a:srgbClr val="E6E6E6"/>
                </a:solidFill>
                <a:latin typeface="Consolas"/>
                <a:ea typeface="Consolas"/>
              </a:rPr>
              <a:t>         1            2441200 YES</a:t>
            </a:r>
          </a:p>
          <a:p>
            <a:pPr>
              <a:spcAft>
                <a:spcPts val="0"/>
              </a:spcAft>
            </a:pPr>
            <a:r>
              <a:rPr sz="1250" b="0">
                <a:solidFill>
                  <a:srgbClr val="E6E6E6"/>
                </a:solidFill>
                <a:latin typeface="Consolas"/>
                <a:ea typeface="Consolas"/>
              </a:rPr>
              <a:t>         3            2441240 YES</a:t>
            </a:r>
          </a:p>
          <a:p>
            <a:pPr>
              <a:spcAft>
                <a:spcPts val="0"/>
              </a:spcAft>
            </a:pPr>
            <a:r>
              <a:rPr sz="1250" b="0">
                <a:solidFill>
                  <a:srgbClr val="7EC699"/>
                </a:solidFill>
                <a:latin typeface="Consolas"/>
                <a:ea typeface="Consolas"/>
              </a:rPr>
              <a:t>-- SCN이 파일마다 다르고 FUZZY가 YES</a:t>
            </a:r>
          </a:p>
          <a:p>
            <a:pPr>
              <a:spcAft>
                <a:spcPts val="0"/>
              </a:spcAft>
            </a:pPr>
            <a:r>
              <a:rPr sz="1250" b="0">
                <a:solidFill>
                  <a:srgbClr val="E6E6E6"/>
                </a:solidFill>
                <a:latin typeface="Consolas"/>
                <a:ea typeface="Consolas"/>
              </a:rPr>
              <a:t>SYS@orcl&gt; ALTER DATABASE OPEN RESETLOGS;</a:t>
            </a:r>
          </a:p>
          <a:p>
            <a:pPr>
              <a:spcAft>
                <a:spcPts val="0"/>
              </a:spcAft>
            </a:pPr>
            <a:r>
              <a:rPr sz="1250" b="0">
                <a:solidFill>
                  <a:srgbClr val="E6E6E6"/>
                </a:solidFill>
                <a:latin typeface="Consolas"/>
                <a:ea typeface="Consolas"/>
              </a:rPr>
              <a:t>ORA-01195: online backup of file 1 needs more recovery to be consistent</a:t>
            </a:r>
          </a:p>
          <a:p>
            <a:pPr>
              <a:spcAft>
                <a:spcPts val="0"/>
              </a:spcAft>
            </a:pPr>
            <a:r>
              <a:rPr sz="1250" b="0">
                <a:solidFill>
                  <a:srgbClr val="7EC699"/>
                </a:solidFill>
                <a:latin typeface="Consolas"/>
                <a:ea typeface="Consolas"/>
              </a:rPr>
              <a:t>-- 열 수 없다.</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Cold Backup이 있는 경우</a:t>
            </a:r>
          </a:p>
          <a:p>
            <a:pPr>
              <a:spcAft>
                <a:spcPts val="0"/>
              </a:spcAft>
            </a:pPr>
            <a:r>
              <a:rPr sz="1250" b="0">
                <a:solidFill>
                  <a:srgbClr val="7EC699"/>
                </a:solidFill>
                <a:latin typeface="Consolas"/>
                <a:ea typeface="Consolas"/>
              </a:rPr>
              <a:t>-- DF + CF + 리두 세 종류를 모두 복원</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Database opened.</a:t>
            </a:r>
          </a:p>
          <a:p>
            <a:pPr>
              <a:spcAft>
                <a:spcPts val="0"/>
              </a:spcAft>
            </a:pPr>
            <a:r>
              <a:rPr sz="1250" b="0">
                <a:solidFill>
                  <a:srgbClr val="7EC699"/>
                </a:solidFill>
                <a:latin typeface="Consolas"/>
                <a:ea typeface="Consolas"/>
              </a:rPr>
              <a:t>-- 복구 명령 없이 열린다. RESETLOGS도 불필요.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시간 단축의 실제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컨트롤파일 처리 1분 미만, 리두 처리 몇 분</a:t>
            </a:r>
          </a:p>
          <a:p>
            <a:pPr>
              <a:spcAft>
                <a:spcPts val="600"/>
              </a:spcAft>
            </a:pPr>
            <a:r>
              <a:rPr sz="1800" b="0">
                <a:solidFill>
                  <a:srgbClr val="202830"/>
                </a:solidFill>
                <a:latin typeface="Malgun Gothic"/>
                <a:ea typeface="Malgun Gothic"/>
              </a:rPr>
              <a:t>•  대부분의 시간은 복원과 아카이브 적용</a:t>
            </a:r>
          </a:p>
          <a:p>
            <a:pPr>
              <a:spcAft>
                <a:spcPts val="600"/>
              </a:spcAft>
            </a:pPr>
            <a:r>
              <a:rPr sz="1800" b="0">
                <a:solidFill>
                  <a:srgbClr val="202830"/>
                </a:solidFill>
                <a:latin typeface="Malgun Gothic"/>
                <a:ea typeface="Malgun Gothic"/>
              </a:rPr>
              <a:t>•  복원 단축 — 대상 최소화 · 빠른 매체 · 병렬 복사</a:t>
            </a:r>
          </a:p>
          <a:p>
            <a:pPr>
              <a:spcAft>
                <a:spcPts val="600"/>
              </a:spcAft>
            </a:pPr>
            <a:r>
              <a:rPr sz="1800" b="0">
                <a:solidFill>
                  <a:srgbClr val="202830"/>
                </a:solidFill>
                <a:latin typeface="Malgun Gothic"/>
                <a:ea typeface="Malgun Gothic"/>
              </a:rPr>
              <a:t>•  적용 단축 — 백업 주기 단축 · 병렬도 조정</a:t>
            </a:r>
          </a:p>
          <a:p>
            <a:pPr>
              <a:spcAft>
                <a:spcPts val="600"/>
              </a:spcAft>
            </a:pPr>
            <a:r>
              <a:rPr sz="1800" b="0">
                <a:solidFill>
                  <a:srgbClr val="202830"/>
                </a:solidFill>
                <a:latin typeface="Malgun Gothic"/>
                <a:ea typeface="Malgun Gothic"/>
              </a:rPr>
              <a:t>•  부분 오픈 — SYSTEM·UNDO와 핵심 TS만 먼저 열기</a:t>
            </a:r>
          </a:p>
          <a:p>
            <a:pPr>
              <a:spcAft>
                <a:spcPts val="600"/>
              </a:spcAft>
            </a:pPr>
            <a:r>
              <a:rPr sz="1600" b="0">
                <a:solidFill>
                  <a:srgbClr val="5A6672"/>
                </a:solidFill>
                <a:latin typeface="Malgun Gothic"/>
                <a:ea typeface="Malgun Gothic"/>
              </a:rPr>
              <a:t>    –  나머지는 OFFLINE 상태로 두고 열린 뒤 순차 복구</a:t>
            </a:r>
          </a:p>
          <a:p>
            <a:pPr>
              <a:spcAft>
                <a:spcPts val="600"/>
              </a:spcAft>
            </a:pPr>
            <a:r>
              <a:rPr sz="1600" b="0">
                <a:solidFill>
                  <a:srgbClr val="5A6672"/>
                </a:solidFill>
                <a:latin typeface="Malgun Gothic"/>
                <a:ea typeface="Malgun Gothic"/>
              </a:rPr>
              <a:t>    –  업무 우선순위 문서가 전제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보관 원칙</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① 백업본과 아카이브를 데이터 디스크와 분리</a:t>
            </a:r>
          </a:p>
          <a:p>
            <a:pPr>
              <a:spcAft>
                <a:spcPts val="600"/>
              </a:spcAft>
            </a:pPr>
            <a:r>
              <a:rPr sz="1600" b="0">
                <a:solidFill>
                  <a:srgbClr val="5A6672"/>
                </a:solidFill>
                <a:latin typeface="Malgun Gothic"/>
                <a:ea typeface="Malgun Gothic"/>
              </a:rPr>
              <a:t>    –  지켜지지 않으면 복구 수단 자체가 사라진다</a:t>
            </a:r>
          </a:p>
          <a:p>
            <a:pPr>
              <a:spcAft>
                <a:spcPts val="600"/>
              </a:spcAft>
            </a:pPr>
            <a:r>
              <a:rPr sz="1800" b="0">
                <a:solidFill>
                  <a:srgbClr val="202830"/>
                </a:solidFill>
                <a:latin typeface="Malgun Gothic"/>
                <a:ea typeface="Malgun Gothic"/>
              </a:rPr>
              <a:t>•  ② 백업본과 그 시점 이후의 아카이브를 함께 보관</a:t>
            </a:r>
          </a:p>
          <a:p>
            <a:pPr>
              <a:spcAft>
                <a:spcPts val="600"/>
              </a:spcAft>
            </a:pPr>
            <a:r>
              <a:rPr sz="1600" b="0">
                <a:solidFill>
                  <a:srgbClr val="5A6672"/>
                </a:solidFill>
                <a:latin typeface="Malgun Gothic"/>
                <a:ea typeface="Malgun Gothic"/>
              </a:rPr>
              <a:t>    –  지켜지지 않으면 Hot Backup이 무용지물</a:t>
            </a:r>
          </a:p>
          <a:p>
            <a:pPr>
              <a:spcAft>
                <a:spcPts val="600"/>
              </a:spcAft>
            </a:pPr>
            <a:r>
              <a:rPr sz="1800" b="0">
                <a:solidFill>
                  <a:srgbClr val="202830"/>
                </a:solidFill>
                <a:latin typeface="Malgun Gothic"/>
                <a:ea typeface="Malgun Gothic"/>
              </a:rPr>
              <a:t>•  ③ Cold Backup은 DF·CF·리두 세 종류를 모두</a:t>
            </a:r>
          </a:p>
          <a:p>
            <a:pPr>
              <a:spcAft>
                <a:spcPts val="600"/>
              </a:spcAft>
            </a:pPr>
            <a:r>
              <a:rPr sz="1800" b="0">
                <a:solidFill>
                  <a:srgbClr val="202830"/>
                </a:solidFill>
                <a:latin typeface="Malgun Gothic"/>
                <a:ea typeface="Malgun Gothic"/>
              </a:rPr>
              <a:t>•  3-2-1 원칙 — 사본 3개 · 매체 2종 · 원격 1개</a:t>
            </a:r>
          </a:p>
          <a:p>
            <a:pPr>
              <a:spcAft>
                <a:spcPts val="600"/>
              </a:spcAft>
            </a:pPr>
            <a:r>
              <a:rPr sz="1800" b="0">
                <a:solidFill>
                  <a:srgbClr val="202830"/>
                </a:solidFill>
                <a:latin typeface="Malgun Gothic"/>
                <a:ea typeface="Malgun Gothic"/>
              </a:rPr>
              <a:t>•  정기 복원 훈련으로 실제로 쓸 수 있는지 확인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컨트롤파일 재작성의 근거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백업도 trace도 없을 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alert log에서 구조 변경 이력 찾기</a:t>
            </a:r>
          </a:p>
          <a:p>
            <a:pPr>
              <a:spcAft>
                <a:spcPts val="0"/>
              </a:spcAft>
            </a:pPr>
            <a:r>
              <a:rPr sz="1250" b="0">
                <a:solidFill>
                  <a:srgbClr val="E6E6E6"/>
                </a:solidFill>
                <a:latin typeface="Consolas"/>
                <a:ea typeface="Consolas"/>
              </a:rPr>
              <a:t>[oracle@oel7v9r1 ~]$ grep -nE 'CREATE TABLESPACE|ADD LOGFILE|ADD DATAFILE' \</a:t>
            </a:r>
          </a:p>
          <a:p>
            <a:pPr>
              <a:spcAft>
                <a:spcPts val="0"/>
              </a:spcAft>
            </a:pPr>
            <a:r>
              <a:rPr sz="1250" b="0">
                <a:solidFill>
                  <a:srgbClr val="E6E6E6"/>
                </a:solidFill>
                <a:latin typeface="Consolas"/>
                <a:ea typeface="Consolas"/>
              </a:rPr>
              <a:t>&gt;   /u01/app/oracle/diag/rdbms/orcl/orcl/trace/alert_orcl.log | tail -10</a:t>
            </a:r>
          </a:p>
          <a:p>
            <a:pPr>
              <a:spcAft>
                <a:spcPts val="0"/>
              </a:spcAft>
            </a:pPr>
            <a:r>
              <a:rPr sz="1250" b="0">
                <a:solidFill>
                  <a:srgbClr val="E6E6E6"/>
                </a:solidFill>
                <a:latin typeface="Consolas"/>
                <a:ea typeface="Consolas"/>
              </a:rPr>
              <a:t>18402:CREATE TABLESPACE tbs01 DATAFILE '/u01/app/oracle/oradata/orcl/tbs01.dbf' SIZE 20M</a:t>
            </a:r>
          </a:p>
          <a:p>
            <a:pPr>
              <a:spcAft>
                <a:spcPts val="0"/>
              </a:spcAft>
            </a:pPr>
            <a:r>
              <a:rPr sz="1250" b="0">
                <a:solidFill>
                  <a:srgbClr val="E6E6E6"/>
                </a:solidFill>
                <a:latin typeface="Consolas"/>
                <a:ea typeface="Consolas"/>
              </a:rPr>
              <a:t>20044:ALTER DATABASE ADD LOGFILE GROUP 5 ('/u01/.../redo05.log') SIZE 200M</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매니페스트에서 DBID와 파일 목록</a:t>
            </a:r>
          </a:p>
          <a:p>
            <a:pPr>
              <a:spcAft>
                <a:spcPts val="0"/>
              </a:spcAft>
            </a:pPr>
            <a:r>
              <a:rPr sz="1250" b="0">
                <a:solidFill>
                  <a:srgbClr val="E6E6E6"/>
                </a:solidFill>
                <a:latin typeface="Consolas"/>
                <a:ea typeface="Consolas"/>
              </a:rPr>
              <a:t>[oracle@oel7v9r1 ~]$ grep -A 3 'DBID' /home/oracle/backup/manifest_ch12.txt</a:t>
            </a:r>
          </a:p>
          <a:p>
            <a:pPr>
              <a:spcAft>
                <a:spcPts val="0"/>
              </a:spcAft>
            </a:pPr>
            <a:r>
              <a:rPr sz="1250" b="0">
                <a:solidFill>
                  <a:srgbClr val="E6E6E6"/>
                </a:solidFill>
                <a:latin typeface="Consolas"/>
                <a:ea typeface="Consolas"/>
              </a:rPr>
              <a:t>      DBID NAME      CHECKPOINT_CHANGE# RESETLOGS_CHANGE#</a:t>
            </a:r>
          </a:p>
          <a:p>
            <a:pPr>
              <a:spcAft>
                <a:spcPts val="0"/>
              </a:spcAft>
            </a:pPr>
            <a:r>
              <a:rPr sz="1250" b="0">
                <a:solidFill>
                  <a:srgbClr val="E6E6E6"/>
                </a:solidFill>
                <a:latin typeface="Consolas"/>
                <a:ea typeface="Consolas"/>
              </a:rPr>
              <a:t>1200530011 ORCL                 2440200           2435460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0단계 복사 명령 예시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재시도의 전제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mkdir -p /home/oracle/before_recover_$(date +%H%M)</a:t>
            </a:r>
          </a:p>
          <a:p>
            <a:pPr>
              <a:spcAft>
                <a:spcPts val="0"/>
              </a:spcAft>
            </a:pPr>
            <a:r>
              <a:rPr sz="1250" b="0">
                <a:solidFill>
                  <a:srgbClr val="E6E6E6"/>
                </a:solidFill>
                <a:latin typeface="Consolas"/>
                <a:ea typeface="Consolas"/>
              </a:rPr>
              <a:t>[oracle@oel7v9r1 ~]$ D=/home/oracle/before_recover_1420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[oracle@oel7v9r1 ~]$ cp -p /u01/app/oracle/oradata/orcl/*.dbf $D/ 2&gt;/dev/null</a:t>
            </a:r>
          </a:p>
          <a:p>
            <a:pPr>
              <a:spcAft>
                <a:spcPts val="0"/>
              </a:spcAft>
            </a:pPr>
            <a:r>
              <a:rPr sz="1250" b="0">
                <a:solidFill>
                  <a:srgbClr val="E6E6E6"/>
                </a:solidFill>
                <a:latin typeface="Consolas"/>
                <a:ea typeface="Consolas"/>
              </a:rPr>
              <a:t>[oracle@oel7v9r1 ~]$ cp -p /u01/app/oracle/oradata/orcl/*.log $D/ 2&gt;/dev/null</a:t>
            </a:r>
          </a:p>
          <a:p>
            <a:pPr>
              <a:spcAft>
                <a:spcPts val="0"/>
              </a:spcAft>
            </a:pPr>
            <a:r>
              <a:rPr sz="1250" b="0">
                <a:solidFill>
                  <a:srgbClr val="E6E6E6"/>
                </a:solidFill>
                <a:latin typeface="Consolas"/>
                <a:ea typeface="Consolas"/>
              </a:rPr>
              <a:t>[oracle@oel7v9r1 ~]$ cp -p /u02/oradata/orcl/*.log $D/ 2&gt;/dev/null</a:t>
            </a:r>
          </a:p>
          <a:p>
            <a:pPr>
              <a:spcAft>
                <a:spcPts val="0"/>
              </a:spcAft>
            </a:pPr>
            <a:r>
              <a:rPr sz="1250" b="0">
                <a:solidFill>
                  <a:srgbClr val="E6E6E6"/>
                </a:solidFill>
                <a:latin typeface="Consolas"/>
                <a:ea typeface="Consolas"/>
              </a:rPr>
              <a:t>[oracle@oel7v9r1 ~]$ cp -p /u01/app/oracle/oradata/orcl/*.ctl $D/ 2&gt;/dev/null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[oracle@oel7v9r1 ~]$ ls -l $D | wc -l</a:t>
            </a:r>
          </a:p>
          <a:p>
            <a:pPr>
              <a:spcAft>
                <a:spcPts val="0"/>
              </a:spcAft>
            </a:pPr>
            <a:r>
              <a:rPr sz="1250" b="0">
                <a:solidFill>
                  <a:srgbClr val="E6E6E6"/>
                </a:solidFill>
                <a:latin typeface="Consolas"/>
                <a:ea typeface="Consolas"/>
              </a:rPr>
              <a:t>11</a:t>
            </a:r>
          </a:p>
          <a:p>
            <a:pPr>
              <a:spcAft>
                <a:spcPts val="0"/>
              </a:spcAft>
            </a:pPr>
            <a:r>
              <a:rPr sz="1250" b="0">
                <a:solidFill>
                  <a:srgbClr val="E6E6E6"/>
                </a:solidFill>
                <a:latin typeface="Consolas"/>
                <a:ea typeface="Consolas"/>
              </a:rPr>
              <a:t>[oracle@oel7v9r1 ~]$ date &gt; $D/copied_at.txt</a:t>
            </a:r>
          </a:p>
          <a:p>
            <a:pPr>
              <a:spcAft>
                <a:spcPts val="0"/>
              </a:spcAft>
            </a:pPr>
            <a:r>
              <a:rPr sz="1250" b="0">
                <a:solidFill>
                  <a:srgbClr val="E6E6E6"/>
                </a:solidFill>
                <a:latin typeface="Consolas"/>
                <a:ea typeface="Consolas"/>
              </a:rPr>
              <a:t>[oracle@oel7v9r1 ~]$ ls -l $D &gt;&gt; $D/copied_at.txt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12.5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복구 절차서와 훈련</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장애 상황에서는 아는 것도 떠오르지 않는다</a:t>
            </a:r>
          </a:p>
          <a:p>
            <a:pPr>
              <a:spcAft>
                <a:spcPts val="600"/>
              </a:spcAft>
            </a:pPr>
            <a:r>
              <a:rPr sz="1600" b="0">
                <a:solidFill>
                  <a:srgbClr val="C5CED6"/>
                </a:solidFill>
                <a:latin typeface="Malgun Gothic"/>
                <a:ea typeface="Malgun Gothic"/>
              </a:rPr>
              <a:t>•  절차서는 훈련으로 검증해야 의미가 있다</a:t>
            </a:r>
          </a:p>
          <a:p>
            <a:pPr>
              <a:spcAft>
                <a:spcPts val="600"/>
              </a:spcAft>
            </a:pPr>
            <a:r>
              <a:rPr sz="1600" b="0">
                <a:solidFill>
                  <a:srgbClr val="C5CED6"/>
                </a:solidFill>
                <a:latin typeface="Malgun Gothic"/>
                <a:ea typeface="Malgun Gothic"/>
              </a:rPr>
              <a:t>•  복구 능력의 차이가 아니라 준비의 차이다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절차서 목차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그대로 옮겨 쓸 수 있는 구성</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1. 환경 정보</a:t>
            </a:r>
          </a:p>
          <a:p>
            <a:pPr>
              <a:spcAft>
                <a:spcPts val="0"/>
              </a:spcAft>
            </a:pPr>
            <a:r>
              <a:rPr sz="1250" b="0">
                <a:solidFill>
                  <a:srgbClr val="E6E6E6"/>
                </a:solidFill>
                <a:latin typeface="Consolas"/>
                <a:ea typeface="Consolas"/>
              </a:rPr>
              <a:t>   DB명·DBID·경로 목록·백업 위치·아카이브 위치·담당자 연락처</a:t>
            </a:r>
          </a:p>
          <a:p>
            <a:pPr>
              <a:spcAft>
                <a:spcPts val="0"/>
              </a:spcAft>
            </a:pPr>
            <a:r>
              <a:rPr sz="1250" b="0">
                <a:solidFill>
                  <a:srgbClr val="E6E6E6"/>
                </a:solidFill>
                <a:latin typeface="Consolas"/>
                <a:ea typeface="Consolas"/>
              </a:rPr>
              <a:t>2. 초기 진단</a:t>
            </a:r>
          </a:p>
          <a:p>
            <a:pPr>
              <a:spcAft>
                <a:spcPts val="0"/>
              </a:spcAft>
            </a:pPr>
            <a:r>
              <a:rPr sz="1250" b="0">
                <a:solidFill>
                  <a:srgbClr val="E6E6E6"/>
                </a:solidFill>
                <a:latin typeface="Consolas"/>
                <a:ea typeface="Consolas"/>
              </a:rPr>
              <a:t>   alert log 확인 · 파일 종류별 개수 확인 · 인스턴스 상태 확인</a:t>
            </a:r>
          </a:p>
          <a:p>
            <a:pPr>
              <a:spcAft>
                <a:spcPts val="0"/>
              </a:spcAft>
            </a:pPr>
            <a:r>
              <a:rPr sz="1250" b="0">
                <a:solidFill>
                  <a:srgbClr val="E6E6E6"/>
                </a:solidFill>
                <a:latin typeface="Consolas"/>
                <a:ea typeface="Consolas"/>
              </a:rPr>
              <a:t>3. 0단계 : 현재 상태 보존</a:t>
            </a:r>
          </a:p>
          <a:p>
            <a:pPr>
              <a:spcAft>
                <a:spcPts val="0"/>
              </a:spcAft>
            </a:pPr>
            <a:r>
              <a:rPr sz="1250" b="0">
                <a:solidFill>
                  <a:srgbClr val="E6E6E6"/>
                </a:solidFill>
                <a:latin typeface="Consolas"/>
                <a:ea typeface="Consolas"/>
              </a:rPr>
              <a:t>   복사 대상과 대상 위치, 예상 소요 시간</a:t>
            </a:r>
          </a:p>
          <a:p>
            <a:pPr>
              <a:spcAft>
                <a:spcPts val="0"/>
              </a:spcAft>
            </a:pPr>
            <a:r>
              <a:rPr sz="1250" b="0">
                <a:solidFill>
                  <a:srgbClr val="E6E6E6"/>
                </a:solidFill>
                <a:latin typeface="Consolas"/>
                <a:ea typeface="Consolas"/>
              </a:rPr>
              <a:t>4. 단계별 복구</a:t>
            </a:r>
          </a:p>
          <a:p>
            <a:pPr>
              <a:spcAft>
                <a:spcPts val="0"/>
              </a:spcAft>
            </a:pPr>
            <a:r>
              <a:rPr sz="1250" b="0">
                <a:solidFill>
                  <a:srgbClr val="E6E6E6"/>
                </a:solidFill>
                <a:latin typeface="Consolas"/>
                <a:ea typeface="Consolas"/>
              </a:rPr>
              <a:t>   4.1 컨트롤파일  4.2 리두 로그  4.3 데이터파일  4.4 오픈</a:t>
            </a:r>
          </a:p>
          <a:p>
            <a:pPr>
              <a:spcAft>
                <a:spcPts val="0"/>
              </a:spcAft>
            </a:pPr>
            <a:r>
              <a:rPr sz="1250" b="0">
                <a:solidFill>
                  <a:srgbClr val="E6E6E6"/>
                </a:solidFill>
                <a:latin typeface="Consolas"/>
                <a:ea typeface="Consolas"/>
              </a:rPr>
              <a:t>5. 판정 기준표</a:t>
            </a:r>
          </a:p>
          <a:p>
            <a:pPr>
              <a:spcAft>
                <a:spcPts val="0"/>
              </a:spcAft>
            </a:pPr>
            <a:r>
              <a:rPr sz="1250" b="0">
                <a:solidFill>
                  <a:srgbClr val="E6E6E6"/>
                </a:solidFill>
                <a:latin typeface="Consolas"/>
                <a:ea typeface="Consolas"/>
              </a:rPr>
              <a:t>   손상 조합 × 예상 결과 × 손실 범위</a:t>
            </a:r>
          </a:p>
          <a:p>
            <a:pPr>
              <a:spcAft>
                <a:spcPts val="0"/>
              </a:spcAft>
            </a:pPr>
            <a:r>
              <a:rPr sz="1250" b="0">
                <a:solidFill>
                  <a:srgbClr val="E6E6E6"/>
                </a:solidFill>
                <a:latin typeface="Consolas"/>
                <a:ea typeface="Consolas"/>
              </a:rPr>
              <a:t>6. 마무리 체크리스트</a:t>
            </a:r>
          </a:p>
          <a:p>
            <a:pPr>
              <a:spcAft>
                <a:spcPts val="0"/>
              </a:spcAft>
            </a:pPr>
            <a:r>
              <a:rPr sz="1250" b="0">
                <a:solidFill>
                  <a:srgbClr val="E6E6E6"/>
                </a:solidFill>
                <a:latin typeface="Consolas"/>
                <a:ea typeface="Consolas"/>
              </a:rPr>
              <a:t>   UNNAMED · TEMP · 다중화 · 전체 백업 · 매니페스트 갱신</a:t>
            </a:r>
          </a:p>
          <a:p>
            <a:pPr>
              <a:spcAft>
                <a:spcPts val="0"/>
              </a:spcAft>
            </a:pPr>
            <a:r>
              <a:rPr sz="1250" b="0">
                <a:solidFill>
                  <a:srgbClr val="E6E6E6"/>
                </a:solidFill>
                <a:latin typeface="Consolas"/>
                <a:ea typeface="Consolas"/>
              </a:rPr>
              <a:t>7. 보고 양식</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훈련의 설계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별도 환경에서 수행 — 운영 백업본을 복원한 시험 환경</a:t>
            </a:r>
          </a:p>
          <a:p>
            <a:pPr>
              <a:spcAft>
                <a:spcPts val="600"/>
              </a:spcAft>
            </a:pPr>
            <a:r>
              <a:rPr sz="1600" b="0">
                <a:solidFill>
                  <a:srgbClr val="5A6672"/>
                </a:solidFill>
                <a:latin typeface="Malgun Gothic"/>
                <a:ea typeface="Malgun Gothic"/>
              </a:rPr>
              <a:t>    –  17장의 복제 기법으로 시험 환경을 쉽게 만들 수 있다</a:t>
            </a:r>
          </a:p>
          <a:p>
            <a:pPr>
              <a:spcAft>
                <a:spcPts val="600"/>
              </a:spcAft>
            </a:pPr>
            <a:r>
              <a:rPr sz="1800" b="0">
                <a:solidFill>
                  <a:srgbClr val="202830"/>
                </a:solidFill>
                <a:latin typeface="Malgun Gothic"/>
                <a:ea typeface="Malgun Gothic"/>
              </a:rPr>
              <a:t>•  시나리오는 이 장의 조합을 그대로 사용</a:t>
            </a:r>
          </a:p>
          <a:p>
            <a:pPr>
              <a:spcAft>
                <a:spcPts val="600"/>
              </a:spcAft>
            </a:pPr>
            <a:r>
              <a:rPr sz="1600" b="0">
                <a:solidFill>
                  <a:srgbClr val="5A6672"/>
                </a:solidFill>
                <a:latin typeface="Malgun Gothic"/>
                <a:ea typeface="Malgun Gothic"/>
              </a:rPr>
              <a:t>    –  DF만 → CF 포함 → 리두 포함 → 전체 손실 순으로 난도 상승</a:t>
            </a:r>
          </a:p>
          <a:p>
            <a:pPr>
              <a:spcAft>
                <a:spcPts val="600"/>
              </a:spcAft>
            </a:pPr>
            <a:r>
              <a:rPr sz="1800" b="0">
                <a:solidFill>
                  <a:srgbClr val="202830"/>
                </a:solidFill>
                <a:latin typeface="Malgun Gothic"/>
                <a:ea typeface="Malgun Gothic"/>
              </a:rPr>
              <a:t>•  측정 항목 세 가지</a:t>
            </a:r>
          </a:p>
          <a:p>
            <a:pPr>
              <a:spcAft>
                <a:spcPts val="600"/>
              </a:spcAft>
            </a:pPr>
            <a:r>
              <a:rPr sz="1600" b="0">
                <a:solidFill>
                  <a:srgbClr val="5A6672"/>
                </a:solidFill>
                <a:latin typeface="Malgun Gothic"/>
                <a:ea typeface="Malgun Gothic"/>
              </a:rPr>
              <a:t>    –  소요 시간 · 절차서만으로 완료했는지 · 손실이 예상 범위였는지</a:t>
            </a:r>
          </a:p>
          <a:p>
            <a:pPr>
              <a:spcAft>
                <a:spcPts val="600"/>
              </a:spcAft>
            </a:pPr>
            <a:r>
              <a:rPr sz="1800" b="0">
                <a:solidFill>
                  <a:srgbClr val="202830"/>
                </a:solidFill>
                <a:latin typeface="Malgun Gothic"/>
                <a:ea typeface="Malgun Gothic"/>
              </a:rPr>
              <a:t>•  반기 1회 이상, 구조 변경 직후 추가 수행</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절차서 작성과 갱신</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명령은 복사해 붙일 수 있는 형태로</a:t>
            </a:r>
          </a:p>
          <a:p>
            <a:pPr>
              <a:spcAft>
                <a:spcPts val="600"/>
              </a:spcAft>
            </a:pPr>
            <a:r>
              <a:rPr sz="1600" b="0">
                <a:solidFill>
                  <a:srgbClr val="5A6672"/>
                </a:solidFill>
                <a:latin typeface="Malgun Gothic"/>
                <a:ea typeface="Malgun Gothic"/>
              </a:rPr>
              <a:t>    –  경로와 파일명을 환경에 맞게 채워 둔다</a:t>
            </a:r>
          </a:p>
          <a:p>
            <a:pPr>
              <a:spcAft>
                <a:spcPts val="600"/>
              </a:spcAft>
            </a:pPr>
            <a:r>
              <a:rPr sz="1800" b="0">
                <a:solidFill>
                  <a:srgbClr val="202830"/>
                </a:solidFill>
                <a:latin typeface="Malgun Gothic"/>
                <a:ea typeface="Malgun Gothic"/>
              </a:rPr>
              <a:t>•  구조 변경 시마다 갱신</a:t>
            </a:r>
          </a:p>
          <a:p>
            <a:pPr>
              <a:spcAft>
                <a:spcPts val="600"/>
              </a:spcAft>
            </a:pPr>
            <a:r>
              <a:rPr sz="1600" b="0">
                <a:solidFill>
                  <a:srgbClr val="5A6672"/>
                </a:solidFill>
                <a:latin typeface="Malgun Gothic"/>
                <a:ea typeface="Malgun Gothic"/>
              </a:rPr>
              <a:t>    –  경로가 바뀌었는데 절차서가 예전 것이면 오히려 방해</a:t>
            </a:r>
          </a:p>
          <a:p>
            <a:pPr>
              <a:spcAft>
                <a:spcPts val="600"/>
              </a:spcAft>
            </a:pPr>
            <a:r>
              <a:rPr sz="1800" b="0">
                <a:solidFill>
                  <a:srgbClr val="202830"/>
                </a:solidFill>
                <a:latin typeface="Malgun Gothic"/>
                <a:ea typeface="Malgun Gothic"/>
              </a:rPr>
              <a:t>•  갱신 책임자를 정하고 변경 티켓에 항목으로 포함</a:t>
            </a:r>
          </a:p>
          <a:p>
            <a:pPr>
              <a:spcAft>
                <a:spcPts val="600"/>
              </a:spcAft>
            </a:pPr>
            <a:r>
              <a:rPr sz="1800" b="0">
                <a:solidFill>
                  <a:srgbClr val="202830"/>
                </a:solidFill>
                <a:latin typeface="Malgun Gothic"/>
                <a:ea typeface="Malgun Gothic"/>
              </a:rPr>
              <a:t>•  판정 기준표를 함께 넣어 예측에 쓴다</a:t>
            </a:r>
          </a:p>
          <a:p>
            <a:pPr>
              <a:spcAft>
                <a:spcPts val="600"/>
              </a:spcAft>
            </a:pPr>
            <a:r>
              <a:rPr sz="1800" b="0">
                <a:solidFill>
                  <a:srgbClr val="202830"/>
                </a:solidFill>
                <a:latin typeface="Malgun Gothic"/>
                <a:ea typeface="Malgun Gothic"/>
              </a:rPr>
              <a:t>•  보고 양식까지 포함해야 완결된 문서가 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User Managed와 RMAN의 대응</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도구가 바뀌어도 판단은 남는다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작업              | User Managed                | RMAN</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백업              | ALTER TS BEGIN BACKUP + cp  | BACKUP DATABASE</a:t>
            </a:r>
          </a:p>
          <a:p>
            <a:pPr>
              <a:spcAft>
                <a:spcPts val="0"/>
              </a:spcAft>
            </a:pPr>
            <a:r>
              <a:rPr sz="1250" b="0">
                <a:solidFill>
                  <a:srgbClr val="E6E6E6"/>
                </a:solidFill>
                <a:latin typeface="Consolas"/>
                <a:ea typeface="Consolas"/>
              </a:rPr>
              <a:t>복원              | cp 로 파일 복사             | RESTORE DATABASE</a:t>
            </a:r>
          </a:p>
          <a:p>
            <a:pPr>
              <a:spcAft>
                <a:spcPts val="0"/>
              </a:spcAft>
            </a:pPr>
            <a:r>
              <a:rPr sz="1250" b="0">
                <a:solidFill>
                  <a:srgbClr val="E6E6E6"/>
                </a:solidFill>
                <a:latin typeface="Consolas"/>
                <a:ea typeface="Consolas"/>
              </a:rPr>
              <a:t>복구              | RECOVER DATABASE            | RECOVER DATABASE</a:t>
            </a:r>
          </a:p>
          <a:p>
            <a:pPr>
              <a:spcAft>
                <a:spcPts val="0"/>
              </a:spcAft>
            </a:pPr>
            <a:r>
              <a:rPr sz="1250" b="0">
                <a:solidFill>
                  <a:srgbClr val="E6E6E6"/>
                </a:solidFill>
                <a:latin typeface="Consolas"/>
                <a:ea typeface="Consolas"/>
              </a:rPr>
              <a:t>백업 위치 관리    | 사람이 기록                 | 카탈로그·CF 자동</a:t>
            </a:r>
          </a:p>
          <a:p>
            <a:pPr>
              <a:spcAft>
                <a:spcPts val="0"/>
              </a:spcAft>
            </a:pPr>
            <a:r>
              <a:rPr sz="1250" b="0">
                <a:solidFill>
                  <a:srgbClr val="E6E6E6"/>
                </a:solidFill>
                <a:latin typeface="Consolas"/>
                <a:ea typeface="Consolas"/>
              </a:rPr>
              <a:t>복원 대상 판별    | v$recover_file 로 사람이    | 자동</a:t>
            </a:r>
          </a:p>
          <a:p>
            <a:pPr>
              <a:spcAft>
                <a:spcPts val="0"/>
              </a:spcAft>
            </a:pPr>
            <a:r>
              <a:rPr sz="1250" b="0">
                <a:solidFill>
                  <a:srgbClr val="E6E6E6"/>
                </a:solidFill>
                <a:latin typeface="Consolas"/>
                <a:ea typeface="Consolas"/>
              </a:rPr>
              <a:t>아카이브 추적     | 사람이 경로 지정            | 자동</a:t>
            </a:r>
          </a:p>
          <a:p>
            <a:pPr>
              <a:spcAft>
                <a:spcPts val="0"/>
              </a:spcAft>
            </a:pPr>
            <a:r>
              <a:rPr sz="1250" b="0">
                <a:solidFill>
                  <a:srgbClr val="E6E6E6"/>
                </a:solidFill>
                <a:latin typeface="Consolas"/>
                <a:ea typeface="Consolas"/>
              </a:rPr>
              <a:t>복구 지점 판단    | 사람                        | 사람</a:t>
            </a:r>
          </a:p>
          <a:p>
            <a:pPr>
              <a:spcAft>
                <a:spcPts val="0"/>
              </a:spcAft>
            </a:pPr>
            <a:r>
              <a:rPr sz="1250" b="0">
                <a:solidFill>
                  <a:srgbClr val="E6E6E6"/>
                </a:solidFill>
                <a:latin typeface="Consolas"/>
                <a:ea typeface="Consolas"/>
              </a:rPr>
              <a:t>손실 범위 산정    | 사람                        | 사람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4~12장 복구 유형 정리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아홉 장의 구성</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장  | 모드          | 대상                     | 대표 결말</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4  | NOARCHIVELOG  | 데이터파일               | 리두 유무로 완전/전체 복원</a:t>
            </a:r>
          </a:p>
          <a:p>
            <a:pPr>
              <a:spcAft>
                <a:spcPts val="0"/>
              </a:spcAft>
            </a:pPr>
            <a:r>
              <a:rPr sz="1250" b="0">
                <a:solidFill>
                  <a:srgbClr val="E6E6E6"/>
                </a:solidFill>
                <a:latin typeface="Consolas"/>
                <a:ea typeface="Consolas"/>
              </a:rPr>
              <a:t> 5  | NOARCHIVELOG  | UNDO·TEMP·디스크 전체    | UNDO는 전체 복원, TEMP는 재생성</a:t>
            </a:r>
          </a:p>
          <a:p>
            <a:pPr>
              <a:spcAft>
                <a:spcPts val="0"/>
              </a:spcAft>
            </a:pPr>
            <a:r>
              <a:rPr sz="1250" b="0">
                <a:solidFill>
                  <a:srgbClr val="E6E6E6"/>
                </a:solidFill>
                <a:latin typeface="Consolas"/>
                <a:ea typeface="Consolas"/>
              </a:rPr>
              <a:t> 6  | NOARCHIVELOG  | 컨트롤파일               | 사본·백업·trace 세 경로</a:t>
            </a:r>
          </a:p>
          <a:p>
            <a:pPr>
              <a:spcAft>
                <a:spcPts val="0"/>
              </a:spcAft>
            </a:pPr>
            <a:r>
              <a:rPr sz="1250" b="0">
                <a:solidFill>
                  <a:srgbClr val="E6E6E6"/>
                </a:solidFill>
                <a:latin typeface="Consolas"/>
                <a:ea typeface="Consolas"/>
              </a:rPr>
              <a:t> 7  | NOARCHIVELOG  | 리두 로그·복합           | CURRENT 손실 시 불완전</a:t>
            </a:r>
          </a:p>
          <a:p>
            <a:pPr>
              <a:spcAft>
                <a:spcPts val="0"/>
              </a:spcAft>
            </a:pPr>
            <a:r>
              <a:rPr sz="1250" b="0">
                <a:solidFill>
                  <a:srgbClr val="E6E6E6"/>
                </a:solidFill>
                <a:latin typeface="Consolas"/>
                <a:ea typeface="Consolas"/>
              </a:rPr>
              <a:t> 8  | ARCHIVELOG    | 데이터파일               | 무중단 완전 복구</a:t>
            </a:r>
          </a:p>
          <a:p>
            <a:pPr>
              <a:spcAft>
                <a:spcPts val="0"/>
              </a:spcAft>
            </a:pPr>
            <a:r>
              <a:rPr sz="1250" b="0">
                <a:solidFill>
                  <a:srgbClr val="E6E6E6"/>
                </a:solidFill>
                <a:latin typeface="Consolas"/>
                <a:ea typeface="Consolas"/>
              </a:rPr>
              <a:t> 9  | ARCHIVELOG    | 전체 DF·UNDO·아카이브    | 아카이브 연속이면 완전 복구</a:t>
            </a:r>
          </a:p>
          <a:p>
            <a:pPr>
              <a:spcAft>
                <a:spcPts val="0"/>
              </a:spcAft>
            </a:pPr>
            <a:r>
              <a:rPr sz="1250" b="0">
                <a:solidFill>
                  <a:srgbClr val="E6E6E6"/>
                </a:solidFill>
                <a:latin typeface="Consolas"/>
                <a:ea typeface="Consolas"/>
              </a:rPr>
              <a:t>10  | ARCHIVELOG    | 불완전 복구              | 네 가지 UNTIL 기준</a:t>
            </a:r>
          </a:p>
          <a:p>
            <a:pPr>
              <a:spcAft>
                <a:spcPts val="0"/>
              </a:spcAft>
            </a:pPr>
            <a:r>
              <a:rPr sz="1250" b="0">
                <a:solidFill>
                  <a:srgbClr val="E6E6E6"/>
                </a:solidFill>
                <a:latin typeface="Consolas"/>
                <a:ea typeface="Consolas"/>
              </a:rPr>
              <a:t>11  | ARCHIVELOG    | CURRENT 리두·컨트롤파일  | CURRENT만 손실 요인</a:t>
            </a:r>
          </a:p>
          <a:p>
            <a:pPr>
              <a:spcAft>
                <a:spcPts val="0"/>
              </a:spcAft>
            </a:pPr>
            <a:r>
              <a:rPr sz="1250" b="0">
                <a:solidFill>
                  <a:srgbClr val="E6E6E6"/>
                </a:solidFill>
                <a:latin typeface="Consolas"/>
                <a:ea typeface="Consolas"/>
              </a:rPr>
              <a:t>12  | ARCHIVELOG    | 복합 장애                | 조합별 판정과 절차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실무 사례 — 준비의 차이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같은 스토리지 장애를 두 팀이 겪음, 손상 범위도 비슷</a:t>
            </a:r>
          </a:p>
          <a:p>
            <a:pPr>
              <a:spcAft>
                <a:spcPts val="600"/>
              </a:spcAft>
            </a:pPr>
            <a:r>
              <a:rPr sz="1800" b="0">
                <a:solidFill>
                  <a:srgbClr val="202830"/>
                </a:solidFill>
                <a:latin typeface="Malgun Gothic"/>
                <a:ea typeface="Malgun Gothic"/>
              </a:rPr>
              <a:t>•  절차서가 있던 팀 — 진단 10분, 복구 45분</a:t>
            </a:r>
          </a:p>
          <a:p>
            <a:pPr>
              <a:spcAft>
                <a:spcPts val="600"/>
              </a:spcAft>
            </a:pPr>
            <a:r>
              <a:rPr sz="1600" b="0">
                <a:solidFill>
                  <a:srgbClr val="5A6672"/>
                </a:solidFill>
                <a:latin typeface="Malgun Gothic"/>
                <a:ea typeface="Malgun Gothic"/>
              </a:rPr>
              <a:t>    –  한 시간 안에 서비스 재개</a:t>
            </a:r>
          </a:p>
          <a:p>
            <a:pPr>
              <a:spcAft>
                <a:spcPts val="600"/>
              </a:spcAft>
            </a:pPr>
            <a:r>
              <a:rPr sz="1800" b="0">
                <a:solidFill>
                  <a:srgbClr val="202830"/>
                </a:solidFill>
                <a:latin typeface="Malgun Gothic"/>
                <a:ea typeface="Malgun Gothic"/>
              </a:rPr>
              <a:t>•  절차서가 없던 팀 — 무엇부터 확인할지 논의에만 40분</a:t>
            </a:r>
          </a:p>
          <a:p>
            <a:pPr>
              <a:spcAft>
                <a:spcPts val="600"/>
              </a:spcAft>
            </a:pPr>
            <a:r>
              <a:rPr sz="1600" b="0">
                <a:solidFill>
                  <a:srgbClr val="5A6672"/>
                </a:solidFill>
                <a:latin typeface="Malgun Gothic"/>
                <a:ea typeface="Malgun Gothic"/>
              </a:rPr>
              <a:t>    –  복구 자체는 비슷했으나 총 소요가 두 배 이상</a:t>
            </a:r>
          </a:p>
          <a:p>
            <a:pPr>
              <a:spcAft>
                <a:spcPts val="600"/>
              </a:spcAft>
            </a:pPr>
            <a:r>
              <a:rPr sz="1800" b="0">
                <a:solidFill>
                  <a:srgbClr val="202830"/>
                </a:solidFill>
                <a:latin typeface="Malgun Gothic"/>
                <a:ea typeface="Malgun Gothic"/>
              </a:rPr>
              <a:t>•  복구 능력의 차이가 아니라 준비의 차이였다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장애 유형 → 복구 전략 판단표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조합별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손상 조합                     | 아카이브 | 조치 요약              | 손실</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DF 일부 + CF                  | 연속     | CF → DF 복원 → 복구    | 없음</a:t>
            </a:r>
          </a:p>
          <a:p>
            <a:pPr>
              <a:spcAft>
                <a:spcPts val="0"/>
              </a:spcAft>
            </a:pPr>
            <a:r>
              <a:rPr sz="1250" b="0">
                <a:solidFill>
                  <a:srgbClr val="E6E6E6"/>
                </a:solidFill>
                <a:latin typeface="Consolas"/>
                <a:ea typeface="Consolas"/>
              </a:rPr>
              <a:t>DF 전체 + CF                  | 연속     | CF → 전체 복원 → 복구  | 없음</a:t>
            </a:r>
          </a:p>
          <a:p>
            <a:pPr>
              <a:spcAft>
                <a:spcPts val="0"/>
              </a:spcAft>
            </a:pPr>
            <a:r>
              <a:rPr sz="1250" b="0">
                <a:solidFill>
                  <a:srgbClr val="E6E6E6"/>
                </a:solidFill>
                <a:latin typeface="Consolas"/>
                <a:ea typeface="Consolas"/>
              </a:rPr>
              <a:t>SYSTEM + CF                   | 연속     | CF → 해당 DF만 복원    | 없음</a:t>
            </a:r>
          </a:p>
          <a:p>
            <a:pPr>
              <a:spcAft>
                <a:spcPts val="0"/>
              </a:spcAft>
            </a:pPr>
            <a:r>
              <a:rPr sz="1250" b="0">
                <a:solidFill>
                  <a:srgbClr val="E6E6E6"/>
                </a:solidFill>
                <a:latin typeface="Consolas"/>
                <a:ea typeface="Consolas"/>
              </a:rPr>
              <a:t>리두 + CF (정상 종료)         | 무관     | RESETLOGS 형식 재생성  | 없음</a:t>
            </a:r>
          </a:p>
          <a:p>
            <a:pPr>
              <a:spcAft>
                <a:spcPts val="0"/>
              </a:spcAft>
            </a:pPr>
            <a:r>
              <a:rPr sz="1250" b="0">
                <a:solidFill>
                  <a:srgbClr val="E6E6E6"/>
                </a:solidFill>
                <a:latin typeface="Consolas"/>
                <a:ea typeface="Consolas"/>
              </a:rPr>
              <a:t>리두 + CF (비정상 종료)       | 연속     | 전체 복원 → 불완전     | 스위치 이후</a:t>
            </a:r>
          </a:p>
          <a:p>
            <a:pPr>
              <a:spcAft>
                <a:spcPts val="0"/>
              </a:spcAft>
            </a:pPr>
            <a:r>
              <a:rPr sz="1250" b="0">
                <a:solidFill>
                  <a:srgbClr val="E6E6E6"/>
                </a:solidFill>
                <a:latin typeface="Consolas"/>
                <a:ea typeface="Consolas"/>
              </a:rPr>
              <a:t>DF + 리두 + CF, 아카이브 O    | 연속     | 재생성 → 복원 → 불완전 | 스위치 이후</a:t>
            </a:r>
          </a:p>
          <a:p>
            <a:pPr>
              <a:spcAft>
                <a:spcPts val="0"/>
              </a:spcAft>
            </a:pPr>
            <a:r>
              <a:rPr sz="1250" b="0">
                <a:solidFill>
                  <a:srgbClr val="E6E6E6"/>
                </a:solidFill>
                <a:latin typeface="Consolas"/>
                <a:ea typeface="Consolas"/>
              </a:rPr>
              <a:t>전체 손실, 아카이브 X, Hot    | 없음     | 복구 불가(ORA-01195)   | 복구 실패</a:t>
            </a:r>
          </a:p>
          <a:p>
            <a:pPr>
              <a:spcAft>
                <a:spcPts val="0"/>
              </a:spcAft>
            </a:pPr>
            <a:r>
              <a:rPr sz="1250" b="0">
                <a:solidFill>
                  <a:srgbClr val="E6E6E6"/>
                </a:solidFill>
                <a:latin typeface="Consolas"/>
                <a:ea typeface="Consolas"/>
              </a:rPr>
              <a:t>전체 손실, 아카이브 X, Cold   | 없음     | 세 종류 전체 복원      | 백업 이후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복합 장애의 처리 순서</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데이터파일·리두 로그·컨트롤파일이 함께 손상되었을 때의 처리 순서는?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데이터파일 → 리두 → 컨트롤파일</a:t>
            </a:r>
          </a:p>
          <a:p>
            <a:pPr>
              <a:spcAft>
                <a:spcPts val="800"/>
              </a:spcAft>
            </a:pPr>
            <a:r>
              <a:rPr sz="1700" b="0">
                <a:solidFill>
                  <a:srgbClr val="202830"/>
                </a:solidFill>
                <a:latin typeface="Malgun Gothic"/>
                <a:ea typeface="Malgun Gothic"/>
              </a:rPr>
              <a:t>컨트롤파일 → 리두 → 데이터파일</a:t>
            </a:r>
          </a:p>
          <a:p>
            <a:pPr>
              <a:spcAft>
                <a:spcPts val="800"/>
              </a:spcAft>
            </a:pPr>
            <a:r>
              <a:rPr sz="1700" b="0">
                <a:solidFill>
                  <a:srgbClr val="202830"/>
                </a:solidFill>
                <a:latin typeface="Malgun Gothic"/>
                <a:ea typeface="Malgun Gothic"/>
              </a:rPr>
              <a:t>리두 → 컨트롤파일 → 데이터파일</a:t>
            </a:r>
          </a:p>
          <a:p>
            <a:pPr>
              <a:spcAft>
                <a:spcPts val="800"/>
              </a:spcAft>
            </a:pPr>
            <a:r>
              <a:rPr sz="1700" b="0">
                <a:solidFill>
                  <a:srgbClr val="202830"/>
                </a:solidFill>
                <a:latin typeface="Malgun Gothic"/>
                <a:ea typeface="Malgun Gothic"/>
              </a:rPr>
              <a:t>순서는 무관하다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아카이브 없는 전체 손실</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모든 파일이 사라졌고 아카이브도 없다. Hot Backup만 있을 때의 결과는?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백업 시점으로 복구된다</a:t>
            </a:r>
          </a:p>
          <a:p>
            <a:pPr>
              <a:spcAft>
                <a:spcPts val="800"/>
              </a:spcAft>
            </a:pPr>
            <a:r>
              <a:rPr sz="1700" b="0">
                <a:solidFill>
                  <a:srgbClr val="202830"/>
                </a:solidFill>
                <a:latin typeface="Malgun Gothic"/>
                <a:ea typeface="Malgun Gothic"/>
              </a:rPr>
              <a:t>일관성을 맞출 리두가 없어 열 수 없다</a:t>
            </a:r>
          </a:p>
          <a:p>
            <a:pPr>
              <a:spcAft>
                <a:spcPts val="800"/>
              </a:spcAft>
            </a:pPr>
            <a:r>
              <a:rPr sz="1700" b="0">
                <a:solidFill>
                  <a:srgbClr val="202830"/>
                </a:solidFill>
                <a:latin typeface="Malgun Gothic"/>
                <a:ea typeface="Malgun Gothic"/>
              </a:rPr>
              <a:t>완전 복구된다</a:t>
            </a:r>
          </a:p>
          <a:p>
            <a:pPr>
              <a:spcAft>
                <a:spcPts val="800"/>
              </a:spcAft>
            </a:pPr>
            <a:r>
              <a:rPr sz="1700" b="0">
                <a:solidFill>
                  <a:srgbClr val="202830"/>
                </a:solidFill>
                <a:latin typeface="Malgun Gothic"/>
                <a:ea typeface="Malgun Gothic"/>
              </a:rPr>
              <a:t>RESETLOGS로 해결된다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실제 손실 요인</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복합 장애에서 실제 데이터 손실을 만드는 유일한 요인은?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컨트롤파일 손실</a:t>
            </a:r>
          </a:p>
          <a:p>
            <a:pPr>
              <a:spcAft>
                <a:spcPts val="800"/>
              </a:spcAft>
            </a:pPr>
            <a:r>
              <a:rPr sz="1700" b="0">
                <a:solidFill>
                  <a:srgbClr val="202830"/>
                </a:solidFill>
                <a:latin typeface="Malgun Gothic"/>
                <a:ea typeface="Malgun Gothic"/>
              </a:rPr>
              <a:t>CURRENT 리두 로그 손실</a:t>
            </a:r>
          </a:p>
          <a:p>
            <a:pPr>
              <a:spcAft>
                <a:spcPts val="800"/>
              </a:spcAft>
            </a:pPr>
            <a:r>
              <a:rPr sz="1700" b="0">
                <a:solidFill>
                  <a:srgbClr val="202830"/>
                </a:solidFill>
                <a:latin typeface="Malgun Gothic"/>
                <a:ea typeface="Malgun Gothic"/>
              </a:rPr>
              <a:t>TEMP 파일 손실</a:t>
            </a:r>
          </a:p>
          <a:p>
            <a:pPr>
              <a:spcAft>
                <a:spcPts val="800"/>
              </a:spcAft>
            </a:pPr>
            <a:r>
              <a:rPr sz="1700" b="0">
                <a:solidFill>
                  <a:srgbClr val="202830"/>
                </a:solidFill>
                <a:latin typeface="Malgun Gothic"/>
                <a:ea typeface="Malgun Gothic"/>
              </a:rPr>
              <a:t>데이터파일 손실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복합 장애는 명령이 아니라 순서와 판정의 문제</a:t>
            </a:r>
          </a:p>
          <a:p>
            <a:pPr>
              <a:spcAft>
                <a:spcPts val="600"/>
              </a:spcAft>
            </a:pPr>
            <a:r>
              <a:rPr sz="1800" b="0">
                <a:solidFill>
                  <a:srgbClr val="202830"/>
                </a:solidFill>
                <a:latin typeface="Malgun Gothic"/>
                <a:ea typeface="Malgun Gothic"/>
              </a:rPr>
              <a:t>•  컨트롤파일 → 리두 → 데이터파일 순서에 예외 없음</a:t>
            </a:r>
          </a:p>
          <a:p>
            <a:pPr>
              <a:spcAft>
                <a:spcPts val="600"/>
              </a:spcAft>
            </a:pPr>
            <a:r>
              <a:rPr sz="1800" b="0">
                <a:solidFill>
                  <a:srgbClr val="202830"/>
                </a:solidFill>
                <a:latin typeface="Malgun Gothic"/>
                <a:ea typeface="Malgun Gothic"/>
              </a:rPr>
              <a:t>•  세 질문으로 결과 예측 — CF 수단 · 아카이브 연속 · CURRENT 생존</a:t>
            </a:r>
          </a:p>
          <a:p>
            <a:pPr>
              <a:spcAft>
                <a:spcPts val="600"/>
              </a:spcAft>
            </a:pPr>
            <a:r>
              <a:rPr sz="1800" b="0">
                <a:solidFill>
                  <a:srgbClr val="202830"/>
                </a:solidFill>
                <a:latin typeface="Malgun Gothic"/>
                <a:ea typeface="Malgun Gothic"/>
              </a:rPr>
              <a:t>•  아카이브가 연속이면 대부분 완전 복구</a:t>
            </a:r>
          </a:p>
          <a:p>
            <a:pPr>
              <a:spcAft>
                <a:spcPts val="600"/>
              </a:spcAft>
            </a:pPr>
            <a:r>
              <a:rPr sz="1800" b="0">
                <a:solidFill>
                  <a:srgbClr val="202830"/>
                </a:solidFill>
                <a:latin typeface="Malgun Gothic"/>
                <a:ea typeface="Malgun Gothic"/>
              </a:rPr>
              <a:t>•  아카이브가 없으면 Hot은 열리지 않고 Cold만 남는다</a:t>
            </a:r>
          </a:p>
          <a:p>
            <a:pPr>
              <a:spcAft>
                <a:spcPts val="600"/>
              </a:spcAft>
            </a:pPr>
            <a:r>
              <a:rPr sz="1800" b="0">
                <a:solidFill>
                  <a:srgbClr val="202830"/>
                </a:solidFill>
                <a:latin typeface="Malgun Gothic"/>
                <a:ea typeface="Malgun Gothic"/>
              </a:rPr>
              <a:t>•  0단계 사본 확보가 재시도의 전제</a:t>
            </a:r>
          </a:p>
          <a:p>
            <a:pPr>
              <a:spcAft>
                <a:spcPts val="600"/>
              </a:spcAft>
            </a:pPr>
            <a:r>
              <a:rPr sz="1800" b="0">
                <a:solidFill>
                  <a:srgbClr val="202830"/>
                </a:solidFill>
                <a:latin typeface="Malgun Gothic"/>
                <a:ea typeface="Malgun Gothic"/>
              </a:rPr>
              <a:t>•  절차서와 훈련이 실제 대응 시간을 결정한다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12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실습 12-1  모든 데이터파일과 컨트롤파일 손상</a:t>
            </a:r>
          </a:p>
          <a:p>
            <a:pPr>
              <a:spcAft>
                <a:spcPts val="600"/>
              </a:spcAft>
            </a:pPr>
            <a:r>
              <a:rPr sz="1800" b="0">
                <a:solidFill>
                  <a:srgbClr val="202830"/>
                </a:solidFill>
                <a:latin typeface="Malgun Gothic"/>
                <a:ea typeface="Malgun Gothic"/>
              </a:rPr>
              <a:t>•  실습 12-2  SYSTEM 데이터파일과 컨트롤파일 손상</a:t>
            </a:r>
          </a:p>
          <a:p>
            <a:pPr>
              <a:spcAft>
                <a:spcPts val="600"/>
              </a:spcAft>
            </a:pPr>
            <a:r>
              <a:rPr sz="1800" b="0">
                <a:solidFill>
                  <a:srgbClr val="202830"/>
                </a:solidFill>
                <a:latin typeface="Malgun Gothic"/>
                <a:ea typeface="Malgun Gothic"/>
              </a:rPr>
              <a:t>•  실습 12-3  리두 로그와 컨트롤파일 손상</a:t>
            </a:r>
          </a:p>
          <a:p>
            <a:pPr>
              <a:spcAft>
                <a:spcPts val="600"/>
              </a:spcAft>
            </a:pPr>
            <a:r>
              <a:rPr sz="1800" b="0">
                <a:solidFill>
                  <a:srgbClr val="202830"/>
                </a:solidFill>
                <a:latin typeface="Malgun Gothic"/>
                <a:ea typeface="Malgun Gothic"/>
              </a:rPr>
              <a:t>•  실습 12-4  일반 DF + INACTIVE 리두 + 컨트롤파일 손상</a:t>
            </a:r>
          </a:p>
          <a:p>
            <a:pPr>
              <a:spcAft>
                <a:spcPts val="600"/>
              </a:spcAft>
            </a:pPr>
            <a:r>
              <a:rPr sz="1800" b="0">
                <a:solidFill>
                  <a:srgbClr val="202830"/>
                </a:solidFill>
                <a:latin typeface="Malgun Gothic"/>
                <a:ea typeface="Malgun Gothic"/>
              </a:rPr>
              <a:t>•  실습 12-5  로그 스위치로 정지된 상태의 복구</a:t>
            </a:r>
          </a:p>
          <a:p>
            <a:pPr>
              <a:spcAft>
                <a:spcPts val="600"/>
              </a:spcAft>
            </a:pPr>
            <a:r>
              <a:rPr sz="1800" b="0">
                <a:solidFill>
                  <a:srgbClr val="202830"/>
                </a:solidFill>
                <a:latin typeface="Malgun Gothic"/>
                <a:ea typeface="Malgun Gothic"/>
              </a:rPr>
              <a:t>•  실습 12-6  전체 손실 — 아카이브 보유</a:t>
            </a:r>
          </a:p>
          <a:p>
            <a:pPr>
              <a:spcAft>
                <a:spcPts val="600"/>
              </a:spcAft>
            </a:pPr>
            <a:r>
              <a:rPr sz="1800" b="0">
                <a:solidFill>
                  <a:srgbClr val="202830"/>
                </a:solidFill>
                <a:latin typeface="Malgun Gothic"/>
                <a:ea typeface="Malgun Gothic"/>
              </a:rPr>
              <a:t>•  실습 12-7  전체 손실 — 아카이브 없음, Hot Backup</a:t>
            </a:r>
          </a:p>
          <a:p>
            <a:pPr>
              <a:spcAft>
                <a:spcPts val="600"/>
              </a:spcAft>
            </a:pPr>
            <a:r>
              <a:rPr sz="1800" b="0">
                <a:solidFill>
                  <a:srgbClr val="202830"/>
                </a:solidFill>
                <a:latin typeface="Malgun Gothic"/>
                <a:ea typeface="Malgun Gothic"/>
              </a:rPr>
              <a:t>•  실습 12-8  전체 손실 — 아카이브 없음, Cold Backup</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매 실습 전 Hot·Cold 백업 세트와 아카이브를 각각 확인하고 매니페스트를 갱신한다.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
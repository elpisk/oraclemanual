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첫 장으로, 이후 4~19장에서 다룰 모든 복구 시나리오가 공통으로 밟는 판단 근거를 세운다. 복구 명령을 직접 수행하지 않고 개념 지도를 그리는 데 집중한다. 실습 환경은 Oracle Database 19.3.0, Oracle Linux 7, non-CDB ORCL이며, 본문 27,751자 분량을 발표용으로 압축한 자료다. 각 슬라이드의 발표자 노트에 본문의 상세 설명을 수록했다.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목표를 절 번호와 짝지어 제시한다. 이 장은 명령 수행이 아니라 판단 기준을 세우는 장이므로, '무엇을 할 수 있게 되는가'보다 '무엇을 근거로 판단할 수 있게 되는가'에 무게가 있다.</a:t>
            </a:r>
          </a:p>
          <a:p/>
          <a:p>
            <a:r>
              <a:t>강의 시작 시 수강생의 배경을 확인한다. ADMIN 과정을 마친 수강생이라면 1.2절의 파일 구조와 1.3절의 SCN·체크포인트는 복습에 해당하므로 속도를 올려도 된다. 반대로 백업·복구가 첫 심화 과정인 경우 1.3절에 시간을 더 배분한다. 이 장에서 개념이 서지 않으면 4장부터의 시나리오가 단순 명령 암기로 흘러간다.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 절의 흐름은 '왜 백업하는가 → 무엇을 백업하는가 → 어떻게 복구가 성립하는가 → 어디서 진단하는가' 순이다. 1.4와 1.5는 짝을 이루며, 이 둘의 구분이 이 장에서 가장 중요한 개념 경계다.</a:t>
            </a:r>
          </a:p>
          <a:p/>
          <a:p>
            <a:r>
              <a:t>여섯 절을 다 다루면 3시간 안팎이 걸린다. 시간이 부족하면 1.6절을 실습 1-5로 넘기고 본 강의에서는 alert log의 위치만 짚어도 된다. 반대로 줄여서는 안 되는 절은 1.3과 1.5다. 이 둘이 이후 열여섯 개 장의 판단 근거를 전부 담고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1.1절은 '왜 백업하는가'를 다룬다. 장애 유형을 먼저 나누는 이유는, 모든 장애가 백업을 필요로 하지 않기 때문이다. 이 구분이 서지 않으면 Flashback으로 5분에 끝날 일을 전체 복원으로 몇 시간 쓰게 된다.</a:t>
            </a:r>
          </a:p>
          <a:p/>
          <a:p>
            <a:r>
              <a:t>이 절의 목표는 '모든 장애가 백업을 필요로 하지 않는다'는 인식을 심는 것이다. 현업 DBA도 사용자 실수를 미디어 실패처럼 처리해 불필요하게 전체 복원을 하는 경우가 많다. 그 대비 효과를 극대화하려면 여섯 유형을 나열한 뒤 '이 중 백업본이 필요한 것은 몇 개일까'라고 먼저 물어보는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유형은 원인과 파급 범위로 나눈 것이다. 앞의 세 가지는 데이터 자체를 건드리지 않는다. 사용자 오류는 데이터는 바뀌었지만 파일은 온전하다. 인스턴스 실패는 메모리만 잃는다. 미디어 실패만이 파일을 잃는다. 이 마지막 하나가 4~19장 시나리오의 거의 전부다.</a:t>
            </a:r>
          </a:p>
          <a:p/>
          <a:p>
            <a:r>
              <a:t>유형을 나열만 하지 말고 각각에 대해 '이때 데이터 파일은 무사한가'를 물어 가며 진행한다. 앞의 다섯 유형은 모두 무사하고 마지막 하나만 손상된다는 점이 자연스럽게 드러난다. 명령문 실패의 예로 테이블스페이스 공간 부족(ORA-01653)을 들면 20장 이후 공간 관리와도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'백업본이 필요한 경우는 미디어 실패뿐'이라는 것이다. 사용자 오류를 미디어 실패처럼 처리하면 전체 복원 후 불완전 복구로 가야 하고, 그 사이의 정상 트랜잭션까지 잃는다. Flashback을 쓰면 해당 변경만 되돌린다.</a:t>
            </a:r>
          </a:p>
          <a:p/>
          <a:p>
            <a:r>
              <a:t>사용자 오류를 별도로 떼어 놓은 이유를 강조한다. 데이터는 바뀌었지만 파일은 온전하므로 백업본이 필요 없고, 오히려 백업본으로 되돌리면 그 사이의 정상 트랜잭션까지 잃는다. 18장 Flashback을 미리 언급해 두면 수강생이 '그럼 그건 어떻게 되돌리나'라는 의문을 품은 채 진도를 나가게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RPO는 '무엇을 잃어도 되는가', RTO는 '얼마나 멈춰도 되는가'다. 두 값이 정해지면 ARCHIVELOG 여부, 백업 주기, 다중화 수준이 자동으로 따라온다. 목표 없이 정한 백업 정책은 장애 시 근거 없는 기대에 의존하게 된다.</a:t>
            </a:r>
          </a:p>
          <a:p/>
          <a:p>
            <a:r>
              <a:t>RPO와 RTO는 시험 문제로도 자주 나오지만, 실무에서 더 중요한 것은 이 값이 기술 결정을 강제한다는 점이다. RPO 0을 요구하면서 NOARCHIVELOG로 운영하는 것은 모순이며, 그 모순을 지적하는 것이 DBA의 역할이다. 수강생에게 현재 담당 시스템의 RPO를 물어보면 대부분 답하지 못한다는 점도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MTTR과 RTO를 혼동하는 경우가 많다. FAST_START_MTTR_TARGET을 아무리 낮춰도 데이터 파일이 유실됐을 때의 복구 시간은 전혀 줄지 않는다. 이 파라미터는 '파일은 멀쩡하고 인스턴스만 죽은' 경우에만 관여한다.</a:t>
            </a:r>
          </a:p>
          <a:p/>
          <a:p>
            <a:r>
              <a:t>MTTR과 RTO의 혼동은 실무에서도 흔하다. FAST_START_MTTR_TARGET을 낮추면 복구가 빨라진다는 말은 맞지만 그 '복구'가 인스턴스 복구에 한정된다는 단서가 빠져 있다. 미디어 복구 시간은 복원할 바이트 수와 디스크 대역폭이 결정하며, 14장과 16장의 기법이 그 양을 줄이는 수단이다.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도구가 해결하는 문제가 다르다. Flashback으로는 유실된 데이터 파일을 되살릴 수 없고, RMAN으로는 11g에서 19c로 스키마를 옮길 수 없다. 도구 선택은 장애 유형이 결정한다.</a:t>
            </a:r>
          </a:p>
          <a:p/>
          <a:p>
            <a:r>
              <a:t>네 도구를 소개할 때 각각의 '못 하는 것'을 함께 말하는 편이 기억에 남는다. Flashback은 유실된 파일을 못 되살리고, RMAN은 버전 간 이관을 못 하며, Data Pump는 시점 복구를 못 한다. 13장 이후 RMAN 비중이 커지지만 그것이 만능이라는 인상을 주지 않도록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커리큘럼 순서의 근거를 밝히는 슬라이드다. 수강생이 '왜 요즘 안 쓰는 방식을 먼저 배우나'라고 묻는 지점이므로 명시적으로 짚고 넘어간다.</a:t>
            </a:r>
          </a:p>
          <a:p/>
          <a:p>
            <a:r>
              <a:t>수강생이 '요즘 다 RMAN 쓰는데 왜 손으로 하나'라고 묻는 지점이다. 답은 두 가지다. 첫째, RMAN의 RESTORE/RECOVER가 하는 일이 User Managed 절차와 동일해서 원리를 이해해야 실패를 진단할 수 있다. 둘째, 자격증 시험과 실무 면접이 여전히 User Managed 절차를 묻는다. NOARCHIVELOG를 먼저 다루는 이유도 같은 맥락이며, 결핍을 먼저 경험시키는 구성이다.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축은 독립적이지 않고 서로 얽혀 있다. 다음 슬라이드에서 그 결과를 본다.</a:t>
            </a:r>
          </a:p>
          <a:p/>
          <a:p>
            <a:r>
              <a:t>세 축을 칠판에 2x2x2로 그려 보이면 이해가 빠르다. 여덟 가지 조합 중 실제로 가능한 것은 몇 개인지 물어보고 다음 슬라이드로 넘어간다. 특히 '일관성'은 SCN 일치 여부로 정의된다는 점을 명확히 한다. 많은 수강생이 일관성을 '백업이 깨지지 않았다'는 뜻으로 오해하는데, 그것은 무결성이지 일관성이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제약이 4~7장 시나리오의 전제다. NOARCHIVELOG에서 '이 파일만 복구하겠다'는 선택지가 아예 없다는 점을 여기서 못 박아 두면 이후 시나리오의 결론이 자연스럽게 따라온다.</a:t>
            </a:r>
          </a:p>
          <a:p/>
          <a:p>
            <a:r>
              <a:t>NOARCHIVELOG의 제약을 여기서 못 박아 두면 4~7장 시나리오의 결론이 매번 자연스럽게 따라온다. '이 파일만 복구하겠다'는 선택지가 아예 없다는 점, 그래서 항상 전체를 되돌리게 된다는 점이 핵심이다. SHUTDOWN ABORT 후 백업의 위험성은 3장 실습에서 실제로 재현하므로 여기서는 언급만 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1.2절은 복구 대상 파일을 하나씩 정리한다. 각 파일에 대해 '무엇을 담고 있는가 - 유실되면 어떤 증상이 나오는가 - 무엇으로 되살리는가' 세 가지를 일관되게 다룬다.</a:t>
            </a:r>
          </a:p>
          <a:p/>
          <a:p>
            <a:r>
              <a:t>1.2절은 ADMIN 과정을 마친 수강생에게는 복습이다. 다만 관점이 다르다. ADMIN에서는 '이 파일이 무엇을 담는가'를 배웠다면, 여기서는 '이 파일이 없어지면 무슨 일이 생기고 무엇으로 되살리는가'를 다룬다. 각 파일마다 이 세 가지를 일관된 순서로 짚으면 수강생이 패턴을 잡는다.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SYSTEM/UNDO와 나머지의 차이가 복구 절차를 가른다. 일반 테이블스페이스는 DB를 연 채로 해당 파일만 OFFLINE 해서 복구할 수 있지만, SYSTEM은 OFFLINE 자체가 불가능해 MOUNT 상태에서 처리해야 한다.</a:t>
            </a:r>
          </a:p>
          <a:p/>
          <a:p>
            <a:r>
              <a:t>SYSTEM/UNDO와 나머지의 차이가 복구 절차를 가른다. 일반 테이블스페이스는 데이터베이스를 연 채로 해당 파일만 OFFLINE 해서 복구할 수 있지만 SYSTEM은 OFFLINE 자체가 불가능해 MOUNT 상태에서 처리해야 한다. SYSAUX는 중간 성격으로, 업무는 계속되지만 AWR 수집이나 통계 갱신이 멈춘다. 4장에서 SYSAUX 손상 케이스를 별도로 다루는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ORA-01157이면 파일이 없다는 뜻이라 복원부터 해야 하고, ORA-01113이면 파일은 있는데 뒤처져 있다는 뜻이라 복구만 하면 된다. ORA-01578은 파일 전체가 아니라 블록만 복구하면 된다. 세 오류를 구분하는 것이 진단의 핵심이다.</a:t>
            </a:r>
          </a:p>
          <a:p/>
          <a:p>
            <a:r>
              <a:t>오류 번호를 외우게 하기보다 '무엇을 알려 주는 번호인가'로 분류시킨다. ORA-01110은 대상을 알려 주고, ORA-01157/01113/01578은 원인과 필요한 조치를 알려 준다. 실무에서는 ORA-01110만 보고 당황하는 경우가 많은데, 바로 아래 줄에 진짜 정보가 있다는 점을 강조한다. 4장 이후 모든 시나리오의 증상 관찰 단계에서 이 번호들이 반복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제어 파일은 크기가 작지만 없으면 아무것도 못 한다. 데이터 파일이 어디 있는지를 아는 유일한 곳이기 때문이다. 그래서 다중화가 사실상 필수이며, 다중화해 두면 하나가 깨져도 나머지로 계속 동작한다.</a:t>
            </a:r>
          </a:p>
          <a:p/>
          <a:p>
            <a:r>
              <a:t>제어 파일은 크기가 작지만 없으면 아무것도 못 한다. 데이터 파일이 어디 있는지 아는 유일한 곳이기 때문이다. DBID를 담고 있다는 점도 짚어 둔다. RMAN에서 제어 파일이 모두 유실됐을 때 DBID를 알아야 복원이 시작되며, 15장에서 그 상황을 다룬다. 백업본과 트레이스 재생성 두 경로의 차이는 6장과 11장에서 각각 실습한다.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경로가 모두 /u01 아래에 있다는 점에 주목한다. 이는 다중화가 아니다. /u01 디스크가 손상되면 두 파일이 함께 사라진다. 실습 환경이라 단순화한 것이며, 운영 환경에서는 서로 다른 물리 디스크나 다른 ASM 디스크그룹에 배치해야 한다. 구성 절차는 2장에서 다룬다.</a:t>
            </a:r>
          </a:p>
          <a:p/>
          <a:p>
            <a:r>
              <a:t>두 경로가 모두 /u01 아래에 있다는 점을 반드시 짚는다. 이것은 다중화가 아니다. 수강생에게 '이 구성의 문제가 무엇인가'라고 물으면 대부분 바로 찾아낸다. V$CONTROLFILE_RECORD_SECTION의 ARCHIVED LOG 항목은 제어 파일이 아카이브 이력을 몇 건까지 보관하는지 보여 주며, CONTROL_FILE_RECORD_KEEP_TIME 파라미터와 연결된다. 이 값이 작으면 RMAN 카탈로그 없이 운영할 때 이력이 소실된다.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상태가 복구 가능 여부를 가른다. 다음 슬라이드에서 그 차이를 본다.</a:t>
            </a:r>
          </a:p>
          <a:p/>
          <a:p>
            <a:r>
              <a:t>리두 로그는 이 과정에서 가장 자주 등장하는 파일이다. 그룹과 멤버의 구분이 흐릿한 수강생이 많으므로 '그룹은 순환 단위, 멤버는 같은 내용의 사본'이라고 못 박는다. 멤버를 여러 개 두어도 용량이 늘지 않고 안전성만 올라간다는 점, LGWR가 모든 멤버에 동시에 쓴다는 점을 함께 설명한다. 세 상태 CURRENT/ACTIVE/INACTIVE는 다음 슬라이드에서 복구와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리두 로그의 유실은 이 과정에서 반복해서 등장하는 '완전 복구 불가' 조건이다. 7장과 11장의 시나리오가 이 상황을 여러 각도에서 다룬다.</a:t>
            </a:r>
          </a:p>
          <a:p/>
          <a:p>
            <a:r>
              <a:t>이 슬라이드가 7장과 11장 시나리오의 핵심 전제다. CURRENT 리두 로그 유실은 이 과정에서 반복 등장하는 '완전 복구 불가' 조건이며, 수강생이 이것을 기억하면 시나리오를 만났을 때 결론을 먼저 예측할 수 있다. ACTIVE 상태를 설명할 때는 '기록은 끝났지만 아직 안심할 수 없는 상태'로 표현하면 이해가 빠르다. MEMBERS=1 경고는 실습 환경과 운영 환경의 차이를 짚는 자리다.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CURRENT인 그룹 2의 ARC가 NO인 점에 주목한다. 기록 중이므로 아직 아카이브되지 않은 것이 정상이다. INACTIVE인 그룹 1과 3은 ARC가 YES로, 이미 아카이브가 끝나 덮어써도 안전한 상태다. MEMBERS가 모두 1인 것은 실습 환경의 단순화이며 운영 기준으로는 부족하다.</a:t>
            </a:r>
          </a:p>
          <a:p/>
          <a:p>
            <a:r>
              <a:t>CURRENT인 그룹 2의 ARC가 NO라는 점에 주목시킨다. 기록 중이므로 아직 아카이브되지 않은 것이 정상이다. INACTIVE인 그룹 1과 3은 ARC가 YES로 이미 아카이브가 끝나 덮어써도 안전하다. 여기서 '그럼 ARC가 NO인 INACTIVE 그룹이 있으면 어떤 상황인가'를 물어보면 좋다. 아카이브가 밀렸다는 뜻이고 곧 ORA-00257로 이어질 수 있다. MEMBERS가 모두 1인 것은 실습 환경의 단순화다.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로그의 존재 여부가 NOARCHIVELOG(4~7장)와 ARCHIVELOG(8~12장)를 가르는 유일한 차이다. 그 차이 하나가 복구 가능 범위를 완전히 바꾼다.</a:t>
            </a:r>
          </a:p>
          <a:p/>
          <a:p>
            <a:r>
              <a:t>아카이브 로그의 존재 여부가 NOARCHIVELOG와 ARCHIVELOG를 가르는 유일한 차이이며, 그 차이 하나가 복구 가능 범위를 완전히 바꾼다. LOG_ARCHIVE_DEST_n을 여러 개 지정하는 이유는 아카이브 자체가 유실되면 완전 복구가 무너지기 때문이다. 9장 시나리오는 다중 대상 중 한쪽에만 로그가 없는 상황을 다룬다. ORA-00257은 2장에서 재현 실습으로 다시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아카이브 로그는 [FIRST_CHANGE#, NEXT_CHANGE#) 구간의 변경을 담는다. 복구할 데이터 파일 헤더의 CHECKPOINT_CHANGE#가 2090995라면 그 값을 포함하는 시퀀스 97부터 적용하면 된다. 이 계산이 복구 작업의 핵심이며, 9장에서 아카이브 로그가 일부 없을 때 어디까지 복구되는지 판단하는 데 그대로 쓰인다.</a:t>
            </a:r>
          </a:p>
          <a:p/>
          <a:p>
            <a:r>
              <a:t>각 아카이브 로그가 [FIRST_CHANGE#, NEXT_CHANGE#) 구간을 담는다는 사실이 이 슬라이드의 전부다. 구간이 반개구간이라는 점, 즉 앞 로그의 NEXT_CHANGE#와 뒤 로그의 FIRST_CHANGE#가 같다는 점을 짚어 준다. 복구에 필요한 시퀀스를 고르는 계산이 여기서 나오며, 9장에서 로그가 일부 없을 때 어디까지 복구되는지 판단하는 데 그대로 쓰인다. 수강생에게 CHECKPOINT_CHANGE#가 2085000이면 몇 번부터 필요한지 물어본다.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대상에서 자주 빠뜨리는 것이 파라미터 파일이다. 데이터 파일만 백업해 두면 복원은 되지만 인스턴스를 기동할 수 없어 시작조차 못 한다. TEMP는 반대로 백업 대상에 넣을 필요가 없다.</a:t>
            </a:r>
          </a:p>
          <a:p/>
          <a:p>
            <a:r>
              <a:t>백업 대상에서 가장 자주 빠뜨리는 것이 파라미터 파일이다. 데이터 파일만 백업해 두면 복원은 되지만 인스턴스를 기동할 수 없어 시작조차 못 한다. 반대로 TEMP 파일은 백업 대상에 넣을 필요가 없고, 넣어도 복원 시 쓰이지 않는다. 5장에서 TEMP 파일 손상 시 재생성 절차를 다룬다. 패스워드 파일은 유실해도 로컬 접속이 가능하므로 우선순위가 낮지만 RMAN 원격 접속에는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조회가 실습 1-1의 출발점이며, 실습 1-4에서는 이 결과를 가공해 OS 복사 명령을 자동 생성한다. CDB 환경에서는 CDB$ROOT에서 수행하면 모든 컨테이너의 파일이 CON_ID로 구분되어 함께 나온다. non-CDB인 실습 환경에서는 CON_ID가 모두 0이다.</a:t>
            </a:r>
          </a:p>
          <a:p/>
          <a:p>
            <a:r>
              <a:t>이 조회가 실습 1-1의 출발점이며 실습 1-4에서는 결과를 가공해 OS 복사 명령을 자동 생성한다. UNION ALL을 쓴 이유는 중복 제거가 불필요하고 정렬 비용을 피하기 위해서다. CDB 환경에서는 CDB$ROOT에서 수행하면 모든 컨테이너 파일이 CON_ID로 구분되어 함께 나오며, PDB$SEED가 CON_ID 2다. non-CDB인 실습 환경에서는 CON_ID가 모두 0으로 표시된다.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1.3절은 이 장에서 개념적으로 가장 중요한 절이다. 이후 모든 시나리오에서 '어디까지 복구되는가'를 판단할 때 쓰는 근거가 전부 여기서 나온다.</a:t>
            </a:r>
          </a:p>
          <a:p/>
          <a:p>
            <a:r>
              <a:t>1.3절은 이 장에서 개념적으로 가장 중요한 절이다. 이후 모든 시나리오에서 '어디까지 복구되는가'를 판단할 때 쓰는 근거가 전부 여기서 나온다. 시간이 부족해도 이 절만은 줄이지 않는다. 특히 '커밋은 리두 기록만 보장한다'는 명제가 나오는 슬라이드가 이 장 전체의 중심이다.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SCN을 '시각'이 아니라 '순번'으로 이해해야 한다. SCN_TO_TIMESTAMP로 시각 환산이 가능하지만 이는 근사치이며, 불완전 복구 시점을 사람이 지정하기 편하도록 제공되는 보조 기능이다.</a:t>
            </a:r>
          </a:p>
          <a:p/>
          <a:p>
            <a:r>
              <a:t>SCN을 '시각'이 아니라 '순번'으로 이해시키는 것이 목표다. SCN_TO_TIMESTAMP로 시각 환산이 가능하지만 이는 근사치이며, 불완전 복구 시점을 사람이 지정하기 편하도록 제공되는 보조 기능이다. 반대 방향인 TIMESTAMP_TO_SCN도 있으며 10장 Time-based 복구에서 쓰인다. SCN은 되돌아가지 않는다는 점, 즉 RESETLOGS 후에도 계속 증가한다는 점을 함께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작업의 첫 조회는 언제나 이 두 개다. 전부 같으면 복원만으로 끝나고, 특정 파일만 값이 작으면 그 SCN부터의 리두를 적용하면 된다. 마운트 상태에서 열리지 않을 때는 v$datafile 대신 v$datafile_header를 본다. 전자는 제어 파일이 기억하는 값이고 후자는 파일 자체에 적힌 값이라 서로 다를 수 있다.</a:t>
            </a:r>
          </a:p>
          <a:p/>
          <a:p>
            <a:r>
              <a:t>복구 작업의 첫 조회는 언제나 이 두 개다. 전부 같으면 복원만으로 끝나고, 특정 파일만 값이 작으면 그 SCN부터의 리두를 적용하면 된다. 마운트 상태에서 열리지 않을 때는 v$datafile 대신 v$datafile_header를 봐야 한다는 점이 실무에서 매우 중요하다. 전자는 제어 파일이 기억하는 값이고 후자는 파일 자체에 적힌 값이라 서로 다를 수 있으며, 그 차이가 곧 '제어 파일이 아는 것과 실제 파일 상태가 어긋났다'는 진단이 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언두가 데이터 파일에 저장된다는 점이 중요하다. 그래서 인스턴스 복구에서 롤포워드가 롤백보다 먼저 온다. 언두 블록도 리두로 복구되어야 신뢰할 수 있기 때문이다.</a:t>
            </a:r>
          </a:p>
          <a:p/>
          <a:p>
            <a:r>
              <a:t>언두가 데이터 파일에 저장된다는 점이 중요하다. 그래서 인스턴스 복구에서 롤포워드가 롤백보다 먼저 온다. 언두 블록도 리두로 복구되어야 신뢰할 수 있기 때문이다. UNDO_RETENTION이 보장이 아니라 목표값이라는 점도 짚는다. 공간이 부족하면 Oracle이 기간을 채우지 못한 언두도 재사용하며, 그 결과가 ORA-01555 Snapshot too old다. RETENTION GUARANTEE를 주면 강제할 수 있으나 공간 부족 시 DML 자체가 실패한다는 부작용이 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역할 분담이 복구 구조를 결정한다. CKPT가 데이터를 직접 쓰지 않는다는 점이 자주 오해되는 부분이다.</a:t>
            </a:r>
          </a:p>
          <a:p/>
          <a:p>
            <a:r>
              <a:t>세 프로세스의 역할 분담이 복구 구조를 결정한다. CKPT가 데이터를 직접 쓰지 않는다는 점이 자주 오해되는 부분이다. CKPT는 '어디까지 반영됐는지'를 기록할 뿐이고 실제 기록은 DBWn이 한다. 체크포인트를 유발하는 사건은 로그 스위치 외에도 정상 종료, 테이블스페이스 OFFLINE/BEGIN BACKUP, ALTER SYSTEM CHECKPOINT 등이 있다. 이 중 BEGIN BACKUP은 3장 Hot Backup에서 다시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 전체의 핵심 명제다. 데이터 파일이 항상 뒤처져 있다는 사실을 받아들여야 인스턴스 복구가 왜 필요한지, 미디어 복구에서 왜 리두를 적용해야 하는지가 한꺼번에 이해된다.</a:t>
            </a:r>
          </a:p>
          <a:p/>
          <a:p>
            <a:r>
              <a:t>이 슬라이드가 이 장 전체의 핵심 명제다. 데이터 파일이 항상 뒤처져 있다는 사실을 받아들여야 인스턴스 복구가 왜 필요한지, 미디어 복구에서 왜 리두를 적용해야 하는지가 한꺼번에 이해된다. 순차 기록이 임의 기록보다 빠르다는 점은 디스크 물리 구조에서 오는 것이며 SSD에서도 여전히 유효하다. 수강생에게 '그럼 커밋 직후 전원이 나가면 데이터를 잃는가'를 물으면 좋은 토론이 된다. 답은 잃지 않는다이며, 리두 로그에 있으므로 재기동 시 롤포워드로 복원된다.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1-3에서 직접 수행하는 흐름이다. 커밋 전후로 체크포인트 SCN이 그대로라는 점을 눈으로 확인하는 것이 목적이다. 로그 스위치 후에야 값이 올라가며, 이는 체크포인트가 완료되어 그 이전 리두가 더는 인스턴스 복구에 필요 없어졌다는 뜻이다.</a:t>
            </a:r>
          </a:p>
          <a:p/>
          <a:p>
            <a:r>
              <a:t>실습 1-3에서 직접 수행하는 흐름이다. 커밋 전후로 체크포인트 SCN이 그대로라는 점을 눈으로 확인하는 것이 목적이다. 로그 스위치 후에야 값이 올라가며, 이는 체크포인트가 완료되어 그 이전 리두가 더는 인스턴스 복구에 필요 없어졌다는 뜻이다. 값이 바로 안 바뀌면 체크포인트가 아직 진행 중인 것이므로 몇 초 뒤 다시 조회한다. 이때 v$log에서 해당 그룹이 ACTIVE로 보이는지 함께 확인시키면 상태 전이가 눈에 들어온다.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LOGFILE과 ARCHIVE LOG CURRENT의 차이를 짚는다. 전자는 스위치만 하고 반환되지만 후자는 아카이브 완료까지 기다린다. Hot Backup 종료 직후에는 반드시 후자를 써야 한다.</a:t>
            </a:r>
          </a:p>
          <a:p/>
          <a:p>
            <a:r>
              <a:t>SWITCH LOGFILE과 ARCHIVE LOG CURRENT의 차이를 짚는다. 전자는 스위치만 하고 즉시 반환되지만 후자는 아카이브 완료까지 기다린다. Hot Backup 종료 직후에는 반드시 후자를 써야 하며, 그렇지 않으면 백업 시점의 리두가 아직 아카이브되지 않은 채로 남아 복구에 구멍이 생긴다. 3장에서 이 절차를 실제로 수행하고, BNR_test 과제에도 ALTER SYSTEM ARCHIVE LOG CURRENT가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1.4절과 1.5절은 짝을 이룬다. 두 복구의 구분이 이 장에서 세우려는 가장 중요한 개념 경계다.</a:t>
            </a:r>
          </a:p>
          <a:p/>
          <a:p>
            <a:r>
              <a:t>1.4절과 1.5절은 짝을 이룬다. 두 복구의 구분이 이 장에서 세우려는 가장 중요한 개념 경계다. 먼저 인스턴스 복구를 다루는 이유는 그것이 자동이고 손실이 없어 이해가 쉽기 때문이며, 그 대비로 미디어 복구의 성격이 선명해진다. 두 절을 연속으로 진행하고 중간에 쉬는 시간을 두지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백업본이 쓰이지 않는 이유는 파일이 모두 제자리에 있고 내용도 온전하기 때문이다. 부족한 것은 '아직 데이터 파일에 반영되지 않은 변경'뿐이며, 그것은 리두 로그에 있다.</a:t>
            </a:r>
          </a:p>
          <a:p/>
          <a:p>
            <a:r>
              <a:t>백업본이 쓰이지 않는 이유는 파일이 모두 제자리에 있고 내용도 온전하기 때문이다. 부족한 것은 '아직 데이터 파일에 반영되지 않은 변경'뿐이며 그것은 리두 로그에 있다. SHUTDOWN IMMEDIATE와 ABORT의 차이를 여기서 정리해 두면 3장 백업 실습에서 혼란이 줄어든다. IMMEDIATE는 진행 중 트랜잭션을 롤백하고 체크포인트를 완료한 뒤 종료하므로 일관성 있는 백업이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순서의 이유를 묻는 질문이 자주 나온다. 언두 블록도 데이터 블록이라 리두 적용 대상이며, 롤포워드가 끝나야 온전한 언두를 얻는다는 점을 짚어 준다.</a:t>
            </a:r>
          </a:p>
          <a:p/>
          <a:p>
            <a:r>
              <a:t>순서의 이유를 묻는 질문이 자주 나온다. 언두 블록도 데이터 블록이라 리두 적용 대상이며, 롤포워드가 끝나야 온전한 언두를 얻는다는 점을 짚어 준다. 지연 롤백은 데이터베이스가 열린 뒤에도 계속되므로, 재기동 직후 성능이 잠시 떨어질 수 있다. 긴 트랜잭션이 진행 중일 때 ABORT 하면 이 현상이 두드러진다. v$transaction으로 진행 상황을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log에는 crash recovery로 기록된다. 단일 인스턴스가 죽었다가 스스로 살아나는 경우를 뜻하며, RAC에서 다른 인스턴스가 대신 복구하는 경우를 instance recovery라 구분해 부르기도 한다. 동작 원리는 같다. '87 data blocks need recovery'가 데이터 파일에 반영되지 못한 채 남아 있던 변경의 양이다. 실습 1-2에서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MTTR 목표를 낮게 잡아도 데이터 파일 유실 시의 복구 시간은 줄지 않는다. 미디어 복구 시간을 줄이려면 복원 대상을 줄여야 하며 그 수단은 증분 백업과 Image Copy다.</a:t>
            </a:r>
          </a:p>
          <a:p/>
          <a:p>
            <a:r>
              <a:t>MTTR 목표를 낮게 잡아도 데이터 파일 유실 시의 복구 시간은 줄지 않는다. 미디어 복구 시간을 줄이려면 복원 대상을 줄여야 하며 그 수단은 증분 백업과 Image Copy다. v$instance_recovery의 ESTIMATED_MTTR이 현재 예상 복구 초, TARGET_MTTR이 목표값이다. 실습 환경처럼 TARGET이 0이면 자동 조절이 꺼진 상태이며, 이 경우 체크포인트는 로그 스위치와 LOG_CHECKPOINT_INTERVAL 등 다른 요인으로만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1.5절이 이 과정 전체의 뼈대다. 4~19장의 모든 시나리오가 여기서 정의한 판단 기준을 반복해서 적용한다.</a:t>
            </a:r>
          </a:p>
          <a:p/>
          <a:p>
            <a:r>
              <a:t>1.5절이 이 과정 전체의 뼈대다. 4~19장의 모든 시나리오가 여기서 정의한 판단 기준을 반복해서 적용한다. 이 절을 마치면 수강생이 임의의 장애 상황을 듣고 '완전 복구가 가능한가'를 스스로 판정할 수 있어야 한다. 그 판정 능력이 이 과정의 실질적 목표다.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이름이 비슷해 혼동하기 쉽지만 전제부터 다르다. 백업본이 필요한가 아닌가가 가장 명확한 구분점이다.</a:t>
            </a:r>
          </a:p>
          <a:p/>
          <a:p>
            <a:r>
              <a:t>이름이 비슷해 혼동하기 쉽지만 전제부터 다르다. 백업본이 필요한가 아닌가가 가장 명확한 구분점이다. 표를 채워 가며 진행하면 대비가 선명해진다. 수강생에게 '데이터 파일 하나가 삭제된 뒤 인스턴스가 죽었다면 어느 복구인가'를 물어보면 좋다. 답은 둘 다이며, 재기동 시 인스턴스 복구가 먼저 시도되다가 파일이 없어 실패하고 미디어 복구로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 혼용이 실제 사고로 이어지는 지점이다. RMAN에서는 RESTORE와 RECOVER가 별개 명령으로 분리되어 있어 이 구분이 명령 수준에서 강제된다.</a:t>
            </a:r>
          </a:p>
          <a:p/>
          <a:p>
            <a:r>
              <a:t>용어 혼용이 실제 사고로 이어지는 지점이다. RMAN에서는 RESTORE와 RECOVER가 별개 명령으로 분리되어 있어 이 구분이 명령 수준에서 강제된다. User Managed에서는 복원이 OS의 cp이고 복구가 SQL의 RECOVER라 경계가 더 분명하다. '복구했는데 데이터가 옛날 것'이라는 상황은 예외 없이 복원만 하고 끝낸 경우이며, 4장 시나리오에서 실제로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조건 중 하나라도 없으면 불완전 복구다. 시나리오를 만났을 때 이 세 가지를 차례로 확인하는 습관을 들이면 복구 가능 범위를 즉시 판단할 수 있다.</a:t>
            </a:r>
          </a:p>
          <a:p/>
          <a:p>
            <a:r>
              <a:t>세 조건 중 하나라도 없으면 불완전 복구다. 시나리오를 만났을 때 이 세 가지를 차례로 확인하는 습관을 들이면 복구 가능 범위를 즉시 판단할 수 있다. 세 번째 조건인 '현재 상태의 제어 파일'이 자주 간과된다. 백업본 제어 파일을 쓰면 그 시점 이후에 추가된 데이터 파일 정보가 없어 USING BACKUP CONTROLFILE 절이 필요해지고, 결과적으로 RESETLOGS를 강제당한다. 11장과 17장에서 이 상황을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RESETLOGS 직후 전체 백업을 생략하는 것이 실무에서 가장 흔한 사고 원인이다. 그 사이에 다시 장애가 나면 쓸 수 있는 백업본이 하나도 없는 상태가 된다. 네 가지 종료 지점 방식의 실제 사용은 10장에서 다룬다.</a:t>
            </a:r>
          </a:p>
          <a:p/>
          <a:p>
            <a:r>
              <a:t>RESETLOGS 직후 전체 백업을 생략하는 것이 실무에서 가장 흔한 사고 원인이다. 그 사이에 다시 장애가 나면 쓸 수 있는 백업본이 하나도 없는 상태가 된다. 인카네이션 개념은 RMAN에서 LIST INCARNATION으로 확인할 수 있으며 15장에서 다룬다. 네 가지 종료 지점 방식 중 실무에서 가장 많이 쓰는 것은 UNTIL TIME이고, 가장 정밀한 것은 UNTIL CHANGE다. 사용 예는 10장에서 비교 실습한다.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데이터베이스는 예외 없이 ARCHIVELOG로 운영한다. NOARCHIVELOG는 개발·테스트나 재생성이 쉬운 스테이징 영역에 한정된다. 4~7장에서 그 한계를 시나리오로 직접 확인한다.</a:t>
            </a:r>
          </a:p>
          <a:p/>
          <a:p>
            <a:r>
              <a:t>운영 데이터베이스는 예외 없이 ARCHIVELOG로 운영한다. NOARCHIVELOG는 개발·테스트나 재생성이 쉬운 스테이징 영역에 한정된다. 4~7장에서 그 한계를 시나리오로 직접 확인한다. '운이 좋으면 완전 복구'라는 표현을 강조하는 이유는, NOARCHIVELOG에서도 완전 복구가 되는 사례를 겪은 수강생이 그것을 일반화하는 것을 막기 위해서다. 리두가 한 바퀴 돌면 그 운은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4~19장 전체의 목차이자 요약이다. 각 항목이 어느 장에서 다뤄지는지를 함께 제시해 수강생이 전체 지도를 갖고 출발하도록 한다.</a:t>
            </a:r>
          </a:p>
          <a:p/>
          <a:p>
            <a:r>
              <a:t>이 표가 4~19장 전체의 목차이자 요약이다. 각 항목이 어느 장에서 다뤄지는지를 함께 제시해 수강생이 전체 지도를 갖고 출발하도록 한다. 강의 후반부에 이 슬라이드로 되돌아와 '지금 어디까지 왔는지'를 확인하는 용도로도 쓸 수 있다. 복구 전 현재 상태 백업은 아무리 강조해도 지나치지 않다. 실제 사고의 상당수가 이 단계를 건너뛴 데서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1.6절은 짧지만 실무에서 가장 자주 쓰는 절이다. 복구 명령을 아무리 잘 알아도 '무엇이 잘못됐는지' 못 찾으면 쓸 수 없다.</a:t>
            </a:r>
          </a:p>
          <a:p/>
          <a:p>
            <a:r>
              <a:t>1.6절은 짧지만 실무에서 가장 자주 쓰는 절이다. 복구 명령을 아무리 잘 알아도 '무엇이 잘못됐는지' 못 찾으면 쓸 수 없다. 시간이 부족하면 실습 1-5로 넘겨도 되지만, alert log의 위치만은 반드시 짚고 넘어간다. 수강생 중 상당수가 alert log를 한 번도 열어 본 적이 없다.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 디렉터리는 16장의 Data Recovery Advisor와 직접 연결된다. REPAIR FAILURE가 만들어 주는 복구 스크립트가 이 위치에 저장된다는 점을 미리 언급해 둔다.</a:t>
            </a:r>
          </a:p>
          <a:p/>
          <a:p>
            <a:r>
              <a:t>hm 디렉터리는 16장의 Data Recovery Advisor와 직접 연결된다. REPAIR FAILURE가 만들어 주는 복구 스크립트가 이 위치에 저장된다는 점을 미리 언급해 둔다. trace 디렉터리의 텍스트 alert log와 alert 디렉터리의 XML alert log는 같은 내용이며, adrci는 후자를 읽는다. ADR은 자동으로 정리되지 않으므로 장기 운영 시 용량이 커진다. adrci의 PURGE 명령으로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log를 tail로 직접 읽어도 되지만 adrci는 필터링과 인시던트 조회를 함께 제공한다. 자주 쓰는 명령은 SHOW ALERT -TAIL 50, SHOW INCIDENT, SHOW PROBLEM이다. 장애 시각 전후 10분 구간만 보고, ORA 번호가 여러 개면 가장 먼저 기록된 것이 근본 원인인 경우가 많다. 복구 중에는 별도 터미널에서 tail -f로 열어 두면 진행 상황을 실시간으로 볼 수 있다. 실습 1-5에서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(c), (e). 인스턴스 복구는 파일이 온전한 상태이므로 백업본이 필요 없고 DBA 개입도 없다. 온라인 리두 로그로 롤포워드한 뒤 언두로 롤백하며 데이터 손실은 발생하지 않는다. (a)와 (d)는 미디어 복구의 특징이다.</a:t>
            </a:r>
          </a:p>
          <a:p/>
          <a:p>
            <a:r>
              <a:t>정답 (b), (c), (e). 인스턴스 복구는 파일이 온전한 상태이므로 백업본이 필요 없고 DBA 개입도 없다. 온라인 리두 로그로 롤포워드한 뒤 언두로 롤백하며 데이터 손실은 발생하지 않는다. (a)와 (d)는 미디어 복구의 특징이다. 오답을 고른 수강생에게는 '파일이 없어졌는가'를 되물으면 스스로 정정한다. 이 문제는 1.4절과 1.5절의 경계를 확인하는 것이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(c). INACTIVE는 체크포인트가 완료되어 그 리두가 더는 필요 없는 상태다. CURRENT는 기록 중이라 유실 시 완전 복구가 불가능하고, ACTIVE는 아직 체크포인트가 끝나지 않아 인스턴스 복구에 필요할 수 있다. UNUSED는 아직 한 번도 쓰이지 않은 상태로, 문제의 전제인 '유실'과 맞지 않는다.</a:t>
            </a:r>
          </a:p>
          <a:p/>
          <a:p>
            <a:r>
              <a:t>정답 (c). INACTIVE는 체크포인트가 완료되어 그 리두가 더는 필요 없는 상태다. CURRENT는 기록 중이라 유실 시 완전 복구가 불가능하고, ACTIVE는 아직 체크포인트가 끝나지 않아 인스턴스 복구에 필요할 수 있다. UNUSED는 아직 한 번도 쓰이지 않은 상태로 문제의 전제인 '유실'과 맞지 않는다. ACTIVE를 고른 수강생이 많다면 상태 전이 순서를 다시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(a), (b), (e). ARCHIVELOG 모드는 실무상 사실상 필수지만, NOARCHIVELOG에서도 필요한 리두가 온라인 리두 로그에 남아 있으면 완전 복구가 가능하다. 4장 시나리오 1이 그 경우다. RESETLOGS는 불완전 복구 후에 필요한 절차이므로 완전 복구의 조건이 아니다.</a:t>
            </a:r>
          </a:p>
          <a:p/>
          <a:p>
            <a:r>
              <a:t>정답 (a), (b), (e). ARCHIVELOG 모드는 실무상 사실상 필수지만, NOARCHIVELOG에서도 필요한 리두가 온라인 리두 로그에 남아 있으면 완전 복구가 가능하다. 4장 시나리오 1이 정확히 그 경우다. RESETLOGS는 불완전 복구 후에 필요한 절차이므로 완전 복구의 조건이 아니다. (c)를 고른 수강생이 많은 것이 정상이며, 그 오답을 통해 '모드가 아니라 리두의 존재가 조건'이라는 점을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file# 7이 백업본으로 복원되어 과거 SCN을 갖고 있는 전형적인 상태다. 2097189부터의 리두를 적용하면 나머지 파일과 SCN이 맞춰진다. 이 판단이 4~15장 모든 시나리오의 출발점이 된다.</a:t>
            </a:r>
          </a:p>
          <a:p/>
          <a:p>
            <a:r>
              <a:t>정답 (b). file# 7이 백업본으로 복원되어 과거 SCN을 갖고 있는 전형적인 상태다. 2097189부터의 리두를 적용하면 나머지 파일과 SCN이 맞춰진다. 이 판단이 4~15장 모든 시나리오의 출발점이 된다. 실무에서는 MOUNT 상태이므로 v$datafile_header를 함께 조회해 제어 파일이 아는 값과 파일에 적힌 값을 대조해야 한다는 점도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커밋은 LGWR의 리두 기록만 보장한다. 데이터 파일 반영은 DBWn이 커밋과 무관하게 자체 판단으로 수행하며, 이 간격 때문에 인스턴스 복구가 필요하다. 아카이브 로그는 로그 스위치 시점에 생성되므로 커밋과 직접 관계가 없다.</a:t>
            </a:r>
          </a:p>
          <a:p/>
          <a:p>
            <a:r>
              <a:t>정답 (b). 커밋은 LGWR의 리두 기록만 보장한다. 데이터 파일 반영은 DBWn이 커밋과 무관하게 자체 판단으로 수행하며, 이 간격 때문에 인스턴스 복구가 필요하다. 아카이브 로그는 로그 스위치 시점에 생성되므로 커밋과 직접 관계가 없다. (a)를 고르는 수강생이 가장 많으며, 이 오해를 푸는 것이 1.3절의 목표였다.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복원만 하고 복구하지 않으면 백업 시점 데이터로 남는다. 파일이 존재하지만 뒤처져 있을 때는 복원 없이 복구만 수행하기도 한다. RMAN에서는 RESTORE와 RECOVER가 별개 명령으로 분리되어 이 구분이 강제된다.</a:t>
            </a:r>
          </a:p>
          <a:p/>
          <a:p>
            <a:r>
              <a:t>정답 (b). 복원만 하고 복구하지 않으면 백업 시점 데이터로 남는다. 파일이 존재하지만 뒤처져 있을 때는 복원 없이 복구만 수행하기도 한다. RMAN에서는 RESTORE와 RECOVER가 별개 명령으로 분리되어 이 구분이 강제된다. 이 문제로 이 장을 마무리하는 이유는, 두 용어의 혼용이 이후 열여섯 개 장에서 계속 사고를 유발하기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항목이 이 장의 학습 목표 다섯 가지에 모두 대응한다. 특히 네 번째와 다섯 번째 항목은 이후 모든 장에서 반복 사용되므로 여기서 확실히 정리하고 넘어간다.</a:t>
            </a:r>
          </a:p>
          <a:p/>
          <a:p>
            <a:r>
              <a:t>여덟 항목이 이 장의 학습 목표 다섯 가지에 모두 대응한다. 특히 네 번째와 다섯 번째 항목은 이후 모든 장에서 반복 사용되므로 여기서 확실히 정리하고 넘어간다. 요약을 읽어 주기만 하지 말고 각 항목을 질문 형태로 바꿔 되물으면 정착률이 올라간다. 예를 들어 '완전 복구의 세 조건이 무엇이었나'를 묻는 식이다.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개 트랜스크립트는 순서대로 수행한다. 1-4에서 만든 백업 스크립트와 PFILE은 3장 이후 실제 백업 실습에서 그대로 재사용하므로 삭제하지 않도록 안내한다.</a:t>
            </a:r>
          </a:p>
          <a:p/>
          <a:p>
            <a:r>
              <a:t>다섯 개 트랜스크립트는 순서대로 수행한다. 1-4에서 만든 백업 스크립트와 PFILE은 3장 이후 실제 백업 실습에서 그대로 재사용하므로 삭제하지 않도록 안내한다. 실습 1-2의 SHUTDOWN ABORT는 파일을 손상시키지 않으므로 안전하지만, 공용 실습 서버에서는 다른 수강생의 세션이 끊기므로 개별 환경에서만 수행하도록 한다. 전체 실습 소요 시간은 40~50분 정도로 잡는다.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백업·복구 개요와 19c 복구 아키텍처</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장애 유형 · 복구 대상 파일 · SCN과 리두 · 인스턴스 복구 vs 미디어 복구 · ADR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데이터베이스 장애의 유형을 구분하고 유형별 복구 작업의 성격을 설명한다</a:t>
            </a:r>
          </a:p>
          <a:p>
            <a:pPr>
              <a:spcAft>
                <a:spcPts val="600"/>
              </a:spcAft>
            </a:pPr>
            <a:r>
              <a:rPr sz="1600" b="0">
                <a:solidFill>
                  <a:srgbClr val="5A6672"/>
                </a:solidFill>
                <a:latin typeface="Malgun Gothic"/>
                <a:ea typeface="Malgun Gothic"/>
              </a:rPr>
              <a:t>    –  복구에 관여하는 물리 파일의 역할과 유실 증상을 설명한다</a:t>
            </a:r>
          </a:p>
          <a:p>
            <a:pPr>
              <a:spcAft>
                <a:spcPts val="600"/>
              </a:spcAft>
            </a:pPr>
            <a:r>
              <a:rPr sz="1600" b="0">
                <a:solidFill>
                  <a:srgbClr val="5A6672"/>
                </a:solidFill>
                <a:latin typeface="Malgun Gothic"/>
                <a:ea typeface="Malgun Gothic"/>
              </a:rPr>
              <a:t>    –  SCN·리두·언두·체크포인트가 복구에서 어떻게 쓰이는지 설명한다</a:t>
            </a:r>
          </a:p>
          <a:p>
            <a:pPr>
              <a:spcAft>
                <a:spcPts val="600"/>
              </a:spcAft>
            </a:pPr>
            <a:r>
              <a:rPr sz="1600" b="0">
                <a:solidFill>
                  <a:srgbClr val="5A6672"/>
                </a:solidFill>
                <a:latin typeface="Malgun Gothic"/>
                <a:ea typeface="Malgun Gothic"/>
              </a:rPr>
              <a:t>    –  인스턴스 복구와 미디어 복구를 구분하고 완전/불완전 복구를 판별한다</a:t>
            </a:r>
          </a:p>
          <a:p>
            <a:pPr>
              <a:spcAft>
                <a:spcPts val="600"/>
              </a:spcAft>
            </a:pPr>
            <a:r>
              <a:rPr sz="1600" b="0">
                <a:solidFill>
                  <a:srgbClr val="5A6672"/>
                </a:solidFill>
                <a:latin typeface="Malgun Gothic"/>
                <a:ea typeface="Malgun Gothic"/>
              </a:rPr>
              <a:t>    –  alert log와 ADR에서 장애 진단의 출발점을 찾는다</a:t>
            </a:r>
          </a:p>
          <a:p>
            <a:pPr>
              <a:spcAft>
                <a:spcPts val="600"/>
              </a:spcAft>
            </a:pPr>
            <a:r>
              <a:rPr sz="1800" b="0">
                <a:solidFill>
                  <a:srgbClr val="202830"/>
                </a:solidFill>
                <a:latin typeface="Malgun Gothic"/>
                <a:ea typeface="Malgun Gothic"/>
              </a:rPr>
              <a:t>•  다섯 목표는 각각 1.1 / 1.2 / 1.3 / 1.4~1.5 / 1.6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1.1  백업과 복구의 목적 — 장애 유형 · RPO/RTO · 솔루션 지도 · 백업 분류</a:t>
            </a:r>
          </a:p>
          <a:p>
            <a:pPr>
              <a:spcAft>
                <a:spcPts val="600"/>
              </a:spcAft>
            </a:pPr>
            <a:r>
              <a:rPr sz="1800" b="0">
                <a:solidFill>
                  <a:srgbClr val="202830"/>
                </a:solidFill>
                <a:latin typeface="Malgun Gothic"/>
                <a:ea typeface="Malgun Gothic"/>
              </a:rPr>
              <a:t>•  1.2  복구에 관여하는 물리 파일 — 데이터/제어/리두/아카이브/파라미터</a:t>
            </a:r>
          </a:p>
          <a:p>
            <a:pPr>
              <a:spcAft>
                <a:spcPts val="600"/>
              </a:spcAft>
            </a:pPr>
            <a:r>
              <a:rPr sz="1800" b="0">
                <a:solidFill>
                  <a:srgbClr val="202830"/>
                </a:solidFill>
                <a:latin typeface="Malgun Gothic"/>
                <a:ea typeface="Malgun Gothic"/>
              </a:rPr>
              <a:t>•  1.3  변경의 흐름 — SCN · 리두와 언두 · 체크포인트 · 로그 스위치</a:t>
            </a:r>
          </a:p>
          <a:p>
            <a:pPr>
              <a:spcAft>
                <a:spcPts val="600"/>
              </a:spcAft>
            </a:pPr>
            <a:r>
              <a:rPr sz="1800" b="0">
                <a:solidFill>
                  <a:srgbClr val="202830"/>
                </a:solidFill>
                <a:latin typeface="Malgun Gothic"/>
                <a:ea typeface="Malgun Gothic"/>
              </a:rPr>
              <a:t>•  1.4  인스턴스 복구 — 롤포워드와 롤백 · MTTR 조절</a:t>
            </a:r>
          </a:p>
          <a:p>
            <a:pPr>
              <a:spcAft>
                <a:spcPts val="600"/>
              </a:spcAft>
            </a:pPr>
            <a:r>
              <a:rPr sz="1800" b="0">
                <a:solidFill>
                  <a:srgbClr val="202830"/>
                </a:solidFill>
                <a:latin typeface="Malgun Gothic"/>
                <a:ea typeface="Malgun Gothic"/>
              </a:rPr>
              <a:t>•  1.5  미디어 복구와 복구 유형 — 완전/불완전 · 모드별 복구 범위</a:t>
            </a:r>
          </a:p>
          <a:p>
            <a:pPr>
              <a:spcAft>
                <a:spcPts val="600"/>
              </a:spcAft>
            </a:pPr>
            <a:r>
              <a:rPr sz="1800" b="0">
                <a:solidFill>
                  <a:srgbClr val="202830"/>
                </a:solidFill>
                <a:latin typeface="Malgun Gothic"/>
                <a:ea typeface="Malgun Gothic"/>
              </a:rPr>
              <a:t>•  1.6  진단 정보 — Alert Log와 ADR</a:t>
            </a:r>
          </a:p>
          <a:p>
            <a:pPr>
              <a:spcAft>
                <a:spcPts val="600"/>
              </a:spcAft>
            </a:pPr>
            <a:r>
              <a:rPr sz="1800" b="0">
                <a:solidFill>
                  <a:srgbClr val="202830"/>
                </a:solidFill>
                <a:latin typeface="Malgun Gothic"/>
                <a:ea typeface="Malgun Gothic"/>
              </a:rPr>
              <a:t>•  1.7 퀴즈 · 1.8 요약 · 1.9 실습 1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장은 개념 조망 장이다. 파일을 손상시키거나 복구하는 명령은 4장부터 등장한다.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백업과 복구의 목적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장애 유형 6가지 중 백업본이 필요한 것은 미디어 실패뿐</a:t>
            </a:r>
          </a:p>
          <a:p>
            <a:pPr>
              <a:spcAft>
                <a:spcPts val="600"/>
              </a:spcAft>
            </a:pPr>
            <a:r>
              <a:rPr sz="1600" b="0">
                <a:solidFill>
                  <a:srgbClr val="C5CED6"/>
                </a:solidFill>
                <a:latin typeface="Malgun Gothic"/>
                <a:ea typeface="Malgun Gothic"/>
              </a:rPr>
              <a:t>•  복구 설계의 출발점은 RPO와 RTO</a:t>
            </a:r>
          </a:p>
          <a:p>
            <a:pPr>
              <a:spcAft>
                <a:spcPts val="600"/>
              </a:spcAft>
            </a:pPr>
            <a:r>
              <a:rPr sz="1600" b="0">
                <a:solidFill>
                  <a:srgbClr val="C5CED6"/>
                </a:solidFill>
                <a:latin typeface="Malgun Gothic"/>
                <a:ea typeface="Malgun Gothic"/>
              </a:rPr>
              <a:t>•  User Managed · RMAN · Flashback · Data Pump는 보완 관계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6가지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명령문 실패 — 문법 오류, 권한 부족, 테이블스페이스 공간 부족</a:t>
            </a:r>
          </a:p>
          <a:p>
            <a:pPr>
              <a:spcAft>
                <a:spcPts val="600"/>
              </a:spcAft>
            </a:pPr>
            <a:r>
              <a:rPr sz="1800" b="0">
                <a:solidFill>
                  <a:srgbClr val="202830"/>
                </a:solidFill>
                <a:latin typeface="Malgun Gothic"/>
                <a:ea typeface="Malgun Gothic"/>
              </a:rPr>
              <a:t>•  사용자 프로세스 실패 — 클라이언트 비정상 종료, PMON이 자원 정리</a:t>
            </a:r>
          </a:p>
          <a:p>
            <a:pPr>
              <a:spcAft>
                <a:spcPts val="600"/>
              </a:spcAft>
            </a:pPr>
            <a:r>
              <a:rPr sz="1800" b="0">
                <a:solidFill>
                  <a:srgbClr val="202830"/>
                </a:solidFill>
                <a:latin typeface="Malgun Gothic"/>
                <a:ea typeface="Malgun Gothic"/>
              </a:rPr>
              <a:t>•  네트워크 실패 — 리스너/네트워크 경로 단절, 데이터 손상 없음</a:t>
            </a:r>
          </a:p>
          <a:p>
            <a:pPr>
              <a:spcAft>
                <a:spcPts val="600"/>
              </a:spcAft>
            </a:pPr>
            <a:r>
              <a:rPr sz="1800" b="0">
                <a:solidFill>
                  <a:srgbClr val="202830"/>
                </a:solidFill>
                <a:latin typeface="Malgun Gothic"/>
                <a:ea typeface="Malgun Gothic"/>
              </a:rPr>
              <a:t>•  사용자 오류 — 잘못된 DML·DROP, 문법은 정상이나 의도가 잘못됨</a:t>
            </a:r>
          </a:p>
          <a:p>
            <a:pPr>
              <a:spcAft>
                <a:spcPts val="600"/>
              </a:spcAft>
            </a:pPr>
            <a:r>
              <a:rPr sz="1800" b="0">
                <a:solidFill>
                  <a:srgbClr val="202830"/>
                </a:solidFill>
                <a:latin typeface="Malgun Gothic"/>
                <a:ea typeface="Malgun Gothic"/>
              </a:rPr>
              <a:t>•  인스턴스 실패 — 전원 차단, SHUTDOWN ABORT</a:t>
            </a:r>
          </a:p>
          <a:p>
            <a:pPr>
              <a:spcAft>
                <a:spcPts val="600"/>
              </a:spcAft>
            </a:pPr>
            <a:r>
              <a:rPr sz="1800" b="0">
                <a:solidFill>
                  <a:srgbClr val="202830"/>
                </a:solidFill>
                <a:latin typeface="Malgun Gothic"/>
                <a:ea typeface="Malgun Gothic"/>
              </a:rPr>
              <a:t>•  미디어 실패 — 디스크 손상, 파일 삭제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유형별로 DBA가 하는 일</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앞의 네 유형(명령문·프로세스·네트워크·사용자 오류)</a:t>
            </a:r>
          </a:p>
          <a:p>
            <a:pPr>
              <a:spcAft>
                <a:spcPts val="600"/>
              </a:spcAft>
            </a:pPr>
            <a:r>
              <a:rPr sz="1600" b="0">
                <a:solidFill>
                  <a:srgbClr val="5A6672"/>
                </a:solidFill>
                <a:latin typeface="Malgun Gothic"/>
                <a:ea typeface="Malgun Gothic"/>
              </a:rPr>
              <a:t>    –  파일 복원을 동반하지 않는다</a:t>
            </a:r>
          </a:p>
          <a:p>
            <a:pPr>
              <a:spcAft>
                <a:spcPts val="600"/>
              </a:spcAft>
            </a:pPr>
            <a:r>
              <a:rPr sz="1600" b="0">
                <a:solidFill>
                  <a:srgbClr val="5A6672"/>
                </a:solidFill>
                <a:latin typeface="Malgun Gothic"/>
                <a:ea typeface="Malgun Gothic"/>
              </a:rPr>
              <a:t>    –  사용자 오류만 별도 경로가 있다 — Flashback 계열(18장)</a:t>
            </a:r>
          </a:p>
          <a:p>
            <a:pPr>
              <a:spcAft>
                <a:spcPts val="600"/>
              </a:spcAft>
            </a:pPr>
            <a:r>
              <a:rPr sz="1800" b="0">
                <a:solidFill>
                  <a:srgbClr val="202830"/>
                </a:solidFill>
                <a:latin typeface="Malgun Gothic"/>
                <a:ea typeface="Malgun Gothic"/>
              </a:rPr>
              <a:t>•  인스턴스 실패</a:t>
            </a:r>
          </a:p>
          <a:p>
            <a:pPr>
              <a:spcAft>
                <a:spcPts val="600"/>
              </a:spcAft>
            </a:pPr>
            <a:r>
              <a:rPr sz="1600" b="0">
                <a:solidFill>
                  <a:srgbClr val="5A6672"/>
                </a:solidFill>
                <a:latin typeface="Malgun Gothic"/>
                <a:ea typeface="Malgun Gothic"/>
              </a:rPr>
              <a:t>    –  Oracle이 STARTUP 시 자동 복구, DBA는 결과만 확인</a:t>
            </a:r>
          </a:p>
          <a:p>
            <a:pPr>
              <a:spcAft>
                <a:spcPts val="600"/>
              </a:spcAft>
            </a:pPr>
            <a:r>
              <a:rPr sz="1800" b="0">
                <a:solidFill>
                  <a:srgbClr val="202830"/>
                </a:solidFill>
                <a:latin typeface="Malgun Gothic"/>
                <a:ea typeface="Malgun Gothic"/>
              </a:rPr>
              <a:t>•  미디어 실패</a:t>
            </a:r>
          </a:p>
          <a:p>
            <a:pPr>
              <a:spcAft>
                <a:spcPts val="600"/>
              </a:spcAft>
            </a:pPr>
            <a:r>
              <a:rPr sz="1600" b="0">
                <a:solidFill>
                  <a:srgbClr val="5A6672"/>
                </a:solidFill>
                <a:latin typeface="Malgun Gothic"/>
                <a:ea typeface="Malgun Gothic"/>
              </a:rPr>
              <a:t>    –  백업본이 반드시 필요하다</a:t>
            </a:r>
          </a:p>
          <a:p>
            <a:pPr>
              <a:spcAft>
                <a:spcPts val="600"/>
              </a:spcAft>
            </a:pPr>
            <a:r>
              <a:rPr sz="1600" b="0">
                <a:solidFill>
                  <a:srgbClr val="5A6672"/>
                </a:solidFill>
                <a:latin typeface="Malgun Gothic"/>
                <a:ea typeface="Malgun Gothic"/>
              </a:rPr>
              <a:t>    –  DBA가 RESTORE와 RECOVER를 직접 수행한다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실무 시나리오:</a:t>
            </a:r>
          </a:p>
          <a:p>
            <a:pPr>
              <a:spcAft>
                <a:spcPts val="0"/>
              </a:spcAft>
            </a:pPr>
            <a:r>
              <a:rPr sz="1250" b="0">
                <a:solidFill>
                  <a:srgbClr val="202830"/>
                </a:solidFill>
                <a:latin typeface="Malgun Gothic"/>
                <a:ea typeface="Malgun Gothic"/>
              </a:rPr>
              <a:t>'DB가 안 됩니다' 연락을 받으면 순서는 v$instance STATUS → v$database OPEN_MODE → alert log 마지막 수십 줄이다. 이 세 단계로 인스턴스 문제인지 파일 문제인지가 갈린다.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목표 — RPO와 RTO</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RPO(Recovery Point Objective) — 어느 시점까지의 데이터를 지킬 것인가</a:t>
            </a:r>
          </a:p>
          <a:p>
            <a:pPr>
              <a:spcAft>
                <a:spcPts val="600"/>
              </a:spcAft>
            </a:pPr>
            <a:r>
              <a:rPr sz="1600" b="0">
                <a:solidFill>
                  <a:srgbClr val="5A6672"/>
                </a:solidFill>
                <a:latin typeface="Malgun Gothic"/>
                <a:ea typeface="Malgun Gothic"/>
              </a:rPr>
              <a:t>    –  허용 가능한 데이터 손실량으로 표현</a:t>
            </a:r>
          </a:p>
          <a:p>
            <a:pPr>
              <a:spcAft>
                <a:spcPts val="600"/>
              </a:spcAft>
            </a:pPr>
            <a:r>
              <a:rPr sz="1600" b="0">
                <a:solidFill>
                  <a:srgbClr val="5A6672"/>
                </a:solidFill>
                <a:latin typeface="Malgun Gothic"/>
                <a:ea typeface="Malgun Gothic"/>
              </a:rPr>
              <a:t>    –  RPO 0 → ARCHIVELOG 모드와 리두 다중화가 최소 요건</a:t>
            </a:r>
          </a:p>
          <a:p>
            <a:pPr>
              <a:spcAft>
                <a:spcPts val="600"/>
              </a:spcAft>
            </a:pPr>
            <a:r>
              <a:rPr sz="1600" b="0">
                <a:solidFill>
                  <a:srgbClr val="5A6672"/>
                </a:solidFill>
                <a:latin typeface="Malgun Gothic"/>
                <a:ea typeface="Malgun Gothic"/>
              </a:rPr>
              <a:t>    –  RPO 하루 → 야간 전체 백업만으로 충족, NOARCHIVELOG 운영 가능</a:t>
            </a:r>
          </a:p>
          <a:p>
            <a:pPr>
              <a:spcAft>
                <a:spcPts val="600"/>
              </a:spcAft>
            </a:pPr>
            <a:r>
              <a:rPr sz="1800" b="0">
                <a:solidFill>
                  <a:srgbClr val="202830"/>
                </a:solidFill>
                <a:latin typeface="Malgun Gothic"/>
                <a:ea typeface="Malgun Gothic"/>
              </a:rPr>
              <a:t>•  RTO(Recovery Time Objective) — 얼마 만에 서비스를 재개할 것인가</a:t>
            </a:r>
          </a:p>
          <a:p>
            <a:pPr>
              <a:spcAft>
                <a:spcPts val="600"/>
              </a:spcAft>
            </a:pPr>
            <a:r>
              <a:rPr sz="1600" b="0">
                <a:solidFill>
                  <a:srgbClr val="5A6672"/>
                </a:solidFill>
                <a:latin typeface="Malgun Gothic"/>
                <a:ea typeface="Malgun Gothic"/>
              </a:rPr>
              <a:t>    –  허용 가능한 중단 시간으로 표현</a:t>
            </a:r>
          </a:p>
          <a:p>
            <a:pPr>
              <a:spcAft>
                <a:spcPts val="600"/>
              </a:spcAft>
            </a:pPr>
            <a:r>
              <a:rPr sz="1600" b="0">
                <a:solidFill>
                  <a:srgbClr val="5A6672"/>
                </a:solidFill>
                <a:latin typeface="Malgun Gothic"/>
                <a:ea typeface="Malgun Gothic"/>
              </a:rPr>
              <a:t>    –  백업 방식보다 복원 대상의 크기가 좌우한다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RTO를 줄이는 법 · MTTR과의 구분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1TB 전체 복원 시간은 디스크 대역폭이 결정한다</a:t>
            </a:r>
          </a:p>
          <a:p>
            <a:pPr>
              <a:spcAft>
                <a:spcPts val="600"/>
              </a:spcAft>
            </a:pPr>
            <a:r>
              <a:rPr sz="1600" b="0">
                <a:solidFill>
                  <a:srgbClr val="5A6672"/>
                </a:solidFill>
                <a:latin typeface="Malgun Gothic"/>
                <a:ea typeface="Malgun Gothic"/>
              </a:rPr>
              <a:t>    –  백업 방식만 바꿔서 줄일 수 있는 폭은 제한적이다</a:t>
            </a:r>
          </a:p>
          <a:p>
            <a:pPr>
              <a:spcAft>
                <a:spcPts val="600"/>
              </a:spcAft>
            </a:pPr>
            <a:r>
              <a:rPr sz="1800" b="0">
                <a:solidFill>
                  <a:srgbClr val="202830"/>
                </a:solidFill>
                <a:latin typeface="Malgun Gothic"/>
                <a:ea typeface="Malgun Gothic"/>
              </a:rPr>
              <a:t>•  RTO를 줄이려면 복원량 자체를 줄여야 한다</a:t>
            </a:r>
          </a:p>
          <a:p>
            <a:pPr>
              <a:spcAft>
                <a:spcPts val="600"/>
              </a:spcAft>
            </a:pPr>
            <a:r>
              <a:rPr sz="1600" b="0">
                <a:solidFill>
                  <a:srgbClr val="5A6672"/>
                </a:solidFill>
                <a:latin typeface="Malgun Gothic"/>
                <a:ea typeface="Malgun Gothic"/>
              </a:rPr>
              <a:t>    –  Image Copy + SWITCH — 복원 없이 복사본으로 전환(14장)</a:t>
            </a:r>
          </a:p>
          <a:p>
            <a:pPr>
              <a:spcAft>
                <a:spcPts val="600"/>
              </a:spcAft>
            </a:pPr>
            <a:r>
              <a:rPr sz="1600" b="0">
                <a:solidFill>
                  <a:srgbClr val="5A6672"/>
                </a:solidFill>
                <a:latin typeface="Malgun Gothic"/>
                <a:ea typeface="Malgun Gothic"/>
              </a:rPr>
              <a:t>    –  증분 백업 — 변경분만 적용(14장)</a:t>
            </a:r>
          </a:p>
          <a:p>
            <a:pPr>
              <a:spcAft>
                <a:spcPts val="600"/>
              </a:spcAft>
            </a:pPr>
            <a:r>
              <a:rPr sz="1600" b="0">
                <a:solidFill>
                  <a:srgbClr val="5A6672"/>
                </a:solidFill>
                <a:latin typeface="Malgun Gothic"/>
                <a:ea typeface="Malgun Gothic"/>
              </a:rPr>
              <a:t>    –  Block Media Recovery — 손상 블록만 복구(16장)</a:t>
            </a:r>
          </a:p>
          <a:p>
            <a:pPr>
              <a:spcAft>
                <a:spcPts val="600"/>
              </a:spcAft>
            </a:pPr>
            <a:r>
              <a:rPr sz="1800" b="0">
                <a:solidFill>
                  <a:srgbClr val="202830"/>
                </a:solidFill>
                <a:latin typeface="Malgun Gothic"/>
                <a:ea typeface="Malgun Gothic"/>
              </a:rPr>
              <a:t>•  MTTR은 인스턴스 복구에 한정된 개념이다</a:t>
            </a:r>
          </a:p>
          <a:p>
            <a:pPr>
              <a:spcAft>
                <a:spcPts val="600"/>
              </a:spcAft>
            </a:pPr>
            <a:r>
              <a:rPr sz="1600" b="0">
                <a:solidFill>
                  <a:srgbClr val="5A6672"/>
                </a:solidFill>
                <a:latin typeface="Malgun Gothic"/>
                <a:ea typeface="Malgun Gothic"/>
              </a:rPr>
              <a:t>    –  FAST_START_MTTR_TARGET은 미디어 복구 시간과 무관하다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백업·복구 솔루션 지도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User Managed Backup — OS 명령(cp, tar)으로 파일 직접 복사 (3~12장)</a:t>
            </a:r>
          </a:p>
          <a:p>
            <a:pPr>
              <a:spcAft>
                <a:spcPts val="600"/>
              </a:spcAft>
            </a:pPr>
            <a:r>
              <a:rPr sz="1800" b="0">
                <a:solidFill>
                  <a:srgbClr val="202830"/>
                </a:solidFill>
                <a:latin typeface="Malgun Gothic"/>
                <a:ea typeface="Malgun Gothic"/>
              </a:rPr>
              <a:t>•  RMAN — Oracle 전용 백업 도구, 블록 검증·증분·자동 조언 (13~16장)</a:t>
            </a:r>
          </a:p>
          <a:p>
            <a:pPr>
              <a:spcAft>
                <a:spcPts val="600"/>
              </a:spcAft>
            </a:pPr>
            <a:r>
              <a:rPr sz="1800" b="0">
                <a:solidFill>
                  <a:srgbClr val="202830"/>
                </a:solidFill>
                <a:latin typeface="Malgun Gothic"/>
                <a:ea typeface="Malgun Gothic"/>
              </a:rPr>
              <a:t>•  Flashback — 백업본 없이 언두/플래시백 로그로 과거 복원 (18장)</a:t>
            </a:r>
          </a:p>
          <a:p>
            <a:pPr>
              <a:spcAft>
                <a:spcPts val="600"/>
              </a:spcAft>
            </a:pPr>
            <a:r>
              <a:rPr sz="1800" b="0">
                <a:solidFill>
                  <a:srgbClr val="202830"/>
                </a:solidFill>
                <a:latin typeface="Malgun Gothic"/>
                <a:ea typeface="Malgun Gothic"/>
              </a:rPr>
              <a:t>•  Data Pump — 논리적 객체 단위 내보내기/들여오기 (19장)</a:t>
            </a:r>
          </a:p>
          <a:p>
            <a:pPr>
              <a:spcAft>
                <a:spcPts val="600"/>
              </a:spcAft>
            </a:pPr>
            <a:r>
              <a:rPr sz="1800" b="0">
                <a:solidFill>
                  <a:srgbClr val="202830"/>
                </a:solidFill>
                <a:latin typeface="Malgun Gothic"/>
                <a:ea typeface="Malgun Gothic"/>
              </a:rPr>
              <a:t>•  네 가지는 대체가 아니라 보완 관계다</a:t>
            </a:r>
          </a:p>
          <a:p>
            <a:pPr>
              <a:spcAft>
                <a:spcPts val="600"/>
              </a:spcAft>
            </a:pPr>
            <a:r>
              <a:rPr sz="1600" b="0">
                <a:solidFill>
                  <a:srgbClr val="5A6672"/>
                </a:solidFill>
                <a:latin typeface="Malgun Gothic"/>
                <a:ea typeface="Malgun Gothic"/>
              </a:rPr>
              <a:t>    –  미디어 실패 → User Managed 또는 RMAN만 가능</a:t>
            </a:r>
          </a:p>
          <a:p>
            <a:pPr>
              <a:spcAft>
                <a:spcPts val="600"/>
              </a:spcAft>
            </a:pPr>
            <a:r>
              <a:rPr sz="1600" b="0">
                <a:solidFill>
                  <a:srgbClr val="5A6672"/>
                </a:solidFill>
                <a:latin typeface="Malgun Gothic"/>
                <a:ea typeface="Malgun Gothic"/>
              </a:rPr>
              <a:t>    –  사용자 오류 → Flashback이 압도적으로 빠름</a:t>
            </a:r>
          </a:p>
          <a:p>
            <a:pPr>
              <a:spcAft>
                <a:spcPts val="600"/>
              </a:spcAft>
            </a:pPr>
            <a:r>
              <a:rPr sz="1600" b="0">
                <a:solidFill>
                  <a:srgbClr val="5A6672"/>
                </a:solidFill>
                <a:latin typeface="Malgun Gothic"/>
                <a:ea typeface="Malgun Gothic"/>
              </a:rPr>
              <a:t>    –  버전 간 이관·스키마 이동 → Data Pump만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왜 User Managed를 먼저 배우는가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RMAN의 RESTORE와 RECOVER는 내부적으로 User Managed 절차와 같은 일을 한다</a:t>
            </a:r>
          </a:p>
          <a:p>
            <a:pPr>
              <a:spcAft>
                <a:spcPts val="600"/>
              </a:spcAft>
            </a:pPr>
            <a:r>
              <a:rPr sz="1800" b="0">
                <a:solidFill>
                  <a:srgbClr val="202830"/>
                </a:solidFill>
                <a:latin typeface="Malgun Gothic"/>
                <a:ea typeface="Malgun Gothic"/>
              </a:rPr>
              <a:t>•  손으로 한 번 해 본 사람만이 알 수 있는 것</a:t>
            </a:r>
          </a:p>
          <a:p>
            <a:pPr>
              <a:spcAft>
                <a:spcPts val="600"/>
              </a:spcAft>
            </a:pPr>
            <a:r>
              <a:rPr sz="1600" b="0">
                <a:solidFill>
                  <a:srgbClr val="5A6672"/>
                </a:solidFill>
                <a:latin typeface="Malgun Gothic"/>
                <a:ea typeface="Malgun Gothic"/>
              </a:rPr>
              <a:t>    –  RMAN이 무엇을 대신해 주는지</a:t>
            </a:r>
          </a:p>
          <a:p>
            <a:pPr>
              <a:spcAft>
                <a:spcPts val="600"/>
              </a:spcAft>
            </a:pPr>
            <a:r>
              <a:rPr sz="1600" b="0">
                <a:solidFill>
                  <a:srgbClr val="5A6672"/>
                </a:solidFill>
                <a:latin typeface="Malgun Gothic"/>
                <a:ea typeface="Malgun Gothic"/>
              </a:rPr>
              <a:t>    –  실패했을 때 어디를 봐야 하는지</a:t>
            </a:r>
          </a:p>
          <a:p>
            <a:pPr>
              <a:spcAft>
                <a:spcPts val="600"/>
              </a:spcAft>
            </a:pPr>
            <a:r>
              <a:rPr sz="1800" b="0">
                <a:solidFill>
                  <a:srgbClr val="202830"/>
                </a:solidFill>
                <a:latin typeface="Malgun Gothic"/>
                <a:ea typeface="Malgun Gothic"/>
              </a:rPr>
              <a:t>•  이 과정의 순서: User Managed(3~12장) → RMAN(13~16장)</a:t>
            </a:r>
          </a:p>
          <a:p>
            <a:pPr>
              <a:spcAft>
                <a:spcPts val="600"/>
              </a:spcAft>
            </a:pPr>
            <a:r>
              <a:rPr sz="1800" b="0">
                <a:solidFill>
                  <a:srgbClr val="202830"/>
                </a:solidFill>
                <a:latin typeface="Malgun Gothic"/>
                <a:ea typeface="Malgun Gothic"/>
              </a:rPr>
              <a:t>•  NOARCHIVELOG(4~7장)를 먼저 다루는 이유도 같다</a:t>
            </a:r>
          </a:p>
          <a:p>
            <a:pPr>
              <a:spcAft>
                <a:spcPts val="600"/>
              </a:spcAft>
            </a:pPr>
            <a:r>
              <a:rPr sz="1600" b="0">
                <a:solidFill>
                  <a:srgbClr val="5A6672"/>
                </a:solidFill>
                <a:latin typeface="Malgun Gothic"/>
                <a:ea typeface="Malgun Gothic"/>
              </a:rPr>
              <a:t>    –  그것을 권장해서가 아니다</a:t>
            </a:r>
          </a:p>
          <a:p>
            <a:pPr>
              <a:spcAft>
                <a:spcPts val="600"/>
              </a:spcAft>
            </a:pPr>
            <a:r>
              <a:rPr sz="1600" b="0">
                <a:solidFill>
                  <a:srgbClr val="5A6672"/>
                </a:solidFill>
                <a:latin typeface="Malgun Gothic"/>
                <a:ea typeface="Malgun Gothic"/>
              </a:rPr>
              <a:t>    –  리두가 없을 때 무엇을 잃는지 겪어야 ARCHIVELOG의 가치가 분명해진다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백업의 분류 — 세 개의 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범위: 전체 백업 vs 부분 백업</a:t>
            </a:r>
          </a:p>
          <a:p>
            <a:pPr>
              <a:spcAft>
                <a:spcPts val="600"/>
              </a:spcAft>
            </a:pPr>
            <a:r>
              <a:rPr sz="1600" b="0">
                <a:solidFill>
                  <a:srgbClr val="5A6672"/>
                </a:solidFill>
                <a:latin typeface="Malgun Gothic"/>
                <a:ea typeface="Malgun Gothic"/>
              </a:rPr>
              <a:t>    –  부분 백업은 ARCHIVELOG 모드에서만 의미가 있다</a:t>
            </a:r>
          </a:p>
          <a:p>
            <a:pPr>
              <a:spcAft>
                <a:spcPts val="600"/>
              </a:spcAft>
            </a:pPr>
            <a:r>
              <a:rPr sz="1800" b="0">
                <a:solidFill>
                  <a:srgbClr val="202830"/>
                </a:solidFill>
                <a:latin typeface="Malgun Gothic"/>
                <a:ea typeface="Malgun Gothic"/>
              </a:rPr>
              <a:t>•  일관성: 일관성 있는 백업 vs 일관성 없는 백업</a:t>
            </a:r>
          </a:p>
          <a:p>
            <a:pPr>
              <a:spcAft>
                <a:spcPts val="600"/>
              </a:spcAft>
            </a:pPr>
            <a:r>
              <a:rPr sz="1600" b="0">
                <a:solidFill>
                  <a:srgbClr val="5A6672"/>
                </a:solidFill>
                <a:latin typeface="Malgun Gothic"/>
                <a:ea typeface="Malgun Gothic"/>
              </a:rPr>
              <a:t>    –  모든 파일의 SCN이 일치하면 일관성 있는 백업 — 정상 종료 후에만 가능</a:t>
            </a:r>
          </a:p>
          <a:p>
            <a:pPr>
              <a:spcAft>
                <a:spcPts val="600"/>
              </a:spcAft>
            </a:pPr>
            <a:r>
              <a:rPr sz="1600" b="0">
                <a:solidFill>
                  <a:srgbClr val="5A6672"/>
                </a:solidFill>
                <a:latin typeface="Malgun Gothic"/>
                <a:ea typeface="Malgun Gothic"/>
              </a:rPr>
              <a:t>    –  일관성 없는 백업은 복원 후 반드시 리두 적용이 필요하다</a:t>
            </a:r>
          </a:p>
          <a:p>
            <a:pPr>
              <a:spcAft>
                <a:spcPts val="600"/>
              </a:spcAft>
            </a:pPr>
            <a:r>
              <a:rPr sz="1800" b="0">
                <a:solidFill>
                  <a:srgbClr val="202830"/>
                </a:solidFill>
                <a:latin typeface="Malgun Gothic"/>
                <a:ea typeface="Malgun Gothic"/>
              </a:rPr>
              <a:t>•  상태: 오프라인(cold) vs 온라인(hot)</a:t>
            </a:r>
          </a:p>
          <a:p>
            <a:pPr>
              <a:spcAft>
                <a:spcPts val="600"/>
              </a:spcAft>
            </a:pPr>
            <a:r>
              <a:rPr sz="1600" b="0">
                <a:solidFill>
                  <a:srgbClr val="5A6672"/>
                </a:solidFill>
                <a:latin typeface="Malgun Gothic"/>
                <a:ea typeface="Malgun Gothic"/>
              </a:rPr>
              <a:t>    –  온라인 백업은 ARCHIVELOG 모드에서만 가능하다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NOARCHIVELOG에서 가능한 조합은 하나뿐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NOARCHIVELOG에서 가능한 백업 = 전체 + 일관성 있는 + 오프라인</a:t>
            </a:r>
          </a:p>
          <a:p>
            <a:pPr>
              <a:spcAft>
                <a:spcPts val="600"/>
              </a:spcAft>
            </a:pPr>
            <a:r>
              <a:rPr sz="1600" b="0">
                <a:solidFill>
                  <a:srgbClr val="5A6672"/>
                </a:solidFill>
                <a:latin typeface="Malgun Gothic"/>
                <a:ea typeface="Malgun Gothic"/>
              </a:rPr>
              <a:t>    –  부분 백업 불가 — 리두가 없어 개별 파일을 최신으로 끌어올릴 수 없다</a:t>
            </a:r>
          </a:p>
          <a:p>
            <a:pPr>
              <a:spcAft>
                <a:spcPts val="600"/>
              </a:spcAft>
            </a:pPr>
            <a:r>
              <a:rPr sz="1600" b="0">
                <a:solidFill>
                  <a:srgbClr val="5A6672"/>
                </a:solidFill>
                <a:latin typeface="Malgun Gothic"/>
                <a:ea typeface="Malgun Gothic"/>
              </a:rPr>
              <a:t>    –  온라인 백업 불가 — 백업 중 변경을 복구할 리두가 없다</a:t>
            </a:r>
          </a:p>
          <a:p>
            <a:pPr>
              <a:spcAft>
                <a:spcPts val="600"/>
              </a:spcAft>
            </a:pPr>
            <a:r>
              <a:rPr sz="1800" b="0">
                <a:solidFill>
                  <a:srgbClr val="202830"/>
                </a:solidFill>
                <a:latin typeface="Malgun Gothic"/>
                <a:ea typeface="Malgun Gothic"/>
              </a:rPr>
              <a:t>•  SHUTDOWN ABORT 후 받은 백업은 오프라인이지만 일관성이 없다</a:t>
            </a:r>
          </a:p>
          <a:p>
            <a:pPr>
              <a:spcAft>
                <a:spcPts val="600"/>
              </a:spcAft>
            </a:pPr>
            <a:r>
              <a:rPr sz="1600" b="0">
                <a:solidFill>
                  <a:srgbClr val="5A6672"/>
                </a:solidFill>
                <a:latin typeface="Malgun Gothic"/>
                <a:ea typeface="Malgun Gothic"/>
              </a:rPr>
              <a:t>    –  NOARCHIVELOG 환경에서는 사용할 수 없는 백업이 된다</a:t>
            </a:r>
          </a:p>
          <a:p>
            <a:pPr>
              <a:spcAft>
                <a:spcPts val="600"/>
              </a:spcAft>
            </a:pPr>
            <a:r>
              <a:rPr sz="1600" b="0">
                <a:solidFill>
                  <a:srgbClr val="5A6672"/>
                </a:solidFill>
                <a:latin typeface="Malgun Gothic"/>
                <a:ea typeface="Malgun Gothic"/>
              </a:rPr>
              <a:t>    –  3장에서 실제로 확인한다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Data Guard와 GoldenGate는 재해 복구(DR) 솔루션으로 별도 과정에서 다룬다. 다만 17장의 DUPLICATE는 Data Guard 대기 DB 구성의 기반 기술이다.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복구에 관여하는 물리 파일</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복구는 '무엇이 없어졌고 무엇으로 되살리는가'의 문제</a:t>
            </a:r>
          </a:p>
          <a:p>
            <a:pPr>
              <a:spcAft>
                <a:spcPts val="600"/>
              </a:spcAft>
            </a:pPr>
            <a:r>
              <a:rPr sz="1600" b="0">
                <a:solidFill>
                  <a:srgbClr val="C5CED6"/>
                </a:solidFill>
                <a:latin typeface="Malgun Gothic"/>
                <a:ea typeface="Malgun Gothic"/>
              </a:rPr>
              <a:t>•  파일마다 유실 증상과 복구 경로가 다르다</a:t>
            </a:r>
          </a:p>
          <a:p>
            <a:pPr>
              <a:spcAft>
                <a:spcPts val="600"/>
              </a:spcAft>
            </a:pPr>
            <a:r>
              <a:rPr sz="1600" b="0">
                <a:solidFill>
                  <a:srgbClr val="C5CED6"/>
                </a:solidFill>
                <a:latin typeface="Malgun Gothic"/>
                <a:ea typeface="Malgun Gothic"/>
              </a:rPr>
              <a:t>•  제어 파일과 리두 로그는 다중화로 유실 자체를 예방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데이터 파일 (Data File)</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실제 데이터가 저장되는 파일, 관례적으로 .dbf 확장자</a:t>
            </a:r>
          </a:p>
          <a:p>
            <a:pPr>
              <a:spcAft>
                <a:spcPts val="600"/>
              </a:spcAft>
            </a:pPr>
            <a:r>
              <a:rPr sz="1800" b="0">
                <a:solidFill>
                  <a:srgbClr val="202830"/>
                </a:solidFill>
                <a:latin typeface="Malgun Gothic"/>
                <a:ea typeface="Malgun Gothic"/>
              </a:rPr>
              <a:t>•  하나의 테이블스페이스 = 하나 이상의 데이터 파일</a:t>
            </a:r>
          </a:p>
          <a:p>
            <a:pPr>
              <a:spcAft>
                <a:spcPts val="600"/>
              </a:spcAft>
            </a:pPr>
            <a:r>
              <a:rPr sz="1800" b="0">
                <a:solidFill>
                  <a:srgbClr val="202830"/>
                </a:solidFill>
                <a:latin typeface="Malgun Gothic"/>
                <a:ea typeface="Malgun Gothic"/>
              </a:rPr>
              <a:t>•  각 파일 헤더에 체크포인트 SCN이 기록된다 — 복구 필요 판단의 근거</a:t>
            </a:r>
          </a:p>
          <a:p>
            <a:pPr>
              <a:spcAft>
                <a:spcPts val="600"/>
              </a:spcAft>
            </a:pPr>
            <a:r>
              <a:rPr sz="1800" b="0">
                <a:solidFill>
                  <a:srgbClr val="202830"/>
                </a:solidFill>
                <a:latin typeface="Malgun Gothic"/>
                <a:ea typeface="Malgun Gothic"/>
              </a:rPr>
              <a:t>•  유실 증상은 어느 테이블스페이스인지에 따라 크게 다르다</a:t>
            </a:r>
          </a:p>
          <a:p>
            <a:pPr>
              <a:spcAft>
                <a:spcPts val="600"/>
              </a:spcAft>
            </a:pPr>
            <a:r>
              <a:rPr sz="1600" b="0">
                <a:solidFill>
                  <a:srgbClr val="5A6672"/>
                </a:solidFill>
                <a:latin typeface="Malgun Gothic"/>
                <a:ea typeface="Malgun Gothic"/>
              </a:rPr>
              <a:t>    –  SYSTEM / UNDO — 인스턴스가 기동되지 않거나 즉시 중단</a:t>
            </a:r>
          </a:p>
          <a:p>
            <a:pPr>
              <a:spcAft>
                <a:spcPts val="600"/>
              </a:spcAft>
            </a:pPr>
            <a:r>
              <a:rPr sz="1600" b="0">
                <a:solidFill>
                  <a:srgbClr val="5A6672"/>
                </a:solidFill>
                <a:latin typeface="Malgun Gothic"/>
                <a:ea typeface="Malgun Gothic"/>
              </a:rPr>
              <a:t>    –  일반 사용자 TS — DB는 열린 채, 해당 객체 접근 시에만 오류</a:t>
            </a:r>
          </a:p>
          <a:p>
            <a:pPr>
              <a:spcAft>
                <a:spcPts val="600"/>
              </a:spcAft>
            </a:pPr>
            <a:r>
              <a:rPr sz="1600" b="0">
                <a:solidFill>
                  <a:srgbClr val="5A6672"/>
                </a:solidFill>
                <a:latin typeface="Malgun Gothic"/>
                <a:ea typeface="Malgun Gothic"/>
              </a:rPr>
              <a:t>    –  SYSAUX — AWR·통계 등 부가 기능만 영향, 업무 트랜잭션은 계속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데이터 파일 유실 시 나타나는 ORA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ORA-01110 — data file 번호와 이름을 알려 준다</a:t>
            </a:r>
          </a:p>
          <a:p>
            <a:pPr>
              <a:spcAft>
                <a:spcPts val="600"/>
              </a:spcAft>
            </a:pPr>
            <a:r>
              <a:rPr sz="1600" b="0">
                <a:solidFill>
                  <a:srgbClr val="5A6672"/>
                </a:solidFill>
                <a:latin typeface="Malgun Gothic"/>
                <a:ea typeface="Malgun Gothic"/>
              </a:rPr>
              <a:t>    –  단독으로 나오지 않고 원인을 알려 주는 오류와 짝을 이룬다</a:t>
            </a:r>
          </a:p>
          <a:p>
            <a:pPr>
              <a:spcAft>
                <a:spcPts val="600"/>
              </a:spcAft>
            </a:pPr>
            <a:r>
              <a:rPr sz="1800" b="0">
                <a:solidFill>
                  <a:srgbClr val="202830"/>
                </a:solidFill>
                <a:latin typeface="Malgun Gothic"/>
                <a:ea typeface="Malgun Gothic"/>
              </a:rPr>
              <a:t>•  ORA-01157 — 파일을 식별·잠글 수 없다 (파일이 아예 없을 때)</a:t>
            </a:r>
          </a:p>
          <a:p>
            <a:pPr>
              <a:spcAft>
                <a:spcPts val="600"/>
              </a:spcAft>
            </a:pPr>
            <a:r>
              <a:rPr sz="1800" b="0">
                <a:solidFill>
                  <a:srgbClr val="202830"/>
                </a:solidFill>
                <a:latin typeface="Malgun Gothic"/>
                <a:ea typeface="Malgun Gothic"/>
              </a:rPr>
              <a:t>•  ORA-01113 — 복구가 필요하다 (백업본으로 되돌린 직후)</a:t>
            </a:r>
          </a:p>
          <a:p>
            <a:pPr>
              <a:spcAft>
                <a:spcPts val="600"/>
              </a:spcAft>
            </a:pPr>
            <a:r>
              <a:rPr sz="1800" b="0">
                <a:solidFill>
                  <a:srgbClr val="202830"/>
                </a:solidFill>
                <a:latin typeface="Malgun Gothic"/>
                <a:ea typeface="Malgun Gothic"/>
              </a:rPr>
              <a:t>•  ORA-01578 — 블록 단위 손상 (파일은 있으나 내부 블록이 깨짐)</a:t>
            </a:r>
          </a:p>
          <a:p>
            <a:pPr>
              <a:spcAft>
                <a:spcPts val="600"/>
              </a:spcAft>
            </a:pPr>
            <a:r>
              <a:rPr sz="1800" b="0">
                <a:solidFill>
                  <a:srgbClr val="202830"/>
                </a:solidFill>
                <a:latin typeface="Malgun Gothic"/>
                <a:ea typeface="Malgun Gothic"/>
              </a:rPr>
              <a:t>•  오류 번호가 곧 진단이다 — 어떤 조치가 필요한지가 번호로 갈린다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제어 파일 (Control File)</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데이터베이스의 물리 구조와 상태를 기록하는 작은 바이너리 파일</a:t>
            </a:r>
          </a:p>
          <a:p>
            <a:pPr>
              <a:spcAft>
                <a:spcPts val="600"/>
              </a:spcAft>
            </a:pPr>
            <a:r>
              <a:rPr sz="1800" b="0">
                <a:solidFill>
                  <a:srgbClr val="202830"/>
                </a:solidFill>
                <a:latin typeface="Malgun Gothic"/>
                <a:ea typeface="Malgun Gothic"/>
              </a:rPr>
              <a:t>•  담고 있는 정보</a:t>
            </a:r>
          </a:p>
          <a:p>
            <a:pPr>
              <a:spcAft>
                <a:spcPts val="600"/>
              </a:spcAft>
            </a:pPr>
            <a:r>
              <a:rPr sz="1600" b="0">
                <a:solidFill>
                  <a:srgbClr val="5A6672"/>
                </a:solidFill>
                <a:latin typeface="Malgun Gothic"/>
                <a:ea typeface="Malgun Gothic"/>
              </a:rPr>
              <a:t>    –  DB 이름·생성 시각·DBID</a:t>
            </a:r>
          </a:p>
          <a:p>
            <a:pPr>
              <a:spcAft>
                <a:spcPts val="600"/>
              </a:spcAft>
            </a:pPr>
            <a:r>
              <a:rPr sz="1600" b="0">
                <a:solidFill>
                  <a:srgbClr val="5A6672"/>
                </a:solidFill>
                <a:latin typeface="Malgun Gothic"/>
                <a:ea typeface="Malgun Gothic"/>
              </a:rPr>
              <a:t>    –  모든 데이터 파일과 리두 로그 파일의 이름·경로·크기</a:t>
            </a:r>
          </a:p>
          <a:p>
            <a:pPr>
              <a:spcAft>
                <a:spcPts val="600"/>
              </a:spcAft>
            </a:pPr>
            <a:r>
              <a:rPr sz="1600" b="0">
                <a:solidFill>
                  <a:srgbClr val="5A6672"/>
                </a:solidFill>
                <a:latin typeface="Malgun Gothic"/>
                <a:ea typeface="Malgun Gothic"/>
              </a:rPr>
              <a:t>    –  현재 로그 시퀀스 번호와 체크포인트 정보</a:t>
            </a:r>
          </a:p>
          <a:p>
            <a:pPr>
              <a:spcAft>
                <a:spcPts val="600"/>
              </a:spcAft>
            </a:pPr>
            <a:r>
              <a:rPr sz="1600" b="0">
                <a:solidFill>
                  <a:srgbClr val="5A6672"/>
                </a:solidFill>
                <a:latin typeface="Malgun Gothic"/>
                <a:ea typeface="Malgun Gothic"/>
              </a:rPr>
              <a:t>    –  아카이브 로그 이력, RMAN 백업 메타데이터</a:t>
            </a:r>
          </a:p>
          <a:p>
            <a:pPr>
              <a:spcAft>
                <a:spcPts val="600"/>
              </a:spcAft>
            </a:pPr>
            <a:r>
              <a:rPr sz="1800" b="0">
                <a:solidFill>
                  <a:srgbClr val="202830"/>
                </a:solidFill>
                <a:latin typeface="Malgun Gothic"/>
                <a:ea typeface="Malgun Gothic"/>
              </a:rPr>
              <a:t>•  MOUNT 단계에서 읽힌다 — 없으면 마운트 불가, ORA-00205</a:t>
            </a:r>
          </a:p>
          <a:p>
            <a:pPr>
              <a:spcAft>
                <a:spcPts val="600"/>
              </a:spcAft>
            </a:pPr>
            <a:r>
              <a:rPr sz="1800" b="0">
                <a:solidFill>
                  <a:srgbClr val="202830"/>
                </a:solidFill>
                <a:latin typeface="Malgun Gothic"/>
                <a:ea typeface="Malgun Gothic"/>
              </a:rPr>
              <a:t>•  복구 경로 2가지: 백업본 복사 / 트레이스로 재생성 (6장·11장)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제어 파일 위치와 내용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V$CONTROLFILE / V$CONTROLFILE_RECORD_SECTION — 다중화 상태와 레코드 사용량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제어 파일 위치와 다중화 상태 확인</a:t>
            </a:r>
          </a:p>
          <a:p>
            <a:pPr>
              <a:spcAft>
                <a:spcPts val="0"/>
              </a:spcAft>
            </a:pPr>
            <a:r>
              <a:rPr sz="1250" b="0">
                <a:solidFill>
                  <a:srgbClr val="E6E6E6"/>
                </a:solidFill>
                <a:latin typeface="Consolas"/>
                <a:ea typeface="Consolas"/>
              </a:rPr>
              <a:t>SYS@orcl&gt; SELECT name FROM v$controlfile;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/u01/app/oracle/oradata/orcl/control01.ctl</a:t>
            </a:r>
          </a:p>
          <a:p>
            <a:pPr>
              <a:spcAft>
                <a:spcPts val="0"/>
              </a:spcAft>
            </a:pPr>
            <a:r>
              <a:rPr sz="1250" b="0">
                <a:solidFill>
                  <a:srgbClr val="E6E6E6"/>
                </a:solidFill>
                <a:latin typeface="Consolas"/>
                <a:ea typeface="Consolas"/>
              </a:rPr>
              <a:t>/u01/app/oracle/oradata/orcl/control02.ctl</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제어 파일이 담고 있는 레코드 종류와 사용량</a:t>
            </a:r>
          </a:p>
          <a:p>
            <a:pPr>
              <a:spcAft>
                <a:spcPts val="0"/>
              </a:spcAft>
            </a:pPr>
            <a:r>
              <a:rPr sz="1250" b="0">
                <a:solidFill>
                  <a:srgbClr val="E6E6E6"/>
                </a:solidFill>
                <a:latin typeface="Consolas"/>
                <a:ea typeface="Consolas"/>
              </a:rPr>
              <a:t>SYS@orcl&gt; SELECT type, records_total, records_used</a:t>
            </a:r>
          </a:p>
          <a:p>
            <a:pPr>
              <a:spcAft>
                <a:spcPts val="0"/>
              </a:spcAft>
            </a:pPr>
            <a:r>
              <a:rPr sz="1250" b="0">
                <a:solidFill>
                  <a:srgbClr val="E6E6E6"/>
                </a:solidFill>
                <a:latin typeface="Consolas"/>
                <a:ea typeface="Consolas"/>
              </a:rPr>
              <a:t>  2  FROM   v$controlfile_record_section</a:t>
            </a:r>
          </a:p>
          <a:p>
            <a:pPr>
              <a:spcAft>
                <a:spcPts val="0"/>
              </a:spcAft>
            </a:pPr>
            <a:r>
              <a:rPr sz="1250" b="0">
                <a:solidFill>
                  <a:srgbClr val="E6E6E6"/>
                </a:solidFill>
                <a:latin typeface="Consolas"/>
                <a:ea typeface="Consolas"/>
              </a:rPr>
              <a:t>  3  WHERE  type IN ('DATAFILE','REDO LOG','ARCHIVED 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TYPE            RECORDS_TOTAL RECORDS_USED</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REDO LOG                   16            3</a:t>
            </a:r>
          </a:p>
          <a:p>
            <a:pPr>
              <a:spcAft>
                <a:spcPts val="0"/>
              </a:spcAft>
            </a:pPr>
            <a:r>
              <a:rPr sz="1250" b="0">
                <a:solidFill>
                  <a:srgbClr val="E6E6E6"/>
                </a:solidFill>
                <a:latin typeface="Consolas"/>
                <a:ea typeface="Consolas"/>
              </a:rPr>
              <a:t>DATAFILE                  100            4</a:t>
            </a:r>
          </a:p>
          <a:p>
            <a:pPr>
              <a:spcAft>
                <a:spcPts val="0"/>
              </a:spcAft>
            </a:pPr>
            <a:r>
              <a:rPr sz="1250" b="0">
                <a:solidFill>
                  <a:srgbClr val="E6E6E6"/>
                </a:solidFill>
                <a:latin typeface="Consolas"/>
                <a:ea typeface="Consolas"/>
              </a:rPr>
              <a:t>ARCHIVED LOG              386           98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온라인 리두 로그 (Online Redo Log)</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데이터베이스의 모든 변경을 시간 순으로 기록</a:t>
            </a:r>
          </a:p>
          <a:p>
            <a:pPr>
              <a:spcAft>
                <a:spcPts val="600"/>
              </a:spcAft>
            </a:pPr>
            <a:r>
              <a:rPr sz="1800" b="0">
                <a:solidFill>
                  <a:srgbClr val="202830"/>
                </a:solidFill>
                <a:latin typeface="Malgun Gothic"/>
                <a:ea typeface="Malgun Gothic"/>
              </a:rPr>
              <a:t>•  최소 2개 그룹, 각 그룹은 1개 이상의 멤버(동일 내용 사본)</a:t>
            </a:r>
          </a:p>
          <a:p>
            <a:pPr>
              <a:spcAft>
                <a:spcPts val="600"/>
              </a:spcAft>
            </a:pPr>
            <a:r>
              <a:rPr sz="1800" b="0">
                <a:solidFill>
                  <a:srgbClr val="202830"/>
                </a:solidFill>
                <a:latin typeface="Malgun Gothic"/>
                <a:ea typeface="Malgun Gothic"/>
              </a:rPr>
              <a:t>•  그룹은 순환 사용 — 가득 차면 다음 그룹으로 전환(로그 스위치)</a:t>
            </a:r>
          </a:p>
          <a:p>
            <a:pPr>
              <a:spcAft>
                <a:spcPts val="600"/>
              </a:spcAft>
            </a:pPr>
            <a:r>
              <a:rPr sz="1800" b="0">
                <a:solidFill>
                  <a:srgbClr val="202830"/>
                </a:solidFill>
                <a:latin typeface="Malgun Gothic"/>
                <a:ea typeface="Malgun Gothic"/>
              </a:rPr>
              <a:t>•  그룹의 세 가지 상태</a:t>
            </a:r>
          </a:p>
          <a:p>
            <a:pPr>
              <a:spcAft>
                <a:spcPts val="600"/>
              </a:spcAft>
            </a:pPr>
            <a:r>
              <a:rPr sz="1600" b="0">
                <a:solidFill>
                  <a:srgbClr val="5A6672"/>
                </a:solidFill>
                <a:latin typeface="Malgun Gothic"/>
                <a:ea typeface="Malgun Gothic"/>
              </a:rPr>
              <a:t>    –  CURRENT — LGWR가 현재 기록 중, 정확히 하나만 존재</a:t>
            </a:r>
          </a:p>
          <a:p>
            <a:pPr>
              <a:spcAft>
                <a:spcPts val="600"/>
              </a:spcAft>
            </a:pPr>
            <a:r>
              <a:rPr sz="1600" b="0">
                <a:solidFill>
                  <a:srgbClr val="5A6672"/>
                </a:solidFill>
                <a:latin typeface="Malgun Gothic"/>
                <a:ea typeface="Malgun Gothic"/>
              </a:rPr>
              <a:t>    –  ACTIVE — 기록 완료, 체크포인트 미완료, 인스턴스 복구에 필요할 수 있음</a:t>
            </a:r>
          </a:p>
          <a:p>
            <a:pPr>
              <a:spcAft>
                <a:spcPts val="600"/>
              </a:spcAft>
            </a:pPr>
            <a:r>
              <a:rPr sz="1600" b="0">
                <a:solidFill>
                  <a:srgbClr val="5A6672"/>
                </a:solidFill>
                <a:latin typeface="Malgun Gothic"/>
                <a:ea typeface="Malgun Gothic"/>
              </a:rPr>
              <a:t>    –  INACTIVE — 체크포인트 완료, 인스턴스 복구에 더는 불필요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로그 상태가 복구를 가른다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INACTIVE 그룹 유실</a:t>
            </a:r>
          </a:p>
          <a:p>
            <a:pPr>
              <a:spcAft>
                <a:spcPts val="600"/>
              </a:spcAft>
            </a:pPr>
            <a:r>
              <a:rPr sz="1600" b="0">
                <a:solidFill>
                  <a:srgbClr val="5A6672"/>
                </a:solidFill>
                <a:latin typeface="Malgun Gothic"/>
                <a:ea typeface="Malgun Gothic"/>
              </a:rPr>
              <a:t>    –  CLEAR LOGFILE로 재생성 가능, 데이터 손실 없음</a:t>
            </a:r>
          </a:p>
          <a:p>
            <a:pPr>
              <a:spcAft>
                <a:spcPts val="600"/>
              </a:spcAft>
            </a:pPr>
            <a:r>
              <a:rPr sz="1800" b="0">
                <a:solidFill>
                  <a:srgbClr val="202830"/>
                </a:solidFill>
                <a:latin typeface="Malgun Gothic"/>
                <a:ea typeface="Malgun Gothic"/>
              </a:rPr>
              <a:t>•  CURRENT 그룹 유실</a:t>
            </a:r>
          </a:p>
          <a:p>
            <a:pPr>
              <a:spcAft>
                <a:spcPts val="600"/>
              </a:spcAft>
            </a:pPr>
            <a:r>
              <a:rPr sz="1600" b="0">
                <a:solidFill>
                  <a:srgbClr val="5A6672"/>
                </a:solidFill>
                <a:latin typeface="Malgun Gothic"/>
                <a:ea typeface="Malgun Gothic"/>
              </a:rPr>
              <a:t>    –  아직 데이터 파일에 반영되지 않은 변경이 함께 사라진다</a:t>
            </a:r>
          </a:p>
          <a:p>
            <a:pPr>
              <a:spcAft>
                <a:spcPts val="600"/>
              </a:spcAft>
            </a:pPr>
            <a:r>
              <a:rPr sz="1600" b="0">
                <a:solidFill>
                  <a:srgbClr val="5A6672"/>
                </a:solidFill>
                <a:latin typeface="Malgun Gothic"/>
                <a:ea typeface="Malgun Gothic"/>
              </a:rPr>
              <a:t>    –  완전 복구가 불가능해진다 — 불완전 복구 후 RESETLOGS</a:t>
            </a:r>
          </a:p>
          <a:p>
            <a:pPr>
              <a:spcAft>
                <a:spcPts val="600"/>
              </a:spcAft>
            </a:pPr>
            <a:r>
              <a:rPr sz="1800" b="0">
                <a:solidFill>
                  <a:srgbClr val="202830"/>
                </a:solidFill>
                <a:latin typeface="Malgun Gothic"/>
                <a:ea typeface="Malgun Gothic"/>
              </a:rPr>
              <a:t>•  그래서 멤버를 둘 이상 두어 다중화한다</a:t>
            </a:r>
          </a:p>
          <a:p>
            <a:pPr>
              <a:spcAft>
                <a:spcPts val="600"/>
              </a:spcAft>
            </a:pPr>
            <a:r>
              <a:rPr sz="1600" b="0">
                <a:solidFill>
                  <a:srgbClr val="5A6672"/>
                </a:solidFill>
                <a:latin typeface="Malgun Gothic"/>
                <a:ea typeface="Malgun Gothic"/>
              </a:rPr>
              <a:t>    –  그룹 안의 멤버 하나가 깨져도 다른 멤버로 계속 동작</a:t>
            </a:r>
          </a:p>
          <a:p>
            <a:pPr>
              <a:spcAft>
                <a:spcPts val="600"/>
              </a:spcAft>
            </a:pPr>
            <a:r>
              <a:rPr sz="1600" b="0">
                <a:solidFill>
                  <a:srgbClr val="5A6672"/>
                </a:solidFill>
                <a:latin typeface="Malgun Gothic"/>
                <a:ea typeface="Malgun Gothic"/>
              </a:rPr>
              <a:t>    –  MEMBERS 컬럼이 1이면 운영 환경에서는 즉시 시정 대상</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실무 시나리오:</a:t>
            </a:r>
          </a:p>
          <a:p>
            <a:pPr>
              <a:spcAft>
                <a:spcPts val="0"/>
              </a:spcAft>
            </a:pPr>
            <a:r>
              <a:rPr sz="1250" b="0">
                <a:solidFill>
                  <a:srgbClr val="202830"/>
                </a:solidFill>
                <a:latin typeface="Malgun Gothic"/>
                <a:ea typeface="Malgun Gothic"/>
              </a:rPr>
              <a:t>v$logfile의 STATUS가 INVALID인 멤버가 있는지도 함께 확인한다. 비어 있으면 정상이다.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로그 상태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V$LOG / V$LOGFILE — 그룹 상태와 멤버 구성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리두 로그 그룹의 상태·시퀀스·아카이브 여부</a:t>
            </a:r>
          </a:p>
          <a:p>
            <a:pPr>
              <a:spcAft>
                <a:spcPts val="0"/>
              </a:spcAft>
            </a:pPr>
            <a:r>
              <a:rPr sz="1250" b="0">
                <a:solidFill>
                  <a:srgbClr val="E6E6E6"/>
                </a:solidFill>
                <a:latin typeface="Consolas"/>
                <a:ea typeface="Consolas"/>
              </a:rPr>
              <a:t>SYS@orcl&gt; SELECT group#, sequence#, bytes/1024/1024 AS mb, members, archived, status</a:t>
            </a:r>
          </a:p>
          <a:p>
            <a:pPr>
              <a:spcAft>
                <a:spcPts val="0"/>
              </a:spcAft>
            </a:pPr>
            <a:r>
              <a:rPr sz="1250" b="0">
                <a:solidFill>
                  <a:srgbClr val="E6E6E6"/>
                </a:solidFill>
                <a:latin typeface="Consolas"/>
                <a:ea typeface="Consolas"/>
              </a:rPr>
              <a:t>  2  FROM   v$log ORDER BY group#;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SEQUENCE#         MB    MEMBERS ARC STATUS</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         1         97         10          1 YES INACTIVE</a:t>
            </a:r>
          </a:p>
          <a:p>
            <a:pPr>
              <a:spcAft>
                <a:spcPts val="0"/>
              </a:spcAft>
            </a:pPr>
            <a:r>
              <a:rPr sz="1250" b="0">
                <a:solidFill>
                  <a:srgbClr val="E6E6E6"/>
                </a:solidFill>
                <a:latin typeface="Consolas"/>
                <a:ea typeface="Consolas"/>
              </a:rPr>
              <a:t>         2         98         10          1 NO  CURRENT</a:t>
            </a:r>
          </a:p>
          <a:p>
            <a:pPr>
              <a:spcAft>
                <a:spcPts val="0"/>
              </a:spcAft>
            </a:pPr>
            <a:r>
              <a:rPr sz="1250" b="0">
                <a:solidFill>
                  <a:srgbClr val="E6E6E6"/>
                </a:solidFill>
                <a:latin typeface="Consolas"/>
                <a:ea typeface="Consolas"/>
              </a:rPr>
              <a:t>         3         96         10          1 YES INACTIVE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그룹별 멤버(파일) 목록 — 다중화 상태 확인</a:t>
            </a:r>
          </a:p>
          <a:p>
            <a:pPr>
              <a:spcAft>
                <a:spcPts val="0"/>
              </a:spcAft>
            </a:pPr>
            <a:r>
              <a:rPr sz="1250" b="0">
                <a:solidFill>
                  <a:srgbClr val="E6E6E6"/>
                </a:solidFill>
                <a:latin typeface="Consolas"/>
                <a:ea typeface="Consolas"/>
              </a:rPr>
              <a:t>SYS@orcl&gt; SELECT group#, member, status FROM v$logfile ORDER BY group#;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MEMBER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/u01/app/oracle/oradata/orcl/redo01.log</a:t>
            </a:r>
          </a:p>
          <a:p>
            <a:pPr>
              <a:spcAft>
                <a:spcPts val="0"/>
              </a:spcAft>
            </a:pPr>
            <a:r>
              <a:rPr sz="1250" b="0">
                <a:solidFill>
                  <a:srgbClr val="E6E6E6"/>
                </a:solidFill>
                <a:latin typeface="Consolas"/>
                <a:ea typeface="Consolas"/>
              </a:rPr>
              <a:t>         2 /u01/app/oracle/oradata/orcl/redo02.log</a:t>
            </a:r>
          </a:p>
          <a:p>
            <a:pPr>
              <a:spcAft>
                <a:spcPts val="0"/>
              </a:spcAft>
            </a:pPr>
            <a:r>
              <a:rPr sz="1250" b="0">
                <a:solidFill>
                  <a:srgbClr val="E6E6E6"/>
                </a:solidFill>
                <a:latin typeface="Consolas"/>
                <a:ea typeface="Consolas"/>
              </a:rPr>
              <a:t>         3 /u01/app/oracle/oradata/orcl/redo03.log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리두 로그 (Archived Redo Log)</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온라인 리두 로그가 덮어쓰이기 전에 별도 위치로 복사해 둔 파일</a:t>
            </a:r>
          </a:p>
          <a:p>
            <a:pPr>
              <a:spcAft>
                <a:spcPts val="600"/>
              </a:spcAft>
            </a:pPr>
            <a:r>
              <a:rPr sz="1800" b="0">
                <a:solidFill>
                  <a:srgbClr val="202830"/>
                </a:solidFill>
                <a:latin typeface="Malgun Gothic"/>
                <a:ea typeface="Malgun Gothic"/>
              </a:rPr>
              <a:t>•  ARCHIVELOG 모드에서만 생성, ARCn 프로세스가 복사 담당</a:t>
            </a:r>
          </a:p>
          <a:p>
            <a:pPr>
              <a:spcAft>
                <a:spcPts val="600"/>
              </a:spcAft>
            </a:pPr>
            <a:r>
              <a:rPr sz="1800" b="0">
                <a:solidFill>
                  <a:srgbClr val="202830"/>
                </a:solidFill>
                <a:latin typeface="Malgun Gothic"/>
                <a:ea typeface="Malgun Gothic"/>
              </a:rPr>
              <a:t>•  과거 백업본에서 현재까지의 변경을 순서대로 적용할 수 있게 한다</a:t>
            </a:r>
          </a:p>
          <a:p>
            <a:pPr>
              <a:spcAft>
                <a:spcPts val="600"/>
              </a:spcAft>
            </a:pPr>
            <a:r>
              <a:rPr sz="1600" b="0">
                <a:solidFill>
                  <a:srgbClr val="5A6672"/>
                </a:solidFill>
                <a:latin typeface="Malgun Gothic"/>
                <a:ea typeface="Malgun Gothic"/>
              </a:rPr>
              <a:t>    –  완전 복구의 전제 조건</a:t>
            </a:r>
          </a:p>
          <a:p>
            <a:pPr>
              <a:spcAft>
                <a:spcPts val="600"/>
              </a:spcAft>
            </a:pPr>
            <a:r>
              <a:rPr sz="1800" b="0">
                <a:solidFill>
                  <a:srgbClr val="202830"/>
                </a:solidFill>
                <a:latin typeface="Malgun Gothic"/>
                <a:ea typeface="Malgun Gothic"/>
              </a:rPr>
              <a:t>•  NOARCHIVELOG 모드에서는 생성되지 않는다</a:t>
            </a:r>
          </a:p>
          <a:p>
            <a:pPr>
              <a:spcAft>
                <a:spcPts val="600"/>
              </a:spcAft>
            </a:pPr>
            <a:r>
              <a:rPr sz="1600" b="0">
                <a:solidFill>
                  <a:srgbClr val="5A6672"/>
                </a:solidFill>
                <a:latin typeface="Malgun Gothic"/>
                <a:ea typeface="Malgun Gothic"/>
              </a:rPr>
              <a:t>    –  온라인 리두에 남아 있는 범위 안에서만 복구 가능</a:t>
            </a:r>
          </a:p>
          <a:p>
            <a:pPr>
              <a:spcAft>
                <a:spcPts val="600"/>
              </a:spcAft>
            </a:pPr>
            <a:r>
              <a:rPr sz="1600" b="0">
                <a:solidFill>
                  <a:srgbClr val="5A6672"/>
                </a:solidFill>
                <a:latin typeface="Malgun Gothic"/>
                <a:ea typeface="Malgun Gothic"/>
              </a:rPr>
              <a:t>    –  그 범위를 벗어나면 백업 시점으로 되돌아가는 수밖에 없다</a:t>
            </a:r>
          </a:p>
          <a:p>
            <a:pPr>
              <a:spcAft>
                <a:spcPts val="600"/>
              </a:spcAft>
            </a:pPr>
            <a:r>
              <a:rPr sz="1800" b="0">
                <a:solidFill>
                  <a:srgbClr val="202830"/>
                </a:solidFill>
                <a:latin typeface="Malgun Gothic"/>
                <a:ea typeface="Malgun Gothic"/>
              </a:rPr>
              <a:t>•  LOG_ARCHIVE_DEST_n으로 여러 곳에 동시 기록 가능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모드와 SCN 구간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ARCHIVE LOG LIST / V$ARCHIVED_LOG — 각 로그가 담는 SCN 범위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아카이브 모드와 대상 확인</a:t>
            </a:r>
          </a:p>
          <a:p>
            <a:pPr>
              <a:spcAft>
                <a:spcPts val="0"/>
              </a:spcAft>
            </a:pPr>
            <a:r>
              <a:rPr sz="1250" b="0">
                <a:solidFill>
                  <a:srgbClr val="E6E6E6"/>
                </a:solidFill>
                <a:latin typeface="Consolas"/>
                <a:ea typeface="Consolas"/>
              </a:rPr>
              <a:t>SYS@orcl&gt; ARCHIVE LOG LIST</a:t>
            </a:r>
          </a:p>
          <a:p>
            <a:pPr>
              <a:spcAft>
                <a:spcPts val="0"/>
              </a:spcAft>
            </a:pPr>
            <a:r>
              <a:rPr sz="1250" b="0">
                <a:solidFill>
                  <a:srgbClr val="E6E6E6"/>
                </a:solidFill>
                <a:latin typeface="Consolas"/>
                <a:ea typeface="Consolas"/>
              </a:rPr>
              <a:t>Database log mode              Archive Mode</a:t>
            </a:r>
          </a:p>
          <a:p>
            <a:pPr>
              <a:spcAft>
                <a:spcPts val="0"/>
              </a:spcAft>
            </a:pPr>
            <a:r>
              <a:rPr sz="1250" b="0">
                <a:solidFill>
                  <a:srgbClr val="E6E6E6"/>
                </a:solidFill>
                <a:latin typeface="Consolas"/>
                <a:ea typeface="Consolas"/>
              </a:rPr>
              <a:t>Automatic archival             Enabled</a:t>
            </a:r>
          </a:p>
          <a:p>
            <a:pPr>
              <a:spcAft>
                <a:spcPts val="0"/>
              </a:spcAft>
            </a:pPr>
            <a:r>
              <a:rPr sz="1250" b="0">
                <a:solidFill>
                  <a:srgbClr val="E6E6E6"/>
                </a:solidFill>
                <a:latin typeface="Consolas"/>
                <a:ea typeface="Consolas"/>
              </a:rPr>
              <a:t>Archive destination            /home/oracle/arch1</a:t>
            </a:r>
          </a:p>
          <a:p>
            <a:pPr>
              <a:spcAft>
                <a:spcPts val="0"/>
              </a:spcAft>
            </a:pPr>
            <a:r>
              <a:rPr sz="1250" b="0">
                <a:solidFill>
                  <a:srgbClr val="E6E6E6"/>
                </a:solidFill>
                <a:latin typeface="Consolas"/>
                <a:ea typeface="Consolas"/>
              </a:rPr>
              <a:t>Oldest online log sequence     96</a:t>
            </a:r>
          </a:p>
          <a:p>
            <a:pPr>
              <a:spcAft>
                <a:spcPts val="0"/>
              </a:spcAft>
            </a:pPr>
            <a:r>
              <a:rPr sz="1250" b="0">
                <a:solidFill>
                  <a:srgbClr val="E6E6E6"/>
                </a:solidFill>
                <a:latin typeface="Consolas"/>
                <a:ea typeface="Consolas"/>
              </a:rPr>
              <a:t>Next log sequence to archive   98</a:t>
            </a:r>
          </a:p>
          <a:p>
            <a:pPr>
              <a:spcAft>
                <a:spcPts val="0"/>
              </a:spcAft>
            </a:pPr>
            <a:r>
              <a:rPr sz="1250" b="0">
                <a:solidFill>
                  <a:srgbClr val="E6E6E6"/>
                </a:solidFill>
                <a:latin typeface="Consolas"/>
                <a:ea typeface="Consolas"/>
              </a:rPr>
              <a:t>Current log sequence           98</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생성된 아카이브 로그의 SCN 범위</a:t>
            </a:r>
          </a:p>
          <a:p>
            <a:pPr>
              <a:spcAft>
                <a:spcPts val="0"/>
              </a:spcAft>
            </a:pPr>
            <a:r>
              <a:rPr sz="1250" b="0">
                <a:solidFill>
                  <a:srgbClr val="E6E6E6"/>
                </a:solidFill>
                <a:latin typeface="Consolas"/>
                <a:ea typeface="Consolas"/>
              </a:rPr>
              <a:t>SYS@orcl&gt; SELECT sequence#, name, first_change#, next_change#</a:t>
            </a:r>
          </a:p>
          <a:p>
            <a:pPr>
              <a:spcAft>
                <a:spcPts val="0"/>
              </a:spcAft>
            </a:pPr>
            <a:r>
              <a:rPr sz="1250" b="0">
                <a:solidFill>
                  <a:srgbClr val="E6E6E6"/>
                </a:solidFill>
                <a:latin typeface="Consolas"/>
                <a:ea typeface="Consolas"/>
              </a:rPr>
              <a:t>  2  FROM   v$archived_log WHERE sequence# &gt;= 96 ORDER BY sequence#;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SEQUENCE# NAME                                    FIRST_CHANGE# NEXT_CHANGE#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96 /home/oracle/arch1/arch_1_96_1200585.arc       2081984      2090995</a:t>
            </a:r>
          </a:p>
          <a:p>
            <a:pPr>
              <a:spcAft>
                <a:spcPts val="0"/>
              </a:spcAft>
            </a:pPr>
            <a:r>
              <a:rPr sz="1250" b="0">
                <a:solidFill>
                  <a:srgbClr val="E6E6E6"/>
                </a:solidFill>
                <a:latin typeface="Consolas"/>
                <a:ea typeface="Consolas"/>
              </a:rPr>
              <a:t>        97 /home/oracle/arch1/arch_1_97_1200585.arc       2090995      2097189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파라미터 파일 · 패스워드 파일 · 백업 대상 정리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SPFILE — 초기화 파라미터 바이너리 파일, $ORACLE_HOME/dbs/spfile&lt;SID&gt;.ora</a:t>
            </a:r>
          </a:p>
          <a:p>
            <a:pPr>
              <a:spcAft>
                <a:spcPts val="600"/>
              </a:spcAft>
            </a:pPr>
            <a:r>
              <a:rPr sz="1600" b="0">
                <a:solidFill>
                  <a:srgbClr val="5A6672"/>
                </a:solidFill>
                <a:latin typeface="Malgun Gothic"/>
                <a:ea typeface="Malgun Gothic"/>
              </a:rPr>
              <a:t>    –  CREATE PFILE ... FROM SPFILE로 텍스트 사본을 언제든 확보</a:t>
            </a:r>
          </a:p>
          <a:p>
            <a:pPr>
              <a:spcAft>
                <a:spcPts val="600"/>
              </a:spcAft>
            </a:pPr>
            <a:r>
              <a:rPr sz="1600" b="0">
                <a:solidFill>
                  <a:srgbClr val="5A6672"/>
                </a:solidFill>
                <a:latin typeface="Malgun Gothic"/>
                <a:ea typeface="Malgun Gothic"/>
              </a:rPr>
              <a:t>    –  유실 시 기동 불가하나 데이터는 무사, 백업본이나 alert log로 재작성 가능</a:t>
            </a:r>
          </a:p>
          <a:p>
            <a:pPr>
              <a:spcAft>
                <a:spcPts val="600"/>
              </a:spcAft>
            </a:pPr>
            <a:r>
              <a:rPr sz="1800" b="0">
                <a:solidFill>
                  <a:srgbClr val="202830"/>
                </a:solidFill>
                <a:latin typeface="Malgun Gothic"/>
                <a:ea typeface="Malgun Gothic"/>
              </a:rPr>
              <a:t>•  패스워드 파일(orapw&lt;SID&gt;) — SYSDBA 원격 접속용, 유실해도 로컬 OS 인증 가능</a:t>
            </a:r>
          </a:p>
          <a:p>
            <a:pPr>
              <a:spcAft>
                <a:spcPts val="600"/>
              </a:spcAft>
            </a:pPr>
            <a:r>
              <a:rPr sz="1800" b="0">
                <a:solidFill>
                  <a:srgbClr val="202830"/>
                </a:solidFill>
                <a:latin typeface="Malgun Gothic"/>
                <a:ea typeface="Malgun Gothic"/>
              </a:rPr>
              <a:t>•  TEMP 파일은 백업 대상이 아니다</a:t>
            </a:r>
          </a:p>
          <a:p>
            <a:pPr>
              <a:spcAft>
                <a:spcPts val="600"/>
              </a:spcAft>
            </a:pPr>
            <a:r>
              <a:rPr sz="1600" b="0">
                <a:solidFill>
                  <a:srgbClr val="5A6672"/>
                </a:solidFill>
                <a:latin typeface="Malgun Gothic"/>
                <a:ea typeface="Malgun Gothic"/>
              </a:rPr>
              <a:t>    –  임시 데이터만 담아 유실 시 재생성으로 끝난다(5장)</a:t>
            </a:r>
          </a:p>
          <a:p>
            <a:pPr>
              <a:spcAft>
                <a:spcPts val="600"/>
              </a:spcAft>
            </a:pPr>
            <a:r>
              <a:rPr sz="1800" b="0">
                <a:solidFill>
                  <a:srgbClr val="202830"/>
                </a:solidFill>
                <a:latin typeface="Malgun Gothic"/>
                <a:ea typeface="Malgun Gothic"/>
              </a:rPr>
              <a:t>•  RMAN의 CONTROLFILE AUTOBACKUP을 켜면 SPFILE과 제어 파일이 자동 백업된다(16장)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대상 파일 통합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V$DATAFILE + V$CONTROLFILE + V$LOGFILE — 백업 전 대상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백업 대상 물리 파일 전체 목록</a:t>
            </a:r>
          </a:p>
          <a:p>
            <a:pPr>
              <a:spcAft>
                <a:spcPts val="0"/>
              </a:spcAft>
            </a:pPr>
            <a:r>
              <a:rPr sz="1250" b="0">
                <a:solidFill>
                  <a:srgbClr val="E6E6E6"/>
                </a:solidFill>
                <a:latin typeface="Consolas"/>
                <a:ea typeface="Consolas"/>
              </a:rPr>
              <a:t>SYS@orcl&gt; SELECT name FROM v$datafile</a:t>
            </a:r>
          </a:p>
          <a:p>
            <a:pPr>
              <a:spcAft>
                <a:spcPts val="0"/>
              </a:spcAft>
            </a:pPr>
            <a:r>
              <a:rPr sz="1250" b="0">
                <a:solidFill>
                  <a:srgbClr val="E6E6E6"/>
                </a:solidFill>
                <a:latin typeface="Consolas"/>
                <a:ea typeface="Consolas"/>
              </a:rPr>
              <a:t>  2  UNION ALL</a:t>
            </a:r>
          </a:p>
          <a:p>
            <a:pPr>
              <a:spcAft>
                <a:spcPts val="0"/>
              </a:spcAft>
            </a:pPr>
            <a:r>
              <a:rPr sz="1250" b="0">
                <a:solidFill>
                  <a:srgbClr val="E6E6E6"/>
                </a:solidFill>
                <a:latin typeface="Consolas"/>
                <a:ea typeface="Consolas"/>
              </a:rPr>
              <a:t>  3  SELECT name FROM v$controlfile</a:t>
            </a:r>
          </a:p>
          <a:p>
            <a:pPr>
              <a:spcAft>
                <a:spcPts val="0"/>
              </a:spcAft>
            </a:pPr>
            <a:r>
              <a:rPr sz="1250" b="0">
                <a:solidFill>
                  <a:srgbClr val="E6E6E6"/>
                </a:solidFill>
                <a:latin typeface="Consolas"/>
                <a:ea typeface="Consolas"/>
              </a:rPr>
              <a:t>  4  UNION ALL</a:t>
            </a:r>
          </a:p>
          <a:p>
            <a:pPr>
              <a:spcAft>
                <a:spcPts val="0"/>
              </a:spcAft>
            </a:pPr>
            <a:r>
              <a:rPr sz="1250" b="0">
                <a:solidFill>
                  <a:srgbClr val="E6E6E6"/>
                </a:solidFill>
                <a:latin typeface="Consolas"/>
                <a:ea typeface="Consolas"/>
              </a:rPr>
              <a:t>  5  SELECT member FROM v$logfile;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/u01/app/oracle/oradata/orcl/system01.dbf</a:t>
            </a:r>
          </a:p>
          <a:p>
            <a:pPr>
              <a:spcAft>
                <a:spcPts val="0"/>
              </a:spcAft>
            </a:pPr>
            <a:r>
              <a:rPr sz="1250" b="0">
                <a:solidFill>
                  <a:srgbClr val="E6E6E6"/>
                </a:solidFill>
                <a:latin typeface="Consolas"/>
                <a:ea typeface="Consolas"/>
              </a:rPr>
              <a:t>/u01/app/oracle/oradata/orcl/sysaux01.dbf</a:t>
            </a:r>
          </a:p>
          <a:p>
            <a:pPr>
              <a:spcAft>
                <a:spcPts val="0"/>
              </a:spcAft>
            </a:pPr>
            <a:r>
              <a:rPr sz="1250" b="0">
                <a:solidFill>
                  <a:srgbClr val="E6E6E6"/>
                </a:solidFill>
                <a:latin typeface="Consolas"/>
                <a:ea typeface="Consolas"/>
              </a:rPr>
              <a:t>/u01/app/oracle/oradata/orcl/undotbs01.dbf</a:t>
            </a:r>
          </a:p>
          <a:p>
            <a:pPr>
              <a:spcAft>
                <a:spcPts val="0"/>
              </a:spcAft>
            </a:pPr>
            <a:r>
              <a:rPr sz="1250" b="0">
                <a:solidFill>
                  <a:srgbClr val="E6E6E6"/>
                </a:solidFill>
                <a:latin typeface="Consolas"/>
                <a:ea typeface="Consolas"/>
              </a:rPr>
              <a:t>/u01/app/oracle/oradata/orcl/users01.dbf</a:t>
            </a:r>
          </a:p>
          <a:p>
            <a:pPr>
              <a:spcAft>
                <a:spcPts val="0"/>
              </a:spcAft>
            </a:pPr>
            <a:r>
              <a:rPr sz="1250" b="0">
                <a:solidFill>
                  <a:srgbClr val="E6E6E6"/>
                </a:solidFill>
                <a:latin typeface="Consolas"/>
                <a:ea typeface="Consolas"/>
              </a:rPr>
              <a:t>/u01/app/oracle/oradata/orcl/control01.ctl</a:t>
            </a:r>
          </a:p>
          <a:p>
            <a:pPr>
              <a:spcAft>
                <a:spcPts val="0"/>
              </a:spcAft>
            </a:pPr>
            <a:r>
              <a:rPr sz="1250" b="0">
                <a:solidFill>
                  <a:srgbClr val="E6E6E6"/>
                </a:solidFill>
                <a:latin typeface="Consolas"/>
                <a:ea typeface="Consolas"/>
              </a:rPr>
              <a:t>/u01/app/oracle/oradata/orcl/control02.ctl</a:t>
            </a:r>
          </a:p>
          <a:p>
            <a:pPr>
              <a:spcAft>
                <a:spcPts val="0"/>
              </a:spcAft>
            </a:pPr>
            <a:r>
              <a:rPr sz="1250" b="0">
                <a:solidFill>
                  <a:srgbClr val="E6E6E6"/>
                </a:solidFill>
                <a:latin typeface="Consolas"/>
                <a:ea typeface="Consolas"/>
              </a:rPr>
              <a:t>/u01/app/oracle/oradata/orcl/redo01.log</a:t>
            </a:r>
          </a:p>
          <a:p>
            <a:pPr>
              <a:spcAft>
                <a:spcPts val="0"/>
              </a:spcAft>
            </a:pPr>
            <a:r>
              <a:rPr sz="1250" b="0">
                <a:solidFill>
                  <a:srgbClr val="E6E6E6"/>
                </a:solidFill>
                <a:latin typeface="Consolas"/>
                <a:ea typeface="Consolas"/>
              </a:rPr>
              <a:t>/u01/app/oracle/oradata/orcl/redo02.log</a:t>
            </a:r>
          </a:p>
          <a:p>
            <a:pPr>
              <a:spcAft>
                <a:spcPts val="0"/>
              </a:spcAft>
            </a:pPr>
            <a:r>
              <a:rPr sz="1250" b="0">
                <a:solidFill>
                  <a:srgbClr val="E6E6E6"/>
                </a:solidFill>
                <a:latin typeface="Consolas"/>
                <a:ea typeface="Consolas"/>
              </a:rPr>
              <a:t>/u01/app/oracle/oradata/orcl/redo03.log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9 rows selected.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변경의 흐름 — SCN·리두·언두·체크포인트</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SCN은 복구 판단의 기준이 되는 논리적 시계</a:t>
            </a:r>
          </a:p>
          <a:p>
            <a:pPr>
              <a:spcAft>
                <a:spcPts val="600"/>
              </a:spcAft>
            </a:pPr>
            <a:r>
              <a:rPr sz="1600" b="0">
                <a:solidFill>
                  <a:srgbClr val="C5CED6"/>
                </a:solidFill>
                <a:latin typeface="Malgun Gothic"/>
                <a:ea typeface="Malgun Gothic"/>
              </a:rPr>
              <a:t>•  리두는 롤포워드에, 언두는 롤백에 쓰인다</a:t>
            </a:r>
          </a:p>
          <a:p>
            <a:pPr>
              <a:spcAft>
                <a:spcPts val="600"/>
              </a:spcAft>
            </a:pPr>
            <a:r>
              <a:rPr sz="1600" b="0">
                <a:solidFill>
                  <a:srgbClr val="C5CED6"/>
                </a:solidFill>
                <a:latin typeface="Malgun Gothic"/>
                <a:ea typeface="Malgun Gothic"/>
              </a:rPr>
              <a:t>•  커밋은 리두 기록만 보장한다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SCN (System Change Number)</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데이터베이스 내부의 논리적 시계 — 커밋마다 단조 증가</a:t>
            </a:r>
          </a:p>
          <a:p>
            <a:pPr>
              <a:spcAft>
                <a:spcPts val="600"/>
              </a:spcAft>
            </a:pPr>
            <a:r>
              <a:rPr sz="1800" b="0">
                <a:solidFill>
                  <a:srgbClr val="202830"/>
                </a:solidFill>
                <a:latin typeface="Malgun Gothic"/>
                <a:ea typeface="Malgun Gothic"/>
              </a:rPr>
              <a:t>•  시간이 아니라 순서를 나타낸다</a:t>
            </a:r>
          </a:p>
          <a:p>
            <a:pPr>
              <a:spcAft>
                <a:spcPts val="600"/>
              </a:spcAft>
            </a:pPr>
            <a:r>
              <a:rPr sz="1800" b="0">
                <a:solidFill>
                  <a:srgbClr val="202830"/>
                </a:solidFill>
                <a:latin typeface="Malgun Gothic"/>
                <a:ea typeface="Malgun Gothic"/>
              </a:rPr>
              <a:t>•  여러 곳에 기록되며 그 일치 여부가 복구 필요성을 결정한다</a:t>
            </a:r>
          </a:p>
          <a:p>
            <a:pPr>
              <a:spcAft>
                <a:spcPts val="600"/>
              </a:spcAft>
            </a:pPr>
            <a:r>
              <a:rPr sz="1600" b="0">
                <a:solidFill>
                  <a:srgbClr val="5A6672"/>
                </a:solidFill>
                <a:latin typeface="Malgun Gothic"/>
                <a:ea typeface="Malgun Gothic"/>
              </a:rPr>
              <a:t>    –  제어 파일 — 데이터베이스 전체의 체크포인트 SCN</a:t>
            </a:r>
          </a:p>
          <a:p>
            <a:pPr>
              <a:spcAft>
                <a:spcPts val="600"/>
              </a:spcAft>
            </a:pPr>
            <a:r>
              <a:rPr sz="1600" b="0">
                <a:solidFill>
                  <a:srgbClr val="5A6672"/>
                </a:solidFill>
                <a:latin typeface="Malgun Gothic"/>
                <a:ea typeface="Malgun Gothic"/>
              </a:rPr>
              <a:t>    –  각 데이터 파일 헤더 — 그 파일의 체크포인트 SCN</a:t>
            </a:r>
          </a:p>
          <a:p>
            <a:pPr>
              <a:spcAft>
                <a:spcPts val="600"/>
              </a:spcAft>
            </a:pPr>
            <a:r>
              <a:rPr sz="1600" b="0">
                <a:solidFill>
                  <a:srgbClr val="5A6672"/>
                </a:solidFill>
                <a:latin typeface="Malgun Gothic"/>
                <a:ea typeface="Malgun Gothic"/>
              </a:rPr>
              <a:t>    –  리두 로그 — 각 로그가 담는 변경의 SCN 범위</a:t>
            </a:r>
          </a:p>
          <a:p>
            <a:pPr>
              <a:spcAft>
                <a:spcPts val="600"/>
              </a:spcAft>
            </a:pPr>
            <a:r>
              <a:rPr sz="1800" b="0">
                <a:solidFill>
                  <a:srgbClr val="202830"/>
                </a:solidFill>
                <a:latin typeface="Malgun Gothic"/>
                <a:ea typeface="Malgun Gothic"/>
              </a:rPr>
              <a:t>•  모든 값이 같으면 일관성 있는(consistent) 상태</a:t>
            </a:r>
          </a:p>
          <a:p>
            <a:pPr>
              <a:spcAft>
                <a:spcPts val="600"/>
              </a:spcAft>
            </a:pPr>
            <a:r>
              <a:rPr sz="1800" b="0">
                <a:solidFill>
                  <a:srgbClr val="202830"/>
                </a:solidFill>
                <a:latin typeface="Malgun Gothic"/>
                <a:ea typeface="Malgun Gothic"/>
              </a:rPr>
              <a:t>•  어긋나 있으면 그 차이만큼 리두를 적용해야 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SCN 비교 — 복구 필요 여부 판단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V$DATABASE vs V$DATAFILE — 모든 값이 같으면 일관성 있는 상태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제어 파일과 데이터 파일의 체크포인트 SCN 비교</a:t>
            </a:r>
          </a:p>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CHECKPOINT_CHANGE#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2097189</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name, checkpoint_change#, status FROM v$datafile ORDER BY 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NAME                                          CHECKPOINT_CHANGE#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/u01/app/oracle/oradata/orcl/system01.dbf                2097189 SYSTEM</a:t>
            </a:r>
          </a:p>
          <a:p>
            <a:pPr>
              <a:spcAft>
                <a:spcPts val="0"/>
              </a:spcAft>
            </a:pPr>
            <a:r>
              <a:rPr sz="1250" b="0">
                <a:solidFill>
                  <a:srgbClr val="E6E6E6"/>
                </a:solidFill>
                <a:latin typeface="Consolas"/>
                <a:ea typeface="Consolas"/>
              </a:rPr>
              <a:t>         3 /u01/app/oracle/oradata/orcl/sysaux01.dbf                2097189 ONLINE</a:t>
            </a:r>
          </a:p>
          <a:p>
            <a:pPr>
              <a:spcAft>
                <a:spcPts val="0"/>
              </a:spcAft>
            </a:pPr>
            <a:r>
              <a:rPr sz="1250" b="0">
                <a:solidFill>
                  <a:srgbClr val="E6E6E6"/>
                </a:solidFill>
                <a:latin typeface="Consolas"/>
                <a:ea typeface="Consolas"/>
              </a:rPr>
              <a:t>         4 /u01/app/oracle/oradata/orcl/undotbs01.dbf               2097189 ONLINE</a:t>
            </a:r>
          </a:p>
          <a:p>
            <a:pPr>
              <a:spcAft>
                <a:spcPts val="0"/>
              </a:spcAft>
            </a:pPr>
            <a:r>
              <a:rPr sz="1250" b="0">
                <a:solidFill>
                  <a:srgbClr val="E6E6E6"/>
                </a:solidFill>
                <a:latin typeface="Consolas"/>
                <a:ea typeface="Consolas"/>
              </a:rPr>
              <a:t>         7 /u01/app/oracle/oradata/orcl/users01.dbf                 2097189 ONLINE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SCN을 시각으로 환산</a:t>
            </a:r>
          </a:p>
          <a:p>
            <a:pPr>
              <a:spcAft>
                <a:spcPts val="0"/>
              </a:spcAft>
            </a:pPr>
            <a:r>
              <a:rPr sz="1250" b="0">
                <a:solidFill>
                  <a:srgbClr val="E6E6E6"/>
                </a:solidFill>
                <a:latin typeface="Consolas"/>
                <a:ea typeface="Consolas"/>
              </a:rPr>
              <a:t>SYS@orcl&gt; SELECT SCN_TO_TIMESTAMP(2097189) FROM dual;</a:t>
            </a:r>
          </a:p>
          <a:p>
            <a:pPr>
              <a:spcAft>
                <a:spcPts val="0"/>
              </a:spcAft>
            </a:pPr>
            <a:r>
              <a:rPr sz="1250" b="0">
                <a:solidFill>
                  <a:srgbClr val="E6E6E6"/>
                </a:solidFill>
                <a:latin typeface="Consolas"/>
                <a:ea typeface="Consolas"/>
              </a:rPr>
              <a:t>02-MAY-25 02.08.31.000000000 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리두와 언두의 역할 분담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리두(redo) — '무엇을 했는가', 변경 후 값을 다시 적용하는 재료</a:t>
            </a:r>
          </a:p>
          <a:p>
            <a:pPr>
              <a:spcAft>
                <a:spcPts val="600"/>
              </a:spcAft>
            </a:pPr>
            <a:r>
              <a:rPr sz="1600" b="0">
                <a:solidFill>
                  <a:srgbClr val="5A6672"/>
                </a:solidFill>
                <a:latin typeface="Malgun Gothic"/>
                <a:ea typeface="Malgun Gothic"/>
              </a:rPr>
              <a:t>    –  복구 시 롤포워드에 사용, 리두 로그 파일에 저장</a:t>
            </a:r>
          </a:p>
          <a:p>
            <a:pPr>
              <a:spcAft>
                <a:spcPts val="600"/>
              </a:spcAft>
            </a:pPr>
            <a:r>
              <a:rPr sz="1800" b="0">
                <a:solidFill>
                  <a:srgbClr val="202830"/>
                </a:solidFill>
                <a:latin typeface="Malgun Gothic"/>
                <a:ea typeface="Malgun Gothic"/>
              </a:rPr>
              <a:t>•  언두(undo) — '무엇이었는가', 변경 전 값으로 되돌리는 재료</a:t>
            </a:r>
          </a:p>
          <a:p>
            <a:pPr>
              <a:spcAft>
                <a:spcPts val="600"/>
              </a:spcAft>
            </a:pPr>
            <a:r>
              <a:rPr sz="1600" b="0">
                <a:solidFill>
                  <a:srgbClr val="5A6672"/>
                </a:solidFill>
                <a:latin typeface="Malgun Gothic"/>
                <a:ea typeface="Malgun Gothic"/>
              </a:rPr>
              <a:t>    –  롤백·읽기 일관성·Flashback Query에 사용</a:t>
            </a:r>
          </a:p>
          <a:p>
            <a:pPr>
              <a:spcAft>
                <a:spcPts val="600"/>
              </a:spcAft>
            </a:pPr>
            <a:r>
              <a:rPr sz="1600" b="0">
                <a:solidFill>
                  <a:srgbClr val="5A6672"/>
                </a:solidFill>
                <a:latin typeface="Malgun Gothic"/>
                <a:ea typeface="Malgun Gothic"/>
              </a:rPr>
              <a:t>    –  UNDO 테이블스페이스의 데이터 파일에 저장</a:t>
            </a:r>
          </a:p>
          <a:p>
            <a:pPr>
              <a:spcAft>
                <a:spcPts val="600"/>
              </a:spcAft>
            </a:pPr>
            <a:r>
              <a:rPr sz="1800" b="0">
                <a:solidFill>
                  <a:srgbClr val="202830"/>
                </a:solidFill>
                <a:latin typeface="Malgun Gothic"/>
                <a:ea typeface="Malgun Gothic"/>
              </a:rPr>
              <a:t>•  언두 자체의 변경도 리두에 기록된다</a:t>
            </a:r>
          </a:p>
          <a:p>
            <a:pPr>
              <a:spcAft>
                <a:spcPts val="600"/>
              </a:spcAft>
            </a:pPr>
            <a:r>
              <a:rPr sz="1600" b="0">
                <a:solidFill>
                  <a:srgbClr val="5A6672"/>
                </a:solidFill>
                <a:latin typeface="Malgun Gothic"/>
                <a:ea typeface="Malgun Gothic"/>
              </a:rPr>
              <a:t>    –  언두 테이블스페이스가 손상되어도 리두가 있으면 되살릴 수 있다</a:t>
            </a:r>
          </a:p>
          <a:p>
            <a:pPr>
              <a:spcAft>
                <a:spcPts val="600"/>
              </a:spcAft>
            </a:pPr>
            <a:r>
              <a:rPr sz="1800" b="0">
                <a:solidFill>
                  <a:srgbClr val="202830"/>
                </a:solidFill>
                <a:latin typeface="Malgun Gothic"/>
                <a:ea typeface="Malgun Gothic"/>
              </a:rPr>
              <a:t>•  UNDO_RETENTION 기본값 900초 — Flashback Query 가능 범위를 결정(18장)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체크포인트와 세 프로세스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체크포인트 = '이 SCN 이전의 변경은 모두 데이터 파일에 반영되었다'는 선언</a:t>
            </a:r>
          </a:p>
          <a:p>
            <a:pPr>
              <a:spcAft>
                <a:spcPts val="600"/>
              </a:spcAft>
            </a:pPr>
            <a:r>
              <a:rPr sz="1800" b="0">
                <a:solidFill>
                  <a:srgbClr val="202830"/>
                </a:solidFill>
                <a:latin typeface="Malgun Gothic"/>
                <a:ea typeface="Malgun Gothic"/>
              </a:rPr>
              <a:t>•  체크포인트 시 수행되는 일</a:t>
            </a:r>
          </a:p>
          <a:p>
            <a:pPr>
              <a:spcAft>
                <a:spcPts val="600"/>
              </a:spcAft>
            </a:pPr>
            <a:r>
              <a:rPr sz="1600" b="0">
                <a:solidFill>
                  <a:srgbClr val="5A6672"/>
                </a:solidFill>
                <a:latin typeface="Malgun Gothic"/>
                <a:ea typeface="Malgun Gothic"/>
              </a:rPr>
              <a:t>    –  DBWn이 dirty buffer를 데이터 파일에 기록</a:t>
            </a:r>
          </a:p>
          <a:p>
            <a:pPr>
              <a:spcAft>
                <a:spcPts val="600"/>
              </a:spcAft>
            </a:pPr>
            <a:r>
              <a:rPr sz="1600" b="0">
                <a:solidFill>
                  <a:srgbClr val="5A6672"/>
                </a:solidFill>
                <a:latin typeface="Malgun Gothic"/>
                <a:ea typeface="Malgun Gothic"/>
              </a:rPr>
              <a:t>    –  CKPT가 제어 파일과 데이터 파일 헤더에 새 SCN 기록</a:t>
            </a:r>
          </a:p>
          <a:p>
            <a:pPr>
              <a:spcAft>
                <a:spcPts val="600"/>
              </a:spcAft>
            </a:pPr>
            <a:r>
              <a:rPr sz="1800" b="0">
                <a:solidFill>
                  <a:srgbClr val="202830"/>
                </a:solidFill>
                <a:latin typeface="Malgun Gothic"/>
                <a:ea typeface="Malgun Gothic"/>
              </a:rPr>
              <a:t>•  프로세스별 역할</a:t>
            </a:r>
          </a:p>
          <a:p>
            <a:pPr>
              <a:spcAft>
                <a:spcPts val="600"/>
              </a:spcAft>
            </a:pPr>
            <a:r>
              <a:rPr sz="1600" b="0">
                <a:solidFill>
                  <a:srgbClr val="5A6672"/>
                </a:solidFill>
                <a:latin typeface="Malgun Gothic"/>
                <a:ea typeface="Malgun Gothic"/>
              </a:rPr>
              <a:t>    –  LGWR — 리두 버퍼 → 리두 로그 파일, 커밋 시 반드시 수행</a:t>
            </a:r>
          </a:p>
          <a:p>
            <a:pPr>
              <a:spcAft>
                <a:spcPts val="600"/>
              </a:spcAft>
            </a:pPr>
            <a:r>
              <a:rPr sz="1600" b="0">
                <a:solidFill>
                  <a:srgbClr val="5A6672"/>
                </a:solidFill>
                <a:latin typeface="Malgun Gothic"/>
                <a:ea typeface="Malgun Gothic"/>
              </a:rPr>
              <a:t>    –  DBWn — 변경 블록 → 데이터 파일, 커밋과 무관하게 자체 판단</a:t>
            </a:r>
          </a:p>
          <a:p>
            <a:pPr>
              <a:spcAft>
                <a:spcPts val="600"/>
              </a:spcAft>
            </a:pPr>
            <a:r>
              <a:rPr sz="1600" b="0">
                <a:solidFill>
                  <a:srgbClr val="5A6672"/>
                </a:solidFill>
                <a:latin typeface="Malgun Gothic"/>
                <a:ea typeface="Malgun Gothic"/>
              </a:rPr>
              <a:t>    –  CKPT — 체크포인트 정보 갱신, 직접 데이터를 쓰지는 않음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커밋이 보장하는 것은 리두뿐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COMMIT 반환 시점에 보장되는 것 = LGWR의 리두 기록</a:t>
            </a:r>
          </a:p>
          <a:p>
            <a:pPr>
              <a:spcAft>
                <a:spcPts val="600"/>
              </a:spcAft>
            </a:pPr>
            <a:r>
              <a:rPr sz="1800" b="0">
                <a:solidFill>
                  <a:srgbClr val="202830"/>
                </a:solidFill>
                <a:latin typeface="Malgun Gothic"/>
                <a:ea typeface="Malgun Gothic"/>
              </a:rPr>
              <a:t>•  커밋된 데이터가 데이터 파일에 있다는 보장은 없다</a:t>
            </a:r>
          </a:p>
          <a:p>
            <a:pPr>
              <a:spcAft>
                <a:spcPts val="600"/>
              </a:spcAft>
            </a:pPr>
            <a:r>
              <a:rPr sz="1800" b="0">
                <a:solidFill>
                  <a:srgbClr val="202830"/>
                </a:solidFill>
                <a:latin typeface="Malgun Gothic"/>
                <a:ea typeface="Malgun Gothic"/>
              </a:rPr>
              <a:t>•  왜 커밋 시점에 데이터 파일에 쓰지 않는가</a:t>
            </a:r>
          </a:p>
          <a:p>
            <a:pPr>
              <a:spcAft>
                <a:spcPts val="600"/>
              </a:spcAft>
            </a:pPr>
            <a:r>
              <a:rPr sz="1600" b="0">
                <a:solidFill>
                  <a:srgbClr val="5A6672"/>
                </a:solidFill>
                <a:latin typeface="Malgun Gothic"/>
                <a:ea typeface="Malgun Gothic"/>
              </a:rPr>
              <a:t>    –  커밋마다 해당 블록을 쓰면 디스크 위치가 흩어져 임의 접근이 발생 — 느리다</a:t>
            </a:r>
          </a:p>
          <a:p>
            <a:pPr>
              <a:spcAft>
                <a:spcPts val="600"/>
              </a:spcAft>
            </a:pPr>
            <a:r>
              <a:rPr sz="1600" b="0">
                <a:solidFill>
                  <a:srgbClr val="5A6672"/>
                </a:solidFill>
                <a:latin typeface="Malgun Gothic"/>
                <a:ea typeface="Malgun Gothic"/>
              </a:rPr>
              <a:t>    –  리두 로그는 순차 기록이라 훨씬 빠르다</a:t>
            </a:r>
          </a:p>
          <a:p>
            <a:pPr>
              <a:spcAft>
                <a:spcPts val="600"/>
              </a:spcAft>
            </a:pPr>
            <a:r>
              <a:rPr sz="1600" b="0">
                <a:solidFill>
                  <a:srgbClr val="5A6672"/>
                </a:solidFill>
                <a:latin typeface="Malgun Gothic"/>
                <a:ea typeface="Malgun Gothic"/>
              </a:rPr>
              <a:t>    –  데이터 파일 반영은 DBWn이 모아서 처리한다</a:t>
            </a:r>
          </a:p>
          <a:p>
            <a:pPr>
              <a:spcAft>
                <a:spcPts val="600"/>
              </a:spcAft>
            </a:pPr>
            <a:r>
              <a:rPr sz="1800" b="0">
                <a:solidFill>
                  <a:srgbClr val="202830"/>
                </a:solidFill>
                <a:latin typeface="Malgun Gothic"/>
                <a:ea typeface="Malgun Gothic"/>
              </a:rPr>
              <a:t>•  결과: '리두는 최신, 데이터 파일은 과거'가 정상 상태</a:t>
            </a:r>
          </a:p>
          <a:p>
            <a:pPr>
              <a:spcAft>
                <a:spcPts val="600"/>
              </a:spcAft>
            </a:pPr>
            <a:r>
              <a:rPr sz="1600" b="0">
                <a:solidFill>
                  <a:srgbClr val="5A6672"/>
                </a:solidFill>
                <a:latin typeface="Malgun Gothic"/>
                <a:ea typeface="Malgun Gothic"/>
              </a:rPr>
              <a:t>    –  복구란 그 간격을 메우는 작업이다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SCN 흐름 추적 — 커밋 vs 로그 스위치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커밋만으로는 체크포인트 SCN이 변하지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변경 → 로그 스위치 → 체크포인트 SCN 변화 추적</a:t>
            </a:r>
          </a:p>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CHECKPOINT_CHANGE#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2097189</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UPDATE hr.employees SET salary = salary * 1.1 WHERE employee_id = 100;</a:t>
            </a:r>
          </a:p>
          <a:p>
            <a:pPr>
              <a:spcAft>
                <a:spcPts val="0"/>
              </a:spcAft>
            </a:pPr>
            <a:r>
              <a:rPr sz="1250" b="0">
                <a:solidFill>
                  <a:srgbClr val="E6E6E6"/>
                </a:solidFill>
                <a:latin typeface="Consolas"/>
                <a:ea typeface="Consolas"/>
              </a:rPr>
              <a:t>1 row updated.</a:t>
            </a:r>
          </a:p>
          <a:p>
            <a:pPr>
              <a:spcAft>
                <a:spcPts val="0"/>
              </a:spcAft>
            </a:pPr>
            <a:r>
              <a:rPr sz="1250" b="0">
                <a:solidFill>
                  <a:srgbClr val="E6E6E6"/>
                </a:solidFill>
                <a:latin typeface="Consolas"/>
                <a:ea typeface="Consolas"/>
              </a:rPr>
              <a:t>SYS@orcl&gt; COMMIT;</a:t>
            </a:r>
          </a:p>
          <a:p>
            <a:pPr>
              <a:spcAft>
                <a:spcPts val="0"/>
              </a:spcAft>
            </a:pPr>
            <a:r>
              <a:rPr sz="1250" b="0">
                <a:solidFill>
                  <a:srgbClr val="E6E6E6"/>
                </a:solidFill>
                <a:latin typeface="Consolas"/>
                <a:ea typeface="Consolas"/>
              </a:rPr>
              <a:t>Commit complete.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커밋만으로는 체크포인트 SCN이 변하지 않는다</a:t>
            </a:r>
          </a:p>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           2097189</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로그 스위치가 체크포인트를 유발한다</a:t>
            </a:r>
          </a:p>
          <a:p>
            <a:pPr>
              <a:spcAft>
                <a:spcPts val="0"/>
              </a:spcAft>
            </a:pPr>
            <a:r>
              <a:rPr sz="1250" b="0">
                <a:solidFill>
                  <a:srgbClr val="E6E6E6"/>
                </a:solidFill>
                <a:latin typeface="Consolas"/>
                <a:ea typeface="Consolas"/>
              </a:rPr>
              <a:t>SYS@orcl&gt; ALTER SYSTEM SWITCH LOGFILE;</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           2098460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로그 스위치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CURRENT 그룹이 가득 차면 자동 발생, ALTER SYSTEM SWITCH LOGFILE로 강제 가능</a:t>
            </a:r>
          </a:p>
          <a:p>
            <a:pPr>
              <a:spcAft>
                <a:spcPts val="600"/>
              </a:spcAft>
            </a:pPr>
            <a:r>
              <a:rPr sz="1800" b="0">
                <a:solidFill>
                  <a:srgbClr val="202830"/>
                </a:solidFill>
                <a:latin typeface="Malgun Gothic"/>
                <a:ea typeface="Malgun Gothic"/>
              </a:rPr>
              <a:t>•  시퀀스 번호가 1 증가하고, ARCHIVELOG면 직전 그룹이 아카이브 대상이 된다</a:t>
            </a:r>
          </a:p>
          <a:p>
            <a:pPr>
              <a:spcAft>
                <a:spcPts val="600"/>
              </a:spcAft>
            </a:pPr>
            <a:r>
              <a:rPr sz="1800" b="0">
                <a:solidFill>
                  <a:srgbClr val="202830"/>
                </a:solidFill>
                <a:latin typeface="Malgun Gothic"/>
                <a:ea typeface="Malgun Gothic"/>
              </a:rPr>
              <a:t>•  로그 스위치는 체크포인트를 유발한다</a:t>
            </a:r>
          </a:p>
          <a:p>
            <a:pPr>
              <a:spcAft>
                <a:spcPts val="600"/>
              </a:spcAft>
            </a:pPr>
            <a:r>
              <a:rPr sz="1600" b="0">
                <a:solidFill>
                  <a:srgbClr val="5A6672"/>
                </a:solidFill>
                <a:latin typeface="Malgun Gothic"/>
                <a:ea typeface="Malgun Gothic"/>
              </a:rPr>
              <a:t>    –  체크포인트 완료가 스위치 완료보다 늦을 수 있어 잠시 ACTIVE 상태가 유지된다</a:t>
            </a:r>
          </a:p>
          <a:p>
            <a:pPr>
              <a:spcAft>
                <a:spcPts val="600"/>
              </a:spcAft>
            </a:pPr>
            <a:r>
              <a:rPr sz="1800" b="0">
                <a:solidFill>
                  <a:srgbClr val="202830"/>
                </a:solidFill>
                <a:latin typeface="Malgun Gothic"/>
                <a:ea typeface="Malgun Gothic"/>
              </a:rPr>
              <a:t>•  ALTER SYSTEM ARCHIVE LOG CURRENT — 스위치와 아카이브를 함께, 완료까지 대기</a:t>
            </a:r>
          </a:p>
          <a:p>
            <a:pPr>
              <a:spcAft>
                <a:spcPts val="600"/>
              </a:spcAft>
            </a:pPr>
            <a:r>
              <a:rPr sz="1600" b="0">
                <a:solidFill>
                  <a:srgbClr val="5A6672"/>
                </a:solidFill>
                <a:latin typeface="Malgun Gothic"/>
                <a:ea typeface="Malgun Gothic"/>
              </a:rPr>
              <a:t>    –  백업 직후 실행하면 백업 시점의 리두가 확실히 아카이브된다(3장)</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실무 시나리오:</a:t>
            </a:r>
          </a:p>
          <a:p>
            <a:pPr>
              <a:spcAft>
                <a:spcPts val="0"/>
              </a:spcAft>
            </a:pPr>
            <a:r>
              <a:rPr sz="1250" b="0">
                <a:solidFill>
                  <a:srgbClr val="202830"/>
                </a:solidFill>
                <a:latin typeface="Malgun Gothic"/>
                <a:ea typeface="Malgun Gothic"/>
              </a:rPr>
              <a:t>v$log_history를 시간대별로 집계해 시간당 스위치 횟수를 본다. 통상 3~6회가 적정선이며, 너무 잦으면 리두 파일 크기가 작다는 뜻이다.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인스턴스 복구 (Instance Recovery)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파일은 온전하고 메모리만 유실된 경우</a:t>
            </a:r>
          </a:p>
          <a:p>
            <a:pPr>
              <a:spcAft>
                <a:spcPts val="600"/>
              </a:spcAft>
            </a:pPr>
            <a:r>
              <a:rPr sz="1600" b="0">
                <a:solidFill>
                  <a:srgbClr val="C5CED6"/>
                </a:solidFill>
                <a:latin typeface="Malgun Gothic"/>
                <a:ea typeface="Malgun Gothic"/>
              </a:rPr>
              <a:t>•  SMON이 자동 수행 — DBA는 개입하지 않는다</a:t>
            </a:r>
          </a:p>
          <a:p>
            <a:pPr>
              <a:spcAft>
                <a:spcPts val="600"/>
              </a:spcAft>
            </a:pPr>
            <a:r>
              <a:rPr sz="1600" b="0">
                <a:solidFill>
                  <a:srgbClr val="C5CED6"/>
                </a:solidFill>
                <a:latin typeface="Malgun Gothic"/>
                <a:ea typeface="Malgun Gothic"/>
              </a:rPr>
              <a:t>•  롤포워드 후 롤백, 데이터 손실 없음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인스턴스 복구가 필요한 상황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인스턴스가 비정상 종료된 뒤 다시 기동할 때 자동 수행</a:t>
            </a:r>
          </a:p>
          <a:p>
            <a:pPr>
              <a:spcAft>
                <a:spcPts val="600"/>
              </a:spcAft>
            </a:pPr>
            <a:r>
              <a:rPr sz="1800" b="0">
                <a:solidFill>
                  <a:srgbClr val="202830"/>
                </a:solidFill>
                <a:latin typeface="Malgun Gothic"/>
                <a:ea typeface="Malgun Gothic"/>
              </a:rPr>
              <a:t>•  비정상 종료에 해당하는 경우</a:t>
            </a:r>
          </a:p>
          <a:p>
            <a:pPr>
              <a:spcAft>
                <a:spcPts val="600"/>
              </a:spcAft>
            </a:pPr>
            <a:r>
              <a:rPr sz="1600" b="0">
                <a:solidFill>
                  <a:srgbClr val="5A6672"/>
                </a:solidFill>
                <a:latin typeface="Malgun Gothic"/>
                <a:ea typeface="Malgun Gothic"/>
              </a:rPr>
              <a:t>    –  SHUTDOWN ABORT</a:t>
            </a:r>
          </a:p>
          <a:p>
            <a:pPr>
              <a:spcAft>
                <a:spcPts val="600"/>
              </a:spcAft>
            </a:pPr>
            <a:r>
              <a:rPr sz="1600" b="0">
                <a:solidFill>
                  <a:srgbClr val="5A6672"/>
                </a:solidFill>
                <a:latin typeface="Malgun Gothic"/>
                <a:ea typeface="Malgun Gothic"/>
              </a:rPr>
              <a:t>    –  서버 전원 차단, OS 패닉</a:t>
            </a:r>
          </a:p>
          <a:p>
            <a:pPr>
              <a:spcAft>
                <a:spcPts val="600"/>
              </a:spcAft>
            </a:pPr>
            <a:r>
              <a:rPr sz="1600" b="0">
                <a:solidFill>
                  <a:srgbClr val="5A6672"/>
                </a:solidFill>
                <a:latin typeface="Malgun Gothic"/>
                <a:ea typeface="Malgun Gothic"/>
              </a:rPr>
              <a:t>    –  백그라운드 프로세스 사망으로 인스턴스 자체 중단</a:t>
            </a:r>
          </a:p>
          <a:p>
            <a:pPr>
              <a:spcAft>
                <a:spcPts val="600"/>
              </a:spcAft>
            </a:pPr>
            <a:r>
              <a:rPr sz="1800" b="0">
                <a:solidFill>
                  <a:srgbClr val="202830"/>
                </a:solidFill>
                <a:latin typeface="Malgun Gothic"/>
                <a:ea typeface="Malgun Gothic"/>
              </a:rPr>
              <a:t>•  SHUTDOWN NORMAL / IMMEDIATE / TRANSACTIONAL은 해당 없음</a:t>
            </a:r>
          </a:p>
          <a:p>
            <a:pPr>
              <a:spcAft>
                <a:spcPts val="600"/>
              </a:spcAft>
            </a:pPr>
            <a:r>
              <a:rPr sz="1600" b="0">
                <a:solidFill>
                  <a:srgbClr val="5A6672"/>
                </a:solidFill>
                <a:latin typeface="Malgun Gothic"/>
                <a:ea typeface="Malgun Gothic"/>
              </a:rPr>
              <a:t>    –  종료 전 체크포인트를 완료하므로 복구가 필요 없다</a:t>
            </a:r>
          </a:p>
          <a:p>
            <a:pPr>
              <a:spcAft>
                <a:spcPts val="600"/>
              </a:spcAft>
            </a:pPr>
            <a:r>
              <a:rPr sz="1800" b="0">
                <a:solidFill>
                  <a:srgbClr val="202830"/>
                </a:solidFill>
                <a:latin typeface="Malgun Gothic"/>
                <a:ea typeface="Malgun Gothic"/>
              </a:rPr>
              <a:t>•  재료는 온라인 리두 로그와 언두 — 백업본은 전혀 쓰이지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롤포워드와 롤백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1단계 롤포워드(roll forward) — 리두를 데이터 파일에 적용</a:t>
            </a:r>
          </a:p>
          <a:p>
            <a:pPr>
              <a:spcAft>
                <a:spcPts val="600"/>
              </a:spcAft>
            </a:pPr>
            <a:r>
              <a:rPr sz="1600" b="0">
                <a:solidFill>
                  <a:srgbClr val="5A6672"/>
                </a:solidFill>
                <a:latin typeface="Malgun Gothic"/>
                <a:ea typeface="Malgun Gothic"/>
              </a:rPr>
              <a:t>    –  마지막 체크포인트 SCN 이후의 모든 리두를 순서대로 적용</a:t>
            </a:r>
          </a:p>
          <a:p>
            <a:pPr>
              <a:spcAft>
                <a:spcPts val="600"/>
              </a:spcAft>
            </a:pPr>
            <a:r>
              <a:rPr sz="1600" b="0">
                <a:solidFill>
                  <a:srgbClr val="5A6672"/>
                </a:solidFill>
                <a:latin typeface="Malgun Gothic"/>
                <a:ea typeface="Malgun Gothic"/>
              </a:rPr>
              <a:t>    –  커밋된 변경과 커밋되지 않은 변경이 구분 없이 함께 적용된다</a:t>
            </a:r>
          </a:p>
          <a:p>
            <a:pPr>
              <a:spcAft>
                <a:spcPts val="600"/>
              </a:spcAft>
            </a:pPr>
            <a:r>
              <a:rPr sz="1600" b="0">
                <a:solidFill>
                  <a:srgbClr val="5A6672"/>
                </a:solidFill>
                <a:latin typeface="Malgun Gothic"/>
                <a:ea typeface="Malgun Gothic"/>
              </a:rPr>
              <a:t>    –  끝나면 데이터 파일이 장애 직전 상태와 같아진다</a:t>
            </a:r>
          </a:p>
          <a:p>
            <a:pPr>
              <a:spcAft>
                <a:spcPts val="600"/>
              </a:spcAft>
            </a:pPr>
            <a:r>
              <a:rPr sz="1800" b="0">
                <a:solidFill>
                  <a:srgbClr val="202830"/>
                </a:solidFill>
                <a:latin typeface="Malgun Gothic"/>
                <a:ea typeface="Malgun Gothic"/>
              </a:rPr>
              <a:t>•  2단계 롤백(roll back) — 미커밋 트랜잭션을 언두로 되돌림</a:t>
            </a:r>
          </a:p>
          <a:p>
            <a:pPr>
              <a:spcAft>
                <a:spcPts val="600"/>
              </a:spcAft>
            </a:pPr>
            <a:r>
              <a:rPr sz="1600" b="0">
                <a:solidFill>
                  <a:srgbClr val="5A6672"/>
                </a:solidFill>
                <a:latin typeface="Malgun Gothic"/>
                <a:ea typeface="Malgun Gothic"/>
              </a:rPr>
              <a:t>    –  DB가 열린 뒤에도 백그라운드에서 계속될 수 있다(지연 롤백)</a:t>
            </a:r>
          </a:p>
          <a:p>
            <a:pPr>
              <a:spcAft>
                <a:spcPts val="600"/>
              </a:spcAft>
            </a:pPr>
            <a:r>
              <a:rPr sz="1800" b="0">
                <a:solidFill>
                  <a:srgbClr val="202830"/>
                </a:solidFill>
                <a:latin typeface="Malgun Gothic"/>
                <a:ea typeface="Malgun Gothic"/>
              </a:rPr>
              <a:t>•  왜 롤포워드가 먼저인가</a:t>
            </a:r>
          </a:p>
          <a:p>
            <a:pPr>
              <a:spcAft>
                <a:spcPts val="600"/>
              </a:spcAft>
            </a:pPr>
            <a:r>
              <a:rPr sz="1600" b="0">
                <a:solidFill>
                  <a:srgbClr val="5A6672"/>
                </a:solidFill>
                <a:latin typeface="Malgun Gothic"/>
                <a:ea typeface="Malgun Gothic"/>
              </a:rPr>
              <a:t>    –  언두 자체가 데이터 파일에 저장되므로, 리두로 복구되어야 신뢰할 수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crash recovery 실제 흐름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SHUTDOWN ABORT 후 STARTUP — alert log에 남는 기록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비정상 종료 후 재기동</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Database opened.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alert log 발췌</a:t>
            </a:r>
          </a:p>
          <a:p>
            <a:pPr>
              <a:spcAft>
                <a:spcPts val="0"/>
              </a:spcAft>
            </a:pPr>
            <a:r>
              <a:rPr sz="1250" b="0">
                <a:solidFill>
                  <a:srgbClr val="E6E6E6"/>
                </a:solidFill>
                <a:latin typeface="Consolas"/>
                <a:ea typeface="Consolas"/>
              </a:rPr>
              <a:t>Beginning crash recovery of 1 threads</a:t>
            </a:r>
          </a:p>
          <a:p>
            <a:pPr>
              <a:spcAft>
                <a:spcPts val="0"/>
              </a:spcAft>
            </a:pPr>
            <a:r>
              <a:rPr sz="1250" b="0">
                <a:solidFill>
                  <a:srgbClr val="E6E6E6"/>
                </a:solidFill>
                <a:latin typeface="Consolas"/>
                <a:ea typeface="Consolas"/>
              </a:rPr>
              <a:t>Started redo scan</a:t>
            </a:r>
          </a:p>
          <a:p>
            <a:pPr>
              <a:spcAft>
                <a:spcPts val="0"/>
              </a:spcAft>
            </a:pPr>
            <a:r>
              <a:rPr sz="1250" b="0">
                <a:solidFill>
                  <a:srgbClr val="E6E6E6"/>
                </a:solidFill>
                <a:latin typeface="Consolas"/>
                <a:ea typeface="Consolas"/>
              </a:rPr>
              <a:t>Completed redo scan</a:t>
            </a:r>
          </a:p>
          <a:p>
            <a:pPr>
              <a:spcAft>
                <a:spcPts val="0"/>
              </a:spcAft>
            </a:pPr>
            <a:r>
              <a:rPr sz="1250" b="0">
                <a:solidFill>
                  <a:srgbClr val="E6E6E6"/>
                </a:solidFill>
                <a:latin typeface="Consolas"/>
                <a:ea typeface="Consolas"/>
              </a:rPr>
              <a:t>  read 412 KB redo, 87 data blocks need recovery</a:t>
            </a:r>
          </a:p>
          <a:p>
            <a:pPr>
              <a:spcAft>
                <a:spcPts val="0"/>
              </a:spcAft>
            </a:pPr>
            <a:r>
              <a:rPr sz="1250" b="0">
                <a:solidFill>
                  <a:srgbClr val="E6E6E6"/>
                </a:solidFill>
                <a:latin typeface="Consolas"/>
                <a:ea typeface="Consolas"/>
              </a:rPr>
              <a:t>Started redo application at Thread 1: logseq 98, block 1523</a:t>
            </a:r>
          </a:p>
          <a:p>
            <a:pPr>
              <a:spcAft>
                <a:spcPts val="0"/>
              </a:spcAft>
            </a:pPr>
            <a:r>
              <a:rPr sz="1250" b="0">
                <a:solidFill>
                  <a:srgbClr val="E6E6E6"/>
                </a:solidFill>
                <a:latin typeface="Consolas"/>
                <a:ea typeface="Consolas"/>
              </a:rPr>
              <a:t>Completed redo application of 0.34MB</a:t>
            </a:r>
          </a:p>
          <a:p>
            <a:pPr>
              <a:spcAft>
                <a:spcPts val="0"/>
              </a:spcAft>
            </a:pPr>
            <a:r>
              <a:rPr sz="1250" b="0">
                <a:solidFill>
                  <a:srgbClr val="E6E6E6"/>
                </a:solidFill>
                <a:latin typeface="Consolas"/>
                <a:ea typeface="Consolas"/>
              </a:rPr>
              <a:t>Completed crash recovery at</a:t>
            </a:r>
          </a:p>
          <a:p>
            <a:pPr>
              <a:spcAft>
                <a:spcPts val="0"/>
              </a:spcAft>
            </a:pPr>
            <a:r>
              <a:rPr sz="1250" b="0">
                <a:solidFill>
                  <a:srgbClr val="E6E6E6"/>
                </a:solidFill>
                <a:latin typeface="Consolas"/>
                <a:ea typeface="Consolas"/>
              </a:rPr>
              <a:t>  Thread 1: logseq 98, block 2371, scn 2098905</a:t>
            </a:r>
          </a:p>
          <a:p>
            <a:pPr>
              <a:spcAft>
                <a:spcPts val="0"/>
              </a:spcAft>
            </a:pPr>
            <a:r>
              <a:rPr sz="1250" b="0">
                <a:solidFill>
                  <a:srgbClr val="E6E6E6"/>
                </a:solidFill>
                <a:latin typeface="Consolas"/>
                <a:ea typeface="Consolas"/>
              </a:rPr>
              <a:t>  87 data blocks read, 87 data blocks written, 412 redo k-bytes read</a:t>
            </a:r>
          </a:p>
          <a:p>
            <a:pPr>
              <a:spcAft>
                <a:spcPts val="0"/>
              </a:spcAft>
            </a:pPr>
            <a:r>
              <a:rPr sz="1250" b="0">
                <a:solidFill>
                  <a:srgbClr val="E6E6E6"/>
                </a:solidFill>
                <a:latin typeface="Consolas"/>
                <a:ea typeface="Consolas"/>
              </a:rPr>
              <a:t>SMON: enabling tx recovery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 조절 — FAST_START_MTTR_TARGET</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인스턴스 복구 시간 ∝ 마지막 체크포인트 이후 쌓인 리두의 양</a:t>
            </a:r>
          </a:p>
          <a:p>
            <a:pPr>
              <a:spcAft>
                <a:spcPts val="600"/>
              </a:spcAft>
            </a:pPr>
            <a:r>
              <a:rPr sz="1800" b="0">
                <a:solidFill>
                  <a:srgbClr val="202830"/>
                </a:solidFill>
                <a:latin typeface="Malgun Gothic"/>
                <a:ea typeface="Malgun Gothic"/>
              </a:rPr>
              <a:t>•  체크포인트가 잦으면 복구는 빠르나 평상시 I/O 부하가 커진다</a:t>
            </a:r>
          </a:p>
          <a:p>
            <a:pPr>
              <a:spcAft>
                <a:spcPts val="600"/>
              </a:spcAft>
            </a:pPr>
            <a:r>
              <a:rPr sz="1800" b="0">
                <a:solidFill>
                  <a:srgbClr val="202830"/>
                </a:solidFill>
                <a:latin typeface="Malgun Gothic"/>
                <a:ea typeface="Malgun Gothic"/>
              </a:rPr>
              <a:t>•  FAST_START_MTTR_TARGET으로 목표 초를 지정</a:t>
            </a:r>
          </a:p>
          <a:p>
            <a:pPr>
              <a:spcAft>
                <a:spcPts val="600"/>
              </a:spcAft>
            </a:pPr>
            <a:r>
              <a:rPr sz="1600" b="0">
                <a:solidFill>
                  <a:srgbClr val="5A6672"/>
                </a:solidFill>
                <a:latin typeface="Malgun Gothic"/>
                <a:ea typeface="Malgun Gothic"/>
              </a:rPr>
              <a:t>    –  300으로 두면 복구를 300초 안에 끝내도록 체크포인트 빈도를 자동 조절</a:t>
            </a:r>
          </a:p>
          <a:p>
            <a:pPr>
              <a:spcAft>
                <a:spcPts val="600"/>
              </a:spcAft>
            </a:pPr>
            <a:r>
              <a:rPr sz="1600" b="0">
                <a:solidFill>
                  <a:srgbClr val="5A6672"/>
                </a:solidFill>
                <a:latin typeface="Malgun Gothic"/>
                <a:ea typeface="Malgun Gothic"/>
              </a:rPr>
              <a:t>    –  0이면 자동 조절하지 않음</a:t>
            </a:r>
          </a:p>
          <a:p>
            <a:pPr>
              <a:spcAft>
                <a:spcPts val="600"/>
              </a:spcAft>
            </a:pPr>
            <a:r>
              <a:rPr sz="1800" b="0">
                <a:solidFill>
                  <a:srgbClr val="202830"/>
                </a:solidFill>
                <a:latin typeface="Malgun Gothic"/>
                <a:ea typeface="Malgun Gothic"/>
              </a:rPr>
              <a:t>•  v$instance_recovery로 현재 예상 복구 시간 확인</a:t>
            </a:r>
          </a:p>
          <a:p>
            <a:pPr>
              <a:spcAft>
                <a:spcPts val="600"/>
              </a:spcAft>
            </a:pPr>
            <a:r>
              <a:rPr sz="1800" b="0">
                <a:solidFill>
                  <a:srgbClr val="202830"/>
                </a:solidFill>
                <a:latin typeface="Malgun Gothic"/>
                <a:ea typeface="Malgun Gothic"/>
              </a:rPr>
              <a:t>•  이 파라미터는 미디어 복구 시간과 무관하다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v$instance_recovery의 ESTIMATED_MTTR이 현재 예상 복구 초, TARGET_MTTR이 목표값이다. TARGET이 0이면 자동 조절이 꺼진 상태다.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미디어 복구와 복구 유형</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파일 자체가 유실·손상된 경우 — DBA가 직접 수행</a:t>
            </a:r>
          </a:p>
          <a:p>
            <a:pPr>
              <a:spcAft>
                <a:spcPts val="600"/>
              </a:spcAft>
            </a:pPr>
            <a:r>
              <a:rPr sz="1600" b="0">
                <a:solidFill>
                  <a:srgbClr val="C5CED6"/>
                </a:solidFill>
                <a:latin typeface="Malgun Gothic"/>
                <a:ea typeface="Malgun Gothic"/>
              </a:rPr>
              <a:t>•  복원(restore)과 복구(recover)는 다른 작업</a:t>
            </a:r>
          </a:p>
          <a:p>
            <a:pPr>
              <a:spcAft>
                <a:spcPts val="600"/>
              </a:spcAft>
            </a:pPr>
            <a:r>
              <a:rPr sz="1600" b="0">
                <a:solidFill>
                  <a:srgbClr val="C5CED6"/>
                </a:solidFill>
                <a:latin typeface="Malgun Gothic"/>
                <a:ea typeface="Malgun Gothic"/>
              </a:rPr>
              <a:t>•  완전 복구의 성립 조건 세 가지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인스턴스 복구 vs 미디어 복구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인스턴스 복구</a:t>
            </a:r>
          </a:p>
          <a:p>
            <a:pPr>
              <a:spcAft>
                <a:spcPts val="600"/>
              </a:spcAft>
            </a:pPr>
            <a:r>
              <a:rPr sz="1600" b="0">
                <a:solidFill>
                  <a:srgbClr val="5A6672"/>
                </a:solidFill>
                <a:latin typeface="Malgun Gothic"/>
                <a:ea typeface="Malgun Gothic"/>
              </a:rPr>
              <a:t>    –  전제: 파일은 온전하고 메모리 내용만 유실</a:t>
            </a:r>
          </a:p>
          <a:p>
            <a:pPr>
              <a:spcAft>
                <a:spcPts val="600"/>
              </a:spcAft>
            </a:pPr>
            <a:r>
              <a:rPr sz="1600" b="0">
                <a:solidFill>
                  <a:srgbClr val="5A6672"/>
                </a:solidFill>
                <a:latin typeface="Malgun Gothic"/>
                <a:ea typeface="Malgun Gothic"/>
              </a:rPr>
              <a:t>    –  재료: 온라인 리두 로그 + 언두</a:t>
            </a:r>
          </a:p>
          <a:p>
            <a:pPr>
              <a:spcAft>
                <a:spcPts val="600"/>
              </a:spcAft>
            </a:pPr>
            <a:r>
              <a:rPr sz="1600" b="0">
                <a:solidFill>
                  <a:srgbClr val="5A6672"/>
                </a:solidFill>
                <a:latin typeface="Malgun Gothic"/>
                <a:ea typeface="Malgun Gothic"/>
              </a:rPr>
              <a:t>    –  수행: SMON이 자동, DBA 개입 없음</a:t>
            </a:r>
          </a:p>
          <a:p>
            <a:pPr>
              <a:spcAft>
                <a:spcPts val="600"/>
              </a:spcAft>
            </a:pPr>
            <a:r>
              <a:rPr sz="1600" b="0">
                <a:solidFill>
                  <a:srgbClr val="5A6672"/>
                </a:solidFill>
                <a:latin typeface="Malgun Gothic"/>
                <a:ea typeface="Malgun Gothic"/>
              </a:rPr>
              <a:t>    –  결과: 데이터 손실 없음</a:t>
            </a:r>
          </a:p>
          <a:p>
            <a:pPr>
              <a:spcAft>
                <a:spcPts val="600"/>
              </a:spcAft>
            </a:pPr>
            <a:r>
              <a:rPr sz="1800" b="0">
                <a:solidFill>
                  <a:srgbClr val="202830"/>
                </a:solidFill>
                <a:latin typeface="Malgun Gothic"/>
                <a:ea typeface="Malgun Gothic"/>
              </a:rPr>
              <a:t>•  미디어 복구</a:t>
            </a:r>
          </a:p>
          <a:p>
            <a:pPr>
              <a:spcAft>
                <a:spcPts val="600"/>
              </a:spcAft>
            </a:pPr>
            <a:r>
              <a:rPr sz="1600" b="0">
                <a:solidFill>
                  <a:srgbClr val="5A6672"/>
                </a:solidFill>
                <a:latin typeface="Malgun Gothic"/>
                <a:ea typeface="Malgun Gothic"/>
              </a:rPr>
              <a:t>    –  전제: 파일 자체가 유실되거나 손상</a:t>
            </a:r>
          </a:p>
          <a:p>
            <a:pPr>
              <a:spcAft>
                <a:spcPts val="600"/>
              </a:spcAft>
            </a:pPr>
            <a:r>
              <a:rPr sz="1600" b="0">
                <a:solidFill>
                  <a:srgbClr val="5A6672"/>
                </a:solidFill>
                <a:latin typeface="Malgun Gothic"/>
                <a:ea typeface="Malgun Gothic"/>
              </a:rPr>
              <a:t>    –  재료: 백업본 + 아카이브 로그 + 온라인 리두 로그</a:t>
            </a:r>
          </a:p>
          <a:p>
            <a:pPr>
              <a:spcAft>
                <a:spcPts val="600"/>
              </a:spcAft>
            </a:pPr>
            <a:r>
              <a:rPr sz="1600" b="0">
                <a:solidFill>
                  <a:srgbClr val="5A6672"/>
                </a:solidFill>
                <a:latin typeface="Malgun Gothic"/>
                <a:ea typeface="Malgun Gothic"/>
              </a:rPr>
              <a:t>    –  수행: DBA가 RESTORE와 RECOVER를 직접</a:t>
            </a:r>
          </a:p>
          <a:p>
            <a:pPr>
              <a:spcAft>
                <a:spcPts val="600"/>
              </a:spcAft>
            </a:pPr>
            <a:r>
              <a:rPr sz="1600" b="0">
                <a:solidFill>
                  <a:srgbClr val="5A6672"/>
                </a:solidFill>
                <a:latin typeface="Malgun Gothic"/>
                <a:ea typeface="Malgun Gothic"/>
              </a:rPr>
              <a:t>    –  결과: 조건에 따라 데이터 손실 가능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복원(restore)과 복구(recover)</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복원 — 백업본을 제자리에 되돌려 놓는 것</a:t>
            </a:r>
          </a:p>
          <a:p>
            <a:pPr>
              <a:spcAft>
                <a:spcPts val="600"/>
              </a:spcAft>
            </a:pPr>
            <a:r>
              <a:rPr sz="1800" b="0">
                <a:solidFill>
                  <a:srgbClr val="202830"/>
                </a:solidFill>
                <a:latin typeface="Malgun Gothic"/>
                <a:ea typeface="Malgun Gothic"/>
              </a:rPr>
              <a:t>•  복구 — 그 위에 리두를 적용해 최신 상태로 끌어올리는 것</a:t>
            </a:r>
          </a:p>
          <a:p>
            <a:pPr>
              <a:spcAft>
                <a:spcPts val="600"/>
              </a:spcAft>
            </a:pPr>
            <a:r>
              <a:rPr sz="1800" b="0">
                <a:solidFill>
                  <a:srgbClr val="202830"/>
                </a:solidFill>
                <a:latin typeface="Malgun Gothic"/>
                <a:ea typeface="Malgun Gothic"/>
              </a:rPr>
              <a:t>•  복원만 하고 복구하지 않으면 백업 시점 데이터로 되돌아간다</a:t>
            </a:r>
          </a:p>
          <a:p>
            <a:pPr>
              <a:spcAft>
                <a:spcPts val="600"/>
              </a:spcAft>
            </a:pPr>
            <a:r>
              <a:rPr sz="1800" b="0">
                <a:solidFill>
                  <a:srgbClr val="202830"/>
                </a:solidFill>
                <a:latin typeface="Malgun Gothic"/>
                <a:ea typeface="Malgun Gothic"/>
              </a:rPr>
              <a:t>•  복원 없이 복구만 하는 경우도 있다</a:t>
            </a:r>
          </a:p>
          <a:p>
            <a:pPr>
              <a:spcAft>
                <a:spcPts val="600"/>
              </a:spcAft>
            </a:pPr>
            <a:r>
              <a:rPr sz="1600" b="0">
                <a:solidFill>
                  <a:srgbClr val="5A6672"/>
                </a:solidFill>
                <a:latin typeface="Malgun Gothic"/>
                <a:ea typeface="Malgun Gothic"/>
              </a:rPr>
              <a:t>    –  파일은 있는데 뒤처져 있을 때 — 예: 오래 OFFLINE 되어 있던 데이터 파일</a:t>
            </a:r>
          </a:p>
          <a:p>
            <a:pPr>
              <a:spcAft>
                <a:spcPts val="600"/>
              </a:spcAft>
            </a:pPr>
            <a:r>
              <a:rPr sz="1800" b="0">
                <a:solidFill>
                  <a:srgbClr val="202830"/>
                </a:solidFill>
                <a:latin typeface="Malgun Gothic"/>
                <a:ea typeface="Malgun Gothic"/>
              </a:rPr>
              <a:t>•  두 용어를 섞어 쓰면 절차를 잘못 밟게 된다</a:t>
            </a:r>
          </a:p>
          <a:p>
            <a:pPr>
              <a:spcAft>
                <a:spcPts val="600"/>
              </a:spcAft>
            </a:pPr>
            <a:r>
              <a:rPr sz="1600" b="0">
                <a:solidFill>
                  <a:srgbClr val="5A6672"/>
                </a:solidFill>
                <a:latin typeface="Malgun Gothic"/>
                <a:ea typeface="Malgun Gothic"/>
              </a:rPr>
              <a:t>    –  '복구했는데 데이터가 옛날 것'이라는 상황은 복원만 하고 끝낸 경우다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완전 복구와 불완전 복구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완전 복구(complete recovery) — 장애 직전 시점까지, 데이터 손실 없음</a:t>
            </a:r>
          </a:p>
          <a:p>
            <a:pPr>
              <a:spcAft>
                <a:spcPts val="600"/>
              </a:spcAft>
            </a:pPr>
            <a:r>
              <a:rPr sz="1800" b="0">
                <a:solidFill>
                  <a:srgbClr val="202830"/>
                </a:solidFill>
                <a:latin typeface="Malgun Gothic"/>
                <a:ea typeface="Malgun Gothic"/>
              </a:rPr>
              <a:t>•  성립 조건 세 가지가 모두 필요하다</a:t>
            </a:r>
          </a:p>
          <a:p>
            <a:pPr>
              <a:spcAft>
                <a:spcPts val="600"/>
              </a:spcAft>
            </a:pPr>
            <a:r>
              <a:rPr sz="1600" b="0">
                <a:solidFill>
                  <a:srgbClr val="5A6672"/>
                </a:solidFill>
                <a:latin typeface="Malgun Gothic"/>
                <a:ea typeface="Malgun Gothic"/>
              </a:rPr>
              <a:t>    –  복구 대상 파일의 백업본</a:t>
            </a:r>
          </a:p>
          <a:p>
            <a:pPr>
              <a:spcAft>
                <a:spcPts val="600"/>
              </a:spcAft>
            </a:pPr>
            <a:r>
              <a:rPr sz="1600" b="0">
                <a:solidFill>
                  <a:srgbClr val="5A6672"/>
                </a:solidFill>
                <a:latin typeface="Malgun Gothic"/>
                <a:ea typeface="Malgun Gothic"/>
              </a:rPr>
              <a:t>    –  백업 시점부터 장애 시점까지의 모든 리두</a:t>
            </a:r>
          </a:p>
          <a:p>
            <a:pPr>
              <a:spcAft>
                <a:spcPts val="600"/>
              </a:spcAft>
            </a:pPr>
            <a:r>
              <a:rPr sz="1600" b="0">
                <a:solidFill>
                  <a:srgbClr val="5A6672"/>
                </a:solidFill>
                <a:latin typeface="Malgun Gothic"/>
                <a:ea typeface="Malgun Gothic"/>
              </a:rPr>
              <a:t>    –  현재 상태를 담은 제어 파일</a:t>
            </a:r>
          </a:p>
          <a:p>
            <a:pPr>
              <a:spcAft>
                <a:spcPts val="600"/>
              </a:spcAft>
            </a:pPr>
            <a:r>
              <a:rPr sz="1800" b="0">
                <a:solidFill>
                  <a:srgbClr val="202830"/>
                </a:solidFill>
                <a:latin typeface="Malgun Gothic"/>
                <a:ea typeface="Malgun Gothic"/>
              </a:rPr>
              <a:t>•  불완전 복구(incomplete recovery) — 특정 과거 시점까지, 이후 데이터 손실</a:t>
            </a:r>
          </a:p>
          <a:p>
            <a:pPr>
              <a:spcAft>
                <a:spcPts val="600"/>
              </a:spcAft>
            </a:pPr>
            <a:r>
              <a:rPr sz="1800" b="0">
                <a:solidFill>
                  <a:srgbClr val="202830"/>
                </a:solidFill>
                <a:latin typeface="Malgun Gothic"/>
                <a:ea typeface="Malgun Gothic"/>
              </a:rPr>
              <a:t>•  불완전 복구를 하게 되는 두 가지 이유</a:t>
            </a:r>
          </a:p>
          <a:p>
            <a:pPr>
              <a:spcAft>
                <a:spcPts val="600"/>
              </a:spcAft>
            </a:pPr>
            <a:r>
              <a:rPr sz="1600" b="0">
                <a:solidFill>
                  <a:srgbClr val="5A6672"/>
                </a:solidFill>
                <a:latin typeface="Malgun Gothic"/>
                <a:ea typeface="Malgun Gothic"/>
              </a:rPr>
              <a:t>    –  어쩔 수 없는 경우 — 아카이브 로그 삭제, NOARCHIVELOG 모드</a:t>
            </a:r>
          </a:p>
          <a:p>
            <a:pPr>
              <a:spcAft>
                <a:spcPts val="600"/>
              </a:spcAft>
            </a:pPr>
            <a:r>
              <a:rPr sz="1600" b="0">
                <a:solidFill>
                  <a:srgbClr val="5A6672"/>
                </a:solidFill>
                <a:latin typeface="Malgun Gothic"/>
                <a:ea typeface="Malgun Gothic"/>
              </a:rPr>
              <a:t>    –  의도적인 경우 — 사용자 오류를 되돌리려 실수 직전으로 이동</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실무 시나리오:</a:t>
            </a:r>
          </a:p>
          <a:p>
            <a:pPr>
              <a:spcAft>
                <a:spcPts val="0"/>
              </a:spcAft>
            </a:pPr>
            <a:r>
              <a:rPr sz="1250" b="0">
                <a:solidFill>
                  <a:srgbClr val="202830"/>
                </a:solidFill>
                <a:latin typeface="Malgun Gothic"/>
                <a:ea typeface="Malgun Gothic"/>
              </a:rPr>
              <a:t>판정 순서는 ① LOG_MODE 확인 ② 유실 파일에 CURRENT 리두가 포함되는지 ③ 백업본 SCN과 아카이브 SCN 구간이 이어지는지다.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RESETLOGS와 불완전 복구 종료 지점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불완전 복구 후에는 반드시 RESETLOGS로 열어야 한다</a:t>
            </a:r>
          </a:p>
          <a:p>
            <a:pPr>
              <a:spcAft>
                <a:spcPts val="600"/>
              </a:spcAft>
            </a:pPr>
            <a:r>
              <a:rPr sz="1600" b="0">
                <a:solidFill>
                  <a:srgbClr val="5A6672"/>
                </a:solidFill>
                <a:latin typeface="Malgun Gothic"/>
                <a:ea typeface="Malgun Gothic"/>
              </a:rPr>
              <a:t>    –  리두 로그 시퀀스가 1로 초기화되고 새 인카네이션이 시작된다</a:t>
            </a:r>
          </a:p>
          <a:p>
            <a:pPr>
              <a:spcAft>
                <a:spcPts val="600"/>
              </a:spcAft>
            </a:pPr>
            <a:r>
              <a:rPr sz="1600" b="0">
                <a:solidFill>
                  <a:srgbClr val="5A6672"/>
                </a:solidFill>
                <a:latin typeface="Malgun Gothic"/>
                <a:ea typeface="Malgun Gothic"/>
              </a:rPr>
              <a:t>    –  이전 백업본과 아카이브 로그는 그대로 쓸 수 없게 된다</a:t>
            </a:r>
          </a:p>
          <a:p>
            <a:pPr>
              <a:spcAft>
                <a:spcPts val="600"/>
              </a:spcAft>
            </a:pPr>
            <a:r>
              <a:rPr sz="1600" b="0">
                <a:solidFill>
                  <a:srgbClr val="5A6672"/>
                </a:solidFill>
                <a:latin typeface="Malgun Gothic"/>
                <a:ea typeface="Malgun Gothic"/>
              </a:rPr>
              <a:t>    –  따라서 직후에 전체 백업을 다시 받아야 한다</a:t>
            </a:r>
          </a:p>
          <a:p>
            <a:pPr>
              <a:spcAft>
                <a:spcPts val="600"/>
              </a:spcAft>
            </a:pPr>
            <a:r>
              <a:rPr sz="1800" b="0">
                <a:solidFill>
                  <a:srgbClr val="202830"/>
                </a:solidFill>
                <a:latin typeface="Malgun Gothic"/>
                <a:ea typeface="Malgun Gothic"/>
              </a:rPr>
              <a:t>•  종료 지점 지정 방식 네 가지</a:t>
            </a:r>
          </a:p>
          <a:p>
            <a:pPr>
              <a:spcAft>
                <a:spcPts val="600"/>
              </a:spcAft>
            </a:pPr>
            <a:r>
              <a:rPr sz="1600" b="0">
                <a:solidFill>
                  <a:srgbClr val="5A6672"/>
                </a:solidFill>
                <a:latin typeface="Malgun Gothic"/>
                <a:ea typeface="Malgun Gothic"/>
              </a:rPr>
              <a:t>    –  UNTIL CANCEL — 하나씩 적용하다 사용자가 CANCEL 입력한 지점에서 중단</a:t>
            </a:r>
          </a:p>
          <a:p>
            <a:pPr>
              <a:spcAft>
                <a:spcPts val="600"/>
              </a:spcAft>
            </a:pPr>
            <a:r>
              <a:rPr sz="1600" b="0">
                <a:solidFill>
                  <a:srgbClr val="5A6672"/>
                </a:solidFill>
                <a:latin typeface="Malgun Gothic"/>
                <a:ea typeface="Malgun Gothic"/>
              </a:rPr>
              <a:t>    –  UNTIL TIME — 지정 시각까지</a:t>
            </a:r>
          </a:p>
          <a:p>
            <a:pPr>
              <a:spcAft>
                <a:spcPts val="600"/>
              </a:spcAft>
            </a:pPr>
            <a:r>
              <a:rPr sz="1600" b="0">
                <a:solidFill>
                  <a:srgbClr val="5A6672"/>
                </a:solidFill>
                <a:latin typeface="Malgun Gothic"/>
                <a:ea typeface="Malgun Gothic"/>
              </a:rPr>
              <a:t>    –  UNTIL CHANGE(SCN) — 지정 SCN 직전까지</a:t>
            </a:r>
          </a:p>
          <a:p>
            <a:pPr>
              <a:spcAft>
                <a:spcPts val="600"/>
              </a:spcAft>
            </a:pPr>
            <a:r>
              <a:rPr sz="1600" b="0">
                <a:solidFill>
                  <a:srgbClr val="5A6672"/>
                </a:solidFill>
                <a:latin typeface="Malgun Gothic"/>
                <a:ea typeface="Malgun Gothic"/>
              </a:rPr>
              <a:t>    –  UNTIL SEQUENCE — 지정 로그 시퀀스 직전까지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NOARCHIVELOG vs ARCHIVELOG</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a:t>
            </a:r>
          </a:p>
          <a:p>
            <a:pPr>
              <a:spcAft>
                <a:spcPts val="600"/>
              </a:spcAft>
            </a:pPr>
            <a:r>
              <a:rPr sz="1600" b="0">
                <a:solidFill>
                  <a:srgbClr val="5A6672"/>
                </a:solidFill>
                <a:latin typeface="Malgun Gothic"/>
                <a:ea typeface="Malgun Gothic"/>
              </a:rPr>
              <a:t>    –  아카이브 로그 없음 — 온라인 리두가 순환하며 덮어쓰인다</a:t>
            </a:r>
          </a:p>
          <a:p>
            <a:pPr>
              <a:spcAft>
                <a:spcPts val="600"/>
              </a:spcAft>
            </a:pPr>
            <a:r>
              <a:rPr sz="1600" b="0">
                <a:solidFill>
                  <a:srgbClr val="5A6672"/>
                </a:solidFill>
                <a:latin typeface="Malgun Gothic"/>
                <a:ea typeface="Malgun Gothic"/>
              </a:rPr>
              <a:t>    –  백업은 정상 종료 후에만, Hot Backup 불가</a:t>
            </a:r>
          </a:p>
          <a:p>
            <a:pPr>
              <a:spcAft>
                <a:spcPts val="600"/>
              </a:spcAft>
            </a:pPr>
            <a:r>
              <a:rPr sz="1600" b="0">
                <a:solidFill>
                  <a:srgbClr val="5A6672"/>
                </a:solidFill>
                <a:latin typeface="Malgun Gothic"/>
                <a:ea typeface="Malgun Gothic"/>
              </a:rPr>
              <a:t>    –  복구는 백업 시점 복귀가 기본, 리두가 남아 있으면 그만큼 더</a:t>
            </a:r>
          </a:p>
          <a:p>
            <a:pPr>
              <a:spcAft>
                <a:spcPts val="600"/>
              </a:spcAft>
            </a:pPr>
            <a:r>
              <a:rPr sz="1600" b="0">
                <a:solidFill>
                  <a:srgbClr val="5A6672"/>
                </a:solidFill>
                <a:latin typeface="Malgun Gothic"/>
                <a:ea typeface="Malgun Gothic"/>
              </a:rPr>
              <a:t>    –  '운이 좋으면 완전 복구' — 정책이라 부를 수 없다</a:t>
            </a:r>
          </a:p>
          <a:p>
            <a:pPr>
              <a:spcAft>
                <a:spcPts val="600"/>
              </a:spcAft>
            </a:pPr>
            <a:r>
              <a:rPr sz="1800" b="0">
                <a:solidFill>
                  <a:srgbClr val="202830"/>
                </a:solidFill>
                <a:latin typeface="Malgun Gothic"/>
                <a:ea typeface="Malgun Gothic"/>
              </a:rPr>
              <a:t>•  ARCHIVELOG</a:t>
            </a:r>
          </a:p>
          <a:p>
            <a:pPr>
              <a:spcAft>
                <a:spcPts val="600"/>
              </a:spcAft>
            </a:pPr>
            <a:r>
              <a:rPr sz="1600" b="0">
                <a:solidFill>
                  <a:srgbClr val="5A6672"/>
                </a:solidFill>
                <a:latin typeface="Malgun Gothic"/>
                <a:ea typeface="Malgun Gothic"/>
              </a:rPr>
              <a:t>    –  로그 스위치마다 아카이브 생성 — 리두가 영구 보존</a:t>
            </a:r>
          </a:p>
          <a:p>
            <a:pPr>
              <a:spcAft>
                <a:spcPts val="600"/>
              </a:spcAft>
            </a:pPr>
            <a:r>
              <a:rPr sz="1600" b="0">
                <a:solidFill>
                  <a:srgbClr val="5A6672"/>
                </a:solidFill>
                <a:latin typeface="Malgun Gothic"/>
                <a:ea typeface="Malgun Gothic"/>
              </a:rPr>
              <a:t>    –  Hot Backup 가능, 테이블스페이스/데이터 파일 단위 부분 복구 가능</a:t>
            </a:r>
          </a:p>
          <a:p>
            <a:pPr>
              <a:spcAft>
                <a:spcPts val="600"/>
              </a:spcAft>
            </a:pPr>
            <a:r>
              <a:rPr sz="1600" b="0">
                <a:solidFill>
                  <a:srgbClr val="5A6672"/>
                </a:solidFill>
                <a:latin typeface="Malgun Gothic"/>
                <a:ea typeface="Malgun Gothic"/>
              </a:rPr>
              <a:t>    –  백업본과 아카이브가 이어지는 한 완전 복구 가능</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유형에 따른 복구 전략</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일반 TS 데이터 파일 유실 → ARCHIVELOG면 OFFLINE·복원·복구·ONLINE (무중단)</a:t>
            </a:r>
          </a:p>
          <a:p>
            <a:pPr>
              <a:spcAft>
                <a:spcPts val="600"/>
              </a:spcAft>
            </a:pPr>
            <a:r>
              <a:rPr sz="1800" b="0">
                <a:solidFill>
                  <a:srgbClr val="202830"/>
                </a:solidFill>
                <a:latin typeface="Malgun Gothic"/>
                <a:ea typeface="Malgun Gothic"/>
              </a:rPr>
              <a:t>•  SYSTEM / UNDO 데이터 파일 유실 → MOUNT 상태에서 복원·복구 후 OPEN</a:t>
            </a:r>
          </a:p>
          <a:p>
            <a:pPr>
              <a:spcAft>
                <a:spcPts val="600"/>
              </a:spcAft>
            </a:pPr>
            <a:r>
              <a:rPr sz="1800" b="0">
                <a:solidFill>
                  <a:srgbClr val="202830"/>
                </a:solidFill>
                <a:latin typeface="Malgun Gothic"/>
                <a:ea typeface="Malgun Gothic"/>
              </a:rPr>
              <a:t>•  제어 파일 전부 유실 → 백업본 복사 또는 CREATE CONTROLFILE 재생성</a:t>
            </a:r>
          </a:p>
          <a:p>
            <a:pPr>
              <a:spcAft>
                <a:spcPts val="600"/>
              </a:spcAft>
            </a:pPr>
            <a:r>
              <a:rPr sz="1800" b="0">
                <a:solidFill>
                  <a:srgbClr val="202830"/>
                </a:solidFill>
                <a:latin typeface="Malgun Gothic"/>
                <a:ea typeface="Malgun Gothic"/>
              </a:rPr>
              <a:t>•  CURRENT 리두 로그 유실 → 완전 복구 불가, 불완전 복구 후 RESETLOGS</a:t>
            </a:r>
          </a:p>
          <a:p>
            <a:pPr>
              <a:spcAft>
                <a:spcPts val="600"/>
              </a:spcAft>
            </a:pPr>
            <a:r>
              <a:rPr sz="1800" b="0">
                <a:solidFill>
                  <a:srgbClr val="202830"/>
                </a:solidFill>
                <a:latin typeface="Malgun Gothic"/>
                <a:ea typeface="Malgun Gothic"/>
              </a:rPr>
              <a:t>•  INACTIVE 리두 로그 유실 → CLEAR LOGFILE로 재생성, 손실 없음</a:t>
            </a:r>
          </a:p>
          <a:p>
            <a:pPr>
              <a:spcAft>
                <a:spcPts val="600"/>
              </a:spcAft>
            </a:pPr>
            <a:r>
              <a:rPr sz="1800" b="0">
                <a:solidFill>
                  <a:srgbClr val="202830"/>
                </a:solidFill>
                <a:latin typeface="Malgun Gothic"/>
                <a:ea typeface="Malgun Gothic"/>
              </a:rPr>
              <a:t>•  블록 단위 손상 → Block Media Recovery, 파일 전체 복원 불필요 (16장)</a:t>
            </a:r>
          </a:p>
          <a:p>
            <a:pPr>
              <a:spcAft>
                <a:spcPts val="600"/>
              </a:spcAft>
            </a:pPr>
            <a:r>
              <a:rPr sz="1800" b="0">
                <a:solidFill>
                  <a:srgbClr val="202830"/>
                </a:solidFill>
                <a:latin typeface="Malgun Gothic"/>
                <a:ea typeface="Malgun Gothic"/>
              </a:rPr>
              <a:t>•  사용자 오류 → Flashback 계열 (18장), TRUNCATE는 RMAN Table Recovery</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Best Practice:</a:t>
            </a:r>
          </a:p>
          <a:p>
            <a:pPr>
              <a:spcAft>
                <a:spcPts val="0"/>
              </a:spcAft>
            </a:pPr>
            <a:r>
              <a:rPr sz="1250" b="0">
                <a:solidFill>
                  <a:srgbClr val="202830"/>
                </a:solidFill>
                <a:latin typeface="Malgun Gothic"/>
                <a:ea typeface="Malgun Gothic"/>
              </a:rPr>
              <a:t>복구 작업을 시작하기 전에 손상된 현재 상태를 그대로 복사해 둔다. 제어 파일 재생성이나 RESETLOGS처럼 되돌릴 수 없는 작업 직전에는 예외 없이 수행한다.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진단 정보 — Alert Log와 ADR</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ADR은 진단 정보를 모아 두는 파일 기반 저장소</a:t>
            </a:r>
          </a:p>
          <a:p>
            <a:pPr>
              <a:spcAft>
                <a:spcPts val="600"/>
              </a:spcAft>
            </a:pPr>
            <a:r>
              <a:rPr sz="1600" b="0">
                <a:solidFill>
                  <a:srgbClr val="C5CED6"/>
                </a:solidFill>
                <a:latin typeface="Malgun Gothic"/>
                <a:ea typeface="Malgun Gothic"/>
              </a:rPr>
              <a:t>•  alert log가 장애 진단의 출발점</a:t>
            </a:r>
          </a:p>
          <a:p>
            <a:pPr>
              <a:spcAft>
                <a:spcPts val="600"/>
              </a:spcAft>
            </a:pPr>
            <a:r>
              <a:rPr sz="1600" b="0">
                <a:solidFill>
                  <a:srgbClr val="C5CED6"/>
                </a:solidFill>
                <a:latin typeface="Malgun Gothic"/>
                <a:ea typeface="Malgun Gothic"/>
              </a:rPr>
              <a:t>•  adrci로 필터링 조회와 인시던트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ADR 디렉터리 구조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ADR(Automatic Diagnostic Repository) — 진단 정보 파일 저장소</a:t>
            </a:r>
          </a:p>
          <a:p>
            <a:pPr>
              <a:spcAft>
                <a:spcPts val="600"/>
              </a:spcAft>
            </a:pPr>
            <a:r>
              <a:rPr sz="1800" b="0">
                <a:solidFill>
                  <a:srgbClr val="202830"/>
                </a:solidFill>
                <a:latin typeface="Malgun Gothic"/>
                <a:ea typeface="Malgun Gothic"/>
              </a:rPr>
              <a:t>•  위치는 DIAGNOSTIC_DEST가 가리키며 기본값은 $ORACLE_BASE</a:t>
            </a:r>
          </a:p>
          <a:p>
            <a:pPr>
              <a:spcAft>
                <a:spcPts val="600"/>
              </a:spcAft>
            </a:pPr>
            <a:r>
              <a:rPr sz="1800" b="0">
                <a:solidFill>
                  <a:srgbClr val="202830"/>
                </a:solidFill>
                <a:latin typeface="Malgun Gothic"/>
                <a:ea typeface="Malgun Gothic"/>
              </a:rPr>
              <a:t>•  실제 경로: $ORACLE_BASE/diag/rdbms/&lt;db_name&gt;/&lt;SID&gt;</a:t>
            </a:r>
          </a:p>
          <a:p>
            <a:pPr>
              <a:spcAft>
                <a:spcPts val="600"/>
              </a:spcAft>
            </a:pPr>
            <a:r>
              <a:rPr sz="1800" b="0">
                <a:solidFill>
                  <a:srgbClr val="202830"/>
                </a:solidFill>
                <a:latin typeface="Malgun Gothic"/>
                <a:ea typeface="Malgun Gothic"/>
              </a:rPr>
              <a:t>•  주요 하위 디렉터리</a:t>
            </a:r>
          </a:p>
          <a:p>
            <a:pPr>
              <a:spcAft>
                <a:spcPts val="600"/>
              </a:spcAft>
            </a:pPr>
            <a:r>
              <a:rPr sz="1600" b="0">
                <a:solidFill>
                  <a:srgbClr val="5A6672"/>
                </a:solidFill>
                <a:latin typeface="Malgun Gothic"/>
                <a:ea typeface="Malgun Gothic"/>
              </a:rPr>
              <a:t>    –  trace — alert_&lt;SID&gt;.log와 각종 트레이스 파일</a:t>
            </a:r>
          </a:p>
          <a:p>
            <a:pPr>
              <a:spcAft>
                <a:spcPts val="600"/>
              </a:spcAft>
            </a:pPr>
            <a:r>
              <a:rPr sz="1600" b="0">
                <a:solidFill>
                  <a:srgbClr val="5A6672"/>
                </a:solidFill>
                <a:latin typeface="Malgun Gothic"/>
                <a:ea typeface="Malgun Gothic"/>
              </a:rPr>
              <a:t>    –  alert — XML 형식 alert log, adrci가 읽는 파일</a:t>
            </a:r>
          </a:p>
          <a:p>
            <a:pPr>
              <a:spcAft>
                <a:spcPts val="600"/>
              </a:spcAft>
            </a:pPr>
            <a:r>
              <a:rPr sz="1600" b="0">
                <a:solidFill>
                  <a:srgbClr val="5A6672"/>
                </a:solidFill>
                <a:latin typeface="Malgun Gothic"/>
                <a:ea typeface="Malgun Gothic"/>
              </a:rPr>
              <a:t>    –  incident — 심각한 오류 시 자동 생성되는 덤프</a:t>
            </a:r>
          </a:p>
          <a:p>
            <a:pPr>
              <a:spcAft>
                <a:spcPts val="600"/>
              </a:spcAft>
            </a:pPr>
            <a:r>
              <a:rPr sz="1600" b="0">
                <a:solidFill>
                  <a:srgbClr val="5A6672"/>
                </a:solidFill>
                <a:latin typeface="Malgun Gothic"/>
                <a:ea typeface="Malgun Gothic"/>
              </a:rPr>
              <a:t>    –  hm — Health Monitor 결과와 복구 스크립트, 16장 DRA가 사용</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adrci로 alert log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장애 시각 전후의 ORA 오류만 필터링해서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adrci로 alert log의 최근 오류 확인</a:t>
            </a:r>
          </a:p>
          <a:p>
            <a:pPr>
              <a:spcAft>
                <a:spcPts val="0"/>
              </a:spcAft>
            </a:pPr>
            <a:r>
              <a:rPr sz="1250" b="0">
                <a:solidFill>
                  <a:srgbClr val="E6E6E6"/>
                </a:solidFill>
                <a:latin typeface="Consolas"/>
                <a:ea typeface="Consolas"/>
              </a:rPr>
              <a:t>[oracle@oel7v9r1 ~]$ adrci</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ADRCI: Release 19.0.0.0.0 - Production</a:t>
            </a:r>
          </a:p>
          <a:p>
            <a:pPr>
              <a:spcAft>
                <a:spcPts val="0"/>
              </a:spcAft>
            </a:pPr>
            <a:r>
              <a:rPr sz="1250" b="0">
                <a:solidFill>
                  <a:srgbClr val="E6E6E6"/>
                </a:solidFill>
                <a:latin typeface="Consolas"/>
                <a:ea typeface="Consolas"/>
              </a:rPr>
              <a:t>ADR base = "/u01/app/oracle"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adrci&gt; SHOW HOMES</a:t>
            </a:r>
          </a:p>
          <a:p>
            <a:pPr>
              <a:spcAft>
                <a:spcPts val="0"/>
              </a:spcAft>
            </a:pPr>
            <a:r>
              <a:rPr sz="1250" b="0">
                <a:solidFill>
                  <a:srgbClr val="E6E6E6"/>
                </a:solidFill>
                <a:latin typeface="Consolas"/>
                <a:ea typeface="Consolas"/>
              </a:rPr>
              <a:t>ADR Homes:</a:t>
            </a:r>
          </a:p>
          <a:p>
            <a:pPr>
              <a:spcAft>
                <a:spcPts val="0"/>
              </a:spcAft>
            </a:pPr>
            <a:r>
              <a:rPr sz="1250" b="0">
                <a:solidFill>
                  <a:srgbClr val="E6E6E6"/>
                </a:solidFill>
                <a:latin typeface="Consolas"/>
                <a:ea typeface="Consolas"/>
              </a:rPr>
              <a:t>diag/rdbms/orcl/orcl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adrci&gt; SET HOME diag/rdbms/orcl/orcl</a:t>
            </a:r>
          </a:p>
          <a:p>
            <a:pPr>
              <a:spcAft>
                <a:spcPts val="0"/>
              </a:spcAft>
            </a:pPr>
            <a:r>
              <a:rPr sz="1250" b="0">
                <a:solidFill>
                  <a:srgbClr val="E6E6E6"/>
                </a:solidFill>
                <a:latin typeface="Consolas"/>
                <a:ea typeface="Consolas"/>
              </a:rPr>
              <a:t>adrci&gt; SHOW ALERT -P "MESSAGE_TEXT LIKE '%ORA-01110%'" -TERM</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2025-05-06 10:18:52.417000 +09:00</a:t>
            </a:r>
          </a:p>
          <a:p>
            <a:pPr>
              <a:spcAft>
                <a:spcPts val="0"/>
              </a:spcAft>
            </a:pPr>
            <a:r>
              <a:rPr sz="1250" b="0">
                <a:solidFill>
                  <a:srgbClr val="E6E6E6"/>
                </a:solidFill>
                <a:latin typeface="Consolas"/>
                <a:ea typeface="Consolas"/>
              </a:rPr>
              <a:t>ORA-01110: data file 7: '/u01/app/oracle/oradata/orcl/users01.dbf'</a:t>
            </a:r>
          </a:p>
          <a:p>
            <a:pPr>
              <a:spcAft>
                <a:spcPts val="0"/>
              </a:spcAft>
            </a:pPr>
            <a:r>
              <a:rPr sz="1250" b="0">
                <a:solidFill>
                  <a:srgbClr val="E6E6E6"/>
                </a:solidFill>
                <a:latin typeface="Consolas"/>
                <a:ea typeface="Consolas"/>
              </a:rPr>
              <a:t>ORA-01157: cannot identify/lock data file 7 - see DBWR trace 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adrci&gt; EXIT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인스턴스 복구와 미디어 복구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SHUTDOWN ABORT로 종료한 데이터베이스를 STARTUP 했다. 이때 수행되는 복구에 대한 설명으로 옳은 것을 모두 고르시오.</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백업본이 필요하다</a:t>
            </a:r>
          </a:p>
          <a:p>
            <a:pPr>
              <a:spcAft>
                <a:spcPts val="800"/>
              </a:spcAft>
            </a:pPr>
            <a:r>
              <a:rPr sz="1700" b="0">
                <a:solidFill>
                  <a:srgbClr val="202830"/>
                </a:solidFill>
                <a:latin typeface="Malgun Gothic"/>
                <a:ea typeface="Malgun Gothic"/>
              </a:rPr>
              <a:t>(b) SMON이 자동 수행한다</a:t>
            </a:r>
          </a:p>
          <a:p>
            <a:pPr>
              <a:spcAft>
                <a:spcPts val="800"/>
              </a:spcAft>
            </a:pPr>
            <a:r>
              <a:rPr sz="1700" b="0">
                <a:solidFill>
                  <a:srgbClr val="202830"/>
                </a:solidFill>
                <a:latin typeface="Malgun Gothic"/>
                <a:ea typeface="Malgun Gothic"/>
              </a:rPr>
              <a:t>(c) 데이터 손실이 없다</a:t>
            </a:r>
          </a:p>
          <a:p>
            <a:pPr>
              <a:spcAft>
                <a:spcPts val="800"/>
              </a:spcAft>
            </a:pPr>
            <a:r>
              <a:rPr sz="1700" b="0">
                <a:solidFill>
                  <a:srgbClr val="202830"/>
                </a:solidFill>
                <a:latin typeface="Malgun Gothic"/>
                <a:ea typeface="Malgun Gothic"/>
              </a:rPr>
              <a:t>(d) DBA가 RECOVER 명령을 내려야 한다</a:t>
            </a:r>
          </a:p>
          <a:p>
            <a:pPr>
              <a:spcAft>
                <a:spcPts val="800"/>
              </a:spcAft>
            </a:pPr>
            <a:r>
              <a:rPr sz="1700" b="0">
                <a:solidFill>
                  <a:srgbClr val="202830"/>
                </a:solidFill>
                <a:latin typeface="Malgun Gothic"/>
                <a:ea typeface="Malgun Gothic"/>
              </a:rPr>
              <a:t>(e) 온라인 리두 로그를 사용한다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리두 로그 그룹의 상태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리두 로그 그룹이 유실되었을 때 CLEAR LOGFILE로 재생성해도 데이터 손실이 없는 상태는?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CURRENT</a:t>
            </a:r>
          </a:p>
          <a:p>
            <a:pPr>
              <a:spcAft>
                <a:spcPts val="800"/>
              </a:spcAft>
            </a:pPr>
            <a:r>
              <a:rPr sz="1700" b="0">
                <a:solidFill>
                  <a:srgbClr val="202830"/>
                </a:solidFill>
                <a:latin typeface="Malgun Gothic"/>
                <a:ea typeface="Malgun Gothic"/>
              </a:rPr>
              <a:t>(b) ACTIVE</a:t>
            </a:r>
          </a:p>
          <a:p>
            <a:pPr>
              <a:spcAft>
                <a:spcPts val="800"/>
              </a:spcAft>
            </a:pPr>
            <a:r>
              <a:rPr sz="1700" b="0">
                <a:solidFill>
                  <a:srgbClr val="202830"/>
                </a:solidFill>
                <a:latin typeface="Malgun Gothic"/>
                <a:ea typeface="Malgun Gothic"/>
              </a:rPr>
              <a:t>(c) INACTIVE</a:t>
            </a:r>
          </a:p>
          <a:p>
            <a:pPr>
              <a:spcAft>
                <a:spcPts val="800"/>
              </a:spcAft>
            </a:pPr>
            <a:r>
              <a:rPr sz="1700" b="0">
                <a:solidFill>
                  <a:srgbClr val="202830"/>
                </a:solidFill>
                <a:latin typeface="Malgun Gothic"/>
                <a:ea typeface="Malgun Gothic"/>
              </a:rPr>
              <a:t>(d) UNUSED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완전 복구의 성립 조건</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완전 복구가 가능하기 위해 반드시 필요한 것을 모두 고르시오.</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복구 대상 파일의 백업본</a:t>
            </a:r>
          </a:p>
          <a:p>
            <a:pPr>
              <a:spcAft>
                <a:spcPts val="800"/>
              </a:spcAft>
            </a:pPr>
            <a:r>
              <a:rPr sz="1700" b="0">
                <a:solidFill>
                  <a:srgbClr val="202830"/>
                </a:solidFill>
                <a:latin typeface="Malgun Gothic"/>
                <a:ea typeface="Malgun Gothic"/>
              </a:rPr>
              <a:t>(b) 백업 이후 장애 시점까지의 모든 리두</a:t>
            </a:r>
          </a:p>
          <a:p>
            <a:pPr>
              <a:spcAft>
                <a:spcPts val="800"/>
              </a:spcAft>
            </a:pPr>
            <a:r>
              <a:rPr sz="1700" b="0">
                <a:solidFill>
                  <a:srgbClr val="202830"/>
                </a:solidFill>
                <a:latin typeface="Malgun Gothic"/>
                <a:ea typeface="Malgun Gothic"/>
              </a:rPr>
              <a:t>(c) ARCHIVELOG 모드</a:t>
            </a:r>
          </a:p>
          <a:p>
            <a:pPr>
              <a:spcAft>
                <a:spcPts val="800"/>
              </a:spcAft>
            </a:pPr>
            <a:r>
              <a:rPr sz="1700" b="0">
                <a:solidFill>
                  <a:srgbClr val="202830"/>
                </a:solidFill>
                <a:latin typeface="Malgun Gothic"/>
                <a:ea typeface="Malgun Gothic"/>
              </a:rPr>
              <a:t>(d) RESETLOGS 옵션</a:t>
            </a:r>
          </a:p>
          <a:p>
            <a:pPr>
              <a:spcAft>
                <a:spcPts val="800"/>
              </a:spcAft>
            </a:pPr>
            <a:r>
              <a:rPr sz="1700" b="0">
                <a:solidFill>
                  <a:srgbClr val="202830"/>
                </a:solidFill>
                <a:latin typeface="Malgun Gothic"/>
                <a:ea typeface="Malgun Gothic"/>
              </a:rPr>
              <a:t>(e) 현재 상태의 제어 파일</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SCN 비교</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MOUNT 상태에서 v$database의 CHECKPOINT_CHANGE#는 2098460인데 file# 7은 2097189였다. 옳은 해석은?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모든 파일이 일관성 있는 상태다</a:t>
            </a:r>
          </a:p>
          <a:p>
            <a:pPr>
              <a:spcAft>
                <a:spcPts val="800"/>
              </a:spcAft>
            </a:pPr>
            <a:r>
              <a:rPr sz="1700" b="0">
                <a:solidFill>
                  <a:srgbClr val="202830"/>
                </a:solidFill>
                <a:latin typeface="Malgun Gothic"/>
                <a:ea typeface="Malgun Gothic"/>
              </a:rPr>
              <a:t>(b) file# 7만 뒤처져 있어 리두 적용이 필요하다</a:t>
            </a:r>
          </a:p>
          <a:p>
            <a:pPr>
              <a:spcAft>
                <a:spcPts val="800"/>
              </a:spcAft>
            </a:pPr>
            <a:r>
              <a:rPr sz="1700" b="0">
                <a:solidFill>
                  <a:srgbClr val="202830"/>
                </a:solidFill>
                <a:latin typeface="Malgun Gothic"/>
                <a:ea typeface="Malgun Gothic"/>
              </a:rPr>
              <a:t>(c) 제어 파일이 손상되었다</a:t>
            </a:r>
          </a:p>
          <a:p>
            <a:pPr>
              <a:spcAft>
                <a:spcPts val="800"/>
              </a:spcAft>
            </a:pPr>
            <a:r>
              <a:rPr sz="1700" b="0">
                <a:solidFill>
                  <a:srgbClr val="202830"/>
                </a:solidFill>
                <a:latin typeface="Malgun Gothic"/>
                <a:ea typeface="Malgun Gothic"/>
              </a:rPr>
              <a:t>(d) file# 7을 삭제하고 재생성해야 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5</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커밋과 데이터 파일</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COMMIT이 반환된 직후 보장되는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변경된 블록이 데이터 파일에 기록되었다</a:t>
            </a:r>
          </a:p>
          <a:p>
            <a:pPr>
              <a:spcAft>
                <a:spcPts val="800"/>
              </a:spcAft>
            </a:pPr>
            <a:r>
              <a:rPr sz="1700" b="0">
                <a:solidFill>
                  <a:srgbClr val="202830"/>
                </a:solidFill>
                <a:latin typeface="Malgun Gothic"/>
                <a:ea typeface="Malgun Gothic"/>
              </a:rPr>
              <a:t>(b) 리두 엔트리가 리두 로그 파일에 기록되었다</a:t>
            </a:r>
          </a:p>
          <a:p>
            <a:pPr>
              <a:spcAft>
                <a:spcPts val="800"/>
              </a:spcAft>
            </a:pPr>
            <a:r>
              <a:rPr sz="1700" b="0">
                <a:solidFill>
                  <a:srgbClr val="202830"/>
                </a:solidFill>
                <a:latin typeface="Malgun Gothic"/>
                <a:ea typeface="Malgun Gothic"/>
              </a:rPr>
              <a:t>(c) 체크포인트가 완료되었다</a:t>
            </a:r>
          </a:p>
          <a:p>
            <a:pPr>
              <a:spcAft>
                <a:spcPts val="800"/>
              </a:spcAft>
            </a:pPr>
            <a:r>
              <a:rPr sz="1700" b="0">
                <a:solidFill>
                  <a:srgbClr val="202830"/>
                </a:solidFill>
                <a:latin typeface="Malgun Gothic"/>
                <a:ea typeface="Malgun Gothic"/>
              </a:rPr>
              <a:t>(d) 아카이브 로그가 생성되었다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6</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복원과 복구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'복원(restore)'과 '복구(recover)'의 구분으로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복원은 리두 적용, 복구는 파일 되돌리기다</a:t>
            </a:r>
          </a:p>
          <a:p>
            <a:pPr>
              <a:spcAft>
                <a:spcPts val="800"/>
              </a:spcAft>
            </a:pPr>
            <a:r>
              <a:rPr sz="1700" b="0">
                <a:solidFill>
                  <a:srgbClr val="202830"/>
                </a:solidFill>
                <a:latin typeface="Malgun Gothic"/>
                <a:ea typeface="Malgun Gothic"/>
              </a:rPr>
              <a:t>(b) 복원은 백업본을 제자리에 되돌리는 것, 복구는 그 위에 리두를 적용하는 것이다</a:t>
            </a:r>
          </a:p>
          <a:p>
            <a:pPr>
              <a:spcAft>
                <a:spcPts val="800"/>
              </a:spcAft>
            </a:pPr>
            <a:r>
              <a:rPr sz="1700" b="0">
                <a:solidFill>
                  <a:srgbClr val="202830"/>
                </a:solidFill>
                <a:latin typeface="Malgun Gothic"/>
                <a:ea typeface="Malgun Gothic"/>
              </a:rPr>
              <a:t>(c) 두 용어는 같은 작업을 가리킨다</a:t>
            </a:r>
          </a:p>
          <a:p>
            <a:pPr>
              <a:spcAft>
                <a:spcPts val="800"/>
              </a:spcAft>
            </a:pPr>
            <a:r>
              <a:rPr sz="1700" b="0">
                <a:solidFill>
                  <a:srgbClr val="202830"/>
                </a:solidFill>
                <a:latin typeface="Malgun Gothic"/>
                <a:ea typeface="Malgun Gothic"/>
              </a:rPr>
              <a:t>(d) 복원은 ARCHIVELOG에서만, 복구는 NOARCHIVELOG에서만 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장애 6유형 중 백업본이 필요한 것은 미디어 실패뿐 — 사용자 오류는 Flashback, 인스턴스 실패는 자동 복구</a:t>
            </a:r>
          </a:p>
          <a:p>
            <a:pPr>
              <a:spcAft>
                <a:spcPts val="600"/>
              </a:spcAft>
            </a:pPr>
            <a:r>
              <a:rPr sz="1800" b="0">
                <a:solidFill>
                  <a:srgbClr val="202830"/>
                </a:solidFill>
                <a:latin typeface="Malgun Gothic"/>
                <a:ea typeface="Malgun Gothic"/>
              </a:rPr>
              <a:t>•  복구 설계는 RPO·RTO에서 출발 — RPO 0이면 ARCHIVELOG와 다중화가 필수</a:t>
            </a:r>
          </a:p>
          <a:p>
            <a:pPr>
              <a:spcAft>
                <a:spcPts val="600"/>
              </a:spcAft>
            </a:pPr>
            <a:r>
              <a:rPr sz="1800" b="0">
                <a:solidFill>
                  <a:srgbClr val="202830"/>
                </a:solidFill>
                <a:latin typeface="Malgun Gothic"/>
                <a:ea typeface="Malgun Gothic"/>
              </a:rPr>
              <a:t>•  복구 관여 파일: 데이터/제어/온라인 리두/아카이브/파라미터 — 제어 파일과 리두는 다중화로 예방</a:t>
            </a:r>
          </a:p>
          <a:p>
            <a:pPr>
              <a:spcAft>
                <a:spcPts val="600"/>
              </a:spcAft>
            </a:pPr>
            <a:r>
              <a:rPr sz="1800" b="0">
                <a:solidFill>
                  <a:srgbClr val="202830"/>
                </a:solidFill>
                <a:latin typeface="Malgun Gothic"/>
                <a:ea typeface="Malgun Gothic"/>
              </a:rPr>
              <a:t>•  SCN이 복구 판단 기준 — 제어 파일과 데이터 파일 헤더의 값이 일치하면 일관성 있는 상태</a:t>
            </a:r>
          </a:p>
          <a:p>
            <a:pPr>
              <a:spcAft>
                <a:spcPts val="600"/>
              </a:spcAft>
            </a:pPr>
            <a:r>
              <a:rPr sz="1800" b="0">
                <a:solidFill>
                  <a:srgbClr val="202830"/>
                </a:solidFill>
                <a:latin typeface="Malgun Gothic"/>
                <a:ea typeface="Malgun Gothic"/>
              </a:rPr>
              <a:t>•  리두는 롤포워드, 언두는 롤백 — 커밋은 리두 기록만 보장하므로 데이터 파일은 항상 과거</a:t>
            </a:r>
          </a:p>
          <a:p>
            <a:pPr>
              <a:spcAft>
                <a:spcPts val="600"/>
              </a:spcAft>
            </a:pPr>
            <a:r>
              <a:rPr sz="1800" b="0">
                <a:solidFill>
                  <a:srgbClr val="202830"/>
                </a:solidFill>
                <a:latin typeface="Malgun Gothic"/>
                <a:ea typeface="Malgun Gothic"/>
              </a:rPr>
              <a:t>•  인스턴스 복구는 자동·무손실, 미디어 복구는 DBA 수행·손실 가능</a:t>
            </a:r>
          </a:p>
          <a:p>
            <a:pPr>
              <a:spcAft>
                <a:spcPts val="600"/>
              </a:spcAft>
            </a:pPr>
            <a:r>
              <a:rPr sz="1800" b="0">
                <a:solidFill>
                  <a:srgbClr val="202830"/>
                </a:solidFill>
                <a:latin typeface="Malgun Gothic"/>
                <a:ea typeface="Malgun Gothic"/>
              </a:rPr>
              <a:t>•  완전 복구 = 백업본 + 전체 리두 + 현재 제어 파일, 하나라도 없으면 불완전 복구 후 RESETLOGS</a:t>
            </a:r>
          </a:p>
          <a:p>
            <a:pPr>
              <a:spcAft>
                <a:spcPts val="600"/>
              </a:spcAft>
            </a:pPr>
            <a:r>
              <a:rPr sz="1800" b="0">
                <a:solidFill>
                  <a:srgbClr val="202830"/>
                </a:solidFill>
                <a:latin typeface="Malgun Gothic"/>
                <a:ea typeface="Malgun Gothic"/>
              </a:rPr>
              <a:t>•  진단은 v$instance STATUS → v$database OPEN_MODE → alert log 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목적: 복구 작업이 아니라, 이후 모든 시나리오에서 쓸 확인 절차를 익힌다</a:t>
            </a:r>
          </a:p>
          <a:p>
            <a:pPr>
              <a:spcAft>
                <a:spcPts val="600"/>
              </a:spcAft>
            </a:pPr>
            <a:r>
              <a:rPr sz="1800" b="0">
                <a:solidFill>
                  <a:srgbClr val="202830"/>
                </a:solidFill>
                <a:latin typeface="Malgun Gothic"/>
                <a:ea typeface="Malgun Gothic"/>
              </a:rPr>
              <a:t>•  실습 1-1  백업 대상 파일 확인 — 통합 조회, 다중화 점검, TEMP의 예외적 성격</a:t>
            </a:r>
          </a:p>
          <a:p>
            <a:pPr>
              <a:spcAft>
                <a:spcPts val="600"/>
              </a:spcAft>
            </a:pPr>
            <a:r>
              <a:rPr sz="1800" b="0">
                <a:solidFill>
                  <a:srgbClr val="202830"/>
                </a:solidFill>
                <a:latin typeface="Malgun Gothic"/>
                <a:ea typeface="Malgun Gothic"/>
              </a:rPr>
              <a:t>•  실습 1-2  인스턴스 복구 동작 확인 — SHUTDOWN ABORT 후 crash recovery 관찰</a:t>
            </a:r>
          </a:p>
          <a:p>
            <a:pPr>
              <a:spcAft>
                <a:spcPts val="600"/>
              </a:spcAft>
            </a:pPr>
            <a:r>
              <a:rPr sz="1800" b="0">
                <a:solidFill>
                  <a:srgbClr val="202830"/>
                </a:solidFill>
                <a:latin typeface="Malgun Gothic"/>
                <a:ea typeface="Malgun Gothic"/>
              </a:rPr>
              <a:t>•  실습 1-3  체크포인트와 SCN 흐름 추적 — 커밋·로그 스위치의 영향 비교</a:t>
            </a:r>
          </a:p>
          <a:p>
            <a:pPr>
              <a:spcAft>
                <a:spcPts val="600"/>
              </a:spcAft>
            </a:pPr>
            <a:r>
              <a:rPr sz="1800" b="0">
                <a:solidFill>
                  <a:srgbClr val="202830"/>
                </a:solidFill>
                <a:latin typeface="Malgun Gothic"/>
                <a:ea typeface="Malgun Gothic"/>
              </a:rPr>
              <a:t>•  실습 1-4  백업 스크립트 생성 — 조회 결과로 OS 복사 명령 자동 생성, PFILE·CF 트레이스 확보</a:t>
            </a:r>
          </a:p>
          <a:p>
            <a:pPr>
              <a:spcAft>
                <a:spcPts val="600"/>
              </a:spcAft>
            </a:pPr>
            <a:r>
              <a:rPr sz="1800" b="0">
                <a:solidFill>
                  <a:srgbClr val="202830"/>
                </a:solidFill>
                <a:latin typeface="Malgun Gothic"/>
                <a:ea typeface="Malgun Gothic"/>
              </a:rPr>
              <a:t>•  실습 1-5  Alert Log와 ADR 확인 — v$diag_info로 경로 확인 후 adrci 필터 조회</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 환경은 non-CDB ORCL이며 SQL*Plus에 SYSDBA로 접속해 수행한다. 1-2의 SHUTDOWN ABORT는 파일을 손상시키지 않으므로 안전하나, 다른 사용자가 접속한 환경에서는 수행하지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
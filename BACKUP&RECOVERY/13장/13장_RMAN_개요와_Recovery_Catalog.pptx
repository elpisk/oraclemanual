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4~12장은 OS 명령과 SQL*Plus로 백업하고 복구하는 User Managed 방식을 다뤘다. 13장부터 16장까지는 같은 일을 RMAN으로 수행한다. 13장은 그 준비 단계이며 백업 명령 자체는 14장에서 다룬다. 여기서 만든 설정과 카탈로그가 14~16장 실습의 전제가 된다. 환경은 non-CDB ORCL과 카탈로그용 별도 인스턴스 RCAT을 사용한다.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목표는 도구 사용법이 아니라 환경 설계에 있다. RMAN 명령 자체는 단순하지만 리포지터리를 무엇으로 할지, 보존 정책을 어떻게 정할지가 운영의 품질을 좌우한다. 여섯 목표는 각각 13.1 / 13.2 / 13.3 / 13.4 / 13.5 / 13.6 절과 대응된다. 명령 자체는 단순하므로 설계 판단에 시간을 배분한다. 실습이 일곱 개이며 13-2와 13-3은 이어서 수행해야 의미가 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세 절이 구조와 리포지터리를 다루고 뒤의 세 절이 운영 설정을 다룬다. 13.6절 끝의 대조표가 User Managed와 RMAN의 차이를 한 장으로 정리하므로 이 장의 결론에 해당한다. 실습은 일곱 개이며 접속에서 시작해 스크립트 실행으로 끝난다. 각 절이 앞 절의 결론 위에 쌓이는 구조이므로 순서를 건너뛰지 않는 편이 좋다. 13.6절 끝의 대조표가 이 장의 결론에 해당한다.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13.1절은 RMAN이 무엇을 대신해 주는지에서 출발한다. 4~12장에서 사람이 직접 처리한 일이 네 가지 있었고 그 대부분이 기록과 기억에 의존했다. RMAN은 그 기록을 도구가 갖도록 만든 것이다. 구성 요소를 이해하면 이후 명령이 어디에서 실행되는지 자연스럽게 알 수 있다. 구성 요소를 이해하면 이후 명령이 어디에서 실행되는지 자연스럽게 알 수 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번째가 특히 문제다. 백업 파일이 손상되어도 복구를 시도하기 전까지 알 수 없었다. RMAN은 백업 시점에 블록 체크섬을 검사하고 VALIDATE 명령으로 사후 확인도 제공한다. 다만 어느 시점까지 복구할지, 손실 범위가 얼마인지는 여전히 사람이 판단한다. 그 판단의 근거가 4~12장에서 배운 내용이다. 네 가지 부담이 그대로 RMAN의 기능 목록이 된다는 점을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채널은 실제 입출력을 담당하는 서버 프로세스이며 백업 시작 시 자동으로 할당된다. 채널 수가 곧 병렬도이므로 디스크 성능에 맞춰 조정한다. 미디어 관리 계층은 테이프를 쓸 때만 필요하며 디스크 백업 환경에서는 등장하지 않는다. 보조 인스턴스는 17장과 16장에서 다시 나온다. 구성 요소를 이해하면 이후 명령이 어디에서 실행되는지 자연스럽게 알 수 있다. 채널 수를 무작정 늘리면 디스크가 병목이 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접속 시 DBID가 표시된다는 점을 기억해야 한다. 컨트롤파일과 spfile을 모두 잃은 상황에서 자동 백업을 찾을 때 DBID가 필요하기 때문이다. 백업 매니페스트에 DBID를 기록해 두는 이유가 여기에 있다. 권한은 SYSDBA 대신 SYSBACKUP을 쓰는 편이 권한 최소화 원칙에 맞는다. 권한 최소화 원칙에 따라 운영에서는 SYSBACKUP 사용을 권한다.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블록과 CONFIGURE의 차이를 혼동하면 원하는 설정이 적용되지 않는다. RUN 블록 안의 ALLOCATE CHANNEL 은 그 블록에서만 유효하고 CONFIGURE CHANNEL 은 계속 유지된다. 배치 작업은 cmdfile 로 실행하고 로그를 반드시 남긴다. 실패했을 때 유일한 근거가 로그다. 배치 작업에서 로그를 남기지 않으면 실패 원인을 추적할 수 없다.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 Managed 방식의 백업 매니페스트에 해당하는 정보를 RMAN이 스스로 갖고 있다. 이것이 첫 번째 차이다. 임시 파일이 표시되지만 BACKUP DATABASE 는 이 파일을 백업하지 않는다. 영구 데이터가 없어 복구 대상이 아니기 때문이며 복구 후 자동으로 다시 만들어진다. 매번 ADD TEMPFILE 을 수행하던 단계가 사라지는 셈이다. 복구 후 TEMP 자동 재생성은 실무에서 체감되는 편의 중 하나다.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13.2절은 기본 리포지터리인 컨트롤파일을 다룬다. 별도 설정 없이도 RMAN이 동작하는 이유가 여기에 있다. 다만 컨트롤파일의 백업 기록은 순환 구조라 오래된 것이 덮인다. 이 한계를 이해해야 카탈로그를 도입할지 판단할 수 있다. 컨트롤파일 자체를 잃는 위험도 함께 다룬다. 카탈로그 도입 여부를 판단하려면 이 절의 한계를 먼저 이해해야 한다. 별도 설정 없이 RMAN이 동작하는 이유도 여기에 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기록 수명이 지나면 백업 파일이 남아 있어도 RMAN이 그 존재를 모르게 된다. 보존 정책 기간보다 이 값을 크게 잡는 것이 원칙이다. 보존 정책은 31일인데 기록 수명이 7일이면 기록이 먼저 사라져 DELETE OBSOLETE 가 삭제 대상을 찾지 못한다. 그러면 백업 파일만 계속 쌓인다. 값을 늘리면 컨트롤파일 크기가 커지므로 무한정 늘릴 수는 없다. 기록 수명과 보존 정책이 어긋난 환경이 실무에서 자주 발견된다.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기본값이 OFF이지만 운영 환경에서 끄고 쓸 이유가 없다. 백업마다 몇 초가 더 걸릴 뿐이며 그 대가로 리포지터리 자체의 사본을 얻는다. FORMAT에 %F 를 포함해야 DBID가 파일명에 들어가고 컨트롤파일을 모두 잃은 상태에서도 SET DBID 로 찾아낼 수 있다. 자동 백업 파일은 데이터 디스크와 분리한다. 16장에서 spfile 복구 절차를 다룰 때 이 설정이 전제가 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카탈로그를 쓰더라도 컨트롤파일 기록은 그대로 유지된다. 카탈로그는 그 사본이자 확장이며 대체가 아니다. 카탈로그에 접속하지 못해도 nocatalog로 복구를 진행할 수 있다는 점이 중요하다. 실제로 카탈로그를 운영 서버와 같은 장비에 두었다가 함께 잃은 사례가 있다. 그때도 컨트롤파일 자동 백업이 켜져 있어 복구할 수 있었다. 카탈로그가 없어도 복구할 수 있는 구성을 유지하는 것이 원칙이다.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13.3절은 카탈로그를 실제로 만드는 절차다. 별도 데이터베이스의 한 스키마이며 전용 테이블스페이스에 담는 것이 원칙이다. 네트워크 구성이 전제이므로 sqlplus 접속을 먼저 확인한 뒤 RMAN으로 넘어가면 문제를 좁히기 쉽다. 카탈로그도 관리 대상이라는 점을 마지막에 다룬다. 네트워크 구성이 전제이므로 sqlplus 접속 확인부터 시작한다. 카탈로그도 관리 대상이라는 점을 마지막에 다룬다.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전용 테이블스페이스를 만들어 그 안에만 저장되도록 제한한다. 크기는 데이터베이스 하나당 연간 수십 MB 수준이며 백업 빈도에 비례한다. RECOVERY_CATALOG_OWNER 롤에는 CONNECT와 카탈로그 생성 권한이 들어 있으므로 DBA 롤을 주지 않는다. 카탈로그 스키마 버전은 접속에 쓰는 RMAN 실행 파일 버전 이상이어야 한다. 카탈로그 크기는 대상 수와 백업 빈도에 비례해 늘어난다.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등록 시 컨트롤파일의 기존 메타데이터가 카탈로그로 복사된다. 등록 전에 받은 백업 정보도 함께 들어온다. 이 동기화를 RESYNC라 하며 이후 백업이나 복구 명령을 수행할 때마다 자동으로 일어난다. 구조 변경만 있고 백업이 없었다면 RESYNC CATALOG 를 수동으로 수행해야 최신 상태가 된다. 구조 변경만 있고 백업이 없었다면 RESYNC를 수동으로 수행해야 최신 상태가 된다. 실습 13-3에서 직접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RC_ 로 시작하는 뷰들이 카탈로그 소유자 스키마에 만들어진다. LIST 명령이 조회하는 원본이 이 뷰들이다. 등록 해제는 카탈로그의 기록만 지운다. 백업 파일 자체는 그대로 남고 컨트롤파일 기록도 유지된다. 되돌리려면 REGISTER DATABASE 를 다시 수행하면 된다. 이름이 같은 대상이 여럿이면 DBID로 지정한다. RC_ 뷰는 LIST 명령이 조회하는 원본이므로 직접 조회해 볼 만하다.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카탈로그도 데이터베이스이므로 관리가 필요하다는 점이 자주 잊힌다. 대상을 상위 버전으로 업그레이드하면 카탈로그도 UPGRADE CATALOG 가 필요할 수 있다. 여러 카탈로그를 하나로 합칠 때는 IMPORT CATALOG 를 쓴다. rcver 테이블로 현재 카탈로그 버전을 확인할 수 있다. 카탈로그도 데이터베이스라는 사실이 자주 잊힌다는 점을 강조한다. 잃으면 백업 이력 전체를 함께 잃는다.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13.4절은 백업 환경을 표준화하는 설정을 다룬다. 매번 명령에 옵션을 붙이는 대신 CONFIGURE 로 한 번 정해 두면 이후 명령이 단순해진다. 실무에서 손대는 항목은 대여섯 개뿐이며 나머지는 기본값으로 두어도 무리가 없다. SHOW ALL 출력이 그대로 실행 가능한 문 목록이라는 점이 유용하다. 설정을 파일로 남겨 형상 관리에 포함하는 습관을 권한다.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인수인계 시 이 목록을 그대로 캡처해 두면 환경 파악이 빠르다. v$rman_configuration 뷰로도 같은 내용을 조회할 수 있다. 출력이 그대로 실행 가능한 CONFIGURE 문 목록이므로 설정을 다른 환경으로 옮기거나 컨트롤파일 재생성 후 복원할 때 그대로 쓸 수 있다. 형상 관리에 이 파일을 포함하는 것을 권한다. 컨트롤파일을 재생성하면 이 설정이 초기화된다는 점에 주의한다.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FORMAT에 %U 를 쓰면 이름 충돌이 나지 않는다. 직접 규칙을 정할 때는 %s 와 %p 를 반드시 포함해야 겹치지 않는다. 날짜를 넣으면 파일 목록만 보고도 언제 받은 것인지 알 수 있다. 채널별로 다른 디스크를 지정하면 처리량이 올라가고, BACKUP COPIES 를 2로 하면 조각이 두 벌 만들어진다. FORMAT 규칙을 정해 두면 파일 목록만 보고도 내용을 알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스냅샷 경로에 쓰기 권한이 없으면 백업이 ORA-00245로 실패한다. 오류 메시지는 컨트롤파일 백업 실패로 나오지만 실제 원인은 파일 시스템 권한인 경우가 대부분이다. MAXSETSIZE는 백업 세트 하나의 최대 크기이므로 조각 단위 크기를 제한하려면 BACKUP 명령의 MAXPIECESIZE 를 쓴다. 두 옵션을 혼동하기 쉽다. 두 옵션의 이름이 비슷해 혼동하기 쉬우므로 함께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13.5절은 백업을 언제까지 두고 언제 지울지 다룬다. 보존 정책이 판정 기준을 만들고 DELETE 명령이 실제 삭제를 수행한다. 두 단계로 나뉘어 있다는 점이 중요하다. CROSSCHECK는 기록과 실제 파일의 어긋남을 바로잡는 명령이며 정기 작업에 포함한다. 정책과 삭제가 두 단계로 나뉘어 있다는 점이 핵심이다. CROSSCHECK는 기록과 실제 파일의 어긋남을 바로잡는 명령이다.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REDUNDANCY는 개수 기준이라 백업 주기가 불규칙하면 실제 보존 기간이 흔들린다. RECOVERY WINDOW는 시점 기준이라 복구 요건을 직접 표현한다. 복구 요건이 문서로 정해져 있다면 RECOVERY WINDOW가 맞는다. 어느 쪽이든 판정 기준일 뿐이며 DELETE OBSOLETE 를 수행해야 실제로 지워진다. FRA를 쓰는 경우에만 공간 압박 시 자동 삭제가 일어난다. 복구 요건 문서가 있다면 RECOVERY WINDOW를 선택한다.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EXPIRED는 파일이 실제로 없는 상태이고 OBSOLETE는 파일은 있지만 정책상 필요 없어진 상태다. 디스크가 찼다고 rm 으로 백업 조각을 지우면 리포지터리에 기록만 남아 복원 시 실패한다. 삭제는 DELETE 명령으로 수행하고, 이미 지웠다면 CROSSCHECK 후 DELETE EXPIRED 로 기록을 정리한다. 반대로 OS 명령으로 옮겨 온 백업은 CATALOG 명령으로 등록할 수 있다. 실습 13-6에서 이 과정을 직접 재현한다.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LIST는 리포지터리에 무엇이 있는지 그대로 보여 주고 REPORT는 정책을 적용한 판단 결과를 보여 준다. REPORT UNRECOVERABLE 은 정기 점검 항목으로 넣을 만하다. NOLOGGING 로드 이후 백업을 받지 않으면 그 구간은 복구할 수 없으므로 이 목록에 파일이 나오면 즉시 해당 파일을 백업한다. LIST INCARNATION 은 RESETLOGS 이력을 확인할 때 쓴다. LIST INCARNATION은 RESETLOGS 이력을 확인할 때 쓴다.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13.6절은 절차를 고정하는 방법을 다룬다. Stored Script는 카탈로그에 저장되므로 카탈로그 접속이 전제이며 nocatalog 환경에서는 cmdfile 로 실행하는 스크립트 파일을 쓴다. 마지막의 대조표가 이 장의 결론에 해당하므로 시간을 들여 설명한다. 절차를 문서가 아니라 시스템에 고정한다는 점이 Stored Script의 가치다. nocatalog 환경에서는 cmdfile 방식으로 대체한다.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스크립트에 파라미터를 넘길 수도 있다. &amp;1 형태의 치환 변수를 쓰고 USING 절로 값을 전달하며 테이블스페이스 이름처럼 매번 달라지는 값에 유용하다. GLOBAL 키워드를 붙이면 카탈로그의 모든 대상이 함께 쓴다. 편리한 만큼 영향 범위가 넓으므로 변경 전에 검토가 필요하다. 파일로 내보내고 들여올 수도 있다. 치환 변수를 쓰면 대상별 경로 차이를 흡수할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로그에서 RMAN- 문자열을 찾는 것이 가장 단순한 실패 판정이다. 종료 코드만으로는 부분 실패를 놓칠 수 있다. 쉘 스크립트가 환경 변수를 설정하고 rman 을 cmdfile 로 호출하는 구조가 표준이다. 크론에서는 프로필이 읽히지 않으므로 환경 변수를 스크립트 안에서 반드시 설정한다. 성공했더라도 경고가 있는지 주기적으로 확인한다. 크론에서는 프로필이 읽히지 않는다는 점을 반드시 짚는다.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표의 아래 두 행이 이 과정 전체의 결론이다. RMAN은 손을 덜어 주지만 판단을 대신하지 않는다. 무엇을 어디까지 복구할지는 여전히 사람이 정하며 그 판단의 근거가 4~12장에서 배운 내용이다. RMAN이 실패했을 때 무슨 일이 일어나는지 알아야 대응할 수 있다는 점도 같다. 이 표를 15장 첫 시간에 다시 꺼내면 복구 절차의 대응이 분명해진다. 이 표를 15장 첫 시간에 다시 꺼내 복구 절차와 대조해도 좋다.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표를 절차서의 부록으로 두면 점검이 빨라진다. 백업 위치 여유는 전체 데이터 크기의 두 배 이상을 권한다. 압축을 쓰면 줄어들지만 여유 없이 운영하면 백업 실패가 잦아진다. 기록 수명과 보존 정책의 관계가 어긋나 있는 환경이 실무에서 자주 발견되므로 이 두 항목은 반드시 함께 확인한다. 두 항목이 어긋난 환경이 자주 발견되므로 기록 수명과 보존 정책은 반드시 함께 확인한다. 인수인계 시 이 표를 그대로 쓴다.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접속 시 'using target database control file instead of recovery catalog' 메시지가 그 사실을 알려 준다. 컨트롤파일 기록은 기본 7일 후 덮일 수 있으므로 보존 기간이 길면 control_file_record_keep_time 을 늘리거나 카탈로그를 도입한다. 카탈로그를 쓰더라도 컨트롤파일 기록은 그대로 유지된다. 카탈로그를 쓰더라도 컨트롤파일 기록은 그대로 유지된다.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CROSSCHECK가 EXPIRED를 판정하고 보존 정책이 OBSOLETE를 판정한다. 정기 작업에는 DELETE EXPIRED 와 DELETE OBSOLETE 를 함께 넣는다. 백업 파일을 OS 명령으로 지우면 기록만 남아 복원 시 실패하므로 삭제는 DELETE 명령으로 수행한다. OS 명령으로 백업을 지우지 않는 원칙을 다시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%F 는 c-DBID-YYYYMMDD-NN 형식으로 치환된다. 컨트롤파일과 spfile을 모두 잃은 상황에서 SET DBID 후 자동 백업을 복원하는 절차의 전제가 된다. 그래서 DBID를 백업 매니페스트에도 함께 남겨 둔다. 16장에서 그 복구 절차를 다룬다. DBID를 매니페스트에 남겨 두는 이유와 연결해 설명한다. 자동 백업 파일은 데이터 디스크와 분리된 위치에 둔다.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줄이 이 장의 결론이다. 도구가 바뀌어도 4~12장에서 세운 판정 흐름은 그대로 쓰인다. 13장에서 만든 설정과 카탈로그가 14장 백업 실습의 전제가 되므로 실습을 반드시 수행한 상태로 다음 장에 들어간다. 다음 장부터 실제 백업 명령을 다룬다. 13장 설정이 14장 실습의 전제이므로 실습을 반드시 수행한 상태로 다음 장에 들어간다. 다음 장부터 실제 백업 명령을 다룬다.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실습이 접속에서 시작해 스크립트 실행으로 끝나는 순서로 배열되어 있다. 13-2와 13-3은 함께 수행해야 의미가 있으므로 시간을 붙여 배치한다. 13-6에서 백업 파일을 OS 명령으로 지운 뒤 EXPIRED 판정을 확인하는 부분이 이 장에서 가장 인상적인 실습이다. RCAT 인스턴스 기동과 리스너 설정을 실습 전에 확인한다. 13-6의 EXPIRED 판정 실습이 가장 인상적인 부분이다.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ea typeface="Malgun Gothic"/>
              </a:rPr>
              <a:t>Oracle Database 19c Backup &amp; Recovery  ·  제13장</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ea typeface="Malgun Gothic"/>
              </a:rPr>
              <a:t>RMAN 개요·구성과 Recovery Catalog</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ea typeface="Malgun Gothic"/>
              </a:rPr>
              <a:t>구성 요소 · 접속 · 컨트롤파일 리포지터리 · 카탈로그 · CONFIGURE · 보존 정책 · Stored Script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 장을 마치면 다음을 수행할 수 있어야 한다.</a:t>
            </a:r>
          </a:p>
          <a:p>
            <a:pPr>
              <a:spcAft>
                <a:spcPts val="600"/>
              </a:spcAft>
            </a:pPr>
            <a:r>
              <a:rPr sz="1600" b="0">
                <a:solidFill>
                  <a:srgbClr val="5A6672"/>
                </a:solidFill>
                <a:latin typeface="Malgun Gothic"/>
                <a:ea typeface="Malgun Gothic"/>
              </a:rPr>
              <a:t>    –  RMAN의 구성 요소와 접속 방식을 설명한다</a:t>
            </a:r>
          </a:p>
          <a:p>
            <a:pPr>
              <a:spcAft>
                <a:spcPts val="600"/>
              </a:spcAft>
            </a:pPr>
            <a:r>
              <a:rPr sz="1600" b="0">
                <a:solidFill>
                  <a:srgbClr val="5A6672"/>
                </a:solidFill>
                <a:latin typeface="Malgun Gothic"/>
                <a:ea typeface="Malgun Gothic"/>
              </a:rPr>
              <a:t>    –  컨트롤파일 리포지터리의 한계를 근거로 카탈로그 필요성을 판단한다</a:t>
            </a:r>
          </a:p>
          <a:p>
            <a:pPr>
              <a:spcAft>
                <a:spcPts val="600"/>
              </a:spcAft>
            </a:pPr>
            <a:r>
              <a:rPr sz="1600" b="0">
                <a:solidFill>
                  <a:srgbClr val="5A6672"/>
                </a:solidFill>
                <a:latin typeface="Malgun Gothic"/>
                <a:ea typeface="Malgun Gothic"/>
              </a:rPr>
              <a:t>    –  Recovery Catalog를 구성하고 대상을 등록한다</a:t>
            </a:r>
          </a:p>
          <a:p>
            <a:pPr>
              <a:spcAft>
                <a:spcPts val="600"/>
              </a:spcAft>
            </a:pPr>
            <a:r>
              <a:rPr sz="1600" b="0">
                <a:solidFill>
                  <a:srgbClr val="5A6672"/>
                </a:solidFill>
                <a:latin typeface="Malgun Gothic"/>
                <a:ea typeface="Malgun Gothic"/>
              </a:rPr>
              <a:t>    –  CONFIGURE 영구 설정으로 백업 환경을 표준화한다</a:t>
            </a:r>
          </a:p>
          <a:p>
            <a:pPr>
              <a:spcAft>
                <a:spcPts val="600"/>
              </a:spcAft>
            </a:pPr>
            <a:r>
              <a:rPr sz="1600" b="0">
                <a:solidFill>
                  <a:srgbClr val="5A6672"/>
                </a:solidFill>
                <a:latin typeface="Malgun Gothic"/>
                <a:ea typeface="Malgun Gothic"/>
              </a:rPr>
              <a:t>    –  보존 정책을 세우고 불필요한 백업을 정리한다</a:t>
            </a:r>
          </a:p>
          <a:p>
            <a:pPr>
              <a:spcAft>
                <a:spcPts val="600"/>
              </a:spcAft>
            </a:pPr>
            <a:r>
              <a:rPr sz="1600" b="0">
                <a:solidFill>
                  <a:srgbClr val="5A6672"/>
                </a:solidFill>
                <a:latin typeface="Malgun Gothic"/>
                <a:ea typeface="Malgun Gothic"/>
              </a:rPr>
              <a:t>    –  Stored Script로 운영 절차를 고정한다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13.1  RMAN의 구조와 접속 — 구성 요소 · 접속 방식 · REPORT SCHEMA</a:t>
            </a:r>
          </a:p>
          <a:p>
            <a:pPr>
              <a:spcAft>
                <a:spcPts val="600"/>
              </a:spcAft>
            </a:pPr>
            <a:r>
              <a:rPr sz="1800" b="0">
                <a:solidFill>
                  <a:srgbClr val="202830"/>
                </a:solidFill>
                <a:latin typeface="Malgun Gothic"/>
                <a:ea typeface="Malgun Gothic"/>
              </a:rPr>
              <a:t>•  13.2  컨트롤파일 리포지터리 — 기록 수명 · 자동 백업 · 한계</a:t>
            </a:r>
          </a:p>
          <a:p>
            <a:pPr>
              <a:spcAft>
                <a:spcPts val="600"/>
              </a:spcAft>
            </a:pPr>
            <a:r>
              <a:rPr sz="1800" b="0">
                <a:solidFill>
                  <a:srgbClr val="202830"/>
                </a:solidFill>
                <a:latin typeface="Malgun Gothic"/>
                <a:ea typeface="Malgun Gothic"/>
              </a:rPr>
              <a:t>•  13.3  Recovery Catalog — 준비 · 네트워크 · 생성과 등록 · 유지 관리</a:t>
            </a:r>
          </a:p>
          <a:p>
            <a:pPr>
              <a:spcAft>
                <a:spcPts val="600"/>
              </a:spcAft>
            </a:pPr>
            <a:r>
              <a:rPr sz="1800" b="0">
                <a:solidFill>
                  <a:srgbClr val="202830"/>
                </a:solidFill>
                <a:latin typeface="Malgun Gothic"/>
                <a:ea typeface="Malgun Gothic"/>
              </a:rPr>
              <a:t>•  13.4  CONFIGURE 영구 설정 — SHOW ALL · 주요 항목 · 되돌리기</a:t>
            </a:r>
          </a:p>
          <a:p>
            <a:pPr>
              <a:spcAft>
                <a:spcPts val="600"/>
              </a:spcAft>
            </a:pPr>
            <a:r>
              <a:rPr sz="1800" b="0">
                <a:solidFill>
                  <a:srgbClr val="202830"/>
                </a:solidFill>
                <a:latin typeface="Malgun Gothic"/>
                <a:ea typeface="Malgun Gothic"/>
              </a:rPr>
              <a:t>•  13.5  보존 정책 — 두 정책 · OBSOLETE · CROSSCHECK · 조회 명령</a:t>
            </a:r>
          </a:p>
          <a:p>
            <a:pPr>
              <a:spcAft>
                <a:spcPts val="600"/>
              </a:spcAft>
            </a:pPr>
            <a:r>
              <a:rPr sz="1800" b="0">
                <a:solidFill>
                  <a:srgbClr val="202830"/>
                </a:solidFill>
                <a:latin typeface="Malgun Gothic"/>
                <a:ea typeface="Malgun Gothic"/>
              </a:rPr>
              <a:t>•  13.6  Stored Script — 등록·실행 · 글로벌 · 크론 연계 · 대조표</a:t>
            </a:r>
          </a:p>
          <a:p>
            <a:pPr>
              <a:spcAft>
                <a:spcPts val="600"/>
              </a:spcAft>
            </a:pPr>
            <a:r>
              <a:rPr sz="1800" b="0">
                <a:solidFill>
                  <a:srgbClr val="202830"/>
                </a:solidFill>
                <a:latin typeface="Malgun Gothic"/>
                <a:ea typeface="Malgun Gothic"/>
              </a:rPr>
              <a:t>•  13.7 점검 체크리스트 · 13.8 퀴즈 · 요약 · 실습 7 개요</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이 장의 설정과 카탈로그가 14~16장 실습의 전제가 된다.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13.1</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RMAN의 구조와 접속</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User Managed 방식이 남긴 네 가지 부담</a:t>
            </a:r>
          </a:p>
          <a:p>
            <a:pPr>
              <a:spcAft>
                <a:spcPts val="600"/>
              </a:spcAft>
            </a:pPr>
            <a:r>
              <a:rPr sz="1600" b="0">
                <a:solidFill>
                  <a:srgbClr val="C5CED6"/>
                </a:solidFill>
                <a:latin typeface="Malgun Gothic"/>
                <a:ea typeface="Malgun Gothic"/>
              </a:rPr>
              <a:t>•  다섯 구성 요소와 채널</a:t>
            </a:r>
          </a:p>
          <a:p>
            <a:pPr>
              <a:spcAft>
                <a:spcPts val="600"/>
              </a:spcAft>
            </a:pPr>
            <a:r>
              <a:rPr sz="1600" b="0">
                <a:solidFill>
                  <a:srgbClr val="C5CED6"/>
                </a:solidFill>
                <a:latin typeface="Malgun Gothic"/>
                <a:ea typeface="Malgun Gothic"/>
              </a:rPr>
              <a:t>•  nocatalog와 catalog 접속</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User Managed 방식이 남긴 부담</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① 백업본을 어디에 두었는지 기억하고 기록하는 일</a:t>
            </a:r>
          </a:p>
          <a:p>
            <a:pPr>
              <a:spcAft>
                <a:spcPts val="600"/>
              </a:spcAft>
            </a:pPr>
            <a:r>
              <a:rPr sz="1800" b="0">
                <a:solidFill>
                  <a:srgbClr val="202830"/>
                </a:solidFill>
                <a:latin typeface="Malgun Gothic"/>
                <a:ea typeface="Malgun Gothic"/>
              </a:rPr>
              <a:t>•  ② 손상된 파일을 v$recover_file 로 판별하는 일</a:t>
            </a:r>
          </a:p>
          <a:p>
            <a:pPr>
              <a:spcAft>
                <a:spcPts val="600"/>
              </a:spcAft>
            </a:pPr>
            <a:r>
              <a:rPr sz="1800" b="0">
                <a:solidFill>
                  <a:srgbClr val="202830"/>
                </a:solidFill>
                <a:latin typeface="Malgun Gothic"/>
                <a:ea typeface="Malgun Gothic"/>
              </a:rPr>
              <a:t>•  ③ 적용할 아카이브를 찾아 경로를 입력하는 일</a:t>
            </a:r>
          </a:p>
          <a:p>
            <a:pPr>
              <a:spcAft>
                <a:spcPts val="600"/>
              </a:spcAft>
            </a:pPr>
            <a:r>
              <a:rPr sz="1800" b="0">
                <a:solidFill>
                  <a:srgbClr val="202830"/>
                </a:solidFill>
                <a:latin typeface="Malgun Gothic"/>
                <a:ea typeface="Malgun Gothic"/>
              </a:rPr>
              <a:t>•  ④ 백업이 쓸 수 있는 상태인지 확인하는 일</a:t>
            </a:r>
          </a:p>
          <a:p>
            <a:pPr>
              <a:spcAft>
                <a:spcPts val="600"/>
              </a:spcAft>
            </a:pPr>
            <a:r>
              <a:rPr sz="1600" b="0">
                <a:solidFill>
                  <a:srgbClr val="5A6672"/>
                </a:solidFill>
                <a:latin typeface="Malgun Gothic"/>
                <a:ea typeface="Malgun Gothic"/>
              </a:rPr>
              <a:t>    –  네 가지 모두 사람의 기록과 기억에 의존</a:t>
            </a:r>
          </a:p>
          <a:p>
            <a:pPr>
              <a:spcAft>
                <a:spcPts val="600"/>
              </a:spcAft>
            </a:pPr>
            <a:r>
              <a:rPr sz="1600" b="0">
                <a:solidFill>
                  <a:srgbClr val="5A6672"/>
                </a:solidFill>
                <a:latin typeface="Malgun Gothic"/>
                <a:ea typeface="Malgun Gothic"/>
              </a:rPr>
              <a:t>    –  규모가 커질수록 실수 여지가 비례해 증가</a:t>
            </a:r>
          </a:p>
          <a:p>
            <a:pPr>
              <a:spcAft>
                <a:spcPts val="600"/>
              </a:spcAft>
            </a:pPr>
            <a:r>
              <a:rPr sz="1800" b="0">
                <a:solidFill>
                  <a:srgbClr val="202830"/>
                </a:solidFill>
                <a:latin typeface="Malgun Gothic"/>
                <a:ea typeface="Malgun Gothic"/>
              </a:rPr>
              <a:t>•  RMAN은 이 넷을 도구가 대신하도록 만든 것</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구성 요소</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다섯 요소와 두 선택 요소</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  [RMAN 클라이언트]   $ORACLE_HOME/bin/rman</a:t>
            </a:r>
          </a:p>
          <a:p>
            <a:pPr>
              <a:spcAft>
                <a:spcPts val="0"/>
              </a:spcAft>
            </a:pPr>
            <a:r>
              <a:rPr sz="1250" b="0">
                <a:solidFill>
                  <a:srgbClr val="E6E6E6"/>
                </a:solidFill>
                <a:latin typeface="Consolas"/>
                <a:ea typeface="Consolas"/>
              </a:rPr>
              <a:t>         │  명령 전달</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[Target Database]  백업·복구의 대상</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 채널(서버 프로세스) ──▶ 백업 조각 (디스크/테이프)</a:t>
            </a:r>
          </a:p>
          <a:p>
            <a:pPr>
              <a:spcAft>
                <a:spcPts val="0"/>
              </a:spcAft>
            </a:pPr>
            <a:r>
              <a:rPr sz="1250" b="0">
                <a:solidFill>
                  <a:srgbClr val="E6E6E6"/>
                </a:solidFill>
                <a:latin typeface="Consolas"/>
                <a:ea typeface="Consolas"/>
              </a:rPr>
              <a:t>         ├── 컨트롤파일  : 메타데이터 기본 저장소</a:t>
            </a:r>
          </a:p>
          <a:p>
            <a:pPr>
              <a:spcAft>
                <a:spcPts val="0"/>
              </a:spcAft>
            </a:pPr>
            <a:r>
              <a:rPr sz="1250" b="0">
                <a:solidFill>
                  <a:srgbClr val="E6E6E6"/>
                </a:solidFill>
                <a:latin typeface="Consolas"/>
                <a:ea typeface="Consolas"/>
              </a:rPr>
              <a:t>         └── (선택) Recovery Catalog DB : 메타데이터 별도 보관</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(선택) 미디어 관리 계층 — 테이프 장치를 쓸 때만</a:t>
            </a:r>
          </a:p>
          <a:p>
            <a:pPr>
              <a:spcAft>
                <a:spcPts val="0"/>
              </a:spcAft>
            </a:pPr>
            <a:r>
              <a:rPr sz="1250" b="0">
                <a:solidFill>
                  <a:srgbClr val="E6E6E6"/>
                </a:solidFill>
                <a:latin typeface="Consolas"/>
                <a:ea typeface="Consolas"/>
              </a:rPr>
              <a:t>  (선택) 보조 인스턴스   — 복제·Table Recovery 시 임시 생성</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접속 방식</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대상과 리포지터리를 함께 지정</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[oracle@oel7v9r1 ~]$ rman target /</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Recovery Manager: Release 19.0.0.0.0 - Production</a:t>
            </a:r>
          </a:p>
          <a:p>
            <a:pPr>
              <a:spcAft>
                <a:spcPts val="0"/>
              </a:spcAft>
            </a:pPr>
            <a:r>
              <a:rPr sz="1250" b="0">
                <a:solidFill>
                  <a:srgbClr val="E6E6E6"/>
                </a:solidFill>
                <a:latin typeface="Consolas"/>
                <a:ea typeface="Consolas"/>
              </a:rPr>
              <a:t>connected to target database: ORCL (DBID=1200530011)</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SHOW ALL;</a:t>
            </a:r>
          </a:p>
          <a:p>
            <a:pPr>
              <a:spcAft>
                <a:spcPts val="0"/>
              </a:spcAft>
            </a:pPr>
            <a:r>
              <a:rPr sz="1250" b="0">
                <a:solidFill>
                  <a:srgbClr val="E6E6E6"/>
                </a:solidFill>
                <a:latin typeface="Consolas"/>
                <a:ea typeface="Consolas"/>
              </a:rPr>
              <a:t>using target database control file instead of recovery catalog</a:t>
            </a:r>
          </a:p>
          <a:p>
            <a:pPr>
              <a:spcAft>
                <a:spcPts val="0"/>
              </a:spcAft>
            </a:pPr>
            <a:r>
              <a:rPr sz="1250" b="0">
                <a:solidFill>
                  <a:srgbClr val="7EC699"/>
                </a:solidFill>
                <a:latin typeface="Consolas"/>
                <a:ea typeface="Consolas"/>
              </a:rPr>
              <a:t>-- 이 한 줄이 nocatalog 모드임을 알려 준다.</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다른 접속 형태</a:t>
            </a:r>
          </a:p>
          <a:p>
            <a:pPr>
              <a:spcAft>
                <a:spcPts val="0"/>
              </a:spcAft>
            </a:pPr>
            <a:r>
              <a:rPr sz="1250" b="0">
                <a:solidFill>
                  <a:srgbClr val="E6E6E6"/>
                </a:solidFill>
                <a:latin typeface="Consolas"/>
                <a:ea typeface="Consolas"/>
              </a:rPr>
              <a:t>$ rman target sys@orcl nocatalog</a:t>
            </a:r>
          </a:p>
          <a:p>
            <a:pPr>
              <a:spcAft>
                <a:spcPts val="0"/>
              </a:spcAft>
            </a:pPr>
            <a:r>
              <a:rPr sz="1250" b="0">
                <a:solidFill>
                  <a:srgbClr val="E6E6E6"/>
                </a:solidFill>
                <a:latin typeface="Consolas"/>
                <a:ea typeface="Consolas"/>
              </a:rPr>
              <a:t>$ rman target / catalog rcatowner@rcat</a:t>
            </a:r>
          </a:p>
          <a:p>
            <a:pPr>
              <a:spcAft>
                <a:spcPts val="0"/>
              </a:spcAft>
            </a:pPr>
            <a:r>
              <a:rPr sz="1250" b="0">
                <a:solidFill>
                  <a:srgbClr val="E6E6E6"/>
                </a:solidFill>
                <a:latin typeface="Consolas"/>
                <a:ea typeface="Consolas"/>
              </a:rPr>
              <a:t>$ rman target '"sys@orcl AS SYSBACKUP"'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명령의 종류와 실행 방식</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백업 — BACKUP, COPY</a:t>
            </a:r>
          </a:p>
          <a:p>
            <a:pPr>
              <a:spcAft>
                <a:spcPts val="600"/>
              </a:spcAft>
            </a:pPr>
            <a:r>
              <a:rPr sz="1800" b="0">
                <a:solidFill>
                  <a:srgbClr val="202830"/>
                </a:solidFill>
                <a:latin typeface="Malgun Gothic"/>
                <a:ea typeface="Malgun Gothic"/>
              </a:rPr>
              <a:t>•  복구 — RESTORE, RECOVER, SWITCH, FLASHBACK</a:t>
            </a:r>
          </a:p>
          <a:p>
            <a:pPr>
              <a:spcAft>
                <a:spcPts val="600"/>
              </a:spcAft>
            </a:pPr>
            <a:r>
              <a:rPr sz="1800" b="0">
                <a:solidFill>
                  <a:srgbClr val="202830"/>
                </a:solidFill>
                <a:latin typeface="Malgun Gothic"/>
                <a:ea typeface="Malgun Gothic"/>
              </a:rPr>
              <a:t>•  조회 — LIST, REPORT, SHOW</a:t>
            </a:r>
          </a:p>
          <a:p>
            <a:pPr>
              <a:spcAft>
                <a:spcPts val="600"/>
              </a:spcAft>
            </a:pPr>
            <a:r>
              <a:rPr sz="1800" b="0">
                <a:solidFill>
                  <a:srgbClr val="202830"/>
                </a:solidFill>
                <a:latin typeface="Malgun Gothic"/>
                <a:ea typeface="Malgun Gothic"/>
              </a:rPr>
              <a:t>•  관리 — CONFIGURE, CROSSCHECK, DELETE, CATALOG, REGISTER</a:t>
            </a:r>
          </a:p>
          <a:p>
            <a:pPr>
              <a:spcAft>
                <a:spcPts val="600"/>
              </a:spcAft>
            </a:pPr>
            <a:r>
              <a:rPr sz="1800" b="0">
                <a:solidFill>
                  <a:srgbClr val="202830"/>
                </a:solidFill>
                <a:latin typeface="Malgun Gothic"/>
                <a:ea typeface="Malgun Gothic"/>
              </a:rPr>
              <a:t>•  실행 방식 세 가지</a:t>
            </a:r>
          </a:p>
          <a:p>
            <a:pPr>
              <a:spcAft>
                <a:spcPts val="600"/>
              </a:spcAft>
            </a:pPr>
            <a:r>
              <a:rPr sz="1600" b="0">
                <a:solidFill>
                  <a:srgbClr val="5A6672"/>
                </a:solidFill>
                <a:latin typeface="Malgun Gothic"/>
                <a:ea typeface="Malgun Gothic"/>
              </a:rPr>
              <a:t>    –  대화형 · RUN 블록 · 스크립트 파일(cmdfile 또는 Stored Script)</a:t>
            </a:r>
          </a:p>
          <a:p>
            <a:pPr>
              <a:spcAft>
                <a:spcPts val="600"/>
              </a:spcAft>
            </a:pPr>
            <a:r>
              <a:rPr sz="1600" b="0">
                <a:solidFill>
                  <a:srgbClr val="5A6672"/>
                </a:solidFill>
                <a:latin typeface="Malgun Gothic"/>
                <a:ea typeface="Malgun Gothic"/>
              </a:rPr>
              <a:t>    –  RUN 블록의 설정은 블록이 끝나면 사라짐</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REPORT SCHEMA</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접속 후 첫 확인</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REPORT SCHEMA;</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List of Permanent Datafiles</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File Size(MB) Tablespace     RB segs Datafile Name</a:t>
            </a:r>
          </a:p>
          <a:p>
            <a:pPr>
              <a:spcAft>
                <a:spcPts val="0"/>
              </a:spcAft>
            </a:pPr>
            <a:r>
              <a:rPr sz="1250" b="0">
                <a:solidFill>
                  <a:srgbClr val="7EC699"/>
                </a:solidFill>
                <a:latin typeface="Consolas"/>
                <a:ea typeface="Consolas"/>
              </a:rPr>
              <a:t>---- -------- -------------- ------- ------------------------------</a:t>
            </a:r>
          </a:p>
          <a:p>
            <a:pPr>
              <a:spcAft>
                <a:spcPts val="0"/>
              </a:spcAft>
            </a:pPr>
            <a:r>
              <a:rPr sz="1250" b="0">
                <a:solidFill>
                  <a:srgbClr val="E6E6E6"/>
                </a:solidFill>
                <a:latin typeface="Consolas"/>
                <a:ea typeface="Consolas"/>
              </a:rPr>
              <a:t>1    890      SYSTEM         YES     /u01/app/oracle/oradata/orcl/system01.dbf</a:t>
            </a:r>
          </a:p>
          <a:p>
            <a:pPr>
              <a:spcAft>
                <a:spcPts val="0"/>
              </a:spcAft>
            </a:pPr>
            <a:r>
              <a:rPr sz="1250" b="0">
                <a:solidFill>
                  <a:srgbClr val="E6E6E6"/>
                </a:solidFill>
                <a:latin typeface="Consolas"/>
                <a:ea typeface="Consolas"/>
              </a:rPr>
              <a:t>3    550      SYSAUX         NO      /u01/app/oracle/oradata/orcl/sysaux01.dbf</a:t>
            </a:r>
          </a:p>
          <a:p>
            <a:pPr>
              <a:spcAft>
                <a:spcPts val="0"/>
              </a:spcAft>
            </a:pPr>
            <a:r>
              <a:rPr sz="1250" b="0">
                <a:solidFill>
                  <a:srgbClr val="E6E6E6"/>
                </a:solidFill>
                <a:latin typeface="Consolas"/>
                <a:ea typeface="Consolas"/>
              </a:rPr>
              <a:t>4    320      UNDOTBS1       YES     /u01/app/oracle/oradata/orcl/undotbs01.dbf</a:t>
            </a:r>
          </a:p>
          <a:p>
            <a:pPr>
              <a:spcAft>
                <a:spcPts val="0"/>
              </a:spcAft>
            </a:pPr>
            <a:r>
              <a:rPr sz="1250" b="0">
                <a:solidFill>
                  <a:srgbClr val="E6E6E6"/>
                </a:solidFill>
                <a:latin typeface="Consolas"/>
                <a:ea typeface="Consolas"/>
              </a:rPr>
              <a:t>7    10       USERS          NO      /u01/app/oracle/oradata/orcl/users01.dbf</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List of Temporary Files</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1    60       TEMP           32767   /u01/app/oracle/oradata/orcl/temp01.dbf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13.2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컨트롤파일 리포지터리와 그 한계</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메타데이터는 기본적으로 컨트롤파일에 기록된다</a:t>
            </a:r>
          </a:p>
          <a:p>
            <a:pPr>
              <a:spcAft>
                <a:spcPts val="600"/>
              </a:spcAft>
            </a:pPr>
            <a:r>
              <a:rPr sz="1600" b="0">
                <a:solidFill>
                  <a:srgbClr val="C5CED6"/>
                </a:solidFill>
                <a:latin typeface="Malgun Gothic"/>
                <a:ea typeface="Malgun Gothic"/>
              </a:rPr>
              <a:t>•  기록 수명은 기본 7일</a:t>
            </a:r>
          </a:p>
          <a:p>
            <a:pPr>
              <a:spcAft>
                <a:spcPts val="600"/>
              </a:spcAft>
            </a:pPr>
            <a:r>
              <a:rPr sz="1600" b="0">
                <a:solidFill>
                  <a:srgbClr val="C5CED6"/>
                </a:solidFill>
                <a:latin typeface="Malgun Gothic"/>
                <a:ea typeface="Malgun Gothic"/>
              </a:rPr>
              <a:t>•  자동 백업이 리포지터리 자체의 사본</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기록 수명과 컨트롤파일 크기</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보존 기간과 맞춰야 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SHOW PARAMETER control_file_record_keep_time</a:t>
            </a:r>
          </a:p>
          <a:p>
            <a:pPr>
              <a:spcAft>
                <a:spcPts val="0"/>
              </a:spcAft>
            </a:pPr>
            <a:r>
              <a:rPr sz="1250" b="0">
                <a:solidFill>
                  <a:srgbClr val="E6E6E6"/>
                </a:solidFill>
                <a:latin typeface="Consolas"/>
                <a:ea typeface="Consolas"/>
              </a:rPr>
              <a:t>NAME                            TYPE        VALUE</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control_file_record_keep_time   integer     7</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SYSTEM SET control_file_record_keep_time = 31 SCOPE = BOTH;</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type, records_total, records_used</a:t>
            </a:r>
          </a:p>
          <a:p>
            <a:pPr>
              <a:spcAft>
                <a:spcPts val="0"/>
              </a:spcAft>
            </a:pPr>
            <a:r>
              <a:rPr sz="1250" b="0">
                <a:solidFill>
                  <a:srgbClr val="E6E6E6"/>
                </a:solidFill>
                <a:latin typeface="Consolas"/>
                <a:ea typeface="Consolas"/>
              </a:rPr>
              <a:t>  2  FROM   v$controlfile_record_section WHERE type LIKE 'BACKUP%';</a:t>
            </a:r>
          </a:p>
          <a:p>
            <a:pPr>
              <a:spcAft>
                <a:spcPts val="0"/>
              </a:spcAft>
            </a:pPr>
            <a:r>
              <a:rPr sz="1250" b="0">
                <a:solidFill>
                  <a:srgbClr val="E6E6E6"/>
                </a:solidFill>
                <a:latin typeface="Consolas"/>
                <a:ea typeface="Consolas"/>
              </a:rPr>
              <a:t>TYPE                 RECORDS_TOTAL RECORDS_USED</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BACKUP SET                     781           12</a:t>
            </a:r>
          </a:p>
          <a:p>
            <a:pPr>
              <a:spcAft>
                <a:spcPts val="0"/>
              </a:spcAft>
            </a:pPr>
            <a:r>
              <a:rPr sz="1250" b="0">
                <a:solidFill>
                  <a:srgbClr val="E6E6E6"/>
                </a:solidFill>
                <a:latin typeface="Consolas"/>
                <a:ea typeface="Consolas"/>
              </a:rPr>
              <a:t>BACKUP PIECE                  1004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컨트롤파일 자동 백업</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리포지터리 자체의 사본</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CONFIGURE CONTROLFILE AUTOBACKUP ON;</a:t>
            </a:r>
          </a:p>
          <a:p>
            <a:pPr>
              <a:spcAft>
                <a:spcPts val="0"/>
              </a:spcAft>
            </a:pPr>
            <a:r>
              <a:rPr sz="1250" b="0">
                <a:solidFill>
                  <a:srgbClr val="E6E6E6"/>
                </a:solidFill>
                <a:latin typeface="Consolas"/>
                <a:ea typeface="Consolas"/>
              </a:rPr>
              <a:t>new RMAN configuration parameters are successfully stored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CONFIGURE CONTROLFILE AUTOBACKUP FORMAT FOR DEVICE TYPE DISK</a:t>
            </a:r>
          </a:p>
          <a:p>
            <a:pPr>
              <a:spcAft>
                <a:spcPts val="0"/>
              </a:spcAft>
            </a:pPr>
            <a:r>
              <a:rPr sz="1250" b="0">
                <a:solidFill>
                  <a:srgbClr val="E6E6E6"/>
                </a:solidFill>
                <a:latin typeface="Consolas"/>
                <a:ea typeface="Consolas"/>
              </a:rPr>
              <a:t>  2&gt;   TO '/home/oracle/rmanbk/cf_%F';</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%F 는 c-DBID-YYYYMMDD-NN 형식으로 치환된다.</a:t>
            </a:r>
          </a:p>
          <a:p>
            <a:pPr>
              <a:spcAft>
                <a:spcPts val="0"/>
              </a:spcAft>
            </a:pPr>
            <a:r>
              <a:rPr sz="1250" b="0">
                <a:solidFill>
                  <a:srgbClr val="7EC699"/>
                </a:solidFill>
                <a:latin typeface="Consolas"/>
                <a:ea typeface="Consolas"/>
              </a:rPr>
              <a:t>-- BACKUP 성공 후, 그리고 구조 변경 시 자동으로 만들어진다.</a:t>
            </a:r>
          </a:p>
          <a:p>
            <a:pPr>
              <a:spcAft>
                <a:spcPts val="0"/>
              </a:spcAft>
            </a:pPr>
            <a:r>
              <a:rPr sz="1250" b="0">
                <a:solidFill>
                  <a:srgbClr val="7EC699"/>
                </a:solidFill>
                <a:latin typeface="Consolas"/>
                <a:ea typeface="Consolas"/>
              </a:rPr>
              <a:t>-- spfile도 함께 들어간다.</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LIST BACKUP OF CONTROLFILE;</a:t>
            </a:r>
          </a:p>
          <a:p>
            <a:pPr>
              <a:spcAft>
                <a:spcPts val="0"/>
              </a:spcAft>
            </a:pPr>
            <a:r>
              <a:rPr sz="1250" b="0">
                <a:solidFill>
                  <a:srgbClr val="E6E6E6"/>
                </a:solidFill>
                <a:latin typeface="Consolas"/>
                <a:ea typeface="Consolas"/>
              </a:rPr>
              <a:t>BS Key  Type LV Size     Device Type Completion Time</a:t>
            </a:r>
          </a:p>
          <a:p>
            <a:pPr>
              <a:spcAft>
                <a:spcPts val="0"/>
              </a:spcAft>
            </a:pPr>
            <a:r>
              <a:rPr sz="1250" b="0">
                <a:solidFill>
                  <a:srgbClr val="7EC699"/>
                </a:solidFill>
                <a:latin typeface="Consolas"/>
                <a:ea typeface="Consolas"/>
              </a:rPr>
              <a:t>------- ---- -- -------- ----------- ---------------</a:t>
            </a:r>
          </a:p>
          <a:p>
            <a:pPr>
              <a:spcAft>
                <a:spcPts val="0"/>
              </a:spcAft>
            </a:pPr>
            <a:r>
              <a:rPr sz="1250" b="0">
                <a:solidFill>
                  <a:srgbClr val="E6E6E6"/>
                </a:solidFill>
                <a:latin typeface="Consolas"/>
                <a:ea typeface="Consolas"/>
              </a:rPr>
              <a:t>3       Full    18.06M   DISK        14-MAY-25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카탈로그가 필요한 경우</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컨트롤파일만으로 충분한 환경도 많다</a:t>
            </a:r>
          </a:p>
          <a:p>
            <a:pPr>
              <a:spcAft>
                <a:spcPts val="600"/>
              </a:spcAft>
            </a:pPr>
            <a:r>
              <a:rPr sz="1600" b="0">
                <a:solidFill>
                  <a:srgbClr val="5A6672"/>
                </a:solidFill>
                <a:latin typeface="Malgun Gothic"/>
                <a:ea typeface="Malgun Gothic"/>
              </a:rPr>
              <a:t>    –  데이터베이스가 한두 개이고 보존 기간이 짧을 때</a:t>
            </a:r>
          </a:p>
          <a:p>
            <a:pPr>
              <a:spcAft>
                <a:spcPts val="600"/>
              </a:spcAft>
            </a:pPr>
            <a:r>
              <a:rPr sz="1800" b="0">
                <a:solidFill>
                  <a:srgbClr val="202830"/>
                </a:solidFill>
                <a:latin typeface="Malgun Gothic"/>
                <a:ea typeface="Malgun Gothic"/>
              </a:rPr>
              <a:t>•  카탈로그가 유리한 경우</a:t>
            </a:r>
          </a:p>
          <a:p>
            <a:pPr>
              <a:spcAft>
                <a:spcPts val="600"/>
              </a:spcAft>
            </a:pPr>
            <a:r>
              <a:rPr sz="1600" b="0">
                <a:solidFill>
                  <a:srgbClr val="5A6672"/>
                </a:solidFill>
                <a:latin typeface="Malgun Gothic"/>
                <a:ea typeface="Malgun Gothic"/>
              </a:rPr>
              <a:t>    –  대상이 여러 개이고 현황을 한곳에서 보고 싶을 때</a:t>
            </a:r>
          </a:p>
          <a:p>
            <a:pPr>
              <a:spcAft>
                <a:spcPts val="600"/>
              </a:spcAft>
            </a:pPr>
            <a:r>
              <a:rPr sz="1600" b="0">
                <a:solidFill>
                  <a:srgbClr val="5A6672"/>
                </a:solidFill>
                <a:latin typeface="Malgun Gothic"/>
                <a:ea typeface="Malgun Gothic"/>
              </a:rPr>
              <a:t>    –  보존 기간이 길어 기록 수명으로 감당되지 않을 때</a:t>
            </a:r>
          </a:p>
          <a:p>
            <a:pPr>
              <a:spcAft>
                <a:spcPts val="600"/>
              </a:spcAft>
            </a:pPr>
            <a:r>
              <a:rPr sz="1600" b="0">
                <a:solidFill>
                  <a:srgbClr val="5A6672"/>
                </a:solidFill>
                <a:latin typeface="Malgun Gothic"/>
                <a:ea typeface="Malgun Gothic"/>
              </a:rPr>
              <a:t>    –  Stored Script로 표준 절차를 배포하고 싶을 때</a:t>
            </a:r>
          </a:p>
          <a:p>
            <a:pPr>
              <a:spcAft>
                <a:spcPts val="600"/>
              </a:spcAft>
            </a:pPr>
            <a:r>
              <a:rPr sz="1600" b="0">
                <a:solidFill>
                  <a:srgbClr val="5A6672"/>
                </a:solidFill>
                <a:latin typeface="Malgun Gothic"/>
                <a:ea typeface="Malgun Gothic"/>
              </a:rPr>
              <a:t>    –  과거 인카네이션의 백업까지 조회해야 할 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13.3</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Recovery Catalog 구성</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별도 장비의 별도 데이터베이스에 둔다</a:t>
            </a:r>
          </a:p>
          <a:p>
            <a:pPr>
              <a:spcAft>
                <a:spcPts val="600"/>
              </a:spcAft>
            </a:pPr>
            <a:r>
              <a:rPr sz="1600" b="0">
                <a:solidFill>
                  <a:srgbClr val="C5CED6"/>
                </a:solidFill>
                <a:latin typeface="Malgun Gothic"/>
                <a:ea typeface="Malgun Gothic"/>
              </a:rPr>
              <a:t>•  CREATE CATALOG → REGISTER DATABASE</a:t>
            </a:r>
          </a:p>
          <a:p>
            <a:pPr>
              <a:spcAft>
                <a:spcPts val="600"/>
              </a:spcAft>
            </a:pPr>
            <a:r>
              <a:rPr sz="1600" b="0">
                <a:solidFill>
                  <a:srgbClr val="C5CED6"/>
                </a:solidFill>
                <a:latin typeface="Malgun Gothic"/>
                <a:ea typeface="Malgun Gothic"/>
              </a:rPr>
              <a:t>•  카탈로그 자체도 백업 대상</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카탈로그 소유자 생성</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권한 최소화</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카탈로그 DB(RCAT)에서 수행</a:t>
            </a:r>
          </a:p>
          <a:p>
            <a:pPr>
              <a:spcAft>
                <a:spcPts val="0"/>
              </a:spcAft>
            </a:pPr>
            <a:r>
              <a:rPr sz="1250" b="0">
                <a:solidFill>
                  <a:srgbClr val="E6E6E6"/>
                </a:solidFill>
                <a:latin typeface="Consolas"/>
                <a:ea typeface="Consolas"/>
              </a:rPr>
              <a:t>SYS@rcat&gt; CREATE TABLESPACE rcat_ts</a:t>
            </a:r>
          </a:p>
          <a:p>
            <a:pPr>
              <a:spcAft>
                <a:spcPts val="0"/>
              </a:spcAft>
            </a:pPr>
            <a:r>
              <a:rPr sz="1250" b="0">
                <a:solidFill>
                  <a:srgbClr val="E6E6E6"/>
                </a:solidFill>
                <a:latin typeface="Consolas"/>
                <a:ea typeface="Consolas"/>
              </a:rPr>
              <a:t>  2    DATAFILE '/u02/oradata/RCAT/rcat_ts01.dbf' SIZE 200M</a:t>
            </a:r>
          </a:p>
          <a:p>
            <a:pPr>
              <a:spcAft>
                <a:spcPts val="0"/>
              </a:spcAft>
            </a:pPr>
            <a:r>
              <a:rPr sz="1250" b="0">
                <a:solidFill>
                  <a:srgbClr val="E6E6E6"/>
                </a:solidFill>
                <a:latin typeface="Consolas"/>
                <a:ea typeface="Consolas"/>
              </a:rPr>
              <a:t>  3    AUTOEXTEND ON NEXT 20M MAXSIZE 2G;</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SYS@rcat&gt; CREATE USER rcatowner IDENTIFIED BY oracle_4U</a:t>
            </a:r>
          </a:p>
          <a:p>
            <a:pPr>
              <a:spcAft>
                <a:spcPts val="0"/>
              </a:spcAft>
            </a:pPr>
            <a:r>
              <a:rPr sz="1250" b="0">
                <a:solidFill>
                  <a:srgbClr val="E6E6E6"/>
                </a:solidFill>
                <a:latin typeface="Consolas"/>
                <a:ea typeface="Consolas"/>
              </a:rPr>
              <a:t>  2    DEFAULT TABLESPACE rcat_ts</a:t>
            </a:r>
          </a:p>
          <a:p>
            <a:pPr>
              <a:spcAft>
                <a:spcPts val="0"/>
              </a:spcAft>
            </a:pPr>
            <a:r>
              <a:rPr sz="1250" b="0">
                <a:solidFill>
                  <a:srgbClr val="E6E6E6"/>
                </a:solidFill>
                <a:latin typeface="Consolas"/>
                <a:ea typeface="Consolas"/>
              </a:rPr>
              <a:t>  3    QUOTA UNLIMITED ON rcat_ts;</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SYS@rcat&gt; GRANT recovery_catalog_owner TO rcatowner;</a:t>
            </a:r>
          </a:p>
          <a:p>
            <a:pPr>
              <a:spcAft>
                <a:spcPts val="0"/>
              </a:spcAft>
            </a:pPr>
            <a:r>
              <a:rPr sz="1250" b="0">
                <a:solidFill>
                  <a:srgbClr val="E6E6E6"/>
                </a:solidFill>
                <a:latin typeface="Consolas"/>
                <a:ea typeface="Consolas"/>
              </a:rPr>
              <a:t>Grant succeeded.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생성과 등록</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두 단계</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[oracle@oel7v9r1 ~]$ rman catalog rcatowner@rcat</a:t>
            </a:r>
          </a:p>
          <a:p>
            <a:pPr>
              <a:spcAft>
                <a:spcPts val="0"/>
              </a:spcAft>
            </a:pPr>
            <a:r>
              <a:rPr sz="1250" b="0">
                <a:solidFill>
                  <a:srgbClr val="E6E6E6"/>
                </a:solidFill>
                <a:latin typeface="Consolas"/>
                <a:ea typeface="Consolas"/>
              </a:rPr>
              <a:t>connected to recovery catalog database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CREATE CATALOG;</a:t>
            </a:r>
          </a:p>
          <a:p>
            <a:pPr>
              <a:spcAft>
                <a:spcPts val="0"/>
              </a:spcAft>
            </a:pPr>
            <a:r>
              <a:rPr sz="1250" b="0">
                <a:solidFill>
                  <a:srgbClr val="E6E6E6"/>
                </a:solidFill>
                <a:latin typeface="Consolas"/>
                <a:ea typeface="Consolas"/>
              </a:rPr>
              <a:t>recovery catalog created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[oracle@oel7v9r1 ~]$ rman target / catalog rcatowner@rcat</a:t>
            </a:r>
          </a:p>
          <a:p>
            <a:pPr>
              <a:spcAft>
                <a:spcPts val="0"/>
              </a:spcAft>
            </a:pPr>
            <a:r>
              <a:rPr sz="1250" b="0">
                <a:solidFill>
                  <a:srgbClr val="E6E6E6"/>
                </a:solidFill>
                <a:latin typeface="Consolas"/>
                <a:ea typeface="Consolas"/>
              </a:rPr>
              <a:t>connected to target database: ORCL (DBID=1200530011)</a:t>
            </a:r>
          </a:p>
          <a:p>
            <a:pPr>
              <a:spcAft>
                <a:spcPts val="0"/>
              </a:spcAft>
            </a:pPr>
            <a:r>
              <a:rPr sz="1250" b="0">
                <a:solidFill>
                  <a:srgbClr val="E6E6E6"/>
                </a:solidFill>
                <a:latin typeface="Consolas"/>
                <a:ea typeface="Consolas"/>
              </a:rPr>
              <a:t>connected to recovery catalog database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REGISTER DATABASE;</a:t>
            </a:r>
          </a:p>
          <a:p>
            <a:pPr>
              <a:spcAft>
                <a:spcPts val="0"/>
              </a:spcAft>
            </a:pPr>
            <a:r>
              <a:rPr sz="1250" b="0">
                <a:solidFill>
                  <a:srgbClr val="E6E6E6"/>
                </a:solidFill>
                <a:latin typeface="Consolas"/>
                <a:ea typeface="Consolas"/>
              </a:rPr>
              <a:t>database registered in recovery catalog</a:t>
            </a:r>
          </a:p>
          <a:p>
            <a:pPr>
              <a:spcAft>
                <a:spcPts val="0"/>
              </a:spcAft>
            </a:pPr>
            <a:r>
              <a:rPr sz="1250" b="0">
                <a:solidFill>
                  <a:srgbClr val="E6E6E6"/>
                </a:solidFill>
                <a:latin typeface="Consolas"/>
                <a:ea typeface="Consolas"/>
              </a:rPr>
              <a:t>starting full resync of recovery catalog</a:t>
            </a:r>
          </a:p>
          <a:p>
            <a:pPr>
              <a:spcAft>
                <a:spcPts val="0"/>
              </a:spcAft>
            </a:pPr>
            <a:r>
              <a:rPr sz="1250" b="0">
                <a:solidFill>
                  <a:srgbClr val="E6E6E6"/>
                </a:solidFill>
                <a:latin typeface="Consolas"/>
                <a:ea typeface="Consolas"/>
              </a:rPr>
              <a:t>full resync complete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등록 확인과 해제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RC_ 뷰와 UNREGISTER</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RCATOWNER@rcat&gt; SELECT dbid, name, dbinc_key, resetlogs_change#</a:t>
            </a:r>
          </a:p>
          <a:p>
            <a:pPr>
              <a:spcAft>
                <a:spcPts val="0"/>
              </a:spcAft>
            </a:pPr>
            <a:r>
              <a:rPr sz="1250" b="0">
                <a:solidFill>
                  <a:srgbClr val="E6E6E6"/>
                </a:solidFill>
                <a:latin typeface="Consolas"/>
                <a:ea typeface="Consolas"/>
              </a:rPr>
              <a:t>  2  FROM   rc_database;</a:t>
            </a:r>
          </a:p>
          <a:p>
            <a:pPr>
              <a:spcAft>
                <a:spcPts val="0"/>
              </a:spcAft>
            </a:pPr>
            <a:r>
              <a:rPr sz="1250" b="0">
                <a:solidFill>
                  <a:srgbClr val="E6E6E6"/>
                </a:solidFill>
                <a:latin typeface="Consolas"/>
                <a:ea typeface="Consolas"/>
              </a:rPr>
              <a:t>      DBID NAME       DBINC_KEY RESETLOGS_CHANGE#</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1200530011 ORCL               2           2484701</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RCATOWNER@rcat&gt; SELECT COUNT(*) FROM rc_backup_piece;</a:t>
            </a:r>
          </a:p>
          <a:p>
            <a:pPr>
              <a:spcAft>
                <a:spcPts val="0"/>
              </a:spcAft>
            </a:pPr>
            <a:r>
              <a:rPr sz="1250" b="0">
                <a:solidFill>
                  <a:srgbClr val="E6E6E6"/>
                </a:solidFill>
                <a:latin typeface="Consolas"/>
                <a:ea typeface="Consolas"/>
              </a:rPr>
              <a:t>         6</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UNREGISTER DATABASE;</a:t>
            </a:r>
          </a:p>
          <a:p>
            <a:pPr>
              <a:spcAft>
                <a:spcPts val="0"/>
              </a:spcAft>
            </a:pPr>
            <a:r>
              <a:rPr sz="1250" b="0">
                <a:solidFill>
                  <a:srgbClr val="E6E6E6"/>
                </a:solidFill>
                <a:latin typeface="Consolas"/>
                <a:ea typeface="Consolas"/>
              </a:rPr>
              <a:t>database name is "ORCL" and DBID is 1200530011</a:t>
            </a:r>
          </a:p>
          <a:p>
            <a:pPr>
              <a:spcAft>
                <a:spcPts val="0"/>
              </a:spcAft>
            </a:pPr>
            <a:r>
              <a:rPr sz="1250" b="0">
                <a:solidFill>
                  <a:srgbClr val="E6E6E6"/>
                </a:solidFill>
                <a:latin typeface="Consolas"/>
                <a:ea typeface="Consolas"/>
              </a:rPr>
              <a:t>Do you really want to unregister the database (enter YES or NO)? YES</a:t>
            </a:r>
          </a:p>
          <a:p>
            <a:pPr>
              <a:spcAft>
                <a:spcPts val="0"/>
              </a:spcAft>
            </a:pPr>
            <a:r>
              <a:rPr sz="1250" b="0">
                <a:solidFill>
                  <a:srgbClr val="E6E6E6"/>
                </a:solidFill>
                <a:latin typeface="Consolas"/>
                <a:ea typeface="Consolas"/>
              </a:rPr>
              <a:t>database unregistered from the recovery catalog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카탈로그 유지 관리</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정기 백업 대상에 포함 — 잃으면 이력 전체를 잃는다</a:t>
            </a:r>
          </a:p>
          <a:p>
            <a:pPr>
              <a:spcAft>
                <a:spcPts val="600"/>
              </a:spcAft>
            </a:pPr>
            <a:r>
              <a:rPr sz="1800" b="0">
                <a:solidFill>
                  <a:srgbClr val="202830"/>
                </a:solidFill>
                <a:latin typeface="Malgun Gothic"/>
                <a:ea typeface="Malgun Gothic"/>
              </a:rPr>
              <a:t>•  테이블스페이스 사용량 주기 점검</a:t>
            </a:r>
          </a:p>
          <a:p>
            <a:pPr>
              <a:spcAft>
                <a:spcPts val="600"/>
              </a:spcAft>
            </a:pPr>
            <a:r>
              <a:rPr sz="1600" b="0">
                <a:solidFill>
                  <a:srgbClr val="5A6672"/>
                </a:solidFill>
                <a:latin typeface="Malgun Gothic"/>
                <a:ea typeface="Malgun Gothic"/>
              </a:rPr>
              <a:t>    –  대상 데이터베이스가 늘면 증가 속도도 빨라진다</a:t>
            </a:r>
          </a:p>
          <a:p>
            <a:pPr>
              <a:spcAft>
                <a:spcPts val="600"/>
              </a:spcAft>
            </a:pPr>
            <a:r>
              <a:rPr sz="1800" b="0">
                <a:solidFill>
                  <a:srgbClr val="202830"/>
                </a:solidFill>
                <a:latin typeface="Malgun Gothic"/>
                <a:ea typeface="Malgun Gothic"/>
              </a:rPr>
              <a:t>•  버전 관리 — UPGRADE CATALOG / IMPORT CATALOG</a:t>
            </a:r>
          </a:p>
          <a:p>
            <a:pPr>
              <a:spcAft>
                <a:spcPts val="600"/>
              </a:spcAft>
            </a:pPr>
            <a:r>
              <a:rPr sz="1800" b="0">
                <a:solidFill>
                  <a:srgbClr val="202830"/>
                </a:solidFill>
                <a:latin typeface="Malgun Gothic"/>
                <a:ea typeface="Malgun Gothic"/>
              </a:rPr>
              <a:t>•  가상 프라이빗 카탈로그로 팀별 권한 분리 가능</a:t>
            </a:r>
          </a:p>
          <a:p>
            <a:pPr>
              <a:spcAft>
                <a:spcPts val="600"/>
              </a:spcAft>
            </a:pPr>
            <a:r>
              <a:rPr sz="1600" b="0">
                <a:solidFill>
                  <a:srgbClr val="5A6672"/>
                </a:solidFill>
                <a:latin typeface="Malgun Gothic"/>
                <a:ea typeface="Malgun Gothic"/>
              </a:rPr>
              <a:t>    –  CREATE VIRTUAL CATALOG + GRANT CATALOG FOR DATABASE</a:t>
            </a:r>
          </a:p>
          <a:p>
            <a:pPr>
              <a:spcAft>
                <a:spcPts val="600"/>
              </a:spcAft>
            </a:pPr>
            <a:r>
              <a:rPr sz="1600" b="0">
                <a:solidFill>
                  <a:srgbClr val="5A6672"/>
                </a:solidFill>
                <a:latin typeface="Malgun Gothic"/>
                <a:ea typeface="Malgun Gothic"/>
              </a:rPr>
              <a:t>    –  단일 팀 환경에서는 굳이 쓸 필요 없음</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13.4</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CONFIGURE 영구 설정</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설정은 리포지터리에 저장되어 접속을 넘어 유지된다</a:t>
            </a:r>
          </a:p>
          <a:p>
            <a:pPr>
              <a:spcAft>
                <a:spcPts val="600"/>
              </a:spcAft>
            </a:pPr>
            <a:r>
              <a:rPr sz="1600" b="0">
                <a:solidFill>
                  <a:srgbClr val="C5CED6"/>
                </a:solidFill>
                <a:latin typeface="Malgun Gothic"/>
                <a:ea typeface="Malgun Gothic"/>
              </a:rPr>
              <a:t>•  SHOW ALL로 전체를 확인한다</a:t>
            </a:r>
          </a:p>
          <a:p>
            <a:pPr>
              <a:spcAft>
                <a:spcPts val="600"/>
              </a:spcAft>
            </a:pPr>
            <a:r>
              <a:rPr sz="1600" b="0">
                <a:solidFill>
                  <a:srgbClr val="C5CED6"/>
                </a:solidFill>
                <a:latin typeface="Malgun Gothic"/>
                <a:ea typeface="Malgun Gothic"/>
              </a:rPr>
              <a:t>•  CLEAR로 기본값으로 되돌린다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SHOW ALL</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 default가 없는 항목이 바꾼 것</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SHOW ALL;</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CONFIGURE RETENTION POLICY TO REDUNDANCY 1; # default</a:t>
            </a:r>
          </a:p>
          <a:p>
            <a:pPr>
              <a:spcAft>
                <a:spcPts val="0"/>
              </a:spcAft>
            </a:pPr>
            <a:r>
              <a:rPr sz="1250" b="0">
                <a:solidFill>
                  <a:srgbClr val="E6E6E6"/>
                </a:solidFill>
                <a:latin typeface="Consolas"/>
                <a:ea typeface="Consolas"/>
              </a:rPr>
              <a:t>CONFIGURE BACKUP OPTIMIZATION OFF; # default</a:t>
            </a:r>
          </a:p>
          <a:p>
            <a:pPr>
              <a:spcAft>
                <a:spcPts val="0"/>
              </a:spcAft>
            </a:pPr>
            <a:r>
              <a:rPr sz="1250" b="0">
                <a:solidFill>
                  <a:srgbClr val="E6E6E6"/>
                </a:solidFill>
                <a:latin typeface="Consolas"/>
                <a:ea typeface="Consolas"/>
              </a:rPr>
              <a:t>CONFIGURE DEFAULT DEVICE TYPE TO DISK; # default</a:t>
            </a:r>
          </a:p>
          <a:p>
            <a:pPr>
              <a:spcAft>
                <a:spcPts val="0"/>
              </a:spcAft>
            </a:pPr>
            <a:r>
              <a:rPr sz="1250" b="0">
                <a:solidFill>
                  <a:srgbClr val="E6E6E6"/>
                </a:solidFill>
                <a:latin typeface="Consolas"/>
                <a:ea typeface="Consolas"/>
              </a:rPr>
              <a:t>CONFIGURE CONTROLFILE AUTOBACKUP ON;</a:t>
            </a:r>
          </a:p>
          <a:p>
            <a:pPr>
              <a:spcAft>
                <a:spcPts val="0"/>
              </a:spcAft>
            </a:pPr>
            <a:r>
              <a:rPr sz="1250" b="0">
                <a:solidFill>
                  <a:srgbClr val="E6E6E6"/>
                </a:solidFill>
                <a:latin typeface="Consolas"/>
                <a:ea typeface="Consolas"/>
              </a:rPr>
              <a:t>CONFIGURE CONTROLFILE AUTOBACKUP FORMAT FOR DEVICE TYPE DISK TO</a:t>
            </a:r>
          </a:p>
          <a:p>
            <a:pPr>
              <a:spcAft>
                <a:spcPts val="0"/>
              </a:spcAft>
            </a:pPr>
            <a:r>
              <a:rPr sz="1250" b="0">
                <a:solidFill>
                  <a:srgbClr val="E6E6E6"/>
                </a:solidFill>
                <a:latin typeface="Consolas"/>
                <a:ea typeface="Consolas"/>
              </a:rPr>
              <a:t>  '/home/oracle/rmanbk/cf_%F';</a:t>
            </a:r>
          </a:p>
          <a:p>
            <a:pPr>
              <a:spcAft>
                <a:spcPts val="0"/>
              </a:spcAft>
            </a:pPr>
            <a:r>
              <a:rPr sz="1250" b="0">
                <a:solidFill>
                  <a:srgbClr val="E6E6E6"/>
                </a:solidFill>
                <a:latin typeface="Consolas"/>
                <a:ea typeface="Consolas"/>
              </a:rPr>
              <a:t>CONFIGURE DEVICE TYPE DISK PARALLELISM 1 BACKUP TYPE TO BACKUPSET; # default</a:t>
            </a:r>
          </a:p>
          <a:p>
            <a:pPr>
              <a:spcAft>
                <a:spcPts val="0"/>
              </a:spcAft>
            </a:pPr>
            <a:r>
              <a:rPr sz="1250" b="0">
                <a:solidFill>
                  <a:srgbClr val="E6E6E6"/>
                </a:solidFill>
                <a:latin typeface="Consolas"/>
                <a:ea typeface="Consolas"/>
              </a:rPr>
              <a:t>CONFIGURE MAXSETSIZE TO UNLIMITED; # default</a:t>
            </a:r>
          </a:p>
          <a:p>
            <a:pPr>
              <a:spcAft>
                <a:spcPts val="0"/>
              </a:spcAft>
            </a:pPr>
            <a:r>
              <a:rPr sz="1250" b="0">
                <a:solidFill>
                  <a:srgbClr val="E6E6E6"/>
                </a:solidFill>
                <a:latin typeface="Consolas"/>
                <a:ea typeface="Consolas"/>
              </a:rPr>
              <a:t>CONFIGURE ARCHIVELOG DELETION POLICY TO NONE; # default</a:t>
            </a:r>
          </a:p>
          <a:p>
            <a:pPr>
              <a:spcAft>
                <a:spcPts val="0"/>
              </a:spcAft>
            </a:pPr>
            <a:r>
              <a:rPr sz="1250" b="0">
                <a:solidFill>
                  <a:srgbClr val="E6E6E6"/>
                </a:solidFill>
                <a:latin typeface="Consolas"/>
                <a:ea typeface="Consolas"/>
              </a:rPr>
              <a:t>CONFIGURE SNAPSHOT CONTROLFILE NAME TO '.../dbs/snapcf_orcl.f'; # default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주요 설정 항목</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실무에서 손대는 대여섯 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CONFIGURE RETENTION POLICY TO RECOVERY WINDOW OF 7 DAYS;</a:t>
            </a:r>
          </a:p>
          <a:p>
            <a:pPr>
              <a:spcAft>
                <a:spcPts val="0"/>
              </a:spcAft>
            </a:pPr>
            <a:r>
              <a:rPr sz="1250" b="0">
                <a:solidFill>
                  <a:srgbClr val="E6E6E6"/>
                </a:solidFill>
                <a:latin typeface="Consolas"/>
                <a:ea typeface="Consolas"/>
              </a:rPr>
              <a:t>RMAN&gt; CONFIGURE DEVICE TYPE DISK PARALLELISM 2 BACKUP TYPE TO BACKUPSET;</a:t>
            </a:r>
          </a:p>
          <a:p>
            <a:pPr>
              <a:spcAft>
                <a:spcPts val="0"/>
              </a:spcAft>
            </a:pPr>
            <a:r>
              <a:rPr sz="1250" b="0">
                <a:solidFill>
                  <a:srgbClr val="E6E6E6"/>
                </a:solidFill>
                <a:latin typeface="Consolas"/>
                <a:ea typeface="Consolas"/>
              </a:rPr>
              <a:t>RMAN&gt; CONFIGURE CHANNEL DEVICE TYPE DISK</a:t>
            </a:r>
          </a:p>
          <a:p>
            <a:pPr>
              <a:spcAft>
                <a:spcPts val="0"/>
              </a:spcAft>
            </a:pPr>
            <a:r>
              <a:rPr sz="1250" b="0">
                <a:solidFill>
                  <a:srgbClr val="E6E6E6"/>
                </a:solidFill>
                <a:latin typeface="Consolas"/>
                <a:ea typeface="Consolas"/>
              </a:rPr>
              <a:t>  2&gt;   FORMAT '/home/oracle/rmanbk/%d_%T_%s_%p.bkp';</a:t>
            </a:r>
          </a:p>
          <a:p>
            <a:pPr>
              <a:spcAft>
                <a:spcPts val="0"/>
              </a:spcAft>
            </a:pPr>
            <a:r>
              <a:rPr sz="1250" b="0">
                <a:solidFill>
                  <a:srgbClr val="E6E6E6"/>
                </a:solidFill>
                <a:latin typeface="Consolas"/>
                <a:ea typeface="Consolas"/>
              </a:rPr>
              <a:t>RMAN&gt; CONFIGURE ARCHIVELOG DELETION POLICY TO BACKED UP 1 TIMES TO DISK;</a:t>
            </a:r>
          </a:p>
          <a:p>
            <a:pPr>
              <a:spcAft>
                <a:spcPts val="0"/>
              </a:spcAft>
            </a:pPr>
            <a:r>
              <a:rPr sz="1250" b="0">
                <a:solidFill>
                  <a:srgbClr val="E6E6E6"/>
                </a:solidFill>
                <a:latin typeface="Consolas"/>
                <a:ea typeface="Consolas"/>
              </a:rPr>
              <a:t>RMAN&gt; CONFIGURE BACKUP OPTIMIZATION ON;</a:t>
            </a:r>
          </a:p>
          <a:p>
            <a:pPr>
              <a:spcAft>
                <a:spcPts val="0"/>
              </a:spcAft>
            </a:pPr>
            <a:r>
              <a:rPr sz="1250" b="0">
                <a:solidFill>
                  <a:srgbClr val="E6E6E6"/>
                </a:solidFill>
                <a:latin typeface="Consolas"/>
                <a:ea typeface="Consolas"/>
              </a:rPr>
              <a:t>RMAN&gt; CONFIGURE DATAFILE BACKUP COPIES FOR DEVICE TYPE DISK TO 2;</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FORMAT 치환 문자</a:t>
            </a:r>
          </a:p>
          <a:p>
            <a:pPr>
              <a:spcAft>
                <a:spcPts val="0"/>
              </a:spcAft>
            </a:pPr>
            <a:r>
              <a:rPr sz="1250" b="0">
                <a:solidFill>
                  <a:srgbClr val="7EC699"/>
                </a:solidFill>
                <a:latin typeface="Consolas"/>
                <a:ea typeface="Consolas"/>
              </a:rPr>
              <a:t>--   %d 이름  %T 날짜  %s 세트번호  %p 조각번호  %U 고유이름  %F 자동백업용</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되돌리기와 스냅샷 컨트롤파일</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CONFIGURE … CLEAR 로 기본값 복귀</a:t>
            </a:r>
          </a:p>
          <a:p>
            <a:pPr>
              <a:spcAft>
                <a:spcPts val="600"/>
              </a:spcAft>
            </a:pPr>
            <a:r>
              <a:rPr sz="1600" b="0">
                <a:solidFill>
                  <a:srgbClr val="5A6672"/>
                </a:solidFill>
                <a:latin typeface="Malgun Gothic"/>
                <a:ea typeface="Malgun Gothic"/>
              </a:rPr>
              <a:t>    –  값을 다시 지정할 필요 없음</a:t>
            </a:r>
          </a:p>
          <a:p>
            <a:pPr>
              <a:spcAft>
                <a:spcPts val="600"/>
              </a:spcAft>
            </a:pPr>
            <a:r>
              <a:rPr sz="1800" b="0">
                <a:solidFill>
                  <a:srgbClr val="202830"/>
                </a:solidFill>
                <a:latin typeface="Malgun Gothic"/>
                <a:ea typeface="Malgun Gothic"/>
              </a:rPr>
              <a:t>•  스냅샷 컨트롤파일 — RMAN 내부용 임시 사본</a:t>
            </a:r>
          </a:p>
          <a:p>
            <a:pPr>
              <a:spcAft>
                <a:spcPts val="600"/>
              </a:spcAft>
            </a:pPr>
            <a:r>
              <a:rPr sz="1600" b="0">
                <a:solidFill>
                  <a:srgbClr val="5A6672"/>
                </a:solidFill>
                <a:latin typeface="Malgun Gothic"/>
                <a:ea typeface="Malgun Gothic"/>
              </a:rPr>
              <a:t>    –  백업 중 컨트롤파일이 계속 바뀌므로 일관된 사본을 떠 놓고 읽는다</a:t>
            </a:r>
          </a:p>
          <a:p>
            <a:pPr>
              <a:spcAft>
                <a:spcPts val="600"/>
              </a:spcAft>
            </a:pPr>
            <a:r>
              <a:rPr sz="1600" b="0">
                <a:solidFill>
                  <a:srgbClr val="5A6672"/>
                </a:solidFill>
                <a:latin typeface="Malgun Gothic"/>
                <a:ea typeface="Malgun Gothic"/>
              </a:rPr>
              <a:t>    –  기본 위치 $ORACLE_HOME/dbs, RAC에서는 공유 위치로</a:t>
            </a:r>
          </a:p>
          <a:p>
            <a:pPr>
              <a:spcAft>
                <a:spcPts val="600"/>
              </a:spcAft>
            </a:pPr>
            <a:r>
              <a:rPr sz="1800" b="0">
                <a:solidFill>
                  <a:srgbClr val="202830"/>
                </a:solidFill>
                <a:latin typeface="Malgun Gothic"/>
                <a:ea typeface="Malgun Gothic"/>
              </a:rPr>
              <a:t>•  MAXSETSIZE보다 큰 데이터파일이 있으면 백업 실패</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13.5</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보존 정책과 백업 관리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REDUNDANCY는 개수 기준, RECOVERY WINDOW는 시점 기준</a:t>
            </a:r>
          </a:p>
          <a:p>
            <a:pPr>
              <a:spcAft>
                <a:spcPts val="600"/>
              </a:spcAft>
            </a:pPr>
            <a:r>
              <a:rPr sz="1600" b="0">
                <a:solidFill>
                  <a:srgbClr val="C5CED6"/>
                </a:solidFill>
                <a:latin typeface="Malgun Gothic"/>
                <a:ea typeface="Malgun Gothic"/>
              </a:rPr>
              <a:t>•  정책은 판정 기준일 뿐 자동으로 지우지 않는다</a:t>
            </a:r>
          </a:p>
          <a:p>
            <a:pPr>
              <a:spcAft>
                <a:spcPts val="600"/>
              </a:spcAft>
            </a:pPr>
            <a:r>
              <a:rPr sz="1600" b="0">
                <a:solidFill>
                  <a:srgbClr val="C5CED6"/>
                </a:solidFill>
                <a:latin typeface="Malgun Gothic"/>
                <a:ea typeface="Malgun Gothic"/>
              </a:rPr>
              <a:t>•  EXPIRED와 OBSOLETE는 뜻이 다르다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두 가지 보존 정책</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성격이 다르다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CONFIGURE RETENTION POLICY TO RECOVERY WINDOW OF 7 DAYS;</a:t>
            </a:r>
          </a:p>
          <a:p>
            <a:pPr>
              <a:spcAft>
                <a:spcPts val="0"/>
              </a:spcAft>
            </a:pPr>
            <a:r>
              <a:rPr sz="1250" b="0">
                <a:solidFill>
                  <a:srgbClr val="7EC699"/>
                </a:solidFill>
                <a:latin typeface="Consolas"/>
                <a:ea typeface="Consolas"/>
              </a:rPr>
              <a:t>-- 7일 전 시점으로 복구할 수 있는 만큼 보존</a:t>
            </a:r>
          </a:p>
          <a:p>
            <a:pPr>
              <a:spcAft>
                <a:spcPts val="0"/>
              </a:spcAft>
            </a:pPr>
            <a:r>
              <a:rPr sz="1250" b="0">
                <a:solidFill>
                  <a:srgbClr val="7EC699"/>
                </a:solidFill>
                <a:latin typeface="Consolas"/>
                <a:ea typeface="Consolas"/>
              </a:rPr>
              <a:t>-- 그 시점을 커버하는 백업 + 이후 아카이브가 모두 대상</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CONFIGURE RETENTION POLICY TO REDUNDANCY 2;</a:t>
            </a:r>
          </a:p>
          <a:p>
            <a:pPr>
              <a:spcAft>
                <a:spcPts val="0"/>
              </a:spcAft>
            </a:pPr>
            <a:r>
              <a:rPr sz="1250" b="0">
                <a:solidFill>
                  <a:srgbClr val="7EC699"/>
                </a:solidFill>
                <a:latin typeface="Consolas"/>
                <a:ea typeface="Consolas"/>
              </a:rPr>
              <a:t>-- 데이터파일마다 최신 2벌 보존, 3벌째가 생기면 가장 오래된 것이 obsolete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CONFIGURE RETENTION POLICY TO NONE;</a:t>
            </a:r>
          </a:p>
          <a:p>
            <a:pPr>
              <a:spcAft>
                <a:spcPts val="0"/>
              </a:spcAft>
            </a:pPr>
            <a:r>
              <a:rPr sz="1250" b="0">
                <a:solidFill>
                  <a:srgbClr val="7EC699"/>
                </a:solidFill>
                <a:latin typeface="Consolas"/>
                <a:ea typeface="Consolas"/>
              </a:rPr>
              <a:t>-- 자동 판정 없음. 삭제를 전적으로 사람이 관리</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OBSOLETE와 EXPIRED</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정기 작업에 함께 넣는다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REPORT OBSOLETE;</a:t>
            </a:r>
          </a:p>
          <a:p>
            <a:pPr>
              <a:spcAft>
                <a:spcPts val="0"/>
              </a:spcAft>
            </a:pPr>
            <a:r>
              <a:rPr sz="1250" b="0">
                <a:solidFill>
                  <a:srgbClr val="E6E6E6"/>
                </a:solidFill>
                <a:latin typeface="Consolas"/>
                <a:ea typeface="Consolas"/>
              </a:rPr>
              <a:t>Type        Key  Completion Time  Filename/Handle</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Backup Set  2    05-MAY-25</a:t>
            </a:r>
          </a:p>
          <a:p>
            <a:pPr>
              <a:spcAft>
                <a:spcPts val="0"/>
              </a:spcAft>
            </a:pPr>
            <a:r>
              <a:rPr sz="1250" b="0">
                <a:solidFill>
                  <a:srgbClr val="E6E6E6"/>
                </a:solidFill>
                <a:latin typeface="Consolas"/>
                <a:ea typeface="Consolas"/>
              </a:rPr>
              <a:t>Archive Log 14   05-MAY-25        /home/oracle/arch1/1_14_119...</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DELETE NOPROMPT OBSOLETE;</a:t>
            </a:r>
          </a:p>
          <a:p>
            <a:pPr>
              <a:spcAft>
                <a:spcPts val="0"/>
              </a:spcAft>
            </a:pPr>
            <a:r>
              <a:rPr sz="1250" b="0">
                <a:solidFill>
                  <a:srgbClr val="E6E6E6"/>
                </a:solidFill>
                <a:latin typeface="Consolas"/>
                <a:ea typeface="Consolas"/>
              </a:rPr>
              <a:t>Deleted 2 objects</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CROSSCHECK BACKUP;</a:t>
            </a:r>
          </a:p>
          <a:p>
            <a:pPr>
              <a:spcAft>
                <a:spcPts val="0"/>
              </a:spcAft>
            </a:pPr>
            <a:r>
              <a:rPr sz="1250" b="0">
                <a:solidFill>
                  <a:srgbClr val="E6E6E6"/>
                </a:solidFill>
                <a:latin typeface="Consolas"/>
                <a:ea typeface="Consolas"/>
              </a:rPr>
              <a:t>crosschecked backup piece: found to be 'EXPIRED'</a:t>
            </a:r>
          </a:p>
          <a:p>
            <a:pPr>
              <a:spcAft>
                <a:spcPts val="0"/>
              </a:spcAft>
            </a:pPr>
            <a:r>
              <a:rPr sz="1250" b="0">
                <a:solidFill>
                  <a:srgbClr val="E6E6E6"/>
                </a:solidFill>
                <a:latin typeface="Consolas"/>
                <a:ea typeface="Consolas"/>
              </a:rPr>
              <a:t>backup piece handle=/home/oracle/rmanbk/03... RECID=3</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DELETE NOPROMPT EXPIRED BACKUP;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조회 명령</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LIST는 사실, REPORT는 판단</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LIST BACKUP SUMMARY;</a:t>
            </a:r>
          </a:p>
          <a:p>
            <a:pPr>
              <a:spcAft>
                <a:spcPts val="0"/>
              </a:spcAft>
            </a:pPr>
            <a:r>
              <a:rPr sz="1250" b="0">
                <a:solidFill>
                  <a:srgbClr val="E6E6E6"/>
                </a:solidFill>
                <a:latin typeface="Consolas"/>
                <a:ea typeface="Consolas"/>
              </a:rPr>
              <a:t>Key     TY LV S Device Type Completion Time #Pieces Tag</a:t>
            </a:r>
          </a:p>
          <a:p>
            <a:pPr>
              <a:spcAft>
                <a:spcPts val="0"/>
              </a:spcAft>
            </a:pPr>
            <a:r>
              <a:rPr sz="1250" b="0">
                <a:solidFill>
                  <a:srgbClr val="7EC699"/>
                </a:solidFill>
                <a:latin typeface="Consolas"/>
                <a:ea typeface="Consolas"/>
              </a:rPr>
              <a:t>------- -- -- - ----------- --------------- ------- -----------</a:t>
            </a:r>
          </a:p>
          <a:p>
            <a:pPr>
              <a:spcAft>
                <a:spcPts val="0"/>
              </a:spcAft>
            </a:pPr>
            <a:r>
              <a:rPr sz="1250" b="0">
                <a:solidFill>
                  <a:srgbClr val="E6E6E6"/>
                </a:solidFill>
                <a:latin typeface="Consolas"/>
                <a:ea typeface="Consolas"/>
              </a:rPr>
              <a:t>5       B  F  A DISK        14-MAY-25       1       TAG20250514</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REPORT NEED BACKUP;</a:t>
            </a:r>
          </a:p>
          <a:p>
            <a:pPr>
              <a:spcAft>
                <a:spcPts val="0"/>
              </a:spcAft>
            </a:pPr>
            <a:r>
              <a:rPr sz="1250" b="0">
                <a:solidFill>
                  <a:srgbClr val="E6E6E6"/>
                </a:solidFill>
                <a:latin typeface="Consolas"/>
                <a:ea typeface="Consolas"/>
              </a:rPr>
              <a:t>Report of files that must be backed up to satisfy 7 days recovery window</a:t>
            </a:r>
          </a:p>
          <a:p>
            <a:pPr>
              <a:spcAft>
                <a:spcPts val="0"/>
              </a:spcAft>
            </a:pPr>
            <a:r>
              <a:rPr sz="1250" b="0">
                <a:solidFill>
                  <a:srgbClr val="E6E6E6"/>
                </a:solidFill>
                <a:latin typeface="Consolas"/>
                <a:ea typeface="Consolas"/>
              </a:rPr>
              <a:t>File Days  Name</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7    9     /u01/app/oracle/oradata/orcl/users01.dbf</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REPORT UNRECOVERABLE;</a:t>
            </a:r>
          </a:p>
          <a:p>
            <a:pPr>
              <a:spcAft>
                <a:spcPts val="0"/>
              </a:spcAft>
            </a:pPr>
            <a:r>
              <a:rPr sz="1250" b="0">
                <a:solidFill>
                  <a:srgbClr val="7EC699"/>
                </a:solidFill>
                <a:latin typeface="Consolas"/>
                <a:ea typeface="Consolas"/>
              </a:rPr>
              <a:t>-- NOLOGGING 작업 이후 백업받지 않은 파일이 여기에 나온다.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13.6</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Stored Script와 운영 자동화</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카탈로그에 저장되는 명령 묶음</a:t>
            </a:r>
          </a:p>
          <a:p>
            <a:pPr>
              <a:spcAft>
                <a:spcPts val="600"/>
              </a:spcAft>
            </a:pPr>
            <a:r>
              <a:rPr sz="1600" b="0">
                <a:solidFill>
                  <a:srgbClr val="C5CED6"/>
                </a:solidFill>
                <a:latin typeface="Malgun Gothic"/>
                <a:ea typeface="Malgun Gothic"/>
              </a:rPr>
              <a:t>•  GLOBAL로 여러 대상에 배포</a:t>
            </a:r>
          </a:p>
          <a:p>
            <a:pPr>
              <a:spcAft>
                <a:spcPts val="600"/>
              </a:spcAft>
            </a:pPr>
            <a:r>
              <a:rPr sz="1600" b="0">
                <a:solidFill>
                  <a:srgbClr val="C5CED6"/>
                </a:solidFill>
                <a:latin typeface="Malgun Gothic"/>
                <a:ea typeface="Malgun Gothic"/>
              </a:rPr>
              <a:t>•  크론 연계와 로그 관리</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스크립트 등록과 실행</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절차를 고정한다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RMAN&gt; CREATE SCRIPT full_backup COMMENT '전체 백업 + 아카이브' {</a:t>
            </a:r>
          </a:p>
          <a:p>
            <a:pPr>
              <a:spcAft>
                <a:spcPts val="0"/>
              </a:spcAft>
            </a:pPr>
            <a:r>
              <a:rPr sz="1250" b="0">
                <a:solidFill>
                  <a:srgbClr val="E6E6E6"/>
                </a:solidFill>
                <a:latin typeface="Consolas"/>
                <a:ea typeface="Consolas"/>
              </a:rPr>
              <a:t>  2&gt;   BACKUP AS COMPRESSED BACKUPSET DATABASE</a:t>
            </a:r>
          </a:p>
          <a:p>
            <a:pPr>
              <a:spcAft>
                <a:spcPts val="0"/>
              </a:spcAft>
            </a:pPr>
            <a:r>
              <a:rPr sz="1250" b="0">
                <a:solidFill>
                  <a:srgbClr val="E6E6E6"/>
                </a:solidFill>
                <a:latin typeface="Consolas"/>
                <a:ea typeface="Consolas"/>
              </a:rPr>
              <a:t>  3&gt;     FORMAT '/home/oracle/rmanbk/full_%d_%T_%U' TAG 'FULL_DAILY';</a:t>
            </a:r>
          </a:p>
          <a:p>
            <a:pPr>
              <a:spcAft>
                <a:spcPts val="0"/>
              </a:spcAft>
            </a:pPr>
            <a:r>
              <a:rPr sz="1250" b="0">
                <a:solidFill>
                  <a:srgbClr val="E6E6E6"/>
                </a:solidFill>
                <a:latin typeface="Consolas"/>
                <a:ea typeface="Consolas"/>
              </a:rPr>
              <a:t>  4&gt;   BACKUP ARCHIVELOG ALL DELETE INPUT;</a:t>
            </a:r>
          </a:p>
          <a:p>
            <a:pPr>
              <a:spcAft>
                <a:spcPts val="0"/>
              </a:spcAft>
            </a:pPr>
            <a:r>
              <a:rPr sz="1250" b="0">
                <a:solidFill>
                  <a:srgbClr val="E6E6E6"/>
                </a:solidFill>
                <a:latin typeface="Consolas"/>
                <a:ea typeface="Consolas"/>
              </a:rPr>
              <a:t>  5&gt;   DELETE NOPROMPT OBSOLETE;</a:t>
            </a:r>
          </a:p>
          <a:p>
            <a:pPr>
              <a:spcAft>
                <a:spcPts val="0"/>
              </a:spcAft>
            </a:pPr>
            <a:r>
              <a:rPr sz="1250" b="0">
                <a:solidFill>
                  <a:srgbClr val="E6E6E6"/>
                </a:solidFill>
                <a:latin typeface="Consolas"/>
                <a:ea typeface="Consolas"/>
              </a:rPr>
              <a:t>  6&gt; }</a:t>
            </a:r>
          </a:p>
          <a:p>
            <a:pPr>
              <a:spcAft>
                <a:spcPts val="0"/>
              </a:spcAft>
            </a:pPr>
            <a:r>
              <a:rPr sz="1250" b="0">
                <a:solidFill>
                  <a:srgbClr val="E6E6E6"/>
                </a:solidFill>
                <a:latin typeface="Consolas"/>
                <a:ea typeface="Consolas"/>
              </a:rPr>
              <a:t>created script full_backup</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RMAN&gt; RUN { EXECUTE SCRIPT full_backup; }</a:t>
            </a:r>
          </a:p>
          <a:p>
            <a:pPr>
              <a:spcAft>
                <a:spcPts val="0"/>
              </a:spcAft>
            </a:pPr>
            <a:r>
              <a:rPr sz="1250" b="0">
                <a:solidFill>
                  <a:srgbClr val="E6E6E6"/>
                </a:solidFill>
                <a:latin typeface="Consolas"/>
                <a:ea typeface="Consolas"/>
              </a:rPr>
              <a:t>RMAN&gt; LIST SCRIPT NAMES;</a:t>
            </a:r>
          </a:p>
          <a:p>
            <a:pPr>
              <a:spcAft>
                <a:spcPts val="0"/>
              </a:spcAft>
            </a:pPr>
            <a:r>
              <a:rPr sz="1250" b="0">
                <a:solidFill>
                  <a:srgbClr val="E6E6E6"/>
                </a:solidFill>
                <a:latin typeface="Consolas"/>
                <a:ea typeface="Consolas"/>
              </a:rPr>
              <a:t>RMAN&gt; PRINT SCRIPT full_backup;</a:t>
            </a:r>
          </a:p>
          <a:p>
            <a:pPr>
              <a:spcAft>
                <a:spcPts val="0"/>
              </a:spcAft>
            </a:pPr>
            <a:r>
              <a:rPr sz="1250" b="0">
                <a:solidFill>
                  <a:srgbClr val="E6E6E6"/>
                </a:solidFill>
                <a:latin typeface="Consolas"/>
                <a:ea typeface="Consolas"/>
              </a:rPr>
              <a:t>RMAN&gt; REPLACE SCRIPT full_backup { ... }</a:t>
            </a:r>
          </a:p>
          <a:p>
            <a:pPr>
              <a:spcAft>
                <a:spcPts val="0"/>
              </a:spcAft>
            </a:pPr>
            <a:r>
              <a:rPr sz="1250" b="0">
                <a:solidFill>
                  <a:srgbClr val="E6E6E6"/>
                </a:solidFill>
                <a:latin typeface="Consolas"/>
                <a:ea typeface="Consolas"/>
              </a:rPr>
              <a:t>RMAN&gt; CREATE GLOBAL SCRIPT std_full { BACKUP DATABASE PLUS ARCHIVELOG;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크론 연계</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로그가 실패 판정의 근거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[oracle@oel7v9r1 ~]$ cat /home/oracle/rman/full_backup.sh</a:t>
            </a:r>
          </a:p>
          <a:p>
            <a:pPr>
              <a:spcAft>
                <a:spcPts val="0"/>
              </a:spcAft>
            </a:pPr>
            <a:r>
              <a:rPr sz="1250" b="0">
                <a:solidFill>
                  <a:srgbClr val="7EC699"/>
                </a:solidFill>
                <a:latin typeface="Consolas"/>
                <a:ea typeface="Consolas"/>
              </a:rPr>
              <a:t>#!/bin/bash</a:t>
            </a:r>
          </a:p>
          <a:p>
            <a:pPr>
              <a:spcAft>
                <a:spcPts val="0"/>
              </a:spcAft>
            </a:pPr>
            <a:r>
              <a:rPr sz="1250" b="0">
                <a:solidFill>
                  <a:srgbClr val="E6E6E6"/>
                </a:solidFill>
                <a:latin typeface="Consolas"/>
                <a:ea typeface="Consolas"/>
              </a:rPr>
              <a:t>export ORACLE_HOME=/u01/app/oracle/product/19.3.0/dbhome_1</a:t>
            </a:r>
          </a:p>
          <a:p>
            <a:pPr>
              <a:spcAft>
                <a:spcPts val="0"/>
              </a:spcAft>
            </a:pPr>
            <a:r>
              <a:rPr sz="1250" b="0">
                <a:solidFill>
                  <a:srgbClr val="E6E6E6"/>
                </a:solidFill>
                <a:latin typeface="Consolas"/>
                <a:ea typeface="Consolas"/>
              </a:rPr>
              <a:t>export ORACLE_SID=orcl</a:t>
            </a:r>
          </a:p>
          <a:p>
            <a:pPr>
              <a:spcAft>
                <a:spcPts val="0"/>
              </a:spcAft>
            </a:pPr>
            <a:r>
              <a:rPr sz="1250" b="0">
                <a:solidFill>
                  <a:srgbClr val="E6E6E6"/>
                </a:solidFill>
                <a:latin typeface="Consolas"/>
                <a:ea typeface="Consolas"/>
              </a:rPr>
              <a:t>export PATH=$ORACLE_HOME/bin:$PATH</a:t>
            </a:r>
          </a:p>
          <a:p>
            <a:pPr>
              <a:spcAft>
                <a:spcPts val="0"/>
              </a:spcAft>
            </a:pPr>
            <a:r>
              <a:rPr sz="1250" b="0">
                <a:solidFill>
                  <a:srgbClr val="E6E6E6"/>
                </a:solidFill>
                <a:latin typeface="Consolas"/>
                <a:ea typeface="Consolas"/>
              </a:rPr>
              <a:t>LOG=/home/oracle/rman/log/full_$(date +%Y%m%d_%H%M).log</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 target / catalog rcatowner/oracle_4U@rcat \</a:t>
            </a:r>
          </a:p>
          <a:p>
            <a:pPr>
              <a:spcAft>
                <a:spcPts val="0"/>
              </a:spcAft>
            </a:pPr>
            <a:r>
              <a:rPr sz="1250" b="0">
                <a:solidFill>
                  <a:srgbClr val="E6E6E6"/>
                </a:solidFill>
                <a:latin typeface="Consolas"/>
                <a:ea typeface="Consolas"/>
              </a:rPr>
              <a:t>  cmdfile=/home/oracle/rman/full.rmn log=$LOG</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if grep -q 'RMAN-' $LOG; then</a:t>
            </a:r>
          </a:p>
          <a:p>
            <a:pPr>
              <a:spcAft>
                <a:spcPts val="0"/>
              </a:spcAft>
            </a:pPr>
            <a:r>
              <a:rPr sz="1250" b="0">
                <a:solidFill>
                  <a:srgbClr val="E6E6E6"/>
                </a:solidFill>
                <a:latin typeface="Consolas"/>
                <a:ea typeface="Consolas"/>
              </a:rPr>
              <a:t>  mailx -s "[ORCL] RMAN backup FAILED" dba@example.com &lt; $LOG</a:t>
            </a:r>
          </a:p>
          <a:p>
            <a:pPr>
              <a:spcAft>
                <a:spcPts val="0"/>
              </a:spcAft>
            </a:pPr>
            <a:r>
              <a:rPr sz="1250" b="0">
                <a:solidFill>
                  <a:srgbClr val="E6E6E6"/>
                </a:solidFill>
                <a:latin typeface="Consolas"/>
                <a:ea typeface="Consolas"/>
              </a:rPr>
              <a:t>fi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User Managed와 RMAN 대조</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이 장의 결론</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작업                | User Managed                | RMAN</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구조 확인           | v$datafile 조회 후 기록     | REPORT SCHEMA</a:t>
            </a:r>
          </a:p>
          <a:p>
            <a:pPr>
              <a:spcAft>
                <a:spcPts val="0"/>
              </a:spcAft>
            </a:pPr>
            <a:r>
              <a:rPr sz="1250" b="0">
                <a:solidFill>
                  <a:srgbClr val="E6E6E6"/>
                </a:solidFill>
                <a:latin typeface="Consolas"/>
                <a:ea typeface="Consolas"/>
              </a:rPr>
              <a:t>백업                | BEGIN BACKUP + cp + END     | BACKUP DATABASE</a:t>
            </a:r>
          </a:p>
          <a:p>
            <a:pPr>
              <a:spcAft>
                <a:spcPts val="0"/>
              </a:spcAft>
            </a:pPr>
            <a:r>
              <a:rPr sz="1250" b="0">
                <a:solidFill>
                  <a:srgbClr val="E6E6E6"/>
                </a:solidFill>
                <a:latin typeface="Consolas"/>
                <a:ea typeface="Consolas"/>
              </a:rPr>
              <a:t>백업 위치 기록      | 매니페스트에 사람이         | 리포지터리에 자동</a:t>
            </a:r>
          </a:p>
          <a:p>
            <a:pPr>
              <a:spcAft>
                <a:spcPts val="0"/>
              </a:spcAft>
            </a:pPr>
            <a:r>
              <a:rPr sz="1250" b="0">
                <a:solidFill>
                  <a:srgbClr val="E6E6E6"/>
                </a:solidFill>
                <a:latin typeface="Consolas"/>
                <a:ea typeface="Consolas"/>
              </a:rPr>
              <a:t>백업 유효성 확인    | 복원해 봐야 안다            | VALIDATE / CROSSCHECK</a:t>
            </a:r>
          </a:p>
          <a:p>
            <a:pPr>
              <a:spcAft>
                <a:spcPts val="0"/>
              </a:spcAft>
            </a:pPr>
            <a:r>
              <a:rPr sz="1250" b="0">
                <a:solidFill>
                  <a:srgbClr val="E6E6E6"/>
                </a:solidFill>
                <a:latin typeface="Consolas"/>
                <a:ea typeface="Consolas"/>
              </a:rPr>
              <a:t>불필요 백업 판정    | 사람이 날짜로               | REPORT OBSOLETE</a:t>
            </a:r>
          </a:p>
          <a:p>
            <a:pPr>
              <a:spcAft>
                <a:spcPts val="0"/>
              </a:spcAft>
            </a:pPr>
            <a:r>
              <a:rPr sz="1250" b="0">
                <a:solidFill>
                  <a:srgbClr val="E6E6E6"/>
                </a:solidFill>
                <a:latin typeface="Consolas"/>
                <a:ea typeface="Consolas"/>
              </a:rPr>
              <a:t>복원 대상 판별      | v$recover_file 로 사람이    | 자동</a:t>
            </a:r>
          </a:p>
          <a:p>
            <a:pPr>
              <a:spcAft>
                <a:spcPts val="0"/>
              </a:spcAft>
            </a:pPr>
            <a:r>
              <a:rPr sz="1250" b="0">
                <a:solidFill>
                  <a:srgbClr val="E6E6E6"/>
                </a:solidFill>
                <a:latin typeface="Consolas"/>
                <a:ea typeface="Consolas"/>
              </a:rPr>
              <a:t>아카이브 경로 지정  | 사람이 입력                 | 자동</a:t>
            </a:r>
          </a:p>
          <a:p>
            <a:pPr>
              <a:spcAft>
                <a:spcPts val="0"/>
              </a:spcAft>
            </a:pPr>
            <a:r>
              <a:rPr sz="1250" b="0">
                <a:solidFill>
                  <a:srgbClr val="E6E6E6"/>
                </a:solidFill>
                <a:latin typeface="Consolas"/>
                <a:ea typeface="Consolas"/>
              </a:rPr>
              <a:t>TEMP 재생성         | ADD TEMPFILE 수동           | 자동</a:t>
            </a:r>
          </a:p>
          <a:p>
            <a:pPr>
              <a:spcAft>
                <a:spcPts val="0"/>
              </a:spcAft>
            </a:pPr>
            <a:r>
              <a:rPr sz="1250" b="0">
                <a:solidFill>
                  <a:srgbClr val="E6E6E6"/>
                </a:solidFill>
                <a:latin typeface="Consolas"/>
                <a:ea typeface="Consolas"/>
              </a:rPr>
              <a:t>복구 지점 결정      | 사람                        | 사람</a:t>
            </a:r>
          </a:p>
          <a:p>
            <a:pPr>
              <a:spcAft>
                <a:spcPts val="0"/>
              </a:spcAft>
            </a:pPr>
            <a:r>
              <a:rPr sz="1250" b="0">
                <a:solidFill>
                  <a:srgbClr val="E6E6E6"/>
                </a:solidFill>
                <a:latin typeface="Consolas"/>
                <a:ea typeface="Consolas"/>
              </a:rPr>
              <a:t>손실 범위 산정      | 사람                        | 사람</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구성 점검 체크리스트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인수인계 시 그대로 사용</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점검 항목              | 확인 방법                     | 기준</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접속 가능              | rman target /                 | DBID 표시</a:t>
            </a:r>
          </a:p>
          <a:p>
            <a:pPr>
              <a:spcAft>
                <a:spcPts val="0"/>
              </a:spcAft>
            </a:pPr>
            <a:r>
              <a:rPr sz="1250" b="0">
                <a:solidFill>
                  <a:srgbClr val="E6E6E6"/>
                </a:solidFill>
                <a:latin typeface="Consolas"/>
                <a:ea typeface="Consolas"/>
              </a:rPr>
              <a:t>리포지터리 종류        | SHOW ALL 첫 줄                | 의도와 일치</a:t>
            </a:r>
          </a:p>
          <a:p>
            <a:pPr>
              <a:spcAft>
                <a:spcPts val="0"/>
              </a:spcAft>
            </a:pPr>
            <a:r>
              <a:rPr sz="1250" b="0">
                <a:solidFill>
                  <a:srgbClr val="E6E6E6"/>
                </a:solidFill>
                <a:latin typeface="Consolas"/>
                <a:ea typeface="Consolas"/>
              </a:rPr>
              <a:t>컨트롤파일 자동 백업   | SHOW ALL                      | ON</a:t>
            </a:r>
          </a:p>
          <a:p>
            <a:pPr>
              <a:spcAft>
                <a:spcPts val="0"/>
              </a:spcAft>
            </a:pPr>
            <a:r>
              <a:rPr sz="1250" b="0">
                <a:solidFill>
                  <a:srgbClr val="E6E6E6"/>
                </a:solidFill>
                <a:latin typeface="Consolas"/>
                <a:ea typeface="Consolas"/>
              </a:rPr>
              <a:t>자동 백업 위치         | SHOW ALL                      | 데이터와 분리</a:t>
            </a:r>
          </a:p>
          <a:p>
            <a:pPr>
              <a:spcAft>
                <a:spcPts val="0"/>
              </a:spcAft>
            </a:pPr>
            <a:r>
              <a:rPr sz="1250" b="0">
                <a:solidFill>
                  <a:srgbClr val="E6E6E6"/>
                </a:solidFill>
                <a:latin typeface="Consolas"/>
                <a:ea typeface="Consolas"/>
              </a:rPr>
              <a:t>보존 정책              | SHOW ALL                      | 복구 요건과 일치</a:t>
            </a:r>
          </a:p>
          <a:p>
            <a:pPr>
              <a:spcAft>
                <a:spcPts val="0"/>
              </a:spcAft>
            </a:pPr>
            <a:r>
              <a:rPr sz="1250" b="0">
                <a:solidFill>
                  <a:srgbClr val="E6E6E6"/>
                </a:solidFill>
                <a:latin typeface="Consolas"/>
                <a:ea typeface="Consolas"/>
              </a:rPr>
              <a:t>기록 수명              | control_file_record_keep_time | 보존 기간 이상</a:t>
            </a:r>
          </a:p>
          <a:p>
            <a:pPr>
              <a:spcAft>
                <a:spcPts val="0"/>
              </a:spcAft>
            </a:pPr>
            <a:r>
              <a:rPr sz="1250" b="0">
                <a:solidFill>
                  <a:srgbClr val="E6E6E6"/>
                </a:solidFill>
                <a:latin typeface="Consolas"/>
                <a:ea typeface="Consolas"/>
              </a:rPr>
              <a:t>채널 병렬도            | SHOW ALL                      | 디스크 성능에 맞춤</a:t>
            </a:r>
          </a:p>
          <a:p>
            <a:pPr>
              <a:spcAft>
                <a:spcPts val="0"/>
              </a:spcAft>
            </a:pPr>
            <a:r>
              <a:rPr sz="1250" b="0">
                <a:solidFill>
                  <a:srgbClr val="E6E6E6"/>
                </a:solidFill>
                <a:latin typeface="Consolas"/>
                <a:ea typeface="Consolas"/>
              </a:rPr>
              <a:t>백업 위치 여유         | df -h                         | 전체 크기의 2배+</a:t>
            </a:r>
          </a:p>
          <a:p>
            <a:pPr>
              <a:spcAft>
                <a:spcPts val="0"/>
              </a:spcAft>
            </a:pPr>
            <a:r>
              <a:rPr sz="1250" b="0">
                <a:solidFill>
                  <a:srgbClr val="E6E6E6"/>
                </a:solidFill>
                <a:latin typeface="Consolas"/>
                <a:ea typeface="Consolas"/>
              </a:rPr>
              <a:t>정기 작업 등록         | crontab -l                    | 존재·로그 남김</a:t>
            </a:r>
          </a:p>
          <a:p>
            <a:pPr>
              <a:spcAft>
                <a:spcPts val="0"/>
              </a:spcAft>
            </a:pPr>
            <a:r>
              <a:rPr sz="1250" b="0">
                <a:solidFill>
                  <a:srgbClr val="E6E6E6"/>
                </a:solidFill>
                <a:latin typeface="Consolas"/>
                <a:ea typeface="Consolas"/>
              </a:rPr>
              <a:t>카탈로그 백업          | RCAT의 백업 이력              | 정기 수행</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1</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기본 리포지터리</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RMAN이 별도 설정 없이 사용하는 리포지터리는?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Recovery Catalog</a:t>
            </a:r>
          </a:p>
          <a:p>
            <a:pPr>
              <a:spcAft>
                <a:spcPts val="800"/>
              </a:spcAft>
            </a:pPr>
            <a:r>
              <a:rPr sz="1700" b="0">
                <a:solidFill>
                  <a:srgbClr val="202830"/>
                </a:solidFill>
                <a:latin typeface="Malgun Gothic"/>
                <a:ea typeface="Malgun Gothic"/>
              </a:rPr>
              <a:t>대상 데이터베이스의 컨트롤파일</a:t>
            </a:r>
          </a:p>
          <a:p>
            <a:pPr>
              <a:spcAft>
                <a:spcPts val="800"/>
              </a:spcAft>
            </a:pPr>
            <a:r>
              <a:rPr sz="1700" b="0">
                <a:solidFill>
                  <a:srgbClr val="202830"/>
                </a:solidFill>
                <a:latin typeface="Malgun Gothic"/>
                <a:ea typeface="Malgun Gothic"/>
              </a:rPr>
              <a:t>spfile</a:t>
            </a:r>
          </a:p>
          <a:p>
            <a:pPr>
              <a:spcAft>
                <a:spcPts val="800"/>
              </a:spcAft>
            </a:pPr>
            <a:r>
              <a:rPr sz="1700" b="0">
                <a:solidFill>
                  <a:srgbClr val="202830"/>
                </a:solidFill>
                <a:latin typeface="Malgun Gothic"/>
                <a:ea typeface="Malgun Gothic"/>
              </a:rPr>
              <a:t>alert log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2</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EXPIRED와 OBSOLETE</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두 상태의 차이로 옳은 것은?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같은 뜻이다</a:t>
            </a:r>
          </a:p>
          <a:p>
            <a:pPr>
              <a:spcAft>
                <a:spcPts val="800"/>
              </a:spcAft>
            </a:pPr>
            <a:r>
              <a:rPr sz="1700" b="0">
                <a:solidFill>
                  <a:srgbClr val="202830"/>
                </a:solidFill>
                <a:latin typeface="Malgun Gothic"/>
                <a:ea typeface="Malgun Gothic"/>
              </a:rPr>
              <a:t>EXPIRED는 파일이 실제로 없는 상태, OBSOLETE는 정책상 불필요해진 상태</a:t>
            </a:r>
          </a:p>
          <a:p>
            <a:pPr>
              <a:spcAft>
                <a:spcPts val="800"/>
              </a:spcAft>
            </a:pPr>
            <a:r>
              <a:rPr sz="1700" b="0">
                <a:solidFill>
                  <a:srgbClr val="202830"/>
                </a:solidFill>
                <a:latin typeface="Malgun Gothic"/>
                <a:ea typeface="Malgun Gothic"/>
              </a:rPr>
              <a:t>EXPIRED는 정책상 불필요, OBSOLETE는 파일 부재</a:t>
            </a:r>
          </a:p>
          <a:p>
            <a:pPr>
              <a:spcAft>
                <a:spcPts val="800"/>
              </a:spcAft>
            </a:pPr>
            <a:r>
              <a:rPr sz="1700" b="0">
                <a:solidFill>
                  <a:srgbClr val="202830"/>
                </a:solidFill>
                <a:latin typeface="Malgun Gothic"/>
                <a:ea typeface="Malgun Gothic"/>
              </a:rPr>
              <a:t>둘 다 파일이 손상된 상태</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3</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자동 백업 FORMAT의 %F</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컨트롤파일 자동 백업 FORMAT에 %F를 넣는 이유는?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파일 크기를 줄이려고</a:t>
            </a:r>
          </a:p>
          <a:p>
            <a:pPr>
              <a:spcAft>
                <a:spcPts val="800"/>
              </a:spcAft>
            </a:pPr>
            <a:r>
              <a:rPr sz="1700" b="0">
                <a:solidFill>
                  <a:srgbClr val="202830"/>
                </a:solidFill>
                <a:latin typeface="Malgun Gothic"/>
                <a:ea typeface="Malgun Gothic"/>
              </a:rPr>
              <a:t>DBID가 파일명에 들어가 컨트롤파일을 모두 잃어도 찾을 수 있어서</a:t>
            </a:r>
          </a:p>
          <a:p>
            <a:pPr>
              <a:spcAft>
                <a:spcPts val="800"/>
              </a:spcAft>
            </a:pPr>
            <a:r>
              <a:rPr sz="1700" b="0">
                <a:solidFill>
                  <a:srgbClr val="202830"/>
                </a:solidFill>
                <a:latin typeface="Malgun Gothic"/>
                <a:ea typeface="Malgun Gothic"/>
              </a:rPr>
              <a:t>압축이 적용되어서</a:t>
            </a:r>
          </a:p>
          <a:p>
            <a:pPr>
              <a:spcAft>
                <a:spcPts val="800"/>
              </a:spcAft>
            </a:pPr>
            <a:r>
              <a:rPr sz="1700" b="0">
                <a:solidFill>
                  <a:srgbClr val="202830"/>
                </a:solidFill>
                <a:latin typeface="Malgun Gothic"/>
                <a:ea typeface="Malgun Gothic"/>
              </a:rPr>
              <a:t>병렬도가 올라가서</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요약</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RMAN은 백업 메타데이터를 스스로 관리해 기록 의존을 없앤다</a:t>
            </a:r>
          </a:p>
          <a:p>
            <a:pPr>
              <a:spcAft>
                <a:spcPts val="600"/>
              </a:spcAft>
            </a:pPr>
            <a:r>
              <a:rPr sz="1800" b="0">
                <a:solidFill>
                  <a:srgbClr val="202830"/>
                </a:solidFill>
                <a:latin typeface="Malgun Gothic"/>
                <a:ea typeface="Malgun Gothic"/>
              </a:rPr>
              <a:t>•  기본 리포지터리는 컨트롤파일, 기록 수명 기본 7일</a:t>
            </a:r>
          </a:p>
          <a:p>
            <a:pPr>
              <a:spcAft>
                <a:spcPts val="600"/>
              </a:spcAft>
            </a:pPr>
            <a:r>
              <a:rPr sz="1800" b="0">
                <a:solidFill>
                  <a:srgbClr val="202830"/>
                </a:solidFill>
                <a:latin typeface="Malgun Gothic"/>
                <a:ea typeface="Malgun Gothic"/>
              </a:rPr>
              <a:t>•  자동 백업이 리포지터리 자체의 사본 — %F로 DBID 포함</a:t>
            </a:r>
          </a:p>
          <a:p>
            <a:pPr>
              <a:spcAft>
                <a:spcPts val="600"/>
              </a:spcAft>
            </a:pPr>
            <a:r>
              <a:rPr sz="1800" b="0">
                <a:solidFill>
                  <a:srgbClr val="202830"/>
                </a:solidFill>
                <a:latin typeface="Malgun Gothic"/>
                <a:ea typeface="Malgun Gothic"/>
              </a:rPr>
              <a:t>•  카탈로그는 별도 장비의 별도 DB에, CREATE → REGISTER</a:t>
            </a:r>
          </a:p>
          <a:p>
            <a:pPr>
              <a:spcAft>
                <a:spcPts val="600"/>
              </a:spcAft>
            </a:pPr>
            <a:r>
              <a:rPr sz="1800" b="0">
                <a:solidFill>
                  <a:srgbClr val="202830"/>
                </a:solidFill>
                <a:latin typeface="Malgun Gothic"/>
                <a:ea typeface="Malgun Gothic"/>
              </a:rPr>
              <a:t>•  CONFIGURE는 영구 저장, RUN 블록 설정은 블록 종료 시 소멸</a:t>
            </a:r>
          </a:p>
          <a:p>
            <a:pPr>
              <a:spcAft>
                <a:spcPts val="600"/>
              </a:spcAft>
            </a:pPr>
            <a:r>
              <a:rPr sz="1800" b="0">
                <a:solidFill>
                  <a:srgbClr val="202830"/>
                </a:solidFill>
                <a:latin typeface="Malgun Gothic"/>
                <a:ea typeface="Malgun Gothic"/>
              </a:rPr>
              <a:t>•  보존 정책은 판정 기준, 삭제는 DELETE 명령이 수행</a:t>
            </a:r>
          </a:p>
          <a:p>
            <a:pPr>
              <a:spcAft>
                <a:spcPts val="600"/>
              </a:spcAft>
            </a:pPr>
            <a:r>
              <a:rPr sz="1800" b="0">
                <a:solidFill>
                  <a:srgbClr val="202830"/>
                </a:solidFill>
                <a:latin typeface="Malgun Gothic"/>
                <a:ea typeface="Malgun Gothic"/>
              </a:rPr>
              <a:t>•  복구 지점과 손실 범위 판단은 여전히 사람의 몫</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실습 13 개요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실습 13-1  RMAN nocatalog 접속과 REPORT SCHEMA</a:t>
            </a:r>
          </a:p>
          <a:p>
            <a:pPr>
              <a:spcAft>
                <a:spcPts val="600"/>
              </a:spcAft>
            </a:pPr>
            <a:r>
              <a:rPr sz="1800" b="0">
                <a:solidFill>
                  <a:srgbClr val="202830"/>
                </a:solidFill>
                <a:latin typeface="Malgun Gothic"/>
                <a:ea typeface="Malgun Gothic"/>
              </a:rPr>
              <a:t>•  실습 13-2  리스너·tnsnames 구성과 카탈로그 DB 연결</a:t>
            </a:r>
          </a:p>
          <a:p>
            <a:pPr>
              <a:spcAft>
                <a:spcPts val="600"/>
              </a:spcAft>
            </a:pPr>
            <a:r>
              <a:rPr sz="1800" b="0">
                <a:solidFill>
                  <a:srgbClr val="202830"/>
                </a:solidFill>
                <a:latin typeface="Malgun Gothic"/>
                <a:ea typeface="Malgun Gothic"/>
              </a:rPr>
              <a:t>•  실습 13-3  Recovery Catalog 생성과 대상 등록</a:t>
            </a:r>
          </a:p>
          <a:p>
            <a:pPr>
              <a:spcAft>
                <a:spcPts val="600"/>
              </a:spcAft>
            </a:pPr>
            <a:r>
              <a:rPr sz="1800" b="0">
                <a:solidFill>
                  <a:srgbClr val="202830"/>
                </a:solidFill>
                <a:latin typeface="Malgun Gothic"/>
                <a:ea typeface="Malgun Gothic"/>
              </a:rPr>
              <a:t>•  실습 13-4  CONFIGURE 영구 설정과 SHOW ALL</a:t>
            </a:r>
          </a:p>
          <a:p>
            <a:pPr>
              <a:spcAft>
                <a:spcPts val="600"/>
              </a:spcAft>
            </a:pPr>
            <a:r>
              <a:rPr sz="1800" b="0">
                <a:solidFill>
                  <a:srgbClr val="202830"/>
                </a:solidFill>
                <a:latin typeface="Malgun Gothic"/>
                <a:ea typeface="Malgun Gothic"/>
              </a:rPr>
              <a:t>•  실습 13-5  보존 정책과 REPORT/DELETE OBSOLETE</a:t>
            </a:r>
          </a:p>
          <a:p>
            <a:pPr>
              <a:spcAft>
                <a:spcPts val="600"/>
              </a:spcAft>
            </a:pPr>
            <a:r>
              <a:rPr sz="1800" b="0">
                <a:solidFill>
                  <a:srgbClr val="202830"/>
                </a:solidFill>
                <a:latin typeface="Malgun Gothic"/>
                <a:ea typeface="Malgun Gothic"/>
              </a:rPr>
              <a:t>•  실습 13-6  LIST/REPORT와 CROSSCHECK</a:t>
            </a:r>
          </a:p>
          <a:p>
            <a:pPr>
              <a:spcAft>
                <a:spcPts val="600"/>
              </a:spcAft>
            </a:pPr>
            <a:r>
              <a:rPr sz="1800" b="0">
                <a:solidFill>
                  <a:srgbClr val="202830"/>
                </a:solidFill>
                <a:latin typeface="Malgun Gothic"/>
                <a:ea typeface="Malgun Gothic"/>
              </a:rPr>
              <a:t>•  실습 13-7  RESYNC CATALOG와 Stored Script</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1F5CA8"/>
                </a:solidFill>
                <a:latin typeface="Malgun Gothic"/>
                <a:ea typeface="Malgun Gothic"/>
              </a:rPr>
              <a:t>실습 준비:</a:t>
            </a:r>
          </a:p>
          <a:p>
            <a:pPr>
              <a:spcAft>
                <a:spcPts val="0"/>
              </a:spcAft>
            </a:pPr>
            <a:r>
              <a:rPr sz="1250" b="0">
                <a:solidFill>
                  <a:srgbClr val="202830"/>
                </a:solidFill>
                <a:latin typeface="Malgun Gothic"/>
                <a:ea typeface="Malgun Gothic"/>
              </a:rPr>
              <a:t>카탈로그용 인스턴스 RCAT이 기동되어 있어야 하며 리스너가 두 SID를 모두 서비스해야 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
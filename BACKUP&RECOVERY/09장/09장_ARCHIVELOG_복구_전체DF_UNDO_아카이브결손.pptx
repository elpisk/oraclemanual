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8장이 무중단 복구가 가능한 경우를 다뤘다면 9장은 데이터베이스를 내려야 하는 경우를 다룬다. 전체 데이터파일 손상과 UNDO 손상이 그 대표 사례다. 여기에 아카이브 자체의 문제가 더해진다. 결손과 다중 대상, 용량 부족 세 가지다. 아카이브는 ARCHIVELOG 복구의 재료이므로 그 관리가 곧 복구 가능성이 된다. 본문 26,226자를 발표용으로 압축한 자료다.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목표는 두 계열로 나뉜다. 앞의 세 가지는 파일 손상이고 뒤의 세 가지는 아카이브 문제다. 파일 손상은 8장의 절차를 규모만 키운 것이라 어렵지 않다. 정작 실무에서 자주 겪는 것은 뒤쪽 세 가지이며, 특히 아카이브 대상이 가득 차 데이터베이스가 멈추는 상황은 복구 능력이 아니라 일상 관리의 문제다. 이 구분을 먼저 짚어 두면 절마다 무게를 어디에 둘지가 분명해진다.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절은 '파일이 없는가, 아카이브가 없는가'라는 두 축으로 정리된다. 파일이 없어도 아카이브가 연속이면 완전 복구가 되고, 아카이브가 없어도 온라인 리두가 남아 있으면 구제된다. 둘 다 없으면 10장의 불완전 복구로 넘어간다. 9.5절은 복구가 아니라 가용성의 주제이므로 성격이 다르지만 아카이브 관리라는 공통 축에서 함께 다룬다. 실습이 일곱 개이므로 시간 배분을 미리 계획한다.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9.1절은 규모가 가장 큰 복구다. 그러나 절차 자체는 8장의 여러 파일 손상과 다르지 않다. 달라지는 것은 복원과 적용에 걸리는 시간뿐이다. 이 절의 핵심 메시지는 '아카이브가 연속이면 데이터파일이 전부 없어져도 손실이 없다'는 것이다. NOARCHIVELOG 환경에서 같은 상황이 큰 손실로 끝났던 것과 나란히 놓고 대비시킨다. 절 끝에서는 복구 시간 산정과 검증 항목도 함께 다룬다.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손상이라는 규모에 압도되지 않고 세 질문으로 상황을 정리하는 훈련이 필요하다. 질문의 순서도 의미가 있다. 컨트롤파일이 없으면 나머지를 판정할 수 없고, 백업본이 없으면 복원할 대상이 없으며, 아카이브가 없으면 적용할 재료가 없다. 세 가지가 모두 갖춰지면 데이터파일이 전부 없어져도 손실이 발생하지 않는다는 결론이 나온다. 이 판정을 몇 분 안에 끝내는 것이 실무의 목표다.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 메시지만 보고 파일 하나가 문제라고 판단하는 실수가 흔하다. STARTUP은 첫 번째로 문제가 된 파일만 보고하고 멈춘다. 전체 목록은 MOUNT 상태에서 v$recover_file 로 확인해야 한다. 복원 대상을 정확히 파악하지 못하면 복구를 여러 번 반복하게 된다. 실제 파일 존재 여부도 OS에서 함께 확인해 대조하는 습관이 필요하다. 멀쩡한 파일까지 복원하면 복구할 구간만 늘어난다.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AUTORECOVERY ON 을 먼저 설정하면 아카이브 경로가 자동 계산되어 프롬프트 없이 진행된다. 적용할 아카이브가 많으면 시간이 오래 걸리므로 별도 세션에서 진행 상황을 확인한다. TEMP 파일은 복원 대상이 아니며 컨트롤파일 정보가 있으면 기동 시 자동 재생성된다. RESETLOGS 없이 열렸다는 사실이 완전 복구의 증거이며 기존 백업본도 계속 유효하다.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파일이 수십 개인 환경에서 RENAME을 손으로 치면 오타가 나기 마련이다. 조회 결과로 스크립트를 생성하면 실수를 없앨 수 있다. 경로 규칙이 정해져 있으면 REPLACE 하나로 끝난다. 이 쿼리를 복구 절차서에 넣어 두면 장애 시 바로 쓸 수 있다. RENAME이 모두 끝난 뒤에 복구를 시작해야 새 경로의 파일이 대상이 된다는 순서도 다시 강조한다. 경로가 바뀌면 백업 스크립트도 함께 고쳐야 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항목이 실무에서 가장 자주 생략된다. 백업이 매일 성공했다는 로그만 보고 안심하다가 정작 복원해 보니 파일이 깨져 있거나 일부가 빠져 있는 경우가 있다. 복구 훈련은 절차 검증과 시간 측정을 겸하는 작업이다. 측정값이 RTO를 넘으면 백업 주기를 줄이거나 증분 백업으로 전환하는 등 전략을 바꿔야 한다. 전체 복원에서는 객체 유효성 확인도 함께 수행한다.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9.2절은 5장의 UNDO 손상을 ARCHIVELOG 환경에서 다시 본다. 특성 자체는 같다. 떼어 낼 수는 있으나 떼어 낸 채로는 열 수 없고, 그래서 무중단 복구가 불가능하다. 달라지는 것은 결말이다. 아카이브가 있으면 복원 후 완전 복구가 되며 5장에서 리두 부족으로 전체 복원까지 갔던 경로가 사라진다. 여기에 UNDO 전환이라는 선택지도 추가되어 대응 폭이 넓어진다.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증상 조합은 5장에서 이미 익힌 것이다. 읽기는 캐시된 블록으로 처리되지만 변경은 언두 블록을 새로 할당해야 하므로 실패한다. 현업에서 조회는 되는데 저장이 안 된다는 신고가 들어오면 UNDO를 먼저 의심하도록 훈련시킨다. 진단은 같지만 결말이 달라진다는 것이 이 장에서 다시 다루는 이유이며, 아카이브가 있으면 완전 복구로 끝난다. 진단 단계에서 v$recover_file 로 파일 번호를 확인해 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항목을 강조한다. v$recover_file 이 비었다는 것만으로는 UNDO 복구가 끝났다고 볼 수 없다. 실제로 UPDATE를 수행하고 ROLLBACK 해 보는 것이 확실한 검증이다. 1장에서 배운 '롤포워드가 롤백보다 먼저인 이유'가 여기서도 그대로 성립한다. 언두 블록도 데이터 블록이므로 리두 적용 대상이며, 온전한 언두를 얻은 뒤에야 롤백이 가능하다.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UNDO_TABLESPACE가 동적 파라미터라는 점이 이 방법을 가능하게 한다. 재기동 없이 전환되므로 서비스가 즉시 재개된다. 다만 응급 조치라는 점을 분명히 해야 한다. 손상된 UNDO에 남아 있던 언두는 되살아나지 않고, PARTLY AVAILABLE 상태의 세그먼트가 남아 있으면 그 테이블스페이스를 지울 수도 없다. 계획된 유지 보수 시간에 정식 복구나 정리를 수행해야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실무 사례를 하나 들어 주면 마지막 항목이 설득력을 얻는다. UNDO 오류가 날 때마다 새 테이블스페이스를 만들어 전환한 결과 정리되지 않은 UNDO가 여러 개 쌓인 사례가 있다. 서비스는 매번 살아났지만 디스크가 차고 원인 파악도 어려워졌다. 전환은 응급 조치이며 반드시 후속 정리와 근본 원인 분석이 따라야 한다. UNDO 부족이 원인이면 크기를 늘리는 것이 맞고, 손상이면 정식 복구가 맞다.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9.3절은 2장에서 구성한 다중 대상의 가치가 실제로 드러나는 자리다. 아카이브는 위치와 무관하게 내용이 같으므로 어느 대상의 파일이든 복구에 쓸 수 있다. 문제는 복구 명령이 기본 경로만 찾는다는 것이다. 그래서 다른 대상의 경로를 알려 주거나 미리 복사해 두는 요령이 필요하다. MANDATORY와 OPTIONAL의 차이도 이 절에서 다시 정리한다. 두 대상을 모두 MANDATORY로 잡았다가 멈춘 사고가 실제로 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MANDATORY 대상에 기록하지 못하면 로그 스위치가 막혀 데이터베이스가 멈춘다. 안정성을 높이려고 두 대상을 모두 MANDATORY로 잡았다가 한쪽 장애로 전체가 멈추는 사고가 있다. 가용성 관점에서는 하나만 MANDATORY로 두고 나머지는 OPTIONAL로 두는 편이 안전하다. LOG_ARCHIVE_MIN_SUCCEED_DEST 로 최소 성공 개수를 함께 조정한다.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가용성과 안전성 사이의 균형을 잡는 것이 이 구성의 핵심이다. 모든 대상을 MANDATORY로 잡으면 아카이브 손실 위험은 줄지만 한쪽 장애가 전체 정지로 이어진다. 반대로 모두 OPTIONAL로 두면 조용히 한쪽만 기록되는 상태가 오래 지속될 수 있다. 일반적으로는 하나를 MANDATORY로 두고 나머지를 OPTIONAL로 두되, v$archive_dest 상태를 정기 점검해 조용한 실패를 잡아낸다.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결손이 예상되면 SET AUTORECOVERY OFF 로 두고 수동으로 진행한다. AUTORECOVERY가 켜져 있으면 기본 경로에서 못 찾는 순간 그대로 멈춘다. 결손 구간만 손으로 넘기고 그다음에 AUTO를 입력하면 나머지는 자동으로 처리된다. 여러 시퀀스가 빠져 있다면 미리 기본 경로로 복사해 두는 편이 편하다. SET LOGSOURCE 로 아카이브 위치 자체를 바꿔 지정하는 방법도 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9.4절은 포기하기 전에 한 번 더 확인해야 할 경로를 다룬다. 아카이브가 삭제되었다는 오류를 만나면 복구가 끝났다고 판단하기 쉽지만, 필요한 구간이 아직 온라인 리두에 남아 있으면 그것으로 대체된다. 아카이브는 온라인 리두의 사본이므로 원본이 있으면 사본이 없어도 되는 것이다. 판정은 4장에서 배운 리두 생존 판정과 같은 계산이며, 계산 하나로 포기와 복구가 갈린다는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요구된 시퀀스가 v$log에 있는지 확인하는 것이 실무적인 판정 방법이다. 있으면 그 그룹의 멤버 경로를 입력하면 되고, 없으면 그 지점이 복구 한계다. 이 경우는 백업이 최근일 때 성립하므로 백업 직후 아카이브를 실수로 지웠더라도 구제될 수 있다. 판정 결과를 기록해 두면 어디까지 복구되었고 어디서 멈췄는지가 손실 산정의 근거가 된다. 이 기록이 없으면 현업 보고가 부정확해진다.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대조표를 복구 시작 전에 만들어 두면 프롬프트에서 헤매지 않는다. 요구된 시퀀스에 해당하는 그룹의 멤버 경로를 그대로 입력하면 된다. 6장의 백업 컨트롤파일 복구에서 만든 대조표와 같은 형태이며 쓰임만 다르다. 요구된 시퀀스가 이 목록에 없으면 그 지점이 복구 한계이므로 완전 복구를 포기하고 불완전 복구를 계획해야 한다. 판정 결과는 손실 산정의 근거가 되므로 기록해 둔다.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절의 결론은 아카이브 관리가 곧 복구 가능성이라는 것이다. 백업 주기와 아카이브 보관 기간을 따로 정하는 조직이 많은데 둘은 함께 설계되어야 한다. 가장 오래된 유효 백업본에서 현재까지의 아카이브가 모두 있어야 그 백업본이 의미를 갖는다. 시퀀스 연속성 점검 쿼리를 일일 작업으로 만들고, 빠진 구간이 발견되면 즉시 새 백업을 받는 것이 유일한 대응이다.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쿼리 하나면 연속성 점검이 끝난다. 개수와 기대값이 다르면 어딘가 빠져 있다는 뜻이므로 구간을 좁혀 확인한다. 일일 점검 스크립트에 넣고 결과가 어긋나면 알림이 오도록 구성한다. 빠진 구간이 발견되었을 때의 대응은 하나뿐이다. 즉시 새 전체 백업을 받는 것이다. 이미 지나간 아카이브는 어떤 방법으로도 되살릴 수 없기 때문이다. 점검 주기는 백업 주기보다 짧아야 의미가 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9.5절은 성격이 다른 주제다. 파일이 손상된 것이 아니라 아카이브를 쓸 공간이 없어 데이터베이스가 멈춘 상황이다. 복구 기술이 아니라 일상 관리의 실패이며, 그래서 더 자주 일어난다. 장애 복구 능력보다 용량 감시가 가용성에 더 크게 기여한다는 점을 이 절에서 실감시킨다. 대응 속도가 곧 피해 규모이므로 비상 절차서를 만들어 두어야 한다. 누가 무엇을 어떤 순서로 확인할지까지 적어 둔다.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일반 사용자는 접속조차 못 하지만 SYSDBA는 접속할 수 있다는 점이 이 상황의 특징이다. 인스턴스가 죽은 것이 아니라 로그 스위치만 막혔기 때문이다. v$log의 ARCHIVED 컬럼이 모두 NO이면 완전히 막힌 상태다. FRA를 쓰는 경우와 일반 디렉터리를 쓰는 경우의 오류 메시지가 다르므로 alert log를 함께 확인해 어느 쪽인지 판별한다. FRA면 ORA-19809가, 일반 디렉터리면 OS 오류가 함께 나온다.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④는 빠르지만 아카이브가 두 위치로 흩어지므로 그 사실을 반드시 기록해야 한다. 나중에 복구할 때 어느 시퀀스가 어디에 있는지 모르면 결손으로 오판하게 된다. 용량 산정은 일일 리두 생성량을 v$archived_log 로 측정해 보관 기간에 곱하고 여유율을 더한다. 월말이나 연말처럼 변경이 몰리는 시기를 기준으로 잡아야 실제로 버틴다. 산정 결과는 문서로 남기고 정기적으로 재측정한다.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평균이 아니라 최댓값으로 산정해야 한다는 점이 중요하다. 이 예에서 5월 7일은 다른 날의 두 배다. 월말 배치나 대량 적재가 있는 날을 기준으로 잡지 않으면 그날 데이터베이스가 멈춘다. 산정 결과를 문서로 남기고 정기적으로 재측정한다. 데이터 증가에 따라 리두 생성량도 늘기 때문이다. 이 쿼리는 백업 매체 용량 산정에도 그대로 쓸 수 있다. 리두 생성량은 데이터 증가와 함께 늘어난다는 점을 유의한다.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복원 후에는 객체 유효성 확인이 추가된다. 복원 시점과 딕셔너리 상태의 조합에 따라 일부 PL/SQL 객체가 INVALID로 남을 수 있다. 사용 시점에 자동 재컴파일되지만 첫 호출이 느려지므로 미리 정리해 두는 편이 낫다. 나머지 네 항목은 8장과 같으며 특히 아카이브 생성 확인을 빠뜨리면 몇 시간 뒤 ORA-00257로 다시 멈출 수 있다. 검증 결과를 복구 보고서에 함께 담는다.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표에서 읽어야 할 원칙은 세 가지다. 첫째, 아카이브가 연속이면 파일이 전부 없어져도 완전 복구가 된다. 둘째, 아카이브가 없어도 온라인 리두가 남아 있으면 구제된다. 셋째, 아카이브 대상 관리 실패는 복구가 아니라 서비스 정지의 문제다. 세 번째가 실무에서 가장 자주 일어나며, 장애 복구 능력보다 일상적인 용량 감시가 가용성에 더 크게 기여한다는 결론으로 이어진다.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아카이브가 연속으로 있으면 데이터파일이 전부 없어져도 손실이 발생하지 않는다. 첫 번째 보기는 NOARCHIVELOG 환경의 답이며 두 모드의 차이를 극명하게 보여 준다. RESETLOGS도 필요 없으므로 인카네이션이 그대로이고 기존 백업본이 계속 유효하다. 다만 복원과 적용에 시간이 걸리므로 RTO 관점의 준비는 별도로 필요하다. 백업 주기와 증분 백업 도입이 그 준비에 해당한다.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아카이브는 온라인 리두의 사본이므로 원본이 남아 있으면 사본이 없어도 된다. 4장에서 배운 리두 생존 판정과 정확히 같은 계산이다. 실무적으로는 요구된 시퀀스가 v$log에 있는지 확인하는 방법이 더 빠르다. 있으면 그 그룹의 멤버 경로를 입력하면 되고 없으면 그 지점이 복구 한계이므로 10장의 불완전 복구로 전환한다. 판정 없이 포기하지 않는 습관이 이 문제의 요지다.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인스턴스는 살아 있고 로그 스위치만 막힌 상태이며 SYSDBA 접속은 허용된다. 재기동은 도움이 되지 않고 오히려 종료 과정에서 더 막힐 수 있다. 공간을 확보한 뒤 ALTER SYSTEM ARCHIVE LOG ALL 로 밀린 아카이브를 처리하면 서비스가 재개된다. 아카이브 모드 해제는 복구 가능성을 버리는 선택이므로 답이 될 수 없다.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UNDO_TABLESPACE는 동적 파라미터라 재기동 없이 전환된다. 첫 번째 보기가 틀린 이유가 중요하다. UNDO를 OFFLINE 하면 새 트랜잭션을 시작할 수 없어 서비스가 멈추므로 무중단이 되지 않는다. 다만 전환은 응급 조치이며 손상된 UNDO에 남아 있던 언두는 되살아나지 않는다. 정식 복구나 정리가 반드시 뒤따라야 한다. 세 번째 보기는 이 상황과 무관한 명령이라는 점도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요약의 마지막 줄이 이 장 전체의 결론이다. 앞의 여섯 절차는 아카이브가 제대로 관리되고 있다는 전제 위에 서 있고, 그 전제가 깨지면 10장의 불완전 복구로 내려간다. 시퀀스 연속성 점검, 용량 감시, 백업 연동 정리 세 가지를 일상 작업으로 만들도록 지도한다. 다음 장에서는 완전 복구가 성립하지 않을 때의 선택지인 불완전 복구를 다룬다. 네 가지 기준의 UNTIL 절이 다음 장의 주제가 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실습 중 9-7이 실무에서 가장 자주 만나는 상황이므로 반드시 직접 수행하게 한다. 9-1과 9-2는 절차가 길지만 8장에서 익힌 것의 확장이라 어렵지 않다. 9-4의 UNDO 전환은 응급 조치의 성격과 후속 정리의 필요성을 함께 체감시키는 것이 목적이다. 9-6은 포기하기 전에 한 번 더 확인하는 습관을 만드는 실습이다. 시간이 부족하면 9-2와 9-5를 시연으로 대체한다.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ea typeface="Malgun Gothic"/>
              </a:rPr>
              <a:t>Oracle Database 19c Backup &amp; Recovery  ·  제9장</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ea typeface="Malgun Gothic"/>
              </a:rPr>
              <a:t>ARCHIVELOG 복구 ② 전체 데이터파일·UNDO·아카이브 결손</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ea typeface="Malgun Gothic"/>
              </a:rPr>
              <a:t>전체 복원 · 새 위치 일괄 RENAME · UNDO 전환 · 다중 대상 · 온라인 리두 대체 · ORA-00257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이 장을 마치면 다음을 수행할 수 있어야 한다.</a:t>
            </a:r>
          </a:p>
          <a:p>
            <a:pPr>
              <a:spcAft>
                <a:spcPts val="600"/>
              </a:spcAft>
            </a:pPr>
            <a:r>
              <a:rPr sz="1600" b="0">
                <a:solidFill>
                  <a:srgbClr val="5A6672"/>
                </a:solidFill>
                <a:latin typeface="Malgun Gothic"/>
                <a:ea typeface="Malgun Gothic"/>
              </a:rPr>
              <a:t>    –  모든 데이터파일 손상을 MOUNT 단계에서 일괄 복구한다</a:t>
            </a:r>
          </a:p>
          <a:p>
            <a:pPr>
              <a:spcAft>
                <a:spcPts val="600"/>
              </a:spcAft>
            </a:pPr>
            <a:r>
              <a:rPr sz="1600" b="0">
                <a:solidFill>
                  <a:srgbClr val="5A6672"/>
                </a:solidFill>
                <a:latin typeface="Malgun Gothic"/>
                <a:ea typeface="Malgun Gothic"/>
              </a:rPr>
              <a:t>    –  전체 복원 위치를 바꾸고 경로를 일괄 갱신한다</a:t>
            </a:r>
          </a:p>
          <a:p>
            <a:pPr>
              <a:spcAft>
                <a:spcPts val="600"/>
              </a:spcAft>
            </a:pPr>
            <a:r>
              <a:rPr sz="1600" b="0">
                <a:solidFill>
                  <a:srgbClr val="5A6672"/>
                </a:solidFill>
                <a:latin typeface="Malgun Gothic"/>
                <a:ea typeface="Malgun Gothic"/>
              </a:rPr>
              <a:t>    –  UNDO 데이터파일 손상을 상황별로 복구한다</a:t>
            </a:r>
          </a:p>
          <a:p>
            <a:pPr>
              <a:spcAft>
                <a:spcPts val="600"/>
              </a:spcAft>
            </a:pPr>
            <a:r>
              <a:rPr sz="1600" b="0">
                <a:solidFill>
                  <a:srgbClr val="5A6672"/>
                </a:solidFill>
                <a:latin typeface="Malgun Gothic"/>
                <a:ea typeface="Malgun Gothic"/>
              </a:rPr>
              <a:t>    –  아카이브 다중 대상의 한쪽 결손을 처리한다</a:t>
            </a:r>
          </a:p>
          <a:p>
            <a:pPr>
              <a:spcAft>
                <a:spcPts val="600"/>
              </a:spcAft>
            </a:pPr>
            <a:r>
              <a:rPr sz="1600" b="0">
                <a:solidFill>
                  <a:srgbClr val="5A6672"/>
                </a:solidFill>
                <a:latin typeface="Malgun Gothic"/>
                <a:ea typeface="Malgun Gothic"/>
              </a:rPr>
              <a:t>    –  아카이브가 없어도 온라인 리두로 복구되는 조건을 판정한다</a:t>
            </a:r>
          </a:p>
          <a:p>
            <a:pPr>
              <a:spcAft>
                <a:spcPts val="600"/>
              </a:spcAft>
            </a:pPr>
            <a:r>
              <a:rPr sz="1600" b="0">
                <a:solidFill>
                  <a:srgbClr val="5A6672"/>
                </a:solidFill>
                <a:latin typeface="Malgun Gothic"/>
                <a:ea typeface="Malgun Gothic"/>
              </a:rPr>
              <a:t>    –  아카이브 대상 full로 정지된 데이터베이스를 되살린다</a:t>
            </a:r>
          </a:p>
          <a:p>
            <a:pPr>
              <a:spcAft>
                <a:spcPts val="600"/>
              </a:spcAft>
            </a:pPr>
            <a:r>
              <a:rPr sz="1800" b="0">
                <a:solidFill>
                  <a:srgbClr val="202830"/>
                </a:solidFill>
                <a:latin typeface="Malgun Gothic"/>
                <a:ea typeface="Malgun Gothic"/>
              </a:rPr>
              <a:t>•  여섯 목표는 각각 9.1 / 9.1.3 / 9.2 / 9.3 / 9.4 / 9.5 절과 대응된다.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9.1  모든 데이터파일 손상 — 판정 · 일괄 복구 · 새 위치 · 시간 산정</a:t>
            </a:r>
          </a:p>
          <a:p>
            <a:pPr>
              <a:spcAft>
                <a:spcPts val="600"/>
              </a:spcAft>
            </a:pPr>
            <a:r>
              <a:rPr sz="1800" b="0">
                <a:solidFill>
                  <a:srgbClr val="202830"/>
                </a:solidFill>
                <a:latin typeface="Malgun Gothic"/>
                <a:ea typeface="Malgun Gothic"/>
              </a:rPr>
              <a:t>•  9.2  UNDO 데이터파일 손상 — 종료 후 복구 · 운영 중 전환 · 정리</a:t>
            </a:r>
          </a:p>
          <a:p>
            <a:pPr>
              <a:spcAft>
                <a:spcPts val="600"/>
              </a:spcAft>
            </a:pPr>
            <a:r>
              <a:rPr sz="1800" b="0">
                <a:solidFill>
                  <a:srgbClr val="202830"/>
                </a:solidFill>
                <a:latin typeface="Malgun Gothic"/>
                <a:ea typeface="Malgun Gothic"/>
              </a:rPr>
              <a:t>•  9.3  아카이브 다중 대상과 결손 — 구성 · 결손 · 경로 지정</a:t>
            </a:r>
          </a:p>
          <a:p>
            <a:pPr>
              <a:spcAft>
                <a:spcPts val="600"/>
              </a:spcAft>
            </a:pPr>
            <a:r>
              <a:rPr sz="1800" b="0">
                <a:solidFill>
                  <a:srgbClr val="202830"/>
                </a:solidFill>
                <a:latin typeface="Malgun Gothic"/>
                <a:ea typeface="Malgun Gothic"/>
              </a:rPr>
              <a:t>•  9.4  아카이브 삭제 후에도 복구되는 경우 — 온라인 리두 대체</a:t>
            </a:r>
          </a:p>
          <a:p>
            <a:pPr>
              <a:spcAft>
                <a:spcPts val="600"/>
              </a:spcAft>
            </a:pPr>
            <a:r>
              <a:rPr sz="1800" b="0">
                <a:solidFill>
                  <a:srgbClr val="202830"/>
                </a:solidFill>
                <a:latin typeface="Malgun Gothic"/>
                <a:ea typeface="Malgun Gothic"/>
              </a:rPr>
              <a:t>•  9.5  아카이브 대상 full — 증상 · 진단 · 해소 · 재발 방지</a:t>
            </a:r>
          </a:p>
          <a:p>
            <a:pPr>
              <a:spcAft>
                <a:spcPts val="600"/>
              </a:spcAft>
            </a:pPr>
            <a:r>
              <a:rPr sz="1800" b="0">
                <a:solidFill>
                  <a:srgbClr val="202830"/>
                </a:solidFill>
                <a:latin typeface="Malgun Gothic"/>
                <a:ea typeface="Malgun Gothic"/>
              </a:rPr>
              <a:t>•  9.6 판단표 · 9.7 퀴즈 · 요약 · 실습 7 개요</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B88600"/>
                </a:solidFill>
                <a:latin typeface="Malgun Gothic"/>
                <a:ea typeface="Malgun Gothic"/>
              </a:rPr>
              <a:t>참고:</a:t>
            </a:r>
          </a:p>
          <a:p>
            <a:pPr>
              <a:spcAft>
                <a:spcPts val="0"/>
              </a:spcAft>
            </a:pPr>
            <a:r>
              <a:rPr sz="1250" b="0">
                <a:solidFill>
                  <a:srgbClr val="202830"/>
                </a:solidFill>
                <a:latin typeface="Malgun Gothic"/>
                <a:ea typeface="Malgun Gothic"/>
              </a:rPr>
              <a:t>실습은 ARCHIVELOG 환경에서 진행하며, 각 실습 전 백업과 아카이브 상태를 확인한다.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9.1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모든 데이터파일이 손상된 경우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아카이브가 연속이면 파일이 전부 없어져도 손실이 없다</a:t>
            </a:r>
          </a:p>
          <a:p>
            <a:pPr>
              <a:spcAft>
                <a:spcPts val="600"/>
              </a:spcAft>
            </a:pPr>
            <a:r>
              <a:rPr sz="1600" b="0">
                <a:solidFill>
                  <a:srgbClr val="C5CED6"/>
                </a:solidFill>
                <a:latin typeface="Malgun Gothic"/>
                <a:ea typeface="Malgun Gothic"/>
              </a:rPr>
              <a:t>•  MOUNT 상태에서 RECOVER DATABASE 로 일괄 처리</a:t>
            </a:r>
          </a:p>
          <a:p>
            <a:pPr>
              <a:spcAft>
                <a:spcPts val="600"/>
              </a:spcAft>
            </a:pPr>
            <a:r>
              <a:rPr sz="1600" b="0">
                <a:solidFill>
                  <a:srgbClr val="C5CED6"/>
                </a:solidFill>
                <a:latin typeface="Malgun Gothic"/>
                <a:ea typeface="Malgun Gothic"/>
              </a:rPr>
              <a:t>•  새 위치로 복원하면 RENAME을 파일마다 수행해야 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완전 복구의 세 조건 점검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1) 컨트롤파일과 리두 로그가 살아 있는가</a:t>
            </a:r>
          </a:p>
          <a:p>
            <a:pPr>
              <a:spcAft>
                <a:spcPts val="600"/>
              </a:spcAft>
            </a:pPr>
            <a:r>
              <a:rPr sz="1600" b="0">
                <a:solidFill>
                  <a:srgbClr val="5A6672"/>
                </a:solidFill>
                <a:latin typeface="Malgun Gothic"/>
                <a:ea typeface="Malgun Gothic"/>
              </a:rPr>
              <a:t>    –  없으면 11장의 절차가 추가된다</a:t>
            </a:r>
          </a:p>
          <a:p>
            <a:pPr>
              <a:spcAft>
                <a:spcPts val="600"/>
              </a:spcAft>
            </a:pPr>
            <a:r>
              <a:rPr sz="1800" b="0">
                <a:solidFill>
                  <a:srgbClr val="202830"/>
                </a:solidFill>
                <a:latin typeface="Malgun Gothic"/>
                <a:ea typeface="Malgun Gothic"/>
              </a:rPr>
              <a:t>•  2) 모든 데이터파일의 백업본이 있는가</a:t>
            </a:r>
          </a:p>
          <a:p>
            <a:pPr>
              <a:spcAft>
                <a:spcPts val="600"/>
              </a:spcAft>
            </a:pPr>
            <a:r>
              <a:rPr sz="1600" b="0">
                <a:solidFill>
                  <a:srgbClr val="5A6672"/>
                </a:solidFill>
                <a:latin typeface="Malgun Gothic"/>
                <a:ea typeface="Malgun Gothic"/>
              </a:rPr>
              <a:t>    –  없는 파일은 CREATE DATAFILE 경로로 개별 처리</a:t>
            </a:r>
          </a:p>
          <a:p>
            <a:pPr>
              <a:spcAft>
                <a:spcPts val="600"/>
              </a:spcAft>
            </a:pPr>
            <a:r>
              <a:rPr sz="1800" b="0">
                <a:solidFill>
                  <a:srgbClr val="202830"/>
                </a:solidFill>
                <a:latin typeface="Malgun Gothic"/>
                <a:ea typeface="Malgun Gothic"/>
              </a:rPr>
              <a:t>•  3) 백업 시점부터의 아카이브가 연속인가</a:t>
            </a:r>
          </a:p>
          <a:p>
            <a:pPr>
              <a:spcAft>
                <a:spcPts val="600"/>
              </a:spcAft>
            </a:pPr>
            <a:r>
              <a:rPr sz="1600" b="0">
                <a:solidFill>
                  <a:srgbClr val="5A6672"/>
                </a:solidFill>
                <a:latin typeface="Malgun Gothic"/>
                <a:ea typeface="Malgun Gothic"/>
              </a:rPr>
              <a:t>    –  빠진 구간이 있으면 그 지점이 복구 한계</a:t>
            </a:r>
          </a:p>
          <a:p>
            <a:pPr>
              <a:spcAft>
                <a:spcPts val="600"/>
              </a:spcAft>
            </a:pPr>
            <a:r>
              <a:rPr sz="1800" b="0">
                <a:solidFill>
                  <a:srgbClr val="202830"/>
                </a:solidFill>
                <a:latin typeface="Malgun Gothic"/>
                <a:ea typeface="Malgun Gothic"/>
              </a:rPr>
              <a:t>•  세 가지가 모두 참이면 손실 없이 끝난다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전체 손상 상황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오류는 첫 파일만 알려 준다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STARTUP</a:t>
            </a:r>
          </a:p>
          <a:p>
            <a:pPr>
              <a:spcAft>
                <a:spcPts val="0"/>
              </a:spcAft>
            </a:pPr>
            <a:r>
              <a:rPr sz="1250" b="0">
                <a:solidFill>
                  <a:srgbClr val="E6E6E6"/>
                </a:solidFill>
                <a:latin typeface="Consolas"/>
                <a:ea typeface="Consolas"/>
              </a:rPr>
              <a:t>Database mounted.</a:t>
            </a:r>
          </a:p>
          <a:p>
            <a:pPr>
              <a:spcAft>
                <a:spcPts val="0"/>
              </a:spcAft>
            </a:pPr>
            <a:r>
              <a:rPr sz="1250" b="0">
                <a:solidFill>
                  <a:srgbClr val="E6E6E6"/>
                </a:solidFill>
                <a:latin typeface="Consolas"/>
                <a:ea typeface="Consolas"/>
              </a:rPr>
              <a:t>ORA-01157: cannot identify/lock data file 1 - see DBWR trace file</a:t>
            </a:r>
          </a:p>
          <a:p>
            <a:pPr>
              <a:spcAft>
                <a:spcPts val="0"/>
              </a:spcAft>
            </a:pPr>
            <a:r>
              <a:rPr sz="1250" b="0">
                <a:solidFill>
                  <a:srgbClr val="E6E6E6"/>
                </a:solidFill>
                <a:latin typeface="Consolas"/>
                <a:ea typeface="Consolas"/>
              </a:rPr>
              <a:t>ORA-01110: data file 1: '/u01/app/oracle/oradata/orcl/system01.dbf'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file#, error, change# FROM v$recover_file;</a:t>
            </a:r>
          </a:p>
          <a:p>
            <a:pPr>
              <a:spcAft>
                <a:spcPts val="0"/>
              </a:spcAft>
            </a:pPr>
            <a:r>
              <a:rPr sz="1250" b="0">
                <a:solidFill>
                  <a:srgbClr val="E6E6E6"/>
                </a:solidFill>
                <a:latin typeface="Consolas"/>
                <a:ea typeface="Consolas"/>
              </a:rPr>
              <a:t>     FILE# ERROR                    CHANGE#</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         1 FILE NOT FOUND                 0</a:t>
            </a:r>
          </a:p>
          <a:p>
            <a:pPr>
              <a:spcAft>
                <a:spcPts val="0"/>
              </a:spcAft>
            </a:pPr>
            <a:r>
              <a:rPr sz="1250" b="0">
                <a:solidFill>
                  <a:srgbClr val="E6E6E6"/>
                </a:solidFill>
                <a:latin typeface="Consolas"/>
                <a:ea typeface="Consolas"/>
              </a:rPr>
              <a:t>         3 FILE NOT FOUND                 0</a:t>
            </a:r>
          </a:p>
          <a:p>
            <a:pPr>
              <a:spcAft>
                <a:spcPts val="0"/>
              </a:spcAft>
            </a:pPr>
            <a:r>
              <a:rPr sz="1250" b="0">
                <a:solidFill>
                  <a:srgbClr val="E6E6E6"/>
                </a:solidFill>
                <a:latin typeface="Consolas"/>
                <a:ea typeface="Consolas"/>
              </a:rPr>
              <a:t>         4 FILE NOT FOUND                 0</a:t>
            </a:r>
          </a:p>
          <a:p>
            <a:pPr>
              <a:spcAft>
                <a:spcPts val="0"/>
              </a:spcAft>
            </a:pPr>
            <a:r>
              <a:rPr sz="1250" b="0">
                <a:solidFill>
                  <a:srgbClr val="E6E6E6"/>
                </a:solidFill>
                <a:latin typeface="Consolas"/>
                <a:ea typeface="Consolas"/>
              </a:rPr>
              <a:t>         7 FILE NOT FOUND                 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일괄 복구 절차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복원 → MOUNT → RECOVER DATABASE → OPEN</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SHUTDOWN ABORT</a:t>
            </a:r>
          </a:p>
          <a:p>
            <a:pPr>
              <a:spcAft>
                <a:spcPts val="0"/>
              </a:spcAft>
            </a:pPr>
            <a:r>
              <a:rPr sz="1250" b="0">
                <a:solidFill>
                  <a:srgbClr val="E6E6E6"/>
                </a:solidFill>
                <a:latin typeface="Consolas"/>
                <a:ea typeface="Consolas"/>
              </a:rPr>
              <a:t>SYS@orcl&gt; !cp -p /home/oracle/backup/ch09/*.dbf /u01/app/oracle/oradata/orcl/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STARTUP MOUNT</a:t>
            </a:r>
          </a:p>
          <a:p>
            <a:pPr>
              <a:spcAft>
                <a:spcPts val="0"/>
              </a:spcAft>
            </a:pPr>
            <a:r>
              <a:rPr sz="1250" b="0">
                <a:solidFill>
                  <a:srgbClr val="E6E6E6"/>
                </a:solidFill>
                <a:latin typeface="Consolas"/>
                <a:ea typeface="Consolas"/>
              </a:rPr>
              <a:t>SYS@orcl&gt; SET AUTORECOVERY ON</a:t>
            </a:r>
          </a:p>
          <a:p>
            <a:pPr>
              <a:spcAft>
                <a:spcPts val="0"/>
              </a:spcAft>
            </a:pPr>
            <a:r>
              <a:rPr sz="1250" b="0">
                <a:solidFill>
                  <a:srgbClr val="E6E6E6"/>
                </a:solidFill>
                <a:latin typeface="Consolas"/>
                <a:ea typeface="Consolas"/>
              </a:rPr>
              <a:t>SYS@orcl&gt; RECOVER DATABASE;</a:t>
            </a:r>
          </a:p>
          <a:p>
            <a:pPr>
              <a:spcAft>
                <a:spcPts val="0"/>
              </a:spcAft>
            </a:pPr>
            <a:r>
              <a:rPr sz="1250" b="0">
                <a:solidFill>
                  <a:srgbClr val="E6E6E6"/>
                </a:solidFill>
                <a:latin typeface="Consolas"/>
                <a:ea typeface="Consolas"/>
              </a:rPr>
              <a:t>ORA-00279: change 2411200 ... needed for thread 1</a:t>
            </a:r>
          </a:p>
          <a:p>
            <a:pPr>
              <a:spcAft>
                <a:spcPts val="0"/>
              </a:spcAft>
            </a:pPr>
            <a:r>
              <a:rPr sz="1250" b="0">
                <a:solidFill>
                  <a:srgbClr val="E6E6E6"/>
                </a:solidFill>
                <a:latin typeface="Consolas"/>
                <a:ea typeface="Consolas"/>
              </a:rPr>
              <a:t>ORA-00289: suggestion : /home/oracle/arch1/arch_1_34_1200533800.arc</a:t>
            </a:r>
          </a:p>
          <a:p>
            <a:pPr>
              <a:spcAft>
                <a:spcPts val="0"/>
              </a:spcAft>
            </a:pPr>
            <a:r>
              <a:rPr sz="1250" b="0">
                <a:solidFill>
                  <a:srgbClr val="E6E6E6"/>
                </a:solidFill>
                <a:latin typeface="Consolas"/>
                <a:ea typeface="Consolas"/>
              </a:rPr>
              <a:t>Log applied.</a:t>
            </a:r>
          </a:p>
          <a:p>
            <a:pPr>
              <a:spcAft>
                <a:spcPts val="0"/>
              </a:spcAft>
            </a:pPr>
            <a:r>
              <a:rPr sz="1250" b="0">
                <a:solidFill>
                  <a:srgbClr val="E6E6E6"/>
                </a:solidFill>
                <a:latin typeface="Consolas"/>
                <a:ea typeface="Consolas"/>
              </a:rPr>
              <a:t>Log applied.</a:t>
            </a:r>
          </a:p>
          <a:p>
            <a:pPr>
              <a:spcAft>
                <a:spcPts val="0"/>
              </a:spcAft>
            </a:pPr>
            <a:r>
              <a:rPr sz="1250" b="0">
                <a:solidFill>
                  <a:srgbClr val="E6E6E6"/>
                </a:solidFill>
                <a:latin typeface="Consolas"/>
                <a:ea typeface="Consolas"/>
              </a:rPr>
              <a:t>Media recovery complete.</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DATABASE OPEN;</a:t>
            </a:r>
          </a:p>
          <a:p>
            <a:pPr>
              <a:spcAft>
                <a:spcPts val="0"/>
              </a:spcAft>
            </a:pPr>
            <a:r>
              <a:rPr sz="1250" b="0">
                <a:solidFill>
                  <a:srgbClr val="E6E6E6"/>
                </a:solidFill>
                <a:latin typeface="Consolas"/>
                <a:ea typeface="Consolas"/>
              </a:rPr>
              <a:t>Database altered.</a:t>
            </a:r>
          </a:p>
          <a:p>
            <a:pPr>
              <a:spcAft>
                <a:spcPts val="0"/>
              </a:spcAft>
            </a:pPr>
            <a:r>
              <a:rPr sz="1250" b="0">
                <a:solidFill>
                  <a:srgbClr val="7EC699"/>
                </a:solidFill>
                <a:latin typeface="Consolas"/>
                <a:ea typeface="Consolas"/>
              </a:rPr>
              <a:t>-- RESETLOGS 없이 열렸다. 데이터 손실이 없다.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새 위치로 전체 복원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RENAME 스크립트 자동 생성</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SET LINESIZE 200 PAGESIZE 0 FEEDBACK OFF</a:t>
            </a:r>
          </a:p>
          <a:p>
            <a:pPr>
              <a:spcAft>
                <a:spcPts val="0"/>
              </a:spcAft>
            </a:pPr>
            <a:r>
              <a:rPr sz="1250" b="0">
                <a:solidFill>
                  <a:srgbClr val="E6E6E6"/>
                </a:solidFill>
                <a:latin typeface="Consolas"/>
                <a:ea typeface="Consolas"/>
              </a:rPr>
              <a:t>SYS@orcl&gt; SPOOL /home/oracle/backup/rename.sql</a:t>
            </a:r>
          </a:p>
          <a:p>
            <a:pPr>
              <a:spcAft>
                <a:spcPts val="0"/>
              </a:spcAft>
            </a:pPr>
            <a:r>
              <a:rPr sz="1250" b="0">
                <a:solidFill>
                  <a:srgbClr val="E6E6E6"/>
                </a:solidFill>
                <a:latin typeface="Consolas"/>
                <a:ea typeface="Consolas"/>
              </a:rPr>
              <a:t>SYS@orcl&gt; SELECT 'ALTER DATABASE RENAME FILE ''' || name || '''' ||</a:t>
            </a:r>
          </a:p>
          <a:p>
            <a:pPr>
              <a:spcAft>
                <a:spcPts val="0"/>
              </a:spcAft>
            </a:pPr>
            <a:r>
              <a:rPr sz="1250" b="0">
                <a:solidFill>
                  <a:srgbClr val="E6E6E6"/>
                </a:solidFill>
                <a:latin typeface="Consolas"/>
                <a:ea typeface="Consolas"/>
              </a:rPr>
              <a:t>  2         ' TO ''' || REPLACE(name, '/u01/app/oracle/oradata/orcl',</a:t>
            </a:r>
          </a:p>
          <a:p>
            <a:pPr>
              <a:spcAft>
                <a:spcPts val="0"/>
              </a:spcAft>
            </a:pPr>
            <a:r>
              <a:rPr sz="1250" b="0">
                <a:solidFill>
                  <a:srgbClr val="E6E6E6"/>
                </a:solidFill>
                <a:latin typeface="Consolas"/>
                <a:ea typeface="Consolas"/>
              </a:rPr>
              <a:t>  3         '/u02/oradata/orcl') || ''';'</a:t>
            </a:r>
          </a:p>
          <a:p>
            <a:pPr>
              <a:spcAft>
                <a:spcPts val="0"/>
              </a:spcAft>
            </a:pPr>
            <a:r>
              <a:rPr sz="1250" b="0">
                <a:solidFill>
                  <a:srgbClr val="E6E6E6"/>
                </a:solidFill>
                <a:latin typeface="Consolas"/>
                <a:ea typeface="Consolas"/>
              </a:rPr>
              <a:t>  4  FROM   v$datafile ORDER BY file#;</a:t>
            </a:r>
          </a:p>
          <a:p>
            <a:pPr>
              <a:spcAft>
                <a:spcPts val="0"/>
              </a:spcAft>
            </a:pPr>
            <a:r>
              <a:rPr sz="1250" b="0">
                <a:solidFill>
                  <a:srgbClr val="E6E6E6"/>
                </a:solidFill>
                <a:latin typeface="Consolas"/>
                <a:ea typeface="Consolas"/>
              </a:rPr>
              <a:t>SYS@orcl&gt; SPOOL OFF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@/home/oracle/backup/rename.sql</a:t>
            </a:r>
          </a:p>
          <a:p>
            <a:pPr>
              <a:spcAft>
                <a:spcPts val="0"/>
              </a:spcAft>
            </a:pPr>
            <a:r>
              <a:rPr sz="1250" b="0">
                <a:solidFill>
                  <a:srgbClr val="E6E6E6"/>
                </a:solidFill>
                <a:latin typeface="Consolas"/>
                <a:ea typeface="Consolas"/>
              </a:rPr>
              <a:t>SYS@orcl&gt; SELECT file#, name FROM v$datafile ORDER BY file#;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TEMP 파일과 마무리, 시간 산정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같은 위치 복원 → 컨트롤파일 정보로 TEMP 자동 재생성</a:t>
            </a:r>
          </a:p>
          <a:p>
            <a:pPr>
              <a:spcAft>
                <a:spcPts val="600"/>
              </a:spcAft>
            </a:pPr>
            <a:r>
              <a:rPr sz="1800" b="0">
                <a:solidFill>
                  <a:srgbClr val="202830"/>
                </a:solidFill>
                <a:latin typeface="Malgun Gothic"/>
                <a:ea typeface="Malgun Gothic"/>
              </a:rPr>
              <a:t>•  새 위치 복원 → TEMP도 함께 옮김(ADD 먼저, DROP 나중)</a:t>
            </a:r>
          </a:p>
          <a:p>
            <a:pPr>
              <a:spcAft>
                <a:spcPts val="600"/>
              </a:spcAft>
            </a:pPr>
            <a:r>
              <a:rPr sz="1800" b="0">
                <a:solidFill>
                  <a:srgbClr val="202830"/>
                </a:solidFill>
                <a:latin typeface="Malgun Gothic"/>
                <a:ea typeface="Malgun Gothic"/>
              </a:rPr>
              <a:t>•  복구 시간 = 복원 시간 + 아카이브 적용 시간</a:t>
            </a:r>
          </a:p>
          <a:p>
            <a:pPr>
              <a:spcAft>
                <a:spcPts val="600"/>
              </a:spcAft>
            </a:pPr>
            <a:r>
              <a:rPr sz="1600" b="0">
                <a:solidFill>
                  <a:srgbClr val="5A6672"/>
                </a:solidFill>
                <a:latin typeface="Malgun Gothic"/>
                <a:ea typeface="Malgun Gothic"/>
              </a:rPr>
              <a:t>    –  복원은 백업본 크기 ÷ 매체 속도로 추정</a:t>
            </a:r>
          </a:p>
          <a:p>
            <a:pPr>
              <a:spcAft>
                <a:spcPts val="600"/>
              </a:spcAft>
            </a:pPr>
            <a:r>
              <a:rPr sz="1600" b="0">
                <a:solidFill>
                  <a:srgbClr val="5A6672"/>
                </a:solidFill>
                <a:latin typeface="Malgun Gothic"/>
                <a:ea typeface="Malgun Gothic"/>
              </a:rPr>
              <a:t>    –  적용은 백업 이후 생성된 아카이브 총량으로 추정</a:t>
            </a:r>
          </a:p>
          <a:p>
            <a:pPr>
              <a:spcAft>
                <a:spcPts val="600"/>
              </a:spcAft>
            </a:pPr>
            <a:r>
              <a:rPr sz="1800" b="0">
                <a:solidFill>
                  <a:srgbClr val="202830"/>
                </a:solidFill>
                <a:latin typeface="Malgun Gothic"/>
                <a:ea typeface="Malgun Gothic"/>
              </a:rPr>
              <a:t>•  정기 복구 훈련으로 두 값을 측정해 RTO와 비교</a:t>
            </a:r>
          </a:p>
          <a:p>
            <a:pPr>
              <a:spcAft>
                <a:spcPts val="600"/>
              </a:spcAft>
            </a:pPr>
            <a:r>
              <a:rPr sz="1600" b="0">
                <a:solidFill>
                  <a:srgbClr val="5A6672"/>
                </a:solidFill>
                <a:latin typeface="Malgun Gothic"/>
                <a:ea typeface="Malgun Gothic"/>
              </a:rPr>
              <a:t>    –  실제로 복원해 보지 않으면 백업본이 쓸 수 있는지도 모른다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9.2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UNDO 데이터파일 손상</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떼어 낸 채로는 열 수 없어 무중단 복구가 불가능하다</a:t>
            </a:r>
          </a:p>
          <a:p>
            <a:pPr>
              <a:spcAft>
                <a:spcPts val="600"/>
              </a:spcAft>
            </a:pPr>
            <a:r>
              <a:rPr sz="1600" b="0">
                <a:solidFill>
                  <a:srgbClr val="C5CED6"/>
                </a:solidFill>
                <a:latin typeface="Malgun Gothic"/>
                <a:ea typeface="Malgun Gothic"/>
              </a:rPr>
              <a:t>•  아카이브가 있으면 결말은 완전 복구다</a:t>
            </a:r>
          </a:p>
          <a:p>
            <a:pPr>
              <a:spcAft>
                <a:spcPts val="600"/>
              </a:spcAft>
            </a:pPr>
            <a:r>
              <a:rPr sz="1600" b="0">
                <a:solidFill>
                  <a:srgbClr val="C5CED6"/>
                </a:solidFill>
                <a:latin typeface="Malgun Gothic"/>
                <a:ea typeface="Malgun Gothic"/>
              </a:rPr>
              <a:t>•  새 UNDO로 전환하면 서비스를 유지하며 시간을 벌 수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UNDO 손상의 증상</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SELECT는 되고 DML만 실패</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ALTER SYSTEM FLUSH BUFFER_CACHE;</a:t>
            </a:r>
          </a:p>
          <a:p>
            <a:pPr>
              <a:spcAft>
                <a:spcPts val="0"/>
              </a:spcAft>
            </a:pPr>
            <a:r>
              <a:rPr sz="1250" b="0">
                <a:solidFill>
                  <a:srgbClr val="E6E6E6"/>
                </a:solidFill>
                <a:latin typeface="Consolas"/>
                <a:ea typeface="Consolas"/>
              </a:rPr>
              <a:t>SYS@orcl&gt; !rm -f /u01/app/oracle/oradata/orcl/undotbs01.dbf</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COUNT(*) FROM hr.employees;</a:t>
            </a:r>
          </a:p>
          <a:p>
            <a:pPr>
              <a:spcAft>
                <a:spcPts val="0"/>
              </a:spcAft>
            </a:pPr>
            <a:r>
              <a:rPr sz="1250" b="0">
                <a:solidFill>
                  <a:srgbClr val="E6E6E6"/>
                </a:solidFill>
                <a:latin typeface="Consolas"/>
                <a:ea typeface="Consolas"/>
              </a:rPr>
              <a:t>  COUNT(*)</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107</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UPDATE hr.employees SET salary = salary + 1 WHERE ROWNUM &lt;= 10;</a:t>
            </a:r>
          </a:p>
          <a:p>
            <a:pPr>
              <a:spcAft>
                <a:spcPts val="0"/>
              </a:spcAft>
            </a:pPr>
            <a:r>
              <a:rPr sz="1250" b="0">
                <a:solidFill>
                  <a:srgbClr val="E6E6E6"/>
                </a:solidFill>
                <a:latin typeface="Consolas"/>
                <a:ea typeface="Consolas"/>
              </a:rPr>
              <a:t>ORA-01116: error in opening database file 4</a:t>
            </a:r>
          </a:p>
          <a:p>
            <a:pPr>
              <a:spcAft>
                <a:spcPts val="0"/>
              </a:spcAft>
            </a:pPr>
            <a:r>
              <a:rPr sz="1250" b="0">
                <a:solidFill>
                  <a:srgbClr val="E6E6E6"/>
                </a:solidFill>
                <a:latin typeface="Consolas"/>
                <a:ea typeface="Consolas"/>
              </a:rPr>
              <a:t>ORA-01110: data file 4: '/u01/app/oracle/oradata/orcl/undotbs01.dbf'</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-- 5장에서 익힌 진단이 그대로 적용된다.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증상과 종료 후 복구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SELECT는 되고 DML만 실패 — UNDO 손상의 특징적 신호</a:t>
            </a:r>
          </a:p>
          <a:p>
            <a:pPr>
              <a:spcAft>
                <a:spcPts val="600"/>
              </a:spcAft>
            </a:pPr>
            <a:r>
              <a:rPr sz="1600" b="0">
                <a:solidFill>
                  <a:srgbClr val="5A6672"/>
                </a:solidFill>
                <a:latin typeface="Malgun Gothic"/>
                <a:ea typeface="Malgun Gothic"/>
              </a:rPr>
              <a:t>    –  읽기는 캐시로 처리되지만 변경은 언두 블록 할당을 요구</a:t>
            </a:r>
          </a:p>
          <a:p>
            <a:pPr>
              <a:spcAft>
                <a:spcPts val="600"/>
              </a:spcAft>
            </a:pPr>
            <a:r>
              <a:rPr sz="1800" b="0">
                <a:solidFill>
                  <a:srgbClr val="202830"/>
                </a:solidFill>
                <a:latin typeface="Malgun Gothic"/>
                <a:ea typeface="Malgun Gothic"/>
              </a:rPr>
              <a:t>•  SHUTDOWN ABORT → STARTUP MOUNT → 복원 → RECOVER DATABASE → OPEN</a:t>
            </a:r>
          </a:p>
          <a:p>
            <a:pPr>
              <a:spcAft>
                <a:spcPts val="600"/>
              </a:spcAft>
            </a:pPr>
            <a:r>
              <a:rPr sz="1600" b="0">
                <a:solidFill>
                  <a:srgbClr val="5A6672"/>
                </a:solidFill>
                <a:latin typeface="Malgun Gothic"/>
                <a:ea typeface="Malgun Gothic"/>
              </a:rPr>
              <a:t>    –  IMMEDIATE는 UNDO를 읽어야 해서 실패할 수 있음</a:t>
            </a:r>
          </a:p>
          <a:p>
            <a:pPr>
              <a:spcAft>
                <a:spcPts val="600"/>
              </a:spcAft>
            </a:pPr>
            <a:r>
              <a:rPr sz="1600" b="0">
                <a:solidFill>
                  <a:srgbClr val="5A6672"/>
                </a:solidFill>
                <a:latin typeface="Malgun Gothic"/>
                <a:ea typeface="Malgun Gothic"/>
              </a:rPr>
              <a:t>    –  ABORT로 내렸으므로 DATAFILE 단위보다 DATABASE 단위가 안전</a:t>
            </a:r>
          </a:p>
          <a:p>
            <a:pPr>
              <a:spcAft>
                <a:spcPts val="600"/>
              </a:spcAft>
            </a:pPr>
            <a:r>
              <a:rPr sz="1800" b="0">
                <a:solidFill>
                  <a:srgbClr val="202830"/>
                </a:solidFill>
                <a:latin typeface="Malgun Gothic"/>
                <a:ea typeface="Malgun Gothic"/>
              </a:rPr>
              <a:t>•  오픈 시 롤포워드로 언두 블록이 복구된 뒤 롤백이 수행됨</a:t>
            </a:r>
          </a:p>
          <a:p>
            <a:pPr>
              <a:spcAft>
                <a:spcPts val="600"/>
              </a:spcAft>
            </a:pPr>
            <a:r>
              <a:rPr sz="1600" b="0">
                <a:solidFill>
                  <a:srgbClr val="5A6672"/>
                </a:solidFill>
                <a:latin typeface="Malgun Gothic"/>
                <a:ea typeface="Malgun Gothic"/>
              </a:rPr>
              <a:t>    –  최종 검증은 DML과 ROLLBACK이 정상 수행되는지 확인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운영 중 UNDO 전환</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서비스를 유지하며 시간을 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CREATE UNDO TABLESPACE undotbs2</a:t>
            </a:r>
          </a:p>
          <a:p>
            <a:pPr>
              <a:spcAft>
                <a:spcPts val="0"/>
              </a:spcAft>
            </a:pPr>
            <a:r>
              <a:rPr sz="1250" b="0">
                <a:solidFill>
                  <a:srgbClr val="E6E6E6"/>
                </a:solidFill>
                <a:latin typeface="Consolas"/>
                <a:ea typeface="Consolas"/>
              </a:rPr>
              <a:t>  2    DATAFILE '/u01/app/oracle/oradata/orcl/undotbs02.dbf' SIZE 300M;</a:t>
            </a:r>
          </a:p>
          <a:p>
            <a:pPr>
              <a:spcAft>
                <a:spcPts val="0"/>
              </a:spcAft>
            </a:pPr>
            <a:r>
              <a:rPr sz="1250" b="0">
                <a:solidFill>
                  <a:srgbClr val="E6E6E6"/>
                </a:solidFill>
                <a:latin typeface="Consolas"/>
                <a:ea typeface="Consolas"/>
              </a:rPr>
              <a:t>Tablespace created.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ALTER SYSTEM SET undo_tablespace = 'UNDOTBS2' SCOPE=BOTH;</a:t>
            </a:r>
          </a:p>
          <a:p>
            <a:pPr>
              <a:spcAft>
                <a:spcPts val="0"/>
              </a:spcAft>
            </a:pPr>
            <a:r>
              <a:rPr sz="1250" b="0">
                <a:solidFill>
                  <a:srgbClr val="E6E6E6"/>
                </a:solidFill>
                <a:latin typeface="Consolas"/>
                <a:ea typeface="Consolas"/>
              </a:rPr>
              <a:t>System altered.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UPDATE hr.employees SET salary = salary WHERE ROWNUM = 1;</a:t>
            </a:r>
          </a:p>
          <a:p>
            <a:pPr>
              <a:spcAft>
                <a:spcPts val="0"/>
              </a:spcAft>
            </a:pPr>
            <a:r>
              <a:rPr sz="1250" b="0">
                <a:solidFill>
                  <a:srgbClr val="E6E6E6"/>
                </a:solidFill>
                <a:latin typeface="Consolas"/>
                <a:ea typeface="Consolas"/>
              </a:rPr>
              <a:t>1 row updated.</a:t>
            </a:r>
          </a:p>
          <a:p>
            <a:pPr>
              <a:spcAft>
                <a:spcPts val="0"/>
              </a:spcAft>
            </a:pPr>
            <a:r>
              <a:rPr sz="1250" b="0">
                <a:solidFill>
                  <a:srgbClr val="7EC699"/>
                </a:solidFill>
                <a:latin typeface="Consolas"/>
                <a:ea typeface="Consolas"/>
              </a:rPr>
              <a:t>-- 서비스가 재개되었다.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segment_name, status FROM dba_rollback_segs</a:t>
            </a:r>
          </a:p>
          <a:p>
            <a:pPr>
              <a:spcAft>
                <a:spcPts val="0"/>
              </a:spcAft>
            </a:pPr>
            <a:r>
              <a:rPr sz="1250" b="0">
                <a:solidFill>
                  <a:srgbClr val="E6E6E6"/>
                </a:solidFill>
                <a:latin typeface="Consolas"/>
                <a:ea typeface="Consolas"/>
              </a:rPr>
              <a:t>  2  WHERE  tablespace_name = 'UNDOTBS1' AND status &lt;&gt; 'OFFLINE';</a:t>
            </a:r>
          </a:p>
          <a:p>
            <a:pPr>
              <a:spcAft>
                <a:spcPts val="0"/>
              </a:spcAft>
            </a:pPr>
            <a:r>
              <a:rPr sz="1250" b="0">
                <a:solidFill>
                  <a:srgbClr val="E6E6E6"/>
                </a:solidFill>
                <a:latin typeface="Consolas"/>
                <a:ea typeface="Consolas"/>
              </a:rPr>
              <a:t>_SYSSMU3_2421748942$      PARTLY AVAILABLE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전환 후 정리와 주의</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정식 복구 — 복원 후 RECOVER DATAFILE → ONLINE</a:t>
            </a:r>
          </a:p>
          <a:p>
            <a:pPr>
              <a:spcAft>
                <a:spcPts val="600"/>
              </a:spcAft>
            </a:pPr>
            <a:r>
              <a:rPr sz="1600" b="0">
                <a:solidFill>
                  <a:srgbClr val="5A6672"/>
                </a:solidFill>
                <a:latin typeface="Malgun Gothic"/>
                <a:ea typeface="Malgun Gothic"/>
              </a:rPr>
              <a:t>    –  남아 있던 언두가 복구되어 PENDING 상태가 해소됨</a:t>
            </a:r>
          </a:p>
          <a:p>
            <a:pPr>
              <a:spcAft>
                <a:spcPts val="600"/>
              </a:spcAft>
            </a:pPr>
            <a:r>
              <a:rPr sz="1800" b="0">
                <a:solidFill>
                  <a:srgbClr val="202830"/>
                </a:solidFill>
                <a:latin typeface="Malgun Gothic"/>
                <a:ea typeface="Malgun Gothic"/>
              </a:rPr>
              <a:t>•  복구가 불필요하면 DROP TABLESPACE ... INCLUDING CONTENTS AND DATAFILES</a:t>
            </a:r>
          </a:p>
          <a:p>
            <a:pPr>
              <a:spcAft>
                <a:spcPts val="600"/>
              </a:spcAft>
            </a:pPr>
            <a:r>
              <a:rPr sz="1600" b="0">
                <a:solidFill>
                  <a:srgbClr val="5A6672"/>
                </a:solidFill>
                <a:latin typeface="Malgun Gothic"/>
                <a:ea typeface="Malgun Gothic"/>
              </a:rPr>
              <a:t>    –  활성 세그먼트가 남아 있으면 ORA-30013으로 거부됨</a:t>
            </a:r>
          </a:p>
          <a:p>
            <a:pPr>
              <a:spcAft>
                <a:spcPts val="600"/>
              </a:spcAft>
            </a:pPr>
            <a:r>
              <a:rPr sz="1800" b="0">
                <a:solidFill>
                  <a:srgbClr val="202830"/>
                </a:solidFill>
                <a:latin typeface="Malgun Gothic"/>
                <a:ea typeface="Malgun Gothic"/>
              </a:rPr>
              <a:t>•  지우기 전 확인 — dba_rollback_segs 와 v$transaction</a:t>
            </a:r>
          </a:p>
          <a:p>
            <a:pPr>
              <a:spcAft>
                <a:spcPts val="600"/>
              </a:spcAft>
            </a:pPr>
            <a:r>
              <a:rPr sz="1800" b="0">
                <a:solidFill>
                  <a:srgbClr val="202830"/>
                </a:solidFill>
                <a:latin typeface="Malgun Gothic"/>
                <a:ea typeface="Malgun Gothic"/>
              </a:rPr>
              <a:t>•  전환 남용의 위험 — 정리되지 않은 UNDO가 쌓여 디스크를 채움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9.3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아카이브 다중 대상과 결손</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한쪽 디스크가 손상되어도 다른 쪽 사본으로 복구한다</a:t>
            </a:r>
          </a:p>
          <a:p>
            <a:pPr>
              <a:spcAft>
                <a:spcPts val="600"/>
              </a:spcAft>
            </a:pPr>
            <a:r>
              <a:rPr sz="1600" b="0">
                <a:solidFill>
                  <a:srgbClr val="C5CED6"/>
                </a:solidFill>
                <a:latin typeface="Malgun Gothic"/>
                <a:ea typeface="Malgun Gothic"/>
              </a:rPr>
              <a:t>•  MANDATORY 대상 실패는 로그 스위치를 막는다</a:t>
            </a:r>
          </a:p>
          <a:p>
            <a:pPr>
              <a:spcAft>
                <a:spcPts val="600"/>
              </a:spcAft>
            </a:pPr>
            <a:r>
              <a:rPr sz="1600" b="0">
                <a:solidFill>
                  <a:srgbClr val="C5CED6"/>
                </a:solidFill>
                <a:latin typeface="Malgun Gothic"/>
                <a:ea typeface="Malgun Gothic"/>
              </a:rPr>
              <a:t>•  결손 구간만 손으로 넘기고 나머지는 AUTO로 처리한다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다중 대상 구성과 상태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v$archive_dest</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SHOW PARAMETER log_archive_dest_1</a:t>
            </a:r>
          </a:p>
          <a:p>
            <a:pPr>
              <a:spcAft>
                <a:spcPts val="0"/>
              </a:spcAft>
            </a:pPr>
            <a:r>
              <a:rPr sz="1250" b="0">
                <a:solidFill>
                  <a:srgbClr val="E6E6E6"/>
                </a:solidFill>
                <a:latin typeface="Consolas"/>
                <a:ea typeface="Consolas"/>
              </a:rPr>
              <a:t>log_archive_dest_1    string   LOCATION=/home/oracle/arch1 MANDATORY</a:t>
            </a:r>
          </a:p>
          <a:p>
            <a:pPr>
              <a:spcAft>
                <a:spcPts val="0"/>
              </a:spcAft>
            </a:pPr>
            <a:r>
              <a:rPr sz="1250" b="0">
                <a:solidFill>
                  <a:srgbClr val="E6E6E6"/>
                </a:solidFill>
                <a:latin typeface="Consolas"/>
                <a:ea typeface="Consolas"/>
              </a:rPr>
              <a:t>SYS@orcl&gt; SHOW PARAMETER log_archive_dest_2</a:t>
            </a:r>
          </a:p>
          <a:p>
            <a:pPr>
              <a:spcAft>
                <a:spcPts val="0"/>
              </a:spcAft>
            </a:pPr>
            <a:r>
              <a:rPr sz="1250" b="0">
                <a:solidFill>
                  <a:srgbClr val="E6E6E6"/>
                </a:solidFill>
                <a:latin typeface="Consolas"/>
                <a:ea typeface="Consolas"/>
              </a:rPr>
              <a:t>log_archive_dest_2    string   LOCATION=/u03/arch2 OPTIONAL</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dest_id, destination, status, binding, error</a:t>
            </a:r>
          </a:p>
          <a:p>
            <a:pPr>
              <a:spcAft>
                <a:spcPts val="0"/>
              </a:spcAft>
            </a:pPr>
            <a:r>
              <a:rPr sz="1250" b="0">
                <a:solidFill>
                  <a:srgbClr val="E6E6E6"/>
                </a:solidFill>
                <a:latin typeface="Consolas"/>
                <a:ea typeface="Consolas"/>
              </a:rPr>
              <a:t>  2  FROM   v$archive_dest WHERE destination IS NOT NULL;</a:t>
            </a:r>
          </a:p>
          <a:p>
            <a:pPr>
              <a:spcAft>
                <a:spcPts val="0"/>
              </a:spcAft>
            </a:pPr>
            <a:r>
              <a:rPr sz="1250" b="0">
                <a:solidFill>
                  <a:srgbClr val="E6E6E6"/>
                </a:solidFill>
                <a:latin typeface="Consolas"/>
                <a:ea typeface="Consolas"/>
              </a:rPr>
              <a:t>   DEST_ID DESTINATION      STATUS    BINDING    ERROR</a:t>
            </a:r>
          </a:p>
          <a:p>
            <a:pPr>
              <a:spcAft>
                <a:spcPts val="0"/>
              </a:spcAft>
            </a:pPr>
            <a:r>
              <a:rPr sz="1250" b="0">
                <a:solidFill>
                  <a:srgbClr val="7EC699"/>
                </a:solidFill>
                <a:latin typeface="Consolas"/>
                <a:ea typeface="Consolas"/>
              </a:rPr>
              <a:t>---------- ---------------- --------- ---------- ------</a:t>
            </a:r>
          </a:p>
          <a:p>
            <a:pPr>
              <a:spcAft>
                <a:spcPts val="0"/>
              </a:spcAft>
            </a:pPr>
            <a:r>
              <a:rPr sz="1250" b="0">
                <a:solidFill>
                  <a:srgbClr val="E6E6E6"/>
                </a:solidFill>
                <a:latin typeface="Consolas"/>
                <a:ea typeface="Consolas"/>
              </a:rPr>
              <a:t>         1 /home/oracle/arch1       VALID     MANDATORY</a:t>
            </a:r>
          </a:p>
          <a:p>
            <a:pPr>
              <a:spcAft>
                <a:spcPts val="0"/>
              </a:spcAft>
            </a:pPr>
            <a:r>
              <a:rPr sz="1250" b="0">
                <a:solidFill>
                  <a:srgbClr val="E6E6E6"/>
                </a:solidFill>
                <a:latin typeface="Consolas"/>
                <a:ea typeface="Consolas"/>
              </a:rPr>
              <a:t>         2 /u03/arch2       VALID     OPTIONAL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다중 대상 구성 시 고려 사항</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LOG_ARCHIVE_DEST_n 으로 여러 위치에 동시 생성</a:t>
            </a:r>
          </a:p>
          <a:p>
            <a:pPr>
              <a:spcAft>
                <a:spcPts val="600"/>
              </a:spcAft>
            </a:pPr>
            <a:r>
              <a:rPr sz="1800" b="0">
                <a:solidFill>
                  <a:srgbClr val="202830"/>
                </a:solidFill>
                <a:latin typeface="Malgun Gothic"/>
                <a:ea typeface="Malgun Gothic"/>
              </a:rPr>
              <a:t>•  MANDATORY — 실패 시 로그 스위치가 막힘</a:t>
            </a:r>
          </a:p>
          <a:p>
            <a:pPr>
              <a:spcAft>
                <a:spcPts val="600"/>
              </a:spcAft>
            </a:pPr>
            <a:r>
              <a:rPr sz="1800" b="0">
                <a:solidFill>
                  <a:srgbClr val="202830"/>
                </a:solidFill>
                <a:latin typeface="Malgun Gothic"/>
                <a:ea typeface="Malgun Gothic"/>
              </a:rPr>
              <a:t>•  OPTIONAL — 실패해도 진행</a:t>
            </a:r>
          </a:p>
          <a:p>
            <a:pPr>
              <a:spcAft>
                <a:spcPts val="600"/>
              </a:spcAft>
            </a:pPr>
            <a:r>
              <a:rPr sz="1800" b="0">
                <a:solidFill>
                  <a:srgbClr val="202830"/>
                </a:solidFill>
                <a:latin typeface="Malgun Gothic"/>
                <a:ea typeface="Malgun Gothic"/>
              </a:rPr>
              <a:t>•  LOG_ARCHIVE_MIN_SUCCEED_DEST 로 최소 성공 개수 지정</a:t>
            </a:r>
          </a:p>
          <a:p>
            <a:pPr>
              <a:spcAft>
                <a:spcPts val="600"/>
              </a:spcAft>
            </a:pPr>
            <a:r>
              <a:rPr sz="1800" b="0">
                <a:solidFill>
                  <a:srgbClr val="202830"/>
                </a:solidFill>
                <a:latin typeface="Malgun Gothic"/>
                <a:ea typeface="Malgun Gothic"/>
              </a:rPr>
              <a:t>•  한쪽은 반드시 다른 물리 장치에 둔다</a:t>
            </a:r>
          </a:p>
          <a:p>
            <a:pPr>
              <a:spcAft>
                <a:spcPts val="600"/>
              </a:spcAft>
            </a:pPr>
            <a:r>
              <a:rPr sz="1600" b="0">
                <a:solidFill>
                  <a:srgbClr val="5A6672"/>
                </a:solidFill>
                <a:latin typeface="Malgun Gothic"/>
                <a:ea typeface="Malgun Gothic"/>
              </a:rPr>
              <a:t>    –  같은 디스크에 두면 다중화의 의미가 없다</a:t>
            </a:r>
          </a:p>
          <a:p>
            <a:pPr>
              <a:spcAft>
                <a:spcPts val="600"/>
              </a:spcAft>
            </a:pPr>
            <a:r>
              <a:rPr sz="1800" b="0">
                <a:solidFill>
                  <a:srgbClr val="202830"/>
                </a:solidFill>
                <a:latin typeface="Malgun Gothic"/>
                <a:ea typeface="Malgun Gothic"/>
              </a:rPr>
              <a:t>•  v$archive_dest 의 STATUS가 VALID인지 정기 확인</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결손 처리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다른 대상 경로 입력 또는 사전 복사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dest_id, MIN(sequence#), MAX(sequence#), COUNT(*)</a:t>
            </a:r>
          </a:p>
          <a:p>
            <a:pPr>
              <a:spcAft>
                <a:spcPts val="0"/>
              </a:spcAft>
            </a:pPr>
            <a:r>
              <a:rPr sz="1250" b="0">
                <a:solidFill>
                  <a:srgbClr val="E6E6E6"/>
                </a:solidFill>
                <a:latin typeface="Consolas"/>
                <a:ea typeface="Consolas"/>
              </a:rPr>
              <a:t>  2  FROM   v$archived_log WHERE status = 'A' GROUP BY dest_id;</a:t>
            </a:r>
          </a:p>
          <a:p>
            <a:pPr>
              <a:spcAft>
                <a:spcPts val="0"/>
              </a:spcAft>
            </a:pPr>
            <a:r>
              <a:rPr sz="1250" b="0">
                <a:solidFill>
                  <a:srgbClr val="E6E6E6"/>
                </a:solidFill>
                <a:latin typeface="Consolas"/>
                <a:ea typeface="Consolas"/>
              </a:rPr>
              <a:t>   DEST_ID    MIN_SEQ    MAX_SEQ        CNT</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1         36         40          4</a:t>
            </a:r>
          </a:p>
          <a:p>
            <a:pPr>
              <a:spcAft>
                <a:spcPts val="0"/>
              </a:spcAft>
            </a:pPr>
            <a:r>
              <a:rPr sz="1250" b="0">
                <a:solidFill>
                  <a:srgbClr val="E6E6E6"/>
                </a:solidFill>
                <a:latin typeface="Consolas"/>
                <a:ea typeface="Consolas"/>
              </a:rPr>
              <a:t>         2         36         40          5</a:t>
            </a:r>
          </a:p>
          <a:p>
            <a:pPr>
              <a:spcAft>
                <a:spcPts val="0"/>
              </a:spcAft>
            </a:pPr>
            <a:r>
              <a:rPr sz="1250" b="0">
                <a:solidFill>
                  <a:srgbClr val="7EC699"/>
                </a:solidFill>
                <a:latin typeface="Consolas"/>
                <a:ea typeface="Consolas"/>
              </a:rPr>
              <a:t>-- 1번 대상에 한 개가 비어 있다.</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RECOVER DATABASE;</a:t>
            </a:r>
          </a:p>
          <a:p>
            <a:pPr>
              <a:spcAft>
                <a:spcPts val="0"/>
              </a:spcAft>
            </a:pPr>
            <a:r>
              <a:rPr sz="1250" b="0">
                <a:solidFill>
                  <a:srgbClr val="E6E6E6"/>
                </a:solidFill>
                <a:latin typeface="Consolas"/>
                <a:ea typeface="Consolas"/>
              </a:rPr>
              <a:t>ORA-00280: change 2413800 for thread 1 is in sequence #38</a:t>
            </a:r>
          </a:p>
          <a:p>
            <a:pPr>
              <a:spcAft>
                <a:spcPts val="0"/>
              </a:spcAft>
            </a:pPr>
            <a:r>
              <a:rPr sz="1250" b="0">
                <a:solidFill>
                  <a:srgbClr val="E6E6E6"/>
                </a:solidFill>
                <a:latin typeface="Consolas"/>
                <a:ea typeface="Consolas"/>
              </a:rPr>
              <a:t>Specify log: {&lt;RET&gt;=suggested | filename | AUTO | CANCEL}</a:t>
            </a:r>
          </a:p>
          <a:p>
            <a:pPr>
              <a:spcAft>
                <a:spcPts val="0"/>
              </a:spcAft>
            </a:pPr>
            <a:r>
              <a:rPr sz="1250" b="0">
                <a:solidFill>
                  <a:srgbClr val="E6E6E6"/>
                </a:solidFill>
                <a:latin typeface="Consolas"/>
                <a:ea typeface="Consolas"/>
              </a:rPr>
              <a:t>/u03/arch2/arch_1_38_1200533800.arc</a:t>
            </a:r>
          </a:p>
          <a:p>
            <a:pPr>
              <a:spcAft>
                <a:spcPts val="0"/>
              </a:spcAft>
            </a:pPr>
            <a:r>
              <a:rPr sz="1250" b="0">
                <a:solidFill>
                  <a:srgbClr val="E6E6E6"/>
                </a:solidFill>
                <a:latin typeface="Consolas"/>
                <a:ea typeface="Consolas"/>
              </a:rPr>
              <a:t>Log applied.</a:t>
            </a:r>
          </a:p>
          <a:p>
            <a:pPr>
              <a:spcAft>
                <a:spcPts val="0"/>
              </a:spcAft>
            </a:pPr>
            <a:r>
              <a:rPr sz="1250" b="0">
                <a:solidFill>
                  <a:srgbClr val="E6E6E6"/>
                </a:solidFill>
                <a:latin typeface="Consolas"/>
                <a:ea typeface="Consolas"/>
              </a:rPr>
              <a:t>AUTO</a:t>
            </a:r>
          </a:p>
          <a:p>
            <a:pPr>
              <a:spcAft>
                <a:spcPts val="0"/>
              </a:spcAft>
            </a:pPr>
            <a:r>
              <a:rPr sz="1250" b="0">
                <a:solidFill>
                  <a:srgbClr val="E6E6E6"/>
                </a:solidFill>
                <a:latin typeface="Consolas"/>
                <a:ea typeface="Consolas"/>
              </a:rPr>
              <a:t>Media recovery complete.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9.4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아카이브가 삭제되었어도 복구되는 경우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아카이브는 온라인 리두의 사본이다</a:t>
            </a:r>
          </a:p>
          <a:p>
            <a:pPr>
              <a:spcAft>
                <a:spcPts val="600"/>
              </a:spcAft>
            </a:pPr>
            <a:r>
              <a:rPr sz="1600" b="0">
                <a:solidFill>
                  <a:srgbClr val="C5CED6"/>
                </a:solidFill>
                <a:latin typeface="Malgun Gothic"/>
                <a:ea typeface="Malgun Gothic"/>
              </a:rPr>
              <a:t>•  원본이 남아 있으면 사본이 없어도 된다</a:t>
            </a:r>
          </a:p>
          <a:p>
            <a:pPr>
              <a:spcAft>
                <a:spcPts val="600"/>
              </a:spcAft>
            </a:pPr>
            <a:r>
              <a:rPr sz="1600" b="0">
                <a:solidFill>
                  <a:srgbClr val="C5CED6"/>
                </a:solidFill>
                <a:latin typeface="Malgun Gothic"/>
                <a:ea typeface="Malgun Gothic"/>
              </a:rPr>
              <a:t>•  판정은 SCN 비교 하나로 끝난다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판정과 처리</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복구 시작 SCN vs 최소 온라인 리두 SCN</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file#, error, change# FROM v$recover_file;</a:t>
            </a:r>
          </a:p>
          <a:p>
            <a:pPr>
              <a:spcAft>
                <a:spcPts val="0"/>
              </a:spcAft>
            </a:pPr>
            <a:r>
              <a:rPr sz="1250" b="0">
                <a:solidFill>
                  <a:srgbClr val="E6E6E6"/>
                </a:solidFill>
                <a:latin typeface="Consolas"/>
                <a:ea typeface="Consolas"/>
              </a:rPr>
              <a:t>         7                          2415600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MIN(first_change#) AS oldest_online FROM v$log;</a:t>
            </a:r>
          </a:p>
          <a:p>
            <a:pPr>
              <a:spcAft>
                <a:spcPts val="0"/>
              </a:spcAft>
            </a:pPr>
            <a:r>
              <a:rPr sz="1250" b="0">
                <a:solidFill>
                  <a:srgbClr val="E6E6E6"/>
                </a:solidFill>
                <a:latin typeface="Consolas"/>
                <a:ea typeface="Consolas"/>
              </a:rPr>
              <a:t>OLDEST_ONLINE</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      2415200</a:t>
            </a:r>
          </a:p>
          <a:p>
            <a:pPr>
              <a:spcAft>
                <a:spcPts val="0"/>
              </a:spcAft>
            </a:pPr>
            <a:r>
              <a:rPr sz="1250" b="0">
                <a:solidFill>
                  <a:srgbClr val="7EC699"/>
                </a:solidFill>
                <a:latin typeface="Consolas"/>
                <a:ea typeface="Consolas"/>
              </a:rPr>
              <a:t>-- 2415600 &gt;= 2415200 → 온라인 리두로 충분</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RECOVER TABLESPACE users;</a:t>
            </a:r>
          </a:p>
          <a:p>
            <a:pPr>
              <a:spcAft>
                <a:spcPts val="0"/>
              </a:spcAft>
            </a:pPr>
            <a:r>
              <a:rPr sz="1250" b="0">
                <a:solidFill>
                  <a:srgbClr val="E6E6E6"/>
                </a:solidFill>
                <a:latin typeface="Consolas"/>
                <a:ea typeface="Consolas"/>
              </a:rPr>
              <a:t>ORA-00280: change 2415600 for thread 1 is in sequence #42</a:t>
            </a:r>
          </a:p>
          <a:p>
            <a:pPr>
              <a:spcAft>
                <a:spcPts val="0"/>
              </a:spcAft>
            </a:pPr>
            <a:r>
              <a:rPr sz="1250" b="0">
                <a:solidFill>
                  <a:srgbClr val="E6E6E6"/>
                </a:solidFill>
                <a:latin typeface="Consolas"/>
                <a:ea typeface="Consolas"/>
              </a:rPr>
              <a:t>Specify log: {&lt;RET&gt;=suggested | filename | AUTO | CANCEL}</a:t>
            </a:r>
          </a:p>
          <a:p>
            <a:pPr>
              <a:spcAft>
                <a:spcPts val="0"/>
              </a:spcAft>
            </a:pPr>
            <a:r>
              <a:rPr sz="1250" b="0">
                <a:solidFill>
                  <a:srgbClr val="E6E6E6"/>
                </a:solidFill>
                <a:latin typeface="Consolas"/>
                <a:ea typeface="Consolas"/>
              </a:rPr>
              <a:t>/u01/app/oracle/oradata/orcl/redo03.log</a:t>
            </a:r>
          </a:p>
          <a:p>
            <a:pPr>
              <a:spcAft>
                <a:spcPts val="0"/>
              </a:spcAft>
            </a:pPr>
            <a:r>
              <a:rPr sz="1250" b="0">
                <a:solidFill>
                  <a:srgbClr val="E6E6E6"/>
                </a:solidFill>
                <a:latin typeface="Consolas"/>
                <a:ea typeface="Consolas"/>
              </a:rPr>
              <a:t>Log applied.</a:t>
            </a:r>
          </a:p>
          <a:p>
            <a:pPr>
              <a:spcAft>
                <a:spcPts val="0"/>
              </a:spcAft>
            </a:pPr>
            <a:r>
              <a:rPr sz="1250" b="0">
                <a:solidFill>
                  <a:srgbClr val="E6E6E6"/>
                </a:solidFill>
                <a:latin typeface="Consolas"/>
                <a:ea typeface="Consolas"/>
              </a:rPr>
              <a:t>Media recovery complete.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온라인 리두 보유 구간 확인</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요구 시퀀스가 v$log에 있는가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group#, sequence#, first_change#, next_change#, status</a:t>
            </a:r>
          </a:p>
          <a:p>
            <a:pPr>
              <a:spcAft>
                <a:spcPts val="0"/>
              </a:spcAft>
            </a:pPr>
            <a:r>
              <a:rPr sz="1250" b="0">
                <a:solidFill>
                  <a:srgbClr val="E6E6E6"/>
                </a:solidFill>
                <a:latin typeface="Consolas"/>
                <a:ea typeface="Consolas"/>
              </a:rPr>
              <a:t>  2  FROM   v$log ORDER BY sequence#;</a:t>
            </a:r>
          </a:p>
          <a:p>
            <a:pPr>
              <a:spcAft>
                <a:spcPts val="0"/>
              </a:spcAft>
            </a:pPr>
            <a:r>
              <a:rPr sz="1250" b="0">
                <a:solidFill>
                  <a:srgbClr val="E6E6E6"/>
                </a:solidFill>
                <a:latin typeface="Consolas"/>
                <a:ea typeface="Consolas"/>
              </a:rPr>
              <a:t>    GROUP#  SEQUENCE# FIRST_CHANGE# NEXT_CHANGE# STATUS</a:t>
            </a:r>
          </a:p>
          <a:p>
            <a:pPr>
              <a:spcAft>
                <a:spcPts val="0"/>
              </a:spcAft>
            </a:pPr>
            <a:r>
              <a:rPr sz="1250" b="0">
                <a:solidFill>
                  <a:srgbClr val="7EC699"/>
                </a:solidFill>
                <a:latin typeface="Consolas"/>
                <a:ea typeface="Consolas"/>
              </a:rPr>
              <a:t>---------- ---------- ------------- ------------ ----------</a:t>
            </a:r>
          </a:p>
          <a:p>
            <a:pPr>
              <a:spcAft>
                <a:spcPts val="0"/>
              </a:spcAft>
            </a:pPr>
            <a:r>
              <a:rPr sz="1250" b="0">
                <a:solidFill>
                  <a:srgbClr val="E6E6E6"/>
                </a:solidFill>
                <a:latin typeface="Consolas"/>
                <a:ea typeface="Consolas"/>
              </a:rPr>
              <a:t>         3         42       2415200      2415980 INACTIVE</a:t>
            </a:r>
          </a:p>
          <a:p>
            <a:pPr>
              <a:spcAft>
                <a:spcPts val="0"/>
              </a:spcAft>
            </a:pPr>
            <a:r>
              <a:rPr sz="1250" b="0">
                <a:solidFill>
                  <a:srgbClr val="E6E6E6"/>
                </a:solidFill>
                <a:latin typeface="Consolas"/>
                <a:ea typeface="Consolas"/>
              </a:rPr>
              <a:t>         4         43       2415980      2416400 INACTIVE</a:t>
            </a:r>
          </a:p>
          <a:p>
            <a:pPr>
              <a:spcAft>
                <a:spcPts val="0"/>
              </a:spcAft>
            </a:pPr>
            <a:r>
              <a:rPr sz="1250" b="0">
                <a:solidFill>
                  <a:srgbClr val="E6E6E6"/>
                </a:solidFill>
                <a:latin typeface="Consolas"/>
                <a:ea typeface="Consolas"/>
              </a:rPr>
              <a:t>         1         44       2416400      2416900 CURRENT</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l.sequence#, f.member FROM v$log l, v$logfile f</a:t>
            </a:r>
          </a:p>
          <a:p>
            <a:pPr>
              <a:spcAft>
                <a:spcPts val="0"/>
              </a:spcAft>
            </a:pPr>
            <a:r>
              <a:rPr sz="1250" b="0">
                <a:solidFill>
                  <a:srgbClr val="E6E6E6"/>
                </a:solidFill>
                <a:latin typeface="Consolas"/>
                <a:ea typeface="Consolas"/>
              </a:rPr>
              <a:t>  2  WHERE  l.group# = f.group# ORDER BY l.sequence#;</a:t>
            </a:r>
          </a:p>
          <a:p>
            <a:pPr>
              <a:spcAft>
                <a:spcPts val="0"/>
              </a:spcAft>
            </a:pPr>
            <a:r>
              <a:rPr sz="1250" b="0">
                <a:solidFill>
                  <a:srgbClr val="E6E6E6"/>
                </a:solidFill>
                <a:latin typeface="Consolas"/>
                <a:ea typeface="Consolas"/>
              </a:rPr>
              <a:t>        42 /u01/app/oracle/oradata/orcl/redo03.log</a:t>
            </a:r>
          </a:p>
          <a:p>
            <a:pPr>
              <a:spcAft>
                <a:spcPts val="0"/>
              </a:spcAft>
            </a:pPr>
            <a:r>
              <a:rPr sz="1250" b="0">
                <a:solidFill>
                  <a:srgbClr val="E6E6E6"/>
                </a:solidFill>
                <a:latin typeface="Consolas"/>
                <a:ea typeface="Consolas"/>
              </a:rPr>
              <a:t>        43 /u01/app/oracle/oradata/orcl/redo04.log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아카이브 삭제 정책과 백업 전략</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백업이 완료된 구간만 지운다 — 날짜만 보고 지우는 방식은 위험</a:t>
            </a:r>
          </a:p>
          <a:p>
            <a:pPr>
              <a:spcAft>
                <a:spcPts val="600"/>
              </a:spcAft>
            </a:pPr>
            <a:r>
              <a:rPr sz="1800" b="0">
                <a:solidFill>
                  <a:srgbClr val="202830"/>
                </a:solidFill>
                <a:latin typeface="Malgun Gothic"/>
                <a:ea typeface="Malgun Gothic"/>
              </a:rPr>
              <a:t>•  OS로 직접 지우면 v$archived_log 기록과 어긋남 → CROSSCHECK 필요</a:t>
            </a:r>
          </a:p>
          <a:p>
            <a:pPr>
              <a:spcAft>
                <a:spcPts val="600"/>
              </a:spcAft>
            </a:pPr>
            <a:r>
              <a:rPr sz="1800" b="0">
                <a:solidFill>
                  <a:srgbClr val="202830"/>
                </a:solidFill>
                <a:latin typeface="Malgun Gothic"/>
                <a:ea typeface="Malgun Gothic"/>
              </a:rPr>
              <a:t>•  RMAN은 조건부 삭제 지원 — DELETE ARCHIVELOG ALL BACKED UP 1 TIMES</a:t>
            </a:r>
          </a:p>
          <a:p>
            <a:pPr>
              <a:spcAft>
                <a:spcPts val="600"/>
              </a:spcAft>
            </a:pPr>
            <a:r>
              <a:rPr sz="1800" b="0">
                <a:solidFill>
                  <a:srgbClr val="202830"/>
                </a:solidFill>
                <a:latin typeface="Malgun Gothic"/>
                <a:ea typeface="Malgun Gothic"/>
              </a:rPr>
              <a:t>•  백업이 최근일수록 필요한 아카이브 구간이 짧아짐</a:t>
            </a:r>
          </a:p>
          <a:p>
            <a:pPr>
              <a:spcAft>
                <a:spcPts val="600"/>
              </a:spcAft>
            </a:pPr>
            <a:r>
              <a:rPr sz="1600" b="0">
                <a:solidFill>
                  <a:srgbClr val="5A6672"/>
                </a:solidFill>
                <a:latin typeface="Malgun Gothic"/>
                <a:ea typeface="Malgun Gothic"/>
              </a:rPr>
              <a:t>    –  구간이 짧으면 결손 위험도 줄고 복구 시간도 짧아짐</a:t>
            </a:r>
          </a:p>
          <a:p>
            <a:pPr>
              <a:spcAft>
                <a:spcPts val="600"/>
              </a:spcAft>
            </a:pPr>
            <a:r>
              <a:rPr sz="1800" b="0">
                <a:solidFill>
                  <a:srgbClr val="202830"/>
                </a:solidFill>
                <a:latin typeface="Malgun Gothic"/>
                <a:ea typeface="Malgun Gothic"/>
              </a:rPr>
              <a:t>•  아카이브 보관 기간 &gt; 백업 보관 기간</a:t>
            </a:r>
          </a:p>
          <a:p>
            <a:pPr>
              <a:spcAft>
                <a:spcPts val="600"/>
              </a:spcAft>
            </a:pPr>
            <a:r>
              <a:rPr sz="1600" b="0">
                <a:solidFill>
                  <a:srgbClr val="5A6672"/>
                </a:solidFill>
                <a:latin typeface="Malgun Gothic"/>
                <a:ea typeface="Malgun Gothic"/>
              </a:rPr>
              <a:t>    –  시퀀스 연속성 점검을 일일 작업으로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아카이브 시퀀스 연속성 점검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일일 점검 쿼리</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MIN(sequence#) AS oldest, MAX(sequence#) AS newest,</a:t>
            </a:r>
          </a:p>
          <a:p>
            <a:pPr>
              <a:spcAft>
                <a:spcPts val="0"/>
              </a:spcAft>
            </a:pPr>
            <a:r>
              <a:rPr sz="1250" b="0">
                <a:solidFill>
                  <a:srgbClr val="E6E6E6"/>
                </a:solidFill>
                <a:latin typeface="Consolas"/>
                <a:ea typeface="Consolas"/>
              </a:rPr>
              <a:t>  2         COUNT(*) AS cnt,</a:t>
            </a:r>
          </a:p>
          <a:p>
            <a:pPr>
              <a:spcAft>
                <a:spcPts val="0"/>
              </a:spcAft>
            </a:pPr>
            <a:r>
              <a:rPr sz="1250" b="0">
                <a:solidFill>
                  <a:srgbClr val="E6E6E6"/>
                </a:solidFill>
                <a:latin typeface="Consolas"/>
                <a:ea typeface="Consolas"/>
              </a:rPr>
              <a:t>  3         MAX(sequence#) - MIN(sequence#) + 1 AS expected</a:t>
            </a:r>
          </a:p>
          <a:p>
            <a:pPr>
              <a:spcAft>
                <a:spcPts val="0"/>
              </a:spcAft>
            </a:pPr>
            <a:r>
              <a:rPr sz="1250" b="0">
                <a:solidFill>
                  <a:srgbClr val="E6E6E6"/>
                </a:solidFill>
                <a:latin typeface="Consolas"/>
                <a:ea typeface="Consolas"/>
              </a:rPr>
              <a:t>  4  FROM   v$archived_log WHERE status = 'A';</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    OLDEST     NEWEST        CNT   EXPECTED</a:t>
            </a:r>
          </a:p>
          <a:p>
            <a:pPr>
              <a:spcAft>
                <a:spcPts val="0"/>
              </a:spcAft>
            </a:pPr>
            <a:r>
              <a:rPr sz="1250" b="0">
                <a:solidFill>
                  <a:srgbClr val="7EC699"/>
                </a:solidFill>
                <a:latin typeface="Consolas"/>
                <a:ea typeface="Consolas"/>
              </a:rPr>
              <a:t>---------- ---------- ---------- ----------</a:t>
            </a:r>
          </a:p>
          <a:p>
            <a:pPr>
              <a:spcAft>
                <a:spcPts val="0"/>
              </a:spcAft>
            </a:pPr>
            <a:r>
              <a:rPr sz="1250" b="0">
                <a:solidFill>
                  <a:srgbClr val="E6E6E6"/>
                </a:solidFill>
                <a:latin typeface="Consolas"/>
                <a:ea typeface="Consolas"/>
              </a:rPr>
              <a:t>        30         45         15         16</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CNT와 EXPECTED가 다르면 빠진 구간이 있다는 뜻이다.</a:t>
            </a:r>
          </a:p>
          <a:p>
            <a:pPr>
              <a:spcAft>
                <a:spcPts val="0"/>
              </a:spcAft>
            </a:pPr>
            <a:r>
              <a:rPr sz="1250" b="0">
                <a:solidFill>
                  <a:srgbClr val="7EC699"/>
                </a:solidFill>
                <a:latin typeface="Consolas"/>
                <a:ea typeface="Consolas"/>
              </a:rPr>
              <a:t>-- 빠진 구간 이전의 백업본은 사실상 무효다.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ea typeface="Malgun Gothic"/>
              </a:rPr>
              <a:t>9.5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ea typeface="Malgun Gothic"/>
              </a:rPr>
              <a:t>아카이브 대상이 가득 찬 경우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ea typeface="Malgun Gothic"/>
              </a:rPr>
              <a:t>•  복구의 문제가 아니라 서비스 정지의 문제다</a:t>
            </a:r>
          </a:p>
          <a:p>
            <a:pPr>
              <a:spcAft>
                <a:spcPts val="600"/>
              </a:spcAft>
            </a:pPr>
            <a:r>
              <a:rPr sz="1600" b="0">
                <a:solidFill>
                  <a:srgbClr val="C5CED6"/>
                </a:solidFill>
                <a:latin typeface="Malgun Gothic"/>
                <a:ea typeface="Malgun Gothic"/>
              </a:rPr>
              <a:t>•  인스턴스는 살아 있고 로그 스위치만 막힌다</a:t>
            </a:r>
          </a:p>
          <a:p>
            <a:pPr>
              <a:spcAft>
                <a:spcPts val="600"/>
              </a:spcAft>
            </a:pPr>
            <a:r>
              <a:rPr sz="1600" b="0">
                <a:solidFill>
                  <a:srgbClr val="C5CED6"/>
                </a:solidFill>
                <a:latin typeface="Malgun Gothic"/>
                <a:ea typeface="Malgun Gothic"/>
              </a:rPr>
              <a:t>•  SYSDBA 접속은 허용되므로 조치가 가능하다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증상과 진단</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ORA-00257 · v$archive_dest · FRA 사용량</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[oracle@oel7v9r1 ~]$ sqlplus hr/hr</a:t>
            </a:r>
          </a:p>
          <a:p>
            <a:pPr>
              <a:spcAft>
                <a:spcPts val="0"/>
              </a:spcAft>
            </a:pPr>
            <a:r>
              <a:rPr sz="1250" b="0">
                <a:solidFill>
                  <a:srgbClr val="E6E6E6"/>
                </a:solidFill>
                <a:latin typeface="Consolas"/>
                <a:ea typeface="Consolas"/>
              </a:rPr>
              <a:t>ORA-00257: Archiver error. Connect AS SYSDBA only until resolved.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dest_id, destination, status, error FROM v$archive_dest</a:t>
            </a:r>
          </a:p>
          <a:p>
            <a:pPr>
              <a:spcAft>
                <a:spcPts val="0"/>
              </a:spcAft>
            </a:pPr>
            <a:r>
              <a:rPr sz="1250" b="0">
                <a:solidFill>
                  <a:srgbClr val="E6E6E6"/>
                </a:solidFill>
                <a:latin typeface="Consolas"/>
                <a:ea typeface="Consolas"/>
              </a:rPr>
              <a:t>  2  WHERE  destination IS NOT NULL;</a:t>
            </a:r>
          </a:p>
          <a:p>
            <a:pPr>
              <a:spcAft>
                <a:spcPts val="0"/>
              </a:spcAft>
            </a:pPr>
            <a:r>
              <a:rPr sz="1250" b="0">
                <a:solidFill>
                  <a:srgbClr val="E6E6E6"/>
                </a:solidFill>
                <a:latin typeface="Consolas"/>
                <a:ea typeface="Consolas"/>
              </a:rPr>
              <a:t>         1 /home/oracle/arch1       ERROR   ORA-19809: limit exceeded</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name, space_limit/1024/1024 AS limit_mb,</a:t>
            </a:r>
          </a:p>
          <a:p>
            <a:pPr>
              <a:spcAft>
                <a:spcPts val="0"/>
              </a:spcAft>
            </a:pPr>
            <a:r>
              <a:rPr sz="1250" b="0">
                <a:solidFill>
                  <a:srgbClr val="E6E6E6"/>
                </a:solidFill>
                <a:latin typeface="Consolas"/>
                <a:ea typeface="Consolas"/>
              </a:rPr>
              <a:t>  2         space_used/1024/1024 AS used_mb FROM v$recovery_file_dest;</a:t>
            </a:r>
          </a:p>
          <a:p>
            <a:pPr>
              <a:spcAft>
                <a:spcPts val="0"/>
              </a:spcAft>
            </a:pPr>
            <a:r>
              <a:rPr sz="1250" b="0">
                <a:solidFill>
                  <a:srgbClr val="E6E6E6"/>
                </a:solidFill>
                <a:latin typeface="Consolas"/>
                <a:ea typeface="Consolas"/>
              </a:rPr>
              <a:t>/u02/fra               8192       8190</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SYS@orcl&gt; SELECT group#, sequence#, archived FROM v$log;</a:t>
            </a:r>
          </a:p>
          <a:p>
            <a:pPr>
              <a:spcAft>
                <a:spcPts val="0"/>
              </a:spcAft>
            </a:pPr>
            <a:r>
              <a:rPr sz="1250" b="0">
                <a:solidFill>
                  <a:srgbClr val="E6E6E6"/>
                </a:solidFill>
                <a:latin typeface="Consolas"/>
                <a:ea typeface="Consolas"/>
              </a:rPr>
              <a:t>         1         45 NO</a:t>
            </a:r>
          </a:p>
          <a:p>
            <a:pPr>
              <a:spcAft>
                <a:spcPts val="0"/>
              </a:spcAft>
            </a:pPr>
            <a:r>
              <a:rPr sz="1250" b="0">
                <a:solidFill>
                  <a:srgbClr val="E6E6E6"/>
                </a:solidFill>
                <a:latin typeface="Consolas"/>
                <a:ea typeface="Consolas"/>
              </a:rPr>
              <a:t>         3         43 NO</a:t>
            </a:r>
          </a:p>
          <a:p>
            <a:pPr>
              <a:spcAft>
                <a:spcPts val="0"/>
              </a:spcAft>
            </a:pPr>
            <a:r>
              <a:rPr sz="1250" b="0">
                <a:solidFill>
                  <a:srgbClr val="E6E6E6"/>
                </a:solidFill>
                <a:latin typeface="Consolas"/>
                <a:ea typeface="Consolas"/>
              </a:rPr>
              <a:t>         4         44 NO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해소 절차와 재발 방지</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① 공간 확보 — 백업된 아카이브를 옮기거나 삭제</a:t>
            </a:r>
          </a:p>
          <a:p>
            <a:pPr>
              <a:spcAft>
                <a:spcPts val="600"/>
              </a:spcAft>
            </a:pPr>
            <a:r>
              <a:rPr sz="1600" b="0">
                <a:solidFill>
                  <a:srgbClr val="5A6672"/>
                </a:solidFill>
                <a:latin typeface="Malgun Gothic"/>
                <a:ea typeface="Malgun Gothic"/>
              </a:rPr>
              <a:t>    –  RMAN 조건부 삭제가 안전, OS 삭제 시 CROSSCHECK 필요</a:t>
            </a:r>
          </a:p>
          <a:p>
            <a:pPr>
              <a:spcAft>
                <a:spcPts val="600"/>
              </a:spcAft>
            </a:pPr>
            <a:r>
              <a:rPr sz="1800" b="0">
                <a:solidFill>
                  <a:srgbClr val="202830"/>
                </a:solidFill>
                <a:latin typeface="Malgun Gothic"/>
                <a:ea typeface="Malgun Gothic"/>
              </a:rPr>
              <a:t>•  ② FRA라면 DB_RECOVERY_FILE_DEST_SIZE 확대(동적 파라미터)</a:t>
            </a:r>
          </a:p>
          <a:p>
            <a:pPr>
              <a:spcAft>
                <a:spcPts val="600"/>
              </a:spcAft>
            </a:pPr>
            <a:r>
              <a:rPr sz="1800" b="0">
                <a:solidFill>
                  <a:srgbClr val="202830"/>
                </a:solidFill>
                <a:latin typeface="Malgun Gothic"/>
                <a:ea typeface="Malgun Gothic"/>
              </a:rPr>
              <a:t>•  ③ ALTER SYSTEM ARCHIVE LOG ALL 로 밀린 아카이브 처리</a:t>
            </a:r>
          </a:p>
          <a:p>
            <a:pPr>
              <a:spcAft>
                <a:spcPts val="600"/>
              </a:spcAft>
            </a:pPr>
            <a:r>
              <a:rPr sz="1800" b="0">
                <a:solidFill>
                  <a:srgbClr val="202830"/>
                </a:solidFill>
                <a:latin typeface="Malgun Gothic"/>
                <a:ea typeface="Malgun Gothic"/>
              </a:rPr>
              <a:t>•  ④ 임시로 LOG_ARCHIVE_DEST_1 을 여유 경로로 변경</a:t>
            </a:r>
          </a:p>
          <a:p>
            <a:pPr>
              <a:spcAft>
                <a:spcPts val="600"/>
              </a:spcAft>
            </a:pPr>
            <a:r>
              <a:rPr sz="1800" b="0">
                <a:solidFill>
                  <a:srgbClr val="202830"/>
                </a:solidFill>
                <a:latin typeface="Malgun Gothic"/>
                <a:ea typeface="Malgun Gothic"/>
              </a:rPr>
              <a:t>•  재발 방지 — 사용률 감시 · 백업 연동 정리 · 용량 산정 · 비상 절차서</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일일 리두 생성량 측정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용량 산정의 근거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SYS@orcl&gt; SELECT TO_CHAR(completion_time, 'YYYY-MM-DD') AS day,</a:t>
            </a:r>
          </a:p>
          <a:p>
            <a:pPr>
              <a:spcAft>
                <a:spcPts val="0"/>
              </a:spcAft>
            </a:pPr>
            <a:r>
              <a:rPr sz="1250" b="0">
                <a:solidFill>
                  <a:srgbClr val="E6E6E6"/>
                </a:solidFill>
                <a:latin typeface="Consolas"/>
                <a:ea typeface="Consolas"/>
              </a:rPr>
              <a:t>  2         COUNT(*) AS logs,</a:t>
            </a:r>
          </a:p>
          <a:p>
            <a:pPr>
              <a:spcAft>
                <a:spcPts val="0"/>
              </a:spcAft>
            </a:pPr>
            <a:r>
              <a:rPr sz="1250" b="0">
                <a:solidFill>
                  <a:srgbClr val="E6E6E6"/>
                </a:solidFill>
                <a:latin typeface="Consolas"/>
                <a:ea typeface="Consolas"/>
              </a:rPr>
              <a:t>  3         ROUND(SUM(blocks * block_size)/1024/1024/1024, 2) AS gb</a:t>
            </a:r>
          </a:p>
          <a:p>
            <a:pPr>
              <a:spcAft>
                <a:spcPts val="0"/>
              </a:spcAft>
            </a:pPr>
            <a:r>
              <a:rPr sz="1250" b="0">
                <a:solidFill>
                  <a:srgbClr val="E6E6E6"/>
                </a:solidFill>
                <a:latin typeface="Consolas"/>
                <a:ea typeface="Consolas"/>
              </a:rPr>
              <a:t>  4  FROM   v$archived_log WHERE completion_time &gt; SYSDATE - 7</a:t>
            </a:r>
          </a:p>
          <a:p>
            <a:pPr>
              <a:spcAft>
                <a:spcPts val="0"/>
              </a:spcAft>
            </a:pPr>
            <a:r>
              <a:rPr sz="1250" b="0">
                <a:solidFill>
                  <a:srgbClr val="E6E6E6"/>
                </a:solidFill>
                <a:latin typeface="Consolas"/>
                <a:ea typeface="Consolas"/>
              </a:rPr>
              <a:t>  5  GROUP  BY TO_CHAR(completion_time, 'YYYY-MM-DD') ORDER BY 1;</a:t>
            </a:r>
          </a:p>
          <a:p>
            <a:pPr>
              <a:spcAft>
                <a:spcPts val="0"/>
              </a:spcAft>
            </a:pPr>
            <a:r>
              <a:rPr sz="1250" b="0">
                <a:solidFill>
                  <a:srgbClr val="E6E6E6"/>
                </a:solidFill>
                <a:latin typeface="Consolas"/>
                <a:ea typeface="Consolas"/>
              </a:rPr>
              <a:t> </a:t>
            </a:r>
          </a:p>
          <a:p>
            <a:pPr>
              <a:spcAft>
                <a:spcPts val="0"/>
              </a:spcAft>
            </a:pPr>
            <a:r>
              <a:rPr sz="1250" b="0">
                <a:solidFill>
                  <a:srgbClr val="E6E6E6"/>
                </a:solidFill>
                <a:latin typeface="Consolas"/>
                <a:ea typeface="Consolas"/>
              </a:rPr>
              <a:t>DAY              LOGS     GB</a:t>
            </a:r>
          </a:p>
          <a:p>
            <a:pPr>
              <a:spcAft>
                <a:spcPts val="0"/>
              </a:spcAft>
            </a:pPr>
            <a:r>
              <a:rPr sz="1250" b="0">
                <a:solidFill>
                  <a:srgbClr val="7EC699"/>
                </a:solidFill>
                <a:latin typeface="Consolas"/>
                <a:ea typeface="Consolas"/>
              </a:rPr>
              <a:t>---------- ---------- ------</a:t>
            </a:r>
          </a:p>
          <a:p>
            <a:pPr>
              <a:spcAft>
                <a:spcPts val="0"/>
              </a:spcAft>
            </a:pPr>
            <a:r>
              <a:rPr sz="1250" b="0">
                <a:solidFill>
                  <a:srgbClr val="E6E6E6"/>
                </a:solidFill>
                <a:latin typeface="Consolas"/>
                <a:ea typeface="Consolas"/>
              </a:rPr>
              <a:t>2025-05-05         48   9.38</a:t>
            </a:r>
          </a:p>
          <a:p>
            <a:pPr>
              <a:spcAft>
                <a:spcPts val="0"/>
              </a:spcAft>
            </a:pPr>
            <a:r>
              <a:rPr sz="1250" b="0">
                <a:solidFill>
                  <a:srgbClr val="E6E6E6"/>
                </a:solidFill>
                <a:latin typeface="Consolas"/>
                <a:ea typeface="Consolas"/>
              </a:rPr>
              <a:t>2025-05-06         52  10.16</a:t>
            </a:r>
          </a:p>
          <a:p>
            <a:pPr>
              <a:spcAft>
                <a:spcPts val="0"/>
              </a:spcAft>
            </a:pPr>
            <a:r>
              <a:rPr sz="1250" b="0">
                <a:solidFill>
                  <a:srgbClr val="E6E6E6"/>
                </a:solidFill>
                <a:latin typeface="Consolas"/>
                <a:ea typeface="Consolas"/>
              </a:rPr>
              <a:t>2025-05-07         96  18.75</a:t>
            </a:r>
          </a:p>
          <a:p>
            <a:pPr>
              <a:spcAft>
                <a:spcPts val="0"/>
              </a:spcAft>
            </a:pPr>
            <a:r>
              <a:rPr sz="1250" b="0">
                <a:solidFill>
                  <a:srgbClr val="E6E6E6"/>
                </a:solidFill>
                <a:latin typeface="Consolas"/>
                <a:ea typeface="Consolas"/>
              </a:rPr>
              <a:t>2025-05-08         50   9.77</a:t>
            </a:r>
          </a:p>
          <a:p>
            <a:pPr>
              <a:spcAft>
                <a:spcPts val="0"/>
              </a:spcAft>
            </a:pPr>
            <a:r>
              <a:rPr sz="1250" b="0">
                <a:solidFill>
                  <a:srgbClr val="E6E6E6"/>
                </a:solidFill>
                <a:latin typeface="Consolas"/>
                <a:ea typeface="Consolas"/>
              </a:rPr>
              <a:t> </a:t>
            </a:r>
          </a:p>
          <a:p>
            <a:pPr>
              <a:spcAft>
                <a:spcPts val="0"/>
              </a:spcAft>
            </a:pPr>
            <a:r>
              <a:rPr sz="1250" b="0">
                <a:solidFill>
                  <a:srgbClr val="7EC699"/>
                </a:solidFill>
                <a:latin typeface="Consolas"/>
                <a:ea typeface="Consolas"/>
              </a:rPr>
              <a:t>-- 최대 18.75GB/일 × 3일 보관 = 57GB, 여유율 30% 포함 75GB 이상 필요</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복구 후 검증 항목</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v$recover_file 이 비었는지</a:t>
            </a:r>
          </a:p>
          <a:p>
            <a:pPr>
              <a:spcAft>
                <a:spcPts val="600"/>
              </a:spcAft>
            </a:pPr>
            <a:r>
              <a:rPr sz="1800" b="0">
                <a:solidFill>
                  <a:srgbClr val="202830"/>
                </a:solidFill>
                <a:latin typeface="Malgun Gothic"/>
                <a:ea typeface="Malgun Gothic"/>
              </a:rPr>
              <a:t>•  모든 데이터파일이 ONLINE 또는 SYSTEM 상태인지</a:t>
            </a:r>
          </a:p>
          <a:p>
            <a:pPr>
              <a:spcAft>
                <a:spcPts val="600"/>
              </a:spcAft>
            </a:pPr>
            <a:r>
              <a:rPr sz="1800" b="0">
                <a:solidFill>
                  <a:srgbClr val="202830"/>
                </a:solidFill>
                <a:latin typeface="Malgun Gothic"/>
                <a:ea typeface="Malgun Gothic"/>
              </a:rPr>
              <a:t>•  대표 테이블 건수를 장애 이전 값과 대조</a:t>
            </a:r>
          </a:p>
          <a:p>
            <a:pPr>
              <a:spcAft>
                <a:spcPts val="600"/>
              </a:spcAft>
            </a:pPr>
            <a:r>
              <a:rPr sz="1800" b="0">
                <a:solidFill>
                  <a:srgbClr val="202830"/>
                </a:solidFill>
                <a:latin typeface="Malgun Gothic"/>
                <a:ea typeface="Malgun Gothic"/>
              </a:rPr>
              <a:t>•  로그 스위치와 아카이브 생성이 정상인지</a:t>
            </a:r>
          </a:p>
          <a:p>
            <a:pPr>
              <a:spcAft>
                <a:spcPts val="600"/>
              </a:spcAft>
            </a:pPr>
            <a:r>
              <a:rPr sz="1800" b="0">
                <a:solidFill>
                  <a:srgbClr val="202830"/>
                </a:solidFill>
                <a:latin typeface="Malgun Gothic"/>
                <a:ea typeface="Malgun Gothic"/>
              </a:rPr>
              <a:t>•  전체 복원에서는 객체 유효성도 확인</a:t>
            </a:r>
          </a:p>
          <a:p>
            <a:pPr>
              <a:spcAft>
                <a:spcPts val="600"/>
              </a:spcAft>
            </a:pPr>
            <a:r>
              <a:rPr sz="1600" b="0">
                <a:solidFill>
                  <a:srgbClr val="5A6672"/>
                </a:solidFill>
                <a:latin typeface="Malgun Gothic"/>
                <a:ea typeface="Malgun Gothic"/>
              </a:rPr>
              <a:t>    –  dba_objects 의 INVALID 건수가 늘지 않았는지</a:t>
            </a:r>
          </a:p>
          <a:p>
            <a:pPr>
              <a:spcAft>
                <a:spcPts val="600"/>
              </a:spcAft>
            </a:pPr>
            <a:r>
              <a:rPr sz="1600" b="0">
                <a:solidFill>
                  <a:srgbClr val="5A6672"/>
                </a:solidFill>
                <a:latin typeface="Malgun Gothic"/>
                <a:ea typeface="Malgun Gothic"/>
              </a:rPr>
              <a:t>    –  늘었다면 UTL_RECOMP 또는 재컴파일로 정리</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장애 유형 → 복구 전략 판단표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ea typeface="Malgun Gothic"/>
              </a:rPr>
              <a:t>파일 계열 · 아카이브 계열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ea typeface="Consolas"/>
              </a:rPr>
              <a:t>상황                        | 아카이브 | 조치                              | 중단</a:t>
            </a:r>
          </a:p>
          <a:p>
            <a:pPr>
              <a:spcAft>
                <a:spcPts val="0"/>
              </a:spcAft>
            </a:pPr>
            <a:r>
              <a:rPr sz="1250" b="0">
                <a:solidFill>
                  <a:srgbClr val="7EC699"/>
                </a:solidFill>
                <a:latin typeface="Consolas"/>
                <a:ea typeface="Consolas"/>
              </a:rPr>
              <a:t>----------------------------|----------|-----------------------------------|------</a:t>
            </a:r>
          </a:p>
          <a:p>
            <a:pPr>
              <a:spcAft>
                <a:spcPts val="0"/>
              </a:spcAft>
            </a:pPr>
            <a:r>
              <a:rPr sz="1250" b="0">
                <a:solidFill>
                  <a:srgbClr val="E6E6E6"/>
                </a:solidFill>
                <a:latin typeface="Consolas"/>
                <a:ea typeface="Consolas"/>
              </a:rPr>
              <a:t>전체 데이터파일 손상        | 연속     | MOUNT → 전체 복원 → RECOVER DB    | 전면</a:t>
            </a:r>
          </a:p>
          <a:p>
            <a:pPr>
              <a:spcAft>
                <a:spcPts val="0"/>
              </a:spcAft>
            </a:pPr>
            <a:r>
              <a:rPr sz="1250" b="0">
                <a:solidFill>
                  <a:srgbClr val="E6E6E6"/>
                </a:solidFill>
                <a:latin typeface="Consolas"/>
                <a:ea typeface="Consolas"/>
              </a:rPr>
              <a:t>전체 손상, 새 위치 복원     | 연속     | 복원 → RENAME 일괄 → RECOVER      | 전면</a:t>
            </a:r>
          </a:p>
          <a:p>
            <a:pPr>
              <a:spcAft>
                <a:spcPts val="0"/>
              </a:spcAft>
            </a:pPr>
            <a:r>
              <a:rPr sz="1250" b="0">
                <a:solidFill>
                  <a:srgbClr val="E6E6E6"/>
                </a:solidFill>
                <a:latin typeface="Consolas"/>
                <a:ea typeface="Consolas"/>
              </a:rPr>
              <a:t>UNDO 손상(종료 후)          | 연속     | MOUNT → 복원 → RECOVER → OPEN     | 전면</a:t>
            </a:r>
          </a:p>
          <a:p>
            <a:pPr>
              <a:spcAft>
                <a:spcPts val="0"/>
              </a:spcAft>
            </a:pPr>
            <a:r>
              <a:rPr sz="1250" b="0">
                <a:solidFill>
                  <a:srgbClr val="E6E6E6"/>
                </a:solidFill>
                <a:latin typeface="Consolas"/>
                <a:ea typeface="Consolas"/>
              </a:rPr>
              <a:t>UNDO 손상(운영 중, 응급)    | 무관     | 새 UNDO 전환 → 나중에 정식 복구   | 없음</a:t>
            </a:r>
          </a:p>
          <a:p>
            <a:pPr>
              <a:spcAft>
                <a:spcPts val="0"/>
              </a:spcAft>
            </a:pPr>
            <a:r>
              <a:rPr sz="1250" b="0">
                <a:solidFill>
                  <a:srgbClr val="E6E6E6"/>
                </a:solidFill>
                <a:latin typeface="Consolas"/>
                <a:ea typeface="Consolas"/>
              </a:rPr>
              <a:t>아카이브 한쪽 대상 결손     | 다른 쪽  | 다른 대상 경로 입력 · 사전 복사   | 상황별</a:t>
            </a:r>
          </a:p>
          <a:p>
            <a:pPr>
              <a:spcAft>
                <a:spcPts val="0"/>
              </a:spcAft>
            </a:pPr>
            <a:r>
              <a:rPr sz="1250" b="0">
                <a:solidFill>
                  <a:srgbClr val="E6E6E6"/>
                </a:solidFill>
                <a:latin typeface="Consolas"/>
                <a:ea typeface="Consolas"/>
              </a:rPr>
              <a:t>아카이브 삭제, 온라인 생존  | 불필요   | 온라인 리두 경로 입력             | 상황별</a:t>
            </a:r>
          </a:p>
          <a:p>
            <a:pPr>
              <a:spcAft>
                <a:spcPts val="0"/>
              </a:spcAft>
            </a:pPr>
            <a:r>
              <a:rPr sz="1250" b="0">
                <a:solidFill>
                  <a:srgbClr val="E6E6E6"/>
                </a:solidFill>
                <a:latin typeface="Consolas"/>
                <a:ea typeface="Consolas"/>
              </a:rPr>
              <a:t>아카이브 삭제, 온라인도 없음| 없음     | 불완전 복구로 전환(10장)          | 전면</a:t>
            </a:r>
          </a:p>
          <a:p>
            <a:pPr>
              <a:spcAft>
                <a:spcPts val="0"/>
              </a:spcAft>
            </a:pPr>
            <a:r>
              <a:rPr sz="1250" b="0">
                <a:solidFill>
                  <a:srgbClr val="E6E6E6"/>
                </a:solidFill>
                <a:latin typeface="Consolas"/>
                <a:ea typeface="Consolas"/>
              </a:rPr>
              <a:t>아카이브 대상 full          | 무관     | 공간 확보 → ARCHIVE LOG ALL       | 전면</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전체 데이터파일 손상</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모든 데이터파일이 유실되었으나 컨트롤파일·리두·아카이브가 온전하다. 결과는?</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백업 시점으로 되돌아가고 이후 데이터는 손실된다</a:t>
            </a:r>
          </a:p>
          <a:p>
            <a:pPr>
              <a:spcAft>
                <a:spcPts val="800"/>
              </a:spcAft>
            </a:pPr>
            <a:r>
              <a:rPr sz="1700" b="0">
                <a:solidFill>
                  <a:srgbClr val="202830"/>
                </a:solidFill>
                <a:latin typeface="Malgun Gothic"/>
                <a:ea typeface="Malgun Gothic"/>
              </a:rPr>
              <a:t>전체 복원 후 RECOVER DATABASE 로 완전 복구된다</a:t>
            </a:r>
          </a:p>
          <a:p>
            <a:pPr>
              <a:spcAft>
                <a:spcPts val="800"/>
              </a:spcAft>
            </a:pPr>
            <a:r>
              <a:rPr sz="1700" b="0">
                <a:solidFill>
                  <a:srgbClr val="202830"/>
                </a:solidFill>
                <a:latin typeface="Malgun Gothic"/>
                <a:ea typeface="Malgun Gothic"/>
              </a:rPr>
              <a:t>복구가 불가능하다</a:t>
            </a:r>
          </a:p>
          <a:p>
            <a:pPr>
              <a:spcAft>
                <a:spcPts val="800"/>
              </a:spcAft>
            </a:pPr>
            <a:r>
              <a:rPr sz="1700" b="0">
                <a:solidFill>
                  <a:srgbClr val="202830"/>
                </a:solidFill>
                <a:latin typeface="Malgun Gothic"/>
                <a:ea typeface="Malgun Gothic"/>
              </a:rPr>
              <a:t>RESETLOGS가 반드시 필요하다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아카이브 삭제 후 복구</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필요한 아카이브가 삭제되었는데도 완전 복구가 가능한 조건은?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백업본이 두 벌 있을 때</a:t>
            </a:r>
          </a:p>
          <a:p>
            <a:pPr>
              <a:spcAft>
                <a:spcPts val="800"/>
              </a:spcAft>
            </a:pPr>
            <a:r>
              <a:rPr sz="1700" b="0">
                <a:solidFill>
                  <a:srgbClr val="202830"/>
                </a:solidFill>
                <a:latin typeface="Malgun Gothic"/>
                <a:ea typeface="Malgun Gothic"/>
              </a:rPr>
              <a:t>복구 시작 SCN이 온라인 리두의 최소 FIRST_CHANGE# 이상일 때</a:t>
            </a:r>
          </a:p>
          <a:p>
            <a:pPr>
              <a:spcAft>
                <a:spcPts val="800"/>
              </a:spcAft>
            </a:pPr>
            <a:r>
              <a:rPr sz="1700" b="0">
                <a:solidFill>
                  <a:srgbClr val="202830"/>
                </a:solidFill>
                <a:latin typeface="Malgun Gothic"/>
                <a:ea typeface="Malgun Gothic"/>
              </a:rPr>
              <a:t>FRA를 쓸 때</a:t>
            </a:r>
          </a:p>
          <a:p>
            <a:pPr>
              <a:spcAft>
                <a:spcPts val="800"/>
              </a:spcAft>
            </a:pPr>
            <a:r>
              <a:rPr sz="1700" b="0">
                <a:solidFill>
                  <a:srgbClr val="202830"/>
                </a:solidFill>
                <a:latin typeface="Malgun Gothic"/>
                <a:ea typeface="Malgun Gothic"/>
              </a:rPr>
              <a:t>컨트롤파일이 최신일 때</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ORA-00257</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ORA-00257이 발생해 일반 사용자가 접속하지 못한다. 첫 조치로 옳은 것은?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데이터베이스를 재기동한다</a:t>
            </a:r>
          </a:p>
          <a:p>
            <a:pPr>
              <a:spcAft>
                <a:spcPts val="800"/>
              </a:spcAft>
            </a:pPr>
            <a:r>
              <a:rPr sz="1700" b="0">
                <a:solidFill>
                  <a:srgbClr val="202830"/>
                </a:solidFill>
                <a:latin typeface="Malgun Gothic"/>
                <a:ea typeface="Malgun Gothic"/>
              </a:rPr>
              <a:t>SYSDBA로 접속해 공간과 v$archive_dest 상태를 확인한다</a:t>
            </a:r>
          </a:p>
          <a:p>
            <a:pPr>
              <a:spcAft>
                <a:spcPts val="800"/>
              </a:spcAft>
            </a:pPr>
            <a:r>
              <a:rPr sz="1700" b="0">
                <a:solidFill>
                  <a:srgbClr val="202830"/>
                </a:solidFill>
                <a:latin typeface="Malgun Gothic"/>
                <a:ea typeface="Malgun Gothic"/>
              </a:rPr>
              <a:t>아카이브 모드를 해제한다</a:t>
            </a:r>
          </a:p>
          <a:p>
            <a:pPr>
              <a:spcAft>
                <a:spcPts val="800"/>
              </a:spcAft>
            </a:pPr>
            <a:r>
              <a:rPr sz="1700" b="0">
                <a:solidFill>
                  <a:srgbClr val="202830"/>
                </a:solidFill>
                <a:latin typeface="Malgun Gothic"/>
                <a:ea typeface="Malgun Gothic"/>
              </a:rPr>
              <a:t>RESETLOGS를 수행한다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퀴즈 4</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1F5CA8"/>
                </a:solidFill>
                <a:latin typeface="Malgun Gothic"/>
                <a:ea typeface="Malgun Gothic"/>
              </a:rPr>
              <a:t>UNDO 손상의 무중단 가능성</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ea typeface="Malgun Gothic"/>
              </a:rPr>
              <a:t>운영 중 UNDO 데이터파일이 손상되었다. 서비스를 유지하는 방법은?</a:t>
            </a:r>
          </a:p>
        </p:txBody>
      </p:sp>
      <p:sp>
        <p:nvSpPr>
          <p:cNvPr id="6" name="Rectangle 5"/>
          <p:cNvSpPr/>
          <p:nvPr/>
        </p:nvSpPr>
        <p:spPr>
          <a:xfrm>
            <a:off x="640080" y="3200400"/>
            <a:ext cx="10908792" cy="50292"/>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429000"/>
            <a:ext cx="10515600" cy="2926080"/>
          </a:xfrm>
          <a:prstGeom prst="rect">
            <a:avLst/>
          </a:prstGeom>
          <a:noFill/>
        </p:spPr>
        <p:txBody>
          <a:bodyPr wrap="square">
            <a:spAutoFit/>
          </a:bodyPr>
          <a:lstStyle/>
          <a:p>
            <a:pPr>
              <a:spcAft>
                <a:spcPts val="800"/>
              </a:spcAft>
            </a:pPr>
            <a:r>
              <a:rPr sz="1700" b="0">
                <a:solidFill>
                  <a:srgbClr val="202830"/>
                </a:solidFill>
                <a:latin typeface="Malgun Gothic"/>
                <a:ea typeface="Malgun Gothic"/>
              </a:rPr>
              <a:t>UNDO를 OFFLINE 하고 복구</a:t>
            </a:r>
          </a:p>
          <a:p>
            <a:pPr>
              <a:spcAft>
                <a:spcPts val="800"/>
              </a:spcAft>
            </a:pPr>
            <a:r>
              <a:rPr sz="1700" b="0">
                <a:solidFill>
                  <a:srgbClr val="202830"/>
                </a:solidFill>
                <a:latin typeface="Malgun Gothic"/>
                <a:ea typeface="Malgun Gothic"/>
              </a:rPr>
              <a:t>새 UNDO 테이블스페이스를 만들어 UNDO_TABLESPACE 를 전환</a:t>
            </a:r>
          </a:p>
          <a:p>
            <a:pPr>
              <a:spcAft>
                <a:spcPts val="800"/>
              </a:spcAft>
            </a:pPr>
            <a:r>
              <a:rPr sz="1700" b="0">
                <a:solidFill>
                  <a:srgbClr val="202830"/>
                </a:solidFill>
                <a:latin typeface="Malgun Gothic"/>
                <a:ea typeface="Malgun Gothic"/>
              </a:rPr>
              <a:t>RESETLOGS 수행</a:t>
            </a:r>
          </a:p>
          <a:p>
            <a:pPr>
              <a:spcAft>
                <a:spcPts val="800"/>
              </a:spcAft>
            </a:pPr>
            <a:r>
              <a:rPr sz="1700" b="0">
                <a:solidFill>
                  <a:srgbClr val="202830"/>
                </a:solidFill>
                <a:latin typeface="Malgun Gothic"/>
                <a:ea typeface="Malgun Gothic"/>
              </a:rPr>
              <a:t>방법이 없다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아카이브가 연속이면 데이터파일이 전부 없어져도 완전 복구된다</a:t>
            </a:r>
          </a:p>
          <a:p>
            <a:pPr>
              <a:spcAft>
                <a:spcPts val="600"/>
              </a:spcAft>
            </a:pPr>
            <a:r>
              <a:rPr sz="1800" b="0">
                <a:solidFill>
                  <a:srgbClr val="202830"/>
                </a:solidFill>
                <a:latin typeface="Malgun Gothic"/>
                <a:ea typeface="Malgun Gothic"/>
              </a:rPr>
              <a:t>•  새 위치 복원은 RENAME 스크립트를 생성해 일괄 적용한다</a:t>
            </a:r>
          </a:p>
          <a:p>
            <a:pPr>
              <a:spcAft>
                <a:spcPts val="600"/>
              </a:spcAft>
            </a:pPr>
            <a:r>
              <a:rPr sz="1800" b="0">
                <a:solidFill>
                  <a:srgbClr val="202830"/>
                </a:solidFill>
                <a:latin typeface="Malgun Gothic"/>
                <a:ea typeface="Malgun Gothic"/>
              </a:rPr>
              <a:t>•  UNDO는 무중단 복구가 불가능하지만 전환으로 시간을 벌 수 있다</a:t>
            </a:r>
          </a:p>
          <a:p>
            <a:pPr>
              <a:spcAft>
                <a:spcPts val="600"/>
              </a:spcAft>
            </a:pPr>
            <a:r>
              <a:rPr sz="1800" b="0">
                <a:solidFill>
                  <a:srgbClr val="202830"/>
                </a:solidFill>
                <a:latin typeface="Malgun Gothic"/>
                <a:ea typeface="Malgun Gothic"/>
              </a:rPr>
              <a:t>•  다중 대상은 한쪽 결손을 다른 쪽으로 메운다</a:t>
            </a:r>
          </a:p>
          <a:p>
            <a:pPr>
              <a:spcAft>
                <a:spcPts val="600"/>
              </a:spcAft>
            </a:pPr>
            <a:r>
              <a:rPr sz="1800" b="0">
                <a:solidFill>
                  <a:srgbClr val="202830"/>
                </a:solidFill>
                <a:latin typeface="Malgun Gothic"/>
                <a:ea typeface="Malgun Gothic"/>
              </a:rPr>
              <a:t>•  아카이브가 없어도 온라인 리두가 남아 있으면 완전 복구가 가능하다</a:t>
            </a:r>
          </a:p>
          <a:p>
            <a:pPr>
              <a:spcAft>
                <a:spcPts val="600"/>
              </a:spcAft>
            </a:pPr>
            <a:r>
              <a:rPr sz="1800" b="0">
                <a:solidFill>
                  <a:srgbClr val="202830"/>
                </a:solidFill>
                <a:latin typeface="Malgun Gothic"/>
                <a:ea typeface="Malgun Gothic"/>
              </a:rPr>
              <a:t>•  아카이브 대상 full은 복구가 아니라 가용성의 문제다</a:t>
            </a:r>
          </a:p>
          <a:p>
            <a:pPr>
              <a:spcAft>
                <a:spcPts val="600"/>
              </a:spcAft>
            </a:pPr>
            <a:r>
              <a:rPr sz="1800" b="0">
                <a:solidFill>
                  <a:srgbClr val="202830"/>
                </a:solidFill>
                <a:latin typeface="Malgun Gothic"/>
                <a:ea typeface="Malgun Gothic"/>
              </a:rPr>
              <a:t>•  모든 절차는 아카이브 관리 위에 서 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ea typeface="Malgun Gothic"/>
              </a:rPr>
              <a:t>실습 9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ea typeface="Malgun Gothic"/>
              </a:rPr>
              <a:t>•  실습 9-1  모든 데이터파일 손상 복구</a:t>
            </a:r>
          </a:p>
          <a:p>
            <a:pPr>
              <a:spcAft>
                <a:spcPts val="600"/>
              </a:spcAft>
            </a:pPr>
            <a:r>
              <a:rPr sz="1800" b="0">
                <a:solidFill>
                  <a:srgbClr val="202830"/>
                </a:solidFill>
                <a:latin typeface="Malgun Gothic"/>
                <a:ea typeface="Malgun Gothic"/>
              </a:rPr>
              <a:t>•  실습 9-2  모든 데이터파일을 새 위치로 복구</a:t>
            </a:r>
          </a:p>
          <a:p>
            <a:pPr>
              <a:spcAft>
                <a:spcPts val="600"/>
              </a:spcAft>
            </a:pPr>
            <a:r>
              <a:rPr sz="1800" b="0">
                <a:solidFill>
                  <a:srgbClr val="202830"/>
                </a:solidFill>
                <a:latin typeface="Malgun Gothic"/>
                <a:ea typeface="Malgun Gothic"/>
              </a:rPr>
              <a:t>•  실습 9-3  UNDO 데이터파일 손상 복구</a:t>
            </a:r>
          </a:p>
          <a:p>
            <a:pPr>
              <a:spcAft>
                <a:spcPts val="600"/>
              </a:spcAft>
            </a:pPr>
            <a:r>
              <a:rPr sz="1800" b="0">
                <a:solidFill>
                  <a:srgbClr val="202830"/>
                </a:solidFill>
                <a:latin typeface="Malgun Gothic"/>
                <a:ea typeface="Malgun Gothic"/>
              </a:rPr>
              <a:t>•  실습 9-4  운영 중 UNDO 손상과 전환</a:t>
            </a:r>
          </a:p>
          <a:p>
            <a:pPr>
              <a:spcAft>
                <a:spcPts val="600"/>
              </a:spcAft>
            </a:pPr>
            <a:r>
              <a:rPr sz="1800" b="0">
                <a:solidFill>
                  <a:srgbClr val="202830"/>
                </a:solidFill>
                <a:latin typeface="Malgun Gothic"/>
                <a:ea typeface="Malgun Gothic"/>
              </a:rPr>
              <a:t>•  실습 9-5  아카이브 다중 대상 중 한쪽 결손</a:t>
            </a:r>
          </a:p>
          <a:p>
            <a:pPr>
              <a:spcAft>
                <a:spcPts val="600"/>
              </a:spcAft>
            </a:pPr>
            <a:r>
              <a:rPr sz="1800" b="0">
                <a:solidFill>
                  <a:srgbClr val="202830"/>
                </a:solidFill>
                <a:latin typeface="Malgun Gothic"/>
                <a:ea typeface="Malgun Gothic"/>
              </a:rPr>
              <a:t>•  실습 9-6  아카이브 삭제, 온라인 리두로 완전 복구</a:t>
            </a:r>
          </a:p>
          <a:p>
            <a:pPr>
              <a:spcAft>
                <a:spcPts val="600"/>
              </a:spcAft>
            </a:pPr>
            <a:r>
              <a:rPr sz="1800" b="0">
                <a:solidFill>
                  <a:srgbClr val="202830"/>
                </a:solidFill>
                <a:latin typeface="Malgun Gothic"/>
                <a:ea typeface="Malgun Gothic"/>
              </a:rPr>
              <a:t>•  실습 9-7  ORA-00257로 정지된 데이터베이스 복구</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200"/>
              </a:spcAft>
            </a:pPr>
            <a:r>
              <a:rPr sz="1300" b="1">
                <a:solidFill>
                  <a:srgbClr val="1F5CA8"/>
                </a:solidFill>
                <a:latin typeface="Malgun Gothic"/>
                <a:ea typeface="Malgun Gothic"/>
              </a:rPr>
              <a:t>실습 준비:</a:t>
            </a:r>
          </a:p>
          <a:p>
            <a:pPr>
              <a:spcAft>
                <a:spcPts val="0"/>
              </a:spcAft>
            </a:pPr>
            <a:r>
              <a:rPr sz="1250" b="0">
                <a:solidFill>
                  <a:srgbClr val="202830"/>
                </a:solidFill>
                <a:latin typeface="Malgun Gothic"/>
                <a:ea typeface="Malgun Gothic"/>
              </a:rPr>
              <a:t>각 실습 전 백업과 아카이브 연속성을 확인하고, 아카이브 대상의 여유 공간을 점검한다.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
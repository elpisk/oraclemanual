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4~6장이 데이터파일과 컨트롤파일을 다뤘다면 7장은 마지막 남은 파일 종류인 리두 로그를 다룬다. 리두 로그는 복구의 재료이므로 이것이 없어지면 다른 파일의 복구까지 함께 막힌다. 그래서 이 장의 시나리오는 대부분 복합 장애의 형태를 띤다. NOARCHIVELOG 계통은 이 장으로 마무리되며 8장부터는 같은 장애를 ARCHIVELOG 환경에서 다시 본다. 본문 27,054자를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손실 크기 순으로 배열되어 있다. 멤버 손상은 손실이 전혀 없고, INACTIVE 그룹 손상은 CLEAR로 끝나며, CURRENT 그룹 손상은 반영되지 않은 변경을 잃는다. 컨트롤파일까지 겹치면 선택지가 더 줄어든다. 이 순서를 먼저 각인시키면 실습에서 자신이 어느 경로에 있는지 스스로 판단할 수 있다. 마지막 목표는 4~7장 전체를 하나의 판정 절차로 묶는 정리 작업이다.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절은 '멤버가 남아 있는가 → 그룹 상태가 무엇인가 → 마지막 종료가 정상이었는가'라는 세 갈래 질문으로 꿰인다. 이 세 질문이 결정되면 경로가 하나로 좁혀지며 7.7절의 판단표가 결론을 정리한다. 7.6절은 4~7장 전체를 종합하는 자리이므로 시간을 넉넉히 배분한다. 이론은 100분 안에 마치고 실습 여섯 개에 나머지 시간을 쓰는 편이 좋다. 7.5절은 6장 실습에서 이미 겪은 문제를 정면으로 다루는 자리다.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7.1절은 나머지 절의 판정 기준을 세운다. 리두 로그의 구조와 상태값을 알면 어떤 손상이 치명적이고 어떤 손상이 아닌지가 자동으로 갈린다. 특히 컨트롤파일과의 대비가 중요하다. 두 파일 모두 다중화하지만 내성이 전혀 달라 컨트롤파일은 하나만 없어도 멈추고 리두는 계속 돈다. 이 차이를 먼저 짚어야 뒤의 시나리오가 이해된다. 구성 점검 항목도 이 절에서 함께 다룬다.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v$log의 STATUS는 그룹 상태이고 v$logfile의 STATUS는 멤버 상태다. 두 뷰를 혼동하면 진단이 어긋나므로 여기서 명확히 구분시킨다. 멤버 STATUS가 비어 있으면 정상이고 INVALID면 접근할 수 없다는 뜻이다. 컨트롤파일은 나열된 경로 중 하나만 없어도 MOUNT가 거부되지만 리두는 그렇지 않다는 대비가 핵심이다. 이 내성 차이가 리두 다중화를 더 값어치 있게 만든다.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조회 하나가 진단의 출발점이다. 그룹별 상태와 멤버 경로를 함께 보여 주므로 어느 그룹이 어떤 상태이고 멤버가 어디에 놓였는지 한눈에 파악된다. 멤버가 서로 다른 마운트 포인트에 분산되어 있는지도 이 출력으로 확인한다. MOUNT 상태에서도 조회할 수 있어 장애 대응 중에도 쓸 수 있다는 점이 중요하다. 복구 프롬프트에 입력할 경로를 미리 확보하는 용도로도 쓰인다.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상태를 손실 위험 순으로 배열해 설명하면 이해가 빠르다. CURRENT가 가장 위험하고 UNUSED가 가장 안전하다. 실무에서 유용한 것은 마지막 항목이다. 계획된 위험 작업 전에 ALTER SYSTEM CHECKPOINT 를 수행하면 ACTIVE 그룹이 INACTIVE로 내려가 손상 시 부담이 줄어든다. 디스크 교체나 스토리지 작업 전에 습관적으로 수행하도록 지도한다. 상태는 시시각각 바뀌므로 진단 시점의 조회가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DROP/ADD MEMBER 는 CURRENT 그룹에는 쓸 수 없으므로 스위치 후 수행해야 한다는 점을 짚어 준다. 가장 간단한 방법은 같은 그룹의 살아 있는 멤버를 cp -p 로 복사하는 것이다. 내용이 동일하므로 그대로 유효한 멤버가 된다. 다만 열린 상태에서 복사하면 그 사이 기록이 일어날 수 있으므로 INACTIVE 그룹에 대해 수행하거나 인스턴스를 내린 뒤 하는 편이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오류를 한 화면에 모아 두면 실습 중 검색 시간을 줄일 수 있다. ORA-00312와 ORA-00313의 차이가 특히 중요하다. 전자는 특정 파일 하나를 못 여는 것이고 후자는 그룹의 멤버 전부를 못 여는 것이다. 후자가 나오면 그룹 전손이 확정이므로 CLEAR나 불완전 복구를 준비해야 한다. ORA-00314는 6장의 실습 5-7에서 이미 본 오류이며 컨트롤파일과 리두의 짝이 어긋난 신호다.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조회 하나로 다중화가 실제로 작동하는 구성인지 판별할 수 있다. 멤버가 두 개라도 같은 디스크에 있으면 디스크 장애 앞에서 다중화가 무의미하다. DISTINCT_MOUNT 컬럼이 그것을 잡아낸다. 정기 점검 항목으로 넣어 두면 좋다. 그룹 수는 최소 세 개를 유지하고, 스위치 간격은 v$log_history 로 확인해 15~20분에 한 번 정도가 되도록 크기를 조정한다.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7.2절은 리두 로그 장애 중 가장 다루기 쉬운 경우다. INACTIVE 그룹은 이미 체크포인트가 완료되어 그 안의 리두가 데이터파일에 반영되어 있다. 따라서 그룹을 통째로 다시 만들어도 손실이 없다. 다만 CLEAR는 되돌릴 수 없는 명령이므로 대상 그룹의 상태를 반드시 먼저 확인해야 한다. 손상되지 않은 그룹을 CLEAR 하는 것은 스스로 복구 재료를 버리는 행위다.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ORA-00312가 두 줄 나오는 것에 주목시킨다. 그룹 3의 멤버 두 개를 모두 열지 못했다는 뜻이며 그래서 ORA-00313이 함께 나온다. 멤버 하나만 없었다면 이 오류 없이 기동되었을 것이다. CLEAR 후 RESETLOGS 없이 바로 열린다는 점이 이 경로의 가치다. 컨트롤파일이 온전해 리두의 연속성이 유지되기 때문이다. 손실도 없고 인카네이션도 그대로다.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출력이 7.4.4절에서 다룰 '두 복구의 경계'를 미리 보여 준다. ORA-01624는 인스턴스 복구 쪽 요구이고 ORA-01113은 미디어 복구 쪽 요구다. UNARCHIVED 옵션은 앞의 요구만 없앨 뿐 뒤의 요구는 해결하지 못한다. 오히려 리두를 버렸기 때문에 미디어 복구의 재료가 줄어든다. 이 순서를 이해하면 CLEAR를 남발하면 왜 상황이 나빠지는지가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CLEAR가 성공했다고 복구가 끝난 것은 아니라는 점을 강조한다. 그룹은 다시 만들어졌지만 데이터파일 상태는 그대로일 수 있다. v$recover_file 에 파일이 남아 있으면 별개의 문제가 있는 것이다. 또 하나 기록해 둘 것은 CLEAR로 비운 리두는 되살릴 수 없다는 사실이다. 백업본이 CLEAR 시점보다 오래되었다면 그 백업본은 사실상 무효가 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7.3절은 이 장에서 손실이 발생하는 유일한 경로다. CURRENT 그룹에는 커밋되었지만 아직 데이터파일에 반영되지 않은 변경이 들어 있고, NOARCHIVELOG 환경에는 그 사본이 없다. 결과는 마지막 종료 방식에 달렸다. 정상 종료였다면 미반영 변경이 없어 손실이 없고, 비정상 종료였다면 그 변경을 잃는다. 예방책은 하나뿐이며 멤버 다중화다. 아카이브 모드로 전환해도 이 구간은 보호되지 않는다는 점을 절 후반에서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강조해야 한다. CURRENT 그룹은 언제나 존재하므로 '손상되면 곤란한 그룹'이 항상 하나 있다는 뜻이다. 이 위험을 없애는 유일한 방법이 멤버 다중화다. ARCHIVELOG 모드로 전환해도 CURRENT 리두는 아직 아카이브되기 전이라 보호되지 않는다. 즉 아카이브 모드는 CURRENT 손상에 대한 답이 아니며, 그 답은 멤버 다중화라는 결론이 나온다.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선택지는 두 가지다. UNTIL CANCEL 불완전 복구는 남은 리두까지만 적용하고 그 지점에서 여는 방법이고, 전체 복원은 백업 시점으로 되돌리는 방법이다. 앞쪽이 손실이 적지만 열리지 않을 수도 있다. 열리지 않으면 전체 복원으로 전환한다. 어느 쪽이든 RESETLOGS가 필요하며 직후 전체 백업이 뒤따른다. 시도 전 파일 사본을 확보해 두면 두 방법을 모두 시험할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복구가 끝났다는 보고만으로는 부족하다. 어느 시점까지 살아남았는지를 시각으로 환산해 전달해야 현업이 재처리 계획을 세울 수 있다. SCN_TO_TIMESTAMP 로 기술적 시점을 구하고, 핵심 업무 테이블의 최종 갱신 시각으로 그것을 검증한다. 보고 항목은 네 가지로 정리한다. 복구된 시점, 손실 구간, 영향 테이블, 재처리 필요 여부다. 기술 용어만으로 보고하면 현업이 판단할 수 없으므로 업무 단위로 바꿔 전달한다.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7장에서 8장으로 넘어가는 다리 역할을 한다. 아카이브 모드의 가치를 정확히 규정하는 것이 중요하다. 만능이 아니며 CURRENT 리두 손상이라는 마지막 구간은 여전히 다중화로만 막는다. 대신 백업 주기가 길어도 완전 복구가 가능해진다는 점이 결정적 이점이다. NOARCHIVELOG의 복구 가능 범위는 온라인 리두가 담을 수 있는 만큼이라는 한계를 함께 상기시킨다.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7.4절은 6장의 절차에 조건 하나가 더 붙는 자리다. 컨트롤파일을 먼저 세운다는 원칙은 같지만, 리두 로그가 없으면 NORESETLOGS 형식이 문 단계에서 실패한다. RESETLOGS 형식은 리두를 새로 만들므로 파일이 없어도 성립한다. 이 제약 하나를 알면 판정이 한 단계 늘어나는 이유가 설명된다. 절 후반에서는 두 종류의 복구를 오류 코드로 구분하는 법을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ORA-01503 뒤에 붙는 오류를 읽는 습관이 여기서도 통한다. ORA-00301은 리두 파일을 만들 수 없다는 뜻이며 NORESETLOGS 형식이 기존 파일을 그대로 인식하려 했기 때문에 나온다. RESETLOGS 형식으로 바꾸면 리두를 새로 만들므로 문이 성공한다. 두 형식이 한 파일 안에 함께 들어 있으므로 실패했을 때 바로 다른 쪽을 시도할 수 있다는 점이 trace 백업의 장점이다.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정상 종료 상태에서는 리두 로그가 통째로 없어져도 손실이 없다는 점이 의외로 받아들여진다. 이유는 간단하다. 종료 시 체크포인트가 완료되어 리두에만 있는 변경이 남지 않기 때문이다. 비정상 종료 상태는 정반대다. 미반영 변경이 리두에 있는데 그 리두가 사라졌으므로 되살릴 방법이 없다. 두 경우를 대비시키면 FUZZY 개념의 실용적 가치가 분명해진다. 실습 7-1과 7-2가 이 두 경우를 나란히 수행하도록 구성되어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7장 전체의 판정을 단순하게 만든다. 두 오류가 이어서 나오면 양쪽 문제가 함께 있다는 뜻이고, 그때는 CLEAR로 앞쪽을 해소한 뒤 복구로 뒤쪽을 해소하는 순서가 된다. CLEAR UNARCHIVED 가 앞쪽 요구만 없애고 뒤쪽 재료를 줄인다는 점도 이 틀에서 설명된다. 수강생이 명령을 외우지 않고 상황에서 고를 수 있게 만드는 것이 이 슬라이드의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7.5절은 6장 실습 6-2에서 이미 겪은 문제를 정면으로 다룬다. 백업 컨트롤파일은 만들어진 시점의 파일 목록에 갇혀 있으므로 이후 구조가 바뀌면 어긋난다. 위험한 것은 이 어긋남이 오류를 내지 않는다는 점이다. 데이터베이스는 정상적으로 열리고 그 파일을 실제로 읽을 때가 되어서야 드러난다. 복구 기술로 완전히 해결되지 않으므로 구조 변경 직후 백업이라는 예방이 유일한 답이다.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UNNAMEDnnnnn 이라는 경로를 보면 즉시 이 상황을 떠올릴 수 있게 훈련시킨다. 컨트롤파일에 등록되지 않은 파일의 자리만 잡아 둔 임시 이름이다. MOUNT 상태에서 RENAME FILE 로 실제 경로를 지정하면 해소된다. 실제 파일이 없다면 ALTER DATABASE CREATE DATAFILE 로 빈 파일을 만들고 리두를 적용해야 하는데, NOARCHIVELOG에서는 성공 확률이 낮다.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문제는 기술이 아니라 절차로 막는다는 점이 핵심이다. 리두가 없으면 새로 만든 빈 파일을 채울 방법이 없으므로 복구 기술의 한계가 명확하다. 데이터파일 추가, 리두 그룹 변경, 테이블스페이스 생성이 모두 대상 작업이다. 티켓에 체크 항목으로 넣어 두면 담당자가 바뀌어도 누락되지 않는다. 매니페스트에 남긴 파일 목록은 컨트롤파일이 없는 상황에서 유일한 근거가 되기도 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7.6절은 4~7장 전체를 하나의 절차로 묶는 정리 자리다. 새로운 명령은 나오지 않고 순서와 원칙만 다룬다. 처리 순서는 의존 관계에서 나온다. 컨트롤파일 없이는 진단이 불가능하고 리두 없이는 복구가 불가능하다. 0단계로 현재 파일 사본을 확보하는 것이 왜 중요한지도 여기서 정리한다. 마지막으로 복구 보고서에 담아야 할 네 항목을 제시한다. 재발 방지 제안까지 포함해야 보고가 완결된다는 점도 함께 다룬다.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인쇄해 벽에 붙여 두는 용도로 만들었다고 설명하면 좋다. 실제 장애 상황에서는 판단이 흐려지기 쉬우므로 순서가 적힌 종이 한 장이 큰 도움이 된다. 0단계가 가장 자주 생략되지만 가장 중요하다. CLEAR와 RESETLOGS는 되돌릴 수 없으므로 사본이 없으면 한 번의 판단 착오가 복구 자체를 막는다. 5단계의 마무리도 사고가 잦은 지점이며 TEMP 추가 누락이 대표적이다.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NOARCHIVELOG 계통 네 개 장의 결론이다. 세로축이 파일 종류이고 가로축이 리두 보유 여부다. 표를 관통하는 원칙은 세 가지다. 다중화된 파일은 사본이 살아 있으면 손실이 없고, 다중화가 없는 데이터파일은 백업본과 리두의 조합이 결과를 정하며, 어느 경로로 가든 마무리는 같다. 8장부터는 같은 표를 다시 그리는데 '리두 없음' 열이 대부분 '아카이브로 대체'로 바뀐다.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판단표의 세 축 중 통제 가능한 것은 첫 번째뿐이라는 점이 결론이다. 그룹 상태와 종료 방식은 장애가 났을 때 이미 정해져 있지만, 멤버 다중화는 평소에 우리가 정한다. 그래서 복구 절차보다 배치 설계가 먼저라는 메시지로 마무리한다. 표의 여러 행이 '손실 없음'이면서도 RESETLOGS를 요구한다는 점도 다시 짚어 준다. 손실 여부와 RESETLOGS 여부는 끝까지 별개의 문제다.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CURRENT나 ACTIVE 그룹은 그냥 비울 수 없다. UNARCHIVED 옵션을 붙이면 강제로 비울 수 있으나 그 안의 리두를 버린다는 선언이므로 미디어 복구 범위가 줄어든다. 첫 번째 보기는 ORA-01567, 세 번째는 ORA-00301 계열에 해당한다. 오류 코드별로 원인이 다르므로 메시지를 정확히 읽는 훈련이 필요하다. 실습 7-5에서 이 오류를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CURRENT 그룹에는 가장 최근의 리두가 들어 있고 NOARCHIVELOG에는 사본이 없다. 네 번째 보기가 틀린 이유를 짚는 것이 중요하다. 아카이브 모드였더라도 CURRENT 리두는 아직 아카이브되기 전이라 사본이 존재하지 않는다. 즉 모드 전환이 답이 아니라 멤버 다중화가 답이다. UNTIL CANCEL 불완전 복구 후 RESETLOGS로 열거나 전체 복원으로 전환한다.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세 번째다. 컨트롤파일 없이는 진단 뷰를 쓸 수 없어 판정 자체가 불가능하고, 리두 없이는 복구 명령이 진행되지 않는다. 의존 관계에서 나온 순서다. 데이터파일부터 손대면 RECOVER 중 ORA-00312로 막히는 것을 5장 실습 5-6에서 이미 확인했다. 순서를 지키는 것만으로 대응 시간이 크게 줄어든다. 네 번째 보기를 고르는 수강생이 있다면 진단 뷰가 언제부터 조회 가능한지를 다시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일곱 줄이 그대로 실무 체크리스트가 된다. 특히 첫 줄과 마지막 줄이 이 장의 두 기둥이다. 앞은 예방이고 뒤는 대응이다. 예방이 제대로 되어 있으면 대응할 일 자체가 줄어든다. 이 장의 시나리오 대부분은 ARCHIVELOG 모드였다면 완전 복구로 끝났을 것들이라는 점도 함께 정리한다. 8장부터 같은 장애를 ARCHIVELOG 환경에서 다시 다루며 그 차이를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실습은 두 개씩 짝을 이룬다. 7-1과 7-2가 종료 방식의 대비, 7-4와 7-5가 같은 대비를 INACTIVE 그룹에서 반복, 7-6이 CURRENT 손상의 실제 결과다. 7-3은 구조 불일치라는 별도 주제다. 시간이 부족하면 7-3을 시연으로 대체하고 7-4·7-5·7-6은 반드시 직접 수행하게 한다. 세 실습의 결과 차이가 이 장에서 가장 중요한 학습 지점이기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제7장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NOARCHIVELOG 복구 ④ 리두로그 장애와 복합 장애</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그룹과 멤버 · INACTIVE와 CURRENT · CLEAR LOGFILE · 복합 장애 순서 · 구조 불일치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리두 로그 상태값을 읽고 손상 영향 범위를 판정한다</a:t>
            </a:r>
          </a:p>
          <a:p>
            <a:pPr>
              <a:spcAft>
                <a:spcPts val="600"/>
              </a:spcAft>
            </a:pPr>
            <a:r>
              <a:rPr sz="1600" b="0">
                <a:solidFill>
                  <a:srgbClr val="5A6672"/>
                </a:solidFill>
                <a:latin typeface="Malgun Gothic"/>
                <a:ea typeface="Malgun Gothic"/>
              </a:rPr>
              <a:t>    –  INACTIVE 그룹 손상을 CLEAR LOGFILE로 처리한다</a:t>
            </a:r>
          </a:p>
          <a:p>
            <a:pPr>
              <a:spcAft>
                <a:spcPts val="600"/>
              </a:spcAft>
            </a:pPr>
            <a:r>
              <a:rPr sz="1600" b="0">
                <a:solidFill>
                  <a:srgbClr val="5A6672"/>
                </a:solidFill>
                <a:latin typeface="Malgun Gothic"/>
                <a:ea typeface="Malgun Gothic"/>
              </a:rPr>
              <a:t>    –  CURRENT 그룹 손상에서 손실 범위를 산정하고 불완전 복구한다</a:t>
            </a:r>
          </a:p>
          <a:p>
            <a:pPr>
              <a:spcAft>
                <a:spcPts val="600"/>
              </a:spcAft>
            </a:pPr>
            <a:r>
              <a:rPr sz="1600" b="0">
                <a:solidFill>
                  <a:srgbClr val="5A6672"/>
                </a:solidFill>
                <a:latin typeface="Malgun Gothic"/>
                <a:ea typeface="Malgun Gothic"/>
              </a:rPr>
              <a:t>    –  리두와 컨트롤파일 동시 손상을 순서에 맞게 처리한다</a:t>
            </a:r>
          </a:p>
          <a:p>
            <a:pPr>
              <a:spcAft>
                <a:spcPts val="600"/>
              </a:spcAft>
            </a:pPr>
            <a:r>
              <a:rPr sz="1600" b="0">
                <a:solidFill>
                  <a:srgbClr val="5A6672"/>
                </a:solidFill>
                <a:latin typeface="Malgun Gothic"/>
                <a:ea typeface="Malgun Gothic"/>
              </a:rPr>
              <a:t>    –  백업 컨트롤파일과 현재 구조의 불일치를 해소한다</a:t>
            </a:r>
          </a:p>
          <a:p>
            <a:pPr>
              <a:spcAft>
                <a:spcPts val="600"/>
              </a:spcAft>
            </a:pPr>
            <a:r>
              <a:rPr sz="1600" b="0">
                <a:solidFill>
                  <a:srgbClr val="5A6672"/>
                </a:solidFill>
                <a:latin typeface="Malgun Gothic"/>
                <a:ea typeface="Malgun Gothic"/>
              </a:rPr>
              <a:t>    –  NOARCHIVELOG 계통 판정을 하나의 절차로 정리한다</a:t>
            </a:r>
          </a:p>
          <a:p>
            <a:pPr>
              <a:spcAft>
                <a:spcPts val="600"/>
              </a:spcAft>
            </a:pPr>
            <a:r>
              <a:rPr sz="1800" b="0">
                <a:solidFill>
                  <a:srgbClr val="202830"/>
                </a:solidFill>
                <a:latin typeface="Malgun Gothic"/>
                <a:ea typeface="Malgun Gothic"/>
              </a:rPr>
              <a:t>•  여섯 목표는 각각 7.1 / 7.2 / 7.3 / 7.4 / 7.5 / 7.6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7.1  리두 로그의 상태와 손상 영향 — 구조 · 상태값 · 오류 코드 · 구성 점검</a:t>
            </a:r>
          </a:p>
          <a:p>
            <a:pPr>
              <a:spcAft>
                <a:spcPts val="600"/>
              </a:spcAft>
            </a:pPr>
            <a:r>
              <a:rPr sz="1800" b="0">
                <a:solidFill>
                  <a:srgbClr val="202830"/>
                </a:solidFill>
                <a:latin typeface="Malgun Gothic"/>
                <a:ea typeface="Malgun Gothic"/>
              </a:rPr>
              <a:t>•  7.2  INACTIVE 리두 로그 손상 — CLEAR LOGFILE · UNARCHIVED · 확인 항목</a:t>
            </a:r>
          </a:p>
          <a:p>
            <a:pPr>
              <a:spcAft>
                <a:spcPts val="600"/>
              </a:spcAft>
            </a:pPr>
            <a:r>
              <a:rPr sz="1800" b="0">
                <a:solidFill>
                  <a:srgbClr val="202830"/>
                </a:solidFill>
                <a:latin typeface="Malgun Gothic"/>
                <a:ea typeface="Malgun Gothic"/>
              </a:rPr>
              <a:t>•  7.3  CURRENT 리두 로그 손상 — 손실 범위 · 불완전 복구 · 모드 대조</a:t>
            </a:r>
          </a:p>
          <a:p>
            <a:pPr>
              <a:spcAft>
                <a:spcPts val="600"/>
              </a:spcAft>
            </a:pPr>
            <a:r>
              <a:rPr sz="1800" b="0">
                <a:solidFill>
                  <a:srgbClr val="202830"/>
                </a:solidFill>
                <a:latin typeface="Malgun Gothic"/>
                <a:ea typeface="Malgun Gothic"/>
              </a:rPr>
              <a:t>•  7.4  리두와 컨트롤파일 동시 손상 — 순서 · 두 복구의 경계</a:t>
            </a:r>
          </a:p>
          <a:p>
            <a:pPr>
              <a:spcAft>
                <a:spcPts val="600"/>
              </a:spcAft>
            </a:pPr>
            <a:r>
              <a:rPr sz="1800" b="0">
                <a:solidFill>
                  <a:srgbClr val="202830"/>
                </a:solidFill>
                <a:latin typeface="Malgun Gothic"/>
                <a:ea typeface="Malgun Gothic"/>
              </a:rPr>
              <a:t>•  7.5  백업 컨트롤파일과 구조 불일치 — UNNAMED · RENAME FILE</a:t>
            </a:r>
          </a:p>
          <a:p>
            <a:pPr>
              <a:spcAft>
                <a:spcPts val="600"/>
              </a:spcAft>
            </a:pPr>
            <a:r>
              <a:rPr sz="1800" b="0">
                <a:solidFill>
                  <a:srgbClr val="202830"/>
                </a:solidFill>
                <a:latin typeface="Malgun Gothic"/>
                <a:ea typeface="Malgun Gothic"/>
              </a:rPr>
              <a:t>•  7.6  NOARCHIVELOG 복구 종합 절차 — 우선순위 · 사본 확보 · 보고</a:t>
            </a:r>
          </a:p>
          <a:p>
            <a:pPr>
              <a:spcAft>
                <a:spcPts val="600"/>
              </a:spcAft>
            </a:pPr>
            <a:r>
              <a:rPr sz="1800" b="0">
                <a:solidFill>
                  <a:srgbClr val="202830"/>
                </a:solidFill>
                <a:latin typeface="Malgun Gothic"/>
                <a:ea typeface="Malgun Gothic"/>
              </a:rPr>
              <a:t>•  7.7 판단표 · 7.8 퀴즈 · 요약 · 실습 6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실습은 NOARCHIVELOG 환경에서 진행하며, 각 실습 전 Cold Backup과 컨트롤파일 백업을 새로 받는다.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7.1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리두 로그의 상태와 손상 영향</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그룹 안에 멤버를 두는 구조가 내성을 만든다</a:t>
            </a:r>
          </a:p>
          <a:p>
            <a:pPr>
              <a:spcAft>
                <a:spcPts val="600"/>
              </a:spcAft>
            </a:pPr>
            <a:r>
              <a:rPr sz="1600" b="0">
                <a:solidFill>
                  <a:srgbClr val="C5CED6"/>
                </a:solidFill>
                <a:latin typeface="Malgun Gothic"/>
                <a:ea typeface="Malgun Gothic"/>
              </a:rPr>
              <a:t>•  멤버 하나가 살아 있으면 손실이 없다</a:t>
            </a:r>
          </a:p>
          <a:p>
            <a:pPr>
              <a:spcAft>
                <a:spcPts val="600"/>
              </a:spcAft>
            </a:pPr>
            <a:r>
              <a:rPr sz="1600" b="0">
                <a:solidFill>
                  <a:srgbClr val="C5CED6"/>
                </a:solidFill>
                <a:latin typeface="Malgun Gothic"/>
                <a:ea typeface="Malgun Gothic"/>
              </a:rPr>
              <a:t>•  그룹 전손 시 상태값이 결과를 가른다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그룹과 멤버 구조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리두 로그는 그룹 단위로 순환하고 그룹 안에 멤버를 둔다</a:t>
            </a:r>
          </a:p>
          <a:p>
            <a:pPr>
              <a:spcAft>
                <a:spcPts val="600"/>
              </a:spcAft>
            </a:pPr>
            <a:r>
              <a:rPr sz="1600" b="0">
                <a:solidFill>
                  <a:srgbClr val="5A6672"/>
                </a:solidFill>
                <a:latin typeface="Malgun Gothic"/>
                <a:ea typeface="Malgun Gothic"/>
              </a:rPr>
              <a:t>    –  같은 그룹의 멤버끼리 내용이 완전히 동일 — LGWR가 동시에 기록</a:t>
            </a:r>
          </a:p>
          <a:p>
            <a:pPr>
              <a:spcAft>
                <a:spcPts val="600"/>
              </a:spcAft>
            </a:pPr>
            <a:r>
              <a:rPr sz="1800" b="0">
                <a:solidFill>
                  <a:srgbClr val="202830"/>
                </a:solidFill>
                <a:latin typeface="Malgun Gothic"/>
                <a:ea typeface="Malgun Gothic"/>
              </a:rPr>
              <a:t>•  컨트롤파일 다중화와 결정적으로 다른 점</a:t>
            </a:r>
          </a:p>
          <a:p>
            <a:pPr>
              <a:spcAft>
                <a:spcPts val="600"/>
              </a:spcAft>
            </a:pPr>
            <a:r>
              <a:rPr sz="1600" b="0">
                <a:solidFill>
                  <a:srgbClr val="5A6672"/>
                </a:solidFill>
                <a:latin typeface="Malgun Gothic"/>
                <a:ea typeface="Malgun Gothic"/>
              </a:rPr>
              <a:t>    –  멤버 하나가 없어져도 다른 멤버가 있으면 서비스가 계속됨</a:t>
            </a:r>
          </a:p>
          <a:p>
            <a:pPr>
              <a:spcAft>
                <a:spcPts val="600"/>
              </a:spcAft>
            </a:pPr>
            <a:r>
              <a:rPr sz="1600" b="0">
                <a:solidFill>
                  <a:srgbClr val="5A6672"/>
                </a:solidFill>
                <a:latin typeface="Malgun Gothic"/>
                <a:ea typeface="Malgun Gothic"/>
              </a:rPr>
              <a:t>    –  손상된 멤버는 STATUS가 INVALID로 표시될 뿐</a:t>
            </a:r>
          </a:p>
          <a:p>
            <a:pPr>
              <a:spcAft>
                <a:spcPts val="600"/>
              </a:spcAft>
            </a:pPr>
            <a:r>
              <a:rPr sz="1800" b="0">
                <a:solidFill>
                  <a:srgbClr val="202830"/>
                </a:solidFill>
                <a:latin typeface="Malgun Gothic"/>
                <a:ea typeface="Malgun Gothic"/>
              </a:rPr>
              <a:t>•  그룹 안의 멤버가 모두 없어지면 그때부터 문제</a:t>
            </a:r>
          </a:p>
          <a:p>
            <a:pPr>
              <a:spcAft>
                <a:spcPts val="600"/>
              </a:spcAft>
            </a:pPr>
            <a:r>
              <a:rPr sz="1600" b="0">
                <a:solidFill>
                  <a:srgbClr val="5A6672"/>
                </a:solidFill>
                <a:latin typeface="Malgun Gothic"/>
                <a:ea typeface="Malgun Gothic"/>
              </a:rPr>
              <a:t>    –  그 그룹이 담고 있던 리두가 사라져 복구 재료가 없어짐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그룹·멤버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v$log · v$logfile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l.group#, l.sequence#, l.status, f.member, f.status AS mem_status</a:t>
            </a:r>
          </a:p>
          <a:p>
            <a:pPr>
              <a:spcAft>
                <a:spcPts val="0"/>
              </a:spcAft>
            </a:pPr>
            <a:r>
              <a:rPr sz="1250" b="0">
                <a:solidFill>
                  <a:srgbClr val="E6E6E6"/>
                </a:solidFill>
                <a:latin typeface="Consolas"/>
                <a:ea typeface="Consolas"/>
              </a:rPr>
              <a:t>  2  FROM   v$log l, v$logfile f WHERE l.group# = f.group# ORDER BY l.group#;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GROUP#  SEQUENCE# STATUS   MEMBER                                    MEM_STATUS</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         1          8 CURRENT  /u01/app/oracle/oradata/orcl/redo01.log</a:t>
            </a:r>
          </a:p>
          <a:p>
            <a:pPr>
              <a:spcAft>
                <a:spcPts val="0"/>
              </a:spcAft>
            </a:pPr>
            <a:r>
              <a:rPr sz="1250" b="0">
                <a:solidFill>
                  <a:srgbClr val="E6E6E6"/>
                </a:solidFill>
                <a:latin typeface="Consolas"/>
                <a:ea typeface="Consolas"/>
              </a:rPr>
              <a:t>         1          8 CURRENT  /u02/oradata/orcl/redo01b.log</a:t>
            </a:r>
          </a:p>
          <a:p>
            <a:pPr>
              <a:spcAft>
                <a:spcPts val="0"/>
              </a:spcAft>
            </a:pPr>
            <a:r>
              <a:rPr sz="1250" b="0">
                <a:solidFill>
                  <a:srgbClr val="E6E6E6"/>
                </a:solidFill>
                <a:latin typeface="Consolas"/>
                <a:ea typeface="Consolas"/>
              </a:rPr>
              <a:t>         3          6 INACTIVE /u01/app/oracle/oradata/orcl/redo03.log</a:t>
            </a:r>
          </a:p>
          <a:p>
            <a:pPr>
              <a:spcAft>
                <a:spcPts val="0"/>
              </a:spcAft>
            </a:pPr>
            <a:r>
              <a:rPr sz="1250" b="0">
                <a:solidFill>
                  <a:srgbClr val="E6E6E6"/>
                </a:solidFill>
                <a:latin typeface="Consolas"/>
                <a:ea typeface="Consolas"/>
              </a:rPr>
              <a:t>         3          6 INACTIVE /u02/oradata/orcl/redo03b.log</a:t>
            </a:r>
          </a:p>
          <a:p>
            <a:pPr>
              <a:spcAft>
                <a:spcPts val="0"/>
              </a:spcAft>
            </a:pPr>
            <a:r>
              <a:rPr sz="1250" b="0">
                <a:solidFill>
                  <a:srgbClr val="E6E6E6"/>
                </a:solidFill>
                <a:latin typeface="Consolas"/>
                <a:ea typeface="Consolas"/>
              </a:rPr>
              <a:t>         4          7 INACTIVE /u01/app/oracle/oradata/orcl/redo04.log</a:t>
            </a:r>
          </a:p>
          <a:p>
            <a:pPr>
              <a:spcAft>
                <a:spcPts val="0"/>
              </a:spcAft>
            </a:pPr>
            <a:r>
              <a:rPr sz="1250" b="0">
                <a:solidFill>
                  <a:srgbClr val="E6E6E6"/>
                </a:solidFill>
                <a:latin typeface="Consolas"/>
                <a:ea typeface="Consolas"/>
              </a:rPr>
              <a:t>         4          7 INACTIVE /u02/oradata/orcl/redo04b.log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상태값이 뜻하는 것</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CURRENT — 지금 LGWR가 쓰고 있는 그룹, 가장 최근 리두</a:t>
            </a:r>
          </a:p>
          <a:p>
            <a:pPr>
              <a:spcAft>
                <a:spcPts val="600"/>
              </a:spcAft>
            </a:pPr>
            <a:r>
              <a:rPr sz="1800" b="0">
                <a:solidFill>
                  <a:srgbClr val="202830"/>
                </a:solidFill>
                <a:latin typeface="Malgun Gothic"/>
                <a:ea typeface="Malgun Gothic"/>
              </a:rPr>
              <a:t>•  ACTIVE — 스위치는 끝났으나 인스턴스 복구에 아직 필요</a:t>
            </a:r>
          </a:p>
          <a:p>
            <a:pPr>
              <a:spcAft>
                <a:spcPts val="600"/>
              </a:spcAft>
            </a:pPr>
            <a:r>
              <a:rPr sz="1600" b="0">
                <a:solidFill>
                  <a:srgbClr val="5A6672"/>
                </a:solidFill>
                <a:latin typeface="Malgun Gothic"/>
                <a:ea typeface="Malgun Gothic"/>
              </a:rPr>
              <a:t>    –  체크포인트가 완료되지 않아 미반영 변경이 남아 있음</a:t>
            </a:r>
          </a:p>
          <a:p>
            <a:pPr>
              <a:spcAft>
                <a:spcPts val="600"/>
              </a:spcAft>
            </a:pPr>
            <a:r>
              <a:rPr sz="1800" b="0">
                <a:solidFill>
                  <a:srgbClr val="202830"/>
                </a:solidFill>
                <a:latin typeface="Malgun Gothic"/>
                <a:ea typeface="Malgun Gothic"/>
              </a:rPr>
              <a:t>•  INACTIVE — 체크포인트 완료, 인스턴스 복구에 불필요</a:t>
            </a:r>
          </a:p>
          <a:p>
            <a:pPr>
              <a:spcAft>
                <a:spcPts val="600"/>
              </a:spcAft>
            </a:pPr>
            <a:r>
              <a:rPr sz="1600" b="0">
                <a:solidFill>
                  <a:srgbClr val="5A6672"/>
                </a:solidFill>
                <a:latin typeface="Malgun Gothic"/>
                <a:ea typeface="Malgun Gothic"/>
              </a:rPr>
              <a:t>    –  미디어 복구에는 여전히 쓰일 수 있음</a:t>
            </a:r>
          </a:p>
          <a:p>
            <a:pPr>
              <a:spcAft>
                <a:spcPts val="600"/>
              </a:spcAft>
            </a:pPr>
            <a:r>
              <a:rPr sz="1800" b="0">
                <a:solidFill>
                  <a:srgbClr val="202830"/>
                </a:solidFill>
                <a:latin typeface="Malgun Gothic"/>
                <a:ea typeface="Malgun Gothic"/>
              </a:rPr>
              <a:t>•  UNUSED — 미사용 또는 CLEAR 직후</a:t>
            </a:r>
          </a:p>
          <a:p>
            <a:pPr>
              <a:spcAft>
                <a:spcPts val="600"/>
              </a:spcAft>
            </a:pPr>
            <a:r>
              <a:rPr sz="1600" b="0">
                <a:solidFill>
                  <a:srgbClr val="5A6672"/>
                </a:solidFill>
                <a:latin typeface="Malgun Gothic"/>
                <a:ea typeface="Malgun Gothic"/>
              </a:rPr>
              <a:t>    –  ALTER SYSTEM CHECKPOINT 로 ACTIVE를 INACTIVE로 내릴 수 있음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멤버 손상과 그룹 손상</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멤버 하나만 손상 — 서비스 영향 없음</a:t>
            </a:r>
          </a:p>
          <a:p>
            <a:pPr>
              <a:spcAft>
                <a:spcPts val="600"/>
              </a:spcAft>
            </a:pPr>
            <a:r>
              <a:rPr sz="1600" b="0">
                <a:solidFill>
                  <a:srgbClr val="5A6672"/>
                </a:solidFill>
                <a:latin typeface="Malgun Gothic"/>
                <a:ea typeface="Malgun Gothic"/>
              </a:rPr>
              <a:t>    –  LGWR가 남은 멤버에 계속 기록, alert log에 경고만</a:t>
            </a:r>
          </a:p>
          <a:p>
            <a:pPr>
              <a:spcAft>
                <a:spcPts val="600"/>
              </a:spcAft>
            </a:pPr>
            <a:r>
              <a:rPr sz="1600" b="0">
                <a:solidFill>
                  <a:srgbClr val="5A6672"/>
                </a:solidFill>
                <a:latin typeface="Malgun Gothic"/>
                <a:ea typeface="Malgun Gothic"/>
              </a:rPr>
              <a:t>    –  같은 그룹 멤버를 복사하거나 DROP/ADD MEMBER 로 되살림</a:t>
            </a:r>
          </a:p>
          <a:p>
            <a:pPr>
              <a:spcAft>
                <a:spcPts val="600"/>
              </a:spcAft>
            </a:pPr>
            <a:r>
              <a:rPr sz="1800" b="0">
                <a:solidFill>
                  <a:srgbClr val="202830"/>
                </a:solidFill>
                <a:latin typeface="Malgun Gothic"/>
                <a:ea typeface="Malgun Gothic"/>
              </a:rPr>
              <a:t>•  그룹 전체 손상 — 상태에 따라 결과가 갈림</a:t>
            </a:r>
          </a:p>
          <a:p>
            <a:pPr>
              <a:spcAft>
                <a:spcPts val="600"/>
              </a:spcAft>
            </a:pPr>
            <a:r>
              <a:rPr sz="1600" b="0">
                <a:solidFill>
                  <a:srgbClr val="5A6672"/>
                </a:solidFill>
                <a:latin typeface="Malgun Gothic"/>
                <a:ea typeface="Malgun Gothic"/>
              </a:rPr>
              <a:t>    –  INACTIVE → CLEAR LOGFILE로 재생성 가능</a:t>
            </a:r>
          </a:p>
          <a:p>
            <a:pPr>
              <a:spcAft>
                <a:spcPts val="600"/>
              </a:spcAft>
            </a:pPr>
            <a:r>
              <a:rPr sz="1600" b="0">
                <a:solidFill>
                  <a:srgbClr val="5A6672"/>
                </a:solidFill>
                <a:latin typeface="Malgun Gothic"/>
                <a:ea typeface="Malgun Gothic"/>
              </a:rPr>
              <a:t>    –  CURRENT → 그 안의 리두를 잃어 불완전 복구</a:t>
            </a:r>
          </a:p>
          <a:p>
            <a:pPr>
              <a:spcAft>
                <a:spcPts val="600"/>
              </a:spcAft>
            </a:pPr>
            <a:r>
              <a:rPr sz="1800" b="0">
                <a:solidFill>
                  <a:srgbClr val="202830"/>
                </a:solidFill>
                <a:latin typeface="Malgun Gothic"/>
                <a:ea typeface="Malgun Gothic"/>
              </a:rPr>
              <a:t>•  진단의 첫 질문 두 가지 — 멤버 생존 여부, 그룹 상태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오류 코드 정리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ORA-00312 — 온라인 리두 로그를 열 수 없음</a:t>
            </a:r>
          </a:p>
          <a:p>
            <a:pPr>
              <a:spcAft>
                <a:spcPts val="600"/>
              </a:spcAft>
            </a:pPr>
            <a:r>
              <a:rPr sz="1800" b="0">
                <a:solidFill>
                  <a:srgbClr val="202830"/>
                </a:solidFill>
                <a:latin typeface="Malgun Gothic"/>
                <a:ea typeface="Malgun Gothic"/>
              </a:rPr>
              <a:t>•  ORA-00313 — 그룹의 멤버를 하나도 열 수 없음(그룹 전손)</a:t>
            </a:r>
          </a:p>
          <a:p>
            <a:pPr>
              <a:spcAft>
                <a:spcPts val="600"/>
              </a:spcAft>
            </a:pPr>
            <a:r>
              <a:rPr sz="1800" b="0">
                <a:solidFill>
                  <a:srgbClr val="202830"/>
                </a:solidFill>
                <a:latin typeface="Malgun Gothic"/>
                <a:ea typeface="Malgun Gothic"/>
              </a:rPr>
              <a:t>•  ORA-00314 — 기대 시퀀스와 실제 파일 시퀀스 불일치</a:t>
            </a:r>
          </a:p>
          <a:p>
            <a:pPr>
              <a:spcAft>
                <a:spcPts val="600"/>
              </a:spcAft>
            </a:pPr>
            <a:r>
              <a:rPr sz="1800" b="0">
                <a:solidFill>
                  <a:srgbClr val="202830"/>
                </a:solidFill>
                <a:latin typeface="Malgun Gothic"/>
                <a:ea typeface="Malgun Gothic"/>
              </a:rPr>
              <a:t>•  ORA-01624 — CLEAR 대상 그룹이 인스턴스 복구에 필요</a:t>
            </a:r>
          </a:p>
          <a:p>
            <a:pPr>
              <a:spcAft>
                <a:spcPts val="600"/>
              </a:spcAft>
            </a:pPr>
            <a:r>
              <a:rPr sz="1800" b="0">
                <a:solidFill>
                  <a:srgbClr val="202830"/>
                </a:solidFill>
                <a:latin typeface="Malgun Gothic"/>
                <a:ea typeface="Malgun Gothic"/>
              </a:rPr>
              <a:t>•  ORA-00333 — 리두 읽기가 중간에 끊김(파일 잘림·크기 불일치)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구성 점검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장애 결과는 구성에서 이미 정해진다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group#, COUNT(*) AS members,</a:t>
            </a:r>
          </a:p>
          <a:p>
            <a:pPr>
              <a:spcAft>
                <a:spcPts val="0"/>
              </a:spcAft>
            </a:pPr>
            <a:r>
              <a:rPr sz="1250" b="0">
                <a:solidFill>
                  <a:srgbClr val="E6E6E6"/>
                </a:solidFill>
                <a:latin typeface="Consolas"/>
                <a:ea typeface="Consolas"/>
              </a:rPr>
              <a:t>  2         COUNT(DISTINCT SUBSTR(member, 1, 4)) AS distinct_mount</a:t>
            </a:r>
          </a:p>
          <a:p>
            <a:pPr>
              <a:spcAft>
                <a:spcPts val="0"/>
              </a:spcAft>
            </a:pPr>
            <a:r>
              <a:rPr sz="1250" b="0">
                <a:solidFill>
                  <a:srgbClr val="E6E6E6"/>
                </a:solidFill>
                <a:latin typeface="Consolas"/>
                <a:ea typeface="Consolas"/>
              </a:rPr>
              <a:t>  3  FROM   v$logfile GROUP BY group# ORDER BY group#;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GROUP#    MEMBERS DISTINCT_MOUNT</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1          2              2</a:t>
            </a:r>
          </a:p>
          <a:p>
            <a:pPr>
              <a:spcAft>
                <a:spcPts val="0"/>
              </a:spcAft>
            </a:pPr>
            <a:r>
              <a:rPr sz="1250" b="0">
                <a:solidFill>
                  <a:srgbClr val="E6E6E6"/>
                </a:solidFill>
                <a:latin typeface="Consolas"/>
                <a:ea typeface="Consolas"/>
              </a:rPr>
              <a:t>         3          2              2</a:t>
            </a:r>
          </a:p>
          <a:p>
            <a:pPr>
              <a:spcAft>
                <a:spcPts val="0"/>
              </a:spcAft>
            </a:pPr>
            <a:r>
              <a:rPr sz="1250" b="0">
                <a:solidFill>
                  <a:srgbClr val="E6E6E6"/>
                </a:solidFill>
                <a:latin typeface="Consolas"/>
                <a:ea typeface="Consolas"/>
              </a:rPr>
              <a:t>         4          2              2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MEMBERS가 1이면 즉시 멤버 추가</a:t>
            </a:r>
          </a:p>
          <a:p>
            <a:pPr>
              <a:spcAft>
                <a:spcPts val="0"/>
              </a:spcAft>
            </a:pPr>
            <a:r>
              <a:rPr sz="1250" b="0">
                <a:solidFill>
                  <a:srgbClr val="7EC699"/>
                </a:solidFill>
                <a:latin typeface="Consolas"/>
                <a:ea typeface="Consolas"/>
              </a:rPr>
              <a:t>-- DISTINCT_MOUNT가 1이면 같은 디스크에 몰려 있음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7.2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INACTIVE 리두 로그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체크포인트가 완료된 그룹이라 CLEAR로 끝난다</a:t>
            </a:r>
          </a:p>
          <a:p>
            <a:pPr>
              <a:spcAft>
                <a:spcPts val="600"/>
              </a:spcAft>
            </a:pPr>
            <a:r>
              <a:rPr sz="1600" b="0">
                <a:solidFill>
                  <a:srgbClr val="C5CED6"/>
                </a:solidFill>
                <a:latin typeface="Malgun Gothic"/>
                <a:ea typeface="Malgun Gothic"/>
              </a:rPr>
              <a:t>•  비정상 종료 상태에서는 UNARCHIVED 옵션이 필요할 수 있다</a:t>
            </a:r>
          </a:p>
          <a:p>
            <a:pPr>
              <a:spcAft>
                <a:spcPts val="600"/>
              </a:spcAft>
            </a:pPr>
            <a:r>
              <a:rPr sz="1600" b="0">
                <a:solidFill>
                  <a:srgbClr val="C5CED6"/>
                </a:solidFill>
                <a:latin typeface="Malgun Gothic"/>
                <a:ea typeface="Malgun Gothic"/>
              </a:rPr>
              <a:t>•  CLEAR는 되돌릴 수 없으므로 대상 확인이 먼저다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정상 종료 후 INACTIVE 손상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CLEAR LOGFILE → OPEN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ORA-00313: open failed for members of log group 3 of thread 1</a:t>
            </a:r>
          </a:p>
          <a:p>
            <a:pPr>
              <a:spcAft>
                <a:spcPts val="0"/>
              </a:spcAft>
            </a:pPr>
            <a:r>
              <a:rPr sz="1250" b="0">
                <a:solidFill>
                  <a:srgbClr val="E6E6E6"/>
                </a:solidFill>
                <a:latin typeface="Consolas"/>
                <a:ea typeface="Consolas"/>
              </a:rPr>
              <a:t>ORA-00312: online log 3 thread 1: '/u01/app/oracle/oradata/orcl/redo03.log'</a:t>
            </a:r>
          </a:p>
          <a:p>
            <a:pPr>
              <a:spcAft>
                <a:spcPts val="0"/>
              </a:spcAft>
            </a:pPr>
            <a:r>
              <a:rPr sz="1250" b="0">
                <a:solidFill>
                  <a:srgbClr val="E6E6E6"/>
                </a:solidFill>
                <a:latin typeface="Consolas"/>
                <a:ea typeface="Consolas"/>
              </a:rPr>
              <a:t>ORA-00312: online log 3 thread 1: '/u02/oradata/orcl/redo03b.log'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sequence#, status FROM v$log ORDER BY group#;</a:t>
            </a:r>
          </a:p>
          <a:p>
            <a:pPr>
              <a:spcAft>
                <a:spcPts val="0"/>
              </a:spcAft>
            </a:pPr>
            <a:r>
              <a:rPr sz="1250" b="0">
                <a:solidFill>
                  <a:srgbClr val="E6E6E6"/>
                </a:solidFill>
                <a:latin typeface="Consolas"/>
                <a:ea typeface="Consolas"/>
              </a:rPr>
              <a:t>         1          8 CURRENT</a:t>
            </a:r>
          </a:p>
          <a:p>
            <a:pPr>
              <a:spcAft>
                <a:spcPts val="0"/>
              </a:spcAft>
            </a:pPr>
            <a:r>
              <a:rPr sz="1250" b="0">
                <a:solidFill>
                  <a:srgbClr val="E6E6E6"/>
                </a:solidFill>
                <a:latin typeface="Consolas"/>
                <a:ea typeface="Consolas"/>
              </a:rPr>
              <a:t>         3          6 INACTIVE</a:t>
            </a:r>
          </a:p>
          <a:p>
            <a:pPr>
              <a:spcAft>
                <a:spcPts val="0"/>
              </a:spcAft>
            </a:pPr>
            <a:r>
              <a:rPr sz="1250" b="0">
                <a:solidFill>
                  <a:srgbClr val="E6E6E6"/>
                </a:solidFill>
                <a:latin typeface="Consolas"/>
                <a:ea typeface="Consolas"/>
              </a:rPr>
              <a:t>         4          7 INACTIVE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CLEAR LOGFILE GROUP 3;</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비정상 종료 후 CLEAR</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ORA-01624와 UNARCHIVED</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CLEAR LOGFILE GROUP 1;</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ORA-01624: log 1 needed for crash recovery of instance orcl (thread 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CLEAR UNARCHIVED LOGFILE GROUP 1;</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ORA-01113: file 1 needs media recovery</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리두를 버렸으므로 완전 복구가 불가능해졌다.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CLEAR가 실패할 때와 사후 확인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실패 원인 세 가지</a:t>
            </a:r>
          </a:p>
          <a:p>
            <a:pPr>
              <a:spcAft>
                <a:spcPts val="600"/>
              </a:spcAft>
            </a:pPr>
            <a:r>
              <a:rPr sz="1600" b="0">
                <a:solidFill>
                  <a:srgbClr val="5A6672"/>
                </a:solidFill>
                <a:latin typeface="Malgun Gothic"/>
                <a:ea typeface="Malgun Gothic"/>
              </a:rPr>
              <a:t>    –  인스턴스 복구에 필요 — ORA-01624, UNARCHIVED로 우회</a:t>
            </a:r>
          </a:p>
          <a:p>
            <a:pPr>
              <a:spcAft>
                <a:spcPts val="600"/>
              </a:spcAft>
            </a:pPr>
            <a:r>
              <a:rPr sz="1600" b="0">
                <a:solidFill>
                  <a:srgbClr val="5A6672"/>
                </a:solidFill>
                <a:latin typeface="Malgun Gothic"/>
                <a:ea typeface="Malgun Gothic"/>
              </a:rPr>
              <a:t>    –  디렉터리 권한 부족 — ORA-00301 계열, OS에서 해결</a:t>
            </a:r>
          </a:p>
          <a:p>
            <a:pPr>
              <a:spcAft>
                <a:spcPts val="600"/>
              </a:spcAft>
            </a:pPr>
            <a:r>
              <a:rPr sz="1600" b="0">
                <a:solidFill>
                  <a:srgbClr val="5A6672"/>
                </a:solidFill>
                <a:latin typeface="Malgun Gothic"/>
                <a:ea typeface="Malgun Gothic"/>
              </a:rPr>
              <a:t>    –  그룹이 하나뿐 — ORA-01567</a:t>
            </a:r>
          </a:p>
          <a:p>
            <a:pPr>
              <a:spcAft>
                <a:spcPts val="600"/>
              </a:spcAft>
            </a:pPr>
            <a:r>
              <a:rPr sz="1800" b="0">
                <a:solidFill>
                  <a:srgbClr val="202830"/>
                </a:solidFill>
                <a:latin typeface="Malgun Gothic"/>
                <a:ea typeface="Malgun Gothic"/>
              </a:rPr>
              <a:t>•  CLEAR 후 확인 네 가지</a:t>
            </a:r>
          </a:p>
          <a:p>
            <a:pPr>
              <a:spcAft>
                <a:spcPts val="600"/>
              </a:spcAft>
            </a:pPr>
            <a:r>
              <a:rPr sz="1600" b="0">
                <a:solidFill>
                  <a:srgbClr val="5A6672"/>
                </a:solidFill>
                <a:latin typeface="Malgun Gothic"/>
                <a:ea typeface="Malgun Gothic"/>
              </a:rPr>
              <a:t>    –  v$log의 STATUS가 UNUSED인지 · v$logfile의 STATUS가 비었는지</a:t>
            </a:r>
          </a:p>
          <a:p>
            <a:pPr>
              <a:spcAft>
                <a:spcPts val="600"/>
              </a:spcAft>
            </a:pPr>
            <a:r>
              <a:rPr sz="1600" b="0">
                <a:solidFill>
                  <a:srgbClr val="5A6672"/>
                </a:solidFill>
                <a:latin typeface="Malgun Gothic"/>
                <a:ea typeface="Malgun Gothic"/>
              </a:rPr>
              <a:t>    –  OS에 파일이 다시 만들어졌는지 · v$recover_file 이 비었는지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7.3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CURRENT 리두 로그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가장 최근 리두가 들어 있어 손실이 발생한다</a:t>
            </a:r>
          </a:p>
          <a:p>
            <a:pPr>
              <a:spcAft>
                <a:spcPts val="600"/>
              </a:spcAft>
            </a:pPr>
            <a:r>
              <a:rPr sz="1600" b="0">
                <a:solidFill>
                  <a:srgbClr val="C5CED6"/>
                </a:solidFill>
                <a:latin typeface="Malgun Gothic"/>
                <a:ea typeface="Malgun Gothic"/>
              </a:rPr>
              <a:t>•  정상 종료였다면 미반영 변경이 없어 손실 없이 끝난다</a:t>
            </a:r>
          </a:p>
          <a:p>
            <a:pPr>
              <a:spcAft>
                <a:spcPts val="600"/>
              </a:spcAft>
            </a:pPr>
            <a:r>
              <a:rPr sz="1600" b="0">
                <a:solidFill>
                  <a:srgbClr val="C5CED6"/>
                </a:solidFill>
                <a:latin typeface="Malgun Gothic"/>
                <a:ea typeface="Malgun Gothic"/>
              </a:rPr>
              <a:t>•  멤버가 하나라도 살아 있으면 이 문제 자체가 없다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왜 가장 어려운가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CURRENT 그룹에는 가장 최근의 리두가 들어 있다</a:t>
            </a:r>
          </a:p>
          <a:p>
            <a:pPr>
              <a:spcAft>
                <a:spcPts val="600"/>
              </a:spcAft>
            </a:pPr>
            <a:r>
              <a:rPr sz="1600" b="0">
                <a:solidFill>
                  <a:srgbClr val="5A6672"/>
                </a:solidFill>
                <a:latin typeface="Malgun Gothic"/>
                <a:ea typeface="Malgun Gothic"/>
              </a:rPr>
              <a:t>    –  커밋되었으나 데이터파일에 반영되지 않은 변경이 여기에</a:t>
            </a:r>
          </a:p>
          <a:p>
            <a:pPr>
              <a:spcAft>
                <a:spcPts val="600"/>
              </a:spcAft>
            </a:pPr>
            <a:r>
              <a:rPr sz="1800" b="0">
                <a:solidFill>
                  <a:srgbClr val="202830"/>
                </a:solidFill>
                <a:latin typeface="Malgun Gothic"/>
                <a:ea typeface="Malgun Gothic"/>
              </a:rPr>
              <a:t>•  잃으면 되살릴 방법이 없다 — 아카이브 사본도 없음</a:t>
            </a:r>
          </a:p>
          <a:p>
            <a:pPr>
              <a:spcAft>
                <a:spcPts val="600"/>
              </a:spcAft>
            </a:pPr>
            <a:r>
              <a:rPr sz="1800" b="0">
                <a:solidFill>
                  <a:srgbClr val="202830"/>
                </a:solidFill>
                <a:latin typeface="Malgun Gothic"/>
                <a:ea typeface="Malgun Gothic"/>
              </a:rPr>
              <a:t>•  결과는 두 갈래</a:t>
            </a:r>
          </a:p>
          <a:p>
            <a:pPr>
              <a:spcAft>
                <a:spcPts val="600"/>
              </a:spcAft>
            </a:pPr>
            <a:r>
              <a:rPr sz="1600" b="0">
                <a:solidFill>
                  <a:srgbClr val="5A6672"/>
                </a:solidFill>
                <a:latin typeface="Malgun Gothic"/>
                <a:ea typeface="Malgun Gothic"/>
              </a:rPr>
              <a:t>    –  정상 종료 → 미반영 변경이 없어 손실 없이 처리</a:t>
            </a:r>
          </a:p>
          <a:p>
            <a:pPr>
              <a:spcAft>
                <a:spcPts val="600"/>
              </a:spcAft>
            </a:pPr>
            <a:r>
              <a:rPr sz="1600" b="0">
                <a:solidFill>
                  <a:srgbClr val="5A6672"/>
                </a:solidFill>
                <a:latin typeface="Malgun Gothic"/>
                <a:ea typeface="Malgun Gothic"/>
              </a:rPr>
              <a:t>    –  비정상 종료 → 그 변경을 잃고 불완전 복구</a:t>
            </a:r>
          </a:p>
          <a:p>
            <a:pPr>
              <a:spcAft>
                <a:spcPts val="600"/>
              </a:spcAft>
            </a:pPr>
            <a:r>
              <a:rPr sz="1800" b="0">
                <a:solidFill>
                  <a:srgbClr val="202830"/>
                </a:solidFill>
                <a:latin typeface="Malgun Gothic"/>
                <a:ea typeface="Malgun Gothic"/>
              </a:rPr>
              <a:t>•  멤버가 하나라도 살아 있으면 문제 자체가 발생하지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비정상 종료 시 처리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UNTIL CANCEL → RESETLOGS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CLEAR UNARCHIVED LOGFILE GROUP 1;</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ORA-01113: file 1 needs media recovery</a:t>
            </a:r>
          </a:p>
          <a:p>
            <a:pPr>
              <a:spcAft>
                <a:spcPts val="0"/>
              </a:spcAft>
            </a:pPr>
            <a:r>
              <a:rPr sz="1250" b="0">
                <a:solidFill>
                  <a:srgbClr val="E6E6E6"/>
                </a:solidFill>
                <a:latin typeface="Consolas"/>
                <a:ea typeface="Consolas"/>
              </a:rPr>
              <a:t>ORA-01110: data file 1: '/u01/app/oracle/oradata/orcl/system01.dbf'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 UNTIL CANCEL;</a:t>
            </a:r>
          </a:p>
          <a:p>
            <a:pPr>
              <a:spcAft>
                <a:spcPts val="0"/>
              </a:spcAft>
            </a:pPr>
            <a:r>
              <a:rPr sz="1250" b="0">
                <a:solidFill>
                  <a:srgbClr val="E6E6E6"/>
                </a:solidFill>
                <a:latin typeface="Consolas"/>
                <a:ea typeface="Consolas"/>
              </a:rPr>
              <a:t>ORA-00279: change 2390180 ... needed for thread 1</a:t>
            </a:r>
          </a:p>
          <a:p>
            <a:pPr>
              <a:spcAft>
                <a:spcPts val="0"/>
              </a:spcAft>
            </a:pPr>
            <a:r>
              <a:rPr sz="1250" b="0">
                <a:solidFill>
                  <a:srgbClr val="E6E6E6"/>
                </a:solidFill>
                <a:latin typeface="Consolas"/>
                <a:ea typeface="Consolas"/>
              </a:rPr>
              <a:t>ORA-00280: change 2390180 for thread 1 is in sequence #9</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CANCEL</a:t>
            </a:r>
          </a:p>
          <a:p>
            <a:pPr>
              <a:spcAft>
                <a:spcPts val="0"/>
              </a:spcAft>
            </a:pPr>
            <a:r>
              <a:rPr sz="1250" b="0">
                <a:solidFill>
                  <a:srgbClr val="E6E6E6"/>
                </a:solidFill>
                <a:latin typeface="Consolas"/>
                <a:ea typeface="Consolas"/>
              </a:rPr>
              <a:t>Media recovery cancelled.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손실 범위 산정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SCN → 시각 → 업무 데이터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checkpoint_change# FROM v$database;</a:t>
            </a:r>
          </a:p>
          <a:p>
            <a:pPr>
              <a:spcAft>
                <a:spcPts val="0"/>
              </a:spcAft>
            </a:pPr>
            <a:r>
              <a:rPr sz="1250" b="0">
                <a:solidFill>
                  <a:srgbClr val="E6E6E6"/>
                </a:solidFill>
                <a:latin typeface="Consolas"/>
                <a:ea typeface="Consolas"/>
              </a:rPr>
              <a:t>CHECKPOINT_CHANGE#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2390180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SCN_TO_TIMESTAMP(2390180) AS recovered_to FROM dual;</a:t>
            </a:r>
          </a:p>
          <a:p>
            <a:pPr>
              <a:spcAft>
                <a:spcPts val="0"/>
              </a:spcAft>
            </a:pPr>
            <a:r>
              <a:rPr sz="1250" b="0">
                <a:solidFill>
                  <a:srgbClr val="E6E6E6"/>
                </a:solidFill>
                <a:latin typeface="Consolas"/>
                <a:ea typeface="Consolas"/>
              </a:rPr>
              <a:t>RECOVERED_TO</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10-MAY-25 06.02.11.000000000 PM</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MAX(order_date) AS last_order FROM hr.insa_2025;</a:t>
            </a:r>
          </a:p>
          <a:p>
            <a:pPr>
              <a:spcAft>
                <a:spcPts val="0"/>
              </a:spcAft>
            </a:pPr>
            <a:r>
              <a:rPr sz="1250" b="0">
                <a:solidFill>
                  <a:srgbClr val="E6E6E6"/>
                </a:solidFill>
                <a:latin typeface="Consolas"/>
                <a:ea typeface="Consolas"/>
              </a:rPr>
              <a:t>LAST_ORDER</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10-MAY-25 06.01.44 PM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ARCHIVELOG 모드였다면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INACTIVE 그룹 손상 — 아카이브 사본으로 대체 가능</a:t>
            </a:r>
          </a:p>
          <a:p>
            <a:pPr>
              <a:spcAft>
                <a:spcPts val="600"/>
              </a:spcAft>
            </a:pPr>
            <a:r>
              <a:rPr sz="1600" b="0">
                <a:solidFill>
                  <a:srgbClr val="5A6672"/>
                </a:solidFill>
                <a:latin typeface="Malgun Gothic"/>
                <a:ea typeface="Malgun Gothic"/>
              </a:rPr>
              <a:t>    –  CLEAR 후에도 미디어 복구용 리두를 아카이브에서 가져옴</a:t>
            </a:r>
          </a:p>
          <a:p>
            <a:pPr>
              <a:spcAft>
                <a:spcPts val="600"/>
              </a:spcAft>
            </a:pPr>
            <a:r>
              <a:rPr sz="1800" b="0">
                <a:solidFill>
                  <a:srgbClr val="202830"/>
                </a:solidFill>
                <a:latin typeface="Malgun Gothic"/>
                <a:ea typeface="Malgun Gothic"/>
              </a:rPr>
              <a:t>•  CURRENT 그룹 손상 — 아카이브 모드에서도 보호되지 않음</a:t>
            </a:r>
          </a:p>
          <a:p>
            <a:pPr>
              <a:spcAft>
                <a:spcPts val="600"/>
              </a:spcAft>
            </a:pPr>
            <a:r>
              <a:rPr sz="1600" b="0">
                <a:solidFill>
                  <a:srgbClr val="5A6672"/>
                </a:solidFill>
                <a:latin typeface="Malgun Gothic"/>
                <a:ea typeface="Malgun Gothic"/>
              </a:rPr>
              <a:t>    –  아직 아카이브되기 전의 리두라 사본이 없음</a:t>
            </a:r>
          </a:p>
          <a:p>
            <a:pPr>
              <a:spcAft>
                <a:spcPts val="600"/>
              </a:spcAft>
            </a:pPr>
            <a:r>
              <a:rPr sz="1800" b="0">
                <a:solidFill>
                  <a:srgbClr val="202830"/>
                </a:solidFill>
                <a:latin typeface="Malgun Gothic"/>
                <a:ea typeface="Malgun Gothic"/>
              </a:rPr>
              <a:t>•  아카이브 모드가 바꾸는 것은 '과거 리두의 보존'</a:t>
            </a:r>
          </a:p>
          <a:p>
            <a:pPr>
              <a:spcAft>
                <a:spcPts val="600"/>
              </a:spcAft>
            </a:pPr>
            <a:r>
              <a:rPr sz="1600" b="0">
                <a:solidFill>
                  <a:srgbClr val="5A6672"/>
                </a:solidFill>
                <a:latin typeface="Malgun Gothic"/>
                <a:ea typeface="Malgun Gothic"/>
              </a:rPr>
              <a:t>    –  온라인 리두가 덮어써져도 오래된 백업본으로 완전 복구 가능</a:t>
            </a:r>
          </a:p>
          <a:p>
            <a:pPr>
              <a:spcAft>
                <a:spcPts val="600"/>
              </a:spcAft>
            </a:pPr>
            <a:r>
              <a:rPr sz="1600" b="0">
                <a:solidFill>
                  <a:srgbClr val="5A6672"/>
                </a:solidFill>
                <a:latin typeface="Malgun Gothic"/>
                <a:ea typeface="Malgun Gothic"/>
              </a:rPr>
              <a:t>    –  이것이 4~7장 시나리오가 8장 이후 다른 결말을 맞는 이유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7.4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리두 로그와 컨트롤파일 동시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컨트롤파일이 먼저지만 제약이 하나 추가된다</a:t>
            </a:r>
          </a:p>
          <a:p>
            <a:pPr>
              <a:spcAft>
                <a:spcPts val="600"/>
              </a:spcAft>
            </a:pPr>
            <a:r>
              <a:rPr sz="1600" b="0">
                <a:solidFill>
                  <a:srgbClr val="C5CED6"/>
                </a:solidFill>
                <a:latin typeface="Malgun Gothic"/>
                <a:ea typeface="Malgun Gothic"/>
              </a:rPr>
              <a:t>•  NORESETLOGS 형식은 리두 파일이 실제로 있어야 성립한다</a:t>
            </a:r>
          </a:p>
          <a:p>
            <a:pPr>
              <a:spcAft>
                <a:spcPts val="600"/>
              </a:spcAft>
            </a:pPr>
            <a:r>
              <a:rPr sz="1600" b="0">
                <a:solidFill>
                  <a:srgbClr val="C5CED6"/>
                </a:solidFill>
                <a:latin typeface="Malgun Gothic"/>
                <a:ea typeface="Malgun Gothic"/>
              </a:rPr>
              <a:t>•  인스턴스 복구와 미디어 복구를 구분해야 명령이 골라진다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리두가 없을 때 NORESETLOGS 실패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ORA-00301</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@/home/oracle/backup/cf_noresetlogs.sql</a:t>
            </a:r>
          </a:p>
          <a:p>
            <a:pPr>
              <a:spcAft>
                <a:spcPts val="0"/>
              </a:spcAft>
            </a:pPr>
            <a:r>
              <a:rPr sz="1250" b="0">
                <a:solidFill>
                  <a:srgbClr val="E6E6E6"/>
                </a:solidFill>
                <a:latin typeface="Consolas"/>
                <a:ea typeface="Consolas"/>
              </a:rPr>
              <a:t>CREATE CONTROLFILE REUSE DATABASE "ORCL" NORESETLOGS NOARCHIVELOG</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ORA-01503: CREATE CONTROLFILE failed</a:t>
            </a:r>
          </a:p>
          <a:p>
            <a:pPr>
              <a:spcAft>
                <a:spcPts val="0"/>
              </a:spcAft>
            </a:pPr>
            <a:r>
              <a:rPr sz="1250" b="0">
                <a:solidFill>
                  <a:srgbClr val="E6E6E6"/>
                </a:solidFill>
                <a:latin typeface="Consolas"/>
                <a:ea typeface="Consolas"/>
              </a:rPr>
              <a:t>ORA-00202: control file: '/u01/app/oracle/oradata/orcl/control01.ctl'</a:t>
            </a:r>
          </a:p>
          <a:p>
            <a:pPr>
              <a:spcAft>
                <a:spcPts val="0"/>
              </a:spcAft>
            </a:pPr>
            <a:r>
              <a:rPr sz="1250" b="0">
                <a:solidFill>
                  <a:srgbClr val="E6E6E6"/>
                </a:solidFill>
                <a:latin typeface="Consolas"/>
                <a:ea typeface="Consolas"/>
              </a:rPr>
              <a:t>ORA-00301: error in adding log file</a:t>
            </a:r>
          </a:p>
          <a:p>
            <a:pPr>
              <a:spcAft>
                <a:spcPts val="0"/>
              </a:spcAft>
            </a:pPr>
            <a:r>
              <a:rPr sz="1250" b="0">
                <a:solidFill>
                  <a:srgbClr val="E6E6E6"/>
                </a:solidFill>
                <a:latin typeface="Consolas"/>
                <a:ea typeface="Consolas"/>
              </a:rPr>
              <a:t>           '/u01/app/oracle/oradata/orcl/redo01.log' - file cannot be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@/home/oracle/backup/cf_resetlogs.sql</a:t>
            </a:r>
          </a:p>
          <a:p>
            <a:pPr>
              <a:spcAft>
                <a:spcPts val="0"/>
              </a:spcAft>
            </a:pPr>
            <a:r>
              <a:rPr sz="1250" b="0">
                <a:solidFill>
                  <a:srgbClr val="E6E6E6"/>
                </a:solidFill>
                <a:latin typeface="Consolas"/>
                <a:ea typeface="Consolas"/>
              </a:rPr>
              <a:t>Control file created.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종료 방식에 따른 분기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정상 종료 — 손실 없음</a:t>
            </a:r>
          </a:p>
          <a:p>
            <a:pPr>
              <a:spcAft>
                <a:spcPts val="600"/>
              </a:spcAft>
            </a:pPr>
            <a:r>
              <a:rPr sz="1600" b="0">
                <a:solidFill>
                  <a:srgbClr val="5A6672"/>
                </a:solidFill>
                <a:latin typeface="Malgun Gothic"/>
                <a:ea typeface="Malgun Gothic"/>
              </a:rPr>
              <a:t>    –  데이터파일이 같은 SCN에서 일관성 있게 닫힘, FUZZY NO</a:t>
            </a:r>
          </a:p>
          <a:p>
            <a:pPr>
              <a:spcAft>
                <a:spcPts val="600"/>
              </a:spcAft>
            </a:pPr>
            <a:r>
              <a:rPr sz="1600" b="0">
                <a:solidFill>
                  <a:srgbClr val="5A6672"/>
                </a:solidFill>
                <a:latin typeface="Malgun Gothic"/>
                <a:ea typeface="Malgun Gothic"/>
              </a:rPr>
              <a:t>    –  RESETLOGS 형식 재생성 → OPEN RESETLOGS</a:t>
            </a:r>
          </a:p>
          <a:p>
            <a:pPr>
              <a:spcAft>
                <a:spcPts val="600"/>
              </a:spcAft>
            </a:pPr>
            <a:r>
              <a:rPr sz="1600" b="0">
                <a:solidFill>
                  <a:srgbClr val="5A6672"/>
                </a:solidFill>
                <a:latin typeface="Malgun Gothic"/>
                <a:ea typeface="Malgun Gothic"/>
              </a:rPr>
              <a:t>    –  손실은 없으나 인카네이션은 올라감</a:t>
            </a:r>
          </a:p>
          <a:p>
            <a:pPr>
              <a:spcAft>
                <a:spcPts val="600"/>
              </a:spcAft>
            </a:pPr>
            <a:r>
              <a:rPr sz="1800" b="0">
                <a:solidFill>
                  <a:srgbClr val="202830"/>
                </a:solidFill>
                <a:latin typeface="Malgun Gothic"/>
                <a:ea typeface="Malgun Gothic"/>
              </a:rPr>
              <a:t>•  비정상 종료 — 이 장에서 가장 어려운 조합</a:t>
            </a:r>
          </a:p>
          <a:p>
            <a:pPr>
              <a:spcAft>
                <a:spcPts val="600"/>
              </a:spcAft>
            </a:pPr>
            <a:r>
              <a:rPr sz="1600" b="0">
                <a:solidFill>
                  <a:srgbClr val="5A6672"/>
                </a:solidFill>
                <a:latin typeface="Malgun Gothic"/>
                <a:ea typeface="Malgun Gothic"/>
              </a:rPr>
              <a:t>    –  적용할 리두가 있는데 그 리두가 사라진 상태</a:t>
            </a:r>
          </a:p>
          <a:p>
            <a:pPr>
              <a:spcAft>
                <a:spcPts val="600"/>
              </a:spcAft>
            </a:pPr>
            <a:r>
              <a:rPr sz="1600" b="0">
                <a:solidFill>
                  <a:srgbClr val="5A6672"/>
                </a:solidFill>
                <a:latin typeface="Malgun Gothic"/>
                <a:ea typeface="Malgun Gothic"/>
              </a:rPr>
              <a:t>    –  UNTIL CANCEL → RESETLOGS, 실패하면 전체 복원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인스턴스 복구와 미디어 복구의 경계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인스턴스 복구 — 온라인 리두만으로 자동 수행</a:t>
            </a:r>
          </a:p>
          <a:p>
            <a:pPr>
              <a:spcAft>
                <a:spcPts val="600"/>
              </a:spcAft>
            </a:pPr>
            <a:r>
              <a:rPr sz="1800" b="0">
                <a:solidFill>
                  <a:srgbClr val="202830"/>
                </a:solidFill>
                <a:latin typeface="Malgun Gothic"/>
                <a:ea typeface="Malgun Gothic"/>
              </a:rPr>
              <a:t>•  미디어 복구 — 파일 손상 시 백업본과 리두로 재구성</a:t>
            </a:r>
          </a:p>
          <a:p>
            <a:pPr>
              <a:spcAft>
                <a:spcPts val="600"/>
              </a:spcAft>
            </a:pPr>
            <a:r>
              <a:rPr sz="1800" b="0">
                <a:solidFill>
                  <a:srgbClr val="202830"/>
                </a:solidFill>
                <a:latin typeface="Malgun Gothic"/>
                <a:ea typeface="Malgun Gothic"/>
              </a:rPr>
              <a:t>•  리두 손상은 두 복구에 다르게 작용</a:t>
            </a:r>
          </a:p>
          <a:p>
            <a:pPr>
              <a:spcAft>
                <a:spcPts val="600"/>
              </a:spcAft>
            </a:pPr>
            <a:r>
              <a:rPr sz="1600" b="0">
                <a:solidFill>
                  <a:srgbClr val="5A6672"/>
                </a:solidFill>
                <a:latin typeface="Malgun Gothic"/>
                <a:ea typeface="Malgun Gothic"/>
              </a:rPr>
              <a:t>    –  인스턴스 복구에 필요한 그룹 상실 → 오픈 자체가 막힘</a:t>
            </a:r>
          </a:p>
          <a:p>
            <a:pPr>
              <a:spcAft>
                <a:spcPts val="600"/>
              </a:spcAft>
            </a:pPr>
            <a:r>
              <a:rPr sz="1600" b="0">
                <a:solidFill>
                  <a:srgbClr val="5A6672"/>
                </a:solidFill>
                <a:latin typeface="Malgun Gothic"/>
                <a:ea typeface="Malgun Gothic"/>
              </a:rPr>
              <a:t>    –  미디어 복구에 필요한 리두 상실 → 복구 범위가 줄어듦</a:t>
            </a:r>
          </a:p>
          <a:p>
            <a:pPr>
              <a:spcAft>
                <a:spcPts val="600"/>
              </a:spcAft>
            </a:pPr>
            <a:r>
              <a:rPr sz="1800" b="0">
                <a:solidFill>
                  <a:srgbClr val="202830"/>
                </a:solidFill>
                <a:latin typeface="Malgun Gothic"/>
                <a:ea typeface="Malgun Gothic"/>
              </a:rPr>
              <a:t>•  오류 코드로 구분 — ORA-01624는 앞쪽, ORA-01113은 뒤쪽</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7.5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 컨트롤파일과 현재 구조 불일치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추가된 데이터파일이 UNNAMED로 등록된다</a:t>
            </a:r>
          </a:p>
          <a:p>
            <a:pPr>
              <a:spcAft>
                <a:spcPts val="600"/>
              </a:spcAft>
            </a:pPr>
            <a:r>
              <a:rPr sz="1600" b="0">
                <a:solidFill>
                  <a:srgbClr val="C5CED6"/>
                </a:solidFill>
                <a:latin typeface="Malgun Gothic"/>
                <a:ea typeface="Malgun Gothic"/>
              </a:rPr>
              <a:t>•  오류 없이 열려 발견이 늦다</a:t>
            </a:r>
          </a:p>
          <a:p>
            <a:pPr>
              <a:spcAft>
                <a:spcPts val="600"/>
              </a:spcAft>
            </a:pPr>
            <a:r>
              <a:rPr sz="1600" b="0">
                <a:solidFill>
                  <a:srgbClr val="C5CED6"/>
                </a:solidFill>
                <a:latin typeface="Malgun Gothic"/>
                <a:ea typeface="Malgun Gothic"/>
              </a:rPr>
              <a:t>•  복구 기술이 아니라 예방이 답이다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UNNAMED 파일과 RENAME FILE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ORA-00376 · ORA-01111</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COUNT(*) FROM hr.emp72;</a:t>
            </a:r>
          </a:p>
          <a:p>
            <a:pPr>
              <a:spcAft>
                <a:spcPts val="0"/>
              </a:spcAft>
            </a:pPr>
            <a:r>
              <a:rPr sz="1250" b="0">
                <a:solidFill>
                  <a:srgbClr val="E6E6E6"/>
                </a:solidFill>
                <a:latin typeface="Consolas"/>
                <a:ea typeface="Consolas"/>
              </a:rPr>
              <a:t>ORA-00376: file 8 cannot be read at this time</a:t>
            </a:r>
          </a:p>
          <a:p>
            <a:pPr>
              <a:spcAft>
                <a:spcPts val="0"/>
              </a:spcAft>
            </a:pPr>
            <a:r>
              <a:rPr sz="1250" b="0">
                <a:solidFill>
                  <a:srgbClr val="E6E6E6"/>
                </a:solidFill>
                <a:latin typeface="Consolas"/>
                <a:ea typeface="Consolas"/>
              </a:rPr>
              <a:t>ORA-01111: name for data file 8 is unknown - rename to correct file</a:t>
            </a:r>
          </a:p>
          <a:p>
            <a:pPr>
              <a:spcAft>
                <a:spcPts val="0"/>
              </a:spcAft>
            </a:pPr>
            <a:r>
              <a:rPr sz="1250" b="0">
                <a:solidFill>
                  <a:srgbClr val="E6E6E6"/>
                </a:solidFill>
                <a:latin typeface="Consolas"/>
                <a:ea typeface="Consolas"/>
              </a:rPr>
              <a:t>ORA-01110: data file 8: '.../dbs/UNNAMED00008'</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ALTER DATABASE RENAME FILE</a:t>
            </a:r>
          </a:p>
          <a:p>
            <a:pPr>
              <a:spcAft>
                <a:spcPts val="0"/>
              </a:spcAft>
            </a:pPr>
            <a:r>
              <a:rPr sz="1250" b="0">
                <a:solidFill>
                  <a:srgbClr val="E6E6E6"/>
                </a:solidFill>
                <a:latin typeface="Consolas"/>
                <a:ea typeface="Consolas"/>
              </a:rPr>
              <a:t>  2    '/u01/app/oracle/product/19.3.0/dbhome_1/dbs/UNNAMED00008'</a:t>
            </a:r>
          </a:p>
          <a:p>
            <a:pPr>
              <a:spcAft>
                <a:spcPts val="0"/>
              </a:spcAft>
            </a:pPr>
            <a:r>
              <a:rPr sz="1250" b="0">
                <a:solidFill>
                  <a:srgbClr val="E6E6E6"/>
                </a:solidFill>
                <a:latin typeface="Consolas"/>
                <a:ea typeface="Consolas"/>
              </a:rPr>
              <a:t>  3  TO '/u01/app/oracle/oradata/orcl/users02.dbf';</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SYS@orcl&gt; ALTER DATABASE OPEN;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예방이 유일한 답</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구조 변경 직후 컨트롤파일 백업을 다시 받는다</a:t>
            </a:r>
          </a:p>
          <a:p>
            <a:pPr>
              <a:spcAft>
                <a:spcPts val="600"/>
              </a:spcAft>
            </a:pPr>
            <a:r>
              <a:rPr sz="1600" b="0">
                <a:solidFill>
                  <a:srgbClr val="5A6672"/>
                </a:solidFill>
                <a:latin typeface="Malgun Gothic"/>
                <a:ea typeface="Malgun Gothic"/>
              </a:rPr>
              <a:t>    –  Binary와 trace를 함께, 파일명에 날짜를 붙여 세대 관리</a:t>
            </a:r>
          </a:p>
          <a:p>
            <a:pPr>
              <a:spcAft>
                <a:spcPts val="600"/>
              </a:spcAft>
            </a:pPr>
            <a:r>
              <a:rPr sz="1800" b="0">
                <a:solidFill>
                  <a:srgbClr val="202830"/>
                </a:solidFill>
                <a:latin typeface="Malgun Gothic"/>
                <a:ea typeface="Malgun Gothic"/>
              </a:rPr>
              <a:t>•  백업 매니페스트에 파일 목록을 함께 남긴다</a:t>
            </a:r>
          </a:p>
          <a:p>
            <a:pPr>
              <a:spcAft>
                <a:spcPts val="600"/>
              </a:spcAft>
            </a:pPr>
            <a:r>
              <a:rPr sz="1600" b="0">
                <a:solidFill>
                  <a:srgbClr val="5A6672"/>
                </a:solidFill>
                <a:latin typeface="Malgun Gothic"/>
                <a:ea typeface="Malgun Gothic"/>
              </a:rPr>
              <a:t>    –  CREATE CONTROLFILE 문 작성 시 근거가 됨</a:t>
            </a:r>
          </a:p>
          <a:p>
            <a:pPr>
              <a:spcAft>
                <a:spcPts val="600"/>
              </a:spcAft>
            </a:pPr>
            <a:r>
              <a:rPr sz="1800" b="0">
                <a:solidFill>
                  <a:srgbClr val="202830"/>
                </a:solidFill>
                <a:latin typeface="Malgun Gothic"/>
                <a:ea typeface="Malgun Gothic"/>
              </a:rPr>
              <a:t>•  재생성 전 목록 대조를 절차로 만든다</a:t>
            </a:r>
          </a:p>
          <a:p>
            <a:pPr>
              <a:spcAft>
                <a:spcPts val="600"/>
              </a:spcAft>
            </a:pPr>
            <a:r>
              <a:rPr sz="1600" b="0">
                <a:solidFill>
                  <a:srgbClr val="5A6672"/>
                </a:solidFill>
                <a:latin typeface="Malgun Gothic"/>
                <a:ea typeface="Malgun Gothic"/>
              </a:rPr>
              <a:t>    –  ls 로 뽑은 개수와 문의 DATAFILE 항목 수를 비교</a:t>
            </a:r>
          </a:p>
          <a:p>
            <a:pPr>
              <a:spcAft>
                <a:spcPts val="600"/>
              </a:spcAft>
            </a:pPr>
            <a:r>
              <a:rPr sz="1800" b="0">
                <a:solidFill>
                  <a:srgbClr val="202830"/>
                </a:solidFill>
                <a:latin typeface="Malgun Gothic"/>
                <a:ea typeface="Malgun Gothic"/>
              </a:rPr>
              <a:t>•  작업 티켓에 백업 수행 여부를 체크 항목으로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7.6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NOARCHIVELOG 복구 종합 절차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컨트롤파일 → 리두 로그 → 데이터파일</a:t>
            </a:r>
          </a:p>
          <a:p>
            <a:pPr>
              <a:spcAft>
                <a:spcPts val="600"/>
              </a:spcAft>
            </a:pPr>
            <a:r>
              <a:rPr sz="1600" b="0">
                <a:solidFill>
                  <a:srgbClr val="C5CED6"/>
                </a:solidFill>
                <a:latin typeface="Malgun Gothic"/>
                <a:ea typeface="Malgun Gothic"/>
              </a:rPr>
              <a:t>•  시도 전 사본 확보가 절차의 0단계다</a:t>
            </a:r>
          </a:p>
          <a:p>
            <a:pPr>
              <a:spcAft>
                <a:spcPts val="600"/>
              </a:spcAft>
            </a:pPr>
            <a:r>
              <a:rPr sz="1600" b="0">
                <a:solidFill>
                  <a:srgbClr val="C5CED6"/>
                </a:solidFill>
                <a:latin typeface="Malgun Gothic"/>
                <a:ea typeface="Malgun Gothic"/>
              </a:rPr>
              <a:t>•  복구 보고는 시점 · 구간 · 범위 · 후속 조치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복합 장애 처리 순서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0단계부터 5단계까지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0. 현재 파일 전체를 별도 위치로 복사 (원상 복귀 수단 확보)</a:t>
            </a:r>
          </a:p>
          <a:p>
            <a:pPr>
              <a:spcAft>
                <a:spcPts val="0"/>
              </a:spcAft>
            </a:pPr>
            <a:r>
              <a:rPr sz="1250" b="0">
                <a:solidFill>
                  <a:srgbClr val="E6E6E6"/>
                </a:solidFill>
                <a:latin typeface="Consolas"/>
                <a:ea typeface="Consolas"/>
              </a:rPr>
              <a:t>1. 컨트롤파일</a:t>
            </a:r>
          </a:p>
          <a:p>
            <a:pPr>
              <a:spcAft>
                <a:spcPts val="0"/>
              </a:spcAft>
            </a:pPr>
            <a:r>
              <a:rPr sz="1250" b="0">
                <a:solidFill>
                  <a:srgbClr val="E6E6E6"/>
                </a:solidFill>
                <a:latin typeface="Consolas"/>
                <a:ea typeface="Consolas"/>
              </a:rPr>
              <a:t>   사본 생존 → 복사 | Binary → 복원 | trace → 재생성 | 없음 → 목록 수집</a:t>
            </a:r>
          </a:p>
          <a:p>
            <a:pPr>
              <a:spcAft>
                <a:spcPts val="0"/>
              </a:spcAft>
            </a:pPr>
            <a:r>
              <a:rPr sz="1250" b="0">
                <a:solidFill>
                  <a:srgbClr val="E6E6E6"/>
                </a:solidFill>
                <a:latin typeface="Consolas"/>
                <a:ea typeface="Consolas"/>
              </a:rPr>
              <a:t>2. 리두 로그</a:t>
            </a:r>
          </a:p>
          <a:p>
            <a:pPr>
              <a:spcAft>
                <a:spcPts val="0"/>
              </a:spcAft>
            </a:pPr>
            <a:r>
              <a:rPr sz="1250" b="0">
                <a:solidFill>
                  <a:srgbClr val="E6E6E6"/>
                </a:solidFill>
                <a:latin typeface="Consolas"/>
                <a:ea typeface="Consolas"/>
              </a:rPr>
              <a:t>   멤버 생존 → 복사 | INACTIVE 전손 → CLEAR | CURRENT 전손 → 불완전 확정</a:t>
            </a:r>
          </a:p>
          <a:p>
            <a:pPr>
              <a:spcAft>
                <a:spcPts val="0"/>
              </a:spcAft>
            </a:pPr>
            <a:r>
              <a:rPr sz="1250" b="0">
                <a:solidFill>
                  <a:srgbClr val="E6E6E6"/>
                </a:solidFill>
                <a:latin typeface="Consolas"/>
                <a:ea typeface="Consolas"/>
              </a:rPr>
              <a:t>3. 데이터파일</a:t>
            </a:r>
          </a:p>
          <a:p>
            <a:pPr>
              <a:spcAft>
                <a:spcPts val="0"/>
              </a:spcAft>
            </a:pPr>
            <a:r>
              <a:rPr sz="1250" b="0">
                <a:solidFill>
                  <a:srgbClr val="E6E6E6"/>
                </a:solidFill>
                <a:latin typeface="Consolas"/>
                <a:ea typeface="Consolas"/>
              </a:rPr>
              <a:t>   복원 → 리두 생존 판정 → 완전 / 불완전 / 전체 복원</a:t>
            </a:r>
          </a:p>
          <a:p>
            <a:pPr>
              <a:spcAft>
                <a:spcPts val="0"/>
              </a:spcAft>
            </a:pPr>
            <a:r>
              <a:rPr sz="1250" b="0">
                <a:solidFill>
                  <a:srgbClr val="E6E6E6"/>
                </a:solidFill>
                <a:latin typeface="Consolas"/>
                <a:ea typeface="Consolas"/>
              </a:rPr>
              <a:t>4. 오픈</a:t>
            </a:r>
          </a:p>
          <a:p>
            <a:pPr>
              <a:spcAft>
                <a:spcPts val="0"/>
              </a:spcAft>
            </a:pPr>
            <a:r>
              <a:rPr sz="1250" b="0">
                <a:solidFill>
                  <a:srgbClr val="E6E6E6"/>
                </a:solidFill>
                <a:latin typeface="Consolas"/>
                <a:ea typeface="Consolas"/>
              </a:rPr>
              <a:t>   NORESETLOGS 가능 여부 판정 → OPEN 또는 OPEN RESETLOGS</a:t>
            </a:r>
          </a:p>
          <a:p>
            <a:pPr>
              <a:spcAft>
                <a:spcPts val="0"/>
              </a:spcAft>
            </a:pPr>
            <a:r>
              <a:rPr sz="1250" b="0">
                <a:solidFill>
                  <a:srgbClr val="E6E6E6"/>
                </a:solidFill>
                <a:latin typeface="Consolas"/>
                <a:ea typeface="Consolas"/>
              </a:rPr>
              <a:t>5. 마무리</a:t>
            </a:r>
          </a:p>
          <a:p>
            <a:pPr>
              <a:spcAft>
                <a:spcPts val="0"/>
              </a:spcAft>
            </a:pPr>
            <a:r>
              <a:rPr sz="1250" b="0">
                <a:solidFill>
                  <a:srgbClr val="E6E6E6"/>
                </a:solidFill>
                <a:latin typeface="Consolas"/>
                <a:ea typeface="Consolas"/>
              </a:rPr>
              <a:t>   TEMP 추가 · 다중화 재구성 · 전체 백업 · 손실 구간 통보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4~7장 종합 정리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파일 종류 × 리두 유무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파일 종류      | 떼어 낼 수 있는가 | 리두 있음         | 리두 없음</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일반 TS 데이터 | 가능             | 복원 + 복구       | OFFLINE DROP 또는 전체 복원</a:t>
            </a:r>
          </a:p>
          <a:p>
            <a:pPr>
              <a:spcAft>
                <a:spcPts val="0"/>
              </a:spcAft>
            </a:pPr>
            <a:r>
              <a:rPr sz="1250" b="0">
                <a:solidFill>
                  <a:srgbClr val="E6E6E6"/>
                </a:solidFill>
                <a:latin typeface="Consolas"/>
                <a:ea typeface="Consolas"/>
              </a:rPr>
              <a:t>SYSTEM         | 불가(ORA-01541)  | 복원 + 복구       | 전체 복원</a:t>
            </a:r>
          </a:p>
          <a:p>
            <a:pPr>
              <a:spcAft>
                <a:spcPts val="0"/>
              </a:spcAft>
            </a:pPr>
            <a:r>
              <a:rPr sz="1250" b="0">
                <a:solidFill>
                  <a:srgbClr val="E6E6E6"/>
                </a:solidFill>
                <a:latin typeface="Consolas"/>
                <a:ea typeface="Consolas"/>
              </a:rPr>
              <a:t>UNDO           | 명령은 성공, 못 엶| 복원 + 복구       | 전체 복원</a:t>
            </a:r>
          </a:p>
          <a:p>
            <a:pPr>
              <a:spcAft>
                <a:spcPts val="0"/>
              </a:spcAft>
            </a:pPr>
            <a:r>
              <a:rPr sz="1250" b="0">
                <a:solidFill>
                  <a:srgbClr val="E6E6E6"/>
                </a:solidFill>
                <a:latin typeface="Consolas"/>
                <a:ea typeface="Consolas"/>
              </a:rPr>
              <a:t>TEMP           | 해당 없음        | 재생성            | 재생성</a:t>
            </a:r>
          </a:p>
          <a:p>
            <a:pPr>
              <a:spcAft>
                <a:spcPts val="0"/>
              </a:spcAft>
            </a:pPr>
            <a:r>
              <a:rPr sz="1250" b="0">
                <a:solidFill>
                  <a:srgbClr val="E6E6E6"/>
                </a:solidFill>
                <a:latin typeface="Consolas"/>
                <a:ea typeface="Consolas"/>
              </a:rPr>
              <a:t>읽기 전용 TS   | 가능             | 복원만으로 완료   | 복원만으로 완료</a:t>
            </a:r>
          </a:p>
          <a:p>
            <a:pPr>
              <a:spcAft>
                <a:spcPts val="0"/>
              </a:spcAft>
            </a:pPr>
            <a:r>
              <a:rPr sz="1250" b="0">
                <a:solidFill>
                  <a:srgbClr val="E6E6E6"/>
                </a:solidFill>
                <a:latin typeface="Consolas"/>
                <a:ea typeface="Consolas"/>
              </a:rPr>
              <a:t>컨트롤파일     | 해당 없음        | 사본/백업/trace   | 사본/백업/trace</a:t>
            </a:r>
          </a:p>
          <a:p>
            <a:pPr>
              <a:spcAft>
                <a:spcPts val="0"/>
              </a:spcAft>
            </a:pPr>
            <a:r>
              <a:rPr sz="1250" b="0">
                <a:solidFill>
                  <a:srgbClr val="E6E6E6"/>
                </a:solidFill>
                <a:latin typeface="Consolas"/>
                <a:ea typeface="Consolas"/>
              </a:rPr>
              <a:t>리두(INACTIVE) | 해당 없음        | CLEAR             | CLEAR</a:t>
            </a:r>
          </a:p>
          <a:p>
            <a:pPr>
              <a:spcAft>
                <a:spcPts val="0"/>
              </a:spcAft>
            </a:pPr>
            <a:r>
              <a:rPr sz="1250" b="0">
                <a:solidFill>
                  <a:srgbClr val="E6E6E6"/>
                </a:solidFill>
                <a:latin typeface="Consolas"/>
                <a:ea typeface="Consolas"/>
              </a:rPr>
              <a:t>리두(CURRENT)  | 해당 없음        | 해당 없음         | 불완전 복구/전체 복원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 복구 전략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멤버 · 그룹 상태 · 종료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멤버 | 그룹 상태 | 종료 | 조치                    | 손실</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멤버 일부 손상              | 생존 | 무관      | 무관 | 복사 또는 DROP/ADD      | 없음</a:t>
            </a:r>
          </a:p>
          <a:p>
            <a:pPr>
              <a:spcAft>
                <a:spcPts val="0"/>
              </a:spcAft>
            </a:pPr>
            <a:r>
              <a:rPr sz="1250" b="0">
                <a:solidFill>
                  <a:srgbClr val="E6E6E6"/>
                </a:solidFill>
                <a:latin typeface="Consolas"/>
                <a:ea typeface="Consolas"/>
              </a:rPr>
              <a:t>INACTIVE 전손               | 없음 | INACTIVE  | 정상 | CLEAR → OPEN            | 없음</a:t>
            </a:r>
          </a:p>
          <a:p>
            <a:pPr>
              <a:spcAft>
                <a:spcPts val="0"/>
              </a:spcAft>
            </a:pPr>
            <a:r>
              <a:rPr sz="1250" b="0">
                <a:solidFill>
                  <a:srgbClr val="E6E6E6"/>
                </a:solidFill>
                <a:latin typeface="Consolas"/>
                <a:ea typeface="Consolas"/>
              </a:rPr>
              <a:t>INACTIVE 전손               | 없음 | INACTIVE  | 비정상| CLEAR UNARCH → 복구     | 없음~일부</a:t>
            </a:r>
          </a:p>
          <a:p>
            <a:pPr>
              <a:spcAft>
                <a:spcPts val="0"/>
              </a:spcAft>
            </a:pPr>
            <a:r>
              <a:rPr sz="1250" b="0">
                <a:solidFill>
                  <a:srgbClr val="E6E6E6"/>
                </a:solidFill>
                <a:latin typeface="Consolas"/>
                <a:ea typeface="Consolas"/>
              </a:rPr>
              <a:t>CURRENT 전손                | 없음 | CURRENT   | 정상 | CLEAR UNARCH → RESET    | 없음</a:t>
            </a:r>
          </a:p>
          <a:p>
            <a:pPr>
              <a:spcAft>
                <a:spcPts val="0"/>
              </a:spcAft>
            </a:pPr>
            <a:r>
              <a:rPr sz="1250" b="0">
                <a:solidFill>
                  <a:srgbClr val="E6E6E6"/>
                </a:solidFill>
                <a:latin typeface="Consolas"/>
                <a:ea typeface="Consolas"/>
              </a:rPr>
              <a:t>CURRENT 전손                | 없음 | CURRENT   | 비정상| UNTIL CANCEL → RESET    | 미반영분</a:t>
            </a:r>
          </a:p>
          <a:p>
            <a:pPr>
              <a:spcAft>
                <a:spcPts val="0"/>
              </a:spcAft>
            </a:pPr>
            <a:r>
              <a:rPr sz="1250" b="0">
                <a:solidFill>
                  <a:srgbClr val="E6E6E6"/>
                </a:solidFill>
                <a:latin typeface="Consolas"/>
                <a:ea typeface="Consolas"/>
              </a:rPr>
              <a:t>리두 + CF 손상              | 없음 | 무관      | 정상 | RESETLOGS 형식 재생성   | 없음</a:t>
            </a:r>
          </a:p>
          <a:p>
            <a:pPr>
              <a:spcAft>
                <a:spcPts val="0"/>
              </a:spcAft>
            </a:pPr>
            <a:r>
              <a:rPr sz="1250" b="0">
                <a:solidFill>
                  <a:srgbClr val="E6E6E6"/>
                </a:solidFill>
                <a:latin typeface="Consolas"/>
                <a:ea typeface="Consolas"/>
              </a:rPr>
              <a:t>리두 + CF 손상              | 없음 | 무관      | 비정상| 재생성 → UNTIL CANCEL   | 미반영분</a:t>
            </a:r>
          </a:p>
          <a:p>
            <a:pPr>
              <a:spcAft>
                <a:spcPts val="0"/>
              </a:spcAft>
            </a:pPr>
            <a:r>
              <a:rPr sz="1250" b="0">
                <a:solidFill>
                  <a:srgbClr val="E6E6E6"/>
                </a:solidFill>
                <a:latin typeface="Consolas"/>
                <a:ea typeface="Consolas"/>
              </a:rPr>
              <a:t>위 경로가 모두 실패         | 없음 | 무관      | 무관 | 전체 복원               | 백업 이후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CLEAR LOGFILE 거부</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ALTER DATABASE CLEAR LOGFILE GROUP 1 이 ORA-01624로 거부되었다. 원인은?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그룹이 하나뿐이다</a:t>
            </a:r>
          </a:p>
          <a:p>
            <a:pPr>
              <a:spcAft>
                <a:spcPts val="800"/>
              </a:spcAft>
            </a:pPr>
            <a:r>
              <a:rPr sz="1700" b="0">
                <a:solidFill>
                  <a:srgbClr val="202830"/>
                </a:solidFill>
                <a:latin typeface="Malgun Gothic"/>
                <a:ea typeface="Malgun Gothic"/>
              </a:rPr>
              <a:t>해당 그룹이 인스턴스 복구에 필요하다</a:t>
            </a:r>
          </a:p>
          <a:p>
            <a:pPr>
              <a:spcAft>
                <a:spcPts val="800"/>
              </a:spcAft>
            </a:pPr>
            <a:r>
              <a:rPr sz="1700" b="0">
                <a:solidFill>
                  <a:srgbClr val="202830"/>
                </a:solidFill>
                <a:latin typeface="Malgun Gothic"/>
                <a:ea typeface="Malgun Gothic"/>
              </a:rPr>
              <a:t>디렉터리 권한이 없다</a:t>
            </a:r>
          </a:p>
          <a:p>
            <a:pPr>
              <a:spcAft>
                <a:spcPts val="800"/>
              </a:spcAft>
            </a:pPr>
            <a:r>
              <a:rPr sz="1700" b="0">
                <a:solidFill>
                  <a:srgbClr val="202830"/>
                </a:solidFill>
                <a:latin typeface="Malgun Gothic"/>
                <a:ea typeface="Malgun Gothic"/>
              </a:rPr>
              <a:t>아카이브 모드가 아니다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CURRENT 그룹 손상</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비정상 종료 후 CURRENT 그룹의 모든 멤버가 유실되었다. 예상되는 결과는?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손실 없이 완전 복구된다</a:t>
            </a:r>
          </a:p>
          <a:p>
            <a:pPr>
              <a:spcAft>
                <a:spcPts val="800"/>
              </a:spcAft>
            </a:pPr>
            <a:r>
              <a:rPr sz="1700" b="0">
                <a:solidFill>
                  <a:srgbClr val="202830"/>
                </a:solidFill>
                <a:latin typeface="Malgun Gothic"/>
                <a:ea typeface="Malgun Gothic"/>
              </a:rPr>
              <a:t>미반영 커밋 변경을 잃고 불완전 복구가 된다</a:t>
            </a:r>
          </a:p>
          <a:p>
            <a:pPr>
              <a:spcAft>
                <a:spcPts val="800"/>
              </a:spcAft>
            </a:pPr>
            <a:r>
              <a:rPr sz="1700" b="0">
                <a:solidFill>
                  <a:srgbClr val="202830"/>
                </a:solidFill>
                <a:latin typeface="Malgun Gothic"/>
                <a:ea typeface="Malgun Gothic"/>
              </a:rPr>
              <a:t>CLEAR 만으로 정상 오픈된다</a:t>
            </a:r>
          </a:p>
          <a:p>
            <a:pPr>
              <a:spcAft>
                <a:spcPts val="800"/>
              </a:spcAft>
            </a:pPr>
            <a:r>
              <a:rPr sz="1700" b="0">
                <a:solidFill>
                  <a:srgbClr val="202830"/>
                </a:solidFill>
                <a:latin typeface="Malgun Gothic"/>
                <a:ea typeface="Malgun Gothic"/>
              </a:rPr>
              <a:t>아카이브 로그로 대체할 수 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복합 장애 처리 순서</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컨트롤파일·리두 로그·데이터파일이 모두 손상되었을 때 올바른 처리 순서는?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데이터파일 → 리두 로그 → 컨트롤파일</a:t>
            </a:r>
          </a:p>
          <a:p>
            <a:pPr>
              <a:spcAft>
                <a:spcPts val="800"/>
              </a:spcAft>
            </a:pPr>
            <a:r>
              <a:rPr sz="1700" b="0">
                <a:solidFill>
                  <a:srgbClr val="202830"/>
                </a:solidFill>
                <a:latin typeface="Malgun Gothic"/>
                <a:ea typeface="Malgun Gothic"/>
              </a:rPr>
              <a:t>리두 로그 → 데이터파일 → 컨트롤파일</a:t>
            </a:r>
          </a:p>
          <a:p>
            <a:pPr>
              <a:spcAft>
                <a:spcPts val="800"/>
              </a:spcAft>
            </a:pPr>
            <a:r>
              <a:rPr sz="1700" b="0">
                <a:solidFill>
                  <a:srgbClr val="202830"/>
                </a:solidFill>
                <a:latin typeface="Malgun Gothic"/>
                <a:ea typeface="Malgun Gothic"/>
              </a:rPr>
              <a:t>컨트롤파일 → 리두 로그 → 데이터파일</a:t>
            </a:r>
          </a:p>
          <a:p>
            <a:pPr>
              <a:spcAft>
                <a:spcPts val="800"/>
              </a:spcAft>
            </a:pPr>
            <a:r>
              <a:rPr sz="1700" b="0">
                <a:solidFill>
                  <a:srgbClr val="202830"/>
                </a:solidFill>
                <a:latin typeface="Malgun Gothic"/>
                <a:ea typeface="Malgun Gothic"/>
              </a:rPr>
              <a:t>순서는 결과에 영향을 주지 않는다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멤버 하나가 살아 있으면 손실이 없다 — 다중화가 1차 방어선</a:t>
            </a:r>
          </a:p>
          <a:p>
            <a:pPr>
              <a:spcAft>
                <a:spcPts val="600"/>
              </a:spcAft>
            </a:pPr>
            <a:r>
              <a:rPr sz="1800" b="0">
                <a:solidFill>
                  <a:srgbClr val="202830"/>
                </a:solidFill>
                <a:latin typeface="Malgun Gothic"/>
                <a:ea typeface="Malgun Gothic"/>
              </a:rPr>
              <a:t>•  그룹 전손 시 INACTIVE는 CLEAR로, CURRENT는 손실을 각오</a:t>
            </a:r>
          </a:p>
          <a:p>
            <a:pPr>
              <a:spcAft>
                <a:spcPts val="600"/>
              </a:spcAft>
            </a:pPr>
            <a:r>
              <a:rPr sz="1800" b="0">
                <a:solidFill>
                  <a:srgbClr val="202830"/>
                </a:solidFill>
                <a:latin typeface="Malgun Gothic"/>
                <a:ea typeface="Malgun Gothic"/>
              </a:rPr>
              <a:t>•  마지막 종료 방식이 같은 상태에서도 결과를 바꾼다</a:t>
            </a:r>
          </a:p>
          <a:p>
            <a:pPr>
              <a:spcAft>
                <a:spcPts val="600"/>
              </a:spcAft>
            </a:pPr>
            <a:r>
              <a:rPr sz="1800" b="0">
                <a:solidFill>
                  <a:srgbClr val="202830"/>
                </a:solidFill>
                <a:latin typeface="Malgun Gothic"/>
                <a:ea typeface="Malgun Gothic"/>
              </a:rPr>
              <a:t>•  리두와 CF 동시 손상은 RESETLOGS 형식으로 재생성</a:t>
            </a:r>
          </a:p>
          <a:p>
            <a:pPr>
              <a:spcAft>
                <a:spcPts val="600"/>
              </a:spcAft>
            </a:pPr>
            <a:r>
              <a:rPr sz="1800" b="0">
                <a:solidFill>
                  <a:srgbClr val="202830"/>
                </a:solidFill>
                <a:latin typeface="Malgun Gothic"/>
                <a:ea typeface="Malgun Gothic"/>
              </a:rPr>
              <a:t>•  백업 CF와 구조 불일치는 UNNAMED로 드러나며 예방이 답</a:t>
            </a:r>
          </a:p>
          <a:p>
            <a:pPr>
              <a:spcAft>
                <a:spcPts val="600"/>
              </a:spcAft>
            </a:pPr>
            <a:r>
              <a:rPr sz="1800" b="0">
                <a:solidFill>
                  <a:srgbClr val="202830"/>
                </a:solidFill>
                <a:latin typeface="Malgun Gothic"/>
                <a:ea typeface="Malgun Gothic"/>
              </a:rPr>
              <a:t>•  복합 장애는 CF → 리두 → 데이터파일 순으로</a:t>
            </a:r>
          </a:p>
          <a:p>
            <a:pPr>
              <a:spcAft>
                <a:spcPts val="600"/>
              </a:spcAft>
            </a:pPr>
            <a:r>
              <a:rPr sz="1800" b="0">
                <a:solidFill>
                  <a:srgbClr val="202830"/>
                </a:solidFill>
                <a:latin typeface="Malgun Gothic"/>
                <a:ea typeface="Malgun Gothic"/>
              </a:rPr>
              <a:t>•  시도 전 사본 확보 — CLEAR와 RESETLOGS는 되돌릴 수 없다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7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7-1  정상 종료 후 리두 로그와 컨트롤파일 동시 손상</a:t>
            </a:r>
          </a:p>
          <a:p>
            <a:pPr>
              <a:spcAft>
                <a:spcPts val="600"/>
              </a:spcAft>
            </a:pPr>
            <a:r>
              <a:rPr sz="1800" b="0">
                <a:solidFill>
                  <a:srgbClr val="202830"/>
                </a:solidFill>
                <a:latin typeface="Malgun Gothic"/>
                <a:ea typeface="Malgun Gothic"/>
              </a:rPr>
              <a:t>•  실습 7-2  비정상 종료 후 리두 로그와 컨트롤파일 동시 손상</a:t>
            </a:r>
          </a:p>
          <a:p>
            <a:pPr>
              <a:spcAft>
                <a:spcPts val="600"/>
              </a:spcAft>
            </a:pPr>
            <a:r>
              <a:rPr sz="1800" b="0">
                <a:solidFill>
                  <a:srgbClr val="202830"/>
                </a:solidFill>
                <a:latin typeface="Malgun Gothic"/>
                <a:ea typeface="Malgun Gothic"/>
              </a:rPr>
              <a:t>•  실습 7-3  백업 컨트롤파일과 현재 구조 불일치</a:t>
            </a:r>
          </a:p>
          <a:p>
            <a:pPr>
              <a:spcAft>
                <a:spcPts val="600"/>
              </a:spcAft>
            </a:pPr>
            <a:r>
              <a:rPr sz="1800" b="0">
                <a:solidFill>
                  <a:srgbClr val="202830"/>
                </a:solidFill>
                <a:latin typeface="Malgun Gothic"/>
                <a:ea typeface="Malgun Gothic"/>
              </a:rPr>
              <a:t>•  실습 7-4  정상 종료 후 INACTIVE 로그 파일 삭제</a:t>
            </a:r>
          </a:p>
          <a:p>
            <a:pPr>
              <a:spcAft>
                <a:spcPts val="600"/>
              </a:spcAft>
            </a:pPr>
            <a:r>
              <a:rPr sz="1800" b="0">
                <a:solidFill>
                  <a:srgbClr val="202830"/>
                </a:solidFill>
                <a:latin typeface="Malgun Gothic"/>
                <a:ea typeface="Malgun Gothic"/>
              </a:rPr>
              <a:t>•  실습 7-5  INACTIVE 로그 파일 삭제 후 비정상 종료</a:t>
            </a:r>
          </a:p>
          <a:p>
            <a:pPr>
              <a:spcAft>
                <a:spcPts val="600"/>
              </a:spcAft>
            </a:pPr>
            <a:r>
              <a:rPr sz="1800" b="0">
                <a:solidFill>
                  <a:srgbClr val="202830"/>
                </a:solidFill>
                <a:latin typeface="Malgun Gothic"/>
                <a:ea typeface="Malgun Gothic"/>
              </a:rPr>
              <a:t>•  실습 7-6  CURRENT 리두 로그 파일 삭제</a:t>
            </a:r>
          </a:p>
          <a:p>
            <a:pPr>
              <a:spcAft>
                <a:spcPts val="600"/>
              </a:spcAft>
            </a:pPr>
            <a:r>
              <a:rPr sz="1800" b="0">
                <a:solidFill>
                  <a:srgbClr val="202830"/>
                </a:solidFill>
                <a:latin typeface="Malgun Gothic"/>
                <a:ea typeface="Malgun Gothic"/>
              </a:rPr>
              <a:t>•  모든 실습에 오류 발생과 수정 과정이 최소 한 번 포함</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각 실습 전 Cold Backup과 컨트롤파일 Binary·trace 백업을 모두 새로 받아 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
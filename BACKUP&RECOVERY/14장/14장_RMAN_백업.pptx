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13장에서 만든 설정과 카탈로그가 이 장 실습의 전제다. 14장은 백업만 다루고 복구는 15장에서 다룬다. 3장의 User Managed 백업과 대응시켜 읽으면 차이가 분명해진다. 명령 자체는 단순하지만 선택지가 많아 판단 기준을 세우는 것이 이 장의 목표다. 실습이 여덟 개이므로 이론은 압축하고 실습에 시간을 배분한다. 실습이 여덟 개이므로 이론은 압축하고 실습에 시간을 배분한다. 13장 설정이 그대로 있어야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선택지는 모두 무언가를 맞바꾼다. 압축은 CPU와, 이미지 카피는 디스크와, 증분은 복구 시간과 맞바꾼다. 무엇을 얻고 무엇을 내주는지 판단하는 것이 목표다. 여섯 목표는 각각 14.1 / 14.2~14.3 / 14.4 / 14.5 / 14.6 / 14.7 절과 대응된다. 선택지가 많아 보이지만 판단 기준은 복구 시간과 저장 공간 둘뿐이라는 점을 먼저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절이 기본 백업을, 뒤의 세 절이 최적화와 검증을 다룬다. 14.4절과 14.5절이 이 장의 핵심이며 복구 시간과 직결된다. 14.7절의 검증은 백업이 돌고 있다는 것과 쓸 수 있다는 것이 다르다는 점을 다룬다. 각 절이 요건을 구성으로 옮기는 과정이므로 순서를 지켜 진행한다. 14.4와 14.5가 이 장의 핵심이다. 실습은 여덟 개이며 절 순서를 그대로 따른다.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14.1절은 선택지를 정리한다. 형식이 두 가지, 범위가 다섯 가지쯤 되고 온라인 여부까지 조합되면 경우의 수가 많아 보인다. 그러나 판단 기준은 단순하다. 복구 시간을 줄일 것인가 저장 공간을 줄일 것인가다. 이 기준으로 대부분의 선택이 정해진다. 이 기준으로 대부분의 선택이 정해지므로 절 초반에 먼저 세워 둔다. 나머지는 세부 조정이다. 형식과 범위, 온라인 여부까지 조합해도 결국 두 축이다.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시간을 최우선으로 두고 디스크가 넉넉하면 이미지 카피가 유리하다. 디스크가 빠듯하거나 장기 보관이 목적이면 백업 세트가 맞는다. 두 방식을 함께 쓰는 구성도 흔하다. 최근 며칠은 이미지 카피로 즉시 복구를 보장하고 장기 보관은 압축 백업 세트로 두는 식이다. 최근 며칠은 카피로 즉시 복구를 보장하고 장기 보관은 압축 백업 세트로 두는 구성이 흔하다. 두 방식을 함께 쓰는 이중 구성이 실무에서 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리두의 보존은 아카이브와 다중화로 해결하는 것이 원칙이라는 점을 다시 확인한다. 임시 파일이 자동으로 재생성된다는 점은 실무에서 크게 체감된다. User Managed 복구에서 매번 수행하던 ADD TEMPFILE 단계가 사라지기 때문이다. 12장까지의 실습에서 매번 반복하던 마무리 작업 하나가 없어지는 셈이다. 12장까지 매번 반복하던 마무리 작업 하나가 없어지는 셈이다.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큰 변화는 백업 모드 전환이 사라진 것이다. END BACKUP 을 잊어 리두가 폭증하는 3장의 대표적 사고가 원천적으로 없어진다. 백업 중 장애가 나도 파일이 백업 모드로 남지 않으므로 오픈이 막히지 않는다. 빈 블록을 건너뛴다는 점도 크게 체감되지만 이미지 카피에는 해당하지 않는다. 3장을 다시 펼쳐 대조하며 설명하면 차이가 더 분명해진다. 사고 유형 하나가 사라진 셈이다.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14.2절은 가장 기본이 되는 명령을 다룬다. 명령은 한 줄이지만 로그에서 읽어야 할 것이 많다. 채널이 몇 개 떴는지, 어느 파일이 어느 세트에 들어갔는지, 자동 백업이 이어졌는지를 확인한다. PLUS ARCHIVELOG의 내부 동작 순서를 이해하면 12장의 백업 보관 원칙과 연결된다. 명령은 한 줄이지만 로그에서 읽어야 할 것이 많다는 점을 먼저 강조하고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채널이 두 개 떴다면 병렬도 설정이 반영된 것이다. 데이터파일이 채널에 분배되어 각각 별도의 백업 세트로 만들어진다. 마지막의 자동 백업 구간이 보이지 않으면 CONTROLFILE AUTOBACKUP이 꺼져 있는 것이다. 이 세 가지를 매번 확인하는 습관을 들인다. 이 세 가지를 매번 확인하는 습관을 들이도록 지도한다. 자동 백업 구간이 없으면 설정을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12장에서 강조한 백업본과 아카이브의 짝 보관이 한 명령으로 처리되는 셈이다. 12-7 실습에서 Hot Backup만 있고 아카이브가 없어 ORA-01195로 열리지 않았던 상황을 떠올리면 ④단계의 가치가 분명해진다. DELETE INPUT 을 함께 쓰면 백업된 아카이브를 원본 위치에서 지워 공간을 확보하며, 삭제는 백업이 성공한 뒤에만 일어나므로 안전하다. 12-7 실습의 ORA-01195 장면과 연결하면 이해가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병렬도는 실제 소요 시간을 측정하며 조정하는 수밖에 없다. v$rman_backup_job_details 의 elapsed_seconds 와 input_bytes 로 처리량을 계산해 비교한다. 디스크가 병목이면 채널을 늘려도 처리량이 늘지 않으며 오히려 경합으로 느려질 수 있다. 채널별로 다른 디스크에 쓰도록 FORMAT을 나누는 것이 효과적인 경우가 많다. 채널별로 다른 디스크에 쓰도록 FORMAT을 나누는 것이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14.3절은 전체 백업이 부담스러운 환경의 선택지를 다룬다. 요일별로 테이블스페이스를 나눠 순환 백업하는 방식이 흔하다. 아카이브 백업과 삭제 정책은 함께 다뤄야 하며 삭제 조건을 스크립트가 아니라 정책으로 표현하는 것이 왜 중요한지 사례로 확인한다. 요일별 순환 백업 구성 사례를 함께 소개하면 이해가 빠르다. 삭제 정책은 사례로 설명한다. 전체 백업이 부담스러운 환경의 선택지를 모아 둔 절이다.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BACKED UP SINCE TIME 은 중단된 백업을 이어받을 때 유용하다. 이미 백업된 파일을 건너뛰므로 처음부터 다시 하지 않아도 된다. 야간 백업이 시간을 넘겨 중단된 다음 날 아침에 이 옵션으로 나머지만 받는 식으로 쓴다. BACKUP OPTIMIZATION 설정으로 같은 효과를 상시 적용할 수도 있다. 야간 백업이 중단된 다음 날 아침에 쓰는 옵션이라고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디스크가 자주 차서 백업 후 무조건 삭제하도록 스크립트를 만든 조직이 있었다. 그런데 Data Guard 대기 데이터베이스가 아직 받아 가지 않은 아카이브까지 지워져 대기 데이터베이스 재구성이 필요해졌다. 삭제 정책은 이런 조건을 함께 판단한다. 삭제 조건을 스크립트가 아니라 정책으로 표현해야 하는 이유다. 삭제 조건을 정책으로 표현해야 하는 이유를 사례로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FOREVER는 컨트롤파일 기록으로 관리할 수 없어 카탈로그가 필요하다. 기록 수명이 지나면 컨트롤파일에서 그 백업의 존재가 사라지기 때문이다. 13장에서 카탈로그가 유리한 경우로 든 항목 중 하나가 바로 이것이다. 장기 보관 요건이 있으면 카탈로그 도입을 함께 검토한다. 장기 보관 요건이 있으면 카탈로그 도입을 함께 검토한다. 13장의 판단 기준과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14.4절이 이 장에서 가장 실무적인 절이다. 증분 백업은 백업 창을 줄이는 대표적 수단이지만 잘못 구성하면 이득이 거의 없다. FULL과 Level 0의 차이, BCT의 유무가 그 갈림길이다. 두 가지를 놓치면 매일 전체를 읽고 전체를 담는 백업이 되어 버린다. 두 가지를 놓치면 증분의 이점이 사라진다는 점을 절 초반에 먼저 말하고 시작한다. 이 장에서 가장 실무적인 절이므로 시간을 넉넉히 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0과 전체 백업은 담기는 내용이 같지만 성격이 다르다. FULL은 증분 체계에 참여하지 않으므로 이후 Level 1의 기준이 되지 못한다. 이 차이를 모르고 주간 백업을 FULL로 받으면 매일의 Level 1이 기준을 찾지 못해 사실상 전체를 담게 된다. LIST 출력의 LV 컬럼으로 실제로 어떻게 받아지고 있는지 확인하는 습관이 필요하다. LIST 출력의 LV 컬럼으로 실제 상태를 확인하는 습관이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시간을 줄여야 하면 누적이 유리하고 백업 창이 짧고 디스크가 빠듯하면 차등이 맞는다. 주중에는 차등, 주말에는 누적처럼 섞어 쓰는 구성도 흔하다. 증분 개수가 많을수록 복구가 길어지므로 Level 0 주기도 함께 정한다. 차등을 매일 받고 Level 0을 한 달에 한 번만 받으면 적용할 것이 서른 개가 된다. Level 0 주기가 복구 시간을 좌우한다는 점을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BCT 없이 증분 백업을 돌리면 백업 크기만 줄고 시간은 그대로다. 어느 블록이 변경되었는지 확인하려고 전체를 읽어야 하기 때문이다. read_ratio가 1에 가까우면 BCT가 동작하지 않는 것이다. 활성화 직후의 첫 Level 1은 아직 기록이 없어 전체를 읽는다는 점도 기억한다. 파일 크기는 데이터베이스의 1/30000 정도이며 최소 10MB다. 실습 14-4에서 read_ratio를 직접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카피에 증분을 적용해 최신 상태로 유지하는 방식이다. 카피가 하루씩 앞으로 나아가므로 복구 시 SWITCH로 즉시 전환한 뒤 하루치 아카이브만 적용하면 현재 시점까지 온다. 대가는 디스크다. 데이터베이스 크기만큼의 공간이 상시 필요하다. 복구 시간과 디스크를 맞바꾸는 전형적인 선택이며 대형 환경에서 널리 쓰인다. 대형 환경에서 널리 쓰이는 구성이므로 개념을 정확히 잡아 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14.5절은 복구 시간을 극단적으로 줄이는 방법을 다룬다. 이미지 카피는 데이터파일과 형식이 같으므로 복원할 필요 없이 그 파일을 쓰도록 전환하면 된다. 500GB 데이터베이스에서 40분 걸리던 복원이 수 초로 줄어든다. 그 대가로 원본과 같은 크기의 디스크가 필요하다. 500GB에서 40분이 수 초로 줄어드는 장면을 강조한다. 대가는 원본과 같은 크기의 디스크다.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SWITCH는 파일을 옮기는 것이 아니라 컨트롤파일에 기록된 경로를 바꾸는 것이다. 그래서 크기와 무관하게 즉시 끝난다. 전환 후에는 그 경로가 정식 데이터파일 위치가 되므로 백업 위치가 성능이 낮은 디스크라면 임시 조치로만 쓰고 나중에 정리한다. 원래 경로로 되돌리려면 다시 카피를 만들어 SWITCH 하거나 복원해야 한다. 전환 후 정리 작업이 필요하다는 점을 반드시 함께 말한다.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시간 목표가 촘촘하면 이미지 카피가 답이 된다. 증분 갱신 백업과 결합하면 디스크 부담을 유지한 채 최신 상태를 유지할 수 있다. 다만 장기 보관에는 맞지 않으므로 보관용 백업 세트를 함께 운용하는 이중 구성이 실무에서 흔하다. 최근 며칠은 카피로, 그 이전은 압축 백업 세트로 두는 식이다. 최근 며칠은 카피, 이전은 압축 백업 세트인 이중 구성을 소개한다.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14.6절은 부가 옵션을 다룬다. 모두 무언가를 얻고 무언가를 내주는 선택이다. 압축은 저장 공간을 얻고 CPU와 시간을 내준다. 암호화는 안전을 얻고 관리 부담을 진다. CPU 여유가 없는 시간대라면 압축이 오히려 백업 창을 넘기게 만들 수 있다. 모두 무언가를 얻고 무언가를 내주는 선택이라는 틀로 설명하면 정리가 쉽다. 압축은 CPU와, 암호화는 관리 부담과 맞바꾼다.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방식은 비밀번호를 잃으면 백업을 열 수 없으며 우회 방법이 없다. 외부 반출용 백업을 비밀번호로 암호화했는데 담당자가 퇴사하며 인수인계 문서에 남지 않아 몇 달 뒤 복원할 수 없었던 사례가 있다. 암호화는 복원 절차의 일부이므로 비밀번호도 복구 절차서에 포함해야 한다. 운영에서는 지갑 기반 투명 방식이 관리하기 쉽다. 비밀번호도 복구 절차서에 포함해야 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DURATION은 백업 창이 정해진 환경에서 유용하다. MINIMIZE LOAD는 주어진 시간을 채우며 부하를 낮추므로 업무 영향이 줄어든다. 야간 배치와 백업이 겹치는 환경에서 특히 효과적이다. MAXSETSIZE와 MAXPIECESIZE를 혼동하지 않는다. 전자는 백업 세트, 후자는 조각의 크기이며 MAXSETSIZE보다 큰 데이터파일이 있으면 백업 자체가 실패한다. MAXSETSIZE와 MAXPIECESIZE의 차이를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14.7절은 백업이 돌고 있다는 것과 쓸 수 있다는 것이 다르다는 점을 다룬다. 세 명령 모두 실제 작업을 수행하지 않고 확인만 한다. 정기 점검에 넣어 두면 복원 시점에야 드러나는 문제를 미리 발견할 수 있다. 정기 점검에 넣어 두면 복원 시점에야 드러나는 문제를 미리 발견할 수 있다는 점이 요지다. 세 명령 모두 실제 작업을 수행하지 않고 확인만 한다는 점이 공통이다.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VALIDATE는 대상을 검사하고 BACKUP VALIDATE는 백업 가능성을 확인하며 RESTORE PREVIEW는 복원 계획을 보여 준다. 손상이 발견되면 v$database_block_corruption 에 기록되고 16장에서 이 정보를 이용한 블록 단위 복구를 다룬다. RESTORE PREVIEW는 복구 계획을 세울 때 가장 먼저 쓰는 명령이다. 16장의 블록 손상 복구와 연결되는 지점이라고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가장 중요하다. 앞의 점검이 모두 통과해도 실제 복원을 해 보지 않으면 확신할 수 없다. 12장에서 다룬 복구 훈련을 RMAN 환경에서도 그대로 수행한다. 측정 항목도 같다. 소요 시간, 절차서만으로 완료했는지, 손실이 예상 범위였는지다. 이 표를 백업 운영 절차서의 점검 장에 그대로 넣을 수 있다. 이 표를 백업 운영 절차서의 점검 장에 그대로 넣을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후 확인할 것은 세 가지다. 백업 세트가 만들어졌는지, 모든 파일이 포함되었는지, 소요 시간이 평소와 비슷한지다. v$rman_backup_job_details 로 이력을 관리하면 소요 시간이 갑자기 늘었을 때 원인을 찾는 출발점이 된다. 입력 대비 출력 비율로 압축 효과도 확인할 수 있다. 이 조회를 백업 스크립트 마지막에 붙여 로그에 남기는 구성이 유용하다. 이 조회를 백업 스크립트 마지막에 붙여 로그에 남기면 이력 관리가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요건을 먼저 정하면 구성이 따라 나온다는 점을 보여 주는 표다. 백업 창이 부족한지, 복구 시간이 촘촘한지, 디스크가 넉넉한지가 갈림길이다. 어느 구성을 택하든 아래의 공통 원칙 네 가지는 그대로 지켜야 한다. 특히 두 번째는 12장에서 Hot Backup이 무용지물이 되었던 사례의 교훈이며 PLUS ARCHIVELOG로 자동화할 수 있다. 요건을 먼저 정하면 구성이 따라 나온다는 점을 강조한다. 공통 원칙 네 가지는 예외가 없다.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담기는 내용은 같지만 FULL은 증분 체계에 참여하지 않는다. 증분을 쓰려면 반드시 Level 0으로 받아야 이후 Level 1의 기준이 된다. 이 차이를 모르면 매일의 Level 1이 사실상 전체를 담게 되어 증분의 이점이 사라진다. 주간 백업을 FULL로 받는 흔한 실수를 예로 든다. LV 컬럼으로 확인하는 습관이 필요하다. 담기는 내용이 같아 더 헷갈리는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v$backup_datafile 의 blocks_read 와 blocks 비율로 확인할 수 있다. 비율이 1에 가까우면 BCT가 동작하지 않는 것이다. 증분 백업을 도입하면서 BCT를 켜지 않아 시간 이득을 얻지 못하는 환경이 실무에서 자주 발견된다. 증분을 도입하면서 BCT를 켜지 않아 시간 이득을 얻지 못하는 환경이 자주 발견된다. 활성화 직후 첫 Level 1은 전체를 읽는다는 점도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그 결과 이 백업 세트만으로 일관성 있는 복구가 가능해진다. 12장에서 강조한 백업본과 아카이브의 짝 보관이 한 명령으로 처리되는 셈이다. 12-7 실습에서 아카이브가 없어 Hot Backup이 열리지 않았던 상황과 연결해 이해한다. 12-7 실습의 ORA-01195 장면과 연결해 설명하면 기억에 오래 남는다. 백업본과 아카이브를 짝으로 확보하는 원칙과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14.7절의 요지다. VALIDATE와 RESTORE PREVIEW로 정기 점검하고 반기마다 실제 복원을 훈련한다. 이 장의 선택지는 모두 무언가를 맞바꾸므로 환경의 제약이 무엇인지부터 정하면 선택이 쉬워진다. 다음 장에서는 여기서 만든 백업으로 실제 복구 시나리오를 수행한다. 환경의 제약이 무엇인지부터 정하면 선택이 쉬워진다. 다음 장에서 이 백업으로 복구한다.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실습이 이 장의 절 순서를 그대로 따른다. 14-3과 14-4는 이어서 수행해야 BCT의 효과가 수치로 드러나므로 시간을 붙여 배치한다. 14-5의 SWITCH는 복원 시간이 사실상 0이 되는 장면이라 인상이 강하다. 14-7에서는 비밀번호 없이 복원을 시도해 실패를 확인한다. 14-3과 14-4를 이어서 수행해야 BCT 효과가 수치로 드러난다. 시간을 붙여 배치한다.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제14장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RMAN 백업 — Full·Incremental·Image Copy·암호화</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백업 형식 · 전체와 부분 · 증분과 BCT · 이미지 카피와 SWITCH · 압축과 암호화 · 검증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백업 형식과 범위를 구분하고 상황에 맞게 선택한다</a:t>
            </a:r>
          </a:p>
          <a:p>
            <a:pPr>
              <a:spcAft>
                <a:spcPts val="600"/>
              </a:spcAft>
            </a:pPr>
            <a:r>
              <a:rPr sz="1600" b="0">
                <a:solidFill>
                  <a:srgbClr val="5A6672"/>
                </a:solidFill>
                <a:latin typeface="Malgun Gothic"/>
                <a:ea typeface="Malgun Gothic"/>
              </a:rPr>
              <a:t>    –  전체 백업과 부분 백업을 수행하고 결과를 확인한다</a:t>
            </a:r>
          </a:p>
          <a:p>
            <a:pPr>
              <a:spcAft>
                <a:spcPts val="600"/>
              </a:spcAft>
            </a:pPr>
            <a:r>
              <a:rPr sz="1600" b="0">
                <a:solidFill>
                  <a:srgbClr val="5A6672"/>
                </a:solidFill>
                <a:latin typeface="Malgun Gothic"/>
                <a:ea typeface="Malgun Gothic"/>
              </a:rPr>
              <a:t>    –  증분 백업의 두 방식을 구분하고 BCT를 적용한다</a:t>
            </a:r>
          </a:p>
          <a:p>
            <a:pPr>
              <a:spcAft>
                <a:spcPts val="600"/>
              </a:spcAft>
            </a:pPr>
            <a:r>
              <a:rPr sz="1600" b="0">
                <a:solidFill>
                  <a:srgbClr val="5A6672"/>
                </a:solidFill>
                <a:latin typeface="Malgun Gothic"/>
                <a:ea typeface="Malgun Gothic"/>
              </a:rPr>
              <a:t>    –  이미지 카피와 SWITCH로 복구 시간을 단축한다</a:t>
            </a:r>
          </a:p>
          <a:p>
            <a:pPr>
              <a:spcAft>
                <a:spcPts val="600"/>
              </a:spcAft>
            </a:pPr>
            <a:r>
              <a:rPr sz="1600" b="0">
                <a:solidFill>
                  <a:srgbClr val="5A6672"/>
                </a:solidFill>
                <a:latin typeface="Malgun Gothic"/>
                <a:ea typeface="Malgun Gothic"/>
              </a:rPr>
              <a:t>    –  압축과 암호화를 적용하고 그 대가를 판단한다</a:t>
            </a:r>
          </a:p>
          <a:p>
            <a:pPr>
              <a:spcAft>
                <a:spcPts val="600"/>
              </a:spcAft>
            </a:pPr>
            <a:r>
              <a:rPr sz="1600" b="0">
                <a:solidFill>
                  <a:srgbClr val="5A6672"/>
                </a:solidFill>
                <a:latin typeface="Malgun Gothic"/>
                <a:ea typeface="Malgun Gothic"/>
              </a:rPr>
              <a:t>    –  백업 전에 대상과 백업본을 검증한다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14.1  백업의 종류와 선택 기준 — 형식 · 범위 · 온라인 · 태그 · 3장 대응</a:t>
            </a:r>
          </a:p>
          <a:p>
            <a:pPr>
              <a:spcAft>
                <a:spcPts val="600"/>
              </a:spcAft>
            </a:pPr>
            <a:r>
              <a:rPr sz="1800" b="0">
                <a:solidFill>
                  <a:srgbClr val="202830"/>
                </a:solidFill>
                <a:latin typeface="Malgun Gothic"/>
                <a:ea typeface="Malgun Gothic"/>
              </a:rPr>
              <a:t>•  14.2  전체 백업 — BACKUP DATABASE · PLUS ARCHIVELOG · 채널 · 결과 확인</a:t>
            </a:r>
          </a:p>
          <a:p>
            <a:pPr>
              <a:spcAft>
                <a:spcPts val="600"/>
              </a:spcAft>
            </a:pPr>
            <a:r>
              <a:rPr sz="1800" b="0">
                <a:solidFill>
                  <a:srgbClr val="202830"/>
                </a:solidFill>
                <a:latin typeface="Malgun Gothic"/>
                <a:ea typeface="Malgun Gothic"/>
              </a:rPr>
              <a:t>•  14.3  부분 백업 — TS/DF 단위 · 아카이브 · 컨트롤파일 · 장기 보관</a:t>
            </a:r>
          </a:p>
          <a:p>
            <a:pPr>
              <a:spcAft>
                <a:spcPts val="600"/>
              </a:spcAft>
            </a:pPr>
            <a:r>
              <a:rPr sz="1800" b="0">
                <a:solidFill>
                  <a:srgbClr val="202830"/>
                </a:solidFill>
                <a:latin typeface="Malgun Gothic"/>
                <a:ea typeface="Malgun Gothic"/>
              </a:rPr>
              <a:t>•  14.4  증분 백업 — Level 0/1 · 차등과 누적 · BCT · 증분 갱신</a:t>
            </a:r>
          </a:p>
          <a:p>
            <a:pPr>
              <a:spcAft>
                <a:spcPts val="600"/>
              </a:spcAft>
            </a:pPr>
            <a:r>
              <a:rPr sz="1800" b="0">
                <a:solidFill>
                  <a:srgbClr val="202830"/>
                </a:solidFill>
                <a:latin typeface="Malgun Gothic"/>
                <a:ea typeface="Malgun Gothic"/>
              </a:rPr>
              <a:t>•  14.5  이미지 카피 — AS COPY · SWITCH · 복구 시간 비교</a:t>
            </a:r>
          </a:p>
          <a:p>
            <a:pPr>
              <a:spcAft>
                <a:spcPts val="600"/>
              </a:spcAft>
            </a:pPr>
            <a:r>
              <a:rPr sz="1800" b="0">
                <a:solidFill>
                  <a:srgbClr val="202830"/>
                </a:solidFill>
                <a:latin typeface="Malgun Gothic"/>
                <a:ea typeface="Malgun Gothic"/>
              </a:rPr>
              <a:t>•  14.6  압축·암호화·크기 조정 · 14.7 검증</a:t>
            </a:r>
          </a:p>
          <a:p>
            <a:pPr>
              <a:spcAft>
                <a:spcPts val="600"/>
              </a:spcAft>
            </a:pPr>
            <a:r>
              <a:rPr sz="1800" b="0">
                <a:solidFill>
                  <a:srgbClr val="202830"/>
                </a:solidFill>
                <a:latin typeface="Malgun Gothic"/>
                <a:ea typeface="Malgun Gothic"/>
              </a:rPr>
              <a:t>•  14.8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13장 실습을 마친 상태여야 이 장 실습이 그대로 진행된다.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백업의 종류와 선택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 세트와 이미지 카피</a:t>
            </a:r>
          </a:p>
          <a:p>
            <a:pPr>
              <a:spcAft>
                <a:spcPts val="600"/>
              </a:spcAft>
            </a:pPr>
            <a:r>
              <a:rPr sz="1600" b="0">
                <a:solidFill>
                  <a:srgbClr val="C5CED6"/>
                </a:solidFill>
                <a:latin typeface="Malgun Gothic"/>
                <a:ea typeface="Malgun Gothic"/>
              </a:rPr>
              <a:t>•  무엇을 백업하고 무엇을 백업하지 않는가</a:t>
            </a:r>
          </a:p>
          <a:p>
            <a:pPr>
              <a:spcAft>
                <a:spcPts val="600"/>
              </a:spcAft>
            </a:pPr>
            <a:r>
              <a:rPr sz="1600" b="0">
                <a:solidFill>
                  <a:srgbClr val="C5CED6"/>
                </a:solidFill>
                <a:latin typeface="Malgun Gothic"/>
                <a:ea typeface="Malgun Gothic"/>
              </a:rPr>
              <a:t>•  ARCHIVELOG 모드에서는 백업 모드 전환이 없다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세트 vs 이미지 카피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무엇을 맞바꾸는가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백업 세트            | 이미지 카피</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형식          | RMAN 고유            | 데이터파일과 동일</a:t>
            </a:r>
          </a:p>
          <a:p>
            <a:pPr>
              <a:spcAft>
                <a:spcPts val="0"/>
              </a:spcAft>
            </a:pPr>
            <a:r>
              <a:rPr sz="1250" b="0">
                <a:solidFill>
                  <a:srgbClr val="E6E6E6"/>
                </a:solidFill>
                <a:latin typeface="Consolas"/>
                <a:ea typeface="Consolas"/>
              </a:rPr>
              <a:t>크기          | 사용 블록만 (작음)   | 원본과 동일</a:t>
            </a:r>
          </a:p>
          <a:p>
            <a:pPr>
              <a:spcAft>
                <a:spcPts val="0"/>
              </a:spcAft>
            </a:pPr>
            <a:r>
              <a:rPr sz="1250" b="0">
                <a:solidFill>
                  <a:srgbClr val="E6E6E6"/>
                </a:solidFill>
                <a:latin typeface="Consolas"/>
                <a:ea typeface="Consolas"/>
              </a:rPr>
              <a:t>묶음          | 여러 파일을 한 조각  | 파일 하나당 하나</a:t>
            </a:r>
          </a:p>
          <a:p>
            <a:pPr>
              <a:spcAft>
                <a:spcPts val="0"/>
              </a:spcAft>
            </a:pPr>
            <a:r>
              <a:rPr sz="1250" b="0">
                <a:solidFill>
                  <a:srgbClr val="E6E6E6"/>
                </a:solidFill>
                <a:latin typeface="Consolas"/>
                <a:ea typeface="Consolas"/>
              </a:rPr>
              <a:t>압축          | 가능                 | 불가</a:t>
            </a:r>
          </a:p>
          <a:p>
            <a:pPr>
              <a:spcAft>
                <a:spcPts val="0"/>
              </a:spcAft>
            </a:pPr>
            <a:r>
              <a:rPr sz="1250" b="0">
                <a:solidFill>
                  <a:srgbClr val="E6E6E6"/>
                </a:solidFill>
                <a:latin typeface="Consolas"/>
                <a:ea typeface="Consolas"/>
              </a:rPr>
              <a:t>복원 방식     | RESTORE 필요         | SWITCH로 즉시 전환</a:t>
            </a:r>
          </a:p>
          <a:p>
            <a:pPr>
              <a:spcAft>
                <a:spcPts val="0"/>
              </a:spcAft>
            </a:pPr>
            <a:r>
              <a:rPr sz="1250" b="0">
                <a:solidFill>
                  <a:srgbClr val="E6E6E6"/>
                </a:solidFill>
                <a:latin typeface="Consolas"/>
                <a:ea typeface="Consolas"/>
              </a:rPr>
              <a:t>복원 시간     | 파일 크기에 비례     | 거의 0</a:t>
            </a:r>
          </a:p>
          <a:p>
            <a:pPr>
              <a:spcAft>
                <a:spcPts val="0"/>
              </a:spcAft>
            </a:pPr>
            <a:r>
              <a:rPr sz="1250" b="0">
                <a:solidFill>
                  <a:srgbClr val="E6E6E6"/>
                </a:solidFill>
                <a:latin typeface="Consolas"/>
                <a:ea typeface="Consolas"/>
              </a:rPr>
              <a:t>디스크 요구   | 작음                 | 원본과 같은 크기</a:t>
            </a:r>
          </a:p>
          <a:p>
            <a:pPr>
              <a:spcAft>
                <a:spcPts val="0"/>
              </a:spcAft>
            </a:pPr>
            <a:r>
              <a:rPr sz="1250" b="0">
                <a:solidFill>
                  <a:srgbClr val="E6E6E6"/>
                </a:solidFill>
                <a:latin typeface="Consolas"/>
                <a:ea typeface="Consolas"/>
              </a:rPr>
              <a:t>기본값        | 예                   | AS COPY 지정 필요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범위와 제외 대상</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DATABASE / TABLESPACE / DATAFILE / ARCHIVELOG</a:t>
            </a:r>
          </a:p>
          <a:p>
            <a:pPr>
              <a:spcAft>
                <a:spcPts val="600"/>
              </a:spcAft>
            </a:pPr>
            <a:r>
              <a:rPr sz="1800" b="0">
                <a:solidFill>
                  <a:srgbClr val="202830"/>
                </a:solidFill>
                <a:latin typeface="Malgun Gothic"/>
                <a:ea typeface="Malgun Gothic"/>
              </a:rPr>
              <a:t>•  CURRENT CONTROLFILE / SPFILE 개별 지정 가능</a:t>
            </a:r>
          </a:p>
          <a:p>
            <a:pPr>
              <a:spcAft>
                <a:spcPts val="600"/>
              </a:spcAft>
            </a:pPr>
            <a:r>
              <a:rPr sz="1800" b="0">
                <a:solidFill>
                  <a:srgbClr val="202830"/>
                </a:solidFill>
                <a:latin typeface="Malgun Gothic"/>
                <a:ea typeface="Malgun Gothic"/>
              </a:rPr>
              <a:t>•  BACKUP DATABASE가 담지 않는 것 둘</a:t>
            </a:r>
          </a:p>
          <a:p>
            <a:pPr>
              <a:spcAft>
                <a:spcPts val="600"/>
              </a:spcAft>
            </a:pPr>
            <a:r>
              <a:rPr sz="1600" b="0">
                <a:solidFill>
                  <a:srgbClr val="5A6672"/>
                </a:solidFill>
                <a:latin typeface="Malgun Gothic"/>
                <a:ea typeface="Malgun Gothic"/>
              </a:rPr>
              <a:t>    –  임시 파일 — 복구 후 자동으로 다시 만들어짐</a:t>
            </a:r>
          </a:p>
          <a:p>
            <a:pPr>
              <a:spcAft>
                <a:spcPts val="600"/>
              </a:spcAft>
            </a:pPr>
            <a:r>
              <a:rPr sz="1600" b="0">
                <a:solidFill>
                  <a:srgbClr val="5A6672"/>
                </a:solidFill>
                <a:latin typeface="Malgun Gothic"/>
                <a:ea typeface="Malgun Gothic"/>
              </a:rPr>
              <a:t>    –  온라인 리두 로그 — RMAN은 백업하지 않음</a:t>
            </a:r>
          </a:p>
          <a:p>
            <a:pPr>
              <a:spcAft>
                <a:spcPts val="600"/>
              </a:spcAft>
            </a:pPr>
            <a:r>
              <a:rPr sz="1800" b="0">
                <a:solidFill>
                  <a:srgbClr val="202830"/>
                </a:solidFill>
                <a:latin typeface="Malgun Gothic"/>
                <a:ea typeface="Malgun Gothic"/>
              </a:rPr>
              <a:t>•  리두를 백업하지 않는 이유</a:t>
            </a:r>
          </a:p>
          <a:p>
            <a:pPr>
              <a:spcAft>
                <a:spcPts val="600"/>
              </a:spcAft>
            </a:pPr>
            <a:r>
              <a:rPr sz="1600" b="0">
                <a:solidFill>
                  <a:srgbClr val="5A6672"/>
                </a:solidFill>
                <a:latin typeface="Malgun Gothic"/>
                <a:ea typeface="Malgun Gothic"/>
              </a:rPr>
              <a:t>    –  백업 시점의 리두는 곧 낡은 정보가 되어 복구에 쓸 수 없음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3장 User Managed 백업과의 대응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무엇이 사라졌는가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작업              | User Managed (3장)            | RMAN (14장)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Cold Backup       | SHUTDOWN 후 cp                | MOUNT 후 BACKUP</a:t>
            </a:r>
          </a:p>
          <a:p>
            <a:pPr>
              <a:spcAft>
                <a:spcPts val="0"/>
              </a:spcAft>
            </a:pPr>
            <a:r>
              <a:rPr sz="1250" b="0">
                <a:solidFill>
                  <a:srgbClr val="E6E6E6"/>
                </a:solidFill>
                <a:latin typeface="Consolas"/>
                <a:ea typeface="Consolas"/>
              </a:rPr>
              <a:t>Hot Backup 시작   | ALTER TABLESPACE BEGIN BACKUP | 불필요</a:t>
            </a:r>
          </a:p>
          <a:p>
            <a:pPr>
              <a:spcAft>
                <a:spcPts val="0"/>
              </a:spcAft>
            </a:pPr>
            <a:r>
              <a:rPr sz="1250" b="0">
                <a:solidFill>
                  <a:srgbClr val="E6E6E6"/>
                </a:solidFill>
                <a:latin typeface="Consolas"/>
                <a:ea typeface="Consolas"/>
              </a:rPr>
              <a:t>파일 복사         | cp -p                         | BACKUP 명령이 수행</a:t>
            </a:r>
          </a:p>
          <a:p>
            <a:pPr>
              <a:spcAft>
                <a:spcPts val="0"/>
              </a:spcAft>
            </a:pPr>
            <a:r>
              <a:rPr sz="1250" b="0">
                <a:solidFill>
                  <a:srgbClr val="E6E6E6"/>
                </a:solidFill>
                <a:latin typeface="Consolas"/>
                <a:ea typeface="Consolas"/>
              </a:rPr>
              <a:t>Hot Backup 종료   | ALTER TABLESPACE END BACKUP   | 불필요</a:t>
            </a:r>
          </a:p>
          <a:p>
            <a:pPr>
              <a:spcAft>
                <a:spcPts val="0"/>
              </a:spcAft>
            </a:pPr>
            <a:r>
              <a:rPr sz="1250" b="0">
                <a:solidFill>
                  <a:srgbClr val="E6E6E6"/>
                </a:solidFill>
                <a:latin typeface="Consolas"/>
                <a:ea typeface="Consolas"/>
              </a:rPr>
              <a:t>백업 모드 확인    | v$backup 조회                 | 불필요</a:t>
            </a:r>
          </a:p>
          <a:p>
            <a:pPr>
              <a:spcAft>
                <a:spcPts val="0"/>
              </a:spcAft>
            </a:pPr>
            <a:r>
              <a:rPr sz="1250" b="0">
                <a:solidFill>
                  <a:srgbClr val="E6E6E6"/>
                </a:solidFill>
                <a:latin typeface="Consolas"/>
                <a:ea typeface="Consolas"/>
              </a:rPr>
              <a:t>아카이브 확보     | ARCHIVE LOG CURRENT 수동      | PLUS ARCHIVELOG</a:t>
            </a:r>
          </a:p>
          <a:p>
            <a:pPr>
              <a:spcAft>
                <a:spcPts val="0"/>
              </a:spcAft>
            </a:pPr>
            <a:r>
              <a:rPr sz="1250" b="0">
                <a:solidFill>
                  <a:srgbClr val="E6E6E6"/>
                </a:solidFill>
                <a:latin typeface="Consolas"/>
                <a:ea typeface="Consolas"/>
              </a:rPr>
              <a:t>백업 목록 기록    | 매니페스트 수동 작성          | 리포지터리 자동</a:t>
            </a:r>
          </a:p>
          <a:p>
            <a:pPr>
              <a:spcAft>
                <a:spcPts val="0"/>
              </a:spcAft>
            </a:pPr>
            <a:r>
              <a:rPr sz="1250" b="0">
                <a:solidFill>
                  <a:srgbClr val="E6E6E6"/>
                </a:solidFill>
                <a:latin typeface="Consolas"/>
                <a:ea typeface="Consolas"/>
              </a:rPr>
              <a:t>빈 블록           | 그대로 복사                   | 건너뜀</a:t>
            </a:r>
          </a:p>
          <a:p>
            <a:pPr>
              <a:spcAft>
                <a:spcPts val="0"/>
              </a:spcAft>
            </a:pPr>
            <a:r>
              <a:rPr sz="1250" b="0">
                <a:solidFill>
                  <a:srgbClr val="E6E6E6"/>
                </a:solidFill>
                <a:latin typeface="Consolas"/>
                <a:ea typeface="Consolas"/>
              </a:rPr>
              <a:t>손상 블록 확인    | 불가                          | 백업 중 체크섬 검사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전체 백업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BACKUP DATABASE 하나로 끝난다</a:t>
            </a:r>
          </a:p>
          <a:p>
            <a:pPr>
              <a:spcAft>
                <a:spcPts val="600"/>
              </a:spcAft>
            </a:pPr>
            <a:r>
              <a:rPr sz="1600" b="0">
                <a:solidFill>
                  <a:srgbClr val="C5CED6"/>
                </a:solidFill>
                <a:latin typeface="Malgun Gothic"/>
                <a:ea typeface="Malgun Gothic"/>
              </a:rPr>
              <a:t>•  PLUS ARCHIVELOG가 구간 리두까지 확보한다</a:t>
            </a:r>
          </a:p>
          <a:p>
            <a:pPr>
              <a:spcAft>
                <a:spcPts val="600"/>
              </a:spcAft>
            </a:pPr>
            <a:r>
              <a:rPr sz="1600" b="0">
                <a:solidFill>
                  <a:srgbClr val="C5CED6"/>
                </a:solidFill>
                <a:latin typeface="Malgun Gothic"/>
                <a:ea typeface="Malgun Gothic"/>
              </a:rPr>
              <a:t>•  채널 수가 곧 병렬도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BACKUP DATABASE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로그에서 읽을 것</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Starting backup at 14-MAY-25</a:t>
            </a:r>
          </a:p>
          <a:p>
            <a:pPr>
              <a:spcAft>
                <a:spcPts val="0"/>
              </a:spcAft>
            </a:pPr>
            <a:r>
              <a:rPr sz="1250" b="0">
                <a:solidFill>
                  <a:srgbClr val="E6E6E6"/>
                </a:solidFill>
                <a:latin typeface="Consolas"/>
                <a:ea typeface="Consolas"/>
              </a:rPr>
              <a:t>allocated channel: ORA_DISK_1</a:t>
            </a:r>
          </a:p>
          <a:p>
            <a:pPr>
              <a:spcAft>
                <a:spcPts val="0"/>
              </a:spcAft>
            </a:pPr>
            <a:r>
              <a:rPr sz="1250" b="0">
                <a:solidFill>
                  <a:srgbClr val="E6E6E6"/>
                </a:solidFill>
                <a:latin typeface="Consolas"/>
                <a:ea typeface="Consolas"/>
              </a:rPr>
              <a:t>allocated channel: ORA_DISK_2</a:t>
            </a:r>
          </a:p>
          <a:p>
            <a:pPr>
              <a:spcAft>
                <a:spcPts val="0"/>
              </a:spcAft>
            </a:pPr>
            <a:r>
              <a:rPr sz="1250" b="0">
                <a:solidFill>
                  <a:srgbClr val="E6E6E6"/>
                </a:solidFill>
                <a:latin typeface="Consolas"/>
                <a:ea typeface="Consolas"/>
              </a:rPr>
              <a:t>channel ORA_DISK_1: starting full datafile backup set</a:t>
            </a:r>
          </a:p>
          <a:p>
            <a:pPr>
              <a:spcAft>
                <a:spcPts val="0"/>
              </a:spcAft>
            </a:pPr>
            <a:r>
              <a:rPr sz="1250" b="0">
                <a:solidFill>
                  <a:srgbClr val="E6E6E6"/>
                </a:solidFill>
                <a:latin typeface="Consolas"/>
                <a:ea typeface="Consolas"/>
              </a:rPr>
              <a:t>input datafile file number=00001 name=/u01/app/oracle/oradata/orcl/system01.dbf</a:t>
            </a:r>
          </a:p>
          <a:p>
            <a:pPr>
              <a:spcAft>
                <a:spcPts val="0"/>
              </a:spcAft>
            </a:pPr>
            <a:r>
              <a:rPr sz="1250" b="0">
                <a:solidFill>
                  <a:srgbClr val="E6E6E6"/>
                </a:solidFill>
                <a:latin typeface="Consolas"/>
                <a:ea typeface="Consolas"/>
              </a:rPr>
              <a:t>input datafile file number=00004 name=/u01/app/oracle/oradata/orcl/undotbs01.dbf</a:t>
            </a:r>
          </a:p>
          <a:p>
            <a:pPr>
              <a:spcAft>
                <a:spcPts val="0"/>
              </a:spcAft>
            </a:pPr>
            <a:r>
              <a:rPr sz="1250" b="0">
                <a:solidFill>
                  <a:srgbClr val="E6E6E6"/>
                </a:solidFill>
                <a:latin typeface="Consolas"/>
                <a:ea typeface="Consolas"/>
              </a:rPr>
              <a:t>channel ORA_DISK_2: starting full datafile backup set</a:t>
            </a:r>
          </a:p>
          <a:p>
            <a:pPr>
              <a:spcAft>
                <a:spcPts val="0"/>
              </a:spcAft>
            </a:pPr>
            <a:r>
              <a:rPr sz="1250" b="0">
                <a:solidFill>
                  <a:srgbClr val="E6E6E6"/>
                </a:solidFill>
                <a:latin typeface="Consolas"/>
                <a:ea typeface="Consolas"/>
              </a:rPr>
              <a:t>input datafile file number=00003 name=/u01/app/oracle/oradata/orcl/sysaux01.dbf</a:t>
            </a:r>
          </a:p>
          <a:p>
            <a:pPr>
              <a:spcAft>
                <a:spcPts val="0"/>
              </a:spcAft>
            </a:pPr>
            <a:r>
              <a:rPr sz="1250" b="0">
                <a:solidFill>
                  <a:srgbClr val="E6E6E6"/>
                </a:solidFill>
                <a:latin typeface="Consolas"/>
                <a:ea typeface="Consolas"/>
              </a:rPr>
              <a:t>piece handle=/home/oracle/rmanbk/ORCL_20250514_21_1.bkp</a:t>
            </a:r>
          </a:p>
          <a:p>
            <a:pPr>
              <a:spcAft>
                <a:spcPts val="0"/>
              </a:spcAft>
            </a:pPr>
            <a:r>
              <a:rPr sz="1250" b="0">
                <a:solidFill>
                  <a:srgbClr val="E6E6E6"/>
                </a:solidFill>
                <a:latin typeface="Consolas"/>
                <a:ea typeface="Consolas"/>
              </a:rPr>
              <a:t>Finished backup at 14-MAY-25</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Starting Control File and SPFILE Autobackup at 14-MAY-25</a:t>
            </a:r>
          </a:p>
          <a:p>
            <a:pPr>
              <a:spcAft>
                <a:spcPts val="0"/>
              </a:spcAft>
            </a:pPr>
            <a:r>
              <a:rPr sz="1250" b="0">
                <a:solidFill>
                  <a:srgbClr val="E6E6E6"/>
                </a:solidFill>
                <a:latin typeface="Consolas"/>
                <a:ea typeface="Consolas"/>
              </a:rPr>
              <a:t>piece handle=/home/oracle/rmanbk/cf_c-1200530011-20250514-03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PLUS ARCHIVELOG의 내부 동작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여섯 단계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DATABASE PLUS ARCHIVELOG;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① ALTER SYSTEM ARCHIVE LOG CURRENT   (현재 리두를 아카이브)</a:t>
            </a:r>
          </a:p>
          <a:p>
            <a:pPr>
              <a:spcAft>
                <a:spcPts val="0"/>
              </a:spcAft>
            </a:pPr>
            <a:r>
              <a:rPr sz="1250" b="0">
                <a:solidFill>
                  <a:srgbClr val="E6E6E6"/>
                </a:solidFill>
                <a:latin typeface="Consolas"/>
                <a:ea typeface="Consolas"/>
              </a:rPr>
              <a:t>② 아카이브 로그 백업</a:t>
            </a:r>
          </a:p>
          <a:p>
            <a:pPr>
              <a:spcAft>
                <a:spcPts val="0"/>
              </a:spcAft>
            </a:pPr>
            <a:r>
              <a:rPr sz="1250" b="0">
                <a:solidFill>
                  <a:srgbClr val="E6E6E6"/>
                </a:solidFill>
                <a:latin typeface="Consolas"/>
                <a:ea typeface="Consolas"/>
              </a:rPr>
              <a:t>③ 데이터파일 백업</a:t>
            </a:r>
          </a:p>
          <a:p>
            <a:pPr>
              <a:spcAft>
                <a:spcPts val="0"/>
              </a:spcAft>
            </a:pPr>
            <a:r>
              <a:rPr sz="1250" b="0">
                <a:solidFill>
                  <a:srgbClr val="E6E6E6"/>
                </a:solidFill>
                <a:latin typeface="Consolas"/>
                <a:ea typeface="Consolas"/>
              </a:rPr>
              <a:t>④ ALTER SYSTEM ARCHIVE LOG CURRENT   (백업 구간 리두를 아카이브)</a:t>
            </a:r>
          </a:p>
          <a:p>
            <a:pPr>
              <a:spcAft>
                <a:spcPts val="0"/>
              </a:spcAft>
            </a:pPr>
            <a:r>
              <a:rPr sz="1250" b="0">
                <a:solidFill>
                  <a:srgbClr val="E6E6E6"/>
                </a:solidFill>
                <a:latin typeface="Consolas"/>
                <a:ea typeface="Consolas"/>
              </a:rPr>
              <a:t>⑤ 새로 만들어진 아카이브 백업</a:t>
            </a:r>
          </a:p>
          <a:p>
            <a:pPr>
              <a:spcAft>
                <a:spcPts val="0"/>
              </a:spcAft>
            </a:pPr>
            <a:r>
              <a:rPr sz="1250" b="0">
                <a:solidFill>
                  <a:srgbClr val="E6E6E6"/>
                </a:solidFill>
                <a:latin typeface="Consolas"/>
                <a:ea typeface="Consolas"/>
              </a:rPr>
              <a:t>⑥ 컨트롤파일 자동 백업</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④단계가 핵심이다.</a:t>
            </a:r>
          </a:p>
          <a:p>
            <a:pPr>
              <a:spcAft>
                <a:spcPts val="0"/>
              </a:spcAft>
            </a:pPr>
            <a:r>
              <a:rPr sz="1250" b="0">
                <a:solidFill>
                  <a:srgbClr val="7EC699"/>
                </a:solidFill>
                <a:latin typeface="Consolas"/>
                <a:ea typeface="Consolas"/>
              </a:rPr>
              <a:t>-- 데이터파일 백업 구간의 리두가 아카이브로 만들어져 함께 백업된다.</a:t>
            </a:r>
          </a:p>
          <a:p>
            <a:pPr>
              <a:spcAft>
                <a:spcPts val="0"/>
              </a:spcAft>
            </a:pPr>
            <a:r>
              <a:rPr sz="1250" b="0">
                <a:solidFill>
                  <a:srgbClr val="7EC699"/>
                </a:solidFill>
                <a:latin typeface="Consolas"/>
                <a:ea typeface="Consolas"/>
              </a:rPr>
              <a:t>-- 이 백업 세트만으로 일관성 있는 복구가 가능해진다.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채널과 병렬 처리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채널 수 = 병렬도, 두 가지 지정 방법</a:t>
            </a:r>
          </a:p>
          <a:p>
            <a:pPr>
              <a:spcAft>
                <a:spcPts val="600"/>
              </a:spcAft>
            </a:pPr>
            <a:r>
              <a:rPr sz="1600" b="0">
                <a:solidFill>
                  <a:srgbClr val="5A6672"/>
                </a:solidFill>
                <a:latin typeface="Malgun Gothic"/>
                <a:ea typeface="Malgun Gothic"/>
              </a:rPr>
              <a:t>    –  CONFIGURE … PARALLELISM n — 영구 설정</a:t>
            </a:r>
          </a:p>
          <a:p>
            <a:pPr>
              <a:spcAft>
                <a:spcPts val="600"/>
              </a:spcAft>
            </a:pPr>
            <a:r>
              <a:rPr sz="1600" b="0">
                <a:solidFill>
                  <a:srgbClr val="5A6672"/>
                </a:solidFill>
                <a:latin typeface="Malgun Gothic"/>
                <a:ea typeface="Malgun Gothic"/>
              </a:rPr>
              <a:t>    –  RUN 블록의 ALLOCATE CHANNEL — 블록 한정</a:t>
            </a:r>
          </a:p>
          <a:p>
            <a:pPr>
              <a:spcAft>
                <a:spcPts val="600"/>
              </a:spcAft>
            </a:pPr>
            <a:r>
              <a:rPr sz="1800" b="0">
                <a:solidFill>
                  <a:srgbClr val="202830"/>
                </a:solidFill>
                <a:latin typeface="Malgun Gothic"/>
                <a:ea typeface="Malgun Gothic"/>
              </a:rPr>
              <a:t>•  채널마다 별도의 백업 세트를 만든다</a:t>
            </a:r>
          </a:p>
          <a:p>
            <a:pPr>
              <a:spcAft>
                <a:spcPts val="600"/>
              </a:spcAft>
            </a:pPr>
            <a:r>
              <a:rPr sz="1800" b="0">
                <a:solidFill>
                  <a:srgbClr val="202830"/>
                </a:solidFill>
                <a:latin typeface="Malgun Gothic"/>
                <a:ea typeface="Malgun Gothic"/>
              </a:rPr>
              <a:t>•  SECTION SIZE — 큰 파일 하나를 나눠 여러 채널에</a:t>
            </a:r>
          </a:p>
          <a:p>
            <a:pPr>
              <a:spcAft>
                <a:spcPts val="600"/>
              </a:spcAft>
            </a:pPr>
            <a:r>
              <a:rPr sz="1800" b="0">
                <a:solidFill>
                  <a:srgbClr val="202830"/>
                </a:solidFill>
                <a:latin typeface="Malgun Gothic"/>
                <a:ea typeface="Malgun Gothic"/>
              </a:rPr>
              <a:t>•  무작정 늘린다고 빨라지지 않는다</a:t>
            </a:r>
          </a:p>
          <a:p>
            <a:pPr>
              <a:spcAft>
                <a:spcPts val="600"/>
              </a:spcAft>
            </a:pPr>
            <a:r>
              <a:rPr sz="1600" b="0">
                <a:solidFill>
                  <a:srgbClr val="5A6672"/>
                </a:solidFill>
                <a:latin typeface="Malgun Gothic"/>
                <a:ea typeface="Malgun Gothic"/>
              </a:rPr>
              <a:t>    –  백업 대상과 백업 위치가 같은 디스크면 오히려 느려짐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부분 백업과 아카이브 백업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테이블스페이스·데이터파일 단위로 나눈다</a:t>
            </a:r>
          </a:p>
          <a:p>
            <a:pPr>
              <a:spcAft>
                <a:spcPts val="600"/>
              </a:spcAft>
            </a:pPr>
            <a:r>
              <a:rPr sz="1600" b="0">
                <a:solidFill>
                  <a:srgbClr val="C5CED6"/>
                </a:solidFill>
                <a:latin typeface="Malgun Gothic"/>
                <a:ea typeface="Malgun Gothic"/>
              </a:rPr>
              <a:t>•  아카이브는 조건으로 범위를 좁힌다</a:t>
            </a:r>
          </a:p>
          <a:p>
            <a:pPr>
              <a:spcAft>
                <a:spcPts val="600"/>
              </a:spcAft>
            </a:pPr>
            <a:r>
              <a:rPr sz="1600" b="0">
                <a:solidFill>
                  <a:srgbClr val="C5CED6"/>
                </a:solidFill>
                <a:latin typeface="Malgun Gothic"/>
                <a:ea typeface="Malgun Gothic"/>
              </a:rPr>
              <a:t>•  장기 보관은 KEEP 옵션으로 정책에서 제외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부분 백업과 SKIP 옵션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범위를 좁히는 방법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TABLESPACE users, tbs13;</a:t>
            </a:r>
          </a:p>
          <a:p>
            <a:pPr>
              <a:spcAft>
                <a:spcPts val="0"/>
              </a:spcAft>
            </a:pPr>
            <a:r>
              <a:rPr sz="1250" b="0">
                <a:solidFill>
                  <a:srgbClr val="E6E6E6"/>
                </a:solidFill>
                <a:latin typeface="Consolas"/>
                <a:ea typeface="Consolas"/>
              </a:rPr>
              <a:t>RMAN&gt; BACKUP DATAFILE 7;</a:t>
            </a:r>
          </a:p>
          <a:p>
            <a:pPr>
              <a:spcAft>
                <a:spcPts val="0"/>
              </a:spcAft>
            </a:pPr>
            <a:r>
              <a:rPr sz="1250" b="0">
                <a:solidFill>
                  <a:srgbClr val="E6E6E6"/>
                </a:solidFill>
                <a:latin typeface="Consolas"/>
                <a:ea typeface="Consolas"/>
              </a:rPr>
              <a:t>RMAN&gt; BACKUP DATAFILE '/u01/app/oracle/oradata/orcl/users01.dbf';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BACKUP DATABASE SKIP READONLY;</a:t>
            </a:r>
          </a:p>
          <a:p>
            <a:pPr>
              <a:spcAft>
                <a:spcPts val="0"/>
              </a:spcAft>
            </a:pPr>
            <a:r>
              <a:rPr sz="1250" b="0">
                <a:solidFill>
                  <a:srgbClr val="E6E6E6"/>
                </a:solidFill>
                <a:latin typeface="Consolas"/>
                <a:ea typeface="Consolas"/>
              </a:rPr>
              <a:t>RMAN&gt; BACKUP DATABASE SKIP INACCESSIBLE;</a:t>
            </a:r>
          </a:p>
          <a:p>
            <a:pPr>
              <a:spcAft>
                <a:spcPts val="0"/>
              </a:spcAft>
            </a:pPr>
            <a:r>
              <a:rPr sz="1250" b="0">
                <a:solidFill>
                  <a:srgbClr val="E6E6E6"/>
                </a:solidFill>
                <a:latin typeface="Consolas"/>
                <a:ea typeface="Consolas"/>
              </a:rPr>
              <a:t>RMAN&gt; BACKUP DATABASE SKIP OFFLINE;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중단된 백업을 이어받을 때</a:t>
            </a:r>
          </a:p>
          <a:p>
            <a:pPr>
              <a:spcAft>
                <a:spcPts val="0"/>
              </a:spcAft>
            </a:pPr>
            <a:r>
              <a:rPr sz="1250" b="0">
                <a:solidFill>
                  <a:srgbClr val="E6E6E6"/>
                </a:solidFill>
                <a:latin typeface="Consolas"/>
                <a:ea typeface="Consolas"/>
              </a:rPr>
              <a:t>RMAN&gt; BACKUP DATABASE NOT BACKED UP SINCE TIME 'SYSDATE-1';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백업과 삭제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조건으로 범위를 좁힌다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ARCHIVELOG ALL;</a:t>
            </a:r>
          </a:p>
          <a:p>
            <a:pPr>
              <a:spcAft>
                <a:spcPts val="0"/>
              </a:spcAft>
            </a:pPr>
            <a:r>
              <a:rPr sz="1250" b="0">
                <a:solidFill>
                  <a:srgbClr val="E6E6E6"/>
                </a:solidFill>
                <a:latin typeface="Consolas"/>
                <a:ea typeface="Consolas"/>
              </a:rPr>
              <a:t>RMAN&gt; BACKUP ARCHIVELOG FROM SEQUENCE 30 UNTIL SEQUENCE 40;</a:t>
            </a:r>
          </a:p>
          <a:p>
            <a:pPr>
              <a:spcAft>
                <a:spcPts val="0"/>
              </a:spcAft>
            </a:pPr>
            <a:r>
              <a:rPr sz="1250" b="0">
                <a:solidFill>
                  <a:srgbClr val="E6E6E6"/>
                </a:solidFill>
                <a:latin typeface="Consolas"/>
                <a:ea typeface="Consolas"/>
              </a:rPr>
              <a:t>RMAN&gt; BACKUP ARCHIVELOG FROM TIME 'SYSDATE-1';</a:t>
            </a:r>
          </a:p>
          <a:p>
            <a:pPr>
              <a:spcAft>
                <a:spcPts val="0"/>
              </a:spcAft>
            </a:pPr>
            <a:r>
              <a:rPr sz="1250" b="0">
                <a:solidFill>
                  <a:srgbClr val="E6E6E6"/>
                </a:solidFill>
                <a:latin typeface="Consolas"/>
                <a:ea typeface="Consolas"/>
              </a:rPr>
              <a:t>RMAN&gt; BACKUP ARCHIVELOG ALL NOT BACKED UP 2 TIMES;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 후 원본 삭제 (백업 성공 후에만 삭제된다)</a:t>
            </a:r>
          </a:p>
          <a:p>
            <a:pPr>
              <a:spcAft>
                <a:spcPts val="0"/>
              </a:spcAft>
            </a:pPr>
            <a:r>
              <a:rPr sz="1250" b="0">
                <a:solidFill>
                  <a:srgbClr val="E6E6E6"/>
                </a:solidFill>
                <a:latin typeface="Consolas"/>
                <a:ea typeface="Consolas"/>
              </a:rPr>
              <a:t>RMAN&gt; BACKUP ARCHIVELOG ALL DELETE INPUT;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삭제 조건을 정책으로 표현</a:t>
            </a:r>
          </a:p>
          <a:p>
            <a:pPr>
              <a:spcAft>
                <a:spcPts val="0"/>
              </a:spcAft>
            </a:pPr>
            <a:r>
              <a:rPr sz="1250" b="0">
                <a:solidFill>
                  <a:srgbClr val="E6E6E6"/>
                </a:solidFill>
                <a:latin typeface="Consolas"/>
                <a:ea typeface="Consolas"/>
              </a:rPr>
              <a:t>RMAN&gt; CONFIGURE ARCHIVELOG DELETION POLICY TO BACKED UP 1 TIMES TO DISK;</a:t>
            </a:r>
          </a:p>
          <a:p>
            <a:pPr>
              <a:spcAft>
                <a:spcPts val="0"/>
              </a:spcAft>
            </a:pPr>
            <a:r>
              <a:rPr sz="1250" b="0">
                <a:solidFill>
                  <a:srgbClr val="E6E6E6"/>
                </a:solidFill>
                <a:latin typeface="Consolas"/>
                <a:ea typeface="Consolas"/>
              </a:rPr>
              <a:t>RMAN&gt; DELETE NOPROMPT ARCHIVELOG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장기 보관 백업 — KEEP</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보존 정책과 무관하게 남겨야 하는 백업</a:t>
            </a:r>
          </a:p>
          <a:p>
            <a:pPr>
              <a:spcAft>
                <a:spcPts val="600"/>
              </a:spcAft>
            </a:pPr>
            <a:r>
              <a:rPr sz="1600" b="0">
                <a:solidFill>
                  <a:srgbClr val="5A6672"/>
                </a:solidFill>
                <a:latin typeface="Malgun Gothic"/>
                <a:ea typeface="Malgun Gothic"/>
              </a:rPr>
              <a:t>    –  결산 시점, 감사 대응용</a:t>
            </a:r>
          </a:p>
          <a:p>
            <a:pPr>
              <a:spcAft>
                <a:spcPts val="600"/>
              </a:spcAft>
            </a:pPr>
            <a:r>
              <a:rPr sz="1800" b="0">
                <a:solidFill>
                  <a:srgbClr val="202830"/>
                </a:solidFill>
                <a:latin typeface="Malgun Gothic"/>
                <a:ea typeface="Malgun Gothic"/>
              </a:rPr>
              <a:t>•  KEEP UNTIL TIME 'SYSDATE+365' — 1년 보관</a:t>
            </a:r>
          </a:p>
          <a:p>
            <a:pPr>
              <a:spcAft>
                <a:spcPts val="600"/>
              </a:spcAft>
            </a:pPr>
            <a:r>
              <a:rPr sz="1800" b="0">
                <a:solidFill>
                  <a:srgbClr val="202830"/>
                </a:solidFill>
                <a:latin typeface="Malgun Gothic"/>
                <a:ea typeface="Malgun Gothic"/>
              </a:rPr>
              <a:t>•  KEEP FOREVER — 영구 보관, 카탈로그 필요</a:t>
            </a:r>
          </a:p>
          <a:p>
            <a:pPr>
              <a:spcAft>
                <a:spcPts val="600"/>
              </a:spcAft>
            </a:pPr>
            <a:r>
              <a:rPr sz="1800" b="0">
                <a:solidFill>
                  <a:srgbClr val="202830"/>
                </a:solidFill>
                <a:latin typeface="Malgun Gothic"/>
                <a:ea typeface="Malgun Gothic"/>
              </a:rPr>
              <a:t>•  CHANGE BACKUP … NOKEEP 으로 해제</a:t>
            </a:r>
          </a:p>
          <a:p>
            <a:pPr>
              <a:spcAft>
                <a:spcPts val="600"/>
              </a:spcAft>
            </a:pPr>
            <a:r>
              <a:rPr sz="1800" b="0">
                <a:solidFill>
                  <a:srgbClr val="202830"/>
                </a:solidFill>
                <a:latin typeface="Malgun Gothic"/>
                <a:ea typeface="Malgun Gothic"/>
              </a:rPr>
              <a:t>•  KEEP 백업은 자체 완결적</a:t>
            </a:r>
          </a:p>
          <a:p>
            <a:pPr>
              <a:spcAft>
                <a:spcPts val="600"/>
              </a:spcAft>
            </a:pPr>
            <a:r>
              <a:rPr sz="1600" b="0">
                <a:solidFill>
                  <a:srgbClr val="5A6672"/>
                </a:solidFill>
                <a:latin typeface="Malgun Gothic"/>
                <a:ea typeface="Malgun Gothic"/>
              </a:rPr>
              <a:t>    –  복원에 필요한 아카이브가 함께 백업된다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증분 백업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Level 0이 기준점, FULL은 기준이 되지 못한다</a:t>
            </a:r>
          </a:p>
          <a:p>
            <a:pPr>
              <a:spcAft>
                <a:spcPts val="600"/>
              </a:spcAft>
            </a:pPr>
            <a:r>
              <a:rPr sz="1600" b="0">
                <a:solidFill>
                  <a:srgbClr val="C5CED6"/>
                </a:solidFill>
                <a:latin typeface="Malgun Gothic"/>
                <a:ea typeface="Malgun Gothic"/>
              </a:rPr>
              <a:t>•  차등은 백업이 작고 누적은 복구가 빠르다</a:t>
            </a:r>
          </a:p>
          <a:p>
            <a:pPr>
              <a:spcAft>
                <a:spcPts val="600"/>
              </a:spcAft>
            </a:pPr>
            <a:r>
              <a:rPr sz="1600" b="0">
                <a:solidFill>
                  <a:srgbClr val="C5CED6"/>
                </a:solidFill>
                <a:latin typeface="Malgun Gothic"/>
                <a:ea typeface="Malgun Gothic"/>
              </a:rPr>
              <a:t>•  BCT 없이는 시간 이득이 없다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Level 0과 Level 1</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FULL은 기준점이 될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기준점</a:t>
            </a:r>
          </a:p>
          <a:p>
            <a:pPr>
              <a:spcAft>
                <a:spcPts val="0"/>
              </a:spcAft>
            </a:pPr>
            <a:r>
              <a:rPr sz="1250" b="0">
                <a:solidFill>
                  <a:srgbClr val="E6E6E6"/>
                </a:solidFill>
                <a:latin typeface="Consolas"/>
                <a:ea typeface="Consolas"/>
              </a:rPr>
              <a:t>RMAN&gt; BACKUP INCREMENTAL LEVEL 0 DATABASE TAG 'L0_WEEKLY';</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변경분</a:t>
            </a:r>
          </a:p>
          <a:p>
            <a:pPr>
              <a:spcAft>
                <a:spcPts val="0"/>
              </a:spcAft>
            </a:pPr>
            <a:r>
              <a:rPr sz="1250" b="0">
                <a:solidFill>
                  <a:srgbClr val="E6E6E6"/>
                </a:solidFill>
                <a:latin typeface="Consolas"/>
                <a:ea typeface="Consolas"/>
              </a:rPr>
              <a:t>RMAN&gt; BACKUP INCREMENTAL LEVEL 1 DATABASE TAG 'L1_DAILY';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LIST BACKUP OF DATABASE SUMMARY;</a:t>
            </a:r>
          </a:p>
          <a:p>
            <a:pPr>
              <a:spcAft>
                <a:spcPts val="0"/>
              </a:spcAft>
            </a:pPr>
            <a:r>
              <a:rPr sz="1250" b="0">
                <a:solidFill>
                  <a:srgbClr val="E6E6E6"/>
                </a:solidFill>
                <a:latin typeface="Consolas"/>
                <a:ea typeface="Consolas"/>
              </a:rPr>
              <a:t>Key     TY LV S Device Type Completion Time #Pieces Tag</a:t>
            </a:r>
          </a:p>
          <a:p>
            <a:pPr>
              <a:spcAft>
                <a:spcPts val="0"/>
              </a:spcAft>
            </a:pPr>
            <a:r>
              <a:rPr sz="1250" b="0">
                <a:solidFill>
                  <a:srgbClr val="7EC699"/>
                </a:solidFill>
                <a:latin typeface="Consolas"/>
                <a:ea typeface="Consolas"/>
              </a:rPr>
              <a:t>------- -- -- - ----------- --------------- ------- ----------</a:t>
            </a:r>
          </a:p>
          <a:p>
            <a:pPr>
              <a:spcAft>
                <a:spcPts val="0"/>
              </a:spcAft>
            </a:pPr>
            <a:r>
              <a:rPr sz="1250" b="0">
                <a:solidFill>
                  <a:srgbClr val="E6E6E6"/>
                </a:solidFill>
                <a:latin typeface="Consolas"/>
                <a:ea typeface="Consolas"/>
              </a:rPr>
              <a:t>25      B  0  A DISK        14-MAY-25       1       L0_WEEKLY</a:t>
            </a:r>
          </a:p>
          <a:p>
            <a:pPr>
              <a:spcAft>
                <a:spcPts val="0"/>
              </a:spcAft>
            </a:pPr>
            <a:r>
              <a:rPr sz="1250" b="0">
                <a:solidFill>
                  <a:srgbClr val="E6E6E6"/>
                </a:solidFill>
                <a:latin typeface="Consolas"/>
                <a:ea typeface="Consolas"/>
              </a:rPr>
              <a:t>27      B  1  A DISK        15-MAY-25       1       L1_DAILY</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LV 컬럼이 0 또는 1이면 증분, F면 전체 백업이다.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차등과 누적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크기와 복구 시간을 맞바꾼다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차등(DIFFERENTIAL, 기본값)          누적(CUMULATIVE)</a:t>
            </a:r>
          </a:p>
          <a:p>
            <a:pPr>
              <a:spcAft>
                <a:spcPts val="0"/>
              </a:spcAft>
            </a:pPr>
            <a:r>
              <a:rPr sz="1250" b="0">
                <a:solidFill>
                  <a:srgbClr val="E6E6E6"/>
                </a:solidFill>
                <a:latin typeface="Consolas"/>
                <a:ea typeface="Consolas"/>
              </a:rPr>
              <a:t>  월 L1 : 월 변경분                   월 L1C : 월 변경분</a:t>
            </a:r>
          </a:p>
          <a:p>
            <a:pPr>
              <a:spcAft>
                <a:spcPts val="0"/>
              </a:spcAft>
            </a:pPr>
            <a:r>
              <a:rPr sz="1250" b="0">
                <a:solidFill>
                  <a:srgbClr val="E6E6E6"/>
                </a:solidFill>
                <a:latin typeface="Consolas"/>
                <a:ea typeface="Consolas"/>
              </a:rPr>
              <a:t>  화 L1 : 화 변경분                   화 L1C : 월+화</a:t>
            </a:r>
          </a:p>
          <a:p>
            <a:pPr>
              <a:spcAft>
                <a:spcPts val="0"/>
              </a:spcAft>
            </a:pPr>
            <a:r>
              <a:rPr sz="1250" b="0">
                <a:solidFill>
                  <a:srgbClr val="E6E6E6"/>
                </a:solidFill>
                <a:latin typeface="Consolas"/>
                <a:ea typeface="Consolas"/>
              </a:rPr>
              <a:t>  수 L1 : 수 변경분                   수 L1C : 월+화+수</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목요일 장애 시</a:t>
            </a:r>
          </a:p>
          <a:p>
            <a:pPr>
              <a:spcAft>
                <a:spcPts val="0"/>
              </a:spcAft>
            </a:pPr>
            <a:r>
              <a:rPr sz="1250" b="0">
                <a:solidFill>
                  <a:srgbClr val="E6E6E6"/>
                </a:solidFill>
                <a:latin typeface="Consolas"/>
                <a:ea typeface="Consolas"/>
              </a:rPr>
              <a:t>  차등 → L0 + 월 + 화 + 수 순서대로   누적 → L0 + 수 만</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BACKUP INCREMENTAL LEVEL 1 DATABASE;             -- 차등</a:t>
            </a:r>
          </a:p>
          <a:p>
            <a:pPr>
              <a:spcAft>
                <a:spcPts val="0"/>
              </a:spcAft>
            </a:pPr>
            <a:r>
              <a:rPr sz="1250" b="0">
                <a:solidFill>
                  <a:srgbClr val="E6E6E6"/>
                </a:solidFill>
                <a:latin typeface="Consolas"/>
                <a:ea typeface="Consolas"/>
              </a:rPr>
              <a:t>RMAN&gt; BACKUP INCREMENTAL LEVEL 1 CUMULATIVE DATABASE;  -- 누적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Block Change Tracking</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없으면 시간 이득이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ENABLE BLOCK CHANGE TRACKING</a:t>
            </a:r>
          </a:p>
          <a:p>
            <a:pPr>
              <a:spcAft>
                <a:spcPts val="0"/>
              </a:spcAft>
            </a:pPr>
            <a:r>
              <a:rPr sz="1250" b="0">
                <a:solidFill>
                  <a:srgbClr val="E6E6E6"/>
                </a:solidFill>
                <a:latin typeface="Consolas"/>
                <a:ea typeface="Consolas"/>
              </a:rPr>
              <a:t>  2    USING FILE '/u02/oradata/orcl/bct_orcl.chg' REUSE;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status, filename, bytes/1024/1024 AS mb</a:t>
            </a:r>
          </a:p>
          <a:p>
            <a:pPr>
              <a:spcAft>
                <a:spcPts val="0"/>
              </a:spcAft>
            </a:pPr>
            <a:r>
              <a:rPr sz="1250" b="0">
                <a:solidFill>
                  <a:srgbClr val="E6E6E6"/>
                </a:solidFill>
                <a:latin typeface="Consolas"/>
                <a:ea typeface="Consolas"/>
              </a:rPr>
              <a:t>  2  FROM   v$block_change_tracking;</a:t>
            </a:r>
          </a:p>
          <a:p>
            <a:pPr>
              <a:spcAft>
                <a:spcPts val="0"/>
              </a:spcAft>
            </a:pPr>
            <a:r>
              <a:rPr sz="1250" b="0">
                <a:solidFill>
                  <a:srgbClr val="E6E6E6"/>
                </a:solidFill>
                <a:latin typeface="Consolas"/>
                <a:ea typeface="Consolas"/>
              </a:rPr>
              <a:t>STATUS     FILENAME                                MB</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ENABLED    /u02/oradata/orcl/bct_orcl.chg          11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ROUND(blocks_read/blocks, 1) AS read_ratio</a:t>
            </a:r>
          </a:p>
          <a:p>
            <a:pPr>
              <a:spcAft>
                <a:spcPts val="0"/>
              </a:spcAft>
            </a:pPr>
            <a:r>
              <a:rPr sz="1250" b="0">
                <a:solidFill>
                  <a:srgbClr val="E6E6E6"/>
                </a:solidFill>
                <a:latin typeface="Consolas"/>
                <a:ea typeface="Consolas"/>
              </a:rPr>
              <a:t>  2  FROM   v$backup_datafile WHERE incremental_level = 1;</a:t>
            </a:r>
          </a:p>
          <a:p>
            <a:pPr>
              <a:spcAft>
                <a:spcPts val="0"/>
              </a:spcAft>
            </a:pPr>
            <a:r>
              <a:rPr sz="1250" b="0">
                <a:solidFill>
                  <a:srgbClr val="E6E6E6"/>
                </a:solidFill>
                <a:latin typeface="Consolas"/>
                <a:ea typeface="Consolas"/>
              </a:rPr>
              <a:t>     FILE# READ_RATIO</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1         .1     -- 전체의 10%만 읽었다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증분 갱신 백업</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복구 시간이 가장 짧은 구성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매일 같은 스크립트를 실행한다.</a:t>
            </a:r>
          </a:p>
          <a:p>
            <a:pPr>
              <a:spcAft>
                <a:spcPts val="0"/>
              </a:spcAft>
            </a:pPr>
            <a:r>
              <a:rPr sz="1250" b="0">
                <a:solidFill>
                  <a:srgbClr val="E6E6E6"/>
                </a:solidFill>
                <a:latin typeface="Consolas"/>
                <a:ea typeface="Consolas"/>
              </a:rPr>
              <a:t>RMAN&gt; RUN {</a:t>
            </a:r>
          </a:p>
          <a:p>
            <a:pPr>
              <a:spcAft>
                <a:spcPts val="0"/>
              </a:spcAft>
            </a:pPr>
            <a:r>
              <a:rPr sz="1250" b="0">
                <a:solidFill>
                  <a:srgbClr val="E6E6E6"/>
                </a:solidFill>
                <a:latin typeface="Consolas"/>
                <a:ea typeface="Consolas"/>
              </a:rPr>
              <a:t>  2&gt;   RECOVER COPY OF DATABASE WITH TAG 'DAILY_COPY';</a:t>
            </a:r>
          </a:p>
          <a:p>
            <a:pPr>
              <a:spcAft>
                <a:spcPts val="0"/>
              </a:spcAft>
            </a:pPr>
            <a:r>
              <a:rPr sz="1250" b="0">
                <a:solidFill>
                  <a:srgbClr val="E6E6E6"/>
                </a:solidFill>
                <a:latin typeface="Consolas"/>
                <a:ea typeface="Consolas"/>
              </a:rPr>
              <a:t>  3&gt;   BACKUP INCREMENTAL LEVEL 1 FOR RECOVER OF COPY</a:t>
            </a:r>
          </a:p>
          <a:p>
            <a:pPr>
              <a:spcAft>
                <a:spcPts val="0"/>
              </a:spcAft>
            </a:pPr>
            <a:r>
              <a:rPr sz="1250" b="0">
                <a:solidFill>
                  <a:srgbClr val="E6E6E6"/>
                </a:solidFill>
                <a:latin typeface="Consolas"/>
                <a:ea typeface="Consolas"/>
              </a:rPr>
              <a:t>  4&gt;     WITH TAG 'DAILY_COPY' DATABASE;</a:t>
            </a:r>
          </a:p>
          <a:p>
            <a:pPr>
              <a:spcAft>
                <a:spcPts val="0"/>
              </a:spcAft>
            </a:pPr>
            <a:r>
              <a:rPr sz="1250" b="0">
                <a:solidFill>
                  <a:srgbClr val="E6E6E6"/>
                </a:solidFill>
                <a:latin typeface="Consolas"/>
                <a:ea typeface="Consolas"/>
              </a:rPr>
              <a:t>  5&gt; }</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첫날  : Level 0 이미지 카피가 만들어진다</a:t>
            </a:r>
          </a:p>
          <a:p>
            <a:pPr>
              <a:spcAft>
                <a:spcPts val="0"/>
              </a:spcAft>
            </a:pPr>
            <a:r>
              <a:rPr sz="1250" b="0">
                <a:solidFill>
                  <a:srgbClr val="7EC699"/>
                </a:solidFill>
                <a:latin typeface="Consolas"/>
                <a:ea typeface="Consolas"/>
              </a:rPr>
              <a:t>-- 둘째 날: Level 1이 만들어진다 (적용할 것 없음)</a:t>
            </a:r>
          </a:p>
          <a:p>
            <a:pPr>
              <a:spcAft>
                <a:spcPts val="0"/>
              </a:spcAft>
            </a:pPr>
            <a:r>
              <a:rPr sz="1250" b="0">
                <a:solidFill>
                  <a:srgbClr val="7EC699"/>
                </a:solidFill>
                <a:latin typeface="Consolas"/>
                <a:ea typeface="Consolas"/>
              </a:rPr>
              <a:t>-- 셋째 날: 전날 L1이 카피에 적용되고 새 L1이 만들어진다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카피가 항상 하루 전 상태 → SWITCH로 즉시 전환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이미지 카피와 SWITCH</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복원 없이 그 파일을 바로 쓴다</a:t>
            </a:r>
          </a:p>
          <a:p>
            <a:pPr>
              <a:spcAft>
                <a:spcPts val="600"/>
              </a:spcAft>
            </a:pPr>
            <a:r>
              <a:rPr sz="1600" b="0">
                <a:solidFill>
                  <a:srgbClr val="C5CED6"/>
                </a:solidFill>
                <a:latin typeface="Malgun Gothic"/>
                <a:ea typeface="Malgun Gothic"/>
              </a:rPr>
              <a:t>•  SWITCH는 컨트롤파일의 경로를 바꾸는 것</a:t>
            </a:r>
          </a:p>
          <a:p>
            <a:pPr>
              <a:spcAft>
                <a:spcPts val="600"/>
              </a:spcAft>
            </a:pPr>
            <a:r>
              <a:rPr sz="1600" b="0">
                <a:solidFill>
                  <a:srgbClr val="C5CED6"/>
                </a:solidFill>
                <a:latin typeface="Malgun Gothic"/>
                <a:ea typeface="Malgun Gothic"/>
              </a:rPr>
              <a:t>•  복구 시간 차이가 선택의 근거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AS COPY와 SWITCH</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복원 단계가 사라진다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AS COPY DATABASE FORMAT '/home/oracle/rmancopy/%U';</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LIST COPY OF DATABASE SUMMARY;</a:t>
            </a:r>
          </a:p>
          <a:p>
            <a:pPr>
              <a:spcAft>
                <a:spcPts val="0"/>
              </a:spcAft>
            </a:pPr>
            <a:r>
              <a:rPr sz="1250" b="0">
                <a:solidFill>
                  <a:srgbClr val="E6E6E6"/>
                </a:solidFill>
                <a:latin typeface="Consolas"/>
                <a:ea typeface="Consolas"/>
              </a:rPr>
              <a:t>Key     File S Completion Time Ckp SCN    Name</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5       1    A 14-MAY-25       2520440    /home/oracle/rman...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데이터파일 하나를 카피로 전환</a:t>
            </a:r>
          </a:p>
          <a:p>
            <a:pPr>
              <a:spcAft>
                <a:spcPts val="0"/>
              </a:spcAft>
            </a:pPr>
            <a:r>
              <a:rPr sz="1250" b="0">
                <a:solidFill>
                  <a:srgbClr val="E6E6E6"/>
                </a:solidFill>
                <a:latin typeface="Consolas"/>
                <a:ea typeface="Consolas"/>
              </a:rPr>
              <a:t>RMAN&gt; SQL 'ALTER DATABASE DATAFILE 7 OFFLINE';</a:t>
            </a:r>
          </a:p>
          <a:p>
            <a:pPr>
              <a:spcAft>
                <a:spcPts val="0"/>
              </a:spcAft>
            </a:pPr>
            <a:r>
              <a:rPr sz="1250" b="0">
                <a:solidFill>
                  <a:srgbClr val="E6E6E6"/>
                </a:solidFill>
                <a:latin typeface="Consolas"/>
                <a:ea typeface="Consolas"/>
              </a:rPr>
              <a:t>RMAN&gt; SWITCH DATAFILE 7 TO COPY;</a:t>
            </a:r>
          </a:p>
          <a:p>
            <a:pPr>
              <a:spcAft>
                <a:spcPts val="0"/>
              </a:spcAft>
            </a:pPr>
            <a:r>
              <a:rPr sz="1250" b="0">
                <a:solidFill>
                  <a:srgbClr val="E6E6E6"/>
                </a:solidFill>
                <a:latin typeface="Consolas"/>
                <a:ea typeface="Consolas"/>
              </a:rPr>
              <a:t>datafile 7 switched to datafile copy</a:t>
            </a:r>
          </a:p>
          <a:p>
            <a:pPr>
              <a:spcAft>
                <a:spcPts val="0"/>
              </a:spcAft>
            </a:pPr>
            <a:r>
              <a:rPr sz="1250" b="0">
                <a:solidFill>
                  <a:srgbClr val="E6E6E6"/>
                </a:solidFill>
                <a:latin typeface="Consolas"/>
                <a:ea typeface="Consolas"/>
              </a:rPr>
              <a:t>RMAN&gt; RECOVER DATAFILE 7;</a:t>
            </a:r>
          </a:p>
          <a:p>
            <a:pPr>
              <a:spcAft>
                <a:spcPts val="0"/>
              </a:spcAft>
            </a:pPr>
            <a:r>
              <a:rPr sz="1250" b="0">
                <a:solidFill>
                  <a:srgbClr val="E6E6E6"/>
                </a:solidFill>
                <a:latin typeface="Consolas"/>
                <a:ea typeface="Consolas"/>
              </a:rPr>
              <a:t>RMAN&gt; SQL 'ALTER DATABASE DATAFILE 7 ONLINE';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전체 전환 (MOUNT 상태에서)</a:t>
            </a:r>
          </a:p>
          <a:p>
            <a:pPr>
              <a:spcAft>
                <a:spcPts val="0"/>
              </a:spcAft>
            </a:pPr>
            <a:r>
              <a:rPr sz="1250" b="0">
                <a:solidFill>
                  <a:srgbClr val="E6E6E6"/>
                </a:solidFill>
                <a:latin typeface="Consolas"/>
                <a:ea typeface="Consolas"/>
              </a:rPr>
              <a:t>RMAN&gt; SWITCH DATABASE TO COPY;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선택의 근거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백업 세트                | 이미지 카피 + SWITCH</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복원 단계     | RESTORE 필요 (크기 비례) | 없음 (SWITCH 즉시)</a:t>
            </a:r>
          </a:p>
          <a:p>
            <a:pPr>
              <a:spcAft>
                <a:spcPts val="0"/>
              </a:spcAft>
            </a:pPr>
            <a:r>
              <a:rPr sz="1250" b="0">
                <a:solidFill>
                  <a:srgbClr val="E6E6E6"/>
                </a:solidFill>
                <a:latin typeface="Consolas"/>
                <a:ea typeface="Consolas"/>
              </a:rPr>
              <a:t>500GB 기준    | 40~90분                  | 수 초</a:t>
            </a:r>
          </a:p>
          <a:p>
            <a:pPr>
              <a:spcAft>
                <a:spcPts val="0"/>
              </a:spcAft>
            </a:pPr>
            <a:r>
              <a:rPr sz="1250" b="0">
                <a:solidFill>
                  <a:srgbClr val="E6E6E6"/>
                </a:solidFill>
                <a:latin typeface="Consolas"/>
                <a:ea typeface="Consolas"/>
              </a:rPr>
              <a:t>복구 단계     | 아카이브 적용            | 아카이브 적용 (동일)</a:t>
            </a:r>
          </a:p>
          <a:p>
            <a:pPr>
              <a:spcAft>
                <a:spcPts val="0"/>
              </a:spcAft>
            </a:pPr>
            <a:r>
              <a:rPr sz="1250" b="0">
                <a:solidFill>
                  <a:srgbClr val="E6E6E6"/>
                </a:solidFill>
                <a:latin typeface="Consolas"/>
                <a:ea typeface="Consolas"/>
              </a:rPr>
              <a:t>디스크 요구   | 압축 시 30~50%           | 100%</a:t>
            </a:r>
          </a:p>
          <a:p>
            <a:pPr>
              <a:spcAft>
                <a:spcPts val="0"/>
              </a:spcAft>
            </a:pPr>
            <a:r>
              <a:rPr sz="1250" b="0">
                <a:solidFill>
                  <a:srgbClr val="E6E6E6"/>
                </a:solidFill>
                <a:latin typeface="Consolas"/>
                <a:ea typeface="Consolas"/>
              </a:rPr>
              <a:t>장기 보관     | 적합                     | 부적합</a:t>
            </a:r>
          </a:p>
          <a:p>
            <a:pPr>
              <a:spcAft>
                <a:spcPts val="0"/>
              </a:spcAft>
            </a:pPr>
            <a:r>
              <a:rPr sz="1250" b="0">
                <a:solidFill>
                  <a:srgbClr val="E6E6E6"/>
                </a:solidFill>
                <a:latin typeface="Consolas"/>
                <a:ea typeface="Consolas"/>
              </a:rPr>
              <a:t>테이프 이관   | 가능                     | 사실상 불가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압축·암호화·크기 조정</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압축은 디스크와 CPU를 맞바꾼다</a:t>
            </a:r>
          </a:p>
          <a:p>
            <a:pPr>
              <a:spcAft>
                <a:spcPts val="600"/>
              </a:spcAft>
            </a:pPr>
            <a:r>
              <a:rPr sz="1600" b="0">
                <a:solidFill>
                  <a:srgbClr val="C5CED6"/>
                </a:solidFill>
                <a:latin typeface="Malgun Gothic"/>
                <a:ea typeface="Malgun Gothic"/>
              </a:rPr>
              <a:t>•  암호화는 세 방식이며 비밀번호 관리가 핵심</a:t>
            </a:r>
          </a:p>
          <a:p>
            <a:pPr>
              <a:spcAft>
                <a:spcPts val="600"/>
              </a:spcAft>
            </a:pPr>
            <a:r>
              <a:rPr sz="1600" b="0">
                <a:solidFill>
                  <a:srgbClr val="C5CED6"/>
                </a:solidFill>
                <a:latin typeface="Malgun Gothic"/>
                <a:ea typeface="Malgun Gothic"/>
              </a:rPr>
              <a:t>•  DURATION으로 백업 창을 지킨다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압축과 암호화</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네 알고리즘과 세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알고리즘 | 압축률   | CPU 부담  | 라이선스</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BASIC    | 높음     | 높음      | 기본 포함</a:t>
            </a:r>
          </a:p>
          <a:p>
            <a:pPr>
              <a:spcAft>
                <a:spcPts val="0"/>
              </a:spcAft>
            </a:pPr>
            <a:r>
              <a:rPr sz="1250" b="0">
                <a:solidFill>
                  <a:srgbClr val="E6E6E6"/>
                </a:solidFill>
                <a:latin typeface="Consolas"/>
                <a:ea typeface="Consolas"/>
              </a:rPr>
              <a:t>LOW      | 낮음     | 매우 낮음 | Advanced Compression Option</a:t>
            </a:r>
          </a:p>
          <a:p>
            <a:pPr>
              <a:spcAft>
                <a:spcPts val="0"/>
              </a:spcAft>
            </a:pPr>
            <a:r>
              <a:rPr sz="1250" b="0">
                <a:solidFill>
                  <a:srgbClr val="E6E6E6"/>
                </a:solidFill>
                <a:latin typeface="Consolas"/>
                <a:ea typeface="Consolas"/>
              </a:rPr>
              <a:t>MEDIUM   | 중간     | 중간      | Advanced Compression Option</a:t>
            </a:r>
          </a:p>
          <a:p>
            <a:pPr>
              <a:spcAft>
                <a:spcPts val="0"/>
              </a:spcAft>
            </a:pPr>
            <a:r>
              <a:rPr sz="1250" b="0">
                <a:solidFill>
                  <a:srgbClr val="E6E6E6"/>
                </a:solidFill>
                <a:latin typeface="Consolas"/>
                <a:ea typeface="Consolas"/>
              </a:rPr>
              <a:t>HIGH     | 매우 높음| 매우 높음 | Advanced Compression Option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BACKUP AS COMPRESSED BACKUPSET DATABASE;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암호화 : 투명(지갑) / 비밀번호 / 이중</a:t>
            </a:r>
          </a:p>
          <a:p>
            <a:pPr>
              <a:spcAft>
                <a:spcPts val="0"/>
              </a:spcAft>
            </a:pPr>
            <a:r>
              <a:rPr sz="1250" b="0">
                <a:solidFill>
                  <a:srgbClr val="E6E6E6"/>
                </a:solidFill>
                <a:latin typeface="Consolas"/>
                <a:ea typeface="Consolas"/>
              </a:rPr>
              <a:t>RMAN&gt; SET ENCRYPTION ON IDENTIFIED BY 'Backup#2025' ONLY;</a:t>
            </a:r>
          </a:p>
          <a:p>
            <a:pPr>
              <a:spcAft>
                <a:spcPts val="0"/>
              </a:spcAft>
            </a:pPr>
            <a:r>
              <a:rPr sz="1250" b="0">
                <a:solidFill>
                  <a:srgbClr val="E6E6E6"/>
                </a:solidFill>
                <a:latin typeface="Consolas"/>
                <a:ea typeface="Consolas"/>
              </a:rPr>
              <a:t>RMAN&gt; BACKUP DATABASE TAG 'ENC_TEST';</a:t>
            </a:r>
          </a:p>
          <a:p>
            <a:pPr>
              <a:spcAft>
                <a:spcPts val="0"/>
              </a:spcAft>
            </a:pPr>
            <a:r>
              <a:rPr sz="1250" b="0">
                <a:solidFill>
                  <a:srgbClr val="E6E6E6"/>
                </a:solidFill>
                <a:latin typeface="Consolas"/>
                <a:ea typeface="Consolas"/>
              </a:rPr>
              <a:t>RMAN&gt; SET DECRYPTION IDENTIFIED BY 'Backup#2025';   -- 복원 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크기와 부하 조정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MAXPIECESIZE — 조각 하나의 최대 크기 (채널 단위)</a:t>
            </a:r>
          </a:p>
          <a:p>
            <a:pPr>
              <a:spcAft>
                <a:spcPts val="600"/>
              </a:spcAft>
            </a:pPr>
            <a:r>
              <a:rPr sz="1800" b="0">
                <a:solidFill>
                  <a:srgbClr val="202830"/>
                </a:solidFill>
                <a:latin typeface="Malgun Gothic"/>
                <a:ea typeface="Malgun Gothic"/>
              </a:rPr>
              <a:t>•  SECTION SIZE — 큰 파일을 나눠 여러 채널에</a:t>
            </a:r>
          </a:p>
          <a:p>
            <a:pPr>
              <a:spcAft>
                <a:spcPts val="600"/>
              </a:spcAft>
            </a:pPr>
            <a:r>
              <a:rPr sz="1800" b="0">
                <a:solidFill>
                  <a:srgbClr val="202830"/>
                </a:solidFill>
                <a:latin typeface="Malgun Gothic"/>
                <a:ea typeface="Malgun Gothic"/>
              </a:rPr>
              <a:t>•  DURATION — 백업에 쓸 시간 제한</a:t>
            </a:r>
          </a:p>
          <a:p>
            <a:pPr>
              <a:spcAft>
                <a:spcPts val="600"/>
              </a:spcAft>
            </a:pPr>
            <a:r>
              <a:rPr sz="1600" b="0">
                <a:solidFill>
                  <a:srgbClr val="5A6672"/>
                </a:solidFill>
                <a:latin typeface="Malgun Gothic"/>
                <a:ea typeface="Malgun Gothic"/>
              </a:rPr>
              <a:t>    –  MINIMIZE LOAD — 시간을 채우며 부하를 낮춤</a:t>
            </a:r>
          </a:p>
          <a:p>
            <a:pPr>
              <a:spcAft>
                <a:spcPts val="600"/>
              </a:spcAft>
            </a:pPr>
            <a:r>
              <a:rPr sz="1600" b="0">
                <a:solidFill>
                  <a:srgbClr val="5A6672"/>
                </a:solidFill>
                <a:latin typeface="Malgun Gothic"/>
                <a:ea typeface="Malgun Gothic"/>
              </a:rPr>
              <a:t>    –  MINIMIZE TIME — 최대한 빨리</a:t>
            </a:r>
          </a:p>
          <a:p>
            <a:pPr>
              <a:spcAft>
                <a:spcPts val="600"/>
              </a:spcAft>
            </a:pPr>
            <a:r>
              <a:rPr sz="1600" b="0">
                <a:solidFill>
                  <a:srgbClr val="5A6672"/>
                </a:solidFill>
                <a:latin typeface="Malgun Gothic"/>
                <a:ea typeface="Malgun Gothic"/>
              </a:rPr>
              <a:t>    –  PARTIAL — 시간 안에 못 끝내도 오류로 보지 않음</a:t>
            </a:r>
          </a:p>
          <a:p>
            <a:pPr>
              <a:spcAft>
                <a:spcPts val="600"/>
              </a:spcAft>
            </a:pPr>
            <a:r>
              <a:rPr sz="1800" b="0">
                <a:solidFill>
                  <a:srgbClr val="202830"/>
                </a:solidFill>
                <a:latin typeface="Malgun Gothic"/>
                <a:ea typeface="Malgun Gothic"/>
              </a:rPr>
              <a:t>•  RATE — 채널당 초당 읽기량 제한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14.7</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전후 검증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VALIDATE — 대상의 블록 손상 검사</a:t>
            </a:r>
          </a:p>
          <a:p>
            <a:pPr>
              <a:spcAft>
                <a:spcPts val="600"/>
              </a:spcAft>
            </a:pPr>
            <a:r>
              <a:rPr sz="1600" b="0">
                <a:solidFill>
                  <a:srgbClr val="C5CED6"/>
                </a:solidFill>
                <a:latin typeface="Malgun Gothic"/>
                <a:ea typeface="Malgun Gothic"/>
              </a:rPr>
              <a:t>•  BACKUP VALIDATE — 백업 가능성 확인</a:t>
            </a:r>
          </a:p>
          <a:p>
            <a:pPr>
              <a:spcAft>
                <a:spcPts val="600"/>
              </a:spcAft>
            </a:pPr>
            <a:r>
              <a:rPr sz="1600" b="0">
                <a:solidFill>
                  <a:srgbClr val="C5CED6"/>
                </a:solidFill>
                <a:latin typeface="Malgun Gothic"/>
                <a:ea typeface="Malgun Gothic"/>
              </a:rPr>
              <a:t>•  RESTORE PREVIEW — 복원에 무엇이 필요한지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가지 검증 명령</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역할이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VALIDATE DATABASE;                    -- 대상의 블록 손상</a:t>
            </a:r>
          </a:p>
          <a:p>
            <a:pPr>
              <a:spcAft>
                <a:spcPts val="0"/>
              </a:spcAft>
            </a:pPr>
            <a:r>
              <a:rPr sz="1250" b="0">
                <a:solidFill>
                  <a:srgbClr val="E6E6E6"/>
                </a:solidFill>
                <a:latin typeface="Consolas"/>
                <a:ea typeface="Consolas"/>
              </a:rPr>
              <a:t>File Status Marked Corrupt Empty Blocks Blocks Examined High SCN</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1    OK     0              12045        113920          2520440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VALIDATE CHECK LOGICAL DATABASE;      -- 논리 손상까지</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BACKUP VALIDATE DATABASE ARCHIVELOG ALL;</a:t>
            </a:r>
          </a:p>
          <a:p>
            <a:pPr>
              <a:spcAft>
                <a:spcPts val="0"/>
              </a:spcAft>
            </a:pPr>
            <a:r>
              <a:rPr sz="1250" b="0">
                <a:solidFill>
                  <a:srgbClr val="7EC699"/>
                </a:solidFill>
                <a:latin typeface="Consolas"/>
                <a:ea typeface="Consolas"/>
              </a:rPr>
              <a:t>-- 백업 과정을 흉내만 낸다. 조각은 만들어지지 않는다.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RESTORE DATABASE PREVIEW SUMMARY;</a:t>
            </a:r>
          </a:p>
          <a:p>
            <a:pPr>
              <a:spcAft>
                <a:spcPts val="0"/>
              </a:spcAft>
            </a:pPr>
            <a:r>
              <a:rPr sz="1250" b="0">
                <a:solidFill>
                  <a:srgbClr val="7EC699"/>
                </a:solidFill>
                <a:latin typeface="Consolas"/>
                <a:ea typeface="Consolas"/>
              </a:rPr>
              <a:t>-- 어느 백업과 아카이브가 쓰일지 보여 준다.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RESTORE DATABASE VALIDATE;</a:t>
            </a:r>
          </a:p>
          <a:p>
            <a:pPr>
              <a:spcAft>
                <a:spcPts val="0"/>
              </a:spcAft>
            </a:pPr>
            <a:r>
              <a:rPr sz="1250" b="0">
                <a:solidFill>
                  <a:srgbClr val="7EC699"/>
                </a:solidFill>
                <a:latin typeface="Consolas"/>
                <a:ea typeface="Consolas"/>
              </a:rPr>
              <a:t>-- 그 백업들이 실제로 읽히는지 확인한다.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정기 점검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주기별로 나눈다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주기   | 점검 항목             | 명령</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매일   | 백업 성공 여부        | 로그의 RMAN- 문자열 확인</a:t>
            </a:r>
          </a:p>
          <a:p>
            <a:pPr>
              <a:spcAft>
                <a:spcPts val="0"/>
              </a:spcAft>
            </a:pPr>
            <a:r>
              <a:rPr sz="1250" b="0">
                <a:solidFill>
                  <a:srgbClr val="E6E6E6"/>
                </a:solidFill>
                <a:latin typeface="Consolas"/>
                <a:ea typeface="Consolas"/>
              </a:rPr>
              <a:t>매일   | 정책 충족 여부        | REPORT NEED BACKUP</a:t>
            </a:r>
          </a:p>
          <a:p>
            <a:pPr>
              <a:spcAft>
                <a:spcPts val="0"/>
              </a:spcAft>
            </a:pPr>
            <a:r>
              <a:rPr sz="1250" b="0">
                <a:solidFill>
                  <a:srgbClr val="E6E6E6"/>
                </a:solidFill>
                <a:latin typeface="Consolas"/>
                <a:ea typeface="Consolas"/>
              </a:rPr>
              <a:t>주 1회 | 기록과 실제 일치      | CROSSCHECK BACKUP</a:t>
            </a:r>
          </a:p>
          <a:p>
            <a:pPr>
              <a:spcAft>
                <a:spcPts val="0"/>
              </a:spcAft>
            </a:pPr>
            <a:r>
              <a:rPr sz="1250" b="0">
                <a:solidFill>
                  <a:srgbClr val="E6E6E6"/>
                </a:solidFill>
                <a:latin typeface="Consolas"/>
                <a:ea typeface="Consolas"/>
              </a:rPr>
              <a:t>주 1회 | 백업 가용성           | RESTORE DATABASE VALIDATE</a:t>
            </a:r>
          </a:p>
          <a:p>
            <a:pPr>
              <a:spcAft>
                <a:spcPts val="0"/>
              </a:spcAft>
            </a:pPr>
            <a:r>
              <a:rPr sz="1250" b="0">
                <a:solidFill>
                  <a:srgbClr val="E6E6E6"/>
                </a:solidFill>
                <a:latin typeface="Consolas"/>
                <a:ea typeface="Consolas"/>
              </a:rPr>
              <a:t>월 1회 | 대상 블록 손상        | VALIDATE CHECK LOGICAL DATABASE</a:t>
            </a:r>
          </a:p>
          <a:p>
            <a:pPr>
              <a:spcAft>
                <a:spcPts val="0"/>
              </a:spcAft>
            </a:pPr>
            <a:r>
              <a:rPr sz="1250" b="0">
                <a:solidFill>
                  <a:srgbClr val="E6E6E6"/>
                </a:solidFill>
                <a:latin typeface="Consolas"/>
                <a:ea typeface="Consolas"/>
              </a:rPr>
              <a:t>월 1회 | 복구 불가 파일        | REPORT UNRECOVERABLE</a:t>
            </a:r>
          </a:p>
          <a:p>
            <a:pPr>
              <a:spcAft>
                <a:spcPts val="0"/>
              </a:spcAft>
            </a:pPr>
            <a:r>
              <a:rPr sz="1250" b="0">
                <a:solidFill>
                  <a:srgbClr val="E6E6E6"/>
                </a:solidFill>
                <a:latin typeface="Consolas"/>
                <a:ea typeface="Consolas"/>
              </a:rPr>
              <a:t>반기   | 실제 복원 훈련        | 별도 환경에서 전체 복구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결과 확인과 이력 관리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매 백업 후 세 가지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LIST BACKUP OF DATABASE SUMMARY;</a:t>
            </a:r>
          </a:p>
          <a:p>
            <a:pPr>
              <a:spcAft>
                <a:spcPts val="0"/>
              </a:spcAft>
            </a:pPr>
            <a:r>
              <a:rPr sz="1250" b="0">
                <a:solidFill>
                  <a:srgbClr val="E6E6E6"/>
                </a:solidFill>
                <a:latin typeface="Consolas"/>
                <a:ea typeface="Consolas"/>
              </a:rPr>
              <a:t>RMAN&gt; REPORT NEED BACKUP;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session_key, input_type, status,</a:t>
            </a:r>
          </a:p>
          <a:p>
            <a:pPr>
              <a:spcAft>
                <a:spcPts val="0"/>
              </a:spcAft>
            </a:pPr>
            <a:r>
              <a:rPr sz="1250" b="0">
                <a:solidFill>
                  <a:srgbClr val="E6E6E6"/>
                </a:solidFill>
                <a:latin typeface="Consolas"/>
                <a:ea typeface="Consolas"/>
              </a:rPr>
              <a:t>  2         TO_CHAR(start_time, 'MM-DD HH24:MI') AS started,</a:t>
            </a:r>
          </a:p>
          <a:p>
            <a:pPr>
              <a:spcAft>
                <a:spcPts val="0"/>
              </a:spcAft>
            </a:pPr>
            <a:r>
              <a:rPr sz="1250" b="0">
                <a:solidFill>
                  <a:srgbClr val="E6E6E6"/>
                </a:solidFill>
                <a:latin typeface="Consolas"/>
                <a:ea typeface="Consolas"/>
              </a:rPr>
              <a:t>  3         elapsed_seconds AS secs,</a:t>
            </a:r>
          </a:p>
          <a:p>
            <a:pPr>
              <a:spcAft>
                <a:spcPts val="0"/>
              </a:spcAft>
            </a:pPr>
            <a:r>
              <a:rPr sz="1250" b="0">
                <a:solidFill>
                  <a:srgbClr val="E6E6E6"/>
                </a:solidFill>
                <a:latin typeface="Consolas"/>
                <a:ea typeface="Consolas"/>
              </a:rPr>
              <a:t>  4         ROUND(input_bytes/1024/1024) AS in_mb,</a:t>
            </a:r>
          </a:p>
          <a:p>
            <a:pPr>
              <a:spcAft>
                <a:spcPts val="0"/>
              </a:spcAft>
            </a:pPr>
            <a:r>
              <a:rPr sz="1250" b="0">
                <a:solidFill>
                  <a:srgbClr val="E6E6E6"/>
                </a:solidFill>
                <a:latin typeface="Consolas"/>
                <a:ea typeface="Consolas"/>
              </a:rPr>
              <a:t>  5         ROUND(output_bytes/1024/1024) AS out_mb</a:t>
            </a:r>
          </a:p>
          <a:p>
            <a:pPr>
              <a:spcAft>
                <a:spcPts val="0"/>
              </a:spcAft>
            </a:pPr>
            <a:r>
              <a:rPr sz="1250" b="0">
                <a:solidFill>
                  <a:srgbClr val="E6E6E6"/>
                </a:solidFill>
                <a:latin typeface="Consolas"/>
                <a:ea typeface="Consolas"/>
              </a:rPr>
              <a:t>  6  FROM   v$rman_backup_job_details</a:t>
            </a:r>
          </a:p>
          <a:p>
            <a:pPr>
              <a:spcAft>
                <a:spcPts val="0"/>
              </a:spcAft>
            </a:pPr>
            <a:r>
              <a:rPr sz="1250" b="0">
                <a:solidFill>
                  <a:srgbClr val="E6E6E6"/>
                </a:solidFill>
                <a:latin typeface="Consolas"/>
                <a:ea typeface="Consolas"/>
              </a:rPr>
              <a:t>  7  ORDER  BY start_time DESC FETCH FIRST 5 ROWS ONLY;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SESSION_KEY INPUT_TYPE  STATUS     STARTED     SECS IN_MB OUT_MB</a:t>
            </a:r>
          </a:p>
          <a:p>
            <a:pPr>
              <a:spcAft>
                <a:spcPts val="0"/>
              </a:spcAft>
            </a:pPr>
            <a:r>
              <a:rPr sz="1250" b="0">
                <a:solidFill>
                  <a:srgbClr val="7EC699"/>
                </a:solidFill>
                <a:latin typeface="Consolas"/>
                <a:ea typeface="Consolas"/>
              </a:rPr>
              <a:t>----------- ----------- ---------- --------- ------ ----- ------</a:t>
            </a:r>
          </a:p>
          <a:p>
            <a:pPr>
              <a:spcAft>
                <a:spcPts val="0"/>
              </a:spcAft>
            </a:pPr>
            <a:r>
              <a:rPr sz="1250" b="0">
                <a:solidFill>
                  <a:srgbClr val="E6E6E6"/>
                </a:solidFill>
                <a:latin typeface="Consolas"/>
                <a:ea typeface="Consolas"/>
              </a:rPr>
              <a:t>        141 DB FULL     COMPLETED  05-14 15:02   118  1770    712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전략 구성 예</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요건에서 구성으로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규모/요건                | 권장 구성</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소규모, 복구 여유 있음   | 매일 전체 백업 + PLUS ARCHIVELOG, 압축</a:t>
            </a:r>
          </a:p>
          <a:p>
            <a:pPr>
              <a:spcAft>
                <a:spcPts val="0"/>
              </a:spcAft>
            </a:pPr>
            <a:r>
              <a:rPr sz="1250" b="0">
                <a:solidFill>
                  <a:srgbClr val="E6E6E6"/>
                </a:solidFill>
                <a:latin typeface="Consolas"/>
                <a:ea typeface="Consolas"/>
              </a:rPr>
              <a:t>중규모, 백업 창 부족     | 주 1회 L0 + 매일 L1(차등) + BCT</a:t>
            </a:r>
          </a:p>
          <a:p>
            <a:pPr>
              <a:spcAft>
                <a:spcPts val="0"/>
              </a:spcAft>
            </a:pPr>
            <a:r>
              <a:rPr sz="1250" b="0">
                <a:solidFill>
                  <a:srgbClr val="E6E6E6"/>
                </a:solidFill>
                <a:latin typeface="Consolas"/>
                <a:ea typeface="Consolas"/>
              </a:rPr>
              <a:t>중규모, 복구 시간 촘촘   | 주 1회 L0 + 매일 L1(누적) + BCT</a:t>
            </a:r>
          </a:p>
          <a:p>
            <a:pPr>
              <a:spcAft>
                <a:spcPts val="0"/>
              </a:spcAft>
            </a:pPr>
            <a:r>
              <a:rPr sz="1250" b="0">
                <a:solidFill>
                  <a:srgbClr val="E6E6E6"/>
                </a:solidFill>
                <a:latin typeface="Consolas"/>
                <a:ea typeface="Consolas"/>
              </a:rPr>
              <a:t>대규모, 복구 시간 최우선 | 이미지 카피 + 증분 갱신 + SWITCH</a:t>
            </a:r>
          </a:p>
          <a:p>
            <a:pPr>
              <a:spcAft>
                <a:spcPts val="0"/>
              </a:spcAft>
            </a:pPr>
            <a:r>
              <a:rPr sz="1250" b="0">
                <a:solidFill>
                  <a:srgbClr val="E6E6E6"/>
                </a:solidFill>
                <a:latin typeface="Consolas"/>
                <a:ea typeface="Consolas"/>
              </a:rPr>
              <a:t>외부 반출                | 압축 + 암호화, KEEP 옵션</a:t>
            </a:r>
          </a:p>
          <a:p>
            <a:pPr>
              <a:spcAft>
                <a:spcPts val="0"/>
              </a:spcAft>
            </a:pPr>
            <a:r>
              <a:rPr sz="1250" b="0">
                <a:solidFill>
                  <a:srgbClr val="E6E6E6"/>
                </a:solidFill>
                <a:latin typeface="Consolas"/>
                <a:ea typeface="Consolas"/>
              </a:rPr>
              <a:t>결산·감사               | KEEP UNTIL TIME 또는 KEEP FOREVER</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공통 원칙</a:t>
            </a:r>
          </a:p>
          <a:p>
            <a:pPr>
              <a:spcAft>
                <a:spcPts val="0"/>
              </a:spcAft>
            </a:pPr>
            <a:r>
              <a:rPr sz="1250" b="0">
                <a:solidFill>
                  <a:srgbClr val="E6E6E6"/>
                </a:solidFill>
                <a:latin typeface="Consolas"/>
                <a:ea typeface="Consolas"/>
              </a:rPr>
              <a:t>  백업 위치를 데이터 디스크와 분리</a:t>
            </a:r>
          </a:p>
          <a:p>
            <a:pPr>
              <a:spcAft>
                <a:spcPts val="0"/>
              </a:spcAft>
            </a:pPr>
            <a:r>
              <a:rPr sz="1250" b="0">
                <a:solidFill>
                  <a:srgbClr val="E6E6E6"/>
                </a:solidFill>
                <a:latin typeface="Consolas"/>
                <a:ea typeface="Consolas"/>
              </a:rPr>
              <a:t>  아카이브를 백업본과 짝으로 확보</a:t>
            </a:r>
          </a:p>
          <a:p>
            <a:pPr>
              <a:spcAft>
                <a:spcPts val="0"/>
              </a:spcAft>
            </a:pPr>
            <a:r>
              <a:rPr sz="1250" b="0">
                <a:solidFill>
                  <a:srgbClr val="E6E6E6"/>
                </a:solidFill>
                <a:latin typeface="Consolas"/>
                <a:ea typeface="Consolas"/>
              </a:rPr>
              <a:t>  컨트롤파일 자동 백업을 켠다</a:t>
            </a:r>
          </a:p>
          <a:p>
            <a:pPr>
              <a:spcAft>
                <a:spcPts val="0"/>
              </a:spcAft>
            </a:pPr>
            <a:r>
              <a:rPr sz="1250" b="0">
                <a:solidFill>
                  <a:srgbClr val="E6E6E6"/>
                </a:solidFill>
                <a:latin typeface="Consolas"/>
                <a:ea typeface="Consolas"/>
              </a:rPr>
              <a:t>  정기적으로 복원 검증을 수행</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FULL과 Level 0</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전체 백업(FULL)과 증분 Level 0의 차이는?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담기는 내용이 다르다</a:t>
            </a:r>
          </a:p>
          <a:p>
            <a:pPr>
              <a:spcAft>
                <a:spcPts val="800"/>
              </a:spcAft>
            </a:pPr>
            <a:r>
              <a:rPr sz="1700" b="0">
                <a:solidFill>
                  <a:srgbClr val="202830"/>
                </a:solidFill>
                <a:latin typeface="Malgun Gothic"/>
                <a:ea typeface="Malgun Gothic"/>
              </a:rPr>
              <a:t>FULL은 증분 백업의 기준점이 될 수 없다</a:t>
            </a:r>
          </a:p>
          <a:p>
            <a:pPr>
              <a:spcAft>
                <a:spcPts val="800"/>
              </a:spcAft>
            </a:pPr>
            <a:r>
              <a:rPr sz="1700" b="0">
                <a:solidFill>
                  <a:srgbClr val="202830"/>
                </a:solidFill>
                <a:latin typeface="Malgun Gothic"/>
                <a:ea typeface="Malgun Gothic"/>
              </a:rPr>
              <a:t>Level 0은 변경분만 담는다</a:t>
            </a:r>
          </a:p>
          <a:p>
            <a:pPr>
              <a:spcAft>
                <a:spcPts val="800"/>
              </a:spcAft>
            </a:pPr>
            <a:r>
              <a:rPr sz="1700" b="0">
                <a:solidFill>
                  <a:srgbClr val="202830"/>
                </a:solidFill>
                <a:latin typeface="Malgun Gothic"/>
                <a:ea typeface="Malgun Gothic"/>
              </a:rPr>
              <a:t>차이가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BCT를 켜지 않은 증분 백업</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Block Change Tracking 없이 증분 백업을 하면?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증분 백업이 실패한다</a:t>
            </a:r>
          </a:p>
          <a:p>
            <a:pPr>
              <a:spcAft>
                <a:spcPts val="800"/>
              </a:spcAft>
            </a:pPr>
            <a:r>
              <a:rPr sz="1700" b="0">
                <a:solidFill>
                  <a:srgbClr val="202830"/>
                </a:solidFill>
                <a:latin typeface="Malgun Gothic"/>
                <a:ea typeface="Malgun Gothic"/>
              </a:rPr>
              <a:t>백업 크기는 줄지만 변경 블록을 찾으려 전체를 읽어 시간이 줄지 않는다</a:t>
            </a:r>
          </a:p>
          <a:p>
            <a:pPr>
              <a:spcAft>
                <a:spcPts val="800"/>
              </a:spcAft>
            </a:pPr>
            <a:r>
              <a:rPr sz="1700" b="0">
                <a:solidFill>
                  <a:srgbClr val="202830"/>
                </a:solidFill>
                <a:latin typeface="Malgun Gothic"/>
                <a:ea typeface="Malgun Gothic"/>
              </a:rPr>
              <a:t>백업 크기가 전체 백업과 같아진다</a:t>
            </a:r>
          </a:p>
          <a:p>
            <a:pPr>
              <a:spcAft>
                <a:spcPts val="800"/>
              </a:spcAft>
            </a:pPr>
            <a:r>
              <a:rPr sz="1700" b="0">
                <a:solidFill>
                  <a:srgbClr val="202830"/>
                </a:solidFill>
                <a:latin typeface="Malgun Gothic"/>
                <a:ea typeface="Malgun Gothic"/>
              </a:rPr>
              <a:t>아카이브가 백업되지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PLUS ARCHIVELOG의 마지막 로그 스위치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후에 한 번 더 로그 스위치를 거는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성능 향상</a:t>
            </a:r>
          </a:p>
          <a:p>
            <a:pPr>
              <a:spcAft>
                <a:spcPts val="800"/>
              </a:spcAft>
            </a:pPr>
            <a:r>
              <a:rPr sz="1700" b="0">
                <a:solidFill>
                  <a:srgbClr val="202830"/>
                </a:solidFill>
                <a:latin typeface="Malgun Gothic"/>
                <a:ea typeface="Malgun Gothic"/>
              </a:rPr>
              <a:t>데이터파일 백업 구간의 리두를 아카이브로 확보해 함께 백업하려고</a:t>
            </a:r>
          </a:p>
          <a:p>
            <a:pPr>
              <a:spcAft>
                <a:spcPts val="800"/>
              </a:spcAft>
            </a:pPr>
            <a:r>
              <a:rPr sz="1700" b="0">
                <a:solidFill>
                  <a:srgbClr val="202830"/>
                </a:solidFill>
                <a:latin typeface="Malgun Gothic"/>
                <a:ea typeface="Malgun Gothic"/>
              </a:rPr>
              <a:t>아카이브 공간 확보</a:t>
            </a:r>
          </a:p>
          <a:p>
            <a:pPr>
              <a:spcAft>
                <a:spcPts val="800"/>
              </a:spcAft>
            </a:pPr>
            <a:r>
              <a:rPr sz="1700" b="0">
                <a:solidFill>
                  <a:srgbClr val="202830"/>
                </a:solidFill>
                <a:latin typeface="Malgun Gothic"/>
                <a:ea typeface="Malgun Gothic"/>
              </a:rPr>
              <a:t>인카네이션 변경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 세트는 작고 압축 가능, 이미지 카피는 복구가 빠르다</a:t>
            </a:r>
          </a:p>
          <a:p>
            <a:pPr>
              <a:spcAft>
                <a:spcPts val="600"/>
              </a:spcAft>
            </a:pPr>
            <a:r>
              <a:rPr sz="1800" b="0">
                <a:solidFill>
                  <a:srgbClr val="202830"/>
                </a:solidFill>
                <a:latin typeface="Malgun Gothic"/>
                <a:ea typeface="Malgun Gothic"/>
              </a:rPr>
              <a:t>•  ARCHIVELOG 모드에서는 백업 모드 전환이 필요 없다</a:t>
            </a:r>
          </a:p>
          <a:p>
            <a:pPr>
              <a:spcAft>
                <a:spcPts val="600"/>
              </a:spcAft>
            </a:pPr>
            <a:r>
              <a:rPr sz="1800" b="0">
                <a:solidFill>
                  <a:srgbClr val="202830"/>
                </a:solidFill>
                <a:latin typeface="Malgun Gothic"/>
                <a:ea typeface="Malgun Gothic"/>
              </a:rPr>
              <a:t>•  PLUS ARCHIVELOG가 백업 구간 리두까지 확보한다</a:t>
            </a:r>
          </a:p>
          <a:p>
            <a:pPr>
              <a:spcAft>
                <a:spcPts val="600"/>
              </a:spcAft>
            </a:pPr>
            <a:r>
              <a:rPr sz="1800" b="0">
                <a:solidFill>
                  <a:srgbClr val="202830"/>
                </a:solidFill>
                <a:latin typeface="Malgun Gothic"/>
                <a:ea typeface="Malgun Gothic"/>
              </a:rPr>
              <a:t>•  FULL은 증분의 기준점이 되지 못한다 — Level 0으로 받는다</a:t>
            </a:r>
          </a:p>
          <a:p>
            <a:pPr>
              <a:spcAft>
                <a:spcPts val="600"/>
              </a:spcAft>
            </a:pPr>
            <a:r>
              <a:rPr sz="1800" b="0">
                <a:solidFill>
                  <a:srgbClr val="202830"/>
                </a:solidFill>
                <a:latin typeface="Malgun Gothic"/>
                <a:ea typeface="Malgun Gothic"/>
              </a:rPr>
              <a:t>•  차등은 백업이 작고 누적은 복구가 빠르다</a:t>
            </a:r>
          </a:p>
          <a:p>
            <a:pPr>
              <a:spcAft>
                <a:spcPts val="600"/>
              </a:spcAft>
            </a:pPr>
            <a:r>
              <a:rPr sz="1800" b="0">
                <a:solidFill>
                  <a:srgbClr val="202830"/>
                </a:solidFill>
                <a:latin typeface="Malgun Gothic"/>
                <a:ea typeface="Malgun Gothic"/>
              </a:rPr>
              <a:t>•  BCT 없이는 증분의 시간 이득이 없다</a:t>
            </a:r>
          </a:p>
          <a:p>
            <a:pPr>
              <a:spcAft>
                <a:spcPts val="600"/>
              </a:spcAft>
            </a:pPr>
            <a:r>
              <a:rPr sz="1800" b="0">
                <a:solidFill>
                  <a:srgbClr val="202830"/>
                </a:solidFill>
                <a:latin typeface="Malgun Gothic"/>
                <a:ea typeface="Malgun Gothic"/>
              </a:rPr>
              <a:t>•  백업이 돌고 있다는 것과 쓸 수 있다는 것은 다르다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14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14-1  BACKUP DATABASE PLUS ARCHIVELOG</a:t>
            </a:r>
          </a:p>
          <a:p>
            <a:pPr>
              <a:spcAft>
                <a:spcPts val="600"/>
              </a:spcAft>
            </a:pPr>
            <a:r>
              <a:rPr sz="1800" b="0">
                <a:solidFill>
                  <a:srgbClr val="202830"/>
                </a:solidFill>
                <a:latin typeface="Malgun Gothic"/>
                <a:ea typeface="Malgun Gothic"/>
              </a:rPr>
              <a:t>•  실습 14-2  테이블스페이스·데이터파일 단위 백업</a:t>
            </a:r>
          </a:p>
          <a:p>
            <a:pPr>
              <a:spcAft>
                <a:spcPts val="600"/>
              </a:spcAft>
            </a:pPr>
            <a:r>
              <a:rPr sz="1800" b="0">
                <a:solidFill>
                  <a:srgbClr val="202830"/>
                </a:solidFill>
                <a:latin typeface="Malgun Gothic"/>
                <a:ea typeface="Malgun Gothic"/>
              </a:rPr>
              <a:t>•  실습 14-3  증분 Level 0/1과 누적·차등 비교</a:t>
            </a:r>
          </a:p>
          <a:p>
            <a:pPr>
              <a:spcAft>
                <a:spcPts val="600"/>
              </a:spcAft>
            </a:pPr>
            <a:r>
              <a:rPr sz="1800" b="0">
                <a:solidFill>
                  <a:srgbClr val="202830"/>
                </a:solidFill>
                <a:latin typeface="Malgun Gothic"/>
                <a:ea typeface="Malgun Gothic"/>
              </a:rPr>
              <a:t>•  실습 14-4  Block Change Tracking 활성화와 효과</a:t>
            </a:r>
          </a:p>
          <a:p>
            <a:pPr>
              <a:spcAft>
                <a:spcPts val="600"/>
              </a:spcAft>
            </a:pPr>
            <a:r>
              <a:rPr sz="1800" b="0">
                <a:solidFill>
                  <a:srgbClr val="202830"/>
                </a:solidFill>
                <a:latin typeface="Malgun Gothic"/>
                <a:ea typeface="Malgun Gothic"/>
              </a:rPr>
              <a:t>•  실습 14-5  이미지 카피와 SWITCH</a:t>
            </a:r>
          </a:p>
          <a:p>
            <a:pPr>
              <a:spcAft>
                <a:spcPts val="600"/>
              </a:spcAft>
            </a:pPr>
            <a:r>
              <a:rPr sz="1800" b="0">
                <a:solidFill>
                  <a:srgbClr val="202830"/>
                </a:solidFill>
                <a:latin typeface="Malgun Gothic"/>
                <a:ea typeface="Malgun Gothic"/>
              </a:rPr>
              <a:t>•  실습 14-6  압축 백업과 조각 크기 조정</a:t>
            </a:r>
          </a:p>
          <a:p>
            <a:pPr>
              <a:spcAft>
                <a:spcPts val="600"/>
              </a:spcAft>
            </a:pPr>
            <a:r>
              <a:rPr sz="1800" b="0">
                <a:solidFill>
                  <a:srgbClr val="202830"/>
                </a:solidFill>
                <a:latin typeface="Malgun Gothic"/>
                <a:ea typeface="Malgun Gothic"/>
              </a:rPr>
              <a:t>•  실습 14-7  RMAN 백업 암호화</a:t>
            </a:r>
          </a:p>
          <a:p>
            <a:pPr>
              <a:spcAft>
                <a:spcPts val="600"/>
              </a:spcAft>
            </a:pPr>
            <a:r>
              <a:rPr sz="1800" b="0">
                <a:solidFill>
                  <a:srgbClr val="202830"/>
                </a:solidFill>
                <a:latin typeface="Malgun Gothic"/>
                <a:ea typeface="Malgun Gothic"/>
              </a:rPr>
              <a:t>•  실습 14-8  VALIDATE / BACKUP VALIDATE / RESTORE PREVIEW</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13장에서 설정한 CONFIGURE 값이 그대로 있어야 하며 백업 위치에 여유 공간이 필요하다.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
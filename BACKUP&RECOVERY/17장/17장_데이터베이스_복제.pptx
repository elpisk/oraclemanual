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16장의 RECOVER TABLE이 내부에서 하던 일을 손으로 수행해 본다. 복제는 복구 기술의 응용이며 새로운 원리가 나오지 않는다. 복원과 복구, 컨트롤파일 재생성이 그대로 쓰이고 이름과 식별자를 바꾸는 단계가 추가될 뿐이다. 복제를 해 보면 복구 절차의 이해도 함께 깊어진다. 실습은 여덟 개이며 복제본은 CLONE과 NEWDB를 쓴다. 복제를 해 보면 복구 절차의 이해도 함께 깊어진다는 점을 먼저 말해 둔다. 실습이 여덟 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목표 중 앞의 둘이 수동 복제, 가운데 둘이 DUPLICATE, 뒤의 둘이 응용과 정리다. 수동 복제를 먼저 하는 이유는 절차가 모두 노출되기 때문이다. DUPLICATE의 Memory Script를 읽으면 같은 절차가 자동화된 것임을 알 수 있다. 수동 복제를 먼저 하는 이유는 절차가 모두 노출되기 때문이다. DUPLICATE는 그것을 자동화한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17.2절이 가장 길고 손이 많이 간다. 그 대신 절차가 모두 드러나므로 학습 가치가 크다. 17.4절은 그것을 자동화한 것이라 명령 몇 줄로 끝난다. 두 절을 대조하며 읽으면 DUPLICATE가 무엇을 대신해 주는지 분명해진다. 두 절을 대조하며 읽으면 DUPLICATE가 무엇을 대신하는지 분명해진다. 17.2절이 가장 길다. 각 절이 앞 절 위에 쌓이므로 순서를 지켜 진행한다.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17.1절은 왜 복제하는지와 어떤 방식이 있는지를 정리한다. 복구 훈련, 테스트, 과거 데이터 조회, 객체 복구, 이관 시험이 대표적인 목적이다. 어느 경우든 복제본이 원본과 구분되어야 하며 그 구분을 만드는 것이 복제 절차의 상당 부분을 차지한다. 복제본이 원본과 구분되어야 한다는 점이 절차의 출발점이라는 것을 강조한다. 복구 훈련, 테스트, 과거 조회, 객체 복구가 대표적 목적이다.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백업이 이미 있으면 백업 기반 DUPLICATE가 가장 단순하다. 원본에 부하가 없고 절차도 짧아 실무에서 가장 많이 쓰인다. 백업이 없거나 최신 상태가 필요하면 ACTIVE DUPLICATE를 쓴다. 수동 복제는 원리를 이해하는 데 가치가 있고 SYS 객체 복구 같은 특수 상황에서도 쓰인다. 실무에서 가장 많이 쓰이는 것은 백업 기반 DUPLICATE라는 점을 짚는다.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DBID가 같으면 카탈로그가 둘을 구분하지 못해 복제본의 백업 정보가 원본의 것으로 기록될 수 있다. 장애 시 복제본의 백업으로 원본을 복구하려다 실패하는 상황이 생긴다. DUPLICATE는 이 문제를 자동으로 막지만 OS 명령으로 파일만 복사했다면 반드시 nid로 DBID를 바꿔야 한다. DBID가 같으면 카탈로그가 둘을 구분하지 못한다는 점이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 절차는 복구 절차의 재구성이다. 지금까지 배운 것을 다른 목적으로 조합하는 것이 전부이며 새로 배울 개념은 거의 없다. 그래서 복제를 해 보면 복구 절차의 이해도 함께 깊어진다. 각 단계에서 해당 장을 떠올리며 진행하면 흐름이 자연스럽게 이어진다. 각 단계에서 해당 장을 떠올리며 진행하면 흐름이 자연스럽게 이어진다는 점을 안내한다. 각 단계마다 해당 장을 참조하도록 안내하면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17.2절이 이 장에서 가장 길다. 손이 많이 가지만 절차가 모두 드러나므로 학습 가치가 크다. 특히 컨트롤파일 재생성 문을 직접 수정하는 과정에서 각 절의 의미를 확인하게 된다. 경로를 하나라도 원본으로 남기면 운영 데이터가 손상되므로 검증이 중요하다. 손이 많이 가지만 학습 가치가 가장 큰 절이므로 시간을 넉넉히 배분한다. 컨트롤파일 재생성 문을 직접 수정하며 각 절의 의미를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임시 파일은 복사하지 않는다. 복제본을 연 뒤 새로 만든다. 온라인 리두도 복사하지 않으며 컨트롤파일 재생성 시 새로 만들어진다. adump 디렉터리를 빠뜨리면 인스턴스 기동이 실패하므로 미리 만들어 둔다. 공간은 데이터파일 크기에 리두와 아카이브 몫을 더해 계산한다. adump 디렉터리를 빠뜨리면 인스턴스 기동이 실패한다는 점을 반드시 짚는다. 공간은 데이터파일에 리두와 아카이브 몫을 더해 계산한다.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REUSE DATABASE는 같은 이름을 유지하며 DBID도 그대로다. SET DATABASE는 새 이름을 지정하며 새 DBID가 만들어진다. 복제본을 만들 때는 반드시 SET DATABASE를 쓴다. 경로 하나를 원본으로 남긴 채 복제본을 열어 운영 데이터가 손상된 사례가 있다. grep으로 원본 경로 문자열이 없는지 확인하는 것이 가장 확실한 검증이다. 실행 전 grep 검증을 반드시 습관으로 만들도록 지도한다.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단계는 10장의 불완전 복구와 완전히 같다. 백업 컨트롤파일을 썼으므로 RESETLOGS가 강제되고 임시 파일을 새로 만들어야 한다. ORA-01547과 ORA-01152가 함께 나오는 것은 적용할 아카이브를 다 썼다는 신호이며 CANCEL로 마무리하면 된다. ORACLE_SID를 복제본으로 바꾸는 것을 잊지 않는다. 10장의 불완전 복구와 완전히 같은 단계라는 점을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DATABASE는 데이터파일, 컨트롤파일, 온라인 리두를 함께 지운다. MOUNT EXCLUSIVE RESTRICT 상태여야 실행할 수 있다. 실수로 원본에서 수행하지 않도록 ORACLE_SID와 v$database의 이름을 반드시 확인한 뒤 실행한다. 아카이브와 pfile은 별도로 지워야 한다. ORACLE_SID를 확인하고 실행하는 습관을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위험한 것은 다섯 번째다. 원본 경로가 남아 있으면 복제본이 원본 파일을 쓰게 되고 그 상태로 열면 운영 데이터가 손상된다. 문을 실행하기 전에 grep으로 확인하는 습관이 필요하다. ORACLE_SID를 잘못 둔 채 작업하는 실수도 흔하므로 프롬프트에 SID가 보이도록 SET SQLPROMPT를 설정해 두면 도움이 된다. 다섯 번째 오류가 가장 위험하다는 점을 다시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17.3절은 DUPLICATE를 쓰기 위한 준비다. 세 가지가 갖춰져야 한다. 리스너 정적 등록, 패스워드 파일, 그리고 NOMOUNT 상태의 복제본 인스턴스다. 이 중 하나라도 빠지면 DUPLICATE가 시작조차 되지 않는다. 세 가지 중 하나만 빠져도 DUPLICATE가 시작조차 되지 않는다는 점을 강조한다. 리스너 정적 등록, 패스워드 파일, NOMOUNT 인스턴스 셋이다.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복제본은 아직 열려 있지 않으므로 동적 등록을 기대할 수 없다. 정적 등록을 하지 않으면 ORA-12514로 접속이 거부된다. DUPLICATE는 SYSDBA로 원격 접속하므로 OS 인증이 아니라 패스워드 파일 인증을 쓴다. 원본과 복제본의 SYS 비밀번호가 다르면 ORA-01017로 실패하므로 원본 파일을 복사해 이름만 바꾸는 방법이 가장 확실하다. 13장에서 카탈로그를 정적 등록한 이유와 같은 맥락이다.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db_create_file_dest를 지정하면 DUPLICATE가 그 아래에 파일을 자동으로 배치하므로 경로 변환 규칙이 필요 없다. 지정하지 않으면 DB_FILE_NAME_CONVERT로 규칙을 줘야 한다. 변환 규칙은 문자열 치환이며 여러 쌍을 나열할 수 있다. 규칙에 걸리지 않는 경로가 있으면 원본 경로가 그대로 쓰여 위험하므로 원본의 모든 파일 경로를 대조해야 한다. OMF를 쓰면 경로 변환 규칙이 필요 없어 구성이 단순해진다.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17.4절은 앞 절의 수동 절차를 자동화한 것이다. 명령은 몇 줄이지만 내부에서는 같은 일이 일어난다. Memory Script를 읽으면 SET NEWNAME, RESTORE, RECOVER, OPEN RESETLOGS가 그대로 나온다. 수동 복제를 해 본 뒤 이 로그를 보면 이해가 훨씬 쉽다. 수동 복제를 해 본 뒤 이 절을 보면 이해가 훨씬 쉽다는 점을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백업이 없어도 되며 항상 최신 상태로 복제된다. 대신 원본과 네트워크에 부하가 걸린다. SPFILE 절의 SET으로 복제본의 파라미터를 함께 지정할 수 있어 편리하다. 19c의 ACTIVE DUPLICATE는 서비스 기반으로 동작해 12c 이전의 이미지 복사 방식보다 효율이 높고 SECTION SIZE로 병렬 처리도 가능하다. SPFILE 절의 SET으로 복제본 파라미터를 함께 지정할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clone이 붙은 명령이 복제본을 대상으로 하는 것이다. 컨트롤파일 생성, 데이터파일 복원, 아카이브 적용, RESETLOGS 오픈 순서가 17.2절과 완전히 같다. 다른 점은 사람이 하나씩 하던 일을 RMAN이 순서대로 실행한다는 것뿐이다. 실패하면 어느 Memory Script에서 멈췄는지로 원인을 좁힐 수 있다. 실패 시 어느 Memory Script에서 멈췄는지로 원인을 좁힌다.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 기반 복제는 원본에 부하가 없어 복구 훈련용 환경 구축에 가장 적합하다. 백업본을 다른 서버로 옮겨 복제하는 것도 같은 방식이다. UNTIL 절을 붙이면 과거 시점의 복제본이 만들어진다. 이 방식이 16장 RECOVER TABLE의 대안이 되며 SYS 스키마나 SYSTEM 테이블스페이스의 객체도 다룰 수 있다는 점이 장점이다. 16장 RECOVER TABLE의 대안이 된다는 점을 연결해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명령으로 데이터파일을 복사해 복제본을 만든 경우 DBID가 원본과 같아 반드시 바꿔야 한다. MOUNT 상태에서 수행하며 완료 후 pfile의 db_name을 바꾸고 패스워드 파일을 다시 만든 뒤 RESETLOGS로 열어야 한다. 이전 백업이 모두 무효가 되므로 즉시 새 백업을 받는다. SETNAME=YES를 주면 이름만 바꾸고 DBID는 유지된다. 이전 백업이 모두 무효가 되므로 즉시 새 백업을 받는다.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RMAN-05001이 특히 중요하다. 복제본의 파일 경로가 원본과 같아질 때 발생하며 RMAN이 원본을 덮어쓰는 것을 막아 주는 안전장치다. 경로 변환 규칙이 모든 파일에 적용되는지 확인해야 한다. 실패 후에는 복제본 인스턴스를 SHUTDOWN ABORT하고 만들어진 파일을 지운 뒤 다시 시작한다. 그대로 두고 재시도하면 파일 충돌로 또 실패한다. 실패 후에는 반드시 정리하고 다시 시작해야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17.5절은 15장에서 개요만 다룬 TSPITR를 마무리한다. 내부적으로 복제와 같은 절차가 진행되므로 이 장에서 다루는 것이 자연스럽다. 제약이 있어 쓸 수 있는 상황이 제한되며 그 테이블스페이스의 이전 백업이 무효가 되는 점도 부담이다. 15장에서 개요만 다룬 내용을 이 절에서 마무리한다는 점을 알려 준다. 내부적으로 복제와 같은 절차가 진행되므로 이 장에서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대상 테이블스페이스가 자기 완결적이어야 한다. 인덱스가 다른 테이블스페이스에 있으면 함께 지정하거나 옮겨야 한다. SYSTEM, SYSAUX, UNDO는 대상이 될 수 없다. 위반 사항이 없으면 transport_set_violations가 비어 있다. 완료 후 해당 테이블스페이스는 OFFLINE 상태가 되므로 ONLINE으로 되돌린다. 완료 후 테이블스페이스를 ONLINE으로 되돌리는 것을 잊지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실무에서는 복제본에서 추출하는 방식을 더 자주 쓴다. 원본에 영향이 없고 제약이 적기 때문이다. TSPITR는 그 테이블스페이스의 이전 백업이 무효가 되는 점이 부담이다. 다만 테이블스페이스 전체를 되돌려야 하거나 복제본을 둘 공간이 부족하면 TSPITR가 유리하다. 어느 쪽이든 사전 점검이 필요하다는 점은 같다. 실무에서는 복제본 방식을 더 자주 쓴다는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가장 많이 쓰이는 것은 백업 기반 DUPLICATE다. 원본에 부하가 없고 절차가 짧기 때문이다. 어느 방식이든 확인할 것은 같다. DB_NAME과 DBID가 원본과 다른지, 모든 파일 경로가 복제본의 것인지, 복제본의 아카이브가 원본 위치에 섞이지 않는지다. 이 세 가지를 복제 직후 반드시 확인한다. 세 가지 확인 항목을 복제 직후 반드시 수행하도록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테스트용 복제본의 log_archive_dest를 그대로 두어 복제본의 아카이브가 원본 디렉터리에 쌓인 사례가 있다. 며칠 뒤 복제본에서 정리 스크립트를 돌리자 원본 아카이브까지 지워져 복구할 수 없는 구간이 생겼다. 복제 후 경로를 모두 확인해야 하는 이유다. 정체를 알 수 없는 복제본이 자원을 쓰는 상황도 흔하므로 생성 시 기록을 남기고 수명을 정해 둔다. 정체를 알 수 없는 복제본이 자원을 쓰는 상황이 흔하다.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빠뜨리기 쉬운 항목이 셋 있다. audit_file_dest는 없으면 인스턴스 기동이 실패한다. db_recovery_file_dest를 원본 값 그대로 두면 복제본이 원본 FRA에 파일을 만든다. log_archive_dest를 그대로 두면 복제본의 아카이브가 원본 위치에 섞인다. 메모리 값은 원본보다 작게 잡아도 된다. 복제본은 시험용이므로 크게 쓸 이유가 없다. 메모리 값은 원본보다 작게 잡아도 무방하다는 점을 함께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항목 중 하나라도 빠지면 절차 중간에 막힌다. 특히 마지막 항목이 중요하다. 경로를 하나라도 원본으로 남기면 복제본이 원본 파일을 쓰게 되어 운영 데이터가 손상된다. 이 체크리스트를 복제 작업 요청 티켓의 항목으로 넣어 두면 누락이 크게 줄어든다. 실행 직전의 grep 검증은 몇 초면 끝나지만 가장 큰 사고를 막아 준다. 이 체크리스트를 복제 요청 티켓의 항목으로 넣도록 권한다.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기록이 없으면 나중에 곤란해진다. 정체를 알 수 없는 인스턴스가 자원을 쓰고 있는데 지워도 되는지 판단할 근거가 없어 방치되는 상황이 흔하다. 복제 요청 티켓에 이 항목을 넣어 두면 자연스럽게 기록이 남는다. 삭제 예정일을 함께 적어 두면 정리 시점도 분명해진다. 삭제 예정일을 함께 적어 두면 정리 시점이 분명해진다. 복제본 기록이 없어 방치되는 상황이 실무에서 흔하다.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같으면 카탈로그가 둘을 구분하지 못해 백업 관리에서 충돌한다. DUPLICATE는 자동으로 처리하지만 OS 명령으로 파일만 복사했다면 nid로 직접 바꿔야 한다. 복제본의 백업 정보가 원본의 것으로 기록되면 장애 시 복구가 실패할 수 있다. 복제본의 백업 정보가 원본 것으로 기록되면 장애 시 복구가 실패한다. DUPLICATE는 자동 처리하지만 파일 복사 방식은 그렇지 않다.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복제본을 만들 때는 SET DATABASE를 쓴다. REUSE는 같은 이름을 유지하므로 원본과 구분되지 않는다. 6장과 11장에서 컨트롤파일을 재생성할 때는 REUSE를 썼는데 그때는 같은 데이터베이스를 되살리는 것이 목적이었기 때문이다. 6장과 11장에서 REUSE를 쓴 이유와 대비해 설명하면 이해가 빠르다. 목적이 다르므로 절도 달라진다는 점을 이해시킨다.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정적 등록을 하지 않으면 ORA-12514로 접속이 거부된다. 복제본은 아직 열려 있지 않으므로 동적 등록을 기대할 수 없다. 13장에서 카탈로그 데이터베이스를 정적 등록한 이유와 같은 맥락이다. 13장의 카탈로그 정적 등록과 같은 이유라는 점을 연결해 짚는다. 정적 등록을 빠뜨리면 ORA-12514로 막힌다. 복제본은 아직 열려 있지 않아 동적 등록을 기대할 수 없다는 점이 이유다.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장을 마치면 4~16장의 내용이 하나로 이어진다. 복원, 복구, 컨트롤파일 재생성, RESETLOGS가 복제라는 다른 목적으로 조합되는 것을 확인했기 때문이다. 다음 장에서는 백업과 무관하게 되돌리는 Flashback 기술을 다룬다. 다음 장에서 백업과 무관하게 되돌리는 Flashback 기술을 다룬다. 4~16장의 내용이 이 장에서 하나로 이어진다. 복원·복구·재생성·RESETLOGS가 복제라는 목적으로 조합된 것을 확인했다.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17-1부터 17-5까지가 수동 복제 한 흐름이므로 이어서 수행해야 한다. 17-6부터 17-8이 DUPLICATE이며 앞의 절차와 대조하며 진행한다. 17-3에서 원본 경로가 남았을 때의 위험을 확인하는데 이것이 이 장에서 가장 중요한 장면이다. 복제본용 공간과 별도 SID를 미리 준비해야 실습이 끊기지 않는다. 17-3의 장면이 이 장에서 가장 중요하므로 시간을 들여 진행한다.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제17장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데이터베이스 복제 — Clone DB와 RMAN Duplicate</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복제의 목적 · 수동 복제 · 환경 구성 · DUPLICATE · 시점 복제 · nid · TSPITR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복제가 필요한 상황과 방식을 구분한다</a:t>
            </a:r>
          </a:p>
          <a:p>
            <a:pPr>
              <a:spcAft>
                <a:spcPts val="600"/>
              </a:spcAft>
            </a:pPr>
            <a:r>
              <a:rPr sz="1600" b="0">
                <a:solidFill>
                  <a:srgbClr val="5A6672"/>
                </a:solidFill>
                <a:latin typeface="Malgun Gothic"/>
                <a:ea typeface="Malgun Gothic"/>
              </a:rPr>
              <a:t>    –  백업본과 컨트롤파일 재생성으로 복제본을 만든다</a:t>
            </a:r>
          </a:p>
          <a:p>
            <a:pPr>
              <a:spcAft>
                <a:spcPts val="600"/>
              </a:spcAft>
            </a:pPr>
            <a:r>
              <a:rPr sz="1600" b="0">
                <a:solidFill>
                  <a:srgbClr val="5A6672"/>
                </a:solidFill>
                <a:latin typeface="Malgun Gothic"/>
                <a:ea typeface="Malgun Gothic"/>
              </a:rPr>
              <a:t>    –  복제 환경의 네트워크와 인증을 구성한다</a:t>
            </a:r>
          </a:p>
          <a:p>
            <a:pPr>
              <a:spcAft>
                <a:spcPts val="600"/>
              </a:spcAft>
            </a:pPr>
            <a:r>
              <a:rPr sz="1600" b="0">
                <a:solidFill>
                  <a:srgbClr val="5A6672"/>
                </a:solidFill>
                <a:latin typeface="Malgun Gothic"/>
                <a:ea typeface="Malgun Gothic"/>
              </a:rPr>
              <a:t>    –  RMAN DUPLICATE로 복제를 자동화한다</a:t>
            </a:r>
          </a:p>
          <a:p>
            <a:pPr>
              <a:spcAft>
                <a:spcPts val="600"/>
              </a:spcAft>
            </a:pPr>
            <a:r>
              <a:rPr sz="1600" b="0">
                <a:solidFill>
                  <a:srgbClr val="5A6672"/>
                </a:solidFill>
                <a:latin typeface="Malgun Gothic"/>
                <a:ea typeface="Malgun Gothic"/>
              </a:rPr>
              <a:t>    –  시점을 지정해 과거 상태의 복제본을 만든다</a:t>
            </a:r>
          </a:p>
          <a:p>
            <a:pPr>
              <a:spcAft>
                <a:spcPts val="600"/>
              </a:spcAft>
            </a:pPr>
            <a:r>
              <a:rPr sz="1600" b="0">
                <a:solidFill>
                  <a:srgbClr val="5A6672"/>
                </a:solidFill>
                <a:latin typeface="Malgun Gothic"/>
                <a:ea typeface="Malgun Gothic"/>
              </a:rPr>
              <a:t>    –  복제본을 정식 절차로 삭제한다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17.1  복제의 목적과 방식 — 상황 · 세 방식 · 바뀌어야 할 것 · 복구와의 관계</a:t>
            </a:r>
          </a:p>
          <a:p>
            <a:pPr>
              <a:spcAft>
                <a:spcPts val="600"/>
              </a:spcAft>
            </a:pPr>
            <a:r>
              <a:rPr sz="1800" b="0">
                <a:solidFill>
                  <a:srgbClr val="202830"/>
                </a:solidFill>
                <a:latin typeface="Malgun Gothic"/>
                <a:ea typeface="Malgun Gothic"/>
              </a:rPr>
              <a:t>•  17.2  수동 복제 — 준비 · pfile · CREATE CONTROLFILE · 복구 · 삭제 · 오류</a:t>
            </a:r>
          </a:p>
          <a:p>
            <a:pPr>
              <a:spcAft>
                <a:spcPts val="600"/>
              </a:spcAft>
            </a:pPr>
            <a:r>
              <a:rPr sz="1800" b="0">
                <a:solidFill>
                  <a:srgbClr val="202830"/>
                </a:solidFill>
                <a:latin typeface="Malgun Gothic"/>
                <a:ea typeface="Malgun Gothic"/>
              </a:rPr>
              <a:t>•  17.3  복제 환경 구성 — 네트워크 · 패스워드 · 인스턴스 · 경로 변환 · 공간</a:t>
            </a:r>
          </a:p>
          <a:p>
            <a:pPr>
              <a:spcAft>
                <a:spcPts val="600"/>
              </a:spcAft>
            </a:pPr>
            <a:r>
              <a:rPr sz="1800" b="0">
                <a:solidFill>
                  <a:srgbClr val="202830"/>
                </a:solidFill>
                <a:latin typeface="Malgun Gothic"/>
                <a:ea typeface="Malgun Gothic"/>
              </a:rPr>
              <a:t>•  17.4  RMAN DUPLICATE — ACTIVE · 진행 단계 · 백업 기반 · 시점 · nid · 실패</a:t>
            </a:r>
          </a:p>
          <a:p>
            <a:pPr>
              <a:spcAft>
                <a:spcPts val="600"/>
              </a:spcAft>
            </a:pPr>
            <a:r>
              <a:rPr sz="1800" b="0">
                <a:solidFill>
                  <a:srgbClr val="202830"/>
                </a:solidFill>
                <a:latin typeface="Malgun Gothic"/>
                <a:ea typeface="Malgun Gothic"/>
              </a:rPr>
              <a:t>•  17.5  TSPITR — 개념 · 제약 · 복제본 방식과 비교</a:t>
            </a:r>
          </a:p>
          <a:p>
            <a:pPr>
              <a:spcAft>
                <a:spcPts val="600"/>
              </a:spcAft>
            </a:pPr>
            <a:r>
              <a:rPr sz="1800" b="0">
                <a:solidFill>
                  <a:srgbClr val="202830"/>
                </a:solidFill>
                <a:latin typeface="Malgun Gothic"/>
                <a:ea typeface="Malgun Gothic"/>
              </a:rPr>
              <a:t>•  17.6 선택표와 운영 주의 · 17.7 퀴즈 · 요약 · 실습 8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복제본용으로 3GB 이상의 여유 공간과 별도 SID가 필요하다.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17.1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복제의 목적과 방식</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복제본은 원본과 독립적이어야 한다</a:t>
            </a:r>
          </a:p>
          <a:p>
            <a:pPr>
              <a:spcAft>
                <a:spcPts val="600"/>
              </a:spcAft>
            </a:pPr>
            <a:r>
              <a:rPr sz="1600" b="0">
                <a:solidFill>
                  <a:srgbClr val="C5CED6"/>
                </a:solidFill>
                <a:latin typeface="Malgun Gothic"/>
                <a:ea typeface="Malgun Gothic"/>
              </a:rPr>
              <a:t>•  세 가지 방식 — 수동 · 백업 기반 · ACTIVE</a:t>
            </a:r>
          </a:p>
          <a:p>
            <a:pPr>
              <a:spcAft>
                <a:spcPts val="600"/>
              </a:spcAft>
            </a:pPr>
            <a:r>
              <a:rPr sz="1600" b="0">
                <a:solidFill>
                  <a:srgbClr val="C5CED6"/>
                </a:solidFill>
                <a:latin typeface="Malgun Gothic"/>
                <a:ea typeface="Malgun Gothic"/>
              </a:rPr>
              <a:t>•  복제는 복구 기술의 재구성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세 가지 방식 비교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백업 가용성과 원본 부하가 기준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구분           | 수동 복제       | 백업 DUPLICATE | ACTIVE DUPLICATE</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백업 필요      | 예              | 예             | 아니오</a:t>
            </a:r>
          </a:p>
          <a:p>
            <a:pPr>
              <a:spcAft>
                <a:spcPts val="0"/>
              </a:spcAft>
            </a:pPr>
            <a:r>
              <a:rPr sz="1250" b="0">
                <a:solidFill>
                  <a:srgbClr val="E6E6E6"/>
                </a:solidFill>
                <a:latin typeface="Consolas"/>
                <a:ea typeface="Consolas"/>
              </a:rPr>
              <a:t>원본 접속      | 불필요          | 불필요         | 필요</a:t>
            </a:r>
          </a:p>
          <a:p>
            <a:pPr>
              <a:spcAft>
                <a:spcPts val="0"/>
              </a:spcAft>
            </a:pPr>
            <a:r>
              <a:rPr sz="1250" b="0">
                <a:solidFill>
                  <a:srgbClr val="E6E6E6"/>
                </a:solidFill>
                <a:latin typeface="Consolas"/>
                <a:ea typeface="Consolas"/>
              </a:rPr>
              <a:t>네트워크 부하  | 없음            | 없음           | 큼</a:t>
            </a:r>
          </a:p>
          <a:p>
            <a:pPr>
              <a:spcAft>
                <a:spcPts val="0"/>
              </a:spcAft>
            </a:pPr>
            <a:r>
              <a:rPr sz="1250" b="0">
                <a:solidFill>
                  <a:srgbClr val="E6E6E6"/>
                </a:solidFill>
                <a:latin typeface="Consolas"/>
                <a:ea typeface="Consolas"/>
              </a:rPr>
              <a:t>원본 부하      | 없음            | 없음           | 있음</a:t>
            </a:r>
          </a:p>
          <a:p>
            <a:pPr>
              <a:spcAft>
                <a:spcPts val="0"/>
              </a:spcAft>
            </a:pPr>
            <a:r>
              <a:rPr sz="1250" b="0">
                <a:solidFill>
                  <a:srgbClr val="E6E6E6"/>
                </a:solidFill>
                <a:latin typeface="Consolas"/>
                <a:ea typeface="Consolas"/>
              </a:rPr>
              <a:t>절차 길이      | 김              | 짧음           | 짧음</a:t>
            </a:r>
          </a:p>
          <a:p>
            <a:pPr>
              <a:spcAft>
                <a:spcPts val="0"/>
              </a:spcAft>
            </a:pPr>
            <a:r>
              <a:rPr sz="1250" b="0">
                <a:solidFill>
                  <a:srgbClr val="E6E6E6"/>
                </a:solidFill>
                <a:latin typeface="Consolas"/>
                <a:ea typeface="Consolas"/>
              </a:rPr>
              <a:t>과거 시점 지정 | 가능            | 가능           | 제한적</a:t>
            </a:r>
          </a:p>
          <a:p>
            <a:pPr>
              <a:spcAft>
                <a:spcPts val="0"/>
              </a:spcAft>
            </a:pPr>
            <a:r>
              <a:rPr sz="1250" b="0">
                <a:solidFill>
                  <a:srgbClr val="E6E6E6"/>
                </a:solidFill>
                <a:latin typeface="Consolas"/>
                <a:ea typeface="Consolas"/>
              </a:rPr>
              <a:t>학습 가치      | 높음(원리 노출) | 보통           | 보통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복제 시 바뀌어야 하는 것</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독립성의 조건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원본</a:t>
            </a:r>
          </a:p>
          <a:p>
            <a:pPr>
              <a:spcAft>
                <a:spcPts val="0"/>
              </a:spcAft>
            </a:pPr>
            <a:r>
              <a:rPr sz="1250" b="0">
                <a:solidFill>
                  <a:srgbClr val="E6E6E6"/>
                </a:solidFill>
                <a:latin typeface="Consolas"/>
                <a:ea typeface="Consolas"/>
              </a:rPr>
              <a:t>SYS@orcl&gt; SELECT dbid, name FROM v$database;</a:t>
            </a:r>
          </a:p>
          <a:p>
            <a:pPr>
              <a:spcAft>
                <a:spcPts val="0"/>
              </a:spcAft>
            </a:pPr>
            <a:r>
              <a:rPr sz="1250" b="0">
                <a:solidFill>
                  <a:srgbClr val="E6E6E6"/>
                </a:solidFill>
                <a:latin typeface="Consolas"/>
                <a:ea typeface="Consolas"/>
              </a:rPr>
              <a:t>1200530011 ORCL</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복제본</a:t>
            </a:r>
          </a:p>
          <a:p>
            <a:pPr>
              <a:spcAft>
                <a:spcPts val="0"/>
              </a:spcAft>
            </a:pPr>
            <a:r>
              <a:rPr sz="1250" b="0">
                <a:solidFill>
                  <a:srgbClr val="E6E6E6"/>
                </a:solidFill>
                <a:latin typeface="Consolas"/>
                <a:ea typeface="Consolas"/>
              </a:rPr>
              <a:t>SYS@clone&gt; SELECT dbid, name FROM v$database;</a:t>
            </a:r>
          </a:p>
          <a:p>
            <a:pPr>
              <a:spcAft>
                <a:spcPts val="0"/>
              </a:spcAft>
            </a:pPr>
            <a:r>
              <a:rPr sz="1250" b="0">
                <a:solidFill>
                  <a:srgbClr val="E6E6E6"/>
                </a:solidFill>
                <a:latin typeface="Consolas"/>
                <a:ea typeface="Consolas"/>
              </a:rPr>
              <a:t>1428930055 CLONE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달라야 하는 네 가지</a:t>
            </a:r>
          </a:p>
          <a:p>
            <a:pPr>
              <a:spcAft>
                <a:spcPts val="0"/>
              </a:spcAft>
            </a:pPr>
            <a:r>
              <a:rPr sz="1250" b="0">
                <a:solidFill>
                  <a:srgbClr val="E6E6E6"/>
                </a:solidFill>
                <a:latin typeface="Consolas"/>
                <a:ea typeface="Consolas"/>
              </a:rPr>
              <a:t>  DB_NAME   — 데이터베이스 이름</a:t>
            </a:r>
          </a:p>
          <a:p>
            <a:pPr>
              <a:spcAft>
                <a:spcPts val="0"/>
              </a:spcAft>
            </a:pPr>
            <a:r>
              <a:rPr sz="1250" b="0">
                <a:solidFill>
                  <a:srgbClr val="E6E6E6"/>
                </a:solidFill>
                <a:latin typeface="Consolas"/>
                <a:ea typeface="Consolas"/>
              </a:rPr>
              <a:t>  DBID      — 내부 식별자, 백업 관리의 기준</a:t>
            </a:r>
          </a:p>
          <a:p>
            <a:pPr>
              <a:spcAft>
                <a:spcPts val="0"/>
              </a:spcAft>
            </a:pPr>
            <a:r>
              <a:rPr sz="1250" b="0">
                <a:solidFill>
                  <a:srgbClr val="E6E6E6"/>
                </a:solidFill>
                <a:latin typeface="Consolas"/>
                <a:ea typeface="Consolas"/>
              </a:rPr>
              <a:t>  파일 경로 — 원본과 같은 경로를 쓸 수 없다</a:t>
            </a:r>
          </a:p>
          <a:p>
            <a:pPr>
              <a:spcAft>
                <a:spcPts val="0"/>
              </a:spcAft>
            </a:pPr>
            <a:r>
              <a:rPr sz="1250" b="0">
                <a:solidFill>
                  <a:srgbClr val="E6E6E6"/>
                </a:solidFill>
                <a:latin typeface="Consolas"/>
                <a:ea typeface="Consolas"/>
              </a:rPr>
              <a:t>  SID       — 같은 서버라면 반드시 다르게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복제와 복구의 관계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새로운 개념이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복제 단계             | 대응하는 복구 지식</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백업 파일 복사        | 15.2 RESTORE</a:t>
            </a:r>
          </a:p>
          <a:p>
            <a:pPr>
              <a:spcAft>
                <a:spcPts val="0"/>
              </a:spcAft>
            </a:pPr>
            <a:r>
              <a:rPr sz="1250" b="0">
                <a:solidFill>
                  <a:srgbClr val="E6E6E6"/>
                </a:solidFill>
                <a:latin typeface="Consolas"/>
                <a:ea typeface="Consolas"/>
              </a:rPr>
              <a:t>pfile 준비            | 16.2 파라미터 파일</a:t>
            </a:r>
          </a:p>
          <a:p>
            <a:pPr>
              <a:spcAft>
                <a:spcPts val="0"/>
              </a:spcAft>
            </a:pPr>
            <a:r>
              <a:rPr sz="1250" b="0">
                <a:solidFill>
                  <a:srgbClr val="E6E6E6"/>
                </a:solidFill>
                <a:latin typeface="Consolas"/>
                <a:ea typeface="Consolas"/>
              </a:rPr>
              <a:t>컨트롤파일 재생성     | 6.3 / 11.4 CREATE CONTROLFILE</a:t>
            </a:r>
          </a:p>
          <a:p>
            <a:pPr>
              <a:spcAft>
                <a:spcPts val="0"/>
              </a:spcAft>
            </a:pPr>
            <a:r>
              <a:rPr sz="1250" b="0">
                <a:solidFill>
                  <a:srgbClr val="E6E6E6"/>
                </a:solidFill>
                <a:latin typeface="Consolas"/>
                <a:ea typeface="Consolas"/>
              </a:rPr>
              <a:t>아카이브 적용         | 10.2 UNTIL CANCEL 불완전 복구</a:t>
            </a:r>
          </a:p>
          <a:p>
            <a:pPr>
              <a:spcAft>
                <a:spcPts val="0"/>
              </a:spcAft>
            </a:pPr>
            <a:r>
              <a:rPr sz="1250" b="0">
                <a:solidFill>
                  <a:srgbClr val="E6E6E6"/>
                </a:solidFill>
                <a:latin typeface="Consolas"/>
                <a:ea typeface="Consolas"/>
              </a:rPr>
              <a:t>RESETLOGS 오픈        | 10.4 오픈과 인카네이션</a:t>
            </a:r>
          </a:p>
          <a:p>
            <a:pPr>
              <a:spcAft>
                <a:spcPts val="0"/>
              </a:spcAft>
            </a:pPr>
            <a:r>
              <a:rPr sz="1250" b="0">
                <a:solidFill>
                  <a:srgbClr val="E6E6E6"/>
                </a:solidFill>
                <a:latin typeface="Consolas"/>
                <a:ea typeface="Consolas"/>
              </a:rPr>
              <a:t>TEMP 파일 추가        | 5.3 임시 파일 재생성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17.2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수동 복제 — Clone DB</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파일 복사 → pfile → 컨트롤파일 재생성 → 복구</a:t>
            </a:r>
          </a:p>
          <a:p>
            <a:pPr>
              <a:spcAft>
                <a:spcPts val="600"/>
              </a:spcAft>
            </a:pPr>
            <a:r>
              <a:rPr sz="1600" b="0">
                <a:solidFill>
                  <a:srgbClr val="C5CED6"/>
                </a:solidFill>
                <a:latin typeface="Malgun Gothic"/>
                <a:ea typeface="Malgun Gothic"/>
              </a:rPr>
              <a:t>•  SET DATABASE로 이름과 DBID를 바꾼다</a:t>
            </a:r>
          </a:p>
          <a:p>
            <a:pPr>
              <a:spcAft>
                <a:spcPts val="600"/>
              </a:spcAft>
            </a:pPr>
            <a:r>
              <a:rPr sz="1600" b="0">
                <a:solidFill>
                  <a:srgbClr val="C5CED6"/>
                </a:solidFill>
                <a:latin typeface="Malgun Gothic"/>
                <a:ea typeface="Malgun Gothic"/>
              </a:rPr>
              <a:t>•  경로 하나만 남아도 원본이 위험하다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준비 — 디렉터리와 파일 복사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임시 파일과 리두는 복사하지 않는다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[oracle@oel7v9r1 ~]$ mkdir -p /u04/clone/CLONE /u04/clone/arch</a:t>
            </a:r>
          </a:p>
          <a:p>
            <a:pPr>
              <a:spcAft>
                <a:spcPts val="0"/>
              </a:spcAft>
            </a:pPr>
            <a:r>
              <a:rPr sz="1250" b="0">
                <a:solidFill>
                  <a:srgbClr val="E6E6E6"/>
                </a:solidFill>
                <a:latin typeface="Consolas"/>
                <a:ea typeface="Consolas"/>
              </a:rPr>
              <a:t>[oracle@oel7v9r1 ~]$ mkdir -p /u01/app/oracle/admin/CLONE/adump</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[oracle@oel7v9r1 ~]$ cp -p /home/oracle/backup/ch17/*.dbf /u04/clone/CLONE/</a:t>
            </a:r>
          </a:p>
          <a:p>
            <a:pPr>
              <a:spcAft>
                <a:spcPts val="0"/>
              </a:spcAft>
            </a:pPr>
            <a:r>
              <a:rPr sz="1250" b="0">
                <a:solidFill>
                  <a:srgbClr val="E6E6E6"/>
                </a:solidFill>
                <a:latin typeface="Consolas"/>
                <a:ea typeface="Consolas"/>
              </a:rPr>
              <a:t>[oracle@oel7v9r1 ~]$ cp -p /home/oracle/arch1/*.dbf /u04/clone/arch/</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필요 공간 계산</a:t>
            </a:r>
          </a:p>
          <a:p>
            <a:pPr>
              <a:spcAft>
                <a:spcPts val="0"/>
              </a:spcAft>
            </a:pPr>
            <a:r>
              <a:rPr sz="1250" b="0">
                <a:solidFill>
                  <a:srgbClr val="E6E6E6"/>
                </a:solidFill>
                <a:latin typeface="Consolas"/>
                <a:ea typeface="Consolas"/>
              </a:rPr>
              <a:t>SYS@orcl&gt; SELECT ROUND(SUM(bytes)/1024/1024/1024,1) AS df_gb FROM v$datafile;</a:t>
            </a:r>
          </a:p>
          <a:p>
            <a:pPr>
              <a:spcAft>
                <a:spcPts val="0"/>
              </a:spcAft>
            </a:pPr>
            <a:r>
              <a:rPr sz="1250" b="0">
                <a:solidFill>
                  <a:srgbClr val="E6E6E6"/>
                </a:solidFill>
                <a:latin typeface="Consolas"/>
                <a:ea typeface="Consolas"/>
              </a:rPr>
              <a:t>       1.8</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[oracle@oel7v9r1 ~]$ df -h /u04 | tail -1</a:t>
            </a:r>
          </a:p>
          <a:p>
            <a:pPr>
              <a:spcAft>
                <a:spcPts val="0"/>
              </a:spcAft>
            </a:pPr>
            <a:r>
              <a:rPr sz="1250" b="0">
                <a:solidFill>
                  <a:srgbClr val="E6E6E6"/>
                </a:solidFill>
                <a:latin typeface="Consolas"/>
                <a:ea typeface="Consolas"/>
              </a:rPr>
              <a:t>/dev/sdd1        30G  1.2G   29G   4% /u04</a:t>
            </a:r>
          </a:p>
          <a:p>
            <a:pPr>
              <a:spcAft>
                <a:spcPts val="0"/>
              </a:spcAft>
            </a:pPr>
            <a:r>
              <a:rPr sz="1250" b="0">
                <a:solidFill>
                  <a:srgbClr val="7EC699"/>
                </a:solidFill>
                <a:latin typeface="Consolas"/>
                <a:ea typeface="Consolas"/>
              </a:rPr>
              <a:t>-- 데이터파일 + 리두 + 임시 + 아카이브, 최소 3GB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컨트롤파일 재생성 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SET DATABASE가 핵심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CONTROLFILE SET DATABASE "CLONE" RESETLOGS ARCHIVELOG</a:t>
            </a:r>
          </a:p>
          <a:p>
            <a:pPr>
              <a:spcAft>
                <a:spcPts val="0"/>
              </a:spcAft>
            </a:pPr>
            <a:r>
              <a:rPr sz="1250" b="0">
                <a:solidFill>
                  <a:srgbClr val="E6E6E6"/>
                </a:solidFill>
                <a:latin typeface="Consolas"/>
                <a:ea typeface="Consolas"/>
              </a:rPr>
              <a:t>    MAXLOGFILES 16</a:t>
            </a:r>
          </a:p>
          <a:p>
            <a:pPr>
              <a:spcAft>
                <a:spcPts val="0"/>
              </a:spcAft>
            </a:pPr>
            <a:r>
              <a:rPr sz="1250" b="0">
                <a:solidFill>
                  <a:srgbClr val="E6E6E6"/>
                </a:solidFill>
                <a:latin typeface="Consolas"/>
                <a:ea typeface="Consolas"/>
              </a:rPr>
              <a:t>    MAXLOGMEMBERS 3</a:t>
            </a:r>
          </a:p>
          <a:p>
            <a:pPr>
              <a:spcAft>
                <a:spcPts val="0"/>
              </a:spcAft>
            </a:pPr>
            <a:r>
              <a:rPr sz="1250" b="0">
                <a:solidFill>
                  <a:srgbClr val="E6E6E6"/>
                </a:solidFill>
                <a:latin typeface="Consolas"/>
                <a:ea typeface="Consolas"/>
              </a:rPr>
              <a:t>LOGFILE</a:t>
            </a:r>
          </a:p>
          <a:p>
            <a:pPr>
              <a:spcAft>
                <a:spcPts val="0"/>
              </a:spcAft>
            </a:pPr>
            <a:r>
              <a:rPr sz="1250" b="0">
                <a:solidFill>
                  <a:srgbClr val="E6E6E6"/>
                </a:solidFill>
                <a:latin typeface="Consolas"/>
                <a:ea typeface="Consolas"/>
              </a:rPr>
              <a:t>  GROUP 1 '/u04/clone/CLONE/redo01.log'  SIZE 200M BLOCKSIZE 512,</a:t>
            </a:r>
          </a:p>
          <a:p>
            <a:pPr>
              <a:spcAft>
                <a:spcPts val="0"/>
              </a:spcAft>
            </a:pPr>
            <a:r>
              <a:rPr sz="1250" b="0">
                <a:solidFill>
                  <a:srgbClr val="E6E6E6"/>
                </a:solidFill>
                <a:latin typeface="Consolas"/>
                <a:ea typeface="Consolas"/>
              </a:rPr>
              <a:t>  GROUP 3 '/u04/clone/CLONE/redo03.log'  SIZE 200M BLOCKSIZE 512</a:t>
            </a:r>
          </a:p>
          <a:p>
            <a:pPr>
              <a:spcAft>
                <a:spcPts val="0"/>
              </a:spcAft>
            </a:pPr>
            <a:r>
              <a:rPr sz="1250" b="0">
                <a:solidFill>
                  <a:srgbClr val="E6E6E6"/>
                </a:solidFill>
                <a:latin typeface="Consolas"/>
                <a:ea typeface="Consolas"/>
              </a:rPr>
              <a:t>DATAFILE</a:t>
            </a:r>
          </a:p>
          <a:p>
            <a:pPr>
              <a:spcAft>
                <a:spcPts val="0"/>
              </a:spcAft>
            </a:pPr>
            <a:r>
              <a:rPr sz="1250" b="0">
                <a:solidFill>
                  <a:srgbClr val="E6E6E6"/>
                </a:solidFill>
                <a:latin typeface="Consolas"/>
                <a:ea typeface="Consolas"/>
              </a:rPr>
              <a:t>  '/u04/clone/CLONE/system01.dbf',</a:t>
            </a:r>
          </a:p>
          <a:p>
            <a:pPr>
              <a:spcAft>
                <a:spcPts val="0"/>
              </a:spcAft>
            </a:pPr>
            <a:r>
              <a:rPr sz="1250" b="0">
                <a:solidFill>
                  <a:srgbClr val="E6E6E6"/>
                </a:solidFill>
                <a:latin typeface="Consolas"/>
                <a:ea typeface="Consolas"/>
              </a:rPr>
              <a:t>  '/u04/clone/CLONE/sysaux01.dbf',</a:t>
            </a:r>
          </a:p>
          <a:p>
            <a:pPr>
              <a:spcAft>
                <a:spcPts val="0"/>
              </a:spcAft>
            </a:pPr>
            <a:r>
              <a:rPr sz="1250" b="0">
                <a:solidFill>
                  <a:srgbClr val="E6E6E6"/>
                </a:solidFill>
                <a:latin typeface="Consolas"/>
                <a:ea typeface="Consolas"/>
              </a:rPr>
              <a:t>  '/u04/clone/CLONE/undotbs01.dbf',</a:t>
            </a:r>
          </a:p>
          <a:p>
            <a:pPr>
              <a:spcAft>
                <a:spcPts val="0"/>
              </a:spcAft>
            </a:pPr>
            <a:r>
              <a:rPr sz="1250" b="0">
                <a:solidFill>
                  <a:srgbClr val="E6E6E6"/>
                </a:solidFill>
                <a:latin typeface="Consolas"/>
                <a:ea typeface="Consolas"/>
              </a:rPr>
              <a:t>  '/u04/clone/CLONE/users01.dbf'</a:t>
            </a:r>
          </a:p>
          <a:p>
            <a:pPr>
              <a:spcAft>
                <a:spcPts val="0"/>
              </a:spcAft>
            </a:pPr>
            <a:r>
              <a:rPr sz="1250" b="0">
                <a:solidFill>
                  <a:srgbClr val="E6E6E6"/>
                </a:solidFill>
                <a:latin typeface="Consolas"/>
                <a:ea typeface="Consolas"/>
              </a:rPr>
              <a:t>CHARACTER SET AL32UTF8;</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실행 전 필수 확인</a:t>
            </a:r>
          </a:p>
          <a:p>
            <a:pPr>
              <a:spcAft>
                <a:spcPts val="0"/>
              </a:spcAft>
            </a:pPr>
            <a:r>
              <a:rPr sz="1250" b="0">
                <a:solidFill>
                  <a:srgbClr val="E6E6E6"/>
                </a:solidFill>
                <a:latin typeface="Consolas"/>
                <a:ea typeface="Consolas"/>
              </a:rPr>
              <a:t>$ grep -n '/u03/oradata/ORCL' /tmp/cf_clone.sql   → 결과가 없어야 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복제본 기동과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15장 절차와 같다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[oracle@oel7v9r1 ~]$ export ORACLE_SID=CLONE</a:t>
            </a:r>
          </a:p>
          <a:p>
            <a:pPr>
              <a:spcAft>
                <a:spcPts val="0"/>
              </a:spcAft>
            </a:pPr>
            <a:r>
              <a:rPr sz="1250" b="0">
                <a:solidFill>
                  <a:srgbClr val="E6E6E6"/>
                </a:solidFill>
                <a:latin typeface="Consolas"/>
                <a:ea typeface="Consolas"/>
              </a:rPr>
              <a:t>SYS@CLONE&gt; STARTUP NOMOUNT PFILE='$ORACLE_HOME/dbs/initCLONE.ora';</a:t>
            </a:r>
          </a:p>
          <a:p>
            <a:pPr>
              <a:spcAft>
                <a:spcPts val="0"/>
              </a:spcAft>
            </a:pPr>
            <a:r>
              <a:rPr sz="1250" b="0">
                <a:solidFill>
                  <a:srgbClr val="E6E6E6"/>
                </a:solidFill>
                <a:latin typeface="Consolas"/>
                <a:ea typeface="Consolas"/>
              </a:rPr>
              <a:t>SYS@CLONE&gt; @/tmp/cf_clone.sql</a:t>
            </a:r>
          </a:p>
          <a:p>
            <a:pPr>
              <a:spcAft>
                <a:spcPts val="0"/>
              </a:spcAft>
            </a:pPr>
            <a:r>
              <a:rPr sz="1250" b="0">
                <a:solidFill>
                  <a:srgbClr val="E6E6E6"/>
                </a:solidFill>
                <a:latin typeface="Consolas"/>
                <a:ea typeface="Consolas"/>
              </a:rPr>
              <a:t>Control file created.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SYS@CLONE&gt; RECOVER DATABASE USING BACKUP CONTROLFILE UNTIL CANCEL;</a:t>
            </a:r>
          </a:p>
          <a:p>
            <a:pPr>
              <a:spcAft>
                <a:spcPts val="0"/>
              </a:spcAft>
            </a:pPr>
            <a:r>
              <a:rPr sz="1250" b="0">
                <a:solidFill>
                  <a:srgbClr val="E6E6E6"/>
                </a:solidFill>
                <a:latin typeface="Consolas"/>
                <a:ea typeface="Consolas"/>
              </a:rPr>
              <a:t>Specify log: {&lt;RET&gt;=suggested | filename | AUTO | CANCEL}</a:t>
            </a:r>
          </a:p>
          <a:p>
            <a:pPr>
              <a:spcAft>
                <a:spcPts val="0"/>
              </a:spcAft>
            </a:pPr>
            <a:r>
              <a:rPr sz="1250" b="0">
                <a:solidFill>
                  <a:srgbClr val="E6E6E6"/>
                </a:solidFill>
                <a:latin typeface="Consolas"/>
                <a:ea typeface="Consolas"/>
              </a:rPr>
              <a:t>AUTO</a:t>
            </a:r>
          </a:p>
          <a:p>
            <a:pPr>
              <a:spcAft>
                <a:spcPts val="0"/>
              </a:spcAft>
            </a:pPr>
            <a:r>
              <a:rPr sz="1250" b="0">
                <a:solidFill>
                  <a:srgbClr val="E6E6E6"/>
                </a:solidFill>
                <a:latin typeface="Consolas"/>
                <a:ea typeface="Consolas"/>
              </a:rPr>
              <a:t>ORA-01547: warning: RECOVER succeeded but OPEN RESETLOGS would get error</a:t>
            </a:r>
          </a:p>
          <a:p>
            <a:pPr>
              <a:spcAft>
                <a:spcPts val="0"/>
              </a:spcAft>
            </a:pPr>
            <a:r>
              <a:rPr sz="1250" b="0">
                <a:solidFill>
                  <a:srgbClr val="E6E6E6"/>
                </a:solidFill>
                <a:latin typeface="Consolas"/>
                <a:ea typeface="Consolas"/>
              </a:rPr>
              <a:t>ORA-01152: file 1 was not restored from a sufficiently old backup</a:t>
            </a:r>
          </a:p>
          <a:p>
            <a:pPr>
              <a:spcAft>
                <a:spcPts val="0"/>
              </a:spcAft>
            </a:pPr>
            <a:r>
              <a:rPr sz="1250" b="0">
                <a:solidFill>
                  <a:srgbClr val="7EC699"/>
                </a:solidFill>
                <a:latin typeface="Consolas"/>
                <a:ea typeface="Consolas"/>
              </a:rPr>
              <a:t>-- 마지막 아카이브까지 적용되면 나오는 메시지. CANCEL로 마무리한다.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SYS@CLONE&gt; ALTER DATABASE OPEN RESETLOGS;</a:t>
            </a:r>
          </a:p>
          <a:p>
            <a:pPr>
              <a:spcAft>
                <a:spcPts val="0"/>
              </a:spcAft>
            </a:pPr>
            <a:r>
              <a:rPr sz="1250" b="0">
                <a:solidFill>
                  <a:srgbClr val="E6E6E6"/>
                </a:solidFill>
                <a:latin typeface="Consolas"/>
                <a:ea typeface="Consolas"/>
              </a:rPr>
              <a:t>SYS@CLONE&gt; ALTER TABLESPACE temp ADD TEMPFILE '/u04/clone/CLONE/temp01.dbf' SIZE 100M;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검증과 삭제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DROP DATABASE로 정식 삭제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SYS@CLONE&gt; SELECT dbid, name, open_mode, log_mode FROM v$database;</a:t>
            </a:r>
          </a:p>
          <a:p>
            <a:pPr>
              <a:spcAft>
                <a:spcPts val="0"/>
              </a:spcAft>
            </a:pPr>
            <a:r>
              <a:rPr sz="1250" b="0">
                <a:solidFill>
                  <a:srgbClr val="E6E6E6"/>
                </a:solidFill>
                <a:latin typeface="Consolas"/>
                <a:ea typeface="Consolas"/>
              </a:rPr>
              <a:t>1428930055 CLONE     READ WRITE           ARCHIVELOG</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SYS@CLONE&gt; SELECT file#, name FROM v$datafile;</a:t>
            </a:r>
          </a:p>
          <a:p>
            <a:pPr>
              <a:spcAft>
                <a:spcPts val="0"/>
              </a:spcAft>
            </a:pPr>
            <a:r>
              <a:rPr sz="1250" b="0">
                <a:solidFill>
                  <a:srgbClr val="7EC699"/>
                </a:solidFill>
                <a:latin typeface="Consolas"/>
                <a:ea typeface="Consolas"/>
              </a:rPr>
              <a:t>-- 모든 경로가 /u04/clone/CLONE/ 인지 확인</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삭제</a:t>
            </a:r>
          </a:p>
          <a:p>
            <a:pPr>
              <a:spcAft>
                <a:spcPts val="0"/>
              </a:spcAft>
            </a:pPr>
            <a:r>
              <a:rPr sz="1250" b="0">
                <a:solidFill>
                  <a:srgbClr val="E6E6E6"/>
                </a:solidFill>
                <a:latin typeface="Consolas"/>
                <a:ea typeface="Consolas"/>
              </a:rPr>
              <a:t>SYS@CLONE&gt; SHUTDOWN IMMEDIATE</a:t>
            </a:r>
          </a:p>
          <a:p>
            <a:pPr>
              <a:spcAft>
                <a:spcPts val="0"/>
              </a:spcAft>
            </a:pPr>
            <a:r>
              <a:rPr sz="1250" b="0">
                <a:solidFill>
                  <a:srgbClr val="E6E6E6"/>
                </a:solidFill>
                <a:latin typeface="Consolas"/>
                <a:ea typeface="Consolas"/>
              </a:rPr>
              <a:t>SYS@CLONE&gt; STARTUP MOUNT EXCLUSIVE RESTRICT;</a:t>
            </a:r>
          </a:p>
          <a:p>
            <a:pPr>
              <a:spcAft>
                <a:spcPts val="0"/>
              </a:spcAft>
            </a:pPr>
            <a:r>
              <a:rPr sz="1250" b="0">
                <a:solidFill>
                  <a:srgbClr val="E6E6E6"/>
                </a:solidFill>
                <a:latin typeface="Consolas"/>
                <a:ea typeface="Consolas"/>
              </a:rPr>
              <a:t>SYS@CLONE&gt; DROP DATABASE;</a:t>
            </a:r>
          </a:p>
          <a:p>
            <a:pPr>
              <a:spcAft>
                <a:spcPts val="0"/>
              </a:spcAft>
            </a:pPr>
            <a:r>
              <a:rPr sz="1250" b="0">
                <a:solidFill>
                  <a:srgbClr val="E6E6E6"/>
                </a:solidFill>
                <a:latin typeface="Consolas"/>
                <a:ea typeface="Consolas"/>
              </a:rPr>
              <a:t>Database dropped.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rm -f $ORACLE_HOME/dbs/initCLONE.ora</a:t>
            </a:r>
          </a:p>
          <a:p>
            <a:pPr>
              <a:spcAft>
                <a:spcPts val="0"/>
              </a:spcAft>
            </a:pPr>
            <a:r>
              <a:rPr sz="1250" b="0">
                <a:solidFill>
                  <a:srgbClr val="E6E6E6"/>
                </a:solidFill>
                <a:latin typeface="Consolas"/>
                <a:ea typeface="Consolas"/>
              </a:rPr>
              <a:t>$ rm -rf /u01/app/oracle/admin/CLONE /u04/clone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수동 복제에서 자주 만나는 오류</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여섯 가지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오류                      | 원인                      | 조치</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ORA-09925 audit 파일      | audit_file_dest 경로 없음 | 디렉터리 생성</a:t>
            </a:r>
          </a:p>
          <a:p>
            <a:pPr>
              <a:spcAft>
                <a:spcPts val="0"/>
              </a:spcAft>
            </a:pPr>
            <a:r>
              <a:rPr sz="1250" b="0">
                <a:solidFill>
                  <a:srgbClr val="E6E6E6"/>
                </a:solidFill>
                <a:latin typeface="Consolas"/>
                <a:ea typeface="Consolas"/>
              </a:rPr>
              <a:t>ORA-01503 CREATE 실패     | 경로나 문법 오류          | 경로 확인</a:t>
            </a:r>
          </a:p>
          <a:p>
            <a:pPr>
              <a:spcAft>
                <a:spcPts val="0"/>
              </a:spcAft>
            </a:pPr>
            <a:r>
              <a:rPr sz="1250" b="0">
                <a:solidFill>
                  <a:srgbClr val="E6E6E6"/>
                </a:solidFill>
                <a:latin typeface="Consolas"/>
                <a:ea typeface="Consolas"/>
              </a:rPr>
              <a:t>ORA-01565 파일 식별 오류  | DATAFILE 절 경로 오타     | 파일 존재 확인</a:t>
            </a:r>
          </a:p>
          <a:p>
            <a:pPr>
              <a:spcAft>
                <a:spcPts val="0"/>
              </a:spcAft>
            </a:pPr>
            <a:r>
              <a:rPr sz="1250" b="0">
                <a:solidFill>
                  <a:srgbClr val="E6E6E6"/>
                </a:solidFill>
                <a:latin typeface="Consolas"/>
                <a:ea typeface="Consolas"/>
              </a:rPr>
              <a:t>ORA-01152 오픈 거부       | 복구가 덜 됨              | 아카이브 추가</a:t>
            </a:r>
          </a:p>
          <a:p>
            <a:pPr>
              <a:spcAft>
                <a:spcPts val="0"/>
              </a:spcAft>
            </a:pPr>
            <a:r>
              <a:rPr sz="1250" b="0">
                <a:solidFill>
                  <a:srgbClr val="E6E6E6"/>
                </a:solidFill>
                <a:latin typeface="Consolas"/>
                <a:ea typeface="Consolas"/>
              </a:rPr>
              <a:t>ORA-01110 + 원본 경로     | 경로 치환 누락            | 즉시 중단</a:t>
            </a:r>
          </a:p>
          <a:p>
            <a:pPr>
              <a:spcAft>
                <a:spcPts val="0"/>
              </a:spcAft>
            </a:pPr>
            <a:r>
              <a:rPr sz="1250" b="0">
                <a:solidFill>
                  <a:srgbClr val="E6E6E6"/>
                </a:solidFill>
                <a:latin typeface="Consolas"/>
                <a:ea typeface="Consolas"/>
              </a:rPr>
              <a:t>ORA-01034 접속 불가       | ORACLE_SID 미설정         | export 확인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17.3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복제 환경 구성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복제본은 NOMOUNT에서 접속을 받는다</a:t>
            </a:r>
          </a:p>
          <a:p>
            <a:pPr>
              <a:spcAft>
                <a:spcPts val="600"/>
              </a:spcAft>
            </a:pPr>
            <a:r>
              <a:rPr sz="1600" b="0">
                <a:solidFill>
                  <a:srgbClr val="C5CED6"/>
                </a:solidFill>
                <a:latin typeface="Malgun Gothic"/>
                <a:ea typeface="Malgun Gothic"/>
              </a:rPr>
              <a:t>•  패스워드 파일 인증이 필요하다</a:t>
            </a:r>
          </a:p>
          <a:p>
            <a:pPr>
              <a:spcAft>
                <a:spcPts val="600"/>
              </a:spcAft>
            </a:pPr>
            <a:r>
              <a:rPr sz="1600" b="0">
                <a:solidFill>
                  <a:srgbClr val="C5CED6"/>
                </a:solidFill>
                <a:latin typeface="Malgun Gothic"/>
                <a:ea typeface="Malgun Gothic"/>
              </a:rPr>
              <a:t>•  경로 변환 규칙이 모든 파일에 적용되어야 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네트워크와 인증</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정적 등록이 필수</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listener.ora : 복제본 SID를 정적 등록</a:t>
            </a:r>
          </a:p>
          <a:p>
            <a:pPr>
              <a:spcAft>
                <a:spcPts val="0"/>
              </a:spcAft>
            </a:pPr>
            <a:r>
              <a:rPr sz="1250" b="0">
                <a:solidFill>
                  <a:srgbClr val="E6E6E6"/>
                </a:solidFill>
                <a:latin typeface="Consolas"/>
                <a:ea typeface="Consolas"/>
              </a:rPr>
              <a:t>SID_LIST_LISTENER = (SID_LIST =</a:t>
            </a:r>
          </a:p>
          <a:p>
            <a:pPr>
              <a:spcAft>
                <a:spcPts val="0"/>
              </a:spcAft>
            </a:pPr>
            <a:r>
              <a:rPr sz="1250" b="0">
                <a:solidFill>
                  <a:srgbClr val="E6E6E6"/>
                </a:solidFill>
                <a:latin typeface="Consolas"/>
                <a:ea typeface="Consolas"/>
              </a:rPr>
              <a:t>  (SID_DESC = (GLOBAL_DBNAME = NEWDB)</a:t>
            </a:r>
          </a:p>
          <a:p>
            <a:pPr>
              <a:spcAft>
                <a:spcPts val="0"/>
              </a:spcAft>
            </a:pPr>
            <a:r>
              <a:rPr sz="1250" b="0">
                <a:solidFill>
                  <a:srgbClr val="E6E6E6"/>
                </a:solidFill>
                <a:latin typeface="Consolas"/>
                <a:ea typeface="Consolas"/>
              </a:rPr>
              <a:t>              (ORACLE_HOME = /u01/app/oracle/product/19.3.0/dbhome_1)</a:t>
            </a:r>
          </a:p>
          <a:p>
            <a:pPr>
              <a:spcAft>
                <a:spcPts val="0"/>
              </a:spcAft>
            </a:pPr>
            <a:r>
              <a:rPr sz="1250" b="0">
                <a:solidFill>
                  <a:srgbClr val="E6E6E6"/>
                </a:solidFill>
                <a:latin typeface="Consolas"/>
                <a:ea typeface="Consolas"/>
              </a:rPr>
              <a:t>              (SID_NAME = NEWDB)))</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패스워드 파일 (원본과 같은 비밀번호여야 한다)</a:t>
            </a:r>
          </a:p>
          <a:p>
            <a:pPr>
              <a:spcAft>
                <a:spcPts val="0"/>
              </a:spcAft>
            </a:pPr>
            <a:r>
              <a:rPr sz="1250" b="0">
                <a:solidFill>
                  <a:srgbClr val="E6E6E6"/>
                </a:solidFill>
                <a:latin typeface="Consolas"/>
                <a:ea typeface="Consolas"/>
              </a:rPr>
              <a:t>$ cp $ORACLE_HOME/dbs/orapworcl $ORACLE_HOME/dbs/orapwNEWDB</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lsnrctl reload</a:t>
            </a:r>
          </a:p>
          <a:p>
            <a:pPr>
              <a:spcAft>
                <a:spcPts val="0"/>
              </a:spcAft>
            </a:pPr>
            <a:r>
              <a:rPr sz="1250" b="0">
                <a:solidFill>
                  <a:srgbClr val="E6E6E6"/>
                </a:solidFill>
                <a:latin typeface="Consolas"/>
                <a:ea typeface="Consolas"/>
              </a:rPr>
              <a:t>$ tnsping NEWDB</a:t>
            </a:r>
          </a:p>
          <a:p>
            <a:pPr>
              <a:spcAft>
                <a:spcPts val="0"/>
              </a:spcAft>
            </a:pPr>
            <a:r>
              <a:rPr sz="1250" b="0">
                <a:solidFill>
                  <a:srgbClr val="E6E6E6"/>
                </a:solidFill>
                <a:latin typeface="Consolas"/>
                <a:ea typeface="Consolas"/>
              </a:rPr>
              <a:t>$ sqlplus sys/oracle_4U@NEWDB as sysdba</a:t>
            </a:r>
          </a:p>
          <a:p>
            <a:pPr>
              <a:spcAft>
                <a:spcPts val="0"/>
              </a:spcAft>
            </a:pPr>
            <a:r>
              <a:rPr sz="1250" b="0">
                <a:solidFill>
                  <a:srgbClr val="E6E6E6"/>
                </a:solidFill>
                <a:latin typeface="Consolas"/>
                <a:ea typeface="Consolas"/>
              </a:rPr>
              <a:t>Connected to an idle instance.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복제본 인스턴스와 경로 변환</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NOMOUNT로 기동</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 cat &gt; $ORACLE_HOME/dbs/initNEWDB.ora &lt;&lt;EOS</a:t>
            </a:r>
          </a:p>
          <a:p>
            <a:pPr>
              <a:spcAft>
                <a:spcPts val="0"/>
              </a:spcAft>
            </a:pPr>
            <a:r>
              <a:rPr sz="1250" b="0">
                <a:solidFill>
                  <a:srgbClr val="E6E6E6"/>
                </a:solidFill>
                <a:latin typeface="Consolas"/>
                <a:ea typeface="Consolas"/>
              </a:rPr>
              <a:t>db_name=NEWDB</a:t>
            </a:r>
          </a:p>
          <a:p>
            <a:pPr>
              <a:spcAft>
                <a:spcPts val="0"/>
              </a:spcAft>
            </a:pPr>
            <a:r>
              <a:rPr sz="1250" b="0">
                <a:solidFill>
                  <a:srgbClr val="E6E6E6"/>
                </a:solidFill>
                <a:latin typeface="Consolas"/>
                <a:ea typeface="Consolas"/>
              </a:rPr>
              <a:t>db_block_size=8192</a:t>
            </a:r>
          </a:p>
          <a:p>
            <a:pPr>
              <a:spcAft>
                <a:spcPts val="0"/>
              </a:spcAft>
            </a:pPr>
            <a:r>
              <a:rPr sz="1250" b="0">
                <a:solidFill>
                  <a:srgbClr val="E6E6E6"/>
                </a:solidFill>
                <a:latin typeface="Consolas"/>
                <a:ea typeface="Consolas"/>
              </a:rPr>
              <a:t>sga_target=512M</a:t>
            </a:r>
          </a:p>
          <a:p>
            <a:pPr>
              <a:spcAft>
                <a:spcPts val="0"/>
              </a:spcAft>
            </a:pPr>
            <a:r>
              <a:rPr sz="1250" b="0">
                <a:solidFill>
                  <a:srgbClr val="E6E6E6"/>
                </a:solidFill>
                <a:latin typeface="Consolas"/>
                <a:ea typeface="Consolas"/>
              </a:rPr>
              <a:t>audit_file_dest='/u01/app/oracle/admin/NEWDB/adump'</a:t>
            </a:r>
          </a:p>
          <a:p>
            <a:pPr>
              <a:spcAft>
                <a:spcPts val="0"/>
              </a:spcAft>
            </a:pPr>
            <a:r>
              <a:rPr sz="1250" b="0">
                <a:solidFill>
                  <a:srgbClr val="E6E6E6"/>
                </a:solidFill>
                <a:latin typeface="Consolas"/>
                <a:ea typeface="Consolas"/>
              </a:rPr>
              <a:t>db_create_file_dest='/u04/newdb'</a:t>
            </a:r>
          </a:p>
          <a:p>
            <a:pPr>
              <a:spcAft>
                <a:spcPts val="0"/>
              </a:spcAft>
            </a:pPr>
            <a:r>
              <a:rPr sz="1250" b="0">
                <a:solidFill>
                  <a:srgbClr val="E6E6E6"/>
                </a:solidFill>
                <a:latin typeface="Consolas"/>
                <a:ea typeface="Consolas"/>
              </a:rPr>
              <a:t>EOS</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SYS@NEWDB&gt; STARTUP NOMOUNT;</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경로 변환 규칙 (OMF를 쓰면 불필요)</a:t>
            </a:r>
          </a:p>
          <a:p>
            <a:pPr>
              <a:spcAft>
                <a:spcPts val="0"/>
              </a:spcAft>
            </a:pPr>
            <a:r>
              <a:rPr sz="1250" b="0">
                <a:solidFill>
                  <a:srgbClr val="E6E6E6"/>
                </a:solidFill>
                <a:latin typeface="Consolas"/>
                <a:ea typeface="Consolas"/>
              </a:rPr>
              <a:t>*.db_file_name_convert=('/u03/oradata/ORCL/','/u04/newdb/NEWDB/')</a:t>
            </a:r>
          </a:p>
          <a:p>
            <a:pPr>
              <a:spcAft>
                <a:spcPts val="0"/>
              </a:spcAft>
            </a:pPr>
            <a:r>
              <a:rPr sz="1250" b="0">
                <a:solidFill>
                  <a:srgbClr val="E6E6E6"/>
                </a:solidFill>
                <a:latin typeface="Consolas"/>
                <a:ea typeface="Consolas"/>
              </a:rPr>
              <a:t>*.log_file_name_convert=('/u01/app/oracle/oradata/orcl/','/u04/newdb/NEWDB/')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17.4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RMAN DUPLICATE</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명령 하나로 복제가 끝난다</a:t>
            </a:r>
          </a:p>
          <a:p>
            <a:pPr>
              <a:spcAft>
                <a:spcPts val="600"/>
              </a:spcAft>
            </a:pPr>
            <a:r>
              <a:rPr sz="1600" b="0">
                <a:solidFill>
                  <a:srgbClr val="C5CED6"/>
                </a:solidFill>
                <a:latin typeface="Malgun Gothic"/>
                <a:ea typeface="Malgun Gothic"/>
              </a:rPr>
              <a:t>•  Memory Script가 17.2절 절차를 그대로 담고 있다</a:t>
            </a:r>
          </a:p>
          <a:p>
            <a:pPr>
              <a:spcAft>
                <a:spcPts val="600"/>
              </a:spcAft>
            </a:pPr>
            <a:r>
              <a:rPr sz="1600" b="0">
                <a:solidFill>
                  <a:srgbClr val="C5CED6"/>
                </a:solidFill>
                <a:latin typeface="Malgun Gothic"/>
                <a:ea typeface="Malgun Gothic"/>
              </a:rPr>
              <a:t>•  UNTIL로 과거 시점 복제도 가능하다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ACTIVE DUPLICATE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백업 없이 원본에서 직접</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 rman target sys/oracle_4U@ORCL auxiliary sys/oracle_4U@NEWDB</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connected to target database: ORCL (DBID=1200530011)</a:t>
            </a:r>
          </a:p>
          <a:p>
            <a:pPr>
              <a:spcAft>
                <a:spcPts val="0"/>
              </a:spcAft>
            </a:pPr>
            <a:r>
              <a:rPr sz="1250" b="0">
                <a:solidFill>
                  <a:srgbClr val="E6E6E6"/>
                </a:solidFill>
                <a:latin typeface="Consolas"/>
                <a:ea typeface="Consolas"/>
              </a:rPr>
              <a:t>connected to auxiliary database: NEWDB (not mounted)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DUPLICATE TARGET DATABASE TO NEWDB</a:t>
            </a:r>
          </a:p>
          <a:p>
            <a:pPr>
              <a:spcAft>
                <a:spcPts val="0"/>
              </a:spcAft>
            </a:pPr>
            <a:r>
              <a:rPr sz="1250" b="0">
                <a:solidFill>
                  <a:srgbClr val="E6E6E6"/>
                </a:solidFill>
                <a:latin typeface="Consolas"/>
                <a:ea typeface="Consolas"/>
              </a:rPr>
              <a:t>  2&gt;   FROM ACTIVE DATABASE</a:t>
            </a:r>
          </a:p>
          <a:p>
            <a:pPr>
              <a:spcAft>
                <a:spcPts val="0"/>
              </a:spcAft>
            </a:pPr>
            <a:r>
              <a:rPr sz="1250" b="0">
                <a:solidFill>
                  <a:srgbClr val="E6E6E6"/>
                </a:solidFill>
                <a:latin typeface="Consolas"/>
                <a:ea typeface="Consolas"/>
              </a:rPr>
              <a:t>  3&gt;   SPFILE</a:t>
            </a:r>
          </a:p>
          <a:p>
            <a:pPr>
              <a:spcAft>
                <a:spcPts val="0"/>
              </a:spcAft>
            </a:pPr>
            <a:r>
              <a:rPr sz="1250" b="0">
                <a:solidFill>
                  <a:srgbClr val="E6E6E6"/>
                </a:solidFill>
                <a:latin typeface="Consolas"/>
                <a:ea typeface="Consolas"/>
              </a:rPr>
              <a:t>  4&gt;     SET DB_UNIQUE_NAME 'NEWDB'</a:t>
            </a:r>
          </a:p>
          <a:p>
            <a:pPr>
              <a:spcAft>
                <a:spcPts val="0"/>
              </a:spcAft>
            </a:pPr>
            <a:r>
              <a:rPr sz="1250" b="0">
                <a:solidFill>
                  <a:srgbClr val="E6E6E6"/>
                </a:solidFill>
                <a:latin typeface="Consolas"/>
                <a:ea typeface="Consolas"/>
              </a:rPr>
              <a:t>  5&gt;     SET DB_CREATE_FILE_DEST '/u04/newdb'</a:t>
            </a:r>
          </a:p>
          <a:p>
            <a:pPr>
              <a:spcAft>
                <a:spcPts val="0"/>
              </a:spcAft>
            </a:pPr>
            <a:r>
              <a:rPr sz="1250" b="0">
                <a:solidFill>
                  <a:srgbClr val="E6E6E6"/>
                </a:solidFill>
                <a:latin typeface="Consolas"/>
                <a:ea typeface="Consolas"/>
              </a:rPr>
              <a:t>  6&gt;     SET LOG_ARCHIVE_DEST_1 'LOCATION=/u04/newdb/arch'</a:t>
            </a:r>
          </a:p>
          <a:p>
            <a:pPr>
              <a:spcAft>
                <a:spcPts val="0"/>
              </a:spcAft>
            </a:pPr>
            <a:r>
              <a:rPr sz="1250" b="0">
                <a:solidFill>
                  <a:srgbClr val="E6E6E6"/>
                </a:solidFill>
                <a:latin typeface="Consolas"/>
                <a:ea typeface="Consolas"/>
              </a:rPr>
              <a:t>  7&gt;     SET SGA_TARGET '512M';</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-- 19c는 FROM SERVICE 구문으로 원본에서 직접 가져온다.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Memory Script 읽기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수동 절차와 같은 구조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contents of Memory Script:</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   sql clone "create spfile from memory";</a:t>
            </a:r>
          </a:p>
          <a:p>
            <a:pPr>
              <a:spcAft>
                <a:spcPts val="0"/>
              </a:spcAft>
            </a:pPr>
            <a:r>
              <a:rPr sz="1250" b="0">
                <a:solidFill>
                  <a:srgbClr val="E6E6E6"/>
                </a:solidFill>
                <a:latin typeface="Consolas"/>
                <a:ea typeface="Consolas"/>
              </a:rPr>
              <a:t>   shutdown clone immediate;</a:t>
            </a:r>
          </a:p>
          <a:p>
            <a:pPr>
              <a:spcAft>
                <a:spcPts val="0"/>
              </a:spcAft>
            </a:pPr>
            <a:r>
              <a:rPr sz="1250" b="0">
                <a:solidFill>
                  <a:srgbClr val="E6E6E6"/>
                </a:solidFill>
                <a:latin typeface="Consolas"/>
                <a:ea typeface="Consolas"/>
              </a:rPr>
              <a:t>   startup clone nomount;</a:t>
            </a:r>
          </a:p>
          <a:p>
            <a:pPr>
              <a:spcAft>
                <a:spcPts val="0"/>
              </a:spcAft>
            </a:pPr>
            <a:r>
              <a:rPr sz="1250" b="0">
                <a:solidFill>
                  <a:srgbClr val="E6E6E6"/>
                </a:solidFill>
                <a:latin typeface="Consolas"/>
                <a:ea typeface="Consolas"/>
              </a:rPr>
              <a:t>   restore clone from service 'ORCL' current controlfile;</a:t>
            </a:r>
          </a:p>
          <a:p>
            <a:pPr>
              <a:spcAft>
                <a:spcPts val="0"/>
              </a:spcAft>
            </a:pPr>
            <a:r>
              <a:rPr sz="1250" b="0">
                <a:solidFill>
                  <a:srgbClr val="E6E6E6"/>
                </a:solidFill>
                <a:latin typeface="Consolas"/>
                <a:ea typeface="Consolas"/>
              </a:rPr>
              <a:t>   alter clone database mount;</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   set newname for clone datafile 1 to new;</a:t>
            </a:r>
          </a:p>
          <a:p>
            <a:pPr>
              <a:spcAft>
                <a:spcPts val="0"/>
              </a:spcAft>
            </a:pPr>
            <a:r>
              <a:rPr sz="1250" b="0">
                <a:solidFill>
                  <a:srgbClr val="E6E6E6"/>
                </a:solidFill>
                <a:latin typeface="Consolas"/>
                <a:ea typeface="Consolas"/>
              </a:rPr>
              <a:t>   restore from service 'ORCL' clone database;</a:t>
            </a:r>
          </a:p>
          <a:p>
            <a:pPr>
              <a:spcAft>
                <a:spcPts val="0"/>
              </a:spcAft>
            </a:pPr>
            <a:r>
              <a:rPr sz="1250" b="0">
                <a:solidFill>
                  <a:srgbClr val="E6E6E6"/>
                </a:solidFill>
                <a:latin typeface="Consolas"/>
                <a:ea typeface="Consolas"/>
              </a:rPr>
              <a:t>   sql 'alter system archive log current';</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recover clone database delete archivelog;</a:t>
            </a:r>
          </a:p>
          <a:p>
            <a:pPr>
              <a:spcAft>
                <a:spcPts val="0"/>
              </a:spcAft>
            </a:pPr>
            <a:r>
              <a:rPr sz="1250" b="0">
                <a:solidFill>
                  <a:srgbClr val="E6E6E6"/>
                </a:solidFill>
                <a:latin typeface="Consolas"/>
                <a:ea typeface="Consolas"/>
              </a:rPr>
              <a:t>   Alter clone database open resetlogs;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기반 복제와 시점 복제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원본 접속 없이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원본 접속 없이 auxiliary만</a:t>
            </a:r>
          </a:p>
          <a:p>
            <a:pPr>
              <a:spcAft>
                <a:spcPts val="0"/>
              </a:spcAft>
            </a:pPr>
            <a:r>
              <a:rPr sz="1250" b="0">
                <a:solidFill>
                  <a:srgbClr val="E6E6E6"/>
                </a:solidFill>
                <a:latin typeface="Consolas"/>
                <a:ea typeface="Consolas"/>
              </a:rPr>
              <a:t>$ rman auxiliary sys/oracle_4U@NEWDB</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DUPLICATE DATABASE TO NEWDB</a:t>
            </a:r>
          </a:p>
          <a:p>
            <a:pPr>
              <a:spcAft>
                <a:spcPts val="0"/>
              </a:spcAft>
            </a:pPr>
            <a:r>
              <a:rPr sz="1250" b="0">
                <a:solidFill>
                  <a:srgbClr val="E6E6E6"/>
                </a:solidFill>
                <a:latin typeface="Consolas"/>
                <a:ea typeface="Consolas"/>
              </a:rPr>
              <a:t>  2&gt;   BACKUP LOCATION '/home/oracle/rmanbk'</a:t>
            </a:r>
          </a:p>
          <a:p>
            <a:pPr>
              <a:spcAft>
                <a:spcPts val="0"/>
              </a:spcAft>
            </a:pPr>
            <a:r>
              <a:rPr sz="1250" b="0">
                <a:solidFill>
                  <a:srgbClr val="E6E6E6"/>
                </a:solidFill>
                <a:latin typeface="Consolas"/>
                <a:ea typeface="Consolas"/>
              </a:rPr>
              <a:t>  3&gt;   DB_FILE_NAME_CONVERT ('/u03/oradata/ORCL/','/u04/newdb/NEWDB/')</a:t>
            </a:r>
          </a:p>
          <a:p>
            <a:pPr>
              <a:spcAft>
                <a:spcPts val="0"/>
              </a:spcAft>
            </a:pPr>
            <a:r>
              <a:rPr sz="1250" b="0">
                <a:solidFill>
                  <a:srgbClr val="E6E6E6"/>
                </a:solidFill>
                <a:latin typeface="Consolas"/>
                <a:ea typeface="Consolas"/>
              </a:rPr>
              <a:t>  4&gt;   LOGFILE GROUP 1 ('/u04/newdb/NEWDB/redo01.log') SIZE 200M,</a:t>
            </a:r>
          </a:p>
          <a:p>
            <a:pPr>
              <a:spcAft>
                <a:spcPts val="0"/>
              </a:spcAft>
            </a:pPr>
            <a:r>
              <a:rPr sz="1250" b="0">
                <a:solidFill>
                  <a:srgbClr val="E6E6E6"/>
                </a:solidFill>
                <a:latin typeface="Consolas"/>
                <a:ea typeface="Consolas"/>
              </a:rPr>
              <a:t>  5&gt;           GROUP 2 ('/u04/newdb/NEWDB/redo02.log') SIZE 200M;</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과거 시점으로</a:t>
            </a:r>
          </a:p>
          <a:p>
            <a:pPr>
              <a:spcAft>
                <a:spcPts val="0"/>
              </a:spcAft>
            </a:pPr>
            <a:r>
              <a:rPr sz="1250" b="0">
                <a:solidFill>
                  <a:srgbClr val="E6E6E6"/>
                </a:solidFill>
                <a:latin typeface="Consolas"/>
                <a:ea typeface="Consolas"/>
              </a:rPr>
              <a:t>RMAN&gt; DUPLICATE DATABASE TO NEWDB</a:t>
            </a:r>
          </a:p>
          <a:p>
            <a:pPr>
              <a:spcAft>
                <a:spcPts val="0"/>
              </a:spcAft>
            </a:pPr>
            <a:r>
              <a:rPr sz="1250" b="0">
                <a:solidFill>
                  <a:srgbClr val="E6E6E6"/>
                </a:solidFill>
                <a:latin typeface="Consolas"/>
                <a:ea typeface="Consolas"/>
              </a:rPr>
              <a:t>  2&gt;   UNTIL TIME "TO_DATE('2025-05-18 14:00:00','YYYY-MM-DD HH24:MI:SS')"</a:t>
            </a:r>
          </a:p>
          <a:p>
            <a:pPr>
              <a:spcAft>
                <a:spcPts val="0"/>
              </a:spcAft>
            </a:pPr>
            <a:r>
              <a:rPr sz="1250" b="0">
                <a:solidFill>
                  <a:srgbClr val="E6E6E6"/>
                </a:solidFill>
                <a:latin typeface="Consolas"/>
                <a:ea typeface="Consolas"/>
              </a:rPr>
              <a:t>  3&gt;   BACKUP LOCATION '/home/oracle/rmanbk'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nid로 이름과 DBID 바꾸기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이미 만든 복제본에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SYS@CLONE&gt; SHUTDOWN IMMEDIATE</a:t>
            </a:r>
          </a:p>
          <a:p>
            <a:pPr>
              <a:spcAft>
                <a:spcPts val="0"/>
              </a:spcAft>
            </a:pPr>
            <a:r>
              <a:rPr sz="1250" b="0">
                <a:solidFill>
                  <a:srgbClr val="E6E6E6"/>
                </a:solidFill>
                <a:latin typeface="Consolas"/>
                <a:ea typeface="Consolas"/>
              </a:rPr>
              <a:t>SYS@CLONE&gt; STARTUP MOUNT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nid TARGET=sys/oracle_4U DBNAME=CLONE2 SETNAME=NO</a:t>
            </a:r>
          </a:p>
          <a:p>
            <a:pPr>
              <a:spcAft>
                <a:spcPts val="0"/>
              </a:spcAft>
            </a:pPr>
            <a:r>
              <a:rPr sz="1250" b="0">
                <a:solidFill>
                  <a:srgbClr val="E6E6E6"/>
                </a:solidFill>
                <a:latin typeface="Consolas"/>
                <a:ea typeface="Consolas"/>
              </a:rPr>
              <a:t>Changing database ID from 1428930055 to 1622074861</a:t>
            </a:r>
          </a:p>
          <a:p>
            <a:pPr>
              <a:spcAft>
                <a:spcPts val="0"/>
              </a:spcAft>
            </a:pPr>
            <a:r>
              <a:rPr sz="1250" b="0">
                <a:solidFill>
                  <a:srgbClr val="E6E6E6"/>
                </a:solidFill>
                <a:latin typeface="Consolas"/>
                <a:ea typeface="Consolas"/>
              </a:rPr>
              <a:t>Changing database name from CLONE to CLONE2</a:t>
            </a:r>
          </a:p>
          <a:p>
            <a:pPr>
              <a:spcAft>
                <a:spcPts val="0"/>
              </a:spcAft>
            </a:pPr>
            <a:r>
              <a:rPr sz="1250" b="0">
                <a:solidFill>
                  <a:srgbClr val="E6E6E6"/>
                </a:solidFill>
                <a:latin typeface="Consolas"/>
                <a:ea typeface="Consolas"/>
              </a:rPr>
              <a:t>All previous backups and archived redo logs for this database are unusable.</a:t>
            </a:r>
          </a:p>
          <a:p>
            <a:pPr>
              <a:spcAft>
                <a:spcPts val="0"/>
              </a:spcAft>
            </a:pPr>
            <a:r>
              <a:rPr sz="1250" b="0">
                <a:solidFill>
                  <a:srgbClr val="E6E6E6"/>
                </a:solidFill>
                <a:latin typeface="Consolas"/>
                <a:ea typeface="Consolas"/>
              </a:rPr>
              <a:t>Database has been shutdown, open database with RESETLOGS option.</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사후 처리</a:t>
            </a:r>
          </a:p>
          <a:p>
            <a:pPr>
              <a:spcAft>
                <a:spcPts val="0"/>
              </a:spcAft>
            </a:pPr>
            <a:r>
              <a:rPr sz="1250" b="0">
                <a:solidFill>
                  <a:srgbClr val="E6E6E6"/>
                </a:solidFill>
                <a:latin typeface="Consolas"/>
                <a:ea typeface="Consolas"/>
              </a:rPr>
              <a:t>$ sed -i "s/db_name='CLONE'/db_name='CLONE2'/" $ORACLE_HOME/dbs/initCLONE2.ora</a:t>
            </a:r>
          </a:p>
          <a:p>
            <a:pPr>
              <a:spcAft>
                <a:spcPts val="0"/>
              </a:spcAft>
            </a:pPr>
            <a:r>
              <a:rPr sz="1250" b="0">
                <a:solidFill>
                  <a:srgbClr val="E6E6E6"/>
                </a:solidFill>
                <a:latin typeface="Consolas"/>
                <a:ea typeface="Consolas"/>
              </a:rPr>
              <a:t>$ orapwd file=$ORACLE_HOME/dbs/orapwCLONE2 password=oracle_4U force=y</a:t>
            </a:r>
          </a:p>
          <a:p>
            <a:pPr>
              <a:spcAft>
                <a:spcPts val="0"/>
              </a:spcAft>
            </a:pPr>
            <a:r>
              <a:rPr sz="1250" b="0">
                <a:solidFill>
                  <a:srgbClr val="E6E6E6"/>
                </a:solidFill>
                <a:latin typeface="Consolas"/>
                <a:ea typeface="Consolas"/>
              </a:rPr>
              <a:t>SYS@CLONE2&gt; ALTER DATABASE OPEN RESETLOGS;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DUPLICATE 실패 시 확인 항목</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여섯 가지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오류                     | 원인                    | 조치</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ORA-12514                | 리스너 정적 등록 누락   | listener.ora</a:t>
            </a:r>
          </a:p>
          <a:p>
            <a:pPr>
              <a:spcAft>
                <a:spcPts val="0"/>
              </a:spcAft>
            </a:pPr>
            <a:r>
              <a:rPr sz="1250" b="0">
                <a:solidFill>
                  <a:srgbClr val="E6E6E6"/>
                </a:solidFill>
                <a:latin typeface="Consolas"/>
                <a:ea typeface="Consolas"/>
              </a:rPr>
              <a:t>ORA-01017                | SYS 비밀번호 불일치     | 패스워드 파일</a:t>
            </a:r>
          </a:p>
          <a:p>
            <a:pPr>
              <a:spcAft>
                <a:spcPts val="0"/>
              </a:spcAft>
            </a:pPr>
            <a:r>
              <a:rPr sz="1250" b="0">
                <a:solidFill>
                  <a:srgbClr val="E6E6E6"/>
                </a:solidFill>
                <a:latin typeface="Consolas"/>
                <a:ea typeface="Consolas"/>
              </a:rPr>
              <a:t>RMAN-05537               | 복제본이 이미 열려 있음 | NOMOUNT 재기동</a:t>
            </a:r>
          </a:p>
          <a:p>
            <a:pPr>
              <a:spcAft>
                <a:spcPts val="0"/>
              </a:spcAft>
            </a:pPr>
            <a:r>
              <a:rPr sz="1250" b="0">
                <a:solidFill>
                  <a:srgbClr val="E6E6E6"/>
                </a:solidFill>
                <a:latin typeface="Consolas"/>
                <a:ea typeface="Consolas"/>
              </a:rPr>
              <a:t>RMAN-05001               | 원본과 경로가 겹침      | CONVERT 규칙</a:t>
            </a:r>
          </a:p>
          <a:p>
            <a:pPr>
              <a:spcAft>
                <a:spcPts val="0"/>
              </a:spcAft>
            </a:pPr>
            <a:r>
              <a:rPr sz="1250" b="0">
                <a:solidFill>
                  <a:srgbClr val="E6E6E6"/>
                </a:solidFill>
                <a:latin typeface="Consolas"/>
                <a:ea typeface="Consolas"/>
              </a:rPr>
              <a:t>ORA-19504                | 디렉터리 없음/권한      | 경로 생성</a:t>
            </a:r>
          </a:p>
          <a:p>
            <a:pPr>
              <a:spcAft>
                <a:spcPts val="0"/>
              </a:spcAft>
            </a:pPr>
            <a:r>
              <a:rPr sz="1250" b="0">
                <a:solidFill>
                  <a:srgbClr val="E6E6E6"/>
                </a:solidFill>
                <a:latin typeface="Consolas"/>
                <a:ea typeface="Consolas"/>
              </a:rPr>
              <a:t>ORA-27102                | sga_target 과다        | pfile 조정</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17.5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테이블스페이스 시점 복구(TSPITR)</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한 테이블스페이스만 과거로 되돌린다</a:t>
            </a:r>
          </a:p>
          <a:p>
            <a:pPr>
              <a:spcAft>
                <a:spcPts val="600"/>
              </a:spcAft>
            </a:pPr>
            <a:r>
              <a:rPr sz="1600" b="0">
                <a:solidFill>
                  <a:srgbClr val="C5CED6"/>
                </a:solidFill>
                <a:latin typeface="Malgun Gothic"/>
                <a:ea typeface="Malgun Gothic"/>
              </a:rPr>
              <a:t>•  자기 완결성이 전제</a:t>
            </a:r>
          </a:p>
          <a:p>
            <a:pPr>
              <a:spcAft>
                <a:spcPts val="600"/>
              </a:spcAft>
            </a:pPr>
            <a:r>
              <a:rPr sz="1600" b="0">
                <a:solidFill>
                  <a:srgbClr val="C5CED6"/>
                </a:solidFill>
                <a:latin typeface="Malgun Gothic"/>
                <a:ea typeface="Malgun Gothic"/>
              </a:rPr>
              <a:t>•  실무에서는 복제본 방식을 더 자주 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TSPITR와 사전 점검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자기 완결성 확인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RECOVER TABLESPACE tbs_batch</a:t>
            </a:r>
          </a:p>
          <a:p>
            <a:pPr>
              <a:spcAft>
                <a:spcPts val="0"/>
              </a:spcAft>
            </a:pPr>
            <a:r>
              <a:rPr sz="1250" b="0">
                <a:solidFill>
                  <a:srgbClr val="E6E6E6"/>
                </a:solidFill>
                <a:latin typeface="Consolas"/>
                <a:ea typeface="Consolas"/>
              </a:rPr>
              <a:t>  2&gt;   UNTIL TIME "TO_DATE('2025-05-19 14:00:00','YYYY-MM-DD HH24:MI:SS')"</a:t>
            </a:r>
          </a:p>
          <a:p>
            <a:pPr>
              <a:spcAft>
                <a:spcPts val="0"/>
              </a:spcAft>
            </a:pPr>
            <a:r>
              <a:rPr sz="1250" b="0">
                <a:solidFill>
                  <a:srgbClr val="E6E6E6"/>
                </a:solidFill>
                <a:latin typeface="Consolas"/>
                <a:ea typeface="Consolas"/>
              </a:rPr>
              <a:t>  3&gt;   AUXILIARY DESTINATION '/u04/tspitr';</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사전 점검</a:t>
            </a:r>
          </a:p>
          <a:p>
            <a:pPr>
              <a:spcAft>
                <a:spcPts val="0"/>
              </a:spcAft>
            </a:pPr>
            <a:r>
              <a:rPr sz="1250" b="0">
                <a:solidFill>
                  <a:srgbClr val="E6E6E6"/>
                </a:solidFill>
                <a:latin typeface="Consolas"/>
                <a:ea typeface="Consolas"/>
              </a:rPr>
              <a:t>SYS@orcl&gt; BEGIN DBMS_TTS.transport_set_check('TBS_BATCH', TRUE); END;</a:t>
            </a:r>
          </a:p>
          <a:p>
            <a:pPr>
              <a:spcAft>
                <a:spcPts val="0"/>
              </a:spcAft>
            </a:pPr>
            <a:r>
              <a:rPr sz="1250" b="0">
                <a:solidFill>
                  <a:srgbClr val="E6E6E6"/>
                </a:solidFill>
                <a:latin typeface="Consolas"/>
                <a:ea typeface="Consolas"/>
              </a:rPr>
              <a:t>  2  /</a:t>
            </a:r>
          </a:p>
          <a:p>
            <a:pPr>
              <a:spcAft>
                <a:spcPts val="0"/>
              </a:spcAft>
            </a:pPr>
            <a:r>
              <a:rPr sz="1250" b="0">
                <a:solidFill>
                  <a:srgbClr val="E6E6E6"/>
                </a:solidFill>
                <a:latin typeface="Consolas"/>
                <a:ea typeface="Consolas"/>
              </a:rPr>
              <a:t>SYS@orcl&gt; SELECT * FROM transport_set_violations;</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VIOLATIONS</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Index HR.IDX_BATCH in tablespace USERS points to table</a:t>
            </a:r>
          </a:p>
          <a:p>
            <a:pPr>
              <a:spcAft>
                <a:spcPts val="0"/>
              </a:spcAft>
            </a:pPr>
            <a:r>
              <a:rPr sz="1250" b="0">
                <a:solidFill>
                  <a:srgbClr val="E6E6E6"/>
                </a:solidFill>
                <a:latin typeface="Consolas"/>
                <a:ea typeface="Consolas"/>
              </a:rPr>
              <a:t> HR.BATCH_DATA in tablespace TBS_BATCH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TSPITR와 복제본 활용 비교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선택 기준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구분          | TSPITR                 | 복제본에서 추출</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대상          | 테이블스페이스 전체    | 임의의 객체</a:t>
            </a:r>
          </a:p>
          <a:p>
            <a:pPr>
              <a:spcAft>
                <a:spcPts val="0"/>
              </a:spcAft>
            </a:pPr>
            <a:r>
              <a:rPr sz="1250" b="0">
                <a:solidFill>
                  <a:srgbClr val="E6E6E6"/>
                </a:solidFill>
                <a:latin typeface="Consolas"/>
                <a:ea typeface="Consolas"/>
              </a:rPr>
              <a:t>원본 영향     | 해당 TS가 OFFLINE      | 없음</a:t>
            </a:r>
          </a:p>
          <a:p>
            <a:pPr>
              <a:spcAft>
                <a:spcPts val="0"/>
              </a:spcAft>
            </a:pPr>
            <a:r>
              <a:rPr sz="1250" b="0">
                <a:solidFill>
                  <a:srgbClr val="E6E6E6"/>
                </a:solidFill>
                <a:latin typeface="Consolas"/>
                <a:ea typeface="Consolas"/>
              </a:rPr>
              <a:t>이후 백업     | 그 TS의 이전 백업 무효 | 영향 없음</a:t>
            </a:r>
          </a:p>
          <a:p>
            <a:pPr>
              <a:spcAft>
                <a:spcPts val="0"/>
              </a:spcAft>
            </a:pPr>
            <a:r>
              <a:rPr sz="1250" b="0">
                <a:solidFill>
                  <a:srgbClr val="E6E6E6"/>
                </a:solidFill>
                <a:latin typeface="Consolas"/>
                <a:ea typeface="Consolas"/>
              </a:rPr>
              <a:t>제약          | 자기 완결성 필요       | 거의 없음</a:t>
            </a:r>
          </a:p>
          <a:p>
            <a:pPr>
              <a:spcAft>
                <a:spcPts val="0"/>
              </a:spcAft>
            </a:pPr>
            <a:r>
              <a:rPr sz="1250" b="0">
                <a:solidFill>
                  <a:srgbClr val="E6E6E6"/>
                </a:solidFill>
                <a:latin typeface="Consolas"/>
                <a:ea typeface="Consolas"/>
              </a:rPr>
              <a:t>소요 시간     | 보통                   | 김 (복제본 생성)</a:t>
            </a:r>
          </a:p>
          <a:p>
            <a:pPr>
              <a:spcAft>
                <a:spcPts val="0"/>
              </a:spcAft>
            </a:pPr>
            <a:r>
              <a:rPr sz="1250" b="0">
                <a:solidFill>
                  <a:srgbClr val="E6E6E6"/>
                </a:solidFill>
                <a:latin typeface="Consolas"/>
                <a:ea typeface="Consolas"/>
              </a:rPr>
              <a:t>공간          | 보조 인스턴스분        | 전체 크기</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복제 방식 선택표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상황별 권장</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상황                      | 방식                     | 근거</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복구 훈련 환경 구축       | 백업 기반 DUPLICATE      | 원본 부하 없음</a:t>
            </a:r>
          </a:p>
          <a:p>
            <a:pPr>
              <a:spcAft>
                <a:spcPts val="0"/>
              </a:spcAft>
            </a:pPr>
            <a:r>
              <a:rPr sz="1250" b="0">
                <a:solidFill>
                  <a:srgbClr val="E6E6E6"/>
                </a:solidFill>
                <a:latin typeface="Consolas"/>
                <a:ea typeface="Consolas"/>
              </a:rPr>
              <a:t>최신 데이터로 테스트      | ACTIVE DUPLICATE         | 백업 불필요</a:t>
            </a:r>
          </a:p>
          <a:p>
            <a:pPr>
              <a:spcAft>
                <a:spcPts val="0"/>
              </a:spcAft>
            </a:pPr>
            <a:r>
              <a:rPr sz="1250" b="0">
                <a:solidFill>
                  <a:srgbClr val="E6E6E6"/>
                </a:solidFill>
                <a:latin typeface="Consolas"/>
                <a:ea typeface="Consolas"/>
              </a:rPr>
              <a:t>과거 시점 데이터 조회     | DUPLICATE ... UNTIL      | 시점 지정</a:t>
            </a:r>
          </a:p>
          <a:p>
            <a:pPr>
              <a:spcAft>
                <a:spcPts val="0"/>
              </a:spcAft>
            </a:pPr>
            <a:r>
              <a:rPr sz="1250" b="0">
                <a:solidFill>
                  <a:srgbClr val="E6E6E6"/>
                </a:solidFill>
                <a:latin typeface="Consolas"/>
                <a:ea typeface="Consolas"/>
              </a:rPr>
              <a:t>SYS 객체 복구             | 수동 복제 또는 DUPLICATE | RECOVER TABLE 불가</a:t>
            </a:r>
          </a:p>
          <a:p>
            <a:pPr>
              <a:spcAft>
                <a:spcPts val="0"/>
              </a:spcAft>
            </a:pPr>
            <a:r>
              <a:rPr sz="1250" b="0">
                <a:solidFill>
                  <a:srgbClr val="E6E6E6"/>
                </a:solidFill>
                <a:latin typeface="Consolas"/>
                <a:ea typeface="Consolas"/>
              </a:rPr>
              <a:t>한 TS만 과거로            | TSPITR                   | 영향 최소</a:t>
            </a:r>
          </a:p>
          <a:p>
            <a:pPr>
              <a:spcAft>
                <a:spcPts val="0"/>
              </a:spcAft>
            </a:pPr>
            <a:r>
              <a:rPr sz="1250" b="0">
                <a:solidFill>
                  <a:srgbClr val="E6E6E6"/>
                </a:solidFill>
                <a:latin typeface="Consolas"/>
                <a:ea typeface="Consolas"/>
              </a:rPr>
              <a:t>다른 서버로 이관 시험     | 백업본 이동 + DUPLICATE  | 부하 회피</a:t>
            </a:r>
          </a:p>
          <a:p>
            <a:pPr>
              <a:spcAft>
                <a:spcPts val="0"/>
              </a:spcAft>
            </a:pPr>
            <a:r>
              <a:rPr sz="1250" b="0">
                <a:solidFill>
                  <a:srgbClr val="E6E6E6"/>
                </a:solidFill>
                <a:latin typeface="Consolas"/>
                <a:ea typeface="Consolas"/>
              </a:rPr>
              <a:t>원리 학습                 | 수동 복제                | 절차 노출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복제본 운영 시의 주의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복제본이 원본의 경로를 쓰지 않는지 확인</a:t>
            </a:r>
          </a:p>
          <a:p>
            <a:pPr>
              <a:spcAft>
                <a:spcPts val="600"/>
              </a:spcAft>
            </a:pPr>
            <a:r>
              <a:rPr sz="1600" b="0">
                <a:solidFill>
                  <a:srgbClr val="5A6672"/>
                </a:solidFill>
                <a:latin typeface="Malgun Gothic"/>
                <a:ea typeface="Malgun Gothic"/>
              </a:rPr>
              <a:t>    –  log_archive_dest · db_recovery_file_dest · 백업 위치</a:t>
            </a:r>
          </a:p>
          <a:p>
            <a:pPr>
              <a:spcAft>
                <a:spcPts val="600"/>
              </a:spcAft>
            </a:pPr>
            <a:r>
              <a:rPr sz="1800" b="0">
                <a:solidFill>
                  <a:srgbClr val="202830"/>
                </a:solidFill>
                <a:latin typeface="Malgun Gothic"/>
                <a:ea typeface="Malgun Gothic"/>
              </a:rPr>
              <a:t>•  복제본의 아카이브가 디스크를 채우는 일이 흔하다</a:t>
            </a:r>
          </a:p>
          <a:p>
            <a:pPr>
              <a:spcAft>
                <a:spcPts val="600"/>
              </a:spcAft>
            </a:pPr>
            <a:r>
              <a:rPr sz="1600" b="0">
                <a:solidFill>
                  <a:srgbClr val="5A6672"/>
                </a:solidFill>
                <a:latin typeface="Malgun Gothic"/>
                <a:ea typeface="Malgun Gothic"/>
              </a:rPr>
              <a:t>    –  시험용이라면 NOARCHIVELOG 전환도 방법</a:t>
            </a:r>
          </a:p>
          <a:p>
            <a:pPr>
              <a:spcAft>
                <a:spcPts val="600"/>
              </a:spcAft>
            </a:pPr>
            <a:r>
              <a:rPr sz="1800" b="0">
                <a:solidFill>
                  <a:srgbClr val="202830"/>
                </a:solidFill>
                <a:latin typeface="Malgun Gothic"/>
                <a:ea typeface="Malgun Gothic"/>
              </a:rPr>
              <a:t>•  복제본의 수명을 정해 둔다</a:t>
            </a:r>
          </a:p>
          <a:p>
            <a:pPr>
              <a:spcAft>
                <a:spcPts val="600"/>
              </a:spcAft>
            </a:pPr>
            <a:r>
              <a:rPr sz="1600" b="0">
                <a:solidFill>
                  <a:srgbClr val="5A6672"/>
                </a:solidFill>
                <a:latin typeface="Malgun Gothic"/>
                <a:ea typeface="Malgun Gothic"/>
              </a:rPr>
              <a:t>    –  생성 시 삭제 예정일을 문서에 함께 기록</a:t>
            </a:r>
          </a:p>
          <a:p>
            <a:pPr>
              <a:spcAft>
                <a:spcPts val="600"/>
              </a:spcAft>
            </a:pPr>
            <a:r>
              <a:rPr sz="1800" b="0">
                <a:solidFill>
                  <a:srgbClr val="202830"/>
                </a:solidFill>
                <a:latin typeface="Malgun Gothic"/>
                <a:ea typeface="Malgun Gothic"/>
              </a:rPr>
              <a:t>•  복제 목적·시점·경로·담당자를 기록으로 남긴다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pfile 준비와 빠뜨리기 쉬운 항목</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경로를 모두 바꾼다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CREATE PFILE='/tmp/initclone.ora' FROM SPFILE;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수정할 항목</a:t>
            </a:r>
          </a:p>
          <a:p>
            <a:pPr>
              <a:spcAft>
                <a:spcPts val="0"/>
              </a:spcAft>
            </a:pPr>
            <a:r>
              <a:rPr sz="1250" b="0">
                <a:solidFill>
                  <a:srgbClr val="E6E6E6"/>
                </a:solidFill>
                <a:latin typeface="Consolas"/>
                <a:ea typeface="Consolas"/>
              </a:rPr>
              <a:t>*.db_name='CLONE'</a:t>
            </a:r>
          </a:p>
          <a:p>
            <a:pPr>
              <a:spcAft>
                <a:spcPts val="0"/>
              </a:spcAft>
            </a:pPr>
            <a:r>
              <a:rPr sz="1250" b="0">
                <a:solidFill>
                  <a:srgbClr val="E6E6E6"/>
                </a:solidFill>
                <a:latin typeface="Consolas"/>
                <a:ea typeface="Consolas"/>
              </a:rPr>
              <a:t>*.db_unique_name='CLONE'</a:t>
            </a:r>
          </a:p>
          <a:p>
            <a:pPr>
              <a:spcAft>
                <a:spcPts val="0"/>
              </a:spcAft>
            </a:pPr>
            <a:r>
              <a:rPr sz="1250" b="0">
                <a:solidFill>
                  <a:srgbClr val="E6E6E6"/>
                </a:solidFill>
                <a:latin typeface="Consolas"/>
                <a:ea typeface="Consolas"/>
              </a:rPr>
              <a:t>*.control_files='/u04/clone/CLONE/control01.ctl'</a:t>
            </a:r>
          </a:p>
          <a:p>
            <a:pPr>
              <a:spcAft>
                <a:spcPts val="0"/>
              </a:spcAft>
            </a:pPr>
            <a:r>
              <a:rPr sz="1250" b="0">
                <a:solidFill>
                  <a:srgbClr val="E6E6E6"/>
                </a:solidFill>
                <a:latin typeface="Consolas"/>
                <a:ea typeface="Consolas"/>
              </a:rPr>
              <a:t>*.audit_file_dest='/u01/app/oracle/admin/CLONE/adump'</a:t>
            </a:r>
          </a:p>
          <a:p>
            <a:pPr>
              <a:spcAft>
                <a:spcPts val="0"/>
              </a:spcAft>
            </a:pPr>
            <a:r>
              <a:rPr sz="1250" b="0">
                <a:solidFill>
                  <a:srgbClr val="E6E6E6"/>
                </a:solidFill>
                <a:latin typeface="Consolas"/>
                <a:ea typeface="Consolas"/>
              </a:rPr>
              <a:t>*.log_archive_dest_1='LOCATION=/u04/clone/arch'</a:t>
            </a:r>
          </a:p>
          <a:p>
            <a:pPr>
              <a:spcAft>
                <a:spcPts val="0"/>
              </a:spcAft>
            </a:pPr>
            <a:r>
              <a:rPr sz="1250" b="0">
                <a:solidFill>
                  <a:srgbClr val="E6E6E6"/>
                </a:solidFill>
                <a:latin typeface="Consolas"/>
                <a:ea typeface="Consolas"/>
              </a:rPr>
              <a:t>*.db_recovery_file_dest=''</a:t>
            </a:r>
          </a:p>
          <a:p>
            <a:pPr>
              <a:spcAft>
                <a:spcPts val="0"/>
              </a:spcAft>
            </a:pPr>
            <a:r>
              <a:rPr sz="1250" b="0">
                <a:solidFill>
                  <a:srgbClr val="E6E6E6"/>
                </a:solidFill>
                <a:latin typeface="Consolas"/>
                <a:ea typeface="Consolas"/>
              </a:rPr>
              <a:t>*.sga_target=536870912</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cp /tmp/initclone.ora $ORACLE_HOME/dbs/initCLONE.ora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복제 전 체크리스트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다섯 항목</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 복제본용 디렉터리를 모두 만들었는가</a:t>
            </a:r>
          </a:p>
          <a:p>
            <a:pPr>
              <a:spcAft>
                <a:spcPts val="0"/>
              </a:spcAft>
            </a:pPr>
            <a:r>
              <a:rPr sz="1250" b="0">
                <a:solidFill>
                  <a:srgbClr val="E6E6E6"/>
                </a:solidFill>
                <a:latin typeface="Consolas"/>
                <a:ea typeface="Consolas"/>
              </a:rPr>
              <a:t>    데이터파일 · 아카이브 · adump</a:t>
            </a:r>
          </a:p>
          <a:p>
            <a:pPr>
              <a:spcAft>
                <a:spcPts val="0"/>
              </a:spcAft>
            </a:pPr>
            <a:r>
              <a:rPr sz="1250" b="0">
                <a:solidFill>
                  <a:srgbClr val="E6E6E6"/>
                </a:solidFill>
                <a:latin typeface="Consolas"/>
                <a:ea typeface="Consolas"/>
              </a:rPr>
              <a:t>□ 백업 데이터파일과 그 이후 아카이브를 모두 확보했는가</a:t>
            </a:r>
          </a:p>
          <a:p>
            <a:pPr>
              <a:spcAft>
                <a:spcPts val="0"/>
              </a:spcAft>
            </a:pPr>
            <a:r>
              <a:rPr sz="1250" b="0">
                <a:solidFill>
                  <a:srgbClr val="E6E6E6"/>
                </a:solidFill>
                <a:latin typeface="Consolas"/>
                <a:ea typeface="Consolas"/>
              </a:rPr>
              <a:t>□ 필요한 공간을 계산하고 여유를 확인했는가</a:t>
            </a:r>
          </a:p>
          <a:p>
            <a:pPr>
              <a:spcAft>
                <a:spcPts val="0"/>
              </a:spcAft>
            </a:pPr>
            <a:r>
              <a:rPr sz="1250" b="0">
                <a:solidFill>
                  <a:srgbClr val="E6E6E6"/>
                </a:solidFill>
                <a:latin typeface="Consolas"/>
                <a:ea typeface="Consolas"/>
              </a:rPr>
              <a:t>    데이터파일 + 리두 + 임시 + 아카이브, 최소 3GB</a:t>
            </a:r>
          </a:p>
          <a:p>
            <a:pPr>
              <a:spcAft>
                <a:spcPts val="0"/>
              </a:spcAft>
            </a:pPr>
            <a:r>
              <a:rPr sz="1250" b="0">
                <a:solidFill>
                  <a:srgbClr val="E6E6E6"/>
                </a:solidFill>
                <a:latin typeface="Consolas"/>
                <a:ea typeface="Consolas"/>
              </a:rPr>
              <a:t>□ 복제본의 SID가 원본과 다른가</a:t>
            </a:r>
          </a:p>
          <a:p>
            <a:pPr>
              <a:spcAft>
                <a:spcPts val="0"/>
              </a:spcAft>
            </a:pPr>
            <a:r>
              <a:rPr sz="1250" b="0">
                <a:solidFill>
                  <a:srgbClr val="E6E6E6"/>
                </a:solidFill>
                <a:latin typeface="Consolas"/>
                <a:ea typeface="Consolas"/>
              </a:rPr>
              <a:t>□ pfile의 모든 경로를 복제본의 것으로 바꿨는가</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실행 직전 검증</a:t>
            </a:r>
          </a:p>
          <a:p>
            <a:pPr>
              <a:spcAft>
                <a:spcPts val="0"/>
              </a:spcAft>
            </a:pPr>
            <a:r>
              <a:rPr sz="1250" b="0">
                <a:solidFill>
                  <a:srgbClr val="E6E6E6"/>
                </a:solidFill>
                <a:latin typeface="Consolas"/>
                <a:ea typeface="Consolas"/>
              </a:rPr>
              <a:t>$ grep -n '&lt;원본 경로&gt;' &lt;재생성 문 파일&gt;   → 결과가 없어야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복제 작업 기록</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나중을 위한 문서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기록할 항목</a:t>
            </a:r>
          </a:p>
          <a:p>
            <a:pPr>
              <a:spcAft>
                <a:spcPts val="0"/>
              </a:spcAft>
            </a:pPr>
            <a:r>
              <a:rPr sz="1250" b="0">
                <a:solidFill>
                  <a:srgbClr val="E6E6E6"/>
                </a:solidFill>
                <a:latin typeface="Consolas"/>
                <a:ea typeface="Consolas"/>
              </a:rPr>
              <a:t>  복제 목적과 요청자</a:t>
            </a:r>
          </a:p>
          <a:p>
            <a:pPr>
              <a:spcAft>
                <a:spcPts val="0"/>
              </a:spcAft>
            </a:pPr>
            <a:r>
              <a:rPr sz="1250" b="0">
                <a:solidFill>
                  <a:srgbClr val="E6E6E6"/>
                </a:solidFill>
                <a:latin typeface="Consolas"/>
                <a:ea typeface="Consolas"/>
              </a:rPr>
              <a:t>  복제 시점 (SCN 또는 시각)과 사용한 백업</a:t>
            </a:r>
          </a:p>
          <a:p>
            <a:pPr>
              <a:spcAft>
                <a:spcPts val="0"/>
              </a:spcAft>
            </a:pPr>
            <a:r>
              <a:rPr sz="1250" b="0">
                <a:solidFill>
                  <a:srgbClr val="E6E6E6"/>
                </a:solidFill>
                <a:latin typeface="Consolas"/>
                <a:ea typeface="Consolas"/>
              </a:rPr>
              <a:t>  복제본의 이름 · SID · DBID · 파일 경로</a:t>
            </a:r>
          </a:p>
          <a:p>
            <a:pPr>
              <a:spcAft>
                <a:spcPts val="0"/>
              </a:spcAft>
            </a:pPr>
            <a:r>
              <a:rPr sz="1250" b="0">
                <a:solidFill>
                  <a:srgbClr val="E6E6E6"/>
                </a:solidFill>
                <a:latin typeface="Consolas"/>
                <a:ea typeface="Consolas"/>
              </a:rPr>
              <a:t>  삭제 예정일과 담당자</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SYS@CLONE&gt; SELECT dbid, name FROM v$database;</a:t>
            </a:r>
          </a:p>
          <a:p>
            <a:pPr>
              <a:spcAft>
                <a:spcPts val="0"/>
              </a:spcAft>
            </a:pPr>
            <a:r>
              <a:rPr sz="1250" b="0">
                <a:solidFill>
                  <a:srgbClr val="E6E6E6"/>
                </a:solidFill>
                <a:latin typeface="Consolas"/>
                <a:ea typeface="Consolas"/>
              </a:rPr>
              <a:t>SYS@CLONE&gt; SELECT name FROM v$datafile;</a:t>
            </a:r>
          </a:p>
          <a:p>
            <a:pPr>
              <a:spcAft>
                <a:spcPts val="0"/>
              </a:spcAft>
            </a:pPr>
            <a:r>
              <a:rPr sz="1250" b="0">
                <a:solidFill>
                  <a:srgbClr val="E6E6E6"/>
                </a:solidFill>
                <a:latin typeface="Consolas"/>
                <a:ea typeface="Consolas"/>
              </a:rPr>
              <a:t>SYS@CLONE&gt; SELECT TO_CHAR(SCN_TO_TIMESTAMP(checkpoint_change#),</a:t>
            </a:r>
          </a:p>
          <a:p>
            <a:pPr>
              <a:spcAft>
                <a:spcPts val="0"/>
              </a:spcAft>
            </a:pPr>
            <a:r>
              <a:rPr sz="1250" b="0">
                <a:solidFill>
                  <a:srgbClr val="E6E6E6"/>
                </a:solidFill>
                <a:latin typeface="Consolas"/>
                <a:ea typeface="Consolas"/>
              </a:rPr>
              <a:t>  2    'YYYY-MM-DD HH24:MI:SS') AS clone_point FROM v$database;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이 세 조회 결과를 기록에 그대로 붙인다.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복제본의 독립성</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복제본이 원본과 반드시 달라야 하는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문자 집합</a:t>
            </a:r>
          </a:p>
          <a:p>
            <a:pPr>
              <a:spcAft>
                <a:spcPts val="800"/>
              </a:spcAft>
            </a:pPr>
            <a:r>
              <a:rPr sz="1700" b="0">
                <a:solidFill>
                  <a:srgbClr val="202830"/>
                </a:solidFill>
                <a:latin typeface="Malgun Gothic"/>
                <a:ea typeface="Malgun Gothic"/>
              </a:rPr>
              <a:t>DB_NAME과 DBID</a:t>
            </a:r>
          </a:p>
          <a:p>
            <a:pPr>
              <a:spcAft>
                <a:spcPts val="800"/>
              </a:spcAft>
            </a:pPr>
            <a:r>
              <a:rPr sz="1700" b="0">
                <a:solidFill>
                  <a:srgbClr val="202830"/>
                </a:solidFill>
                <a:latin typeface="Malgun Gothic"/>
                <a:ea typeface="Malgun Gothic"/>
              </a:rPr>
              <a:t>블록 크기</a:t>
            </a:r>
          </a:p>
          <a:p>
            <a:pPr>
              <a:spcAft>
                <a:spcPts val="800"/>
              </a:spcAft>
            </a:pPr>
            <a:r>
              <a:rPr sz="1700" b="0">
                <a:solidFill>
                  <a:srgbClr val="202830"/>
                </a:solidFill>
                <a:latin typeface="Malgun Gothic"/>
                <a:ea typeface="Malgun Gothic"/>
              </a:rPr>
              <a:t>데이터베이스 버전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SET DATABASE와 REUSE DATABASE</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CREATE CONTROLFILE의 두 절의 차이는?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같다</a:t>
            </a:r>
          </a:p>
          <a:p>
            <a:pPr>
              <a:spcAft>
                <a:spcPts val="800"/>
              </a:spcAft>
            </a:pPr>
            <a:r>
              <a:rPr sz="1700" b="0">
                <a:solidFill>
                  <a:srgbClr val="202830"/>
                </a:solidFill>
                <a:latin typeface="Malgun Gothic"/>
                <a:ea typeface="Malgun Gothic"/>
              </a:rPr>
              <a:t>SET DATABASE는 새 이름을 지정하며 DBID도 새로 만들어진다</a:t>
            </a:r>
          </a:p>
          <a:p>
            <a:pPr>
              <a:spcAft>
                <a:spcPts val="800"/>
              </a:spcAft>
            </a:pPr>
            <a:r>
              <a:rPr sz="1700" b="0">
                <a:solidFill>
                  <a:srgbClr val="202830"/>
                </a:solidFill>
                <a:latin typeface="Malgun Gothic"/>
                <a:ea typeface="Malgun Gothic"/>
              </a:rPr>
              <a:t>REUSE가 이름을 바꾼다</a:t>
            </a:r>
          </a:p>
          <a:p>
            <a:pPr>
              <a:spcAft>
                <a:spcPts val="800"/>
              </a:spcAft>
            </a:pPr>
            <a:r>
              <a:rPr sz="1700" b="0">
                <a:solidFill>
                  <a:srgbClr val="202830"/>
                </a:solidFill>
                <a:latin typeface="Malgun Gothic"/>
                <a:ea typeface="Malgun Gothic"/>
              </a:rPr>
              <a:t>SET DATABASE는 리두를 유지한다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정적 등록이 필요한 이유</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복제본 인스턴스를 리스너에 정적 등록하는 이유는?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성능</a:t>
            </a:r>
          </a:p>
          <a:p>
            <a:pPr>
              <a:spcAft>
                <a:spcPts val="800"/>
              </a:spcAft>
            </a:pPr>
            <a:r>
              <a:rPr sz="1700" b="0">
                <a:solidFill>
                  <a:srgbClr val="202830"/>
                </a:solidFill>
                <a:latin typeface="Malgun Gothic"/>
                <a:ea typeface="Malgun Gothic"/>
              </a:rPr>
              <a:t>NOMOUNT 상태에서 접속을 받아야 하는데 동적 등록은 오픈 후에 이루어지므로</a:t>
            </a:r>
          </a:p>
          <a:p>
            <a:pPr>
              <a:spcAft>
                <a:spcPts val="800"/>
              </a:spcAft>
            </a:pPr>
            <a:r>
              <a:rPr sz="1700" b="0">
                <a:solidFill>
                  <a:srgbClr val="202830"/>
                </a:solidFill>
                <a:latin typeface="Malgun Gothic"/>
                <a:ea typeface="Malgun Gothic"/>
              </a:rPr>
              <a:t>보안</a:t>
            </a:r>
          </a:p>
          <a:p>
            <a:pPr>
              <a:spcAft>
                <a:spcPts val="800"/>
              </a:spcAft>
            </a:pPr>
            <a:r>
              <a:rPr sz="1700" b="0">
                <a:solidFill>
                  <a:srgbClr val="202830"/>
                </a:solidFill>
                <a:latin typeface="Malgun Gothic"/>
                <a:ea typeface="Malgun Gothic"/>
              </a:rPr>
              <a:t>라이선스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복제는 복구 기술의 응용이며 새로운 원리가 없다</a:t>
            </a:r>
          </a:p>
          <a:p>
            <a:pPr>
              <a:spcAft>
                <a:spcPts val="600"/>
              </a:spcAft>
            </a:pPr>
            <a:r>
              <a:rPr sz="1800" b="0">
                <a:solidFill>
                  <a:srgbClr val="202830"/>
                </a:solidFill>
                <a:latin typeface="Malgun Gothic"/>
                <a:ea typeface="Malgun Gothic"/>
              </a:rPr>
              <a:t>•  복제본은 DB_NAME과 DBID가 원본과 달라야 한다</a:t>
            </a:r>
          </a:p>
          <a:p>
            <a:pPr>
              <a:spcAft>
                <a:spcPts val="600"/>
              </a:spcAft>
            </a:pPr>
            <a:r>
              <a:rPr sz="1800" b="0">
                <a:solidFill>
                  <a:srgbClr val="202830"/>
                </a:solidFill>
                <a:latin typeface="Malgun Gothic"/>
                <a:ea typeface="Malgun Gothic"/>
              </a:rPr>
              <a:t>•  수동 복제는 SET DATABASE 절로 이름과 DBID를 바꾼다</a:t>
            </a:r>
          </a:p>
          <a:p>
            <a:pPr>
              <a:spcAft>
                <a:spcPts val="600"/>
              </a:spcAft>
            </a:pPr>
            <a:r>
              <a:rPr sz="1800" b="0">
                <a:solidFill>
                  <a:srgbClr val="202830"/>
                </a:solidFill>
                <a:latin typeface="Malgun Gothic"/>
                <a:ea typeface="Malgun Gothic"/>
              </a:rPr>
              <a:t>•  경로를 하나라도 원본으로 남기면 운영 데이터가 위험하다</a:t>
            </a:r>
          </a:p>
          <a:p>
            <a:pPr>
              <a:spcAft>
                <a:spcPts val="600"/>
              </a:spcAft>
            </a:pPr>
            <a:r>
              <a:rPr sz="1800" b="0">
                <a:solidFill>
                  <a:srgbClr val="202830"/>
                </a:solidFill>
                <a:latin typeface="Malgun Gothic"/>
                <a:ea typeface="Malgun Gothic"/>
              </a:rPr>
              <a:t>•  DUPLICATE는 ACTIVE와 BACKUP LOCATION 두 방식</a:t>
            </a:r>
          </a:p>
          <a:p>
            <a:pPr>
              <a:spcAft>
                <a:spcPts val="600"/>
              </a:spcAft>
            </a:pPr>
            <a:r>
              <a:rPr sz="1800" b="0">
                <a:solidFill>
                  <a:srgbClr val="202830"/>
                </a:solidFill>
                <a:latin typeface="Malgun Gothic"/>
                <a:ea typeface="Malgun Gothic"/>
              </a:rPr>
              <a:t>•  정적 등록과 패스워드 파일이 전제 조건</a:t>
            </a:r>
          </a:p>
          <a:p>
            <a:pPr>
              <a:spcAft>
                <a:spcPts val="600"/>
              </a:spcAft>
            </a:pPr>
            <a:r>
              <a:rPr sz="1800" b="0">
                <a:solidFill>
                  <a:srgbClr val="202830"/>
                </a:solidFill>
                <a:latin typeface="Malgun Gothic"/>
                <a:ea typeface="Malgun Gothic"/>
              </a:rPr>
              <a:t>•  UNTIL 절로 과거 시점 복제본을 만들 수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17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17-1 파일 복사와 pfile 준비  ·  17-2 control trace와 문 수정</a:t>
            </a:r>
          </a:p>
          <a:p>
            <a:pPr>
              <a:spcAft>
                <a:spcPts val="600"/>
              </a:spcAft>
            </a:pPr>
            <a:r>
              <a:rPr sz="1800" b="0">
                <a:solidFill>
                  <a:srgbClr val="202830"/>
                </a:solidFill>
                <a:latin typeface="Malgun Gothic"/>
                <a:ea typeface="Malgun Gothic"/>
              </a:rPr>
              <a:t>•  17-3 CREATE CONTROLFILE 실행</a:t>
            </a:r>
          </a:p>
          <a:p>
            <a:pPr>
              <a:spcAft>
                <a:spcPts val="600"/>
              </a:spcAft>
            </a:pPr>
            <a:r>
              <a:rPr sz="1800" b="0">
                <a:solidFill>
                  <a:srgbClr val="202830"/>
                </a:solidFill>
                <a:latin typeface="Malgun Gothic"/>
                <a:ea typeface="Malgun Gothic"/>
              </a:rPr>
              <a:t>•  17-4 복구와 RESETLOGS, TEMP 추가</a:t>
            </a:r>
          </a:p>
          <a:p>
            <a:pPr>
              <a:spcAft>
                <a:spcPts val="600"/>
              </a:spcAft>
            </a:pPr>
            <a:r>
              <a:rPr sz="1800" b="0">
                <a:solidFill>
                  <a:srgbClr val="202830"/>
                </a:solidFill>
                <a:latin typeface="Malgun Gothic"/>
                <a:ea typeface="Malgun Gothic"/>
              </a:rPr>
              <a:t>•  17-5 복제본 검증과 DROP DATABASE</a:t>
            </a:r>
          </a:p>
          <a:p>
            <a:pPr>
              <a:spcAft>
                <a:spcPts val="600"/>
              </a:spcAft>
            </a:pPr>
            <a:r>
              <a:rPr sz="1800" b="0">
                <a:solidFill>
                  <a:srgbClr val="202830"/>
                </a:solidFill>
                <a:latin typeface="Malgun Gothic"/>
                <a:ea typeface="Malgun Gothic"/>
              </a:rPr>
              <a:t>•  17-6 Active Duplication 사전 준비</a:t>
            </a:r>
          </a:p>
          <a:p>
            <a:pPr>
              <a:spcAft>
                <a:spcPts val="600"/>
              </a:spcAft>
            </a:pPr>
            <a:r>
              <a:rPr sz="1800" b="0">
                <a:solidFill>
                  <a:srgbClr val="202830"/>
                </a:solidFill>
                <a:latin typeface="Malgun Gothic"/>
                <a:ea typeface="Malgun Gothic"/>
              </a:rPr>
              <a:t>•  17-7 DUPLICATE FROM ACTIVE DATABASE</a:t>
            </a:r>
          </a:p>
          <a:p>
            <a:pPr>
              <a:spcAft>
                <a:spcPts val="600"/>
              </a:spcAft>
            </a:pPr>
            <a:r>
              <a:rPr sz="1800" b="0">
                <a:solidFill>
                  <a:srgbClr val="202830"/>
                </a:solidFill>
                <a:latin typeface="Malgun Gothic"/>
                <a:ea typeface="Malgun Gothic"/>
              </a:rPr>
              <a:t>•  17-8 백업 기반·시점 복제와 nid</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/u04에 3GB 이상 여유, 복제본 SID(CLONE·NEWDB)와 adump 디렉터리를 미리 만든다.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
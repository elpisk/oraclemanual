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4~17장은 백업본과 리두를 이용한 복구를 다뤘다. Flashback은 UNDO와 Flashback 로그를 이용해 되돌리는 기술이다. 백업이 없어도 되고 복원 단계가 없어 훨씬 빠르다. 대신 보존 기간 안에서만 동작하므로 만능이 아니다. 백업을 대체하지 않고 보완하는 관계다. 실습은 아홉 개이며 마지막 하나는 부록이다. 실습은 아홉 개이며 마지막 하나는 부록이다. 백업을 대체하지 않고 보완하는 관계라는 점이 이 장의 전제다.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번째 목표가 이 장의 열쇠다. Flashback은 하나의 기능이 아니라 여러 기능의 묶음이며 의존하는 자원이 서로 다르다. 그 차이를 알아야 상황에 맞는 기능을 고를 수 있다. UNDO 기반인지, 휴지통인지, Flashback 로그인지가 가용 범위를 결정한다. 의존 자원의 차이를 알아야 상황에 맞는 기능을 고를 수 있다. 첫 목표가 이 장의 열쇠다. UNDO인지 휴지통인지 Flashback 로그인지가 가용 범위를 결정한다.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18.1절에서 세운 틀이 나머지 절을 관통한다. 어떤 자원에 의존하는지, 얼마나 오래 되돌릴 수 있는지가 각 기능의 성격을 정한다. 18.6절의 판단표가 이 장의 결론이며 실무에서 가장 자주 참조하게 될 부분이다. 18.6절의 판단표가 실무에서 가장 자주 참조하게 될 부분이므로 시간을 들여 설명한다. 각 절이 18.1절의 틀 위에서 전개되므로 순서를 지킨다.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18.1절은 이 장 전체의 틀을 세운다. Flashback을 하나의 기능으로 생각하면 혼란스럽다. 의존 자원에 따라 UNDO 계열, 휴지통, Flashback 로그, 별도 이력 저장소로 나뉘며 각각 가용 범위와 전제 조건이 다르다. 이 구분이 판단의 출발점이다. Flashback을 하나의 기능으로 생각하면 혼란스럽다는 점을 절 초반에 먼저 짚어 준다. 이 구분이 판단의 출발점이라는 점을 분명히 한다.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의존 자원이 넷으로 나뉜다. UNDO는 보존 기간이 짧고 휴지통은 공간 압박 시 비워진다. Flashback 로그는 별도 설정과 공간이 필요하며 Data Archive만 장기 보관이 가능하다. 되돌림 열도 중요하다. Query 계열은 조회 도구일 뿐 데이터를 바꾸지 않는다. 무엇이 잘못되었는지 파악한 뒤 되돌릴 방법은 따로 고른다. Query 계열이 조회 전용이라는 점을 여기서 미리 확인해 둔다.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파일이 손상되었으면 Flashback으로 해결할 수 없다. 논리적 오류이고 보존 기간 안이면 Flashback이 압도적으로 빠르다. 두 기술은 대체 관계가 아니라 보완 관계다. Flashback이 있다고 백업을 소홀히 하면 안 된다. Flashback 로그는 백업이 아니며 파일이 사라지면 아무것도 할 수 없다. Flashback 로그는 백업이 아니라는 점을 분명히 한다.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UNDO_RETENTION은 목표일 뿐이며 실제 값은 tuned_undoretention 이다. 공간이 넉넉하면 목표보다 커지고 부족하면 작아진다. RETENTION GUARANTEE를 걸면 강제되지만 공간이 부족할 때 DML이 실패하는 대가를 치른다. ssolderrcnt 가 ORA-01555 발생 횟수이므로 이 값이 늘어나면 보존 설정을 재검토해야 한다. ssolderrcnt 가 늘어나면 보존 설정을 재검토해야 한다.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UNDO 기반 기능에서 가장 자주 만나는 벽이다. 시간이 지난 뒤에 실수를 발견하면 이 오류로 막히는 경우가 많다. 보존 시간은 요건에서 역산해 정한다. 실수를 발견하는 데 보통 얼마나 걸리는지 파악하고 그 시간에 여유를 더한 뒤 그 값을 감당할 만큼 UNDO 테이블스페이스를 늘린다. 시간이 지난 뒤 실수를 발견하면 이 오류로 막히는 경우가 많다는 점을 강조한다.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18.2절의 세 기능은 데이터를 바꾸지 않는다. 과거 상태를 보여 주고 변경 이력을 추적하며 트랜잭션 단위로 무엇이 바뀌었는지 알려 준다. 파악이 끝나면 되돌릴 방법을 고르는데 범위가 좁으면 조회 결과로 직접 수정하는 편이 안전하다. 파악이 끝나면 되돌릴 방법을 따로 고른다는 순서를 분명히 한다. 범위가 좁으면 조회 결과로 직접 수정하는 편이 안전하다. 세 기능이 데이터를 바꾸지 않는다는 점을 다시 확인한다.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테이블 전체를 되돌리지 않고 필요한 행만 고를 수 있다는 점이 이 방식의 장점이다. 다른 사람이 그 사이에 정상적으로 넣은 데이터를 건드리지 않는다. 시각 지정은 초 단위 이하를 표현하지 못해 경계가 모호하므로 정확한 시점이 필요하면 SCN을 쓴다. TIMESTAMP_TO_SCN 으로 변환할 수 있다. 다른 사람이 그 사이 넣은 데이터를 건드리지 않는 것이 장점이다.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Version Query는 아래에서 위로 읽는다. O 컬럼이 I/U/D로 작업 종류를 알려 주고 END_SCN이 비어 있으면 현재까지 유효한 버전이다. versions_xid 로 트랜잭션을 특정한 뒤 Transaction Query로 넘어가면 그 트랜잭션이 건드린 모든 행이 드러난다. UNDO_SQL을 모아 실행하면 그 변경만 되돌릴 수 있다. 두 기능을 이어서 쓰면 원인 추적이 완성된다.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급여 데이터가 잘못되었다는 신고에 세 기능을 이어서 쓴 사례가 있다. Version Query로 세 번의 UPDATE를 확인하고 두 번째가 잘못된 값임을 찾았다. versions_xid 로 그 트랜잭션을 특정해 Transaction Query로 조회하니 다른 사원 300명의 급여도 함께 바뀐 것이 드러났다. UNDO_SQL을 모아 실행해 그 변경만 되돌렸고 전체 복구가 필요 없었다. 실제 사례로 세 기능의 연결을 설명하면 이해가 빠르다.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18.3절은 되돌리는 기능을 다룬다. Flashback Table은 UNDO를 쓰고 Flashback Drop은 휴지통을 쓴다. 두 기능 모두 전제 조건이 있으며 그것을 확인하지 않으면 실행 시점에 막힌다. 되돌리기 전에 현재 SCN을 기록해 두는 습관이 중요하다. 전제 조건을 확인하지 않으면 실행 시점에 막힌다는 점을 먼저 말해 둔다. 두 기능 모두 전제 조건을 먼저 확인해야 한다.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ROW MOVEMENT가 필요한 이유는 되돌리는 과정에서 행의 ROWID가 바뀔 수 있기 때문이다. 활성화하지 않으면 ORA-08189로 거부된다. DDL이 있었으면 그 시점 이전으로 되돌릴 수 없다. 되돌리기 전 현재 SCN을 기록하면 결과가 기대와 다를 때 즉시 원래대로 돌아갈 수 있다. 관련 테이블이 있으면 함께 지정해 참조 관계가 깨지지 않게 한다. 되돌리기 전 SCN 기록을 습관으로 만들도록 지도한다.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인덱스와 제약 조건도 함께 되살아나지만 이름이 휴지통 이름으로 남으므로 확인이 필요하다. 외래 키 제약은 복원되지 않아 다시 만들어야 한다. 같은 이름을 여러 번 DROP하면 휴지통에 여러 항목이 쌓이고 TO BEFORE DROP은 가장 최근 것을 되살린다. 이전 것을 원하면 휴지통 이름을 직접 지정한다. 외래 키 제약은 복원되지 않으므로 다시 만들어야 한다.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판단 순서를 정해 두면 대응이 빨라진다. DROP이면 Flashback Drop을 먼저 확인하고 UNDO 보존 기간 안이면 Flashback Table이나 Query를 쓴다. 보존 기간을 넘었으면 RECOVER TABLE이나 복제본 방식으로 간다. 이 순서대로 확인하면 가장 빠른 방법부터 시도하게 된다. 판단 순서를 정해 두면 가장 빠른 방법부터 시도하게 된다는 점을 강조한다.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18.4절은 UNDO의 보존 한계를 넘는 방법을 다룬다. 변경 이력을 별도 테이블스페이스에 쌓아 두므로 몇 달 전 데이터도 조회할 수 있다. 애플리케이션을 바꾸지 않아도 되고 조회 문법도 그대로다. 대신 공간과 성능 부담이 있어 대상을 신중히 골라야 한다. 공간과 성능 부담이 있어 대상을 신중히 골라야 한다는 점을 짚는다. 몇 달 전 데이터를 조회할 수 있다는 점이 가장 큰 차이다.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조회 문법이 Flashback Query와 완전히 같다는 점이 큰 장점이다. AS OF와 VERSIONS BETWEEN을 그대로 쓰며 조회 가능한 기간만 달라진다. 애플리케이션은 이 기능이 켜져 있는지조차 알 필요가 없다. 트리거로 이력 테이블을 만드는 방식과 비교하면 개발과 유지보수 부담이 없다는 점이 결정적이다. 애플리케이션이 이 기능을 알 필요조차 없다는 점이 장점이다.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모든 테이블에 적용하면 공간과 성능 부담이 커진다. 적용 전에 그 테이블의 변경 빈도를 확인하고 이력 테이블스페이스를 별도로 두어 사용량을 정기 점검한다. FDA는 무엇이 어떻게 바뀌었는지에 초점이 있어 누가 바꿨는지는 감사 기능이나 애플리케이션 로그가 더 자세하다. 두 가지가 모두 필요하면 함께 쓴다. 적용 전에 그 테이블의 변경 빈도를 반드시 확인한다.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18.5절은 데이터베이스 전체를 되돌리는 기능을 다룬다. 불완전 복구와 결과가 같지만 백업을 복원하지 않고 Flashback 로그로 되감으므로 훨씬 빠르다. 대신 사전 설정과 추가 공간이 필요하고 되돌릴 수 있는 범위에 한계가 있다. 사전 설정과 추가 공간이 필요하다는 점을 절 초반에 분명히 한다. 되돌릴 수 있는 범위에 한계가 있다는 점도 함께 짚는다. 사전 설정이 없으면 이 기능은 쓸 수 없다는 점을 강조한다.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ARCHIVELOG 모드, FRA 구성, FLASHBACK ON 세 가지가 전제다. 19c에서는 OPEN 상태에서도 켤 수 있다. 보존 목표는 분 단위이며 기본값은 1440분, 즉 24시간이다. estimated_flashback_size 는 그 목표를 채우는 데 필요한 예상 크기이며 FRA가 이보다 작으면 목표를 지키지 못한다. 공간이 부족하면 오래된 로그부터 지워져 되돌릴 범위가 줄어든다. 공간이 부족하면 되돌릴 범위가 조용히 줄어든다.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절차는 10장의 불완전 복구와 같다. READ ONLY로 확인한 뒤 RESETLOGS로 여는 순서도 같다. 차이는 되돌린 뒤 다시 앞으로 갈 수 있다는 점이다. RESETLOGS 전이라면 RECOVER DATABASE 로 아카이브를 적용해 원하는 시점까지 진행할 수 있다. 이 유연성이 Flashback Database의 큰 이점이다. 되돌린 뒤 다시 앞으로 갈 수 있다는 점이 큰 이점이다.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보장 복원 지점은 강력하지만 위험도 있다. 그 시점 이후의 모든 Flashback 로그가 보존되므로 FRA가 가득 차면 데이터베이스가 멈출 수 있다. 배포 전에 만들고 지우는 것을 잊어 일주일 뒤 FRA가 차고 ORA-19809와 ORA-00257로 데이터베이스가 멈춘 사례가 있다. 복원 지점을 지우자 즉시 정상화되었다. 만들 때 지울 시점도 함께 정해 둔다. 만들 때 지울 시점도 함께 정해 두도록 안내한다.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제약이 적지 않으므로 Flashback Database가 있어도 백업은 여전히 필요하다. 보존 범위를 넘는 시점은 백업으로만 갈 수 있고 파일이 손상되면 Flashback으로는 아무것도 못 한다. ORA-38729가 나오면 v$flashback_database_log 의 oldest_flashback_scn 을 확인해 요청한 시점이 범위 안인지 판단한다. 제약이 적지 않으므로 백업은 여전히 필요하다.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두 줄이 이 장의 결론이다. Flashback은 보존 기간 안의 논리적 오류에만 유효하며 그 밖의 상황은 여전히 백업과 아카이브의 몫이다. 판단 순서를 정해 두면 대응이 빨라진다. 물리적 손상인가 논리적 오류인가를 먼저 가르고, 논리적 오류라면 범위와 시점을 확인해 기능을 고른다. 보존 기간을 넘었으면 즉시 백업 기반 방법으로 전환한다. 판단 순서를 정해 두면 장애 시 대응이 빨라진다.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항목을 특히 주의한다. 보장 복원 지점이 남아 있으면 FRA가 계속 차오르며 결국 데이터베이스가 멈춘다. 정기 점검에 넣어 두면 방치를 막을 수 있다. FRA 여유는 Flashback 운영의 핵심 지표다. 가득 차면 아카이브를 만들 수 없어 ORA-00257로 데이터베이스가 정지하므로 사용률을 정기적으로 확인한다. FRA 여유는 Flashback 운영의 핵심 지표다.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되돌리기 전에 그 시점의 데이터를 Flashback Query로 확인하는 것이 첫 단계다. 기대한 상태가 맞는지 본 뒤 실행해야 헛수고를 줄인다. 현재 SCN을 기록해 두면 결과가 틀렸을 때 즉시 원래대로 돌아갈 수 있다. 기록하지 않으면 시각으로 추정해야 해 정확도가 떨어진다. 다섯 단계를 절차로 만들어 두면 실수가 크게 준다. 다섯 단계를 절차로 만들어 두면 실수가 크게 줄어든다.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FDA의 장점은 애플리케이션을 바꾸지 않아도 된다는 점이다. 테이블에 적용만 하면 이력이 자동으로 쌓이고 조회도 익숙한 문법을 쓴다. 트리거 방식처럼 개발과 유지보수가 필요하지 않다. 다만 누가 바꿨는지는 감사 기능이 더 자세하므로 두 가지가 모두 필요하면 함께 쓴다. 요건이 무엇인지 먼저 정하고 방법을 고르는 순서가 맞다. 요건이 무엇인지 먼저 정하고 방법을 고르는 순서가 맞다.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FRA가 가득 차면 아카이브를 만들 수 없어 데이터베이스가 멈춘다. 두 조회로 사용률과 구성을 확인한다. Flashback 로그가 예상보다 많다면 보장 복원 지점이 남아 있는지 의심한다. 아카이브가 대부분이라면 삭제 정책을 점검한다. 이 두 조회를 정기 점검 스크립트에 넣어 두면 정지 사고를 미리 막을 수 있다. 두 조회를 정기 점검 스크립트에 넣어 두면 정지 사고를 막을 수 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Flashback의 모든 기능은 사전 설정과 보존 자원에 의존한다. 장애가 난 뒤에 설정하는 것은 의미가 없다. 그래서 도입 시점에 요건을 정하고 그에 맞는 보존 값을 잡아 두어야 한다. 정기 점검으로 그 값이 유지되고 있는지 확인하는 것까지가 운영이다. 이 두 가지가 갖춰져야 실제 상황에서 Flashback을 쓸 수 있다. 장애가 난 뒤에 설정하는 것은 의미가 없다는 점을 강조한다.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정답은 두 번째다. UNDO가 이미 덮였으면 ORA-01555가 발생한다. Flashback 로그를 사용하는 것은 Flashback Database뿐이며 별도 설정이 필요하다. 의존 자원을 구분하는 것이 이 장의 첫 번째 학습 목표인 이유가 여기에 있다. 의존 자원 구분이 이 장의 첫 학습 목표인 이유를 다시 짚어 준다. UNDO가 덮이면 어떤 Query 계열도 동작하지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정답은 두 번째다. 활성화하지 않으면 ORA-08189로 거부된다. ALTER TABLE ... ENABLE ROW MOVEMENT 로 켠다. 되돌리기 전에 현재 SCN을 기록해 두면 결과가 기대와 다를 때 즉시 원래대로 돌아갈 수 있다. 되돌리기 전 SCN 기록의 가치를 함께 설명하면 실습에서 자연스럽게 이어진다. 관련 테이블이 있으면 함께 되돌려야 참조가 깨지지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정답은 두 번째다. FRA가 차면 아카이브를 만들 수 없어 ORA-19809와 ORA-00257이 발생한다. 배포 전에 만들고 지우는 것을 잊어 일주일 뒤 데이터베이스가 멈춘 사례가 실제로 있다. 만들 때 지울 시점도 함께 정해 두고 정기 점검 항목에 넣는다. 정기 점검 항목에 넣어 방치를 막도록 안내한다. 실제 정지 사례가 있다. FRA가 차면 아카이브를 만들 수 없어 데이터베이스가 멈춘다.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줄이 이 장의 결론이다. 보존 기간을 넘거나 파일이 손상되면 백업과 아카이브의 몫이다. Flashback이 있다고 백업 정책을 느슨하게 하면 안 된다. 다음 장에서는 논리 백업인 Data Pump를 다루며 이 과정이 마무리된다. 다음 장에서 논리 백업을 다루며 이 과정 전체가 마무리된다. 보존 기간을 넘거나 파일이 손상되면 백업의 몫이다. 이 과정 전체의 결론이기도 하다는 점을 함께 말한다.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18-2부터 18-4까지가 Query 계열로 이어지므로 연속 수행이 좋다. 18-8은 FRA 설정이 전제이므로 공간을 미리 확보한다. 18-9는 원본 시나리오 보존용 부록이며 본문에서는 다루지 않는 주제다. 실습 전에 UNDO 보존 설정을 확인하지 않으면 18-2부터 ORA-01555로 막힐 수 있다. 실습 전 UNDO 보존 설정을 반드시 확인하게 한다. 그러지 않으면 18-2부터 막힌다.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Rectangle 1"/>
          <p:cNvSpPr/>
          <p:nvPr/>
        </p:nvSpPr>
        <p:spPr>
          <a:xfrm>
            <a:off x="822960" y="2331720"/>
            <a:ext cx="164592" cy="20116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1463040"/>
            <a:ext cx="10058400" cy="548640"/>
          </a:xfrm>
          <a:prstGeom prst="rect">
            <a:avLst/>
          </a:prstGeom>
          <a:noFill/>
        </p:spPr>
        <p:txBody>
          <a:bodyPr wrap="square">
            <a:spAutoFit/>
          </a:bodyPr>
          <a:lstStyle/>
          <a:p>
            <a:pPr>
              <a:spcAft>
                <a:spcPts val="600"/>
              </a:spcAft>
            </a:pPr>
            <a:r>
              <a:rPr sz="1800" b="1">
                <a:solidFill>
                  <a:srgbClr val="C0392B"/>
                </a:solidFill>
                <a:latin typeface="Malgun Gothic"/>
                <a:ea typeface="Malgun Gothic"/>
              </a:rPr>
              <a:t>Oracle Database 19c Backup &amp; Recovery  ·  제18장</a:t>
            </a:r>
          </a:p>
        </p:txBody>
      </p:sp>
      <p:sp>
        <p:nvSpPr>
          <p:cNvPr id="4" name="TextBox 3"/>
          <p:cNvSpPr txBox="1"/>
          <p:nvPr/>
        </p:nvSpPr>
        <p:spPr>
          <a:xfrm>
            <a:off x="1188720" y="2194560"/>
            <a:ext cx="10332720" cy="2011680"/>
          </a:xfrm>
          <a:prstGeom prst="rect">
            <a:avLst/>
          </a:prstGeom>
          <a:noFill/>
        </p:spPr>
        <p:txBody>
          <a:bodyPr wrap="square">
            <a:spAutoFit/>
          </a:bodyPr>
          <a:lstStyle/>
          <a:p>
            <a:pPr>
              <a:spcAft>
                <a:spcPts val="600"/>
              </a:spcAft>
            </a:pPr>
            <a:r>
              <a:rPr sz="4400" b="1">
                <a:solidFill>
                  <a:srgbClr val="FFFFFF"/>
                </a:solidFill>
                <a:latin typeface="Malgun Gothic"/>
                <a:ea typeface="Malgun Gothic"/>
              </a:rPr>
              <a:t>Flashback 기술</a:t>
            </a:r>
          </a:p>
        </p:txBody>
      </p:sp>
      <p:sp>
        <p:nvSpPr>
          <p:cNvPr id="5" name="TextBox 4"/>
          <p:cNvSpPr txBox="1"/>
          <p:nvPr/>
        </p:nvSpPr>
        <p:spPr>
          <a:xfrm>
            <a:off x="1188720" y="4297680"/>
            <a:ext cx="10058400" cy="1097280"/>
          </a:xfrm>
          <a:prstGeom prst="rect">
            <a:avLst/>
          </a:prstGeom>
          <a:noFill/>
        </p:spPr>
        <p:txBody>
          <a:bodyPr wrap="square">
            <a:spAutoFit/>
          </a:bodyPr>
          <a:lstStyle/>
          <a:p>
            <a:pPr>
              <a:spcAft>
                <a:spcPts val="600"/>
              </a:spcAft>
            </a:pPr>
            <a:r>
              <a:rPr sz="1800" b="0">
                <a:solidFill>
                  <a:srgbClr val="C5CED6"/>
                </a:solidFill>
                <a:latin typeface="Malgun Gothic"/>
                <a:ea typeface="Malgun Gothic"/>
              </a:rPr>
              <a:t>일곱 기능과 의존 자원 · UNDO 보존 · Query 계열 · Table과 Drop · Data Archive · Database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학습 목표 (Objectives)</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이 장을 마치면 다음을 수행할 수 있어야 한다.</a:t>
            </a:r>
          </a:p>
          <a:p>
            <a:pPr>
              <a:spcAft>
                <a:spcPts val="600"/>
              </a:spcAft>
            </a:pPr>
            <a:r>
              <a:rPr sz="1600" b="0">
                <a:solidFill>
                  <a:srgbClr val="5A6672"/>
                </a:solidFill>
                <a:latin typeface="Malgun Gothic"/>
                <a:ea typeface="Malgun Gothic"/>
              </a:rPr>
              <a:t>    –  Flashback 기능의 종류와 의존 자원을 구분한다</a:t>
            </a:r>
          </a:p>
          <a:p>
            <a:pPr>
              <a:spcAft>
                <a:spcPts val="600"/>
              </a:spcAft>
            </a:pPr>
            <a:r>
              <a:rPr sz="1600" b="0">
                <a:solidFill>
                  <a:srgbClr val="5A6672"/>
                </a:solidFill>
                <a:latin typeface="Malgun Gothic"/>
                <a:ea typeface="Malgun Gothic"/>
              </a:rPr>
              <a:t>    –  UNDO 보존 설정으로 가용 시간을 확보한다</a:t>
            </a:r>
          </a:p>
          <a:p>
            <a:pPr>
              <a:spcAft>
                <a:spcPts val="600"/>
              </a:spcAft>
            </a:pPr>
            <a:r>
              <a:rPr sz="1600" b="0">
                <a:solidFill>
                  <a:srgbClr val="5A6672"/>
                </a:solidFill>
                <a:latin typeface="Malgun Gothic"/>
                <a:ea typeface="Malgun Gothic"/>
              </a:rPr>
              <a:t>    –  Flashback Query 계열로 과거 데이터를 조회한다</a:t>
            </a:r>
          </a:p>
          <a:p>
            <a:pPr>
              <a:spcAft>
                <a:spcPts val="600"/>
              </a:spcAft>
            </a:pPr>
            <a:r>
              <a:rPr sz="1600" b="0">
                <a:solidFill>
                  <a:srgbClr val="5A6672"/>
                </a:solidFill>
                <a:latin typeface="Malgun Gothic"/>
                <a:ea typeface="Malgun Gothic"/>
              </a:rPr>
              <a:t>    –  테이블과 DROP된 객체를 되돌린다</a:t>
            </a:r>
          </a:p>
          <a:p>
            <a:pPr>
              <a:spcAft>
                <a:spcPts val="600"/>
              </a:spcAft>
            </a:pPr>
            <a:r>
              <a:rPr sz="1600" b="0">
                <a:solidFill>
                  <a:srgbClr val="5A6672"/>
                </a:solidFill>
                <a:latin typeface="Malgun Gothic"/>
                <a:ea typeface="Malgun Gothic"/>
              </a:rPr>
              <a:t>    –  Flashback Data Archive로 장기 이력을 보관한다</a:t>
            </a:r>
          </a:p>
          <a:p>
            <a:pPr>
              <a:spcAft>
                <a:spcPts val="600"/>
              </a:spcAft>
            </a:pPr>
            <a:r>
              <a:rPr sz="1600" b="0">
                <a:solidFill>
                  <a:srgbClr val="5A6672"/>
                </a:solidFill>
                <a:latin typeface="Malgun Gothic"/>
                <a:ea typeface="Malgun Gothic"/>
              </a:rPr>
              <a:t>    –  Flashback Database로 전체를 되돌린다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이 장의 구성 (Agenda)</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18.1  Flashback의 구조 — 일곱 기능 · 미디어 복구와의 차이 · UNDO 보존 · 한계</a:t>
            </a:r>
          </a:p>
          <a:p>
            <a:pPr>
              <a:spcAft>
                <a:spcPts val="600"/>
              </a:spcAft>
            </a:pPr>
            <a:r>
              <a:rPr sz="1800" b="0">
                <a:solidFill>
                  <a:srgbClr val="202830"/>
                </a:solidFill>
                <a:latin typeface="Malgun Gothic"/>
                <a:ea typeface="Malgun Gothic"/>
              </a:rPr>
              <a:t>•  18.2  Query 계열 — Query · Version · Transaction · 활용 · 주의</a:t>
            </a:r>
          </a:p>
          <a:p>
            <a:pPr>
              <a:spcAft>
                <a:spcPts val="600"/>
              </a:spcAft>
            </a:pPr>
            <a:r>
              <a:rPr sz="1800" b="0">
                <a:solidFill>
                  <a:srgbClr val="202830"/>
                </a:solidFill>
                <a:latin typeface="Malgun Gothic"/>
                <a:ea typeface="Malgun Gothic"/>
              </a:rPr>
              <a:t>•  18.3  Table과 Drop — Flashback Table · 휴지통 · 관리 · 확인</a:t>
            </a:r>
          </a:p>
          <a:p>
            <a:pPr>
              <a:spcAft>
                <a:spcPts val="600"/>
              </a:spcAft>
            </a:pPr>
            <a:r>
              <a:rPr sz="1800" b="0">
                <a:solidFill>
                  <a:srgbClr val="202830"/>
                </a:solidFill>
                <a:latin typeface="Malgun Gothic"/>
                <a:ea typeface="Malgun Gothic"/>
              </a:rPr>
              <a:t>•  18.4  Data Archive — 개념 · 이력 조회 · 제약 · 다른 방법과 비교</a:t>
            </a:r>
          </a:p>
          <a:p>
            <a:pPr>
              <a:spcAft>
                <a:spcPts val="600"/>
              </a:spcAft>
            </a:pPr>
            <a:r>
              <a:rPr sz="1800" b="0">
                <a:solidFill>
                  <a:srgbClr val="202830"/>
                </a:solidFill>
                <a:latin typeface="Malgun Gothic"/>
                <a:ea typeface="Malgun Gothic"/>
              </a:rPr>
              <a:t>•  18.5  Flashback Database — 전제 · 가용 범위 · 절차 · 복원 지점 · 제약</a:t>
            </a:r>
          </a:p>
          <a:p>
            <a:pPr>
              <a:spcAft>
                <a:spcPts val="600"/>
              </a:spcAft>
            </a:pPr>
            <a:r>
              <a:rPr sz="1800" b="0">
                <a:solidFill>
                  <a:srgbClr val="202830"/>
                </a:solidFill>
                <a:latin typeface="Malgun Gothic"/>
                <a:ea typeface="Malgun Gothic"/>
              </a:rPr>
              <a:t>•  18.6 판단표와 점검 항목 · 18.7 퀴즈 · 요약 · 실습 9 개요</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pPr>
              <a:spcAft>
                <a:spcPts val="200"/>
              </a:spcAft>
            </a:pPr>
            <a:r>
              <a:rPr sz="1300" b="1">
                <a:solidFill>
                  <a:srgbClr val="B88600"/>
                </a:solidFill>
                <a:latin typeface="Malgun Gothic"/>
                <a:ea typeface="Malgun Gothic"/>
              </a:rPr>
              <a:t>참고:</a:t>
            </a:r>
          </a:p>
          <a:p>
            <a:pPr>
              <a:spcAft>
                <a:spcPts val="0"/>
              </a:spcAft>
            </a:pPr>
            <a:r>
              <a:rPr sz="1250" b="0">
                <a:solidFill>
                  <a:srgbClr val="202830"/>
                </a:solidFill>
                <a:latin typeface="Malgun Gothic"/>
                <a:ea typeface="Malgun Gothic"/>
              </a:rPr>
              <a:t>Flashback Database 실습에는 FRA 공간이 필요하며 사전 설정이 전제다.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ea typeface="Malgun Gothic"/>
              </a:rPr>
              <a:t>18.1</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rPr>
              <a:t>Flashback의 구조</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일곱 기능, 서로 다른 의존 자원</a:t>
            </a:r>
          </a:p>
          <a:p>
            <a:pPr>
              <a:spcAft>
                <a:spcPts val="600"/>
              </a:spcAft>
            </a:pPr>
            <a:r>
              <a:rPr sz="1600" b="0">
                <a:solidFill>
                  <a:srgbClr val="C5CED6"/>
                </a:solidFill>
                <a:latin typeface="Malgun Gothic"/>
                <a:ea typeface="Malgun Gothic"/>
              </a:rPr>
              <a:t>•  백업 기반 복구와는 보완 관계</a:t>
            </a:r>
          </a:p>
          <a:p>
            <a:pPr>
              <a:spcAft>
                <a:spcPts val="600"/>
              </a:spcAft>
            </a:pPr>
            <a:r>
              <a:rPr sz="1600" b="0">
                <a:solidFill>
                  <a:srgbClr val="C5CED6"/>
                </a:solidFill>
                <a:latin typeface="Malgun Gothic"/>
                <a:ea typeface="Malgun Gothic"/>
              </a:rPr>
              <a:t>•  가용 시간은 보존 설정이 정한다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일곱 기능과 의존 자원</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구분이 먼저다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기능                       | 의존 자원        | 대상      | 되돌림</a:t>
            </a:r>
          </a:p>
          <a:p>
            <a:pPr>
              <a:spcAft>
                <a:spcPts val="0"/>
              </a:spcAft>
            </a:pPr>
            <a:r>
              <a:rPr sz="1250" b="0">
                <a:solidFill>
                  <a:srgbClr val="7EC699"/>
                </a:solidFill>
                <a:latin typeface="Consolas"/>
                <a:ea typeface="Consolas"/>
              </a:rPr>
              <a:t>---------------------------|------------------|-----------|--------</a:t>
            </a:r>
          </a:p>
          <a:p>
            <a:pPr>
              <a:spcAft>
                <a:spcPts val="0"/>
              </a:spcAft>
            </a:pPr>
            <a:r>
              <a:rPr sz="1250" b="0">
                <a:solidFill>
                  <a:srgbClr val="E6E6E6"/>
                </a:solidFill>
                <a:latin typeface="Consolas"/>
                <a:ea typeface="Consolas"/>
              </a:rPr>
              <a:t>Flashback Query            | UNDO             | 조회      | 아니오</a:t>
            </a:r>
          </a:p>
          <a:p>
            <a:pPr>
              <a:spcAft>
                <a:spcPts val="0"/>
              </a:spcAft>
            </a:pPr>
            <a:r>
              <a:rPr sz="1250" b="0">
                <a:solidFill>
                  <a:srgbClr val="E6E6E6"/>
                </a:solidFill>
                <a:latin typeface="Consolas"/>
                <a:ea typeface="Consolas"/>
              </a:rPr>
              <a:t>Flashback Version Query    | UNDO             | 조회      | 아니오</a:t>
            </a:r>
          </a:p>
          <a:p>
            <a:pPr>
              <a:spcAft>
                <a:spcPts val="0"/>
              </a:spcAft>
            </a:pPr>
            <a:r>
              <a:rPr sz="1250" b="0">
                <a:solidFill>
                  <a:srgbClr val="E6E6E6"/>
                </a:solidFill>
                <a:latin typeface="Consolas"/>
                <a:ea typeface="Consolas"/>
              </a:rPr>
              <a:t>Flashback Transaction Query| UNDO + 보충 로깅 | 조회      | 아니오</a:t>
            </a:r>
          </a:p>
          <a:p>
            <a:pPr>
              <a:spcAft>
                <a:spcPts val="0"/>
              </a:spcAft>
            </a:pPr>
            <a:r>
              <a:rPr sz="1250" b="0">
                <a:solidFill>
                  <a:srgbClr val="E6E6E6"/>
                </a:solidFill>
                <a:latin typeface="Consolas"/>
                <a:ea typeface="Consolas"/>
              </a:rPr>
              <a:t>Flashback Table            | UNDO             | 테이블    | 예</a:t>
            </a:r>
          </a:p>
          <a:p>
            <a:pPr>
              <a:spcAft>
                <a:spcPts val="0"/>
              </a:spcAft>
            </a:pPr>
            <a:r>
              <a:rPr sz="1250" b="0">
                <a:solidFill>
                  <a:srgbClr val="E6E6E6"/>
                </a:solidFill>
                <a:latin typeface="Consolas"/>
                <a:ea typeface="Consolas"/>
              </a:rPr>
              <a:t>Flashback Drop             | 휴지통           | DROP 객체 | 예</a:t>
            </a:r>
          </a:p>
          <a:p>
            <a:pPr>
              <a:spcAft>
                <a:spcPts val="0"/>
              </a:spcAft>
            </a:pPr>
            <a:r>
              <a:rPr sz="1250" b="0">
                <a:solidFill>
                  <a:srgbClr val="E6E6E6"/>
                </a:solidFill>
                <a:latin typeface="Consolas"/>
                <a:ea typeface="Consolas"/>
              </a:rPr>
              <a:t>Flashback Data Archive     | 별도 이력 저장소 | 조회      | 아니오</a:t>
            </a:r>
          </a:p>
          <a:p>
            <a:pPr>
              <a:spcAft>
                <a:spcPts val="0"/>
              </a:spcAft>
            </a:pPr>
            <a:r>
              <a:rPr sz="1250" b="0">
                <a:solidFill>
                  <a:srgbClr val="E6E6E6"/>
                </a:solidFill>
                <a:latin typeface="Consolas"/>
                <a:ea typeface="Consolas"/>
              </a:rPr>
              <a:t>Flashback Database         | Flashback 로그   | 전체 DB   | 예</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Flashback과 미디어 복구</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보완 관계다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구분           | Flashback             | 미디어 복구(4~17장)</a:t>
            </a:r>
          </a:p>
          <a:p>
            <a:pPr>
              <a:spcAft>
                <a:spcPts val="0"/>
              </a:spcAft>
            </a:pPr>
            <a:r>
              <a:rPr sz="1250" b="0">
                <a:solidFill>
                  <a:srgbClr val="7EC699"/>
                </a:solidFill>
                <a:latin typeface="Consolas"/>
                <a:ea typeface="Consolas"/>
              </a:rPr>
              <a:t>---------------|-----------------------|----------------------</a:t>
            </a:r>
          </a:p>
          <a:p>
            <a:pPr>
              <a:spcAft>
                <a:spcPts val="0"/>
              </a:spcAft>
            </a:pPr>
            <a:r>
              <a:rPr sz="1250" b="0">
                <a:solidFill>
                  <a:srgbClr val="E6E6E6"/>
                </a:solidFill>
                <a:latin typeface="Consolas"/>
                <a:ea typeface="Consolas"/>
              </a:rPr>
              <a:t>사용 자원      | UNDO / Flashback 로그 | 백업본 + 아카이브</a:t>
            </a:r>
          </a:p>
          <a:p>
            <a:pPr>
              <a:spcAft>
                <a:spcPts val="0"/>
              </a:spcAft>
            </a:pPr>
            <a:r>
              <a:rPr sz="1250" b="0">
                <a:solidFill>
                  <a:srgbClr val="E6E6E6"/>
                </a:solidFill>
                <a:latin typeface="Consolas"/>
                <a:ea typeface="Consolas"/>
              </a:rPr>
              <a:t>복원 단계      | 없음                  | 있음 (크기에 비례)</a:t>
            </a:r>
          </a:p>
          <a:p>
            <a:pPr>
              <a:spcAft>
                <a:spcPts val="0"/>
              </a:spcAft>
            </a:pPr>
            <a:r>
              <a:rPr sz="1250" b="0">
                <a:solidFill>
                  <a:srgbClr val="E6E6E6"/>
                </a:solidFill>
                <a:latin typeface="Consolas"/>
                <a:ea typeface="Consolas"/>
              </a:rPr>
              <a:t>소요 시간      | 초~분                 | 분~시간</a:t>
            </a:r>
          </a:p>
          <a:p>
            <a:pPr>
              <a:spcAft>
                <a:spcPts val="0"/>
              </a:spcAft>
            </a:pPr>
            <a:r>
              <a:rPr sz="1250" b="0">
                <a:solidFill>
                  <a:srgbClr val="E6E6E6"/>
                </a:solidFill>
                <a:latin typeface="Consolas"/>
                <a:ea typeface="Consolas"/>
              </a:rPr>
              <a:t>적용 범위      | 논리적 오류           | 물리적 손상 + 논리 오류</a:t>
            </a:r>
          </a:p>
          <a:p>
            <a:pPr>
              <a:spcAft>
                <a:spcPts val="0"/>
              </a:spcAft>
            </a:pPr>
            <a:r>
              <a:rPr sz="1250" b="0">
                <a:solidFill>
                  <a:srgbClr val="E6E6E6"/>
                </a:solidFill>
                <a:latin typeface="Consolas"/>
                <a:ea typeface="Consolas"/>
              </a:rPr>
              <a:t>가용 기간      | 보존 설정에 좌우      | 백업 보존 기간</a:t>
            </a:r>
          </a:p>
          <a:p>
            <a:pPr>
              <a:spcAft>
                <a:spcPts val="0"/>
              </a:spcAft>
            </a:pPr>
            <a:r>
              <a:rPr sz="1250" b="0">
                <a:solidFill>
                  <a:srgbClr val="E6E6E6"/>
                </a:solidFill>
                <a:latin typeface="Consolas"/>
                <a:ea typeface="Consolas"/>
              </a:rPr>
              <a:t>파일 손상 대응 | 불가                  | 가능</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UNDO 보존과 가용 시간</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세 요소가 정한다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SYS@orcl&gt; SHOW PARAMETER undo</a:t>
            </a:r>
          </a:p>
          <a:p>
            <a:pPr>
              <a:spcAft>
                <a:spcPts val="0"/>
              </a:spcAft>
            </a:pPr>
            <a:r>
              <a:rPr sz="1250" b="0">
                <a:solidFill>
                  <a:srgbClr val="E6E6E6"/>
                </a:solidFill>
                <a:latin typeface="Consolas"/>
                <a:ea typeface="Consolas"/>
              </a:rPr>
              <a:t>undo_management      string   AUTO</a:t>
            </a:r>
          </a:p>
          <a:p>
            <a:pPr>
              <a:spcAft>
                <a:spcPts val="0"/>
              </a:spcAft>
            </a:pPr>
            <a:r>
              <a:rPr sz="1250" b="0">
                <a:solidFill>
                  <a:srgbClr val="E6E6E6"/>
                </a:solidFill>
                <a:latin typeface="Consolas"/>
                <a:ea typeface="Consolas"/>
              </a:rPr>
              <a:t>undo_retention       integer  900</a:t>
            </a:r>
          </a:p>
          <a:p>
            <a:pPr>
              <a:spcAft>
                <a:spcPts val="0"/>
              </a:spcAft>
            </a:pPr>
            <a:r>
              <a:rPr sz="1250" b="0">
                <a:solidFill>
                  <a:srgbClr val="E6E6E6"/>
                </a:solidFill>
                <a:latin typeface="Consolas"/>
                <a:ea typeface="Consolas"/>
              </a:rPr>
              <a:t>undo_tablespace      string   UNDOTBS1</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SELECT tuned_undoretention, maxquerylen, ssolderrcnt</a:t>
            </a:r>
          </a:p>
          <a:p>
            <a:pPr>
              <a:spcAft>
                <a:spcPts val="0"/>
              </a:spcAft>
            </a:pPr>
            <a:r>
              <a:rPr sz="1250" b="0">
                <a:solidFill>
                  <a:srgbClr val="E6E6E6"/>
                </a:solidFill>
                <a:latin typeface="Consolas"/>
                <a:ea typeface="Consolas"/>
              </a:rPr>
              <a:t>  2  FROM v$undostat ORDER BY begin_time DESC FETCH FIRST 3 ROWS ONLY;</a:t>
            </a:r>
          </a:p>
          <a:p>
            <a:pPr>
              <a:spcAft>
                <a:spcPts val="0"/>
              </a:spcAft>
            </a:pPr>
            <a:r>
              <a:rPr sz="1250" b="0">
                <a:solidFill>
                  <a:srgbClr val="E6E6E6"/>
                </a:solidFill>
                <a:latin typeface="Consolas"/>
                <a:ea typeface="Consolas"/>
              </a:rPr>
              <a:t>TUNED_UNDORETENTION MAXQUERYLEN SSOLDERRCNT</a:t>
            </a:r>
          </a:p>
          <a:p>
            <a:pPr>
              <a:spcAft>
                <a:spcPts val="0"/>
              </a:spcAft>
            </a:pPr>
            <a:r>
              <a:rPr sz="1250" b="0">
                <a:solidFill>
                  <a:srgbClr val="7EC699"/>
                </a:solidFill>
                <a:latin typeface="Consolas"/>
                <a:ea typeface="Consolas"/>
              </a:rPr>
              <a:t>------------------- ----------- -----------</a:t>
            </a:r>
          </a:p>
          <a:p>
            <a:pPr>
              <a:spcAft>
                <a:spcPts val="0"/>
              </a:spcAft>
            </a:pPr>
            <a:r>
              <a:rPr sz="1250" b="0">
                <a:solidFill>
                  <a:srgbClr val="E6E6E6"/>
                </a:solidFill>
                <a:latin typeface="Consolas"/>
                <a:ea typeface="Consolas"/>
              </a:rPr>
              <a:t>               1240         412           0</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강제 보존</a:t>
            </a:r>
          </a:p>
          <a:p>
            <a:pPr>
              <a:spcAft>
                <a:spcPts val="0"/>
              </a:spcAft>
            </a:pPr>
            <a:r>
              <a:rPr sz="1250" b="0">
                <a:solidFill>
                  <a:srgbClr val="E6E6E6"/>
                </a:solidFill>
                <a:latin typeface="Consolas"/>
                <a:ea typeface="Consolas"/>
              </a:rPr>
              <a:t>SYS@orcl&gt; ALTER TABLESPACE undotbs1 RETENTION GUARANTEE;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ORA-01555 — Flashback의 벽</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가장 자주 만나는 한계</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SYS@orcl&gt; SELECT COUNT(*) FROM hr.employees</a:t>
            </a:r>
          </a:p>
          <a:p>
            <a:pPr>
              <a:spcAft>
                <a:spcPts val="0"/>
              </a:spcAft>
            </a:pPr>
            <a:r>
              <a:rPr sz="1250" b="0">
                <a:solidFill>
                  <a:srgbClr val="E6E6E6"/>
                </a:solidFill>
                <a:latin typeface="Consolas"/>
                <a:ea typeface="Consolas"/>
              </a:rPr>
              <a:t>  2  AS OF TIMESTAMP SYSTIMESTAMP - INTERVAL '2' HOUR;</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ERROR at line 1:</a:t>
            </a:r>
          </a:p>
          <a:p>
            <a:pPr>
              <a:spcAft>
                <a:spcPts val="0"/>
              </a:spcAft>
            </a:pPr>
            <a:r>
              <a:rPr sz="1250" b="0">
                <a:solidFill>
                  <a:srgbClr val="E6E6E6"/>
                </a:solidFill>
                <a:latin typeface="Consolas"/>
                <a:ea typeface="Consolas"/>
              </a:rPr>
              <a:t>ORA-01555: snapshot too old: rollback segment number 3 with name</a:t>
            </a:r>
          </a:p>
          <a:p>
            <a:pPr>
              <a:spcAft>
                <a:spcPts val="0"/>
              </a:spcAft>
            </a:pPr>
            <a:r>
              <a:rPr sz="1250" b="0">
                <a:solidFill>
                  <a:srgbClr val="E6E6E6"/>
                </a:solidFill>
                <a:latin typeface="Consolas"/>
                <a:ea typeface="Consolas"/>
              </a:rPr>
              <a:t>"_SYSSMU3_1930754532$" too small</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원인</a:t>
            </a:r>
          </a:p>
          <a:p>
            <a:pPr>
              <a:spcAft>
                <a:spcPts val="0"/>
              </a:spcAft>
            </a:pPr>
            <a:r>
              <a:rPr sz="1250" b="0">
                <a:solidFill>
                  <a:srgbClr val="E6E6E6"/>
                </a:solidFill>
                <a:latin typeface="Consolas"/>
                <a:ea typeface="Consolas"/>
              </a:rPr>
              <a:t>  ① 그 시점의 UNDO가 이미 재사용되었다</a:t>
            </a:r>
          </a:p>
          <a:p>
            <a:pPr>
              <a:spcAft>
                <a:spcPts val="0"/>
              </a:spcAft>
            </a:pPr>
            <a:r>
              <a:rPr sz="1250" b="0">
                <a:solidFill>
                  <a:srgbClr val="E6E6E6"/>
                </a:solidFill>
                <a:latin typeface="Consolas"/>
                <a:ea typeface="Consolas"/>
              </a:rPr>
              <a:t>  ② UNDO 테이블스페이스가 작아 빨리 순환한다</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넘어서는 방법</a:t>
            </a:r>
          </a:p>
          <a:p>
            <a:pPr>
              <a:spcAft>
                <a:spcPts val="0"/>
              </a:spcAft>
            </a:pPr>
            <a:r>
              <a:rPr sz="1250" b="0">
                <a:solidFill>
                  <a:srgbClr val="E6E6E6"/>
                </a:solidFill>
                <a:latin typeface="Consolas"/>
                <a:ea typeface="Consolas"/>
              </a:rPr>
              <a:t>  UNDO 확대 / Data Archive 도입 / 백업 기반 방법(16·17장)</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ea typeface="Malgun Gothic"/>
              </a:rPr>
              <a:t>18.2</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rPr>
              <a:t>Flashback Query 계열</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세 기능 모두 조회 도구다</a:t>
            </a:r>
          </a:p>
          <a:p>
            <a:pPr>
              <a:spcAft>
                <a:spcPts val="600"/>
              </a:spcAft>
            </a:pPr>
            <a:r>
              <a:rPr sz="1600" b="0">
                <a:solidFill>
                  <a:srgbClr val="C5CED6"/>
                </a:solidFill>
                <a:latin typeface="Malgun Gothic"/>
                <a:ea typeface="Malgun Gothic"/>
              </a:rPr>
              <a:t>•  무엇이 언제 어떻게 바뀌었는지 파악한다</a:t>
            </a:r>
          </a:p>
          <a:p>
            <a:pPr>
              <a:spcAft>
                <a:spcPts val="600"/>
              </a:spcAft>
            </a:pPr>
            <a:r>
              <a:rPr sz="1600" b="0">
                <a:solidFill>
                  <a:srgbClr val="C5CED6"/>
                </a:solidFill>
                <a:latin typeface="Malgun Gothic"/>
                <a:ea typeface="Malgun Gothic"/>
              </a:rPr>
              <a:t>•  되돌릴 방법은 따로 고른다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Flashback Query</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AS OF TIMESTAMP / SCN</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7EC699"/>
                </a:solidFill>
                <a:latin typeface="Consolas"/>
                <a:ea typeface="Consolas"/>
              </a:rPr>
              <a:t>-- 시각 기준</a:t>
            </a:r>
          </a:p>
          <a:p>
            <a:pPr>
              <a:spcAft>
                <a:spcPts val="0"/>
              </a:spcAft>
            </a:pPr>
            <a:r>
              <a:rPr sz="1250" b="0">
                <a:solidFill>
                  <a:srgbClr val="E6E6E6"/>
                </a:solidFill>
                <a:latin typeface="Consolas"/>
                <a:ea typeface="Consolas"/>
              </a:rPr>
              <a:t>SYS@orcl&gt; SELECT COUNT(*) FROM hr.emp180</a:t>
            </a:r>
          </a:p>
          <a:p>
            <a:pPr>
              <a:spcAft>
                <a:spcPts val="0"/>
              </a:spcAft>
            </a:pPr>
            <a:r>
              <a:rPr sz="1250" b="0">
                <a:solidFill>
                  <a:srgbClr val="E6E6E6"/>
                </a:solidFill>
                <a:latin typeface="Consolas"/>
                <a:ea typeface="Consolas"/>
              </a:rPr>
              <a:t>  2  AS OF TIMESTAMP TO_TIMESTAMP('2025-05-20 09:00:00','YYYY-MM-DD HH24:MI:SS');</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SCN 기준 / 상대 시각</a:t>
            </a:r>
          </a:p>
          <a:p>
            <a:pPr>
              <a:spcAft>
                <a:spcPts val="0"/>
              </a:spcAft>
            </a:pPr>
            <a:r>
              <a:rPr sz="1250" b="0">
                <a:solidFill>
                  <a:srgbClr val="E6E6E6"/>
                </a:solidFill>
                <a:latin typeface="Consolas"/>
                <a:ea typeface="Consolas"/>
              </a:rPr>
              <a:t>SYS@orcl&gt; SELECT COUNT(*) FROM hr.emp180 AS OF SCN 2810400;</a:t>
            </a:r>
          </a:p>
          <a:p>
            <a:pPr>
              <a:spcAft>
                <a:spcPts val="0"/>
              </a:spcAft>
            </a:pPr>
            <a:r>
              <a:rPr sz="1250" b="0">
                <a:solidFill>
                  <a:srgbClr val="E6E6E6"/>
                </a:solidFill>
                <a:latin typeface="Consolas"/>
                <a:ea typeface="Consolas"/>
              </a:rPr>
              <a:t>SYS@orcl&gt; SELECT * FROM hr.emp180</a:t>
            </a:r>
          </a:p>
          <a:p>
            <a:pPr>
              <a:spcAft>
                <a:spcPts val="0"/>
              </a:spcAft>
            </a:pPr>
            <a:r>
              <a:rPr sz="1250" b="0">
                <a:solidFill>
                  <a:srgbClr val="E6E6E6"/>
                </a:solidFill>
                <a:latin typeface="Consolas"/>
                <a:ea typeface="Consolas"/>
              </a:rPr>
              <a:t>  2  AS OF TIMESTAMP SYSTIMESTAMP - INTERVAL '10' MINUTE;</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잘못 지운 행만 되살리기</a:t>
            </a:r>
          </a:p>
          <a:p>
            <a:pPr>
              <a:spcAft>
                <a:spcPts val="0"/>
              </a:spcAft>
            </a:pPr>
            <a:r>
              <a:rPr sz="1250" b="0">
                <a:solidFill>
                  <a:srgbClr val="E6E6E6"/>
                </a:solidFill>
                <a:latin typeface="Consolas"/>
                <a:ea typeface="Consolas"/>
              </a:rPr>
              <a:t>SYS@orcl&gt; INSERT INTO hr.emp180</a:t>
            </a:r>
          </a:p>
          <a:p>
            <a:pPr>
              <a:spcAft>
                <a:spcPts val="0"/>
              </a:spcAft>
            </a:pPr>
            <a:r>
              <a:rPr sz="1250" b="0">
                <a:solidFill>
                  <a:srgbClr val="E6E6E6"/>
                </a:solidFill>
                <a:latin typeface="Consolas"/>
                <a:ea typeface="Consolas"/>
              </a:rPr>
              <a:t>  2  SELECT * FROM hr.emp180</a:t>
            </a:r>
          </a:p>
          <a:p>
            <a:pPr>
              <a:spcAft>
                <a:spcPts val="0"/>
              </a:spcAft>
            </a:pPr>
            <a:r>
              <a:rPr sz="1250" b="0">
                <a:solidFill>
                  <a:srgbClr val="E6E6E6"/>
                </a:solidFill>
                <a:latin typeface="Consolas"/>
                <a:ea typeface="Consolas"/>
              </a:rPr>
              <a:t>  3  AS OF TIMESTAMP SYSTIMESTAMP - INTERVAL '20' MINUTE old</a:t>
            </a:r>
          </a:p>
          <a:p>
            <a:pPr>
              <a:spcAft>
                <a:spcPts val="0"/>
              </a:spcAft>
            </a:pPr>
            <a:r>
              <a:rPr sz="1250" b="0">
                <a:solidFill>
                  <a:srgbClr val="E6E6E6"/>
                </a:solidFill>
                <a:latin typeface="Consolas"/>
                <a:ea typeface="Consolas"/>
              </a:rPr>
              <a:t>  4  WHERE NOT EXISTS (SELECT 1 FROM hr.emp180 cur</a:t>
            </a:r>
          </a:p>
          <a:p>
            <a:pPr>
              <a:spcAft>
                <a:spcPts val="0"/>
              </a:spcAft>
            </a:pPr>
            <a:r>
              <a:rPr sz="1250" b="0">
                <a:solidFill>
                  <a:srgbClr val="E6E6E6"/>
                </a:solidFill>
                <a:latin typeface="Consolas"/>
                <a:ea typeface="Consolas"/>
              </a:rPr>
              <a:t>  5                    WHERE cur.employee_id = old.employee_id);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Version Query와 Transaction Query</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이력 추적과 원인 특정</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SYS@orcl&gt; SELECT versions_startscn, versions_endscn, versions_xid,</a:t>
            </a:r>
          </a:p>
          <a:p>
            <a:pPr>
              <a:spcAft>
                <a:spcPts val="0"/>
              </a:spcAft>
            </a:pPr>
            <a:r>
              <a:rPr sz="1250" b="0">
                <a:solidFill>
                  <a:srgbClr val="E6E6E6"/>
                </a:solidFill>
                <a:latin typeface="Consolas"/>
                <a:ea typeface="Consolas"/>
              </a:rPr>
              <a:t>  2         versions_operation AS op, employee_id, salary</a:t>
            </a:r>
          </a:p>
          <a:p>
            <a:pPr>
              <a:spcAft>
                <a:spcPts val="0"/>
              </a:spcAft>
            </a:pPr>
            <a:r>
              <a:rPr sz="1250" b="0">
                <a:solidFill>
                  <a:srgbClr val="E6E6E6"/>
                </a:solidFill>
                <a:latin typeface="Consolas"/>
                <a:ea typeface="Consolas"/>
              </a:rPr>
              <a:t>  3  FROM   hr.emp180</a:t>
            </a:r>
          </a:p>
          <a:p>
            <a:pPr>
              <a:spcAft>
                <a:spcPts val="0"/>
              </a:spcAft>
            </a:pPr>
            <a:r>
              <a:rPr sz="1250" b="0">
                <a:solidFill>
                  <a:srgbClr val="E6E6E6"/>
                </a:solidFill>
                <a:latin typeface="Consolas"/>
                <a:ea typeface="Consolas"/>
              </a:rPr>
              <a:t>  4  VERSIONS BETWEEN TIMESTAMP SYSTIMESTAMP - INTERVAL '30' MINUTE</a:t>
            </a:r>
          </a:p>
          <a:p>
            <a:pPr>
              <a:spcAft>
                <a:spcPts val="0"/>
              </a:spcAft>
            </a:pPr>
            <a:r>
              <a:rPr sz="1250" b="0">
                <a:solidFill>
                  <a:srgbClr val="E6E6E6"/>
                </a:solidFill>
                <a:latin typeface="Consolas"/>
                <a:ea typeface="Consolas"/>
              </a:rPr>
              <a:t>  5    AND SYSTIMESTAMP WHERE employee_id = 100;</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 START_SCN   END_SCN XID              O SALARY</a:t>
            </a:r>
          </a:p>
          <a:p>
            <a:pPr>
              <a:spcAft>
                <a:spcPts val="0"/>
              </a:spcAft>
            </a:pPr>
            <a:r>
              <a:rPr sz="1250" b="0">
                <a:solidFill>
                  <a:srgbClr val="7EC699"/>
                </a:solidFill>
                <a:latin typeface="Consolas"/>
                <a:ea typeface="Consolas"/>
              </a:rPr>
              <a:t>---------- --------- ---------------- - ------</a:t>
            </a:r>
          </a:p>
          <a:p>
            <a:pPr>
              <a:spcAft>
                <a:spcPts val="0"/>
              </a:spcAft>
            </a:pPr>
            <a:r>
              <a:rPr sz="1250" b="0">
                <a:solidFill>
                  <a:srgbClr val="E6E6E6"/>
                </a:solidFill>
                <a:latin typeface="Consolas"/>
                <a:ea typeface="Consolas"/>
              </a:rPr>
              <a:t>   2811900             0A001200D3020 U  26400</a:t>
            </a:r>
          </a:p>
          <a:p>
            <a:pPr>
              <a:spcAft>
                <a:spcPts val="0"/>
              </a:spcAft>
            </a:pPr>
            <a:r>
              <a:rPr sz="1250" b="0">
                <a:solidFill>
                  <a:srgbClr val="E6E6E6"/>
                </a:solidFill>
                <a:latin typeface="Consolas"/>
                <a:ea typeface="Consolas"/>
              </a:rPr>
              <a:t>   2811200   2811900   09001C00C8010 U  24000</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SELECT xid, operation, table_name, undo_sql</a:t>
            </a:r>
          </a:p>
          <a:p>
            <a:pPr>
              <a:spcAft>
                <a:spcPts val="0"/>
              </a:spcAft>
            </a:pPr>
            <a:r>
              <a:rPr sz="1250" b="0">
                <a:solidFill>
                  <a:srgbClr val="E6E6E6"/>
                </a:solidFill>
                <a:latin typeface="Consolas"/>
                <a:ea typeface="Consolas"/>
              </a:rPr>
              <a:t>  2  FROM flashback_transaction_query WHERE xid = HEXTORAW('0A001200D3020000');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Query 계열 사용 시의 주의</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시각 지정은 경계가 모호 — 정확하려면 SCN</a:t>
            </a:r>
          </a:p>
          <a:p>
            <a:pPr>
              <a:spcAft>
                <a:spcPts val="600"/>
              </a:spcAft>
            </a:pPr>
            <a:r>
              <a:rPr sz="1600" b="0">
                <a:solidFill>
                  <a:srgbClr val="5A6672"/>
                </a:solidFill>
                <a:latin typeface="Malgun Gothic"/>
                <a:ea typeface="Malgun Gothic"/>
              </a:rPr>
              <a:t>    –  TIMESTAMP_TO_SCN / SCN_TO_TIMESTAMP 로 변환</a:t>
            </a:r>
          </a:p>
          <a:p>
            <a:pPr>
              <a:spcAft>
                <a:spcPts val="600"/>
              </a:spcAft>
            </a:pPr>
            <a:r>
              <a:rPr sz="1800" b="0">
                <a:solidFill>
                  <a:srgbClr val="202830"/>
                </a:solidFill>
                <a:latin typeface="Malgun Gothic"/>
                <a:ea typeface="Malgun Gothic"/>
              </a:rPr>
              <a:t>•  DDL이 있었으면 그 이전으로 조회 불가 (ORA-01466)</a:t>
            </a:r>
          </a:p>
          <a:p>
            <a:pPr>
              <a:spcAft>
                <a:spcPts val="600"/>
              </a:spcAft>
            </a:pPr>
            <a:r>
              <a:rPr sz="1800" b="0">
                <a:solidFill>
                  <a:srgbClr val="202830"/>
                </a:solidFill>
                <a:latin typeface="Malgun Gothic"/>
                <a:ea typeface="Malgun Gothic"/>
              </a:rPr>
              <a:t>•  권한 확인</a:t>
            </a:r>
          </a:p>
          <a:p>
            <a:pPr>
              <a:spcAft>
                <a:spcPts val="600"/>
              </a:spcAft>
            </a:pPr>
            <a:r>
              <a:rPr sz="1600" b="0">
                <a:solidFill>
                  <a:srgbClr val="5A6672"/>
                </a:solidFill>
                <a:latin typeface="Malgun Gothic"/>
                <a:ea typeface="Malgun Gothic"/>
              </a:rPr>
              <a:t>    –  다른 스키마 객체는 SELECT 권한 필요</a:t>
            </a:r>
          </a:p>
          <a:p>
            <a:pPr>
              <a:spcAft>
                <a:spcPts val="600"/>
              </a:spcAft>
            </a:pPr>
            <a:r>
              <a:rPr sz="1600" b="0">
                <a:solidFill>
                  <a:srgbClr val="5A6672"/>
                </a:solidFill>
                <a:latin typeface="Malgun Gothic"/>
                <a:ea typeface="Malgun Gothic"/>
              </a:rPr>
              <a:t>    –  Transaction Query는 SELECT ANY TRANSACTION 추가</a:t>
            </a:r>
          </a:p>
          <a:p>
            <a:pPr>
              <a:spcAft>
                <a:spcPts val="600"/>
              </a:spcAft>
            </a:pPr>
            <a:r>
              <a:rPr sz="1800" b="0">
                <a:solidFill>
                  <a:srgbClr val="202830"/>
                </a:solidFill>
                <a:latin typeface="Malgun Gothic"/>
                <a:ea typeface="Malgun Gothic"/>
              </a:rPr>
              <a:t>•  Transaction Query는 보충 로깅이 켜져 있어야 정확</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ea typeface="Malgun Gothic"/>
              </a:rPr>
              <a:t>18.3</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rPr>
              <a:t>Flashback Table과 Drop</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테이블 단위로 되돌린다</a:t>
            </a:r>
          </a:p>
          <a:p>
            <a:pPr>
              <a:spcAft>
                <a:spcPts val="600"/>
              </a:spcAft>
            </a:pPr>
            <a:r>
              <a:rPr sz="1600" b="0">
                <a:solidFill>
                  <a:srgbClr val="C5CED6"/>
                </a:solidFill>
                <a:latin typeface="Malgun Gothic"/>
                <a:ea typeface="Malgun Gothic"/>
              </a:rPr>
              <a:t>•  DROP은 휴지통에서 되살린다</a:t>
            </a:r>
          </a:p>
          <a:p>
            <a:pPr>
              <a:spcAft>
                <a:spcPts val="600"/>
              </a:spcAft>
            </a:pPr>
            <a:r>
              <a:rPr sz="1600" b="0">
                <a:solidFill>
                  <a:srgbClr val="C5CED6"/>
                </a:solidFill>
                <a:latin typeface="Malgun Gothic"/>
                <a:ea typeface="Malgun Gothic"/>
              </a:rPr>
              <a:t>•  되돌리기 전 SCN을 기록한다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Flashback Table</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ROW MOVEMENT가 전제</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SYS@orcl&gt; ALTER TABLE hr.emp180 ENABLE ROW MOVEMENT;</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FLASHBACK TABLE hr.emp180</a:t>
            </a:r>
          </a:p>
          <a:p>
            <a:pPr>
              <a:spcAft>
                <a:spcPts val="0"/>
              </a:spcAft>
            </a:pPr>
            <a:r>
              <a:rPr sz="1250" b="0">
                <a:solidFill>
                  <a:srgbClr val="E6E6E6"/>
                </a:solidFill>
                <a:latin typeface="Consolas"/>
                <a:ea typeface="Consolas"/>
              </a:rPr>
              <a:t>  2    TO TIMESTAMP SYSTIMESTAMP - INTERVAL '20' MINUTE;</a:t>
            </a:r>
          </a:p>
          <a:p>
            <a:pPr>
              <a:spcAft>
                <a:spcPts val="0"/>
              </a:spcAft>
            </a:pPr>
            <a:r>
              <a:rPr sz="1250" b="0">
                <a:solidFill>
                  <a:srgbClr val="E6E6E6"/>
                </a:solidFill>
                <a:latin typeface="Consolas"/>
                <a:ea typeface="Consolas"/>
              </a:rPr>
              <a:t>Flashback complete.</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SCN 기준 / 여러 테이블 함께</a:t>
            </a:r>
          </a:p>
          <a:p>
            <a:pPr>
              <a:spcAft>
                <a:spcPts val="0"/>
              </a:spcAft>
            </a:pPr>
            <a:r>
              <a:rPr sz="1250" b="0">
                <a:solidFill>
                  <a:srgbClr val="E6E6E6"/>
                </a:solidFill>
                <a:latin typeface="Consolas"/>
                <a:ea typeface="Consolas"/>
              </a:rPr>
              <a:t>SYS@orcl&gt; FLASHBACK TABLE hr.emp180 TO SCN 2811200;</a:t>
            </a:r>
          </a:p>
          <a:p>
            <a:pPr>
              <a:spcAft>
                <a:spcPts val="0"/>
              </a:spcAft>
            </a:pPr>
            <a:r>
              <a:rPr sz="1250" b="0">
                <a:solidFill>
                  <a:srgbClr val="E6E6E6"/>
                </a:solidFill>
                <a:latin typeface="Consolas"/>
                <a:ea typeface="Consolas"/>
              </a:rPr>
              <a:t>SYS@orcl&gt; FLASHBACK TABLE hr.emp180, hr.dept180 TO SCN 2811200;</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되돌리기 전 현재 SCN을 기록해 둔다</a:t>
            </a:r>
          </a:p>
          <a:p>
            <a:pPr>
              <a:spcAft>
                <a:spcPts val="0"/>
              </a:spcAft>
            </a:pPr>
            <a:r>
              <a:rPr sz="1250" b="0">
                <a:solidFill>
                  <a:srgbClr val="E6E6E6"/>
                </a:solidFill>
                <a:latin typeface="Consolas"/>
                <a:ea typeface="Consolas"/>
              </a:rPr>
              <a:t>SYS@orcl&gt; SELECT current_scn FROM v$database;</a:t>
            </a:r>
          </a:p>
          <a:p>
            <a:pPr>
              <a:spcAft>
                <a:spcPts val="0"/>
              </a:spcAft>
            </a:pPr>
            <a:r>
              <a:rPr sz="1250" b="0">
                <a:solidFill>
                  <a:srgbClr val="E6E6E6"/>
                </a:solidFill>
                <a:latin typeface="Consolas"/>
                <a:ea typeface="Consolas"/>
              </a:rPr>
              <a:t>   2813400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Flashback Drop과 휴지통</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DROP은 즉시 지워지지 않는다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SYS@orcl&gt; DROP TABLE hr.emp180;</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SELECT object_name, original_name, droptime</a:t>
            </a:r>
          </a:p>
          <a:p>
            <a:pPr>
              <a:spcAft>
                <a:spcPts val="0"/>
              </a:spcAft>
            </a:pPr>
            <a:r>
              <a:rPr sz="1250" b="0">
                <a:solidFill>
                  <a:srgbClr val="E6E6E6"/>
                </a:solidFill>
                <a:latin typeface="Consolas"/>
                <a:ea typeface="Consolas"/>
              </a:rPr>
              <a:t>  2  FROM dba_recyclebin WHERE owner = 'HR';</a:t>
            </a:r>
          </a:p>
          <a:p>
            <a:pPr>
              <a:spcAft>
                <a:spcPts val="0"/>
              </a:spcAft>
            </a:pPr>
            <a:r>
              <a:rPr sz="1250" b="0">
                <a:solidFill>
                  <a:srgbClr val="E6E6E6"/>
                </a:solidFill>
                <a:latin typeface="Consolas"/>
                <a:ea typeface="Consolas"/>
              </a:rPr>
              <a:t>BIN$aB3kL9xQTGm8Kw==$0    EMP180    2025-05-20:10:22:41</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FLASHBACK TABLE hr.emp180 TO BEFORE DROP;</a:t>
            </a:r>
          </a:p>
          <a:p>
            <a:pPr>
              <a:spcAft>
                <a:spcPts val="0"/>
              </a:spcAft>
            </a:pPr>
            <a:r>
              <a:rPr sz="1250" b="0">
                <a:solidFill>
                  <a:srgbClr val="E6E6E6"/>
                </a:solidFill>
                <a:latin typeface="Consolas"/>
                <a:ea typeface="Consolas"/>
              </a:rPr>
              <a:t>SYS@orcl&gt; FLASHBACK TABLE hr.emp180 TO BEFORE DROP RENAME TO emp180_old;</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휴지통 관리</a:t>
            </a:r>
          </a:p>
          <a:p>
            <a:pPr>
              <a:spcAft>
                <a:spcPts val="0"/>
              </a:spcAft>
            </a:pPr>
            <a:r>
              <a:rPr sz="1250" b="0">
                <a:solidFill>
                  <a:srgbClr val="E6E6E6"/>
                </a:solidFill>
                <a:latin typeface="Consolas"/>
                <a:ea typeface="Consolas"/>
              </a:rPr>
              <a:t>SYS@orcl&gt; PURGE TABLE hr.emp180;</a:t>
            </a:r>
          </a:p>
          <a:p>
            <a:pPr>
              <a:spcAft>
                <a:spcPts val="0"/>
              </a:spcAft>
            </a:pPr>
            <a:r>
              <a:rPr sz="1250" b="0">
                <a:solidFill>
                  <a:srgbClr val="E6E6E6"/>
                </a:solidFill>
                <a:latin typeface="Consolas"/>
                <a:ea typeface="Consolas"/>
              </a:rPr>
              <a:t>SYS@orcl&gt; PURGE RECYCLEBIN;</a:t>
            </a:r>
          </a:p>
          <a:p>
            <a:pPr>
              <a:spcAft>
                <a:spcPts val="0"/>
              </a:spcAft>
            </a:pPr>
            <a:r>
              <a:rPr sz="1250" b="0">
                <a:solidFill>
                  <a:srgbClr val="E6E6E6"/>
                </a:solidFill>
                <a:latin typeface="Consolas"/>
                <a:ea typeface="Consolas"/>
              </a:rPr>
              <a:t>SYS@orcl&gt; DROP TABLE hr.emp180 PURGE;   -- 휴지통을 거치지 않음</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테이블 되돌리기 방법 비교</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가장 빠른 것부터</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방법                  | 의존 자원     | 소요    | 제약</a:t>
            </a:r>
          </a:p>
          <a:p>
            <a:pPr>
              <a:spcAft>
                <a:spcPts val="0"/>
              </a:spcAft>
            </a:pPr>
            <a:r>
              <a:rPr sz="1250" b="0">
                <a:solidFill>
                  <a:srgbClr val="7EC699"/>
                </a:solidFill>
                <a:latin typeface="Consolas"/>
                <a:ea typeface="Consolas"/>
              </a:rPr>
              <a:t>----------------------|---------------|---------|------------------</a:t>
            </a:r>
          </a:p>
          <a:p>
            <a:pPr>
              <a:spcAft>
                <a:spcPts val="0"/>
              </a:spcAft>
            </a:pPr>
            <a:r>
              <a:rPr sz="1250" b="0">
                <a:solidFill>
                  <a:srgbClr val="E6E6E6"/>
                </a:solidFill>
                <a:latin typeface="Consolas"/>
                <a:ea typeface="Consolas"/>
              </a:rPr>
              <a:t>Flashback Query + DML | UNDO          | 초      | 행 단위, 직접 작성</a:t>
            </a:r>
          </a:p>
          <a:p>
            <a:pPr>
              <a:spcAft>
                <a:spcPts val="0"/>
              </a:spcAft>
            </a:pPr>
            <a:r>
              <a:rPr sz="1250" b="0">
                <a:solidFill>
                  <a:srgbClr val="E6E6E6"/>
                </a:solidFill>
                <a:latin typeface="Consolas"/>
                <a:ea typeface="Consolas"/>
              </a:rPr>
              <a:t>Flashback Table       | UNDO          | 초~분   | ROW MOVEMENT 필요</a:t>
            </a:r>
          </a:p>
          <a:p>
            <a:pPr>
              <a:spcAft>
                <a:spcPts val="0"/>
              </a:spcAft>
            </a:pPr>
            <a:r>
              <a:rPr sz="1250" b="0">
                <a:solidFill>
                  <a:srgbClr val="E6E6E6"/>
                </a:solidFill>
                <a:latin typeface="Consolas"/>
                <a:ea typeface="Consolas"/>
              </a:rPr>
              <a:t>Flashback Drop        | 휴지통        | 초      | DROP된 경우만</a:t>
            </a:r>
          </a:p>
          <a:p>
            <a:pPr>
              <a:spcAft>
                <a:spcPts val="0"/>
              </a:spcAft>
            </a:pPr>
            <a:r>
              <a:rPr sz="1250" b="0">
                <a:solidFill>
                  <a:srgbClr val="E6E6E6"/>
                </a:solidFill>
                <a:latin typeface="Consolas"/>
                <a:ea typeface="Consolas"/>
              </a:rPr>
              <a:t>RECOVER TABLE (16장)  | 백업+아카이브 | 수십 분 | 공간 필요, SYS 불가</a:t>
            </a:r>
          </a:p>
          <a:p>
            <a:pPr>
              <a:spcAft>
                <a:spcPts val="0"/>
              </a:spcAft>
            </a:pPr>
            <a:r>
              <a:rPr sz="1250" b="0">
                <a:solidFill>
                  <a:srgbClr val="E6E6E6"/>
                </a:solidFill>
                <a:latin typeface="Consolas"/>
                <a:ea typeface="Consolas"/>
              </a:rPr>
              <a:t>복제본 추출 (17장)    | 백업+아카이브 | 수십 분 | 공간과 시간 필요</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ea typeface="Malgun Gothic"/>
              </a:rPr>
              <a:t>18.4</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rPr>
              <a:t>Flashback Data Archive</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변경 이력을 별도 저장소에 장기 보관</a:t>
            </a:r>
          </a:p>
          <a:p>
            <a:pPr>
              <a:spcAft>
                <a:spcPts val="600"/>
              </a:spcAft>
            </a:pPr>
            <a:r>
              <a:rPr sz="1600" b="0">
                <a:solidFill>
                  <a:srgbClr val="C5CED6"/>
                </a:solidFill>
                <a:latin typeface="Malgun Gothic"/>
                <a:ea typeface="Malgun Gothic"/>
              </a:rPr>
              <a:t>•  UNDO와 무관해 ORA-01555가 없다</a:t>
            </a:r>
          </a:p>
          <a:p>
            <a:pPr>
              <a:spcAft>
                <a:spcPts val="600"/>
              </a:spcAft>
            </a:pPr>
            <a:r>
              <a:rPr sz="1600" b="0">
                <a:solidFill>
                  <a:srgbClr val="C5CED6"/>
                </a:solidFill>
                <a:latin typeface="Malgun Gothic"/>
                <a:ea typeface="Malgun Gothic"/>
              </a:rPr>
              <a:t>•  선택적으로 적용한다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FDA 구성과 조회</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설정 후에는 문법이 같다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SYS@orcl&gt; CREATE TABLESPACE fda_ts</a:t>
            </a:r>
          </a:p>
          <a:p>
            <a:pPr>
              <a:spcAft>
                <a:spcPts val="0"/>
              </a:spcAft>
            </a:pPr>
            <a:r>
              <a:rPr sz="1250" b="0">
                <a:solidFill>
                  <a:srgbClr val="E6E6E6"/>
                </a:solidFill>
                <a:latin typeface="Consolas"/>
                <a:ea typeface="Consolas"/>
              </a:rPr>
              <a:t>  2    DATAFILE '/u03/oradata/ORCL/fda01.dbf' SIZE 200M AUTOEXTEND ON;</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CREATE FLASHBACK ARCHIVE fda_1y</a:t>
            </a:r>
          </a:p>
          <a:p>
            <a:pPr>
              <a:spcAft>
                <a:spcPts val="0"/>
              </a:spcAft>
            </a:pPr>
            <a:r>
              <a:rPr sz="1250" b="0">
                <a:solidFill>
                  <a:srgbClr val="E6E6E6"/>
                </a:solidFill>
                <a:latin typeface="Consolas"/>
                <a:ea typeface="Consolas"/>
              </a:rPr>
              <a:t>  2    TABLESPACE fda_ts QUOTA 1G RETENTION 1 YEAR;</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ALTER TABLE hr.emp184 FLASHBACK ARCHIVE fda_1y;</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한 달 전 조회 (UNDO 기반이면 ORA-01555)</a:t>
            </a:r>
          </a:p>
          <a:p>
            <a:pPr>
              <a:spcAft>
                <a:spcPts val="0"/>
              </a:spcAft>
            </a:pPr>
            <a:r>
              <a:rPr sz="1250" b="0">
                <a:solidFill>
                  <a:srgbClr val="E6E6E6"/>
                </a:solidFill>
                <a:latin typeface="Consolas"/>
                <a:ea typeface="Consolas"/>
              </a:rPr>
              <a:t>SYS@orcl&gt; SELECT COUNT(*) FROM hr.emp184</a:t>
            </a:r>
          </a:p>
          <a:p>
            <a:pPr>
              <a:spcAft>
                <a:spcPts val="0"/>
              </a:spcAft>
            </a:pPr>
            <a:r>
              <a:rPr sz="1250" b="0">
                <a:solidFill>
                  <a:srgbClr val="E6E6E6"/>
                </a:solidFill>
                <a:latin typeface="Consolas"/>
                <a:ea typeface="Consolas"/>
              </a:rPr>
              <a:t>  2  AS OF TIMESTAMP SYSTIMESTAMP - INTERVAL '30' DAY;</a:t>
            </a:r>
          </a:p>
          <a:p>
            <a:pPr>
              <a:spcAft>
                <a:spcPts val="0"/>
              </a:spcAft>
            </a:pPr>
            <a:r>
              <a:rPr sz="1250" b="0">
                <a:solidFill>
                  <a:srgbClr val="E6E6E6"/>
                </a:solidFill>
                <a:latin typeface="Consolas"/>
                <a:ea typeface="Consolas"/>
              </a:rPr>
              <a:t>       107</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SELECT * FROM dba_flashback_archive_tables;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FDA의 제약과 운영 고려</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적용 테이블에는 일부 DDL이 제한된다</a:t>
            </a:r>
          </a:p>
          <a:p>
            <a:pPr>
              <a:spcAft>
                <a:spcPts val="600"/>
              </a:spcAft>
            </a:pPr>
            <a:r>
              <a:rPr sz="1600" b="0">
                <a:solidFill>
                  <a:srgbClr val="5A6672"/>
                </a:solidFill>
                <a:latin typeface="Malgun Gothic"/>
                <a:ea typeface="Malgun Gothic"/>
              </a:rPr>
              <a:t>    –  19c는 대부분 허용되나 이력 정합성 확인 필요</a:t>
            </a:r>
          </a:p>
          <a:p>
            <a:pPr>
              <a:spcAft>
                <a:spcPts val="600"/>
              </a:spcAft>
            </a:pPr>
            <a:r>
              <a:rPr sz="1800" b="0">
                <a:solidFill>
                  <a:srgbClr val="202830"/>
                </a:solidFill>
                <a:latin typeface="Malgun Gothic"/>
                <a:ea typeface="Malgun Gothic"/>
              </a:rPr>
              <a:t>•  이력이 계속 쌓이므로 공간 계획이 필요</a:t>
            </a:r>
          </a:p>
          <a:p>
            <a:pPr>
              <a:spcAft>
                <a:spcPts val="600"/>
              </a:spcAft>
            </a:pPr>
            <a:r>
              <a:rPr sz="1600" b="0">
                <a:solidFill>
                  <a:srgbClr val="5A6672"/>
                </a:solidFill>
                <a:latin typeface="Malgun Gothic"/>
                <a:ea typeface="Malgun Gothic"/>
              </a:rPr>
              <a:t>    –  변경이 잦으면 이력이 원본보다 커질 수 있다</a:t>
            </a:r>
          </a:p>
          <a:p>
            <a:pPr>
              <a:spcAft>
                <a:spcPts val="600"/>
              </a:spcAft>
            </a:pPr>
            <a:r>
              <a:rPr sz="1800" b="0">
                <a:solidFill>
                  <a:srgbClr val="202830"/>
                </a:solidFill>
                <a:latin typeface="Malgun Gothic"/>
                <a:ea typeface="Malgun Gothic"/>
              </a:rPr>
              <a:t>•  적용 대상을 신중히 고른다 — 감사 요건이 있는 테이블 우선</a:t>
            </a:r>
          </a:p>
          <a:p>
            <a:pPr>
              <a:spcAft>
                <a:spcPts val="600"/>
              </a:spcAft>
            </a:pPr>
            <a:r>
              <a:rPr sz="1800" b="0">
                <a:solidFill>
                  <a:srgbClr val="202830"/>
                </a:solidFill>
                <a:latin typeface="Malgun Gothic"/>
                <a:ea typeface="Malgun Gothic"/>
              </a:rPr>
              <a:t>•  보존 기간은 법적 요건이나 내부 규정에서 역산</a:t>
            </a:r>
          </a:p>
          <a:p>
            <a:pPr>
              <a:spcAft>
                <a:spcPts val="600"/>
              </a:spcAft>
            </a:pPr>
            <a:r>
              <a:rPr sz="1800" b="0">
                <a:solidFill>
                  <a:srgbClr val="202830"/>
                </a:solidFill>
                <a:latin typeface="Malgun Gothic"/>
                <a:ea typeface="Malgun Gothic"/>
              </a:rPr>
              <a:t>•  누가 바꿨는지는 감사 기능이 더 자세하다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ea typeface="Malgun Gothic"/>
              </a:rPr>
              <a:t>18.5</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rPr>
              <a:t>Flashback Database</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복원 없이 전체를 되감는다</a:t>
            </a:r>
          </a:p>
          <a:p>
            <a:pPr>
              <a:spcAft>
                <a:spcPts val="600"/>
              </a:spcAft>
            </a:pPr>
            <a:r>
              <a:rPr sz="1600" b="0">
                <a:solidFill>
                  <a:srgbClr val="C5CED6"/>
                </a:solidFill>
                <a:latin typeface="Malgun Gothic"/>
                <a:ea typeface="Malgun Gothic"/>
              </a:rPr>
              <a:t>•  FRA와 FLASHBACK ON이 전제</a:t>
            </a:r>
          </a:p>
          <a:p>
            <a:pPr>
              <a:spcAft>
                <a:spcPts val="600"/>
              </a:spcAft>
            </a:pPr>
            <a:r>
              <a:rPr sz="1600" b="0">
                <a:solidFill>
                  <a:srgbClr val="C5CED6"/>
                </a:solidFill>
                <a:latin typeface="Malgun Gothic"/>
                <a:ea typeface="Malgun Gothic"/>
              </a:rPr>
              <a:t>•  설정 이전으로는 갈 수 없다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전제 조건과 설정</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사전 준비가 필요하다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SYS@orcl&gt; SELECT flashback_on FROM v$database;</a:t>
            </a:r>
          </a:p>
          <a:p>
            <a:pPr>
              <a:spcAft>
                <a:spcPts val="0"/>
              </a:spcAft>
            </a:pPr>
            <a:r>
              <a:rPr sz="1250" b="0">
                <a:solidFill>
                  <a:srgbClr val="E6E6E6"/>
                </a:solidFill>
                <a:latin typeface="Consolas"/>
                <a:ea typeface="Consolas"/>
              </a:rPr>
              <a:t>NO</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ALTER SYSTEM SET db_recovery_file_dest_size = 8G SCOPE=BOTH;</a:t>
            </a:r>
          </a:p>
          <a:p>
            <a:pPr>
              <a:spcAft>
                <a:spcPts val="0"/>
              </a:spcAft>
            </a:pPr>
            <a:r>
              <a:rPr sz="1250" b="0">
                <a:solidFill>
                  <a:srgbClr val="E6E6E6"/>
                </a:solidFill>
                <a:latin typeface="Consolas"/>
                <a:ea typeface="Consolas"/>
              </a:rPr>
              <a:t>SYS@orcl&gt; ALTER SYSTEM SET db_recovery_file_dest = '/u03/fra' SCOPE=BOTH;</a:t>
            </a:r>
          </a:p>
          <a:p>
            <a:pPr>
              <a:spcAft>
                <a:spcPts val="0"/>
              </a:spcAft>
            </a:pPr>
            <a:r>
              <a:rPr sz="1250" b="0">
                <a:solidFill>
                  <a:srgbClr val="E6E6E6"/>
                </a:solidFill>
                <a:latin typeface="Consolas"/>
                <a:ea typeface="Consolas"/>
              </a:rPr>
              <a:t>SYS@orcl&gt; ALTER SYSTEM SET db_flashback_retention_target = 2880 SCOPE=BOTH;</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ALTER DATABASE FLASHBACK ON;</a:t>
            </a:r>
          </a:p>
          <a:p>
            <a:pPr>
              <a:spcAft>
                <a:spcPts val="0"/>
              </a:spcAft>
            </a:pPr>
            <a:r>
              <a:rPr sz="1250" b="0">
                <a:solidFill>
                  <a:srgbClr val="E6E6E6"/>
                </a:solidFill>
                <a:latin typeface="Consolas"/>
                <a:ea typeface="Consolas"/>
              </a:rPr>
              <a:t>Database altered.</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가용 범위 확인</a:t>
            </a:r>
          </a:p>
          <a:p>
            <a:pPr>
              <a:spcAft>
                <a:spcPts val="0"/>
              </a:spcAft>
            </a:pPr>
            <a:r>
              <a:rPr sz="1250" b="0">
                <a:solidFill>
                  <a:srgbClr val="E6E6E6"/>
                </a:solidFill>
                <a:latin typeface="Consolas"/>
                <a:ea typeface="Consolas"/>
              </a:rPr>
              <a:t>SYS@orcl&gt; SELECT oldest_flashback_scn, oldest_flashback_time,</a:t>
            </a:r>
          </a:p>
          <a:p>
            <a:pPr>
              <a:spcAft>
                <a:spcPts val="0"/>
              </a:spcAft>
            </a:pPr>
            <a:r>
              <a:rPr sz="1250" b="0">
                <a:solidFill>
                  <a:srgbClr val="E6E6E6"/>
                </a:solidFill>
                <a:latin typeface="Consolas"/>
                <a:ea typeface="Consolas"/>
              </a:rPr>
              <a:t>  2    retention_target, estimated_flashback_size/1024/1024 AS est_mb</a:t>
            </a:r>
          </a:p>
          <a:p>
            <a:pPr>
              <a:spcAft>
                <a:spcPts val="0"/>
              </a:spcAft>
            </a:pPr>
            <a:r>
              <a:rPr sz="1250" b="0">
                <a:solidFill>
                  <a:srgbClr val="E6E6E6"/>
                </a:solidFill>
                <a:latin typeface="Consolas"/>
                <a:ea typeface="Consolas"/>
              </a:rPr>
              <a:t>  3  FROM v$flashback_database_log;</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되돌리기 절차</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MOUNT에서 수행, RESETLOGS로 오픈</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SYS@orcl&gt; SHUTDOWN IMMEDIATE</a:t>
            </a:r>
          </a:p>
          <a:p>
            <a:pPr>
              <a:spcAft>
                <a:spcPts val="0"/>
              </a:spcAft>
            </a:pPr>
            <a:r>
              <a:rPr sz="1250" b="0">
                <a:solidFill>
                  <a:srgbClr val="E6E6E6"/>
                </a:solidFill>
                <a:latin typeface="Consolas"/>
                <a:ea typeface="Consolas"/>
              </a:rPr>
              <a:t>SYS@orcl&gt; STARTUP MOUNT</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FLASHBACK DATABASE TO TIMESTAMP</a:t>
            </a:r>
          </a:p>
          <a:p>
            <a:pPr>
              <a:spcAft>
                <a:spcPts val="0"/>
              </a:spcAft>
            </a:pPr>
            <a:r>
              <a:rPr sz="1250" b="0">
                <a:solidFill>
                  <a:srgbClr val="E6E6E6"/>
                </a:solidFill>
                <a:latin typeface="Consolas"/>
                <a:ea typeface="Consolas"/>
              </a:rPr>
              <a:t>  2    TO_TIMESTAMP('2025-05-20 14:00:00','YYYY-MM-DD HH24:MI:SS');</a:t>
            </a:r>
          </a:p>
          <a:p>
            <a:pPr>
              <a:spcAft>
                <a:spcPts val="0"/>
              </a:spcAft>
            </a:pPr>
            <a:r>
              <a:rPr sz="1250" b="0">
                <a:solidFill>
                  <a:srgbClr val="E6E6E6"/>
                </a:solidFill>
                <a:latin typeface="Consolas"/>
                <a:ea typeface="Consolas"/>
              </a:rPr>
              <a:t>SYS@orcl&gt; FLASHBACK DATABASE TO SCN 2825400;</a:t>
            </a:r>
          </a:p>
          <a:p>
            <a:pPr>
              <a:spcAft>
                <a:spcPts val="0"/>
              </a:spcAft>
            </a:pPr>
            <a:r>
              <a:rPr sz="1250" b="0">
                <a:solidFill>
                  <a:srgbClr val="E6E6E6"/>
                </a:solidFill>
                <a:latin typeface="Consolas"/>
                <a:ea typeface="Consolas"/>
              </a:rPr>
              <a:t>SYS@orcl&gt; FLASHBACK DATABASE TO RESTORE POINT before_batch;</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ALTER DATABASE OPEN READ ONLY;   -- 확인</a:t>
            </a:r>
          </a:p>
          <a:p>
            <a:pPr>
              <a:spcAft>
                <a:spcPts val="0"/>
              </a:spcAft>
            </a:pPr>
            <a:r>
              <a:rPr sz="1250" b="0">
                <a:solidFill>
                  <a:srgbClr val="E6E6E6"/>
                </a:solidFill>
                <a:latin typeface="Consolas"/>
                <a:ea typeface="Consolas"/>
              </a:rPr>
              <a:t>SYS@orcl&gt; SHUTDOWN IMMEDIATE</a:t>
            </a:r>
          </a:p>
          <a:p>
            <a:pPr>
              <a:spcAft>
                <a:spcPts val="0"/>
              </a:spcAft>
            </a:pPr>
            <a:r>
              <a:rPr sz="1250" b="0">
                <a:solidFill>
                  <a:srgbClr val="E6E6E6"/>
                </a:solidFill>
                <a:latin typeface="Consolas"/>
                <a:ea typeface="Consolas"/>
              </a:rPr>
              <a:t>SYS@orcl&gt; STARTUP MOUNT</a:t>
            </a:r>
          </a:p>
          <a:p>
            <a:pPr>
              <a:spcAft>
                <a:spcPts val="0"/>
              </a:spcAft>
            </a:pPr>
            <a:r>
              <a:rPr sz="1250" b="0">
                <a:solidFill>
                  <a:srgbClr val="E6E6E6"/>
                </a:solidFill>
                <a:latin typeface="Consolas"/>
                <a:ea typeface="Consolas"/>
              </a:rPr>
              <a:t>SYS@orcl&gt; ALTER DATABASE OPEN RESETLOGS;</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너무 많이 되돌렸다면 앞으로 진행할 수도 있다</a:t>
            </a:r>
          </a:p>
          <a:p>
            <a:pPr>
              <a:spcAft>
                <a:spcPts val="0"/>
              </a:spcAft>
            </a:pPr>
            <a:r>
              <a:rPr sz="1250" b="0">
                <a:solidFill>
                  <a:srgbClr val="E6E6E6"/>
                </a:solidFill>
                <a:latin typeface="Consolas"/>
                <a:ea typeface="Consolas"/>
              </a:rPr>
              <a:t>SYS@orcl&gt; RECOVER DATABASE UNTIL SCN 2825400;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복원 지점</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이름으로 시점을 지정한다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7EC699"/>
                </a:solidFill>
                <a:latin typeface="Consolas"/>
                <a:ea typeface="Consolas"/>
              </a:rPr>
              <a:t>-- 일반 복원 지점 (SCN에 이름만)</a:t>
            </a:r>
          </a:p>
          <a:p>
            <a:pPr>
              <a:spcAft>
                <a:spcPts val="0"/>
              </a:spcAft>
            </a:pPr>
            <a:r>
              <a:rPr sz="1250" b="0">
                <a:solidFill>
                  <a:srgbClr val="E6E6E6"/>
                </a:solidFill>
                <a:latin typeface="Consolas"/>
                <a:ea typeface="Consolas"/>
              </a:rPr>
              <a:t>SYS@orcl&gt; CREATE RESTORE POINT before_batch;</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보장 복원 지점 (그 시점까지 로그를 보존)</a:t>
            </a:r>
          </a:p>
          <a:p>
            <a:pPr>
              <a:spcAft>
                <a:spcPts val="0"/>
              </a:spcAft>
            </a:pPr>
            <a:r>
              <a:rPr sz="1250" b="0">
                <a:solidFill>
                  <a:srgbClr val="E6E6E6"/>
                </a:solidFill>
                <a:latin typeface="Consolas"/>
                <a:ea typeface="Consolas"/>
              </a:rPr>
              <a:t>SYS@orcl&gt; CREATE RESTORE POINT before_upgrade GUARANTEE FLASHBACK DATABASE;</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SELECT name, scn, guarantee_flashback_database AS guar,</a:t>
            </a:r>
          </a:p>
          <a:p>
            <a:pPr>
              <a:spcAft>
                <a:spcPts val="0"/>
              </a:spcAft>
            </a:pPr>
            <a:r>
              <a:rPr sz="1250" b="0">
                <a:solidFill>
                  <a:srgbClr val="E6E6E6"/>
                </a:solidFill>
                <a:latin typeface="Consolas"/>
                <a:ea typeface="Consolas"/>
              </a:rPr>
              <a:t>  2    storage_size/1024/1024 AS mb FROM v$restore_point;</a:t>
            </a:r>
          </a:p>
          <a:p>
            <a:pPr>
              <a:spcAft>
                <a:spcPts val="0"/>
              </a:spcAft>
            </a:pPr>
            <a:r>
              <a:rPr sz="1250" b="0">
                <a:solidFill>
                  <a:srgbClr val="E6E6E6"/>
                </a:solidFill>
                <a:latin typeface="Consolas"/>
                <a:ea typeface="Consolas"/>
              </a:rPr>
              <a:t>BEFORE_BATCH    2825400  NO        0</a:t>
            </a:r>
          </a:p>
          <a:p>
            <a:pPr>
              <a:spcAft>
                <a:spcPts val="0"/>
              </a:spcAft>
            </a:pPr>
            <a:r>
              <a:rPr sz="1250" b="0">
                <a:solidFill>
                  <a:srgbClr val="E6E6E6"/>
                </a:solidFill>
                <a:latin typeface="Consolas"/>
                <a:ea typeface="Consolas"/>
              </a:rPr>
              <a:t>BEFORE_UPGRADE  2826100  YES   512.0</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DROP RESTORE POINT before_batch;</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Flashback Database를 쓸 수 없는 경우</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FLASHBACK ON 설정 이전 시점</a:t>
            </a:r>
          </a:p>
          <a:p>
            <a:pPr>
              <a:spcAft>
                <a:spcPts val="600"/>
              </a:spcAft>
            </a:pPr>
            <a:r>
              <a:rPr sz="1800" b="0">
                <a:solidFill>
                  <a:srgbClr val="202830"/>
                </a:solidFill>
                <a:latin typeface="Malgun Gothic"/>
                <a:ea typeface="Malgun Gothic"/>
              </a:rPr>
              <a:t>•  oldest_flashback_time 보다 앞선 시점</a:t>
            </a:r>
          </a:p>
          <a:p>
            <a:pPr>
              <a:spcAft>
                <a:spcPts val="600"/>
              </a:spcAft>
            </a:pPr>
            <a:r>
              <a:rPr sz="1600" b="0">
                <a:solidFill>
                  <a:srgbClr val="5A6672"/>
                </a:solidFill>
                <a:latin typeface="Malgun Gothic"/>
                <a:ea typeface="Malgun Gothic"/>
              </a:rPr>
              <a:t>    –  ORA-38729 — 로그가 부족하다는 뜻</a:t>
            </a:r>
          </a:p>
          <a:p>
            <a:pPr>
              <a:spcAft>
                <a:spcPts val="600"/>
              </a:spcAft>
            </a:pPr>
            <a:r>
              <a:rPr sz="1800" b="0">
                <a:solidFill>
                  <a:srgbClr val="202830"/>
                </a:solidFill>
                <a:latin typeface="Malgun Gothic"/>
                <a:ea typeface="Malgun Gothic"/>
              </a:rPr>
              <a:t>•  데이터파일을 축소(RESIZE)한 경우 그 이전으로</a:t>
            </a:r>
          </a:p>
          <a:p>
            <a:pPr>
              <a:spcAft>
                <a:spcPts val="600"/>
              </a:spcAft>
            </a:pPr>
            <a:r>
              <a:rPr sz="1800" b="0">
                <a:solidFill>
                  <a:srgbClr val="202830"/>
                </a:solidFill>
                <a:latin typeface="Malgun Gothic"/>
                <a:ea typeface="Malgun Gothic"/>
              </a:rPr>
              <a:t>•  테이블스페이스를 DROP한 경우 그 이전으로</a:t>
            </a:r>
          </a:p>
          <a:p>
            <a:pPr>
              <a:spcAft>
                <a:spcPts val="600"/>
              </a:spcAft>
            </a:pPr>
            <a:r>
              <a:rPr sz="1800" b="0">
                <a:solidFill>
                  <a:srgbClr val="202830"/>
                </a:solidFill>
                <a:latin typeface="Malgun Gothic"/>
                <a:ea typeface="Malgun Gothic"/>
              </a:rPr>
              <a:t>•  컨트롤파일을 재생성한 경우</a:t>
            </a:r>
          </a:p>
          <a:p>
            <a:pPr>
              <a:spcAft>
                <a:spcPts val="600"/>
              </a:spcAft>
            </a:pPr>
            <a:r>
              <a:rPr sz="1800" b="0">
                <a:solidFill>
                  <a:srgbClr val="202830"/>
                </a:solidFill>
                <a:latin typeface="Malgun Gothic"/>
                <a:ea typeface="Malgun Gothic"/>
              </a:rPr>
              <a:t>•  → 이런 경우는 백업과 아카이브로 불완전 복구</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Flashback 선택 판단표</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상황별 기능</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상황                       | 기능               | 전제</a:t>
            </a:r>
          </a:p>
          <a:p>
            <a:pPr>
              <a:spcAft>
                <a:spcPts val="0"/>
              </a:spcAft>
            </a:pPr>
            <a:r>
              <a:rPr sz="1250" b="0">
                <a:solidFill>
                  <a:srgbClr val="7EC699"/>
                </a:solidFill>
                <a:latin typeface="Consolas"/>
                <a:ea typeface="Consolas"/>
              </a:rPr>
              <a:t>---------------------------|--------------------|---------------</a:t>
            </a:r>
          </a:p>
          <a:p>
            <a:pPr>
              <a:spcAft>
                <a:spcPts val="0"/>
              </a:spcAft>
            </a:pPr>
            <a:r>
              <a:rPr sz="1250" b="0">
                <a:solidFill>
                  <a:srgbClr val="E6E6E6"/>
                </a:solidFill>
                <a:latin typeface="Consolas"/>
                <a:ea typeface="Consolas"/>
              </a:rPr>
              <a:t>몇 분 전 데이터 확인       | Flashback Query    | UNDO 보존</a:t>
            </a:r>
          </a:p>
          <a:p>
            <a:pPr>
              <a:spcAft>
                <a:spcPts val="0"/>
              </a:spcAft>
            </a:pPr>
            <a:r>
              <a:rPr sz="1250" b="0">
                <a:solidFill>
                  <a:srgbClr val="E6E6E6"/>
                </a:solidFill>
                <a:latin typeface="Consolas"/>
                <a:ea typeface="Consolas"/>
              </a:rPr>
              <a:t>한 행의 변경 이력 추적     | Version Query      | UNDO 보존</a:t>
            </a:r>
          </a:p>
          <a:p>
            <a:pPr>
              <a:spcAft>
                <a:spcPts val="0"/>
              </a:spcAft>
            </a:pPr>
            <a:r>
              <a:rPr sz="1250" b="0">
                <a:solidFill>
                  <a:srgbClr val="E6E6E6"/>
                </a:solidFill>
                <a:latin typeface="Consolas"/>
                <a:ea typeface="Consolas"/>
              </a:rPr>
              <a:t>특정 트랜잭션의 영향 파악  | Transaction Query  | 보충 로깅</a:t>
            </a:r>
          </a:p>
          <a:p>
            <a:pPr>
              <a:spcAft>
                <a:spcPts val="0"/>
              </a:spcAft>
            </a:pPr>
            <a:r>
              <a:rPr sz="1250" b="0">
                <a:solidFill>
                  <a:srgbClr val="E6E6E6"/>
                </a:solidFill>
                <a:latin typeface="Consolas"/>
                <a:ea typeface="Consolas"/>
              </a:rPr>
              <a:t>테이블 하나를 되돌림       | Flashback Table    | ROW MOVEMENT</a:t>
            </a:r>
          </a:p>
          <a:p>
            <a:pPr>
              <a:spcAft>
                <a:spcPts val="0"/>
              </a:spcAft>
            </a:pPr>
            <a:r>
              <a:rPr sz="1250" b="0">
                <a:solidFill>
                  <a:srgbClr val="E6E6E6"/>
                </a:solidFill>
                <a:latin typeface="Consolas"/>
                <a:ea typeface="Consolas"/>
              </a:rPr>
              <a:t>DROP된 테이블 복구         | Flashback Drop     | 휴지통에 존재</a:t>
            </a:r>
          </a:p>
          <a:p>
            <a:pPr>
              <a:spcAft>
                <a:spcPts val="0"/>
              </a:spcAft>
            </a:pPr>
            <a:r>
              <a:rPr sz="1250" b="0">
                <a:solidFill>
                  <a:srgbClr val="E6E6E6"/>
                </a:solidFill>
                <a:latin typeface="Consolas"/>
                <a:ea typeface="Consolas"/>
              </a:rPr>
              <a:t>몇 달 전 데이터 조회       | Data Archive       | 사전 적용</a:t>
            </a:r>
          </a:p>
          <a:p>
            <a:pPr>
              <a:spcAft>
                <a:spcPts val="0"/>
              </a:spcAft>
            </a:pPr>
            <a:r>
              <a:rPr sz="1250" b="0">
                <a:solidFill>
                  <a:srgbClr val="E6E6E6"/>
                </a:solidFill>
                <a:latin typeface="Consolas"/>
                <a:ea typeface="Consolas"/>
              </a:rPr>
              <a:t>DB 전체를 되돌림           | Flashback Database | FLASHBACK ON</a:t>
            </a:r>
          </a:p>
          <a:p>
            <a:pPr>
              <a:spcAft>
                <a:spcPts val="0"/>
              </a:spcAft>
            </a:pPr>
            <a:r>
              <a:rPr sz="1250" b="0">
                <a:solidFill>
                  <a:srgbClr val="E6E6E6"/>
                </a:solidFill>
                <a:latin typeface="Consolas"/>
                <a:ea typeface="Consolas"/>
              </a:rPr>
              <a:t>보존 기간을 넘은 시점      | 백업 + 아카이브    | 15~17장</a:t>
            </a:r>
          </a:p>
          <a:p>
            <a:pPr>
              <a:spcAft>
                <a:spcPts val="0"/>
              </a:spcAft>
            </a:pPr>
            <a:r>
              <a:rPr sz="1250" b="0">
                <a:solidFill>
                  <a:srgbClr val="E6E6E6"/>
                </a:solidFill>
                <a:latin typeface="Consolas"/>
                <a:ea typeface="Consolas"/>
              </a:rPr>
              <a:t>파일 손상                  | 백업 + 아카이브    | Flashback 불가</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Flashback 도입 점검 항목</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정기 점검에 넣는다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점검 항목               | 확인 방법                      | 기준</a:t>
            </a:r>
          </a:p>
          <a:p>
            <a:pPr>
              <a:spcAft>
                <a:spcPts val="0"/>
              </a:spcAft>
            </a:pPr>
            <a:r>
              <a:rPr sz="1250" b="0">
                <a:solidFill>
                  <a:srgbClr val="7EC699"/>
                </a:solidFill>
                <a:latin typeface="Consolas"/>
                <a:ea typeface="Consolas"/>
              </a:rPr>
              <a:t>------------------------|--------------------------------|----------</a:t>
            </a:r>
          </a:p>
          <a:p>
            <a:pPr>
              <a:spcAft>
                <a:spcPts val="0"/>
              </a:spcAft>
            </a:pPr>
            <a:r>
              <a:rPr sz="1250" b="0">
                <a:solidFill>
                  <a:srgbClr val="E6E6E6"/>
                </a:solidFill>
                <a:latin typeface="Consolas"/>
                <a:ea typeface="Consolas"/>
              </a:rPr>
              <a:t>UNDO 보존 시간          | v$undostat.tuned_undoretention | 요건 이상</a:t>
            </a:r>
          </a:p>
          <a:p>
            <a:pPr>
              <a:spcAft>
                <a:spcPts val="0"/>
              </a:spcAft>
            </a:pPr>
            <a:r>
              <a:rPr sz="1250" b="0">
                <a:solidFill>
                  <a:srgbClr val="E6E6E6"/>
                </a:solidFill>
                <a:latin typeface="Consolas"/>
                <a:ea typeface="Consolas"/>
              </a:rPr>
              <a:t>RETENTION GUARANTEE     | dba_tablespaces.retention      | 정책 일치</a:t>
            </a:r>
          </a:p>
          <a:p>
            <a:pPr>
              <a:spcAft>
                <a:spcPts val="0"/>
              </a:spcAft>
            </a:pPr>
            <a:r>
              <a:rPr sz="1250" b="0">
                <a:solidFill>
                  <a:srgbClr val="E6E6E6"/>
                </a:solidFill>
                <a:latin typeface="Consolas"/>
                <a:ea typeface="Consolas"/>
              </a:rPr>
              <a:t>휴지통 사용량           | dba_recyclebin                 | 정기 정리</a:t>
            </a:r>
          </a:p>
          <a:p>
            <a:pPr>
              <a:spcAft>
                <a:spcPts val="0"/>
              </a:spcAft>
            </a:pPr>
            <a:r>
              <a:rPr sz="1250" b="0">
                <a:solidFill>
                  <a:srgbClr val="E6E6E6"/>
                </a:solidFill>
                <a:latin typeface="Consolas"/>
                <a:ea typeface="Consolas"/>
              </a:rPr>
              <a:t>FLASHBACK ON            | v$database.flashback_on        | 정책 일치</a:t>
            </a:r>
          </a:p>
          <a:p>
            <a:pPr>
              <a:spcAft>
                <a:spcPts val="0"/>
              </a:spcAft>
            </a:pPr>
            <a:r>
              <a:rPr sz="1250" b="0">
                <a:solidFill>
                  <a:srgbClr val="E6E6E6"/>
                </a:solidFill>
                <a:latin typeface="Consolas"/>
                <a:ea typeface="Consolas"/>
              </a:rPr>
              <a:t>FRA 여유                | v$recovery_file_dest           | 30% 이상</a:t>
            </a:r>
          </a:p>
          <a:p>
            <a:pPr>
              <a:spcAft>
                <a:spcPts val="0"/>
              </a:spcAft>
            </a:pPr>
            <a:r>
              <a:rPr sz="1250" b="0">
                <a:solidFill>
                  <a:srgbClr val="E6E6E6"/>
                </a:solidFill>
                <a:latin typeface="Consolas"/>
                <a:ea typeface="Consolas"/>
              </a:rPr>
              <a:t>가용 범위               | v$flashback_database_log       | 요건 충족</a:t>
            </a:r>
          </a:p>
          <a:p>
            <a:pPr>
              <a:spcAft>
                <a:spcPts val="0"/>
              </a:spcAft>
            </a:pPr>
            <a:r>
              <a:rPr sz="1250" b="0">
                <a:solidFill>
                  <a:srgbClr val="E6E6E6"/>
                </a:solidFill>
                <a:latin typeface="Consolas"/>
                <a:ea typeface="Consolas"/>
              </a:rPr>
              <a:t>보장 복원 지점          | v$restore_point                | 불필요한 것 없음</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Flashback Table 수행 절차</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확인 → 기록 → 실행 → 검증</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7EC699"/>
                </a:solidFill>
                <a:latin typeface="Consolas"/>
                <a:ea typeface="Consolas"/>
              </a:rPr>
              <a:t>-- ① 되돌릴 시점의 상태를 먼저 확인</a:t>
            </a:r>
          </a:p>
          <a:p>
            <a:pPr>
              <a:spcAft>
                <a:spcPts val="0"/>
              </a:spcAft>
            </a:pPr>
            <a:r>
              <a:rPr sz="1250" b="0">
                <a:solidFill>
                  <a:srgbClr val="E6E6E6"/>
                </a:solidFill>
                <a:latin typeface="Consolas"/>
                <a:ea typeface="Consolas"/>
              </a:rPr>
              <a:t>SYS@orcl&gt; SELECT COUNT(*) FROM hr.emp180</a:t>
            </a:r>
          </a:p>
          <a:p>
            <a:pPr>
              <a:spcAft>
                <a:spcPts val="0"/>
              </a:spcAft>
            </a:pPr>
            <a:r>
              <a:rPr sz="1250" b="0">
                <a:solidFill>
                  <a:srgbClr val="E6E6E6"/>
                </a:solidFill>
                <a:latin typeface="Consolas"/>
                <a:ea typeface="Consolas"/>
              </a:rPr>
              <a:t>  2  AS OF TIMESTAMP SYSTIMESTAMP - INTERVAL '20' MINUTE;</a:t>
            </a:r>
          </a:p>
          <a:p>
            <a:pPr>
              <a:spcAft>
                <a:spcPts val="0"/>
              </a:spcAft>
            </a:pPr>
            <a:r>
              <a:rPr sz="1250" b="0">
                <a:solidFill>
                  <a:srgbClr val="E6E6E6"/>
                </a:solidFill>
                <a:latin typeface="Consolas"/>
                <a:ea typeface="Consolas"/>
              </a:rPr>
              <a:t>       107</a:t>
            </a:r>
          </a:p>
          <a:p>
            <a:pPr>
              <a:spcAft>
                <a:spcPts val="0"/>
              </a:spcAft>
            </a:pPr>
            <a:r>
              <a:rPr sz="1250" b="0">
                <a:solidFill>
                  <a:srgbClr val="E6E6E6"/>
                </a:solidFill>
                <a:latin typeface="Consolas"/>
                <a:ea typeface="Consolas"/>
              </a:rPr>
              <a:t>SYS@orcl&gt; SELECT COUNT(*) FROM hr.emp180;</a:t>
            </a:r>
          </a:p>
          <a:p>
            <a:pPr>
              <a:spcAft>
                <a:spcPts val="0"/>
              </a:spcAft>
            </a:pPr>
            <a:r>
              <a:rPr sz="1250" b="0">
                <a:solidFill>
                  <a:srgbClr val="E6E6E6"/>
                </a:solidFill>
                <a:latin typeface="Consolas"/>
                <a:ea typeface="Consolas"/>
              </a:rPr>
              <a:t>        62</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② 현재 SCN 기록 (되돌릴 때 필요)</a:t>
            </a:r>
          </a:p>
          <a:p>
            <a:pPr>
              <a:spcAft>
                <a:spcPts val="0"/>
              </a:spcAft>
            </a:pPr>
            <a:r>
              <a:rPr sz="1250" b="0">
                <a:solidFill>
                  <a:srgbClr val="E6E6E6"/>
                </a:solidFill>
                <a:latin typeface="Consolas"/>
                <a:ea typeface="Consolas"/>
              </a:rPr>
              <a:t>SYS@orcl&gt; SELECT current_scn FROM v$database;</a:t>
            </a:r>
          </a:p>
          <a:p>
            <a:pPr>
              <a:spcAft>
                <a:spcPts val="0"/>
              </a:spcAft>
            </a:pPr>
            <a:r>
              <a:rPr sz="1250" b="0">
                <a:solidFill>
                  <a:srgbClr val="E6E6E6"/>
                </a:solidFill>
                <a:latin typeface="Consolas"/>
                <a:ea typeface="Consolas"/>
              </a:rPr>
              <a:t>   2813400</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③ 실행  ④ 결과 확인  ⑤ 필요하면 ②의 SCN으로 복귀</a:t>
            </a:r>
          </a:p>
          <a:p>
            <a:pPr>
              <a:spcAft>
                <a:spcPts val="0"/>
              </a:spcAft>
            </a:pPr>
            <a:r>
              <a:rPr sz="1250" b="0">
                <a:solidFill>
                  <a:srgbClr val="E6E6E6"/>
                </a:solidFill>
                <a:latin typeface="Consolas"/>
                <a:ea typeface="Consolas"/>
              </a:rPr>
              <a:t>SYS@orcl&gt; FLASHBACK TABLE hr.emp180</a:t>
            </a:r>
          </a:p>
          <a:p>
            <a:pPr>
              <a:spcAft>
                <a:spcPts val="0"/>
              </a:spcAft>
            </a:pPr>
            <a:r>
              <a:rPr sz="1250" b="0">
                <a:solidFill>
                  <a:srgbClr val="E6E6E6"/>
                </a:solidFill>
                <a:latin typeface="Consolas"/>
                <a:ea typeface="Consolas"/>
              </a:rPr>
              <a:t>  2    TO TIMESTAMP SYSTIMESTAMP - INTERVAL '20' MINUTE;</a:t>
            </a:r>
          </a:p>
          <a:p>
            <a:pPr>
              <a:spcAft>
                <a:spcPts val="0"/>
              </a:spcAft>
            </a:pPr>
            <a:r>
              <a:rPr sz="1250" b="0">
                <a:solidFill>
                  <a:srgbClr val="E6E6E6"/>
                </a:solidFill>
                <a:latin typeface="Consolas"/>
                <a:ea typeface="Consolas"/>
              </a:rPr>
              <a:t>SYS@orcl&gt; SELECT COUNT(*) FROM hr.emp180;</a:t>
            </a:r>
          </a:p>
          <a:p>
            <a:pPr>
              <a:spcAft>
                <a:spcPts val="0"/>
              </a:spcAft>
            </a:pPr>
            <a:r>
              <a:rPr sz="1250" b="0">
                <a:solidFill>
                  <a:srgbClr val="E6E6E6"/>
                </a:solidFill>
                <a:latin typeface="Consolas"/>
                <a:ea typeface="Consolas"/>
              </a:rPr>
              <a:t>SYS@orcl&gt; FLASHBACK TABLE hr.emp180 TO SCN 2813400;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FDA와 다른 이력 관리 방법</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선택 기준</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방법                   | 구현 부담 | 조회 편의 | 성능 영향</a:t>
            </a:r>
          </a:p>
          <a:p>
            <a:pPr>
              <a:spcAft>
                <a:spcPts val="0"/>
              </a:spcAft>
            </a:pPr>
            <a:r>
              <a:rPr sz="1250" b="0">
                <a:solidFill>
                  <a:srgbClr val="7EC699"/>
                </a:solidFill>
                <a:latin typeface="Consolas"/>
                <a:ea typeface="Consolas"/>
              </a:rPr>
              <a:t>-----------------------|-----------|-----------|------------</a:t>
            </a:r>
          </a:p>
          <a:p>
            <a:pPr>
              <a:spcAft>
                <a:spcPts val="0"/>
              </a:spcAft>
            </a:pPr>
            <a:r>
              <a:rPr sz="1250" b="0">
                <a:solidFill>
                  <a:srgbClr val="E6E6E6"/>
                </a:solidFill>
                <a:latin typeface="Consolas"/>
                <a:ea typeface="Consolas"/>
              </a:rPr>
              <a:t>Flashback Data Archive | 없음      | 높음(SQL) | 중간</a:t>
            </a:r>
          </a:p>
          <a:p>
            <a:pPr>
              <a:spcAft>
                <a:spcPts val="0"/>
              </a:spcAft>
            </a:pPr>
            <a:r>
              <a:rPr sz="1250" b="0">
                <a:solidFill>
                  <a:srgbClr val="E6E6E6"/>
                </a:solidFill>
                <a:latin typeface="Consolas"/>
                <a:ea typeface="Consolas"/>
              </a:rPr>
              <a:t>트리거 + 이력 테이블   | 큼        | 보통      | 큼</a:t>
            </a:r>
          </a:p>
          <a:p>
            <a:pPr>
              <a:spcAft>
                <a:spcPts val="0"/>
              </a:spcAft>
            </a:pPr>
            <a:r>
              <a:rPr sz="1250" b="0">
                <a:solidFill>
                  <a:srgbClr val="E6E6E6"/>
                </a:solidFill>
                <a:latin typeface="Consolas"/>
                <a:ea typeface="Consolas"/>
              </a:rPr>
              <a:t>감사(Audit) 기능       | 보통      | 낮음      | 중간</a:t>
            </a:r>
          </a:p>
          <a:p>
            <a:pPr>
              <a:spcAft>
                <a:spcPts val="0"/>
              </a:spcAft>
            </a:pPr>
            <a:r>
              <a:rPr sz="1250" b="0">
                <a:solidFill>
                  <a:srgbClr val="E6E6E6"/>
                </a:solidFill>
                <a:latin typeface="Consolas"/>
                <a:ea typeface="Consolas"/>
              </a:rPr>
              <a:t>애플리케이션 로깅      | 큼        | 낮음      | 애플리케이션 부담</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FDA가 답하는 질문 : 무엇이 어떻게 바뀌었는가</a:t>
            </a:r>
          </a:p>
          <a:p>
            <a:pPr>
              <a:spcAft>
                <a:spcPts val="0"/>
              </a:spcAft>
            </a:pPr>
            <a:r>
              <a:rPr sz="1250" b="0">
                <a:solidFill>
                  <a:srgbClr val="E6E6E6"/>
                </a:solidFill>
                <a:latin typeface="Consolas"/>
                <a:ea typeface="Consolas"/>
              </a:rPr>
              <a:t>감사가 답하는 질문 : 누가 언제 접근했는가</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FRA 사용률 확인</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정지를 막는 지표</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SYS@orcl&gt; SELECT name, space_limit/1024/1024/1024 AS limit_gb,</a:t>
            </a:r>
          </a:p>
          <a:p>
            <a:pPr>
              <a:spcAft>
                <a:spcPts val="0"/>
              </a:spcAft>
            </a:pPr>
            <a:r>
              <a:rPr sz="1250" b="0">
                <a:solidFill>
                  <a:srgbClr val="E6E6E6"/>
                </a:solidFill>
                <a:latin typeface="Consolas"/>
                <a:ea typeface="Consolas"/>
              </a:rPr>
              <a:t>  2         space_used/1024/1024/1024 AS used_gb,</a:t>
            </a:r>
          </a:p>
          <a:p>
            <a:pPr>
              <a:spcAft>
                <a:spcPts val="0"/>
              </a:spcAft>
            </a:pPr>
            <a:r>
              <a:rPr sz="1250" b="0">
                <a:solidFill>
                  <a:srgbClr val="E6E6E6"/>
                </a:solidFill>
                <a:latin typeface="Consolas"/>
                <a:ea typeface="Consolas"/>
              </a:rPr>
              <a:t>  3         ROUND(space_used/space_limit*100, 1) AS pct</a:t>
            </a:r>
          </a:p>
          <a:p>
            <a:pPr>
              <a:spcAft>
                <a:spcPts val="0"/>
              </a:spcAft>
            </a:pPr>
            <a:r>
              <a:rPr sz="1250" b="0">
                <a:solidFill>
                  <a:srgbClr val="E6E6E6"/>
                </a:solidFill>
                <a:latin typeface="Consolas"/>
                <a:ea typeface="Consolas"/>
              </a:rPr>
              <a:t>  4  FROM   v$recovery_file_dest;</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NAME       LIMIT_GB    USED_GB    PCT</a:t>
            </a:r>
          </a:p>
          <a:p>
            <a:pPr>
              <a:spcAft>
                <a:spcPts val="0"/>
              </a:spcAft>
            </a:pPr>
            <a:r>
              <a:rPr sz="1250" b="0">
                <a:solidFill>
                  <a:srgbClr val="7EC699"/>
                </a:solidFill>
                <a:latin typeface="Consolas"/>
                <a:ea typeface="Consolas"/>
              </a:rPr>
              <a:t>---------- -------- ---------- ------</a:t>
            </a:r>
          </a:p>
          <a:p>
            <a:pPr>
              <a:spcAft>
                <a:spcPts val="0"/>
              </a:spcAft>
            </a:pPr>
            <a:r>
              <a:rPr sz="1250" b="0">
                <a:solidFill>
                  <a:srgbClr val="E6E6E6"/>
                </a:solidFill>
                <a:latin typeface="Consolas"/>
                <a:ea typeface="Consolas"/>
              </a:rPr>
              <a:t>/u03/fra        8.0        3.2   40.0</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SELECT file_type, percent_space_used, number_of_files</a:t>
            </a:r>
          </a:p>
          <a:p>
            <a:pPr>
              <a:spcAft>
                <a:spcPts val="0"/>
              </a:spcAft>
            </a:pPr>
            <a:r>
              <a:rPr sz="1250" b="0">
                <a:solidFill>
                  <a:srgbClr val="E6E6E6"/>
                </a:solidFill>
                <a:latin typeface="Consolas"/>
                <a:ea typeface="Consolas"/>
              </a:rPr>
              <a:t>  2  FROM v$flash_recovery_area_usage WHERE percent_space_used &gt; 0;</a:t>
            </a:r>
          </a:p>
          <a:p>
            <a:pPr>
              <a:spcAft>
                <a:spcPts val="0"/>
              </a:spcAft>
            </a:pPr>
            <a:r>
              <a:rPr sz="1250" b="0">
                <a:solidFill>
                  <a:srgbClr val="E6E6E6"/>
                </a:solidFill>
                <a:latin typeface="Consolas"/>
                <a:ea typeface="Consolas"/>
              </a:rPr>
              <a:t>ARCHIVED LOG      18.2   24</a:t>
            </a:r>
          </a:p>
          <a:p>
            <a:pPr>
              <a:spcAft>
                <a:spcPts val="0"/>
              </a:spcAft>
            </a:pPr>
            <a:r>
              <a:rPr sz="1250" b="0">
                <a:solidFill>
                  <a:srgbClr val="E6E6E6"/>
                </a:solidFill>
                <a:latin typeface="Consolas"/>
                <a:ea typeface="Consolas"/>
              </a:rPr>
              <a:t>FLASHBACK LOG     21.8    8</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이 장의 결론</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Flashback은 보존 기간 안의 논리적 오류에 유효하다</a:t>
            </a:r>
          </a:p>
          <a:p>
            <a:pPr>
              <a:spcAft>
                <a:spcPts val="600"/>
              </a:spcAft>
            </a:pPr>
            <a:r>
              <a:rPr sz="1800" b="0">
                <a:solidFill>
                  <a:srgbClr val="202830"/>
                </a:solidFill>
                <a:latin typeface="Malgun Gothic"/>
                <a:ea typeface="Malgun Gothic"/>
              </a:rPr>
              <a:t>•  파일 손상이나 보존 기간 초과는 백업의 몫</a:t>
            </a:r>
          </a:p>
          <a:p>
            <a:pPr>
              <a:spcAft>
                <a:spcPts val="600"/>
              </a:spcAft>
            </a:pPr>
            <a:r>
              <a:rPr sz="1800" b="0">
                <a:solidFill>
                  <a:srgbClr val="202830"/>
                </a:solidFill>
                <a:latin typeface="Malgun Gothic"/>
                <a:ea typeface="Malgun Gothic"/>
              </a:rPr>
              <a:t>•  판단 순서 — 물리인가 논리인가 → 범위와 시점 → 기능 선택</a:t>
            </a:r>
          </a:p>
          <a:p>
            <a:pPr>
              <a:spcAft>
                <a:spcPts val="600"/>
              </a:spcAft>
            </a:pPr>
            <a:r>
              <a:rPr sz="1800" b="0">
                <a:solidFill>
                  <a:srgbClr val="202830"/>
                </a:solidFill>
                <a:latin typeface="Malgun Gothic"/>
                <a:ea typeface="Malgun Gothic"/>
              </a:rPr>
              <a:t>•  사전 설정이 없으면 그 기능은 존재하지 않는 것과 같다</a:t>
            </a:r>
          </a:p>
          <a:p>
            <a:pPr>
              <a:spcAft>
                <a:spcPts val="600"/>
              </a:spcAft>
            </a:pPr>
            <a:r>
              <a:rPr sz="1600" b="0">
                <a:solidFill>
                  <a:srgbClr val="5A6672"/>
                </a:solidFill>
                <a:latin typeface="Malgun Gothic"/>
                <a:ea typeface="Malgun Gothic"/>
              </a:rPr>
              <a:t>    –  UNDO 보존 · 휴지통 · FLASHBACK ON · FDA 적용</a:t>
            </a:r>
          </a:p>
          <a:p>
            <a:pPr>
              <a:spcAft>
                <a:spcPts val="600"/>
              </a:spcAft>
            </a:pPr>
            <a:r>
              <a:rPr sz="1800" b="0">
                <a:solidFill>
                  <a:srgbClr val="202830"/>
                </a:solidFill>
                <a:latin typeface="Malgun Gothic"/>
                <a:ea typeface="Malgun Gothic"/>
              </a:rPr>
              <a:t>•  정기 점검으로 가용 범위를 유지한다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퀴즈 1</a:t>
            </a:r>
          </a:p>
        </p:txBody>
      </p:sp>
      <p:sp>
        <p:nvSpPr>
          <p:cNvPr id="4" name="TextBox 3"/>
          <p:cNvSpPr txBox="1"/>
          <p:nvPr/>
        </p:nvSpPr>
        <p:spPr>
          <a:xfrm>
            <a:off x="640080" y="1280160"/>
            <a:ext cx="10881360" cy="548640"/>
          </a:xfrm>
          <a:prstGeom prst="rect">
            <a:avLst/>
          </a:prstGeom>
          <a:noFill/>
        </p:spPr>
        <p:txBody>
          <a:bodyPr wrap="square">
            <a:spAutoFit/>
          </a:bodyPr>
          <a:lstStyle/>
          <a:p>
            <a:pPr>
              <a:spcAft>
                <a:spcPts val="600"/>
              </a:spcAft>
            </a:pPr>
            <a:r>
              <a:rPr sz="2000" b="1">
                <a:solidFill>
                  <a:srgbClr val="1F5CA8"/>
                </a:solidFill>
                <a:latin typeface="Malgun Gothic"/>
                <a:ea typeface="Malgun Gothic"/>
              </a:rPr>
              <a:t>Flashback Query의 의존 자원</a:t>
            </a:r>
          </a:p>
        </p:txBody>
      </p:sp>
      <p:sp>
        <p:nvSpPr>
          <p:cNvPr id="5" name="TextBox 4"/>
          <p:cNvSpPr txBox="1"/>
          <p:nvPr/>
        </p:nvSpPr>
        <p:spPr>
          <a:xfrm>
            <a:off x="640080" y="1920240"/>
            <a:ext cx="10881360" cy="1371600"/>
          </a:xfrm>
          <a:prstGeom prst="rect">
            <a:avLst/>
          </a:prstGeom>
          <a:noFill/>
        </p:spPr>
        <p:txBody>
          <a:bodyPr wrap="square">
            <a:spAutoFit/>
          </a:bodyPr>
          <a:lstStyle/>
          <a:p>
            <a:pPr>
              <a:spcAft>
                <a:spcPts val="600"/>
              </a:spcAft>
            </a:pPr>
            <a:r>
              <a:rPr sz="1800" b="0">
                <a:solidFill>
                  <a:srgbClr val="202830"/>
                </a:solidFill>
                <a:latin typeface="Malgun Gothic"/>
                <a:ea typeface="Malgun Gothic"/>
              </a:rPr>
              <a:t>Flashback Query가 의존하는 자원은?</a:t>
            </a:r>
          </a:p>
        </p:txBody>
      </p:sp>
      <p:sp>
        <p:nvSpPr>
          <p:cNvPr id="6" name="Rectangle 5"/>
          <p:cNvSpPr/>
          <p:nvPr/>
        </p:nvSpPr>
        <p:spPr>
          <a:xfrm>
            <a:off x="640080" y="3200400"/>
            <a:ext cx="10908792" cy="50292"/>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3429000"/>
            <a:ext cx="10515600" cy="2926080"/>
          </a:xfrm>
          <a:prstGeom prst="rect">
            <a:avLst/>
          </a:prstGeom>
          <a:noFill/>
        </p:spPr>
        <p:txBody>
          <a:bodyPr wrap="square">
            <a:spAutoFit/>
          </a:bodyPr>
          <a:lstStyle/>
          <a:p>
            <a:pPr>
              <a:spcAft>
                <a:spcPts val="800"/>
              </a:spcAft>
            </a:pPr>
            <a:r>
              <a:rPr sz="1700" b="0">
                <a:solidFill>
                  <a:srgbClr val="202830"/>
                </a:solidFill>
                <a:latin typeface="Malgun Gothic"/>
                <a:ea typeface="Malgun Gothic"/>
              </a:rPr>
              <a:t>아카이브 로그</a:t>
            </a:r>
          </a:p>
          <a:p>
            <a:pPr>
              <a:spcAft>
                <a:spcPts val="800"/>
              </a:spcAft>
            </a:pPr>
            <a:r>
              <a:rPr sz="1700" b="0">
                <a:solidFill>
                  <a:srgbClr val="202830"/>
                </a:solidFill>
                <a:latin typeface="Malgun Gothic"/>
                <a:ea typeface="Malgun Gothic"/>
              </a:rPr>
              <a:t>UNDO</a:t>
            </a:r>
          </a:p>
          <a:p>
            <a:pPr>
              <a:spcAft>
                <a:spcPts val="800"/>
              </a:spcAft>
            </a:pPr>
            <a:r>
              <a:rPr sz="1700" b="0">
                <a:solidFill>
                  <a:srgbClr val="202830"/>
                </a:solidFill>
                <a:latin typeface="Malgun Gothic"/>
                <a:ea typeface="Malgun Gothic"/>
              </a:rPr>
              <a:t>Flashback 로그</a:t>
            </a:r>
          </a:p>
          <a:p>
            <a:pPr>
              <a:spcAft>
                <a:spcPts val="800"/>
              </a:spcAft>
            </a:pPr>
            <a:r>
              <a:rPr sz="1700" b="0">
                <a:solidFill>
                  <a:srgbClr val="202830"/>
                </a:solidFill>
                <a:latin typeface="Malgun Gothic"/>
                <a:ea typeface="Malgun Gothic"/>
              </a:rPr>
              <a:t>백업본</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퀴즈 2</a:t>
            </a:r>
          </a:p>
        </p:txBody>
      </p:sp>
      <p:sp>
        <p:nvSpPr>
          <p:cNvPr id="4" name="TextBox 3"/>
          <p:cNvSpPr txBox="1"/>
          <p:nvPr/>
        </p:nvSpPr>
        <p:spPr>
          <a:xfrm>
            <a:off x="640080" y="1280160"/>
            <a:ext cx="10881360" cy="548640"/>
          </a:xfrm>
          <a:prstGeom prst="rect">
            <a:avLst/>
          </a:prstGeom>
          <a:noFill/>
        </p:spPr>
        <p:txBody>
          <a:bodyPr wrap="square">
            <a:spAutoFit/>
          </a:bodyPr>
          <a:lstStyle/>
          <a:p>
            <a:pPr>
              <a:spcAft>
                <a:spcPts val="600"/>
              </a:spcAft>
            </a:pPr>
            <a:r>
              <a:rPr sz="2000" b="1">
                <a:solidFill>
                  <a:srgbClr val="1F5CA8"/>
                </a:solidFill>
                <a:latin typeface="Malgun Gothic"/>
                <a:ea typeface="Malgun Gothic"/>
              </a:rPr>
              <a:t>ROW MOVEMENT가 필요한 이유</a:t>
            </a:r>
          </a:p>
        </p:txBody>
      </p:sp>
      <p:sp>
        <p:nvSpPr>
          <p:cNvPr id="5" name="TextBox 4"/>
          <p:cNvSpPr txBox="1"/>
          <p:nvPr/>
        </p:nvSpPr>
        <p:spPr>
          <a:xfrm>
            <a:off x="640080" y="1920240"/>
            <a:ext cx="10881360" cy="1371600"/>
          </a:xfrm>
          <a:prstGeom prst="rect">
            <a:avLst/>
          </a:prstGeom>
          <a:noFill/>
        </p:spPr>
        <p:txBody>
          <a:bodyPr wrap="square">
            <a:spAutoFit/>
          </a:bodyPr>
          <a:lstStyle/>
          <a:p>
            <a:pPr>
              <a:spcAft>
                <a:spcPts val="600"/>
              </a:spcAft>
            </a:pPr>
            <a:r>
              <a:rPr sz="1800" b="0">
                <a:solidFill>
                  <a:srgbClr val="202830"/>
                </a:solidFill>
                <a:latin typeface="Malgun Gothic"/>
                <a:ea typeface="Malgun Gothic"/>
              </a:rPr>
              <a:t>Flashback Table에 ROW MOVEMENT가 필요한 이유는?</a:t>
            </a:r>
          </a:p>
        </p:txBody>
      </p:sp>
      <p:sp>
        <p:nvSpPr>
          <p:cNvPr id="6" name="Rectangle 5"/>
          <p:cNvSpPr/>
          <p:nvPr/>
        </p:nvSpPr>
        <p:spPr>
          <a:xfrm>
            <a:off x="640080" y="3200400"/>
            <a:ext cx="10908792" cy="50292"/>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3429000"/>
            <a:ext cx="10515600" cy="2926080"/>
          </a:xfrm>
          <a:prstGeom prst="rect">
            <a:avLst/>
          </a:prstGeom>
          <a:noFill/>
        </p:spPr>
        <p:txBody>
          <a:bodyPr wrap="square">
            <a:spAutoFit/>
          </a:bodyPr>
          <a:lstStyle/>
          <a:p>
            <a:pPr>
              <a:spcAft>
                <a:spcPts val="800"/>
              </a:spcAft>
            </a:pPr>
            <a:r>
              <a:rPr sz="1700" b="0">
                <a:solidFill>
                  <a:srgbClr val="202830"/>
                </a:solidFill>
                <a:latin typeface="Malgun Gothic"/>
                <a:ea typeface="Malgun Gothic"/>
              </a:rPr>
              <a:t>성능 향상</a:t>
            </a:r>
          </a:p>
          <a:p>
            <a:pPr>
              <a:spcAft>
                <a:spcPts val="800"/>
              </a:spcAft>
            </a:pPr>
            <a:r>
              <a:rPr sz="1700" b="0">
                <a:solidFill>
                  <a:srgbClr val="202830"/>
                </a:solidFill>
                <a:latin typeface="Malgun Gothic"/>
                <a:ea typeface="Malgun Gothic"/>
              </a:rPr>
              <a:t>되돌리는 과정에서 행의 ROWID가 바뀔 수 있으므로</a:t>
            </a:r>
          </a:p>
          <a:p>
            <a:pPr>
              <a:spcAft>
                <a:spcPts val="800"/>
              </a:spcAft>
            </a:pPr>
            <a:r>
              <a:rPr sz="1700" b="0">
                <a:solidFill>
                  <a:srgbClr val="202830"/>
                </a:solidFill>
                <a:latin typeface="Malgun Gothic"/>
                <a:ea typeface="Malgun Gothic"/>
              </a:rPr>
              <a:t>인덱스 때문</a:t>
            </a:r>
          </a:p>
          <a:p>
            <a:pPr>
              <a:spcAft>
                <a:spcPts val="800"/>
              </a:spcAft>
            </a:pPr>
            <a:r>
              <a:rPr sz="1700" b="0">
                <a:solidFill>
                  <a:srgbClr val="202830"/>
                </a:solidFill>
                <a:latin typeface="Malgun Gothic"/>
                <a:ea typeface="Malgun Gothic"/>
              </a:rPr>
              <a:t>제약 조건 때문</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퀴즈 3</a:t>
            </a:r>
          </a:p>
        </p:txBody>
      </p:sp>
      <p:sp>
        <p:nvSpPr>
          <p:cNvPr id="4" name="TextBox 3"/>
          <p:cNvSpPr txBox="1"/>
          <p:nvPr/>
        </p:nvSpPr>
        <p:spPr>
          <a:xfrm>
            <a:off x="640080" y="1280160"/>
            <a:ext cx="10881360" cy="548640"/>
          </a:xfrm>
          <a:prstGeom prst="rect">
            <a:avLst/>
          </a:prstGeom>
          <a:noFill/>
        </p:spPr>
        <p:txBody>
          <a:bodyPr wrap="square">
            <a:spAutoFit/>
          </a:bodyPr>
          <a:lstStyle/>
          <a:p>
            <a:pPr>
              <a:spcAft>
                <a:spcPts val="600"/>
              </a:spcAft>
            </a:pPr>
            <a:r>
              <a:rPr sz="2000" b="1">
                <a:solidFill>
                  <a:srgbClr val="1F5CA8"/>
                </a:solidFill>
                <a:latin typeface="Malgun Gothic"/>
                <a:ea typeface="Malgun Gothic"/>
              </a:rPr>
              <a:t>보장 복원 지점의 위험</a:t>
            </a:r>
          </a:p>
        </p:txBody>
      </p:sp>
      <p:sp>
        <p:nvSpPr>
          <p:cNvPr id="5" name="TextBox 4"/>
          <p:cNvSpPr txBox="1"/>
          <p:nvPr/>
        </p:nvSpPr>
        <p:spPr>
          <a:xfrm>
            <a:off x="640080" y="1920240"/>
            <a:ext cx="10881360" cy="1371600"/>
          </a:xfrm>
          <a:prstGeom prst="rect">
            <a:avLst/>
          </a:prstGeom>
          <a:noFill/>
        </p:spPr>
        <p:txBody>
          <a:bodyPr wrap="square">
            <a:spAutoFit/>
          </a:bodyPr>
          <a:lstStyle/>
          <a:p>
            <a:pPr>
              <a:spcAft>
                <a:spcPts val="600"/>
              </a:spcAft>
            </a:pPr>
            <a:r>
              <a:rPr sz="1800" b="0">
                <a:solidFill>
                  <a:srgbClr val="202830"/>
                </a:solidFill>
                <a:latin typeface="Malgun Gothic"/>
                <a:ea typeface="Malgun Gothic"/>
              </a:rPr>
              <a:t>보장 복원 지점을 지우지 않으면 생기는 문제는?</a:t>
            </a:r>
          </a:p>
        </p:txBody>
      </p:sp>
      <p:sp>
        <p:nvSpPr>
          <p:cNvPr id="6" name="Rectangle 5"/>
          <p:cNvSpPr/>
          <p:nvPr/>
        </p:nvSpPr>
        <p:spPr>
          <a:xfrm>
            <a:off x="640080" y="3200400"/>
            <a:ext cx="10908792" cy="50292"/>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3429000"/>
            <a:ext cx="10515600" cy="2926080"/>
          </a:xfrm>
          <a:prstGeom prst="rect">
            <a:avLst/>
          </a:prstGeom>
          <a:noFill/>
        </p:spPr>
        <p:txBody>
          <a:bodyPr wrap="square">
            <a:spAutoFit/>
          </a:bodyPr>
          <a:lstStyle/>
          <a:p>
            <a:pPr>
              <a:spcAft>
                <a:spcPts val="800"/>
              </a:spcAft>
            </a:pPr>
            <a:r>
              <a:rPr sz="1700" b="0">
                <a:solidFill>
                  <a:srgbClr val="202830"/>
                </a:solidFill>
                <a:latin typeface="Malgun Gothic"/>
                <a:ea typeface="Malgun Gothic"/>
              </a:rPr>
              <a:t>성능 저하</a:t>
            </a:r>
          </a:p>
          <a:p>
            <a:pPr>
              <a:spcAft>
                <a:spcPts val="800"/>
              </a:spcAft>
            </a:pPr>
            <a:r>
              <a:rPr sz="1700" b="0">
                <a:solidFill>
                  <a:srgbClr val="202830"/>
                </a:solidFill>
                <a:latin typeface="Malgun Gothic"/>
                <a:ea typeface="Malgun Gothic"/>
              </a:rPr>
              <a:t>Flashback 로그가 계속 보존되어 FRA가 가득 차고 DB가 멈출 수 있다</a:t>
            </a:r>
          </a:p>
          <a:p>
            <a:pPr>
              <a:spcAft>
                <a:spcPts val="800"/>
              </a:spcAft>
            </a:pPr>
            <a:r>
              <a:rPr sz="1700" b="0">
                <a:solidFill>
                  <a:srgbClr val="202830"/>
                </a:solidFill>
                <a:latin typeface="Malgun Gothic"/>
                <a:ea typeface="Malgun Gothic"/>
              </a:rPr>
              <a:t>백업이 실패한다</a:t>
            </a:r>
          </a:p>
          <a:p>
            <a:pPr>
              <a:spcAft>
                <a:spcPts val="800"/>
              </a:spcAft>
            </a:pPr>
            <a:r>
              <a:rPr sz="1700" b="0">
                <a:solidFill>
                  <a:srgbClr val="202830"/>
                </a:solidFill>
                <a:latin typeface="Malgun Gothic"/>
                <a:ea typeface="Malgun Gothic"/>
              </a:rPr>
              <a:t>인카네이션이 바뀐다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요약</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Flashback은 의존 자원이 다른 기능의 묶음</a:t>
            </a:r>
          </a:p>
          <a:p>
            <a:pPr>
              <a:spcAft>
                <a:spcPts val="600"/>
              </a:spcAft>
            </a:pPr>
            <a:r>
              <a:rPr sz="1800" b="0">
                <a:solidFill>
                  <a:srgbClr val="202830"/>
                </a:solidFill>
                <a:latin typeface="Malgun Gothic"/>
                <a:ea typeface="Malgun Gothic"/>
              </a:rPr>
              <a:t>•  UNDO 기반의 가용 시간은 보존 설정과 공간이 정한다</a:t>
            </a:r>
          </a:p>
          <a:p>
            <a:pPr>
              <a:spcAft>
                <a:spcPts val="600"/>
              </a:spcAft>
            </a:pPr>
            <a:r>
              <a:rPr sz="1800" b="0">
                <a:solidFill>
                  <a:srgbClr val="202830"/>
                </a:solidFill>
                <a:latin typeface="Malgun Gothic"/>
                <a:ea typeface="Malgun Gothic"/>
              </a:rPr>
              <a:t>•  Query 계열은 조회 도구이며 되돌리지 않는다</a:t>
            </a:r>
          </a:p>
          <a:p>
            <a:pPr>
              <a:spcAft>
                <a:spcPts val="600"/>
              </a:spcAft>
            </a:pPr>
            <a:r>
              <a:rPr sz="1800" b="0">
                <a:solidFill>
                  <a:srgbClr val="202830"/>
                </a:solidFill>
                <a:latin typeface="Malgun Gothic"/>
                <a:ea typeface="Malgun Gothic"/>
              </a:rPr>
              <a:t>•  Flashback Table은 ROW MOVEMENT, Drop은 휴지통이 전제</a:t>
            </a:r>
          </a:p>
          <a:p>
            <a:pPr>
              <a:spcAft>
                <a:spcPts val="600"/>
              </a:spcAft>
            </a:pPr>
            <a:r>
              <a:rPr sz="1800" b="0">
                <a:solidFill>
                  <a:srgbClr val="202830"/>
                </a:solidFill>
                <a:latin typeface="Malgun Gothic"/>
                <a:ea typeface="Malgun Gothic"/>
              </a:rPr>
              <a:t>•  Data Archive는 UNDO와 무관하게 장기 이력을 보관</a:t>
            </a:r>
          </a:p>
          <a:p>
            <a:pPr>
              <a:spcAft>
                <a:spcPts val="600"/>
              </a:spcAft>
            </a:pPr>
            <a:r>
              <a:rPr sz="1800" b="0">
                <a:solidFill>
                  <a:srgbClr val="202830"/>
                </a:solidFill>
                <a:latin typeface="Malgun Gothic"/>
                <a:ea typeface="Malgun Gothic"/>
              </a:rPr>
              <a:t>•  Flashback Database는 복원 없이 되감지만 사전 설정이 필요</a:t>
            </a:r>
          </a:p>
          <a:p>
            <a:pPr>
              <a:spcAft>
                <a:spcPts val="600"/>
              </a:spcAft>
            </a:pPr>
            <a:r>
              <a:rPr sz="1800" b="0">
                <a:solidFill>
                  <a:srgbClr val="202830"/>
                </a:solidFill>
                <a:latin typeface="Malgun Gothic"/>
                <a:ea typeface="Malgun Gothic"/>
              </a:rPr>
              <a:t>•  Flashback은 백업을 대체하지 않는다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실습 18 개요</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18-1 UNDO 보존 설정  ·  18-2 Flashback Query</a:t>
            </a:r>
          </a:p>
          <a:p>
            <a:pPr>
              <a:spcAft>
                <a:spcPts val="600"/>
              </a:spcAft>
            </a:pPr>
            <a:r>
              <a:rPr sz="1800" b="0">
                <a:solidFill>
                  <a:srgbClr val="202830"/>
                </a:solidFill>
                <a:latin typeface="Malgun Gothic"/>
                <a:ea typeface="Malgun Gothic"/>
              </a:rPr>
              <a:t>•  18-3 Version Query  ·  18-4 Transaction Query와 UNDO_SQL</a:t>
            </a:r>
          </a:p>
          <a:p>
            <a:pPr>
              <a:spcAft>
                <a:spcPts val="600"/>
              </a:spcAft>
            </a:pPr>
            <a:r>
              <a:rPr sz="1800" b="0">
                <a:solidFill>
                  <a:srgbClr val="202830"/>
                </a:solidFill>
                <a:latin typeface="Malgun Gothic"/>
                <a:ea typeface="Malgun Gothic"/>
              </a:rPr>
              <a:t>•  18-5 Flashback Table  ·  18-6 Flashback Drop과 휴지통</a:t>
            </a:r>
          </a:p>
          <a:p>
            <a:pPr>
              <a:spcAft>
                <a:spcPts val="600"/>
              </a:spcAft>
            </a:pPr>
            <a:r>
              <a:rPr sz="1800" b="0">
                <a:solidFill>
                  <a:srgbClr val="202830"/>
                </a:solidFill>
                <a:latin typeface="Malgun Gothic"/>
                <a:ea typeface="Malgun Gothic"/>
              </a:rPr>
              <a:t>•  18-7 Data Archive 구성과 이력 조회</a:t>
            </a:r>
          </a:p>
          <a:p>
            <a:pPr>
              <a:spcAft>
                <a:spcPts val="600"/>
              </a:spcAft>
            </a:pPr>
            <a:r>
              <a:rPr sz="1800" b="0">
                <a:solidFill>
                  <a:srgbClr val="202830"/>
                </a:solidFill>
                <a:latin typeface="Malgun Gothic"/>
                <a:ea typeface="Malgun Gothic"/>
              </a:rPr>
              <a:t>•  18-8 Flashback Database와 복원 지점</a:t>
            </a:r>
          </a:p>
          <a:p>
            <a:pPr>
              <a:spcAft>
                <a:spcPts val="600"/>
              </a:spcAft>
            </a:pPr>
            <a:r>
              <a:rPr sz="1800" b="0">
                <a:solidFill>
                  <a:srgbClr val="202830"/>
                </a:solidFill>
                <a:latin typeface="Malgun Gothic"/>
                <a:ea typeface="Malgun Gothic"/>
              </a:rPr>
              <a:t>•  18-9 (부록) 커서 공유 동작 확인</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pPr>
              <a:spcAft>
                <a:spcPts val="200"/>
              </a:spcAft>
            </a:pPr>
            <a:r>
              <a:rPr sz="1300" b="1">
                <a:solidFill>
                  <a:srgbClr val="1F5CA8"/>
                </a:solidFill>
                <a:latin typeface="Malgun Gothic"/>
                <a:ea typeface="Malgun Gothic"/>
              </a:rPr>
              <a:t>실습 준비:</a:t>
            </a:r>
          </a:p>
          <a:p>
            <a:pPr>
              <a:spcAft>
                <a:spcPts val="0"/>
              </a:spcAft>
            </a:pPr>
            <a:r>
              <a:rPr sz="1250" b="0">
                <a:solidFill>
                  <a:srgbClr val="202830"/>
                </a:solidFill>
                <a:latin typeface="Malgun Gothic"/>
                <a:ea typeface="Malgun Gothic"/>
              </a:rPr>
              <a:t>UNDO 보존 시간을 넉넉히 잡고 FRA에 2GB 이상 여유를 확보한다.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
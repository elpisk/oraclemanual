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현장에서 비밀번호가 새는 곳은 대개 대단한 해킹 경로가 아니라 운영 편의를 위해 만든 스크립트입니다. sqlplus에 아이디와 비밀번호를 그대로 적어 두면 파일을 읽을 수 있는 사람은 모두 계정을 얻고, 실행 중에는 ps 명령으로도 보입니다. 형상 관리 저장소에 한 번 올라간 비밀번호는 이력에 계속 남습니다. 또 비밀번호를 바꿀 때 그 비밀번호가 적힌 파일을 하나라도 놓치면 배치가 실패하고 계정이 잠기는 사고로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SEPS는 철저히 클라이언트 쪽 기능입니다. 클라이언트가 지갑에서 사용자 이름과 비밀번호를 꺼내 평소처럼 비밀번호 인증을 하므로, 데이터베이스 서버 입장에서는 일반 로그인과 똑같습니다. 그래서 서버 설정을 하나도 바꾸지 않고 도입할 수 있습니다. 핵심 조건은 두 가지입니다. sqlnet.ora에 SQLNET.WALLET_OVERRIDE가 TRUE로 있어야 하고, 접속할 때 쓰는 접속 문자열이 자격 증명을 등록할 때와 정확히 같아야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 인증은 서버에 로그인한 OS 사용자를 그대로 DB 사용자로 쓰는 방식이라 원격 배치 서버에는 맞지 않고, 원격 OS 인증은 위조 위험 때문에 19c 기본값이 FALSE입니다. TLS 인증서 인증은 비밀번호가 아예 사라지는 대신 서버에 TCPS 리스너와 인증서 체계를 갖춰야 합니다. SEPS는 그 중간 지점으로, 기존 계정과 비밀번호 정책을 그대로 둔 채 클라이언트에서 비밀번호만 숨깁니다. 다만 지갑 파일을 가진 사람은 곧 그 계정의 주인이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지갑 디렉터리에는 보통 두 파일이 같이 있습니다. ewallet.p12가 원본이고 cwallet.sso는 비밀번호 없이 열 수 있게 만든 사본입니다. 클라이언트가 접속할 때는 cwallet.sso만 읽기 때문에 지갑 비밀번호를 묻지 않습니다. 반대로 자격 증명을 추가하거나 고칠 때는 원본을 열어야 하므로 지갑 비밀번호가 필요합니다. ewallet.p12를 지우면 접속은 당장 되지만 자격 증명을 더 이상 고칠 수 없으니 두 파일은 반드시 함께 백업합니다.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일반 auto-login 지갑은 디렉터리를 통째로 복사하면 다른 서버에서도 그대로 열립니다. 편리하지만 유출된 지갑도 어디서나 쓸 수 있다는 뜻입니다. local auto-login 지갑은 만든 호스트와 만든 OS 사용자에서만 열리므로 복사본이 무용지물이 됩니다. 원본 실습 자료는 orapki로 local 지갑을 만들고, 매뉴얼 절차는 mkstore -create로 일반 auto-login 지갑을 만듭니다. 실습 05에서 local 지갑을 다른 OS 사용자로 복사했을 때 어떻게 되는지 직접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지갑 비밀번호는 매일 쓰는 값이 아니라서 잊어버리기 쉽습니다. 잃어버리면 복구 방법이 없으니 지갑을 새로 만들고 자격 증명을 모두 다시 등록해야 합니다. 지갑 안은 두 구역으로 나뉩니다. 인증서와 개인 키가 들어가는 PKI 영역은 orapki로 다루고 11장 TLS에서 씁니다. 자격 증명이 들어가는 secret store 영역은 mkstore로 다룹니다. 같은 지갑에 두 영역이 함께 있을 수 있어서 TLS 클라이언트 지갑에 SEPS 자격 증명을 넣는 구성도 가능합니다.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mkstore -list로 항목 이름을 보면 자격 증명 하나가 접속 문자열, 사용자 이름, 비밀번호 세 항목으로 저장되고 끝에 같은 번호가 붙어 있습니다. 번호는 등록 순서입니다. 지갑 비밀번호는 orapki wallet change_pwd로 바꿀 수 있고, 이때 cwallet.sso도 함께 갱신되어 접속에는 영향이 없습니다. 지갑 비밀번호를 알던 사람이 떠나면 지갑 비밀번호만이 아니라 그 사람이 볼 수 있었던 DB 비밀번호도 함께 바꿔야 한다는 점을 덧붙여 설명합니다.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지갑을 만들 때 가장 먼저 만나는 오류는 비밀번호 복잡도입니다. 실습에서 oracle 같은 짧은 비밀번호를 넣으면 지갑이 만들어지지 않습니다. 디렉터리는 미리 만들어 두고 상위 디렉터리 권한도 700으로 잡아 둡니다. 생성이 끝나면 ls -l로 두 파일과 권한을 확인하는 습관을 들이면 좋습니다. 실습 01에서 실패와 성공을 차례로 확인하고, 만들어진 파일의 권한이 어떻게 잡혔는지 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createCredential은 비밀번호를 세 번 묻는데, 앞의 두 번은 DB 계정 비밀번호이고 마지막은 지갑 비밀번호입니다. 이 순서를 헷갈려 실패하는 경우가 많습니다. 비밀번호를 명령행 인자로 바로 넣는 문법도 있지만 그러면 ps 출력과 히스토리에 남아 SEPS를 쓰는 의미가 사라집니다. 첫 인자인 접속 문자열이 자격 증명을 찾는 열쇠라서, 나중에 /@뒤에 쓰는 문자열과 정확히 같아야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listCredential은 비밀번호를 보여 주지 않지만 viewEntry로 password 항목을 열면 저장된 비밀번호가 그대로 나옵니다. 지갑 비밀번호를 아는 사람은 지갑의 모든 DB 비밀번호를 볼 수 있다는 뜻이라 지갑 비밀번호도 DB 비밀번호만큼 관리해야 합니다. modifyCredential은 접속 문자열을 바꾸는 기능이 아니라 비밀번호를 맞추는 기능입니다. 접속 문자열을 바꾸려면 삭제하고 다시 등록합니다. 실습 03에서 수정과 삭제를 차례로 해 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실습 자료는 mkstore를 히어 문서로 자동화합니다. 실습할 때는 편하지만, 그 스크립트를 저장해 두면 지갑 비밀번호가 평문으로 남아 결국 같은 문제가 반복됩니다. 이 교안의 실습도 기록을 남기기 위해 printf로 값을 넘기는데, 운영 환경에서는 지갑 생성과 자격 증명 등록을 사람이 대화식으로 하는 것이 원칙입니다. 자동화가 꼭 필요하면 별도 비밀 관리 도구에서 값을 넘겨받도록 설계합니다.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WALLET_LOCATION만 있고 WALLET_OVERRIDE가 없으면 클라이언트는 지갑이 어디 있는지 알면서도 자격 증명을 쓰지 않습니다. 실습 02에서 이 상태로 먼저 접속해 어떤 결과가 나오는지 보고, 한 줄을 추가한 뒤 다시 접속합니다. 매뉴얼은 WALLET_OVERRIDE가 클라이언트 쪽 파라미터이며 DB 서버의 sqlnet.ora에 TRUE를 두면 외부 프로시저가 깨질 수 있다고 경고합니다. 그래서 서버의 공용 sqlnet.ora는 건드리지 않고 클라이언트 구성을 따로 둡니다.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자료의 sqlnet.ora에는 SSL 관련 파라미터가 함께 들어 있습니다. 같은 지갑을 TLS와 함께 쓰는 예제에서 가져온 것으로 보이며, TCP로 접속하는 SEPS에는 아무 역할도 하지 않습니다. 쓰지 않는 파라미터를 남겨 두면 나중에 TLS를 구성할 때 의도하지 않은 값이 남아 원인을 찾기 어려워집니다. 참고로 최신 19c 릴리스 문서는 SSL_로 시작하는 파라미터를 TLS_ 이름으로 바꿔 소개하는데, 이 부분은 11장에서 다시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별칭은 접속할 주소를 정하고 지갑은 그 별칭으로 접속할 계정을 정합니다. 지갑에 자격 증명이 있어도 tnsnames.ora에 별칭이 없으면 주소를 찾지 못해 ORA-12154가 납니다. 서버의 공용 network/admin을 고치면 같은 홈을 쓰는 모든 프로세스가 영향을 받으니, 원본 자료처럼 별도 디렉터리에 sqlnet.ora와 tnsnames.ora를 두고 TNS_ADMIN으로 가리키는 편이 안전합니다. TNS_ADMIN을 바꾸면 그 디렉터리의 tnsnames.ora만 읽는다는 점도 짚어 둡니다.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SEPS를 도입한 뒤 가장 흔히 받는 문의가 터미널에서는 되는데 크론에서는 안 된다는 것입니다. 크론은 로그인 셸을 거치지 않아 프로파일에 넣어 둔 환경 변수가 없습니다. TNS_ADMIN이 비어 있으니 공용 tnsnames.ora를 읽고, 거기에는 SEPS용 별칭이 없어 ORA-12154가 납니다. 실습 04에서 env -i로 빈 환경을 만들어 이 상황을 재현하고, TNS_ADMIN을 넣었을 때 접속되는 것을 확인합니다. 배치 스크립트는 맨 위에서 필요한 환경을 직접 설정해야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접속한 뒤에는 SHOW USER나 SYS_CONTEXT로 실제 계정을 확인합니다. AUTHENTICATION_METHOD를 보면 PASSWORD로 나오는데, 서버 입장에서는 지갑에서 꺼낸 비밀번호든 사람이 친 비밀번호든 똑같은 비밀번호 인증이기 때문입니다. 감사 기록에도 일반 로그인으로 남습니다. 실습 02에서 이 값을 직접 조회하고, ps 출력에 비밀번호가 보이지 않는지도 함께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매뉴얼은 각 사용자 계정이 고유한 접속 문자열을 가져야 한다고 적고 있습니다. 지갑이 접속 문자열을 열쇠로 자격 증명을 찾기 때문입니다. 같은 데이터베이스에 여러 계정으로 접속하려면 같은 서비스를 가리키는 별칭을 계정 수만큼 만들면 됩니다. 실습 03에서 이미 있는 접속 문자열로 다시 등록을 시도해 거부되는 것을 확인합니다. 비밀번호만 바꿀 때는 modifyCredential, 계정을 바꿀 때는 삭제 후 다시 등록합니다.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2장의 프록시 인증과 SEPS는 잘 어울립니다. 사용자 이름 자리에 대괄호로 대상 사용자를 적어 두면 프록시 계정의 비밀번호로 대상 사용자 세션을 엽니다. 대상 사용자마다 비밀번호를 지갑에 둘 필요가 없어집니다. 다만 DB에서 대상 사용자에게 CONNECT THROUGH 권한을 주지 않았다면 접속은 실패합니다. 실습 04에서 권한 없이 먼저 접속해 오류를 보고, 권한을 준 뒤 SESSION_USER와 PROXY_USER가 어떻게 나오는지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비밀번호 정기 변경 다음 날 배치가 멈추는 사고가 실제로 자주 납니다. DB에서 비밀번호를 바꿔도 지갑에는 옛 비밀번호가 남아 있으니 ORA-01017이 나고, 재시도하는 배치라면 실패가 빠르게 쌓여 기본 프로파일의 10회를 넘기는 순간 계정이 잠깁니다. 그러면 올바른 비밀번호로도 들어갈 수 없습니다. 실습 03에서 비밀번호를 바꾼 뒤 실패를 보고, modifyCredential로 맞춘 다음 다시 접속합니다. 실패 횟수가 어디에 쌓이는지도 함께 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지갑 파일을 가진 사람은 그 안의 모든 계정을 갖게 되므로 지갑 하나에 모든 계정을 몰아넣으면 위험도 한곳에 몰립니다. 보고서 서버에는 읽기 전용 계정만, 백업 서버에는 백업 권한만 가진 계정만 두는 식으로 용도별로 나눕니다. 스키마 소유자는 DDL까지 할 수 있어 지갑에 넣지 않습니다. 지갑을 읽는 OS 사용자도 용도별로 나눠야 지갑을 나눈 효과가 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OCI 클라이언트 라이브러리를 쓰는 도구는 sqlnet.ora 설정만으로 SEPS를 씁니다. Data Pump도 /@별칭으로 실행할 수 있어 원본 자료도 expdp 예제를 보여 줍니다. 실습 04에서 같은 작업을 해 보고 작업 로그에 비밀번호가 어떻게 표시되는지 봅니다. 자바 Thin 드라이버는 OCI가 아니라서 sqlnet.ora의 WALLET_OVERRIDE를 그대로 읽지 않습니다. 드라이버 연결 속성으로 지갑 위치를 주고 관련 라이브러리를 추가해야 한다는 점만 짚고 넘어갑니다.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매뉴얼에도 AS SYSDBA 접속 형식이 나오지만 SYS 비밀번호를 지갑에 넣으면 지갑 파일 하나가 데이터베이스 전체 권한이 됩니다. 백업은 SYSBACKUP, Data Guard 관리는 SYSDG처럼 작업별 관리 권한을 가진 전용 계정을 쓰는 편이 낫습니다. 애플리케이션 서버의 연결 풀은 시작할 때 지갑에서 비밀번호를 읽으므로, 지갑을 고친 뒤 풀을 다시 시작해야 새 비밀번호가 쓰입니다. 비밀번호 변경 절차에 이 단계를 넣어야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지갑을 만들고 접속이 되는 것까지가 끝이 아닙니다. 기존 스크립트와 설정 파일에 남아 있던 비밀번호를 찾아 지우고, 그 비밀번호 자체를 새것으로 바꿔야 비로소 적용이 끝납니다. 옛 비밀번호를 그대로 지갑에 넣으면 이미 여러 파일로 퍼진 비밀번호가 계속 유효하기 때문입니다. 마지막으로 비밀번호 변경 절차를 문서로 남겨 DB 변경, 지갑 수정, 접속 확인을 한 묶음으로 수행하게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오류가 나면 순서대로 좁혀 갑니다. 먼저 tnsping으로 별칭이 풀리는지 보고, 다음으로 TNS_ADMIN과 sqlnet.ora가 의도한 지갑을 가리키는지 확인합니다. 그다음 listCredential로 그 별칭의 자격 증명이 있는지 보고, 마지막으로 DBA_USERS에서 계정이 잠기거나 만료되지 않았는지 봅니다. tnsping이 성공해도 지갑이 맞다는 보장은 없다는 점, 그리고 sqlnet.ora를 여러 곳에서 고쳐 두면 어느 파일이 읽혔는지 헷갈린다는 점도 함께 설명합니다.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 auto-login 지갑은 의도대로 동작한 것이고, 이관 절차가 지갑의 성질을 고려하지 못한 사례입니다. 실습 05에서는 다른 서버 대신 다른 OS 사용자로 복사해 같은 현상을 봅니다. 같은 파일인데도 local 지갑은 열리지 않고, 일반 auto-login 지갑은 다른 사용자에게서도 그대로 열립니다. 일반 지갑이 열린다는 사실이 바로 지갑 파일 권한 관리가 중요한 이유입니다. 서버를 옮길 때는 지갑을 복사하지 말고 새 서버에서 새로 만드는 것을 원칙으로 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03과 04에서 ORA_LOGON_FAILURES 감사 정책이 남긴 기록을 실패 원인별로 비교했습니다. 화면에는 네 경우 모두 똑같이 ORA-01017이 나오지만 감사 기록은 다릅니다. 비밀번호가 틀린 경우에는 계정 이름이 남아서 추적이 쉽지만, WALLET_OVERRIDE를 빠뜨린 경우는 사용자 이름이 비어 있고, 지갑에서 자격 증명을 지운 별칭으로 접속한 실패는 기록 자체가 없었습니다. 감사 기록만으로 지갑 설정 문제를 모두 찾을 수는 없다는 점을 알려 줍니다.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SEPS는 비밀번호를 숨길 뿐 접속 자체를 막지 않으니 지갑이 유출된 상황을 가정해 DB 쪽 통제를 겹쳐 둡니다. 가장 기본은 계정 권한을 업무에 필요한 만큼으로 줄이는 것입니다. 리스너의 접속 허용 IP 목록을 쓰면 다른 서버로 복사된 지갑을 막을 수 있지만 모든 접속에 영향을 주니 신중히 적용해야 합니다. 계정별로 허용 호스트를 검사하는 LOGON 트리거나 VPD도 방법입니다. 실패 로그인 감사는 13장에서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SEPS는 클라이언트 기능이라 서버에 전용 뷰가 없습니다. 대신 지갑으로 접속하는 계정의 상태를 봅니다. 비밀번호 변경일이 오래됐다면 순환이 안 되고 있다는 신호이고, V$SESSION의 MACHINE이 예상한 배치 서버가 아니라면 지갑이 다른 곳에서 쓰이는지 의심해야 합니다. 실습 03에서는 잘못된 비밀번호로 접속에 실패한 뒤 실패 횟수가 계정에 쌓인 것을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백업에서 복원하거나 파일을 복사하는 과정에서 권한이 644로 바뀌는 일이 흔하니 정기 점검 항목에 넣습니다. 지갑에 어떤 접속 문자열과 계정이 들어 있는지 문서로 남겨 두면 비밀번호 변경 대상 계정을 찾을 때 지갑을 뒤질 필요가 없습니다. 접속을 끊어야 할 때 지갑 파일을 지우는 것만으로는 부족합니다. 이미 복사됐을 수 있으니 DB 계정을 잠그는 것이 우선입니다.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Security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Secure External Password Store</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스크립트에서 비밀번호를 지우는 클라이언트 지갑</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제1장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스크립트·애플리케이션의 비밀번호 노출 경로를 설명한다</a:t>
            </a:r>
          </a:p>
          <a:p>
            <a:pPr algn="l">
              <a:spcAft>
                <a:spcPts val="1000"/>
              </a:spcAft>
            </a:pPr>
            <a:r>
              <a:rPr sz="1600" b="0">
                <a:solidFill>
                  <a:srgbClr val="222222"/>
                </a:solidFill>
                <a:latin typeface="맑은 고딕"/>
              </a:rPr>
              <a:t>•  ewallet.p12, cwallet.sso와 local auto-login을 구분한다</a:t>
            </a:r>
          </a:p>
          <a:p>
            <a:pPr algn="l">
              <a:spcAft>
                <a:spcPts val="1000"/>
              </a:spcAft>
            </a:pPr>
            <a:r>
              <a:rPr sz="1600" b="0">
                <a:solidFill>
                  <a:srgbClr val="222222"/>
                </a:solidFill>
                <a:latin typeface="맑은 고딕"/>
              </a:rPr>
              <a:t>•  mkstore로 지갑과 자격 증명을 관리한다</a:t>
            </a:r>
          </a:p>
          <a:p>
            <a:pPr algn="l">
              <a:spcAft>
                <a:spcPts val="1000"/>
              </a:spcAft>
            </a:pPr>
            <a:r>
              <a:rPr sz="1600" b="0">
                <a:solidFill>
                  <a:srgbClr val="222222"/>
                </a:solidFill>
                <a:latin typeface="맑은 고딕"/>
              </a:rPr>
              <a:t>•  WALLET_LOCATION, WALLET_OVERRIDE로 /@별칭 접속을 구성한다</a:t>
            </a:r>
          </a:p>
          <a:p>
            <a:pPr algn="l">
              <a:spcAft>
                <a:spcPts val="1000"/>
              </a:spcAft>
            </a:pPr>
            <a:r>
              <a:rPr sz="1600" b="0">
                <a:solidFill>
                  <a:srgbClr val="222222"/>
                </a:solidFill>
                <a:latin typeface="맑은 고딕"/>
              </a:rPr>
              <a:t>•  접속 문자열 단위 저장 규칙으로 계정을 설계한다</a:t>
            </a:r>
          </a:p>
          <a:p>
            <a:pPr algn="l">
              <a:spcAft>
                <a:spcPts val="1000"/>
              </a:spcAft>
            </a:pPr>
            <a:r>
              <a:rPr sz="1600" b="0">
                <a:solidFill>
                  <a:srgbClr val="222222"/>
                </a:solidFill>
                <a:latin typeface="맑은 고딕"/>
              </a:rPr>
              <a:t>•  비밀번호 변경·지갑 복사 문제를 진단한다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1.2  SEPS의 개념  /  1.3  Oracle Wallet의 구조</a:t>
            </a:r>
          </a:p>
          <a:p>
            <a:pPr algn="l">
              <a:spcAft>
                <a:spcPts val="1000"/>
              </a:spcAft>
            </a:pPr>
            <a:r>
              <a:rPr sz="1600" b="0">
                <a:solidFill>
                  <a:srgbClr val="222222"/>
                </a:solidFill>
                <a:latin typeface="맑은 고딕"/>
              </a:rPr>
              <a:t>•  1.4  mkstore로 지갑과 자격 증명 관리</a:t>
            </a:r>
          </a:p>
          <a:p>
            <a:pPr algn="l">
              <a:spcAft>
                <a:spcPts val="1000"/>
              </a:spcAft>
            </a:pPr>
            <a:r>
              <a:rPr sz="1600" b="0">
                <a:solidFill>
                  <a:srgbClr val="222222"/>
                </a:solidFill>
                <a:latin typeface="맑은 고딕"/>
              </a:rPr>
              <a:t>•  1.5  클라이언트 구성  /  1.6  자격 증명 설계</a:t>
            </a:r>
          </a:p>
          <a:p>
            <a:pPr algn="l">
              <a:spcAft>
                <a:spcPts val="1000"/>
              </a:spcAft>
            </a:pPr>
            <a:r>
              <a:rPr sz="1600" b="0">
                <a:solidFill>
                  <a:srgbClr val="222222"/>
                </a:solidFill>
                <a:latin typeface="맑은 고딕"/>
              </a:rPr>
              <a:t>•  1.7  활용  /  1.8  설계와 적용 절차</a:t>
            </a:r>
          </a:p>
          <a:p>
            <a:pPr algn="l">
              <a:spcAft>
                <a:spcPts val="1000"/>
              </a:spcAft>
            </a:pPr>
            <a:r>
              <a:rPr sz="1600" b="0">
                <a:solidFill>
                  <a:srgbClr val="222222"/>
                </a:solidFill>
                <a:latin typeface="맑은 고딕"/>
              </a:rPr>
              <a:t>•  1.9  문제 해결  /  1.10  보안 강화와 관련 뷰</a:t>
            </a:r>
          </a:p>
          <a:p>
            <a:pPr algn="l">
              <a:spcAft>
                <a:spcPts val="1000"/>
              </a:spcAft>
            </a:pPr>
            <a:r>
              <a:rPr sz="1600" b="0">
                <a:solidFill>
                  <a:srgbClr val="222222"/>
                </a:solidFill>
                <a:latin typeface="맑은 고딕"/>
              </a:rPr>
              <a:t>•  1.11  운영 시 주의점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SEPS의 개념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비밀번호가 새는 경로</a:t>
            </a:r>
          </a:p>
          <a:p>
            <a:pPr algn="l">
              <a:spcAft>
                <a:spcPts val="800"/>
              </a:spcAft>
            </a:pPr>
            <a:r>
              <a:rPr sz="1600" b="0">
                <a:solidFill>
                  <a:srgbClr val="FFFFFF"/>
                </a:solidFill>
                <a:latin typeface="맑은 고딕"/>
              </a:rPr>
              <a:t>•  클라이언트 지갑으로 대신 인증</a:t>
            </a:r>
          </a:p>
          <a:p>
            <a:pPr algn="l">
              <a:spcAft>
                <a:spcPts val="800"/>
              </a:spcAft>
            </a:pPr>
            <a:r>
              <a:rPr sz="1600" b="0">
                <a:solidFill>
                  <a:srgbClr val="FFFFFF"/>
                </a:solidFill>
                <a:latin typeface="맑은 고딕"/>
              </a:rPr>
              <a:t>•  다른 인증 방식과의 비교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비밀번호가 새는 경로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스크립트 한 줄이 계정 전체를 넘긴다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스크립트 안의 scott/tiger@orcl</a:t>
            </a:r>
          </a:p>
          <a:p>
            <a:pPr algn="l">
              <a:spcAft>
                <a:spcPts val="1000"/>
              </a:spcAft>
            </a:pPr>
            <a:r>
              <a:rPr sz="1700" b="0">
                <a:solidFill>
                  <a:srgbClr val="222222"/>
                </a:solidFill>
                <a:latin typeface="맑은 고딕"/>
              </a:rPr>
              <a:t>•  실행 중 ps -ef 출력의 명령행 인자</a:t>
            </a:r>
          </a:p>
          <a:p>
            <a:pPr algn="l">
              <a:spcAft>
                <a:spcPts val="1000"/>
              </a:spcAft>
            </a:pPr>
            <a:r>
              <a:rPr sz="1700" b="0">
                <a:solidFill>
                  <a:srgbClr val="222222"/>
                </a:solidFill>
                <a:latin typeface="맑은 고딕"/>
              </a:rPr>
              <a:t>•  셸 히스토리, 크론 정의, 형상 관리 저장소</a:t>
            </a:r>
          </a:p>
          <a:p>
            <a:pPr algn="l">
              <a:spcAft>
                <a:spcPts val="1000"/>
              </a:spcAft>
            </a:pPr>
            <a:r>
              <a:rPr sz="1700" b="0">
                <a:solidFill>
                  <a:srgbClr val="222222"/>
                </a:solidFill>
                <a:latin typeface="맑은 고딕"/>
              </a:rPr>
              <a:t>•  비밀번호 변경 시 모든 파일을 찾아 고쳐야 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SEPS의 동작 방식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서버는 SEPS가 쓰였는지 모른다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sqlplus /@seps_app 처럼 접속 문자열만 준다</a:t>
            </a:r>
          </a:p>
          <a:p>
            <a:pPr algn="l">
              <a:spcAft>
                <a:spcPts val="1000"/>
              </a:spcAft>
            </a:pPr>
            <a:r>
              <a:rPr sz="1700" b="0">
                <a:solidFill>
                  <a:srgbClr val="222222"/>
                </a:solidFill>
                <a:latin typeface="맑은 고딕"/>
              </a:rPr>
              <a:t>•  sqlnet.ora의 WALLET_LOCATION에서 지갑을 찾는다</a:t>
            </a:r>
          </a:p>
          <a:p>
            <a:pPr algn="l">
              <a:spcAft>
                <a:spcPts val="1000"/>
              </a:spcAft>
            </a:pPr>
            <a:r>
              <a:rPr sz="1700" b="0">
                <a:solidFill>
                  <a:srgbClr val="222222"/>
                </a:solidFill>
                <a:latin typeface="맑은 고딕"/>
              </a:rPr>
              <a:t>•  cwallet.sso로 비밀번호 없이 지갑을 연다</a:t>
            </a:r>
          </a:p>
          <a:p>
            <a:pPr algn="l">
              <a:spcAft>
                <a:spcPts val="1000"/>
              </a:spcAft>
            </a:pPr>
            <a:r>
              <a:rPr sz="1700" b="0">
                <a:solidFill>
                  <a:srgbClr val="222222"/>
                </a:solidFill>
                <a:latin typeface="맑은 고딕"/>
              </a:rPr>
              <a:t>•  같은 접속 문자열의 사용자 이름·비밀번호로 인증</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다른 방식과의 비교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SEPS는 기존 계정을 그대로 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스크립트 기록: 단순하지만 노출이 큼</a:t>
            </a:r>
          </a:p>
          <a:p>
            <a:pPr algn="l">
              <a:spcAft>
                <a:spcPts val="1000"/>
              </a:spcAft>
            </a:pPr>
            <a:r>
              <a:rPr sz="1700" b="0">
                <a:solidFill>
                  <a:srgbClr val="222222"/>
                </a:solidFill>
                <a:latin typeface="맑은 고딕"/>
              </a:rPr>
              <a:t>•  OS 인증: 원격 접속에 부적합, OS 계정에 종속</a:t>
            </a:r>
          </a:p>
          <a:p>
            <a:pPr algn="l">
              <a:spcAft>
                <a:spcPts val="1000"/>
              </a:spcAft>
            </a:pPr>
            <a:r>
              <a:rPr sz="1700" b="0">
                <a:solidFill>
                  <a:srgbClr val="222222"/>
                </a:solidFill>
                <a:latin typeface="맑은 고딕"/>
              </a:rPr>
              <a:t>•  SEPS: 원격 DB에도 적용, 지갑 파일 보호가 관건</a:t>
            </a:r>
          </a:p>
          <a:p>
            <a:pPr algn="l">
              <a:spcAft>
                <a:spcPts val="1000"/>
              </a:spcAft>
            </a:pPr>
            <a:r>
              <a:rPr sz="1700" b="0">
                <a:solidFill>
                  <a:srgbClr val="222222"/>
                </a:solidFill>
                <a:latin typeface="맑은 고딕"/>
              </a:rPr>
              <a:t>•  TLS 인증서 인증: 비밀번호 자체가 없음(11장)</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Oracle Wallet의 구조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ewallet.p12와 cwallet.sso</a:t>
            </a:r>
          </a:p>
          <a:p>
            <a:pPr algn="l">
              <a:spcAft>
                <a:spcPts val="800"/>
              </a:spcAft>
            </a:pPr>
            <a:r>
              <a:rPr sz="1600" b="0">
                <a:solidFill>
                  <a:srgbClr val="FFFFFF"/>
                </a:solidFill>
                <a:latin typeface="맑은 고딕"/>
              </a:rPr>
              <a:t>•  auto-login과 local auto-login</a:t>
            </a:r>
          </a:p>
          <a:p>
            <a:pPr algn="l">
              <a:spcAft>
                <a:spcPts val="800"/>
              </a:spcAft>
            </a:pPr>
            <a:r>
              <a:rPr sz="1600" b="0">
                <a:solidFill>
                  <a:srgbClr val="FFFFFF"/>
                </a:solidFill>
                <a:latin typeface="맑은 고딕"/>
              </a:rPr>
              <a:t>•  지갑 비밀번호와 두 저장 영역</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지갑을 이루는 파일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접속할 때는 cwallet.sso만 읽는다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ewallet.p12: PKCS#12 본체, 지갑 비밀번호로 연다</a:t>
            </a:r>
          </a:p>
          <a:p>
            <a:pPr algn="l">
              <a:spcAft>
                <a:spcPts val="1000"/>
              </a:spcAft>
            </a:pPr>
            <a:r>
              <a:rPr sz="1700" b="0">
                <a:solidFill>
                  <a:srgbClr val="222222"/>
                </a:solidFill>
                <a:latin typeface="맑은 고딕"/>
              </a:rPr>
              <a:t>•  cwallet.sso: auto-login 사본, 비밀번호 없이 열림</a:t>
            </a:r>
          </a:p>
          <a:p>
            <a:pPr algn="l">
              <a:spcAft>
                <a:spcPts val="1000"/>
              </a:spcAft>
            </a:pPr>
            <a:r>
              <a:rPr sz="1700" b="0">
                <a:solidFill>
                  <a:srgbClr val="222222"/>
                </a:solidFill>
                <a:latin typeface="맑은 고딕"/>
              </a:rPr>
              <a:t>•  .lck: 동시 갱신을 막는 잠금 파일</a:t>
            </a:r>
          </a:p>
          <a:p>
            <a:pPr algn="l">
              <a:spcAft>
                <a:spcPts val="1000"/>
              </a:spcAft>
            </a:pPr>
            <a:r>
              <a:rPr sz="1700" b="0">
                <a:solidFill>
                  <a:srgbClr val="222222"/>
                </a:solidFill>
                <a:latin typeface="맑은 고딕"/>
              </a:rPr>
              <a:t>•  mkstore 수정 시 두 파일이 함께 갱신</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auto-login과 local auto-login</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복사한 지갑이 열리느냐의 차이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auto-login: 어느 호스트로 복사해도 열린다</a:t>
            </a:r>
          </a:p>
          <a:p>
            <a:pPr algn="l">
              <a:spcAft>
                <a:spcPts val="1000"/>
              </a:spcAft>
            </a:pPr>
            <a:r>
              <a:rPr sz="1700" b="0">
                <a:solidFill>
                  <a:srgbClr val="222222"/>
                </a:solidFill>
                <a:latin typeface="맑은 고딕"/>
              </a:rPr>
              <a:t>•  local auto-login: 만든 호스트·OS 사용자에서만 열린다</a:t>
            </a:r>
          </a:p>
          <a:p>
            <a:pPr algn="l">
              <a:spcAft>
                <a:spcPts val="1000"/>
              </a:spcAft>
            </a:pPr>
            <a:r>
              <a:rPr sz="1700" b="0">
                <a:solidFill>
                  <a:srgbClr val="222222"/>
                </a:solidFill>
                <a:latin typeface="맑은 고딕"/>
              </a:rPr>
              <a:t>•  orapki wallet create -auto_login_local</a:t>
            </a:r>
          </a:p>
          <a:p>
            <a:pPr algn="l">
              <a:spcAft>
                <a:spcPts val="1000"/>
              </a:spcAft>
            </a:pPr>
            <a:r>
              <a:rPr sz="1700" b="0">
                <a:solidFill>
                  <a:srgbClr val="222222"/>
                </a:solidFill>
                <a:latin typeface="맑은 고딕"/>
              </a:rPr>
              <a:t>•  한 서버에서만 쓰는 배치 지갑은 local이 안전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지갑 비밀번호와 저장 영역</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PKI 영역은 orapki, 자격 증명은 mkstore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지갑 비밀번호: 8자 이상, 영문+숫자 또는 특수 문자</a:t>
            </a:r>
          </a:p>
          <a:p>
            <a:pPr algn="l">
              <a:spcAft>
                <a:spcPts val="1000"/>
              </a:spcAft>
            </a:pPr>
            <a:r>
              <a:rPr sz="1700" b="0">
                <a:solidFill>
                  <a:srgbClr val="222222"/>
                </a:solidFill>
                <a:latin typeface="맑은 고딕"/>
              </a:rPr>
              <a:t>•  지갑 비밀번호를 잃으면 지갑을 새로 만든다</a:t>
            </a:r>
          </a:p>
          <a:p>
            <a:pPr algn="l">
              <a:spcAft>
                <a:spcPts val="1000"/>
              </a:spcAft>
            </a:pPr>
            <a:r>
              <a:rPr sz="1700" b="0">
                <a:solidFill>
                  <a:srgbClr val="222222"/>
                </a:solidFill>
                <a:latin typeface="맑은 고딕"/>
              </a:rPr>
              <a:t>•  PKI 영역: 인증서·개인 키(TLS, TDE)</a:t>
            </a:r>
          </a:p>
          <a:p>
            <a:pPr algn="l">
              <a:spcAft>
                <a:spcPts val="1000"/>
              </a:spcAft>
            </a:pPr>
            <a:r>
              <a:rPr sz="1700" b="0">
                <a:solidFill>
                  <a:srgbClr val="222222"/>
                </a:solidFill>
                <a:latin typeface="맑은 고딕"/>
              </a:rPr>
              <a:t>•  secret store 영역: SEPS 자격 증명</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지갑 내용 들여다보기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자격 증명 하나 = 항목 세 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orapki wallet display: PKI 영역</a:t>
            </a:r>
          </a:p>
          <a:p>
            <a:pPr algn="l">
              <a:spcAft>
                <a:spcPts val="1000"/>
              </a:spcAft>
            </a:pPr>
            <a:r>
              <a:rPr sz="1700" b="0">
                <a:solidFill>
                  <a:srgbClr val="222222"/>
                </a:solidFill>
                <a:latin typeface="맑은 고딕"/>
              </a:rPr>
              <a:t>•  mkstore -list: secret store 항목 이름</a:t>
            </a:r>
          </a:p>
          <a:p>
            <a:pPr algn="l">
              <a:spcAft>
                <a:spcPts val="1000"/>
              </a:spcAft>
            </a:pPr>
            <a:r>
              <a:rPr sz="1700" b="0">
                <a:solidFill>
                  <a:srgbClr val="222222"/>
                </a:solidFill>
                <a:latin typeface="맑은 고딕"/>
              </a:rPr>
              <a:t>•  connect_stringN, usernameN, passwordN</a:t>
            </a:r>
          </a:p>
          <a:p>
            <a:pPr algn="l">
              <a:spcAft>
                <a:spcPts val="1000"/>
              </a:spcAft>
            </a:pPr>
            <a:r>
              <a:rPr sz="1700" b="0">
                <a:solidFill>
                  <a:srgbClr val="222222"/>
                </a:solidFill>
                <a:latin typeface="맑은 고딕"/>
              </a:rPr>
              <a:t>•  지갑 비밀번호 변경: orapki wallet change_pwd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mkstore로 지갑과 자격 증명 관리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지갑 생성과 자격 증명 등록</a:t>
            </a:r>
          </a:p>
          <a:p>
            <a:pPr algn="l">
              <a:spcAft>
                <a:spcPts val="800"/>
              </a:spcAft>
            </a:pPr>
            <a:r>
              <a:rPr sz="1600" b="0">
                <a:solidFill>
                  <a:srgbClr val="FFFFFF"/>
                </a:solidFill>
                <a:latin typeface="맑은 고딕"/>
              </a:rPr>
              <a:t>•  조회·수정·삭제</a:t>
            </a:r>
          </a:p>
          <a:p>
            <a:pPr algn="l">
              <a:spcAft>
                <a:spcPts val="800"/>
              </a:spcAft>
            </a:pPr>
            <a:r>
              <a:rPr sz="1600" b="0">
                <a:solidFill>
                  <a:srgbClr val="FFFFFF"/>
                </a:solidFill>
                <a:latin typeface="맑은 고딕"/>
              </a:rPr>
              <a:t>•  비대화식 입력의 함정</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지갑 생성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복잡도 규칙에서 먼저 걸린다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mkstore -wrl 디렉터리 -create</a:t>
            </a:r>
          </a:p>
          <a:p>
            <a:pPr algn="l">
              <a:spcAft>
                <a:spcPts val="1000"/>
              </a:spcAft>
            </a:pPr>
            <a:r>
              <a:rPr sz="1700" b="0">
                <a:solidFill>
                  <a:srgbClr val="222222"/>
                </a:solidFill>
                <a:latin typeface="맑은 고딕"/>
              </a:rPr>
              <a:t>•  지갑 비밀번호를 두 번 입력</a:t>
            </a:r>
          </a:p>
          <a:p>
            <a:pPr algn="l">
              <a:spcAft>
                <a:spcPts val="1000"/>
              </a:spcAft>
            </a:pPr>
            <a:r>
              <a:rPr sz="1700" b="0">
                <a:solidFill>
                  <a:srgbClr val="222222"/>
                </a:solidFill>
                <a:latin typeface="맑은 고딕"/>
              </a:rPr>
              <a:t>•  생성 직후 ewallet.p12, cwallet.sso 생성</a:t>
            </a:r>
          </a:p>
          <a:p>
            <a:pPr algn="l">
              <a:spcAft>
                <a:spcPts val="1000"/>
              </a:spcAft>
            </a:pPr>
            <a:r>
              <a:rPr sz="1700" b="0">
                <a:solidFill>
                  <a:srgbClr val="222222"/>
                </a:solidFill>
                <a:latin typeface="맑은 고딕"/>
              </a:rPr>
              <a:t>•  파일 권한은 소유자 전용으로 만들어진다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자격 증명 등록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첫 인자 접속 문자열이 열쇠다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-createCredential 접속문자열 사용자이름</a:t>
            </a:r>
          </a:p>
          <a:p>
            <a:pPr algn="l">
              <a:spcAft>
                <a:spcPts val="1000"/>
              </a:spcAft>
            </a:pPr>
            <a:r>
              <a:rPr sz="1700" b="0">
                <a:solidFill>
                  <a:srgbClr val="222222"/>
                </a:solidFill>
                <a:latin typeface="맑은 고딕"/>
              </a:rPr>
              <a:t>•  DB 비밀번호 두 번, 이어서 지갑 비밀번호</a:t>
            </a:r>
          </a:p>
          <a:p>
            <a:pPr algn="l">
              <a:spcAft>
                <a:spcPts val="1000"/>
              </a:spcAft>
            </a:pPr>
            <a:r>
              <a:rPr sz="1700" b="0">
                <a:solidFill>
                  <a:srgbClr val="222222"/>
                </a:solidFill>
                <a:latin typeface="맑은 고딕"/>
              </a:rPr>
              <a:t>•  비밀번호를 명령행 인자로 넣지 않는다</a:t>
            </a:r>
          </a:p>
          <a:p>
            <a:pPr algn="l">
              <a:spcAft>
                <a:spcPts val="1000"/>
              </a:spcAft>
            </a:pPr>
            <a:r>
              <a:rPr sz="1700" b="0">
                <a:solidFill>
                  <a:srgbClr val="222222"/>
                </a:solidFill>
                <a:latin typeface="맑은 고딕"/>
              </a:rPr>
              <a:t>•  /@접속문자열이 등록 때와 같아야 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조회, 수정, 삭제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비밀번호 변경 직후 -modifyCredential</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-listCredential: 번호, 접속 문자열, 사용자 이름</a:t>
            </a:r>
          </a:p>
          <a:p>
            <a:pPr algn="l">
              <a:spcAft>
                <a:spcPts val="1000"/>
              </a:spcAft>
            </a:pPr>
            <a:r>
              <a:rPr sz="1700" b="0">
                <a:solidFill>
                  <a:srgbClr val="222222"/>
                </a:solidFill>
                <a:latin typeface="맑은 고딕"/>
              </a:rPr>
              <a:t>•  -modifyCredential: 비밀번호 동기화</a:t>
            </a:r>
          </a:p>
          <a:p>
            <a:pPr algn="l">
              <a:spcAft>
                <a:spcPts val="1000"/>
              </a:spcAft>
            </a:pPr>
            <a:r>
              <a:rPr sz="1700" b="0">
                <a:solidFill>
                  <a:srgbClr val="222222"/>
                </a:solidFill>
                <a:latin typeface="맑은 고딕"/>
              </a:rPr>
              <a:t>•  -deleteCredential: 특정 접속만 차단</a:t>
            </a:r>
          </a:p>
          <a:p>
            <a:pPr algn="l">
              <a:spcAft>
                <a:spcPts val="1000"/>
              </a:spcAft>
            </a:pPr>
            <a:r>
              <a:rPr sz="1700" b="0">
                <a:solidFill>
                  <a:srgbClr val="222222"/>
                </a:solidFill>
                <a:latin typeface="맑은 고딕"/>
              </a:rPr>
              <a:t>•  -viewEntry: 저장 비밀번호가 평문으로 보인다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비대화식 입력의 함정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자동화 스크립트에 지갑 비밀번호가 남는다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원본 자료는 히어 문서로 지갑 비밀번호 입력</a:t>
            </a:r>
          </a:p>
          <a:p>
            <a:pPr algn="l">
              <a:spcAft>
                <a:spcPts val="1000"/>
              </a:spcAft>
            </a:pPr>
            <a:r>
              <a:rPr sz="1700" b="0">
                <a:solidFill>
                  <a:srgbClr val="222222"/>
                </a:solidFill>
                <a:latin typeface="맑은 고딕"/>
              </a:rPr>
              <a:t>•  그 스크립트 파일에 지갑 비밀번호가 평문으로</a:t>
            </a:r>
          </a:p>
          <a:p>
            <a:pPr algn="l">
              <a:spcAft>
                <a:spcPts val="1000"/>
              </a:spcAft>
            </a:pPr>
            <a:r>
              <a:rPr sz="1700" b="0">
                <a:solidFill>
                  <a:srgbClr val="222222"/>
                </a:solidFill>
                <a:latin typeface="맑은 고딕"/>
              </a:rPr>
              <a:t>•  운영에서는 사람이 대화식으로 등록</a:t>
            </a:r>
          </a:p>
          <a:p>
            <a:pPr algn="l">
              <a:spcAft>
                <a:spcPts val="1000"/>
              </a:spcAft>
            </a:pPr>
            <a:r>
              <a:rPr sz="1700" b="0">
                <a:solidFill>
                  <a:srgbClr val="222222"/>
                </a:solidFill>
                <a:latin typeface="맑은 고딕"/>
              </a:rPr>
              <a:t>•  작업 후 셸 히스토리 확인</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클라이언트 구성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sqlnet.ora와 tnsnames.ora</a:t>
            </a:r>
          </a:p>
          <a:p>
            <a:pPr algn="l">
              <a:spcAft>
                <a:spcPts val="800"/>
              </a:spcAft>
            </a:pPr>
            <a:r>
              <a:rPr sz="1600" b="0">
                <a:solidFill>
                  <a:srgbClr val="FFFFFF"/>
                </a:solidFill>
                <a:latin typeface="맑은 고딕"/>
              </a:rPr>
              <a:t>•  TNS_ADMIN으로 구성 분리</a:t>
            </a:r>
          </a:p>
          <a:p>
            <a:pPr algn="l">
              <a:spcAft>
                <a:spcPts val="800"/>
              </a:spcAft>
            </a:pPr>
            <a:r>
              <a:rPr sz="1600" b="0">
                <a:solidFill>
                  <a:srgbClr val="FFFFFF"/>
                </a:solidFill>
                <a:latin typeface="맑은 고딕"/>
              </a:rPr>
              <a:t>•  접속과 확인</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sqlnet.ora</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줄이 모두 있어야 지갑을 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WALLET_LOCATION: 지갑 디렉터리</a:t>
            </a:r>
          </a:p>
          <a:p>
            <a:pPr algn="l">
              <a:spcAft>
                <a:spcPts val="1000"/>
              </a:spcAft>
            </a:pPr>
            <a:r>
              <a:rPr sz="1700" b="0">
                <a:solidFill>
                  <a:srgbClr val="222222"/>
                </a:solidFill>
                <a:latin typeface="맑은 고딕"/>
              </a:rPr>
              <a:t>•  SQLNET.WALLET_OVERRIDE = TRUE</a:t>
            </a:r>
          </a:p>
          <a:p>
            <a:pPr algn="l">
              <a:spcAft>
                <a:spcPts val="1000"/>
              </a:spcAft>
            </a:pPr>
            <a:r>
              <a:rPr sz="1700" b="0">
                <a:solidFill>
                  <a:srgbClr val="222222"/>
                </a:solidFill>
                <a:latin typeface="맑은 고딕"/>
              </a:rPr>
              <a:t>•  WALLET_OVERRIDE 기본값은 FALSE</a:t>
            </a:r>
          </a:p>
          <a:p>
            <a:pPr algn="l">
              <a:spcAft>
                <a:spcPts val="1000"/>
              </a:spcAft>
            </a:pPr>
            <a:r>
              <a:rPr sz="1700" b="0">
                <a:solidFill>
                  <a:srgbClr val="222222"/>
                </a:solidFill>
                <a:latin typeface="맑은 고딕"/>
              </a:rPr>
              <a:t>•  서버 sqlnet.ora에는 WALLET_OVERRIDE를 두지 않는다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원본 sqlnet.ora 읽기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SEPS에 필요 없는 줄이 섞여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SSL_CLIENT_AUTHENTICATION = FALSE</a:t>
            </a:r>
          </a:p>
          <a:p>
            <a:pPr algn="l">
              <a:spcAft>
                <a:spcPts val="1000"/>
              </a:spcAft>
            </a:pPr>
            <a:r>
              <a:rPr sz="1700" b="0">
                <a:solidFill>
                  <a:srgbClr val="222222"/>
                </a:solidFill>
                <a:latin typeface="맑은 고딕"/>
              </a:rPr>
              <a:t>•  SSL_VERSION = 0</a:t>
            </a:r>
          </a:p>
          <a:p>
            <a:pPr algn="l">
              <a:spcAft>
                <a:spcPts val="1000"/>
              </a:spcAft>
            </a:pPr>
            <a:r>
              <a:rPr sz="1700" b="0">
                <a:solidFill>
                  <a:srgbClr val="222222"/>
                </a:solidFill>
                <a:latin typeface="맑은 고딕"/>
              </a:rPr>
              <a:t>•  TLS 예제에서 옮겨 온 줄, TCP 접속에는 영향 없음</a:t>
            </a:r>
          </a:p>
          <a:p>
            <a:pPr algn="l">
              <a:spcAft>
                <a:spcPts val="1000"/>
              </a:spcAft>
            </a:pPr>
            <a:r>
              <a:rPr sz="1700" b="0">
                <a:solidFill>
                  <a:srgbClr val="222222"/>
                </a:solidFill>
                <a:latin typeface="맑은 고딕"/>
              </a:rPr>
              <a:t>•  SEPS 전용 파일에는 필요한 두 줄만</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tnsnames 별칭과 TNS_ADMIN</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주소는 별칭이, 계정은 지갑이 정한다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자격 증명의 키는 보통 tnsnames 별칭</a:t>
            </a:r>
          </a:p>
          <a:p>
            <a:pPr algn="l">
              <a:spcAft>
                <a:spcPts val="1000"/>
              </a:spcAft>
            </a:pPr>
            <a:r>
              <a:rPr sz="1700" b="0">
                <a:solidFill>
                  <a:srgbClr val="222222"/>
                </a:solidFill>
                <a:latin typeface="맑은 고딕"/>
              </a:rPr>
              <a:t>•  별칭이 없으면 ORA-12154</a:t>
            </a:r>
          </a:p>
          <a:p>
            <a:pPr algn="l">
              <a:spcAft>
                <a:spcPts val="1000"/>
              </a:spcAft>
            </a:pPr>
            <a:r>
              <a:rPr sz="1700" b="0">
                <a:solidFill>
                  <a:srgbClr val="222222"/>
                </a:solidFill>
                <a:latin typeface="맑은 고딕"/>
              </a:rPr>
              <a:t>•  별도 디렉터리 + export TNS_ADMIN</a:t>
            </a:r>
          </a:p>
          <a:p>
            <a:pPr algn="l">
              <a:spcAft>
                <a:spcPts val="1000"/>
              </a:spcAft>
            </a:pPr>
            <a:r>
              <a:rPr sz="1700" b="0">
                <a:solidFill>
                  <a:srgbClr val="222222"/>
                </a:solidFill>
                <a:latin typeface="맑은 고딕"/>
              </a:rPr>
              <a:t>•  기존 별칭이 필요하면 새 파일로 옮긴다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크론에서만 실패하는 이유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로그인 셸을 거치지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터미널: .bash_profile이 TNS_ADMIN 설정</a:t>
            </a:r>
          </a:p>
          <a:p>
            <a:pPr algn="l">
              <a:spcAft>
                <a:spcPts val="1000"/>
              </a:spcAft>
            </a:pPr>
            <a:r>
              <a:rPr sz="1700" b="0">
                <a:solidFill>
                  <a:srgbClr val="222222"/>
                </a:solidFill>
                <a:latin typeface="맑은 고딕"/>
              </a:rPr>
              <a:t>•  크론: TNS_ADMIN이 비어 공용 tnsnames.ora를 읽음</a:t>
            </a:r>
          </a:p>
          <a:p>
            <a:pPr algn="l">
              <a:spcAft>
                <a:spcPts val="1000"/>
              </a:spcAft>
            </a:pPr>
            <a:r>
              <a:rPr sz="1700" b="0">
                <a:solidFill>
                  <a:srgbClr val="222222"/>
                </a:solidFill>
                <a:latin typeface="맑은 고딕"/>
              </a:rPr>
              <a:t>•  결과는 ORA-12154</a:t>
            </a:r>
          </a:p>
          <a:p>
            <a:pPr algn="l">
              <a:spcAft>
                <a:spcPts val="1000"/>
              </a:spcAft>
            </a:pPr>
            <a:r>
              <a:rPr sz="1700" b="0">
                <a:solidFill>
                  <a:srgbClr val="222222"/>
                </a:solidFill>
                <a:latin typeface="맑은 고딕"/>
              </a:rPr>
              <a:t>•  스크립트 첫 줄에 export TNS_ADMIN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접속과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서버에서는 일반 비밀번호 로그인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export TNS_ADMIN 후 sqlplus /@seps_app</a:t>
            </a:r>
          </a:p>
          <a:p>
            <a:pPr algn="l">
              <a:spcAft>
                <a:spcPts val="1000"/>
              </a:spcAft>
            </a:pPr>
            <a:r>
              <a:rPr sz="1700" b="0">
                <a:solidFill>
                  <a:srgbClr val="222222"/>
                </a:solidFill>
                <a:latin typeface="맑은 고딕"/>
              </a:rPr>
              <a:t>•  SHOW USER, SESSION_USER로 계정 확인</a:t>
            </a:r>
          </a:p>
          <a:p>
            <a:pPr algn="l">
              <a:spcAft>
                <a:spcPts val="1000"/>
              </a:spcAft>
            </a:pPr>
            <a:r>
              <a:rPr sz="1700" b="0">
                <a:solidFill>
                  <a:srgbClr val="222222"/>
                </a:solidFill>
                <a:latin typeface="맑은 고딕"/>
              </a:rPr>
              <a:t>•  AUTHENTICATION_METHOD는 PASSWORD</a:t>
            </a:r>
          </a:p>
          <a:p>
            <a:pPr algn="l">
              <a:spcAft>
                <a:spcPts val="1000"/>
              </a:spcAft>
            </a:pPr>
            <a:r>
              <a:rPr sz="1700" b="0">
                <a:solidFill>
                  <a:srgbClr val="222222"/>
                </a:solidFill>
                <a:latin typeface="맑은 고딕"/>
              </a:rPr>
              <a:t>•  서버 쪽에서 SEPS 사용 여부는 구분 불가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자격 증명 설계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접속 문자열 하나에 자격 증명 하나</a:t>
            </a:r>
          </a:p>
          <a:p>
            <a:pPr algn="l">
              <a:spcAft>
                <a:spcPts val="800"/>
              </a:spcAft>
            </a:pPr>
            <a:r>
              <a:rPr sz="1600" b="0">
                <a:solidFill>
                  <a:srgbClr val="FFFFFF"/>
                </a:solidFill>
                <a:latin typeface="맑은 고딕"/>
              </a:rPr>
              <a:t>•  프록시 자격 증명</a:t>
            </a:r>
          </a:p>
          <a:p>
            <a:pPr algn="l">
              <a:spcAft>
                <a:spcPts val="800"/>
              </a:spcAft>
            </a:pPr>
            <a:r>
              <a:rPr sz="1600" b="0">
                <a:solidFill>
                  <a:srgbClr val="FFFFFF"/>
                </a:solidFill>
                <a:latin typeface="맑은 고딕"/>
              </a:rPr>
              <a:t>•  비밀번호 변경과 계정 잠금</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접속 문자열 하나에 자격 증명 하나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계정마다 별칭을 만든다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같은 접속 문자열에 두 계정을 둘 수 없다</a:t>
            </a:r>
          </a:p>
          <a:p>
            <a:pPr algn="l">
              <a:spcAft>
                <a:spcPts val="1000"/>
              </a:spcAft>
            </a:pPr>
            <a:r>
              <a:rPr sz="1700" b="0">
                <a:solidFill>
                  <a:srgbClr val="222222"/>
                </a:solidFill>
                <a:latin typeface="맑은 고딕"/>
              </a:rPr>
              <a:t>•  seps_app, seps_rpt 별칭이 같은 orcl을 가리킴</a:t>
            </a:r>
          </a:p>
          <a:p>
            <a:pPr algn="l">
              <a:spcAft>
                <a:spcPts val="1000"/>
              </a:spcAft>
            </a:pPr>
            <a:r>
              <a:rPr sz="1700" b="0">
                <a:solidFill>
                  <a:srgbClr val="222222"/>
                </a:solidFill>
                <a:latin typeface="맑은 고딕"/>
              </a:rPr>
              <a:t>•  중복 등록은 거부된다</a:t>
            </a:r>
          </a:p>
          <a:p>
            <a:pPr algn="l">
              <a:spcAft>
                <a:spcPts val="1000"/>
              </a:spcAft>
            </a:pPr>
            <a:r>
              <a:rPr sz="1700" b="0">
                <a:solidFill>
                  <a:srgbClr val="222222"/>
                </a:solidFill>
                <a:latin typeface="맑은 고딕"/>
              </a:rPr>
              <a:t>•  계정 변경은 삭제 후 등록</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프록시 자격 증명</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프록시 계정 하나의 비밀번호만 관리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사용자 이름 자리에 seps_app[seps_rpt]</a:t>
            </a:r>
          </a:p>
          <a:p>
            <a:pPr algn="l">
              <a:spcAft>
                <a:spcPts val="1000"/>
              </a:spcAft>
            </a:pPr>
            <a:r>
              <a:rPr sz="1700" b="0">
                <a:solidFill>
                  <a:srgbClr val="222222"/>
                </a:solidFill>
                <a:latin typeface="맑은 고딕"/>
              </a:rPr>
              <a:t>•  저장 비밀번호는 프록시 사용자의 것</a:t>
            </a:r>
          </a:p>
          <a:p>
            <a:pPr algn="l">
              <a:spcAft>
                <a:spcPts val="1000"/>
              </a:spcAft>
            </a:pPr>
            <a:r>
              <a:rPr sz="1700" b="0">
                <a:solidFill>
                  <a:srgbClr val="222222"/>
                </a:solidFill>
                <a:latin typeface="맑은 고딕"/>
              </a:rPr>
              <a:t>•  CONNECT THROUGH 권한이 없으면 실패</a:t>
            </a:r>
          </a:p>
          <a:p>
            <a:pPr algn="l">
              <a:spcAft>
                <a:spcPts val="1000"/>
              </a:spcAft>
            </a:pPr>
            <a:r>
              <a:rPr sz="1700" b="0">
                <a:solidFill>
                  <a:srgbClr val="222222"/>
                </a:solidFill>
                <a:latin typeface="맑은 고딕"/>
              </a:rPr>
              <a:t>•  프록시 구성 자체는 2장</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비밀번호 변경과 계정 잠금</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DB만 바꾸면 배치가 계정을 잠근다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지갑의 비밀번호는 저절로 바뀌지 않는다</a:t>
            </a:r>
          </a:p>
          <a:p>
            <a:pPr algn="l">
              <a:spcAft>
                <a:spcPts val="1000"/>
              </a:spcAft>
            </a:pPr>
            <a:r>
              <a:rPr sz="1700" b="0">
                <a:solidFill>
                  <a:srgbClr val="222222"/>
                </a:solidFill>
                <a:latin typeface="맑은 고딕"/>
              </a:rPr>
              <a:t>•  다음 접속부터 ORA-01017</a:t>
            </a:r>
          </a:p>
          <a:p>
            <a:pPr algn="l">
              <a:spcAft>
                <a:spcPts val="1000"/>
              </a:spcAft>
            </a:pPr>
            <a:r>
              <a:rPr sz="1700" b="0">
                <a:solidFill>
                  <a:srgbClr val="222222"/>
                </a:solidFill>
                <a:latin typeface="맑은 고딕"/>
              </a:rPr>
              <a:t>•  재시도가 쌓이면 FAILED_LOGIN_ATTEMPTS 초과</a:t>
            </a:r>
          </a:p>
          <a:p>
            <a:pPr algn="l">
              <a:spcAft>
                <a:spcPts val="1000"/>
              </a:spcAft>
            </a:pPr>
            <a:r>
              <a:rPr sz="1700" b="0">
                <a:solidFill>
                  <a:srgbClr val="222222"/>
                </a:solidFill>
                <a:latin typeface="맑은 고딕"/>
              </a:rPr>
              <a:t>•  변경 → modifyCredential → 접속 확인을 한 묶음으로</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계정 분리 전략</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지갑 하나에 모든 계정을 넣지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애플리케이션, 보고서, 백업, 모니터링 계정 분리</a:t>
            </a:r>
          </a:p>
          <a:p>
            <a:pPr algn="l">
              <a:spcAft>
                <a:spcPts val="1000"/>
              </a:spcAft>
            </a:pPr>
            <a:r>
              <a:rPr sz="1700" b="0">
                <a:solidFill>
                  <a:srgbClr val="222222"/>
                </a:solidFill>
                <a:latin typeface="맑은 고딕"/>
              </a:rPr>
              <a:t>•  스키마 소유자 계정은 지갑에 넣지 않는다</a:t>
            </a:r>
          </a:p>
          <a:p>
            <a:pPr algn="l">
              <a:spcAft>
                <a:spcPts val="1000"/>
              </a:spcAft>
            </a:pPr>
            <a:r>
              <a:rPr sz="1700" b="0">
                <a:solidFill>
                  <a:srgbClr val="222222"/>
                </a:solidFill>
                <a:latin typeface="맑은 고딕"/>
              </a:rPr>
              <a:t>•  용도별 지갑, 용도별 OS 사용자</a:t>
            </a:r>
          </a:p>
          <a:p>
            <a:pPr algn="l">
              <a:spcAft>
                <a:spcPts val="1000"/>
              </a:spcAft>
            </a:pPr>
            <a:r>
              <a:rPr sz="1700" b="0">
                <a:solidFill>
                  <a:srgbClr val="222222"/>
                </a:solidFill>
                <a:latin typeface="맑은 고딕"/>
              </a:rPr>
              <a:t>•  유출 시 피해를 그 용도에 가둔다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활용</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배치와 유틸리티</a:t>
            </a:r>
          </a:p>
          <a:p>
            <a:pPr algn="l">
              <a:spcAft>
                <a:spcPts val="800"/>
              </a:spcAft>
            </a:pPr>
            <a:r>
              <a:rPr sz="1600" b="0">
                <a:solidFill>
                  <a:srgbClr val="FFFFFF"/>
                </a:solidFill>
                <a:latin typeface="맑은 고딕"/>
              </a:rPr>
              <a:t>•  관리자 접속과 애플리케이션 서버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배치와 유틸리티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OCI 기반 도구는 모두 /@별칭</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SQL*Plus, Data Pump, SQL*Loader, RMAN</a:t>
            </a:r>
          </a:p>
          <a:p>
            <a:pPr algn="l">
              <a:spcAft>
                <a:spcPts val="1000"/>
              </a:spcAft>
            </a:pPr>
            <a:r>
              <a:rPr sz="1700" b="0">
                <a:solidFill>
                  <a:srgbClr val="222222"/>
                </a:solidFill>
                <a:latin typeface="맑은 고딕"/>
              </a:rPr>
              <a:t>•  expdp /@seps_app tables=...</a:t>
            </a:r>
          </a:p>
          <a:p>
            <a:pPr algn="l">
              <a:spcAft>
                <a:spcPts val="1000"/>
              </a:spcAft>
            </a:pPr>
            <a:r>
              <a:rPr sz="1700" b="0">
                <a:solidFill>
                  <a:srgbClr val="222222"/>
                </a:solidFill>
                <a:latin typeface="맑은 고딕"/>
              </a:rPr>
              <a:t>•  작업과 마스터 테이블은 지갑 계정 소유</a:t>
            </a:r>
          </a:p>
          <a:p>
            <a:pPr algn="l">
              <a:spcAft>
                <a:spcPts val="1000"/>
              </a:spcAft>
            </a:pPr>
            <a:r>
              <a:rPr sz="1700" b="0">
                <a:solidFill>
                  <a:srgbClr val="222222"/>
                </a:solidFill>
                <a:latin typeface="맑은 고딕"/>
              </a:rPr>
              <a:t>•  JDBC Thin은 드라이버 쪽 지갑 설정이 따로 필요</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관리자 접속과 애플리케이션 서버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SYS 비밀번호를 지갑에 넣지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/@별칭 AS SYSDBA도 가능</a:t>
            </a:r>
          </a:p>
          <a:p>
            <a:pPr algn="l">
              <a:spcAft>
                <a:spcPts val="1000"/>
              </a:spcAft>
            </a:pPr>
            <a:r>
              <a:rPr sz="1700" b="0">
                <a:solidFill>
                  <a:srgbClr val="222222"/>
                </a:solidFill>
                <a:latin typeface="맑은 고딕"/>
              </a:rPr>
              <a:t>•  지갑 파일 하나가 DB 전체 권한이 된다</a:t>
            </a:r>
          </a:p>
          <a:p>
            <a:pPr algn="l">
              <a:spcAft>
                <a:spcPts val="1000"/>
              </a:spcAft>
            </a:pPr>
            <a:r>
              <a:rPr sz="1700" b="0">
                <a:solidFill>
                  <a:srgbClr val="222222"/>
                </a:solidFill>
                <a:latin typeface="맑은 고딕"/>
              </a:rPr>
              <a:t>•  SYSBACKUP 등 작업별 관리 권한 계정 사용</a:t>
            </a:r>
          </a:p>
          <a:p>
            <a:pPr algn="l">
              <a:spcAft>
                <a:spcPts val="1000"/>
              </a:spcAft>
            </a:pPr>
            <a:r>
              <a:rPr sz="1700" b="0">
                <a:solidFill>
                  <a:srgbClr val="222222"/>
                </a:solidFill>
                <a:latin typeface="맑은 고딕"/>
              </a:rPr>
              <a:t>•  연결 풀은 시작 시 지갑을 읽는다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설계와 적용 절차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계정 결정부터 스크립트 정리까지 8단계</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적용 절차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비밀번호 제거와 교체로 마무리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계정·OS 사용자 결정 → 디렉터리 권한</a:t>
            </a:r>
          </a:p>
          <a:p>
            <a:pPr algn="l">
              <a:spcAft>
                <a:spcPts val="1000"/>
              </a:spcAft>
            </a:pPr>
            <a:r>
              <a:rPr sz="1700" b="0">
                <a:solidFill>
                  <a:srgbClr val="222222"/>
                </a:solidFill>
                <a:latin typeface="맑은 고딕"/>
              </a:rPr>
              <a:t>•  지갑 생성 → TNS_ADMIN 구성 → 자격 증명 등록</a:t>
            </a:r>
          </a:p>
          <a:p>
            <a:pPr algn="l">
              <a:spcAft>
                <a:spcPts val="1000"/>
              </a:spcAft>
            </a:pPr>
            <a:r>
              <a:rPr sz="1700" b="0">
                <a:solidFill>
                  <a:srgbClr val="222222"/>
                </a:solidFill>
                <a:latin typeface="맑은 고딕"/>
              </a:rPr>
              <a:t>•  /@별칭 접속 시험</a:t>
            </a:r>
          </a:p>
          <a:p>
            <a:pPr algn="l">
              <a:spcAft>
                <a:spcPts val="1000"/>
              </a:spcAft>
            </a:pPr>
            <a:r>
              <a:rPr sz="1700" b="0">
                <a:solidFill>
                  <a:srgbClr val="222222"/>
                </a:solidFill>
                <a:latin typeface="맑은 고딕"/>
              </a:rPr>
              <a:t>•  스크립트에서 비밀번호 제거, 비밀번호 새로 지정</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문제 해결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증상별 원인과 진단 순서</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증상별 원인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진단은 별칭 → 지갑 위치 → 자격 증명 → 계정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ORA-12154: 별칭 없음, TNS_ADMIN 다름</a:t>
            </a:r>
          </a:p>
          <a:p>
            <a:pPr algn="l">
              <a:spcAft>
                <a:spcPts val="1000"/>
              </a:spcAft>
            </a:pPr>
            <a:r>
              <a:rPr sz="1700" b="0">
                <a:solidFill>
                  <a:srgbClr val="222222"/>
                </a:solidFill>
                <a:latin typeface="맑은 고딕"/>
              </a:rPr>
              <a:t>•  ORA-01017: 저장 비밀번호 불일치, WALLET_OVERRIDE 누락</a:t>
            </a:r>
          </a:p>
          <a:p>
            <a:pPr algn="l">
              <a:spcAft>
                <a:spcPts val="1000"/>
              </a:spcAft>
            </a:pPr>
            <a:r>
              <a:rPr sz="1700" b="0">
                <a:solidFill>
                  <a:srgbClr val="222222"/>
                </a:solidFill>
                <a:latin typeface="맑은 고딕"/>
              </a:rPr>
              <a:t>•  ORA-28000: 실패 반복으로 계정 잠김</a:t>
            </a:r>
          </a:p>
          <a:p>
            <a:pPr algn="l">
              <a:spcAft>
                <a:spcPts val="1000"/>
              </a:spcAft>
            </a:pPr>
            <a:r>
              <a:rPr sz="1700" b="0">
                <a:solidFill>
                  <a:srgbClr val="222222"/>
                </a:solidFill>
                <a:latin typeface="맑은 고딕"/>
              </a:rPr>
              <a:t>•  ORA-12578: local 지갑을 다른 사용자·호스트에서 사용</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옮긴 지갑이 열리지 않는다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local auto-login은 복사본을 거부한다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서버 이관 때 지갑 디렉터리를 복사</a:t>
            </a:r>
          </a:p>
          <a:p>
            <a:pPr algn="l">
              <a:spcAft>
                <a:spcPts val="1000"/>
              </a:spcAft>
            </a:pPr>
            <a:r>
              <a:rPr sz="1700" b="0">
                <a:solidFill>
                  <a:srgbClr val="222222"/>
                </a:solidFill>
                <a:latin typeface="맑은 고딕"/>
              </a:rPr>
              <a:t>•  새 서버에서 지갑 비밀번호를 묻고 인증 실패</a:t>
            </a:r>
          </a:p>
          <a:p>
            <a:pPr algn="l">
              <a:spcAft>
                <a:spcPts val="1000"/>
              </a:spcAft>
            </a:pPr>
            <a:r>
              <a:rPr sz="1700" b="0">
                <a:solidFill>
                  <a:srgbClr val="222222"/>
                </a:solidFill>
                <a:latin typeface="맑은 고딕"/>
              </a:rPr>
              <a:t>•  local 지갑은 만든 호스트·사용자에서만 열림</a:t>
            </a:r>
          </a:p>
          <a:p>
            <a:pPr algn="l">
              <a:spcAft>
                <a:spcPts val="1000"/>
              </a:spcAft>
            </a:pPr>
            <a:r>
              <a:rPr sz="1700" b="0">
                <a:solidFill>
                  <a:srgbClr val="222222"/>
                </a:solidFill>
                <a:latin typeface="맑은 고딕"/>
              </a:rPr>
              <a:t>•  이관 체크리스트: 지갑은 새로 만든다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실패 로그인은 어떻게 남나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설정 실수는 이름 없이 남거나 아예 안 남는다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WALLET_OVERRIDE 누락: DBUSERNAME 비어 있음</a:t>
            </a:r>
          </a:p>
          <a:p>
            <a:pPr algn="l">
              <a:spcAft>
                <a:spcPts val="1000"/>
              </a:spcAft>
            </a:pPr>
            <a:r>
              <a:rPr sz="1700" b="0">
                <a:solidFill>
                  <a:srgbClr val="222222"/>
                </a:solidFill>
                <a:latin typeface="맑은 고딕"/>
              </a:rPr>
              <a:t>•  지갑의 옛 비밀번호: 계정 이름으로 기록</a:t>
            </a:r>
          </a:p>
          <a:p>
            <a:pPr algn="l">
              <a:spcAft>
                <a:spcPts val="1000"/>
              </a:spcAft>
            </a:pPr>
            <a:r>
              <a:rPr sz="1700" b="0">
                <a:solidFill>
                  <a:srgbClr val="222222"/>
                </a:solidFill>
                <a:latin typeface="맑은 고딕"/>
              </a:rPr>
              <a:t>•  자격 증명 삭제 후 실패: 기록 없음(19.3)</a:t>
            </a:r>
          </a:p>
          <a:p>
            <a:pPr algn="l">
              <a:spcAft>
                <a:spcPts val="1000"/>
              </a:spcAft>
            </a:pPr>
            <a:r>
              <a:rPr sz="1700" b="0">
                <a:solidFill>
                  <a:srgbClr val="222222"/>
                </a:solidFill>
                <a:latin typeface="맑은 고딕"/>
              </a:rPr>
              <a:t>•  프록시 권한 없음: 대상 사용자 + DBPROXY_USERNAME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1.10</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보안 강화와 관련 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지갑 밖의 통제</a:t>
            </a:r>
          </a:p>
          <a:p>
            <a:pPr algn="l">
              <a:spcAft>
                <a:spcPts val="800"/>
              </a:spcAft>
            </a:pPr>
            <a:r>
              <a:rPr sz="1600" b="0">
                <a:solidFill>
                  <a:srgbClr val="FFFFFF"/>
                </a:solidFill>
                <a:latin typeface="맑은 고딕"/>
              </a:rPr>
              <a:t>•  점검에 쓰는 뷰</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지갑 밖에서 더할 통제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지갑이 유출된 경우를 가정한다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계정 권한 최소화</a:t>
            </a:r>
          </a:p>
          <a:p>
            <a:pPr algn="l">
              <a:spcAft>
                <a:spcPts val="1000"/>
              </a:spcAft>
            </a:pPr>
            <a:r>
              <a:rPr sz="1700" b="0">
                <a:solidFill>
                  <a:srgbClr val="222222"/>
                </a:solidFill>
                <a:latin typeface="맑은 고딕"/>
              </a:rPr>
              <a:t>•  TCP.INVITED_NODES로 접속 IP 제한</a:t>
            </a:r>
          </a:p>
          <a:p>
            <a:pPr algn="l">
              <a:spcAft>
                <a:spcPts val="1000"/>
              </a:spcAft>
            </a:pPr>
            <a:r>
              <a:rPr sz="1700" b="0">
                <a:solidFill>
                  <a:srgbClr val="222222"/>
                </a:solidFill>
                <a:latin typeface="맑은 고딕"/>
              </a:rPr>
              <a:t>•  LOGON 트리거·VPD로 허용 호스트 검사</a:t>
            </a:r>
          </a:p>
          <a:p>
            <a:pPr algn="l">
              <a:spcAft>
                <a:spcPts val="1000"/>
              </a:spcAft>
            </a:pPr>
            <a:r>
              <a:rPr sz="1700" b="0">
                <a:solidFill>
                  <a:srgbClr val="222222"/>
                </a:solidFill>
                <a:latin typeface="맑은 고딕"/>
              </a:rPr>
              <a:t>•  실패 로그인 감사(13장)</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점검에 쓰는 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SEPS 전용 뷰는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DBA_USERS: 잠김·만료, PASSWORD_CHANGE_DATE</a:t>
            </a:r>
          </a:p>
          <a:p>
            <a:pPr algn="l">
              <a:spcAft>
                <a:spcPts val="1000"/>
              </a:spcAft>
            </a:pPr>
            <a:r>
              <a:rPr sz="1700" b="0">
                <a:solidFill>
                  <a:srgbClr val="222222"/>
                </a:solidFill>
                <a:latin typeface="맑은 고딕"/>
              </a:rPr>
              <a:t>•  DBA_PROFILES: FAILED_LOGIN_ATTEMPTS 등</a:t>
            </a:r>
          </a:p>
          <a:p>
            <a:pPr algn="l">
              <a:spcAft>
                <a:spcPts val="1000"/>
              </a:spcAft>
            </a:pPr>
            <a:r>
              <a:rPr sz="1700" b="0">
                <a:solidFill>
                  <a:srgbClr val="222222"/>
                </a:solidFill>
                <a:latin typeface="맑은 고딕"/>
              </a:rPr>
              <a:t>•  V$SESSION: MACHINE, PROGRAM, OSUSER</a:t>
            </a:r>
          </a:p>
          <a:p>
            <a:pPr algn="l">
              <a:spcAft>
                <a:spcPts val="1000"/>
              </a:spcAft>
            </a:pPr>
            <a:r>
              <a:rPr sz="1700" b="0">
                <a:solidFill>
                  <a:srgbClr val="222222"/>
                </a:solidFill>
                <a:latin typeface="맑은 고딕"/>
              </a:rPr>
              <a:t>•  UNIFIED_AUDIT_TRAIL: 로그인 성공·실패</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1.11</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운영 시 주의점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권한, 위치, 이관, 문서화</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운영 시 주의점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지갑 보안은 파일 권한 관리다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디렉터리 700, 파일 600, 소유자 정기 점검</a:t>
            </a:r>
          </a:p>
          <a:p>
            <a:pPr algn="l">
              <a:spcAft>
                <a:spcPts val="1000"/>
              </a:spcAft>
            </a:pPr>
            <a:r>
              <a:rPr sz="1700" b="0">
                <a:solidFill>
                  <a:srgbClr val="222222"/>
                </a:solidFill>
                <a:latin typeface="맑은 고딕"/>
              </a:rPr>
              <a:t>•  문서 루트·공유 디렉터리·저장소 밖에 둔다</a:t>
            </a:r>
          </a:p>
          <a:p>
            <a:pPr algn="l">
              <a:spcAft>
                <a:spcPts val="1000"/>
              </a:spcAft>
            </a:pPr>
            <a:r>
              <a:rPr sz="1700" b="0">
                <a:solidFill>
                  <a:srgbClr val="222222"/>
                </a:solidFill>
                <a:latin typeface="맑은 고딕"/>
              </a:rPr>
              <a:t>•  서버를 바꾸면 지갑을 새로 만든다</a:t>
            </a:r>
          </a:p>
          <a:p>
            <a:pPr algn="l">
              <a:spcAft>
                <a:spcPts val="1000"/>
              </a:spcAft>
            </a:pPr>
            <a:r>
              <a:rPr sz="1700" b="0">
                <a:solidFill>
                  <a:srgbClr val="222222"/>
                </a:solidFill>
                <a:latin typeface="맑은 고딕"/>
              </a:rPr>
              <a:t>•  퇴직·역할 변경 시 DB 계정부터 잠근다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SEPS: 클라이언트 auto-login 지갑에서 비밀번호를 꺼내 /@접속</a:t>
            </a:r>
          </a:p>
          <a:p>
            <a:pPr algn="l">
              <a:spcAft>
                <a:spcPts val="1000"/>
              </a:spcAft>
            </a:pPr>
            <a:r>
              <a:rPr sz="1600" b="0">
                <a:solidFill>
                  <a:srgbClr val="222222"/>
                </a:solidFill>
                <a:latin typeface="맑은 고딕"/>
              </a:rPr>
              <a:t>•  ewallet.p12(본체)와 cwallet.sso(auto-login), local은 복사 불가</a:t>
            </a:r>
          </a:p>
          <a:p>
            <a:pPr algn="l">
              <a:spcAft>
                <a:spcPts val="1000"/>
              </a:spcAft>
            </a:pPr>
            <a:r>
              <a:rPr sz="1600" b="0">
                <a:solidFill>
                  <a:srgbClr val="222222"/>
                </a:solidFill>
                <a:latin typeface="맑은 고딕"/>
              </a:rPr>
              <a:t>•  mkstore -create, -createCredential, -list/-modify/-deleteCredential</a:t>
            </a:r>
          </a:p>
          <a:p>
            <a:pPr algn="l">
              <a:spcAft>
                <a:spcPts val="1000"/>
              </a:spcAft>
            </a:pPr>
            <a:r>
              <a:rPr sz="1600" b="0">
                <a:solidFill>
                  <a:srgbClr val="222222"/>
                </a:solidFill>
                <a:latin typeface="맑은 고딕"/>
              </a:rPr>
              <a:t>•  WALLET_LOCATION + SQLNET.WALLET_OVERRIDE = TRUE</a:t>
            </a:r>
          </a:p>
          <a:p>
            <a:pPr algn="l">
              <a:spcAft>
                <a:spcPts val="1000"/>
              </a:spcAft>
            </a:pPr>
            <a:r>
              <a:rPr sz="1600" b="0">
                <a:solidFill>
                  <a:srgbClr val="222222"/>
                </a:solidFill>
                <a:latin typeface="맑은 고딕"/>
              </a:rPr>
              <a:t>•  자격 증명은 접속 문자열 단위, 계정마다 별칭</a:t>
            </a:r>
          </a:p>
          <a:p>
            <a:pPr algn="l">
              <a:spcAft>
                <a:spcPts val="1000"/>
              </a:spcAft>
            </a:pPr>
            <a:r>
              <a:rPr sz="1600" b="0">
                <a:solidFill>
                  <a:srgbClr val="222222"/>
                </a:solidFill>
                <a:latin typeface="맑은 고딕"/>
              </a:rPr>
              <a:t>•  DB 비밀번호 변경 시 지갑도 함께 수정</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(1)</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 /@seps_app 접속에 필요한 sqlnet.ora 설정 조합은?</a:t>
            </a:r>
          </a:p>
          <a:p>
            <a:pPr algn="l">
              <a:spcAft>
                <a:spcPts val="1000"/>
              </a:spcAft>
            </a:pPr>
            <a:r>
              <a:rPr sz="1600" b="0">
                <a:solidFill>
                  <a:srgbClr val="222222"/>
                </a:solidFill>
                <a:latin typeface="맑은 고딕"/>
              </a:rPr>
              <a:t>•  2. auto-login 지갑에 대한 옳은 설명은?</a:t>
            </a:r>
          </a:p>
          <a:p>
            <a:pPr algn="l">
              <a:spcAft>
                <a:spcPts val="1000"/>
              </a:spcAft>
            </a:pPr>
            <a:r>
              <a:rPr sz="1600" b="0">
                <a:solidFill>
                  <a:srgbClr val="222222"/>
                </a:solidFill>
                <a:latin typeface="맑은 고딕"/>
              </a:rPr>
              <a:t>•  3. 한 DB에 두 계정을 지갑으로 쓰는 올바른 구성은?</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4. ALTER USER로 비밀번호만 바꾼 뒤 배치의 결과는?</a:t>
            </a:r>
          </a:p>
          <a:p>
            <a:pPr algn="l">
              <a:spcAft>
                <a:spcPts val="1000"/>
              </a:spcAft>
            </a:pPr>
            <a:r>
              <a:rPr sz="1600" b="0">
                <a:solidFill>
                  <a:srgbClr val="222222"/>
                </a:solidFill>
                <a:latin typeface="맑은 고딕"/>
              </a:rPr>
              <a:t>•  5. 비밀번호를 대화식으로 입력하는 이유는?</a:t>
            </a:r>
          </a:p>
          <a:p>
            <a:pPr algn="l">
              <a:spcAft>
                <a:spcPts val="1000"/>
              </a:spcAft>
            </a:pPr>
            <a:r>
              <a:rPr sz="1600" b="0">
                <a:solidFill>
                  <a:srgbClr val="222222"/>
                </a:solidFill>
                <a:latin typeface="맑은 고딕"/>
              </a:rPr>
              <a:t>•  6. SEPS 서버에서 가장 먼저 점검할 보안 항목은?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지갑 생성과 자격 증명 등록: PKI-01002, -create, -createCredential</a:t>
            </a:r>
          </a:p>
          <a:p>
            <a:pPr algn="l">
              <a:spcAft>
                <a:spcPts val="1000"/>
              </a:spcAft>
            </a:pPr>
            <a:r>
              <a:rPr sz="1600" b="0">
                <a:solidFill>
                  <a:srgbClr val="222222"/>
                </a:solidFill>
                <a:latin typeface="맑은 고딕"/>
              </a:rPr>
              <a:t>•  02 클라이언트 구성과 접속: WALLET_OVERRIDE 누락, 별칭 누락</a:t>
            </a:r>
          </a:p>
          <a:p>
            <a:pPr algn="l">
              <a:spcAft>
                <a:spcPts val="1000"/>
              </a:spcAft>
            </a:pPr>
            <a:r>
              <a:rPr sz="1600" b="0">
                <a:solidFill>
                  <a:srgbClr val="222222"/>
                </a:solidFill>
                <a:latin typeface="맑은 고딕"/>
              </a:rPr>
              <a:t>•  03 자격 증명 관리: 중복 등록, 비밀번호 동기화, 실패 로그인 감사</a:t>
            </a:r>
          </a:p>
          <a:p>
            <a:pPr algn="l">
              <a:spcAft>
                <a:spcPts val="1000"/>
              </a:spcAft>
            </a:pPr>
            <a:r>
              <a:rPr sz="1600" b="0">
                <a:solidFill>
                  <a:srgbClr val="222222"/>
                </a:solidFill>
                <a:latin typeface="맑은 고딕"/>
              </a:rPr>
              <a:t>•  04 배치와 프록시: expdp, 크론 환경의 ORA-12154, 프록시 자격 증명</a:t>
            </a:r>
          </a:p>
          <a:p>
            <a:pPr algn="l">
              <a:spcAft>
                <a:spcPts val="1000"/>
              </a:spcAft>
            </a:pPr>
            <a:r>
              <a:rPr sz="1600" b="0">
                <a:solidFill>
                  <a:srgbClr val="222222"/>
                </a:solidFill>
                <a:latin typeface="맑은 고딕"/>
              </a:rPr>
              <a:t>•  05 local 지갑과 철거: 다른 OS 사용자에서 ORA-12578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
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DBMS_CRYPTO는 계산기에 가깝습니다. 데이터를 넣으면 암호문이나 해시를 돌려주지만, 그 키를 어디에 보관하고 누가 꺼낼 수 있는지는 전혀 관여하지 않습니다. 그래서 이 장의 절반은 함수 사용법이고 나머지 절반은 키를 다루는 설계 이야기입니다. 실행 권한도 기본으로 아무에게도 없어서, 실습 첫 단계에서 권한 없이 호출하면 ORA-00904가 납니다. 최신 19c 문서에 나오는 비대칭 키 함수는 실습 DB인 19.3에는 없다는 점도 함께 확인해 두면 좋습니다.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매뉴얼은 수동 암호화를 설명하기 전에 이 세 원칙부터 꺼냅니다. 권한으로 막아야 할 문제를 암호화로 해결하려 하면 키를 여러 사람에게 나눠 줘야 하는 새로운 문제가 생깁니다. 키가 DB 안에 있으면 DBA는 결국 키에 닿을 수 있으니, 관리자를 견제하려면 관리자 계정 보호와 감사가 먼저입니다. 그리고 전부 암호화하면 성능과 가용성이 떨어지는데, 매뉴얼은 이것도 보안 문제로 봅니다.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네 기능은 서로 대체재가 아니라 막는 위협이 다릅니다. 데이터 파일이나 백업이 유출되는 상황이 걱정이라면 TDE가 가장 간단합니다. 애플리케이션을 고칠 필요가 없고 키도 데이터베이스가 관리합니다. 반대로 권한 있는 사용자에게도 값을 감춰야 하거나, DB 밖으로 나가는 값을 특정 키로 보호해야 할 때 DBMS_CRYPTO가 필요해집니다. 이 구분을 먼저 잡고 들어가면 뒤의 키 관리 이야기가 왜 중요한지 자연스럽게 연결됩니다.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글자라도 문자 집합마다 바이트가 다르기 때문에 패키지는 문자열을 받지 않습니다. 호출하는 쪽이 어떤 문자 집합의 바이트로 바꿀지 정해서 RAW로 넘겨야 합니다. 실습에서 'oracle'을 그대로 넘기자 ORA-01465가 났는데, 문자열이 RAW로 암묵 변환되면서 16진수로 해석됐기 때문입니다. 더 위험한 경우는 16진수처럼 생긴 문자열입니다. 오류 없이 전혀 다른 바이트가 암호화되어 나중에야 문제가 드러납니다.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SQL*Plus에서 바로 해시를 계산해 보려다 자주 만나는 오류입니다. 패키지 명세에 선언된 상수는 PL/SQL 안에서만 이름으로 참조할 수 있어서, SELECT 문에 DBMS_CRYPTO.HASH_SH256을 쓰면 PLS-221이 납니다. 급하게 확인할 때는 숫자 4를 쓰면 되지만, 숫자가 코드 곳곳에 흩어지면 나중에 알고리즘을 바꾸기 어렵습니다. 암호 관련 호출은 한 패키지에 모으고 그 안에서 상수 이름을 쓰는 편이 유지보수에 유리합니다.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암호문은 출력 가능한 문자가 아니라 아무 값이나 될 수 있는 바이트입니다. 그래서 RAW 컬럼에 두는 것이 기본이고, 문자 컬럼에 꼭 넣어야 한다면 16진수나 Base64로 바꿔 넣습니다. 길이가 늘어나는 비용을 치르는 대신 어떤 변환을 거쳐도 값이 보존됩니다. 원본 실습처럼 바이트를 문자열로 재해석해 저장하면 같은 DB 안에서는 돌아가지만, 다른 문자 집합을 거치는 순간 일부 바이트가 물음표로 바뀝니다.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ENCRYPT의 두 번째 인자는 알고리즘, 체인, 패딩 상수를 더한 숫자입니다. 패키지에 미리 만들어 둔 스위트는 DES 계열 두 가지뿐인데, 이전 코드와 호환하려고 남겨 둔 것입니다. 새로 짜는 코드는 매뉴얼 예제처럼 AES256과 CBC, PKCS5를 더해서 씁니다. 원본 자료가 DES3_CBC_PKCS5를 쓴 것은 오래된 예제를 따른 결과라서, 이 교안에서는 실습 03부터 AES로 바꿔 진행합니다.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ECB는 블록을 하나씩 따로 암호화하기 때문에 평문에 같은 블록이 반복되면 암호문에도 같은 블록이 반복됩니다. 이미지나 정형 데이터라면 구조가 그대로 비칩니다. CBC는 앞 블록의 결과를 다음 블록에 섞어서 이런 패턴을 없애고, 첫 블록에는 IV를 섞습니다. 다른 시스템과 암호문을 주고받을 때 복호화가 안 되면 체인 모드부터 확인하는 것이 순서입니다. 이 교안의 실습은 모두 CBC를 씁니다.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03 첫 단계에서 AES256에 16바이트 키를 넣어 ORA-28234를 냈습니다. AES는 알고리즘마다 정해진 길이를 정확히 맞춰야 하고, 앞을 자르거나 뒤를 채워 주지 않습니다. 키는 반드시 RANDOMBYTES로 만들라고 매뉴얼이 못 박고 있습니다. DBMS_RANDOM은 시험용 의사 난수라 예측될 수 있기 때문입니다. 원본처럼 사람이 읽을 수 있는 문자열을 바이트로 바꿔 키로 쓰면 가능한 키의 범위가 크게 줄어듭니다.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복호화는 암호화 때와 같은 네 가지 재료가 모두 맞아야 성공합니다. 실습에서 다른 키로 복호화하자 ORA-28817이 났는데, 패딩 검사에서 어긋났기 때문입니다. 다만 잘못된 키가 우연히 패딩 검사를 통과하면 오류 없이 이상한 바이트가 나올 수 있습니다. 그래서 복호화 결과를 신뢰해야 하는 시스템은 암호문에 MAC을 붙여 두고 복호화 전에 먼저 검사합니다. 이 부분은 해시와 MAC 절에서 다시 다룹니다.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03에서 급여 24000을 IV 없이 두 번 암호화하니 결과가 글자 하나까지 같았습니다. 값은 몰라도 누가 같은 급여를 받는지는 알 수 있게 되는 셈입니다. IV를 매번 새로 만들어 넣으면 같은 값이라도 암호문이 달라집니다. 저장 테이블에서도 급여가 17000으로 같은 두 사원의 암호문이 서로 달랐습니다. IV는 키와 달리 공개해도 되므로 별도 컬럼에 두거나 암호문 앞에 붙여 저장합니다.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블록 암호는 블록 단위로 결과를 만들기 때문에 암호문 길이는 항상 16의 배수입니다. PKCS5 패딩은 남는 자리를 채우는데, 평문이 블록에 딱 맞으면 패딩만 담은 블록을 하나 더 붙입니다. 그래서 16바이트 평문이 32바이트 암호문이 되는 것을 실습에서 확인했습니다. 컬럼 크기를 정할 때는 문자 수가 아니라 바이트 수로 계산해야 하고, AL32UTF8에서는 한글 한 글자가 3바이트를 차지합니다.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RAW를 돌려주는 함수형 ENCRYPT에 CLOB을 넘기면 맞는 오버로드가 없어 PLS-00306이 납니다. LOB은 결과를 담을 LOB을 첫 인자로 넘기는 프로시저형을 씁니다. CLOB을 암호화하면 결과는 BLOB이 되고, 복호화할 때 결과 인자를 CLOB으로 주면 문자열로 돌아옵니다. 실습 05에서 5000자 CLOB이 5008바이트 BLOB이 되었고, 복호화 결과가 원본과 같다는 것까지 DBMS_LOB.COMPARE로 확인했습니다.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복호화가 실패하면 오류 메시지는 거의 항상 ORA-28817 하나라서 원인을 메시지로 구분할 수 없습니다. 그래서 순서를 정해 두고 하나씩 지워 나갑니다. 유형, 키, IV는 설계 문서와 코드로 확인하고, 저장 형태는 DUMP 함수로 바이트를 직접 봅니다. 물음표 코드인 3F가 섞여 있으면 문자 집합 변환으로 손상된 것입니다. 마지막 문자 집합 문제는 오류 없이 글자만 깨져 나오기 때문에 별도로 의심해야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해시는 길이에 상관없이 정해진 길이의 값을 만들고, 그 값에서 원래 입력을 되돌릴 수 없습니다. 실습 01에서 대소문자 하나만 다른 두 문자열의 SHA-256이 전혀 달랐습니다. 이 성질 때문에 파일이나 큰 데이터가 전송 중에 바뀌지 않았는지 확인하는 데 씁니다. 다만 누구나 같은 계산을 할 수 있어서, 데이터를 바꾼 사람이 해시도 새로 계산해 넣으면 변조를 알아챌 수 없습니다. 그 한계를 메우는 것이 다음 슬라이드의 MAC입니다.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MAC은 해시에 비밀 키를 섞어 계산합니다. 실습에서 같은 키로 두 번 계산하면 같은 값, 다른 키로 계산하면 완전히 다른 값이 나왔습니다. 키를 모르는 사람은 데이터를 바꾼 뒤 맞는 MAC을 다시 만들 수 없으므로 변조를 확실히 잡아냅니다. 암호문을 저장할 때 IV와 암호문을 합친 값에 MAC을 붙여 두면 복호화 전에 변조 여부부터 확인할 수 있습니다. 이때 MAC 키는 암호화 키와 다른 키를 써야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애플리케이션이 자체 회원 테이블에 비밀번호를 저장하면서 DBMS_CRYPTO로 암호화하는 경우가 있습니다. 복호화할 수 있다는 것은 키를 가진 누군가가 모든 사용자의 비밀번호를 볼 수 있다는 뜻입니다. 비밀번호는 확인만 하면 되므로 일방향 해시로 저장하는 것이 원칙입니다. 같은 비밀번호가 같은 해시가 되지 않도록 사용자마다 무작위 솔트를 붙여서 계산하고, 솔트는 해시와 함께 저장합니다.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매뉴얼은 키 저장을 암호화에서 가장 중요하면서 가장 어려운 부분이라고 표현합니다. 키를 만드는 단계는 RANDOMBYTES 하나로 끝나지만, 그 키가 어디를 지나가는지도 따져야 합니다. 애플리케이션이 키를 DB로 보낸다면 11장의 TLS나 네트워크 암호화가 없으면 평문으로 흘러갑니다. 키를 SQL 문에 문자열로 적으면 공유 풀의 SQL 텍스트나 감사 기록에 그대로 남는다는 점도 자주 놓치는 부분입니다.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방식 모두 장단점이 분명합니다. DB 안에 두면 백업과 함께 관리되고 접근 경로를 통제하기 쉽지만 최고 권한 계정은 결국 키에 닿습니다. OS 파일은 분리돼 보이지만 매뉴얼은 보호 수준이 OS에 좌우되어 침입자에게 더 쉬운 길이 될 수 있다고 적었습니다. 사용자가 직접 키를 갖게 하면 DBA도 볼 수 없지만 키를 잃으면 데이터도 끝입니다. 어떤 방식이든 키를 패키지 소스에 상수로 적는 것은 피해야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04의 구조입니다. 키 테이블과 패키지를 키 관리 계정이 갖고, 패키지는 정의자 권한으로 돌기 때문에 그 계정의 권한으로 키를 읽습니다. 키를 꺼내는 함수는 명세에 넣지 않아서 바깥에서는 부를 수 없습니다. 업무 계정에서 키 테이블을 직접 읽으려 하자 ORA-00942가 났고, 그래도 패키지로는 107건을 모두 암호화·복호화했습니다. 다만 복호화 함수를 실행할 수 있는 사람은 모든 값을 볼 수 있으니 그 권한 관리가 남습니다.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키는 주기적으로 바꾸는 것이 원칙인데, 저장된 데이터는 모두 복호화했다가 새 키로 다시 암호화해야 합니다. 암호문에 키 ID를 같이 저장해 두면 신규 데이터부터 새 키를 쓰고 기존 데이터는 나눠서 옮길 수 있어 업무를 멈출 필요가 없습니다. 교체가 끝났다고 이전 키를 지워 버리면 오래된 백업을 복원했을 때 읽을 수 없게 됩니다. 백업 보존 기간이 끝날 때까지 이전 키를 따로 보관해야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원본 함수는 같은 DB 안에서 107건을 모두 정상으로 암호화하고 복호화했습니다. 문제는 운영 환경으로 옮겼을 때 드러납니다. 실습 02에서 다른 문자 집합으로 변환을 한 번 왕복시키자 일부 바이트가 물음표가 되어 복호화가 실패했습니다. DBA_SOURCE를 조회하니 키 문자열이 그대로 나왔습니다. 여기에 이전 호환용 DES3와 IV 없는 구성까지 더해져, 같은 이름은 항상 같은 암호문이 됩니다.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개선 방향을 한 장에 모으면 이렇습니다. 알고리즘은 AES256과 CBC, PKCS5로 바꾸고, 키는 RANDOMBYTES로 만든 32바이트를 키 관리 스키마에 둡니다. IV는 값마다 새로 만들어 암호문 앞에 붙여서 RAW 하나로 저장하면 컬럼도 하나로 끝납니다. 문자열 변환은 문자 집합을 명시하는 함수를 써서 다른 DB로 옮겨도 같은 바이트가 나오게 합니다. 이 네 가지를 지키면 원본 함수의 문제가 모두 해소됩니다.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05에서 검색어를 같은 키로 암호화해 비교했더니 0건이 나왔습니다. 암호화할 때마다 IV가 달라지니 당연한 결과입니다. 모든 행을 복호화해서 비교하면 찾기는 하지만 실행 계획은 전체 스캔이고, 행마다 복호화 함수가 호출됩니다. 범위 검색이나 정렬은 암호문의 순서가 평문과 무관해서 방법이 없습니다. 매뉴얼이 주민등록번호 같은 값을 식별 키로 쓰지 말고 시퀀스를 쓰라고 권하는 이유가 여기에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동등 검색이 꼭 필요하면 암호문과 별도로 평문의 MAC을 저장하는 컬럼을 둡니다. 검색어의 MAC을 같은 키로 계산해 비교하면 인덱스를 탈 수 있고, 실습에서도 INDEX RANGE SCAN으로 한 행을 찾았습니다. 키 없는 해시를 쓰면 이메일이나 전화번호처럼 경우의 수가 적은 값은 모두 계산해 보는 방법으로 원문이 드러납니다. 그리고 SKING과 sking은 MAC이 다르므로 계산 전에 형태를 통일해 둬야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어떤 컬럼을 수동으로 암호화할지는 그 컬럼으로 무엇을 하는지에 달려 있습니다. 집계나 범위 검색에 쓰이는 급여 같은 값을 직접 암호화하면 모든 보고서가 전체 복호화를 거치게 됩니다. 이런 컬럼은 저장 형태 보호는 TDE에 맡기고, 누가 무엇을 보는지는 VPD나 Redaction으로 통제하는 편이 현실적입니다. 수동 암호화는 검색이 거의 없거나 동등 검색만 필요한 소수 컬럼에 집중합니다.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TDE는 데이터를 디스크에 쓸 때 암호화하고 읽을 때 자동으로 풀기 때문에, SELECT 권한이 있는 사용자에게는 평문이 그대로 보입니다. 파일이나 백업이 빠져나가는 위협에는 강하지만 권한 있는 사용자를 막지는 못합니다. DBMS_CRYPTO는 그 반대로 권한이 있어도 복호화 함수를 거치지 않으면 암호문만 보입니다. 라이선스도 다르니 상황에 따라 고르고, 필요하면 TDE 위에 특정 컬럼만 수동으로 한 번 더 암호화하는 구성도 씁니다.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보호 기능을 고를 때 이 네 질문을 순서대로 던지면 대부분 정리됩니다. 가장 흔한 요구인 파일과 백업 보호는 TDE로 끝납니다. 화면에서 일부만 보여 주면 되는 요구는 Redaction, 아예 행을 감춰야 하면 VPD가 맞습니다. DB 밖으로 나가는 값이나 특정 사용자만 키를 가져야 하는 경우가 DBMS_CRYPTO의 영역입니다. 마지막으로 검색과 집계가 필요한 컬럼이라면 수동 암호화를 다시 생각해 봐야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TDE로 암호화한 컬럼은 DBA_ENCRYPTED_COLUMNS에 나오지만, DBMS_CRYPTO로 암호화한 컬럼은 데이터 딕셔너리 어디에도 표시되지 않습니다. 그래서 점검은 권한과 소스를 뒤지는 방식이 됩니다. 실행 권한자가 여러 업무 계정에 퍼져 있다면 키를 다루는 코드도 흩어져 있을 가능성이 큽니다. 소스에서 긴 16진수 리터럴을 찾으면 키가 박혀 있는 경우가 종종 나옵니다. 이관 때 만든 임시 테이블에 평문이 남는 경우도 흔합니다.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암호문 컬럼을 추가하고 평문 컬럼을 그대로 두는 실수가 의외로 많습니다. 평문 컬럼을 지운 뒤에도 언두와 아카이브 로그, 이전 백업에는 평문이 남아 있으니 보존 정책까지 함께 봐야 합니다. 운영 데이터를 테스트 DB로 복제할 때 키까지 넘기면 테스트 담당자가 모든 값을 볼 수 있게 됩니다. 오류를 추적하려고 남긴 로그가 평문 유출 경로가 되는 경우도 많으니 로그 내용도 점검 대상입니다.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194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394960"/>
            <a:ext cx="12191695"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57200"/>
            <a:ext cx="10698480" cy="548640"/>
          </a:xfrm>
          <a:prstGeom prst="rect">
            <a:avLst/>
          </a:prstGeom>
          <a:noFill/>
        </p:spPr>
        <p:txBody>
          <a:bodyPr wrap="square">
            <a:spAutoFit/>
          </a:bodyPr>
          <a:lstStyle/>
          <a:p>
            <a:pPr algn="l">
              <a:spcAft>
                <a:spcPts val="600"/>
              </a:spcAft>
            </a:pPr>
            <a:r>
              <a:rPr sz="1600" b="1">
                <a:solidFill>
                  <a:srgbClr val="FFFFFF"/>
                </a:solidFill>
                <a:latin typeface="맑은 고딕"/>
              </a:rPr>
              <a:t>Oracle Database 19c Security 과정</a:t>
            </a:r>
          </a:p>
        </p:txBody>
      </p:sp>
      <p:sp>
        <p:nvSpPr>
          <p:cNvPr id="6" name="TextBox 5"/>
          <p:cNvSpPr txBox="1"/>
          <p:nvPr/>
        </p:nvSpPr>
        <p:spPr>
          <a:xfrm>
            <a:off x="731520" y="2377440"/>
            <a:ext cx="10698480" cy="1554480"/>
          </a:xfrm>
          <a:prstGeom prst="rect">
            <a:avLst/>
          </a:prstGeom>
          <a:noFill/>
        </p:spPr>
        <p:txBody>
          <a:bodyPr wrap="square">
            <a:spAutoFit/>
          </a:bodyPr>
          <a:lstStyle/>
          <a:p>
            <a:pPr algn="l">
              <a:spcAft>
                <a:spcPts val="600"/>
              </a:spcAft>
            </a:pPr>
            <a:r>
              <a:rPr sz="3400" b="1">
                <a:solidFill>
                  <a:srgbClr val="C0392B"/>
                </a:solidFill>
                <a:latin typeface="맑은 고딕"/>
              </a:rPr>
              <a:t>DBMS_CRYPTO를 이용한 데이터 암호화</a:t>
            </a:r>
          </a:p>
        </p:txBody>
      </p:sp>
      <p:sp>
        <p:nvSpPr>
          <p:cNvPr id="7" name="TextBox 6"/>
          <p:cNvSpPr txBox="1"/>
          <p:nvPr/>
        </p:nvSpPr>
        <p:spPr>
          <a:xfrm>
            <a:off x="731520" y="4114800"/>
            <a:ext cx="10698480" cy="1097280"/>
          </a:xfrm>
          <a:prstGeom prst="rect">
            <a:avLst/>
          </a:prstGeom>
          <a:noFill/>
        </p:spPr>
        <p:txBody>
          <a:bodyPr wrap="square">
            <a:spAutoFit/>
          </a:bodyPr>
          <a:lstStyle/>
          <a:p>
            <a:pPr algn="l">
              <a:spcAft>
                <a:spcPts val="600"/>
              </a:spcAft>
            </a:pPr>
            <a:r>
              <a:rPr sz="1500" b="0">
                <a:solidFill>
                  <a:srgbClr val="5A6672"/>
                </a:solidFill>
                <a:latin typeface="맑은 고딕"/>
              </a:rPr>
              <a:t>무엇을 암호화하고, 키를 어디에 둘 것인가</a:t>
            </a:r>
          </a:p>
        </p:txBody>
      </p:sp>
      <p:sp>
        <p:nvSpPr>
          <p:cNvPr id="8" name="TextBox 7"/>
          <p:cNvSpPr txBox="1"/>
          <p:nvPr/>
        </p:nvSpPr>
        <p:spPr>
          <a:xfrm>
            <a:off x="731520" y="5577840"/>
            <a:ext cx="10698480" cy="914400"/>
          </a:xfrm>
          <a:prstGeom prst="rect">
            <a:avLst/>
          </a:prstGeom>
          <a:noFill/>
        </p:spPr>
        <p:txBody>
          <a:bodyPr wrap="square">
            <a:spAutoFit/>
          </a:bodyPr>
          <a:lstStyle/>
          <a:p>
            <a:pPr algn="l">
              <a:spcAft>
                <a:spcPts val="600"/>
              </a:spcAft>
            </a:pPr>
            <a:r>
              <a:rPr sz="2000" b="1">
                <a:solidFill>
                  <a:srgbClr val="C0392B"/>
                </a:solidFill>
                <a:latin typeface="맑은 고딕"/>
              </a:rPr>
              <a:t>제9장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학습 목표</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DBMS_CRYPTO의 기능과 해결하지 못하는 문제를 구분한다</a:t>
            </a:r>
          </a:p>
          <a:p>
            <a:pPr algn="l">
              <a:spcAft>
                <a:spcPts val="1000"/>
              </a:spcAft>
            </a:pPr>
            <a:r>
              <a:rPr sz="1600" b="0">
                <a:solidFill>
                  <a:srgbClr val="222222"/>
                </a:solidFill>
                <a:latin typeface="맑은 고딕"/>
              </a:rPr>
              <a:t>•  문자열을 RAW로 바꾸는 이유와 변환 함수를 설명한다</a:t>
            </a:r>
          </a:p>
          <a:p>
            <a:pPr algn="l">
              <a:spcAft>
                <a:spcPts val="1000"/>
              </a:spcAft>
            </a:pPr>
            <a:r>
              <a:rPr sz="1600" b="0">
                <a:solidFill>
                  <a:srgbClr val="222222"/>
                </a:solidFill>
                <a:latin typeface="맑은 고딕"/>
              </a:rPr>
              <a:t>•  알고리즘·체인·패딩을 조합하고 키 길이를 맞춘다</a:t>
            </a:r>
          </a:p>
          <a:p>
            <a:pPr algn="l">
              <a:spcAft>
                <a:spcPts val="1000"/>
              </a:spcAft>
            </a:pPr>
            <a:r>
              <a:rPr sz="1600" b="0">
                <a:solidFill>
                  <a:srgbClr val="222222"/>
                </a:solidFill>
                <a:latin typeface="맑은 고딕"/>
              </a:rPr>
              <a:t>•  IV와 암호문 길이의 관계를 설명한다</a:t>
            </a:r>
          </a:p>
          <a:p>
            <a:pPr algn="l">
              <a:spcAft>
                <a:spcPts val="1000"/>
              </a:spcAft>
            </a:pPr>
            <a:r>
              <a:rPr sz="1600" b="0">
                <a:solidFill>
                  <a:srgbClr val="222222"/>
                </a:solidFill>
                <a:latin typeface="맑은 고딕"/>
              </a:rPr>
              <a:t>•  해시와 MAC을 용도에 맞게 고른다</a:t>
            </a:r>
          </a:p>
          <a:p>
            <a:pPr algn="l">
              <a:spcAft>
                <a:spcPts val="1000"/>
              </a:spcAft>
            </a:pPr>
            <a:r>
              <a:rPr sz="1600" b="0">
                <a:solidFill>
                  <a:srgbClr val="222222"/>
                </a:solidFill>
                <a:latin typeface="맑은 고딕"/>
              </a:rPr>
              <a:t>•  키를 분리 보관하는 구조와 검색 제약을 이해한다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Agenda</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9.2  DBMS_CRYPTO 개요</a:t>
            </a:r>
          </a:p>
          <a:p>
            <a:pPr algn="l">
              <a:spcAft>
                <a:spcPts val="1000"/>
              </a:spcAft>
            </a:pPr>
            <a:r>
              <a:rPr sz="1600" b="0">
                <a:solidFill>
                  <a:srgbClr val="222222"/>
                </a:solidFill>
                <a:latin typeface="맑은 고딕"/>
              </a:rPr>
              <a:t>•  9.3  데이터 형식 — RAW와 변환  /  9.4  암호 유형 지정</a:t>
            </a:r>
          </a:p>
          <a:p>
            <a:pPr algn="l">
              <a:spcAft>
                <a:spcPts val="1000"/>
              </a:spcAft>
            </a:pPr>
            <a:r>
              <a:rPr sz="1600" b="0">
                <a:solidFill>
                  <a:srgbClr val="222222"/>
                </a:solidFill>
                <a:latin typeface="맑은 고딕"/>
              </a:rPr>
              <a:t>•  9.5  암호화와 복호화  /  9.6  해시와 MAC</a:t>
            </a:r>
          </a:p>
          <a:p>
            <a:pPr algn="l">
              <a:spcAft>
                <a:spcPts val="1000"/>
              </a:spcAft>
            </a:pPr>
            <a:r>
              <a:rPr sz="1600" b="0">
                <a:solidFill>
                  <a:srgbClr val="222222"/>
                </a:solidFill>
                <a:latin typeface="맑은 고딕"/>
              </a:rPr>
              <a:t>•  9.7  키 관리  /  9.8  원본 실습 함수 재검토</a:t>
            </a:r>
          </a:p>
          <a:p>
            <a:pPr algn="l">
              <a:spcAft>
                <a:spcPts val="1000"/>
              </a:spcAft>
            </a:pPr>
            <a:r>
              <a:rPr sz="1600" b="0">
                <a:solidFill>
                  <a:srgbClr val="222222"/>
                </a:solidFill>
                <a:latin typeface="맑은 고딕"/>
              </a:rPr>
              <a:t>•  9.9  검색·인덱스·성능  /  9.10  TDE와 비교</a:t>
            </a:r>
          </a:p>
          <a:p>
            <a:pPr algn="l">
              <a:spcAft>
                <a:spcPts val="1000"/>
              </a:spcAft>
            </a:pPr>
            <a:r>
              <a:rPr sz="1600" b="0">
                <a:solidFill>
                  <a:srgbClr val="222222"/>
                </a:solidFill>
                <a:latin typeface="맑은 고딕"/>
              </a:rPr>
              <a:t>•  9.11  점검 항목  /  9.12  운영 시 주의점</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9.2</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DBMS_CRYPTO 개요</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패키지가 하는 일과 권한</a:t>
            </a:r>
          </a:p>
          <a:p>
            <a:pPr algn="l">
              <a:spcAft>
                <a:spcPts val="800"/>
              </a:spcAft>
            </a:pPr>
            <a:r>
              <a:rPr sz="1600" b="0">
                <a:solidFill>
                  <a:srgbClr val="FFFFFF"/>
                </a:solidFill>
                <a:latin typeface="맑은 고딕"/>
              </a:rPr>
              <a:t>•  암호화가 해결하지 못하는 세 가지</a:t>
            </a:r>
          </a:p>
          <a:p>
            <a:pPr algn="l">
              <a:spcAft>
                <a:spcPts val="800"/>
              </a:spcAft>
            </a:pPr>
            <a:r>
              <a:rPr sz="1600" b="0">
                <a:solidFill>
                  <a:srgbClr val="FFFFFF"/>
                </a:solidFill>
                <a:latin typeface="맑은 고딕"/>
              </a:rPr>
              <a:t>•  다른 보호 기능과의 위치</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DBMS_CRYPTO가 하는 일</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계산은 패키지, 키 관리는 개발자</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SYS 소유 PL/SQL 패키지, 서버에서 연산</a:t>
            </a:r>
          </a:p>
          <a:p>
            <a:pPr algn="l">
              <a:spcAft>
                <a:spcPts val="1000"/>
              </a:spcAft>
            </a:pPr>
            <a:r>
              <a:rPr sz="1700" b="0">
                <a:solidFill>
                  <a:srgbClr val="222222"/>
                </a:solidFill>
                <a:latin typeface="맑은 고딕"/>
              </a:rPr>
              <a:t>•  ENCRYPT·DECRYPT, HASH, MAC, RANDOMBYTES</a:t>
            </a:r>
          </a:p>
          <a:p>
            <a:pPr algn="l">
              <a:spcAft>
                <a:spcPts val="1000"/>
              </a:spcAft>
            </a:pPr>
            <a:r>
              <a:rPr sz="1700" b="0">
                <a:solidFill>
                  <a:srgbClr val="222222"/>
                </a:solidFill>
                <a:latin typeface="맑은 고딕"/>
              </a:rPr>
              <a:t>•  키를 만들 수는 있지만 저장·관리하지 않음</a:t>
            </a:r>
          </a:p>
          <a:p>
            <a:pPr algn="l">
              <a:spcAft>
                <a:spcPts val="1000"/>
              </a:spcAft>
            </a:pPr>
            <a:r>
              <a:rPr sz="1700" b="0">
                <a:solidFill>
                  <a:srgbClr val="222222"/>
                </a:solidFill>
                <a:latin typeface="맑은 고딕"/>
              </a:rPr>
              <a:t>•  실행 권한은 PUBLIC을 포함해 기본 0건</a:t>
            </a:r>
          </a:p>
          <a:p>
            <a:pPr algn="l">
              <a:spcAft>
                <a:spcPts val="1000"/>
              </a:spcAft>
            </a:pPr>
            <a:r>
              <a:rPr sz="1700" b="0">
                <a:solidFill>
                  <a:srgbClr val="222222"/>
                </a:solidFill>
                <a:latin typeface="맑은 고딕"/>
              </a:rPr>
              <a:t>•  19.3에는 비대칭 키 함수(PKENCRYPT 등)가 없음</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암호화가 해결하지 못하는 문제</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Security Guide의 세 원칙</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원칙 1: 접근 제어를 대신하지 못한다</a:t>
            </a:r>
          </a:p>
          <a:p>
            <a:pPr algn="l">
              <a:spcAft>
                <a:spcPts val="1000"/>
              </a:spcAft>
            </a:pPr>
            <a:r>
              <a:rPr sz="1700" b="0">
                <a:solidFill>
                  <a:srgbClr val="222222"/>
                </a:solidFill>
                <a:latin typeface="맑은 고딕"/>
              </a:rPr>
              <a:t>•  원칙 2: 악의적인 관리자를 막지 못한다</a:t>
            </a:r>
          </a:p>
          <a:p>
            <a:pPr algn="l">
              <a:spcAft>
                <a:spcPts val="1000"/>
              </a:spcAft>
            </a:pPr>
            <a:r>
              <a:rPr sz="1700" b="0">
                <a:solidFill>
                  <a:srgbClr val="222222"/>
                </a:solidFill>
                <a:latin typeface="맑은 고딕"/>
              </a:rPr>
              <a:t>•  원칙 3: 전부 암호화한다고 안전해지지 않는다</a:t>
            </a:r>
          </a:p>
          <a:p>
            <a:pPr algn="l">
              <a:spcAft>
                <a:spcPts val="1000"/>
              </a:spcAft>
            </a:pPr>
            <a:r>
              <a:rPr sz="1700" b="0">
                <a:solidFill>
                  <a:srgbClr val="222222"/>
                </a:solidFill>
                <a:latin typeface="맑은 고딕"/>
              </a:rPr>
              <a:t>•  접근 제어가 갖춰진 위에 특정 위협을 막는 도구</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보호 기능의 위치</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위협에 맞는 도구 고르기</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DBMS_CRYPTO: 고른 값을 애플리케이션이 암호화</a:t>
            </a:r>
          </a:p>
          <a:p>
            <a:pPr algn="l">
              <a:spcAft>
                <a:spcPts val="1000"/>
              </a:spcAft>
            </a:pPr>
            <a:r>
              <a:rPr sz="1700" b="0">
                <a:solidFill>
                  <a:srgbClr val="222222"/>
                </a:solidFill>
                <a:latin typeface="맑은 고딕"/>
              </a:rPr>
              <a:t>•  TDE: 디스크·백업의 저장 형태 보호, 자동 키 관리</a:t>
            </a:r>
          </a:p>
          <a:p>
            <a:pPr algn="l">
              <a:spcAft>
                <a:spcPts val="1000"/>
              </a:spcAft>
            </a:pPr>
            <a:r>
              <a:rPr sz="1700" b="0">
                <a:solidFill>
                  <a:srgbClr val="222222"/>
                </a:solidFill>
                <a:latin typeface="맑은 고딕"/>
              </a:rPr>
              <a:t>•  Redaction: 조회 결과 표시만 가림</a:t>
            </a:r>
          </a:p>
          <a:p>
            <a:pPr algn="l">
              <a:spcAft>
                <a:spcPts val="1000"/>
              </a:spcAft>
            </a:pPr>
            <a:r>
              <a:rPr sz="1700" b="0">
                <a:solidFill>
                  <a:srgbClr val="222222"/>
                </a:solidFill>
                <a:latin typeface="맑은 고딕"/>
              </a:rPr>
              <a:t>•  VPD: 행·컬럼 접근 자체를 제한</a:t>
            </a:r>
          </a:p>
          <a:p>
            <a:pPr algn="l">
              <a:spcAft>
                <a:spcPts val="1000"/>
              </a:spcAft>
            </a:pPr>
            <a:r>
              <a:rPr sz="1700" b="0">
                <a:solidFill>
                  <a:srgbClr val="222222"/>
                </a:solidFill>
                <a:latin typeface="맑은 고딕"/>
              </a:rPr>
              <a:t>•  파일·백업 유출이 목적이면 TDE가 먼저</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9.3</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데이터 형식 — RAW와 변환</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VARCHAR2를 직접 받지 않는다</a:t>
            </a:r>
          </a:p>
          <a:p>
            <a:pPr algn="l">
              <a:spcAft>
                <a:spcPts val="800"/>
              </a:spcAft>
            </a:pPr>
            <a:r>
              <a:rPr sz="1600" b="0">
                <a:solidFill>
                  <a:srgbClr val="FFFFFF"/>
                </a:solidFill>
                <a:latin typeface="맑은 고딕"/>
              </a:rPr>
              <a:t>•  SQL에서는 패키지 상수를 쓸 수 없다</a:t>
            </a:r>
          </a:p>
          <a:p>
            <a:pPr algn="l">
              <a:spcAft>
                <a:spcPts val="800"/>
              </a:spcAft>
            </a:pPr>
            <a:r>
              <a:rPr sz="1600" b="0">
                <a:solidFill>
                  <a:srgbClr val="FFFFFF"/>
                </a:solidFill>
                <a:latin typeface="맑은 고딕"/>
              </a:rPr>
              <a:t>•  암호문은 RAW에 저장한다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입력은 RAW</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문자를 바이트로 바꾸는 책임은 호출자</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암호 연산은 바이트 단위</a:t>
            </a:r>
          </a:p>
          <a:p>
            <a:pPr algn="l">
              <a:spcAft>
                <a:spcPts val="1000"/>
              </a:spcAft>
            </a:pPr>
            <a:r>
              <a:rPr sz="1700" b="0">
                <a:solidFill>
                  <a:srgbClr val="222222"/>
                </a:solidFill>
                <a:latin typeface="맑은 고딕"/>
              </a:rPr>
              <a:t>•  UTL_I18N.STRING_TO_RAW(s, 'AL32UTF8')로 변환</a:t>
            </a:r>
          </a:p>
          <a:p>
            <a:pPr algn="l">
              <a:spcAft>
                <a:spcPts val="1000"/>
              </a:spcAft>
            </a:pPr>
            <a:r>
              <a:rPr sz="1700" b="0">
                <a:solidFill>
                  <a:srgbClr val="222222"/>
                </a:solidFill>
                <a:latin typeface="맑은 고딕"/>
              </a:rPr>
              <a:t>•  그대로 넘기면 HEXTORAW 규칙 → ORA-01465</a:t>
            </a:r>
          </a:p>
          <a:p>
            <a:pPr algn="l">
              <a:spcAft>
                <a:spcPts val="1000"/>
              </a:spcAft>
            </a:pPr>
            <a:r>
              <a:rPr sz="1700" b="0">
                <a:solidFill>
                  <a:srgbClr val="222222"/>
                </a:solidFill>
                <a:latin typeface="맑은 고딕"/>
              </a:rPr>
              <a:t>•  16진수처럼 보이는 문자열은 오류 없이 엉뚱한 값</a:t>
            </a:r>
          </a:p>
          <a:p>
            <a:pPr algn="l">
              <a:spcAft>
                <a:spcPts val="1000"/>
              </a:spcAft>
            </a:pPr>
            <a:r>
              <a:rPr sz="1700" b="0">
                <a:solidFill>
                  <a:srgbClr val="222222"/>
                </a:solidFill>
                <a:latin typeface="맑은 고딕"/>
              </a:rPr>
              <a:t>•  복원은 UTL_I18N.RAW_TO_CHAR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SQL에서 패키지 상수를 쓰면</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PLS-221</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HASH_SH256 같은 상수는 PL/SQL 전용</a:t>
            </a:r>
          </a:p>
          <a:p>
            <a:pPr algn="l">
              <a:spcAft>
                <a:spcPts val="1000"/>
              </a:spcAft>
            </a:pPr>
            <a:r>
              <a:rPr sz="1700" b="0">
                <a:solidFill>
                  <a:srgbClr val="222222"/>
                </a:solidFill>
                <a:latin typeface="맑은 고딕"/>
              </a:rPr>
              <a:t>•  SQL 문에서 쓰면 ORA-06553: PLS-221</a:t>
            </a:r>
          </a:p>
          <a:p>
            <a:pPr algn="l">
              <a:spcAft>
                <a:spcPts val="1000"/>
              </a:spcAft>
            </a:pPr>
            <a:r>
              <a:rPr sz="1700" b="0">
                <a:solidFill>
                  <a:srgbClr val="222222"/>
                </a:solidFill>
                <a:latin typeface="맑은 고딕"/>
              </a:rPr>
              <a:t>•  SQL에서는 숫자 값(HASH_SH256 = 4)</a:t>
            </a:r>
          </a:p>
          <a:p>
            <a:pPr algn="l">
              <a:spcAft>
                <a:spcPts val="1000"/>
              </a:spcAft>
            </a:pPr>
            <a:r>
              <a:rPr sz="1700" b="0">
                <a:solidFill>
                  <a:srgbClr val="222222"/>
                </a:solidFill>
                <a:latin typeface="맑은 고딕"/>
              </a:rPr>
              <a:t>•  실무에서는 호출을 한 패키지에 모은다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암호문 저장 형태</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RAW, 아니면 HEX·Base64</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암호문은 임의 바이트열 → RAW·BLOB 컬럼</a:t>
            </a:r>
          </a:p>
          <a:p>
            <a:pPr algn="l">
              <a:spcAft>
                <a:spcPts val="1000"/>
              </a:spcAft>
            </a:pPr>
            <a:r>
              <a:rPr sz="1700" b="0">
                <a:solidFill>
                  <a:srgbClr val="222222"/>
                </a:solidFill>
                <a:latin typeface="맑은 고딕"/>
              </a:rPr>
              <a:t>•  문자 컬럼이 필요하면 RAWTOHEX(2배), Base64(4/3배)</a:t>
            </a:r>
          </a:p>
          <a:p>
            <a:pPr algn="l">
              <a:spcAft>
                <a:spcPts val="1000"/>
              </a:spcAft>
            </a:pPr>
            <a:r>
              <a:rPr sz="1700" b="0">
                <a:solidFill>
                  <a:srgbClr val="222222"/>
                </a:solidFill>
                <a:latin typeface="맑은 고딕"/>
              </a:rPr>
              <a:t>•  CAST_TO_VARCHAR2 저장은 같은 DB에서만 우연히 동작</a:t>
            </a:r>
          </a:p>
          <a:p>
            <a:pPr algn="l">
              <a:spcAft>
                <a:spcPts val="1000"/>
              </a:spcAft>
            </a:pPr>
            <a:r>
              <a:rPr sz="1700" b="0">
                <a:solidFill>
                  <a:srgbClr val="222222"/>
                </a:solidFill>
                <a:latin typeface="맑은 고딕"/>
              </a:rPr>
              <a:t>•  문자 집합 변환을 만나면 바이트가 바뀐다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9.4</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암호 유형 지정</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알고리즘 + 체인 + 패딩</a:t>
            </a:r>
          </a:p>
          <a:p>
            <a:pPr algn="l">
              <a:spcAft>
                <a:spcPts val="800"/>
              </a:spcAft>
            </a:pPr>
            <a:r>
              <a:rPr sz="1600" b="0">
                <a:solidFill>
                  <a:srgbClr val="FFFFFF"/>
                </a:solidFill>
                <a:latin typeface="맑은 고딕"/>
              </a:rPr>
              <a:t>•  체인 모드의 차이</a:t>
            </a:r>
          </a:p>
          <a:p>
            <a:pPr algn="l">
              <a:spcAft>
                <a:spcPts val="800"/>
              </a:spcAft>
            </a:pPr>
            <a:r>
              <a:rPr sz="1600" b="0">
                <a:solidFill>
                  <a:srgbClr val="FFFFFF"/>
                </a:solidFill>
                <a:latin typeface="맑은 고딕"/>
              </a:rPr>
              <a:t>•  키 길이와 예외</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암호 유형은 세 상수의 합</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권장: AES256 + CBC + PKCS5</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알고리즘: AES128·192·256, 3DES, DES, RC4</a:t>
            </a:r>
          </a:p>
          <a:p>
            <a:pPr algn="l">
              <a:spcAft>
                <a:spcPts val="1000"/>
              </a:spcAft>
            </a:pPr>
            <a:r>
              <a:rPr sz="1700" b="0">
                <a:solidFill>
                  <a:srgbClr val="222222"/>
                </a:solidFill>
                <a:latin typeface="맑은 고딕"/>
              </a:rPr>
              <a:t>•  체인: CBC, ECB, CFB, OFB</a:t>
            </a:r>
          </a:p>
          <a:p>
            <a:pPr algn="l">
              <a:spcAft>
                <a:spcPts val="1000"/>
              </a:spcAft>
            </a:pPr>
            <a:r>
              <a:rPr sz="1700" b="0">
                <a:solidFill>
                  <a:srgbClr val="222222"/>
                </a:solidFill>
                <a:latin typeface="맑은 고딕"/>
              </a:rPr>
              <a:t>•  패딩: PKCS5, ZERO, NONE</a:t>
            </a:r>
          </a:p>
          <a:p>
            <a:pPr algn="l">
              <a:spcAft>
                <a:spcPts val="1000"/>
              </a:spcAft>
            </a:pPr>
            <a:r>
              <a:rPr sz="1700" b="0">
                <a:solidFill>
                  <a:srgbClr val="222222"/>
                </a:solidFill>
                <a:latin typeface="맑은 고딕"/>
              </a:rPr>
              <a:t>•  미리 정의된 스위트: DES_CBC_PKCS5, DES3_CBC_PKCS5</a:t>
            </a:r>
          </a:p>
          <a:p>
            <a:pPr algn="l">
              <a:spcAft>
                <a:spcPts val="1000"/>
              </a:spcAft>
            </a:pPr>
            <a:r>
              <a:rPr sz="1700" b="0">
                <a:solidFill>
                  <a:srgbClr val="222222"/>
                </a:solidFill>
                <a:latin typeface="맑은 고딕"/>
              </a:rPr>
              <a:t>•  3DES_2KEY, DES, MD4, RC4(저장용)는 비권장</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체인 모드</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같은 평문 블록이 같은 암호문이 되는가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ECB: 블록마다 독립, 반복 패턴이 드러남</a:t>
            </a:r>
          </a:p>
          <a:p>
            <a:pPr algn="l">
              <a:spcAft>
                <a:spcPts val="1000"/>
              </a:spcAft>
            </a:pPr>
            <a:r>
              <a:rPr sz="1700" b="0">
                <a:solidFill>
                  <a:srgbClr val="222222"/>
                </a:solidFill>
                <a:latin typeface="맑은 고딕"/>
              </a:rPr>
              <a:t>•  CBC: 앞 블록 암호문과 섞음, 첫 블록은 IV</a:t>
            </a:r>
          </a:p>
          <a:p>
            <a:pPr algn="l">
              <a:spcAft>
                <a:spcPts val="1000"/>
              </a:spcAft>
            </a:pPr>
            <a:r>
              <a:rPr sz="1700" b="0">
                <a:solidFill>
                  <a:srgbClr val="222222"/>
                </a:solidFill>
                <a:latin typeface="맑은 고딕"/>
              </a:rPr>
              <a:t>•  CFB, OFB: 블록 암호를 스트림처럼 사용</a:t>
            </a:r>
          </a:p>
          <a:p>
            <a:pPr algn="l">
              <a:spcAft>
                <a:spcPts val="1000"/>
              </a:spcAft>
            </a:pPr>
            <a:r>
              <a:rPr sz="1700" b="0">
                <a:solidFill>
                  <a:srgbClr val="222222"/>
                </a:solidFill>
                <a:latin typeface="맑은 고딕"/>
              </a:rPr>
              <a:t>•  연동 시스템과 가장 먼저 맞출 항목</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키 길이와 예외</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ORA-28234 key length too short</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AES256은 정확히 32바이트 키</a:t>
            </a:r>
          </a:p>
          <a:p>
            <a:pPr algn="l">
              <a:spcAft>
                <a:spcPts val="1000"/>
              </a:spcAft>
            </a:pPr>
            <a:r>
              <a:rPr sz="1700" b="0">
                <a:solidFill>
                  <a:srgbClr val="222222"/>
                </a:solidFill>
                <a:latin typeface="맑은 고딕"/>
              </a:rPr>
              <a:t>•  16바이트 키 → ORA-28234</a:t>
            </a:r>
          </a:p>
          <a:p>
            <a:pPr algn="l">
              <a:spcAft>
                <a:spcPts val="1000"/>
              </a:spcAft>
            </a:pPr>
            <a:r>
              <a:rPr sz="1700" b="0">
                <a:solidFill>
                  <a:srgbClr val="222222"/>
                </a:solidFill>
                <a:latin typeface="맑은 고딕"/>
              </a:rPr>
              <a:t>•  키 NULL ORA-28239, 잘못된 유형 ORA-28827</a:t>
            </a:r>
          </a:p>
          <a:p>
            <a:pPr algn="l">
              <a:spcAft>
                <a:spcPts val="1000"/>
              </a:spcAft>
            </a:pPr>
            <a:r>
              <a:rPr sz="1700" b="0">
                <a:solidFill>
                  <a:srgbClr val="222222"/>
                </a:solidFill>
                <a:latin typeface="맑은 고딕"/>
              </a:rPr>
              <a:t>•  키는 RANDOMBYTES로, DBMS_RANDOM은 금지</a:t>
            </a:r>
          </a:p>
          <a:p>
            <a:pPr algn="l">
              <a:spcAft>
                <a:spcPts val="1000"/>
              </a:spcAft>
            </a:pPr>
            <a:r>
              <a:rPr sz="1700" b="0">
                <a:solidFill>
                  <a:srgbClr val="222222"/>
                </a:solidFill>
                <a:latin typeface="맑은 고딕"/>
              </a:rPr>
              <a:t>•  문자열을 키로 쓰면 키 공간이 좁아진다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9.5</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암호화와 복호화</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RAW 함수형과 IV</a:t>
            </a:r>
          </a:p>
          <a:p>
            <a:pPr algn="l">
              <a:spcAft>
                <a:spcPts val="800"/>
              </a:spcAft>
            </a:pPr>
            <a:r>
              <a:rPr sz="1600" b="0">
                <a:solidFill>
                  <a:srgbClr val="FFFFFF"/>
                </a:solidFill>
                <a:latin typeface="맑은 고딕"/>
              </a:rPr>
              <a:t>•  암호문의 길이</a:t>
            </a:r>
          </a:p>
          <a:p>
            <a:pPr algn="l">
              <a:spcAft>
                <a:spcPts val="800"/>
              </a:spcAft>
            </a:pPr>
            <a:r>
              <a:rPr sz="1600" b="0">
                <a:solidFill>
                  <a:srgbClr val="FFFFFF"/>
                </a:solidFill>
                <a:latin typeface="맑은 고딕"/>
              </a:rPr>
              <a:t>•  LOB 오버로드와 진단 순서</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RAW 함수형</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같은 typ, key, iv라야 돌아온다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ENCRYPT(src, typ, key, iv) RETURN RAW</a:t>
            </a:r>
          </a:p>
          <a:p>
            <a:pPr algn="l">
              <a:spcAft>
                <a:spcPts val="1000"/>
              </a:spcAft>
            </a:pPr>
            <a:r>
              <a:rPr sz="1700" b="0">
                <a:solidFill>
                  <a:srgbClr val="222222"/>
                </a:solidFill>
                <a:latin typeface="맑은 고딕"/>
              </a:rPr>
              <a:t>•  DECRYPT도 같은 typ·key·iv</a:t>
            </a:r>
          </a:p>
          <a:p>
            <a:pPr algn="l">
              <a:spcAft>
                <a:spcPts val="1000"/>
              </a:spcAft>
            </a:pPr>
            <a:r>
              <a:rPr sz="1700" b="0">
                <a:solidFill>
                  <a:srgbClr val="222222"/>
                </a:solidFill>
                <a:latin typeface="맑은 고딕"/>
              </a:rPr>
              <a:t>•  하나라도 다르면 대개 ORA-28817</a:t>
            </a:r>
          </a:p>
          <a:p>
            <a:pPr algn="l">
              <a:spcAft>
                <a:spcPts val="1000"/>
              </a:spcAft>
            </a:pPr>
            <a:r>
              <a:rPr sz="1700" b="0">
                <a:solidFill>
                  <a:srgbClr val="222222"/>
                </a:solidFill>
                <a:latin typeface="맑은 고딕"/>
              </a:rPr>
              <a:t>•  오류 없이 엉뚱한 값이 나올 수도 있다</a:t>
            </a:r>
          </a:p>
          <a:p>
            <a:pPr algn="l">
              <a:spcAft>
                <a:spcPts val="1000"/>
              </a:spcAft>
            </a:pPr>
            <a:r>
              <a:rPr sz="1700" b="0">
                <a:solidFill>
                  <a:srgbClr val="222222"/>
                </a:solidFill>
                <a:latin typeface="맑은 고딕"/>
              </a:rPr>
              <a:t>•  결과를 믿어야 하면 MAC으로 검증</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초기화 벡터(IV)</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같은 평문이 같은 암호문이 되지 않게</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IV 없으면 같은 키·평문 → 같은 암호문</a:t>
            </a:r>
          </a:p>
          <a:p>
            <a:pPr algn="l">
              <a:spcAft>
                <a:spcPts val="1000"/>
              </a:spcAft>
            </a:pPr>
            <a:r>
              <a:rPr sz="1700" b="0">
                <a:solidFill>
                  <a:srgbClr val="222222"/>
                </a:solidFill>
                <a:latin typeface="맑은 고딕"/>
              </a:rPr>
              <a:t>•  급여가 같은 사원끼리 묶여 버린다</a:t>
            </a:r>
          </a:p>
          <a:p>
            <a:pPr algn="l">
              <a:spcAft>
                <a:spcPts val="1000"/>
              </a:spcAft>
            </a:pPr>
            <a:r>
              <a:rPr sz="1700" b="0">
                <a:solidFill>
                  <a:srgbClr val="222222"/>
                </a:solidFill>
                <a:latin typeface="맑은 고딕"/>
              </a:rPr>
              <a:t>•  값마다 RANDOMBYTES(16)로 새 IV</a:t>
            </a:r>
          </a:p>
          <a:p>
            <a:pPr algn="l">
              <a:spcAft>
                <a:spcPts val="1000"/>
              </a:spcAft>
            </a:pPr>
            <a:r>
              <a:rPr sz="1700" b="0">
                <a:solidFill>
                  <a:srgbClr val="222222"/>
                </a:solidFill>
                <a:latin typeface="맑은 고딕"/>
              </a:rPr>
              <a:t>•  IV는 비밀이 아니다, 암호문과 함께 저장</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암호문의 길이</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PKCS5는 블록을 채우고, 딱 맞으면 한 블록 더</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AES 블록 16바이트</a:t>
            </a:r>
          </a:p>
          <a:p>
            <a:pPr algn="l">
              <a:spcAft>
                <a:spcPts val="1000"/>
              </a:spcAft>
            </a:pPr>
            <a:r>
              <a:rPr sz="1700" b="0">
                <a:solidFill>
                  <a:srgbClr val="222222"/>
                </a:solidFill>
                <a:latin typeface="맑은 고딕"/>
              </a:rPr>
              <a:t>•  4·15바이트 평문 → 16바이트</a:t>
            </a:r>
          </a:p>
          <a:p>
            <a:pPr algn="l">
              <a:spcAft>
                <a:spcPts val="1000"/>
              </a:spcAft>
            </a:pPr>
            <a:r>
              <a:rPr sz="1700" b="0">
                <a:solidFill>
                  <a:srgbClr val="222222"/>
                </a:solidFill>
                <a:latin typeface="맑은 고딕"/>
              </a:rPr>
              <a:t>•  16바이트 평문 → 32바이트</a:t>
            </a:r>
          </a:p>
          <a:p>
            <a:pPr algn="l">
              <a:spcAft>
                <a:spcPts val="1000"/>
              </a:spcAft>
            </a:pPr>
            <a:r>
              <a:rPr sz="1700" b="0">
                <a:solidFill>
                  <a:srgbClr val="222222"/>
                </a:solidFill>
                <a:latin typeface="맑은 고딕"/>
              </a:rPr>
              <a:t>•  컬럼 크기는 평문 바이트 기준(한글 3바이트)</a:t>
            </a:r>
          </a:p>
          <a:p>
            <a:pPr algn="l">
              <a:spcAft>
                <a:spcPts val="1000"/>
              </a:spcAft>
            </a:pPr>
            <a:r>
              <a:rPr sz="1700" b="0">
                <a:solidFill>
                  <a:srgbClr val="222222"/>
                </a:solidFill>
                <a:latin typeface="맑은 고딕"/>
              </a:rPr>
              <a:t>•  IV를 붙이면 16바이트 추가</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LOB 오버로드</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BLOB·CLOB은 프로시저형</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함수형에 CLOB → PLS-00306</a:t>
            </a:r>
          </a:p>
          <a:p>
            <a:pPr algn="l">
              <a:spcAft>
                <a:spcPts val="1000"/>
              </a:spcAft>
            </a:pPr>
            <a:r>
              <a:rPr sz="1700" b="0">
                <a:solidFill>
                  <a:srgbClr val="222222"/>
                </a:solidFill>
                <a:latin typeface="맑은 고딕"/>
              </a:rPr>
              <a:t>•  ENCRYPT(dst BLOB, src CLOB, typ, key)</a:t>
            </a:r>
          </a:p>
          <a:p>
            <a:pPr algn="l">
              <a:spcAft>
                <a:spcPts val="1000"/>
              </a:spcAft>
            </a:pPr>
            <a:r>
              <a:rPr sz="1700" b="0">
                <a:solidFill>
                  <a:srgbClr val="222222"/>
                </a:solidFill>
                <a:latin typeface="맑은 고딕"/>
              </a:rPr>
              <a:t>•  DECRYPT(dst CLOB, src BLOB, typ, key)</a:t>
            </a:r>
          </a:p>
          <a:p>
            <a:pPr algn="l">
              <a:spcAft>
                <a:spcPts val="1000"/>
              </a:spcAft>
            </a:pPr>
            <a:r>
              <a:rPr sz="1700" b="0">
                <a:solidFill>
                  <a:srgbClr val="222222"/>
                </a:solidFill>
                <a:latin typeface="맑은 고딕"/>
              </a:rPr>
              <a:t>•  dst는 덮어쓴다, 임시 LOB 준비</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복호화 실패 진단 순서</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대부분 ORA-28817로 보인다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1 암호 유형(체인·패딩) 일치</a:t>
            </a:r>
          </a:p>
          <a:p>
            <a:pPr algn="l">
              <a:spcAft>
                <a:spcPts val="1000"/>
              </a:spcAft>
            </a:pPr>
            <a:r>
              <a:rPr sz="1700" b="0">
                <a:solidFill>
                  <a:srgbClr val="222222"/>
                </a:solidFill>
                <a:latin typeface="맑은 고딕"/>
              </a:rPr>
              <a:t>•  2 키(교체 전 데이터, 다른 환경 키)</a:t>
            </a:r>
          </a:p>
          <a:p>
            <a:pPr algn="l">
              <a:spcAft>
                <a:spcPts val="1000"/>
              </a:spcAft>
            </a:pPr>
            <a:r>
              <a:rPr sz="1700" b="0">
                <a:solidFill>
                  <a:srgbClr val="222222"/>
                </a:solidFill>
                <a:latin typeface="맑은 고딕"/>
              </a:rPr>
              <a:t>•  3 IV 저장과 분리 위치</a:t>
            </a:r>
          </a:p>
          <a:p>
            <a:pPr algn="l">
              <a:spcAft>
                <a:spcPts val="1000"/>
              </a:spcAft>
            </a:pPr>
            <a:r>
              <a:rPr sz="1700" b="0">
                <a:solidFill>
                  <a:srgbClr val="222222"/>
                </a:solidFill>
                <a:latin typeface="맑은 고딕"/>
              </a:rPr>
              <a:t>•  4 저장 형태(문자 컬럼 손상)</a:t>
            </a:r>
          </a:p>
          <a:p>
            <a:pPr algn="l">
              <a:spcAft>
                <a:spcPts val="1000"/>
              </a:spcAft>
            </a:pPr>
            <a:r>
              <a:rPr sz="1700" b="0">
                <a:solidFill>
                  <a:srgbClr val="222222"/>
                </a:solidFill>
                <a:latin typeface="맑은 고딕"/>
              </a:rPr>
              <a:t>•  5 문자 집합(결과가 깨진 글자)</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9.6</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해시와 MAC</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HASH: 일방향, 고정 길이</a:t>
            </a:r>
          </a:p>
          <a:p>
            <a:pPr algn="l">
              <a:spcAft>
                <a:spcPts val="800"/>
              </a:spcAft>
            </a:pPr>
            <a:r>
              <a:rPr sz="1600" b="0">
                <a:solidFill>
                  <a:srgbClr val="FFFFFF"/>
                </a:solidFill>
                <a:latin typeface="맑은 고딕"/>
              </a:rPr>
              <a:t>•  MAC: 키를 건 해시</a:t>
            </a:r>
          </a:p>
          <a:p>
            <a:pPr algn="l">
              <a:spcAft>
                <a:spcPts val="800"/>
              </a:spcAft>
            </a:pPr>
            <a:r>
              <a:rPr sz="1600" b="0">
                <a:solidFill>
                  <a:srgbClr val="FFFFFF"/>
                </a:solidFill>
                <a:latin typeface="맑은 고딕"/>
              </a:rPr>
              <a:t>•  암호화와 MAC 함께 쓰기</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HASH</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입력이 한 글자만 달라도 완전히 다른 값</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SHA-1 20, SHA-256 32, SHA-512 64바이트</a:t>
            </a:r>
          </a:p>
          <a:p>
            <a:pPr algn="l">
              <a:spcAft>
                <a:spcPts val="1000"/>
              </a:spcAft>
            </a:pPr>
            <a:r>
              <a:rPr sz="1700" b="0">
                <a:solidFill>
                  <a:srgbClr val="222222"/>
                </a:solidFill>
                <a:latin typeface="맑은 고딕"/>
              </a:rPr>
              <a:t>•  'oracle'과 'Oracle'의 해시는 공통점 없음</a:t>
            </a:r>
          </a:p>
          <a:p>
            <a:pPr algn="l">
              <a:spcAft>
                <a:spcPts val="1000"/>
              </a:spcAft>
            </a:pPr>
            <a:r>
              <a:rPr sz="1700" b="0">
                <a:solidFill>
                  <a:srgbClr val="222222"/>
                </a:solidFill>
                <a:latin typeface="맑은 고딕"/>
              </a:rPr>
              <a:t>•  무결성 확인용</a:t>
            </a:r>
          </a:p>
          <a:p>
            <a:pPr algn="l">
              <a:spcAft>
                <a:spcPts val="1000"/>
              </a:spcAft>
            </a:pPr>
            <a:r>
              <a:rPr sz="1700" b="0">
                <a:solidFill>
                  <a:srgbClr val="222222"/>
                </a:solidFill>
                <a:latin typeface="맑은 고딕"/>
              </a:rPr>
              <a:t>•  MD4·MD5는 이전 호환, SHA-2 사용</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MAC</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키가 없으면 맞는 값을 만들 수 없다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HMAC_SH256 등, RFC 2104</a:t>
            </a:r>
          </a:p>
          <a:p>
            <a:pPr algn="l">
              <a:spcAft>
                <a:spcPts val="1000"/>
              </a:spcAft>
            </a:pPr>
            <a:r>
              <a:rPr sz="1700" b="0">
                <a:solidFill>
                  <a:srgbClr val="222222"/>
                </a:solidFill>
                <a:latin typeface="맑은 고딕"/>
              </a:rPr>
              <a:t>•  같은 키 → 같은 MAC, 키가 바뀌면 전혀 다름</a:t>
            </a:r>
          </a:p>
          <a:p>
            <a:pPr algn="l">
              <a:spcAft>
                <a:spcPts val="1000"/>
              </a:spcAft>
            </a:pPr>
            <a:r>
              <a:rPr sz="1700" b="0">
                <a:solidFill>
                  <a:srgbClr val="222222"/>
                </a:solidFill>
                <a:latin typeface="맑은 고딕"/>
              </a:rPr>
              <a:t>•  Encrypt-then-MAC: IV+암호문에 MAC</a:t>
            </a:r>
          </a:p>
          <a:p>
            <a:pPr algn="l">
              <a:spcAft>
                <a:spcPts val="1000"/>
              </a:spcAft>
            </a:pPr>
            <a:r>
              <a:rPr sz="1700" b="0">
                <a:solidFill>
                  <a:srgbClr val="222222"/>
                </a:solidFill>
                <a:latin typeface="맑은 고딕"/>
              </a:rPr>
              <a:t>•  MAC 키와 암호화 키는 분리</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비밀번호와 해시</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복호화할 수 있으면 비밀번호가 아니다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DB 계정 비밀번호는 오라클이 자체 관리</a:t>
            </a:r>
          </a:p>
          <a:p>
            <a:pPr algn="l">
              <a:spcAft>
                <a:spcPts val="1000"/>
              </a:spcAft>
            </a:pPr>
            <a:r>
              <a:rPr sz="1700" b="0">
                <a:solidFill>
                  <a:srgbClr val="222222"/>
                </a:solidFill>
                <a:latin typeface="맑은 고딕"/>
              </a:rPr>
              <a:t>•  애플리케이션 비밀번호는 암호화 대신 해시</a:t>
            </a:r>
          </a:p>
          <a:p>
            <a:pPr algn="l">
              <a:spcAft>
                <a:spcPts val="1000"/>
              </a:spcAft>
            </a:pPr>
            <a:r>
              <a:rPr sz="1700" b="0">
                <a:solidFill>
                  <a:srgbClr val="222222"/>
                </a:solidFill>
                <a:latin typeface="맑은 고딕"/>
              </a:rPr>
              <a:t>•  사용자마다 다른 솔트를 붙여 해시</a:t>
            </a:r>
          </a:p>
          <a:p>
            <a:pPr algn="l">
              <a:spcAft>
                <a:spcPts val="1000"/>
              </a:spcAft>
            </a:pPr>
            <a:r>
              <a:rPr sz="1700" b="0">
                <a:solidFill>
                  <a:srgbClr val="222222"/>
                </a:solidFill>
                <a:latin typeface="맑은 고딕"/>
              </a:rPr>
              <a:t>•  키를 가진 사람이 전원의 비밀번호를 보는 구조는 금지</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9.7</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키 관리</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생성과 전송</a:t>
            </a:r>
          </a:p>
          <a:p>
            <a:pPr algn="l">
              <a:spcAft>
                <a:spcPts val="800"/>
              </a:spcAft>
            </a:pPr>
            <a:r>
              <a:rPr sz="1600" b="0">
                <a:solidFill>
                  <a:srgbClr val="FFFFFF"/>
                </a:solidFill>
                <a:latin typeface="맑은 고딕"/>
              </a:rPr>
              <a:t>•  저장 위치 세 가지</a:t>
            </a:r>
          </a:p>
          <a:p>
            <a:pPr algn="l">
              <a:spcAft>
                <a:spcPts val="800"/>
              </a:spcAft>
            </a:pPr>
            <a:r>
              <a:rPr sz="1600" b="0">
                <a:solidFill>
                  <a:srgbClr val="FFFFFF"/>
                </a:solidFill>
                <a:latin typeface="맑은 고딕"/>
              </a:rPr>
              <a:t>•  키 관리 패키지와 교체</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키 생성과 전송</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암호화된 데이터는 키만큼만 안전하다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키는 RANDOMBYTES, 알고리즘에 맞는 길이</a:t>
            </a:r>
          </a:p>
          <a:p>
            <a:pPr algn="l">
              <a:spcAft>
                <a:spcPts val="1000"/>
              </a:spcAft>
            </a:pPr>
            <a:r>
              <a:rPr sz="1700" b="0">
                <a:solidFill>
                  <a:srgbClr val="222222"/>
                </a:solidFill>
                <a:latin typeface="맑은 고딕"/>
              </a:rPr>
              <a:t>•  키를 네트워크로 보내면 전송 구간 암호화 필수</a:t>
            </a:r>
          </a:p>
          <a:p>
            <a:pPr algn="l">
              <a:spcAft>
                <a:spcPts val="1000"/>
              </a:spcAft>
            </a:pPr>
            <a:r>
              <a:rPr sz="1700" b="0">
                <a:solidFill>
                  <a:srgbClr val="222222"/>
                </a:solidFill>
                <a:latin typeface="맑은 고딕"/>
              </a:rPr>
              <a:t>•  SQL 리터럴로 넘기면 공유 풀·감사·트레이스에 남음</a:t>
            </a:r>
          </a:p>
          <a:p>
            <a:pPr algn="l">
              <a:spcAft>
                <a:spcPts val="1000"/>
              </a:spcAft>
            </a:pPr>
            <a:r>
              <a:rPr sz="1700" b="0">
                <a:solidFill>
                  <a:srgbClr val="222222"/>
                </a:solidFill>
                <a:latin typeface="맑은 고딕"/>
              </a:rPr>
              <a:t>•  IV는 공개, 키는 비밀</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키 저장 위치</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누가 평문을 보면 안 되는가에서 출발</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DB 안 별도 스키마: 관리 쉬움, DBA 접근 가능</a:t>
            </a:r>
          </a:p>
          <a:p>
            <a:pPr algn="l">
              <a:spcAft>
                <a:spcPts val="1000"/>
              </a:spcAft>
            </a:pPr>
            <a:r>
              <a:rPr sz="1700" b="0">
                <a:solidFill>
                  <a:srgbClr val="222222"/>
                </a:solidFill>
                <a:latin typeface="맑은 고딕"/>
              </a:rPr>
              <a:t>•  OS 파일: 매뉴얼은 오히려 꺼내기 쉬워진다고 경고</a:t>
            </a:r>
          </a:p>
          <a:p>
            <a:pPr algn="l">
              <a:spcAft>
                <a:spcPts val="1000"/>
              </a:spcAft>
            </a:pPr>
            <a:r>
              <a:rPr sz="1700" b="0">
                <a:solidFill>
                  <a:srgbClr val="222222"/>
                </a:solidFill>
                <a:latin typeface="맑은 고딕"/>
              </a:rPr>
              <a:t>•  사용자 보관: DBA도 못 봄, 분실 시 복구 불가</a:t>
            </a:r>
          </a:p>
          <a:p>
            <a:pPr algn="l">
              <a:spcAft>
                <a:spcPts val="1000"/>
              </a:spcAft>
            </a:pPr>
            <a:r>
              <a:rPr sz="1700" b="0">
                <a:solidFill>
                  <a:srgbClr val="222222"/>
                </a:solidFill>
                <a:latin typeface="맑은 고딕"/>
              </a:rPr>
              <a:t>•  키를 소스에 넣지 말고 패키지는 wrap</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키 관리 패키지 구조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업무 계정은 키를 한 번도 보지 않는다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cr_keymgr: 키 테이블 + 정의자 권한 패키지</a:t>
            </a:r>
          </a:p>
          <a:p>
            <a:pPr algn="l">
              <a:spcAft>
                <a:spcPts val="1000"/>
              </a:spcAft>
            </a:pPr>
            <a:r>
              <a:rPr sz="1700" b="0">
                <a:solidFill>
                  <a:srgbClr val="222222"/>
                </a:solidFill>
                <a:latin typeface="맑은 고딕"/>
              </a:rPr>
              <a:t>•  get_key는 명세에 없는 비공개 함수</a:t>
            </a:r>
          </a:p>
          <a:p>
            <a:pPr algn="l">
              <a:spcAft>
                <a:spcPts val="1000"/>
              </a:spcAft>
            </a:pPr>
            <a:r>
              <a:rPr sz="1700" b="0">
                <a:solidFill>
                  <a:srgbClr val="222222"/>
                </a:solidFill>
                <a:latin typeface="맑은 고딕"/>
              </a:rPr>
              <a:t>•  업무 계정은 enc·dec 실행 권한만</a:t>
            </a:r>
          </a:p>
          <a:p>
            <a:pPr algn="l">
              <a:spcAft>
                <a:spcPts val="1000"/>
              </a:spcAft>
            </a:pPr>
            <a:r>
              <a:rPr sz="1700" b="0">
                <a:solidFill>
                  <a:srgbClr val="222222"/>
                </a:solidFill>
                <a:latin typeface="맑은 고딕"/>
              </a:rPr>
              <a:t>•  키 테이블 직접 조회 → ORA-00942</a:t>
            </a:r>
          </a:p>
          <a:p>
            <a:pPr algn="l">
              <a:spcAft>
                <a:spcPts val="1000"/>
              </a:spcAft>
            </a:pPr>
            <a:r>
              <a:rPr sz="1700" b="0">
                <a:solidFill>
                  <a:srgbClr val="222222"/>
                </a:solidFill>
                <a:latin typeface="맑은 고딕"/>
              </a:rPr>
              <a:t>•  dec 실행 권한 = 평문 접근 권한</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키 교체와 분실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교체 절차와 백업을 도입 시점에</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새 키 ID 등록 → 신규 데이터에 사용</a:t>
            </a:r>
          </a:p>
          <a:p>
            <a:pPr algn="l">
              <a:spcAft>
                <a:spcPts val="1000"/>
              </a:spcAft>
            </a:pPr>
            <a:r>
              <a:rPr sz="1700" b="0">
                <a:solidFill>
                  <a:srgbClr val="222222"/>
                </a:solidFill>
                <a:latin typeface="맑은 고딕"/>
              </a:rPr>
              <a:t>•  기존 데이터를 단계적으로 재암호화</a:t>
            </a:r>
          </a:p>
          <a:p>
            <a:pPr algn="l">
              <a:spcAft>
                <a:spcPts val="1000"/>
              </a:spcAft>
            </a:pPr>
            <a:r>
              <a:rPr sz="1700" b="0">
                <a:solidFill>
                  <a:srgbClr val="222222"/>
                </a:solidFill>
                <a:latin typeface="맑은 고딕"/>
              </a:rPr>
              <a:t>•  이전 키는 백업 보존 기간 동안 별도 보관</a:t>
            </a:r>
          </a:p>
          <a:p>
            <a:pPr algn="l">
              <a:spcAft>
                <a:spcPts val="1000"/>
              </a:spcAft>
            </a:pPr>
            <a:r>
              <a:rPr sz="1700" b="0">
                <a:solidFill>
                  <a:srgbClr val="222222"/>
                </a:solidFill>
                <a:latin typeface="맑은 고딕"/>
              </a:rPr>
              <a:t>•  키를 잃으면 데이터도 잃는다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9.8</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원본 실습 함수 재검토</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동작은 하지만 운영에 옮기면 생기는 문제</a:t>
            </a:r>
          </a:p>
          <a:p>
            <a:pPr algn="l">
              <a:spcAft>
                <a:spcPts val="800"/>
              </a:spcAft>
            </a:pPr>
            <a:r>
              <a:rPr sz="1600" b="0">
                <a:solidFill>
                  <a:srgbClr val="FFFFFF"/>
                </a:solidFill>
                <a:latin typeface="맑은 고딕"/>
              </a:rPr>
              <a:t>•  19c 권장 방식으로 다시 쓰기</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원본 encrypt_value의 세 가지 문제</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같은 DB 안에서는 107건 모두 성공</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암호문을 VARCHAR2에 저장 → 변환 시 ORA-28817</a:t>
            </a:r>
          </a:p>
          <a:p>
            <a:pPr algn="l">
              <a:spcAft>
                <a:spcPts val="1000"/>
              </a:spcAft>
            </a:pPr>
            <a:r>
              <a:rPr sz="1700" b="0">
                <a:solidFill>
                  <a:srgbClr val="222222"/>
                </a:solidFill>
                <a:latin typeface="맑은 고딕"/>
              </a:rPr>
              <a:t>•  키가 함수 소스에 그대로 → DBA_SOURCE로 노출</a:t>
            </a:r>
          </a:p>
          <a:p>
            <a:pPr algn="l">
              <a:spcAft>
                <a:spcPts val="1000"/>
              </a:spcAft>
            </a:pPr>
            <a:r>
              <a:rPr sz="1700" b="0">
                <a:solidFill>
                  <a:srgbClr val="222222"/>
                </a:solidFill>
                <a:latin typeface="맑은 고딕"/>
              </a:rPr>
              <a:t>•  DES3 스위트, IV 없음 → 같은 이름은 같은 암호문</a:t>
            </a:r>
          </a:p>
          <a:p>
            <a:pPr algn="l">
              <a:spcAft>
                <a:spcPts val="1000"/>
              </a:spcAft>
            </a:pPr>
            <a:r>
              <a:rPr sz="1700" b="0">
                <a:solidFill>
                  <a:srgbClr val="222222"/>
                </a:solidFill>
                <a:latin typeface="맑은 고딕"/>
              </a:rPr>
              <a:t>•  CAST_TO_RAW로 문자 집합이 암묵적</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19c 권장 방식으로</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실습 03~04의 결론</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AES256 + CBC + PKCS5, 32바이트 키</a:t>
            </a:r>
          </a:p>
          <a:p>
            <a:pPr algn="l">
              <a:spcAft>
                <a:spcPts val="1000"/>
              </a:spcAft>
            </a:pPr>
            <a:r>
              <a:rPr sz="1700" b="0">
                <a:solidFill>
                  <a:srgbClr val="222222"/>
                </a:solidFill>
                <a:latin typeface="맑은 고딕"/>
              </a:rPr>
              <a:t>•  값마다 새 IV, IV를 앞에 붙인 RAW 저장</a:t>
            </a:r>
          </a:p>
          <a:p>
            <a:pPr algn="l">
              <a:spcAft>
                <a:spcPts val="1000"/>
              </a:spcAft>
            </a:pPr>
            <a:r>
              <a:rPr sz="1700" b="0">
                <a:solidFill>
                  <a:srgbClr val="222222"/>
                </a:solidFill>
                <a:latin typeface="맑은 고딕"/>
              </a:rPr>
              <a:t>•  문자열은 STRING_TO_RAW(s, 'AL32UTF8')</a:t>
            </a:r>
          </a:p>
          <a:p>
            <a:pPr algn="l">
              <a:spcAft>
                <a:spcPts val="1000"/>
              </a:spcAft>
            </a:pPr>
            <a:r>
              <a:rPr sz="1700" b="0">
                <a:solidFill>
                  <a:srgbClr val="222222"/>
                </a:solidFill>
                <a:latin typeface="맑은 고딕"/>
              </a:rPr>
              <a:t>•  키는 키 관리 스키마, 정의자 권한 패키지로만</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9.9</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검색·인덱스·성능</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암호화 컬럼은 검색하기 어렵다</a:t>
            </a:r>
          </a:p>
          <a:p>
            <a:pPr algn="l">
              <a:spcAft>
                <a:spcPts val="800"/>
              </a:spcAft>
            </a:pPr>
            <a:r>
              <a:rPr sz="1600" b="0">
                <a:solidFill>
                  <a:srgbClr val="FFFFFF"/>
                </a:solidFill>
                <a:latin typeface="맑은 고딕"/>
              </a:rPr>
              <a:t>•  키를 건 MAC 검색 컬럼</a:t>
            </a:r>
          </a:p>
          <a:p>
            <a:pPr algn="l">
              <a:spcAft>
                <a:spcPts val="800"/>
              </a:spcAft>
            </a:pPr>
            <a:r>
              <a:rPr sz="1600" b="0">
                <a:solidFill>
                  <a:srgbClr val="FFFFFF"/>
                </a:solidFill>
                <a:latin typeface="맑은 고딕"/>
              </a:rPr>
              <a:t>•  암호화 대상 고르기</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암호화 컬럼 검색</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매뉴얼: 인덱스가 걸린 데이터는 암호화하지 말 것</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무작위 IV → 검색어 암호화 비교는 0건</a:t>
            </a:r>
          </a:p>
          <a:p>
            <a:pPr algn="l">
              <a:spcAft>
                <a:spcPts val="1000"/>
              </a:spcAft>
            </a:pPr>
            <a:r>
              <a:rPr sz="1700" b="0">
                <a:solidFill>
                  <a:srgbClr val="222222"/>
                </a:solidFill>
                <a:latin typeface="맑은 고딕"/>
              </a:rPr>
              <a:t>•  전부 복호화해 비교 → 전체 스캔, 행마다 함수 호출</a:t>
            </a:r>
          </a:p>
          <a:p>
            <a:pPr algn="l">
              <a:spcAft>
                <a:spcPts val="1000"/>
              </a:spcAft>
            </a:pPr>
            <a:r>
              <a:rPr sz="1700" b="0">
                <a:solidFill>
                  <a:srgbClr val="222222"/>
                </a:solidFill>
                <a:latin typeface="맑은 고딕"/>
              </a:rPr>
              <a:t>•  범위·정렬·LIKE는 인덱스 불가</a:t>
            </a:r>
          </a:p>
          <a:p>
            <a:pPr algn="l">
              <a:spcAft>
                <a:spcPts val="1000"/>
              </a:spcAft>
            </a:pPr>
            <a:r>
              <a:rPr sz="1700" b="0">
                <a:solidFill>
                  <a:srgbClr val="222222"/>
                </a:solidFill>
                <a:latin typeface="맑은 고딕"/>
              </a:rPr>
              <a:t>•  식별 번호는 시퀀스로 대체</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키를 건 MAC 검색 컬럼</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동등 검색만 인덱스로 살린다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평문의 HMAC을 별도 컬럼에 저장, 인덱스 생성</a:t>
            </a:r>
          </a:p>
          <a:p>
            <a:pPr algn="l">
              <a:spcAft>
                <a:spcPts val="1000"/>
              </a:spcAft>
            </a:pPr>
            <a:r>
              <a:rPr sz="1700" b="0">
                <a:solidFill>
                  <a:srgbClr val="222222"/>
                </a:solidFill>
                <a:latin typeface="맑은 고딕"/>
              </a:rPr>
              <a:t>•  검색어 MAC 계산 → INDEX RANGE SCAN</a:t>
            </a:r>
          </a:p>
          <a:p>
            <a:pPr algn="l">
              <a:spcAft>
                <a:spcPts val="1000"/>
              </a:spcAft>
            </a:pPr>
            <a:r>
              <a:rPr sz="1700" b="0">
                <a:solidFill>
                  <a:srgbClr val="222222"/>
                </a:solidFill>
                <a:latin typeface="맑은 고딕"/>
              </a:rPr>
              <a:t>•  키 없는 해시는 사전 대입에 약함</a:t>
            </a:r>
          </a:p>
          <a:p>
            <a:pPr algn="l">
              <a:spcAft>
                <a:spcPts val="1000"/>
              </a:spcAft>
            </a:pPr>
            <a:r>
              <a:rPr sz="1700" b="0">
                <a:solidFill>
                  <a:srgbClr val="222222"/>
                </a:solidFill>
                <a:latin typeface="맑은 고딕"/>
              </a:rPr>
              <a:t>•  대소문자·공백은 MAC 계산 전에 정규화</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암호화 대상 고르기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검색·집계가 필요한 컬럼은 신중히</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식별 번호·계좌: 암호화 + MAC, 키는 시퀀스</a:t>
            </a:r>
          </a:p>
          <a:p>
            <a:pPr algn="l">
              <a:spcAft>
                <a:spcPts val="1000"/>
              </a:spcAft>
            </a:pPr>
            <a:r>
              <a:rPr sz="1700" b="0">
                <a:solidFill>
                  <a:srgbClr val="222222"/>
                </a:solidFill>
                <a:latin typeface="맑은 고딕"/>
              </a:rPr>
              <a:t>•  연락처·이메일: 암호화 + MAC 또는 TDE</a:t>
            </a:r>
          </a:p>
          <a:p>
            <a:pPr algn="l">
              <a:spcAft>
                <a:spcPts val="1000"/>
              </a:spcAft>
            </a:pPr>
            <a:r>
              <a:rPr sz="1700" b="0">
                <a:solidFill>
                  <a:srgbClr val="222222"/>
                </a:solidFill>
                <a:latin typeface="맑은 고딕"/>
              </a:rPr>
              <a:t>•  급여·진단: VPD·Redaction·TDE 우선 검토</a:t>
            </a:r>
          </a:p>
          <a:p>
            <a:pPr algn="l">
              <a:spcAft>
                <a:spcPts val="1000"/>
              </a:spcAft>
            </a:pPr>
            <a:r>
              <a:rPr sz="1700" b="0">
                <a:solidFill>
                  <a:srgbClr val="222222"/>
                </a:solidFill>
                <a:latin typeface="맑은 고딕"/>
              </a:rPr>
              <a:t>•  첨부 파일: BLOB 암호화 또는 TDE 테이블스페이스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9.10</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TDE와 비교</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자동 키 관리 대 개발자 키 관리</a:t>
            </a:r>
          </a:p>
          <a:p>
            <a:pPr algn="l">
              <a:spcAft>
                <a:spcPts val="800"/>
              </a:spcAft>
            </a:pPr>
            <a:r>
              <a:rPr sz="1600" b="0">
                <a:solidFill>
                  <a:srgbClr val="FFFFFF"/>
                </a:solidFill>
                <a:latin typeface="맑은 고딕"/>
              </a:rPr>
              <a:t>•  보호 대상 위협의 차이</a:t>
            </a:r>
          </a:p>
          <a:p>
            <a:pPr algn="l">
              <a:spcAft>
                <a:spcPts val="800"/>
              </a:spcAft>
            </a:pPr>
            <a:r>
              <a:rPr sz="1600" b="0">
                <a:solidFill>
                  <a:srgbClr val="FFFFFF"/>
                </a:solidFill>
                <a:latin typeface="맑은 고딕"/>
              </a:rPr>
              <a:t>•  선택 질문 네 가지</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DBMS_CRYPTO와 TDE</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막는 위협이 다르다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TDE: 저장 시 자동 암호화, 권한자는 평문 조회</a:t>
            </a:r>
          </a:p>
          <a:p>
            <a:pPr algn="l">
              <a:spcAft>
                <a:spcPts val="1000"/>
              </a:spcAft>
            </a:pPr>
            <a:r>
              <a:rPr sz="1700" b="0">
                <a:solidFill>
                  <a:srgbClr val="222222"/>
                </a:solidFill>
                <a:latin typeface="맑은 고딕"/>
              </a:rPr>
              <a:t>•  DBMS_CRYPTO: 코드가 호출, 권한자도 암호문</a:t>
            </a:r>
          </a:p>
          <a:p>
            <a:pPr algn="l">
              <a:spcAft>
                <a:spcPts val="1000"/>
              </a:spcAft>
            </a:pPr>
            <a:r>
              <a:rPr sz="1700" b="0">
                <a:solidFill>
                  <a:srgbClr val="222222"/>
                </a:solidFill>
                <a:latin typeface="맑은 고딕"/>
              </a:rPr>
              <a:t>•  TDE는 Advanced Security 옵션, DBMS_CRYPTO는 EE 기본</a:t>
            </a:r>
          </a:p>
          <a:p>
            <a:pPr algn="l">
              <a:spcAft>
                <a:spcPts val="1000"/>
              </a:spcAft>
            </a:pPr>
            <a:r>
              <a:rPr sz="1700" b="0">
                <a:solidFill>
                  <a:srgbClr val="222222"/>
                </a:solidFill>
                <a:latin typeface="맑은 고딕"/>
              </a:rPr>
              <a:t>•  둘을 함께 쓰는 구성도 가능</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기능 선택 질문</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순서대로 묻는다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파일·백업 유출이 위협인가 → TDE</a:t>
            </a:r>
          </a:p>
          <a:p>
            <a:pPr algn="l">
              <a:spcAft>
                <a:spcPts val="1000"/>
              </a:spcAft>
            </a:pPr>
            <a:r>
              <a:rPr sz="1700" b="0">
                <a:solidFill>
                  <a:srgbClr val="222222"/>
                </a:solidFill>
                <a:latin typeface="맑은 고딕"/>
              </a:rPr>
              <a:t>•  권한자에게도 감춰야 하는가 → Redaction·VPD</a:t>
            </a:r>
          </a:p>
          <a:p>
            <a:pPr algn="l">
              <a:spcAft>
                <a:spcPts val="1000"/>
              </a:spcAft>
            </a:pPr>
            <a:r>
              <a:rPr sz="1700" b="0">
                <a:solidFill>
                  <a:srgbClr val="222222"/>
                </a:solidFill>
                <a:latin typeface="맑은 고딕"/>
              </a:rPr>
              <a:t>•  DB 밖 전송, 특정 사용자 키 → DBMS_CRYPTO</a:t>
            </a:r>
          </a:p>
          <a:p>
            <a:pPr algn="l">
              <a:spcAft>
                <a:spcPts val="1000"/>
              </a:spcAft>
            </a:pPr>
            <a:r>
              <a:rPr sz="1700" b="0">
                <a:solidFill>
                  <a:srgbClr val="222222"/>
                </a:solidFill>
                <a:latin typeface="맑은 고딕"/>
              </a:rPr>
              <a:t>•  검색·집계가 필요한가 → 수동 암호화 재고</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9.11</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점검 항목과 운영</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권한·소스·저장 형태 점검</a:t>
            </a:r>
          </a:p>
          <a:p>
            <a:pPr algn="l">
              <a:spcAft>
                <a:spcPts val="800"/>
              </a:spcAft>
            </a:pPr>
            <a:r>
              <a:rPr sz="1600" b="0">
                <a:solidFill>
                  <a:srgbClr val="FFFFFF"/>
                </a:solidFill>
                <a:latin typeface="맑은 고딕"/>
              </a:rPr>
              <a:t>•  운영 시 주의점</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점검 항목</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딕셔너리에 암호화 표시가 없다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DBA_TAB_PRIVS: DBMS_CRYPTO 실행 권한자</a:t>
            </a:r>
          </a:p>
          <a:p>
            <a:pPr algn="l">
              <a:spcAft>
                <a:spcPts val="1000"/>
              </a:spcAft>
            </a:pPr>
            <a:r>
              <a:rPr sz="1700" b="0">
                <a:solidFill>
                  <a:srgbClr val="222222"/>
                </a:solidFill>
                <a:latin typeface="맑은 고딕"/>
              </a:rPr>
              <a:t>•  DBA_SOURCE: 소스 안의 키 리터럴</a:t>
            </a:r>
          </a:p>
          <a:p>
            <a:pPr algn="l">
              <a:spcAft>
                <a:spcPts val="1000"/>
              </a:spcAft>
            </a:pPr>
            <a:r>
              <a:rPr sz="1700" b="0">
                <a:solidFill>
                  <a:srgbClr val="222222"/>
                </a:solidFill>
                <a:latin typeface="맑은 고딕"/>
              </a:rPr>
              <a:t>•  복호화 패키지 실행 권한자</a:t>
            </a:r>
          </a:p>
          <a:p>
            <a:pPr algn="l">
              <a:spcAft>
                <a:spcPts val="1000"/>
              </a:spcAft>
            </a:pPr>
            <a:r>
              <a:rPr sz="1700" b="0">
                <a:solidFill>
                  <a:srgbClr val="222222"/>
                </a:solidFill>
                <a:latin typeface="맑은 고딕"/>
              </a:rPr>
              <a:t>•  DUMP로 문자 컬럼 저장 손상 여부</a:t>
            </a:r>
          </a:p>
          <a:p>
            <a:pPr algn="l">
              <a:spcAft>
                <a:spcPts val="1000"/>
              </a:spcAft>
            </a:pPr>
            <a:r>
              <a:rPr sz="1700" b="0">
                <a:solidFill>
                  <a:srgbClr val="222222"/>
                </a:solidFill>
                <a:latin typeface="맑은 고딕"/>
              </a:rPr>
              <a:t>•  평문 컬럼·임시 백업 테이블 잔존</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운영 시 주의점</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키와 평문이 새는 경로를 막는다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평문 컬럼 삭제까지가 암호화 작업</a:t>
            </a:r>
          </a:p>
          <a:p>
            <a:pPr algn="l">
              <a:spcAft>
                <a:spcPts val="1000"/>
              </a:spcAft>
            </a:pPr>
            <a:r>
              <a:rPr sz="1700" b="0">
                <a:solidFill>
                  <a:srgbClr val="222222"/>
                </a:solidFill>
                <a:latin typeface="맑은 고딕"/>
              </a:rPr>
              <a:t>•  언두·아카이브·이전 백업에는 평문이 남음</a:t>
            </a:r>
          </a:p>
          <a:p>
            <a:pPr algn="l">
              <a:spcAft>
                <a:spcPts val="1000"/>
              </a:spcAft>
            </a:pPr>
            <a:r>
              <a:rPr sz="1700" b="0">
                <a:solidFill>
                  <a:srgbClr val="222222"/>
                </a:solidFill>
                <a:latin typeface="맑은 고딕"/>
              </a:rPr>
              <a:t>•  테스트 DB로 키를 복제하지 않는다</a:t>
            </a:r>
          </a:p>
          <a:p>
            <a:pPr algn="l">
              <a:spcAft>
                <a:spcPts val="1000"/>
              </a:spcAft>
            </a:pPr>
            <a:r>
              <a:rPr sz="1700" b="0">
                <a:solidFill>
                  <a:srgbClr val="222222"/>
                </a:solidFill>
                <a:latin typeface="맑은 고딕"/>
              </a:rPr>
              <a:t>•  오류 로그에 평문·키·IV를 찍지 않는다</a:t>
            </a:r>
          </a:p>
          <a:p>
            <a:pPr algn="l">
              <a:spcAft>
                <a:spcPts val="1000"/>
              </a:spcAft>
            </a:pPr>
            <a:r>
              <a:rPr sz="1700" b="0">
                <a:solidFill>
                  <a:srgbClr val="222222"/>
                </a:solidFill>
                <a:latin typeface="맑은 고딕"/>
              </a:rPr>
              <a:t>•  복호화 호출을 감사한다</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요약</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DBMS_CRYPTO는 계산만, 키 관리는 개발자 책임</a:t>
            </a:r>
          </a:p>
          <a:p>
            <a:pPr algn="l">
              <a:spcAft>
                <a:spcPts val="1000"/>
              </a:spcAft>
            </a:pPr>
            <a:r>
              <a:rPr sz="1600" b="0">
                <a:solidFill>
                  <a:srgbClr val="222222"/>
                </a:solidFill>
                <a:latin typeface="맑은 고딕"/>
              </a:rPr>
              <a:t>•  입력은 RAW, STRING_TO_RAW로 문자 집합 명시</a:t>
            </a:r>
          </a:p>
          <a:p>
            <a:pPr algn="l">
              <a:spcAft>
                <a:spcPts val="1000"/>
              </a:spcAft>
            </a:pPr>
            <a:r>
              <a:rPr sz="1600" b="0">
                <a:solidFill>
                  <a:srgbClr val="222222"/>
                </a:solidFill>
                <a:latin typeface="맑은 고딕"/>
              </a:rPr>
              <a:t>•  AES256 + CBC + PKCS5, 값마다 새 IV, RAW 저장</a:t>
            </a:r>
          </a:p>
          <a:p>
            <a:pPr algn="l">
              <a:spcAft>
                <a:spcPts val="1000"/>
              </a:spcAft>
            </a:pPr>
            <a:r>
              <a:rPr sz="1600" b="0">
                <a:solidFill>
                  <a:srgbClr val="222222"/>
                </a:solidFill>
                <a:latin typeface="맑은 고딕"/>
              </a:rPr>
              <a:t>•  키는 RANDOMBYTES, 소스 금지, 별도 스키마 분리</a:t>
            </a:r>
          </a:p>
          <a:p>
            <a:pPr algn="l">
              <a:spcAft>
                <a:spcPts val="1000"/>
              </a:spcAft>
            </a:pPr>
            <a:r>
              <a:rPr sz="1600" b="0">
                <a:solidFill>
                  <a:srgbClr val="222222"/>
                </a:solidFill>
                <a:latin typeface="맑은 고딕"/>
              </a:rPr>
              <a:t>•  암호화 컬럼은 검색 불가, 필요하면 MAC 컬럼</a:t>
            </a:r>
          </a:p>
          <a:p>
            <a:pPr algn="l">
              <a:spcAft>
                <a:spcPts val="1000"/>
              </a:spcAft>
            </a:pPr>
            <a:r>
              <a:rPr sz="1600" b="0">
                <a:solidFill>
                  <a:srgbClr val="222222"/>
                </a:solidFill>
                <a:latin typeface="맑은 고딕"/>
              </a:rPr>
              <a:t>•  파일·백업 보호는 TDE가 먼저</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퀴즈 (1/2)</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Q1. DBMS_CRYPTO.HASH('oracle', 4) 실행 결과는?</a:t>
            </a:r>
          </a:p>
          <a:p>
            <a:pPr algn="l">
              <a:spcAft>
                <a:spcPts val="1000"/>
              </a:spcAft>
            </a:pPr>
            <a:r>
              <a:rPr sz="1600" b="0">
                <a:solidFill>
                  <a:srgbClr val="222222"/>
                </a:solidFill>
                <a:latin typeface="맑은 고딕"/>
              </a:rPr>
              <a:t>•  Q2. AES256에 16바이트 키를 넘기면?</a:t>
            </a:r>
          </a:p>
          <a:p>
            <a:pPr algn="l">
              <a:spcAft>
                <a:spcPts val="1000"/>
              </a:spcAft>
            </a:pPr>
            <a:r>
              <a:rPr sz="1600" b="0">
                <a:solidFill>
                  <a:srgbClr val="222222"/>
                </a:solidFill>
                <a:latin typeface="맑은 고딕"/>
              </a:rPr>
              <a:t>•  Q3. 같은 급여의 암호문이 같다. 개선책은?</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퀴즈 (2/2)</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Q4. 암호문을 CAST_TO_VARCHAR2로 저장할 때의 위험은?</a:t>
            </a:r>
          </a:p>
          <a:p>
            <a:pPr algn="l">
              <a:spcAft>
                <a:spcPts val="1000"/>
              </a:spcAft>
            </a:pPr>
            <a:r>
              <a:rPr sz="1600" b="0">
                <a:solidFill>
                  <a:srgbClr val="222222"/>
                </a:solidFill>
                <a:latin typeface="맑은 고딕"/>
              </a:rPr>
              <a:t>•  Q5. 키를 패키지 소스에 넣으면 DBA도 못 본다?</a:t>
            </a:r>
          </a:p>
          <a:p>
            <a:pPr algn="l">
              <a:spcAft>
                <a:spcPts val="1000"/>
              </a:spcAft>
            </a:pPr>
            <a:r>
              <a:rPr sz="1600" b="0">
                <a:solidFill>
                  <a:srgbClr val="222222"/>
                </a:solidFill>
                <a:latin typeface="맑은 고딕"/>
              </a:rPr>
              <a:t>•  Q6. 무작위 IV 암호화 컬럼을 인덱스로 찾으려면?</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실습 개요</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01 난수·해시·MAC 기초 (ORA-00904, ORA-01465, PLS-221)</a:t>
            </a:r>
          </a:p>
          <a:p>
            <a:pPr algn="l">
              <a:spcAft>
                <a:spcPts val="1000"/>
              </a:spcAft>
            </a:pPr>
            <a:r>
              <a:rPr sz="1600" b="0">
                <a:solidFill>
                  <a:srgbClr val="222222"/>
                </a:solidFill>
                <a:latin typeface="맑은 고딕"/>
              </a:rPr>
              <a:t>•  02 원본 함수 재현과 문제점 (VARCHAR2 저장, ORA-28817, 소스 속 키)</a:t>
            </a:r>
          </a:p>
          <a:p>
            <a:pPr algn="l">
              <a:spcAft>
                <a:spcPts val="1000"/>
              </a:spcAft>
            </a:pPr>
            <a:r>
              <a:rPr sz="1600" b="0">
                <a:solidFill>
                  <a:srgbClr val="222222"/>
                </a:solidFill>
                <a:latin typeface="맑은 고딕"/>
              </a:rPr>
              <a:t>•  03 AES256 CBC PKCS5와 RAW 저장 (ORA-28234, IV, 길이)</a:t>
            </a:r>
          </a:p>
          <a:p>
            <a:pPr algn="l">
              <a:spcAft>
                <a:spcPts val="1000"/>
              </a:spcAft>
            </a:pPr>
            <a:r>
              <a:rPr sz="1600" b="0">
                <a:solidFill>
                  <a:srgbClr val="222222"/>
                </a:solidFill>
                <a:latin typeface="맑은 고딕"/>
              </a:rPr>
              <a:t>•  04 키 분리와 암호화 패키지 (정의자 권한, ORA-00942)</a:t>
            </a:r>
          </a:p>
          <a:p>
            <a:pPr algn="l">
              <a:spcAft>
                <a:spcPts val="1000"/>
              </a:spcAft>
            </a:pPr>
            <a:r>
              <a:rPr sz="1600" b="0">
                <a:solidFill>
                  <a:srgbClr val="222222"/>
                </a:solidFill>
                <a:latin typeface="맑은 고딕"/>
              </a:rPr>
              <a:t>•  05 검색·LOB·철거 (MAC 인덱스, PLS-00306, 철거 확인)</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
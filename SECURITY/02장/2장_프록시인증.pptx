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애플리케이션에서 가장 흔한 구조는 애플리케이션 서버가 공용 계정 하나로 연결 풀을 만드는 방식입니다. 관리가 편하지만 데이터베이스 입장에서는 누가 요청했는지 전혀 알 수 없습니다. 감사 기록에는 모두 같은 계정이 남고, 공용 계정은 가장 많은 권한이 필요한 사용자 기준으로 권한을 받게 됩니다. 사용자마다 계정을 만들어 직접 접속하게 하면 이 문제는 풀리지만, 애플리케이션이 모든 사용자의 비밀번호를 알아야 하고 연결 풀도 쓸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프록시 인증에서는 애플리케이션 서버가 자기 계정의 비밀번호로만 인증을 받습니다. 그런 다음 미리 허용된 사용자로 세션을 열기 때문에 세션 안에서의 권한은 그 사용자 것입니다. 데이터베이스는 실제 사용자와 거쳐 온 프록시 계정을 모두 알고 있어 감사 기록과 정책 함수에 두 정보를 쓸 수 있습니다. 다만 대상 사용자가 데이터베이스 계정이어야 한다는 전제가 있어서, 데이터베이스 계정이 없는 대규모 웹 사용자는 6장의 클라이언트 식별자로 구분합니다.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프록시 인증은 사용자마다 데이터베이스 계정이 있다는 것을 전제로 합니다. 회원이 수십만 명인 서비스에서 계정을 하나씩 만들고 잠그고 지우는 일을 데이터베이스에서 할 수는 없습니다. 또 애플리케이션이 자체 권한 모델로 모든 판단을 하고 있다면, 데이터베이스 계정을 나눠도 얻는 것이 많지 않습니다. 사용자 수가 정해져 있고 데이터베이스의 권한과 감사로 통제해야 하는 사내 업무 시스템이 프록시 인증이 가장 잘 맞는 환경입니다.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문장 형태 때문에 처음에는 방향을 헷갈리는 경우가 많습니다. ALTER USER 뒤에 오는 것이 대상 사용자이고, THROUGH 뒤에 오는 것이 프록시 계정입니다. 대상 사용자가 "이 프록시를 통해 나로 접속하는 것을 허락한다"로 읽으면 자연스럽습니다. 한 대상 사용자가 여러 프록시를 허용할 수 있고 한 프록시가 여러 사용자로 접속할 수 있으므로, 허용은 항상 쌍 단위로 생깁니다. 실습에서는 PRX_APP이 프록시, PRX_USER1부터 3까지가 대상 사용자입니다.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세션이 만들어지는 순서를 알아 두면 오류를 해석하기 쉽습니다. 프록시 계정 비밀번호가 틀리거나 허용이 없으면 앞 단계에서 ORA-01017이 나옵니다. 허용이 있는데 대상 사용자 인증 조건을 못 맞추면 ORA-28150, 모든 인증을 통과했는데 대상 사용자에게 로그인 권한이 없으면 ORA-01045입니다. 프록시 계정이 잠겨 있으면 맨 앞에서 ORA-28000으로 막힙니다. 실습 1부터 5까지 이 네 가지 오류를 모두 만나게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SQL*Plus에서는 대괄호 안에 대상 사용자를 쓰고, 비밀번호 자리에는 프록시 계정의 비밀번호를 씁니다. 접속하면 프롬프트와 SHOW USER가 모두 대상 사용자로 바뀝니다. 이 형식은 허용이 제대로 걸렸는지 손으로 확인할 때 아주 유용합니다. 다만 실제 애플리케이션은 이렇게 접속하지 않고, 프록시 계정으로 물리 연결을 맺어 둔 뒤 요청마다 대상 사용자 세션을 여는 API를 씁니다. 다음 슬라이드에서 그 구조를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JDBC에서는 프록시 계정으로 얻은 연결에 openProxySession을 호출해 대상 사용자 세션을 엽니다. 세션을 닫으면 물리 연결은 풀로 돌아가고, 다음 요청은 같은 연결 위에 다른 사용자 세션을 엽니다. 연결을 새로 맺는 비용 없이 사용자별 세션을 쓰는 구조라 연결 풀의 장점이 그대로 남습니다. 대신 패키지 변수나 임시 테이블 같은 세션 상태가 다음 사용자에게 넘어가지 않는지 애플리케이션 쪽에서도 신경 써야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1에서 같은 PRX_APP 계정으로 일반 접속과 프록시 접속을 비교했습니다. 일반 접속에서는 PROXY_USER가 비어 있고 인증 방식이 PASSWORD였습니다. 프록시 세션에서는 세션 사용자가 PRX_USER1이고 PROXY_USER에 PRX_APP이 남았으며, 인증 방식이 NONE으로 나왔습니다. 대상 사용자가 그 세션에서 스스로 인증받지 않았다는 표시입니다. 누가 했는지는 SESSION_USER로, 어느 경로로 왔는지는 PROXY_USER로 판단한다고 정리해 두면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프록시 계정 비밀번호는 애플리케이션 서버 설정에 들어가기 때문에 유출될 가능성이 상대적으로 높습니다. 그래서 그 계정 자체로는 아무것도 할 수 없게 만드는 것이 기본입니다. 테이블 권한을 주면 프록시 계정으로 직접 접속해 그 권한을 쓸 수 있게 됩니다. 애플리케이션마다 프록시 계정을 나누면 감사 기록의 DBPROXY_USERNAME만 보고 어느 시스템의 접속인지 알 수 있고, 문제가 생긴 시스템의 경로만 잠글 수도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 없이 GRANT하면 대상 사용자의 모든 역할을 쓸 수 있고 대상 사용자 비밀번호도 요구하지 않습니다. 조건을 바꾸고 싶으면 같은 쌍에 GRANT를 다시 실행하면 됩니다. 실습 3에서 AUTHENTICATION REQUIRED로 건 허용을 조건 없이 다시 GRANT하자 AUTHENTICATION 값이 YES에서 NO로 바뀌었습니다. 이 문장은 ALTER USER의 일부라서 ALTER USER 시스템 권한이 필요하고, 통합 감사의 기본 정책 ORA_SECURECONFIG가 변경을 기록합니다.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1에서 허용을 걸기 전에 프록시 접속을 시도하자 ORA-01017이 나왔습니다. 프록시 계정 비밀번호는 맞았는데도 비밀번호 오류와 똑같은 메시지입니다. 접속을 시도하는 쪽에 대상 사용자가 존재하는지, 허용이 막혀 있는지 같은 정보를 주지 않으려는 동작입니다. 운영 중에 비밀번호를 여러 번 확인했는데도 ORA-01017이 계속 나면, 비밀번호보다 DBA_PROXIES에서 해당 쌍이 있는지부터 보는 것이 빠릅니다.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대상 사용자가 받은 역할이 모두 애플리케이션에 필요한 것은 아닙니다. 다른 업무 때문에 받은 강한 역할이 애플리케이션 경로에서 켜지지 않게 하는 것이 역할 제한의 목적입니다. WITH ROLE로 나열하면 DBA_PROXIES에 역할마다 한 행씩 생깁니다. ALL EXCEPT는 빼는 역할을 나열하고, NO ROLES는 어떤 역할도 켜지 못하게 합니다. 비밀번호로 보호된 역할이나 Secure Application Role도 목록에 있어야 프록시 세션에서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2에서 PRX_USER2의 허용을 WITH ROLE prx_role로 걸었더니 ORA-01045가 났습니다. 이 사용자의 CREATE SESSION은 CONNECT 역할을 통해서만 들어오고 있었기 때문에, CONNECT를 켤 수 없게 되자 로그인 권한도 함께 사라진 것입니다. 운영 환경에서 역할을 정리하다가 애플리케이션 로그인이 일제히 실패하는 사고가 실제로 이런 식으로 일어납니다. 계정을 만들 때 CREATE SESSION을 직접 주는 표준을 두면 예방됩니다.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2에서 WITH ROLE prx_role, connect로 허용한 세션에서 SET ROLE ALL을 실행했는데, 오류는 없었지만 세션 역할은 여전히 두 개였습니다. 프록시 세션의 ALL은 허용된 역할 안에서의 ALL입니다. WITH NO ROLES 세션에서는 대상 사용자에게 실제로 부여된 역할을 지정해 켜려 해도 ORA-01924가 났습니다. 또 로그인 때 켜지는 역할은 허용 범위 안에 있으면서 기본 역할인 것이라, 대상 사용자의 기본 역할 설정을 바꾸면 프록시 세션의 초기 역할도 바뀝니다.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사용자가 여러 업무에 걸쳐 역할을 받는 것은 흔한 일입니다. 애플리케이션 경로에서 필요한 역할만 WITH ROLE로 묶어 두면, 같은 사용자라도 애플리케이션을 거칠 때와 다른 도구로 직접 접속할 때의 권한이 달라집니다. 보정 작업용 역할처럼 위험한 권한은 애플리케이션 경로에서 아예 켜지지 않게 빼 두는 식입니다. 반대로 애플리케이션 경로에서만 켜야 하는 역할은 3장의 Secure Application Role로 만들고, 패키지가 PROXY_USER를 확인하게 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허용은 프록시 계정을 신뢰한다는 전제라서, 프록시 계정 하나가 뚫리면 허용된 모든 사용자로 접속할 수 있습니다. AUTHENTICATION REQUIRED를 붙이면 대상 사용자의 비밀번호도 함께 제시해야 하므로 이 위험이 줄어듭니다. 실습 3에서 이 조건으로 허용한 뒤 SQL*Plus로 접속하자 ORA-28150이 났습니다. SQL*Plus의 대괄호 형식은 프록시 비밀번호만 넘기기 때문입니다. 실제로 이 옵션을 쓰는 애플리케이션은 API 속성에 대상 사용자 비밀번호를 넣어 넘깁니다.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자료에는 AUTHENTICATED USING PASSWORD, DISTINGUISHED NAME, CERTIFICATE 같은 옵션이 소개되어 있습니다. 실습 3에서 이 옛 문법으로 허용을 걸었더니 19c에서도 오류 없이 실행됐고, DBA_PROXIES에는 AUTHENTICATION이 YES로 남았습니다. SQL Language Reference 19c에 따르면 PASSWORD는 AUTHENTICATION REQUIRED로 변환되고, 나머지 두 옵션은 생략한 것과 같습니다. 예전 스크립트를 그대로 돌리면 의도와 달리 대상 사용자 인증을 요구하게 될 수 있다는 점을 짚어 주시면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인증을 애플리케이션 서버가 책임지는 대부분의 웹 업무는 기본 허용으로 충분합니다. 그 대신 프록시 계정의 비밀번호 보관과 접속 경로 제한을 엄격히 해야 합니다. 결재나 자금 이체처럼 사용자가 그 순간 본인임을 다시 증명해야 하는 업무에서는 AUTHENTICATION REQUIRED가 의미가 있습니다. 같은 사용자라도 온라인 서버 프록시와 외부 연계 서버 프록시에 조건을 다르게 줄 수 있습니다. 이 경우 애플리케이션이 받은 비밀번호를 로그에 남기지 않는 것도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세션 안에서는 PROXY_USER 값 하나로 프록시 세션인지 알 수 있습니다. DBA가 다른 세션을 볼 때는 V$SESSION_CONNECT_INFO의 AUTHENTICATION_TYPE 열을 씁니다. 실습 5에서는 프록시 세션 하나를 백그라운드에 띄워 둔 채 조회했고, 이 열이 PROXY로 나왔습니다. V$SESSION의 USERNAME에는 대상 사용자인 PRX_USER1이 보이고 프록시 계정 이름은 따로 나오지 않습니다. 연결 풀 환경에서는 세션이 짧게 열렸다 닫히므로 순간 조회보다 감사 기록이 추적에 더 적합합니다.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 함수나 감사 조건을 작성할 때 어떤 속성을 쓰느냐가 결과를 좌우합니다. 실제 사용자는 SESSION_USER, 경로는 PROXY_USER로 판단하는 것이 기본입니다. CURRENT_USER는 정의자 권한 프로시저 안에서 프로시저 소유자로 바뀌므로, 사용자 판별에 쓰면 프로시저를 거치는지에 따라 결과가 달라집니다. CLIENT_IDENTIFIER는 애플리케이션이 넣는 값이라 데이터베이스가 진위를 검증하지 않으므로 권한 판단의 단독 근거로 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4에서 같은 PRX_USER1이 프록시 세션에서 CREATE TABLE, INSERT, SELECT를 하고, 직접 접속해서 INSERT를 한 번 했습니다. 감사 기록 다섯 행 모두 DBUSERNAME은 PRX_USER1이었지만, 프록시를 거친 행에만 DBPROXY_USERNAME에 PRX_APP이 남았습니다. 권한 없이 시도한 SELECT는 RETURN_CODE 2004로 기록됐습니다. 애플리케이션으로만 작업해야 하는 계정이라면 DBPROXY_USERNAME이 비어 있는 행이 바로 점검 대상입니다. 감사 기록은 큐를 거쳐 쓰이므로 실습에서는 FLUSH_UNIFIED_AUDIT_TRAIL을 호출한 뒤 조회했습니다.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직관적으로는 프록시 계정에 정책을 걸면 그 계정을 거친 작업이 모두 기록될 것 같지만 그렇지 않습니다. 실습 4에서 정책 대상을 PRX_APP으로 옮긴 뒤 프록시 세션에서 INSERT를 했는데, 기록 건수가 5건에서 그대로였습니다. 프록시 세션의 세션 사용자는 대상 사용자이기 때문입니다. 프록시 경로의 작업만 따로 남기고 싶다면 정책은 대상 사용자에 걸고, WHEN 조건에 PROXY_USER를 쓰거나 조회할 때 DBPROXY_USERNAME으로 거릅니다.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기본으로 켜져 있는 통합 감사 정책 ORA_LOGON_FAILURES가 실습 1부터 3에서 실패한 프록시 접속을 모두 기록해 두었습니다. 각 행에는 오류 번호와 함께 DBPROXY_USERNAME이 남아 있어서 어느 애플리케이션 서버에서 온 시도인지 알 수 있습니다. 허용 설정 실수로 생긴 실패와 무차별 대입 같은 공격 시도가 모두 여기에 모이므로, 이 정책은 끄지 않는 것이 좋습니다. 기록 조회와 보관은 13장에서 자세히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자료는 전통 감사 문법으로 프록시 작업을 추적합니다. 프록시 인증 기록과 작업 기록을 세션 ID로 이어 붙여야 해서 조회가 복잡했습니다. 통합 감사에서는 한 행에 실제 사용자와 프록시 계정이 함께 남기 때문에 조인이 필요 없습니다. 19c의 기본인 mixed 모드에서는 전통 감사도 동작하지만, pure unified 모드로 바꾸면 전통 감사 문장은 기록을 남기지 않습니다. 기존 스크립트를 미리 통합 감사 정책으로 옮겨 두면 전환 때 감사 공백이 생기지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5에서 프록시 계정을 잠그자 그 계정을 거친 접속은 ORA-28000으로 막혔지만, PRX_USER1이 직접 접속하는 것은 문제없이 됐습니다. 애플리케이션 서버 하나가 침해됐다고 의심될 때 그 서버의 프록시 계정만 잠그면 해당 경로를 바로 차단할 수 있다는 뜻입니다. 특정 사용자의 애플리케이션 접근만 끊을 때는 REVOKE를 쓰고, 퇴사처럼 사용자 자체를 막을 때는 대상 사용자 계정을 잠급니다. 상황에 맞는 범위를 고르는 것이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실습에서 만난 오류를 세션 생성 순서에 맞춰 정리한 표입니다. ORA-01017은 가장 앞 단계라서 허용이 있는지조차 알려 주지 않습니다. ORA-28150이 나왔다면 적어도 허용은 존재한다는 증거입니다. ORA-01045는 인증을 모두 통과한 뒤 마지막에 나오는 오류라서, 이 오류가 보이면 허용과 비밀번호는 정상이고 권한 쪽을 보면 됩니다. 같은 화면에서 사용자마다 다른 오류가 나면 이 순서를 떠올리면서 원인을 좁혀 가면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프록시 허용은 사용자의 권한이나 역할 목록에 나오지 않아서 계정 정리 때 놓치기 쉽습니다. 퇴사나 부서 이동 절차에 허용 회수를 넣어 두어야 합니다. 정기 점검에서는 프록시 계정에 CREATE SESSION 외의 권한이 붙지 않았는지, 조건 없는 허용을 받은 사용자 중 DBA 같은 강한 역할을 가진 사람이 없는지 확인합니다. 프록시 계정에 비밀번호 만료나 로그인 실패 잠금을 걸면 애플리케이션 전체가 한꺼번에 멈출 수 있으니 운영 절차와 함께 설계합니다.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허용 정보는 DBA_PROXIES에서 가장 자세히 볼 수 있습니다. WITH ROLE로 나열한 역할마다 한 행씩 생기므로 쌍의 개수를 셀 때는 PROXY와 CLIENT로 중복을 제거해야 합니다. PROXY_USERS는 같은 관계를 FLAGS 한 열로 요약해 보여 줍니다. PROXY_AUTHORITY 열은 데이터베이스 사용자 간 허용이면 DATABASE, 디렉터리 엔터프라이즈 사용자 허용이면 DIRECTORY로 나옵니다. 세션과 감사 쪽은 앞에서 본 V$SESSION_CONNECT_INFO와 UNIFIED_AUDIT_TRAIL을 함께 씁니다.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프록시 인증을 도입하면 세션 사용자가 실제 사용자가 되기 때문에, 7장의 VPD 정책 함수가 SESSION_USER로 사용자별 행을 거를 수 있게 됩니다. 공용 계정 구조에서는 불가능하던 일입니다. PROXY_USER까지 함께 보면 애플리케이션을 거친 세션에서만 데이터를 보여 주고, 같은 사용자가 SQL*Plus로 직접 접속하면 0건을 돌려주는 정책도 만들 수 있습니다. 8장의 Data Redaction이나 12장의 FGA도 같은 USERENV 값을 조건에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 계정이 없는 웹 사용자는 프록시 인증으로 구분할 수 없으므로 애플리케이션이 클라이언트 식별자를 설정합니다. 이 값은 감사 기록의 CLIENT_ID 열에도 남습니다. 두 방식을 함께 쓰는 구성도 흔한데, 부서 단위 데이터베이스 계정으로 프록시 세션을 열고 그 안에서 개인 사번을 클라이언트 식별자로 기록하는 식입니다. 다만 클라이언트 식별자는 애플리케이션이 넣는 값이라 데이터베이스가 검증하지 않습니다. 6장에서 전역 접근 컨텍스트와 함께 자세히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공용 계정 구조를 프록시 인증으로 옮길 때 가장 큰 작업은 공용 계정에 몰려 있던 권한을 사용자들의 역할로 나눠 옮기는 일입니다. 권한 분석 기능으로 실제로 쓰는 권한을 먼저 확인하면 범위를 줄일 수 있습니다. 허용을 걸기 전에 대상 사용자의 CREATE SESSION이 어디서 오는지 확인하면 ORA-01045 사고를 막을 수 있습니다. 전환 직후에는 두 경로가 함께 쓰이므로, 감사 기록에서 공용 계정 접속이 사라진 것을 확인한 뒤에 공용 계정 권한을 회수합니다.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프록시 계정에 권한이 하나둘 붙기 시작하면 공용 계정 문제로 되돌아갑니다. 정기 점검으로 프록시 계정의 권한을 확인하고, 강한 역할을 가진 사용자에게는 WITH ROLE로 업무 역할만 허용합니다. 허용을 바꾼 뒤에는 실제 애플리케이션 경로로 로그인을 시험해야 ORA-01045 같은 문제가 미리 드러납니다. 실습 5의 원복에서 본 것처럼, BY 사용자로 켠 통합 감사 정책은 그 대상을 모두 NOAUDIT해야 삭제할 수 있고 그렇지 않으면 ORA-46361이 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Security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프록시 인증 (Proxy Authentication)</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공용 연결 위에서 실제 사용자를 식별한다</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제2장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공용 계정 방식의 권한·감사 문제를 설명한다</a:t>
            </a:r>
          </a:p>
          <a:p>
            <a:pPr algn="l">
              <a:spcAft>
                <a:spcPts val="1000"/>
              </a:spcAft>
            </a:pPr>
            <a:r>
              <a:rPr sz="1600" b="0">
                <a:solidFill>
                  <a:srgbClr val="222222"/>
                </a:solidFill>
                <a:latin typeface="맑은 고딕"/>
              </a:rPr>
              <a:t>•  프록시 사용자와 대상 사용자의 관계를 구분한다</a:t>
            </a:r>
          </a:p>
          <a:p>
            <a:pPr algn="l">
              <a:spcAft>
                <a:spcPts val="1000"/>
              </a:spcAft>
            </a:pPr>
            <a:r>
              <a:rPr sz="1600" b="0">
                <a:solidFill>
                  <a:srgbClr val="222222"/>
                </a:solidFill>
                <a:latin typeface="맑은 고딕"/>
              </a:rPr>
              <a:t>•  GRANT CONNECT THROUGH와 조건을 구성한다</a:t>
            </a:r>
          </a:p>
          <a:p>
            <a:pPr algn="l">
              <a:spcAft>
                <a:spcPts val="1000"/>
              </a:spcAft>
            </a:pPr>
            <a:r>
              <a:rPr sz="1600" b="0">
                <a:solidFill>
                  <a:srgbClr val="222222"/>
                </a:solidFill>
                <a:latin typeface="맑은 고딕"/>
              </a:rPr>
              <a:t>•  ORA-01017·01045·28150·28000의 원인을 구분한다</a:t>
            </a:r>
          </a:p>
          <a:p>
            <a:pPr algn="l">
              <a:spcAft>
                <a:spcPts val="1000"/>
              </a:spcAft>
            </a:pPr>
            <a:r>
              <a:rPr sz="1600" b="0">
                <a:solidFill>
                  <a:srgbClr val="222222"/>
                </a:solidFill>
                <a:latin typeface="맑은 고딕"/>
              </a:rPr>
              <a:t>•  프록시 세션을 USERENV·뷰·감사 기록으로 식별한다</a:t>
            </a:r>
          </a:p>
          <a:p>
            <a:pPr algn="l">
              <a:spcAft>
                <a:spcPts val="1000"/>
              </a:spcAft>
            </a:pPr>
            <a:r>
              <a:rPr sz="1600" b="0">
                <a:solidFill>
                  <a:srgbClr val="222222"/>
                </a:solidFill>
                <a:latin typeface="맑은 고딕"/>
              </a:rPr>
              <a:t>•  프록시 경유 작업의 감사 대상을 판단한다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2.2 사용자 식별 문제  /  2.3 프록시 세션의 동작</a:t>
            </a:r>
          </a:p>
          <a:p>
            <a:pPr algn="l">
              <a:spcAft>
                <a:spcPts val="1000"/>
              </a:spcAft>
            </a:pPr>
            <a:r>
              <a:rPr sz="1600" b="0">
                <a:solidFill>
                  <a:srgbClr val="222222"/>
                </a:solidFill>
                <a:latin typeface="맑은 고딕"/>
              </a:rPr>
              <a:t>•  2.4 허용 구성  /  2.5 역할 제한</a:t>
            </a:r>
          </a:p>
          <a:p>
            <a:pPr algn="l">
              <a:spcAft>
                <a:spcPts val="1000"/>
              </a:spcAft>
            </a:pPr>
            <a:r>
              <a:rPr sz="1600" b="0">
                <a:solidFill>
                  <a:srgbClr val="222222"/>
                </a:solidFill>
                <a:latin typeface="맑은 고딕"/>
              </a:rPr>
              <a:t>•  2.6 AUTHENTICATION REQUIRED  /  2.7 세션 식별</a:t>
            </a:r>
          </a:p>
          <a:p>
            <a:pPr algn="l">
              <a:spcAft>
                <a:spcPts val="1000"/>
              </a:spcAft>
            </a:pPr>
            <a:r>
              <a:rPr sz="1600" b="0">
                <a:solidFill>
                  <a:srgbClr val="222222"/>
                </a:solidFill>
                <a:latin typeface="맑은 고딕"/>
              </a:rPr>
              <a:t>•  2.8 감사  /  2.9 계정과 허용의 관리</a:t>
            </a:r>
          </a:p>
          <a:p>
            <a:pPr algn="l">
              <a:spcAft>
                <a:spcPts val="1000"/>
              </a:spcAft>
            </a:pPr>
            <a:r>
              <a:rPr sz="1600" b="0">
                <a:solidFill>
                  <a:srgbClr val="222222"/>
                </a:solidFill>
                <a:latin typeface="맑은 고딕"/>
              </a:rPr>
              <a:t>•  2.10 딕셔너리 뷰  /  2.11 다른 기능과의 연계</a:t>
            </a:r>
          </a:p>
          <a:p>
            <a:pPr algn="l">
              <a:spcAft>
                <a:spcPts val="1000"/>
              </a:spcAft>
            </a:pPr>
            <a:r>
              <a:rPr sz="1600" b="0">
                <a:solidFill>
                  <a:srgbClr val="222222"/>
                </a:solidFill>
                <a:latin typeface="맑은 고딕"/>
              </a:rPr>
              <a:t>•  2.12 도입 절차  /  2.13 운영 시 주의점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다계층 환경의 사용자 식별 문제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공용 계정 하나로 모든 요청을 처리할 때</a:t>
            </a:r>
          </a:p>
          <a:p>
            <a:pPr algn="l">
              <a:spcAft>
                <a:spcPts val="800"/>
              </a:spcAft>
            </a:pPr>
            <a:r>
              <a:rPr sz="1600" b="0">
                <a:solidFill>
                  <a:srgbClr val="FFFFFF"/>
                </a:solidFill>
                <a:latin typeface="맑은 고딕"/>
              </a:rPr>
              <a:t>•  사용자별 직접 접속의 부담</a:t>
            </a:r>
          </a:p>
          <a:p>
            <a:pPr algn="l">
              <a:spcAft>
                <a:spcPts val="800"/>
              </a:spcAft>
            </a:pPr>
            <a:r>
              <a:rPr sz="1600" b="0">
                <a:solidFill>
                  <a:srgbClr val="FFFFFF"/>
                </a:solidFill>
                <a:latin typeface="맑은 고딕"/>
              </a:rPr>
              <a:t>•  프록시 인증이 푸는 방식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공용 계정 방식의 한계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데이터베이스는 애플리케이션 서버만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공용 계정이 모든 사용자 권한의 합을 가짐</a:t>
            </a:r>
          </a:p>
          <a:p>
            <a:pPr algn="l">
              <a:spcAft>
                <a:spcPts val="1000"/>
              </a:spcAft>
            </a:pPr>
            <a:r>
              <a:rPr sz="1700" b="0">
                <a:solidFill>
                  <a:srgbClr val="222222"/>
                </a:solidFill>
                <a:latin typeface="맑은 고딕"/>
              </a:rPr>
              <a:t>•  감사 기록에는 모두 APP_USER로 남음</a:t>
            </a:r>
          </a:p>
          <a:p>
            <a:pPr algn="l">
              <a:spcAft>
                <a:spcPts val="1000"/>
              </a:spcAft>
            </a:pPr>
            <a:r>
              <a:rPr sz="1700" b="0">
                <a:solidFill>
                  <a:srgbClr val="222222"/>
                </a:solidFill>
                <a:latin typeface="맑은 고딕"/>
              </a:rPr>
              <a:t>•  사용자별 VPD 정책을 걸 근거가 없음</a:t>
            </a:r>
          </a:p>
          <a:p>
            <a:pPr algn="l">
              <a:spcAft>
                <a:spcPts val="1000"/>
              </a:spcAft>
            </a:pPr>
            <a:r>
              <a:rPr sz="1700" b="0">
                <a:solidFill>
                  <a:srgbClr val="222222"/>
                </a:solidFill>
                <a:latin typeface="맑은 고딕"/>
              </a:rPr>
              <a:t>•  서버 침해 시 공용 계정 권한이 그대로 노출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프록시 인증이 푸는 방식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인증은 프록시가, 세션은 대상 사용자가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프록시 계정이 자기 자격 증명으로 인증</a:t>
            </a:r>
          </a:p>
          <a:p>
            <a:pPr algn="l">
              <a:spcAft>
                <a:spcPts val="1000"/>
              </a:spcAft>
            </a:pPr>
            <a:r>
              <a:rPr sz="1700" b="0">
                <a:solidFill>
                  <a:srgbClr val="222222"/>
                </a:solidFill>
                <a:latin typeface="맑은 고딕"/>
              </a:rPr>
              <a:t>•  허용된 대상 사용자로 세션을 연다</a:t>
            </a:r>
          </a:p>
          <a:p>
            <a:pPr algn="l">
              <a:spcAft>
                <a:spcPts val="1000"/>
              </a:spcAft>
            </a:pPr>
            <a:r>
              <a:rPr sz="1700" b="0">
                <a:solidFill>
                  <a:srgbClr val="222222"/>
                </a:solidFill>
                <a:latin typeface="맑은 고딕"/>
              </a:rPr>
              <a:t>•  권한은 대상 사용자 것, 공용 권한 불필요</a:t>
            </a:r>
          </a:p>
          <a:p>
            <a:pPr algn="l">
              <a:spcAft>
                <a:spcPts val="1000"/>
              </a:spcAft>
            </a:pPr>
            <a:r>
              <a:rPr sz="1700" b="0">
                <a:solidFill>
                  <a:srgbClr val="222222"/>
                </a:solidFill>
                <a:latin typeface="맑은 고딕"/>
              </a:rPr>
              <a:t>•  감사 기록에 실제 사용자와 프록시가 함께</a:t>
            </a:r>
          </a:p>
          <a:p>
            <a:pPr algn="l">
              <a:spcAft>
                <a:spcPts val="1000"/>
              </a:spcAft>
            </a:pPr>
            <a:r>
              <a:rPr sz="1700" b="0">
                <a:solidFill>
                  <a:srgbClr val="222222"/>
                </a:solidFill>
                <a:latin typeface="맑은 고딕"/>
              </a:rPr>
              <a:t>•  대상 사용자 비밀번호는 기본적으로 불필요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프록시 인증이 맞지 않는 경우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사용자 수와 권한 모델을 먼저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계정을 만들 수 없는 대규모 인터넷 서비스</a:t>
            </a:r>
          </a:p>
          <a:p>
            <a:pPr algn="l">
              <a:spcAft>
                <a:spcPts val="1000"/>
              </a:spcAft>
            </a:pPr>
            <a:r>
              <a:rPr sz="1700" b="0">
                <a:solidFill>
                  <a:srgbClr val="222222"/>
                </a:solidFill>
                <a:latin typeface="맑은 고딕"/>
              </a:rPr>
              <a:t>•  권한 판단을 애플리케이션이 전부 하는 구조</a:t>
            </a:r>
          </a:p>
          <a:p>
            <a:pPr algn="l">
              <a:spcAft>
                <a:spcPts val="1000"/>
              </a:spcAft>
            </a:pPr>
            <a:r>
              <a:rPr sz="1700" b="0">
                <a:solidFill>
                  <a:srgbClr val="222222"/>
                </a:solidFill>
                <a:latin typeface="맑은 고딕"/>
              </a:rPr>
              <a:t>•  이런 곳은 CLIENT_IDENTIFIER와 컨텍스트로</a:t>
            </a:r>
          </a:p>
          <a:p>
            <a:pPr algn="l">
              <a:spcAft>
                <a:spcPts val="1000"/>
              </a:spcAft>
            </a:pPr>
            <a:r>
              <a:rPr sz="1700" b="0">
                <a:solidFill>
                  <a:srgbClr val="222222"/>
                </a:solidFill>
                <a:latin typeface="맑은 고딕"/>
              </a:rPr>
              <a:t>•  사내 업무 시스템에서 효과가 가장 크다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프록시 세션의 동작</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두 계정의 역할과 허용의 방향</a:t>
            </a:r>
          </a:p>
          <a:p>
            <a:pPr algn="l">
              <a:spcAft>
                <a:spcPts val="800"/>
              </a:spcAft>
            </a:pPr>
            <a:r>
              <a:rPr sz="1600" b="0">
                <a:solidFill>
                  <a:srgbClr val="FFFFFF"/>
                </a:solidFill>
                <a:latin typeface="맑은 고딕"/>
              </a:rPr>
              <a:t>•  인증과 세션 생성 순서</a:t>
            </a:r>
          </a:p>
          <a:p>
            <a:pPr algn="l">
              <a:spcAft>
                <a:spcPts val="800"/>
              </a:spcAft>
            </a:pPr>
            <a:r>
              <a:rPr sz="1600" b="0">
                <a:solidFill>
                  <a:srgbClr val="FFFFFF"/>
                </a:solidFill>
                <a:latin typeface="맑은 고딕"/>
              </a:rPr>
              <a:t>•  클라이언트 API와 경량 세션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계정의 역할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허용은 대상 사용자 쪽 속성</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프록시 사용자: 애플리케이션 서버의 인증 계정</a:t>
            </a:r>
          </a:p>
          <a:p>
            <a:pPr algn="l">
              <a:spcAft>
                <a:spcPts val="1000"/>
              </a:spcAft>
            </a:pPr>
            <a:r>
              <a:rPr sz="1700" b="0">
                <a:solidFill>
                  <a:srgbClr val="222222"/>
                </a:solidFill>
                <a:latin typeface="맑은 고딕"/>
              </a:rPr>
              <a:t>•  대상 사용자: 세션 사용자가 되는 업무 계정</a:t>
            </a:r>
          </a:p>
          <a:p>
            <a:pPr algn="l">
              <a:spcAft>
                <a:spcPts val="1000"/>
              </a:spcAft>
            </a:pPr>
            <a:r>
              <a:rPr sz="1700" b="0">
                <a:solidFill>
                  <a:srgbClr val="222222"/>
                </a:solidFill>
                <a:latin typeface="맑은 고딕"/>
              </a:rPr>
              <a:t>•  ALTER USER 대상 GRANT CONNECT THROUGH 프록시</a:t>
            </a:r>
          </a:p>
          <a:p>
            <a:pPr algn="l">
              <a:spcAft>
                <a:spcPts val="1000"/>
              </a:spcAft>
            </a:pPr>
            <a:r>
              <a:rPr sz="1700" b="0">
                <a:solidFill>
                  <a:srgbClr val="222222"/>
                </a:solidFill>
                <a:latin typeface="맑은 고딕"/>
              </a:rPr>
              <a:t>•  허용은 프록시·대상 쌍 단위로 관리</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인증과 세션 생성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어느 단계에서 막혔는지가 오류로 드러난다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프록시 비밀번호 검증 → 허용 존재 확인</a:t>
            </a:r>
          </a:p>
          <a:p>
            <a:pPr algn="l">
              <a:spcAft>
                <a:spcPts val="1000"/>
              </a:spcAft>
            </a:pPr>
            <a:r>
              <a:rPr sz="1700" b="0">
                <a:solidFill>
                  <a:srgbClr val="222222"/>
                </a:solidFill>
                <a:latin typeface="맑은 고딕"/>
              </a:rPr>
              <a:t>•  필요하면 대상 사용자 자격 증명 검증</a:t>
            </a:r>
          </a:p>
          <a:p>
            <a:pPr algn="l">
              <a:spcAft>
                <a:spcPts val="1000"/>
              </a:spcAft>
            </a:pPr>
            <a:r>
              <a:rPr sz="1700" b="0">
                <a:solidFill>
                  <a:srgbClr val="222222"/>
                </a:solidFill>
                <a:latin typeface="맑은 고딕"/>
              </a:rPr>
              <a:t>•  대상 사용자의 CREATE SESSION 확인</a:t>
            </a:r>
          </a:p>
          <a:p>
            <a:pPr algn="l">
              <a:spcAft>
                <a:spcPts val="1000"/>
              </a:spcAft>
            </a:pPr>
            <a:r>
              <a:rPr sz="1700" b="0">
                <a:solidFill>
                  <a:srgbClr val="222222"/>
                </a:solidFill>
                <a:latin typeface="맑은 고딕"/>
              </a:rPr>
              <a:t>•  허용 범위 안에서 기본 역할을 켠다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SQL*Plus의 프록시 접속</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프록시[대상]/프록시비밀번호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CONNECT prx_app[prx_user1]/prx_app</a:t>
            </a:r>
          </a:p>
          <a:p>
            <a:pPr algn="l">
              <a:spcAft>
                <a:spcPts val="1000"/>
              </a:spcAft>
            </a:pPr>
            <a:r>
              <a:rPr sz="1700" b="0">
                <a:solidFill>
                  <a:srgbClr val="222222"/>
                </a:solidFill>
                <a:latin typeface="맑은 고딕"/>
              </a:rPr>
              <a:t>•  SHOW USER는 대상 사용자 PRX_USER1</a:t>
            </a:r>
          </a:p>
          <a:p>
            <a:pPr algn="l">
              <a:spcAft>
                <a:spcPts val="1000"/>
              </a:spcAft>
            </a:pPr>
            <a:r>
              <a:rPr sz="1700" b="0">
                <a:solidFill>
                  <a:srgbClr val="222222"/>
                </a:solidFill>
                <a:latin typeface="맑은 고딕"/>
              </a:rPr>
              <a:t>•  시험·장애 분석용으로 쓰는 형식</a:t>
            </a:r>
          </a:p>
          <a:p>
            <a:pPr algn="l">
              <a:spcAft>
                <a:spcPts val="1000"/>
              </a:spcAft>
            </a:pPr>
            <a:r>
              <a:rPr sz="1700" b="0">
                <a:solidFill>
                  <a:srgbClr val="222222"/>
                </a:solidFill>
                <a:latin typeface="맑은 고딕"/>
              </a:rPr>
              <a:t>•  실제 애플리케이션은 JDBC·OCI API 사용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클라이언트 API와 경량 세션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연결 풀과 사용자 식별을 함께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JDBC: openProxySession으로 대상 세션 열기</a:t>
            </a:r>
          </a:p>
          <a:p>
            <a:pPr algn="l">
              <a:spcAft>
                <a:spcPts val="1000"/>
              </a:spcAft>
            </a:pPr>
            <a:r>
              <a:rPr sz="1700" b="0">
                <a:solidFill>
                  <a:srgbClr val="222222"/>
                </a:solidFill>
                <a:latin typeface="맑은 고딕"/>
              </a:rPr>
              <a:t>•  OCI: 세션 풀에서 프록시 자격 증명 지정</a:t>
            </a:r>
          </a:p>
          <a:p>
            <a:pPr algn="l">
              <a:spcAft>
                <a:spcPts val="1000"/>
              </a:spcAft>
            </a:pPr>
            <a:r>
              <a:rPr sz="1700" b="0">
                <a:solidFill>
                  <a:srgbClr val="222222"/>
                </a:solidFill>
                <a:latin typeface="맑은 고딕"/>
              </a:rPr>
              <a:t>•  물리 연결은 재사용, 세션만 사용자별로</a:t>
            </a:r>
          </a:p>
          <a:p>
            <a:pPr algn="l">
              <a:spcAft>
                <a:spcPts val="1000"/>
              </a:spcAft>
            </a:pPr>
            <a:r>
              <a:rPr sz="1700" b="0">
                <a:solidFill>
                  <a:srgbClr val="222222"/>
                </a:solidFill>
                <a:latin typeface="맑은 고딕"/>
              </a:rPr>
              <a:t>•  세션 교체 시 이전 사용자 상태가 남지 않게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프록시 세션의 사용자 정보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SESSION_USER와 PROXY_USER</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SESSION_USER: 대상 사용자</a:t>
            </a:r>
          </a:p>
          <a:p>
            <a:pPr algn="l">
              <a:spcAft>
                <a:spcPts val="1000"/>
              </a:spcAft>
            </a:pPr>
            <a:r>
              <a:rPr sz="1700" b="0">
                <a:solidFill>
                  <a:srgbClr val="222222"/>
                </a:solidFill>
                <a:latin typeface="맑은 고딕"/>
              </a:rPr>
              <a:t>•  PROXY_USER: 프록시 계정(일반 접속은 NULL)</a:t>
            </a:r>
          </a:p>
          <a:p>
            <a:pPr algn="l">
              <a:spcAft>
                <a:spcPts val="1000"/>
              </a:spcAft>
            </a:pPr>
            <a:r>
              <a:rPr sz="1700" b="0">
                <a:solidFill>
                  <a:srgbClr val="222222"/>
                </a:solidFill>
                <a:latin typeface="맑은 고딕"/>
              </a:rPr>
              <a:t>•  AUTHENTICATION_METHOD: NONE으로 나옴</a:t>
            </a:r>
          </a:p>
          <a:p>
            <a:pPr algn="l">
              <a:spcAft>
                <a:spcPts val="1000"/>
              </a:spcAft>
            </a:pPr>
            <a:r>
              <a:rPr sz="1700" b="0">
                <a:solidFill>
                  <a:srgbClr val="222222"/>
                </a:solidFill>
                <a:latin typeface="맑은 고딕"/>
              </a:rPr>
              <a:t>•  정책 함수·감사가 두 값을 함께 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프록시 허용 구성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프록시 계정은 CREATE SESSION만</a:t>
            </a:r>
          </a:p>
          <a:p>
            <a:pPr algn="l">
              <a:spcAft>
                <a:spcPts val="800"/>
              </a:spcAft>
            </a:pPr>
            <a:r>
              <a:rPr sz="1600" b="0">
                <a:solidFill>
                  <a:srgbClr val="FFFFFF"/>
                </a:solidFill>
                <a:latin typeface="맑은 고딕"/>
              </a:rPr>
              <a:t>•  GRANT·REVOKE CONNECT THROUGH</a:t>
            </a:r>
          </a:p>
          <a:p>
            <a:pPr algn="l">
              <a:spcAft>
                <a:spcPts val="800"/>
              </a:spcAft>
            </a:pPr>
            <a:r>
              <a:rPr sz="1600" b="0">
                <a:solidFill>
                  <a:srgbClr val="FFFFFF"/>
                </a:solidFill>
                <a:latin typeface="맑은 고딕"/>
              </a:rPr>
              <a:t>•  허용 후 시험 순서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프록시 계정 만들기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접속만 할 수 있는 빈 계정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SESSION 외 권한·역할을 주지 않는다</a:t>
            </a:r>
          </a:p>
          <a:p>
            <a:pPr algn="l">
              <a:spcAft>
                <a:spcPts val="1000"/>
              </a:spcAft>
            </a:pPr>
            <a:r>
              <a:rPr sz="1700" b="0">
                <a:solidFill>
                  <a:srgbClr val="222222"/>
                </a:solidFill>
                <a:latin typeface="맑은 고딕"/>
              </a:rPr>
              <a:t>•  업무 객체를 두지 않는다</a:t>
            </a:r>
          </a:p>
          <a:p>
            <a:pPr algn="l">
              <a:spcAft>
                <a:spcPts val="1000"/>
              </a:spcAft>
            </a:pPr>
            <a:r>
              <a:rPr sz="1700" b="0">
                <a:solidFill>
                  <a:srgbClr val="222222"/>
                </a:solidFill>
                <a:latin typeface="맑은 고딕"/>
              </a:rPr>
              <a:t>•  애플리케이션마다 별도 프록시 계정</a:t>
            </a:r>
          </a:p>
          <a:p>
            <a:pPr algn="l">
              <a:spcAft>
                <a:spcPts val="1000"/>
              </a:spcAft>
            </a:pPr>
            <a:r>
              <a:rPr sz="1700" b="0">
                <a:solidFill>
                  <a:srgbClr val="222222"/>
                </a:solidFill>
                <a:latin typeface="맑은 고딕"/>
              </a:rPr>
              <a:t>•  비밀번호는 지갑(1장 SEPS)에 보관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GRANT CONNECT THROUGH</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조건을 붙여 다시 실행하면 덮어쓴다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기본형: 모든 역할 허용, 인증 요구 없음</a:t>
            </a:r>
          </a:p>
          <a:p>
            <a:pPr algn="l">
              <a:spcAft>
                <a:spcPts val="1000"/>
              </a:spcAft>
            </a:pPr>
            <a:r>
              <a:rPr sz="1700" b="0">
                <a:solidFill>
                  <a:srgbClr val="222222"/>
                </a:solidFill>
                <a:latin typeface="맑은 고딕"/>
              </a:rPr>
              <a:t>•  WITH ROLE / ALL EXCEPT / NO ROLES</a:t>
            </a:r>
          </a:p>
          <a:p>
            <a:pPr algn="l">
              <a:spcAft>
                <a:spcPts val="1000"/>
              </a:spcAft>
            </a:pPr>
            <a:r>
              <a:rPr sz="1700" b="0">
                <a:solidFill>
                  <a:srgbClr val="222222"/>
                </a:solidFill>
                <a:latin typeface="맑은 고딕"/>
              </a:rPr>
              <a:t>•  AUTHENTICATION REQUIRED</a:t>
            </a:r>
          </a:p>
          <a:p>
            <a:pPr algn="l">
              <a:spcAft>
                <a:spcPts val="1000"/>
              </a:spcAft>
            </a:pPr>
            <a:r>
              <a:rPr sz="1700" b="0">
                <a:solidFill>
                  <a:srgbClr val="222222"/>
                </a:solidFill>
                <a:latin typeface="맑은 고딕"/>
              </a:rPr>
              <a:t>•  회수: REVOKE CONNECT THROUGH</a:t>
            </a:r>
          </a:p>
          <a:p>
            <a:pPr algn="l">
              <a:spcAft>
                <a:spcPts val="1000"/>
              </a:spcAft>
            </a:pPr>
            <a:r>
              <a:rPr sz="1700" b="0">
                <a:solidFill>
                  <a:srgbClr val="222222"/>
                </a:solidFill>
                <a:latin typeface="맑은 고딕"/>
              </a:rPr>
              <a:t>•  실행에는 ALTER USER 권한 필요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허용이 없어도 ORA-01017</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비밀번호 오류와 같은 메시지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허용 없는 대상으로 접속 → ORA-01017</a:t>
            </a:r>
          </a:p>
          <a:p>
            <a:pPr algn="l">
              <a:spcAft>
                <a:spcPts val="1000"/>
              </a:spcAft>
            </a:pPr>
            <a:r>
              <a:rPr sz="1700" b="0">
                <a:solidFill>
                  <a:srgbClr val="222222"/>
                </a:solidFill>
                <a:latin typeface="맑은 고딕"/>
              </a:rPr>
              <a:t>•  대상 사용자 존재 여부를 노출하지 않음</a:t>
            </a:r>
          </a:p>
          <a:p>
            <a:pPr algn="l">
              <a:spcAft>
                <a:spcPts val="1000"/>
              </a:spcAft>
            </a:pPr>
            <a:r>
              <a:rPr sz="1700" b="0">
                <a:solidFill>
                  <a:srgbClr val="222222"/>
                </a:solidFill>
                <a:latin typeface="맑은 고딕"/>
              </a:rPr>
              <a:t>•  비밀번호가 맞는데 01017이면 DBA_PROXIES 확인</a:t>
            </a:r>
          </a:p>
          <a:p>
            <a:pPr algn="l">
              <a:spcAft>
                <a:spcPts val="1000"/>
              </a:spcAft>
            </a:pPr>
            <a:r>
              <a:rPr sz="1700" b="0">
                <a:solidFill>
                  <a:srgbClr val="222222"/>
                </a:solidFill>
                <a:latin typeface="맑은 고딕"/>
              </a:rPr>
              <a:t>•  REVOKE 후에도 같은 오류</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역할 제한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WITH ROLE, ALL EXCEPT, NO ROLES</a:t>
            </a:r>
          </a:p>
          <a:p>
            <a:pPr algn="l">
              <a:spcAft>
                <a:spcPts val="800"/>
              </a:spcAft>
            </a:pPr>
            <a:r>
              <a:rPr sz="1600" b="0">
                <a:solidFill>
                  <a:srgbClr val="FFFFFF"/>
                </a:solidFill>
                <a:latin typeface="맑은 고딕"/>
              </a:rPr>
              <a:t>•  역할 제한과 CREATE SESSION</a:t>
            </a:r>
          </a:p>
          <a:p>
            <a:pPr algn="l">
              <a:spcAft>
                <a:spcPts val="800"/>
              </a:spcAft>
            </a:pPr>
            <a:r>
              <a:rPr sz="1600" b="0">
                <a:solidFill>
                  <a:srgbClr val="FFFFFF"/>
                </a:solidFill>
                <a:latin typeface="맑은 고딕"/>
              </a:rPr>
              <a:t>•  SET ROLE의 범위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가지 역할 제한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DBA_PROXIES에 어떻게 남는가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조건 없음: PROXY MAY ACTIVATE ALL CLIENT ROLES</a:t>
            </a:r>
          </a:p>
          <a:p>
            <a:pPr algn="l">
              <a:spcAft>
                <a:spcPts val="1000"/>
              </a:spcAft>
            </a:pPr>
            <a:r>
              <a:rPr sz="1700" b="0">
                <a:solidFill>
                  <a:srgbClr val="222222"/>
                </a:solidFill>
                <a:latin typeface="맑은 고딕"/>
              </a:rPr>
              <a:t>•  WITH ROLE: 역할마다 PROXY MAY ACTIVATE ROLE</a:t>
            </a:r>
          </a:p>
          <a:p>
            <a:pPr algn="l">
              <a:spcAft>
                <a:spcPts val="1000"/>
              </a:spcAft>
            </a:pPr>
            <a:r>
              <a:rPr sz="1700" b="0">
                <a:solidFill>
                  <a:srgbClr val="222222"/>
                </a:solidFill>
                <a:latin typeface="맑은 고딕"/>
              </a:rPr>
              <a:t>•  ALL EXCEPT: PROXY MAY NOT ACTIVATE ROLE</a:t>
            </a:r>
          </a:p>
          <a:p>
            <a:pPr algn="l">
              <a:spcAft>
                <a:spcPts val="1000"/>
              </a:spcAft>
            </a:pPr>
            <a:r>
              <a:rPr sz="1700" b="0">
                <a:solidFill>
                  <a:srgbClr val="222222"/>
                </a:solidFill>
                <a:latin typeface="맑은 고딕"/>
              </a:rPr>
              <a:t>•  NO ROLES: NO CLIENT ROLES MAY BE ACTIVATED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역할을 줄였더니 로그인이 안 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ORA-01045</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SESSION이 CONNECT 역할로만 들어옴</a:t>
            </a:r>
          </a:p>
          <a:p>
            <a:pPr algn="l">
              <a:spcAft>
                <a:spcPts val="1000"/>
              </a:spcAft>
            </a:pPr>
            <a:r>
              <a:rPr sz="1700" b="0">
                <a:solidFill>
                  <a:srgbClr val="222222"/>
                </a:solidFill>
                <a:latin typeface="맑은 고딕"/>
              </a:rPr>
              <a:t>•  WITH ROLE에서 CONNECT를 빼면 로그인 권한도 사라짐</a:t>
            </a:r>
          </a:p>
          <a:p>
            <a:pPr algn="l">
              <a:spcAft>
                <a:spcPts val="1000"/>
              </a:spcAft>
            </a:pPr>
            <a:r>
              <a:rPr sz="1700" b="0">
                <a:solidFill>
                  <a:srgbClr val="222222"/>
                </a:solidFill>
                <a:latin typeface="맑은 고딕"/>
              </a:rPr>
              <a:t>•  해결: 목록에 CONNECT 추가 또는 직접 부여</a:t>
            </a:r>
          </a:p>
          <a:p>
            <a:pPr algn="l">
              <a:spcAft>
                <a:spcPts val="1000"/>
              </a:spcAft>
            </a:pPr>
            <a:r>
              <a:rPr sz="1700" b="0">
                <a:solidFill>
                  <a:srgbClr val="222222"/>
                </a:solidFill>
                <a:latin typeface="맑은 고딕"/>
              </a:rPr>
              <a:t>•  NO ROLES는 CREATE SESSION 직접 부여가 필수</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SET ROLE의 범위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허용 목록이 상한이다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SET ROLE ALL도 허용된 역할 안에서만</a:t>
            </a:r>
          </a:p>
          <a:p>
            <a:pPr algn="l">
              <a:spcAft>
                <a:spcPts val="1000"/>
              </a:spcAft>
            </a:pPr>
            <a:r>
              <a:rPr sz="1700" b="0">
                <a:solidFill>
                  <a:srgbClr val="222222"/>
                </a:solidFill>
                <a:latin typeface="맑은 고딕"/>
              </a:rPr>
              <a:t>•  WITH NO ROLES에서 SET ROLE → ORA-01924</a:t>
            </a:r>
          </a:p>
          <a:p>
            <a:pPr algn="l">
              <a:spcAft>
                <a:spcPts val="1000"/>
              </a:spcAft>
            </a:pPr>
            <a:r>
              <a:rPr sz="1700" b="0">
                <a:solidFill>
                  <a:srgbClr val="222222"/>
                </a:solidFill>
                <a:latin typeface="맑은 고딕"/>
              </a:rPr>
              <a:t>•  부여된 역할도 없는 것처럼 취급</a:t>
            </a:r>
          </a:p>
          <a:p>
            <a:pPr algn="l">
              <a:spcAft>
                <a:spcPts val="1000"/>
              </a:spcAft>
            </a:pPr>
            <a:r>
              <a:rPr sz="1700" b="0">
                <a:solidFill>
                  <a:srgbClr val="222222"/>
                </a:solidFill>
                <a:latin typeface="맑은 고딕"/>
              </a:rPr>
              <a:t>•  기본 역할 설정 변경이 초기 역할에 영향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역할 설계 예</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애플리케이션 경로에 필요한 역할만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CONNECT: 포함 또는 CREATE SESSION 직접 부여</a:t>
            </a:r>
          </a:p>
          <a:p>
            <a:pPr algn="l">
              <a:spcAft>
                <a:spcPts val="1000"/>
              </a:spcAft>
            </a:pPr>
            <a:r>
              <a:rPr sz="1700" b="0">
                <a:solidFill>
                  <a:srgbClr val="222222"/>
                </a:solidFill>
                <a:latin typeface="맑은 고딕"/>
              </a:rPr>
              <a:t>•  업무 화면 역할: 포함</a:t>
            </a:r>
          </a:p>
          <a:p>
            <a:pPr algn="l">
              <a:spcAft>
                <a:spcPts val="1000"/>
              </a:spcAft>
            </a:pPr>
            <a:r>
              <a:rPr sz="1700" b="0">
                <a:solidFill>
                  <a:srgbClr val="222222"/>
                </a:solidFill>
                <a:latin typeface="맑은 고딕"/>
              </a:rPr>
              <a:t>•  보고서 도구 전용 역할: 제외</a:t>
            </a:r>
          </a:p>
          <a:p>
            <a:pPr algn="l">
              <a:spcAft>
                <a:spcPts val="1000"/>
              </a:spcAft>
            </a:pPr>
            <a:r>
              <a:rPr sz="1700" b="0">
                <a:solidFill>
                  <a:srgbClr val="222222"/>
                </a:solidFill>
                <a:latin typeface="맑은 고딕"/>
              </a:rPr>
              <a:t>•  데이터 보정용 역할: 제외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AUTHENTICATION REQUIRED</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대상 사용자 자격 증명 요구</a:t>
            </a:r>
          </a:p>
          <a:p>
            <a:pPr algn="l">
              <a:spcAft>
                <a:spcPts val="800"/>
              </a:spcAft>
            </a:pPr>
            <a:r>
              <a:rPr sz="1600" b="0">
                <a:solidFill>
                  <a:srgbClr val="FFFFFF"/>
                </a:solidFill>
                <a:latin typeface="맑은 고딕"/>
              </a:rPr>
              <a:t>•  원본 자료의 AUTHENTICATED USING</a:t>
            </a:r>
          </a:p>
          <a:p>
            <a:pPr algn="l">
              <a:spcAft>
                <a:spcPts val="800"/>
              </a:spcAft>
            </a:pPr>
            <a:r>
              <a:rPr sz="1600" b="0">
                <a:solidFill>
                  <a:srgbClr val="FFFFFF"/>
                </a:solidFill>
                <a:latin typeface="맑은 고딕"/>
              </a:rPr>
              <a:t>•  언제 인증을 요구하는가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대상 사용자 자격 증명 요구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프록시 계정만으로는 부족하게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DBA_PROXIES.AUTHENTICATION = YES</a:t>
            </a:r>
          </a:p>
          <a:p>
            <a:pPr algn="l">
              <a:spcAft>
                <a:spcPts val="1000"/>
              </a:spcAft>
            </a:pPr>
            <a:r>
              <a:rPr sz="1700" b="0">
                <a:solidFill>
                  <a:srgbClr val="222222"/>
                </a:solidFill>
                <a:latin typeface="맑은 고딕"/>
              </a:rPr>
              <a:t>•  조건 불충족 시 ORA-28150</a:t>
            </a:r>
          </a:p>
          <a:p>
            <a:pPr algn="l">
              <a:spcAft>
                <a:spcPts val="1000"/>
              </a:spcAft>
            </a:pPr>
            <a:r>
              <a:rPr sz="1700" b="0">
                <a:solidFill>
                  <a:srgbClr val="222222"/>
                </a:solidFill>
                <a:latin typeface="맑은 고딕"/>
              </a:rPr>
              <a:t>•  SQL*Plus 프록시 형식으로는 접속 불가</a:t>
            </a:r>
          </a:p>
          <a:p>
            <a:pPr algn="l">
              <a:spcAft>
                <a:spcPts val="1000"/>
              </a:spcAft>
            </a:pPr>
            <a:r>
              <a:rPr sz="1700" b="0">
                <a:solidFill>
                  <a:srgbClr val="222222"/>
                </a:solidFill>
                <a:latin typeface="맑은 고딕"/>
              </a:rPr>
              <a:t>•  비밀번호 전달은 JDBC·OCI API의 몫</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원본 자료의 AUTHENTICATED USING</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19c에서는 디프리케이트 문법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AUTHENTICATED USING PASSWORD → 받아들여짐</a:t>
            </a:r>
          </a:p>
          <a:p>
            <a:pPr algn="l">
              <a:spcAft>
                <a:spcPts val="1000"/>
              </a:spcAft>
            </a:pPr>
            <a:r>
              <a:rPr sz="1700" b="0">
                <a:solidFill>
                  <a:srgbClr val="222222"/>
                </a:solidFill>
                <a:latin typeface="맑은 고딕"/>
              </a:rPr>
              <a:t>•  결과는 AUTHENTICATION=YES로 저장</a:t>
            </a:r>
          </a:p>
          <a:p>
            <a:pPr algn="l">
              <a:spcAft>
                <a:spcPts val="1000"/>
              </a:spcAft>
            </a:pPr>
            <a:r>
              <a:rPr sz="1700" b="0">
                <a:solidFill>
                  <a:srgbClr val="222222"/>
                </a:solidFill>
                <a:latin typeface="맑은 고딕"/>
              </a:rPr>
              <a:t>•  DN·CERTIFICATE 옵션은 생략과 같음</a:t>
            </a:r>
          </a:p>
          <a:p>
            <a:pPr algn="l">
              <a:spcAft>
                <a:spcPts val="1000"/>
              </a:spcAft>
            </a:pPr>
            <a:r>
              <a:rPr sz="1700" b="0">
                <a:solidFill>
                  <a:srgbClr val="222222"/>
                </a:solidFill>
                <a:latin typeface="맑은 고딕"/>
              </a:rPr>
              <a:t>•  새 스크립트는 AUTHENTICATION REQUIRED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언제 인증을 요구하는가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업무의 민감도와 구조로 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일반 웹 업무: 인증 없는 기본 허용</a:t>
            </a:r>
          </a:p>
          <a:p>
            <a:pPr algn="l">
              <a:spcAft>
                <a:spcPts val="1000"/>
              </a:spcAft>
            </a:pPr>
            <a:r>
              <a:rPr sz="1700" b="0">
                <a:solidFill>
                  <a:srgbClr val="222222"/>
                </a:solidFill>
                <a:latin typeface="맑은 고딕"/>
              </a:rPr>
              <a:t>•  결재·이체: 사용자가 그 순간 본인 증명</a:t>
            </a:r>
          </a:p>
          <a:p>
            <a:pPr algn="l">
              <a:spcAft>
                <a:spcPts val="1000"/>
              </a:spcAft>
            </a:pPr>
            <a:r>
              <a:rPr sz="1700" b="0">
                <a:solidFill>
                  <a:srgbClr val="222222"/>
                </a:solidFill>
                <a:latin typeface="맑은 고딕"/>
              </a:rPr>
              <a:t>•  프록시마다 조건을 다르게 줄 수 있다</a:t>
            </a:r>
          </a:p>
          <a:p>
            <a:pPr algn="l">
              <a:spcAft>
                <a:spcPts val="1000"/>
              </a:spcAft>
            </a:pPr>
            <a:r>
              <a:rPr sz="1700" b="0">
                <a:solidFill>
                  <a:srgbClr val="222222"/>
                </a:solidFill>
                <a:latin typeface="맑은 고딕"/>
              </a:rPr>
              <a:t>•  전달하는 비밀번호를 로그에 남기지 않는다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프록시 세션 식별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세션 안에서: USERENV</a:t>
            </a:r>
          </a:p>
          <a:p>
            <a:pPr algn="l">
              <a:spcAft>
                <a:spcPts val="800"/>
              </a:spcAft>
            </a:pPr>
            <a:r>
              <a:rPr sz="1600" b="0">
                <a:solidFill>
                  <a:srgbClr val="FFFFFF"/>
                </a:solidFill>
                <a:latin typeface="맑은 고딕"/>
              </a:rPr>
              <a:t>•  다른 세션에서: V$SESSION_CONNECT_INFO</a:t>
            </a:r>
          </a:p>
          <a:p>
            <a:pPr algn="l">
              <a:spcAft>
                <a:spcPts val="800"/>
              </a:spcAft>
            </a:pPr>
            <a:r>
              <a:rPr sz="1600" b="0">
                <a:solidFill>
                  <a:srgbClr val="FFFFFF"/>
                </a:solidFill>
                <a:latin typeface="맑은 고딕"/>
              </a:rPr>
              <a:t>•  관련 USERENV 속성 정리</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세션 안에서와 밖에서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PROXY_USER와 AUTHENTICATION_TYPE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세션 안: PROXY_USER가 NULL인지 확인</a:t>
            </a:r>
          </a:p>
          <a:p>
            <a:pPr algn="l">
              <a:spcAft>
                <a:spcPts val="1000"/>
              </a:spcAft>
            </a:pPr>
            <a:r>
              <a:rPr sz="1700" b="0">
                <a:solidFill>
                  <a:srgbClr val="222222"/>
                </a:solidFill>
                <a:latin typeface="맑은 고딕"/>
              </a:rPr>
              <a:t>•  밖: V$SESSION_CONNECT_INFO.AUTHENTICATION_TYPE</a:t>
            </a:r>
          </a:p>
          <a:p>
            <a:pPr algn="l">
              <a:spcAft>
                <a:spcPts val="1000"/>
              </a:spcAft>
            </a:pPr>
            <a:r>
              <a:rPr sz="1700" b="0">
                <a:solidFill>
                  <a:srgbClr val="222222"/>
                </a:solidFill>
                <a:latin typeface="맑은 고딕"/>
              </a:rPr>
              <a:t>•  프록시 세션은 PROXY로 표시</a:t>
            </a:r>
          </a:p>
          <a:p>
            <a:pPr algn="l">
              <a:spcAft>
                <a:spcPts val="1000"/>
              </a:spcAft>
            </a:pPr>
            <a:r>
              <a:rPr sz="1700" b="0">
                <a:solidFill>
                  <a:srgbClr val="222222"/>
                </a:solidFill>
                <a:latin typeface="맑은 고딕"/>
              </a:rPr>
              <a:t>•  V$SESSION.USERNAME은 대상 사용자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관련 USERENV 속성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누가, 어느 경로로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SESSION_USER: 누가 했는가</a:t>
            </a:r>
          </a:p>
          <a:p>
            <a:pPr algn="l">
              <a:spcAft>
                <a:spcPts val="1000"/>
              </a:spcAft>
            </a:pPr>
            <a:r>
              <a:rPr sz="1700" b="0">
                <a:solidFill>
                  <a:srgbClr val="222222"/>
                </a:solidFill>
                <a:latin typeface="맑은 고딕"/>
              </a:rPr>
              <a:t>•  PROXY_USER, PROXY_USERID: 어느 경로로 왔는가</a:t>
            </a:r>
          </a:p>
          <a:p>
            <a:pPr algn="l">
              <a:spcAft>
                <a:spcPts val="1000"/>
              </a:spcAft>
            </a:pPr>
            <a:r>
              <a:rPr sz="1700" b="0">
                <a:solidFill>
                  <a:srgbClr val="222222"/>
                </a:solidFill>
                <a:latin typeface="맑은 고딕"/>
              </a:rPr>
              <a:t>•  CURRENT_USER: 정의자 권한 안에서는 소유자</a:t>
            </a:r>
          </a:p>
          <a:p>
            <a:pPr algn="l">
              <a:spcAft>
                <a:spcPts val="1000"/>
              </a:spcAft>
            </a:pPr>
            <a:r>
              <a:rPr sz="1700" b="0">
                <a:solidFill>
                  <a:srgbClr val="222222"/>
                </a:solidFill>
                <a:latin typeface="맑은 고딕"/>
              </a:rPr>
              <a:t>•  CLIENT_IDENTIFIER: 애플리케이션이 설정한 ID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프록시 경유 작업의 감사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DBPROXY_USERNAME으로 경로 구분</a:t>
            </a:r>
          </a:p>
          <a:p>
            <a:pPr algn="l">
              <a:spcAft>
                <a:spcPts val="800"/>
              </a:spcAft>
            </a:pPr>
            <a:r>
              <a:rPr sz="1600" b="0">
                <a:solidFill>
                  <a:srgbClr val="FFFFFF"/>
                </a:solidFill>
                <a:latin typeface="맑은 고딕"/>
              </a:rPr>
              <a:t>•  정책은 대상 사용자에게</a:t>
            </a:r>
          </a:p>
          <a:p>
            <a:pPr algn="l">
              <a:spcAft>
                <a:spcPts val="800"/>
              </a:spcAft>
            </a:pPr>
            <a:r>
              <a:rPr sz="1600" b="0">
                <a:solidFill>
                  <a:srgbClr val="FFFFFF"/>
                </a:solidFill>
                <a:latin typeface="맑은 고딕"/>
              </a:rPr>
              <a:t>•  실패한 프록시 로그인 기록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통합 감사 기록의 DBPROXY_USERNAME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 행에 두 사용자가 함께 남는다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DBUSERNAME: 대상 사용자</a:t>
            </a:r>
          </a:p>
          <a:p>
            <a:pPr algn="l">
              <a:spcAft>
                <a:spcPts val="1000"/>
              </a:spcAft>
            </a:pPr>
            <a:r>
              <a:rPr sz="1700" b="0">
                <a:solidFill>
                  <a:srgbClr val="222222"/>
                </a:solidFill>
                <a:latin typeface="맑은 고딕"/>
              </a:rPr>
              <a:t>•  DBPROXY_USERNAME: 거쳐 온 프록시 계정</a:t>
            </a:r>
          </a:p>
          <a:p>
            <a:pPr algn="l">
              <a:spcAft>
                <a:spcPts val="1000"/>
              </a:spcAft>
            </a:pPr>
            <a:r>
              <a:rPr sz="1700" b="0">
                <a:solidFill>
                  <a:srgbClr val="222222"/>
                </a:solidFill>
                <a:latin typeface="맑은 고딕"/>
              </a:rPr>
              <a:t>•  직접 접속 작업은 DBPROXY_USERNAME이 비어 있음</a:t>
            </a:r>
          </a:p>
          <a:p>
            <a:pPr algn="l">
              <a:spcAft>
                <a:spcPts val="1000"/>
              </a:spcAft>
            </a:pPr>
            <a:r>
              <a:rPr sz="1700" b="0">
                <a:solidFill>
                  <a:srgbClr val="222222"/>
                </a:solidFill>
                <a:latin typeface="맑은 고딕"/>
              </a:rPr>
              <a:t>•  애플리케이션 밖 작업을 골라낼 수 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정책은 대상 사용자에게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BY 프록시 계정은 기록하지 않았다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AUDIT POLICY ... BY는 세션 사용자 기준</a:t>
            </a:r>
          </a:p>
          <a:p>
            <a:pPr algn="l">
              <a:spcAft>
                <a:spcPts val="1000"/>
              </a:spcAft>
            </a:pPr>
            <a:r>
              <a:rPr sz="1700" b="0">
                <a:solidFill>
                  <a:srgbClr val="222222"/>
                </a:solidFill>
                <a:latin typeface="맑은 고딕"/>
              </a:rPr>
              <a:t>•  프록시 세션의 세션 사용자 = 대상 사용자</a:t>
            </a:r>
          </a:p>
          <a:p>
            <a:pPr algn="l">
              <a:spcAft>
                <a:spcPts val="1000"/>
              </a:spcAft>
            </a:pPr>
            <a:r>
              <a:rPr sz="1700" b="0">
                <a:solidFill>
                  <a:srgbClr val="222222"/>
                </a:solidFill>
                <a:latin typeface="맑은 고딕"/>
              </a:rPr>
              <a:t>•  BY prx_app으로 옮기자 기록 건수 변화 없음</a:t>
            </a:r>
          </a:p>
          <a:p>
            <a:pPr algn="l">
              <a:spcAft>
                <a:spcPts val="1000"/>
              </a:spcAft>
            </a:pPr>
            <a:r>
              <a:rPr sz="1700" b="0">
                <a:solidFill>
                  <a:srgbClr val="222222"/>
                </a:solidFill>
                <a:latin typeface="맑은 고딕"/>
              </a:rPr>
              <a:t>•  경로별 기록은 WHEN 조건과 PROXY_USER로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실패한 프록시 로그인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ORA_LOGON_FAILURES가 남긴다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RETURN_CODE 1017: 허용 없음</a:t>
            </a:r>
          </a:p>
          <a:p>
            <a:pPr algn="l">
              <a:spcAft>
                <a:spcPts val="1000"/>
              </a:spcAft>
            </a:pPr>
            <a:r>
              <a:rPr sz="1700" b="0">
                <a:solidFill>
                  <a:srgbClr val="222222"/>
                </a:solidFill>
                <a:latin typeface="맑은 고딕"/>
              </a:rPr>
              <a:t>•  RETURN_CODE 1045: CREATE SESSION 없음</a:t>
            </a:r>
          </a:p>
          <a:p>
            <a:pPr algn="l">
              <a:spcAft>
                <a:spcPts val="1000"/>
              </a:spcAft>
            </a:pPr>
            <a:r>
              <a:rPr sz="1700" b="0">
                <a:solidFill>
                  <a:srgbClr val="222222"/>
                </a:solidFill>
                <a:latin typeface="맑은 고딕"/>
              </a:rPr>
              <a:t>•  RETURN_CODE 28150: 인증 요구 불충족</a:t>
            </a:r>
          </a:p>
          <a:p>
            <a:pPr algn="l">
              <a:spcAft>
                <a:spcPts val="1000"/>
              </a:spcAft>
            </a:pPr>
            <a:r>
              <a:rPr sz="1700" b="0">
                <a:solidFill>
                  <a:srgbClr val="222222"/>
                </a:solidFill>
                <a:latin typeface="맑은 고딕"/>
              </a:rPr>
              <a:t>•  DBPROXY_USERNAME으로 시도한 서버 식별</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원본 자료의 전통 감사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ON BEHALF OF와 PROXY_SESSIONID</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AUDIT ... BY proxy ON BEHALF OF client</a:t>
            </a:r>
          </a:p>
          <a:p>
            <a:pPr algn="l">
              <a:spcAft>
                <a:spcPts val="1000"/>
              </a:spcAft>
            </a:pPr>
            <a:r>
              <a:rPr sz="1700" b="0">
                <a:solidFill>
                  <a:srgbClr val="222222"/>
                </a:solidFill>
                <a:latin typeface="맑은 고딕"/>
              </a:rPr>
              <a:t>•  DBA_AUDIT_TRAIL을 PROXY_SESSIONID로 조인</a:t>
            </a:r>
          </a:p>
          <a:p>
            <a:pPr algn="l">
              <a:spcAft>
                <a:spcPts val="1000"/>
              </a:spcAft>
            </a:pPr>
            <a:r>
              <a:rPr sz="1700" b="0">
                <a:solidFill>
                  <a:srgbClr val="222222"/>
                </a:solidFill>
                <a:latin typeface="맑은 고딕"/>
              </a:rPr>
              <a:t>•  19c에서 디프리케이트, mixed 모드에서 동작</a:t>
            </a:r>
          </a:p>
          <a:p>
            <a:pPr algn="l">
              <a:spcAft>
                <a:spcPts val="1000"/>
              </a:spcAft>
            </a:pPr>
            <a:r>
              <a:rPr sz="1700" b="0">
                <a:solidFill>
                  <a:srgbClr val="222222"/>
                </a:solidFill>
                <a:latin typeface="맑은 고딕"/>
              </a:rPr>
              <a:t>•  pure unified 전환 전에 정책으로 옮겨 둔다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프록시 계정과 허용의 관리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잠금과 회수의 범위</a:t>
            </a:r>
          </a:p>
          <a:p>
            <a:pPr algn="l">
              <a:spcAft>
                <a:spcPts val="800"/>
              </a:spcAft>
            </a:pPr>
            <a:r>
              <a:rPr sz="1600" b="0">
                <a:solidFill>
                  <a:srgbClr val="FFFFFF"/>
                </a:solidFill>
                <a:latin typeface="맑은 고딕"/>
              </a:rPr>
              <a:t>•  오류 정리</a:t>
            </a:r>
          </a:p>
          <a:p>
            <a:pPr algn="l">
              <a:spcAft>
                <a:spcPts val="800"/>
              </a:spcAft>
            </a:pPr>
            <a:r>
              <a:rPr sz="1600" b="0">
                <a:solidFill>
                  <a:srgbClr val="FFFFFF"/>
                </a:solidFill>
                <a:latin typeface="맑은 고딕"/>
              </a:rPr>
              <a:t>•  정기 점검과 계정 생명주기</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잠금과 회수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막을지에 따라 고른다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프록시 계정 잠금: 그 경로 전체 ORA-28000</a:t>
            </a:r>
          </a:p>
          <a:p>
            <a:pPr algn="l">
              <a:spcAft>
                <a:spcPts val="1000"/>
              </a:spcAft>
            </a:pPr>
            <a:r>
              <a:rPr sz="1700" b="0">
                <a:solidFill>
                  <a:srgbClr val="222222"/>
                </a:solidFill>
                <a:latin typeface="맑은 고딕"/>
              </a:rPr>
              <a:t>•  REVOKE CONNECT THROUGH: 한 쌍만 ORA-01017</a:t>
            </a:r>
          </a:p>
          <a:p>
            <a:pPr algn="l">
              <a:spcAft>
                <a:spcPts val="1000"/>
              </a:spcAft>
            </a:pPr>
            <a:r>
              <a:rPr sz="1700" b="0">
                <a:solidFill>
                  <a:srgbClr val="222222"/>
                </a:solidFill>
                <a:latin typeface="맑은 고딕"/>
              </a:rPr>
              <a:t>•  대상 사용자 잠금: 모든 경로 차단</a:t>
            </a:r>
          </a:p>
          <a:p>
            <a:pPr algn="l">
              <a:spcAft>
                <a:spcPts val="1000"/>
              </a:spcAft>
            </a:pPr>
            <a:r>
              <a:rPr sz="1700" b="0">
                <a:solidFill>
                  <a:srgbClr val="222222"/>
                </a:solidFill>
                <a:latin typeface="맑은 고딕"/>
              </a:rPr>
              <a:t>•  직접 접속은 프록시 잠금의 영향 없음</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프록시 접속 오류 정리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단계 순서로 원인을 좁힌다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ORA-01017: 프록시 비밀번호 또는 허용 없음</a:t>
            </a:r>
          </a:p>
          <a:p>
            <a:pPr algn="l">
              <a:spcAft>
                <a:spcPts val="1000"/>
              </a:spcAft>
            </a:pPr>
            <a:r>
              <a:rPr sz="1700" b="0">
                <a:solidFill>
                  <a:srgbClr val="222222"/>
                </a:solidFill>
                <a:latin typeface="맑은 고딕"/>
              </a:rPr>
              <a:t>•  ORA-28150: 대상 사용자 인증 조건 불충족</a:t>
            </a:r>
          </a:p>
          <a:p>
            <a:pPr algn="l">
              <a:spcAft>
                <a:spcPts val="1000"/>
              </a:spcAft>
            </a:pPr>
            <a:r>
              <a:rPr sz="1700" b="0">
                <a:solidFill>
                  <a:srgbClr val="222222"/>
                </a:solidFill>
                <a:latin typeface="맑은 고딕"/>
              </a:rPr>
              <a:t>•  ORA-01045: 대상 사용자 로그인 권한 없음</a:t>
            </a:r>
          </a:p>
          <a:p>
            <a:pPr algn="l">
              <a:spcAft>
                <a:spcPts val="1000"/>
              </a:spcAft>
            </a:pPr>
            <a:r>
              <a:rPr sz="1700" b="0">
                <a:solidFill>
                  <a:srgbClr val="222222"/>
                </a:solidFill>
                <a:latin typeface="맑은 고딕"/>
              </a:rPr>
              <a:t>•  ORA-28000: 프록시 또는 대상 계정 잠김</a:t>
            </a:r>
          </a:p>
          <a:p>
            <a:pPr algn="l">
              <a:spcAft>
                <a:spcPts val="1000"/>
              </a:spcAft>
            </a:pPr>
            <a:r>
              <a:rPr sz="1700" b="0">
                <a:solidFill>
                  <a:srgbClr val="222222"/>
                </a:solidFill>
                <a:latin typeface="맑은 고딕"/>
              </a:rPr>
              <a:t>•  ORA-01924: 허용 범위 밖 역할 SET ROLE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정기 점검과 계정 생명주기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허용은 권한 목록에 안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프록시 계정에 늘어난 권한·역할 점검</a:t>
            </a:r>
          </a:p>
          <a:p>
            <a:pPr algn="l">
              <a:spcAft>
                <a:spcPts val="1000"/>
              </a:spcAft>
            </a:pPr>
            <a:r>
              <a:rPr sz="1700" b="0">
                <a:solidFill>
                  <a:srgbClr val="222222"/>
                </a:solidFill>
                <a:latin typeface="맑은 고딕"/>
              </a:rPr>
              <a:t>•  조건 없는 허용 + 강한 역할 사용자 점검</a:t>
            </a:r>
          </a:p>
          <a:p>
            <a:pPr algn="l">
              <a:spcAft>
                <a:spcPts val="1000"/>
              </a:spcAft>
            </a:pPr>
            <a:r>
              <a:rPr sz="1700" b="0">
                <a:solidFill>
                  <a:srgbClr val="222222"/>
                </a:solidFill>
                <a:latin typeface="맑은 고딕"/>
              </a:rPr>
              <a:t>•  퇴사·이동 절차에 허용 회수 포함</a:t>
            </a:r>
          </a:p>
          <a:p>
            <a:pPr algn="l">
              <a:spcAft>
                <a:spcPts val="1000"/>
              </a:spcAft>
            </a:pPr>
            <a:r>
              <a:rPr sz="1700" b="0">
                <a:solidFill>
                  <a:srgbClr val="222222"/>
                </a:solidFill>
                <a:latin typeface="맑은 고딕"/>
              </a:rPr>
              <a:t>•  프록시 계정 비밀번호 만료·잠금 정책 신중히</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데이터 딕셔너리 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DBA_PROXIES와 PROXY_USERS</a:t>
            </a:r>
          </a:p>
          <a:p>
            <a:pPr algn="l">
              <a:spcAft>
                <a:spcPts val="800"/>
              </a:spcAft>
            </a:pPr>
            <a:r>
              <a:rPr sz="1600" b="0">
                <a:solidFill>
                  <a:srgbClr val="FFFFFF"/>
                </a:solidFill>
                <a:latin typeface="맑은 고딕"/>
              </a:rPr>
              <a:t>•  V$SESSION_CONNECT_INFO</a:t>
            </a:r>
          </a:p>
          <a:p>
            <a:pPr algn="l">
              <a:spcAft>
                <a:spcPts val="800"/>
              </a:spcAft>
            </a:pPr>
            <a:r>
              <a:rPr sz="1600" b="0">
                <a:solidFill>
                  <a:srgbClr val="FFFFFF"/>
                </a:solidFill>
                <a:latin typeface="맑은 고딕"/>
              </a:rPr>
              <a:t>•  UNIFIED_AUDIT_TRAIL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프록시 관련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어디서 보는가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DBA_PROXIES: 쌍, 인증 요구, 역할 제한, 허용 역할</a:t>
            </a:r>
          </a:p>
          <a:p>
            <a:pPr algn="l">
              <a:spcAft>
                <a:spcPts val="1000"/>
              </a:spcAft>
            </a:pPr>
            <a:r>
              <a:rPr sz="1700" b="0">
                <a:solidFill>
                  <a:srgbClr val="222222"/>
                </a:solidFill>
                <a:latin typeface="맑은 고딕"/>
              </a:rPr>
              <a:t>•  PROXY_USERS: 같은 관계의 요약(FLAGS)</a:t>
            </a:r>
          </a:p>
          <a:p>
            <a:pPr algn="l">
              <a:spcAft>
                <a:spcPts val="1000"/>
              </a:spcAft>
            </a:pPr>
            <a:r>
              <a:rPr sz="1700" b="0">
                <a:solidFill>
                  <a:srgbClr val="222222"/>
                </a:solidFill>
                <a:latin typeface="맑은 고딕"/>
              </a:rPr>
              <a:t>•  USER_PROXIES: 내가 대상인 허용</a:t>
            </a:r>
          </a:p>
          <a:p>
            <a:pPr algn="l">
              <a:spcAft>
                <a:spcPts val="1000"/>
              </a:spcAft>
            </a:pPr>
            <a:r>
              <a:rPr sz="1700" b="0">
                <a:solidFill>
                  <a:srgbClr val="222222"/>
                </a:solidFill>
                <a:latin typeface="맑은 고딕"/>
              </a:rPr>
              <a:t>•  V$SESSION_CONNECT_INFO: AUTHENTICATION_TYPE</a:t>
            </a:r>
          </a:p>
          <a:p>
            <a:pPr algn="l">
              <a:spcAft>
                <a:spcPts val="1000"/>
              </a:spcAft>
            </a:pPr>
            <a:r>
              <a:rPr sz="1700" b="0">
                <a:solidFill>
                  <a:srgbClr val="222222"/>
                </a:solidFill>
                <a:latin typeface="맑은 고딕"/>
              </a:rPr>
              <a:t>•  UNIFIED_AUDIT_TRAIL: DBPROXY_USERNAME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2.11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다른 보안 기능과의 연계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VPD 정책 함수</a:t>
            </a:r>
          </a:p>
          <a:p>
            <a:pPr algn="l">
              <a:spcAft>
                <a:spcPts val="800"/>
              </a:spcAft>
            </a:pPr>
            <a:r>
              <a:rPr sz="1600" b="0">
                <a:solidFill>
                  <a:srgbClr val="FFFFFF"/>
                </a:solidFill>
                <a:latin typeface="맑은 고딕"/>
              </a:rPr>
              <a:t>•  클라이언트 식별자</a:t>
            </a:r>
          </a:p>
          <a:p>
            <a:pPr algn="l">
              <a:spcAft>
                <a:spcPts val="800"/>
              </a:spcAft>
            </a:pPr>
            <a:r>
              <a:rPr sz="1600" b="0">
                <a:solidFill>
                  <a:srgbClr val="FFFFFF"/>
                </a:solidFill>
                <a:latin typeface="맑은 고딕"/>
              </a:rPr>
              <a:t>•  Data Redaction과 FGA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VPD와 Redaction에서 쓰기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실제 사용자와 경로를 조건으로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VPD: SESSION_USER로 사용자별 행 필터</a:t>
            </a:r>
          </a:p>
          <a:p>
            <a:pPr algn="l">
              <a:spcAft>
                <a:spcPts val="1000"/>
              </a:spcAft>
            </a:pPr>
            <a:r>
              <a:rPr sz="1700" b="0">
                <a:solidFill>
                  <a:srgbClr val="222222"/>
                </a:solidFill>
                <a:latin typeface="맑은 고딕"/>
              </a:rPr>
              <a:t>•  PROXY_USER로 애플리케이션 경로에서만 공개</a:t>
            </a:r>
          </a:p>
          <a:p>
            <a:pPr algn="l">
              <a:spcAft>
                <a:spcPts val="1000"/>
              </a:spcAft>
            </a:pPr>
            <a:r>
              <a:rPr sz="1700" b="0">
                <a:solidFill>
                  <a:srgbClr val="222222"/>
                </a:solidFill>
                <a:latin typeface="맑은 고딕"/>
              </a:rPr>
              <a:t>•  Redaction 정책 식에도 PROXY_USER 사용</a:t>
            </a:r>
          </a:p>
          <a:p>
            <a:pPr algn="l">
              <a:spcAft>
                <a:spcPts val="1000"/>
              </a:spcAft>
            </a:pPr>
            <a:r>
              <a:rPr sz="1700" b="0">
                <a:solidFill>
                  <a:srgbClr val="222222"/>
                </a:solidFill>
                <a:latin typeface="맑은 고딕"/>
              </a:rPr>
              <a:t>•  FGA 조건·핸들러에서도 같은 값</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클라이언트 식별자와 함께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 계정이 없는 사용자 표시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DBMS_SESSION.SET_IDENTIFIER로 웹 사용자 ID 기록</a:t>
            </a:r>
          </a:p>
          <a:p>
            <a:pPr algn="l">
              <a:spcAft>
                <a:spcPts val="1000"/>
              </a:spcAft>
            </a:pPr>
            <a:r>
              <a:rPr sz="1700" b="0">
                <a:solidFill>
                  <a:srgbClr val="222222"/>
                </a:solidFill>
                <a:latin typeface="맑은 고딕"/>
              </a:rPr>
              <a:t>•  USERENV CLIENT_IDENTIFIER, 감사 CLIENT_ID</a:t>
            </a:r>
          </a:p>
          <a:p>
            <a:pPr algn="l">
              <a:spcAft>
                <a:spcPts val="1000"/>
              </a:spcAft>
            </a:pPr>
            <a:r>
              <a:rPr sz="1700" b="0">
                <a:solidFill>
                  <a:srgbClr val="222222"/>
                </a:solidFill>
                <a:latin typeface="맑은 고딕"/>
              </a:rPr>
              <a:t>•  부서 계정 프록시 + 개인 사번 식별자 조합</a:t>
            </a:r>
          </a:p>
          <a:p>
            <a:pPr algn="l">
              <a:spcAft>
                <a:spcPts val="1000"/>
              </a:spcAft>
            </a:pPr>
            <a:r>
              <a:rPr sz="1700" b="0">
                <a:solidFill>
                  <a:srgbClr val="222222"/>
                </a:solidFill>
                <a:latin typeface="맑은 고딕"/>
              </a:rPr>
              <a:t>•  위조 가능, 권한 판단 단독 근거 금지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2.12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도입 절차와 운영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공용 계정에서 프록시로 옮기는 순서</a:t>
            </a:r>
          </a:p>
          <a:p>
            <a:pPr algn="l">
              <a:spcAft>
                <a:spcPts val="800"/>
              </a:spcAft>
            </a:pPr>
            <a:r>
              <a:rPr sz="1600" b="0">
                <a:solidFill>
                  <a:srgbClr val="FFFFFF"/>
                </a:solidFill>
                <a:latin typeface="맑은 고딕"/>
              </a:rPr>
              <a:t>•  운영 시 주의점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도입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공용 계정에서 프록시 인증으로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애플리케이션별 프록시 계정 생성</a:t>
            </a:r>
          </a:p>
          <a:p>
            <a:pPr algn="l">
              <a:spcAft>
                <a:spcPts val="1000"/>
              </a:spcAft>
            </a:pPr>
            <a:r>
              <a:rPr sz="1700" b="0">
                <a:solidFill>
                  <a:srgbClr val="222222"/>
                </a:solidFill>
                <a:latin typeface="맑은 고딕"/>
              </a:rPr>
              <a:t>•  대상 사용자 CREATE SESSION 출처 확인</a:t>
            </a:r>
          </a:p>
          <a:p>
            <a:pPr algn="l">
              <a:spcAft>
                <a:spcPts val="1000"/>
              </a:spcAft>
            </a:pPr>
            <a:r>
              <a:rPr sz="1700" b="0">
                <a:solidFill>
                  <a:srgbClr val="222222"/>
                </a:solidFill>
                <a:latin typeface="맑은 고딕"/>
              </a:rPr>
              <a:t>•  허용 조건 결정과 GRANT</a:t>
            </a:r>
          </a:p>
          <a:p>
            <a:pPr algn="l">
              <a:spcAft>
                <a:spcPts val="1000"/>
              </a:spcAft>
            </a:pPr>
            <a:r>
              <a:rPr sz="1700" b="0">
                <a:solidFill>
                  <a:srgbClr val="222222"/>
                </a:solidFill>
                <a:latin typeface="맑은 고딕"/>
              </a:rPr>
              <a:t>•  연결 코드 변경, 감사·VPD 정책 정비</a:t>
            </a:r>
          </a:p>
          <a:p>
            <a:pPr algn="l">
              <a:spcAft>
                <a:spcPts val="1000"/>
              </a:spcAft>
            </a:pPr>
            <a:r>
              <a:rPr sz="1700" b="0">
                <a:solidFill>
                  <a:srgbClr val="222222"/>
                </a:solidFill>
                <a:latin typeface="맑은 고딕"/>
              </a:rPr>
              <a:t>•  공용 계정 접속이 사라진 뒤 권한 회수</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조용히 넓어지는 권한을 막는다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프록시 계정에는 CREATE SESSION만 유지</a:t>
            </a:r>
          </a:p>
          <a:p>
            <a:pPr algn="l">
              <a:spcAft>
                <a:spcPts val="1000"/>
              </a:spcAft>
            </a:pPr>
            <a:r>
              <a:rPr sz="1700" b="0">
                <a:solidFill>
                  <a:srgbClr val="222222"/>
                </a:solidFill>
                <a:latin typeface="맑은 고딕"/>
              </a:rPr>
              <a:t>•  강한 역할 사용자에게 조건 없는 허용 금지</a:t>
            </a:r>
          </a:p>
          <a:p>
            <a:pPr algn="l">
              <a:spcAft>
                <a:spcPts val="1000"/>
              </a:spcAft>
            </a:pPr>
            <a:r>
              <a:rPr sz="1700" b="0">
                <a:solidFill>
                  <a:srgbClr val="222222"/>
                </a:solidFill>
                <a:latin typeface="맑은 고딕"/>
              </a:rPr>
              <a:t>•  허용 변경 후 실제 경로로 로그인 시험</a:t>
            </a:r>
          </a:p>
          <a:p>
            <a:pPr algn="l">
              <a:spcAft>
                <a:spcPts val="1000"/>
              </a:spcAft>
            </a:pPr>
            <a:r>
              <a:rPr sz="1700" b="0">
                <a:solidFill>
                  <a:srgbClr val="222222"/>
                </a:solidFill>
                <a:latin typeface="맑은 고딕"/>
              </a:rPr>
              <a:t>•  감사 정책은 대상 사용자 기준</a:t>
            </a:r>
          </a:p>
          <a:p>
            <a:pPr algn="l">
              <a:spcAft>
                <a:spcPts val="1000"/>
              </a:spcAft>
            </a:pPr>
            <a:r>
              <a:rPr sz="1700" b="0">
                <a:solidFill>
                  <a:srgbClr val="222222"/>
                </a:solidFill>
                <a:latin typeface="맑은 고딕"/>
              </a:rPr>
              <a:t>•  감사 정책 삭제 전 BY 대상 모두 NOAUDIT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프록시 계정이 인증, 세션 사용자·권한은 대상 사용자</a:t>
            </a:r>
          </a:p>
          <a:p>
            <a:pPr algn="l">
              <a:spcAft>
                <a:spcPts val="1000"/>
              </a:spcAft>
            </a:pPr>
            <a:r>
              <a:rPr sz="1600" b="0">
                <a:solidFill>
                  <a:srgbClr val="222222"/>
                </a:solidFill>
                <a:latin typeface="맑은 고딕"/>
              </a:rPr>
              <a:t>•  허용은 ALTER USER 대상 GRANT CONNECT THROUGH 프록시</a:t>
            </a:r>
          </a:p>
          <a:p>
            <a:pPr algn="l">
              <a:spcAft>
                <a:spcPts val="1000"/>
              </a:spcAft>
            </a:pPr>
            <a:r>
              <a:rPr sz="1600" b="0">
                <a:solidFill>
                  <a:srgbClr val="222222"/>
                </a:solidFill>
                <a:latin typeface="맑은 고딕"/>
              </a:rPr>
              <a:t>•  WITH ROLE이 역할 상한, CREATE SESSION 출처 주의(01045)</a:t>
            </a:r>
          </a:p>
          <a:p>
            <a:pPr algn="l">
              <a:spcAft>
                <a:spcPts val="1000"/>
              </a:spcAft>
            </a:pPr>
            <a:r>
              <a:rPr sz="1600" b="0">
                <a:solidFill>
                  <a:srgbClr val="222222"/>
                </a:solidFill>
                <a:latin typeface="맑은 고딕"/>
              </a:rPr>
              <a:t>•  AUTHENTICATION REQUIRED는 대상 자격 증명 요구(28150)</a:t>
            </a:r>
          </a:p>
          <a:p>
            <a:pPr algn="l">
              <a:spcAft>
                <a:spcPts val="1000"/>
              </a:spcAft>
            </a:pPr>
            <a:r>
              <a:rPr sz="1600" b="0">
                <a:solidFill>
                  <a:srgbClr val="222222"/>
                </a:solidFill>
                <a:latin typeface="맑은 고딕"/>
              </a:rPr>
              <a:t>•  PROXY_USER, AUTHENTICATION_TYPE=PROXY, DBPROXY_USERNAME</a:t>
            </a:r>
          </a:p>
          <a:p>
            <a:pPr algn="l">
              <a:spcAft>
                <a:spcPts val="1000"/>
              </a:spcAft>
            </a:pPr>
            <a:r>
              <a:rPr sz="1600" b="0">
                <a:solidFill>
                  <a:srgbClr val="222222"/>
                </a:solidFill>
                <a:latin typeface="맑은 고딕"/>
              </a:rPr>
              <a:t>•  감사 정책은 대상 사용자에게, 차단은 프록시 계정 잠금</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APPSRV가 SCOTT를 대신하도록 허용하는 문장은? → ALTER USER scott GRANT CONNECT THROUGH appsrv</a:t>
            </a:r>
          </a:p>
          <a:p>
            <a:pPr algn="l">
              <a:spcAft>
                <a:spcPts val="1000"/>
              </a:spcAft>
            </a:pPr>
            <a:r>
              <a:rPr sz="1600" b="0">
                <a:solidFill>
                  <a:srgbClr val="222222"/>
                </a:solidFill>
                <a:latin typeface="맑은 고딕"/>
              </a:rPr>
              <a:t>•  Q2. 프록시 세션의 SESSION_USER와 PROXY_USER는? → 대상 사용자, 프록시 계정</a:t>
            </a:r>
          </a:p>
          <a:p>
            <a:pPr algn="l">
              <a:spcAft>
                <a:spcPts val="1000"/>
              </a:spcAft>
            </a:pPr>
            <a:r>
              <a:rPr sz="1600" b="0">
                <a:solidFill>
                  <a:srgbClr val="222222"/>
                </a:solidFill>
                <a:latin typeface="맑은 고딕"/>
              </a:rPr>
              <a:t>•  Q3. CONNECT를 뺀 WITH ROLE로 바꾼 뒤 접속하면? → ORA-01045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AUTHENTICATION REQUIRED 허용에 SQL*Plus 프록시 접속하면? → ORA-28150</a:t>
            </a:r>
          </a:p>
          <a:p>
            <a:pPr algn="l">
              <a:spcAft>
                <a:spcPts val="1000"/>
              </a:spcAft>
            </a:pPr>
            <a:r>
              <a:rPr sz="1600" b="0">
                <a:solidFill>
                  <a:srgbClr val="222222"/>
                </a:solidFill>
                <a:latin typeface="맑은 고딕"/>
              </a:rPr>
              <a:t>•  Q5. 프록시 경유 DML 감사 정책의 대상은? → 대상 사용자(BY user1)</a:t>
            </a:r>
          </a:p>
          <a:p>
            <a:pPr algn="l">
              <a:spcAft>
                <a:spcPts val="1000"/>
              </a:spcAft>
            </a:pPr>
            <a:r>
              <a:rPr sz="1600" b="0">
                <a:solidFill>
                  <a:srgbClr val="222222"/>
                </a:solidFill>
                <a:latin typeface="맑은 고딕"/>
              </a:rPr>
              <a:t>•  Q6. 침해된 서버의 경로 전체를 막으려면? → 프록시 계정 잠금</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프록시 계정과 대상 사용자: ORA-01017, USERENV (2.3, 2.4)</a:t>
            </a:r>
          </a:p>
          <a:p>
            <a:pPr algn="l">
              <a:spcAft>
                <a:spcPts val="1000"/>
              </a:spcAft>
            </a:pPr>
            <a:r>
              <a:rPr sz="1600" b="0">
                <a:solidFill>
                  <a:srgbClr val="222222"/>
                </a:solidFill>
                <a:latin typeface="맑은 고딕"/>
              </a:rPr>
              <a:t>•  02 WITH ROLE로 역할 제한: ORA-01045, ORA-01924 (2.5)</a:t>
            </a:r>
          </a:p>
          <a:p>
            <a:pPr algn="l">
              <a:spcAft>
                <a:spcPts val="1000"/>
              </a:spcAft>
            </a:pPr>
            <a:r>
              <a:rPr sz="1600" b="0">
                <a:solidFill>
                  <a:srgbClr val="222222"/>
                </a:solidFill>
                <a:latin typeface="맑은 고딕"/>
              </a:rPr>
              <a:t>•  03 AUTHENTICATION REQUIRED: ORA-28150, 옛 문법 (2.6)</a:t>
            </a:r>
          </a:p>
          <a:p>
            <a:pPr algn="l">
              <a:spcAft>
                <a:spcPts val="1000"/>
              </a:spcAft>
            </a:pPr>
            <a:r>
              <a:rPr sz="1600" b="0">
                <a:solidFill>
                  <a:srgbClr val="222222"/>
                </a:solidFill>
                <a:latin typeface="맑은 고딕"/>
              </a:rPr>
              <a:t>•  04 감사 기록으로 실제 사용자 추적: DBPROXY_USERNAME (2.8)</a:t>
            </a:r>
          </a:p>
          <a:p>
            <a:pPr algn="l">
              <a:spcAft>
                <a:spcPts val="1000"/>
              </a:spcAft>
            </a:pPr>
            <a:r>
              <a:rPr sz="1600" b="0">
                <a:solidFill>
                  <a:srgbClr val="222222"/>
                </a:solidFill>
                <a:latin typeface="맑은 고딕"/>
              </a:rPr>
              <a:t>•  05 프록시 관리와 철거: ORA-28000, ORA-46361, 원복 (2.7,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
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방식은 쓰는 자리가 다릅니다. 운영 데이터를 개발 서버로 복사할 때는 복제본에 처음부터 가짜 값만 있어야 하므로 정적 마스킹을 씁니다. 개발자가 어떤 SQL을 쓰든 원래 값이 없으니 안전합니다. 반면 운영 DB에서 콜센터 직원은 주민번호 앞자리만, 본인 확인 담당자는 전체를 봐야 하는 식으로 사용자마다 달라야 할 때는 Data Redaction을 씁니다. 저장된 값은 그대로라 정책을 끄면 바로 원래 값이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리댁션의 동작 시점을 정확히 알아야 뒤에 나오는 한계가 이해됩니다. 데이터베이스는 SQL을 원래 값으로 끝까지 실행한 다음, 결과 행을 클라이언트에 보내기 직전에 정책에 따라 값을 바꿉니다. 그래서 같은 SQL을 실행한 두 사용자는 같은 행 수와 같은 정렬 순서를 받고 값만 다르게 봅니다. 실습 01에서 SKING은 급여가 0으로, SCOTT은 24000으로 보이지만 두 사람 모두 같은 다섯 행을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 대상을 고를 때 기준은 단순합니다. 그 사용자가 행 자체는 봐야 하는데 특정 컬럼의 값 전체는 필요 없는가입니다. 행 자체를 숨겨야 한다면 7장의 VPD가 맞고, 운영과 분리된 복제본이라면 정적 마스킹이 맞습니다. 개인정보 관련 규정이 요구하는 화면 표시 시 일부 가림을 애플리케이션마다 따로 구현하면 화면이 늘 때마다 빠지는 곳이 생깁니다. DB 한곳에서 정책으로 처리하면 새 화면에도 같은 규칙이 자동으로 적용됩니다.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Redaction은 Enterprise Edition에 Advanced Security 옵션 라이선스가 추가로 필요한 기능입니다. 실습 DB에서 패키지가 동작한다고 해서 라이선스가 있다는 뜻은 아니니 운영 도입 전에 반드시 확인해야 합니다. 비슷해 보이는 기능들의 차이도 정리해 두면 좋습니다. TDE는 데이터 파일을 통째로 가져가는 공격을 막고, SQL로 정상 조회하면 원래 값이 나옵니다. 리댁션은 정상 접속한 사용자의 화면 노출을 줄입니다. 그래서 두 기능을 함께 쓰는 경우가 많습니다.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하나 안에서 컬럼마다 리댁션 방식은 다르게 줄 수 있지만 정책 식은 하나를 공유합니다. 실습 03에서 급여는 숫자 PARTIAL, 커미션은 NULLIFY, 이메일은 RANDOM, 입사일은 날짜 PARTIAL로 한 정책 안에 넣었습니다. 컬럼마다 리댁션 대상 사용자가 달라야 한다면 정책 식 하나로는 표현이 안 되므로, 뒤에서 볼 이름 붙은 정책 식을 컬럼에 연결해 그 컬럼에서만 다른 조건을 쓰게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02에서 고객 테이블에 주민번호 정책을 만든 뒤 전화번호용 정책을 따로 만들려 하자 ORA-28069가 났습니다. 테이블이나 뷰 하나에는 정책을 하나만 둘 수 있기 때문입니다. 전화번호는 기존 정책에 ALTER_POLICY로 컬럼을 추가해서 해결했습니다. 같은 컬럼을 사용자 집단마다 다른 방식으로 가려야 한다면 테이블 위에 뷰를 만들고 그 뷰에 두 번째 정책을 겁니다. 이 경우 뷰 체인에서 가장 앞쪽 뷰의 정책이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01의 첫 오류가 PLS-00201이었습니다. HR이 자기 테이블에 정책을 만들려 했지만 DBMS_REDACT를 볼 수 없어 PL/SQL 컴파일 단계에서 실패했습니다. 19.3 기본 상태에서 이 패키지의 실행 권한은 EXECUTE_CATALOG_ROLE과 IMP_FULL_DATABASE에만 있습니다. 실행 권한을 받은 뒤에도 객체 생성 권한이 함께 필요하다는 점이 독특합니다. 다른 스키마의 객체에 정책을 걸려면 CREATE ANY TABLE이 필요해서 보안 관리자 계정의 권한이 꽤 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단순하게 HR에게 실행 권한을 줘서 HR이 정책을 만들었습니다. 하지만 운영에서 이렇게 하면 데이터 소유자가 정책 식을 자기에게 유리하게 고치거나 정책을 꺼 버릴 수 있습니다. 7장의 VPD에서 정책 관리자 계정을 분리했던 것과 같은 이유로, 리댁션도 별도 보안 관리자 계정이 관리하게 합니다. 다만 그 계정에 필요한 CREATE ANY TABLE은 리댁션과 무관하게 강력한 권한이므로 사용 기록을 남기는 것이 전제입니다.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식의 방향을 헷갈리는 경우가 많습니다. 식이 참이면 가리고, 거짓이면 원래 값을 보여 줍니다. 실습 01의 식은 세션 사용자가 SCOTT도 HR도 아니면 참이라서 SKING에게만 가려졌습니다. 식은 조회할 때마다 평가되므로 세션 속성이 바뀌면 결과도 바뀝니다. 주의할 것은 NULL입니다. CLIENT_IDENTIFIER처럼 설정되지 않을 수 있는 값과 비교하면 결과가 NULL이 되어 참이 아니므로, 값이 없는 세션에는 리댁션이 일어나지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식은 아무 SQL 조건이나 쓸 수 있는 자리가 아닙니다. 실습 03에서 HR이 만든 is_manager 함수를 식에 넣자 ORA-28088로 거부됐고, 별도로 시험한 NVL도 ORA-28087로 거부됐습니다. 반대로 IS NULL은 문서의 연산자 목록에는 없지만 19.3에서 받아들여졌습니다. 복잡한 판단이 필요하면 로그인할 때 애플리케이션 컨텍스트에 결과를 넣어 두고, 정책 식에서는 SYS_CONTEXT 값과 비교만 하도록 설계합니다. 6장의 컨텍스트가 여기서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정책 식을 HR_PAYROLL 역할이 없으면 리댁션으로 바꾸고 SCOTT에게만 그 역할을 주자, SCOTT은 원래 급여 24000을, SKING은 가린 값을 봤습니다. 이렇게 하면 급여 담당자가 바뀌어도 정책은 그대로 두고 역할만 주고 회수하면 됩니다. 판정은 세션에서 활성화된 역할을 기준으로 하므로, 역할을 받았어도 기본 역할이 아니면 로그인 직후에는 가려진 값을 보게 됩니다. 배치 계정에서 이 차이 때문에 문제가 생기는 경우가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정의 컨텍스트로 등급을 판정하는 정책을 생각해 봅시다. 등급이 HIGH가 아니면 가리도록 썼는데, 어떤 이유로 컨텍스트가 설정되지 않은 세션은 비교 결과가 NULL이라 원래 값을 보게 됩니다. 안전한 쪽으로 닫으려면 값이 없는 경우를 OR IS NULL로 명시합니다. 19.3에서 이 식은 정상 등록됐습니다. NVL로 기본값을 채우는 방식은 허용되지 않아 ORA-28087이 났습니다. 문법 제약이 엄격하니 비활성 상태로 먼저 만들어 확인하는 습관이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12.2부터 정책 식에 이름을 붙여 여러 컬럼에 재사용할 수 있습니다. 실습 05에서 정책 기본 식은 역할 기반이었는데, 급여 컬럼에 HR이 아니면 리댁션이라는 이름 붙은 식을 연결하자 역할을 가진 SCOTT에게도 급여가 가려졌습니다. 컬럼에 연결된 식이 정책 식을 덮어쓴 것입니다. 그래서 정책을 점검할 때 REDACTION_POLICIES만 보면 판단이 틀릴 수 있습니다. 식을 지울 때는 먼저 컬럼과의 연결을 끊어야 하며, 그렇지 않으면 ORA-28092가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function_type을 생략하면 FULL이 됩니다. 나머지 방식은 상수로 지정하고, PARTIAL은 function_parameters, REGEXP는 regexp로 시작하는 인자들을 함께 줍니다. 원본 실습 자료는 NULL로 가리는 방식을 DBMS_REDACT.NULL로 적었는데 19c 패키지의 실제 상수 이름은 NULLIFY입니다. NONE은 아무것도 가리지 않는 방식이라 쓸모가 없어 보이지만, 리댁션된 테이블 위의 뷰에 걸어 특정 사용자 집단에게만 원래 값을 보여 줄 때 씁니다.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방식을 정하기 전에 컬럼 자료형부터 확인합니다. 정규식 방식은 문자와 CLOB에만 쓸 수 있어서 숫자로 저장된 주민번호나 전화번호에는 쓸 수 없습니다. 이 경우 숫자 PARTIAL을 쓰거나 저장 자료형을 다시 검토해야 합니다. RAW나 INTERVAL, XMLType 같은 자료형은 어떤 방식도 지원하지 않아 ORA-28073이 납니다. 통계 수집용 컬럼 그룹이 걸린 컬럼에서도 같은 오류가 날 수 있다고 매뉴얼에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01에서 SKING에게 급여가 모두 0으로 나왔습니다. 숫자 컬럼의 FULL 기본값입니다. 원본 자료는 날짜를 0000-00-00으로 설명했지만 19.3에서 확인한 날짜 값은 2001-01-01입니다. 숫자 0이 문제가 되는 이유는 화면 사용자가 진짜 0으로 오해하거나 합계가 조용히 틀리기 때문입니다. 기본값을 -1처럼 눈에 띄는 값으로 바꿀 수는 있지만 DB 전체 정책에 적용되므로 여러 애플리케이션이 함께 쓰는 DB에서는 신중해야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PARTIAL은 위치 기반입니다. 숫자는 가림 숫자와 시작, 끝 자리를 주고, 날짜는 월일연시분초 순서로 소문자 뒤에 숫자를 붙이면 그 값으로 고정, 대문자는 유지입니다. 실습 03에서 급여는 앞 두 자리가 9로 바뀌어 24000이 99000이 됐고 입사일은 연도만 남았습니다. 문자 PARTIAL은 매뉴얼상 고정 폭 문자셋이 전제인데, AL32UTF8인 실습 DB에서도 ASCII 전화번호에는 동작했습니다. 한글이 섞이면 위치가 어긋날 수 있으니 정규식을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02의 주민번호 정책은 앞 여섯 자리와 하이픈을 첫 번째 그룹으로 잡아 그대로 두고 나머지를 샵 문자로 바꿨습니다. 그런데 하이픈 없이 저장된 다섯 번째 고객은 주민번호 칸이 비어 나왔습니다. 패턴이 맞지 않으면 원래 값을 내보내지 않고 FULL로 가리기 때문입니다. 안전한 동작이지만 콜센터 화면에서는 데이터가 사라진 것처럼 보입니다. 이관 데이터처럼 형식이 섞여 있다면 패턴을 넓히거나 저장 형식부터 통일해야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03에서 이메일에 RANDOM을 걸자 같은 사원의 이메일이 두 번의 조회에서 서로 다른 문자열로 나왔습니다. 가렸다는 사실은 분명히 드러나지만 형식 검증을 하는 화면이라면 오류가 납니다. 커미션에 건 NULLIFY는 커미션이 있던 사원과 없던 사원을 똑같이 보이게 만들었습니다. NULL을 예상하지 않은 프로그램에서는 예외가 나기도 합니다. 방식을 고르기 전에 애플리케이션이 그 컬럼으로 무엇을 하는지 확인하는 것이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방식 선택은 기술보다 업무 요구에서 출발합니다. 화면 사용자가 가려졌다는 사실을 알아야 하는지, 정상 값처럼 보여야 하는지를 업무 담당자와 먼저 정합니다. 그다음 애플리케이션이 그 컬럼을 계산이나 검증에 쓰는지 확인합니다. 쓴다면 FULL의 0이나 RANDOM 값은 잘못된 결과를 만듭니다. 마지막으로 데이터 형식이 일정한지 봅니다. 정규식은 형식이 맞지 않는 행을 통째로 가리므로 데이터 품질이 낮으면 화면 품질도 떨어집니다.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ADD_POLICY는 인자가 열다섯 개나 되므로 반드시 이름을 붙여 넘깁니다. 별도로 시험하다가 네 번째 값으로 컬럼 이름을 위치 인자로 넘겼더니 오류 없이 정책이 만들어졌지만 가려지는 컬럼이 하나도 없었습니다. DBA_ARGUMENTS로 확인해 보니 19.3에서 네 번째 인자는 정책 설명이고 컬럼 이름은 다섯 번째였습니다. 리댁션이 안 되는데 오류도 없어서 알아채기 어려운 실수입니다. 운영에서는 비활성으로 만들고 시험 후 켜는 순서를 지킵니다.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ALTER_POLICY는 action 인자로 무엇을 할지 정하는데 기본값이 ADD_COLUMN입니다. 기존 컬럼의 방식을 바꾸려다 action을 빠뜨리면 컬럼 추가로 해석되어 ORA-28060이 납니다. 실습 03에서 일부러 이 오류를 냈습니다. 여러 컬럼을 바꿀 때는 한 PL/SQL 블록에서 여러 번 호출하는데, 중간에 실패해도 앞의 호출은 이미 반영돼 있다는 점을 알아 두어야 합니다. 실패 후에는 REDACTION_COLUMNS로 어디까지 들어갔는지 확인하고 이어서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05에서 고객 정책을 끄자 SKING에게 주민번호 원래 값이 바로 보였습니다. 정책 끄기는 그만큼 영향이 큰 작업이라 변경 관리와 감사 대상이어야 합니다. 원본 실습 자료는 정책 삭제 블록에서 SQLCODE -28109를 예외로 삼켰는데, 19.3에서 정책이 없을 때 나는 오류는 ORA-28068이었습니다. 반복 실행용 정리 스크립트를 쓸 때는 이런 오류 번호를 직접 확인해야 엉뚱한 오류까지 삼키는 일을 막을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리댁션 관련 오류는 번호만 보면 원인이 대부분 정해집니다. 정책을 만드는 단계에서는 권한, 정책 개수, 컬럼 중복, 정책 식 문법 오류가 나오고, 정책이 걸린 뒤에는 업무 사용자 쪽에서 ORA-28081과 ORA-28094가 나옵니다. 뒤의 두 오류는 정책을 만든 사람이 아니라 화면이나 배치를 운영하는 사람에게 먼저 보고된다는 점이 특징입니다. 정책 적용 직후에는 이 두 번호를 모니터링 대상에 넣어 두면 대응이 빨라집니다.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리댁션의 가장 중요한 한계입니다. 실습 04에서 SKING에게 급여는 모두 99000처럼 보였지만, 급여가 15000을 넘는 조건으로 조회하자 실제로 그런 세 명만 나왔습니다. 범위를 좁혀 가면 개별 급여를 알아낼 수 있고 정렬로 순위도 알 수 있습니다. 매뉴얼도 Data Redaction이 임의 SQL을 쓰는 사용자의 추론을 막는 기능이 아니라고 밝힙니다. 화면이 정해진 애플리케이션 사용자에게 맞는 기능이고, SQL 도구를 쓰는 사용자에게는 다른 통제를 함께 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값을 가리는 기능이라면 원래 값을 다른 테이블에 복사해 정책 밖으로 꺼내는 길이 걱정됩니다. 실습 04에서 SKING이 급여를 포함한 CREATE TABLE AS SELECT와 INSERT SELECT를 시도하자 둘 다 ORA-28081로 막혔습니다. 이름만 고른 복사는 107건 모두 성공했습니다. 반면 면제 권한을 받자 원래 급여가 그대로 복사됐고, 새 테이블에는 정책이 없으므로 이후 누구에게나 보입니다. 면제 권한을 엄격하게 관리해야 하는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04에서 급여에 12를 곱한 연봉 뷰를 만들어 SKING에게 조회시키자 ORA-28094가 났습니다. 데이터베이스가 계산된 뷰 컬럼을 어떻게 가려야 할지 정하지 못한 것입니다. 뷰가 급여를 그대로 내보내도록 바꾸자 리댁션된 값이 나왔고, 계산을 바깥 조회에서 하니 리댁션된 값에 12를 곱한 의미 없는 숫자가 나왔습니다. 기존 화면이 이런 뷰를 쓰고 있으면 정책 적용 다음 날 화면이 열리지 않는 사고로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7장의 VPD와 리댁션은 함께 쓰기 좋습니다. VPD가 행을 걸러 자기 부서만 보이게 하고, 그 안에서 급여는 급여 담당 역할이 있을 때만 원래 값으로 보이게 하는 식입니다. 다만 VPD 정책 함수가 만드는 술어에 쓰이는 컬럼에는 리댁션을 걸 수 없으니 부서 번호 같은 컬럼은 대상에서 빼야 합니다. 두 기능의 면제 권한도 EXEMPT ACCESS POLICY와 EXEMPT REDACTION POLICY로 따로 있으니 점검할 때 빠뜨리지 않도록 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DB에서 DBA_SYS_PRIVS를 조회하면 EXEMPT REDACTION POLICY의 보유자로 EXP_FULL_DATABASE 역할이 나오고, DBA 역할은 이 역할을 포함합니다. 그래서 DBA 권한을 받은 계정에는 리댁션이 적용되지 않습니다. 장애 대응을 이유로 개발자 계정에 DBA를 임시로 주면 그 순간 모든 가린 값이 열립니다. NONE 정책이 걸린 뷰의 SELECT 권한도 원래 값을 보는 경로라는 점을 함께 기억해야 합니다. 이런 경로는 분기마다 한 번씩이라도 조회해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점검 항목은 정책 상태, 정책 식, 면제 경로, 관리 권한, 실제 동작으로 나뉩니다. 앞의 네 가지는 딕셔너리 조회로 확인할 수 있고, 마지막은 리댁션 대상 사용자 계정으로 주요 화면과 뷰를 실제로 조회해 봐야 알 수 있습니다. 특히 정책 식만 보고 누가 원래 값을 보는지 판단하면 이름 붙은 식 때문에 틀릴 수 있습니다. 점검 결과는 매번 같은 형식으로 남겨 두면 정책이 언제 바뀌었는지 비교하기 쉬워집니다.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리댁션 관련 뷰는 다른 기능과 달리 DBA_ 접두어 없이 이름 그대로 씁니다. REDACTION_COLUMNS의 FUNCTION_TYPE은 숫자가 아니라 FULL REDACTION, NO REDACTION 같은 설명 문자열로 나옵니다. NONE 정책이 걸린 컬럼을 찾을 때 NO REDACTION으로 검색하면 됩니다. 정책 식은 REDACTION_POLICIES에, 컬럼에 덮어쓴 이름 붙은 식은 REDACTION_EXPRESSIONS에 따로 있으니 둘을 함께 봐야 실제 판정 조건을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도입은 민감 컬럼 목록을 정리하는 데서 시작합니다. 누가 원래 값을 봐야 하고 누가 일부만 보면 되는지 업무 담당자와 정한 뒤 방식을 고릅니다. 정책은 비활성으로 만들어 등록 단계의 문법 오류를 먼저 걸러 내고, 리댁션 대상 사용자로 화면과 뷰, 배치까지 시험합니다. 배치가 CTAS를 쓰면 ORA-28081로 실패하므로 이 단계에서 찾아야 합니다. 마지막으로 정책을 켜고 면제 경로와 정책 변경을 감사 대상으로 걸어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리댁션 문제는 대부분 오류 없이 결과가 바뀌는 형태로 나타납니다. 급여가 0으로 보이거나 주민번호 칸이 비면 사용자는 데이터가 사라졌다고 문의합니다. 헬프데스크 응대 문서에 리댁션 대상 컬럼 목록을 넣어 두면 불필요한 장애 대응을 줄일 수 있습니다. 애플리케이션이 조회 결과를 캐시한다면 원래 값을 본 사용자의 결과가 다른 사용자에게 재사용되지 않는지도 확인해야 합니다. DB가 가린 값도 애플리케이션 캐시를 거치면 소용이 없어집니다.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Data Redaction</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저장은 그대로, 보여 주는 값만 가린다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정적 마스킹과 Data Redaction을 구분한다</a:t>
            </a:r>
          </a:p>
          <a:p>
            <a:pPr algn="l">
              <a:spcAft>
                <a:spcPts val="1000"/>
              </a:spcAft>
            </a:pPr>
            <a:r>
              <a:rPr sz="1600" b="0">
                <a:solidFill>
                  <a:srgbClr val="222222"/>
                </a:solidFill>
                <a:latin typeface="맑은 고딕"/>
              </a:rPr>
              <a:t>•  정책의 네 요소와 테이블당 정책 하나 제약을 설명한다</a:t>
            </a:r>
          </a:p>
          <a:p>
            <a:pPr algn="l">
              <a:spcAft>
                <a:spcPts val="1000"/>
              </a:spcAft>
            </a:pPr>
            <a:r>
              <a:rPr sz="1600" b="0">
                <a:solidFill>
                  <a:srgbClr val="222222"/>
                </a:solidFill>
                <a:latin typeface="맑은 고딕"/>
              </a:rPr>
              <a:t>•  FULL, PARTIAL, REGEXP, RANDOM, NULLIFY 결과를 예측한다</a:t>
            </a:r>
          </a:p>
          <a:p>
            <a:pPr algn="l">
              <a:spcAft>
                <a:spcPts val="1000"/>
              </a:spcAft>
            </a:pPr>
            <a:r>
              <a:rPr sz="1600" b="0">
                <a:solidFill>
                  <a:srgbClr val="222222"/>
                </a:solidFill>
                <a:latin typeface="맑은 고딕"/>
              </a:rPr>
              <a:t>•  사용자·역할 기반 정책 식을 작성한다</a:t>
            </a:r>
          </a:p>
          <a:p>
            <a:pPr algn="l">
              <a:spcAft>
                <a:spcPts val="1000"/>
              </a:spcAft>
            </a:pPr>
            <a:r>
              <a:rPr sz="1600" b="0">
                <a:solidFill>
                  <a:srgbClr val="222222"/>
                </a:solidFill>
                <a:latin typeface="맑은 고딕"/>
              </a:rPr>
              <a:t>•  DBMS_REDACT로 정책을 만들고 바꾸고 지운다</a:t>
            </a:r>
          </a:p>
          <a:p>
            <a:pPr algn="l">
              <a:spcAft>
                <a:spcPts val="1000"/>
              </a:spcAft>
            </a:pPr>
            <a:r>
              <a:rPr sz="1600" b="0">
                <a:solidFill>
                  <a:srgbClr val="222222"/>
                </a:solidFill>
                <a:latin typeface="맑은 고딕"/>
              </a:rPr>
              <a:t>•  리댁션의 한계(조건절 추론)와 면제 경로를 점검한다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8.2  Data Redaction의 개념</a:t>
            </a:r>
          </a:p>
          <a:p>
            <a:pPr algn="l">
              <a:spcAft>
                <a:spcPts val="1000"/>
              </a:spcAft>
            </a:pPr>
            <a:r>
              <a:rPr sz="1600" b="0">
                <a:solidFill>
                  <a:srgbClr val="222222"/>
                </a:solidFill>
                <a:latin typeface="맑은 고딕"/>
              </a:rPr>
              <a:t>•  8.3  리댁션 정책의 구성</a:t>
            </a:r>
          </a:p>
          <a:p>
            <a:pPr algn="l">
              <a:spcAft>
                <a:spcPts val="1000"/>
              </a:spcAft>
            </a:pPr>
            <a:r>
              <a:rPr sz="1600" b="0">
                <a:solidFill>
                  <a:srgbClr val="222222"/>
                </a:solidFill>
                <a:latin typeface="맑은 고딕"/>
              </a:rPr>
              <a:t>•  8.4  정책 식</a:t>
            </a:r>
          </a:p>
          <a:p>
            <a:pPr algn="l">
              <a:spcAft>
                <a:spcPts val="1000"/>
              </a:spcAft>
            </a:pPr>
            <a:r>
              <a:rPr sz="1600" b="0">
                <a:solidFill>
                  <a:srgbClr val="222222"/>
                </a:solidFill>
                <a:latin typeface="맑은 고딕"/>
              </a:rPr>
              <a:t>•  8.5  리댁션 방식</a:t>
            </a:r>
          </a:p>
          <a:p>
            <a:pPr algn="l">
              <a:spcAft>
                <a:spcPts val="1000"/>
              </a:spcAft>
            </a:pPr>
            <a:r>
              <a:rPr sz="1600" b="0">
                <a:solidFill>
                  <a:srgbClr val="222222"/>
                </a:solidFill>
                <a:latin typeface="맑은 고딕"/>
              </a:rPr>
              <a:t>•  8.6  정책 생성과 관리  /  8.7  막는 것과 막지 못하는 것</a:t>
            </a:r>
          </a:p>
          <a:p>
            <a:pPr algn="l">
              <a:spcAft>
                <a:spcPts val="1000"/>
              </a:spcAft>
            </a:pPr>
            <a:r>
              <a:rPr sz="1600" b="0">
                <a:solidFill>
                  <a:srgbClr val="222222"/>
                </a:solidFill>
                <a:latin typeface="맑은 고딕"/>
              </a:rPr>
              <a:t>•  8.8  면제와 우회 점검  /  8.9~8.11  딕셔너리 뷰·절차·운영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 Redaction의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정적 마스킹과 동적 마스킹</a:t>
            </a:r>
          </a:p>
          <a:p>
            <a:pPr algn="l">
              <a:spcAft>
                <a:spcPts val="800"/>
              </a:spcAft>
            </a:pPr>
            <a:r>
              <a:rPr sz="1600" b="0">
                <a:solidFill>
                  <a:srgbClr val="FFFFFF"/>
                </a:solidFill>
                <a:latin typeface="맑은 고딕"/>
              </a:rPr>
              <a:t>•  결과를 내보내기 직전에 가린다</a:t>
            </a:r>
          </a:p>
          <a:p>
            <a:pPr algn="l">
              <a:spcAft>
                <a:spcPts val="800"/>
              </a:spcAft>
            </a:pPr>
            <a:r>
              <a:rPr sz="1600" b="0">
                <a:solidFill>
                  <a:srgbClr val="FFFFFF"/>
                </a:solidFill>
                <a:latin typeface="맑은 고딕"/>
              </a:rPr>
              <a:t>•  Advanced Security 옵션 기능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정적 마스킹과 동적 마스킹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어디서 바꾸는가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정적(SDM): 복제본을 만들 때 가린 값을 저장</a:t>
            </a:r>
          </a:p>
          <a:p>
            <a:pPr algn="l">
              <a:spcAft>
                <a:spcPts val="1000"/>
              </a:spcAft>
            </a:pPr>
            <a:r>
              <a:rPr sz="1700" b="0">
                <a:solidFill>
                  <a:srgbClr val="222222"/>
                </a:solidFill>
                <a:latin typeface="맑은 고딕"/>
              </a:rPr>
              <a:t>•  동적(Data Redaction): 조회할 때마다 결과만 가림</a:t>
            </a:r>
          </a:p>
          <a:p>
            <a:pPr algn="l">
              <a:spcAft>
                <a:spcPts val="1000"/>
              </a:spcAft>
            </a:pPr>
            <a:r>
              <a:rPr sz="1700" b="0">
                <a:solidFill>
                  <a:srgbClr val="222222"/>
                </a:solidFill>
                <a:latin typeface="맑은 고딕"/>
              </a:rPr>
              <a:t>•  정적은 개발·테스트 DB, 동적은 운영 DB</a:t>
            </a:r>
          </a:p>
          <a:p>
            <a:pPr algn="l">
              <a:spcAft>
                <a:spcPts val="1000"/>
              </a:spcAft>
            </a:pPr>
            <a:r>
              <a:rPr sz="1700" b="0">
                <a:solidFill>
                  <a:srgbClr val="222222"/>
                </a:solidFill>
                <a:latin typeface="맑은 고딕"/>
              </a:rPr>
              <a:t>•  동적은 사용자마다 다르게, 정책을 끄면 즉시 원래 값</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리댁션이 일어나는 시점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실행은 원래 값으로, 결과만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 실행이 끝나고 결과를 돌려주기 직전에 적용</a:t>
            </a:r>
          </a:p>
          <a:p>
            <a:pPr algn="l">
              <a:spcAft>
                <a:spcPts val="1000"/>
              </a:spcAft>
            </a:pPr>
            <a:r>
              <a:rPr sz="1700" b="0">
                <a:solidFill>
                  <a:srgbClr val="222222"/>
                </a:solidFill>
                <a:latin typeface="맑은 고딕"/>
              </a:rPr>
              <a:t>•  버퍼 캐시와 데이터 파일 값은 그대로</a:t>
            </a:r>
          </a:p>
          <a:p>
            <a:pPr algn="l">
              <a:spcAft>
                <a:spcPts val="1000"/>
              </a:spcAft>
            </a:pPr>
            <a:r>
              <a:rPr sz="1700" b="0">
                <a:solidFill>
                  <a:srgbClr val="222222"/>
                </a:solidFill>
                <a:latin typeface="맑은 고딕"/>
              </a:rPr>
              <a:t>•  WHERE, ORDER BY, 조인은 원래 값으로 처리</a:t>
            </a:r>
          </a:p>
          <a:p>
            <a:pPr algn="l">
              <a:spcAft>
                <a:spcPts val="1000"/>
              </a:spcAft>
            </a:pPr>
            <a:r>
              <a:rPr sz="1700" b="0">
                <a:solidFill>
                  <a:srgbClr val="222222"/>
                </a:solidFill>
                <a:latin typeface="맑은 고딕"/>
              </a:rPr>
              <a:t>•  애플리케이션 SQL은 고치지 않아도 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어디에 쓰는가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행은 봐야 하지만 값 전체는 필요 없는 사용자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콜센터: 주민번호 뒷자리, 카드 번호 가운데</a:t>
            </a:r>
          </a:p>
          <a:p>
            <a:pPr algn="l">
              <a:spcAft>
                <a:spcPts val="1000"/>
              </a:spcAft>
            </a:pPr>
            <a:r>
              <a:rPr sz="1700" b="0">
                <a:solidFill>
                  <a:srgbClr val="222222"/>
                </a:solidFill>
                <a:latin typeface="맑은 고딕"/>
              </a:rPr>
              <a:t>•  사내 인사 조회: 급여, 상여</a:t>
            </a:r>
          </a:p>
          <a:p>
            <a:pPr algn="l">
              <a:spcAft>
                <a:spcPts val="1000"/>
              </a:spcAft>
            </a:pPr>
            <a:r>
              <a:rPr sz="1700" b="0">
                <a:solidFill>
                  <a:srgbClr val="222222"/>
                </a:solidFill>
                <a:latin typeface="맑은 고딕"/>
              </a:rPr>
              <a:t>•  운영 지원 화면: 이메일, 전화번호</a:t>
            </a:r>
          </a:p>
          <a:p>
            <a:pPr algn="l">
              <a:spcAft>
                <a:spcPts val="1000"/>
              </a:spcAft>
            </a:pPr>
            <a:r>
              <a:rPr sz="1700" b="0">
                <a:solidFill>
                  <a:srgbClr val="222222"/>
                </a:solidFill>
                <a:latin typeface="맑은 고딕"/>
              </a:rPr>
              <a:t>•  외주 인력의 운영 확인: 대부분의 개인정보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라이선스와 관련 기능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바꾸는 기능인가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Redaction은 Advanced Security 옵션(TDE와 같은 옵션)</a:t>
            </a:r>
          </a:p>
          <a:p>
            <a:pPr algn="l">
              <a:spcAft>
                <a:spcPts val="1000"/>
              </a:spcAft>
            </a:pPr>
            <a:r>
              <a:rPr sz="1700" b="0">
                <a:solidFill>
                  <a:srgbClr val="222222"/>
                </a:solidFill>
                <a:latin typeface="맑은 고딕"/>
              </a:rPr>
              <a:t>•  VPD 행 수준: 행을 뺀다 / VPD ALL_ROWS: 값을 NULL로</a:t>
            </a:r>
          </a:p>
          <a:p>
            <a:pPr algn="l">
              <a:spcAft>
                <a:spcPts val="1000"/>
              </a:spcAft>
            </a:pPr>
            <a:r>
              <a:rPr sz="1700" b="0">
                <a:solidFill>
                  <a:srgbClr val="222222"/>
                </a:solidFill>
                <a:latin typeface="맑은 고딕"/>
              </a:rPr>
              <a:t>•  DBMS_CRYPTO: 저장 값을 암호화</a:t>
            </a:r>
          </a:p>
          <a:p>
            <a:pPr algn="l">
              <a:spcAft>
                <a:spcPts val="1000"/>
              </a:spcAft>
            </a:pPr>
            <a:r>
              <a:rPr sz="1700" b="0">
                <a:solidFill>
                  <a:srgbClr val="222222"/>
                </a:solidFill>
                <a:latin typeface="맑은 고딕"/>
              </a:rPr>
              <a:t>•  TDE: 디스크와 백업을 암호화, SQL 결과는 원래 값</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리댁션 정책의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객체, 컬럼, 방식, 정책 식</a:t>
            </a:r>
          </a:p>
          <a:p>
            <a:pPr algn="l">
              <a:spcAft>
                <a:spcPts val="800"/>
              </a:spcAft>
            </a:pPr>
            <a:r>
              <a:rPr sz="1600" b="0">
                <a:solidFill>
                  <a:srgbClr val="FFFFFF"/>
                </a:solidFill>
                <a:latin typeface="맑은 고딕"/>
              </a:rPr>
              <a:t>•  테이블당 정책 하나</a:t>
            </a:r>
          </a:p>
          <a:p>
            <a:pPr algn="l">
              <a:spcAft>
                <a:spcPts val="800"/>
              </a:spcAft>
            </a:pPr>
            <a:r>
              <a:rPr sz="1600" b="0">
                <a:solidFill>
                  <a:srgbClr val="FFFFFF"/>
                </a:solidFill>
                <a:latin typeface="맑은 고딕"/>
              </a:rPr>
              <a:t>•  권한과 정책 소유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정책의 네 가지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식은 정책에 하나, 방식은 컬럼마다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객체: 정책을 걸 테이블 또는 뷰</a:t>
            </a:r>
          </a:p>
          <a:p>
            <a:pPr algn="l">
              <a:spcAft>
                <a:spcPts val="1000"/>
              </a:spcAft>
            </a:pPr>
            <a:r>
              <a:rPr sz="1700" b="0">
                <a:solidFill>
                  <a:srgbClr val="222222"/>
                </a:solidFill>
                <a:latin typeface="맑은 고딕"/>
              </a:rPr>
              <a:t>•  컬럼: 가릴 컬럼, 정책 하나에 여러 개</a:t>
            </a:r>
          </a:p>
          <a:p>
            <a:pPr algn="l">
              <a:spcAft>
                <a:spcPts val="1000"/>
              </a:spcAft>
            </a:pPr>
            <a:r>
              <a:rPr sz="1700" b="0">
                <a:solidFill>
                  <a:srgbClr val="222222"/>
                </a:solidFill>
                <a:latin typeface="맑은 고딕"/>
              </a:rPr>
              <a:t>•  방식: 컬럼마다 FULL, PARTIAL, REGEXP 등</a:t>
            </a:r>
          </a:p>
          <a:p>
            <a:pPr algn="l">
              <a:spcAft>
                <a:spcPts val="1000"/>
              </a:spcAft>
            </a:pPr>
            <a:r>
              <a:rPr sz="1700" b="0">
                <a:solidFill>
                  <a:srgbClr val="222222"/>
                </a:solidFill>
                <a:latin typeface="맑은 고딕"/>
              </a:rPr>
              <a:t>•  정책 식: 리댁션을 적용할 세션 조건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테이블당 정책 하나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번째 정책은 ORA-28069</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객체에 두 번째 ADD_POLICY는 거부</a:t>
            </a:r>
          </a:p>
          <a:p>
            <a:pPr algn="l">
              <a:spcAft>
                <a:spcPts val="1000"/>
              </a:spcAft>
            </a:pPr>
            <a:r>
              <a:rPr sz="1700" b="0">
                <a:solidFill>
                  <a:srgbClr val="222222"/>
                </a:solidFill>
                <a:latin typeface="맑은 고딕"/>
              </a:rPr>
              <a:t>•  컬럼 추가는 ALTER_POLICY의 ADD_COLUMN</a:t>
            </a:r>
          </a:p>
          <a:p>
            <a:pPr algn="l">
              <a:spcAft>
                <a:spcPts val="1000"/>
              </a:spcAft>
            </a:pPr>
            <a:r>
              <a:rPr sz="1700" b="0">
                <a:solidFill>
                  <a:srgbClr val="222222"/>
                </a:solidFill>
                <a:latin typeface="맑은 고딕"/>
              </a:rPr>
              <a:t>•  이미 가린 컬럼을 또 추가하면 ORA-28060</a:t>
            </a:r>
          </a:p>
          <a:p>
            <a:pPr algn="l">
              <a:spcAft>
                <a:spcPts val="1000"/>
              </a:spcAft>
            </a:pPr>
            <a:r>
              <a:rPr sz="1700" b="0">
                <a:solidFill>
                  <a:srgbClr val="222222"/>
                </a:solidFill>
                <a:latin typeface="맑은 고딕"/>
              </a:rPr>
              <a:t>•  다른 조건이 필요하면 뷰를 만들어 뷰에 정책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필요한 권한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DBMS_REDACT는 PUBLIC에 열려 있지 않다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 상태에서 실행 권한은 EXECUTE_CATALOG_ROLE 등에만</a:t>
            </a:r>
          </a:p>
          <a:p>
            <a:pPr algn="l">
              <a:spcAft>
                <a:spcPts val="1000"/>
              </a:spcAft>
            </a:pPr>
            <a:r>
              <a:rPr sz="1700" b="0">
                <a:solidFill>
                  <a:srgbClr val="222222"/>
                </a:solidFill>
                <a:latin typeface="맑은 고딕"/>
              </a:rPr>
              <a:t>•  권한 없이 호출하면 PLS-00201</a:t>
            </a:r>
          </a:p>
          <a:p>
            <a:pPr algn="l">
              <a:spcAft>
                <a:spcPts val="1000"/>
              </a:spcAft>
            </a:pPr>
            <a:r>
              <a:rPr sz="1700" b="0">
                <a:solidFill>
                  <a:srgbClr val="222222"/>
                </a:solidFill>
                <a:latin typeface="맑은 고딕"/>
              </a:rPr>
              <a:t>•  자기 객체: CREATE TABLE, 남의 객체: CREATE ANY TABLE</a:t>
            </a:r>
          </a:p>
          <a:p>
            <a:pPr algn="l">
              <a:spcAft>
                <a:spcPts val="1000"/>
              </a:spcAft>
            </a:pPr>
            <a:r>
              <a:rPr sz="1700" b="0">
                <a:solidFill>
                  <a:srgbClr val="222222"/>
                </a:solidFill>
                <a:latin typeface="맑은 고딕"/>
              </a:rPr>
              <a:t>•  UPDATE_FULL_REDACTION_VALUES는 항상 CREATE ANY 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정책은 누가 소유하는가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 소유자에게 맡기지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소유자가 정책을 끄거나 식을 고칠 수 있다</a:t>
            </a:r>
          </a:p>
          <a:p>
            <a:pPr algn="l">
              <a:spcAft>
                <a:spcPts val="1000"/>
              </a:spcAft>
            </a:pPr>
            <a:r>
              <a:rPr sz="1700" b="0">
                <a:solidFill>
                  <a:srgbClr val="222222"/>
                </a:solidFill>
                <a:latin typeface="맑은 고딕"/>
              </a:rPr>
              <a:t>•  보안 관리자 계정에 실행 권한과 CREATE ANY TABLE</a:t>
            </a:r>
          </a:p>
          <a:p>
            <a:pPr algn="l">
              <a:spcAft>
                <a:spcPts val="1000"/>
              </a:spcAft>
            </a:pPr>
            <a:r>
              <a:rPr sz="1700" b="0">
                <a:solidFill>
                  <a:srgbClr val="222222"/>
                </a:solidFill>
                <a:latin typeface="맑은 고딕"/>
              </a:rPr>
              <a:t>•  데이터 소유자에게는 실행 권한을 주지 않는다</a:t>
            </a:r>
          </a:p>
          <a:p>
            <a:pPr algn="l">
              <a:spcAft>
                <a:spcPts val="1000"/>
              </a:spcAft>
            </a:pPr>
            <a:r>
              <a:rPr sz="1700" b="0">
                <a:solidFill>
                  <a:srgbClr val="222222"/>
                </a:solidFill>
                <a:latin typeface="맑은 고딕"/>
              </a:rPr>
              <a:t>•  보안 관리자 계정의 접속과 사용을 감사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TRUE면 리댁션</a:t>
            </a:r>
          </a:p>
          <a:p>
            <a:pPr algn="l">
              <a:spcAft>
                <a:spcPts val="800"/>
              </a:spcAft>
            </a:pPr>
            <a:r>
              <a:rPr sz="1600" b="0">
                <a:solidFill>
                  <a:srgbClr val="FFFFFF"/>
                </a:solidFill>
                <a:latin typeface="맑은 고딕"/>
              </a:rPr>
              <a:t>•  허용 함수와 연산자만</a:t>
            </a:r>
          </a:p>
          <a:p>
            <a:pPr algn="l">
              <a:spcAft>
                <a:spcPts val="800"/>
              </a:spcAft>
            </a:pPr>
            <a:r>
              <a:rPr sz="1600" b="0">
                <a:solidFill>
                  <a:srgbClr val="FFFFFF"/>
                </a:solidFill>
                <a:latin typeface="맑은 고딕"/>
              </a:rPr>
              <a:t>•  역할 기반 판정, 이름 붙은 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TRUE일 때 리댁션된다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식은 조회할 때마다 평가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식이 TRUE인 세션에서 값이 가려진다</a:t>
            </a:r>
          </a:p>
          <a:p>
            <a:pPr algn="l">
              <a:spcAft>
                <a:spcPts val="1000"/>
              </a:spcAft>
            </a:pPr>
            <a:r>
              <a:rPr sz="1700" b="0">
                <a:solidFill>
                  <a:srgbClr val="222222"/>
                </a:solidFill>
                <a:latin typeface="맑은 고딕"/>
              </a:rPr>
              <a:t>•  모든 사용자에게 적용: expression =&gt; '1=1'</a:t>
            </a:r>
          </a:p>
          <a:p>
            <a:pPr algn="l">
              <a:spcAft>
                <a:spcPts val="1000"/>
              </a:spcAft>
            </a:pPr>
            <a:r>
              <a:rPr sz="1700" b="0">
                <a:solidFill>
                  <a:srgbClr val="222222"/>
                </a:solidFill>
                <a:latin typeface="맑은 고딕"/>
              </a:rPr>
              <a:t>•  1=1이어도 SYS와 면제 권한 보유자는 제외</a:t>
            </a:r>
          </a:p>
          <a:p>
            <a:pPr algn="l">
              <a:spcAft>
                <a:spcPts val="1000"/>
              </a:spcAft>
            </a:pPr>
            <a:r>
              <a:rPr sz="1700" b="0">
                <a:solidFill>
                  <a:srgbClr val="222222"/>
                </a:solidFill>
                <a:latin typeface="맑은 고딕"/>
              </a:rPr>
              <a:t>•  NULL 비교는 TRUE가 되지 않는다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쓸 수 있는 함수와 연산자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 함수는 ORA-28088</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연산자: AND, OR, IN, NOT IN, 비교 연산자</a:t>
            </a:r>
          </a:p>
          <a:p>
            <a:pPr algn="l">
              <a:spcAft>
                <a:spcPts val="1000"/>
              </a:spcAft>
            </a:pPr>
            <a:r>
              <a:rPr sz="1700" b="0">
                <a:solidFill>
                  <a:srgbClr val="222222"/>
                </a:solidFill>
                <a:latin typeface="맑은 고딕"/>
              </a:rPr>
              <a:t>•  SYS_CONTEXT(USERENV, SYS_SESSION_ROLES, 사용자 컨텍스트)</a:t>
            </a:r>
          </a:p>
          <a:p>
            <a:pPr algn="l">
              <a:spcAft>
                <a:spcPts val="1000"/>
              </a:spcAft>
            </a:pPr>
            <a:r>
              <a:rPr sz="1700" b="0">
                <a:solidFill>
                  <a:srgbClr val="222222"/>
                </a:solidFill>
                <a:latin typeface="맑은 고딕"/>
              </a:rPr>
              <a:t>•  SUBSTR, LENGTH 계열, APEX의 V, NV</a:t>
            </a:r>
          </a:p>
          <a:p>
            <a:pPr algn="l">
              <a:spcAft>
                <a:spcPts val="1000"/>
              </a:spcAft>
            </a:pPr>
            <a:r>
              <a:rPr sz="1700" b="0">
                <a:solidFill>
                  <a:srgbClr val="222222"/>
                </a:solidFill>
                <a:latin typeface="맑은 고딕"/>
              </a:rPr>
              <a:t>•  사용자 PL/SQL 함수는 거부, NVL도 거부(ORA-28087)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사용자 기반과 역할 기반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SYS_SESSION_ROLES로 역할을 묻는다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사용자 이름 나열은 사람이 바뀔 때마다 수정</a:t>
            </a:r>
          </a:p>
          <a:p>
            <a:pPr algn="l">
              <a:spcAft>
                <a:spcPts val="1000"/>
              </a:spcAft>
            </a:pPr>
            <a:r>
              <a:rPr sz="1700" b="0">
                <a:solidFill>
                  <a:srgbClr val="222222"/>
                </a:solidFill>
                <a:latin typeface="맑은 고딕"/>
              </a:rPr>
              <a:t>•  역할 판정: SYS_CONTEXT('SYS_SESSION_ROLES', '역할')</a:t>
            </a:r>
          </a:p>
          <a:p>
            <a:pPr algn="l">
              <a:spcAft>
                <a:spcPts val="1000"/>
              </a:spcAft>
            </a:pPr>
            <a:r>
              <a:rPr sz="1700" b="0">
                <a:solidFill>
                  <a:srgbClr val="222222"/>
                </a:solidFill>
                <a:latin typeface="맑은 고딕"/>
              </a:rPr>
              <a:t>•  세션에서 활성화된 역할 기준으로 TRUE/FALSE</a:t>
            </a:r>
          </a:p>
          <a:p>
            <a:pPr algn="l">
              <a:spcAft>
                <a:spcPts val="1000"/>
              </a:spcAft>
            </a:pPr>
            <a:r>
              <a:rPr sz="1700" b="0">
                <a:solidFill>
                  <a:srgbClr val="222222"/>
                </a:solidFill>
                <a:latin typeface="맑은 고딕"/>
              </a:rPr>
              <a:t>•  공용 계정 구조는 CLIENT_IDENTIFIER·컨텍스트로 구분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값이 없을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NULL 비교는 리댁션이 안 되는 쪽</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컨텍스트 값이 없으면 != 비교 결과는 NULL</a:t>
            </a:r>
          </a:p>
          <a:p>
            <a:pPr algn="l">
              <a:spcAft>
                <a:spcPts val="1000"/>
              </a:spcAft>
            </a:pPr>
            <a:r>
              <a:rPr sz="1700" b="0">
                <a:solidFill>
                  <a:srgbClr val="222222"/>
                </a:solidFill>
                <a:latin typeface="맑은 고딕"/>
              </a:rPr>
              <a:t>•  값이 없을 때도 가리려면 OR ... IS NULL</a:t>
            </a:r>
          </a:p>
          <a:p>
            <a:pPr algn="l">
              <a:spcAft>
                <a:spcPts val="1000"/>
              </a:spcAft>
            </a:pPr>
            <a:r>
              <a:rPr sz="1700" b="0">
                <a:solidFill>
                  <a:srgbClr val="222222"/>
                </a:solidFill>
                <a:latin typeface="맑은 고딕"/>
              </a:rPr>
              <a:t>•  19.3에서 IS NULL은 허용, NVL은 거부</a:t>
            </a:r>
          </a:p>
          <a:p>
            <a:pPr algn="l">
              <a:spcAft>
                <a:spcPts val="1000"/>
              </a:spcAft>
            </a:pPr>
            <a:r>
              <a:rPr sz="1700" b="0">
                <a:solidFill>
                  <a:srgbClr val="222222"/>
                </a:solidFill>
                <a:latin typeface="맑은 고딕"/>
              </a:rPr>
              <a:t>•  enable =&gt; FALSE로 만들어 문법부터 확인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 붙은 정책 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컬럼 단위로 정책 식을 덮어쓴다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CREATE_POLICY_EXPRESSION으로 만들고 컬럼에 연결</a:t>
            </a:r>
          </a:p>
          <a:p>
            <a:pPr algn="l">
              <a:spcAft>
                <a:spcPts val="1000"/>
              </a:spcAft>
            </a:pPr>
            <a:r>
              <a:rPr sz="1700" b="0">
                <a:solidFill>
                  <a:srgbClr val="222222"/>
                </a:solidFill>
                <a:latin typeface="맑은 고딕"/>
              </a:rPr>
              <a:t>•  연결된 컬럼에서는 정책 기본 식보다 우선</a:t>
            </a:r>
          </a:p>
          <a:p>
            <a:pPr algn="l">
              <a:spcAft>
                <a:spcPts val="1000"/>
              </a:spcAft>
            </a:pPr>
            <a:r>
              <a:rPr sz="1700" b="0">
                <a:solidFill>
                  <a:srgbClr val="222222"/>
                </a:solidFill>
                <a:latin typeface="맑은 고딕"/>
              </a:rPr>
              <a:t>•  연결된 상태로 삭제하면 ORA-28092(19.3)</a:t>
            </a:r>
          </a:p>
          <a:p>
            <a:pPr algn="l">
              <a:spcAft>
                <a:spcPts val="1000"/>
              </a:spcAft>
            </a:pPr>
            <a:r>
              <a:rPr sz="1700" b="0">
                <a:solidFill>
                  <a:srgbClr val="222222"/>
                </a:solidFill>
                <a:latin typeface="맑은 고딕"/>
              </a:rPr>
              <a:t>•  연결을 NULL로 끊은 뒤 DROP_POLICY_EXPRESSION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리댁션 방식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FULL, PARTIAL, REGEXP</a:t>
            </a:r>
          </a:p>
          <a:p>
            <a:pPr algn="l">
              <a:spcAft>
                <a:spcPts val="800"/>
              </a:spcAft>
            </a:pPr>
            <a:r>
              <a:rPr sz="1600" b="0">
                <a:solidFill>
                  <a:srgbClr val="FFFFFF"/>
                </a:solidFill>
                <a:latin typeface="맑은 고딕"/>
              </a:rPr>
              <a:t>•  RANDOM, NULLIFY, NONE</a:t>
            </a:r>
          </a:p>
          <a:p>
            <a:pPr algn="l">
              <a:spcAft>
                <a:spcPts val="800"/>
              </a:spcAft>
            </a:pPr>
            <a:r>
              <a:rPr sz="1600" b="0">
                <a:solidFill>
                  <a:srgbClr val="FFFFFF"/>
                </a:solidFill>
                <a:latin typeface="맑은 고딕"/>
              </a:rPr>
              <a:t>•  방식 고르기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방식 한눈에 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function_type 상수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FULL(기본): 자료형별 고정 값</a:t>
            </a:r>
          </a:p>
          <a:p>
            <a:pPr algn="l">
              <a:spcAft>
                <a:spcPts val="1000"/>
              </a:spcAft>
            </a:pPr>
            <a:r>
              <a:rPr sz="1700" b="0">
                <a:solidFill>
                  <a:srgbClr val="222222"/>
                </a:solidFill>
                <a:latin typeface="맑은 고딕"/>
              </a:rPr>
              <a:t>•  PARTIAL: 지정한 위치만 / REGEXP: 패턴에 맞는 부분</a:t>
            </a:r>
          </a:p>
          <a:p>
            <a:pPr algn="l">
              <a:spcAft>
                <a:spcPts val="1000"/>
              </a:spcAft>
            </a:pPr>
            <a:r>
              <a:rPr sz="1700" b="0">
                <a:solidFill>
                  <a:srgbClr val="222222"/>
                </a:solidFill>
                <a:latin typeface="맑은 고딕"/>
              </a:rPr>
              <a:t>•  RANDOM: 조회마다 다른 값 / NULLIFY: NULL</a:t>
            </a:r>
          </a:p>
          <a:p>
            <a:pPr algn="l">
              <a:spcAft>
                <a:spcPts val="1000"/>
              </a:spcAft>
            </a:pPr>
            <a:r>
              <a:rPr sz="1700" b="0">
                <a:solidFill>
                  <a:srgbClr val="222222"/>
                </a:solidFill>
                <a:latin typeface="맑은 고딕"/>
              </a:rPr>
              <a:t>•  NONE: 가리지 않음(시험, 뷰 예외용)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자료형별 지원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숫자·날짜는 REGEXP 불가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문자: FULL, PARTIAL, REGEXP, RANDOM 모두</a:t>
            </a:r>
          </a:p>
          <a:p>
            <a:pPr algn="l">
              <a:spcAft>
                <a:spcPts val="1000"/>
              </a:spcAft>
            </a:pPr>
            <a:r>
              <a:rPr sz="1700" b="0">
                <a:solidFill>
                  <a:srgbClr val="222222"/>
                </a:solidFill>
                <a:latin typeface="맑은 고딕"/>
              </a:rPr>
              <a:t>•  숫자·날짜: FULL, PARTIAL, RANDOM</a:t>
            </a:r>
          </a:p>
          <a:p>
            <a:pPr algn="l">
              <a:spcAft>
                <a:spcPts val="1000"/>
              </a:spcAft>
            </a:pPr>
            <a:r>
              <a:rPr sz="1700" b="0">
                <a:solidFill>
                  <a:srgbClr val="222222"/>
                </a:solidFill>
                <a:latin typeface="맑은 고딕"/>
              </a:rPr>
              <a:t>•  BLOB: FULL만 / CLOB: FULL, REGEXP</a:t>
            </a:r>
          </a:p>
          <a:p>
            <a:pPr algn="l">
              <a:spcAft>
                <a:spcPts val="1000"/>
              </a:spcAft>
            </a:pPr>
            <a:r>
              <a:rPr sz="1700" b="0">
                <a:solidFill>
                  <a:srgbClr val="222222"/>
                </a:solidFill>
                <a:latin typeface="맑은 고딕"/>
              </a:rPr>
              <a:t>•  RAW, INTERVAL, ROWID, 사용자 정의 타입: 불가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FULL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숫자 0, 문자 공백, 날짜 2001-01-01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기본값은 REDACTION_VALUES_FOR_TYPE_FULL에서 확인</a:t>
            </a:r>
          </a:p>
          <a:p>
            <a:pPr algn="l">
              <a:spcAft>
                <a:spcPts val="1000"/>
              </a:spcAft>
            </a:pPr>
            <a:r>
              <a:rPr sz="1700" b="0">
                <a:solidFill>
                  <a:srgbClr val="222222"/>
                </a:solidFill>
                <a:latin typeface="맑은 고딕"/>
              </a:rPr>
              <a:t>•  UPDATE_FULL_REDACTION_VALUES로 변경 가능</a:t>
            </a:r>
          </a:p>
          <a:p>
            <a:pPr algn="l">
              <a:spcAft>
                <a:spcPts val="1000"/>
              </a:spcAft>
            </a:pPr>
            <a:r>
              <a:rPr sz="1700" b="0">
                <a:solidFill>
                  <a:srgbClr val="222222"/>
                </a:solidFill>
                <a:latin typeface="맑은 고딕"/>
              </a:rPr>
              <a:t>•  변경은 DB의 모든 FULL 정책에 영향</a:t>
            </a:r>
          </a:p>
          <a:p>
            <a:pPr algn="l">
              <a:spcAft>
                <a:spcPts val="1000"/>
              </a:spcAft>
            </a:pPr>
            <a:r>
              <a:rPr sz="1700" b="0">
                <a:solidFill>
                  <a:srgbClr val="222222"/>
                </a:solidFill>
                <a:latin typeface="맑은 고딕"/>
              </a:rPr>
              <a:t>•  숫자 0은 실제 0과 구분되지 않는다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PARTIAL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위치를 지정해 일부만 가린다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문자: 입력 형식, 출력 형식, 가림 문자, 시작, 끝</a:t>
            </a:r>
          </a:p>
          <a:p>
            <a:pPr algn="l">
              <a:spcAft>
                <a:spcPts val="1000"/>
              </a:spcAft>
            </a:pPr>
            <a:r>
              <a:rPr sz="1700" b="0">
                <a:solidFill>
                  <a:srgbClr val="222222"/>
                </a:solidFill>
                <a:latin typeface="맑은 고딕"/>
              </a:rPr>
              <a:t>•  숫자: '9,1,2' → 24000이 99000</a:t>
            </a:r>
          </a:p>
          <a:p>
            <a:pPr algn="l">
              <a:spcAft>
                <a:spcPts val="1000"/>
              </a:spcAft>
            </a:pPr>
            <a:r>
              <a:rPr sz="1700" b="0">
                <a:solidFill>
                  <a:srgbClr val="222222"/>
                </a:solidFill>
                <a:latin typeface="맑은 고딕"/>
              </a:rPr>
              <a:t>•  날짜: 'm1d1YHMS' → 월·일만 01로 고정</a:t>
            </a:r>
          </a:p>
          <a:p>
            <a:pPr algn="l">
              <a:spcAft>
                <a:spcPts val="1000"/>
              </a:spcAft>
            </a:pPr>
            <a:r>
              <a:rPr sz="1700" b="0">
                <a:solidFill>
                  <a:srgbClr val="222222"/>
                </a:solidFill>
                <a:latin typeface="맑은 고딕"/>
              </a:rPr>
              <a:t>•  문자 PARTIAL은 고정 폭 전제, 가변 폭은 REGEXP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REGEXP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패턴이 맞지 않으면 FULL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regexp_pattern과 regexp_replace_string(역참조 \1~\9)</a:t>
            </a:r>
          </a:p>
          <a:p>
            <a:pPr algn="l">
              <a:spcAft>
                <a:spcPts val="1000"/>
              </a:spcAft>
            </a:pPr>
            <a:r>
              <a:rPr sz="1700" b="0">
                <a:solidFill>
                  <a:srgbClr val="222222"/>
                </a:solidFill>
                <a:latin typeface="맑은 고딕"/>
              </a:rPr>
              <a:t>•  주민번호: 앞 6자리와 하이픈만 남기고 #으로</a:t>
            </a:r>
          </a:p>
          <a:p>
            <a:pPr algn="l">
              <a:spcAft>
                <a:spcPts val="1000"/>
              </a:spcAft>
            </a:pPr>
            <a:r>
              <a:rPr sz="1700" b="0">
                <a:solidFill>
                  <a:srgbClr val="222222"/>
                </a:solidFill>
                <a:latin typeface="맑은 고딕"/>
              </a:rPr>
              <a:t>•  패턴 불일치 값은 FULL 리댁션(문자는 공백)</a:t>
            </a:r>
          </a:p>
          <a:p>
            <a:pPr algn="l">
              <a:spcAft>
                <a:spcPts val="1000"/>
              </a:spcAft>
            </a:pPr>
            <a:r>
              <a:rPr sz="1700" b="0">
                <a:solidFill>
                  <a:srgbClr val="222222"/>
                </a:solidFill>
                <a:latin typeface="맑은 고딕"/>
              </a:rPr>
              <a:t>•  형식이 섞인 데이터는 정리부터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RANDOM, NULLIFY, NONE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애플리케이션 영향을 먼저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RANDOM: 같은 행도 조회마다 다른 값</a:t>
            </a:r>
          </a:p>
          <a:p>
            <a:pPr algn="l">
              <a:spcAft>
                <a:spcPts val="1000"/>
              </a:spcAft>
            </a:pPr>
            <a:r>
              <a:rPr sz="1700" b="0">
                <a:solidFill>
                  <a:srgbClr val="222222"/>
                </a:solidFill>
                <a:latin typeface="맑은 고딕"/>
              </a:rPr>
              <a:t>•  NULLIFY: NULL, 원래 없던 값과 구분 불가</a:t>
            </a:r>
          </a:p>
          <a:p>
            <a:pPr algn="l">
              <a:spcAft>
                <a:spcPts val="1000"/>
              </a:spcAft>
            </a:pPr>
            <a:r>
              <a:rPr sz="1700" b="0">
                <a:solidFill>
                  <a:srgbClr val="222222"/>
                </a:solidFill>
                <a:latin typeface="맑은 고딕"/>
              </a:rPr>
              <a:t>•  NONE: 뷰에 걸어 원래 값 공개</a:t>
            </a:r>
          </a:p>
          <a:p>
            <a:pPr algn="l">
              <a:spcAft>
                <a:spcPts val="1000"/>
              </a:spcAft>
            </a:pPr>
            <a:r>
              <a:rPr sz="1700" b="0">
                <a:solidFill>
                  <a:srgbClr val="222222"/>
                </a:solidFill>
                <a:latin typeface="맑은 고딕"/>
              </a:rPr>
              <a:t>•  형식 검증·계산·NULL 처리 코드와 충돌 주의</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방식 고르기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요구에서 거꾸로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값의 존재조차 숨김: FULL, NULLIFY</a:t>
            </a:r>
          </a:p>
          <a:p>
            <a:pPr algn="l">
              <a:spcAft>
                <a:spcPts val="1000"/>
              </a:spcAft>
            </a:pPr>
            <a:r>
              <a:rPr sz="1700" b="0">
                <a:solidFill>
                  <a:srgbClr val="222222"/>
                </a:solidFill>
                <a:latin typeface="맑은 고딕"/>
              </a:rPr>
              <a:t>•  형식 유지하며 일부 표시: PARTIAL, REGEXP</a:t>
            </a:r>
          </a:p>
          <a:p>
            <a:pPr algn="l">
              <a:spcAft>
                <a:spcPts val="1000"/>
              </a:spcAft>
            </a:pPr>
            <a:r>
              <a:rPr sz="1700" b="0">
                <a:solidFill>
                  <a:srgbClr val="222222"/>
                </a:solidFill>
                <a:latin typeface="맑은 고딕"/>
              </a:rPr>
              <a:t>•  가렸다는 표시가 필요: REGEXP(# 또는 X 치환)</a:t>
            </a:r>
          </a:p>
          <a:p>
            <a:pPr algn="l">
              <a:spcAft>
                <a:spcPts val="1000"/>
              </a:spcAft>
            </a:pPr>
            <a:r>
              <a:rPr sz="1700" b="0">
                <a:solidFill>
                  <a:srgbClr val="222222"/>
                </a:solidFill>
                <a:latin typeface="맑은 고딕"/>
              </a:rPr>
              <a:t>•  특정 집단에만 원래 값: 뷰 + NONE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정책 생성과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ADD_POLICY와 ALTER_POLICY</a:t>
            </a:r>
          </a:p>
          <a:p>
            <a:pPr algn="l">
              <a:spcAft>
                <a:spcPts val="800"/>
              </a:spcAft>
            </a:pPr>
            <a:r>
              <a:rPr sz="1600" b="0">
                <a:solidFill>
                  <a:srgbClr val="FFFFFF"/>
                </a:solidFill>
                <a:latin typeface="맑은 고딕"/>
              </a:rPr>
              <a:t>•  끄기, 켜기, 지우기</a:t>
            </a:r>
          </a:p>
          <a:p>
            <a:pPr algn="l">
              <a:spcAft>
                <a:spcPts val="800"/>
              </a:spcAft>
            </a:pPr>
            <a:r>
              <a:rPr sz="1600" b="0">
                <a:solidFill>
                  <a:srgbClr val="FFFFFF"/>
                </a:solidFill>
                <a:latin typeface="맑은 고딕"/>
              </a:rPr>
              <a:t>•  자주 만나는 오류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ADD_POLICY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인자는 이름 지정 방식으로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필수: object_name, policy_name, expression</a:t>
            </a:r>
          </a:p>
          <a:p>
            <a:pPr algn="l">
              <a:spcAft>
                <a:spcPts val="1000"/>
              </a:spcAft>
            </a:pPr>
            <a:r>
              <a:rPr sz="1700" b="0">
                <a:solidFill>
                  <a:srgbClr val="222222"/>
                </a:solidFill>
                <a:latin typeface="맑은 고딕"/>
              </a:rPr>
              <a:t>•  column_name, function_type(기본 FULL), 방식별 인자</a:t>
            </a:r>
          </a:p>
          <a:p>
            <a:pPr algn="l">
              <a:spcAft>
                <a:spcPts val="1000"/>
              </a:spcAft>
            </a:pPr>
            <a:r>
              <a:rPr sz="1700" b="0">
                <a:solidFill>
                  <a:srgbClr val="222222"/>
                </a:solidFill>
                <a:latin typeface="맑은 고딕"/>
              </a:rPr>
              <a:t>•  enable =&gt; FALSE로 만들고 시험 후 켜기</a:t>
            </a:r>
          </a:p>
          <a:p>
            <a:pPr algn="l">
              <a:spcAft>
                <a:spcPts val="1000"/>
              </a:spcAft>
            </a:pPr>
            <a:r>
              <a:rPr sz="1700" b="0">
                <a:solidFill>
                  <a:srgbClr val="222222"/>
                </a:solidFill>
                <a:latin typeface="맑은 고딕"/>
              </a:rPr>
              <a:t>•  위치 인자 함정: 4번째는 POLICY_DESCRIPTION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ALTER_POLICY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번에 action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ADD_COLUMN(기본), DROP_COLUMN</a:t>
            </a:r>
          </a:p>
          <a:p>
            <a:pPr algn="l">
              <a:spcAft>
                <a:spcPts val="1000"/>
              </a:spcAft>
            </a:pPr>
            <a:r>
              <a:rPr sz="1700" b="0">
                <a:solidFill>
                  <a:srgbClr val="222222"/>
                </a:solidFill>
                <a:latin typeface="맑은 고딕"/>
              </a:rPr>
              <a:t>•  MODIFY_COLUMN: 방식·인자 변경</a:t>
            </a:r>
          </a:p>
          <a:p>
            <a:pPr algn="l">
              <a:spcAft>
                <a:spcPts val="1000"/>
              </a:spcAft>
            </a:pPr>
            <a:r>
              <a:rPr sz="1700" b="0">
                <a:solidFill>
                  <a:srgbClr val="222222"/>
                </a:solidFill>
                <a:latin typeface="맑은 고딕"/>
              </a:rPr>
              <a:t>•  MODIFY_EXPRESSION: 정책 식 변경</a:t>
            </a:r>
          </a:p>
          <a:p>
            <a:pPr algn="l">
              <a:spcAft>
                <a:spcPts val="1000"/>
              </a:spcAft>
            </a:pPr>
            <a:r>
              <a:rPr sz="1700" b="0">
                <a:solidFill>
                  <a:srgbClr val="222222"/>
                </a:solidFill>
                <a:latin typeface="맑은 고딕"/>
              </a:rPr>
              <a:t>•  SET_POLICY_DESCRIPTION, SET_COLUMN_DESCRIPTION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끄기, 켜기, 지우기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정의를 남기느냐 지우느냐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DISABLE_POLICY: 정의는 남기고 끈다(중복 시 ORA-28080)</a:t>
            </a:r>
          </a:p>
          <a:p>
            <a:pPr algn="l">
              <a:spcAft>
                <a:spcPts val="1000"/>
              </a:spcAft>
            </a:pPr>
            <a:r>
              <a:rPr sz="1700" b="0">
                <a:solidFill>
                  <a:srgbClr val="222222"/>
                </a:solidFill>
                <a:latin typeface="맑은 고딕"/>
              </a:rPr>
              <a:t>•  ENABLE_POLICY: 다시 켠다</a:t>
            </a:r>
          </a:p>
          <a:p>
            <a:pPr algn="l">
              <a:spcAft>
                <a:spcPts val="1000"/>
              </a:spcAft>
            </a:pPr>
            <a:r>
              <a:rPr sz="1700" b="0">
                <a:solidFill>
                  <a:srgbClr val="222222"/>
                </a:solidFill>
                <a:latin typeface="맑은 고딕"/>
              </a:rPr>
              <a:t>•  DROP_POLICY: 지운다(없는 정책이면 ORA-28068)</a:t>
            </a:r>
          </a:p>
          <a:p>
            <a:pPr algn="l">
              <a:spcAft>
                <a:spcPts val="1000"/>
              </a:spcAft>
            </a:pPr>
            <a:r>
              <a:rPr sz="1700" b="0">
                <a:solidFill>
                  <a:srgbClr val="222222"/>
                </a:solidFill>
                <a:latin typeface="맑은 고딕"/>
              </a:rPr>
              <a:t>•  끄는 순간 모두에게 원래 값, 감사 대상 작업</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자주 만나는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번호로 원인을 바로 찾는다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PLS-00201 실행 권한 / ORA-28069 두 번째 정책</a:t>
            </a:r>
          </a:p>
          <a:p>
            <a:pPr algn="l">
              <a:spcAft>
                <a:spcPts val="1000"/>
              </a:spcAft>
            </a:pPr>
            <a:r>
              <a:rPr sz="1700" b="0">
                <a:solidFill>
                  <a:srgbClr val="222222"/>
                </a:solidFill>
                <a:latin typeface="맑은 고딕"/>
              </a:rPr>
              <a:t>•  ORA-28060 이미 가린 컬럼 / ORA-28068 정책 없음</a:t>
            </a:r>
          </a:p>
          <a:p>
            <a:pPr algn="l">
              <a:spcAft>
                <a:spcPts val="1000"/>
              </a:spcAft>
            </a:pPr>
            <a:r>
              <a:rPr sz="1700" b="0">
                <a:solidFill>
                  <a:srgbClr val="222222"/>
                </a:solidFill>
                <a:latin typeface="맑은 고딕"/>
              </a:rPr>
              <a:t>•  ORA-28087·28088 정책 식의 허용되지 않는 함수</a:t>
            </a:r>
          </a:p>
          <a:p>
            <a:pPr algn="l">
              <a:spcAft>
                <a:spcPts val="1000"/>
              </a:spcAft>
            </a:pPr>
            <a:r>
              <a:rPr sz="1700" b="0">
                <a:solidFill>
                  <a:srgbClr val="222222"/>
                </a:solidFill>
                <a:latin typeface="맑은 고딕"/>
              </a:rPr>
              <a:t>•  ORA-28081 리댁션 컬럼 복사 / ORA-28094 뷰 연산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막는 것과 막지 못하는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조건절 추론은 막지 못한다</a:t>
            </a:r>
          </a:p>
          <a:p>
            <a:pPr algn="l">
              <a:spcAft>
                <a:spcPts val="800"/>
              </a:spcAft>
            </a:pPr>
            <a:r>
              <a:rPr sz="1600" b="0">
                <a:solidFill>
                  <a:srgbClr val="FFFFFF"/>
                </a:solidFill>
                <a:latin typeface="맑은 고딕"/>
              </a:rPr>
              <a:t>•  값 복사는 막는다</a:t>
            </a:r>
          </a:p>
          <a:p>
            <a:pPr algn="l">
              <a:spcAft>
                <a:spcPts val="800"/>
              </a:spcAft>
            </a:pPr>
            <a:r>
              <a:rPr sz="1600" b="0">
                <a:solidFill>
                  <a:srgbClr val="FFFFFF"/>
                </a:solidFill>
                <a:latin typeface="맑은 고딕"/>
              </a:rPr>
              <a:t>•  뷰와 VPD와의 관계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조건절 추론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WHERE는 원래 값으로 평가된다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0으로 보여도 WHERE salary &gt; 15000은 실제로 걸러짐</a:t>
            </a:r>
          </a:p>
          <a:p>
            <a:pPr algn="l">
              <a:spcAft>
                <a:spcPts val="1000"/>
              </a:spcAft>
            </a:pPr>
            <a:r>
              <a:rPr sz="1700" b="0">
                <a:solidFill>
                  <a:srgbClr val="222222"/>
                </a:solidFill>
                <a:latin typeface="맑은 고딕"/>
              </a:rPr>
              <a:t>•  BETWEEN 23999 AND 24001이 1건이면 값이 드러남</a:t>
            </a:r>
          </a:p>
          <a:p>
            <a:pPr algn="l">
              <a:spcAft>
                <a:spcPts val="1000"/>
              </a:spcAft>
            </a:pPr>
            <a:r>
              <a:rPr sz="1700" b="0">
                <a:solidFill>
                  <a:srgbClr val="222222"/>
                </a:solidFill>
                <a:latin typeface="맑은 고딕"/>
              </a:rPr>
              <a:t>•  ORDER BY도 원래 값 순서</a:t>
            </a:r>
          </a:p>
          <a:p>
            <a:pPr algn="l">
              <a:spcAft>
                <a:spcPts val="1000"/>
              </a:spcAft>
            </a:pPr>
            <a:r>
              <a:rPr sz="1700" b="0">
                <a:solidFill>
                  <a:srgbClr val="222222"/>
                </a:solidFill>
                <a:latin typeface="맑은 고딕"/>
              </a:rPr>
              <a:t>•  임의 SQL 사용자에게는 VPD·권한 분리·암호화 병행</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값 복사 차단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CTAS와 INSERT SELECT는 ORA-28081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리댁션 컬럼을 다른 테이블로 옮기면 거부</a:t>
            </a:r>
          </a:p>
          <a:p>
            <a:pPr algn="l">
              <a:spcAft>
                <a:spcPts val="1000"/>
              </a:spcAft>
            </a:pPr>
            <a:r>
              <a:rPr sz="1700" b="0">
                <a:solidFill>
                  <a:srgbClr val="222222"/>
                </a:solidFill>
                <a:latin typeface="맑은 고딕"/>
              </a:rPr>
              <a:t>•  리댁션 대상이 아닌 컬럼만 고르면 복사됨</a:t>
            </a:r>
          </a:p>
          <a:p>
            <a:pPr algn="l">
              <a:spcAft>
                <a:spcPts val="1000"/>
              </a:spcAft>
            </a:pPr>
            <a:r>
              <a:rPr sz="1700" b="0">
                <a:solidFill>
                  <a:srgbClr val="222222"/>
                </a:solidFill>
                <a:latin typeface="맑은 고딕"/>
              </a:rPr>
              <a:t>•  면제 권한 보유자는 원래 값을 복사할 수 있다</a:t>
            </a:r>
          </a:p>
          <a:p>
            <a:pPr algn="l">
              <a:spcAft>
                <a:spcPts val="1000"/>
              </a:spcAft>
            </a:pPr>
            <a:r>
              <a:rPr sz="1700" b="0">
                <a:solidFill>
                  <a:srgbClr val="222222"/>
                </a:solidFill>
                <a:latin typeface="맑은 고딕"/>
              </a:rPr>
              <a:t>•  복사된 테이블에는 정책이 없다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뷰와 리댁션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뷰 안에서 연산하면 ORA-28094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컬럼을 그대로 내보내는 뷰: 리댁션된 값</a:t>
            </a:r>
          </a:p>
          <a:p>
            <a:pPr algn="l">
              <a:spcAft>
                <a:spcPts val="1000"/>
              </a:spcAft>
            </a:pPr>
            <a:r>
              <a:rPr sz="1700" b="0">
                <a:solidFill>
                  <a:srgbClr val="222222"/>
                </a:solidFill>
                <a:latin typeface="맑은 고딕"/>
              </a:rPr>
              <a:t>•  뷰 정의 안의 salary * 12: ORA-28094(19.3)</a:t>
            </a:r>
          </a:p>
          <a:p>
            <a:pPr algn="l">
              <a:spcAft>
                <a:spcPts val="1000"/>
              </a:spcAft>
            </a:pPr>
            <a:r>
              <a:rPr sz="1700" b="0">
                <a:solidFill>
                  <a:srgbClr val="222222"/>
                </a:solidFill>
                <a:latin typeface="맑은 고딕"/>
              </a:rPr>
              <a:t>•  바깥 조회에서 계산: 리댁션 값 기준 결과</a:t>
            </a:r>
          </a:p>
          <a:p>
            <a:pPr algn="l">
              <a:spcAft>
                <a:spcPts val="1000"/>
              </a:spcAft>
            </a:pPr>
            <a:r>
              <a:rPr sz="1700" b="0">
                <a:solidFill>
                  <a:srgbClr val="222222"/>
                </a:solidFill>
                <a:latin typeface="맑은 고딕"/>
              </a:rPr>
              <a:t>•  정책 적용 전 대상 사용자로 관련 뷰 모두 조회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VPD와 함께 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행은 VPD, 값은 Redaction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부서장은 자기 부서 행만(VPD), 급여는 역할이 있을 때만</a:t>
            </a:r>
          </a:p>
          <a:p>
            <a:pPr algn="l">
              <a:spcAft>
                <a:spcPts val="1000"/>
              </a:spcAft>
            </a:pPr>
            <a:r>
              <a:rPr sz="1700" b="0">
                <a:solidFill>
                  <a:srgbClr val="222222"/>
                </a:solidFill>
                <a:latin typeface="맑은 고딕"/>
              </a:rPr>
              <a:t>•  VPD 술어에 쓰이는 컬럼은 리댁션 불가</a:t>
            </a:r>
          </a:p>
          <a:p>
            <a:pPr algn="l">
              <a:spcAft>
                <a:spcPts val="1000"/>
              </a:spcAft>
            </a:pPr>
            <a:r>
              <a:rPr sz="1700" b="0">
                <a:solidFill>
                  <a:srgbClr val="222222"/>
                </a:solidFill>
                <a:latin typeface="맑은 고딕"/>
              </a:rPr>
              <a:t>•  면제 권한이 각각 따로 있다</a:t>
            </a:r>
          </a:p>
          <a:p>
            <a:pPr algn="l">
              <a:spcAft>
                <a:spcPts val="1000"/>
              </a:spcAft>
            </a:pPr>
            <a:r>
              <a:rPr sz="1700" b="0">
                <a:solidFill>
                  <a:srgbClr val="222222"/>
                </a:solidFill>
                <a:latin typeface="맑은 고딕"/>
              </a:rPr>
              <a:t>•  점검 목록에 두 면제 권한을 모두 넣는다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면제와 우회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SYS와 EXEMPT REDACTION POLICY</a:t>
            </a:r>
          </a:p>
          <a:p>
            <a:pPr algn="l">
              <a:spcAft>
                <a:spcPts val="800"/>
              </a:spcAft>
            </a:pPr>
            <a:r>
              <a:rPr sz="1600" b="0">
                <a:solidFill>
                  <a:srgbClr val="FFFFFF"/>
                </a:solidFill>
                <a:latin typeface="맑은 고딕"/>
              </a:rPr>
              <a:t>•  DBA 역할에 숨은 면제 권한</a:t>
            </a:r>
          </a:p>
          <a:p>
            <a:pPr algn="l">
              <a:spcAft>
                <a:spcPts val="800"/>
              </a:spcAft>
            </a:pPr>
            <a:r>
              <a:rPr sz="1600" b="0">
                <a:solidFill>
                  <a:srgbClr val="FFFFFF"/>
                </a:solidFill>
                <a:latin typeface="맑은 고딕"/>
              </a:rPr>
              <a:t>•  점검 항목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면제 권한과 DBA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DBA는 리댁션을 받지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SYS와 EXEMPT REDACTION POLICY 보유자는 모든 정책 우회</a:t>
            </a:r>
          </a:p>
          <a:p>
            <a:pPr algn="l">
              <a:spcAft>
                <a:spcPts val="1000"/>
              </a:spcAft>
            </a:pPr>
            <a:r>
              <a:rPr sz="1700" b="0">
                <a:solidFill>
                  <a:srgbClr val="222222"/>
                </a:solidFill>
                <a:latin typeface="맑은 고딕"/>
              </a:rPr>
              <a:t>•  EXP_FULL_DATABASE가 이 권한을 갖고, DBA는 그 역할을 포함</a:t>
            </a:r>
          </a:p>
          <a:p>
            <a:pPr algn="l">
              <a:spcAft>
                <a:spcPts val="1000"/>
              </a:spcAft>
            </a:pPr>
            <a:r>
              <a:rPr sz="1700" b="0">
                <a:solidFill>
                  <a:srgbClr val="222222"/>
                </a:solidFill>
                <a:latin typeface="맑은 고딕"/>
              </a:rPr>
              <a:t>•  뷰 + NONE 정책의 뷰 권한도 원래 값 경로</a:t>
            </a:r>
          </a:p>
          <a:p>
            <a:pPr algn="l">
              <a:spcAft>
                <a:spcPts val="1000"/>
              </a:spcAft>
            </a:pPr>
            <a:r>
              <a:rPr sz="1700" b="0">
                <a:solidFill>
                  <a:srgbClr val="222222"/>
                </a:solidFill>
                <a:latin typeface="맑은 고딕"/>
              </a:rPr>
              <a:t>•  Data Pump 계정은 면제 권한이 있어야 원래 값</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다섯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정기 점검 목록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ENABLE이 NO인 정책</a:t>
            </a:r>
          </a:p>
          <a:p>
            <a:pPr algn="l">
              <a:spcAft>
                <a:spcPts val="1000"/>
              </a:spcAft>
            </a:pPr>
            <a:r>
              <a:rPr sz="1700" b="0">
                <a:solidFill>
                  <a:srgbClr val="222222"/>
                </a:solidFill>
                <a:latin typeface="맑은 고딕"/>
              </a:rPr>
              <a:t>•  컬럼별로 덮어쓴 이름 붙은 식</a:t>
            </a:r>
          </a:p>
          <a:p>
            <a:pPr algn="l">
              <a:spcAft>
                <a:spcPts val="1000"/>
              </a:spcAft>
            </a:pPr>
            <a:r>
              <a:rPr sz="1700" b="0">
                <a:solidFill>
                  <a:srgbClr val="222222"/>
                </a:solidFill>
                <a:latin typeface="맑은 고딕"/>
              </a:rPr>
              <a:t>•  EXEMPT REDACTION POLICY와 DBA 보유자</a:t>
            </a:r>
          </a:p>
          <a:p>
            <a:pPr algn="l">
              <a:spcAft>
                <a:spcPts val="1000"/>
              </a:spcAft>
            </a:pPr>
            <a:r>
              <a:rPr sz="1700" b="0">
                <a:solidFill>
                  <a:srgbClr val="222222"/>
                </a:solidFill>
                <a:latin typeface="맑은 고딕"/>
              </a:rPr>
              <a:t>•  DBMS_REDACT 실행 + CREATE ANY TABLE 보유자</a:t>
            </a:r>
          </a:p>
          <a:p>
            <a:pPr algn="l">
              <a:spcAft>
                <a:spcPts val="1000"/>
              </a:spcAft>
            </a:pPr>
            <a:r>
              <a:rPr sz="1700" b="0">
                <a:solidFill>
                  <a:srgbClr val="222222"/>
                </a:solidFill>
                <a:latin typeface="맑은 고딕"/>
              </a:rPr>
              <a:t>•  대상 사용자로 화면·뷰 조회 시험</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8.9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딕셔너리 뷰, 절차,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REDACTION_ 계열 뷰</a:t>
            </a:r>
          </a:p>
          <a:p>
            <a:pPr algn="l">
              <a:spcAft>
                <a:spcPts val="800"/>
              </a:spcAft>
            </a:pPr>
            <a:r>
              <a:rPr sz="1600" b="0">
                <a:solidFill>
                  <a:srgbClr val="FFFFFF"/>
                </a:solidFill>
                <a:latin typeface="맑은 고딕"/>
              </a:rPr>
              <a:t>•  설계와 적용 순서</a:t>
            </a:r>
          </a:p>
          <a:p>
            <a:pPr algn="l">
              <a:spcAft>
                <a:spcPts val="800"/>
              </a:spcAft>
            </a:pPr>
            <a:r>
              <a:rPr sz="1600" b="0">
                <a:solidFill>
                  <a:srgbClr val="FFFFFF"/>
                </a:solidFill>
                <a:latin typeface="맑은 고딕"/>
              </a:rPr>
              <a:t>•  운영 시 주의점</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 딕셔너리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 접두어가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REDACTION_POLICIES: 정책, 대상, 식, ENABLE</a:t>
            </a:r>
          </a:p>
          <a:p>
            <a:pPr algn="l">
              <a:spcAft>
                <a:spcPts val="1000"/>
              </a:spcAft>
            </a:pPr>
            <a:r>
              <a:rPr sz="1700" b="0">
                <a:solidFill>
                  <a:srgbClr val="222222"/>
                </a:solidFill>
                <a:latin typeface="맑은 고딕"/>
              </a:rPr>
              <a:t>•  REDACTION_COLUMNS: 컬럼, 방식(FULL REDACTION 등), 인자</a:t>
            </a:r>
          </a:p>
          <a:p>
            <a:pPr algn="l">
              <a:spcAft>
                <a:spcPts val="1000"/>
              </a:spcAft>
            </a:pPr>
            <a:r>
              <a:rPr sz="1700" b="0">
                <a:solidFill>
                  <a:srgbClr val="222222"/>
                </a:solidFill>
                <a:latin typeface="맑은 고딕"/>
              </a:rPr>
              <a:t>•  REDACTION_EXPRESSIONS: 이름 붙은 식과 연결 컬럼</a:t>
            </a:r>
          </a:p>
          <a:p>
            <a:pPr algn="l">
              <a:spcAft>
                <a:spcPts val="1000"/>
              </a:spcAft>
            </a:pPr>
            <a:r>
              <a:rPr sz="1700" b="0">
                <a:solidFill>
                  <a:srgbClr val="222222"/>
                </a:solidFill>
                <a:latin typeface="맑은 고딕"/>
              </a:rPr>
              <a:t>•  REDACTION_VALUES_FOR_TYPE_FULL: FULL 기본값</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설계와 적용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비활성으로 만들고 시험 후 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민감 컬럼과 업무별 노출 수준 정리</a:t>
            </a:r>
          </a:p>
          <a:p>
            <a:pPr algn="l">
              <a:spcAft>
                <a:spcPts val="1000"/>
              </a:spcAft>
            </a:pPr>
            <a:r>
              <a:rPr sz="1700" b="0">
                <a:solidFill>
                  <a:srgbClr val="222222"/>
                </a:solidFill>
                <a:latin typeface="맑은 고딕"/>
              </a:rPr>
              <a:t>•  컬럼별 방식 선택, 정책 식 설계</a:t>
            </a:r>
          </a:p>
          <a:p>
            <a:pPr algn="l">
              <a:spcAft>
                <a:spcPts val="1000"/>
              </a:spcAft>
            </a:pPr>
            <a:r>
              <a:rPr sz="1700" b="0">
                <a:solidFill>
                  <a:srgbClr val="222222"/>
                </a:solidFill>
                <a:latin typeface="맑은 고딕"/>
              </a:rPr>
              <a:t>•  enable =&gt; FALSE로 생성, 대상 사용자로 화면·뷰·배치 시험</a:t>
            </a:r>
          </a:p>
          <a:p>
            <a:pPr algn="l">
              <a:spcAft>
                <a:spcPts val="1000"/>
              </a:spcAft>
            </a:pPr>
            <a:r>
              <a:rPr sz="1700" b="0">
                <a:solidFill>
                  <a:srgbClr val="222222"/>
                </a:solidFill>
                <a:latin typeface="맑은 고딕"/>
              </a:rPr>
              <a:t>•  ENABLE 후 면제·관리 권한 점검과 감사 설정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조용히 결과가 바뀌는 문제들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테이블당 정책 하나: 정책 소유 조직을 정한다</a:t>
            </a:r>
          </a:p>
          <a:p>
            <a:pPr algn="l">
              <a:spcAft>
                <a:spcPts val="1000"/>
              </a:spcAft>
            </a:pPr>
            <a:r>
              <a:rPr sz="1700" b="0">
                <a:solidFill>
                  <a:srgbClr val="222222"/>
                </a:solidFill>
                <a:latin typeface="맑은 고딕"/>
              </a:rPr>
              <a:t>•  FULL 기본값 변경은 DB 전체에 영향</a:t>
            </a:r>
          </a:p>
          <a:p>
            <a:pPr algn="l">
              <a:spcAft>
                <a:spcPts val="1000"/>
              </a:spcAft>
            </a:pPr>
            <a:r>
              <a:rPr sz="1700" b="0">
                <a:solidFill>
                  <a:srgbClr val="222222"/>
                </a:solidFill>
                <a:latin typeface="맑은 고딕"/>
              </a:rPr>
              <a:t>•  0, 공백, NULL 문의는 데이터 유실로 들어온다</a:t>
            </a:r>
          </a:p>
          <a:p>
            <a:pPr algn="l">
              <a:spcAft>
                <a:spcPts val="1000"/>
              </a:spcAft>
            </a:pPr>
            <a:r>
              <a:rPr sz="1700" b="0">
                <a:solidFill>
                  <a:srgbClr val="222222"/>
                </a:solidFill>
                <a:latin typeface="맑은 고딕"/>
              </a:rPr>
              <a:t>•  애플리케이션 캐시가 원래 값을 퍼뜨리지 않는지 확인</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저장 값은 그대로, 결과만 가리는 동적 마스킹(Advanced Security)</a:t>
            </a:r>
          </a:p>
          <a:p>
            <a:pPr algn="l">
              <a:spcAft>
                <a:spcPts val="1000"/>
              </a:spcAft>
            </a:pPr>
            <a:r>
              <a:rPr sz="1600" b="0">
                <a:solidFill>
                  <a:srgbClr val="222222"/>
                </a:solidFill>
                <a:latin typeface="맑은 고딕"/>
              </a:rPr>
              <a:t>•  정책 = 객체·컬럼·방식·식, 테이블당 하나(ORA-28069)</a:t>
            </a:r>
          </a:p>
          <a:p>
            <a:pPr algn="l">
              <a:spcAft>
                <a:spcPts val="1000"/>
              </a:spcAft>
            </a:pPr>
            <a:r>
              <a:rPr sz="1600" b="0">
                <a:solidFill>
                  <a:srgbClr val="222222"/>
                </a:solidFill>
                <a:latin typeface="맑은 고딕"/>
              </a:rPr>
              <a:t>•  식이 TRUE면 리댁션, 허용 함수만, 역할은 SYS_SESSION_ROLES</a:t>
            </a:r>
          </a:p>
          <a:p>
            <a:pPr algn="l">
              <a:spcAft>
                <a:spcPts val="1000"/>
              </a:spcAft>
            </a:pPr>
            <a:r>
              <a:rPr sz="1600" b="0">
                <a:solidFill>
                  <a:srgbClr val="222222"/>
                </a:solidFill>
                <a:latin typeface="맑은 고딕"/>
              </a:rPr>
              <a:t>•  FULL 0·공백·2001-01-01 / REGEXP 불일치는 FULL</a:t>
            </a:r>
          </a:p>
          <a:p>
            <a:pPr algn="l">
              <a:spcAft>
                <a:spcPts val="1000"/>
              </a:spcAft>
            </a:pPr>
            <a:r>
              <a:rPr sz="1600" b="0">
                <a:solidFill>
                  <a:srgbClr val="222222"/>
                </a:solidFill>
                <a:latin typeface="맑은 고딕"/>
              </a:rPr>
              <a:t>•  WHERE·ORDER BY는 원래 값, CTAS는 ORA-28081, 뷰 연산은 ORA-28094</a:t>
            </a:r>
          </a:p>
          <a:p>
            <a:pPr algn="l">
              <a:spcAft>
                <a:spcPts val="1000"/>
              </a:spcAft>
            </a:pPr>
            <a:r>
              <a:rPr sz="1600" b="0">
                <a:solidFill>
                  <a:srgbClr val="222222"/>
                </a:solidFill>
                <a:latin typeface="맑은 고딕"/>
              </a:rPr>
              <a:t>•  SYS·EXEMPT REDACTION POLICY·DBA는 우회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0으로 보이는 급여에 WHERE salary &gt; 15000을 쓰면? → 실제 값으로 걸러짐</a:t>
            </a:r>
          </a:p>
          <a:p>
            <a:pPr algn="l">
              <a:spcAft>
                <a:spcPts val="1000"/>
              </a:spcAft>
            </a:pPr>
            <a:r>
              <a:rPr sz="1600" b="0">
                <a:solidFill>
                  <a:srgbClr val="222222"/>
                </a:solidFill>
                <a:latin typeface="맑은 고딕"/>
              </a:rPr>
              <a:t>•  Q2. 정책이 있는 테이블에 두 번째 ADD_POLICY는? → ORA-28069, ALTER_POLICY로 추가</a:t>
            </a:r>
          </a:p>
          <a:p>
            <a:pPr algn="l">
              <a:spcAft>
                <a:spcPts val="1000"/>
              </a:spcAft>
            </a:pPr>
            <a:r>
              <a:rPr sz="1600" b="0">
                <a:solidFill>
                  <a:srgbClr val="222222"/>
                </a:solidFill>
                <a:latin typeface="맑은 고딕"/>
              </a:rPr>
              <a:t>•  Q3. 하이픈 없는 주민번호가 REGEXP 패턴과 안 맞으면? → FULL(공백)</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정책 식에 쓸 수 없는 것은? → 사용자 PL/SQL 함수</a:t>
            </a:r>
          </a:p>
          <a:p>
            <a:pPr algn="l">
              <a:spcAft>
                <a:spcPts val="1000"/>
              </a:spcAft>
            </a:pPr>
            <a:r>
              <a:rPr sz="1600" b="0">
                <a:solidFill>
                  <a:srgbClr val="222222"/>
                </a:solidFill>
                <a:latin typeface="맑은 고딕"/>
              </a:rPr>
              <a:t>•  Q5. 리댁션 컬럼을 CTAS로 복사하면? → ORA-28081</a:t>
            </a:r>
          </a:p>
          <a:p>
            <a:pPr algn="l">
              <a:spcAft>
                <a:spcPts val="1000"/>
              </a:spcAft>
            </a:pPr>
            <a:r>
              <a:rPr sz="1600" b="0">
                <a:solidFill>
                  <a:srgbClr val="222222"/>
                </a:solidFill>
                <a:latin typeface="맑은 고딕"/>
              </a:rPr>
              <a:t>•  Q6. 숫자 FULL 리댁션의 주의점은? → 실제 0과 구분 안 됨</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FULL 리댁션과 정책 식: PLS-00201, 사용자별 결과 (8.3, 8.5.2)</a:t>
            </a:r>
          </a:p>
          <a:p>
            <a:pPr algn="l">
              <a:spcAft>
                <a:spcPts val="1000"/>
              </a:spcAft>
            </a:pPr>
            <a:r>
              <a:rPr sz="1600" b="0">
                <a:solidFill>
                  <a:srgbClr val="222222"/>
                </a:solidFill>
                <a:latin typeface="맑은 고딕"/>
              </a:rPr>
              <a:t>•  02 REGEXP와 PARTIAL: ORA-28069, 패턴 불일치 (8.5.3, 8.5.4)</a:t>
            </a:r>
          </a:p>
          <a:p>
            <a:pPr algn="l">
              <a:spcAft>
                <a:spcPts val="1000"/>
              </a:spcAft>
            </a:pPr>
            <a:r>
              <a:rPr sz="1600" b="0">
                <a:solidFill>
                  <a:srgbClr val="222222"/>
                </a:solidFill>
                <a:latin typeface="맑은 고딕"/>
              </a:rPr>
              <a:t>•  03 RANDOM·NULLIFY·PARTIAL: ORA-28060, ORA-28088, 역할 판정 (8.4, 8.5)</a:t>
            </a:r>
          </a:p>
          <a:p>
            <a:pPr algn="l">
              <a:spcAft>
                <a:spcPts val="1000"/>
              </a:spcAft>
            </a:pPr>
            <a:r>
              <a:rPr sz="1600" b="0">
                <a:solidFill>
                  <a:srgbClr val="222222"/>
                </a:solidFill>
                <a:latin typeface="맑은 고딕"/>
              </a:rPr>
              <a:t>•  04 한계와 면제: 조건절 추론, ORA-28081, ORA-28094 (8.7, 8.8)</a:t>
            </a:r>
          </a:p>
          <a:p>
            <a:pPr algn="l">
              <a:spcAft>
                <a:spcPts val="1000"/>
              </a:spcAft>
            </a:pPr>
            <a:r>
              <a:rPr sz="1600" b="0">
                <a:solidFill>
                  <a:srgbClr val="222222"/>
                </a:solidFill>
                <a:latin typeface="맑은 고딕"/>
              </a:rPr>
              <a:t>•  05 정책 관리와 원복: ORA-28080, ORA-28092, ORA-28068 (8.4.4, 8.6)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
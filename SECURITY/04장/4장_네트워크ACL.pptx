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데이터베이스는 보통 접속을 받는 쪽이라 외부로 나가는 경로를 잊기 쉽습니다. 하지만 UTL_HTTP 한 줄이면 조회 결과를 URL 뒤에 붙여 외부 서버로 보낼 수 있습니다. SQL 인젝션 공격이 성공했을 때 데이터를 빼내는 대표적인 방법이 바로 이것입니다. DB 서버는 방화벽 안쪽 깊은 곳에 있어서 외부에서 닿지 않는 내부 서버에도 접속할 수 있다는 점도 위험 요소입니다. 네트워크 ACL은 이 출구를 사용자 단위, 목적지 단위로 막는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01에서 확인하면 UTL_HTTP, UTL_TCP, UTL_SMTP, UTL_INADDR의 실행 권한이 모두 PUBLIC에 부여돼 있습니다. 누구나 패키지를 호출할 수는 있다는 뜻입니다. 예전에는 PUBLIC 실행 권한을 회수하는 것 말고는 방법이 없었는데, 그러면 정상 업무 계정까지 막혀서 다시 일일이 부여해야 했습니다. ACL은 실행 권한을 그대로 두고, 실제로 연결을 여는 순간에 목적지와 권한 종류를 따져 허용 여부를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ORA-29273은 HTTP 요청이 실패했다는 겉 오류일 뿐이라 원인은 항상 그 아래 줄에 있습니다. ACL 문제면 ORA-24247이 보이고, 상대 서버가 꺼져 있으면 ORA-12541 같은 연결 오류가 보입니다. 실습 01 마지막에도 시험용 서버를 끈 상태로 호출했더니 ORA-12541이 나왔습니다. 두 경우는 담당자도 해결 방법도 다르니 오류 스택 전체를 읽는 습관이 필요합니다. 오래된 DB를 업그레이드한 직후 메일이나 HTTP 연동이 갑자기 멈췄다면 가장 먼저 ACL을 의심합니다.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11g 시절에는 ACL을 XML 파일처럼 먼저 만들고, 거기에 사용자 권한을 추가하고, 마지막으로 호스트에 할당하는 세 단계를 거쳤습니다. 12c부터는 Real Application Security의 ACL 객체로 바뀌었고, 호스트에 ACE를 덧붙이는 호출 하나로 끝납니다. ACL이 없으면 NETWORK_ACL_로 시작하는 이름으로 자동으로 만들어집니다. 실습 01에서 ACE 하나를 추가하자 DBA_HOST_ACLS에 시스템 생성 이름의 ACL이 나타나는 것을 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단계를 나눠 두면 진단이 빨라집니다. 1단계는 객체 권한의 문제이고, 3~4단계가 네트워크 ACL의 영역입니다. 4단계를 통과한 뒤에 나는 오류는 데이터베이스 보안 설정과 무관하고 네트워크나 대상 서버 쪽 문제입니다. 특히 2단계에서 URL에 적힌 호스트 문자열이 그대로 판정에 쓰인다는 점은 뒤에서 이름과 IP 문제로 다시 나옵니다. ACL은 이름을 IP로 풀어서 비교하지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애플리케이션 취약점을 완벽하게 없애기는 어렵습니다. 그래서 데이터베이스 쪽에서 최소 권한을 지켜 두는 것이 피해를 줄이는 마지막 방어선이 됩니다. 이 사례에서 계정에 connect를 와일드카드로 열어 두었다면 데이터는 그대로 외부로 나갔을 것입니다. ORA-24247은 평소에는 거의 나지 않는 오류라서, 갑자기 늘어나면 설정 실수이거나 공격 시도일 가능성이 높습니다. 감사 기록과 연결해 지표로 보는 이유가 여기에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호출 하나가 11g의 CREATE_ACL, ADD_PRIVILEGE, ASSIGN_ACL 세 단계를 대신합니다. upper_port를 생략하면 lower_port 하나만 허용되고, 둘 다 생략하면 그 호스트의 모든 포트가 대상이 됩니다. 같은 권한을 다시 덧붙여도 중복은 건너뛰기 때문에 배포 스크립트를 여러 번 실행해도 ACE가 늘어나지 않습니다. 호출이 성공하는 순간 바로 효력이 생기므로 운영 중에는 실행 전에 대상과 권한을 다시 확인하는 습관이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principal_type의 기본값은 RAS 애플리케이션 사용자를 뜻하는 PTYPE_XS입니다. 데이터베이스 사용자에게 주면서 이 값을 빠뜨리면 의도와 다른 주체로 등록될 수 있어서 매뉴얼 예제도 항상 xs_acl.ptype_db를 적습니다. granted를 FALSE로 주면 거부 항목이 되는데, 뒤의 판정 순서 절에서 활용합니다. 유효 기간을 주면 연동 시험 기간처럼 정해진 동안만 권한이 살아 있습니다. 기간이 지나도 행은 남으므로 정리는 따로 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ORA-01927은 원래 내가 주지 않은 객체 권한을 회수하려 할 때 나는 오류인데, ACE 제거에서도 같은 메시지가 나와 처음 보면 당황스럽습니다. 실습 05에서 등록하지 않은 호스트의 ACE를 지우려고 일부러 이 오류를 냅니다. 거부 ACE를 지울 때 granted를 FALSE로 맞추지 않으면 역시 찾지 못합니다. 그래서 실습의 철거 단계는 DBA_HOST_ACES를 읽어 그 값을 그대로 넘기는 루프로 짰습니다. remove_empty_acl을 TRUE로 주지 않으면 빈 ACL이 호스트에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19.3에서 직접 확인한 동작입니다. ACE를 가진 계정을 DROP USER로 지우면 ACE는 사라지지만, 그 ACE를 담고 있던 ACL은 빈 채로 호스트에 계속 할당돼 있습니다. 지울 ACE가 없으니 REMOVE_HOST_ACE는 ORA-01927을 내고, SET_HOST_ACL에 NULL을 주어 할당을 해제해야 깨끗해집니다. 같은 이름으로 계정을 다시 만들어도 예전 권한은 되살아나지 않았습니다. 계정 삭제 절차에 ACE 제거를 먼저 넣으면 이런 잔재가 생기지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원본 자료는 test_acl_file.xml을 만들고 사용자와 호스트를 붙이는 11g 방식으로 되어 있습니다. 19c에서도 그대로 동작하고, 실습 04에서 직접 실행해 보면 만들어진 ACL이 새 뷰에도 똑같이 나타납니다. 다만 매뉴얼은 이 호출들을 디프리케이트로 표시하고 있으니 새로 작성하는 스크립트는 APPEND_HOST_ACE로 통일합니다. 같은 이름으로 CREATE_ACL을 다시 실행하면 ORA-46212가 나는데, ACL이 RAS 객체로 저장된다는 흔적입니다.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11g 시절 자료는 대부분 connect와 resolve만 씁니다. 당시에는 사실상 그 두 가지뿐이었기 때문입니다. 12c부터는 용도별 권한이 생겨서 HTTP만 쓰는 계정에는 http, 메일만 보내는 계정에는 smtp를 주는 것이 매뉴얼의 권장입니다. connect를 주면 같은 호스트와 포트로 UTL_TCP 원시 연결까지 열리기 때문에 필요 이상으로 넓어집니다. jdwp는 개발 DB에서 PL/SQL 디버깅에 쓰는 권한이므로 운영 DB에는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02의 흐름입니다. acl_u1은 172.16.225.50의 8090 포트에 http 권한만 가지고 있어서 UTL_HTTP로는 페이지를 읽지만 UTL_TCP로 같은 포트에 연결하면 거부됩니다. 같은 범위에 connect를 덧붙이자 8090 연결은 성공하고, 같은 블록에서 1521로 연결하려던 시도는 ORA-24247로 막힙니다. 권한 종류와 포트 범위가 각각 독립적으로 작동한다는 것을 한 번에 볼 수 있는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역할로 ACE를 관리하면 편하지만 함정이 하나 있습니다. 정의자 권한 프로시저 안에서는 역할이 비활성화되기 때문에, SQL*Plus에서 직접 실행하면 되던 호출이 프로시저로 감싸는 순간 ORA-24247로 바뀝니다. 실습 04에서는 SET ROLE NONE으로 역할을 꺼서 같은 상황을 재현합니다. 대화형으로 쓰는 사용자는 역할로, 저장 프로시저를 소유하는 계정은 직접 부여로 관리하는 것이 현실적인 규칙입니다.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개발자에게서 가장 자주 받는 질문 중 하나입니다. 같은 코드인데 왜 프로시저 안에서만 안 되느냐는 질문인데, 원인은 ACL이 아니라 정의자 권한 실행 모델에 있습니다. 객체 권한도 역할로 받으면 프로시저 안에서 쓸 수 없는데, 네트워크 ACL도 같은 규칙을 따릅니다. 이 규칙을 알고 있으면 원인을 찾는 데 몇 분이면 충분합니다. 팀 차원에서 프로시저 소유 계정은 직접 부여한다는 규칙을 정해 두면 같은 문의가 반복되지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메일 발송은 배치 결과 통보 등으로 많이 쓰이는 기능입니다. UTL_MAIL은 기본 설치되지 않으니 SYS로 스크립트를 실행해 설치하고, 메일 서버 주소는 SMTP_OUT_SERVER 파라미터에 지정합니다. 여기에 smtp 권한을 메일 서버의 해당 포트로만 주면 됩니다. connect가 아니라 smtp를 주는 이유는 같은 계정이 메일 서버의 다른 포트나 다른 프로토콜로 접속하지 못하게 하기 위해서입니다. 10g에서 업그레이드한 DB에서 메일이 끊기는 사례가 많습니다.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사내망에서 외부로 나가는 HTTP가 프록시를 거쳐야 하는 환경이 많습니다. 이때는 프록시 서버에 대한 http_proxy 권한과 실제 목적지에 대한 http 권한이 함께 필요하다고 매뉴얼에 적혀 있습니다. 목적지 권한까지 요구하는 덕분에, 프록시를 통하더라도 데이터베이스가 허용한 목적지로만 요청을 보낼 수 있습니다. 프록시 권한만 넓게 열어 두는 구성은 외부 전체를 여는 것과 비슷하니 피합니다.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02에서 172.16.225.50에 http를 받은 사용자가 같은 서버를 oel7v9라는 이름으로 호출하자 거부됐습니다. oel7v9가 그 IP로 풀린다는 사실은 ACL 판정에 반영되지 않습니다. 그래서 ACL 등록을 요청받을 때는 애플리케이션이 URL을 어떻게 만드는지부터 확인해야 합니다. 개발 환경은 IP, 운영 환경은 도메인 이름을 쓰는 식으로 갈리는 경우가 흔하고, 그러면 개발에서는 되는데 운영에서만 실패하는 상황이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이런 장애는 설정 비교만으로는 잘 보이지 않습니다. 두 DB의 ACL이 똑같기 때문입니다. 차이는 애플리케이션 설정 파일에 있었고, ACL은 그 차이를 그대로 드러냈을 뿐입니다. 사용하지 않게 된 IP 기반 ACE는 정리하는 것이 좋습니다. 남겨 두면 나중에 그 IP를 다른 서버가 쓰게 되었을 때 의도하지 않은 접속 경로가 됩니다. 등록 요청 양식을 바꾸는 것이 재발을 막는 가장 확실한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02에서 ORA-24244를 두 번 만납니다. 한 번은 resolve에 포트를 지정했을 때이고, 또 한 번은 이미 8090 한 포트짜리 ACL이 있는 호스트에 8000부터 8100까지 범위를 덧붙이려 했을 때입니다. 메시지는 같지만 원인이 다릅니다. 같은 범위로 다시 주면 ACE_ORDER 2번으로 기존 ACL에 붙는 것도 확인할 수 있습니다. 범위를 넓히고 싶으면 기존 ACE를 지우고 새로 주거나, 필요한 포트만 겹치지 않게 따로 등록합니다.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겹침 오류 덕분에 오히려 더 나은 설정에 도달한 사례입니다. 처음 시도대로 8080부터 8443까지 범위를 열었다면 그 사이 360여 개 포트가 모두 허용됐을 것입니다. 실제로 필요한 것은 두 포트였으니 하나씩 등록하는 편이 맞습니다. 포트 범위는 연속된 포트를 실제로 쓰는 서비스, 예를 들어 여러 인스턴스가 연속 포트를 쓰는 경우에만 씁니다. 등록 전에 DBA_HOST_ACLS에서 같은 호스트의 기존 범위를 먼저 보는 습관을 들입니다.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서버 자신에서 도는 서비스를 호출하는 경우도 있습니다. 이때 localhost와 서버 IP는 ACL 입장에서 완전히 다른 호스트입니다. 설치 직후 localhost에 ORACLE_OCM 계정의 resolve ACE가 있는데 이는 오라클 내부 구성 요소용이므로 건드리지 않습니다. 루프백 주소를 넓게 열어 두면 DB 서버에서만 접근하도록 만든 관리용 서비스에 데이터베이스를 통해 접근할 수 있게 되니, 로컬이라도 꼭 필요한 문자열과 포트만 엽니다.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DOMAINS 함수에 호스트를 넣으면 데이터베이스가 ACL을 찾는 순서가 그대로 나옵니다. 실습 03에서 조회해 보면 IP 하나에서 시작해 서브넷, 더 큰 서브넷, 마지막으로 별표까지 다섯 단계가 나옵니다. 하위 도메인의 ACL이 상위 도메인의 ACL보다 우선하고, 같은 호스트 안에서는 포트 범위가 지정된 ACL이 먼저 판정됩니다. 구체적인 ACL에 그 사용자에 대한 판정이 있으면 더 넓은 ACL은 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서브넷 전체의 서버와 연동하되 특정 서버 하나만 막아야 하는 경우에 거부 ACE를 씁니다. 실습 03에서 서브넷 허용만 있을 때는 페이지를 읽던 사용자가, 같은 서버에 거부 ACE가 추가되자 ORA-24247을 받습니다. 거부 ACE를 지우자 다시 서브넷 허용이 적용됩니다. 반대로 별표에 거부를 두고 일부를 허용하는 구성은 기본이 이미 거부라서 아무 의미가 없습니다. 한 ACL에 같은 사용자의 허용과 거부를 섞어 두면 순서에 따라 결과가 갈리니 피합니다.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ORA-24247을 받은 개발자가 DBA에게 연락하기 전에 직접 할 수 있는 확인이 USER_HOST_ACES 조회입니다. 실습 03에서 acl_u2로 조회하면 서브넷은 GRANTED, 특정 IP는 DENIED로 나와서 왜 거부됐는지가 한눈에 보입니다. 역할로 받은 권한도 역할이 켜져 있으면 함께 나옵니다. 원본 자료의 CHECK_PRIVILEGE 함수도 같은 목적이지만 하위 호환용으로만 남은 함수이므로, 점검 스크립트는 뷰를 기준으로 작성합니다.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01부터 04까지 만나는 거부 사례를 한 장에 모았습니다. 모두 같은 ORA-24247이지만 원인은 다섯 가지로 갈립니다. 진단할 때 이 목록을 순서대로 대입해 보면 대부분의 문제가 풀립니다. 권한 종류, 호스트 문자열, 포트, 거부 항목, 역할 활성 여부를 확인하는 셈입니다. 실습을 마친 뒤 각 사례를 직접 다시 만들어 보면서 USER_HOST_ACES에 어떻게 나타나는지 비교해 보면 진단 감각이 빨리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HTTPS 호출에는 상대 서버의 인증서를 검증할 신뢰 인증서가 필요하고, 그 인증서는 지갑에 담아 SET_WALLET으로 지정합니다. 상대가 클라이언트 인증서까지 요구하면 지갑에 그 인증서를 넣고 지갑 ACE로 사용 권한을 줍니다. 호스트 ACE와 지갑 ACE는 서로 다른 목록이라 둘 다 있어야 상호 인증 HTTPS가 성공합니다. 지갑의 구조와 orapki 사용법은 1장과 11장에서 자세히 다루니 여기서는 권한 관계만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실습에서 만나는 오류를 모은 것입니다. ORA-24247 외에는 대부분 DBA가 설정하는 과정에서 만나는 오류입니다. ORA-01927과 ORA-46212는 메시지만 보면 네트워크 ACL과 무관해 보여서 처음에는 당황하기 쉽습니다. 앞의 것은 객체 권한 회수와 같은 메시지를 쓰고, 뒤의 것은 RAS 객체 이름 충돌을 뜻합니다. 실습 04와 05에서 일부러 재현하니 메시지와 원인을 짝지어 두면 실무에서 바로 알아볼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순서가 중요합니다. 가장 먼저 호출한 사용자 본인으로 USER_HOST_ACES를 보는 이유는 DBA 계정으로 보면 역할 활성 상태가 다르기 때문입니다. 행이 아예 없으면 ACE가 없는 것이니 등록하면 되고, 행이 있는데도 거부되면 호스트 문자열, 포트, 권한 종류 순서로 맞춰 봅니다. 프로시저 안에서만 실패하면 역할 문제일 가능성이 높습니다. DENIED가 보이면 누군가 의도적으로 거부 항목을 둔 것이니 그 이유를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업그레이드 프로젝트에서 자주 놓치는 항목입니다. 10g에는 네트워크 ACL이 없었기 때문에 업그레이드 체크리스트에 ACL 항목이 빠져 있으면 첫 야간 배치에서 문제가 드러납니다. 매뉴얼의 업그레이드 관련 절도 바로 이 증상을 설명합니다. 업그레이드 전에 DBA_DEPENDENCIES로 네트워크 패키지를 참조하는 객체를 모두 찾아 필요한 ACE를 미리 준비해 두면 이런 장애를 피할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점검은 DBA_HOST_ACES 하나로 충분합니다. 호스트, 포트, 주체, 권한, 허용 여부가 한 행에 모두 담겨 있기 때문입니다. 주체가 역할이면 DBA_ROLE_PRIVS로 그 역할을 가진 사람을 이어서 확인합니다. 구버전 API로 만든 ACL도 이 뷰에서 새 방식과 같은 형태로 보이고, 호스트 이름은 소문자로 저장된다는 점만 조회 조건에서 주의하면 됩니다. 설치 때부터 있던 GSMADMIN_INTERNAL, GGSYS, ORACLE_OCM의 resolve 항목은 점검 대상에서 빼고 지우지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것처럼 계정을 먼저 지우면 빈 ACL이 호스트에 남습니다. 동작에는 영향이 없지만 점검할 때마다 주체 없는 ACL이 보여 혼란을 주고, 나중에 같은 호스트에 ACE를 덧붙이면 이 빈 ACL에 붙게 됩니다. NOT EXISTS 조건으로 두 뷰를 비교하면 쉽게 찾을 수 있습니다. 정리할 때는 REMOVE_HOST_ACE 대신 SET_HOST_ACL에 NULL을 줍니다. 매뉴얼은 SET_HOST_ACL로 ACL을 직접 지정하는 것을 권하지 않지만 할당 해제에는 씁니다.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많이 빠지는 단계가 6번 거부 시험입니다. 허용이 잘 되는 것만 확인하고 끝내면 와일드카드나 connect로 지나치게 넓게 열어 둔 것을 알아챌 수 없습니다. 다른 포트, 다른 호스트, 다른 계정으로 호출해서 막히는지 확인해야 설정이 의도대로라고 말할 수 있습니다. 1번 목록은 DBA_DEPENDENCIES에서 UTL_HTTP 등을 참조하는 객체를 찾으면 DB 안의 호출 지점이 빠짐없이 나와서 출발점으로 삼기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11g 시절 만든 ACL이 남은 DB는 DBA_NETWORK_ACLS에 /sys/acls/로 시작하는 이름이 보입니다. 동작에는 문제가 없지만 새 방식과 섞여 있으면 관리가 어려우니 기회가 될 때 옮겨 둡니다. 같은 호스트와 같은 포트 범위로 덧붙이면 기존 ACL에 ACE가 추가될 수도 있으니, DROP_ACL 전에 새 ACE만으로 필요한 권한이 남는지 DBA_HOST_ACES에서 확인합니다. DROP_ACL은 하위 호환용으로 남아 있어서 이런 정리 작업에 그대로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ACL 문제는 대부분 경보 없이 진행됩니다. 넓게 열어 둔 권한은 아무 오류도 내지 않고, 업체 IP가 바뀌면 그제야 ORA-24247로 드러납니다. 개발 DB에서 편의상 별표에 connect를 열어 둔 스크립트가 운영 반영 스크립트에 섞여 들어가는 사고도 흔합니다. ACL 변경은 즉시 반영되고 별도 기록이 남지 않는 구성이 많아서, 패키지 호출을 감사 정책으로 기록해 두면 나중에 누가 언제 열었는지 추적할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네트워크 ACL</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누가, 어디로, 무엇으로 나갈 수 있는가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ORA-24247이 나는 조건과 ACL이 필요한 이유를 설명한다</a:t>
            </a:r>
          </a:p>
          <a:p>
            <a:pPr algn="l">
              <a:spcAft>
                <a:spcPts val="1000"/>
              </a:spcAft>
            </a:pPr>
            <a:r>
              <a:rPr sz="1600" b="0">
                <a:solidFill>
                  <a:srgbClr val="222222"/>
                </a:solidFill>
                <a:latin typeface="맑은 고딕"/>
              </a:rPr>
              <a:t>•  ACL·ACE와 XS$ACE_TYPE의 구성을 설명한다</a:t>
            </a:r>
          </a:p>
          <a:p>
            <a:pPr algn="l">
              <a:spcAft>
                <a:spcPts val="1000"/>
              </a:spcAft>
            </a:pPr>
            <a:r>
              <a:rPr sz="1600" b="0">
                <a:solidFill>
                  <a:srgbClr val="222222"/>
                </a:solidFill>
                <a:latin typeface="맑은 고딕"/>
              </a:rPr>
              <a:t>•  APPEND_HOST_ACE·REMOVE_HOST_ACE로 권한을 관리한다</a:t>
            </a:r>
          </a:p>
          <a:p>
            <a:pPr algn="l">
              <a:spcAft>
                <a:spcPts val="1000"/>
              </a:spcAft>
            </a:pPr>
            <a:r>
              <a:rPr sz="1600" b="0">
                <a:solidFill>
                  <a:srgbClr val="222222"/>
                </a:solidFill>
                <a:latin typeface="맑은 고딕"/>
              </a:rPr>
              <a:t>•  http·smtp·connect·resolve를 구분해 최소 권한으로 준다</a:t>
            </a:r>
          </a:p>
          <a:p>
            <a:pPr algn="l">
              <a:spcAft>
                <a:spcPts val="1000"/>
              </a:spcAft>
            </a:pPr>
            <a:r>
              <a:rPr sz="1600" b="0">
                <a:solidFill>
                  <a:srgbClr val="222222"/>
                </a:solidFill>
                <a:latin typeface="맑은 고딕"/>
              </a:rPr>
              <a:t>•  와일드카드·포트 범위·거부 ACE의 판정 순서를 설명한다</a:t>
            </a:r>
          </a:p>
          <a:p>
            <a:pPr algn="l">
              <a:spcAft>
                <a:spcPts val="1000"/>
              </a:spcAft>
            </a:pPr>
            <a:r>
              <a:rPr sz="1600" b="0">
                <a:solidFill>
                  <a:srgbClr val="222222"/>
                </a:solidFill>
                <a:latin typeface="맑은 고딕"/>
              </a:rPr>
              <a:t>•  구버전 API로 만든 ACL을 읽고 뷰로 점검한다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4.2  네트워크 접근 제어의 개념</a:t>
            </a:r>
          </a:p>
          <a:p>
            <a:pPr algn="l">
              <a:spcAft>
                <a:spcPts val="1000"/>
              </a:spcAft>
            </a:pPr>
            <a:r>
              <a:rPr sz="1600" b="0">
                <a:solidFill>
                  <a:srgbClr val="222222"/>
                </a:solidFill>
                <a:latin typeface="맑은 고딕"/>
              </a:rPr>
              <a:t>•  4.3  ACE 관리 API</a:t>
            </a:r>
          </a:p>
          <a:p>
            <a:pPr algn="l">
              <a:spcAft>
                <a:spcPts val="1000"/>
              </a:spcAft>
            </a:pPr>
            <a:r>
              <a:rPr sz="1600" b="0">
                <a:solidFill>
                  <a:srgbClr val="222222"/>
                </a:solidFill>
                <a:latin typeface="맑은 고딕"/>
              </a:rPr>
              <a:t>•  4.4  권한 종류와 최소 권한  /  4.5  호스트와 포트</a:t>
            </a:r>
          </a:p>
          <a:p>
            <a:pPr algn="l">
              <a:spcAft>
                <a:spcPts val="1000"/>
              </a:spcAft>
            </a:pPr>
            <a:r>
              <a:rPr sz="1600" b="0">
                <a:solidFill>
                  <a:srgbClr val="222222"/>
                </a:solidFill>
                <a:latin typeface="맑은 고딕"/>
              </a:rPr>
              <a:t>•  4.6  판정 순서와 거부 ACE  /  4.7  지갑 접근 제어</a:t>
            </a:r>
          </a:p>
          <a:p>
            <a:pPr algn="l">
              <a:spcAft>
                <a:spcPts val="1000"/>
              </a:spcAft>
            </a:pPr>
            <a:r>
              <a:rPr sz="1600" b="0">
                <a:solidFill>
                  <a:srgbClr val="222222"/>
                </a:solidFill>
                <a:latin typeface="맑은 고딕"/>
              </a:rPr>
              <a:t>•  4.8  오류와 진단  /  4.9  데이터 딕셔너리 뷰</a:t>
            </a:r>
          </a:p>
          <a:p>
            <a:pPr algn="l">
              <a:spcAft>
                <a:spcPts val="1000"/>
              </a:spcAft>
            </a:pPr>
            <a:r>
              <a:rPr sz="1600" b="0">
                <a:solidFill>
                  <a:srgbClr val="222222"/>
                </a:solidFill>
                <a:latin typeface="맑은 고딕"/>
              </a:rPr>
              <a:t>•  4.10  설계와 적용 절차  /  4.11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네트워크 접근 제어의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데이터베이스가 외부로 나가는 경로</a:t>
            </a:r>
          </a:p>
          <a:p>
            <a:pPr algn="l">
              <a:spcAft>
                <a:spcPts val="800"/>
              </a:spcAft>
            </a:pPr>
            <a:r>
              <a:rPr sz="1600" b="0">
                <a:solidFill>
                  <a:srgbClr val="FFFFFF"/>
                </a:solidFill>
                <a:latin typeface="맑은 고딕"/>
              </a:rPr>
              <a:t>•  실행 권한과 ACL은 다른 장치</a:t>
            </a:r>
          </a:p>
          <a:p>
            <a:pPr algn="l">
              <a:spcAft>
                <a:spcPts val="800"/>
              </a:spcAft>
            </a:pPr>
            <a:r>
              <a:rPr sz="1600" b="0">
                <a:solidFill>
                  <a:srgbClr val="FFFFFF"/>
                </a:solidFill>
                <a:latin typeface="맑은 고딕"/>
              </a:rPr>
              <a:t>•  기본 거부와 ORA-24247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데이터베이스가 외부로 나가는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PL/SQL 패키지로 외부 서버에 접속</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결제 서버 HTTP 호출, 배치 결과 메일, LDAP 조회</a:t>
            </a:r>
          </a:p>
          <a:p>
            <a:pPr algn="l">
              <a:spcAft>
                <a:spcPts val="1000"/>
              </a:spcAft>
            </a:pPr>
            <a:r>
              <a:rPr sz="1700" b="0">
                <a:solidFill>
                  <a:srgbClr val="222222"/>
                </a:solidFill>
                <a:latin typeface="맑은 고딕"/>
              </a:rPr>
              <a:t>•  SQL 인젝션 시 데이터 유출 통로가 될 수 있음</a:t>
            </a:r>
          </a:p>
          <a:p>
            <a:pPr algn="l">
              <a:spcAft>
                <a:spcPts val="1000"/>
              </a:spcAft>
            </a:pPr>
            <a:r>
              <a:rPr sz="1700" b="0">
                <a:solidFill>
                  <a:srgbClr val="222222"/>
                </a:solidFill>
                <a:latin typeface="맑은 고딕"/>
              </a:rPr>
              <a:t>•  방화벽 안쪽 다른 서버를 탐색하는 발판</a:t>
            </a:r>
          </a:p>
          <a:p>
            <a:pPr algn="l">
              <a:spcAft>
                <a:spcPts val="1000"/>
              </a:spcAft>
            </a:pPr>
            <a:r>
              <a:rPr sz="1700" b="0">
                <a:solidFill>
                  <a:srgbClr val="222222"/>
                </a:solidFill>
                <a:latin typeface="맑은 고딕"/>
              </a:rPr>
              <a:t>•  누가·어디로·무엇으로 나갈지 DB가 판정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ACL의 통제를 받는 패키지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실행 권한은 PUBLIC, 판정은 ACL</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UTL_HTTP, HttpUriType: http 또는 connect</a:t>
            </a:r>
          </a:p>
          <a:p>
            <a:pPr algn="l">
              <a:spcAft>
                <a:spcPts val="1000"/>
              </a:spcAft>
            </a:pPr>
            <a:r>
              <a:rPr sz="1700" b="0">
                <a:solidFill>
                  <a:srgbClr val="222222"/>
                </a:solidFill>
                <a:latin typeface="맑은 고딕"/>
              </a:rPr>
              <a:t>•  UTL_SMTP, UTL_MAIL: smtp 또는 connect</a:t>
            </a:r>
          </a:p>
          <a:p>
            <a:pPr algn="l">
              <a:spcAft>
                <a:spcPts val="1000"/>
              </a:spcAft>
            </a:pPr>
            <a:r>
              <a:rPr sz="1700" b="0">
                <a:solidFill>
                  <a:srgbClr val="222222"/>
                </a:solidFill>
                <a:latin typeface="맑은 고딕"/>
              </a:rPr>
              <a:t>•  UTL_TCP, DBMS_LDAP: connect</a:t>
            </a:r>
          </a:p>
          <a:p>
            <a:pPr algn="l">
              <a:spcAft>
                <a:spcPts val="1000"/>
              </a:spcAft>
            </a:pPr>
            <a:r>
              <a:rPr sz="1700" b="0">
                <a:solidFill>
                  <a:srgbClr val="222222"/>
                </a:solidFill>
                <a:latin typeface="맑은 고딕"/>
              </a:rPr>
              <a:t>•  UTL_INADDR: resolve</a:t>
            </a:r>
          </a:p>
          <a:p>
            <a:pPr algn="l">
              <a:spcAft>
                <a:spcPts val="1000"/>
              </a:spcAft>
            </a:pPr>
            <a:r>
              <a:rPr sz="1700" b="0">
                <a:solidFill>
                  <a:srgbClr val="222222"/>
                </a:solidFill>
                <a:latin typeface="맑은 고딕"/>
              </a:rPr>
              <a:t>•  EXECUTE 권한은 설치 직후 PUBLIC에 있음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기본 거부와 ORA-24247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허용이 없으면 연결을 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11g R1부터 네트워크 접근은 기본 거부</a:t>
            </a:r>
          </a:p>
          <a:p>
            <a:pPr algn="l">
              <a:spcAft>
                <a:spcPts val="1000"/>
              </a:spcAft>
            </a:pPr>
            <a:r>
              <a:rPr sz="1700" b="0">
                <a:solidFill>
                  <a:srgbClr val="222222"/>
                </a:solidFill>
                <a:latin typeface="맑은 고딕"/>
              </a:rPr>
              <a:t>•  UTL_HTTP는 ORA-29273 아래에 ORA-24247</a:t>
            </a:r>
          </a:p>
          <a:p>
            <a:pPr algn="l">
              <a:spcAft>
                <a:spcPts val="1000"/>
              </a:spcAft>
            </a:pPr>
            <a:r>
              <a:rPr sz="1700" b="0">
                <a:solidFill>
                  <a:srgbClr val="222222"/>
                </a:solidFill>
                <a:latin typeface="맑은 고딕"/>
              </a:rPr>
              <a:t>•  대상 서버가 꺼졌으면 아래 줄이 ORA-12541</a:t>
            </a:r>
          </a:p>
          <a:p>
            <a:pPr algn="l">
              <a:spcAft>
                <a:spcPts val="1000"/>
              </a:spcAft>
            </a:pPr>
            <a:r>
              <a:rPr sz="1700" b="0">
                <a:solidFill>
                  <a:srgbClr val="222222"/>
                </a:solidFill>
                <a:latin typeface="맑은 고딕"/>
              </a:rPr>
              <a:t>•  10g에서 업그레이드한 DB의 대표 증상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ACL과 ACE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목록과 항목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ACL: 권한 항목(ACE)의 목록</a:t>
            </a:r>
          </a:p>
          <a:p>
            <a:pPr algn="l">
              <a:spcAft>
                <a:spcPts val="1000"/>
              </a:spcAft>
            </a:pPr>
            <a:r>
              <a:rPr sz="1700" b="0">
                <a:solidFill>
                  <a:srgbClr val="222222"/>
                </a:solidFill>
                <a:latin typeface="맑은 고딕"/>
              </a:rPr>
              <a:t>•  ACE: 주체에게 권한을 허용 또는 거부</a:t>
            </a:r>
          </a:p>
          <a:p>
            <a:pPr algn="l">
              <a:spcAft>
                <a:spcPts val="1000"/>
              </a:spcAft>
            </a:pPr>
            <a:r>
              <a:rPr sz="1700" b="0">
                <a:solidFill>
                  <a:srgbClr val="222222"/>
                </a:solidFill>
                <a:latin typeface="맑은 고딕"/>
              </a:rPr>
              <a:t>•  ACL은 호스트(+포트 범위)에 하나씩 연결</a:t>
            </a:r>
          </a:p>
          <a:p>
            <a:pPr algn="l">
              <a:spcAft>
                <a:spcPts val="1000"/>
              </a:spcAft>
            </a:pPr>
            <a:r>
              <a:rPr sz="1700" b="0">
                <a:solidFill>
                  <a:srgbClr val="222222"/>
                </a:solidFill>
                <a:latin typeface="맑은 고딕"/>
              </a:rPr>
              <a:t>•  12c부터 RAS ACL 객체로 SYS 스키마에 저장</a:t>
            </a:r>
          </a:p>
          <a:p>
            <a:pPr algn="l">
              <a:spcAft>
                <a:spcPts val="1000"/>
              </a:spcAft>
            </a:pPr>
            <a:r>
              <a:rPr sz="1700" b="0">
                <a:solidFill>
                  <a:srgbClr val="222222"/>
                </a:solidFill>
                <a:latin typeface="맑은 고딕"/>
              </a:rPr>
              <a:t>•  19c는 ACE만 덧붙이면 ACL 자동 생성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호출 한 번에 일어나는 판정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단계에서 막혔는가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패키지 실행 권한 확인</a:t>
            </a:r>
          </a:p>
          <a:p>
            <a:pPr algn="l">
              <a:spcAft>
                <a:spcPts val="1000"/>
              </a:spcAft>
            </a:pPr>
            <a:r>
              <a:rPr sz="1700" b="0">
                <a:solidFill>
                  <a:srgbClr val="222222"/>
                </a:solidFill>
                <a:latin typeface="맑은 고딕"/>
              </a:rPr>
              <a:t>•  2 URL에서 호스트 문자열과 포트 추출</a:t>
            </a:r>
          </a:p>
          <a:p>
            <a:pPr algn="l">
              <a:spcAft>
                <a:spcPts val="1000"/>
              </a:spcAft>
            </a:pPr>
            <a:r>
              <a:rPr sz="1700" b="0">
                <a:solidFill>
                  <a:srgbClr val="222222"/>
                </a:solidFill>
                <a:latin typeface="맑은 고딕"/>
              </a:rPr>
              <a:t>•  3 가장 구체적인 ACL부터 검색</a:t>
            </a:r>
          </a:p>
          <a:p>
            <a:pPr algn="l">
              <a:spcAft>
                <a:spcPts val="1000"/>
              </a:spcAft>
            </a:pPr>
            <a:r>
              <a:rPr sz="1700" b="0">
                <a:solidFill>
                  <a:srgbClr val="222222"/>
                </a:solidFill>
                <a:latin typeface="맑은 고딕"/>
              </a:rPr>
              <a:t>•  4 사용자·켜진 역할의 ACE로 판정 → ORA-24247</a:t>
            </a:r>
          </a:p>
          <a:p>
            <a:pPr algn="l">
              <a:spcAft>
                <a:spcPts val="1000"/>
              </a:spcAft>
            </a:pPr>
            <a:r>
              <a:rPr sz="1700" b="0">
                <a:solidFill>
                  <a:srgbClr val="222222"/>
                </a:solidFill>
                <a:latin typeface="맑은 고딕"/>
              </a:rPr>
              <a:t>•  5 실제 TCP 연결 → ORA-12541, ORA-12535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 인젝션 시도가 외부로 나가지 못했다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ACL이 마지막 방어선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검색 화면의 SQL 인젝션으로 UTL_HTTP 유출 시도</a:t>
            </a:r>
          </a:p>
          <a:p>
            <a:pPr algn="l">
              <a:spcAft>
                <a:spcPts val="1000"/>
              </a:spcAft>
            </a:pPr>
            <a:r>
              <a:rPr sz="1700" b="0">
                <a:solidFill>
                  <a:srgbClr val="222222"/>
                </a:solidFill>
                <a:latin typeface="맑은 고딕"/>
              </a:rPr>
              <a:t>•  감사 기록에 ORA-24247 연속 발생</a:t>
            </a:r>
          </a:p>
          <a:p>
            <a:pPr algn="l">
              <a:spcAft>
                <a:spcPts val="1000"/>
              </a:spcAft>
            </a:pPr>
            <a:r>
              <a:rPr sz="1700" b="0">
                <a:solidFill>
                  <a:srgbClr val="222222"/>
                </a:solidFill>
                <a:latin typeface="맑은 고딕"/>
              </a:rPr>
              <a:t>•  계정은 결제사 호스트 443에만 http 허용</a:t>
            </a:r>
          </a:p>
          <a:p>
            <a:pPr algn="l">
              <a:spcAft>
                <a:spcPts val="1000"/>
              </a:spcAft>
            </a:pPr>
            <a:r>
              <a:rPr sz="1700" b="0">
                <a:solidFill>
                  <a:srgbClr val="222222"/>
                </a:solidFill>
                <a:latin typeface="맑은 고딕"/>
              </a:rPr>
              <a:t>•  취약점 수정 후 ORA-24247 건수를 모니터링 지표로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ACE 관리 API</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APPEND_HOST_ACE와 XS$ACE_TYPE</a:t>
            </a:r>
          </a:p>
          <a:p>
            <a:pPr algn="l">
              <a:spcAft>
                <a:spcPts val="800"/>
              </a:spcAft>
            </a:pPr>
            <a:r>
              <a:rPr sz="1600" b="0">
                <a:solidFill>
                  <a:srgbClr val="FFFFFF"/>
                </a:solidFill>
                <a:latin typeface="맑은 고딕"/>
              </a:rPr>
              <a:t>•  REMOVE_HOST_ACE와 remove_empty_acl</a:t>
            </a:r>
          </a:p>
          <a:p>
            <a:pPr algn="l">
              <a:spcAft>
                <a:spcPts val="800"/>
              </a:spcAft>
            </a:pPr>
            <a:r>
              <a:rPr sz="1600" b="0">
                <a:solidFill>
                  <a:srgbClr val="FFFFFF"/>
                </a:solidFill>
                <a:latin typeface="맑은 고딕"/>
              </a:rPr>
              <a:t>•  구버전 API와의 대응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APPEND_HOST_ACE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ACL 생성·권한 부여·호스트 지정을 한 번에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host: 이름 또는 IP, 와일드카드 가능</a:t>
            </a:r>
          </a:p>
          <a:p>
            <a:pPr algn="l">
              <a:spcAft>
                <a:spcPts val="1000"/>
              </a:spcAft>
            </a:pPr>
            <a:r>
              <a:rPr sz="1700" b="0">
                <a:solidFill>
                  <a:srgbClr val="222222"/>
                </a:solidFill>
                <a:latin typeface="맑은 고딕"/>
              </a:rPr>
              <a:t>•  lower_port, upper_port: 1~65535, 생략 시 전체</a:t>
            </a:r>
          </a:p>
          <a:p>
            <a:pPr algn="l">
              <a:spcAft>
                <a:spcPts val="1000"/>
              </a:spcAft>
            </a:pPr>
            <a:r>
              <a:rPr sz="1700" b="0">
                <a:solidFill>
                  <a:srgbClr val="222222"/>
                </a:solidFill>
                <a:latin typeface="맑은 고딕"/>
              </a:rPr>
              <a:t>•  ace: xs$ace_type(privilege_list, principal_name, principal_type)</a:t>
            </a:r>
          </a:p>
          <a:p>
            <a:pPr algn="l">
              <a:spcAft>
                <a:spcPts val="1000"/>
              </a:spcAft>
            </a:pPr>
            <a:r>
              <a:rPr sz="1700" b="0">
                <a:solidFill>
                  <a:srgbClr val="222222"/>
                </a:solidFill>
                <a:latin typeface="맑은 고딕"/>
              </a:rPr>
              <a:t>•  중복 권한은 건너뜀, COMMIT 불필요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XS$ACE_TYPE의 필드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principal_type을 빠뜨리지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privilege_list: xs$name_list('http', 'smtp')</a:t>
            </a:r>
          </a:p>
          <a:p>
            <a:pPr algn="l">
              <a:spcAft>
                <a:spcPts val="1000"/>
              </a:spcAft>
            </a:pPr>
            <a:r>
              <a:rPr sz="1700" b="0">
                <a:solidFill>
                  <a:srgbClr val="222222"/>
                </a:solidFill>
                <a:latin typeface="맑은 고딕"/>
              </a:rPr>
              <a:t>•  principal_name: 사용자 또는 역할</a:t>
            </a:r>
          </a:p>
          <a:p>
            <a:pPr algn="l">
              <a:spcAft>
                <a:spcPts val="1000"/>
              </a:spcAft>
            </a:pPr>
            <a:r>
              <a:rPr sz="1700" b="0">
                <a:solidFill>
                  <a:srgbClr val="222222"/>
                </a:solidFill>
                <a:latin typeface="맑은 고딕"/>
              </a:rPr>
              <a:t>•  principal_type: 반드시 xs_acl.ptype_db</a:t>
            </a:r>
          </a:p>
          <a:p>
            <a:pPr algn="l">
              <a:spcAft>
                <a:spcPts val="1000"/>
              </a:spcAft>
            </a:pPr>
            <a:r>
              <a:rPr sz="1700" b="0">
                <a:solidFill>
                  <a:srgbClr val="222222"/>
                </a:solidFill>
                <a:latin typeface="맑은 고딕"/>
              </a:rPr>
              <a:t>•  granted: TRUE 허용, FALSE 거부</a:t>
            </a:r>
          </a:p>
          <a:p>
            <a:pPr algn="l">
              <a:spcAft>
                <a:spcPts val="1000"/>
              </a:spcAft>
            </a:pPr>
            <a:r>
              <a:rPr sz="1700" b="0">
                <a:solidFill>
                  <a:srgbClr val="222222"/>
                </a:solidFill>
                <a:latin typeface="맑은 고딕"/>
              </a:rPr>
              <a:t>•  start_date, end_date: 기간 한정 권한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REMOVE_HOST_ACE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추가할 때와 똑같이 지정해야 지워진다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호스트·포트·권한·주체·granted가 모두 같아야 함</a:t>
            </a:r>
          </a:p>
          <a:p>
            <a:pPr algn="l">
              <a:spcAft>
                <a:spcPts val="1000"/>
              </a:spcAft>
            </a:pPr>
            <a:r>
              <a:rPr sz="1700" b="0">
                <a:solidFill>
                  <a:srgbClr val="222222"/>
                </a:solidFill>
                <a:latin typeface="맑은 고딕"/>
              </a:rPr>
              <a:t>•  맞는 ACE가 없으면 ORA-01927</a:t>
            </a:r>
          </a:p>
          <a:p>
            <a:pPr algn="l">
              <a:spcAft>
                <a:spcPts val="1000"/>
              </a:spcAft>
            </a:pPr>
            <a:r>
              <a:rPr sz="1700" b="0">
                <a:solidFill>
                  <a:srgbClr val="222222"/>
                </a:solidFill>
                <a:latin typeface="맑은 고딕"/>
              </a:rPr>
              <a:t>•  remove_empty_acl =&gt; TRUE면 빈 ACL도 삭제</a:t>
            </a:r>
          </a:p>
          <a:p>
            <a:pPr algn="l">
              <a:spcAft>
                <a:spcPts val="1000"/>
              </a:spcAft>
            </a:pPr>
            <a:r>
              <a:rPr sz="1700" b="0">
                <a:solidFill>
                  <a:srgbClr val="222222"/>
                </a:solidFill>
                <a:latin typeface="맑은 고딕"/>
              </a:rPr>
              <a:t>•  DBA_HOST_ACES 값을 그대로 인자로 넘기는 방식이 안전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계정 삭제와 ACE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DROP USER 뒤에 남는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USER는 그 계정의 ACE를 함께 지움(19.3)</a:t>
            </a:r>
          </a:p>
          <a:p>
            <a:pPr algn="l">
              <a:spcAft>
                <a:spcPts val="1000"/>
              </a:spcAft>
            </a:pPr>
            <a:r>
              <a:rPr sz="1700" b="0">
                <a:solidFill>
                  <a:srgbClr val="222222"/>
                </a:solidFill>
                <a:latin typeface="맑은 고딕"/>
              </a:rPr>
              <a:t>•  호스트에 할당된 빈 ACL은 남음</a:t>
            </a:r>
          </a:p>
          <a:p>
            <a:pPr algn="l">
              <a:spcAft>
                <a:spcPts val="1000"/>
              </a:spcAft>
            </a:pPr>
            <a:r>
              <a:rPr sz="1700" b="0">
                <a:solidFill>
                  <a:srgbClr val="222222"/>
                </a:solidFill>
                <a:latin typeface="맑은 고딕"/>
              </a:rPr>
              <a:t>•  빈 ACL은 REMOVE_HOST_ACE로 못 지움(ORA-01927)</a:t>
            </a:r>
          </a:p>
          <a:p>
            <a:pPr algn="l">
              <a:spcAft>
                <a:spcPts val="1000"/>
              </a:spcAft>
            </a:pPr>
            <a:r>
              <a:rPr sz="1700" b="0">
                <a:solidFill>
                  <a:srgbClr val="222222"/>
                </a:solidFill>
                <a:latin typeface="맑은 고딕"/>
              </a:rPr>
              <a:t>•  SET_HOST_ACL(acl =&gt; NULL)로 할당 해제</a:t>
            </a:r>
          </a:p>
          <a:p>
            <a:pPr algn="l">
              <a:spcAft>
                <a:spcPts val="1000"/>
              </a:spcAft>
            </a:pPr>
            <a:r>
              <a:rPr sz="1700" b="0">
                <a:solidFill>
                  <a:srgbClr val="222222"/>
                </a:solidFill>
                <a:latin typeface="맑은 고딕"/>
              </a:rPr>
              <a:t>•  순서: ACE 먼저 제거 → 계정 삭제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구버전 API와의 대응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12c부터 디프리케이트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CREATE_ACL, ADD_PRIVILEGE, ASSIGN_ACL → APPEND_HOST_ACE</a:t>
            </a:r>
          </a:p>
          <a:p>
            <a:pPr algn="l">
              <a:spcAft>
                <a:spcPts val="1000"/>
              </a:spcAft>
            </a:pPr>
            <a:r>
              <a:rPr sz="1700" b="0">
                <a:solidFill>
                  <a:srgbClr val="222222"/>
                </a:solidFill>
                <a:latin typeface="맑은 고딕"/>
              </a:rPr>
              <a:t>•  DELETE_PRIVILEGE, UNASSIGN_ACL → REMOVE_HOST_ACE</a:t>
            </a:r>
          </a:p>
          <a:p>
            <a:pPr algn="l">
              <a:spcAft>
                <a:spcPts val="1000"/>
              </a:spcAft>
            </a:pPr>
            <a:r>
              <a:rPr sz="1700" b="0">
                <a:solidFill>
                  <a:srgbClr val="222222"/>
                </a:solidFill>
                <a:latin typeface="맑은 고딕"/>
              </a:rPr>
              <a:t>•  ASSIGN/UNASSIGN_WALLET_ACL → APPEND/REMOVE_WALLET_ACE</a:t>
            </a:r>
          </a:p>
          <a:p>
            <a:pPr algn="l">
              <a:spcAft>
                <a:spcPts val="1000"/>
              </a:spcAft>
            </a:pPr>
            <a:r>
              <a:rPr sz="1700" b="0">
                <a:solidFill>
                  <a:srgbClr val="222222"/>
                </a:solidFill>
                <a:latin typeface="맑은 고딕"/>
              </a:rPr>
              <a:t>•  CHECK_PRIVILEGE, DROP_ACL: 하위 호환용으로만 유지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권한 종류와 최소 권한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여섯 가지 호스트 권한</a:t>
            </a:r>
          </a:p>
          <a:p>
            <a:pPr algn="l">
              <a:spcAft>
                <a:spcPts val="800"/>
              </a:spcAft>
            </a:pPr>
            <a:r>
              <a:rPr sz="1600" b="0">
                <a:solidFill>
                  <a:srgbClr val="FFFFFF"/>
                </a:solidFill>
                <a:latin typeface="맑은 고딕"/>
              </a:rPr>
              <a:t>•  사용자와 역할, 정의자 권한</a:t>
            </a:r>
          </a:p>
          <a:p>
            <a:pPr algn="l">
              <a:spcAft>
                <a:spcPts val="800"/>
              </a:spcAft>
            </a:pPr>
            <a:r>
              <a:rPr sz="1600" b="0">
                <a:solidFill>
                  <a:srgbClr val="FFFFFF"/>
                </a:solidFill>
                <a:latin typeface="맑은 고딕"/>
              </a:rPr>
              <a:t>•  메일·프록시 구성</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호스트 ACE에 쓰는 권한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connect가 가장 넓다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http: UTL_HTTP, HttpUriType</a:t>
            </a:r>
          </a:p>
          <a:p>
            <a:pPr algn="l">
              <a:spcAft>
                <a:spcPts val="1000"/>
              </a:spcAft>
            </a:pPr>
            <a:r>
              <a:rPr sz="1700" b="0">
                <a:solidFill>
                  <a:srgbClr val="222222"/>
                </a:solidFill>
                <a:latin typeface="맑은 고딕"/>
              </a:rPr>
              <a:t>•  http_proxy: 프록시 경유 시 http와 함께</a:t>
            </a:r>
          </a:p>
          <a:p>
            <a:pPr algn="l">
              <a:spcAft>
                <a:spcPts val="1000"/>
              </a:spcAft>
            </a:pPr>
            <a:r>
              <a:rPr sz="1700" b="0">
                <a:solidFill>
                  <a:srgbClr val="222222"/>
                </a:solidFill>
                <a:latin typeface="맑은 고딕"/>
              </a:rPr>
              <a:t>•  smtp: UTL_SMTP, UTL_MAIL</a:t>
            </a:r>
          </a:p>
          <a:p>
            <a:pPr algn="l">
              <a:spcAft>
                <a:spcPts val="1000"/>
              </a:spcAft>
            </a:pPr>
            <a:r>
              <a:rPr sz="1700" b="0">
                <a:solidFill>
                  <a:srgbClr val="222222"/>
                </a:solidFill>
                <a:latin typeface="맑은 고딕"/>
              </a:rPr>
              <a:t>•  connect: 모든 네트워크 패키지의 연결</a:t>
            </a:r>
          </a:p>
          <a:p>
            <a:pPr algn="l">
              <a:spcAft>
                <a:spcPts val="1000"/>
              </a:spcAft>
            </a:pPr>
            <a:r>
              <a:rPr sz="1700" b="0">
                <a:solidFill>
                  <a:srgbClr val="222222"/>
                </a:solidFill>
                <a:latin typeface="맑은 고딕"/>
              </a:rPr>
              <a:t>•  resolve: UTL_INADDR / jdwp: 디버깅</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http와 connect의 차이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호스트·같은 포트라도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http만 받은 사용자: UTL_HTTP는 허용</a:t>
            </a:r>
          </a:p>
          <a:p>
            <a:pPr algn="l">
              <a:spcAft>
                <a:spcPts val="1000"/>
              </a:spcAft>
            </a:pPr>
            <a:r>
              <a:rPr sz="1700" b="0">
                <a:solidFill>
                  <a:srgbClr val="222222"/>
                </a:solidFill>
                <a:latin typeface="맑은 고딕"/>
              </a:rPr>
              <a:t>•  같은 사용자의 UTL_TCP 연결은 ORA-24247</a:t>
            </a:r>
          </a:p>
          <a:p>
            <a:pPr algn="l">
              <a:spcAft>
                <a:spcPts val="1000"/>
              </a:spcAft>
            </a:pPr>
            <a:r>
              <a:rPr sz="1700" b="0">
                <a:solidFill>
                  <a:srgbClr val="222222"/>
                </a:solidFill>
                <a:latin typeface="맑은 고딕"/>
              </a:rPr>
              <a:t>•  connect를 같은 포트 범위에 추가하면 UTL_TCP 허용</a:t>
            </a:r>
          </a:p>
          <a:p>
            <a:pPr algn="l">
              <a:spcAft>
                <a:spcPts val="1000"/>
              </a:spcAft>
            </a:pPr>
            <a:r>
              <a:rPr sz="1700" b="0">
                <a:solidFill>
                  <a:srgbClr val="222222"/>
                </a:solidFill>
                <a:latin typeface="맑은 고딕"/>
              </a:rPr>
              <a:t>•  범위 밖 포트(1521)는 여전히 거부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주체 선택 — 사용자와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 ACE는 역할이 켜져 있을 때만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목적지를 쓰는 사용자가 많으면 역할에 부여</a:t>
            </a:r>
          </a:p>
          <a:p>
            <a:pPr algn="l">
              <a:spcAft>
                <a:spcPts val="1000"/>
              </a:spcAft>
            </a:pPr>
            <a:r>
              <a:rPr sz="1700" b="0">
                <a:solidFill>
                  <a:srgbClr val="222222"/>
                </a:solidFill>
                <a:latin typeface="맑은 고딕"/>
              </a:rPr>
              <a:t>•  SET ROLE NONE 후에는 ORA-24247</a:t>
            </a:r>
          </a:p>
          <a:p>
            <a:pPr algn="l">
              <a:spcAft>
                <a:spcPts val="1000"/>
              </a:spcAft>
            </a:pPr>
            <a:r>
              <a:rPr sz="1700" b="0">
                <a:solidFill>
                  <a:srgbClr val="222222"/>
                </a:solidFill>
                <a:latin typeface="맑은 고딕"/>
              </a:rPr>
              <a:t>•  정의자 권한 프로시저 안에서는 역할이 꺼짐</a:t>
            </a:r>
          </a:p>
          <a:p>
            <a:pPr algn="l">
              <a:spcAft>
                <a:spcPts val="1000"/>
              </a:spcAft>
            </a:pPr>
            <a:r>
              <a:rPr sz="1700" b="0">
                <a:solidFill>
                  <a:srgbClr val="222222"/>
                </a:solidFill>
                <a:latin typeface="맑은 고딕"/>
              </a:rPr>
              <a:t>•  프로시저 소유자에게는 직접 부여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 프로시저로 감싸면 실패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역할로 받은 권한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SQL*Plus에서 UTL_HTTP 호출 성공</a:t>
            </a:r>
          </a:p>
          <a:p>
            <a:pPr algn="l">
              <a:spcAft>
                <a:spcPts val="1000"/>
              </a:spcAft>
            </a:pPr>
            <a:r>
              <a:rPr sz="1700" b="0">
                <a:solidFill>
                  <a:srgbClr val="222222"/>
                </a:solidFill>
                <a:latin typeface="맑은 고딕"/>
              </a:rPr>
              <a:t>•  같은 호출을 프로시저로 배포하자 ORA-24247</a:t>
            </a:r>
          </a:p>
          <a:p>
            <a:pPr algn="l">
              <a:spcAft>
                <a:spcPts val="1000"/>
              </a:spcAft>
            </a:pPr>
            <a:r>
              <a:rPr sz="1700" b="0">
                <a:solidFill>
                  <a:srgbClr val="222222"/>
                </a:solidFill>
                <a:latin typeface="맑은 고딕"/>
              </a:rPr>
              <a:t>•  개발 계정은 역할로 http ACE를 받고 있었음</a:t>
            </a:r>
          </a:p>
          <a:p>
            <a:pPr algn="l">
              <a:spcAft>
                <a:spcPts val="1000"/>
              </a:spcAft>
            </a:pPr>
            <a:r>
              <a:rPr sz="1700" b="0">
                <a:solidFill>
                  <a:srgbClr val="222222"/>
                </a:solidFill>
                <a:latin typeface="맑은 고딕"/>
              </a:rPr>
              <a:t>•  프로시저 소유자에게 직접 ACE 부여로 해결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메일 발송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UTL_MAIL + SMTP_OUT_SERVER + smtp</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UTL_MAIL은 utlmail.sql, prvtmail.plb로 설치</a:t>
            </a:r>
          </a:p>
          <a:p>
            <a:pPr algn="l">
              <a:spcAft>
                <a:spcPts val="1000"/>
              </a:spcAft>
            </a:pPr>
            <a:r>
              <a:rPr sz="1700" b="0">
                <a:solidFill>
                  <a:srgbClr val="222222"/>
                </a:solidFill>
                <a:latin typeface="맑은 고딕"/>
              </a:rPr>
              <a:t>•  SMTP_OUT_SERVER = '호스트:포트'</a:t>
            </a:r>
          </a:p>
          <a:p>
            <a:pPr algn="l">
              <a:spcAft>
                <a:spcPts val="1000"/>
              </a:spcAft>
            </a:pPr>
            <a:r>
              <a:rPr sz="1700" b="0">
                <a:solidFill>
                  <a:srgbClr val="222222"/>
                </a:solidFill>
                <a:latin typeface="맑은 고딕"/>
              </a:rPr>
              <a:t>•  메일 서버 호스트·포트 25에 smtp ACE</a:t>
            </a:r>
          </a:p>
          <a:p>
            <a:pPr algn="l">
              <a:spcAft>
                <a:spcPts val="1000"/>
              </a:spcAft>
            </a:pPr>
            <a:r>
              <a:rPr sz="1700" b="0">
                <a:solidFill>
                  <a:srgbClr val="222222"/>
                </a:solidFill>
                <a:latin typeface="맑은 고딕"/>
              </a:rPr>
              <a:t>•  파라미터만 있고 ACE가 없으면 ORA-24247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프록시를 거치는 HTTP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http_proxy와 http를 함께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UTL_HTTP.SET_PROXY로 프록시 지정</a:t>
            </a:r>
          </a:p>
          <a:p>
            <a:pPr algn="l">
              <a:spcAft>
                <a:spcPts val="1000"/>
              </a:spcAft>
            </a:pPr>
            <a:r>
              <a:rPr sz="1700" b="0">
                <a:solidFill>
                  <a:srgbClr val="222222"/>
                </a:solidFill>
                <a:latin typeface="맑은 고딕"/>
              </a:rPr>
              <a:t>•  프록시 서버에 http_proxy</a:t>
            </a:r>
          </a:p>
          <a:p>
            <a:pPr algn="l">
              <a:spcAft>
                <a:spcPts val="1000"/>
              </a:spcAft>
            </a:pPr>
            <a:r>
              <a:rPr sz="1700" b="0">
                <a:solidFill>
                  <a:srgbClr val="222222"/>
                </a:solidFill>
                <a:latin typeface="맑은 고딕"/>
              </a:rPr>
              <a:t>•  최종 목적지 호스트에 http</a:t>
            </a:r>
          </a:p>
          <a:p>
            <a:pPr algn="l">
              <a:spcAft>
                <a:spcPts val="1000"/>
              </a:spcAft>
            </a:pPr>
            <a:r>
              <a:rPr sz="1700" b="0">
                <a:solidFill>
                  <a:srgbClr val="222222"/>
                </a:solidFill>
                <a:latin typeface="맑은 고딕"/>
              </a:rPr>
              <a:t>•  프록시만 열면 프록시가 허용하는 모든 곳으로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호스트와 포트 지정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호스트 문자열과 와일드카드</a:t>
            </a:r>
          </a:p>
          <a:p>
            <a:pPr algn="l">
              <a:spcAft>
                <a:spcPts val="800"/>
              </a:spcAft>
            </a:pPr>
            <a:r>
              <a:rPr sz="1600" b="0">
                <a:solidFill>
                  <a:srgbClr val="FFFFFF"/>
                </a:solidFill>
                <a:latin typeface="맑은 고딕"/>
              </a:rPr>
              <a:t>•  이름과 IP는 별개</a:t>
            </a:r>
          </a:p>
          <a:p>
            <a:pPr algn="l">
              <a:spcAft>
                <a:spcPts val="800"/>
              </a:spcAft>
            </a:pPr>
            <a:r>
              <a:rPr sz="1600" b="0">
                <a:solidFill>
                  <a:srgbClr val="FFFFFF"/>
                </a:solidFill>
                <a:latin typeface="맑은 고딕"/>
              </a:rPr>
              <a:t>•  포트 범위의 규칙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호스트 문자열과 와일드카드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판정은 호출에 쓴 문자열로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이름(www.example.com) 또는 IP(172.16.225.50)</a:t>
            </a:r>
          </a:p>
          <a:p>
            <a:pPr algn="l">
              <a:spcAft>
                <a:spcPts val="1000"/>
              </a:spcAft>
            </a:pPr>
            <a:r>
              <a:rPr sz="1700" b="0">
                <a:solidFill>
                  <a:srgbClr val="222222"/>
                </a:solidFill>
                <a:latin typeface="맑은 고딕"/>
              </a:rPr>
              <a:t>•  와일드카드는 왼쪽: *.example.com, 172.16.225.*</a:t>
            </a:r>
          </a:p>
          <a:p>
            <a:pPr algn="l">
              <a:spcAft>
                <a:spcPts val="1000"/>
              </a:spcAft>
            </a:pPr>
            <a:r>
              <a:rPr sz="1700" b="0">
                <a:solidFill>
                  <a:srgbClr val="222222"/>
                </a:solidFill>
                <a:latin typeface="맑은 고딕"/>
              </a:rPr>
              <a:t>•  IP로 등록하고 이름으로 호출하면 ORA-24247</a:t>
            </a:r>
          </a:p>
          <a:p>
            <a:pPr algn="l">
              <a:spcAft>
                <a:spcPts val="1000"/>
              </a:spcAft>
            </a:pPr>
            <a:r>
              <a:rPr sz="1700" b="0">
                <a:solidFill>
                  <a:srgbClr val="222222"/>
                </a:solidFill>
                <a:latin typeface="맑은 고딕"/>
              </a:rPr>
              <a:t>•  코드가 쓰는 문자열 그대로 등록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 운영에서만 ORA-24247</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이름과 IP</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개발·운영 모두 결제 서버 IP로 ACE 등록</a:t>
            </a:r>
          </a:p>
          <a:p>
            <a:pPr algn="l">
              <a:spcAft>
                <a:spcPts val="1000"/>
              </a:spcAft>
            </a:pPr>
            <a:r>
              <a:rPr sz="1700" b="0">
                <a:solidFill>
                  <a:srgbClr val="222222"/>
                </a:solidFill>
                <a:latin typeface="맑은 고딕"/>
              </a:rPr>
              <a:t>•  운영 설정은 결제사 도메인 이름으로 URL 생성</a:t>
            </a:r>
          </a:p>
          <a:p>
            <a:pPr algn="l">
              <a:spcAft>
                <a:spcPts val="1000"/>
              </a:spcAft>
            </a:pPr>
            <a:r>
              <a:rPr sz="1700" b="0">
                <a:solidFill>
                  <a:srgbClr val="222222"/>
                </a:solidFill>
                <a:latin typeface="맑은 고딕"/>
              </a:rPr>
              <a:t>•  도메인 이름으로 ACE 추가 후 정상화</a:t>
            </a:r>
          </a:p>
          <a:p>
            <a:pPr algn="l">
              <a:spcAft>
                <a:spcPts val="1000"/>
              </a:spcAft>
            </a:pPr>
            <a:r>
              <a:rPr sz="1700" b="0">
                <a:solidFill>
                  <a:srgbClr val="222222"/>
                </a:solidFill>
                <a:latin typeface="맑은 고딕"/>
              </a:rPr>
              <a:t>•  요청서에 "URL의 호스트 문자열 그대로" 기재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포트 범위의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TCP 연결 권한에만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resolve는 포트 없는 ACL에만 → 포트 주면 ORA-24244</a:t>
            </a:r>
          </a:p>
          <a:p>
            <a:pPr algn="l">
              <a:spcAft>
                <a:spcPts val="1000"/>
              </a:spcAft>
            </a:pPr>
            <a:r>
              <a:rPr sz="1700" b="0">
                <a:solidFill>
                  <a:srgbClr val="222222"/>
                </a:solidFill>
                <a:latin typeface="맑은 고딕"/>
              </a:rPr>
              <a:t>•  같은 호스트의 포트 범위는 겹칠 수 없음 → ORA-24244</a:t>
            </a:r>
          </a:p>
          <a:p>
            <a:pPr algn="l">
              <a:spcAft>
                <a:spcPts val="1000"/>
              </a:spcAft>
            </a:pPr>
            <a:r>
              <a:rPr sz="1700" b="0">
                <a:solidFill>
                  <a:srgbClr val="222222"/>
                </a:solidFill>
                <a:latin typeface="맑은 고딕"/>
              </a:rPr>
              <a:t>•  같은 범위로 주면 기존 ACL에 ACE 추가</a:t>
            </a:r>
          </a:p>
          <a:p>
            <a:pPr algn="l">
              <a:spcAft>
                <a:spcPts val="1000"/>
              </a:spcAft>
            </a:pPr>
            <a:r>
              <a:rPr sz="1700" b="0">
                <a:solidFill>
                  <a:srgbClr val="222222"/>
                </a:solidFill>
                <a:latin typeface="맑은 고딕"/>
              </a:rPr>
              <a:t>•  포트 범위가 있는 ACL이 없는 ACL보다 우선</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 포트 하나 더 열어 달라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범위 대신 포트 단위로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8080 사용 업체가 8443 추가 요청</a:t>
            </a:r>
          </a:p>
          <a:p>
            <a:pPr algn="l">
              <a:spcAft>
                <a:spcPts val="1000"/>
              </a:spcAft>
            </a:pPr>
            <a:r>
              <a:rPr sz="1700" b="0">
                <a:solidFill>
                  <a:srgbClr val="222222"/>
                </a:solidFill>
                <a:latin typeface="맑은 고딕"/>
              </a:rPr>
              <a:t>•  8080~8443 범위로 시도 → ORA-24244</a:t>
            </a:r>
          </a:p>
          <a:p>
            <a:pPr algn="l">
              <a:spcAft>
                <a:spcPts val="1000"/>
              </a:spcAft>
            </a:pPr>
            <a:r>
              <a:rPr sz="1700" b="0">
                <a:solidFill>
                  <a:srgbClr val="222222"/>
                </a:solidFill>
                <a:latin typeface="맑은 고딕"/>
              </a:rPr>
              <a:t>•  8443~8443으로 따로 등록해 해결</a:t>
            </a:r>
          </a:p>
          <a:p>
            <a:pPr algn="l">
              <a:spcAft>
                <a:spcPts val="1000"/>
              </a:spcAft>
            </a:pPr>
            <a:r>
              <a:rPr sz="1700" b="0">
                <a:solidFill>
                  <a:srgbClr val="222222"/>
                </a:solidFill>
                <a:latin typeface="맑은 고딕"/>
              </a:rPr>
              <a:t>•  범위로 넓히면 그 사이 포트가 모두 열림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localhost와 루프백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서버도 문자열마다 별개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localhost, 127.0.0.1, 서버 이름, 서버 IP는 다른 호스트</a:t>
            </a:r>
          </a:p>
          <a:p>
            <a:pPr algn="l">
              <a:spcAft>
                <a:spcPts val="1000"/>
              </a:spcAft>
            </a:pPr>
            <a:r>
              <a:rPr sz="1700" b="0">
                <a:solidFill>
                  <a:srgbClr val="222222"/>
                </a:solidFill>
                <a:latin typeface="맑은 고딕"/>
              </a:rPr>
              <a:t>•  localhost의 ORACLE_OCM resolve는 설치 기본값</a:t>
            </a:r>
          </a:p>
          <a:p>
            <a:pPr algn="l">
              <a:spcAft>
                <a:spcPts val="1000"/>
              </a:spcAft>
            </a:pPr>
            <a:r>
              <a:rPr sz="1700" b="0">
                <a:solidFill>
                  <a:srgbClr val="222222"/>
                </a:solidFill>
                <a:latin typeface="맑은 고딕"/>
              </a:rPr>
              <a:t>•  로컬 서비스도 실제 쓰는 문자열 하나만</a:t>
            </a:r>
          </a:p>
          <a:p>
            <a:pPr algn="l">
              <a:spcAft>
                <a:spcPts val="1000"/>
              </a:spcAft>
            </a:pPr>
            <a:r>
              <a:rPr sz="1700" b="0">
                <a:solidFill>
                  <a:srgbClr val="222222"/>
                </a:solidFill>
                <a:latin typeface="맑은 고딕"/>
              </a:rPr>
              <a:t>•  루프백 개방은 내부 전용 서비스로 가는 통로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판정 순서와 거부 ACE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가장 구체적인 호스트부터</a:t>
            </a:r>
          </a:p>
          <a:p>
            <a:pPr algn="l">
              <a:spcAft>
                <a:spcPts val="800"/>
              </a:spcAft>
            </a:pPr>
            <a:r>
              <a:rPr sz="1600" b="0">
                <a:solidFill>
                  <a:srgbClr val="FFFFFF"/>
                </a:solidFill>
                <a:latin typeface="맑은 고딕"/>
              </a:rPr>
              <a:t>•  넓게 허용하고 좁게 거부</a:t>
            </a:r>
          </a:p>
          <a:p>
            <a:pPr algn="l">
              <a:spcAft>
                <a:spcPts val="800"/>
              </a:spcAft>
            </a:pPr>
            <a:r>
              <a:rPr sz="1600" b="0">
                <a:solidFill>
                  <a:srgbClr val="FFFFFF"/>
                </a:solidFill>
                <a:latin typeface="맑은 고딕"/>
              </a:rPr>
              <a:t>•  USER_HOST_ACES로 본인 판정 확인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가장 구체적인 호스트부터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DBMS_NETWORK_ACL_UTILITY.DOMAINS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172.16.225.50 → 172.16.225.* → 172.16.* → 172.* → *</a:t>
            </a:r>
          </a:p>
          <a:p>
            <a:pPr algn="l">
              <a:spcAft>
                <a:spcPts val="1000"/>
              </a:spcAft>
            </a:pPr>
            <a:r>
              <a:rPr sz="1700" b="0">
                <a:solidFill>
                  <a:srgbClr val="222222"/>
                </a:solidFill>
                <a:latin typeface="맑은 고딕"/>
              </a:rPr>
              <a:t>•  www.us.example.com → *.us.example.com → ... → *</a:t>
            </a:r>
          </a:p>
          <a:p>
            <a:pPr algn="l">
              <a:spcAft>
                <a:spcPts val="1000"/>
              </a:spcAft>
            </a:pPr>
            <a:r>
              <a:rPr sz="1700" b="0">
                <a:solidFill>
                  <a:srgbClr val="222222"/>
                </a:solidFill>
                <a:latin typeface="맑은 고딕"/>
              </a:rPr>
              <a:t>•  같은 호스트에선 포트 범위 있는 ACL 먼저</a:t>
            </a:r>
          </a:p>
          <a:p>
            <a:pPr algn="l">
              <a:spcAft>
                <a:spcPts val="1000"/>
              </a:spcAft>
            </a:pPr>
            <a:r>
              <a:rPr sz="1700" b="0">
                <a:solidFill>
                  <a:srgbClr val="222222"/>
                </a:solidFill>
                <a:latin typeface="맑은 고딕"/>
              </a:rPr>
              <a:t>•  구체적 ACL에 판정이 있으면 거기서 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거부 ACE 활용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넓게 허용하고 일부만 막기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172.16.225.* 허용 + 172.16.225.50 거부</a:t>
            </a:r>
          </a:p>
          <a:p>
            <a:pPr algn="l">
              <a:spcAft>
                <a:spcPts val="1000"/>
              </a:spcAft>
            </a:pPr>
            <a:r>
              <a:rPr sz="1700" b="0">
                <a:solidFill>
                  <a:srgbClr val="222222"/>
                </a:solidFill>
                <a:latin typeface="맑은 고딕"/>
              </a:rPr>
              <a:t>•  호스트 단위 거부가 더 구체적이라 먼저 판정</a:t>
            </a:r>
          </a:p>
          <a:p>
            <a:pPr algn="l">
              <a:spcAft>
                <a:spcPts val="1000"/>
              </a:spcAft>
            </a:pPr>
            <a:r>
              <a:rPr sz="1700" b="0">
                <a:solidFill>
                  <a:srgbClr val="222222"/>
                </a:solidFill>
                <a:latin typeface="맑은 고딕"/>
              </a:rPr>
              <a:t>•  *에 거부 + 특정 호스트 허용은 무의미(기본이 거부)</a:t>
            </a:r>
          </a:p>
          <a:p>
            <a:pPr algn="l">
              <a:spcAft>
                <a:spcPts val="1000"/>
              </a:spcAft>
            </a:pPr>
            <a:r>
              <a:rPr sz="1700" b="0">
                <a:solidFill>
                  <a:srgbClr val="222222"/>
                </a:solidFill>
                <a:latin typeface="맑은 고딕"/>
              </a:rPr>
              <a:t>•  한 주체·한 호스트에는 판정 하나만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사용자가 직접 보는 판정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USER_HOST_ACES는 PUBLIC</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현재 사용자의 호스트·포트·권한·STATUS</a:t>
            </a:r>
          </a:p>
          <a:p>
            <a:pPr algn="l">
              <a:spcAft>
                <a:spcPts val="1000"/>
              </a:spcAft>
            </a:pPr>
            <a:r>
              <a:rPr sz="1700" b="0">
                <a:solidFill>
                  <a:srgbClr val="222222"/>
                </a:solidFill>
                <a:latin typeface="맑은 고딕"/>
              </a:rPr>
              <a:t>•  GRANTED, DENIED로 판정 표시</a:t>
            </a:r>
          </a:p>
          <a:p>
            <a:pPr algn="l">
              <a:spcAft>
                <a:spcPts val="1000"/>
              </a:spcAft>
            </a:pPr>
            <a:r>
              <a:rPr sz="1700" b="0">
                <a:solidFill>
                  <a:srgbClr val="222222"/>
                </a:solidFill>
                <a:latin typeface="맑은 고딕"/>
              </a:rPr>
              <a:t>•  개발자가 스스로 ORA-24247 원인 확인</a:t>
            </a:r>
          </a:p>
          <a:p>
            <a:pPr algn="l">
              <a:spcAft>
                <a:spcPts val="1000"/>
              </a:spcAft>
            </a:pPr>
            <a:r>
              <a:rPr sz="1700" b="0">
                <a:solidFill>
                  <a:srgbClr val="222222"/>
                </a:solidFill>
                <a:latin typeface="맑은 고딕"/>
              </a:rPr>
              <a:t>•  DBA_HOST_ACES는 SELECT_CATALOG_ROLE 필요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판정 사례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거부의 원인은 모두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http만 있는데 UTL_TCP → 권한 종류</a:t>
            </a:r>
          </a:p>
          <a:p>
            <a:pPr algn="l">
              <a:spcAft>
                <a:spcPts val="1000"/>
              </a:spcAft>
            </a:pPr>
            <a:r>
              <a:rPr sz="1700" b="0">
                <a:solidFill>
                  <a:srgbClr val="222222"/>
                </a:solidFill>
                <a:latin typeface="맑은 고딕"/>
              </a:rPr>
              <a:t>•  IP로 등록, 이름으로 호출 → 호스트 문자열</a:t>
            </a:r>
          </a:p>
          <a:p>
            <a:pPr algn="l">
              <a:spcAft>
                <a:spcPts val="1000"/>
              </a:spcAft>
            </a:pPr>
            <a:r>
              <a:rPr sz="1700" b="0">
                <a:solidFill>
                  <a:srgbClr val="222222"/>
                </a:solidFill>
                <a:latin typeface="맑은 고딕"/>
              </a:rPr>
              <a:t>•  connect 8090, 1521로 연결 → 포트 범위</a:t>
            </a:r>
          </a:p>
          <a:p>
            <a:pPr algn="l">
              <a:spcAft>
                <a:spcPts val="1000"/>
              </a:spcAft>
            </a:pPr>
            <a:r>
              <a:rPr sz="1700" b="0">
                <a:solidFill>
                  <a:srgbClr val="222222"/>
                </a:solidFill>
                <a:latin typeface="맑은 고딕"/>
              </a:rPr>
              <a:t>•  서브넷 허용 + 호스트 거부 → 구체적 거부 우선</a:t>
            </a:r>
          </a:p>
          <a:p>
            <a:pPr algn="l">
              <a:spcAft>
                <a:spcPts val="1000"/>
              </a:spcAft>
            </a:pPr>
            <a:r>
              <a:rPr sz="1700" b="0">
                <a:solidFill>
                  <a:srgbClr val="222222"/>
                </a:solidFill>
                <a:latin typeface="맑은 고딕"/>
              </a:rPr>
              <a:t>•  역할 ACE + SET ROLE NONE → 역할 비활성</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지갑 접근 제어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APPEND_WALLET_ACE</a:t>
            </a:r>
          </a:p>
          <a:p>
            <a:pPr algn="l">
              <a:spcAft>
                <a:spcPts val="800"/>
              </a:spcAft>
            </a:pPr>
            <a:r>
              <a:rPr sz="1600" b="0">
                <a:solidFill>
                  <a:srgbClr val="FFFFFF"/>
                </a:solidFill>
                <a:latin typeface="맑은 고딕"/>
              </a:rPr>
              <a:t>•  HTTPS 호출의 구성 요소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지갑 ACE와 HTTPS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호스트 ACE와 별개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UTL_HTTP.SET_WALLET로 신뢰 인증서 지갑 지정</a:t>
            </a:r>
          </a:p>
          <a:p>
            <a:pPr algn="l">
              <a:spcAft>
                <a:spcPts val="1000"/>
              </a:spcAft>
            </a:pPr>
            <a:r>
              <a:rPr sz="1700" b="0">
                <a:solidFill>
                  <a:srgbClr val="222222"/>
                </a:solidFill>
                <a:latin typeface="맑은 고딕"/>
              </a:rPr>
              <a:t>•  일반 HTTPS는 호스트 ACE(http, 443)</a:t>
            </a:r>
          </a:p>
          <a:p>
            <a:pPr algn="l">
              <a:spcAft>
                <a:spcPts val="1000"/>
              </a:spcAft>
            </a:pPr>
            <a:r>
              <a:rPr sz="1700" b="0">
                <a:solidFill>
                  <a:srgbClr val="222222"/>
                </a:solidFill>
                <a:latin typeface="맑은 고딕"/>
              </a:rPr>
              <a:t>•  클라이언트 인증서: use_client_certificates</a:t>
            </a:r>
          </a:p>
          <a:p>
            <a:pPr algn="l">
              <a:spcAft>
                <a:spcPts val="1000"/>
              </a:spcAft>
            </a:pPr>
            <a:r>
              <a:rPr sz="1700" b="0">
                <a:solidFill>
                  <a:srgbClr val="222222"/>
                </a:solidFill>
                <a:latin typeface="맑은 고딕"/>
              </a:rPr>
              <a:t>•  지갑의 비밀번호 자격 증명: use_passwords</a:t>
            </a:r>
          </a:p>
          <a:p>
            <a:pPr algn="l">
              <a:spcAft>
                <a:spcPts val="1000"/>
              </a:spcAft>
            </a:pPr>
            <a:r>
              <a:rPr sz="1700" b="0">
                <a:solidFill>
                  <a:srgbClr val="222222"/>
                </a:solidFill>
                <a:latin typeface="맑은 고딕"/>
              </a:rPr>
              <a:t>•  지갑 오류(ORA-29248, ORA-29024)는 ACL과 다른 단계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오류와 진단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ACL 관련 오류 코드</a:t>
            </a:r>
          </a:p>
          <a:p>
            <a:pPr algn="l">
              <a:spcAft>
                <a:spcPts val="800"/>
              </a:spcAft>
            </a:pPr>
            <a:r>
              <a:rPr sz="1600" b="0">
                <a:solidFill>
                  <a:srgbClr val="FFFFFF"/>
                </a:solidFill>
                <a:latin typeface="맑은 고딕"/>
              </a:rPr>
              <a:t>•  ORA-24247 진단 순서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ACL 관련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메시지별 확인 대상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ORA-24247: 허용 없음 → USER_HOST_ACES</a:t>
            </a:r>
          </a:p>
          <a:p>
            <a:pPr algn="l">
              <a:spcAft>
                <a:spcPts val="1000"/>
              </a:spcAft>
            </a:pPr>
            <a:r>
              <a:rPr sz="1700" b="0">
                <a:solidFill>
                  <a:srgbClr val="222222"/>
                </a:solidFill>
                <a:latin typeface="맑은 고딕"/>
              </a:rPr>
              <a:t>•  ORA-24244: resolve에 포트, 범위 겹침</a:t>
            </a:r>
          </a:p>
          <a:p>
            <a:pPr algn="l">
              <a:spcAft>
                <a:spcPts val="1000"/>
              </a:spcAft>
            </a:pPr>
            <a:r>
              <a:rPr sz="1700" b="0">
                <a:solidFill>
                  <a:srgbClr val="222222"/>
                </a:solidFill>
                <a:latin typeface="맑은 고딕"/>
              </a:rPr>
              <a:t>•  ORA-01927: 없는 ACE 제거 시도</a:t>
            </a:r>
          </a:p>
          <a:p>
            <a:pPr algn="l">
              <a:spcAft>
                <a:spcPts val="1000"/>
              </a:spcAft>
            </a:pPr>
            <a:r>
              <a:rPr sz="1700" b="0">
                <a:solidFill>
                  <a:srgbClr val="222222"/>
                </a:solidFill>
                <a:latin typeface="맑은 고딕"/>
              </a:rPr>
              <a:t>•  ORA-46212: 같은 이름 CREATE_ACL</a:t>
            </a:r>
          </a:p>
          <a:p>
            <a:pPr algn="l">
              <a:spcAft>
                <a:spcPts val="1000"/>
              </a:spcAft>
            </a:pPr>
            <a:r>
              <a:rPr sz="1700" b="0">
                <a:solidFill>
                  <a:srgbClr val="222222"/>
                </a:solidFill>
                <a:latin typeface="맑은 고딕"/>
              </a:rPr>
              <a:t>•  ORA-46114: 없는 ACL 이름(DROP_ACL)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ORA-24247 진단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다섯 가지를 차례로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호출 사용자로 USER_HOST_ACES 조회</a:t>
            </a:r>
          </a:p>
          <a:p>
            <a:pPr algn="l">
              <a:spcAft>
                <a:spcPts val="1000"/>
              </a:spcAft>
            </a:pPr>
            <a:r>
              <a:rPr sz="1700" b="0">
                <a:solidFill>
                  <a:srgbClr val="222222"/>
                </a:solidFill>
                <a:latin typeface="맑은 고딕"/>
              </a:rPr>
              <a:t>•  2 호스트 문자열·포트 대조</a:t>
            </a:r>
          </a:p>
          <a:p>
            <a:pPr algn="l">
              <a:spcAft>
                <a:spcPts val="1000"/>
              </a:spcAft>
            </a:pPr>
            <a:r>
              <a:rPr sz="1700" b="0">
                <a:solidFill>
                  <a:srgbClr val="222222"/>
                </a:solidFill>
                <a:latin typeface="맑은 고딕"/>
              </a:rPr>
              <a:t>•  3 패키지와 권한 종류 대조</a:t>
            </a:r>
          </a:p>
          <a:p>
            <a:pPr algn="l">
              <a:spcAft>
                <a:spcPts val="1000"/>
              </a:spcAft>
            </a:pPr>
            <a:r>
              <a:rPr sz="1700" b="0">
                <a:solidFill>
                  <a:srgbClr val="222222"/>
                </a:solidFill>
                <a:latin typeface="맑은 고딕"/>
              </a:rPr>
              <a:t>•  4 프로시저 안이면 역할 확인</a:t>
            </a:r>
          </a:p>
          <a:p>
            <a:pPr algn="l">
              <a:spcAft>
                <a:spcPts val="1000"/>
              </a:spcAft>
            </a:pPr>
            <a:r>
              <a:rPr sz="1700" b="0">
                <a:solidFill>
                  <a:srgbClr val="222222"/>
                </a:solidFill>
                <a:latin typeface="맑은 고딕"/>
              </a:rPr>
              <a:t>•  5 DENIED 행이면 구체적 거부 ACE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 배치 메일이 끊겼다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업그레이드 후 기본 거부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10g → 19c 업그레이드 후 메일 미발송</a:t>
            </a:r>
          </a:p>
          <a:p>
            <a:pPr algn="l">
              <a:spcAft>
                <a:spcPts val="1000"/>
              </a:spcAft>
            </a:pPr>
            <a:r>
              <a:rPr sz="1700" b="0">
                <a:solidFill>
                  <a:srgbClr val="222222"/>
                </a:solidFill>
                <a:latin typeface="맑은 고딕"/>
              </a:rPr>
              <a:t>•  배치 로그에 ORA-24247</a:t>
            </a:r>
          </a:p>
          <a:p>
            <a:pPr algn="l">
              <a:spcAft>
                <a:spcPts val="1000"/>
              </a:spcAft>
            </a:pPr>
            <a:r>
              <a:rPr sz="1700" b="0">
                <a:solidFill>
                  <a:srgbClr val="222222"/>
                </a:solidFill>
                <a:latin typeface="맑은 고딕"/>
              </a:rPr>
              <a:t>•  배치 계정에 메일 서버·포트 25로 smtp ACE</a:t>
            </a:r>
          </a:p>
          <a:p>
            <a:pPr algn="l">
              <a:spcAft>
                <a:spcPts val="1000"/>
              </a:spcAft>
            </a:pPr>
            <a:r>
              <a:rPr sz="1700" b="0">
                <a:solidFill>
                  <a:srgbClr val="222222"/>
                </a:solidFill>
                <a:latin typeface="맑은 고딕"/>
              </a:rPr>
              <a:t>•  connect 대신 smtp로 범위 최소화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데이터 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DBA_HOST_ACLS, DBA_HOST_ACES</a:t>
            </a:r>
          </a:p>
          <a:p>
            <a:pPr algn="l">
              <a:spcAft>
                <a:spcPts val="800"/>
              </a:spcAft>
            </a:pPr>
            <a:r>
              <a:rPr sz="1600" b="0">
                <a:solidFill>
                  <a:srgbClr val="FFFFFF"/>
                </a:solidFill>
                <a:latin typeface="맑은 고딕"/>
              </a:rPr>
              <a:t>•  USER_HOST_ACES, 지갑 뷰</a:t>
            </a:r>
          </a:p>
          <a:p>
            <a:pPr algn="l">
              <a:spcAft>
                <a:spcPts val="800"/>
              </a:spcAft>
            </a:pPr>
            <a:r>
              <a:rPr sz="1600" b="0">
                <a:solidFill>
                  <a:srgbClr val="FFFFFF"/>
                </a:solidFill>
                <a:latin typeface="맑은 고딕"/>
              </a:rPr>
              <a:t>•  구버전 호환 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네트워크 ACL 관련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DBA_HOST_ACES 하나로 대부분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DBA_HOST_ACLS: 호스트·포트별 ACL</a:t>
            </a:r>
          </a:p>
          <a:p>
            <a:pPr algn="l">
              <a:spcAft>
                <a:spcPts val="1000"/>
              </a:spcAft>
            </a:pPr>
            <a:r>
              <a:rPr sz="1700" b="0">
                <a:solidFill>
                  <a:srgbClr val="222222"/>
                </a:solidFill>
                <a:latin typeface="맑은 고딕"/>
              </a:rPr>
              <a:t>•  DBA_HOST_ACES: 주체·권한·GRANT/DENY·ACE_ORDER</a:t>
            </a:r>
          </a:p>
          <a:p>
            <a:pPr algn="l">
              <a:spcAft>
                <a:spcPts val="1000"/>
              </a:spcAft>
            </a:pPr>
            <a:r>
              <a:rPr sz="1700" b="0">
                <a:solidFill>
                  <a:srgbClr val="222222"/>
                </a:solidFill>
                <a:latin typeface="맑은 고딕"/>
              </a:rPr>
              <a:t>•  USER_HOST_ACES: 본인 판정(PUBLIC)</a:t>
            </a:r>
          </a:p>
          <a:p>
            <a:pPr algn="l">
              <a:spcAft>
                <a:spcPts val="1000"/>
              </a:spcAft>
            </a:pPr>
            <a:r>
              <a:rPr sz="1700" b="0">
                <a:solidFill>
                  <a:srgbClr val="222222"/>
                </a:solidFill>
                <a:latin typeface="맑은 고딕"/>
              </a:rPr>
              <a:t>•  DBA_WALLET_ACLS/ACES, USER_WALLET_ACES</a:t>
            </a:r>
          </a:p>
          <a:p>
            <a:pPr algn="l">
              <a:spcAft>
                <a:spcPts val="1000"/>
              </a:spcAft>
            </a:pPr>
            <a:r>
              <a:rPr sz="1700" b="0">
                <a:solidFill>
                  <a:srgbClr val="222222"/>
                </a:solidFill>
                <a:latin typeface="맑은 고딕"/>
              </a:rPr>
              <a:t>•  DBA_NETWORK_ACLS 등: 11g 호환, /sys/acls/ 이름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빈 ACL 찾기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ACLS에는 있고 ACES에는 없는 호스트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DBA_HOST_ACLS에 있고 DBA_HOST_ACES에 없음</a:t>
            </a:r>
          </a:p>
          <a:p>
            <a:pPr algn="l">
              <a:spcAft>
                <a:spcPts val="1000"/>
              </a:spcAft>
            </a:pPr>
            <a:r>
              <a:rPr sz="1700" b="0">
                <a:solidFill>
                  <a:srgbClr val="222222"/>
                </a:solidFill>
                <a:latin typeface="맑은 고딕"/>
              </a:rPr>
              <a:t>•  DROP USER로 ACE만 사라진 흔적</a:t>
            </a:r>
          </a:p>
          <a:p>
            <a:pPr algn="l">
              <a:spcAft>
                <a:spcPts val="1000"/>
              </a:spcAft>
            </a:pPr>
            <a:r>
              <a:rPr sz="1700" b="0">
                <a:solidFill>
                  <a:srgbClr val="222222"/>
                </a:solidFill>
                <a:latin typeface="맑은 고딕"/>
              </a:rPr>
              <a:t>•  SET_HOST_ACL(acl =&gt; NULL)로 정리</a:t>
            </a:r>
          </a:p>
          <a:p>
            <a:pPr algn="l">
              <a:spcAft>
                <a:spcPts val="1000"/>
              </a:spcAft>
            </a:pPr>
            <a:r>
              <a:rPr sz="1700" b="0">
                <a:solidFill>
                  <a:srgbClr val="222222"/>
                </a:solidFill>
                <a:latin typeface="맑은 고딕"/>
              </a:rPr>
              <a:t>•  정기 점검 조회에 포함</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설계와 적용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외부 호출 목록부터</a:t>
            </a:r>
          </a:p>
          <a:p>
            <a:pPr algn="l">
              <a:spcAft>
                <a:spcPts val="800"/>
              </a:spcAft>
            </a:pPr>
            <a:r>
              <a:rPr sz="1600" b="0">
                <a:solidFill>
                  <a:srgbClr val="FFFFFF"/>
                </a:solidFill>
                <a:latin typeface="맑은 고딕"/>
              </a:rPr>
              <a:t>•  거부 시험까지 해야 끝</a:t>
            </a:r>
          </a:p>
          <a:p>
            <a:pPr algn="l">
              <a:spcAft>
                <a:spcPts val="800"/>
              </a:spcAft>
            </a:pPr>
            <a:r>
              <a:rPr sz="1600" b="0">
                <a:solidFill>
                  <a:srgbClr val="FFFFFF"/>
                </a:solidFill>
                <a:latin typeface="맑은 고딕"/>
              </a:rPr>
              <a:t>•  구버전 ACL 이관</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도입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일곱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외부 호출 목록(패키지·호스트 문자열·포트·계정)</a:t>
            </a:r>
          </a:p>
          <a:p>
            <a:pPr algn="l">
              <a:spcAft>
                <a:spcPts val="1000"/>
              </a:spcAft>
            </a:pPr>
            <a:r>
              <a:rPr sz="1700" b="0">
                <a:solidFill>
                  <a:srgbClr val="222222"/>
                </a:solidFill>
                <a:latin typeface="맑은 고딕"/>
              </a:rPr>
              <a:t>•  2 주체 결정 / 3 권한 결정(http·smtp 우선)</a:t>
            </a:r>
          </a:p>
          <a:p>
            <a:pPr algn="l">
              <a:spcAft>
                <a:spcPts val="1000"/>
              </a:spcAft>
            </a:pPr>
            <a:r>
              <a:rPr sz="1700" b="0">
                <a:solidFill>
                  <a:srgbClr val="222222"/>
                </a:solidFill>
                <a:latin typeface="맑은 고딕"/>
              </a:rPr>
              <a:t>•  4 APPEND_HOST_ACE(구체 호스트, 실제 포트)</a:t>
            </a:r>
          </a:p>
          <a:p>
            <a:pPr algn="l">
              <a:spcAft>
                <a:spcPts val="1000"/>
              </a:spcAft>
            </a:pPr>
            <a:r>
              <a:rPr sz="1700" b="0">
                <a:solidFill>
                  <a:srgbClr val="222222"/>
                </a:solidFill>
                <a:latin typeface="맑은 고딕"/>
              </a:rPr>
              <a:t>•  5 업무 계정 시험 / 6 거부 시험</a:t>
            </a:r>
          </a:p>
          <a:p>
            <a:pPr algn="l">
              <a:spcAft>
                <a:spcPts val="1000"/>
              </a:spcAft>
            </a:pPr>
            <a:r>
              <a:rPr sz="1700" b="0">
                <a:solidFill>
                  <a:srgbClr val="222222"/>
                </a:solidFill>
                <a:latin typeface="맑은 고딕"/>
              </a:rPr>
              <a:t>•  7 정기 점검 목록 등록</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구버전 ACL 이관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확인 → 새 API 등록 → 시험 → DROP_ACL</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DBA_NETWORK_ACL_PRIVILEGES로 기존 권한 확인</a:t>
            </a:r>
          </a:p>
          <a:p>
            <a:pPr algn="l">
              <a:spcAft>
                <a:spcPts val="1000"/>
              </a:spcAft>
            </a:pPr>
            <a:r>
              <a:rPr sz="1700" b="0">
                <a:solidFill>
                  <a:srgbClr val="222222"/>
                </a:solidFill>
                <a:latin typeface="맑은 고딕"/>
              </a:rPr>
              <a:t>•  같은 권한을 APPEND_HOST_ACE로 등록</a:t>
            </a:r>
          </a:p>
          <a:p>
            <a:pPr algn="l">
              <a:spcAft>
                <a:spcPts val="1000"/>
              </a:spcAft>
            </a:pPr>
            <a:r>
              <a:rPr sz="1700" b="0">
                <a:solidFill>
                  <a:srgbClr val="222222"/>
                </a:solidFill>
                <a:latin typeface="맑은 고딕"/>
              </a:rPr>
              <a:t>•  업무 계정으로 시험</a:t>
            </a:r>
          </a:p>
          <a:p>
            <a:pPr algn="l">
              <a:spcAft>
                <a:spcPts val="1000"/>
              </a:spcAft>
            </a:pPr>
            <a:r>
              <a:rPr sz="1700" b="0">
                <a:solidFill>
                  <a:srgbClr val="222222"/>
                </a:solidFill>
                <a:latin typeface="맑은 고딕"/>
              </a:rPr>
              <a:t>•  DROP_ACL로 구버전 ACL 삭제</a:t>
            </a:r>
          </a:p>
          <a:p>
            <a:pPr algn="l">
              <a:spcAft>
                <a:spcPts val="1000"/>
              </a:spcAft>
            </a:pPr>
            <a:r>
              <a:rPr sz="1700" b="0">
                <a:solidFill>
                  <a:srgbClr val="222222"/>
                </a:solidFill>
                <a:latin typeface="맑은 고딕"/>
              </a:rPr>
              <a:t>•  오라클 기본 ACL(oracle-sysman-ocm...)은 유지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4.11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넓게 열지 않기</a:t>
            </a:r>
          </a:p>
          <a:p>
            <a:pPr algn="l">
              <a:spcAft>
                <a:spcPts val="800"/>
              </a:spcAft>
            </a:pPr>
            <a:r>
              <a:rPr sz="1600" b="0">
                <a:solidFill>
                  <a:srgbClr val="FFFFFF"/>
                </a:solidFill>
                <a:latin typeface="맑은 고딕"/>
              </a:rPr>
              <a:t>•  바뀌는 것 따라가기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조용히 넓어지는 권한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*에 일반 사용자 권한 금지</a:t>
            </a:r>
          </a:p>
          <a:p>
            <a:pPr algn="l">
              <a:spcAft>
                <a:spcPts val="1000"/>
              </a:spcAft>
            </a:pPr>
            <a:r>
              <a:rPr sz="1700" b="0">
                <a:solidFill>
                  <a:srgbClr val="222222"/>
                </a:solidFill>
                <a:latin typeface="맑은 고딕"/>
              </a:rPr>
              <a:t>•  업체 IP 변경 시 IP 기반 ACE 무효화</a:t>
            </a:r>
          </a:p>
          <a:p>
            <a:pPr algn="l">
              <a:spcAft>
                <a:spcPts val="1000"/>
              </a:spcAft>
            </a:pPr>
            <a:r>
              <a:rPr sz="1700" b="0">
                <a:solidFill>
                  <a:srgbClr val="222222"/>
                </a:solidFill>
                <a:latin typeface="맑은 고딕"/>
              </a:rPr>
              <a:t>•  개발 DB의 넓은 설정이 운영으로 복제되지 않게</a:t>
            </a:r>
          </a:p>
          <a:p>
            <a:pPr algn="l">
              <a:spcAft>
                <a:spcPts val="1000"/>
              </a:spcAft>
            </a:pPr>
            <a:r>
              <a:rPr sz="1700" b="0">
                <a:solidFill>
                  <a:srgbClr val="222222"/>
                </a:solidFill>
                <a:latin typeface="맑은 고딕"/>
              </a:rPr>
              <a:t>•  유효 기간 지난 ACE, 빈 ACL 정기 정리</a:t>
            </a:r>
          </a:p>
          <a:p>
            <a:pPr algn="l">
              <a:spcAft>
                <a:spcPts val="1000"/>
              </a:spcAft>
            </a:pPr>
            <a:r>
              <a:rPr sz="1700" b="0">
                <a:solidFill>
                  <a:srgbClr val="222222"/>
                </a:solidFill>
                <a:latin typeface="맑은 고딕"/>
              </a:rPr>
              <a:t>•  DBMS_NETWORK_ACL_ADMIN 호출 감사(13장)</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PUBLIC 실행 권한이 있어도 ACL이 허용해야 접속, 없으면 ORA-24247</a:t>
            </a:r>
          </a:p>
          <a:p>
            <a:pPr algn="l">
              <a:spcAft>
                <a:spcPts val="1000"/>
              </a:spcAft>
            </a:pPr>
            <a:r>
              <a:rPr sz="1600" b="0">
                <a:solidFill>
                  <a:srgbClr val="222222"/>
                </a:solidFill>
                <a:latin typeface="맑은 고딕"/>
              </a:rPr>
              <a:t>•  19c: APPEND_HOST_ACE로 추가, REMOVE_HOST_ACE로 제거, ACL 자동 생성</a:t>
            </a:r>
          </a:p>
          <a:p>
            <a:pPr algn="l">
              <a:spcAft>
                <a:spcPts val="1000"/>
              </a:spcAft>
            </a:pPr>
            <a:r>
              <a:rPr sz="1600" b="0">
                <a:solidFill>
                  <a:srgbClr val="222222"/>
                </a:solidFill>
                <a:latin typeface="맑은 고딕"/>
              </a:rPr>
              <a:t>•  XS$ACE_TYPE: principal_type은 ptype_db, granted FALSE는 거부</a:t>
            </a:r>
          </a:p>
          <a:p>
            <a:pPr algn="l">
              <a:spcAft>
                <a:spcPts val="1000"/>
              </a:spcAft>
            </a:pPr>
            <a:r>
              <a:rPr sz="1600" b="0">
                <a:solidFill>
                  <a:srgbClr val="222222"/>
                </a:solidFill>
                <a:latin typeface="맑은 고딕"/>
              </a:rPr>
              <a:t>•  http·smtp 우선, connect는 가장 넓음, resolve는 포트 없이</a:t>
            </a:r>
          </a:p>
          <a:p>
            <a:pPr algn="l">
              <a:spcAft>
                <a:spcPts val="1000"/>
              </a:spcAft>
            </a:pPr>
            <a:r>
              <a:rPr sz="1600" b="0">
                <a:solidFill>
                  <a:srgbClr val="222222"/>
                </a:solidFill>
                <a:latin typeface="맑은 고딕"/>
              </a:rPr>
              <a:t>•  판정: 가장 구체적인 호스트, 포트 범위 있는 ACL부터</a:t>
            </a:r>
          </a:p>
          <a:p>
            <a:pPr algn="l">
              <a:spcAft>
                <a:spcPts val="1000"/>
              </a:spcAft>
            </a:pPr>
            <a:r>
              <a:rPr sz="1600" b="0">
                <a:solidFill>
                  <a:srgbClr val="222222"/>
                </a:solidFill>
                <a:latin typeface="맑은 고딕"/>
              </a:rPr>
              <a:t>•  구버전 API는 디프리케이트, 점검은 DBA_HOST_ACES·USER_HOST_ACES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ACE 없는 사용자가 UTL_HTTP 호출 → ORA-29273 + ORA-24247</a:t>
            </a:r>
          </a:p>
          <a:p>
            <a:pPr algn="l">
              <a:spcAft>
                <a:spcPts val="1000"/>
              </a:spcAft>
            </a:pPr>
            <a:r>
              <a:rPr sz="1600" b="0">
                <a:solidFill>
                  <a:srgbClr val="222222"/>
                </a:solidFill>
                <a:latin typeface="맑은 고딕"/>
              </a:rPr>
              <a:t>•  Q2. HTTP만 쓰는 계정에 줄 권한 → http</a:t>
            </a:r>
          </a:p>
          <a:p>
            <a:pPr algn="l">
              <a:spcAft>
                <a:spcPts val="1000"/>
              </a:spcAft>
            </a:pPr>
            <a:r>
              <a:rPr sz="1600" b="0">
                <a:solidFill>
                  <a:srgbClr val="222222"/>
                </a:solidFill>
                <a:latin typeface="맑은 고딕"/>
              </a:rPr>
              <a:t>•  Q3. resolve에 lower_port 지정 → ORA-24244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서브넷 허용 + 호스트 거부 → 구체적 거부 우선, ORA-24247</a:t>
            </a:r>
          </a:p>
          <a:p>
            <a:pPr algn="l">
              <a:spcAft>
                <a:spcPts val="1000"/>
              </a:spcAft>
            </a:pPr>
            <a:r>
              <a:rPr sz="1600" b="0">
                <a:solidFill>
                  <a:srgbClr val="222222"/>
                </a:solidFill>
                <a:latin typeface="맑은 고딕"/>
              </a:rPr>
              <a:t>•  Q5. IP 등록 후 이름으로 호출 → ORA-24247(호스트 문자열 기준)</a:t>
            </a:r>
          </a:p>
          <a:p>
            <a:pPr algn="l">
              <a:spcAft>
                <a:spcPts val="1000"/>
              </a:spcAft>
            </a:pPr>
            <a:r>
              <a:rPr sz="1600" b="0">
                <a:solidFill>
                  <a:srgbClr val="222222"/>
                </a:solidFill>
                <a:latin typeface="맑은 고딕"/>
              </a:rPr>
              <a:t>•  Q6. 역할 ACE가 정의자 권한 프로시저에서 실패 → 역할 비활성</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UTL_HTTP와 ORA-24247: PUBLIC 권한, APPEND_HOST_ACE (4.2, 4.3)</a:t>
            </a:r>
          </a:p>
          <a:p>
            <a:pPr algn="l">
              <a:spcAft>
                <a:spcPts val="1000"/>
              </a:spcAft>
            </a:pPr>
            <a:r>
              <a:rPr sz="1600" b="0">
                <a:solidFill>
                  <a:srgbClr val="222222"/>
                </a:solidFill>
                <a:latin typeface="맑은 고딕"/>
              </a:rPr>
              <a:t>•  02 권한 종류와 포트 범위: http·connect·resolve, ORA-24244 (4.4, 4.5)</a:t>
            </a:r>
          </a:p>
          <a:p>
            <a:pPr algn="l">
              <a:spcAft>
                <a:spcPts val="1000"/>
              </a:spcAft>
            </a:pPr>
            <a:r>
              <a:rPr sz="1600" b="0">
                <a:solidFill>
                  <a:srgbClr val="222222"/>
                </a:solidFill>
                <a:latin typeface="맑은 고딕"/>
              </a:rPr>
              <a:t>•  03 와일드카드·우선순위·거부: DOMAINS, DENY, USER_HOST_ACES (4.6)</a:t>
            </a:r>
          </a:p>
          <a:p>
            <a:pPr algn="l">
              <a:spcAft>
                <a:spcPts val="1000"/>
              </a:spcAft>
            </a:pPr>
            <a:r>
              <a:rPr sz="1600" b="0">
                <a:solidFill>
                  <a:srgbClr val="222222"/>
                </a:solidFill>
                <a:latin typeface="맑은 고딕"/>
              </a:rPr>
              <a:t>•  04 역할 부여와 구버전 API: SET ROLE NONE, CREATE_ACL (4.3.4, 4.4.2)</a:t>
            </a:r>
          </a:p>
          <a:p>
            <a:pPr algn="l">
              <a:spcAft>
                <a:spcPts val="1000"/>
              </a:spcAft>
            </a:pPr>
            <a:r>
              <a:rPr sz="1600" b="0">
                <a:solidFill>
                  <a:srgbClr val="222222"/>
                </a:solidFill>
                <a:latin typeface="맑은 고딕"/>
              </a:rPr>
              <a:t>•  05 점검과 원복: ORA-01927·ORA-46114, 철거 확인 (4.8, 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
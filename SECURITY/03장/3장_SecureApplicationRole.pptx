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권한은 크게 두 가지입니다. CREATE SESSION이나 CREATE TABLE처럼 데이터베이스 전체에 대한 작업을 허락하는 시스템 권한과, SCOTT.EMP 조회처럼 특정 객체에 붙는 객체 권한입니다. 시스템 권한 중 ANY가 붙은 것은 다른 사람 스키마의 모든 객체에 손댈 수 있어서, 업무 계정이 하나라도 갖고 있으면 객체 권한으로 공들여 짠 통제가 의미를 잃습니다. 소유자 계정으로 업무 접속을 하는 것도 같은 이유로 피합니다.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역할은 권한을 묶어 이름을 붙인 것입니다. 역할로 받은 권한은 세션에서 그 역할이 켜져 있을 때만 쓸 수 있다는 점이 직접 받은 권한과 다릅니다. 19c의 CONNECT는 CREATE SESSION과 SET CONTAINER 두 개뿐이고, RESOURCE에는 객체 생성 권한과 SODA_APP 역할이 들어 있습니다. 예전에는 RESOURCE를 주면 UNLIMITED TABLESPACE가 따라왔는데 12c부터는 그렇지 않습니다. 실습 1에서 SCOTT은 RESOURCE가 있지만 UNLIMITED TABLESPACE가 없는 것을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권한 문의를 받으면 두 가지를 나눠 봅니다. 무엇을 부여받았는지는 DBA_SYS_PRIVS, DBA_TAB_PRIVS, DBA_ROLE_PRIVS에서 보고, 지금 세션에서 실제로 무엇이 켜져 있는지는 SESSION_ROLES와 SESSION_PRIVS에서 봅니다. 역할은 받았는데 켜지지 않은 상태가 흔하기 때문에, 이 둘을 나누면 대부분의 문의가 풀립니다. 일반 사용자는 DBA_ 뷰를 조회하면 ORA-00942가 나므로 USER_ 계열을 씁니다.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재부여 옵션이 있는 권한은 회수할 때 동작이 다릅니다. 시스템 권한과 역할은 중간 사용자에게서 회수해도 그가 다른 사람에게 준 권한이 남습니다. 반면 객체 권한은 연쇄적으로 함께 회수됩니다. 이 차이 때문에 시스템 권한을 ADMIN OPTION으로 퍼뜨리면 나중에 정리하기 어렵습니다. 업무 계정에는 재부여 옵션을 주지 않고, 부여는 보안 관리 계정이 직접 하는 것이 원칙입니다. PUBLIC에 준 권한은 개별 사용자 목록에 보이지 않으니 따로 점검합니다.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점검은 DBA 역할 보유자부터 시작합니다. 실습 환경에서도 SYS, SYSTEM 외에 다른 계정에 DBA가 있는 것이 보였는데, 운영이라면 부여 경위를 확인해야 할 대상입니다. 다음은 Oracle 관리 계정을 뺀 사용자 중 ANY 권한을 직접 가진 계정, 역할 안에 역할이 겹친 구조, PUBLIC에 열린 네트워크·파일 패키지 실행 권한 순으로 봅니다. 역할 트리는 CONNECT BY로 따라가면 한 화면에 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역할을 부여하면 기본 역할이 되어 로그인할 때 자동으로 켜집니다. 기본 역할에서 뺀 역할은 SET ROLE로 켜야 하는데, SET ROLE은 이미 받은 역할을 켜고 끄는 명령일 뿐 권한을 얻는 수단이 아닙니다. 실습에서 DBA 역할이 없는 사용자가 SET ROLE dba를 실행하면 ORA-01924가 나는 것을 봅니다. PL/SQL 정적 SQL에서는 SET ROLE을 쓸 수 없어서 DBMS_SESSION.SET_ROLE이나 EXECUTE IMMEDIATE를 씁니다.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역할을 켤 때 무엇을 확인할지는 CREATE ROLE의 IDENTIFIED 절이 정합니다. 아무것도 확인하지 않는 일반 역할, 비밀번호를 확인하는 역할, 운영체제나 LDAP 같은 외부에 맡기는 역할, 그리고 지정한 PL/SQL 코드가 판단하는 애플리케이션 역할이 있습니다. 이 장의 주제가 마지막 유형인 Secure Application Role이고, DBA_ROLES의 AUTHENTICATION_TYPE 열에 APPLICATION으로 표시됩니다.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비밀번호 역할은 애플리케이션만 역할 비밀번호를 안다는 가정에 기댑니다. 하지만 애플리케이션이 그 비밀번호를 쓰려면 어딘가에 저장해야 하고, 소스 코드나 설정 파일에 들어가는 순간 서버에 접근할 수 있는 사람은 모두 알게 됩니다. 실제로 설정 파일에서 평문 역할 비밀번호가 발견되는 경우가 많습니다. Secure Application Role은 비밀번호 대신 데이터베이스 안의 프로시저가 세션 조건을 보고 판단하게 해서 이 문제를 없앱니다.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정의자 권한 프로시저와 뷰는 소유자의 권한으로 실행되는데, 이때 역할로 받은 권한은 쓰이지 않습니다. 소유자가 DBA여도 프로시저 안에서 ANY 권한이 통하지 않는 이유입니다. 호출자 권한 프로시저는 호출한 사람의 권한과 현재 켜진 역할로 실행됩니다. 12c부터는 역할을 프로시저에 직접 줄 수 있는 CBAC도 생겼습니다. Secure Application Role이 세션 전체에 권한을 켜는 것과 달리 CBAC는 그 코드가 실행되는 동안에만 권한을 줍니다.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 계정에 업무 권한을 직접 주면 그 계정과 비밀번호를 아는 사람은 SQL*Plus든 보고서 도구든 어디서나 그 권한을 씁니다. Secure Application Role은 권한을 역할에만 주고, 그 역할을 지정한 프로시저만 켤 수 있게 합니다. 프로시저는 접속 IP, 프록시 경유 여부, 직무 같은 조건을 확인합니다. 매뉴얼은 비밀번호가 코드에 들어가지 않는다는 점, 정책이 데이터베이스 한 곳에 있다는 점, 어떤 경로든 같은 정책이 적용된다는 점을 장점으로 꼽습니다.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역할을 켜는 호출이 오면 Oracle은 호출 스택에 USING으로 지정한 PL/SQL 단위가 있는지 봅니다. 실습에서는 역할을 만든 계정조차 SET ROLE로는 ORA-28201을 받았습니다. 같은 스키마에 호출자 권한 프로시저를 하나 더 만들어 켜 보면 19.3에서는 ORA-01924가 났습니다. 지정한 프로시저라도 정의자 권한이면 ORA-06565입니다. 지정한 프로시저이면서 호출자 권한일 때만 역할이 켜집니다. 오류 번호가 경로마다 다르니 표로 정리해 두면 진단이 빠릅니다.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사용자가 로그인하면 일단 직접 받은 권한과 기본 역할만 켜진 상태입니다. 애플리케이션이 로그인 직후 활성화 프로시저를 호출하고, 프로시저가 조건을 확인한 뒤 SET_ROLE을 부르면 데이터베이스가 호출 스택을 확인해 역할을 켭니다. 이후 SQL은 역할 권한으로 실행되고, 세션이 끝나거나 SET ROLE NONE을 하면 사라집니다. SQL*Plus로 직접 접속한 세션은 두 번째 단계를 거치지 않으니 역할 없는 상태로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상황에 맞는 기법은 아닙니다. 분석가처럼 SQL 도구로 직접 데이터를 다루는 것이 정상 업무라면 이 역할은 업무를 막을 뿐이니 권한 자체를 줄이는 쪽이 맞습니다. 코드를 고칠 수 없는 패키지 제품은 로그인 직후 프로시저를 호출하게 만들기 어렵습니다. 또 역할은 켜지거나 꺼질 뿐이라 어느 행을 볼지 고르지 못합니다. 데이터 범위를 나누려면 7장의 VPD를 씁니다.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단계는 역할을 만드는 것입니다. USING 절에 적는 프로시저는 이 시점에 없어도 되고, 역할은 이름만 기억합니다. 업무 권한은 역할에 주고 사용자에게는 역할을 주지 않습니다. 매뉴얼은 프로시저가 정책을 통과한 사용자에게 대신 켜 주니 직접 부여하지 말라고 합니다. DBA_ROLES를 보면 PASSWORD_REQUIRED가 YES로 나오지만 비밀번호 역할은 아니며, 인증 방식은 AUTHENTICATION_TYPE의 APPLICATION으로 판단합니다.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매뉴얼은 활성화 프로시저의 조건으로 세 가지를 듭니다. 호출자 권한일 것, 사용자를 검증하는 검사를 하나 이상 넣을 것, 검사를 통과하면 SET ROLE이나 DBMS_SESSION.SET_ROLE을 실행할 것입니다. 실습 프로시저는 EMP_JOB 뷰에서 로그인 사용자의 직무를 찾아 MANAGER일 때만 역할을 켭니다. 원본 자료에는 예외 처리가 없어서 EMP에 없는 사용자가 호출하면 오류가 났는데, NO_DATA_FOUND를 처리해 조용히 끝나도록 고쳤습니다.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시험은 프로시저 호출 전후의 SESSION_ROLES와 업무 조회 결과를 비교하는 방식으로 합니다. 실습에서 직무가 MANAGER인 BLAKE는 호출 뒤 역할이 켜져 급여 최댓값을 조회했고, CLERK인 JAMES는 호출 자체는 성공했지만 역할이 켜지지 않아 여전히 ORA-00942를 받았습니다. 통과하는 경우만 시험하면 검사가 실제로 동작하는지 알 수 없으니, 다른 직무, 다른 IP, 다른 프로그램 같은 실패 경로를 꼭 함께 시험합니다.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검사 로직이 길거나 역할이 여러 개면 패키지로 묶습니다. 호출자 권한 지정은 패키지 명세에 두면 본문의 모든 프로시저에 적용됩니다. 같은 패키지를 여러 역할의 USING 절에 지정할 수 있는데, 이렇게 하면 패키지 안의 어떤 코드든 그 역할들을 모두 켤 수 있게 됩니다. 각 프로시저가 정확히 자기 역할만 켜는지는 데이터베이스가 막아 주지 않으니 코드 검토로 보장해야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도입은 아홉 단계로 정리할 수 있습니다. 가장 자주 빠지는 것이 마지막 단계인 기존 직접 권한 회수입니다. 역할에 권한을 줬어도 사용자에게 예전에 직접 준 권한이 남아 있으면 SQL 도구에서 그대로 쓸 수 있어서 도입 효과가 없습니다. 반대로 애플리케이션이 로그인 직후 프로시저를 부르도록 배포하기 전에 회수하면 업무 화면이 권한 오류로 멈춥니다. 배포 후 회수, 회수 후 SQL 도구 접속 시험 순서를 지킵니다.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도입이 끝났다는 보고를 받고 확인해 보니, 업무 사용자 계정으로 SQL*Plus에 접속해 프로시저를 부르지 않았는데도 급여 테이블이 조회된 사례입니다. DBA_TAB_PRIVS를 보면 도입 전에 사용자에게 직접 준 SELECT 권한이 그대로 있었습니다. 역할을 만들고 권한을 주는 데까지만 하고 기존 권한을 회수하지 않은 것입니다. 회수 뒤 SQL 도구에서 ORA-00942가 나는지 확인하는 것까지가 시험 범위입니다.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AUTHID 절 없이 만든 프로시저는 정의자 권한으로 실행됩니다. 정의자 권한 코드 안에서는 역할이 꺼진 상태로 실행되기 때문에, 그 안에서 역할을 켜려 하면 ORA-06565, 저장 프로시저 안에서 SET ROLE을 실행할 수 없다는 오류가 납니다. 실습 3에서 이 오류를 재현하고 AUTHID CURRENT_USER로 고칩니다. 호출자 권한 프로시저에서 켠 역할은 프로시저가 끝난 뒤에도 그 세션에 남아 이후 SQL에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PL/SQL의 정적 SQL에는 SET ROLE을 쓸 수 없어서 EXECUTE IMMEDIATE로 실행하거나 DBMS_SESSION.SET_ROLE을 부릅니다. SET ROLE ALL로는 이 유형의 역할을 켤 수 없습니다. 주의할 점은 SET ROLE이 지정한 역할만 켜고 나머지를 끈다는 것입니다. 사용자가 다른 기본 역할을 쓰고 있었다면 호출 뒤 그 역할이 꺼지므로, 함께 필요한 역할은 같이 적습니다. 역할을 끄는 것은 어느 코드에서든 제약 없이 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검사 조건을 고를 때는 그 값을 누가 채우는지가 가장 중요합니다. 로그인 사용자, 클라이언트 IP, 프록시 사용자, 인증 방식은 데이터베이스가 로그인 과정에서 채우므로 사용자가 바꿀 수 없습니다. 반면 MODULE이나 CLIENT_IDENTIFIER는 클라이언트 프로그램이 마음대로 정하는 값입니다. 애플리케이션 컨텍스트는 신뢰 패키지만 값을 넣을 수 있어서 위조가 어렵습니다. 서버 측 값을 중심으로 두고 클라이언트 값은 보조로만 씁니다.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4에서는 모듈 이름과 IP 대역을 함께 검사했습니다. 리스너를 거치지 않는 로컬 접속은 IP_ADDRESS가 비어 있고 모듈은 SQL*Plus여서 역할이 켜지지 않았습니다. 그런데 tnsnames 별칭으로 리스너를 거쳐 접속한 뒤 SQL*Plus에서 SET_MODULE로 HRAPP을 넣자 바로 통과했습니다. 모듈 이름은 단독 근거가 될 수 없다는 것을 보여 줍니다. 또 IP가 NULL일 때 NOT LIKE 조건이 어떻게 판정되는지도 설계 단계에서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매뉴얼 예제는 지정한 두 IP 주소에서, 오전 8시부터 오후 5시 사이에만 역할을 켭니다. 출처가 다른 두 조건을 조합하는 것이 기본 형태입니다. 다만 시간 조건은 역할을 켜는 순간에만 검사됩니다. 4시 59분에 켠 역할은 그 세션이 끝날 때까지 그대로 유지됩니다. 시간 제한이 엄격해야 한다면 애플리케이션이 주기적으로 역할을 껐다가 다시 호출하도록 만들어야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검사에 실패해도 프로시저는 정상 종료하니, 기록을 남기지 않으면 누가 몇 번 시도했는지 알 수 없습니다. 로그 테이블에 쓰는 프로시저를 자율 트랜잭션으로 따로 만들면 업무 트랜잭션의 롤백과 상관없이 기록이 남습니다. 이 로그 프로시저는 역할을 켜지 않으므로 정의자 권한으로 둬도 됩니다. 역할로 얻은 권한을 실제로 어디에 썼는지는 Unified Auditing 정책으로 기록하고, 감사 기록 관리는 13장에서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 값보다 믿을 만한 근거를 만드는 방법이 두 가지 있습니다. 하나는 2장의 프록시 인증입니다. 애플리케이션 서버가 프록시 계정으로 접속해 사용자 세션을 열면 PROXY_USER에 서버 계정이 들어가고, 같은 사용자가 SQL*Plus로 직접 접속하면 NULL입니다. 다른 하나는 6장의 애플리케이션 컨텍스트입니다. 2차 인증을 마친 세션에만 신뢰 패키지가 인증 단계 값을 넣고, 활성화 프로시저가 그 값을 확인하게 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인사 시스템에서 모듈 이름만 확인하도록 프로시저를 만들었던 사례입니다. 내부 감사에서 인사팀이 아닌 개발자가 SQL*Plus에서 SET_MODULE로 화면 이름을 흉내 낸 뒤 프로시저를 호출해 급여를 조회한 기록이 발견됐습니다. 조건을 애플리케이션 서버의 프록시 계정과 서버 IP로 바꾸고, 모듈 검사는 화면별 구분 용도로만 남겼습니다. 실패 기록도 함께 남기도록 해서 이후 같은 시도를 추적할 수 있게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프로시저가 켠 역할은 그 세션에만 있고, SET ROLE NONE으로 언제든 끌 수 있습니다. DBA가 다른 세션에 어떤 역할이 켜져 있는지 바로 볼 수 있는 뷰는 없어서, 추적이 필요하면 프로시저가 성공도 기록하게 합니다. 연결 풀 환경이 특히 위험합니다. 앞 요청이 켠 역할이 세션에 남은 채 풀로 돌아가면 다음 요청이 그 권한을 물려받습니다. 반납할 때 역할을 끄는 처리가 꼭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매뉴얼은 이 역할을 기본 역할로 둘 수 없다고 적고 있습니다. 실습에서 역할을 BLAKE에게 부여하고 기본 역할로 지정하자 ALTER USER가 User altered로 정상 종료했습니다. 그런데 DBA_ROLE_PRIVS를 보면 DEFAULT_ROLE이 여전히 NO였고 새 세션에서도 역할이 켜지지 않았습니다. 오류가 나지 않으니 설정됐다고 착각하기 쉽습니다. 직접 부여한 상태에서도 SET ROLE은 ORA-28201이므로 부여 자체가 아무 효과가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매뉴얼은 LOGON 트리거로 이 역할을 켜거나 끌 수 없다고 명시합니다. 실습에서 BLAKE 스키마에 LOGON 트리거를 만들어 모듈 이름을 맞추고 활성화 프로시저를 부르게 했더니, 로그인은 정상이었지만 SESSION_ROLES는 비어 있었습니다. 역시 오류 없이 효과만 없습니다. 이 제약 때문에 Secure Application Role은 애플리케이션이 로그인 직후 프로시저를 직접 호출한다는 협력을 전제로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보고서 배치가 매일 아침 급여 테이블 조회에서 실패한 사례입니다. 담당자는 배치 계정에 역할을 부여하고 기본 역할로 지정해 두었다고 했는데, DBA_ROLE_PRIVS를 보니 DEFAULT_ROLE이 NO였습니다. ALTER USER가 오류 없이 끝나서 지정이 된 줄 알았던 것입니다. 배치 스크립트 첫 줄에서 활성화 프로시저를 호출하도록 바꾸고, 효과 없는 직접 부여는 회수했습니다. 프로시저에는 배치 서버 IP와 계정 이름 검사를 넣었습니다.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프로시저를 지우면 호출이 PLS-00201로 실패하고 역할을 켤 방법이 없어집니다. 프로시저가 컴파일 오류로 INVALID가 돼도 결과는 같습니다. 그런데 DBA_APPLICATION_ROLES에는 역할과 프로시저 이름의 연결이 그대로 남아 있어서 딕셔너리만 보고는 문제를 알 수 없습니다. 같은 이름으로 다시 만들면 원래대로 동작합니다. 운영 중 재컴파일로 급여 화면 전체가 멈춘 사례도 있으니 배포는 업무 시간 밖에 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비슷해 보이는 기법들을 통제 대상과 판단 위치로 나눠 보면 구분이 쉽습니다. 직접 부여는 조건이 없고, 비밀번호 역할은 비밀번호를 아는지만 봅니다. Secure Application Role은 프로시저가 세션 조건을 판단합니다. 프록시 인증의 WITH ROLE은 프록시 세션에서 켤 수 있는 역할을 제한합니다. VPD는 권한이 아니라 볼 수 있는 행을 정합니다. 이 장의 역할이 "지금 이 권한을 쓸 수 있는가"를 정한다면 VPD는 "어느 행을 볼 수 있는가"를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어떤 권한을 역할로 옮길지 정하려면 애플리케이션이 실제로 어떤 권한을 쓰는지 알아야 합니다. Privilege Analysis, 즉 DBMS_PRIVILEGE_CAPTURE 패키지는 지정한 기간 동안 쓰인 권한과 쓰이지 않은 권한을 기록합니다. 19c에서는 Enterprise Edition에 포함된 기능입니다. 쓰이지 않은 권한은 회수 후보가 되고, 특정 화면에서만 쓰인 권한은 Secure Application Role로 옮길 후보가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기법은 겹치지 않아서 함께 쓰기 좋습니다. 급여 테이블 조회 권한은 Secure Application Role이 업무 화면을 거친 세션에만 주고, 그 세션이 볼 수 있는 부서는 VPD 정책이 제한하는 식입니다. 두 기법의 판단 근거를 같은 애플리케이션 컨텍스트에서 가져오면, 로그인 직후 신뢰 패키지가 넣은 부서와 인증 단계 값을 활성화 프로시저와 정책 함수가 함께 읽게 되어 관리할 곳이 하나로 모입니다.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DBA_APPLICATION_ROLES는 역할, 스키마, 활성화 PL/SQL 단위를 한 줄로 보여 줍니다. PACKAGE 열이라는 이름과 달리 단독 프로시저 이름도 들어갑니다. 점검은 이 뷰로 연결을 찾고, DBA_OBJECTS로 프로시저가 VALID인지 보고, DBA_TAB_PRIVS에서 실행 권한을 누가 가졌는지 확인하는 세 단계로 합니다. DBA_ROLES에서 APPLICATION 유형 역할 수와 이 뷰의 행 수가 같은지도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만난 오류를 경로별로 모았습니다. 같은 역할을 켜려다 실패해도 프로시저 밖에서 바로 켜면 ORA-28201, USING에 없는 다른 PL/SQL 코드에서 켜면 19.3에서는 ORA-01924가 납니다. ORA-01924는 부여받지 않은 일반 역할을 켤 때도 나는 번호라 원인을 오해하기 쉽습니다. 역할의 인증 방식이 APPLICATION이면 먼저 호출 경로를 의심합니다. 정의자 권한 프로시저는 ORA-06565, 프로시저가 없으면 PLS-00201입니다.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점검 항목은 네 가지로 정리합니다. 먼저 DBA 역할과 ANY 시스템 권한 보유자, 다음으로 비밀번호 역할과 애플리케이션 역할 목록입니다. 애플리케이션 역할이 사용자에게 직접 부여된 흔적은 효과는 없지만 설계 의도와 어긋난 작업이 있었다는 신호입니다. 마지막으로 활성화 프로시저의 실행 권한 보유자와 마지막 변경 시각을 봅니다. 프로시저가 바뀌었다면 누가 왜 바꿨는지 변경 기록과 맞춰 봅니다.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활성화 프로시저는 보안 정책 그 자체이므로 소유 계정의 접속을 제한하고 변경을 감사합니다. 프로시저가 참조하는 매핑 테이블을 수정할 수 있는 사람은 사실상 역할을 줄 수 있는 사람이니 같은 수준으로 관리합니다. 프로시저 배포는 업무 시간 밖에 하고 배포 직후 업무 계정으로 시험합니다. 장애 대응 중 임시로 직접 권한을 줬다면 반드시 회수합니다. 직접 권한이 남는 순간 우회로가 생깁니다.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Security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Secure Application Role</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정해진 경로에서만 켜지는 역할</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제3장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부여 상태와 세션 상태를 뷰로 구분한다</a:t>
            </a:r>
          </a:p>
          <a:p>
            <a:pPr algn="l">
              <a:spcAft>
                <a:spcPts val="1000"/>
              </a:spcAft>
            </a:pPr>
            <a:r>
              <a:rPr sz="1600" b="0">
                <a:solidFill>
                  <a:srgbClr val="222222"/>
                </a:solidFill>
                <a:latin typeface="맑은 고딕"/>
              </a:rPr>
              <a:t>•  역할의 다섯 가지 인증 방식을 구분한다</a:t>
            </a:r>
          </a:p>
          <a:p>
            <a:pPr algn="l">
              <a:spcAft>
                <a:spcPts val="1000"/>
              </a:spcAft>
            </a:pPr>
            <a:r>
              <a:rPr sz="1600" b="0">
                <a:solidFill>
                  <a:srgbClr val="222222"/>
                </a:solidFill>
                <a:latin typeface="맑은 고딕"/>
              </a:rPr>
              <a:t>•  IDENTIFIED USING 역할과 활성화 프로시저를 만든다</a:t>
            </a:r>
          </a:p>
          <a:p>
            <a:pPr algn="l">
              <a:spcAft>
                <a:spcPts val="1000"/>
              </a:spcAft>
            </a:pPr>
            <a:r>
              <a:rPr sz="1600" b="0">
                <a:solidFill>
                  <a:srgbClr val="222222"/>
                </a:solidFill>
                <a:latin typeface="맑은 고딕"/>
              </a:rPr>
              <a:t>•  ORA-28201, ORA-06565, ORA-01924를 진단한다</a:t>
            </a:r>
          </a:p>
          <a:p>
            <a:pPr algn="l">
              <a:spcAft>
                <a:spcPts val="1000"/>
              </a:spcAft>
            </a:pPr>
            <a:r>
              <a:rPr sz="1600" b="0">
                <a:solidFill>
                  <a:srgbClr val="222222"/>
                </a:solidFill>
                <a:latin typeface="맑은 고딕"/>
              </a:rPr>
              <a:t>•  기본 역할·LOGON 트리거의 제약을 설명한다</a:t>
            </a:r>
          </a:p>
          <a:p>
            <a:pPr algn="l">
              <a:spcAft>
                <a:spcPts val="1000"/>
              </a:spcAft>
            </a:pPr>
            <a:r>
              <a:rPr sz="1600" b="0">
                <a:solidFill>
                  <a:srgbClr val="222222"/>
                </a:solidFill>
                <a:latin typeface="맑은 고딕"/>
              </a:rPr>
              <a:t>•  검사 조건의 신뢰도를 판단하고 점검한다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3.2 권한과 역할의 기초  /  3.3 활성화와 인증 방식</a:t>
            </a:r>
          </a:p>
          <a:p>
            <a:pPr algn="l">
              <a:spcAft>
                <a:spcPts val="1000"/>
              </a:spcAft>
            </a:pPr>
            <a:r>
              <a:rPr sz="1600" b="0">
                <a:solidFill>
                  <a:srgbClr val="222222"/>
                </a:solidFill>
                <a:latin typeface="맑은 고딕"/>
              </a:rPr>
              <a:t>•  3.4 Secure Application Role의 개념</a:t>
            </a:r>
          </a:p>
          <a:p>
            <a:pPr algn="l">
              <a:spcAft>
                <a:spcPts val="1000"/>
              </a:spcAft>
            </a:pPr>
            <a:r>
              <a:rPr sz="1600" b="0">
                <a:solidFill>
                  <a:srgbClr val="222222"/>
                </a:solidFill>
                <a:latin typeface="맑은 고딕"/>
              </a:rPr>
              <a:t>•  3.5 생성 절차  /  3.6 활성화 프로시저 설계</a:t>
            </a:r>
          </a:p>
          <a:p>
            <a:pPr algn="l">
              <a:spcAft>
                <a:spcPts val="1000"/>
              </a:spcAft>
            </a:pPr>
            <a:r>
              <a:rPr sz="1600" b="0">
                <a:solidFill>
                  <a:srgbClr val="222222"/>
                </a:solidFill>
                <a:latin typeface="맑은 고딕"/>
              </a:rPr>
              <a:t>•  3.7 활성화 범위와 제약</a:t>
            </a:r>
          </a:p>
          <a:p>
            <a:pPr algn="l">
              <a:spcAft>
                <a:spcPts val="1000"/>
              </a:spcAft>
            </a:pPr>
            <a:r>
              <a:rPr sz="1600" b="0">
                <a:solidFill>
                  <a:srgbClr val="222222"/>
                </a:solidFill>
                <a:latin typeface="맑은 고딕"/>
              </a:rPr>
              <a:t>•  3.8 다른 기법과의 비교  /  3.9 딕셔너리 뷰</a:t>
            </a:r>
          </a:p>
          <a:p>
            <a:pPr algn="l">
              <a:spcAft>
                <a:spcPts val="1000"/>
              </a:spcAft>
            </a:pPr>
            <a:r>
              <a:rPr sz="1600" b="0">
                <a:solidFill>
                  <a:srgbClr val="222222"/>
                </a:solidFill>
                <a:latin typeface="맑은 고딕"/>
              </a:rPr>
              <a:t>•  3.10 운영 시 주의점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권한과 역할의 기초</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시스템 권한과 객체 권한</a:t>
            </a:r>
          </a:p>
          <a:p>
            <a:pPr algn="l">
              <a:spcAft>
                <a:spcPts val="800"/>
              </a:spcAft>
            </a:pPr>
            <a:r>
              <a:rPr sz="1600" b="0">
                <a:solidFill>
                  <a:srgbClr val="FFFFFF"/>
                </a:solidFill>
                <a:latin typeface="맑은 고딕"/>
              </a:rPr>
              <a:t>•  역할과 역할 계층</a:t>
            </a:r>
          </a:p>
          <a:p>
            <a:pPr algn="l">
              <a:spcAft>
                <a:spcPts val="800"/>
              </a:spcAft>
            </a:pPr>
            <a:r>
              <a:rPr sz="1600" b="0">
                <a:solidFill>
                  <a:srgbClr val="FFFFFF"/>
                </a:solidFill>
                <a:latin typeface="맑은 고딕"/>
              </a:rPr>
              <a:t>•  부여 상태와 세션 상태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시스템 권한과 객체 권한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권한의 두 갈래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시스템 권한: DB 전체 작업 (CREATE SESSION 등)</a:t>
            </a:r>
          </a:p>
          <a:p>
            <a:pPr algn="l">
              <a:spcAft>
                <a:spcPts val="1000"/>
              </a:spcAft>
            </a:pPr>
            <a:r>
              <a:rPr sz="1700" b="0">
                <a:solidFill>
                  <a:srgbClr val="222222"/>
                </a:solidFill>
                <a:latin typeface="맑은 고딕"/>
              </a:rPr>
              <a:t>•  객체 권한: 특정 객체 작업 (SELECT ON scott.emp)</a:t>
            </a:r>
          </a:p>
          <a:p>
            <a:pPr algn="l">
              <a:spcAft>
                <a:spcPts val="1000"/>
              </a:spcAft>
            </a:pPr>
            <a:r>
              <a:rPr sz="1700" b="0">
                <a:solidFill>
                  <a:srgbClr val="222222"/>
                </a:solidFill>
                <a:latin typeface="맑은 고딕"/>
              </a:rPr>
              <a:t>•  ANY 권한은 다른 스키마 통제를 무력화</a:t>
            </a:r>
          </a:p>
          <a:p>
            <a:pPr algn="l">
              <a:spcAft>
                <a:spcPts val="1000"/>
              </a:spcAft>
            </a:pPr>
            <a:r>
              <a:rPr sz="1700" b="0">
                <a:solidFill>
                  <a:srgbClr val="222222"/>
                </a:solidFill>
                <a:latin typeface="맑은 고딕"/>
              </a:rPr>
              <a:t>•  객체 소유자는 자기 객체에 모든 권한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역할과 19c 기본 역할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권한을 묶은 이름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권한은 역할에, 역할은 사용자에게</a:t>
            </a:r>
          </a:p>
          <a:p>
            <a:pPr algn="l">
              <a:spcAft>
                <a:spcPts val="1000"/>
              </a:spcAft>
            </a:pPr>
            <a:r>
              <a:rPr sz="1700" b="0">
                <a:solidFill>
                  <a:srgbClr val="222222"/>
                </a:solidFill>
                <a:latin typeface="맑은 고딕"/>
              </a:rPr>
              <a:t>•  역할 권한은 역할이 켜져 있을 때만 쓰인다</a:t>
            </a:r>
          </a:p>
          <a:p>
            <a:pPr algn="l">
              <a:spcAft>
                <a:spcPts val="1000"/>
              </a:spcAft>
            </a:pPr>
            <a:r>
              <a:rPr sz="1700" b="0">
                <a:solidFill>
                  <a:srgbClr val="222222"/>
                </a:solidFill>
                <a:latin typeface="맑은 고딕"/>
              </a:rPr>
              <a:t>•  CONNECT: CREATE SESSION, SET CONTAINER</a:t>
            </a:r>
          </a:p>
          <a:p>
            <a:pPr algn="l">
              <a:spcAft>
                <a:spcPts val="1000"/>
              </a:spcAft>
            </a:pPr>
            <a:r>
              <a:rPr sz="1700" b="0">
                <a:solidFill>
                  <a:srgbClr val="222222"/>
                </a:solidFill>
                <a:latin typeface="맑은 고딕"/>
              </a:rPr>
              <a:t>•  RESOURCE: 객체 생성 권한 + SODA_APP</a:t>
            </a:r>
          </a:p>
          <a:p>
            <a:pPr algn="l">
              <a:spcAft>
                <a:spcPts val="1000"/>
              </a:spcAft>
            </a:pPr>
            <a:r>
              <a:rPr sz="1700" b="0">
                <a:solidFill>
                  <a:srgbClr val="222222"/>
                </a:solidFill>
                <a:latin typeface="맑은 고딕"/>
              </a:rPr>
              <a:t>•  12c부터 RESOURCE에 UNLIMITED TABLESPACE 없음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부여 상태와 세션 상태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받은 것과 켜진 것은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DBA_SYS_PRIVS, DBA_TAB_PRIVS, DBA_ROLE_PRIVS</a:t>
            </a:r>
          </a:p>
          <a:p>
            <a:pPr algn="l">
              <a:spcAft>
                <a:spcPts val="1000"/>
              </a:spcAft>
            </a:pPr>
            <a:r>
              <a:rPr sz="1700" b="0">
                <a:solidFill>
                  <a:srgbClr val="222222"/>
                </a:solidFill>
                <a:latin typeface="맑은 고딕"/>
              </a:rPr>
              <a:t>•  ROLE_ROLE_PRIVS로 역할 안의 역할까지</a:t>
            </a:r>
          </a:p>
          <a:p>
            <a:pPr algn="l">
              <a:spcAft>
                <a:spcPts val="1000"/>
              </a:spcAft>
            </a:pPr>
            <a:r>
              <a:rPr sz="1700" b="0">
                <a:solidFill>
                  <a:srgbClr val="222222"/>
                </a:solidFill>
                <a:latin typeface="맑은 고딕"/>
              </a:rPr>
              <a:t>•  일반 사용자는 USER_ 계열 (DBA_ 는 ORA-00942)</a:t>
            </a:r>
          </a:p>
          <a:p>
            <a:pPr algn="l">
              <a:spcAft>
                <a:spcPts val="1000"/>
              </a:spcAft>
            </a:pPr>
            <a:r>
              <a:rPr sz="1700" b="0">
                <a:solidFill>
                  <a:srgbClr val="222222"/>
                </a:solidFill>
                <a:latin typeface="맑은 고딕"/>
              </a:rPr>
              <a:t>•  SESSION_ROLES, SESSION_PRIVS로 현재 상태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부여와 회수의 연쇄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회수 때 하위 부여는 어떻게 되나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시스템 권한 WITH ADMIN OPTION: 남는다</a:t>
            </a:r>
          </a:p>
          <a:p>
            <a:pPr algn="l">
              <a:spcAft>
                <a:spcPts val="1000"/>
              </a:spcAft>
            </a:pPr>
            <a:r>
              <a:rPr sz="1700" b="0">
                <a:solidFill>
                  <a:srgbClr val="222222"/>
                </a:solidFill>
                <a:latin typeface="맑은 고딕"/>
              </a:rPr>
              <a:t>•  역할 WITH ADMIN OPTION: 남는다</a:t>
            </a:r>
          </a:p>
          <a:p>
            <a:pPr algn="l">
              <a:spcAft>
                <a:spcPts val="1000"/>
              </a:spcAft>
            </a:pPr>
            <a:r>
              <a:rPr sz="1700" b="0">
                <a:solidFill>
                  <a:srgbClr val="222222"/>
                </a:solidFill>
                <a:latin typeface="맑은 고딕"/>
              </a:rPr>
              <a:t>•  객체 권한 WITH GRANT OPTION: 함께 회수</a:t>
            </a:r>
          </a:p>
          <a:p>
            <a:pPr algn="l">
              <a:spcAft>
                <a:spcPts val="1000"/>
              </a:spcAft>
            </a:pPr>
            <a:r>
              <a:rPr sz="1700" b="0">
                <a:solidFill>
                  <a:srgbClr val="222222"/>
                </a:solidFill>
                <a:latin typeface="맑은 고딕"/>
              </a:rPr>
              <a:t>•  PUBLIC 부여는 모든 사용자의 권한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자주 쓰는 점검 조회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정기 점검의 출발점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DBA 역할 보유자</a:t>
            </a:r>
          </a:p>
          <a:p>
            <a:pPr algn="l">
              <a:spcAft>
                <a:spcPts val="1000"/>
              </a:spcAft>
            </a:pPr>
            <a:r>
              <a:rPr sz="1700" b="0">
                <a:solidFill>
                  <a:srgbClr val="222222"/>
                </a:solidFill>
                <a:latin typeface="맑은 고딕"/>
              </a:rPr>
              <a:t>•  사용자에게 직접 준 ANY 권한</a:t>
            </a:r>
          </a:p>
          <a:p>
            <a:pPr algn="l">
              <a:spcAft>
                <a:spcPts val="1000"/>
              </a:spcAft>
            </a:pPr>
            <a:r>
              <a:rPr sz="1700" b="0">
                <a:solidFill>
                  <a:srgbClr val="222222"/>
                </a:solidFill>
                <a:latin typeface="맑은 고딕"/>
              </a:rPr>
              <a:t>•  역할 트리: DBA_ROLE_PRIVS + CONNECT BY</a:t>
            </a:r>
          </a:p>
          <a:p>
            <a:pPr algn="l">
              <a:spcAft>
                <a:spcPts val="1000"/>
              </a:spcAft>
            </a:pPr>
            <a:r>
              <a:rPr sz="1700" b="0">
                <a:solidFill>
                  <a:srgbClr val="222222"/>
                </a:solidFill>
                <a:latin typeface="맑은 고딕"/>
              </a:rPr>
              <a:t>•  PUBLIC에 열린 UTL_ 패키지 실행 권한</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역할의 활성화와 인증 방식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기본 역할과 SET ROLE</a:t>
            </a:r>
          </a:p>
          <a:p>
            <a:pPr algn="l">
              <a:spcAft>
                <a:spcPts val="800"/>
              </a:spcAft>
            </a:pPr>
            <a:r>
              <a:rPr sz="1600" b="0">
                <a:solidFill>
                  <a:srgbClr val="FFFFFF"/>
                </a:solidFill>
                <a:latin typeface="맑은 고딕"/>
              </a:rPr>
              <a:t>•  다섯 가지 인증 방식</a:t>
            </a:r>
          </a:p>
          <a:p>
            <a:pPr algn="l">
              <a:spcAft>
                <a:spcPts val="800"/>
              </a:spcAft>
            </a:pPr>
            <a:r>
              <a:rPr sz="1600" b="0">
                <a:solidFill>
                  <a:srgbClr val="FFFFFF"/>
                </a:solidFill>
                <a:latin typeface="맑은 고딕"/>
              </a:rPr>
              <a:t>•  PL/SQL 안에서의 역할</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기본 역할과 SET ROLE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로그인 때 켜지는 것, 나중에 켜는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부여된 역할은 기본적으로 로그인 때 켜진다</a:t>
            </a:r>
          </a:p>
          <a:p>
            <a:pPr algn="l">
              <a:spcAft>
                <a:spcPts val="1000"/>
              </a:spcAft>
            </a:pPr>
            <a:r>
              <a:rPr sz="1700" b="0">
                <a:solidFill>
                  <a:srgbClr val="222222"/>
                </a:solidFill>
                <a:latin typeface="맑은 고딕"/>
              </a:rPr>
              <a:t>•  ALTER USER ... DEFAULT ROLE로 범위 지정</a:t>
            </a:r>
          </a:p>
          <a:p>
            <a:pPr algn="l">
              <a:spcAft>
                <a:spcPts val="1000"/>
              </a:spcAft>
            </a:pPr>
            <a:r>
              <a:rPr sz="1700" b="0">
                <a:solidFill>
                  <a:srgbClr val="222222"/>
                </a:solidFill>
                <a:latin typeface="맑은 고딕"/>
              </a:rPr>
              <a:t>•  SET ROLE r: 받은 역할만 켤 수 있다 (ORA-01924)</a:t>
            </a:r>
          </a:p>
          <a:p>
            <a:pPr algn="l">
              <a:spcAft>
                <a:spcPts val="1000"/>
              </a:spcAft>
            </a:pPr>
            <a:r>
              <a:rPr sz="1700" b="0">
                <a:solidFill>
                  <a:srgbClr val="222222"/>
                </a:solidFill>
                <a:latin typeface="맑은 고딕"/>
              </a:rPr>
              <a:t>•  SET ROLE NONE: 모든 역할 끄기</a:t>
            </a:r>
          </a:p>
          <a:p>
            <a:pPr algn="l">
              <a:spcAft>
                <a:spcPts val="1000"/>
              </a:spcAft>
            </a:pPr>
            <a:r>
              <a:rPr sz="1700" b="0">
                <a:solidFill>
                  <a:srgbClr val="222222"/>
                </a:solidFill>
                <a:latin typeface="맑은 고딕"/>
              </a:rPr>
              <a:t>•  PL/SQL은 DBMS_SESSION.SET_ROLE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역할의 인증 방식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확인하고 켜는가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없음: 부여만 되어 있으면</a:t>
            </a:r>
          </a:p>
          <a:p>
            <a:pPr algn="l">
              <a:spcAft>
                <a:spcPts val="1000"/>
              </a:spcAft>
            </a:pPr>
            <a:r>
              <a:rPr sz="1700" b="0">
                <a:solidFill>
                  <a:srgbClr val="222222"/>
                </a:solidFill>
                <a:latin typeface="맑은 고딕"/>
              </a:rPr>
              <a:t>•  비밀번호: IDENTIFIED BY</a:t>
            </a:r>
          </a:p>
          <a:p>
            <a:pPr algn="l">
              <a:spcAft>
                <a:spcPts val="1000"/>
              </a:spcAft>
            </a:pPr>
            <a:r>
              <a:rPr sz="1700" b="0">
                <a:solidFill>
                  <a:srgbClr val="222222"/>
                </a:solidFill>
                <a:latin typeface="맑은 고딕"/>
              </a:rPr>
              <a:t>•  외부·전역: OS, 디렉터리 서비스</a:t>
            </a:r>
          </a:p>
          <a:p>
            <a:pPr algn="l">
              <a:spcAft>
                <a:spcPts val="1000"/>
              </a:spcAft>
            </a:pPr>
            <a:r>
              <a:rPr sz="1700" b="0">
                <a:solidFill>
                  <a:srgbClr val="222222"/>
                </a:solidFill>
                <a:latin typeface="맑은 고딕"/>
              </a:rPr>
              <a:t>•  애플리케이션: IDENTIFIED USING 스키마.패키지</a:t>
            </a:r>
          </a:p>
          <a:p>
            <a:pPr algn="l">
              <a:spcAft>
                <a:spcPts val="1000"/>
              </a:spcAft>
            </a:pPr>
            <a:r>
              <a:rPr sz="1700" b="0">
                <a:solidFill>
                  <a:srgbClr val="222222"/>
                </a:solidFill>
                <a:latin typeface="맑은 고딕"/>
              </a:rPr>
              <a:t>•  DBA_ROLES.AUTHENTICATION_TYPE으로 구분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비밀번호 역할의 한계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비밀번호는 어딘가에 저장된다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애플리케이션만 비밀번호를 안다는 가정</a:t>
            </a:r>
          </a:p>
          <a:p>
            <a:pPr algn="l">
              <a:spcAft>
                <a:spcPts val="1000"/>
              </a:spcAft>
            </a:pPr>
            <a:r>
              <a:rPr sz="1700" b="0">
                <a:solidFill>
                  <a:srgbClr val="222222"/>
                </a:solidFill>
                <a:latin typeface="맑은 고딕"/>
              </a:rPr>
              <a:t>•  소스·설정 파일·테이블에 들어가면 깨진다</a:t>
            </a:r>
          </a:p>
          <a:p>
            <a:pPr algn="l">
              <a:spcAft>
                <a:spcPts val="1000"/>
              </a:spcAft>
            </a:pPr>
            <a:r>
              <a:rPr sz="1700" b="0">
                <a:solidFill>
                  <a:srgbClr val="222222"/>
                </a:solidFill>
                <a:latin typeface="맑은 고딕"/>
              </a:rPr>
              <a:t>•  아는 사람은 SQL*Plus에서도 SET ROLE</a:t>
            </a:r>
          </a:p>
          <a:p>
            <a:pPr algn="l">
              <a:spcAft>
                <a:spcPts val="1000"/>
              </a:spcAft>
            </a:pPr>
            <a:r>
              <a:rPr sz="1700" b="0">
                <a:solidFill>
                  <a:srgbClr val="222222"/>
                </a:solidFill>
                <a:latin typeface="맑은 고딕"/>
              </a:rPr>
              <a:t>•  판단을 DB 안의 코드로 옮긴 것이 SAR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PL/SQL과 뷰 안에서의 역할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정의자 권한 코드는 역할을 쓰지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정의자 권한 프로시저·뷰: 역할 권한 꺼짐</a:t>
            </a:r>
          </a:p>
          <a:p>
            <a:pPr algn="l">
              <a:spcAft>
                <a:spcPts val="1000"/>
              </a:spcAft>
            </a:pPr>
            <a:r>
              <a:rPr sz="1700" b="0">
                <a:solidFill>
                  <a:srgbClr val="222222"/>
                </a:solidFill>
                <a:latin typeface="맑은 고딕"/>
              </a:rPr>
              <a:t>•  호출자 권한 프로시저: 호출자의 역할로 실행</a:t>
            </a:r>
          </a:p>
          <a:p>
            <a:pPr algn="l">
              <a:spcAft>
                <a:spcPts val="1000"/>
              </a:spcAft>
            </a:pPr>
            <a:r>
              <a:rPr sz="1700" b="0">
                <a:solidFill>
                  <a:srgbClr val="222222"/>
                </a:solidFill>
                <a:latin typeface="맑은 고딕"/>
              </a:rPr>
              <a:t>•  12c CBAC: GRANT 역할 TO PROCEDURE</a:t>
            </a:r>
          </a:p>
          <a:p>
            <a:pPr algn="l">
              <a:spcAft>
                <a:spcPts val="1000"/>
              </a:spcAft>
            </a:pPr>
            <a:r>
              <a:rPr sz="1700" b="0">
                <a:solidFill>
                  <a:srgbClr val="222222"/>
                </a:solidFill>
                <a:latin typeface="맑은 고딕"/>
              </a:rPr>
              <a:t>•  SAR은 세션 전체, CBAC는 코드 실행 중에만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Secure Application Role의 개념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무엇을 막는가</a:t>
            </a:r>
          </a:p>
          <a:p>
            <a:pPr algn="l">
              <a:spcAft>
                <a:spcPts val="800"/>
              </a:spcAft>
            </a:pPr>
            <a:r>
              <a:rPr sz="1600" b="0">
                <a:solidFill>
                  <a:srgbClr val="FFFFFF"/>
                </a:solidFill>
                <a:latin typeface="맑은 고딕"/>
              </a:rPr>
              <a:t>•  데이터베이스가 확인하는 것</a:t>
            </a:r>
          </a:p>
          <a:p>
            <a:pPr algn="l">
              <a:spcAft>
                <a:spcPts val="800"/>
              </a:spcAft>
            </a:pPr>
            <a:r>
              <a:rPr sz="1600" b="0">
                <a:solidFill>
                  <a:srgbClr val="FFFFFF"/>
                </a:solidFill>
                <a:latin typeface="맑은 고딕"/>
              </a:rPr>
              <a:t>•  세션 하나에서 일어나는 순서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무엇을 막는가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같은 계정, 다른 도구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직접 받은 권한은 어떤 도구에서든 쓰인다</a:t>
            </a:r>
          </a:p>
          <a:p>
            <a:pPr algn="l">
              <a:spcAft>
                <a:spcPts val="1000"/>
              </a:spcAft>
            </a:pPr>
            <a:r>
              <a:rPr sz="1700" b="0">
                <a:solidFill>
                  <a:srgbClr val="222222"/>
                </a:solidFill>
                <a:latin typeface="맑은 고딕"/>
              </a:rPr>
              <a:t>•  권한은 역할에만, 역할은 프로시저만 켠다</a:t>
            </a:r>
          </a:p>
          <a:p>
            <a:pPr algn="l">
              <a:spcAft>
                <a:spcPts val="1000"/>
              </a:spcAft>
            </a:pPr>
            <a:r>
              <a:rPr sz="1700" b="0">
                <a:solidFill>
                  <a:srgbClr val="222222"/>
                </a:solidFill>
                <a:latin typeface="맑은 고딕"/>
              </a:rPr>
              <a:t>•  프로시저가 세션 조건을 검사</a:t>
            </a:r>
          </a:p>
          <a:p>
            <a:pPr algn="l">
              <a:spcAft>
                <a:spcPts val="1000"/>
              </a:spcAft>
            </a:pPr>
            <a:r>
              <a:rPr sz="1700" b="0">
                <a:solidFill>
                  <a:srgbClr val="222222"/>
                </a:solidFill>
                <a:latin typeface="맑은 고딕"/>
              </a:rPr>
              <a:t>•  비밀번호 내장 없음, 정책은 DB 한 곳에</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데이터베이스가 확인하는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호출 스택에 지정한 코드가 있는가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직접 SET ROLE: ORA-28201</a:t>
            </a:r>
          </a:p>
          <a:p>
            <a:pPr algn="l">
              <a:spcAft>
                <a:spcPts val="1000"/>
              </a:spcAft>
            </a:pPr>
            <a:r>
              <a:rPr sz="1700" b="0">
                <a:solidFill>
                  <a:srgbClr val="222222"/>
                </a:solidFill>
                <a:latin typeface="맑은 고딕"/>
              </a:rPr>
              <a:t>•  직접 DBMS_SESSION.SET_ROLE: ORA-28201</a:t>
            </a:r>
          </a:p>
          <a:p>
            <a:pPr algn="l">
              <a:spcAft>
                <a:spcPts val="1000"/>
              </a:spcAft>
            </a:pPr>
            <a:r>
              <a:rPr sz="1700" b="0">
                <a:solidFill>
                  <a:srgbClr val="222222"/>
                </a:solidFill>
                <a:latin typeface="맑은 고딕"/>
              </a:rPr>
              <a:t>•  다른 프로시저에서 켜기: ORA-01924</a:t>
            </a:r>
          </a:p>
          <a:p>
            <a:pPr algn="l">
              <a:spcAft>
                <a:spcPts val="1000"/>
              </a:spcAft>
            </a:pPr>
            <a:r>
              <a:rPr sz="1700" b="0">
                <a:solidFill>
                  <a:srgbClr val="222222"/>
                </a:solidFill>
                <a:latin typeface="맑은 고딕"/>
              </a:rPr>
              <a:t>•  정의자 권한 지정 프로시저: ORA-06565</a:t>
            </a:r>
          </a:p>
          <a:p>
            <a:pPr algn="l">
              <a:spcAft>
                <a:spcPts val="1000"/>
              </a:spcAft>
            </a:pPr>
            <a:r>
              <a:rPr sz="1700" b="0">
                <a:solidFill>
                  <a:srgbClr val="222222"/>
                </a:solidFill>
                <a:latin typeface="맑은 고딕"/>
              </a:rPr>
              <a:t>•  호출자 권한 지정 프로시저: 활성화</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세션 하나에서 일어나는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애플리케이션의 호출이 출발점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로그인: 직접 권한과 기본 역할만</a:t>
            </a:r>
          </a:p>
          <a:p>
            <a:pPr algn="l">
              <a:spcAft>
                <a:spcPts val="1000"/>
              </a:spcAft>
            </a:pPr>
            <a:r>
              <a:rPr sz="1700" b="0">
                <a:solidFill>
                  <a:srgbClr val="222222"/>
                </a:solidFill>
                <a:latin typeface="맑은 고딕"/>
              </a:rPr>
              <a:t>•  애플리케이션이 활성화 프로시저 호출</a:t>
            </a:r>
          </a:p>
          <a:p>
            <a:pPr algn="l">
              <a:spcAft>
                <a:spcPts val="1000"/>
              </a:spcAft>
            </a:pPr>
            <a:r>
              <a:rPr sz="1700" b="0">
                <a:solidFill>
                  <a:srgbClr val="222222"/>
                </a:solidFill>
                <a:latin typeface="맑은 고딕"/>
              </a:rPr>
              <a:t>•  프로시저가 세션 속성·매핑 검사</a:t>
            </a:r>
          </a:p>
          <a:p>
            <a:pPr algn="l">
              <a:spcAft>
                <a:spcPts val="1000"/>
              </a:spcAft>
            </a:pPr>
            <a:r>
              <a:rPr sz="1700" b="0">
                <a:solidFill>
                  <a:srgbClr val="222222"/>
                </a:solidFill>
                <a:latin typeface="맑은 고딕"/>
              </a:rPr>
              <a:t>•  통과 시 SET_ROLE, DB가 호출 스택 확인</a:t>
            </a:r>
          </a:p>
          <a:p>
            <a:pPr algn="l">
              <a:spcAft>
                <a:spcPts val="1000"/>
              </a:spcAft>
            </a:pPr>
            <a:r>
              <a:rPr sz="1700" b="0">
                <a:solidFill>
                  <a:srgbClr val="222222"/>
                </a:solidFill>
                <a:latin typeface="맑은 고딕"/>
              </a:rPr>
              <a:t>•  세션 종료나 SET ROLE NONE까지 유지</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맞지 않는 경우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다른 기법을 먼저 검토할 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SQL 도구 사용이 본업인 사용자</a:t>
            </a:r>
          </a:p>
          <a:p>
            <a:pPr algn="l">
              <a:spcAft>
                <a:spcPts val="1000"/>
              </a:spcAft>
            </a:pPr>
            <a:r>
              <a:rPr sz="1700" b="0">
                <a:solidFill>
                  <a:srgbClr val="222222"/>
                </a:solidFill>
                <a:latin typeface="맑은 고딕"/>
              </a:rPr>
              <a:t>•  로그인 직후 호출을 넣을 수 없는 패키지 제품</a:t>
            </a:r>
          </a:p>
          <a:p>
            <a:pPr algn="l">
              <a:spcAft>
                <a:spcPts val="1000"/>
              </a:spcAft>
            </a:pPr>
            <a:r>
              <a:rPr sz="1700" b="0">
                <a:solidFill>
                  <a:srgbClr val="222222"/>
                </a:solidFill>
                <a:latin typeface="맑은 고딕"/>
              </a:rPr>
              <a:t>•  검사 근거가 클라이언트 값뿐인 환경</a:t>
            </a:r>
          </a:p>
          <a:p>
            <a:pPr algn="l">
              <a:spcAft>
                <a:spcPts val="1000"/>
              </a:spcAft>
            </a:pPr>
            <a:r>
              <a:rPr sz="1700" b="0">
                <a:solidFill>
                  <a:srgbClr val="222222"/>
                </a:solidFill>
                <a:latin typeface="맑은 고딕"/>
              </a:rPr>
              <a:t>•  행 범위를 나누는 것이 목적이면 VPD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생성 절차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역할 만들기와 권한 부여</a:t>
            </a:r>
          </a:p>
          <a:p>
            <a:pPr algn="l">
              <a:spcAft>
                <a:spcPts val="800"/>
              </a:spcAft>
            </a:pPr>
            <a:r>
              <a:rPr sz="1600" b="0">
                <a:solidFill>
                  <a:srgbClr val="FFFFFF"/>
                </a:solidFill>
                <a:latin typeface="맑은 고딕"/>
              </a:rPr>
              <a:t>•  활성화 프로시저 작성과 시험</a:t>
            </a:r>
          </a:p>
          <a:p>
            <a:pPr algn="l">
              <a:spcAft>
                <a:spcPts val="800"/>
              </a:spcAft>
            </a:pPr>
            <a:r>
              <a:rPr sz="1600" b="0">
                <a:solidFill>
                  <a:srgbClr val="FFFFFF"/>
                </a:solidFill>
                <a:latin typeface="맑은 고딕"/>
              </a:rPr>
              <a:t>•  도입 순서</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1단계: 역할 만들기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USING 대상은 아직 없어도 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 ROLE ... IDENTIFIED USING sar_admin.proc</a:t>
            </a:r>
          </a:p>
          <a:p>
            <a:pPr algn="l">
              <a:spcAft>
                <a:spcPts val="1000"/>
              </a:spcAft>
            </a:pPr>
            <a:r>
              <a:rPr sz="1700" b="0">
                <a:solidFill>
                  <a:srgbClr val="222222"/>
                </a:solidFill>
                <a:latin typeface="맑은 고딕"/>
              </a:rPr>
              <a:t>•  권한은 역할에: GRANT SELECT ON scott.emp</a:t>
            </a:r>
          </a:p>
          <a:p>
            <a:pPr algn="l">
              <a:spcAft>
                <a:spcPts val="1000"/>
              </a:spcAft>
            </a:pPr>
            <a:r>
              <a:rPr sz="1700" b="0">
                <a:solidFill>
                  <a:srgbClr val="222222"/>
                </a:solidFill>
                <a:latin typeface="맑은 고딕"/>
              </a:rPr>
              <a:t>•  사용자에게 역할을 주지 않는다</a:t>
            </a:r>
          </a:p>
          <a:p>
            <a:pPr algn="l">
              <a:spcAft>
                <a:spcPts val="1000"/>
              </a:spcAft>
            </a:pPr>
            <a:r>
              <a:rPr sz="1700" b="0">
                <a:solidFill>
                  <a:srgbClr val="222222"/>
                </a:solidFill>
                <a:latin typeface="맑은 고딕"/>
              </a:rPr>
              <a:t>•  생성자에게 ADMIN OPTION 자동 부여, DEF=NO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2단계: 활성화 프로시저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매뉴얼이 요구하는 세 조건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AUTHID CURRENT_USER (호출자 권한)</a:t>
            </a:r>
          </a:p>
          <a:p>
            <a:pPr algn="l">
              <a:spcAft>
                <a:spcPts val="1000"/>
              </a:spcAft>
            </a:pPr>
            <a:r>
              <a:rPr sz="1700" b="0">
                <a:solidFill>
                  <a:srgbClr val="222222"/>
                </a:solidFill>
                <a:latin typeface="맑은 고딕"/>
              </a:rPr>
              <a:t>•  세션을 검증하는 검사 하나 이상</a:t>
            </a:r>
          </a:p>
          <a:p>
            <a:pPr algn="l">
              <a:spcAft>
                <a:spcPts val="1000"/>
              </a:spcAft>
            </a:pPr>
            <a:r>
              <a:rPr sz="1700" b="0">
                <a:solidFill>
                  <a:srgbClr val="222222"/>
                </a:solidFill>
                <a:latin typeface="맑은 고딕"/>
              </a:rPr>
              <a:t>•  통과 시 DBMS_SESSION.SET_ROLE</a:t>
            </a:r>
          </a:p>
          <a:p>
            <a:pPr algn="l">
              <a:spcAft>
                <a:spcPts val="1000"/>
              </a:spcAft>
            </a:pPr>
            <a:r>
              <a:rPr sz="1700" b="0">
                <a:solidFill>
                  <a:srgbClr val="222222"/>
                </a:solidFill>
                <a:latin typeface="맑은 고딕"/>
              </a:rPr>
              <a:t>•  매핑 없음은 예외 처리로 조용히 종료</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시험: 통과 경로와 실패 경로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SESSION_ROLES로 전후 비교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BLAKE(MANAGER): 호출 후 MANAGER_ROLE, 급여 조회</a:t>
            </a:r>
          </a:p>
          <a:p>
            <a:pPr algn="l">
              <a:spcAft>
                <a:spcPts val="1000"/>
              </a:spcAft>
            </a:pPr>
            <a:r>
              <a:rPr sz="1700" b="0">
                <a:solidFill>
                  <a:srgbClr val="222222"/>
                </a:solidFill>
                <a:latin typeface="맑은 고딕"/>
              </a:rPr>
              <a:t>•  JAMES(CLERK): 호출 성공, 역할 없음, ORA-00942</a:t>
            </a:r>
          </a:p>
          <a:p>
            <a:pPr algn="l">
              <a:spcAft>
                <a:spcPts val="1000"/>
              </a:spcAft>
            </a:pPr>
            <a:r>
              <a:rPr sz="1700" b="0">
                <a:solidFill>
                  <a:srgbClr val="222222"/>
                </a:solidFill>
                <a:latin typeface="맑은 고딕"/>
              </a:rPr>
              <a:t>•  실패 경로도 반드시 시험</a:t>
            </a:r>
          </a:p>
          <a:p>
            <a:pPr algn="l">
              <a:spcAft>
                <a:spcPts val="1000"/>
              </a:spcAft>
            </a:pPr>
            <a:r>
              <a:rPr sz="1700" b="0">
                <a:solidFill>
                  <a:srgbClr val="222222"/>
                </a:solidFill>
                <a:latin typeface="맑은 고딕"/>
              </a:rPr>
              <a:t>•  검사 실패는 오류 없이 끝난다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패키지로 구성하기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역할이 여럿일 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AUTHID CURRENT_USER는 패키지 명세에</a:t>
            </a:r>
          </a:p>
          <a:p>
            <a:pPr algn="l">
              <a:spcAft>
                <a:spcPts val="1000"/>
              </a:spcAft>
            </a:pPr>
            <a:r>
              <a:rPr sz="1700" b="0">
                <a:solidFill>
                  <a:srgbClr val="222222"/>
                </a:solidFill>
                <a:latin typeface="맑은 고딕"/>
              </a:rPr>
              <a:t>•  한 패키지를 여러 역할의 USING에 지정 가능</a:t>
            </a:r>
          </a:p>
          <a:p>
            <a:pPr algn="l">
              <a:spcAft>
                <a:spcPts val="1000"/>
              </a:spcAft>
            </a:pPr>
            <a:r>
              <a:rPr sz="1700" b="0">
                <a:solidFill>
                  <a:srgbClr val="222222"/>
                </a:solidFill>
                <a:latin typeface="맑은 고딕"/>
              </a:rPr>
              <a:t>•  패키지 안 코드는 그 역할들을 모두 켤 수 있다</a:t>
            </a:r>
          </a:p>
          <a:p>
            <a:pPr algn="l">
              <a:spcAft>
                <a:spcPts val="1000"/>
              </a:spcAft>
            </a:pPr>
            <a:r>
              <a:rPr sz="1700" b="0">
                <a:solidFill>
                  <a:srgbClr val="222222"/>
                </a:solidFill>
                <a:latin typeface="맑은 고딕"/>
              </a:rPr>
              <a:t>•  프로시저별 역할 대응은 코드 검토로 보장</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도입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마지막 단계가 빠지면 효과가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권한 선정 → 보안 계정 → 역할 → 권한 부여</a:t>
            </a:r>
          </a:p>
          <a:p>
            <a:pPr algn="l">
              <a:spcAft>
                <a:spcPts val="1000"/>
              </a:spcAft>
            </a:pPr>
            <a:r>
              <a:rPr sz="1700" b="0">
                <a:solidFill>
                  <a:srgbClr val="222222"/>
                </a:solidFill>
                <a:latin typeface="맑은 고딕"/>
              </a:rPr>
              <a:t>•  프로시저 작성 → 실행 권한 → 앱 수정</a:t>
            </a:r>
          </a:p>
          <a:p>
            <a:pPr algn="l">
              <a:spcAft>
                <a:spcPts val="1000"/>
              </a:spcAft>
            </a:pPr>
            <a:r>
              <a:rPr sz="1700" b="0">
                <a:solidFill>
                  <a:srgbClr val="222222"/>
                </a:solidFill>
                <a:latin typeface="맑은 고딕"/>
              </a:rPr>
              <a:t>•  시험(통과·실패) → 직접 권한 회수</a:t>
            </a:r>
          </a:p>
          <a:p>
            <a:pPr algn="l">
              <a:spcAft>
                <a:spcPts val="1000"/>
              </a:spcAft>
            </a:pPr>
            <a:r>
              <a:rPr sz="1700" b="0">
                <a:solidFill>
                  <a:srgbClr val="222222"/>
                </a:solidFill>
                <a:latin typeface="맑은 고딕"/>
              </a:rPr>
              <a:t>•  앱 배포가 회수보다 먼저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회수가 빠진 도입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SQL 도구에서 여전히 급여가 보인다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역할에 권한 부여, 프로시저 배포 완료</a:t>
            </a:r>
          </a:p>
          <a:p>
            <a:pPr algn="l">
              <a:spcAft>
                <a:spcPts val="1000"/>
              </a:spcAft>
            </a:pPr>
            <a:r>
              <a:rPr sz="1700" b="0">
                <a:solidFill>
                  <a:srgbClr val="222222"/>
                </a:solidFill>
                <a:latin typeface="맑은 고딕"/>
              </a:rPr>
              <a:t>•  SQL*Plus로 접속하니 급여 조회 성공</a:t>
            </a:r>
          </a:p>
          <a:p>
            <a:pPr algn="l">
              <a:spcAft>
                <a:spcPts val="1000"/>
              </a:spcAft>
            </a:pPr>
            <a:r>
              <a:rPr sz="1700" b="0">
                <a:solidFill>
                  <a:srgbClr val="222222"/>
                </a:solidFill>
                <a:latin typeface="맑은 고딕"/>
              </a:rPr>
              <a:t>•  도입 전 직접 SELECT 권한이 남아 있었다</a:t>
            </a:r>
          </a:p>
          <a:p>
            <a:pPr algn="l">
              <a:spcAft>
                <a:spcPts val="1000"/>
              </a:spcAft>
            </a:pPr>
            <a:r>
              <a:rPr sz="1700" b="0">
                <a:solidFill>
                  <a:srgbClr val="222222"/>
                </a:solidFill>
                <a:latin typeface="맑은 고딕"/>
              </a:rPr>
              <a:t>•  회수 후 ORA-00942까지 시험 항목에 추가</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활성화 프로시저 설계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호출자 권한이어야 하는 이유</a:t>
            </a:r>
          </a:p>
          <a:p>
            <a:pPr algn="l">
              <a:spcAft>
                <a:spcPts val="800"/>
              </a:spcAft>
            </a:pPr>
            <a:r>
              <a:rPr sz="1600" b="0">
                <a:solidFill>
                  <a:srgbClr val="FFFFFF"/>
                </a:solidFill>
                <a:latin typeface="맑은 고딕"/>
              </a:rPr>
              <a:t>•  검사 조건 고르기</a:t>
            </a:r>
          </a:p>
          <a:p>
            <a:pPr algn="l">
              <a:spcAft>
                <a:spcPts val="800"/>
              </a:spcAft>
            </a:pPr>
            <a:r>
              <a:rPr sz="1600" b="0">
                <a:solidFill>
                  <a:srgbClr val="FFFFFF"/>
                </a:solidFill>
                <a:latin typeface="맑은 고딕"/>
              </a:rPr>
              <a:t>•  실패 기록과 다른 기법 연계</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호출자 권한이어야 하는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정의자 권한이면 ORA-06565</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AUTHID 절이 없으면 정의자 권한</a:t>
            </a:r>
          </a:p>
          <a:p>
            <a:pPr algn="l">
              <a:spcAft>
                <a:spcPts val="1000"/>
              </a:spcAft>
            </a:pPr>
            <a:r>
              <a:rPr sz="1700" b="0">
                <a:solidFill>
                  <a:srgbClr val="222222"/>
                </a:solidFill>
                <a:latin typeface="맑은 고딕"/>
              </a:rPr>
              <a:t>•  정의자 권한 코드 안에서는 역할이 꺼져 있다</a:t>
            </a:r>
          </a:p>
          <a:p>
            <a:pPr algn="l">
              <a:spcAft>
                <a:spcPts val="1000"/>
              </a:spcAft>
            </a:pPr>
            <a:r>
              <a:rPr sz="1700" b="0">
                <a:solidFill>
                  <a:srgbClr val="222222"/>
                </a:solidFill>
                <a:latin typeface="맑은 고딕"/>
              </a:rPr>
              <a:t>•  역할을 켜려 하면 ORA-06565</a:t>
            </a:r>
          </a:p>
          <a:p>
            <a:pPr algn="l">
              <a:spcAft>
                <a:spcPts val="1000"/>
              </a:spcAft>
            </a:pPr>
            <a:r>
              <a:rPr sz="1700" b="0">
                <a:solidFill>
                  <a:srgbClr val="222222"/>
                </a:solidFill>
                <a:latin typeface="맑은 고딕"/>
              </a:rPr>
              <a:t>•  호출자 권한에서 켠 역할은 세션에 남는다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SET ROLE과 DBMS_SESSION.SET_ROLE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켜는 방법과 끄는 방법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정적 SQL 불가: EXECUTE IMMEDIATE 또는 SET_ROLE</a:t>
            </a:r>
          </a:p>
          <a:p>
            <a:pPr algn="l">
              <a:spcAft>
                <a:spcPts val="1000"/>
              </a:spcAft>
            </a:pPr>
            <a:r>
              <a:rPr sz="1700" b="0">
                <a:solidFill>
                  <a:srgbClr val="222222"/>
                </a:solidFill>
                <a:latin typeface="맑은 고딕"/>
              </a:rPr>
              <a:t>•  SET ROLE ALL은 이 역할에 쓸 수 없다</a:t>
            </a:r>
          </a:p>
          <a:p>
            <a:pPr algn="l">
              <a:spcAft>
                <a:spcPts val="1000"/>
              </a:spcAft>
            </a:pPr>
            <a:r>
              <a:rPr sz="1700" b="0">
                <a:solidFill>
                  <a:srgbClr val="222222"/>
                </a:solidFill>
                <a:latin typeface="맑은 고딕"/>
              </a:rPr>
              <a:t>•  지정한 역할 외의 역할은 꺼진다</a:t>
            </a:r>
          </a:p>
          <a:p>
            <a:pPr algn="l">
              <a:spcAft>
                <a:spcPts val="1000"/>
              </a:spcAft>
            </a:pPr>
            <a:r>
              <a:rPr sz="1700" b="0">
                <a:solidFill>
                  <a:srgbClr val="222222"/>
                </a:solidFill>
                <a:latin typeface="맑은 고딕"/>
              </a:rPr>
              <a:t>•  끄기 SET_ROLE('NONE')은 제약 없음</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검사 조건의 출처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누가 채우는 값인가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DB가 채움: SESSION_USER, IP_ADDRESS, PROXY_USER</a:t>
            </a:r>
          </a:p>
          <a:p>
            <a:pPr algn="l">
              <a:spcAft>
                <a:spcPts val="1000"/>
              </a:spcAft>
            </a:pPr>
            <a:r>
              <a:rPr sz="1700" b="0">
                <a:solidFill>
                  <a:srgbClr val="222222"/>
                </a:solidFill>
                <a:latin typeface="맑은 고딕"/>
              </a:rPr>
              <a:t>•  DB가 채움: AUTHENTICATION_METHOD, SYSDATE</a:t>
            </a:r>
          </a:p>
          <a:p>
            <a:pPr algn="l">
              <a:spcAft>
                <a:spcPts val="1000"/>
              </a:spcAft>
            </a:pPr>
            <a:r>
              <a:rPr sz="1700" b="0">
                <a:solidFill>
                  <a:srgbClr val="222222"/>
                </a:solidFill>
                <a:latin typeface="맑은 고딕"/>
              </a:rPr>
              <a:t>•  클라이언트가 채움: MODULE, CLIENT_IDENTIFIER</a:t>
            </a:r>
          </a:p>
          <a:p>
            <a:pPr algn="l">
              <a:spcAft>
                <a:spcPts val="1000"/>
              </a:spcAft>
            </a:pPr>
            <a:r>
              <a:rPr sz="1700" b="0">
                <a:solidFill>
                  <a:srgbClr val="222222"/>
                </a:solidFill>
                <a:latin typeface="맑은 고딕"/>
              </a:rPr>
              <a:t>•  신뢰 패키지가 채움: 애플리케이션 컨텍스트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MODULE은 위조된다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실습 4의 결과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조건: MODULE='HRAPP' 그리고 IP 172.16.%</a:t>
            </a:r>
          </a:p>
          <a:p>
            <a:pPr algn="l">
              <a:spcAft>
                <a:spcPts val="1000"/>
              </a:spcAft>
            </a:pPr>
            <a:r>
              <a:rPr sz="1700" b="0">
                <a:solidFill>
                  <a:srgbClr val="222222"/>
                </a:solidFill>
                <a:latin typeface="맑은 고딕"/>
              </a:rPr>
              <a:t>•  로컬 접속: IP 없음, MODULE=SQL*Plus → 실패</a:t>
            </a:r>
          </a:p>
          <a:p>
            <a:pPr algn="l">
              <a:spcAft>
                <a:spcPts val="1000"/>
              </a:spcAft>
            </a:pPr>
            <a:r>
              <a:rPr sz="1700" b="0">
                <a:solidFill>
                  <a:srgbClr val="222222"/>
                </a:solidFill>
                <a:latin typeface="맑은 고딕"/>
              </a:rPr>
              <a:t>•  @orcl 접속 + SET_MODULE('HRAPP') → 통과</a:t>
            </a:r>
          </a:p>
          <a:p>
            <a:pPr algn="l">
              <a:spcAft>
                <a:spcPts val="1000"/>
              </a:spcAft>
            </a:pPr>
            <a:r>
              <a:rPr sz="1700" b="0">
                <a:solidFill>
                  <a:srgbClr val="222222"/>
                </a:solidFill>
                <a:latin typeface="맑은 고딕"/>
              </a:rPr>
              <a:t>•  로컬 접속의 IP NULL 판정을 확인한다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매뉴얼 예제: IP와 시간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서로 다른 출처의 조건 조합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지정 IP 두 개에서만</a:t>
            </a:r>
          </a:p>
          <a:p>
            <a:pPr algn="l">
              <a:spcAft>
                <a:spcPts val="1000"/>
              </a:spcAft>
            </a:pPr>
            <a:r>
              <a:rPr sz="1700" b="0">
                <a:solidFill>
                  <a:srgbClr val="222222"/>
                </a:solidFill>
                <a:latin typeface="맑은 고딕"/>
              </a:rPr>
              <a:t>•  08시부터 17시 사이에만</a:t>
            </a:r>
          </a:p>
          <a:p>
            <a:pPr algn="l">
              <a:spcAft>
                <a:spcPts val="1000"/>
              </a:spcAft>
            </a:pPr>
            <a:r>
              <a:rPr sz="1700" b="0">
                <a:solidFill>
                  <a:srgbClr val="222222"/>
                </a:solidFill>
                <a:latin typeface="맑은 고딕"/>
              </a:rPr>
              <a:t>•  EXECUTE IMMEDIATE 'SET ROLE hr_admin'</a:t>
            </a:r>
          </a:p>
          <a:p>
            <a:pPr algn="l">
              <a:spcAft>
                <a:spcPts val="1000"/>
              </a:spcAft>
            </a:pPr>
            <a:r>
              <a:rPr sz="1700" b="0">
                <a:solidFill>
                  <a:srgbClr val="222222"/>
                </a:solidFill>
                <a:latin typeface="맑은 고딕"/>
              </a:rPr>
              <a:t>•  시간 조건은 켜는 순간에만 검사</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검사 실패를 기록하기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조용한 실패는 조용한 공격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실패는 오류 없이 끝난다</a:t>
            </a:r>
          </a:p>
          <a:p>
            <a:pPr algn="l">
              <a:spcAft>
                <a:spcPts val="1000"/>
              </a:spcAft>
            </a:pPr>
            <a:r>
              <a:rPr sz="1700" b="0">
                <a:solidFill>
                  <a:srgbClr val="222222"/>
                </a:solidFill>
                <a:latin typeface="맑은 고딕"/>
              </a:rPr>
              <a:t>•  자율 트랜잭션 로그 프로시저로 기록</a:t>
            </a:r>
          </a:p>
          <a:p>
            <a:pPr algn="l">
              <a:spcAft>
                <a:spcPts val="1000"/>
              </a:spcAft>
            </a:pPr>
            <a:r>
              <a:rPr sz="1700" b="0">
                <a:solidFill>
                  <a:srgbClr val="222222"/>
                </a:solidFill>
                <a:latin typeface="맑은 고딕"/>
              </a:rPr>
              <a:t>•  시각, 사용자, IP, MODULE, 사유</a:t>
            </a:r>
          </a:p>
          <a:p>
            <a:pPr algn="l">
              <a:spcAft>
                <a:spcPts val="1000"/>
              </a:spcAft>
            </a:pPr>
            <a:r>
              <a:rPr sz="1700" b="0">
                <a:solidFill>
                  <a:srgbClr val="222222"/>
                </a:solidFill>
                <a:latin typeface="맑은 고딕"/>
              </a:rPr>
              <a:t>•  권한 사용은 Unified Auditing ROLES 절</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프록시 인증·컨텍스트와 함께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위조할 수 없는 근거 만들기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PROXY_USER = 애플리케이션 서버 계정</a:t>
            </a:r>
          </a:p>
          <a:p>
            <a:pPr algn="l">
              <a:spcAft>
                <a:spcPts val="1000"/>
              </a:spcAft>
            </a:pPr>
            <a:r>
              <a:rPr sz="1700" b="0">
                <a:solidFill>
                  <a:srgbClr val="222222"/>
                </a:solidFill>
                <a:latin typeface="맑은 고딕"/>
              </a:rPr>
              <a:t>•  직접 접속하면 PROXY_USER가 NULL</a:t>
            </a:r>
          </a:p>
          <a:p>
            <a:pPr algn="l">
              <a:spcAft>
                <a:spcPts val="1000"/>
              </a:spcAft>
            </a:pPr>
            <a:r>
              <a:rPr sz="1700" b="0">
                <a:solidFill>
                  <a:srgbClr val="222222"/>
                </a:solidFill>
                <a:latin typeface="맑은 고딕"/>
              </a:rPr>
              <a:t>•  신뢰 패키지가 넣은 컨텍스트 값</a:t>
            </a:r>
          </a:p>
          <a:p>
            <a:pPr algn="l">
              <a:spcAft>
                <a:spcPts val="1000"/>
              </a:spcAft>
            </a:pPr>
            <a:r>
              <a:rPr sz="1700" b="0">
                <a:solidFill>
                  <a:srgbClr val="222222"/>
                </a:solidFill>
                <a:latin typeface="맑은 고딕"/>
              </a:rPr>
              <a:t>•  예: 2차 인증 후 AUTH_LEVEL=2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화면 이름만 맞추면 통과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MODULE 단독 검사의 결과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검사 조건: MODULE='HRAPP'만</a:t>
            </a:r>
          </a:p>
          <a:p>
            <a:pPr algn="l">
              <a:spcAft>
                <a:spcPts val="1000"/>
              </a:spcAft>
            </a:pPr>
            <a:r>
              <a:rPr sz="1700" b="0">
                <a:solidFill>
                  <a:srgbClr val="222222"/>
                </a:solidFill>
                <a:latin typeface="맑은 고딕"/>
              </a:rPr>
              <a:t>•  개발자가 SQL*Plus에서 SET_MODULE 후 호출</a:t>
            </a:r>
          </a:p>
          <a:p>
            <a:pPr algn="l">
              <a:spcAft>
                <a:spcPts val="1000"/>
              </a:spcAft>
            </a:pPr>
            <a:r>
              <a:rPr sz="1700" b="0">
                <a:solidFill>
                  <a:srgbClr val="222222"/>
                </a:solidFill>
                <a:latin typeface="맑은 고딕"/>
              </a:rPr>
              <a:t>•  급여 테이블 조회 기록이 감사에서 발견</a:t>
            </a:r>
          </a:p>
          <a:p>
            <a:pPr algn="l">
              <a:spcAft>
                <a:spcPts val="1000"/>
              </a:spcAft>
            </a:pPr>
            <a:r>
              <a:rPr sz="1700" b="0">
                <a:solidFill>
                  <a:srgbClr val="222222"/>
                </a:solidFill>
                <a:latin typeface="맑은 고딕"/>
              </a:rPr>
              <a:t>•  PROXY_USER + 서버 IP로 조건 교체, 실패 기록</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활성화 범위와 제약</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세션 단위 활성화</a:t>
            </a:r>
          </a:p>
          <a:p>
            <a:pPr algn="l">
              <a:spcAft>
                <a:spcPts val="800"/>
              </a:spcAft>
            </a:pPr>
            <a:r>
              <a:rPr sz="1600" b="0">
                <a:solidFill>
                  <a:srgbClr val="FFFFFF"/>
                </a:solidFill>
                <a:latin typeface="맑은 고딕"/>
              </a:rPr>
              <a:t>•  기본 역할과 LOGON 트리거</a:t>
            </a:r>
          </a:p>
          <a:p>
            <a:pPr algn="l">
              <a:spcAft>
                <a:spcPts val="800"/>
              </a:spcAft>
            </a:pPr>
            <a:r>
              <a:rPr sz="1600" b="0">
                <a:solidFill>
                  <a:srgbClr val="FFFFFF"/>
                </a:solidFill>
                <a:latin typeface="맑은 고딕"/>
              </a:rPr>
              <a:t>•  프로시저가 사라지면</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세션 단위로 켜지고 꺼진다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연결 풀에서 특히 주의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켠 역할은 그 세션에만</a:t>
            </a:r>
          </a:p>
          <a:p>
            <a:pPr algn="l">
              <a:spcAft>
                <a:spcPts val="1000"/>
              </a:spcAft>
            </a:pPr>
            <a:r>
              <a:rPr sz="1700" b="0">
                <a:solidFill>
                  <a:srgbClr val="222222"/>
                </a:solidFill>
                <a:latin typeface="맑은 고딕"/>
              </a:rPr>
              <a:t>•  SET ROLE NONE으로 언제든 끌 수 있다</a:t>
            </a:r>
          </a:p>
          <a:p>
            <a:pPr algn="l">
              <a:spcAft>
                <a:spcPts val="1000"/>
              </a:spcAft>
            </a:pPr>
            <a:r>
              <a:rPr sz="1700" b="0">
                <a:solidFill>
                  <a:srgbClr val="222222"/>
                </a:solidFill>
                <a:latin typeface="맑은 고딕"/>
              </a:rPr>
              <a:t>•  다른 세션의 역할 상태를 보는 뷰는 없다</a:t>
            </a:r>
          </a:p>
          <a:p>
            <a:pPr algn="l">
              <a:spcAft>
                <a:spcPts val="1000"/>
              </a:spcAft>
            </a:pPr>
            <a:r>
              <a:rPr sz="1700" b="0">
                <a:solidFill>
                  <a:srgbClr val="222222"/>
                </a:solidFill>
                <a:latin typeface="맑은 고딕"/>
              </a:rPr>
              <a:t>•  풀 반납 시 역할을 끄지 않으면 다음 요청이 물려받음</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기본 역할로 지정하면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오류 없이 무시된다 (19.3)</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GRANT 후 DEFAULT ROLE manager_role → User altered.</a:t>
            </a:r>
          </a:p>
          <a:p>
            <a:pPr algn="l">
              <a:spcAft>
                <a:spcPts val="1000"/>
              </a:spcAft>
            </a:pPr>
            <a:r>
              <a:rPr sz="1700" b="0">
                <a:solidFill>
                  <a:srgbClr val="222222"/>
                </a:solidFill>
                <a:latin typeface="맑은 고딕"/>
              </a:rPr>
              <a:t>•  DBA_ROLE_PRIVS.DEFAULT_ROLE은 NO 그대로</a:t>
            </a:r>
          </a:p>
          <a:p>
            <a:pPr algn="l">
              <a:spcAft>
                <a:spcPts val="1000"/>
              </a:spcAft>
            </a:pPr>
            <a:r>
              <a:rPr sz="1700" b="0">
                <a:solidFill>
                  <a:srgbClr val="222222"/>
                </a:solidFill>
                <a:latin typeface="맑은 고딕"/>
              </a:rPr>
              <a:t>•  새 세션에서도 역할 없음, ORA-00942</a:t>
            </a:r>
          </a:p>
          <a:p>
            <a:pPr algn="l">
              <a:spcAft>
                <a:spcPts val="1000"/>
              </a:spcAft>
            </a:pPr>
            <a:r>
              <a:rPr sz="1700" b="0">
                <a:solidFill>
                  <a:srgbClr val="222222"/>
                </a:solidFill>
                <a:latin typeface="맑은 고딕"/>
              </a:rPr>
              <a:t>•  직접 부여해도 SET ROLE은 ORA-28201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LOGON 트리거로 켜기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로그인은 되지만 역할은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매뉴얼: LOGON 트리거로 켜거나 끌 수 없다</a:t>
            </a:r>
          </a:p>
          <a:p>
            <a:pPr algn="l">
              <a:spcAft>
                <a:spcPts val="1000"/>
              </a:spcAft>
            </a:pPr>
            <a:r>
              <a:rPr sz="1700" b="0">
                <a:solidFill>
                  <a:srgbClr val="222222"/>
                </a:solidFill>
                <a:latin typeface="맑은 고딕"/>
              </a:rPr>
              <a:t>•  스키마 LOGON 트리거에서 프로시저 호출</a:t>
            </a:r>
          </a:p>
          <a:p>
            <a:pPr algn="l">
              <a:spcAft>
                <a:spcPts val="1000"/>
              </a:spcAft>
            </a:pPr>
            <a:r>
              <a:rPr sz="1700" b="0">
                <a:solidFill>
                  <a:srgbClr val="222222"/>
                </a:solidFill>
                <a:latin typeface="맑은 고딕"/>
              </a:rPr>
              <a:t>•  로그인 정상, SESSION_ROLES 비어 있음</a:t>
            </a:r>
          </a:p>
          <a:p>
            <a:pPr algn="l">
              <a:spcAft>
                <a:spcPts val="1000"/>
              </a:spcAft>
            </a:pPr>
            <a:r>
              <a:rPr sz="1700" b="0">
                <a:solidFill>
                  <a:srgbClr val="222222"/>
                </a:solidFill>
                <a:latin typeface="맑은 고딕"/>
              </a:rPr>
              <a:t>•  애플리케이션이 로그인 직후 직접 호출</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아침마다 배치 권한 오류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기본 역할 지정을 믿었다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배치 계정에 역할 부여 + 기본 역할 지정</a:t>
            </a:r>
          </a:p>
          <a:p>
            <a:pPr algn="l">
              <a:spcAft>
                <a:spcPts val="1000"/>
              </a:spcAft>
            </a:pPr>
            <a:r>
              <a:rPr sz="1700" b="0">
                <a:solidFill>
                  <a:srgbClr val="222222"/>
                </a:solidFill>
                <a:latin typeface="맑은 고딕"/>
              </a:rPr>
              <a:t>•  매일 첫 실행이 ORA-00942</a:t>
            </a:r>
          </a:p>
          <a:p>
            <a:pPr algn="l">
              <a:spcAft>
                <a:spcPts val="1000"/>
              </a:spcAft>
            </a:pPr>
            <a:r>
              <a:rPr sz="1700" b="0">
                <a:solidFill>
                  <a:srgbClr val="222222"/>
                </a:solidFill>
                <a:latin typeface="맑은 고딕"/>
              </a:rPr>
              <a:t>•  DEFAULT_ROLE이 NO로 남아 있었다</a:t>
            </a:r>
          </a:p>
          <a:p>
            <a:pPr algn="l">
              <a:spcAft>
                <a:spcPts val="1000"/>
              </a:spcAft>
            </a:pPr>
            <a:r>
              <a:rPr sz="1700" b="0">
                <a:solidFill>
                  <a:srgbClr val="222222"/>
                </a:solidFill>
                <a:latin typeface="맑은 고딕"/>
              </a:rPr>
              <a:t>•  배치 첫 줄에 프로시저 호출, 역할 회수</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활성화 프로시저가 사라지면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딕셔너리 연결은 남는다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DROP 후 호출: PLS-00201</a:t>
            </a:r>
          </a:p>
          <a:p>
            <a:pPr algn="l">
              <a:spcAft>
                <a:spcPts val="1000"/>
              </a:spcAft>
            </a:pPr>
            <a:r>
              <a:rPr sz="1700" b="0">
                <a:solidFill>
                  <a:srgbClr val="222222"/>
                </a:solidFill>
                <a:latin typeface="맑은 고딕"/>
              </a:rPr>
              <a:t>•  INVALID면 PLS-00905류 오류</a:t>
            </a:r>
          </a:p>
          <a:p>
            <a:pPr algn="l">
              <a:spcAft>
                <a:spcPts val="1000"/>
              </a:spcAft>
            </a:pPr>
            <a:r>
              <a:rPr sz="1700" b="0">
                <a:solidFill>
                  <a:srgbClr val="222222"/>
                </a:solidFill>
                <a:latin typeface="맑은 고딕"/>
              </a:rPr>
              <a:t>•  DBA_APPLICATION_ROLES에는 연결이 그대로</a:t>
            </a:r>
          </a:p>
          <a:p>
            <a:pPr algn="l">
              <a:spcAft>
                <a:spcPts val="1000"/>
              </a:spcAft>
            </a:pPr>
            <a:r>
              <a:rPr sz="1700" b="0">
                <a:solidFill>
                  <a:srgbClr val="222222"/>
                </a:solidFill>
                <a:latin typeface="맑은 고딕"/>
              </a:rPr>
              <a:t>•  같은 이름으로 다시 만들면 복구</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다른 기법과의 비교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통제 범위 비교</a:t>
            </a:r>
          </a:p>
          <a:p>
            <a:pPr algn="l">
              <a:spcAft>
                <a:spcPts val="800"/>
              </a:spcAft>
            </a:pPr>
            <a:r>
              <a:rPr sz="1600" b="0">
                <a:solidFill>
                  <a:srgbClr val="FFFFFF"/>
                </a:solidFill>
                <a:latin typeface="맑은 고딕"/>
              </a:rPr>
              <a:t>•  권한 분석</a:t>
            </a:r>
          </a:p>
          <a:p>
            <a:pPr algn="l">
              <a:spcAft>
                <a:spcPts val="800"/>
              </a:spcAft>
            </a:pPr>
            <a:r>
              <a:rPr sz="1600" b="0">
                <a:solidFill>
                  <a:srgbClr val="FFFFFF"/>
                </a:solidFill>
                <a:latin typeface="맑은 고딕"/>
              </a:rPr>
              <a:t>•  VPD와 함께 쓰기</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기법별 통제 범위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어디서 판단하는가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직접 부여: 조건 없음</a:t>
            </a:r>
          </a:p>
          <a:p>
            <a:pPr algn="l">
              <a:spcAft>
                <a:spcPts val="1000"/>
              </a:spcAft>
            </a:pPr>
            <a:r>
              <a:rPr sz="1700" b="0">
                <a:solidFill>
                  <a:srgbClr val="222222"/>
                </a:solidFill>
                <a:latin typeface="맑은 고딕"/>
              </a:rPr>
              <a:t>•  비밀번호 역할: 비밀번호를 알면 활성화</a:t>
            </a:r>
          </a:p>
          <a:p>
            <a:pPr algn="l">
              <a:spcAft>
                <a:spcPts val="1000"/>
              </a:spcAft>
            </a:pPr>
            <a:r>
              <a:rPr sz="1700" b="0">
                <a:solidFill>
                  <a:srgbClr val="222222"/>
                </a:solidFill>
                <a:latin typeface="맑은 고딕"/>
              </a:rPr>
              <a:t>•  SAR: 프로시저 조건 충족 시 활성화</a:t>
            </a:r>
          </a:p>
          <a:p>
            <a:pPr algn="l">
              <a:spcAft>
                <a:spcPts val="1000"/>
              </a:spcAft>
            </a:pPr>
            <a:r>
              <a:rPr sz="1700" b="0">
                <a:solidFill>
                  <a:srgbClr val="222222"/>
                </a:solidFill>
                <a:latin typeface="맑은 고딕"/>
              </a:rPr>
              <a:t>•  프록시 WITH ROLE: 프록시 세션의 역할 제한</a:t>
            </a:r>
          </a:p>
          <a:p>
            <a:pPr algn="l">
              <a:spcAft>
                <a:spcPts val="1000"/>
              </a:spcAft>
            </a:pPr>
            <a:r>
              <a:rPr sz="1700" b="0">
                <a:solidFill>
                  <a:srgbClr val="222222"/>
                </a:solidFill>
                <a:latin typeface="맑은 고딕"/>
              </a:rPr>
              <a:t>•  VPD: 행·컬럼 범위</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권한 분석으로 대상 고르기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실제로 쓰는 권한부터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DBMS_PRIVILEGE_CAPTURE (Privilege Analysis)</a:t>
            </a:r>
          </a:p>
          <a:p>
            <a:pPr algn="l">
              <a:spcAft>
                <a:spcPts val="1000"/>
              </a:spcAft>
            </a:pPr>
            <a:r>
              <a:rPr sz="1700" b="0">
                <a:solidFill>
                  <a:srgbClr val="222222"/>
                </a:solidFill>
                <a:latin typeface="맑은 고딕"/>
              </a:rPr>
              <a:t>•  19c EE에 포함</a:t>
            </a:r>
          </a:p>
          <a:p>
            <a:pPr algn="l">
              <a:spcAft>
                <a:spcPts val="1000"/>
              </a:spcAft>
            </a:pPr>
            <a:r>
              <a:rPr sz="1700" b="0">
                <a:solidFill>
                  <a:srgbClr val="222222"/>
                </a:solidFill>
                <a:latin typeface="맑은 고딕"/>
              </a:rPr>
              <a:t>•  범위: DB 전체, 역할, 조건(MODULE 등)</a:t>
            </a:r>
          </a:p>
          <a:p>
            <a:pPr algn="l">
              <a:spcAft>
                <a:spcPts val="1000"/>
              </a:spcAft>
            </a:pPr>
            <a:r>
              <a:rPr sz="1700" b="0">
                <a:solidFill>
                  <a:srgbClr val="222222"/>
                </a:solidFill>
                <a:latin typeface="맑은 고딕"/>
              </a:rPr>
              <a:t>•  DBA_USED_PRIVS, DBA_UNUSED_PRIVS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VPD와 함께 쓰기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권한은 SAR, 범위는 VPD</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SAR: 업무 화면 경유 세션만 테이블 접근</a:t>
            </a:r>
          </a:p>
          <a:p>
            <a:pPr algn="l">
              <a:spcAft>
                <a:spcPts val="1000"/>
              </a:spcAft>
            </a:pPr>
            <a:r>
              <a:rPr sz="1700" b="0">
                <a:solidFill>
                  <a:srgbClr val="222222"/>
                </a:solidFill>
                <a:latin typeface="맑은 고딕"/>
              </a:rPr>
              <a:t>•  VPD: 역할이 있어도 자기 부서 행만</a:t>
            </a:r>
          </a:p>
          <a:p>
            <a:pPr algn="l">
              <a:spcAft>
                <a:spcPts val="1000"/>
              </a:spcAft>
            </a:pPr>
            <a:r>
              <a:rPr sz="1700" b="0">
                <a:solidFill>
                  <a:srgbClr val="222222"/>
                </a:solidFill>
                <a:latin typeface="맑은 고딕"/>
              </a:rPr>
              <a:t>•  조건 근거를 같은 컨텍스트에서</a:t>
            </a:r>
          </a:p>
          <a:p>
            <a:pPr algn="l">
              <a:spcAft>
                <a:spcPts val="1000"/>
              </a:spcAft>
            </a:pPr>
            <a:r>
              <a:rPr sz="1700" b="0">
                <a:solidFill>
                  <a:srgbClr val="222222"/>
                </a:solidFill>
                <a:latin typeface="맑은 고딕"/>
              </a:rPr>
              <a:t>•  관리 지점이 하나로 모인다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관련 데이터 딕셔너리 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DBA_APPLICATION_ROLES</a:t>
            </a:r>
          </a:p>
          <a:p>
            <a:pPr algn="l">
              <a:spcAft>
                <a:spcPts val="800"/>
              </a:spcAft>
            </a:pPr>
            <a:r>
              <a:rPr sz="1600" b="0">
                <a:solidFill>
                  <a:srgbClr val="FFFFFF"/>
                </a:solidFill>
                <a:latin typeface="맑은 고딕"/>
              </a:rPr>
              <a:t>•  점검 순서와 정기 점검 항목</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관련 딕셔너리 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역할과 프로시저의 연결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DBA_APPLICATION_ROLES: ROLE, SCHEMA, PACKAGE</a:t>
            </a:r>
          </a:p>
          <a:p>
            <a:pPr algn="l">
              <a:spcAft>
                <a:spcPts val="1000"/>
              </a:spcAft>
            </a:pPr>
            <a:r>
              <a:rPr sz="1700" b="0">
                <a:solidFill>
                  <a:srgbClr val="222222"/>
                </a:solidFill>
                <a:latin typeface="맑은 고딕"/>
              </a:rPr>
              <a:t>•  DBA_ROLES: AUTHENTICATION_TYPE</a:t>
            </a:r>
          </a:p>
          <a:p>
            <a:pPr algn="l">
              <a:spcAft>
                <a:spcPts val="1000"/>
              </a:spcAft>
            </a:pPr>
            <a:r>
              <a:rPr sz="1700" b="0">
                <a:solidFill>
                  <a:srgbClr val="222222"/>
                </a:solidFill>
                <a:latin typeface="맑은 고딕"/>
              </a:rPr>
              <a:t>•  DBA_ROLE_PRIVS: 부여, ADMIN, DEFAULT</a:t>
            </a:r>
          </a:p>
          <a:p>
            <a:pPr algn="l">
              <a:spcAft>
                <a:spcPts val="1000"/>
              </a:spcAft>
            </a:pPr>
            <a:r>
              <a:rPr sz="1700" b="0">
                <a:solidFill>
                  <a:srgbClr val="222222"/>
                </a:solidFill>
                <a:latin typeface="맑은 고딕"/>
              </a:rPr>
              <a:t>•  DBA_TAB_PRIVS: 프로시저 실행 권한자</a:t>
            </a:r>
          </a:p>
          <a:p>
            <a:pPr algn="l">
              <a:spcAft>
                <a:spcPts val="1000"/>
              </a:spcAft>
            </a:pPr>
            <a:r>
              <a:rPr sz="1700" b="0">
                <a:solidFill>
                  <a:srgbClr val="222222"/>
                </a:solidFill>
                <a:latin typeface="맑은 고딕"/>
              </a:rPr>
              <a:t>•  SESSION_ROLES: 현재 세션</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번호 정리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경로마다 다른 번호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ORA-28201: 프로시저 밖에서 직접 켜기</a:t>
            </a:r>
          </a:p>
          <a:p>
            <a:pPr algn="l">
              <a:spcAft>
                <a:spcPts val="1000"/>
              </a:spcAft>
            </a:pPr>
            <a:r>
              <a:rPr sz="1700" b="0">
                <a:solidFill>
                  <a:srgbClr val="222222"/>
                </a:solidFill>
                <a:latin typeface="맑은 고딕"/>
              </a:rPr>
              <a:t>•  ORA-01924: 다른 PL/SQL에서 켜기 (19.3)</a:t>
            </a:r>
          </a:p>
          <a:p>
            <a:pPr algn="l">
              <a:spcAft>
                <a:spcPts val="1000"/>
              </a:spcAft>
            </a:pPr>
            <a:r>
              <a:rPr sz="1700" b="0">
                <a:solidFill>
                  <a:srgbClr val="222222"/>
                </a:solidFill>
                <a:latin typeface="맑은 고딕"/>
              </a:rPr>
              <a:t>•  ORA-06565: 정의자 권한 프로시저</a:t>
            </a:r>
          </a:p>
          <a:p>
            <a:pPr algn="l">
              <a:spcAft>
                <a:spcPts val="1000"/>
              </a:spcAft>
            </a:pPr>
            <a:r>
              <a:rPr sz="1700" b="0">
                <a:solidFill>
                  <a:srgbClr val="222222"/>
                </a:solidFill>
                <a:latin typeface="맑은 고딕"/>
              </a:rPr>
              <a:t>•  PLS-00201: 활성화 프로시저 없음</a:t>
            </a:r>
          </a:p>
          <a:p>
            <a:pPr algn="l">
              <a:spcAft>
                <a:spcPts val="1000"/>
              </a:spcAft>
            </a:pPr>
            <a:r>
              <a:rPr sz="1700" b="0">
                <a:solidFill>
                  <a:srgbClr val="222222"/>
                </a:solidFill>
                <a:latin typeface="맑은 고딕"/>
              </a:rPr>
              <a:t>•  ORA-01919: 없는 역할 DROP</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정기 점검 항목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주기적으로 보는가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DBA 역할, ANY 권한 보유자</a:t>
            </a:r>
          </a:p>
          <a:p>
            <a:pPr algn="l">
              <a:spcAft>
                <a:spcPts val="1000"/>
              </a:spcAft>
            </a:pPr>
            <a:r>
              <a:rPr sz="1700" b="0">
                <a:solidFill>
                  <a:srgbClr val="222222"/>
                </a:solidFill>
                <a:latin typeface="맑은 고딕"/>
              </a:rPr>
              <a:t>•  PASSWORD·APPLICATION 역할 목록</a:t>
            </a:r>
          </a:p>
          <a:p>
            <a:pPr algn="l">
              <a:spcAft>
                <a:spcPts val="1000"/>
              </a:spcAft>
            </a:pPr>
            <a:r>
              <a:rPr sz="1700" b="0">
                <a:solidFill>
                  <a:srgbClr val="222222"/>
                </a:solidFill>
                <a:latin typeface="맑은 고딕"/>
              </a:rPr>
              <a:t>•  APPLICATION 역할의 직접 부여 흔적</a:t>
            </a:r>
          </a:p>
          <a:p>
            <a:pPr algn="l">
              <a:spcAft>
                <a:spcPts val="1000"/>
              </a:spcAft>
            </a:pPr>
            <a:r>
              <a:rPr sz="1700" b="0">
                <a:solidFill>
                  <a:srgbClr val="222222"/>
                </a:solidFill>
                <a:latin typeface="맑은 고딕"/>
              </a:rPr>
              <a:t>•  활성화 프로시저 실행 권한자, LAST_DDL_TIME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3.10</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 시 주의점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프로시저와 매핑 테이블 보호</a:t>
            </a:r>
          </a:p>
          <a:p>
            <a:pPr algn="l">
              <a:spcAft>
                <a:spcPts val="800"/>
              </a:spcAft>
            </a:pPr>
            <a:r>
              <a:rPr sz="1600" b="0">
                <a:solidFill>
                  <a:srgbClr val="FFFFFF"/>
                </a:solidFill>
                <a:latin typeface="맑은 고딕"/>
              </a:rPr>
              <a:t>•  배포와 연결 풀</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 시 주의점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정책 코드는 보안 자산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프로시저 소유 계정 접속 제한, 변경 감사</a:t>
            </a:r>
          </a:p>
          <a:p>
            <a:pPr algn="l">
              <a:spcAft>
                <a:spcPts val="1000"/>
              </a:spcAft>
            </a:pPr>
            <a:r>
              <a:rPr sz="1700" b="0">
                <a:solidFill>
                  <a:srgbClr val="222222"/>
                </a:solidFill>
                <a:latin typeface="맑은 고딕"/>
              </a:rPr>
              <a:t>•  매핑 테이블 쓰기 권한 = 역할 부여 권한</a:t>
            </a:r>
          </a:p>
          <a:p>
            <a:pPr algn="l">
              <a:spcAft>
                <a:spcPts val="1000"/>
              </a:spcAft>
            </a:pPr>
            <a:r>
              <a:rPr sz="1700" b="0">
                <a:solidFill>
                  <a:srgbClr val="222222"/>
                </a:solidFill>
                <a:latin typeface="맑은 고딕"/>
              </a:rPr>
              <a:t>•  배포는 업무 시간 밖, 배포 직후 활성화 시험</a:t>
            </a:r>
          </a:p>
          <a:p>
            <a:pPr algn="l">
              <a:spcAft>
                <a:spcPts val="1000"/>
              </a:spcAft>
            </a:pPr>
            <a:r>
              <a:rPr sz="1700" b="0">
                <a:solidFill>
                  <a:srgbClr val="222222"/>
                </a:solidFill>
                <a:latin typeface="맑은 고딕"/>
              </a:rPr>
              <a:t>•  장애 때 임시 직접 권한은 반드시 회수</a:t>
            </a:r>
          </a:p>
          <a:p>
            <a:pPr algn="l">
              <a:spcAft>
                <a:spcPts val="1000"/>
              </a:spcAft>
            </a:pPr>
            <a:r>
              <a:rPr sz="1700" b="0">
                <a:solidFill>
                  <a:srgbClr val="222222"/>
                </a:solidFill>
                <a:latin typeface="맑은 고딕"/>
              </a:rPr>
              <a:t>•  풀 반납 시 SET_ROLE('NONE')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부여 상태는 DBA_ 뷰, 세션 상태는 SESSION_ 뷰</a:t>
            </a:r>
          </a:p>
          <a:p>
            <a:pPr algn="l">
              <a:spcAft>
                <a:spcPts val="1000"/>
              </a:spcAft>
            </a:pPr>
            <a:r>
              <a:rPr sz="1600" b="0">
                <a:solidFill>
                  <a:srgbClr val="222222"/>
                </a:solidFill>
                <a:latin typeface="맑은 고딕"/>
              </a:rPr>
              <a:t>•  IDENTIFIED USING: 지정 PL/SQL만 역할을 켠다</a:t>
            </a:r>
          </a:p>
          <a:p>
            <a:pPr algn="l">
              <a:spcAft>
                <a:spcPts val="1000"/>
              </a:spcAft>
            </a:pPr>
            <a:r>
              <a:rPr sz="1600" b="0">
                <a:solidFill>
                  <a:srgbClr val="222222"/>
                </a:solidFill>
                <a:latin typeface="맑은 고딕"/>
              </a:rPr>
              <a:t>•  직접 SET ROLE은 ORA-28201</a:t>
            </a:r>
          </a:p>
          <a:p>
            <a:pPr algn="l">
              <a:spcAft>
                <a:spcPts val="1000"/>
              </a:spcAft>
            </a:pPr>
            <a:r>
              <a:rPr sz="1600" b="0">
                <a:solidFill>
                  <a:srgbClr val="222222"/>
                </a:solidFill>
                <a:latin typeface="맑은 고딕"/>
              </a:rPr>
              <a:t>•  활성화 프로시저는 AUTHID CURRENT_USER (아니면 06565)</a:t>
            </a:r>
          </a:p>
          <a:p>
            <a:pPr algn="l">
              <a:spcAft>
                <a:spcPts val="1000"/>
              </a:spcAft>
            </a:pPr>
            <a:r>
              <a:rPr sz="1600" b="0">
                <a:solidFill>
                  <a:srgbClr val="222222"/>
                </a:solidFill>
                <a:latin typeface="맑은 고딕"/>
              </a:rPr>
              <a:t>•  기본 역할·LOGON 트리거로는 켜지지 않는다</a:t>
            </a:r>
          </a:p>
          <a:p>
            <a:pPr algn="l">
              <a:spcAft>
                <a:spcPts val="1000"/>
              </a:spcAft>
            </a:pPr>
            <a:r>
              <a:rPr sz="1600" b="0">
                <a:solidFill>
                  <a:srgbClr val="222222"/>
                </a:solidFill>
                <a:latin typeface="맑은 고딕"/>
              </a:rPr>
              <a:t>•  서버가 채우는 값 중심으로 검사, 직접 권한은 회수</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생성자가 SET ROLE로 켜면? → ORA-28201</a:t>
            </a:r>
          </a:p>
          <a:p>
            <a:pPr algn="l">
              <a:spcAft>
                <a:spcPts val="1000"/>
              </a:spcAft>
            </a:pPr>
            <a:r>
              <a:rPr sz="1600" b="0">
                <a:solidFill>
                  <a:srgbClr val="222222"/>
                </a:solidFill>
                <a:latin typeface="맑은 고딕"/>
              </a:rPr>
              <a:t>•  Q2. AUTHID 없이 만든 프로시저에서 켜면? → ORA-06565</a:t>
            </a:r>
          </a:p>
          <a:p>
            <a:pPr algn="l">
              <a:spcAft>
                <a:spcPts val="1000"/>
              </a:spcAft>
            </a:pPr>
            <a:r>
              <a:rPr sz="1600" b="0">
                <a:solidFill>
                  <a:srgbClr val="222222"/>
                </a:solidFill>
                <a:latin typeface="맑은 고딕"/>
              </a:rPr>
              <a:t>•  Q3. 옳은 설명은? → 권한은 역할에, 역할은 사용자에게 주지 않음</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Q4. 가장 신뢰하기 어려운 조건은? → MODULE</a:t>
            </a:r>
          </a:p>
          <a:p>
            <a:pPr algn="l">
              <a:spcAft>
                <a:spcPts val="1000"/>
              </a:spcAft>
            </a:pPr>
            <a:r>
              <a:rPr sz="1600" b="0">
                <a:solidFill>
                  <a:srgbClr val="222222"/>
                </a:solidFill>
                <a:latin typeface="맑은 고딕"/>
              </a:rPr>
              <a:t>•  Q5. 같은 스키마의 다른 프로시저로 켜면? → ORA-01924</a:t>
            </a:r>
          </a:p>
          <a:p>
            <a:pPr algn="l">
              <a:spcAft>
                <a:spcPts val="1000"/>
              </a:spcAft>
            </a:pPr>
            <a:r>
              <a:rPr sz="1600" b="0">
                <a:solidFill>
                  <a:srgbClr val="222222"/>
                </a:solidFill>
                <a:latin typeface="맑은 고딕"/>
              </a:rPr>
              <a:t>•  Q6. 역할과 프로시저 연결을 보는 뷰는? → DBA_APPLICATION_ROLES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권한과 역할 조회: 부여·세션 상태, ORA-01924 (3.2, 3.3)</a:t>
            </a:r>
          </a:p>
          <a:p>
            <a:pPr algn="l">
              <a:spcAft>
                <a:spcPts val="1000"/>
              </a:spcAft>
            </a:pPr>
            <a:r>
              <a:rPr sz="1600" b="0">
                <a:solidFill>
                  <a:srgbClr val="222222"/>
                </a:solidFill>
                <a:latin typeface="맑은 고딕"/>
              </a:rPr>
              <a:t>•  02 SAR 만들기: IDENTIFIED USING, ORA-28201 (3.4, 3.5)</a:t>
            </a:r>
          </a:p>
          <a:p>
            <a:pPr algn="l">
              <a:spcAft>
                <a:spcPts val="1000"/>
              </a:spcAft>
            </a:pPr>
            <a:r>
              <a:rPr sz="1600" b="0">
                <a:solidFill>
                  <a:srgbClr val="222222"/>
                </a:solidFill>
                <a:latin typeface="맑은 고딕"/>
              </a:rPr>
              <a:t>•  03 활성화 프로시저: ORA-06565, 직무별 활성화 (3.5, 3.6)</a:t>
            </a:r>
          </a:p>
          <a:p>
            <a:pPr algn="l">
              <a:spcAft>
                <a:spcPts val="1000"/>
              </a:spcAft>
            </a:pPr>
            <a:r>
              <a:rPr sz="1600" b="0">
                <a:solidFill>
                  <a:srgbClr val="222222"/>
                </a:solidFill>
                <a:latin typeface="맑은 고딕"/>
              </a:rPr>
              <a:t>•  04 검사 조건과 범위: MODULE 위조, 기본 역할, 트리거 (3.6, 3.7)</a:t>
            </a:r>
          </a:p>
          <a:p>
            <a:pPr algn="l">
              <a:spcAft>
                <a:spcPts val="1000"/>
              </a:spcAft>
            </a:pPr>
            <a:r>
              <a:rPr sz="1600" b="0">
                <a:solidFill>
                  <a:srgbClr val="222222"/>
                </a:solidFill>
                <a:latin typeface="맑은 고딕"/>
              </a:rPr>
              <a:t>•  05 딕셔너리 점검과 원복: DBA_APPLICATION_ROLES (3.7, 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
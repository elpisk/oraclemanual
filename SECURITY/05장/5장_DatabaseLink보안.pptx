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링크는 접속 정보를 데이터베이스 안에 저장해 둔 것입니다. 사용자가 emp@sales_lnk를 조회하면 로컬 서버 프로세스가 클라이언트가 되어 원격 리스너에 접속하고 원격에 세션을 하나 엽니다. 이 원격 세션은 로컬 세션이 끝나거나 링크를 닫을 때까지 살아 있습니다. 원격 테이블의 조회와 DML은 되지만 GRANT 같은 DDL은 원격 객체에 실행할 수 없다는 점이 뒤에 나오는 위임 설계의 출발점이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USING에 적은 별칭은 링크를 쓰는 데이터베이스 서버에서 해석됩니다. 사용자가 접속한 PC의 tnsnames.ora와는 관계가 없습니다. GLOBAL_NAMES를 TRUE로 두면 링크 이름이 원격 데이터베이스의 전역 이름과 같아야 하고, 다르면 ORA-02085가 납니다. 실습에서는 세션 수준으로 TRUE를 켜서 SALES_LNK가 거부되고 이름이 SALES인 링크는 동작하는 것을 확인했습니다. 링크가 많은 환경에서 엉뚱한 DB로 가는 실수를 막는 설정입니다.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원격 데이터베이스 입장에서는 링크 접속과 일반 클라이언트 접속이 구별되지 않습니다. 링크가 접속하는 원격 계정에 준 권한이 그 링크를 쓸 수 있는 모든 로컬 사용자의 상한이 됩니다. 그래서 링크 계정은 용도에 필요한 최소 권한만 가진 전용 계정이어야 합니다. 업무 계정이나 DBA 계정을 링크에 쓰면 로컬의 링크 사용자가 원격에서 그 권한을 그대로 갖게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사설 링크는 소유자만 이름으로 참조할 수 있습니다. 실습에서 HR이 sec05_own의 링크 이름을 그대로 쓰자 ORA-02019가 났습니다. 다른 사용자에게 링크를 쓰게 하는 GRANT 문은 없고, 소유자의 뷰나 프로시저를 통해 간접적으로만 쓰게 할 수 있습니다. 반대로 공용 링크는 아무 권한 없이 누구나 쓸 수 있어서, 고정 사용자 공용 링크는 원격 계정을 데이터베이스의 모든 사용자와 공유하는 결과가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사용자 링크는 링크에 적힌 원격 계정으로 접속합니다. 연결 사용자 링크는 링크를 쓰는 세션의 사용자 이름과 비밀번호로 접속하므로, 실습에서 원격에 같은 계정이 없을 때 ORA-01017이 났고 계정을 만들자 접속됐습니다. 현재 사용자 링크는 매뉴얼상 두 DB 모두에서 전역 사용자여야 하고 Advanced Security 옵션이 필요합니다. 로컬 계정으로 만들면 생성은 되지만 사용 시 ORA-01017로 실패했습니다.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사설 링크 삭제에는 별도 권한이 필요 없지만, 비밀번호를 갱신하는 ALTER DATABASE LINK는 자기 링크라도 시스템 권한이 있어야 합니다. 실습에서 링크 소유자가 권한 없이 실행하자 ORA-01031이 났습니다. 또 19c의 샘플 스키마 계정에는 CREATE DATABASE LINK가 직접 부여되어 있습니다. 이 권한은 어떤 원격 DB로든 나가는 통로를 만들 수 있으니 운영 DB에서는 점검과 회수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환경에 링크를 들일 때는 원격 쪽 준비부터 합니다. 링크 전용 계정을 만들고 필요한 객체 권한만 주며, 사람 계정과 다른 프로파일을 지정합니다. 로컬에서는 링크를 업무 접속에 쓰지 않는 전용 계정에 사설 링크로 만들고, 만든 직후 목적지와 원격 계정을 조회로 확인합니다. 그 뒤 업무 계정에는 링크가 아니라 위임용 뷰와 프로시저 권한만 줍니다. 폐기할 때는 이 순서를 거꾸로 밟습니다.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DATABASE LINK는 접속 정보를 딕셔너리에 기록할 뿐 원격에 접속해 보지 않습니다. 실습에서 일부러 틀린 비밀번호와 없는 별칭으로 링크를 만들었는데 둘 다 정상 생성됐고, 조회하는 순간에야 ORA-01017과 ORA-12154가 났습니다. 19c의 DBA_DB_LINKS에는 VALID 열이 있지만 비밀번호가 틀린 링크도 YES로 표시되므로 판단 근거가 되지 못합니다. 그래서 링크를 만든 직후 반드시 시험 조회를 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링크 장애라도 오류 번호로 확인할 위치가 갈립니다. ORA-12154면 링크를 쓰는 서버에서 tnsping으로 별칭을 확인합니다. ORA-01017에 ORA-02063이 붙으면 원격 인증 문제이니 원격 계정 상태와 비밀번호를 봅니다. ORA-02085는 GLOBAL_NAMES 설정과 링크 이름의 문제이고, ORA-02019는 다른 사용자의 사설 링크를 쓰려 했거나 이름을 잘못 쓴 경우입니다. 이 넷을 구분하면 대부분의 링크 장애가 빨리 풀립니다.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링크로 원격에 누구로 접속했는지 확인하려고 SELECT USER FROM dual@링크를 쓰는 경우가 많은데, 실습에서 이 문장은 원격 계정 SEC05_RMT가 아니라 로컬 사용자 SEC05_OWN을 돌려줬습니다. USER 함수가 로컬에서 평가되기 때문입니다. 원격에서 실행되는 user_users 뷰를 조회하자 SEC05_RMT가 나왔습니다. 공용 링크를 SCOTT가 썼을 때도 USER는 SCOTT였지만 원격 접속 계정은 SEC05_RMT였습니다. 점검 스크립트에서 자주 틀리는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실습의 update_scott_sal과 같은 구조입니다. 링크와 프로시저를 전용 계정 sec05_own이 갖고, HR은 역할을 통해 실행 권한만 받았습니다. HR은 프로시저로 원격 급여를 바꿀 수 있었지만, 같은 링크를 직접 쓰려 하자 ORA-02019가 났습니다. 프로시저 안에서 허용 범위를 검사하면 위임 범위를 더 좁힐 수 있습니다. 원격 UPDATE가 들어간 트랜잭션은 분산 트랜잭션이라 호출한 세션의 COMMIT으로 원격까지 확정됩니다.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자료에서 "안되네"라고 적힌 지점이 바로 ORA-02021입니다. 원격 데이터베이스의 권한은 원격 안에서만 관리되므로, 원격 객체에 대한 GRANT는 링크로 보낼 수 없습니다. 대신 링크 소유자가 원격 테이블을 감싼 로컬 뷰를 만들고 그 뷰에 권한을 줍니다. 뷰의 열과 조건이 노출 범위를 정합니다. 실습에서는 원본처럼 HR의 기존 EMP를 지우지 않고 rmt_emp라는 새 이름으로 동의어를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위임 수단마다 넘어가는 범위가 다릅니다. 조회는 로컬 뷰, 변경은 정의자 권한 프로시저가 기본입니다. 원격 DB에 업무 규칙을 담은 프로시저를 두고 링크로 호출하면, 링크 계정에는 테이블 권한 대신 그 프로시저 실행 권한만 주면 되어 링크가 노출돼도 피해 범위가 좁습니다. 공용 링크는 위임이 아니라 공유이므로 피합니다. 링크를 바꾸기 전에는 DBA_DEPENDENCIES의 REFERENCED_LINK_NAME으로 의존 객체를 찾아 둡니다.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링크 계정이 원격 테이블의 소유자라면 그 테이블에 대해 모든 권한을 갖기 때문에 아무리 로컬에서 위임 객체를 잘 설계해도 상한이 넓어집니다. 실습은 단순하게 하려고 sec05_rmt를 원격 EMP의 소유자로 만들었지만 운영에서는 데이터 소유 스키마와 링크 계정을 나눕니다. 이관 작업용 계정에 주는 DATAPUMP 역할도 작업이 끝나면 회수하거나 계정을 잠그는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사용자 링크의 원격 비밀번호는 딕셔너리 테이블 SYS.LINK$에 저장되는데, 실습에서 PASSWORD 열은 비어 있고 PASSWORDX 열에 암호화된 값만 있었습니다. DBA 역할을 가진 SYSTEM으로 LINK$를 조회하자 ORA-01031이 났습니다. 12c부터 SELECT ANY DICTIONARY에서 이런 민감한 테이블이 빠졌기 때문입니다. 그렇다고 비밀번호 관리가 필요 없어지는 것은 아니어서, 링크를 다시 만들 때 쓸 원격 비밀번호는 따로 보관합니다.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원격 계정 비밀번호를 바꾸자 링크가 바로 ORA-01017로 실패했습니다. 링크가 옛 비밀번호를 들고 있기 때문입니다. 12.2부터는 ALTER DATABASE LINK로 비밀번호만 바꿀 수 있고, 매뉴얼상 고정 사용자 링크에만 쓰며 원격 사용자를 바꾸려면 다시 만들어야 합니다. 실습에서 권한을 받은 뒤 비밀번호를 바꾸자 링크와 HR의 동의어 조회가 함께 살아났습니다. DROP 후 CREATE와 달리 의존 객체가 무효화되지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링크 계정에 사람 계정과 같은 프로파일이 걸려 있으면 비밀번호 수명이 끝나는 날 배치가 ORA-01017로 실패합니다. 만료 경고는 링크 접속에서 볼 사람이 없어 미리 알아채기 어렵습니다. 링크 계정용 프로파일을 따로 만들고 교체 일정을 운영에 넣습니다. 실패 로그인 잠금은 필요하지만, 틀린 비밀번호로 배치가 반복되면 계정이 잠겨 같은 계정을 쓰는 다른 링크까지 멈추므로 교체 작업 중에는 배치를 멈춥니다.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SYS가 고정 사용자 공용 링크를 만들자, 아무 권한도 받지 않은 SCOTT가 원격 테이블을 조회할 수 있었고 원격에서는 SEC05_RMT로 접속됐습니다. 새로 생긴 계정이나 잊힌 테스트 계정도 모두 같은 권한을 얻습니다. 원격의 감사 기록에는 링크 계정만 보여 실제 사용자를 추적하기도 어렵습니다. 공용 링크가 필요하다면 연결 사용자 방식으로 만들어 원격이 사용자별로 판단하게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DATABASE LINK 권한이 있으면 자기가 아는 원격 계정으로 어떤 DB에든 링크를 만들 수 있으니 데이터 유출 경로가 될 수 있습니다. 실습 환경에서는 BI, HR, OE, SH 같은 샘플 스키마 계정이 이 권한을 갖고 있었습니다. 링크 생성과 변경, 삭제는 감사 정책에 넣고, 원격 쪽 Unified Audit 기록의 DBLINK_INFO 열로 링크를 통해 들어온 작업의 원본 DB와 링크 이름을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링크 접속에서는 로컬 데이터베이스 서버가 클라이언트, 원격 서버가 서버 역할을 합니다. 그래서 링크 구간 암호화는 사용자 PC가 아니라 로컬 서버의 sqlnet.ora와 원격 서버의 sqlnet.ora 사이에서 협상됩니다. 원격 서버에서 암호화를 REQUIRED로 강제하면 링크 접속도 따릅니다. 민감한 데이터가 링크로 오가는 구간이라면 네이티브 네트워크 암호화나 11장에서 다루는 TLS를 적용합니다.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세션이 링크를 한 번 쓰면 원격 연결은 세션이 끝날 때까지 남아 있습니다. 실습에서 링크 두 개를 쓰자 V$DBLINK에 두 행이 나타났고, 단순 조회만 했는데도 IN_TRANSACTION이 YES였습니다. 원격 조회도 분산 트랜잭션 상태를 엽니다. V$DBLINK는 현재 세션의 정보만 보여 주므로 SYSDBA라도 다른 세션의 링크는 볼 수 없습니다. 연결 풀처럼 오래 사는 세션에서는 원격 세션 수가 쌓이기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원격 UPDATE를 한 뒤 V$DBLINK를 보면 UPDATE_SENT가 YES입니다. 이 상태에서 링크를 닫으려 하자 ORA-02080 database link is in use가 났고, ROLLBACK으로 트랜잭션을 끝낸 뒤에는 정상적으로 닫혔습니다. 링크를 가끔 쓰는 애플리케이션은 사용 후 닫아 원격 세션 수를 줄입니다. 네트워크 장애로 2단계 커밋이 중간에 끊기면 in-doubt 트랜잭션이 DBA_2PC_PENDING에 남고, 보통 RECO 프로세스가 연결 복구 후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NETWORK_LINK를 쓰면 Data Pump가 링크로 원격 데이터를 읽습니다. expdp는 작업을 수행하는 DB 서버의 디렉터리에 덤프 파일을 만들기 때문에 원격 서버에 공간이나 디렉터리 객체가 없어도 됩니다. impdp에 NETWORK_LINK를 주면 덤프 파일 없이 원격 테이블을 바로 로컬에 넣으며, 디렉터리는 로그 파일 용도로만 필요합니다. 여러 테이블을 같은 시점으로 옮기려면 원격 기준의 FLASHBACK_SCN을 지정합니다.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작업 계정은 FULL 역할을 가졌지만 링크가 접속하는 원격 계정에는 없었고, expdp가 ORA-31631과 ORA-39149 cannot link privileged user to non-privileged user로 거부됐습니다. 권한이 낮은 원격 계정을 통해 권한이 높은 작업을 하려는 것을 Data Pump가 막는 것입니다. 원격 계정에도 같은 역할을 주자 성공했습니다. 원격 계정의 FULL 역할은 원격 DB 전체를 내보낼 수 있는 권한이므로 작업이 끝나면 회수합니다.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자료와 같은 흐름으로 덤프 전체를 비밀번호로 암호화해 내보냈고, 비밀번호 없이 가져오자 ORA-39174가 났습니다. 비밀번호를 주자 정상적으로 들어왔습니다. PASSWORD 모드는 TDE 지갑과 무관하게 동작하고, TRANSPARENT 모드는 같은 키스토어를 가진 DB에서만 풀립니다. 명령행에 비밀번호를 쓰면 셸 기록과 프로세스 목록에 남으므로 운영에서는 권한을 제한한 파라미터 파일이나 ENCRYPTION_PWD_PROMPT를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impdp에 NETWORK_LINK를 주면 덤프 파일 없이 원격 테이블이 바로 로컬 스키마에 들어옵니다. 실습에서 DEPT 4건이 REMAP_SCHEMA로 sec05_dp 스키마에 들어왔습니다. 덤프 파일이 없으니 파일 유출이나 보관 문제는 없지만 데이터가 링크 구간을 평문으로 지나갈 수 있어 네트워크 암호화를 검토합니다. EXCLUDE=GRANT는 원본 권한의 수혜자가 대상 DB에 없어 생기는 ORA-01917 잡음을 피하려고 붙였습니다.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DBA_DB_LINKS에서 USERNAME이 비어 있으면 연결 사용자 링크이고, OWNER가 PUBLIC이면 공용 링크입니다. HOST에는 USING 문자열이 그대로 남아 접속 기술자를 직접 넣었다면 기술자 전체가 보입니다. 사용자를 CASCADE로 지우면 그 사용자의 사설 링크도 함께 사라진다는 점은 원복 단계에서 확인했습니다. 링크를 바꾸거나 지우기 전에는 DBA_DEPENDENCIES로 그 링크를 쓰는 뷰와 프로시저를 먼저 찾습니다.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점검은 다섯 가지 조회로 충분합니다. 공용 링크가 있는지, 고정 사용자 링크가 어느 원격 계정을 쓰는지, 링크 생성 권한을 누가 갖는지, 링크에 의존하는 객체가 무엇인지 로컬에서 확인합니다. 마지막으로 원격 DB에서 링크 계정의 시스템 권한, 객체 권한, 역할을 조회해 위임 범위의 상한을 확인합니다. 원격 쪽 확인을 빠뜨리면 로컬 설계가 아무리 좁아도 실제 위험을 놓칩니다.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 DB를 복제해 테스트 DB를 만들면 링크가 그대로 따라오고, 테스트 서버의 tnsnames.ora가 운영 별칭을 갖고 있으면 테스트 배치가 운영 DB를 건드립니다. 복제 직후 DBA_DB_LINKS를 전수 점검하는 절차를 넣습니다. 링크 계정 하나를 여러 링크가 공유하면 잠금 한 번에 모든 링크가 멈추므로 나눠 둡니다. 원격 DB가 업그레이드되면 비밀번호 버전 차이로 오래된 링크가 ORA-28040을 낼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Database Link 보안</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원격 권한이 흐르는 통로를 통제하기</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제5장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링크의 이름 해석과 원격 접속 과정을 설명한다</a:t>
            </a:r>
          </a:p>
          <a:p>
            <a:pPr algn="l">
              <a:spcAft>
                <a:spcPts val="1000"/>
              </a:spcAft>
            </a:pPr>
            <a:r>
              <a:rPr sz="1600" b="0">
                <a:solidFill>
                  <a:srgbClr val="222222"/>
                </a:solidFill>
                <a:latin typeface="맑은 고딕"/>
              </a:rPr>
              <a:t>•  사설·공용, 고정·연결·현재 사용자 링크를 구분한다</a:t>
            </a:r>
          </a:p>
          <a:p>
            <a:pPr algn="l">
              <a:spcAft>
                <a:spcPts val="1000"/>
              </a:spcAft>
            </a:pPr>
            <a:r>
              <a:rPr sz="1600" b="0">
                <a:solidFill>
                  <a:srgbClr val="222222"/>
                </a:solidFill>
                <a:latin typeface="맑은 고딕"/>
              </a:rPr>
              <a:t>•  사용 시점 오류(ORA-01017, 12154, 02085, 02019)를 구분한다</a:t>
            </a:r>
          </a:p>
          <a:p>
            <a:pPr algn="l">
              <a:spcAft>
                <a:spcPts val="1000"/>
              </a:spcAft>
            </a:pPr>
            <a:r>
              <a:rPr sz="1600" b="0">
                <a:solidFill>
                  <a:srgbClr val="222222"/>
                </a:solidFill>
                <a:latin typeface="맑은 고딕"/>
              </a:rPr>
              <a:t>•  프로시저·뷰로 원격 작업을 위임하고 ORA-02021을 설명한다</a:t>
            </a:r>
          </a:p>
          <a:p>
            <a:pPr algn="l">
              <a:spcAft>
                <a:spcPts val="1000"/>
              </a:spcAft>
            </a:pPr>
            <a:r>
              <a:rPr sz="1600" b="0">
                <a:solidFill>
                  <a:srgbClr val="222222"/>
                </a:solidFill>
                <a:latin typeface="맑은 고딕"/>
              </a:rPr>
              <a:t>•  링크 비밀번호 저장 방식과 ALTER DATABASE LINK를 다룬다</a:t>
            </a:r>
          </a:p>
          <a:p>
            <a:pPr algn="l">
              <a:spcAft>
                <a:spcPts val="1000"/>
              </a:spcAft>
            </a:pPr>
            <a:r>
              <a:rPr sz="1600" b="0">
                <a:solidFill>
                  <a:srgbClr val="222222"/>
                </a:solidFill>
                <a:latin typeface="맑은 고딕"/>
              </a:rPr>
              <a:t>•  Data Pump NETWORK_LINK의 권한 조건과 암호화를 적용한다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5.2  Database Link의 개념</a:t>
            </a:r>
          </a:p>
          <a:p>
            <a:pPr algn="l">
              <a:spcAft>
                <a:spcPts val="1000"/>
              </a:spcAft>
            </a:pPr>
            <a:r>
              <a:rPr sz="1600" b="0">
                <a:solidFill>
                  <a:srgbClr val="222222"/>
                </a:solidFill>
                <a:latin typeface="맑은 고딕"/>
              </a:rPr>
              <a:t>•  5.3  링크의 종류와 필요한 권한</a:t>
            </a:r>
          </a:p>
          <a:p>
            <a:pPr algn="l">
              <a:spcAft>
                <a:spcPts val="1000"/>
              </a:spcAft>
            </a:pPr>
            <a:r>
              <a:rPr sz="1600" b="0">
                <a:solidFill>
                  <a:srgbClr val="222222"/>
                </a:solidFill>
                <a:latin typeface="맑은 고딕"/>
              </a:rPr>
              <a:t>•  5.4  링크 생성과 사용 시점 오류</a:t>
            </a:r>
          </a:p>
          <a:p>
            <a:pPr algn="l">
              <a:spcAft>
                <a:spcPts val="1000"/>
              </a:spcAft>
            </a:pPr>
            <a:r>
              <a:rPr sz="1600" b="0">
                <a:solidFill>
                  <a:srgbClr val="222222"/>
                </a:solidFill>
                <a:latin typeface="맑은 고딕"/>
              </a:rPr>
              <a:t>•  5.5  링크를 통한 권한 위임</a:t>
            </a:r>
          </a:p>
          <a:p>
            <a:pPr algn="l">
              <a:spcAft>
                <a:spcPts val="1000"/>
              </a:spcAft>
            </a:pPr>
            <a:r>
              <a:rPr sz="1600" b="0">
                <a:solidFill>
                  <a:srgbClr val="222222"/>
                </a:solidFill>
                <a:latin typeface="맑은 고딕"/>
              </a:rPr>
              <a:t>•  5.6  링크 자격 증명 보호  /  5.7  연결 관리</a:t>
            </a:r>
          </a:p>
          <a:p>
            <a:pPr algn="l">
              <a:spcAft>
                <a:spcPts val="1000"/>
              </a:spcAft>
            </a:pPr>
            <a:r>
              <a:rPr sz="1600" b="0">
                <a:solidFill>
                  <a:srgbClr val="222222"/>
                </a:solidFill>
                <a:latin typeface="맑은 고딕"/>
              </a:rPr>
              <a:t>•  5.8  Data Pump NETWORK_LINK  /  5.9~5.10  점검과 운영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Database Link의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원격 객체를 로컬처럼 쓰는 장치</a:t>
            </a:r>
          </a:p>
          <a:p>
            <a:pPr algn="l">
              <a:spcAft>
                <a:spcPts val="800"/>
              </a:spcAft>
            </a:pPr>
            <a:r>
              <a:rPr sz="1600" b="0">
                <a:solidFill>
                  <a:srgbClr val="FFFFFF"/>
                </a:solidFill>
                <a:latin typeface="맑은 고딕"/>
              </a:rPr>
              <a:t>•  USING 절과 전역 이름</a:t>
            </a:r>
          </a:p>
          <a:p>
            <a:pPr algn="l">
              <a:spcAft>
                <a:spcPts val="800"/>
              </a:spcAft>
            </a:pPr>
            <a:r>
              <a:rPr sz="1600" b="0">
                <a:solidFill>
                  <a:srgbClr val="FFFFFF"/>
                </a:solidFill>
                <a:latin typeface="맑은 고딕"/>
              </a:rPr>
              <a:t>•  보안에서 본 링크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Database Link란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원격 접속 정보를 로컬에 저장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객체@링크 형식으로 원격 객체를 참조</a:t>
            </a:r>
          </a:p>
          <a:p>
            <a:pPr algn="l">
              <a:spcAft>
                <a:spcPts val="1000"/>
              </a:spcAft>
            </a:pPr>
            <a:r>
              <a:rPr sz="1700" b="0">
                <a:solidFill>
                  <a:srgbClr val="222222"/>
                </a:solidFill>
                <a:latin typeface="맑은 고딕"/>
              </a:rPr>
              <a:t>•  처음 쓰는 순간 로컬 서버가 원격에 세션을 연다</a:t>
            </a:r>
          </a:p>
          <a:p>
            <a:pPr algn="l">
              <a:spcAft>
                <a:spcPts val="1000"/>
              </a:spcAft>
            </a:pPr>
            <a:r>
              <a:rPr sz="1700" b="0">
                <a:solidFill>
                  <a:srgbClr val="222222"/>
                </a:solidFill>
                <a:latin typeface="맑은 고딕"/>
              </a:rPr>
              <a:t>•  원격 세션은 로컬 세션이 끝날 때까지 유지</a:t>
            </a:r>
          </a:p>
          <a:p>
            <a:pPr algn="l">
              <a:spcAft>
                <a:spcPts val="1000"/>
              </a:spcAft>
            </a:pPr>
            <a:r>
              <a:rPr sz="1700" b="0">
                <a:solidFill>
                  <a:srgbClr val="222222"/>
                </a:solidFill>
                <a:latin typeface="맑은 고딕"/>
              </a:rPr>
              <a:t>•  원격 DML은 분산 트랜잭션, DDL은 불가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USING 절과 전역 이름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별칭은 로컬 서버가 해석한다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USING 'SALES' = 로컬 서버의 tnsnames.ora 별칭</a:t>
            </a:r>
          </a:p>
          <a:p>
            <a:pPr algn="l">
              <a:spcAft>
                <a:spcPts val="1000"/>
              </a:spcAft>
            </a:pPr>
            <a:r>
              <a:rPr sz="1700" b="0">
                <a:solidFill>
                  <a:srgbClr val="222222"/>
                </a:solidFill>
                <a:latin typeface="맑은 고딕"/>
              </a:rPr>
              <a:t>•  접속 기술자를 직접 넣을 수도 있다</a:t>
            </a:r>
          </a:p>
          <a:p>
            <a:pPr algn="l">
              <a:spcAft>
                <a:spcPts val="1000"/>
              </a:spcAft>
            </a:pPr>
            <a:r>
              <a:rPr sz="1700" b="0">
                <a:solidFill>
                  <a:srgbClr val="222222"/>
                </a:solidFill>
                <a:latin typeface="맑은 고딕"/>
              </a:rPr>
              <a:t>•  별칭이 없으면 생성은 성공, 사용 시 ORA-12154</a:t>
            </a:r>
          </a:p>
          <a:p>
            <a:pPr algn="l">
              <a:spcAft>
                <a:spcPts val="1000"/>
              </a:spcAft>
            </a:pPr>
            <a:r>
              <a:rPr sz="1700" b="0">
                <a:solidFill>
                  <a:srgbClr val="222222"/>
                </a:solidFill>
                <a:latin typeface="맑은 고딕"/>
              </a:rPr>
              <a:t>•  GLOBAL_NAMES=TRUE면 링크 이름 = 원격 전역 이름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보안에서 본 링크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쟁점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권한의 이동: 링크 사용자 = 원격 계정 권한</a:t>
            </a:r>
          </a:p>
          <a:p>
            <a:pPr algn="l">
              <a:spcAft>
                <a:spcPts val="1000"/>
              </a:spcAft>
            </a:pPr>
            <a:r>
              <a:rPr sz="1700" b="0">
                <a:solidFill>
                  <a:srgbClr val="222222"/>
                </a:solidFill>
                <a:latin typeface="맑은 고딕"/>
              </a:rPr>
              <a:t>•  자격 증명 저장: 고정 사용자 링크의 비밀번호</a:t>
            </a:r>
          </a:p>
          <a:p>
            <a:pPr algn="l">
              <a:spcAft>
                <a:spcPts val="1000"/>
              </a:spcAft>
            </a:pPr>
            <a:r>
              <a:rPr sz="1700" b="0">
                <a:solidFill>
                  <a:srgbClr val="222222"/>
                </a:solidFill>
                <a:latin typeface="맑은 고딕"/>
              </a:rPr>
              <a:t>•  네트워크 노출: Oracle Net 구간 보호</a:t>
            </a:r>
          </a:p>
          <a:p>
            <a:pPr algn="l">
              <a:spcAft>
                <a:spcPts val="1000"/>
              </a:spcAft>
            </a:pPr>
            <a:r>
              <a:rPr sz="1700" b="0">
                <a:solidFill>
                  <a:srgbClr val="222222"/>
                </a:solidFill>
                <a:latin typeface="맑은 고딕"/>
              </a:rPr>
              <a:t>•  원격 계정 권한이 위임 범위의 상한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링크의 종류와 필요한 권한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사설·공용·전역 링크</a:t>
            </a:r>
          </a:p>
          <a:p>
            <a:pPr algn="l">
              <a:spcAft>
                <a:spcPts val="800"/>
              </a:spcAft>
            </a:pPr>
            <a:r>
              <a:rPr sz="1600" b="0">
                <a:solidFill>
                  <a:srgbClr val="FFFFFF"/>
                </a:solidFill>
                <a:latin typeface="맑은 고딕"/>
              </a:rPr>
              <a:t>•  고정·연결·현재 사용자</a:t>
            </a:r>
          </a:p>
          <a:p>
            <a:pPr algn="l">
              <a:spcAft>
                <a:spcPts val="800"/>
              </a:spcAft>
            </a:pPr>
            <a:r>
              <a:rPr sz="1600" b="0">
                <a:solidFill>
                  <a:srgbClr val="FFFFFF"/>
                </a:solidFill>
                <a:latin typeface="맑은 고딕"/>
              </a:rPr>
              <a:t>•  링크 관련 시스템 권한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사설·공용·전역 링크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쓸 수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사설: 소유 스키마 사용자만, 남이 쓰면 ORA-02019</a:t>
            </a:r>
          </a:p>
          <a:p>
            <a:pPr algn="l">
              <a:spcAft>
                <a:spcPts val="1000"/>
              </a:spcAft>
            </a:pPr>
            <a:r>
              <a:rPr sz="1700" b="0">
                <a:solidFill>
                  <a:srgbClr val="222222"/>
                </a:solidFill>
                <a:latin typeface="맑은 고딕"/>
              </a:rPr>
              <a:t>•  공용: 로컬 DB의 모든 사용자</a:t>
            </a:r>
          </a:p>
          <a:p>
            <a:pPr algn="l">
              <a:spcAft>
                <a:spcPts val="1000"/>
              </a:spcAft>
            </a:pPr>
            <a:r>
              <a:rPr sz="1700" b="0">
                <a:solidFill>
                  <a:srgbClr val="222222"/>
                </a:solidFill>
                <a:latin typeface="맑은 고딕"/>
              </a:rPr>
              <a:t>•  전역: 디렉터리 서버(LDAP)에 등록</a:t>
            </a:r>
          </a:p>
          <a:p>
            <a:pPr algn="l">
              <a:spcAft>
                <a:spcPts val="1000"/>
              </a:spcAft>
            </a:pPr>
            <a:r>
              <a:rPr sz="1700" b="0">
                <a:solidFill>
                  <a:srgbClr val="222222"/>
                </a:solidFill>
                <a:latin typeface="맑은 고딕"/>
              </a:rPr>
              <a:t>•  사설 링크 사용 권한을 주는 GRANT는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원격 접속 계정 세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고정·연결·현재 사용자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고정: CONNECT TO 계정 IDENTIFIED BY, 비밀번호 저장</a:t>
            </a:r>
          </a:p>
          <a:p>
            <a:pPr algn="l">
              <a:spcAft>
                <a:spcPts val="1000"/>
              </a:spcAft>
            </a:pPr>
            <a:r>
              <a:rPr sz="1700" b="0">
                <a:solidFill>
                  <a:srgbClr val="222222"/>
                </a:solidFill>
                <a:latin typeface="맑은 고딕"/>
              </a:rPr>
              <a:t>•  연결: CONNECT TO 생략, 세션 사용자로 접속</a:t>
            </a:r>
          </a:p>
          <a:p>
            <a:pPr algn="l">
              <a:spcAft>
                <a:spcPts val="1000"/>
              </a:spcAft>
            </a:pPr>
            <a:r>
              <a:rPr sz="1700" b="0">
                <a:solidFill>
                  <a:srgbClr val="222222"/>
                </a:solidFill>
                <a:latin typeface="맑은 고딕"/>
              </a:rPr>
              <a:t>•  현재: CONNECT TO CURRENT_USER, 전역 사용자 전제</a:t>
            </a:r>
          </a:p>
          <a:p>
            <a:pPr algn="l">
              <a:spcAft>
                <a:spcPts val="1000"/>
              </a:spcAft>
            </a:pPr>
            <a:r>
              <a:rPr sz="1700" b="0">
                <a:solidFill>
                  <a:srgbClr val="222222"/>
                </a:solidFill>
                <a:latin typeface="맑은 고딕"/>
              </a:rPr>
              <a:t>•  연결 사용자 링크는 원격에 같은 계정·비밀번호 필요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관련 시스템 권한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ALTER에도 권한이 필요하다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DATABASE LINK: 사설 링크 생성</a:t>
            </a:r>
          </a:p>
          <a:p>
            <a:pPr algn="l">
              <a:spcAft>
                <a:spcPts val="1000"/>
              </a:spcAft>
            </a:pPr>
            <a:r>
              <a:rPr sz="1700" b="0">
                <a:solidFill>
                  <a:srgbClr val="222222"/>
                </a:solidFill>
                <a:latin typeface="맑은 고딕"/>
              </a:rPr>
              <a:t>•  CREATE / DROP PUBLIC DATABASE LINK: 공용 링크</a:t>
            </a:r>
          </a:p>
          <a:p>
            <a:pPr algn="l">
              <a:spcAft>
                <a:spcPts val="1000"/>
              </a:spcAft>
            </a:pPr>
            <a:r>
              <a:rPr sz="1700" b="0">
                <a:solidFill>
                  <a:srgbClr val="222222"/>
                </a:solidFill>
                <a:latin typeface="맑은 고딕"/>
              </a:rPr>
              <a:t>•  ALTER DATABASE LINK: 사설 링크 비밀번호 갱신</a:t>
            </a:r>
          </a:p>
          <a:p>
            <a:pPr algn="l">
              <a:spcAft>
                <a:spcPts val="1000"/>
              </a:spcAft>
            </a:pPr>
            <a:r>
              <a:rPr sz="1700" b="0">
                <a:solidFill>
                  <a:srgbClr val="222222"/>
                </a:solidFill>
                <a:latin typeface="맑은 고딕"/>
              </a:rPr>
              <a:t>•  원격에는 CREATE SESSION + 필요한 객체 권한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도입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원격과 로컬을 나눠 진행</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원격: 전용 계정, 최소 권한, 전용 프로파일</a:t>
            </a:r>
          </a:p>
          <a:p>
            <a:pPr algn="l">
              <a:spcAft>
                <a:spcPts val="1000"/>
              </a:spcAft>
            </a:pPr>
            <a:r>
              <a:rPr sz="1700" b="0">
                <a:solidFill>
                  <a:srgbClr val="222222"/>
                </a:solidFill>
                <a:latin typeface="맑은 고딕"/>
              </a:rPr>
              <a:t>•  로컬: 연결 식별자 확인, 전용 소유 계정에 사설 링크</a:t>
            </a:r>
          </a:p>
          <a:p>
            <a:pPr algn="l">
              <a:spcAft>
                <a:spcPts val="1000"/>
              </a:spcAft>
            </a:pPr>
            <a:r>
              <a:rPr sz="1700" b="0">
                <a:solidFill>
                  <a:srgbClr val="222222"/>
                </a:solidFill>
                <a:latin typeface="맑은 고딕"/>
              </a:rPr>
              <a:t>•  접속 시험: global_name@링크, user_users@링크</a:t>
            </a:r>
          </a:p>
          <a:p>
            <a:pPr algn="l">
              <a:spcAft>
                <a:spcPts val="1000"/>
              </a:spcAft>
            </a:pPr>
            <a:r>
              <a:rPr sz="1700" b="0">
                <a:solidFill>
                  <a:srgbClr val="222222"/>
                </a:solidFill>
                <a:latin typeface="맑은 고딕"/>
              </a:rPr>
              <a:t>•  위임 객체 작성, 감사 설정, 비밀번호 보관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링크 생성과 사용 시점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생성은 접속을 검증하지 않는다</a:t>
            </a:r>
          </a:p>
          <a:p>
            <a:pPr algn="l">
              <a:spcAft>
                <a:spcPts val="800"/>
              </a:spcAft>
            </a:pPr>
            <a:r>
              <a:rPr sz="1600" b="0">
                <a:solidFill>
                  <a:srgbClr val="FFFFFF"/>
                </a:solidFill>
                <a:latin typeface="맑은 고딕"/>
              </a:rPr>
              <a:t>•  오류별 원인</a:t>
            </a:r>
          </a:p>
          <a:p>
            <a:pPr algn="l">
              <a:spcAft>
                <a:spcPts val="800"/>
              </a:spcAft>
            </a:pPr>
            <a:r>
              <a:rPr sz="1600" b="0">
                <a:solidFill>
                  <a:srgbClr val="FFFFFF"/>
                </a:solidFill>
                <a:latin typeface="맑은 고딕"/>
              </a:rPr>
              <a:t>•  USER 함수의 함정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생성은 검증하지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오류는 첫 사용에서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비밀번호가 틀려도 Database link created</a:t>
            </a:r>
          </a:p>
          <a:p>
            <a:pPr algn="l">
              <a:spcAft>
                <a:spcPts val="1000"/>
              </a:spcAft>
            </a:pPr>
            <a:r>
              <a:rPr sz="1700" b="0">
                <a:solidFill>
                  <a:srgbClr val="222222"/>
                </a:solidFill>
                <a:latin typeface="맑은 고딕"/>
              </a:rPr>
              <a:t>•  첫 사용에서 ORA-01017 + ORA-02063</a:t>
            </a:r>
          </a:p>
          <a:p>
            <a:pPr algn="l">
              <a:spcAft>
                <a:spcPts val="1000"/>
              </a:spcAft>
            </a:pPr>
            <a:r>
              <a:rPr sz="1700" b="0">
                <a:solidFill>
                  <a:srgbClr val="222222"/>
                </a:solidFill>
                <a:latin typeface="맑은 고딕"/>
              </a:rPr>
              <a:t>•  ORA-02063은 어느 링크에서 온 오류인지 표시</a:t>
            </a:r>
          </a:p>
          <a:p>
            <a:pPr algn="l">
              <a:spcAft>
                <a:spcPts val="1000"/>
              </a:spcAft>
            </a:pPr>
            <a:r>
              <a:rPr sz="1700" b="0">
                <a:solidFill>
                  <a:srgbClr val="222222"/>
                </a:solidFill>
                <a:latin typeface="맑은 고딕"/>
              </a:rPr>
              <a:t>•  DBA_DB_LINKS의 VALID는 YES로 남는다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 시점 오류 구분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메시지로 원인을 좁힌다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ORA-12154: 로컬 서버가 별칭을 해석 못함</a:t>
            </a:r>
          </a:p>
          <a:p>
            <a:pPr algn="l">
              <a:spcAft>
                <a:spcPts val="1000"/>
              </a:spcAft>
            </a:pPr>
            <a:r>
              <a:rPr sz="1700" b="0">
                <a:solidFill>
                  <a:srgbClr val="222222"/>
                </a:solidFill>
                <a:latin typeface="맑은 고딕"/>
              </a:rPr>
              <a:t>•  ORA-01017 + 02063: 원격 계정·비밀번호 불일치</a:t>
            </a:r>
          </a:p>
          <a:p>
            <a:pPr algn="l">
              <a:spcAft>
                <a:spcPts val="1000"/>
              </a:spcAft>
            </a:pPr>
            <a:r>
              <a:rPr sz="1700" b="0">
                <a:solidFill>
                  <a:srgbClr val="222222"/>
                </a:solidFill>
                <a:latin typeface="맑은 고딕"/>
              </a:rPr>
              <a:t>•  ORA-02085: GLOBAL_NAMES와 링크 이름 불일치</a:t>
            </a:r>
          </a:p>
          <a:p>
            <a:pPr algn="l">
              <a:spcAft>
                <a:spcPts val="1000"/>
              </a:spcAft>
            </a:pPr>
            <a:r>
              <a:rPr sz="1700" b="0">
                <a:solidFill>
                  <a:srgbClr val="222222"/>
                </a:solidFill>
                <a:latin typeface="맑은 고딕"/>
              </a:rPr>
              <a:t>•  ORA-02019: 내 스키마나 공용에 그 링크가 없음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USER 함수의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원격 계정은 원격 뷰로 확인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SELECT USER FROM dual@링크 = 로컬 사용자</a:t>
            </a:r>
          </a:p>
          <a:p>
            <a:pPr algn="l">
              <a:spcAft>
                <a:spcPts val="1000"/>
              </a:spcAft>
            </a:pPr>
            <a:r>
              <a:rPr sz="1700" b="0">
                <a:solidFill>
                  <a:srgbClr val="222222"/>
                </a:solidFill>
                <a:latin typeface="맑은 고딕"/>
              </a:rPr>
              <a:t>•  USER는 로컬에서 평가된다</a:t>
            </a:r>
          </a:p>
          <a:p>
            <a:pPr algn="l">
              <a:spcAft>
                <a:spcPts val="1000"/>
              </a:spcAft>
            </a:pPr>
            <a:r>
              <a:rPr sz="1700" b="0">
                <a:solidFill>
                  <a:srgbClr val="222222"/>
                </a:solidFill>
                <a:latin typeface="맑은 고딕"/>
              </a:rPr>
              <a:t>•  SELECT username FROM user_users@링크 = 원격 계정</a:t>
            </a:r>
          </a:p>
          <a:p>
            <a:pPr algn="l">
              <a:spcAft>
                <a:spcPts val="1000"/>
              </a:spcAft>
            </a:pPr>
            <a:r>
              <a:rPr sz="1700" b="0">
                <a:solidFill>
                  <a:srgbClr val="222222"/>
                </a:solidFill>
                <a:latin typeface="맑은 고딕"/>
              </a:rPr>
              <a:t>•  공용 링크에서도 USER는 SCOTT, 원격은 SEC05_RMT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링크를 통한 권한 위임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정의자 권한 프로시저</a:t>
            </a:r>
          </a:p>
          <a:p>
            <a:pPr algn="l">
              <a:spcAft>
                <a:spcPts val="800"/>
              </a:spcAft>
            </a:pPr>
            <a:r>
              <a:rPr sz="1600" b="0">
                <a:solidFill>
                  <a:srgbClr val="FFFFFF"/>
                </a:solidFill>
                <a:latin typeface="맑은 고딕"/>
              </a:rPr>
              <a:t>•  원격 객체 GRANT 불가와 로컬 뷰</a:t>
            </a:r>
          </a:p>
          <a:p>
            <a:pPr algn="l">
              <a:spcAft>
                <a:spcPts val="800"/>
              </a:spcAft>
            </a:pPr>
            <a:r>
              <a:rPr sz="1600" b="0">
                <a:solidFill>
                  <a:srgbClr val="FFFFFF"/>
                </a:solidFill>
                <a:latin typeface="맑은 고딕"/>
              </a:rPr>
              <a:t>•  위임 방식 비교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프로시저로 원격 DML 위임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링크는 소유자 문맥에서만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링크 소유자의 프로시저가 원격 테이블을 갱신</a:t>
            </a:r>
          </a:p>
          <a:p>
            <a:pPr algn="l">
              <a:spcAft>
                <a:spcPts val="1000"/>
              </a:spcAft>
            </a:pPr>
            <a:r>
              <a:rPr sz="1700" b="0">
                <a:solidFill>
                  <a:srgbClr val="222222"/>
                </a:solidFill>
                <a:latin typeface="맑은 고딕"/>
              </a:rPr>
              <a:t>•  업무 계정은 EXECUTE만 받는다(역할 경유 가능)</a:t>
            </a:r>
          </a:p>
          <a:p>
            <a:pPr algn="l">
              <a:spcAft>
                <a:spcPts val="1000"/>
              </a:spcAft>
            </a:pPr>
            <a:r>
              <a:rPr sz="1700" b="0">
                <a:solidFill>
                  <a:srgbClr val="222222"/>
                </a:solidFill>
                <a:latin typeface="맑은 고딕"/>
              </a:rPr>
              <a:t>•  업무 계정은 링크 이름도 비밀번호도 모른다</a:t>
            </a:r>
          </a:p>
          <a:p>
            <a:pPr algn="l">
              <a:spcAft>
                <a:spcPts val="1000"/>
              </a:spcAft>
            </a:pPr>
            <a:r>
              <a:rPr sz="1700" b="0">
                <a:solidFill>
                  <a:srgbClr val="222222"/>
                </a:solidFill>
                <a:latin typeface="맑은 고딕"/>
              </a:rPr>
              <a:t>•  호출 세션의 COMMIT이 원격까지 확정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원격 객체에는 GRANT 불가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ORA-02021과 로컬 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GRANT SELECT ON emp@링크 → ORA-02021</a:t>
            </a:r>
          </a:p>
          <a:p>
            <a:pPr algn="l">
              <a:spcAft>
                <a:spcPts val="1000"/>
              </a:spcAft>
            </a:pPr>
            <a:r>
              <a:rPr sz="1700" b="0">
                <a:solidFill>
                  <a:srgbClr val="222222"/>
                </a:solidFill>
                <a:latin typeface="맑은 고딕"/>
              </a:rPr>
              <a:t>•  GRANT는 DDL, 원격 DDL은 링크로 불가</a:t>
            </a:r>
          </a:p>
          <a:p>
            <a:pPr algn="l">
              <a:spcAft>
                <a:spcPts val="1000"/>
              </a:spcAft>
            </a:pPr>
            <a:r>
              <a:rPr sz="1700" b="0">
                <a:solidFill>
                  <a:srgbClr val="222222"/>
                </a:solidFill>
                <a:latin typeface="맑은 고딕"/>
              </a:rPr>
              <a:t>•  로컬 뷰를 만들어 뷰에 SELECT 부여</a:t>
            </a:r>
          </a:p>
          <a:p>
            <a:pPr algn="l">
              <a:spcAft>
                <a:spcPts val="1000"/>
              </a:spcAft>
            </a:pPr>
            <a:r>
              <a:rPr sz="1700" b="0">
                <a:solidFill>
                  <a:srgbClr val="222222"/>
                </a:solidFill>
                <a:latin typeface="맑은 고딕"/>
              </a:rPr>
              <a:t>•  받은 사용자는 동의어로 로컬처럼 사용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위임 방식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넘기는가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로컬 뷰: 정해진 열·행 조회</a:t>
            </a:r>
          </a:p>
          <a:p>
            <a:pPr algn="l">
              <a:spcAft>
                <a:spcPts val="1000"/>
              </a:spcAft>
            </a:pPr>
            <a:r>
              <a:rPr sz="1700" b="0">
                <a:solidFill>
                  <a:srgbClr val="222222"/>
                </a:solidFill>
                <a:latin typeface="맑은 고딕"/>
              </a:rPr>
              <a:t>•  로컬 프로시저: 허용한 작업만 변경</a:t>
            </a:r>
          </a:p>
          <a:p>
            <a:pPr algn="l">
              <a:spcAft>
                <a:spcPts val="1000"/>
              </a:spcAft>
            </a:pPr>
            <a:r>
              <a:rPr sz="1700" b="0">
                <a:solidFill>
                  <a:srgbClr val="222222"/>
                </a:solidFill>
                <a:latin typeface="맑은 고딕"/>
              </a:rPr>
              <a:t>•  원격 프로시저 호출: 변경 규칙을 원격이 소유</a:t>
            </a:r>
          </a:p>
          <a:p>
            <a:pPr algn="l">
              <a:spcAft>
                <a:spcPts val="1000"/>
              </a:spcAft>
            </a:pPr>
            <a:r>
              <a:rPr sz="1700" b="0">
                <a:solidFill>
                  <a:srgbClr val="222222"/>
                </a:solidFill>
                <a:latin typeface="맑은 고딕"/>
              </a:rPr>
              <a:t>•  공용 링크: 원격 계정 권한 전체를 모두에게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계정 권한 설계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소유자와 링크 계정 분리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조회용: CREATE SESSION + 대상 SELECT</a:t>
            </a:r>
          </a:p>
          <a:p>
            <a:pPr algn="l">
              <a:spcAft>
                <a:spcPts val="1000"/>
              </a:spcAft>
            </a:pPr>
            <a:r>
              <a:rPr sz="1700" b="0">
                <a:solidFill>
                  <a:srgbClr val="222222"/>
                </a:solidFill>
                <a:latin typeface="맑은 고딕"/>
              </a:rPr>
              <a:t>•  변경용: 원격 프로시저 EXECUTE만</a:t>
            </a:r>
          </a:p>
          <a:p>
            <a:pPr algn="l">
              <a:spcAft>
                <a:spcPts val="1000"/>
              </a:spcAft>
            </a:pPr>
            <a:r>
              <a:rPr sz="1700" b="0">
                <a:solidFill>
                  <a:srgbClr val="222222"/>
                </a:solidFill>
                <a:latin typeface="맑은 고딕"/>
              </a:rPr>
              <a:t>•  이관용: FULL 역할은 작업 기간에만</a:t>
            </a:r>
          </a:p>
          <a:p>
            <a:pPr algn="l">
              <a:spcAft>
                <a:spcPts val="1000"/>
              </a:spcAft>
            </a:pPr>
            <a:r>
              <a:rPr sz="1700" b="0">
                <a:solidFill>
                  <a:srgbClr val="222222"/>
                </a:solidFill>
                <a:latin typeface="맑은 고딕"/>
              </a:rPr>
              <a:t>•  링크 계정이 데이터 소유자면 범위를 좁힐 수 없다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링크 자격 증명 보호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비밀번호 저장 위치</a:t>
            </a:r>
          </a:p>
          <a:p>
            <a:pPr algn="l">
              <a:spcAft>
                <a:spcPts val="800"/>
              </a:spcAft>
            </a:pPr>
            <a:r>
              <a:rPr sz="1600" b="0">
                <a:solidFill>
                  <a:srgbClr val="FFFFFF"/>
                </a:solidFill>
                <a:latin typeface="맑은 고딕"/>
              </a:rPr>
              <a:t>•  비밀번호 교체와 ALTER DATABASE LINK</a:t>
            </a:r>
          </a:p>
          <a:p>
            <a:pPr algn="l">
              <a:spcAft>
                <a:spcPts val="800"/>
              </a:spcAft>
            </a:pPr>
            <a:r>
              <a:rPr sz="1600" b="0">
                <a:solidFill>
                  <a:srgbClr val="FFFFFF"/>
                </a:solidFill>
                <a:latin typeface="맑은 고딕"/>
              </a:rPr>
              <a:t>•  공용 링크와 링크 생성 권한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비밀번호는 어디에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SYS.LINK$의 PASSWORDX</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DBA_DB_LINKS에는 비밀번호 열이 없다</a:t>
            </a:r>
          </a:p>
          <a:p>
            <a:pPr algn="l">
              <a:spcAft>
                <a:spcPts val="1000"/>
              </a:spcAft>
            </a:pPr>
            <a:r>
              <a:rPr sz="1700" b="0">
                <a:solidFill>
                  <a:srgbClr val="222222"/>
                </a:solidFill>
                <a:latin typeface="맑은 고딕"/>
              </a:rPr>
              <a:t>•  SYS.LINK$: PASSWORD 비어 있음, PASSWORDX 암호화 값</a:t>
            </a:r>
          </a:p>
          <a:p>
            <a:pPr algn="l">
              <a:spcAft>
                <a:spcPts val="1000"/>
              </a:spcAft>
            </a:pPr>
            <a:r>
              <a:rPr sz="1700" b="0">
                <a:solidFill>
                  <a:srgbClr val="222222"/>
                </a:solidFill>
                <a:latin typeface="맑은 고딕"/>
              </a:rPr>
              <a:t>•  SYSTEM(DBA)도 LINK$ 조회 시 ORA-01031</a:t>
            </a:r>
          </a:p>
          <a:p>
            <a:pPr algn="l">
              <a:spcAft>
                <a:spcPts val="1000"/>
              </a:spcAft>
            </a:pPr>
            <a:r>
              <a:rPr sz="1700" b="0">
                <a:solidFill>
                  <a:srgbClr val="222222"/>
                </a:solidFill>
                <a:latin typeface="맑은 고딕"/>
              </a:rPr>
              <a:t>•  원격 비밀번호는 별도 비밀 관리 체계에 보관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원격 비밀번호를 바꾸면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ALTER DATABASE LINK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원격 ALTER USER 후 링크는 ORA-01017</a:t>
            </a:r>
          </a:p>
          <a:p>
            <a:pPr algn="l">
              <a:spcAft>
                <a:spcPts val="1000"/>
              </a:spcAft>
            </a:pPr>
            <a:r>
              <a:rPr sz="1700" b="0">
                <a:solidFill>
                  <a:srgbClr val="222222"/>
                </a:solidFill>
                <a:latin typeface="맑은 고딕"/>
              </a:rPr>
              <a:t>•  12.2+: ALTER DATABASE LINK ... IDENTIFIED BY 새 값</a:t>
            </a:r>
          </a:p>
          <a:p>
            <a:pPr algn="l">
              <a:spcAft>
                <a:spcPts val="1000"/>
              </a:spcAft>
            </a:pPr>
            <a:r>
              <a:rPr sz="1700" b="0">
                <a:solidFill>
                  <a:srgbClr val="222222"/>
                </a:solidFill>
                <a:latin typeface="맑은 고딕"/>
              </a:rPr>
              <a:t>•  고정 사용자 링크만, 사용자 변경은 불가</a:t>
            </a:r>
          </a:p>
          <a:p>
            <a:pPr algn="l">
              <a:spcAft>
                <a:spcPts val="1000"/>
              </a:spcAft>
            </a:pPr>
            <a:r>
              <a:rPr sz="1700" b="0">
                <a:solidFill>
                  <a:srgbClr val="222222"/>
                </a:solidFill>
                <a:latin typeface="맑은 고딕"/>
              </a:rPr>
              <a:t>•  의존 뷰·프로시저가 INVALID를 거치지 않는다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비밀번호 만료와 링크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정기 장애의 원인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 프로파일의 수명 만료 → 링크 정기 장애</a:t>
            </a:r>
          </a:p>
          <a:p>
            <a:pPr algn="l">
              <a:spcAft>
                <a:spcPts val="1000"/>
              </a:spcAft>
            </a:pPr>
            <a:r>
              <a:rPr sz="1700" b="0">
                <a:solidFill>
                  <a:srgbClr val="222222"/>
                </a:solidFill>
                <a:latin typeface="맑은 고딕"/>
              </a:rPr>
              <a:t>•  링크 계정 전용 프로파일로 교체 주기 관리</a:t>
            </a:r>
          </a:p>
          <a:p>
            <a:pPr algn="l">
              <a:spcAft>
                <a:spcPts val="1000"/>
              </a:spcAft>
            </a:pPr>
            <a:r>
              <a:rPr sz="1700" b="0">
                <a:solidFill>
                  <a:srgbClr val="222222"/>
                </a:solidFill>
                <a:latin typeface="맑은 고딕"/>
              </a:rPr>
              <a:t>•  실패 로그인 잠금은 모든 링크를 멈출 수 있다</a:t>
            </a:r>
          </a:p>
          <a:p>
            <a:pPr algn="l">
              <a:spcAft>
                <a:spcPts val="1000"/>
              </a:spcAft>
            </a:pPr>
            <a:r>
              <a:rPr sz="1700" b="0">
                <a:solidFill>
                  <a:srgbClr val="222222"/>
                </a:solidFill>
                <a:latin typeface="맑은 고딕"/>
              </a:rPr>
              <a:t>•  교체: ALTER USER → ALTER DATABASE LINK → 확인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공용 링크의 위험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권한 없는 계정도 원격 접근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아무 권한 없는 SCOTT도 공용 링크 사용</a:t>
            </a:r>
          </a:p>
          <a:p>
            <a:pPr algn="l">
              <a:spcAft>
                <a:spcPts val="1000"/>
              </a:spcAft>
            </a:pPr>
            <a:r>
              <a:rPr sz="1700" b="0">
                <a:solidFill>
                  <a:srgbClr val="222222"/>
                </a:solidFill>
                <a:latin typeface="맑은 고딕"/>
              </a:rPr>
              <a:t>•  원격에서는 링크 계정으로 접속</a:t>
            </a:r>
          </a:p>
          <a:p>
            <a:pPr algn="l">
              <a:spcAft>
                <a:spcPts val="1000"/>
              </a:spcAft>
            </a:pPr>
            <a:r>
              <a:rPr sz="1700" b="0">
                <a:solidFill>
                  <a:srgbClr val="222222"/>
                </a:solidFill>
                <a:latin typeface="맑은 고딕"/>
              </a:rPr>
              <a:t>•  원격 감사에는 링크 계정 이름만 남는다</a:t>
            </a:r>
          </a:p>
          <a:p>
            <a:pPr algn="l">
              <a:spcAft>
                <a:spcPts val="1000"/>
              </a:spcAft>
            </a:pPr>
            <a:r>
              <a:rPr sz="1700" b="0">
                <a:solidFill>
                  <a:srgbClr val="222222"/>
                </a:solidFill>
                <a:latin typeface="맑은 고딕"/>
              </a:rPr>
              <a:t>•  꼭 필요하면 연결 사용자 방식 공용 링크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생성 권한과 감사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나가는 통로 관리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 DATABASE LINK = 외부로 나가는 통로</a:t>
            </a:r>
          </a:p>
          <a:p>
            <a:pPr algn="l">
              <a:spcAft>
                <a:spcPts val="1000"/>
              </a:spcAft>
            </a:pPr>
            <a:r>
              <a:rPr sz="1700" b="0">
                <a:solidFill>
                  <a:srgbClr val="222222"/>
                </a:solidFill>
                <a:latin typeface="맑은 고딕"/>
              </a:rPr>
              <a:t>•  샘플 스키마 계정의 권한 회수</a:t>
            </a:r>
          </a:p>
          <a:p>
            <a:pPr algn="l">
              <a:spcAft>
                <a:spcPts val="1000"/>
              </a:spcAft>
            </a:pPr>
            <a:r>
              <a:rPr sz="1700" b="0">
                <a:solidFill>
                  <a:srgbClr val="222222"/>
                </a:solidFill>
                <a:latin typeface="맑은 고딕"/>
              </a:rPr>
              <a:t>•  링크 DDL은 Unified Auditing으로 감사</a:t>
            </a:r>
          </a:p>
          <a:p>
            <a:pPr algn="l">
              <a:spcAft>
                <a:spcPts val="1000"/>
              </a:spcAft>
            </a:pPr>
            <a:r>
              <a:rPr sz="1700" b="0">
                <a:solidFill>
                  <a:srgbClr val="222222"/>
                </a:solidFill>
                <a:latin typeface="맑은 고딕"/>
              </a:rPr>
              <a:t>•  원격은 DBLINK_INFO로 들어온 경로 확인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구간 암호화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로컬 서버가 클라이언트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고정 사용자 링크는 자격 증명을 원격에 보낸다</a:t>
            </a:r>
          </a:p>
          <a:p>
            <a:pPr algn="l">
              <a:spcAft>
                <a:spcPts val="1000"/>
              </a:spcAft>
            </a:pPr>
            <a:r>
              <a:rPr sz="1700" b="0">
                <a:solidFill>
                  <a:srgbClr val="222222"/>
                </a:solidFill>
                <a:latin typeface="맑은 고딕"/>
              </a:rPr>
              <a:t>•  접속 후 데이터는 기본적으로 평문</a:t>
            </a:r>
          </a:p>
          <a:p>
            <a:pPr algn="l">
              <a:spcAft>
                <a:spcPts val="1000"/>
              </a:spcAft>
            </a:pPr>
            <a:r>
              <a:rPr sz="1700" b="0">
                <a:solidFill>
                  <a:srgbClr val="222222"/>
                </a:solidFill>
                <a:latin typeface="맑은 고딕"/>
              </a:rPr>
              <a:t>•  로컬 서버 sqlnet.ora = 링크의 클라이언트 설정</a:t>
            </a:r>
          </a:p>
          <a:p>
            <a:pPr algn="l">
              <a:spcAft>
                <a:spcPts val="1000"/>
              </a:spcAft>
            </a:pPr>
            <a:r>
              <a:rPr sz="1700" b="0">
                <a:solidFill>
                  <a:srgbClr val="222222"/>
                </a:solidFill>
                <a:latin typeface="맑은 고딕"/>
              </a:rPr>
              <a:t>•  네이티브 암호화 또는 TLS(11장)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분산 트랜잭션과 연결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링크 연결의 수명과 V$DBLINK</a:t>
            </a:r>
          </a:p>
          <a:p>
            <a:pPr algn="l">
              <a:spcAft>
                <a:spcPts val="800"/>
              </a:spcAft>
            </a:pPr>
            <a:r>
              <a:rPr sz="1600" b="0">
                <a:solidFill>
                  <a:srgbClr val="FFFFFF"/>
                </a:solidFill>
                <a:latin typeface="맑은 고딕"/>
              </a:rPr>
              <a:t>•  링크 닫기와 ORA-02080</a:t>
            </a:r>
          </a:p>
          <a:p>
            <a:pPr algn="l">
              <a:spcAft>
                <a:spcPts val="800"/>
              </a:spcAft>
            </a:pPr>
            <a:r>
              <a:rPr sz="1600" b="0">
                <a:solidFill>
                  <a:srgbClr val="FFFFFF"/>
                </a:solidFill>
                <a:latin typeface="맑은 고딕"/>
              </a:rPr>
              <a:t>•  in-doubt 트랜잭션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연결의 수명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세션이 끝날 때까지 열려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OPEN_LINKS(기본 4): 세션당 동시 연결 상한</a:t>
            </a:r>
          </a:p>
          <a:p>
            <a:pPr algn="l">
              <a:spcAft>
                <a:spcPts val="1000"/>
              </a:spcAft>
            </a:pPr>
            <a:r>
              <a:rPr sz="1700" b="0">
                <a:solidFill>
                  <a:srgbClr val="222222"/>
                </a:solidFill>
                <a:latin typeface="맑은 고딕"/>
              </a:rPr>
              <a:t>•  V$DBLINK: 현재 세션의 링크만 표시</a:t>
            </a:r>
          </a:p>
          <a:p>
            <a:pPr algn="l">
              <a:spcAft>
                <a:spcPts val="1000"/>
              </a:spcAft>
            </a:pPr>
            <a:r>
              <a:rPr sz="1700" b="0">
                <a:solidFill>
                  <a:srgbClr val="222222"/>
                </a:solidFill>
                <a:latin typeface="맑은 고딕"/>
              </a:rPr>
              <a:t>•  원격 SELECT만 해도 IN_TRANSACTION = YES</a:t>
            </a:r>
          </a:p>
          <a:p>
            <a:pPr algn="l">
              <a:spcAft>
                <a:spcPts val="1000"/>
              </a:spcAft>
            </a:pPr>
            <a:r>
              <a:rPr sz="1700" b="0">
                <a:solidFill>
                  <a:srgbClr val="222222"/>
                </a:solidFill>
                <a:latin typeface="맑은 고딕"/>
              </a:rPr>
              <a:t>•  연결 풀 세션은 원격 연결을 오래 붙잡는다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닫기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트랜잭션 중에는 ORA-02080</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SESSION CLOSE DATABASE LINK 링크</a:t>
            </a:r>
          </a:p>
          <a:p>
            <a:pPr algn="l">
              <a:spcAft>
                <a:spcPts val="1000"/>
              </a:spcAft>
            </a:pPr>
            <a:r>
              <a:rPr sz="1700" b="0">
                <a:solidFill>
                  <a:srgbClr val="222222"/>
                </a:solidFill>
                <a:latin typeface="맑은 고딕"/>
              </a:rPr>
              <a:t>•  원격 UPDATE 후 UPDATE_SENT = YES</a:t>
            </a:r>
          </a:p>
          <a:p>
            <a:pPr algn="l">
              <a:spcAft>
                <a:spcPts val="1000"/>
              </a:spcAft>
            </a:pPr>
            <a:r>
              <a:rPr sz="1700" b="0">
                <a:solidFill>
                  <a:srgbClr val="222222"/>
                </a:solidFill>
                <a:latin typeface="맑은 고딕"/>
              </a:rPr>
              <a:t>•  커밋 전 닫기 → ORA-02080</a:t>
            </a:r>
          </a:p>
          <a:p>
            <a:pPr algn="l">
              <a:spcAft>
                <a:spcPts val="1000"/>
              </a:spcAft>
            </a:pPr>
            <a:r>
              <a:rPr sz="1700" b="0">
                <a:solidFill>
                  <a:srgbClr val="222222"/>
                </a:solidFill>
                <a:latin typeface="맑은 고딕"/>
              </a:rPr>
              <a:t>•  COMMIT 또는 ROLLBACK 후 닫힌다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 Pump NETWORK_LINK</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동작 방식</a:t>
            </a:r>
          </a:p>
          <a:p>
            <a:pPr algn="l">
              <a:spcAft>
                <a:spcPts val="800"/>
              </a:spcAft>
            </a:pPr>
            <a:r>
              <a:rPr sz="1600" b="0">
                <a:solidFill>
                  <a:srgbClr val="FFFFFF"/>
                </a:solidFill>
                <a:latin typeface="맑은 고딕"/>
              </a:rPr>
              <a:t>•  권한 수준 일치(ORA-39149)</a:t>
            </a:r>
          </a:p>
          <a:p>
            <a:pPr algn="l">
              <a:spcAft>
                <a:spcPts val="800"/>
              </a:spcAft>
            </a:pPr>
            <a:r>
              <a:rPr sz="1600" b="0">
                <a:solidFill>
                  <a:srgbClr val="FFFFFF"/>
                </a:solidFill>
                <a:latin typeface="맑은 고딕"/>
              </a:rPr>
              <a:t>•  덤프 파일 암호화(ORA-39174)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NETWORK_LINK 동작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원격 데이터를 링크로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expdp: 작업 DB 서버에 덤프 파일 생성</a:t>
            </a:r>
          </a:p>
          <a:p>
            <a:pPr algn="l">
              <a:spcAft>
                <a:spcPts val="1000"/>
              </a:spcAft>
            </a:pPr>
            <a:r>
              <a:rPr sz="1700" b="0">
                <a:solidFill>
                  <a:srgbClr val="222222"/>
                </a:solidFill>
                <a:latin typeface="맑은 고딕"/>
              </a:rPr>
              <a:t>•  impdp: 덤프 없이 원격 → 로컬 직접 적재</a:t>
            </a:r>
          </a:p>
          <a:p>
            <a:pPr algn="l">
              <a:spcAft>
                <a:spcPts val="1000"/>
              </a:spcAft>
            </a:pPr>
            <a:r>
              <a:rPr sz="1700" b="0">
                <a:solidFill>
                  <a:srgbClr val="222222"/>
                </a:solidFill>
                <a:latin typeface="맑은 고딕"/>
              </a:rPr>
              <a:t>•  원격 DB에 디렉터리·디스크가 필요 없다</a:t>
            </a:r>
          </a:p>
          <a:p>
            <a:pPr algn="l">
              <a:spcAft>
                <a:spcPts val="1000"/>
              </a:spcAft>
            </a:pPr>
            <a:r>
              <a:rPr sz="1700" b="0">
                <a:solidFill>
                  <a:srgbClr val="222222"/>
                </a:solidFill>
                <a:latin typeface="맑은 고딕"/>
              </a:rPr>
              <a:t>•  일관된 시점은 FLASHBACK_SCN(원격 기준)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권한 수준 일치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ORA-31631 + ORA-39149</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다른 스키마 export: DATAPUMP_EXP_FULL_DATABASE</a:t>
            </a:r>
          </a:p>
          <a:p>
            <a:pPr algn="l">
              <a:spcAft>
                <a:spcPts val="1000"/>
              </a:spcAft>
            </a:pPr>
            <a:r>
              <a:rPr sz="1700" b="0">
                <a:solidFill>
                  <a:srgbClr val="222222"/>
                </a:solidFill>
                <a:latin typeface="맑은 고딕"/>
              </a:rPr>
              <a:t>•  로컬만 FULL이면 ORA-39149</a:t>
            </a:r>
          </a:p>
          <a:p>
            <a:pPr algn="l">
              <a:spcAft>
                <a:spcPts val="1000"/>
              </a:spcAft>
            </a:pPr>
            <a:r>
              <a:rPr sz="1700" b="0">
                <a:solidFill>
                  <a:srgbClr val="222222"/>
                </a:solidFill>
                <a:latin typeface="맑은 고딕"/>
              </a:rPr>
              <a:t>•  원격 링크 계정에도 같은 역할 부여</a:t>
            </a:r>
          </a:p>
          <a:p>
            <a:pPr algn="l">
              <a:spcAft>
                <a:spcPts val="1000"/>
              </a:spcAft>
            </a:pPr>
            <a:r>
              <a:rPr sz="1700" b="0">
                <a:solidFill>
                  <a:srgbClr val="222222"/>
                </a:solidFill>
                <a:latin typeface="맑은 고딕"/>
              </a:rPr>
              <a:t>•  작업 후 원격 역할 회수·계정 잠금</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덤프 파일 암호화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비밀번호 없이는 가져올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ENCRYPTION=ALL, ENCRYPTION_MODE=PASSWORD</a:t>
            </a:r>
          </a:p>
          <a:p>
            <a:pPr algn="l">
              <a:spcAft>
                <a:spcPts val="1000"/>
              </a:spcAft>
            </a:pPr>
            <a:r>
              <a:rPr sz="1700" b="0">
                <a:solidFill>
                  <a:srgbClr val="222222"/>
                </a:solidFill>
                <a:latin typeface="맑은 고딕"/>
              </a:rPr>
              <a:t>•  비밀번호 없이 impdp → ORA-39002 + ORA-39174</a:t>
            </a:r>
          </a:p>
          <a:p>
            <a:pPr algn="l">
              <a:spcAft>
                <a:spcPts val="1000"/>
              </a:spcAft>
            </a:pPr>
            <a:r>
              <a:rPr sz="1700" b="0">
                <a:solidFill>
                  <a:srgbClr val="222222"/>
                </a:solidFill>
                <a:latin typeface="맑은 고딕"/>
              </a:rPr>
              <a:t>•  Data Pump 암호화는 Advanced Security 옵션</a:t>
            </a:r>
          </a:p>
          <a:p>
            <a:pPr algn="l">
              <a:spcAft>
                <a:spcPts val="1000"/>
              </a:spcAft>
            </a:pPr>
            <a:r>
              <a:rPr sz="1700" b="0">
                <a:solidFill>
                  <a:srgbClr val="222222"/>
                </a:solidFill>
                <a:latin typeface="맑은 고딕"/>
              </a:rPr>
              <a:t>•  명령행 비밀번호 대신 파라미터 파일·프롬프트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덤프 없는 가져오기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impdp NETWORK_LINK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tables=scott.dept, remap_schema로 바로 적재</a:t>
            </a:r>
          </a:p>
          <a:p>
            <a:pPr algn="l">
              <a:spcAft>
                <a:spcPts val="1000"/>
              </a:spcAft>
            </a:pPr>
            <a:r>
              <a:rPr sz="1700" b="0">
                <a:solidFill>
                  <a:srgbClr val="222222"/>
                </a:solidFill>
                <a:latin typeface="맑은 고딕"/>
              </a:rPr>
              <a:t>•  디스크를 거치지 않아 파일 보관 문제 없음</a:t>
            </a:r>
          </a:p>
          <a:p>
            <a:pPr algn="l">
              <a:spcAft>
                <a:spcPts val="1000"/>
              </a:spcAft>
            </a:pPr>
            <a:r>
              <a:rPr sz="1700" b="0">
                <a:solidFill>
                  <a:srgbClr val="222222"/>
                </a:solidFill>
                <a:latin typeface="맑은 고딕"/>
              </a:rPr>
              <a:t>•  대신 데이터가 네트워크로 흐른다</a:t>
            </a:r>
          </a:p>
          <a:p>
            <a:pPr algn="l">
              <a:spcAft>
                <a:spcPts val="1000"/>
              </a:spcAft>
            </a:pPr>
            <a:r>
              <a:rPr sz="1700" b="0">
                <a:solidFill>
                  <a:srgbClr val="222222"/>
                </a:solidFill>
                <a:latin typeface="맑은 고딕"/>
              </a:rPr>
              <a:t>•  EXCLUDE=GRANT: 대상에 없는 수혜자 권한 제외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점검과 운영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데이터 딕셔너리 뷰</a:t>
            </a:r>
          </a:p>
          <a:p>
            <a:pPr algn="l">
              <a:spcAft>
                <a:spcPts val="800"/>
              </a:spcAft>
            </a:pPr>
            <a:r>
              <a:rPr sz="1600" b="0">
                <a:solidFill>
                  <a:srgbClr val="FFFFFF"/>
                </a:solidFill>
                <a:latin typeface="맑은 고딕"/>
              </a:rPr>
              <a:t>•  점검 조회 모음</a:t>
            </a:r>
          </a:p>
          <a:p>
            <a:pPr algn="l">
              <a:spcAft>
                <a:spcPts val="800"/>
              </a:spcAft>
            </a:pPr>
            <a:r>
              <a:rPr sz="1600" b="0">
                <a:solidFill>
                  <a:srgbClr val="FFFFFF"/>
                </a:solidFill>
                <a:latin typeface="맑은 고딕"/>
              </a:rPr>
              <a:t>•  운영 시 주의점</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링크 관련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어디서 보나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DBA_DB_LINKS: OWNER, USERNAME, HOST, VALID</a:t>
            </a:r>
          </a:p>
          <a:p>
            <a:pPr algn="l">
              <a:spcAft>
                <a:spcPts val="1000"/>
              </a:spcAft>
            </a:pPr>
            <a:r>
              <a:rPr sz="1700" b="0">
                <a:solidFill>
                  <a:srgbClr val="222222"/>
                </a:solidFill>
                <a:latin typeface="맑은 고딕"/>
              </a:rPr>
              <a:t>•  V$DBLINK: 현재 세션의 링크 상태</a:t>
            </a:r>
          </a:p>
          <a:p>
            <a:pPr algn="l">
              <a:spcAft>
                <a:spcPts val="1000"/>
              </a:spcAft>
            </a:pPr>
            <a:r>
              <a:rPr sz="1700" b="0">
                <a:solidFill>
                  <a:srgbClr val="222222"/>
                </a:solidFill>
                <a:latin typeface="맑은 고딕"/>
              </a:rPr>
              <a:t>•  DBA_DEPENDENCIES: REFERENCED_LINK_NAME</a:t>
            </a:r>
          </a:p>
          <a:p>
            <a:pPr algn="l">
              <a:spcAft>
                <a:spcPts val="1000"/>
              </a:spcAft>
            </a:pPr>
            <a:r>
              <a:rPr sz="1700" b="0">
                <a:solidFill>
                  <a:srgbClr val="222222"/>
                </a:solidFill>
                <a:latin typeface="맑은 고딕"/>
              </a:rPr>
              <a:t>•  DBA_2PC_PENDING, DBA_SYS_PRIVS, GLOBAL_NAME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조회 모음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정기 점검 항목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공용 링크 목록(OWNER = PUBLIC)</a:t>
            </a:r>
          </a:p>
          <a:p>
            <a:pPr algn="l">
              <a:spcAft>
                <a:spcPts val="1000"/>
              </a:spcAft>
            </a:pPr>
            <a:r>
              <a:rPr sz="1700" b="0">
                <a:solidFill>
                  <a:srgbClr val="222222"/>
                </a:solidFill>
                <a:latin typeface="맑은 고딕"/>
              </a:rPr>
              <a:t>•  고정 사용자 링크와 원격 계정</a:t>
            </a:r>
          </a:p>
          <a:p>
            <a:pPr algn="l">
              <a:spcAft>
                <a:spcPts val="1000"/>
              </a:spcAft>
            </a:pPr>
            <a:r>
              <a:rPr sz="1700" b="0">
                <a:solidFill>
                  <a:srgbClr val="222222"/>
                </a:solidFill>
                <a:latin typeface="맑은 고딕"/>
              </a:rPr>
              <a:t>•  DATABASE LINK 관련 권한 보유자</a:t>
            </a:r>
          </a:p>
          <a:p>
            <a:pPr algn="l">
              <a:spcAft>
                <a:spcPts val="1000"/>
              </a:spcAft>
            </a:pPr>
            <a:r>
              <a:rPr sz="1700" b="0">
                <a:solidFill>
                  <a:srgbClr val="222222"/>
                </a:solidFill>
                <a:latin typeface="맑은 고딕"/>
              </a:rPr>
              <a:t>•  링크 의존 객체, 원격 쪽 링크 계정 권한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복제와 이관에서 사고가 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운영 복제로 만든 테스트 DB의 링크 점검</a:t>
            </a:r>
          </a:p>
          <a:p>
            <a:pPr algn="l">
              <a:spcAft>
                <a:spcPts val="1000"/>
              </a:spcAft>
            </a:pPr>
            <a:r>
              <a:rPr sz="1700" b="0">
                <a:solidFill>
                  <a:srgbClr val="222222"/>
                </a:solidFill>
                <a:latin typeface="맑은 고딕"/>
              </a:rPr>
              <a:t>•  접속 기술자 링크는 원격 변경 시 재생성</a:t>
            </a:r>
          </a:p>
          <a:p>
            <a:pPr algn="l">
              <a:spcAft>
                <a:spcPts val="1000"/>
              </a:spcAft>
            </a:pPr>
            <a:r>
              <a:rPr sz="1700" b="0">
                <a:solidFill>
                  <a:srgbClr val="222222"/>
                </a:solidFill>
                <a:latin typeface="맑은 고딕"/>
              </a:rPr>
              <a:t>•  링크 계정을 링크별로 분리해 장애 범위 축소</a:t>
            </a:r>
          </a:p>
          <a:p>
            <a:pPr algn="l">
              <a:spcAft>
                <a:spcPts val="1000"/>
              </a:spcAft>
            </a:pPr>
            <a:r>
              <a:rPr sz="1700" b="0">
                <a:solidFill>
                  <a:srgbClr val="222222"/>
                </a:solidFill>
                <a:latin typeface="맑은 고딕"/>
              </a:rPr>
              <a:t>•  원격 업그레이드 후 인증 방식(ORA-28040) 확인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링크 = 원격 접속 정보, 원격에서는 일반 접속과 같다</a:t>
            </a:r>
          </a:p>
          <a:p>
            <a:pPr algn="l">
              <a:spcAft>
                <a:spcPts val="1000"/>
              </a:spcAft>
            </a:pPr>
            <a:r>
              <a:rPr sz="1600" b="0">
                <a:solidFill>
                  <a:srgbClr val="222222"/>
                </a:solidFill>
                <a:latin typeface="맑은 고딕"/>
              </a:rPr>
              <a:t>•  고정·연결·현재 사용자 링크는 접속 계정이 다르다</a:t>
            </a:r>
          </a:p>
          <a:p>
            <a:pPr algn="l">
              <a:spcAft>
                <a:spcPts val="1000"/>
              </a:spcAft>
            </a:pPr>
            <a:r>
              <a:rPr sz="1600" b="0">
                <a:solidFill>
                  <a:srgbClr val="222222"/>
                </a:solidFill>
                <a:latin typeface="맑은 고딕"/>
              </a:rPr>
              <a:t>•  생성은 미검증, 첫 사용에서 01017·12154·02085·02019</a:t>
            </a:r>
          </a:p>
          <a:p>
            <a:pPr algn="l">
              <a:spcAft>
                <a:spcPts val="1000"/>
              </a:spcAft>
            </a:pPr>
            <a:r>
              <a:rPr sz="1600" b="0">
                <a:solidFill>
                  <a:srgbClr val="222222"/>
                </a:solidFill>
                <a:latin typeface="맑은 고딕"/>
              </a:rPr>
              <a:t>•  원격 계정은 user_users@링크로 확인(USER는 로컬)</a:t>
            </a:r>
          </a:p>
          <a:p>
            <a:pPr algn="l">
              <a:spcAft>
                <a:spcPts val="1000"/>
              </a:spcAft>
            </a:pPr>
            <a:r>
              <a:rPr sz="1600" b="0">
                <a:solidFill>
                  <a:srgbClr val="222222"/>
                </a:solidFill>
                <a:latin typeface="맑은 고딕"/>
              </a:rPr>
              <a:t>•  원격 GRANT 불가(02021), 로컬 뷰·프로시저로 위임</a:t>
            </a:r>
          </a:p>
          <a:p>
            <a:pPr algn="l">
              <a:spcAft>
                <a:spcPts val="1000"/>
              </a:spcAft>
            </a:pPr>
            <a:r>
              <a:rPr sz="1600" b="0">
                <a:solidFill>
                  <a:srgbClr val="222222"/>
                </a:solidFill>
                <a:latin typeface="맑은 고딕"/>
              </a:rPr>
              <a:t>•  LINK$ 암호화 저장, ALTER DATABASE LINK는 권한 필요</a:t>
            </a:r>
          </a:p>
          <a:p>
            <a:pPr algn="l">
              <a:spcAft>
                <a:spcPts val="1000"/>
              </a:spcAft>
            </a:pPr>
            <a:r>
              <a:rPr sz="1600" b="0">
                <a:solidFill>
                  <a:srgbClr val="222222"/>
                </a:solidFill>
                <a:latin typeface="맑은 고딕"/>
              </a:rPr>
              <a:t>•  공용 링크 금지, 트랜잭션 중 닫기 불가(02080)</a:t>
            </a:r>
          </a:p>
          <a:p>
            <a:pPr algn="l">
              <a:spcAft>
                <a:spcPts val="1000"/>
              </a:spcAft>
            </a:pPr>
            <a:r>
              <a:rPr sz="1600" b="0">
                <a:solidFill>
                  <a:srgbClr val="222222"/>
                </a:solidFill>
                <a:latin typeface="맑은 고딕"/>
              </a:rPr>
              <a:t>•  NETWORK_LINK: ORA-39149 권한 일치, ORA-39174 암호화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틀린 비밀번호로 만든 링크의 결과는?</a:t>
            </a:r>
          </a:p>
          <a:p>
            <a:pPr algn="l">
              <a:spcAft>
                <a:spcPts val="1000"/>
              </a:spcAft>
            </a:pPr>
            <a:r>
              <a:rPr sz="1600" b="0">
                <a:solidFill>
                  <a:srgbClr val="222222"/>
                </a:solidFill>
                <a:latin typeface="맑은 고딕"/>
              </a:rPr>
              <a:t>•  Q2. SELECT USER FROM dual@고정사용자링크의 결과는?</a:t>
            </a:r>
          </a:p>
          <a:p>
            <a:pPr algn="l">
              <a:spcAft>
                <a:spcPts val="1000"/>
              </a:spcAft>
            </a:pPr>
            <a:r>
              <a:rPr sz="1600" b="0">
                <a:solidFill>
                  <a:srgbClr val="222222"/>
                </a:solidFill>
                <a:latin typeface="맑은 고딕"/>
              </a:rPr>
              <a:t>•  Q3. GRANT SELECT ON emp@링크 TO hr의 결과와 대안은?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링크 소유자의 ALTER DATABASE LINK가 ORA-01031인 이유는?</a:t>
            </a:r>
          </a:p>
          <a:p>
            <a:pPr algn="l">
              <a:spcAft>
                <a:spcPts val="1000"/>
              </a:spcAft>
            </a:pPr>
            <a:r>
              <a:rPr sz="1600" b="0">
                <a:solidFill>
                  <a:srgbClr val="222222"/>
                </a:solidFill>
                <a:latin typeface="맑은 고딕"/>
              </a:rPr>
              <a:t>•  Q5. NETWORK_LINK expdp의 ORA-39149 조치는?</a:t>
            </a:r>
          </a:p>
          <a:p>
            <a:pPr algn="l">
              <a:spcAft>
                <a:spcPts val="1000"/>
              </a:spcAft>
            </a:pPr>
            <a:r>
              <a:rPr sz="1600" b="0">
                <a:solidFill>
                  <a:srgbClr val="222222"/>
                </a:solidFill>
                <a:latin typeface="맑은 고딕"/>
              </a:rPr>
              <a:t>•  Q6. 원격 UPDATE 후 커밋 전 링크 닫기의 결과는?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링크 생성과 링크 유형</a:t>
            </a:r>
          </a:p>
          <a:p>
            <a:pPr algn="l">
              <a:spcAft>
                <a:spcPts val="1000"/>
              </a:spcAft>
            </a:pPr>
            <a:r>
              <a:rPr sz="1600" b="0">
                <a:solidFill>
                  <a:srgbClr val="222222"/>
                </a:solidFill>
                <a:latin typeface="맑은 고딕"/>
              </a:rPr>
              <a:t>•  02 정의자 권한으로 원격 DML 위임</a:t>
            </a:r>
          </a:p>
          <a:p>
            <a:pPr algn="l">
              <a:spcAft>
                <a:spcPts val="1000"/>
              </a:spcAft>
            </a:pPr>
            <a:r>
              <a:rPr sz="1600" b="0">
                <a:solidFill>
                  <a:srgbClr val="222222"/>
                </a:solidFill>
                <a:latin typeface="맑은 고딕"/>
              </a:rPr>
              <a:t>•  03 링크 자격 증명 보호와 공용 링크</a:t>
            </a:r>
          </a:p>
          <a:p>
            <a:pPr algn="l">
              <a:spcAft>
                <a:spcPts val="1000"/>
              </a:spcAft>
            </a:pPr>
            <a:r>
              <a:rPr sz="1600" b="0">
                <a:solidFill>
                  <a:srgbClr val="222222"/>
                </a:solidFill>
                <a:latin typeface="맑은 고딕"/>
              </a:rPr>
              <a:t>•  04 Data Pump NETWORK_LINK</a:t>
            </a:r>
          </a:p>
          <a:p>
            <a:pPr algn="l">
              <a:spcAft>
                <a:spcPts val="1000"/>
              </a:spcAft>
            </a:pPr>
            <a:r>
              <a:rPr sz="1600" b="0">
                <a:solidFill>
                  <a:srgbClr val="222222"/>
                </a:solidFill>
                <a:latin typeface="맑은 고딕"/>
              </a:rPr>
              <a:t>•  05 링크 세션 관리와 원복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
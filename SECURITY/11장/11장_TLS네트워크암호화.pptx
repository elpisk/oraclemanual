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Net의 기본 TCP 접속은 SQL 문장과 결과 데이터를 암호화하지 않습니다. 같은 네트워크 구간에서 패킷을 잡으면 조회 결과가 그대로 보입니다. 비밀번호 자체가 평문으로 오가지는 않지만 검증 과정의 값이 오프라인 추측 공격에 쓰일 수 있습니다. 중간자 공격은 클라이언트가 서버의 신원을 확인하지 않는다는 약점을 노립니다. TLS는 암호화와 무결성에 더해 인증서로 상대를 확인하기 때문에 이 세 가지를 모두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네이티브 네트워크 암호화는 sqlnet.ora 몇 줄로 켤 수 있어 간편하지만 서버가 진짜인지 확인하지 않습니다. 표준 TLS를 요구하는 규제나 감사가 있거나 인증서로 로그인해야 한다면 TLS를 씁니다. 예전에는 두 기능 모두 Advanced Security 옵션에 묶여 있었지만 지금은 별도 라이선스 없이 쓸 수 있습니다. 파라미터와 문서에 SSL이라는 이름이 남아 있지만 실제로 쓰는 프로토콜은 TLS입니다.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클라이언트가 서버 인증서를 받아 자신이 신뢰하는 CA로 검증하는 것이 단방향 TLS입니다. 서버가 클라이언트 인증서까지 요구하면 상호 TLS가 되고, 이때 클라이언트 인증서는 데이터베이스 로그인 수단으로도 쓸 수 있습니다. 원본 실습 자료가 이 상호 TLS 구성입니다. 핸드셰이크에서는 비대칭 키를 쓰지만 이후 실제 데이터는 합의한 대칭 세션 키로 암호화되어서 본 통신 비용은 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지갑에는 서버의 개인 키와 인증서, 그리고 클라이언트 인증서를 검증할 CA 인증서가 들어갑니다. 클라이언트 지갑에는 서버 인증서를 검증할 CA 인증서와, 상호 TLS라면 자신의 개인 키와 인증서가 들어갑니다. 양쪽이 같은 CA를 신뢰하면 서로를 검증할 수 있습니다. DN은 인증서 소유자의 이름이며, 이 문자열이 나중에 데이터베이스 사용자와 연결되므로 오타 없이 다뤄야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환경에서는 인증서 요청을 사내 CA나 공인 CA에 보내 서명을 받습니다. 실습에서는 원본 자료처럼 서버 지갑의 자체 서명 인증서를 CA로 삼아 클라이언트 요청에 직접 서명합니다. 이렇게 하면 실제 CA 없이도 요청, 서명, 가져오기의 전체 흐름을 경험할 수 있습니다. 자체 서명 CA를 신뢰 인증서로 등록하지 않은 클라이언트는 서버를 믿지 못해 접속에 실패한다는 점이 운영의 인증서 교체 사고와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TLS 지갑은 리스너와 서버 프로세스가 비밀번호 없이 열 수 있어야 하므로 auto-login으로 만듭니다. 클라이언트 쪽은 인증서 요청을 만들어 내보내고, CA가 서명한 인증서를 돌려받아 지갑에 가져옵니다. 정상 순서는 CA 인증서를 먼저 넣고 사용자 인증서를 나중에 넣는 것입니다. 실습 02에서 순서를 바꿔 보면 19.3의 orapki는 막지 않고 그대로 가져옵니다. 대신 이미 들어간 인증서를 다시 넣으려 하면 PKI-04004와 함께 신뢰 인증서를 먼저 넣으라는 안내가 나옵니다. 그래도 CA가 빠진 지갑은 접속 단계에서 검증에 실패하므로 순서를 지키도록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자료의 키 길이는 오래된 예제에서 온 값입니다. 512비트 RSA 키는 이미 오래전에 깨졌고 1024비트도 안전하지 않은 것으로 봅니다. 실습 01에서 원본 그대로 512비트를 지정하면 19.3의 orapki는 아무 경고 없이 인증서를 만듭니다. 그래서 키 길이는 도구가 아니라 운영 기준으로 막아야 합니다. 실습에서는 지갑을 비우고 2048비트로 다시 만듭니다. 키 길이를 늘려도 비용이 커지는 것은 접속 순간의 핸드셰이크뿐이고 이후 통신에는 거의 영향이 없으니 짧은 키를 쓸 이유가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01을 준비하면서 512비트 인증서를 버리려고 같은 디렉터리에 wallet create를 다시 실행했더니 성공 메시지가 나왔지만 기존 인증서가 그대로 남아 있었습니다. 그 상태에서 새 인증서를 추가하자 사용자 인증서가 여러 개 섞였고, 클라이언트 접속이 모두 인증서 검증 실패로 끝났습니다. orapki는 생각보다 많은 것을 막지 않으니 작업할 때마다 wallet display로 결과를 직접 확인하고, 지갑을 다시 만들 때는 파일을 지운 뒤 만드는 습관을 들이게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TCPS 주소는 기존 리스너에 추가해도 되고 별도 리스너를 띄워도 됩니다. 실습은 공용 설정 파일을 건드리지 않기 위해 별도 TNS_ADMIN을 쓰는 LISTENER_TLS를 2484번 포트로 띄우고 orcl을 정적으로 등록합니다. 리스너도 핸드셰이크에 참여하므로 지갑 위치를 알아야 합니다. 클라이언트 인증은 연결을 넘겨받은 서버 프로세스가 하기 때문에 리스너 쪽에서는 보통 클라이언트 인증을 끕니다.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sqlnet.ora는 연결을 받은 서버 프로세스가 읽습니다. 인증서 로그인을 받으려면 인증 서비스에 TCPS를 넣어야 하고, 로컬에서 / as sysdba로 들어오는 접속을 위해 BEQ도 함께 둡니다. 실습에서는 정적 등록의 ENVS로 TNS_ADMIN을 넘겨, TCPS 리스너가 띄우는 서버 프로세스만 이 설정을 읽게 했습니다. 기존 리스너로 들어오는 접속은 공용 sqlnet.ora를 그대로 쓰므로 다른 실습에 영향이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인증서 사용자는 DN을 지정해 만듭니다. 원본 자료는 이 단계에서 OS_AUTHENT_PREFIX를 비우고 재기동하는데, 그 파라미터는 AS 없이 IDENTIFIED EXTERNALLY로 만든 OS 인증 사용자에게 붙는 접두사라 DN 사용자와는 관계가 없습니다. 실습 03과 04에서 이 설정을 바꾸지 않고도 인증서 로그인이 되는 것을 확인합니다. 비밀번호가 없는 대신 클라이언트 지갑 파일이 곧 로그인 수단이니 지갑 보호가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지갑에는 서버를 검증할 CA 인증서가 반드시 있어야 합니다. 실습 04에서 sqlnet.ora에 지갑 위치를 빼고 먼저 접속해 오류를 확인한 뒤 위치를 추가합니다. 별칭의 PROTOCOL이 TCP라면 지갑이 있어도 평문으로 접속됩니다. 인증서 로그인의 접속 형식은 1장 SEPS와 똑같은 /@별칭이지만, SEPS는 지갑의 비밀번호를 쓰고 TLS는 지갑의 인증서를 쓴다는 차이가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지갑에 SEPS 자격 증명과 TLS 인증서를 함께 넣는 경우가 있습니다. 이때 매뉴얼은 WALLET_OVERRIDE가 TRUE면 지갑의 사용자 이름과 비밀번호가 쓰이고, FALSE면 인증서가 쓰인다고 설명합니다. 의도와 다른 계정으로 로그인되는 원인이 되기 쉬우니 구성할 때 어느 쪽을 쓸지 정해 두어야 합니다. 어느 방식으로 로그인하든 별칭이 TCPS라면 통신 구간은 암호화된다는 점도 함께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파라미터 이름이 SSL로 시작하는 것은 역사적인 이유 때문입니다. 최신 19c 릴리스 업데이트 문서는 같은 기능을 TLS_VERSION, TLS_CLIENT_AUTHENTICATION 같은 새 이름으로 소개하고 SSL_ 이름은 디프리케이트로 표시합니다. 실습 환경 19.3은 SSL_ 이름을 씁니다. 매뉴얼은 특별한 요구가 없으면 버전 파라미터를 바꾸지 말라고 권합니다. 서버 인증서 DN 대조는 중간자 공격 방어를 강화하므로 운영 클라이언트에서는 켜는 것을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04에서 같은 SCOTT 계정으로 TCPS 별칭과 일반 1521 포트에 각각 접속해 NETWORK_PROTOCOL을 비교했습니다. 비밀번호 사용자도 TCPS 별칭으로 들어오면 통신은 암호화됩니다. 반대로 같은 서버에 TCP 포트가 열려 있으면 클라이언트 설정 하나 때문에 평문으로 접속할 수 있다는 뜻이기도 합니다. 그래서 전환 기간이 끝나면 감사 기록으로 tcp 로그인이 남지 않는 것을 확인한 뒤 TCP 경로를 닫으라고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설정을 다 했다고 실제로 TLS로 붙었다고 단정하면 안 됩니다. 세션 안에서 NETWORK_PROTOCOL을 조회해 tcps인지 확인하는 것이 가장 직접적입니다. 실습 04에서는 같은 scott 계정으로 TCPS 별칭과 일반 TCP 주소에 각각 접속해 값이 어떻게 다른지 비교합니다. 인증서 로그인이라면 인증 방식과 인증된 DN도 함께 나옵니다. 서버에서는 다른 세션의 접속 정보를 V$SESSION_CONNECT_INFO로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쪽에서 다른 세션이 TLS로 들어왔는지 보려고 V$SESSION_CONNECT_INFO를 조회했더니, 인증서로 로그인한 세션의 인증 유형은 GLOBAL로 나왔고 배너에는 TLS나 TCPS라는 글자가 없었습니다. 배너 문구로 판단하려 하면 놓칠 수 있습니다. 또 DBA_USERS의 EXTERNAL_NAME에는 DN이 cn=, o= 처럼 속성 이름만 소문자로 바뀌어 저장되지만 로그인에는 문제가 없었습니다. 실습 04의 결과 화면과 함께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TLS 오류는 메시지만 보고 원인을 짐작하기 어려운 경우가 많습니다. 대부분은 지갑 위치, 지갑 권한, 신뢰 인증서 누락처럼 지갑과 인증서 문제입니다. 오류가 나면 양쪽 지갑을 orapki wallet display로 열어 CA 인증서와 사용자 인증서를 대조하는 것부터 시작합니다. 실습 04와 05에서 지갑 위치 누락과 DN 불일치를 재현해, 같은 접속 명령이 어떤 단계에서 서로 다른 오류로 끝나는지 비교해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04와 05에서 sqlplus /@orcl_tls라는 같은 명령으로 원인만 바꿔 가며 오류를 만들었습니다. 지갑을 아예 못 열면 ORA-28759, 지갑은 열었지만 인증서가 없으면 ORA-28845가 나옵니다. 인증서는 통과했는데 DB에 그 DN의 사용자가 없으면 TLS 오류가 아니라 일반 로그인 실패인 ORA-01017이 나옵니다. 오류 코드만 보고도 네트워크, 핸드셰이크, DB 인증 중 어느 단계에서 끊겼는지 짐작할 수 있도록 연결해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인증서를 바꾸면 그 인증서를 검증할 CA가 모든 클라이언트 지갑에 있어야 합니다. 대부분의 클라이언트는 새 CA를 이미 받아 두었지만 일부 서버가 누락되면 그 서버만 검증 단계에서 실패합니다. 인증서를 교체할 때는 서버 작업보다 클라이언트 준비를 먼저 끝내야 합니다. 인증서에는 만료일이 있으므로 만료 감시와 교체 연습이 운영 절차에 들어가야 합니다. 사내 CA를 쓰면 루트 CA 하나만 미리 배포해 두고 서버 인증서는 계속 갱신할 수 있어 이런 사고가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01부터 04까지가 이 절차를 순서대로 따라갑니다. 운영 환경에서는 기존 TCP 접속을 바로 막지 않고 TCPS를 추가한 뒤 클라이언트를 하나씩 옮깁니다. 모든 클라이언트가 옮겨 간 것을 확인한 다음에 TCP 주소를 닫거나 방화벽으로 막습니다. 인증서 만료일은 모든 TLS 접속을 한 번에 끊을 수 있는 날짜이므로 감시 대상에 넣습니다. 시험은 비밀번호 사용자와 인증서 사용자 모두로 하고, 로컬 SYSDBA 접속도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TLS 지갑은 auto-login이라 파일을 가진 사람이 그 인증서의 주인 행세를 할 수 있습니다. 인증서 사용자의 클라이언트 지갑은 특히 비밀번호를 대신하는 로그인 수단이니 SEPS 지갑과 같은 수준으로 보호합니다. 연결 풀 없이 짧은 접속을 반복하는 애플리케이션은 핸드셰이크 때문에 CPU 사용이 늘어날 수 있습니다. 실습처럼 서버에 클라이언트 지갑을 두는 구성은 학습용으로만 씁니다.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TLS(SSL) 네트워크 암호화</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구간을 암호화하고 상대를 인증서로 확인한다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도청·변조·중간자 공격과 TLS의 대응을 설명한다</a:t>
            </a:r>
          </a:p>
          <a:p>
            <a:pPr algn="l">
              <a:spcAft>
                <a:spcPts val="1000"/>
              </a:spcAft>
            </a:pPr>
            <a:r>
              <a:rPr sz="1600" b="0">
                <a:solidFill>
                  <a:srgbClr val="222222"/>
                </a:solidFill>
                <a:latin typeface="맑은 고딕"/>
              </a:rPr>
              <a:t>•  키, 인증서, CA, 신뢰 인증서의 관계를 설명한다</a:t>
            </a:r>
          </a:p>
          <a:p>
            <a:pPr algn="l">
              <a:spcAft>
                <a:spcPts val="1000"/>
              </a:spcAft>
            </a:pPr>
            <a:r>
              <a:rPr sz="1600" b="0">
                <a:solidFill>
                  <a:srgbClr val="222222"/>
                </a:solidFill>
                <a:latin typeface="맑은 고딕"/>
              </a:rPr>
              <a:t>•  orapki로 지갑과 인증서를 만들고 서명한다</a:t>
            </a:r>
          </a:p>
          <a:p>
            <a:pPr algn="l">
              <a:spcAft>
                <a:spcPts val="1000"/>
              </a:spcAft>
            </a:pPr>
            <a:r>
              <a:rPr sz="1600" b="0">
                <a:solidFill>
                  <a:srgbClr val="222222"/>
                </a:solidFill>
                <a:latin typeface="맑은 고딕"/>
              </a:rPr>
              <a:t>•  TCPS 리스너와 서버·클라이언트 설정을 구성한다</a:t>
            </a:r>
          </a:p>
          <a:p>
            <a:pPr algn="l">
              <a:spcAft>
                <a:spcPts val="1000"/>
              </a:spcAft>
            </a:pPr>
            <a:r>
              <a:rPr sz="1600" b="0">
                <a:solidFill>
                  <a:srgbClr val="222222"/>
                </a:solidFill>
                <a:latin typeface="맑은 고딕"/>
              </a:rPr>
              <a:t>•  인증서 DN 사용자로 비밀번호 없이 로그인한다</a:t>
            </a:r>
          </a:p>
          <a:p>
            <a:pPr algn="l">
              <a:spcAft>
                <a:spcPts val="1000"/>
              </a:spcAft>
            </a:pPr>
            <a:r>
              <a:rPr sz="1600" b="0">
                <a:solidFill>
                  <a:srgbClr val="222222"/>
                </a:solidFill>
                <a:latin typeface="맑은 고딕"/>
              </a:rPr>
              <a:t>•  TLS 접속 여부를 확인하고 오류를 진단한다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11.2  TLS의 개념</a:t>
            </a:r>
          </a:p>
          <a:p>
            <a:pPr algn="l">
              <a:spcAft>
                <a:spcPts val="1000"/>
              </a:spcAft>
            </a:pPr>
            <a:r>
              <a:rPr sz="1600" b="0">
                <a:solidFill>
                  <a:srgbClr val="222222"/>
                </a:solidFill>
                <a:latin typeface="맑은 고딕"/>
              </a:rPr>
              <a:t>•  11.3  인증서와 지갑</a:t>
            </a:r>
          </a:p>
          <a:p>
            <a:pPr algn="l">
              <a:spcAft>
                <a:spcPts val="1000"/>
              </a:spcAft>
            </a:pPr>
            <a:r>
              <a:rPr sz="1600" b="0">
                <a:solidFill>
                  <a:srgbClr val="222222"/>
                </a:solidFill>
                <a:latin typeface="맑은 고딕"/>
              </a:rPr>
              <a:t>•  11.4  서버 구성</a:t>
            </a:r>
          </a:p>
          <a:p>
            <a:pPr algn="l">
              <a:spcAft>
                <a:spcPts val="1000"/>
              </a:spcAft>
            </a:pPr>
            <a:r>
              <a:rPr sz="1600" b="0">
                <a:solidFill>
                  <a:srgbClr val="222222"/>
                </a:solidFill>
                <a:latin typeface="맑은 고딕"/>
              </a:rPr>
              <a:t>•  11.5  클라이언트 구성</a:t>
            </a:r>
          </a:p>
          <a:p>
            <a:pPr algn="l">
              <a:spcAft>
                <a:spcPts val="1000"/>
              </a:spcAft>
            </a:pPr>
            <a:r>
              <a:rPr sz="1600" b="0">
                <a:solidFill>
                  <a:srgbClr val="222222"/>
                </a:solidFill>
                <a:latin typeface="맑은 고딕"/>
              </a:rPr>
              <a:t>•  11.6  접속 확인과 문제 해결</a:t>
            </a:r>
          </a:p>
          <a:p>
            <a:pPr algn="l">
              <a:spcAft>
                <a:spcPts val="1000"/>
              </a:spcAft>
            </a:pPr>
            <a:r>
              <a:rPr sz="1600" b="0">
                <a:solidFill>
                  <a:srgbClr val="222222"/>
                </a:solidFill>
                <a:latin typeface="맑은 고딕"/>
              </a:rPr>
              <a:t>•  11.7  설계와 적용 절차  /  11.8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TLS의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네트워크 구간의 위협</a:t>
            </a:r>
          </a:p>
          <a:p>
            <a:pPr algn="l">
              <a:spcAft>
                <a:spcPts val="800"/>
              </a:spcAft>
            </a:pPr>
            <a:r>
              <a:rPr sz="1600" b="0">
                <a:solidFill>
                  <a:srgbClr val="FFFFFF"/>
                </a:solidFill>
                <a:latin typeface="맑은 고딕"/>
              </a:rPr>
              <a:t>•  네이티브 암호화와 비교</a:t>
            </a:r>
          </a:p>
          <a:p>
            <a:pPr algn="l">
              <a:spcAft>
                <a:spcPts val="800"/>
              </a:spcAft>
            </a:pPr>
            <a:r>
              <a:rPr sz="1600" b="0">
                <a:solidFill>
                  <a:srgbClr val="FFFFFF"/>
                </a:solidFill>
                <a:latin typeface="맑은 고딕"/>
              </a:rPr>
              <a:t>•  핸드셰이크 흐름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네트워크 구간의 위협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TCP 접속은 결과를 평문으로 보낸다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패킷 캡처로 SQL과 조회 결과가 보인다</a:t>
            </a:r>
          </a:p>
          <a:p>
            <a:pPr algn="l">
              <a:spcAft>
                <a:spcPts val="1000"/>
              </a:spcAft>
            </a:pPr>
            <a:r>
              <a:rPr sz="1700" b="0">
                <a:solidFill>
                  <a:srgbClr val="222222"/>
                </a:solidFill>
                <a:latin typeface="맑은 고딕"/>
              </a:rPr>
              <a:t>•  비밀번호 검증 값도 추측 공격의 재료</a:t>
            </a:r>
          </a:p>
          <a:p>
            <a:pPr algn="l">
              <a:spcAft>
                <a:spcPts val="1000"/>
              </a:spcAft>
            </a:pPr>
            <a:r>
              <a:rPr sz="1700" b="0">
                <a:solidFill>
                  <a:srgbClr val="222222"/>
                </a:solidFill>
                <a:latin typeface="맑은 고딕"/>
              </a:rPr>
              <a:t>•  중간자 공격: 양쪽에 상대인 척</a:t>
            </a:r>
          </a:p>
          <a:p>
            <a:pPr algn="l">
              <a:spcAft>
                <a:spcPts val="1000"/>
              </a:spcAft>
            </a:pPr>
            <a:r>
              <a:rPr sz="1700" b="0">
                <a:solidFill>
                  <a:srgbClr val="222222"/>
                </a:solidFill>
                <a:latin typeface="맑은 고딕"/>
              </a:rPr>
              <a:t>•  TLS: 기밀성, 무결성, 상대방 인증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네이티브 암호화와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 신원 확인은 TLS만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네이티브: sqlnet.ora 파라미터만, 기존 포트 그대로</a:t>
            </a:r>
          </a:p>
          <a:p>
            <a:pPr algn="l">
              <a:spcAft>
                <a:spcPts val="1000"/>
              </a:spcAft>
            </a:pPr>
            <a:r>
              <a:rPr sz="1700" b="0">
                <a:solidFill>
                  <a:srgbClr val="222222"/>
                </a:solidFill>
                <a:latin typeface="맑은 고딕"/>
              </a:rPr>
              <a:t>•  TLS: 지갑·인증서, 별도 TCPS 포트(관례 2484)</a:t>
            </a:r>
          </a:p>
          <a:p>
            <a:pPr algn="l">
              <a:spcAft>
                <a:spcPts val="1000"/>
              </a:spcAft>
            </a:pPr>
            <a:r>
              <a:rPr sz="1700" b="0">
                <a:solidFill>
                  <a:srgbClr val="222222"/>
                </a:solidFill>
                <a:latin typeface="맑은 고딕"/>
              </a:rPr>
              <a:t>•  인증서 기반 로그인은 TLS만 가능</a:t>
            </a:r>
          </a:p>
          <a:p>
            <a:pPr algn="l">
              <a:spcAft>
                <a:spcPts val="1000"/>
              </a:spcAft>
            </a:pPr>
            <a:r>
              <a:rPr sz="1700" b="0">
                <a:solidFill>
                  <a:srgbClr val="222222"/>
                </a:solidFill>
                <a:latin typeface="맑은 고딕"/>
              </a:rPr>
              <a:t>•  둘 다 19c EE 기본 기능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핸드셰이크 흐름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상호 TLS면 클라이언트도 인증서를 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hello: 버전과 암호 스위트 협상</a:t>
            </a:r>
          </a:p>
          <a:p>
            <a:pPr algn="l">
              <a:spcAft>
                <a:spcPts val="1000"/>
              </a:spcAft>
            </a:pPr>
            <a:r>
              <a:rPr sz="1700" b="0">
                <a:solidFill>
                  <a:srgbClr val="222222"/>
                </a:solidFill>
                <a:latin typeface="맑은 고딕"/>
              </a:rPr>
              <a:t>•  서버 인증서 전송 → 클라이언트가 CA로 검증</a:t>
            </a:r>
          </a:p>
          <a:p>
            <a:pPr algn="l">
              <a:spcAft>
                <a:spcPts val="1000"/>
              </a:spcAft>
            </a:pPr>
            <a:r>
              <a:rPr sz="1700" b="0">
                <a:solidFill>
                  <a:srgbClr val="222222"/>
                </a:solidFill>
                <a:latin typeface="맑은 고딕"/>
              </a:rPr>
              <a:t>•  상호 TLS: 클라이언트 인증서 → 서버가 검증</a:t>
            </a:r>
          </a:p>
          <a:p>
            <a:pPr algn="l">
              <a:spcAft>
                <a:spcPts val="1000"/>
              </a:spcAft>
            </a:pPr>
            <a:r>
              <a:rPr sz="1700" b="0">
                <a:solidFill>
                  <a:srgbClr val="222222"/>
                </a:solidFill>
                <a:latin typeface="맑은 고딕"/>
              </a:rPr>
              <a:t>•  세션 키 합의 후 전체 통신 암호화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인증서와 지갑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구성 요소와 지갑 내용</a:t>
            </a:r>
          </a:p>
          <a:p>
            <a:pPr algn="l">
              <a:spcAft>
                <a:spcPts val="800"/>
              </a:spcAft>
            </a:pPr>
            <a:r>
              <a:rPr sz="1600" b="0">
                <a:solidFill>
                  <a:srgbClr val="FFFFFF"/>
                </a:solidFill>
                <a:latin typeface="맑은 고딕"/>
              </a:rPr>
              <a:t>•  자체 서명 CA</a:t>
            </a:r>
          </a:p>
          <a:p>
            <a:pPr algn="l">
              <a:spcAft>
                <a:spcPts val="800"/>
              </a:spcAft>
            </a:pPr>
            <a:r>
              <a:rPr sz="1600" b="0">
                <a:solidFill>
                  <a:srgbClr val="FFFFFF"/>
                </a:solidFill>
                <a:latin typeface="맑은 고딕"/>
              </a:rPr>
              <a:t>•  orapki 명령과 키 길이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양쪽이 같은 CA를 신뢰한다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개인 키: 지갑 안, 소유자만</a:t>
            </a:r>
          </a:p>
          <a:p>
            <a:pPr algn="l">
              <a:spcAft>
                <a:spcPts val="1000"/>
              </a:spcAft>
            </a:pPr>
            <a:r>
              <a:rPr sz="1700" b="0">
                <a:solidFill>
                  <a:srgbClr val="222222"/>
                </a:solidFill>
                <a:latin typeface="맑은 고딕"/>
              </a:rPr>
              <a:t>•  인증서: 공개 키 + DN, CA가 서명</a:t>
            </a:r>
          </a:p>
          <a:p>
            <a:pPr algn="l">
              <a:spcAft>
                <a:spcPts val="1000"/>
              </a:spcAft>
            </a:pPr>
            <a:r>
              <a:rPr sz="1700" b="0">
                <a:solidFill>
                  <a:srgbClr val="222222"/>
                </a:solidFill>
                <a:latin typeface="맑은 고딕"/>
              </a:rPr>
              <a:t>•  신뢰 인증서: 상대를 검증할 CA 인증서</a:t>
            </a:r>
          </a:p>
          <a:p>
            <a:pPr algn="l">
              <a:spcAft>
                <a:spcPts val="1000"/>
              </a:spcAft>
            </a:pPr>
            <a:r>
              <a:rPr sz="1700" b="0">
                <a:solidFill>
                  <a:srgbClr val="222222"/>
                </a:solidFill>
                <a:latin typeface="맑은 고딕"/>
              </a:rPr>
              <a:t>•  DN 예: CN=tls_client,O=itwill,C=KR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자체 서명 CA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실습에서는 서버 인증서가 CA 역할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운영: 사내 CA나 공인 CA에 CSR 제출</a:t>
            </a:r>
          </a:p>
          <a:p>
            <a:pPr algn="l">
              <a:spcAft>
                <a:spcPts val="1000"/>
              </a:spcAft>
            </a:pPr>
            <a:r>
              <a:rPr sz="1700" b="0">
                <a:solidFill>
                  <a:srgbClr val="222222"/>
                </a:solidFill>
                <a:latin typeface="맑은 고딕"/>
              </a:rPr>
              <a:t>•  실습: orapki -self_signed 인증서를 CA로</a:t>
            </a:r>
          </a:p>
          <a:p>
            <a:pPr algn="l">
              <a:spcAft>
                <a:spcPts val="1000"/>
              </a:spcAft>
            </a:pPr>
            <a:r>
              <a:rPr sz="1700" b="0">
                <a:solidFill>
                  <a:srgbClr val="222222"/>
                </a:solidFill>
                <a:latin typeface="맑은 고딕"/>
              </a:rPr>
              <a:t>•  CA 인증서를 신뢰 인증서로 넣은 클라이언트만 접속</a:t>
            </a:r>
          </a:p>
          <a:p>
            <a:pPr algn="l">
              <a:spcAft>
                <a:spcPts val="1000"/>
              </a:spcAft>
            </a:pPr>
            <a:r>
              <a:rPr sz="1700" b="0">
                <a:solidFill>
                  <a:srgbClr val="222222"/>
                </a:solidFill>
                <a:latin typeface="맑은 고딕"/>
              </a:rPr>
              <a:t>•  실제 CA 없이 전체 흐름 재현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orapki 명령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CA 인증서를 먼저 넣는다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 create -auto_login: 서버 프로세스가 열 수 있게</a:t>
            </a:r>
          </a:p>
          <a:p>
            <a:pPr algn="l">
              <a:spcAft>
                <a:spcPts val="1000"/>
              </a:spcAft>
            </a:pPr>
            <a:r>
              <a:rPr sz="1700" b="0">
                <a:solidFill>
                  <a:srgbClr val="222222"/>
                </a:solidFill>
                <a:latin typeface="맑은 고딕"/>
              </a:rPr>
              <a:t>•  wallet add -self_signed / 요청 생성</a:t>
            </a:r>
          </a:p>
          <a:p>
            <a:pPr algn="l">
              <a:spcAft>
                <a:spcPts val="1000"/>
              </a:spcAft>
            </a:pPr>
            <a:r>
              <a:rPr sz="1700" b="0">
                <a:solidFill>
                  <a:srgbClr val="222222"/>
                </a:solidFill>
                <a:latin typeface="맑은 고딕"/>
              </a:rPr>
              <a:t>•  wallet export -request → cert create로 서명</a:t>
            </a:r>
          </a:p>
          <a:p>
            <a:pPr algn="l">
              <a:spcAft>
                <a:spcPts val="1000"/>
              </a:spcAft>
            </a:pPr>
            <a:r>
              <a:rPr sz="1700" b="0">
                <a:solidFill>
                  <a:srgbClr val="222222"/>
                </a:solidFill>
                <a:latin typeface="맑은 고딕"/>
              </a:rPr>
              <a:t>•  -trusted_cert 먼저, -user_cert 나중(19.3은 막지 않음)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길이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512·1024비트는 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원본: 서버 512비트, 클라이언트 1024비트</a:t>
            </a:r>
          </a:p>
          <a:p>
            <a:pPr algn="l">
              <a:spcAft>
                <a:spcPts val="1000"/>
              </a:spcAft>
            </a:pPr>
            <a:r>
              <a:rPr sz="1700" b="0">
                <a:solidFill>
                  <a:srgbClr val="222222"/>
                </a:solidFill>
                <a:latin typeface="맑은 고딕"/>
              </a:rPr>
              <a:t>•  현재 기준으로 안전하지 않은 길이</a:t>
            </a:r>
          </a:p>
          <a:p>
            <a:pPr algn="l">
              <a:spcAft>
                <a:spcPts val="1000"/>
              </a:spcAft>
            </a:pPr>
            <a:r>
              <a:rPr sz="1700" b="0">
                <a:solidFill>
                  <a:srgbClr val="222222"/>
                </a:solidFill>
                <a:latin typeface="맑은 고딕"/>
              </a:rPr>
              <a:t>•  19c 실습은 2048비트</a:t>
            </a:r>
          </a:p>
          <a:p>
            <a:pPr algn="l">
              <a:spcAft>
                <a:spcPts val="1000"/>
              </a:spcAft>
            </a:pPr>
            <a:r>
              <a:rPr sz="1700" b="0">
                <a:solidFill>
                  <a:srgbClr val="222222"/>
                </a:solidFill>
                <a:latin typeface="맑은 고딕"/>
              </a:rPr>
              <a:t>•  길이는 핸드셰이크 비용에만 영향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orapki가 막지 않는 것들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성공 메시지를 믿지 말고 display로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디렉터리에 create 재실행: 기존 인증서가 남음</a:t>
            </a:r>
          </a:p>
          <a:p>
            <a:pPr algn="l">
              <a:spcAft>
                <a:spcPts val="1000"/>
              </a:spcAft>
            </a:pPr>
            <a:r>
              <a:rPr sz="1700" b="0">
                <a:solidFill>
                  <a:srgbClr val="222222"/>
                </a:solidFill>
                <a:latin typeface="맑은 고딕"/>
              </a:rPr>
              <a:t>•  같은 DN 인증서 두 번 add: 중복으로 들어감</a:t>
            </a:r>
          </a:p>
          <a:p>
            <a:pPr algn="l">
              <a:spcAft>
                <a:spcPts val="1000"/>
              </a:spcAft>
            </a:pPr>
            <a:r>
              <a:rPr sz="1700" b="0">
                <a:solidFill>
                  <a:srgbClr val="222222"/>
                </a:solidFill>
                <a:latin typeface="맑은 고딕"/>
              </a:rPr>
              <a:t>•  섞인 지갑으로 접속하면 ORA-29024</a:t>
            </a:r>
          </a:p>
          <a:p>
            <a:pPr algn="l">
              <a:spcAft>
                <a:spcPts val="1000"/>
              </a:spcAft>
            </a:pPr>
            <a:r>
              <a:rPr sz="1700" b="0">
                <a:solidFill>
                  <a:srgbClr val="222222"/>
                </a:solidFill>
                <a:latin typeface="맑은 고딕"/>
              </a:rPr>
              <a:t>•  틀린 지갑 비밀번호는 PKI-02003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서버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TCPS 리스너</a:t>
            </a:r>
          </a:p>
          <a:p>
            <a:pPr algn="l">
              <a:spcAft>
                <a:spcPts val="800"/>
              </a:spcAft>
            </a:pPr>
            <a:r>
              <a:rPr sz="1600" b="0">
                <a:solidFill>
                  <a:srgbClr val="FFFFFF"/>
                </a:solidFill>
                <a:latin typeface="맑은 고딕"/>
              </a:rPr>
              <a:t>•  서버 sqlnet.ora</a:t>
            </a:r>
          </a:p>
          <a:p>
            <a:pPr algn="l">
              <a:spcAft>
                <a:spcPts val="800"/>
              </a:spcAft>
            </a:pPr>
            <a:r>
              <a:rPr sz="1600" b="0">
                <a:solidFill>
                  <a:srgbClr val="FFFFFF"/>
                </a:solidFill>
                <a:latin typeface="맑은 고딕"/>
              </a:rPr>
              <a:t>•  인증서 사용자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TCPS 리스너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리스너도 지갑이 필요하다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PROTOCOL = TCPS, 관례 포트 2484</a:t>
            </a:r>
          </a:p>
          <a:p>
            <a:pPr algn="l">
              <a:spcAft>
                <a:spcPts val="1000"/>
              </a:spcAft>
            </a:pPr>
            <a:r>
              <a:rPr sz="1700" b="0">
                <a:solidFill>
                  <a:srgbClr val="222222"/>
                </a:solidFill>
                <a:latin typeface="맑은 고딕"/>
              </a:rPr>
              <a:t>•  listener.ora에 WALLET_LOCATION</a:t>
            </a:r>
          </a:p>
          <a:p>
            <a:pPr algn="l">
              <a:spcAft>
                <a:spcPts val="1000"/>
              </a:spcAft>
            </a:pPr>
            <a:r>
              <a:rPr sz="1700" b="0">
                <a:solidFill>
                  <a:srgbClr val="222222"/>
                </a:solidFill>
                <a:latin typeface="맑은 고딕"/>
              </a:rPr>
              <a:t>•  리스너 쪽 SSL_CLIENT_AUTHENTICATION = FALSE</a:t>
            </a:r>
          </a:p>
          <a:p>
            <a:pPr algn="l">
              <a:spcAft>
                <a:spcPts val="1000"/>
              </a:spcAft>
            </a:pPr>
            <a:r>
              <a:rPr sz="1700" b="0">
                <a:solidFill>
                  <a:srgbClr val="222222"/>
                </a:solidFill>
                <a:latin typeface="맑은 고딕"/>
              </a:rPr>
              <a:t>•  서비스 등록: LOCAL_LISTENER 또는 정적 SID_LIST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서버 sqlnet.ora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 프로세스가 읽는 설정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WALLET_LOCATION: 서버 지갑</a:t>
            </a:r>
          </a:p>
          <a:p>
            <a:pPr algn="l">
              <a:spcAft>
                <a:spcPts val="1000"/>
              </a:spcAft>
            </a:pPr>
            <a:r>
              <a:rPr sz="1700" b="0">
                <a:solidFill>
                  <a:srgbClr val="222222"/>
                </a:solidFill>
                <a:latin typeface="맑은 고딕"/>
              </a:rPr>
              <a:t>•  SQLNET.AUTHENTICATION_SERVICES = (BEQ, TCPS)</a:t>
            </a:r>
          </a:p>
          <a:p>
            <a:pPr algn="l">
              <a:spcAft>
                <a:spcPts val="1000"/>
              </a:spcAft>
            </a:pPr>
            <a:r>
              <a:rPr sz="1700" b="0">
                <a:solidFill>
                  <a:srgbClr val="222222"/>
                </a:solidFill>
                <a:latin typeface="맑은 고딕"/>
              </a:rPr>
              <a:t>•  SSL_CLIENT_AUTHENTICATION = TRUE: 상호 TLS</a:t>
            </a:r>
          </a:p>
          <a:p>
            <a:pPr algn="l">
              <a:spcAft>
                <a:spcPts val="1000"/>
              </a:spcAft>
            </a:pPr>
            <a:r>
              <a:rPr sz="1700" b="0">
                <a:solidFill>
                  <a:srgbClr val="222222"/>
                </a:solidFill>
                <a:latin typeface="맑은 고딕"/>
              </a:rPr>
              <a:t>•  BEQ를 빼면 로컬 OS 인증에 영향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인증서 사용자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DN 문자열이 정확히 같아야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USER ... IDENTIFIED EXTERNALLY AS 'DN'</a:t>
            </a:r>
          </a:p>
          <a:p>
            <a:pPr algn="l">
              <a:spcAft>
                <a:spcPts val="1000"/>
              </a:spcAft>
            </a:pPr>
            <a:r>
              <a:rPr sz="1700" b="0">
                <a:solidFill>
                  <a:srgbClr val="222222"/>
                </a:solidFill>
                <a:latin typeface="맑은 고딕"/>
              </a:rPr>
              <a:t>•  비밀번호가 없는 사용자</a:t>
            </a:r>
          </a:p>
          <a:p>
            <a:pPr algn="l">
              <a:spcAft>
                <a:spcPts val="1000"/>
              </a:spcAft>
            </a:pPr>
            <a:r>
              <a:rPr sz="1700" b="0">
                <a:solidFill>
                  <a:srgbClr val="222222"/>
                </a:solidFill>
                <a:latin typeface="맑은 고딕"/>
              </a:rPr>
              <a:t>•  원본의 OS_AUTHENT_PREFIX 변경과 재기동은 불필요</a:t>
            </a:r>
          </a:p>
          <a:p>
            <a:pPr algn="l">
              <a:spcAft>
                <a:spcPts val="1000"/>
              </a:spcAft>
            </a:pPr>
            <a:r>
              <a:rPr sz="1700" b="0">
                <a:solidFill>
                  <a:srgbClr val="222222"/>
                </a:solidFill>
                <a:latin typeface="맑은 고딕"/>
              </a:rPr>
              <a:t>•  클라이언트 지갑이 곧 로그인 수단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클라이언트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클라이언트 sqlnet.ora와 TCPS 별칭</a:t>
            </a:r>
          </a:p>
          <a:p>
            <a:pPr algn="l">
              <a:spcAft>
                <a:spcPts val="800"/>
              </a:spcAft>
            </a:pPr>
            <a:r>
              <a:rPr sz="1600" b="0">
                <a:solidFill>
                  <a:srgbClr val="FFFFFF"/>
                </a:solidFill>
                <a:latin typeface="맑은 고딕"/>
              </a:rPr>
              <a:t>•  TLS 관련 파라미터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PROTOCOL이 TCPS여야 암호화된다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WALLET_LOCATION: 클라이언트 지갑</a:t>
            </a:r>
          </a:p>
          <a:p>
            <a:pPr algn="l">
              <a:spcAft>
                <a:spcPts val="1000"/>
              </a:spcAft>
            </a:pPr>
            <a:r>
              <a:rPr sz="1700" b="0">
                <a:solidFill>
                  <a:srgbClr val="222222"/>
                </a:solidFill>
                <a:latin typeface="맑은 고딕"/>
              </a:rPr>
              <a:t>•  AUTHENTICATION_SERVICES = (TCPS)</a:t>
            </a:r>
          </a:p>
          <a:p>
            <a:pPr algn="l">
              <a:spcAft>
                <a:spcPts val="1000"/>
              </a:spcAft>
            </a:pPr>
            <a:r>
              <a:rPr sz="1700" b="0">
                <a:solidFill>
                  <a:srgbClr val="222222"/>
                </a:solidFill>
                <a:latin typeface="맑은 고딕"/>
              </a:rPr>
              <a:t>•  별칭 ORCL_TLS: TCPS, 2484</a:t>
            </a:r>
          </a:p>
          <a:p>
            <a:pPr algn="l">
              <a:spcAft>
                <a:spcPts val="1000"/>
              </a:spcAft>
            </a:pPr>
            <a:r>
              <a:rPr sz="1700" b="0">
                <a:solidFill>
                  <a:srgbClr val="222222"/>
                </a:solidFill>
                <a:latin typeface="맑은 고딕"/>
              </a:rPr>
              <a:t>•  sqlplus /@ORCL_TLS: 지갑의 인증서로 로그인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SEPS와 함께 쓸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WALLET_OVERRIDE가 인증서보다 우선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지갑에 자격 증명과 인증서</a:t>
            </a:r>
          </a:p>
          <a:p>
            <a:pPr algn="l">
              <a:spcAft>
                <a:spcPts val="1000"/>
              </a:spcAft>
            </a:pPr>
            <a:r>
              <a:rPr sz="1700" b="0">
                <a:solidFill>
                  <a:srgbClr val="222222"/>
                </a:solidFill>
                <a:latin typeface="맑은 고딕"/>
              </a:rPr>
              <a:t>•  WALLET_OVERRIDE = TRUE면 비밀번호 로그인</a:t>
            </a:r>
          </a:p>
          <a:p>
            <a:pPr algn="l">
              <a:spcAft>
                <a:spcPts val="1000"/>
              </a:spcAft>
            </a:pPr>
            <a:r>
              <a:rPr sz="1700" b="0">
                <a:solidFill>
                  <a:srgbClr val="222222"/>
                </a:solidFill>
                <a:latin typeface="맑은 고딕"/>
              </a:rPr>
              <a:t>•  인증서 로그인을 원하면 WALLET_OVERRIDE 제거</a:t>
            </a:r>
          </a:p>
          <a:p>
            <a:pPr algn="l">
              <a:spcAft>
                <a:spcPts val="1000"/>
              </a:spcAft>
            </a:pPr>
            <a:r>
              <a:rPr sz="1700" b="0">
                <a:solidFill>
                  <a:srgbClr val="222222"/>
                </a:solidFill>
                <a:latin typeface="맑은 고딕"/>
              </a:rPr>
              <a:t>•  접속 자체는 어느 쪽이든 TCPS 암호화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TLS 관련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최신 문서는 TLS_ 이름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SSL_CLIENT_AUTHENTICATION: 기본 TRUE</a:t>
            </a:r>
          </a:p>
          <a:p>
            <a:pPr algn="l">
              <a:spcAft>
                <a:spcPts val="1000"/>
              </a:spcAft>
            </a:pPr>
            <a:r>
              <a:rPr sz="1700" b="0">
                <a:solidFill>
                  <a:srgbClr val="222222"/>
                </a:solidFill>
                <a:latin typeface="맑은 고딕"/>
              </a:rPr>
              <a:t>•  SSL_VERSION: 기본은 협상, 원본 0은 협상</a:t>
            </a:r>
          </a:p>
          <a:p>
            <a:pPr algn="l">
              <a:spcAft>
                <a:spcPts val="1000"/>
              </a:spcAft>
            </a:pPr>
            <a:r>
              <a:rPr sz="1700" b="0">
                <a:solidFill>
                  <a:srgbClr val="222222"/>
                </a:solidFill>
                <a:latin typeface="맑은 고딕"/>
              </a:rPr>
              <a:t>•  SSL_SERVER_DN_MATCH: 기본 NO, 운영 클라이언트는 검토</a:t>
            </a:r>
          </a:p>
          <a:p>
            <a:pPr algn="l">
              <a:spcAft>
                <a:spcPts val="1000"/>
              </a:spcAft>
            </a:pPr>
            <a:r>
              <a:rPr sz="1700" b="0">
                <a:solidFill>
                  <a:srgbClr val="222222"/>
                </a:solidFill>
                <a:latin typeface="맑은 고딕"/>
              </a:rPr>
              <a:t>•  최신 19c RU 문서: TLS_VERSION 등으로 대체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TCPS와 TCP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암호화와 인증 방식은 별개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인증서 사용자 /@orcl_tls: tcps, SSL</a:t>
            </a:r>
          </a:p>
          <a:p>
            <a:pPr algn="l">
              <a:spcAft>
                <a:spcPts val="1000"/>
              </a:spcAft>
            </a:pPr>
            <a:r>
              <a:rPr sz="1700" b="0">
                <a:solidFill>
                  <a:srgbClr val="222222"/>
                </a:solidFill>
                <a:latin typeface="맑은 고딕"/>
              </a:rPr>
              <a:t>•  SCOTT, TCPS 별칭: tcps, PASSWORD</a:t>
            </a:r>
          </a:p>
          <a:p>
            <a:pPr algn="l">
              <a:spcAft>
                <a:spcPts val="1000"/>
              </a:spcAft>
            </a:pPr>
            <a:r>
              <a:rPr sz="1700" b="0">
                <a:solidFill>
                  <a:srgbClr val="222222"/>
                </a:solidFill>
                <a:latin typeface="맑은 고딕"/>
              </a:rPr>
              <a:t>•  SCOTT, Easy Connect 1521: tcp, PASSWORD</a:t>
            </a:r>
          </a:p>
          <a:p>
            <a:pPr algn="l">
              <a:spcAft>
                <a:spcPts val="1000"/>
              </a:spcAft>
            </a:pPr>
            <a:r>
              <a:rPr sz="1700" b="0">
                <a:solidFill>
                  <a:srgbClr val="222222"/>
                </a:solidFill>
                <a:latin typeface="맑은 고딕"/>
              </a:rPr>
              <a:t>•  별칭 하나 차이로 평문 접속이 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접속 확인과 문제 해결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TLS 접속 확인</a:t>
            </a:r>
          </a:p>
          <a:p>
            <a:pPr algn="l">
              <a:spcAft>
                <a:spcPts val="800"/>
              </a:spcAft>
            </a:pPr>
            <a:r>
              <a:rPr sz="1600" b="0">
                <a:solidFill>
                  <a:srgbClr val="FFFFFF"/>
                </a:solidFill>
                <a:latin typeface="맑은 고딕"/>
              </a:rPr>
              <a:t>•  자주 만나는 오류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TLS 접속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NETWORK_PROTOCOL이 tcps인가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NETWORK_PROTOCOL: tcps / tcp</a:t>
            </a:r>
          </a:p>
          <a:p>
            <a:pPr algn="l">
              <a:spcAft>
                <a:spcPts val="1000"/>
              </a:spcAft>
            </a:pPr>
            <a:r>
              <a:rPr sz="1700" b="0">
                <a:solidFill>
                  <a:srgbClr val="222222"/>
                </a:solidFill>
                <a:latin typeface="맑은 고딕"/>
              </a:rPr>
              <a:t>•  AUTHENTICATION_METHOD: SSL / PASSWORD</a:t>
            </a:r>
          </a:p>
          <a:p>
            <a:pPr algn="l">
              <a:spcAft>
                <a:spcPts val="1000"/>
              </a:spcAft>
            </a:pPr>
            <a:r>
              <a:rPr sz="1700" b="0">
                <a:solidFill>
                  <a:srgbClr val="222222"/>
                </a:solidFill>
                <a:latin typeface="맑은 고딕"/>
              </a:rPr>
              <a:t>•  AUTHENTICATED_IDENTITY: 인증서 DN</a:t>
            </a:r>
          </a:p>
          <a:p>
            <a:pPr algn="l">
              <a:spcAft>
                <a:spcPts val="1000"/>
              </a:spcAft>
            </a:pPr>
            <a:r>
              <a:rPr sz="1700" b="0">
                <a:solidFill>
                  <a:srgbClr val="222222"/>
                </a:solidFill>
                <a:latin typeface="맑은 고딕"/>
              </a:rPr>
              <a:t>•  서버에서: V$SESSION_CONNECT_INFO 배너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서버에서 본 인증서 세션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배너에는 TLS라는 글자가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V$SESSION_CONNECT_INFO.AUTHENTICATION_TYPE = GLOBAL</a:t>
            </a:r>
          </a:p>
          <a:p>
            <a:pPr algn="l">
              <a:spcAft>
                <a:spcPts val="1000"/>
              </a:spcAft>
            </a:pPr>
            <a:r>
              <a:rPr sz="1700" b="0">
                <a:solidFill>
                  <a:srgbClr val="222222"/>
                </a:solidFill>
                <a:latin typeface="맑은 고딕"/>
              </a:rPr>
              <a:t>•  배너: 인증·암호화·체크섬 서비스 이름만</a:t>
            </a:r>
          </a:p>
          <a:p>
            <a:pPr algn="l">
              <a:spcAft>
                <a:spcPts val="1000"/>
              </a:spcAft>
            </a:pPr>
            <a:r>
              <a:rPr sz="1700" b="0">
                <a:solidFill>
                  <a:srgbClr val="222222"/>
                </a:solidFill>
                <a:latin typeface="맑은 고딕"/>
              </a:rPr>
              <a:t>•  DBA_USERS.EXTERNAL_NAME은 속성 이름이 소문자</a:t>
            </a:r>
          </a:p>
          <a:p>
            <a:pPr algn="l">
              <a:spcAft>
                <a:spcPts val="1000"/>
              </a:spcAft>
            </a:pPr>
            <a:r>
              <a:rPr sz="1700" b="0">
                <a:solidFill>
                  <a:srgbClr val="222222"/>
                </a:solidFill>
                <a:latin typeface="맑은 고딕"/>
              </a:rPr>
              <a:t>•  판단은 AUTHENTICATION_TYPE과 감사 기록으로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자주 만나는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대부분 지갑과 인증서 문제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ORA-28759: 지갑을 열지 못함</a:t>
            </a:r>
          </a:p>
          <a:p>
            <a:pPr algn="l">
              <a:spcAft>
                <a:spcPts val="1000"/>
              </a:spcAft>
            </a:pPr>
            <a:r>
              <a:rPr sz="1700" b="0">
                <a:solidFill>
                  <a:srgbClr val="222222"/>
                </a:solidFill>
                <a:latin typeface="맑은 고딕"/>
              </a:rPr>
              <a:t>•  ORA-29024: 인증서 검증 실패, CA 누락</a:t>
            </a:r>
          </a:p>
          <a:p>
            <a:pPr algn="l">
              <a:spcAft>
                <a:spcPts val="1000"/>
              </a:spcAft>
            </a:pPr>
            <a:r>
              <a:rPr sz="1700" b="0">
                <a:solidFill>
                  <a:srgbClr val="222222"/>
                </a:solidFill>
                <a:latin typeface="맑은 고딕"/>
              </a:rPr>
              <a:t>•  ORA-28860 / ORA-12560: 핸드셰이크·프로토콜 문제</a:t>
            </a:r>
          </a:p>
          <a:p>
            <a:pPr algn="l">
              <a:spcAft>
                <a:spcPts val="1000"/>
              </a:spcAft>
            </a:pPr>
            <a:r>
              <a:rPr sz="1700" b="0">
                <a:solidFill>
                  <a:srgbClr val="222222"/>
                </a:solidFill>
                <a:latin typeface="맑은 고딕"/>
              </a:rPr>
              <a:t>•  ORA-01017: DN에 맞는 사용자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접속, 다른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코드로 끊긴 단계를 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지갑 위치 없음: ORA-28759</a:t>
            </a:r>
          </a:p>
          <a:p>
            <a:pPr algn="l">
              <a:spcAft>
                <a:spcPts val="1000"/>
              </a:spcAft>
            </a:pPr>
            <a:r>
              <a:rPr sz="1700" b="0">
                <a:solidFill>
                  <a:srgbClr val="222222"/>
                </a:solidFill>
                <a:latin typeface="맑은 고딕"/>
              </a:rPr>
              <a:t>•  빈 지갑: ORA-28845 No certificate</a:t>
            </a:r>
          </a:p>
          <a:p>
            <a:pPr algn="l">
              <a:spcAft>
                <a:spcPts val="1000"/>
              </a:spcAft>
            </a:pPr>
            <a:r>
              <a:rPr sz="1700" b="0">
                <a:solidFill>
                  <a:srgbClr val="222222"/>
                </a:solidFill>
                <a:latin typeface="맑은 고딕"/>
              </a:rPr>
              <a:t>•  DN 불일치: ORA-01017(핸드셰이크는 통과)</a:t>
            </a:r>
          </a:p>
          <a:p>
            <a:pPr algn="l">
              <a:spcAft>
                <a:spcPts val="1000"/>
              </a:spcAft>
            </a:pPr>
            <a:r>
              <a:rPr sz="1700" b="0">
                <a:solidFill>
                  <a:srgbClr val="222222"/>
                </a:solidFill>
                <a:latin typeface="맑은 고딕"/>
              </a:rPr>
              <a:t>•  DN은 ALTER USER ... IDENTIFIED EXTERNALLY AS로 수정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인증서 교체 후 일부만 끊겼다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새 CA를 모르는 클라이언트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서버 인증서를 새 CA 서명본으로 교체</a:t>
            </a:r>
          </a:p>
          <a:p>
            <a:pPr algn="l">
              <a:spcAft>
                <a:spcPts val="1000"/>
              </a:spcAft>
            </a:pPr>
            <a:r>
              <a:rPr sz="1700" b="0">
                <a:solidFill>
                  <a:srgbClr val="222222"/>
                </a:solidFill>
                <a:latin typeface="맑은 고딕"/>
              </a:rPr>
              <a:t>•  보고서 서버 두 대만 ORA-29024</a:t>
            </a:r>
          </a:p>
          <a:p>
            <a:pPr algn="l">
              <a:spcAft>
                <a:spcPts val="1000"/>
              </a:spcAft>
            </a:pPr>
            <a:r>
              <a:rPr sz="1700" b="0">
                <a:solidFill>
                  <a:srgbClr val="222222"/>
                </a:solidFill>
                <a:latin typeface="맑은 고딕"/>
              </a:rPr>
              <a:t>•  클라이언트 지갑에 옛 CA만 있었음</a:t>
            </a:r>
          </a:p>
          <a:p>
            <a:pPr algn="l">
              <a:spcAft>
                <a:spcPts val="1000"/>
              </a:spcAft>
            </a:pPr>
            <a:r>
              <a:rPr sz="1700" b="0">
                <a:solidFill>
                  <a:srgbClr val="222222"/>
                </a:solidFill>
                <a:latin typeface="맑은 고딕"/>
              </a:rPr>
              <a:t>•  교체 전 모든 클라이언트에 새 CA 선배포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적용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CA 결정부터 접속 시험까지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TCP를 닫는 것은 맨 마지막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 결정 → 서버 지갑·인증서 → 클라이언트 지갑·CA</a:t>
            </a:r>
          </a:p>
          <a:p>
            <a:pPr algn="l">
              <a:spcAft>
                <a:spcPts val="1000"/>
              </a:spcAft>
            </a:pPr>
            <a:r>
              <a:rPr sz="1700" b="0">
                <a:solidFill>
                  <a:srgbClr val="222222"/>
                </a:solidFill>
                <a:latin typeface="맑은 고딕"/>
              </a:rPr>
              <a:t>•  클라이언트 인증서 요청·서명·가져오기</a:t>
            </a:r>
          </a:p>
          <a:p>
            <a:pPr algn="l">
              <a:spcAft>
                <a:spcPts val="1000"/>
              </a:spcAft>
            </a:pPr>
            <a:r>
              <a:rPr sz="1700" b="0">
                <a:solidFill>
                  <a:srgbClr val="222222"/>
                </a:solidFill>
                <a:latin typeface="맑은 고딕"/>
              </a:rPr>
              <a:t>•  TCPS 리스너, 서버 sqlnet.ora, 인증서 사용자</a:t>
            </a:r>
          </a:p>
          <a:p>
            <a:pPr algn="l">
              <a:spcAft>
                <a:spcPts val="1000"/>
              </a:spcAft>
            </a:pPr>
            <a:r>
              <a:rPr sz="1700" b="0">
                <a:solidFill>
                  <a:srgbClr val="222222"/>
                </a:solidFill>
                <a:latin typeface="맑은 고딕"/>
              </a:rPr>
              <a:t>•  클라이언트 설정 → 접속 시험 → 점진 전환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지갑 보호, 인증서 수명, 성능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지갑 파일이 곧 신원이다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서버·클라이언트 지갑 모두 소유자 전용 권한</a:t>
            </a:r>
          </a:p>
          <a:p>
            <a:pPr algn="l">
              <a:spcAft>
                <a:spcPts val="1000"/>
              </a:spcAft>
            </a:pPr>
            <a:r>
              <a:rPr sz="1700" b="0">
                <a:solidFill>
                  <a:srgbClr val="222222"/>
                </a:solidFill>
                <a:latin typeface="맑은 고딕"/>
              </a:rPr>
              <a:t>•  인증서 수명 관리와 교체 연습</a:t>
            </a:r>
          </a:p>
          <a:p>
            <a:pPr algn="l">
              <a:spcAft>
                <a:spcPts val="1000"/>
              </a:spcAft>
            </a:pPr>
            <a:r>
              <a:rPr sz="1700" b="0">
                <a:solidFill>
                  <a:srgbClr val="222222"/>
                </a:solidFill>
                <a:latin typeface="맑은 고딕"/>
              </a:rPr>
              <a:t>•  서버 sqlnet.ora에서 BEQ 유지</a:t>
            </a:r>
          </a:p>
          <a:p>
            <a:pPr algn="l">
              <a:spcAft>
                <a:spcPts val="1000"/>
              </a:spcAft>
            </a:pPr>
            <a:r>
              <a:rPr sz="1700" b="0">
                <a:solidFill>
                  <a:srgbClr val="222222"/>
                </a:solidFill>
                <a:latin typeface="맑은 고딕"/>
              </a:rPr>
              <a:t>•  짧은 접속 반복 시 핸드셰이크 CPU 부담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TLS: 구간 암호화, 무결성, 인증서로 상대 인증</a:t>
            </a:r>
          </a:p>
          <a:p>
            <a:pPr algn="l">
              <a:spcAft>
                <a:spcPts val="1000"/>
              </a:spcAft>
            </a:pPr>
            <a:r>
              <a:rPr sz="1600" b="0">
                <a:solidFill>
                  <a:srgbClr val="222222"/>
                </a:solidFill>
                <a:latin typeface="맑은 고딕"/>
              </a:rPr>
              <a:t>•  지갑: 자기 키·인증서 + 상대 검증용 CA 인증서, auto-login</a:t>
            </a:r>
          </a:p>
          <a:p>
            <a:pPr algn="l">
              <a:spcAft>
                <a:spcPts val="1000"/>
              </a:spcAft>
            </a:pPr>
            <a:r>
              <a:rPr sz="1600" b="0">
                <a:solidFill>
                  <a:srgbClr val="222222"/>
                </a:solidFill>
                <a:latin typeface="맑은 고딕"/>
              </a:rPr>
              <a:t>•  orapki: 생성, 자체 서명, 요청·서명·가져오기(CA 먼저)</a:t>
            </a:r>
          </a:p>
          <a:p>
            <a:pPr algn="l">
              <a:spcAft>
                <a:spcPts val="1000"/>
              </a:spcAft>
            </a:pPr>
            <a:r>
              <a:rPr sz="1600" b="0">
                <a:solidFill>
                  <a:srgbClr val="222222"/>
                </a:solidFill>
                <a:latin typeface="맑은 고딕"/>
              </a:rPr>
              <a:t>•  서버: TCPS 리스너 + sqlnet.ora / 클라이언트: 지갑 + TCPS 별칭</a:t>
            </a:r>
          </a:p>
          <a:p>
            <a:pPr algn="l">
              <a:spcAft>
                <a:spcPts val="1000"/>
              </a:spcAft>
            </a:pPr>
            <a:r>
              <a:rPr sz="1600" b="0">
                <a:solidFill>
                  <a:srgbClr val="222222"/>
                </a:solidFill>
                <a:latin typeface="맑은 고딕"/>
              </a:rPr>
              <a:t>•  IDENTIFIED EXTERNALLY AS 'DN'으로 인증서 로그인</a:t>
            </a:r>
          </a:p>
          <a:p>
            <a:pPr algn="l">
              <a:spcAft>
                <a:spcPts val="1000"/>
              </a:spcAft>
            </a:pPr>
            <a:r>
              <a:rPr sz="1600" b="0">
                <a:solidFill>
                  <a:srgbClr val="222222"/>
                </a:solidFill>
                <a:latin typeface="맑은 고딕"/>
              </a:rPr>
              <a:t>•  NETWORK_PROTOCOL = tcps로 확인, 2048비트 이상 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TLS만 제공하는 기능은?</a:t>
            </a:r>
          </a:p>
          <a:p>
            <a:pPr algn="l">
              <a:spcAft>
                <a:spcPts val="1000"/>
              </a:spcAft>
            </a:pPr>
            <a:r>
              <a:rPr sz="1600" b="0">
                <a:solidFill>
                  <a:srgbClr val="222222"/>
                </a:solidFill>
                <a:latin typeface="맑은 고딕"/>
              </a:rPr>
              <a:t>•  2. 지갑 위치 없이 TCPS로 접속하면?</a:t>
            </a:r>
          </a:p>
          <a:p>
            <a:pPr algn="l">
              <a:spcAft>
                <a:spcPts val="1000"/>
              </a:spcAft>
            </a:pPr>
            <a:r>
              <a:rPr sz="1600" b="0">
                <a:solidFill>
                  <a:srgbClr val="222222"/>
                </a:solidFill>
                <a:latin typeface="맑은 고딕"/>
              </a:rPr>
              <a:t>•  3. 인증서 DN 사용자를 만드는 문장은?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 TLS 접속인지 확인하는 방법은?</a:t>
            </a:r>
          </a:p>
          <a:p>
            <a:pPr algn="l">
              <a:spcAft>
                <a:spcPts val="1000"/>
              </a:spcAft>
            </a:pPr>
            <a:r>
              <a:rPr sz="1600" b="0">
                <a:solidFill>
                  <a:srgbClr val="222222"/>
                </a:solidFill>
                <a:latin typeface="맑은 고딕"/>
              </a:rPr>
              <a:t>•  5. WALLET_OVERRIDE = TRUE일 때 /@ORCL_TLS의 로그인 방식은?</a:t>
            </a:r>
          </a:p>
          <a:p>
            <a:pPr algn="l">
              <a:spcAft>
                <a:spcPts val="1000"/>
              </a:spcAft>
            </a:pPr>
            <a:r>
              <a:rPr sz="1600" b="0">
                <a:solidFill>
                  <a:srgbClr val="222222"/>
                </a:solidFill>
                <a:latin typeface="맑은 고딕"/>
              </a:rPr>
              <a:t>•  6. TLS 구성에 대한 틀린 설명은?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서버 지갑과 자체 서명 CA: 512비트, 재생성 함정, PKI-02003</a:t>
            </a:r>
          </a:p>
          <a:p>
            <a:pPr algn="l">
              <a:spcAft>
                <a:spcPts val="1000"/>
              </a:spcAft>
            </a:pPr>
            <a:r>
              <a:rPr sz="1600" b="0">
                <a:solidFill>
                  <a:srgbClr val="222222"/>
                </a:solidFill>
                <a:latin typeface="맑은 고딕"/>
              </a:rPr>
              <a:t>•  02 클라이언트 인증서 요청과 서명: 가져오기 순서, PKI-04004</a:t>
            </a:r>
          </a:p>
          <a:p>
            <a:pPr algn="l">
              <a:spcAft>
                <a:spcPts val="1000"/>
              </a:spcAft>
            </a:pPr>
            <a:r>
              <a:rPr sz="1600" b="0">
                <a:solidFill>
                  <a:srgbClr val="222222"/>
                </a:solidFill>
                <a:latin typeface="맑은 고딕"/>
              </a:rPr>
              <a:t>•  03 TCPS 리스너와 서버 구성: ENVS, TNS-01106, 인증서 사용자</a:t>
            </a:r>
          </a:p>
          <a:p>
            <a:pPr algn="l">
              <a:spcAft>
                <a:spcPts val="1000"/>
              </a:spcAft>
            </a:pPr>
            <a:r>
              <a:rPr sz="1600" b="0">
                <a:solidFill>
                  <a:srgbClr val="222222"/>
                </a:solidFill>
                <a:latin typeface="맑은 고딕"/>
              </a:rPr>
              <a:t>•  04 클라이언트 접속과 확인: ORA-28759, tcps·SSL, GLOBAL</a:t>
            </a:r>
          </a:p>
          <a:p>
            <a:pPr algn="l">
              <a:spcAft>
                <a:spcPts val="1000"/>
              </a:spcAft>
            </a:pPr>
            <a:r>
              <a:rPr sz="1600" b="0">
                <a:solidFill>
                  <a:srgbClr val="222222"/>
                </a:solidFill>
                <a:latin typeface="맑은 고딕"/>
              </a:rPr>
              <a:t>•  05 DN 불일치와 철거: ORA-01017, ORA-28845, md5 대조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
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객체 권한은 테이블 전체를 대상으로 하기 때문에, 부서장에게 자기 부서 사원만 보여 주는 요구를 권한만으로는 풀 수 없습니다. 흔히 애플리케이션이 SQL에 부서 조건을 붙이는데, 같은 계정으로 SQL*Plus나 보고서 도구에 접속하면 조건이 사라집니다. 뷰를 만드는 방법은 조건이 몇 개로 고정되어 있을 때는 괜찮지만, 사용자마다 조건이 다르면 뷰가 끝없이 늘어납니다. VPD는 테이블에 정책을 걸어 두기 때문에 어떤 경로로 들어오든 같은 조건이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사용자가 SELECT * FROM emp를 보내면 데이터베이스는 파싱 단계에서 EMP에 걸린 정책을 찾고 정책 함수를 실행합니다. 함수가 deptno = 20을 돌려주면 실제로는 WHERE deptno = 20이 붙은 문장이 실행됩니다. 사용자가 직접 deptno = 10을 붙이면 두 조건이 AND로 합쳐져 0건이 나옵니다. 재작성이 옵티마이저보다 먼저 일어나므로 정책 조건도 인덱스 선택에 쓰이고, 실행 계획의 술어 정보에 그대로 나타납니다. 실습 2에서 이 술어를 직접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보안 기능 이름이 비슷해서 혼동이 잦습니다. VPD는 행을 걸러 내고, 컬럼 수준 VPD의 ALL_ROWS 옵션은 행은 보여 주되 민감한 값만 NULL로 바꿉니다. Data Redaction은 8장에서 다루는데 값을 0이나 별표, 부분 마스킹 형태로 바꿔 보여 줍니다. Fine-Grained Auditing은 12장에서 다루며 아무것도 막지 않고 조건에 맞는 접근을 기록만 합니다. VPD 자체는 Enterprise Edition에 포함된 기능이라 별도 옵션 라이선스가 필요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함수에는 누가 무엇을 볼지 판단하는 논리가 모두 들어갑니다. 정책은 이 객체에 이런 문장이 오면 이 함수를 부르라는 등록 정보이고, DBMS_RLS.ADD_POLICY로 만듭니다. 애플리케이션 컨텍스트는 판단에 쓸 부서 번호 같은 값을 세션 메모리에 넣어 두는 장치입니다. 함수가 매번 테이블을 조회하면 느리기 때문에, 로그인 때 한 번 컨텍스트에 넣고 함수는 SYS_CONTEXT로 읽기만 하도록 설계합니다. 단순한 경우에는 USERENV 네임스페이스의 세션 사용자만으로도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실습 자료는 정책 함수를 SCOTT에, 컨텍스트 프로시저를 SYS에 만듭니다. 동작은 하지만 데이터 소유자가 자기 정책 함수를 고쳐 NULL을 돌려주게 만들면 제한이 사라집니다. SYS 스키마에 사용자 코드를 두는 것도 패치와 업그레이드 관리에 좋지 않습니다. 19c 매뉴얼 튜토리얼처럼 sysadmin_vpd라는 전용 계정을 두고 함수, 컨텍스트 패키지, 정책 등록을 모두 이 계정에서 처리합니다. DBMS_RLS 실행 권한은 정책을 지울 수 있는 권한이므로 이 계정 외에는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 중 하나라도 어긋나면 결과는 0건이거나 전체 행으로 나타나고, 대개 오류 메시지가 없습니다. 그래서 단계마다 확인 수단을 알고 있어야 합니다. 컨텍스트 값은 SYS_CONTEXT나 SESSION_CONTEXT 뷰로, 정책 함수가 무엇을 돌려주는지는 함수를 직접 호출해서, 실제로 붙은 술어는 실행 계획과 V$VPD_POLICY로 봅니다. 장애 신고가 들어오면 이 순서대로 앞에서부터 확인하는 습관을 들이면 원인을 빨리 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함수는 인자 두 개를 받아 문자열 하나를 돌려주는 평범한 PL/SQL 함수입니다. 인자 이름은 자유지만 순서와 자료형은 정해져 있고, 같은 함수를 여러 테이블에 쓸 때 객체 이름 인자로 테이블을 구분합니다. 돌려주는 값은 WHERE 키워드를 뺀 조건식입니다. 서브쿼리도 쓸 수 있지만 문장마다 실행되므로 비용을 따져야 합니다. 함수는 정의자 권한으로 돌기 때문에 함수 안에서 참조하는 테이블은 함수 소유자가 읽을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위험한 실수는 컨텍스트가 비어 있을 때 NULL을 돌려주는 함수입니다. NULL이나 빈 문자열은 술어 없음으로 해석되어 그 사용자는 모든 행을 보게 됩니다. 그래서 판단 근거가 없으면 항상 거짓인 1=2를 돌려주도록 짭니다. 반대로 인사 관리자처럼 전체를 봐야 하는 계정에게만 의도적으로 NULL을 돌려줍니다. 실습 1에서는 컨텍스트를 만들기도 전에 정책을 걸었는데, SYS_CONTEXT가 오류 없이 NULL을 돌려줘서 0건이 나오는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함수의 판단 근거로 USERENV 속성을 많이 씁니다. SESSION_USER, IP_ADDRESS, AUTHENTICATION_METHOD는 데이터베이스가 로그인 때 채우는 값이라 사용자가 바꿀 수 없습니다. 반면 MODULE과 CLIENT_IDENTIFIER는 애플리케이션이 설정하는 값이라 클라이언트에서 마음대로 넣을 수 있습니다. 특정 프로그램에서만 데이터를 보여 주겠다며 MODULE만 검사하면 누구나 같은 이름으로 접속해 우회할 수 있습니다. 클라이언트 값은 서버 측 값과 함께 조건으로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함수는 문자열만 만들기 때문에 컬럼 이름을 틀려도 컴파일 오류가 없고, ADD_POLICY도 술어를 검사하지 않습니다. 그래서 오류는 업무 사용자가 테이블을 조회하는 순간에 터집니다. 메시지만으로는 어느 정책이 원인인지 알 수 없으니 서버 트레이스 파일을 봅니다. 실습 1에서 dept_no라는 틀린 컬럼을 돌려주는 함수로 ORA-28113을 내고, 트레이스에서 정책 이름과 술어가 붙은 최종 문장, 그리고 원래 오류인 ORA-00904를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함수는 모든 문장마다 불릴 수 있으므로 가벼워야 합니다. 사용자 속성은 로그인 때 컨텍스트에 넣고 함수는 SYS_CONTEXT만 읽게 만듭니다. 술어에 쓰이는 컬럼에 인덱스가 없으면 모든 조회가 전체 스캔으로 바뀔 수 있습니다. 배포 전에는 업무 계정 세션에서 컨텍스트를 채우고 함수를 직접 호출해 반환 문자열을 확인합니다. SYS로 접속하면 정책이 적용되지 않아 결과가 다 보이므로, 정책이 잘 걸렸는지 판단하는 시험으로는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ADD_POLICY에는 인자가 많아 위치 방식으로 쓰면 순서를 틀리기 쉽습니다. 항상 이름 지정 방식으로 씁니다. 꼭 기억할 기본값은 세 가지입니다. statement_types는 SELECT, UPDATE, DELETE이고 INSERT와 INDEX는 들어 있지 않습니다. update_check는 FALSE, policy_type은 DYNAMIC입니다. 한 객체에 정책을 여러 개 걸면 술어가 모두 AND로 붙습니다. 정책을 등록하면 그 객체를 참조하는 커서가 다시 파싱되므로 운영 중에는 한가한 시간에 작업합니다.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3에서 statement_types에 INSERT를 포함해 다시 등록하면 ORA-28104 input value for statement_types is not valid가 납니다. 19c PL/SQL Packages and Types Reference의 update_check 설명에 INSERT를 쓰려면 update_check를 TRUE로 두라고 적혀 있습니다. INSERT 정책은 넣은 뒤의 행이 술어를 만족하는지 검사하는 것 말고는 할 일이 없기 때문입니다. 하나 더, DROP을 먼저 실행한 뒤 ADD가 실패하면 그 사이에 테이블이 정책 없이 열려 있다는 점도 실습에서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설정으로 정책을 걸면 SELECT, UPDATE, DELETE에는 술어가 붙지만 INSERT는 막히지 않습니다. 20번 부서 사용자가 10번 부서 행을 넣을 수 있고, 넣는 순간 그 행은 본인에게도 보이지 않습니다. 자기 부서 사원의 부서 번호를 30으로 바꾸는 UPDATE도 통과합니다. update_check를 TRUE로 주면 변경 후의 행이 술어를 만족하는지 다시 검사해 ORA-28115로 막습니다. 뷰의 WITH CHECK OPTION과 같은 동작이라고 설명하면 이해가 빠릅니다.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부서 제한과 퇴사자 숨김처럼 목적이 다른 조건은 정책을 나눠 걸면 각 함수가 단순해지고 하나만 끄기도 쉽습니다. 다만 술어는 항상 AND로 결합됩니다. 한 정책이 1=2를 돌려주면 다른 정책과 관계없이 0건이고, 한 정책의 술어에 오류가 있으면 문장 전체가 실패합니다. 실습 1에서 시험용 정책 하나의 오타가 정상 정책까지 포함한 조회 전체를 ORA-28113으로 막는 것을 봅니다. OR 조건이 필요하면 정책을 나누지 말고 한 함수에서 조합합니다.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잠시 끄려면 ENABLE_POLICY에 FALSE를 줍니다. 정의는 남아 있어 TRUE로 다시 켤 수 있지만 끄는 즉시 모든 행이 보이므로 감사 대상 작업으로 다룹니다. 12.2부터 ALTER_POLICY가 있지만 컨텍스트 속성 연결을 바꾸는 용도라 statement_types나 update_check는 바꾸지 못합니다. 정의를 바꾸려면 지우고 다시 등록해야 하는데, 두 호출 사이에 보호가 비므로 한 PL/SQL 블록에서 연달아 실행하고, 실패하면 바로 정책 존재 여부를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애플리케이션이 같은 테이블을 서로 다른 규칙으로 쓸 때 정책 그룹을 씁니다. 정책을 그룹으로 묶어 두고, 드라이빙 컨텍스트 값과 이름이 같은 그룹이 그 세션에 적용됩니다. 공통 규칙은 항상 적용되는 SYS_DEFAULT 그룹에 둡니다. statement_types의 INDEX는 함수 기반 인덱스를 만드는 동안 모든 행에 함수가 적용되어 보호된 값이 인덱스로 새는 것을 막을 때 씁니다. 단일 애플리케이션이라면 둘 다 쓰지 않아도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컨텍스트를 만들 때 USING 절에 패키지를 지정하면 그 패키지만 네임스페이스에 값을 넣을 수 있습니다. 실습 2에서 SCOTT가 DBMS_SESSION.SET_CONTEXT를 직접 호출하면 실행 권한이 있어도 ORA-01031이 납니다. 사용자가 자기 부서 번호를 마음대로 바꿔 넣지 못하게 하는 장치입니다. 값을 읽는 쪽은 제한이 없어서 정책 함수든 사용자든 SYS_CONTEXT로 읽을 수 있습니다. 컨텍스트는 패키지보다 먼저 만들어도 되고, DBA_CONTEXT에서 신뢰 패키지 이름을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실습은 SYS 세션에서 부서를 넣은 뒤 SCOTT로 접속해 조회합니다. 그대로 따라 하면 0건이 나옵니다. 로컬 컨텍스트 값은 값을 넣은 세션의 메모리에만 있고, CONNECT로 새로 열린 SCOTT 세션은 빈 컨텍스트로 시작하기 때문입니다. 실습 2에서 SYS 세션에는 20이 보이고 SCOTT 세션에는 NULL이 보이는 것을 나란히 확인한 뒤, SCOTT 세션 안에서 패키지를 호출하도록 순서를 바꿔 5건을 얻습니다. 연결 풀처럼 세션 사이에 값을 공유해야 하면 6장의 전역 컨텍스트를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실습에서는 동작을 보이려고 SCOTT가 원하는 부서를 인자로 넘겨 넣게 했습니다. 실제 시스템에서 그렇게 하면 아무 부서나 넣을 수 있어 정책이 의미를 잃습니다. 신뢰 패키지는 인자를 받지 않고 SESSION_USER로 로그인 사용자를 확인한 뒤 매핑 테이블에서 부서를 찾아 넣어야 합니다. 이 패키지를 LOGON 트리거에서 부르면 사용자가 값을 바꿀 기회가 없습니다. 트리거 안에서 예외가 나면 로그인 자체가 실패하므로 매핑에 없는 사용자에 대한 예외 처리를 반드시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마지막에 컨텍스트를 30으로 두고 SAL 조건만 준 조회의 실행 계획을 봅니다. Predicate Information에 사용자가 쓰지 않은 DEPTNO=30이 함께 들어가 있습니다. 정책 술어가 파싱 단계에서 결합되기 때문에 옵티마이저는 이 조건을 일반 조건과 똑같이 취급합니다. 그래서 정책 술어 컬럼의 인덱스가 성능에 직접 영향을 주고, SQL 계획을 고정할 때도 정책 술어가 붙은 실제 문장을 기준으로 해야 합니다. 정책이 걸렸는지 빠르게 판단하는 방법으로도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사원 이름과 부서는 누구나 보되 급여는 자기 부서 것만 보게 하는 요구에 컬럼 수준 VPD를 씁니다. sec_relevant_cols에 SAL과 COMM을 주면 그 컬럼을 SELECT 목록이나 WHERE 절에서 참조할 때만 술어가 붙습니다. 실습 4에서 이름과 부서만 조회하면 10번 부서 사원도 보이지만 SAL을 넣는 순간 20번 부서 5건만 남습니다. 컬럼을 적지 않은 COUNT(*)에도 19.3에서는 정책이 적용되어 5가 나왔습니다. 행 수를 보여 주는 화면을 설계할 때 이 점을 반영합니다.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방식에서는 급여를 조회하면 다른 부서 사원이 목록에서 통째로 빠집니다. 사원 목록은 다 보여 주고 급여만 가리고 싶다면 sec_relevant_cols_opt에 DBMS_RLS.ALL_ROWS를 줍니다. 이 옵션은 SELECT에만 쓸 수 있어서, 실습 4처럼 statement_types에 UPDATE를 함께 주면 ORA-28104가 납니다. 등록 결과는 DBA_SEC_RELEVANT_COLS의 COLUMN_OPTION에 ALL_ROWS로 남습니다. 정책 함수가 돌려주는 조건은 단순한 불리언 식이어야 한다는 제약도 함께 짚어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ALL_ROWS로 가려진 값은 0이 아니라 NULL입니다. 실습 4의 부서별 집계에서 20번은 정상 합계가 나오지만 10번과 30번은 COUNT(SAL)이 0, SUM이 NULL입니다. 전체 급여 합계를 내는 보고서가 이 정책 아래에서 돌면 오류 없이 작은 숫자가 나오고 아무도 모를 수 있습니다. 계산하는 애플리케이션에는 행을 빼는 기본 방식이 더 안전합니다. 가림 표시나 형식 유지가 필요하면 8장의 Data Redaction과 비교해 고릅니다.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유형은 정책 함수를 언제 다시 실행할지를 정합니다. 기본인 DYNAMIC은 문장마다 함수를 부르므로 가장 정확하고 가장 비쌉니다. STATIC 계열은 처음 한 번 부른 결과를 SGA에 캐시하고, SHARED가 붙으면 같은 함수를 쓰는 여러 객체가 캐시를 함께 씁니다. CONTEXT_SENSITIVE는 컨텍스트가 바뀌었을 때만 다시 부릅니다. 12.2부터는 namespace와 attribute 인자로 어떤 속성의 변화를 감시할지 지정할 수 있어, 실습 5에서 HR_CONTEXT의 DEPT만 감시하도록 등록합니다.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함수 안에서 컨텍스트 값을 읽어 deptno = 20 같은 문자열을 만든 다음 STATIC으로 등록하면, 처음 만든 술어가 SGA에 캐시되어 다른 세션에도 그대로 쓰입니다. 오류 없이 다른 부서 데이터가 보이는 사고로 이어집니다. 해결책은 술어 문자열 안에 SYS_CONTEXT 호출 자체를 넣는 것입니다. 문자열은 항상 같고 값은 실행할 때 세션마다 평가되므로 캐시 유형에서도 정확합니다. 유형이나 함수를 바꾼 뒤에는 REFRESH_POLICY로 남은 캐시를 비웁니다.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도입할 때는 DYNAMIC으로 두고 결과가 맞는지 먼저 확인합니다. 술어가 로그인 때 정해지는 부서 하나에만 의존한다면 CONTEXT_SENSITIVE로 옮기고, 술어 문자열을 SYS_CONTEXT를 포함한 고정 문자열로 만들 수 있다면 STATIC 계열이 가장 가볍습니다. 시각이나 테이블 조회 결과에 따라 달라지면 DYNAMIC을 유지합니다. 옮긴 뒤에는 같은 세션에서 컨텍스트 값을 바꿔 가며 V$VPD_POLICY에 서로 다른 술어가 기록되는지 확인합니다. 실습 5에서 deptno = 10과 30이 따로 기록됩니다.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SYS로 접속하거나 AS SYSDBA로 접속한 세션에는 VPD가 적용되지 않습니다. 실습 1에서 SCOTT는 0건인데 SYS는 14건을 보는 것으로 확인합니다. EXEMPT ACCESS POLICY 시스템 권한을 받은 사용자도 모든 정책을 건너뛰며, 특정 테이블만 면제하는 옵션은 없습니다. 실습 5에서 HR이 이 권한을 받기 전에는 0건, 받은 뒤에는 14건을 봅니다. 반대로 테이블 소유자인 SCOTT는 자기 테이블에도 정책을 받습니다. 면제 권한 부여와 사용은 반드시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Pump는 내보내는 계정의 권한으로 테이블을 읽기 때문에 정책 대상 계정으로 실행하면 술어를 통과한 행만 덤프에 들어갑니다. 경고가 나오지만 작업은 성공으로 끝나서 놓치기 쉽습니다. 복원 시험에서야 행이 모자란 것을 발견하는 사례가 있습니다. 전체 데이터를 내보내는 백업 계정에는 EXEMPT ACCESS POLICY를 주고 그 계정 사용을 감사합니다. 정책 정의는 메타데이터와 함께 옮겨지므로 다른 DB로 가져갈 때 정책 함수가 없으면 ORA-28110이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VPD가 있어도 우회할 수 있는 길은 여럿입니다. DBMS_RLS 실행 권한이 있으면 정책을 끄거나 지울 수 있고, 정책 함수 소유자는 함수를 고쳐 NULL을 돌려줄 수 있으며, 신뢰 패키지 실행 권한이 있으면 컨텍스트 값을 바꿀 수 있습니다. 정기 점검 목록에 이 다섯 가지를 넣고 DBA_TAB_PRIVS, DBA_SYS_PRIVS, DBA_POLICIES, DBA_OBJECTS로 확인합니다. 실습에서 SCOTT에게 패키지 실행 권한을 준 구성은 시험용일 뿐 운영에서는 쓰지 않는다는 점도 다시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DBA_POLICIES는 정책 정의를 보여 줍니다. 문장 유형별 적용 여부가 SEL, INS, UPD, DEL 열로, update_check는 CHK_OPTION으로 나옵니다. 컬럼 수준 VPD의 민감 컬럼은 DBA_SEC_RELEVANT_COLS에 있습니다. 실제로 어떤 술어가 붙어 실행됐는지는 V$VPD_POLICY에서 커서별로 봅니다. 정책 관리자 계정은 객체 소유자가 아니라서 USER_POLICIES로는 아무것도 보이지 않고, 실습에서도 DBA_POLICIES 조회는 SYS로 합니다. 세션의 컨텍스트 값은 SESSION_CONTEXT로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매뉴얼의 세션 기반 VPD 튜토리얼은 관리자 계정, 매핑 테이블, 컨텍스트, 신뢰 패키지, LOGON 트리거, 정책 함수, 정책 등록, 시험의 순서로 진행됩니다. 이 순서에는 이유가 있습니다. 컨텍스트를 채우는 장치가 없는 상태에서 정책부터 걸면 정책 함수가 1=2를 돌려주어 모든 업무가 갑자기 0건이 됩니다. 운영에 처음 반영할 때는 표의 순서를 지키고, 정책은 DYNAMIC으로 시작해 결과를 확인한 뒤 유형을 바꿉니다. 마지막에는 면제와 우회 경로를 점검합니다.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VPD 문제는 대부분 오류 없이 결과가 틀리는 형태로 나타납니다. 정책을 바꾸면 관련 커서가 모두 무효화되므로 업무 시간을 피합니다. 정책 함수가 참조하는 객체를 바꾸다 함수가 INVALID가 되면 그 테이블을 쓰는 모든 문장이 실패합니다. 업무 계정으로 도는 배치는 술어가 붙은 일부 행만 처리하니 계정 구성을 확인합니다. VPD는 기록을 남기지 않으므로 면제 권한 사용, 정책 비활성화, 함수 변경은 12장과 13장의 감사로 추적합니다.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Virtual Private Database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테이블에 묶인 행 단위 접근 제어</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VPD의 문장 재작성 원리를 설명한다</a:t>
            </a:r>
          </a:p>
          <a:p>
            <a:pPr algn="l">
              <a:spcAft>
                <a:spcPts val="1000"/>
              </a:spcAft>
            </a:pPr>
            <a:r>
              <a:rPr sz="1600" b="0">
                <a:solidFill>
                  <a:srgbClr val="222222"/>
                </a:solidFill>
                <a:latin typeface="맑은 고딕"/>
              </a:rPr>
              <a:t>•  정책 함수·정책·컨텍스트의 역할을 구분한다</a:t>
            </a:r>
          </a:p>
          <a:p>
            <a:pPr algn="l">
              <a:spcAft>
                <a:spcPts val="1000"/>
              </a:spcAft>
            </a:pPr>
            <a:r>
              <a:rPr sz="1600" b="0">
                <a:solidFill>
                  <a:srgbClr val="222222"/>
                </a:solidFill>
                <a:latin typeface="맑은 고딕"/>
              </a:rPr>
              <a:t>•  ADD_POLICY 인자를 목적에 맞게 지정한다</a:t>
            </a:r>
          </a:p>
          <a:p>
            <a:pPr algn="l">
              <a:spcAft>
                <a:spcPts val="1000"/>
              </a:spcAft>
            </a:pPr>
            <a:r>
              <a:rPr sz="1600" b="0">
                <a:solidFill>
                  <a:srgbClr val="222222"/>
                </a:solidFill>
                <a:latin typeface="맑은 고딕"/>
              </a:rPr>
              <a:t>•  ORA-28113·28104·28101·28102를 진단한다</a:t>
            </a:r>
          </a:p>
          <a:p>
            <a:pPr algn="l">
              <a:spcAft>
                <a:spcPts val="1000"/>
              </a:spcAft>
            </a:pPr>
            <a:r>
              <a:rPr sz="1600" b="0">
                <a:solidFill>
                  <a:srgbClr val="222222"/>
                </a:solidFill>
                <a:latin typeface="맑은 고딕"/>
              </a:rPr>
              <a:t>•  컬럼 수준 VPD와 ALL_ROWS의 차이를 설명한다</a:t>
            </a:r>
          </a:p>
          <a:p>
            <a:pPr algn="l">
              <a:spcAft>
                <a:spcPts val="1000"/>
              </a:spcAft>
            </a:pPr>
            <a:r>
              <a:rPr sz="1600" b="0">
                <a:solidFill>
                  <a:srgbClr val="222222"/>
                </a:solidFill>
                <a:latin typeface="맑은 고딕"/>
              </a:rPr>
              <a:t>•  정책 유형과 우회 경로를 점검한다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7.2 VPD의 개념  /  7.3 구성 요소</a:t>
            </a:r>
          </a:p>
          <a:p>
            <a:pPr algn="l">
              <a:spcAft>
                <a:spcPts val="1000"/>
              </a:spcAft>
            </a:pPr>
            <a:r>
              <a:rPr sz="1600" b="0">
                <a:solidFill>
                  <a:srgbClr val="222222"/>
                </a:solidFill>
                <a:latin typeface="맑은 고딕"/>
              </a:rPr>
              <a:t>•  7.4 정책 함수 작성  /  7.5 DBMS_RLS</a:t>
            </a:r>
          </a:p>
          <a:p>
            <a:pPr algn="l">
              <a:spcAft>
                <a:spcPts val="1000"/>
              </a:spcAft>
            </a:pPr>
            <a:r>
              <a:rPr sz="1600" b="0">
                <a:solidFill>
                  <a:srgbClr val="222222"/>
                </a:solidFill>
                <a:latin typeface="맑은 고딕"/>
              </a:rPr>
              <a:t>•  7.6 애플리케이션 컨텍스트와의 연계</a:t>
            </a:r>
          </a:p>
          <a:p>
            <a:pPr algn="l">
              <a:spcAft>
                <a:spcPts val="1000"/>
              </a:spcAft>
            </a:pPr>
            <a:r>
              <a:rPr sz="1600" b="0">
                <a:solidFill>
                  <a:srgbClr val="222222"/>
                </a:solidFill>
                <a:latin typeface="맑은 고딕"/>
              </a:rPr>
              <a:t>•  7.7 컬럼 수준 VPD  /  7.8 정책 유형과 성능</a:t>
            </a:r>
          </a:p>
          <a:p>
            <a:pPr algn="l">
              <a:spcAft>
                <a:spcPts val="1000"/>
              </a:spcAft>
            </a:pPr>
            <a:r>
              <a:rPr sz="1600" b="0">
                <a:solidFill>
                  <a:srgbClr val="222222"/>
                </a:solidFill>
                <a:latin typeface="맑은 고딕"/>
              </a:rPr>
              <a:t>•  7.9 우회와 면제  /  7.10 딕셔너리 뷰</a:t>
            </a:r>
          </a:p>
          <a:p>
            <a:pPr algn="l">
              <a:spcAft>
                <a:spcPts val="1000"/>
              </a:spcAft>
            </a:pPr>
            <a:r>
              <a:rPr sz="1600" b="0">
                <a:solidFill>
                  <a:srgbClr val="222222"/>
                </a:solidFill>
                <a:latin typeface="맑은 고딕"/>
              </a:rPr>
              <a:t>•  7.11 설계 절차  /  7.12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VPD의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객체 권한만으로는 행을 나눌 수 없다</a:t>
            </a:r>
          </a:p>
          <a:p>
            <a:pPr algn="l">
              <a:spcAft>
                <a:spcPts val="800"/>
              </a:spcAft>
            </a:pPr>
            <a:r>
              <a:rPr sz="1600" b="0">
                <a:solidFill>
                  <a:srgbClr val="FFFFFF"/>
                </a:solidFill>
                <a:latin typeface="맑은 고딕"/>
              </a:rPr>
              <a:t>•  파싱 단계에서 WHERE 절을 덧붙인다</a:t>
            </a:r>
          </a:p>
          <a:p>
            <a:pPr algn="l">
              <a:spcAft>
                <a:spcPts val="800"/>
              </a:spcAft>
            </a:pPr>
            <a:r>
              <a:rPr sz="1600" b="0">
                <a:solidFill>
                  <a:srgbClr val="FFFFFF"/>
                </a:solidFill>
                <a:latin typeface="맑은 고딕"/>
              </a:rPr>
              <a:t>•  접근 경로와 관계없이 같은 조건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행 단위 접근 제어가 필요한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권한은 테이블 단위로 주어진다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SELECT 권한을 받으면 모든 행을 읽는다</a:t>
            </a:r>
          </a:p>
          <a:p>
            <a:pPr algn="l">
              <a:spcAft>
                <a:spcPts val="1000"/>
              </a:spcAft>
            </a:pPr>
            <a:r>
              <a:rPr sz="1700" b="0">
                <a:solidFill>
                  <a:srgbClr val="222222"/>
                </a:solidFill>
                <a:latin typeface="맑은 고딕"/>
              </a:rPr>
              <a:t>•  애플리케이션 조건은 다른 도구로 우회된다</a:t>
            </a:r>
          </a:p>
          <a:p>
            <a:pPr algn="l">
              <a:spcAft>
                <a:spcPts val="1000"/>
              </a:spcAft>
            </a:pPr>
            <a:r>
              <a:rPr sz="1700" b="0">
                <a:solidFill>
                  <a:srgbClr val="222222"/>
                </a:solidFill>
                <a:latin typeface="맑은 고딕"/>
              </a:rPr>
              <a:t>•  부서별 뷰는 조건 수만큼 늘어난다</a:t>
            </a:r>
          </a:p>
          <a:p>
            <a:pPr algn="l">
              <a:spcAft>
                <a:spcPts val="1000"/>
              </a:spcAft>
            </a:pPr>
            <a:r>
              <a:rPr sz="1700" b="0">
                <a:solidFill>
                  <a:srgbClr val="222222"/>
                </a:solidFill>
                <a:latin typeface="맑은 고딕"/>
              </a:rPr>
              <a:t>•  VPD는 테이블 자체에 조건을 묶어 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동작 원리: 문장 재작성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사용자가 쓰지 않은 조건이 붙는다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파싱 중 객체에 걸린 정책을 찾는다</a:t>
            </a:r>
          </a:p>
          <a:p>
            <a:pPr algn="l">
              <a:spcAft>
                <a:spcPts val="1000"/>
              </a:spcAft>
            </a:pPr>
            <a:r>
              <a:rPr sz="1700" b="0">
                <a:solidFill>
                  <a:srgbClr val="222222"/>
                </a:solidFill>
                <a:latin typeface="맑은 고딕"/>
              </a:rPr>
              <a:t>•  정책 함수를 불러 술어 문자열을 받는다</a:t>
            </a:r>
          </a:p>
          <a:p>
            <a:pPr algn="l">
              <a:spcAft>
                <a:spcPts val="1000"/>
              </a:spcAft>
            </a:pPr>
            <a:r>
              <a:rPr sz="1700" b="0">
                <a:solidFill>
                  <a:srgbClr val="222222"/>
                </a:solidFill>
                <a:latin typeface="맑은 고딕"/>
              </a:rPr>
              <a:t>•  원래 WHERE와 AND로 결합해 실행</a:t>
            </a:r>
          </a:p>
          <a:p>
            <a:pPr algn="l">
              <a:spcAft>
                <a:spcPts val="1000"/>
              </a:spcAft>
            </a:pPr>
            <a:r>
              <a:rPr sz="1700" b="0">
                <a:solidFill>
                  <a:srgbClr val="222222"/>
                </a:solidFill>
                <a:latin typeface="맑은 고딕"/>
              </a:rPr>
              <a:t>•  실행 계획 Predicate에 정책 조건이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비슷한 기능과의 구분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막는가, 가리는가, 기록하는가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VPD 행 수준: 조건 밖의 행이 빠진다</a:t>
            </a:r>
          </a:p>
          <a:p>
            <a:pPr algn="l">
              <a:spcAft>
                <a:spcPts val="1000"/>
              </a:spcAft>
            </a:pPr>
            <a:r>
              <a:rPr sz="1700" b="0">
                <a:solidFill>
                  <a:srgbClr val="222222"/>
                </a:solidFill>
                <a:latin typeface="맑은 고딕"/>
              </a:rPr>
              <a:t>•  VPD ALL_ROWS: 행은 나오고 값이 NULL</a:t>
            </a:r>
          </a:p>
          <a:p>
            <a:pPr algn="l">
              <a:spcAft>
                <a:spcPts val="1000"/>
              </a:spcAft>
            </a:pPr>
            <a:r>
              <a:rPr sz="1700" b="0">
                <a:solidFill>
                  <a:srgbClr val="222222"/>
                </a:solidFill>
                <a:latin typeface="맑은 고딕"/>
              </a:rPr>
              <a:t>•  Data Redaction: 값이 가림 문자로 바뀐다</a:t>
            </a:r>
          </a:p>
          <a:p>
            <a:pPr algn="l">
              <a:spcAft>
                <a:spcPts val="1000"/>
              </a:spcAft>
            </a:pPr>
            <a:r>
              <a:rPr sz="1700" b="0">
                <a:solidFill>
                  <a:srgbClr val="222222"/>
                </a:solidFill>
                <a:latin typeface="맑은 고딕"/>
              </a:rPr>
              <a:t>•  FGA: 결과는 그대로, 접근을 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VPD의 구성 요소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정책 함수, 정책, 애플리케이션 컨텍스트</a:t>
            </a:r>
          </a:p>
          <a:p>
            <a:pPr algn="l">
              <a:spcAft>
                <a:spcPts val="800"/>
              </a:spcAft>
            </a:pPr>
            <a:r>
              <a:rPr sz="1600" b="0">
                <a:solidFill>
                  <a:srgbClr val="FFFFFF"/>
                </a:solidFill>
                <a:latin typeface="맑은 고딕"/>
              </a:rPr>
              <a:t>•  정책 관리자 계정 분리</a:t>
            </a:r>
          </a:p>
          <a:p>
            <a:pPr algn="l">
              <a:spcAft>
                <a:spcPts val="800"/>
              </a:spcAft>
            </a:pPr>
            <a:r>
              <a:rPr sz="1600" b="0">
                <a:solidFill>
                  <a:srgbClr val="FFFFFF"/>
                </a:solidFill>
                <a:latin typeface="맑은 고딕"/>
              </a:rPr>
              <a:t>•  세션 하나에서 일어나는 순서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구성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판단, 연결, 속성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정책 함수: 술어 문자열을 만든다</a:t>
            </a:r>
          </a:p>
          <a:p>
            <a:pPr algn="l">
              <a:spcAft>
                <a:spcPts val="1000"/>
              </a:spcAft>
            </a:pPr>
            <a:r>
              <a:rPr sz="1700" b="0">
                <a:solidFill>
                  <a:srgbClr val="222222"/>
                </a:solidFill>
                <a:latin typeface="맑은 고딕"/>
              </a:rPr>
              <a:t>•  정책: 객체와 함수를 DBMS_RLS로 연결</a:t>
            </a:r>
          </a:p>
          <a:p>
            <a:pPr algn="l">
              <a:spcAft>
                <a:spcPts val="1000"/>
              </a:spcAft>
            </a:pPr>
            <a:r>
              <a:rPr sz="1700" b="0">
                <a:solidFill>
                  <a:srgbClr val="222222"/>
                </a:solidFill>
                <a:latin typeface="맑은 고딕"/>
              </a:rPr>
              <a:t>•  컨텍스트: 사용자 속성을 세션에 보관</a:t>
            </a:r>
          </a:p>
          <a:p>
            <a:pPr algn="l">
              <a:spcAft>
                <a:spcPts val="1000"/>
              </a:spcAft>
            </a:pPr>
            <a:r>
              <a:rPr sz="1700" b="0">
                <a:solidFill>
                  <a:srgbClr val="222222"/>
                </a:solidFill>
                <a:latin typeface="맑은 고딕"/>
              </a:rPr>
              <a:t>•  컨텍스트 없이 USERENV만으로도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관리자 계정을 따로 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sysadmin_vpd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소유자가 함수를 고치면 제한이 풀린다</a:t>
            </a:r>
          </a:p>
          <a:p>
            <a:pPr algn="l">
              <a:spcAft>
                <a:spcPts val="1000"/>
              </a:spcAft>
            </a:pPr>
            <a:r>
              <a:rPr sz="1700" b="0">
                <a:solidFill>
                  <a:srgbClr val="222222"/>
                </a:solidFill>
                <a:latin typeface="맑은 고딕"/>
              </a:rPr>
              <a:t>•  SYS 스키마에 사용자 코드를 두지 않는다</a:t>
            </a:r>
          </a:p>
          <a:p>
            <a:pPr algn="l">
              <a:spcAft>
                <a:spcPts val="1000"/>
              </a:spcAft>
            </a:pPr>
            <a:r>
              <a:rPr sz="1700" b="0">
                <a:solidFill>
                  <a:srgbClr val="222222"/>
                </a:solidFill>
                <a:latin typeface="맑은 고딕"/>
              </a:rPr>
              <a:t>•  DBMS_RLS·DBMS_SESSION 실행 권한 부여</a:t>
            </a:r>
          </a:p>
          <a:p>
            <a:pPr algn="l">
              <a:spcAft>
                <a:spcPts val="1000"/>
              </a:spcAft>
            </a:pPr>
            <a:r>
              <a:rPr sz="1700" b="0">
                <a:solidFill>
                  <a:srgbClr val="222222"/>
                </a:solidFill>
                <a:latin typeface="맑은 고딕"/>
              </a:rPr>
              <a:t>•  CREATE ANY CONTEXT, CREATE PROCEDURE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하나에서 일어나는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어디서 끊겼는지 따로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로그인: 트리거가 신뢰 패키지 호출</a:t>
            </a:r>
          </a:p>
          <a:p>
            <a:pPr algn="l">
              <a:spcAft>
                <a:spcPts val="1000"/>
              </a:spcAft>
            </a:pPr>
            <a:r>
              <a:rPr sz="1700" b="0">
                <a:solidFill>
                  <a:srgbClr val="222222"/>
                </a:solidFill>
                <a:latin typeface="맑은 고딕"/>
              </a:rPr>
              <a:t>•  패키지가 컨텍스트에 부서 기록</a:t>
            </a:r>
          </a:p>
          <a:p>
            <a:pPr algn="l">
              <a:spcAft>
                <a:spcPts val="1000"/>
              </a:spcAft>
            </a:pPr>
            <a:r>
              <a:rPr sz="1700" b="0">
                <a:solidFill>
                  <a:srgbClr val="222222"/>
                </a:solidFill>
                <a:latin typeface="맑은 고딕"/>
              </a:rPr>
              <a:t>•  파싱: 정책 함수가 SYS_CONTEXT를 읽음</a:t>
            </a:r>
          </a:p>
          <a:p>
            <a:pPr algn="l">
              <a:spcAft>
                <a:spcPts val="1000"/>
              </a:spcAft>
            </a:pPr>
            <a:r>
              <a:rPr sz="1700" b="0">
                <a:solidFill>
                  <a:srgbClr val="222222"/>
                </a:solidFill>
                <a:latin typeface="맑은 고딕"/>
              </a:rPr>
              <a:t>•  실행: 술어가 결합된 문장 실행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함수 작성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인자 두 개, VARCHAR2 반환</a:t>
            </a:r>
          </a:p>
          <a:p>
            <a:pPr algn="l">
              <a:spcAft>
                <a:spcPts val="800"/>
              </a:spcAft>
            </a:pPr>
            <a:r>
              <a:rPr sz="1600" b="0">
                <a:solidFill>
                  <a:srgbClr val="FFFFFF"/>
                </a:solidFill>
                <a:latin typeface="맑은 고딕"/>
              </a:rPr>
              <a:t>•  NULL은 제한 없음, 기본값은 1=2</a:t>
            </a:r>
          </a:p>
          <a:p>
            <a:pPr algn="l">
              <a:spcAft>
                <a:spcPts val="800"/>
              </a:spcAft>
            </a:pPr>
            <a:r>
              <a:rPr sz="1600" b="0">
                <a:solidFill>
                  <a:srgbClr val="FFFFFF"/>
                </a:solidFill>
                <a:latin typeface="맑은 고딕"/>
              </a:rPr>
              <a:t>•  술어 오류는 조회 시점에 드러난다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함수의 형식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WHERE 없는 조건식을 돌려준다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인자: 스키마 이름, 객체 이름</a:t>
            </a:r>
          </a:p>
          <a:p>
            <a:pPr algn="l">
              <a:spcAft>
                <a:spcPts val="1000"/>
              </a:spcAft>
            </a:pPr>
            <a:r>
              <a:rPr sz="1700" b="0">
                <a:solidFill>
                  <a:srgbClr val="222222"/>
                </a:solidFill>
                <a:latin typeface="맑은 고딕"/>
              </a:rPr>
              <a:t>•  반환: 'deptno = 20' 같은 문자열</a:t>
            </a:r>
          </a:p>
          <a:p>
            <a:pPr algn="l">
              <a:spcAft>
                <a:spcPts val="1000"/>
              </a:spcAft>
            </a:pPr>
            <a:r>
              <a:rPr sz="1700" b="0">
                <a:solidFill>
                  <a:srgbClr val="222222"/>
                </a:solidFill>
                <a:latin typeface="맑은 고딕"/>
              </a:rPr>
              <a:t>•  술어 최대 32K, 서브쿼리도 가능</a:t>
            </a:r>
          </a:p>
          <a:p>
            <a:pPr algn="l">
              <a:spcAft>
                <a:spcPts val="1000"/>
              </a:spcAft>
            </a:pPr>
            <a:r>
              <a:rPr sz="1700" b="0">
                <a:solidFill>
                  <a:srgbClr val="222222"/>
                </a:solidFill>
                <a:latin typeface="맑은 고딕"/>
              </a:rPr>
              <a:t>•  정의자 권한으로 실행된다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값이 없을 때의 기본 동작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NULL은 "제한 없음"이다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NULL·빈 문자열 반환 시 술어가 붙지 않음</a:t>
            </a:r>
          </a:p>
          <a:p>
            <a:pPr algn="l">
              <a:spcAft>
                <a:spcPts val="1000"/>
              </a:spcAft>
            </a:pPr>
            <a:r>
              <a:rPr sz="1700" b="0">
                <a:solidFill>
                  <a:srgbClr val="222222"/>
                </a:solidFill>
                <a:latin typeface="맑은 고딕"/>
              </a:rPr>
              <a:t>•  판단 근거가 없으면 '1=2'를 반환</a:t>
            </a:r>
          </a:p>
          <a:p>
            <a:pPr algn="l">
              <a:spcAft>
                <a:spcPts val="1000"/>
              </a:spcAft>
            </a:pPr>
            <a:r>
              <a:rPr sz="1700" b="0">
                <a:solidFill>
                  <a:srgbClr val="222222"/>
                </a:solidFill>
                <a:latin typeface="맑은 고딕"/>
              </a:rPr>
              <a:t>•  예외 사용자에게만 명시적으로 NULL</a:t>
            </a:r>
          </a:p>
          <a:p>
            <a:pPr algn="l">
              <a:spcAft>
                <a:spcPts val="1000"/>
              </a:spcAft>
            </a:pPr>
            <a:r>
              <a:rPr sz="1700" b="0">
                <a:solidFill>
                  <a:srgbClr val="222222"/>
                </a:solidFill>
                <a:latin typeface="맑은 고딕"/>
              </a:rPr>
              <a:t>•  없는 컨텍스트도 SYS_CONTEXT는 NULL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자주 쓰는 USERENV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서버가 채우는 값과 클라이언트가 채우는 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SESSION_USER: 로그인 사용자</a:t>
            </a:r>
          </a:p>
          <a:p>
            <a:pPr algn="l">
              <a:spcAft>
                <a:spcPts val="1000"/>
              </a:spcAft>
            </a:pPr>
            <a:r>
              <a:rPr sz="1700" b="0">
                <a:solidFill>
                  <a:srgbClr val="222222"/>
                </a:solidFill>
                <a:latin typeface="맑은 고딕"/>
              </a:rPr>
              <a:t>•  PROXY_USER: 중간 계층 계정(2장)</a:t>
            </a:r>
          </a:p>
          <a:p>
            <a:pPr algn="l">
              <a:spcAft>
                <a:spcPts val="1000"/>
              </a:spcAft>
            </a:pPr>
            <a:r>
              <a:rPr sz="1700" b="0">
                <a:solidFill>
                  <a:srgbClr val="222222"/>
                </a:solidFill>
                <a:latin typeface="맑은 고딕"/>
              </a:rPr>
              <a:t>•  CLIENT_IDENTIFIER: 최종 사용자 ID(6장)</a:t>
            </a:r>
          </a:p>
          <a:p>
            <a:pPr algn="l">
              <a:spcAft>
                <a:spcPts val="1000"/>
              </a:spcAft>
            </a:pPr>
            <a:r>
              <a:rPr sz="1700" b="0">
                <a:solidFill>
                  <a:srgbClr val="222222"/>
                </a:solidFill>
                <a:latin typeface="맑은 고딕"/>
              </a:rPr>
              <a:t>•  IP_ADDRESS, AUTHENTICATION_METHOD</a:t>
            </a:r>
          </a:p>
          <a:p>
            <a:pPr algn="l">
              <a:spcAft>
                <a:spcPts val="1000"/>
              </a:spcAft>
            </a:pPr>
            <a:r>
              <a:rPr sz="1700" b="0">
                <a:solidFill>
                  <a:srgbClr val="222222"/>
                </a:solidFill>
                <a:latin typeface="맑은 고딕"/>
              </a:rPr>
              <a:t>•  MODULE은 위조 가능, 단독 근거로 쓰지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술어 오류와 진단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오류는 등록이 아니라 조회 때 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ORA-28110: 함수가 INVALID</a:t>
            </a:r>
          </a:p>
          <a:p>
            <a:pPr algn="l">
              <a:spcAft>
                <a:spcPts val="1000"/>
              </a:spcAft>
            </a:pPr>
            <a:r>
              <a:rPr sz="1700" b="0">
                <a:solidFill>
                  <a:srgbClr val="222222"/>
                </a:solidFill>
                <a:latin typeface="맑은 고딕"/>
              </a:rPr>
              <a:t>•  ORA-28112: 함수 실행 중 예외</a:t>
            </a:r>
          </a:p>
          <a:p>
            <a:pPr algn="l">
              <a:spcAft>
                <a:spcPts val="1000"/>
              </a:spcAft>
            </a:pPr>
            <a:r>
              <a:rPr sz="1700" b="0">
                <a:solidFill>
                  <a:srgbClr val="222222"/>
                </a:solidFill>
                <a:latin typeface="맑은 고딕"/>
              </a:rPr>
              <a:t>•  ORA-28113: 붙인 술어가 잘못됨</a:t>
            </a:r>
          </a:p>
          <a:p>
            <a:pPr algn="l">
              <a:spcAft>
                <a:spcPts val="1000"/>
              </a:spcAft>
            </a:pPr>
            <a:r>
              <a:rPr sz="1700" b="0">
                <a:solidFill>
                  <a:srgbClr val="222222"/>
                </a:solidFill>
                <a:latin typeface="맑은 고딕"/>
              </a:rPr>
              <a:t>•  원인은 세션 트레이스 파일에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함수 작성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배포 전에 업무 계정으로 시험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근거가 없으면 1=2</a:t>
            </a:r>
          </a:p>
          <a:p>
            <a:pPr algn="l">
              <a:spcAft>
                <a:spcPts val="1000"/>
              </a:spcAft>
            </a:pPr>
            <a:r>
              <a:rPr sz="1700" b="0">
                <a:solidFill>
                  <a:srgbClr val="222222"/>
                </a:solidFill>
                <a:latin typeface="맑은 고딕"/>
              </a:rPr>
              <a:t>•  함수 안에서 무거운 조회 금지</a:t>
            </a:r>
          </a:p>
          <a:p>
            <a:pPr algn="l">
              <a:spcAft>
                <a:spcPts val="1000"/>
              </a:spcAft>
            </a:pPr>
            <a:r>
              <a:rPr sz="1700" b="0">
                <a:solidFill>
                  <a:srgbClr val="222222"/>
                </a:solidFill>
                <a:latin typeface="맑은 고딕"/>
              </a:rPr>
              <a:t>•  술어 컬럼 인덱스 준비</a:t>
            </a:r>
          </a:p>
          <a:p>
            <a:pPr algn="l">
              <a:spcAft>
                <a:spcPts val="1000"/>
              </a:spcAft>
            </a:pPr>
            <a:r>
              <a:rPr sz="1700" b="0">
                <a:solidFill>
                  <a:srgbClr val="222222"/>
                </a:solidFill>
                <a:latin typeface="맑은 고딕"/>
              </a:rPr>
              <a:t>•  함수를 직접 호출해 반환 값 확인</a:t>
            </a:r>
          </a:p>
          <a:p>
            <a:pPr algn="l">
              <a:spcAft>
                <a:spcPts val="1000"/>
              </a:spcAft>
            </a:pPr>
            <a:r>
              <a:rPr sz="1700" b="0">
                <a:solidFill>
                  <a:srgbClr val="222222"/>
                </a:solidFill>
                <a:latin typeface="맑은 고딕"/>
              </a:rPr>
              <a:t>•  SYS로 시험하면 시험이 아니다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등록과 관리 — DBMS_RLS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ADD_POLICY 주요 인자</a:t>
            </a:r>
          </a:p>
          <a:p>
            <a:pPr algn="l">
              <a:spcAft>
                <a:spcPts val="800"/>
              </a:spcAft>
            </a:pPr>
            <a:r>
              <a:rPr sz="1600" b="0">
                <a:solidFill>
                  <a:srgbClr val="FFFFFF"/>
                </a:solidFill>
                <a:latin typeface="맑은 고딕"/>
              </a:rPr>
              <a:t>•  statement_types와 update_check</a:t>
            </a:r>
          </a:p>
          <a:p>
            <a:pPr algn="l">
              <a:spcAft>
                <a:spcPts val="800"/>
              </a:spcAft>
            </a:pPr>
            <a:r>
              <a:rPr sz="1600" b="0">
                <a:solidFill>
                  <a:srgbClr val="FFFFFF"/>
                </a:solidFill>
                <a:latin typeface="맑은 고딕"/>
              </a:rPr>
              <a:t>•  변경은 DROP + ADD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ADD_POLICY 주요 인자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 지정 방식으로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대상 객체, 정책 이름, 정책 함수</a:t>
            </a:r>
          </a:p>
          <a:p>
            <a:pPr algn="l">
              <a:spcAft>
                <a:spcPts val="1000"/>
              </a:spcAft>
            </a:pPr>
            <a:r>
              <a:rPr sz="1700" b="0">
                <a:solidFill>
                  <a:srgbClr val="222222"/>
                </a:solidFill>
                <a:latin typeface="맑은 고딕"/>
              </a:rPr>
              <a:t>•  statement_types 기본 SELECT·UPDATE·DELETE</a:t>
            </a:r>
          </a:p>
          <a:p>
            <a:pPr algn="l">
              <a:spcAft>
                <a:spcPts val="1000"/>
              </a:spcAft>
            </a:pPr>
            <a:r>
              <a:rPr sz="1700" b="0">
                <a:solidFill>
                  <a:srgbClr val="222222"/>
                </a:solidFill>
                <a:latin typeface="맑은 고딕"/>
              </a:rPr>
              <a:t>•  update_check 기본 FALSE</a:t>
            </a:r>
          </a:p>
          <a:p>
            <a:pPr algn="l">
              <a:spcAft>
                <a:spcPts val="1000"/>
              </a:spcAft>
            </a:pPr>
            <a:r>
              <a:rPr sz="1700" b="0">
                <a:solidFill>
                  <a:srgbClr val="222222"/>
                </a:solidFill>
                <a:latin typeface="맑은 고딕"/>
              </a:rPr>
              <a:t>•  policy_type 기본 DYNAMIC</a:t>
            </a:r>
          </a:p>
          <a:p>
            <a:pPr algn="l">
              <a:spcAft>
                <a:spcPts val="1000"/>
              </a:spcAft>
            </a:pPr>
            <a:r>
              <a:rPr sz="1700" b="0">
                <a:solidFill>
                  <a:srgbClr val="222222"/>
                </a:solidFill>
                <a:latin typeface="맑은 고딕"/>
              </a:rPr>
              <a:t>•  sec_relevant_cols, namespace·attribute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INSERT와 update_check</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INSERT는 update_check 없이 쓸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기본값에는 INSERT가 없다</a:t>
            </a:r>
          </a:p>
          <a:p>
            <a:pPr algn="l">
              <a:spcAft>
                <a:spcPts val="1000"/>
              </a:spcAft>
            </a:pPr>
            <a:r>
              <a:rPr sz="1700" b="0">
                <a:solidFill>
                  <a:srgbClr val="222222"/>
                </a:solidFill>
                <a:latin typeface="맑은 고딕"/>
              </a:rPr>
              <a:t>•  INSERT만 넣으면 ORA-28104</a:t>
            </a:r>
          </a:p>
          <a:p>
            <a:pPr algn="l">
              <a:spcAft>
                <a:spcPts val="1000"/>
              </a:spcAft>
            </a:pPr>
            <a:r>
              <a:rPr sz="1700" b="0">
                <a:solidFill>
                  <a:srgbClr val="222222"/>
                </a:solidFill>
                <a:latin typeface="맑은 고딕"/>
              </a:rPr>
              <a:t>•  update_check =&gt; TRUE와 함께 지정</a:t>
            </a:r>
          </a:p>
          <a:p>
            <a:pPr algn="l">
              <a:spcAft>
                <a:spcPts val="1000"/>
              </a:spcAft>
            </a:pPr>
            <a:r>
              <a:rPr sz="1700" b="0">
                <a:solidFill>
                  <a:srgbClr val="222222"/>
                </a:solidFill>
                <a:latin typeface="맑은 고딕"/>
              </a:rPr>
              <a:t>•  19c ARPLS에 명시된 규칙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update_check가 없을 때의 허점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보이지 않는 데이터가 만들어진다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다른 부서 행 INSERT가 성공한다</a:t>
            </a:r>
          </a:p>
          <a:p>
            <a:pPr algn="l">
              <a:spcAft>
                <a:spcPts val="1000"/>
              </a:spcAft>
            </a:pPr>
            <a:r>
              <a:rPr sz="1700" b="0">
                <a:solidFill>
                  <a:srgbClr val="222222"/>
                </a:solidFill>
                <a:latin typeface="맑은 고딕"/>
              </a:rPr>
              <a:t>•  넣은 사람도 그 행을 볼 수 없다</a:t>
            </a:r>
          </a:p>
          <a:p>
            <a:pPr algn="l">
              <a:spcAft>
                <a:spcPts val="1000"/>
              </a:spcAft>
            </a:pPr>
            <a:r>
              <a:rPr sz="1700" b="0">
                <a:solidFill>
                  <a:srgbClr val="222222"/>
                </a:solidFill>
                <a:latin typeface="맑은 고딕"/>
              </a:rPr>
              <a:t>•  부서 번호를 바꾸는 UPDATE도 성공</a:t>
            </a:r>
          </a:p>
          <a:p>
            <a:pPr algn="l">
              <a:spcAft>
                <a:spcPts val="1000"/>
              </a:spcAft>
            </a:pPr>
            <a:r>
              <a:rPr sz="1700" b="0">
                <a:solidFill>
                  <a:srgbClr val="222222"/>
                </a:solidFill>
                <a:latin typeface="맑은 고딕"/>
              </a:rPr>
              <a:t>•  update_check =&gt; TRUE면 ORA-28115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여러 정책의 결합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AND로 붙는다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목적별로 정책을 나눠 걸 수 있다</a:t>
            </a:r>
          </a:p>
          <a:p>
            <a:pPr algn="l">
              <a:spcAft>
                <a:spcPts val="1000"/>
              </a:spcAft>
            </a:pPr>
            <a:r>
              <a:rPr sz="1700" b="0">
                <a:solidFill>
                  <a:srgbClr val="222222"/>
                </a:solidFill>
                <a:latin typeface="맑은 고딕"/>
              </a:rPr>
              <a:t>•  하나가 1=2면 전체가 0건</a:t>
            </a:r>
          </a:p>
          <a:p>
            <a:pPr algn="l">
              <a:spcAft>
                <a:spcPts val="1000"/>
              </a:spcAft>
            </a:pPr>
            <a:r>
              <a:rPr sz="1700" b="0">
                <a:solidFill>
                  <a:srgbClr val="222222"/>
                </a:solidFill>
                <a:latin typeface="맑은 고딕"/>
              </a:rPr>
              <a:t>•  하나가 오류면 문장 전체가 실패</a:t>
            </a:r>
          </a:p>
          <a:p>
            <a:pPr algn="l">
              <a:spcAft>
                <a:spcPts val="1000"/>
              </a:spcAft>
            </a:pPr>
            <a:r>
              <a:rPr sz="1700" b="0">
                <a:solidFill>
                  <a:srgbClr val="222222"/>
                </a:solidFill>
                <a:latin typeface="맑은 고딕"/>
              </a:rPr>
              <a:t>•  OR가 필요하면 한 함수 안에서 조합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변경, 비활성화,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ALTER_POLICY로 바꿀 수 있는 것은 적다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ENABLE_POLICY FALSE/TRUE로 끄고 켬</a:t>
            </a:r>
          </a:p>
          <a:p>
            <a:pPr algn="l">
              <a:spcAft>
                <a:spcPts val="1000"/>
              </a:spcAft>
            </a:pPr>
            <a:r>
              <a:rPr sz="1700" b="0">
                <a:solidFill>
                  <a:srgbClr val="222222"/>
                </a:solidFill>
                <a:latin typeface="맑은 고딕"/>
              </a:rPr>
              <a:t>•  같은 이름 ADD는 ORA-28101</a:t>
            </a:r>
          </a:p>
          <a:p>
            <a:pPr algn="l">
              <a:spcAft>
                <a:spcPts val="1000"/>
              </a:spcAft>
            </a:pPr>
            <a:r>
              <a:rPr sz="1700" b="0">
                <a:solidFill>
                  <a:srgbClr val="222222"/>
                </a:solidFill>
                <a:latin typeface="맑은 고딕"/>
              </a:rPr>
              <a:t>•  없는 이름 DROP은 ORA-28102</a:t>
            </a:r>
          </a:p>
          <a:p>
            <a:pPr algn="l">
              <a:spcAft>
                <a:spcPts val="1000"/>
              </a:spcAft>
            </a:pPr>
            <a:r>
              <a:rPr sz="1700" b="0">
                <a:solidFill>
                  <a:srgbClr val="222222"/>
                </a:solidFill>
                <a:latin typeface="맑은 고딕"/>
              </a:rPr>
              <a:t>•  정의 변경은 한 블록에서 DROP + ADD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그룹과 INDEX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필요할 때만 쓰는 기능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정책 그룹: 애플리케이션별 규칙 분리</a:t>
            </a:r>
          </a:p>
          <a:p>
            <a:pPr algn="l">
              <a:spcAft>
                <a:spcPts val="1000"/>
              </a:spcAft>
            </a:pPr>
            <a:r>
              <a:rPr sz="1700" b="0">
                <a:solidFill>
                  <a:srgbClr val="222222"/>
                </a:solidFill>
                <a:latin typeface="맑은 고딕"/>
              </a:rPr>
              <a:t>•  드라이빙 컨텍스트가 적용 그룹 선택</a:t>
            </a:r>
          </a:p>
          <a:p>
            <a:pPr algn="l">
              <a:spcAft>
                <a:spcPts val="1000"/>
              </a:spcAft>
            </a:pPr>
            <a:r>
              <a:rPr sz="1700" b="0">
                <a:solidFill>
                  <a:srgbClr val="222222"/>
                </a:solidFill>
                <a:latin typeface="맑은 고딕"/>
              </a:rPr>
              <a:t>•  SYS_DEFAULT 그룹은 항상 적용</a:t>
            </a:r>
          </a:p>
          <a:p>
            <a:pPr algn="l">
              <a:spcAft>
                <a:spcPts val="1000"/>
              </a:spcAft>
            </a:pPr>
            <a:r>
              <a:rPr sz="1700" b="0">
                <a:solidFill>
                  <a:srgbClr val="222222"/>
                </a:solidFill>
                <a:latin typeface="맑은 고딕"/>
              </a:rPr>
              <a:t>•  INDEX: 함수 기반 인덱스로의 유출 차단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애플리케이션 컨텍스트와의 연계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신뢰 패키지만 값을 넣는다</a:t>
            </a:r>
          </a:p>
          <a:p>
            <a:pPr algn="l">
              <a:spcAft>
                <a:spcPts val="800"/>
              </a:spcAft>
            </a:pPr>
            <a:r>
              <a:rPr sz="1600" b="0">
                <a:solidFill>
                  <a:srgbClr val="FFFFFF"/>
                </a:solidFill>
                <a:latin typeface="맑은 고딕"/>
              </a:rPr>
              <a:t>•  로컬 컨텍스트는 세션 단위</a:t>
            </a:r>
          </a:p>
          <a:p>
            <a:pPr algn="l">
              <a:spcAft>
                <a:spcPts val="800"/>
              </a:spcAft>
            </a:pPr>
            <a:r>
              <a:rPr sz="1600" b="0">
                <a:solidFill>
                  <a:srgbClr val="FFFFFF"/>
                </a:solidFill>
                <a:latin typeface="맑은 고딕"/>
              </a:rPr>
              <a:t>•  운영에서는 LOGON 트리거가 넣는다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컨텍스트와 신뢰 패키지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USING에 적은 패키지가 유일한 통로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CONTEXT ... USING 스키마.패키지</a:t>
            </a:r>
          </a:p>
          <a:p>
            <a:pPr algn="l">
              <a:spcAft>
                <a:spcPts val="1000"/>
              </a:spcAft>
            </a:pPr>
            <a:r>
              <a:rPr sz="1700" b="0">
                <a:solidFill>
                  <a:srgbClr val="222222"/>
                </a:solidFill>
                <a:latin typeface="맑은 고딕"/>
              </a:rPr>
              <a:t>•  패키지 안에서 DBMS_SESSION.SET_CONTEXT</a:t>
            </a:r>
          </a:p>
          <a:p>
            <a:pPr algn="l">
              <a:spcAft>
                <a:spcPts val="1000"/>
              </a:spcAft>
            </a:pPr>
            <a:r>
              <a:rPr sz="1700" b="0">
                <a:solidFill>
                  <a:srgbClr val="222222"/>
                </a:solidFill>
                <a:latin typeface="맑은 고딕"/>
              </a:rPr>
              <a:t>•  직접 호출하면 ORA-01031</a:t>
            </a:r>
          </a:p>
          <a:p>
            <a:pPr algn="l">
              <a:spcAft>
                <a:spcPts val="1000"/>
              </a:spcAft>
            </a:pPr>
            <a:r>
              <a:rPr sz="1700" b="0">
                <a:solidFill>
                  <a:srgbClr val="222222"/>
                </a:solidFill>
                <a:latin typeface="맑은 고딕"/>
              </a:rPr>
              <a:t>•  읽기는 누구나 SYS_CONTEXT로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로컬 컨텍스트는 세션 단위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세션의 값은 보이지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값은 세션 UGA에 저장</a:t>
            </a:r>
          </a:p>
          <a:p>
            <a:pPr algn="l">
              <a:spcAft>
                <a:spcPts val="1000"/>
              </a:spcAft>
            </a:pPr>
            <a:r>
              <a:rPr sz="1700" b="0">
                <a:solidFill>
                  <a:srgbClr val="222222"/>
                </a:solidFill>
                <a:latin typeface="맑은 고딕"/>
              </a:rPr>
              <a:t>•  SYS에서 넣은 값은 SCOTT 세션에 없다</a:t>
            </a:r>
          </a:p>
          <a:p>
            <a:pPr algn="l">
              <a:spcAft>
                <a:spcPts val="1000"/>
              </a:spcAft>
            </a:pPr>
            <a:r>
              <a:rPr sz="1700" b="0">
                <a:solidFill>
                  <a:srgbClr val="222222"/>
                </a:solidFill>
                <a:latin typeface="맑은 고딕"/>
              </a:rPr>
              <a:t>•  원본 실습 흐름이 0건이 나온 이유</a:t>
            </a:r>
          </a:p>
          <a:p>
            <a:pPr algn="l">
              <a:spcAft>
                <a:spcPts val="1000"/>
              </a:spcAft>
            </a:pPr>
            <a:r>
              <a:rPr sz="1700" b="0">
                <a:solidFill>
                  <a:srgbClr val="222222"/>
                </a:solidFill>
                <a:latin typeface="맑은 고딕"/>
              </a:rPr>
              <a:t>•  공유가 필요하면 ACCESSED GLOBALLY(6장)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값은 누가 넣는가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사용자에게 맡기지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실습은 SCOTT가 직접 부서를 넣음(단순화)</a:t>
            </a:r>
          </a:p>
          <a:p>
            <a:pPr algn="l">
              <a:spcAft>
                <a:spcPts val="1000"/>
              </a:spcAft>
            </a:pPr>
            <a:r>
              <a:rPr sz="1700" b="0">
                <a:solidFill>
                  <a:srgbClr val="222222"/>
                </a:solidFill>
                <a:latin typeface="맑은 고딕"/>
              </a:rPr>
              <a:t>•  운영: 패키지가 로그인 사용자를 확인</a:t>
            </a:r>
          </a:p>
          <a:p>
            <a:pPr algn="l">
              <a:spcAft>
                <a:spcPts val="1000"/>
              </a:spcAft>
            </a:pPr>
            <a:r>
              <a:rPr sz="1700" b="0">
                <a:solidFill>
                  <a:srgbClr val="222222"/>
                </a:solidFill>
                <a:latin typeface="맑은 고딕"/>
              </a:rPr>
              <a:t>•  매핑 테이블에서 부서를 찾아 설정</a:t>
            </a:r>
          </a:p>
          <a:p>
            <a:pPr algn="l">
              <a:spcAft>
                <a:spcPts val="1000"/>
              </a:spcAft>
            </a:pPr>
            <a:r>
              <a:rPr sz="1700" b="0">
                <a:solidFill>
                  <a:srgbClr val="222222"/>
                </a:solidFill>
                <a:latin typeface="맑은 고딕"/>
              </a:rPr>
              <a:t>•  LOGON 트리거에서 호출, 예외 처리 필수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실행 계획으로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Predicate Information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사용자는 sal &gt; 1000만 썼다</a:t>
            </a:r>
          </a:p>
          <a:p>
            <a:pPr algn="l">
              <a:spcAft>
                <a:spcPts val="1000"/>
              </a:spcAft>
            </a:pPr>
            <a:r>
              <a:rPr sz="1700" b="0">
                <a:solidFill>
                  <a:srgbClr val="222222"/>
                </a:solidFill>
                <a:latin typeface="맑은 고딕"/>
              </a:rPr>
              <a:t>•  계획에는 DEPTNO=30 AND SAL&gt;1000</a:t>
            </a:r>
          </a:p>
          <a:p>
            <a:pPr algn="l">
              <a:spcAft>
                <a:spcPts val="1000"/>
              </a:spcAft>
            </a:pPr>
            <a:r>
              <a:rPr sz="1700" b="0">
                <a:solidFill>
                  <a:srgbClr val="222222"/>
                </a:solidFill>
                <a:latin typeface="맑은 고딕"/>
              </a:rPr>
              <a:t>•  정책 술어도 인덱스 선택에 쓰인다</a:t>
            </a:r>
          </a:p>
          <a:p>
            <a:pPr algn="l">
              <a:spcAft>
                <a:spcPts val="1000"/>
              </a:spcAft>
            </a:pPr>
            <a:r>
              <a:rPr sz="1700" b="0">
                <a:solidFill>
                  <a:srgbClr val="222222"/>
                </a:solidFill>
                <a:latin typeface="맑은 고딕"/>
              </a:rPr>
              <a:t>•  계획 고정 시 정책 술어 포함 문장 기준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컬럼 수준 VPD</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민감 컬럼을 참조할 때만 술어</a:t>
            </a:r>
          </a:p>
          <a:p>
            <a:pPr algn="l">
              <a:spcAft>
                <a:spcPts val="800"/>
              </a:spcAft>
            </a:pPr>
            <a:r>
              <a:rPr sz="1600" b="0">
                <a:solidFill>
                  <a:srgbClr val="FFFFFF"/>
                </a:solidFill>
                <a:latin typeface="맑은 고딕"/>
              </a:rPr>
              <a:t>•  ALL_ROWS: 행은 그대로, 값은 NULL</a:t>
            </a:r>
          </a:p>
          <a:p>
            <a:pPr algn="l">
              <a:spcAft>
                <a:spcPts val="800"/>
              </a:spcAft>
            </a:pPr>
            <a:r>
              <a:rPr sz="1600" b="0">
                <a:solidFill>
                  <a:srgbClr val="FFFFFF"/>
                </a:solidFill>
                <a:latin typeface="맑은 고딕"/>
              </a:rPr>
              <a:t>•  NULL은 집계 결과를 바꾼다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sec_relevant_cols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급여를 부를 때만 제한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SAL·COMM 참조 시에만 술어가 붙는다</a:t>
            </a:r>
          </a:p>
          <a:p>
            <a:pPr algn="l">
              <a:spcAft>
                <a:spcPts val="1000"/>
              </a:spcAft>
            </a:pPr>
            <a:r>
              <a:rPr sz="1700" b="0">
                <a:solidFill>
                  <a:srgbClr val="222222"/>
                </a:solidFill>
                <a:latin typeface="맑은 고딕"/>
              </a:rPr>
              <a:t>•  이름·부서만 부르면 14건 모두</a:t>
            </a:r>
          </a:p>
          <a:p>
            <a:pPr algn="l">
              <a:spcAft>
                <a:spcPts val="1000"/>
              </a:spcAft>
            </a:pPr>
            <a:r>
              <a:rPr sz="1700" b="0">
                <a:solidFill>
                  <a:srgbClr val="222222"/>
                </a:solidFill>
                <a:latin typeface="맑은 고딕"/>
              </a:rPr>
              <a:t>•  19.3에서 COUNT(*)에도 정책이 붙었다</a:t>
            </a:r>
          </a:p>
          <a:p>
            <a:pPr algn="l">
              <a:spcAft>
                <a:spcPts val="1000"/>
              </a:spcAft>
            </a:pPr>
            <a:r>
              <a:rPr sz="1700" b="0">
                <a:solidFill>
                  <a:srgbClr val="222222"/>
                </a:solidFill>
                <a:latin typeface="맑은 고딕"/>
              </a:rPr>
              <a:t>•  정책 함수는 행 수준과 같은 것을 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ALL_ROWS 옵션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SELECT 전용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행을 돌려주고 민감 값만 NULL</a:t>
            </a:r>
          </a:p>
          <a:p>
            <a:pPr algn="l">
              <a:spcAft>
                <a:spcPts val="1000"/>
              </a:spcAft>
            </a:pPr>
            <a:r>
              <a:rPr sz="1700" b="0">
                <a:solidFill>
                  <a:srgbClr val="222222"/>
                </a:solidFill>
                <a:latin typeface="맑은 고딕"/>
              </a:rPr>
              <a:t>•  UPDATE와 함께 지정하면 ORA-28104</a:t>
            </a:r>
          </a:p>
          <a:p>
            <a:pPr algn="l">
              <a:spcAft>
                <a:spcPts val="1000"/>
              </a:spcAft>
            </a:pPr>
            <a:r>
              <a:rPr sz="1700" b="0">
                <a:solidFill>
                  <a:srgbClr val="222222"/>
                </a:solidFill>
                <a:latin typeface="맑은 고딕"/>
              </a:rPr>
              <a:t>•  술어는 단순한 불리언 식이어야 함</a:t>
            </a:r>
          </a:p>
          <a:p>
            <a:pPr algn="l">
              <a:spcAft>
                <a:spcPts val="1000"/>
              </a:spcAft>
            </a:pPr>
            <a:r>
              <a:rPr sz="1700" b="0">
                <a:solidFill>
                  <a:srgbClr val="222222"/>
                </a:solidFill>
                <a:latin typeface="맑은 고딕"/>
              </a:rPr>
              <a:t>•  DBA_SEC_RELEVANT_COLS로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NULL은 계산을 바꾼다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없이 작은 합계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COUNT(sal)은 가려진 행을 세지 않는다</a:t>
            </a:r>
          </a:p>
          <a:p>
            <a:pPr algn="l">
              <a:spcAft>
                <a:spcPts val="1000"/>
              </a:spcAft>
            </a:pPr>
            <a:r>
              <a:rPr sz="1700" b="0">
                <a:solidFill>
                  <a:srgbClr val="222222"/>
                </a:solidFill>
                <a:latin typeface="맑은 고딕"/>
              </a:rPr>
              <a:t>•  SUM·AVG는 가려진 값을 빼고 계산</a:t>
            </a:r>
          </a:p>
          <a:p>
            <a:pPr algn="l">
              <a:spcAft>
                <a:spcPts val="1000"/>
              </a:spcAft>
            </a:pPr>
            <a:r>
              <a:rPr sz="1700" b="0">
                <a:solidFill>
                  <a:srgbClr val="222222"/>
                </a:solidFill>
                <a:latin typeface="맑은 고딕"/>
              </a:rPr>
              <a:t>•  10·30번 부서 SUM이 NULL로 나옴</a:t>
            </a:r>
          </a:p>
          <a:p>
            <a:pPr algn="l">
              <a:spcAft>
                <a:spcPts val="1000"/>
              </a:spcAft>
            </a:pPr>
            <a:r>
              <a:rPr sz="1700" b="0">
                <a:solidFill>
                  <a:srgbClr val="222222"/>
                </a:solidFill>
                <a:latin typeface="맑은 고딕"/>
              </a:rPr>
              <a:t>•  계산하는 화면에는 기본 방식이 맞다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유형과 성능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정책 함수를 언제 다시 부르는가</a:t>
            </a:r>
          </a:p>
          <a:p>
            <a:pPr algn="l">
              <a:spcAft>
                <a:spcPts val="800"/>
              </a:spcAft>
            </a:pPr>
            <a:r>
              <a:rPr sz="1600" b="0">
                <a:solidFill>
                  <a:srgbClr val="FFFFFF"/>
                </a:solidFill>
                <a:latin typeface="맑은 고딕"/>
              </a:rPr>
              <a:t>•  캐시 유형의 함정</a:t>
            </a:r>
          </a:p>
          <a:p>
            <a:pPr algn="l">
              <a:spcAft>
                <a:spcPts val="800"/>
              </a:spcAft>
            </a:pPr>
            <a:r>
              <a:rPr sz="1600" b="0">
                <a:solidFill>
                  <a:srgbClr val="FFFFFF"/>
                </a:solidFill>
                <a:latin typeface="맑은 고딕"/>
              </a:rPr>
              <a:t>•  유형 선택 기준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다섯 가지 정책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호출 비용과 정확성의 선택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DYNAMIC: 매번 호출(기본)</a:t>
            </a:r>
          </a:p>
          <a:p>
            <a:pPr algn="l">
              <a:spcAft>
                <a:spcPts val="1000"/>
              </a:spcAft>
            </a:pPr>
            <a:r>
              <a:rPr sz="1700" b="0">
                <a:solidFill>
                  <a:srgbClr val="222222"/>
                </a:solidFill>
                <a:latin typeface="맑은 고딕"/>
              </a:rPr>
              <a:t>•  STATIC / SHARED_STATIC: 한 번 호출 후 캐시</a:t>
            </a:r>
          </a:p>
          <a:p>
            <a:pPr algn="l">
              <a:spcAft>
                <a:spcPts val="1000"/>
              </a:spcAft>
            </a:pPr>
            <a:r>
              <a:rPr sz="1700" b="0">
                <a:solidFill>
                  <a:srgbClr val="222222"/>
                </a:solidFill>
                <a:latin typeface="맑은 고딕"/>
              </a:rPr>
              <a:t>•  CONTEXT_SENSITIVE: 컨텍스트 변경 시 재호출</a:t>
            </a:r>
          </a:p>
          <a:p>
            <a:pPr algn="l">
              <a:spcAft>
                <a:spcPts val="1000"/>
              </a:spcAft>
            </a:pPr>
            <a:r>
              <a:rPr sz="1700" b="0">
                <a:solidFill>
                  <a:srgbClr val="222222"/>
                </a:solidFill>
                <a:latin typeface="맑은 고딕"/>
              </a:rPr>
              <a:t>•  SHARED_CONTEXT_SENSITIVE: 세션 내 공유</a:t>
            </a:r>
          </a:p>
          <a:p>
            <a:pPr algn="l">
              <a:spcAft>
                <a:spcPts val="1000"/>
              </a:spcAft>
            </a:pPr>
            <a:r>
              <a:rPr sz="1700" b="0">
                <a:solidFill>
                  <a:srgbClr val="222222"/>
                </a:solidFill>
                <a:latin typeface="맑은 고딕"/>
              </a:rPr>
              <a:t>•  12.2+ namespace·attribute로 감시 대상 지정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캐시 유형의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틀린 결과는 오류 없이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함수가 'deptno = 20'을 만들어 반환</a:t>
            </a:r>
          </a:p>
          <a:p>
            <a:pPr algn="l">
              <a:spcAft>
                <a:spcPts val="1000"/>
              </a:spcAft>
            </a:pPr>
            <a:r>
              <a:rPr sz="1700" b="0">
                <a:solidFill>
                  <a:srgbClr val="222222"/>
                </a:solidFill>
                <a:latin typeface="맑은 고딕"/>
              </a:rPr>
              <a:t>•  STATIC이면 첫 술어를 모두가 재사용</a:t>
            </a:r>
          </a:p>
          <a:p>
            <a:pPr algn="l">
              <a:spcAft>
                <a:spcPts val="1000"/>
              </a:spcAft>
            </a:pPr>
            <a:r>
              <a:rPr sz="1700" b="0">
                <a:solidFill>
                  <a:srgbClr val="222222"/>
                </a:solidFill>
                <a:latin typeface="맑은 고딕"/>
              </a:rPr>
              <a:t>•  술어 안에 SYS_CONTEXT 호출을 넣으면 안전</a:t>
            </a:r>
          </a:p>
          <a:p>
            <a:pPr algn="l">
              <a:spcAft>
                <a:spcPts val="1000"/>
              </a:spcAft>
            </a:pPr>
            <a:r>
              <a:rPr sz="1700" b="0">
                <a:solidFill>
                  <a:srgbClr val="222222"/>
                </a:solidFill>
                <a:latin typeface="맑은 고딕"/>
              </a:rPr>
              <a:t>•  바꾼 뒤 REFRESH_POLICY로 캐시 비움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유형 선택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DYNAMIC으로 시작해 옮긴다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로그인 때 정해지는 속성 하나: CONTEXT_SENSITIVE</a:t>
            </a:r>
          </a:p>
          <a:p>
            <a:pPr algn="l">
              <a:spcAft>
                <a:spcPts val="1000"/>
              </a:spcAft>
            </a:pPr>
            <a:r>
              <a:rPr sz="1700" b="0">
                <a:solidFill>
                  <a:srgbClr val="222222"/>
                </a:solidFill>
                <a:latin typeface="맑은 고딕"/>
              </a:rPr>
              <a:t>•  고정 술어 + SYS_CONTEXT: STATIC 계열</a:t>
            </a:r>
          </a:p>
          <a:p>
            <a:pPr algn="l">
              <a:spcAft>
                <a:spcPts val="1000"/>
              </a:spcAft>
            </a:pPr>
            <a:r>
              <a:rPr sz="1700" b="0">
                <a:solidFill>
                  <a:srgbClr val="222222"/>
                </a:solidFill>
                <a:latin typeface="맑은 고딕"/>
              </a:rPr>
              <a:t>•  시각·조회 결과 의존: DYNAMIC 유지</a:t>
            </a:r>
          </a:p>
          <a:p>
            <a:pPr algn="l">
              <a:spcAft>
                <a:spcPts val="1000"/>
              </a:spcAft>
            </a:pPr>
            <a:r>
              <a:rPr sz="1700" b="0">
                <a:solidFill>
                  <a:srgbClr val="222222"/>
                </a:solidFill>
                <a:latin typeface="맑은 고딕"/>
              </a:rPr>
              <a:t>•  V$VPD_POLICY로 술어 변화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우회와 면제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SYS와 EXEMPT ACCESS POLICY</a:t>
            </a:r>
          </a:p>
          <a:p>
            <a:pPr algn="l">
              <a:spcAft>
                <a:spcPts val="800"/>
              </a:spcAft>
            </a:pPr>
            <a:r>
              <a:rPr sz="1600" b="0">
                <a:solidFill>
                  <a:srgbClr val="FFFFFF"/>
                </a:solidFill>
                <a:latin typeface="맑은 고딕"/>
              </a:rPr>
              <a:t>•  Data Pump로 내보낼 때</a:t>
            </a:r>
          </a:p>
          <a:p>
            <a:pPr algn="l">
              <a:spcAft>
                <a:spcPts val="800"/>
              </a:spcAft>
            </a:pPr>
            <a:r>
              <a:rPr sz="1600" b="0">
                <a:solidFill>
                  <a:srgbClr val="FFFFFF"/>
                </a:solidFill>
                <a:latin typeface="맑은 고딕"/>
              </a:rPr>
              <a:t>•  우회 경로 점검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SYS와 EXEMPT ACCESS POLICY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정책을 건너뛴다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SYS·AS SYSDBA 세션은 정책 미적용</a:t>
            </a:r>
          </a:p>
          <a:p>
            <a:pPr algn="l">
              <a:spcAft>
                <a:spcPts val="1000"/>
              </a:spcAft>
            </a:pPr>
            <a:r>
              <a:rPr sz="1700" b="0">
                <a:solidFill>
                  <a:srgbClr val="222222"/>
                </a:solidFill>
                <a:latin typeface="맑은 고딕"/>
              </a:rPr>
              <a:t>•  EXEMPT ACCESS POLICY는 DB 전체 면제</a:t>
            </a:r>
          </a:p>
          <a:p>
            <a:pPr algn="l">
              <a:spcAft>
                <a:spcPts val="1000"/>
              </a:spcAft>
            </a:pPr>
            <a:r>
              <a:rPr sz="1700" b="0">
                <a:solidFill>
                  <a:srgbClr val="222222"/>
                </a:solidFill>
                <a:latin typeface="맑은 고딕"/>
              </a:rPr>
              <a:t>•  테이블 소유자는 면제되지 않는다</a:t>
            </a:r>
          </a:p>
          <a:p>
            <a:pPr algn="l">
              <a:spcAft>
                <a:spcPts val="1000"/>
              </a:spcAft>
            </a:pPr>
            <a:r>
              <a:rPr sz="1700" b="0">
                <a:solidFill>
                  <a:srgbClr val="222222"/>
                </a:solidFill>
                <a:latin typeface="맑은 고딕"/>
              </a:rPr>
              <a:t>•  면제 권한 사용은 감사 대상</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 Pump와 VPD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성공했는데 일부만 내보내진다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내보내는 계정의 정책이 적용된다</a:t>
            </a:r>
          </a:p>
          <a:p>
            <a:pPr algn="l">
              <a:spcAft>
                <a:spcPts val="1000"/>
              </a:spcAft>
            </a:pPr>
            <a:r>
              <a:rPr sz="1700" b="0">
                <a:solidFill>
                  <a:srgbClr val="222222"/>
                </a:solidFill>
                <a:latin typeface="맑은 고딕"/>
              </a:rPr>
              <a:t>•  일부만 내보냈다는 경고, 작업은 성공</a:t>
            </a:r>
          </a:p>
          <a:p>
            <a:pPr algn="l">
              <a:spcAft>
                <a:spcPts val="1000"/>
              </a:spcAft>
            </a:pPr>
            <a:r>
              <a:rPr sz="1700" b="0">
                <a:solidFill>
                  <a:srgbClr val="222222"/>
                </a:solidFill>
                <a:latin typeface="맑은 고딕"/>
              </a:rPr>
              <a:t>•  백업 계정에 면제 권한 + 감사</a:t>
            </a:r>
          </a:p>
          <a:p>
            <a:pPr algn="l">
              <a:spcAft>
                <a:spcPts val="1000"/>
              </a:spcAft>
            </a:pPr>
            <a:r>
              <a:rPr sz="1700" b="0">
                <a:solidFill>
                  <a:srgbClr val="222222"/>
                </a:solidFill>
                <a:latin typeface="맑은 고딕"/>
              </a:rPr>
              <a:t>•  대상 DB에 정책 함수가 없으면 ORA-28110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우회 경로 정기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가지 목록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DBMS_RLS 실행 권한 보유자</a:t>
            </a:r>
          </a:p>
          <a:p>
            <a:pPr algn="l">
              <a:spcAft>
                <a:spcPts val="1000"/>
              </a:spcAft>
            </a:pPr>
            <a:r>
              <a:rPr sz="1700" b="0">
                <a:solidFill>
                  <a:srgbClr val="222222"/>
                </a:solidFill>
                <a:latin typeface="맑은 고딕"/>
              </a:rPr>
              <a:t>•  EXEMPT ACCESS POLICY 보유자</a:t>
            </a:r>
          </a:p>
          <a:p>
            <a:pPr algn="l">
              <a:spcAft>
                <a:spcPts val="1000"/>
              </a:spcAft>
            </a:pPr>
            <a:r>
              <a:rPr sz="1700" b="0">
                <a:solidFill>
                  <a:srgbClr val="222222"/>
                </a:solidFill>
                <a:latin typeface="맑은 고딕"/>
              </a:rPr>
              <a:t>•  ENABLE이 NO인 정책</a:t>
            </a:r>
          </a:p>
          <a:p>
            <a:pPr algn="l">
              <a:spcAft>
                <a:spcPts val="1000"/>
              </a:spcAft>
            </a:pPr>
            <a:r>
              <a:rPr sz="1700" b="0">
                <a:solidFill>
                  <a:srgbClr val="222222"/>
                </a:solidFill>
                <a:latin typeface="맑은 고딕"/>
              </a:rPr>
              <a:t>•  INVALID 상태의 정책 함수</a:t>
            </a:r>
          </a:p>
          <a:p>
            <a:pPr algn="l">
              <a:spcAft>
                <a:spcPts val="1000"/>
              </a:spcAft>
            </a:pPr>
            <a:r>
              <a:rPr sz="1700" b="0">
                <a:solidFill>
                  <a:srgbClr val="222222"/>
                </a:solidFill>
                <a:latin typeface="맑은 고딕"/>
              </a:rPr>
              <a:t>•  신뢰 패키지 실행 권한 보유자</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VPD 관련 데이터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정의는 DBA_POLICIES</a:t>
            </a:r>
          </a:p>
          <a:p>
            <a:pPr algn="l">
              <a:spcAft>
                <a:spcPts val="800"/>
              </a:spcAft>
            </a:pPr>
            <a:r>
              <a:rPr sz="1600" b="0">
                <a:solidFill>
                  <a:srgbClr val="FFFFFF"/>
                </a:solidFill>
                <a:latin typeface="맑은 고딕"/>
              </a:rPr>
              <a:t>•  실제 술어는 V$VPD_POLICY</a:t>
            </a:r>
          </a:p>
          <a:p>
            <a:pPr algn="l">
              <a:spcAft>
                <a:spcPts val="800"/>
              </a:spcAft>
            </a:pPr>
            <a:r>
              <a:rPr sz="1600" b="0">
                <a:solidFill>
                  <a:srgbClr val="FFFFFF"/>
                </a:solidFill>
                <a:latin typeface="맑은 고딕"/>
              </a:rPr>
              <a:t>•  컬럼 수준은 DBA_SEC_RELEVANT_COLS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정책을 보는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정의와 실행 결과를 나눠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DBA_POLICIES: SEL·INS·UPD·DEL·CHK·ENABLE</a:t>
            </a:r>
          </a:p>
          <a:p>
            <a:pPr algn="l">
              <a:spcAft>
                <a:spcPts val="1000"/>
              </a:spcAft>
            </a:pPr>
            <a:r>
              <a:rPr sz="1700" b="0">
                <a:solidFill>
                  <a:srgbClr val="222222"/>
                </a:solidFill>
                <a:latin typeface="맑은 고딕"/>
              </a:rPr>
              <a:t>•  DBA_SEC_RELEVANT_COLS: 민감 컬럼·옵션</a:t>
            </a:r>
          </a:p>
          <a:p>
            <a:pPr algn="l">
              <a:spcAft>
                <a:spcPts val="1000"/>
              </a:spcAft>
            </a:pPr>
            <a:r>
              <a:rPr sz="1700" b="0">
                <a:solidFill>
                  <a:srgbClr val="222222"/>
                </a:solidFill>
                <a:latin typeface="맑은 고딕"/>
              </a:rPr>
              <a:t>•  DBA_POLICY_GROUPS·CONTEXTS·ATTRIBUTES</a:t>
            </a:r>
          </a:p>
          <a:p>
            <a:pPr algn="l">
              <a:spcAft>
                <a:spcPts val="1000"/>
              </a:spcAft>
            </a:pPr>
            <a:r>
              <a:rPr sz="1700" b="0">
                <a:solidFill>
                  <a:srgbClr val="222222"/>
                </a:solidFill>
                <a:latin typeface="맑은 고딕"/>
              </a:rPr>
              <a:t>•  V$VPD_POLICY: 커서별 실제 술어</a:t>
            </a:r>
          </a:p>
          <a:p>
            <a:pPr algn="l">
              <a:spcAft>
                <a:spcPts val="1000"/>
              </a:spcAft>
            </a:pPr>
            <a:r>
              <a:rPr sz="1700" b="0">
                <a:solidFill>
                  <a:srgbClr val="222222"/>
                </a:solidFill>
                <a:latin typeface="맑은 고딕"/>
              </a:rPr>
              <a:t>•  DBA_CONTEXT, SESSION_CONTEXT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적용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매뉴얼 튜토리얼의 아홉 단계</a:t>
            </a:r>
          </a:p>
          <a:p>
            <a:pPr algn="l">
              <a:spcAft>
                <a:spcPts val="800"/>
              </a:spcAft>
            </a:pPr>
            <a:r>
              <a:rPr sz="1600" b="0">
                <a:solidFill>
                  <a:srgbClr val="FFFFFF"/>
                </a:solidFill>
                <a:latin typeface="맑은 고딕"/>
              </a:rPr>
              <a:t>•  반영 순서가 바뀌면 업무가 멈춘다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도입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컨텍스트를 채운 뒤에 정책을 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관리자 계정 → 매핑 테이블 → 컨텍스트</a:t>
            </a:r>
          </a:p>
          <a:p>
            <a:pPr algn="l">
              <a:spcAft>
                <a:spcPts val="1000"/>
              </a:spcAft>
            </a:pPr>
            <a:r>
              <a:rPr sz="1700" b="0">
                <a:solidFill>
                  <a:srgbClr val="222222"/>
                </a:solidFill>
                <a:latin typeface="맑은 고딕"/>
              </a:rPr>
              <a:t>•  신뢰 패키지 → LOGON 트리거</a:t>
            </a:r>
          </a:p>
          <a:p>
            <a:pPr algn="l">
              <a:spcAft>
                <a:spcPts val="1000"/>
              </a:spcAft>
            </a:pPr>
            <a:r>
              <a:rPr sz="1700" b="0">
                <a:solidFill>
                  <a:srgbClr val="222222"/>
                </a:solidFill>
                <a:latin typeface="맑은 고딕"/>
              </a:rPr>
              <a:t>•  정책 함수 → 정책 등록</a:t>
            </a:r>
          </a:p>
          <a:p>
            <a:pPr algn="l">
              <a:spcAft>
                <a:spcPts val="1000"/>
              </a:spcAft>
            </a:pPr>
            <a:r>
              <a:rPr sz="1700" b="0">
                <a:solidFill>
                  <a:srgbClr val="222222"/>
                </a:solidFill>
                <a:latin typeface="맑은 고딕"/>
              </a:rPr>
              <a:t>•  업무 계정으로 시험 → 우회 점검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정책 변경은 커서 무효화</a:t>
            </a:r>
          </a:p>
          <a:p>
            <a:pPr algn="l">
              <a:spcAft>
                <a:spcPts val="800"/>
              </a:spcAft>
            </a:pPr>
            <a:r>
              <a:rPr sz="1600" b="0">
                <a:solidFill>
                  <a:srgbClr val="FFFFFF"/>
                </a:solidFill>
                <a:latin typeface="맑은 고딕"/>
              </a:rPr>
              <a:t>•  함수 INVALID는 테이블 장애</a:t>
            </a:r>
          </a:p>
          <a:p>
            <a:pPr algn="l">
              <a:spcAft>
                <a:spcPts val="800"/>
              </a:spcAft>
            </a:pPr>
            <a:r>
              <a:rPr sz="1600" b="0">
                <a:solidFill>
                  <a:srgbClr val="FFFFFF"/>
                </a:solidFill>
                <a:latin typeface="맑은 고딕"/>
              </a:rPr>
              <a:t>•  감사와 함께 설계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틀리는 문제들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정책 변경 시 하드 파싱 집중</a:t>
            </a:r>
          </a:p>
          <a:p>
            <a:pPr algn="l">
              <a:spcAft>
                <a:spcPts val="1000"/>
              </a:spcAft>
            </a:pPr>
            <a:r>
              <a:rPr sz="1700" b="0">
                <a:solidFill>
                  <a:srgbClr val="222222"/>
                </a:solidFill>
                <a:latin typeface="맑은 고딕"/>
              </a:rPr>
              <a:t>•  정책 함수 INVALID → 모든 문장 ORA-28110</a:t>
            </a:r>
          </a:p>
          <a:p>
            <a:pPr algn="l">
              <a:spcAft>
                <a:spcPts val="1000"/>
              </a:spcAft>
            </a:pPr>
            <a:r>
              <a:rPr sz="1700" b="0">
                <a:solidFill>
                  <a:srgbClr val="222222"/>
                </a:solidFill>
                <a:latin typeface="맑은 고딕"/>
              </a:rPr>
              <a:t>•  배치 계정이 정책 대상인지 확인</a:t>
            </a:r>
          </a:p>
          <a:p>
            <a:pPr algn="l">
              <a:spcAft>
                <a:spcPts val="1000"/>
              </a:spcAft>
            </a:pPr>
            <a:r>
              <a:rPr sz="1700" b="0">
                <a:solidFill>
                  <a:srgbClr val="222222"/>
                </a:solidFill>
                <a:latin typeface="맑은 고딕"/>
              </a:rPr>
              <a:t>•  이관 시 DBA_POLICIES 비교</a:t>
            </a:r>
          </a:p>
          <a:p>
            <a:pPr algn="l">
              <a:spcAft>
                <a:spcPts val="1000"/>
              </a:spcAft>
            </a:pPr>
            <a:r>
              <a:rPr sz="1700" b="0">
                <a:solidFill>
                  <a:srgbClr val="222222"/>
                </a:solidFill>
                <a:latin typeface="맑은 고딕"/>
              </a:rPr>
              <a:t>•  장애 시 컨텍스트 → 함수 → 술어 순 확인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VPD = 정책 함수의 술어를 WHERE에 결합</a:t>
            </a:r>
          </a:p>
          <a:p>
            <a:pPr algn="l">
              <a:spcAft>
                <a:spcPts val="1000"/>
              </a:spcAft>
            </a:pPr>
            <a:r>
              <a:rPr sz="1600" b="0">
                <a:solidFill>
                  <a:srgbClr val="222222"/>
                </a:solidFill>
                <a:latin typeface="맑은 고딕"/>
              </a:rPr>
              <a:t>•  NULL은 제한 없음, 근거 없으면 1=2</a:t>
            </a:r>
          </a:p>
          <a:p>
            <a:pPr algn="l">
              <a:spcAft>
                <a:spcPts val="1000"/>
              </a:spcAft>
            </a:pPr>
            <a:r>
              <a:rPr sz="1600" b="0">
                <a:solidFill>
                  <a:srgbClr val="222222"/>
                </a:solidFill>
                <a:latin typeface="맑은 고딕"/>
              </a:rPr>
              <a:t>•  술어 오류는 조회 때 ORA-28113, 원인은 트레이스</a:t>
            </a:r>
          </a:p>
          <a:p>
            <a:pPr algn="l">
              <a:spcAft>
                <a:spcPts val="1000"/>
              </a:spcAft>
            </a:pPr>
            <a:r>
              <a:rPr sz="1600" b="0">
                <a:solidFill>
                  <a:srgbClr val="222222"/>
                </a:solidFill>
                <a:latin typeface="맑은 고딕"/>
              </a:rPr>
              <a:t>•  INSERT는 update_check 필수(28104), 위반은 28115</a:t>
            </a:r>
          </a:p>
          <a:p>
            <a:pPr algn="l">
              <a:spcAft>
                <a:spcPts val="1000"/>
              </a:spcAft>
            </a:pPr>
            <a:r>
              <a:rPr sz="1600" b="0">
                <a:solidFill>
                  <a:srgbClr val="222222"/>
                </a:solidFill>
                <a:latin typeface="맑은 고딕"/>
              </a:rPr>
              <a:t>•  컬럼 수준·ALL_ROWS는 SELECT 전용, NULL이 집계를 바꿈</a:t>
            </a:r>
          </a:p>
          <a:p>
            <a:pPr algn="l">
              <a:spcAft>
                <a:spcPts val="1000"/>
              </a:spcAft>
            </a:pPr>
            <a:r>
              <a:rPr sz="1600" b="0">
                <a:solidFill>
                  <a:srgbClr val="222222"/>
                </a:solidFill>
                <a:latin typeface="맑은 고딕"/>
              </a:rPr>
              <a:t>•  캐시 유형 주의, SYS·면제 권한은 모든 정책 우회</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정책 함수가 NULL을 돌려주면? → 모든 행이 보인다</a:t>
            </a:r>
          </a:p>
          <a:p>
            <a:pPr algn="l">
              <a:spcAft>
                <a:spcPts val="1000"/>
              </a:spcAft>
            </a:pPr>
            <a:r>
              <a:rPr sz="1600" b="0">
                <a:solidFill>
                  <a:srgbClr val="222222"/>
                </a:solidFill>
                <a:latin typeface="맑은 고딕"/>
              </a:rPr>
              <a:t>•  Q2. INSERT만 추가하고 update_check 없이 등록하면? → ORA-28104</a:t>
            </a:r>
          </a:p>
          <a:p>
            <a:pPr algn="l">
              <a:spcAft>
                <a:spcPts val="1000"/>
              </a:spcAft>
            </a:pPr>
            <a:r>
              <a:rPr sz="1600" b="0">
                <a:solidFill>
                  <a:srgbClr val="222222"/>
                </a:solidFill>
                <a:latin typeface="맑은 고딕"/>
              </a:rPr>
              <a:t>•  Q3. SYS 세션에서 넣은 컨텍스트 값은 SCOTT 세션에서? → 보이지 않아 0건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ALL_ROWS를 UPDATE에도 쓸 수 있나? → 아니다, SELECT 전용</a:t>
            </a:r>
          </a:p>
          <a:p>
            <a:pPr algn="l">
              <a:spcAft>
                <a:spcPts val="1000"/>
              </a:spcAft>
            </a:pPr>
            <a:r>
              <a:rPr sz="1600" b="0">
                <a:solidFill>
                  <a:srgbClr val="222222"/>
                </a:solidFill>
                <a:latin typeface="맑은 고딕"/>
              </a:rPr>
              <a:t>•  Q5. 세션마다 다른 술어를 STATIC으로 등록하면? → 첫 술어가 재사용된다</a:t>
            </a:r>
          </a:p>
          <a:p>
            <a:pPr algn="l">
              <a:spcAft>
                <a:spcPts val="1000"/>
              </a:spcAft>
            </a:pPr>
            <a:r>
              <a:rPr sz="1600" b="0">
                <a:solidFill>
                  <a:srgbClr val="222222"/>
                </a:solidFill>
                <a:latin typeface="맑은 고딕"/>
              </a:rPr>
              <a:t>•  Q6. 정책을 건너뛰지 않는 것은? → 테이블 소유자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정책 함수와 행 수준 정책: 1=2, SYS 우회, ORA-28113 (7.3, 7.4)</a:t>
            </a:r>
          </a:p>
          <a:p>
            <a:pPr algn="l">
              <a:spcAft>
                <a:spcPts val="1000"/>
              </a:spcAft>
            </a:pPr>
            <a:r>
              <a:rPr sz="1600" b="0">
                <a:solidFill>
                  <a:srgbClr val="222222"/>
                </a:solidFill>
                <a:latin typeface="맑은 고딕"/>
              </a:rPr>
              <a:t>•  02 컨텍스트 연결: ORA-01031, 세션 단위, 실행 계획 (7.6)</a:t>
            </a:r>
          </a:p>
          <a:p>
            <a:pPr algn="l">
              <a:spcAft>
                <a:spcPts val="1000"/>
              </a:spcAft>
            </a:pPr>
            <a:r>
              <a:rPr sz="1600" b="0">
                <a:solidFill>
                  <a:srgbClr val="222222"/>
                </a:solidFill>
                <a:latin typeface="맑은 고딕"/>
              </a:rPr>
              <a:t>•  03 문장 유형과 update_check: ORA-28104·28101·28115 (7.5)</a:t>
            </a:r>
          </a:p>
          <a:p>
            <a:pPr algn="l">
              <a:spcAft>
                <a:spcPts val="1000"/>
              </a:spcAft>
            </a:pPr>
            <a:r>
              <a:rPr sz="1600" b="0">
                <a:solidFill>
                  <a:srgbClr val="222222"/>
                </a:solidFill>
                <a:latin typeface="맑은 고딕"/>
              </a:rPr>
              <a:t>•  04 컬럼 수준 VPD: ALL_ROWS, NULL과 집계 (7.7)</a:t>
            </a:r>
          </a:p>
          <a:p>
            <a:pPr algn="l">
              <a:spcAft>
                <a:spcPts val="1000"/>
              </a:spcAft>
            </a:pPr>
            <a:r>
              <a:rPr sz="1600" b="0">
                <a:solidFill>
                  <a:srgbClr val="222222"/>
                </a:solidFill>
                <a:latin typeface="맑은 고딕"/>
              </a:rPr>
              <a:t>•  05 정책 유형·면제·관리: V$VPD_POLICY, ORA-28102, 원복 (7.8~7.10)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
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다룬 접근 제어는 모두 SQL로 들어오는 요청을 전제로 합니다. 누군가 데이터 파일을 OS에서 복사해 가면 권한도 VPD도 아무 역할을 하지 못합니다. 데이터 파일은 블록 형식이지만 문자열 데이터는 strings 명령만으로도 상당 부분 보입니다. 실습 03에서 일반 테이블스페이스와 암호화 테이블스페이스에 같은 카드 번호를 넣고 파일을 직접 읽어 비교합니다. 폐기한 디스크나 외부 보관 백업처럼 유출 경로는 생각보다 많습니다.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투명하다는 말은 애플리케이션이 아무것도 바꾸지 않아도 된다는 뜻입니다. 동시에 권한이 있는 사용자는 평소처럼 평문을 본다는 뜻이기도 합니다. TDE를 도입했으니 DBA도 데이터를 못 본다고 오해하는 경우가 있는데, TDE는 파일 유출을 막는 기능이지 사람을 막는 기능이 아닙니다. 사람을 통제하려면 권한, VPD, Redaction, 감사를 함께 써야 합니다. 9장의 DBMS_CRYPTO는 반대로 애플리케이션이 직접 암호화하므로 SQL 결과도 암호문입니다.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TDE는 별도 옵션 라이선스가 필요한 기능입니다. 실습 VM은 교육용이지만 운영 데이터베이스에 적용하기 전에는 반드시 라이선스 보유 여부를 확인해야 합니다. 키스토어를 만들고 마스터 키를 설정하는 것만으로는 아직 데이터가 암호화되지 않습니다. 암호화된 테이블스페이스나 컬럼을 만드는 시점부터 옵션을 사용한 것으로 봅니다. 같은 옵션에 8장의 Data Redaction도 포함됩니다.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데이터 블록을 암호화하는 것은 2계층 키이고, 이 키는 마스터 키로 다시 암호화되어 데이터 파일 헤더나 데이터 딕셔너리에 들어 있습니다. 마스터 키는 데이터베이스 밖 키스토어에만 있으니 데이터 파일만 훔쳐서는 풀 수 없습니다. 이 구조 덕분에 마스터 키를 바꿀 때는 작은 2계층 키들만 다시 암호화하면 되어서 테라바이트급 데이터베이스에서도 금방 끝납니다. 반면 2계층 키 자체를 바꾸면 데이터를 다시 암호화해야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소프트웨어 키스토어는 파일입니다. 비밀번호 키스토어만 있으면 인스턴스를 재기동할 때마다 DBA가 직접 열어야 하고, 그 전까지 암호화된 데이터는 읽을 수 없습니다. auto-login 키스토어를 만들면 인스턴스가 시작될 때 자동으로 열립니다. local auto-login은 1장의 SEPS 지갑과 같은 원리로 만든 호스트에서만 열리므로 복사된 키스토어를 막아 줍니다. 대규모 환경에서는 HSM이나 Key Vault 같은 외부 키스토어를 씁니다.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TDE 상태 점검은 거의 언제나 V$ENCRYPTION_WALLET 조회로 시작합니다. 실습 DB orcl의 처음 상태는 NOT_AVAILABLE이고, 키스토어를 만들고 열면 OPEN_NO_MASTER_KEY, 마스터 키를 설정하면 OPEN이 됩니다. 실습 내내 이 값이 어떻게 바뀌는지 따라가 보면 구성 단계를 자연스럽게 익힐 수 있습니다. WALLET_TYPE 열은 지금 열려 있는 키스토어가 비밀번호 키스토어인지 auto-login인지 알려 줍니다.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19c에서 키스토어 위치는 초기화 파라미터로 정합니다. WALLET_ROOT는 정적이라 메모리에 바로 반영할 수 없고 재기동이 필요합니다. 실습 01에서 SCOPE=MEMORY로 바꾸려다 거부되는 것을 확인합니다. TDE_CONFIGURATION은 WALLET_ROOT가 준비된 다음에 설정하는 동적 파라미터인데, 순서를 바꿔 먼저 설정하면 어떤 일이 생기는지도 실습에서 봅니다. TDE 도입에 재기동 시간이 필요한 이유가 바로 이 정적 파라미터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인스턴스는 정해진 순서로 키스토어를 찾습니다. 아무 설정이 없는 orcl도 V$ENCRYPTION_WALLET에 기본 경로가 나타나는 것은 마지막 순서인 기본 위치를 보여 주기 때문입니다. sqlnet.ora 방식은 같은 Oracle Home의 모든 데이터베이스가 같은 파일을 읽어 관리가 어려웠습니다. WALLET_ROOT는 인스턴스 파라미터라서 데이터베이스마다 따로 정해지며, 실습 VM의 sales가 TDE를 쓰고 있어도 orcl과 섞이지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자료는 이미 WALLET_ROOT를 쓰고 있지만 키스토어를 만들 때 경로를 직접 적습니다. 19c 매뉴얼은 WALLET_ROOT가 설정된 상태에서는 경로 없이 CREATE KEYSTORE를 쓰도록 안내합니다. 실습 02에서 원본 문법을 그대로 실행해 결과를 확인하고, 19c 문법으로 다시 만듭니다. 12c 이전 자료에 흔한 sqlnet.ora의 ENCRYPTION_WALLET_LOCATION은 19c에서 디프리케이트됐으므로, 기존 시스템을 옮길 때 이 부분부터 바꿔야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키스토어를 만들고 연 직후의 상태가 OPEN_NO_MASTER_KEY입니다. 이 상태에서 암호화 테이블스페이스를 만들면 ORA-28361, 마스터 키가 아직 없다는 오류가 납니다. 실습 02에서 직접 확인합니다. 키스토어 비밀번호는 DB 사용자 비밀번호와 아무 관계가 없는 지갑 파일 비밀번호입니다. 이 비밀번호를 잃으면 키스토어를 열 수 없고, 그러면 암호화된 데이터에 영원히 접근할 수 없습니다. 키스토어 관리는 SYSKM 같은 별도 관리 권한으로 분리할 수 있다는 점도 소개합니다.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마스터 키를 만들 때와 바꿀 때 같은 명령을 씁니다. 비밀번호 키스토어에서는 WITH BACKUP을 빼면 거부되는데, 실습 02에서 이 오류를 직접 보고 다시 실행합니다. WITH BACKUP은 키스토어를 바꾸기 직전 상태를 별도 파일로 남깁니다. 태그를 달아 두면 여러 번 교체한 뒤에도 어떤 키가 언제 왜 만들어졌는지 구분하기 쉽습니다. 설정이 끝나면 V$ENCRYPTION_KEYS에 키가 한 행 생깁니다.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비밀번호 키스토어만 있는 상태에서 재기동하면 키스토어가 닫힌 채 올라오고 암호화된 테이블을 쓰는 업무가 모두 실패합니다. 실습 05에서 이 상황을 재현합니다. auto-login 키스토어를 만들면 이런 일이 없어지지만, cwallet.sso 파일을 가진 사람이 곧 키를 가진 사람이 된다는 점은 SEPS 지갑과 같습니다. 그래서 운영에서는 LOCAL을 붙여 만든 호스트에서만 열리게 하는 경우가 많습니다. 관리 작업에는 비밀번호 키스토어가 필요하니 ewallet.p12는 남겨 둡니다.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실무에서 TDE를 처음 도입한 뒤 첫 재기동 때 흔히 겪는 일입니다. 도입 작업 중에 DBA가 키스토어를 열어 두었으니 재기동 전까지는 아무 문제가 없다가, 재기동하는 순간 닫힌 상태로 올라와 암호화된 테이블을 쓰는 화면만 실패합니다. 실습 05에서 보면 컬럼 암호화 테이블은 암호화되지 않은 컬럼만 조회할 때 결과가 어떻게 다른지도 확인할 수 있습니다. 도입 직후 한 번은 일부러 재기동해 보는 것이 좋습니다.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컬럼 암호화는 ENCRYPT를 붙인 컬럼만 암호화합니다. 기본 알고리즘은 AES192이고 salt와 무결성 검사가 붙습니다. 한 테이블의 암호화 컬럼은 모두 같은 테이블 키를 쓰기 때문에 컬럼마다 다른 알고리즘을 줄 수 없습니다. 실습 04에서 다른 알고리즘을 지정해 보고 결과를 확인합니다. 컬럼 값은 버퍼 캐시에서도 암호화된 상태라 읽을 때마다 복호화 비용이 든다는 점이 테이블스페이스 암호화와 가장 큰 차이입니다.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salt는 같은 값이 같은 암호문이 되지 않게 해서 암호문 패턴으로 값을 추측하는 공격을 막습니다. 대신 같은 값이 다른 암호문이 되니 인덱스로 정렬하거나 비교할 수가 없습니다. 실습 04에서 salt 컬럼에 인덱스를 만들다 ORA-28338을 만나고, NO SALT로 바꾼 뒤 다시 만듭니다. 이때도 인덱스는 동등 조건에만 쓰입니다. 외래 키 컬럼과 B-tree가 아닌 인덱스, identity 컬럼에는 컬럼 암호화를 쓸 수 없다는 제약도 함께 정리합니다.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테이블스페이스 암호화는 블록이 디스크에 기록될 때 암호화되고 버퍼 캐시에 올라올 때 복호화됩니다. 캐시 안에서는 평문이므로 반복 조회 비용이 낮고 인덱스 범위 검색에도 제약이 없습니다. 어느 컬럼이 민감한지 고민할 필요 없이 테이블스페이스에 넣기만 하면 모두 보호되므로 19c에서는 일반적인 선택입니다. 실습 03에서 두 테이블스페이스의 데이터 파일을 strings로 읽어 차이를 눈으로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12.2부터 운영 중인 테이블스페이스를 닫지 않고 암호화할 수 있습니다. 내부적으로는 데이터 파일을 새 파일로 복사하며 암호화하고 끝나면 바꿔 끼우는 방식이라, 작업 동안 원래 파일 크기만큼 공간이 더 필요합니다. 예전 자료는 OMF가 아니면 새 파일 이름을 FILE_NAME_CONVERT로 줘야 한다고 설명하지만, 실습 03의 tdedb는 OMF를 쓰지 않는데도 이 절 없이 변환이 끝났고 파일 이름도 그대로였습니다. 변환 후 같은 파일을 strings로 읽어 평문이 사라진 것을 확인하고, 같은 명령을 한 번 더 실행해 ORA-28370이 나는 것도 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정기적인 키 교체 요구는 보통 마스터 키 교체로 충족합니다. 빠르고 서비스 영향이 거의 없기 때문입니다. 실습 05에서 마스터 키를 한 번 더 바꾸면 V$ENCRYPTION_KEYS에 행이 하나 늘어나는 것을 봅니다. 옛 키가 남는 이유는 그 키로 암호화된 상태의 백업을 복구할 때 필요하기 때문입니다. 2계층 키 교체는 데이터 전체를 다시 암호화하므로 키 노출이 의심될 때나 알고리즘을 바꿀 때 씁니다.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자료의 마지막 조회를 보면 비밀번호로 키스토어를 닫았는데도 상태가 OPEN이고 종류가 AUTOLOGIN으로 나옵니다. 실습 05에서 같은 명령을 내 보면 지금 열려 있는 것이 auto-login 키스토어라 ORA-28417이 나고 상태는 그대로 OPEN입니다. auto-login으로 연 키스토어는 비밀번호 없이 닫아야 합니다. 키스토어를 닫는 것은 암호화된 데이터를 쓰는 모든 업무를 멈추는 것과 같아서 운영 중에는 하지 않습니다. 이미 버퍼 캐시에 올라와 있는 블록이라도 키스토어가 닫히면 접근이 거부됩니다.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RMAN 백업에는 키스토어 파일이 들어가지 않습니다. 다른 서버로 복원했는데 키스토어가 없어 데이터를 열지 못하는 사례가 실제로 있습니다. 반대로 데이터 백업과 키스토어를 같은 테이프에 담아 두면 테이프 하나를 잃었을 때 TDE가 아무것도 막지 못합니다. 그래서 키스토어 백업은 별도 매체와 별도 장소에 두고, 비밀번호는 또 따로 보관합니다. 실습 05에서 수동 백업을 만들고 파일 목록을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TDE를 켰다고 모든 출구가 막히는 것은 아닙니다. Data Pump는 기본적으로 암호화 컬럼을 평문으로 덤프에 쓰기 때문에 덤프 파일 자체를 암호화하는 옵션을 따로 써야 합니다. Data Guard 환경에서는 Primary에서 마스터 키를 바꾸면 Standby 키스토어도 갱신해야 합니다. 네트워크 구간은 TDE와 무관하므로 11장의 TLS나 네이티브 네트워크 암호화로 보호합니다. 암호화 대상을 정할 때 데이터가 나가는 모든 경로를 함께 그려 보도록 안내합니다.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교안을 만들면서 실제로 겪은 일입니다. 다른 실습과 함께 쓰는 orcl에서 TDE를 시험한 뒤 원복한다며 암호화 객체와 키스토어 디렉터리를 모두 지웠습니다. 그런데 데이터베이스에는 마스터 키를 활성화했다는 기록이 남아 있어서, 다시 TDE를 구성하려 하자 ORA-28374가 났고, 그다음 재기동 때는 종료 과정이 ORA-28365로 멈춰 버렸습니다. 보관해 둔 키스토어를 되돌려 복구했습니다. TDE를 한 번 쓴 데이터베이스의 키스토어는 지우면 안 된다는 것을 이 사례로 설명합니다.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마스터 키 기록을 되돌릴 방법이 없으니 TDE 실습은 다른 용도와 함께 쓰는 데이터베이스에서 하면 안 됩니다. 그래서 이 장의 트랜스크립트는 전용 데이터베이스 tdedb를 만들어 기록했고, 마지막 실습에서 암호화 객체를 모두 지운 뒤에도 활성화 기록이 남아 있는 것을 확인한 다음 데이터베이스를 통째로 삭제했습니다. 학생 실습 환경에서도 TDE는 전용 DB나 스냅숏으로 되돌릴 수 있는 VM에서 하도록 안내합니다.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TDE 점검은 키스토어, 키, 암호화 객체 세 층으로 나눠 봅니다. V$ENCRYPTION_WALLET에서 키스토어가 열려 있는지와 백업 여부를 보고, V$ENCRYPTION_KEYS에서 마스터 키 이력을 봅니다. 마지막으로 어떤 테이블스페이스와 컬럼이 암호화되어 있는지를 V$ENCRYPTED_TABLESPACES와 DBA_ENCRYPTED_COLUMNS로 확인합니다. 실습 03과 04에서 각 뷰의 결과를 직접 조회하며 구성 단계와 연결해 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WALLET_ROOT 때문에 TDE 도입 첫 단계는 계획된 정지 시간에 맞춰야 하고, 그 다음 단계부터는 온라인으로 할 수 있습니다. 가장 많이 빠뜨리는 것이 재기동 시험과 키스토어 백업입니다. 재기동 시험을 생략하면 첫 장애 재기동 때 문제를 발견하게 되고, 키스토어 백업을 생략하면 복구가 불가능해질 수 있습니다. 실습 01부터 06까지가 이 순서를 그대로 따라가니 단계와 실습 번호를 짝지어 보게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TDE 운영의 위험은 대부분 키 관리에서 나옵니다. 비밀번호나 키스토어 백업 중 하나만 잃어도 암호화된 데이터를 복구할 수 없습니다. WITH BACKUP은 교체 직전 상태를 남길 뿐이니 교체한 뒤에는 따로 백업해야 최신 키가 보호됩니다. auto-login 파일은 가진 사람이 곧 키를 가진 사람이므로 권한 관리를 철저히 합니다. 한 서버에 여러 데이터베이스가 있다면 실습 VM처럼 WALLET_ROOT를 데이터베이스마다 따로 둡니다.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Security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Transparent Data Encryption</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파일이 새어 나가도 읽을 수 없게</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제10장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TDE가 막는 위협과 막지 못하는 위협을 구분한다</a:t>
            </a:r>
          </a:p>
          <a:p>
            <a:pPr algn="l">
              <a:spcAft>
                <a:spcPts val="1000"/>
              </a:spcAft>
            </a:pPr>
            <a:r>
              <a:rPr sz="1600" b="0">
                <a:solidFill>
                  <a:srgbClr val="222222"/>
                </a:solidFill>
                <a:latin typeface="맑은 고딕"/>
              </a:rPr>
              <a:t>•  2계층 키 구조와 빠른 마스터 키 교체를 설명한다</a:t>
            </a:r>
          </a:p>
          <a:p>
            <a:pPr algn="l">
              <a:spcAft>
                <a:spcPts val="1000"/>
              </a:spcAft>
            </a:pPr>
            <a:r>
              <a:rPr sz="1600" b="0">
                <a:solidFill>
                  <a:srgbClr val="222222"/>
                </a:solidFill>
                <a:latin typeface="맑은 고딕"/>
              </a:rPr>
              <a:t>•  WALLET_ROOT, TDE_CONFIGURATION으로 키스토어를 구성한다</a:t>
            </a:r>
          </a:p>
          <a:p>
            <a:pPr algn="l">
              <a:spcAft>
                <a:spcPts val="1000"/>
              </a:spcAft>
            </a:pPr>
            <a:r>
              <a:rPr sz="1600" b="0">
                <a:solidFill>
                  <a:srgbClr val="222222"/>
                </a:solidFill>
                <a:latin typeface="맑은 고딕"/>
              </a:rPr>
              <a:t>•  ADMINISTER KEY MANAGEMENT로 키스토어와 마스터 키를 관리한다</a:t>
            </a:r>
          </a:p>
          <a:p>
            <a:pPr algn="l">
              <a:spcAft>
                <a:spcPts val="1000"/>
              </a:spcAft>
            </a:pPr>
            <a:r>
              <a:rPr sz="1600" b="0">
                <a:solidFill>
                  <a:srgbClr val="222222"/>
                </a:solidFill>
                <a:latin typeface="맑은 고딕"/>
              </a:rPr>
              <a:t>•  컬럼 암호화와 테이블스페이스 암호화를 고른다</a:t>
            </a:r>
          </a:p>
          <a:p>
            <a:pPr algn="l">
              <a:spcAft>
                <a:spcPts val="1000"/>
              </a:spcAft>
            </a:pPr>
            <a:r>
              <a:rPr sz="1600" b="0">
                <a:solidFill>
                  <a:srgbClr val="222222"/>
                </a:solidFill>
                <a:latin typeface="맑은 고딕"/>
              </a:rPr>
              <a:t>•  온라인 변환, 키 교체, 백업과 상태 점검을 수행한다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10.2  TDE의 개념  /  10.3  키 구조</a:t>
            </a:r>
          </a:p>
          <a:p>
            <a:pPr algn="l">
              <a:spcAft>
                <a:spcPts val="1000"/>
              </a:spcAft>
            </a:pPr>
            <a:r>
              <a:rPr sz="1600" b="0">
                <a:solidFill>
                  <a:srgbClr val="222222"/>
                </a:solidFill>
                <a:latin typeface="맑은 고딕"/>
              </a:rPr>
              <a:t>•  10.4  키스토어 위치 구성</a:t>
            </a:r>
          </a:p>
          <a:p>
            <a:pPr algn="l">
              <a:spcAft>
                <a:spcPts val="1000"/>
              </a:spcAft>
            </a:pPr>
            <a:r>
              <a:rPr sz="1600" b="0">
                <a:solidFill>
                  <a:srgbClr val="222222"/>
                </a:solidFill>
                <a:latin typeface="맑은 고딕"/>
              </a:rPr>
              <a:t>•  10.5  키스토어 생성과 마스터 키 설정</a:t>
            </a:r>
          </a:p>
          <a:p>
            <a:pPr algn="l">
              <a:spcAft>
                <a:spcPts val="1000"/>
              </a:spcAft>
            </a:pPr>
            <a:r>
              <a:rPr sz="1600" b="0">
                <a:solidFill>
                  <a:srgbClr val="222222"/>
                </a:solidFill>
                <a:latin typeface="맑은 고딕"/>
              </a:rPr>
              <a:t>•  10.6  컬럼 암호화  /  10.7  테이블스페이스 암호화</a:t>
            </a:r>
          </a:p>
          <a:p>
            <a:pPr algn="l">
              <a:spcAft>
                <a:spcPts val="1000"/>
              </a:spcAft>
            </a:pPr>
            <a:r>
              <a:rPr sz="1600" b="0">
                <a:solidFill>
                  <a:srgbClr val="222222"/>
                </a:solidFill>
                <a:latin typeface="맑은 고딕"/>
              </a:rPr>
              <a:t>•  10.8  운영 작업과 키스토어 관리  /  10.9  TDE 관련 뷰</a:t>
            </a:r>
          </a:p>
          <a:p>
            <a:pPr algn="l">
              <a:spcAft>
                <a:spcPts val="1000"/>
              </a:spcAft>
            </a:pPr>
            <a:r>
              <a:rPr sz="1600" b="0">
                <a:solidFill>
                  <a:srgbClr val="222222"/>
                </a:solidFill>
                <a:latin typeface="맑은 고딕"/>
              </a:rPr>
              <a:t>•  10.10  설계와 적용 절차  /  10.11  운영 시 주의점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10.2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TDE의 개념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저장 데이터 암호화의 이유</a:t>
            </a:r>
          </a:p>
          <a:p>
            <a:pPr algn="l">
              <a:spcAft>
                <a:spcPts val="800"/>
              </a:spcAft>
            </a:pPr>
            <a:r>
              <a:rPr sz="1600" b="0">
                <a:solidFill>
                  <a:srgbClr val="FFFFFF"/>
                </a:solidFill>
                <a:latin typeface="맑은 고딕"/>
              </a:rPr>
              <a:t>•  투명하다는 것의 의미</a:t>
            </a:r>
          </a:p>
          <a:p>
            <a:pPr algn="l">
              <a:spcAft>
                <a:spcPts val="800"/>
              </a:spcAft>
            </a:pPr>
            <a:r>
              <a:rPr sz="1600" b="0">
                <a:solidFill>
                  <a:srgbClr val="FFFFFF"/>
                </a:solidFill>
                <a:latin typeface="맑은 고딕"/>
              </a:rPr>
              <a:t>•  라이선스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저장 데이터 암호화가 필요한 이유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SQL을 거치지 않는 유출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권한·VPD·Redaction은 SQL 요청에만 작동</a:t>
            </a:r>
          </a:p>
          <a:p>
            <a:pPr algn="l">
              <a:spcAft>
                <a:spcPts val="1000"/>
              </a:spcAft>
            </a:pPr>
            <a:r>
              <a:rPr sz="1700" b="0">
                <a:solidFill>
                  <a:srgbClr val="222222"/>
                </a:solidFill>
                <a:latin typeface="맑은 고딕"/>
              </a:rPr>
              <a:t>•  데이터 파일은 strings로도 상당 부분 읽힌다</a:t>
            </a:r>
          </a:p>
          <a:p>
            <a:pPr algn="l">
              <a:spcAft>
                <a:spcPts val="1000"/>
              </a:spcAft>
            </a:pPr>
            <a:r>
              <a:rPr sz="1700" b="0">
                <a:solidFill>
                  <a:srgbClr val="222222"/>
                </a:solidFill>
                <a:latin typeface="맑은 고딕"/>
              </a:rPr>
              <a:t>•  폐기 디스크, 백업 테이프, 덤프 파일, 테스트 복사본</a:t>
            </a:r>
          </a:p>
          <a:p>
            <a:pPr algn="l">
              <a:spcAft>
                <a:spcPts val="1000"/>
              </a:spcAft>
            </a:pPr>
            <a:r>
              <a:rPr sz="1700" b="0">
                <a:solidFill>
                  <a:srgbClr val="222222"/>
                </a:solidFill>
                <a:latin typeface="맑은 고딕"/>
              </a:rPr>
              <a:t>•  규제의 저장 데이터 암호화 요구</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투명하다는 것</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권한 있는 사용자에게는 평문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쓸 때 암호화, 읽을 때 복호화를 엔진이 수행</a:t>
            </a:r>
          </a:p>
          <a:p>
            <a:pPr algn="l">
              <a:spcAft>
                <a:spcPts val="1000"/>
              </a:spcAft>
            </a:pPr>
            <a:r>
              <a:rPr sz="1700" b="0">
                <a:solidFill>
                  <a:srgbClr val="222222"/>
                </a:solidFill>
                <a:latin typeface="맑은 고딕"/>
              </a:rPr>
              <a:t>•  SQL, 권한, 실행 계획은 그대로</a:t>
            </a:r>
          </a:p>
          <a:p>
            <a:pPr algn="l">
              <a:spcAft>
                <a:spcPts val="1000"/>
              </a:spcAft>
            </a:pPr>
            <a:r>
              <a:rPr sz="1700" b="0">
                <a:solidFill>
                  <a:srgbClr val="222222"/>
                </a:solidFill>
                <a:latin typeface="맑은 고딕"/>
              </a:rPr>
              <a:t>•  SELECT 권한자의 조회는 막지 못한다</a:t>
            </a:r>
          </a:p>
          <a:p>
            <a:pPr algn="l">
              <a:spcAft>
                <a:spcPts val="1000"/>
              </a:spcAft>
            </a:pPr>
            <a:r>
              <a:rPr sz="1700" b="0">
                <a:solidFill>
                  <a:srgbClr val="222222"/>
                </a:solidFill>
                <a:latin typeface="맑은 고딕"/>
              </a:rPr>
              <a:t>•  DBMS_CRYPTO(9장)는 SQL 결과부터 암호문</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라이선스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Advanced Security 옵션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TDE는 Enterprise Edition + Advanced Security 옵션</a:t>
            </a:r>
          </a:p>
          <a:p>
            <a:pPr algn="l">
              <a:spcAft>
                <a:spcPts val="1000"/>
              </a:spcAft>
            </a:pPr>
            <a:r>
              <a:rPr sz="1700" b="0">
                <a:solidFill>
                  <a:srgbClr val="222222"/>
                </a:solidFill>
                <a:latin typeface="맑은 고딕"/>
              </a:rPr>
              <a:t>•  Data Redaction(8장)도 같은 옵션</a:t>
            </a:r>
          </a:p>
          <a:p>
            <a:pPr algn="l">
              <a:spcAft>
                <a:spcPts val="1000"/>
              </a:spcAft>
            </a:pPr>
            <a:r>
              <a:rPr sz="1700" b="0">
                <a:solidFill>
                  <a:srgbClr val="222222"/>
                </a:solidFill>
                <a:latin typeface="맑은 고딕"/>
              </a:rPr>
              <a:t>•  암호화 객체를 만드는 순간부터 옵션 사용</a:t>
            </a:r>
          </a:p>
          <a:p>
            <a:pPr algn="l">
              <a:spcAft>
                <a:spcPts val="1000"/>
              </a:spcAft>
            </a:pPr>
            <a:r>
              <a:rPr sz="1700" b="0">
                <a:solidFill>
                  <a:srgbClr val="222222"/>
                </a:solidFill>
                <a:latin typeface="맑은 고딕"/>
              </a:rPr>
              <a:t>•  운영 적용 전 라이선스 확인</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10.3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키 구조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2계층 키</a:t>
            </a:r>
          </a:p>
          <a:p>
            <a:pPr algn="l">
              <a:spcAft>
                <a:spcPts val="800"/>
              </a:spcAft>
            </a:pPr>
            <a:r>
              <a:rPr sz="1600" b="0">
                <a:solidFill>
                  <a:srgbClr val="FFFFFF"/>
                </a:solidFill>
                <a:latin typeface="맑은 고딕"/>
              </a:rPr>
              <a:t>•  키스토어 종류</a:t>
            </a:r>
          </a:p>
          <a:p>
            <a:pPr algn="l">
              <a:spcAft>
                <a:spcPts val="800"/>
              </a:spcAft>
            </a:pPr>
            <a:r>
              <a:rPr sz="1600" b="0">
                <a:solidFill>
                  <a:srgbClr val="FFFFFF"/>
                </a:solidFill>
                <a:latin typeface="맑은 고딕"/>
              </a:rPr>
              <a:t>•  키스토어 상태</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2계층 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마스터 키 교체가 빠른 이유</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1계층: 마스터 키, 키스토어에만 존재</a:t>
            </a:r>
          </a:p>
          <a:p>
            <a:pPr algn="l">
              <a:spcAft>
                <a:spcPts val="1000"/>
              </a:spcAft>
            </a:pPr>
            <a:r>
              <a:rPr sz="1700" b="0">
                <a:solidFill>
                  <a:srgbClr val="222222"/>
                </a:solidFill>
                <a:latin typeface="맑은 고딕"/>
              </a:rPr>
              <a:t>•  2계층: 테이블스페이스 키·테이블 키, 마스터 키로 암호화해 DB 안에 보관</a:t>
            </a:r>
          </a:p>
          <a:p>
            <a:pPr algn="l">
              <a:spcAft>
                <a:spcPts val="1000"/>
              </a:spcAft>
            </a:pPr>
            <a:r>
              <a:rPr sz="1700" b="0">
                <a:solidFill>
                  <a:srgbClr val="222222"/>
                </a:solidFill>
                <a:latin typeface="맑은 고딕"/>
              </a:rPr>
              <a:t>•  마스터 키 교체 = 2계층 키만 다시 암호화</a:t>
            </a:r>
          </a:p>
          <a:p>
            <a:pPr algn="l">
              <a:spcAft>
                <a:spcPts val="1000"/>
              </a:spcAft>
            </a:pPr>
            <a:r>
              <a:rPr sz="1700" b="0">
                <a:solidFill>
                  <a:srgbClr val="222222"/>
                </a:solidFill>
                <a:latin typeface="맑은 고딕"/>
              </a:rPr>
              <a:t>•  2계층 키 교체는 데이터 재암호화</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키스토어 종류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재기동 후 누가 여는가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비밀번호 키스토어(ewallet.p12): 재기동 후 닫힌 상태</a:t>
            </a:r>
          </a:p>
          <a:p>
            <a:pPr algn="l">
              <a:spcAft>
                <a:spcPts val="1000"/>
              </a:spcAft>
            </a:pPr>
            <a:r>
              <a:rPr sz="1700" b="0">
                <a:solidFill>
                  <a:srgbClr val="222222"/>
                </a:solidFill>
                <a:latin typeface="맑은 고딕"/>
              </a:rPr>
              <a:t>•  auto-login(cwallet.sso): 시작 시 자동으로 열림</a:t>
            </a:r>
          </a:p>
          <a:p>
            <a:pPr algn="l">
              <a:spcAft>
                <a:spcPts val="1000"/>
              </a:spcAft>
            </a:pPr>
            <a:r>
              <a:rPr sz="1700" b="0">
                <a:solidFill>
                  <a:srgbClr val="222222"/>
                </a:solidFill>
                <a:latin typeface="맑은 고딕"/>
              </a:rPr>
              <a:t>•  local auto-login: 만든 호스트에서만 열림</a:t>
            </a:r>
          </a:p>
          <a:p>
            <a:pPr algn="l">
              <a:spcAft>
                <a:spcPts val="1000"/>
              </a:spcAft>
            </a:pPr>
            <a:r>
              <a:rPr sz="1700" b="0">
                <a:solidFill>
                  <a:srgbClr val="222222"/>
                </a:solidFill>
                <a:latin typeface="맑은 고딕"/>
              </a:rPr>
              <a:t>•  외부 키스토어: HSM, Oracle Key Vault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키스토어 상태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V$ENCRYPTION_WALLET의 STATUS</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NOT_AVAILABLE: 키스토어 파일 없음</a:t>
            </a:r>
          </a:p>
          <a:p>
            <a:pPr algn="l">
              <a:spcAft>
                <a:spcPts val="1000"/>
              </a:spcAft>
            </a:pPr>
            <a:r>
              <a:rPr sz="1700" b="0">
                <a:solidFill>
                  <a:srgbClr val="222222"/>
                </a:solidFill>
                <a:latin typeface="맑은 고딕"/>
              </a:rPr>
              <a:t>•  CLOSED: 있으나 닫힘 → ORA-28365</a:t>
            </a:r>
          </a:p>
          <a:p>
            <a:pPr algn="l">
              <a:spcAft>
                <a:spcPts val="1000"/>
              </a:spcAft>
            </a:pPr>
            <a:r>
              <a:rPr sz="1700" b="0">
                <a:solidFill>
                  <a:srgbClr val="222222"/>
                </a:solidFill>
                <a:latin typeface="맑은 고딕"/>
              </a:rPr>
              <a:t>•  OPEN_NO_MASTER_KEY: 열렸으나 마스터 키 없음</a:t>
            </a:r>
          </a:p>
          <a:p>
            <a:pPr algn="l">
              <a:spcAft>
                <a:spcPts val="1000"/>
              </a:spcAft>
            </a:pPr>
            <a:r>
              <a:rPr sz="1700" b="0">
                <a:solidFill>
                  <a:srgbClr val="222222"/>
                </a:solidFill>
                <a:latin typeface="맑은 고딕"/>
              </a:rPr>
              <a:t>•  OPEN: 암·복호화 가능</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10.4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키스토어 위치 구성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WALLET_ROOT와 TDE_CONFIGURATION</a:t>
            </a:r>
          </a:p>
          <a:p>
            <a:pPr algn="l">
              <a:spcAft>
                <a:spcPts val="800"/>
              </a:spcAft>
            </a:pPr>
            <a:r>
              <a:rPr sz="1600" b="0">
                <a:solidFill>
                  <a:srgbClr val="FFFFFF"/>
                </a:solidFill>
                <a:latin typeface="맑은 고딕"/>
              </a:rPr>
              <a:t>•  키스토어 검색 순서</a:t>
            </a:r>
          </a:p>
          <a:p>
            <a:pPr algn="l">
              <a:spcAft>
                <a:spcPts val="800"/>
              </a:spcAft>
            </a:pPr>
            <a:r>
              <a:rPr sz="1600" b="0">
                <a:solidFill>
                  <a:srgbClr val="FFFFFF"/>
                </a:solidFill>
                <a:latin typeface="맑은 고딕"/>
              </a:rPr>
              <a:t>•  원본 자료와 구버전 방식</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WALLET_ROOT와 TDE_CONFIGURATION</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정적 하나, 동적 하나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WALLET_ROOT: 정적 파라미터, SPFILE + 재기동</a:t>
            </a:r>
          </a:p>
          <a:p>
            <a:pPr algn="l">
              <a:spcAft>
                <a:spcPts val="1000"/>
              </a:spcAft>
            </a:pPr>
            <a:r>
              <a:rPr sz="1700" b="0">
                <a:solidFill>
                  <a:srgbClr val="222222"/>
                </a:solidFill>
                <a:latin typeface="맑은 고딕"/>
              </a:rPr>
              <a:t>•  TDE_CONFIGURATION: 동적, KEYSTORE_CONFIGURATION=FILE</a:t>
            </a:r>
          </a:p>
          <a:p>
            <a:pPr algn="l">
              <a:spcAft>
                <a:spcPts val="1000"/>
              </a:spcAft>
            </a:pPr>
            <a:r>
              <a:rPr sz="1700" b="0">
                <a:solidFill>
                  <a:srgbClr val="222222"/>
                </a:solidFill>
                <a:latin typeface="맑은 고딕"/>
              </a:rPr>
              <a:t>•  키스토어는 WALLET_ROOT/tde에 생성</a:t>
            </a:r>
          </a:p>
          <a:p>
            <a:pPr algn="l">
              <a:spcAft>
                <a:spcPts val="1000"/>
              </a:spcAft>
            </a:pPr>
            <a:r>
              <a:rPr sz="1700" b="0">
                <a:solidFill>
                  <a:srgbClr val="222222"/>
                </a:solidFill>
                <a:latin typeface="맑은 고딕"/>
              </a:rPr>
              <a:t>•  같은 루트 아래 tls, tde_seps 등 구성 요소별 디렉터리</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키스토어 검색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WALLET_ROOT가 가장 먼저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 WALLET_ROOT/tde (FILE 구성)</a:t>
            </a:r>
          </a:p>
          <a:p>
            <a:pPr algn="l">
              <a:spcAft>
                <a:spcPts val="1000"/>
              </a:spcAft>
            </a:pPr>
            <a:r>
              <a:rPr sz="1700" b="0">
                <a:solidFill>
                  <a:srgbClr val="222222"/>
                </a:solidFill>
                <a:latin typeface="맑은 고딕"/>
              </a:rPr>
              <a:t>•  2. sqlnet.ora WALLET_LOCATION</a:t>
            </a:r>
          </a:p>
          <a:p>
            <a:pPr algn="l">
              <a:spcAft>
                <a:spcPts val="1000"/>
              </a:spcAft>
            </a:pPr>
            <a:r>
              <a:rPr sz="1700" b="0">
                <a:solidFill>
                  <a:srgbClr val="222222"/>
                </a:solidFill>
                <a:latin typeface="맑은 고딕"/>
              </a:rPr>
              <a:t>•  3. sqlnet.ora ENCRYPTION_WALLET_LOCATION(디프리케이트)</a:t>
            </a:r>
          </a:p>
          <a:p>
            <a:pPr algn="l">
              <a:spcAft>
                <a:spcPts val="1000"/>
              </a:spcAft>
            </a:pPr>
            <a:r>
              <a:rPr sz="1700" b="0">
                <a:solidFill>
                  <a:srgbClr val="222222"/>
                </a:solidFill>
                <a:latin typeface="맑은 고딕"/>
              </a:rPr>
              <a:t>•  4. $ORACLE_BASE/admin/db_unique_name/wallet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원본 자료와 19c 문법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경로를 적지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원본: WALLET_ROOT 설정 후 CREATE KEYSTORE '경로'</a:t>
            </a:r>
          </a:p>
          <a:p>
            <a:pPr algn="l">
              <a:spcAft>
                <a:spcPts val="1000"/>
              </a:spcAft>
            </a:pPr>
            <a:r>
              <a:rPr sz="1700" b="0">
                <a:solidFill>
                  <a:srgbClr val="222222"/>
                </a:solidFill>
                <a:latin typeface="맑은 고딕"/>
              </a:rPr>
              <a:t>•  19c: CREATE KEYSTORE IDENTIFIED BY 비밀번호</a:t>
            </a:r>
          </a:p>
          <a:p>
            <a:pPr algn="l">
              <a:spcAft>
                <a:spcPts val="1000"/>
              </a:spcAft>
            </a:pPr>
            <a:r>
              <a:rPr sz="1700" b="0">
                <a:solidFill>
                  <a:srgbClr val="222222"/>
                </a:solidFill>
                <a:latin typeface="맑은 고딕"/>
              </a:rPr>
              <a:t>•  ENCRYPTION_WALLET_LOCATION은 19c 디프리케이트</a:t>
            </a:r>
          </a:p>
          <a:p>
            <a:pPr algn="l">
              <a:spcAft>
                <a:spcPts val="1000"/>
              </a:spcAft>
            </a:pPr>
            <a:r>
              <a:rPr sz="1700" b="0">
                <a:solidFill>
                  <a:srgbClr val="222222"/>
                </a:solidFill>
                <a:latin typeface="맑은 고딕"/>
              </a:rPr>
              <a:t>•  기존 구성은 WALLET_ROOT로 옮긴다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10.5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키스토어 생성과 마스터 키 설정</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생성과 열기</a:t>
            </a:r>
          </a:p>
          <a:p>
            <a:pPr algn="l">
              <a:spcAft>
                <a:spcPts val="800"/>
              </a:spcAft>
            </a:pPr>
            <a:r>
              <a:rPr sz="1600" b="0">
                <a:solidFill>
                  <a:srgbClr val="FFFFFF"/>
                </a:solidFill>
                <a:latin typeface="맑은 고딕"/>
              </a:rPr>
              <a:t>•  SET KEY WITH BACKUP</a:t>
            </a:r>
          </a:p>
          <a:p>
            <a:pPr algn="l">
              <a:spcAft>
                <a:spcPts val="800"/>
              </a:spcAft>
            </a:pPr>
            <a:r>
              <a:rPr sz="1600" b="0">
                <a:solidFill>
                  <a:srgbClr val="FFFFFF"/>
                </a:solidFill>
                <a:latin typeface="맑은 고딕"/>
              </a:rPr>
              <a:t>•  auto-login 키스토어</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키스토어 생성과 열기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열어도 아직 암호화할 수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CREATE KEYSTORE → CLOSED</a:t>
            </a:r>
          </a:p>
          <a:p>
            <a:pPr algn="l">
              <a:spcAft>
                <a:spcPts val="1000"/>
              </a:spcAft>
            </a:pPr>
            <a:r>
              <a:rPr sz="1700" b="0">
                <a:solidFill>
                  <a:srgbClr val="222222"/>
                </a:solidFill>
                <a:latin typeface="맑은 고딕"/>
              </a:rPr>
              <a:t>•  SET KEYSTORE OPEN → OPEN_NO_MASTER_KEY</a:t>
            </a:r>
          </a:p>
          <a:p>
            <a:pPr algn="l">
              <a:spcAft>
                <a:spcPts val="1000"/>
              </a:spcAft>
            </a:pPr>
            <a:r>
              <a:rPr sz="1700" b="0">
                <a:solidFill>
                  <a:srgbClr val="222222"/>
                </a:solidFill>
                <a:latin typeface="맑은 고딕"/>
              </a:rPr>
              <a:t>•  ADMINISTER KEY MANAGEMENT 권한 또는 SYSKM</a:t>
            </a:r>
          </a:p>
          <a:p>
            <a:pPr algn="l">
              <a:spcAft>
                <a:spcPts val="1000"/>
              </a:spcAft>
            </a:pPr>
            <a:r>
              <a:rPr sz="1700" b="0">
                <a:solidFill>
                  <a:srgbClr val="222222"/>
                </a:solidFill>
                <a:latin typeface="맑은 고딕"/>
              </a:rPr>
              <a:t>•  키스토어 비밀번호를 잃으면 데이터도 잃는다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마스터 키 설정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비밀번호 키스토어는 WITH BACKUP 필수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ADMINISTER KEY MANAGEMENT SET KEY ... WITH BACKUP</a:t>
            </a:r>
          </a:p>
          <a:p>
            <a:pPr algn="l">
              <a:spcAft>
                <a:spcPts val="1000"/>
              </a:spcAft>
            </a:pPr>
            <a:r>
              <a:rPr sz="1700" b="0">
                <a:solidFill>
                  <a:srgbClr val="222222"/>
                </a:solidFill>
                <a:latin typeface="맑은 고딕"/>
              </a:rPr>
              <a:t>•  처음 생성과 교체에 같은 명령</a:t>
            </a:r>
          </a:p>
          <a:p>
            <a:pPr algn="l">
              <a:spcAft>
                <a:spcPts val="1000"/>
              </a:spcAft>
            </a:pPr>
            <a:r>
              <a:rPr sz="1700" b="0">
                <a:solidFill>
                  <a:srgbClr val="222222"/>
                </a:solidFill>
                <a:latin typeface="맑은 고딕"/>
              </a:rPr>
              <a:t>•  USING TAG로 키에 설명 붙이기</a:t>
            </a:r>
          </a:p>
          <a:p>
            <a:pPr algn="l">
              <a:spcAft>
                <a:spcPts val="1000"/>
              </a:spcAft>
            </a:pPr>
            <a:r>
              <a:rPr sz="1700" b="0">
                <a:solidFill>
                  <a:srgbClr val="222222"/>
                </a:solidFill>
                <a:latin typeface="맑은 고딕"/>
              </a:rPr>
              <a:t>•  STATUS = OPEN, V$ENCRYPTION_KEYS에 KEY_ID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auto-login 키스토어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재기동해도 업무가 멈추지 않게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CREATE [LOCAL] AUTO_LOGIN KEYSTORE FROM KEYSTORE</a:t>
            </a:r>
          </a:p>
          <a:p>
            <a:pPr algn="l">
              <a:spcAft>
                <a:spcPts val="1000"/>
              </a:spcAft>
            </a:pPr>
            <a:r>
              <a:rPr sz="1700" b="0">
                <a:solidFill>
                  <a:srgbClr val="222222"/>
                </a:solidFill>
                <a:latin typeface="맑은 고딕"/>
              </a:rPr>
              <a:t>•  인스턴스 시작 시 자동으로 열림</a:t>
            </a:r>
          </a:p>
          <a:p>
            <a:pPr algn="l">
              <a:spcAft>
                <a:spcPts val="1000"/>
              </a:spcAft>
            </a:pPr>
            <a:r>
              <a:rPr sz="1700" b="0">
                <a:solidFill>
                  <a:srgbClr val="222222"/>
                </a:solidFill>
                <a:latin typeface="맑은 고딕"/>
              </a:rPr>
              <a:t>•  LOCAL은 만든 호스트에서만, RAC에서는 빼야 함</a:t>
            </a:r>
          </a:p>
          <a:p>
            <a:pPr algn="l">
              <a:spcAft>
                <a:spcPts val="1000"/>
              </a:spcAft>
            </a:pPr>
            <a:r>
              <a:rPr sz="1700" b="0">
                <a:solidFill>
                  <a:srgbClr val="222222"/>
                </a:solidFill>
                <a:latin typeface="맑은 고딕"/>
              </a:rPr>
              <a:t>•  ewallet.p12는 지우지 않는다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재기동 후 ORA-28365</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auto-login 없이 도입한 결과</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재기동 전: 처음 열어 둔 상태 유지</a:t>
            </a:r>
          </a:p>
          <a:p>
            <a:pPr algn="l">
              <a:spcAft>
                <a:spcPts val="1000"/>
              </a:spcAft>
            </a:pPr>
            <a:r>
              <a:rPr sz="1700" b="0">
                <a:solidFill>
                  <a:srgbClr val="222222"/>
                </a:solidFill>
                <a:latin typeface="맑은 고딕"/>
              </a:rPr>
              <a:t>•  재기동 후: 키스토어 CLOSED</a:t>
            </a:r>
          </a:p>
          <a:p>
            <a:pPr algn="l">
              <a:spcAft>
                <a:spcPts val="1000"/>
              </a:spcAft>
            </a:pPr>
            <a:r>
              <a:rPr sz="1700" b="0">
                <a:solidFill>
                  <a:srgbClr val="222222"/>
                </a:solidFill>
                <a:latin typeface="맑은 고딕"/>
              </a:rPr>
              <a:t>•  암호화 객체 접근만 ORA-28365</a:t>
            </a:r>
          </a:p>
          <a:p>
            <a:pPr algn="l">
              <a:spcAft>
                <a:spcPts val="1000"/>
              </a:spcAft>
            </a:pPr>
            <a:r>
              <a:rPr sz="1700" b="0">
                <a:solidFill>
                  <a:srgbClr val="222222"/>
                </a:solidFill>
                <a:latin typeface="맑은 고딕"/>
              </a:rPr>
              <a:t>•  재기동 점검 목록에 V$ENCRYPTION_WALLET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10.6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컬럼 암호화</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문법과 동작</a:t>
            </a:r>
          </a:p>
          <a:p>
            <a:pPr algn="l">
              <a:spcAft>
                <a:spcPts val="800"/>
              </a:spcAft>
            </a:pPr>
            <a:r>
              <a:rPr sz="1600" b="0">
                <a:solidFill>
                  <a:srgbClr val="FFFFFF"/>
                </a:solidFill>
                <a:latin typeface="맑은 고딕"/>
              </a:rPr>
              <a:t>•  salt와 인덱스</a:t>
            </a:r>
          </a:p>
          <a:p>
            <a:pPr algn="l">
              <a:spcAft>
                <a:spcPts val="800"/>
              </a:spcAft>
            </a:pPr>
            <a:r>
              <a:rPr sz="1600" b="0">
                <a:solidFill>
                  <a:srgbClr val="FFFFFF"/>
                </a:solidFill>
                <a:latin typeface="맑은 고딕"/>
              </a:rPr>
              <a:t>•  한계</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컬럼 암호화</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기본 AES192, salt, SHA-1</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컬럼 정의에 ENCRYPT</a:t>
            </a:r>
          </a:p>
          <a:p>
            <a:pPr algn="l">
              <a:spcAft>
                <a:spcPts val="1000"/>
              </a:spcAft>
            </a:pPr>
            <a:r>
              <a:rPr sz="1700" b="0">
                <a:solidFill>
                  <a:srgbClr val="222222"/>
                </a:solidFill>
                <a:latin typeface="맑은 고딕"/>
              </a:rPr>
              <a:t>•  기존 컬럼: ALTER TABLE ... MODIFY (컬럼 ENCRYPT)</a:t>
            </a:r>
          </a:p>
          <a:p>
            <a:pPr algn="l">
              <a:spcAft>
                <a:spcPts val="1000"/>
              </a:spcAft>
            </a:pPr>
            <a:r>
              <a:rPr sz="1700" b="0">
                <a:solidFill>
                  <a:srgbClr val="222222"/>
                </a:solidFill>
                <a:latin typeface="맑은 고딕"/>
              </a:rPr>
              <a:t>•  테이블 하나는 같은 키·같은 알고리즘</a:t>
            </a:r>
          </a:p>
          <a:p>
            <a:pPr algn="l">
              <a:spcAft>
                <a:spcPts val="1000"/>
              </a:spcAft>
            </a:pPr>
            <a:r>
              <a:rPr sz="1700" b="0">
                <a:solidFill>
                  <a:srgbClr val="222222"/>
                </a:solidFill>
                <a:latin typeface="맑은 고딕"/>
              </a:rPr>
              <a:t>•  버퍼 캐시 안에서도 암호화 상태</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salt와 인덱스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인덱스 컬럼은 NO SALT</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salt: 같은 평문도 행마다 다른 암호문, 값마다 16바이트</a:t>
            </a:r>
          </a:p>
          <a:p>
            <a:pPr algn="l">
              <a:spcAft>
                <a:spcPts val="1000"/>
              </a:spcAft>
            </a:pPr>
            <a:r>
              <a:rPr sz="1700" b="0">
                <a:solidFill>
                  <a:srgbClr val="222222"/>
                </a:solidFill>
                <a:latin typeface="맑은 고딕"/>
              </a:rPr>
              <a:t>•  salt 컬럼에 인덱스 → ORA-28338</a:t>
            </a:r>
          </a:p>
          <a:p>
            <a:pPr algn="l">
              <a:spcAft>
                <a:spcPts val="1000"/>
              </a:spcAft>
            </a:pPr>
            <a:r>
              <a:rPr sz="1700" b="0">
                <a:solidFill>
                  <a:srgbClr val="222222"/>
                </a:solidFill>
                <a:latin typeface="맑은 고딕"/>
              </a:rPr>
              <a:t>•  ENCRYPT NO SALT 후 인덱스 가능</a:t>
            </a:r>
          </a:p>
          <a:p>
            <a:pPr algn="l">
              <a:spcAft>
                <a:spcPts val="1000"/>
              </a:spcAft>
            </a:pPr>
            <a:r>
              <a:rPr sz="1700" b="0">
                <a:solidFill>
                  <a:srgbClr val="222222"/>
                </a:solidFill>
                <a:latin typeface="맑은 고딕"/>
              </a:rPr>
              <a:t>•  그래도 동등 조건만, 범위 검색 불가</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10.7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테이블스페이스 암호화</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암호화 테이블스페이스 생성</a:t>
            </a:r>
          </a:p>
          <a:p>
            <a:pPr algn="l">
              <a:spcAft>
                <a:spcPts val="800"/>
              </a:spcAft>
            </a:pPr>
            <a:r>
              <a:rPr sz="1600" b="0">
                <a:solidFill>
                  <a:srgbClr val="FFFFFF"/>
                </a:solidFill>
                <a:latin typeface="맑은 고딕"/>
              </a:rPr>
              <a:t>•  기존 테이블스페이스 온라인 변환</a:t>
            </a:r>
          </a:p>
          <a:p>
            <a:pPr algn="l">
              <a:spcAft>
                <a:spcPts val="800"/>
              </a:spcAft>
            </a:pPr>
            <a:r>
              <a:rPr sz="1600" b="0">
                <a:solidFill>
                  <a:srgbClr val="FFFFFF"/>
                </a:solidFill>
                <a:latin typeface="맑은 고딕"/>
              </a:rPr>
              <a:t>•  키 교체</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테이블스페이스 암호화</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디스크에서만 암호, 캐시에서는 평문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ENCRYPTION USING 'AES256' ENCRYPT</a:t>
            </a:r>
          </a:p>
          <a:p>
            <a:pPr algn="l">
              <a:spcAft>
                <a:spcPts val="1000"/>
              </a:spcAft>
            </a:pPr>
            <a:r>
              <a:rPr sz="1700" b="0">
                <a:solidFill>
                  <a:srgbClr val="222222"/>
                </a:solidFill>
                <a:latin typeface="맑은 고딕"/>
              </a:rPr>
              <a:t>•  안의 테이블·인덱스·LOB 모두 보호</a:t>
            </a:r>
          </a:p>
          <a:p>
            <a:pPr algn="l">
              <a:spcAft>
                <a:spcPts val="1000"/>
              </a:spcAft>
            </a:pPr>
            <a:r>
              <a:rPr sz="1700" b="0">
                <a:solidFill>
                  <a:srgbClr val="222222"/>
                </a:solidFill>
                <a:latin typeface="맑은 고딕"/>
              </a:rPr>
              <a:t>•  범위 검색, 조인에 제약 없음</a:t>
            </a:r>
          </a:p>
          <a:p>
            <a:pPr algn="l">
              <a:spcAft>
                <a:spcPts val="1000"/>
              </a:spcAft>
            </a:pPr>
            <a:r>
              <a:rPr sz="1700" b="0">
                <a:solidFill>
                  <a:srgbClr val="222222"/>
                </a:solidFill>
                <a:latin typeface="맑은 고딕"/>
              </a:rPr>
              <a:t>•  생략 시 AES128, NO SALT 옵션 없음</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온라인 변환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열린 채로 기존 테이블스페이스 암호화</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ALTER TABLESPACE ... ENCRYPTION ONLINE USING ... ENCRYPT</a:t>
            </a:r>
          </a:p>
          <a:p>
            <a:pPr algn="l">
              <a:spcAft>
                <a:spcPts val="1000"/>
              </a:spcAft>
            </a:pPr>
            <a:r>
              <a:rPr sz="1700" b="0">
                <a:solidFill>
                  <a:srgbClr val="222222"/>
                </a:solidFill>
                <a:latin typeface="맑은 고딕"/>
              </a:rPr>
              <a:t>•  새 파일로 복사하며 암호화 → 원래 크기만큼 공간 필요</a:t>
            </a:r>
          </a:p>
          <a:p>
            <a:pPr algn="l">
              <a:spcAft>
                <a:spcPts val="1000"/>
              </a:spcAft>
            </a:pPr>
            <a:r>
              <a:rPr sz="1700" b="0">
                <a:solidFill>
                  <a:srgbClr val="222222"/>
                </a:solidFill>
                <a:latin typeface="맑은 고딕"/>
              </a:rPr>
              <a:t>•  19.3: OMF가 아니어도 FILE_NAME_CONVERT 없이 성공</a:t>
            </a:r>
          </a:p>
          <a:p>
            <a:pPr algn="l">
              <a:spcAft>
                <a:spcPts val="1000"/>
              </a:spcAft>
            </a:pPr>
            <a:r>
              <a:rPr sz="1700" b="0">
                <a:solidFill>
                  <a:srgbClr val="222222"/>
                </a:solidFill>
                <a:latin typeface="맑은 고딕"/>
              </a:rPr>
              <a:t>•  이미 암호화된 곳에 ENCRYPT는 ORA-28370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키 교체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대부분의 요구는 마스터 키 교체로 충족</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마스터 키: SET KEY ... WITH BACKUP, 데이터 재암호화 없음</a:t>
            </a:r>
          </a:p>
          <a:p>
            <a:pPr algn="l">
              <a:spcAft>
                <a:spcPts val="1000"/>
              </a:spcAft>
            </a:pPr>
            <a:r>
              <a:rPr sz="1700" b="0">
                <a:solidFill>
                  <a:srgbClr val="222222"/>
                </a:solidFill>
                <a:latin typeface="맑은 고딕"/>
              </a:rPr>
              <a:t>•  테이블 키: ALTER TABLE ... REKEY</a:t>
            </a:r>
          </a:p>
          <a:p>
            <a:pPr algn="l">
              <a:spcAft>
                <a:spcPts val="1000"/>
              </a:spcAft>
            </a:pPr>
            <a:r>
              <a:rPr sz="1700" b="0">
                <a:solidFill>
                  <a:srgbClr val="222222"/>
                </a:solidFill>
                <a:latin typeface="맑은 고딕"/>
              </a:rPr>
              <a:t>•  테이블스페이스 키: ENCRYPTION ONLINE ... REKEY</a:t>
            </a:r>
          </a:p>
          <a:p>
            <a:pPr algn="l">
              <a:spcAft>
                <a:spcPts val="1000"/>
              </a:spcAft>
            </a:pPr>
            <a:r>
              <a:rPr sz="1700" b="0">
                <a:solidFill>
                  <a:srgbClr val="222222"/>
                </a:solidFill>
                <a:latin typeface="맑은 고딕"/>
              </a:rPr>
              <a:t>•  옛 마스터 키는 키스토어에 남는다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10.8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운영 작업과 키스토어 관리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열기와 닫기</a:t>
            </a:r>
          </a:p>
          <a:p>
            <a:pPr algn="l">
              <a:spcAft>
                <a:spcPts val="800"/>
              </a:spcAft>
            </a:pPr>
            <a:r>
              <a:rPr sz="1600" b="0">
                <a:solidFill>
                  <a:srgbClr val="FFFFFF"/>
                </a:solidFill>
                <a:latin typeface="맑은 고딕"/>
              </a:rPr>
              <a:t>•  키스토어 백업</a:t>
            </a:r>
          </a:p>
          <a:p>
            <a:pPr algn="l">
              <a:spcAft>
                <a:spcPts val="800"/>
              </a:spcAft>
            </a:pPr>
            <a:r>
              <a:rPr sz="1600" b="0">
                <a:solidFill>
                  <a:srgbClr val="FFFFFF"/>
                </a:solidFill>
                <a:latin typeface="맑은 고딕"/>
              </a:rPr>
              <a:t>•  다른 기능과의 관계</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열기와 닫기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auto-login이 있으면 다시 열려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auto-login으로 열린 상태에서 비밀번호로 CLOSE → ORA-28417</a:t>
            </a:r>
          </a:p>
          <a:p>
            <a:pPr algn="l">
              <a:spcAft>
                <a:spcPts val="1000"/>
              </a:spcAft>
            </a:pPr>
            <a:r>
              <a:rPr sz="1700" b="0">
                <a:solidFill>
                  <a:srgbClr val="222222"/>
                </a:solidFill>
                <a:latin typeface="맑은 고딕"/>
              </a:rPr>
              <a:t>•  auto-login 키스토어는 IDENTIFIED BY 없이 CLOSE</a:t>
            </a:r>
          </a:p>
          <a:p>
            <a:pPr algn="l">
              <a:spcAft>
                <a:spcPts val="1000"/>
              </a:spcAft>
            </a:pPr>
            <a:r>
              <a:rPr sz="1700" b="0">
                <a:solidFill>
                  <a:srgbClr val="222222"/>
                </a:solidFill>
                <a:latin typeface="맑은 고딕"/>
              </a:rPr>
              <a:t>•  닫으면 캐시에 있는 블록도 ORA-28365</a:t>
            </a:r>
          </a:p>
          <a:p>
            <a:pPr algn="l">
              <a:spcAft>
                <a:spcPts val="1000"/>
              </a:spcAft>
            </a:pPr>
            <a:r>
              <a:rPr sz="1700" b="0">
                <a:solidFill>
                  <a:srgbClr val="222222"/>
                </a:solidFill>
                <a:latin typeface="맑은 고딕"/>
              </a:rPr>
              <a:t>•  운영 중에는 닫지 않는다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키스토어 백업</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RMAN은 키스토어를 백업하지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BACKUP KEYSTORE USING '식별자' ... TO '디렉터리'</a:t>
            </a:r>
          </a:p>
          <a:p>
            <a:pPr algn="l">
              <a:spcAft>
                <a:spcPts val="1000"/>
              </a:spcAft>
            </a:pPr>
            <a:r>
              <a:rPr sz="1700" b="0">
                <a:solidFill>
                  <a:srgbClr val="222222"/>
                </a:solidFill>
                <a:latin typeface="맑은 고딕"/>
              </a:rPr>
              <a:t>•  FULLY_BACKED_UP 확인</a:t>
            </a:r>
          </a:p>
          <a:p>
            <a:pPr algn="l">
              <a:spcAft>
                <a:spcPts val="1000"/>
              </a:spcAft>
            </a:pPr>
            <a:r>
              <a:rPr sz="1700" b="0">
                <a:solidFill>
                  <a:srgbClr val="222222"/>
                </a:solidFill>
                <a:latin typeface="맑은 고딕"/>
              </a:rPr>
              <a:t>•  데이터 백업과 다른 매체·다른 장소</a:t>
            </a:r>
          </a:p>
          <a:p>
            <a:pPr algn="l">
              <a:spcAft>
                <a:spcPts val="1000"/>
              </a:spcAft>
            </a:pPr>
            <a:r>
              <a:rPr sz="1700" b="0">
                <a:solidFill>
                  <a:srgbClr val="222222"/>
                </a:solidFill>
                <a:latin typeface="맑은 고딕"/>
              </a:rPr>
              <a:t>•  같은 테이프에 담으면 TDE가 무력화</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다른 기능과의 관계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암호화 범위를 넓게 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Data Pump: 기본은 평문 덤프, ENCRYPTION 파라미터</a:t>
            </a:r>
          </a:p>
          <a:p>
            <a:pPr algn="l">
              <a:spcAft>
                <a:spcPts val="1000"/>
              </a:spcAft>
            </a:pPr>
            <a:r>
              <a:rPr sz="1700" b="0">
                <a:solidFill>
                  <a:srgbClr val="222222"/>
                </a:solidFill>
                <a:latin typeface="맑은 고딕"/>
              </a:rPr>
              <a:t>•  RMAN: 암호화 블록은 그대로, 나머지는 백업 암호화 별도</a:t>
            </a:r>
          </a:p>
          <a:p>
            <a:pPr algn="l">
              <a:spcAft>
                <a:spcPts val="1000"/>
              </a:spcAft>
            </a:pPr>
            <a:r>
              <a:rPr sz="1700" b="0">
                <a:solidFill>
                  <a:srgbClr val="222222"/>
                </a:solidFill>
                <a:latin typeface="맑은 고딕"/>
              </a:rPr>
              <a:t>•  Data Guard: Standby에도 같은 마스터 키 필요</a:t>
            </a:r>
          </a:p>
          <a:p>
            <a:pPr algn="l">
              <a:spcAft>
                <a:spcPts val="1000"/>
              </a:spcAft>
            </a:pPr>
            <a:r>
              <a:rPr sz="1700" b="0">
                <a:solidFill>
                  <a:srgbClr val="222222"/>
                </a:solidFill>
                <a:latin typeface="맑은 고딕"/>
              </a:rPr>
              <a:t>•  TDE는 메모리·네트워크를 보호하지 않는다(11장)</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키스토어를 지우면 생기는 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객체를 다 지워도 키 기록은 남는다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MASTERKEY_ACTIVATED = YES는 되돌릴 수 없다</a:t>
            </a:r>
          </a:p>
          <a:p>
            <a:pPr algn="l">
              <a:spcAft>
                <a:spcPts val="1000"/>
              </a:spcAft>
            </a:pPr>
            <a:r>
              <a:rPr sz="1700" b="0">
                <a:solidFill>
                  <a:srgbClr val="222222"/>
                </a:solidFill>
                <a:latin typeface="맑은 고딕"/>
              </a:rPr>
              <a:t>•  키스토어 삭제 후 TDE 재구성: ORA-28374</a:t>
            </a:r>
          </a:p>
          <a:p>
            <a:pPr algn="l">
              <a:spcAft>
                <a:spcPts val="1000"/>
              </a:spcAft>
            </a:pPr>
            <a:r>
              <a:rPr sz="1700" b="0">
                <a:solidFill>
                  <a:srgbClr val="222222"/>
                </a:solidFill>
                <a:latin typeface="맑은 고딕"/>
              </a:rPr>
              <a:t>•  다음 SHUTDOWN IMMEDIATE가 ORA-28365로 멈춤</a:t>
            </a:r>
          </a:p>
          <a:p>
            <a:pPr algn="l">
              <a:spcAft>
                <a:spcPts val="1000"/>
              </a:spcAft>
            </a:pPr>
            <a:r>
              <a:rPr sz="1700" b="0">
                <a:solidFill>
                  <a:srgbClr val="222222"/>
                </a:solidFill>
                <a:latin typeface="맑은 고딕"/>
              </a:rPr>
              <a:t>•  보관해 둔 키스토어를 되돌려 복구</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그래서 실습 DB를 따로 만들었다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원복은 키스토어 삭제가 아니라 DB 삭제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DBCA로 tdedb 생성(non-CDB, OMF 미사용)</a:t>
            </a:r>
          </a:p>
          <a:p>
            <a:pPr algn="l">
              <a:spcAft>
                <a:spcPts val="1000"/>
              </a:spcAft>
            </a:pPr>
            <a:r>
              <a:rPr sz="1700" b="0">
                <a:solidFill>
                  <a:srgbClr val="222222"/>
                </a:solidFill>
                <a:latin typeface="맑은 고딕"/>
              </a:rPr>
              <a:t>•  실습 01~05에서 재기동 세 번</a:t>
            </a:r>
          </a:p>
          <a:p>
            <a:pPr algn="l">
              <a:spcAft>
                <a:spcPts val="1000"/>
              </a:spcAft>
            </a:pPr>
            <a:r>
              <a:rPr sz="1700" b="0">
                <a:solidFill>
                  <a:srgbClr val="222222"/>
                </a:solidFill>
                <a:latin typeface="맑은 고딕"/>
              </a:rPr>
              <a:t>•  06: 객체 삭제 후에도 MASTERKEY_ACTIVATED = YES 확인</a:t>
            </a:r>
          </a:p>
          <a:p>
            <a:pPr algn="l">
              <a:spcAft>
                <a:spcPts val="1000"/>
              </a:spcAft>
            </a:pPr>
            <a:r>
              <a:rPr sz="1700" b="0">
                <a:solidFill>
                  <a:srgbClr val="222222"/>
                </a:solidFill>
                <a:latin typeface="맑은 고딕"/>
              </a:rPr>
              <a:t>•  dbca -deleteDatabase로 DB째 삭제</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10.9</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TDE 관련 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키스토어, 키, 암호화 객체</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TDE 관련 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상태 점검은 V$ENCRYPTION_WALLET부터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V$ENCRYPTION_WALLET: 위치, STATUS, WALLET_TYPE</a:t>
            </a:r>
          </a:p>
          <a:p>
            <a:pPr algn="l">
              <a:spcAft>
                <a:spcPts val="1000"/>
              </a:spcAft>
            </a:pPr>
            <a:r>
              <a:rPr sz="1700" b="0">
                <a:solidFill>
                  <a:srgbClr val="222222"/>
                </a:solidFill>
                <a:latin typeface="맑은 고딕"/>
              </a:rPr>
              <a:t>•  V$ENCRYPTION_KEYS: 마스터 키 이력, V$DATABASE_KEY_INFO: 활성화 기록</a:t>
            </a:r>
          </a:p>
          <a:p>
            <a:pPr algn="l">
              <a:spcAft>
                <a:spcPts val="1000"/>
              </a:spcAft>
            </a:pPr>
            <a:r>
              <a:rPr sz="1700" b="0">
                <a:solidFill>
                  <a:srgbClr val="222222"/>
                </a:solidFill>
                <a:latin typeface="맑은 고딕"/>
              </a:rPr>
              <a:t>•  V$ENCRYPTED_TABLESPACES, DBA_TABLESPACES.ENCRYPTED</a:t>
            </a:r>
          </a:p>
          <a:p>
            <a:pPr algn="l">
              <a:spcAft>
                <a:spcPts val="1000"/>
              </a:spcAft>
            </a:pPr>
            <a:r>
              <a:rPr sz="1700" b="0">
                <a:solidFill>
                  <a:srgbClr val="222222"/>
                </a:solidFill>
                <a:latin typeface="맑은 고딕"/>
              </a:rPr>
              <a:t>•  DBA_ENCRYPTED_COLUMNS: 알고리즘, SALT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10.10</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설계와 적용 절차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라이선스 확인부터 재기동 시험까지</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적용 절차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재기동 시험과 백업으로 끝낸다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라이선스·대상 결정 → WALLET_ROOT + 재기동</a:t>
            </a:r>
          </a:p>
          <a:p>
            <a:pPr algn="l">
              <a:spcAft>
                <a:spcPts val="1000"/>
              </a:spcAft>
            </a:pPr>
            <a:r>
              <a:rPr sz="1700" b="0">
                <a:solidFill>
                  <a:srgbClr val="222222"/>
                </a:solidFill>
                <a:latin typeface="맑은 고딕"/>
              </a:rPr>
              <a:t>•  TDE_CONFIGURATION → 키스토어 생성·열기</a:t>
            </a:r>
          </a:p>
          <a:p>
            <a:pPr algn="l">
              <a:spcAft>
                <a:spcPts val="1000"/>
              </a:spcAft>
            </a:pPr>
            <a:r>
              <a:rPr sz="1700" b="0">
                <a:solidFill>
                  <a:srgbClr val="222222"/>
                </a:solidFill>
                <a:latin typeface="맑은 고딕"/>
              </a:rPr>
              <a:t>•  SET KEY WITH BACKUP → auto-login</a:t>
            </a:r>
          </a:p>
          <a:p>
            <a:pPr algn="l">
              <a:spcAft>
                <a:spcPts val="1000"/>
              </a:spcAft>
            </a:pPr>
            <a:r>
              <a:rPr sz="1700" b="0">
                <a:solidFill>
                  <a:srgbClr val="222222"/>
                </a:solidFill>
                <a:latin typeface="맑은 고딕"/>
              </a:rPr>
              <a:t>•  암호화 객체 → 재기동 시험 → 키스토어 백업</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10.11</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운영 시 주의점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비밀번호, 백업, 권한, 범위</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운영 시 주의점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키를 잃으면 데이터를 잃는다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키스토어 비밀번호와 백업은 데이터만큼 중요</a:t>
            </a:r>
          </a:p>
          <a:p>
            <a:pPr algn="l">
              <a:spcAft>
                <a:spcPts val="1000"/>
              </a:spcAft>
            </a:pPr>
            <a:r>
              <a:rPr sz="1700" b="0">
                <a:solidFill>
                  <a:srgbClr val="222222"/>
                </a:solidFill>
                <a:latin typeface="맑은 고딕"/>
              </a:rPr>
              <a:t>•  키스토어 파일 권한은 oracle 전용</a:t>
            </a:r>
          </a:p>
          <a:p>
            <a:pPr algn="l">
              <a:spcAft>
                <a:spcPts val="1000"/>
              </a:spcAft>
            </a:pPr>
            <a:r>
              <a:rPr sz="1700" b="0">
                <a:solidFill>
                  <a:srgbClr val="222222"/>
                </a:solidFill>
                <a:latin typeface="맑은 고딕"/>
              </a:rPr>
              <a:t>•  마스터 키 교체 후 다시 백업</a:t>
            </a:r>
          </a:p>
          <a:p>
            <a:pPr algn="l">
              <a:spcAft>
                <a:spcPts val="1000"/>
              </a:spcAft>
            </a:pPr>
            <a:r>
              <a:rPr sz="1700" b="0">
                <a:solidFill>
                  <a:srgbClr val="222222"/>
                </a:solidFill>
                <a:latin typeface="맑은 고딕"/>
              </a:rPr>
              <a:t>•  같은 홈의 DB마다 다른 WALLET_ROOT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TDE: 디스크 데이터를 엔진이 암·복호화, 파일 유출 방어</a:t>
            </a:r>
          </a:p>
          <a:p>
            <a:pPr algn="l">
              <a:spcAft>
                <a:spcPts val="1000"/>
              </a:spcAft>
            </a:pPr>
            <a:r>
              <a:rPr sz="1600" b="0">
                <a:solidFill>
                  <a:srgbClr val="222222"/>
                </a:solidFill>
                <a:latin typeface="맑은 고딕"/>
              </a:rPr>
              <a:t>•  마스터 키(키스토어)와 2계층 키(DB 안), 마스터 키 교체는 빠름</a:t>
            </a:r>
          </a:p>
          <a:p>
            <a:pPr algn="l">
              <a:spcAft>
                <a:spcPts val="1000"/>
              </a:spcAft>
            </a:pPr>
            <a:r>
              <a:rPr sz="1600" b="0">
                <a:solidFill>
                  <a:srgbClr val="222222"/>
                </a:solidFill>
                <a:latin typeface="맑은 고딕"/>
              </a:rPr>
              <a:t>•  WALLET_ROOT(정적, 재기동) + TDE_CONFIGURATION(동적)</a:t>
            </a:r>
          </a:p>
          <a:p>
            <a:pPr algn="l">
              <a:spcAft>
                <a:spcPts val="1000"/>
              </a:spcAft>
            </a:pPr>
            <a:r>
              <a:rPr sz="1600" b="0">
                <a:solidFill>
                  <a:srgbClr val="222222"/>
                </a:solidFill>
                <a:latin typeface="맑은 고딕"/>
              </a:rPr>
              <a:t>•  CREATE KEYSTORE → OPEN → SET KEY WITH BACKUP → AUTO_LOGIN</a:t>
            </a:r>
          </a:p>
          <a:p>
            <a:pPr algn="l">
              <a:spcAft>
                <a:spcPts val="1000"/>
              </a:spcAft>
            </a:pPr>
            <a:r>
              <a:rPr sz="1600" b="0">
                <a:solidFill>
                  <a:srgbClr val="222222"/>
                </a:solidFill>
                <a:latin typeface="맑은 고딕"/>
              </a:rPr>
              <a:t>•  컬럼: AES192·salt, 인덱스는 NO SALT / 테이블스페이스: AES128, 온라인 변환</a:t>
            </a:r>
          </a:p>
          <a:p>
            <a:pPr algn="l">
              <a:spcAft>
                <a:spcPts val="1000"/>
              </a:spcAft>
            </a:pPr>
            <a:r>
              <a:rPr sz="1600" b="0">
                <a:solidFill>
                  <a:srgbClr val="222222"/>
                </a:solidFill>
                <a:latin typeface="맑은 고딕"/>
              </a:rPr>
              <a:t>•  닫히면 ORA-28365, 키스토어는 RMAN 백업과 별도 보관</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(1)</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 TDE가 막을 수 있는 위협은?</a:t>
            </a:r>
          </a:p>
          <a:p>
            <a:pPr algn="l">
              <a:spcAft>
                <a:spcPts val="1000"/>
              </a:spcAft>
            </a:pPr>
            <a:r>
              <a:rPr sz="1600" b="0">
                <a:solidFill>
                  <a:srgbClr val="222222"/>
                </a:solidFill>
                <a:latin typeface="맑은 고딕"/>
              </a:rPr>
              <a:t>•  2. WALLET_ROOT에 대한 옳은 설명은?</a:t>
            </a:r>
          </a:p>
          <a:p>
            <a:pPr algn="l">
              <a:spcAft>
                <a:spcPts val="1000"/>
              </a:spcAft>
            </a:pPr>
            <a:r>
              <a:rPr sz="1600" b="0">
                <a:solidFill>
                  <a:srgbClr val="222222"/>
                </a:solidFill>
                <a:latin typeface="맑은 고딕"/>
              </a:rPr>
              <a:t>•  3. OPEN_NO_MASTER_KEY 다음에 할 일은?</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4. salt 컬럼에 B-tree 인덱스를 만들면?</a:t>
            </a:r>
          </a:p>
          <a:p>
            <a:pPr algn="l">
              <a:spcAft>
                <a:spcPts val="1000"/>
              </a:spcAft>
            </a:pPr>
            <a:r>
              <a:rPr sz="1600" b="0">
                <a:solidFill>
                  <a:srgbClr val="222222"/>
                </a:solidFill>
                <a:latin typeface="맑은 고딕"/>
              </a:rPr>
              <a:t>•  5. auto-login으로 열린 DB에서 비밀번호로 CLOSE하면?</a:t>
            </a:r>
          </a:p>
          <a:p>
            <a:pPr algn="l">
              <a:spcAft>
                <a:spcPts val="1000"/>
              </a:spcAft>
            </a:pPr>
            <a:r>
              <a:rPr sz="1600" b="0">
                <a:solidFill>
                  <a:srgbClr val="222222"/>
                </a:solidFill>
                <a:latin typeface="맑은 고딕"/>
              </a:rPr>
              <a:t>•  6. 다른 서버로 복원할 때 데이터 파일 외에 필요한 것은?</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키스토어 위치 구성: ORA-46693, ORA-02095, 재기동</a:t>
            </a:r>
          </a:p>
          <a:p>
            <a:pPr algn="l">
              <a:spcAft>
                <a:spcPts val="1000"/>
              </a:spcAft>
            </a:pPr>
            <a:r>
              <a:rPr sz="1600" b="0">
                <a:solidFill>
                  <a:srgbClr val="222222"/>
                </a:solidFill>
                <a:latin typeface="맑은 고딕"/>
              </a:rPr>
              <a:t>•  02 키스토어와 마스터 키: ORA-46633, ORA-28361, ORA-46631</a:t>
            </a:r>
          </a:p>
          <a:p>
            <a:pPr algn="l">
              <a:spcAft>
                <a:spcPts val="1000"/>
              </a:spcAft>
            </a:pPr>
            <a:r>
              <a:rPr sz="1600" b="0">
                <a:solidFill>
                  <a:srgbClr val="222222"/>
                </a:solidFill>
                <a:latin typeface="맑은 고딕"/>
              </a:rPr>
              <a:t>•  03 테이블스페이스 암호화: strings 비교, 온라인 변환, ORA-28370</a:t>
            </a:r>
          </a:p>
          <a:p>
            <a:pPr algn="l">
              <a:spcAft>
                <a:spcPts val="1000"/>
              </a:spcAft>
            </a:pPr>
            <a:r>
              <a:rPr sz="1600" b="0">
                <a:solidFill>
                  <a:srgbClr val="222222"/>
                </a:solidFill>
                <a:latin typeface="맑은 고딕"/>
              </a:rPr>
              <a:t>•  04 컬럼 암호화: ORA-28338, ORA-28340, REKEY</a:t>
            </a:r>
          </a:p>
          <a:p>
            <a:pPr algn="l">
              <a:spcAft>
                <a:spcPts val="1000"/>
              </a:spcAft>
            </a:pPr>
            <a:r>
              <a:rPr sz="1600" b="0">
                <a:solidFill>
                  <a:srgbClr val="222222"/>
                </a:solidFill>
                <a:latin typeface="맑은 고딕"/>
              </a:rPr>
              <a:t>•  05 재기동·auto-login·키 교체: ORA-28365, ORA-28417</a:t>
            </a:r>
          </a:p>
          <a:p>
            <a:pPr algn="l">
              <a:spcAft>
                <a:spcPts val="1000"/>
              </a:spcAft>
            </a:pPr>
            <a:r>
              <a:rPr sz="1600" b="0">
                <a:solidFill>
                  <a:srgbClr val="222222"/>
                </a:solidFill>
                <a:latin typeface="맑은 고딕"/>
              </a:rPr>
              <a:t>•  06 원복과 남는 것: 마스터 키 기록, 실습 DB 삭제</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
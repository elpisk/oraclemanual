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자료의 명찰 비유가 그대로 통합니다. 로그인할 때 명찰이 발급되고, 명찰에 적힌 부서나 직급을 보고 데이터베이스가 무엇을 보여 줄지 결정합니다. 명찰 내용은 정해진 발급 창구, 즉 신뢰 패키지만 고칠 수 있고 사용자가 펜으로 고쳐 쓸 수는 없습니다. 값은 모두 문자열로 저장됩니다. 부서 번호 90도 '90'이라는 문자열로 들어가므로, 숫자 컬럼과 비교할 때는 자동 변환이 일어나고 앞에 0이 붙은 코드나 날짜는 형식을 맞춰 넣어야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보안 판단은 거의 모든 SQL에서 일어나기 때문에 그때마다 사용자 속성을 테이블에서 찾으면 비용이 계속 쌓입니다. 컨텍스트는 로그인 때 한 번 계산한 값을 메모리에 두고 읽습니다. SQL 문장 자체는 같고 값만 달라지므로 커서도 공유됩니다. 그리고 더 중요한 장점은 사용자가 값을 조작할 수 없다는 것입니다. 패키지 변수나 임시 테이블은 코드나 권한에 따라 바뀔 수 있지만 컨텍스트는 신뢰 패키지만 바꿀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부서 값 하나를 컨텍스트에 두면 보안 뷰, VPD, Redaction, 감사 조건이 모두 같은 근거로 움직입니다. 설계가 깔끔해지는 대신, 컨텍스트 값이 틀리면 이 기능들이 한꺼번에 틀린다는 뜻이기도 합니다. 그래서 보안 기능을 여러 개 도입할 때 가장 먼저 검증할 것은 개별 정책이 아니라 컨텍스트 초기화 경로입니다. 이 과정의 뒷 장들이 이 장의 컨텍스트를 계속 다시 쓰게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CONTEXT에 아무 옵션도 주지 않으면 세션 기반이 됩니다. 값은 세션 메모리에 있고 그 세션에서만 보입니다. 전역 컨텍스트는 SGA에 값을 두기 때문에 세션이 끝나도 남고, 다른 세션도 조건이 맞으면 같은 값을 읽습니다. 연결 풀 애플리케이션을 위한 유형입니다. 클라이언트 세션 기반은 OCI 클라이언트가 직접 넣는 값이라 신뢰 패키지 검사를 거치지 않으므로 보안 판단에는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USERENV는 데이터베이스가 미리 만들어 둔 네임스페이스입니다. 여기서 가장 중요한 구분은 누가 값을 정하느냐입니다. SESSION_USER는 로그인 때 서버가 정하고 바꿀 수 없습니다. CURRENT_SCHEMA는 이름이 비슷하지만 ALTER SESSION으로 누구나 바꿀 수 있어서, 실습에서도 HR 세션의 CURRENT_SCHEMA가 SCOTT로 바뀌었는데 SESSION_USER는 HR 그대로였습니다. 보안 조건에는 반드시 SESSION_USER를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CLIENT_IDENTIFIER, MODULE, ACTION은 애플리케이션이 성능 분석과 감사를 위해 넣는 값입니다. 그런데 SQL*Plus 사용자도 같은 프로시저를 호출할 수 있습니다. 본문 사례처럼 MODULE이 급여 화면일 때만 데이터를 보여 주게 만들면, 개발자가 SET_MODULE 한 줄로 그 조건을 통과합니다. 이런 값은 추적 정보로 남기고, 허용 여부는 SESSION_USER나 IP_ADDRESS처럼 서버가 정하는 값과 묶어서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01에서 USERENV에 DEPARTMENT라는 없는 속성을 요청하자 ORA-02003이 났습니다. 반면 존재하지 않는 사용자 네임스페이스를 읽으면 오류 없이 NULL이 나옵니다. 이 차이 때문에 사용자 컨텍스트 이름에 오타가 있으면 아무 오류 없이 값이 비고, 보안 뷰가 0건을 돌려줍니다. 결과가 이상하게 비어 있을 때 컨텍스트 이름 철자부터 확인하면 원인을 빨리 찾습니다.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컨텍스트는 테이블처럼 특정 스키마에 속하지 않고 데이터베이스 전체에서 이름이 하나뿐입니다. 그래서 CREATE ANY CONTEXT라는 시스템 권한으로 만듭니다. 실습 02에서는 패키지를 만들기 전에 컨텍스트부터 만들었는데 정상 생성됐습니다. 컨텍스트는 연결 정보만 기록하기 때문입니다. 대신 패키지가 없는 동안에는 아무도 값을 넣을 수 없으니, 점검 쿼리로 신뢰 패키지 존재 여부를 확인하는 습관이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자료는 HR 계정에 신뢰 패키지를 만들었습니다. 동작은 하지만 HR이 패키지를 고치면 자기 데이터에 걸린 제한을 스스로 풀 수 있습니다. 그래서 실습에서는 ctxadm이라는 보안 관리 계정을 따로 두고 컨텍스트, 신뢰 패키지, 매핑 테이블, 보안 뷰를 모두 여기에 모았습니다. 7장의 sysadmin_vpd와 같은 발상입니다. 보안 뷰 권한도 PUBLIC이 아니라 실습 사용자에게만 줬습니다.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HR에게 DBMS_SESSION 실행 권한이 있어도 SQL*Plus에서 SET_CONTEXT를 직접 부르면 ORA-01031이 납니다. 데이터베이스가 호출 스택을 확인해서, 그 네임스페이스에 등록된 신뢰 패키지 안에서 나온 호출만 허용하기 때문입니다. 이 장치 덕분에 값을 넣는 규칙은 신뢰 패키지 코드가 결정하고, 사용자는 패키지가 허락한 방식으로만 영향을 줄 수 있습니다. 값을 지우는 함수들도 같은 제약을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원본의 Local context 예제는 사용자 이름을 인자로 받아 그대로 넣습니다. 애플리케이션이 사용자를 인증한 뒤 데이터베이스에 알려 주는 구조라 그 자체로는 맞는 설계입니다. 문제는 실행 권한을 가진 사람이 아무 값이나 넣을 수 있다는 점입니다. 사용자가 DB 계정으로 직접 접속하는 환경이라면 인자를 받지 말고 USERENV의 SESSION_USER로 매핑 테이블을 찾게 만들어야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02 마지막 단계에서 USER_A를 넣은 세션은 2건을 봤고, 같은 HR이라도 새로 연 세션은 0건이었습니다. 세션 기반 컨텍스트 값은 세션 메모리에 있다가 로그아웃과 함께 사라집니다. 장애 대응에서 자주 막히는 지점이 여기입니다. 사용자가 데이터가 안 보인다고 할 때 DBA 세션에서는 그 사용자의 컨텍스트 값을 볼 수 없으니, 사용자 세션에서 SESSION_CONTEXT를 조회하게 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03에서 c6_king으로 로그인하자 아무 프로시저도 부르지 않았는데 컨텍스트에 90이 들어 있었고, c6_hunold는 60이었습니다. 로그인 트리거가 신뢰 패키지를 대신 불러 준 결과입니다. 원본은 사원 이메일과 로그인 이름이 같다고 가정했지만, 실습에서는 둘을 잇는 매핑 테이블을 따로 뒀습니다. 이 매핑 테이블을 고칠 수 있는 사람이 모든 사용자의 부서를 정하게 되므로 소유자와 변경 감사를 함께 설계해야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컨텍스트가 모든 사용자에게 필요하면 ON DATABASE가 맞습니다. 하지만 특정 업무 계정만 대상이라면 사용자별 스키마 트리거로 범위를 좁히는 편이 안전합니다. 실습은 다른 장 실습과 같은 데이터베이스를 쓰기 때문에 c6 사용자들의 스키마 트리거로 한정했습니다. 어느 쪽이든 로그인마다 실행되는 코드이므로 트리거 안에서 무거운 조회를 하면 로그인 시간이 그대로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03에서 일부러 예외 처리를 뺀 패키지로 매핑이 없는 사용자를 로그인시켰더니 ORA-04088과 ORA-01403이 나며 접속이 거부됐습니다. ON DATABASE 트리거였다면 매핑에 없는 모든 사용자, 예를 들어 그날 입사한 직원 전원이 같은 일을 겪습니다. DBA는 ADMINISTER DATABASE TRIGGER 권한 덕분에 들어갈 수 있으니 고칠 길은 있습니다. 예외를 처리하면 로그인은 되고 컨텍스트는 비어 0건으로 닫힙니다.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LOGON 트리거는 사용자가 관여할 틈이 없어 가장 단단하지만, 로그인이 한 번뿐인 연결 풀 환경과는 맞지 않습니다. 애플리케이션이 사용자를 인증하는 구조라면 애플리케이션이 신뢰 패키지를 부르게 하고 실행 권한을 애플리케이션 계정에만 줍니다. 원본 자료가 LDAP으로도 가능하다고 적은 것은 INITIALIZED GLOBALLY 방식을 가리키며, 디렉터리에 저장된 엔터프라이즈 사용자 속성으로 값을 채웁니다.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secure_employees가 이 방식입니다. 부서마다 뷰를 만들 필요 없이 뷰 하나가 세션의 컨텍스트 값에 따라 다른 행을 돌려줍니다. 컨텍스트가 비어 있으면 비교 대상이 NULL이라 아무 행도 조건을 만족하지 않으므로 따로 처리하지 않아도 닫힌 쪽으로 동작합니다. 뷰를 다른 사용자에게 주려면 뷰 소유자가 원본 테이블 권한을 WITH GRANT OPTION으로 받아야 한다는 점은 실습 준비 단계에서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보안 뷰는 단순하고 예측하기 쉽지만, 원본 테이블 SELECT 권한을 가진 사람은 뷰를 거치지 않고 전체를 봅니다. 사용자가 원본 테이블 권한을 갖지 않는 구조라면 보안 뷰로 충분합니다. 애플리케이션이 테이블을 직접 참조하거나 권한 구조가 복잡하면 7장의 VPD로 갑니다. 다행히 두 방식 모두 SYS_CONTEXT로 같은 값을 읽기 때문에 컨텍스트 설계는 그대로 두고 적용 방식만 바꿀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단순 보안 뷰는 갱신 가능 뷰라 DML도 통과합니다. 보이는 행만 수정·삭제되지만, INSERT나 UPDATE로 다른 부서 값을 넣으면 넣은 사람에게도 보이지 않는 행이 생깁니다. VPD의 update_check와 같은 역할을 뷰에서는 WITH CHECK OPTION이 합니다. 성능 면에서는 SYS_CONTEXT가 실행 중 상수처럼 평가되어 바인드 변수 조건처럼 인덱스를 쓸 수 있고, 값이 바뀌어도 커서를 공유합니다.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 풀 애플리케이션은 하나의 DB 계정으로 미리 열어 둔 세션을 여러 사용자가 돌려 씁니다. 로그인이 한 번뿐이라 LOGON 트리거로는 사용자별 값을 넣을 수 없고, 세션 기반 컨텍스트는 요청마다 다시 넣어야 합니다. 전역 컨텍스트는 사용자 속성을 SGA에 한 번 올려 두고 어느 세션에서든 읽게 해 줍니다. 대신 인스턴스를 재기동하면 값이 사라지므로 애플리케이션이 다시 초기화해야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전역 컨텍스트의 핵심 설정은 SET_CONTEXT의 username과 client_id 인자입니다. ARPLS의 DBMS_SESSION 사용 노트에 두 인자를 생략하면 NULL로 간주되어 모든 사용자가 값을 본다고 적혀 있습니다. client_id만 지정하면 DB 계정과 관계없이 같은 식별자를 설정한 세션이 값을 읽습니다. 연결 풀에서는 풀 계정과 최종 사용자 식별자를 둘 다 지정하는 네 번째 조합을 기본으로 생각하면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자료의 전역 컨텍스트 예제는 username과 client_id 없이 값을 넣습니다. 실습 04에서 그대로 따라 해 보니 c6_king이 90을 넣은 뒤 다른 사용자들이 모두 90을 읽었고, c6_hunold가 60을 넣자 c6_king도 60으로 바뀌었습니다. 오류는 하나도 나지 않았습니다. 이 패키지를 원본처럼 LOGON 트리거에 걸면 마지막에 로그인한 사람의 부서가 모두에게 적용되니, 전역 컨텍스트에서는 두 인자 중 최소 하나를 반드시 지정해야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실습의 c6_apppool 세션 하나에서 식별자를 SKING으로 바꾸면 90번 부서 3건, AHUNOLD로 바꾸면 60번 부서 5건이 보였고, 식별자를 지우면 0건이 됐습니다. c6_king 계정이 SKING 식별자를 흉내 냈을 때는 NULL이었는데, 값을 넣을 때 username을 풀 계정으로 지정했기 때문입니다. 실무 사고는 대부분 요청 종료 시 CLEAR_IDENTIFIER가 빠져서 생기므로 이 호출을 프레임워크 공통 코드의 finally 블록에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매뉴얼의 Global Application Contexts 절은 전역 값을 비우는 문장을 밑줄이 들어간 GLOBAL_CONTEXT로 적고 있는데, 19.3에서 그대로 실행하면 ORA-02000이 납니다. 오류 메시지가 GLOBAL CONTEXT 키워드를 알려 주므로 공백으로 고치면 됩니다. 또 ARPLS는 client_id가 대소문자를 구분한다고 하지만 실습에서는 SKING으로 넣은 값을 sking 식별자로도 읽었습니다. 버전마다 다를 수 있으니 식별자 표기를 하나로 통일하는 쪽이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유형 중 하나를 고를 때 기준은 접속 구조와 초기화 비용입니다. 사용자가 각자 DB 계정으로 접속한다면 세션 기반으로 충분하고, 값이 다른 세션으로 새는 사고가 구조적으로 생기지 않습니다. 풀 계정 하나를 여러 사용자가 돌려 쓰고 사용자 속성 계산이 비쌀 때만 전역 컨텍스트를 씁니다. 본문 사례처럼 아무 이유 없이 전역으로 바꾸는 것은 값 공유 사고로 이어질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값을 읽는 방법은 모두 SYS_CONTEXT로 같지만 값을 넣는 주체는 다릅니다. 데이터베이스 안의 신뢰 패키지와 디렉터리 서버의 사용자 속성은 신뢰할 수 있는 출처입니다. OCI 접속 처리로 넣는 값과 CLIENTCONTEXT 네임스페이스는 클라이언트 프로그램이 정하므로 신뢰 수준이 낮습니다. CLIENTCONTEXT는 서버 왕복 없이 부가 정보를 전달하는 성능 기능으로 보고, 접근 허용 판단에는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05에서 세션 기반이던 C6_TASK_CTX를 CREATE OR REPLACE로 전역으로 바꿨더니, 패키지와 뷰를 하나도 고치지 않았는데 값을 넣은 세션을 끊고 새로 접속해도 USER_A의 데이터가 보였습니다. 정의 한 줄이 보안 동작을 바꾼 것입니다. 컨텍스트를 지울 때도 그 값을 읽는 뷰나 함수는 INVALID가 되지 않고 조용히 0건을 돌려줍니다. 변경 전에 사용처 목록을 확인하는 절차가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GLOBAL_CONTEXT는 이름 때문에 전역 값 전체를 보여 줄 것 같지만, 실습에서 SYS로 조회해도 0건이었고 식별자를 설정하지 않은 풀 계정으로도 0건이었습니다. 식별자를 SKING으로 맞춘 뒤에야 그 사용자의 값 한 행이 보였습니다. 따라서 전역 값이 제대로 들어갔는지 확인하려면 풀 계정 세션에서 식별자를 바꿔 가며 조회해야 합니다. 신뢰 패키지 상태는 DBA_CONTEXT와 DBA_OBJECTS를 조인해서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순서에서 가장 위험한 실수는 LOGON 트리거를 신뢰 패키지보다 먼저 만들거나, 패키지가 INVALID인 상태에서 트리거를 켜는 것입니다. 그 순간부터 일반 사용자 로그인이 실패합니다. 시험 단계에서는 정상 사용자만 확인하고 끝내기 쉬운데, 매핑에 없는 신규 계정, 배치 계정, 서비스 계정으로도 로그인해 봐야 합니다. 전역 컨텍스트라면 식별자 없는 세션과 다른 계정의 세션에서 값이 안 보이는지까지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신뢰 패키지나 LOGON 트리거를 고칠 때는 ADMINISTER DATABASE TRIGGER 권한이 있는 세션을 하나 열어 둔 채 작업합니다. 잘못되면 그 세션으로 되돌릴 수 있습니다. 부서 이동처럼 매핑이 바뀌어도 이미 로그인한 세션의 값은 그대로이므로, 즉시 반영해야 하면 세션을 정리해야 합니다. 컨텍스트 이름은 데이터베이스 전체에서 하나라서, 여러 애플리케이션이 한 DB를 쓰면 접두어 규칙을 정해 두는 편이 좋습니다.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Application Context</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세션에 붙는 이름표로 사용자 속성을 전달한다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제6장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컨텍스트의 구조와 세 가지 유형을 구분한다</a:t>
            </a:r>
          </a:p>
          <a:p>
            <a:pPr algn="l">
              <a:spcAft>
                <a:spcPts val="1000"/>
              </a:spcAft>
            </a:pPr>
            <a:r>
              <a:rPr sz="1600" b="0">
                <a:solidFill>
                  <a:srgbClr val="222222"/>
                </a:solidFill>
                <a:latin typeface="맑은 고딕"/>
              </a:rPr>
              <a:t>•  USERENV에서 믿을 값과 추적용 값을 가른다</a:t>
            </a:r>
          </a:p>
          <a:p>
            <a:pPr algn="l">
              <a:spcAft>
                <a:spcPts val="1000"/>
              </a:spcAft>
            </a:pPr>
            <a:r>
              <a:rPr sz="1600" b="0">
                <a:solidFill>
                  <a:srgbClr val="222222"/>
                </a:solidFill>
                <a:latin typeface="맑은 고딕"/>
              </a:rPr>
              <a:t>•  신뢰 패키지로 세션 컨텍스트를 만든다</a:t>
            </a:r>
          </a:p>
          <a:p>
            <a:pPr algn="l">
              <a:spcAft>
                <a:spcPts val="1000"/>
              </a:spcAft>
            </a:pPr>
            <a:r>
              <a:rPr sz="1600" b="0">
                <a:solidFill>
                  <a:srgbClr val="222222"/>
                </a:solidFill>
                <a:latin typeface="맑은 고딕"/>
              </a:rPr>
              <a:t>•  LOGON 트리거 초기화와 로그인 장애를 다룬다</a:t>
            </a:r>
          </a:p>
          <a:p>
            <a:pPr algn="l">
              <a:spcAft>
                <a:spcPts val="1000"/>
              </a:spcAft>
            </a:pPr>
            <a:r>
              <a:rPr sz="1600" b="0">
                <a:solidFill>
                  <a:srgbClr val="222222"/>
                </a:solidFill>
                <a:latin typeface="맑은 고딕"/>
              </a:rPr>
              <a:t>•  보안 뷰와 VPD의 차이를 설명한다</a:t>
            </a:r>
          </a:p>
          <a:p>
            <a:pPr algn="l">
              <a:spcAft>
                <a:spcPts val="1000"/>
              </a:spcAft>
            </a:pPr>
            <a:r>
              <a:rPr sz="1600" b="0">
                <a:solidFill>
                  <a:srgbClr val="222222"/>
                </a:solidFill>
                <a:latin typeface="맑은 고딕"/>
              </a:rPr>
              <a:t>•  전역 컨텍스트와 연결 풀 모델을 구성한다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6.2  개념  /  6.3  USERENV</a:t>
            </a:r>
          </a:p>
          <a:p>
            <a:pPr algn="l">
              <a:spcAft>
                <a:spcPts val="1000"/>
              </a:spcAft>
            </a:pPr>
            <a:r>
              <a:rPr sz="1600" b="0">
                <a:solidFill>
                  <a:srgbClr val="222222"/>
                </a:solidFill>
                <a:latin typeface="맑은 고딕"/>
              </a:rPr>
              <a:t>•  6.4  세션 기반 컨텍스트 만들기</a:t>
            </a:r>
          </a:p>
          <a:p>
            <a:pPr algn="l">
              <a:spcAft>
                <a:spcPts val="1000"/>
              </a:spcAft>
            </a:pPr>
            <a:r>
              <a:rPr sz="1600" b="0">
                <a:solidFill>
                  <a:srgbClr val="222222"/>
                </a:solidFill>
                <a:latin typeface="맑은 고딕"/>
              </a:rPr>
              <a:t>•  6.5  LOGON 트리거로 초기화</a:t>
            </a:r>
          </a:p>
          <a:p>
            <a:pPr algn="l">
              <a:spcAft>
                <a:spcPts val="1000"/>
              </a:spcAft>
            </a:pPr>
            <a:r>
              <a:rPr sz="1600" b="0">
                <a:solidFill>
                  <a:srgbClr val="222222"/>
                </a:solidFill>
                <a:latin typeface="맑은 고딕"/>
              </a:rPr>
              <a:t>•  6.6  컨텍스트를 쓰는 보안 뷰</a:t>
            </a:r>
          </a:p>
          <a:p>
            <a:pPr algn="l">
              <a:spcAft>
                <a:spcPts val="1000"/>
              </a:spcAft>
            </a:pPr>
            <a:r>
              <a:rPr sz="1600" b="0">
                <a:solidFill>
                  <a:srgbClr val="222222"/>
                </a:solidFill>
                <a:latin typeface="맑은 고딕"/>
              </a:rPr>
              <a:t>•  6.7  전역 접근 컨텍스트  /  6.8  외부 초기화</a:t>
            </a:r>
          </a:p>
          <a:p>
            <a:pPr algn="l">
              <a:spcAft>
                <a:spcPts val="1000"/>
              </a:spcAft>
            </a:pPr>
            <a:r>
              <a:rPr sz="1600" b="0">
                <a:solidFill>
                  <a:srgbClr val="222222"/>
                </a:solidFill>
                <a:latin typeface="맑은 고딕"/>
              </a:rPr>
              <a:t>•  6.9  관리와 뷰  /  6.10  절차  /  6.11  운영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애플리케이션 컨텍스트의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네임스페이스·속성·값</a:t>
            </a:r>
          </a:p>
          <a:p>
            <a:pPr algn="l">
              <a:spcAft>
                <a:spcPts val="800"/>
              </a:spcAft>
            </a:pPr>
            <a:r>
              <a:rPr sz="1600" b="0">
                <a:solidFill>
                  <a:srgbClr val="FFFFFF"/>
                </a:solidFill>
                <a:latin typeface="맑은 고딕"/>
              </a:rPr>
              <a:t>•  테이블 대신 컨텍스트를 쓰는 이유</a:t>
            </a:r>
          </a:p>
          <a:p>
            <a:pPr algn="l">
              <a:spcAft>
                <a:spcPts val="800"/>
              </a:spcAft>
            </a:pPr>
            <a:r>
              <a:rPr sz="1600" b="0">
                <a:solidFill>
                  <a:srgbClr val="FFFFFF"/>
                </a:solidFill>
                <a:latin typeface="맑은 고딕"/>
              </a:rPr>
              <a:t>•  세 가지 유형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세션에 붙는 이름표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네임스페이스 안에 이름=값을 담는다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네임스페이스: 값 묶음의 이름</a:t>
            </a:r>
          </a:p>
          <a:p>
            <a:pPr algn="l">
              <a:spcAft>
                <a:spcPts val="1000"/>
              </a:spcAft>
            </a:pPr>
            <a:r>
              <a:rPr sz="1700" b="0">
                <a:solidFill>
                  <a:srgbClr val="222222"/>
                </a:solidFill>
                <a:latin typeface="맑은 고딕"/>
              </a:rPr>
              <a:t>•  속성=값: 부서=90, 직급=과장 같은 쌍</a:t>
            </a:r>
          </a:p>
          <a:p>
            <a:pPr algn="l">
              <a:spcAft>
                <a:spcPts val="1000"/>
              </a:spcAft>
            </a:pPr>
            <a:r>
              <a:rPr sz="1700" b="0">
                <a:solidFill>
                  <a:srgbClr val="222222"/>
                </a:solidFill>
                <a:latin typeface="맑은 고딕"/>
              </a:rPr>
              <a:t>•  읽기: SYS_CONTEXT('네임스페이스','속성')</a:t>
            </a:r>
          </a:p>
          <a:p>
            <a:pPr algn="l">
              <a:spcAft>
                <a:spcPts val="1000"/>
              </a:spcAft>
            </a:pPr>
            <a:r>
              <a:rPr sz="1700" b="0">
                <a:solidFill>
                  <a:srgbClr val="222222"/>
                </a:solidFill>
                <a:latin typeface="맑은 고딕"/>
              </a:rPr>
              <a:t>•  쓰기: 지정된 신뢰 패키지만 가능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테이블이 아니라 컨텍스트인가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빠르고, 사용자가 바꿀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 문장마다 매핑 테이블 조회 비용이 없음</a:t>
            </a:r>
          </a:p>
          <a:p>
            <a:pPr algn="l">
              <a:spcAft>
                <a:spcPts val="1000"/>
              </a:spcAft>
            </a:pPr>
            <a:r>
              <a:rPr sz="1700" b="0">
                <a:solidFill>
                  <a:srgbClr val="222222"/>
                </a:solidFill>
                <a:latin typeface="맑은 고딕"/>
              </a:rPr>
              <a:t>•  값은 UGA 또는 SGA 메모리에서 읽음</a:t>
            </a:r>
          </a:p>
          <a:p>
            <a:pPr algn="l">
              <a:spcAft>
                <a:spcPts val="1000"/>
              </a:spcAft>
            </a:pPr>
            <a:r>
              <a:rPr sz="1700" b="0">
                <a:solidFill>
                  <a:srgbClr val="222222"/>
                </a:solidFill>
                <a:latin typeface="맑은 고딕"/>
              </a:rPr>
              <a:t>•  SYS_CONTEXT는 바인드처럼 취급되어 커서 공유</a:t>
            </a:r>
          </a:p>
          <a:p>
            <a:pPr algn="l">
              <a:spcAft>
                <a:spcPts val="1000"/>
              </a:spcAft>
            </a:pPr>
            <a:r>
              <a:rPr sz="1700" b="0">
                <a:solidFill>
                  <a:srgbClr val="222222"/>
                </a:solidFill>
                <a:latin typeface="맑은 고딕"/>
              </a:rPr>
              <a:t>•  값을 고치는 통로가 신뢰 패키지 하나뿐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컨텍스트를 읽는 곳</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값이 여러 보안 기능의 근거가 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보안 뷰의 WHERE 절 (6.6)</a:t>
            </a:r>
          </a:p>
          <a:p>
            <a:pPr algn="l">
              <a:spcAft>
                <a:spcPts val="1000"/>
              </a:spcAft>
            </a:pPr>
            <a:r>
              <a:rPr sz="1700" b="0">
                <a:solidFill>
                  <a:srgbClr val="222222"/>
                </a:solidFill>
                <a:latin typeface="맑은 고딕"/>
              </a:rPr>
              <a:t>•  VPD 정책 함수 (7장)</a:t>
            </a:r>
          </a:p>
          <a:p>
            <a:pPr algn="l">
              <a:spcAft>
                <a:spcPts val="1000"/>
              </a:spcAft>
            </a:pPr>
            <a:r>
              <a:rPr sz="1700" b="0">
                <a:solidFill>
                  <a:srgbClr val="222222"/>
                </a:solidFill>
                <a:latin typeface="맑은 고딕"/>
              </a:rPr>
              <a:t>•  Data Redaction 정책 식 (8장)</a:t>
            </a:r>
          </a:p>
          <a:p>
            <a:pPr algn="l">
              <a:spcAft>
                <a:spcPts val="1000"/>
              </a:spcAft>
            </a:pPr>
            <a:r>
              <a:rPr sz="1700" b="0">
                <a:solidFill>
                  <a:srgbClr val="222222"/>
                </a:solidFill>
                <a:latin typeface="맑은 고딕"/>
              </a:rPr>
              <a:t>•  Unified Auditing 정책 WHEN 절 (13장)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유형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저장 위치와 공유 범위가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세션 기반(ACCESSED LOCALLY): UGA, 그 세션만</a:t>
            </a:r>
          </a:p>
          <a:p>
            <a:pPr algn="l">
              <a:spcAft>
                <a:spcPts val="1000"/>
              </a:spcAft>
            </a:pPr>
            <a:r>
              <a:rPr sz="1700" b="0">
                <a:solidFill>
                  <a:srgbClr val="222222"/>
                </a:solidFill>
                <a:latin typeface="맑은 고딕"/>
              </a:rPr>
              <a:t>•  전역(ACCESSED GLOBALLY): SGA, 조건 맞는 세션</a:t>
            </a:r>
          </a:p>
          <a:p>
            <a:pPr algn="l">
              <a:spcAft>
                <a:spcPts val="1000"/>
              </a:spcAft>
            </a:pPr>
            <a:r>
              <a:rPr sz="1700" b="0">
                <a:solidFill>
                  <a:srgbClr val="222222"/>
                </a:solidFill>
                <a:latin typeface="맑은 고딕"/>
              </a:rPr>
              <a:t>•  클라이언트 세션 기반(CLIENTCONTEXT): OCI가 설정</a:t>
            </a:r>
          </a:p>
          <a:p>
            <a:pPr algn="l">
              <a:spcAft>
                <a:spcPts val="1000"/>
              </a:spcAft>
            </a:pPr>
            <a:r>
              <a:rPr sz="1700" b="0">
                <a:solidFill>
                  <a:srgbClr val="222222"/>
                </a:solidFill>
                <a:latin typeface="맑은 고딕"/>
              </a:rPr>
              <a:t>•  기본값은 세션 기반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기본 제공 네임스페이스 USERENV</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서버가 채우는 값과 클라이언트가 바꾸는 값</a:t>
            </a:r>
          </a:p>
          <a:p>
            <a:pPr algn="l">
              <a:spcAft>
                <a:spcPts val="800"/>
              </a:spcAft>
            </a:pPr>
            <a:r>
              <a:rPr sz="1600" b="0">
                <a:solidFill>
                  <a:srgbClr val="FFFFFF"/>
                </a:solidFill>
                <a:latin typeface="맑은 고딕"/>
              </a:rPr>
              <a:t>•  SYS_CONTEXT 함수의 동작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USERENV 주요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컨텍스트를 만들지 않아도 바로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SESSION_USER, AUTHENTICATION_METHOD: 서버</a:t>
            </a:r>
          </a:p>
          <a:p>
            <a:pPr algn="l">
              <a:spcAft>
                <a:spcPts val="1000"/>
              </a:spcAft>
            </a:pPr>
            <a:r>
              <a:rPr sz="1700" b="0">
                <a:solidFill>
                  <a:srgbClr val="222222"/>
                </a:solidFill>
                <a:latin typeface="맑은 고딕"/>
              </a:rPr>
              <a:t>•  IP_ADDRESS, PROXY_USER, SID: 서버</a:t>
            </a:r>
          </a:p>
          <a:p>
            <a:pPr algn="l">
              <a:spcAft>
                <a:spcPts val="1000"/>
              </a:spcAft>
            </a:pPr>
            <a:r>
              <a:rPr sz="1700" b="0">
                <a:solidFill>
                  <a:srgbClr val="222222"/>
                </a:solidFill>
                <a:latin typeface="맑은 고딕"/>
              </a:rPr>
              <a:t>•  CURRENT_SCHEMA: ALTER SESSION으로 변경</a:t>
            </a:r>
          </a:p>
          <a:p>
            <a:pPr algn="l">
              <a:spcAft>
                <a:spcPts val="1000"/>
              </a:spcAft>
            </a:pPr>
            <a:r>
              <a:rPr sz="1700" b="0">
                <a:solidFill>
                  <a:srgbClr val="222222"/>
                </a:solidFill>
                <a:latin typeface="맑은 고딕"/>
              </a:rPr>
              <a:t>•  CLIENT_IDENTIFIER, MODULE, ACTION: 클라이언트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클라이언트가 바꾸는 값</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추적에는 쓰고, 허용 근거로는 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SET_IDENTIFIER, SET_MODULE은 권한 없이 호출</a:t>
            </a:r>
          </a:p>
          <a:p>
            <a:pPr algn="l">
              <a:spcAft>
                <a:spcPts val="1000"/>
              </a:spcAft>
            </a:pPr>
            <a:r>
              <a:rPr sz="1700" b="0">
                <a:solidFill>
                  <a:srgbClr val="222222"/>
                </a:solidFill>
                <a:latin typeface="맑은 고딕"/>
              </a:rPr>
              <a:t>•  V$SESSION, 감사 기록에 그대로 남음</a:t>
            </a:r>
          </a:p>
          <a:p>
            <a:pPr algn="l">
              <a:spcAft>
                <a:spcPts val="1000"/>
              </a:spcAft>
            </a:pPr>
            <a:r>
              <a:rPr sz="1700" b="0">
                <a:solidFill>
                  <a:srgbClr val="222222"/>
                </a:solidFill>
                <a:latin typeface="맑은 고딕"/>
              </a:rPr>
              <a:t>•  MODULE 조건만으로 막으면 흉내 내서 우회</a:t>
            </a:r>
          </a:p>
          <a:p>
            <a:pPr algn="l">
              <a:spcAft>
                <a:spcPts val="1000"/>
              </a:spcAft>
            </a:pPr>
            <a:r>
              <a:rPr sz="1700" b="0">
                <a:solidFill>
                  <a:srgbClr val="222222"/>
                </a:solidFill>
                <a:latin typeface="맑은 고딕"/>
              </a:rPr>
              <a:t>•  서버 측 값과 함께 조건을 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SYS_CONTEXT의 동작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없는 이름이 오류가 되는지는 네임스페이스에 따라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USERENV의 없는 속성: ORA-02003</a:t>
            </a:r>
          </a:p>
          <a:p>
            <a:pPr algn="l">
              <a:spcAft>
                <a:spcPts val="1000"/>
              </a:spcAft>
            </a:pPr>
            <a:r>
              <a:rPr sz="1700" b="0">
                <a:solidFill>
                  <a:srgbClr val="222222"/>
                </a:solidFill>
                <a:latin typeface="맑은 고딕"/>
              </a:rPr>
              <a:t>•  사용자 네임스페이스의 없는 이름: NULL</a:t>
            </a:r>
          </a:p>
          <a:p>
            <a:pPr algn="l">
              <a:spcAft>
                <a:spcPts val="1000"/>
              </a:spcAft>
            </a:pPr>
            <a:r>
              <a:rPr sz="1700" b="0">
                <a:solidFill>
                  <a:srgbClr val="222222"/>
                </a:solidFill>
                <a:latin typeface="맑은 고딕"/>
              </a:rPr>
              <a:t>•  기본 반환 길이 256바이트, 최대 4000</a:t>
            </a:r>
          </a:p>
          <a:p>
            <a:pPr algn="l">
              <a:spcAft>
                <a:spcPts val="1000"/>
              </a:spcAft>
            </a:pPr>
            <a:r>
              <a:rPr sz="1700" b="0">
                <a:solidFill>
                  <a:srgbClr val="222222"/>
                </a:solidFill>
                <a:latin typeface="맑은 고딕"/>
              </a:rPr>
              <a:t>•  이름은 대소문자 구분 없음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세션 기반 컨텍스트 만들기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CREATE CONTEXT와 권한</a:t>
            </a:r>
          </a:p>
          <a:p>
            <a:pPr algn="l">
              <a:spcAft>
                <a:spcPts val="800"/>
              </a:spcAft>
            </a:pPr>
            <a:r>
              <a:rPr sz="1600" b="0">
                <a:solidFill>
                  <a:srgbClr val="FFFFFF"/>
                </a:solidFill>
                <a:latin typeface="맑은 고딕"/>
              </a:rPr>
              <a:t>•  신뢰 패키지와 DBMS_SESSION</a:t>
            </a:r>
          </a:p>
          <a:p>
            <a:pPr algn="l">
              <a:spcAft>
                <a:spcPts val="800"/>
              </a:spcAft>
            </a:pPr>
            <a:r>
              <a:rPr sz="1600" b="0">
                <a:solidFill>
                  <a:srgbClr val="FFFFFF"/>
                </a:solidFill>
                <a:latin typeface="맑은 고딕"/>
              </a:rPr>
              <a:t>•  세션 단위로 존재하는 값</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CREATE CONTEXT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이름과 신뢰 패키지를 연결한다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CONTEXT 이름 USING 스키마.패키지</a:t>
            </a:r>
          </a:p>
          <a:p>
            <a:pPr algn="l">
              <a:spcAft>
                <a:spcPts val="1000"/>
              </a:spcAft>
            </a:pPr>
            <a:r>
              <a:rPr sz="1700" b="0">
                <a:solidFill>
                  <a:srgbClr val="222222"/>
                </a:solidFill>
                <a:latin typeface="맑은 고딕"/>
              </a:rPr>
              <a:t>•  스키마 객체가 아님: CREATE ANY CONTEXT</a:t>
            </a:r>
          </a:p>
          <a:p>
            <a:pPr algn="l">
              <a:spcAft>
                <a:spcPts val="1000"/>
              </a:spcAft>
            </a:pPr>
            <a:r>
              <a:rPr sz="1700" b="0">
                <a:solidFill>
                  <a:srgbClr val="222222"/>
                </a:solidFill>
                <a:latin typeface="맑은 고딕"/>
              </a:rPr>
              <a:t>•  패키지보다 먼저 만들 수 있음</a:t>
            </a:r>
          </a:p>
          <a:p>
            <a:pPr algn="l">
              <a:spcAft>
                <a:spcPts val="1000"/>
              </a:spcAft>
            </a:pPr>
            <a:r>
              <a:rPr sz="1700" b="0">
                <a:solidFill>
                  <a:srgbClr val="222222"/>
                </a:solidFill>
                <a:latin typeface="맑은 고딕"/>
              </a:rPr>
              <a:t>•  이름 중복은 ORA-00955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보안 관리 계정에 모은다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 소유자와 분리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실습: ctxadm이 컨텍스트·패키지·뷰 소유</a:t>
            </a:r>
          </a:p>
          <a:p>
            <a:pPr algn="l">
              <a:spcAft>
                <a:spcPts val="1000"/>
              </a:spcAft>
            </a:pPr>
            <a:r>
              <a:rPr sz="1700" b="0">
                <a:solidFill>
                  <a:srgbClr val="222222"/>
                </a:solidFill>
                <a:latin typeface="맑은 고딕"/>
              </a:rPr>
              <a:t>•  원본: HR이 패키지 소유, ON DATABASE 트리거</a:t>
            </a:r>
          </a:p>
          <a:p>
            <a:pPr algn="l">
              <a:spcAft>
                <a:spcPts val="1000"/>
              </a:spcAft>
            </a:pPr>
            <a:r>
              <a:rPr sz="1700" b="0">
                <a:solidFill>
                  <a:srgbClr val="222222"/>
                </a:solidFill>
                <a:latin typeface="맑은 고딕"/>
              </a:rPr>
              <a:t>•  데이터 소유자는 자기 제한을 풀 수 있음</a:t>
            </a:r>
          </a:p>
          <a:p>
            <a:pPr algn="l">
              <a:spcAft>
                <a:spcPts val="1000"/>
              </a:spcAft>
            </a:pPr>
            <a:r>
              <a:rPr sz="1700" b="0">
                <a:solidFill>
                  <a:srgbClr val="222222"/>
                </a:solidFill>
                <a:latin typeface="맑은 고딕"/>
              </a:rPr>
              <a:t>•  보안 뷰 권한은 필요한 계정에만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신뢰 패키지와 SET_CONTEXT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호출 스택에 신뢰 패키지가 있어야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SET_CONTEXT(네임스페이스, 속성, 값)</a:t>
            </a:r>
          </a:p>
          <a:p>
            <a:pPr algn="l">
              <a:spcAft>
                <a:spcPts val="1000"/>
              </a:spcAft>
            </a:pPr>
            <a:r>
              <a:rPr sz="1700" b="0">
                <a:solidFill>
                  <a:srgbClr val="222222"/>
                </a:solidFill>
                <a:latin typeface="맑은 고딕"/>
              </a:rPr>
              <a:t>•  속성 128바이트, 값 4KB까지</a:t>
            </a:r>
          </a:p>
          <a:p>
            <a:pPr algn="l">
              <a:spcAft>
                <a:spcPts val="1000"/>
              </a:spcAft>
            </a:pPr>
            <a:r>
              <a:rPr sz="1700" b="0">
                <a:solidFill>
                  <a:srgbClr val="222222"/>
                </a:solidFill>
                <a:latin typeface="맑은 고딕"/>
              </a:rPr>
              <a:t>•  직접 호출하면 ORA-01031</a:t>
            </a:r>
          </a:p>
          <a:p>
            <a:pPr algn="l">
              <a:spcAft>
                <a:spcPts val="1000"/>
              </a:spcAft>
            </a:pPr>
            <a:r>
              <a:rPr sz="1700" b="0">
                <a:solidFill>
                  <a:srgbClr val="222222"/>
                </a:solidFill>
                <a:latin typeface="맑은 고딕"/>
              </a:rPr>
              <a:t>•  CLEAR_CONTEXT, CLEAR_ALL_CONTEXT로 삭제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패키지 설계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인자를 받을 것인가, 스스로 찾을 것인가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인자를 받는 패키지: 실행 권한이 곧 값 결정권</a:t>
            </a:r>
          </a:p>
          <a:p>
            <a:pPr algn="l">
              <a:spcAft>
                <a:spcPts val="1000"/>
              </a:spcAft>
            </a:pPr>
            <a:r>
              <a:rPr sz="1700" b="0">
                <a:solidFill>
                  <a:srgbClr val="222222"/>
                </a:solidFill>
                <a:latin typeface="맑은 고딕"/>
              </a:rPr>
              <a:t>•  실행 권한은 애플리케이션 계정에만</a:t>
            </a:r>
          </a:p>
          <a:p>
            <a:pPr algn="l">
              <a:spcAft>
                <a:spcPts val="1000"/>
              </a:spcAft>
            </a:pPr>
            <a:r>
              <a:rPr sz="1700" b="0">
                <a:solidFill>
                  <a:srgbClr val="222222"/>
                </a:solidFill>
                <a:latin typeface="맑은 고딕"/>
              </a:rPr>
              <a:t>•  직접 접속 환경: SESSION_USER로 스스로 조회</a:t>
            </a:r>
          </a:p>
          <a:p>
            <a:pPr algn="l">
              <a:spcAft>
                <a:spcPts val="1000"/>
              </a:spcAft>
            </a:pPr>
            <a:r>
              <a:rPr sz="1700" b="0">
                <a:solidFill>
                  <a:srgbClr val="222222"/>
                </a:solidFill>
                <a:latin typeface="맑은 고딕"/>
              </a:rPr>
              <a:t>•  속성 여러 개를 한 번에 채울 수 있음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값은 세션 단위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다른 세션에서는 보이지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넣은 세션: 보안 뷰 2건</a:t>
            </a:r>
          </a:p>
          <a:p>
            <a:pPr algn="l">
              <a:spcAft>
                <a:spcPts val="1000"/>
              </a:spcAft>
            </a:pPr>
            <a:r>
              <a:rPr sz="1700" b="0">
                <a:solidFill>
                  <a:srgbClr val="222222"/>
                </a:solidFill>
                <a:latin typeface="맑은 고딕"/>
              </a:rPr>
              <a:t>•  CONNECT로 새 세션: 0건</a:t>
            </a:r>
          </a:p>
          <a:p>
            <a:pPr algn="l">
              <a:spcAft>
                <a:spcPts val="1000"/>
              </a:spcAft>
            </a:pPr>
            <a:r>
              <a:rPr sz="1700" b="0">
                <a:solidFill>
                  <a:srgbClr val="222222"/>
                </a:solidFill>
                <a:latin typeface="맑은 고딕"/>
              </a:rPr>
              <a:t>•  현재 값 확인: SESSION_CONTEXT</a:t>
            </a:r>
          </a:p>
          <a:p>
            <a:pPr algn="l">
              <a:spcAft>
                <a:spcPts val="1000"/>
              </a:spcAft>
            </a:pPr>
            <a:r>
              <a:rPr sz="1700" b="0">
                <a:solidFill>
                  <a:srgbClr val="222222"/>
                </a:solidFill>
                <a:latin typeface="맑은 고딕"/>
              </a:rPr>
              <a:t>•  다른 세션 값은 DBA도 볼 수 없음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LOGON 트리거로 초기화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로그인 시점에 값 채우기</a:t>
            </a:r>
          </a:p>
          <a:p>
            <a:pPr algn="l">
              <a:spcAft>
                <a:spcPts val="800"/>
              </a:spcAft>
            </a:pPr>
            <a:r>
              <a:rPr sz="1600" b="0">
                <a:solidFill>
                  <a:srgbClr val="FFFFFF"/>
                </a:solidFill>
                <a:latin typeface="맑은 고딕"/>
              </a:rPr>
              <a:t>•  트리거 범위</a:t>
            </a:r>
          </a:p>
          <a:p>
            <a:pPr algn="l">
              <a:spcAft>
                <a:spcPts val="800"/>
              </a:spcAft>
            </a:pPr>
            <a:r>
              <a:rPr sz="1600" b="0">
                <a:solidFill>
                  <a:srgbClr val="FFFFFF"/>
                </a:solidFill>
                <a:latin typeface="맑은 고딕"/>
              </a:rPr>
              <a:t>•  트리거 오류는 로그인 장애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로그인 직후 자동 설정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사용자는 값을 정할 기회가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인증 통과 → AFTER LOGON 트리거</a:t>
            </a:r>
          </a:p>
          <a:p>
            <a:pPr algn="l">
              <a:spcAft>
                <a:spcPts val="1000"/>
              </a:spcAft>
            </a:pPr>
            <a:r>
              <a:rPr sz="1700" b="0">
                <a:solidFill>
                  <a:srgbClr val="222222"/>
                </a:solidFill>
                <a:latin typeface="맑은 고딕"/>
              </a:rPr>
              <a:t>•  트리거가 신뢰 패키지 호출</a:t>
            </a:r>
          </a:p>
          <a:p>
            <a:pPr algn="l">
              <a:spcAft>
                <a:spcPts val="1000"/>
              </a:spcAft>
            </a:pPr>
            <a:r>
              <a:rPr sz="1700" b="0">
                <a:solidFill>
                  <a:srgbClr val="222222"/>
                </a:solidFill>
                <a:latin typeface="맑은 고딕"/>
              </a:rPr>
              <a:t>•  패키지가 매핑 테이블에서 부서 조회</a:t>
            </a:r>
          </a:p>
          <a:p>
            <a:pPr algn="l">
              <a:spcAft>
                <a:spcPts val="1000"/>
              </a:spcAft>
            </a:pPr>
            <a:r>
              <a:rPr sz="1700" b="0">
                <a:solidFill>
                  <a:srgbClr val="222222"/>
                </a:solidFill>
                <a:latin typeface="맑은 고딕"/>
              </a:rPr>
              <a:t>•  첫 SQL부터 보안 뷰·VPD가 값 사용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DATABASE 트리거와 SCHEMA 트리거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범위를 좁힐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ON DATABASE: 모든 로그인, ADMINISTER DATABASE TRIGGER</a:t>
            </a:r>
          </a:p>
          <a:p>
            <a:pPr algn="l">
              <a:spcAft>
                <a:spcPts val="1000"/>
              </a:spcAft>
            </a:pPr>
            <a:r>
              <a:rPr sz="1700" b="0">
                <a:solidFill>
                  <a:srgbClr val="222222"/>
                </a:solidFill>
                <a:latin typeface="맑은 고딕"/>
              </a:rPr>
              <a:t>•  ON 사용자.SCHEMA: 그 사용자 로그인만</a:t>
            </a:r>
          </a:p>
          <a:p>
            <a:pPr algn="l">
              <a:spcAft>
                <a:spcPts val="1000"/>
              </a:spcAft>
            </a:pPr>
            <a:r>
              <a:rPr sz="1700" b="0">
                <a:solidFill>
                  <a:srgbClr val="222222"/>
                </a:solidFill>
                <a:latin typeface="맑은 고딕"/>
              </a:rPr>
              <a:t>•  다른 스키마에 걸려면 CREATE ANY TRIGGER</a:t>
            </a:r>
          </a:p>
          <a:p>
            <a:pPr algn="l">
              <a:spcAft>
                <a:spcPts val="1000"/>
              </a:spcAft>
            </a:pPr>
            <a:r>
              <a:rPr sz="1700" b="0">
                <a:solidFill>
                  <a:srgbClr val="222222"/>
                </a:solidFill>
                <a:latin typeface="맑은 고딕"/>
              </a:rPr>
              <a:t>•  트리거 안에서는 패키지 호출 하나만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트리거 오류는 로그인 장애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ORA-04088 + ORA-01403</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매핑 없는 c6_nomap 로그인 거부</a:t>
            </a:r>
          </a:p>
          <a:p>
            <a:pPr algn="l">
              <a:spcAft>
                <a:spcPts val="1000"/>
              </a:spcAft>
            </a:pPr>
            <a:r>
              <a:rPr sz="1700" b="0">
                <a:solidFill>
                  <a:srgbClr val="222222"/>
                </a:solidFill>
                <a:latin typeface="맑은 고딕"/>
              </a:rPr>
              <a:t>•  처리되지 않은 예외가 그대로 올라옴</a:t>
            </a:r>
          </a:p>
          <a:p>
            <a:pPr algn="l">
              <a:spcAft>
                <a:spcPts val="1000"/>
              </a:spcAft>
            </a:pPr>
            <a:r>
              <a:rPr sz="1700" b="0">
                <a:solidFill>
                  <a:srgbClr val="222222"/>
                </a:solidFill>
                <a:latin typeface="맑은 고딕"/>
              </a:rPr>
              <a:t>•  ADMINISTER DATABASE TRIGGER 보유자는 접속됨</a:t>
            </a:r>
          </a:p>
          <a:p>
            <a:pPr algn="l">
              <a:spcAft>
                <a:spcPts val="1000"/>
              </a:spcAft>
            </a:pPr>
            <a:r>
              <a:rPr sz="1700" b="0">
                <a:solidFill>
                  <a:srgbClr val="222222"/>
                </a:solidFill>
                <a:latin typeface="맑은 고딕"/>
              </a:rPr>
              <a:t>•  예외 처리 후: 로그인 성공, 컨텍스트 비어 0건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초기화 방식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접속 구조에 맞춰 고른다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LOGON 트리거: 사용자마다 DB 계정</a:t>
            </a:r>
          </a:p>
          <a:p>
            <a:pPr algn="l">
              <a:spcAft>
                <a:spcPts val="1000"/>
              </a:spcAft>
            </a:pPr>
            <a:r>
              <a:rPr sz="1700" b="0">
                <a:solidFill>
                  <a:srgbClr val="222222"/>
                </a:solidFill>
                <a:latin typeface="맑은 고딕"/>
              </a:rPr>
              <a:t>•  애플리케이션 호출: 앱이 사용자 인증</a:t>
            </a:r>
          </a:p>
          <a:p>
            <a:pPr algn="l">
              <a:spcAft>
                <a:spcPts val="1000"/>
              </a:spcAft>
            </a:pPr>
            <a:r>
              <a:rPr sz="1700" b="0">
                <a:solidFill>
                  <a:srgbClr val="222222"/>
                </a:solidFill>
                <a:latin typeface="맑은 고딕"/>
              </a:rPr>
              <a:t>•  INITIALIZED EXTERNALLY: OCI 접속 시</a:t>
            </a:r>
          </a:p>
          <a:p>
            <a:pPr algn="l">
              <a:spcAft>
                <a:spcPts val="1000"/>
              </a:spcAft>
            </a:pPr>
            <a:r>
              <a:rPr sz="1700" b="0">
                <a:solidFill>
                  <a:srgbClr val="222222"/>
                </a:solidFill>
                <a:latin typeface="맑은 고딕"/>
              </a:rPr>
              <a:t>•  INITIALIZED GLOBALLY: LDAP 사용자 속성</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컨텍스트를 쓰는 보안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WHERE 절의 SYS_CONTEXT</a:t>
            </a:r>
          </a:p>
          <a:p>
            <a:pPr algn="l">
              <a:spcAft>
                <a:spcPts val="800"/>
              </a:spcAft>
            </a:pPr>
            <a:r>
              <a:rPr sz="1600" b="0">
                <a:solidFill>
                  <a:srgbClr val="FFFFFF"/>
                </a:solidFill>
                <a:latin typeface="맑은 고딕"/>
              </a:rPr>
              <a:t>•  보안 뷰와 VPD</a:t>
            </a:r>
          </a:p>
          <a:p>
            <a:pPr algn="l">
              <a:spcAft>
                <a:spcPts val="800"/>
              </a:spcAft>
            </a:pPr>
            <a:r>
              <a:rPr sz="1600" b="0">
                <a:solidFill>
                  <a:srgbClr val="FFFFFF"/>
                </a:solidFill>
                <a:latin typeface="맑은 고딕"/>
              </a:rPr>
              <a:t>•  뷰를 통한 DML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보안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뷰 하나가 세션마다 다른 행을 보여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WHERE 컬럼 = SYS_CONTEXT('ctx','attr')</a:t>
            </a:r>
          </a:p>
          <a:p>
            <a:pPr algn="l">
              <a:spcAft>
                <a:spcPts val="1000"/>
              </a:spcAft>
            </a:pPr>
            <a:r>
              <a:rPr sz="1700" b="0">
                <a:solidFill>
                  <a:srgbClr val="222222"/>
                </a:solidFill>
                <a:latin typeface="맑은 고딕"/>
              </a:rPr>
              <a:t>•  사용자에게는 뷰 권한만 부여</a:t>
            </a:r>
          </a:p>
          <a:p>
            <a:pPr algn="l">
              <a:spcAft>
                <a:spcPts val="1000"/>
              </a:spcAft>
            </a:pPr>
            <a:r>
              <a:rPr sz="1700" b="0">
                <a:solidFill>
                  <a:srgbClr val="222222"/>
                </a:solidFill>
                <a:latin typeface="맑은 고딕"/>
              </a:rPr>
              <a:t>•  값이 없으면 컬럼 = NULL → 0건</a:t>
            </a:r>
          </a:p>
          <a:p>
            <a:pPr algn="l">
              <a:spcAft>
                <a:spcPts val="1000"/>
              </a:spcAft>
            </a:pPr>
            <a:r>
              <a:rPr sz="1700" b="0">
                <a:solidFill>
                  <a:srgbClr val="222222"/>
                </a:solidFill>
                <a:latin typeface="맑은 고딕"/>
              </a:rPr>
              <a:t>•  뷰 소유자는 WITH GRANT OPTION 필요</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보안 뷰와 VPD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원본 테이블 권한이 갈림길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보안 뷰: 원본 권한 있으면 우회 가능</a:t>
            </a:r>
          </a:p>
          <a:p>
            <a:pPr algn="l">
              <a:spcAft>
                <a:spcPts val="1000"/>
              </a:spcAft>
            </a:pPr>
            <a:r>
              <a:rPr sz="1700" b="0">
                <a:solidFill>
                  <a:srgbClr val="222222"/>
                </a:solidFill>
                <a:latin typeface="맑은 고딕"/>
              </a:rPr>
              <a:t>•  VPD: 원본 테이블에 정책이 붙음</a:t>
            </a:r>
          </a:p>
          <a:p>
            <a:pPr algn="l">
              <a:spcAft>
                <a:spcPts val="1000"/>
              </a:spcAft>
            </a:pPr>
            <a:r>
              <a:rPr sz="1700" b="0">
                <a:solidFill>
                  <a:srgbClr val="222222"/>
                </a:solidFill>
                <a:latin typeface="맑은 고딕"/>
              </a:rPr>
              <a:t>•  컨텍스트는 두 방식에서 똑같이 읽음</a:t>
            </a:r>
          </a:p>
          <a:p>
            <a:pPr algn="l">
              <a:spcAft>
                <a:spcPts val="1000"/>
              </a:spcAft>
            </a:pPr>
            <a:r>
              <a:rPr sz="1700" b="0">
                <a:solidFill>
                  <a:srgbClr val="222222"/>
                </a:solidFill>
                <a:latin typeface="맑은 고딕"/>
              </a:rPr>
              <a:t>•  뷰는 모든 에디션, VPD는 EE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뷰를 통한 DML과 성능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WITH CHECK OPTION, 바인드처럼 동작</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조건 밖 행 INSERT 가능 → 보이지 않는 행</a:t>
            </a:r>
          </a:p>
          <a:p>
            <a:pPr algn="l">
              <a:spcAft>
                <a:spcPts val="1000"/>
              </a:spcAft>
            </a:pPr>
            <a:r>
              <a:rPr sz="1700" b="0">
                <a:solidFill>
                  <a:srgbClr val="222222"/>
                </a:solidFill>
                <a:latin typeface="맑은 고딕"/>
              </a:rPr>
              <a:t>•  WITH CHECK OPTION: ORA-01402로 거부</a:t>
            </a:r>
          </a:p>
          <a:p>
            <a:pPr algn="l">
              <a:spcAft>
                <a:spcPts val="1000"/>
              </a:spcAft>
            </a:pPr>
            <a:r>
              <a:rPr sz="1700" b="0">
                <a:solidFill>
                  <a:srgbClr val="222222"/>
                </a:solidFill>
                <a:latin typeface="맑은 고딕"/>
              </a:rPr>
              <a:t>•  조회 전용이면 WITH READ ONLY</a:t>
            </a:r>
          </a:p>
          <a:p>
            <a:pPr algn="l">
              <a:spcAft>
                <a:spcPts val="1000"/>
              </a:spcAft>
            </a:pPr>
            <a:r>
              <a:rPr sz="1700" b="0">
                <a:solidFill>
                  <a:srgbClr val="222222"/>
                </a:solidFill>
                <a:latin typeface="맑은 고딕"/>
              </a:rPr>
              <a:t>•  SYS_CONTEXT 비교도 인덱스 사용 가능</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전역 접근 컨텍스트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SGA에 저장되는 값</a:t>
            </a:r>
          </a:p>
          <a:p>
            <a:pPr algn="l">
              <a:spcAft>
                <a:spcPts val="800"/>
              </a:spcAft>
            </a:pPr>
            <a:r>
              <a:rPr sz="1600" b="0">
                <a:solidFill>
                  <a:srgbClr val="FFFFFF"/>
                </a:solidFill>
                <a:latin typeface="맑은 고딕"/>
              </a:rPr>
              <a:t>•  username·client_id가 정하는 범위</a:t>
            </a:r>
          </a:p>
          <a:p>
            <a:pPr algn="l">
              <a:spcAft>
                <a:spcPts val="800"/>
              </a:spcAft>
            </a:pPr>
            <a:r>
              <a:rPr sz="1600" b="0">
                <a:solidFill>
                  <a:srgbClr val="FFFFFF"/>
                </a:solidFill>
                <a:latin typeface="맑은 고딕"/>
              </a:rPr>
              <a:t>•  연결 풀 모델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ACCESSED GLOBALLY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세션이 끝나도 값이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값은 SGA에 저장</a:t>
            </a:r>
          </a:p>
          <a:p>
            <a:pPr algn="l">
              <a:spcAft>
                <a:spcPts val="1000"/>
              </a:spcAft>
            </a:pPr>
            <a:r>
              <a:rPr sz="1700" b="0">
                <a:solidFill>
                  <a:srgbClr val="222222"/>
                </a:solidFill>
                <a:latin typeface="맑은 고딕"/>
              </a:rPr>
              <a:t>•  연결 풀 애플리케이션을 위한 구조</a:t>
            </a:r>
          </a:p>
          <a:p>
            <a:pPr algn="l">
              <a:spcAft>
                <a:spcPts val="1000"/>
              </a:spcAft>
            </a:pPr>
            <a:r>
              <a:rPr sz="1700" b="0">
                <a:solidFill>
                  <a:srgbClr val="222222"/>
                </a:solidFill>
                <a:latin typeface="맑은 고딕"/>
              </a:rPr>
              <a:t>•  사용자당 한 번 초기화, 어느 풀 세션에서나 읽음</a:t>
            </a:r>
          </a:p>
          <a:p>
            <a:pPr algn="l">
              <a:spcAft>
                <a:spcPts val="1000"/>
              </a:spcAft>
            </a:pPr>
            <a:r>
              <a:rPr sz="1700" b="0">
                <a:solidFill>
                  <a:srgbClr val="222222"/>
                </a:solidFill>
                <a:latin typeface="맑은 고딕"/>
              </a:rPr>
              <a:t>•  인스턴스 재기동 시 사라짐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공개 범위를 정하는 두 인자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username과 client_id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둘 다 NULL: 모든 세션</a:t>
            </a:r>
          </a:p>
          <a:p>
            <a:pPr algn="l">
              <a:spcAft>
                <a:spcPts val="1000"/>
              </a:spcAft>
            </a:pPr>
            <a:r>
              <a:rPr sz="1700" b="0">
                <a:solidFill>
                  <a:srgbClr val="222222"/>
                </a:solidFill>
                <a:latin typeface="맑은 고딕"/>
              </a:rPr>
              <a:t>•  username만: 그 DB 사용자의 모든 세션</a:t>
            </a:r>
          </a:p>
          <a:p>
            <a:pPr algn="l">
              <a:spcAft>
                <a:spcPts val="1000"/>
              </a:spcAft>
            </a:pPr>
            <a:r>
              <a:rPr sz="1700" b="0">
                <a:solidFill>
                  <a:srgbClr val="222222"/>
                </a:solidFill>
                <a:latin typeface="맑은 고딕"/>
              </a:rPr>
              <a:t>•  client_id만: 같은 식별자의 모든 세션</a:t>
            </a:r>
          </a:p>
          <a:p>
            <a:pPr algn="l">
              <a:spcAft>
                <a:spcPts val="1000"/>
              </a:spcAft>
            </a:pPr>
            <a:r>
              <a:rPr sz="1700" b="0">
                <a:solidFill>
                  <a:srgbClr val="222222"/>
                </a:solidFill>
                <a:latin typeface="맑은 고딕"/>
              </a:rPr>
              <a:t>•  둘 다: 그 사용자이면서 같은 식별자</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원본 방식의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마지막에 넣은 값이 모두에게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c6_king이 90 설정</a:t>
            </a:r>
          </a:p>
          <a:p>
            <a:pPr algn="l">
              <a:spcAft>
                <a:spcPts val="1000"/>
              </a:spcAft>
            </a:pPr>
            <a:r>
              <a:rPr sz="1700" b="0">
                <a:solidFill>
                  <a:srgbClr val="222222"/>
                </a:solidFill>
                <a:latin typeface="맑은 고딕"/>
              </a:rPr>
              <a:t>•  아무것도 안 한 c6_hunold, c6_nomap도 90</a:t>
            </a:r>
          </a:p>
          <a:p>
            <a:pPr algn="l">
              <a:spcAft>
                <a:spcPts val="1000"/>
              </a:spcAft>
            </a:pPr>
            <a:r>
              <a:rPr sz="1700" b="0">
                <a:solidFill>
                  <a:srgbClr val="222222"/>
                </a:solidFill>
                <a:latin typeface="맑은 고딕"/>
              </a:rPr>
              <a:t>•  c6_hunold가 60 설정 → c6_king도 60</a:t>
            </a:r>
          </a:p>
          <a:p>
            <a:pPr algn="l">
              <a:spcAft>
                <a:spcPts val="1000"/>
              </a:spcAft>
            </a:pPr>
            <a:r>
              <a:rPr sz="1700" b="0">
                <a:solidFill>
                  <a:srgbClr val="222222"/>
                </a:solidFill>
                <a:latin typeface="맑은 고딕"/>
              </a:rPr>
              <a:t>•  LOGON 트리거와 결합하면 마지막 로그인 사용자 기준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연결 풀 모델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풀 계정 하나 + CLIENT_IDENTIFIER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로그인 시: username=풀 계정, client_id=사용자로 값 저장</a:t>
            </a:r>
          </a:p>
          <a:p>
            <a:pPr algn="l">
              <a:spcAft>
                <a:spcPts val="1000"/>
              </a:spcAft>
            </a:pPr>
            <a:r>
              <a:rPr sz="1700" b="0">
                <a:solidFill>
                  <a:srgbClr val="222222"/>
                </a:solidFill>
                <a:latin typeface="맑은 고딕"/>
              </a:rPr>
              <a:t>•  요청 시작: SET_IDENTIFIER(사용자)</a:t>
            </a:r>
          </a:p>
          <a:p>
            <a:pPr algn="l">
              <a:spcAft>
                <a:spcPts val="1000"/>
              </a:spcAft>
            </a:pPr>
            <a:r>
              <a:rPr sz="1700" b="0">
                <a:solidFill>
                  <a:srgbClr val="222222"/>
                </a:solidFill>
                <a:latin typeface="맑은 고딕"/>
              </a:rPr>
              <a:t>•  요청 종료: CLEAR_IDENTIFIER</a:t>
            </a:r>
          </a:p>
          <a:p>
            <a:pPr algn="l">
              <a:spcAft>
                <a:spcPts val="1000"/>
              </a:spcAft>
            </a:pPr>
            <a:r>
              <a:rPr sz="1700" b="0">
                <a:solidFill>
                  <a:srgbClr val="222222"/>
                </a:solidFill>
                <a:latin typeface="맑은 고딕"/>
              </a:rPr>
              <a:t>•  다른 DB 계정은 같은 식별자로도 못 읽음</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19.3에서 관찰한 두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매뉴얼 표기와 실제가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FLUSH GLOBAL_CONTEXT(밑줄): ORA-02000</a:t>
            </a:r>
          </a:p>
          <a:p>
            <a:pPr algn="l">
              <a:spcAft>
                <a:spcPts val="1000"/>
              </a:spcAft>
            </a:pPr>
            <a:r>
              <a:rPr sz="1700" b="0">
                <a:solidFill>
                  <a:srgbClr val="222222"/>
                </a:solidFill>
                <a:latin typeface="맑은 고딕"/>
              </a:rPr>
              <a:t>•  올바른 문법: FLUSH GLOBAL CONTEXT(공백)</a:t>
            </a:r>
          </a:p>
          <a:p>
            <a:pPr algn="l">
              <a:spcAft>
                <a:spcPts val="1000"/>
              </a:spcAft>
            </a:pPr>
            <a:r>
              <a:rPr sz="1700" b="0">
                <a:solidFill>
                  <a:srgbClr val="222222"/>
                </a:solidFill>
                <a:latin typeface="맑은 고딕"/>
              </a:rPr>
              <a:t>•  일반 사용자는 ORA-01031</a:t>
            </a:r>
          </a:p>
          <a:p>
            <a:pPr algn="l">
              <a:spcAft>
                <a:spcPts val="1000"/>
              </a:spcAft>
            </a:pPr>
            <a:r>
              <a:rPr sz="1700" b="0">
                <a:solidFill>
                  <a:srgbClr val="222222"/>
                </a:solidFill>
                <a:latin typeface="맑은 고딕"/>
              </a:rPr>
              <a:t>•  client_id: 대소문자 구분 없이 일치(ARPLS와 다름)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세션 기반과 전역 중 고르기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애매하면 세션 기반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전용 접속: 세션 기반</a:t>
            </a:r>
          </a:p>
          <a:p>
            <a:pPr algn="l">
              <a:spcAft>
                <a:spcPts val="1000"/>
              </a:spcAft>
            </a:pPr>
            <a:r>
              <a:rPr sz="1700" b="0">
                <a:solidFill>
                  <a:srgbClr val="222222"/>
                </a:solidFill>
                <a:latin typeface="맑은 고딕"/>
              </a:rPr>
              <a:t>•  풀 계정 공유 + 비싼 초기화: 전역</a:t>
            </a:r>
          </a:p>
          <a:p>
            <a:pPr algn="l">
              <a:spcAft>
                <a:spcPts val="1000"/>
              </a:spcAft>
            </a:pPr>
            <a:r>
              <a:rPr sz="1700" b="0">
                <a:solidFill>
                  <a:srgbClr val="222222"/>
                </a:solidFill>
                <a:latin typeface="맑은 고딕"/>
              </a:rPr>
              <a:t>•  값이 새면 안 됨: 세션 기반이 구조적으로 안전</a:t>
            </a:r>
          </a:p>
          <a:p>
            <a:pPr algn="l">
              <a:spcAft>
                <a:spcPts val="1000"/>
              </a:spcAft>
            </a:pPr>
            <a:r>
              <a:rPr sz="1700" b="0">
                <a:solidFill>
                  <a:srgbClr val="222222"/>
                </a:solidFill>
                <a:latin typeface="맑은 고딕"/>
              </a:rPr>
              <a:t>•  재기동 후: 전역은 앱이 다시 초기화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클라이언트 세션 기반과 외부 초기화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CLIENTCONTEXT</a:t>
            </a:r>
          </a:p>
          <a:p>
            <a:pPr algn="l">
              <a:spcAft>
                <a:spcPts val="800"/>
              </a:spcAft>
            </a:pPr>
            <a:r>
              <a:rPr sz="1600" b="0">
                <a:solidFill>
                  <a:srgbClr val="FFFFFF"/>
                </a:solidFill>
                <a:latin typeface="맑은 고딕"/>
              </a:rPr>
              <a:t>•  INITIALIZED EXTERNALLY / GLOBALLY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신뢰 수준이 다른 초기화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값을 넣는가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신뢰 패키지: DB 안의 코드</a:t>
            </a:r>
          </a:p>
          <a:p>
            <a:pPr algn="l">
              <a:spcAft>
                <a:spcPts val="1000"/>
              </a:spcAft>
            </a:pPr>
            <a:r>
              <a:rPr sz="1700" b="0">
                <a:solidFill>
                  <a:srgbClr val="222222"/>
                </a:solidFill>
                <a:latin typeface="맑은 고딕"/>
              </a:rPr>
              <a:t>•  INITIALIZED GLOBALLY: 디렉터리 서버(LDAP)</a:t>
            </a:r>
          </a:p>
          <a:p>
            <a:pPr algn="l">
              <a:spcAft>
                <a:spcPts val="1000"/>
              </a:spcAft>
            </a:pPr>
            <a:r>
              <a:rPr sz="1700" b="0">
                <a:solidFill>
                  <a:srgbClr val="222222"/>
                </a:solidFill>
                <a:latin typeface="맑은 고딕"/>
              </a:rPr>
              <a:t>•  INITIALIZED EXTERNALLY: OCI 접속 처리</a:t>
            </a:r>
          </a:p>
          <a:p>
            <a:pPr algn="l">
              <a:spcAft>
                <a:spcPts val="1000"/>
              </a:spcAft>
            </a:pPr>
            <a:r>
              <a:rPr sz="1700" b="0">
                <a:solidFill>
                  <a:srgbClr val="222222"/>
                </a:solidFill>
                <a:latin typeface="맑은 고딕"/>
              </a:rPr>
              <a:t>•  CLIENTCONTEXT: OCI 클라이언트가 임의 설정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컨텍스트 관리와 데이터 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정의 변경과 삭제</a:t>
            </a:r>
          </a:p>
          <a:p>
            <a:pPr algn="l">
              <a:spcAft>
                <a:spcPts val="800"/>
              </a:spcAft>
            </a:pPr>
            <a:r>
              <a:rPr sz="1600" b="0">
                <a:solidFill>
                  <a:srgbClr val="FFFFFF"/>
                </a:solidFill>
                <a:latin typeface="맑은 고딕"/>
              </a:rPr>
              <a:t>•  정의와 현재 값을 보는 뷰</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CREATE OR REPLACE와 DROP</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유형 변경은 코드 변경 없이 동작을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이름 CREATE: ORA-00955</a:t>
            </a:r>
          </a:p>
          <a:p>
            <a:pPr algn="l">
              <a:spcAft>
                <a:spcPts val="1000"/>
              </a:spcAft>
            </a:pPr>
            <a:r>
              <a:rPr sz="1700" b="0">
                <a:solidFill>
                  <a:srgbClr val="222222"/>
                </a:solidFill>
                <a:latin typeface="맑은 고딕"/>
              </a:rPr>
              <a:t>•  OR REPLACE: 패키지·유형을 한 번에 변경</a:t>
            </a:r>
          </a:p>
          <a:p>
            <a:pPr algn="l">
              <a:spcAft>
                <a:spcPts val="1000"/>
              </a:spcAft>
            </a:pPr>
            <a:r>
              <a:rPr sz="1700" b="0">
                <a:solidFill>
                  <a:srgbClr val="222222"/>
                </a:solidFill>
                <a:latin typeface="맑은 고딕"/>
              </a:rPr>
              <a:t>•  LOCALLY → GLOBALLY: 값이 세션을 넘어 공유</a:t>
            </a:r>
          </a:p>
          <a:p>
            <a:pPr algn="l">
              <a:spcAft>
                <a:spcPts val="1000"/>
              </a:spcAft>
            </a:pPr>
            <a:r>
              <a:rPr sz="1700" b="0">
                <a:solidFill>
                  <a:srgbClr val="222222"/>
                </a:solidFill>
                <a:latin typeface="맑은 고딕"/>
              </a:rPr>
              <a:t>•  DROP CONTEXT는 따로, 사용처는 조용히 0건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정의와 값을 보는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GLOBAL_CONTEXT는 내가 볼 수 있는 것만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DBA_CONTEXT: 이름, 신뢰 패키지, 유형</a:t>
            </a:r>
          </a:p>
          <a:p>
            <a:pPr algn="l">
              <a:spcAft>
                <a:spcPts val="1000"/>
              </a:spcAft>
            </a:pPr>
            <a:r>
              <a:rPr sz="1700" b="0">
                <a:solidFill>
                  <a:srgbClr val="222222"/>
                </a:solidFill>
                <a:latin typeface="맑은 고딕"/>
              </a:rPr>
              <a:t>•  SESSION_CONTEXT, V$CONTEXT: 현재 세션 값</a:t>
            </a:r>
          </a:p>
          <a:p>
            <a:pPr algn="l">
              <a:spcAft>
                <a:spcPts val="1000"/>
              </a:spcAft>
            </a:pPr>
            <a:r>
              <a:rPr sz="1700" b="0">
                <a:solidFill>
                  <a:srgbClr val="222222"/>
                </a:solidFill>
                <a:latin typeface="맑은 고딕"/>
              </a:rPr>
              <a:t>•  GLOBAL_CONTEXT: 현재 세션에 보이는 전역 값</a:t>
            </a:r>
          </a:p>
          <a:p>
            <a:pPr algn="l">
              <a:spcAft>
                <a:spcPts val="1000"/>
              </a:spcAft>
            </a:pPr>
            <a:r>
              <a:rPr sz="1700" b="0">
                <a:solidFill>
                  <a:srgbClr val="222222"/>
                </a:solidFill>
                <a:latin typeface="맑은 고딕"/>
              </a:rPr>
              <a:t>•  SYS로도 username·client_id 지정 값은 안 보임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설계 절차와 운영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적용 순서</a:t>
            </a:r>
          </a:p>
          <a:p>
            <a:pPr algn="l">
              <a:spcAft>
                <a:spcPts val="800"/>
              </a:spcAft>
            </a:pPr>
            <a:r>
              <a:rPr sz="1600" b="0">
                <a:solidFill>
                  <a:srgbClr val="FFFFFF"/>
                </a:solidFill>
                <a:latin typeface="맑은 고딕"/>
              </a:rPr>
              <a:t>•  운영 시 주의점</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트리거는 패키지가 VALID한 뒤에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보안 관리 계정 → 매핑 → 유형 결정</a:t>
            </a:r>
          </a:p>
          <a:p>
            <a:pPr algn="l">
              <a:spcAft>
                <a:spcPts val="1000"/>
              </a:spcAft>
            </a:pPr>
            <a:r>
              <a:rPr sz="1700" b="0">
                <a:solidFill>
                  <a:srgbClr val="222222"/>
                </a:solidFill>
                <a:latin typeface="맑은 고딕"/>
              </a:rPr>
              <a:t>•  컨텍스트 생성 → 신뢰 패키지</a:t>
            </a:r>
          </a:p>
          <a:p>
            <a:pPr algn="l">
              <a:spcAft>
                <a:spcPts val="1000"/>
              </a:spcAft>
            </a:pPr>
            <a:r>
              <a:rPr sz="1700" b="0">
                <a:solidFill>
                  <a:srgbClr val="222222"/>
                </a:solidFill>
                <a:latin typeface="맑은 고딕"/>
              </a:rPr>
              <a:t>•  초기화 경로(트리거 또는 앱) 연결</a:t>
            </a:r>
          </a:p>
          <a:p>
            <a:pPr algn="l">
              <a:spcAft>
                <a:spcPts val="1000"/>
              </a:spcAft>
            </a:pPr>
            <a:r>
              <a:rPr sz="1700" b="0">
                <a:solidFill>
                  <a:srgbClr val="222222"/>
                </a:solidFill>
                <a:latin typeface="맑은 고딕"/>
              </a:rPr>
              <a:t>•  매핑 없는 사용자, 식별자 없는 세션까지 시험</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바꿀 때는 빠져나갈 세션을 열어 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트리거·패키지 변경 시 DBA 세션 유지</a:t>
            </a:r>
          </a:p>
          <a:p>
            <a:pPr algn="l">
              <a:spcAft>
                <a:spcPts val="1000"/>
              </a:spcAft>
            </a:pPr>
            <a:r>
              <a:rPr sz="1700" b="0">
                <a:solidFill>
                  <a:srgbClr val="222222"/>
                </a:solidFill>
                <a:latin typeface="맑은 고딕"/>
              </a:rPr>
              <a:t>•  매핑 변경은 기존 세션에 반영 안 됨</a:t>
            </a:r>
          </a:p>
          <a:p>
            <a:pPr algn="l">
              <a:spcAft>
                <a:spcPts val="1000"/>
              </a:spcAft>
            </a:pPr>
            <a:r>
              <a:rPr sz="1700" b="0">
                <a:solidFill>
                  <a:srgbClr val="222222"/>
                </a:solidFill>
                <a:latin typeface="맑은 고딕"/>
              </a:rPr>
              <a:t>•  전역 값은 재기동 후 재초기화</a:t>
            </a:r>
          </a:p>
          <a:p>
            <a:pPr algn="l">
              <a:spcAft>
                <a:spcPts val="1000"/>
              </a:spcAft>
            </a:pPr>
            <a:r>
              <a:rPr sz="1700" b="0">
                <a:solidFill>
                  <a:srgbClr val="222222"/>
                </a:solidFill>
                <a:latin typeface="맑은 고딕"/>
              </a:rPr>
              <a:t>•  컨텍스트 이름에 애플리케이션 접두어</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컨텍스트 = 네임스페이스·속성·값, 쓰기는 신뢰 패키지만</a:t>
            </a:r>
          </a:p>
          <a:p>
            <a:pPr algn="l">
              <a:spcAft>
                <a:spcPts val="1000"/>
              </a:spcAft>
            </a:pPr>
            <a:r>
              <a:rPr sz="1600" b="0">
                <a:solidFill>
                  <a:srgbClr val="222222"/>
                </a:solidFill>
                <a:latin typeface="맑은 고딕"/>
              </a:rPr>
              <a:t>•  USERENV: SESSION_USER는 신뢰, MODULE 등은 추적용</a:t>
            </a:r>
          </a:p>
          <a:p>
            <a:pPr algn="l">
              <a:spcAft>
                <a:spcPts val="1000"/>
              </a:spcAft>
            </a:pPr>
            <a:r>
              <a:rPr sz="1600" b="0">
                <a:solidFill>
                  <a:srgbClr val="222222"/>
                </a:solidFill>
                <a:latin typeface="맑은 고딕"/>
              </a:rPr>
              <a:t>•  세션 기반은 그 세션만, 직접 SET_CONTEXT는 ORA-01031</a:t>
            </a:r>
          </a:p>
          <a:p>
            <a:pPr algn="l">
              <a:spcAft>
                <a:spcPts val="1000"/>
              </a:spcAft>
            </a:pPr>
            <a:r>
              <a:rPr sz="1600" b="0">
                <a:solidFill>
                  <a:srgbClr val="222222"/>
                </a:solidFill>
                <a:latin typeface="맑은 고딕"/>
              </a:rPr>
              <a:t>•  LOGON 트리거 예외는 ORA-04088로 로그인 차단</a:t>
            </a:r>
          </a:p>
          <a:p>
            <a:pPr algn="l">
              <a:spcAft>
                <a:spcPts val="1000"/>
              </a:spcAft>
            </a:pPr>
            <a:r>
              <a:rPr sz="1600" b="0">
                <a:solidFill>
                  <a:srgbClr val="222222"/>
                </a:solidFill>
                <a:latin typeface="맑은 고딕"/>
              </a:rPr>
              <a:t>•  전역: username·client_id 없으면 모두가 공유</a:t>
            </a:r>
          </a:p>
          <a:p>
            <a:pPr algn="l">
              <a:spcAft>
                <a:spcPts val="1000"/>
              </a:spcAft>
            </a:pPr>
            <a:r>
              <a:rPr sz="1600" b="0">
                <a:solidFill>
                  <a:srgbClr val="222222"/>
                </a:solidFill>
                <a:latin typeface="맑은 고딕"/>
              </a:rPr>
              <a:t>•  연결 풀: SET_IDENTIFIER / CLEAR_IDENTIFIER 짝</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보안 판단에 쓸 USERENV 속성은? SESSION_USER</a:t>
            </a:r>
          </a:p>
          <a:p>
            <a:pPr algn="l">
              <a:spcAft>
                <a:spcPts val="1000"/>
              </a:spcAft>
            </a:pPr>
            <a:r>
              <a:rPr sz="1600" b="0">
                <a:solidFill>
                  <a:srgbClr val="222222"/>
                </a:solidFill>
                <a:latin typeface="맑은 고딕"/>
              </a:rPr>
              <a:t>•  Q2. 신뢰 패키지 밖 SET_CONTEXT 결과는? ORA-01031</a:t>
            </a:r>
          </a:p>
          <a:p>
            <a:pPr algn="l">
              <a:spcAft>
                <a:spcPts val="1000"/>
              </a:spcAft>
            </a:pPr>
            <a:r>
              <a:rPr sz="1600" b="0">
                <a:solidFill>
                  <a:srgbClr val="222222"/>
                </a:solidFill>
                <a:latin typeface="맑은 고딕"/>
              </a:rPr>
              <a:t>•  Q3. LOGON 트리거 예외 미처리 시? ORA-04088, 로그인 거부</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username·client_id 없는 전역 값은? 모든 세션이 공유</a:t>
            </a:r>
          </a:p>
          <a:p>
            <a:pPr algn="l">
              <a:spcAft>
                <a:spcPts val="1000"/>
              </a:spcAft>
            </a:pPr>
            <a:r>
              <a:rPr sz="1600" b="0">
                <a:solidFill>
                  <a:srgbClr val="222222"/>
                </a:solidFill>
                <a:latin typeface="맑은 고딕"/>
              </a:rPr>
              <a:t>•  Q5. 풀 세션 반납 전 할 일은? CLEAR_IDENTIFIER</a:t>
            </a:r>
          </a:p>
          <a:p>
            <a:pPr algn="l">
              <a:spcAft>
                <a:spcPts val="1000"/>
              </a:spcAft>
            </a:pPr>
            <a:r>
              <a:rPr sz="1600" b="0">
                <a:solidFill>
                  <a:srgbClr val="222222"/>
                </a:solidFill>
                <a:latin typeface="맑은 고딕"/>
              </a:rPr>
              <a:t>•  Q6. GLOBAL_CONTEXT가 보여 주는 것은? 현재 세션이 볼 수 있는 값</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USERENV와 세션 컨텍스트 (ORA-02003)</a:t>
            </a:r>
          </a:p>
          <a:p>
            <a:pPr algn="l">
              <a:spcAft>
                <a:spcPts val="1000"/>
              </a:spcAft>
            </a:pPr>
            <a:r>
              <a:rPr sz="1600" b="0">
                <a:solidFill>
                  <a:srgbClr val="222222"/>
                </a:solidFill>
                <a:latin typeface="맑은 고딕"/>
              </a:rPr>
              <a:t>•  02 로컬 컨텍스트와 신뢰 패키지 (ORA-01031)</a:t>
            </a:r>
          </a:p>
          <a:p>
            <a:pPr algn="l">
              <a:spcAft>
                <a:spcPts val="1000"/>
              </a:spcAft>
            </a:pPr>
            <a:r>
              <a:rPr sz="1600" b="0">
                <a:solidFill>
                  <a:srgbClr val="222222"/>
                </a:solidFill>
                <a:latin typeface="맑은 고딕"/>
              </a:rPr>
              <a:t>•  03 LOGON 트리거 자동 설정 (ORA-04088)</a:t>
            </a:r>
          </a:p>
          <a:p>
            <a:pPr algn="l">
              <a:spcAft>
                <a:spcPts val="1000"/>
              </a:spcAft>
            </a:pPr>
            <a:r>
              <a:rPr sz="1600" b="0">
                <a:solidFill>
                  <a:srgbClr val="222222"/>
                </a:solidFill>
                <a:latin typeface="맑은 고딕"/>
              </a:rPr>
              <a:t>•  04 전역 컨텍스트와 CLIENT_IDENTIFIER (ORA-02000)</a:t>
            </a:r>
          </a:p>
          <a:p>
            <a:pPr algn="l">
              <a:spcAft>
                <a:spcPts val="1000"/>
              </a:spcAft>
            </a:pPr>
            <a:r>
              <a:rPr sz="1600" b="0">
                <a:solidFill>
                  <a:srgbClr val="222222"/>
                </a:solidFill>
                <a:latin typeface="맑은 고딕"/>
              </a:rPr>
              <a:t>•  05 컨텍스트 관리와 원복 (ORA-00955)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
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과정은 테이블을 저장하는 세 가지 방식을 다룬다. 기본은 힙이고, IOT 는 테이블 자체를 인덱스로 만드는 방식이며, 클러스터는 여러 테이블의 행을 같은 블록에 섞어 담는 방식이다. 문법보다 언제 쓰고 언제 쓰지 않는지를 실측 수치로 판단하는 것이 목표다. 모든 Buffers 값과 오류 메시지는 19.3 랩에서 직접 측정했다. 원본은 ADM·REC 실무 과정의 키워드 문서이며, 그 명령 목록을 설명과 실측 화면으로 다시 구성했다.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목표 여덟 줄 중 앞의 네 줄이 IOT 설계, 다음 두 줄이 운영, 마지막 두 줄이 클러스터와 전환이다. 이 과정의 특징은 IOT 가 무조건 빠르다는 통설을 실측으로 검증한다는 점이다. 단건 조회에서는 차이가 없고 COUNT 에서는 오히려 12배 불리하다는 결과가 나온다. 그래서 판단 기준이 중요하다. 이 목표 목록은 그대로 수료 점검표로 쓸 수 있다. 특히 네 번째와 다섯 번째가 실무에서 바로 필요한 능력이다.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구성은 IOT 를 중심에 두고 클러스터를 뒤에 배치했다. 실무에서 신규 설계에 쓸 만한 것은 IOT 하나이기 때문이다. 시간이 부족하면 3부와 4부를 중심으로 진행한다. 그 두 부분이 IOT 도입 판단에 직접 쓰인다. 7부 클러스터는 진단 목적이므로 실행계획 연산 이름만 기억해도 충분하다. 퀴즈와 요약은 마무리용이며, 실습 개요 슬라이드에서 순서 의존성과 SGA 변경 주의사항을 함께 짚어 준다.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1부는 세 구조가 데이터를 어디에 두는지만 다룬다. 이 그림을 이해하면 나머지 성질은 모두 따라 나온다. IOT 에서 정렬이 필요 없는 이유, 논리 ROWID 를 쓰는 이유, 클러스터에서 테이블 단위 관리가 안 되는 이유가 모두 저장 위치에서 나온다. 그림 한 장으로 시작하는 것이 가장 빠르다. 세 구조를 나란히 놓고 보는 이유는 선택의 문제이기 때문이다. 어느 하나가 우월한 것이 아니라 얻는 것과 잃는 것이 다르다.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그림의 차이가 이 과정의 전부다. 힙은 데이터와 순서가 분리돼 있어 유연하지만 조회가 두 단계다. IOT 는 합쳐서 한 단계로 만들지만 구조가 경직된다. 클러스터는 테이블 경계를 허물어 조인을 빠르게 하지만 관리 단위가 클러스터가 되어 버린다. 어느 것도 공짜가 없다는 점을 먼저 짚어 둔다. 그림을 칠판에 다시 그려 보게 하면 이해가 빠르다. 저장 위치만 정확히 기억하면 나머지 성질은 스스로 유도할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표에서 두 줄만 기억하면 된다. 등치 조회에서 IOT 의 이득이 없다는 것과 범위 조회에서는 항상 유리하다는 것이다. 많은 교재가 IOT 를 한 번에 읽어서 빠르다고 설명하지만 실측은 다르다. IOT 인덱스가 커서 blevel 이 하나 깊어지고 그것이 테이블 접근 한 번을 정확히 상쇄한다. 이 사실이 4부의 출발점이다. 표의 마지막 줄이 이 과정의 실무적 결론이다. 클러스터는 진단 목적으로만 배운다.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의 기본키는 제약이 아니라 저장 구조 자체다. 그래서 없으면 만들 수 없고 있으면 뗄 수 없다. 이 점이 설계 판단을 무겁게 만든다. 키가 바뀔 가능성이 있는 테이블은 IOT 대상이 아니다. PCTFREE 0 은 IOT 에서 흔히 쓰지만 적재 패턴에 따라 달라진다. 키가 중간에 끼어드는 구조에서는 블록 분할로 크기가 두 배가 된다. 기본키 정의가 곧 저장 구조 선언이라는 점을 강조한다. 이 한 가지가 IOT 도입 판단을 무겁게 만든다.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2부는 IOT 를 처음 만든 뒤 무엇이 달라 보이는지를 다룬다. 가장 실무적인 내용은 딕셔너리다. 모니터링 쿼리가 dba_tables.blocks 만 쓰면 IOT 는 전부 NULL 로 보이고 세그먼트 이름도 테이블 이름이 아니다. 기존 점검 스크립트를 고쳐야 한다는 점을 여기서 확인한다. 2부의 네 항목 중 딕셔너리가 가장 실무적이고 논리 ROWID 가 가장 위험하다. 두 가지를 중심으로 진행한다.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2부에서 가장 실무적이다. 용량 점검 스크립트, 통계 확인 쿼리, 세그먼트 목록 쿼리가 모두 영향을 받는다. IOT 를 도입하면 모니터링을 먼저 고쳐야 한다. clustering_factor 0 은 값이 없다는 뜻이 아니라 개념이 필요 없다는 뜻이다. 4부에서 이 0 이 IOT 의 진짜 가치라는 것이 드러난다. IOT 도입 전에 기존 모니터링 스크립트를 점검하는 작업을 별도 항목으로 잡아야 한다는 점을 함께 전달한다.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계획이 짧아지는 것은 사실이지만 그것이 곧 빠름은 아니다. IOT 는 데이터를 인덱스에 담으므로 블록당 키 수가 적고 트리가 깊어진다. 실측에서 blevel 이 1 대 2 였고 그만큼 인덱스 블록을 한 번 더 읽어 테이블 접근 한 번을 상쇄했다. 이 균형은 행 길이와 키 길이에 따라 달라지므로 자기 데이터로 측정해야 한다. 실행계획 단계 수와 실제 비용이 비례하지 않는다는 교훈은 IOT 를 넘어 튜닝 전반에 적용된다.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가 확실히 이기는 영역이 정렬이다. 페이징 쿼리에서 정렬 연산과 임시 공간이 모두 사라진다. 그런데 마지막 예가 중요하다. ORDER BY 없이 순서를 기대하면 틀린다. FAST FULL SCAN 은 물리 순서로 읽으므로 98부터 시작했다. IOT 라서 정렬돼 나온다는 착각이 실제 버그로 이어지는 경우가 있다. ORDER BY 를 생략해도 정렬돼 나온다는 착각이 실제 버그로 이어진 사례가 있다. 마지막 예제를 꼭 짚는다.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논리 ROWID 는 IOT 전환에서 가장 자주 걸리는 실무 문제다. 애플리케이션이 ROWID 를 물리 주소로 가정하고 만들어졌다면 동작이 달라진다. 길이도 다르므로 ROWID 를 VARCHAR2(18) 컬럼에 저장하던 코드는 잘린다. 전환 계획서에 이 세 항목을 점검표로 넣어야 한다. 5부에서 보조 인덱스가 이 논리 ROWID 때문에 어떻게 동작하는지 본다.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제약 목록을 미리 보여 주는 이유는 도입 판단을 빠르게 하기 위해서다. LONG 컬럼이나 비트맵 인덱스가 필요한 테이블은 그 자리에서 제외된다. 반대로 할 수 있는 것 목록에서 압축과 파티션이 눈여겨볼 항목이다. IOT 는 데이터 전체가 인덱스이므로 키 압축 효과가 테이블 크기에 직접 반영된다. 제약 목록을 먼저 확인하면 대상 테이블을 빠르게 걸러 낼 수 있다. LONG 컬럼이나 비트맵 인덱스가 필요하면 그 자리에서 제외된다.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3부가 IOT 설계의 핵심이다. 어디서 자를지를 정하는 한 줄이 성능을 결정한다. 실측에서 자주 쓰는 컬럼이 INCLUDING 안쪽에 있을 때와 밖에 있을 때의 차이가 32배였다. 그리고 오버플로 접근은 실행계획에 나타나지 않으므로 Buffers 로만 확인할 수 있다. 이 두 가지를 반드시 전달한다. 3부는 IOT 설계의 실제 작업에 해당한다. 컬럼 순서 정리부터 시작한다는 점을 미리 말해 둔다.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단계에서 거부된다는 점이 중요하다. 개발자는 데이터가 작으니 괜찮다고 생각하지만 Oracle 은 선언된 최대 길이로 판단한다. 그래서 VARCHAR2 4000 컬럼이 하나라도 있으면 무조건 OVERFLOW 가 필요하다. 그리고 임계값 관련 컬럼이 dba_indexes 에 있다는 것도 실수하기 쉬운 지점이다. dba_tables 에서 찾으면 ORA-00904 가 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INCLUDING 을 권하는 이유는 예측 가능성이다. PCTTHRESHOLD 는 행마다 다르게 동작하므로 어떤 조회가 오버플로를 건드릴지 알 수 없다. INCLUDING 은 컬럼 위치로 자르므로 설계 시점에 확정된다. 그래서 컬럼 순서를 조회 빈도 순으로 정리하는 작업이 IOT 설계의 첫 단계가 된다. include_column 이 번호로 저장되는 것도 함께 기억한다.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32배가 3부의 결론이다. 그리고 계획이 같다는 사실이 진단을 어렵게 만든다. 같은 SQL 형태인데 어떤 컬럼을 선택하느냐로 비용이 달라지므로, 계획 비교만으로는 원인을 못 찾는다. 오버플로는 힙 세그먼트라 키 순서로 모여 있지 않다는 점이 원인이다. 자주 쓰는 컬럼을 안쪽에 넣지 못한다면 IOT 를 포기하고 힙을 쓰는 것이 낫다. 계획이 같은데 비용이 다른 상황을 어떻게 진단하느냐가 이 슬라이드의 훈련 지점이다. Buffers 를 먼저 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PCTTHRESHOLD 의 상한이 50 인 이유를 설명하면 이해가 쉽다. 블록의 절반을 넘는 행을 인덱스에 두면 리프 블록당 행이 하나뿐이어서 B트리가 의미를 잃는다. MAPPING TABLE 은 비트맵 인덱스를 쓰려면 반드시 필요하지만 유지 비용이 따라온다. IOT 에 비트맵 인덱스가 정말 필요한 상황이라면 힙을 다시 검토하는 편이 나을 때가 많다. PCTTHRESHOLD 변경이 기존 행에 적용되지 않는다는 점도 함께 기억한다. 재배치에는 MOVE 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4부는 통설을 검증하는 부분이다. 같은 컬럼 구성으로 10만 건씩 넣어 아홉 가지를 측정했다. 결과는 예상과 다르다. 단건과 범위 조회에서 차이가 없고 COUNT 에서는 IOT 가 크게 불리하다. 그럼 IOT 를 왜 쓰는가라는 질문에 대한 답이 이 부분의 결론이며, 그것은 clustering_factor 의 영속성이다. 4부는 통설을 검증하는 부분이므로 표를 먼저 보여 주고 왜 그런지를 함께 추론하게 하면 효과가 크다.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표를 그대로 보여 주면 IOT 를 쓸 이유가 없어 보인다. 실제로 조건 하나가 빠져 있고 다음 슬라이드에서 드러난다. 그 전에 COUNT 12배를 짚어 둔다. 힙은 기본키 인덱스가 2MB 라 그것만 읽으면 되지만 IOT 는 인덱스가 곧 데이터이므로 26MB 전체를 읽는다. 이 항목은 IOT 의 구조적 약점이며 보조 인덱스로만 보완된다. 표의 마지막 줄이 다음 슬라이드로 이어지는 복선이다. 조건 하나가 빠져 있다는 점을 여기서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4부의 결론이고 이 과정 전체의 결론에 가깝다. IOT 는 빠른 구조가 아니라 성능이 나빠지지 않는 구조다. 힙에서 clustering_factor 를 좋게 유지하려면 주기적으로 재구성해야 하고 그 작업에는 잠금과 시간이 든다. IOT 는 구조적으로 그 문제가 없다. 이것을 운영 비용 관점에서 설명하면 설득력이 크다. IOT 를 운영 비용 관점에서 설명하면 설득력이 높아진다. 재구성 작업이 필요 없다는 것이 실질적 이득이다.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정확히 두 배가 되는 것이 50/50 분할의 특징이다. 이 현상을 모르면 IOT 를 도입한 뒤 용량이 예상의 두 배가 되어 당황한다. 대책은 PCTFREE 확보와 정기 COALESCE 다. COALESCE 는 온라인이고 가벼우므로 주간 작업에 넣을 수 있다. 근본적으로는 적재 패턴을 먼저 확인해 키가 증가하는 테이블을 우선 대상으로 삼는 것이 맞다. 용량이 예상의 두 배가 되는 현상은 도입 직후 가장 자주 나오는 문의다. 미리 설명해 두면 혼란이 없다.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판단을 여섯 단계로 나눈 이유는 앞 단계에서 걸러지는 테이블이 대부분이기 때문이다. 실제로 ①과 ②만 통과하는 테이블이 많지 않다. 마지막의 잘 맞는 테이블 목록이 실용적이다. 특히 HR 샘플 스키마의 COUNTRIES 가 IOT 라는 사실은 Oracle 이 직접 제시한 모범 사례로 볼 수 있어 설명에 쓰기 좋다. 여섯 단계 중 앞의 두 단계에서 대부분의 테이블이 걸러진다. 그래서 IOT 대상은 생각보다 적다.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5부는 IOT 운영에서 가장 자주 문제가 되는 부분이다. 보조 인덱스는 논리 ROWID 와 물리 추측을 함께 담는데, MOVE 한 번에 그 추측이 전부 무효가 된다. 인덱스 상태는 VALID 를 유지하므로 오류가 나지 않고 조용히 느려진다. 감시 쿼리와 복구 명령을 절차서에 넣는 것이 이 부분의 결론이다. 5부는 IOT 를 도입한 뒤 실제로 문제가 되는 지점을 다룬다. 절차서 작성이 이 부분의 산출물이다.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IOT 보조 인덱스의 계획 모양을 처음 보면 낯설다. 테이블 접근이 없는 대신 기본키 인덱스 접근이 그 자리를 채운다. 마지막 예가 설계에 쓸 수 있는 부분이다. 보조 인덱스에 기본키 값이 자동으로 들어 있으므로 커버링 인덱스가 저절로 만들어진다. 힙에서는 기본키를 인덱스에 따로 포함시켜야 하는데 IOT 는 그럴 필요가 없다. 보조 인덱스에 기본키 값이 자동으로 들어 있다는 점은 설계에 활용할 수 있는 이점이다. 커버링 인덱스가 저절로 만들어진다.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100 에서 0 으로 떨어지고 Buffers 가 5에서 7로 늘었다. 작아 보이지만 비율로는 40% 증가이고 물리 읽기가 새로 생겼다. 무엇보다 오류가 없다는 점이 문제다. 인덱스가 UNUSABLE 이 되면 알 수 있지만 VALID 를 유지하므로 발견 수단이 감시뿐이다. IOT 재구성 절차서에 UPDATE BLOCK REFERENCES 한 줄을 반드시 넣어야 한다.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키 압축은 IOT 에서 특히 효과적이다. 힙에서 인덱스를 압축해도 테이블 크기는 그대로지만 IOT 는 인덱스가 데이터이므로 전체가 줄어든다. 지역이나 분류 코드가 선두에 오는 복합 기본키라면 먼저 검토할 항목이다. 파티션 IOT 는 딕셔너리 위치가 달라 점검 쿼리를 따로 만들어야 한다는 점이 실무 포인트다. 압축은 도입 즉시 효과가 나오는 항목이므로 기존 IOT 가 있다면 먼저 점검해 볼 만하다.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6부는 원본 교안이 IOT 와 함께 다룬 주제다. 조합의 이유가 분명하다. IOT 는 한 테이블이 반복 조회되는 작은 세그먼트와 한 번 읽고 버리는 큰 세그먼트로 나뉘어 있어 버퍼 풀 분리의 교과서적인 대상이다. RECYCLE 의 목적을 오해하지 않도록 마지막 줄을 강조한다. 원본 교안이 IOT 와 버퍼 풀을 한 묶음으로 다룬 이유를 여기서 설명하면 구성이 자연스럽게 이해된다.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교안은 SCOPE=SPFILE 로 설정하고 재기동했지만 두 파라미터는 동적이므로 그럴 필요가 없다. 다만 DEFAULT 풀에서 떼어 온다는 점을 반드시 짚어야 한다. KEEP 을 200MB 로 잡으면 DEFAULT 가 그만큼 줄어 다른 테이블의 조회가 느려진다. 마지막 쿼리로 대상 세그먼트 크기를 먼저 세는 습관이 중요하다. DEFAULT 풀에서 떼어 온다는 점 때문에 KEEP 을 과하게 잡으면 전체 성능이 나빠진다. 세그먼트 크기를 먼저 세는 습관이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절을 두 군데 쓴다는 점이 문법상 핵심이다. ALTER 로 바꿀 때도 OVERFLOW 키워드를 빼면 오버플로 세그먼트는 그대로 남는다. 이런 부분은 문서만 읽으면 놓치기 쉬워 실습으로 확인하는 값이 있다. 오버플로가 RECYCLE 풀보다 크게 설계된 것은 의도된 것이며 다음 슬라이드에서 그 효과가 드러난다. STORAGE 절을 두 군데 쓴다는 문법은 문서만 읽으면 놓치기 쉽다. 실습으로 확인하는 값이 여기 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쪽 물리 읽기가 1에서 전혀 늘지 않았다는 것이 가장 깔끔한 증거다. v$bh 의 3904 가 RECYCLE 버퍼 개수와 정확히 같다는 점도 설명에 좋다. 풀 크기가 곧 캐시 상한이라는 사실이 숫자로 보인다. 마지막 두 줄은 반드시 강조한다. RECYCLE 을 적용하고 왜 안 빨라지냐는 질문이 자주 나오기 때문이다. v$bh 의 블록 수가 풀 버퍼 개수와 정확히 일치하는 것을 보여 주면 풀 크기가 곧 캐시 상한이라는 사실이 숫자로 전달된다.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7부는 지금은 거의 쓰이지 않는 기능을 다룬다. 배우는 이유는 진단이다. 실행계획에 TABLE ACCESS CLUSTER 나 TABLE ACCESS HASH 가 보이면 그 테이블은 세그먼트와 통계 관리 방법이 전부 다르다. 왜 쓰이지 않게 되었는지를 실측으로 이해하는 것도 목적이며, 그 이유가 마지막 두 줄에 있다. 클러스터를 마지막에 배치한 이유는 신규 설계에 쓰지 않기 때문이다. 진단 목적임을 분명히 하고 시작한다.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세그먼트 목록에 테이블 이름이 없다는 것이 클러스터의 본질이다. 저장 단위가 테이블이 아니라 클러스터이므로 테이블 단위 관리가 제한된다. 용량 산정 쿼리가 테이블 기준이면 클러스터 테이블은 전부 누락된다. ORA-02032 는 순서를 지키지 않으면 반드시 만나는 오류이므로 복구 스크립트를 짤 때도 순서를 기억해야 한다. 세그먼트 목록에 테이블 이름이 없다는 사실이 클러스터의 모든 관리 제약을 설명한다. 용량 점검 쿼리부터 영향을 받는다.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SIZE 추정이 어렵다는 점이 클러스터의 결정적 약점이다. 설계 시점에 키당 데이터 크기를 정확히 예측해야 하는데 실무에서 그럴 수 있는 경우가 드물다. 그리고 데이터가 편중되면 지표가 바로 무너진다. 실측에서 1이 7로 올라갔다. 조인 비용 차이도 16 대 18 로 작아 투자 대비 효과를 정당화하기 어렵다. SIZE 추정의 어려움이 클러스터가 쓰이지 않게 된 가장 큰 이유다. 실무에서 키당 크기를 정확히 예측할 수 있는 경우가 드물다.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Buffers 1 은 인상적인 숫자다. 인덱스도 테이블도 아니고 계산으로 찾았다. 그런데 공간을 미리 잡는다는 대가가 크다. 데이터 0건에 12MB 이고 HASHKEYS 는 나중에 바꿀 수 없다. 범위 조회가 안 된다는 점은 HASH 파티션과 같은 성질이므로 파티션 과정을 들은 수강생에게는 익숙한 개념으로 설명할 수 있다. 데이터 0건에 12MB 라는 숫자를 먼저 보여 주면 공간 대가가 직관적으로 전달된다. 그 뒤에 Buffers 1 을 보여 준다.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7부의 결론이다. 등치 조회에서 3분의 1로 줄이는 이득과 공간 21배 낭비의 교환이다. 그리고 현대 시스템에서는 Buffers 3 이 모두 메모리 접근이라 체감 차이가 거의 없다. 그래서 해시 클러스터는 아주 특수한 경우 외에는 선택되지 않는다. SINGLE TABLE 과 HASH IS 는 쓴다면 함께 고려할 옵션으로 소개한다. 해시 클러스터를 쓸 네 가지 조건을 함께 제시하면 왜 선택되지 않는지가 분명해진다. 조건이 모두 맞는 경우가 드물다.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부분은 실제 전환 작업과 운영 감시다. 전환은 되돌리기 어려우므로 백업과 원본 보존 계획이 먼저다. 점검 쿼리 네 개는 그대로 운영 스크립트로 쓸 수 있게 정리했으며, 그중 두 번째가 가장 중요하다. index_type 필터를 빼면 정상인 IOT 기본키 인덱스가 전부 오탐으로 잡힌다. 전환은 되돌리기 어려우므로 백업과 원본 보존 기간을 먼저 정하는 것이 순서다. 점검 쿼리는 그대로 운영 스크립트로 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CTAS 방식의 부수 작업 목록이 길다는 점이 온라인 재정의를 쓰는 이유다. 실측에서 두 방법 모두 성공했고 데이터도 정확했다. 다만 두 방법 모두 제약 이름이 예상과 다르게 남는다. 운영 문서나 모니터링 쿼리가 제약 이름을 참조하면 RENAME CONSTRAINT 로 정리해야 한다. 되돌리는 경로는 CTAS 뿐이므로 전환 전 백업이 필수다. 두 방법 모두 제약 이름이 예상과 다르게 남는다는 점을 실측으로 확인했다. 전환 후 이름 정리 단계를 절차에 넣는다.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②의 index_type 필터를 빼면 IOT 를 쓰는 스키마에서 경고가 수십 건 쏟아진다. 실측에서 13건이 오탐으로 잡혔다. IOT 기본키 인덱스의 pct_direct_access 가 0 인 것은 정상이며 추측 개념은 보조 인덱스에만 있다. ①에서 HR.COUNTRIES 가 IOT 로 나오는 것은 좋은 교육 자료다. Oracle 이 코드 테이블에 IOT 를 쓴 예시다.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IOT 는 테이블 세그먼트가 없으므로 dba_tables.blocks 가 NULL 이다. 실제 크기와 통계는 dba_indexes 에 들어 있고, 세그먼트 이름도 테이블 이름이 아니라 기본키 인덱스 이름이다. 그래서 기존 용량·통계 점검 스크립트가 IOT 를 도입하면 전부 누락된다. 모니터링 쿼리를 먼저 고쳐야 한다는 것이 이 문제의 요점이다.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INCLUDING 안쪽 컬럼만 읽으면 인덱스 리프 블록에서 끝나지만 오버플로 컬럼을 읽으면 힙 세그먼트를 행마다 따라가야 한다. 실측에서 32배 차이가 났다. 중요한 점은 실행계획이 두 경우 모두 INDEX RANGE SCAN 한 줄로 똑같다는 것이다. 오버플로 접근은 계획에 단계로 나타나지 않으므로 Buffers 실측으로만 구분할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정답은 두 번째다. MOVE 는 리프 블록의 물리 위치를 바꾸므로 보조 인덱스의 물리 추측이 모두 무효가 되고 pct_direct_access 가 0 이 된다. 실측에서 같은 조회의 Buffers 가 5에서 7로 늘고 물리 읽기가 생겼다. 인덱스는 VALID 를 유지하므로 오류가 나지 않는다. REBUILD 도 효과는 있지만 UPDATE BLOCK REFERENCES 가 훨씬 가볍다.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요약의 여섯째와 일곱째 줄이 이 과정에서 새로 얻은 지식이다. IOT 가 빠른 구조가 아니라 나빠지지 않는 구조라는 것이 결론이다. 다섯째 줄과 아홉째 줄은 진단 관점의 핵심이다. 둘 다 실행계획이나 오류로는 드러나지 않고 실측과 감시로만 알 수 있다. 수강생이 한 가지만 가져간다면 INCLUDING 경계 설계를 가져가게 한다. 요약 열 줄을 그대로 한 장으로 인쇄해 배포하면 현장 참고 자료가 된다. 수치가 모두 실측이라는 점을 함께 적어 둔다.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실습은 순서 의존성이 있다. 04 에서 만든 IOT 를 05 가 MOVE 하고 복구하므로 건너뛰면 숫자가 달라진다. 03 은 SGA 파라미터를 바꾸므로 공용 랩이면 다른 수강생과 조율이 필요하다. 04 의 적재는 시간이 걸리므로 강의 중에는 미리 돌려 두고 결과를 함께 읽는 방식이 효율적이다. 08 을 마치면 과정안내의 정리 절차로 환경을 철거한다. 실습 03 이 SGA 파라미터를 바꾸므로 공용 랩에서는 다른 수강생과 조율이 필요하다는 점을 미리 공지한다.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Rectangle 1"/>
          <p:cNvSpPr/>
          <p:nvPr/>
        </p:nvSpPr>
        <p:spPr>
          <a:xfrm>
            <a:off x="822960" y="2331720"/>
            <a:ext cx="164592" cy="201168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88720" y="1463040"/>
            <a:ext cx="10058400" cy="548640"/>
          </a:xfrm>
          <a:prstGeom prst="rect">
            <a:avLst/>
          </a:prstGeom>
          <a:noFill/>
        </p:spPr>
        <p:txBody>
          <a:bodyPr wrap="square">
            <a:spAutoFit/>
          </a:bodyPr>
          <a:lstStyle/>
          <a:p>
            <a:pPr>
              <a:spcAft>
                <a:spcPts val="600"/>
              </a:spcAft>
            </a:pPr>
            <a:r>
              <a:rPr sz="1800" b="1">
                <a:solidFill>
                  <a:srgbClr val="C0392B"/>
                </a:solidFill>
                <a:latin typeface="Malgun Gothic"/>
              </a:rPr>
              <a:t>Oracle Database 19c  ·  성능 튜닝 실습 과정</a:t>
            </a:r>
          </a:p>
        </p:txBody>
      </p:sp>
      <p:sp>
        <p:nvSpPr>
          <p:cNvPr id="4" name="TextBox 3"/>
          <p:cNvSpPr txBox="1"/>
          <p:nvPr/>
        </p:nvSpPr>
        <p:spPr>
          <a:xfrm>
            <a:off x="1188720" y="2194560"/>
            <a:ext cx="10332720" cy="2011680"/>
          </a:xfrm>
          <a:prstGeom prst="rect">
            <a:avLst/>
          </a:prstGeom>
          <a:noFill/>
        </p:spPr>
        <p:txBody>
          <a:bodyPr wrap="square">
            <a:spAutoFit/>
          </a:bodyPr>
          <a:lstStyle/>
          <a:p>
            <a:pPr>
              <a:spcAft>
                <a:spcPts val="600"/>
              </a:spcAft>
            </a:pPr>
            <a:r>
              <a:rPr sz="4400" b="1">
                <a:solidFill>
                  <a:srgbClr val="FFFFFF"/>
                </a:solidFill>
                <a:latin typeface="Malgun Gothic"/>
              </a:rPr>
              <a:t>IOT 와 클러스터
Index Organized Table &amp; Cluster</a:t>
            </a:r>
          </a:p>
        </p:txBody>
      </p:sp>
      <p:sp>
        <p:nvSpPr>
          <p:cNvPr id="5" name="TextBox 4"/>
          <p:cNvSpPr txBox="1"/>
          <p:nvPr/>
        </p:nvSpPr>
        <p:spPr>
          <a:xfrm>
            <a:off x="1188720" y="4297680"/>
            <a:ext cx="10058400" cy="1097280"/>
          </a:xfrm>
          <a:prstGeom prst="rect">
            <a:avLst/>
          </a:prstGeom>
          <a:noFill/>
        </p:spPr>
        <p:txBody>
          <a:bodyPr wrap="square">
            <a:spAutoFit/>
          </a:bodyPr>
          <a:lstStyle/>
          <a:p>
            <a:pPr>
              <a:spcAft>
                <a:spcPts val="600"/>
              </a:spcAft>
            </a:pPr>
            <a:r>
              <a:rPr sz="1800" b="0">
                <a:solidFill>
                  <a:srgbClr val="C5CED6"/>
                </a:solidFill>
                <a:latin typeface="Malgun Gothic"/>
              </a:rPr>
              <a:t>세 가지 저장 구조 · OVERFLOW 설계 · 논리 ROWID · KEEP/RECYCLE 버퍼 풀 · 구조 전환
실습 8종 · 모든 수치는 19.3 랩 실측값</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학습 목표 (Objectives)</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힙 · IOT · 인덱스 클러스터 · 해시 클러스터의 저장 구조를 그림으로 설명할 수 있다</a:t>
            </a:r>
          </a:p>
          <a:p>
            <a:pPr>
              <a:spcAft>
                <a:spcPts val="600"/>
              </a:spcAft>
            </a:pPr>
            <a:r>
              <a:rPr sz="1800" b="0">
                <a:solidFill>
                  <a:srgbClr val="202830"/>
                </a:solidFill>
                <a:latin typeface="Malgun Gothic"/>
              </a:rPr>
              <a:t>•  IOT 의 크기와 통계를 어느 딕셔너리에서 봐야 하는지 안다</a:t>
            </a:r>
          </a:p>
          <a:p>
            <a:pPr>
              <a:spcAft>
                <a:spcPts val="600"/>
              </a:spcAft>
            </a:pPr>
            <a:r>
              <a:rPr sz="1800" b="0">
                <a:solidFill>
                  <a:srgbClr val="202830"/>
                </a:solidFill>
                <a:latin typeface="Malgun Gothic"/>
              </a:rPr>
              <a:t>•  OVERFLOW 와 INCLUDING 을 설계하고 그 경계가 성능에 주는 영향을 측정할 수 있다</a:t>
            </a:r>
          </a:p>
          <a:p>
            <a:pPr>
              <a:spcAft>
                <a:spcPts val="600"/>
              </a:spcAft>
            </a:pPr>
            <a:r>
              <a:rPr sz="1800" b="0">
                <a:solidFill>
                  <a:srgbClr val="202830"/>
                </a:solidFill>
                <a:latin typeface="Malgun Gothic"/>
              </a:rPr>
              <a:t>•  IOT 가 유리한 경우와 불리한 경우를 실측 수치로 구분할 수 있다</a:t>
            </a:r>
          </a:p>
          <a:p>
            <a:pPr>
              <a:spcAft>
                <a:spcPts val="600"/>
              </a:spcAft>
            </a:pPr>
            <a:r>
              <a:rPr sz="1800" b="0">
                <a:solidFill>
                  <a:srgbClr val="202830"/>
                </a:solidFill>
                <a:latin typeface="Malgun Gothic"/>
              </a:rPr>
              <a:t>•  보조 인덱스의 pct_direct_access 를 감시하고 복구할 수 있다</a:t>
            </a:r>
          </a:p>
          <a:p>
            <a:pPr>
              <a:spcAft>
                <a:spcPts val="600"/>
              </a:spcAft>
            </a:pPr>
            <a:r>
              <a:rPr sz="1800" b="0">
                <a:solidFill>
                  <a:srgbClr val="202830"/>
                </a:solidFill>
                <a:latin typeface="Malgun Gothic"/>
              </a:rPr>
              <a:t>•  IOT 의 두 세그먼트를 KEEP · RECYCLE 풀로 나눠 담을 수 있다</a:t>
            </a:r>
          </a:p>
          <a:p>
            <a:pPr>
              <a:spcAft>
                <a:spcPts val="600"/>
              </a:spcAft>
            </a:pPr>
            <a:r>
              <a:rPr sz="1800" b="0">
                <a:solidFill>
                  <a:srgbClr val="202830"/>
                </a:solidFill>
                <a:latin typeface="Malgun Gothic"/>
              </a:rPr>
              <a:t>•  클러스터의 건강 지표(avg_blocks_per_key) 와 공간 낭비를 점검할 수 있다</a:t>
            </a:r>
          </a:p>
          <a:p>
            <a:pPr>
              <a:spcAft>
                <a:spcPts val="600"/>
              </a:spcAft>
            </a:pPr>
            <a:r>
              <a:rPr sz="1800" b="0">
                <a:solidFill>
                  <a:srgbClr val="202830"/>
                </a:solidFill>
                <a:latin typeface="Malgun Gothic"/>
              </a:rPr>
              <a:t>•  힙을 IOT 로 전환하는 두 가지 방법과 부수 작업 목록을 말할 수 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이 과정의 구성 (Agenda)</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1부  세 가지 저장 구조 — 무엇이 어디에 저장되는가</a:t>
            </a:r>
          </a:p>
          <a:p>
            <a:pPr>
              <a:spcAft>
                <a:spcPts val="600"/>
              </a:spcAft>
            </a:pPr>
            <a:r>
              <a:rPr sz="1800" b="0">
                <a:solidFill>
                  <a:srgbClr val="202830"/>
                </a:solidFill>
                <a:latin typeface="Malgun Gothic"/>
              </a:rPr>
              <a:t>•  2부  IOT 의 구조 — 딕셔너리 · 실행계획 · 논리 ROWID</a:t>
            </a:r>
          </a:p>
          <a:p>
            <a:pPr>
              <a:spcAft>
                <a:spcPts val="600"/>
              </a:spcAft>
            </a:pPr>
            <a:r>
              <a:rPr sz="1800" b="0">
                <a:solidFill>
                  <a:srgbClr val="202830"/>
                </a:solidFill>
                <a:latin typeface="Malgun Gothic"/>
              </a:rPr>
              <a:t>•  3부  OVERFLOW · INCLUDING — 어디서 자를지가 성능을 결정한다</a:t>
            </a:r>
          </a:p>
          <a:p>
            <a:pPr>
              <a:spcAft>
                <a:spcPts val="600"/>
              </a:spcAft>
            </a:pPr>
            <a:r>
              <a:rPr sz="1800" b="0">
                <a:solidFill>
                  <a:srgbClr val="202830"/>
                </a:solidFill>
                <a:latin typeface="Malgun Gothic"/>
              </a:rPr>
              <a:t>•  4부  IOT vs HEAP — 실측 아홉 가지 비교</a:t>
            </a:r>
          </a:p>
          <a:p>
            <a:pPr>
              <a:spcAft>
                <a:spcPts val="600"/>
              </a:spcAft>
            </a:pPr>
            <a:r>
              <a:rPr sz="1800" b="0">
                <a:solidFill>
                  <a:srgbClr val="202830"/>
                </a:solidFill>
                <a:latin typeface="Malgun Gothic"/>
              </a:rPr>
              <a:t>•  5부  보조 인덱스와 pct_direct_access</a:t>
            </a:r>
          </a:p>
          <a:p>
            <a:pPr>
              <a:spcAft>
                <a:spcPts val="600"/>
              </a:spcAft>
            </a:pPr>
            <a:r>
              <a:rPr sz="1800" b="0">
                <a:solidFill>
                  <a:srgbClr val="202830"/>
                </a:solidFill>
                <a:latin typeface="Malgun Gothic"/>
              </a:rPr>
              <a:t>•  6부  KEEP · RECYCLE 버퍼 풀</a:t>
            </a:r>
          </a:p>
          <a:p>
            <a:pPr>
              <a:spcAft>
                <a:spcPts val="600"/>
              </a:spcAft>
            </a:pPr>
            <a:r>
              <a:rPr sz="1800" b="0">
                <a:solidFill>
                  <a:srgbClr val="202830"/>
                </a:solidFill>
                <a:latin typeface="Malgun Gothic"/>
              </a:rPr>
              <a:t>•  7부  인덱스 클러스터와 해시 클러스터</a:t>
            </a:r>
          </a:p>
          <a:p>
            <a:pPr>
              <a:spcAft>
                <a:spcPts val="600"/>
              </a:spcAft>
            </a:pPr>
            <a:r>
              <a:rPr sz="1800" b="0">
                <a:solidFill>
                  <a:srgbClr val="202830"/>
                </a:solidFill>
                <a:latin typeface="Malgun Gothic"/>
              </a:rPr>
              <a:t>•  8부  구조 전환과 운영 점검</a:t>
            </a:r>
          </a:p>
          <a:p>
            <a:pPr>
              <a:spcAft>
                <a:spcPts val="600"/>
              </a:spcAft>
            </a:pPr>
            <a:r>
              <a:rPr sz="1800" b="0">
                <a:solidFill>
                  <a:srgbClr val="202830"/>
                </a:solidFill>
                <a:latin typeface="Malgun Gothic"/>
              </a:rPr>
              <a:t>•  퀴즈 3문항 · 요약 · 실습 8종 안내</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600"/>
              </a:spcAft>
            </a:pPr>
            <a:r>
              <a:rPr sz="1300" b="1">
                <a:solidFill>
                  <a:srgbClr val="B88600"/>
                </a:solidFill>
                <a:latin typeface="Malgun Gothic"/>
              </a:rPr>
              <a:t>준비:</a:t>
            </a:r>
          </a:p>
          <a:p>
            <a:pPr>
              <a:spcAft>
                <a:spcPts val="600"/>
              </a:spcAft>
            </a:pPr>
            <a:r>
              <a:rPr sz="1300" b="0">
                <a:solidFill>
                  <a:srgbClr val="202830"/>
                </a:solidFill>
                <a:latin typeface="Malgun Gothic"/>
              </a:rPr>
              <a:t>HR 샘플 스키마, USERS 테이블스페이스 200MB 여유, 실습 03 을 위해 DEFAULT 버퍼 캐시 100MB 이상. IOT·클러스터는 별도 옵션이 필요 없다.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1</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세 가지 저장 구조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HEAP — 아무 블록에나 담고 인덱스는 따로</a:t>
            </a:r>
          </a:p>
          <a:p>
            <a:pPr>
              <a:spcAft>
                <a:spcPts val="600"/>
              </a:spcAft>
            </a:pPr>
            <a:r>
              <a:rPr sz="1600" b="0">
                <a:solidFill>
                  <a:srgbClr val="C5CED6"/>
                </a:solidFill>
                <a:latin typeface="Malgun Gothic"/>
              </a:rPr>
              <a:t>•  IOT — 테이블 자체가 B*Tree 인덱스</a:t>
            </a:r>
          </a:p>
          <a:p>
            <a:pPr>
              <a:spcAft>
                <a:spcPts val="600"/>
              </a:spcAft>
            </a:pPr>
            <a:r>
              <a:rPr sz="1600" b="0">
                <a:solidFill>
                  <a:srgbClr val="C5CED6"/>
                </a:solidFill>
                <a:latin typeface="Malgun Gothic"/>
              </a:rPr>
              <a:t>•  CLUSTER — 여러 테이블의 행을 같은 블록에</a:t>
            </a:r>
          </a:p>
          <a:p>
            <a:pPr>
              <a:spcAft>
                <a:spcPts val="600"/>
              </a:spcAft>
            </a:pPr>
            <a:r>
              <a:rPr sz="1600" b="0">
                <a:solidFill>
                  <a:srgbClr val="C5CED6"/>
                </a:solidFill>
                <a:latin typeface="Malgun Gothic"/>
              </a:rPr>
              <a:t>•  기본키 필수 · ROWID 종류 · 공간 사전 할당의 차이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무엇이 어디에 저장되는가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이 그림에서 모든 성질이 나온다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(1) HEAP  — 기본 방식</a:t>
            </a:r>
          </a:p>
          <a:p>
            <a:r>
              <a:rPr sz="1250" b="0">
                <a:solidFill>
                  <a:srgbClr val="E6E6E6"/>
                </a:solidFill>
                <a:latin typeface="Consolas"/>
              </a:rPr>
              <a:t>    [테이블 세그먼트]                [인덱스 세그먼트]</a:t>
            </a:r>
          </a:p>
          <a:p>
            <a:r>
              <a:rPr sz="1250" b="0">
                <a:solidFill>
                  <a:srgbClr val="E6E6E6"/>
                </a:solidFill>
                <a:latin typeface="Consolas"/>
              </a:rPr>
              <a:t>    아무 블록에나 담는다              키 + 물리 ROWID</a:t>
            </a:r>
          </a:p>
          <a:p>
            <a:r>
              <a:rPr sz="1250" b="0">
                <a:solidFill>
                  <a:srgbClr val="E6E6E6"/>
                </a:solidFill>
                <a:latin typeface="Consolas"/>
              </a:rPr>
              <a:t>    -&gt; 조회는 인덱스에서 ROWID 를 얻고 테이블 블록을 한 번 더 읽는다</a:t>
            </a:r>
          </a:p>
          <a:p>
            <a:r>
              <a:rPr sz="1250" b="0">
                <a:solidFill>
                  <a:srgbClr val="E6E6E6"/>
                </a:solidFill>
                <a:latin typeface="Consolas"/>
              </a:rPr>
              <a:t/>
            </a:r>
          </a:p>
          <a:p>
            <a:r>
              <a:rPr sz="1250" b="0">
                <a:solidFill>
                  <a:srgbClr val="E6E6E6"/>
                </a:solidFill>
                <a:latin typeface="Consolas"/>
              </a:rPr>
              <a:t>(2) IOT   — 테이블 자체가 인덱스</a:t>
            </a:r>
          </a:p>
          <a:p>
            <a:r>
              <a:rPr sz="1250" b="0">
                <a:solidFill>
                  <a:srgbClr val="E6E6E6"/>
                </a:solidFill>
                <a:latin typeface="Consolas"/>
              </a:rPr>
              <a:t>    [인덱스 세그먼트 = 데이터]        (+ [오버플로 세그먼트])</a:t>
            </a:r>
          </a:p>
          <a:p>
            <a:r>
              <a:rPr sz="1250" b="0">
                <a:solidFill>
                  <a:srgbClr val="E6E6E6"/>
                </a:solidFill>
                <a:latin typeface="Consolas"/>
              </a:rPr>
              <a:t>    기본키 순서로 담는다              큰 컬럼은 여기로 떼어 낸다</a:t>
            </a:r>
          </a:p>
          <a:p>
            <a:r>
              <a:rPr sz="1250" b="0">
                <a:solidFill>
                  <a:srgbClr val="E6E6E6"/>
                </a:solidFill>
                <a:latin typeface="Consolas"/>
              </a:rPr>
              <a:t>    -&gt; 조회가 인덱스에서 끝난다. 정렬도 필요 없다</a:t>
            </a:r>
          </a:p>
          <a:p>
            <a:r>
              <a:rPr sz="1250" b="0">
                <a:solidFill>
                  <a:srgbClr val="E6E6E6"/>
                </a:solidFill>
                <a:latin typeface="Consolas"/>
              </a:rPr>
              <a:t/>
            </a:r>
          </a:p>
          <a:p>
            <a:r>
              <a:rPr sz="1250" b="0">
                <a:solidFill>
                  <a:srgbClr val="E6E6E6"/>
                </a:solidFill>
                <a:latin typeface="Consolas"/>
              </a:rPr>
              <a:t>(3) CLUSTER — 여러 테이블을 한 블록에</a:t>
            </a:r>
          </a:p>
          <a:p>
            <a:r>
              <a:rPr sz="1250" b="0">
                <a:solidFill>
                  <a:srgbClr val="E6E6E6"/>
                </a:solidFill>
                <a:latin typeface="Consolas"/>
              </a:rPr>
              <a:t>    [클러스터 세그먼트]</a:t>
            </a:r>
          </a:p>
          <a:p>
            <a:r>
              <a:rPr sz="1250" b="0">
                <a:solidFill>
                  <a:srgbClr val="E6E6E6"/>
                </a:solidFill>
                <a:latin typeface="Consolas"/>
              </a:rPr>
              <a:t>      deptno=10 : DEPT 1행 + EMP 5행</a:t>
            </a:r>
          </a:p>
          <a:p>
            <a:r>
              <a:rPr sz="1250" b="0">
                <a:solidFill>
                  <a:srgbClr val="E6E6E6"/>
                </a:solidFill>
                <a:latin typeface="Consolas"/>
              </a:rPr>
              <a:t>      deptno=20 : DEPT 1행 + EMP 3행</a:t>
            </a:r>
          </a:p>
          <a:p>
            <a:r>
              <a:rPr sz="1250" b="0">
                <a:solidFill>
                  <a:srgbClr val="E6E6E6"/>
                </a:solidFill>
                <a:latin typeface="Consolas"/>
              </a:rPr>
              <a:t>    -&gt; 조인할 때 블록 하나만 읽는다. 대신 테이블 단위 관리가 안 된다</a:t>
            </a:r>
          </a:p>
          <a:p>
            <a:r>
              <a:rPr sz="1250" b="0">
                <a:solidFill>
                  <a:srgbClr val="E6E6E6"/>
                </a:solidFill>
                <a:latin typeface="Consolas"/>
              </a:rPr>
              <a:t/>
            </a:r>
          </a:p>
          <a:p>
            <a:r>
              <a:rPr sz="1250" b="0">
                <a:solidFill>
                  <a:srgbClr val="E6E6E6"/>
                </a:solidFill>
                <a:latin typeface="Consolas"/>
              </a:rPr>
              <a:t>    해시 클러스터는 여기서 인덱스마저 없애고 키를 계산해 블록을 찾는다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네 구조 비교표</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데이터 위치 — 힙: 테이블 세그먼트 / IOT: 기본키 인덱스 안 / 클러스터: 클러스터 세그먼트</a:t>
            </a:r>
          </a:p>
          <a:p>
            <a:pPr>
              <a:spcAft>
                <a:spcPts val="600"/>
              </a:spcAft>
            </a:pPr>
            <a:r>
              <a:rPr sz="1800" b="0">
                <a:solidFill>
                  <a:srgbClr val="202830"/>
                </a:solidFill>
                <a:latin typeface="Malgun Gothic"/>
              </a:rPr>
              <a:t>•  키 찾는 방법 — 힙·IOT: 인덱스 / 인덱스 클러스터: 클러스터 인덱스 / 해시: 계산</a:t>
            </a:r>
          </a:p>
          <a:p>
            <a:pPr>
              <a:spcAft>
                <a:spcPts val="600"/>
              </a:spcAft>
            </a:pPr>
            <a:r>
              <a:rPr sz="1800" b="0">
                <a:solidFill>
                  <a:srgbClr val="202830"/>
                </a:solidFill>
                <a:latin typeface="Malgun Gothic"/>
              </a:rPr>
              <a:t>•  기본키 필수 — IOT 만 필수 (UNIQUE 로는 불가, ORA-25175)</a:t>
            </a:r>
          </a:p>
          <a:p>
            <a:pPr>
              <a:spcAft>
                <a:spcPts val="600"/>
              </a:spcAft>
            </a:pPr>
            <a:r>
              <a:rPr sz="1800" b="0">
                <a:solidFill>
                  <a:srgbClr val="202830"/>
                </a:solidFill>
                <a:latin typeface="Malgun Gothic"/>
              </a:rPr>
              <a:t>•  ROWID — IOT 만 논리(UROWID). DBMS_ROWID 사용 불가</a:t>
            </a:r>
          </a:p>
          <a:p>
            <a:pPr>
              <a:spcAft>
                <a:spcPts val="600"/>
              </a:spcAft>
            </a:pPr>
            <a:r>
              <a:rPr sz="1800" b="0">
                <a:solidFill>
                  <a:srgbClr val="202830"/>
                </a:solidFill>
                <a:latin typeface="Malgun Gothic"/>
              </a:rPr>
              <a:t>•  등치 조회 Buffers — 힙 3 · IOT 3 · 해시 클러스터 1 (10만 건 실측)</a:t>
            </a:r>
          </a:p>
          <a:p>
            <a:pPr>
              <a:spcAft>
                <a:spcPts val="600"/>
              </a:spcAft>
            </a:pPr>
            <a:r>
              <a:rPr sz="1600" b="0">
                <a:solidFill>
                  <a:srgbClr val="202830"/>
                </a:solidFill>
                <a:latin typeface="Malgun Gothic"/>
              </a:rPr>
              <a:t>    –  단건 조회에서 IOT 의 이득은 없다. 인덱스가 한 단계 깊어지는 것이 상쇄한다</a:t>
            </a:r>
          </a:p>
          <a:p>
            <a:pPr>
              <a:spcAft>
                <a:spcPts val="600"/>
              </a:spcAft>
            </a:pPr>
            <a:r>
              <a:rPr sz="1800" b="0">
                <a:solidFill>
                  <a:srgbClr val="202830"/>
                </a:solidFill>
                <a:latin typeface="Malgun Gothic"/>
              </a:rPr>
              <a:t>•  범위 조회 — IOT 가 항상 유리, 해시 클러스터는 불가</a:t>
            </a:r>
          </a:p>
          <a:p>
            <a:pPr>
              <a:spcAft>
                <a:spcPts val="600"/>
              </a:spcAft>
            </a:pPr>
            <a:r>
              <a:rPr sz="1800" b="0">
                <a:solidFill>
                  <a:srgbClr val="202830"/>
                </a:solidFill>
                <a:latin typeface="Malgun Gothic"/>
              </a:rPr>
              <a:t>•  공간 사전 할당 — 해시 클러스터만 HASHKEYS × SIZE 를 미리 잡는다</a:t>
            </a:r>
          </a:p>
          <a:p>
            <a:pPr>
              <a:spcAft>
                <a:spcPts val="600"/>
              </a:spcAft>
            </a:pPr>
            <a:r>
              <a:rPr sz="1600" b="0">
                <a:solidFill>
                  <a:srgbClr val="202830"/>
                </a:solidFill>
                <a:latin typeface="Malgun Gothic"/>
              </a:rPr>
              <a:t>    –  실측: 데이터 0건에 12MB. 1만 건 담은 뒤에도 데이터는 0.7MB (17배)</a:t>
            </a:r>
          </a:p>
          <a:p>
            <a:pPr>
              <a:spcAft>
                <a:spcPts val="600"/>
              </a:spcAft>
            </a:pPr>
            <a:r>
              <a:rPr sz="1800" b="0">
                <a:solidFill>
                  <a:srgbClr val="202830"/>
                </a:solidFill>
                <a:latin typeface="Malgun Gothic"/>
              </a:rPr>
              <a:t>•  신규 설계 권장 — 힙이 기본, IOT 는 조건부, 클러스터는 거의 안 쓴다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IOT 를 만든다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기본키가 없으면 존재할 수 없다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hr.iot_nopk (id NUMBER, txt VARCHAR2(50))</a:t>
            </a:r>
          </a:p>
          <a:p>
            <a:r>
              <a:rPr sz="1250" b="0">
                <a:solidFill>
                  <a:srgbClr val="E6E6E6"/>
                </a:solidFill>
                <a:latin typeface="Consolas"/>
              </a:rPr>
              <a:t>ORGANIZATION INDEX TABLESPACE users;</a:t>
            </a:r>
          </a:p>
          <a:p>
            <a:r>
              <a:rPr sz="1250" b="0">
                <a:solidFill>
                  <a:srgbClr val="E6E6E6"/>
                </a:solidFill>
                <a:latin typeface="Consolas"/>
              </a:rPr>
              <a:t>ORA-25175: no PRIMARY KEY constraint found</a:t>
            </a:r>
          </a:p>
          <a:p>
            <a:r>
              <a:rPr sz="1250" b="0">
                <a:solidFill>
                  <a:srgbClr val="E6E6E6"/>
                </a:solidFill>
                <a:latin typeface="Consolas"/>
              </a:rPr>
              <a:t>   UNIQUE 제약으로는 안 된다. PRIMARY KEY 여야 한다</a:t>
            </a:r>
          </a:p>
          <a:p>
            <a:r>
              <a:rPr sz="1250" b="0">
                <a:solidFill>
                  <a:srgbClr val="E6E6E6"/>
                </a:solidFill>
                <a:latin typeface="Consolas"/>
              </a:rPr>
              <a:t/>
            </a:r>
          </a:p>
          <a:p>
            <a:r>
              <a:rPr sz="1250" b="0">
                <a:solidFill>
                  <a:srgbClr val="E6E6E6"/>
                </a:solidFill>
                <a:latin typeface="Consolas"/>
              </a:rPr>
              <a:t>CREATE TABLE hr.emp_iot (</a:t>
            </a:r>
          </a:p>
          <a:p>
            <a:r>
              <a:rPr sz="1250" b="0">
                <a:solidFill>
                  <a:srgbClr val="E6E6E6"/>
                </a:solidFill>
                <a:latin typeface="Consolas"/>
              </a:rPr>
              <a:t>  emp_id    NUMBER,</a:t>
            </a:r>
          </a:p>
          <a:p>
            <a:r>
              <a:rPr sz="1250" b="0">
                <a:solidFill>
                  <a:srgbClr val="E6E6E6"/>
                </a:solidFill>
                <a:latin typeface="Consolas"/>
              </a:rPr>
              <a:t>  emp_name  VARCHAR2(50),</a:t>
            </a:r>
          </a:p>
          <a:p>
            <a:r>
              <a:rPr sz="1250" b="0">
                <a:solidFill>
                  <a:srgbClr val="E6E6E6"/>
                </a:solidFill>
                <a:latin typeface="Consolas"/>
              </a:rPr>
              <a:t>  emp_email VARCHAR2(200),</a:t>
            </a:r>
          </a:p>
          <a:p>
            <a:r>
              <a:rPr sz="1250" b="0">
                <a:solidFill>
                  <a:srgbClr val="E6E6E6"/>
                </a:solidFill>
                <a:latin typeface="Consolas"/>
              </a:rPr>
              <a:t>  emp_notes VARCHAR2(400),</a:t>
            </a:r>
          </a:p>
          <a:p>
            <a:r>
              <a:rPr sz="1250" b="0">
                <a:solidFill>
                  <a:srgbClr val="E6E6E6"/>
                </a:solidFill>
                <a:latin typeface="Consolas"/>
              </a:rPr>
              <a:t>  CONSTRAINT emp_iot_pk PRIMARY KEY (emp_id)      -- 이것이 저장 순서다</a:t>
            </a:r>
          </a:p>
          <a:p>
            <a:r>
              <a:rPr sz="1250" b="0">
                <a:solidFill>
                  <a:srgbClr val="E6E6E6"/>
                </a:solidFill>
                <a:latin typeface="Consolas"/>
              </a:rPr>
              <a:t>)</a:t>
            </a:r>
          </a:p>
          <a:p>
            <a:r>
              <a:rPr sz="1250" b="0">
                <a:solidFill>
                  <a:srgbClr val="E6E6E6"/>
                </a:solidFill>
                <a:latin typeface="Consolas"/>
              </a:rPr>
              <a:t>ORGANIZATION INDEX</a:t>
            </a:r>
          </a:p>
          <a:p>
            <a:r>
              <a:rPr sz="1250" b="0">
                <a:solidFill>
                  <a:srgbClr val="E6E6E6"/>
                </a:solidFill>
                <a:latin typeface="Consolas"/>
              </a:rPr>
              <a:t>TABLESPACE users</a:t>
            </a:r>
          </a:p>
          <a:p>
            <a:r>
              <a:rPr sz="1250" b="0">
                <a:solidFill>
                  <a:srgbClr val="E6E6E6"/>
                </a:solidFill>
                <a:latin typeface="Consolas"/>
              </a:rPr>
              <a:t>PCTFREE 0;                                        -- 키가 증가만 하면 0 이 맞다</a:t>
            </a:r>
          </a:p>
          <a:p>
            <a:r>
              <a:rPr sz="1250" b="0">
                <a:solidFill>
                  <a:srgbClr val="E6E6E6"/>
                </a:solidFill>
                <a:latin typeface="Consolas"/>
              </a:rPr>
              <a:t/>
            </a:r>
          </a:p>
          <a:p>
            <a:r>
              <a:rPr sz="1250" b="0">
                <a:solidFill>
                  <a:srgbClr val="E6E6E6"/>
                </a:solidFill>
                <a:latin typeface="Consolas"/>
              </a:rPr>
              <a:t>-- 기본키는 떼어 낼 수 없다</a:t>
            </a:r>
          </a:p>
          <a:p>
            <a:r>
              <a:rPr sz="1250" b="0">
                <a:solidFill>
                  <a:srgbClr val="E6E6E6"/>
                </a:solidFill>
                <a:latin typeface="Consolas"/>
              </a:rPr>
              <a:t>ALTER TABLE hr.emp_iot DROP PRIMARY KEY;</a:t>
            </a:r>
          </a:p>
          <a:p>
            <a:r>
              <a:rPr sz="1250" b="0">
                <a:solidFill>
                  <a:srgbClr val="E6E6E6"/>
                </a:solidFill>
                <a:latin typeface="Consolas"/>
              </a:rPr>
              <a:t>ORA-25188: cannot drop/disable/defer the primary key constraint for</a:t>
            </a:r>
          </a:p>
          <a:p>
            <a:r>
              <a:rPr sz="1250" b="0">
                <a:solidFill>
                  <a:srgbClr val="E6E6E6"/>
                </a:solidFill>
                <a:latin typeface="Consolas"/>
              </a:rPr>
              <a:t>           index-organized tables or sorted hash cluster</a:t>
            </a:r>
          </a:p>
          <a:p>
            <a:r>
              <a:rPr sz="1250" b="0">
                <a:solidFill>
                  <a:srgbClr val="E6E6E6"/>
                </a:solidFill>
                <a:latin typeface="Consolas"/>
              </a:rPr>
              <a:t>   -&gt; IOT 를 고른다는 것은 기본키 설계를 확정한다는 뜻이다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2</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IOT 의 구조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세그먼트가 하나다 — 딕셔너리를 다시 배운다</a:t>
            </a:r>
          </a:p>
          <a:p>
            <a:pPr>
              <a:spcAft>
                <a:spcPts val="600"/>
              </a:spcAft>
            </a:pPr>
            <a:r>
              <a:rPr sz="1600" b="0">
                <a:solidFill>
                  <a:srgbClr val="C5CED6"/>
                </a:solidFill>
                <a:latin typeface="Malgun Gothic"/>
              </a:rPr>
              <a:t>•  실행계획에서 테이블 접근 단계가 사라진다</a:t>
            </a:r>
          </a:p>
          <a:p>
            <a:pPr>
              <a:spcAft>
                <a:spcPts val="600"/>
              </a:spcAft>
            </a:pPr>
            <a:r>
              <a:rPr sz="1600" b="0">
                <a:solidFill>
                  <a:srgbClr val="C5CED6"/>
                </a:solidFill>
                <a:latin typeface="Malgun Gothic"/>
              </a:rPr>
              <a:t>•  ORDER BY 기본키에 정렬이 필요 없다</a:t>
            </a:r>
          </a:p>
          <a:p>
            <a:pPr>
              <a:spcAft>
                <a:spcPts val="600"/>
              </a:spcAft>
            </a:pPr>
            <a:r>
              <a:rPr sz="1600" b="0">
                <a:solidFill>
                  <a:srgbClr val="C5CED6"/>
                </a:solidFill>
                <a:latin typeface="Malgun Gothic"/>
              </a:rPr>
              <a:t>•  ROWID 가 논리 주소다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딕셔너리를 다시 배운다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01 실측. 2000건 적재 후</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SELECT table_name, iot_type, blocks, num_rows, avg_row_len FROM dba_tables ...</a:t>
            </a:r>
          </a:p>
          <a:p>
            <a:r>
              <a:rPr sz="1250" b="0">
                <a:solidFill>
                  <a:srgbClr val="E6E6E6"/>
                </a:solidFill>
                <a:latin typeface="Consolas"/>
              </a:rPr>
              <a:t>TABLE_NAME     IOT_TYPE         BLOCKS   NUM_ROWS AVG_ROW_LEN</a:t>
            </a:r>
          </a:p>
          <a:p>
            <a:r>
              <a:rPr sz="1250" b="0">
                <a:solidFill>
                  <a:srgbClr val="E6E6E6"/>
                </a:solidFill>
                <a:latin typeface="Consolas"/>
              </a:rPr>
              <a:t>EMP_HEAP0                           14       2000          79</a:t>
            </a:r>
          </a:p>
          <a:p>
            <a:r>
              <a:rPr sz="1250" b="0">
                <a:solidFill>
                  <a:srgbClr val="E6E6E6"/>
                </a:solidFill>
                <a:latin typeface="Consolas"/>
              </a:rPr>
              <a:t>EMP_IOT        IOT                           2000          79</a:t>
            </a:r>
          </a:p>
          <a:p>
            <a:r>
              <a:rPr sz="1250" b="0">
                <a:solidFill>
                  <a:srgbClr val="E6E6E6"/>
                </a:solidFill>
                <a:latin typeface="Consolas"/>
              </a:rPr>
              <a:t>                                    ^^^ NULL — 테이블 세그먼트가 없다</a:t>
            </a:r>
          </a:p>
          <a:p>
            <a:r>
              <a:rPr sz="1250" b="0">
                <a:solidFill>
                  <a:srgbClr val="E6E6E6"/>
                </a:solidFill>
                <a:latin typeface="Consolas"/>
              </a:rPr>
              <a:t/>
            </a:r>
          </a:p>
          <a:p>
            <a:r>
              <a:rPr sz="1250" b="0">
                <a:solidFill>
                  <a:srgbClr val="E6E6E6"/>
                </a:solidFill>
                <a:latin typeface="Consolas"/>
              </a:rPr>
              <a:t>SELECT index_name, blevel, leaf_blocks, num_rows, clustering_factor FROM dba_indexes ...</a:t>
            </a:r>
          </a:p>
          <a:p>
            <a:r>
              <a:rPr sz="1250" b="0">
                <a:solidFill>
                  <a:srgbClr val="E6E6E6"/>
                </a:solidFill>
                <a:latin typeface="Consolas"/>
              </a:rPr>
              <a:t>INDEX_NAME         BLEVEL LEAF_BLOCKS   NUM_ROWS CLUSTERING_FACTOR</a:t>
            </a:r>
          </a:p>
          <a:p>
            <a:r>
              <a:rPr sz="1250" b="0">
                <a:solidFill>
                  <a:srgbClr val="E6E6E6"/>
                </a:solidFill>
                <a:latin typeface="Consolas"/>
              </a:rPr>
              <a:t>EMP_IOT_PK              1          23       2000                 0</a:t>
            </a:r>
          </a:p>
          <a:p>
            <a:r>
              <a:rPr sz="1250" b="0">
                <a:solidFill>
                  <a:srgbClr val="E6E6E6"/>
                </a:solidFill>
                <a:latin typeface="Consolas"/>
              </a:rPr>
              <a:t>                                   ^^ 실제 크기는 여기에 있다   ^ 항상 0</a:t>
            </a:r>
          </a:p>
          <a:p>
            <a:r>
              <a:rPr sz="1250" b="0">
                <a:solidFill>
                  <a:srgbClr val="E6E6E6"/>
                </a:solidFill>
                <a:latin typeface="Consolas"/>
              </a:rPr>
              <a:t/>
            </a:r>
          </a:p>
          <a:p>
            <a:r>
              <a:rPr sz="1250" b="0">
                <a:solidFill>
                  <a:srgbClr val="E6E6E6"/>
                </a:solidFill>
                <a:latin typeface="Consolas"/>
              </a:rPr>
              <a:t>SELECT segment_name, segment_type, bytes/1024 kb, blocks FROM dba_segments ...</a:t>
            </a:r>
          </a:p>
          <a:p>
            <a:r>
              <a:rPr sz="1250" b="0">
                <a:solidFill>
                  <a:srgbClr val="E6E6E6"/>
                </a:solidFill>
                <a:latin typeface="Consolas"/>
              </a:rPr>
              <a:t>SEGMENT_NAME       SEGMENT_TYPE               KB     BLOCKS</a:t>
            </a:r>
          </a:p>
          <a:p>
            <a:r>
              <a:rPr sz="1250" b="0">
                <a:solidFill>
                  <a:srgbClr val="E6E6E6"/>
                </a:solidFill>
                <a:latin typeface="Consolas"/>
              </a:rPr>
              <a:t>EMP_IOT_PK         INDEX                     256         32</a:t>
            </a:r>
          </a:p>
          <a:p>
            <a:r>
              <a:rPr sz="1250" b="0">
                <a:solidFill>
                  <a:srgbClr val="E6E6E6"/>
                </a:solidFill>
                <a:latin typeface="Consolas"/>
              </a:rPr>
              <a:t>   세그먼트 이름이 테이블 이름이 아니라 기본키 인덱스 이름이다</a:t>
            </a:r>
          </a:p>
          <a:p>
            <a:r>
              <a:rPr sz="1250" b="0">
                <a:solidFill>
                  <a:srgbClr val="E6E6E6"/>
                </a:solidFill>
                <a:latin typeface="Consolas"/>
              </a:rPr>
              <a:t/>
            </a:r>
          </a:p>
          <a:p>
            <a:r>
              <a:rPr sz="1250" b="0">
                <a:solidFill>
                  <a:srgbClr val="E6E6E6"/>
                </a:solidFill>
                <a:latin typeface="Consolas"/>
              </a:rPr>
              <a:t>기억할 세 가지</a:t>
            </a:r>
          </a:p>
          <a:p>
            <a:r>
              <a:rPr sz="1250" b="0">
                <a:solidFill>
                  <a:srgbClr val="E6E6E6"/>
                </a:solidFill>
                <a:latin typeface="Consolas"/>
              </a:rPr>
              <a:t>  · dba_tables.iot_type = IOT / IOT_OVERFLOW / IOT_MAPPING</a:t>
            </a:r>
          </a:p>
          <a:p>
            <a:r>
              <a:rPr sz="1250" b="0">
                <a:solidFill>
                  <a:srgbClr val="E6E6E6"/>
                </a:solidFill>
                <a:latin typeface="Consolas"/>
              </a:rPr>
              <a:t>  · dba_tables.blocks 는 NULL. 크기·통계는 dba_indexes 를 본다</a:t>
            </a:r>
          </a:p>
          <a:p>
            <a:r>
              <a:rPr sz="1250" b="0">
                <a:solidFill>
                  <a:srgbClr val="E6E6E6"/>
                </a:solidFill>
                <a:latin typeface="Consolas"/>
              </a:rPr>
              <a:t>  · clustering_factor 는 항상 0 (인덱스 순서 = 데이터 순서)</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테이블 접근 단계가 없다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01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IOT : 기본키 단건</a:t>
            </a:r>
          </a:p>
          <a:p>
            <a:r>
              <a:rPr sz="1250" b="0">
                <a:solidFill>
                  <a:srgbClr val="E6E6E6"/>
                </a:solidFill>
                <a:latin typeface="Consolas"/>
              </a:rPr>
              <a:t>SELECT emp_id, emp_name FROM hr.emp_iot WHERE emp_id = 500;</a:t>
            </a:r>
          </a:p>
          <a:p>
            <a:r>
              <a:rPr sz="1250" b="0">
                <a:solidFill>
                  <a:srgbClr val="E6E6E6"/>
                </a:solidFill>
                <a:latin typeface="Consolas"/>
              </a:rPr>
              <a:t>|   0 | SELECT STATEMENT  |            | 1 |   | 1 |...|       2 |</a:t>
            </a:r>
          </a:p>
          <a:p>
            <a:r>
              <a:rPr sz="1250" b="0">
                <a:solidFill>
                  <a:srgbClr val="E6E6E6"/>
                </a:solidFill>
                <a:latin typeface="Consolas"/>
              </a:rPr>
              <a:t>|*  1 |  INDEX UNIQUE SCAN| EMP_IOT_PK | 1 | 1 | 1 |...|       2 |</a:t>
            </a:r>
          </a:p>
          <a:p>
            <a:r>
              <a:rPr sz="1250" b="0">
                <a:solidFill>
                  <a:srgbClr val="E6E6E6"/>
                </a:solidFill>
                <a:latin typeface="Consolas"/>
              </a:rPr>
              <a:t>        ^^^ 한 줄로 끝난다. TABLE ACCESS BY INDEX ROWID 가 없다</a:t>
            </a:r>
          </a:p>
          <a:p>
            <a:r>
              <a:rPr sz="1250" b="0">
                <a:solidFill>
                  <a:srgbClr val="E6E6E6"/>
                </a:solidFill>
                <a:latin typeface="Consolas"/>
              </a:rPr>
              <a:t/>
            </a:r>
          </a:p>
          <a:p>
            <a:r>
              <a:rPr sz="1250" b="0">
                <a:solidFill>
                  <a:srgbClr val="E6E6E6"/>
                </a:solidFill>
                <a:latin typeface="Consolas"/>
              </a:rPr>
              <a:t>-- IOT : 기본키 범위 101건</a:t>
            </a:r>
          </a:p>
          <a:p>
            <a:r>
              <a:rPr sz="1250" b="0">
                <a:solidFill>
                  <a:srgbClr val="E6E6E6"/>
                </a:solidFill>
                <a:latin typeface="Consolas"/>
              </a:rPr>
              <a:t>|   2 |   INDEX RANGE SCAN| EMP_IOT_PK | 1 | 102 | 101 |...|      3 |</a:t>
            </a:r>
          </a:p>
          <a:p>
            <a:r>
              <a:rPr sz="1250" b="0">
                <a:solidFill>
                  <a:srgbClr val="E6E6E6"/>
                </a:solidFill>
                <a:latin typeface="Consolas"/>
              </a:rPr>
              <a:t/>
            </a:r>
          </a:p>
          <a:p>
            <a:r>
              <a:rPr sz="1250" b="0">
                <a:solidFill>
                  <a:srgbClr val="E6E6E6"/>
                </a:solidFill>
                <a:latin typeface="Consolas"/>
              </a:rPr>
              <a:t>-- 같은 조회를 힙에서 하면 (실습 04, 10만 건)</a:t>
            </a:r>
          </a:p>
          <a:p>
            <a:r>
              <a:rPr sz="1250" b="0">
                <a:solidFill>
                  <a:srgbClr val="E6E6E6"/>
                </a:solidFill>
                <a:latin typeface="Consolas"/>
              </a:rPr>
              <a:t>|   1 |  TABLE ACCESS BY INDEX ROWID| EMP_HEAP    | 1 | 1 | 1 |...|   3 |</a:t>
            </a:r>
          </a:p>
          <a:p>
            <a:r>
              <a:rPr sz="1250" b="0">
                <a:solidFill>
                  <a:srgbClr val="E6E6E6"/>
                </a:solidFill>
                <a:latin typeface="Consolas"/>
              </a:rPr>
              <a:t>|*  2 |   INDEX UNIQUE SCAN         | EMP_HEAP_PK | 1 | 1 | 1 |...|   2 |</a:t>
            </a:r>
          </a:p>
          <a:p>
            <a:r>
              <a:rPr sz="1250" b="0">
                <a:solidFill>
                  <a:srgbClr val="E6E6E6"/>
                </a:solidFill>
                <a:latin typeface="Consolas"/>
              </a:rPr>
              <a:t>        인덱스 2블록 + 테이블 1블록 = 3</a:t>
            </a:r>
          </a:p>
          <a:p>
            <a:r>
              <a:rPr sz="1250" b="0">
                <a:solidFill>
                  <a:srgbClr val="E6E6E6"/>
                </a:solidFill>
                <a:latin typeface="Consolas"/>
              </a:rPr>
              <a:t/>
            </a:r>
          </a:p>
          <a:p>
            <a:r>
              <a:rPr sz="1250" b="0">
                <a:solidFill>
                  <a:srgbClr val="E6E6E6"/>
                </a:solidFill>
                <a:latin typeface="Consolas"/>
              </a:rPr>
              <a:t>주의 : 계획 단계는 하나 줄었지만 Buffers 는 힙도 3, IOT 도 3 이었다.</a:t>
            </a:r>
          </a:p>
          <a:p>
            <a:r>
              <a:rPr sz="1250" b="0">
                <a:solidFill>
                  <a:srgbClr val="E6E6E6"/>
                </a:solidFill>
                <a:latin typeface="Consolas"/>
              </a:rPr>
              <a:t>       IOT 인덱스가 커서 blevel 이 1 더 깊기 때문이다 (힙 PK 1 vs IOT 2).</a:t>
            </a:r>
          </a:p>
          <a:p>
            <a:r>
              <a:rPr sz="1250" b="0">
                <a:solidFill>
                  <a:srgbClr val="E6E6E6"/>
                </a:solidFill>
                <a:latin typeface="Consolas"/>
              </a:rPr>
              <a:t>       "단계가 줄었으니 빠르다" 는 추론은 실측으로 확인해야 한다.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정렬이 필요 없다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01 실측. 여기서는 확실히 이긴다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IOT</a:t>
            </a:r>
          </a:p>
          <a:p>
            <a:r>
              <a:rPr sz="1250" b="0">
                <a:solidFill>
                  <a:srgbClr val="E6E6E6"/>
                </a:solidFill>
                <a:latin typeface="Consolas"/>
              </a:rPr>
              <a:t>SELECT * FROM (SELECT emp_id FROM hr.emp_iot ORDER BY emp_id) WHERE ROWNUM &lt;= 5;</a:t>
            </a:r>
          </a:p>
          <a:p>
            <a:r>
              <a:rPr sz="1250" b="0">
                <a:solidFill>
                  <a:srgbClr val="E6E6E6"/>
                </a:solidFill>
                <a:latin typeface="Consolas"/>
              </a:rPr>
              <a:t>|*  1 |  COUNT STOPKEY    |            | 1 |      | 5 |...|       3 |</a:t>
            </a:r>
          </a:p>
          <a:p>
            <a:r>
              <a:rPr sz="1250" b="0">
                <a:solidFill>
                  <a:srgbClr val="E6E6E6"/>
                </a:solidFill>
                <a:latin typeface="Consolas"/>
              </a:rPr>
              <a:t>|   2 |   VIEW            |            | 1 |    5 | 5 |...|       3 |</a:t>
            </a:r>
          </a:p>
          <a:p>
            <a:r>
              <a:rPr sz="1250" b="0">
                <a:solidFill>
                  <a:srgbClr val="E6E6E6"/>
                </a:solidFill>
                <a:latin typeface="Consolas"/>
              </a:rPr>
              <a:t>|   3 |    INDEX FULL SCAN| EMP_IOT_PK | 1 | 2000 | 5 |...|       3 |</a:t>
            </a:r>
          </a:p>
          <a:p>
            <a:r>
              <a:rPr sz="1250" b="0">
                <a:solidFill>
                  <a:srgbClr val="E6E6E6"/>
                </a:solidFill>
                <a:latin typeface="Consolas"/>
              </a:rPr>
              <a:t>        정렬 연산이 없다. Buffers 3</a:t>
            </a:r>
          </a:p>
          <a:p>
            <a:r>
              <a:rPr sz="1250" b="0">
                <a:solidFill>
                  <a:srgbClr val="E6E6E6"/>
                </a:solidFill>
                <a:latin typeface="Consolas"/>
              </a:rPr>
              <a:t/>
            </a:r>
          </a:p>
          <a:p>
            <a:r>
              <a:rPr sz="1250" b="0">
                <a:solidFill>
                  <a:srgbClr val="E6E6E6"/>
                </a:solidFill>
                <a:latin typeface="Consolas"/>
              </a:rPr>
              <a:t>-- 같은 데이터를 담은 힙 테이블</a:t>
            </a:r>
          </a:p>
          <a:p>
            <a:r>
              <a:rPr sz="1250" b="0">
                <a:solidFill>
                  <a:srgbClr val="E6E6E6"/>
                </a:solidFill>
                <a:latin typeface="Consolas"/>
              </a:rPr>
              <a:t>|*  3 |    SORT ORDER BY STOPKEY|           | 1 | 2000 | 5 |...| 24 | 2048 |</a:t>
            </a:r>
          </a:p>
          <a:p>
            <a:r>
              <a:rPr sz="1250" b="0">
                <a:solidFill>
                  <a:srgbClr val="E6E6E6"/>
                </a:solidFill>
                <a:latin typeface="Consolas"/>
              </a:rPr>
              <a:t>|   4 |     TABLE ACCESS FULL   | EMP_HEAP0 | 1 | 2000 | 2000 |...| 24 |</a:t>
            </a:r>
          </a:p>
          <a:p>
            <a:r>
              <a:rPr sz="1250" b="0">
                <a:solidFill>
                  <a:srgbClr val="E6E6E6"/>
                </a:solidFill>
                <a:latin typeface="Consolas"/>
              </a:rPr>
              <a:t>        SORT ORDER BY, Buffers 24, Used-Mem 2048</a:t>
            </a:r>
          </a:p>
          <a:p>
            <a:r>
              <a:rPr sz="1250" b="0">
                <a:solidFill>
                  <a:srgbClr val="E6E6E6"/>
                </a:solidFill>
                <a:latin typeface="Consolas"/>
              </a:rPr>
              <a:t/>
            </a:r>
          </a:p>
          <a:p>
            <a:r>
              <a:rPr sz="1250" b="0">
                <a:solidFill>
                  <a:srgbClr val="E6E6E6"/>
                </a:solidFill>
                <a:latin typeface="Consolas"/>
              </a:rPr>
              <a:t>페이징 쿼리(ORDER BY 키 + ROWNUM) 에서 이 차이가 크게 나타난다.</a:t>
            </a:r>
          </a:p>
          <a:p>
            <a:r>
              <a:rPr sz="1250" b="0">
                <a:solidFill>
                  <a:srgbClr val="E6E6E6"/>
                </a:solidFill>
                <a:latin typeface="Consolas"/>
              </a:rPr>
              <a:t/>
            </a:r>
          </a:p>
          <a:p>
            <a:r>
              <a:rPr sz="1250" b="0">
                <a:solidFill>
                  <a:srgbClr val="E6E6E6"/>
                </a:solidFill>
                <a:latin typeface="Consolas"/>
              </a:rPr>
              <a:t>-- 단, 순서를 보장받으려면 ORDER BY 를 반드시 써야 한다</a:t>
            </a:r>
          </a:p>
          <a:p>
            <a:r>
              <a:rPr sz="1250" b="0">
                <a:solidFill>
                  <a:srgbClr val="E6E6E6"/>
                </a:solidFill>
                <a:latin typeface="Consolas"/>
              </a:rPr>
              <a:t>SELECT emp_id FROM hr.emp_iot WHERE ROWNUM &lt;= 5;</a:t>
            </a:r>
          </a:p>
          <a:p>
            <a:r>
              <a:rPr sz="1250" b="0">
                <a:solidFill>
                  <a:srgbClr val="E6E6E6"/>
                </a:solidFill>
                <a:latin typeface="Consolas"/>
              </a:rPr>
              <a:t>        98  99  100  101  102        &lt;- 1 부터가 아니다!</a:t>
            </a:r>
          </a:p>
          <a:p>
            <a:r>
              <a:rPr sz="1250" b="0">
                <a:solidFill>
                  <a:srgbClr val="E6E6E6"/>
                </a:solidFill>
                <a:latin typeface="Consolas"/>
              </a:rPr>
              <a:t>|   2 |   INDEX FAST FULL SCAN| EMP_IOT_PK |</a:t>
            </a:r>
          </a:p>
          <a:p>
            <a:r>
              <a:rPr sz="1250" b="0">
                <a:solidFill>
                  <a:srgbClr val="E6E6E6"/>
                </a:solidFill>
                <a:latin typeface="Consolas"/>
              </a:rPr>
              <a:t>        FAST FULL SCAN 은 리프 블록을 물리 순서로 멀티블록 읽기 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ROWID 가 논리 주소다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01 실측. 전환 전에 반드시 확인할 것</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힙</a:t>
            </a:r>
          </a:p>
          <a:p>
            <a:r>
              <a:rPr sz="1250" b="0">
                <a:solidFill>
                  <a:srgbClr val="E6E6E6"/>
                </a:solidFill>
                <a:latin typeface="Consolas"/>
              </a:rPr>
              <a:t>SELECT ROWID, LENGTH(ROWID) FROM hr.emp_heap0 WHERE emp_id = 5;</a:t>
            </a:r>
          </a:p>
          <a:p>
            <a:r>
              <a:rPr sz="1250" b="0">
                <a:solidFill>
                  <a:srgbClr val="E6E6E6"/>
                </a:solidFill>
                <a:latin typeface="Consolas"/>
              </a:rPr>
              <a:t>HEAP_ROWID                  LEN</a:t>
            </a:r>
          </a:p>
          <a:p>
            <a:r>
              <a:rPr sz="1250" b="0">
                <a:solidFill>
                  <a:srgbClr val="E6E6E6"/>
                </a:solidFill>
                <a:latin typeface="Consolas"/>
              </a:rPr>
              <a:t>AAASoVAAHAAAAH7AAE           18      &lt;- 파일·블록·행 번호 (물리 주소)</a:t>
            </a:r>
          </a:p>
          <a:p>
            <a:r>
              <a:rPr sz="1250" b="0">
                <a:solidFill>
                  <a:srgbClr val="E6E6E6"/>
                </a:solidFill>
                <a:latin typeface="Consolas"/>
              </a:rPr>
              <a:t/>
            </a:r>
          </a:p>
          <a:p>
            <a:r>
              <a:rPr sz="1250" b="0">
                <a:solidFill>
                  <a:srgbClr val="E6E6E6"/>
                </a:solidFill>
                <a:latin typeface="Consolas"/>
              </a:rPr>
              <a:t>-- IOT</a:t>
            </a:r>
          </a:p>
          <a:p>
            <a:r>
              <a:rPr sz="1250" b="0">
                <a:solidFill>
                  <a:srgbClr val="E6E6E6"/>
                </a:solidFill>
                <a:latin typeface="Consolas"/>
              </a:rPr>
              <a:t>SELECT ROWID, LENGTH(ROWID) FROM hr.emp_iot WHERE emp_id = 5;</a:t>
            </a:r>
          </a:p>
          <a:p>
            <a:r>
              <a:rPr sz="1250" b="0">
                <a:solidFill>
                  <a:srgbClr val="E6E6E6"/>
                </a:solidFill>
                <a:latin typeface="Consolas"/>
              </a:rPr>
              <a:t>IOT_ROWID                   LEN</a:t>
            </a:r>
          </a:p>
          <a:p>
            <a:r>
              <a:rPr sz="1250" b="0">
                <a:solidFill>
                  <a:srgbClr val="E6E6E6"/>
                </a:solidFill>
                <a:latin typeface="Consolas"/>
              </a:rPr>
              <a:t>*BAHAAd8CwQb+                13      &lt;- * 로 시작하는 UROWID (논리 주소)</a:t>
            </a:r>
          </a:p>
          <a:p>
            <a:r>
              <a:rPr sz="1250" b="0">
                <a:solidFill>
                  <a:srgbClr val="E6E6E6"/>
                </a:solidFill>
                <a:latin typeface="Consolas"/>
              </a:rPr>
              <a:t>   기본키 값을 담고 있으므로 길이가 키 길이에 따라 달라진다</a:t>
            </a:r>
          </a:p>
          <a:p>
            <a:r>
              <a:rPr sz="1250" b="0">
                <a:solidFill>
                  <a:srgbClr val="E6E6E6"/>
                </a:solidFill>
                <a:latin typeface="Consolas"/>
              </a:rPr>
              <a:t/>
            </a:r>
          </a:p>
          <a:p>
            <a:r>
              <a:rPr sz="1250" b="0">
                <a:solidFill>
                  <a:srgbClr val="E6E6E6"/>
                </a:solidFill>
                <a:latin typeface="Consolas"/>
              </a:rPr>
              <a:t>-- DBMS_ROWID 는 물리 ROWID 전용이다</a:t>
            </a:r>
          </a:p>
          <a:p>
            <a:r>
              <a:rPr sz="1250" b="0">
                <a:solidFill>
                  <a:srgbClr val="E6E6E6"/>
                </a:solidFill>
                <a:latin typeface="Consolas"/>
              </a:rPr>
              <a:t>SELECT dbms_rowid.rowid_type(ROWID) FROM hr.emp_heap0 WHERE emp_id = 5;  -&gt; 1</a:t>
            </a:r>
          </a:p>
          <a:p>
            <a:r>
              <a:rPr sz="1250" b="0">
                <a:solidFill>
                  <a:srgbClr val="E6E6E6"/>
                </a:solidFill>
                <a:latin typeface="Consolas"/>
              </a:rPr>
              <a:t>SELECT dbms_rowid.rowid_type(ROWID) FROM hr.emp_iot   WHERE emp_id = 5;</a:t>
            </a:r>
          </a:p>
          <a:p>
            <a:r>
              <a:rPr sz="1250" b="0">
                <a:solidFill>
                  <a:srgbClr val="E6E6E6"/>
                </a:solidFill>
                <a:latin typeface="Consolas"/>
              </a:rPr>
              <a:t>ORA-06553: PLS-306: wrong number or types of arguments in call to ROWID_TYPE</a:t>
            </a:r>
          </a:p>
          <a:p>
            <a:r>
              <a:rPr sz="1250" b="0">
                <a:solidFill>
                  <a:srgbClr val="E6E6E6"/>
                </a:solidFill>
                <a:latin typeface="Consolas"/>
              </a:rPr>
              <a:t/>
            </a:r>
          </a:p>
          <a:p>
            <a:r>
              <a:rPr sz="1250" b="0">
                <a:solidFill>
                  <a:srgbClr val="E6E6E6"/>
                </a:solidFill>
                <a:latin typeface="Consolas"/>
              </a:rPr>
              <a:t>IOT 전환 전 점검 목록</a:t>
            </a:r>
          </a:p>
          <a:p>
            <a:r>
              <a:rPr sz="1250" b="0">
                <a:solidFill>
                  <a:srgbClr val="E6E6E6"/>
                </a:solidFill>
                <a:latin typeface="Consolas"/>
              </a:rPr>
              <a:t>  · DBMS_ROWID 를 쓰는 코드가 있는가</a:t>
            </a:r>
          </a:p>
          <a:p>
            <a:r>
              <a:rPr sz="1250" b="0">
                <a:solidFill>
                  <a:srgbClr val="E6E6E6"/>
                </a:solidFill>
                <a:latin typeface="Consolas"/>
              </a:rPr>
              <a:t>  · ROWID 를 화면·세션에 들고 다니다가 재접근하는 코드가 있는가</a:t>
            </a:r>
          </a:p>
          <a:p>
            <a:r>
              <a:rPr sz="1250" b="0">
                <a:solidFill>
                  <a:srgbClr val="E6E6E6"/>
                </a:solidFill>
                <a:latin typeface="Consolas"/>
              </a:rPr>
              <a:t>  · SELECT ... FOR UPDATE 후 ROWID 로 UPDATE 하는 배치가 있는가</a:t>
            </a:r>
          </a:p>
          <a:p>
            <a:r>
              <a:rPr sz="1250" b="0">
                <a:solidFill>
                  <a:srgbClr val="E6E6E6"/>
                </a:solidFill>
                <a:latin typeface="Consolas"/>
              </a:rPr>
              <a:t>  -&gt; 있으면 함께 수정하거나 그 테이블은 IOT 대상에서 제외한다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IOT 가 못 하는 것 · 할 수 있는 것</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못 하는 것</a:t>
            </a:r>
          </a:p>
          <a:p>
            <a:pPr>
              <a:spcAft>
                <a:spcPts val="600"/>
              </a:spcAft>
            </a:pPr>
            <a:r>
              <a:rPr sz="1600" b="0">
                <a:solidFill>
                  <a:srgbClr val="202830"/>
                </a:solidFill>
                <a:latin typeface="Malgun Gothic"/>
              </a:rPr>
              <a:t>    –  기본키 없이 생성 — ORA-25175 (UNIQUE 로는 불가)</a:t>
            </a:r>
          </a:p>
          <a:p>
            <a:pPr>
              <a:spcAft>
                <a:spcPts val="600"/>
              </a:spcAft>
            </a:pPr>
            <a:r>
              <a:rPr sz="1600" b="0">
                <a:solidFill>
                  <a:srgbClr val="202830"/>
                </a:solidFill>
                <a:latin typeface="Malgun Gothic"/>
              </a:rPr>
              <a:t>    –  기본키 제거·비활성화 — ORA-25188</a:t>
            </a:r>
          </a:p>
          <a:p>
            <a:pPr>
              <a:spcAft>
                <a:spcPts val="600"/>
              </a:spcAft>
            </a:pPr>
            <a:r>
              <a:rPr sz="1600" b="0">
                <a:solidFill>
                  <a:srgbClr val="202830"/>
                </a:solidFill>
                <a:latin typeface="Malgun Gothic"/>
              </a:rPr>
              <a:t>    –  LONG 컬럼 — ORA-02160 (CLOB·BLOB 은 가능하다)</a:t>
            </a:r>
          </a:p>
          <a:p>
            <a:pPr>
              <a:spcAft>
                <a:spcPts val="600"/>
              </a:spcAft>
            </a:pPr>
            <a:r>
              <a:rPr sz="1600" b="0">
                <a:solidFill>
                  <a:srgbClr val="202830"/>
                </a:solidFill>
                <a:latin typeface="Malgun Gothic"/>
              </a:rPr>
              <a:t>    –  MAPPING TABLE 없이 비트맵 인덱스 — ORA-28669</a:t>
            </a:r>
          </a:p>
          <a:p>
            <a:pPr>
              <a:spcAft>
                <a:spcPts val="600"/>
              </a:spcAft>
            </a:pPr>
            <a:r>
              <a:rPr sz="1600" b="0">
                <a:solidFill>
                  <a:srgbClr val="202830"/>
                </a:solidFill>
                <a:latin typeface="Malgun Gothic"/>
              </a:rPr>
              <a:t>    –  ALTER TABLE 로 힙과 상호 전환 — 구문이 없다 (8부)</a:t>
            </a:r>
          </a:p>
          <a:p>
            <a:pPr>
              <a:spcAft>
                <a:spcPts val="600"/>
              </a:spcAft>
            </a:pPr>
            <a:r>
              <a:rPr sz="1800" b="0">
                <a:solidFill>
                  <a:srgbClr val="202830"/>
                </a:solidFill>
                <a:latin typeface="Malgun Gothic"/>
              </a:rPr>
              <a:t>•  할 수 있는 것</a:t>
            </a:r>
          </a:p>
          <a:p>
            <a:pPr>
              <a:spcAft>
                <a:spcPts val="600"/>
              </a:spcAft>
            </a:pPr>
            <a:r>
              <a:rPr sz="1600" b="0">
                <a:solidFill>
                  <a:srgbClr val="202830"/>
                </a:solidFill>
                <a:latin typeface="Malgun Gothic"/>
              </a:rPr>
              <a:t>    –  ALTER TABLE ... ADD (컬럼) — 맨 뒤에 붙는다. INCLUDING 이면 오버플로 쪽으로 간다</a:t>
            </a:r>
          </a:p>
          <a:p>
            <a:pPr>
              <a:spcAft>
                <a:spcPts val="600"/>
              </a:spcAft>
            </a:pPr>
            <a:r>
              <a:rPr sz="1600" b="0">
                <a:solidFill>
                  <a:srgbClr val="202830"/>
                </a:solidFill>
                <a:latin typeface="Malgun Gothic"/>
              </a:rPr>
              <a:t>    –  키 압축 COMPRESS n — 실측 7MB → 5MB (5부)</a:t>
            </a:r>
          </a:p>
          <a:p>
            <a:pPr>
              <a:spcAft>
                <a:spcPts val="600"/>
              </a:spcAft>
            </a:pPr>
            <a:r>
              <a:rPr sz="1600" b="0">
                <a:solidFill>
                  <a:srgbClr val="202830"/>
                </a:solidFill>
                <a:latin typeface="Malgun Gothic"/>
              </a:rPr>
              <a:t>    –  파티션 — 단 정보는 dba_ind_partitions 에 있고 기본키에 파티션 키가 필요하다</a:t>
            </a:r>
          </a:p>
          <a:p>
            <a:pPr>
              <a:spcAft>
                <a:spcPts val="600"/>
              </a:spcAft>
            </a:pPr>
            <a:r>
              <a:rPr sz="1600" b="0">
                <a:solidFill>
                  <a:srgbClr val="202830"/>
                </a:solidFill>
                <a:latin typeface="Malgun Gothic"/>
              </a:rPr>
              <a:t>    –  보조 인덱스 — 단 pct_direct_access 관리가 따라온다 (5부)</a:t>
            </a:r>
          </a:p>
          <a:p>
            <a:pPr>
              <a:spcAft>
                <a:spcPts val="600"/>
              </a:spcAft>
            </a:pPr>
            <a:r>
              <a:rPr sz="1600" b="0">
                <a:solidFill>
                  <a:srgbClr val="202830"/>
                </a:solidFill>
                <a:latin typeface="Malgun Gothic"/>
              </a:rPr>
              <a:t>    –  COALESCE · MOVE 로 재구성</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3</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OVERFLOW 와 INCLUDING</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OVERFLOW 가 없으면 만들 때 거부된다</a:t>
            </a:r>
          </a:p>
          <a:p>
            <a:pPr>
              <a:spcAft>
                <a:spcPts val="600"/>
              </a:spcAft>
            </a:pPr>
            <a:r>
              <a:rPr sz="1600" b="0">
                <a:solidFill>
                  <a:srgbClr val="C5CED6"/>
                </a:solidFill>
                <a:latin typeface="Malgun Gothic"/>
              </a:rPr>
              <a:t>•  INCLUDING 으로 자를 위치를 지정한다</a:t>
            </a:r>
          </a:p>
          <a:p>
            <a:pPr>
              <a:spcAft>
                <a:spcPts val="600"/>
              </a:spcAft>
            </a:pPr>
            <a:r>
              <a:rPr sz="1600" b="0">
                <a:solidFill>
                  <a:srgbClr val="C5CED6"/>
                </a:solidFill>
                <a:latin typeface="Malgun Gothic"/>
              </a:rPr>
              <a:t>•  그 경계 하나가 범위 조회 Buffers 를 8 대 258 로 갈랐다</a:t>
            </a:r>
          </a:p>
          <a:p>
            <a:pPr>
              <a:spcAft>
                <a:spcPts val="600"/>
              </a:spcAft>
            </a:pPr>
            <a:r>
              <a:rPr sz="1600" b="0">
                <a:solidFill>
                  <a:srgbClr val="C5CED6"/>
                </a:solidFill>
                <a:latin typeface="Malgun Gothic"/>
              </a:rPr>
              <a:t>•  비트맵 인덱스와 MAPPING TABLE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OVERFLOW 가 없으면 만들 수 없다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02 실측. CREATE 단계에서 거부된다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hr.iot_noovf (</a:t>
            </a:r>
          </a:p>
          <a:p>
            <a:r>
              <a:rPr sz="1250" b="0">
                <a:solidFill>
                  <a:srgbClr val="E6E6E6"/>
                </a:solidFill>
                <a:latin typeface="Consolas"/>
              </a:rPr>
              <a:t>  id  NUMBER,</a:t>
            </a:r>
          </a:p>
          <a:p>
            <a:r>
              <a:rPr sz="1250" b="0">
                <a:solidFill>
                  <a:srgbClr val="E6E6E6"/>
                </a:solidFill>
                <a:latin typeface="Consolas"/>
              </a:rPr>
              <a:t>  txt VARCHAR2(4000),</a:t>
            </a:r>
          </a:p>
          <a:p>
            <a:r>
              <a:rPr sz="1250" b="0">
                <a:solidFill>
                  <a:srgbClr val="E6E6E6"/>
                </a:solidFill>
                <a:latin typeface="Consolas"/>
              </a:rPr>
              <a:t>  CONSTRAINT iot_noovf_pk PRIMARY KEY (id))</a:t>
            </a:r>
          </a:p>
          <a:p>
            <a:r>
              <a:rPr sz="1250" b="0">
                <a:solidFill>
                  <a:srgbClr val="E6E6E6"/>
                </a:solidFill>
                <a:latin typeface="Consolas"/>
              </a:rPr>
              <a:t>ORGANIZATION INDEX TABLESPACE users;</a:t>
            </a:r>
          </a:p>
          <a:p>
            <a:r>
              <a:rPr sz="1250" b="0">
                <a:solidFill>
                  <a:srgbClr val="E6E6E6"/>
                </a:solidFill>
                <a:latin typeface="Consolas"/>
              </a:rPr>
              <a:t>ORA-01429: Index-Organized Table: no data segment to store overflow row-pieces</a:t>
            </a:r>
          </a:p>
          <a:p>
            <a:r>
              <a:rPr sz="1250" b="0">
                <a:solidFill>
                  <a:srgbClr val="E6E6E6"/>
                </a:solidFill>
                <a:latin typeface="Consolas"/>
              </a:rPr>
              <a:t/>
            </a:r>
          </a:p>
          <a:p>
            <a:r>
              <a:rPr sz="1250" b="0">
                <a:solidFill>
                  <a:srgbClr val="E6E6E6"/>
                </a:solidFill>
                <a:latin typeface="Consolas"/>
              </a:rPr>
              <a:t>  중요 : INSERT 할 때가 아니라 CREATE TABLE 할 때 거부된다.</a:t>
            </a:r>
          </a:p>
          <a:p>
            <a:r>
              <a:rPr sz="1250" b="0">
                <a:solidFill>
                  <a:srgbClr val="E6E6E6"/>
                </a:solidFill>
                <a:latin typeface="Consolas"/>
              </a:rPr>
              <a:t>         Oracle 은 선언된 컬럼의 최대 길이로 판단한다. 실제 데이터가 작아도 같다.</a:t>
            </a:r>
          </a:p>
          <a:p>
            <a:r>
              <a:rPr sz="1250" b="0">
                <a:solidFill>
                  <a:srgbClr val="E6E6E6"/>
                </a:solidFill>
                <a:latin typeface="Consolas"/>
              </a:rPr>
              <a:t>         8K 블록의 임계값은 기본 50%, 약 3950바이트다.</a:t>
            </a:r>
          </a:p>
          <a:p>
            <a:r>
              <a:rPr sz="1250" b="0">
                <a:solidFill>
                  <a:srgbClr val="E6E6E6"/>
                </a:solidFill>
                <a:latin typeface="Consolas"/>
              </a:rPr>
              <a:t/>
            </a:r>
          </a:p>
          <a:p>
            <a:r>
              <a:rPr sz="1250" b="0">
                <a:solidFill>
                  <a:srgbClr val="E6E6E6"/>
                </a:solidFill>
                <a:latin typeface="Consolas"/>
              </a:rPr>
              <a:t>-- VARCHAR2(400) 이면 통과한다</a:t>
            </a:r>
          </a:p>
          <a:p>
            <a:r>
              <a:rPr sz="1250" b="0">
                <a:solidFill>
                  <a:srgbClr val="E6E6E6"/>
                </a:solidFill>
                <a:latin typeface="Consolas"/>
              </a:rPr>
              <a:t>CREATE TABLE hr.iot_small (id NUMBER, txt VARCHAR2(400), ...) ORGANIZATION INDEX;</a:t>
            </a:r>
          </a:p>
          <a:p>
            <a:r>
              <a:rPr sz="1250" b="0">
                <a:solidFill>
                  <a:srgbClr val="E6E6E6"/>
                </a:solidFill>
                <a:latin typeface="Consolas"/>
              </a:rPr>
              <a:t>Table created.</a:t>
            </a:r>
          </a:p>
          <a:p>
            <a:r>
              <a:rPr sz="1250" b="0">
                <a:solidFill>
                  <a:srgbClr val="E6E6E6"/>
                </a:solidFill>
                <a:latin typeface="Consolas"/>
              </a:rPr>
              <a:t/>
            </a:r>
          </a:p>
          <a:p>
            <a:r>
              <a:rPr sz="1250" b="0">
                <a:solidFill>
                  <a:srgbClr val="E6E6E6"/>
                </a:solidFill>
                <a:latin typeface="Consolas"/>
              </a:rPr>
              <a:t>SELECT index_name, index_type, pct_threshold, include_column FROM dba_indexes ...</a:t>
            </a:r>
          </a:p>
          <a:p>
            <a:r>
              <a:rPr sz="1250" b="0">
                <a:solidFill>
                  <a:srgbClr val="E6E6E6"/>
                </a:solidFill>
                <a:latin typeface="Consolas"/>
              </a:rPr>
              <a:t>INDEX_NAME     INDEX_TYPE      PCT_THRESHOLD INCLUDE_COLUMN</a:t>
            </a:r>
          </a:p>
          <a:p>
            <a:r>
              <a:rPr sz="1250" b="0">
                <a:solidFill>
                  <a:srgbClr val="E6E6E6"/>
                </a:solidFill>
                <a:latin typeface="Consolas"/>
              </a:rPr>
              <a:t>IOT_SMALL_PK   IOT - TOP                  50</a:t>
            </a:r>
          </a:p>
          <a:p>
            <a:r>
              <a:rPr sz="1250" b="0">
                <a:solidFill>
                  <a:srgbClr val="E6E6E6"/>
                </a:solidFill>
                <a:latin typeface="Consolas"/>
              </a:rPr>
              <a:t/>
            </a:r>
          </a:p>
          <a:p>
            <a:r>
              <a:rPr sz="1250" b="0">
                <a:solidFill>
                  <a:srgbClr val="E6E6E6"/>
                </a:solidFill>
                <a:latin typeface="Consolas"/>
              </a:rPr>
              <a:t>   pct_threshold · include_column 은 dba_tables 가 아니라 dba_indexes 에 있다</a:t>
            </a:r>
          </a:p>
          <a:p>
            <a:r>
              <a:rPr sz="1250" b="0">
                <a:solidFill>
                  <a:srgbClr val="E6E6E6"/>
                </a:solidFill>
                <a:latin typeface="Consolas"/>
              </a:rPr>
              <a:t>   (dba_tables 에 그 컬럼은 존재하지 않는다 — ORA-00904)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INCLUDING 으로 자를 위치를 정한다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02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hr.emp_iot_ovf (</a:t>
            </a:r>
          </a:p>
          <a:p>
            <a:r>
              <a:rPr sz="1250" b="0">
                <a:solidFill>
                  <a:srgbClr val="E6E6E6"/>
                </a:solidFill>
                <a:latin typeface="Consolas"/>
              </a:rPr>
              <a:t>  emp_id NUMBER, emp_name VARCHAR2(50), emp_email VARCHAR2(200),</a:t>
            </a:r>
          </a:p>
          <a:p>
            <a:r>
              <a:rPr sz="1250" b="0">
                <a:solidFill>
                  <a:srgbClr val="E6E6E6"/>
                </a:solidFill>
                <a:latin typeface="Consolas"/>
              </a:rPr>
              <a:t>  emp_notes VARCHAR2(2000),</a:t>
            </a:r>
          </a:p>
          <a:p>
            <a:r>
              <a:rPr sz="1250" b="0">
                <a:solidFill>
                  <a:srgbClr val="E6E6E6"/>
                </a:solidFill>
                <a:latin typeface="Consolas"/>
              </a:rPr>
              <a:t>  CONSTRAINT emp_iot_ovf_pk PRIMARY KEY (emp_id))</a:t>
            </a:r>
          </a:p>
          <a:p>
            <a:r>
              <a:rPr sz="1250" b="0">
                <a:solidFill>
                  <a:srgbClr val="E6E6E6"/>
                </a:solidFill>
                <a:latin typeface="Consolas"/>
              </a:rPr>
              <a:t>ORGANIZATION INDEX TABLESPACE users PCTFREE 0</a:t>
            </a:r>
          </a:p>
          <a:p>
            <a:r>
              <a:rPr sz="1250" b="0">
                <a:solidFill>
                  <a:srgbClr val="E6E6E6"/>
                </a:solidFill>
                <a:latin typeface="Consolas"/>
              </a:rPr>
              <a:t>INCLUDING emp_email                  -- 3번 컬럼까지 인덱스에</a:t>
            </a:r>
          </a:p>
          <a:p>
            <a:r>
              <a:rPr sz="1250" b="0">
                <a:solidFill>
                  <a:srgbClr val="E6E6E6"/>
                </a:solidFill>
                <a:latin typeface="Consolas"/>
              </a:rPr>
              <a:t>OVERFLOW TABLESPACE users;           -- 4번 컬럼은 오버플로로</a:t>
            </a:r>
          </a:p>
          <a:p>
            <a:r>
              <a:rPr sz="1250" b="0">
                <a:solidFill>
                  <a:srgbClr val="E6E6E6"/>
                </a:solidFill>
                <a:latin typeface="Consolas"/>
              </a:rPr>
              <a:t/>
            </a:r>
          </a:p>
          <a:p>
            <a:r>
              <a:rPr sz="1250" b="0">
                <a:solidFill>
                  <a:srgbClr val="E6E6E6"/>
                </a:solidFill>
                <a:latin typeface="Consolas"/>
              </a:rPr>
              <a:t>TABLE_NAME           IOT_TYPE     IOT_NAME</a:t>
            </a:r>
          </a:p>
          <a:p>
            <a:r>
              <a:rPr sz="1250" b="0">
                <a:solidFill>
                  <a:srgbClr val="E6E6E6"/>
                </a:solidFill>
                <a:latin typeface="Consolas"/>
              </a:rPr>
              <a:t>EMP_IOT_OVF          IOT</a:t>
            </a:r>
          </a:p>
          <a:p>
            <a:r>
              <a:rPr sz="1250" b="0">
                <a:solidFill>
                  <a:srgbClr val="E6E6E6"/>
                </a:solidFill>
                <a:latin typeface="Consolas"/>
              </a:rPr>
              <a:t>SYS_IOT_OVER_76358   IOT_OVERFLOW EMP_IOT_OVF     &lt;- 본체를 가리킨다</a:t>
            </a:r>
          </a:p>
          <a:p>
            <a:r>
              <a:rPr sz="1250" b="0">
                <a:solidFill>
                  <a:srgbClr val="E6E6E6"/>
                </a:solidFill>
                <a:latin typeface="Consolas"/>
              </a:rPr>
              <a:t/>
            </a:r>
          </a:p>
          <a:p>
            <a:r>
              <a:rPr sz="1250" b="0">
                <a:solidFill>
                  <a:srgbClr val="E6E6E6"/>
                </a:solidFill>
                <a:latin typeface="Consolas"/>
              </a:rPr>
              <a:t>INDEX_NAME       INDEX_TYPE   PCT_THRESHOLD INCLUDE_COLUMN</a:t>
            </a:r>
          </a:p>
          <a:p>
            <a:r>
              <a:rPr sz="1250" b="0">
                <a:solidFill>
                  <a:srgbClr val="E6E6E6"/>
                </a:solidFill>
                <a:latin typeface="Consolas"/>
              </a:rPr>
              <a:t>EMP_IOT_OVF_PK   IOT - TOP               50              3</a:t>
            </a:r>
          </a:p>
          <a:p>
            <a:r>
              <a:rPr sz="1250" b="0">
                <a:solidFill>
                  <a:srgbClr val="E6E6E6"/>
                </a:solidFill>
                <a:latin typeface="Consolas"/>
              </a:rPr>
              <a:t>                            include_column 은 이름이 아니라 컬럼 번호다</a:t>
            </a:r>
          </a:p>
          <a:p>
            <a:r>
              <a:rPr sz="1250" b="0">
                <a:solidFill>
                  <a:srgbClr val="E6E6E6"/>
                </a:solidFill>
                <a:latin typeface="Consolas"/>
              </a:rPr>
              <a:t/>
            </a:r>
          </a:p>
          <a:p>
            <a:r>
              <a:rPr sz="1250" b="0">
                <a:solidFill>
                  <a:srgbClr val="E6E6E6"/>
                </a:solidFill>
                <a:latin typeface="Consolas"/>
              </a:rPr>
              <a:t>-- 2000건(메모 1500바이트) 적재 후 세그먼트</a:t>
            </a:r>
          </a:p>
          <a:p>
            <a:r>
              <a:rPr sz="1250" b="0">
                <a:solidFill>
                  <a:srgbClr val="E6E6E6"/>
                </a:solidFill>
                <a:latin typeface="Consolas"/>
              </a:rPr>
              <a:t>EMP_IOT_OVF_PK     INDEX     192KB /  24 블록   &lt;- 키 + 이름 + 메일</a:t>
            </a:r>
          </a:p>
          <a:p>
            <a:r>
              <a:rPr sz="1250" b="0">
                <a:solidFill>
                  <a:srgbClr val="E6E6E6"/>
                </a:solidFill>
                <a:latin typeface="Consolas"/>
              </a:rPr>
              <a:t>SYS_IOT_OVER_76358 TABLE    5120KB / 640 블록   &lt;- 메모</a:t>
            </a:r>
          </a:p>
          <a:p>
            <a:r>
              <a:rPr sz="1250" b="0">
                <a:solidFill>
                  <a:srgbClr val="E6E6E6"/>
                </a:solidFill>
                <a:latin typeface="Consolas"/>
              </a:rPr>
              <a:t/>
            </a:r>
          </a:p>
          <a:p>
            <a:r>
              <a:rPr sz="1250" b="0">
                <a:solidFill>
                  <a:srgbClr val="E6E6E6"/>
                </a:solidFill>
                <a:latin typeface="Consolas"/>
              </a:rPr>
              <a:t>PCTTHRESHOLD 와의 차이</a:t>
            </a:r>
          </a:p>
          <a:p>
            <a:r>
              <a:rPr sz="1250" b="0">
                <a:solidFill>
                  <a:srgbClr val="E6E6E6"/>
                </a:solidFill>
                <a:latin typeface="Consolas"/>
              </a:rPr>
              <a:t>  PCTTHRESHOLD  행 길이에 따라 어떤 행은 인덱스에, 어떤 행은 오버플로에 (예측 불가)</a:t>
            </a:r>
          </a:p>
          <a:p>
            <a:r>
              <a:rPr sz="1250" b="0">
                <a:solidFill>
                  <a:srgbClr val="E6E6E6"/>
                </a:solidFill>
                <a:latin typeface="Consolas"/>
              </a:rPr>
              <a:t>  INCLUDING     위치로 자른다 (예측 가능) -&gt; 설계에는 이쪽을 쓴다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경계 하나가 32배를 만든다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02 실측. 같은 테이블, 컬럼만 다르게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단건 조회</a:t>
            </a:r>
          </a:p>
          <a:p>
            <a:r>
              <a:rPr sz="1250" b="0">
                <a:solidFill>
                  <a:srgbClr val="E6E6E6"/>
                </a:solidFill>
                <a:latin typeface="Consolas"/>
              </a:rPr>
              <a:t>SELECT emp_id, emp_email     FROM hr.emp_iot_ovf WHERE emp_id = 500;   Buffers 2</a:t>
            </a:r>
          </a:p>
          <a:p>
            <a:r>
              <a:rPr sz="1250" b="0">
                <a:solidFill>
                  <a:srgbClr val="E6E6E6"/>
                </a:solidFill>
                <a:latin typeface="Consolas"/>
              </a:rPr>
              <a:t>SELECT emp_id, emp_notes ... FROM hr.emp_iot_ovf WHERE emp_id = 500;   Buffers 3</a:t>
            </a:r>
          </a:p>
          <a:p>
            <a:r>
              <a:rPr sz="1250" b="0">
                <a:solidFill>
                  <a:srgbClr val="E6E6E6"/>
                </a:solidFill>
                <a:latin typeface="Consolas"/>
              </a:rPr>
              <a:t/>
            </a:r>
          </a:p>
          <a:p>
            <a:r>
              <a:rPr sz="1250" b="0">
                <a:solidFill>
                  <a:srgbClr val="E6E6E6"/>
                </a:solidFill>
                <a:latin typeface="Consolas"/>
              </a:rPr>
              <a:t>-- 1000건 범위 조회</a:t>
            </a:r>
          </a:p>
          <a:p>
            <a:r>
              <a:rPr sz="1250" b="0">
                <a:solidFill>
                  <a:srgbClr val="E6E6E6"/>
                </a:solidFill>
                <a:latin typeface="Consolas"/>
              </a:rPr>
              <a:t>SELECT COUNT(emp_email) FROM hr.emp_iot_ovf WHERE emp_id BETWEEN 1 AND 1000;</a:t>
            </a:r>
          </a:p>
          <a:p>
            <a:r>
              <a:rPr sz="1250" b="0">
                <a:solidFill>
                  <a:srgbClr val="E6E6E6"/>
                </a:solidFill>
                <a:latin typeface="Consolas"/>
              </a:rPr>
              <a:t>|*  2 |   INDEX RANGE SCAN| EMP_IOT_OVF_PK | 1 | 1000 | 1000 |...|      8 |</a:t>
            </a:r>
          </a:p>
          <a:p>
            <a:r>
              <a:rPr sz="1250" b="0">
                <a:solidFill>
                  <a:srgbClr val="E6E6E6"/>
                </a:solidFill>
                <a:latin typeface="Consolas"/>
              </a:rPr>
              <a:t/>
            </a:r>
          </a:p>
          <a:p>
            <a:r>
              <a:rPr sz="1250" b="0">
                <a:solidFill>
                  <a:srgbClr val="E6E6E6"/>
                </a:solidFill>
                <a:latin typeface="Consolas"/>
              </a:rPr>
              <a:t>SELECT COUNT(emp_notes) FROM hr.emp_iot_ovf WHERE emp_id BETWEEN 1 AND 1000;</a:t>
            </a:r>
          </a:p>
          <a:p>
            <a:r>
              <a:rPr sz="1250" b="0">
                <a:solidFill>
                  <a:srgbClr val="E6E6E6"/>
                </a:solidFill>
                <a:latin typeface="Consolas"/>
              </a:rPr>
              <a:t>|*  2 |   INDEX RANGE SCAN| EMP_IOT_OVF_PK | 1 | 1000 | 1000 |...|    258 |</a:t>
            </a:r>
          </a:p>
          <a:p>
            <a:r>
              <a:rPr sz="1250" b="0">
                <a:solidFill>
                  <a:srgbClr val="E6E6E6"/>
                </a:solidFill>
                <a:latin typeface="Consolas"/>
              </a:rPr>
              <a:t/>
            </a:r>
          </a:p>
          <a:p>
            <a:r>
              <a:rPr sz="1250" b="0">
                <a:solidFill>
                  <a:srgbClr val="E6E6E6"/>
                </a:solidFill>
                <a:latin typeface="Consolas"/>
              </a:rPr>
              <a:t>   조건                          | Buffers</a:t>
            </a:r>
          </a:p>
          <a:p>
            <a:r>
              <a:rPr sz="1250" b="0">
                <a:solidFill>
                  <a:srgbClr val="E6E6E6"/>
                </a:solidFill>
                <a:latin typeface="Consolas"/>
              </a:rPr>
              <a:t>   ------------------------------|--------</a:t>
            </a:r>
          </a:p>
          <a:p>
            <a:r>
              <a:rPr sz="1250" b="0">
                <a:solidFill>
                  <a:srgbClr val="E6E6E6"/>
                </a:solidFill>
                <a:latin typeface="Consolas"/>
              </a:rPr>
              <a:t>   인덱스 안쪽 컬럼만            |      8</a:t>
            </a:r>
          </a:p>
          <a:p>
            <a:r>
              <a:rPr sz="1250" b="0">
                <a:solidFill>
                  <a:srgbClr val="E6E6E6"/>
                </a:solidFill>
                <a:latin typeface="Consolas"/>
              </a:rPr>
              <a:t>   오버플로 컬럼 포함            |    258      &lt;- 32배</a:t>
            </a:r>
          </a:p>
          <a:p>
            <a:r>
              <a:rPr sz="1250" b="0">
                <a:solidFill>
                  <a:srgbClr val="E6E6E6"/>
                </a:solidFill>
                <a:latin typeface="Consolas"/>
              </a:rPr>
              <a:t/>
            </a:r>
          </a:p>
          <a:p>
            <a:r>
              <a:rPr sz="1250" b="0">
                <a:solidFill>
                  <a:srgbClr val="E6E6E6"/>
                </a:solidFill>
                <a:latin typeface="Consolas"/>
              </a:rPr>
              <a:t>계획 모양은 두 쿼리가 완전히 같다. INDEX RANGE SCAN 한 줄이다.</a:t>
            </a:r>
          </a:p>
          <a:p>
            <a:r>
              <a:rPr sz="1250" b="0">
                <a:solidFill>
                  <a:srgbClr val="E6E6E6"/>
                </a:solidFill>
                <a:latin typeface="Consolas"/>
              </a:rPr>
              <a:t>오버플로 접근은 실행계획에 단계로 나타나지 않는다. Buffers 로만 보인다.</a:t>
            </a:r>
          </a:p>
          <a:p>
            <a:r>
              <a:rPr sz="1250" b="0">
                <a:solidFill>
                  <a:srgbClr val="E6E6E6"/>
                </a:solidFill>
                <a:latin typeface="Consolas"/>
              </a:rPr>
              <a:t/>
            </a:r>
          </a:p>
          <a:p>
            <a:r>
              <a:rPr sz="1250" b="0">
                <a:solidFill>
                  <a:srgbClr val="E6E6E6"/>
                </a:solidFill>
                <a:latin typeface="Consolas"/>
              </a:rPr>
              <a:t>-&gt; IOT 튜닝은 반드시 ALLSTATS LAST 실측으로 한다. 계획만 보면 원인을 찾을 수 없다.</a:t>
            </a:r>
          </a:p>
          <a:p>
            <a:r>
              <a:rPr sz="1250" b="0">
                <a:solidFill>
                  <a:srgbClr val="E6E6E6"/>
                </a:solidFill>
                <a:latin typeface="Consolas"/>
              </a:rPr>
              <a:t>-&gt; 설계 질문 한 줄 : "자주 조회하는 컬럼을 모두 INCLUDING 안쪽에 넣었는가"</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PCTTHRESHOLD 와 MAPPING TABLE</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02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PCTTHRESHOLD 는 1 ~ 50 이다</a:t>
            </a:r>
          </a:p>
          <a:p>
            <a:r>
              <a:rPr sz="1250" b="0">
                <a:solidFill>
                  <a:srgbClr val="E6E6E6"/>
                </a:solidFill>
                <a:latin typeface="Consolas"/>
              </a:rPr>
              <a:t>CREATE TABLE ... ORGANIZATION INDEX PCTTHRESHOLD 10 OVERFLOW ...;   -- OK</a:t>
            </a:r>
          </a:p>
          <a:p>
            <a:r>
              <a:rPr sz="1250" b="0">
                <a:solidFill>
                  <a:srgbClr val="E6E6E6"/>
                </a:solidFill>
                <a:latin typeface="Consolas"/>
              </a:rPr>
              <a:t>ALTER TABLE hr.emp_iot_thr PCTTHRESHOLD 60;</a:t>
            </a:r>
          </a:p>
          <a:p>
            <a:r>
              <a:rPr sz="1250" b="0">
                <a:solidFill>
                  <a:srgbClr val="E6E6E6"/>
                </a:solidFill>
                <a:latin typeface="Consolas"/>
              </a:rPr>
              <a:t>ORA-25179: invalid PCTTHRESHOLD storage option value</a:t>
            </a:r>
          </a:p>
          <a:p>
            <a:r>
              <a:rPr sz="1250" b="0">
                <a:solidFill>
                  <a:srgbClr val="E6E6E6"/>
                </a:solidFill>
                <a:latin typeface="Consolas"/>
              </a:rPr>
              <a:t>ALTER TABLE hr.emp_iot_thr PCTTHRESHOLD 40;                         -- OK</a:t>
            </a:r>
          </a:p>
          <a:p>
            <a:r>
              <a:rPr sz="1250" b="0">
                <a:solidFill>
                  <a:srgbClr val="E6E6E6"/>
                </a:solidFill>
                <a:latin typeface="Consolas"/>
              </a:rPr>
              <a:t>   블록의 절반을 넘는 행을 인덱스에 두면 리프 블록에 행이 하나만 들어간다</a:t>
            </a:r>
          </a:p>
          <a:p>
            <a:r>
              <a:rPr sz="1250" b="0">
                <a:solidFill>
                  <a:srgbClr val="E6E6E6"/>
                </a:solidFill>
                <a:latin typeface="Consolas"/>
              </a:rPr>
              <a:t>   변경은 새로 넣는 행에만 적용된다. 기존 행은 MOVE 해야 재배치된다</a:t>
            </a:r>
          </a:p>
          <a:p>
            <a:r>
              <a:rPr sz="1250" b="0">
                <a:solidFill>
                  <a:srgbClr val="E6E6E6"/>
                </a:solidFill>
                <a:latin typeface="Consolas"/>
              </a:rPr>
              <a:t/>
            </a:r>
          </a:p>
          <a:p>
            <a:r>
              <a:rPr sz="1250" b="0">
                <a:solidFill>
                  <a:srgbClr val="E6E6E6"/>
                </a:solidFill>
                <a:latin typeface="Consolas"/>
              </a:rPr>
              <a:t>-- 비트맵 인덱스는 물리 ROWID 를 쓴다</a:t>
            </a:r>
          </a:p>
          <a:p>
            <a:r>
              <a:rPr sz="1250" b="0">
                <a:solidFill>
                  <a:srgbClr val="E6E6E6"/>
                </a:solidFill>
                <a:latin typeface="Consolas"/>
              </a:rPr>
              <a:t>CREATE BITMAP INDEX hr.emp_iot_ovf_bmx ON hr.emp_iot_ovf(emp_name);</a:t>
            </a:r>
          </a:p>
          <a:p>
            <a:r>
              <a:rPr sz="1250" b="0">
                <a:solidFill>
                  <a:srgbClr val="E6E6E6"/>
                </a:solidFill>
                <a:latin typeface="Consolas"/>
              </a:rPr>
              <a:t>ORA-28669: bitmap index can not be created on an IOT with no mapping table</a:t>
            </a:r>
          </a:p>
          <a:p>
            <a:r>
              <a:rPr sz="1250" b="0">
                <a:solidFill>
                  <a:srgbClr val="E6E6E6"/>
                </a:solidFill>
                <a:latin typeface="Consolas"/>
              </a:rPr>
              <a:t/>
            </a:r>
          </a:p>
          <a:p>
            <a:r>
              <a:rPr sz="1250" b="0">
                <a:solidFill>
                  <a:srgbClr val="E6E6E6"/>
                </a:solidFill>
                <a:latin typeface="Consolas"/>
              </a:rPr>
              <a:t>-- MAPPING TABLE 절을 주면 대응표가 생긴다</a:t>
            </a:r>
          </a:p>
          <a:p>
            <a:r>
              <a:rPr sz="1250" b="0">
                <a:solidFill>
                  <a:srgbClr val="E6E6E6"/>
                </a:solidFill>
                <a:latin typeface="Consolas"/>
              </a:rPr>
              <a:t>CREATE TABLE hr.emp_iot_map (id NUMBER, code VARCHAR2(10),</a:t>
            </a:r>
          </a:p>
          <a:p>
            <a:r>
              <a:rPr sz="1250" b="0">
                <a:solidFill>
                  <a:srgbClr val="E6E6E6"/>
                </a:solidFill>
                <a:latin typeface="Consolas"/>
              </a:rPr>
              <a:t>  CONSTRAINT emp_iot_map_pk PRIMARY KEY (id))</a:t>
            </a:r>
          </a:p>
          <a:p>
            <a:r>
              <a:rPr sz="1250" b="0">
                <a:solidFill>
                  <a:srgbClr val="E6E6E6"/>
                </a:solidFill>
                <a:latin typeface="Consolas"/>
              </a:rPr>
              <a:t>ORGANIZATION INDEX TABLESPACE users MAPPING TABLE;</a:t>
            </a:r>
          </a:p>
          <a:p>
            <a:r>
              <a:rPr sz="1250" b="0">
                <a:solidFill>
                  <a:srgbClr val="E6E6E6"/>
                </a:solidFill>
                <a:latin typeface="Consolas"/>
              </a:rPr>
              <a:t>CREATE BITMAP INDEX hr.emp_iot_map_bmx ON hr.emp_iot_map(code);   -- Index created.</a:t>
            </a:r>
          </a:p>
          <a:p>
            <a:r>
              <a:rPr sz="1250" b="0">
                <a:solidFill>
                  <a:srgbClr val="E6E6E6"/>
                </a:solidFill>
                <a:latin typeface="Consolas"/>
              </a:rPr>
              <a:t/>
            </a:r>
          </a:p>
          <a:p>
            <a:r>
              <a:rPr sz="1250" b="0">
                <a:solidFill>
                  <a:srgbClr val="E6E6E6"/>
                </a:solidFill>
                <a:latin typeface="Consolas"/>
              </a:rPr>
              <a:t>TABLE_NAME           IOT_TYPE     IOT_NAME</a:t>
            </a:r>
          </a:p>
          <a:p>
            <a:r>
              <a:rPr sz="1250" b="0">
                <a:solidFill>
                  <a:srgbClr val="E6E6E6"/>
                </a:solidFill>
                <a:latin typeface="Consolas"/>
              </a:rPr>
              <a:t>EMP_IOT_MAP          IOT</a:t>
            </a:r>
          </a:p>
          <a:p>
            <a:r>
              <a:rPr sz="1250" b="0">
                <a:solidFill>
                  <a:srgbClr val="E6E6E6"/>
                </a:solidFill>
                <a:latin typeface="Consolas"/>
              </a:rPr>
              <a:t>SYS_IOT_MAP_76364    IOT_MAPPING  EMP_IOT_MAP</a:t>
            </a:r>
          </a:p>
          <a:p>
            <a:r>
              <a:rPr sz="1250" b="0">
                <a:solidFill>
                  <a:srgbClr val="E6E6E6"/>
                </a:solidFill>
                <a:latin typeface="Consolas"/>
              </a:rPr>
              <a:t/>
            </a:r>
          </a:p>
          <a:p>
            <a:r>
              <a:rPr sz="1250" b="0">
                <a:solidFill>
                  <a:srgbClr val="E6E6E6"/>
                </a:solidFill>
                <a:latin typeface="Consolas"/>
              </a:rPr>
              <a:t>비용 : 세그먼트가 하나 늘고 DML 마다 대응표를 유지해야 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4</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IOT vs HEAP 실측</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적재 · 크기 · 단건 · 범위 · 전체 · 갱신 아홉 가지</a:t>
            </a:r>
          </a:p>
          <a:p>
            <a:pPr>
              <a:spcAft>
                <a:spcPts val="600"/>
              </a:spcAft>
            </a:pPr>
            <a:r>
              <a:rPr sz="1600" b="0">
                <a:solidFill>
                  <a:srgbClr val="C5CED6"/>
                </a:solidFill>
                <a:latin typeface="Malgun Gothic"/>
              </a:rPr>
              <a:t>•  단건과 범위에서 차이가 없다는 결과</a:t>
            </a:r>
          </a:p>
          <a:p>
            <a:pPr>
              <a:spcAft>
                <a:spcPts val="600"/>
              </a:spcAft>
            </a:pPr>
            <a:r>
              <a:rPr sz="1600" b="0">
                <a:solidFill>
                  <a:srgbClr val="C5CED6"/>
                </a:solidFill>
                <a:latin typeface="Malgun Gothic"/>
              </a:rPr>
              <a:t>•  힙이 정렬돼 있지 않으면 90배가 된다</a:t>
            </a:r>
          </a:p>
          <a:p>
            <a:pPr>
              <a:spcAft>
                <a:spcPts val="600"/>
              </a:spcAft>
            </a:pPr>
            <a:r>
              <a:rPr sz="1600" b="0">
                <a:solidFill>
                  <a:srgbClr val="C5CED6"/>
                </a:solidFill>
                <a:latin typeface="Malgun Gothic"/>
              </a:rPr>
              <a:t>•  중간 키 INSERT 로 IOT 가 두 배로 부푼다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아홉 가지 실측 비교</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같은 컬럼 구성 · 10만 건 · OVERFLOW 없음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측정 항목               | HEAP              | IOT               | 판정</a:t>
            </a:r>
          </a:p>
          <a:p>
            <a:r>
              <a:rPr sz="1250" b="0">
                <a:solidFill>
                  <a:srgbClr val="E6E6E6"/>
                </a:solidFill>
                <a:latin typeface="Consolas"/>
              </a:rPr>
              <a:t>------------------------|-------------------|-------------------|-------------</a:t>
            </a:r>
          </a:p>
          <a:p>
            <a:r>
              <a:rPr sz="1250" b="0">
                <a:solidFill>
                  <a:srgbClr val="E6E6E6"/>
                </a:solidFill>
                <a:latin typeface="Consolas"/>
              </a:rPr>
              <a:t>적재 시간               | 4.18초            | 6.59초            | 힙 1.6배 유리</a:t>
            </a:r>
          </a:p>
          <a:p>
            <a:r>
              <a:rPr sz="1250" b="0">
                <a:solidFill>
                  <a:srgbClr val="E6E6E6"/>
                </a:solidFill>
                <a:latin typeface="Consolas"/>
              </a:rPr>
              <a:t>세그먼트 합계           | 25MB + 2MB = 27MB | 26MB              | 차이 없음</a:t>
            </a:r>
          </a:p>
          <a:p>
            <a:r>
              <a:rPr sz="1250" b="0">
                <a:solidFill>
                  <a:srgbClr val="E6E6E6"/>
                </a:solidFill>
                <a:latin typeface="Consolas"/>
              </a:rPr>
              <a:t>blevel                  | 1                 | 2                 | IOT 가 깊다</a:t>
            </a:r>
          </a:p>
          <a:p>
            <a:r>
              <a:rPr sz="1250" b="0">
                <a:solidFill>
                  <a:srgbClr val="E6E6E6"/>
                </a:solidFill>
                <a:latin typeface="Consolas"/>
              </a:rPr>
              <a:t>clustering_factor       | 3,125             | 0                 | —</a:t>
            </a:r>
          </a:p>
          <a:p>
            <a:r>
              <a:rPr sz="1250" b="0">
                <a:solidFill>
                  <a:srgbClr val="E6E6E6"/>
                </a:solidFill>
                <a:latin typeface="Consolas"/>
              </a:rPr>
              <a:t>기본키 단건 조회        | Buffers 3         | Buffers 3         | 차이 없음</a:t>
            </a:r>
          </a:p>
          <a:p>
            <a:r>
              <a:rPr sz="1250" b="0">
                <a:solidFill>
                  <a:srgbClr val="E6E6E6"/>
                </a:solidFill>
                <a:latin typeface="Consolas"/>
              </a:rPr>
              <a:t>기본키 범위 1001건      | Buffers 36        | Buffers 36        | 차이 없음</a:t>
            </a:r>
          </a:p>
          <a:p>
            <a:r>
              <a:rPr sz="1250" b="0">
                <a:solidFill>
                  <a:srgbClr val="E6E6E6"/>
                </a:solidFill>
                <a:latin typeface="Consolas"/>
              </a:rPr>
              <a:t>키가 아닌 조건          | FULL 3,147        | FAST FULL 3,281   | 힙 약간 유리</a:t>
            </a:r>
          </a:p>
          <a:p>
            <a:r>
              <a:rPr sz="1250" b="0">
                <a:solidFill>
                  <a:srgbClr val="E6E6E6"/>
                </a:solidFill>
                <a:latin typeface="Consolas"/>
              </a:rPr>
              <a:t>COUNT(*)                | 인덱스 266        | 3,281             | 힙 12배 유리</a:t>
            </a:r>
          </a:p>
          <a:p>
            <a:r>
              <a:rPr sz="1250" b="0">
                <a:solidFill>
                  <a:srgbClr val="E6E6E6"/>
                </a:solidFill>
                <a:latin typeface="Consolas"/>
              </a:rPr>
              <a:t>2만 건 UPDATE           | 0.06초            | 0.09초            | 차이 없음</a:t>
            </a:r>
          </a:p>
          <a:p>
            <a:r>
              <a:rPr sz="1250" b="0">
                <a:solidFill>
                  <a:srgbClr val="E6E6E6"/>
                </a:solidFill>
                <a:latin typeface="Consolas"/>
              </a:rPr>
              <a:t/>
            </a:r>
          </a:p>
          <a:p>
            <a:r>
              <a:rPr sz="1250" b="0">
                <a:solidFill>
                  <a:srgbClr val="E6E6E6"/>
                </a:solidFill>
                <a:latin typeface="Consolas"/>
              </a:rPr>
              <a:t>읽는 법</a:t>
            </a:r>
          </a:p>
          <a:p>
            <a:r>
              <a:rPr sz="1250" b="0">
                <a:solidFill>
                  <a:srgbClr val="E6E6E6"/>
                </a:solidFill>
                <a:latin typeface="Consolas"/>
              </a:rPr>
              <a:t>  · 공간 절약 효과는 거의 없다 (27MB vs 26MB). 키가 길고 컬럼이 적을 때만 뚜렷하다</a:t>
            </a:r>
          </a:p>
          <a:p>
            <a:r>
              <a:rPr sz="1250" b="0">
                <a:solidFill>
                  <a:srgbClr val="E6E6E6"/>
                </a:solidFill>
                <a:latin typeface="Consolas"/>
              </a:rPr>
              <a:t>  · COUNT(*) 가 12배 불리하다. 힙은 작은 PK 인덱스만 훑고, IOT 는 26MB 전체를 읽는다</a:t>
            </a:r>
          </a:p>
          <a:p>
            <a:r>
              <a:rPr sz="1250" b="0">
                <a:solidFill>
                  <a:srgbClr val="E6E6E6"/>
                </a:solidFill>
                <a:latin typeface="Consolas"/>
              </a:rPr>
              <a:t>    -&gt; 존재 확인·건수 집계가 주력인 테이블에 IOT 는 맞지 않는다</a:t>
            </a:r>
          </a:p>
          <a:p>
            <a:r>
              <a:rPr sz="1250" b="0">
                <a:solidFill>
                  <a:srgbClr val="E6E6E6"/>
                </a:solidFill>
                <a:latin typeface="Consolas"/>
              </a:rPr>
              <a:t>  · 단건·범위에서 차이가 없다는 것이 이 표의 핵심이다. 조건이 하나 빠져 있다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그럼 IOT 를 왜 쓰는가</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같은 데이터를 무작위 순서로 다시 담았을 때</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hr.emp_heap_rnd ... AS</a:t>
            </a:r>
          </a:p>
          <a:p>
            <a:r>
              <a:rPr sz="1250" b="0">
                <a:solidFill>
                  <a:srgbClr val="E6E6E6"/>
                </a:solidFill>
                <a:latin typeface="Consolas"/>
              </a:rPr>
              <a:t>SELECT ... FROM hr.emp_heap ORDER BY dbms_random.value;</a:t>
            </a:r>
          </a:p>
          <a:p>
            <a:r>
              <a:rPr sz="1250" b="0">
                <a:solidFill>
                  <a:srgbClr val="E6E6E6"/>
                </a:solidFill>
                <a:latin typeface="Consolas"/>
              </a:rPr>
              <a:t>ALTER TABLE hr.emp_heap_rnd ADD CONSTRAINT emp_heap_rnd_pk PRIMARY KEY (emp_id);</a:t>
            </a:r>
          </a:p>
          <a:p>
            <a:r>
              <a:rPr sz="1250" b="0">
                <a:solidFill>
                  <a:srgbClr val="E6E6E6"/>
                </a:solidFill>
                <a:latin typeface="Consolas"/>
              </a:rPr>
              <a:t/>
            </a:r>
          </a:p>
          <a:p>
            <a:r>
              <a:rPr sz="1250" b="0">
                <a:solidFill>
                  <a:srgbClr val="E6E6E6"/>
                </a:solidFill>
                <a:latin typeface="Consolas"/>
              </a:rPr>
              <a:t>INDEX_NAME             BLEVEL LEAF_BLOCKS CLUSTERING_FACTOR</a:t>
            </a:r>
          </a:p>
          <a:p>
            <a:r>
              <a:rPr sz="1250" b="0">
                <a:solidFill>
                  <a:srgbClr val="E6E6E6"/>
                </a:solidFill>
                <a:latin typeface="Consolas"/>
              </a:rPr>
              <a:t>EMP_HEAP_PK                 1         187              3125   &lt;- 키 순서 적재</a:t>
            </a:r>
          </a:p>
          <a:p>
            <a:r>
              <a:rPr sz="1250" b="0">
                <a:solidFill>
                  <a:srgbClr val="E6E6E6"/>
                </a:solidFill>
                <a:latin typeface="Consolas"/>
              </a:rPr>
              <a:t>EMP_HEAP_RND_PK             1         208             99973   &lt;- 무작위 적재</a:t>
            </a:r>
          </a:p>
          <a:p>
            <a:r>
              <a:rPr sz="1250" b="0">
                <a:solidFill>
                  <a:srgbClr val="E6E6E6"/>
                </a:solidFill>
                <a:latin typeface="Consolas"/>
              </a:rPr>
              <a:t>EMP_IOT_CMP_PK              2        3225                 0   &lt;- IOT</a:t>
            </a:r>
          </a:p>
          <a:p>
            <a:r>
              <a:rPr sz="1250" b="0">
                <a:solidFill>
                  <a:srgbClr val="E6E6E6"/>
                </a:solidFill>
                <a:latin typeface="Consolas"/>
              </a:rPr>
              <a:t/>
            </a:r>
          </a:p>
          <a:p>
            <a:r>
              <a:rPr sz="1250" b="0">
                <a:solidFill>
                  <a:srgbClr val="E6E6E6"/>
                </a:solidFill>
                <a:latin typeface="Consolas"/>
              </a:rPr>
              <a:t>-- 같은 범위 조회 (emp_id BETWEEN 50000 AND 51000)</a:t>
            </a:r>
          </a:p>
          <a:p>
            <a:r>
              <a:rPr sz="1250" b="0">
                <a:solidFill>
                  <a:srgbClr val="E6E6E6"/>
                </a:solidFill>
                <a:latin typeface="Consolas"/>
              </a:rPr>
              <a:t>구조              | 계획                        | Buffers</a:t>
            </a:r>
          </a:p>
          <a:p>
            <a:r>
              <a:rPr sz="1250" b="0">
                <a:solidFill>
                  <a:srgbClr val="E6E6E6"/>
                </a:solidFill>
                <a:latin typeface="Consolas"/>
              </a:rPr>
              <a:t>------------------|-----------------------------|--------</a:t>
            </a:r>
          </a:p>
          <a:p>
            <a:r>
              <a:rPr sz="1250" b="0">
                <a:solidFill>
                  <a:srgbClr val="E6E6E6"/>
                </a:solidFill>
                <a:latin typeface="Consolas"/>
              </a:rPr>
              <a:t>힙 (키 순서 적재) | INDEX RANGE SCAN + BY ROWID |     36</a:t>
            </a:r>
          </a:p>
          <a:p>
            <a:r>
              <a:rPr sz="1250" b="0">
                <a:solidFill>
                  <a:srgbClr val="E6E6E6"/>
                </a:solidFill>
                <a:latin typeface="Consolas"/>
              </a:rPr>
              <a:t>힙 (무작위 적재)  | TABLE ACCESS FULL           |  3,230      &lt;- 90배</a:t>
            </a:r>
          </a:p>
          <a:p>
            <a:r>
              <a:rPr sz="1250" b="0">
                <a:solidFill>
                  <a:srgbClr val="E6E6E6"/>
                </a:solidFill>
                <a:latin typeface="Consolas"/>
              </a:rPr>
              <a:t>IOT               | INDEX RANGE SCAN            |     36</a:t>
            </a:r>
          </a:p>
          <a:p>
            <a:r>
              <a:rPr sz="1250" b="0">
                <a:solidFill>
                  <a:srgbClr val="E6E6E6"/>
                </a:solidFill>
                <a:latin typeface="Consolas"/>
              </a:rPr>
              <a:t/>
            </a:r>
          </a:p>
          <a:p>
            <a:r>
              <a:rPr sz="1250" b="0">
                <a:solidFill>
                  <a:srgbClr val="E6E6E6"/>
                </a:solidFill>
                <a:latin typeface="Consolas"/>
              </a:rPr>
              <a:t>clustering_factor 가 건수(10만) 에 가까워지면 옵티마이저는 인덱스를 포기한다.</a:t>
            </a:r>
          </a:p>
          <a:p>
            <a:r>
              <a:rPr sz="1250" b="0">
                <a:solidFill>
                  <a:srgbClr val="E6E6E6"/>
                </a:solidFill>
                <a:latin typeface="Consolas"/>
              </a:rPr>
              <a:t>행마다 다른 블록을 읽어야 하므로 풀 스캔이 더 싸다고 판단한 것이다.</a:t>
            </a:r>
          </a:p>
          <a:p>
            <a:r>
              <a:rPr sz="1250" b="0">
                <a:solidFill>
                  <a:srgbClr val="E6E6E6"/>
                </a:solidFill>
                <a:latin typeface="Consolas"/>
              </a:rPr>
              <a:t/>
            </a:r>
          </a:p>
          <a:p>
            <a:r>
              <a:rPr sz="1250" b="0">
                <a:solidFill>
                  <a:srgbClr val="E6E6E6"/>
                </a:solidFill>
                <a:latin typeface="Consolas"/>
              </a:rPr>
              <a:t>IOT 의 가치 = clustering_factor 를 영구히 0 으로 고정한다</a:t>
            </a:r>
          </a:p>
          <a:p>
            <a:r>
              <a:rPr sz="1250" b="0">
                <a:solidFill>
                  <a:srgbClr val="E6E6E6"/>
                </a:solidFill>
                <a:latin typeface="Consolas"/>
              </a:rPr>
              <a:t>  힙은 DML 이 쌓이면 정렬이 깨져 주기적 재구성이 필요하다. IOT 는 그럴 일이 없다.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중간 키 INSERT 가 IOT 를 두 배로 만든다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04 실측. PCTFREE 0 에 감소하는 키 2만 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BEGIN</a:t>
            </a:r>
          </a:p>
          <a:p>
            <a:r>
              <a:rPr sz="1250" b="0">
                <a:solidFill>
                  <a:srgbClr val="E6E6E6"/>
                </a:solidFill>
                <a:latin typeface="Consolas"/>
              </a:rPr>
              <a:t>  FOR i IN 1..20000 LOOP</a:t>
            </a:r>
          </a:p>
          <a:p>
            <a:r>
              <a:rPr sz="1250" b="0">
                <a:solidFill>
                  <a:srgbClr val="E6E6E6"/>
                </a:solidFill>
                <a:latin typeface="Consolas"/>
              </a:rPr>
              <a:t>    INSERT INTO hr.emp_heap    VALUES (200000 - i*2, ...);</a:t>
            </a:r>
          </a:p>
          <a:p>
            <a:r>
              <a:rPr sz="1250" b="0">
                <a:solidFill>
                  <a:srgbClr val="E6E6E6"/>
                </a:solidFill>
                <a:latin typeface="Consolas"/>
              </a:rPr>
              <a:t>    INSERT INTO hr.emp_iot_cmp VALUES (200000 - i*2, ...);   -- 키가 감소한다</a:t>
            </a:r>
          </a:p>
          <a:p>
            <a:r>
              <a:rPr sz="1250" b="0">
                <a:solidFill>
                  <a:srgbClr val="E6E6E6"/>
                </a:solidFill>
                <a:latin typeface="Consolas"/>
              </a:rPr>
              <a:t>  END LOOP; COMMIT;</a:t>
            </a:r>
          </a:p>
          <a:p>
            <a:r>
              <a:rPr sz="1250" b="0">
                <a:solidFill>
                  <a:srgbClr val="E6E6E6"/>
                </a:solidFill>
                <a:latin typeface="Consolas"/>
              </a:rPr>
              <a:t>END;  /        Elapsed: 00:00:04.26</a:t>
            </a:r>
          </a:p>
          <a:p>
            <a:r>
              <a:rPr sz="1250" b="0">
                <a:solidFill>
                  <a:srgbClr val="E6E6E6"/>
                </a:solidFill>
                <a:latin typeface="Consolas"/>
              </a:rPr>
              <a:t/>
            </a:r>
          </a:p>
          <a:p>
            <a:r>
              <a:rPr sz="1250" b="0">
                <a:solidFill>
                  <a:srgbClr val="E6E6E6"/>
                </a:solidFill>
                <a:latin typeface="Consolas"/>
              </a:rPr>
              <a:t>구조 | 변화                                  | 배수</a:t>
            </a:r>
          </a:p>
          <a:p>
            <a:r>
              <a:rPr sz="1250" b="0">
                <a:solidFill>
                  <a:srgbClr val="E6E6E6"/>
                </a:solidFill>
                <a:latin typeface="Consolas"/>
              </a:rPr>
              <a:t>-----|---------------------------------------|------</a:t>
            </a:r>
          </a:p>
          <a:p>
            <a:r>
              <a:rPr sz="1250" b="0">
                <a:solidFill>
                  <a:srgbClr val="E6E6E6"/>
                </a:solidFill>
                <a:latin typeface="Consolas"/>
              </a:rPr>
              <a:t>힙   | 테이블 25 -&gt; 30MB, 인덱스 2 -&gt; 3MB     | 1.2배</a:t>
            </a:r>
          </a:p>
          <a:p>
            <a:r>
              <a:rPr sz="1250" b="0">
                <a:solidFill>
                  <a:srgbClr val="E6E6E6"/>
                </a:solidFill>
                <a:latin typeface="Consolas"/>
              </a:rPr>
              <a:t>IOT  | 26MB -&gt; 53MB, leaf_blocks 3225 -&gt; 6668| 2.0배</a:t>
            </a:r>
          </a:p>
          <a:p>
            <a:r>
              <a:rPr sz="1250" b="0">
                <a:solidFill>
                  <a:srgbClr val="E6E6E6"/>
                </a:solidFill>
                <a:latin typeface="Consolas"/>
              </a:rPr>
              <a:t/>
            </a:r>
          </a:p>
          <a:p>
            <a:r>
              <a:rPr sz="1250" b="0">
                <a:solidFill>
                  <a:srgbClr val="E6E6E6"/>
                </a:solidFill>
                <a:latin typeface="Consolas"/>
              </a:rPr>
              <a:t>원인 : 50/50 블록 분할</a:t>
            </a:r>
          </a:p>
          <a:p>
            <a:r>
              <a:rPr sz="1250" b="0">
                <a:solidFill>
                  <a:srgbClr val="E6E6E6"/>
                </a:solidFill>
                <a:latin typeface="Consolas"/>
              </a:rPr>
              <a:t>  PCTFREE 0 으로 꽉 채운 리프 블록 중간에 값이 들어오면</a:t>
            </a:r>
          </a:p>
          <a:p>
            <a:r>
              <a:rPr sz="1250" b="0">
                <a:solidFill>
                  <a:srgbClr val="E6E6E6"/>
                </a:solidFill>
                <a:latin typeface="Consolas"/>
              </a:rPr>
              <a:t>  Oracle 이 그 블록을 반으로 쪼개고 절반을 새 블록으로 옮긴다.</a:t>
            </a:r>
          </a:p>
          <a:p>
            <a:r>
              <a:rPr sz="1250" b="0">
                <a:solidFill>
                  <a:srgbClr val="E6E6E6"/>
                </a:solidFill>
                <a:latin typeface="Consolas"/>
              </a:rPr>
              <a:t>  결과적으로 모든 리프 블록이 절반만 찬 상태가 되어 크기가 두 배가 된다.</a:t>
            </a:r>
          </a:p>
          <a:p>
            <a:r>
              <a:rPr sz="1250" b="0">
                <a:solidFill>
                  <a:srgbClr val="E6E6E6"/>
                </a:solidFill>
                <a:latin typeface="Consolas"/>
              </a:rPr>
              <a:t/>
            </a:r>
          </a:p>
          <a:p>
            <a:r>
              <a:rPr sz="1250" b="0">
                <a:solidFill>
                  <a:srgbClr val="E6E6E6"/>
                </a:solidFill>
                <a:latin typeface="Consolas"/>
              </a:rPr>
              <a:t>설계 지침</a:t>
            </a:r>
          </a:p>
          <a:p>
            <a:r>
              <a:rPr sz="1250" b="0">
                <a:solidFill>
                  <a:srgbClr val="E6E6E6"/>
                </a:solidFill>
                <a:latin typeface="Consolas"/>
              </a:rPr>
              <a:t>  키가 계속 증가한다 (시퀀스·날짜)    -&gt; PCTFREE 0 이 맞다</a:t>
            </a:r>
          </a:p>
          <a:p>
            <a:r>
              <a:rPr sz="1250" b="0">
                <a:solidFill>
                  <a:srgbClr val="E6E6E6"/>
                </a:solidFill>
                <a:latin typeface="Consolas"/>
              </a:rPr>
              <a:t>  키가 중간에 끼어든다 (자연키·코드)  -&gt; PCTFREE 10~20 + 주기적 COALESCE / MOVE</a:t>
            </a:r>
          </a:p>
          <a:p>
            <a:r>
              <a:rPr sz="1250" b="0">
                <a:solidFill>
                  <a:srgbClr val="E6E6E6"/>
                </a:solidFill>
                <a:latin typeface="Consolas"/>
              </a:rPr>
              <a:t/>
            </a:r>
          </a:p>
          <a:p>
            <a:r>
              <a:rPr sz="1250" b="0">
                <a:solidFill>
                  <a:srgbClr val="E6E6E6"/>
                </a:solidFill>
                <a:latin typeface="Consolas"/>
              </a:rPr>
              <a:t>-&gt; IOT 도입 판단에서 적재 패턴 확인이 필수인 이유다.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IOT 판단 기준 여섯 단계</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① 기본키로만 조회하는가 — 아니면 힙. 끝</a:t>
            </a:r>
          </a:p>
          <a:p>
            <a:pPr>
              <a:spcAft>
                <a:spcPts val="600"/>
              </a:spcAft>
            </a:pPr>
            <a:r>
              <a:rPr sz="1800" b="0">
                <a:solidFill>
                  <a:srgbClr val="202830"/>
                </a:solidFill>
                <a:latin typeface="Malgun Gothic"/>
              </a:rPr>
              <a:t>•  ② 기본키로 범위 조회를 하는가 — 등치만이면 힙 + 인덱스로 충분하다</a:t>
            </a:r>
          </a:p>
          <a:p>
            <a:pPr>
              <a:spcAft>
                <a:spcPts val="600"/>
              </a:spcAft>
            </a:pPr>
            <a:r>
              <a:rPr sz="1800" b="0">
                <a:solidFill>
                  <a:srgbClr val="202830"/>
                </a:solidFill>
                <a:latin typeface="Malgun Gothic"/>
              </a:rPr>
              <a:t>•  ③ 데이터가 키 순서로 들어오는가</a:t>
            </a:r>
          </a:p>
          <a:p>
            <a:pPr>
              <a:spcAft>
                <a:spcPts val="600"/>
              </a:spcAft>
            </a:pPr>
            <a:r>
              <a:rPr sz="1600" b="0">
                <a:solidFill>
                  <a:srgbClr val="202830"/>
                </a:solidFill>
                <a:latin typeface="Malgun Gothic"/>
              </a:rPr>
              <a:t>    –  아니다 → IOT 가 특히 유리 (힙은 clustering_factor 가 무너진다)</a:t>
            </a:r>
          </a:p>
          <a:p>
            <a:pPr>
              <a:spcAft>
                <a:spcPts val="600"/>
              </a:spcAft>
            </a:pPr>
            <a:r>
              <a:rPr sz="1600" b="0">
                <a:solidFill>
                  <a:srgbClr val="202830"/>
                </a:solidFill>
                <a:latin typeface="Malgun Gothic"/>
              </a:rPr>
              <a:t>    –  그렇다 → 이득이 작다. 힙 + 인덱스도 충분하다</a:t>
            </a:r>
          </a:p>
          <a:p>
            <a:pPr>
              <a:spcAft>
                <a:spcPts val="600"/>
              </a:spcAft>
            </a:pPr>
            <a:r>
              <a:rPr sz="1800" b="0">
                <a:solidFill>
                  <a:srgbClr val="202830"/>
                </a:solidFill>
                <a:latin typeface="Malgun Gothic"/>
              </a:rPr>
              <a:t>•  ④ COUNT(*) · 키만 읽는 집계가 주력인가 — 그렇다면 IOT 는 불리하다 (12배)</a:t>
            </a:r>
          </a:p>
          <a:p>
            <a:pPr>
              <a:spcAft>
                <a:spcPts val="600"/>
              </a:spcAft>
            </a:pPr>
            <a:r>
              <a:rPr sz="1800" b="0">
                <a:solidFill>
                  <a:srgbClr val="202830"/>
                </a:solidFill>
                <a:latin typeface="Malgun Gothic"/>
              </a:rPr>
              <a:t>•  ⑤ 자주 쓰는 컬럼을 INCLUDING 안쪽에 모을 수 있는가</a:t>
            </a:r>
          </a:p>
          <a:p>
            <a:pPr>
              <a:spcAft>
                <a:spcPts val="600"/>
              </a:spcAft>
            </a:pPr>
            <a:r>
              <a:rPr sz="1600" b="0">
                <a:solidFill>
                  <a:srgbClr val="202830"/>
                </a:solidFill>
                <a:latin typeface="Malgun Gothic"/>
              </a:rPr>
              <a:t>    –  아니다 → IOT 이득이 사라진다 (범위 조회 8 vs 258)</a:t>
            </a:r>
          </a:p>
          <a:p>
            <a:pPr>
              <a:spcAft>
                <a:spcPts val="600"/>
              </a:spcAft>
            </a:pPr>
            <a:r>
              <a:rPr sz="1800" b="0">
                <a:solidFill>
                  <a:srgbClr val="202830"/>
                </a:solidFill>
                <a:latin typeface="Malgun Gothic"/>
              </a:rPr>
              <a:t>•  ⑥ ROWID 를 쓰는 코드가 있는가 — 있으면 함께 수정하거나 제외한다</a:t>
            </a:r>
          </a:p>
          <a:p>
            <a:pPr>
              <a:spcAft>
                <a:spcPts val="600"/>
              </a:spcAft>
            </a:pPr>
            <a:r>
              <a:rPr sz="1800" b="0">
                <a:solidFill>
                  <a:srgbClr val="202830"/>
                </a:solidFill>
                <a:latin typeface="Malgun Gothic"/>
              </a:rPr>
              <a:t>•  잘 맞는 테이블</a:t>
            </a:r>
          </a:p>
          <a:p>
            <a:pPr>
              <a:spcAft>
                <a:spcPts val="600"/>
              </a:spcAft>
            </a:pPr>
            <a:r>
              <a:rPr sz="1600" b="0">
                <a:solidFill>
                  <a:srgbClr val="202830"/>
                </a:solidFill>
                <a:latin typeface="Malgun Gothic"/>
              </a:rPr>
              <a:t>    –  코드·분류 테이블 (HR.COUNTRIES 가 실제로 IOT 다)</a:t>
            </a:r>
          </a:p>
          <a:p>
            <a:pPr>
              <a:spcAft>
                <a:spcPts val="600"/>
              </a:spcAft>
            </a:pPr>
            <a:r>
              <a:rPr sz="1600" b="0">
                <a:solidFill>
                  <a:srgbClr val="202830"/>
                </a:solidFill>
                <a:latin typeface="Malgun Gothic"/>
              </a:rPr>
              <a:t>    –  다대다 매핑 테이블 (두 키만 있어 공간 절약 효과가 크다)</a:t>
            </a:r>
          </a:p>
          <a:p>
            <a:pPr>
              <a:spcAft>
                <a:spcPts val="600"/>
              </a:spcAft>
            </a:pPr>
            <a:r>
              <a:rPr sz="1600" b="0">
                <a:solidFill>
                  <a:srgbClr val="202830"/>
                </a:solidFill>
                <a:latin typeface="Malgun Gothic"/>
              </a:rPr>
              <a:t>    –  기간+키로 범위 조회하는 이력 테이블 (파티션 IOT)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5</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보조 인덱스와 논리 ROWID</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인덱스를 두 번 타는 실행계획</a:t>
            </a:r>
          </a:p>
          <a:p>
            <a:pPr>
              <a:spcAft>
                <a:spcPts val="600"/>
              </a:spcAft>
            </a:pPr>
            <a:r>
              <a:rPr sz="1600" b="0">
                <a:solidFill>
                  <a:srgbClr val="C5CED6"/>
                </a:solidFill>
                <a:latin typeface="Malgun Gothic"/>
              </a:rPr>
              <a:t>•  pct_direct_access — IOT 운영의 핵심 지표</a:t>
            </a:r>
          </a:p>
          <a:p>
            <a:pPr>
              <a:spcAft>
                <a:spcPts val="600"/>
              </a:spcAft>
            </a:pPr>
            <a:r>
              <a:rPr sz="1600" b="0">
                <a:solidFill>
                  <a:srgbClr val="C5CED6"/>
                </a:solidFill>
                <a:latin typeface="Malgun Gothic"/>
              </a:rPr>
              <a:t>•  MOVE 가 추측을 깨뜨린다. 오류는 나지 않는다</a:t>
            </a:r>
          </a:p>
          <a:p>
            <a:pPr>
              <a:spcAft>
                <a:spcPts val="600"/>
              </a:spcAft>
            </a:pPr>
            <a:r>
              <a:rPr sz="1600" b="0">
                <a:solidFill>
                  <a:srgbClr val="C5CED6"/>
                </a:solidFill>
                <a:latin typeface="Malgun Gothic"/>
              </a:rPr>
              <a:t>•  키 압축과 파티션 IOT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인덱스를 두 번 탄다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05 실측. 힙과 계획 모양이 다르다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INDEX hr.emp_iot_cmp_ix1 ON hr.emp_iot_cmp(emp_name);</a:t>
            </a:r>
          </a:p>
          <a:p>
            <a:r>
              <a:rPr sz="1250" b="0">
                <a:solidFill>
                  <a:srgbClr val="E6E6E6"/>
                </a:solidFill>
                <a:latin typeface="Consolas"/>
              </a:rPr>
              <a:t/>
            </a:r>
          </a:p>
          <a:p>
            <a:r>
              <a:rPr sz="1250" b="0">
                <a:solidFill>
                  <a:srgbClr val="E6E6E6"/>
                </a:solidFill>
                <a:latin typeface="Consolas"/>
              </a:rPr>
              <a:t>INDEX_NAME        INDEX_TYPE  UNIQUENES BLEVEL LEAF_BLOCKS PCT_DIRECT_ACCESS</a:t>
            </a:r>
          </a:p>
          <a:p>
            <a:r>
              <a:rPr sz="1250" b="0">
                <a:solidFill>
                  <a:srgbClr val="E6E6E6"/>
                </a:solidFill>
                <a:latin typeface="Consolas"/>
              </a:rPr>
              <a:t>EMP_IOT_CMP_IX1   NORMAL      NONUNIQUE      2         518               100</a:t>
            </a:r>
          </a:p>
          <a:p>
            <a:r>
              <a:rPr sz="1250" b="0">
                <a:solidFill>
                  <a:srgbClr val="E6E6E6"/>
                </a:solidFill>
                <a:latin typeface="Consolas"/>
              </a:rPr>
              <a:t>EMP_IOT_CMP_PK    IOT - TOP   UNIQUE         2        6668                 0</a:t>
            </a:r>
          </a:p>
          <a:p>
            <a:r>
              <a:rPr sz="1250" b="0">
                <a:solidFill>
                  <a:srgbClr val="E6E6E6"/>
                </a:solidFill>
                <a:latin typeface="Consolas"/>
              </a:rPr>
              <a:t>   보조 인덱스는 별도 세그먼트를 갖는다 (5MB)</a:t>
            </a:r>
          </a:p>
          <a:p>
            <a:r>
              <a:rPr sz="1250" b="0">
                <a:solidFill>
                  <a:srgbClr val="E6E6E6"/>
                </a:solidFill>
                <a:latin typeface="Consolas"/>
              </a:rPr>
              <a:t>   -&gt; "IOT 는 세그먼트 하나" 는 보조 인덱스가 없을 때의 이야기다</a:t>
            </a:r>
          </a:p>
          <a:p>
            <a:r>
              <a:rPr sz="1250" b="0">
                <a:solidFill>
                  <a:srgbClr val="E6E6E6"/>
                </a:solidFill>
                <a:latin typeface="Consolas"/>
              </a:rPr>
              <a:t/>
            </a:r>
          </a:p>
          <a:p>
            <a:r>
              <a:rPr sz="1250" b="0">
                <a:solidFill>
                  <a:srgbClr val="E6E6E6"/>
                </a:solidFill>
                <a:latin typeface="Consolas"/>
              </a:rPr>
              <a:t>-- emp_name 으로 찾아 emp_email 을 읽는다</a:t>
            </a:r>
          </a:p>
          <a:p>
            <a:r>
              <a:rPr sz="1250" b="0">
                <a:solidFill>
                  <a:srgbClr val="E6E6E6"/>
                </a:solidFill>
                <a:latin typeface="Consolas"/>
              </a:rPr>
              <a:t>|*  1 |  INDEX UNIQUE SCAN| EMP_IOT_CMP_PK  | 1 | 1 | 1 |...|       5 |</a:t>
            </a:r>
          </a:p>
          <a:p>
            <a:r>
              <a:rPr sz="1250" b="0">
                <a:solidFill>
                  <a:srgbClr val="E6E6E6"/>
                </a:solidFill>
                <a:latin typeface="Consolas"/>
              </a:rPr>
              <a:t>|*  2 |   INDEX RANGE SCAN| EMP_IOT_CMP_IX1 | 1 | 1 | 1 |...|       4 |</a:t>
            </a:r>
          </a:p>
          <a:p>
            <a:r>
              <a:rPr sz="1250" b="0">
                <a:solidFill>
                  <a:srgbClr val="E6E6E6"/>
                </a:solidFill>
                <a:latin typeface="Consolas"/>
              </a:rPr>
              <a:t>     상위가 기본키 인덱스, 하위가 보조 인덱스다</a:t>
            </a:r>
          </a:p>
          <a:p>
            <a:r>
              <a:rPr sz="1250" b="0">
                <a:solidFill>
                  <a:srgbClr val="E6E6E6"/>
                </a:solidFill>
                <a:latin typeface="Consolas"/>
              </a:rPr>
              <a:t>     힙이라면 INDEX RANGE SCAN + TABLE ACCESS BY INDEX ROWID 다</a:t>
            </a:r>
          </a:p>
          <a:p>
            <a:r>
              <a:rPr sz="1250" b="0">
                <a:solidFill>
                  <a:srgbClr val="E6E6E6"/>
                </a:solidFill>
                <a:latin typeface="Consolas"/>
              </a:rPr>
              <a:t>     Buffers 5 = 보조 인덱스 4 + 기본키 인덱스 1</a:t>
            </a:r>
          </a:p>
          <a:p>
            <a:r>
              <a:rPr sz="1250" b="0">
                <a:solidFill>
                  <a:srgbClr val="E6E6E6"/>
                </a:solidFill>
                <a:latin typeface="Consolas"/>
              </a:rPr>
              <a:t/>
            </a:r>
          </a:p>
          <a:p>
            <a:r>
              <a:rPr sz="1250" b="0">
                <a:solidFill>
                  <a:srgbClr val="E6E6E6"/>
                </a:solidFill>
                <a:latin typeface="Consolas"/>
              </a:rPr>
              <a:t>-- emp_id(기본키) 만 필요하면 보조 인덱스에서 끝난다</a:t>
            </a:r>
          </a:p>
          <a:p>
            <a:r>
              <a:rPr sz="1250" b="0">
                <a:solidFill>
                  <a:srgbClr val="E6E6E6"/>
                </a:solidFill>
                <a:latin typeface="Consolas"/>
              </a:rPr>
              <a:t>|*  1 |  INDEX RANGE SCAN| EMP_IOT_CMP_IX1 | 1 | 1 | 1 |...|       4 |</a:t>
            </a:r>
          </a:p>
          <a:p>
            <a:r>
              <a:rPr sz="1250" b="0">
                <a:solidFill>
                  <a:srgbClr val="E6E6E6"/>
                </a:solidFill>
                <a:latin typeface="Consolas"/>
              </a:rPr>
              <a:t>     보조 인덱스에 이미 기본키 값이 들어 있기 때문이다</a:t>
            </a:r>
          </a:p>
          <a:p>
            <a:r>
              <a:rPr sz="1250" b="0">
                <a:solidFill>
                  <a:srgbClr val="E6E6E6"/>
                </a:solidFill>
                <a:latin typeface="Consolas"/>
              </a:rPr>
              <a:t/>
            </a:r>
          </a:p>
          <a:p>
            <a:r>
              <a:rPr sz="1250" b="0">
                <a:solidFill>
                  <a:srgbClr val="E6E6E6"/>
                </a:solidFill>
                <a:latin typeface="Consolas"/>
              </a:rPr>
              <a:t>-&gt; (보조키, 기본키) 만 읽는 쿼리는 IOT 에서 특히 싸다. 설계에 활용할 수 있다.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pct_direct_access — 조용히 느려지는 지표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05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ANALYZE INDEX hr.emp_iot_cmp_ix1 COMPUTE STATISTICS;</a:t>
            </a:r>
          </a:p>
          <a:p>
            <a:r>
              <a:rPr sz="1250" b="0">
                <a:solidFill>
                  <a:srgbClr val="E6E6E6"/>
                </a:solidFill>
                <a:latin typeface="Consolas"/>
              </a:rPr>
              <a:t>INDEX_NAME        BLEVEL LEAF_BLOCKS PCT_DIRECT_ACCESS STATUS</a:t>
            </a:r>
          </a:p>
          <a:p>
            <a:r>
              <a:rPr sz="1250" b="0">
                <a:solidFill>
                  <a:srgbClr val="E6E6E6"/>
                </a:solidFill>
                <a:latin typeface="Consolas"/>
              </a:rPr>
              <a:t>EMP_IOT_CMP_IX1        2         518               100 VALID</a:t>
            </a:r>
          </a:p>
          <a:p>
            <a:r>
              <a:rPr sz="1250" b="0">
                <a:solidFill>
                  <a:srgbClr val="E6E6E6"/>
                </a:solidFill>
                <a:latin typeface="Consolas"/>
              </a:rPr>
              <a:t>   추측(physical guess) 이 100% 유효하다 -&gt; 한 번에 그 블록으로 간다</a:t>
            </a:r>
          </a:p>
          <a:p>
            <a:r>
              <a:rPr sz="1250" b="0">
                <a:solidFill>
                  <a:srgbClr val="E6E6E6"/>
                </a:solidFill>
                <a:latin typeface="Consolas"/>
              </a:rPr>
              <a:t/>
            </a:r>
          </a:p>
          <a:p>
            <a:r>
              <a:rPr sz="1250" b="0">
                <a:solidFill>
                  <a:srgbClr val="E6E6E6"/>
                </a:solidFill>
                <a:latin typeface="Consolas"/>
              </a:rPr>
              <a:t>-- MOVE 를 하면</a:t>
            </a:r>
          </a:p>
          <a:p>
            <a:r>
              <a:rPr sz="1250" b="0">
                <a:solidFill>
                  <a:srgbClr val="E6E6E6"/>
                </a:solidFill>
                <a:latin typeface="Consolas"/>
              </a:rPr>
              <a:t>ALTER TABLE hr.emp_iot_cmp MOVE TABLESPACE users;</a:t>
            </a:r>
          </a:p>
          <a:p>
            <a:r>
              <a:rPr sz="1250" b="0">
                <a:solidFill>
                  <a:srgbClr val="E6E6E6"/>
                </a:solidFill>
                <a:latin typeface="Consolas"/>
              </a:rPr>
              <a:t>INDEX_NAME           STATUS   PCT_DIRECT_ACCESS</a:t>
            </a:r>
          </a:p>
          <a:p>
            <a:r>
              <a:rPr sz="1250" b="0">
                <a:solidFill>
                  <a:srgbClr val="E6E6E6"/>
                </a:solidFill>
                <a:latin typeface="Consolas"/>
              </a:rPr>
              <a:t>EMP_IOT_CMP_IX1      VALID                    0     &lt;- 0 이 됐다</a:t>
            </a:r>
          </a:p>
          <a:p>
            <a:r>
              <a:rPr sz="1250" b="0">
                <a:solidFill>
                  <a:srgbClr val="E6E6E6"/>
                </a:solidFill>
                <a:latin typeface="Consolas"/>
              </a:rPr>
              <a:t>EMP_IOT_CMP_PK       VALID                    0</a:t>
            </a:r>
          </a:p>
          <a:p>
            <a:r>
              <a:rPr sz="1250" b="0">
                <a:solidFill>
                  <a:srgbClr val="E6E6E6"/>
                </a:solidFill>
                <a:latin typeface="Consolas"/>
              </a:rPr>
              <a:t/>
            </a:r>
          </a:p>
          <a:p>
            <a:r>
              <a:rPr sz="1250" b="0">
                <a:solidFill>
                  <a:srgbClr val="E6E6E6"/>
                </a:solidFill>
                <a:latin typeface="Consolas"/>
              </a:rPr>
              <a:t>|*  1 |  INDEX UNIQUE SCAN| EMP_IOT_CMP_PK  | ... | Buffers 7 | Reads 2 |</a:t>
            </a:r>
          </a:p>
          <a:p>
            <a:r>
              <a:rPr sz="1250" b="0">
                <a:solidFill>
                  <a:srgbClr val="E6E6E6"/>
                </a:solidFill>
                <a:latin typeface="Consolas"/>
              </a:rPr>
              <a:t>   5 -&gt; 7 로 늘고 물리 읽기가 생겼다</a:t>
            </a:r>
          </a:p>
          <a:p>
            <a:r>
              <a:rPr sz="1250" b="0">
                <a:solidFill>
                  <a:srgbClr val="E6E6E6"/>
                </a:solidFill>
                <a:latin typeface="Consolas"/>
              </a:rPr>
              <a:t>   **인덱스 상태는 VALID 다. UNUSABLE 이 되지 않는다.**</a:t>
            </a:r>
          </a:p>
          <a:p>
            <a:r>
              <a:rPr sz="1250" b="0">
                <a:solidFill>
                  <a:srgbClr val="E6E6E6"/>
                </a:solidFill>
                <a:latin typeface="Consolas"/>
              </a:rPr>
              <a:t>   -&gt; 오류가 나지 않는다. 조용히 느려진다. 이것이 위험한 이유다</a:t>
            </a:r>
          </a:p>
          <a:p>
            <a:r>
              <a:rPr sz="1250" b="0">
                <a:solidFill>
                  <a:srgbClr val="E6E6E6"/>
                </a:solidFill>
                <a:latin typeface="Consolas"/>
              </a:rPr>
              <a:t/>
            </a:r>
          </a:p>
          <a:p>
            <a:r>
              <a:rPr sz="1250" b="0">
                <a:solidFill>
                  <a:srgbClr val="E6E6E6"/>
                </a:solidFill>
                <a:latin typeface="Consolas"/>
              </a:rPr>
              <a:t>-- 복구</a:t>
            </a:r>
          </a:p>
          <a:p>
            <a:r>
              <a:rPr sz="1250" b="0">
                <a:solidFill>
                  <a:srgbClr val="E6E6E6"/>
                </a:solidFill>
                <a:latin typeface="Consolas"/>
              </a:rPr>
              <a:t>ALTER INDEX hr.emp_iot_cmp_ix1 UPDATE BLOCK REFERENCES;</a:t>
            </a:r>
          </a:p>
          <a:p>
            <a:r>
              <a:rPr sz="1250" b="0">
                <a:solidFill>
                  <a:srgbClr val="E6E6E6"/>
                </a:solidFill>
                <a:latin typeface="Consolas"/>
              </a:rPr>
              <a:t>INDEX_NAME           PCT_DIRECT_ACCESS</a:t>
            </a:r>
          </a:p>
          <a:p>
            <a:r>
              <a:rPr sz="1250" b="0">
                <a:solidFill>
                  <a:srgbClr val="E6E6E6"/>
                </a:solidFill>
                <a:latin typeface="Consolas"/>
              </a:rPr>
              <a:t>EMP_IOT_CMP_IX1                    100      -&gt; Buffers 다시 5</a:t>
            </a:r>
          </a:p>
          <a:p>
            <a:r>
              <a:rPr sz="1250" b="0">
                <a:solidFill>
                  <a:srgbClr val="E6E6E6"/>
                </a:solidFill>
                <a:latin typeface="Consolas"/>
              </a:rPr>
              <a:t>   REBUILD 도 되지만 UPDATE BLOCK REFERENCES 가 훨씬 가볍다</a:t>
            </a:r>
          </a:p>
          <a:p>
            <a:r>
              <a:rPr sz="1250" b="0">
                <a:solidFill>
                  <a:srgbClr val="E6E6E6"/>
                </a:solidFill>
                <a:latin typeface="Consolas"/>
              </a:rPr>
              <a:t/>
            </a:r>
          </a:p>
          <a:p>
            <a:r>
              <a:rPr sz="1250" b="0">
                <a:solidFill>
                  <a:srgbClr val="E6E6E6"/>
                </a:solidFill>
                <a:latin typeface="Consolas"/>
              </a:rPr>
              <a:t>절차로 묶는다 : MOVE -&gt; UPDATE BLOCK REFERENCES (보조 인덱스마다) -&gt; ANALYZE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키 압축과 파티션 IOT</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05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키 압축 : 선두 2개 컬럼의 중복을 제거한다</a:t>
            </a:r>
          </a:p>
          <a:p>
            <a:r>
              <a:rPr sz="1250" b="0">
                <a:solidFill>
                  <a:srgbClr val="E6E6E6"/>
                </a:solidFill>
                <a:latin typeface="Consolas"/>
              </a:rPr>
              <a:t>CREATE TABLE hr.iot_comp (region, city, seq, memo, CONSTRAINT ... PRIMARY KEY</a:t>
            </a:r>
          </a:p>
          <a:p>
            <a:r>
              <a:rPr sz="1250" b="0">
                <a:solidFill>
                  <a:srgbClr val="E6E6E6"/>
                </a:solidFill>
                <a:latin typeface="Consolas"/>
              </a:rPr>
              <a:t>  (region, city, seq)) ORGANIZATION INDEX PCTFREE 0 COMPRESS 2;</a:t>
            </a:r>
          </a:p>
          <a:p>
            <a:r>
              <a:rPr sz="1250" b="0">
                <a:solidFill>
                  <a:srgbClr val="E6E6E6"/>
                </a:solidFill>
                <a:latin typeface="Consolas"/>
              </a:rPr>
              <a:t/>
            </a:r>
          </a:p>
          <a:p>
            <a:r>
              <a:rPr sz="1250" b="0">
                <a:solidFill>
                  <a:srgbClr val="E6E6E6"/>
                </a:solidFill>
                <a:latin typeface="Consolas"/>
              </a:rPr>
              <a:t>INDEX_NAME      PREFIX_LENGTH COMPRESSION   BLEVEL LEAF_BLOCKS</a:t>
            </a:r>
          </a:p>
          <a:p>
            <a:r>
              <a:rPr sz="1250" b="0">
                <a:solidFill>
                  <a:srgbClr val="E6E6E6"/>
                </a:solidFill>
                <a:latin typeface="Consolas"/>
              </a:rPr>
              <a:t>IOT_COMP_PK                 2 ENABLED            2         587</a:t>
            </a:r>
          </a:p>
          <a:p>
            <a:r>
              <a:rPr sz="1250" b="0">
                <a:solidFill>
                  <a:srgbClr val="E6E6E6"/>
                </a:solidFill>
                <a:latin typeface="Consolas"/>
              </a:rPr>
              <a:t>IOT_NOCOMP_PK                 DISABLED           2         756</a:t>
            </a:r>
          </a:p>
          <a:p>
            <a:r>
              <a:rPr sz="1250" b="0">
                <a:solidFill>
                  <a:srgbClr val="E6E6E6"/>
                </a:solidFill>
                <a:latin typeface="Consolas"/>
              </a:rPr>
              <a:t/>
            </a:r>
          </a:p>
          <a:p>
            <a:r>
              <a:rPr sz="1250" b="0">
                <a:solidFill>
                  <a:srgbClr val="E6E6E6"/>
                </a:solidFill>
                <a:latin typeface="Consolas"/>
              </a:rPr>
              <a:t>SEGMENT_NAME            MB     BLOCKS</a:t>
            </a:r>
          </a:p>
          <a:p>
            <a:r>
              <a:rPr sz="1250" b="0">
                <a:solidFill>
                  <a:srgbClr val="E6E6E6"/>
                </a:solidFill>
                <a:latin typeface="Consolas"/>
              </a:rPr>
              <a:t>IOT_COMP_PK              5        640     &lt;- 5만 건</a:t>
            </a:r>
          </a:p>
          <a:p>
            <a:r>
              <a:rPr sz="1250" b="0">
                <a:solidFill>
                  <a:srgbClr val="E6E6E6"/>
                </a:solidFill>
                <a:latin typeface="Consolas"/>
              </a:rPr>
              <a:t>IOT_NOCOMP_PK            7        896</a:t>
            </a:r>
          </a:p>
          <a:p>
            <a:r>
              <a:rPr sz="1250" b="0">
                <a:solidFill>
                  <a:srgbClr val="E6E6E6"/>
                </a:solidFill>
                <a:latin typeface="Consolas"/>
              </a:rPr>
              <a:t>   7MB -&gt; 5MB (29% 감소). IOT 는 데이터 전체가 인덱스이므로</a:t>
            </a:r>
          </a:p>
          <a:p>
            <a:r>
              <a:rPr sz="1250" b="0">
                <a:solidFill>
                  <a:srgbClr val="E6E6E6"/>
                </a:solidFill>
                <a:latin typeface="Consolas"/>
              </a:rPr>
              <a:t>   키 압축이 테이블 크기에 직접 반영된다</a:t>
            </a:r>
          </a:p>
          <a:p>
            <a:r>
              <a:rPr sz="1250" b="0">
                <a:solidFill>
                  <a:srgbClr val="E6E6E6"/>
                </a:solidFill>
                <a:latin typeface="Consolas"/>
              </a:rPr>
              <a:t/>
            </a:r>
          </a:p>
          <a:p>
            <a:r>
              <a:rPr sz="1250" b="0">
                <a:solidFill>
                  <a:srgbClr val="E6E6E6"/>
                </a:solidFill>
                <a:latin typeface="Consolas"/>
              </a:rPr>
              <a:t>-- 파티션 IOT</a:t>
            </a:r>
          </a:p>
          <a:p>
            <a:r>
              <a:rPr sz="1250" b="0">
                <a:solidFill>
                  <a:srgbClr val="E6E6E6"/>
                </a:solidFill>
                <a:latin typeface="Consolas"/>
              </a:rPr>
              <a:t>CREATE TABLE hr.iot_part (yyyymm, seq, memo,</a:t>
            </a:r>
          </a:p>
          <a:p>
            <a:r>
              <a:rPr sz="1250" b="0">
                <a:solidFill>
                  <a:srgbClr val="E6E6E6"/>
                </a:solidFill>
                <a:latin typeface="Consolas"/>
              </a:rPr>
              <a:t>  CONSTRAINT iot_part_pk PRIMARY KEY (yyyymm, seq))</a:t>
            </a:r>
          </a:p>
          <a:p>
            <a:r>
              <a:rPr sz="1250" b="0">
                <a:solidFill>
                  <a:srgbClr val="E6E6E6"/>
                </a:solidFill>
                <a:latin typeface="Consolas"/>
              </a:rPr>
              <a:t>ORGANIZATION INDEX PARTITION BY RANGE (yyyymm) (...);</a:t>
            </a:r>
          </a:p>
          <a:p>
            <a:r>
              <a:rPr sz="1250" b="0">
                <a:solidFill>
                  <a:srgbClr val="E6E6E6"/>
                </a:solidFill>
                <a:latin typeface="Consolas"/>
              </a:rPr>
              <a:t/>
            </a:r>
          </a:p>
          <a:p>
            <a:r>
              <a:rPr sz="1250" b="0">
                <a:solidFill>
                  <a:srgbClr val="E6E6E6"/>
                </a:solidFill>
                <a:latin typeface="Consolas"/>
              </a:rPr>
              <a:t>   dba_tables      : iot_type IOT, partitioned YES</a:t>
            </a:r>
          </a:p>
          <a:p>
            <a:r>
              <a:rPr sz="1250" b="0">
                <a:solidFill>
                  <a:srgbClr val="E6E6E6"/>
                </a:solidFill>
                <a:latin typeface="Consolas"/>
              </a:rPr>
              <a:t>   파티션 정보는 dba_tab_partitions 가 아니라 **dba_ind_partitions** 에 있다</a:t>
            </a:r>
          </a:p>
          <a:p>
            <a:r>
              <a:rPr sz="1250" b="0">
                <a:solidFill>
                  <a:srgbClr val="E6E6E6"/>
                </a:solidFill>
                <a:latin typeface="Consolas"/>
              </a:rPr>
              <a:t>   세그먼트도 INDEX PARTITION 으로 잡힌다</a:t>
            </a:r>
          </a:p>
          <a:p>
            <a:r>
              <a:rPr sz="1250" b="0">
                <a:solidFill>
                  <a:srgbClr val="E6E6E6"/>
                </a:solidFill>
                <a:latin typeface="Consolas"/>
              </a:rPr>
              <a:t>   제약 : 기본키에 파티션 키가 포함돼야 한다 (LOCAL 인덱스와 같은 이유)</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6</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KEEP · RECYCLE 버퍼 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IOT 의 두 세그먼트는 성질이 정반대다</a:t>
            </a:r>
          </a:p>
          <a:p>
            <a:pPr>
              <a:spcAft>
                <a:spcPts val="600"/>
              </a:spcAft>
            </a:pPr>
            <a:r>
              <a:rPr sz="1600" b="0">
                <a:solidFill>
                  <a:srgbClr val="C5CED6"/>
                </a:solidFill>
                <a:latin typeface="Malgun Gothic"/>
              </a:rPr>
              <a:t>•  두 파라미터는 동적이다 — 재기동이 필요 없다</a:t>
            </a:r>
          </a:p>
          <a:p>
            <a:pPr>
              <a:spcAft>
                <a:spcPts val="600"/>
              </a:spcAft>
            </a:pPr>
            <a:r>
              <a:rPr sz="1600" b="0">
                <a:solidFill>
                  <a:srgbClr val="C5CED6"/>
                </a:solidFill>
                <a:latin typeface="Malgun Gothic"/>
              </a:rPr>
              <a:t>•  KEEP 물리 읽기 0 vs RECYCLE 매번 4,998</a:t>
            </a:r>
          </a:p>
          <a:p>
            <a:pPr>
              <a:spcAft>
                <a:spcPts val="600"/>
              </a:spcAft>
            </a:pPr>
            <a:r>
              <a:rPr sz="1600" b="0">
                <a:solidFill>
                  <a:srgbClr val="C5CED6"/>
                </a:solidFill>
                <a:latin typeface="Malgun Gothic"/>
              </a:rPr>
              <a:t>•  RECYCLE 의 목적은 속도가 아니라 격리다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두 풀을 만든다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03 실측. SCOPE=BOTH 로 재기동 없이</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ALTER SYSTEM SET db_keep_cache_size    = 50M SCOPE=BOTH;</a:t>
            </a:r>
          </a:p>
          <a:p>
            <a:r>
              <a:rPr sz="1250" b="0">
                <a:solidFill>
                  <a:srgbClr val="E6E6E6"/>
                </a:solidFill>
                <a:latin typeface="Consolas"/>
              </a:rPr>
              <a:t>ALTER SYSTEM SET db_recycle_cache_size = 30M SCOPE=BOTH;</a:t>
            </a:r>
          </a:p>
          <a:p>
            <a:r>
              <a:rPr sz="1250" b="0">
                <a:solidFill>
                  <a:srgbClr val="E6E6E6"/>
                </a:solidFill>
                <a:latin typeface="Consolas"/>
              </a:rPr>
              <a:t/>
            </a:r>
          </a:p>
          <a:p>
            <a:r>
              <a:rPr sz="1250" b="0">
                <a:solidFill>
                  <a:srgbClr val="E6E6E6"/>
                </a:solidFill>
                <a:latin typeface="Consolas"/>
              </a:rPr>
              <a:t>COMPONENT                          MB</a:t>
            </a:r>
          </a:p>
          <a:p>
            <a:r>
              <a:rPr sz="1250" b="0">
                <a:solidFill>
                  <a:srgbClr val="E6E6E6"/>
                </a:solidFill>
                <a:latin typeface="Consolas"/>
              </a:rPr>
              <a:t>shared pool                       328</a:t>
            </a:r>
          </a:p>
          <a:p>
            <a:r>
              <a:rPr sz="1250" b="0">
                <a:solidFill>
                  <a:srgbClr val="E6E6E6"/>
                </a:solidFill>
                <a:latin typeface="Consolas"/>
              </a:rPr>
              <a:t>DEFAULT buffer cache              540      &lt;- 624MB 에서 줄었다</a:t>
            </a:r>
          </a:p>
          <a:p>
            <a:r>
              <a:rPr sz="1250" b="0">
                <a:solidFill>
                  <a:srgbClr val="E6E6E6"/>
                </a:solidFill>
                <a:latin typeface="Consolas"/>
              </a:rPr>
              <a:t>KEEP buffer cache                  52      &lt;- 50M 요청 -&gt; 입도 단위 반올림</a:t>
            </a:r>
          </a:p>
          <a:p>
            <a:r>
              <a:rPr sz="1250" b="0">
                <a:solidFill>
                  <a:srgbClr val="E6E6E6"/>
                </a:solidFill>
                <a:latin typeface="Consolas"/>
              </a:rPr>
              <a:t>RECYCLE buffer cache               32</a:t>
            </a:r>
          </a:p>
          <a:p>
            <a:r>
              <a:rPr sz="1250" b="0">
                <a:solidFill>
                  <a:srgbClr val="E6E6E6"/>
                </a:solidFill>
                <a:latin typeface="Consolas"/>
              </a:rPr>
              <a:t/>
            </a:r>
          </a:p>
          <a:p>
            <a:r>
              <a:rPr sz="1250" b="0">
                <a:solidFill>
                  <a:srgbClr val="E6E6E6"/>
                </a:solidFill>
                <a:latin typeface="Consolas"/>
              </a:rPr>
              <a:t>POOL_NAME  BLOCK_SIZE    BUFFERS</a:t>
            </a:r>
          </a:p>
          <a:p>
            <a:r>
              <a:rPr sz="1250" b="0">
                <a:solidFill>
                  <a:srgbClr val="E6E6E6"/>
                </a:solidFill>
                <a:latin typeface="Consolas"/>
              </a:rPr>
              <a:t>KEEP             8192       6344</a:t>
            </a:r>
          </a:p>
          <a:p>
            <a:r>
              <a:rPr sz="1250" b="0">
                <a:solidFill>
                  <a:srgbClr val="E6E6E6"/>
                </a:solidFill>
                <a:latin typeface="Consolas"/>
              </a:rPr>
              <a:t>RECYCLE          8192       3904</a:t>
            </a:r>
          </a:p>
          <a:p>
            <a:r>
              <a:rPr sz="1250" b="0">
                <a:solidFill>
                  <a:srgbClr val="E6E6E6"/>
                </a:solidFill>
                <a:latin typeface="Consolas"/>
              </a:rPr>
              <a:t>DEFAULT          8192      65880</a:t>
            </a:r>
          </a:p>
          <a:p>
            <a:r>
              <a:rPr sz="1250" b="0">
                <a:solidFill>
                  <a:srgbClr val="E6E6E6"/>
                </a:solidFill>
                <a:latin typeface="Consolas"/>
              </a:rPr>
              <a:t/>
            </a:r>
          </a:p>
          <a:p>
            <a:r>
              <a:rPr sz="1250" b="0">
                <a:solidFill>
                  <a:srgbClr val="E6E6E6"/>
                </a:solidFill>
                <a:latin typeface="Consolas"/>
              </a:rPr>
              <a:t>주의할 점</a:t>
            </a:r>
          </a:p>
          <a:p>
            <a:r>
              <a:rPr sz="1250" b="0">
                <a:solidFill>
                  <a:srgbClr val="E6E6E6"/>
                </a:solidFill>
                <a:latin typeface="Consolas"/>
              </a:rPr>
              <a:t>  · DEFAULT 풀에서 떼어 온다. KEEP 을 크게 잡으면 다른 SQL 이 느려질 수 있다</a:t>
            </a:r>
          </a:p>
          <a:p>
            <a:r>
              <a:rPr sz="1250" b="0">
                <a:solidFill>
                  <a:srgbClr val="E6E6E6"/>
                </a:solidFill>
                <a:latin typeface="Consolas"/>
              </a:rPr>
              <a:t>  · ASMM 은 KEEP·RECYCLE 을 자동 조정하지 않는다. 용량을 직접 관리한다</a:t>
            </a:r>
          </a:p>
          <a:p>
            <a:r>
              <a:rPr sz="1250" b="0">
                <a:solidFill>
                  <a:srgbClr val="E6E6E6"/>
                </a:solidFill>
                <a:latin typeface="Consolas"/>
              </a:rPr>
              <a:t>  · sga_max_size 에 여유가 없으면 SCOPE=SPFILE + 재기동이 필요하다</a:t>
            </a:r>
          </a:p>
          <a:p>
            <a:r>
              <a:rPr sz="1250" b="0">
                <a:solidFill>
                  <a:srgbClr val="E6E6E6"/>
                </a:solidFill>
                <a:latin typeface="Consolas"/>
              </a:rPr>
              <a:t/>
            </a:r>
          </a:p>
          <a:p>
            <a:r>
              <a:rPr sz="1250" b="0">
                <a:solidFill>
                  <a:srgbClr val="E6E6E6"/>
                </a:solidFill>
                <a:latin typeface="Consolas"/>
              </a:rPr>
              <a:t>-- 지정한 세그먼트 크기 합을 먼저 세야 한다 (풀보다 작아야 의미가 있다)</a:t>
            </a:r>
          </a:p>
          <a:p>
            <a:r>
              <a:rPr sz="1250" b="0">
                <a:solidFill>
                  <a:srgbClr val="E6E6E6"/>
                </a:solidFill>
                <a:latin typeface="Consolas"/>
              </a:rPr>
              <a:t>SELECT buffer_pool, COUNT(*) segs, ROUND(SUM(bytes)/1024/1024,1) mb</a:t>
            </a:r>
          </a:p>
          <a:p>
            <a:r>
              <a:rPr sz="1250" b="0">
                <a:solidFill>
                  <a:srgbClr val="E6E6E6"/>
                </a:solidFill>
                <a:latin typeface="Consolas"/>
              </a:rPr>
              <a:t>FROM   dba_segments WHERE buffer_pool &lt;&gt; 'DEFAULT' GROUP BY buffer_pool;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IOT 를 두 풀에 나눠 담는다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03 실측. STORAGE 절을 두 군데에 쓴다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TABLE hr.emp_iot_pool (</a:t>
            </a:r>
          </a:p>
          <a:p>
            <a:r>
              <a:rPr sz="1250" b="0">
                <a:solidFill>
                  <a:srgbClr val="E6E6E6"/>
                </a:solidFill>
                <a:latin typeface="Consolas"/>
              </a:rPr>
              <a:t>  emp_id NUMBER, emp_name VARCHAR2(50), emp_email VARCHAR2(200),</a:t>
            </a:r>
          </a:p>
          <a:p>
            <a:r>
              <a:rPr sz="1250" b="0">
                <a:solidFill>
                  <a:srgbClr val="E6E6E6"/>
                </a:solidFill>
                <a:latin typeface="Consolas"/>
              </a:rPr>
              <a:t>  emp_notes VARCHAR2(2000), CONSTRAINT emp_iot_pool_pk PRIMARY KEY (emp_id))</a:t>
            </a:r>
          </a:p>
          <a:p>
            <a:r>
              <a:rPr sz="1250" b="0">
                <a:solidFill>
                  <a:srgbClr val="E6E6E6"/>
                </a:solidFill>
                <a:latin typeface="Consolas"/>
              </a:rPr>
              <a:t>ORGANIZATION INDEX TABLESPACE users PCTFREE 0</a:t>
            </a:r>
          </a:p>
          <a:p>
            <a:r>
              <a:rPr sz="1250" b="0">
                <a:solidFill>
                  <a:srgbClr val="E6E6E6"/>
                </a:solidFill>
                <a:latin typeface="Consolas"/>
              </a:rPr>
              <a:t>STORAGE (BUFFER_POOL KEEP)          -- 인덱스(본체) 세그먼트</a:t>
            </a:r>
          </a:p>
          <a:p>
            <a:r>
              <a:rPr sz="1250" b="0">
                <a:solidFill>
                  <a:srgbClr val="E6E6E6"/>
                </a:solidFill>
                <a:latin typeface="Consolas"/>
              </a:rPr>
              <a:t>INCLUDING emp_email</a:t>
            </a:r>
          </a:p>
          <a:p>
            <a:r>
              <a:rPr sz="1250" b="0">
                <a:solidFill>
                  <a:srgbClr val="E6E6E6"/>
                </a:solidFill>
                <a:latin typeface="Consolas"/>
              </a:rPr>
              <a:t>OVERFLOW TABLESPACE users</a:t>
            </a:r>
          </a:p>
          <a:p>
            <a:r>
              <a:rPr sz="1250" b="0">
                <a:solidFill>
                  <a:srgbClr val="E6E6E6"/>
                </a:solidFill>
                <a:latin typeface="Consolas"/>
              </a:rPr>
              <a:t>STORAGE (BUFFER_POOL RECYCLE);      -- 오버플로 세그먼트</a:t>
            </a:r>
          </a:p>
          <a:p>
            <a:r>
              <a:rPr sz="1250" b="0">
                <a:solidFill>
                  <a:srgbClr val="E6E6E6"/>
                </a:solidFill>
                <a:latin typeface="Consolas"/>
              </a:rPr>
              <a:t/>
            </a:r>
          </a:p>
          <a:p>
            <a:r>
              <a:rPr sz="1250" b="0">
                <a:solidFill>
                  <a:srgbClr val="E6E6E6"/>
                </a:solidFill>
                <a:latin typeface="Consolas"/>
              </a:rPr>
              <a:t>SEGMENT_NAME           SEGMENT_TYPE       BUFFER_P    MB   BLOCKS</a:t>
            </a:r>
          </a:p>
          <a:p>
            <a:r>
              <a:rPr sz="1250" b="0">
                <a:solidFill>
                  <a:srgbClr val="E6E6E6"/>
                </a:solidFill>
                <a:latin typeface="Consolas"/>
              </a:rPr>
              <a:t>EMP_IOT_POOL_PK        INDEX              KEEP         2      256</a:t>
            </a:r>
          </a:p>
          <a:p>
            <a:r>
              <a:rPr sz="1250" b="0">
                <a:solidFill>
                  <a:srgbClr val="E6E6E6"/>
                </a:solidFill>
                <a:latin typeface="Consolas"/>
              </a:rPr>
              <a:t>SYS_IOT_OVER_76371     TABLE              RECYCLE     40     5120</a:t>
            </a:r>
          </a:p>
          <a:p>
            <a:r>
              <a:rPr sz="1250" b="0">
                <a:solidFill>
                  <a:srgbClr val="E6E6E6"/>
                </a:solidFill>
                <a:latin typeface="Consolas"/>
              </a:rPr>
              <a:t>   2만 건 적재 후. RECYCLE 풀 32MB 로는 40MB 를 담을 수 없다 (의도한 구성)</a:t>
            </a:r>
          </a:p>
          <a:p>
            <a:r>
              <a:rPr sz="1250" b="0">
                <a:solidFill>
                  <a:srgbClr val="E6E6E6"/>
                </a:solidFill>
                <a:latin typeface="Consolas"/>
              </a:rPr>
              <a:t/>
            </a:r>
          </a:p>
          <a:p>
            <a:r>
              <a:rPr sz="1250" b="0">
                <a:solidFill>
                  <a:srgbClr val="E6E6E6"/>
                </a:solidFill>
                <a:latin typeface="Consolas"/>
              </a:rPr>
              <a:t>-- 나중에 바꿀 때는 두 절을 구분해야 한다</a:t>
            </a:r>
          </a:p>
          <a:p>
            <a:r>
              <a:rPr sz="1250" b="0">
                <a:solidFill>
                  <a:srgbClr val="E6E6E6"/>
                </a:solidFill>
                <a:latin typeface="Consolas"/>
              </a:rPr>
              <a:t>ALTER TABLE hr.emp_iot_pool STORAGE (BUFFER_POOL KEEP);            -- 본체</a:t>
            </a:r>
          </a:p>
          <a:p>
            <a:r>
              <a:rPr sz="1250" b="0">
                <a:solidFill>
                  <a:srgbClr val="E6E6E6"/>
                </a:solidFill>
                <a:latin typeface="Consolas"/>
              </a:rPr>
              <a:t>ALTER TABLE hr.emp_iot_pool OVERFLOW STORAGE (BUFFER_POOL RECYCLE); -- 오버플로</a:t>
            </a:r>
          </a:p>
          <a:p>
            <a:r>
              <a:rPr sz="1250" b="0">
                <a:solidFill>
                  <a:srgbClr val="E6E6E6"/>
                </a:solidFill>
                <a:latin typeface="Consolas"/>
              </a:rPr>
              <a:t>   STORAGE 만 쓰면 오버플로는 바뀌지 않는다</a:t>
            </a:r>
          </a:p>
          <a:p>
            <a:r>
              <a:rPr sz="1250" b="0">
                <a:solidFill>
                  <a:srgbClr val="E6E6E6"/>
                </a:solidFill>
                <a:latin typeface="Consolas"/>
              </a:rPr>
              <a:t/>
            </a:r>
          </a:p>
          <a:p>
            <a:r>
              <a:rPr sz="1250" b="0">
                <a:solidFill>
                  <a:srgbClr val="E6E6E6"/>
                </a:solidFill>
                <a:latin typeface="Consolas"/>
              </a:rPr>
              <a:t>dba_segments.buffer_pool / dba_indexes.buffer_pool 로 확인한다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측정 결과 — 두 번 조회한다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03 실측. 2만 건 / 인덱스 2MB · 오버플로 40MB</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조회                       | 1회차              | 2회차              | 풀 물리읽기</a:t>
            </a:r>
          </a:p>
          <a:p>
            <a:r>
              <a:rPr sz="1250" b="0">
                <a:solidFill>
                  <a:srgbClr val="E6E6E6"/>
                </a:solidFill>
                <a:latin typeface="Consolas"/>
              </a:rPr>
              <a:t>---------------------------|--------------------|--------------------|------------</a:t>
            </a:r>
          </a:p>
          <a:p>
            <a:r>
              <a:rPr sz="1250" b="0">
                <a:solidFill>
                  <a:srgbClr val="E6E6E6"/>
                </a:solidFill>
                <a:latin typeface="Consolas"/>
              </a:rPr>
              <a:t>인덱스 컬럼만 (KEEP)       | Buffers 199        | Buffers 199        | 증가 0</a:t>
            </a:r>
          </a:p>
          <a:p>
            <a:r>
              <a:rPr sz="1250" b="0">
                <a:solidFill>
                  <a:srgbClr val="E6E6E6"/>
                </a:solidFill>
                <a:latin typeface="Consolas"/>
              </a:rPr>
              <a:t>오버플로 포함 (RECYCLE)    | Buffers 5,256      | Buffers 5,256      | 매번 +4,998</a:t>
            </a:r>
          </a:p>
          <a:p>
            <a:r>
              <a:rPr sz="1250" b="0">
                <a:solidFill>
                  <a:srgbClr val="E6E6E6"/>
                </a:solidFill>
                <a:latin typeface="Consolas"/>
              </a:rPr>
              <a:t>                           | Reads 4,998        | Reads 4,998        |</a:t>
            </a:r>
          </a:p>
          <a:p>
            <a:r>
              <a:rPr sz="1250" b="0">
                <a:solidFill>
                  <a:srgbClr val="E6E6E6"/>
                </a:solidFill>
                <a:latin typeface="Consolas"/>
              </a:rPr>
              <a:t/>
            </a:r>
          </a:p>
          <a:p>
            <a:r>
              <a:rPr sz="1250" b="0">
                <a:solidFill>
                  <a:srgbClr val="E6E6E6"/>
                </a:solidFill>
                <a:latin typeface="Consolas"/>
              </a:rPr>
              <a:t>-- v$bh 로 실제 캐시에 남은 블록을 센다</a:t>
            </a:r>
          </a:p>
          <a:p>
            <a:r>
              <a:rPr sz="1250" b="0">
                <a:solidFill>
                  <a:srgbClr val="E6E6E6"/>
                </a:solidFill>
                <a:latin typeface="Consolas"/>
              </a:rPr>
              <a:t>OBJECT_NAME            OBJECT_TYPE     CACHED_BLOCKS</a:t>
            </a:r>
          </a:p>
          <a:p>
            <a:r>
              <a:rPr sz="1250" b="0">
                <a:solidFill>
                  <a:srgbClr val="E6E6E6"/>
                </a:solidFill>
                <a:latin typeface="Consolas"/>
              </a:rPr>
              <a:t>EMP_IOT_POOL_PK        INDEX                     202   &lt;- 세그먼트 전체가 남았다</a:t>
            </a:r>
          </a:p>
          <a:p>
            <a:r>
              <a:rPr sz="1250" b="0">
                <a:solidFill>
                  <a:srgbClr val="E6E6E6"/>
                </a:solidFill>
                <a:latin typeface="Consolas"/>
              </a:rPr>
              <a:t>SYS_IOT_OVER_76371     TABLE                    3904   &lt;- 정확히 RECYCLE 버퍼 개수</a:t>
            </a:r>
          </a:p>
          <a:p>
            <a:r>
              <a:rPr sz="1250" b="0">
                <a:solidFill>
                  <a:srgbClr val="E6E6E6"/>
                </a:solidFill>
                <a:latin typeface="Consolas"/>
              </a:rPr>
              <a:t/>
            </a:r>
          </a:p>
          <a:p>
            <a:r>
              <a:rPr sz="1250" b="0">
                <a:solidFill>
                  <a:srgbClr val="E6E6E6"/>
                </a:solidFill>
                <a:latin typeface="Consolas"/>
              </a:rPr>
              <a:t>   3904 는 우연이 아니다. RECYCLE 풀이 꽉 찬 상태라는 뜻이며</a:t>
            </a:r>
          </a:p>
          <a:p>
            <a:r>
              <a:rPr sz="1250" b="0">
                <a:solidFill>
                  <a:srgbClr val="E6E6E6"/>
                </a:solidFill>
                <a:latin typeface="Consolas"/>
              </a:rPr>
              <a:t>   풀 크기가 상한이 되어 그 이상은 남을 수 없다.</a:t>
            </a:r>
          </a:p>
          <a:p>
            <a:r>
              <a:rPr sz="1250" b="0">
                <a:solidFill>
                  <a:srgbClr val="E6E6E6"/>
                </a:solidFill>
                <a:latin typeface="Consolas"/>
              </a:rPr>
              <a:t/>
            </a:r>
          </a:p>
          <a:p>
            <a:r>
              <a:rPr sz="1250" b="0">
                <a:solidFill>
                  <a:srgbClr val="E6E6E6"/>
                </a:solidFill>
                <a:latin typeface="Consolas"/>
              </a:rPr>
              <a:t>POOL_NAME     BUFFERS PHYSICAL_READS</a:t>
            </a:r>
          </a:p>
          <a:p>
            <a:r>
              <a:rPr sz="1250" b="0">
                <a:solidFill>
                  <a:srgbClr val="E6E6E6"/>
                </a:solidFill>
                <a:latin typeface="Consolas"/>
              </a:rPr>
              <a:t>DEFAULT         65880          11930</a:t>
            </a:r>
          </a:p>
          <a:p>
            <a:r>
              <a:rPr sz="1250" b="0">
                <a:solidFill>
                  <a:srgbClr val="E6E6E6"/>
                </a:solidFill>
                <a:latin typeface="Consolas"/>
              </a:rPr>
              <a:t>KEEP             6344              1     &lt;- 실습 내내 1 그대로</a:t>
            </a:r>
          </a:p>
          <a:p>
            <a:r>
              <a:rPr sz="1250" b="0">
                <a:solidFill>
                  <a:srgbClr val="E6E6E6"/>
                </a:solidFill>
                <a:latin typeface="Consolas"/>
              </a:rPr>
              <a:t>RECYCLE          3904          29927     &lt;- 조회마다 +4998</a:t>
            </a:r>
          </a:p>
          <a:p>
            <a:r>
              <a:rPr sz="1250" b="0">
                <a:solidFill>
                  <a:srgbClr val="E6E6E6"/>
                </a:solidFill>
                <a:latin typeface="Consolas"/>
              </a:rPr>
              <a:t/>
            </a:r>
          </a:p>
          <a:p>
            <a:r>
              <a:rPr sz="1250" b="0">
                <a:solidFill>
                  <a:srgbClr val="E6E6E6"/>
                </a:solidFill>
                <a:latin typeface="Consolas"/>
              </a:rPr>
              <a:t>RECYCLE 은 그 SQL 을 빠르게 하려고 쓰는 것이 아니다.</a:t>
            </a:r>
          </a:p>
          <a:p>
            <a:r>
              <a:rPr sz="1250" b="0">
                <a:solidFill>
                  <a:srgbClr val="E6E6E6"/>
                </a:solidFill>
                <a:latin typeface="Consolas"/>
              </a:rPr>
              <a:t>목적은 큰 세그먼트가 DEFAULT 풀을 오염시켜 **다른 SQL** 을 느리게 만드는 것을 막는 격리다.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7</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인덱스 클러스터와 해시 클러스터</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여러 테이블의 행을 같은 블록에 담는다</a:t>
            </a:r>
          </a:p>
          <a:p>
            <a:pPr>
              <a:spcAft>
                <a:spcPts val="600"/>
              </a:spcAft>
            </a:pPr>
            <a:r>
              <a:rPr sz="1600" b="0">
                <a:solidFill>
                  <a:srgbClr val="C5CED6"/>
                </a:solidFill>
                <a:latin typeface="Malgun Gothic"/>
              </a:rPr>
              <a:t>•  클러스터 인덱스가 없으면 쓸 수 없다 (ORA-02032)</a:t>
            </a:r>
          </a:p>
          <a:p>
            <a:pPr>
              <a:spcAft>
                <a:spcPts val="600"/>
              </a:spcAft>
            </a:pPr>
            <a:r>
              <a:rPr sz="1600" b="0">
                <a:solidFill>
                  <a:srgbClr val="C5CED6"/>
                </a:solidFill>
                <a:latin typeface="Malgun Gothic"/>
              </a:rPr>
              <a:t>•  avg_blocks_per_key — 편중이 지표를 무너뜨린다</a:t>
            </a:r>
          </a:p>
          <a:p>
            <a:pPr>
              <a:spcAft>
                <a:spcPts val="600"/>
              </a:spcAft>
            </a:pPr>
            <a:r>
              <a:rPr sz="1600" b="0">
                <a:solidFill>
                  <a:srgbClr val="C5CED6"/>
                </a:solidFill>
                <a:latin typeface="Malgun Gothic"/>
              </a:rPr>
              <a:t>•  해시 클러스터 — Buffers 1, 공간 21배</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인덱스 클러스터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06 실측. 순서를 지켜야 한다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CLUSTER hr.personnel_cluster (deptno NUMBER(2)) SIZE 512 TABLESPACE users;</a:t>
            </a:r>
          </a:p>
          <a:p>
            <a:r>
              <a:rPr sz="1250" b="0">
                <a:solidFill>
                  <a:srgbClr val="E6E6E6"/>
                </a:solidFill>
                <a:latin typeface="Consolas"/>
              </a:rPr>
              <a:t>   SIZE 512 = 키 하나가 쓸 바이트 수. 8K 블록이면 블록당 키 16개로 계산한다</a:t>
            </a:r>
          </a:p>
          <a:p>
            <a:r>
              <a:rPr sz="1250" b="0">
                <a:solidFill>
                  <a:srgbClr val="E6E6E6"/>
                </a:solidFill>
                <a:latin typeface="Consolas"/>
              </a:rPr>
              <a:t/>
            </a:r>
          </a:p>
          <a:p>
            <a:r>
              <a:rPr sz="1250" b="0">
                <a:solidFill>
                  <a:srgbClr val="E6E6E6"/>
                </a:solidFill>
                <a:latin typeface="Consolas"/>
              </a:rPr>
              <a:t>-- 인덱스를 만들기 전에는 쓸 수 없다</a:t>
            </a:r>
          </a:p>
          <a:p>
            <a:r>
              <a:rPr sz="1250" b="0">
                <a:solidFill>
                  <a:srgbClr val="E6E6E6"/>
                </a:solidFill>
                <a:latin typeface="Consolas"/>
              </a:rPr>
              <a:t>CREATE TABLE hr.dept_clu (...) CLUSTER hr.personnel_cluster (deptno);  -- OK</a:t>
            </a:r>
          </a:p>
          <a:p>
            <a:r>
              <a:rPr sz="1250" b="0">
                <a:solidFill>
                  <a:srgbClr val="E6E6E6"/>
                </a:solidFill>
                <a:latin typeface="Consolas"/>
              </a:rPr>
              <a:t>INSERT INTO hr.dept_clu VALUES (10, 'ACCOUNTING');</a:t>
            </a:r>
          </a:p>
          <a:p>
            <a:r>
              <a:rPr sz="1250" b="0">
                <a:solidFill>
                  <a:srgbClr val="E6E6E6"/>
                </a:solidFill>
                <a:latin typeface="Consolas"/>
              </a:rPr>
              <a:t>ORA-02032: clustered tables cannot be used before the cluster index is built</a:t>
            </a:r>
          </a:p>
          <a:p>
            <a:r>
              <a:rPr sz="1250" b="0">
                <a:solidFill>
                  <a:srgbClr val="E6E6E6"/>
                </a:solidFill>
                <a:latin typeface="Consolas"/>
              </a:rPr>
              <a:t/>
            </a:r>
          </a:p>
          <a:p>
            <a:r>
              <a:rPr sz="1250" b="0">
                <a:solidFill>
                  <a:srgbClr val="E6E6E6"/>
                </a:solidFill>
                <a:latin typeface="Consolas"/>
              </a:rPr>
              <a:t>CREATE INDEX hr.personnel_cluster_idx ON CLUSTER hr.personnel_cluster;</a:t>
            </a:r>
          </a:p>
          <a:p>
            <a:r>
              <a:rPr sz="1250" b="0">
                <a:solidFill>
                  <a:srgbClr val="E6E6E6"/>
                </a:solidFill>
                <a:latin typeface="Consolas"/>
              </a:rPr>
              <a:t>INDEX_NAME               INDEX_TYPE  TABLE_NAME         TABLE_TYPE  STATUS</a:t>
            </a:r>
          </a:p>
          <a:p>
            <a:r>
              <a:rPr sz="1250" b="0">
                <a:solidFill>
                  <a:srgbClr val="E6E6E6"/>
                </a:solidFill>
                <a:latin typeface="Consolas"/>
              </a:rPr>
              <a:t>PERSONNEL_CLUSTER_IDX    CLUSTER     PERSONNEL_CLUSTER  CLUSTER     VALID</a:t>
            </a:r>
          </a:p>
          <a:p>
            <a:r>
              <a:rPr sz="1250" b="0">
                <a:solidFill>
                  <a:srgbClr val="E6E6E6"/>
                </a:solidFill>
                <a:latin typeface="Consolas"/>
              </a:rPr>
              <a:t>   table_name 이 테이블이 아니라 클러스터를 가리킨다</a:t>
            </a:r>
          </a:p>
          <a:p>
            <a:r>
              <a:rPr sz="1250" b="0">
                <a:solidFill>
                  <a:srgbClr val="E6E6E6"/>
                </a:solidFill>
                <a:latin typeface="Consolas"/>
              </a:rPr>
              <a:t/>
            </a:r>
          </a:p>
          <a:p>
            <a:r>
              <a:rPr sz="1250" b="0">
                <a:solidFill>
                  <a:srgbClr val="E6E6E6"/>
                </a:solidFill>
                <a:latin typeface="Consolas"/>
              </a:rPr>
              <a:t>-- 두 테이블을 같은 클러스터에 둔다</a:t>
            </a:r>
          </a:p>
          <a:p>
            <a:r>
              <a:rPr sz="1250" b="0">
                <a:solidFill>
                  <a:srgbClr val="E6E6E6"/>
                </a:solidFill>
                <a:latin typeface="Consolas"/>
              </a:rPr>
              <a:t>SEGMENT_NAME         SEGMENT_TYPE               KB     BLOCKS</a:t>
            </a:r>
          </a:p>
          <a:p>
            <a:r>
              <a:rPr sz="1250" b="0">
                <a:solidFill>
                  <a:srgbClr val="E6E6E6"/>
                </a:solidFill>
                <a:latin typeface="Consolas"/>
              </a:rPr>
              <a:t>PERSONNEL_CLUSTER    CLUSTER                    64          8</a:t>
            </a:r>
          </a:p>
          <a:p>
            <a:r>
              <a:rPr sz="1250" b="0">
                <a:solidFill>
                  <a:srgbClr val="E6E6E6"/>
                </a:solidFill>
                <a:latin typeface="Consolas"/>
              </a:rPr>
              <a:t>PERSONNEL_CLUSTER_ID INDEX                      64          8</a:t>
            </a:r>
          </a:p>
          <a:p>
            <a:r>
              <a:rPr sz="1250" b="0">
                <a:solidFill>
                  <a:srgbClr val="E6E6E6"/>
                </a:solidFill>
                <a:latin typeface="Consolas"/>
              </a:rPr>
              <a:t>   **DEPT_CLU · EMP_CLU 세그먼트가 없다.** 두 테이블 데이터가 클러스터에 함께 있다</a:t>
            </a:r>
          </a:p>
          <a:p>
            <a:r>
              <a:rPr sz="1250" b="0">
                <a:solidFill>
                  <a:srgbClr val="E6E6E6"/>
                </a:solidFill>
                <a:latin typeface="Consolas"/>
              </a:rPr>
              <a:t>   -&gt; 테이블 하나만 TRUNCATE · MOVE · 파티션하는 것이 불가능하거나 제한된다</a:t>
            </a:r>
          </a:p>
          <a:p>
            <a:r>
              <a:rPr sz="1250" b="0">
                <a:solidFill>
                  <a:srgbClr val="E6E6E6"/>
                </a:solidFill>
                <a:latin typeface="Consolas"/>
              </a:rPr>
              <a:t/>
            </a:r>
          </a:p>
          <a:p>
            <a:r>
              <a:rPr sz="1250" b="0">
                <a:solidFill>
                  <a:srgbClr val="E6E6E6"/>
                </a:solidFill>
                <a:latin typeface="Consolas"/>
              </a:rPr>
              <a:t>순서 : CREATE CLUSTER -&gt; CREATE INDEX ON CLUSTER -&gt; CREATE TABLE ... CLUSTER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avg_blocks_per_key 가 건강 지표다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06 실측. 편중이 지표를 무너뜨린다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ANALYZE CLUSTER hr.personnel_cluster COMPUTE STATISTICS;</a:t>
            </a:r>
          </a:p>
          <a:p>
            <a:r>
              <a:rPr sz="1250" b="0">
                <a:solidFill>
                  <a:srgbClr val="E6E6E6"/>
                </a:solidFill>
                <a:latin typeface="Consolas"/>
              </a:rPr>
              <a:t>   dbms_stats 로는 채워지지 않는다. 옛 ANALYZE 명령이 필요하다</a:t>
            </a:r>
          </a:p>
          <a:p>
            <a:r>
              <a:rPr sz="1250" b="0">
                <a:solidFill>
                  <a:srgbClr val="E6E6E6"/>
                </a:solidFill>
                <a:latin typeface="Consolas"/>
              </a:rPr>
              <a:t/>
            </a:r>
          </a:p>
          <a:p>
            <a:r>
              <a:rPr sz="1250" b="0">
                <a:solidFill>
                  <a:srgbClr val="E6E6E6"/>
                </a:solidFill>
                <a:latin typeface="Consolas"/>
              </a:rPr>
              <a:t>시점                          | avg_blocks_per_key | 클러스터 세그먼트</a:t>
            </a:r>
          </a:p>
          <a:p>
            <a:r>
              <a:rPr sz="1250" b="0">
                <a:solidFill>
                  <a:srgbClr val="E6E6E6"/>
                </a:solidFill>
                <a:latin typeface="Consolas"/>
              </a:rPr>
              <a:t>------------------------------|--------------------|------------------</a:t>
            </a:r>
          </a:p>
          <a:p>
            <a:r>
              <a:rPr sz="1250" b="0">
                <a:solidFill>
                  <a:srgbClr val="E6E6E6"/>
                </a:solidFill>
                <a:latin typeface="Consolas"/>
              </a:rPr>
              <a:t>부서 2개 · 직원 3명           |         1          |      64KB</a:t>
            </a:r>
          </a:p>
          <a:p>
            <a:r>
              <a:rPr sz="1250" b="0">
                <a:solidFill>
                  <a:srgbClr val="E6E6E6"/>
                </a:solidFill>
                <a:latin typeface="Consolas"/>
              </a:rPr>
              <a:t>부서 10 에 5,000건 추가       |         7          |     192KB</a:t>
            </a:r>
          </a:p>
          <a:p>
            <a:r>
              <a:rPr sz="1250" b="0">
                <a:solidFill>
                  <a:srgbClr val="E6E6E6"/>
                </a:solidFill>
                <a:latin typeface="Consolas"/>
              </a:rPr>
              <a:t/>
            </a:r>
          </a:p>
          <a:p>
            <a:r>
              <a:rPr sz="1250" b="0">
                <a:solidFill>
                  <a:srgbClr val="E6E6E6"/>
                </a:solidFill>
                <a:latin typeface="Consolas"/>
              </a:rPr>
              <a:t>   1 이 이상적이다. 클러스터를 쓰는 목적이 이 값을 1 로 만드는 것이다.</a:t>
            </a:r>
          </a:p>
          <a:p>
            <a:r>
              <a:rPr sz="1250" b="0">
                <a:solidFill>
                  <a:srgbClr val="E6E6E6"/>
                </a:solidFill>
                <a:latin typeface="Consolas"/>
              </a:rPr>
              <a:t>   7 이 되었다는 것은 키 하나를 읽으려면 블록 7개를 읽어야 한다는 뜻이다.</a:t>
            </a:r>
          </a:p>
          <a:p>
            <a:r>
              <a:rPr sz="1250" b="0">
                <a:solidFill>
                  <a:srgbClr val="E6E6E6"/>
                </a:solidFill>
                <a:latin typeface="Consolas"/>
              </a:rPr>
              <a:t>   SIZE 512 로 잡았는데 한 키의 데이터가 훨씬 커진 것이 원인이다.</a:t>
            </a:r>
          </a:p>
          <a:p>
            <a:r>
              <a:rPr sz="1250" b="0">
                <a:solidFill>
                  <a:srgbClr val="E6E6E6"/>
                </a:solidFill>
                <a:latin typeface="Consolas"/>
              </a:rPr>
              <a:t/>
            </a:r>
          </a:p>
          <a:p>
            <a:r>
              <a:rPr sz="1250" b="0">
                <a:solidFill>
                  <a:srgbClr val="E6E6E6"/>
                </a:solidFill>
                <a:latin typeface="Consolas"/>
              </a:rPr>
              <a:t>-- 조인 비용 (부서 10 의 직원 5,002명)</a:t>
            </a:r>
          </a:p>
          <a:p>
            <a:r>
              <a:rPr sz="1250" b="0">
                <a:solidFill>
                  <a:srgbClr val="E6E6E6"/>
                </a:solidFill>
                <a:latin typeface="Consolas"/>
              </a:rPr>
              <a:t>구조        | 계획                                  | Buffers</a:t>
            </a:r>
          </a:p>
          <a:p>
            <a:r>
              <a:rPr sz="1250" b="0">
                <a:solidFill>
                  <a:srgbClr val="E6E6E6"/>
                </a:solidFill>
                <a:latin typeface="Consolas"/>
              </a:rPr>
              <a:t>------------|---------------------------------------|--------</a:t>
            </a:r>
          </a:p>
          <a:p>
            <a:r>
              <a:rPr sz="1250" b="0">
                <a:solidFill>
                  <a:srgbClr val="E6E6E6"/>
                </a:solidFill>
                <a:latin typeface="Consolas"/>
              </a:rPr>
              <a:t>클러스터    | NESTED LOOPS + TABLE ACCESS CLUSTER   |   16</a:t>
            </a:r>
          </a:p>
          <a:p>
            <a:r>
              <a:rPr sz="1250" b="0">
                <a:solidFill>
                  <a:srgbClr val="E6E6E6"/>
                </a:solidFill>
                <a:latin typeface="Consolas"/>
              </a:rPr>
              <a:t>일반 테이블 | NESTED LOOPS + TABLE ACCESS FULL      |   18</a:t>
            </a:r>
          </a:p>
          <a:p>
            <a:r>
              <a:rPr sz="1250" b="0">
                <a:solidFill>
                  <a:srgbClr val="E6E6E6"/>
                </a:solidFill>
                <a:latin typeface="Consolas"/>
              </a:rPr>
              <a:t/>
            </a:r>
          </a:p>
          <a:p>
            <a:r>
              <a:rPr sz="1250" b="0">
                <a:solidFill>
                  <a:srgbClr val="E6E6E6"/>
                </a:solidFill>
                <a:latin typeface="Consolas"/>
              </a:rPr>
              <a:t>   차이가 작다. 클러스터의 이득이 나타나는 조건은 다음과 같다.</a:t>
            </a:r>
          </a:p>
          <a:p>
            <a:r>
              <a:rPr sz="1250" b="0">
                <a:solidFill>
                  <a:srgbClr val="E6E6E6"/>
                </a:solidFill>
                <a:latin typeface="Consolas"/>
              </a:rPr>
              <a:t>     · 키가 아주 많고 (부서가 수만 개)</a:t>
            </a:r>
          </a:p>
          <a:p>
            <a:r>
              <a:rPr sz="1250" b="0">
                <a:solidFill>
                  <a:srgbClr val="E6E6E6"/>
                </a:solidFill>
                <a:latin typeface="Consolas"/>
              </a:rPr>
              <a:t>     · 키마다 행 수가 적고 균일하며 (부서당 10명 정도)</a:t>
            </a:r>
          </a:p>
          <a:p>
            <a:r>
              <a:rPr sz="1250" b="0">
                <a:solidFill>
                  <a:srgbClr val="E6E6E6"/>
                </a:solidFill>
                <a:latin typeface="Consolas"/>
              </a:rPr>
              <a:t>     · 항상 키 하나씩 조인해서 읽는다</a:t>
            </a:r>
          </a:p>
          <a:p>
            <a:r>
              <a:rPr sz="1250" b="0">
                <a:solidFill>
                  <a:srgbClr val="E6E6E6"/>
                </a:solidFill>
                <a:latin typeface="Consolas"/>
              </a:rPr>
              <a:t>   이 조건이 깨지면 이득이 사라진다. 그것이 클러스터가 쓰이지 않게 된 이유다.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해시 클러스터</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07 실측. 등치 조회 Buffers 1</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CREATE CLUSTER hr.hash_emp_cluster (empno NUMBER(6))</a:t>
            </a:r>
          </a:p>
          <a:p>
            <a:r>
              <a:rPr sz="1250" b="0">
                <a:solidFill>
                  <a:srgbClr val="E6E6E6"/>
                </a:solidFill>
                <a:latin typeface="Consolas"/>
              </a:rPr>
              <a:t>  SIZE 1024 HASHKEYS 10000 TABLESPACE users;</a:t>
            </a:r>
          </a:p>
          <a:p>
            <a:r>
              <a:rPr sz="1250" b="0">
                <a:solidFill>
                  <a:srgbClr val="E6E6E6"/>
                </a:solidFill>
                <a:latin typeface="Consolas"/>
              </a:rPr>
              <a:t/>
            </a:r>
          </a:p>
          <a:p>
            <a:r>
              <a:rPr sz="1250" b="0">
                <a:solidFill>
                  <a:srgbClr val="E6E6E6"/>
                </a:solidFill>
                <a:latin typeface="Consolas"/>
              </a:rPr>
              <a:t>CLUSTER_NAME        CLUST FUNCTION   KEY_SIZE   HASHKEYS SINGLE_TABLE</a:t>
            </a:r>
          </a:p>
          <a:p>
            <a:r>
              <a:rPr sz="1250" b="0">
                <a:solidFill>
                  <a:srgbClr val="E6E6E6"/>
                </a:solidFill>
                <a:latin typeface="Consolas"/>
              </a:rPr>
              <a:t>HASH_EMP_CLUSTER    HASH  DEFAULT2       1024      10007     N</a:t>
            </a:r>
          </a:p>
          <a:p>
            <a:r>
              <a:rPr sz="1250" b="0">
                <a:solidFill>
                  <a:srgbClr val="E6E6E6"/>
                </a:solidFill>
                <a:latin typeface="Consolas"/>
              </a:rPr>
              <a:t>                                                   ^^^^^ 다음 소수로 올림된다</a:t>
            </a:r>
          </a:p>
          <a:p>
            <a:r>
              <a:rPr sz="1250" b="0">
                <a:solidFill>
                  <a:srgbClr val="E6E6E6"/>
                </a:solidFill>
                <a:latin typeface="Consolas"/>
              </a:rPr>
              <a:t/>
            </a:r>
          </a:p>
          <a:p>
            <a:r>
              <a:rPr sz="1250" b="0">
                <a:solidFill>
                  <a:srgbClr val="E6E6E6"/>
                </a:solidFill>
                <a:latin typeface="Consolas"/>
              </a:rPr>
              <a:t>SEGMENT_NAME        SEGMENT_TYPE      MB   BLOCKS   EXTENTS</a:t>
            </a:r>
          </a:p>
          <a:p>
            <a:r>
              <a:rPr sz="1250" b="0">
                <a:solidFill>
                  <a:srgbClr val="E6E6E6"/>
                </a:solidFill>
                <a:latin typeface="Consolas"/>
              </a:rPr>
              <a:t>HASH_EMP_CLUSTER    CLUSTER           12     1536        27</a:t>
            </a:r>
          </a:p>
          <a:p>
            <a:r>
              <a:rPr sz="1250" b="0">
                <a:solidFill>
                  <a:srgbClr val="E6E6E6"/>
                </a:solidFill>
                <a:latin typeface="Consolas"/>
              </a:rPr>
              <a:t>   **데이터를 한 건도 넣지 않았는데 12MB 다.** HASHKEYS x SIZE 를 미리 포맷한다</a:t>
            </a:r>
          </a:p>
          <a:p>
            <a:r>
              <a:rPr sz="1250" b="0">
                <a:solidFill>
                  <a:srgbClr val="E6E6E6"/>
                </a:solidFill>
                <a:latin typeface="Consolas"/>
              </a:rPr>
              <a:t/>
            </a:r>
          </a:p>
          <a:p>
            <a:r>
              <a:rPr sz="1250" b="0">
                <a:solidFill>
                  <a:srgbClr val="E6E6E6"/>
                </a:solidFill>
                <a:latin typeface="Consolas"/>
              </a:rPr>
              <a:t>-- 클러스터 인덱스가 필요 없다. 바로 쓸 수 있다</a:t>
            </a:r>
          </a:p>
          <a:p>
            <a:r>
              <a:rPr sz="1250" b="0">
                <a:solidFill>
                  <a:srgbClr val="E6E6E6"/>
                </a:solidFill>
                <a:latin typeface="Consolas"/>
              </a:rPr>
              <a:t>CREATE TABLE hr.emp_hash_tab (...) CLUSTER hr.hash_emp_cluster (empno);</a:t>
            </a:r>
          </a:p>
          <a:p>
            <a:r>
              <a:rPr sz="1250" b="0">
                <a:solidFill>
                  <a:srgbClr val="E6E6E6"/>
                </a:solidFill>
                <a:latin typeface="Consolas"/>
              </a:rPr>
              <a:t>SELECT ename, job FROM hr.emp_hash_tab WHERE empno = 5000;</a:t>
            </a:r>
          </a:p>
          <a:p>
            <a:r>
              <a:rPr sz="1250" b="0">
                <a:solidFill>
                  <a:srgbClr val="E6E6E6"/>
                </a:solidFill>
                <a:latin typeface="Consolas"/>
              </a:rPr>
              <a:t>|*  1 |  TABLE ACCESS HASH| EMP_HASH_TAB | 1 | 1 | 1 |...|       1 |</a:t>
            </a:r>
          </a:p>
          <a:p>
            <a:r>
              <a:rPr sz="1250" b="0">
                <a:solidFill>
                  <a:srgbClr val="E6E6E6"/>
                </a:solidFill>
                <a:latin typeface="Consolas"/>
              </a:rPr>
              <a:t>        Buffers 1 — 블록 하나만 읽고 끝냈다. 이보다 적을 수 없다</a:t>
            </a:r>
          </a:p>
          <a:p>
            <a:r>
              <a:rPr sz="1250" b="0">
                <a:solidFill>
                  <a:srgbClr val="E6E6E6"/>
                </a:solidFill>
                <a:latin typeface="Consolas"/>
              </a:rPr>
              <a:t/>
            </a:r>
          </a:p>
          <a:p>
            <a:r>
              <a:rPr sz="1250" b="0">
                <a:solidFill>
                  <a:srgbClr val="E6E6E6"/>
                </a:solidFill>
                <a:latin typeface="Consolas"/>
              </a:rPr>
              <a:t>-- 범위 조회에서는 해시가 쓰이지 않는다</a:t>
            </a:r>
          </a:p>
          <a:p>
            <a:r>
              <a:rPr sz="1250" b="0">
                <a:solidFill>
                  <a:srgbClr val="E6E6E6"/>
                </a:solidFill>
                <a:latin typeface="Consolas"/>
              </a:rPr>
              <a:t>WHERE empno BETWEEN 5000 AND 5100</a:t>
            </a:r>
          </a:p>
          <a:p>
            <a:r>
              <a:rPr sz="1250" b="0">
                <a:solidFill>
                  <a:srgbClr val="E6E6E6"/>
                </a:solidFill>
                <a:latin typeface="Consolas"/>
              </a:rPr>
              <a:t>|*  2 |   INDEX RANGE SCAN| SYS_C007963 | ... | Buffers 2 |</a:t>
            </a:r>
          </a:p>
          <a:p>
            <a:r>
              <a:rPr sz="1250" b="0">
                <a:solidFill>
                  <a:srgbClr val="E6E6E6"/>
                </a:solidFill>
                <a:latin typeface="Consolas"/>
              </a:rPr>
              <a:t>        해시 함수는 순서를 보존하지 않으므로 어느 블록인지 알 수 없다</a:t>
            </a:r>
          </a:p>
          <a:p>
            <a:r>
              <a:rPr sz="1250" b="0">
                <a:solidFill>
                  <a:srgbClr val="E6E6E6"/>
                </a:solidFill>
                <a:latin typeface="Consolas"/>
              </a:rPr>
              <a:t/>
            </a:r>
          </a:p>
          <a:p>
            <a:r>
              <a:rPr sz="1250" b="0">
                <a:solidFill>
                  <a:srgbClr val="E6E6E6"/>
                </a:solidFill>
                <a:latin typeface="Consolas"/>
              </a:rPr>
              <a:t>HASHKEYS 는 나중에 바꿀 수 없다. 재생성 + 데이터 이동뿐이다.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해시 클러스터 vs 힙 + 인덱스</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07·08 실측. 이 교환을 받아들일 수 있는가</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항목          | 해시 클러스터        | 힙 + 인덱스              | 배수</a:t>
            </a:r>
          </a:p>
          <a:p>
            <a:r>
              <a:rPr sz="1250" b="0">
                <a:solidFill>
                  <a:srgbClr val="E6E6E6"/>
                </a:solidFill>
                <a:latin typeface="Consolas"/>
              </a:rPr>
              <a:t>--------------|----------------------|--------------------------|--------</a:t>
            </a:r>
          </a:p>
          <a:p>
            <a:r>
              <a:rPr sz="1250" b="0">
                <a:solidFill>
                  <a:srgbClr val="E6E6E6"/>
                </a:solidFill>
                <a:latin typeface="Consolas"/>
              </a:rPr>
              <a:t>등치 조회     | TABLE ACCESS HASH 1  | UNIQUE SCAN + BY ROWID 3 | 해시 3배 유리</a:t>
            </a:r>
          </a:p>
          <a:p>
            <a:r>
              <a:rPr sz="1250" b="0">
                <a:solidFill>
                  <a:srgbClr val="E6E6E6"/>
                </a:solidFill>
                <a:latin typeface="Consolas"/>
              </a:rPr>
              <a:t>범위 101건    | INDEX RANGE SCAN 2   | INDEX RANGE SCAN 3       | 비슷</a:t>
            </a:r>
          </a:p>
          <a:p>
            <a:r>
              <a:rPr sz="1250" b="0">
                <a:solidFill>
                  <a:srgbClr val="E6E6E6"/>
                </a:solidFill>
                <a:latin typeface="Consolas"/>
              </a:rPr>
              <a:t>공간 (1만 건) | 12MB                 | 0.31 + 0.25 = 0.56MB     | 21배 낭비</a:t>
            </a:r>
          </a:p>
          <a:p>
            <a:r>
              <a:rPr sz="1250" b="0">
                <a:solidFill>
                  <a:srgbClr val="E6E6E6"/>
                </a:solidFill>
                <a:latin typeface="Consolas"/>
              </a:rPr>
              <a:t/>
            </a:r>
          </a:p>
          <a:p>
            <a:r>
              <a:rPr sz="1250" b="0">
                <a:solidFill>
                  <a:srgbClr val="E6E6E6"/>
                </a:solidFill>
                <a:latin typeface="Consolas"/>
              </a:rPr>
              <a:t>-- 실습 08 의 공간 점검 쿼리 결과</a:t>
            </a:r>
          </a:p>
          <a:p>
            <a:r>
              <a:rPr sz="1250" b="0">
                <a:solidFill>
                  <a:srgbClr val="E6E6E6"/>
                </a:solidFill>
                <a:latin typeface="Consolas"/>
              </a:rPr>
              <a:t>CLUSTER_NAME           HASHKEYS KEY_SIZE ALLOC_MB DATA_MB</a:t>
            </a:r>
          </a:p>
          <a:p>
            <a:r>
              <a:rPr sz="1250" b="0">
                <a:solidFill>
                  <a:srgbClr val="E6E6E6"/>
                </a:solidFill>
                <a:latin typeface="Consolas"/>
              </a:rPr>
              <a:t>HASH_EMP_CLUSTER          10007     1024       12     0.7    &lt;- 17배</a:t>
            </a:r>
          </a:p>
          <a:p>
            <a:r>
              <a:rPr sz="1250" b="0">
                <a:solidFill>
                  <a:srgbClr val="E6E6E6"/>
                </a:solidFill>
                <a:latin typeface="Consolas"/>
              </a:rPr>
              <a:t>SINGLE_HASH_CLUSTER        5003      512        3     0.1    &lt;- 30배</a:t>
            </a:r>
          </a:p>
          <a:p>
            <a:r>
              <a:rPr sz="1250" b="0">
                <a:solidFill>
                  <a:srgbClr val="E6E6E6"/>
                </a:solidFill>
                <a:latin typeface="Consolas"/>
              </a:rPr>
              <a:t/>
            </a:r>
          </a:p>
          <a:p>
            <a:r>
              <a:rPr sz="1250" b="0">
                <a:solidFill>
                  <a:srgbClr val="E6E6E6"/>
                </a:solidFill>
                <a:latin typeface="Consolas"/>
              </a:rPr>
              <a:t>실무에서는 Buffers 3 도 대부분 버퍼 캐시에서 처리된다.</a:t>
            </a:r>
          </a:p>
          <a:p>
            <a:r>
              <a:rPr sz="1250" b="0">
                <a:solidFill>
                  <a:srgbClr val="E6E6E6"/>
                </a:solidFill>
                <a:latin typeface="Consolas"/>
              </a:rPr>
              <a:t>즉 이득이 "디스크 I/O 3회 -&gt; 1회" 가 아니라 "메모리 접근 3회 -&gt; 1회" 인 경우가 많다.</a:t>
            </a:r>
          </a:p>
          <a:p>
            <a:r>
              <a:rPr sz="1250" b="0">
                <a:solidFill>
                  <a:srgbClr val="E6E6E6"/>
                </a:solidFill>
                <a:latin typeface="Consolas"/>
              </a:rPr>
              <a:t>그래서 해시 클러스터를 쓸 이유가 점점 줄었다.</a:t>
            </a:r>
          </a:p>
          <a:p>
            <a:r>
              <a:rPr sz="1250" b="0">
                <a:solidFill>
                  <a:srgbClr val="E6E6E6"/>
                </a:solidFill>
                <a:latin typeface="Consolas"/>
              </a:rPr>
              <a:t/>
            </a:r>
          </a:p>
          <a:p>
            <a:r>
              <a:rPr sz="1250" b="0">
                <a:solidFill>
                  <a:srgbClr val="E6E6E6"/>
                </a:solidFill>
                <a:latin typeface="Consolas"/>
              </a:rPr>
              <a:t>-- 단일 테이블 해시 클러스터 (권장)</a:t>
            </a:r>
          </a:p>
          <a:p>
            <a:r>
              <a:rPr sz="1250" b="0">
                <a:solidFill>
                  <a:srgbClr val="E6E6E6"/>
                </a:solidFill>
                <a:latin typeface="Consolas"/>
              </a:rPr>
              <a:t>CREATE CLUSTER ... SIZE 512 SINGLE TABLE HASHKEYS 5000;</a:t>
            </a:r>
          </a:p>
          <a:p>
            <a:r>
              <a:rPr sz="1250" b="0">
                <a:solidFill>
                  <a:srgbClr val="E6E6E6"/>
                </a:solidFill>
                <a:latin typeface="Consolas"/>
              </a:rPr>
              <a:t>   single_table = Y. 두 번째 테이블은 ORA-25136</a:t>
            </a:r>
          </a:p>
          <a:p>
            <a:r>
              <a:rPr sz="1250" b="0">
                <a:solidFill>
                  <a:srgbClr val="E6E6E6"/>
                </a:solidFill>
                <a:latin typeface="Consolas"/>
              </a:rPr>
              <a:t>   블록 안에서 테이블 구분 정보를 생략해 조금 더 빠르다</a:t>
            </a:r>
          </a:p>
          <a:p>
            <a:r>
              <a:rPr sz="1250" b="0">
                <a:solidFill>
                  <a:srgbClr val="E6E6E6"/>
                </a:solidFill>
                <a:latin typeface="Consolas"/>
              </a:rPr>
              <a:t/>
            </a:r>
          </a:p>
          <a:p>
            <a:r>
              <a:rPr sz="1250" b="0">
                <a:solidFill>
                  <a:srgbClr val="E6E6E6"/>
                </a:solidFill>
                <a:latin typeface="Consolas"/>
              </a:rPr>
              <a:t>-- HASH IS : 키가 이미 고른 정수면 해시 함수를 생략한다</a:t>
            </a:r>
          </a:p>
          <a:p>
            <a:r>
              <a:rPr sz="1250" b="0">
                <a:solidFill>
                  <a:srgbClr val="E6E6E6"/>
                </a:solidFill>
                <a:latin typeface="Consolas"/>
              </a:rPr>
              <a:t>CREATE CLUSTER ... HASH IS id HASHKEYS 5000;   -&gt; function = COLUMN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7202A"/>
        </a:solidFill>
        <a:effectLst/>
      </p:bgPr>
    </p:bg>
    <p:spTree>
      <p:nvGrpSpPr>
        <p:cNvPr id="1" name=""/>
        <p:cNvGrpSpPr/>
        <p:nvPr/>
      </p:nvGrpSpPr>
      <p:grpSpPr/>
      <p:sp>
        <p:nvSpPr>
          <p:cNvPr id="2" name="TextBox 1"/>
          <p:cNvSpPr txBox="1"/>
          <p:nvPr/>
        </p:nvSpPr>
        <p:spPr>
          <a:xfrm>
            <a:off x="822960" y="1371600"/>
            <a:ext cx="2743200" cy="1371600"/>
          </a:xfrm>
          <a:prstGeom prst="rect">
            <a:avLst/>
          </a:prstGeom>
          <a:noFill/>
        </p:spPr>
        <p:txBody>
          <a:bodyPr wrap="square">
            <a:spAutoFit/>
          </a:bodyPr>
          <a:lstStyle/>
          <a:p>
            <a:pPr>
              <a:spcAft>
                <a:spcPts val="600"/>
              </a:spcAft>
            </a:pPr>
            <a:r>
              <a:rPr sz="6600" b="1">
                <a:solidFill>
                  <a:srgbClr val="C0392B"/>
                </a:solidFill>
                <a:latin typeface="Malgun Gothic"/>
              </a:rPr>
              <a:t>8</a:t>
            </a:r>
          </a:p>
        </p:txBody>
      </p:sp>
      <p:sp>
        <p:nvSpPr>
          <p:cNvPr id="3" name="TextBox 2"/>
          <p:cNvSpPr txBox="1"/>
          <p:nvPr/>
        </p:nvSpPr>
        <p:spPr>
          <a:xfrm>
            <a:off x="822960" y="2743200"/>
            <a:ext cx="10515600" cy="1097280"/>
          </a:xfrm>
          <a:prstGeom prst="rect">
            <a:avLst/>
          </a:prstGeom>
          <a:noFill/>
        </p:spPr>
        <p:txBody>
          <a:bodyPr wrap="square">
            <a:spAutoFit/>
          </a:bodyPr>
          <a:lstStyle/>
          <a:p>
            <a:pPr>
              <a:spcAft>
                <a:spcPts val="600"/>
              </a:spcAft>
            </a:pPr>
            <a:r>
              <a:rPr sz="3400" b="1">
                <a:solidFill>
                  <a:srgbClr val="FFFFFF"/>
                </a:solidFill>
                <a:latin typeface="Malgun Gothic"/>
              </a:rPr>
              <a:t>구조 전환과 운영 점검</a:t>
            </a:r>
          </a:p>
        </p:txBody>
      </p:sp>
      <p:sp>
        <p:nvSpPr>
          <p:cNvPr id="4" name="Rectangle 3"/>
          <p:cNvSpPr/>
          <p:nvPr/>
        </p:nvSpPr>
        <p:spPr>
          <a:xfrm>
            <a:off x="868680" y="3794760"/>
            <a:ext cx="4114800" cy="548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4023360"/>
            <a:ext cx="10424160" cy="2194560"/>
          </a:xfrm>
          <a:prstGeom prst="rect">
            <a:avLst/>
          </a:prstGeom>
          <a:noFill/>
        </p:spPr>
        <p:txBody>
          <a:bodyPr wrap="square">
            <a:spAutoFit/>
          </a:bodyPr>
          <a:lstStyle/>
          <a:p>
            <a:pPr>
              <a:spcAft>
                <a:spcPts val="600"/>
              </a:spcAft>
            </a:pPr>
            <a:r>
              <a:rPr sz="1600" b="0">
                <a:solidFill>
                  <a:srgbClr val="C5CED6"/>
                </a:solidFill>
                <a:latin typeface="Malgun Gothic"/>
              </a:rPr>
              <a:t>•  IOT 는 ALTER TABLE 로 전환할 수 없다</a:t>
            </a:r>
          </a:p>
          <a:p>
            <a:pPr>
              <a:spcAft>
                <a:spcPts val="600"/>
              </a:spcAft>
            </a:pPr>
            <a:r>
              <a:rPr sz="1600" b="0">
                <a:solidFill>
                  <a:srgbClr val="C5CED6"/>
                </a:solidFill>
                <a:latin typeface="Malgun Gothic"/>
              </a:rPr>
              <a:t>•  CTAS + RENAME  vs  DBMS_REDEFINITION</a:t>
            </a:r>
          </a:p>
          <a:p>
            <a:pPr>
              <a:spcAft>
                <a:spcPts val="600"/>
              </a:spcAft>
            </a:pPr>
            <a:r>
              <a:rPr sz="1600" b="0">
                <a:solidFill>
                  <a:srgbClr val="C5CED6"/>
                </a:solidFill>
                <a:latin typeface="Malgun Gothic"/>
              </a:rPr>
              <a:t>•  따라오지 않는 것 — 인덱스 · 제약 · 권한 · 트리거 · 통계</a:t>
            </a:r>
          </a:p>
          <a:p>
            <a:pPr>
              <a:spcAft>
                <a:spcPts val="600"/>
              </a:spcAft>
            </a:pPr>
            <a:r>
              <a:rPr sz="1600" b="0">
                <a:solidFill>
                  <a:srgbClr val="C5CED6"/>
                </a:solidFill>
                <a:latin typeface="Malgun Gothic"/>
              </a:rPr>
              <a:t>•  점검 쿼리 네 개</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전환 두 가지 방법</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08 실측</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① CTAS + RENAME  (간단하다. 서비스를 멈춰야 한다)</a:t>
            </a:r>
          </a:p>
          <a:p>
            <a:r>
              <a:rPr sz="1250" b="0">
                <a:solidFill>
                  <a:srgbClr val="E6E6E6"/>
                </a:solidFill>
                <a:latin typeface="Consolas"/>
              </a:rPr>
              <a:t>CREATE TABLE hr.acct_iot (</a:t>
            </a:r>
          </a:p>
          <a:p>
            <a:r>
              <a:rPr sz="1250" b="0">
                <a:solidFill>
                  <a:srgbClr val="E6E6E6"/>
                </a:solidFill>
                <a:latin typeface="Consolas"/>
              </a:rPr>
              <a:t>  acct_no, seq, amt, memo,                    -- 데이터형을 쓰면 ORA-01773</a:t>
            </a:r>
          </a:p>
          <a:p>
            <a:r>
              <a:rPr sz="1250" b="0">
                <a:solidFill>
                  <a:srgbClr val="E6E6E6"/>
                </a:solidFill>
                <a:latin typeface="Consolas"/>
              </a:rPr>
              <a:t>  CONSTRAINT acct_iot_pk PRIMARY KEY (acct_no, seq))</a:t>
            </a:r>
          </a:p>
          <a:p>
            <a:r>
              <a:rPr sz="1250" b="0">
                <a:solidFill>
                  <a:srgbClr val="E6E6E6"/>
                </a:solidFill>
                <a:latin typeface="Consolas"/>
              </a:rPr>
              <a:t>ORGANIZATION INDEX TABLESPACE users PCTFREE 0</a:t>
            </a:r>
          </a:p>
          <a:p>
            <a:r>
              <a:rPr sz="1250" b="0">
                <a:solidFill>
                  <a:srgbClr val="E6E6E6"/>
                </a:solidFill>
                <a:latin typeface="Consolas"/>
              </a:rPr>
              <a:t>AS SELECT acct_no, seq, amt, memo FROM hr.acct_heap;</a:t>
            </a:r>
          </a:p>
          <a:p>
            <a:r>
              <a:rPr sz="1250" b="0">
                <a:solidFill>
                  <a:srgbClr val="E6E6E6"/>
                </a:solidFill>
                <a:latin typeface="Consolas"/>
              </a:rPr>
              <a:t/>
            </a:r>
          </a:p>
          <a:p>
            <a:r>
              <a:rPr sz="1250" b="0">
                <a:solidFill>
                  <a:srgbClr val="E6E6E6"/>
                </a:solidFill>
                <a:latin typeface="Consolas"/>
              </a:rPr>
              <a:t>SELECT COUNT(*) FROM (SELECT * FROM hr.acct_heap MINUS SELECT * FROM hr.acct_iot);</a:t>
            </a:r>
          </a:p>
          <a:p>
            <a:r>
              <a:rPr sz="1250" b="0">
                <a:solidFill>
                  <a:srgbClr val="E6E6E6"/>
                </a:solidFill>
                <a:latin typeface="Consolas"/>
              </a:rPr>
              <a:t>      DIFF  0                                 -- 양방향으로 확인한다</a:t>
            </a:r>
          </a:p>
          <a:p>
            <a:r>
              <a:rPr sz="1250" b="0">
                <a:solidFill>
                  <a:srgbClr val="E6E6E6"/>
                </a:solidFill>
                <a:latin typeface="Consolas"/>
              </a:rPr>
              <a:t/>
            </a:r>
          </a:p>
          <a:p>
            <a:r>
              <a:rPr sz="1250" b="0">
                <a:solidFill>
                  <a:srgbClr val="E6E6E6"/>
                </a:solidFill>
                <a:latin typeface="Consolas"/>
              </a:rPr>
              <a:t>ALTER TABLE hr.acct_heap RENAME TO acct_heap_old;</a:t>
            </a:r>
          </a:p>
          <a:p>
            <a:r>
              <a:rPr sz="1250" b="0">
                <a:solidFill>
                  <a:srgbClr val="E6E6E6"/>
                </a:solidFill>
                <a:latin typeface="Consolas"/>
              </a:rPr>
              <a:t>ALTER TABLE hr.acct_iot  RENAME TO acct_heap;</a:t>
            </a:r>
          </a:p>
          <a:p>
            <a:r>
              <a:rPr sz="1250" b="0">
                <a:solidFill>
                  <a:srgbClr val="E6E6E6"/>
                </a:solidFill>
                <a:latin typeface="Consolas"/>
              </a:rPr>
              <a:t>   제약 이름이 그대로 남는다 : ACCT_HEAP 의 기본키가 ACCT_IOT_PK 다</a:t>
            </a:r>
          </a:p>
          <a:p>
            <a:r>
              <a:rPr sz="1250" b="0">
                <a:solidFill>
                  <a:srgbClr val="E6E6E6"/>
                </a:solidFill>
                <a:latin typeface="Consolas"/>
              </a:rPr>
              <a:t/>
            </a:r>
          </a:p>
          <a:p>
            <a:r>
              <a:rPr sz="1250" b="0">
                <a:solidFill>
                  <a:srgbClr val="E6E6E6"/>
                </a:solidFill>
                <a:latin typeface="Consolas"/>
              </a:rPr>
              <a:t>   따라오지 않는 것 : 보조 인덱스 · 외래키 · 체크 제약 · 권한 · 트리거 · 통계</a:t>
            </a:r>
          </a:p>
          <a:p>
            <a:r>
              <a:rPr sz="1250" b="0">
                <a:solidFill>
                  <a:srgbClr val="E6E6E6"/>
                </a:solidFill>
                <a:latin typeface="Consolas"/>
              </a:rPr>
              <a:t>   -&gt; dbms_metadata.get_ddl 로 원본 DDL 을 먼저 뽑아 체크리스트를 만든다</a:t>
            </a:r>
          </a:p>
          <a:p>
            <a:r>
              <a:rPr sz="1250" b="0">
                <a:solidFill>
                  <a:srgbClr val="E6E6E6"/>
                </a:solidFill>
                <a:latin typeface="Consolas"/>
              </a:rPr>
              <a:t/>
            </a:r>
          </a:p>
          <a:p>
            <a:r>
              <a:rPr sz="1250" b="0">
                <a:solidFill>
                  <a:srgbClr val="E6E6E6"/>
                </a:solidFill>
                <a:latin typeface="Consolas"/>
              </a:rPr>
              <a:t>-- ② DBMS_REDEFINITION  (온라인이다. 단계가 많다. 중간 테이블을 IOT 로 만든다)</a:t>
            </a:r>
          </a:p>
          <a:p>
            <a:r>
              <a:rPr sz="1250" b="0">
                <a:solidFill>
                  <a:srgbClr val="E6E6E6"/>
                </a:solidFill>
                <a:latin typeface="Consolas"/>
              </a:rPr>
              <a:t>EXEC dbms_redefinition.can_redef_table('HR','ACCT_HEAP', cons_use_pk)</a:t>
            </a:r>
          </a:p>
          <a:p>
            <a:r>
              <a:rPr sz="1250" b="0">
                <a:solidFill>
                  <a:srgbClr val="E6E6E6"/>
                </a:solidFill>
                <a:latin typeface="Consolas"/>
              </a:rPr>
              <a:t>EXEC dbms_redefinition.start_redef_table('HR','ACCT_HEAP','ACCT_INT', '...')</a:t>
            </a:r>
          </a:p>
          <a:p>
            <a:r>
              <a:rPr sz="1250" b="0">
                <a:solidFill>
                  <a:srgbClr val="E6E6E6"/>
                </a:solidFill>
                <a:latin typeface="Consolas"/>
              </a:rPr>
              <a:t>-- 대량이면 중간에 sync_interim_table 로 잠금 시간을 줄인다</a:t>
            </a:r>
          </a:p>
          <a:p>
            <a:r>
              <a:rPr sz="1250" b="0">
                <a:solidFill>
                  <a:srgbClr val="E6E6E6"/>
                </a:solidFill>
                <a:latin typeface="Consolas"/>
              </a:rPr>
              <a:t>EXEC dbms_redefinition.finish_redef_table('HR','ACCT_HEAP','ACCT_INT')</a:t>
            </a:r>
          </a:p>
          <a:p>
            <a:r>
              <a:rPr sz="1250" b="0">
                <a:solidFill>
                  <a:srgbClr val="E6E6E6"/>
                </a:solidFill>
                <a:latin typeface="Consolas"/>
              </a:rPr>
              <a:t>   제약·인덱스 이름이 중간 테이블 것으로 남는다 (ACCT_INT_PK)</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운영 점검 쿼리 네 개</a:t>
            </a:r>
          </a:p>
        </p:txBody>
      </p:sp>
      <p:sp>
        <p:nvSpPr>
          <p:cNvPr id="4" name="TextBox 3"/>
          <p:cNvSpPr txBox="1"/>
          <p:nvPr/>
        </p:nvSpPr>
        <p:spPr>
          <a:xfrm>
            <a:off x="640080" y="1188720"/>
            <a:ext cx="10881360" cy="457200"/>
          </a:xfrm>
          <a:prstGeom prst="rect">
            <a:avLst/>
          </a:prstGeom>
          <a:noFill/>
        </p:spPr>
        <p:txBody>
          <a:bodyPr wrap="square">
            <a:spAutoFit/>
          </a:bodyPr>
          <a:lstStyle/>
          <a:p>
            <a:pPr>
              <a:spcAft>
                <a:spcPts val="600"/>
              </a:spcAft>
            </a:pPr>
            <a:r>
              <a:rPr sz="1500" b="0">
                <a:solidFill>
                  <a:srgbClr val="5A6672"/>
                </a:solidFill>
                <a:latin typeface="Malgun Gothic"/>
              </a:rPr>
              <a:t>실습 08 실측. 그대로 스크립트로 만든다</a:t>
            </a:r>
          </a:p>
        </p:txBody>
      </p:sp>
      <p:sp>
        <p:nvSpPr>
          <p:cNvPr id="5" name="Rectangle 4"/>
          <p:cNvSpPr/>
          <p:nvPr/>
        </p:nvSpPr>
        <p:spPr>
          <a:xfrm>
            <a:off x="640080" y="1691640"/>
            <a:ext cx="10908792" cy="48006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801368"/>
            <a:ext cx="10515600" cy="4581144"/>
          </a:xfrm>
          <a:prstGeom prst="rect">
            <a:avLst/>
          </a:prstGeom>
          <a:noFill/>
        </p:spPr>
        <p:txBody>
          <a:bodyPr wrap="square">
            <a:spAutoFit/>
          </a:bodyPr>
          <a:lstStyle/>
          <a:p>
            <a:r>
              <a:rPr sz="1250" b="0">
                <a:solidFill>
                  <a:srgbClr val="E6E6E6"/>
                </a:solidFill>
                <a:latin typeface="Consolas"/>
              </a:rPr>
              <a:t>-- ① IOT · 클러스터 목록</a:t>
            </a:r>
          </a:p>
          <a:p>
            <a:r>
              <a:rPr sz="1250" b="0">
                <a:solidFill>
                  <a:srgbClr val="E6E6E6"/>
                </a:solidFill>
                <a:latin typeface="Consolas"/>
              </a:rPr>
              <a:t>SELECT table_name, iot_type, iot_name, cluster_name, partitioned FROM dba_tables</a:t>
            </a:r>
          </a:p>
          <a:p>
            <a:r>
              <a:rPr sz="1250" b="0">
                <a:solidFill>
                  <a:srgbClr val="E6E6E6"/>
                </a:solidFill>
                <a:latin typeface="Consolas"/>
              </a:rPr>
              <a:t>WHERE  owner='HR' AND (iot_type IS NOT NULL OR cluster_name IS NOT NULL);</a:t>
            </a:r>
          </a:p>
          <a:p>
            <a:r>
              <a:rPr sz="1250" b="0">
                <a:solidFill>
                  <a:srgbClr val="E6E6E6"/>
                </a:solidFill>
                <a:latin typeface="Consolas"/>
              </a:rPr>
              <a:t>   실측에서 발견한 것 : **HR.COUNTRIES 가 IOT 다** (샘플 스키마 원본이 그렇다)</a:t>
            </a:r>
          </a:p>
          <a:p>
            <a:r>
              <a:rPr sz="1250" b="0">
                <a:solidFill>
                  <a:srgbClr val="E6E6E6"/>
                </a:solidFill>
                <a:latin typeface="Consolas"/>
              </a:rPr>
              <a:t>   iot_type 값 : IOT / IOT_OVERFLOW / IOT_MAPPING</a:t>
            </a:r>
          </a:p>
          <a:p>
            <a:r>
              <a:rPr sz="1250" b="0">
                <a:solidFill>
                  <a:srgbClr val="E6E6E6"/>
                </a:solidFill>
                <a:latin typeface="Consolas"/>
              </a:rPr>
              <a:t/>
            </a:r>
          </a:p>
          <a:p>
            <a:r>
              <a:rPr sz="1250" b="0">
                <a:solidFill>
                  <a:srgbClr val="E6E6E6"/>
                </a:solidFill>
                <a:latin typeface="Consolas"/>
              </a:rPr>
              <a:t>-- ② 보조 인덱스 추측이 깨진 IOT   &lt;- 가장 중요</a:t>
            </a:r>
          </a:p>
          <a:p>
            <a:r>
              <a:rPr sz="1250" b="0">
                <a:solidFill>
                  <a:srgbClr val="E6E6E6"/>
                </a:solidFill>
                <a:latin typeface="Consolas"/>
              </a:rPr>
              <a:t>SELECT i.index_name, i.table_name, i.pct_direct_access</a:t>
            </a:r>
          </a:p>
          <a:p>
            <a:r>
              <a:rPr sz="1250" b="0">
                <a:solidFill>
                  <a:srgbClr val="E6E6E6"/>
                </a:solidFill>
                <a:latin typeface="Consolas"/>
              </a:rPr>
              <a:t>FROM   dba_indexes i, dba_tables t</a:t>
            </a:r>
          </a:p>
          <a:p>
            <a:r>
              <a:rPr sz="1250" b="0">
                <a:solidFill>
                  <a:srgbClr val="E6E6E6"/>
                </a:solidFill>
                <a:latin typeface="Consolas"/>
              </a:rPr>
              <a:t>WHERE  i.owner='HR' AND i.index_type = 'NORMAL'</a:t>
            </a:r>
          </a:p>
          <a:p>
            <a:r>
              <a:rPr sz="1250" b="0">
                <a:solidFill>
                  <a:srgbClr val="E6E6E6"/>
                </a:solidFill>
                <a:latin typeface="Consolas"/>
              </a:rPr>
              <a:t>AND    t.owner=i.owner AND t.table_name=i.table_name AND t.iot_type='IOT'</a:t>
            </a:r>
          </a:p>
          <a:p>
            <a:r>
              <a:rPr sz="1250" b="0">
                <a:solidFill>
                  <a:srgbClr val="E6E6E6"/>
                </a:solidFill>
                <a:latin typeface="Consolas"/>
              </a:rPr>
              <a:t>AND    i.pct_direct_access &lt; 100;</a:t>
            </a:r>
          </a:p>
          <a:p>
            <a:r>
              <a:rPr sz="1250" b="0">
                <a:solidFill>
                  <a:srgbClr val="E6E6E6"/>
                </a:solidFill>
                <a:latin typeface="Consolas"/>
              </a:rPr>
              <a:t>   index_type 필터가 없으면 IOT - TOP 인덱스가 전부 오탐으로 잡힌다</a:t>
            </a:r>
          </a:p>
          <a:p>
            <a:r>
              <a:rPr sz="1250" b="0">
                <a:solidFill>
                  <a:srgbClr val="E6E6E6"/>
                </a:solidFill>
                <a:latin typeface="Consolas"/>
              </a:rPr>
              <a:t>   (IOT 기본키 인덱스의 pct_direct_access 는 항상 0 이고 그것이 정상이다)</a:t>
            </a:r>
          </a:p>
          <a:p>
            <a:r>
              <a:rPr sz="1250" b="0">
                <a:solidFill>
                  <a:srgbClr val="E6E6E6"/>
                </a:solidFill>
                <a:latin typeface="Consolas"/>
              </a:rPr>
              <a:t/>
            </a:r>
          </a:p>
          <a:p>
            <a:r>
              <a:rPr sz="1250" b="0">
                <a:solidFill>
                  <a:srgbClr val="E6E6E6"/>
                </a:solidFill>
                <a:latin typeface="Consolas"/>
              </a:rPr>
              <a:t>-- ③ 클러스터 건강 지표 (1 에 가까워야 한다)</a:t>
            </a:r>
          </a:p>
          <a:p>
            <a:r>
              <a:rPr sz="1250" b="0">
                <a:solidFill>
                  <a:srgbClr val="E6E6E6"/>
                </a:solidFill>
                <a:latin typeface="Consolas"/>
              </a:rPr>
              <a:t>SELECT cluster_name, cluster_type, hashkeys, single_table, avg_blocks_per_key</a:t>
            </a:r>
          </a:p>
          <a:p>
            <a:r>
              <a:rPr sz="1250" b="0">
                <a:solidFill>
                  <a:srgbClr val="E6E6E6"/>
                </a:solidFill>
                <a:latin typeface="Consolas"/>
              </a:rPr>
              <a:t>FROM   dba_clusters WHERE owner='HR';</a:t>
            </a:r>
          </a:p>
          <a:p>
            <a:r>
              <a:rPr sz="1250" b="0">
                <a:solidFill>
                  <a:srgbClr val="E6E6E6"/>
                </a:solidFill>
                <a:latin typeface="Consolas"/>
              </a:rPr>
              <a:t/>
            </a:r>
          </a:p>
          <a:p>
            <a:r>
              <a:rPr sz="1250" b="0">
                <a:solidFill>
                  <a:srgbClr val="E6E6E6"/>
                </a:solidFill>
                <a:latin typeface="Consolas"/>
              </a:rPr>
              <a:t>-- ④ 해시 클러스터 공간 낭비 (할당 vs 실제 데이터)</a:t>
            </a:r>
          </a:p>
          <a:p>
            <a:r>
              <a:rPr sz="1250" b="0">
                <a:solidFill>
                  <a:srgbClr val="E6E6E6"/>
                </a:solidFill>
                <a:latin typeface="Consolas"/>
              </a:rPr>
              <a:t>SELECT c.cluster_name, c.hashkeys, ROUND(s.bytes/1024/1024,1) alloc_mb, ...</a:t>
            </a:r>
          </a:p>
          <a:p>
            <a:r>
              <a:rPr sz="1250" b="0">
                <a:solidFill>
                  <a:srgbClr val="E6E6E6"/>
                </a:solidFill>
                <a:latin typeface="Consolas"/>
              </a:rPr>
              <a:t>FROM   dba_clusters c, dba_segments s WHERE s.segment_name = c.cluster_name;</a:t>
            </a:r>
          </a:p>
          <a:p>
            <a:r>
              <a:rPr sz="1250" b="0">
                <a:solidFill>
                  <a:srgbClr val="E6E6E6"/>
                </a:solidFill>
                <a:latin typeface="Consolas"/>
              </a:rPr>
              <a:t>   실측 : 12MB 할당 / 0.7MB 데이터 (17배)</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1</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IOT 의 크기 확인</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IOT 테이블의 실제 크기와 블록 수를 확인하려면 어느 딕셔너리를 봐야 하는가?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dba_tables 의 blocks 컬럼</a:t>
            </a:r>
          </a:p>
          <a:p>
            <a:pPr>
              <a:spcAft>
                <a:spcPts val="600"/>
              </a:spcAft>
            </a:pPr>
            <a:r>
              <a:rPr sz="1700" b="0">
                <a:solidFill>
                  <a:srgbClr val="202830"/>
                </a:solidFill>
                <a:latin typeface="Malgun Gothic"/>
              </a:rPr>
              <a:t>dba_indexes 의 leaf_blocks (또는 dba_segments 의 기본키 인덱스 이름)</a:t>
            </a:r>
          </a:p>
          <a:p>
            <a:pPr>
              <a:spcAft>
                <a:spcPts val="600"/>
              </a:spcAft>
            </a:pPr>
            <a:r>
              <a:rPr sz="1700" b="0">
                <a:solidFill>
                  <a:srgbClr val="202830"/>
                </a:solidFill>
                <a:latin typeface="Malgun Gothic"/>
              </a:rPr>
              <a:t>dba_tab_partitions 의 blocks</a:t>
            </a:r>
          </a:p>
          <a:p>
            <a:pPr>
              <a:spcAft>
                <a:spcPts val="600"/>
              </a:spcAft>
            </a:pPr>
            <a:r>
              <a:rPr sz="1700" b="0">
                <a:solidFill>
                  <a:srgbClr val="202830"/>
                </a:solidFill>
                <a:latin typeface="Malgun Gothic"/>
              </a:rPr>
              <a:t>dba_clusters 의 avg_blocks_per_key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2</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IOT 설계에서 가장 중요한 판단</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OVERFLOW 가 있는 IOT 에서 1000건 범위 조회의 Buffers 가 8 과 258 로 갈렸다. 무엇이 달랐는가?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PCTFREE 설정이 달랐다</a:t>
            </a:r>
          </a:p>
          <a:p>
            <a:pPr>
              <a:spcAft>
                <a:spcPts val="600"/>
              </a:spcAft>
            </a:pPr>
            <a:r>
              <a:rPr sz="1700" b="0">
                <a:solidFill>
                  <a:srgbClr val="202830"/>
                </a:solidFill>
                <a:latin typeface="Malgun Gothic"/>
              </a:rPr>
              <a:t>선택한 컬럼이 INCLUDING 안쪽인지 오버플로 쪽인지가 달랐다</a:t>
            </a:r>
          </a:p>
          <a:p>
            <a:pPr>
              <a:spcAft>
                <a:spcPts val="600"/>
              </a:spcAft>
            </a:pPr>
            <a:r>
              <a:rPr sz="1700" b="0">
                <a:solidFill>
                  <a:srgbClr val="202830"/>
                </a:solidFill>
                <a:latin typeface="Malgun Gothic"/>
              </a:rPr>
              <a:t>한쪽은 인덱스를, 다른 쪽은 풀 스캔을 썼다</a:t>
            </a:r>
          </a:p>
          <a:p>
            <a:pPr>
              <a:spcAft>
                <a:spcPts val="600"/>
              </a:spcAft>
            </a:pPr>
            <a:r>
              <a:rPr sz="1700" b="0">
                <a:solidFill>
                  <a:srgbClr val="202830"/>
                </a:solidFill>
                <a:latin typeface="Malgun Gothic"/>
              </a:rPr>
              <a:t>버퍼 풀 지정이 KEEP 과 RECYCLE 로 달랐다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퀴즈 3</a:t>
            </a:r>
          </a:p>
        </p:txBody>
      </p:sp>
      <p:sp>
        <p:nvSpPr>
          <p:cNvPr id="4" name="TextBox 3"/>
          <p:cNvSpPr txBox="1"/>
          <p:nvPr/>
        </p:nvSpPr>
        <p:spPr>
          <a:xfrm>
            <a:off x="640080" y="1280160"/>
            <a:ext cx="10881360" cy="548640"/>
          </a:xfrm>
          <a:prstGeom prst="rect">
            <a:avLst/>
          </a:prstGeom>
          <a:noFill/>
        </p:spPr>
        <p:txBody>
          <a:bodyPr wrap="square">
            <a:spAutoFit/>
          </a:bodyPr>
          <a:lstStyle/>
          <a:p>
            <a:pPr>
              <a:spcAft>
                <a:spcPts val="600"/>
              </a:spcAft>
            </a:pPr>
            <a:r>
              <a:rPr sz="2000" b="1">
                <a:solidFill>
                  <a:srgbClr val="202830"/>
                </a:solidFill>
                <a:latin typeface="Malgun Gothic"/>
              </a:rPr>
              <a:t>MOVE 후에 해야 할 일</a:t>
            </a:r>
          </a:p>
        </p:txBody>
      </p:sp>
      <p:sp>
        <p:nvSpPr>
          <p:cNvPr id="5" name="TextBox 4"/>
          <p:cNvSpPr txBox="1"/>
          <p:nvPr/>
        </p:nvSpPr>
        <p:spPr>
          <a:xfrm>
            <a:off x="640080" y="1920240"/>
            <a:ext cx="10881360" cy="1371600"/>
          </a:xfrm>
          <a:prstGeom prst="rect">
            <a:avLst/>
          </a:prstGeom>
          <a:noFill/>
        </p:spPr>
        <p:txBody>
          <a:bodyPr wrap="square">
            <a:spAutoFit/>
          </a:bodyPr>
          <a:lstStyle/>
          <a:p>
            <a:pPr>
              <a:spcAft>
                <a:spcPts val="600"/>
              </a:spcAft>
            </a:pPr>
            <a:r>
              <a:rPr sz="1800" b="0">
                <a:solidFill>
                  <a:srgbClr val="202830"/>
                </a:solidFill>
                <a:latin typeface="Malgun Gothic"/>
              </a:rPr>
              <a:t>IOT 에 보조 인덱스가 있다. ALTER TABLE ... MOVE 를 실행한 뒤 반드시 해야 하는 작업은?</a:t>
            </a:r>
          </a:p>
        </p:txBody>
      </p:sp>
      <p:sp>
        <p:nvSpPr>
          <p:cNvPr id="6" name="Rectangle 5"/>
          <p:cNvSpPr/>
          <p:nvPr/>
        </p:nvSpPr>
        <p:spPr>
          <a:xfrm>
            <a:off x="640080" y="3246120"/>
            <a:ext cx="10908792" cy="237744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40080" y="3246120"/>
            <a:ext cx="109728" cy="2377440"/>
          </a:xfrm>
          <a:prstGeom prst="rect">
            <a:avLst/>
          </a:prstGeom>
          <a:solidFill>
            <a:srgbClr val="1F5C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383280"/>
            <a:ext cx="10424160" cy="2103120"/>
          </a:xfrm>
          <a:prstGeom prst="rect">
            <a:avLst/>
          </a:prstGeom>
          <a:noFill/>
        </p:spPr>
        <p:txBody>
          <a:bodyPr wrap="square">
            <a:spAutoFit/>
          </a:bodyPr>
          <a:lstStyle/>
          <a:p>
            <a:pPr>
              <a:spcAft>
                <a:spcPts val="600"/>
              </a:spcAft>
            </a:pPr>
            <a:r>
              <a:rPr sz="1700" b="0">
                <a:solidFill>
                  <a:srgbClr val="202830"/>
                </a:solidFill>
                <a:latin typeface="Malgun Gothic"/>
              </a:rPr>
              <a:t>보조 인덱스를 REBUILD 한다 — 그 외에 방법이 없다</a:t>
            </a:r>
          </a:p>
          <a:p>
            <a:pPr>
              <a:spcAft>
                <a:spcPts val="600"/>
              </a:spcAft>
            </a:pPr>
            <a:r>
              <a:rPr sz="1700" b="0">
                <a:solidFill>
                  <a:srgbClr val="202830"/>
                </a:solidFill>
                <a:latin typeface="Malgun Gothic"/>
              </a:rPr>
              <a:t>ALTER INDEX ... UPDATE BLOCK REFERENCES 를 실행한다</a:t>
            </a:r>
          </a:p>
          <a:p>
            <a:pPr>
              <a:spcAft>
                <a:spcPts val="600"/>
              </a:spcAft>
            </a:pPr>
            <a:r>
              <a:rPr sz="1700" b="0">
                <a:solidFill>
                  <a:srgbClr val="202830"/>
                </a:solidFill>
                <a:latin typeface="Malgun Gothic"/>
              </a:rPr>
              <a:t>아무것도 하지 않아도 된다. 인덱스가 VALID 이기 때문이다</a:t>
            </a:r>
          </a:p>
          <a:p>
            <a:pPr>
              <a:spcAft>
                <a:spcPts val="600"/>
              </a:spcAft>
            </a:pPr>
            <a:r>
              <a:rPr sz="1700" b="0">
                <a:solidFill>
                  <a:srgbClr val="202830"/>
                </a:solidFill>
                <a:latin typeface="Malgun Gothic"/>
              </a:rPr>
              <a:t>ANALYZE TABLE 로 통계만 다시 수집한다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요약</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IOT 는 테이블 자체가 B*Tree 다. 기본키가 필수이고 뗄 수 없다</a:t>
            </a:r>
          </a:p>
          <a:p>
            <a:pPr>
              <a:spcAft>
                <a:spcPts val="600"/>
              </a:spcAft>
            </a:pPr>
            <a:r>
              <a:rPr sz="1800" b="0">
                <a:solidFill>
                  <a:srgbClr val="202830"/>
                </a:solidFill>
                <a:latin typeface="Malgun Gothic"/>
              </a:rPr>
              <a:t>•  IOT 의 크기·통계는 dba_indexes 에 있다. dba_tables.blocks 는 NULL 이다</a:t>
            </a:r>
          </a:p>
          <a:p>
            <a:pPr>
              <a:spcAft>
                <a:spcPts val="600"/>
              </a:spcAft>
            </a:pPr>
            <a:r>
              <a:rPr sz="1800" b="0">
                <a:solidFill>
                  <a:srgbClr val="202830"/>
                </a:solidFill>
                <a:latin typeface="Malgun Gothic"/>
              </a:rPr>
              <a:t>•  OVERFLOW 는 대부분 필수다. VARCHAR2(4000) 하나면 CREATE 가 거부된다 (ORA-01429)</a:t>
            </a:r>
          </a:p>
          <a:p>
            <a:pPr>
              <a:spcAft>
                <a:spcPts val="600"/>
              </a:spcAft>
            </a:pPr>
            <a:r>
              <a:rPr sz="1800" b="0">
                <a:solidFill>
                  <a:srgbClr val="202830"/>
                </a:solidFill>
                <a:latin typeface="Malgun Gothic"/>
              </a:rPr>
              <a:t>•  INCLUDING 경계가 성능을 결정한다 — 범위 조회 Buffers 8 대 258 (32배)</a:t>
            </a:r>
          </a:p>
          <a:p>
            <a:pPr>
              <a:spcAft>
                <a:spcPts val="600"/>
              </a:spcAft>
            </a:pPr>
            <a:r>
              <a:rPr sz="1800" b="0">
                <a:solidFill>
                  <a:srgbClr val="202830"/>
                </a:solidFill>
                <a:latin typeface="Malgun Gothic"/>
              </a:rPr>
              <a:t>•  오버플로 접근은 실행계획에 보이지 않는다. Buffers 실측으로만 판정한다</a:t>
            </a:r>
          </a:p>
          <a:p>
            <a:pPr>
              <a:spcAft>
                <a:spcPts val="600"/>
              </a:spcAft>
            </a:pPr>
            <a:r>
              <a:rPr sz="1800" b="0">
                <a:solidFill>
                  <a:srgbClr val="202830"/>
                </a:solidFill>
                <a:latin typeface="Malgun Gothic"/>
              </a:rPr>
              <a:t>•  단건·범위 조회에서 IOT 의 이득은 없다. COUNT(*) 는 12배 불리하다</a:t>
            </a:r>
          </a:p>
          <a:p>
            <a:pPr>
              <a:spcAft>
                <a:spcPts val="600"/>
              </a:spcAft>
            </a:pPr>
            <a:r>
              <a:rPr sz="1800" b="0">
                <a:solidFill>
                  <a:srgbClr val="202830"/>
                </a:solidFill>
                <a:latin typeface="Malgun Gothic"/>
              </a:rPr>
              <a:t>•  IOT 의 가치는 clustering_factor 를 영구히 0 으로 고정한다는 것이다 (무작위 힙 대비 90배)</a:t>
            </a:r>
          </a:p>
          <a:p>
            <a:pPr>
              <a:spcAft>
                <a:spcPts val="600"/>
              </a:spcAft>
            </a:pPr>
            <a:r>
              <a:rPr sz="1800" b="0">
                <a:solidFill>
                  <a:srgbClr val="202830"/>
                </a:solidFill>
                <a:latin typeface="Malgun Gothic"/>
              </a:rPr>
              <a:t>•  중간 키 INSERT 는 50/50 분할로 IOT 를 두 배로 부풀린다 (26MB → 53MB)</a:t>
            </a:r>
          </a:p>
          <a:p>
            <a:pPr>
              <a:spcAft>
                <a:spcPts val="600"/>
              </a:spcAft>
            </a:pPr>
            <a:r>
              <a:rPr sz="1800" b="0">
                <a:solidFill>
                  <a:srgbClr val="202830"/>
                </a:solidFill>
                <a:latin typeface="Malgun Gothic"/>
              </a:rPr>
              <a:t>•  MOVE 뒤에는 UPDATE BLOCK REFERENCES. 오류가 없으니 감시가 유일한 발견 수단이다</a:t>
            </a:r>
          </a:p>
          <a:p>
            <a:pPr>
              <a:spcAft>
                <a:spcPts val="600"/>
              </a:spcAft>
            </a:pPr>
            <a:r>
              <a:rPr sz="1800" b="0">
                <a:solidFill>
                  <a:srgbClr val="202830"/>
                </a:solidFill>
                <a:latin typeface="Malgun Gothic"/>
              </a:rPr>
              <a:t>•  클러스터는 진단용으로 안다. 신규 설계에 쓸 만한 것은 IOT 하나다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9728"/>
            <a:ext cx="10972800" cy="731520"/>
          </a:xfrm>
          <a:prstGeom prst="rect">
            <a:avLst/>
          </a:prstGeom>
          <a:noFill/>
        </p:spPr>
        <p:txBody>
          <a:bodyPr wrap="square">
            <a:spAutoFit/>
          </a:bodyPr>
          <a:lstStyle/>
          <a:p>
            <a:pPr>
              <a:spcAft>
                <a:spcPts val="600"/>
              </a:spcAft>
            </a:pPr>
            <a:r>
              <a:rPr sz="2600" b="1">
                <a:solidFill>
                  <a:srgbClr val="FFFFFF"/>
                </a:solidFill>
                <a:latin typeface="Malgun Gothic"/>
              </a:rPr>
              <a:t>실습 개요 (8종)</a:t>
            </a:r>
          </a:p>
        </p:txBody>
      </p:sp>
      <p:sp>
        <p:nvSpPr>
          <p:cNvPr id="4" name="TextBox 3"/>
          <p:cNvSpPr txBox="1"/>
          <p:nvPr/>
        </p:nvSpPr>
        <p:spPr>
          <a:xfrm>
            <a:off x="640080" y="1234440"/>
            <a:ext cx="10881360" cy="4937760"/>
          </a:xfrm>
          <a:prstGeom prst="rect">
            <a:avLst/>
          </a:prstGeom>
          <a:noFill/>
        </p:spPr>
        <p:txBody>
          <a:bodyPr wrap="square">
            <a:spAutoFit/>
          </a:bodyPr>
          <a:lstStyle/>
          <a:p>
            <a:pPr>
              <a:spcAft>
                <a:spcPts val="600"/>
              </a:spcAft>
            </a:pPr>
            <a:r>
              <a:rPr sz="1800" b="0">
                <a:solidFill>
                  <a:srgbClr val="202830"/>
                </a:solidFill>
                <a:latin typeface="Malgun Gothic"/>
              </a:rPr>
              <a:t>•  01 IOT 구조  ·  02 OVERFLOW 와 INCLUDING  ·  03 KEEP · RECYCLE 버퍼 풀</a:t>
            </a:r>
          </a:p>
          <a:p>
            <a:pPr>
              <a:spcAft>
                <a:spcPts val="600"/>
              </a:spcAft>
            </a:pPr>
            <a:r>
              <a:rPr sz="1800" b="0">
                <a:solidFill>
                  <a:srgbClr val="202830"/>
                </a:solidFill>
                <a:latin typeface="Malgun Gothic"/>
              </a:rPr>
              <a:t>•  04 IOT 와 HEAP 비교  ·  05 보조 인덱스와 논리 ROWID</a:t>
            </a:r>
          </a:p>
          <a:p>
            <a:pPr>
              <a:spcAft>
                <a:spcPts val="600"/>
              </a:spcAft>
            </a:pPr>
            <a:r>
              <a:rPr sz="1800" b="0">
                <a:solidFill>
                  <a:srgbClr val="202830"/>
                </a:solidFill>
                <a:latin typeface="Malgun Gothic"/>
              </a:rPr>
              <a:t>•  06 INDEX CLUSTER  ·  07 HASH CLUSTER  ·  08 전환과 운영 점검</a:t>
            </a:r>
          </a:p>
          <a:p>
            <a:pPr>
              <a:spcAft>
                <a:spcPts val="600"/>
              </a:spcAft>
            </a:pPr>
            <a:r>
              <a:rPr sz="1800" b="0">
                <a:solidFill>
                  <a:srgbClr val="202830"/>
                </a:solidFill>
                <a:latin typeface="Malgun Gothic"/>
              </a:rPr>
              <a:t>•  진행 방식</a:t>
            </a:r>
          </a:p>
          <a:p>
            <a:pPr>
              <a:spcAft>
                <a:spcPts val="600"/>
              </a:spcAft>
            </a:pPr>
            <a:r>
              <a:rPr sz="1600" b="0">
                <a:solidFill>
                  <a:srgbClr val="202830"/>
                </a:solidFill>
                <a:latin typeface="Malgun Gothic"/>
              </a:rPr>
              <a:t>    –  순서대로 진행한다. 04 가 만든 emp_iot_cmp 를 05 가 이어 쓰고</a:t>
            </a:r>
          </a:p>
          <a:p>
            <a:pPr>
              <a:spcAft>
                <a:spcPts val="600"/>
              </a:spcAft>
            </a:pPr>
            <a:r>
              <a:rPr sz="1600" b="0">
                <a:solidFill>
                  <a:srgbClr val="202830"/>
                </a:solidFill>
                <a:latin typeface="Malgun Gothic"/>
              </a:rPr>
              <a:t>    –  06·07 의 클러스터를 08 의 점검 쿼리가 대상으로 삼는다</a:t>
            </a:r>
          </a:p>
          <a:p>
            <a:pPr>
              <a:spcAft>
                <a:spcPts val="600"/>
              </a:spcAft>
            </a:pPr>
            <a:r>
              <a:rPr sz="1600" b="0">
                <a:solidFill>
                  <a:srgbClr val="202830"/>
                </a:solidFill>
                <a:latin typeface="Malgun Gothic"/>
              </a:rPr>
              <a:t>    –  각 실습은 8단계 구성이며 최소 한 번 "오류 → 원인 → 수정" 흐름이 들어 있다</a:t>
            </a:r>
          </a:p>
          <a:p>
            <a:pPr>
              <a:spcAft>
                <a:spcPts val="600"/>
              </a:spcAft>
            </a:pPr>
            <a:r>
              <a:rPr sz="1600" b="0">
                <a:solidFill>
                  <a:srgbClr val="202830"/>
                </a:solidFill>
                <a:latin typeface="Malgun Gothic"/>
              </a:rPr>
              <a:t>    –  03 은 SGA 를 건드린다. DEFAULT 버퍼 캐시가 100MB 이상인지 먼저 확인한다</a:t>
            </a:r>
          </a:p>
          <a:p>
            <a:pPr>
              <a:spcAft>
                <a:spcPts val="600"/>
              </a:spcAft>
            </a:pPr>
            <a:r>
              <a:rPr sz="1600" b="0">
                <a:solidFill>
                  <a:srgbClr val="202830"/>
                </a:solidFill>
                <a:latin typeface="Malgun Gothic"/>
              </a:rPr>
              <a:t>    –  04 는 10만 건씩 두 번 적재하므로 몇 분 걸린다. 미리 돌려 두는 편이 낫다</a:t>
            </a:r>
          </a:p>
        </p:txBody>
      </p:sp>
      <p:sp>
        <p:nvSpPr>
          <p:cNvPr id="5" name="Rectangle 4"/>
          <p:cNvSpPr/>
          <p:nvPr/>
        </p:nvSpPr>
        <p:spPr>
          <a:xfrm>
            <a:off x="640080" y="5623560"/>
            <a:ext cx="10908792" cy="960120"/>
          </a:xfrm>
          <a:prstGeom prst="rect">
            <a:avLst/>
          </a:prstGeom>
          <a:solidFill>
            <a:srgbClr val="F2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5623560"/>
            <a:ext cx="109728" cy="960120"/>
          </a:xfrm>
          <a:prstGeom prst="rect">
            <a:avLst/>
          </a:prstGeom>
          <a:solidFill>
            <a:srgbClr val="B88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5696712"/>
            <a:ext cx="10515600" cy="822960"/>
          </a:xfrm>
          <a:prstGeom prst="rect">
            <a:avLst/>
          </a:prstGeom>
          <a:noFill/>
        </p:spPr>
        <p:txBody>
          <a:bodyPr wrap="square">
            <a:spAutoFit/>
          </a:bodyPr>
          <a:lstStyle/>
          <a:p>
            <a:pPr>
              <a:spcAft>
                <a:spcPts val="600"/>
              </a:spcAft>
            </a:pPr>
            <a:r>
              <a:rPr sz="1300" b="1">
                <a:solidFill>
                  <a:srgbClr val="B88600"/>
                </a:solidFill>
                <a:latin typeface="Malgun Gothic"/>
              </a:rPr>
              <a:t>실습 준비:</a:t>
            </a:r>
          </a:p>
          <a:p>
            <a:pPr>
              <a:spcAft>
                <a:spcPts val="600"/>
              </a:spcAft>
            </a:pPr>
            <a:r>
              <a:rPr sz="1300" b="0">
                <a:solidFill>
                  <a:srgbClr val="202830"/>
                </a:solidFill>
                <a:latin typeface="Malgun Gothic"/>
              </a:rPr>
              <a:t>HR 샘플 스키마(employees 107건), USERS 200MB 여유, 실습 03 을 위한 DEFAULT 버퍼 캐시 100MB 이상. IOT·클러스터는 별도 옵션이 필요 없다.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
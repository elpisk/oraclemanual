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AWR 보고서는 두 스냅샷 사이의 인스턴스 활동을 한 장으로 요약한 것입니다. 5장에서 배운 DB Time, 시간 모델, 대기 클래스가 이 보고서 안에 모두 들어 있고, 6장에서 만든 스냅샷 인프라가 그 원천입니다. 8장은 보고서를 생성하는 것을 넘어 판독하는 장으로, 지나간 구간에 이 데이터베이스가 무엇 때문에 느렸는지를 감이 아니라 숫자로 지목하는 것이 목표입니다. 초심자는 가장 큰 숫자나 Top Events 1위에 반사적으로 손이 가지만, 성능 진단은 여러 지표가 함께 그리는 그림을 읽는 일입니다. 이 장의 실측 구간은 그 훈련에 딱 맞는 교재입니다.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awrrpt.sql은 보고서 형식, 최근 스냅샷 목록 조회 일수, 시작·종료 스냅샷 ID, 파일명을 차례로 묻습니다. 이 실습에서는 부하를 준 구간인 스냅샷 295~296을 지정합니다. 두 스냅샷은 같은 인스턴스 기동 구간 안에 있어야 하며, 사이에 재기동이 있으면 통계 델타가 음수가 되어 보고서를 만들 수 없습니다. non-CDB 단일 인스턴스이므로 awrrpt.sql로 충분하고, RAC라면 awrgrpt.sql을 씁니다. 이 스크립트 실행은 Diagnostics Pack 라이선스 대상입니다.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보고서 판독의 대전제는 이것이 델타 보고서라는 점입니다. 5장에서 배운 대로 V$ 통계는 기동 이후 누적값입니다. AWR 보고서의 모든 숫자는 종료 스냅샷 누적값에서 시작 스냅샷 누적값을 뺀, 이 구간에서 실제로 일어난 양입니다. 그래서 Load Profile의 Per Second도 SQL 섹션의 Buffer Gets도 모두 이 100초 구간에 한정된 값입니다. 누적값을 그대로 읽어 오판하는 5장의 문제를 AWR 보고서는 자동으로 교정해 줍니다. 단 두 스냅샷 사이에 재기동이 있으면 누적값이 0으로 초기화돼 델타가 음수가 되므로 보고서를 만들 수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보고서는 위쪽일수록 큰 그림, 아래쪽일수록 세부 근거입니다. 초심자는 SQL 섹션이나 Instance Activity의 큰 숫자로 곧장 뛰어들지만, 그러면 그 숫자가 전체에서 어떤 비중인지 모른 채 결론을 내립니다. 머리말에서 부하 유무를, Load Profile에서 성격을, Top Events에서 병목 종류를 잡고 나서 SQL로 내려가야 그 SQL이 왜 문제인지까지 설명할 수 있습니다. 이 순서를 지키는 것이 판독의 절반입니다.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머리말의 첫 나눗셈은 DB Time을 Elapsed로 나눈 평균 활성 세션(AAS)입니다. 실측에서는 574를 100으로 나눠 약 5.7이 나옵니다. 7세션으로 부하를 줬으니 세션들이 대체로 쉬지 않고 일한 구간입니다. 이 AAS를 호스트의 CPU 코어 수와 비교하면 CPU가 실제로 포화됐는지 알 수 있습니다. AAS가 코어 수보다 크면 세션들이 CPU를 얻으려 실행 큐에서 기다린 것이고, 작으면 CPU 여유가 있으니 병목은 다른 곳일 수 있습니다. 머리말은 이렇게 진단의 방향만 정하고, 구체적 원인은 아래 섹션에서 좁힙니다.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Load Profile에서 세 가지가 즉시 눈에 들어와야 합니다. 첫째 DB Time 5.5 대 DB CPU 5.3 — 초당 DB Time의 거의 전부가 CPU이니 CPU 바운드 구간입니다. 둘째 Logical read 118만 대 Physical read 48.8 — 데이터는 메모리에 다 있고 그 위에서 대량으로 반복 스캔하고 있습니다. 셋째 Hard parses 319는 전체 Parses 433의 약 73%로, 정상이라면 0에 수렴해야 할 하드 파싱이 폭증했다는 뜻입니다. 리터럴 SQL 신호입니다. 절대값은 환경마다 다르므로 항목 간 비율로 읽습니다.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Load Profile만으로도 이 구간의 성격이 거의 드러납니다. CPU를 태우며, 메모리 위에서 대량으로 블록을 훑고, 리터럴 SQL을 끝없이 하드 파싱하는 구간입니다. Per Transaction 열도 함께 읽으면 한 트랜잭션이 5,735블록을 읽는 무거운 업무임을 알 수 있습니다. 이렇게 세운 가설을 나머지 섹션이 확증하거나 반증합니다. 뒤에 나오는 Top Events의 CPU 95.7%, Instance Efficiency의 낮은 Soft Parse가 모두 이 그림을 뒷받침하게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표에서 가장 먼저 읽을 줄은 DB CPU 95.7%입니다. 전체 DB Time의 95.7%가 순수 CPU 사용이니 병목은 어떤 대기도 아니고 CPU입니다. 여기서 맨 아래 log file sync 21.1초만 보고 커밋이 병목이라 결론 내리면 완전히 틀립니다. log file sync는 % DB time 기준 3.7%뿐이라 CPU 95.7% 앞에서 고쳐 봐야 응답시간은 그대로입니다. 그다음 kksfbc·cursor pin S·mutex·latch는 모두 라이브러리 캐시 경합으로, 각각은 작지만 한 방향, 즉 하드 파싱이 만든 공유 풀 경합을 가리킵니다. 작은 대기는 묶어서 원인 하나로 수렴시킵니다.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성능 진단은 순위표에서 1등을 찾는 게임이 아닙니다. Top Events는 반드시 % DB time으로 가중치를 매겨 읽습니다. Total Wait Time이 커 보여도 % DB time이 작으면 우선순위가 낮습니다. Avg Wait 열도 봐야 합니다. kksfbc child completion은 평균 49.58ms로 드물지만 한 번 걸리면 오래 기다리고, log file sync는 0.99ms로 짧지만 2만 번 넘게 자주 걸립니다. 총 대기 시간이 비슷해도 처방이 다릅니다. 자주 걸리면 빈도를 줄이고, 한 번이 길면 그 경합을 없앱니다.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대기가 무엇인지 알면 이 조합이 왜 하드 파싱을 가리키는지 분명해집니다. kksfbc는 커서를 찾아 파싱하는 커널 함수로, kksfbc child completion은 다른 세션이 만들고 있는 자식 커서가 완성되기를 기다리는 대기입니다. cursor: pin S wait on X는 커서를 공유 모드로 잡으려는데 다른 세션이 배타 모드로 그 커서를 바꾸고 있을 때의 대기입니다. mutex X와 latch: shared pool도 공유 풀 내부를 보호하는 직렬화 장치에서의 경합입니다. 네 가지가 동시에 상위에 오른다는 것은 여러 세션이 공유 풀에서 커서를 만들고 바꾸느라 부딪친다는 하나의 그림이고, 근본 원인은 초당 319번의 하드 파싱입니다.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Buffer Hit이 100%라고 완벽하다 읽으면 함정에 빠집니다. 이 구간은 초당 118만 블록을 논리 읽기로 훑는 CPU 바운드 구간이고, 히트율 100%는 데이터가 전부 메모리에 있어서일 뿐 그 메모리를 과도하게 반복해 읽는 것 자체가 문제입니다. 정작 봐야 할 값은 낮은 쪽입니다. Soft Parse 26.46%는 파싱의 74%가 하드 파싱이라는 뜻이고, Library Hit 59.36%는 커서를 재사용하지 못한다는 뜻이며, Execute to Parse 36.72%는 파싱 대비 실행이 적다는 뜻입니다. 세 값이 한목소리로 리터럴 하드 파싱을 가리킵니다.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Instance Efficiency의 핵심 교훈은 Target 100%라는 문구를 믿지 말라는 것입니다. Buffer Nowait·Latch Hit·Redo NoWait가 100%인 것은 건강해서가 아니라 그 자원에서 병목이 아니었을 뿐입니다. 효율 비율은 높으면 안심이 아니라 낮으면 어디를 더 볼지 알려주는 이정표로 씁니다. 이 구간에서 낮은 세 값이 정확히 파싱 문제로 안내했습니다. 어떤 비율도 단독으로 좋고 나쁨을 결정하지 않으므로 Load Profile, Top Events와 반드시 교차 검증합니다.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맨 위 SQL 9vmszgd1ft9x0이 혼자 전체 DB Time의 33.2%를 썼고 그 96%가 CPU입니다. Top Events의 DB CPU 95.7%와 정확히 맞아떨어지니 인스턴스를 CPU 바운드로 만든 주범이 이 SQL입니다. Gets 정렬에서도 같은 SQL이 1위로, 전체 논리 읽기의 31.9%를 혼자 읽었습니다. Load Profile의 논리 읽기 118만/s의 정체가 이 SQL임이 확정됩니다. 실행당 0.03초로 가볍지만 5,912번 반복하는 패턴입니다. 여기까지가 인스턴스 튜닝의 결론이고, 이 SQL을 어떻게 고쳐 쓸지는 SQL 튜닝 과정으로 넘깁니다.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정렬 기준 선택의 원칙은 진단 가설에 맞는 자원을 고르는 것입니다. CPU와 논리읽기가 문제면 Elapsed와 Gets, 디스크가 문제면 Reads, 파싱이 문제면 Parse Calls를 봅니다. 이 구간에서 Captured SQL이 34.6%뿐인 것도 단서입니다. 한 SQL이 33%인데 전체 캡처가 34.6%라면 나머지는 리터럴이라 SQL_ID가 제각각이라 순위에 못 들고 조각나 흩어진 것입니다. 이 조합 자체가 리터럴 문제의 또 다른 증거입니다. 여러 정렬이 같은 SQL로 수렴하면 진단은 더 단단해집니다.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Instance Activity Stats는 수백 개 통계라 뭐든 커 보이는 값으로 새 가설을 만들기 쉽습니다. 그러나 이 섹션의 역할은 앞에서 세운 가설을 확증하거나 반증하는 것입니다. parse count(hard) 델타가 319/s에 100초를 곱한 약 3만에 근접하면 하드 파싱 가설이 수치로 확증되고, session logical reads가 Total Gets와 자릿수가 맞으면 논리 읽기 가설이 확증됩니다. 좋은 판독자는 자기 가설을 확증할 통계뿐 아니라 반증할 통계도 함께 찾습니다. physical reads direct가 예상외로 크면 CPU 바운드 가설을 수정해야 합니다. 확증만 찾으면 확증 편향에 빠집니다.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Advisory는 버퍼 캐시·공유 풀·PGA 크기를 바꾸면 물리 읽기·파싱·디스크 정렬이 얼마로 바뀔지 시뮬레이션한 표입니다. 읽는 요령은 크기를 키워도 효과가 더 줄지 않는, 그래프가 평평해지는 지점을 찾는 것입니다. 그 이상은 낭비입니다. 이 구간은 물리 읽기가 이미 낮으니 버퍼 캐시 확대는 무효이고, 공유 풀·PGA는 키우면 증상은 완화되지만 근본 원인인 리터럴 SQL이 그대로면 재발합니다. 즉 이 구간에서 Advisory의 결론은 메모리로 해결할 문제가 아니라는 것이고, 그것을 숫자로 증명할 수 있다는 점이 중요합니다.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체크리스트의 핵심은 각 단계가 앞 단계의 가설을 이어받아 좁힌다는 점입니다. 1단계에서 부하 있음을 확인하지 않으면 이후가 무의미하고, 4단계에서 % DB time을 무시하고 Total Wait Time만 보면 log file sync에 잘못 꽂힙니다. 순서를 지키는 것이 오판을 막는 가장 확실한 방법입니다. 이 장의 실측 구간에서 일곱 단계가 모두 같은 곳, 리터럴 하드 파싱을 유발하는 SQL 하나로 수렴했습니다. 서로 다른 섹션의 숫자가 한 원인으로 모일 때 진단은 비로소 신뢰할 수 있게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8장이 경계하는 대표적 오판은 부하 없는 구간의 보고서를 읽고 문제가 있다고 판정하는 것입니다. 유휴 구간에도 보고서는 Top 10을 비워 두지 않고 가장 큰 것부터 채우므로, 몇 밀리초짜리 Idle 대기가 1위 자리에 올라옵니다. 순위만 보면 그것을 병목으로 착각합니다. 부하 유무는 머리말의 AAS로 판정합니다. AAS가 1보다 훨씬 작으면 진단할 부하가 없는 것이고, 이때는 '이 구간은 부하가 없어 판정 대상이 아니다'를 근거와 함께 명시하는 것이 좋은 판독입니다. 신고 시각인데 DB가 한가했다면 병목은 DB 밖일 가능성이 큽니다.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AWR·ADDM·ASH와 DBA_HIST_* 뷰, awrrpt.sql을 포함한 AWR 보고서 생성은 모두 Diagnostics Pack 라이선스가 필요합니다. CONTROL_MANAGEMENT_PACK_ACCESS가 NONE이면 접근할 수 없고 DIAGNOSTIC 이상이어야 합니다. 라이선스가 없으면 무료인 Statspack으로 spcreate.sql 설치, SNAP 수집, spreport.sql 보고서 생성을 대신합니다. Statspack에도 Load Profile, Top Events, SQL 통계, Instance Efficiency가 있어 이 장의 판독이 거의 그대로 적용됩니다. 최소 환경이라면 V$ 뷰를 두 시점에 찍어 델타를 직접 계산합니다. 13·14장이 이 V$ 경로를 정면으로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장에서 판독한 부하는 9장 ADDM과 10장 ASH에서 다시 등장합니다. 세 도구는 경쟁이 아니라 같은 사건을 다른 창으로 비추는 협력 관계입니다. AWR은 구간을 통계로 요약하고, ADDM은 그 통계를 자동으로 해석해 원인과 권고를 문장으로 내놓으며, ASH는 1초 샘플로 그 순간 누가 무엇을 기다렸는지 재구성합니다. 셋은 대체재가 아니라 확대 배율이 다른 렌즈입니다. AWR로 구간 평균을 보고, ADDM으로 자동 해석을 받고, ASH로 순간을 확대합니다. 세 결과가 한목소리로 같은 원인을 가리키면 오판 가능성이 크게 줄어듭니다.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8.2부터 8.9까지의 판독을 하나로 모읍니다. 머리말의 AAS 5.7, Load Profile의 CPU 바운드와 하드파싱 319, Top Events의 DB CPU 95.7%, Instance Efficiency의 낮은 Soft Parse, SQL 섹션의 9vmszgd1ft9x0이 모두 같은 곳을 가리킵니다. 리터럴 하드 파싱을 유발하는 단일 SQL입니다. AWR 보고서 판독은 가장 큰 숫자 찾기가 아니라 여러 지표를 엮어 하나의 원인으로 수렴시키는 일입니다. 서로 다른 섹션의 숫자가 한 원인으로 모일 때 진단은 비로소 신뢰할 수 있게 됩니다. 이 수렴을 만들어 내는 눈이 9~14장에서도 그대로 쓰입니다.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장이 반복해서 경계하는 오판은 넷입니다. 첫째 Top Events 맨 윗줄의 대기를 병목으로 지목하는 것 — 이 구간에선 1위가 대기가 아니라 DB CPU였고 log file sync 3.7%는 주범이 아니었습니다. 둘째 Buffer Hit 100%를 성능 우수로 읽는 히트율의 함정. 셋째 Instance Activity의 눈에 띄는 통계로 근거 없이 새 가설을 세우는 것. 넷째 부하 없는 구간의 Idle 대기를 병목으로 오판하는 것입니다. 네 오판의 공통 처방은 위에서 아래로 순서를 지키고, % DB time으로 비중을 보고, 여러 지표를 하나로 수렴시키는 것입니다.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88952"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nchor="t">
            <a:spAutoFit/>
          </a:bodyPr>
          <a:lstStyle/>
          <a:p>
            <a:pPr algn="l"/>
            <a:r>
              <a:rPr sz="1600" b="1">
                <a:solidFill>
                  <a:srgbClr val="FFFFFF"/>
                </a:solidFill>
                <a:latin typeface="맑은 고딕"/>
              </a:rPr>
              <a:t>Oracle Database 19c 성능 튜닝 실무 과정</a:t>
            </a:r>
          </a:p>
        </p:txBody>
      </p:sp>
      <p:sp>
        <p:nvSpPr>
          <p:cNvPr id="6" name="TextBox 5"/>
          <p:cNvSpPr txBox="1"/>
          <p:nvPr/>
        </p:nvSpPr>
        <p:spPr>
          <a:xfrm>
            <a:off x="731520" y="2377440"/>
            <a:ext cx="10698480" cy="1554480"/>
          </a:xfrm>
          <a:prstGeom prst="rect">
            <a:avLst/>
          </a:prstGeom>
          <a:noFill/>
        </p:spPr>
        <p:txBody>
          <a:bodyPr wrap="square" anchor="t">
            <a:spAutoFit/>
          </a:bodyPr>
          <a:lstStyle/>
          <a:p>
            <a:pPr algn="l"/>
            <a:r>
              <a:rPr sz="3400" b="1">
                <a:solidFill>
                  <a:srgbClr val="C0392B"/>
                </a:solidFill>
                <a:latin typeface="맑은 고딕"/>
              </a:rPr>
              <a:t>AWR 보고서 읽기</a:t>
            </a:r>
          </a:p>
          <a:p>
            <a:pPr algn="l"/>
            <a:r>
              <a:rPr sz="2000" b="0">
                <a:solidFill>
                  <a:srgbClr val="5A6672"/>
                </a:solidFill>
                <a:latin typeface="맑은 고딕"/>
              </a:rPr>
              <a:t>AWR Report Interpretation — 숫자를 엮어 원인을 지목한다</a:t>
            </a:r>
          </a:p>
        </p:txBody>
      </p:sp>
      <p:sp>
        <p:nvSpPr>
          <p:cNvPr id="7" name="TextBox 6"/>
          <p:cNvSpPr txBox="1"/>
          <p:nvPr/>
        </p:nvSpPr>
        <p:spPr>
          <a:xfrm>
            <a:off x="731520" y="4114800"/>
            <a:ext cx="10698480" cy="1097280"/>
          </a:xfrm>
          <a:prstGeom prst="rect">
            <a:avLst/>
          </a:prstGeom>
          <a:noFill/>
        </p:spPr>
        <p:txBody>
          <a:bodyPr wrap="square" anchor="t">
            <a:spAutoFit/>
          </a:bodyPr>
          <a:lstStyle/>
          <a:p>
            <a:pPr algn="l"/>
            <a:r>
              <a:rPr sz="1500" b="0">
                <a:solidFill>
                  <a:srgbClr val="5A6672"/>
                </a:solidFill>
                <a:latin typeface="맑은 고딕"/>
              </a:rPr>
              <a:t>Load Profile · Top 10 Events · Instance Efficiency · SQL 정렬 · Advisory · 실측 스냅샷 295~296</a:t>
            </a:r>
          </a:p>
        </p:txBody>
      </p:sp>
      <p:sp>
        <p:nvSpPr>
          <p:cNvPr id="8" name="TextBox 7"/>
          <p:cNvSpPr txBox="1"/>
          <p:nvPr/>
        </p:nvSpPr>
        <p:spPr>
          <a:xfrm>
            <a:off x="731520" y="5577840"/>
            <a:ext cx="10698480" cy="914400"/>
          </a:xfrm>
          <a:prstGeom prst="rect">
            <a:avLst/>
          </a:prstGeom>
          <a:noFill/>
        </p:spPr>
        <p:txBody>
          <a:bodyPr wrap="square" anchor="t">
            <a:spAutoFit/>
          </a:bodyPr>
          <a:lstStyle/>
          <a:p>
            <a:pPr algn="l"/>
            <a:r>
              <a:rPr sz="2000" b="1">
                <a:solidFill>
                  <a:srgbClr val="C0392B"/>
                </a:solidFill>
                <a:latin typeface="맑은 고딕"/>
              </a:rPr>
              <a:t>제8장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600" b="0">
                <a:solidFill>
                  <a:srgbClr val="222222"/>
                </a:solidFill>
                <a:latin typeface="맑은 고딕"/>
              </a:rPr>
              <a:t>•  awrrpt.sql로 텍스트 AWR 보고서를 생성하고 섹션 구조를 파악한다.</a:t>
            </a:r>
          </a:p>
          <a:p>
            <a:pPr algn="l">
              <a:spcAft>
                <a:spcPts val="600"/>
              </a:spcAft>
            </a:pPr>
            <a:r>
              <a:rPr sz="1600" b="0">
                <a:solidFill>
                  <a:srgbClr val="222222"/>
                </a:solidFill>
                <a:latin typeface="맑은 고딕"/>
              </a:rPr>
              <a:t>•  Load Profile에서 초당 논리 읽기·파싱·트랜잭션을 판독한다.</a:t>
            </a:r>
          </a:p>
          <a:p>
            <a:pPr algn="l">
              <a:spcAft>
                <a:spcPts val="600"/>
              </a:spcAft>
            </a:pPr>
            <a:r>
              <a:rPr sz="1600" b="0">
                <a:solidFill>
                  <a:srgbClr val="222222"/>
                </a:solidFill>
                <a:latin typeface="맑은 고딕"/>
              </a:rPr>
              <a:t>•  Top 10 Foreground Events를 % DB time 기준으로 읽고 병목을 지목한다.</a:t>
            </a:r>
          </a:p>
          <a:p>
            <a:pPr algn="l">
              <a:spcAft>
                <a:spcPts val="600"/>
              </a:spcAft>
            </a:pPr>
            <a:r>
              <a:rPr sz="1600" b="0">
                <a:solidFill>
                  <a:srgbClr val="222222"/>
                </a:solidFill>
                <a:latin typeface="맑은 고딕"/>
              </a:rPr>
              <a:t>•  '상위 대기 하나'가 아니라 DB Time 비중과 함께 원인을 수렴시킨다.</a:t>
            </a:r>
          </a:p>
          <a:p>
            <a:pPr algn="l">
              <a:spcAft>
                <a:spcPts val="600"/>
              </a:spcAft>
            </a:pPr>
            <a:r>
              <a:rPr sz="1600" b="0">
                <a:solidFill>
                  <a:srgbClr val="222222"/>
                </a:solidFill>
                <a:latin typeface="맑은 고딕"/>
              </a:rPr>
              <a:t>•  Instance Efficiency의 함정(히트율)과 낮은 값의 단서를 구분한다.</a:t>
            </a:r>
          </a:p>
          <a:p>
            <a:pPr algn="l">
              <a:spcAft>
                <a:spcPts val="600"/>
              </a:spcAft>
            </a:pPr>
            <a:r>
              <a:rPr sz="1600" b="0">
                <a:solidFill>
                  <a:srgbClr val="222222"/>
                </a:solidFill>
                <a:latin typeface="맑은 고딕"/>
              </a:rPr>
              <a:t>•  SQL 정렬 섹션에서 진단 가설에 맞는 기준으로 대상 SQL을 선별한다.</a:t>
            </a:r>
          </a:p>
          <a:p>
            <a:pPr algn="l">
              <a:spcAft>
                <a:spcPts val="600"/>
              </a:spcAft>
            </a:pPr>
            <a:r>
              <a:rPr sz="1600" b="0">
                <a:solidFill>
                  <a:srgbClr val="222222"/>
                </a:solidFill>
                <a:latin typeface="맑은 고딕"/>
              </a:rPr>
              <a:t>•  Advisory로 메모리 조정 효과를 근거로 판단한다.</a:t>
            </a:r>
          </a:p>
          <a:p>
            <a:pPr algn="l">
              <a:spcAft>
                <a:spcPts val="600"/>
              </a:spcAft>
            </a:pPr>
            <a:r>
              <a:rPr sz="1600" b="0">
                <a:solidFill>
                  <a:srgbClr val="222222"/>
                </a:solidFill>
                <a:latin typeface="맑은 고딕"/>
              </a:rPr>
              <a:t>•  부하 없는 구간을 판별하고 라이선스(🔒)·Statspack 대안을 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600" b="0">
                <a:solidFill>
                  <a:srgbClr val="222222"/>
                </a:solidFill>
                <a:latin typeface="맑은 고딕"/>
              </a:rPr>
              <a:t>•  8.2  AWR 보고서 생성 — awrrpt.sql과 섹션 구조</a:t>
            </a:r>
          </a:p>
          <a:p>
            <a:pPr algn="l">
              <a:spcAft>
                <a:spcPts val="600"/>
              </a:spcAft>
            </a:pPr>
            <a:r>
              <a:rPr sz="1600" b="0">
                <a:solidFill>
                  <a:srgbClr val="222222"/>
                </a:solidFill>
                <a:latin typeface="맑은 고딕"/>
              </a:rPr>
              <a:t>•  8.3  머리말 — DB Time / Elapsed = 평균 활성 세션</a:t>
            </a:r>
          </a:p>
          <a:p>
            <a:pPr algn="l">
              <a:spcAft>
                <a:spcPts val="600"/>
              </a:spcAft>
            </a:pPr>
            <a:r>
              <a:rPr sz="1600" b="0">
                <a:solidFill>
                  <a:srgbClr val="222222"/>
                </a:solidFill>
                <a:latin typeface="맑은 고딕"/>
              </a:rPr>
              <a:t>•  8.4  Load Profile — 초당 얼마나 일했는가</a:t>
            </a:r>
          </a:p>
          <a:p>
            <a:pPr algn="l">
              <a:spcAft>
                <a:spcPts val="600"/>
              </a:spcAft>
            </a:pPr>
            <a:r>
              <a:rPr sz="1600" b="0">
                <a:solidFill>
                  <a:srgbClr val="222222"/>
                </a:solidFill>
                <a:latin typeface="맑은 고딕"/>
              </a:rPr>
              <a:t>•  8.5  Top 10 Foreground Events — 상위 대기와 DB Time 비중</a:t>
            </a:r>
          </a:p>
          <a:p>
            <a:pPr algn="l">
              <a:spcAft>
                <a:spcPts val="600"/>
              </a:spcAft>
            </a:pPr>
            <a:r>
              <a:rPr sz="1600" b="0">
                <a:solidFill>
                  <a:srgbClr val="222222"/>
                </a:solidFill>
                <a:latin typeface="맑은 고딕"/>
              </a:rPr>
              <a:t>•  8.6  Instance Efficiency — 비율의 함정</a:t>
            </a:r>
          </a:p>
          <a:p>
            <a:pPr algn="l">
              <a:spcAft>
                <a:spcPts val="600"/>
              </a:spcAft>
            </a:pPr>
            <a:r>
              <a:rPr sz="1600" b="0">
                <a:solidFill>
                  <a:srgbClr val="222222"/>
                </a:solidFill>
                <a:latin typeface="맑은 고딕"/>
              </a:rPr>
              <a:t>•  8.7  SQL 정렬 섹션 — 대상 SQL 선별</a:t>
            </a:r>
          </a:p>
          <a:p>
            <a:pPr algn="l">
              <a:spcAft>
                <a:spcPts val="600"/>
              </a:spcAft>
            </a:pPr>
            <a:r>
              <a:rPr sz="1600" b="0">
                <a:solidFill>
                  <a:srgbClr val="222222"/>
                </a:solidFill>
                <a:latin typeface="맑은 고딕"/>
              </a:rPr>
              <a:t>•  8.8~8.9  Instance Activity / Advisory 판독</a:t>
            </a:r>
          </a:p>
          <a:p>
            <a:pPr algn="l">
              <a:spcAft>
                <a:spcPts val="600"/>
              </a:spcAft>
            </a:pPr>
            <a:r>
              <a:rPr sz="1600" b="0">
                <a:solidFill>
                  <a:srgbClr val="222222"/>
                </a:solidFill>
                <a:latin typeface="맑은 고딕"/>
              </a:rPr>
              <a:t>•  8.10~8.13  체크리스트 · 부하 없는 구간 · 라이선스 · 도구 연결</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왜 AWR 보고서를 읽는가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8장의 한 문장</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AWR = 두 스냅샷 사이 인스턴스 활동을 한 장으로 요약</a:t>
            </a:r>
          </a:p>
          <a:p>
            <a:pPr algn="l">
              <a:spcAft>
                <a:spcPts val="600"/>
              </a:spcAft>
            </a:pPr>
            <a:r>
              <a:rPr sz="1700" b="0">
                <a:solidFill>
                  <a:srgbClr val="222222"/>
                </a:solidFill>
                <a:latin typeface="맑은 고딕"/>
              </a:rPr>
              <a:t>•  5장 DB Time·시간모델·대기클래스가 이 보고서 안에 다 있다</a:t>
            </a:r>
          </a:p>
          <a:p>
            <a:pPr algn="l">
              <a:spcAft>
                <a:spcPts val="600"/>
              </a:spcAft>
            </a:pPr>
            <a:r>
              <a:rPr sz="1700" b="0">
                <a:solidFill>
                  <a:srgbClr val="222222"/>
                </a:solidFill>
                <a:latin typeface="맑은 고딕"/>
              </a:rPr>
              <a:t>•  8장은 '생성'이 아니라 '판독' — 숫자로 원인을 지목</a:t>
            </a:r>
          </a:p>
          <a:p>
            <a:pPr algn="l">
              <a:spcAft>
                <a:spcPts val="600"/>
              </a:spcAft>
            </a:pPr>
            <a:r>
              <a:rPr sz="1700" b="0">
                <a:solidFill>
                  <a:srgbClr val="222222"/>
                </a:solidFill>
                <a:latin typeface="맑은 고딕"/>
              </a:rPr>
              <a:t>•  핵심: 상위 대기 하나만 보고 결론 내지 않는다</a:t>
            </a:r>
          </a:p>
          <a:p>
            <a:pPr algn="l">
              <a:spcAft>
                <a:spcPts val="600"/>
              </a:spcAft>
            </a:pPr>
            <a:r>
              <a:rPr sz="1700" b="0">
                <a:solidFill>
                  <a:srgbClr val="222222"/>
                </a:solidFill>
                <a:latin typeface="맑은 고딕"/>
              </a:rPr>
              <a:t>•  언제나 DB Time 비중과 함께 본다</a:t>
            </a:r>
          </a:p>
          <a:p>
            <a:pPr algn="l">
              <a:spcAft>
                <a:spcPts val="600"/>
              </a:spcAft>
            </a:pPr>
            <a:r>
              <a:rPr sz="1700" b="0">
                <a:solidFill>
                  <a:srgbClr val="222222"/>
                </a:solidFill>
                <a:latin typeface="맑은 고딕"/>
              </a:rPr>
              <a:t>•  소재: 실측 스냅샷 295~296 (7세션 100초 종합 부하)</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8.2</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AWR 보고서 생성</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awrrpt.sql — text/html, 시작·종료 스냅샷 지정</a:t>
            </a:r>
          </a:p>
          <a:p>
            <a:pPr algn="l">
              <a:spcAft>
                <a:spcPts val="400"/>
              </a:spcAft>
            </a:pPr>
            <a:r>
              <a:rPr sz="1600" b="0">
                <a:solidFill>
                  <a:srgbClr val="FFFFFF"/>
                </a:solidFill>
                <a:latin typeface="맑은 고딕"/>
              </a:rPr>
              <a:t>•  전제: STATISTICS_LEVEL≥TYPICAL, 구간 내 재기동 없음</a:t>
            </a:r>
          </a:p>
          <a:p>
            <a:pPr algn="l">
              <a:spcAft>
                <a:spcPts val="400"/>
              </a:spcAft>
            </a:pPr>
            <a:r>
              <a:rPr sz="1600" b="0">
                <a:solidFill>
                  <a:srgbClr val="FFFFFF"/>
                </a:solidFill>
                <a:latin typeface="맑은 고딕"/>
              </a:rPr>
              <a:t>•  보고서는 '델타' — 두 스냅샷 차이(구간 값)</a:t>
            </a:r>
          </a:p>
          <a:p>
            <a:pPr algn="l">
              <a:spcAft>
                <a:spcPts val="400"/>
              </a:spcAft>
            </a:pPr>
            <a:r>
              <a:rPr sz="1600" b="0">
                <a:solidFill>
                  <a:srgbClr val="FFFFFF"/>
                </a:solidFill>
                <a:latin typeface="맑은 고딕"/>
              </a:rPr>
              <a:t>•  판독은 위(요약)에서 아래(세부)로</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awrrpt.sql 실행</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텍스트 보고서 생성 절차 (스냅샷 295~296)</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tIns="109728"/>
          <a:lstStyle/>
          <a:p>
            <a:pPr algn="ctr">
              <a:spcBef>
                <a:spcPts val="0"/>
              </a:spcBef>
              <a:spcAft>
                <a:spcPts val="0"/>
              </a:spcAft>
            </a:pPr>
            <a:r>
              <a:rPr sz="1250">
                <a:solidFill>
                  <a:srgbClr val="F2F2F2"/>
                </a:solidFill>
                <a:latin typeface="Consolas"/>
              </a:rPr>
              <a:t>SYS@orcl&gt; @$ORACLE_HOME/rdbms/admin/awrrpt.sql</a:t>
            </a:r>
          </a:p>
          <a:p>
            <a:pPr>
              <a:spcBef>
                <a:spcPts val="0"/>
              </a:spcBef>
              <a:spcAft>
                <a:spcPts val="0"/>
              </a:spcAft>
            </a:pPr>
            <a:r>
              <a:rPr sz="1250">
                <a:solidFill>
                  <a:srgbClr val="F2F2F2"/>
                </a:solidFill>
                <a:latin typeface="Consolas"/>
              </a:rPr>
              <a:t> </a:t>
            </a:r>
          </a:p>
          <a:p>
            <a:pPr>
              <a:spcBef>
                <a:spcPts val="0"/>
              </a:spcBef>
              <a:spcAft>
                <a:spcPts val="0"/>
              </a:spcAft>
            </a:pPr>
            <a:r>
              <a:rPr sz="1250">
                <a:solidFill>
                  <a:srgbClr val="F2F2F2"/>
                </a:solidFill>
                <a:latin typeface="Consolas"/>
              </a:rPr>
              <a:t>Enter value for report_type: text</a:t>
            </a:r>
          </a:p>
          <a:p>
            <a:pPr>
              <a:spcBef>
                <a:spcPts val="0"/>
              </a:spcBef>
              <a:spcAft>
                <a:spcPts val="0"/>
              </a:spcAft>
            </a:pPr>
            <a:r>
              <a:rPr sz="1250">
                <a:solidFill>
                  <a:srgbClr val="F2F2F2"/>
                </a:solidFill>
                <a:latin typeface="Consolas"/>
              </a:rPr>
              <a:t>Enter value for num_days: 1</a:t>
            </a:r>
          </a:p>
          <a:p>
            <a:pPr>
              <a:spcBef>
                <a:spcPts val="0"/>
              </a:spcBef>
              <a:spcAft>
                <a:spcPts val="0"/>
              </a:spcAft>
            </a:pPr>
            <a:r>
              <a:rPr sz="1250">
                <a:solidFill>
                  <a:srgbClr val="F2F2F2"/>
                </a:solidFill>
                <a:latin typeface="Consolas"/>
              </a:rPr>
              <a:t> </a:t>
            </a:r>
          </a:p>
          <a:p>
            <a:pPr>
              <a:spcBef>
                <a:spcPts val="0"/>
              </a:spcBef>
              <a:spcAft>
                <a:spcPts val="0"/>
              </a:spcAft>
            </a:pPr>
            <a:r>
              <a:rPr sz="1250">
                <a:solidFill>
                  <a:srgbClr val="F2F2F2"/>
                </a:solidFill>
                <a:latin typeface="Consolas"/>
              </a:rPr>
              <a:t>  Snap Id   Snap Started         Snap Level</a:t>
            </a:r>
          </a:p>
          <a:p>
            <a:pPr>
              <a:spcBef>
                <a:spcPts val="0"/>
              </a:spcBef>
              <a:spcAft>
                <a:spcPts val="0"/>
              </a:spcAft>
            </a:pPr>
            <a:r>
              <a:rPr sz="1250">
                <a:solidFill>
                  <a:srgbClr val="F2F2F2"/>
                </a:solidFill>
                <a:latin typeface="Consolas"/>
              </a:rPr>
              <a:t>  -------   ------------------   ----------</a:t>
            </a:r>
          </a:p>
          <a:p>
            <a:pPr>
              <a:spcBef>
                <a:spcPts val="0"/>
              </a:spcBef>
              <a:spcAft>
                <a:spcPts val="0"/>
              </a:spcAft>
            </a:pPr>
            <a:r>
              <a:rPr sz="1250">
                <a:solidFill>
                  <a:srgbClr val="F2F2F2"/>
                </a:solidFill>
                <a:latin typeface="Consolas"/>
              </a:rPr>
              <a:t>    295     25 Aug 2026 14:20        1</a:t>
            </a:r>
          </a:p>
          <a:p>
            <a:pPr>
              <a:spcBef>
                <a:spcPts val="0"/>
              </a:spcBef>
              <a:spcAft>
                <a:spcPts val="0"/>
              </a:spcAft>
            </a:pPr>
            <a:r>
              <a:rPr sz="1250">
                <a:solidFill>
                  <a:srgbClr val="F2F2F2"/>
                </a:solidFill>
                <a:latin typeface="Consolas"/>
              </a:rPr>
              <a:t>    296     25 Aug 2026 14:22        1</a:t>
            </a:r>
          </a:p>
          <a:p>
            <a:pPr>
              <a:spcBef>
                <a:spcPts val="0"/>
              </a:spcBef>
              <a:spcAft>
                <a:spcPts val="0"/>
              </a:spcAft>
            </a:pPr>
            <a:r>
              <a:rPr sz="1250">
                <a:solidFill>
                  <a:srgbClr val="F2F2F2"/>
                </a:solidFill>
                <a:latin typeface="Consolas"/>
              </a:rPr>
              <a:t> </a:t>
            </a:r>
          </a:p>
          <a:p>
            <a:pPr>
              <a:spcBef>
                <a:spcPts val="0"/>
              </a:spcBef>
              <a:spcAft>
                <a:spcPts val="0"/>
              </a:spcAft>
            </a:pPr>
            <a:r>
              <a:rPr sz="1250">
                <a:solidFill>
                  <a:srgbClr val="F2F2F2"/>
                </a:solidFill>
                <a:latin typeface="Consolas"/>
              </a:rPr>
              <a:t>Enter value for begin_snap: 295</a:t>
            </a:r>
          </a:p>
          <a:p>
            <a:pPr>
              <a:spcBef>
                <a:spcPts val="0"/>
              </a:spcBef>
              <a:spcAft>
                <a:spcPts val="0"/>
              </a:spcAft>
            </a:pPr>
            <a:r>
              <a:rPr sz="1250">
                <a:solidFill>
                  <a:srgbClr val="F2F2F2"/>
                </a:solidFill>
                <a:latin typeface="Consolas"/>
              </a:rPr>
              <a:t>Enter value for end_snap:   296</a:t>
            </a:r>
          </a:p>
          <a:p>
            <a:pPr>
              <a:spcBef>
                <a:spcPts val="0"/>
              </a:spcBef>
              <a:spcAft>
                <a:spcPts val="0"/>
              </a:spcAft>
            </a:pPr>
            <a:r>
              <a:rPr sz="1250">
                <a:solidFill>
                  <a:srgbClr val="F2F2F2"/>
                </a:solidFill>
                <a:latin typeface="Consolas"/>
              </a:rPr>
              <a:t>Report written to awrrpt_1_295_296.txt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AWR 보고서는 '델타'다</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누적값이 아니라 구간 값</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V$ 통계 = 인스턴스 기동 이후 누적값(5장)</a:t>
            </a:r>
          </a:p>
          <a:p>
            <a:pPr algn="l">
              <a:spcAft>
                <a:spcPts val="600"/>
              </a:spcAft>
            </a:pPr>
            <a:r>
              <a:rPr sz="1700" b="0">
                <a:solidFill>
                  <a:srgbClr val="222222"/>
                </a:solidFill>
                <a:latin typeface="맑은 고딕"/>
              </a:rPr>
              <a:t>•  AWR 보고서 = 종료 스냅샷 − 시작 스냅샷 = 구간 실제량</a:t>
            </a:r>
          </a:p>
          <a:p>
            <a:pPr algn="l">
              <a:spcAft>
                <a:spcPts val="600"/>
              </a:spcAft>
            </a:pPr>
            <a:r>
              <a:rPr sz="1700" b="0">
                <a:solidFill>
                  <a:srgbClr val="222222"/>
                </a:solidFill>
                <a:latin typeface="맑은 고딕"/>
              </a:rPr>
              <a:t>•  Load Profile의 Per Second도 이 100초 구간 한정</a:t>
            </a:r>
          </a:p>
          <a:p>
            <a:pPr algn="l">
              <a:spcAft>
                <a:spcPts val="600"/>
              </a:spcAft>
            </a:pPr>
            <a:r>
              <a:rPr sz="1700" b="0">
                <a:solidFill>
                  <a:srgbClr val="222222"/>
                </a:solidFill>
                <a:latin typeface="맑은 고딕"/>
              </a:rPr>
              <a:t>•  SQL 섹션의 Buffer Gets도 이 구간에서만 발생한 양</a:t>
            </a:r>
          </a:p>
          <a:p>
            <a:pPr algn="l">
              <a:spcAft>
                <a:spcPts val="600"/>
              </a:spcAft>
            </a:pPr>
            <a:r>
              <a:rPr sz="1700" b="0">
                <a:solidFill>
                  <a:srgbClr val="222222"/>
                </a:solidFill>
                <a:latin typeface="맑은 고딕"/>
              </a:rPr>
              <a:t>•  누적값을 그대로 읽는 5장의 오판을 자동 교정</a:t>
            </a:r>
          </a:p>
          <a:p>
            <a:pPr algn="l">
              <a:spcAft>
                <a:spcPts val="600"/>
              </a:spcAft>
            </a:pPr>
            <a:r>
              <a:rPr sz="1700" b="0">
                <a:solidFill>
                  <a:srgbClr val="222222"/>
                </a:solidFill>
                <a:latin typeface="맑은 고딕"/>
              </a:rPr>
              <a:t>•  전제: 두 스냅샷 사이 재기동 없음(있으면 델타 음수)</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보고서 섹션 구조 — 읽는 순서</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위에서 아래로 좁혀 내려간다</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머리말 → 구간·DB Time (부하가 있었나)</a:t>
            </a:r>
          </a:p>
          <a:p>
            <a:pPr algn="l">
              <a:spcAft>
                <a:spcPts val="600"/>
              </a:spcAft>
            </a:pPr>
            <a:r>
              <a:rPr sz="1700" b="0">
                <a:solidFill>
                  <a:srgbClr val="222222"/>
                </a:solidFill>
                <a:latin typeface="맑은 고딕"/>
              </a:rPr>
              <a:t>•  Load Profile → 초당 작업량 (부하 성격)</a:t>
            </a:r>
          </a:p>
          <a:p>
            <a:pPr algn="l">
              <a:spcAft>
                <a:spcPts val="600"/>
              </a:spcAft>
            </a:pPr>
            <a:r>
              <a:rPr sz="1700" b="0">
                <a:solidFill>
                  <a:srgbClr val="222222"/>
                </a:solidFill>
                <a:latin typeface="맑은 고딕"/>
              </a:rPr>
              <a:t>•  Top 10 Events → 무엇을 기다렸나 (병목 종류)</a:t>
            </a:r>
          </a:p>
          <a:p>
            <a:pPr algn="l">
              <a:spcAft>
                <a:spcPts val="600"/>
              </a:spcAft>
            </a:pPr>
            <a:r>
              <a:rPr sz="1700" b="0">
                <a:solidFill>
                  <a:srgbClr val="222222"/>
                </a:solidFill>
                <a:latin typeface="맑은 고딕"/>
              </a:rPr>
              <a:t>•  Instance Efficiency → 효율 비율 (함정 주의)</a:t>
            </a:r>
          </a:p>
          <a:p>
            <a:pPr algn="l">
              <a:spcAft>
                <a:spcPts val="600"/>
              </a:spcAft>
            </a:pPr>
            <a:r>
              <a:rPr sz="1700" b="0">
                <a:solidFill>
                  <a:srgbClr val="222222"/>
                </a:solidFill>
                <a:latin typeface="맑은 고딕"/>
              </a:rPr>
              <a:t>•  SQL ordered by … → 어느 SQL이 자원을 썼나</a:t>
            </a:r>
          </a:p>
          <a:p>
            <a:pPr algn="l">
              <a:spcAft>
                <a:spcPts val="600"/>
              </a:spcAft>
            </a:pPr>
            <a:r>
              <a:rPr sz="1700" b="0">
                <a:solidFill>
                  <a:srgbClr val="222222"/>
                </a:solidFill>
                <a:latin typeface="맑은 고딕"/>
              </a:rPr>
              <a:t>•  Instance Activity / Advisory → 세부 확증·메모리 조정</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8.3</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머리말 판독</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DB Time / Elapsed = 평균 활성 세션(AAS)</a:t>
            </a:r>
          </a:p>
          <a:p>
            <a:pPr algn="l">
              <a:spcAft>
                <a:spcPts val="400"/>
              </a:spcAft>
            </a:pPr>
            <a:r>
              <a:rPr sz="1600" b="0">
                <a:solidFill>
                  <a:srgbClr val="FFFFFF"/>
                </a:solidFill>
                <a:latin typeface="맑은 고딕"/>
              </a:rPr>
              <a:t>•  실측: 574초 / 100초 ≈ 5.7</a:t>
            </a:r>
          </a:p>
          <a:p>
            <a:pPr algn="l">
              <a:spcAft>
                <a:spcPts val="400"/>
              </a:spcAft>
            </a:pPr>
            <a:r>
              <a:rPr sz="1600" b="0">
                <a:solidFill>
                  <a:srgbClr val="FFFFFF"/>
                </a:solidFill>
                <a:latin typeface="맑은 고딕"/>
              </a:rPr>
              <a:t>•  AAS를 CPU 코어 수와 비교 → CPU 포화 판정</a:t>
            </a:r>
          </a:p>
          <a:p>
            <a:pPr algn="l">
              <a:spcAft>
                <a:spcPts val="400"/>
              </a:spcAft>
            </a:pPr>
            <a:r>
              <a:rPr sz="1600" b="0">
                <a:solidFill>
                  <a:srgbClr val="FFFFFF"/>
                </a:solidFill>
                <a:latin typeface="맑은 고딕"/>
              </a:rPr>
              <a:t>•  머리말은 방향만 정한다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DB Time부터 본다</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실측 구간: Elapsed 100초, DB Time 574초</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Elapsed = 두 스냅샷 사이 벽시계 시간</a:t>
            </a:r>
          </a:p>
          <a:p>
            <a:pPr algn="l">
              <a:spcAft>
                <a:spcPts val="600"/>
              </a:spcAft>
            </a:pPr>
            <a:r>
              <a:rPr sz="1700" b="0">
                <a:solidFill>
                  <a:srgbClr val="222222"/>
                </a:solidFill>
                <a:latin typeface="맑은 고딕"/>
              </a:rPr>
              <a:t>•  DB Time = 모든 활성 세션의 CPU+대기 합</a:t>
            </a:r>
          </a:p>
          <a:p>
            <a:pPr algn="l">
              <a:spcAft>
                <a:spcPts val="600"/>
              </a:spcAft>
            </a:pPr>
            <a:r>
              <a:rPr sz="1700" b="0">
                <a:solidFill>
                  <a:srgbClr val="222222"/>
                </a:solidFill>
                <a:latin typeface="맑은 고딕"/>
              </a:rPr>
              <a:t>•  DB Time / Elapsed ≈ 5.7 → 평균 5.7세션이 동시에 일함</a:t>
            </a:r>
          </a:p>
          <a:p>
            <a:pPr algn="l">
              <a:spcAft>
                <a:spcPts val="600"/>
              </a:spcAft>
            </a:pPr>
            <a:r>
              <a:rPr sz="1700" b="0">
                <a:solidFill>
                  <a:srgbClr val="222222"/>
                </a:solidFill>
                <a:latin typeface="맑은 고딕"/>
              </a:rPr>
              <a:t>•  7세션 부하 → 세션들이 거의 쉬지 않았음</a:t>
            </a:r>
          </a:p>
          <a:p>
            <a:pPr algn="l">
              <a:spcAft>
                <a:spcPts val="600"/>
              </a:spcAft>
            </a:pPr>
            <a:r>
              <a:rPr sz="1700" b="0">
                <a:solidFill>
                  <a:srgbClr val="222222"/>
                </a:solidFill>
                <a:latin typeface="맑은 고딕"/>
              </a:rPr>
              <a:t>•  AAS를 호스트 코어 수와 비교: 코어보다 크면 CPU 경쟁</a:t>
            </a:r>
          </a:p>
          <a:p>
            <a:pPr algn="l">
              <a:spcAft>
                <a:spcPts val="600"/>
              </a:spcAft>
            </a:pPr>
            <a:r>
              <a:rPr sz="1700" b="0">
                <a:solidFill>
                  <a:srgbClr val="222222"/>
                </a:solidFill>
                <a:latin typeface="맑은 고딕"/>
              </a:rPr>
              <a:t>•  '무엇을' 기다렸나 → Top Events / '누가' → SQL 섹션</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8.4</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Load Profile 판독</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DB Time vs DB CPU → CPU 바운드?</a:t>
            </a:r>
          </a:p>
          <a:p>
            <a:pPr algn="l">
              <a:spcAft>
                <a:spcPts val="400"/>
              </a:spcAft>
            </a:pPr>
            <a:r>
              <a:rPr sz="1600" b="0">
                <a:solidFill>
                  <a:srgbClr val="FFFFFF"/>
                </a:solidFill>
                <a:latin typeface="맑은 고딕"/>
              </a:rPr>
              <a:t>•  논리 vs 물리 읽기 → 메모리 반복 스캔?</a:t>
            </a:r>
          </a:p>
          <a:p>
            <a:pPr algn="l">
              <a:spcAft>
                <a:spcPts val="400"/>
              </a:spcAft>
            </a:pPr>
            <a:r>
              <a:rPr sz="1600" b="0">
                <a:solidFill>
                  <a:srgbClr val="FFFFFF"/>
                </a:solidFill>
                <a:latin typeface="맑은 고딕"/>
              </a:rPr>
              <a:t>•  Parses 대비 Hard parses → 리터럴?</a:t>
            </a:r>
          </a:p>
          <a:p>
            <a:pPr algn="l">
              <a:spcAft>
                <a:spcPts val="400"/>
              </a:spcAft>
            </a:pPr>
            <a:r>
              <a:rPr sz="1600" b="0">
                <a:solidFill>
                  <a:srgbClr val="FFFFFF"/>
                </a:solidFill>
                <a:latin typeface="맑은 고딕"/>
              </a:rPr>
              <a:t>•  절대값이 아니라 항목 간 비율로 읽는다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Load Profile 실측</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스냅샷 295~296 (Per Second / Per Transaction)</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tIns="109728"/>
          <a:lstStyle/>
          <a:p>
            <a:pPr algn="ctr">
              <a:spcBef>
                <a:spcPts val="0"/>
              </a:spcBef>
              <a:spcAft>
                <a:spcPts val="0"/>
              </a:spcAft>
            </a:pPr>
            <a:r>
              <a:rPr sz="1250">
                <a:solidFill>
                  <a:srgbClr val="F2F2F2"/>
                </a:solidFill>
                <a:latin typeface="Consolas"/>
              </a:rPr>
              <a:t>                        Per Second   Per Txn</a:t>
            </a:r>
          </a:p>
          <a:p>
            <a:pPr>
              <a:spcBef>
                <a:spcPts val="0"/>
              </a:spcBef>
              <a:spcAft>
                <a:spcPts val="0"/>
              </a:spcAft>
            </a:pPr>
            <a:r>
              <a:rPr sz="1250">
                <a:solidFill>
                  <a:srgbClr val="F2F2F2"/>
                </a:solidFill>
                <a:latin typeface="Consolas"/>
              </a:rPr>
              <a:t>         DB Time(s):           5.5       0.0</a:t>
            </a:r>
          </a:p>
          <a:p>
            <a:pPr>
              <a:spcBef>
                <a:spcPts val="0"/>
              </a:spcBef>
              <a:spcAft>
                <a:spcPts val="0"/>
              </a:spcAft>
            </a:pPr>
            <a:r>
              <a:rPr sz="1250">
                <a:solidFill>
                  <a:srgbClr val="F2F2F2"/>
                </a:solidFill>
                <a:latin typeface="Consolas"/>
              </a:rPr>
              <a:t>          DB CPU(s):           5.3       0.0</a:t>
            </a:r>
          </a:p>
          <a:p>
            <a:pPr>
              <a:spcBef>
                <a:spcPts val="0"/>
              </a:spcBef>
              <a:spcAft>
                <a:spcPts val="0"/>
              </a:spcAft>
            </a:pPr>
            <a:r>
              <a:rPr sz="1250">
                <a:solidFill>
                  <a:srgbClr val="F2F2F2"/>
                </a:solidFill>
                <a:latin typeface="Consolas"/>
              </a:rPr>
              <a:t>  Redo size (bytes):     140,017.0     677.6</a:t>
            </a:r>
          </a:p>
          <a:p>
            <a:pPr>
              <a:spcBef>
                <a:spcPts val="0"/>
              </a:spcBef>
              <a:spcAft>
                <a:spcPts val="0"/>
              </a:spcAft>
            </a:pPr>
            <a:r>
              <a:rPr sz="1250">
                <a:solidFill>
                  <a:srgbClr val="F2F2F2"/>
                </a:solidFill>
                <a:latin typeface="Consolas"/>
              </a:rPr>
              <a:t>Logical read (blk):    1,185,107.0   5,735.2</a:t>
            </a:r>
          </a:p>
          <a:p>
            <a:pPr>
              <a:spcBef>
                <a:spcPts val="0"/>
              </a:spcBef>
              <a:spcAft>
                <a:spcPts val="0"/>
              </a:spcAft>
            </a:pPr>
            <a:r>
              <a:rPr sz="1250">
                <a:solidFill>
                  <a:srgbClr val="F2F2F2"/>
                </a:solidFill>
                <a:latin typeface="Consolas"/>
              </a:rPr>
              <a:t>      Block changes:         916.0       4.4</a:t>
            </a:r>
          </a:p>
          <a:p>
            <a:pPr>
              <a:spcBef>
                <a:spcPts val="0"/>
              </a:spcBef>
              <a:spcAft>
                <a:spcPts val="0"/>
              </a:spcAft>
            </a:pPr>
            <a:r>
              <a:rPr sz="1250">
                <a:solidFill>
                  <a:srgbClr val="F2F2F2"/>
                </a:solidFill>
                <a:latin typeface="Consolas"/>
              </a:rPr>
              <a:t>Physical read (blk):          48.8       0.2</a:t>
            </a:r>
          </a:p>
          <a:p>
            <a:pPr>
              <a:spcBef>
                <a:spcPts val="0"/>
              </a:spcBef>
              <a:spcAft>
                <a:spcPts val="0"/>
              </a:spcAft>
            </a:pPr>
            <a:r>
              <a:rPr sz="1250">
                <a:solidFill>
                  <a:srgbClr val="F2F2F2"/>
                </a:solidFill>
                <a:latin typeface="Consolas"/>
              </a:rPr>
              <a:t>         User calls:       1,629.9       7.9</a:t>
            </a:r>
          </a:p>
          <a:p>
            <a:pPr>
              <a:spcBef>
                <a:spcPts val="0"/>
              </a:spcBef>
              <a:spcAft>
                <a:spcPts val="0"/>
              </a:spcAft>
            </a:pPr>
            <a:r>
              <a:rPr sz="1250">
                <a:solidFill>
                  <a:srgbClr val="F2F2F2"/>
                </a:solidFill>
                <a:latin typeface="Consolas"/>
              </a:rPr>
              <a:t>       Parses (SQL):         433.7       2.1</a:t>
            </a:r>
          </a:p>
          <a:p>
            <a:pPr>
              <a:spcBef>
                <a:spcPts val="0"/>
              </a:spcBef>
              <a:spcAft>
                <a:spcPts val="0"/>
              </a:spcAft>
            </a:pPr>
            <a:r>
              <a:rPr sz="1250">
                <a:solidFill>
                  <a:srgbClr val="F2F2F2"/>
                </a:solidFill>
                <a:latin typeface="Consolas"/>
              </a:rPr>
              <a:t>  Hard parses (SQL):         319.0       1.5</a:t>
            </a:r>
          </a:p>
          <a:p>
            <a:pPr>
              <a:spcBef>
                <a:spcPts val="0"/>
              </a:spcBef>
              <a:spcAft>
                <a:spcPts val="0"/>
              </a:spcAft>
            </a:pPr>
            <a:r>
              <a:rPr sz="1250">
                <a:solidFill>
                  <a:srgbClr val="F2F2F2"/>
                </a:solidFill>
                <a:latin typeface="Consolas"/>
              </a:rPr>
              <a:t>  SQL Work Area(MB):         102.5       0.5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Load Profile이 그리는 그림</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세 지표가 한 방향을 가리킨다</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DB CPU ≈ DB Time → 대기가 아니라 CPU를 태운다</a:t>
            </a:r>
          </a:p>
          <a:p>
            <a:pPr algn="l">
              <a:spcAft>
                <a:spcPts val="600"/>
              </a:spcAft>
            </a:pPr>
            <a:r>
              <a:rPr sz="1700" b="0">
                <a:solidFill>
                  <a:srgbClr val="222222"/>
                </a:solidFill>
                <a:latin typeface="맑은 고딕"/>
              </a:rPr>
              <a:t>•  논리 118만 : 물리 48.8 → 메모리 위 반복 스캔</a:t>
            </a:r>
          </a:p>
          <a:p>
            <a:pPr algn="l">
              <a:spcAft>
                <a:spcPts val="600"/>
              </a:spcAft>
            </a:pPr>
            <a:r>
              <a:rPr sz="1700" b="0">
                <a:solidFill>
                  <a:srgbClr val="222222"/>
                </a:solidFill>
                <a:latin typeface="맑은 고딕"/>
              </a:rPr>
              <a:t>•  하드 파싱 319/s (전체의 73%) → 리터럴 SQL 폭증</a:t>
            </a:r>
          </a:p>
          <a:p>
            <a:pPr algn="l">
              <a:spcAft>
                <a:spcPts val="600"/>
              </a:spcAft>
            </a:pPr>
            <a:r>
              <a:rPr sz="1700" b="0">
                <a:solidFill>
                  <a:srgbClr val="222222"/>
                </a:solidFill>
                <a:latin typeface="맑은 고딕"/>
              </a:rPr>
              <a:t>•  User calls 1,629/s → 짧은 호출 대량 (가벼운 SQL 반복)</a:t>
            </a:r>
          </a:p>
          <a:p>
            <a:pPr algn="l">
              <a:spcAft>
                <a:spcPts val="600"/>
              </a:spcAft>
            </a:pPr>
            <a:r>
              <a:rPr sz="1700" b="0">
                <a:solidFill>
                  <a:srgbClr val="222222"/>
                </a:solidFill>
                <a:latin typeface="맑은 고딕"/>
              </a:rPr>
              <a:t>•  Redo·Block changes → 잦은 커밋(log file sync 배경)</a:t>
            </a:r>
          </a:p>
          <a:p>
            <a:pPr algn="l">
              <a:spcAft>
                <a:spcPts val="600"/>
              </a:spcAft>
            </a:pPr>
            <a:r>
              <a:rPr sz="1700" b="0">
                <a:solidFill>
                  <a:srgbClr val="222222"/>
                </a:solidFill>
                <a:latin typeface="맑은 고딕"/>
              </a:rPr>
              <a:t>•  → CPU 바운드 + 대량 논리읽기 + 리터럴 하드파싱</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8.5</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Top 10 Foreground Events</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맨 윗줄은 대개 DB CPU (대기가 아님)</a:t>
            </a:r>
          </a:p>
          <a:p>
            <a:pPr algn="l">
              <a:spcAft>
                <a:spcPts val="400"/>
              </a:spcAft>
            </a:pPr>
            <a:r>
              <a:rPr sz="1600" b="0">
                <a:solidFill>
                  <a:srgbClr val="FFFFFF"/>
                </a:solidFill>
                <a:latin typeface="맑은 고딕"/>
              </a:rPr>
              <a:t>•  % DB time으로 가중치를 매겨 읽는다</a:t>
            </a:r>
          </a:p>
          <a:p>
            <a:pPr algn="l">
              <a:spcAft>
                <a:spcPts val="400"/>
              </a:spcAft>
            </a:pPr>
            <a:r>
              <a:rPr sz="1600" b="0">
                <a:solidFill>
                  <a:srgbClr val="FFFFFF"/>
                </a:solidFill>
                <a:latin typeface="맑은 고딕"/>
              </a:rPr>
              <a:t>•  작은 대기들을 한 원인으로 묶는다</a:t>
            </a:r>
          </a:p>
          <a:p>
            <a:pPr algn="l">
              <a:spcAft>
                <a:spcPts val="400"/>
              </a:spcAft>
            </a:pPr>
            <a:r>
              <a:rPr sz="1600" b="0">
                <a:solidFill>
                  <a:srgbClr val="FFFFFF"/>
                </a:solidFill>
                <a:latin typeface="맑은 고딕"/>
              </a:rPr>
              <a:t>•  log file sync 3.7%는 주범이 아니다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Top 10 Events 실측</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 DB time 기준으로 읽는다</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tIns="109728"/>
          <a:lstStyle/>
          <a:p>
            <a:pPr algn="ctr">
              <a:spcBef>
                <a:spcPts val="0"/>
              </a:spcBef>
              <a:spcAft>
                <a:spcPts val="0"/>
              </a:spcAft>
            </a:pPr>
            <a:r>
              <a:rPr sz="1250">
                <a:solidFill>
                  <a:srgbClr val="F2F2F2"/>
                </a:solidFill>
                <a:latin typeface="Consolas"/>
              </a:rPr>
              <a:t>Event                 Waits  Time(s)  %DB  Class</a:t>
            </a:r>
          </a:p>
          <a:p>
            <a:pPr>
              <a:spcBef>
                <a:spcPts val="0"/>
              </a:spcBef>
              <a:spcAft>
                <a:spcPts val="0"/>
              </a:spcAft>
            </a:pPr>
            <a:r>
              <a:rPr sz="1250">
                <a:solidFill>
                  <a:srgbClr val="F2F2F2"/>
                </a:solidFill>
                <a:latin typeface="Consolas"/>
              </a:rPr>
              <a:t>-------------------- ------ -------- ---- --------</a:t>
            </a:r>
          </a:p>
          <a:p>
            <a:pPr>
              <a:spcBef>
                <a:spcPts val="0"/>
              </a:spcBef>
              <a:spcAft>
                <a:spcPts val="0"/>
              </a:spcAft>
            </a:pPr>
            <a:r>
              <a:rPr sz="1250">
                <a:solidFill>
                  <a:srgbClr val="F2F2F2"/>
                </a:solidFill>
                <a:latin typeface="Consolas"/>
              </a:rPr>
              <a:t>DB CPU                          549  95.7</a:t>
            </a:r>
          </a:p>
          <a:p>
            <a:pPr>
              <a:spcBef>
                <a:spcPts val="0"/>
              </a:spcBef>
              <a:spcAft>
                <a:spcPts val="0"/>
              </a:spcAft>
            </a:pPr>
            <a:r>
              <a:rPr sz="1250">
                <a:solidFill>
                  <a:srgbClr val="F2F2F2"/>
                </a:solidFill>
                <a:latin typeface="Consolas"/>
              </a:rPr>
              <a:t>log file sync        21,405     21.1  3.7 Commit</a:t>
            </a:r>
          </a:p>
          <a:p>
            <a:pPr>
              <a:spcBef>
                <a:spcPts val="0"/>
              </a:spcBef>
              <a:spcAft>
                <a:spcPts val="0"/>
              </a:spcAft>
            </a:pPr>
            <a:r>
              <a:rPr sz="1250">
                <a:solidFill>
                  <a:srgbClr val="F2F2F2"/>
                </a:solidFill>
                <a:latin typeface="Consolas"/>
              </a:rPr>
              <a:t>kksfbc child compl.     130      6.4  1.1 Other</a:t>
            </a:r>
          </a:p>
          <a:p>
            <a:pPr>
              <a:spcBef>
                <a:spcPts val="0"/>
              </a:spcBef>
              <a:spcAft>
                <a:spcPts val="0"/>
              </a:spcAft>
            </a:pPr>
            <a:r>
              <a:rPr sz="1250">
                <a:solidFill>
                  <a:srgbClr val="F2F2F2"/>
                </a:solidFill>
                <a:latin typeface="Consolas"/>
              </a:rPr>
              <a:t>db file sequential    1,681      3.2   .6 User I/O</a:t>
            </a:r>
          </a:p>
          <a:p>
            <a:pPr>
              <a:spcBef>
                <a:spcPts val="0"/>
              </a:spcBef>
              <a:spcAft>
                <a:spcPts val="0"/>
              </a:spcAft>
            </a:pPr>
            <a:r>
              <a:rPr sz="1250">
                <a:solidFill>
                  <a:srgbClr val="F2F2F2"/>
                </a:solidFill>
                <a:latin typeface="Consolas"/>
              </a:rPr>
              <a:t>cursor: pin S wait X    609       .9   .1 Concurr</a:t>
            </a:r>
          </a:p>
          <a:p>
            <a:pPr>
              <a:spcBef>
                <a:spcPts val="0"/>
              </a:spcBef>
              <a:spcAft>
                <a:spcPts val="0"/>
              </a:spcAft>
            </a:pPr>
            <a:r>
              <a:rPr sz="1250">
                <a:solidFill>
                  <a:srgbClr val="F2F2F2"/>
                </a:solidFill>
                <a:latin typeface="Consolas"/>
              </a:rPr>
              <a:t>library cache:mutex X   180       .4   .1 Concurr</a:t>
            </a:r>
          </a:p>
          <a:p>
            <a:pPr>
              <a:spcBef>
                <a:spcPts val="0"/>
              </a:spcBef>
              <a:spcAft>
                <a:spcPts val="0"/>
              </a:spcAft>
            </a:pPr>
            <a:r>
              <a:rPr sz="1250">
                <a:solidFill>
                  <a:srgbClr val="F2F2F2"/>
                </a:solidFill>
                <a:latin typeface="Consolas"/>
              </a:rPr>
              <a:t>latch: shared pool    3,506       .3   .1 Concurr</a:t>
            </a:r>
          </a:p>
          <a:p>
            <a:pPr>
              <a:spcBef>
                <a:spcPts val="0"/>
              </a:spcBef>
              <a:spcAft>
                <a:spcPts val="0"/>
              </a:spcAft>
            </a:pPr>
            <a:r>
              <a:rPr sz="1250">
                <a:solidFill>
                  <a:srgbClr val="F2F2F2"/>
                </a:solidFill>
                <a:latin typeface="Consolas"/>
              </a:rPr>
              <a:t>SQL*Net msg to clnt 125,937       .3   .0 Network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상위 대기 하나만 보지 않는다</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DB Time 비중과 함께 읽는 법</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DB CPU % DB time이 크면 → CPU가 병목 (SQL·논리읽기 감소)</a:t>
            </a:r>
          </a:p>
          <a:p>
            <a:pPr algn="l">
              <a:spcAft>
                <a:spcPts val="600"/>
              </a:spcAft>
            </a:pPr>
            <a:r>
              <a:rPr sz="1700" b="0">
                <a:solidFill>
                  <a:srgbClr val="222222"/>
                </a:solidFill>
                <a:latin typeface="맑은 고딕"/>
              </a:rPr>
              <a:t>•  대기는 % DB time으로 우선순위 매김 (Total sec 아님)</a:t>
            </a:r>
          </a:p>
          <a:p>
            <a:pPr algn="l">
              <a:spcAft>
                <a:spcPts val="600"/>
              </a:spcAft>
            </a:pPr>
            <a:r>
              <a:rPr sz="1700" b="0">
                <a:solidFill>
                  <a:srgbClr val="222222"/>
                </a:solidFill>
                <a:latin typeface="맑은 고딕"/>
              </a:rPr>
              <a:t>•  같은 클래스(Concurrency) 작은 대기 = 하드파싱 경합으로 묶기</a:t>
            </a:r>
          </a:p>
          <a:p>
            <a:pPr algn="l">
              <a:spcAft>
                <a:spcPts val="600"/>
              </a:spcAft>
            </a:pPr>
            <a:r>
              <a:rPr sz="1700" b="0">
                <a:solidFill>
                  <a:srgbClr val="222222"/>
                </a:solidFill>
                <a:latin typeface="맑은 고딕"/>
              </a:rPr>
              <a:t>•  Avg Wait: kksfbc 49.58ms(드물지만 길다) vs lfs 0.99ms(잦다)</a:t>
            </a:r>
          </a:p>
          <a:p>
            <a:pPr algn="l">
              <a:spcAft>
                <a:spcPts val="600"/>
              </a:spcAft>
            </a:pPr>
            <a:r>
              <a:rPr sz="1700" b="0">
                <a:solidFill>
                  <a:srgbClr val="222222"/>
                </a:solidFill>
                <a:latin typeface="맑은 고딕"/>
              </a:rPr>
              <a:t>•  처방: 잦으면 빈도↓(커밋 묶기), 길면 그 원인(경합) 제거</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대기 이벤트의 의미 — 한 방향을 가리킨다</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작은 대기들이 하드파싱으로 수렴</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kksfbc child completion: 다른 세션이 만드는 자식 커서 대기</a:t>
            </a:r>
          </a:p>
          <a:p>
            <a:pPr algn="l">
              <a:spcAft>
                <a:spcPts val="600"/>
              </a:spcAft>
            </a:pPr>
            <a:r>
              <a:rPr sz="1700" b="0">
                <a:solidFill>
                  <a:srgbClr val="222222"/>
                </a:solidFill>
                <a:latin typeface="맑은 고딕"/>
              </a:rPr>
              <a:t>•  cursor: pin S wait on X: 커서를 S로 잡으려는데 X로 바뀌는 중</a:t>
            </a:r>
          </a:p>
          <a:p>
            <a:pPr algn="l">
              <a:spcAft>
                <a:spcPts val="600"/>
              </a:spcAft>
            </a:pPr>
            <a:r>
              <a:rPr sz="1700" b="0">
                <a:solidFill>
                  <a:srgbClr val="222222"/>
                </a:solidFill>
                <a:latin typeface="맑은 고딕"/>
              </a:rPr>
              <a:t>•  library cache: mutex X / latch: shared pool: 공유 풀 직렬화 경합</a:t>
            </a:r>
          </a:p>
          <a:p>
            <a:pPr algn="l">
              <a:spcAft>
                <a:spcPts val="600"/>
              </a:spcAft>
            </a:pPr>
            <a:r>
              <a:rPr sz="1700" b="0">
                <a:solidFill>
                  <a:srgbClr val="222222"/>
                </a:solidFill>
                <a:latin typeface="맑은 고딕"/>
              </a:rPr>
              <a:t>•  네 대기 모두 Concurrency/Other → 공유 풀 커서 경합</a:t>
            </a:r>
          </a:p>
          <a:p>
            <a:pPr algn="l">
              <a:spcAft>
                <a:spcPts val="600"/>
              </a:spcAft>
            </a:pPr>
            <a:r>
              <a:rPr sz="1700" b="0">
                <a:solidFill>
                  <a:srgbClr val="222222"/>
                </a:solidFill>
                <a:latin typeface="맑은 고딕"/>
              </a:rPr>
              <a:t>•  근본 원인 = 초당 319번의 하드 파싱(Load Profile과 일치)</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8.6</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Instance Efficiency</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'Target 100%'를 믿지 않는다</a:t>
            </a:r>
          </a:p>
          <a:p>
            <a:pPr algn="l">
              <a:spcAft>
                <a:spcPts val="400"/>
              </a:spcAft>
            </a:pPr>
            <a:r>
              <a:rPr sz="1600" b="0">
                <a:solidFill>
                  <a:srgbClr val="FFFFFF"/>
                </a:solidFill>
                <a:latin typeface="맑은 고딕"/>
              </a:rPr>
              <a:t>•  Buffer Hit 100% = 함정일 수 있다</a:t>
            </a:r>
          </a:p>
          <a:p>
            <a:pPr algn="l">
              <a:spcAft>
                <a:spcPts val="400"/>
              </a:spcAft>
            </a:pPr>
            <a:r>
              <a:rPr sz="1600" b="0">
                <a:solidFill>
                  <a:srgbClr val="FFFFFF"/>
                </a:solidFill>
                <a:latin typeface="맑은 고딕"/>
              </a:rPr>
              <a:t>•  낮은 값(Soft Parse·Library Hit)이 단서</a:t>
            </a:r>
          </a:p>
          <a:p>
            <a:pPr algn="l">
              <a:spcAft>
                <a:spcPts val="400"/>
              </a:spcAft>
            </a:pPr>
            <a:r>
              <a:rPr sz="1600" b="0">
                <a:solidFill>
                  <a:srgbClr val="FFFFFF"/>
                </a:solidFill>
                <a:latin typeface="맑은 고딕"/>
              </a:rPr>
              <a:t>•  단독 판정 금지 — 교차 검증</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Instance Efficiency 실측</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낮은 값이 진단의 단서다</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tIns="109728"/>
          <a:lstStyle/>
          <a:p>
            <a:pPr algn="ctr">
              <a:spcBef>
                <a:spcPts val="0"/>
              </a:spcBef>
              <a:spcAft>
                <a:spcPts val="0"/>
              </a:spcAft>
            </a:pPr>
            <a:r>
              <a:rPr sz="1250">
                <a:solidFill>
                  <a:srgbClr val="F2F2F2"/>
                </a:solidFill>
                <a:latin typeface="Consolas"/>
              </a:rPr>
              <a:t>Instance Efficiency (Target 100%)</a:t>
            </a:r>
          </a:p>
          <a:p>
            <a:pPr>
              <a:spcBef>
                <a:spcPts val="0"/>
              </a:spcBef>
              <a:spcAft>
                <a:spcPts val="0"/>
              </a:spcAft>
            </a:pPr>
            <a:r>
              <a:rPr sz="1250">
                <a:solidFill>
                  <a:srgbClr val="F2F2F2"/>
                </a:solidFill>
                <a:latin typeface="Consolas"/>
              </a:rPr>
              <a:t>~~~~~~~~~~~~~~~~~~~~~~~~~~~~~~~~~~~</a:t>
            </a:r>
          </a:p>
          <a:p>
            <a:pPr>
              <a:spcBef>
                <a:spcPts val="0"/>
              </a:spcBef>
              <a:spcAft>
                <a:spcPts val="0"/>
              </a:spcAft>
            </a:pPr>
            <a:r>
              <a:rPr sz="1250">
                <a:solidFill>
                  <a:srgbClr val="F2F2F2"/>
                </a:solidFill>
                <a:latin typeface="Consolas"/>
              </a:rPr>
              <a:t>   Buffer Nowait %: 100.00  Redo NoWait %: 100.00</a:t>
            </a:r>
          </a:p>
          <a:p>
            <a:pPr>
              <a:spcBef>
                <a:spcPts val="0"/>
              </a:spcBef>
              <a:spcAft>
                <a:spcPts val="0"/>
              </a:spcAft>
            </a:pPr>
            <a:r>
              <a:rPr sz="1250">
                <a:solidFill>
                  <a:srgbClr val="F2F2F2"/>
                </a:solidFill>
                <a:latin typeface="Consolas"/>
              </a:rPr>
              <a:t>   Buffer  Hit   %: 100.00  In-mem Sort  %: 100.00</a:t>
            </a:r>
          </a:p>
          <a:p>
            <a:pPr>
              <a:spcBef>
                <a:spcPts val="0"/>
              </a:spcBef>
              <a:spcAft>
                <a:spcPts val="0"/>
              </a:spcAft>
            </a:pPr>
            <a:r>
              <a:rPr sz="1250">
                <a:solidFill>
                  <a:srgbClr val="F2F2F2"/>
                </a:solidFill>
                <a:latin typeface="Consolas"/>
              </a:rPr>
              <a:t>   Library Hit   %:  59.36  Soft Parse   %:  26.46</a:t>
            </a:r>
          </a:p>
          <a:p>
            <a:pPr>
              <a:spcBef>
                <a:spcPts val="0"/>
              </a:spcBef>
              <a:spcAft>
                <a:spcPts val="0"/>
              </a:spcAft>
            </a:pPr>
            <a:r>
              <a:rPr sz="1250">
                <a:solidFill>
                  <a:srgbClr val="F2F2F2"/>
                </a:solidFill>
                <a:latin typeface="Consolas"/>
              </a:rPr>
              <a:t>Execute to Parse %:  36.72  Latch Hit    %:  99.93</a:t>
            </a:r>
          </a:p>
          <a:p>
            <a:pPr>
              <a:spcBef>
                <a:spcPts val="0"/>
              </a:spcBef>
              <a:spcAft>
                <a:spcPts val="0"/>
              </a:spcAft>
            </a:pPr>
            <a:r>
              <a:rPr sz="1250">
                <a:solidFill>
                  <a:srgbClr val="F2F2F2"/>
                </a:solidFill>
                <a:latin typeface="Consolas"/>
              </a:rPr>
              <a:t>Parse CPU/Elapsd %:  37.71  %Non-Parse CPU: 96.68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히트율의 함정과 낮은 값의 단서</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비율은 단독으로 좋고 나쁨을 결정하지 않는다</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Buffer Hit 100% → 과도한 논리읽기를 오히려 은폐 (17장 심화)</a:t>
            </a:r>
          </a:p>
          <a:p>
            <a:pPr algn="l">
              <a:spcAft>
                <a:spcPts val="600"/>
              </a:spcAft>
            </a:pPr>
            <a:r>
              <a:rPr sz="1700" b="0">
                <a:solidFill>
                  <a:srgbClr val="222222"/>
                </a:solidFill>
                <a:latin typeface="맑은 고딕"/>
              </a:rPr>
              <a:t>•  Soft Parse 26% → 하드 파싱 74% = 리터럴 신호(핵심)</a:t>
            </a:r>
          </a:p>
          <a:p>
            <a:pPr algn="l">
              <a:spcAft>
                <a:spcPts val="600"/>
              </a:spcAft>
            </a:pPr>
            <a:r>
              <a:rPr sz="1700" b="0">
                <a:solidFill>
                  <a:srgbClr val="222222"/>
                </a:solidFill>
                <a:latin typeface="맑은 고딕"/>
              </a:rPr>
              <a:t>•  Library Hit 59% → 커서 재사용 실패, 공유 풀 경합 유발</a:t>
            </a:r>
          </a:p>
          <a:p>
            <a:pPr algn="l">
              <a:spcAft>
                <a:spcPts val="600"/>
              </a:spcAft>
            </a:pPr>
            <a:r>
              <a:rPr sz="1700" b="0">
                <a:solidFill>
                  <a:srgbClr val="222222"/>
                </a:solidFill>
                <a:latin typeface="맑은 고딕"/>
              </a:rPr>
              <a:t>•  Execute to Parse 37% → 커서를 몇 번 못 쓰고 버림</a:t>
            </a:r>
          </a:p>
          <a:p>
            <a:pPr algn="l">
              <a:spcAft>
                <a:spcPts val="600"/>
              </a:spcAft>
            </a:pPr>
            <a:r>
              <a:rPr sz="1700" b="0">
                <a:solidFill>
                  <a:srgbClr val="222222"/>
                </a:solidFill>
                <a:latin typeface="맑은 고딕"/>
              </a:rPr>
              <a:t>•  Nowait·Latch·Redo 100%는 '그 자원이 병목 아님'일 뿐</a:t>
            </a:r>
          </a:p>
          <a:p>
            <a:pPr algn="l">
              <a:spcAft>
                <a:spcPts val="600"/>
              </a:spcAft>
            </a:pPr>
            <a:r>
              <a:rPr sz="1700" b="0">
                <a:solidFill>
                  <a:srgbClr val="222222"/>
                </a:solidFill>
                <a:latin typeface="맑은 고딕"/>
              </a:rPr>
              <a:t>•  → Load Profile·Top Events와 교차 검증</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8.7</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SQL 정렬 섹션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무엇이(CPU·파싱) → 누가(어느 SQL)로 좁힌다</a:t>
            </a:r>
          </a:p>
          <a:p>
            <a:pPr algn="l">
              <a:spcAft>
                <a:spcPts val="400"/>
              </a:spcAft>
            </a:pPr>
            <a:r>
              <a:rPr sz="1600" b="0">
                <a:solidFill>
                  <a:srgbClr val="FFFFFF"/>
                </a:solidFill>
                <a:latin typeface="맑은 고딕"/>
              </a:rPr>
              <a:t>•  진단 가설에 맞는 정렬 기준 선택</a:t>
            </a:r>
          </a:p>
          <a:p>
            <a:pPr algn="l">
              <a:spcAft>
                <a:spcPts val="400"/>
              </a:spcAft>
            </a:pPr>
            <a:r>
              <a:rPr sz="1600" b="0">
                <a:solidFill>
                  <a:srgbClr val="FFFFFF"/>
                </a:solidFill>
                <a:latin typeface="맑은 고딕"/>
              </a:rPr>
              <a:t>•  이 구간: Elapsed Time + Gets</a:t>
            </a:r>
          </a:p>
          <a:p>
            <a:pPr algn="l">
              <a:spcAft>
                <a:spcPts val="400"/>
              </a:spcAft>
            </a:pPr>
            <a:r>
              <a:rPr sz="1600" b="0">
                <a:solidFill>
                  <a:srgbClr val="FFFFFF"/>
                </a:solidFill>
                <a:latin typeface="맑은 고딕"/>
              </a:rPr>
              <a:t>•  결론은 인스턴스 층위까지, 재작성은 SQL 튜닝으로</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SQL ordered by Elapsed / Gets</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같은 SQL이 두 정렬 모두 1위</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tIns="109728"/>
          <a:lstStyle/>
          <a:p>
            <a:pPr algn="ctr">
              <a:spcBef>
                <a:spcPts val="0"/>
              </a:spcBef>
              <a:spcAft>
                <a:spcPts val="0"/>
              </a:spcAft>
            </a:pPr>
            <a:r>
              <a:rPr sz="1250">
                <a:solidFill>
                  <a:srgbClr val="F2F2F2"/>
                </a:solidFill>
                <a:latin typeface="Consolas"/>
              </a:rPr>
              <a:t>SQL ordered by Elapsed Time</a:t>
            </a:r>
          </a:p>
          <a:p>
            <a:pPr>
              <a:spcBef>
                <a:spcPts val="0"/>
              </a:spcBef>
              <a:spcAft>
                <a:spcPts val="0"/>
              </a:spcAft>
            </a:pPr>
            <a:r>
              <a:rPr sz="1250">
                <a:solidFill>
                  <a:srgbClr val="F2F2F2"/>
                </a:solidFill>
                <a:latin typeface="Consolas"/>
              </a:rPr>
              <a:t>  Elapsed  Exec  /Exec %Total %CPU  SQL Id</a:t>
            </a:r>
          </a:p>
          <a:p>
            <a:pPr>
              <a:spcBef>
                <a:spcPts val="0"/>
              </a:spcBef>
              <a:spcAft>
                <a:spcPts val="0"/>
              </a:spcAft>
            </a:pPr>
            <a:r>
              <a:rPr sz="1250">
                <a:solidFill>
                  <a:srgbClr val="F2F2F2"/>
                </a:solidFill>
                <a:latin typeface="Consolas"/>
              </a:rPr>
              <a:t>  ------- ----- ----- ------ ---- -------------</a:t>
            </a:r>
          </a:p>
          <a:p>
            <a:pPr>
              <a:spcBef>
                <a:spcPts val="0"/>
              </a:spcBef>
              <a:spcAft>
                <a:spcPts val="0"/>
              </a:spcAft>
            </a:pPr>
            <a:r>
              <a:rPr sz="1250">
                <a:solidFill>
                  <a:srgbClr val="F2F2F2"/>
                </a:solidFill>
                <a:latin typeface="Consolas"/>
              </a:rPr>
              <a:t>    190.6 5,912  0.03   33.2 95.8 9vmszgd1ft9x0</a:t>
            </a:r>
          </a:p>
          <a:p>
            <a:pPr>
              <a:spcBef>
                <a:spcPts val="0"/>
              </a:spcBef>
              <a:spcAft>
                <a:spcPts val="0"/>
              </a:spcAft>
            </a:pPr>
            <a:r>
              <a:rPr sz="1250">
                <a:solidFill>
                  <a:srgbClr val="F2F2F2"/>
                </a:solidFill>
                <a:latin typeface="Consolas"/>
              </a:rPr>
              <a:t>  Module: python ...</a:t>
            </a:r>
          </a:p>
          <a:p>
            <a:pPr>
              <a:spcBef>
                <a:spcPts val="0"/>
              </a:spcBef>
              <a:spcAft>
                <a:spcPts val="0"/>
              </a:spcAft>
            </a:pPr>
            <a:r>
              <a:rPr sz="1250">
                <a:solidFill>
                  <a:srgbClr val="F2F2F2"/>
                </a:solidFill>
                <a:latin typeface="Consolas"/>
              </a:rPr>
              <a:t> </a:t>
            </a:r>
          </a:p>
          <a:p>
            <a:pPr>
              <a:spcBef>
                <a:spcPts val="0"/>
              </a:spcBef>
              <a:spcAft>
                <a:spcPts val="0"/>
              </a:spcAft>
            </a:pPr>
            <a:r>
              <a:rPr sz="1250">
                <a:solidFill>
                  <a:srgbClr val="F2F2F2"/>
                </a:solidFill>
                <a:latin typeface="Consolas"/>
              </a:rPr>
              <a:t>SQL ordered by Gets  (Total Gets: 122,836,337)</a:t>
            </a:r>
          </a:p>
          <a:p>
            <a:pPr>
              <a:spcBef>
                <a:spcPts val="0"/>
              </a:spcBef>
              <a:spcAft>
                <a:spcPts val="0"/>
              </a:spcAft>
            </a:pPr>
            <a:r>
              <a:rPr sz="1250">
                <a:solidFill>
                  <a:srgbClr val="F2F2F2"/>
                </a:solidFill>
                <a:latin typeface="Consolas"/>
              </a:rPr>
              <a:t>     Gets   Exec   /Exec %Total %CPU  SQL Id</a:t>
            </a:r>
          </a:p>
          <a:p>
            <a:pPr>
              <a:spcBef>
                <a:spcPts val="0"/>
              </a:spcBef>
              <a:spcAft>
                <a:spcPts val="0"/>
              </a:spcAft>
            </a:pPr>
            <a:r>
              <a:rPr sz="1250">
                <a:solidFill>
                  <a:srgbClr val="F2F2F2"/>
                </a:solidFill>
                <a:latin typeface="Consolas"/>
              </a:rPr>
              <a:t>  --------- ----- ------- ----- ---- -------------</a:t>
            </a:r>
          </a:p>
          <a:p>
            <a:pPr>
              <a:spcBef>
                <a:spcPts val="0"/>
              </a:spcBef>
              <a:spcAft>
                <a:spcPts val="0"/>
              </a:spcAft>
            </a:pPr>
            <a:r>
              <a:rPr sz="1250">
                <a:solidFill>
                  <a:srgbClr val="F2F2F2"/>
                </a:solidFill>
                <a:latin typeface="Consolas"/>
              </a:rPr>
              <a:t>  39,149,973 5,912 6,622  31.9 95.8 9vmszgd1ft9x0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정렬 기준을 진단에 맞춰 고른다</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아무 정렬의 1위나 지목하지 않는다</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CPU·논리읽기 문제 → Elapsed Time, Gets</a:t>
            </a:r>
          </a:p>
          <a:p>
            <a:pPr algn="l">
              <a:spcAft>
                <a:spcPts val="600"/>
              </a:spcAft>
            </a:pPr>
            <a:r>
              <a:rPr sz="1700" b="0">
                <a:solidFill>
                  <a:srgbClr val="222222"/>
                </a:solidFill>
                <a:latin typeface="맑은 고딕"/>
              </a:rPr>
              <a:t>•  디스크 문제 → Reads (이 구간은 물리읽기 낮아 우선순위↓)</a:t>
            </a:r>
          </a:p>
          <a:p>
            <a:pPr algn="l">
              <a:spcAft>
                <a:spcPts val="600"/>
              </a:spcAft>
            </a:pPr>
            <a:r>
              <a:rPr sz="1700" b="0">
                <a:solidFill>
                  <a:srgbClr val="222222"/>
                </a:solidFill>
                <a:latin typeface="맑은 고딕"/>
              </a:rPr>
              <a:t>•  파싱 문제 → Parse Calls (리터럴 SQL 직접 지목)</a:t>
            </a:r>
          </a:p>
          <a:p>
            <a:pPr algn="l">
              <a:spcAft>
                <a:spcPts val="600"/>
              </a:spcAft>
            </a:pPr>
            <a:r>
              <a:rPr sz="1700" b="0">
                <a:solidFill>
                  <a:srgbClr val="222222"/>
                </a:solidFill>
                <a:latin typeface="맑은 고딕"/>
              </a:rPr>
              <a:t>•  너무 자주 도는 SQL → Executions</a:t>
            </a:r>
          </a:p>
          <a:p>
            <a:pPr algn="l">
              <a:spcAft>
                <a:spcPts val="600"/>
              </a:spcAft>
            </a:pPr>
            <a:r>
              <a:rPr sz="1700" b="0">
                <a:solidFill>
                  <a:srgbClr val="222222"/>
                </a:solidFill>
                <a:latin typeface="맑은 고딕"/>
              </a:rPr>
              <a:t>•  Captured SQL 34.6%뿐 → 리터럴이 조각나 순위 밖에 흩어짐</a:t>
            </a:r>
          </a:p>
          <a:p>
            <a:pPr algn="l">
              <a:spcAft>
                <a:spcPts val="600"/>
              </a:spcAft>
            </a:pPr>
            <a:r>
              <a:rPr sz="1700" b="0">
                <a:solidFill>
                  <a:srgbClr val="222222"/>
                </a:solidFill>
                <a:latin typeface="맑은 고딕"/>
              </a:rPr>
              <a:t>•  두 정렬이 같은 SQL을 가리키면 진단 신뢰도↑</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Instance Activity Stats — 확증과 반증</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여기서 새 이론을 세우지 않는다</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parse count (hard) 델타 ≈ 319/s×100초 → 하드파싱 확증</a:t>
            </a:r>
          </a:p>
          <a:p>
            <a:pPr algn="l">
              <a:spcAft>
                <a:spcPts val="600"/>
              </a:spcAft>
            </a:pPr>
            <a:r>
              <a:rPr sz="1700" b="0">
                <a:solidFill>
                  <a:srgbClr val="222222"/>
                </a:solidFill>
                <a:latin typeface="맑은 고딕"/>
              </a:rPr>
              <a:t>•  session logical reads ≈ Total Gets 1억2천만 → 논리읽기 확증</a:t>
            </a:r>
          </a:p>
          <a:p>
            <a:pPr algn="l">
              <a:spcAft>
                <a:spcPts val="600"/>
              </a:spcAft>
            </a:pPr>
            <a:r>
              <a:rPr sz="1700" b="0">
                <a:solidFill>
                  <a:srgbClr val="222222"/>
                </a:solidFill>
                <a:latin typeface="맑은 고딕"/>
              </a:rPr>
              <a:t>•  table scans (long) 크면 → 인덱스 못 타는 대량 스캔 확증</a:t>
            </a:r>
          </a:p>
          <a:p>
            <a:pPr algn="l">
              <a:spcAft>
                <a:spcPts val="600"/>
              </a:spcAft>
            </a:pPr>
            <a:r>
              <a:rPr sz="1700" b="0">
                <a:solidFill>
                  <a:srgbClr val="222222"/>
                </a:solidFill>
                <a:latin typeface="맑은 고딕"/>
              </a:rPr>
              <a:t>•  session cursor cache hits 낮음 → 커서 재사용 실패 확증</a:t>
            </a:r>
          </a:p>
          <a:p>
            <a:pPr algn="l">
              <a:spcAft>
                <a:spcPts val="600"/>
              </a:spcAft>
            </a:pPr>
            <a:r>
              <a:rPr sz="1700" b="0">
                <a:solidFill>
                  <a:srgbClr val="222222"/>
                </a:solidFill>
                <a:latin typeface="맑은 고딕"/>
              </a:rPr>
              <a:t>•  physical reads direct·sorts(disk) 크면 → CPU바운드 가설 수정</a:t>
            </a:r>
          </a:p>
          <a:p>
            <a:pPr algn="l">
              <a:spcAft>
                <a:spcPts val="600"/>
              </a:spcAft>
            </a:pPr>
            <a:r>
              <a:rPr sz="1700" b="0">
                <a:solidFill>
                  <a:srgbClr val="222222"/>
                </a:solidFill>
                <a:latin typeface="맑은 고딕"/>
              </a:rPr>
              <a:t>•  확증만 찾지 말고 반증 통계도 함께 본다(확증 편향 경계)</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8.9</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Advisory 섹션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메모리 크기 변경의 예상 효과를 정량화</a:t>
            </a:r>
          </a:p>
          <a:p>
            <a:pPr algn="l">
              <a:spcAft>
                <a:spcPts val="400"/>
              </a:spcAft>
            </a:pPr>
            <a:r>
              <a:rPr sz="1600" b="0">
                <a:solidFill>
                  <a:srgbClr val="FFFFFF"/>
                </a:solidFill>
                <a:latin typeface="맑은 고딕"/>
              </a:rPr>
              <a:t>•  버퍼 캐시: 물리읽기 낮으면 확대 무효</a:t>
            </a:r>
          </a:p>
          <a:p>
            <a:pPr algn="l">
              <a:spcAft>
                <a:spcPts val="400"/>
              </a:spcAft>
            </a:pPr>
            <a:r>
              <a:rPr sz="1600" b="0">
                <a:solidFill>
                  <a:srgbClr val="FFFFFF"/>
                </a:solidFill>
                <a:latin typeface="맑은 고딕"/>
              </a:rPr>
              <a:t>•  공유 풀: 확대는 증상 완화, 바인드가 원인 제거</a:t>
            </a:r>
          </a:p>
          <a:p>
            <a:pPr algn="l">
              <a:spcAft>
                <a:spcPts val="400"/>
              </a:spcAft>
            </a:pPr>
            <a:r>
              <a:rPr sz="1600" b="0">
                <a:solidFill>
                  <a:srgbClr val="FFFFFF"/>
                </a:solidFill>
                <a:latin typeface="맑은 고딕"/>
              </a:rPr>
              <a:t>•  Advisory는 방향이지 명령이 아니다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Advisory 판독 — 늘려서 될 문제인가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기울기가 꺾이는 지점을 찾는다</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Buffer Pool: 물리읽기 48.8/s → 캐시 2배도 효과 ≈ 0</a:t>
            </a:r>
          </a:p>
          <a:p>
            <a:pPr algn="l">
              <a:spcAft>
                <a:spcPts val="600"/>
              </a:spcAft>
            </a:pPr>
            <a:r>
              <a:rPr sz="1700" b="0">
                <a:solidFill>
                  <a:srgbClr val="222222"/>
                </a:solidFill>
                <a:latin typeface="맑은 고딕"/>
              </a:rPr>
              <a:t>•  Shared Pool: 하드파싱엔 유효하나 근본은 바인드 변수</a:t>
            </a:r>
          </a:p>
          <a:p>
            <a:pPr algn="l">
              <a:spcAft>
                <a:spcPts val="600"/>
              </a:spcAft>
            </a:pPr>
            <a:r>
              <a:rPr sz="1700" b="0">
                <a:solidFill>
                  <a:srgbClr val="222222"/>
                </a:solidFill>
                <a:latin typeface="맑은 고딕"/>
              </a:rPr>
              <a:t>•  PGA: SQL Work Area 102MB → multi-pass 있으면 확대 여지(19장)</a:t>
            </a:r>
          </a:p>
          <a:p>
            <a:pPr algn="l">
              <a:spcAft>
                <a:spcPts val="600"/>
              </a:spcAft>
            </a:pPr>
            <a:r>
              <a:rPr sz="1700" b="0">
                <a:solidFill>
                  <a:srgbClr val="222222"/>
                </a:solidFill>
                <a:latin typeface="맑은 고딕"/>
              </a:rPr>
              <a:t>•  각 표에서 효과가 평평해지는 지점 이상은 메모리 낭비</a:t>
            </a:r>
          </a:p>
          <a:p>
            <a:pPr algn="l">
              <a:spcAft>
                <a:spcPts val="600"/>
              </a:spcAft>
            </a:pPr>
            <a:r>
              <a:rPr sz="1700" b="0">
                <a:solidFill>
                  <a:srgbClr val="222222"/>
                </a:solidFill>
                <a:latin typeface="맑은 고딕"/>
              </a:rPr>
              <a:t>•  종합: '메모리 늘려 해결할 문제가 아니다'를 숫자로 증명</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판독 체크리스트 — 위에서 아래로</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각 단계가 앞 단계 가설을 이어받아 좁힌다</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1. 머리말 — AAS로 부하 유무 (실측 5.7, 부하 있음)</a:t>
            </a:r>
          </a:p>
          <a:p>
            <a:pPr algn="l">
              <a:spcAft>
                <a:spcPts val="600"/>
              </a:spcAft>
            </a:pPr>
            <a:r>
              <a:rPr sz="1700" b="0">
                <a:solidFill>
                  <a:srgbClr val="222222"/>
                </a:solidFill>
                <a:latin typeface="맑은 고딕"/>
              </a:rPr>
              <a:t>•  2. Load Profile — CPU 바운드? (DB CPU≈DB Time)</a:t>
            </a:r>
          </a:p>
          <a:p>
            <a:pPr algn="l">
              <a:spcAft>
                <a:spcPts val="600"/>
              </a:spcAft>
            </a:pPr>
            <a:r>
              <a:rPr sz="1700" b="0">
                <a:solidFill>
                  <a:srgbClr val="222222"/>
                </a:solidFill>
                <a:latin typeface="맑은 고딕"/>
              </a:rPr>
              <a:t>•  3. Load Profile — 논리읽기·하드파싱 비정상? (둘 다)</a:t>
            </a:r>
          </a:p>
          <a:p>
            <a:pPr algn="l">
              <a:spcAft>
                <a:spcPts val="600"/>
              </a:spcAft>
            </a:pPr>
            <a:r>
              <a:rPr sz="1700" b="0">
                <a:solidFill>
                  <a:srgbClr val="222222"/>
                </a:solidFill>
                <a:latin typeface="맑은 고딕"/>
              </a:rPr>
              <a:t>•  4. Top 10 Events — % DB time 1위? (DB CPU 95.7%)</a:t>
            </a:r>
          </a:p>
          <a:p>
            <a:pPr algn="l">
              <a:spcAft>
                <a:spcPts val="600"/>
              </a:spcAft>
            </a:pPr>
            <a:r>
              <a:rPr sz="1700" b="0">
                <a:solidFill>
                  <a:srgbClr val="222222"/>
                </a:solidFill>
                <a:latin typeface="맑은 고딕"/>
              </a:rPr>
              <a:t>•  5. Instance Eff. — 낮은 값? (Soft Parse 26% 리터럴)</a:t>
            </a:r>
          </a:p>
          <a:p>
            <a:pPr algn="l">
              <a:spcAft>
                <a:spcPts val="600"/>
              </a:spcAft>
            </a:pPr>
            <a:r>
              <a:rPr sz="1700" b="0">
                <a:solidFill>
                  <a:srgbClr val="222222"/>
                </a:solidFill>
                <a:latin typeface="맑은 고딕"/>
              </a:rPr>
              <a:t>•  6. SQL 섹션 — 어느 SQL? (9vmszgd1ft9x0)</a:t>
            </a:r>
          </a:p>
          <a:p>
            <a:pPr algn="l">
              <a:spcAft>
                <a:spcPts val="600"/>
              </a:spcAft>
            </a:pPr>
            <a:r>
              <a:rPr sz="1700" b="0">
                <a:solidFill>
                  <a:srgbClr val="222222"/>
                </a:solidFill>
                <a:latin typeface="맑은 고딕"/>
              </a:rPr>
              <a:t>•  7. Advisory — 메모리 효과? (버퍼 무효, 원인은 SQL)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부하 없는 구간 판정</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'문제 없음'도 근거와 함께</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AAS = DB Time/Elapsed ≪ 1 → 진단할 부하 자체가 없음</a:t>
            </a:r>
          </a:p>
          <a:p>
            <a:pPr algn="l">
              <a:spcAft>
                <a:spcPts val="600"/>
              </a:spcAft>
            </a:pPr>
            <a:r>
              <a:rPr sz="1700" b="0">
                <a:solidFill>
                  <a:srgbClr val="222222"/>
                </a:solidFill>
                <a:latin typeface="맑은 고딕"/>
              </a:rPr>
              <a:t>•  보고서는 유휴 구간에도 Top 10을 채워서 낸다(순위는 상대적)</a:t>
            </a:r>
          </a:p>
          <a:p>
            <a:pPr algn="l">
              <a:spcAft>
                <a:spcPts val="600"/>
              </a:spcAft>
            </a:pPr>
            <a:r>
              <a:rPr sz="1700" b="0">
                <a:solidFill>
                  <a:srgbClr val="222222"/>
                </a:solidFill>
                <a:latin typeface="맑은 고딕"/>
              </a:rPr>
              <a:t>•  Idle 이벤트(SQL*Net msg from client)를 병목으로 오판 금지</a:t>
            </a:r>
          </a:p>
          <a:p>
            <a:pPr algn="l">
              <a:spcAft>
                <a:spcPts val="600"/>
              </a:spcAft>
            </a:pPr>
            <a:r>
              <a:rPr sz="1700" b="0">
                <a:solidFill>
                  <a:srgbClr val="222222"/>
                </a:solidFill>
                <a:latin typeface="맑은 고딕"/>
              </a:rPr>
              <a:t>•  머리말에서 부하 유무를 먼저 확인 후 Top Events를 읽는다</a:t>
            </a:r>
          </a:p>
          <a:p>
            <a:pPr algn="l">
              <a:spcAft>
                <a:spcPts val="600"/>
              </a:spcAft>
            </a:pPr>
            <a:r>
              <a:rPr sz="1700" b="0">
                <a:solidFill>
                  <a:srgbClr val="222222"/>
                </a:solidFill>
                <a:latin typeface="맑은 고딕"/>
              </a:rPr>
              <a:t>•  신고 시각 AAS 0.1이면 병목은 DB 밖 → 20장으로 연결</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라이선스와 대안 — 🔒 Diagnostics Pack</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없는 길도 이 과정은 가르친다</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AWR·ADDM·ASH·DBA_HIST_*·awrrpt.sql = Diagnostics Pack 필요</a:t>
            </a:r>
          </a:p>
          <a:p>
            <a:pPr algn="l">
              <a:spcAft>
                <a:spcPts val="600"/>
              </a:spcAft>
            </a:pPr>
            <a:r>
              <a:rPr sz="1700" b="0">
                <a:solidFill>
                  <a:srgbClr val="222222"/>
                </a:solidFill>
                <a:latin typeface="맑은 고딕"/>
              </a:rPr>
              <a:t>•  CONTROL_MANAGEMENT_PACK_ACCESS ≥ DIAGNOSTIC 이어야 동작</a:t>
            </a:r>
          </a:p>
          <a:p>
            <a:pPr algn="l">
              <a:spcAft>
                <a:spcPts val="600"/>
              </a:spcAft>
            </a:pPr>
            <a:r>
              <a:rPr sz="1700" b="0">
                <a:solidFill>
                  <a:srgbClr val="222222"/>
                </a:solidFill>
                <a:latin typeface="맑은 고딕"/>
              </a:rPr>
              <a:t>•  대안 1) Statspack: spcreate → SNAP → spreport (무료)</a:t>
            </a:r>
          </a:p>
          <a:p>
            <a:pPr algn="l">
              <a:spcAft>
                <a:spcPts val="600"/>
              </a:spcAft>
            </a:pPr>
            <a:r>
              <a:rPr sz="1700" b="0">
                <a:solidFill>
                  <a:srgbClr val="222222"/>
                </a:solidFill>
                <a:latin typeface="맑은 고딕"/>
              </a:rPr>
              <a:t>•  대안 2) V$ 직접 조회: V$SYSSTAT·V$SYSTEM_EVENT·V$SQL 델타</a:t>
            </a:r>
          </a:p>
          <a:p>
            <a:pPr algn="l">
              <a:spcAft>
                <a:spcPts val="600"/>
              </a:spcAft>
            </a:pPr>
            <a:r>
              <a:rPr sz="1700" b="0">
                <a:solidFill>
                  <a:srgbClr val="222222"/>
                </a:solidFill>
                <a:latin typeface="맑은 고딕"/>
              </a:rPr>
              <a:t>•  판독 기술 자체는 도구와 무관 — 표 이름만 다를 뿐</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같은 부하를 AWR·ADDM·ASH가 각자 보여준다</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확대 배율이 다른 세 렌즈</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AWR(8장): DB CPU 95.7%, 하드파싱 319/s, 논리읽기 1위 SQL</a:t>
            </a:r>
          </a:p>
          <a:p>
            <a:pPr algn="l">
              <a:spcAft>
                <a:spcPts val="600"/>
              </a:spcAft>
            </a:pPr>
            <a:r>
              <a:rPr sz="1700" b="0">
                <a:solidFill>
                  <a:srgbClr val="222222"/>
                </a:solidFill>
                <a:latin typeface="맑은 고딕"/>
              </a:rPr>
              <a:t>•  ADDM(9장): 'Hard Parse Due to Literal Usage' 자동 진단</a:t>
            </a:r>
          </a:p>
          <a:p>
            <a:pPr algn="l">
              <a:spcAft>
                <a:spcPts val="600"/>
              </a:spcAft>
            </a:pPr>
            <a:r>
              <a:rPr sz="1700" b="0">
                <a:solidFill>
                  <a:srgbClr val="222222"/>
                </a:solidFill>
                <a:latin typeface="맑은 고딕"/>
              </a:rPr>
              <a:t>•  ASH(10장): ON CPU 90.7% — 활성 세션이 대부분 CPU에</a:t>
            </a:r>
          </a:p>
          <a:p>
            <a:pPr algn="l">
              <a:spcAft>
                <a:spcPts val="600"/>
              </a:spcAft>
            </a:pPr>
            <a:r>
              <a:rPr sz="1700" b="0">
                <a:solidFill>
                  <a:srgbClr val="222222"/>
                </a:solidFill>
                <a:latin typeface="맑은 고딕"/>
              </a:rPr>
              <a:t>•  AWR=구간 평균 → ADDM=자동 해석 → ASH=순간 확대</a:t>
            </a:r>
          </a:p>
          <a:p>
            <a:pPr algn="l">
              <a:spcAft>
                <a:spcPts val="600"/>
              </a:spcAft>
            </a:pPr>
            <a:r>
              <a:rPr sz="1700" b="0">
                <a:solidFill>
                  <a:srgbClr val="222222"/>
                </a:solidFill>
                <a:latin typeface="맑은 고딕"/>
              </a:rPr>
              <a:t>•  세 결론이 수렴하면 신뢰도↑ (교차 검증)</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실측 구간 한눈에 — 하나의 원인으로 수렴</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서로 다른 섹션의 숫자가 한 곳을 가리킨다</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머리말: AAS 5.7 → 여러 세션이 동시에 경쟁한 실제 부하</a:t>
            </a:r>
          </a:p>
          <a:p>
            <a:pPr algn="l">
              <a:spcAft>
                <a:spcPts val="600"/>
              </a:spcAft>
            </a:pPr>
            <a:r>
              <a:rPr sz="1700" b="0">
                <a:solidFill>
                  <a:srgbClr val="222222"/>
                </a:solidFill>
                <a:latin typeface="맑은 고딕"/>
              </a:rPr>
              <a:t>•  Load Profile: DB CPU≈DB Time + 하드파싱 319/s</a:t>
            </a:r>
          </a:p>
          <a:p>
            <a:pPr algn="l">
              <a:spcAft>
                <a:spcPts val="600"/>
              </a:spcAft>
            </a:pPr>
            <a:r>
              <a:rPr sz="1700" b="0">
                <a:solidFill>
                  <a:srgbClr val="222222"/>
                </a:solidFill>
                <a:latin typeface="맑은 고딕"/>
              </a:rPr>
              <a:t>•  Top Events: DB CPU 95.7%, 나머지는 공유 풀 경합</a:t>
            </a:r>
          </a:p>
          <a:p>
            <a:pPr algn="l">
              <a:spcAft>
                <a:spcPts val="600"/>
              </a:spcAft>
            </a:pPr>
            <a:r>
              <a:rPr sz="1700" b="0">
                <a:solidFill>
                  <a:srgbClr val="222222"/>
                </a:solidFill>
                <a:latin typeface="맑은 고딕"/>
              </a:rPr>
              <a:t>•  Instance Eff.: Soft Parse 26%, Library Hit 59%</a:t>
            </a:r>
          </a:p>
          <a:p>
            <a:pPr algn="l">
              <a:spcAft>
                <a:spcPts val="600"/>
              </a:spcAft>
            </a:pPr>
            <a:r>
              <a:rPr sz="1700" b="0">
                <a:solidFill>
                  <a:srgbClr val="222222"/>
                </a:solidFill>
                <a:latin typeface="맑은 고딕"/>
              </a:rPr>
              <a:t>•  SQL: 9vmszgd1ft9x0 (DB Time 33%, Gets 32%, 95.8% CPU)</a:t>
            </a:r>
          </a:p>
          <a:p>
            <a:pPr algn="l">
              <a:spcAft>
                <a:spcPts val="600"/>
              </a:spcAft>
            </a:pPr>
            <a:r>
              <a:rPr sz="1700" b="0">
                <a:solidFill>
                  <a:srgbClr val="222222"/>
                </a:solidFill>
                <a:latin typeface="맑은 고딕"/>
              </a:rPr>
              <a:t>•  → 결론: 리터럴 하드파싱을 유발하는 단일 SQL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이 장이 경계하는 오판 넷</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큰 숫자 하나에 속지 않기</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① Top Events 1위(대기)를 병목으로 지목 → % DB time을 본다</a:t>
            </a:r>
          </a:p>
          <a:p>
            <a:pPr algn="l">
              <a:spcAft>
                <a:spcPts val="600"/>
              </a:spcAft>
            </a:pPr>
            <a:r>
              <a:rPr sz="1700" b="0">
                <a:solidFill>
                  <a:srgbClr val="222222"/>
                </a:solidFill>
                <a:latin typeface="맑은 고딕"/>
              </a:rPr>
              <a:t>•  ② Buffer Hit 100%를 성능 우수로 해석 → 히트율의 함정</a:t>
            </a:r>
          </a:p>
          <a:p>
            <a:pPr algn="l">
              <a:spcAft>
                <a:spcPts val="600"/>
              </a:spcAft>
            </a:pPr>
            <a:r>
              <a:rPr sz="1700" b="0">
                <a:solidFill>
                  <a:srgbClr val="222222"/>
                </a:solidFill>
                <a:latin typeface="맑은 고딕"/>
              </a:rPr>
              <a:t>•  ③ Instance Activity의 큰 값으로 새 가설 → 확증/반증에만 쓴다</a:t>
            </a:r>
          </a:p>
          <a:p>
            <a:pPr algn="l">
              <a:spcAft>
                <a:spcPts val="600"/>
              </a:spcAft>
            </a:pPr>
            <a:r>
              <a:rPr sz="1700" b="0">
                <a:solidFill>
                  <a:srgbClr val="222222"/>
                </a:solidFill>
                <a:latin typeface="맑은 고딕"/>
              </a:rPr>
              <a:t>•  ④ 부하 없는 구간을 '문제 있다'고 판정 → AAS로 부하 확인</a:t>
            </a:r>
          </a:p>
          <a:p>
            <a:pPr algn="l">
              <a:spcAft>
                <a:spcPts val="600"/>
              </a:spcAft>
            </a:pPr>
            <a:r>
              <a:rPr sz="1700" b="0">
                <a:solidFill>
                  <a:srgbClr val="222222"/>
                </a:solidFill>
                <a:latin typeface="맑은 고딕"/>
              </a:rPr>
              <a:t>•  공통 처방: 순서(위→아래) + 비중(% DB time) + 수렴</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퀴즈 (Quiz)</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500" b="0">
                <a:solidFill>
                  <a:srgbClr val="222222"/>
                </a:solidFill>
                <a:latin typeface="맑은 고딕"/>
              </a:rPr>
              <a:t>•  Q1. Top Events 1위가 DB CPU 95.7%. 병목은? log file sync 3.7%를 먼저 손대면 안 되는 이유는?</a:t>
            </a:r>
          </a:p>
          <a:p>
            <a:pPr algn="l">
              <a:spcAft>
                <a:spcPts val="600"/>
              </a:spcAft>
            </a:pPr>
            <a:r>
              <a:rPr sz="1500" b="0">
                <a:solidFill>
                  <a:srgbClr val="222222"/>
                </a:solidFill>
                <a:latin typeface="맑은 고딕"/>
              </a:rPr>
              <a:t>•  Q2. 논리읽기 118만/s인데 물리읽기 48.8/s. 이 조합과 Buffer Hit 100%의 관계는?</a:t>
            </a:r>
          </a:p>
          <a:p>
            <a:pPr algn="l">
              <a:spcAft>
                <a:spcPts val="600"/>
              </a:spcAft>
            </a:pPr>
            <a:r>
              <a:rPr sz="1500" b="0">
                <a:solidFill>
                  <a:srgbClr val="222222"/>
                </a:solidFill>
                <a:latin typeface="맑은 고딕"/>
              </a:rPr>
              <a:t>•  Q3. Buffer Hit 100%인데 성능이 나쁠 수 있는 이유(히트율의 함정)는?</a:t>
            </a:r>
          </a:p>
          <a:p>
            <a:pPr algn="l">
              <a:spcAft>
                <a:spcPts val="600"/>
              </a:spcAft>
            </a:pPr>
            <a:r>
              <a:rPr sz="1500" b="0">
                <a:solidFill>
                  <a:srgbClr val="222222"/>
                </a:solidFill>
                <a:latin typeface="맑은 고딕"/>
              </a:rPr>
              <a:t>•  Q4. Soft Parse 26%, Hard parse 319/s가 가리키는 원인과 그것이 나타나는 대기는?</a:t>
            </a:r>
          </a:p>
          <a:p>
            <a:pPr algn="l">
              <a:spcAft>
                <a:spcPts val="600"/>
              </a:spcAft>
            </a:pPr>
            <a:r>
              <a:rPr sz="1500" b="0">
                <a:solidFill>
                  <a:srgbClr val="222222"/>
                </a:solidFill>
                <a:latin typeface="맑은 고딕"/>
              </a:rPr>
              <a:t>•  Q5. Elapsed·Gets 모두 9vmszgd1ft9x0이 1위. 진단 신뢰도가 높은 이유는?</a:t>
            </a:r>
          </a:p>
          <a:p>
            <a:pPr algn="l">
              <a:spcAft>
                <a:spcPts val="600"/>
              </a:spcAft>
            </a:pPr>
            <a:r>
              <a:rPr sz="1500" b="0">
                <a:solidFill>
                  <a:srgbClr val="222222"/>
                </a:solidFill>
                <a:latin typeface="맑은 고딕"/>
              </a:rPr>
              <a:t>•  Q6. 유휴 구간에서 SQL*Net msg from client가 1위. 병목으로 지목하면 안 되는 이유와 부하 판정법은?</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요약 (Summary)</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500" b="0">
                <a:solidFill>
                  <a:srgbClr val="222222"/>
                </a:solidFill>
                <a:latin typeface="맑은 고딕"/>
              </a:rPr>
              <a:t>•  판독은 위(요약)에서 아래(세부)로. 첫 나눗셈은 DB Time/Elapsed=AAS(5.7)</a:t>
            </a:r>
          </a:p>
          <a:p>
            <a:pPr algn="l">
              <a:spcAft>
                <a:spcPts val="600"/>
              </a:spcAft>
            </a:pPr>
            <a:r>
              <a:rPr sz="1500" b="0">
                <a:solidFill>
                  <a:srgbClr val="222222"/>
                </a:solidFill>
                <a:latin typeface="맑은 고딕"/>
              </a:rPr>
              <a:t>•  Load Profile 3대: DB CPU≈DB Time / 논리 118만:물리 48.8 / 하드파싱 73%</a:t>
            </a:r>
          </a:p>
          <a:p>
            <a:pPr algn="l">
              <a:spcAft>
                <a:spcPts val="600"/>
              </a:spcAft>
            </a:pPr>
            <a:r>
              <a:rPr sz="1500" b="0">
                <a:solidFill>
                  <a:srgbClr val="222222"/>
                </a:solidFill>
                <a:latin typeface="맑은 고딕"/>
              </a:rPr>
              <a:t>•  Top Events는 % DB time으로. DB CPU 95.7%가 병목, log file sync 3.7%는 아님</a:t>
            </a:r>
          </a:p>
          <a:p>
            <a:pPr algn="l">
              <a:spcAft>
                <a:spcPts val="600"/>
              </a:spcAft>
            </a:pPr>
            <a:r>
              <a:rPr sz="1500" b="0">
                <a:solidFill>
                  <a:srgbClr val="222222"/>
                </a:solidFill>
                <a:latin typeface="맑은 고딕"/>
              </a:rPr>
              <a:t>•  Instance Efficiency는 낮은 값이 단서. Buffer Hit 100%는 함정</a:t>
            </a:r>
          </a:p>
          <a:p>
            <a:pPr algn="l">
              <a:spcAft>
                <a:spcPts val="600"/>
              </a:spcAft>
            </a:pPr>
            <a:r>
              <a:rPr sz="1500" b="0">
                <a:solidFill>
                  <a:srgbClr val="222222"/>
                </a:solidFill>
                <a:latin typeface="맑은 고딕"/>
              </a:rPr>
              <a:t>•  SQL: 9vmszgd1ft9x0이 DB Time 33%·Gets 32%를 CPU로 소비 → 주범</a:t>
            </a:r>
          </a:p>
          <a:p>
            <a:pPr algn="l">
              <a:spcAft>
                <a:spcPts val="600"/>
              </a:spcAft>
            </a:pPr>
            <a:r>
              <a:rPr sz="1500" b="0">
                <a:solidFill>
                  <a:srgbClr val="222222"/>
                </a:solidFill>
                <a:latin typeface="맑은 고딕"/>
              </a:rPr>
              <a:t>•  Advisory는 방향이지 명령 아님. 부하 없는 구간(AAS≪1)은 판정 대상 아님</a:t>
            </a:r>
          </a:p>
          <a:p>
            <a:pPr algn="l">
              <a:spcAft>
                <a:spcPts val="600"/>
              </a:spcAft>
            </a:pPr>
            <a:r>
              <a:rPr sz="1500" b="0">
                <a:solidFill>
                  <a:srgbClr val="222222"/>
                </a:solidFill>
                <a:latin typeface="맑은 고딕"/>
              </a:rPr>
              <a:t>•  🔒 Diagnostics Pack 대상, Statspack·V$ 대안. AWR·ADDM·ASH는 같은 부하의 세 렌즈</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실습 개요 (Practice Overview)</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non-CDB orcl 19.3 · 프롬프트 SYS@orcl · 🔒 Diagnostics Pack</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500" b="0">
                <a:solidFill>
                  <a:srgbClr val="222222"/>
                </a:solidFill>
                <a:latin typeface="맑은 고딕"/>
              </a:rPr>
              <a:t>•  실습 01 — awrrpt.sql로 텍스트 AWR 생성과 섹션 구조 확인</a:t>
            </a:r>
          </a:p>
          <a:p>
            <a:pPr algn="l">
              <a:spcAft>
                <a:spcPts val="600"/>
              </a:spcAft>
            </a:pPr>
            <a:r>
              <a:rPr sz="1500" b="0">
                <a:solidFill>
                  <a:srgbClr val="222222"/>
                </a:solidFill>
                <a:latin typeface="맑은 고딕"/>
              </a:rPr>
              <a:t>•  실습 02 — Load Profile 판독(초당 논리읽기·파싱·트랜잭션)</a:t>
            </a:r>
          </a:p>
          <a:p>
            <a:pPr algn="l">
              <a:spcAft>
                <a:spcPts val="600"/>
              </a:spcAft>
            </a:pPr>
            <a:r>
              <a:rPr sz="1500" b="0">
                <a:solidFill>
                  <a:srgbClr val="222222"/>
                </a:solidFill>
                <a:latin typeface="맑은 고딕"/>
              </a:rPr>
              <a:t>•  실습 03 — Top 10 Foreground Events 판독(% DB time)</a:t>
            </a:r>
          </a:p>
          <a:p>
            <a:pPr algn="l">
              <a:spcAft>
                <a:spcPts val="600"/>
              </a:spcAft>
            </a:pPr>
            <a:r>
              <a:rPr sz="1500" b="0">
                <a:solidFill>
                  <a:srgbClr val="222222"/>
                </a:solidFill>
                <a:latin typeface="맑은 고딕"/>
              </a:rPr>
              <a:t>•  실습 04 — SQL ordered by Elapsed/Gets/Reads 대상 선별</a:t>
            </a:r>
          </a:p>
          <a:p>
            <a:pPr algn="l">
              <a:spcAft>
                <a:spcPts val="600"/>
              </a:spcAft>
            </a:pPr>
            <a:r>
              <a:rPr sz="1500" b="0">
                <a:solidFill>
                  <a:srgbClr val="222222"/>
                </a:solidFill>
                <a:latin typeface="맑은 고딕"/>
              </a:rPr>
              <a:t>•  실습 05 — Instance Activity Stats 이상 지표 찾기</a:t>
            </a:r>
          </a:p>
          <a:p>
            <a:pPr algn="l">
              <a:spcAft>
                <a:spcPts val="600"/>
              </a:spcAft>
            </a:pPr>
            <a:r>
              <a:rPr sz="1500" b="0">
                <a:solidFill>
                  <a:srgbClr val="222222"/>
                </a:solidFill>
                <a:latin typeface="맑은 고딕"/>
              </a:rPr>
              <a:t>•  실습 06 — Advisory(버퍼·공유풀·PGA) 판독과 권고 크기</a:t>
            </a:r>
          </a:p>
          <a:p>
            <a:pPr algn="l">
              <a:spcAft>
                <a:spcPts val="600"/>
              </a:spcAft>
            </a:pPr>
            <a:r>
              <a:rPr sz="1500" b="0">
                <a:solidFill>
                  <a:srgbClr val="222222"/>
                </a:solidFill>
                <a:latin typeface="맑은 고딕"/>
              </a:rPr>
              <a:t>•  실습 07 — 부하 없는 구간 '문제 없음'을 근거와 함께 판정</a:t>
            </a:r>
          </a:p>
          <a:p>
            <a:pPr algn="l">
              <a:spcAft>
                <a:spcPts val="600"/>
              </a:spcAft>
            </a:pPr>
            <a:r>
              <a:rPr sz="1500" b="0">
                <a:solidFill>
                  <a:srgbClr val="222222"/>
                </a:solidFill>
                <a:latin typeface="맑은 고딕"/>
              </a:rPr>
              <a:t>•  ※ 각 실습: 조치 전 → 조회·조치 → 해석 + 이상→원인→조치→재확인, Statspack·V$ 대안 병기</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
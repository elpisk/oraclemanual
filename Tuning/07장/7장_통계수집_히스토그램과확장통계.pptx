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notesMaster" Target="notesMasters/notesMaster1.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옵티마이저는 히스토그램이 없으면 등식 조건의 카디널리티를 전체 행 수를 NDV로 나눈 값으로 추정합니다. MEDICAL_CLAIMS는 30만 행에 HOSP_ID의 NDV가 1,000이므로 어떤 병원이든 300건으로 추정합니다. 그러나 1~50번 대형 병원에 청구가 몰려 실제 36번 병원은 3,100건입니다. 약 열 배의 과소추정이며, 이 300 대 3,100의 간극이 이 장 전체의 정량적 근거가 됩니다.</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실측이 히스토그램 필요성의 핵심 근거입니다. 균등 가정 추정치는 num_rows를 NDV로 나눈 300건이지만, 실제 36번 병원의 청구는 3,100건입니다. 옵티마이저가 300건으로 오판하면 3,100건을 반환하는 조건에 인덱스 스캔을 골라 수천 번의 랜덤 읽기가 일어나고, 전체 스캔보다 훨씬 느려집니다. 히스토그램은 이 편중을 값 단위로 기록해 오판을 막습니다.</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히스토그램은 세 종류입니다. 서로 다른 값이 버킷 수 이하이면 값마다 버킷을 배정하는 FREQUENCY가, 값이 많지만 상위 몇 개가 전체의 대부분을 차지하면 TOP-FREQUENCY가, 값이 많고 상위 집중도도 임계에 못 미치면 HYBRID가 만들어집니다. HYBRID는 높이 균형 방식에 각 버킷 끝값의 반복 횟수를 결합해 넓은 범위와 국소 편중을 동시에 표현합니다.</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실측을 읽어 봅시다. CLAIM_TYPE(2)·DEPT_CODE(9)·REVIEW_STATUS(2)는 값이 적어 FREQUENCY이고 버킷 수가 NDV와 같습니다. HOSP_ID·TOTAL_AMT·CLAIM_ID·RECEIPT_DATE는 값이 254를 넘어 HYBRID 254버킷입니다. PAT_ID와 VISIT_DATE는 NONE인데, 조건절에 편중과 함께 쓰인 이력이 없어 자동 수집이 히스토그램을 생략한 결과입니다.</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히스토그램은 컬럼 값의 분포를 버킷으로 나눠 저장한 통계입니다. 값의 종류가 적으면 값마다 버킷 하나를 배정해 정확한 빈도를 기록하고, 많으면 여러 값을 한 버킷에 묶어 대표합니다. 히스토그램이 있으면 옵티마이저는 등식·범위 조건의 카디널리티를 균등 가정이 아니라 실제 분포에서 읽어 냅니다. 평균으로는 보이지 않는 특정 값의 쏠림을 값 단위로 드러내는 도구입니다.</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히스토그램의 효과는 단일 테이블 접근 경로에서 끝나지 않습니다. 옵티마이저는 조인 순서와 방식도 카디널리티에 기대어 정합니다. hosp_id=36 필터를 300건으로 오판하면 중첩 루프 조인을 골라 상대 테이블을 300번만 탐색하리라 기대하지만 실제로는 3,100번을 돌아 열 배 느려집니다. 정확히 3,100으로 알면 해시 조인 같은 대량 처리 방식을 고를 수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기본 METHOD_OPT는 FOR ALL COLUMNS SIZE AUTO입니다. 모든 컬럼을 대상으로 하되 히스토그램을 만들지 여부와 버킷 수는 컬럼 사용 이력과 편중을 보고 오라클이 자동 결정합니다. ESTIMATE_PERCENT의 기본 AUTO_SAMPLE_SIZE는 전체를 한 번 훑어 NDV를 거의 정확하게 계산하므로 표본 비율을 수동으로 낮출 이유가 거의 없습니다.</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SIZE 절에는 네 가지를 줄 수 있습니다. AUTO는 사용 이력과 편중을 함께 보는 기본값, SKEWONLY는 이력과 무관하게 편중 컬럼 전부에, REPEAT는 기존 히스토그램 유지, 정수는 버킷 수 강제입니다. 특정 컬럼만 보완하려면 FOR ALL COLUMNS SIZE AUTO 뒤에 FOR COLUMNS 절을 덧붙여 앞은 전체 기본, 뒤는 예외를 지정합니다.</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어떤 쿼리가 느리다고 모든 컬럼에 254버킷을 강제하는 것은 위험합니다. 수집 시간과 SYSAUX 사용량이 늘고, 필요 없는 히스토그램이 바인드 피킹과 얽혀 계획을 불안정하게 만듭니다. 먼저 어떤 컬럼이 실제 조건절에 편중과 함께 쓰이는지 확인하고, 기본 AUTO가 놓친 컬럼만 FOR COLUMNS로 보완하는 것이 정석입니다. METHOD_OPT는 테이블 단위 Preference로 관리하고, 변경 전후의 히스토그램 구성과 실행계획을 반드시 비교합니다.</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옵티마이저는 여러 조건이 AND로 묶이면 각 선택도를 독립이라 가정하고 곱합니다. CLAIM_TYPE과 DEPT_CODE가 상관되어 있으면 이 곱셈이 실제보다 훨씬 작거나 큰 카디널리티를 낳습니다. claim_type=외래 선택도 0.80과 dept_code 한 값 0.111을 곱하면 약 26,700건이지만, 두 컬럼이 상관되면 실제는 다릅니다. 컬럼 그룹 통계는 조합의 실제 분포를 옵티마이저에게 직접 알려 곱셈 오류를 없앱니다.</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확장 통계는 CREATE_EXTENDED_STATS로 만들고 반드시 통계를 다시 수집해야 값이 채워집니다. 만들기만 하면 옵티마이저가 참조할 값이 없습니다. 내부적으로 숨은 가상 컬럼이 생겨 그 컬럼에 통계와 히스토그램이 붙습니다. 어떤 조합이 유용한지는 SEED_COL_USAGE로 워크로드를 관찰해 찾을 수 있고, 불필요해지면 DROP_EXTENDED_STATS로 제거합니다.</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WHERE 절에 함수를 쓰면 옵티마이저는 원본 컬럼 통계를 적용하지 못하고 기본 선택도 1%로 추정합니다. EXTRACT(YEAR FROM receipt_date)=2026이 실제로는 상당 비율인데 1%로 추정하면 카디널리티가 크게 어긋납니다. 표현식 통계는 그 표현식 자체의 분포를 저장해 원본 컬럼처럼 정확히 추정하게 합니다. 조건을 함수 없이 재작성할 수 있으면 그것이 더 낫습니다.</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표현식 통계도 CREATE_EXTENDED_STATS로 만들고 재수집합니다. EXTRACT(YEAR FROM receipt_date)처럼 연도별 조회가 잦은 표현식에 통계를 만들면, 함수가 원본 컬럼을 가려 1%로 추정하던 문제가 사라지고 표현식 결과의 실제 분포로 추정합니다. 함수 기반 인덱스를 만들면 그 표현식 통계가 자연히 함께 생기므로, 별도 인덱스 없이 통계만 필요할 때 표현식 통계가 유용합니다.</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데이터 통계가 몇 건인지를 정한다면 시스템 통계는 그 건수를 처리하는 비용을 정합니다. NOWORKLOAD는 데이터파일에 임의 I/O를 던져 측정한 기본 특성으로 DB 생성 시 기본으로 채워지고, WORKLOAD는 실제 부하 구간을 관찰해 측정합니다. 옵티마이저는 이 값으로 전체 스캔과 인덱스 스캔의 상대 비용을 계산합니다. 시스템 통계는 인스턴스 전역에 영향을 줍니다.</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MBRC·SREADTIM·MREADTIM이 NULL이고 CPUSPEEDNW·IOSEEKTIM·IOTFRSPEED만 값이 있는 것이 NOWORKLOAD 상태의 전형입니다. WORKLOAD 통계가 없으므로 옵티마이저는 IOSEEKTIM 10ms와 IOTFRSPEED 4096으로부터 읽기 시간을 유도하고 MBRC 자리에는 초기화 파라미터를 씁니다. 이것은 통계가 빠진 것이 아니라 NOWORKLOAD 방식이 원래 그 값을 채우지 않기 때문이며, 대부분의 시스템은 이대로도 잘 동작합니다.</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WORKLOAD 통계 수집은 START와 STOP 사이의 실제 I/O를 관찰해 값을 채웁니다. 반드시 대표성 있는 부하 구간을 골라야 하며, 한산한 새벽에 수집하면 실제 업무 특성과 동떨어진 값이 박힙니다. 수집하면 전체 스캔과 인덱스 스캔의 상대 비용이 달라져 계획이 바뀔 수 있고, 개선일 수도 회귀일 수도 있습니다. 그래서 실습 후 DELETE 후 NOWORKLOAD 재수집으로 원복합니다.</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Preferences는 네 계층으로 설정하고 좁은 범위가 넓은 범위를 이깁니다. 수천 개 테이블에 일일이 설정할 수 없으니 대부분은 전역 기본을 따르게 하고 초대형·고편중 같은 특별한 소수만 테이블 범위로 예외를 둡니다. GET_PREFS에 스키마·테이블을 함께 넘기면 그 테이블에 실제로 적용되는 실효값을 확인할 수 있고, 이 실효값이 곧 계층 우선순위의 결과입니다. 전역 정책을 유지하면서 예외 테이블만 다르게 다룰 수 있다는 점이 계층 구조의 이점입니다.</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자동 통계 수집도 Preferences를 따르므로 이것이 자동 수집 동작을 조정하는 주된 수단입니다. 밤마다 도는 수집이 어떤 METHOD_OPT와 표본 비율, stale 기준으로 움직일지가 전부 여기서 정해집니다. STALE_PERCENT는 재수집 기준(기본 10%), INCREMENTAL은 파티션 증분 수집입니다. 조치 전 값을 GET_PREFS로 기록하고 변경한 뒤 DELETE_TABLE_PREFS로 원복하는 규율을 지킵니다.</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METHOD_OPT·ESTIMATE_PERCENT·DEGREE 외에도 STALE_PERCENT와 INCREMENTAL을 자주 조정합니다. STALE_PERCENT는 마지막 수집 이후 몇 퍼센트가 바뀌면 재수집 대상으로 볼지의 기준으로 기본 10%입니다. INCREMENTAL은 파티션 테이블에서 변경된 파티션만 수집해 글로벌 통계를 갱신하므로 대형 파티션 테이블의 수집 시간을 크게 줄입니다. 대부분은 전역 기본을 따르고 특별한 소수만 테이블 예외를 둡니다.</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Optimizer Statistics Advisor는 12.2부터 제공되는 기본 기능으로 Tuning Pack이 필요 없습니다. 태스크를 만들고 실행한 뒤 보고서를 뽑으면 룰별로 무엇이 문제인지, 어떻게 고칠지, 왜 그런지를 담아 줍니다. 통계 없는 객체, 오래된 통계, 자동 수집을 방해하는 수동 설정 등을 찾아냅니다. 자동 적용도 가능하지만 권고는 결론이 아니라 가설이므로 근거를 확인하고 채택합니다.</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어드바이저 룰은 자동 작업 상태, 통계 건강, 설정 적정성 세 부류입니다. 발견을 이 장의 도구와 연결하면 통계 운영의 지도가 그려집니다. 통계 없는 객체는 그 객체만, 편중은 히스토그램, 상관은 확장 통계, 오래된 통계는 STALE_PERCENT로 대응합니다. 다만 잠긴 통계가 의도된 것이라면 풀지 말아야 하니 권고를 기계적으로 전부 적용하지 않고 맥락을 확인합니다.</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계획이 이상하면 습관적으로 전체를 다시 모으는 것은 위험합니다. 진단을 건너뛰고, 잘 맞던 통계를 덮어써 회귀를 낳고, 비용이 큽니다. 올바른 순서는 진단, 국소 조치, 검증입니다. 이 장의 모든 실습은 통계를 바꾸므로 조치 전 캡처와 원복이 짝을 이룹니다. 히스토그램은 재수집으로, 확장 통계는 DROP으로, 시스템 통계는 DELETE 후 NOWORKLOAD 재수집으로, Preferences는 DELETE_TABLE_PREFS로 되돌리며, RESTORE_TABLE_STATS로 과거 시점 통계로 복원할 수도 있습니다.</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219456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5394960"/>
            <a:ext cx="12188952" cy="146304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457200"/>
            <a:ext cx="10698480" cy="548640"/>
          </a:xfrm>
          <a:prstGeom prst="rect">
            <a:avLst/>
          </a:prstGeom>
          <a:noFill/>
        </p:spPr>
        <p:txBody>
          <a:bodyPr wrap="square">
            <a:spAutoFit/>
          </a:bodyPr>
          <a:lstStyle/>
          <a:p>
            <a:pPr>
              <a:spcAft>
                <a:spcPts val="400"/>
              </a:spcAft>
            </a:pPr>
            <a:r>
              <a:rPr sz="1600" b="1">
                <a:solidFill>
                  <a:srgbClr val="FFFFFF"/>
                </a:solidFill>
                <a:latin typeface="맑은 고딕"/>
              </a:rPr>
              <a:t>Oracle Database 19c 성능 튜닝 실무 과정</a:t>
            </a:r>
          </a:p>
        </p:txBody>
      </p:sp>
      <p:sp>
        <p:nvSpPr>
          <p:cNvPr id="6" name="TextBox 5"/>
          <p:cNvSpPr txBox="1"/>
          <p:nvPr/>
        </p:nvSpPr>
        <p:spPr>
          <a:xfrm>
            <a:off x="731520" y="2377440"/>
            <a:ext cx="10698480" cy="1554480"/>
          </a:xfrm>
          <a:prstGeom prst="rect">
            <a:avLst/>
          </a:prstGeom>
          <a:noFill/>
        </p:spPr>
        <p:txBody>
          <a:bodyPr wrap="square">
            <a:spAutoFit/>
          </a:bodyPr>
          <a:lstStyle/>
          <a:p>
            <a:pPr>
              <a:spcAft>
                <a:spcPts val="400"/>
              </a:spcAft>
            </a:pPr>
            <a:r>
              <a:rPr sz="3400" b="1">
                <a:solidFill>
                  <a:srgbClr val="C0392B"/>
                </a:solidFill>
                <a:latin typeface="맑은 고딕"/>
              </a:rPr>
              <a:t>히스토그램·확장 통계·시스템 통계</a:t>
            </a:r>
          </a:p>
          <a:p>
            <a:pPr>
              <a:spcAft>
                <a:spcPts val="400"/>
              </a:spcAft>
            </a:pPr>
            <a:r>
              <a:rPr sz="2000" b="0">
                <a:solidFill>
                  <a:srgbClr val="5A6672"/>
                </a:solidFill>
                <a:latin typeface="맑은 고딕"/>
              </a:rPr>
              <a:t>Statistics ② — 옵티마이저가 보는 세계를 정교하게</a:t>
            </a:r>
          </a:p>
        </p:txBody>
      </p:sp>
      <p:sp>
        <p:nvSpPr>
          <p:cNvPr id="7" name="TextBox 6"/>
          <p:cNvSpPr txBox="1"/>
          <p:nvPr/>
        </p:nvSpPr>
        <p:spPr>
          <a:xfrm>
            <a:off x="731520" y="4114800"/>
            <a:ext cx="10698480" cy="1097280"/>
          </a:xfrm>
          <a:prstGeom prst="rect">
            <a:avLst/>
          </a:prstGeom>
          <a:noFill/>
        </p:spPr>
        <p:txBody>
          <a:bodyPr wrap="square">
            <a:spAutoFit/>
          </a:bodyPr>
          <a:lstStyle/>
          <a:p>
            <a:pPr>
              <a:spcAft>
                <a:spcPts val="400"/>
              </a:spcAft>
            </a:pPr>
            <a:r>
              <a:rPr sz="1500" b="0">
                <a:solidFill>
                  <a:srgbClr val="5A6672"/>
                </a:solidFill>
                <a:latin typeface="맑은 고딕"/>
              </a:rPr>
              <a:t>히스토그램 · METHOD_OPT · 확장 통계 · 시스템 통계 · Preferences · Statistics Advisor</a:t>
            </a:r>
          </a:p>
        </p:txBody>
      </p:sp>
      <p:sp>
        <p:nvSpPr>
          <p:cNvPr id="8" name="TextBox 7"/>
          <p:cNvSpPr txBox="1"/>
          <p:nvPr/>
        </p:nvSpPr>
        <p:spPr>
          <a:xfrm>
            <a:off x="731520" y="5577840"/>
            <a:ext cx="10698480" cy="914400"/>
          </a:xfrm>
          <a:prstGeom prst="rect">
            <a:avLst/>
          </a:prstGeom>
          <a:noFill/>
        </p:spPr>
        <p:txBody>
          <a:bodyPr wrap="square">
            <a:spAutoFit/>
          </a:bodyPr>
          <a:lstStyle/>
          <a:p>
            <a:pPr>
              <a:spcAft>
                <a:spcPts val="400"/>
              </a:spcAft>
            </a:pPr>
            <a:r>
              <a:rPr sz="2000" b="1">
                <a:solidFill>
                  <a:srgbClr val="C0392B"/>
                </a:solidFill>
                <a:latin typeface="맑은 고딕"/>
              </a:rPr>
              <a:t>제7장</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nchor="ctr">
            <a:spAutoFit/>
          </a:bodyPr>
          <a:lstStyle/>
          <a:p>
            <a:pPr>
              <a:spcAft>
                <a:spcPts val="400"/>
              </a:spcAft>
            </a:pPr>
            <a:r>
              <a:rPr sz="2600" b="1">
                <a:solidFill>
                  <a:srgbClr val="FFFFFF"/>
                </a:solidFill>
                <a:latin typeface="맑은 고딕"/>
              </a:rPr>
              <a:t>학습 목표 (Objectives)</a:t>
            </a:r>
          </a:p>
        </p:txBody>
      </p:sp>
      <p:sp>
        <p:nvSpPr>
          <p:cNvPr id="4" name="TextBox 3"/>
          <p:cNvSpPr txBox="1"/>
          <p:nvPr/>
        </p:nvSpPr>
        <p:spPr>
          <a:xfrm>
            <a:off x="640080" y="1371600"/>
            <a:ext cx="10881360" cy="5120640"/>
          </a:xfrm>
          <a:prstGeom prst="rect">
            <a:avLst/>
          </a:prstGeom>
          <a:noFill/>
        </p:spPr>
        <p:txBody>
          <a:bodyPr wrap="square">
            <a:spAutoFit/>
          </a:bodyPr>
          <a:lstStyle/>
          <a:p>
            <a:pPr>
              <a:spcAft>
                <a:spcPts val="700"/>
              </a:spcAft>
            </a:pPr>
            <a:r>
              <a:rPr sz="1600" b="0">
                <a:solidFill>
                  <a:srgbClr val="222222"/>
                </a:solidFill>
                <a:latin typeface="맑은 고딕"/>
              </a:rPr>
              <a:t>•  균등 분포 가정의 한계를 설명하고, 편중 컬럼의 추정 오차를 수치로 제시한다(300 대 3,100).</a:t>
            </a:r>
          </a:p>
          <a:p>
            <a:pPr>
              <a:spcAft>
                <a:spcPts val="700"/>
              </a:spcAft>
            </a:pPr>
            <a:r>
              <a:rPr sz="1600" b="0">
                <a:solidFill>
                  <a:srgbClr val="222222"/>
                </a:solidFill>
                <a:latin typeface="맑은 고딕"/>
              </a:rPr>
              <a:t>•  히스토그램 세 종류(FREQUENCY·TOP-FREQUENCY·HYBRID)와 생성 조건을 구분한다.</a:t>
            </a:r>
          </a:p>
          <a:p>
            <a:pPr>
              <a:spcAft>
                <a:spcPts val="700"/>
              </a:spcAft>
            </a:pPr>
            <a:r>
              <a:rPr sz="1600" b="0">
                <a:solidFill>
                  <a:srgbClr val="222222"/>
                </a:solidFill>
                <a:latin typeface="맑은 고딕"/>
              </a:rPr>
              <a:t>•  METHOD_OPT(FOR ALL COLUMNS SIZE AUTO / FOR COLUMNS)의 동작을 예측한다.</a:t>
            </a:r>
          </a:p>
          <a:p>
            <a:pPr>
              <a:spcAft>
                <a:spcPts val="700"/>
              </a:spcAft>
            </a:pPr>
            <a:r>
              <a:rPr sz="1600" b="0">
                <a:solidFill>
                  <a:srgbClr val="222222"/>
                </a:solidFill>
                <a:latin typeface="맑은 고딕"/>
              </a:rPr>
              <a:t>•  컬럼 그룹·표현식 확장 통계로 상관·함수 추정 오류를 바로잡는다.</a:t>
            </a:r>
          </a:p>
          <a:p>
            <a:pPr>
              <a:spcAft>
                <a:spcPts val="700"/>
              </a:spcAft>
            </a:pPr>
            <a:r>
              <a:rPr sz="1600" b="0">
                <a:solidFill>
                  <a:srgbClr val="222222"/>
                </a:solidFill>
                <a:latin typeface="맑은 고딕"/>
              </a:rPr>
              <a:t>•  NOWORKLOAD와 WORKLOAD 시스템 통계를 구분하고 안전하게 원복한다.</a:t>
            </a:r>
          </a:p>
          <a:p>
            <a:pPr>
              <a:spcAft>
                <a:spcPts val="700"/>
              </a:spcAft>
            </a:pPr>
            <a:r>
              <a:rPr sz="1600" b="0">
                <a:solidFill>
                  <a:srgbClr val="222222"/>
                </a:solidFill>
                <a:latin typeface="맑은 고딕"/>
              </a:rPr>
              <a:t>•  통계 Preferences의 네 계층(GLOBAL·DATABASE·SCHEMA·TABLE)과 우선순위를 안다.</a:t>
            </a:r>
          </a:p>
          <a:p>
            <a:pPr>
              <a:spcAft>
                <a:spcPts val="700"/>
              </a:spcAft>
            </a:pPr>
            <a:r>
              <a:rPr sz="1600" b="0">
                <a:solidFill>
                  <a:srgbClr val="222222"/>
                </a:solidFill>
                <a:latin typeface="맑은 고딕"/>
              </a:rPr>
              <a:t>•  Optimizer Statistics Advisor(무료)의 권고를 해석해 통계 오차를 해소한다.</a:t>
            </a:r>
          </a:p>
          <a:p>
            <a:pPr>
              <a:spcAft>
                <a:spcPts val="700"/>
              </a:spcAft>
            </a:pPr>
            <a:r>
              <a:rPr sz="1600" b="0">
                <a:solidFill>
                  <a:srgbClr val="222222"/>
                </a:solidFill>
                <a:latin typeface="맑은 고딕"/>
              </a:rPr>
              <a:t>•  통계를 바꾸는 모든 작업에 조치 전 캡처와 원복 절차를 설계한다.</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nchor="ctr">
            <a:spAutoFit/>
          </a:bodyPr>
          <a:lstStyle/>
          <a:p>
            <a:pPr>
              <a:spcAft>
                <a:spcPts val="400"/>
              </a:spcAft>
            </a:pPr>
            <a:r>
              <a:rPr sz="2600" b="1">
                <a:solidFill>
                  <a:srgbClr val="FFFFFF"/>
                </a:solidFill>
                <a:latin typeface="맑은 고딕"/>
              </a:rPr>
              <a:t>이 장의 구성 (Agenda)</a:t>
            </a:r>
          </a:p>
        </p:txBody>
      </p:sp>
      <p:sp>
        <p:nvSpPr>
          <p:cNvPr id="4" name="TextBox 3"/>
          <p:cNvSpPr txBox="1"/>
          <p:nvPr/>
        </p:nvSpPr>
        <p:spPr>
          <a:xfrm>
            <a:off x="640080" y="1371600"/>
            <a:ext cx="10881360" cy="5120640"/>
          </a:xfrm>
          <a:prstGeom prst="rect">
            <a:avLst/>
          </a:prstGeom>
          <a:noFill/>
        </p:spPr>
        <p:txBody>
          <a:bodyPr wrap="square">
            <a:spAutoFit/>
          </a:bodyPr>
          <a:lstStyle/>
          <a:p>
            <a:pPr>
              <a:spcAft>
                <a:spcPts val="700"/>
              </a:spcAft>
            </a:pPr>
            <a:r>
              <a:rPr sz="1600" b="0">
                <a:solidFill>
                  <a:srgbClr val="222222"/>
                </a:solidFill>
                <a:latin typeface="맑은 고딕"/>
              </a:rPr>
              <a:t>•  7.2  히스토그램 — 편중된 데이터에서 옵티마이저를 구한다</a:t>
            </a:r>
          </a:p>
          <a:p>
            <a:pPr>
              <a:spcAft>
                <a:spcPts val="700"/>
              </a:spcAft>
            </a:pPr>
            <a:r>
              <a:rPr sz="1600" b="0">
                <a:solidFill>
                  <a:srgbClr val="222222"/>
                </a:solidFill>
                <a:latin typeface="맑은 고딕"/>
              </a:rPr>
              <a:t>•  7.3  METHOD_OPT — 어떤 컬럼에 히스토그램을 만들지 결정</a:t>
            </a:r>
          </a:p>
          <a:p>
            <a:pPr>
              <a:spcAft>
                <a:spcPts val="700"/>
              </a:spcAft>
            </a:pPr>
            <a:r>
              <a:rPr sz="1600" b="0">
                <a:solidFill>
                  <a:srgbClr val="222222"/>
                </a:solidFill>
                <a:latin typeface="맑은 고딕"/>
              </a:rPr>
              <a:t>•  7.4  확장 통계 — 컬럼 그룹과 표현식</a:t>
            </a:r>
          </a:p>
          <a:p>
            <a:pPr>
              <a:spcAft>
                <a:spcPts val="700"/>
              </a:spcAft>
            </a:pPr>
            <a:r>
              <a:rPr sz="1600" b="0">
                <a:solidFill>
                  <a:srgbClr val="222222"/>
                </a:solidFill>
                <a:latin typeface="맑은 고딕"/>
              </a:rPr>
              <a:t>•  7.5  시스템 통계 — 하드웨어를 옵티마이저에게 알린다</a:t>
            </a:r>
          </a:p>
          <a:p>
            <a:pPr>
              <a:spcAft>
                <a:spcPts val="700"/>
              </a:spcAft>
            </a:pPr>
            <a:r>
              <a:rPr sz="1600" b="0">
                <a:solidFill>
                  <a:srgbClr val="222222"/>
                </a:solidFill>
                <a:latin typeface="맑은 고딕"/>
              </a:rPr>
              <a:t>•  7.6  통계 Preferences — 수집 정책을 계층으로 관리 (ADMIN 33장 심화)</a:t>
            </a:r>
          </a:p>
          <a:p>
            <a:pPr>
              <a:spcAft>
                <a:spcPts val="700"/>
              </a:spcAft>
            </a:pPr>
            <a:r>
              <a:rPr sz="1600" b="0">
                <a:solidFill>
                  <a:srgbClr val="222222"/>
                </a:solidFill>
                <a:latin typeface="맑은 고딕"/>
              </a:rPr>
              <a:t>•  7.7  Optimizer Statistics Advisor — 통계 운영 자동 점검 (ADMIN 33장 심화)</a:t>
            </a:r>
          </a:p>
          <a:p>
            <a:pPr>
              <a:spcAft>
                <a:spcPts val="700"/>
              </a:spcAft>
            </a:pPr>
            <a:r>
              <a:rPr sz="1600" b="0">
                <a:solidFill>
                  <a:srgbClr val="222222"/>
                </a:solidFill>
                <a:latin typeface="맑은 고딕"/>
              </a:rPr>
              <a:t>•  7.8  흔한 함정 — 전체 재수집을 만능으로 여기지 않는다</a:t>
            </a:r>
          </a:p>
          <a:p>
            <a:pPr>
              <a:spcAft>
                <a:spcPts val="700"/>
              </a:spcAft>
            </a:pPr>
            <a:r>
              <a:rPr sz="1600" b="0">
                <a:solidFill>
                  <a:srgbClr val="222222"/>
                </a:solidFill>
                <a:latin typeface="맑은 고딕"/>
              </a:rPr>
              <a:t>•  ※ 실습 7개 모두 non-CDB orcl 19.3 전용, 통계 변경 실습은 원복 필수</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spAutoFit/>
          </a:bodyPr>
          <a:lstStyle/>
          <a:p>
            <a:pPr>
              <a:spcAft>
                <a:spcPts val="400"/>
              </a:spcAft>
            </a:pPr>
            <a:r>
              <a:rPr sz="4000" b="1">
                <a:solidFill>
                  <a:srgbClr val="FFFFFF"/>
                </a:solidFill>
                <a:latin typeface="맑은 고딕"/>
              </a:rPr>
              <a:t>7.2</a:t>
            </a:r>
          </a:p>
        </p:txBody>
      </p:sp>
      <p:sp>
        <p:nvSpPr>
          <p:cNvPr id="4" name="TextBox 3"/>
          <p:cNvSpPr txBox="1"/>
          <p:nvPr/>
        </p:nvSpPr>
        <p:spPr>
          <a:xfrm>
            <a:off x="822960" y="3017520"/>
            <a:ext cx="10515600" cy="914400"/>
          </a:xfrm>
          <a:prstGeom prst="rect">
            <a:avLst/>
          </a:prstGeom>
          <a:noFill/>
        </p:spPr>
        <p:txBody>
          <a:bodyPr wrap="square">
            <a:spAutoFit/>
          </a:bodyPr>
          <a:lstStyle/>
          <a:p>
            <a:pPr>
              <a:spcAft>
                <a:spcPts val="400"/>
              </a:spcAft>
            </a:pPr>
            <a:r>
              <a:rPr sz="2800" b="1">
                <a:solidFill>
                  <a:srgbClr val="FFFFFF"/>
                </a:solidFill>
                <a:latin typeface="맑은 고딕"/>
              </a:rPr>
              <a:t>히스토그램</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spAutoFit/>
          </a:bodyPr>
          <a:lstStyle/>
          <a:p>
            <a:pPr>
              <a:spcAft>
                <a:spcPts val="600"/>
              </a:spcAft>
            </a:pPr>
            <a:r>
              <a:rPr sz="1600" b="0">
                <a:solidFill>
                  <a:srgbClr val="FFFFFF"/>
                </a:solidFill>
                <a:latin typeface="맑은 고딕"/>
              </a:rPr>
              <a:t>•  균등 분포 가정의 한계 (300 vs 3,100)</a:t>
            </a:r>
          </a:p>
          <a:p>
            <a:pPr>
              <a:spcAft>
                <a:spcPts val="600"/>
              </a:spcAft>
            </a:pPr>
            <a:r>
              <a:rPr sz="1600" b="0">
                <a:solidFill>
                  <a:srgbClr val="FFFFFF"/>
                </a:solidFill>
                <a:latin typeface="맑은 고딕"/>
              </a:rPr>
              <a:t>•  FREQUENCY · TOP-FREQUENCY · HYBRID</a:t>
            </a:r>
          </a:p>
          <a:p>
            <a:pPr>
              <a:spcAft>
                <a:spcPts val="600"/>
              </a:spcAft>
            </a:pPr>
            <a:r>
              <a:rPr sz="1600" b="0">
                <a:solidFill>
                  <a:srgbClr val="FFFFFF"/>
                </a:solidFill>
                <a:latin typeface="맑은 고딕"/>
              </a:rPr>
              <a:t>•  DBA_TAB_COL_STATISTICS 실측</a:t>
            </a:r>
          </a:p>
          <a:p>
            <a:pPr>
              <a:spcAft>
                <a:spcPts val="600"/>
              </a:spcAft>
            </a:pPr>
            <a:r>
              <a:rPr sz="1600" b="0">
                <a:solidFill>
                  <a:srgbClr val="FFFFFF"/>
                </a:solidFill>
                <a:latin typeface="맑은 고딕"/>
              </a:rPr>
              <a:t>•  접근 경로와 조인에 미치는 영향</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nchor="ctr">
            <a:spAutoFit/>
          </a:bodyPr>
          <a:lstStyle/>
          <a:p>
            <a:pPr>
              <a:spcAft>
                <a:spcPts val="400"/>
              </a:spcAft>
            </a:pPr>
            <a:r>
              <a:rPr sz="2600" b="1">
                <a:solidFill>
                  <a:srgbClr val="FFFFFF"/>
                </a:solidFill>
                <a:latin typeface="맑은 고딕"/>
              </a:rPr>
              <a:t>균등 분포 가정과 그 한계</a:t>
            </a:r>
          </a:p>
        </p:txBody>
      </p:sp>
      <p:sp>
        <p:nvSpPr>
          <p:cNvPr id="4" name="TextBox 3"/>
          <p:cNvSpPr txBox="1"/>
          <p:nvPr/>
        </p:nvSpPr>
        <p:spPr>
          <a:xfrm>
            <a:off x="640080" y="1078992"/>
            <a:ext cx="10881360" cy="457200"/>
          </a:xfrm>
          <a:prstGeom prst="rect">
            <a:avLst/>
          </a:prstGeom>
          <a:noFill/>
        </p:spPr>
        <p:txBody>
          <a:bodyPr wrap="square">
            <a:spAutoFit/>
          </a:bodyPr>
          <a:lstStyle/>
          <a:p>
            <a:pPr>
              <a:spcAft>
                <a:spcPts val="400"/>
              </a:spcAft>
            </a:pPr>
            <a:r>
              <a:rPr sz="1500" b="0">
                <a:solidFill>
                  <a:srgbClr val="5A6672"/>
                </a:solidFill>
                <a:latin typeface="맑은 고딕"/>
              </a:rPr>
              <a:t>히스토그램 없으면 num_rows / NDV</a:t>
            </a:r>
          </a:p>
        </p:txBody>
      </p:sp>
      <p:sp>
        <p:nvSpPr>
          <p:cNvPr id="5" name="TextBox 4"/>
          <p:cNvSpPr txBox="1"/>
          <p:nvPr/>
        </p:nvSpPr>
        <p:spPr>
          <a:xfrm>
            <a:off x="640080" y="1737360"/>
            <a:ext cx="10881360" cy="4754880"/>
          </a:xfrm>
          <a:prstGeom prst="rect">
            <a:avLst/>
          </a:prstGeom>
          <a:noFill/>
        </p:spPr>
        <p:txBody>
          <a:bodyPr wrap="square">
            <a:spAutoFit/>
          </a:bodyPr>
          <a:lstStyle/>
          <a:p>
            <a:pPr>
              <a:spcAft>
                <a:spcPts val="800"/>
              </a:spcAft>
            </a:pPr>
            <a:r>
              <a:rPr sz="1700" b="0">
                <a:solidFill>
                  <a:srgbClr val="222222"/>
                </a:solidFill>
                <a:latin typeface="맑은 고딕"/>
              </a:rPr>
              <a:t>•  옵티마이저 기본 가정: 컬럼 값이 균등하게 분포</a:t>
            </a:r>
          </a:p>
          <a:p>
            <a:pPr>
              <a:spcAft>
                <a:spcPts val="800"/>
              </a:spcAft>
            </a:pPr>
            <a:r>
              <a:rPr sz="1700" b="0">
                <a:solidFill>
                  <a:srgbClr val="222222"/>
                </a:solidFill>
                <a:latin typeface="맑은 고딕"/>
              </a:rPr>
              <a:t>•  등식 조건 추정 = 전체 행 수 ÷ NDV</a:t>
            </a:r>
          </a:p>
          <a:p>
            <a:pPr>
              <a:spcAft>
                <a:spcPts val="800"/>
              </a:spcAft>
            </a:pPr>
            <a:r>
              <a:rPr sz="1700" b="0">
                <a:solidFill>
                  <a:srgbClr val="222222"/>
                </a:solidFill>
                <a:latin typeface="맑은 고딕"/>
              </a:rPr>
              <a:t>•  HOSP_ID: 300,000 ÷ 1,000 = 값당 300건 추정</a:t>
            </a:r>
          </a:p>
          <a:p>
            <a:pPr>
              <a:spcAft>
                <a:spcPts val="800"/>
              </a:spcAft>
            </a:pPr>
            <a:r>
              <a:rPr sz="1700" b="0">
                <a:solidFill>
                  <a:srgbClr val="222222"/>
                </a:solidFill>
                <a:latin typeface="맑은 고딕"/>
              </a:rPr>
              <a:t>•  그러나 실제 HOSP_ID=36 청구는 3,100건 → 약 10배 과소추정</a:t>
            </a:r>
          </a:p>
          <a:p>
            <a:pPr>
              <a:spcAft>
                <a:spcPts val="800"/>
              </a:spcAft>
            </a:pPr>
            <a:r>
              <a:rPr sz="1700" b="0">
                <a:solidFill>
                  <a:srgbClr val="222222"/>
                </a:solidFill>
                <a:latin typeface="맑은 고딕"/>
              </a:rPr>
              <a:t>•  편중 컬럼에서 균등 가정은 크게 빗나간다</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nchor="ctr">
            <a:spAutoFit/>
          </a:bodyPr>
          <a:lstStyle/>
          <a:p>
            <a:pPr>
              <a:spcAft>
                <a:spcPts val="400"/>
              </a:spcAft>
            </a:pPr>
            <a:r>
              <a:rPr sz="2600" b="1">
                <a:solidFill>
                  <a:srgbClr val="FFFFFF"/>
                </a:solidFill>
                <a:latin typeface="맑은 고딕"/>
              </a:rPr>
              <a:t>균등 가정 추정치 — 실측</a:t>
            </a:r>
          </a:p>
        </p:txBody>
      </p:sp>
      <p:sp>
        <p:nvSpPr>
          <p:cNvPr id="4" name="TextBox 3"/>
          <p:cNvSpPr txBox="1"/>
          <p:nvPr/>
        </p:nvSpPr>
        <p:spPr>
          <a:xfrm>
            <a:off x="640080" y="1078992"/>
            <a:ext cx="10881360" cy="457200"/>
          </a:xfrm>
          <a:prstGeom prst="rect">
            <a:avLst/>
          </a:prstGeom>
          <a:noFill/>
        </p:spPr>
        <p:txBody>
          <a:bodyPr wrap="square">
            <a:spAutoFit/>
          </a:bodyPr>
          <a:lstStyle/>
          <a:p>
            <a:pPr>
              <a:spcAft>
                <a:spcPts val="400"/>
              </a:spcAft>
            </a:pPr>
            <a:r>
              <a:rPr sz="1500" b="0">
                <a:solidFill>
                  <a:srgbClr val="5A6672"/>
                </a:solidFill>
                <a:latin typeface="맑은 고딕"/>
              </a:rPr>
              <a:t>dba_tables / dba_tab_col_statistics</a:t>
            </a:r>
          </a:p>
        </p:txBody>
      </p:sp>
      <p:sp>
        <p:nvSpPr>
          <p:cNvPr id="5" name="Rectangle 4"/>
          <p:cNvSpPr/>
          <p:nvPr/>
        </p:nvSpPr>
        <p:spPr>
          <a:xfrm>
            <a:off x="640080" y="1691640"/>
            <a:ext cx="10881360" cy="475488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27000" tIns="101600"/>
          <a:lstStyle/>
          <a:p>
            <a:pPr algn="ctr">
              <a:spcAft>
                <a:spcPts val="0"/>
              </a:spcAft>
            </a:pPr>
            <a:r>
              <a:rPr sz="1250" b="0">
                <a:solidFill>
                  <a:srgbClr val="F2F2F2"/>
                </a:solidFill>
                <a:latin typeface="Consolas"/>
              </a:rPr>
              <a:t>SQL&gt; SELECT num_rows,</a:t>
            </a:r>
          </a:p>
          <a:p>
            <a:pPr>
              <a:spcAft>
                <a:spcPts val="0"/>
              </a:spcAft>
            </a:pPr>
            <a:r>
              <a:rPr sz="1250" b="0">
                <a:solidFill>
                  <a:srgbClr val="F2F2F2"/>
                </a:solidFill>
                <a:latin typeface="Consolas"/>
              </a:rPr>
              <a:t>  2    (SELECT num_distinct FROM dba_tab_col_statistics</a:t>
            </a:r>
          </a:p>
          <a:p>
            <a:pPr>
              <a:spcAft>
                <a:spcPts val="0"/>
              </a:spcAft>
            </a:pPr>
            <a:r>
              <a:rPr sz="1250" b="0">
                <a:solidFill>
                  <a:srgbClr val="F2F2F2"/>
                </a:solidFill>
                <a:latin typeface="Consolas"/>
              </a:rPr>
              <a:t>  3      WHERE owner='SQLT' AND table_name='MEDICAL_CLAIMS'</a:t>
            </a:r>
          </a:p>
          <a:p>
            <a:pPr>
              <a:spcAft>
                <a:spcPts val="0"/>
              </a:spcAft>
            </a:pPr>
            <a:r>
              <a:rPr sz="1250" b="0">
                <a:solidFill>
                  <a:srgbClr val="F2F2F2"/>
                </a:solidFill>
                <a:latin typeface="Consolas"/>
              </a:rPr>
              <a:t>  4        AND column_name='HOSP_ID') ndv,</a:t>
            </a:r>
          </a:p>
          <a:p>
            <a:pPr>
              <a:spcAft>
                <a:spcPts val="0"/>
              </a:spcAft>
            </a:pPr>
            <a:r>
              <a:rPr sz="1250" b="0">
                <a:solidFill>
                  <a:srgbClr val="F2F2F2"/>
                </a:solidFill>
                <a:latin typeface="Consolas"/>
              </a:rPr>
              <a:t>  5    ROUND(num_rows/1000) est_per_value</a:t>
            </a:r>
          </a:p>
          <a:p>
            <a:pPr>
              <a:spcAft>
                <a:spcPts val="0"/>
              </a:spcAft>
            </a:pPr>
            <a:r>
              <a:rPr sz="1250" b="0">
                <a:solidFill>
                  <a:srgbClr val="F2F2F2"/>
                </a:solidFill>
                <a:latin typeface="Consolas"/>
              </a:rPr>
              <a:t>  6    FROM dba_tables</a:t>
            </a:r>
          </a:p>
          <a:p>
            <a:pPr>
              <a:spcAft>
                <a:spcPts val="0"/>
              </a:spcAft>
            </a:pPr>
            <a:r>
              <a:rPr sz="1250" b="0">
                <a:solidFill>
                  <a:srgbClr val="F2F2F2"/>
                </a:solidFill>
                <a:latin typeface="Consolas"/>
              </a:rPr>
              <a:t>  7    WHERE owner='SQLT' AND table_name='MEDICAL_CLAIMS';</a:t>
            </a:r>
          </a:p>
          <a:p>
            <a:pPr>
              <a:spcAft>
                <a:spcPts val="0"/>
              </a:spcAft>
            </a:pPr>
            <a:r>
              <a:rPr sz="1250" b="0">
                <a:solidFill>
                  <a:srgbClr val="F2F2F2"/>
                </a:solidFill>
                <a:latin typeface="Consolas"/>
              </a:rPr>
              <a:t/>
            </a:r>
          </a:p>
          <a:p>
            <a:pPr>
              <a:spcAft>
                <a:spcPts val="0"/>
              </a:spcAft>
            </a:pPr>
            <a:r>
              <a:rPr sz="1250" b="0">
                <a:solidFill>
                  <a:srgbClr val="F2F2F2"/>
                </a:solidFill>
                <a:latin typeface="Consolas"/>
              </a:rPr>
              <a:t>  NUM_ROWS        NDV EST_PER_VALUE</a:t>
            </a:r>
          </a:p>
          <a:p>
            <a:pPr>
              <a:spcAft>
                <a:spcPts val="0"/>
              </a:spcAft>
            </a:pPr>
            <a:r>
              <a:rPr sz="1250" b="0">
                <a:solidFill>
                  <a:srgbClr val="F2F2F2"/>
                </a:solidFill>
                <a:latin typeface="Consolas"/>
              </a:rPr>
              <a:t>---------- ---------- -------------</a:t>
            </a:r>
          </a:p>
          <a:p>
            <a:pPr>
              <a:spcAft>
                <a:spcPts val="0"/>
              </a:spcAft>
            </a:pPr>
            <a:r>
              <a:rPr sz="1250" b="0">
                <a:solidFill>
                  <a:srgbClr val="F2F2F2"/>
                </a:solidFill>
                <a:latin typeface="Consolas"/>
              </a:rPr>
              <a:t>    300000       1000           300</a:t>
            </a:r>
          </a:p>
          <a:p>
            <a:pPr>
              <a:spcAft>
                <a:spcPts val="0"/>
              </a:spcAft>
            </a:pPr>
            <a:r>
              <a:rPr sz="1250" b="0">
                <a:solidFill>
                  <a:srgbClr val="F2F2F2"/>
                </a:solidFill>
                <a:latin typeface="Consolas"/>
              </a:rPr>
              <a:t/>
            </a:r>
          </a:p>
          <a:p>
            <a:pPr>
              <a:spcAft>
                <a:spcPts val="0"/>
              </a:spcAft>
            </a:pPr>
            <a:r>
              <a:rPr sz="1250" b="0">
                <a:solidFill>
                  <a:srgbClr val="F2F2F2"/>
                </a:solidFill>
                <a:latin typeface="Consolas"/>
              </a:rPr>
              <a:t>SQL&gt; SELECT COUNT(*) FROM sqlt.medical_claims WHERE hosp_id=36;</a:t>
            </a:r>
          </a:p>
          <a:p>
            <a:pPr>
              <a:spcAft>
                <a:spcPts val="0"/>
              </a:spcAft>
            </a:pPr>
            <a:r>
              <a:rPr sz="1250" b="0">
                <a:solidFill>
                  <a:srgbClr val="F2F2F2"/>
                </a:solidFill>
                <a:latin typeface="Consolas"/>
              </a:rPr>
              <a:t>  -&gt; 3100   (균등가정 300의 약 10배)</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nchor="ctr">
            <a:spAutoFit/>
          </a:bodyPr>
          <a:lstStyle/>
          <a:p>
            <a:pPr>
              <a:spcAft>
                <a:spcPts val="400"/>
              </a:spcAft>
            </a:pPr>
            <a:r>
              <a:rPr sz="2600" b="1">
                <a:solidFill>
                  <a:srgbClr val="FFFFFF"/>
                </a:solidFill>
                <a:latin typeface="맑은 고딕"/>
              </a:rPr>
              <a:t>히스토그램의 세 종류</a:t>
            </a:r>
          </a:p>
        </p:txBody>
      </p:sp>
      <p:sp>
        <p:nvSpPr>
          <p:cNvPr id="4" name="TextBox 3"/>
          <p:cNvSpPr txBox="1"/>
          <p:nvPr/>
        </p:nvSpPr>
        <p:spPr>
          <a:xfrm>
            <a:off x="640080" y="1078992"/>
            <a:ext cx="10881360" cy="457200"/>
          </a:xfrm>
          <a:prstGeom prst="rect">
            <a:avLst/>
          </a:prstGeom>
          <a:noFill/>
        </p:spPr>
        <p:txBody>
          <a:bodyPr wrap="square">
            <a:spAutoFit/>
          </a:bodyPr>
          <a:lstStyle/>
          <a:p>
            <a:pPr>
              <a:spcAft>
                <a:spcPts val="400"/>
              </a:spcAft>
            </a:pPr>
            <a:r>
              <a:rPr sz="1500" b="0">
                <a:solidFill>
                  <a:srgbClr val="5A6672"/>
                </a:solidFill>
                <a:latin typeface="맑은 고딕"/>
              </a:rPr>
              <a:t>NDV·버킷 수·분포가 종류를 결정</a:t>
            </a:r>
          </a:p>
        </p:txBody>
      </p:sp>
      <p:sp>
        <p:nvSpPr>
          <p:cNvPr id="5" name="TextBox 4"/>
          <p:cNvSpPr txBox="1"/>
          <p:nvPr/>
        </p:nvSpPr>
        <p:spPr>
          <a:xfrm>
            <a:off x="640080" y="1737360"/>
            <a:ext cx="10881360" cy="4754880"/>
          </a:xfrm>
          <a:prstGeom prst="rect">
            <a:avLst/>
          </a:prstGeom>
          <a:noFill/>
        </p:spPr>
        <p:txBody>
          <a:bodyPr wrap="square">
            <a:spAutoFit/>
          </a:bodyPr>
          <a:lstStyle/>
          <a:p>
            <a:pPr>
              <a:spcAft>
                <a:spcPts val="800"/>
              </a:spcAft>
            </a:pPr>
            <a:r>
              <a:rPr sz="1700" b="0">
                <a:solidFill>
                  <a:srgbClr val="222222"/>
                </a:solidFill>
                <a:latin typeface="맑은 고딕"/>
              </a:rPr>
              <a:t>•  FREQUENCY: NDV ≤ 버킷 수(최대 254) — 값마다 버킷 하나, 가장 정밀</a:t>
            </a:r>
          </a:p>
          <a:p>
            <a:pPr>
              <a:spcAft>
                <a:spcPts val="800"/>
              </a:spcAft>
            </a:pPr>
            <a:r>
              <a:rPr sz="1700" b="0">
                <a:solidFill>
                  <a:srgbClr val="222222"/>
                </a:solidFill>
                <a:latin typeface="맑은 고딕"/>
              </a:rPr>
              <a:t>•  TOP-FREQUENCY: 상위 값이 전체 대부분 차지 — 롱테일 무시</a:t>
            </a:r>
          </a:p>
          <a:p>
            <a:pPr>
              <a:spcAft>
                <a:spcPts val="800"/>
              </a:spcAft>
            </a:pPr>
            <a:r>
              <a:rPr sz="1700" b="0">
                <a:solidFill>
                  <a:srgbClr val="222222"/>
                </a:solidFill>
                <a:latin typeface="맑은 고딕"/>
              </a:rPr>
              <a:t>•  HYBRID: NDV 많고 TOP-N 조건 불충족 — 높이균형+빈도 결합</a:t>
            </a:r>
          </a:p>
          <a:p>
            <a:pPr>
              <a:spcAft>
                <a:spcPts val="800"/>
              </a:spcAft>
            </a:pPr>
            <a:r>
              <a:rPr sz="1700" b="0">
                <a:solidFill>
                  <a:srgbClr val="222222"/>
                </a:solidFill>
                <a:latin typeface="맑은 고딕"/>
              </a:rPr>
              <a:t>•  버킷 끝값의 반복 횟수까지 기록해 편중·범위를 함께 표현</a:t>
            </a:r>
          </a:p>
          <a:p>
            <a:pPr>
              <a:spcAft>
                <a:spcPts val="800"/>
              </a:spcAft>
            </a:pPr>
            <a:r>
              <a:rPr sz="1700" b="0">
                <a:solidFill>
                  <a:srgbClr val="222222"/>
                </a:solidFill>
                <a:latin typeface="맑은 고딕"/>
              </a:rPr>
              <a:t>•  종류는 자동 수집이 데이터에 맞춰 스스로 선택</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nchor="ctr">
            <a:spAutoFit/>
          </a:bodyPr>
          <a:lstStyle/>
          <a:p>
            <a:pPr>
              <a:spcAft>
                <a:spcPts val="400"/>
              </a:spcAft>
            </a:pPr>
            <a:r>
              <a:rPr sz="2600" b="1">
                <a:solidFill>
                  <a:srgbClr val="FFFFFF"/>
                </a:solidFill>
                <a:latin typeface="맑은 고딕"/>
              </a:rPr>
              <a:t>컬럼별 히스토그램 현황 — 실측</a:t>
            </a:r>
          </a:p>
        </p:txBody>
      </p:sp>
      <p:sp>
        <p:nvSpPr>
          <p:cNvPr id="4" name="TextBox 3"/>
          <p:cNvSpPr txBox="1"/>
          <p:nvPr/>
        </p:nvSpPr>
        <p:spPr>
          <a:xfrm>
            <a:off x="640080" y="1078992"/>
            <a:ext cx="10881360" cy="457200"/>
          </a:xfrm>
          <a:prstGeom prst="rect">
            <a:avLst/>
          </a:prstGeom>
          <a:noFill/>
        </p:spPr>
        <p:txBody>
          <a:bodyPr wrap="square">
            <a:spAutoFit/>
          </a:bodyPr>
          <a:lstStyle/>
          <a:p>
            <a:pPr>
              <a:spcAft>
                <a:spcPts val="400"/>
              </a:spcAft>
            </a:pPr>
            <a:r>
              <a:rPr sz="1500" b="0">
                <a:solidFill>
                  <a:srgbClr val="5A6672"/>
                </a:solidFill>
                <a:latin typeface="맑은 고딕"/>
              </a:rPr>
              <a:t>DBA_TAB_COL_STATISTICS</a:t>
            </a:r>
          </a:p>
        </p:txBody>
      </p:sp>
      <p:sp>
        <p:nvSpPr>
          <p:cNvPr id="5" name="Rectangle 4"/>
          <p:cNvSpPr/>
          <p:nvPr/>
        </p:nvSpPr>
        <p:spPr>
          <a:xfrm>
            <a:off x="640080" y="1691640"/>
            <a:ext cx="10881360" cy="475488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27000" tIns="101600"/>
          <a:lstStyle/>
          <a:p>
            <a:pPr algn="ctr">
              <a:spcAft>
                <a:spcPts val="0"/>
              </a:spcAft>
            </a:pPr>
            <a:r>
              <a:rPr sz="1250" b="0">
                <a:solidFill>
                  <a:srgbClr val="F2F2F2"/>
                </a:solidFill>
                <a:latin typeface="Consolas"/>
              </a:rPr>
              <a:t>COLUMN_NAME   NUM_DISTINCT HISTOGRAM  NUM_BUCKETS</a:t>
            </a:r>
          </a:p>
          <a:p>
            <a:pPr>
              <a:spcAft>
                <a:spcPts val="0"/>
              </a:spcAft>
            </a:pPr>
            <a:r>
              <a:rPr sz="1250" b="0">
                <a:solidFill>
                  <a:srgbClr val="F2F2F2"/>
                </a:solidFill>
                <a:latin typeface="Consolas"/>
              </a:rPr>
              <a:t>------------- ------------ ---------- -----------</a:t>
            </a:r>
          </a:p>
          <a:p>
            <a:pPr>
              <a:spcAft>
                <a:spcPts val="0"/>
              </a:spcAft>
            </a:pPr>
            <a:r>
              <a:rPr sz="1250" b="0">
                <a:solidFill>
                  <a:srgbClr val="F2F2F2"/>
                </a:solidFill>
                <a:latin typeface="Consolas"/>
              </a:rPr>
              <a:t>CLAIM_ID            300000 HYBRID             254</a:t>
            </a:r>
          </a:p>
          <a:p>
            <a:pPr>
              <a:spcAft>
                <a:spcPts val="0"/>
              </a:spcAft>
            </a:pPr>
            <a:r>
              <a:rPr sz="1250" b="0">
                <a:solidFill>
                  <a:srgbClr val="F2F2F2"/>
                </a:solidFill>
                <a:latin typeface="Consolas"/>
              </a:rPr>
              <a:t>CLAIM_TYPE               2 FREQUENCY            2</a:t>
            </a:r>
          </a:p>
          <a:p>
            <a:pPr>
              <a:spcAft>
                <a:spcPts val="0"/>
              </a:spcAft>
            </a:pPr>
            <a:r>
              <a:rPr sz="1250" b="0">
                <a:solidFill>
                  <a:srgbClr val="F2F2F2"/>
                </a:solidFill>
                <a:latin typeface="Consolas"/>
              </a:rPr>
              <a:t>DEPT_CODE                9 FREQUENCY            9</a:t>
            </a:r>
          </a:p>
          <a:p>
            <a:pPr>
              <a:spcAft>
                <a:spcPts val="0"/>
              </a:spcAft>
            </a:pPr>
            <a:r>
              <a:rPr sz="1250" b="0">
                <a:solidFill>
                  <a:srgbClr val="F2F2F2"/>
                </a:solidFill>
                <a:latin typeface="Consolas"/>
              </a:rPr>
              <a:t>HOSP_ID               1000 HYBRID             254</a:t>
            </a:r>
          </a:p>
          <a:p>
            <a:pPr>
              <a:spcAft>
                <a:spcPts val="0"/>
              </a:spcAft>
            </a:pPr>
            <a:r>
              <a:rPr sz="1250" b="0">
                <a:solidFill>
                  <a:srgbClr val="F2F2F2"/>
                </a:solidFill>
                <a:latin typeface="Consolas"/>
              </a:rPr>
              <a:t>PAT_ID               50376 NONE                 1</a:t>
            </a:r>
          </a:p>
          <a:p>
            <a:pPr>
              <a:spcAft>
                <a:spcPts val="0"/>
              </a:spcAft>
            </a:pPr>
            <a:r>
              <a:rPr sz="1250" b="0">
                <a:solidFill>
                  <a:srgbClr val="F2F2F2"/>
                </a:solidFill>
                <a:latin typeface="Consolas"/>
              </a:rPr>
              <a:t>RECEIPT_DATE           366 HYBRID             254</a:t>
            </a:r>
          </a:p>
          <a:p>
            <a:pPr>
              <a:spcAft>
                <a:spcPts val="0"/>
              </a:spcAft>
            </a:pPr>
            <a:r>
              <a:rPr sz="1250" b="0">
                <a:solidFill>
                  <a:srgbClr val="F2F2F2"/>
                </a:solidFill>
                <a:latin typeface="Consolas"/>
              </a:rPr>
              <a:t>REVIEW_STATUS            2 FREQUENCY            2</a:t>
            </a:r>
          </a:p>
          <a:p>
            <a:pPr>
              <a:spcAft>
                <a:spcPts val="0"/>
              </a:spcAft>
            </a:pPr>
            <a:r>
              <a:rPr sz="1250" b="0">
                <a:solidFill>
                  <a:srgbClr val="F2F2F2"/>
                </a:solidFill>
                <a:latin typeface="Consolas"/>
              </a:rPr>
              <a:t>TOTAL_AMT           189344 HYBRID             254</a:t>
            </a:r>
          </a:p>
          <a:p>
            <a:pPr>
              <a:spcAft>
                <a:spcPts val="0"/>
              </a:spcAft>
            </a:pPr>
            <a:r>
              <a:rPr sz="1250" b="0">
                <a:solidFill>
                  <a:srgbClr val="F2F2F2"/>
                </a:solidFill>
                <a:latin typeface="Consolas"/>
              </a:rPr>
              <a:t>VISIT_DATE             379 NONE                 1</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nchor="ctr">
            <a:spAutoFit/>
          </a:bodyPr>
          <a:lstStyle/>
          <a:p>
            <a:pPr>
              <a:spcAft>
                <a:spcPts val="400"/>
              </a:spcAft>
            </a:pPr>
            <a:r>
              <a:rPr sz="2600" b="1">
                <a:solidFill>
                  <a:srgbClr val="FFFFFF"/>
                </a:solidFill>
                <a:latin typeface="맑은 고딕"/>
              </a:rPr>
              <a:t>히스토그램이란 무엇인가</a:t>
            </a:r>
          </a:p>
        </p:txBody>
      </p:sp>
      <p:sp>
        <p:nvSpPr>
          <p:cNvPr id="4" name="TextBox 3"/>
          <p:cNvSpPr txBox="1"/>
          <p:nvPr/>
        </p:nvSpPr>
        <p:spPr>
          <a:xfrm>
            <a:off x="640080" y="1078992"/>
            <a:ext cx="10881360" cy="457200"/>
          </a:xfrm>
          <a:prstGeom prst="rect">
            <a:avLst/>
          </a:prstGeom>
          <a:noFill/>
        </p:spPr>
        <p:txBody>
          <a:bodyPr wrap="square">
            <a:spAutoFit/>
          </a:bodyPr>
          <a:lstStyle/>
          <a:p>
            <a:pPr>
              <a:spcAft>
                <a:spcPts val="400"/>
              </a:spcAft>
            </a:pPr>
            <a:r>
              <a:rPr sz="1500" b="0">
                <a:solidFill>
                  <a:srgbClr val="5A6672"/>
                </a:solidFill>
                <a:latin typeface="맑은 고딕"/>
              </a:rPr>
              <a:t>값 분포를 버킷으로 저장</a:t>
            </a:r>
          </a:p>
        </p:txBody>
      </p:sp>
      <p:sp>
        <p:nvSpPr>
          <p:cNvPr id="5" name="TextBox 4"/>
          <p:cNvSpPr txBox="1"/>
          <p:nvPr/>
        </p:nvSpPr>
        <p:spPr>
          <a:xfrm>
            <a:off x="640080" y="1737360"/>
            <a:ext cx="10881360" cy="4754880"/>
          </a:xfrm>
          <a:prstGeom prst="rect">
            <a:avLst/>
          </a:prstGeom>
          <a:noFill/>
        </p:spPr>
        <p:txBody>
          <a:bodyPr wrap="square">
            <a:spAutoFit/>
          </a:bodyPr>
          <a:lstStyle/>
          <a:p>
            <a:pPr>
              <a:spcAft>
                <a:spcPts val="800"/>
              </a:spcAft>
            </a:pPr>
            <a:r>
              <a:rPr sz="1700" b="0">
                <a:solidFill>
                  <a:srgbClr val="222222"/>
                </a:solidFill>
                <a:latin typeface="맑은 고딕"/>
              </a:rPr>
              <a:t>•  컬럼 값의 분포를 버킷(bucket)으로 나눠 저장한 통계</a:t>
            </a:r>
          </a:p>
          <a:p>
            <a:pPr>
              <a:spcAft>
                <a:spcPts val="800"/>
              </a:spcAft>
            </a:pPr>
            <a:r>
              <a:rPr sz="1700" b="0">
                <a:solidFill>
                  <a:srgbClr val="222222"/>
                </a:solidFill>
                <a:latin typeface="맑은 고딕"/>
              </a:rPr>
              <a:t>•  값 종류가 적으면 값마다 버킷 하나 → 정확한 빈도</a:t>
            </a:r>
          </a:p>
          <a:p>
            <a:pPr>
              <a:spcAft>
                <a:spcPts val="800"/>
              </a:spcAft>
            </a:pPr>
            <a:r>
              <a:rPr sz="1700" b="0">
                <a:solidFill>
                  <a:srgbClr val="222222"/>
                </a:solidFill>
                <a:latin typeface="맑은 고딕"/>
              </a:rPr>
              <a:t>•  값 종류가 많으면 여러 값을 한 버킷에 묶어 대표</a:t>
            </a:r>
          </a:p>
          <a:p>
            <a:pPr>
              <a:spcAft>
                <a:spcPts val="800"/>
              </a:spcAft>
            </a:pPr>
            <a:r>
              <a:rPr sz="1700" b="0">
                <a:solidFill>
                  <a:srgbClr val="222222"/>
                </a:solidFill>
                <a:latin typeface="맑은 고딕"/>
              </a:rPr>
              <a:t>•  '평균의 함정'을 푸는 도구 — 균등 가정이 못 보는 쏠림을 드러냄</a:t>
            </a:r>
          </a:p>
          <a:p>
            <a:pPr>
              <a:spcAft>
                <a:spcPts val="800"/>
              </a:spcAft>
            </a:pPr>
            <a:r>
              <a:rPr sz="1700" b="0">
                <a:solidFill>
                  <a:srgbClr val="222222"/>
                </a:solidFill>
                <a:latin typeface="맑은 고딕"/>
              </a:rPr>
              <a:t>•  기본 상한 254버킷(12c 이후 최대 2,048)</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nchor="ctr">
            <a:spAutoFit/>
          </a:bodyPr>
          <a:lstStyle/>
          <a:p>
            <a:pPr>
              <a:spcAft>
                <a:spcPts val="400"/>
              </a:spcAft>
            </a:pPr>
            <a:r>
              <a:rPr sz="2600" b="1">
                <a:solidFill>
                  <a:srgbClr val="FFFFFF"/>
                </a:solidFill>
                <a:latin typeface="맑은 고딕"/>
              </a:rPr>
              <a:t>히스토그램은 접근 경로와 조인 모두에 영향</a:t>
            </a:r>
          </a:p>
        </p:txBody>
      </p:sp>
      <p:sp>
        <p:nvSpPr>
          <p:cNvPr id="4" name="TextBox 3"/>
          <p:cNvSpPr txBox="1"/>
          <p:nvPr/>
        </p:nvSpPr>
        <p:spPr>
          <a:xfrm>
            <a:off x="640080" y="1078992"/>
            <a:ext cx="10881360" cy="457200"/>
          </a:xfrm>
          <a:prstGeom prst="rect">
            <a:avLst/>
          </a:prstGeom>
          <a:noFill/>
        </p:spPr>
        <p:txBody>
          <a:bodyPr wrap="square">
            <a:spAutoFit/>
          </a:bodyPr>
          <a:lstStyle/>
          <a:p>
            <a:pPr>
              <a:spcAft>
                <a:spcPts val="400"/>
              </a:spcAft>
            </a:pPr>
            <a:r>
              <a:rPr sz="1500" b="0">
                <a:solidFill>
                  <a:srgbClr val="5A6672"/>
                </a:solidFill>
                <a:latin typeface="맑은 고딕"/>
              </a:rPr>
              <a:t>카디널리티 오판의 파급</a:t>
            </a:r>
          </a:p>
        </p:txBody>
      </p:sp>
      <p:sp>
        <p:nvSpPr>
          <p:cNvPr id="5" name="TextBox 4"/>
          <p:cNvSpPr txBox="1"/>
          <p:nvPr/>
        </p:nvSpPr>
        <p:spPr>
          <a:xfrm>
            <a:off x="640080" y="1737360"/>
            <a:ext cx="10881360" cy="4754880"/>
          </a:xfrm>
          <a:prstGeom prst="rect">
            <a:avLst/>
          </a:prstGeom>
          <a:noFill/>
        </p:spPr>
        <p:txBody>
          <a:bodyPr wrap="square">
            <a:spAutoFit/>
          </a:bodyPr>
          <a:lstStyle/>
          <a:p>
            <a:pPr>
              <a:spcAft>
                <a:spcPts val="800"/>
              </a:spcAft>
            </a:pPr>
            <a:r>
              <a:rPr sz="1700" b="0">
                <a:solidFill>
                  <a:srgbClr val="222222"/>
                </a:solidFill>
                <a:latin typeface="맑은 고딕"/>
              </a:rPr>
              <a:t>•  카디널리티 오판 300 → 소수라 여겨 인덱스 스캔 선택</a:t>
            </a:r>
          </a:p>
          <a:p>
            <a:pPr>
              <a:spcAft>
                <a:spcPts val="800"/>
              </a:spcAft>
            </a:pPr>
            <a:r>
              <a:rPr sz="1700" b="0">
                <a:solidFill>
                  <a:srgbClr val="222222"/>
                </a:solidFill>
                <a:latin typeface="맑은 고딕"/>
              </a:rPr>
              <a:t>•  실제 3,100건 → 3,100번 랜덤 액세스로 전체 스캔보다 느려짐</a:t>
            </a:r>
          </a:p>
          <a:p>
            <a:pPr>
              <a:spcAft>
                <a:spcPts val="800"/>
              </a:spcAft>
            </a:pPr>
            <a:r>
              <a:rPr sz="1700" b="0">
                <a:solidFill>
                  <a:srgbClr val="222222"/>
                </a:solidFill>
                <a:latin typeface="맑은 고딕"/>
              </a:rPr>
              <a:t>•  조인: 300으로 오판 → 중첩 루프 선택 → 예상의 10배 탐색</a:t>
            </a:r>
          </a:p>
          <a:p>
            <a:pPr>
              <a:spcAft>
                <a:spcPts val="800"/>
              </a:spcAft>
            </a:pPr>
            <a:r>
              <a:rPr sz="1700" b="0">
                <a:solidFill>
                  <a:srgbClr val="222222"/>
                </a:solidFill>
                <a:latin typeface="맑은 고딕"/>
              </a:rPr>
              <a:t>•  정확한 3,100 → 해시 조인 등 대량 처리 방식 선택 가능</a:t>
            </a:r>
          </a:p>
          <a:p>
            <a:pPr>
              <a:spcAft>
                <a:spcPts val="800"/>
              </a:spcAft>
            </a:pPr>
            <a:r>
              <a:rPr sz="1700" b="0">
                <a:solidFill>
                  <a:srgbClr val="222222"/>
                </a:solidFill>
                <a:latin typeface="맑은 고딕"/>
              </a:rPr>
              <a:t>•  히스토그램 하나의 정확도가 계획 전체로 파급된다</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spAutoFit/>
          </a:bodyPr>
          <a:lstStyle/>
          <a:p>
            <a:pPr>
              <a:spcAft>
                <a:spcPts val="400"/>
              </a:spcAft>
            </a:pPr>
            <a:r>
              <a:rPr sz="4000" b="1">
                <a:solidFill>
                  <a:srgbClr val="FFFFFF"/>
                </a:solidFill>
                <a:latin typeface="맑은 고딕"/>
              </a:rPr>
              <a:t>7.3</a:t>
            </a:r>
          </a:p>
        </p:txBody>
      </p:sp>
      <p:sp>
        <p:nvSpPr>
          <p:cNvPr id="4" name="TextBox 3"/>
          <p:cNvSpPr txBox="1"/>
          <p:nvPr/>
        </p:nvSpPr>
        <p:spPr>
          <a:xfrm>
            <a:off x="822960" y="3017520"/>
            <a:ext cx="10515600" cy="914400"/>
          </a:xfrm>
          <a:prstGeom prst="rect">
            <a:avLst/>
          </a:prstGeom>
          <a:noFill/>
        </p:spPr>
        <p:txBody>
          <a:bodyPr wrap="square">
            <a:spAutoFit/>
          </a:bodyPr>
          <a:lstStyle/>
          <a:p>
            <a:pPr>
              <a:spcAft>
                <a:spcPts val="400"/>
              </a:spcAft>
            </a:pPr>
            <a:r>
              <a:rPr sz="2800" b="1">
                <a:solidFill>
                  <a:srgbClr val="FFFFFF"/>
                </a:solidFill>
                <a:latin typeface="맑은 고딕"/>
              </a:rPr>
              <a:t>METHOD_OPT</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spAutoFit/>
          </a:bodyPr>
          <a:lstStyle/>
          <a:p>
            <a:pPr>
              <a:spcAft>
                <a:spcPts val="600"/>
              </a:spcAft>
            </a:pPr>
            <a:r>
              <a:rPr sz="1600" b="0">
                <a:solidFill>
                  <a:srgbClr val="FFFFFF"/>
                </a:solidFill>
                <a:latin typeface="맑은 고딕"/>
              </a:rPr>
              <a:t>•  FOR ALL COLUMNS SIZE AUTO 기본값</a:t>
            </a:r>
          </a:p>
          <a:p>
            <a:pPr>
              <a:spcAft>
                <a:spcPts val="600"/>
              </a:spcAft>
            </a:pPr>
            <a:r>
              <a:rPr sz="1600" b="0">
                <a:solidFill>
                  <a:srgbClr val="FFFFFF"/>
                </a:solidFill>
                <a:latin typeface="맑은 고딕"/>
              </a:rPr>
              <a:t>•  SIZE 절: AUTO·SKEWONLY·REPEAT·정수</a:t>
            </a:r>
          </a:p>
          <a:p>
            <a:pPr>
              <a:spcAft>
                <a:spcPts val="600"/>
              </a:spcAft>
            </a:pPr>
            <a:r>
              <a:rPr sz="1600" b="0">
                <a:solidFill>
                  <a:srgbClr val="FFFFFF"/>
                </a:solidFill>
                <a:latin typeface="맑은 고딕"/>
              </a:rPr>
              <a:t>•  FOR COLUMNS로 특정 컬럼 보완</a:t>
            </a:r>
          </a:p>
          <a:p>
            <a:pPr>
              <a:spcAft>
                <a:spcPts val="600"/>
              </a:spcAft>
            </a:pPr>
            <a:r>
              <a:rPr sz="1600" b="0">
                <a:solidFill>
                  <a:srgbClr val="FFFFFF"/>
                </a:solidFill>
                <a:latin typeface="맑은 고딕"/>
              </a:rPr>
              <a:t>•  AUTO_SAMPLE_SIZE의 정확도</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nchor="ctr">
            <a:spAutoFit/>
          </a:bodyPr>
          <a:lstStyle/>
          <a:p>
            <a:pPr>
              <a:spcAft>
                <a:spcPts val="400"/>
              </a:spcAft>
            </a:pPr>
            <a:r>
              <a:rPr sz="2600" b="1">
                <a:solidFill>
                  <a:srgbClr val="FFFFFF"/>
                </a:solidFill>
                <a:latin typeface="맑은 고딕"/>
              </a:rPr>
              <a:t>현재 통계 Preference 확인 — 실측</a:t>
            </a:r>
          </a:p>
        </p:txBody>
      </p:sp>
      <p:sp>
        <p:nvSpPr>
          <p:cNvPr id="4" name="TextBox 3"/>
          <p:cNvSpPr txBox="1"/>
          <p:nvPr/>
        </p:nvSpPr>
        <p:spPr>
          <a:xfrm>
            <a:off x="640080" y="1078992"/>
            <a:ext cx="10881360" cy="457200"/>
          </a:xfrm>
          <a:prstGeom prst="rect">
            <a:avLst/>
          </a:prstGeom>
          <a:noFill/>
        </p:spPr>
        <p:txBody>
          <a:bodyPr wrap="square">
            <a:spAutoFit/>
          </a:bodyPr>
          <a:lstStyle/>
          <a:p>
            <a:pPr>
              <a:spcAft>
                <a:spcPts val="400"/>
              </a:spcAft>
            </a:pPr>
            <a:r>
              <a:rPr sz="1500" b="0">
                <a:solidFill>
                  <a:srgbClr val="5A6672"/>
                </a:solidFill>
                <a:latin typeface="맑은 고딕"/>
              </a:rPr>
              <a:t>DBMS_STATS.GET_PREFS</a:t>
            </a:r>
          </a:p>
        </p:txBody>
      </p:sp>
      <p:sp>
        <p:nvSpPr>
          <p:cNvPr id="5" name="Rectangle 4"/>
          <p:cNvSpPr/>
          <p:nvPr/>
        </p:nvSpPr>
        <p:spPr>
          <a:xfrm>
            <a:off x="640080" y="1691640"/>
            <a:ext cx="10881360" cy="475488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27000" tIns="101600"/>
          <a:lstStyle/>
          <a:p>
            <a:pPr algn="ctr">
              <a:spcAft>
                <a:spcPts val="0"/>
              </a:spcAft>
            </a:pPr>
            <a:r>
              <a:rPr sz="1250" b="0">
                <a:solidFill>
                  <a:srgbClr val="F2F2F2"/>
                </a:solidFill>
                <a:latin typeface="Consolas"/>
              </a:rPr>
              <a:t>SQL&gt; SELECT</a:t>
            </a:r>
          </a:p>
          <a:p>
            <a:pPr>
              <a:spcAft>
                <a:spcPts val="0"/>
              </a:spcAft>
            </a:pPr>
            <a:r>
              <a:rPr sz="1250" b="0">
                <a:solidFill>
                  <a:srgbClr val="F2F2F2"/>
                </a:solidFill>
                <a:latin typeface="Consolas"/>
              </a:rPr>
              <a:t>  2   DBMS_STATS.GET_PREFS('METHOD_OPT','SQLT','MEDICAL_CLAIMS') method_opt,</a:t>
            </a:r>
          </a:p>
          <a:p>
            <a:pPr>
              <a:spcAft>
                <a:spcPts val="0"/>
              </a:spcAft>
            </a:pPr>
            <a:r>
              <a:rPr sz="1250" b="0">
                <a:solidFill>
                  <a:srgbClr val="F2F2F2"/>
                </a:solidFill>
                <a:latin typeface="Consolas"/>
              </a:rPr>
              <a:t>  3   DBMS_STATS.GET_PREFS('ESTIMATE_PERCENT') est_pct,</a:t>
            </a:r>
          </a:p>
          <a:p>
            <a:pPr>
              <a:spcAft>
                <a:spcPts val="0"/>
              </a:spcAft>
            </a:pPr>
            <a:r>
              <a:rPr sz="1250" b="0">
                <a:solidFill>
                  <a:srgbClr val="F2F2F2"/>
                </a:solidFill>
                <a:latin typeface="Consolas"/>
              </a:rPr>
              <a:t>  4   DBMS_STATS.GET_PREFS('DEGREE') degree</a:t>
            </a:r>
          </a:p>
          <a:p>
            <a:pPr>
              <a:spcAft>
                <a:spcPts val="0"/>
              </a:spcAft>
            </a:pPr>
            <a:r>
              <a:rPr sz="1250" b="0">
                <a:solidFill>
                  <a:srgbClr val="F2F2F2"/>
                </a:solidFill>
                <a:latin typeface="Consolas"/>
              </a:rPr>
              <a:t>  5   FROM dual;</a:t>
            </a:r>
          </a:p>
          <a:p>
            <a:pPr>
              <a:spcAft>
                <a:spcPts val="0"/>
              </a:spcAft>
            </a:pPr>
            <a:r>
              <a:rPr sz="1250" b="0">
                <a:solidFill>
                  <a:srgbClr val="F2F2F2"/>
                </a:solidFill>
                <a:latin typeface="Consolas"/>
              </a:rPr>
              <a:t/>
            </a:r>
          </a:p>
          <a:p>
            <a:pPr>
              <a:spcAft>
                <a:spcPts val="0"/>
              </a:spcAft>
            </a:pPr>
            <a:r>
              <a:rPr sz="1250" b="0">
                <a:solidFill>
                  <a:srgbClr val="F2F2F2"/>
                </a:solidFill>
                <a:latin typeface="Consolas"/>
              </a:rPr>
              <a:t>METHOD_OPT                 EST_PCT                      DEGREE</a:t>
            </a:r>
          </a:p>
          <a:p>
            <a:pPr>
              <a:spcAft>
                <a:spcPts val="0"/>
              </a:spcAft>
            </a:pPr>
            <a:r>
              <a:rPr sz="1250" b="0">
                <a:solidFill>
                  <a:srgbClr val="F2F2F2"/>
                </a:solidFill>
                <a:latin typeface="Consolas"/>
              </a:rPr>
              <a:t>-------------------------- ---------------------------- ------</a:t>
            </a:r>
          </a:p>
          <a:p>
            <a:pPr>
              <a:spcAft>
                <a:spcPts val="0"/>
              </a:spcAft>
            </a:pPr>
            <a:r>
              <a:rPr sz="1250" b="0">
                <a:solidFill>
                  <a:srgbClr val="F2F2F2"/>
                </a:solidFill>
                <a:latin typeface="Consolas"/>
              </a:rPr>
              <a:t>FOR ALL COLUMNS SIZE AUTO  DBMS_STATS.AUTO_SAMPLE_SIZE  NULL</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nchor="ctr">
            <a:spAutoFit/>
          </a:bodyPr>
          <a:lstStyle/>
          <a:p>
            <a:pPr>
              <a:spcAft>
                <a:spcPts val="400"/>
              </a:spcAft>
            </a:pPr>
            <a:r>
              <a:rPr sz="2600" b="1">
                <a:solidFill>
                  <a:srgbClr val="FFFFFF"/>
                </a:solidFill>
                <a:latin typeface="맑은 고딕"/>
              </a:rPr>
              <a:t>SIZE 절 — 무엇을, 어떻게</a:t>
            </a:r>
          </a:p>
        </p:txBody>
      </p:sp>
      <p:sp>
        <p:nvSpPr>
          <p:cNvPr id="4" name="TextBox 3"/>
          <p:cNvSpPr txBox="1"/>
          <p:nvPr/>
        </p:nvSpPr>
        <p:spPr>
          <a:xfrm>
            <a:off x="640080" y="1078992"/>
            <a:ext cx="10881360" cy="457200"/>
          </a:xfrm>
          <a:prstGeom prst="rect">
            <a:avLst/>
          </a:prstGeom>
          <a:noFill/>
        </p:spPr>
        <p:txBody>
          <a:bodyPr wrap="square">
            <a:spAutoFit/>
          </a:bodyPr>
          <a:lstStyle/>
          <a:p>
            <a:pPr>
              <a:spcAft>
                <a:spcPts val="400"/>
              </a:spcAft>
            </a:pPr>
            <a:r>
              <a:rPr sz="1500" b="0">
                <a:solidFill>
                  <a:srgbClr val="5A6672"/>
                </a:solidFill>
                <a:latin typeface="맑은 고딕"/>
              </a:rPr>
              <a:t>AUTO·SKEWONLY·REPEAT·정수</a:t>
            </a:r>
          </a:p>
        </p:txBody>
      </p:sp>
      <p:sp>
        <p:nvSpPr>
          <p:cNvPr id="5" name="TextBox 4"/>
          <p:cNvSpPr txBox="1"/>
          <p:nvPr/>
        </p:nvSpPr>
        <p:spPr>
          <a:xfrm>
            <a:off x="640080" y="1737360"/>
            <a:ext cx="10881360" cy="4754880"/>
          </a:xfrm>
          <a:prstGeom prst="rect">
            <a:avLst/>
          </a:prstGeom>
          <a:noFill/>
        </p:spPr>
        <p:txBody>
          <a:bodyPr wrap="square">
            <a:spAutoFit/>
          </a:bodyPr>
          <a:lstStyle/>
          <a:p>
            <a:pPr>
              <a:spcAft>
                <a:spcPts val="800"/>
              </a:spcAft>
            </a:pPr>
            <a:r>
              <a:rPr sz="1700" b="0">
                <a:solidFill>
                  <a:srgbClr val="222222"/>
                </a:solidFill>
                <a:latin typeface="맑은 고딕"/>
              </a:rPr>
              <a:t>•  AUTO: 컬럼 사용 이력 + 편중을 함께 보고 자동 결정 (기본)</a:t>
            </a:r>
          </a:p>
          <a:p>
            <a:pPr>
              <a:spcAft>
                <a:spcPts val="800"/>
              </a:spcAft>
            </a:pPr>
            <a:r>
              <a:rPr sz="1700" b="0">
                <a:solidFill>
                  <a:srgbClr val="222222"/>
                </a:solidFill>
                <a:latin typeface="맑은 고딕"/>
              </a:rPr>
              <a:t>•  SKEWONLY: 이력과 무관하게 편중 있는 모든 컬럼에 생성</a:t>
            </a:r>
          </a:p>
          <a:p>
            <a:pPr>
              <a:spcAft>
                <a:spcPts val="800"/>
              </a:spcAft>
            </a:pPr>
            <a:r>
              <a:rPr sz="1700" b="0">
                <a:solidFill>
                  <a:srgbClr val="222222"/>
                </a:solidFill>
                <a:latin typeface="맑은 고딕"/>
              </a:rPr>
              <a:t>•  REPEAT: 이미 히스토그램 있는 컬럼에만 다시 생성</a:t>
            </a:r>
          </a:p>
          <a:p>
            <a:pPr>
              <a:spcAft>
                <a:spcPts val="800"/>
              </a:spcAft>
            </a:pPr>
            <a:r>
              <a:rPr sz="1700" b="0">
                <a:solidFill>
                  <a:srgbClr val="222222"/>
                </a:solidFill>
                <a:latin typeface="맑은 고딕"/>
              </a:rPr>
              <a:t>•  정수 1~2048: 지정 버킷 수 강제 (1 = 히스토그램 없음)</a:t>
            </a:r>
          </a:p>
          <a:p>
            <a:pPr>
              <a:spcAft>
                <a:spcPts val="800"/>
              </a:spcAft>
            </a:pPr>
            <a:r>
              <a:rPr sz="1700" b="0">
                <a:solidFill>
                  <a:srgbClr val="222222"/>
                </a:solidFill>
                <a:latin typeface="맑은 고딕"/>
              </a:rPr>
              <a:t>•  FOR COLUMNS SIZE 254 HOSP_ID — 특정 컬럼만 보완</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nchor="ctr">
            <a:spAutoFit/>
          </a:bodyPr>
          <a:lstStyle/>
          <a:p>
            <a:pPr>
              <a:spcAft>
                <a:spcPts val="400"/>
              </a:spcAft>
            </a:pPr>
            <a:r>
              <a:rPr sz="2600" b="1">
                <a:solidFill>
                  <a:srgbClr val="FFFFFF"/>
                </a:solidFill>
                <a:latin typeface="맑은 고딕"/>
              </a:rPr>
              <a:t>실무 — METHOD_OPT를 함부로 바꾸지 않는다</a:t>
            </a:r>
          </a:p>
        </p:txBody>
      </p:sp>
      <p:sp>
        <p:nvSpPr>
          <p:cNvPr id="4" name="TextBox 3"/>
          <p:cNvSpPr txBox="1"/>
          <p:nvPr/>
        </p:nvSpPr>
        <p:spPr>
          <a:xfrm>
            <a:off x="640080" y="1078992"/>
            <a:ext cx="10881360" cy="457200"/>
          </a:xfrm>
          <a:prstGeom prst="rect">
            <a:avLst/>
          </a:prstGeom>
          <a:noFill/>
        </p:spPr>
        <p:txBody>
          <a:bodyPr wrap="square">
            <a:spAutoFit/>
          </a:bodyPr>
          <a:lstStyle/>
          <a:p>
            <a:pPr>
              <a:spcAft>
                <a:spcPts val="400"/>
              </a:spcAft>
            </a:pPr>
            <a:r>
              <a:rPr sz="1500" b="0">
                <a:solidFill>
                  <a:srgbClr val="5A6672"/>
                </a:solidFill>
                <a:latin typeface="맑은 고딕"/>
              </a:rPr>
              <a:t>모든 컬럼 254 강제의 위험</a:t>
            </a:r>
          </a:p>
        </p:txBody>
      </p:sp>
      <p:sp>
        <p:nvSpPr>
          <p:cNvPr id="5" name="TextBox 4"/>
          <p:cNvSpPr txBox="1"/>
          <p:nvPr/>
        </p:nvSpPr>
        <p:spPr>
          <a:xfrm>
            <a:off x="640080" y="1737360"/>
            <a:ext cx="10881360" cy="4754880"/>
          </a:xfrm>
          <a:prstGeom prst="rect">
            <a:avLst/>
          </a:prstGeom>
          <a:noFill/>
        </p:spPr>
        <p:txBody>
          <a:bodyPr wrap="square">
            <a:spAutoFit/>
          </a:bodyPr>
          <a:lstStyle/>
          <a:p>
            <a:pPr>
              <a:spcAft>
                <a:spcPts val="800"/>
              </a:spcAft>
            </a:pPr>
            <a:r>
              <a:rPr sz="1700" b="0">
                <a:solidFill>
                  <a:srgbClr val="222222"/>
                </a:solidFill>
                <a:latin typeface="맑은 고딕"/>
              </a:rPr>
              <a:t>•  '모든 컬럼 SIZE 254 강제'는 수집 시간·SYSAUX 증가</a:t>
            </a:r>
          </a:p>
          <a:p>
            <a:pPr>
              <a:spcAft>
                <a:spcPts val="800"/>
              </a:spcAft>
            </a:pPr>
            <a:r>
              <a:rPr sz="1700" b="0">
                <a:solidFill>
                  <a:srgbClr val="222222"/>
                </a:solidFill>
                <a:latin typeface="맑은 고딕"/>
              </a:rPr>
              <a:t>•  불필요한 히스토그램이 바인드 피킹과 얽혀 계획 불안정</a:t>
            </a:r>
          </a:p>
          <a:p>
            <a:pPr>
              <a:spcAft>
                <a:spcPts val="800"/>
              </a:spcAft>
            </a:pPr>
            <a:r>
              <a:rPr sz="1700" b="0">
                <a:solidFill>
                  <a:srgbClr val="222222"/>
                </a:solidFill>
                <a:latin typeface="맑은 고딕"/>
              </a:rPr>
              <a:t>•  먼저 어떤 컬럼이 조건절에 편중과 함께 쓰이는지 확인</a:t>
            </a:r>
          </a:p>
          <a:p>
            <a:pPr>
              <a:spcAft>
                <a:spcPts val="800"/>
              </a:spcAft>
            </a:pPr>
            <a:r>
              <a:rPr sz="1700" b="0">
                <a:solidFill>
                  <a:srgbClr val="222222"/>
                </a:solidFill>
                <a:latin typeface="맑은 고딕"/>
              </a:rPr>
              <a:t>•  AUTO가 놓친 특정 컬럼만 FOR COLUMNS로 보완</a:t>
            </a:r>
          </a:p>
          <a:p>
            <a:pPr>
              <a:spcAft>
                <a:spcPts val="800"/>
              </a:spcAft>
            </a:pPr>
            <a:r>
              <a:rPr sz="1700" b="0">
                <a:solidFill>
                  <a:srgbClr val="222222"/>
                </a:solidFill>
                <a:latin typeface="맑은 고딕"/>
              </a:rPr>
              <a:t>•  테이블 Preference로 관리하고 변경 전후 비교</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spAutoFit/>
          </a:bodyPr>
          <a:lstStyle/>
          <a:p>
            <a:pPr>
              <a:spcAft>
                <a:spcPts val="400"/>
              </a:spcAft>
            </a:pPr>
            <a:r>
              <a:rPr sz="4000" b="1">
                <a:solidFill>
                  <a:srgbClr val="FFFFFF"/>
                </a:solidFill>
                <a:latin typeface="맑은 고딕"/>
              </a:rPr>
              <a:t>7.4</a:t>
            </a:r>
          </a:p>
        </p:txBody>
      </p:sp>
      <p:sp>
        <p:nvSpPr>
          <p:cNvPr id="4" name="TextBox 3"/>
          <p:cNvSpPr txBox="1"/>
          <p:nvPr/>
        </p:nvSpPr>
        <p:spPr>
          <a:xfrm>
            <a:off x="822960" y="3017520"/>
            <a:ext cx="10515600" cy="914400"/>
          </a:xfrm>
          <a:prstGeom prst="rect">
            <a:avLst/>
          </a:prstGeom>
          <a:noFill/>
        </p:spPr>
        <p:txBody>
          <a:bodyPr wrap="square">
            <a:spAutoFit/>
          </a:bodyPr>
          <a:lstStyle/>
          <a:p>
            <a:pPr>
              <a:spcAft>
                <a:spcPts val="400"/>
              </a:spcAft>
            </a:pPr>
            <a:r>
              <a:rPr sz="2800" b="1">
                <a:solidFill>
                  <a:srgbClr val="FFFFFF"/>
                </a:solidFill>
                <a:latin typeface="맑은 고딕"/>
              </a:rPr>
              <a:t>확장 통계</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spAutoFit/>
          </a:bodyPr>
          <a:lstStyle/>
          <a:p>
            <a:pPr>
              <a:spcAft>
                <a:spcPts val="600"/>
              </a:spcAft>
            </a:pPr>
            <a:r>
              <a:rPr sz="1600" b="0">
                <a:solidFill>
                  <a:srgbClr val="FFFFFF"/>
                </a:solidFill>
                <a:latin typeface="맑은 고딕"/>
              </a:rPr>
              <a:t>•  컬럼 그룹 — 상관 컬럼의 곱셈 오류</a:t>
            </a:r>
          </a:p>
          <a:p>
            <a:pPr>
              <a:spcAft>
                <a:spcPts val="600"/>
              </a:spcAft>
            </a:pPr>
            <a:r>
              <a:rPr sz="1600" b="0">
                <a:solidFill>
                  <a:srgbClr val="FFFFFF"/>
                </a:solidFill>
                <a:latin typeface="맑은 고딕"/>
              </a:rPr>
              <a:t>•  표현식 통계 — 함수가 컬럼을 가릴 때</a:t>
            </a:r>
          </a:p>
          <a:p>
            <a:pPr>
              <a:spcAft>
                <a:spcPts val="600"/>
              </a:spcAft>
            </a:pPr>
            <a:r>
              <a:rPr sz="1600" b="0">
                <a:solidFill>
                  <a:srgbClr val="FFFFFF"/>
                </a:solidFill>
                <a:latin typeface="맑은 고딕"/>
              </a:rPr>
              <a:t>•  CREATE_EXTENDED_STATS</a:t>
            </a:r>
          </a:p>
          <a:p>
            <a:pPr>
              <a:spcAft>
                <a:spcPts val="600"/>
              </a:spcAft>
            </a:pPr>
            <a:r>
              <a:rPr sz="1600" b="0">
                <a:solidFill>
                  <a:srgbClr val="FFFFFF"/>
                </a:solidFill>
                <a:latin typeface="맑은 고딕"/>
              </a:rPr>
              <a:t>•  생성 후 반드시 재수집</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nchor="ctr">
            <a:spAutoFit/>
          </a:bodyPr>
          <a:lstStyle/>
          <a:p>
            <a:pPr>
              <a:spcAft>
                <a:spcPts val="400"/>
              </a:spcAft>
            </a:pPr>
            <a:r>
              <a:rPr sz="2600" b="1">
                <a:solidFill>
                  <a:srgbClr val="FFFFFF"/>
                </a:solidFill>
                <a:latin typeface="맑은 고딕"/>
              </a:rPr>
              <a:t>컬럼 그룹 — 상관된 컬럼의 곱셈 오류</a:t>
            </a:r>
          </a:p>
        </p:txBody>
      </p:sp>
      <p:sp>
        <p:nvSpPr>
          <p:cNvPr id="4" name="TextBox 3"/>
          <p:cNvSpPr txBox="1"/>
          <p:nvPr/>
        </p:nvSpPr>
        <p:spPr>
          <a:xfrm>
            <a:off x="640080" y="1078992"/>
            <a:ext cx="10881360" cy="457200"/>
          </a:xfrm>
          <a:prstGeom prst="rect">
            <a:avLst/>
          </a:prstGeom>
          <a:noFill/>
        </p:spPr>
        <p:txBody>
          <a:bodyPr wrap="square">
            <a:spAutoFit/>
          </a:bodyPr>
          <a:lstStyle/>
          <a:p>
            <a:pPr>
              <a:spcAft>
                <a:spcPts val="400"/>
              </a:spcAft>
            </a:pPr>
            <a:r>
              <a:rPr sz="1500" b="0">
                <a:solidFill>
                  <a:srgbClr val="5A6672"/>
                </a:solidFill>
                <a:latin typeface="맑은 고딕"/>
              </a:rPr>
              <a:t>독립 가정이 빗나갈 때</a:t>
            </a:r>
          </a:p>
        </p:txBody>
      </p:sp>
      <p:sp>
        <p:nvSpPr>
          <p:cNvPr id="5" name="TextBox 4"/>
          <p:cNvSpPr txBox="1"/>
          <p:nvPr/>
        </p:nvSpPr>
        <p:spPr>
          <a:xfrm>
            <a:off x="640080" y="1737360"/>
            <a:ext cx="10881360" cy="4754880"/>
          </a:xfrm>
          <a:prstGeom prst="rect">
            <a:avLst/>
          </a:prstGeom>
          <a:noFill/>
        </p:spPr>
        <p:txBody>
          <a:bodyPr wrap="square">
            <a:spAutoFit/>
          </a:bodyPr>
          <a:lstStyle/>
          <a:p>
            <a:pPr>
              <a:spcAft>
                <a:spcPts val="800"/>
              </a:spcAft>
            </a:pPr>
            <a:r>
              <a:rPr sz="1700" b="0">
                <a:solidFill>
                  <a:srgbClr val="222222"/>
                </a:solidFill>
                <a:latin typeface="맑은 고딕"/>
              </a:rPr>
              <a:t>•  옵티마이저는 AND 조건의 선택도를 서로 독립이라 가정하고 곱함</a:t>
            </a:r>
          </a:p>
          <a:p>
            <a:pPr>
              <a:spcAft>
                <a:spcPts val="800"/>
              </a:spcAft>
            </a:pPr>
            <a:r>
              <a:rPr sz="1700" b="0">
                <a:solidFill>
                  <a:srgbClr val="222222"/>
                </a:solidFill>
                <a:latin typeface="맑은 고딕"/>
              </a:rPr>
              <a:t>•  CLAIM_TYPE(외래 240,489 / 입원 59,511) × DEPT_CODE(9종)</a:t>
            </a:r>
          </a:p>
          <a:p>
            <a:pPr>
              <a:spcAft>
                <a:spcPts val="800"/>
              </a:spcAft>
            </a:pPr>
            <a:r>
              <a:rPr sz="1700" b="0">
                <a:solidFill>
                  <a:srgbClr val="222222"/>
                </a:solidFill>
                <a:latin typeface="맑은 고딕"/>
              </a:rPr>
              <a:t>•  상관되면 곱셈 추정이 실제와 크게 어긋남</a:t>
            </a:r>
          </a:p>
          <a:p>
            <a:pPr>
              <a:spcAft>
                <a:spcPts val="800"/>
              </a:spcAft>
            </a:pPr>
            <a:r>
              <a:rPr sz="1700" b="0">
                <a:solidFill>
                  <a:srgbClr val="222222"/>
                </a:solidFill>
                <a:latin typeface="맑은 고딕"/>
              </a:rPr>
              <a:t>•  예: 0.80 × 0.111 ≈ 26,700건 추정 — 실제와 다를 수 있음</a:t>
            </a:r>
          </a:p>
          <a:p>
            <a:pPr>
              <a:spcAft>
                <a:spcPts val="800"/>
              </a:spcAft>
            </a:pPr>
            <a:r>
              <a:rPr sz="1700" b="0">
                <a:solidFill>
                  <a:srgbClr val="222222"/>
                </a:solidFill>
                <a:latin typeface="맑은 고딕"/>
              </a:rPr>
              <a:t>•  컬럼 그룹 통계 → 조합의 실제 NDV·분포 참조</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nchor="ctr">
            <a:spAutoFit/>
          </a:bodyPr>
          <a:lstStyle/>
          <a:p>
            <a:pPr>
              <a:spcAft>
                <a:spcPts val="400"/>
              </a:spcAft>
            </a:pPr>
            <a:r>
              <a:rPr sz="2600" b="1">
                <a:solidFill>
                  <a:srgbClr val="FFFFFF"/>
                </a:solidFill>
                <a:latin typeface="맑은 고딕"/>
              </a:rPr>
              <a:t>확장 통계 생성 — 컬럼 그룹</a:t>
            </a:r>
          </a:p>
        </p:txBody>
      </p:sp>
      <p:sp>
        <p:nvSpPr>
          <p:cNvPr id="4" name="TextBox 3"/>
          <p:cNvSpPr txBox="1"/>
          <p:nvPr/>
        </p:nvSpPr>
        <p:spPr>
          <a:xfrm>
            <a:off x="640080" y="1078992"/>
            <a:ext cx="10881360" cy="457200"/>
          </a:xfrm>
          <a:prstGeom prst="rect">
            <a:avLst/>
          </a:prstGeom>
          <a:noFill/>
        </p:spPr>
        <p:txBody>
          <a:bodyPr wrap="square">
            <a:spAutoFit/>
          </a:bodyPr>
          <a:lstStyle/>
          <a:p>
            <a:pPr>
              <a:spcAft>
                <a:spcPts val="400"/>
              </a:spcAft>
            </a:pPr>
            <a:r>
              <a:rPr sz="1500" b="0">
                <a:solidFill>
                  <a:srgbClr val="5A6672"/>
                </a:solidFill>
                <a:latin typeface="맑은 고딕"/>
              </a:rPr>
              <a:t>CREATE_EXTENDED_STATS + 재수집</a:t>
            </a:r>
          </a:p>
        </p:txBody>
      </p:sp>
      <p:sp>
        <p:nvSpPr>
          <p:cNvPr id="5" name="Rectangle 4"/>
          <p:cNvSpPr/>
          <p:nvPr/>
        </p:nvSpPr>
        <p:spPr>
          <a:xfrm>
            <a:off x="640080" y="1691640"/>
            <a:ext cx="10881360" cy="475488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27000" tIns="101600"/>
          <a:lstStyle/>
          <a:p>
            <a:pPr algn="ctr">
              <a:spcAft>
                <a:spcPts val="0"/>
              </a:spcAft>
            </a:pPr>
            <a:r>
              <a:rPr sz="1250" b="0">
                <a:solidFill>
                  <a:srgbClr val="F2F2F2"/>
                </a:solidFill>
                <a:latin typeface="Consolas"/>
              </a:rPr>
              <a:t>SQL&gt; SELECT DBMS_STATS.CREATE_EXTENDED_STATS(</a:t>
            </a:r>
          </a:p>
          <a:p>
            <a:pPr>
              <a:spcAft>
                <a:spcPts val="0"/>
              </a:spcAft>
            </a:pPr>
            <a:r>
              <a:rPr sz="1250" b="0">
                <a:solidFill>
                  <a:srgbClr val="F2F2F2"/>
                </a:solidFill>
                <a:latin typeface="Consolas"/>
              </a:rPr>
              <a:t>  2         'SQLT','MEDICAL_CLAIMS',</a:t>
            </a:r>
          </a:p>
          <a:p>
            <a:pPr>
              <a:spcAft>
                <a:spcPts val="0"/>
              </a:spcAft>
            </a:pPr>
            <a:r>
              <a:rPr sz="1250" b="0">
                <a:solidFill>
                  <a:srgbClr val="F2F2F2"/>
                </a:solidFill>
                <a:latin typeface="Consolas"/>
              </a:rPr>
              <a:t>  3         '(CLAIM_TYPE,DEPT_CODE)') AS ext_name</a:t>
            </a:r>
          </a:p>
          <a:p>
            <a:pPr>
              <a:spcAft>
                <a:spcPts val="0"/>
              </a:spcAft>
            </a:pPr>
            <a:r>
              <a:rPr sz="1250" b="0">
                <a:solidFill>
                  <a:srgbClr val="F2F2F2"/>
                </a:solidFill>
                <a:latin typeface="Consolas"/>
              </a:rPr>
              <a:t>  4    FROM dual;</a:t>
            </a:r>
          </a:p>
          <a:p>
            <a:pPr>
              <a:spcAft>
                <a:spcPts val="0"/>
              </a:spcAft>
            </a:pPr>
            <a:r>
              <a:rPr sz="1250" b="0">
                <a:solidFill>
                  <a:srgbClr val="F2F2F2"/>
                </a:solidFill>
                <a:latin typeface="Consolas"/>
              </a:rPr>
              <a:t/>
            </a:r>
          </a:p>
          <a:p>
            <a:pPr>
              <a:spcAft>
                <a:spcPts val="0"/>
              </a:spcAft>
            </a:pPr>
            <a:r>
              <a:rPr sz="1250" b="0">
                <a:solidFill>
                  <a:srgbClr val="F2F2F2"/>
                </a:solidFill>
                <a:latin typeface="Consolas"/>
              </a:rPr>
              <a:t>-- 생성만으로는 값이 비어 있다. 반드시 재수집!</a:t>
            </a:r>
          </a:p>
          <a:p>
            <a:pPr>
              <a:spcAft>
                <a:spcPts val="0"/>
              </a:spcAft>
            </a:pPr>
            <a:r>
              <a:rPr sz="1250" b="0">
                <a:solidFill>
                  <a:srgbClr val="F2F2F2"/>
                </a:solidFill>
                <a:latin typeface="Consolas"/>
              </a:rPr>
              <a:t>SQL&gt; EXEC DBMS_STATS.GATHER_TABLE_STATS('SQLT','MEDICAL_CLAIMS',-</a:t>
            </a:r>
          </a:p>
          <a:p>
            <a:pPr>
              <a:spcAft>
                <a:spcPts val="0"/>
              </a:spcAft>
            </a:pPr>
            <a:r>
              <a:rPr sz="1250" b="0">
                <a:solidFill>
                  <a:srgbClr val="F2F2F2"/>
                </a:solidFill>
                <a:latin typeface="Consolas"/>
              </a:rPr>
              <a:t>&gt;   method_opt=&gt;'FOR ALL COLUMNS SIZE AUTO -</a:t>
            </a:r>
          </a:p>
          <a:p>
            <a:pPr>
              <a:spcAft>
                <a:spcPts val="0"/>
              </a:spcAft>
            </a:pPr>
            <a:r>
              <a:rPr sz="1250" b="0">
                <a:solidFill>
                  <a:srgbClr val="F2F2F2"/>
                </a:solidFill>
                <a:latin typeface="Consolas"/>
              </a:rPr>
              <a:t>&gt;                FOR COLUMNS (CLAIM_TYPE,DEPT_CODE)');</a:t>
            </a:r>
          </a:p>
          <a:p>
            <a:pPr>
              <a:spcAft>
                <a:spcPts val="0"/>
              </a:spcAft>
            </a:pPr>
            <a:r>
              <a:rPr sz="1250" b="0">
                <a:solidFill>
                  <a:srgbClr val="F2F2F2"/>
                </a:solidFill>
                <a:latin typeface="Consolas"/>
              </a:rPr>
              <a:t/>
            </a:r>
          </a:p>
          <a:p>
            <a:pPr>
              <a:spcAft>
                <a:spcPts val="0"/>
              </a:spcAft>
            </a:pPr>
            <a:r>
              <a:rPr sz="1250" b="0">
                <a:solidFill>
                  <a:srgbClr val="F2F2F2"/>
                </a:solidFill>
                <a:latin typeface="Consolas"/>
              </a:rPr>
              <a:t>-- 확인: USER_STAT_EXTENSIONS / 제거: DROP_EXTENDED_STATS</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nchor="ctr">
            <a:spAutoFit/>
          </a:bodyPr>
          <a:lstStyle/>
          <a:p>
            <a:pPr>
              <a:spcAft>
                <a:spcPts val="400"/>
              </a:spcAft>
            </a:pPr>
            <a:r>
              <a:rPr sz="2600" b="1">
                <a:solidFill>
                  <a:srgbClr val="FFFFFF"/>
                </a:solidFill>
                <a:latin typeface="맑은 고딕"/>
              </a:rPr>
              <a:t>표현식 통계 — 함수가 컬럼을 가릴 때</a:t>
            </a:r>
          </a:p>
        </p:txBody>
      </p:sp>
      <p:sp>
        <p:nvSpPr>
          <p:cNvPr id="4" name="TextBox 3"/>
          <p:cNvSpPr txBox="1"/>
          <p:nvPr/>
        </p:nvSpPr>
        <p:spPr>
          <a:xfrm>
            <a:off x="640080" y="1078992"/>
            <a:ext cx="10881360" cy="457200"/>
          </a:xfrm>
          <a:prstGeom prst="rect">
            <a:avLst/>
          </a:prstGeom>
          <a:noFill/>
        </p:spPr>
        <p:txBody>
          <a:bodyPr wrap="square">
            <a:spAutoFit/>
          </a:bodyPr>
          <a:lstStyle/>
          <a:p>
            <a:pPr>
              <a:spcAft>
                <a:spcPts val="400"/>
              </a:spcAft>
            </a:pPr>
            <a:r>
              <a:rPr sz="1500" b="0">
                <a:solidFill>
                  <a:srgbClr val="5A6672"/>
                </a:solidFill>
                <a:latin typeface="맑은 고딕"/>
              </a:rPr>
              <a:t>기본 선택도 1%의 함정</a:t>
            </a:r>
          </a:p>
        </p:txBody>
      </p:sp>
      <p:sp>
        <p:nvSpPr>
          <p:cNvPr id="5" name="TextBox 4"/>
          <p:cNvSpPr txBox="1"/>
          <p:nvPr/>
        </p:nvSpPr>
        <p:spPr>
          <a:xfrm>
            <a:off x="640080" y="1737360"/>
            <a:ext cx="10881360" cy="4754880"/>
          </a:xfrm>
          <a:prstGeom prst="rect">
            <a:avLst/>
          </a:prstGeom>
          <a:noFill/>
        </p:spPr>
        <p:txBody>
          <a:bodyPr wrap="square">
            <a:spAutoFit/>
          </a:bodyPr>
          <a:lstStyle/>
          <a:p>
            <a:pPr>
              <a:spcAft>
                <a:spcPts val="800"/>
              </a:spcAft>
            </a:pPr>
            <a:r>
              <a:rPr sz="1700" b="0">
                <a:solidFill>
                  <a:srgbClr val="222222"/>
                </a:solidFill>
                <a:latin typeface="맑은 고딕"/>
              </a:rPr>
              <a:t>•  WHERE EXTRACT(YEAR FROM receipt_date)=2026 — 원본 통계 못 씀</a:t>
            </a:r>
          </a:p>
          <a:p>
            <a:pPr>
              <a:spcAft>
                <a:spcPts val="800"/>
              </a:spcAft>
            </a:pPr>
            <a:r>
              <a:rPr sz="1700" b="0">
                <a:solidFill>
                  <a:srgbClr val="222222"/>
                </a:solidFill>
                <a:latin typeface="맑은 고딕"/>
              </a:rPr>
              <a:t>•  함수 결과 분포를 몰라 기본 선택도(대개 1%)로 추정</a:t>
            </a:r>
          </a:p>
          <a:p>
            <a:pPr>
              <a:spcAft>
                <a:spcPts val="800"/>
              </a:spcAft>
            </a:pPr>
            <a:r>
              <a:rPr sz="1700" b="0">
                <a:solidFill>
                  <a:srgbClr val="222222"/>
                </a:solidFill>
                <a:latin typeface="맑은 고딕"/>
              </a:rPr>
              <a:t>•  실제 비율이 크면 카디널리티 크게 어긋남</a:t>
            </a:r>
          </a:p>
          <a:p>
            <a:pPr>
              <a:spcAft>
                <a:spcPts val="800"/>
              </a:spcAft>
            </a:pPr>
            <a:r>
              <a:rPr sz="1700" b="0">
                <a:solidFill>
                  <a:srgbClr val="222222"/>
                </a:solidFill>
                <a:latin typeface="맑은 고딕"/>
              </a:rPr>
              <a:t>•  표현식 통계 → 함수 결과의 NDV·분포 저장</a:t>
            </a:r>
          </a:p>
          <a:p>
            <a:pPr>
              <a:spcAft>
                <a:spcPts val="800"/>
              </a:spcAft>
            </a:pPr>
            <a:r>
              <a:rPr sz="1700" b="0">
                <a:solidFill>
                  <a:srgbClr val="222222"/>
                </a:solidFill>
                <a:latin typeface="맑은 고딕"/>
              </a:rPr>
              <a:t>•  함수 기반 인덱스를 만들면 표현식 통계도 함께 생성</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nchor="ctr">
            <a:spAutoFit/>
          </a:bodyPr>
          <a:lstStyle/>
          <a:p>
            <a:pPr>
              <a:spcAft>
                <a:spcPts val="400"/>
              </a:spcAft>
            </a:pPr>
            <a:r>
              <a:rPr sz="2600" b="1">
                <a:solidFill>
                  <a:srgbClr val="FFFFFF"/>
                </a:solidFill>
                <a:latin typeface="맑은 고딕"/>
              </a:rPr>
              <a:t>확장 통계 생성 — 표현식</a:t>
            </a:r>
          </a:p>
        </p:txBody>
      </p:sp>
      <p:sp>
        <p:nvSpPr>
          <p:cNvPr id="4" name="TextBox 3"/>
          <p:cNvSpPr txBox="1"/>
          <p:nvPr/>
        </p:nvSpPr>
        <p:spPr>
          <a:xfrm>
            <a:off x="640080" y="1078992"/>
            <a:ext cx="10881360" cy="457200"/>
          </a:xfrm>
          <a:prstGeom prst="rect">
            <a:avLst/>
          </a:prstGeom>
          <a:noFill/>
        </p:spPr>
        <p:txBody>
          <a:bodyPr wrap="square">
            <a:spAutoFit/>
          </a:bodyPr>
          <a:lstStyle/>
          <a:p>
            <a:pPr>
              <a:spcAft>
                <a:spcPts val="400"/>
              </a:spcAft>
            </a:pPr>
            <a:r>
              <a:rPr sz="1500" b="0">
                <a:solidFill>
                  <a:srgbClr val="5A6672"/>
                </a:solidFill>
                <a:latin typeface="맑은 고딕"/>
              </a:rPr>
              <a:t>EXTRACT(YEAR FROM RECEIPT_DATE)</a:t>
            </a:r>
          </a:p>
        </p:txBody>
      </p:sp>
      <p:sp>
        <p:nvSpPr>
          <p:cNvPr id="5" name="Rectangle 4"/>
          <p:cNvSpPr/>
          <p:nvPr/>
        </p:nvSpPr>
        <p:spPr>
          <a:xfrm>
            <a:off x="640080" y="1691640"/>
            <a:ext cx="10881360" cy="475488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27000" tIns="101600"/>
          <a:lstStyle/>
          <a:p>
            <a:pPr algn="ctr">
              <a:spcAft>
                <a:spcPts val="0"/>
              </a:spcAft>
            </a:pPr>
            <a:r>
              <a:rPr sz="1250" b="0">
                <a:solidFill>
                  <a:srgbClr val="F2F2F2"/>
                </a:solidFill>
                <a:latin typeface="Consolas"/>
              </a:rPr>
              <a:t>SQL&gt; SELECT DBMS_STATS.CREATE_EXTENDED_STATS(</a:t>
            </a:r>
          </a:p>
          <a:p>
            <a:pPr>
              <a:spcAft>
                <a:spcPts val="0"/>
              </a:spcAft>
            </a:pPr>
            <a:r>
              <a:rPr sz="1250" b="0">
                <a:solidFill>
                  <a:srgbClr val="F2F2F2"/>
                </a:solidFill>
                <a:latin typeface="Consolas"/>
              </a:rPr>
              <a:t>  2         'SQLT','MEDICAL_CLAIMS',</a:t>
            </a:r>
          </a:p>
          <a:p>
            <a:pPr>
              <a:spcAft>
                <a:spcPts val="0"/>
              </a:spcAft>
            </a:pPr>
            <a:r>
              <a:rPr sz="1250" b="0">
                <a:solidFill>
                  <a:srgbClr val="F2F2F2"/>
                </a:solidFill>
                <a:latin typeface="Consolas"/>
              </a:rPr>
              <a:t>  3         '(EXTRACT(YEAR FROM RECEIPT_DATE))') AS ext_name</a:t>
            </a:r>
          </a:p>
          <a:p>
            <a:pPr>
              <a:spcAft>
                <a:spcPts val="0"/>
              </a:spcAft>
            </a:pPr>
            <a:r>
              <a:rPr sz="1250" b="0">
                <a:solidFill>
                  <a:srgbClr val="F2F2F2"/>
                </a:solidFill>
                <a:latin typeface="Consolas"/>
              </a:rPr>
              <a:t>  4    FROM dual;</a:t>
            </a:r>
          </a:p>
          <a:p>
            <a:pPr>
              <a:spcAft>
                <a:spcPts val="0"/>
              </a:spcAft>
            </a:pPr>
            <a:r>
              <a:rPr sz="1250" b="0">
                <a:solidFill>
                  <a:srgbClr val="F2F2F2"/>
                </a:solidFill>
                <a:latin typeface="Consolas"/>
              </a:rPr>
              <a:t/>
            </a:r>
          </a:p>
          <a:p>
            <a:pPr>
              <a:spcAft>
                <a:spcPts val="0"/>
              </a:spcAft>
            </a:pPr>
            <a:r>
              <a:rPr sz="1250" b="0">
                <a:solidFill>
                  <a:srgbClr val="F2F2F2"/>
                </a:solidFill>
                <a:latin typeface="Consolas"/>
              </a:rPr>
              <a:t>SQL&gt; EXEC DBMS_STATS.GATHER_TABLE_STATS('SQLT','MEDICAL_CLAIMS',-</a:t>
            </a:r>
          </a:p>
          <a:p>
            <a:pPr>
              <a:spcAft>
                <a:spcPts val="0"/>
              </a:spcAft>
            </a:pPr>
            <a:r>
              <a:rPr sz="1250" b="0">
                <a:solidFill>
                  <a:srgbClr val="F2F2F2"/>
                </a:solidFill>
                <a:latin typeface="Consolas"/>
              </a:rPr>
              <a:t>&gt;   method_opt=&gt;'FOR ALL COLUMNS SIZE AUTO -</a:t>
            </a:r>
          </a:p>
          <a:p>
            <a:pPr>
              <a:spcAft>
                <a:spcPts val="0"/>
              </a:spcAft>
            </a:pPr>
            <a:r>
              <a:rPr sz="1250" b="0">
                <a:solidFill>
                  <a:srgbClr val="F2F2F2"/>
                </a:solidFill>
                <a:latin typeface="Consolas"/>
              </a:rPr>
              <a:t>&gt;     FOR COLUMNS (EXTRACT(YEAR FROM RECEIPT_DATE)) SIZE AUTO');</a:t>
            </a:r>
          </a:p>
          <a:p>
            <a:pPr>
              <a:spcAft>
                <a:spcPts val="0"/>
              </a:spcAft>
            </a:pPr>
            <a:r>
              <a:rPr sz="1250" b="0">
                <a:solidFill>
                  <a:srgbClr val="F2F2F2"/>
                </a:solidFill>
                <a:latin typeface="Consolas"/>
              </a:rPr>
              <a:t/>
            </a:r>
          </a:p>
          <a:p>
            <a:pPr>
              <a:spcAft>
                <a:spcPts val="0"/>
              </a:spcAft>
            </a:pPr>
            <a:r>
              <a:rPr sz="1250" b="0">
                <a:solidFill>
                  <a:srgbClr val="F2F2F2"/>
                </a:solidFill>
                <a:latin typeface="Consolas"/>
              </a:rPr>
              <a:t>-- 함수 기반 인덱스를 만들면 표현식 통계도 함께 생성됨</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spAutoFit/>
          </a:bodyPr>
          <a:lstStyle/>
          <a:p>
            <a:pPr>
              <a:spcAft>
                <a:spcPts val="400"/>
              </a:spcAft>
            </a:pPr>
            <a:r>
              <a:rPr sz="4000" b="1">
                <a:solidFill>
                  <a:srgbClr val="FFFFFF"/>
                </a:solidFill>
                <a:latin typeface="맑은 고딕"/>
              </a:rPr>
              <a:t>7.5</a:t>
            </a:r>
          </a:p>
        </p:txBody>
      </p:sp>
      <p:sp>
        <p:nvSpPr>
          <p:cNvPr id="4" name="TextBox 3"/>
          <p:cNvSpPr txBox="1"/>
          <p:nvPr/>
        </p:nvSpPr>
        <p:spPr>
          <a:xfrm>
            <a:off x="822960" y="3017520"/>
            <a:ext cx="10515600" cy="914400"/>
          </a:xfrm>
          <a:prstGeom prst="rect">
            <a:avLst/>
          </a:prstGeom>
          <a:noFill/>
        </p:spPr>
        <p:txBody>
          <a:bodyPr wrap="square">
            <a:spAutoFit/>
          </a:bodyPr>
          <a:lstStyle/>
          <a:p>
            <a:pPr>
              <a:spcAft>
                <a:spcPts val="400"/>
              </a:spcAft>
            </a:pPr>
            <a:r>
              <a:rPr sz="2800" b="1">
                <a:solidFill>
                  <a:srgbClr val="FFFFFF"/>
                </a:solidFill>
                <a:latin typeface="맑은 고딕"/>
              </a:rPr>
              <a:t>시스템 통계</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spAutoFit/>
          </a:bodyPr>
          <a:lstStyle/>
          <a:p>
            <a:pPr>
              <a:spcAft>
                <a:spcPts val="600"/>
              </a:spcAft>
            </a:pPr>
            <a:r>
              <a:rPr sz="1600" b="0">
                <a:solidFill>
                  <a:srgbClr val="FFFFFF"/>
                </a:solidFill>
                <a:latin typeface="맑은 고딕"/>
              </a:rPr>
              <a:t>•  NOWORKLOAD vs WORKLOAD</a:t>
            </a:r>
          </a:p>
          <a:p>
            <a:pPr>
              <a:spcAft>
                <a:spcPts val="600"/>
              </a:spcAft>
            </a:pPr>
            <a:r>
              <a:rPr sz="1600" b="0">
                <a:solidFill>
                  <a:srgbClr val="FFFFFF"/>
                </a:solidFill>
                <a:latin typeface="맑은 고딕"/>
              </a:rPr>
              <a:t>•  SYS.AUX_STATS$ 실측 (현재 NOWORKLOAD)</a:t>
            </a:r>
          </a:p>
          <a:p>
            <a:pPr>
              <a:spcAft>
                <a:spcPts val="600"/>
              </a:spcAft>
            </a:pPr>
            <a:r>
              <a:rPr sz="1600" b="0">
                <a:solidFill>
                  <a:srgbClr val="FFFFFF"/>
                </a:solidFill>
                <a:latin typeface="맑은 고딕"/>
              </a:rPr>
              <a:t>•  MBRC·SREADTIM·MREADTIM</a:t>
            </a:r>
          </a:p>
          <a:p>
            <a:pPr>
              <a:spcAft>
                <a:spcPts val="600"/>
              </a:spcAft>
            </a:pPr>
            <a:r>
              <a:rPr sz="1600" b="0">
                <a:solidFill>
                  <a:srgbClr val="FFFFFF"/>
                </a:solidFill>
                <a:latin typeface="맑은 고딕"/>
              </a:rPr>
              <a:t>•  수집하면 계획이 바뀔 수 있다 → 원복 필수</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nchor="ctr">
            <a:spAutoFit/>
          </a:bodyPr>
          <a:lstStyle/>
          <a:p>
            <a:pPr>
              <a:spcAft>
                <a:spcPts val="400"/>
              </a:spcAft>
            </a:pPr>
            <a:r>
              <a:rPr sz="2600" b="1">
                <a:solidFill>
                  <a:srgbClr val="FFFFFF"/>
                </a:solidFill>
                <a:latin typeface="맑은 고딕"/>
              </a:rPr>
              <a:t>시스템 통계란</a:t>
            </a:r>
          </a:p>
        </p:txBody>
      </p:sp>
      <p:sp>
        <p:nvSpPr>
          <p:cNvPr id="4" name="TextBox 3"/>
          <p:cNvSpPr txBox="1"/>
          <p:nvPr/>
        </p:nvSpPr>
        <p:spPr>
          <a:xfrm>
            <a:off x="640080" y="1078992"/>
            <a:ext cx="10881360" cy="457200"/>
          </a:xfrm>
          <a:prstGeom prst="rect">
            <a:avLst/>
          </a:prstGeom>
          <a:noFill/>
        </p:spPr>
        <p:txBody>
          <a:bodyPr wrap="square">
            <a:spAutoFit/>
          </a:bodyPr>
          <a:lstStyle/>
          <a:p>
            <a:pPr>
              <a:spcAft>
                <a:spcPts val="400"/>
              </a:spcAft>
            </a:pPr>
            <a:r>
              <a:rPr sz="1500" b="0">
                <a:solidFill>
                  <a:srgbClr val="5A6672"/>
                </a:solidFill>
                <a:latin typeface="맑은 고딕"/>
              </a:rPr>
              <a:t>하드웨어를 옵티마이저에게 알린다</a:t>
            </a:r>
          </a:p>
        </p:txBody>
      </p:sp>
      <p:sp>
        <p:nvSpPr>
          <p:cNvPr id="5" name="TextBox 4"/>
          <p:cNvSpPr txBox="1"/>
          <p:nvPr/>
        </p:nvSpPr>
        <p:spPr>
          <a:xfrm>
            <a:off x="640080" y="1737360"/>
            <a:ext cx="10881360" cy="4754880"/>
          </a:xfrm>
          <a:prstGeom prst="rect">
            <a:avLst/>
          </a:prstGeom>
          <a:noFill/>
        </p:spPr>
        <p:txBody>
          <a:bodyPr wrap="square">
            <a:spAutoFit/>
          </a:bodyPr>
          <a:lstStyle/>
          <a:p>
            <a:pPr>
              <a:spcAft>
                <a:spcPts val="800"/>
              </a:spcAft>
            </a:pPr>
            <a:r>
              <a:rPr sz="1700" b="0">
                <a:solidFill>
                  <a:srgbClr val="222222"/>
                </a:solidFill>
                <a:latin typeface="맑은 고딕"/>
              </a:rPr>
              <a:t>•  데이터 통계 = 카디널리티(몇 건) / 시스템 통계 = 비용(얼마나)</a:t>
            </a:r>
          </a:p>
          <a:p>
            <a:pPr>
              <a:spcAft>
                <a:spcPts val="800"/>
              </a:spcAft>
            </a:pPr>
            <a:r>
              <a:rPr sz="1700" b="0">
                <a:solidFill>
                  <a:srgbClr val="222222"/>
                </a:solidFill>
                <a:latin typeface="맑은 고딕"/>
              </a:rPr>
              <a:t>•  NOWORKLOAD: 임의 I/O로 측정한 기본 특성 (DB 생성 시 기본)</a:t>
            </a:r>
          </a:p>
          <a:p>
            <a:pPr>
              <a:spcAft>
                <a:spcPts val="800"/>
              </a:spcAft>
            </a:pPr>
            <a:r>
              <a:rPr sz="1700" b="0">
                <a:solidFill>
                  <a:srgbClr val="222222"/>
                </a:solidFill>
                <a:latin typeface="맑은 고딕"/>
              </a:rPr>
              <a:t>•  WORKLOAD: 실제 부하 구간을 관찰해 측정</a:t>
            </a:r>
          </a:p>
          <a:p>
            <a:pPr>
              <a:spcAft>
                <a:spcPts val="800"/>
              </a:spcAft>
            </a:pPr>
            <a:r>
              <a:rPr sz="1700" b="0">
                <a:solidFill>
                  <a:srgbClr val="222222"/>
                </a:solidFill>
                <a:latin typeface="맑은 고딕"/>
              </a:rPr>
              <a:t>•  전체 스캔(다중 블록) vs 인덱스 스캔(단일 블록) 비용 기준</a:t>
            </a:r>
          </a:p>
          <a:p>
            <a:pPr>
              <a:spcAft>
                <a:spcPts val="800"/>
              </a:spcAft>
            </a:pPr>
            <a:r>
              <a:rPr sz="1700" b="0">
                <a:solidFill>
                  <a:srgbClr val="222222"/>
                </a:solidFill>
                <a:latin typeface="맑은 고딕"/>
              </a:rPr>
              <a:t>•  SYS.AUX_STATS$에 저장 · 인스턴스 전역에 영향</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nchor="ctr">
            <a:spAutoFit/>
          </a:bodyPr>
          <a:lstStyle/>
          <a:p>
            <a:pPr>
              <a:spcAft>
                <a:spcPts val="400"/>
              </a:spcAft>
            </a:pPr>
            <a:r>
              <a:rPr sz="2600" b="1">
                <a:solidFill>
                  <a:srgbClr val="FFFFFF"/>
                </a:solidFill>
                <a:latin typeface="맑은 고딕"/>
              </a:rPr>
              <a:t>시스템 통계 현황 — 실측</a:t>
            </a:r>
          </a:p>
        </p:txBody>
      </p:sp>
      <p:sp>
        <p:nvSpPr>
          <p:cNvPr id="4" name="TextBox 3"/>
          <p:cNvSpPr txBox="1"/>
          <p:nvPr/>
        </p:nvSpPr>
        <p:spPr>
          <a:xfrm>
            <a:off x="640080" y="1078992"/>
            <a:ext cx="10881360" cy="457200"/>
          </a:xfrm>
          <a:prstGeom prst="rect">
            <a:avLst/>
          </a:prstGeom>
          <a:noFill/>
        </p:spPr>
        <p:txBody>
          <a:bodyPr wrap="square">
            <a:spAutoFit/>
          </a:bodyPr>
          <a:lstStyle/>
          <a:p>
            <a:pPr>
              <a:spcAft>
                <a:spcPts val="400"/>
              </a:spcAft>
            </a:pPr>
            <a:r>
              <a:rPr sz="1500" b="0">
                <a:solidFill>
                  <a:srgbClr val="5A6672"/>
                </a:solidFill>
                <a:latin typeface="맑은 고딕"/>
              </a:rPr>
              <a:t>SYS.AUX_STATS$ (NOWORKLOAD 상태)</a:t>
            </a:r>
          </a:p>
        </p:txBody>
      </p:sp>
      <p:sp>
        <p:nvSpPr>
          <p:cNvPr id="5" name="Rectangle 4"/>
          <p:cNvSpPr/>
          <p:nvPr/>
        </p:nvSpPr>
        <p:spPr>
          <a:xfrm>
            <a:off x="640080" y="1691640"/>
            <a:ext cx="10881360" cy="475488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27000" tIns="101600"/>
          <a:lstStyle/>
          <a:p>
            <a:pPr algn="ctr">
              <a:spcAft>
                <a:spcPts val="0"/>
              </a:spcAft>
            </a:pPr>
            <a:r>
              <a:rPr sz="1250" b="0">
                <a:solidFill>
                  <a:srgbClr val="F2F2F2"/>
                </a:solidFill>
                <a:latin typeface="Consolas"/>
              </a:rPr>
              <a:t>SQL&gt; SELECT sname, pname, pval1 FROM sys.aux_stats$</a:t>
            </a:r>
          </a:p>
          <a:p>
            <a:pPr>
              <a:spcAft>
                <a:spcPts val="0"/>
              </a:spcAft>
            </a:pPr>
            <a:r>
              <a:rPr sz="1250" b="0">
                <a:solidFill>
                  <a:srgbClr val="F2F2F2"/>
                </a:solidFill>
                <a:latin typeface="Consolas"/>
              </a:rPr>
              <a:t>  2    WHERE pname IN ('CPUSPEEDNW','IOSEEKTIM','IOTFRSPEED',</a:t>
            </a:r>
          </a:p>
          <a:p>
            <a:pPr>
              <a:spcAft>
                <a:spcPts val="0"/>
              </a:spcAft>
            </a:pPr>
            <a:r>
              <a:rPr sz="1250" b="0">
                <a:solidFill>
                  <a:srgbClr val="F2F2F2"/>
                </a:solidFill>
                <a:latin typeface="Consolas"/>
              </a:rPr>
              <a:t>  3                    'MBRC','SREADTIM','MREADTIM') ORDER BY pname;</a:t>
            </a:r>
          </a:p>
          <a:p>
            <a:pPr>
              <a:spcAft>
                <a:spcPts val="0"/>
              </a:spcAft>
            </a:pPr>
            <a:r>
              <a:rPr sz="1250" b="0">
                <a:solidFill>
                  <a:srgbClr val="F2F2F2"/>
                </a:solidFill>
                <a:latin typeface="Consolas"/>
              </a:rPr>
              <a:t/>
            </a:r>
          </a:p>
          <a:p>
            <a:pPr>
              <a:spcAft>
                <a:spcPts val="0"/>
              </a:spcAft>
            </a:pPr>
            <a:r>
              <a:rPr sz="1250" b="0">
                <a:solidFill>
                  <a:srgbClr val="F2F2F2"/>
                </a:solidFill>
                <a:latin typeface="Consolas"/>
              </a:rPr>
              <a:t>SNAME          PNAME              PVAL1</a:t>
            </a:r>
          </a:p>
          <a:p>
            <a:pPr>
              <a:spcAft>
                <a:spcPts val="0"/>
              </a:spcAft>
            </a:pPr>
            <a:r>
              <a:rPr sz="1250" b="0">
                <a:solidFill>
                  <a:srgbClr val="F2F2F2"/>
                </a:solidFill>
                <a:latin typeface="Consolas"/>
              </a:rPr>
              <a:t>-------------- ------------ -----------</a:t>
            </a:r>
          </a:p>
          <a:p>
            <a:pPr>
              <a:spcAft>
                <a:spcPts val="0"/>
              </a:spcAft>
            </a:pPr>
            <a:r>
              <a:rPr sz="1250" b="0">
                <a:solidFill>
                  <a:srgbClr val="F2F2F2"/>
                </a:solidFill>
                <a:latin typeface="Consolas"/>
              </a:rPr>
              <a:t>SYSSTATS_MAIN  CPUSPEEDNW   3106.95187</a:t>
            </a:r>
          </a:p>
          <a:p>
            <a:pPr>
              <a:spcAft>
                <a:spcPts val="0"/>
              </a:spcAft>
            </a:pPr>
            <a:r>
              <a:rPr sz="1250" b="0">
                <a:solidFill>
                  <a:srgbClr val="F2F2F2"/>
                </a:solidFill>
                <a:latin typeface="Consolas"/>
              </a:rPr>
              <a:t>SYSSTATS_MAIN  IOSEEKTIM            10</a:t>
            </a:r>
          </a:p>
          <a:p>
            <a:pPr>
              <a:spcAft>
                <a:spcPts val="0"/>
              </a:spcAft>
            </a:pPr>
            <a:r>
              <a:rPr sz="1250" b="0">
                <a:solidFill>
                  <a:srgbClr val="F2F2F2"/>
                </a:solidFill>
                <a:latin typeface="Consolas"/>
              </a:rPr>
              <a:t>SYSSTATS_MAIN  IOTFRSPEED         4096</a:t>
            </a:r>
          </a:p>
          <a:p>
            <a:pPr>
              <a:spcAft>
                <a:spcPts val="0"/>
              </a:spcAft>
            </a:pPr>
            <a:r>
              <a:rPr sz="1250" b="0">
                <a:solidFill>
                  <a:srgbClr val="F2F2F2"/>
                </a:solidFill>
                <a:latin typeface="Consolas"/>
              </a:rPr>
              <a:t>SYSSTATS_MAIN  MBRC             (null)</a:t>
            </a:r>
          </a:p>
          <a:p>
            <a:pPr>
              <a:spcAft>
                <a:spcPts val="0"/>
              </a:spcAft>
            </a:pPr>
            <a:r>
              <a:rPr sz="1250" b="0">
                <a:solidFill>
                  <a:srgbClr val="F2F2F2"/>
                </a:solidFill>
                <a:latin typeface="Consolas"/>
              </a:rPr>
              <a:t>SYSSTATS_MAIN  MREADTIM         (null)</a:t>
            </a:r>
          </a:p>
          <a:p>
            <a:pPr>
              <a:spcAft>
                <a:spcPts val="0"/>
              </a:spcAft>
            </a:pPr>
            <a:r>
              <a:rPr sz="1250" b="0">
                <a:solidFill>
                  <a:srgbClr val="F2F2F2"/>
                </a:solidFill>
                <a:latin typeface="Consolas"/>
              </a:rPr>
              <a:t>SYSSTATS_MAIN  SREADTIM         (null)</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nchor="ctr">
            <a:spAutoFit/>
          </a:bodyPr>
          <a:lstStyle/>
          <a:p>
            <a:pPr>
              <a:spcAft>
                <a:spcPts val="400"/>
              </a:spcAft>
            </a:pPr>
            <a:r>
              <a:rPr sz="2600" b="1">
                <a:solidFill>
                  <a:srgbClr val="FFFFFF"/>
                </a:solidFill>
                <a:latin typeface="맑은 고딕"/>
              </a:rPr>
              <a:t>WORKLOAD 수집과 원복</a:t>
            </a:r>
          </a:p>
        </p:txBody>
      </p:sp>
      <p:sp>
        <p:nvSpPr>
          <p:cNvPr id="4" name="TextBox 3"/>
          <p:cNvSpPr txBox="1"/>
          <p:nvPr/>
        </p:nvSpPr>
        <p:spPr>
          <a:xfrm>
            <a:off x="640080" y="1078992"/>
            <a:ext cx="10881360" cy="457200"/>
          </a:xfrm>
          <a:prstGeom prst="rect">
            <a:avLst/>
          </a:prstGeom>
          <a:noFill/>
        </p:spPr>
        <p:txBody>
          <a:bodyPr wrap="square">
            <a:spAutoFit/>
          </a:bodyPr>
          <a:lstStyle/>
          <a:p>
            <a:pPr>
              <a:spcAft>
                <a:spcPts val="400"/>
              </a:spcAft>
            </a:pPr>
            <a:r>
              <a:rPr sz="1500" b="0">
                <a:solidFill>
                  <a:srgbClr val="5A6672"/>
                </a:solidFill>
                <a:latin typeface="맑은 고딕"/>
              </a:rPr>
              <a:t>계획이 바뀔 수 있다</a:t>
            </a:r>
          </a:p>
        </p:txBody>
      </p:sp>
      <p:sp>
        <p:nvSpPr>
          <p:cNvPr id="5" name="TextBox 4"/>
          <p:cNvSpPr txBox="1"/>
          <p:nvPr/>
        </p:nvSpPr>
        <p:spPr>
          <a:xfrm>
            <a:off x="640080" y="1737360"/>
            <a:ext cx="10881360" cy="4754880"/>
          </a:xfrm>
          <a:prstGeom prst="rect">
            <a:avLst/>
          </a:prstGeom>
          <a:noFill/>
        </p:spPr>
        <p:txBody>
          <a:bodyPr wrap="square">
            <a:spAutoFit/>
          </a:bodyPr>
          <a:lstStyle/>
          <a:p>
            <a:pPr>
              <a:spcAft>
                <a:spcPts val="800"/>
              </a:spcAft>
            </a:pPr>
            <a:r>
              <a:rPr sz="1700" b="0">
                <a:solidFill>
                  <a:srgbClr val="222222"/>
                </a:solidFill>
                <a:latin typeface="맑은 고딕"/>
              </a:rPr>
              <a:t>•  START ~ STOP 사이 실제 I/O 관찰 → MBRC·SREADTIM·MREADTIM 채움</a:t>
            </a:r>
          </a:p>
          <a:p>
            <a:pPr>
              <a:spcAft>
                <a:spcPts val="800"/>
              </a:spcAft>
            </a:pPr>
            <a:r>
              <a:rPr sz="1700" b="0">
                <a:solidFill>
                  <a:srgbClr val="222222"/>
                </a:solidFill>
                <a:latin typeface="맑은 고딕"/>
              </a:rPr>
              <a:t>•  대표성 있는 부하 구간을 골라야 함 (한산한 구간은 위험)</a:t>
            </a:r>
          </a:p>
          <a:p>
            <a:pPr>
              <a:spcAft>
                <a:spcPts val="800"/>
              </a:spcAft>
            </a:pPr>
            <a:r>
              <a:rPr sz="1700" b="0">
                <a:solidFill>
                  <a:srgbClr val="222222"/>
                </a:solidFill>
                <a:latin typeface="맑은 고딕"/>
              </a:rPr>
              <a:t>•  수집하면 전체 스캔↔인덱스 스캔 상대 비용 변화 → 계획 변경 가능</a:t>
            </a:r>
          </a:p>
          <a:p>
            <a:pPr>
              <a:spcAft>
                <a:spcPts val="800"/>
              </a:spcAft>
            </a:pPr>
            <a:r>
              <a:rPr sz="1700" b="0">
                <a:solidFill>
                  <a:srgbClr val="222222"/>
                </a:solidFill>
                <a:latin typeface="맑은 고딕"/>
              </a:rPr>
              <a:t>•  개선일 수도, 회귀일 수도 있다</a:t>
            </a:r>
          </a:p>
          <a:p>
            <a:pPr>
              <a:spcAft>
                <a:spcPts val="800"/>
              </a:spcAft>
            </a:pPr>
            <a:r>
              <a:rPr sz="1700" b="0">
                <a:solidFill>
                  <a:srgbClr val="222222"/>
                </a:solidFill>
                <a:latin typeface="맑은 고딕"/>
              </a:rPr>
              <a:t>•  원복: DELETE_SYSTEM_STATS → GATHER_SYSTEM_STATS('NOWORKLOAD')</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spAutoFit/>
          </a:bodyPr>
          <a:lstStyle/>
          <a:p>
            <a:pPr>
              <a:spcAft>
                <a:spcPts val="400"/>
              </a:spcAft>
            </a:pPr>
            <a:r>
              <a:rPr sz="4000" b="1">
                <a:solidFill>
                  <a:srgbClr val="FFFFFF"/>
                </a:solidFill>
                <a:latin typeface="맑은 고딕"/>
              </a:rPr>
              <a:t>7.6</a:t>
            </a:r>
          </a:p>
        </p:txBody>
      </p:sp>
      <p:sp>
        <p:nvSpPr>
          <p:cNvPr id="4" name="TextBox 3"/>
          <p:cNvSpPr txBox="1"/>
          <p:nvPr/>
        </p:nvSpPr>
        <p:spPr>
          <a:xfrm>
            <a:off x="822960" y="3017520"/>
            <a:ext cx="10515600" cy="914400"/>
          </a:xfrm>
          <a:prstGeom prst="rect">
            <a:avLst/>
          </a:prstGeom>
          <a:noFill/>
        </p:spPr>
        <p:txBody>
          <a:bodyPr wrap="square">
            <a:spAutoFit/>
          </a:bodyPr>
          <a:lstStyle/>
          <a:p>
            <a:pPr>
              <a:spcAft>
                <a:spcPts val="400"/>
              </a:spcAft>
            </a:pPr>
            <a:r>
              <a:rPr sz="2800" b="1">
                <a:solidFill>
                  <a:srgbClr val="FFFFFF"/>
                </a:solidFill>
                <a:latin typeface="맑은 고딕"/>
              </a:rPr>
              <a:t>통계 Preferences</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spAutoFit/>
          </a:bodyPr>
          <a:lstStyle/>
          <a:p>
            <a:pPr>
              <a:spcAft>
                <a:spcPts val="600"/>
              </a:spcAft>
            </a:pPr>
            <a:r>
              <a:rPr sz="1600" b="0">
                <a:solidFill>
                  <a:srgbClr val="FFFFFF"/>
                </a:solidFill>
                <a:latin typeface="맑은 고딕"/>
              </a:rPr>
              <a:t>•  GLOBAL · DATABASE · SCHEMA · TABLE</a:t>
            </a:r>
          </a:p>
          <a:p>
            <a:pPr>
              <a:spcAft>
                <a:spcPts val="600"/>
              </a:spcAft>
            </a:pPr>
            <a:r>
              <a:rPr sz="1600" b="0">
                <a:solidFill>
                  <a:srgbClr val="FFFFFF"/>
                </a:solidFill>
                <a:latin typeface="맑은 고딕"/>
              </a:rPr>
              <a:t>•  좁은 범위가 넓은 범위를 이긴다</a:t>
            </a:r>
          </a:p>
          <a:p>
            <a:pPr>
              <a:spcAft>
                <a:spcPts val="600"/>
              </a:spcAft>
            </a:pPr>
            <a:r>
              <a:rPr sz="1600" b="0">
                <a:solidFill>
                  <a:srgbClr val="FFFFFF"/>
                </a:solidFill>
                <a:latin typeface="맑은 고딕"/>
              </a:rPr>
              <a:t>•  SET_TABLE_PREFS / GET_PREFS</a:t>
            </a:r>
          </a:p>
          <a:p>
            <a:pPr>
              <a:spcAft>
                <a:spcPts val="600"/>
              </a:spcAft>
            </a:pPr>
            <a:r>
              <a:rPr sz="1600" b="0">
                <a:solidFill>
                  <a:srgbClr val="FFFFFF"/>
                </a:solidFill>
                <a:latin typeface="맑은 고딕"/>
              </a:rPr>
              <a:t>•  STALE_PERCENT · INCREMENTAL  (ADMIN 33장 심화)</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nchor="ctr">
            <a:spAutoFit/>
          </a:bodyPr>
          <a:lstStyle/>
          <a:p>
            <a:pPr>
              <a:spcAft>
                <a:spcPts val="400"/>
              </a:spcAft>
            </a:pPr>
            <a:r>
              <a:rPr sz="2600" b="1">
                <a:solidFill>
                  <a:srgbClr val="FFFFFF"/>
                </a:solidFill>
                <a:latin typeface="맑은 고딕"/>
              </a:rPr>
              <a:t>적용 범위와 우선순위</a:t>
            </a:r>
          </a:p>
        </p:txBody>
      </p:sp>
      <p:sp>
        <p:nvSpPr>
          <p:cNvPr id="4" name="TextBox 3"/>
          <p:cNvSpPr txBox="1"/>
          <p:nvPr/>
        </p:nvSpPr>
        <p:spPr>
          <a:xfrm>
            <a:off x="640080" y="1078992"/>
            <a:ext cx="10881360" cy="457200"/>
          </a:xfrm>
          <a:prstGeom prst="rect">
            <a:avLst/>
          </a:prstGeom>
          <a:noFill/>
        </p:spPr>
        <p:txBody>
          <a:bodyPr wrap="square">
            <a:spAutoFit/>
          </a:bodyPr>
          <a:lstStyle/>
          <a:p>
            <a:pPr>
              <a:spcAft>
                <a:spcPts val="400"/>
              </a:spcAft>
            </a:pPr>
            <a:r>
              <a:rPr sz="1500" b="0">
                <a:solidFill>
                  <a:srgbClr val="5A6672"/>
                </a:solidFill>
                <a:latin typeface="맑은 고딕"/>
              </a:rPr>
              <a:t>좁은 범위가 우선</a:t>
            </a:r>
          </a:p>
        </p:txBody>
      </p:sp>
      <p:sp>
        <p:nvSpPr>
          <p:cNvPr id="5" name="TextBox 4"/>
          <p:cNvSpPr txBox="1"/>
          <p:nvPr/>
        </p:nvSpPr>
        <p:spPr>
          <a:xfrm>
            <a:off x="640080" y="1737360"/>
            <a:ext cx="10881360" cy="4754880"/>
          </a:xfrm>
          <a:prstGeom prst="rect">
            <a:avLst/>
          </a:prstGeom>
          <a:noFill/>
        </p:spPr>
        <p:txBody>
          <a:bodyPr wrap="square">
            <a:spAutoFit/>
          </a:bodyPr>
          <a:lstStyle/>
          <a:p>
            <a:pPr>
              <a:spcAft>
                <a:spcPts val="800"/>
              </a:spcAft>
            </a:pPr>
            <a:r>
              <a:rPr sz="1700" b="0">
                <a:solidFill>
                  <a:srgbClr val="222222"/>
                </a:solidFill>
                <a:latin typeface="맑은 고딕"/>
              </a:rPr>
              <a:t>•  GLOBAL (SET_GLOBAL_PREFS) — Preference 없는 모든 객체</a:t>
            </a:r>
          </a:p>
          <a:p>
            <a:pPr>
              <a:spcAft>
                <a:spcPts val="800"/>
              </a:spcAft>
            </a:pPr>
            <a:r>
              <a:rPr sz="1700" b="0">
                <a:solidFill>
                  <a:srgbClr val="222222"/>
                </a:solidFill>
                <a:latin typeface="맑은 고딕"/>
              </a:rPr>
              <a:t>•  DATABASE (SET_DATABASE_PREFS) — 현재 모든 사용자 테이블</a:t>
            </a:r>
          </a:p>
          <a:p>
            <a:pPr>
              <a:spcAft>
                <a:spcPts val="800"/>
              </a:spcAft>
            </a:pPr>
            <a:r>
              <a:rPr sz="1700" b="0">
                <a:solidFill>
                  <a:srgbClr val="222222"/>
                </a:solidFill>
                <a:latin typeface="맑은 고딕"/>
              </a:rPr>
              <a:t>•  SCHEMA (SET_SCHEMA_PREFS) — 해당 스키마 테이블</a:t>
            </a:r>
          </a:p>
          <a:p>
            <a:pPr>
              <a:spcAft>
                <a:spcPts val="800"/>
              </a:spcAft>
            </a:pPr>
            <a:r>
              <a:rPr sz="1700" b="0">
                <a:solidFill>
                  <a:srgbClr val="222222"/>
                </a:solidFill>
                <a:latin typeface="맑은 고딕"/>
              </a:rPr>
              <a:t>•  TABLE (SET_TABLE_PREFS) — 지정한 한 테이블 (가장 우선)</a:t>
            </a:r>
          </a:p>
          <a:p>
            <a:pPr>
              <a:spcAft>
                <a:spcPts val="800"/>
              </a:spcAft>
            </a:pPr>
            <a:r>
              <a:rPr sz="1700" b="0">
                <a:solidFill>
                  <a:srgbClr val="222222"/>
                </a:solidFill>
                <a:latin typeface="맑은 고딕"/>
              </a:rPr>
              <a:t>•  우선순위: TABLE &gt; SCHEMA &gt; DATABASE &gt; GLOBAL</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nchor="ctr">
            <a:spAutoFit/>
          </a:bodyPr>
          <a:lstStyle/>
          <a:p>
            <a:pPr>
              <a:spcAft>
                <a:spcPts val="400"/>
              </a:spcAft>
            </a:pPr>
            <a:r>
              <a:rPr sz="2600" b="1">
                <a:solidFill>
                  <a:srgbClr val="FFFFFF"/>
                </a:solidFill>
                <a:latin typeface="맑은 고딕"/>
              </a:rPr>
              <a:t>테이블 정책 설정과 원복</a:t>
            </a:r>
          </a:p>
        </p:txBody>
      </p:sp>
      <p:sp>
        <p:nvSpPr>
          <p:cNvPr id="4" name="TextBox 3"/>
          <p:cNvSpPr txBox="1"/>
          <p:nvPr/>
        </p:nvSpPr>
        <p:spPr>
          <a:xfrm>
            <a:off x="640080" y="1078992"/>
            <a:ext cx="10881360" cy="457200"/>
          </a:xfrm>
          <a:prstGeom prst="rect">
            <a:avLst/>
          </a:prstGeom>
          <a:noFill/>
        </p:spPr>
        <p:txBody>
          <a:bodyPr wrap="square">
            <a:spAutoFit/>
          </a:bodyPr>
          <a:lstStyle/>
          <a:p>
            <a:pPr>
              <a:spcAft>
                <a:spcPts val="400"/>
              </a:spcAft>
            </a:pPr>
            <a:r>
              <a:rPr sz="1500" b="0">
                <a:solidFill>
                  <a:srgbClr val="5A6672"/>
                </a:solidFill>
                <a:latin typeface="맑은 고딕"/>
              </a:rPr>
              <a:t>SET_TABLE_PREFS / DELETE_TABLE_PREFS</a:t>
            </a:r>
          </a:p>
        </p:txBody>
      </p:sp>
      <p:sp>
        <p:nvSpPr>
          <p:cNvPr id="5" name="Rectangle 4"/>
          <p:cNvSpPr/>
          <p:nvPr/>
        </p:nvSpPr>
        <p:spPr>
          <a:xfrm>
            <a:off x="640080" y="1691640"/>
            <a:ext cx="10881360" cy="475488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27000" tIns="101600"/>
          <a:lstStyle/>
          <a:p>
            <a:pPr algn="ctr">
              <a:spcAft>
                <a:spcPts val="0"/>
              </a:spcAft>
            </a:pPr>
            <a:r>
              <a:rPr sz="1250" b="0">
                <a:solidFill>
                  <a:srgbClr val="F2F2F2"/>
                </a:solidFill>
                <a:latin typeface="Consolas"/>
              </a:rPr>
              <a:t>-- 조치 전 값 기록</a:t>
            </a:r>
          </a:p>
          <a:p>
            <a:pPr>
              <a:spcAft>
                <a:spcPts val="0"/>
              </a:spcAft>
            </a:pPr>
            <a:r>
              <a:rPr sz="1250" b="0">
                <a:solidFill>
                  <a:srgbClr val="F2F2F2"/>
                </a:solidFill>
                <a:latin typeface="Consolas"/>
              </a:rPr>
              <a:t>SQL&gt; SELECT DBMS_STATS.GET_PREFS('METHOD_OPT',</a:t>
            </a:r>
          </a:p>
          <a:p>
            <a:pPr>
              <a:spcAft>
                <a:spcPts val="0"/>
              </a:spcAft>
            </a:pPr>
            <a:r>
              <a:rPr sz="1250" b="0">
                <a:solidFill>
                  <a:srgbClr val="F2F2F2"/>
                </a:solidFill>
                <a:latin typeface="Consolas"/>
              </a:rPr>
              <a:t>  2         'SQLT','MEDICAL_CLAIMS') FROM dual;</a:t>
            </a:r>
          </a:p>
          <a:p>
            <a:pPr>
              <a:spcAft>
                <a:spcPts val="0"/>
              </a:spcAft>
            </a:pPr>
            <a:r>
              <a:rPr sz="1250" b="0">
                <a:solidFill>
                  <a:srgbClr val="F2F2F2"/>
                </a:solidFill>
                <a:latin typeface="Consolas"/>
              </a:rPr>
              <a:t/>
            </a:r>
          </a:p>
          <a:p>
            <a:pPr>
              <a:spcAft>
                <a:spcPts val="0"/>
              </a:spcAft>
            </a:pPr>
            <a:r>
              <a:rPr sz="1250" b="0">
                <a:solidFill>
                  <a:srgbClr val="F2F2F2"/>
                </a:solidFill>
                <a:latin typeface="Consolas"/>
              </a:rPr>
              <a:t>-- 변경</a:t>
            </a:r>
          </a:p>
          <a:p>
            <a:pPr>
              <a:spcAft>
                <a:spcPts val="0"/>
              </a:spcAft>
            </a:pPr>
            <a:r>
              <a:rPr sz="1250" b="0">
                <a:solidFill>
                  <a:srgbClr val="F2F2F2"/>
                </a:solidFill>
                <a:latin typeface="Consolas"/>
              </a:rPr>
              <a:t>SQL&gt; EXEC DBMS_STATS.SET_TABLE_PREFS('SQLT','MEDICAL_CLAIMS',-</a:t>
            </a:r>
          </a:p>
          <a:p>
            <a:pPr>
              <a:spcAft>
                <a:spcPts val="0"/>
              </a:spcAft>
            </a:pPr>
            <a:r>
              <a:rPr sz="1250" b="0">
                <a:solidFill>
                  <a:srgbClr val="F2F2F2"/>
                </a:solidFill>
                <a:latin typeface="Consolas"/>
              </a:rPr>
              <a:t>&gt;          'ESTIMATE_PERCENT','100');</a:t>
            </a:r>
          </a:p>
          <a:p>
            <a:pPr>
              <a:spcAft>
                <a:spcPts val="0"/>
              </a:spcAft>
            </a:pPr>
            <a:r>
              <a:rPr sz="1250" b="0">
                <a:solidFill>
                  <a:srgbClr val="F2F2F2"/>
                </a:solidFill>
                <a:latin typeface="Consolas"/>
              </a:rPr>
              <a:t/>
            </a:r>
          </a:p>
          <a:p>
            <a:pPr>
              <a:spcAft>
                <a:spcPts val="0"/>
              </a:spcAft>
            </a:pPr>
            <a:r>
              <a:rPr sz="1250" b="0">
                <a:solidFill>
                  <a:srgbClr val="F2F2F2"/>
                </a:solidFill>
                <a:latin typeface="Consolas"/>
              </a:rPr>
              <a:t>-- 원복</a:t>
            </a:r>
          </a:p>
          <a:p>
            <a:pPr>
              <a:spcAft>
                <a:spcPts val="0"/>
              </a:spcAft>
            </a:pPr>
            <a:r>
              <a:rPr sz="1250" b="0">
                <a:solidFill>
                  <a:srgbClr val="F2F2F2"/>
                </a:solidFill>
                <a:latin typeface="Consolas"/>
              </a:rPr>
              <a:t>SQL&gt; EXEC DBMS_STATS.DELETE_TABLE_PREFS('SQLT','MEDICAL_CLAIMS',-</a:t>
            </a:r>
          </a:p>
          <a:p>
            <a:pPr>
              <a:spcAft>
                <a:spcPts val="0"/>
              </a:spcAft>
            </a:pPr>
            <a:r>
              <a:rPr sz="1250" b="0">
                <a:solidFill>
                  <a:srgbClr val="F2F2F2"/>
                </a:solidFill>
                <a:latin typeface="Consolas"/>
              </a:rPr>
              <a:t>&gt;          'ESTIMATE_PERCENT');</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nchor="ctr">
            <a:spAutoFit/>
          </a:bodyPr>
          <a:lstStyle/>
          <a:p>
            <a:pPr>
              <a:spcAft>
                <a:spcPts val="400"/>
              </a:spcAft>
            </a:pPr>
            <a:r>
              <a:rPr sz="2600" b="1">
                <a:solidFill>
                  <a:srgbClr val="FFFFFF"/>
                </a:solidFill>
                <a:latin typeface="맑은 고딕"/>
              </a:rPr>
              <a:t>자주 쓰는 Preference들</a:t>
            </a:r>
          </a:p>
        </p:txBody>
      </p:sp>
      <p:sp>
        <p:nvSpPr>
          <p:cNvPr id="4" name="TextBox 3"/>
          <p:cNvSpPr txBox="1"/>
          <p:nvPr/>
        </p:nvSpPr>
        <p:spPr>
          <a:xfrm>
            <a:off x="640080" y="1078992"/>
            <a:ext cx="10881360" cy="457200"/>
          </a:xfrm>
          <a:prstGeom prst="rect">
            <a:avLst/>
          </a:prstGeom>
          <a:noFill/>
        </p:spPr>
        <p:txBody>
          <a:bodyPr wrap="square">
            <a:spAutoFit/>
          </a:bodyPr>
          <a:lstStyle/>
          <a:p>
            <a:pPr>
              <a:spcAft>
                <a:spcPts val="400"/>
              </a:spcAft>
            </a:pPr>
            <a:r>
              <a:rPr sz="1500" b="0">
                <a:solidFill>
                  <a:srgbClr val="5A6672"/>
                </a:solidFill>
                <a:latin typeface="맑은 고딕"/>
              </a:rPr>
              <a:t>테이블 성격에 맞는 정책</a:t>
            </a:r>
          </a:p>
        </p:txBody>
      </p:sp>
      <p:sp>
        <p:nvSpPr>
          <p:cNvPr id="5" name="TextBox 4"/>
          <p:cNvSpPr txBox="1"/>
          <p:nvPr/>
        </p:nvSpPr>
        <p:spPr>
          <a:xfrm>
            <a:off x="640080" y="1737360"/>
            <a:ext cx="10881360" cy="4754880"/>
          </a:xfrm>
          <a:prstGeom prst="rect">
            <a:avLst/>
          </a:prstGeom>
          <a:noFill/>
        </p:spPr>
        <p:txBody>
          <a:bodyPr wrap="square">
            <a:spAutoFit/>
          </a:bodyPr>
          <a:lstStyle/>
          <a:p>
            <a:pPr>
              <a:spcAft>
                <a:spcPts val="800"/>
              </a:spcAft>
            </a:pPr>
            <a:r>
              <a:rPr sz="1700" b="0">
                <a:solidFill>
                  <a:srgbClr val="222222"/>
                </a:solidFill>
                <a:latin typeface="맑은 고딕"/>
              </a:rPr>
              <a:t>•  METHOD_OPT — 히스토그램 대상·버킷 정책</a:t>
            </a:r>
          </a:p>
          <a:p>
            <a:pPr>
              <a:spcAft>
                <a:spcPts val="800"/>
              </a:spcAft>
            </a:pPr>
            <a:r>
              <a:rPr sz="1700" b="0">
                <a:solidFill>
                  <a:srgbClr val="222222"/>
                </a:solidFill>
                <a:latin typeface="맑은 고딕"/>
              </a:rPr>
              <a:t>•  ESTIMATE_PERCENT — 기본 AUTO_SAMPLE_SIZE 권장</a:t>
            </a:r>
          </a:p>
          <a:p>
            <a:pPr>
              <a:spcAft>
                <a:spcPts val="800"/>
              </a:spcAft>
            </a:pPr>
            <a:r>
              <a:rPr sz="1700" b="0">
                <a:solidFill>
                  <a:srgbClr val="222222"/>
                </a:solidFill>
                <a:latin typeface="맑은 고딕"/>
              </a:rPr>
              <a:t>•  STALE_PERCENT — 재수집 기준 변경 비율(기본 10%)</a:t>
            </a:r>
          </a:p>
          <a:p>
            <a:pPr>
              <a:spcAft>
                <a:spcPts val="800"/>
              </a:spcAft>
            </a:pPr>
            <a:r>
              <a:rPr sz="1700" b="0">
                <a:solidFill>
                  <a:srgbClr val="222222"/>
                </a:solidFill>
                <a:latin typeface="맑은 고딕"/>
              </a:rPr>
              <a:t>•  INCREMENTAL — 파티션 증분 수집으로 시간 절약</a:t>
            </a:r>
          </a:p>
          <a:p>
            <a:pPr>
              <a:spcAft>
                <a:spcPts val="800"/>
              </a:spcAft>
            </a:pPr>
            <a:r>
              <a:rPr sz="1700" b="0">
                <a:solidFill>
                  <a:srgbClr val="222222"/>
                </a:solidFill>
                <a:latin typeface="맑은 고딕"/>
              </a:rPr>
              <a:t>•  대부분 전역 기본, 초대형·핫 테이블만 예외로 TABLE 설정</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spAutoFit/>
          </a:bodyPr>
          <a:lstStyle/>
          <a:p>
            <a:pPr>
              <a:spcAft>
                <a:spcPts val="400"/>
              </a:spcAft>
            </a:pPr>
            <a:r>
              <a:rPr sz="4000" b="1">
                <a:solidFill>
                  <a:srgbClr val="FFFFFF"/>
                </a:solidFill>
                <a:latin typeface="맑은 고딕"/>
              </a:rPr>
              <a:t>7.7</a:t>
            </a:r>
          </a:p>
        </p:txBody>
      </p:sp>
      <p:sp>
        <p:nvSpPr>
          <p:cNvPr id="4" name="TextBox 3"/>
          <p:cNvSpPr txBox="1"/>
          <p:nvPr/>
        </p:nvSpPr>
        <p:spPr>
          <a:xfrm>
            <a:off x="822960" y="3017520"/>
            <a:ext cx="10515600" cy="914400"/>
          </a:xfrm>
          <a:prstGeom prst="rect">
            <a:avLst/>
          </a:prstGeom>
          <a:noFill/>
        </p:spPr>
        <p:txBody>
          <a:bodyPr wrap="square">
            <a:spAutoFit/>
          </a:bodyPr>
          <a:lstStyle/>
          <a:p>
            <a:pPr>
              <a:spcAft>
                <a:spcPts val="400"/>
              </a:spcAft>
            </a:pPr>
            <a:r>
              <a:rPr sz="2800" b="1">
                <a:solidFill>
                  <a:srgbClr val="FFFFFF"/>
                </a:solidFill>
                <a:latin typeface="맑은 고딕"/>
              </a:rPr>
              <a:t>Statistics Advisor</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spAutoFit/>
          </a:bodyPr>
          <a:lstStyle/>
          <a:p>
            <a:pPr>
              <a:spcAft>
                <a:spcPts val="600"/>
              </a:spcAft>
            </a:pPr>
            <a:r>
              <a:rPr sz="1600" b="0">
                <a:solidFill>
                  <a:srgbClr val="FFFFFF"/>
                </a:solidFill>
                <a:latin typeface="맑은 고딕"/>
              </a:rPr>
              <a:t>•  통계 운영을 룰로 자동 점검</a:t>
            </a:r>
          </a:p>
          <a:p>
            <a:pPr>
              <a:spcAft>
                <a:spcPts val="600"/>
              </a:spcAft>
            </a:pPr>
            <a:r>
              <a:rPr sz="1600" b="0">
                <a:solidFill>
                  <a:srgbClr val="FFFFFF"/>
                </a:solidFill>
                <a:latin typeface="맑은 고딕"/>
              </a:rPr>
              <a:t>•  Finding · Recommendation · Rationale</a:t>
            </a:r>
          </a:p>
          <a:p>
            <a:pPr>
              <a:spcAft>
                <a:spcPts val="600"/>
              </a:spcAft>
            </a:pPr>
            <a:r>
              <a:rPr sz="1600" b="0">
                <a:solidFill>
                  <a:srgbClr val="FFFFFF"/>
                </a:solidFill>
                <a:latin typeface="맑은 고딕"/>
              </a:rPr>
              <a:t>•  무료 — Tuning Pack 아님</a:t>
            </a:r>
          </a:p>
          <a:p>
            <a:pPr>
              <a:spcAft>
                <a:spcPts val="600"/>
              </a:spcAft>
            </a:pPr>
            <a:r>
              <a:rPr sz="1600" b="0">
                <a:solidFill>
                  <a:srgbClr val="FFFFFF"/>
                </a:solidFill>
                <a:latin typeface="맑은 고딕"/>
              </a:rPr>
              <a:t>•  권고는 가설, 근거 확인 후 채택</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nchor="ctr">
            <a:spAutoFit/>
          </a:bodyPr>
          <a:lstStyle/>
          <a:p>
            <a:pPr>
              <a:spcAft>
                <a:spcPts val="400"/>
              </a:spcAft>
            </a:pPr>
            <a:r>
              <a:rPr sz="2600" b="1">
                <a:solidFill>
                  <a:srgbClr val="FFFFFF"/>
                </a:solidFill>
                <a:latin typeface="맑은 고딕"/>
              </a:rPr>
              <a:t>Advisor 태스크 실행</a:t>
            </a:r>
          </a:p>
        </p:txBody>
      </p:sp>
      <p:sp>
        <p:nvSpPr>
          <p:cNvPr id="4" name="TextBox 3"/>
          <p:cNvSpPr txBox="1"/>
          <p:nvPr/>
        </p:nvSpPr>
        <p:spPr>
          <a:xfrm>
            <a:off x="640080" y="1078992"/>
            <a:ext cx="10881360" cy="457200"/>
          </a:xfrm>
          <a:prstGeom prst="rect">
            <a:avLst/>
          </a:prstGeom>
          <a:noFill/>
        </p:spPr>
        <p:txBody>
          <a:bodyPr wrap="square">
            <a:spAutoFit/>
          </a:bodyPr>
          <a:lstStyle/>
          <a:p>
            <a:pPr>
              <a:spcAft>
                <a:spcPts val="400"/>
              </a:spcAft>
            </a:pPr>
            <a:r>
              <a:rPr sz="1500" b="0">
                <a:solidFill>
                  <a:srgbClr val="5A6672"/>
                </a:solidFill>
                <a:latin typeface="맑은 고딕"/>
              </a:rPr>
              <a:t>CREATE / EXECUTE / REPORT</a:t>
            </a:r>
          </a:p>
        </p:txBody>
      </p:sp>
      <p:sp>
        <p:nvSpPr>
          <p:cNvPr id="5" name="Rectangle 4"/>
          <p:cNvSpPr/>
          <p:nvPr/>
        </p:nvSpPr>
        <p:spPr>
          <a:xfrm>
            <a:off x="640080" y="1691640"/>
            <a:ext cx="10881360" cy="475488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27000" tIns="101600"/>
          <a:lstStyle/>
          <a:p>
            <a:pPr algn="ctr">
              <a:spcAft>
                <a:spcPts val="0"/>
              </a:spcAft>
            </a:pPr>
            <a:r>
              <a:rPr sz="1250" b="0">
                <a:solidFill>
                  <a:srgbClr val="F2F2F2"/>
                </a:solidFill>
                <a:latin typeface="Consolas"/>
              </a:rPr>
              <a:t>SQL&gt; DECLARE v_task VARCHAR2(64);</a:t>
            </a:r>
          </a:p>
          <a:p>
            <a:pPr>
              <a:spcAft>
                <a:spcPts val="0"/>
              </a:spcAft>
            </a:pPr>
            <a:r>
              <a:rPr sz="1250" b="0">
                <a:solidFill>
                  <a:srgbClr val="F2F2F2"/>
                </a:solidFill>
                <a:latin typeface="Consolas"/>
              </a:rPr>
              <a:t>  2  BEGIN</a:t>
            </a:r>
          </a:p>
          <a:p>
            <a:pPr>
              <a:spcAft>
                <a:spcPts val="0"/>
              </a:spcAft>
            </a:pPr>
            <a:r>
              <a:rPr sz="1250" b="0">
                <a:solidFill>
                  <a:srgbClr val="F2F2F2"/>
                </a:solidFill>
                <a:latin typeface="Consolas"/>
              </a:rPr>
              <a:t>  3    v_task := DBMS_STATS.CREATE_ADVISOR_TASK('stat_adv_ch7');</a:t>
            </a:r>
          </a:p>
          <a:p>
            <a:pPr>
              <a:spcAft>
                <a:spcPts val="0"/>
              </a:spcAft>
            </a:pPr>
            <a:r>
              <a:rPr sz="1250" b="0">
                <a:solidFill>
                  <a:srgbClr val="F2F2F2"/>
                </a:solidFill>
                <a:latin typeface="Consolas"/>
              </a:rPr>
              <a:t>  4    v_task := DBMS_STATS.EXECUTE_ADVISOR_TASK('stat_adv_ch7');</a:t>
            </a:r>
          </a:p>
          <a:p>
            <a:pPr>
              <a:spcAft>
                <a:spcPts val="0"/>
              </a:spcAft>
            </a:pPr>
            <a:r>
              <a:rPr sz="1250" b="0">
                <a:solidFill>
                  <a:srgbClr val="F2F2F2"/>
                </a:solidFill>
                <a:latin typeface="Consolas"/>
              </a:rPr>
              <a:t>  5  END;</a:t>
            </a:r>
          </a:p>
          <a:p>
            <a:pPr>
              <a:spcAft>
                <a:spcPts val="0"/>
              </a:spcAft>
            </a:pPr>
            <a:r>
              <a:rPr sz="1250" b="0">
                <a:solidFill>
                  <a:srgbClr val="F2F2F2"/>
                </a:solidFill>
                <a:latin typeface="Consolas"/>
              </a:rPr>
              <a:t>  6  /</a:t>
            </a:r>
          </a:p>
          <a:p>
            <a:pPr>
              <a:spcAft>
                <a:spcPts val="0"/>
              </a:spcAft>
            </a:pPr>
            <a:r>
              <a:rPr sz="1250" b="0">
                <a:solidFill>
                  <a:srgbClr val="F2F2F2"/>
                </a:solidFill>
                <a:latin typeface="Consolas"/>
              </a:rPr>
              <a:t/>
            </a:r>
          </a:p>
          <a:p>
            <a:pPr>
              <a:spcAft>
                <a:spcPts val="0"/>
              </a:spcAft>
            </a:pPr>
            <a:r>
              <a:rPr sz="1250" b="0">
                <a:solidFill>
                  <a:srgbClr val="F2F2F2"/>
                </a:solidFill>
                <a:latin typeface="Consolas"/>
              </a:rPr>
              <a:t>SQL&gt; SELECT DBMS_STATS.REPORT_ADVISOR_TASK('stat_adv_ch7',</a:t>
            </a:r>
          </a:p>
          <a:p>
            <a:pPr>
              <a:spcAft>
                <a:spcPts val="0"/>
              </a:spcAft>
            </a:pPr>
            <a:r>
              <a:rPr sz="1250" b="0">
                <a:solidFill>
                  <a:srgbClr val="F2F2F2"/>
                </a:solidFill>
                <a:latin typeface="Consolas"/>
              </a:rPr>
              <a:t>  2         'TEXT','ALL') FROM dual;</a:t>
            </a:r>
          </a:p>
          <a:p>
            <a:pPr>
              <a:spcAft>
                <a:spcPts val="0"/>
              </a:spcAft>
            </a:pPr>
            <a:r>
              <a:rPr sz="1250" b="0">
                <a:solidFill>
                  <a:srgbClr val="F2F2F2"/>
                </a:solidFill>
                <a:latin typeface="Consolas"/>
              </a:rPr>
              <a:t/>
            </a:r>
          </a:p>
          <a:p>
            <a:pPr>
              <a:spcAft>
                <a:spcPts val="0"/>
              </a:spcAft>
            </a:pPr>
            <a:r>
              <a:rPr sz="1250" b="0">
                <a:solidFill>
                  <a:srgbClr val="F2F2F2"/>
                </a:solidFill>
                <a:latin typeface="Consolas"/>
              </a:rPr>
              <a:t>-- 자동 적용: DBMS_STATS.IMPLEMENT_ADVISOR_TASK</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nchor="ctr">
            <a:spAutoFit/>
          </a:bodyPr>
          <a:lstStyle/>
          <a:p>
            <a:pPr>
              <a:spcAft>
                <a:spcPts val="400"/>
              </a:spcAft>
            </a:pPr>
            <a:r>
              <a:rPr sz="2600" b="1">
                <a:solidFill>
                  <a:srgbClr val="FFFFFF"/>
                </a:solidFill>
                <a:latin typeface="맑은 고딕"/>
              </a:rPr>
              <a:t>권고 해석과 채택</a:t>
            </a:r>
          </a:p>
        </p:txBody>
      </p:sp>
      <p:sp>
        <p:nvSpPr>
          <p:cNvPr id="4" name="TextBox 3"/>
          <p:cNvSpPr txBox="1"/>
          <p:nvPr/>
        </p:nvSpPr>
        <p:spPr>
          <a:xfrm>
            <a:off x="640080" y="1078992"/>
            <a:ext cx="10881360" cy="457200"/>
          </a:xfrm>
          <a:prstGeom prst="rect">
            <a:avLst/>
          </a:prstGeom>
          <a:noFill/>
        </p:spPr>
        <p:txBody>
          <a:bodyPr wrap="square">
            <a:spAutoFit/>
          </a:bodyPr>
          <a:lstStyle/>
          <a:p>
            <a:pPr>
              <a:spcAft>
                <a:spcPts val="400"/>
              </a:spcAft>
            </a:pPr>
            <a:r>
              <a:rPr sz="1500" b="0">
                <a:solidFill>
                  <a:srgbClr val="5A6672"/>
                </a:solidFill>
                <a:latin typeface="맑은 고딕"/>
              </a:rPr>
              <a:t>전체 재수집은 최후의 수단</a:t>
            </a:r>
          </a:p>
        </p:txBody>
      </p:sp>
      <p:sp>
        <p:nvSpPr>
          <p:cNvPr id="5" name="TextBox 4"/>
          <p:cNvSpPr txBox="1"/>
          <p:nvPr/>
        </p:nvSpPr>
        <p:spPr>
          <a:xfrm>
            <a:off x="640080" y="1737360"/>
            <a:ext cx="10881360" cy="4754880"/>
          </a:xfrm>
          <a:prstGeom prst="rect">
            <a:avLst/>
          </a:prstGeom>
          <a:noFill/>
        </p:spPr>
        <p:txBody>
          <a:bodyPr wrap="square">
            <a:spAutoFit/>
          </a:bodyPr>
          <a:lstStyle/>
          <a:p>
            <a:pPr>
              <a:spcAft>
                <a:spcPts val="800"/>
              </a:spcAft>
            </a:pPr>
            <a:r>
              <a:rPr sz="1700" b="0">
                <a:solidFill>
                  <a:srgbClr val="222222"/>
                </a:solidFill>
                <a:latin typeface="맑은 고딕"/>
              </a:rPr>
              <a:t>•  룰: 자동 작업 상태 / 통계 건강(없음·stale·잠금) / 설정 적정성</a:t>
            </a:r>
          </a:p>
          <a:p>
            <a:pPr>
              <a:spcAft>
                <a:spcPts val="800"/>
              </a:spcAft>
            </a:pPr>
            <a:r>
              <a:rPr sz="1700" b="0">
                <a:solidFill>
                  <a:srgbClr val="222222"/>
                </a:solidFill>
                <a:latin typeface="맑은 고딕"/>
              </a:rPr>
              <a:t>•  통계 없는 객체 → 그 객체만 GATHER</a:t>
            </a:r>
          </a:p>
          <a:p>
            <a:pPr>
              <a:spcAft>
                <a:spcPts val="800"/>
              </a:spcAft>
            </a:pPr>
            <a:r>
              <a:rPr sz="1700" b="0">
                <a:solidFill>
                  <a:srgbClr val="222222"/>
                </a:solidFill>
                <a:latin typeface="맑은 고딕"/>
              </a:rPr>
              <a:t>•  편중인데 히스토그램 없음 → FOR COLUMNS 보완</a:t>
            </a:r>
          </a:p>
          <a:p>
            <a:pPr>
              <a:spcAft>
                <a:spcPts val="800"/>
              </a:spcAft>
            </a:pPr>
            <a:r>
              <a:rPr sz="1700" b="0">
                <a:solidFill>
                  <a:srgbClr val="222222"/>
                </a:solidFill>
                <a:latin typeface="맑은 고딕"/>
              </a:rPr>
              <a:t>•  상관 → 확장 통계 / 오래됨 → STALE_PERCENT 조정</a:t>
            </a:r>
          </a:p>
          <a:p>
            <a:pPr>
              <a:spcAft>
                <a:spcPts val="800"/>
              </a:spcAft>
            </a:pPr>
            <a:r>
              <a:rPr sz="1700" b="0">
                <a:solidFill>
                  <a:srgbClr val="222222"/>
                </a:solidFill>
                <a:latin typeface="맑은 고딕"/>
              </a:rPr>
              <a:t>•  잠긴 통계가 의도된 것이면 풀지 않는다 — 맥락 확인 후 채택</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spAutoFit/>
          </a:bodyPr>
          <a:lstStyle/>
          <a:p>
            <a:pPr>
              <a:spcAft>
                <a:spcPts val="400"/>
              </a:spcAft>
            </a:pPr>
            <a:r>
              <a:rPr sz="4000" b="1">
                <a:solidFill>
                  <a:srgbClr val="FFFFFF"/>
                </a:solidFill>
                <a:latin typeface="맑은 고딕"/>
              </a:rPr>
              <a:t>7.8</a:t>
            </a:r>
          </a:p>
        </p:txBody>
      </p:sp>
      <p:sp>
        <p:nvSpPr>
          <p:cNvPr id="4" name="TextBox 3"/>
          <p:cNvSpPr txBox="1"/>
          <p:nvPr/>
        </p:nvSpPr>
        <p:spPr>
          <a:xfrm>
            <a:off x="822960" y="3017520"/>
            <a:ext cx="10515600" cy="914400"/>
          </a:xfrm>
          <a:prstGeom prst="rect">
            <a:avLst/>
          </a:prstGeom>
          <a:noFill/>
        </p:spPr>
        <p:txBody>
          <a:bodyPr wrap="square">
            <a:spAutoFit/>
          </a:bodyPr>
          <a:lstStyle/>
          <a:p>
            <a:pPr>
              <a:spcAft>
                <a:spcPts val="400"/>
              </a:spcAft>
            </a:pPr>
            <a:r>
              <a:rPr sz="2800" b="1">
                <a:solidFill>
                  <a:srgbClr val="FFFFFF"/>
                </a:solidFill>
                <a:latin typeface="맑은 고딕"/>
              </a:rPr>
              <a:t>흔한 함정</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spAutoFit/>
          </a:bodyPr>
          <a:lstStyle/>
          <a:p>
            <a:pPr>
              <a:spcAft>
                <a:spcPts val="600"/>
              </a:spcAft>
            </a:pPr>
            <a:r>
              <a:rPr sz="1600" b="0">
                <a:solidFill>
                  <a:srgbClr val="FFFFFF"/>
                </a:solidFill>
                <a:latin typeface="맑은 고딕"/>
              </a:rPr>
              <a:t>•  전체 재수집을 만능으로 여김</a:t>
            </a:r>
          </a:p>
          <a:p>
            <a:pPr>
              <a:spcAft>
                <a:spcPts val="600"/>
              </a:spcAft>
            </a:pPr>
            <a:r>
              <a:rPr sz="1600" b="0">
                <a:solidFill>
                  <a:srgbClr val="FFFFFF"/>
                </a:solidFill>
                <a:latin typeface="맑은 고딕"/>
              </a:rPr>
              <a:t>•  진단 → 국소 조치 → 검증</a:t>
            </a:r>
          </a:p>
          <a:p>
            <a:pPr>
              <a:spcAft>
                <a:spcPts val="600"/>
              </a:spcAft>
            </a:pPr>
            <a:r>
              <a:rPr sz="1600" b="0">
                <a:solidFill>
                  <a:srgbClr val="FFFFFF"/>
                </a:solidFill>
                <a:latin typeface="맑은 고딕"/>
              </a:rPr>
              <a:t>•  통계 변경은 되돌릴 수 있어야 한다</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nchor="ctr">
            <a:spAutoFit/>
          </a:bodyPr>
          <a:lstStyle/>
          <a:p>
            <a:pPr>
              <a:spcAft>
                <a:spcPts val="400"/>
              </a:spcAft>
            </a:pPr>
            <a:r>
              <a:rPr sz="2600" b="1">
                <a:solidFill>
                  <a:srgbClr val="FFFFFF"/>
                </a:solidFill>
                <a:latin typeface="맑은 고딕"/>
              </a:rPr>
              <a:t>전체 재수집이 만능이 아니다</a:t>
            </a:r>
          </a:p>
        </p:txBody>
      </p:sp>
      <p:sp>
        <p:nvSpPr>
          <p:cNvPr id="4" name="TextBox 3"/>
          <p:cNvSpPr txBox="1"/>
          <p:nvPr/>
        </p:nvSpPr>
        <p:spPr>
          <a:xfrm>
            <a:off x="640080" y="1078992"/>
            <a:ext cx="10881360" cy="457200"/>
          </a:xfrm>
          <a:prstGeom prst="rect">
            <a:avLst/>
          </a:prstGeom>
          <a:noFill/>
        </p:spPr>
        <p:txBody>
          <a:bodyPr wrap="square">
            <a:spAutoFit/>
          </a:bodyPr>
          <a:lstStyle/>
          <a:p>
            <a:pPr>
              <a:spcAft>
                <a:spcPts val="400"/>
              </a:spcAft>
            </a:pPr>
            <a:r>
              <a:rPr sz="1500" b="0">
                <a:solidFill>
                  <a:srgbClr val="5A6672"/>
                </a:solidFill>
                <a:latin typeface="맑은 고딕"/>
              </a:rPr>
              <a:t>큰 망치의 세 가지 위험</a:t>
            </a:r>
          </a:p>
        </p:txBody>
      </p:sp>
      <p:sp>
        <p:nvSpPr>
          <p:cNvPr id="5" name="TextBox 4"/>
          <p:cNvSpPr txBox="1"/>
          <p:nvPr/>
        </p:nvSpPr>
        <p:spPr>
          <a:xfrm>
            <a:off x="640080" y="1737360"/>
            <a:ext cx="10881360" cy="4754880"/>
          </a:xfrm>
          <a:prstGeom prst="rect">
            <a:avLst/>
          </a:prstGeom>
          <a:noFill/>
        </p:spPr>
        <p:txBody>
          <a:bodyPr wrap="square">
            <a:spAutoFit/>
          </a:bodyPr>
          <a:lstStyle/>
          <a:p>
            <a:pPr>
              <a:spcAft>
                <a:spcPts val="800"/>
              </a:spcAft>
            </a:pPr>
            <a:r>
              <a:rPr sz="1700" b="0">
                <a:solidFill>
                  <a:srgbClr val="222222"/>
                </a:solidFill>
                <a:latin typeface="맑은 고딕"/>
              </a:rPr>
              <a:t>•  ① 진단을 건너뛴다 — 부재·편중·상관·시스템 중 무엇인지 모른 채</a:t>
            </a:r>
          </a:p>
          <a:p>
            <a:pPr>
              <a:spcAft>
                <a:spcPts val="800"/>
              </a:spcAft>
            </a:pPr>
            <a:r>
              <a:rPr sz="1700" b="0">
                <a:solidFill>
                  <a:srgbClr val="222222"/>
                </a:solidFill>
                <a:latin typeface="맑은 고딕"/>
              </a:rPr>
              <a:t>•  ② 잘 맞던 히스토그램·확장 통계를 덮어써 계획 회귀 가능</a:t>
            </a:r>
          </a:p>
          <a:p>
            <a:pPr>
              <a:spcAft>
                <a:spcPts val="800"/>
              </a:spcAft>
            </a:pPr>
            <a:r>
              <a:rPr sz="1700" b="0">
                <a:solidFill>
                  <a:srgbClr val="222222"/>
                </a:solidFill>
                <a:latin typeface="맑은 고딕"/>
              </a:rPr>
              <a:t>•  ③ 비용이 크다 — 시간·자원·SYSAUX 소모</a:t>
            </a:r>
          </a:p>
          <a:p>
            <a:pPr>
              <a:spcAft>
                <a:spcPts val="800"/>
              </a:spcAft>
            </a:pPr>
            <a:r>
              <a:rPr sz="1700" b="0">
                <a:solidFill>
                  <a:srgbClr val="222222"/>
                </a:solidFill>
                <a:latin typeface="맑은 고딕"/>
              </a:rPr>
              <a:t>•  올바른 순서: 진단(Advisor·계획 비교) → 국소 조치 → 검증</a:t>
            </a:r>
          </a:p>
          <a:p>
            <a:pPr>
              <a:spcAft>
                <a:spcPts val="800"/>
              </a:spcAft>
            </a:pPr>
            <a:r>
              <a:rPr sz="1700" b="0">
                <a:solidFill>
                  <a:srgbClr val="222222"/>
                </a:solidFill>
                <a:latin typeface="맑은 고딕"/>
              </a:rPr>
              <a:t>•  원복 안전장치: RESTORE_TABLE_STATS(기본 31일 보관)</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nchor="ctr">
            <a:spAutoFit/>
          </a:bodyPr>
          <a:lstStyle/>
          <a:p>
            <a:pPr>
              <a:spcAft>
                <a:spcPts val="400"/>
              </a:spcAft>
            </a:pPr>
            <a:r>
              <a:rPr sz="2600" b="1">
                <a:solidFill>
                  <a:srgbClr val="FFFFFF"/>
                </a:solidFill>
                <a:latin typeface="맑은 고딕"/>
              </a:rPr>
              <a:t>퀴즈 (Quiz)</a:t>
            </a:r>
          </a:p>
        </p:txBody>
      </p:sp>
      <p:sp>
        <p:nvSpPr>
          <p:cNvPr id="4" name="TextBox 3"/>
          <p:cNvSpPr txBox="1"/>
          <p:nvPr/>
        </p:nvSpPr>
        <p:spPr>
          <a:xfrm>
            <a:off x="640080" y="1371600"/>
            <a:ext cx="10881360" cy="5120640"/>
          </a:xfrm>
          <a:prstGeom prst="rect">
            <a:avLst/>
          </a:prstGeom>
          <a:noFill/>
        </p:spPr>
        <p:txBody>
          <a:bodyPr wrap="square">
            <a:spAutoFit/>
          </a:bodyPr>
          <a:lstStyle/>
          <a:p>
            <a:pPr>
              <a:spcAft>
                <a:spcPts val="700"/>
              </a:spcAft>
            </a:pPr>
            <a:r>
              <a:rPr sz="1600" b="0">
                <a:solidFill>
                  <a:srgbClr val="222222"/>
                </a:solidFill>
                <a:latin typeface="맑은 고딕"/>
              </a:rPr>
              <a:t>•  Q1. 히스토그램 없을 때 HOSP_ID=36 추정치와 실제값의 배수는? 계산식과 함께.</a:t>
            </a:r>
          </a:p>
          <a:p>
            <a:pPr>
              <a:spcAft>
                <a:spcPts val="700"/>
              </a:spcAft>
            </a:pPr>
            <a:r>
              <a:rPr sz="1600" b="0">
                <a:solidFill>
                  <a:srgbClr val="222222"/>
                </a:solidFill>
                <a:latin typeface="맑은 고딕"/>
              </a:rPr>
              <a:t>•  Q2. FREQUENCY·TOP-FREQUENCY·HYBRID의 생성 조건을 각각 한 줄로.</a:t>
            </a:r>
          </a:p>
          <a:p>
            <a:pPr>
              <a:spcAft>
                <a:spcPts val="700"/>
              </a:spcAft>
            </a:pPr>
            <a:r>
              <a:rPr sz="1600" b="0">
                <a:solidFill>
                  <a:srgbClr val="222222"/>
                </a:solidFill>
                <a:latin typeface="맑은 고딕"/>
              </a:rPr>
              <a:t>•  Q3. METHOD_OPT의 SIZE AUTO와 SIZE SKEWONLY의 차이는?</a:t>
            </a:r>
          </a:p>
          <a:p>
            <a:pPr>
              <a:spcAft>
                <a:spcPts val="700"/>
              </a:spcAft>
            </a:pPr>
            <a:r>
              <a:rPr sz="1600" b="0">
                <a:solidFill>
                  <a:srgbClr val="222222"/>
                </a:solidFill>
                <a:latin typeface="맑은 고딕"/>
              </a:rPr>
              <a:t>•  Q4. 컬럼 그룹 확장 통계가 푸는 문제와, 생성 후 반드시 할 일은?</a:t>
            </a:r>
          </a:p>
          <a:p>
            <a:pPr>
              <a:spcAft>
                <a:spcPts val="700"/>
              </a:spcAft>
            </a:pPr>
            <a:r>
              <a:rPr sz="1600" b="0">
                <a:solidFill>
                  <a:srgbClr val="222222"/>
                </a:solidFill>
                <a:latin typeface="맑은 고딕"/>
              </a:rPr>
              <a:t>•  Q5. 시스템 통계가 NOWORKLOAD임을 어떻게 확인하고, WORKLOAD 실습 후 원복 절차는?</a:t>
            </a:r>
          </a:p>
          <a:p>
            <a:pPr>
              <a:spcAft>
                <a:spcPts val="700"/>
              </a:spcAft>
            </a:pPr>
            <a:r>
              <a:rPr sz="1600" b="0">
                <a:solidFill>
                  <a:srgbClr val="222222"/>
                </a:solidFill>
                <a:latin typeface="맑은 고딕"/>
              </a:rPr>
              <a:t>•  Q6. Preferences 네 계층과 우선순위, 테이블 정책 프로시저 이름은?</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nchor="ctr">
            <a:spAutoFit/>
          </a:bodyPr>
          <a:lstStyle/>
          <a:p>
            <a:pPr>
              <a:spcAft>
                <a:spcPts val="400"/>
              </a:spcAft>
            </a:pPr>
            <a:r>
              <a:rPr sz="2600" b="1">
                <a:solidFill>
                  <a:srgbClr val="FFFFFF"/>
                </a:solidFill>
                <a:latin typeface="맑은 고딕"/>
              </a:rPr>
              <a:t>요약 (Summary)</a:t>
            </a:r>
          </a:p>
        </p:txBody>
      </p:sp>
      <p:sp>
        <p:nvSpPr>
          <p:cNvPr id="4" name="TextBox 3"/>
          <p:cNvSpPr txBox="1"/>
          <p:nvPr/>
        </p:nvSpPr>
        <p:spPr>
          <a:xfrm>
            <a:off x="640080" y="1371600"/>
            <a:ext cx="10881360" cy="5120640"/>
          </a:xfrm>
          <a:prstGeom prst="rect">
            <a:avLst/>
          </a:prstGeom>
          <a:noFill/>
        </p:spPr>
        <p:txBody>
          <a:bodyPr wrap="square">
            <a:spAutoFit/>
          </a:bodyPr>
          <a:lstStyle/>
          <a:p>
            <a:pPr>
              <a:spcAft>
                <a:spcPts val="700"/>
              </a:spcAft>
            </a:pPr>
            <a:r>
              <a:rPr sz="1600" b="0">
                <a:solidFill>
                  <a:srgbClr val="222222"/>
                </a:solidFill>
                <a:latin typeface="맑은 고딕"/>
              </a:rPr>
              <a:t>•  균등 가정 300 대 실제 3,100(약 10배)이 히스토그램의 필요성을 증명한다.</a:t>
            </a:r>
          </a:p>
          <a:p>
            <a:pPr>
              <a:spcAft>
                <a:spcPts val="700"/>
              </a:spcAft>
            </a:pPr>
            <a:r>
              <a:rPr sz="1600" b="0">
                <a:solidFill>
                  <a:srgbClr val="222222"/>
                </a:solidFill>
                <a:latin typeface="맑은 고딕"/>
              </a:rPr>
              <a:t>•  히스토그램: FREQUENCY(NDV≤버킷)·TOP-FREQUENCY·HYBRID. HOSP_ID는 HYBRID 254.</a:t>
            </a:r>
          </a:p>
          <a:p>
            <a:pPr>
              <a:spcAft>
                <a:spcPts val="700"/>
              </a:spcAft>
            </a:pPr>
            <a:r>
              <a:rPr sz="1600" b="0">
                <a:solidFill>
                  <a:srgbClr val="222222"/>
                </a:solidFill>
                <a:latin typeface="맑은 고딕"/>
              </a:rPr>
              <a:t>•  METHOD_OPT 기본 AUTO는 사용 이력·편중으로 자동 결정, FOR COLUMNS로 보완.</a:t>
            </a:r>
          </a:p>
          <a:p>
            <a:pPr>
              <a:spcAft>
                <a:spcPts val="700"/>
              </a:spcAft>
            </a:pPr>
            <a:r>
              <a:rPr sz="1600" b="0">
                <a:solidFill>
                  <a:srgbClr val="222222"/>
                </a:solidFill>
                <a:latin typeface="맑은 고딕"/>
              </a:rPr>
              <a:t>•  확장 통계: 컬럼 그룹(상관)·표현식(함수). 생성 후 반드시 재수집.</a:t>
            </a:r>
          </a:p>
          <a:p>
            <a:pPr>
              <a:spcAft>
                <a:spcPts val="700"/>
              </a:spcAft>
            </a:pPr>
            <a:r>
              <a:rPr sz="1600" b="0">
                <a:solidFill>
                  <a:srgbClr val="222222"/>
                </a:solidFill>
                <a:latin typeface="맑은 고딕"/>
              </a:rPr>
              <a:t>•  시스템 통계: 현재 NOWORKLOAD. WORKLOAD 수집은 계획 변경 가능 → 원복 필수.</a:t>
            </a:r>
          </a:p>
          <a:p>
            <a:pPr>
              <a:spcAft>
                <a:spcPts val="700"/>
              </a:spcAft>
            </a:pPr>
            <a:r>
              <a:rPr sz="1600" b="0">
                <a:solidFill>
                  <a:srgbClr val="222222"/>
                </a:solidFill>
                <a:latin typeface="맑은 고딕"/>
              </a:rPr>
              <a:t>•  Preferences: GLOBAL·DATABASE·SCHEMA·TABLE, 좁은 범위 우선.</a:t>
            </a:r>
          </a:p>
          <a:p>
            <a:pPr>
              <a:spcAft>
                <a:spcPts val="700"/>
              </a:spcAft>
            </a:pPr>
            <a:r>
              <a:rPr sz="1600" b="0">
                <a:solidFill>
                  <a:srgbClr val="222222"/>
                </a:solidFill>
                <a:latin typeface="맑은 고딕"/>
              </a:rPr>
              <a:t>•  Statistics Advisor(무료)로 진단. 전체 재수집을 만능으로 여기지 않는다.</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nchor="ctr">
            <a:spAutoFit/>
          </a:bodyPr>
          <a:lstStyle/>
          <a:p>
            <a:pPr>
              <a:spcAft>
                <a:spcPts val="400"/>
              </a:spcAft>
            </a:pPr>
            <a:r>
              <a:rPr sz="2600" b="1">
                <a:solidFill>
                  <a:srgbClr val="FFFFFF"/>
                </a:solidFill>
                <a:latin typeface="맑은 고딕"/>
              </a:rPr>
              <a:t>실습 개요 (Practice Overview)</a:t>
            </a:r>
          </a:p>
        </p:txBody>
      </p:sp>
      <p:sp>
        <p:nvSpPr>
          <p:cNvPr id="4" name="TextBox 3"/>
          <p:cNvSpPr txBox="1"/>
          <p:nvPr/>
        </p:nvSpPr>
        <p:spPr>
          <a:xfrm>
            <a:off x="640080" y="1371600"/>
            <a:ext cx="10881360" cy="5120640"/>
          </a:xfrm>
          <a:prstGeom prst="rect">
            <a:avLst/>
          </a:prstGeom>
          <a:noFill/>
        </p:spPr>
        <p:txBody>
          <a:bodyPr wrap="square">
            <a:spAutoFit/>
          </a:bodyPr>
          <a:lstStyle/>
          <a:p>
            <a:pPr>
              <a:spcAft>
                <a:spcPts val="700"/>
              </a:spcAft>
            </a:pPr>
            <a:r>
              <a:rPr sz="1600" b="0">
                <a:solidFill>
                  <a:srgbClr val="222222"/>
                </a:solidFill>
                <a:latin typeface="맑은 고딕"/>
              </a:rPr>
              <a:t>•  실습 01 — 히스토그램 유무별 카디널리티 추정 차이(300 vs 3,100, 원복)</a:t>
            </a:r>
          </a:p>
          <a:p>
            <a:pPr>
              <a:spcAft>
                <a:spcPts val="700"/>
              </a:spcAft>
            </a:pPr>
            <a:r>
              <a:rPr sz="1600" b="0">
                <a:solidFill>
                  <a:srgbClr val="222222"/>
                </a:solidFill>
                <a:latin typeface="맑은 고딕"/>
              </a:rPr>
              <a:t>•  실습 02 — METHOD_OPT 지정 방식별 히스토그램 생성 결과 비교(원복)</a:t>
            </a:r>
          </a:p>
          <a:p>
            <a:pPr>
              <a:spcAft>
                <a:spcPts val="700"/>
              </a:spcAft>
            </a:pPr>
            <a:r>
              <a:rPr sz="1600" b="0">
                <a:solidFill>
                  <a:srgbClr val="222222"/>
                </a:solidFill>
                <a:latin typeface="맑은 고딕"/>
              </a:rPr>
              <a:t>•  실습 03 — 컬럼 그룹 확장 통계 생성(CLAIM_TYPE·DEPT_CODE, 제거)</a:t>
            </a:r>
          </a:p>
          <a:p>
            <a:pPr>
              <a:spcAft>
                <a:spcPts val="700"/>
              </a:spcAft>
            </a:pPr>
            <a:r>
              <a:rPr sz="1600" b="0">
                <a:solidFill>
                  <a:srgbClr val="222222"/>
                </a:solidFill>
                <a:latin typeface="맑은 고딕"/>
              </a:rPr>
              <a:t>•  실습 04 — 표현식 통계 생성(RECEIPT_DATE 함수, 제거)</a:t>
            </a:r>
          </a:p>
          <a:p>
            <a:pPr>
              <a:spcAft>
                <a:spcPts val="700"/>
              </a:spcAft>
            </a:pPr>
            <a:r>
              <a:rPr sz="1600" b="0">
                <a:solidFill>
                  <a:srgbClr val="222222"/>
                </a:solidFill>
                <a:latin typeface="맑은 고딕"/>
              </a:rPr>
              <a:t>•  실습 05 — 시스템 통계 수집과 계획 변화(NOWORKLOAD↔WORKLOAD, 원복)</a:t>
            </a:r>
          </a:p>
          <a:p>
            <a:pPr>
              <a:spcAft>
                <a:spcPts val="700"/>
              </a:spcAft>
            </a:pPr>
            <a:r>
              <a:rPr sz="1600" b="0">
                <a:solidFill>
                  <a:srgbClr val="222222"/>
                </a:solidFill>
                <a:latin typeface="맑은 고딕"/>
              </a:rPr>
              <a:t>•  실습 06 — 통계 Preferences 설정(SET_TABLE_PREFS, 원복)</a:t>
            </a:r>
          </a:p>
          <a:p>
            <a:pPr>
              <a:spcAft>
                <a:spcPts val="700"/>
              </a:spcAft>
            </a:pPr>
            <a:r>
              <a:rPr sz="1600" b="0">
                <a:solidFill>
                  <a:srgbClr val="222222"/>
                </a:solidFill>
                <a:latin typeface="맑은 고딕"/>
              </a:rPr>
              <a:t>•  실습 07 — Optimizer Statistics Advisor 실행과 권고 해석</a:t>
            </a:r>
          </a:p>
          <a:p>
            <a:pPr>
              <a:spcAft>
                <a:spcPts val="700"/>
              </a:spcAft>
            </a:pPr>
            <a:r>
              <a:rPr sz="1600" b="0">
                <a:solidFill>
                  <a:srgbClr val="222222"/>
                </a:solidFill>
                <a:latin typeface="맑은 고딕"/>
              </a:rPr>
              <a:t>•  ※ non-CDB orcl 19.3 · 통계 변경 실습은 조치 전 캡처 + 원복 필수</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
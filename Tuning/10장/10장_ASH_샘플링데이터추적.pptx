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ASH는 카메라로 1초에 한 장씩 사진을 찍어 두는 것과 같다. AWR은 스냅샷 사이 누적 델타를, ADDM은 그것을 자동 분석해 원인을 낸다. 둘 다 구간을 평균 낸다는 공통점이 있다. 반면 ASH는 1초 간격의 원본 샘플을 그대로 보관하므로 12시 16분 03초에 세션 45번이 무엇을 하고 있었는지까지 되짚을 수 있다. 바로 이 시간 해상도가 몇 분 튀었다 사라지는 문제를 잡아내는 ASH만의 힘이다.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 세션이란 데이터베이스에 접속해 있고 Idle 대기 클래스에 속하지 않는 이벤트를 기다리는 세션이다. CPU를 쓰고 있는 ON CPU 상태도 활성이다. 사용자의 다음 입력을 기다리는 Idle 세션은 샘플에서 빠진다. 그래서 ASH 데이터의 크기는 접속 세션 수가 아니라 실제 수행 중인 작업량에 비례한다. 놀고 있는 세션 1000개는 한 줄도 남기지 않고, 바쁜 세션 8개만 매초 8줄을 남긴다.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V$ACTIVE_SESSION_HISTORY의 한 행은 한 세션의 1초 샘플 한 장이다. SESSION_STATE가 진단의 첫 갈림길이다 — ON CPU면 CPU를 쓰는 중이고 EVENT가 NULL, WAITING이면 EVENT에 무엇을 기다렸는지가 담긴다. SQL_ID로 부하를 유발한 문장을, P1/P2/P3로 블록·파일·래치 등 대상을, BLOCKING_SESSION으로 나를 막은 세션을 특정한다. 이 컬럼들의 조합이 이 장의 모든 조회의 기반이다.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ASH를 처음 쓰는 사람이 거의 반드시 겪는 오판이다. 어떤 SQL_ID의 samples가 186이면 186번 실행됐구나로 읽는데 틀렸다. samples=186은 1초 샘플을 찍을 때 이 SQL을 수행 중인 활성 세션으로 186번 포착됐다는 뜻이다. 한 번 실행에 100초 걸리는 SQL은 1회라도 약 100개 샘플을 남긴다. 즉 samples는 실행 빈도가 아니라 그 상태로 보낸 시간의 양, 곧 DB Time 소비의 근사치다. 몇 번 실행했나는 V$SQL을 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ADDM은 구간에서 DB Time에 가장 큰 영향을 준 문제를 우선 보고한다. 잡히느냐는 문제 지속시간이 스냅샷 간격에서 차지하는 비중에 달렸다. 1시간 간격에서 30분 문제는 반드시 잡히지만, 2분 문제는 나머지 58분의 평범한 부하에 severity가 희석되어 findings에 안 나타날 수 있다. AWR도 구간 합계라 2분 스파이크의 대기 시간이 미미해진다. 사용자는 봤는데 AWR은 문제 없음으로 보이는 상황, 여기서 ASH가 유일한 증인이 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도구는 시간 해상도가 다른 렌즈다. V$는 지금 이 순간만, AWR·ADDM은 스냅샷 간격 단위의 큰 그림, ASH는 1초 샘플이다. 상시·구조적 부하는 AWR·ADDM이 적합하고, 수 분짜리 스파이크는 ASH가 유일한 증인이다. 안전한 순서는 항상 AWR/ADDM으로 큰 그림을 잡고 의심 구간을 ASH로 확대하는 것이다. 처음부터 ASH로 좁게 들어가면 더 큰 상시 문제를 놓칠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스크립트를 실행하면 형식·시작시각·지속시간을 차례로 묻는다. 시작 시각은 현재로부터 몇 분 전을 음수로 준다. begin_time에 -1:10, duration에 10을 주면 1시간 10분 전부터 10분 동안만 잘라 분석한다. 짧은 스파이크를 잡을 때는 문제가 난 구간만 좁혀 지정하는 것이 요령이다. 구간을 넓게 잡을수록 스파이크가 다시 평균에 희석되기 때문이다. 10분을 지정하면 Activity Over Time이 1분짜리 10개 슬롯으로 나뉜다.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보고서는 여러 섹션으로 나뉜다. Top Events는 상위 대기 이벤트로 병목의 성격을, Load Profile은 서비스·모듈·SQL 유형으로 부하 출처를, Top SQL은 부하 SQL을, Top Sessions는 상위 활성·블로킹 세션을, Top Objects/Files/Latches는 대상 자원을, Activity Over Time은 10개 시간 슬롯으로 스파이크 skew를 보여준다. Sampled # of Executions도 총 실행 횟수가 아니라 샘플에 걸린 서로 다른 실행의 개수임을 잊지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ashrpti.sql은 구간뿐 아니라 차원으로도 범위를 좁힐 수 있다. 스크립트 후반이 여러 target 값을 묻는데 관심 있는 것만 지정하고 나머지는 공백으로 넘긴다. 특정 SQL이 의심스러우면 target_sql_id에 그 SQL_ID만 넣어 관련 활동만 추린다. 세션·SQL·대기 클래스·서비스·모듈·액션·클라이언트ID·PL/SQL 진입점을 지원한다. 구간 지정이 언제를 좁힌다면 target 지정은 무엇을을 좁힌다. 종합 부하에서 특정 업무만 떼어 볼 때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 한 장이 구간의 성격을 규정한다. 활성 시간의 90.7%가 ON CPU다. 세션들이 자원을 기다리며 멈춘 게 아니라 CPU를 쥐고 계속 일했다는 뜻이다. 대기는 다 합쳐도 10%가 안 된다. 이런 CPU 지배형에서는 I/O 튜닝이나 잠금 해소가 아니라 CPU를 태우는 SQL 자체를 찾아 줄이는 것이 정답이다. 상위 대기인 log file sync 2.9%, db file sequential read 1.7%는 부차적 증상일 뿐 여기에 먼저 손대면 헛수고다.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모니터링에서 CPU가 치솟았다는 신고가 오면 대기 이벤트 목록만 보던 습관대로 log file sync를 지목하기 쉽다. 하지만 ASH 상위가 ON CPU 90.7%면 대기는 증상이 아니라 곁가지다. 병목은 기다림이 아니라 CPU 소비 그 자체다. 다음 수순은 CPU를 태우는 상위 SQL_ID로 내려가는 것이다. 대기 이벤트를 붙잡고 있으면 진짜 원인을 영영 못 만난다. 상위 대기 하나만 보고 결론 내지 않는 것이 이 장의 핵심 교훈이다.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지배형이라는 판정이 섰으니 그 CPU를 실제로 태운 SQL을 지목한다. 상위 두 SQL이 전체 SQL 샘플의 대부분을 차지한다. 여기서도 samples=186은 186번 실행이 아니라 1초 샘플에 186번 수행 중으로 잡힐 만큼 오래 CPU를 점유했다는 뜻이다. 이 부하는 리터럴 하드파싱(WL_01 계열)과 대량 스캔을 섞어 만든 것이라, 9장 ADDM의 Hard Parse Due to Literal Usage 진단과 같은 현상의 앞뒷면이다. 실제 횟수·비용은 V$SQL로 이어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헤더를 순서대로 읽는다. Sample Count 582는 2.2분 동안 모인 활성 세션 샘플 총수다. Average Active Sessions 4.48은 구간 내내 평균 4.48개 세션이 동시에 활성이었다는 뜻으로 DB Time에서 파생되는 동시성 지표다. CPU 8개 서버에서 per CPU가 0.56이므로 CPU가 포화되지는 않았지만 활성 세션의 거의 전부가 CPU를 쓴다는 점(89.69%)이 병목의 성격을 말한다. 직접 조회의 90.7%와 보고서 89.69%가 소수점까지 같지 않은 건 구간·범주 차이일 뿐 결론은 같다.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구간 전체를 하나로 집계하면 언제 몰렸나를 모른다. Activity Over Time은 분석 구간을 10개 슬롯으로 나눠 슬롯별 샘플 수와 상위 이벤트를 보여준다. 12:16 슬롯의 Slot Count가 241로 가장 높으므로 부하가 그 1분에 가장 몰렸다. Slot Count 스파이크는 활성 세션 증가, 곧 워크로드 증가를 의미한다. 세 슬롯 모두 ON CPU가 대부분이라, 스파이크의 정체는 CPU를 태우는 SQL이라는 앞 결론과 일치한다. 슬롯 차이가 몇 개뿐이면 잡음일 수 있으니 두세 배로 튀어야 의미 있는 집중으로 본다.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세션의 10초를 초 단위로 펼치니 이야기가 보인다. 세션 45번은 대부분 9vmszgd1ft9x0을 수행하며 CPU에서 보냈고, 12:16:04에 잠깐 커밋을 하며 log file sync를 1초 기다렸다가 다시 CPU로 돌아왔다. 상태 변화를 시간축에 늘어놓으면 집계로는 안 보이던 언제 무엇 때문에 멈췄나가 드러난다. 샘플이 빈 초는 그 순간 세션이 Idle이었다는 뜻이니 빈칸도 정보다. 세션 번호는 재사용되므로 SESSION_ID와 SERIAL#를 함께 조건에 넣는다.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 단위 추적이 집계와 결정적으로 다른 점은 인과의 순서를 보여준다는 것이다. 집계는 이 구간에 log file sync가 몇 퍼센트 있었다까지지만, 시간순 재구성은 세션이 CPU 작업을 하다가 커밋에서 잠깐 멈췄고 곧 복귀했다는 흐름을 보여준다. 순서가 보이면 조치 대상이 분명해진다. 커밋 대기가 반복되면 커밋 빈도를, CPU 구간이 길면 그 SQL을 손댄다. WAITING 샘플의 BLOCKING_SESSION이 채워지면 그 세션이 다른 세션에 막힌 것이니 블로커를 이어서 추적한다.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 ASH 버퍼는 SGA 안의 유한한 순환 버퍼다. 부하가 높아 샘플이 빠르게 쌓이면 오래된 샘플은 밀려 사라진다. 이 환경의 ASH Buffer Size는 16M였다. 그래서 V$로 되짚을 수 있는 시간은 대개 수십 분에서 몇 시간이다. 이를 보완하는 것이 디스크 ASH다. MMON 계열이 메모리 샘플의 약 10분의 1을 골라 AWR과 함께 SYSAUX에 저장하며 이것이 DBA_HIST_ACTIVE_SESS_HISTORY다. 샘플이 10초 간격이라 해상도는 낮지만 AWR 보존 기간만큼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구간을 디스크 ASH로 보면 샘플 수가 메모리의 529에서 약 10분의 1인 53으로 줄어 있다. 10초에 한 번만 저장되기 때문이다. 비율은 그대로(ON CPU 압도적)지만 세밀함이 줄었다. 그래서 어제 이전 구간이라면 이 정도 해상도로 큰 그림을 잡고, 가능하면 문제 직후 메모리 ASH가 살아 있을 때 정밀 분석을 끝내는 것이 좋다. 사고 대응 첫 5분 안에 의심 구간의 V$ACTIVE_SESSION_HISTORY를 별도 테이블로 떠 두는 습관이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도구는 데이터 원천이 다르지 않다. AWR은 V$ 통계를 스냅샷으로, ADDM은 그 AWR을, ASH는 같은 활성 세션을 1초로 샘플링한다. 그래서 같은 부하를 보면 결론이 어긋날 수 없다. AWR의 DB CPU 지배, ADDM의 리터럴 하드파싱, ASH의 ON CPU 90.7%는 다른 각도에서 찍은 같은 사진이다. 세 도구가 모순되면 도구가 이상한 게 아니라 보고 있는 구간이 서로 다르다는 신호다. 실무 보고서에는 세 발췌를 나란히 붙여 이 일치를 근거로 제시하면 설득력이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ASH의 편리함에는 대가가 있다. V$ACTIVE_SESSION_HISTORY, DBA_HIST_ACTIVE_SESS_HISTORY, ashrpt.sql은 모두 Diagnostics Pack 유상 옵션이다. 조회하는 순간 사용 이력이 DBA_FEATURE_USAGE_STATISTICS에 남고 라이선스가 없으면 감사에서 위반으로 지적된다. 교육 환경에서 익숙해진 손으로 실무 운영계에서 무심코 조회하는 것이 가장 흔한 사고다. CONTROL_MANAGEMENT_PACK_ACCESS가 DIAGNOSTIC 이상이어야 기능이 동작하지만, 이 값 자체는 라이선스 보유를 증명하지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라이선스가 없다면 원리로 돌아간다. ASH가 하는 일은 결국 활성 세션을 짧은 주기로 반복 관찰해 쌓는 것이다. 이를 V$SESSION을 1초마다 폴링해 테이블에 적재하면 수제 ASH가 된다. wait_class &lt;&gt; Idle 조건이 ASH의 활성 세션만 규칙을 재현한다. 다만 V$SESSION은 지금 이 순간만 보여주므로 폴링을 멈추면 과거는 사라진다. 완전한 대체가 아니라 절충이다. 그럼에도 지금 무엇이 병목인가라는 가장 중요한 질문에는 답할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600"/>
              </a:spcAft>
            </a:pPr>
            <a:r>
              <a:rPr sz="3400" b="1">
                <a:solidFill>
                  <a:srgbClr val="C0392B"/>
                </a:solidFill>
                <a:latin typeface="맑은 고딕"/>
              </a:rPr>
              <a:t>ASH — 샘플링 데이터로 특정 시점 추적</a:t>
            </a:r>
          </a:p>
          <a:p>
            <a:pPr algn="l">
              <a:spcAft>
                <a:spcPts val="600"/>
              </a:spcAft>
            </a:pPr>
            <a:r>
              <a:rPr sz="2000" b="0">
                <a:solidFill>
                  <a:srgbClr val="5A6672"/>
                </a:solidFill>
                <a:latin typeface="맑은 고딕"/>
              </a:rPr>
              <a:t>Analyzing Sampled Data — 짧은 스파이크를 잡는 법</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샘플링 원리 · V$ACTIVE_SESSION_HISTORY · ashrpt.sql · 세션 재구성 · DBA_HIST · AWR·ADDM·ASH 대조</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제10장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ASH가 활성 세션을 1초 주기로 샘플링해 순환 버퍼에 저장하는 원리를 설명한다.</a:t>
            </a:r>
          </a:p>
          <a:p>
            <a:pPr algn="l">
              <a:spcAft>
                <a:spcPts val="600"/>
              </a:spcAft>
            </a:pPr>
            <a:r>
              <a:rPr sz="1600" b="0">
                <a:solidFill>
                  <a:srgbClr val="222222"/>
                </a:solidFill>
                <a:latin typeface="맑은 고딕"/>
              </a:rPr>
              <a:t>•  V$ACTIVE_SESSION_HISTORY 컬럼으로 상위 대기·SQL·세션을 직접 도출한다.</a:t>
            </a:r>
          </a:p>
          <a:p>
            <a:pPr algn="l">
              <a:spcAft>
                <a:spcPts val="600"/>
              </a:spcAft>
            </a:pPr>
            <a:r>
              <a:rPr sz="1600" b="0">
                <a:solidFill>
                  <a:srgbClr val="222222"/>
                </a:solidFill>
                <a:latin typeface="맑은 고딕"/>
              </a:rPr>
              <a:t>•  샘플 수(samples)가 실행 횟수가 아니라 소비 시간의 근사임을 이해한다.</a:t>
            </a:r>
          </a:p>
          <a:p>
            <a:pPr algn="l">
              <a:spcAft>
                <a:spcPts val="600"/>
              </a:spcAft>
            </a:pPr>
            <a:r>
              <a:rPr sz="1600" b="0">
                <a:solidFill>
                  <a:srgbClr val="222222"/>
                </a:solidFill>
                <a:latin typeface="맑은 고딕"/>
              </a:rPr>
              <a:t>•  ashrpt.sql로 보고서를 생성하고 begin_time·duration으로 구간을 지정한다.</a:t>
            </a:r>
          </a:p>
          <a:p>
            <a:pPr algn="l">
              <a:spcAft>
                <a:spcPts val="600"/>
              </a:spcAft>
            </a:pPr>
            <a:r>
              <a:rPr sz="1600" b="0">
                <a:solidFill>
                  <a:srgbClr val="222222"/>
                </a:solidFill>
                <a:latin typeface="맑은 고딕"/>
              </a:rPr>
              <a:t>•  한 세션이 무엇을 기다렸는지 SAMPLE_TIME 순으로 재구성한다.</a:t>
            </a:r>
          </a:p>
          <a:p>
            <a:pPr algn="l">
              <a:spcAft>
                <a:spcPts val="600"/>
              </a:spcAft>
            </a:pPr>
            <a:r>
              <a:rPr sz="1600" b="0">
                <a:solidFill>
                  <a:srgbClr val="222222"/>
                </a:solidFill>
                <a:latin typeface="맑은 고딕"/>
              </a:rPr>
              <a:t>•  메모리 ASH(V$)와 디스크 ASH(DBA_HIST_)의 해상도·보존 차이를 안다.</a:t>
            </a:r>
          </a:p>
          <a:p>
            <a:pPr algn="l">
              <a:spcAft>
                <a:spcPts val="600"/>
              </a:spcAft>
            </a:pPr>
            <a:r>
              <a:rPr sz="1600" b="0">
                <a:solidFill>
                  <a:srgbClr val="222222"/>
                </a:solidFill>
                <a:latin typeface="맑은 고딕"/>
              </a:rPr>
              <a:t>•  AWR·ADDM이 놓치는 짧은 스파이크를 ASH로 잡는 논리를 설명한다.</a:t>
            </a:r>
          </a:p>
          <a:p>
            <a:pPr algn="l">
              <a:spcAft>
                <a:spcPts val="600"/>
              </a:spcAft>
            </a:pPr>
            <a:r>
              <a:rPr sz="1600" b="0">
                <a:solidFill>
                  <a:srgbClr val="222222"/>
                </a:solidFill>
                <a:latin typeface="맑은 고딕"/>
              </a:rPr>
              <a:t>•  Diagnostics Pack 경계와 V$SESSION 폴링 대안 경로를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600" b="0">
                <a:solidFill>
                  <a:srgbClr val="222222"/>
                </a:solidFill>
                <a:latin typeface="맑은 고딕"/>
              </a:rPr>
              <a:t>•  10.2  ASH란 무엇인가 — 샘플링의 원리</a:t>
            </a:r>
          </a:p>
          <a:p>
            <a:pPr algn="l">
              <a:spcAft>
                <a:spcPts val="700"/>
              </a:spcAft>
            </a:pPr>
            <a:r>
              <a:rPr sz="1600" b="0">
                <a:solidFill>
                  <a:srgbClr val="222222"/>
                </a:solidFill>
                <a:latin typeface="맑은 고딕"/>
              </a:rPr>
              <a:t>•  10.3  ASH가 필요한 순간 — 짧은 스파이크</a:t>
            </a:r>
          </a:p>
          <a:p>
            <a:pPr algn="l">
              <a:spcAft>
                <a:spcPts val="700"/>
              </a:spcAft>
            </a:pPr>
            <a:r>
              <a:rPr sz="1600" b="0">
                <a:solidFill>
                  <a:srgbClr val="222222"/>
                </a:solidFill>
                <a:latin typeface="맑은 고딕"/>
              </a:rPr>
              <a:t>•  10.4  ASH 보고서 생성 — ashrpt.sql</a:t>
            </a:r>
          </a:p>
          <a:p>
            <a:pPr algn="l">
              <a:spcAft>
                <a:spcPts val="700"/>
              </a:spcAft>
            </a:pPr>
            <a:r>
              <a:rPr sz="1600" b="0">
                <a:solidFill>
                  <a:srgbClr val="222222"/>
                </a:solidFill>
                <a:latin typeface="맑은 고딕"/>
              </a:rPr>
              <a:t>•  10.5  실측 — 부하 구간 10분을 ASH로 재구성</a:t>
            </a:r>
          </a:p>
          <a:p>
            <a:pPr algn="l">
              <a:spcAft>
                <a:spcPts val="700"/>
              </a:spcAft>
            </a:pPr>
            <a:r>
              <a:rPr sz="1600" b="0">
                <a:solidFill>
                  <a:srgbClr val="222222"/>
                </a:solidFill>
                <a:latin typeface="맑은 고딕"/>
              </a:rPr>
              <a:t>•  10.6  세션 단위 추적 — 시간순 재구성</a:t>
            </a:r>
          </a:p>
          <a:p>
            <a:pPr algn="l">
              <a:spcAft>
                <a:spcPts val="700"/>
              </a:spcAft>
            </a:pPr>
            <a:r>
              <a:rPr sz="1600" b="0">
                <a:solidFill>
                  <a:srgbClr val="222222"/>
                </a:solidFill>
                <a:latin typeface="맑은 고딕"/>
              </a:rPr>
              <a:t>•  10.7  DBA_HIST_ACTIVE_SESS_HISTORY — 보존 구간</a:t>
            </a:r>
          </a:p>
          <a:p>
            <a:pPr algn="l">
              <a:spcAft>
                <a:spcPts val="700"/>
              </a:spcAft>
            </a:pPr>
            <a:r>
              <a:rPr sz="1600" b="0">
                <a:solidFill>
                  <a:srgbClr val="222222"/>
                </a:solidFill>
                <a:latin typeface="맑은 고딕"/>
              </a:rPr>
              <a:t>•  10.8  세 도구가 같은 부하를 본다 — AWR·ADDM·ASH</a:t>
            </a:r>
          </a:p>
          <a:p>
            <a:pPr algn="l">
              <a:spcAft>
                <a:spcPts val="700"/>
              </a:spcAft>
            </a:pPr>
            <a:r>
              <a:rPr sz="1600" b="0">
                <a:solidFill>
                  <a:srgbClr val="222222"/>
                </a:solidFill>
                <a:latin typeface="맑은 고딕"/>
              </a:rPr>
              <a:t>•  10.9  관리 팩 라이선스와 대안 경로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10.2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ASH란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활성 세션을 1초마다 샘플링</a:t>
            </a:r>
          </a:p>
          <a:p>
            <a:pPr algn="l">
              <a:spcAft>
                <a:spcPts val="600"/>
              </a:spcAft>
            </a:pPr>
            <a:r>
              <a:rPr sz="1600" b="0">
                <a:solidFill>
                  <a:srgbClr val="FFFFFF"/>
                </a:solidFill>
                <a:latin typeface="맑은 고딕"/>
              </a:rPr>
              <a:t>•  SGA 순환 버퍼에 저장</a:t>
            </a:r>
          </a:p>
          <a:p>
            <a:pPr algn="l">
              <a:spcAft>
                <a:spcPts val="600"/>
              </a:spcAft>
            </a:pPr>
            <a:r>
              <a:rPr sz="1600" b="0">
                <a:solidFill>
                  <a:srgbClr val="FFFFFF"/>
                </a:solidFill>
                <a:latin typeface="맑은 고딕"/>
              </a:rPr>
              <a:t>•  V$ACTIVE_SESSION_HISTORY</a:t>
            </a:r>
          </a:p>
          <a:p>
            <a:pPr algn="l">
              <a:spcAft>
                <a:spcPts val="600"/>
              </a:spcAft>
            </a:pPr>
            <a:r>
              <a:rPr sz="1600" b="0">
                <a:solidFill>
                  <a:srgbClr val="FFFFFF"/>
                </a:solidFill>
                <a:latin typeface="맑은 고딕"/>
              </a:rPr>
              <a:t>•  samples ≠ 실행 횟수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 샘플링의 원리</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1초마다 활성 세션의 스냅사진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매 1초 활성 세션 상태를 SGA 순환 버퍼에 기록</a:t>
            </a:r>
          </a:p>
          <a:p>
            <a:pPr algn="l">
              <a:spcAft>
                <a:spcPts val="800"/>
              </a:spcAft>
            </a:pPr>
            <a:r>
              <a:rPr sz="1700" b="0">
                <a:solidFill>
                  <a:srgbClr val="222222"/>
                </a:solidFill>
                <a:latin typeface="맑은 고딕"/>
              </a:rPr>
              <a:t>•  AWR·ADDM은 구간을 평균 냄 / ASH는 평균 내지 않음</a:t>
            </a:r>
          </a:p>
          <a:p>
            <a:pPr algn="l">
              <a:spcAft>
                <a:spcPts val="800"/>
              </a:spcAft>
            </a:pPr>
            <a:r>
              <a:rPr sz="1700" b="0">
                <a:solidFill>
                  <a:srgbClr val="222222"/>
                </a:solidFill>
                <a:latin typeface="맑은 고딕"/>
              </a:rPr>
              <a:t>•  1초 원본 샘플 보관 → 특정 초의 활동까지 복원</a:t>
            </a:r>
          </a:p>
          <a:p>
            <a:pPr algn="l">
              <a:spcAft>
                <a:spcPts val="800"/>
              </a:spcAft>
            </a:pPr>
            <a:r>
              <a:rPr sz="1700" b="0">
                <a:solidFill>
                  <a:srgbClr val="222222"/>
                </a:solidFill>
                <a:latin typeface="맑은 고딕"/>
              </a:rPr>
              <a:t>•  이 시간 해상도가 짧은 스파이크를 잡는 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활성 세션만 샘플링한다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ASH가 관리 가능한 크기를 유지하는 비결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접속 + Idle 대기가 아닌 세션 = 활성 세션</a:t>
            </a:r>
          </a:p>
          <a:p>
            <a:pPr algn="l">
              <a:spcAft>
                <a:spcPts val="800"/>
              </a:spcAft>
            </a:pPr>
            <a:r>
              <a:rPr sz="1700" b="0">
                <a:solidFill>
                  <a:srgbClr val="222222"/>
                </a:solidFill>
                <a:latin typeface="맑은 고딕"/>
              </a:rPr>
              <a:t>•  CPU를 쓰는 세션(ON CPU)도 활성</a:t>
            </a:r>
          </a:p>
          <a:p>
            <a:pPr algn="l">
              <a:spcAft>
                <a:spcPts val="800"/>
              </a:spcAft>
            </a:pPr>
            <a:r>
              <a:rPr sz="1700" b="0">
                <a:solidFill>
                  <a:srgbClr val="222222"/>
                </a:solidFill>
                <a:latin typeface="맑은 고딕"/>
              </a:rPr>
              <a:t>•  SQL*Net message from client 등 Idle은 제외</a:t>
            </a:r>
          </a:p>
          <a:p>
            <a:pPr algn="l">
              <a:spcAft>
                <a:spcPts val="800"/>
              </a:spcAft>
            </a:pPr>
            <a:r>
              <a:rPr sz="1700" b="0">
                <a:solidFill>
                  <a:srgbClr val="222222"/>
                </a:solidFill>
                <a:latin typeface="맑은 고딕"/>
              </a:rPr>
              <a:t>•  데이터 크기 ∝ 접속 수가 아니라 실제 작업량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V$ACTIVE_SESSION_HISTORY 구조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한 행 = 한 세션의 1초 샘플 한 장</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sample_time, session_id, session_state,</a:t>
            </a:r>
          </a:p>
          <a:p>
            <a:pPr>
              <a:lnSpc>
                <a:spcPct val="100000"/>
              </a:lnSpc>
              <a:spcAft>
                <a:spcPts val="0"/>
              </a:spcAft>
            </a:pPr>
            <a:r>
              <a:rPr sz="1250">
                <a:solidFill>
                  <a:srgbClr val="F2F2F2"/>
                </a:solidFill>
                <a:latin typeface="Consolas"/>
              </a:rPr>
              <a:t>  2         event, sql_id</a:t>
            </a:r>
          </a:p>
          <a:p>
            <a:pPr>
              <a:lnSpc>
                <a:spcPct val="100000"/>
              </a:lnSpc>
              <a:spcAft>
                <a:spcPts val="0"/>
              </a:spcAft>
            </a:pPr>
            <a:r>
              <a:rPr sz="1250">
                <a:solidFill>
                  <a:srgbClr val="F2F2F2"/>
                </a:solidFill>
                <a:latin typeface="Consolas"/>
              </a:rPr>
              <a:t>  3       FROM v$active_session_history</a:t>
            </a:r>
          </a:p>
          <a:p>
            <a:pPr>
              <a:lnSpc>
                <a:spcPct val="100000"/>
              </a:lnSpc>
              <a:spcAft>
                <a:spcPts val="0"/>
              </a:spcAft>
            </a:pPr>
            <a:r>
              <a:rPr sz="1250">
                <a:solidFill>
                  <a:srgbClr val="F2F2F2"/>
                </a:solidFill>
                <a:latin typeface="Consolas"/>
              </a:rPr>
              <a:t>  4       WHERE sample_time &gt; SYSTIMESTAMP - INTERVAL '15' SECOND</a:t>
            </a:r>
          </a:p>
          <a:p>
            <a:pPr>
              <a:lnSpc>
                <a:spcPct val="100000"/>
              </a:lnSpc>
              <a:spcAft>
                <a:spcPts val="0"/>
              </a:spcAft>
            </a:pPr>
            <a:r>
              <a:rPr sz="1250">
                <a:solidFill>
                  <a:srgbClr val="F2F2F2"/>
                </a:solidFill>
                <a:latin typeface="Consolas"/>
              </a:rPr>
              <a:t>  5       ORDER BY sample_time DESC FETCH FIRST 8 ROWS ONLY;</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SAMPLE_TIME           SESS_ID STATE   EVENT           SQL_ID</a:t>
            </a:r>
          </a:p>
          <a:p>
            <a:pPr>
              <a:lnSpc>
                <a:spcPct val="100000"/>
              </a:lnSpc>
              <a:spcAft>
                <a:spcPts val="0"/>
              </a:spcAft>
            </a:pPr>
            <a:r>
              <a:rPr sz="1250">
                <a:solidFill>
                  <a:srgbClr val="F2F2F2"/>
                </a:solidFill>
                <a:latin typeface="Consolas"/>
              </a:rPr>
              <a:t>--------------------- ------- ------- --------------- -------------</a:t>
            </a:r>
          </a:p>
          <a:p>
            <a:pPr>
              <a:lnSpc>
                <a:spcPct val="100000"/>
              </a:lnSpc>
              <a:spcAft>
                <a:spcPts val="0"/>
              </a:spcAft>
            </a:pPr>
            <a:r>
              <a:rPr sz="1250">
                <a:solidFill>
                  <a:srgbClr val="F2F2F2"/>
                </a:solidFill>
                <a:latin typeface="Consolas"/>
              </a:rPr>
              <a:t>12.16.58.123               45 ON CPU                  9vmszgd1ft9x0</a:t>
            </a:r>
          </a:p>
          <a:p>
            <a:pPr>
              <a:lnSpc>
                <a:spcPct val="100000"/>
              </a:lnSpc>
              <a:spcAft>
                <a:spcPts val="0"/>
              </a:spcAft>
            </a:pPr>
            <a:r>
              <a:rPr sz="1250">
                <a:solidFill>
                  <a:srgbClr val="F2F2F2"/>
                </a:solidFill>
                <a:latin typeface="Consolas"/>
              </a:rPr>
              <a:t>12.16.58.123               61 WAITING log file sync   50kad7809jyj8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samples는 실행 횟수가 아니다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 장의 대표 오판 — 반드시 경계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samples=186 ≠ 186번 실행</a:t>
            </a:r>
          </a:p>
          <a:p>
            <a:pPr algn="l">
              <a:spcAft>
                <a:spcPts val="800"/>
              </a:spcAft>
            </a:pPr>
            <a:r>
              <a:rPr sz="1700" b="0">
                <a:solidFill>
                  <a:srgbClr val="222222"/>
                </a:solidFill>
                <a:latin typeface="맑은 고딕"/>
              </a:rPr>
              <a:t>•  = 1초 샘플에 186번 '수행 중'으로 포착됨</a:t>
            </a:r>
          </a:p>
          <a:p>
            <a:pPr algn="l">
              <a:spcAft>
                <a:spcPts val="800"/>
              </a:spcAft>
            </a:pPr>
            <a:r>
              <a:rPr sz="1700" b="0">
                <a:solidFill>
                  <a:srgbClr val="222222"/>
                </a:solidFill>
                <a:latin typeface="맑은 고딕"/>
              </a:rPr>
              <a:t>•  100초짜리 SQL 1회 → 약 100 샘플</a:t>
            </a:r>
          </a:p>
          <a:p>
            <a:pPr algn="l">
              <a:spcAft>
                <a:spcPts val="800"/>
              </a:spcAft>
            </a:pPr>
            <a:r>
              <a:rPr sz="1700" b="0">
                <a:solidFill>
                  <a:srgbClr val="222222"/>
                </a:solidFill>
                <a:latin typeface="맑은 고딕"/>
              </a:rPr>
              <a:t>•  횟수는 V$SQL.EXECUTIONS / 시간은 ASH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10.3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짧은 스파이크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AWR·ADDM은 구간을 평균</a:t>
            </a:r>
          </a:p>
          <a:p>
            <a:pPr algn="l">
              <a:spcAft>
                <a:spcPts val="600"/>
              </a:spcAft>
            </a:pPr>
            <a:r>
              <a:rPr sz="1600" b="0">
                <a:solidFill>
                  <a:srgbClr val="FFFFFF"/>
                </a:solidFill>
                <a:latin typeface="맑은 고딕"/>
              </a:rPr>
              <a:t>•  2분 문제 → 평균에 희석</a:t>
            </a:r>
          </a:p>
          <a:p>
            <a:pPr algn="l">
              <a:spcAft>
                <a:spcPts val="600"/>
              </a:spcAft>
            </a:pPr>
            <a:r>
              <a:rPr sz="1600" b="0">
                <a:solidFill>
                  <a:srgbClr val="FFFFFF"/>
                </a:solidFill>
                <a:latin typeface="맑은 고딕"/>
              </a:rPr>
              <a:t>•  ASH는 구간만 잘라 포착</a:t>
            </a:r>
          </a:p>
          <a:p>
            <a:pPr algn="l">
              <a:spcAft>
                <a:spcPts val="600"/>
              </a:spcAft>
            </a:pPr>
            <a:r>
              <a:rPr sz="1600" b="0">
                <a:solidFill>
                  <a:srgbClr val="FFFFFF"/>
                </a:solidFill>
                <a:latin typeface="맑은 고딕"/>
              </a:rPr>
              <a:t>•  도구는 지속 시간으로 선택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AWR·ADDM이 놓치는 이유</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짧은(transient) 성능 문제</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ADDM: 문제 지속시간 / 스냅샷 간격 비중에 좌우</a:t>
            </a:r>
          </a:p>
          <a:p>
            <a:pPr algn="l">
              <a:spcAft>
                <a:spcPts val="800"/>
              </a:spcAft>
            </a:pPr>
            <a:r>
              <a:rPr sz="1700" b="0">
                <a:solidFill>
                  <a:srgbClr val="222222"/>
                </a:solidFill>
                <a:latin typeface="맑은 고딕"/>
              </a:rPr>
              <a:t>•  1시간 간격 · 2분 문제 → severity 희석·누락</a:t>
            </a:r>
          </a:p>
          <a:p>
            <a:pPr algn="l">
              <a:spcAft>
                <a:spcPts val="800"/>
              </a:spcAft>
            </a:pPr>
            <a:r>
              <a:rPr sz="1700" b="0">
                <a:solidFill>
                  <a:srgbClr val="222222"/>
                </a:solidFill>
                <a:latin typeface="맑은 고딕"/>
              </a:rPr>
              <a:t>•  AWR: 구간 합계라 2분 스파이크가 미미해짐</a:t>
            </a:r>
          </a:p>
          <a:p>
            <a:pPr algn="l">
              <a:spcAft>
                <a:spcPts val="800"/>
              </a:spcAft>
            </a:pPr>
            <a:r>
              <a:rPr sz="1700" b="0">
                <a:solidFill>
                  <a:srgbClr val="222222"/>
                </a:solidFill>
                <a:latin typeface="맑은 고딕"/>
              </a:rPr>
              <a:t>•  'AWR에 안 보임' ≠ '문제 없음'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도구별 시간 해상도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부하, 다른 렌즈</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V$ 뷰: 실시간 — 지나가면 사라짐</a:t>
            </a:r>
          </a:p>
          <a:p>
            <a:pPr algn="l">
              <a:spcAft>
                <a:spcPts val="800"/>
              </a:spcAft>
            </a:pPr>
            <a:r>
              <a:rPr sz="1700" b="0">
                <a:solidFill>
                  <a:srgbClr val="222222"/>
                </a:solidFill>
                <a:latin typeface="맑은 고딕"/>
              </a:rPr>
              <a:t>•  AWR: 스냅샷 간격(기본 1h) — 평균에 희석</a:t>
            </a:r>
          </a:p>
          <a:p>
            <a:pPr algn="l">
              <a:spcAft>
                <a:spcPts val="800"/>
              </a:spcAft>
            </a:pPr>
            <a:r>
              <a:rPr sz="1700" b="0">
                <a:solidFill>
                  <a:srgbClr val="222222"/>
                </a:solidFill>
                <a:latin typeface="맑은 고딕"/>
              </a:rPr>
              <a:t>•  ADDM: 스냅샷 간격 — severity 희석</a:t>
            </a:r>
          </a:p>
          <a:p>
            <a:pPr algn="l">
              <a:spcAft>
                <a:spcPts val="800"/>
              </a:spcAft>
            </a:pPr>
            <a:r>
              <a:rPr sz="1700" b="0">
                <a:solidFill>
                  <a:srgbClr val="222222"/>
                </a:solidFill>
                <a:latin typeface="맑은 고딕"/>
              </a:rPr>
              <a:t>•  ASH: 1초 샘플 — 구간만 잘라 스파이크 포착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10.4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ASH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ashrpt.sql / ashrpti.sql</a:t>
            </a:r>
          </a:p>
          <a:p>
            <a:pPr algn="l">
              <a:spcAft>
                <a:spcPts val="600"/>
              </a:spcAft>
            </a:pPr>
            <a:r>
              <a:rPr sz="1600" b="0">
                <a:solidFill>
                  <a:srgbClr val="FFFFFF"/>
                </a:solidFill>
                <a:latin typeface="맑은 고딕"/>
              </a:rPr>
              <a:t>•  begin_time · duration</a:t>
            </a:r>
          </a:p>
          <a:p>
            <a:pPr algn="l">
              <a:spcAft>
                <a:spcPts val="600"/>
              </a:spcAft>
            </a:pPr>
            <a:r>
              <a:rPr sz="1600" b="0">
                <a:solidFill>
                  <a:srgbClr val="FFFFFF"/>
                </a:solidFill>
                <a:latin typeface="맑은 고딕"/>
              </a:rPr>
              <a:t>•  보고서 섹션 구조</a:t>
            </a:r>
          </a:p>
          <a:p>
            <a:pPr algn="l">
              <a:spcAft>
                <a:spcPts val="600"/>
              </a:spcAft>
            </a:pPr>
            <a:r>
              <a:rPr sz="1600" b="0">
                <a:solidFill>
                  <a:srgbClr val="FFFFFF"/>
                </a:solidFill>
                <a:latin typeface="맑은 고딕"/>
              </a:rPr>
              <a:t>•  target로 차원 좁히기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ashrpt.sql 실행과 구간 지정</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'10분 전부터 현재까지'를 텍스트로</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@?/rdbms/admin/ashrpt.sql</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Enter value for report_type: text      -- 텍스트</a:t>
            </a:r>
          </a:p>
          <a:p>
            <a:pPr>
              <a:lnSpc>
                <a:spcPct val="100000"/>
              </a:lnSpc>
              <a:spcAft>
                <a:spcPts val="0"/>
              </a:spcAft>
            </a:pPr>
            <a:r>
              <a:rPr sz="1250">
                <a:solidFill>
                  <a:srgbClr val="F2F2F2"/>
                </a:solidFill>
                <a:latin typeface="Consolas"/>
              </a:rPr>
              <a:t>Enter value for begin_time:  -10       -- 10분 전 시작</a:t>
            </a:r>
          </a:p>
          <a:p>
            <a:pPr>
              <a:lnSpc>
                <a:spcPct val="100000"/>
              </a:lnSpc>
              <a:spcAft>
                <a:spcPts val="0"/>
              </a:spcAft>
            </a:pPr>
            <a:r>
              <a:rPr sz="1250">
                <a:solidFill>
                  <a:srgbClr val="F2F2F2"/>
                </a:solidFill>
                <a:latin typeface="Consolas"/>
              </a:rPr>
              <a:t>Enter value for duration:              -- (공백) 현재까지</a:t>
            </a:r>
          </a:p>
          <a:p>
            <a:pPr>
              <a:lnSpc>
                <a:spcPct val="100000"/>
              </a:lnSpc>
              <a:spcAft>
                <a:spcPts val="0"/>
              </a:spcAft>
            </a:pPr>
            <a:r>
              <a:rPr sz="1250">
                <a:solidFill>
                  <a:srgbClr val="F2F2F2"/>
                </a:solidFill>
                <a:latin typeface="Consolas"/>
              </a:rPr>
              <a:t>Enter value for report_name:           -- 기본 이름</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Using the report name ashrpt_1_0825_1217.txt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보고서 섹션 구조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섹션이 무엇을 지목하나</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Top User/Background Events — 상위 대기와 %</a:t>
            </a:r>
          </a:p>
          <a:p>
            <a:pPr algn="l">
              <a:spcAft>
                <a:spcPts val="800"/>
              </a:spcAft>
            </a:pPr>
            <a:r>
              <a:rPr sz="1700" b="0">
                <a:solidFill>
                  <a:srgbClr val="222222"/>
                </a:solidFill>
                <a:latin typeface="맑은 고딕"/>
              </a:rPr>
              <a:t>•  Top SQL — 상위 SQL, Sampled # of Executions</a:t>
            </a:r>
          </a:p>
          <a:p>
            <a:pPr algn="l">
              <a:spcAft>
                <a:spcPts val="800"/>
              </a:spcAft>
            </a:pPr>
            <a:r>
              <a:rPr sz="1700" b="0">
                <a:solidFill>
                  <a:srgbClr val="222222"/>
                </a:solidFill>
                <a:latin typeface="맑은 고딕"/>
              </a:rPr>
              <a:t>•  Top Sessions — 상위 활성·블로킹 세션</a:t>
            </a:r>
          </a:p>
          <a:p>
            <a:pPr algn="l">
              <a:spcAft>
                <a:spcPts val="800"/>
              </a:spcAft>
            </a:pPr>
            <a:r>
              <a:rPr sz="1700" b="0">
                <a:solidFill>
                  <a:srgbClr val="222222"/>
                </a:solidFill>
                <a:latin typeface="맑은 고딕"/>
              </a:rPr>
              <a:t>•  Activity Over Time — 10개 슬롯 skew 분석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target — 무엇을 좁혀 볼 것인가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구간은 '언제', target은 '무엇을'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Enter value for target_session_id:            -- 전체</a:t>
            </a:r>
          </a:p>
          <a:p>
            <a:pPr>
              <a:lnSpc>
                <a:spcPct val="100000"/>
              </a:lnSpc>
              <a:spcAft>
                <a:spcPts val="0"/>
              </a:spcAft>
            </a:pPr>
            <a:r>
              <a:rPr sz="1250">
                <a:solidFill>
                  <a:srgbClr val="F2F2F2"/>
                </a:solidFill>
                <a:latin typeface="Consolas"/>
              </a:rPr>
              <a:t>Enter value for target_sql_id: 9vmszgd1ft9x0  -- 이 SQL만</a:t>
            </a:r>
          </a:p>
          <a:p>
            <a:pPr>
              <a:lnSpc>
                <a:spcPct val="100000"/>
              </a:lnSpc>
              <a:spcAft>
                <a:spcPts val="0"/>
              </a:spcAft>
            </a:pPr>
            <a:r>
              <a:rPr sz="1250">
                <a:solidFill>
                  <a:srgbClr val="F2F2F2"/>
                </a:solidFill>
                <a:latin typeface="Consolas"/>
              </a:rPr>
              <a:t>Enter value for target_wait_class:            -- 전체</a:t>
            </a:r>
          </a:p>
          <a:p>
            <a:pPr>
              <a:lnSpc>
                <a:spcPct val="100000"/>
              </a:lnSpc>
              <a:spcAft>
                <a:spcPts val="0"/>
              </a:spcAft>
            </a:pPr>
            <a:r>
              <a:rPr sz="1250">
                <a:solidFill>
                  <a:srgbClr val="F2F2F2"/>
                </a:solidFill>
                <a:latin typeface="Consolas"/>
              </a:rPr>
              <a:t>Enter value for target_module_name:           -- 전체</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 세션·SQL·대기클래스·서비스·모듈·액션·클라이언트ID로</a:t>
            </a:r>
          </a:p>
          <a:p>
            <a:pPr>
              <a:lnSpc>
                <a:spcPct val="100000"/>
              </a:lnSpc>
              <a:spcAft>
                <a:spcPts val="0"/>
              </a:spcAft>
            </a:pPr>
            <a:r>
              <a:rPr sz="1250">
                <a:solidFill>
                  <a:srgbClr val="F2F2F2"/>
                </a:solidFill>
                <a:latin typeface="Consolas"/>
              </a:rPr>
              <a:t>-- 관심 차원만 남겨 활동을 분리해 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10.5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실측 — 10분 재구성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8·9장과 같은 부하 구간</a:t>
            </a:r>
          </a:p>
          <a:p>
            <a:pPr algn="l">
              <a:spcAft>
                <a:spcPts val="600"/>
              </a:spcAft>
            </a:pPr>
            <a:r>
              <a:rPr sz="1600" b="0">
                <a:solidFill>
                  <a:srgbClr val="FFFFFF"/>
                </a:solidFill>
                <a:latin typeface="맑은 고딕"/>
              </a:rPr>
              <a:t>•  ON CPU 90.7%</a:t>
            </a:r>
          </a:p>
          <a:p>
            <a:pPr algn="l">
              <a:spcAft>
                <a:spcPts val="600"/>
              </a:spcAft>
            </a:pPr>
            <a:r>
              <a:rPr sz="1600" b="0">
                <a:solidFill>
                  <a:srgbClr val="FFFFFF"/>
                </a:solidFill>
                <a:latin typeface="맑은 고딕"/>
              </a:rPr>
              <a:t>•  상위 두 SQL이 대부분</a:t>
            </a:r>
          </a:p>
          <a:p>
            <a:pPr algn="l">
              <a:spcAft>
                <a:spcPts val="600"/>
              </a:spcAft>
            </a:pPr>
            <a:r>
              <a:rPr sz="1600" b="0">
                <a:solidFill>
                  <a:srgbClr val="FFFFFF"/>
                </a:solidFill>
                <a:latin typeface="맑은 고딕"/>
              </a:rPr>
              <a:t>•  AAS 4.48 · CPU per 0.56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대기 이벤트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최근 130초 · ON CPU가 EVENT NULL</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NVL(event,'ON CPU') event, COUNT(*) samples,</a:t>
            </a:r>
          </a:p>
          <a:p>
            <a:pPr>
              <a:lnSpc>
                <a:spcPct val="100000"/>
              </a:lnSpc>
              <a:spcAft>
                <a:spcPts val="0"/>
              </a:spcAft>
            </a:pPr>
            <a:r>
              <a:rPr sz="1250">
                <a:solidFill>
                  <a:srgbClr val="F2F2F2"/>
                </a:solidFill>
                <a:latin typeface="Consolas"/>
              </a:rPr>
              <a:t>  2         ROUND(100*COUNT(*)/SUM(COUNT(*)) OVER(),1) pct</a:t>
            </a:r>
          </a:p>
          <a:p>
            <a:pPr>
              <a:lnSpc>
                <a:spcPct val="100000"/>
              </a:lnSpc>
              <a:spcAft>
                <a:spcPts val="0"/>
              </a:spcAft>
            </a:pPr>
            <a:r>
              <a:rPr sz="1250">
                <a:solidFill>
                  <a:srgbClr val="F2F2F2"/>
                </a:solidFill>
                <a:latin typeface="Consolas"/>
              </a:rPr>
              <a:t>  3       FROM v$active_session_history</a:t>
            </a:r>
          </a:p>
          <a:p>
            <a:pPr>
              <a:lnSpc>
                <a:spcPct val="100000"/>
              </a:lnSpc>
              <a:spcAft>
                <a:spcPts val="0"/>
              </a:spcAft>
            </a:pPr>
            <a:r>
              <a:rPr sz="1250">
                <a:solidFill>
                  <a:srgbClr val="F2F2F2"/>
                </a:solidFill>
                <a:latin typeface="Consolas"/>
              </a:rPr>
              <a:t>  4       WHERE sample_time &gt; SYSTIMESTAMP - INTERVAL '130' SECOND</a:t>
            </a:r>
          </a:p>
          <a:p>
            <a:pPr>
              <a:lnSpc>
                <a:spcPct val="100000"/>
              </a:lnSpc>
              <a:spcAft>
                <a:spcPts val="0"/>
              </a:spcAft>
            </a:pPr>
            <a:r>
              <a:rPr sz="1250">
                <a:solidFill>
                  <a:srgbClr val="F2F2F2"/>
                </a:solidFill>
                <a:latin typeface="Consolas"/>
              </a:rPr>
              <a:t>  5       GROUP BY NVL(event,'ON CPU') ORDER BY samples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SAMPLES   PCT</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ON CPU                         529  90.7</a:t>
            </a:r>
          </a:p>
          <a:p>
            <a:pPr>
              <a:lnSpc>
                <a:spcPct val="100000"/>
              </a:lnSpc>
              <a:spcAft>
                <a:spcPts val="0"/>
              </a:spcAft>
            </a:pPr>
            <a:r>
              <a:rPr sz="1250">
                <a:solidFill>
                  <a:srgbClr val="F2F2F2"/>
                </a:solidFill>
                <a:latin typeface="Consolas"/>
              </a:rPr>
              <a:t>log file sync                   17   2.9</a:t>
            </a:r>
          </a:p>
          <a:p>
            <a:pPr>
              <a:lnSpc>
                <a:spcPct val="100000"/>
              </a:lnSpc>
              <a:spcAft>
                <a:spcPts val="0"/>
              </a:spcAft>
            </a:pPr>
            <a:r>
              <a:rPr sz="1250">
                <a:solidFill>
                  <a:srgbClr val="F2F2F2"/>
                </a:solidFill>
                <a:latin typeface="Consolas"/>
              </a:rPr>
              <a:t>log file parallel write         14   2.4</a:t>
            </a:r>
          </a:p>
          <a:p>
            <a:pPr>
              <a:lnSpc>
                <a:spcPct val="100000"/>
              </a:lnSpc>
              <a:spcAft>
                <a:spcPts val="0"/>
              </a:spcAft>
            </a:pPr>
            <a:r>
              <a:rPr sz="1250">
                <a:solidFill>
                  <a:srgbClr val="F2F2F2"/>
                </a:solidFill>
                <a:latin typeface="Consolas"/>
              </a:rPr>
              <a:t>db file sequential read         10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 CPU가 90%면 어디를 보나</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대기가 아니라 CPU 소비가 병목</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SESSION_STATE가 ON CPU인지 WAITING인지부터 가른다</a:t>
            </a:r>
          </a:p>
          <a:p>
            <a:pPr algn="l">
              <a:spcAft>
                <a:spcPts val="800"/>
              </a:spcAft>
            </a:pPr>
            <a:r>
              <a:rPr sz="1700" b="0">
                <a:solidFill>
                  <a:srgbClr val="222222"/>
                </a:solidFill>
                <a:latin typeface="맑은 고딕"/>
              </a:rPr>
              <a:t>•  ON CPU 90.7% → 병목은 '기다림'이 아니라 'CPU 소비'</a:t>
            </a:r>
          </a:p>
          <a:p>
            <a:pPr algn="l">
              <a:spcAft>
                <a:spcPts val="800"/>
              </a:spcAft>
            </a:pPr>
            <a:r>
              <a:rPr sz="1700" b="0">
                <a:solidFill>
                  <a:srgbClr val="222222"/>
                </a:solidFill>
                <a:latin typeface="맑은 고딕"/>
              </a:rPr>
              <a:t>•  log file sync에 먼저 손대면 헛수고</a:t>
            </a:r>
          </a:p>
          <a:p>
            <a:pPr algn="l">
              <a:spcAft>
                <a:spcPts val="800"/>
              </a:spcAft>
            </a:pPr>
            <a:r>
              <a:rPr sz="1700" b="0">
                <a:solidFill>
                  <a:srgbClr val="222222"/>
                </a:solidFill>
                <a:latin typeface="맑은 고딕"/>
              </a:rPr>
              <a:t>•  다음 수순: CPU를 태우는 상위 SQL_ID로 내려간다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SQL_ID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누가 CPU를 태웠나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sql_id, COUNT(*) samples,</a:t>
            </a:r>
          </a:p>
          <a:p>
            <a:pPr>
              <a:lnSpc>
                <a:spcPct val="100000"/>
              </a:lnSpc>
              <a:spcAft>
                <a:spcPts val="0"/>
              </a:spcAft>
            </a:pPr>
            <a:r>
              <a:rPr sz="1250">
                <a:solidFill>
                  <a:srgbClr val="F2F2F2"/>
                </a:solidFill>
                <a:latin typeface="Consolas"/>
              </a:rPr>
              <a:t>  2         ROUND(100*RATIO_TO_REPORT(COUNT(*)) OVER(),1) pct</a:t>
            </a:r>
          </a:p>
          <a:p>
            <a:pPr>
              <a:lnSpc>
                <a:spcPct val="100000"/>
              </a:lnSpc>
              <a:spcAft>
                <a:spcPts val="0"/>
              </a:spcAft>
            </a:pPr>
            <a:r>
              <a:rPr sz="1250">
                <a:solidFill>
                  <a:srgbClr val="F2F2F2"/>
                </a:solidFill>
                <a:latin typeface="Consolas"/>
              </a:rPr>
              <a:t>  3       FROM v$active_session_history</a:t>
            </a:r>
          </a:p>
          <a:p>
            <a:pPr>
              <a:lnSpc>
                <a:spcPct val="100000"/>
              </a:lnSpc>
              <a:spcAft>
                <a:spcPts val="0"/>
              </a:spcAft>
            </a:pPr>
            <a:r>
              <a:rPr sz="1250">
                <a:solidFill>
                  <a:srgbClr val="F2F2F2"/>
                </a:solidFill>
                <a:latin typeface="Consolas"/>
              </a:rPr>
              <a:t>  4       WHERE sample_time &gt; SYSTIMESTAMP - INTERVAL '130' SECOND</a:t>
            </a:r>
          </a:p>
          <a:p>
            <a:pPr>
              <a:lnSpc>
                <a:spcPct val="100000"/>
              </a:lnSpc>
              <a:spcAft>
                <a:spcPts val="0"/>
              </a:spcAft>
            </a:pPr>
            <a:r>
              <a:rPr sz="1250">
                <a:solidFill>
                  <a:srgbClr val="F2F2F2"/>
                </a:solidFill>
                <a:latin typeface="Consolas"/>
              </a:rPr>
              <a:t>  5         AND sql_id IS NOT NULL</a:t>
            </a:r>
          </a:p>
          <a:p>
            <a:pPr>
              <a:lnSpc>
                <a:spcPct val="100000"/>
              </a:lnSpc>
              <a:spcAft>
                <a:spcPts val="0"/>
              </a:spcAft>
            </a:pPr>
            <a:r>
              <a:rPr sz="1250">
                <a:solidFill>
                  <a:srgbClr val="F2F2F2"/>
                </a:solidFill>
                <a:latin typeface="Consolas"/>
              </a:rPr>
              <a:t>  6       GROUP BY sql_id ORDER BY samples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SQL_ID          SAMPLES   PCT</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9vmszgd1ft9x0       186  52.1</a:t>
            </a:r>
          </a:p>
          <a:p>
            <a:pPr>
              <a:lnSpc>
                <a:spcPct val="100000"/>
              </a:lnSpc>
              <a:spcAft>
                <a:spcPts val="0"/>
              </a:spcAft>
            </a:pPr>
            <a:r>
              <a:rPr sz="1250">
                <a:solidFill>
                  <a:srgbClr val="F2F2F2"/>
                </a:solidFill>
                <a:latin typeface="Consolas"/>
              </a:rPr>
              <a:t>43fd4b2pxfzvm       154  43.1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ASH 보고서 발췌 판독</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헤더 요약이 직접 조회와 일치하나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ASH Report For ORCL/orcl</a:t>
            </a:r>
          </a:p>
          <a:p>
            <a:pPr>
              <a:lnSpc>
                <a:spcPct val="100000"/>
              </a:lnSpc>
              <a:spcAft>
                <a:spcPts val="0"/>
              </a:spcAft>
            </a:pPr>
            <a:r>
              <a:rPr sz="1250">
                <a:solidFill>
                  <a:srgbClr val="F2F2F2"/>
                </a:solidFill>
                <a:latin typeface="Consolas"/>
              </a:rPr>
              <a:t>          Analysis Begin Time:   25-Aug-26 12:15:20</a:t>
            </a:r>
          </a:p>
          <a:p>
            <a:pPr>
              <a:lnSpc>
                <a:spcPct val="100000"/>
              </a:lnSpc>
              <a:spcAft>
                <a:spcPts val="0"/>
              </a:spcAft>
            </a:pPr>
            <a:r>
              <a:rPr sz="1250">
                <a:solidFill>
                  <a:srgbClr val="F2F2F2"/>
                </a:solidFill>
                <a:latin typeface="Consolas"/>
              </a:rPr>
              <a:t>                 Sample Count:         582</a:t>
            </a:r>
          </a:p>
          <a:p>
            <a:pPr>
              <a:lnSpc>
                <a:spcPct val="100000"/>
              </a:lnSpc>
              <a:spcAft>
                <a:spcPts val="0"/>
              </a:spcAft>
            </a:pPr>
            <a:r>
              <a:rPr sz="1250">
                <a:solidFill>
                  <a:srgbClr val="F2F2F2"/>
                </a:solidFill>
                <a:latin typeface="Consolas"/>
              </a:rPr>
              <a:t>      Average Active Sessions:        4.48</a:t>
            </a:r>
          </a:p>
          <a:p>
            <a:pPr>
              <a:lnSpc>
                <a:spcPct val="100000"/>
              </a:lnSpc>
              <a:spcAft>
                <a:spcPts val="0"/>
              </a:spcAft>
            </a:pPr>
            <a:r>
              <a:rPr sz="1250">
                <a:solidFill>
                  <a:srgbClr val="F2F2F2"/>
                </a:solidFill>
                <a:latin typeface="Consolas"/>
              </a:rPr>
              <a:t>  Avg. Active Session per CPU:        0.56</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Top User Events           Event Class  % Event  AvgAct</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CPU + Wait for CPU        CPU            89.69    4.02</a:t>
            </a:r>
          </a:p>
          <a:p>
            <a:pPr>
              <a:lnSpc>
                <a:spcPct val="100000"/>
              </a:lnSpc>
              <a:spcAft>
                <a:spcPts val="0"/>
              </a:spcAft>
            </a:pPr>
            <a:r>
              <a:rPr sz="1250">
                <a:solidFill>
                  <a:srgbClr val="F2F2F2"/>
                </a:solidFill>
                <a:latin typeface="Consolas"/>
              </a:rPr>
              <a:t>log file sync             Commit          2.92    0.13</a:t>
            </a:r>
          </a:p>
          <a:p>
            <a:pPr>
              <a:lnSpc>
                <a:spcPct val="100000"/>
              </a:lnSpc>
              <a:spcAft>
                <a:spcPts val="0"/>
              </a:spcAft>
            </a:pPr>
            <a:r>
              <a:rPr sz="1250">
                <a:solidFill>
                  <a:srgbClr val="F2F2F2"/>
                </a:solidFill>
                <a:latin typeface="Consolas"/>
              </a:rPr>
              <a:t>db file sequential read   User I/O        1.72    0.08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Activity Over Time — 슬롯 skew</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어느 1분에 부하가 몰렸나</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TO_CHAR(sample_time,'HH24:MI') slot,</a:t>
            </a:r>
          </a:p>
          <a:p>
            <a:pPr>
              <a:lnSpc>
                <a:spcPct val="100000"/>
              </a:lnSpc>
              <a:spcAft>
                <a:spcPts val="0"/>
              </a:spcAft>
            </a:pPr>
            <a:r>
              <a:rPr sz="1250">
                <a:solidFill>
                  <a:srgbClr val="F2F2F2"/>
                </a:solidFill>
                <a:latin typeface="Consolas"/>
              </a:rPr>
              <a:t>  2         COUNT(*) slot_count,</a:t>
            </a:r>
          </a:p>
          <a:p>
            <a:pPr>
              <a:lnSpc>
                <a:spcPct val="100000"/>
              </a:lnSpc>
              <a:spcAft>
                <a:spcPts val="0"/>
              </a:spcAft>
            </a:pPr>
            <a:r>
              <a:rPr sz="1250">
                <a:solidFill>
                  <a:srgbClr val="F2F2F2"/>
                </a:solidFill>
                <a:latin typeface="Consolas"/>
              </a:rPr>
              <a:t>  3         SUM(CASE WHEN session_state='ON CPU' THEN 1 END) on_cpu</a:t>
            </a:r>
          </a:p>
          <a:p>
            <a:pPr>
              <a:lnSpc>
                <a:spcPct val="100000"/>
              </a:lnSpc>
              <a:spcAft>
                <a:spcPts val="0"/>
              </a:spcAft>
            </a:pPr>
            <a:r>
              <a:rPr sz="1250">
                <a:solidFill>
                  <a:srgbClr val="F2F2F2"/>
                </a:solidFill>
                <a:latin typeface="Consolas"/>
              </a:rPr>
              <a:t>  4       FROM v$active_session_history</a:t>
            </a:r>
          </a:p>
          <a:p>
            <a:pPr>
              <a:lnSpc>
                <a:spcPct val="100000"/>
              </a:lnSpc>
              <a:spcAft>
                <a:spcPts val="0"/>
              </a:spcAft>
            </a:pPr>
            <a:r>
              <a:rPr sz="1250">
                <a:solidFill>
                  <a:srgbClr val="F2F2F2"/>
                </a:solidFill>
                <a:latin typeface="Consolas"/>
              </a:rPr>
              <a:t>  5       WHERE sample_time BETWEEN ... AND ...</a:t>
            </a:r>
          </a:p>
          <a:p>
            <a:pPr>
              <a:lnSpc>
                <a:spcPct val="100000"/>
              </a:lnSpc>
              <a:spcAft>
                <a:spcPts val="0"/>
              </a:spcAft>
            </a:pPr>
            <a:r>
              <a:rPr sz="1250">
                <a:solidFill>
                  <a:srgbClr val="F2F2F2"/>
                </a:solidFill>
                <a:latin typeface="Consolas"/>
              </a:rPr>
              <a:t>  6       GROUP BY TO_CHAR(sample_time,'HH24:MI') ORDER BY slot;</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SLOT   SLOT_COUNT   ON_CPU</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12:15         198      181</a:t>
            </a:r>
          </a:p>
          <a:p>
            <a:pPr>
              <a:lnSpc>
                <a:spcPct val="100000"/>
              </a:lnSpc>
              <a:spcAft>
                <a:spcPts val="0"/>
              </a:spcAft>
            </a:pPr>
            <a:r>
              <a:rPr sz="1250">
                <a:solidFill>
                  <a:srgbClr val="F2F2F2"/>
                </a:solidFill>
                <a:latin typeface="Consolas"/>
              </a:rPr>
              <a:t>12:16         241      219</a:t>
            </a:r>
          </a:p>
          <a:p>
            <a:pPr>
              <a:lnSpc>
                <a:spcPct val="100000"/>
              </a:lnSpc>
              <a:spcAft>
                <a:spcPts val="0"/>
              </a:spcAft>
            </a:pPr>
            <a:r>
              <a:rPr sz="1250">
                <a:solidFill>
                  <a:srgbClr val="F2F2F2"/>
                </a:solidFill>
                <a:latin typeface="Consolas"/>
              </a:rPr>
              <a:t>12:17         143      129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10.6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세션 단위 추적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한 세션의 궤적을 시간순으로</a:t>
            </a:r>
          </a:p>
          <a:p>
            <a:pPr algn="l">
              <a:spcAft>
                <a:spcPts val="600"/>
              </a:spcAft>
            </a:pPr>
            <a:r>
              <a:rPr sz="1600" b="0">
                <a:solidFill>
                  <a:srgbClr val="FFFFFF"/>
                </a:solidFill>
                <a:latin typeface="맑은 고딕"/>
              </a:rPr>
              <a:t>•  SAMPLE_TIME 순 재구성</a:t>
            </a:r>
          </a:p>
          <a:p>
            <a:pPr algn="l">
              <a:spcAft>
                <a:spcPts val="600"/>
              </a:spcAft>
            </a:pPr>
            <a:r>
              <a:rPr sz="1600" b="0">
                <a:solidFill>
                  <a:srgbClr val="FFFFFF"/>
                </a:solidFill>
                <a:latin typeface="맑은 고딕"/>
              </a:rPr>
              <a:t>•  언제 무엇 때문에 멈췄나</a:t>
            </a:r>
          </a:p>
          <a:p>
            <a:pPr algn="l">
              <a:spcAft>
                <a:spcPts val="600"/>
              </a:spcAft>
            </a:pPr>
            <a:r>
              <a:rPr sz="1600" b="0">
                <a:solidFill>
                  <a:srgbClr val="FFFFFF"/>
                </a:solidFill>
                <a:latin typeface="맑은 고딕"/>
              </a:rPr>
              <a:t>•  BLOCKING_SESSION 역추적</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한 세션의 10초 재구성</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집계로는 안 보이는 사건의 흐름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sample_time, session_state st, event, sql_id</a:t>
            </a:r>
          </a:p>
          <a:p>
            <a:pPr>
              <a:lnSpc>
                <a:spcPct val="100000"/>
              </a:lnSpc>
              <a:spcAft>
                <a:spcPts val="0"/>
              </a:spcAft>
            </a:pPr>
            <a:r>
              <a:rPr sz="1250">
                <a:solidFill>
                  <a:srgbClr val="F2F2F2"/>
                </a:solidFill>
                <a:latin typeface="Consolas"/>
              </a:rPr>
              <a:t>  2       FROM v$active_session_history</a:t>
            </a:r>
          </a:p>
          <a:p>
            <a:pPr>
              <a:lnSpc>
                <a:spcPct val="100000"/>
              </a:lnSpc>
              <a:spcAft>
                <a:spcPts val="0"/>
              </a:spcAft>
            </a:pPr>
            <a:r>
              <a:rPr sz="1250">
                <a:solidFill>
                  <a:srgbClr val="F2F2F2"/>
                </a:solidFill>
                <a:latin typeface="Consolas"/>
              </a:rPr>
              <a:t>  3       WHERE session_id = 45</a:t>
            </a:r>
          </a:p>
          <a:p>
            <a:pPr>
              <a:lnSpc>
                <a:spcPct val="100000"/>
              </a:lnSpc>
              <a:spcAft>
                <a:spcPts val="0"/>
              </a:spcAft>
            </a:pPr>
            <a:r>
              <a:rPr sz="1250">
                <a:solidFill>
                  <a:srgbClr val="F2F2F2"/>
                </a:solidFill>
                <a:latin typeface="Consolas"/>
              </a:rPr>
              <a:t>  4         AND sample_time BETWEEN ... AND ... ORDER BY sample_time;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SAMPLE_TIME        ST      EVENT           SQL_ID</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12.16.01.128       ON CPU                  9vmszgd1ft9x0</a:t>
            </a:r>
          </a:p>
          <a:p>
            <a:pPr>
              <a:lnSpc>
                <a:spcPct val="100000"/>
              </a:lnSpc>
              <a:spcAft>
                <a:spcPts val="0"/>
              </a:spcAft>
            </a:pPr>
            <a:r>
              <a:rPr sz="1250">
                <a:solidFill>
                  <a:srgbClr val="F2F2F2"/>
                </a:solidFill>
                <a:latin typeface="Consolas"/>
              </a:rPr>
              <a:t>12.16.03.131       ON CPU                  9vmszgd1ft9x0</a:t>
            </a:r>
          </a:p>
          <a:p>
            <a:pPr>
              <a:lnSpc>
                <a:spcPct val="100000"/>
              </a:lnSpc>
              <a:spcAft>
                <a:spcPts val="0"/>
              </a:spcAft>
            </a:pPr>
            <a:r>
              <a:rPr sz="1250">
                <a:solidFill>
                  <a:srgbClr val="F2F2F2"/>
                </a:solidFill>
                <a:latin typeface="Consolas"/>
              </a:rPr>
              <a:t>12.16.04.133       WAITING log file sync   50kad7809jyj8</a:t>
            </a:r>
          </a:p>
          <a:p>
            <a:pPr>
              <a:lnSpc>
                <a:spcPct val="100000"/>
              </a:lnSpc>
              <a:spcAft>
                <a:spcPts val="0"/>
              </a:spcAft>
            </a:pPr>
            <a:r>
              <a:rPr sz="1250">
                <a:solidFill>
                  <a:srgbClr val="F2F2F2"/>
                </a:solidFill>
                <a:latin typeface="Consolas"/>
              </a:rPr>
              <a:t>12.16.05.135       ON CPU                  9vmszgd1ft9x0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세션 추적이 주는 것</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집계는 %, 추적은 인과의 순서</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집계: 구간에 log file sync가 몇 % 있었다</a:t>
            </a:r>
          </a:p>
          <a:p>
            <a:pPr algn="l">
              <a:spcAft>
                <a:spcPts val="800"/>
              </a:spcAft>
            </a:pPr>
            <a:r>
              <a:rPr sz="1700" b="0">
                <a:solidFill>
                  <a:srgbClr val="222222"/>
                </a:solidFill>
                <a:latin typeface="맑은 고딕"/>
              </a:rPr>
              <a:t>•  추적: CPU→커밋 대기→복귀의 사건 흐름</a:t>
            </a:r>
          </a:p>
          <a:p>
            <a:pPr algn="l">
              <a:spcAft>
                <a:spcPts val="800"/>
              </a:spcAft>
            </a:pPr>
            <a:r>
              <a:rPr sz="1700" b="0">
                <a:solidFill>
                  <a:srgbClr val="222222"/>
                </a:solidFill>
                <a:latin typeface="맑은 고딕"/>
              </a:rPr>
              <a:t>•  원인·결과의 순서가 보이면 조치 대상이 분명</a:t>
            </a:r>
          </a:p>
          <a:p>
            <a:pPr algn="l">
              <a:spcAft>
                <a:spcPts val="800"/>
              </a:spcAft>
            </a:pPr>
            <a:r>
              <a:rPr sz="1700" b="0">
                <a:solidFill>
                  <a:srgbClr val="222222"/>
                </a:solidFill>
                <a:latin typeface="맑은 고딕"/>
              </a:rPr>
              <a:t>•  BLOCKING_SESSION이 차면 블로커를 역추적</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10.7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DBA_HIST_ASH</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메모리 ASH = 유한한 순환 버퍼</a:t>
            </a:r>
          </a:p>
          <a:p>
            <a:pPr algn="l">
              <a:spcAft>
                <a:spcPts val="600"/>
              </a:spcAft>
            </a:pPr>
            <a:r>
              <a:rPr sz="1600" b="0">
                <a:solidFill>
                  <a:srgbClr val="FFFFFF"/>
                </a:solidFill>
                <a:latin typeface="맑은 고딕"/>
              </a:rPr>
              <a:t>•  디스크 ASH = SYSAUX 영구 저장</a:t>
            </a:r>
          </a:p>
          <a:p>
            <a:pPr algn="l">
              <a:spcAft>
                <a:spcPts val="600"/>
              </a:spcAft>
            </a:pPr>
            <a:r>
              <a:rPr sz="1600" b="0">
                <a:solidFill>
                  <a:srgbClr val="FFFFFF"/>
                </a:solidFill>
                <a:latin typeface="맑은 고딕"/>
              </a:rPr>
              <a:t>•  약 1/10 flush · 10초 간격</a:t>
            </a:r>
          </a:p>
          <a:p>
            <a:pPr algn="l">
              <a:spcAft>
                <a:spcPts val="600"/>
              </a:spcAft>
            </a:pPr>
            <a:r>
              <a:rPr sz="1600" b="0">
                <a:solidFill>
                  <a:srgbClr val="FFFFFF"/>
                </a:solidFill>
                <a:latin typeface="맑은 고딕"/>
              </a:rPr>
              <a:t>•  최근은 V$ / 지나간 날은 DBA_HIST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메모리 ASH vs 디스크 ASH</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해상도와 보존이 다르다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메모리: V$ · 1초 · 수십 분~ (버퍼가 찰 때까지)</a:t>
            </a:r>
          </a:p>
          <a:p>
            <a:pPr algn="l">
              <a:spcAft>
                <a:spcPts val="800"/>
              </a:spcAft>
            </a:pPr>
            <a:r>
              <a:rPr sz="1700" b="0">
                <a:solidFill>
                  <a:srgbClr val="222222"/>
                </a:solidFill>
                <a:latin typeface="맑은 고딕"/>
              </a:rPr>
              <a:t>•  디스크: DBA_HIST_ · 10초 · 기본 8일(AWR 보존)</a:t>
            </a:r>
          </a:p>
          <a:p>
            <a:pPr algn="l">
              <a:spcAft>
                <a:spcPts val="800"/>
              </a:spcAft>
            </a:pPr>
            <a:r>
              <a:rPr sz="1700" b="0">
                <a:solidFill>
                  <a:srgbClr val="222222"/>
                </a:solidFill>
                <a:latin typeface="맑은 고딕"/>
              </a:rPr>
              <a:t>•  MMON이 약 1/10을 골라 SYSAUX에 저장</a:t>
            </a:r>
          </a:p>
          <a:p>
            <a:pPr algn="l">
              <a:spcAft>
                <a:spcPts val="800"/>
              </a:spcAft>
            </a:pPr>
            <a:r>
              <a:rPr sz="1700" b="0">
                <a:solidFill>
                  <a:srgbClr val="222222"/>
                </a:solidFill>
                <a:latin typeface="맑은 고딕"/>
              </a:rPr>
              <a:t>•  최근 정밀분석은 V$ / 지나간 날은 DBA_HIST_</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DBA_HIST_ASH 보존 구간 조회</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구간, 샘플 수는 약 1/10</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NVL(event,'ON CPU') event, COUNT(*) samples</a:t>
            </a:r>
          </a:p>
          <a:p>
            <a:pPr>
              <a:lnSpc>
                <a:spcPct val="100000"/>
              </a:lnSpc>
              <a:spcAft>
                <a:spcPts val="0"/>
              </a:spcAft>
            </a:pPr>
            <a:r>
              <a:rPr sz="1250">
                <a:solidFill>
                  <a:srgbClr val="F2F2F2"/>
                </a:solidFill>
                <a:latin typeface="Consolas"/>
              </a:rPr>
              <a:t>  2       FROM dba_hist_active_sess_history</a:t>
            </a:r>
          </a:p>
          <a:p>
            <a:pPr>
              <a:lnSpc>
                <a:spcPct val="100000"/>
              </a:lnSpc>
              <a:spcAft>
                <a:spcPts val="0"/>
              </a:spcAft>
            </a:pPr>
            <a:r>
              <a:rPr sz="1250">
                <a:solidFill>
                  <a:srgbClr val="F2F2F2"/>
                </a:solidFill>
                <a:latin typeface="Consolas"/>
              </a:rPr>
              <a:t>  3       WHERE sample_time BETWEEN TIMESTAMP '2026-08-25 12:15:00'</a:t>
            </a:r>
          </a:p>
          <a:p>
            <a:pPr>
              <a:lnSpc>
                <a:spcPct val="100000"/>
              </a:lnSpc>
              <a:spcAft>
                <a:spcPts val="0"/>
              </a:spcAft>
            </a:pPr>
            <a:r>
              <a:rPr sz="1250">
                <a:solidFill>
                  <a:srgbClr val="F2F2F2"/>
                </a:solidFill>
                <a:latin typeface="Consolas"/>
              </a:rPr>
              <a:t>  4                             AND TIMESTAMP '2026-08-25 12:17:30'</a:t>
            </a:r>
          </a:p>
          <a:p>
            <a:pPr>
              <a:lnSpc>
                <a:spcPct val="100000"/>
              </a:lnSpc>
              <a:spcAft>
                <a:spcPts val="0"/>
              </a:spcAft>
            </a:pPr>
            <a:r>
              <a:rPr sz="1250">
                <a:solidFill>
                  <a:srgbClr val="F2F2F2"/>
                </a:solidFill>
                <a:latin typeface="Consolas"/>
              </a:rPr>
              <a:t>  5       GROUP BY NVL(event,'ON CPU') ORDER BY samples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SAMPLES</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ON CPU                          53</a:t>
            </a:r>
          </a:p>
          <a:p>
            <a:pPr>
              <a:lnSpc>
                <a:spcPct val="100000"/>
              </a:lnSpc>
              <a:spcAft>
                <a:spcPts val="0"/>
              </a:spcAft>
            </a:pPr>
            <a:r>
              <a:rPr sz="1250">
                <a:solidFill>
                  <a:srgbClr val="F2F2F2"/>
                </a:solidFill>
                <a:latin typeface="Consolas"/>
              </a:rPr>
              <a:t>log file sync                    2</a:t>
            </a:r>
          </a:p>
          <a:p>
            <a:pPr>
              <a:lnSpc>
                <a:spcPct val="100000"/>
              </a:lnSpc>
              <a:spcAft>
                <a:spcPts val="0"/>
              </a:spcAft>
            </a:pPr>
            <a:r>
              <a:rPr sz="1250">
                <a:solidFill>
                  <a:srgbClr val="F2F2F2"/>
                </a:solidFill>
                <a:latin typeface="Consolas"/>
              </a:rPr>
              <a:t>db file sequential read          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10.8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세 도구가 같은 부하를 본다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AWR = 무엇이 있었나</a:t>
            </a:r>
          </a:p>
          <a:p>
            <a:pPr algn="l">
              <a:spcAft>
                <a:spcPts val="600"/>
              </a:spcAft>
            </a:pPr>
            <a:r>
              <a:rPr sz="1600" b="0">
                <a:solidFill>
                  <a:srgbClr val="FFFFFF"/>
                </a:solidFill>
                <a:latin typeface="맑은 고딕"/>
              </a:rPr>
              <a:t>•  ADDM = 왜 그랬나</a:t>
            </a:r>
          </a:p>
          <a:p>
            <a:pPr algn="l">
              <a:spcAft>
                <a:spcPts val="600"/>
              </a:spcAft>
            </a:pPr>
            <a:r>
              <a:rPr sz="1600" b="0">
                <a:solidFill>
                  <a:srgbClr val="FFFFFF"/>
                </a:solidFill>
                <a:latin typeface="맑은 고딕"/>
              </a:rPr>
              <a:t>•  ASH = 언제·누가·무엇으로</a:t>
            </a:r>
          </a:p>
          <a:p>
            <a:pPr algn="l">
              <a:spcAft>
                <a:spcPts val="600"/>
              </a:spcAft>
            </a:pPr>
            <a:r>
              <a:rPr sz="1600" b="0">
                <a:solidFill>
                  <a:srgbClr val="FFFFFF"/>
                </a:solidFill>
                <a:latin typeface="맑은 고딕"/>
              </a:rPr>
              <a:t>•  결론은 한 점으로 모인다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AWR·ADDM·ASH 대조</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부하, 세 각도, 한 결론</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AWR(8장): 구간 누적 → DB CPU 지배</a:t>
            </a:r>
          </a:p>
          <a:p>
            <a:pPr algn="l">
              <a:spcAft>
                <a:spcPts val="800"/>
              </a:spcAft>
            </a:pPr>
            <a:r>
              <a:rPr sz="1700" b="0">
                <a:solidFill>
                  <a:srgbClr val="222222"/>
                </a:solidFill>
                <a:latin typeface="맑은 고딕"/>
              </a:rPr>
              <a:t>•  ADDM(9장): 자동 진단 → 리터럴 하드파싱</a:t>
            </a:r>
          </a:p>
          <a:p>
            <a:pPr algn="l">
              <a:spcAft>
                <a:spcPts val="800"/>
              </a:spcAft>
            </a:pPr>
            <a:r>
              <a:rPr sz="1700" b="0">
                <a:solidFill>
                  <a:srgbClr val="222222"/>
                </a:solidFill>
                <a:latin typeface="맑은 고딕"/>
              </a:rPr>
              <a:t>•  ASH(10장): 1초 샘플 → ON CPU 90.7%</a:t>
            </a:r>
          </a:p>
          <a:p>
            <a:pPr algn="l">
              <a:spcAft>
                <a:spcPts val="800"/>
              </a:spcAft>
            </a:pPr>
            <a:r>
              <a:rPr sz="1700" b="0">
                <a:solidFill>
                  <a:srgbClr val="222222"/>
                </a:solidFill>
                <a:latin typeface="맑은 고딕"/>
              </a:rPr>
              <a:t>•  불일치의 90%는 도구가 아니라 '구간 불일치'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10.9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라이선스와 대안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 Diagnostics Pack 필수</a:t>
            </a:r>
          </a:p>
          <a:p>
            <a:pPr algn="l">
              <a:spcAft>
                <a:spcPts val="600"/>
              </a:spcAft>
            </a:pPr>
            <a:r>
              <a:rPr sz="1600" b="0">
                <a:solidFill>
                  <a:srgbClr val="FFFFFF"/>
                </a:solidFill>
                <a:latin typeface="맑은 고딕"/>
              </a:rPr>
              <a:t>•  조회만으로 사용 이력 기록</a:t>
            </a:r>
          </a:p>
          <a:p>
            <a:pPr algn="l">
              <a:spcAft>
                <a:spcPts val="600"/>
              </a:spcAft>
            </a:pPr>
            <a:r>
              <a:rPr sz="1600" b="0">
                <a:solidFill>
                  <a:srgbClr val="FFFFFF"/>
                </a:solidFill>
                <a:latin typeface="맑은 고딕"/>
              </a:rPr>
              <a:t>•  대안: V$SESSION 폴링</a:t>
            </a:r>
          </a:p>
          <a:p>
            <a:pPr algn="l">
              <a:spcAft>
                <a:spcPts val="600"/>
              </a:spcAft>
            </a:pPr>
            <a:r>
              <a:rPr sz="1600" b="0">
                <a:solidFill>
                  <a:srgbClr val="FFFFFF"/>
                </a:solidFill>
                <a:latin typeface="맑은 고딕"/>
              </a:rPr>
              <a:t>•  완전 대체 아닌 절충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관리 팩 라이선스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무심코 쓰면 위반</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V$ACTIVE_SESSION_HISTORY · DBA_HIST · ashrpt 모두 유상</a:t>
            </a:r>
          </a:p>
          <a:p>
            <a:pPr algn="l">
              <a:spcAft>
                <a:spcPts val="800"/>
              </a:spcAft>
            </a:pPr>
            <a:r>
              <a:rPr sz="1700" b="0">
                <a:solidFill>
                  <a:srgbClr val="222222"/>
                </a:solidFill>
                <a:latin typeface="맑은 고딕"/>
              </a:rPr>
              <a:t>•  조회 순간 DBA_FEATURE_USAGE_STATISTICS에 기록</a:t>
            </a:r>
          </a:p>
          <a:p>
            <a:pPr algn="l">
              <a:spcAft>
                <a:spcPts val="800"/>
              </a:spcAft>
            </a:pPr>
            <a:r>
              <a:rPr sz="1700" b="0">
                <a:solidFill>
                  <a:srgbClr val="222222"/>
                </a:solidFill>
                <a:latin typeface="맑은 고딕"/>
              </a:rPr>
              <a:t>•  CONTROL_MANAGEMENT_PACK_ACCESS ≥ DIAGNOSTIC 필요</a:t>
            </a:r>
          </a:p>
          <a:p>
            <a:pPr algn="l">
              <a:spcAft>
                <a:spcPts val="800"/>
              </a:spcAft>
            </a:pPr>
            <a:r>
              <a:rPr sz="1700" b="0">
                <a:solidFill>
                  <a:srgbClr val="222222"/>
                </a:solidFill>
                <a:latin typeface="맑은 고딕"/>
              </a:rPr>
              <a:t>•  파라미터 값이 곧 라이선스 보유 증명은 아니다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대안 — V$SESSION 폴링</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라이선스 없이 활성 세션 근사 샘플링</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 라이선스 불필요: '지금 활성 세션'을 반복 조회해 적재</a:t>
            </a:r>
          </a:p>
          <a:p>
            <a:pPr>
              <a:lnSpc>
                <a:spcPct val="100000"/>
              </a:lnSpc>
              <a:spcAft>
                <a:spcPts val="0"/>
              </a:spcAft>
            </a:pPr>
            <a:r>
              <a:rPr sz="1250">
                <a:solidFill>
                  <a:srgbClr val="F2F2F2"/>
                </a:solidFill>
                <a:latin typeface="Consolas"/>
              </a:rPr>
              <a:t>SYS@orcl&gt; SELECT NVL(event,'ON CPU') event, COUNT(*) active_now</a:t>
            </a:r>
          </a:p>
          <a:p>
            <a:pPr>
              <a:lnSpc>
                <a:spcPct val="100000"/>
              </a:lnSpc>
              <a:spcAft>
                <a:spcPts val="0"/>
              </a:spcAft>
            </a:pPr>
            <a:r>
              <a:rPr sz="1250">
                <a:solidFill>
                  <a:srgbClr val="F2F2F2"/>
                </a:solidFill>
                <a:latin typeface="Consolas"/>
              </a:rPr>
              <a:t>  2       FROM v$session</a:t>
            </a:r>
          </a:p>
          <a:p>
            <a:pPr>
              <a:lnSpc>
                <a:spcPct val="100000"/>
              </a:lnSpc>
              <a:spcAft>
                <a:spcPts val="0"/>
              </a:spcAft>
            </a:pPr>
            <a:r>
              <a:rPr sz="1250">
                <a:solidFill>
                  <a:srgbClr val="F2F2F2"/>
                </a:solidFill>
                <a:latin typeface="Consolas"/>
              </a:rPr>
              <a:t>  3       WHERE status = 'ACTIVE'</a:t>
            </a:r>
          </a:p>
          <a:p>
            <a:pPr>
              <a:lnSpc>
                <a:spcPct val="100000"/>
              </a:lnSpc>
              <a:spcAft>
                <a:spcPts val="0"/>
              </a:spcAft>
            </a:pPr>
            <a:r>
              <a:rPr sz="1250">
                <a:solidFill>
                  <a:srgbClr val="F2F2F2"/>
                </a:solidFill>
                <a:latin typeface="Consolas"/>
              </a:rPr>
              <a:t>  4         AND wait_class &lt;&gt; 'Idle'</a:t>
            </a:r>
          </a:p>
          <a:p>
            <a:pPr>
              <a:lnSpc>
                <a:spcPct val="100000"/>
              </a:lnSpc>
              <a:spcAft>
                <a:spcPts val="0"/>
              </a:spcAft>
            </a:pPr>
            <a:r>
              <a:rPr sz="1250">
                <a:solidFill>
                  <a:srgbClr val="F2F2F2"/>
                </a:solidFill>
                <a:latin typeface="Consolas"/>
              </a:rPr>
              <a:t>  5       GROUP BY NVL(event,'ON CPU') ORDER BY active_now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ACTIVE_NOW</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ON CPU                             5</a:t>
            </a:r>
          </a:p>
          <a:p>
            <a:pPr>
              <a:lnSpc>
                <a:spcPct val="100000"/>
              </a:lnSpc>
              <a:spcAft>
                <a:spcPts val="0"/>
              </a:spcAft>
            </a:pPr>
            <a:r>
              <a:rPr sz="1250">
                <a:solidFill>
                  <a:srgbClr val="F2F2F2"/>
                </a:solidFill>
                <a:latin typeface="Consolas"/>
              </a:rPr>
              <a:t>log file sync                     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rPr>
              <a:t>•  Q1. ASH가 '활성 세션만' 샘플링하는 이유와, 데이터 크기가 무엇에 비례하는가?</a:t>
            </a:r>
          </a:p>
          <a:p>
            <a:pPr algn="l">
              <a:spcAft>
                <a:spcPts val="800"/>
              </a:spcAft>
            </a:pPr>
            <a:r>
              <a:rPr sz="1600" b="0">
                <a:solidFill>
                  <a:srgbClr val="222222"/>
                </a:solidFill>
                <a:latin typeface="맑은 고딕"/>
              </a:rPr>
              <a:t>•  Q2. samples=186을 '186번 실행'으로 읽으면 왜 틀리는가? 무엇에 비례하나?</a:t>
            </a:r>
          </a:p>
          <a:p>
            <a:pPr algn="l">
              <a:spcAft>
                <a:spcPts val="800"/>
              </a:spcAft>
            </a:pPr>
            <a:r>
              <a:rPr sz="1600" b="0">
                <a:solidFill>
                  <a:srgbClr val="222222"/>
                </a:solidFill>
                <a:latin typeface="맑은 고딕"/>
              </a:rPr>
              <a:t>•  Q3. 1시간 간격에서 2분 문제가 ADDM에 안 잡히는 이유와 ASH의 역할은?</a:t>
            </a:r>
          </a:p>
          <a:p>
            <a:pPr algn="l">
              <a:spcAft>
                <a:spcPts val="800"/>
              </a:spcAft>
            </a:pPr>
            <a:r>
              <a:rPr sz="1600" b="0">
                <a:solidFill>
                  <a:srgbClr val="222222"/>
                </a:solidFill>
                <a:latin typeface="맑은 고딕"/>
              </a:rPr>
              <a:t>•  Q4. ON CPU 90.7%에서 log file sync에 먼저 손대면 안 되는 이유와 다음 수순은?</a:t>
            </a:r>
          </a:p>
          <a:p>
            <a:pPr algn="l">
              <a:spcAft>
                <a:spcPts val="800"/>
              </a:spcAft>
            </a:pPr>
            <a:r>
              <a:rPr sz="1600" b="0">
                <a:solidFill>
                  <a:srgbClr val="222222"/>
                </a:solidFill>
                <a:latin typeface="맑은 고딕"/>
              </a:rPr>
              <a:t>•  Q5. V$ACTIVE_SESSION_HISTORY와 DBA_HIST_ 의 간격·보존·용도 차이는?</a:t>
            </a:r>
          </a:p>
          <a:p>
            <a:pPr algn="l">
              <a:spcAft>
                <a:spcPts val="800"/>
              </a:spcAft>
            </a:pPr>
            <a:r>
              <a:rPr sz="1600" b="0">
                <a:solidFill>
                  <a:srgbClr val="222222"/>
                </a:solidFill>
                <a:latin typeface="맑은 고딕"/>
              </a:rPr>
              <a:t>•  Q6. 라이선스 없을 때 ASH 대안 경로와 그 한계는?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500" b="0">
                <a:solidFill>
                  <a:srgbClr val="222222"/>
                </a:solidFill>
                <a:latin typeface="맑은 고딕"/>
              </a:rPr>
              <a:t>•  ASH = 활성 세션을 1초로 샘플링한 SGA 순환 버퍼. 활성 = Idle 아닌 세션.</a:t>
            </a:r>
          </a:p>
          <a:p>
            <a:pPr algn="l">
              <a:spcAft>
                <a:spcPts val="700"/>
              </a:spcAft>
            </a:pPr>
            <a:r>
              <a:rPr sz="1500" b="0">
                <a:solidFill>
                  <a:srgbClr val="222222"/>
                </a:solidFill>
                <a:latin typeface="맑은 고딕"/>
              </a:rPr>
              <a:t>•  samples는 실행 횟수가 아니라 DB Time 소비의 근사. 횟수는 V$SQL.</a:t>
            </a:r>
          </a:p>
          <a:p>
            <a:pPr algn="l">
              <a:spcAft>
                <a:spcPts val="700"/>
              </a:spcAft>
            </a:pPr>
            <a:r>
              <a:rPr sz="1500" b="0">
                <a:solidFill>
                  <a:srgbClr val="222222"/>
                </a:solidFill>
                <a:latin typeface="맑은 고딕"/>
              </a:rPr>
              <a:t>•  AWR·ADDM은 평균에 스파이크가 희석 / ASH는 구간을 잘라 포착.</a:t>
            </a:r>
          </a:p>
          <a:p>
            <a:pPr algn="l">
              <a:spcAft>
                <a:spcPts val="700"/>
              </a:spcAft>
            </a:pPr>
            <a:r>
              <a:rPr sz="1500" b="0">
                <a:solidFill>
                  <a:srgbClr val="222222"/>
                </a:solidFill>
                <a:latin typeface="맑은 고딕"/>
              </a:rPr>
              <a:t>•  실측: ON CPU 90.7% · log file sync 2.9% → CPU 지배형, 상위 SQL을 찾는다.</a:t>
            </a:r>
          </a:p>
          <a:p>
            <a:pPr algn="l">
              <a:spcAft>
                <a:spcPts val="700"/>
              </a:spcAft>
            </a:pPr>
            <a:r>
              <a:rPr sz="1500" b="0">
                <a:solidFill>
                  <a:srgbClr val="222222"/>
                </a:solidFill>
                <a:latin typeface="맑은 고딕"/>
              </a:rPr>
              <a:t>•  메모리 ASH(1초·수십 분) vs 디스크 ASH(10초·기본 8일).</a:t>
            </a:r>
          </a:p>
          <a:p>
            <a:pPr algn="l">
              <a:spcAft>
                <a:spcPts val="700"/>
              </a:spcAft>
            </a:pPr>
            <a:r>
              <a:rPr sz="1500" b="0">
                <a:solidFill>
                  <a:srgbClr val="222222"/>
                </a:solidFill>
                <a:latin typeface="맑은 고딕"/>
              </a:rPr>
              <a:t>•  AWR·ADDM·ASH는 같은 부하를 한 점으로 가리킨다 — 불일치는 구간 불일치.</a:t>
            </a:r>
          </a:p>
          <a:p>
            <a:pPr algn="l">
              <a:spcAft>
                <a:spcPts val="700"/>
              </a:spcAft>
            </a:pPr>
            <a:r>
              <a:rPr sz="1500" b="0">
                <a:solidFill>
                  <a:srgbClr val="222222"/>
                </a:solidFill>
                <a:latin typeface="맑은 고딕"/>
              </a:rPr>
              <a:t>•  ASH 뷰·보고서는 Diagnostics Pack 필요 / 대안은 V$SESSION 폴링.</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800"/>
              </a:spcAft>
            </a:pPr>
            <a:r>
              <a:rPr sz="1600" b="0">
                <a:solidFill>
                  <a:srgbClr val="222222"/>
                </a:solidFill>
                <a:latin typeface="맑은 고딕"/>
              </a:rPr>
              <a:t>•  실습 01 — V$ACTIVE_SESSION_HISTORY 구조와 샘플링 주기 확인 🔒</a:t>
            </a:r>
          </a:p>
          <a:p>
            <a:pPr algn="l">
              <a:spcAft>
                <a:spcPts val="800"/>
              </a:spcAft>
            </a:pPr>
            <a:r>
              <a:rPr sz="1600" b="0">
                <a:solidFill>
                  <a:srgbClr val="222222"/>
                </a:solidFill>
                <a:latin typeface="맑은 고딕"/>
              </a:rPr>
              <a:t>•  실습 02 — ASH 보고서 생성(ashrpt.sql)과 구간 지정 🔒</a:t>
            </a:r>
          </a:p>
          <a:p>
            <a:pPr algn="l">
              <a:spcAft>
                <a:spcPts val="800"/>
              </a:spcAft>
            </a:pPr>
            <a:r>
              <a:rPr sz="1600" b="0">
                <a:solidFill>
                  <a:srgbClr val="222222"/>
                </a:solidFill>
                <a:latin typeface="맑은 고딕"/>
              </a:rPr>
              <a:t>•  실습 03 — 특정 10분 구간의 상위 세션·SQL·대기 도출(ON CPU 90.7%) 🔒</a:t>
            </a:r>
          </a:p>
          <a:p>
            <a:pPr algn="l">
              <a:spcAft>
                <a:spcPts val="800"/>
              </a:spcAft>
            </a:pPr>
            <a:r>
              <a:rPr sz="1600" b="0">
                <a:solidFill>
                  <a:srgbClr val="222222"/>
                </a:solidFill>
                <a:latin typeface="맑은 고딕"/>
              </a:rPr>
              <a:t>•  실습 04 — 세션 단위 추적: SAMPLE_TIME 순 재구성 🔒</a:t>
            </a:r>
          </a:p>
          <a:p>
            <a:pPr algn="l">
              <a:spcAft>
                <a:spcPts val="800"/>
              </a:spcAft>
            </a:pPr>
            <a:r>
              <a:rPr sz="1600" b="0">
                <a:solidFill>
                  <a:srgbClr val="222222"/>
                </a:solidFill>
                <a:latin typeface="맑은 고딕"/>
              </a:rPr>
              <a:t>•  실습 05 — DBA_HIST_ACTIVE_SESS_HISTORY 보존 구간 분석 🔒</a:t>
            </a:r>
          </a:p>
          <a:p>
            <a:pPr algn="l">
              <a:spcAft>
                <a:spcPts val="800"/>
              </a:spcAft>
            </a:pPr>
            <a:r>
              <a:rPr sz="1600" b="0">
                <a:solidFill>
                  <a:srgbClr val="222222"/>
                </a:solidFill>
                <a:latin typeface="맑은 고딕"/>
              </a:rPr>
              <a:t>•  실습 06 — AWR로 안 보이고 ASH로만 보이는 짧은 스파이크 재현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
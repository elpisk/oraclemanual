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누적 통계는 인스턴스 기동 시점부터 지금까지 계속 더해진 합계입니다. 그래서 값 자체는 항상 0보다 크고, 인스턴스가 오래 떠 있을수록 커집니다. 이런 값을 그대로 읽어 좋다 나쁘다를 판정하는 것이 이 장이 경계하는 대표적 오판입니다. 어떤 통계든 어느 구간에서 얼마나 변했는가라는 델타로 환원해야 비로소 그 구간의 부하를 말할 수 있습니다. 5분 전 값과 지금 값을 빼야 최근 5분의 부하가 되는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데이터베이스에서 부하 전에 조회한 시스템 시간 모델 누적값입니다. DB time이 약 67.7초, DB CPU가 약 17.5초로, 누적 기준 CPU 비율은 약 25.8퍼센트입니다. 다만 이것은 기동 이후 전체 누적의 비율일 뿐 지금 이 순간의 상태가 아닙니다. hard parse elapsed time이 parse time elapsed의 대부분을 차지한 점도 함께 읽어 둡니다. 이 숫자만으로 좋다 나쁘다를 말할 수 없고, 반드시 관심 구간의 델타로 환원해 봐야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성능을 효과적으로 측정하려면 통계가 있어야 합니다. 당연해 보이지만 실무에서 자주 무너지는 전제입니다. STATISTICS_LEVEL이 낮아 수집이 꺼져 있거나, 관심 구간의 시작 시점 값을 캡처해 두지 않아 델타를 만들 재료가 없으면, 사후에 아무리 뛰어난 분석 기법도 소용이 없습니다. 그래서 이 과정은 조치 전에 근거를 남긴다를 방법론이 아니라 습관으로 요구합니다. 측정 없이 판단하지 않는다는 이 장의 태도는 곧 판단할 재료를 미리 확보한다는 뜻이기도 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델타를 재는 방법은 단순합니다. 구간 시작과 끝에 누적값을 캡처해 빼면 됩니다. AWR 보고서가 하는 일이 바로 두 스냅샷 사이의 델타 계산입니다. 그런데 구간을 너무 짧게 잡으면 시간 모델의 CPU와 대기 분해가 샘플링과 반올림 노이즈에 휘둘려 불안정해집니다. 그래서 정확한 DB Time 분해는 순간이 아니라 수 분짜리 구간으로 봐야 하며, 그 구간을 체계적으로 뜨는 도구가 6장의 AWR입니다. 라이선스가 없어 AWR을 못 써도 원리는 같아서, V$ 뷰를 스크립트로 두 번 조회해 빼기만 하면 같은 델타를 얻습니다.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세션 델타와 대기 실측은 부하 전에 버퍼 캐시를 비워, 물리 I/O 대기가 DB time에 확실히 잡히도록 만든 것입니다. ALTER SYSTEM FLUSH BUFFER_CACHE는 캐시에 올라와 있던 모든 데이터 블록을 버려 이후 모든 조회가 디스크부터 다시 읽게 만듭니다. 실습에서 물리 I/O를 재현하려는 의도적 조치이지만, 운영 데이터베이스에서는 절대 실행하면 안 됩니다. 전체 시스템의 응답시간이 급격히 나빠지고 다른 모든 세션이 함께 피해를 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 Time은 전경 세션이 데이터베이스 호출에 쓴 시간의 총합으로, 인스턴스 전체 워크로드의 지표입니다. Idle 대기에 있지 않은 모든 사용자 세션의 CPU 시간과 대기 시간을 합산한 값이며, 한 문장으로 DB Time은 DB CPU와 대기의 합입니다. 성능을 개선한다는 것은 결국 같은 일을 처리하는 데 드는 DB Time을 줄이는 것과 같습니다. Idle 대기에 있는 세션의 시간은 넣지 않으므로, 접속 수가 아니라 실제로 일한 시간을 재는 지표입니다.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 Time은 모든 비휴지 전경 세션의 시간을 합치므로 벽시계 시간을 초과할 수 있습니다. 기동한 지 30분인 인스턴스라도 활성 세션이 넷이면 누적 DB Time은 약 120분이 됩니다. 여기서 파생되는 지표가 Average Active Sessions로, 구간 DB Time을 구간 벽시계 시간으로 나눈 값입니다. 이 값을 호스트의 CPU 코어 수와 비교하면 시스템이 얼마나 붐볐는지 감을 잡을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성능 문제는 생김새가 제각각이라 서로 다른 단위로는 무엇이 급한지 비교할 수 없습니다. 그러나 모두 이 구간 DB Time의 몇 퍼센트를 먹었는가로 환산하면 한 줄에 세워 비교할 수 있습니다. 그래서 이 과정의 판독 원칙은 상위 대기 하나만 보는 것이 아니라 그것이 DB Time에서 차지하는 비중과 함께 보는 것입니다. 조치의 가치 역시 DB Time 비중을 얼마나 줄였는가로 평가합니다. DB Time의 3퍼센트짜리 대기를 절반으로 줄여도 체감은 거의 없기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세션 시간 모델로 특정 세션이 이 부하 구간에 쓴 시간만 순수하게 쟀습니다. 다른 세션의 영향을 배제하기 위해 시스템 뷰가 아니라 세션 뷰를 썼습니다. 델타이므로 이 값들은 오직 이 부하 구간만의 부하를 가리킵니다. 인스턴스 기동 이후 누적이 아니라 관심 구간의 시작과 끝을 빼서 그 구간을 재는 것이 이 장이 가르치는 측정 방식입니다. 그런데 DB CPU 델타가 DB time 델타보다 커서 대기가 음수로 계산되는 이상한 결과가 나왔습니다. 다음 슬라이드에서 그 이유를 설명합니다.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 CPU 델타가 DB time 델타보다 큰 것은 버그도 오차도 아닙니다. 구간이 0.3초로 너무 짧아 두 카운터가 갱신되는 시점이 미세하게 어긋나고 마이크로초 반올림이 겹치면서 분해가 불안정해진 것입니다. 그렇다고 대기가 없었던 것은 아닙니다. 대기의 실체는 V$SESSION_EVENT에서 확인해야 하며, 정확한 CPU 대기 비율을 보려면 순간이 아니라 수 분짜리 AWR 구간으로 봐야 합니다. 여기서 다시 6장으로 이어집니다.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시간 모델 통계는 계층 구조를 이룹니다. 최상위에 DB time이 있고 그 아래에 SQL 실행, 파싱, PL/SQL 실행 같은 굵은 갈래가 있으며, 파싱 아래에 다시 하드 파싱이 놓입니다. 이 계층은 상위가 하위를 포함하는 부분집합 관계라 하위를 모두 더한다고 DB time이 되지는 않습니다. 대신 시간이 실행으로 갔는가 파싱으로 갔는가 그 파싱은 하드 파싱인가를 위에서 아래로 좁혀 가며 짚는 지도로 씁니다. 실측에서는 파싱 시간이 거의 하드 파싱에서 왔습니다.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대기 이벤트는 서버 프로세스가 어떤 일이 끝나기를 기다려 처리를 멈춘 것을 나타내는 통계로, 래치·버퍼·I/O 경합 같은 문제의 증상을 드러냅니다. 오라클은 수백 개 이벤트를 대체로 같은 해법이 통하는지를 기준으로 12개 클래스로 묶습니다. 다만 대기는 증상이지 원인이 아니며, Idle 클래스는 세션이 쉬는 것이라 병목이 아니므로 반드시 제외하고 봅니다. 분류 기준은 대체로 같은 해법이 통하는가로, 예컨대 배타적 TX 잠금은 애플리케이션 문제, HW 잠금은 구성 문제로 묶입니다.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짧은 구간에서 대기의 실체는 시간 모델의 비율이 아니라 대기 이벤트 뷰에서 직접 확인합니다. 이 세션은 db file scattered read를 120회, 65밀리초 기다렸습니다. scattered read는 전체 스캔이 여러 블록을 한 번에 읽을 때 나는 대기입니다. 캐시를 비운 뒤 대량 스캔을 돌리자 물리 I/O가 이 세션의 대기를 채웠다는 명확한 증거입니다. DB Time 등식의 대기 부분은 바로 이 65밀리초로 설명하는 것이 정확합니다.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시스템 전체 관점에서 대기 클래스별 집계입니다. Idle을 제외하지 않으면 SQL*Net message from client가 압도적 1위로 올라와 엉뚱한 곳을 파게 됩니다. 여기서 상위가 Network인 것을 그대로 이 시스템의 병목은 네트워크다라고 읽으면 안 됩니다. 이 값은 기동 이후 전체 누적이라, 특정 구간의 병목을 지목하려면 이 집계도 부하 전후로 두 번 떠서 델타를 봐야 합니다. 누적 순위와 구간 델타 순위는 다를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시간 모델과 대기 클래스 외에도 시스템과 세션 수준의 방대한 누적 카운터가 V$SYSSTAT와 V$SESSTAT에 있습니다. 논리 읽기, 물리 읽기, 리두 크기, 파싱 수, 커밋 수, 정렬 같은 값들입니다. 이 카운터들은 대기와 짝을 이뤄, 대기 하나만 보지 않고 함께 교차 검증합니다. 이들도 누적값이라 델타로 봅니다. 한편 활성 세션을 1초 주기로 샘플링하는 ASH는 순간을 붙잡는 또 하나의 축이지만 Diagnostics Pack이 필요해, 이 장에서는 개념만 소개하고 10장에서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버퍼 캐시 히트율 같은 계산된 비율은 문제 존재를 확정하는 판정자로 쓰면 안 되고 지표로만 씁니다. 비효율 SQL이 같은 블록을 반복해서 논리 읽기로 되읽으면 그 대부분이 캐시에서 처리되어 히트율은 오히려 99퍼센트로 올라갑니다. 즉 히트율이 높아진 것이 성능이 나빠진 결과일 수 있습니다. 진짜로 봐야 할 것은 논리 읽기 자체가 왜 이렇게 많은가입니다. 즉 히트율이 높아진 것이 오히려 성능이 나빠진 결과일 수 있어, 단일 비율 하나로 건강을 판정하면 정반대의 현실을 놓칩니다. 이 함정은 17장에서 직접 재현합니다.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대기 시간이 있어야 그 대기가 전체 경과의 얼마인지 비교할 수 있습니다. 2시간 중 30초 대기는 1위여도 손댈 가치가 적고, 45분 중 30분이면 반드시 조사합니다. Idle 이벤트는 세션이 쉬는 것이라 제외합니다. 비율 같은 계산 통계는 원시 카운트로 검증합니다. 하드 파스 1회 소프트 파스 1회면 소프트 파스 비율이 50퍼센트여도 성능에 무의미합니다. 공통점은 숫자 하나를 다른 숫자로 교차 검증한다는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통계를 평가할 때는 그 값에 영향을 주는 다른 요인, 즉 사용자 부하와 하드웨어 능력도 함께 봅니다. 45분 구간에서 30분을 차지한 대기라도 그 시스템에 사용자가 2,000명 붙어 있고 호스트가 64노드였다면 곧 성능 문제라고 단정할 수 없습니다. 반대로 사용자 몇 명뿐인 시스템에서 같은 비중이 나왔다면 훨씬 심각합니다. 같은 숫자라도 맥락이 의미를 바꿉니다. 이 장의 실측 대기 값이 학습자마다 다른 것도 환경 요인 때문이며, 그래서 절대값을 단정하지 않고 환경값으로 둡니다.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배운 모든 측정은 STATISTICS_LEVEL이라는 하나의 스위치에 달려 있습니다. 이 값이 낮으면 측정할 데이터 자체가 만들어지지 않아 아무리 좋은 도구도 빈손이 됩니다. BASIC은 AWR과 시간 모델 상당수를 끄므로 권장되지 않고, TYPICAL이 기본값이자 권장값이며 이때 TIMED_STATISTICS가 자동으로 켜집니다. ALL은 추가 통계를 더 모으지만 오버헤드가 커서 특별한 목적이 아니면 상시 쓰지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장에서 쓴 뷰는 모두 관리 팩 라이선스가 필요 없습니다. 즉 라이선스가 없어도 델타 방식으로 V$를 두 번 조회하면 이 장의 측정은 전부 할 수 있습니다. 반면 이 장이 던지는 수 분 구간을 어떻게 뜨고 저장하나라는 질문의 답인 AWR과 ADDM, ASH, DBA_HIST 계열은 Diagnostics Pack이 필요합니다. 라이선스가 없으면 이 장의 V$ 델타 기법과 무상 도구 Statspack으로 같은 것을 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이론을 하나의 절차로 묶으면 네 단계입니다. 부하 직전에 시간 모델과 시스템 통계, 대기 클래스, 주요 대기 이벤트의 누적값을 캡처하고, WL_06_mixed 스크립트로 파싱과 물리 I/O, 정렬, DML을 섞어 일정 구간 돌린 뒤, 같은 통계를 다시 캡처해 뺍니다. 델타를 구간 초와 트랜잭션 수로 나누면 AWR의 Load Profile과 같은 초당 트랜잭션당 값이 됩니다. 학습자는 이 델타 요약을 정답지처럼 쥐고 AWR 보고서와 대조합니다.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델타를 초당과 트랜잭션당으로 환산하는 이유는 구간 길이가 다른 측정을 비교하려면 시간으로 정규화해야 하기 때문입니다. 특히 트랜잭션당 값은 부하가 늘어난 것인지 트랜잭션 하나가 무거워진 것인지를 가려 줍니다. 느려진 것과 일이 늘어난 것은 다르다는 11장의 핵심이 여기서 씨앗을 얻습니다. 또 물리 읽기 델타가 크면 User I/O 대기 델타도 커야 앞뒤가 맞으므로, 조각들을 함께 보며 교차 검증합니다.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r>
              <a:rPr sz="1600" b="1">
                <a:solidFill>
                  <a:srgbClr val="FFFFFF"/>
                </a:solidFill>
                <a:latin typeface="맑은 고딕"/>
                <a:ea typeface="맑은 고딕"/>
                <a:cs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r>
              <a:rPr sz="3400" b="1">
                <a:solidFill>
                  <a:srgbClr val="C0392B"/>
                </a:solidFill>
                <a:latin typeface="맑은 고딕"/>
                <a:ea typeface="맑은 고딕"/>
                <a:cs typeface="맑은 고딕"/>
              </a:rPr>
              <a:t>성능 측정의 기준 — 통계와 DB Time</a:t>
            </a:r>
          </a:p>
          <a:p>
            <a:pPr algn="l">
              <a:spcAft>
                <a:spcPts val="600"/>
              </a:spcAft>
            </a:pPr>
            <a:r>
              <a:rPr sz="2000" b="0">
                <a:solidFill>
                  <a:srgbClr val="5A6672"/>
                </a:solidFill>
                <a:latin typeface="맑은 고딕"/>
                <a:ea typeface="맑은 고딕"/>
                <a:cs typeface="맑은 고딕"/>
              </a:rPr>
              <a:t>Measuring Database Performance — 이 과정의 축</a:t>
            </a:r>
          </a:p>
        </p:txBody>
      </p:sp>
      <p:sp>
        <p:nvSpPr>
          <p:cNvPr id="7" name="TextBox 6"/>
          <p:cNvSpPr txBox="1"/>
          <p:nvPr/>
        </p:nvSpPr>
        <p:spPr>
          <a:xfrm>
            <a:off x="731520" y="4114800"/>
            <a:ext cx="10698480" cy="1097280"/>
          </a:xfrm>
          <a:prstGeom prst="rect">
            <a:avLst/>
          </a:prstGeom>
          <a:noFill/>
        </p:spPr>
        <p:txBody>
          <a:bodyPr wrap="square">
            <a:spAutoFit/>
          </a:bodyPr>
          <a:lstStyle/>
          <a:p>
            <a:pPr algn="l"/>
            <a:r>
              <a:rPr sz="1500" b="0">
                <a:solidFill>
                  <a:srgbClr val="5A6672"/>
                </a:solidFill>
                <a:latin typeface="맑은 고딕"/>
                <a:ea typeface="맑은 고딕"/>
                <a:cs typeface="맑은 고딕"/>
              </a:rPr>
              <a:t>DB Time · 시간 모델(V$SYS/SESS_TIME_MODEL) · 대기 클래스 · 누적값 vs 델타 · STATISTICS_LEVEL</a:t>
            </a:r>
          </a:p>
        </p:txBody>
      </p:sp>
      <p:sp>
        <p:nvSpPr>
          <p:cNvPr id="8" name="TextBox 7"/>
          <p:cNvSpPr txBox="1"/>
          <p:nvPr/>
        </p:nvSpPr>
        <p:spPr>
          <a:xfrm>
            <a:off x="731520" y="5577840"/>
            <a:ext cx="10698480" cy="914400"/>
          </a:xfrm>
          <a:prstGeom prst="rect">
            <a:avLst/>
          </a:prstGeom>
          <a:noFill/>
        </p:spPr>
        <p:txBody>
          <a:bodyPr wrap="square">
            <a:spAutoFit/>
          </a:bodyPr>
          <a:lstStyle/>
          <a:p>
            <a:pPr algn="l"/>
            <a:r>
              <a:rPr sz="2000" b="1">
                <a:solidFill>
                  <a:srgbClr val="C0392B"/>
                </a:solidFill>
                <a:latin typeface="맑은 고딕"/>
                <a:ea typeface="맑은 고딕"/>
                <a:cs typeface="맑은 고딕"/>
              </a:rPr>
              <a:t>제5장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600"/>
              </a:spcAft>
            </a:pPr>
            <a:r>
              <a:rPr sz="1600" b="0">
                <a:solidFill>
                  <a:srgbClr val="222222"/>
                </a:solidFill>
                <a:latin typeface="맑은 고딕"/>
                <a:ea typeface="맑은 고딕"/>
                <a:cs typeface="맑은 고딕"/>
              </a:rPr>
              <a:t>•  DB Time을 'DB CPU + 대기'로 정의하고, 모든 활성 세션 시간의 합·벽시계 초과 가능성을 설명한다.</a:t>
            </a:r>
          </a:p>
          <a:p>
            <a:pPr algn="l">
              <a:spcAft>
                <a:spcPts val="600"/>
              </a:spcAft>
            </a:pPr>
            <a:r>
              <a:rPr sz="1600" b="0">
                <a:solidFill>
                  <a:srgbClr val="222222"/>
                </a:solidFill>
                <a:latin typeface="맑은 고딕"/>
                <a:ea typeface="맑은 고딕"/>
                <a:cs typeface="맑은 고딕"/>
              </a:rPr>
              <a:t>•  시간 모델(V$SYS_TIME_MODEL·V$SESS_TIME_MODEL)로 DB Time을 분해하고 시스템/세션 범위를 구분한다.</a:t>
            </a:r>
          </a:p>
          <a:p>
            <a:pPr algn="l">
              <a:spcAft>
                <a:spcPts val="600"/>
              </a:spcAft>
            </a:pPr>
            <a:r>
              <a:rPr sz="1600" b="0">
                <a:solidFill>
                  <a:srgbClr val="222222"/>
                </a:solidFill>
                <a:latin typeface="맑은 고딕"/>
                <a:ea typeface="맑은 고딕"/>
                <a:cs typeface="맑은 고딕"/>
              </a:rPr>
              <a:t>•  누적값과 델타값의 차이를 이해하고, 관심 구간의 시작·끝을 빼서 부하를 측정한다.</a:t>
            </a:r>
          </a:p>
          <a:p>
            <a:pPr algn="l">
              <a:spcAft>
                <a:spcPts val="600"/>
              </a:spcAft>
            </a:pPr>
            <a:r>
              <a:rPr sz="1600" b="0">
                <a:solidFill>
                  <a:srgbClr val="222222"/>
                </a:solidFill>
                <a:latin typeface="맑은 고딕"/>
                <a:ea typeface="맑은 고딕"/>
                <a:cs typeface="맑은 고딕"/>
              </a:rPr>
              <a:t>•  짧은 구간에서 시간 모델 분해가 불안정함을 실측으로 확인하고, 수 분 구간(AWR)의 필요성을 설명한다.</a:t>
            </a:r>
          </a:p>
          <a:p>
            <a:pPr algn="l">
              <a:spcAft>
                <a:spcPts val="600"/>
              </a:spcAft>
            </a:pPr>
            <a:r>
              <a:rPr sz="1600" b="0">
                <a:solidFill>
                  <a:srgbClr val="222222"/>
                </a:solidFill>
                <a:latin typeface="맑은 고딕"/>
                <a:ea typeface="맑은 고딕"/>
                <a:cs typeface="맑은 고딕"/>
              </a:rPr>
              <a:t>•  대기를 12개 클래스로 묶어 V$SYSTEM_WAIT_CLASS로 집계하고 Idle 제외 상위를 지목한다.</a:t>
            </a:r>
          </a:p>
          <a:p>
            <a:pPr algn="l">
              <a:spcAft>
                <a:spcPts val="600"/>
              </a:spcAft>
            </a:pPr>
            <a:r>
              <a:rPr sz="1600" b="0">
                <a:solidFill>
                  <a:srgbClr val="222222"/>
                </a:solidFill>
                <a:latin typeface="맑은 고딕"/>
                <a:ea typeface="맑은 고딕"/>
                <a:cs typeface="맑은 고딕"/>
              </a:rPr>
              <a:t>•  대기의 실측 증거를 V$SESSION_EVENT에서 확보한다(db file scattered read 120회·65ms).</a:t>
            </a:r>
          </a:p>
          <a:p>
            <a:pPr algn="l">
              <a:spcAft>
                <a:spcPts val="600"/>
              </a:spcAft>
            </a:pPr>
            <a:r>
              <a:rPr sz="1600" b="0">
                <a:solidFill>
                  <a:srgbClr val="222222"/>
                </a:solidFill>
                <a:latin typeface="맑은 고딕"/>
                <a:ea typeface="맑은 고딕"/>
                <a:cs typeface="맑은 고딕"/>
              </a:rPr>
              <a:t>•  히트율·계산 통계를 지표로 다루고 TIMED_STATISTICS·Idle·원시 카운트 검증 원칙을 적용한다.</a:t>
            </a:r>
          </a:p>
          <a:p>
            <a:pPr algn="l">
              <a:spcAft>
                <a:spcPts val="600"/>
              </a:spcAft>
            </a:pPr>
            <a:r>
              <a:rPr sz="1600" b="0">
                <a:solidFill>
                  <a:srgbClr val="222222"/>
                </a:solidFill>
                <a:latin typeface="맑은 고딕"/>
                <a:ea typeface="맑은 고딕"/>
                <a:cs typeface="맑은 고딕"/>
              </a:rPr>
              <a:t>•  STATISTICS_LEVEL 세 수준을 알고 이 장(무료)과 6장 AWR(🔒 Diagnostics Pack)의 경계를 구분한다.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600"/>
              </a:spcAft>
            </a:pPr>
            <a:r>
              <a:rPr sz="1600" b="0">
                <a:solidFill>
                  <a:srgbClr val="222222"/>
                </a:solidFill>
                <a:latin typeface="맑은 고딕"/>
                <a:ea typeface="맑은 고딕"/>
                <a:cs typeface="맑은 고딕"/>
              </a:rPr>
              <a:t>•  5.2  데이터베이스 통계와 델타 — 누적값을 그대로 읽지 않는다</a:t>
            </a:r>
          </a:p>
          <a:p>
            <a:pPr algn="l">
              <a:spcAft>
                <a:spcPts val="600"/>
              </a:spcAft>
            </a:pPr>
            <a:r>
              <a:rPr sz="1600" b="0">
                <a:solidFill>
                  <a:srgbClr val="222222"/>
                </a:solidFill>
                <a:latin typeface="맑은 고딕"/>
                <a:ea typeface="맑은 고딕"/>
                <a:cs typeface="맑은 고딕"/>
              </a:rPr>
              <a:t>•  5.3  DB Time — 이 과정의 공통 화폐</a:t>
            </a:r>
          </a:p>
          <a:p>
            <a:pPr algn="l">
              <a:spcAft>
                <a:spcPts val="600"/>
              </a:spcAft>
            </a:pPr>
            <a:r>
              <a:rPr sz="1600" b="0">
                <a:solidFill>
                  <a:srgbClr val="222222"/>
                </a:solidFill>
                <a:latin typeface="맑은 고딕"/>
                <a:ea typeface="맑은 고딕"/>
                <a:cs typeface="맑은 고딕"/>
              </a:rPr>
              <a:t>•  5.4  시간 모델 — V$SYS_TIME_MODEL과 V$SESS_TIME_MODEL</a:t>
            </a:r>
          </a:p>
          <a:p>
            <a:pPr algn="l">
              <a:spcAft>
                <a:spcPts val="600"/>
              </a:spcAft>
            </a:pPr>
            <a:r>
              <a:rPr sz="1600" b="0">
                <a:solidFill>
                  <a:srgbClr val="222222"/>
                </a:solidFill>
                <a:latin typeface="맑은 고딕"/>
                <a:ea typeface="맑은 고딕"/>
                <a:cs typeface="맑은 고딕"/>
              </a:rPr>
              <a:t>•  5.5  대기와 대기 클래스 — V$SYSTEM_WAIT_CLASS</a:t>
            </a:r>
          </a:p>
          <a:p>
            <a:pPr algn="l">
              <a:spcAft>
                <a:spcPts val="600"/>
              </a:spcAft>
            </a:pPr>
            <a:r>
              <a:rPr sz="1600" b="0">
                <a:solidFill>
                  <a:srgbClr val="222222"/>
                </a:solidFill>
                <a:latin typeface="맑은 고딕"/>
                <a:ea typeface="맑은 고딕"/>
                <a:cs typeface="맑은 고딕"/>
              </a:rPr>
              <a:t>•  5.6  통계 해석의 원칙 — 숫자를 오독하지 않는 법</a:t>
            </a:r>
          </a:p>
          <a:p>
            <a:pPr algn="l">
              <a:spcAft>
                <a:spcPts val="600"/>
              </a:spcAft>
            </a:pPr>
            <a:r>
              <a:rPr sz="1600" b="0">
                <a:solidFill>
                  <a:srgbClr val="222222"/>
                </a:solidFill>
                <a:latin typeface="맑은 고딕"/>
                <a:ea typeface="맑은 고딕"/>
                <a:cs typeface="맑은 고딕"/>
              </a:rPr>
              <a:t>•  5.7  STATISTICS_LEVEL — 측정을 켜고 끄는 스위치</a:t>
            </a:r>
          </a:p>
          <a:p>
            <a:pPr algn="l">
              <a:spcAft>
                <a:spcPts val="600"/>
              </a:spcAft>
            </a:pPr>
            <a:r>
              <a:rPr sz="1600" b="0">
                <a:solidFill>
                  <a:srgbClr val="222222"/>
                </a:solidFill>
                <a:latin typeface="맑은 고딕"/>
                <a:ea typeface="맑은 고딕"/>
                <a:cs typeface="맑은 고딕"/>
              </a:rPr>
              <a:t>•  5.8  부하 전후로 DB Time을 재는 절차</a:t>
            </a:r>
          </a:p>
          <a:p>
            <a:pPr algn="l">
              <a:spcAft>
                <a:spcPts val="600"/>
              </a:spcAft>
            </a:pPr>
            <a:r>
              <a:rPr sz="1600" b="0">
                <a:solidFill>
                  <a:srgbClr val="222222"/>
                </a:solidFill>
                <a:latin typeface="맑은 고딕"/>
                <a:ea typeface="맑은 고딕"/>
                <a:cs typeface="맑은 고딕"/>
              </a:rPr>
              <a:t>•  ※ ADMIN 31장의 시간 모델·AWR 개념 소개를 실측·판독으로 확장(non-CDB orcl 19.3).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ea typeface="맑은 고딕"/>
                <a:cs typeface="맑은 고딕"/>
              </a:rPr>
              <a:t>5.2</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cs typeface="맑은 고딕"/>
              </a:rPr>
              <a:t>데이터베이스 통계와 델타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400"/>
              </a:spcAft>
            </a:pPr>
            <a:r>
              <a:rPr sz="1600" b="0">
                <a:solidFill>
                  <a:srgbClr val="FFFFFF"/>
                </a:solidFill>
                <a:latin typeface="맑은 고딕"/>
                <a:ea typeface="맑은 고딕"/>
                <a:cs typeface="맑은 고딕"/>
              </a:rPr>
              <a:t>•  누적값 vs 델타</a:t>
            </a:r>
          </a:p>
          <a:p>
            <a:pPr algn="l">
              <a:spcAft>
                <a:spcPts val="400"/>
              </a:spcAft>
            </a:pPr>
            <a:r>
              <a:rPr sz="1600" b="0">
                <a:solidFill>
                  <a:srgbClr val="FFFFFF"/>
                </a:solidFill>
                <a:latin typeface="맑은 고딕"/>
                <a:ea typeface="맑은 고딕"/>
                <a:cs typeface="맑은 고딕"/>
              </a:rPr>
              <a:t>•  관심 구간의 변화량</a:t>
            </a:r>
          </a:p>
          <a:p>
            <a:pPr algn="l">
              <a:spcAft>
                <a:spcPts val="400"/>
              </a:spcAft>
            </a:pPr>
            <a:r>
              <a:rPr sz="1600" b="0">
                <a:solidFill>
                  <a:srgbClr val="FFFFFF"/>
                </a:solidFill>
                <a:latin typeface="맑은 고딕"/>
                <a:ea typeface="맑은 고딕"/>
                <a:cs typeface="맑은 고딕"/>
              </a:rPr>
              <a:t>•  짧은 구간의 함정 → 6장</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누적값은 기동 이후의 합계다</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cumulative statistics</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V$SYS_TIME_MODEL·V$SYSSTAT·V$SYSTEM_WAIT_CLASS 값은 기동 이후 누적</a:t>
            </a:r>
          </a:p>
          <a:p>
            <a:pPr algn="l">
              <a:spcAft>
                <a:spcPts val="800"/>
              </a:spcAft>
            </a:pPr>
            <a:r>
              <a:rPr sz="1700" b="0">
                <a:solidFill>
                  <a:srgbClr val="222222"/>
                </a:solidFill>
                <a:latin typeface="맑은 고딕"/>
                <a:ea typeface="맑은 고딕"/>
                <a:cs typeface="맑은 고딕"/>
              </a:rPr>
              <a:t>•  값은 절대 0이 아니고, 오래 떠 있을수록 커진다</a:t>
            </a:r>
          </a:p>
          <a:p>
            <a:pPr algn="l">
              <a:spcAft>
                <a:spcPts val="800"/>
              </a:spcAft>
            </a:pPr>
            <a:r>
              <a:rPr sz="1700" b="0">
                <a:solidFill>
                  <a:srgbClr val="222222"/>
                </a:solidFill>
                <a:latin typeface="맑은 고딕"/>
                <a:ea typeface="맑은 고딕"/>
                <a:cs typeface="맑은 고딕"/>
              </a:rPr>
              <a:t>•  절대값 하나로는 좋다·나쁘다를 판정할 수 없다</a:t>
            </a:r>
          </a:p>
          <a:p>
            <a:pPr algn="l">
              <a:spcAft>
                <a:spcPts val="800"/>
              </a:spcAft>
            </a:pPr>
            <a:r>
              <a:rPr sz="1700" b="0">
                <a:solidFill>
                  <a:srgbClr val="222222"/>
                </a:solidFill>
                <a:latin typeface="맑은 고딕"/>
                <a:ea typeface="맑은 고딕"/>
                <a:cs typeface="맑은 고딕"/>
              </a:rPr>
              <a:t>•  의미를 가지려면 '어느 구간의 값인가'가 붙어야 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V$SYS_TIME_MODEL — 누적값 실측</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부하 전, 단위 마이크로초</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spcAft>
                <a:spcPts val="0"/>
              </a:spcAft>
            </a:pPr>
            <a:r>
              <a:rPr sz="1250" b="0">
                <a:solidFill>
                  <a:srgbClr val="F2F2F2"/>
                </a:solidFill>
                <a:latin typeface="Consolas"/>
                <a:ea typeface="Consolas"/>
                <a:cs typeface="Consolas"/>
              </a:rPr>
              <a:t>SYS@orcl&gt; SELECT stat_name, value FROM v$sys_time_model</a:t>
            </a:r>
          </a:p>
          <a:p>
            <a:pPr algn="l">
              <a:spcAft>
                <a:spcPts val="0"/>
              </a:spcAft>
            </a:pPr>
            <a:r>
              <a:rPr sz="1250" b="0">
                <a:solidFill>
                  <a:srgbClr val="F2F2F2"/>
                </a:solidFill>
                <a:latin typeface="Consolas"/>
                <a:ea typeface="Consolas"/>
                <a:cs typeface="Consolas"/>
              </a:rPr>
              <a:t>  2       WHERE stat_name IN ('DB time','DB CPU', ...)</a:t>
            </a:r>
          </a:p>
          <a:p>
            <a:pPr algn="l">
              <a:spcAft>
                <a:spcPts val="0"/>
              </a:spcAft>
            </a:pPr>
            <a:r>
              <a:rPr sz="1250" b="0">
                <a:solidFill>
                  <a:srgbClr val="F2F2F2"/>
                </a:solidFill>
                <a:latin typeface="Consolas"/>
                <a:ea typeface="Consolas"/>
                <a:cs typeface="Consolas"/>
              </a:rPr>
              <a:t>  3       ORDER BY value DESC;</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STAT_NAME                          VALUE</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DB time                          67698738</a:t>
            </a:r>
          </a:p>
          <a:p>
            <a:pPr algn="l">
              <a:spcAft>
                <a:spcPts val="0"/>
              </a:spcAft>
            </a:pPr>
            <a:r>
              <a:rPr sz="1250" b="0">
                <a:solidFill>
                  <a:srgbClr val="F2F2F2"/>
                </a:solidFill>
                <a:latin typeface="Consolas"/>
                <a:ea typeface="Consolas"/>
                <a:cs typeface="Consolas"/>
              </a:rPr>
              <a:t>sql execute elapsed time         29344735</a:t>
            </a:r>
          </a:p>
          <a:p>
            <a:pPr algn="l">
              <a:spcAft>
                <a:spcPts val="0"/>
              </a:spcAft>
            </a:pPr>
            <a:r>
              <a:rPr sz="1250" b="0">
                <a:solidFill>
                  <a:srgbClr val="F2F2F2"/>
                </a:solidFill>
                <a:latin typeface="Consolas"/>
                <a:ea typeface="Consolas"/>
                <a:cs typeface="Consolas"/>
              </a:rPr>
              <a:t>DB CPU                           17487220</a:t>
            </a:r>
          </a:p>
          <a:p>
            <a:pPr algn="l">
              <a:spcAft>
                <a:spcPts val="0"/>
              </a:spcAft>
            </a:pPr>
            <a:r>
              <a:rPr sz="1250" b="0">
                <a:solidFill>
                  <a:srgbClr val="F2F2F2"/>
                </a:solidFill>
                <a:latin typeface="Consolas"/>
                <a:ea typeface="Consolas"/>
                <a:cs typeface="Consolas"/>
              </a:rPr>
              <a:t>parse time elapsed                3907411</a:t>
            </a:r>
          </a:p>
          <a:p>
            <a:pPr algn="l">
              <a:spcAft>
                <a:spcPts val="0"/>
              </a:spcAft>
            </a:pPr>
            <a:r>
              <a:rPr sz="1250" b="0">
                <a:solidFill>
                  <a:srgbClr val="F2F2F2"/>
                </a:solidFill>
                <a:latin typeface="Consolas"/>
                <a:ea typeface="Consolas"/>
                <a:cs typeface="Consolas"/>
              </a:rPr>
              <a:t>hard parse elapsed time           3674923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측정 없이 판단하지 않는다</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조치 전에 근거를 남긴다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성능을 재려면 통계가 '있어야' 한다(수집이 켜져 있어야)</a:t>
            </a:r>
          </a:p>
          <a:p>
            <a:pPr algn="l">
              <a:spcAft>
                <a:spcPts val="800"/>
              </a:spcAft>
            </a:pPr>
            <a:r>
              <a:rPr sz="1700" b="0">
                <a:solidFill>
                  <a:srgbClr val="222222"/>
                </a:solidFill>
                <a:latin typeface="맑은 고딕"/>
                <a:ea typeface="맑은 고딕"/>
                <a:cs typeface="맑은 고딕"/>
              </a:rPr>
              <a:t>•  구간 시작값을 캡처 안 하면 델타를 만들 재료가 없다</a:t>
            </a:r>
          </a:p>
          <a:p>
            <a:pPr algn="l">
              <a:spcAft>
                <a:spcPts val="800"/>
              </a:spcAft>
            </a:pPr>
            <a:r>
              <a:rPr sz="1700" b="0">
                <a:solidFill>
                  <a:srgbClr val="222222"/>
                </a:solidFill>
                <a:latin typeface="맑은 고딕"/>
                <a:ea typeface="맑은 고딕"/>
                <a:cs typeface="맑은 고딕"/>
              </a:rPr>
              <a:t>•  조치 전 근거 캡처 = 방법론이 아니라 습관</a:t>
            </a:r>
          </a:p>
          <a:p>
            <a:pPr algn="l">
              <a:spcAft>
                <a:spcPts val="800"/>
              </a:spcAft>
            </a:pPr>
            <a:r>
              <a:rPr sz="1700" b="0">
                <a:solidFill>
                  <a:srgbClr val="222222"/>
                </a:solidFill>
                <a:latin typeface="맑은 고딕"/>
                <a:ea typeface="맑은 고딕"/>
                <a:cs typeface="맑은 고딕"/>
              </a:rPr>
              <a:t>•  성능 데이터는 부하 없이 생기지 않는다 → 만들어서 잰다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델타와 짧은 구간의 함정</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이 장의 핵심 기법</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델타 = 끝 누적값 − 시작 누적값 (구간의 실제 부하)</a:t>
            </a:r>
          </a:p>
          <a:p>
            <a:pPr algn="l">
              <a:spcAft>
                <a:spcPts val="800"/>
              </a:spcAft>
            </a:pPr>
            <a:r>
              <a:rPr sz="1700" b="0">
                <a:solidFill>
                  <a:srgbClr val="222222"/>
                </a:solidFill>
                <a:latin typeface="맑은 고딕"/>
                <a:ea typeface="맑은 고딕"/>
                <a:cs typeface="맑은 고딕"/>
              </a:rPr>
              <a:t>•  AWR이 하는 일 = 두 스냅샷의 델타 계산</a:t>
            </a:r>
          </a:p>
          <a:p>
            <a:pPr algn="l">
              <a:spcAft>
                <a:spcPts val="800"/>
              </a:spcAft>
            </a:pPr>
            <a:r>
              <a:rPr sz="1700" b="0">
                <a:solidFill>
                  <a:srgbClr val="222222"/>
                </a:solidFill>
                <a:latin typeface="맑은 고딕"/>
                <a:ea typeface="맑은 고딕"/>
                <a:cs typeface="맑은 고딕"/>
              </a:rPr>
              <a:t>•  구간이 너무 짧으면 CPU/대기 분해가 노이즈로 불안정</a:t>
            </a:r>
          </a:p>
          <a:p>
            <a:pPr algn="l">
              <a:spcAft>
                <a:spcPts val="800"/>
              </a:spcAft>
            </a:pPr>
            <a:r>
              <a:rPr sz="1700" b="0">
                <a:solidFill>
                  <a:srgbClr val="222222"/>
                </a:solidFill>
                <a:latin typeface="맑은 고딕"/>
                <a:ea typeface="맑은 고딕"/>
                <a:cs typeface="맑은 고딕"/>
              </a:rPr>
              <a:t>•  정확한 분해는 순간이 아니라 수 분 구간으로 → 6장 AWR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 FLUSH BUFFER_CACHE는 개인 실습 전용</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실측 재현을 위한 조치 — 운영 금지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위 실측은 부하 전 버퍼 캐시를 비워 물리 I/O 대기를 확실히 잡았다</a:t>
            </a:r>
          </a:p>
          <a:p>
            <a:pPr algn="l">
              <a:spcAft>
                <a:spcPts val="800"/>
              </a:spcAft>
            </a:pPr>
            <a:r>
              <a:rPr sz="1700" b="0">
                <a:solidFill>
                  <a:srgbClr val="222222"/>
                </a:solidFill>
                <a:latin typeface="맑은 고딕"/>
                <a:ea typeface="맑은 고딕"/>
                <a:cs typeface="맑은 고딕"/>
              </a:rPr>
              <a:t>•  ALTER SYSTEM FLUSH BUFFER_CACHE = 캐시의 모든 블록 폐기</a:t>
            </a:r>
          </a:p>
          <a:p>
            <a:pPr algn="l">
              <a:spcAft>
                <a:spcPts val="800"/>
              </a:spcAft>
            </a:pPr>
            <a:r>
              <a:rPr sz="1700" b="0">
                <a:solidFill>
                  <a:srgbClr val="222222"/>
                </a:solidFill>
                <a:latin typeface="맑은 고딕"/>
                <a:ea typeface="맑은 고딕"/>
                <a:cs typeface="맑은 고딕"/>
              </a:rPr>
              <a:t>•  이후 조회가 디스크부터 다시 읽어 db file scattered read 발생</a:t>
            </a:r>
          </a:p>
          <a:p>
            <a:pPr algn="l">
              <a:spcAft>
                <a:spcPts val="800"/>
              </a:spcAft>
            </a:pPr>
            <a:r>
              <a:rPr sz="1700" b="0">
                <a:solidFill>
                  <a:srgbClr val="222222"/>
                </a:solidFill>
                <a:latin typeface="맑은 고딕"/>
                <a:ea typeface="맑은 고딕"/>
                <a:cs typeface="맑은 고딕"/>
              </a:rPr>
              <a:t>•  ★ 운영 DB 절대 금지 — 전체 응답시간 급락, 개인 실습에서만</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ea typeface="맑은 고딕"/>
                <a:cs typeface="맑은 고딕"/>
              </a:rPr>
              <a:t>5.3</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cs typeface="맑은 고딕"/>
              </a:rPr>
              <a:t>DB Time — 공통 화폐</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400"/>
              </a:spcAft>
            </a:pPr>
            <a:r>
              <a:rPr sz="1600" b="0">
                <a:solidFill>
                  <a:srgbClr val="FFFFFF"/>
                </a:solidFill>
                <a:latin typeface="맑은 고딕"/>
                <a:ea typeface="맑은 고딕"/>
                <a:cs typeface="맑은 고딕"/>
              </a:rPr>
              <a:t>•  DB Time = DB CPU + 대기</a:t>
            </a:r>
          </a:p>
          <a:p>
            <a:pPr algn="l">
              <a:spcAft>
                <a:spcPts val="400"/>
              </a:spcAft>
            </a:pPr>
            <a:r>
              <a:rPr sz="1600" b="0">
                <a:solidFill>
                  <a:srgbClr val="FFFFFF"/>
                </a:solidFill>
                <a:latin typeface="맑은 고딕"/>
                <a:ea typeface="맑은 고딕"/>
                <a:cs typeface="맑은 고딕"/>
              </a:rPr>
              <a:t>•  벽시계 초과 가능</a:t>
            </a:r>
          </a:p>
          <a:p>
            <a:pPr algn="l">
              <a:spcAft>
                <a:spcPts val="400"/>
              </a:spcAft>
            </a:pPr>
            <a:r>
              <a:rPr sz="1600" b="0">
                <a:solidFill>
                  <a:srgbClr val="FFFFFF"/>
                </a:solidFill>
                <a:latin typeface="맑은 고딕"/>
                <a:ea typeface="맑은 고딕"/>
                <a:cs typeface="맑은 고딕"/>
              </a:rPr>
              <a:t>•  이질적 문제를 한 저울에</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DB Time의 정의</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 DB CPU + 대기</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전경 세션이 DB 호출에 쓴 시간의 총합 = 인스턴스 워크로드 지표</a:t>
            </a:r>
          </a:p>
          <a:p>
            <a:pPr algn="l">
              <a:spcAft>
                <a:spcPts val="800"/>
              </a:spcAft>
            </a:pPr>
            <a:r>
              <a:rPr sz="1700" b="0">
                <a:solidFill>
                  <a:srgbClr val="222222"/>
                </a:solidFill>
                <a:latin typeface="맑은 고딕"/>
                <a:ea typeface="맑은 고딕"/>
                <a:cs typeface="맑은 고딕"/>
              </a:rPr>
              <a:t>•  Idle이 아닌 모든 사용자 세션의 CPU 시간 + 대기 시간</a:t>
            </a:r>
          </a:p>
          <a:p>
            <a:pPr algn="l">
              <a:spcAft>
                <a:spcPts val="800"/>
              </a:spcAft>
            </a:pPr>
            <a:r>
              <a:rPr sz="1700" b="0">
                <a:solidFill>
                  <a:srgbClr val="222222"/>
                </a:solidFill>
                <a:latin typeface="맑은 고딕"/>
                <a:ea typeface="맑은 고딕"/>
                <a:cs typeface="맑은 고딕"/>
              </a:rPr>
              <a:t>•  V$SESS_TIME_MODEL(세션) / V$SYS_TIME_MODEL(시스템)</a:t>
            </a:r>
          </a:p>
          <a:p>
            <a:pPr algn="l">
              <a:spcAft>
                <a:spcPts val="800"/>
              </a:spcAft>
            </a:pPr>
            <a:r>
              <a:rPr sz="1700" b="0">
                <a:solidFill>
                  <a:srgbClr val="222222"/>
                </a:solidFill>
                <a:latin typeface="맑은 고딕"/>
                <a:ea typeface="맑은 고딕"/>
                <a:cs typeface="맑은 고딕"/>
              </a:rPr>
              <a:t>•  성능 개선 = 같은 워크로드의 DB Time을 줄이는 것</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벽시계 초과 · Average Active Sessions</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놓치기 쉬운 두 가지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DB Time은 모든 세션 시간의 합 → 벽시계 시간 초과 가능</a:t>
            </a:r>
          </a:p>
          <a:p>
            <a:pPr algn="l">
              <a:spcAft>
                <a:spcPts val="800"/>
              </a:spcAft>
            </a:pPr>
            <a:r>
              <a:rPr sz="1700" b="0">
                <a:solidFill>
                  <a:srgbClr val="222222"/>
                </a:solidFill>
                <a:latin typeface="맑은 고딕"/>
                <a:ea typeface="맑은 고딕"/>
                <a:cs typeface="맑은 고딕"/>
              </a:rPr>
              <a:t>•  예: 기동 30분, 활성 세션 4개 → 누적 DB Time ≈ 120분</a:t>
            </a:r>
          </a:p>
          <a:p>
            <a:pPr algn="l">
              <a:spcAft>
                <a:spcPts val="800"/>
              </a:spcAft>
            </a:pPr>
            <a:r>
              <a:rPr sz="1700" b="0">
                <a:solidFill>
                  <a:srgbClr val="222222"/>
                </a:solidFill>
                <a:latin typeface="맑은 고딕"/>
                <a:ea typeface="맑은 고딕"/>
                <a:cs typeface="맑은 고딕"/>
              </a:rPr>
              <a:t>•  AAS = 구간 DB Time ÷ 구간 벽시계 시간(평균 활성 세션 수)</a:t>
            </a:r>
          </a:p>
          <a:p>
            <a:pPr algn="l">
              <a:spcAft>
                <a:spcPts val="800"/>
              </a:spcAft>
            </a:pPr>
            <a:r>
              <a:rPr sz="1700" b="0">
                <a:solidFill>
                  <a:srgbClr val="222222"/>
                </a:solidFill>
                <a:latin typeface="맑은 고딕"/>
                <a:ea typeface="맑은 고딕"/>
                <a:cs typeface="맑은 고딕"/>
              </a:rPr>
              <a:t>•  AAS를 CPU 코어 수와 비교해 붐빈 정도를 가늠</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이질적 문제를 한 저울에</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시간이 공통 척도인 이유</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느린 SQL·잠금 경합·I/O 지연은 서로 다른 단위</a:t>
            </a:r>
          </a:p>
          <a:p>
            <a:pPr algn="l">
              <a:spcAft>
                <a:spcPts val="800"/>
              </a:spcAft>
            </a:pPr>
            <a:r>
              <a:rPr sz="1700" b="0">
                <a:solidFill>
                  <a:srgbClr val="222222"/>
                </a:solidFill>
                <a:latin typeface="맑은 고딕"/>
                <a:ea typeface="맑은 고딕"/>
                <a:cs typeface="맑은 고딕"/>
              </a:rPr>
              <a:t>•  모두 'DB Time의 몇 %'로 환산하면 나란히 비교 가능</a:t>
            </a:r>
          </a:p>
          <a:p>
            <a:pPr algn="l">
              <a:spcAft>
                <a:spcPts val="800"/>
              </a:spcAft>
            </a:pPr>
            <a:r>
              <a:rPr sz="1700" b="0">
                <a:solidFill>
                  <a:srgbClr val="222222"/>
                </a:solidFill>
                <a:latin typeface="맑은 고딕"/>
                <a:ea typeface="맑은 고딕"/>
                <a:cs typeface="맑은 고딕"/>
              </a:rPr>
              <a:t>•  상위 대기 하나가 아니라 'DB Time 비중과 함께' 본다</a:t>
            </a:r>
          </a:p>
          <a:p>
            <a:pPr algn="l">
              <a:spcAft>
                <a:spcPts val="800"/>
              </a:spcAft>
            </a:pPr>
            <a:r>
              <a:rPr sz="1700" b="0">
                <a:solidFill>
                  <a:srgbClr val="222222"/>
                </a:solidFill>
                <a:latin typeface="맑은 고딕"/>
                <a:ea typeface="맑은 고딕"/>
                <a:cs typeface="맑은 고딕"/>
              </a:rPr>
              <a:t>•  조치의 가치도 DB Time 비중 감소로 평가한다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ea typeface="맑은 고딕"/>
                <a:cs typeface="맑은 고딕"/>
              </a:rPr>
              <a:t>5.4</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cs typeface="맑은 고딕"/>
              </a:rPr>
              <a:t>시간 모델</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400"/>
              </a:spcAft>
            </a:pPr>
            <a:r>
              <a:rPr sz="1600" b="0">
                <a:solidFill>
                  <a:srgbClr val="FFFFFF"/>
                </a:solidFill>
                <a:latin typeface="맑은 고딕"/>
                <a:ea typeface="맑은 고딕"/>
                <a:cs typeface="맑은 고딕"/>
              </a:rPr>
              <a:t>•  시스템 vs 세션 범위</a:t>
            </a:r>
          </a:p>
          <a:p>
            <a:pPr algn="l">
              <a:spcAft>
                <a:spcPts val="400"/>
              </a:spcAft>
            </a:pPr>
            <a:r>
              <a:rPr sz="1600" b="0">
                <a:solidFill>
                  <a:srgbClr val="FFFFFF"/>
                </a:solidFill>
                <a:latin typeface="맑은 고딕"/>
                <a:ea typeface="맑은 고딕"/>
                <a:cs typeface="맑은 고딕"/>
              </a:rPr>
              <a:t>•  델타로 부하 측정</a:t>
            </a:r>
          </a:p>
          <a:p>
            <a:pPr algn="l">
              <a:spcAft>
                <a:spcPts val="400"/>
              </a:spcAft>
            </a:pPr>
            <a:r>
              <a:rPr sz="1600" b="0">
                <a:solidFill>
                  <a:srgbClr val="FFFFFF"/>
                </a:solidFill>
                <a:latin typeface="맑은 고딕"/>
                <a:ea typeface="맑은 고딕"/>
                <a:cs typeface="맑은 고딕"/>
              </a:rPr>
              <a:t>•  짧은 구간 노이즈</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V$SESS_TIME_MODEL — 세션 델타 실측</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부하 전후 차이 (약 0.3초 구간)</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spcAft>
                <a:spcPts val="0"/>
              </a:spcAft>
            </a:pPr>
            <a:r>
              <a:rPr sz="1250" b="0">
                <a:solidFill>
                  <a:srgbClr val="F2F2F2"/>
                </a:solidFill>
                <a:latin typeface="Consolas"/>
                <a:ea typeface="Consolas"/>
                <a:cs typeface="Consolas"/>
              </a:rPr>
              <a:t>-- 부하 전 캡처 → WL_06 축약 부하 → 부하 후 캡처 → 차이</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이 세션 DB time 델타 : 275,636 us  (약 0.28초)</a:t>
            </a:r>
          </a:p>
          <a:p>
            <a:pPr algn="l">
              <a:spcAft>
                <a:spcPts val="0"/>
              </a:spcAft>
            </a:pPr>
            <a:r>
              <a:rPr sz="1250" b="0">
                <a:solidFill>
                  <a:srgbClr val="F2F2F2"/>
                </a:solidFill>
                <a:latin typeface="Consolas"/>
                <a:ea typeface="Consolas"/>
                <a:cs typeface="Consolas"/>
              </a:rPr>
              <a:t>이 세션 DB CPU  델타 : 297,047 us  (약 0.30초)</a:t>
            </a:r>
          </a:p>
          <a:p>
            <a:pPr algn="l">
              <a:spcAft>
                <a:spcPts val="0"/>
              </a:spcAft>
            </a:pPr>
            <a:r>
              <a:rPr sz="1250" b="0">
                <a:solidFill>
                  <a:srgbClr val="F2F2F2"/>
                </a:solidFill>
                <a:latin typeface="Consolas"/>
                <a:ea typeface="Consolas"/>
                <a:cs typeface="Consolas"/>
              </a:rPr>
              <a:t>-----------------------------------------------------</a:t>
            </a:r>
          </a:p>
          <a:p>
            <a:pPr algn="l">
              <a:spcAft>
                <a:spcPts val="0"/>
              </a:spcAft>
            </a:pPr>
            <a:r>
              <a:rPr sz="1250" b="0">
                <a:solidFill>
                  <a:srgbClr val="F2F2F2"/>
                </a:solidFill>
                <a:latin typeface="Consolas"/>
                <a:ea typeface="Consolas"/>
                <a:cs typeface="Consolas"/>
              </a:rPr>
              <a:t>→ DB time 대비 CPU 107.8% ,  대기 -7.8%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왜 CPU가 DB time보다 큰가</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짧은 구간의 노이즈 — 핵심 교훈</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0.3초 구간 → 카운터 갱신 시점 어긋남 + 반올림 = 불안정</a:t>
            </a:r>
          </a:p>
          <a:p>
            <a:pPr algn="l">
              <a:spcAft>
                <a:spcPts val="800"/>
              </a:spcAft>
            </a:pPr>
            <a:r>
              <a:rPr sz="1700" b="0">
                <a:solidFill>
                  <a:srgbClr val="222222"/>
                </a:solidFill>
                <a:latin typeface="맑은 고딕"/>
                <a:ea typeface="맑은 고딕"/>
                <a:cs typeface="맑은 고딕"/>
              </a:rPr>
              <a:t>•  버그·오차가 아니라 짧은 순간의 특성</a:t>
            </a:r>
          </a:p>
          <a:p>
            <a:pPr algn="l">
              <a:spcAft>
                <a:spcPts val="800"/>
              </a:spcAft>
            </a:pPr>
            <a:r>
              <a:rPr sz="1700" b="0">
                <a:solidFill>
                  <a:srgbClr val="222222"/>
                </a:solidFill>
                <a:latin typeface="맑은 고딕"/>
                <a:ea typeface="맑은 고딕"/>
                <a:cs typeface="맑은 고딕"/>
              </a:rPr>
              <a:t>•  대기의 실체는 시간 모델이 아니라 V$SESSION_EVENT로 확인</a:t>
            </a:r>
          </a:p>
          <a:p>
            <a:pPr algn="l">
              <a:spcAft>
                <a:spcPts val="800"/>
              </a:spcAft>
            </a:pPr>
            <a:r>
              <a:rPr sz="1700" b="0">
                <a:solidFill>
                  <a:srgbClr val="222222"/>
                </a:solidFill>
                <a:latin typeface="맑은 고딕"/>
                <a:ea typeface="맑은 고딕"/>
                <a:cs typeface="맑은 고딕"/>
              </a:rPr>
              <a:t>•  정확한 비율은 수 분 구간(AWR)으로 → 6장</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시간 모델의 계층</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시간이 어디로 갔는가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최상위 DB time 아래 sql execute / parse / PL/SQL execution</a:t>
            </a:r>
          </a:p>
          <a:p>
            <a:pPr algn="l">
              <a:spcAft>
                <a:spcPts val="800"/>
              </a:spcAft>
            </a:pPr>
            <a:r>
              <a:rPr sz="1700" b="0">
                <a:solidFill>
                  <a:srgbClr val="222222"/>
                </a:solidFill>
                <a:latin typeface="맑은 고딕"/>
                <a:ea typeface="맑은 고딕"/>
                <a:cs typeface="맑은 고딕"/>
              </a:rPr>
              <a:t>•  parse time elapsed 아래 hard parse elapsed time</a:t>
            </a:r>
          </a:p>
          <a:p>
            <a:pPr algn="l">
              <a:spcAft>
                <a:spcPts val="800"/>
              </a:spcAft>
            </a:pPr>
            <a:r>
              <a:rPr sz="1700" b="0">
                <a:solidFill>
                  <a:srgbClr val="222222"/>
                </a:solidFill>
                <a:latin typeface="맑은 고딕"/>
                <a:ea typeface="맑은 고딕"/>
                <a:cs typeface="맑은 고딕"/>
              </a:rPr>
              <a:t>•  상위가 하위를 포함 — 단순 합산으로 DB time이 되지 않음</a:t>
            </a:r>
          </a:p>
          <a:p>
            <a:pPr algn="l">
              <a:spcAft>
                <a:spcPts val="800"/>
              </a:spcAft>
            </a:pPr>
            <a:r>
              <a:rPr sz="1700" b="0">
                <a:solidFill>
                  <a:srgbClr val="222222"/>
                </a:solidFill>
                <a:latin typeface="맑은 고딕"/>
                <a:ea typeface="맑은 고딕"/>
                <a:cs typeface="맑은 고딕"/>
              </a:rPr>
              <a:t>•  위→아래로 좁혀 가며 '시간의 행방'을 짚는 지도로 쓴다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ea typeface="맑은 고딕"/>
                <a:cs typeface="맑은 고딕"/>
              </a:rPr>
              <a:t>5.5</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cs typeface="맑은 고딕"/>
              </a:rPr>
              <a:t>대기와 대기 클래스</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400"/>
              </a:spcAft>
            </a:pPr>
            <a:r>
              <a:rPr sz="1600" b="0">
                <a:solidFill>
                  <a:srgbClr val="FFFFFF"/>
                </a:solidFill>
                <a:latin typeface="맑은 고딕"/>
                <a:ea typeface="맑은 고딕"/>
                <a:cs typeface="맑은 고딕"/>
              </a:rPr>
              <a:t>•  12개 대기 클래스</a:t>
            </a:r>
          </a:p>
          <a:p>
            <a:pPr algn="l">
              <a:spcAft>
                <a:spcPts val="400"/>
              </a:spcAft>
            </a:pPr>
            <a:r>
              <a:rPr sz="1600" b="0">
                <a:solidFill>
                  <a:srgbClr val="FFFFFF"/>
                </a:solidFill>
                <a:latin typeface="맑은 고딕"/>
                <a:ea typeface="맑은 고딕"/>
                <a:cs typeface="맑은 고딕"/>
              </a:rPr>
              <a:t>•  V$SESSION_EVENT = 증거</a:t>
            </a:r>
          </a:p>
          <a:p>
            <a:pPr algn="l">
              <a:spcAft>
                <a:spcPts val="400"/>
              </a:spcAft>
            </a:pPr>
            <a:r>
              <a:rPr sz="1600" b="0">
                <a:solidFill>
                  <a:srgbClr val="FFFFFF"/>
                </a:solidFill>
                <a:latin typeface="맑은 고딕"/>
                <a:ea typeface="맑은 고딕"/>
                <a:cs typeface="맑은 고딕"/>
              </a:rPr>
              <a:t>•  Idle은 항상 제외</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대기 이벤트와 12개 클래스</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증상이지 원인이 아니다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대기 이벤트 = 처리를 멈추고 무언가를 기다린 통계</a:t>
            </a:r>
          </a:p>
          <a:p>
            <a:pPr algn="l">
              <a:spcAft>
                <a:spcPts val="800"/>
              </a:spcAft>
            </a:pPr>
            <a:r>
              <a:rPr sz="1700" b="0">
                <a:solidFill>
                  <a:srgbClr val="222222"/>
                </a:solidFill>
                <a:latin typeface="맑은 고딕"/>
                <a:ea typeface="맑은 고딕"/>
                <a:cs typeface="맑은 고딕"/>
              </a:rPr>
              <a:t>•  수백 개 이벤트를 12개 클래스로 묶음(같은 해법 기준)</a:t>
            </a:r>
          </a:p>
          <a:p>
            <a:pPr algn="l">
              <a:spcAft>
                <a:spcPts val="800"/>
              </a:spcAft>
            </a:pPr>
            <a:r>
              <a:rPr sz="1700" b="0">
                <a:solidFill>
                  <a:srgbClr val="222222"/>
                </a:solidFill>
                <a:latin typeface="맑은 고딕"/>
                <a:ea typeface="맑은 고딕"/>
                <a:cs typeface="맑은 고딕"/>
              </a:rPr>
              <a:t>•  User I/O · System I/O · Commit · Concurrency · Application ...</a:t>
            </a:r>
          </a:p>
          <a:p>
            <a:pPr algn="l">
              <a:spcAft>
                <a:spcPts val="800"/>
              </a:spcAft>
            </a:pPr>
            <a:r>
              <a:rPr sz="1700" b="0">
                <a:solidFill>
                  <a:srgbClr val="222222"/>
                </a:solidFill>
                <a:latin typeface="맑은 고딕"/>
                <a:ea typeface="맑은 고딕"/>
                <a:cs typeface="맑은 고딕"/>
              </a:rPr>
              <a:t>•  Idle(SQL*Net message from client 등)은 병목 아님 → 제외</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V$SESSION_EVENT — 대기의 실측 증거</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이 세션이 기다린 것 (Idle 제외)</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spcAft>
                <a:spcPts val="0"/>
              </a:spcAft>
            </a:pPr>
            <a:r>
              <a:rPr sz="1250" b="0">
                <a:solidFill>
                  <a:srgbClr val="F2F2F2"/>
                </a:solidFill>
                <a:latin typeface="Consolas"/>
                <a:ea typeface="Consolas"/>
                <a:cs typeface="Consolas"/>
              </a:rPr>
              <a:t>SQLT@orcl&gt; SELECT event, total_waits, time_waited_micro/1000 ms</a:t>
            </a:r>
          </a:p>
          <a:p>
            <a:pPr algn="l">
              <a:spcAft>
                <a:spcPts val="0"/>
              </a:spcAft>
            </a:pPr>
            <a:r>
              <a:rPr sz="1250" b="0">
                <a:solidFill>
                  <a:srgbClr val="F2F2F2"/>
                </a:solidFill>
                <a:latin typeface="Consolas"/>
                <a:ea typeface="Consolas"/>
                <a:cs typeface="Consolas"/>
              </a:rPr>
              <a:t>  2       FROM v$session_event WHERE sid=&lt;내SID&gt;</a:t>
            </a:r>
          </a:p>
          <a:p>
            <a:pPr algn="l">
              <a:spcAft>
                <a:spcPts val="0"/>
              </a:spcAft>
            </a:pPr>
            <a:r>
              <a:rPr sz="1250" b="0">
                <a:solidFill>
                  <a:srgbClr val="F2F2F2"/>
                </a:solidFill>
                <a:latin typeface="Consolas"/>
                <a:ea typeface="Consolas"/>
                <a:cs typeface="Consolas"/>
              </a:rPr>
              <a:t>  3       AND wait_class&lt;&gt;'Idle' ORDER BY time_waited_micro DESC;</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EVENT                          TOTAL_WAITS   MS_WAITED</a:t>
            </a:r>
          </a:p>
          <a:p>
            <a:pPr algn="l">
              <a:spcAft>
                <a:spcPts val="0"/>
              </a:spcAft>
            </a:pPr>
            <a:r>
              <a:rPr sz="1250" b="0">
                <a:solidFill>
                  <a:srgbClr val="F2F2F2"/>
                </a:solidFill>
                <a:latin typeface="Consolas"/>
                <a:ea typeface="Consolas"/>
                <a:cs typeface="Consolas"/>
              </a:rPr>
              <a:t>------------------------------ ----------- -----------</a:t>
            </a:r>
          </a:p>
          <a:p>
            <a:pPr algn="l">
              <a:spcAft>
                <a:spcPts val="0"/>
              </a:spcAft>
            </a:pPr>
            <a:r>
              <a:rPr sz="1250" b="0">
                <a:solidFill>
                  <a:srgbClr val="F2F2F2"/>
                </a:solidFill>
                <a:latin typeface="Consolas"/>
                <a:ea typeface="Consolas"/>
                <a:cs typeface="Consolas"/>
              </a:rPr>
              <a:t>db file scattered read                 120          65</a:t>
            </a:r>
          </a:p>
          <a:p>
            <a:pPr algn="l">
              <a:spcAft>
                <a:spcPts val="0"/>
              </a:spcAft>
            </a:pPr>
            <a:r>
              <a:rPr sz="1250" b="0">
                <a:solidFill>
                  <a:srgbClr val="F2F2F2"/>
                </a:solidFill>
                <a:latin typeface="Consolas"/>
                <a:ea typeface="Consolas"/>
                <a:cs typeface="Consolas"/>
              </a:rPr>
              <a:t>db file sequential read                 12          17</a:t>
            </a:r>
          </a:p>
          <a:p>
            <a:pPr algn="l">
              <a:spcAft>
                <a:spcPts val="0"/>
              </a:spcAft>
            </a:pPr>
            <a:r>
              <a:rPr sz="1250" b="0">
                <a:solidFill>
                  <a:srgbClr val="F2F2F2"/>
                </a:solidFill>
                <a:latin typeface="Consolas"/>
                <a:ea typeface="Consolas"/>
                <a:cs typeface="Consolas"/>
              </a:rPr>
              <a:t>log file sync                            1           0</a:t>
            </a:r>
          </a:p>
          <a:p>
            <a:pPr algn="l">
              <a:spcAft>
                <a:spcPts val="0"/>
              </a:spcAft>
            </a:pPr>
            <a:r>
              <a:rPr sz="1250" b="0">
                <a:solidFill>
                  <a:srgbClr val="F2F2F2"/>
                </a:solidFill>
                <a:latin typeface="Consolas"/>
                <a:ea typeface="Consolas"/>
                <a:cs typeface="Consolas"/>
              </a:rPr>
              <a:t>SQL*Net message to client               12           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V$SYSTEM_WAIT_CLASS — 클래스별 집계</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기동 이후 누적, Idle 제외</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spcAft>
                <a:spcPts val="0"/>
              </a:spcAft>
            </a:pPr>
            <a:r>
              <a:rPr sz="1250" b="0">
                <a:solidFill>
                  <a:srgbClr val="F2F2F2"/>
                </a:solidFill>
                <a:latin typeface="Consolas"/>
                <a:ea typeface="Consolas"/>
                <a:cs typeface="Consolas"/>
              </a:rPr>
              <a:t>SYS@orcl&gt; SELECT wait_class, total_waits, time_waited/100 sec</a:t>
            </a:r>
          </a:p>
          <a:p>
            <a:pPr algn="l">
              <a:spcAft>
                <a:spcPts val="0"/>
              </a:spcAft>
            </a:pPr>
            <a:r>
              <a:rPr sz="1250" b="0">
                <a:solidFill>
                  <a:srgbClr val="F2F2F2"/>
                </a:solidFill>
                <a:latin typeface="Consolas"/>
                <a:ea typeface="Consolas"/>
                <a:cs typeface="Consolas"/>
              </a:rPr>
              <a:t>  2       FROM v$system_wait_class WHERE wait_class&lt;&gt;'Idle'</a:t>
            </a:r>
          </a:p>
          <a:p>
            <a:pPr algn="l">
              <a:spcAft>
                <a:spcPts val="0"/>
              </a:spcAft>
            </a:pPr>
            <a:r>
              <a:rPr sz="1250" b="0">
                <a:solidFill>
                  <a:srgbClr val="F2F2F2"/>
                </a:solidFill>
                <a:latin typeface="Consolas"/>
                <a:ea typeface="Consolas"/>
                <a:cs typeface="Consolas"/>
              </a:rPr>
              <a:t>  3       ORDER BY time_waited DESC;</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WAIT_CLASS       TOTAL_WAITS        SEC</a:t>
            </a:r>
          </a:p>
          <a:p>
            <a:pPr algn="l">
              <a:spcAft>
                <a:spcPts val="0"/>
              </a:spcAft>
            </a:pPr>
            <a:r>
              <a:rPr sz="1250" b="0">
                <a:solidFill>
                  <a:srgbClr val="F2F2F2"/>
                </a:solidFill>
                <a:latin typeface="Consolas"/>
                <a:ea typeface="Consolas"/>
                <a:cs typeface="Consolas"/>
              </a:rPr>
              <a:t>---------------- ----------- ----------</a:t>
            </a:r>
          </a:p>
          <a:p>
            <a:pPr algn="l">
              <a:spcAft>
                <a:spcPts val="0"/>
              </a:spcAft>
            </a:pPr>
            <a:r>
              <a:rPr sz="1250" b="0">
                <a:solidFill>
                  <a:srgbClr val="F2F2F2"/>
                </a:solidFill>
                <a:latin typeface="Consolas"/>
                <a:ea typeface="Consolas"/>
                <a:cs typeface="Consolas"/>
              </a:rPr>
              <a:t>Network                 8583        358</a:t>
            </a:r>
          </a:p>
          <a:p>
            <a:pPr algn="l">
              <a:spcAft>
                <a:spcPts val="0"/>
              </a:spcAft>
            </a:pPr>
            <a:r>
              <a:rPr sz="1250" b="0">
                <a:solidFill>
                  <a:srgbClr val="F2F2F2"/>
                </a:solidFill>
                <a:latin typeface="Consolas"/>
                <a:ea typeface="Consolas"/>
                <a:cs typeface="Consolas"/>
              </a:rPr>
              <a:t>System I/O             81525         77</a:t>
            </a:r>
          </a:p>
          <a:p>
            <a:pPr algn="l">
              <a:spcAft>
                <a:spcPts val="0"/>
              </a:spcAft>
            </a:pPr>
            <a:r>
              <a:rPr sz="1250" b="0">
                <a:solidFill>
                  <a:srgbClr val="F2F2F2"/>
                </a:solidFill>
                <a:latin typeface="Consolas"/>
                <a:ea typeface="Consolas"/>
                <a:cs typeface="Consolas"/>
              </a:rPr>
              <a:t>User I/O               13860         52</a:t>
            </a:r>
          </a:p>
          <a:p>
            <a:pPr algn="l">
              <a:spcAft>
                <a:spcPts val="0"/>
              </a:spcAft>
            </a:pPr>
            <a:r>
              <a:rPr sz="1250" b="0">
                <a:solidFill>
                  <a:srgbClr val="F2F2F2"/>
                </a:solidFill>
                <a:latin typeface="Consolas"/>
                <a:ea typeface="Consolas"/>
                <a:cs typeface="Consolas"/>
              </a:rPr>
              <a:t>Other                  19811         27</a:t>
            </a:r>
          </a:p>
          <a:p>
            <a:pPr algn="l">
              <a:spcAft>
                <a:spcPts val="0"/>
              </a:spcAft>
            </a:pPr>
            <a:r>
              <a:rPr sz="1250" b="0">
                <a:solidFill>
                  <a:srgbClr val="F2F2F2"/>
                </a:solidFill>
                <a:latin typeface="Consolas"/>
                <a:ea typeface="Consolas"/>
                <a:cs typeface="Consolas"/>
              </a:rPr>
              <a:t>Application              128          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세션·시스템 통계와 ASH</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V$SYSSTAT · V$SESSTAT · ASH</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논리/물리 읽기·redo·파싱·커밋·정렬 = V$SYSSTAT/V$SESSTAT</a:t>
            </a:r>
          </a:p>
          <a:p>
            <a:pPr algn="l">
              <a:spcAft>
                <a:spcPts val="800"/>
              </a:spcAft>
            </a:pPr>
            <a:r>
              <a:rPr sz="1700" b="0">
                <a:solidFill>
                  <a:srgbClr val="222222"/>
                </a:solidFill>
                <a:latin typeface="맑은 고딕"/>
                <a:ea typeface="맑은 고딕"/>
                <a:cs typeface="맑은 고딕"/>
              </a:rPr>
              <a:t>•  대기와 짝: db file scattered read↑ ↔ physical reads↑</a:t>
            </a:r>
          </a:p>
          <a:p>
            <a:pPr algn="l">
              <a:spcAft>
                <a:spcPts val="800"/>
              </a:spcAft>
            </a:pPr>
            <a:r>
              <a:rPr sz="1700" b="0">
                <a:solidFill>
                  <a:srgbClr val="222222"/>
                </a:solidFill>
                <a:latin typeface="맑은 고딕"/>
                <a:ea typeface="맑은 고딕"/>
                <a:cs typeface="맑은 고딕"/>
              </a:rPr>
              <a:t>•  이 카운터도 누적 → 델타로 본다(AWR Instance Activity)</a:t>
            </a:r>
          </a:p>
          <a:p>
            <a:pPr algn="l">
              <a:spcAft>
                <a:spcPts val="800"/>
              </a:spcAft>
            </a:pPr>
            <a:r>
              <a:rPr sz="1700" b="0">
                <a:solidFill>
                  <a:srgbClr val="222222"/>
                </a:solidFill>
                <a:latin typeface="맑은 고딕"/>
                <a:ea typeface="맑은 고딕"/>
                <a:cs typeface="맑은 고딕"/>
              </a:rPr>
              <a:t>•  ASH: 활성 세션 1초 샘플링 = 🔒 Diagnostics Pack(개념만, 10장)</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ea typeface="맑은 고딕"/>
                <a:cs typeface="맑은 고딕"/>
              </a:rPr>
              <a:t>5.6</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cs typeface="맑은 고딕"/>
              </a:rPr>
              <a:t>통계 해석의 원칙</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400"/>
              </a:spcAft>
            </a:pPr>
            <a:r>
              <a:rPr sz="1600" b="0">
                <a:solidFill>
                  <a:srgbClr val="FFFFFF"/>
                </a:solidFill>
                <a:latin typeface="맑은 고딕"/>
                <a:ea typeface="맑은 고딕"/>
                <a:cs typeface="맑은 고딕"/>
              </a:rPr>
              <a:t>•  히트율은 지표</a:t>
            </a:r>
          </a:p>
          <a:p>
            <a:pPr algn="l">
              <a:spcAft>
                <a:spcPts val="400"/>
              </a:spcAft>
            </a:pPr>
            <a:r>
              <a:rPr sz="1600" b="0">
                <a:solidFill>
                  <a:srgbClr val="FFFFFF"/>
                </a:solidFill>
                <a:latin typeface="맑은 고딕"/>
                <a:ea typeface="맑은 고딕"/>
                <a:cs typeface="맑은 고딕"/>
              </a:rPr>
              <a:t>•  대기는 시간과 함께</a:t>
            </a:r>
          </a:p>
          <a:p>
            <a:pPr algn="l">
              <a:spcAft>
                <a:spcPts val="400"/>
              </a:spcAft>
            </a:pPr>
            <a:r>
              <a:rPr sz="1600" b="0">
                <a:solidFill>
                  <a:srgbClr val="FFFFFF"/>
                </a:solidFill>
                <a:latin typeface="맑은 고딕"/>
                <a:ea typeface="맑은 고딕"/>
                <a:cs typeface="맑은 고딕"/>
              </a:rPr>
              <a:t>•  숫자 하나로 결론 X</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히트율은 판정자가 아니라 지표</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단일 비율의 함정</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히트율·소프트 파스 비율·래치 히트율 = 지표(indicator)</a:t>
            </a:r>
          </a:p>
          <a:p>
            <a:pPr algn="l">
              <a:spcAft>
                <a:spcPts val="800"/>
              </a:spcAft>
            </a:pPr>
            <a:r>
              <a:rPr sz="1700" b="0">
                <a:solidFill>
                  <a:srgbClr val="222222"/>
                </a:solidFill>
                <a:latin typeface="맑은 고딕"/>
                <a:ea typeface="맑은 고딕"/>
                <a:cs typeface="맑은 고딕"/>
              </a:rPr>
              <a:t>•  비효율 SQL이 같은 블록 반복 읽으면 히트율은 오히려 상승</a:t>
            </a:r>
          </a:p>
          <a:p>
            <a:pPr algn="l">
              <a:spcAft>
                <a:spcPts val="800"/>
              </a:spcAft>
            </a:pPr>
            <a:r>
              <a:rPr sz="1700" b="0">
                <a:solidFill>
                  <a:srgbClr val="222222"/>
                </a:solidFill>
                <a:latin typeface="맑은 고딕"/>
                <a:ea typeface="맑은 고딕"/>
                <a:cs typeface="맑은 고딕"/>
              </a:rPr>
              <a:t>•  히트율 99%인데 응답시간이 나쁠 수 있다(17장 재현)</a:t>
            </a:r>
          </a:p>
          <a:p>
            <a:pPr algn="l">
              <a:spcAft>
                <a:spcPts val="800"/>
              </a:spcAft>
            </a:pPr>
            <a:r>
              <a:rPr sz="1700" b="0">
                <a:solidFill>
                  <a:srgbClr val="222222"/>
                </a:solidFill>
                <a:latin typeface="맑은 고딕"/>
                <a:ea typeface="맑은 고딕"/>
                <a:cs typeface="맑은 고딕"/>
              </a:rPr>
              <a:t>•  봐야 할 것은 '논리 읽기 자체가 왜 많은가'</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대기는 시간과, 계산 통계는 카운트와</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TIMED_STATISTICS · Idle · 원시 카운트</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TIMED_STATISTICS로 대기 시간 수집(TYPICAL이면 자동)</a:t>
            </a:r>
          </a:p>
          <a:p>
            <a:pPr algn="l">
              <a:spcAft>
                <a:spcPts val="800"/>
              </a:spcAft>
            </a:pPr>
            <a:r>
              <a:rPr sz="1700" b="0">
                <a:solidFill>
                  <a:srgbClr val="222222"/>
                </a:solidFill>
                <a:latin typeface="맑은 고딕"/>
                <a:ea typeface="맑은 고딕"/>
                <a:cs typeface="맑은 고딕"/>
              </a:rPr>
              <a:t>•  30초/2시간 vs 30분/45분 — 시간 비중으로 판단</a:t>
            </a:r>
          </a:p>
          <a:p>
            <a:pPr algn="l">
              <a:spcAft>
                <a:spcPts val="800"/>
              </a:spcAft>
            </a:pPr>
            <a:r>
              <a:rPr sz="1700" b="0">
                <a:solidFill>
                  <a:srgbClr val="222222"/>
                </a:solidFill>
                <a:latin typeface="맑은 고딕"/>
                <a:ea typeface="맑은 고딕"/>
                <a:cs typeface="맑은 고딕"/>
              </a:rPr>
              <a:t>•  Idle 이벤트는 병목 아님 → 조사에서 제외</a:t>
            </a:r>
          </a:p>
          <a:p>
            <a:pPr algn="l">
              <a:spcAft>
                <a:spcPts val="800"/>
              </a:spcAft>
            </a:pPr>
            <a:r>
              <a:rPr sz="1700" b="0">
                <a:solidFill>
                  <a:srgbClr val="222222"/>
                </a:solidFill>
                <a:latin typeface="맑은 고딕"/>
                <a:ea typeface="맑은 고딕"/>
                <a:cs typeface="맑은 고딕"/>
              </a:rPr>
              <a:t>•  계산 통계는 원시 카운트로 검증(소프트 파스 50%의 함정)</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통계를 다른 요인과 함께 본다</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같은 숫자, 다른 의미</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대기 비중에 사용자 부하·하드웨어 능력도 함께 고려</a:t>
            </a:r>
          </a:p>
          <a:p>
            <a:pPr algn="l">
              <a:spcAft>
                <a:spcPts val="800"/>
              </a:spcAft>
            </a:pPr>
            <a:r>
              <a:rPr sz="1700" b="0">
                <a:solidFill>
                  <a:srgbClr val="222222"/>
                </a:solidFill>
                <a:latin typeface="맑은 고딕"/>
                <a:ea typeface="맑은 고딕"/>
                <a:cs typeface="맑은 고딕"/>
              </a:rPr>
              <a:t>•  45분 중 30분 대기라도 2,000명·64노드면 문제 아닐 수 있다</a:t>
            </a:r>
          </a:p>
          <a:p>
            <a:pPr algn="l">
              <a:spcAft>
                <a:spcPts val="800"/>
              </a:spcAft>
            </a:pPr>
            <a:r>
              <a:rPr sz="1700" b="0">
                <a:solidFill>
                  <a:srgbClr val="222222"/>
                </a:solidFill>
                <a:latin typeface="맑은 고딕"/>
                <a:ea typeface="맑은 고딕"/>
                <a:cs typeface="맑은 고딕"/>
              </a:rPr>
              <a:t>•  사용자 몇 명뿐 시스템에서 같은 비중이면 훨씬 심각</a:t>
            </a:r>
          </a:p>
          <a:p>
            <a:pPr algn="l">
              <a:spcAft>
                <a:spcPts val="800"/>
              </a:spcAft>
            </a:pPr>
            <a:r>
              <a:rPr sz="1700" b="0">
                <a:solidFill>
                  <a:srgbClr val="222222"/>
                </a:solidFill>
                <a:latin typeface="맑은 고딕"/>
                <a:ea typeface="맑은 고딕"/>
                <a:cs typeface="맑은 고딕"/>
              </a:rPr>
              <a:t>•  환경이 다르면 실측값도 다르다 → 절대값 단정 금지(&lt;환경값&gt;)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ea typeface="맑은 고딕"/>
                <a:cs typeface="맑은 고딕"/>
              </a:rPr>
              <a:t>5.7</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cs typeface="맑은 고딕"/>
              </a:rPr>
              <a:t>STATISTICS_LEVEL</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400"/>
              </a:spcAft>
            </a:pPr>
            <a:r>
              <a:rPr sz="1600" b="0">
                <a:solidFill>
                  <a:srgbClr val="FFFFFF"/>
                </a:solidFill>
                <a:latin typeface="맑은 고딕"/>
                <a:ea typeface="맑은 고딕"/>
                <a:cs typeface="맑은 고딕"/>
              </a:rPr>
              <a:t>•  측정을 켜는 스위치</a:t>
            </a:r>
          </a:p>
          <a:p>
            <a:pPr algn="l">
              <a:spcAft>
                <a:spcPts val="400"/>
              </a:spcAft>
            </a:pPr>
            <a:r>
              <a:rPr sz="1600" b="0">
                <a:solidFill>
                  <a:srgbClr val="FFFFFF"/>
                </a:solidFill>
                <a:latin typeface="맑은 고딕"/>
                <a:ea typeface="맑은 고딕"/>
                <a:cs typeface="맑은 고딕"/>
              </a:rPr>
              <a:t>•  BASIC/TYPICAL/ALL</a:t>
            </a:r>
          </a:p>
          <a:p>
            <a:pPr algn="l">
              <a:spcAft>
                <a:spcPts val="400"/>
              </a:spcAft>
            </a:pPr>
            <a:r>
              <a:rPr sz="1600" b="0">
                <a:solidFill>
                  <a:srgbClr val="FFFFFF"/>
                </a:solidFill>
                <a:latin typeface="맑은 고딕"/>
                <a:ea typeface="맑은 고딕"/>
                <a:cs typeface="맑은 고딕"/>
              </a:rPr>
              <a:t>•  이 장 무료 · AWR 🔒</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STATISTICS_LEVEL 확인</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측정 자체를 켜고 끄는 스위치</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spcAft>
                <a:spcPts val="0"/>
              </a:spcAft>
            </a:pPr>
            <a:r>
              <a:rPr sz="1250" b="0">
                <a:solidFill>
                  <a:srgbClr val="F2F2F2"/>
                </a:solidFill>
                <a:latin typeface="Consolas"/>
                <a:ea typeface="Consolas"/>
                <a:cs typeface="Consolas"/>
              </a:rPr>
              <a:t>SYS@orcl&gt; SELECT name, value FROM v$parameter</a:t>
            </a:r>
          </a:p>
          <a:p>
            <a:pPr algn="l">
              <a:spcAft>
                <a:spcPts val="0"/>
              </a:spcAft>
            </a:pPr>
            <a:r>
              <a:rPr sz="1250" b="0">
                <a:solidFill>
                  <a:srgbClr val="F2F2F2"/>
                </a:solidFill>
                <a:latin typeface="Consolas"/>
                <a:ea typeface="Consolas"/>
                <a:cs typeface="Consolas"/>
              </a:rPr>
              <a:t>  2       WHERE name = 'statistics_level';</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NAME                 VALUE</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statistics_level     TYPICAL</a:t>
            </a:r>
          </a:p>
          <a:p>
            <a:pPr algn="l">
              <a:spcAft>
                <a:spcPts val="0"/>
              </a:spcAft>
            </a:pPr>
            <a:r>
              <a:rPr sz="1250" b="0">
                <a:solidFill>
                  <a:srgbClr val="F2F2F2"/>
                </a:solidFill>
                <a:latin typeface="Consolas"/>
                <a:ea typeface="Consolas"/>
                <a:cs typeface="Consolas"/>
              </a:rPr>
              <a:t> </a:t>
            </a:r>
          </a:p>
          <a:p>
            <a:pPr algn="l">
              <a:spcAft>
                <a:spcPts val="0"/>
              </a:spcAft>
            </a:pPr>
            <a:r>
              <a:rPr sz="1250" b="0">
                <a:solidFill>
                  <a:srgbClr val="F2F2F2"/>
                </a:solidFill>
                <a:latin typeface="Consolas"/>
                <a:ea typeface="Consolas"/>
                <a:cs typeface="Consolas"/>
              </a:rPr>
              <a:t>-- BASIC  : 자동 통계·AWR·시간 모델 상당수 OFF (비권장)</a:t>
            </a:r>
          </a:p>
          <a:p>
            <a:pPr algn="l">
              <a:spcAft>
                <a:spcPts val="0"/>
              </a:spcAft>
            </a:pPr>
            <a:r>
              <a:rPr sz="1250" b="0">
                <a:solidFill>
                  <a:srgbClr val="F2F2F2"/>
                </a:solidFill>
                <a:latin typeface="Consolas"/>
                <a:ea typeface="Consolas"/>
                <a:cs typeface="Consolas"/>
              </a:rPr>
              <a:t>-- TYPICAL: 기본값·권장. TIMED_STATISTICS 자동 ON</a:t>
            </a:r>
          </a:p>
          <a:p>
            <a:pPr algn="l">
              <a:spcAft>
                <a:spcPts val="0"/>
              </a:spcAft>
            </a:pPr>
            <a:r>
              <a:rPr sz="1250" b="0">
                <a:solidFill>
                  <a:srgbClr val="F2F2F2"/>
                </a:solidFill>
                <a:latin typeface="Consolas"/>
                <a:ea typeface="Consolas"/>
                <a:cs typeface="Consolas"/>
              </a:rPr>
              <a:t>-- ALL    : TYPICAL + OS 통계·계획 통계(오버헤드 큼)</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라이선스 경계 — 이 장은 무료</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 다음 장부터 유상</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이 장의 뷰(시간 모델·대기 클래스·V$SESSION_EVENT 등) = 팩 불필요</a:t>
            </a:r>
          </a:p>
          <a:p>
            <a:pPr algn="l">
              <a:spcAft>
                <a:spcPts val="800"/>
              </a:spcAft>
            </a:pPr>
            <a:r>
              <a:rPr sz="1700" b="0">
                <a:solidFill>
                  <a:srgbClr val="222222"/>
                </a:solidFill>
                <a:latin typeface="맑은 고딕"/>
                <a:ea typeface="맑은 고딕"/>
                <a:cs typeface="맑은 고딕"/>
              </a:rPr>
              <a:t>•  라이선스 없이도 델타 기법으로 전부 측정 가능</a:t>
            </a:r>
          </a:p>
          <a:p>
            <a:pPr algn="l">
              <a:spcAft>
                <a:spcPts val="800"/>
              </a:spcAft>
            </a:pPr>
            <a:r>
              <a:rPr sz="1700" b="0">
                <a:solidFill>
                  <a:srgbClr val="222222"/>
                </a:solidFill>
                <a:latin typeface="맑은 고딕"/>
                <a:ea typeface="맑은 고딕"/>
                <a:cs typeface="맑은 고딕"/>
              </a:rPr>
              <a:t>•  AWR·ADDM·ASH·DBA_HIST_*·V$ACTIVE_SESSION_HISTORY = 🔒 Diagnostics Pack</a:t>
            </a:r>
          </a:p>
          <a:p>
            <a:pPr algn="l">
              <a:spcAft>
                <a:spcPts val="800"/>
              </a:spcAft>
            </a:pPr>
            <a:r>
              <a:rPr sz="1700" b="0">
                <a:solidFill>
                  <a:srgbClr val="222222"/>
                </a:solidFill>
                <a:latin typeface="맑은 고딕"/>
                <a:ea typeface="맑은 고딕"/>
                <a:cs typeface="맑은 고딕"/>
              </a:rPr>
              <a:t>•  대안: V$ 델타 + Statspack(무상). control_management_pack_access 확인</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ea typeface="맑은 고딕"/>
                <a:cs typeface="맑은 고딕"/>
              </a:rPr>
              <a:t>5.8</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cs typeface="맑은 고딕"/>
              </a:rPr>
              <a:t>부하 전후 측정 절차</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400"/>
              </a:spcAft>
            </a:pPr>
            <a:r>
              <a:rPr sz="1600" b="0">
                <a:solidFill>
                  <a:srgbClr val="FFFFFF"/>
                </a:solidFill>
                <a:latin typeface="맑은 고딕"/>
                <a:ea typeface="맑은 고딕"/>
                <a:cs typeface="맑은 고딕"/>
              </a:rPr>
              <a:t>•  4단계 캡처</a:t>
            </a:r>
          </a:p>
          <a:p>
            <a:pPr algn="l">
              <a:spcAft>
                <a:spcPts val="400"/>
              </a:spcAft>
            </a:pPr>
            <a:r>
              <a:rPr sz="1600" b="0">
                <a:solidFill>
                  <a:srgbClr val="FFFFFF"/>
                </a:solidFill>
                <a:latin typeface="맑은 고딕"/>
                <a:ea typeface="맑은 고딕"/>
                <a:cs typeface="맑은 고딕"/>
              </a:rPr>
              <a:t>•  Load Profile 환산</a:t>
            </a:r>
          </a:p>
          <a:p>
            <a:pPr algn="l">
              <a:spcAft>
                <a:spcPts val="400"/>
              </a:spcAft>
            </a:pPr>
            <a:r>
              <a:rPr sz="1600" b="0">
                <a:solidFill>
                  <a:srgbClr val="FFFFFF"/>
                </a:solidFill>
                <a:latin typeface="맑은 고딕"/>
                <a:ea typeface="맑은 고딕"/>
                <a:cs typeface="맑은 고딕"/>
              </a:rPr>
              <a:t>•  교차 검증</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부하 전후로 재는 4단계</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실습으로 이어지는 절차</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① 부하 직전 관심 통계 누적값 캡처(시간모델·통계·대기)</a:t>
            </a:r>
          </a:p>
          <a:p>
            <a:pPr algn="l">
              <a:spcAft>
                <a:spcPts val="800"/>
              </a:spcAft>
            </a:pPr>
            <a:r>
              <a:rPr sz="1700" b="0">
                <a:solidFill>
                  <a:srgbClr val="222222"/>
                </a:solidFill>
                <a:latin typeface="맑은 고딕"/>
                <a:ea typeface="맑은 고딕"/>
                <a:cs typeface="맑은 고딕"/>
              </a:rPr>
              <a:t>•  ② 부하를 일정 구간 실행(WL_06_mixed.sql)</a:t>
            </a:r>
          </a:p>
          <a:p>
            <a:pPr algn="l">
              <a:spcAft>
                <a:spcPts val="800"/>
              </a:spcAft>
            </a:pPr>
            <a:r>
              <a:rPr sz="1700" b="0">
                <a:solidFill>
                  <a:srgbClr val="222222"/>
                </a:solidFill>
                <a:latin typeface="맑은 고딕"/>
                <a:ea typeface="맑은 고딕"/>
                <a:cs typeface="맑은 고딕"/>
              </a:rPr>
              <a:t>•  ③ 부하 직후 같은 통계 재캡처</a:t>
            </a:r>
          </a:p>
          <a:p>
            <a:pPr algn="l">
              <a:spcAft>
                <a:spcPts val="800"/>
              </a:spcAft>
            </a:pPr>
            <a:r>
              <a:rPr sz="1700" b="0">
                <a:solidFill>
                  <a:srgbClr val="222222"/>
                </a:solidFill>
                <a:latin typeface="맑은 고딕"/>
                <a:ea typeface="맑은 고딕"/>
                <a:cs typeface="맑은 고딕"/>
              </a:rPr>
              <a:t>•  ④ 델타 계산 → 초당·트랜잭션당으로 환산(Load Profile 형식)</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환산과 교차 검증</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cs typeface="맑은 고딕"/>
              </a:rPr>
              <a:t>'느려진 것'과 '일이 늘어난 것'</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800"/>
              </a:spcAft>
            </a:pPr>
            <a:r>
              <a:rPr sz="1700" b="0">
                <a:solidFill>
                  <a:srgbClr val="222222"/>
                </a:solidFill>
                <a:latin typeface="맑은 고딕"/>
                <a:ea typeface="맑은 고딕"/>
                <a:cs typeface="맑은 고딕"/>
              </a:rPr>
              <a:t>•  초당·트랜잭션당 환산 → 구간 길이가 달라도 비교 가능</a:t>
            </a:r>
          </a:p>
          <a:p>
            <a:pPr algn="l">
              <a:spcAft>
                <a:spcPts val="800"/>
              </a:spcAft>
            </a:pPr>
            <a:r>
              <a:rPr sz="1700" b="0">
                <a:solidFill>
                  <a:srgbClr val="222222"/>
                </a:solidFill>
                <a:latin typeface="맑은 고딕"/>
                <a:ea typeface="맑은 고딕"/>
                <a:cs typeface="맑은 고딕"/>
              </a:rPr>
              <a:t>•  트랜잭션당 값이 부하 증가 vs 트랜잭션 무거워짐을 구분(→11장)</a:t>
            </a:r>
          </a:p>
          <a:p>
            <a:pPr algn="l">
              <a:spcAft>
                <a:spcPts val="800"/>
              </a:spcAft>
            </a:pPr>
            <a:r>
              <a:rPr sz="1700" b="0">
                <a:solidFill>
                  <a:srgbClr val="222222"/>
                </a:solidFill>
                <a:latin typeface="맑은 고딕"/>
                <a:ea typeface="맑은 고딕"/>
                <a:cs typeface="맑은 고딕"/>
              </a:rPr>
              <a:t>•  물리 읽기 델타↑ ↔ User I/O 대기 델타↑ 여야 앞뒤가 맞음</a:t>
            </a:r>
          </a:p>
          <a:p>
            <a:pPr algn="l">
              <a:spcAft>
                <a:spcPts val="800"/>
              </a:spcAft>
            </a:pPr>
            <a:r>
              <a:rPr sz="1700" b="0">
                <a:solidFill>
                  <a:srgbClr val="222222"/>
                </a:solidFill>
                <a:latin typeface="맑은 고딕"/>
                <a:ea typeface="맑은 고딕"/>
                <a:cs typeface="맑은 고딕"/>
              </a:rPr>
              <a:t>•  환산 값이 이상하면 먼저 '표본이 충분한가'부터 확인</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퀴즈 (Quiz)</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800"/>
              </a:spcAft>
            </a:pPr>
            <a:r>
              <a:rPr sz="1600" b="0">
                <a:solidFill>
                  <a:srgbClr val="222222"/>
                </a:solidFill>
                <a:latin typeface="맑은 고딕"/>
                <a:ea typeface="맑은 고딕"/>
                <a:cs typeface="맑은 고딕"/>
              </a:rPr>
              <a:t>•  Q1. DB Time의 정의와, DB Time이 벽시계 시간을 초과할 수 있는 이유를 쓰라.</a:t>
            </a:r>
          </a:p>
          <a:p>
            <a:pPr algn="l">
              <a:spcAft>
                <a:spcPts val="800"/>
              </a:spcAft>
            </a:pPr>
            <a:r>
              <a:rPr sz="1600" b="0">
                <a:solidFill>
                  <a:srgbClr val="222222"/>
                </a:solidFill>
                <a:latin typeface="맑은 고딕"/>
                <a:ea typeface="맑은 고딕"/>
                <a:cs typeface="맑은 고딕"/>
              </a:rPr>
              <a:t>•  Q2. 누적값과 델타값의 차이를 설명하고, 왜 판단을 델타로 해야 하는지 쓰라.</a:t>
            </a:r>
          </a:p>
          <a:p>
            <a:pPr algn="l">
              <a:spcAft>
                <a:spcPts val="800"/>
              </a:spcAft>
            </a:pPr>
            <a:r>
              <a:rPr sz="1600" b="0">
                <a:solidFill>
                  <a:srgbClr val="222222"/>
                </a:solidFill>
                <a:latin typeface="맑은 고딕"/>
                <a:ea typeface="맑은 고딕"/>
                <a:cs typeface="맑은 고딕"/>
              </a:rPr>
              <a:t>•  Q3. 0.3초 구간에서 DB CPU 델타(297,047)&gt;DB time 델타(275,636)인 원인과, 대기 확인 방법은?</a:t>
            </a:r>
          </a:p>
          <a:p>
            <a:pPr algn="l">
              <a:spcAft>
                <a:spcPts val="800"/>
              </a:spcAft>
            </a:pPr>
            <a:r>
              <a:rPr sz="1600" b="0">
                <a:solidFill>
                  <a:srgbClr val="222222"/>
                </a:solidFill>
                <a:latin typeface="맑은 고딕"/>
                <a:ea typeface="맑은 고딕"/>
                <a:cs typeface="맑은 고딕"/>
              </a:rPr>
              <a:t>•  Q4. 대기 집계에서 Idle을 제외하는 이유는? 대표 Idle 이벤트 하나를 들어라.</a:t>
            </a:r>
          </a:p>
          <a:p>
            <a:pPr algn="l">
              <a:spcAft>
                <a:spcPts val="800"/>
              </a:spcAft>
            </a:pPr>
            <a:r>
              <a:rPr sz="1600" b="0">
                <a:solidFill>
                  <a:srgbClr val="222222"/>
                </a:solidFill>
                <a:latin typeface="맑은 고딕"/>
                <a:ea typeface="맑은 고딕"/>
                <a:cs typeface="맑은 고딕"/>
              </a:rPr>
              <a:t>•  Q5. 계산 통계 해석 원칙 두 가지를 쓰라(소프트 파스 50% 예 포함).</a:t>
            </a:r>
          </a:p>
          <a:p>
            <a:pPr algn="l">
              <a:spcAft>
                <a:spcPts val="800"/>
              </a:spcAft>
            </a:pPr>
            <a:r>
              <a:rPr sz="1600" b="0">
                <a:solidFill>
                  <a:srgbClr val="222222"/>
                </a:solidFill>
                <a:latin typeface="맑은 고딕"/>
                <a:ea typeface="맑은 고딕"/>
                <a:cs typeface="맑은 고딕"/>
              </a:rPr>
              <a:t>•  Q6. STATISTICS_LEVEL 세 값과, 이 장과 6장 AWR의 라이선스 경계를 구분하라.</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요약 (Summary)</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700"/>
              </a:spcAft>
            </a:pPr>
            <a:r>
              <a:rPr sz="1600" b="0">
                <a:solidFill>
                  <a:srgbClr val="222222"/>
                </a:solidFill>
                <a:latin typeface="맑은 고딕"/>
                <a:ea typeface="맑은 고딕"/>
                <a:cs typeface="맑은 고딕"/>
              </a:rPr>
              <a:t>•  DB Time = DB CPU + 대기. 모든 비휴지 전경 세션 시간의 합, 이 과정의 공통 화폐.</a:t>
            </a:r>
          </a:p>
          <a:p>
            <a:pPr algn="l">
              <a:spcAft>
                <a:spcPts val="700"/>
              </a:spcAft>
            </a:pPr>
            <a:r>
              <a:rPr sz="1600" b="0">
                <a:solidFill>
                  <a:srgbClr val="222222"/>
                </a:solidFill>
                <a:latin typeface="맑은 고딕"/>
                <a:ea typeface="맑은 고딕"/>
                <a:cs typeface="맑은 고딕"/>
              </a:rPr>
              <a:t>•  통계는 누적값. 절대값이 아니라 관심 구간의 델타로 본다 — 이 장의 핵심 기법.</a:t>
            </a:r>
          </a:p>
          <a:p>
            <a:pPr algn="l">
              <a:spcAft>
                <a:spcPts val="700"/>
              </a:spcAft>
            </a:pPr>
            <a:r>
              <a:rPr sz="1600" b="0">
                <a:solidFill>
                  <a:srgbClr val="222222"/>
                </a:solidFill>
                <a:latin typeface="맑은 고딕"/>
                <a:ea typeface="맑은 고딕"/>
                <a:cs typeface="맑은 고딕"/>
              </a:rPr>
              <a:t>•  짧은 구간(0.3초)은 시간 모델 분해가 불안정(CPU 107.8%). 수 분 AWR 구간 필요(→6장).</a:t>
            </a:r>
          </a:p>
          <a:p>
            <a:pPr algn="l">
              <a:spcAft>
                <a:spcPts val="700"/>
              </a:spcAft>
            </a:pPr>
            <a:r>
              <a:rPr sz="1600" b="0">
                <a:solidFill>
                  <a:srgbClr val="222222"/>
                </a:solidFill>
                <a:latin typeface="맑은 고딕"/>
                <a:ea typeface="맑은 고딕"/>
                <a:cs typeface="맑은 고딕"/>
              </a:rPr>
              <a:t>•  대기의 실체는 V$SESSION_EVENT — db file scattered read 120회·65ms가 물리 I/O 증거.</a:t>
            </a:r>
          </a:p>
          <a:p>
            <a:pPr algn="l">
              <a:spcAft>
                <a:spcPts val="700"/>
              </a:spcAft>
            </a:pPr>
            <a:r>
              <a:rPr sz="1600" b="0">
                <a:solidFill>
                  <a:srgbClr val="222222"/>
                </a:solidFill>
                <a:latin typeface="맑은 고딕"/>
                <a:ea typeface="맑은 고딕"/>
                <a:cs typeface="맑은 고딕"/>
              </a:rPr>
              <a:t>•  대기 클래스 12종, V$SYSTEM_WAIT_CLASS로 집계. Idle 항상 제외. 누적≠구간 델타.</a:t>
            </a:r>
          </a:p>
          <a:p>
            <a:pPr algn="l">
              <a:spcAft>
                <a:spcPts val="700"/>
              </a:spcAft>
            </a:pPr>
            <a:r>
              <a:rPr sz="1600" b="0">
                <a:solidFill>
                  <a:srgbClr val="222222"/>
                </a:solidFill>
                <a:latin typeface="맑은 고딕"/>
                <a:ea typeface="맑은 고딕"/>
                <a:cs typeface="맑은 고딕"/>
              </a:rPr>
              <a:t>•  히트율은 지표, 대기는 시간과, 계산 통계는 원시 카운트와 함께. 숫자 하나로 결론 X.</a:t>
            </a:r>
          </a:p>
          <a:p>
            <a:pPr algn="l">
              <a:spcAft>
                <a:spcPts val="700"/>
              </a:spcAft>
            </a:pPr>
            <a:r>
              <a:rPr sz="1600" b="0">
                <a:solidFill>
                  <a:srgbClr val="222222"/>
                </a:solidFill>
                <a:latin typeface="맑은 고딕"/>
                <a:ea typeface="맑은 고딕"/>
                <a:cs typeface="맑은 고딕"/>
              </a:rPr>
              <a:t>•  STATISTICS_LEVEL=TYPICAL 권장. 이 장 뷰는 무료, AWR부터 🔒 Diagnostics Pack.</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r>
              <a:rPr sz="2600" b="1">
                <a:solidFill>
                  <a:srgbClr val="FFFFFF"/>
                </a:solidFill>
                <a:latin typeface="맑은 고딕"/>
                <a:ea typeface="맑은 고딕"/>
                <a:cs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600"/>
              </a:spcAft>
            </a:pPr>
            <a:r>
              <a:rPr sz="1600" b="0">
                <a:solidFill>
                  <a:srgbClr val="222222"/>
                </a:solidFill>
                <a:latin typeface="맑은 고딕"/>
                <a:ea typeface="맑은 고딕"/>
                <a:cs typeface="맑은 고딕"/>
              </a:rPr>
              <a:t>•  실습 01 — 시스템 시간 모델로 DB Time 구성 확인(V$SYS_TIME_MODEL)</a:t>
            </a:r>
          </a:p>
          <a:p>
            <a:pPr algn="l">
              <a:spcAft>
                <a:spcPts val="600"/>
              </a:spcAft>
            </a:pPr>
            <a:r>
              <a:rPr sz="1600" b="0">
                <a:solidFill>
                  <a:srgbClr val="222222"/>
                </a:solidFill>
                <a:latin typeface="맑은 고딕"/>
                <a:ea typeface="맑은 고딕"/>
                <a:cs typeface="맑은 고딕"/>
              </a:rPr>
              <a:t>•  실습 02 — 세션 시간 모델로 부하 구간 분해(V$SESS_TIME_MODEL, 짧은 구간 노이즈)</a:t>
            </a:r>
          </a:p>
          <a:p>
            <a:pPr algn="l">
              <a:spcAft>
                <a:spcPts val="600"/>
              </a:spcAft>
            </a:pPr>
            <a:r>
              <a:rPr sz="1600" b="0">
                <a:solidFill>
                  <a:srgbClr val="222222"/>
                </a:solidFill>
                <a:latin typeface="맑은 고딕"/>
                <a:ea typeface="맑은 고딕"/>
                <a:cs typeface="맑은 고딕"/>
              </a:rPr>
              <a:t>•  실습 03 — 대기 클래스 집계와 상위 지목(V$SYSTEM_WAIT_CLASS / V$SESSION_EVENT)</a:t>
            </a:r>
          </a:p>
          <a:p>
            <a:pPr algn="l">
              <a:spcAft>
                <a:spcPts val="600"/>
              </a:spcAft>
            </a:pPr>
            <a:r>
              <a:rPr sz="1600" b="0">
                <a:solidFill>
                  <a:srgbClr val="222222"/>
                </a:solidFill>
                <a:latin typeface="맑은 고딕"/>
                <a:ea typeface="맑은 고딕"/>
                <a:cs typeface="맑은 고딕"/>
              </a:rPr>
              <a:t>•  실습 04 — STATISTICS_LEVEL 수준별 차이와 TIMED_STATISTICS 관계</a:t>
            </a:r>
          </a:p>
          <a:p>
            <a:pPr algn="l">
              <a:spcAft>
                <a:spcPts val="600"/>
              </a:spcAft>
            </a:pPr>
            <a:r>
              <a:rPr sz="1600" b="0">
                <a:solidFill>
                  <a:srgbClr val="222222"/>
                </a:solidFill>
                <a:latin typeface="맑은 고딕"/>
                <a:ea typeface="맑은 고딕"/>
                <a:cs typeface="맑은 고딕"/>
              </a:rPr>
              <a:t>•  실습 05 — WL_06_mixed 전후 DB Time 델타 측정과 초당·트랜잭션당 환산</a:t>
            </a:r>
          </a:p>
          <a:p>
            <a:pPr algn="l">
              <a:spcAft>
                <a:spcPts val="600"/>
              </a:spcAft>
            </a:pPr>
            <a:r>
              <a:rPr sz="1600" b="0">
                <a:solidFill>
                  <a:srgbClr val="222222"/>
                </a:solidFill>
                <a:latin typeface="맑은 고딕"/>
                <a:ea typeface="맑은 고딕"/>
                <a:cs typeface="맑은 고딕"/>
              </a:rPr>
              <a:t>•  실습 06 — 누적값 오판 재현과 델타 방식 교정</a:t>
            </a:r>
          </a:p>
          <a:p>
            <a:pPr algn="l">
              <a:spcAft>
                <a:spcPts val="600"/>
              </a:spcAft>
            </a:pPr>
            <a:r>
              <a:rPr sz="1600" b="0">
                <a:solidFill>
                  <a:srgbClr val="222222"/>
                </a:solidFill>
                <a:latin typeface="맑은 고딕"/>
                <a:ea typeface="맑은 고딕"/>
                <a:cs typeface="맑은 고딕"/>
              </a:rPr>
              <a:t>•  ※ 환경: non-CDB orcl 19.3, 프롬프트 SYS@orcl&gt; / SQLT@orcl&gt; (실습 6개)</a:t>
            </a:r>
          </a:p>
          <a:p>
            <a:pPr algn="l">
              <a:spcAft>
                <a:spcPts val="600"/>
              </a:spcAft>
            </a:pPr>
            <a:r>
              <a:rPr sz="1600" b="0">
                <a:solidFill>
                  <a:srgbClr val="222222"/>
                </a:solidFill>
                <a:latin typeface="맑은 고딕"/>
                <a:ea typeface="맑은 고딕"/>
                <a:cs typeface="맑은 고딕"/>
              </a:rPr>
              <a:t>•  ※ 각 실습: '조치 전 → 조치·조회 → 결과 해석' + '이상 징후→원인→조치→재확인'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
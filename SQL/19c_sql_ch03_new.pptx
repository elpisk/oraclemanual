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828800"/>
            <a:ext cx="8979408" cy="54864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4634"/>
                </a:solidFill>
                <a:latin typeface="Arial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데이터 제한 및 정렬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B4C8"/>
                </a:solidFill>
                <a:latin typeface="Arial"/>
              </a:rPr>
              <a:t>Restricting and Sorting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5A8"/>
                </a:solidFill>
                <a:latin typeface="Arial"/>
              </a:rPr>
              <a:t>education.oracle.com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학습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8595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이 단원을 완료하면 다음을 수행할 수 있습니다: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쿼리로 검색되는 행을 제한한다 (WHERE 절)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비교 연산자로 조건을 표현한다 (=, &gt;, &gt;=, &lt;, &lt;=, &lt;&gt;, BETWEEN, IN, LIKE, IS NULL)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논리 연산자를 사용한다 (AND, OR, NOT)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연산자 우선순위를 이해하고 괄호로 제어한다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ORDER BY 절로 결과를 정렬한다 (ASC/DESC)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FETCH FIRST N ROWS ONLY로 행 수를 제한한다 (Oracle)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300" b="0">
                <a:solidFill>
                  <a:srgbClr val="1E293B"/>
                </a:solidFill>
                <a:latin typeface="Arial"/>
              </a:rPr>
              <a:t>대체 변수(&amp;)로 유연한 쿼리를 작성한다 (Oracle)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WHERE 절 — 행 제한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4846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구문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4754880" cy="82296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24712"/>
            <a:ext cx="4535424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*|{[DISTINCT] column [alias], ...}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 table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[WHERE  logical expression(s)];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48840"/>
            <a:ext cx="48463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예제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42032"/>
            <a:ext cx="4754880" cy="105156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615184"/>
            <a:ext cx="4535424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       job_id, department_id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department_id = 90;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30168"/>
            <a:ext cx="4754880" cy="777240"/>
          </a:xfrm>
          <a:prstGeom prst="rect">
            <a:avLst/>
          </a:prstGeom>
          <a:solidFill>
            <a:srgbClr val="E6F7F8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6576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onsolas"/>
              </a:rPr>
              <a:t>EMPLOYEE_ID  LAST_NAME   JOB_ID    DEPT</a:t>
            </a:r>
          </a:p>
          <a:p>
            <a:pPr algn="l">
              <a:spcBef>
                <a:spcPts val="600"/>
              </a:spcBef>
            </a:pPr>
            <a:r>
              <a:rPr sz="850" b="0">
                <a:solidFill>
                  <a:srgbClr val="1E293B"/>
                </a:solidFill>
                <a:latin typeface="Consolas"/>
              </a:rPr>
              <a:t>100          King        AD_PRES   90</a:t>
            </a:r>
          </a:p>
          <a:p>
            <a:pPr algn="l">
              <a:spcBef>
                <a:spcPts val="600"/>
              </a:spcBef>
            </a:pPr>
            <a:r>
              <a:rPr sz="850" b="0">
                <a:solidFill>
                  <a:srgbClr val="1E293B"/>
                </a:solidFill>
                <a:latin typeface="Consolas"/>
              </a:rPr>
              <a:t>101          Kochhar     AD_VP     90</a:t>
            </a:r>
          </a:p>
          <a:p>
            <a:pPr algn="l">
              <a:spcBef>
                <a:spcPts val="600"/>
              </a:spcBef>
            </a:pPr>
            <a:r>
              <a:rPr sz="850" b="0">
                <a:solidFill>
                  <a:srgbClr val="1E293B"/>
                </a:solidFill>
                <a:latin typeface="Consolas"/>
              </a:rPr>
              <a:t>102          De Haan     AD_VP     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685800"/>
            <a:ext cx="35661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749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Arial"/>
              </a:rPr>
              <a:t>WHERE 절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1430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FROM 절 바로 다음에 위치한다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논리 표현식이 TRUE인 행만 반환한다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문자·날짜 값은 단일 따옴표로 감싼다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문자 값은 대소문자를 구분한다</a:t>
            </a:r>
          </a:p>
          <a:p>
            <a:pPr algn="l">
              <a:spcBef>
                <a:spcPts val="900"/>
              </a:spcBef>
              <a:buChar char="•"/>
              <a:buClr>
                <a:srgbClr val="C74634"/>
              </a:buClr>
            </a:pPr>
            <a:r>
              <a:rPr sz="1100" b="0">
                <a:solidFill>
                  <a:srgbClr val="1E293B"/>
                </a:solidFill>
                <a:latin typeface="Arial"/>
              </a:rPr>
              <a:t>날짜 형식에 민감하다 (DD-MON-RR)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520440"/>
            <a:ext cx="3291840" cy="1051560"/>
          </a:xfrm>
          <a:prstGeom prst="rect">
            <a:avLst/>
          </a:prstGeom>
          <a:solidFill>
            <a:srgbClr val="FFF9E6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74634"/>
                </a:solidFill>
                <a:latin typeface="Arial"/>
              </a:rPr>
              <a:t>⚠ 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840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onsolas"/>
              </a:rPr>
              <a:t>'Whalen'  ← 올바름 (대소문자 일치)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1E293B"/>
                </a:solidFill>
                <a:latin typeface="Consolas"/>
              </a:rPr>
              <a:t>'whalen'  ← 결과 없음 (대소문자 불일치)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비교 연산자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2865120" cy="3740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713232"/>
            <a:ext cx="2773680" cy="32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연산자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9440" y="685800"/>
            <a:ext cx="2865120" cy="3740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5159" y="713232"/>
            <a:ext cx="2773680" cy="32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4560" y="685800"/>
            <a:ext cx="2865120" cy="3740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0280" y="713232"/>
            <a:ext cx="2773680" cy="32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예제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59872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078160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9440" y="1059872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5159" y="1078160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같다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4560" y="1059872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0280" y="1078160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= 5000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433945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452233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9440" y="1433945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5159" y="1452233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보다 크다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4560" y="1433945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0280" y="1452233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&gt; 5000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808018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1826306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&gt;=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9440" y="1808018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5159" y="1826306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보다 크거나 같다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04560" y="1808018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0280" y="1826306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&gt;= 5000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182090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200378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&lt;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9440" y="2182090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85159" y="2200378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보다 작다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04560" y="2182090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0280" y="2200378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&lt; 5000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556163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574451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&lt;=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9440" y="2556163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85159" y="2574451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보다 작거나 같다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4560" y="2556163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0280" y="2574451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&lt;= 5000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930236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948524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&lt;&gt;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9440" y="2930236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5159" y="2948524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같지 않다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04560" y="2930236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50280" y="2948524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&lt;&gt; 5000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304309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322597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BETWEEN...AND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39440" y="3304309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85159" y="3322597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두 값 사이 (경계 포함)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04560" y="3304309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0280" y="3322597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salary BETWEEN 2500 AND 3500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678381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3696669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IN(set)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39440" y="3678381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85159" y="3696669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목록의 값과 일치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4560" y="3678381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50280" y="3696669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dept_id IN (10, 20, 30)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052454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070742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LIKE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39440" y="4052454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85159" y="4070742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문자 패턴과 일치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04560" y="4052454"/>
            <a:ext cx="2865120" cy="374072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50280" y="4070742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last_name LIKE 'S%'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426527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444815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IS NULL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39440" y="4426527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85159" y="4444815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NULL 값이다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4560" y="4426527"/>
            <a:ext cx="2865120" cy="374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50280" y="4444815"/>
            <a:ext cx="2773680" cy="33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commission_pct IS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BETWEEN / IN / LIKE 연산자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49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BETWEEN...AND (범위 조건)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4069080" cy="91440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097280"/>
            <a:ext cx="3849624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last_name,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BETWEEN 2500 AND 3500;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경계값 2500, 3500 모두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6858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749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IN (목록 조건)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24128"/>
            <a:ext cx="4069080" cy="91440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097280"/>
            <a:ext cx="3849624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       salary, manager_id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manager_id IN (100, 101, 201);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0280"/>
            <a:ext cx="8595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LIKE — 와일드카드 패턴 일치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2125980" cy="2743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2679191"/>
            <a:ext cx="20345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와일드카드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6020" y="2651760"/>
            <a:ext cx="2125980" cy="2743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1740" y="2679191"/>
            <a:ext cx="20345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의미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651760"/>
            <a:ext cx="2125980" cy="2743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679191"/>
            <a:ext cx="20345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예제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97980" y="2651760"/>
            <a:ext cx="2125980" cy="2743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3700" y="2679191"/>
            <a:ext cx="20345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결과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26079"/>
            <a:ext cx="2125980" cy="27432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294436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46020" y="2926079"/>
            <a:ext cx="2125980" cy="27432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1740" y="294436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0개 이상의 임의 문자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926079"/>
            <a:ext cx="2125980" cy="27432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294436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LIKE 'S%'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97980" y="2926079"/>
            <a:ext cx="2125980" cy="27432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3700" y="294436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S로 시작하는 모든 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200400"/>
            <a:ext cx="21259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321868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46020" y="3200400"/>
            <a:ext cx="21259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91740" y="321868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정확히 1개의 임의 문자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200400"/>
            <a:ext cx="21259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321868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LIKE '_o%'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7980" y="3200400"/>
            <a:ext cx="21259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43700" y="321868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두 번째 문자가 'o'인 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20440"/>
            <a:ext cx="8503920" cy="109728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3593592"/>
            <a:ext cx="8284464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first_name FROM employees WHERE first_name LIKE 'S%';   -- Steven, Shelley, Shanta, ...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  FROM employees WHERE last_name  LIKE '_o%';  -- Fohrkam, Doran, Fox, ...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  FROM employees WHERE last_name  LIKE 'SA\_R%' ESCAPE '\';  -- ESCAPE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IS NULL 조건 및 논리 연산자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49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IS NULL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050" b="0">
                <a:solidFill>
                  <a:srgbClr val="1E293B"/>
                </a:solidFill>
                <a:latin typeface="Arial"/>
              </a:rPr>
              <a:t>IS NULL: 열의 NULL 값을 테스트한다</a:t>
            </a:r>
          </a:p>
          <a:p>
            <a:pPr algn="l">
              <a:spcBef>
                <a:spcPts val="600"/>
              </a:spcBef>
              <a:buChar char="•"/>
              <a:buClr>
                <a:srgbClr val="C74634"/>
              </a:buClr>
            </a:pPr>
            <a:r>
              <a:rPr sz="1050" b="0">
                <a:solidFill>
                  <a:srgbClr val="1E293B"/>
                </a:solidFill>
                <a:latin typeface="Arial"/>
              </a:rPr>
              <a:t>IS NOT NULL: NULL이 아닌 값을 테스트한다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4069080" cy="74980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00784"/>
            <a:ext cx="384962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관리자가 없는 사원 (최상위)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manager_id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manager_id IS NULL;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결과: King (100)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68580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749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논리 연산자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2034540" cy="3314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124712"/>
            <a:ext cx="19431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연산자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9420" y="1097280"/>
            <a:ext cx="2034540" cy="3314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5140" y="1124712"/>
            <a:ext cx="19431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의미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428750"/>
            <a:ext cx="2034540" cy="33147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447038"/>
            <a:ext cx="1943100" cy="29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9420" y="1428750"/>
            <a:ext cx="2034540" cy="33147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5140" y="1447038"/>
            <a:ext cx="1943100" cy="29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두 조건이 모두 TRUE → 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760219"/>
            <a:ext cx="2034540" cy="33147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778507"/>
            <a:ext cx="1943100" cy="29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9420" y="1760219"/>
            <a:ext cx="2034540" cy="33147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5140" y="1778507"/>
            <a:ext cx="1943100" cy="29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하나라도 TRUE → TRUE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091689"/>
            <a:ext cx="2034540" cy="33147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109977"/>
            <a:ext cx="1943100" cy="29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9420" y="2091689"/>
            <a:ext cx="2034540" cy="331470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5140" y="2109977"/>
            <a:ext cx="1943100" cy="29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조건이 FALSE → TRUE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606040"/>
            <a:ext cx="8595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670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AND / OR / NOT 예제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990088"/>
            <a:ext cx="8503920" cy="169164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3063240"/>
            <a:ext cx="8284464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AND: 두 조건 모두 TRUE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 job_id,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&gt;= 10000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AND    job_id LIKE '%MAN%';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OR: 둘 중 하나 TRUE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&gt;= 10000 OR job_id LIKE '%MAN%';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NOT: 조건 부정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job_id NOT IN ('IT_PROG', 'ST_CLERK', 'SA_REP');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연산자 우선순위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2080260" cy="40690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713232"/>
            <a:ext cx="1988819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우선순위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4579" y="685800"/>
            <a:ext cx="2080260" cy="40690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0299" y="713232"/>
            <a:ext cx="1988819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연산자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2708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110996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1 (높음)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4579" y="1092708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0299" y="1110996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산술 연산자  (+, -, *, /)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99616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17904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4579" y="1499616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0299" y="1517904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연결 연산자  (||)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06524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24812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4579" y="1906524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0299" y="1924812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비교 조건  (=, &gt;, &gt;=, &lt;, &lt;=, &lt;&gt;)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13432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331720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4579" y="2313432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00299" y="2331720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IS [NOT] NULL,  LIKE,  [NOT] 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20340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738628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4579" y="2720340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00299" y="2738628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[NOT] BETWEEN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27248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145536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4579" y="3127248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00299" y="3145536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같지 않다 (&lt;&gt;)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34156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552444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4579" y="3534156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00299" y="3552444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NOT 논리 연산자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41064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59352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54579" y="3941064"/>
            <a:ext cx="2080260" cy="4069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0299" y="3959352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AND 논리 연산자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347972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366259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9 (낮음)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54579" y="4347972"/>
            <a:ext cx="2080260" cy="406908"/>
          </a:xfrm>
          <a:prstGeom prst="rect">
            <a:avLst/>
          </a:prstGeom>
          <a:solidFill>
            <a:srgbClr val="F8F9F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00299" y="4366259"/>
            <a:ext cx="198881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OR 논리 연산자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685800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7498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74634"/>
                </a:solidFill>
                <a:latin typeface="Arial"/>
              </a:rPr>
              <a:t>우선순위 예제 — AND가 OR보다 먼저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1097280"/>
            <a:ext cx="4069080" cy="320040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64608" y="1170432"/>
            <a:ext cx="3849624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(1) AND가 먼저 실행됨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 부서=80이고 급여&gt;10000인 사원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 OR 부서=60인 사원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department_id,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department_id = 60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     department_id = 80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AND    salary &gt; 10000;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(2) 괄호로 OR를 먼저 실행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 (부서=60 OR 부서=80)이고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 급여&gt;10000인 사원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department_id,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(department_id = 60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      department_id = 80)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AND     salary &gt; 10000;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4297680"/>
            <a:ext cx="4069080" cy="365760"/>
          </a:xfrm>
          <a:prstGeom prst="rect">
            <a:avLst/>
          </a:prstGeom>
          <a:solidFill>
            <a:srgbClr val="FFF9E6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433425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Arial"/>
              </a:rPr>
              <a:t>💡 괄호를 사용하면 우선순위를 명확하게 제어할 수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ORDER BY 절 — 결과 정렬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rial"/>
              </a:rPr>
              <a:t>ASC: 오름차순 (기본값, 생략 가능)     DESC: 내림차순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E293B"/>
                </a:solidFill>
                <a:latin typeface="Arial"/>
              </a:rPr>
              <a:t>ORDER BY 절은 SELECT 문의 마지막에 위치한다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8595360" cy="352044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35024"/>
            <a:ext cx="8375904" cy="3410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-- 1. 기본 정렬 (입사일 오름차순)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job_id, department_id, hire_date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hire_date;           -- ASC 기본값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-- 2. 내림차순 정렬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department_id DESC;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-- 3. 열 별칭으로 정렬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 salary*12 annsal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annsal;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-- 4. 열의 숫자 위치로 정렬 (3번째 열 기준)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job_id, department_id, hire_date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3;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-- 5. 여러 열로 정렬 (부서 오름차순, 급여 내림차순)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department_id,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department_id, salary DESC;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SQL 행 제한 절 — FETCH FIRST (Oracle)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구문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8503920" cy="59436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033272"/>
            <a:ext cx="828446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... FROM ... [WHERE ...] [ORDER BY ...]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[OFFSET offset { ROW | ROWS }]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[FETCH { FIRST | NEXT } [{ row_count | percent PERCENT }] { ROW | ROWS } { ONLY | WITH TIES }]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37360"/>
            <a:ext cx="41605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예제 — 상위 N개 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21408"/>
            <a:ext cx="4069080" cy="253288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194560"/>
            <a:ext cx="384962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상위 5명 (employee_id 오름차순)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first_name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employee_id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FETCH FIRST 5 ROWS ONLY;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결과: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-- 100  Steven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-- 101  Neena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-- 102  Lex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-- 103  Alexander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-- 104  Bruce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737360"/>
            <a:ext cx="41605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예제 — OFFSET (건너뛰기)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121408"/>
            <a:ext cx="4069080" cy="253288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194560"/>
            <a:ext cx="384962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-- 5행 건너뛰고 다음 5명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first_name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employee_id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OFFSET 5 ROWS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FETCH NEXT 5 ROWS ONLY;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결과: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-- 105  David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-- 106  Valli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-- 107  Diana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-- 108  Nancy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-- 109  Daniel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대체 변수 — Substitution Variables (Oracle)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rial"/>
              </a:rPr>
              <a:t>대체 변수: 실행 시 사용자에게 값 입력을 요청하여 다양한 조건으로 쿼리를 유연하게 실행한다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E293B"/>
                </a:solidFill>
                <a:latin typeface="Arial"/>
              </a:rPr>
              <a:t>&amp;(단일): 실행마다 값 입력 요청  /  &amp;&amp;(이중): 한 번 입력 후 재사용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35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단일 앰퍼샌드 (&amp;)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37360"/>
            <a:ext cx="4069080" cy="987552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810512"/>
            <a:ext cx="3849624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employee_id = &amp;employee_num;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실행 시: employee_num 값 입력 요청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37160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435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문자·날짜 값 대체 변수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737360"/>
            <a:ext cx="4069080" cy="987552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1810512"/>
            <a:ext cx="3849624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last_name, department_id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job_id = '&amp;job_title';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문자/날짜는 따옴표로 감싼다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DEFINE / UNDEFINE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55848"/>
            <a:ext cx="4069080" cy="1261872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429000"/>
            <a:ext cx="3849624" cy="1152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DEFINE employee_num = 200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employee_id = &amp;employee_num;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UNDEFINE employee_num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이중 앰퍼샌드 (&amp;&amp;) — 값 재사용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355848"/>
            <a:ext cx="4069080" cy="1261872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3429000"/>
            <a:ext cx="3849624" cy="1152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&amp;&amp;: 처음 한 번만 입력 요청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       job_id, &amp;&amp;column_name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&amp;column_name;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SET VERIFY ON  -- 변수 치환 전후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WHERE 절 종합 예제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49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다양한 조건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4069080" cy="370332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24712"/>
            <a:ext cx="3849624" cy="3593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-- 1. 비교 연산자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&lt;= 3000;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-- 2. BETWEEN (2500~3500)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BETWEEN 2500 AND 3500;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-- 3. IN (목록)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manager_id IN (100, 101, 201);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-- 4. LIKE (패턴)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first_name LIKE 'S%';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last_name  LIKE '_o%';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-- 5. IS NULL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manager_id IS NULL;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-- 6. IS NOT NULL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commission_pct IS NOT NULL;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685800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749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논리 연산자 조합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51560"/>
            <a:ext cx="4069080" cy="370332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124712"/>
            <a:ext cx="3849624" cy="3593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AND: 두 조건 모두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       job_id,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&gt;= 10000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AND    job_id LIKE '%MAN%';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OR: 하나 이상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&gt;= 10000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     job_id LIKE '%MAN%';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NOT: 부정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job_id NOT IN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       ('IT_PROG', 'ST_CLERK', 'SA_REP');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괄호로 우선순위 제어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(department_id = 60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        OR department_id = 80)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AND    salary &gt; 10000;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ORDER BY + WHERE 종합 예제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8595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777240"/>
            <a:ext cx="8503920" cy="3931920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850392"/>
            <a:ext cx="8284464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-- 1. WHERE + ORDER BY 조합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   부서 90의 사원을 급여 내림차순으로 정렬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department_id = 90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salary DESC;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결과: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-- 100  King     24000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-- 101  Kochhar  17000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-- 102  De Haan  17000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-- 2. 별칭으로 정렬 + 행 제한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employee_id, last_name, salary * 12 AS annsal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salary &gt;= 10000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annsal DESC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FETCH FIRST 5 ROWS ONLY;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-- 3. 다중 열 정렬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SELECT last_name, department_id, salary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employees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commission_pct IS NOT NULL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department_id ASC, salary DESC;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83480"/>
            <a:ext cx="5029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92624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Oracle Database 19c: SQL Workshop  |  Chapter 3. 데이터 제한 및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49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Arial"/>
              </a:rPr>
              <a:t>이 단원에서 배운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3886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WHERE 절로 반환 행을 제한한다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비교 연산자 10가지 활용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AND / OR / NOT 논리 연산자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연산자 우선순위 (AND &gt; OR)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ORDER BY 절 (ASC/DESC)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열 별칭·위치로 정렬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다중 열 정렬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FETCH FIRST N ROWS ONLY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대체 변수 &amp; / &amp;&amp;</a:t>
            </a:r>
          </a:p>
          <a:p>
            <a:pPr algn="l">
              <a:spcBef>
                <a:spcPts val="8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DEFINE / UNDEFINE /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685800"/>
            <a:ext cx="41605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749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Arial"/>
              </a:rPr>
              <a:t>Practice 3 실습 내용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143000"/>
            <a:ext cx="3886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데이터를 선택하고 표시 순서를 변경한다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WHERE 절로 행을 제한한다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ORDER BY 절로 행을 정렬한다</a:t>
            </a:r>
          </a:p>
          <a:p>
            <a:pPr algn="l">
              <a:spcBef>
                <a:spcPts val="1000"/>
              </a:spcBef>
              <a:buChar char="•"/>
              <a:buClr>
                <a:srgbClr val="C74634"/>
              </a:buClr>
            </a:pPr>
            <a:r>
              <a:rPr sz="1150" b="0">
                <a:solidFill>
                  <a:srgbClr val="1E293B"/>
                </a:solidFill>
                <a:latin typeface="Arial"/>
              </a:rPr>
              <a:t>대체 변수로 유연한 쿼리를 작성한다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108960"/>
            <a:ext cx="4160520" cy="1645920"/>
          </a:xfrm>
          <a:prstGeom prst="rect">
            <a:avLst/>
          </a:prstGeom>
          <a:solidFill>
            <a:srgbClr val="FFF9E6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  <a:latin typeface="Arial"/>
              </a:rPr>
              <a:t>핵심 구문 정리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493008"/>
            <a:ext cx="4069080" cy="1115568"/>
          </a:xfrm>
          <a:prstGeom prst="rect">
            <a:avLst/>
          </a:prstGeom>
          <a:solidFill>
            <a:srgbClr val="1E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3566160"/>
            <a:ext cx="384962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ED4AD"/>
                </a:solidFill>
                <a:latin typeface="Consolas"/>
              </a:rPr>
              <a:t>SELECT col1, col2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FROM   table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WHERE  condition        -- 행 필터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ORDER BY col [DESC]     -- 정렬</a:t>
            </a:r>
          </a:p>
          <a:p>
            <a:r>
              <a:rPr sz="900">
                <a:solidFill>
                  <a:srgbClr val="7ED4AD"/>
                </a:solidFill>
                <a:latin typeface="Consolas"/>
              </a:rPr>
              <a:t>FETCH FIRST n ROWS ONLY; -- 행 제한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
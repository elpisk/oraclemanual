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2788920"/>
            <a:ext cx="118231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5A623"/>
                </a:solidFill>
                <a:latin typeface="Calibri"/>
              </a:rPr>
              <a:t>Chapter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집합 연산자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CCCC"/>
                </a:solidFill>
                <a:latin typeface="Calibri"/>
              </a:rPr>
              <a:t>Oracle Database 19c: SQL Workshop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  <a:latin typeface="Calibri"/>
              </a:rPr>
              <a:t>Using Set Operators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54880"/>
            <a:ext cx="256032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중복 제거 합집합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4754880"/>
            <a:ext cx="2560320" cy="5943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UNION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중복 포함 합집합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754880"/>
            <a:ext cx="2560320" cy="5943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32"/>
                </a:solidFill>
                <a:latin typeface="Calibri"/>
              </a:rPr>
              <a:t>INTERSECT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2332"/>
                </a:solidFill>
                <a:latin typeface="Calibri"/>
              </a:rPr>
              <a:t>교집합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4754880"/>
            <a:ext cx="2560320" cy="5943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754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5074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차집합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1640312" cy="530352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105156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0515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집합 연산자(UNION, UNION ALL, INTERSECT, MINUS)의 개념과 차이를 설명할 수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847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847088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8470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집합 연산자를 사용하여 여러 SELECT 쿼리를 하나로 결합할 수 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426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642615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2642615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집합 연산자 사용 시 열 개수와 데이터 타입 일치 규칙을 적용할 수 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3814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3438144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TO_CHAR(NULL), TO_DATE(NULL) 등으로 열 타입을 맞출 수 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23367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4233672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23367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ORDER BY 절을 복합 쿼리 맨 끝에 올바르게 사용할 수 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292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5029200"/>
            <a:ext cx="10698480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0292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괄호를 사용하여 집합 연산자의 실행 순서를 제어할 수 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집합 연산자 개요 &amp;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274320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822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UNION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합집합
(중복 제거)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777240"/>
            <a:ext cx="2743200" cy="1188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822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UNION 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합집합
(중복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777240"/>
            <a:ext cx="274320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822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2332"/>
                </a:solidFill>
                <a:latin typeface="Calibri"/>
              </a:rPr>
              <a:t>INTERSECT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</a:rPr>
              <a:t>교집합
(공통 행)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777240"/>
            <a:ext cx="2743200" cy="11887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822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MINUS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1280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차집합
(A에만 있는 행)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1031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사용 규칙 (Rules)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514600"/>
            <a:ext cx="41148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25146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①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2514600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514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SELECT 목록의 열 개수가 일치해야 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72968"/>
            <a:ext cx="411480" cy="5029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172968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172968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31729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대응되는 열의 데이터 타입이 호환되어야 한다 (첫 번째 쿼리 타입이 기준)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31335"/>
            <a:ext cx="4114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3831335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3831335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3831335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괄호를 사용하여 실행 순서를 변경할 수 있다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489704"/>
            <a:ext cx="41148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4489704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④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489704"/>
            <a:ext cx="11137392" cy="50292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4897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ORDER BY 절은 복합 쿼리 맨 끝에 한 번만 사용할 수 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2120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212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Oracle Server의 집합 연산자 동작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5623560"/>
            <a:ext cx="116403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5623560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• UNION ALL을 제외한 연산자는 중복 행을 자동으로 제거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961888"/>
            <a:ext cx="11640312" cy="301752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961888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• 결과의 열 이름은 첫 번째 SELECT 쿼리의 열 이름을 따름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6300216"/>
            <a:ext cx="11640312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300216"/>
            <a:ext cx="11430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• UNION ALL을 제외하면 기본적으로 첫 번째 열 기준 오름차순 정렬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UNION 연산자 — 중복 제거 합집합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4/14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303520" cy="1188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 ∪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두 쿼리의 결과를 모두 반환
중복 행 자동 제거 | 기본 오름차순 정렬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777240"/>
            <a:ext cx="61539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43000"/>
            <a:ext cx="6153912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5879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table2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[ORDER BY column];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현재 직무 + 과거 직무 고유 목록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11640312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560320"/>
            <a:ext cx="1136599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현재 직무(EMPLOYEES)와 과거 직무(JOB_HISTORY)를 합쳐 고유 job_id 조회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job_id;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19개 행 (UNION이 중복 제거)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employee_id와 job_id를 UNION으로 결합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12064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212079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열 이름은 첫 번째 쿼리 기준 (EMPLOYEE_ID, JOB_ID)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UNION ALL 연산자 — 중복 포함 합집합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5/14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303520" cy="118872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A ∪ B (ALL)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두 쿼리의 모든 결과 반환
중복 행 포함 | 정렬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777240"/>
            <a:ext cx="61539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43000"/>
            <a:ext cx="6153912" cy="15544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58795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 ALL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table2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[ORDER BY column];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직무와 부서 전체 목록 (중복 포함)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560320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job_id, department_id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 ALL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job_id, department_id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job_id;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107(EMPLOYEES) + 10(JOB_HISTORY) = 117행 (중복 포함)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480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UNION vs UNION ALL 비교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274320" y="4846320"/>
          <a:ext cx="116403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UNION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UNION ALL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중복 처리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자동 제거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모두 포함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기본 정렬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오름차순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없음 (입력 순서)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성능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정렬/해시 연산 필요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빠름 (추가 연산 없음)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사용 목적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고유 결과가 필요할 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전체 데이터 (중복 포함)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INTERSECT 연산자 — 교집합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6/14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303520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A2332"/>
                </a:solidFill>
                <a:latin typeface="Calibri"/>
              </a:rPr>
              <a:t>A ∩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2332"/>
                </a:solidFill>
                <a:latin typeface="Calibri"/>
              </a:rPr>
              <a:t>두 쿼리 모두에 존재하는 공통 행 반환
중복 제거 | 기본 오름차순 정렬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777240"/>
            <a:ext cx="61539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43000"/>
            <a:ext cx="61539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5879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INTERSECT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table2;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직무 변경 이력이 있는 사원 (두 테이블 공통 employee_id)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11640312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560320"/>
            <a:ext cx="113659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INTERSECT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현재도 재직 중이면서 JOB_HISTORY 이력이 있는 사원 (10개 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현재 직무와 과거 직무가 동일한 사원 (employee_id, job_id 모두 일치)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93776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502920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INTERSECT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176, SA_REP — 현재 직무 = 과거 직무인 사원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MINUS 연산자 — 차집합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7/14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5303520" cy="118872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822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A -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첫 번째 쿼리에만 있고
두 번째 쿼리에는 없는 행 반환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777240"/>
            <a:ext cx="61539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7772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구문 (Syntax)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43000"/>
            <a:ext cx="6153912" cy="13716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34440"/>
            <a:ext cx="587959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table1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column1, column2, ...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table2;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1031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103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직무 변경 이력이 없는 사원 (EMPLOYEES에만 있는 employee_id)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46888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256032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JOB_HISTORY에 이력 없는 사원 (97개 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251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관리자가 아닌 사원의 employee_id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617720"/>
            <a:ext cx="11640312" cy="20116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709159"/>
            <a:ext cx="113659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관리자: 다른 사원의 manager_id에 등장하는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IS NOT NULL 필터 필수 (NULL 포함 시 결과 왜곡 가능)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manager_id FROM employees WHERE manager_id IS NOT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89개 행 (관리자가 아닌 사원)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4개 집합 연산자 완전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8/14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74320" y="822960"/>
          <a:ext cx="1164031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062"/>
                <a:gridCol w="2328062"/>
                <a:gridCol w="2328062"/>
                <a:gridCol w="2328062"/>
                <a:gridCol w="2328062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연산자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포함 범위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중복 처리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기본 정렬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수학 표현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UNION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+ B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제거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오름차순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∪ B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UNION 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+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포함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∪ B (ALL)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INTERSECT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∩ B (공통)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제거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오름차순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∩ B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MINUS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- B (차이)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제거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오름차순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A - 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306324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연산자별 반환 행 수 비교 (예시)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520440"/>
            <a:ext cx="2011680" cy="5669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5204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3520440"/>
            <a:ext cx="9537192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3520440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A: 107행, B: 10행 → 공통 8개 → 결과: 109행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70248"/>
            <a:ext cx="2011680" cy="56692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4270248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UNION 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77440" y="4270248"/>
            <a:ext cx="9537192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4270248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A: 107행, B: 10행 → 결과: 117행 (합산)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20056"/>
            <a:ext cx="20116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5020056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332"/>
                </a:solidFill>
                <a:latin typeface="Calibri"/>
              </a:rPr>
              <a:t>INTERSECT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5020056"/>
            <a:ext cx="9537192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5020056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A와 B 공통 행만 → 결과: ≤ min(A,B)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769864"/>
            <a:ext cx="2011680" cy="56692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5769864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MINUS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77440" y="5769864"/>
            <a:ext cx="9537192" cy="566928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5769864"/>
            <a:ext cx="9326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A에만 있는 행 → 결과: ≤ A의 행 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SELECT 목록 열 개수/타입 일치시키기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9/14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두 SELECT 문의 열 개수나 데이터 타입이 다를 경우, NULL 변환 함수로 자리를 맞춰야 한다.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NULL 변환 함수 — Oracle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74320" y="1554480"/>
          <a:ext cx="1164031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0104"/>
                <a:gridCol w="3880104"/>
                <a:gridCol w="3880104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함수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타입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사용 상황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TO_CHAR(NULL)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VARCHAR2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문자열 열이 없는 테이블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TO_DATE(NULL)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날짜 열이 없는 테이블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TO_NUMBER(NULL)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NUMBER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숫자 열이 없는 테이블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NULL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자동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2332"/>
                          </a:solidFill>
                          <a:latin typeface="Calibri"/>
                        </a:rPr>
                        <a:t>간단한 경우 (타입이 추론 가능할 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274320" y="352044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20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— DEPARTMENTS와 LOCATIONS를 UNION으로 결합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977639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DEPARTMENTS에는 city 열 없음 → TO_CHAR(NULL)로 자리 채움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LOCATIONS에는 department_name 열 없음 → 마찬가지로 처리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location_id, department_name "Name", TO_CHAR(NULL) "City"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location_id, TO_CHAR(NULL) "Name", city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locations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location_id;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89788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97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예제 — hire_date 열이 없는 테이블에서 TO_DATE(NULL) 사용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263640"/>
            <a:ext cx="11640312" cy="4572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6355079"/>
            <a:ext cx="113659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first_name, job_id, hire_date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first_name, job_id, TO_DATE(NULL) FROM job_history_view;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ORDER BY 절 사용 규칙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10/14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210312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7772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규칙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777240"/>
            <a:ext cx="9445752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7772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ORDER BY는 복합 쿼리 맨 끝에 단 한 번만 사용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2103120" cy="54864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14630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규칙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68880" y="1463040"/>
            <a:ext cx="9445752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06040" y="14630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개별 컴포넌트 쿼리에는 ORDER BY 사용 불가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48840"/>
            <a:ext cx="21031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1488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규칙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2148840"/>
            <a:ext cx="9445752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06040" y="21488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ORDER BY는 첫 번째 SELECT 쿼리의 열 이름/별칭만 인식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2103120" cy="5486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28346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규칙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834640"/>
            <a:ext cx="9445752" cy="54864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06040" y="283464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2"/>
                </a:solidFill>
                <a:latin typeface="Calibri"/>
              </a:rPr>
              <a:t>열 위치 번호(ORDER BY 2)로도 정렬 기준 지정 가능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557784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611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올바른 ORDER BY 위치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977639"/>
            <a:ext cx="5577840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4069079"/>
            <a:ext cx="5303520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2;        -- ✓ 맨 끝에 한 번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또는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job_id;   -- ✓ 첫 쿼리 열 이름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11880"/>
            <a:ext cx="560527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3611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잘못된 ORDER BY 위치 (오류)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3977639"/>
            <a:ext cx="5605272" cy="21945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4069079"/>
            <a:ext cx="5330952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✗ 중간에 ORDER BY 사용 → 오류!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job_id    -- ← 오류!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ORA-00933: SQL command not properly ended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괄호를 사용한 실행 순서 제어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11/14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2"/>
                </a:solidFill>
                <a:latin typeface="Calibri"/>
              </a:rPr>
              <a:t>집합 연산자는 기본적으로 왼쪽에서 오른쪽으로 실행된다. 괄호로 순서를 명시적으로 지정할 수 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11640312" cy="3657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괄호 없음 (기본 왼쪽에서 오른쪽 실행)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55448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64592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manager_id FROM employees WHERE manager_id IS NOT NULL;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실행 순서: (employees UNION job_history) MINUS managers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3756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괄호로 순서 변경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03320"/>
            <a:ext cx="11640312" cy="2148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794759"/>
            <a:ext cx="1136599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먼저 INTERSECT 실행 후 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(SELECT employee_id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INTERSECT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SELECT employee_id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 WHERE  salary &gt;= 8000);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/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괄호가 없으면: employees UNION job_history → INTERSECT (다른 결과)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943600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332"/>
                </a:solidFill>
                <a:latin typeface="Calibri"/>
              </a:rPr>
              <a:t>INTERSECT의 우선순위: Oracle에서 INTERSECT는 UNION/MINUS보다 높은 우선순위를 가짐 — 명확성을 위해 항상 괄호 사용 권장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실전 예제 — UNION &amp; INTERSECT 활용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12/14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현재/과거 직무-부서 통합 목록 (UNION)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job_id, department_id, 'CURRENT' AS status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IS NOT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employee_id, job_id, department_id, 'HISTORY'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employee_id, status;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4320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빈 부서 찾기 (DEPARTMENTS에만 있는 department_id)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0896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200400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 FROM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IS NOT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사원이 없는 빈 부서 16개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09159"/>
            <a:ext cx="11640312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709159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2"/>
                </a:solidFill>
                <a:latin typeface="Calibri"/>
              </a:rPr>
              <a:t>사원이 있는 부서만 (교집합)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074920"/>
            <a:ext cx="11640312" cy="150876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166359"/>
            <a:ext cx="11365992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 FROM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INTERSECT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department_id FROM employees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WHERE  department_id IS NOT NULL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department_id;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11개 부서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4008" cy="64008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45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실전 예제 — 열 일치 &amp; 복합 집합 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914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CCCCCC"/>
                </a:solidFill>
                <a:latin typeface="Calibri"/>
              </a:rPr>
              <a:t>Chapter 9  |  13/14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" y="6675120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Oracle Database 19c SQL Workshop  |  Chapter 9: 집합 연산자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777240"/>
            <a:ext cx="11640312" cy="365760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1 — DEPARTMENTS + LOCATIONS 결합 (열 개수/타입 일치)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143000"/>
            <a:ext cx="11640312" cy="16916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234440"/>
            <a:ext cx="1136599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location_id, department_name AS "Name", TO_CHAR(NULL) AS "City"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departments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location_id, TO_CHAR(NULL),  city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FROM   locations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location_id, "Name";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926080"/>
            <a:ext cx="11640312" cy="3657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26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2 — 고연봉이면서 직무 변경 이력 없는 사원 (복합 집합 연산)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40"/>
            <a:ext cx="11640312" cy="19202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79" y="3383280"/>
            <a:ext cx="1136599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-- MINUS로: salary &gt; 10000인 사원 중 JOB_HISTORY 이력 없는 사원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employees WHERE salary &gt; 10000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MINUS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SELECT employee_id FROM job_history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employee_id;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-- 결과: 100, 108, 145, 146, 168, 174 (6개 행)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303520"/>
            <a:ext cx="11640312" cy="36576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예제 3 — 세 집합을 UNION ALL로 통합 후 정렬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669280"/>
            <a:ext cx="1164031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5760720"/>
            <a:ext cx="113659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0FA7B"/>
                </a:solidFill>
                <a:latin typeface="Consolas"/>
              </a:rPr>
              <a:t>SELECT 'DEPT90' grp, employee_id, salary FROM employees WHERE department_id=90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 ALL SELECT 'DEPT80', employee_id, salary FROM employees WHERE department_id=80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UNION ALL SELECT 'DEPT100', employee_id, salary FROM employees WHERE department_id=100</a:t>
            </a:r>
          </a:p>
          <a:p>
            <a:r>
              <a:rPr sz="1000">
                <a:solidFill>
                  <a:srgbClr val="50FA7B"/>
                </a:solidFill>
                <a:latin typeface="Consolas"/>
              </a:rPr>
              <a:t>ORDER BY salary DESC;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Chapter 9 단원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UNION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00584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중복 제거한 합집합 — A ∪ B, 기본 오름차순 정렬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UNION 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002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중복 포함 합집합 — 가장 빠름, 정렬 없음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945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INTERSECT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1945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교집합 — 두 쿼리 모두에 존재하는 공통 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7889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MINUS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27889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차집합 — 첫 쿼리에만 있는 행, A - 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열 일치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338328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열 개수/타입 불일치 시 TO_CHAR/TO_DATE/TO_NUMBER(NULL)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solidFill>
            <a:srgbClr val="C746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977639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열 이름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977639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결과 열 이름은 첫 번째 SELECT 쿼리의 열 이름 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7200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332"/>
                </a:solidFill>
                <a:latin typeface="Calibri"/>
              </a:rPr>
              <a:t>ORDER 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57200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복합 쿼리 맨 끝에 한 번만, 첫 쿼리 열 기준 또는 열 번호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solidFill>
            <a:srgbClr val="6C3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6636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괄호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516636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실행 순서 명시적 지정 가능 — INTERSECT 우선순위 주의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성능 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760720"/>
            <a:ext cx="9052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중복이 없음이 확실하다면 UNION보다 UNION ALL을 선호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00800"/>
            <a:ext cx="11430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CCCC"/>
                </a:solidFill>
                <a:latin typeface="Calibri"/>
              </a:rPr>
              <a:t>Oracle Database 19c  |  Chapter 9: 집합 연산자 사용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
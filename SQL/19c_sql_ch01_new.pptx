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C74634"/>
                </a:solidFill>
                <a:latin typeface="Arial"/>
              </a:rPr>
              <a:t>ORACLE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EA8C9"/>
                </a:solidFill>
                <a:latin typeface="Arial"/>
              </a:rPr>
              <a:t>DATABASE 19c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89888"/>
            <a:ext cx="8229600" cy="36576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8229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Arial Black"/>
              </a:rPr>
              <a:t>SQL Workshop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78608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74634"/>
                </a:solidFill>
                <a:latin typeface="Arial"/>
              </a:rPr>
              <a:t>Chapter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9923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CADCFC"/>
                </a:solidFill>
                <a:latin typeface="Arial"/>
              </a:rPr>
              <a:t>소개 (Introduction)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52628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Arial"/>
              </a:rPr>
              <a:t>실습 환경: VMware Workstation Pro 17  |  Oracle Linux 8/9  |  Oracle Database 19c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9436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45720"/>
            <a:ext cx="8778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Arial"/>
              </a:rPr>
              <a:t>학습 목표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4992624"/>
            <a:ext cx="85953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Oracle Database 19c: SQL Workshop  |  Chapter 1 — 소개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77240"/>
            <a:ext cx="8046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Char char="•"/>
              <a:buClr>
                <a:srgbClr val="C74634"/>
              </a:buClr>
            </a:pPr>
            <a:r>
              <a:rPr sz="1600" b="0">
                <a:solidFill>
                  <a:srgbClr val="1E293B"/>
                </a:solidFill>
                <a:latin typeface="Arial"/>
              </a:rPr>
              <a:t>과정의 목표를 정의한다</a:t>
            </a:r>
          </a:p>
          <a:p>
            <a:pPr algn="l">
              <a:spcBef>
                <a:spcPts val="800"/>
              </a:spcBef>
              <a:buChar char="•"/>
              <a:buClr>
                <a:srgbClr val="C74634"/>
              </a:buClr>
            </a:pPr>
            <a:r>
              <a:rPr sz="1600" b="0">
                <a:solidFill>
                  <a:srgbClr val="1E293B"/>
                </a:solidFill>
                <a:latin typeface="Arial"/>
              </a:rPr>
              <a:t>Oracle Database 19c의 특징을 나열한다</a:t>
            </a:r>
          </a:p>
          <a:p>
            <a:pPr algn="l">
              <a:spcBef>
                <a:spcPts val="800"/>
              </a:spcBef>
              <a:buChar char="•"/>
              <a:buClr>
                <a:srgbClr val="C74634"/>
              </a:buClr>
            </a:pPr>
            <a:r>
              <a:rPr sz="1600" b="0">
                <a:solidFill>
                  <a:srgbClr val="1E293B"/>
                </a:solidFill>
                <a:latin typeface="Arial"/>
              </a:rPr>
              <a:t>관계형 데이터베이스의 이론적·물리적 측면을 설명한다</a:t>
            </a:r>
          </a:p>
          <a:p>
            <a:pPr algn="l">
              <a:spcBef>
                <a:spcPts val="800"/>
              </a:spcBef>
              <a:buChar char="•"/>
              <a:buClr>
                <a:srgbClr val="C74634"/>
              </a:buClr>
            </a:pPr>
            <a:r>
              <a:rPr sz="1600" b="0">
                <a:solidFill>
                  <a:srgbClr val="1E293B"/>
                </a:solidFill>
                <a:latin typeface="Arial"/>
              </a:rPr>
              <a:t>Oracle 서버의 RDBMS 및 ORDBMS 구현 방식을 설명한다</a:t>
            </a:r>
          </a:p>
          <a:p>
            <a:pPr algn="l">
              <a:spcBef>
                <a:spcPts val="800"/>
              </a:spcBef>
              <a:buChar char="•"/>
              <a:buClr>
                <a:srgbClr val="C74634"/>
              </a:buClr>
            </a:pPr>
            <a:r>
              <a:rPr sz="1600" b="0">
                <a:solidFill>
                  <a:srgbClr val="1E293B"/>
                </a:solidFill>
                <a:latin typeface="Arial"/>
              </a:rPr>
              <a:t>이 과정에서 사용할 개발 환경을 식별한다</a:t>
            </a:r>
          </a:p>
          <a:p>
            <a:pPr algn="l">
              <a:spcBef>
                <a:spcPts val="800"/>
              </a:spcBef>
              <a:buChar char="•"/>
              <a:buClr>
                <a:srgbClr val="C74634"/>
              </a:buClr>
            </a:pPr>
            <a:r>
              <a:rPr sz="1600" b="0">
                <a:solidFill>
                  <a:srgbClr val="1E293B"/>
                </a:solidFill>
                <a:latin typeface="Arial"/>
              </a:rPr>
              <a:t>이 과정에서 사용하는 데이터베이스와 스키마를 설명한다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9436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45720"/>
            <a:ext cx="8778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Arial"/>
              </a:rPr>
              <a:t>과정 목표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4992624"/>
            <a:ext cx="85953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Oracle Database 19c: SQL Workshop  |  Chapter 1 — 소개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77240"/>
            <a:ext cx="8046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Char char="•"/>
              <a:buClr>
                <a:srgbClr val="C74634"/>
              </a:buClr>
            </a:pPr>
            <a:r>
              <a:rPr sz="1500" b="0">
                <a:solidFill>
                  <a:srgbClr val="1E293B"/>
                </a:solidFill>
                <a:latin typeface="Arial"/>
              </a:rPr>
              <a:t>Oracle Database와 MySQL의 주요 구성 요소를 식별한다</a:t>
            </a:r>
          </a:p>
          <a:p>
            <a:pPr algn="l">
              <a:spcBef>
                <a:spcPts val="700"/>
              </a:spcBef>
              <a:buChar char="•"/>
              <a:buClr>
                <a:srgbClr val="C74634"/>
              </a:buClr>
            </a:pPr>
            <a:r>
              <a:rPr sz="1500" b="0">
                <a:solidFill>
                  <a:srgbClr val="1E293B"/>
                </a:solidFill>
                <a:latin typeface="Arial"/>
              </a:rPr>
              <a:t>SELECT 문으로 테이블에서 행과 열 데이터를 조회한다</a:t>
            </a:r>
          </a:p>
          <a:p>
            <a:pPr algn="l">
              <a:spcBef>
                <a:spcPts val="700"/>
              </a:spcBef>
              <a:buChar char="•"/>
              <a:buClr>
                <a:srgbClr val="C74634"/>
              </a:buClr>
            </a:pPr>
            <a:r>
              <a:rPr sz="1500" b="0">
                <a:solidFill>
                  <a:srgbClr val="1E293B"/>
                </a:solidFill>
                <a:latin typeface="Arial"/>
              </a:rPr>
              <a:t>정렬 및 제한된 데이터 보고서를 작성한다</a:t>
            </a:r>
          </a:p>
          <a:p>
            <a:pPr algn="l">
              <a:spcBef>
                <a:spcPts val="700"/>
              </a:spcBef>
              <a:buChar char="•"/>
              <a:buClr>
                <a:srgbClr val="C74634"/>
              </a:buClr>
            </a:pPr>
            <a:r>
              <a:rPr sz="1500" b="0">
                <a:solidFill>
                  <a:srgbClr val="1E293B"/>
                </a:solidFill>
                <a:latin typeface="Arial"/>
              </a:rPr>
              <a:t>SQL 함수를 활용하여 사용자 정의 데이터를 생성하고 조회한다</a:t>
            </a:r>
          </a:p>
          <a:p>
            <a:pPr algn="l">
              <a:spcBef>
                <a:spcPts val="700"/>
              </a:spcBef>
              <a:buChar char="•"/>
              <a:buClr>
                <a:srgbClr val="C74634"/>
              </a:buClr>
            </a:pPr>
            <a:r>
              <a:rPr sz="1500" b="0">
                <a:solidFill>
                  <a:srgbClr val="1E293B"/>
                </a:solidFill>
                <a:latin typeface="Arial"/>
              </a:rPr>
              <a:t>복잡한 쿼리를 실행하여 여러 테이블에서 데이터를 조회한다</a:t>
            </a:r>
          </a:p>
          <a:p>
            <a:pPr algn="l">
              <a:spcBef>
                <a:spcPts val="700"/>
              </a:spcBef>
              <a:buChar char="•"/>
              <a:buClr>
                <a:srgbClr val="C74634"/>
              </a:buClr>
            </a:pPr>
            <a:r>
              <a:rPr sz="1500" b="0">
                <a:solidFill>
                  <a:srgbClr val="1E293B"/>
                </a:solidFill>
                <a:latin typeface="Arial"/>
              </a:rPr>
              <a:t>DML 문을 실행하여 데이터베이스 데이터를 업데이트한다</a:t>
            </a:r>
          </a:p>
          <a:p>
            <a:pPr algn="l">
              <a:spcBef>
                <a:spcPts val="700"/>
              </a:spcBef>
              <a:buChar char="•"/>
              <a:buClr>
                <a:srgbClr val="C74634"/>
              </a:buClr>
            </a:pPr>
            <a:r>
              <a:rPr sz="1500" b="0">
                <a:solidFill>
                  <a:srgbClr val="1E293B"/>
                </a:solidFill>
                <a:latin typeface="Arial"/>
              </a:rPr>
              <a:t>DDL 문을 실행하여 스키마 객체를 생성하고 관리한다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9436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45720"/>
            <a:ext cx="8778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Arial"/>
              </a:rPr>
              <a:t>과정 로드맵 (1/2)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4992624"/>
            <a:ext cx="85953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Oracle Database 19c: SQL Workshop  |  Chapter 1 — 소개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731520"/>
          <a:ext cx="8412480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5669280"/>
              </a:tblGrid>
              <a:tr h="813816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단원</a:t>
                      </a:r>
                    </a:p>
                  </a:txBody>
                  <a:tcPr>
                    <a:solidFill>
                      <a:srgbClr val="1A2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레슨</a:t>
                      </a:r>
                    </a:p>
                  </a:txBody>
                  <a:tcPr>
                    <a:solidFill>
                      <a:srgbClr val="1A2332"/>
                    </a:solidFill>
                  </a:tcPr>
                </a:tc>
              </a:tr>
              <a:tr h="813816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Unit 1
데이터 조회·제한·정렬</a:t>
                      </a:r>
                    </a:p>
                  </a:txBody>
                  <a:tcPr>
                    <a:solidFill>
                      <a:srgbClr val="C746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Arial"/>
                        </a:rPr>
                        <a:t>Lesson 1: 소개
Lesson 2: SQL SELECT로 데이터 조회
Lesson 3: 데이터 제한 및 정렬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813816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Unit 1 (계속)</a:t>
                      </a:r>
                    </a:p>
                  </a:txBody>
                  <a:tcPr>
                    <a:solidFill>
                      <a:srgbClr val="C746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Arial"/>
                        </a:rPr>
                        <a:t>Lesson 4: 단일행 함수로 출력 사용자 정의
Lesson 5: 변환 함수 및 조건 표현식
Lesson 6: 그룹 함수로 집계 데이터 보고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13816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Unit 2
조인·서브쿼리·집합 연산자</a:t>
                      </a:r>
                    </a:p>
                  </a:txBody>
                  <a:tcPr>
                    <a:solidFill>
                      <a:srgbClr val="2C5F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Arial"/>
                        </a:rPr>
                        <a:t>Lesson 7: 조인으로 여러 테이블 데이터 표시
Lesson 8: 서브쿼리로 쿼리 해결
Lesson 9: 집합 연산자 사용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813816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Unit 3
DML과 DDL</a:t>
                      </a:r>
                    </a:p>
                  </a:txBody>
                  <a:tcPr>
                    <a:solidFill>
                      <a:srgbClr val="2C5F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Arial"/>
                        </a:rPr>
                        <a:t>Lesson 10: DML 문으로 테이블 관리
Lesson 11: 데이터 정의 언어(DDL) 소개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9436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45720"/>
            <a:ext cx="8778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Arial"/>
              </a:rPr>
              <a:t>과정 로드맵 (2/2)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4992624"/>
            <a:ext cx="85953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Oracle Database 19c: SQL Workshop  |  Chapter 1 — 소개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731520"/>
          <a:ext cx="8412480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5669280"/>
              </a:tblGrid>
              <a:tr h="813816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단원</a:t>
                      </a:r>
                    </a:p>
                  </a:txBody>
                  <a:tcPr>
                    <a:solidFill>
                      <a:srgbClr val="1A2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레슨</a:t>
                      </a:r>
                    </a:p>
                  </a:txBody>
                  <a:tcPr>
                    <a:solidFill>
                      <a:srgbClr val="1A2332"/>
                    </a:solidFill>
                  </a:tcPr>
                </a:tc>
              </a:tr>
              <a:tr h="813816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Unit 4
뷰·시퀀스·동의어·인덱스</a:t>
                      </a:r>
                    </a:p>
                  </a:txBody>
                  <a:tcPr>
                    <a:solidFill>
                      <a:srgbClr val="C746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Arial"/>
                        </a:rPr>
                        <a:t>Lesson 12: 데이터 딕셔너리 뷰 소개
Lesson 13: 시퀀스·동의어·인덱스 생성
Lesson 14: 뷰 생성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813816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Unit 5
데이터베이스 객체·서브쿼리</a:t>
                      </a:r>
                    </a:p>
                  </a:txBody>
                  <a:tcPr>
                    <a:solidFill>
                      <a:srgbClr val="2C5F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Arial"/>
                        </a:rPr>
                        <a:t>Lesson 15: 스키마 객체 관리
Lesson 16: 서브쿼리로 데이터 조회
Lesson 17: 서브쿼리로 데이터 조작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13816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Unit 6
사용자 접근 제어</a:t>
                      </a:r>
                    </a:p>
                  </a:txBody>
                  <a:tcPr>
                    <a:solidFill>
                      <a:srgbClr val="C746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Arial"/>
                        </a:rPr>
                        <a:t>Lesson 18: 사용자 접근 제어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813816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Unit 7
고급 쿼리</a:t>
                      </a:r>
                    </a:p>
                  </a:txBody>
                  <a:tcPr>
                    <a:solidFill>
                      <a:srgbClr val="2C5F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Arial"/>
                        </a:rPr>
                        <a:t>Lesson 19: 고급 쿼리로 데이터 조작
Lesson 20: 다양한 시간대의 데이터 관리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9436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45720"/>
            <a:ext cx="8778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Arial"/>
              </a:rPr>
              <a:t>Oracle Database 19c 중점 영역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4992624"/>
            <a:ext cx="85953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Oracle Database 19c: SQL Workshop  |  Chapter 1 — 소개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749808"/>
            <a:ext cx="40233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749808"/>
            <a:ext cx="82296" cy="82296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8" y="795528"/>
            <a:ext cx="374903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32"/>
                </a:solidFill>
                <a:latin typeface="Arial"/>
              </a:rPr>
              <a:t>정보 관리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" y="1133856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Arial"/>
              </a:rPr>
              <a:t>대용량 데이터의 안전한 저장 및 관리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0" y="749808"/>
            <a:ext cx="40233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54880" y="749808"/>
            <a:ext cx="82296" cy="82296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10328" y="795528"/>
            <a:ext cx="374903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32"/>
                </a:solidFill>
                <a:latin typeface="Arial"/>
              </a:rPr>
              <a:t>애플리케이션 개발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10328" y="1133856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Arial"/>
              </a:rPr>
              <a:t>개발 도구 및 프레임워크 지원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1709928"/>
            <a:ext cx="40233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1709928"/>
            <a:ext cx="82296" cy="82296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8" y="1755648"/>
            <a:ext cx="374903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32"/>
                </a:solidFill>
                <a:latin typeface="Arial"/>
              </a:rPr>
              <a:t>Oracle Cloud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" y="2093976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Arial"/>
              </a:rPr>
              <a:t>클라우드 기반 배포 및 운영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54880" y="1709928"/>
            <a:ext cx="40233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754880" y="1709928"/>
            <a:ext cx="82296" cy="82296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10328" y="1755648"/>
            <a:ext cx="374903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32"/>
                </a:solidFill>
                <a:latin typeface="Arial"/>
              </a:rPr>
              <a:t>고가용성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10328" y="2093976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Arial"/>
              </a:rPr>
              <a:t>무중단 운영 및 재해 복구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2670048"/>
            <a:ext cx="40233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2670048"/>
            <a:ext cx="82296" cy="82296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1208" y="2715768"/>
            <a:ext cx="374903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32"/>
                </a:solidFill>
                <a:latin typeface="Arial"/>
              </a:rPr>
              <a:t>관리 용이성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1208" y="3054096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Arial"/>
              </a:rPr>
              <a:t>자동화된 관리 기능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754880" y="2670048"/>
            <a:ext cx="40233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754880" y="2670048"/>
            <a:ext cx="82296" cy="82296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10328" y="2715768"/>
            <a:ext cx="374903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32"/>
                </a:solidFill>
                <a:latin typeface="Arial"/>
              </a:rPr>
              <a:t>성능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10328" y="3054096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Arial"/>
              </a:rPr>
              <a:t>쿼리 최적화 및 고성능 처리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3630168"/>
            <a:ext cx="40233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5760" y="3630168"/>
            <a:ext cx="82296" cy="82296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1208" y="3675888"/>
            <a:ext cx="374903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32"/>
                </a:solidFill>
                <a:latin typeface="Arial"/>
              </a:rPr>
              <a:t>정보 통합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1208" y="4014216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Arial"/>
              </a:rPr>
              <a:t>다양한 데이터 소스 통합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754880" y="3630168"/>
            <a:ext cx="40233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754880" y="3630168"/>
            <a:ext cx="82296" cy="82296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910328" y="3675888"/>
            <a:ext cx="374903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32"/>
                </a:solidFill>
                <a:latin typeface="Arial"/>
              </a:rPr>
              <a:t>보안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10328" y="4014216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Arial"/>
              </a:rPr>
              <a:t>데이터 암호화 및 접근 제어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9436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45720"/>
            <a:ext cx="8778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Arial"/>
              </a:rPr>
              <a:t>MySQL: 디지털 시대를 위한 현대적 데이터베이스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4992624"/>
            <a:ext cx="85953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Oracle Database 19c: SQL Workshop  |  Chapter 1 — 소개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67512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75569"/>
                </a:solidFill>
                <a:latin typeface="Arial"/>
              </a:rPr>
              <a:t>글로벌 기업들이 MySQL로 혁신을 이끌고 있습니다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115568"/>
            <a:ext cx="269748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115568"/>
            <a:ext cx="2697480" cy="64008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79" y="1280160"/>
            <a:ext cx="2514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C74634"/>
                </a:solidFill>
                <a:latin typeface="Arial Black"/>
              </a:rPr>
              <a:t>800M+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2075688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75569"/>
                </a:solidFill>
                <a:latin typeface="Arial"/>
              </a:rPr>
              <a:t>이동통신망 가입자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1115568"/>
            <a:ext cx="269748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0" y="1115568"/>
            <a:ext cx="2697480" cy="64008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91840" y="1280160"/>
            <a:ext cx="2514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C74634"/>
                </a:solidFill>
                <a:latin typeface="Arial Black"/>
              </a:rPr>
              <a:t>20억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2075688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75569"/>
                </a:solidFill>
                <a:latin typeface="Arial"/>
              </a:rPr>
              <a:t>Booking.com 일일 이벤트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80759" y="1115568"/>
            <a:ext cx="269748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80759" y="1115568"/>
            <a:ext cx="2697480" cy="64008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72199" y="1280160"/>
            <a:ext cx="2514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C74634"/>
                </a:solidFill>
                <a:latin typeface="Arial Black"/>
              </a:rPr>
              <a:t>10억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199" y="2075688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75569"/>
                </a:solidFill>
                <a:latin typeface="Arial"/>
              </a:rPr>
              <a:t>시민 ID 처리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2898648"/>
            <a:ext cx="269748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2898648"/>
            <a:ext cx="2697480" cy="64008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79" y="3063240"/>
            <a:ext cx="2514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C74634"/>
                </a:solidFill>
                <a:latin typeface="Arial Black"/>
              </a:rPr>
              <a:t>17억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79" y="3858768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75569"/>
                </a:solidFill>
                <a:latin typeface="Arial"/>
              </a:rPr>
              <a:t>활성 사용자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0" y="2898648"/>
            <a:ext cx="269748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0" y="2898648"/>
            <a:ext cx="2697480" cy="64008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0" y="3063240"/>
            <a:ext cx="2514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C74634"/>
                </a:solidFill>
                <a:latin typeface="Arial Black"/>
              </a:rPr>
              <a:t>100TB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91840" y="3858768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75569"/>
                </a:solidFill>
                <a:latin typeface="Arial"/>
              </a:rPr>
              <a:t>PayPal 사용자 데이터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80759" y="2898648"/>
            <a:ext cx="269748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080759" y="2898648"/>
            <a:ext cx="2697480" cy="64008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72199" y="3063240"/>
            <a:ext cx="2514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C74634"/>
                </a:solidFill>
                <a:latin typeface="Arial Black"/>
              </a:rPr>
              <a:t>850M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72199" y="3858768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75569"/>
                </a:solidFill>
                <a:latin typeface="Arial"/>
              </a:rPr>
              <a:t>Candy Crush 일일 플레이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9436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45720"/>
            <a:ext cx="8778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Arial"/>
              </a:rPr>
              <a:t>MySQL Enterprise Edition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4992624"/>
            <a:ext cx="85953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Oracle Database 19c: SQL Workshop  |  Chapter 1 — 소개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731520"/>
          <a:ext cx="8412480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6400800"/>
              </a:tblGrid>
              <a:tr h="508635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구분</a:t>
                      </a:r>
                    </a:p>
                  </a:txBody>
                  <a:tcPr>
                    <a:solidFill>
                      <a:srgbClr val="1A2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기능</a:t>
                      </a:r>
                    </a:p>
                  </a:txBody>
                  <a:tcPr>
                    <a:solidFill>
                      <a:srgbClr val="1A2332"/>
                    </a:solidFill>
                  </a:tcPr>
                </a:tc>
              </a:tr>
              <a:tr h="508635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A2332"/>
                          </a:solidFill>
                          <a:latin typeface="Arial"/>
                        </a:rPr>
                        <a:t>확장성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Arial"/>
                        </a:rPr>
                        <a:t>MySQL Enterprise Thread Pool, 그룹 복제, InnoDB 클러스터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508635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A2332"/>
                          </a:solidFill>
                          <a:latin typeface="Arial"/>
                        </a:rPr>
                        <a:t>고가용성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Arial"/>
                        </a:rPr>
                        <a:t>MySQL Enterprise HA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8635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A2332"/>
                          </a:solidFill>
                          <a:latin typeface="Arial"/>
                        </a:rPr>
                        <a:t>보안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Arial"/>
                        </a:rPr>
                        <a:t>네트워크 접근 제어, 엔터프라이즈 인증, 감사, 암호화/TDE, 방화벽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508635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A2332"/>
                          </a:solidFill>
                          <a:latin typeface="Arial"/>
                        </a:rPr>
                        <a:t>모니터링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Arial"/>
                        </a:rPr>
                        <a:t>MySQL Enterprise Monitor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8635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A2332"/>
                          </a:solidFill>
                          <a:latin typeface="Arial"/>
                        </a:rPr>
                        <a:t>백업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Arial"/>
                        </a:rPr>
                        <a:t>MySQL Enterprise Backup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508635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A2332"/>
                          </a:solidFill>
                          <a:latin typeface="Arial"/>
                        </a:rPr>
                        <a:t>개발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Arial"/>
                        </a:rPr>
                        <a:t>MySQL Connectors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8635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A2332"/>
                          </a:solidFill>
                          <a:latin typeface="Arial"/>
                        </a:rPr>
                        <a:t>관리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Arial"/>
                        </a:rPr>
                        <a:t>MySQL Workbench, MySQL Utilities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9436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45720"/>
            <a:ext cx="8778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Arial"/>
              </a:rPr>
              <a:t>관계형 데이터베이스의 개념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4992624"/>
            <a:ext cx="85953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Oracle Database 19c: SQL Workshop  |  Chapter 1 — 소개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731520"/>
            <a:ext cx="8412480" cy="658368"/>
          </a:xfrm>
          <a:prstGeom prst="rect">
            <a:avLst/>
          </a:prstGeom>
          <a:solidFill>
            <a:srgbClr val="FEF2F2"/>
          </a:solidFill>
          <a:ln w="6350">
            <a:solidFill>
              <a:srgbClr val="C746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786384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74634"/>
                </a:solidFill>
                <a:latin typeface="Arial"/>
              </a:rPr>
              <a:t>Dr. E. F. Codd는 1970년에 관계형 모델을 제안했으며, 이것이 RDBMS의 근간입니다.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17904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332"/>
                </a:solidFill>
                <a:latin typeface="Arial"/>
              </a:rPr>
              <a:t>관계형 모델의 구성 요소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920240"/>
            <a:ext cx="8046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Char char="•"/>
              <a:buClr>
                <a:srgbClr val="C74634"/>
              </a:buClr>
            </a:pPr>
            <a:r>
              <a:rPr sz="1400" b="0">
                <a:solidFill>
                  <a:srgbClr val="1E293B"/>
                </a:solidFill>
                <a:latin typeface="Arial"/>
              </a:rPr>
              <a:t>객체 또는 관계(테이블)의 집합</a:t>
            </a:r>
          </a:p>
          <a:p>
            <a:pPr algn="l">
              <a:spcBef>
                <a:spcPts val="600"/>
              </a:spcBef>
              <a:buChar char="•"/>
              <a:buClr>
                <a:srgbClr val="C74634"/>
              </a:buClr>
            </a:pPr>
            <a:r>
              <a:rPr sz="1400" b="0">
                <a:solidFill>
                  <a:srgbClr val="1E293B"/>
                </a:solidFill>
                <a:latin typeface="Arial"/>
              </a:rPr>
              <a:t>관계에 작용하는 연산자 집합</a:t>
            </a:r>
          </a:p>
          <a:p>
            <a:pPr algn="l">
              <a:spcBef>
                <a:spcPts val="600"/>
              </a:spcBef>
              <a:buChar char="•"/>
              <a:buClr>
                <a:srgbClr val="C74634"/>
              </a:buClr>
            </a:pPr>
            <a:r>
              <a:rPr sz="1400" b="0">
                <a:solidFill>
                  <a:srgbClr val="1E293B"/>
                </a:solidFill>
                <a:latin typeface="Arial"/>
              </a:rPr>
              <a:t>정확성과 일관성을 위한 데이터 무결성 보장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01752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332"/>
                </a:solidFill>
                <a:latin typeface="Arial"/>
              </a:rPr>
              <a:t>관계형 데이터베이스 용어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65760" y="3419856"/>
          <a:ext cx="841248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6126480"/>
              </a:tblGrid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용어</a:t>
                      </a:r>
                    </a:p>
                  </a:txBody>
                  <a:tcPr>
                    <a:solidFill>
                      <a:srgbClr val="1A2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설명</a:t>
                      </a:r>
                    </a:p>
                  </a:txBody>
                  <a:tcPr>
                    <a:solidFill>
                      <a:srgbClr val="1A2332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A2332"/>
                          </a:solidFill>
                          <a:latin typeface="Arial"/>
                        </a:rPr>
                        <a:t>테이블 (Table)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E293B"/>
                          </a:solidFill>
                          <a:latin typeface="Arial"/>
                        </a:rPr>
                        <a:t>행과 열로 구성된 2차원 데이터 구조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A2332"/>
                          </a:solidFill>
                          <a:latin typeface="Arial"/>
                        </a:rPr>
                        <a:t>행 (Row)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E293B"/>
                          </a:solidFill>
                          <a:latin typeface="Arial"/>
                        </a:rPr>
                        <a:t>테이블의 단일 레코드 (튜플)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A2332"/>
                          </a:solidFill>
                          <a:latin typeface="Arial"/>
                        </a:rPr>
                        <a:t>기본 키 (Primary Key)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E293B"/>
                          </a:solidFill>
                          <a:latin typeface="Arial"/>
                        </a:rPr>
                        <a:t>행을 고유하게 식별하는 열 (중복·NULL 불허)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A2332"/>
                          </a:solidFill>
                          <a:latin typeface="Arial"/>
                        </a:rPr>
                        <a:t>외래 키 (Foreign Key)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E293B"/>
                          </a:solidFill>
                          <a:latin typeface="Arial"/>
                        </a:rPr>
                        <a:t>다른 테이블의 기본 키를 참조하는 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9436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45720"/>
            <a:ext cx="8778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Arial"/>
              </a:rPr>
              <a:t>Human Resources (HR) 스키마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4992624"/>
            <a:ext cx="85953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Oracle Database 19c: SQL Workshop  |  Chapter 1 — 소개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731520"/>
          <a:ext cx="8412480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6126480"/>
              </a:tblGrid>
              <a:tr h="508635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테이블</a:t>
                      </a:r>
                    </a:p>
                  </a:txBody>
                  <a:tcPr>
                    <a:solidFill>
                      <a:srgbClr val="1A2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주요 컬럼</a:t>
                      </a:r>
                    </a:p>
                  </a:txBody>
                  <a:tcPr>
                    <a:solidFill>
                      <a:srgbClr val="1A2332"/>
                    </a:solidFill>
                  </a:tcPr>
                </a:tc>
              </a:tr>
              <a:tr h="508635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C74634"/>
                          </a:solidFill>
                          <a:latin typeface="Arial"/>
                        </a:rPr>
                        <a:t>EMPLOYEES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Arial"/>
                        </a:rPr>
                        <a:t>employee_id, first_name, last_name, email, hire_date, job_id, salary, manager_id, department_id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508635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C74634"/>
                          </a:solidFill>
                          <a:latin typeface="Arial"/>
                        </a:rPr>
                        <a:t>DEPARTMENTS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Arial"/>
                        </a:rPr>
                        <a:t>department_id, department_name, manager_id, location_id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8635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C74634"/>
                          </a:solidFill>
                          <a:latin typeface="Arial"/>
                        </a:rPr>
                        <a:t>JOBS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Arial"/>
                        </a:rPr>
                        <a:t>job_id, job_title, min_salary, max_salary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508635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C74634"/>
                          </a:solidFill>
                          <a:latin typeface="Arial"/>
                        </a:rPr>
                        <a:t>JOB_HISTORY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Arial"/>
                        </a:rPr>
                        <a:t>employee_id, start_date, end_date, job_id, department_id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8635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C74634"/>
                          </a:solidFill>
                          <a:latin typeface="Arial"/>
                        </a:rPr>
                        <a:t>LOCATIONS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Arial"/>
                        </a:rPr>
                        <a:t>location_id, street_address, postal_code, city, state_province, country_id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508635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C74634"/>
                          </a:solidFill>
                          <a:latin typeface="Arial"/>
                        </a:rPr>
                        <a:t>COUNTRIES / REGIONS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Arial"/>
                        </a:rPr>
                        <a:t>country_id, country_name, region_id  /  region_id, region_name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8635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C74634"/>
                          </a:solidFill>
                          <a:latin typeface="Arial"/>
                        </a:rPr>
                        <a:t>JOB_GRADES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Arial"/>
                        </a:rPr>
                        <a:t>grade_level, lowest_sal, highest_sal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9436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45720"/>
            <a:ext cx="8778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Arial"/>
              </a:rPr>
              <a:t>SQL이란?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4992624"/>
            <a:ext cx="85953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Oracle Database 19c: SQL Workshop  |  Chapter 1 — 소개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731520"/>
            <a:ext cx="8412480" cy="54864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768096"/>
            <a:ext cx="8229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SQL (Structured Query Language) — 구조적 질의 언어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389888"/>
            <a:ext cx="45720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Char char="•"/>
              <a:buClr>
                <a:srgbClr val="C74634"/>
              </a:buClr>
            </a:pPr>
            <a:r>
              <a:rPr sz="1300" b="0">
                <a:solidFill>
                  <a:srgbClr val="1E293B"/>
                </a:solidFill>
                <a:latin typeface="Arial"/>
              </a:rPr>
              <a:t>관계형 데이터베이스 운영을 위한 ANSI 표준 언어</a:t>
            </a:r>
          </a:p>
          <a:p>
            <a:pPr algn="l">
              <a:spcBef>
                <a:spcPts val="600"/>
              </a:spcBef>
              <a:buChar char="•"/>
              <a:buClr>
                <a:srgbClr val="C74634"/>
              </a:buClr>
            </a:pPr>
            <a:r>
              <a:rPr sz="1300" b="0">
                <a:solidFill>
                  <a:srgbClr val="1E293B"/>
                </a:solidFill>
                <a:latin typeface="Arial"/>
              </a:rPr>
              <a:t>효율적이고 배우기 쉬운 언어</a:t>
            </a:r>
          </a:p>
          <a:p>
            <a:pPr algn="l">
              <a:spcBef>
                <a:spcPts val="600"/>
              </a:spcBef>
              <a:buChar char="•"/>
              <a:buClr>
                <a:srgbClr val="C74634"/>
              </a:buClr>
            </a:pPr>
            <a:r>
              <a:rPr sz="1300" b="0">
                <a:solidFill>
                  <a:srgbClr val="1E293B"/>
                </a:solidFill>
                <a:latin typeface="Arial"/>
              </a:rPr>
              <a:t>기능적으로 완전 — 데이터 정의·조회·조작 모두 가능</a:t>
            </a:r>
          </a:p>
          <a:p>
            <a:pPr algn="l">
              <a:spcBef>
                <a:spcPts val="600"/>
              </a:spcBef>
              <a:buChar char="•"/>
              <a:buClr>
                <a:srgbClr val="C74634"/>
              </a:buClr>
            </a:pPr>
            <a:r>
              <a:rPr sz="1300" b="0">
                <a:solidFill>
                  <a:srgbClr val="1E293B"/>
                </a:solidFill>
                <a:latin typeface="Arial"/>
              </a:rPr>
              <a:t>독립적이고 강력하며 데이터를 논리적 수준에서 처리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66360" y="1389888"/>
            <a:ext cx="3611880" cy="1115568"/>
          </a:xfrm>
          <a:prstGeom prst="rect">
            <a:avLst/>
          </a:prstGeom>
          <a:solidFill>
            <a:srgbClr val="1E2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0" y="1481328"/>
            <a:ext cx="3337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ED4AD"/>
                </a:solidFill>
                <a:latin typeface="Courier New"/>
              </a:rPr>
              <a:t>SELECT department_name
FROM   departments;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65760" y="3493008"/>
          <a:ext cx="8412480" cy="12801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6126480"/>
              </a:tblGrid>
              <a:tr h="256031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구분</a:t>
                      </a:r>
                    </a:p>
                  </a:txBody>
                  <a:tcPr>
                    <a:solidFill>
                      <a:srgbClr val="1A2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명령어</a:t>
                      </a:r>
                    </a:p>
                  </a:txBody>
                  <a:tcPr>
                    <a:solidFill>
                      <a:srgbClr val="1A2332"/>
                    </a:solidFill>
                  </a:tcPr>
                </a:tc>
              </a:tr>
              <a:tr h="256031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A2332"/>
                          </a:solidFill>
                          <a:latin typeface="Arial"/>
                        </a:rPr>
                        <a:t>DML (데이터 조작)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E293B"/>
                          </a:solidFill>
                          <a:latin typeface="Arial"/>
                        </a:rPr>
                        <a:t>SELECT  INSERT  UPDATE  DELETE  MERGE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56031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A2332"/>
                          </a:solidFill>
                          <a:latin typeface="Arial"/>
                        </a:rPr>
                        <a:t>DDL (데이터 정의)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E293B"/>
                          </a:solidFill>
                          <a:latin typeface="Arial"/>
                        </a:rPr>
                        <a:t>CREATE  ALTER  DROP  RENAME  TRUNCATE  COMMENT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1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A2332"/>
                          </a:solidFill>
                          <a:latin typeface="Arial"/>
                        </a:rPr>
                        <a:t>DCL (데이터 제어)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E293B"/>
                          </a:solidFill>
                          <a:latin typeface="Arial"/>
                        </a:rPr>
                        <a:t>GRANT  REVOKE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56031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A2332"/>
                          </a:solidFill>
                          <a:latin typeface="Arial"/>
                        </a:rPr>
                        <a:t>트랜잭션 제어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E293B"/>
                          </a:solidFill>
                          <a:latin typeface="Arial"/>
                        </a:rPr>
                        <a:t>COMMIT  ROLLBACK  SAVEPOINT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9436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45720"/>
            <a:ext cx="8778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Arial"/>
              </a:rPr>
              <a:t>SQL 개발 환경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4992624"/>
            <a:ext cx="85953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Oracle Database 19c: SQL Workshop  |  Chapter 1 — 소개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749808"/>
            <a:ext cx="3977639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749808"/>
            <a:ext cx="3977639" cy="420624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77724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Oracle 개발 환경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252728"/>
            <a:ext cx="3703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Char char="•"/>
              <a:buClr>
                <a:srgbClr val="C74634"/>
              </a:buClr>
            </a:pPr>
            <a:r>
              <a:rPr sz="1300" b="1">
                <a:solidFill>
                  <a:srgbClr val="1E293B"/>
                </a:solidFill>
                <a:latin typeface="Arial"/>
              </a:rPr>
              <a:t>주요 도구: Oracle SQL Developer</a:t>
            </a:r>
          </a:p>
          <a:p>
            <a:pPr algn="l">
              <a:spcBef>
                <a:spcPts val="600"/>
              </a:spcBef>
              <a:buChar char="•"/>
              <a:buClr>
                <a:srgbClr val="C74634"/>
              </a:buClr>
            </a:pPr>
            <a:r>
              <a:rPr sz="1300" b="0">
                <a:solidFill>
                  <a:srgbClr val="1E293B"/>
                </a:solidFill>
                <a:latin typeface="Arial"/>
              </a:rPr>
              <a:t>보조 도구: SQL*Plus 명령행 인터페이스</a:t>
            </a:r>
          </a:p>
          <a:p>
            <a:pPr algn="l">
              <a:spcBef>
                <a:spcPts val="600"/>
              </a:spcBef>
              <a:buChar char="•"/>
              <a:buClr>
                <a:srgbClr val="C74634"/>
              </a:buClr>
            </a:pPr>
            <a:r>
              <a:rPr sz="1300" b="0">
                <a:solidFill>
                  <a:srgbClr val="1E293B"/>
                </a:solidFill>
                <a:latin typeface="Arial"/>
              </a:rPr>
              <a:t>Oracle Live SQL (무료 온라인 학습 환경)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00600" y="749808"/>
            <a:ext cx="3977639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800600" y="749808"/>
            <a:ext cx="3977639" cy="420624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0" y="77724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MySQL 개발 환경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1252728"/>
            <a:ext cx="3703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Char char="•"/>
              <a:buClr>
                <a:srgbClr val="2C5F8A"/>
              </a:buClr>
            </a:pPr>
            <a:r>
              <a:rPr sz="1300" b="1">
                <a:solidFill>
                  <a:srgbClr val="1E293B"/>
                </a:solidFill>
                <a:latin typeface="Arial"/>
              </a:rPr>
              <a:t>주요 도구: MySQL Workbench</a:t>
            </a:r>
          </a:p>
          <a:p>
            <a:pPr algn="l">
              <a:spcBef>
                <a:spcPts val="600"/>
              </a:spcBef>
              <a:buChar char="•"/>
              <a:buClr>
                <a:srgbClr val="2C5F8A"/>
              </a:buClr>
            </a:pPr>
            <a:r>
              <a:rPr sz="1300" b="0">
                <a:solidFill>
                  <a:srgbClr val="1E293B"/>
                </a:solidFill>
                <a:latin typeface="Arial"/>
              </a:rPr>
              <a:t>보조 도구: mysql 명령행 도구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154680"/>
            <a:ext cx="8412480" cy="1600200"/>
          </a:xfrm>
          <a:prstGeom prst="rect">
            <a:avLst/>
          </a:prstGeom>
          <a:solidFill>
            <a:srgbClr val="F8F9FB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236976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32"/>
                </a:solidFill>
                <a:latin typeface="Arial"/>
              </a:rPr>
              <a:t>Oracle 자격증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611880"/>
            <a:ext cx="3840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Char char="•"/>
              <a:buClr>
                <a:srgbClr val="C74634"/>
              </a:buClr>
            </a:pPr>
            <a:r>
              <a:rPr sz="1100" b="0">
                <a:solidFill>
                  <a:srgbClr val="1E293B"/>
                </a:solidFill>
                <a:latin typeface="Arial"/>
              </a:rPr>
              <a:t>Oracle Database SQL Certified Associate</a:t>
            </a:r>
          </a:p>
          <a:p>
            <a:pPr algn="l">
              <a:spcBef>
                <a:spcPts val="400"/>
              </a:spcBef>
              <a:buChar char="•"/>
              <a:buClr>
                <a:srgbClr val="C74634"/>
              </a:buClr>
            </a:pPr>
            <a:r>
              <a:rPr sz="1100" b="0">
                <a:solidFill>
                  <a:srgbClr val="1E293B"/>
                </a:solidFill>
                <a:latin typeface="Arial"/>
              </a:rPr>
              <a:t>Oracle Database PL/SQL Certified Associate / Professional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0600" y="3236976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5F8A"/>
                </a:solidFill>
                <a:latin typeface="Arial"/>
              </a:rPr>
              <a:t>MySQL 자격증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0600" y="3611880"/>
            <a:ext cx="3840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Char char="•"/>
              <a:buClr>
                <a:srgbClr val="2C5F8A"/>
              </a:buClr>
            </a:pPr>
            <a:r>
              <a:rPr sz="1100" b="0">
                <a:solidFill>
                  <a:srgbClr val="1E293B"/>
                </a:solidFill>
                <a:latin typeface="Arial"/>
              </a:rPr>
              <a:t>Oracle Certified Professional: MySQL 5.6 DBA</a:t>
            </a:r>
          </a:p>
          <a:p>
            <a:pPr algn="l">
              <a:spcBef>
                <a:spcPts val="400"/>
              </a:spcBef>
              <a:buChar char="•"/>
              <a:buClr>
                <a:srgbClr val="2C5F8A"/>
              </a:buClr>
            </a:pPr>
            <a:r>
              <a:rPr sz="1100" b="0">
                <a:solidFill>
                  <a:srgbClr val="1E293B"/>
                </a:solidFill>
                <a:latin typeface="Arial"/>
              </a:rPr>
              <a:t>Oracle Certified Professional: MySQL 5.6 Developer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9436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45720"/>
            <a:ext cx="8778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Arial"/>
              </a:rPr>
              <a:t>Oracle Database 문서 및 추가 자료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4992624"/>
            <a:ext cx="85953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Oracle Database 19c: SQL Workshop  |  Chapter 1 — 소개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49808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332"/>
                </a:solidFill>
                <a:latin typeface="Arial"/>
              </a:rPr>
              <a:t>공식 문서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124712"/>
            <a:ext cx="80467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Char char="•"/>
              <a:buClr>
                <a:srgbClr val="C74634"/>
              </a:buClr>
            </a:pPr>
            <a:r>
              <a:rPr sz="1300" b="0">
                <a:solidFill>
                  <a:srgbClr val="1E293B"/>
                </a:solidFill>
                <a:latin typeface="Arial"/>
              </a:rPr>
              <a:t>Oracle Database New Features Guide (신기능 가이드)</a:t>
            </a:r>
          </a:p>
          <a:p>
            <a:pPr algn="l">
              <a:spcBef>
                <a:spcPts val="500"/>
              </a:spcBef>
              <a:buChar char="•"/>
              <a:buClr>
                <a:srgbClr val="C74634"/>
              </a:buClr>
            </a:pPr>
            <a:r>
              <a:rPr sz="1300" b="0">
                <a:solidFill>
                  <a:srgbClr val="1E293B"/>
                </a:solidFill>
                <a:latin typeface="Arial"/>
              </a:rPr>
              <a:t>Oracle Database Reference (참조 문서)</a:t>
            </a:r>
          </a:p>
          <a:p>
            <a:pPr algn="l">
              <a:spcBef>
                <a:spcPts val="500"/>
              </a:spcBef>
              <a:buChar char="•"/>
              <a:buClr>
                <a:srgbClr val="C74634"/>
              </a:buClr>
            </a:pPr>
            <a:r>
              <a:rPr sz="1300" b="0">
                <a:solidFill>
                  <a:srgbClr val="1E293B"/>
                </a:solidFill>
                <a:latin typeface="Arial"/>
              </a:rPr>
              <a:t>Oracle Database SQL Language Reference (SQL 언어 참조)</a:t>
            </a:r>
          </a:p>
          <a:p>
            <a:pPr algn="l">
              <a:spcBef>
                <a:spcPts val="500"/>
              </a:spcBef>
              <a:buChar char="•"/>
              <a:buClr>
                <a:srgbClr val="C74634"/>
              </a:buClr>
            </a:pPr>
            <a:r>
              <a:rPr sz="1300" b="0">
                <a:solidFill>
                  <a:srgbClr val="1E293B"/>
                </a:solidFill>
                <a:latin typeface="Arial"/>
              </a:rPr>
              <a:t>Oracle Database Concepts (개념 가이드)</a:t>
            </a:r>
          </a:p>
          <a:p>
            <a:pPr algn="l">
              <a:spcBef>
                <a:spcPts val="500"/>
              </a:spcBef>
              <a:buChar char="•"/>
              <a:buClr>
                <a:srgbClr val="C74634"/>
              </a:buClr>
            </a:pPr>
            <a:r>
              <a:rPr sz="1300" b="0">
                <a:solidFill>
                  <a:srgbClr val="1E293B"/>
                </a:solidFill>
                <a:latin typeface="Arial"/>
              </a:rPr>
              <a:t>Oracle Database SQL Developer User's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34640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332"/>
                </a:solidFill>
                <a:latin typeface="Arial"/>
              </a:rPr>
              <a:t>추가 온라인 자료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5760" y="3218688"/>
          <a:ext cx="841248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5852160"/>
              </a:tblGrid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자료</a:t>
                      </a:r>
                    </a:p>
                  </a:txBody>
                  <a:tcPr>
                    <a:solidFill>
                      <a:srgbClr val="1A2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URL</a:t>
                      </a:r>
                    </a:p>
                  </a:txBody>
                  <a:tcPr>
                    <a:solidFill>
                      <a:srgbClr val="1A2332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A2332"/>
                          </a:solidFill>
                          <a:latin typeface="Arial"/>
                        </a:rPr>
                        <a:t>Oracle Learning Library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E293B"/>
                          </a:solidFill>
                          <a:latin typeface="Arial"/>
                        </a:rPr>
                        <a:t>http://www.oracle.com/goto/oll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A2332"/>
                          </a:solidFill>
                          <a:latin typeface="Arial"/>
                        </a:rPr>
                        <a:t>Oracle Cloud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E293B"/>
                          </a:solidFill>
                          <a:latin typeface="Arial"/>
                        </a:rPr>
                        <a:t>cloud.oracle.com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A2332"/>
                          </a:solidFill>
                          <a:latin typeface="Arial"/>
                        </a:rPr>
                        <a:t>SQL Developer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E293B"/>
                          </a:solidFill>
                          <a:latin typeface="Arial"/>
                        </a:rPr>
                        <a:t>oracle.com/technology/products/database/sql_developer/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A2332"/>
                          </a:solidFill>
                          <a:latin typeface="Arial"/>
                        </a:rPr>
                        <a:t>MySQL 사이트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E293B"/>
                          </a:solidFill>
                          <a:latin typeface="Arial"/>
                        </a:rPr>
                        <a:t>mysql.com  |  dev.mysql.com  |  github.com/mysql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9436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45720"/>
            <a:ext cx="8778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Arial"/>
              </a:rPr>
              <a:t>단원 요약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4992624"/>
            <a:ext cx="85953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Oracle Database 19c: SQL Workshop  |  Chapter 1 — 소개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49808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332"/>
                </a:solidFill>
                <a:latin typeface="Arial"/>
              </a:rPr>
              <a:t>이 단원에서 배운 내용: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170432"/>
            <a:ext cx="8046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Char char="•"/>
              <a:buClr>
                <a:srgbClr val="C74634"/>
              </a:buClr>
            </a:pPr>
            <a:r>
              <a:rPr sz="1400" b="0">
                <a:solidFill>
                  <a:srgbClr val="1E293B"/>
                </a:solidFill>
                <a:latin typeface="Arial"/>
              </a:rPr>
              <a:t>과정의 목표와 전체 커리큘럼 로드맵 (Unit 1~7, Lesson 1~20)</a:t>
            </a:r>
          </a:p>
          <a:p>
            <a:pPr algn="l">
              <a:spcBef>
                <a:spcPts val="900"/>
              </a:spcBef>
              <a:buChar char="•"/>
              <a:buClr>
                <a:srgbClr val="C74634"/>
              </a:buClr>
            </a:pPr>
            <a:r>
              <a:rPr sz="1400" b="0">
                <a:solidFill>
                  <a:srgbClr val="1E293B"/>
                </a:solidFill>
                <a:latin typeface="Arial"/>
              </a:rPr>
              <a:t>Oracle Database 19c의 주요 특징 (정보관리, 고가용성, 보안 등)</a:t>
            </a:r>
          </a:p>
          <a:p>
            <a:pPr algn="l">
              <a:spcBef>
                <a:spcPts val="900"/>
              </a:spcBef>
              <a:buChar char="•"/>
              <a:buClr>
                <a:srgbClr val="C74634"/>
              </a:buClr>
            </a:pPr>
            <a:r>
              <a:rPr sz="1400" b="0">
                <a:solidFill>
                  <a:srgbClr val="1E293B"/>
                </a:solidFill>
                <a:latin typeface="Arial"/>
              </a:rPr>
              <a:t>관계형 데이터베이스의 이론적·물리적 측면 및 핵심 용어</a:t>
            </a:r>
          </a:p>
          <a:p>
            <a:pPr algn="l">
              <a:spcBef>
                <a:spcPts val="900"/>
              </a:spcBef>
              <a:buChar char="•"/>
              <a:buClr>
                <a:srgbClr val="C74634"/>
              </a:buClr>
            </a:pPr>
            <a:r>
              <a:rPr sz="1400" b="0">
                <a:solidFill>
                  <a:srgbClr val="1E293B"/>
                </a:solidFill>
                <a:latin typeface="Arial"/>
              </a:rPr>
              <a:t>Oracle 서버의 RDBMS 및 ORDBMS 구현 방식</a:t>
            </a:r>
          </a:p>
          <a:p>
            <a:pPr algn="l">
              <a:spcBef>
                <a:spcPts val="900"/>
              </a:spcBef>
              <a:buChar char="•"/>
              <a:buClr>
                <a:srgbClr val="C74634"/>
              </a:buClr>
            </a:pPr>
            <a:r>
              <a:rPr sz="1400" b="0">
                <a:solidFill>
                  <a:srgbClr val="1E293B"/>
                </a:solidFill>
                <a:latin typeface="Arial"/>
              </a:rPr>
              <a:t>SQL 개발 환경 — Oracle SQL Developer, SQL*Plus, MySQL Workbench</a:t>
            </a:r>
          </a:p>
          <a:p>
            <a:pPr algn="l">
              <a:spcBef>
                <a:spcPts val="900"/>
              </a:spcBef>
              <a:buChar char="•"/>
              <a:buClr>
                <a:srgbClr val="C74634"/>
              </a:buClr>
            </a:pPr>
            <a:r>
              <a:rPr sz="1400" b="0">
                <a:solidFill>
                  <a:srgbClr val="1E293B"/>
                </a:solidFill>
                <a:latin typeface="Arial"/>
              </a:rPr>
              <a:t>HR 스키마 구조 — EMPLOYEES, DEPARTMENTS, JOBS 등 8개 테이블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4069080"/>
            <a:ext cx="8412480" cy="6858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4069080"/>
            <a:ext cx="109728" cy="6858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4105656"/>
            <a:ext cx="8046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Practice 1 — Oracle SQL Developer 시작 · 데이터베이스 연결 생성 · HR 테이블 탐색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
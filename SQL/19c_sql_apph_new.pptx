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Oracle Database 19c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Oracle 데이터베이스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F5A623"/>
                </a:solidFill>
              </a:rPr>
              <a:t>Oracle Database Architectural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Appendix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Instance vs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SGA 메모리 구조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백그라운드 프로세스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스토리지 구조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 처리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400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SGA  ·  PGA  ·  DBWn  ·  LGWR  ·  CKPT  ·  SMON  ·  PMON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Instance vs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Oracle Instance(메모리+프로세스)와 Database(디스크 파일)의 차이 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SGA 구성 요소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Buffer Cache, Shared Pool, Redo Log Buffer의 역할 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PGA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세션 전용 메모리 PGA의 역할과 SGA와의 차이 설명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백그라운드 프로세스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DBWn, LGWR, CKPT, SMON, PMON 등 주요 프로세스 역할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스토리지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Database → Tablespace → Segment → Extent → Block 계층 설명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SQL 처리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Parse → Bind → Execute → Fetch 단계와 COMMIT 처리 과정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Oracle Instance vs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Instance(메모리+프로세스)는 Database(디스크 파일)에 접근하는 수단이다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303520" cy="4160520"/>
          </a:xfrm>
          <a:prstGeom prst="rect">
            <a:avLst/>
          </a:prstGeom>
          <a:solidFill>
            <a:srgbClr val="3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303520" cy="4114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Oracle Instance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4937760" cy="1600200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933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SGA (공유 메모리)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377440"/>
            <a:ext cx="4663440" cy="32004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42316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Buffer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743200"/>
            <a:ext cx="4663440" cy="32004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7889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Shared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08960"/>
            <a:ext cx="4663440" cy="32004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1546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Redo Log Buffer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4937760" cy="960120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백그라운드 프로세스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5993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DBWn · LGWR · CKPT · SMON · PMON · ARCn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154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28090"/>
                </a:solidFill>
              </a:rPr>
              <a:t>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A2332"/>
                </a:solidFill>
              </a:rPr>
              <a:t>마운트
액세스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1417320"/>
            <a:ext cx="5303520" cy="4160520"/>
          </a:xfrm>
          <a:prstGeom prst="rect">
            <a:avLst/>
          </a:prstGeom>
          <a:solidFill>
            <a:srgbClr val="28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11112" y="1417320"/>
            <a:ext cx="53035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Oracle 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93992" y="1920240"/>
            <a:ext cx="4937760" cy="10515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93992" y="1920240"/>
            <a:ext cx="13716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20116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Files (.dbf)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테이블, 인덱스 데이터 저장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992" y="3108960"/>
            <a:ext cx="4937760" cy="10515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93992" y="3108960"/>
            <a:ext cx="13716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32004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Redo Log Files (.log)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5661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모든 변경 내역 저장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93992" y="4297680"/>
            <a:ext cx="4937760" cy="10515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93992" y="4297680"/>
            <a:ext cx="13716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3891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Control File (.ctl)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7548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DB 이름, 파일 위치, Checkpoint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650992"/>
            <a:ext cx="11640312" cy="640080"/>
          </a:xfrm>
          <a:prstGeom prst="rect">
            <a:avLst/>
          </a:prstGeom>
          <a:solidFill>
            <a:srgbClr val="D6E8F8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742432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핵심: Instance 없이 Database에 직접 접근 불가 | Instance는 메모리에서, Database는 디스크에 존재 | 다중 Instance → 하나의 Database (RAC)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SGA (System Global Area)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Instance 시작 시 할당되는 공유 메모리 — 모든 사용자 세션이 공유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4480560"/>
          </a:xfrm>
          <a:prstGeom prst="rect">
            <a:avLst/>
          </a:prstGeom>
          <a:solidFill>
            <a:srgbClr val="E8EFF8"/>
          </a:solidFill>
          <a:ln w="2540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5C96"/>
                </a:solidFill>
              </a:rPr>
              <a:t>SGA (System Global Area)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3566160" cy="3474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5740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 Buffer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96312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디스크에서 읽은 데이터 블록 캐시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89504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LRU 알고리즘으로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82696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DB_CACHE_SIZE 파라미터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675887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Hit Ratio 95% 이상 권장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965960"/>
            <a:ext cx="4023360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2057400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Shared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496312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Library Cache: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889504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- 파싱된 SQL/PL/SQL 실행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282696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- 소프트 파싱 재사용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675887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 Dict Cache: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4069080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- 테이블/컬럼/권한 메타데이터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4462272"/>
            <a:ext cx="3803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- SHARED_POOL_SIZE 파라미터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965960"/>
            <a:ext cx="3502152" cy="3474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7" y="2057400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Redo Log 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7" y="2496312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데이터 변경 내역 임시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2889504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순환 버퍼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3282696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LGWR가 Redo Log File로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7" y="3675887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LOG_BUFFER 파라미터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4069080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복구(Recovery)의 핵심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FD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주요 조회 뷰: v$sgainfo — 구성 요소별 크기 | v$sga — 영역별 합계 | v$parameter — 초기화 파라미터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Database Buffer Cache —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캐시 히트(Hit) vs 캐시 미스(Miss) — 적중률이 성능의 핵심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4864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캐시 히트 (Cache Hit) — 빠름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① SQL 실행 → Buffer Cache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4203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② 데이터 블록 발견 (Cache Hit)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63824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③ 메모리에서 직접 데이터 반환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85616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→ 디스크 I/O 없음 → 매우 빠름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029200" cy="1371600"/>
          </a:xfrm>
          <a:prstGeom prst="rect">
            <a:avLst/>
          </a:prstGeom>
          <a:solidFill>
            <a:srgbClr val="D4EDDA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77639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Buffer Cache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325112"/>
            <a:ext cx="141732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BLOCK A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325112"/>
            <a:ext cx="141732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4622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48844"/>
                </a:solidFill>
              </a:rPr>
              <a:t>BLOCK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4325112"/>
            <a:ext cx="141732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44622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48844"/>
                </a:solidFill>
              </a:rPr>
              <a:t>BLOCK 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1417320"/>
            <a:ext cx="5760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1417320"/>
            <a:ext cx="5760720" cy="3840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147218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캐시 미스 (Cache Miss) — 느림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90195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① SQL 실행 → Buffer Cache 검색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40487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② 데이터 블록 없음 (Cache Miss)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90779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③ 디스크(Data File)에서 블록 읽기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41071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④ Buffer Cache에 적재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91363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→ 디스크 I/O 발생 → 느림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23560"/>
            <a:ext cx="11640312" cy="658368"/>
          </a:xfrm>
          <a:prstGeom prst="rect">
            <a:avLst/>
          </a:prstGeom>
          <a:solidFill>
            <a:srgbClr val="D6E8F8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69280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Buffer Hit Ratio = (1 - Physical Reads / (DB Block Gets + Consistent Gets)) ×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6188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95% 미만 시: DB_CACHE_SIZE 증가 검토 | 자주 사용하는 테이블의 캐싱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Shared Pool — Library Cache &amp; Dictionary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SQL 파싱 결과와 데이터 딕셔너리 정보를 캐시하여 반복 파싱 비용 최소화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4864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Library Cache — SQL 실행 계획 캐시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74519"/>
            <a:ext cx="5212080" cy="320040"/>
          </a:xfrm>
          <a:prstGeom prst="rect">
            <a:avLst/>
          </a:prstGeom>
          <a:solidFill>
            <a:srgbClr val="FDF3CD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하드 파싱 (Hard Parse) — 처음 또는 Library Cache 미스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26771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① 구문 분석 (Syntax Check)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1518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② 의미 분석 (Semantic Check — 테이블/권한 확인)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6265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③ 최적화 (Optimizer — 실행 계획 수립)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1012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④ Library Cache에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03320"/>
            <a:ext cx="5212080" cy="320040"/>
          </a:xfrm>
          <a:prstGeom prst="rect">
            <a:avLst/>
          </a:prstGeom>
          <a:solidFill>
            <a:srgbClr val="D4EDDA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49039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소프트 파싱 (Soft Parse) — Library Cache 히트 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965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동일 SQL → Library Cache 재사용
• 구문/의미 분석, 최적화 건너뜀 → 빠름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1417320"/>
            <a:ext cx="57607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1417320"/>
            <a:ext cx="5760720" cy="38404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47218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Dictionary Cache (Row Cache)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1874519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SQL 파싱 시 데이터 딕셔너리 반복 조회를
메모리 캐시로 대체 → 성능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251460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테이블 정의 (컬럼명, 데이터 타입)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85292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인덱스 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191256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사용자 권한 (GRANT 정보)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3529584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제약 조건 (PRIMARY KEY, FK 등)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386791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오브젝트 존재 여부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54880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09744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바인드 변수 사용으로 Library Cache 효율 극대화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38928"/>
            <a:ext cx="11640312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212080"/>
            <a:ext cx="11420856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비권장: 매번 하드 파싱 (Library Cache 비효율)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* FROM employees WHERE employee_id = 100;   -- 다른 SQL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* FROM employees WHERE employee_id = 101;   -- 다른 SQL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권장: 소프트 파싱 (Library Cache 재사용)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* FROM employees WHERE employee_id = :eid;  -- 동일 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PGA (Program Global Area)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각 서버 프로세스(사용자 세션)가 독자적으로 사용하는 메모리 — SGA와 분리된 개인 영역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146304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46304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116403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공유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901952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모든 세션 공유 (Shared)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0195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3A91"/>
                </a:solidFill>
              </a:rPr>
              <a:t>세션 전용 (Private)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22576"/>
            <a:ext cx="11640312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77440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저장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377440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데이터 블록, 파싱 결과, Redo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77440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3A91"/>
                </a:solidFill>
              </a:rPr>
              <a:t>정렬 공간, 바인드 변수, 세션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98064"/>
            <a:ext cx="116403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52928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크기 파라미터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852928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SGA_TARGET / DB_CACHE_SIZE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3A91"/>
                </a:solidFill>
              </a:rPr>
              <a:t>PGA_AGGREGATE_TARGET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73552"/>
            <a:ext cx="11640312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32841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접근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32841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동시에 여러 세션이 접근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328416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3A91"/>
                </a:solidFill>
              </a:rPr>
              <a:t>해당 세션만 접근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49039"/>
            <a:ext cx="116403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03904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조회 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803904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v$sga, v$sgainfo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803904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3A91"/>
                </a:solidFill>
              </a:rPr>
              <a:t>v$process, v$pgastat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97680"/>
            <a:ext cx="11640312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52544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PGA 주요 구성 요소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681728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681728"/>
            <a:ext cx="3749039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73659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 Work Area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510235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정렬(ORDER BY/GROUP BY)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46811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해시 조인(HASH JOIN)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5833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비트맵 연산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681728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59" y="4681728"/>
            <a:ext cx="3749039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473659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Session 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10235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로그인 정보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46811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세션 상태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833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언어 설정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681728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681728"/>
            <a:ext cx="3749039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473659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Private SQL Area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510235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바인드 변수 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46811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SQL 실행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833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커서 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백그라운드 프로세스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Oracle Instance를 구성하는 백그라운드 프로세스 — 각각 특정 역할을 자동으로 수행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3749039" cy="3840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47218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DBWn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5087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Database 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89280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Buffer Cache의 Dirty Buffer를 Data File에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368296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여러 개 존재 (DBW0~DBW9)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843784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Checkpoint 시, 공간 부족 시 기록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417320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417320"/>
            <a:ext cx="3749039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47218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LGWR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5087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Log 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189280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Redo Log Buffer → Redo Log File 기록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368296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COMMIT 시 즉시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843784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3초마다 주기적으로 기록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3749039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47218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CKPT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5087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189280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Checkpoint 정보를 Control File/Data File Header에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2368296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DBWn에게 기록 신호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843784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복구 시작점(SCN) 결정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49039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803903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SMON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84047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System 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224527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Instance 시작 시 자동 복구(Instance Recovery)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700015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Redo Log 적용(Roll Forward)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175503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임시 세그먼트 정리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59" y="3749039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59" y="3749039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3803903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PMON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384047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Process 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4224527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실패한 사용자 프로세스 정리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1688" y="4700015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Lock 해제, Rollback 수행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688" y="5175503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메모리/리소스 반환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749039"/>
            <a:ext cx="3749039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749039"/>
            <a:ext cx="3749039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3803903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ARCn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384047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Archiver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4224527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가득 찬 Redo Log File → Archive 위치 복사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4700015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ARCHIVELOG 모드에서만 활성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5175503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Point-in-Time Recovery 지원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46520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조회: SELECT pname, description FROM v$bgprocess WHERE paddr != '00' ORDER BY pname;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DBWn &amp; LGWR — 데이터 기록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DBWn: Buffer Cache → Data File | LGWR: Redo Buffer → Redo Log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486400" cy="3840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DBWn (Database Writer)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83664"/>
            <a:ext cx="521208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38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기록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24028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Buffer Cache의 Dirty Buffer (수정된 데이터 블록)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07792"/>
            <a:ext cx="521208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9626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기록 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264408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Data File (.dbf)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521208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9867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기동 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288536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Checkpoint 발생
• Buffer Cache 공간 부족
• 일정 수의 Dirty Buffer 누적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956048"/>
            <a:ext cx="521208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10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특징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312664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여러 개 존재 가능 (DBW0~DBW9)
• 비동기 기록 (COMMIT과 무관)
• 대량 기록으로 I/O 효율화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1417320"/>
            <a:ext cx="576072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1417320"/>
            <a:ext cx="57607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147218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LGWR (Log Writer)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1883664"/>
            <a:ext cx="548640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938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기록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24028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Redo Log Buffer의 Redo 레코드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2907792"/>
            <a:ext cx="548640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9626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기록 위치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644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Redo Log File (.log)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3931920"/>
            <a:ext cx="548640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86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기록 시점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88536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COMMIT 발생 시 (즉시)
• Redo Buffer 1/3 이상 찼을 때
• 3초마다 주기적으로
• DBWn 기록 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956048"/>
            <a:ext cx="5486400" cy="960120"/>
          </a:xfrm>
          <a:prstGeom prst="rect">
            <a:avLst/>
          </a:prstGeom>
          <a:solidFill>
            <a:srgbClr val="F8F9F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0109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중요성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12664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COMMIT = LGWR 기록 완료
• Write-Ahead Logging 원칙
• 장애 복구의 핵심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CKPT · SMON · PMON — 관리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데이터베이스 일관성 유지와 장애 복구를 담당하는 핵심 관리 프로세스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164592" cy="1572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81328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CKPT (Checkpoint)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4708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역할: SCN(System Change Number)을 Control File과 Data File Header에 기록
• DBWn에게 Dirty Buffer를 Data File에 기록하도록 신호 전송
• 복구 시작점 확정 → Instance Recovery 시간(MTTR) 단축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81528"/>
            <a:ext cx="11640312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81528"/>
            <a:ext cx="164592" cy="166420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3A91"/>
                </a:solidFill>
              </a:rPr>
              <a:t>SMON (System Monitor)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958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Instance Recovery: Instance 비정상 종료 후 재시작 시 자동 복구 수행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962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  → Roll Forward: Redo Log 적용으로 Commit된 데이터 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69663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  → Roll Back: Commit 안 된 트랜잭션 취소 (Undo Segment 활용)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임시 세그먼트(Temporary Segment) 정리 — 비정상 종료된 세션의 임시 공간 회수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11640312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64592" cy="1572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103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PMON (Process Monitor)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실패한 사용자 프로세스 감지 및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0527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해당 세션의 모든 Lock(행 잠금, 테이블 잠금) 해제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253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미완료 트랜잭션 자동 Rollback — 다른 세션이 락으로 대기하지 않도록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메모리, CPU 등 시스템 리소스 반환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73952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참고: RECO(분산 트랜잭션 복구), ARCn(Redo Log 아카이브)도 중요한 백그라운드 프로세스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스토리지 구조 — 논리적/물리적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논리적 구조(Database→Tablespace→Segment→Extent→Block)와 물리적 파일의 매핑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57784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577840" cy="34747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47218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논리적 구조 (큰 → 작은 단위)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74519"/>
            <a:ext cx="50292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385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2585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가장 상위 논리 단위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4389120" cy="7772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8072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12724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객체 저장 컨테이너 (SYSTEM, USERS, TEMP 등)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611879"/>
            <a:ext cx="3749039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1" y="3675887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1" y="399592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테이블/인덱스 등 하나의 객체에 해당하는 공간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599" y="4480559"/>
            <a:ext cx="310896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454456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86460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연속된 Block의 집합 — 공간 확장 단위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39" y="5349240"/>
            <a:ext cx="2468880" cy="7772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512" y="541324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57332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I/O 최소 단위 (기본 8KB, DB_BLOCK_SIZE)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1417320"/>
            <a:ext cx="576072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1417320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14721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물리적 파일 구조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1874519"/>
            <a:ext cx="5486400" cy="1005840"/>
          </a:xfrm>
          <a:prstGeom prst="rect">
            <a:avLst/>
          </a:prstGeom>
          <a:solidFill>
            <a:srgbClr val="F8F9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1874519"/>
            <a:ext cx="13716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9385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Data File (.dbf)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267712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실제 테이블/인덱스 데이터 저장
하나 이상의 파일이 하나의 Tablespace 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2971800"/>
            <a:ext cx="5486400" cy="1005840"/>
          </a:xfrm>
          <a:prstGeom prst="rect">
            <a:avLst/>
          </a:prstGeom>
          <a:solidFill>
            <a:srgbClr val="F8F9FB"/>
          </a:solidFill>
          <a:ln w="127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2971800"/>
            <a:ext cx="137160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358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Redo Log File (.log)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364991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모든 데이터 변경 내역 순서대로 기록
LGWR이 기록, 복구의 핵심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069079"/>
            <a:ext cx="5486400" cy="1005840"/>
          </a:xfrm>
          <a:prstGeom prst="rect">
            <a:avLst/>
          </a:prstGeom>
          <a:solidFill>
            <a:srgbClr val="F8F9F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4069079"/>
            <a:ext cx="13716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133087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Control File (.ctl)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462272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DB 이름, 파일 위치, Checkpoint SCN
다중화(Multiplexing) 권장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5166359"/>
            <a:ext cx="5486400" cy="1005840"/>
          </a:xfrm>
          <a:prstGeom prst="rect">
            <a:avLst/>
          </a:prstGeom>
          <a:solidFill>
            <a:srgbClr val="F8F9FB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91072" y="5166359"/>
            <a:ext cx="137160" cy="10058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2303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Parameter File (spfile)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59552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Instance 초기화 파라미터 저장
서버 파라미터 파일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73952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Tablespace ↔ Data File: 1:N 관계 | Block ↔ OS Block: 다대일 관계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SQL 처리 과정 — Parse · Bind · Execute · Fetch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 문이 Oracle에서 처리되는 4단계 — DML은 Fetch 없음, SELECT는 4단계 모두 수행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365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50876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Parse
(파싱)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62763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417320"/>
            <a:ext cx="256032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44752"/>
            <a:ext cx="365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50876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Bind
(바인딩)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62763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256032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44752"/>
            <a:ext cx="365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0876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Execute
(실행)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62763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417320"/>
            <a:ext cx="256032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444752"/>
            <a:ext cx="365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150876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Fetch
(인출)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23160"/>
            <a:ext cx="256032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423160"/>
            <a:ext cx="256032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4688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Parse
파싱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862072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구문 분석 (Syntax Check)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20954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의미 분석 (Semantic Check)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557015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- 테이블/컬럼 존재 여부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904487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- 접근 권한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25196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실행 계획 수립 (Optimization)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99431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Library Cache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94690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294376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하드 vs 소프트 파싱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2423160"/>
            <a:ext cx="256032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9000" y="2423160"/>
            <a:ext cx="25603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38728" y="24688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Bind
바인딩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8728" y="2862072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바인드 변수(:변수명)에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320954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실제 값 대입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8728" y="3557015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바인드 변수 사용 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8728" y="3904487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동일 SQL 공유 가능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8728" y="425196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Library Cache 효율 극대화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8728" y="4599431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8728" y="494690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SELECT * FROM emp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5294376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WHERE id = :eid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423160"/>
            <a:ext cx="256032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2423160"/>
            <a:ext cx="25603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24688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Execute
실행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2862072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실행 계획 수행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320954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인덱스 또는 Full Scan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3557015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조인 처리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3904487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WHERE 조건 적용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425196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DML: 이 단계에서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599431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SELECT: Fetch 단계로 진행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2423160"/>
            <a:ext cx="256032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423160"/>
            <a:ext cx="25603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82328" y="24688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Fetch
인출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82328" y="2862072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결과 행 조회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82328" y="320954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애플리케이션으로 전송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82328" y="3557015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배열 인출(Array Fetch)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82328" y="3904487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- 여러 행을 한 번에 전송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2328" y="425196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  - 네트워크 왕복 최소화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82328" y="4599431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• SELECT만 해당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COMMIT 처리 과정 — Write-Ahead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H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Oracle DB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Write-Ahead Logging: Data File 기록 전에 반드시 Redo Log에 먼저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828800" cy="1691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COMMIT
   명령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사용자가
COMMIT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182880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1417320"/>
            <a:ext cx="1828800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LGWR
   Redo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Redo Log Buffer
→ Redo Log File
(즉시)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182880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417320"/>
            <a:ext cx="1828800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완료
   응답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사용자에게
커밋 완료
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2880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417320"/>
            <a:ext cx="1828800" cy="1691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SCN
   증가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System Change
Number 증가
(커밋 순서 추적)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182880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417320"/>
            <a:ext cx="1828800" cy="1691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Lock
   해제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보유 중인
모든 Lock
자동 해제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417320"/>
            <a:ext cx="1828800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1463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DBWn
   Data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12140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나중에 DBWn이
Dirty Buffer를
Data File에 기록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00400"/>
            <a:ext cx="11640312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200400"/>
            <a:ext cx="164592" cy="2240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55264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Write-Ahead Logging (WAL) 원칙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67588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COMMIT 완료 = LGWR이 Redo Log File에 기록 완료 (DBWn의 Data File 기록과 무관)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17880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장애 발생 시: Data File에 미기록된 데이터가 있어도 Redo Log로 재현 가능 (Instance Recovery)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8172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성능 이점: DBWn은 대량 비동기 기록 → 개별 COMMIT마다 디스크 I/O 불필요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32120"/>
            <a:ext cx="11640312" cy="1024128"/>
          </a:xfrm>
          <a:prstGeom prst="rect">
            <a:avLst/>
          </a:prstGeom>
          <a:solidFill>
            <a:srgbClr val="D6E8F8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5961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ROLLBACK 처리: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596128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Undo Segment에서 변경 전 값(Before Image)을 읽어 원상 복구 → Lock 해제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943600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COMMIT ≠ Data File 즉시 기록 | ROLLBACK = Undo Segment 활용 원복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F5A623"/>
                </a:solidFill>
              </a:rPr>
              <a:t>Appendix H — Oracle 데이터베이스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46304" cy="1554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4634"/>
                </a:solidFill>
              </a:rPr>
              <a:t>Instance vs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Instance = SGA + 백그라운드 프로세스 (메모리)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Database = Data/Redo Log/Control File (디스크)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7276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572768"/>
            <a:ext cx="14630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SGA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84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Buffer Cache(데이터 블록 캐시)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4048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Shared Pool(파싱 결과+딕셔너리)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72491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Redo Log Buffer(변경 내역)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57276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1572768"/>
            <a:ext cx="146304" cy="1554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PGA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084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세션 전용 메모리 — SGA와 별개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4048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SQL Work Area(정렬/해시)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72491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Session Memory · Private SQL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21868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218688"/>
            <a:ext cx="146304" cy="1554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31012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3A91"/>
                </a:solidFill>
              </a:rPr>
              <a:t>백그라운드 프로세스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7307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DBWn: Buffer → Data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05079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LGWR: Redo Buffer → Redo Log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370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CKPT·SMON·PMON·ARCn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1868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18688"/>
            <a:ext cx="146304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31012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스토리지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7307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논리: Database → Tablespace → 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05079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       → Extent → Block(8KB)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370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물리: Data File / Redo Log / Control 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218688"/>
            <a:ext cx="5577840" cy="155448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218688"/>
            <a:ext cx="146304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331012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SQL 처리 &amp; 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7307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SQL: Parse→Bind→Execute→Fetch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405079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COMMIT: LGWR 즉시 기록→완료 응답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43708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(DBWn은 나중에 Data File 기록)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Oracle Database 19c SQL Workshop  —  Appendix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
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2560320"/>
            <a:ext cx="12024360" cy="1828800"/>
          </a:xfrm>
          <a:prstGeom prst="rect">
            <a:avLst/>
          </a:prstGeom>
          <a:solidFill>
            <a:srgbClr val="24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0B8D8"/>
                </a:solidFill>
              </a:rPr>
              <a:t>Oracle Database 19c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SQL Workshop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A623"/>
                </a:solidFill>
              </a:rPr>
              <a:t>Chapter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461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변환 함수와 조건식 사용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86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0A8C8"/>
                </a:solidFill>
              </a:rPr>
              <a:t>Using Conversion Functions and Conditional Expressions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90A8"/>
                </a:solidFill>
              </a:rPr>
              <a:t>Oracle Database 19c SQL Workshop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학습 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6492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Oracle Database 19c SQL Workshop — Chapter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2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1143000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06060"/>
                </a:solidFill>
              </a:rPr>
              <a:t>이 단원을 완료하면 다음을 수행할 수 있습니다: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65959"/>
            <a:ext cx="292608" cy="29260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20239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1874519"/>
            <a:ext cx="107899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332"/>
                </a:solidFill>
              </a:rPr>
              <a:t>SQL에서 사용 가능한 다양한 변환 함수 유형을 설명한다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542031"/>
            <a:ext cx="292608" cy="29260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496311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2450591"/>
            <a:ext cx="107899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332"/>
                </a:solidFill>
              </a:rPr>
              <a:t>TO_CHAR 함수로 날짜·숫자를 원하는 문자열 형식으로 변환한다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118103"/>
            <a:ext cx="292608" cy="29260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072383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026663"/>
            <a:ext cx="107899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332"/>
                </a:solidFill>
              </a:rPr>
              <a:t>TO_DATE 함수로 문자열을 날짜 타입으로 변환한다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694175"/>
            <a:ext cx="292608" cy="29260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648455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3602735"/>
            <a:ext cx="107899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332"/>
                </a:solidFill>
              </a:rPr>
              <a:t>TO_NUMBER 함수로 문자열을 숫자 타입으로 변환한다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270247"/>
            <a:ext cx="292608" cy="29260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224527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4178807"/>
            <a:ext cx="107899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332"/>
                </a:solidFill>
              </a:rPr>
              <a:t>NVL / NVL2 / NULLIF / COALESCE로 NULL 값을 처리한다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846319"/>
            <a:ext cx="292608" cy="29260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800599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4754879"/>
            <a:ext cx="107899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332"/>
                </a:solidFill>
              </a:rPr>
              <a:t>CASE / Searched CASE 조건식으로 IF-THEN-ELSE 논리를 구현한다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422391"/>
            <a:ext cx="292608" cy="29260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376671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330951"/>
            <a:ext cx="107899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332"/>
                </a:solidFill>
              </a:rPr>
              <a:t>DECODE 함수 (Oracle 전용)로 조건식을 간결하게 작성한다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변환 함수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6492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Oracle Database 19c SQL Workshop — Chapter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3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557784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5577840" cy="4114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17043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데이터 타입 변환 방식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691640"/>
            <a:ext cx="5029200" cy="1188720"/>
          </a:xfrm>
          <a:prstGeom prst="rect">
            <a:avLst/>
          </a:prstGeom>
          <a:solidFill>
            <a:srgbClr val="283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737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암시적 변환 (Implicit)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10312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Oracle 서버가 자동으로 타입을 변환한다
예: WHERE dept_id &lt; CONCAT('9','0')
   → '90' (문자) → 90 (숫자) 자동 변환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17520"/>
            <a:ext cx="5029200" cy="1188720"/>
          </a:xfrm>
          <a:prstGeom prst="rect">
            <a:avLst/>
          </a:prstGeom>
          <a:solidFill>
            <a:srgbClr val="1A5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063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명시적 변환 (Explicit)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42900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사용자가 변환 함수를 직접 사용한다
예: TO_CHAR(hire_date, 'DD-MON-YYYY')
   TO_NUMBER('12,345', '99,999')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3434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74634"/>
                </a:solidFill>
              </a:rPr>
              <a:t>⚠ 명시적 변환을 권장하는 이유:
   암시적 변환은 예상치 못한 결과를 유발할 수 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143000"/>
            <a:ext cx="576072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1143000"/>
            <a:ext cx="5760720" cy="4114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17043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Oracle 주요 변환 함수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600200"/>
            <a:ext cx="1859280" cy="402336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1600200"/>
            <a:ext cx="176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함수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77200" y="1600200"/>
            <a:ext cx="1859280" cy="402336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22920" y="1600200"/>
            <a:ext cx="176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변환 방향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36480" y="1600200"/>
            <a:ext cx="1859280" cy="402336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82200" y="1600200"/>
            <a:ext cx="176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예시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2002536"/>
            <a:ext cx="1859280" cy="402336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2002536"/>
            <a:ext cx="176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TO_CHAR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77200" y="2002536"/>
            <a:ext cx="1859280" cy="402336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22920" y="2002536"/>
            <a:ext cx="176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날짜/숫자 → 문자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36480" y="2002536"/>
            <a:ext cx="1859280" cy="402336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82200" y="2002536"/>
            <a:ext cx="176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TO_CHAR(hire_date,'YYYY')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2404872"/>
            <a:ext cx="18592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2404872"/>
            <a:ext cx="176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TO_DATE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77200" y="2404872"/>
            <a:ext cx="18592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22920" y="2404872"/>
            <a:ext cx="176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문자 → 날짜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36480" y="2404872"/>
            <a:ext cx="18592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82200" y="2404872"/>
            <a:ext cx="176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TO_DATE('25-DEC-23')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2807208"/>
            <a:ext cx="1859280" cy="402336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63640" y="2807208"/>
            <a:ext cx="176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TO_NUMBER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77200" y="2807208"/>
            <a:ext cx="1859280" cy="402336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22920" y="2807208"/>
            <a:ext cx="176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문자 → 숫자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936480" y="2807208"/>
            <a:ext cx="1859280" cy="402336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82200" y="2807208"/>
            <a:ext cx="176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TO_NUMBER('12,345','99,999')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3209544"/>
            <a:ext cx="18592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63640" y="3209544"/>
            <a:ext cx="176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CAST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77200" y="3209544"/>
            <a:ext cx="18592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22920" y="3209544"/>
            <a:ext cx="176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타입 → 타입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936480" y="3209544"/>
            <a:ext cx="18592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982200" y="3209544"/>
            <a:ext cx="176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CAST('90' AS NUMBER)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0" y="3749039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TO_CHAR 사용 형식: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17920" y="4114800"/>
            <a:ext cx="5577840" cy="9144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55080" y="4206240"/>
            <a:ext cx="5303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0FA7B"/>
                </a:solidFill>
                <a:latin typeface="Consolas"/>
              </a:rPr>
              <a:t>TO_CHAR(date|number [, 'format_model'])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TO_DATE(char [, 'format_model'])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TO_NUMBER(char [, 'format_model'])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TO_CHAR — 날짜 형식 모델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6492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Oracle Database 19c SQL Workshop — Chapter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4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557784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5577840" cy="4114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17043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날짜 형식 모델 요소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600200"/>
            <a:ext cx="2697480" cy="386541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600200"/>
            <a:ext cx="2606040" cy="386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요소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63240" y="1600200"/>
            <a:ext cx="2697480" cy="386541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0" y="1600200"/>
            <a:ext cx="2606040" cy="386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결과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986741"/>
            <a:ext cx="2697480" cy="386541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1986741"/>
            <a:ext cx="2606040" cy="386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YYYY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63240" y="1986741"/>
            <a:ext cx="2697480" cy="386541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0" y="1986741"/>
            <a:ext cx="2606040" cy="386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4자리 연도 (예: 1987)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373282"/>
            <a:ext cx="2697480" cy="386541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2373282"/>
            <a:ext cx="2606040" cy="386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YEAR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63240" y="2373282"/>
            <a:ext cx="2697480" cy="386541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08960" y="2373282"/>
            <a:ext cx="2606040" cy="386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연도 영문 표기 (NINETEEN EIGHTY-SEVEN)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759823"/>
            <a:ext cx="2697480" cy="386541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2759823"/>
            <a:ext cx="2606040" cy="386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MM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63240" y="2759823"/>
            <a:ext cx="2697480" cy="386541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08960" y="2759823"/>
            <a:ext cx="2606040" cy="386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두 자리 월 (예: 06)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146364"/>
            <a:ext cx="2697480" cy="386541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3146364"/>
            <a:ext cx="2606040" cy="386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MONTH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63240" y="3146364"/>
            <a:ext cx="2697480" cy="386541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08960" y="3146364"/>
            <a:ext cx="2606040" cy="386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월 전체 이름 (예: JUNE)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532905"/>
            <a:ext cx="2697480" cy="386541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3532905"/>
            <a:ext cx="2606040" cy="386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MON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63240" y="3532905"/>
            <a:ext cx="2697480" cy="386541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08960" y="3532905"/>
            <a:ext cx="2606040" cy="386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월 3자리 약어 (예: JUN)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919446"/>
            <a:ext cx="2697480" cy="386541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3919446"/>
            <a:ext cx="2606040" cy="386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DY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63240" y="3919446"/>
            <a:ext cx="2697480" cy="386541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08960" y="3919446"/>
            <a:ext cx="2606040" cy="386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요일 3자리 약어 (예: MON)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305987"/>
            <a:ext cx="2697480" cy="386541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4305987"/>
            <a:ext cx="2606040" cy="386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DAY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063240" y="4305987"/>
            <a:ext cx="2697480" cy="386541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08960" y="4305987"/>
            <a:ext cx="2606040" cy="386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요일 전체 이름 (예: MONDAY)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4692528"/>
            <a:ext cx="2697480" cy="386541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4692528"/>
            <a:ext cx="2606040" cy="386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DD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63240" y="4692528"/>
            <a:ext cx="2697480" cy="386541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08960" y="4692528"/>
            <a:ext cx="2606040" cy="386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두 자리 일 (예: 17)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5079069"/>
            <a:ext cx="2697480" cy="386541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5079069"/>
            <a:ext cx="2606040" cy="386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HH24:MI:SS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063240" y="5079069"/>
            <a:ext cx="2697480" cy="386541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08960" y="5079069"/>
            <a:ext cx="2606040" cy="386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시:분:초 24시간 형식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5465610"/>
            <a:ext cx="2697480" cy="386541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" y="5465610"/>
            <a:ext cx="2606040" cy="386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fm 접두사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63240" y="5465610"/>
            <a:ext cx="2697480" cy="386541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108960" y="5465610"/>
            <a:ext cx="2606040" cy="386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앞 공백·0 제거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26480" y="1143000"/>
            <a:ext cx="576072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126480" y="1143000"/>
            <a:ext cx="5760720" cy="4114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17920" y="117043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TO_CHAR 날짜 예제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17920" y="1600200"/>
            <a:ext cx="5577840" cy="4114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55080" y="1691640"/>
            <a:ext cx="530352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0FA7B"/>
                </a:solidFill>
                <a:latin typeface="Consolas"/>
              </a:rPr>
              <a:t>-- Higgins 입사 월/연도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SELECT employee_id,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   TO_CHAR(hire_date, 'MM/YY') AS Month_Hired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WHERE  last_name = 'Higgins';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-- 결과: 06/02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-- fm으로 공백 제거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SELECT last_name,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   TO_CHAR(hire_date, 'fmDD Month YYYY') AS HIREDATE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FROM   employees;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-- King → '17 June 1987'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-- (fm 없으면 '17 JUNE       1987')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TO_CHAR — 숫자 형식 모델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6492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Oracle Database 19c SQL Workshop — Chapter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5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3870960" cy="391885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143000"/>
            <a:ext cx="3779520" cy="391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요소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45280" y="1143000"/>
            <a:ext cx="3870960" cy="391885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91000" y="1143000"/>
            <a:ext cx="3779520" cy="391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설명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16240" y="1143000"/>
            <a:ext cx="3870960" cy="391885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61960" y="1143000"/>
            <a:ext cx="3779520" cy="391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예시 (salary=6000)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534885"/>
            <a:ext cx="3870960" cy="391885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534885"/>
            <a:ext cx="3779520" cy="391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45280" y="1534885"/>
            <a:ext cx="3870960" cy="391885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91000" y="1534885"/>
            <a:ext cx="3779520" cy="391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숫자 자리 (없으면 공백)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6240" y="1534885"/>
            <a:ext cx="3870960" cy="391885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61960" y="1534885"/>
            <a:ext cx="3779520" cy="391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$_6,000.00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926770"/>
            <a:ext cx="3870960" cy="391885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1926770"/>
            <a:ext cx="3779520" cy="391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45280" y="1926770"/>
            <a:ext cx="3870960" cy="391885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91000" y="1926770"/>
            <a:ext cx="3779520" cy="391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숫자 자리 (없으면 0 표시)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16240" y="1926770"/>
            <a:ext cx="3870960" cy="391885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61960" y="1926770"/>
            <a:ext cx="3779520" cy="391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$06,000.00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318655"/>
            <a:ext cx="3870960" cy="391885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2318655"/>
            <a:ext cx="3779520" cy="391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$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45280" y="2318655"/>
            <a:ext cx="3870960" cy="391885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91000" y="2318655"/>
            <a:ext cx="3779520" cy="391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부동 달러 기호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16240" y="2318655"/>
            <a:ext cx="3870960" cy="391885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61960" y="2318655"/>
            <a:ext cx="3779520" cy="391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$6,000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2710540"/>
            <a:ext cx="3870960" cy="391885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2710540"/>
            <a:ext cx="3779520" cy="391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45280" y="2710540"/>
            <a:ext cx="3870960" cy="391885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91000" y="2710540"/>
            <a:ext cx="3779520" cy="391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부동 지역 통화 기호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16240" y="2710540"/>
            <a:ext cx="3870960" cy="391885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61960" y="2710540"/>
            <a:ext cx="3779520" cy="391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₩6,000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3102425"/>
            <a:ext cx="3870960" cy="391885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3102425"/>
            <a:ext cx="3779520" cy="391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45280" y="3102425"/>
            <a:ext cx="3870960" cy="391885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91000" y="3102425"/>
            <a:ext cx="3779520" cy="391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소수점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16240" y="3102425"/>
            <a:ext cx="3870960" cy="391885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61960" y="3102425"/>
            <a:ext cx="3779520" cy="391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6000.00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3494310"/>
            <a:ext cx="3870960" cy="391885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3494310"/>
            <a:ext cx="3779520" cy="391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,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45280" y="3494310"/>
            <a:ext cx="3870960" cy="391885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91000" y="3494310"/>
            <a:ext cx="3779520" cy="391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천 단위 구분자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16240" y="3494310"/>
            <a:ext cx="3870960" cy="391885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61960" y="3494310"/>
            <a:ext cx="3779520" cy="391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6,000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4023360"/>
            <a:ext cx="1161288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4050791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TO_CHAR 숫자 예제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4434840"/>
            <a:ext cx="11612880" cy="19202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4526280"/>
            <a:ext cx="1133856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0FA7B"/>
                </a:solidFill>
                <a:latin typeface="Consolas"/>
              </a:rPr>
              <a:t>-- Ernst salary = 6000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SELECT TO_CHAR(salary, '$99,999.00') AS SALARY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FROM   employees WHERE last_name = 'Ernst';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-- 결과: $6,000.00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SELECT TO_CHAR(salary, 'L99,999') AS LOCAL_SALARY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FROM   employees WHERE last_name = 'King';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-- 결과: $24,000  (NLS 설정에 따라 통화 기호 다름)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SELECT TO_CHAR(24000, '000,000,000') FROM dual;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-- 결과: 000,024,000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TO_DATE / TO_NUMBER / CAST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6492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Oracle Database 19c SQL Workshop — Chapter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6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55778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557784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1704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TO_DATE — 문자 → 날짜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554480"/>
            <a:ext cx="5394960" cy="21488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645920"/>
            <a:ext cx="5120640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0FA7B"/>
                </a:solidFill>
                <a:latin typeface="Consolas"/>
              </a:rPr>
              <a:t>-- 2010년 이전 입사자 조회 (RR 형식)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SELECT last_name,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   TO_CHAR(hire_date,'DD-Mon-YYYY')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WHERE  hire_date &lt; TO_DATE('01 Jan,10','DD Mon,RR');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-- '10' → RR 형식 → 2010년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931920"/>
            <a:ext cx="55778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931920"/>
            <a:ext cx="5577840" cy="3657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9593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TO_NUMBER — 문자 → 숫자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343400"/>
            <a:ext cx="5394960" cy="16916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434840"/>
            <a:ext cx="512064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0FA7B"/>
                </a:solidFill>
                <a:latin typeface="Consolas"/>
              </a:rPr>
              <a:t>SELECT TO_NUMBER('12,345.67','99,999.99')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FROM   dual;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-- 결과: 12345.67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SELECT TO_NUMBER('$1,200','$9,999')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FROM   dual;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-- 결과: 1200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143000"/>
            <a:ext cx="57607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1143000"/>
            <a:ext cx="576072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17043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CAST — 명시적 타입 변환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554480"/>
            <a:ext cx="5577840" cy="4069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1645920"/>
            <a:ext cx="530352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0FA7B"/>
                </a:solidFill>
                <a:latin typeface="Consolas"/>
              </a:rPr>
              <a:t>-- 형식: CAST(value AS target_type)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-- 문자열 결합 → 숫자로 변환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SELECT first_name, department_id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WHERE  department_id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   &lt; CAST(CONCAT('9','0') AS DECIMAL(2,0));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-- 숫자 → 문자열로 변환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SELECT first_name, salary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WHERE  INSTR(CAST(salary AS VARCHAR2(30)),'5')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   &gt; 0;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일반 함수 — NVL / NVL2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6492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Oracle Database 19c SQL Workshop — Chapter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7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557784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5577840" cy="4114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17043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NVL(expr1, expr2)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645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expr1이 NULL이면 expr2를 반환, NULL이 아니면 expr1을 반환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1488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• 두 표현식의 데이터 타입이 일치해야 한다
• NVL(commission_pct, 0)  — 숫자 타입
• NVL(hire_date, '01-JAN-97')  — 날짜 타입
• NVL(job_id, 'No Job Yet')  — 문자 타입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246120"/>
            <a:ext cx="5394960" cy="1463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337560"/>
            <a:ext cx="51206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0FA7B"/>
                </a:solidFill>
                <a:latin typeface="Consolas"/>
              </a:rPr>
              <a:t>SELECT last_name, salary,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   NVL(commission_pct, 0),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   (salary*12) +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   (salary*12*NVL(commission_pct,0)) AN_SAL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FROM   employees;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7548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King(24000, NULL): 24000×12 = 288,000
Russell(14000, 0.4): 14000×12×1.4 = 235,200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143000"/>
            <a:ext cx="576072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143000"/>
            <a:ext cx="5760720" cy="4114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17043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NVL2(expr1, expr2, expr3)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6459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expr1 ≠ NULL → expr2 반환
expr1 = NULL → expr3 반환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2194560"/>
            <a:ext cx="5577840" cy="16916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286000"/>
            <a:ext cx="530352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0FA7B"/>
                </a:solidFill>
                <a:latin typeface="Consolas"/>
              </a:rPr>
              <a:t>SELECT last_name, salary, commission_pct,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   NVL2(commission_pct,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        'SAL+COMM',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        'SAL') AS income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WHERE  department_id IN (50, 80);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977639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결과 예:
Russell (commission=0.4) → SAL+COMM
Higgins (commission=NULL) → SAL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663440"/>
            <a:ext cx="5577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NVL vs NVL2:
• NVL: NULL 대체값 1개
• NVL2: NULL/비-NULL 각각 다른 값 지정 가능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일반 함수 — NULLIF / COALESCE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6492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Oracle Database 19c SQL Workshop — Chapter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8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557784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5577840" cy="4114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17043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NULLIF(expr1, expr2)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6459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expr1 = expr2 → NULL 반환
expr1 ≠ expr2 → expr1 반환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148840"/>
            <a:ext cx="5394960" cy="2011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240280"/>
            <a:ext cx="51206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0FA7B"/>
                </a:solidFill>
                <a:latin typeface="Consolas"/>
              </a:rPr>
              <a:t>SELECT first_name,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   LENGTH(first_name)  AS expr1,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   last_name,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   LENGTH(last_name)   AS expr2,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   NULLIF(LENGTH(first_name),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          LENGTH(last_name)) AS result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FROM   employees;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25196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예:
Steven(6) vs King(4)    → 두 길이 다름 → 6
Lex(3)    vs De Haan(7) → 다름 → 3
같은 경우                → NULL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143000"/>
            <a:ext cx="576072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143000"/>
            <a:ext cx="5760720" cy="4114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17043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COALESCE(e1, e2, ..., en)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6459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첫 번째 NULL이 아닌 값을 반환한다
(NVL보다 유연 — 여러 대체값 지정 가능)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2194560"/>
            <a:ext cx="5577840" cy="16916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2286000"/>
            <a:ext cx="530352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0FA7B"/>
                </a:solidFill>
                <a:latin typeface="Consolas"/>
              </a:rPr>
              <a:t>SELECT last_name, salary, commission_pct,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   COALESCE(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       salary+(commission_pct*salary),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       salary+2000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   ) AS New_Salary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FROM   employees;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977639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Russell(commission=0.4): 14000+5600 = 19600
King(commission=NULL): 첫 표현식=NULL → 24000+2000=26000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663440"/>
            <a:ext cx="5394960" cy="640080"/>
          </a:xfrm>
          <a:prstGeom prst="rect">
            <a:avLst/>
          </a:prstGeom>
          <a:solidFill>
            <a:srgbClr val="F8F9FB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470916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NVL vs COALESCE:
• NVL(a,b) = COALESCE(a,b)  (2개 인수일 때 동일)
• 3개 이상: COALESCE(a,b,c) 권장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조건식 — CASE 표현식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6492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Oracle Database 19c SQL Workshop — Chapter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9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188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332"/>
                </a:solidFill>
              </a:rPr>
              <a:t>IF-THEN-ELSE 논리를 SELECT 문 안에서 구현 (ANSI SQL 표준)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00200"/>
            <a:ext cx="5577840" cy="3200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6276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일반 CASE (등가 비교)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65960"/>
            <a:ext cx="5577840" cy="3657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057400"/>
            <a:ext cx="53035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0FA7B"/>
                </a:solidFill>
                <a:latin typeface="Consolas"/>
              </a:rPr>
              <a:t>CASE expr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WHEN val1 THEN result1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WHEN val2 THEN result2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ELSE default_result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END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SELECT last_name, job_id, salary,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   CASE job_id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       WHEN 'IT_PROG'  THEN 1.10*salary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       WHEN 'ST_CLERK' THEN 1.15*salary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       WHEN 'SA_REP'   THEN 1.20*salary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       ELSE salary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   END AS REVISED_SALARY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FROM   employees;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600200"/>
            <a:ext cx="5760720" cy="3200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627632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Searched CASE (범위 조건)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965960"/>
            <a:ext cx="5760720" cy="3657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2057400"/>
            <a:ext cx="54864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0FA7B"/>
                </a:solidFill>
                <a:latin typeface="Consolas"/>
              </a:rPr>
              <a:t>CASE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WHEN condition1 THEN result1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WHEN condition2 THEN result2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ELSE default_result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END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SELECT last_name, salary,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   CASE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       WHEN salary &lt; 5000  THEN 'Low'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       WHEN salary &lt; 10000 THEN 'Medium'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       WHEN salary &lt; 20000 THEN 'Good'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       ELSE 'Excellent'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   END AS qualified_salary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FROM   employees;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566928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74634"/>
                </a:solidFill>
              </a:rPr>
              <a:t>핵심: 일반 CASE는 등가(=)만 / Searched CASE는 모든 조건 가능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DECODE 함수 (Oracle 전용)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6492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Oracle Database 19c SQL Workshop — Chapter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10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188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332"/>
                </a:solidFill>
              </a:rPr>
              <a:t>CASE 표현식 또는 IF-THEN-ELSE와 동일한 작업 수행 — Oracle 전용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00200"/>
            <a:ext cx="11612880" cy="5486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691640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0FA7B"/>
                </a:solidFill>
                <a:latin typeface="Consolas"/>
              </a:rPr>
              <a:t>DECODE(col|expr, search1, result1 [, search2, result2,...] [, default])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286000"/>
            <a:ext cx="5577840" cy="3200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3134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예제 1: 직무별 급여 인상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651760"/>
            <a:ext cx="5577840" cy="2194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743200"/>
            <a:ext cx="53035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0FA7B"/>
                </a:solidFill>
                <a:latin typeface="Consolas"/>
              </a:rPr>
              <a:t>SELECT last_name, job_id, salary,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   DECODE(job_id,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          'IT_PROG',  1.10*salary,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          'ST_CLERK', 1.15*salary,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          'SA_REP',   1.20*salary,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          salary) REVISED_SALARY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FROM   employees;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937760"/>
            <a:ext cx="5577840" cy="3200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9651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예제 2: 급여 구간 세율 (부서 80)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303520"/>
            <a:ext cx="5577840" cy="1371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5394960"/>
            <a:ext cx="5303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0FA7B"/>
                </a:solidFill>
                <a:latin typeface="Consolas"/>
              </a:rPr>
              <a:t>SELECT last_name, salary,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   DECODE(TRUNC(salary/2000,0),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          0,0.00, 1,0.09, 2,0.20,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          3,0.30, 4,0.40, 0.45) TAX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WHERE  department_id = 80;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2286000"/>
            <a:ext cx="57607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2286000"/>
            <a:ext cx="5760720" cy="411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31343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CASE vs DECODE 비교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743200"/>
            <a:ext cx="1859280" cy="3962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2743200"/>
            <a:ext cx="1767840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항목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77200" y="2743200"/>
            <a:ext cx="1859280" cy="3962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22920" y="2743200"/>
            <a:ext cx="1767840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CASE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36480" y="2743200"/>
            <a:ext cx="1859280" cy="3962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82200" y="2743200"/>
            <a:ext cx="1767840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DECODE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139440"/>
            <a:ext cx="1859280" cy="39624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3139440"/>
            <a:ext cx="1767840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표준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7200" y="3139440"/>
            <a:ext cx="1859280" cy="39624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22920" y="3139440"/>
            <a:ext cx="1767840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ANSI SQL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36480" y="3139440"/>
            <a:ext cx="1859280" cy="39624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82200" y="3139440"/>
            <a:ext cx="1767840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Oracle 전용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3535680"/>
            <a:ext cx="185928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3535680"/>
            <a:ext cx="1767840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조건방식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77200" y="3535680"/>
            <a:ext cx="185928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22920" y="3535680"/>
            <a:ext cx="1767840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등가+범위 모두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936480" y="3535680"/>
            <a:ext cx="185928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82200" y="3535680"/>
            <a:ext cx="1767840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등가(=)만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3931920"/>
            <a:ext cx="1859280" cy="39624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63640" y="3931920"/>
            <a:ext cx="1767840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Searched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77200" y="3931920"/>
            <a:ext cx="1859280" cy="39624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22920" y="3931920"/>
            <a:ext cx="1767840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지원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936480" y="3931920"/>
            <a:ext cx="1859280" cy="39624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82200" y="3931920"/>
            <a:ext cx="1767840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미지원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4328160"/>
            <a:ext cx="185928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63640" y="4328160"/>
            <a:ext cx="1767840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NULL비교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77200" y="4328160"/>
            <a:ext cx="185928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22920" y="4328160"/>
            <a:ext cx="1767840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IS NULL 필요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936480" y="4328160"/>
            <a:ext cx="185928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982200" y="4328160"/>
            <a:ext cx="1767840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NULL=NULL 가능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17920" y="4724400"/>
            <a:ext cx="1859280" cy="39624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63640" y="4724400"/>
            <a:ext cx="1767840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권장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77200" y="4724400"/>
            <a:ext cx="1859280" cy="39624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22920" y="4724400"/>
            <a:ext cx="1767840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실무 권장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936480" y="4724400"/>
            <a:ext cx="1859280" cy="39624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982200" y="4724400"/>
            <a:ext cx="1767840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레거시 코드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7920" y="521208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74634"/>
                </a:solidFill>
              </a:rPr>
              <a:t>⚠ DECODE에서 NULL 처리 주의:
   DECODE(col, NULL, 'null') → NULL = NULL을 TRUE로 처리
   CASE에서는 WHEN col IS NULL THEN 사용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변환 함수 + 조건식 종합 예제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6492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Oracle Database 19c SQL Workshop — Chapter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11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7315200" cy="5212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234440"/>
            <a:ext cx="70408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0FA7B"/>
                </a:solidFill>
                <a:latin typeface="Consolas"/>
              </a:rPr>
              <a:t>-- 직무별 급여 인상 + NULL 처리 + 숫자 형식화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SELECT last_name,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   TO_CHAR(hire_date, 'fmDD Month YYYY')   AS hire_date,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   TO_CHAR(salary, '$99,999')              AS current_sal,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   NVL2(commission_pct, 'SAL+COMM', 'SAL') AS income_type,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   TO_CHAR(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       CASE job_id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           WHEN 'IT_PROG'  THEN 1.10*salary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           WHEN 'ST_CLERK' THEN 1.15*salary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           WHEN 'SA_REP'   THEN 1.20*salary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           ELSE salary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       END, '$99,999') AS revised_sal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WHERE  department_id IN (60, 80)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ORDER BY salary DESC;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1143000"/>
            <a:ext cx="429768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2344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74634"/>
                </a:solidFill>
              </a:rPr>
              <a:t>결과 (일부):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6002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LAST_NAME  | HIRE_DATE       | CUR_SAL  | TYPE     | REV_SAL
-----------+-----------------+----------+----------+---------
Russell    | 1 October 1996  | $14,000  | SAL+COMM | $14,000
Partners   | 5 January 1997  | $13,500  | SAL+COMM | $13,500
Hunold     | 3 January 1990  | $9,000   | SAL      | $9,900
Ernst      | 21 May 1991     | $6,000   | SAL      | $6,600
...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JSON 함수 (개요)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6492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Oracle Database 19c SQL Workshop — Chapter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12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188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332"/>
                </a:solidFill>
              </a:rPr>
              <a:t>Oracle 12c 이상에서 JSON 데이터를 SQL로 처리하는 함수를 제공한다.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45920"/>
            <a:ext cx="11612880" cy="3200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67335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JSON_QUERY — JSON 전체 또는 일부를 문자열로 반환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011680"/>
            <a:ext cx="11612880" cy="9144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103120"/>
            <a:ext cx="11338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0FA7B"/>
                </a:solidFill>
                <a:latin typeface="Consolas"/>
              </a:rPr>
              <a:t>SELECT JSON_QUERY('{a:100, b:200, c:300}', '$') AS value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FROM   dual;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-- 결과: {"a":100,"b":200,"c":300}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63240"/>
            <a:ext cx="11612880" cy="3200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09067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JSON_VALUE — JSON에서 특정 키의 스칼라 값을 반환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429000"/>
            <a:ext cx="11612880" cy="7315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52044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0FA7B"/>
                </a:solidFill>
                <a:latin typeface="Consolas"/>
              </a:rPr>
              <a:t>SELECT JSON_VALUE('{a:100}', '$.a') AS value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FROM   dual;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-- 결과: 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297680"/>
            <a:ext cx="11612880" cy="3200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32511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JSON_TABLE — JSON 데이터를 관계형 뷰로 변환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663440"/>
            <a:ext cx="11612880" cy="1463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4754880"/>
            <a:ext cx="113385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0FA7B"/>
                </a:solidFill>
                <a:latin typeface="Consolas"/>
              </a:rPr>
              <a:t>SELECT * FROM JSON_TABLE(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'[{"name":"King","dept":90},{"name":"Abel","dept":80}]',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'$[*]' COLUMNS(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    name VARCHAR2(50) PATH '$.name',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    dept NUMBER       PATH '$.dept'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    )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);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NULL 처리 함수 비교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6492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Oracle Database 19c SQL Workshop — Chapter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13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2322576" cy="43891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143000"/>
            <a:ext cx="22311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함수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96896" y="1143000"/>
            <a:ext cx="2322576" cy="43891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42616" y="1143000"/>
            <a:ext cx="22311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형식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19472" y="1143000"/>
            <a:ext cx="2322576" cy="43891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65192" y="1143000"/>
            <a:ext cx="22311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NULL 입력 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42048" y="1143000"/>
            <a:ext cx="2322576" cy="43891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87768" y="1143000"/>
            <a:ext cx="22311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비-NULL 입력 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64624" y="1143000"/>
            <a:ext cx="2322576" cy="43891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10344" y="1143000"/>
            <a:ext cx="22311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주요 용도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581912"/>
            <a:ext cx="2322576" cy="438912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1581912"/>
            <a:ext cx="22311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NVL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96896" y="1581912"/>
            <a:ext cx="2322576" cy="438912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42616" y="1581912"/>
            <a:ext cx="22311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NVL(a,b)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19472" y="1581912"/>
            <a:ext cx="2322576" cy="438912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65192" y="1581912"/>
            <a:ext cx="22311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b 반환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42048" y="1581912"/>
            <a:ext cx="2322576" cy="438912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87768" y="1581912"/>
            <a:ext cx="22311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a 반환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64624" y="1581912"/>
            <a:ext cx="2322576" cy="438912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0344" y="1581912"/>
            <a:ext cx="22311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단순 NULL 대체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020824"/>
            <a:ext cx="2322576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2020824"/>
            <a:ext cx="22311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NVL2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96896" y="2020824"/>
            <a:ext cx="2322576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42616" y="2020824"/>
            <a:ext cx="22311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NVL2(a,b,c)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19472" y="2020824"/>
            <a:ext cx="2322576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65192" y="2020824"/>
            <a:ext cx="22311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c 반환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42048" y="2020824"/>
            <a:ext cx="2322576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87768" y="2020824"/>
            <a:ext cx="22311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b 반환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64624" y="2020824"/>
            <a:ext cx="2322576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10344" y="2020824"/>
            <a:ext cx="22311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NULL/비-NULL 각각 다른 처리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2459736"/>
            <a:ext cx="2322576" cy="438912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2459736"/>
            <a:ext cx="22311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NULLIF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96896" y="2459736"/>
            <a:ext cx="2322576" cy="438912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42616" y="2459736"/>
            <a:ext cx="22311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NULLIF(a,b)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19472" y="2459736"/>
            <a:ext cx="2322576" cy="438912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65192" y="2459736"/>
            <a:ext cx="22311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a 반환 (a≠NULL)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42048" y="2459736"/>
            <a:ext cx="2322576" cy="438912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87768" y="2459736"/>
            <a:ext cx="22311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a=b이면 NULL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564624" y="2459736"/>
            <a:ext cx="2322576" cy="438912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10344" y="2459736"/>
            <a:ext cx="22311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값 비교 후 NULL 처리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2898648"/>
            <a:ext cx="2322576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" y="2898648"/>
            <a:ext cx="22311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COALESCE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96896" y="2898648"/>
            <a:ext cx="2322576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642616" y="2898648"/>
            <a:ext cx="22311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COALESCE(a,b,...n)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919472" y="2898648"/>
            <a:ext cx="2322576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965192" y="2898648"/>
            <a:ext cx="22311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다음 인수 시도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242048" y="2898648"/>
            <a:ext cx="2322576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87768" y="2898648"/>
            <a:ext cx="22311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첫 비-NULL 반환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564624" y="2898648"/>
            <a:ext cx="2322576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10344" y="2898648"/>
            <a:ext cx="22311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여러 대체값 우선순위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" y="34747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74634"/>
                </a:solidFill>
              </a:rPr>
              <a:t>NULLIF 특이 사항: NULLIF(a, b) = CASE WHEN a=b THEN NULL ELSE a END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3886200"/>
            <a:ext cx="11612880" cy="3200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60" y="391363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실용 패턴 예시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4251960"/>
            <a:ext cx="11612880" cy="2011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1480" y="4343400"/>
            <a:ext cx="113385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0FA7B"/>
                </a:solidFill>
                <a:latin typeface="Consolas"/>
              </a:rPr>
              <a:t>-- 1. NVL: commission이 없으면 0으로 처리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(salary*12) + (salary*12*NVL(commission_pct,0))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-- 2. NVL2: commission 유무에 따라 다른 레이블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NVL2(commission_pct, 'WITH COMM', 'NO COMM')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-- 3. COALESCE: 여러 열 중 첫 번째 비-NULL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COALESCE(phone_mobile, phone_home, email, '연락처없음')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-- 4. NULLIF: 제수가 0이면 NULL(0으로 나누기 오류 방지)</a:t>
            </a:r>
          </a:p>
          <a:p>
            <a:r>
              <a:rPr sz="1150">
                <a:solidFill>
                  <a:srgbClr val="50FA7B"/>
                </a:solidFill>
                <a:latin typeface="Consolas"/>
              </a:rPr>
              <a:t>salary / NULLIF(working_days, 0)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단원 요약 &amp; Practice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6492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Oracle Database 19c SQL Workshop — Chapter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14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685800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6858000" cy="4114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170432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이 단원에서 배운 내용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600200"/>
            <a:ext cx="3291840" cy="492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600200"/>
            <a:ext cx="3200400" cy="49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분류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1600200"/>
            <a:ext cx="3291840" cy="492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1600200"/>
            <a:ext cx="3200400" cy="49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내용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092960"/>
            <a:ext cx="3291840" cy="49276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092960"/>
            <a:ext cx="3200400" cy="49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TO_CHAR(날짜)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2092960"/>
            <a:ext cx="3291840" cy="49276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3320" y="2092960"/>
            <a:ext cx="3200400" cy="49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YYYY/MM/DD/MONTH/DY/HH24:MI:SS, fm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585720"/>
            <a:ext cx="3291840" cy="492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2585720"/>
            <a:ext cx="3200400" cy="49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TO_CHAR(숫자)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0" y="2585720"/>
            <a:ext cx="3291840" cy="492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03320" y="2585720"/>
            <a:ext cx="3200400" cy="49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9, 0, $, L, ., ,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078480"/>
            <a:ext cx="3291840" cy="49276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3078480"/>
            <a:ext cx="3200400" cy="49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TO_DATE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0" y="3078480"/>
            <a:ext cx="3291840" cy="49276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03320" y="3078480"/>
            <a:ext cx="3200400" cy="49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문자열 → 날짜 (RR 형식 주의)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571240"/>
            <a:ext cx="3291840" cy="492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3571240"/>
            <a:ext cx="3200400" cy="49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NVL / NVL2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3571240"/>
            <a:ext cx="3291840" cy="492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03320" y="3571240"/>
            <a:ext cx="3200400" cy="49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NULL 대체 / NULL-비NULL 분기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064000"/>
            <a:ext cx="3291840" cy="49276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4064000"/>
            <a:ext cx="3200400" cy="49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NULLIF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0" y="4064000"/>
            <a:ext cx="3291840" cy="49276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03320" y="4064000"/>
            <a:ext cx="3200400" cy="49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같으면 NULL, 다르면 첫 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556760"/>
            <a:ext cx="3291840" cy="492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4556760"/>
            <a:ext cx="3200400" cy="49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COALESCE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0" y="4556760"/>
            <a:ext cx="3291840" cy="492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03320" y="4556760"/>
            <a:ext cx="3200400" cy="49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여러 값 중 첫 비-NULL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049520"/>
            <a:ext cx="3291840" cy="49276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5049520"/>
            <a:ext cx="3200400" cy="49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CASE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0" y="5049520"/>
            <a:ext cx="3291840" cy="49276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03320" y="5049520"/>
            <a:ext cx="3200400" cy="49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ANSI 표준, 범위 조건 지원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542280"/>
            <a:ext cx="3291840" cy="492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5542280"/>
            <a:ext cx="3200400" cy="49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DECODE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0" y="5542280"/>
            <a:ext cx="3291840" cy="492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03320" y="5542280"/>
            <a:ext cx="3200400" cy="49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Oracle 전용, 등가 비교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0" y="1143000"/>
            <a:ext cx="4572000" cy="5212080"/>
          </a:xfrm>
          <a:prstGeom prst="rect">
            <a:avLst/>
          </a:prstGeom>
          <a:solidFill>
            <a:srgbClr val="FFFFFF"/>
          </a:solidFill>
          <a:ln w="25400"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315200" y="1143000"/>
            <a:ext cx="4572000" cy="4114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06640" y="117043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Practice 5 — 개요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52360" y="1801368"/>
            <a:ext cx="274320" cy="2743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52360" y="175564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8120" y="16916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TO_CHAR로 날짜/숫자 형식화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52360" y="2459736"/>
            <a:ext cx="274320" cy="2743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52360" y="241401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18120" y="235000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TO_DATE로 날짜 문자열 변환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452360" y="3118104"/>
            <a:ext cx="274320" cy="2743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52360" y="307238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18120" y="3008376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NVL로 NULL 처리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52360" y="3776472"/>
            <a:ext cx="274320" cy="2743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452360" y="373075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18120" y="3666744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NVL2로 조건부 레이블 부여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452360" y="4434840"/>
            <a:ext cx="274320" cy="2743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452360" y="43891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18120" y="4325112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CASE로 급여 등급 분류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452360" y="5093208"/>
            <a:ext cx="274320" cy="2743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452360" y="504748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18120" y="498348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DECODE로 부서명 매핑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452360" y="5751576"/>
            <a:ext cx="274320" cy="2743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452360" y="570585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818120" y="564184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변환 함수 + 조건식 종합 응용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
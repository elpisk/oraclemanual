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36576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11430000" cy="36576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430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623"/>
                </a:solidFill>
              </a:rPr>
              <a:t>Chapter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고급 그룹 함수를 이용한
리포트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28090"/>
                </a:solidFill>
              </a:rPr>
              <a:t>Generating Reports by Grouping Related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ROLLUP — 계층적 소계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CUBE — 교차 집계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GROUPING 함수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GROUPING 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복합 컬럼 &amp; 연결 그룹화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Oracle Database 19c: SQL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46304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ROLLUP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005840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0789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GROUP BY의 확장 — 계층적 소계(subtotal)와 전체 합계를 자동 생성한다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14630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202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920240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9933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모든 컬럼 조합의 교차 집계(cross-tabulation)를 단일 쿼리로 생성한다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14630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GROUPING 함수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834640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9077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소계로 인한 NULL과 실제 데이터 NULL을 구별하여 레이블을 표시한다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146304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GROUPING 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3749039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822191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원하는 그룹화 조합만 선택하여 UNION ALL보다 효율적으로 처리한다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14630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6634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복합 컬럼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663440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47365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괄호로 묶인 컬럼을 하나의 단위로 취급하여 중간 소계 수준을 건너뛴다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77840"/>
            <a:ext cx="146304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778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연결 그룹화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5577840"/>
            <a:ext cx="9875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56509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여러 ROLLUP/CUBE/GROUPING SETS를 쉼표로 연결하여 교차 곱을 생성한다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GROUP BY 복습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기본 집계 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57784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6304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AVG(salary)         AS avg_sal,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STDDEV(salary)      AS std_sal,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COUNT(commission_pct) AS cnt_comm,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MAX(hire_date)      AS latest_hire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job_id LIKE 'SA%';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0400"/>
            <a:ext cx="55778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218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GROUP BY + HAVING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57784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749039"/>
            <a:ext cx="5303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SUM(salary),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COUNT(employee_id)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department_id, job_id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HAVING   SUM(salary) &gt; 10000;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914400"/>
            <a:ext cx="56692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주요 집계 함수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81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COUNT(*)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48132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전체 행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01168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756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COUNT(col)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0756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NULL 제외 행 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700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SUM(col)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700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합계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0040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644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AVG(col)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26440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평균 (NULL 제외)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79476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587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MAX(col)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85876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최대값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38912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453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MIN(col)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45312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최소값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98348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0474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STDDEV(col)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50474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표준편차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57784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6418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0FA7B"/>
                </a:solidFill>
              </a:rPr>
              <a:t>VARIANCE(col)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56418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분산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ROLLUP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GROUP BY의 확장 — 일반 그룹 행 외에 소계(subtotal)와 전체 합계를 계층적으로 자동 생성한다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59436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0992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594360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94560"/>
            <a:ext cx="5669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col, group_function(col)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table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[WHERE   condition]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[GROUP BY ROLLUP (col1, col2, ...)]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[HAVING  having_expr]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[ORDER BY col];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91640"/>
            <a:ext cx="53949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099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ROLLUP(a, b, c) 집계 수준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148840"/>
            <a:ext cx="914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148840"/>
            <a:ext cx="4434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25856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(a, b, c)  →  가장 세분화된 그룹 — 일반 GROUP BY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926080"/>
            <a:ext cx="914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926080"/>
            <a:ext cx="4434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0358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(a, b)     →  c 기준 소계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703320"/>
            <a:ext cx="914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3단계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4434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8130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(a)        →  b 기준 소계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480560"/>
            <a:ext cx="914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4단계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4480560"/>
            <a:ext cx="4434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59028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()         →  전체 합계 (Grand Total)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8620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904487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⚠  소계 행에서 집계되지 않는 컬럼은 NULL로 표시됩니다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97680"/>
            <a:ext cx="116128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1596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n개 컬럼 ROLLUP → n + 1 가지 집계 수준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00600"/>
            <a:ext cx="1161288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8188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구조 예시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66360"/>
            <a:ext cx="116128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257800"/>
            <a:ext cx="1133855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DEPT_ID  JOB_ID    SUM(SAL)   ← 행 종류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10       AD_ASST     4400   ← 일반 행 (dept=10, job=AD_ASST)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10       NULL        4400   ← 부서 소계 (dept=10, job=NULL)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NULL     NULL       XXXXX   ← 전체 합계 (모두 NULL)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ROLLUP 예제 — 소계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76072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실행 쿼리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76072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17320"/>
            <a:ext cx="54864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&lt; 60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ROLLUP(department_id, job_id)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ORDER BY department_id NULLS LAST,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job_id NULLS LAST;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57607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17296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GROUPING 함수로 레이블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576072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57600"/>
            <a:ext cx="548640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DECODE(GROUPING(department_id),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1, '[전체합계]',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TO_CHAR(department_id)) AS dept,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DECODE(GROUPING(job_id),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1, '[소계]', job_id) AS job,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department_id &lt; 60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ROLLUP(department_id, job_id);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1440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9326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미리보기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182880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371600"/>
            <a:ext cx="182880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371600"/>
            <a:ext cx="1874519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DEPT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JOB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435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SUM(SAL)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90195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90195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12680" y="1901952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10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AD_ASST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2332"/>
                </a:solidFill>
              </a:rPr>
              <a:t>4,400  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32304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432304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12680" y="2432304"/>
            <a:ext cx="1874519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496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10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96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NULL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496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2332"/>
                </a:solidFill>
              </a:rPr>
              <a:t>4,400  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962656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2962656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12680" y="2962656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02666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20  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02666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MK_MAN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2666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2332"/>
                </a:solidFill>
              </a:rPr>
              <a:t>13,000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493008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3493008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12680" y="3493008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55701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20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55701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MK_REP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55701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2332"/>
                </a:solidFill>
              </a:rPr>
              <a:t>6,000  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023360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4023360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12680" y="4023360"/>
            <a:ext cx="1874519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20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NULL    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2332"/>
                </a:solidFill>
              </a:rPr>
              <a:t>19,000 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55371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83879" y="455371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12680" y="4553712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4617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30     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617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PU_CLERK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617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2332"/>
                </a:solidFill>
              </a:rPr>
              <a:t>13,900 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084064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83879" y="5084064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12680" y="5084064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148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30    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148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PU_MAN  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5148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2332"/>
                </a:solidFill>
              </a:rPr>
              <a:t>11,000 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5614416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83879" y="5614416"/>
            <a:ext cx="18288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12680" y="5614416"/>
            <a:ext cx="1874519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56784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30     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6784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NULL   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56784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2332"/>
                </a:solidFill>
              </a:rPr>
              <a:t>24,900 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6144768"/>
            <a:ext cx="182880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83879" y="6144768"/>
            <a:ext cx="182880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12680" y="6144768"/>
            <a:ext cx="1874519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80" y="6208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NULL   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6208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NULL    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6208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XXXXX  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18520" y="29626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← 부서 소계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18520" y="6675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</a:rPr>
              <a:t>← 전체 합계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CUBE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6400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ROLLUP의 모든 집계 + 모든 컬럼 조합의 교차 집계(cross-tabulation)를 생성한다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099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557784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94560"/>
            <a:ext cx="5303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col, group_function(col)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table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[WHERE   condition]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[GROUP BY CUBE (col1, col2, ...)]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[HAVING  having_expr]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[ORDER BY col];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58521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992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CUBE(a, b) — 4가지 집계 수준 (2^2 =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148840"/>
            <a:ext cx="164592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14884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(a, 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148840"/>
            <a:ext cx="4160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267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기본 그룹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898648"/>
            <a:ext cx="16459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89864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(a) 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2898648"/>
            <a:ext cx="4160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017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a 기준 소계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648456"/>
            <a:ext cx="1645920" cy="5669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64845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(b)  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3648456"/>
            <a:ext cx="4160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767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b 기준 소계  ← ROLLUP에는 없는 행!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398264"/>
            <a:ext cx="164592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3982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()   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398264"/>
            <a:ext cx="4160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5171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전체 합계 (Grand Total)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9476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81304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n개 컬럼 기준:  ROLLUP → n+1 가지 집계  |  CUBE → 2^n 가지 집계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51960"/>
            <a:ext cx="116128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343400"/>
            <a:ext cx="1133855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&lt; 60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CUBE(department_id, job_id)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ORDER BY department_id NULLS LAST, job_id NULLS LAST;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CUBE 예제 — 교차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ROLLUP vs CUBE 결과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56692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463040"/>
            <a:ext cx="53949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ROLLUP(dept, job) 생성 수준: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1. (dept, job) — 부서+직무 조합 상세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2. (dept)      — 부서별 소계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3. ()          — 전체 합계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→ 총 3가지 수준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CUBE(dept, job) 생성 수준: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1. (dept, job) — 부서+직무 조합 상세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2. (dept)      — 부서별 소계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3. (job)       — 직무별 소계  ← 추가!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4. ()          — 전체 합계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→ 총 4가지 수준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CUBE에만 존재하는 행: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dept=NULL, job='MK_MAN'  → 19,000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dept=NULL, job='AD_ASST' → 4,400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dept=NULL, job='PU_CLERK'→ ...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(직무별 소계 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9326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CUBE — 직무 단독 소계 추출 예제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66928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53949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CUBE 실행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&lt; 60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CUBE(department_id, job_id)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ORDER BY department_id NULLS LAST,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job_id NULLS LAST;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직무(job_id) 단독 소계만 추출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&lt; 60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CUBE(department_id, job_id)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HAVING   GROUPING(department_id) = 1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AND GROUPING(job_id) = 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ORDER BY job_id;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66344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6817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CUBE 결과 활용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120640"/>
            <a:ext cx="41148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480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부서별 실적 + 직무별 실적 + 교차 집계를 단일 쿼리로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623559"/>
            <a:ext cx="41148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62355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65099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피벗 테이블 형태의 다차원 분석 보고서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6126479"/>
            <a:ext cx="41148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61264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615391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BI/보고 도구와 연동하는 다차원 데이터 원본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ROLLUP vs CUBE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960120"/>
            <a:ext cx="36576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9601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ROLLUP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960120"/>
            <a:ext cx="3840480" cy="5029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960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402336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733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집계 수준 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554480"/>
            <a:ext cx="36576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627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n + 1 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84048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276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2^n 가지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5059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소계 방향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331720"/>
            <a:ext cx="3657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404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계층적 (왼쪽→오른쪽)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331720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4048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모든 컬럼 조합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08960"/>
            <a:ext cx="402336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추가 특수 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108960"/>
            <a:ext cx="36576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1821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소계 + 전체 합계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108960"/>
            <a:ext cx="384048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182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소계 + 전체 합계
+ 역방향 소계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8620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005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n=2 예시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3886200"/>
            <a:ext cx="3657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593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3가지 수준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886200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9593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4가지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663440"/>
            <a:ext cx="402336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78231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n=3 예시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663440"/>
            <a:ext cx="36576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736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4가지 수준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663440"/>
            <a:ext cx="384048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4736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8가지 수준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440680"/>
            <a:ext cx="4023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5595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최적 용도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5440680"/>
            <a:ext cx="3657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55138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계층적 보고서
(연→분기→월)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5440680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55138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다차원 분석
(피벗 테이블)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28192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💡 ROLLUP은 계층 보고서, CUBE는 다차원 분석에 최적 — 필요에 맞게 선택하세요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GROUPING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601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ROLLUP/CUBE 결과에서 '소계 NULL'과 '실제 데이터 NULL'을 구별한다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소계 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ROLLUP/CUBE가 소계 행에 집계되지 않는 컬럼을 NULL로 채운 값.
GROUPING() = 1 반환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00200"/>
            <a:ext cx="59436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61848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실제 데이터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011680"/>
            <a:ext cx="5943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05740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원래 데이터에 NULL이 있는 경우. 예: manager_id가 없는 최고관리자.
GROUPING() = 0 반환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644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GROUPING 함수 구문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749039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col, group_function(col),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GROUPING(col)   -- 0 또는 1 반환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table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[ROLLUP | CUBE](group_by_expression);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GROUPING() 반환값: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-- 1: ROLLUP/CUBE가 채운 소계 NULL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-- 0: 실제 데이터 값 (NULL 포함)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46120"/>
            <a:ext cx="585216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26440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활용 패턴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657600"/>
            <a:ext cx="585216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749039"/>
            <a:ext cx="5577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DECODE로 레이블 표시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DECODE(GROUPING(department_id),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1, '전체합계',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TO_CHAR(department_id)) AS dept,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DECODE(GROUPING(job_id),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1, '소계', job_id) AS job,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ROLLUP(department_id, job_id);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60720"/>
            <a:ext cx="1161288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24728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비트 마스크 패턴:  GROUPING(dept)*2 + GROUPING(job)*1  →  0=상세  1=부서소계  2=직무소계  3=전체합계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GROUPING 함수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005840"/>
            <a:ext cx="113385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  DEPTID,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job_id        JOB,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SUM(salary)   TOTAL,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GROUPING(department_id) GRP_DEPT,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GROUPING(job_id)        GRP_JOB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&lt; 50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ROLLUP(department_id, job_id);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85292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및 해석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46120"/>
            <a:ext cx="137160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264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DEPTID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9928" y="3246120"/>
            <a:ext cx="201168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5648" y="32644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JOB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5616" y="3246120"/>
            <a:ext cx="137160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3264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TOTAL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1224" y="3246120"/>
            <a:ext cx="137160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264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GRP_DEPT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56832" y="3246120"/>
            <a:ext cx="118872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GRP_JOB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246120"/>
            <a:ext cx="320040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3264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행 종류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767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9928" y="3703320"/>
            <a:ext cx="2011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5648" y="37673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AD_ASST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5616" y="3703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1336" y="3767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4,400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21224" y="3703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6944" y="3767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370332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37673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70332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37673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일반 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605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2245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09928" y="4160520"/>
            <a:ext cx="20116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55648" y="42245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NULL  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85616" y="41605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31336" y="42245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4,400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21224" y="41605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66944" y="42245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6832" y="4160520"/>
            <a:ext cx="1188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2552" y="42245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60" y="4160520"/>
            <a:ext cx="3200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42245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← 부서 소계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6177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6817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09928" y="4617720"/>
            <a:ext cx="2011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55648" y="46817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MK_MAN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85616" y="46177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31336" y="46817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13,000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21224" y="46177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6944" y="46817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56832" y="461772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2552" y="46817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461772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0" y="46817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일반 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0749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51389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09928" y="5074920"/>
            <a:ext cx="2011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55648" y="51389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MK_REP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85616" y="50749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31336" y="51389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21224" y="50749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66944" y="51389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56832" y="507492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02552" y="51389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9560" y="507492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55280" y="51389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일반 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5321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5596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09928" y="5532120"/>
            <a:ext cx="20116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55648" y="55961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NULL   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85616" y="55321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31336" y="5596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19,000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21224" y="5532120"/>
            <a:ext cx="1371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66944" y="5596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56832" y="5532120"/>
            <a:ext cx="1188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02552" y="55961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09560" y="5532120"/>
            <a:ext cx="3200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55280" y="55961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2"/>
                </a:solidFill>
              </a:rPr>
              <a:t>← 부서 소계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989320"/>
            <a:ext cx="13716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6053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NULL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09928" y="5989320"/>
            <a:ext cx="201168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55648" y="60533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NULL   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85616" y="5989320"/>
            <a:ext cx="13716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31336" y="6053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XXXXX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21224" y="5989320"/>
            <a:ext cx="13716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66944" y="60533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56832" y="5989320"/>
            <a:ext cx="1188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02552" y="60533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09560" y="5989320"/>
            <a:ext cx="32004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0" y="60533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← 전체 합계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6492240"/>
            <a:ext cx="1161288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GROUPING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단일 SELECT에서 원하는 그룹화 집합만 선택하여 UNION ALL보다 효율적으로 처리한다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57784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5303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col, group_function(col)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table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GROUPING SETS (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(col_list1),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(col_list2),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5778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31920"/>
            <a:ext cx="5303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예제: 부서-직무 조합 + 직무-관리자 조합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manager_id,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AVG(salary) AS avg_salary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GROUPING SETS (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(department_id, job_id),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(job_id, manager_id)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00200"/>
            <a:ext cx="57607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6184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GROUPING SETS 장점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057400"/>
            <a:ext cx="19202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0574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단일 패스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057400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1762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기본 테이블을 1번만 읽어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34640"/>
            <a:ext cx="19202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8346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간결한 코드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2834640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29535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복잡한 UNION ALL 대신 깔끔한 단일 쿼리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611880"/>
            <a:ext cx="19202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성능 이점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611880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그룹화 집합이 많을수록 성능 우위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389120"/>
            <a:ext cx="19202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389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유연성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389120"/>
            <a:ext cx="3794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5079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계층과 무관한 임의 그룹화 조합 선택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212080"/>
            <a:ext cx="57607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23036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동등한 UNION ALL 표현 (비효율)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623560"/>
            <a:ext cx="576072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571500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dept, job, NULL mgr, AVG(salary)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employees GROUP BY dept, job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UNION ALL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NULL, job, mgr, AVG(salary)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employees GROUP BY job, mgr;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→ 테이블을 2번 읽음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복합 컬럼 (Composite Columns)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괄호로 묶인 컬럼들을 하나의 단위로 취급 — ROLLUP/CUBE 계산 시 중간 소계 수준을 건너뛴다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일반 ROLLUP(a, b, c)  — 4가지 수준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6692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5394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ROLLUP(dept, job, mgr)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생성 수준: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(dept, job, mgr)  ← 상세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(dept, job)       ← mgr 소계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(dept)            ← job 소계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()                ← 전체 합계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184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복합 컬럼 ROLLUP(a, (b, c))  — 3가지 수준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56692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5394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ROLLUP(dept, (job, mgr))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생성 수준: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(dept, job, mgr)  ← 상세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(dept)            ← 소계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()                ← 전체 합계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※ (dept, job) 중간 수준 없음!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08736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실제 예제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116128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572000"/>
            <a:ext cx="113385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(job_id, manager_id)를 하나의 집계 단위로 처리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manager_id, SUM(salary)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IN (20, 50)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ROLLUP(department_id, (job_id, manager_id));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→ 부서 소계와 전체 합계는 생성하지만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  job_id 단독 소계는 생성하지 않음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4190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💡 복합 컬럼은 업무적으로 반드시 함께 집계해야 하는 컬럼 묶음에 활용하세요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연결 그룹화 (Concatenated Groupings)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Chapter 21  |  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Chapter 21 — 고급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여러 GROUPING SETS / ROLLUP / CUBE를 쉼표로 연결 → 교차 곱(cross-product) 집계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66928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5394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a,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ROLLUP(b),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CUBE(c)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교차 곱 예시: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  ROLLUP(b): (b), ()  → 2가지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  CUBE(c):   (c), ()  → 2가지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  a는 고정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총 2 × 2 = 4가지 집계 수준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80560"/>
            <a:ext cx="56692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572000"/>
            <a:ext cx="5394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실제 예제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  department_id, job_id, manager_id,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SUM(salary),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GROUPING(department_id) gd,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GROUPING(job_id)        gj,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GROUPING(manager_id)    gm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  department_id IN (20, 50)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GROUP BY department_id,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ROLLUP(job_id),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CUBE(manager_id);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669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184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GROUP BY dept, ROLLUP(job), CUBE(mgr) 생성 수준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057400"/>
            <a:ext cx="320040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76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(dept, job, mgr)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057400"/>
            <a:ext cx="2423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2219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상세 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71800"/>
            <a:ext cx="32004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0906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(dept, job)    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2971800"/>
            <a:ext cx="2423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1363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mgr 소계 (ROLLUP)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3200400" cy="6858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0050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(dept, mgr)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3886200"/>
            <a:ext cx="2423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405079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job 소계 (CUBE)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800600"/>
            <a:ext cx="32004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9194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(dept)          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4800600"/>
            <a:ext cx="2423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49651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job+mgr 소계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760720"/>
            <a:ext cx="56692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7881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활용: 고정 차원(부서)과 가변 차원(직무, 관리자)을
독립적으로 집계할 때 적합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28090"/>
                </a:solidFill>
              </a:rPr>
              <a:t>Chapter 21 — 고급 그룹 함수를 이용한 리포트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ROLLUP(a,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630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계층적 소계: (a,b)→(a)→() 순으로 n+1 수준 집계. 계층 보고서에 최적.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2743200" cy="6858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CUBE(a,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3172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모든 조합 집계: (a,b)+(a)+(b)+() 총 2^n 수준. 다차원 분석(피벗)에 최적.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2743200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GROUPING(col)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소계 NULL=1, 실제 값=0. 원래 NULL과 소계 NULL을 정확히 구별.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27432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776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GROUPING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069079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원하는 그룹화 집합만 선택. 테이블 1회 스캔. UNION ALL보다 효율적.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27432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복합 컬럼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937759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(b, c) 괄호로 묶어 중간 소계 수준 건너뜀. 반드시 함께 집계할 컬럼 묶음에 사용.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274320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15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연결 그룹화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80644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ROLLUP/CUBE/GROUPING SETS를 쉼표 연결 → 교차 곱 집계. 독립 차원 조합에 활용.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GROUP BY 확장 기능을 마스터하면 복잡한 집계 보고서를 단일 쿼리로 작성할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
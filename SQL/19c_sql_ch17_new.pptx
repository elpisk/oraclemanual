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011680"/>
            <a:ext cx="1164031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Oracle Database 19c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</a:rPr>
              <a:t>SQL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5A623"/>
                </a:solidFill>
              </a:rPr>
              <a:t>Chapter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Manipulating Data by Using Subqueries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INSERT INTO(서브쿼리)  |  WITH CHECK OPTION  |  상관 UPDATE  |  상관 DELETE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109728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2161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서브쿼리를 대상(target)으로 사용하여 값을 삽입한다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20240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192024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0391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INSERT INTO ... SELECT 구문으로 다른 테이블에서 데이터를 복사한다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834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274320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8620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DML 문에서 WITH CHECK OPTION 키워드를 사용하여 조건 위반 삽입·수정을 차단한다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66160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57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356616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68503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상관 서브쿼리(Correlated Subquery)로 다른 테이블 기반 행을 갱신(UPDATE)한다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389120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48055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38912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1560" y="450799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상관 서브쿼리로 다른 테이블 기반 행을 삭제(DELETE)한다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12080"/>
            <a:ext cx="5029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" y="5212080"/>
            <a:ext cx="10789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3309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EXISTS / NOT EXISTS를 사용하여 안전하게 상관 DELETE를 수행한다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DML에서 서브쿼리 활용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DML 문(INSERT, UPDATE, DELETE)에서 서브쿼리를 사용하면 다른 테이블 데이터를 기반으로 조작 가능합니다.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274320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645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INSERT INTO
(subquery)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377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FROM 절 서브쿼리(인라인 뷰)를 대상으로
단일 VALUES 삽입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54480"/>
            <a:ext cx="2743200" cy="201168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645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INSERT INTO
...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77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서브쿼리 결과 전체를
다른 테이블에 대량 복사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2743200" cy="201168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45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UPDATE SET
(correlated subquery)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77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다른 테이블 값을 기반으로
현재 테이블 행 갱신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554480"/>
            <a:ext cx="2743200" cy="2011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645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DELETE WHERE
(correlated subquery)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774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다른 테이블 존재 여부에 따라
현재 테이블 행 삭제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703320"/>
            <a:ext cx="115214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67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구문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767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위치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67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한 번에 삽입/수정 행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7673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CHECK OPTION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114800"/>
            <a:ext cx="115214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33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INSERT INTO (sq) VALUES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2336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INTO 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2336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단일 행 (VALUES)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42336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적용 가능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81728"/>
            <a:ext cx="11521440" cy="54864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INSERT INTO ... SELECT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800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SELECT 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4800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다중 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미적용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248656"/>
            <a:ext cx="1152144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367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UPDATE SET (sq)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36752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SET 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536752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외부 행마다 반복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3675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적용 가능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815583"/>
            <a:ext cx="11521440" cy="54864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934455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DELETE WHERE (sq)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5934455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WHERE 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934455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외부 행마다 반복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93445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미적용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INSERT INTO (서브쿼리)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INTO 절에 서브쿼리(인라인 뷰)를 사용 → 특정 조건을 만족하는 행에만 삽입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기본 구문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column_list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table_name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condition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VALUES (value_list);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00200"/>
            <a:ext cx="6126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핵심 개념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84831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서브쿼리 결과(인라인 뷰)를 INSERT 대상으로 사용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0487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서브쿼리의 WHERE 조건 범위 내 데이터만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724911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실제 삽입은 원본 테이블에 이루어짐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044951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VALUES 절은 단일 행만 삽입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2044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844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— 유럽 지역 위치에 Cardiff 삽입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904487"/>
            <a:ext cx="11521440" cy="2148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995927"/>
            <a:ext cx="11247119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l.location_id, l.city, l.country_id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locations 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JOIN   countries c ON (l.country_id = c.country_id)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JOIN   regions        USING (region_id)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region_name = 'Europe'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VALUES (3300, 'Cardiff', 'UK');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UK는 Europe 지역 국가 → 조건 만족 → 삽입 성공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WITH CHECK OPTION (DML)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서브쿼리 WHERE 조건을 위반하는 INSERT / UPDATE를 차단 → ORA-01402 오류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48640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성공: 조건 만족 ('UK'는 Europe)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84248"/>
            <a:ext cx="548640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075688"/>
            <a:ext cx="521208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location_id, city, country_id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locations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country_id IN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SELECT country_id FROM countries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NATURAL JOIN regions WHERE region_name = 'Europe'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WITH CHECK OPTION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VALUES (3300, 'Cardiff', 'UK');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 row inserted. (UK는 Europe 조건 만족)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600200"/>
            <a:ext cx="576072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6420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실패: 조건 위반 ('US'는 Europe 아님)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984248"/>
            <a:ext cx="5760720" cy="23317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075688"/>
            <a:ext cx="5486400" cy="2148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location_id, city, country_id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locations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country_id IN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SELECT country_id FROM countries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NATURAL JOIN regions WHERE region_name = 'Europe'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WITH CHECK OPTION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VALUES (3600, 'Washington', 'US');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ORA-01402: view WITH CHECK OPTION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           where-clause violation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34840"/>
            <a:ext cx="115214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98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상황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498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CHECK OPTION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4988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CHECK OPTION 있음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28032"/>
            <a:ext cx="11521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377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조건 만족 데이터 삽입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9377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삽입 허용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3776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삽입 허용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358384"/>
            <a:ext cx="11521440" cy="50292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681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조건 미만족 데이터 삽입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4681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삽입 허용 (무결성 위협)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46811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ORA-01402 오류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888736"/>
            <a:ext cx="115214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98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조건 미만족 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9984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28090"/>
                </a:solidFill>
              </a:rPr>
              <a:t>갱신 허용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99846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ORA-01402 오류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INSERT INTO ... SELECT (대량 복사)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서브쿼리 결과 전체를 대상 테이블에 삽입 — VALUES 없이 SELECT로 다중 행 복사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6642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1 — 부서 80번 직원을 별도 테이블에 복사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984248"/>
            <a:ext cx="548640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075688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INSERT INTO sales_employees (employee_id, last_name, salary, 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SELECT employee_id, last_name, salary, 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department_id = 80;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부서 80번 직원 수만큼 행 삽입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984248"/>
            <a:ext cx="5943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075688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• VALUES 절 없음 → 다중 행 삽입 가능
• WHERE 절로 복사 대상 필터링
• 대상 테이블은 미리 생성 필요
• SELECT의 열 순서/타입이 대상 테이블과 일치해야 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39312"/>
            <a:ext cx="1152144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2 — CTAS (Create Table As Select): 테이블 생성과 동시에 데이터 복사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23360"/>
            <a:ext cx="548640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114800"/>
            <a:ext cx="5212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구조 + 데이터 동시 복사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emp_backup AS SELECT * FROM employees;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구조만 복사 (데이터 없음)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CREATE TABLE emp_empty  AS SELECT * FROM employees WHERE 1=0;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4023360"/>
            <a:ext cx="59436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41148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CTAS 특징:
• 원본 테이블의 제약 조건(PK, FK)은 복사 안 됨
• NOT NULL 제약은 일부 복사됨
• 데이터 타입·컬럼명 자동 상속
• WHERE 1=0 → 구조만 복사 (데이터 없음)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687568"/>
            <a:ext cx="115214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779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INSERT ... SELECT vs CTAS: INSERT는 기존 테이블에 행 추가 / CTAS는 새 테이블 생성 + 데이터 복사 (동시 처리)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UPDATE (Correlated UPDATE)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다른 테이블의 값을 기반으로 현재 테이블 행 갱신 — 외부 행마다 서브쿼리 반복 실행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18288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구문 패턴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table1 alias1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   column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expression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table2 alias2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alias1.column = alias2.column  -- 외부 참조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00200"/>
            <a:ext cx="6126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691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처리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0299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① table1의 각 행(alias1) 가져오기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2585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② alias1 값으로 서브쿼리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4871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③ 결과(스칼라)로 column 갱신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7157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④ table1 다음 행으로 반복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9443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→ SET 서브쿼리 0건 반환 = NULL로 갱신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172968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→ SET 서브쿼리 2건 이상 = ORA-01427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2044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5844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— empl6에 부서명 추가 후 상관 UPDATE로 채우기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04487"/>
            <a:ext cx="1152144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995927"/>
            <a:ext cx="11247119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-- 1. 비정규화 컬럼 추가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ALTER TABLE empl6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ADD (department_name VARCHAR2(25));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-- 2. 상관 UPDATE: departments에서 부서명 가져와 채우기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empl6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   department_name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department_name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departments 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d.department_id = e.department_id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-- 107 rows updated.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department_id = NULL인 직원 → department_name = NULL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UPDATE — 심화 예제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1 — 직원 급여를 소속 부서 최고 급여의 90%로 갱신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89888"/>
            <a:ext cx="548640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481328"/>
            <a:ext cx="5212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   salary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MAX(salary) * 0.9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department_id = e.department_id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department_id IS NOT NULL;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89888"/>
            <a:ext cx="5943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481328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각 직원의 부서에서 MAX 급여를 구해 90% 적용
department_id IS NOT NULL 조건으로
NULL 부서 직원 제외 (안전 처리)
실행 전 ROLLBACK 계획 필수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27248"/>
            <a:ext cx="1152144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9125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2 — 인라인 뷰 + UPDATE (집계 한 번 수행)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11296"/>
            <a:ext cx="54864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602736"/>
            <a:ext cx="52120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집계를 한 번만 수행하는 성능 최적화 패턴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e.salary, mx.max_sal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JOIN   (SELECT department_id, MAX(salary) max_sal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     GROUP BY department_id) mx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ON     (e.department_id = mx.department_id)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salary = max_sal * 0.9;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511296"/>
            <a:ext cx="5943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3602736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상관 UPDATE와 비교:
• 상관 UPDATE: 107행 × 서브쿼리 반복
• 인라인 뷰 UPDATE: 집계 1번만 수행
→ 대용량 테이블에서 인라인 뷰
   방식이 훨씬 효율적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559552"/>
            <a:ext cx="115214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650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주의: SET 절 서브쿼리가 2행 이상 반환 → ORA-01427 / 0건 반환 → NULL 갱신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DELETE (Correlated DELETE)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다른 테이블에 존재하는 행과 연관된 현재 테이블 행 삭제 — 외부 행마다 서브쿼리 반복 실행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5303520" cy="1783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91640"/>
            <a:ext cx="502920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구문 패턴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DELETE FROM table1 alias1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 column operator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expression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table2 alias2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alias1.column = alias2.column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00200"/>
            <a:ext cx="30175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59" y="1673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= 사용 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서브쿼리가 반드시 1행 반환
2행 이상 → ORA-01427 오류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600200"/>
            <a:ext cx="3017520" cy="9144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673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 사용 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011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서브쿼리 다중 행 허용
NULL 포함 시 주의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606040"/>
            <a:ext cx="301752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59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EXISTS 사용 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59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행 존재 여부만 확인
NULL 안전, 성능 우수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606040"/>
            <a:ext cx="301752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6791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 EXISTS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행 없을 때 삭제
NOT IN보다 NULL 안전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93008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5701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— employee_history에 있는 직원을 empl6에서 삭제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77056"/>
            <a:ext cx="11521440" cy="2286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968496"/>
            <a:ext cx="11247119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방법 A: = 연산자 (1건만 반환 확신 시)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DELETE FROM empl6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employee_id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employee_id FROM employee_history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employee_id = E.employee_id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방법 B: EXISTS (권장 — NULL 안전, 복수 행 안전)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DELETE FROM empl6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EXISTS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NULL FROM employee_history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employee_id = E.employee_id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DELETE — 심화 예제 &amp; NOT IN 함정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698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예제 1 — 직원 없는 부서 삭제 (NOT EXISTS)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389888"/>
            <a:ext cx="5486400" cy="16459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481328"/>
            <a:ext cx="52120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DELETE FROM departments 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NOT EXISTS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NULL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department_id = d.department_id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직원이 없는 부서만 삭제됨 (FK 제약 없는 경우)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89888"/>
            <a:ext cx="59436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481328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주의: departments가 employees.department_id의
FK 참조 대상이라면:
→ 직원이 있는 부서 삭제 시 ORA-02292 오류
→ 직원이 없는 부서만 안전하게 삭제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27248"/>
            <a:ext cx="1152144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9125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NOT IN 함정 — NULL 포함 시 0건 삭제!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11296"/>
            <a:ext cx="1152144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602736"/>
            <a:ext cx="1124711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위험: employees.department_id에 NULL 포함 시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DELETE FROM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employee_id NOT IN (SELECT manager_id FROM employees);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manager_id에 NULL 포함 → NOT IN 결과 = 0건 삭제!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안전한 대안: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DELETE FROM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WHERE NOT EXISTS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NULL FROM employees WHERE manager_id = e.employee_id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623560"/>
            <a:ext cx="1152144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715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결론: NOT IN은 서브쿼리에 NULL이 있으면 항상 0건 반환 위험 → NOT EXISTS 사용 권장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EXISTS / NOT EXISTS vs IN / NOT IN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1152144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DML에서 서브쿼리 연산자를 선택할 때는 NULL 처리와 성능을 모두 고려해야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11612880" cy="4114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64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특징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664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 EXISTS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1664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6642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NOT 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48256"/>
            <a:ext cx="116128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NULL 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안전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안전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주의 필요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212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⚠ NULL → 0건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06624"/>
            <a:ext cx="11612880" cy="64008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다중 행 반환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허용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허용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허용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712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허용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364992"/>
            <a:ext cx="116128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성능 (대용량)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★★★ 빠름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★★★ 빠름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★★ 보통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★ 느림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23360"/>
            <a:ext cx="11612880" cy="64008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용도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 존재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 부재 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값 목록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4187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값 목록 제외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681728"/>
            <a:ext cx="11612880" cy="64008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상관 서브쿼리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주로 사용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주로 사용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19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가능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✔ 가능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349240"/>
            <a:ext cx="11612880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42239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핵심 원칙: NULL 포함 가능성이 있는 서브쿼리에는 EXISTS / NOT EXISTS를 사용하고,
행 존재 여부 확인에는 항상 EXISTS 계열을 우선 고려하세요.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DML 트랜잭션 제어 &amp; 주의사항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서브쿼리를 사용한 DML도 일반 DML과 동일한 트랜잭션 규칙을 따릅니다.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320040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184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1508760"/>
            <a:ext cx="8229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655063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변경 내용을 영구 반영 — 롤백 불가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94560"/>
            <a:ext cx="320040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04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2194560"/>
            <a:ext cx="8229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34086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COMMIT 전 모든 변경 취소 — 원상복구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80360"/>
            <a:ext cx="320040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900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SAVEPOINT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2880360"/>
            <a:ext cx="8229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39" y="3026664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중간 저장점 설정 — 부분 롤백 가능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32004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675887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ROLLBACK TO 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11880" y="3566160"/>
            <a:ext cx="822960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3712463"/>
            <a:ext cx="79552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지정 SAVEPOINT 이후 변경만 취소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97680"/>
            <a:ext cx="1152144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6168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DML 서브쿼리 실행 전 체크리스트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681728"/>
            <a:ext cx="115214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727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1. SELECT로 영향받을 행 수 먼저 확인 (DELETE/UPDATE 전 dry-run)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29200"/>
            <a:ext cx="11521440" cy="32004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74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2. SAVEPOINT 설정 후 실행 → 결과 확인 → COMMIT 또는 ROLLBACK 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376672"/>
            <a:ext cx="115214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223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3. 상관 서브쿼리 SET 절: 0건 → NULL, 2건 이상 → ORA-01427 가능성 확인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724144"/>
            <a:ext cx="11521440" cy="320040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6986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4. FK 제약: 자식 테이블 존재 시 부모 행 DELETE → ORA-02292 오류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071616"/>
            <a:ext cx="115214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173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5. NOT IN: 서브쿼리에 NULL 포함 여부 확인 → EXISTS 대체 고려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9144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상관 UPDATE vs MERGE — 성능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CCCCCC"/>
                </a:solidFill>
              </a:rP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Oracle Database 19c SQL Workshop  |  Chapter 17: 서브쿼리를 이용한 데이터 조작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CCCCC"/>
                </a:solidFill>
              </a:rPr>
              <a:t>© Oracle Academy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332"/>
                </a:solidFill>
              </a:rPr>
              <a:t>대용량 데이터 처리 시 상관 UPDATE의 반복 실행 문제 → MERGE로 성능 최적화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5303520" cy="3474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상관 UPDATE (비효율 — 107회 반복)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92807"/>
            <a:ext cx="530352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984248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UPDATE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SET salary = (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SELECT AVG(salary)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WHERE  department_id = e.department_id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);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-- 107행 × AVG 서브쿼리 = 최대 107번 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508760"/>
            <a:ext cx="530352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572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MERGE (효율 — 집계 1번)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892807"/>
            <a:ext cx="530352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1984248"/>
            <a:ext cx="5029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MERGE INTO employees e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USING (SELECT department_id, AVG(salary) avg_sal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FROM   employees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     GROUP BY department_id) d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ON (e.department_id = d.department_id)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WHEN MATCHED THEN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  UPDATE SET e.salary = d.avg_sal;</a:t>
            </a:r>
          </a:p>
          <a:p>
            <a:pPr algn="l"/>
            <a:r>
              <a:rPr sz="1050">
                <a:solidFill>
                  <a:srgbClr val="50FA7B"/>
                </a:solidFill>
                <a:latin typeface="Consolas"/>
              </a:rPr>
              <a:t>-- AVG 집계: 1번만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468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</a:rPr>
              <a:t>→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11521440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항목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상관 UPDATE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81304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WITH 절 + 인라인 뷰 UPDATE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60520"/>
            <a:ext cx="115214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79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집계 실행 횟수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279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행 수만큼 반복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79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79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1번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709159"/>
            <a:ext cx="11521440" cy="53035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28031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대용량 성능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82803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4634"/>
                </a:solidFill>
              </a:rPr>
              <a:t>★ 느림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2803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★★★ 빠름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8280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7AE60"/>
                </a:solidFill>
              </a:rPr>
              <a:t>★★★ 빠름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57800"/>
            <a:ext cx="1152144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766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가독성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3766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★★★ 높음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766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★★ 중간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376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★★ 중간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806440"/>
            <a:ext cx="11521440" cy="530352"/>
          </a:xfrm>
          <a:prstGeom prst="rect">
            <a:avLst/>
          </a:prstGeom>
          <a:solidFill>
            <a:srgbClr val="F8F9FB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9253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트랜잭션 롤백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92531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가능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925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925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</a:rPr>
              <a:t>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단원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Chapter 17: 서브쿼리를 이용한 데이터 조작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143000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74320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INSERT INTO (subquery)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7276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FROM 절 서브쿼리를 대상으로 VALUES 삽입 / 조건 범위 내 행에만 삽입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3976"/>
            <a:ext cx="2743200" cy="56692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03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INSERT INTO ... 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93976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6C3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20370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서브쿼리 결과 전체 복사 (다중 행) / CTAS와 구분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24912"/>
            <a:ext cx="2743200" cy="566928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CHECK 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724912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1A5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8346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서브쿼리 조건 위반 삽입·수정 차단 → ORA-01402 오류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55848"/>
            <a:ext cx="274320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6557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상관 UPDATE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355848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465576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SET 절 스칼라 서브쿼리 / 외부 행마다 반복 / 0건=NULL, 2건=오류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86783"/>
            <a:ext cx="27432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9651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상관 DELETE (=)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986783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096511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서브쿼리 1행 반환 확신 시 사용 / 복수 가능성 → IN 사용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617720"/>
            <a:ext cx="274320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727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EXISTS / NOT EXISTS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617720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4727448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행 존재 여부 확인 / NULL 안전 / NOT IN 대체 권장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48656"/>
            <a:ext cx="274320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583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트랜잭션 제어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248656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5358384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COMMIT / ROLLBACK / SAVEPOINT / ROLLBACK TO — 모든 DML에 적용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79592"/>
            <a:ext cx="2743200" cy="56692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989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NULL 주의사항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5879592"/>
            <a:ext cx="8778240" cy="566928"/>
          </a:xfrm>
          <a:prstGeom prst="rect">
            <a:avLst/>
          </a:prstGeom>
          <a:solidFill>
            <a:srgbClr val="222D42"/>
          </a:solidFill>
          <a:ln w="6350">
            <a:solidFill>
              <a:srgbClr val="C74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5989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 IN + NULL → 0건 위험 / SET 서브쿼리 0건 → NULL 갱신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
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560320"/>
            <a:ext cx="119603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다른 시간대의
데이터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28090"/>
                </a:solidFill>
              </a:rPr>
              <a:t>Managing Data in Different Time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Chapter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109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TIMESTAMP 데이터 타입 3종 (WITH TIME ZONE / WITH LOCAL TIME ZONE)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13248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INTERVAL 데이터 타입 (YEAR TO MONTH / DAY TO SECOND)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797296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7790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날짜/시간 함수: CURRENT_DATE, CURRENT_TIMESTAMP, LOCALTIMESTAMP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181344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16305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변환 함수: EXTRACT, TZ_OFFSET, FROM_TZ, TO_TIMESTAMP, TO_YMINTERVAL, TO_DSINTERVAL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6629400"/>
            <a:ext cx="11960352" cy="2286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457200" cy="47548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143000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DATE와 유사하지만 소수점 초와 시간대를 저장하는 TIMESTAMP 타입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01368"/>
            <a:ext cx="4572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96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801368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84708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두 날짜/시간 값의 차이를 저장하는 INTERVAL 타입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59736"/>
            <a:ext cx="4572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78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459736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505456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CURRENT_DATE / CURRENT_TIMESTAMP / LOCALTIMESTAMP로 현재 시각 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18104"/>
            <a:ext cx="4572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36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118104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16382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DBTIMEZONE / SESSIONTIMEZONE으로 시간대 확인 및 설정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76472"/>
            <a:ext cx="45720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776472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822191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EXTRACT로 날짜에서 연·월·일·시·분·초 추출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4572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53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4434840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480559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TZ_OFFSET으로 시간대 오프셋 조회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93208"/>
            <a:ext cx="4572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11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5093208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1389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FROM_TZ, TO_TIMESTAMP로 TIMESTAMP 변환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751576"/>
            <a:ext cx="45720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69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5751576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797296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TO_YMINTERVAL / TO_DSINTERVAL로 INTERVAL 연산 수행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시간대(Time Zone)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글로벌 E-Commerce: 고객 현지 시각 기록이 핵심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120640" cy="22860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E-Commerce 시나리오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Rick (호주 고객)
  → 주문 시각: 호주 현지 시간
OracleKart DB 서버 (미국)
  → 서버 시각이 아닌 고객 현지
    시각으로 저장 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508760"/>
            <a:ext cx="60350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5361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TIME_ZONE 세션 파라미터 설정 방법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874519"/>
            <a:ext cx="603504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절대 오프셋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TIME_ZONE = '-05:00';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DB 시간대와 동일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TIME_ZONE = dbtimezone;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OS 로컬 시간대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TIME_ZONE = local;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지역명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TIME_ZONE = 'America/New_York';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288036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서울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+09:00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931920"/>
            <a:ext cx="2880360" cy="7772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9776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런던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+00:00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931920"/>
            <a:ext cx="288036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9776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뉴욕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-05:00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3931920"/>
            <a:ext cx="288036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9776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시드니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+10:00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46320"/>
            <a:ext cx="114300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7375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세션 단위 시간대 설정 → 동일 DB에 접속한 세션이라도 각자 다른 시간대 사용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CURRENT_DATE · CURRENT_TIMESTAMP · LOCALTIMESTAMP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세션 시간대 기준 현재 날짜/시간 반환 — 세 함수의 타입과 시간대 포함 여부가 다름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274320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536192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508760"/>
            <a:ext cx="365760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536192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반환 타입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508760"/>
            <a:ext cx="164592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1536192"/>
            <a:ext cx="14996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시간대 포함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508760"/>
            <a:ext cx="384048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53619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주요 용도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65960"/>
            <a:ext cx="274320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002536"/>
            <a:ext cx="25968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CURRENT_DATE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1965960"/>
            <a:ext cx="365760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2112" y="2002536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965960"/>
            <a:ext cx="164592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2002536"/>
            <a:ext cx="14996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1965960"/>
            <a:ext cx="384048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2002536"/>
            <a:ext cx="36941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세션 시간대 기준 날짜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06039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642615"/>
            <a:ext cx="25968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CURRENT_TIMESTAMP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606039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2112" y="2642615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TIMESTAMP WITH TIME ZONE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606039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2642615"/>
            <a:ext cx="14996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606039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2642615"/>
            <a:ext cx="36941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시간대 포함 현재 시각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246120"/>
            <a:ext cx="274320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3282696"/>
            <a:ext cx="25968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LOCALTIMESTAMP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3246120"/>
            <a:ext cx="365760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3282696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TIMESTAMP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3246120"/>
            <a:ext cx="164592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3282696"/>
            <a:ext cx="14996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246120"/>
            <a:ext cx="384048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282696"/>
            <a:ext cx="36941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시간대 없는 현재 시각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474720"/>
            <a:ext cx="114300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56616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NLS_DATE_FORMAT = 'YYYY-MM-DD HH24:MI:SS';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TIME_ZONE = '-05:00';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SESSIONTIMEZONE, CURRENT_DATE      FROM DUAL;  -- DATE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SESSIONTIMEZONE, CURRENT_TIMESTAMP FROM DUAL;  -- TIMESTAMP WITH TIME ZONE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SESSIONTIMEZONE, LOCALTIMESTAMP    FROM DUAL;  -- TIMESTAMP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440680"/>
            <a:ext cx="1143000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46811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DBTIMEZONE vs SESSIONTIMEZONE:
  SELECT DBTIMEZONE FROM DUAL  |  SELECT SESSIONTIMEZONE FROM DUAL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TIMESTAMP 데이터 타입 3종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DATE 한계(초 단위까지만) 극복 — 소수점 초 + 시간대 정보 저장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30000" cy="135331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 TIMESTAMP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842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연·월·일·시·분·초(소수점 이하 포함)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87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특징: 시간대 정보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8424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</a:rPr>
              <a:t>예: LOCALTIMESTAMP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11430000" cy="13533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175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 TIMESTAMP WITH TIME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4728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TIMESTAMP + 시간대 오프셋 또는 지역명
(TIMEZONE_HOUR, TIMEZONE_MINUTE)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502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특징: 저장된 시간대 그대로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4728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</a:rPr>
              <a:t>예: CURRENT_TIMESTAMP, FROM_TZ(...)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11430000" cy="135331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0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 TIMESTAMP WITH LOCAL TIME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1032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TIMESTAMP 저장 시 DB 시간대로 정규화
조회 시 세션 시간대로 자동 변환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132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특징: 세션마다 현지 시각 자동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91032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</a:rPr>
              <a:t>예: 글로벌 앱 시각 저장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080759"/>
            <a:ext cx="111556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web_orders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order_date    TIMESTAMP WITH TIME ZONE,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delivery_time TIMESTAMP WITH LOCAL TIME ZONE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web_orders VALUES (CURRENT_TIMESTAMP, CURRENT_TIMESTAMP + 2);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TIMESTAMP 필드 &amp; DATE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DATE는 초 단위까지, TIMESTAMP는 소수점 초(Fractional Seconds)까지 저장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30352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필드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536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유효값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182880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4767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920240"/>
            <a:ext cx="34747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1947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-4712 ~ 9999 (0년 제외)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59152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8658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359152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3865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01 ~ 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98064"/>
            <a:ext cx="182880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2549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2798064"/>
            <a:ext cx="34747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28254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01 ~ 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36976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644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HOUR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3236976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2644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00 ~ 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75887"/>
            <a:ext cx="182880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MINUTE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675887"/>
            <a:ext cx="34747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00 ~ 59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4223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SECOND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411480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41422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00 ~ 59.9(N) — N은 소수점 정밀도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553712"/>
            <a:ext cx="182880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8114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TIMEZONE_HOUR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4553712"/>
            <a:ext cx="34747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4581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-12 ~ 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992624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0200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TIMEZONE_MINUTE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4992624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5020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00 ~ 59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1508760"/>
            <a:ext cx="57607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15361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DATE → TIMESTAMP 변환 예제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1920240"/>
            <a:ext cx="576072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hire_date를 TIMESTAMP로 변경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emp4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MODIFY hire_date TIMESTAMP;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소수점 초 표시됨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hire_date FROM emp4;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결과: 17-JUN-03 12.00.00.000000000 AM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CAST로 변환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CAST(hire_date AS TIMESTAMP)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4937760"/>
            <a:ext cx="5760720" cy="1508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49834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DATE와 TIMESTAMP 차이점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5394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DATE: 년·월·일·시·분·초 (초 단위)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742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TIMESTAMP: 소수점 초(기본 6자리)까지 저장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60899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TIMESTAMP(N): N = 소수점 초 정밀도(0~9)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64373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TIMESTAMP + 시간대 = 글로벌 시각 정확 표현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INTERVAL 데이터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두 날짜/시간 값 사이의 기간(차이)을 저장하는 타입 — 2가지 클래스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486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INTERVAL YEAR TO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5486400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52120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warranty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prod_id      NUMBER,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warranty_time INTERVAL YEAR(3) TO MONTH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-- 8개월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warranty VALUES (123, INTERVAL '8' MONTH);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-- 200년 (YEAR 정밀도 3자리)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warranty VALUES (155, INTERVAL '200' YEAR(3));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-- 200년 11개월 (문자열)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warranty VALUES (678, '200-11');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warranty;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5486400" cy="411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INTERVAL DAY TO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486400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52120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lab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exp_id    NUMBER,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test_time INTERVAL DAY(2) TO SECOND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-- 90일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lab VALUES (100012, '90 00:00:00');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-- 6일 3시간 30분 16초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lab VALUES (56098,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INTERVAL '6 03:30:16' DAY TO SECOND);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lab;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1143000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02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INTERVAL 타입 비교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6400"/>
            <a:ext cx="320040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138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INTERVAL YEAR TO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5486400"/>
            <a:ext cx="228600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5138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YEAR,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486400"/>
            <a:ext cx="274320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55138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연·월 단위 기간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5486400"/>
            <a:ext cx="320040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55138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'01-06' = 1년 6개월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053328"/>
            <a:ext cx="3200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INTERVAL DAY TO SECOND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6053328"/>
            <a:ext cx="2286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6080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DAY, HOUR, MINUTE, SECOND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6053328"/>
            <a:ext cx="2743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6080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일·시·분·초 기간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6053328"/>
            <a:ext cx="3200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6080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'3 12:30:00' = 3일 12.5시간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EXTRACT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날짜·타임스탬프에서 특정 컴포넌트(연·월·일·시·분·초·시간대) 추출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30000" cy="38404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구문: EXTRACT( { YEAR | MONTH | DAY | HOUR | MINUTE | SECOND | TIMEZONE_HOUR | ... } FROM { date_expr | interval_expr } 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84248"/>
            <a:ext cx="54864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 1: 2007년 이후 입사 직원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68296"/>
            <a:ext cx="548640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59736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last_name, employee_id, hire_date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EXTRACT(YEAR FROM hire_date) &gt; 2007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BY hire_date;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84248"/>
            <a:ext cx="54864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 2: manager_id = 100 직원의 입사 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368296"/>
            <a:ext cx="548640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459736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last_name, hire_date,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EXTRACT(MONTH FROM hire_date)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AS hire_month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manager_id = 100;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5577840" cy="89611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41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DATE/TIMESTAMP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YEAR · MONTH ·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577840" cy="8961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41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TIMESTAMP만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HOUR · MINUTE · SECOND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83479"/>
            <a:ext cx="5577840" cy="89611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474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TIMESTAMP W TZ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40679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TIMEZONE_HOUR · TIMEZONE_MINUTE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983479"/>
            <a:ext cx="5577840" cy="8961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474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TIMESTAMP W TZ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40679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TIMEZONE_REGION · TIMEZONE_ABBR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016752"/>
            <a:ext cx="11430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분기 계산:  CEIL(EXTRACT(MONTH FROM hire_date) / 3)  →  1분기=1, 2분기=2, 3분기=3, 4분기=4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TZ_OFFSET &amp; FROM_TZ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시간대 오프셋 조회 및 TIMESTAMP에 시간대 정보 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4864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TZ_OFFSET — 시간대 이름 → UTC 오프셋 반환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92807"/>
            <a:ext cx="54864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84248"/>
            <a:ext cx="52120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TZ_OFFSET('US/Eastern'),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TZ_OFFSET('Canada/Yukon'),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TZ_OFFSET('Europe/London')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DUAL;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US/EASTERN  CANADA/YUKON  EUROPE/LONDON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-05:00       -07:00         +00:00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4864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361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FROM_TZ — TIMESTAMP + 시간대 → TIMESTAMP WITH TIME ZONE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92807"/>
            <a:ext cx="548640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84248"/>
            <a:ext cx="5212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FROM_TZ(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TIMESTAMP '2000-07-12 08:00:00',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'Australia/North')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DUAL;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-- 2000-07-12 08:00:00 AUSTRALIA/NORTH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AT TIME ZONE 연산자로 변환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FROM_TZ(TIMESTAMP '2026-01-01 09:00:00',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  'Asia/Seoul')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AT TIME ZONE 'US/Eastern' AS ny_time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DUAL;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11430000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AT TIME ZONE 연산자: TIMESTAMP WITH TIME ZONE 값을 다른 시간대로 변환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72000"/>
            <a:ext cx="278892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634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Asia/Seoul
2026-06-28 09:00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4572000"/>
            <a:ext cx="2788920" cy="10972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6634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UTC
2026-06-28 00:00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572000"/>
            <a:ext cx="278892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US/Eastern
2026-06-27 20:00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4572000"/>
            <a:ext cx="278892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46634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Europe/London
2026-06-28 01:00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332"/>
                </a:solidFill>
              </a:rPr>
              <a:t>←────── 모두 동일한 UTC 순간 ──────→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TO_TIMESTAMP · TO_YMINTERVAL · TO_DSINTERVAL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문자열을 TIMESTAMP 또는 INTERVAL로 변환하는 핵심 변환 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3566160" cy="38404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TO_TIMESTAMP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92807"/>
            <a:ext cx="356616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8424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문자열 → TIMESTAMP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TO_TIMESTAMP(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'2016-03-06 11:00:00',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'YYYY-MM-DD HH:MI:SS')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-- 06-MAR-16 11.00.00.000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08760"/>
            <a:ext cx="36576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36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TO_YMINTERVAL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92807"/>
            <a:ext cx="365760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98424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-- 1년 2개월 후 날짜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hire_date,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hire_date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+ TO_YMINTERVAL('01-02')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AS plus_14months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department_id = 20;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508760"/>
            <a:ext cx="3474720" cy="38404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361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TO_DSINTERVAL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892807"/>
            <a:ext cx="347472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984248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-- 100일 10시간 후 날짜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hire_date + TO_DSINTERVAL(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'100 10:00:00')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AS plus_100days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50791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변환 함수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34840"/>
            <a:ext cx="347472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622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TO_TIMESTAMP(str, fmt)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434840"/>
            <a:ext cx="457200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462272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→ TIMESTAMP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4434840"/>
            <a:ext cx="347472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4622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'YYYY-MM-DD HH24:MI:SS'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56631"/>
            <a:ext cx="34747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8406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TO_YMINTERVAL('Y-M')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5056631"/>
            <a:ext cx="4572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5084064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→ INTERVAL YEAR TO MONTH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5056631"/>
            <a:ext cx="34747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508406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'01-06' = 1년 6개월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678424"/>
            <a:ext cx="347472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05856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TO_DSINTERVAL('D HH:MI:SS')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5678424"/>
            <a:ext cx="457200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5705856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→ INTERVAL DAY TO SECOND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5678424"/>
            <a:ext cx="3474720" cy="5760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705856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'100 10:00:00' = 100일 10시간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INTERVAL 산술 연산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날짜/타임스탬프에 INTERVAL을 더하고 빼는 산술 연산으로 기간 계산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57784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453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입사 1년 6개월 후 (달력 기준)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hire_date,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hire_date + TO_YMINTERVAL('01-06') AS after_18m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 WHERE department_id = 20;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hire_date = 2004-02-17 → after_18m = 2005-08-17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57784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453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입사 100일 10시간 후 (정확한 일 수 기준)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TO_CHAR(hire_date + TO_DSINTERVAL('100 10:00:00'),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  'YYYY-MM-DD HH24:MI:SS') AS target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 WHERE department_id = 80;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14215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INTERVAL 리터럴 직접 연산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현재 시각에서 30분 후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SYSTIMESTAMP + INTERVAL '30' MINUTE FROM DUAL;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현재 시각에서 1년 전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SYSDATE - INTERVAL '1' YEAR FROM DUAL;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977639"/>
            <a:ext cx="55778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14215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TO_YMINTERVAL vs TO_DSINTERVAL 차이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343400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-- 2024-01-01 기준 (윤년)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DATE '2024-01-01' + TO_YMINTERVAL('01-00') AS ym,  -- 2025-01-01 (1년 후)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DATE '2024-01-01' + TO_DSINTERVAL('365 0:0:0') AS ds  -- 2024-12-31 (365일 후)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윤년(2024=366일)이므로 두 결과가 다름!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TIMESTAMP 타입별 동작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세 TIMESTAMP 타입의 저장·조회 동작 차이를 실습으로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30000" cy="3337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111556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서울 세션에서 삽입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TIME_ZONE = 'Asia/Seoul';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ts_compare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col1 TIMESTAMP,                    -- 시간대 없음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col2 TIMESTAMP WITH TIME ZONE,     -- 시간대 그대로 저장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col3 TIMESTAMP WITH LOCAL TIME ZONE-- DB TZ로 정규화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ts_compare VALUES (LOCALTIMESTAMP, CURRENT_TIMESTAMP, CURRENT_TIMESTAMP);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COMMIT;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서울에서 조회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ts_compare;  -- 세 값 모두 비슷해 보임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뉴욕으로 전환 후 조회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SESSION SET TIME_ZONE = 'US/Eastern';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* FROM ts_compare;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col1: 변화 없음 (TZ 정보 없어 변환 불가)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col2: 저장된 ASIA/SEOUL 시각 그대로 표시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col3: 뉴욕 시간으로 자동 변환 (14시간 이른 시각)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83480"/>
            <a:ext cx="1143000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109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세션 전환 후 조회 결과 비교 (서울 09:00 삽입 → 뉴욕 세션에서 조회)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94960"/>
            <a:ext cx="36576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5422392"/>
            <a:ext cx="3511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</a:rPr>
              <a:t>col1 (TIMESTAMP)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5394960"/>
            <a:ext cx="256032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5422392"/>
            <a:ext cx="24140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09:00:00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5394960"/>
            <a:ext cx="256032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5422392"/>
            <a:ext cx="24140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09:00:00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5394960"/>
            <a:ext cx="246888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5422392"/>
            <a:ext cx="23225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4634"/>
                </a:solidFill>
              </a:rPr>
              <a:t>❌ 변화 없음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52160"/>
            <a:ext cx="36576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5879592"/>
            <a:ext cx="3511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</a:rPr>
              <a:t>col2 (WITH TIME ZONE)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5852160"/>
            <a:ext cx="2560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6512" y="5879592"/>
            <a:ext cx="24140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09:00 ASIA/SEOUL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5852160"/>
            <a:ext cx="2560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5879592"/>
            <a:ext cx="24140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09:00 ASIA/SEOUL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5852160"/>
            <a:ext cx="2468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5879592"/>
            <a:ext cx="23225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4634"/>
                </a:solidFill>
              </a:rPr>
              <a:t>❌ 저장값 그대로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309360"/>
            <a:ext cx="365760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6336792"/>
            <a:ext cx="3511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col3 (WITH LOCAL TIME ZONE)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6309360"/>
            <a:ext cx="256032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6512" y="6336792"/>
            <a:ext cx="24140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09:00 +09:00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6309360"/>
            <a:ext cx="256032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6336792"/>
            <a:ext cx="24140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19:00 -05:00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6309360"/>
            <a:ext cx="2468880" cy="4297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6336792"/>
            <a:ext cx="23225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✓ 자동 변환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일광 절약 시간 (Daylight Saving 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DST 전환 시 Oracle TIMESTAMP WITH TIME ZONE이 정확한 시각을 처리하는 방법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4864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DST 시작 (봄 — Spring Forward)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5486400" cy="21945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01:59:59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0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157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03:00:00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4634"/>
                </a:solidFill>
              </a:rPr>
              <a:t>(한 시간 앞으로 점프)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5486400" cy="9601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02:00:00 ~ 02:59:59 구간은
존재하지 않는 시각 (무효)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08760"/>
            <a:ext cx="5486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536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DST 종료 (가을 — Fall Back)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920240"/>
            <a:ext cx="5486400" cy="21945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9659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02:00:00 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350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7157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01:00:01 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4634"/>
                </a:solidFill>
              </a:rPr>
              <a:t>(한 시간 뒤로 이동)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160520"/>
            <a:ext cx="5486400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206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01:00:01 ~ 02:00:00 구간이
두 번 나타남 (중복/모호)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57800"/>
            <a:ext cx="11430000" cy="12344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Oracle DST 처리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6875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TIMESTAMP WITH TIME ZONE → DST 인식, 명명된 시간대(America/New_York 등) 사용 시 자동 처리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43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절대 오프셋(-05:00 등) 사용 시 DST 변환 없음 — 명명된 지역을 사용해야 DST 자동 반영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199631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존재하지 않는 시각(DST 시작 중 02:xx) 입력 시 ORA-01878 오류 발생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20  |  14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다른 시간대의 데이터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Chapter 20 — 다른 시간대의 데이터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3749039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6184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TIME_ZONE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ALTER SESSION SET TIME_ZONE = '...'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749039" cy="9875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6184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CURRENT_DATE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세션 TZ 기준 DATE 반환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749039" cy="9875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6184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CURRENT_TIMESTAMP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세션 TZ 기준 TIMESTAMP WITH TZ 반환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3749039" cy="9875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7157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LOCALTIMESTAMP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세션 TZ 기준 TIMESTAMP 반환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651760"/>
            <a:ext cx="3749039" cy="98755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7157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TIMESTAMP 3종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TIMESTAMP / WITH TZ / WITH LOCAL TZ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651760"/>
            <a:ext cx="3749039" cy="9875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27157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INTERVAL 2종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YEAR TO MONTH / DAY TO SECOND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49039"/>
            <a:ext cx="3749039" cy="9875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8130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연·월·일·시·분·초 추출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749039"/>
            <a:ext cx="3749039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38130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TZ_OFFSET &amp; FROM_TZ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오프셋 조회 &amp; TIMESTAMP → WITH TZ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749039"/>
            <a:ext cx="3749039" cy="9875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38130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TO_YMINTERVAL/DSINTERVAL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문자열 → INTERVAL 변환 + 날짜 연산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92040"/>
            <a:ext cx="114300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1947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핵심: TIMESTAMP WITH LOCAL TIME ZONE → 글로벌 앱의 현지화 시각 자동 처리
       INTERVAL 타입 + TO_YMINTERVAL/TO_DSINTERVAL → 날짜 산술 연산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
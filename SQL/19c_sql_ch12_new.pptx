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2011680"/>
            <a:ext cx="1164031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A623"/>
                </a:solidFill>
              </a:rPr>
              <a:t>Oracle Database 19c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CCCC"/>
                </a:solidFill>
              </a:rPr>
              <a:t>SQL Workshop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5A623"/>
                </a:solidFill>
              </a:rPr>
              <a:t>Chapter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데이터 딕셔너리 뷰 소개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CCCC"/>
                </a:solidFill>
              </a:rPr>
              <a:t>Introduction to Data Dictionary Views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663440"/>
            <a:ext cx="22860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846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DICTIONARY  |  USER_OBJECTS  |  USER_TABLES  |  USER_CONSTRAINTS  |  COMMENT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2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12: 데이터 딕셔너리 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557784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188720"/>
            <a:ext cx="457200" cy="13716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1600200"/>
            <a:ext cx="347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0876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데이터 딕셔너리의 개념과 구조를 이해한다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188720"/>
            <a:ext cx="557784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188720"/>
            <a:ext cx="457200" cy="1371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600200"/>
            <a:ext cx="347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150876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USER / ALL / DBA / V$ 뷰 접두사를 구분한다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788920"/>
            <a:ext cx="557784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2788920"/>
            <a:ext cx="457200" cy="13716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" y="3200400"/>
            <a:ext cx="347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10896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DICTIONARY 뷰로 딕셔너리 정보를 검색한다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788920"/>
            <a:ext cx="557784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2788920"/>
            <a:ext cx="457200" cy="137160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3368" y="3200400"/>
            <a:ext cx="347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310896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USER_OBJECTS, USER_TABLES, USER_TAB_COLUMNS를 활용한다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389120"/>
            <a:ext cx="557784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4389120"/>
            <a:ext cx="457200" cy="13716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" y="4800600"/>
            <a:ext cx="347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709159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USER_CONSTRAINTS, USER_CONS_COLUMNS로 제약 조건을 조회한다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4389120"/>
            <a:ext cx="557784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4389120"/>
            <a:ext cx="457200" cy="13716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73368" y="4800600"/>
            <a:ext cx="347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4709159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COMMENT 문으로 테이블/열에 주석을 추가하고 조회한다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데이터 딕셔너리란?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3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12: 데이터 딕셔너리 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51560"/>
            <a:ext cx="548640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7899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데이터 딕셔너리 개념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63040"/>
            <a:ext cx="5486400" cy="73152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463040"/>
            <a:ext cx="137160" cy="7315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51790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메타데이터 저장소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184708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Oracle DB의 모든 객체 정보를 관리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240280"/>
            <a:ext cx="54864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240280"/>
            <a:ext cx="137160" cy="7315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29514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자동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62432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DDL 실행 시 Oracle이 자동으로 갱신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017520"/>
            <a:ext cx="5486400" cy="73152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017520"/>
            <a:ext cx="137160" cy="7315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07238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읽기 전용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40156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사용자가 직접 수정 불가 — 조회만 가능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794760"/>
            <a:ext cx="54864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3794760"/>
            <a:ext cx="137160" cy="7315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84962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항상 최신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17880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데이터베이스 현재 상태를 정확히 반영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1051560"/>
            <a:ext cx="5669280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10789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데이터 딕셔너리 구조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1508760"/>
            <a:ext cx="539496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1508760"/>
            <a:ext cx="5394960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1527048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Oracle Server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1965960"/>
            <a:ext cx="2377440" cy="18288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92240" y="1965960"/>
            <a:ext cx="237744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1984248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비즈니스 데이터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239572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• EMPLOYEES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271576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• DEPARTMENTS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303580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• LOCATIONS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335584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• JOB_HISTORY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89720" y="1965960"/>
            <a:ext cx="2331720" cy="18288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189720" y="1965960"/>
            <a:ext cx="233172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81160" y="1984248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딕셔너리 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81160" y="239572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• DICTIONARY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81160" y="271576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• USER_OBJECTS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81160" y="303580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• USER_TABLES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81160" y="335584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• USER_TAB_COLUMNS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27889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2332"/>
                </a:solidFill>
              </a:rPr>
              <a:t>조회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95360" y="2880360"/>
            <a:ext cx="594360" cy="54864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92240" y="3977639"/>
            <a:ext cx="5029200" cy="36576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83680" y="3995928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두 계층으로 구성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0" y="4407408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① 베이스 테이블 — 암호화된 내부 테이블 (직접 접근 불가)
② 사용자 접근 가능 뷰 — SELECT로 조회 가능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데이터 딕셔너리 뷰 접두사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4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12: 데이터 딕셔너리 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51560"/>
            <a:ext cx="2743200" cy="7772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7899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USER_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463040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자신의 스키마
(소유한 객체만)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874519"/>
            <a:ext cx="2743200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892807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예시 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286000"/>
            <a:ext cx="2743200" cy="50292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79" y="23774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</a:rPr>
              <a:t>USER_TABLES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83464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29260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</a:rPr>
              <a:t>USER_OBJECTS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383280"/>
            <a:ext cx="2743200" cy="50292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34747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</a:rPr>
              <a:t>USER_CONSTRAINTS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977639"/>
            <a:ext cx="274320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995928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특징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370832"/>
            <a:ext cx="2743200" cy="77724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79" y="4416552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가장 좁은 범위
가장 빠른 조회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0" y="1051560"/>
            <a:ext cx="2743200" cy="7772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0" y="107899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ALL_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1463040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접근 가능한
모든 객체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0" y="1874519"/>
            <a:ext cx="2743200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1892807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예시 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0" y="2286000"/>
            <a:ext cx="2743200" cy="50292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37560" y="23774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ALL_TABLES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0" y="283464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37560" y="29260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ALL_OBJECTS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0" y="3383280"/>
            <a:ext cx="2743200" cy="50292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37560" y="34747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ALL_CONSTRAINTS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0" y="3977639"/>
            <a:ext cx="274320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91840" y="3995928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특징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0" y="4370832"/>
            <a:ext cx="2743200" cy="77724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37560" y="4416552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권한 있는
타 스키마 포함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26480" y="1051560"/>
            <a:ext cx="2743200" cy="77724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17920" y="107899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DBA_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1463040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모든 사용자의
스키마 전체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0" y="1874519"/>
            <a:ext cx="2743200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17920" y="1892807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예시 뷰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26480" y="2286000"/>
            <a:ext cx="2743200" cy="50292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23774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3A91"/>
                </a:solidFill>
              </a:rPr>
              <a:t>DBA_TABLES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26480" y="283464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63640" y="29260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3A91"/>
                </a:solidFill>
              </a:rPr>
              <a:t>DBA_OBJECTS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26480" y="3383280"/>
            <a:ext cx="2743200" cy="50292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63640" y="34747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3A91"/>
                </a:solidFill>
              </a:rPr>
              <a:t>DBA_CONSTRAINTS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26480" y="3977639"/>
            <a:ext cx="2743200" cy="36576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17920" y="3995928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특징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26480" y="4370832"/>
            <a:ext cx="2743200" cy="77724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63640" y="4416552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DBA 권한 필요
관리자 전용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52560" y="1051560"/>
            <a:ext cx="2743200" cy="77724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44000" y="107899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V$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0" y="1463040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성능 관련
동적 데이터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52560" y="1874519"/>
            <a:ext cx="2743200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144000" y="1892807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예시 뷰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052560" y="2286000"/>
            <a:ext cx="2743200" cy="50292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189720" y="23774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74634"/>
                </a:solidFill>
              </a:rPr>
              <a:t>V$SESSION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052560" y="283464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189720" y="29260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74634"/>
                </a:solidFill>
              </a:rPr>
              <a:t>V$SQL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052560" y="3383280"/>
            <a:ext cx="2743200" cy="50292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189720" y="34747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74634"/>
                </a:solidFill>
              </a:rPr>
              <a:t>V$INSTANCE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52560" y="3977639"/>
            <a:ext cx="2743200" cy="3657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144000" y="3995928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특징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052560" y="4370832"/>
            <a:ext cx="2743200" cy="77724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189720" y="4416552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실시간 동적 뷰
DBA 주로 사용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" y="5257800"/>
            <a:ext cx="11612880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57200" y="528523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일반 사용자: USER_ → ALL_ 순서로 사용 | DBA: DBA_, V$ 추가 활용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7200" y="568756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USER_OBJECTS = 자신 것만  |  ALL_OBJECTS = USER_OBJECTS 범위 포함  |  DBA_OBJECTS = 전체 DB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DICTIONARY 뷰 &amp; USER_OBJECTS 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5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12: 데이터 딕셔너리 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51560"/>
            <a:ext cx="548640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7899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DICTIONARY 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63040"/>
            <a:ext cx="5486400" cy="21031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554480"/>
            <a:ext cx="5212080" cy="1920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딕셔너리 뷰 구조 확인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DESCRIBE DICTIONARY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특정 뷰 검색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SELECT *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FROM   dictionary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WHERE  table_name = 'USER_OBJECTS';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TABLE 관련 뷰 검색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SELECT table_name, comments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FROM   dictionary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WHERE  table_name LIKE '%TABLE%'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ORDER BY table_name;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657600"/>
            <a:ext cx="548640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68503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DICTIONARY 주요 컬럼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00" cy="54864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4069080"/>
            <a:ext cx="137160" cy="5486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14223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TABLE_NAME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414223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딕셔너리 뷰 이름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663440"/>
            <a:ext cx="54864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663440"/>
            <a:ext cx="137160" cy="5486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73659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COMMENTS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473659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뷰의 기능 설명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1051560"/>
            <a:ext cx="566928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10789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USER_OBJECTS 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1463040"/>
            <a:ext cx="5669280" cy="21031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1554480"/>
            <a:ext cx="5394960" cy="1920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SELECT object_name, object_type,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   created, status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FROM   user_objects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ORDER BY object_type;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테이블만 필터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SELECT object_name, created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FROM   user_objects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WHERE  object_type = 'TABLE';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오늘 생성된 객체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SELECT object_name, object_type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FROM   user_objects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WHERE  TRUNC(created) = TRUNC(SYSDATE);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657600"/>
            <a:ext cx="566928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368503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USER_OBJECTS 주요 컬럼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4069080"/>
            <a:ext cx="5669280" cy="43891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4069080"/>
            <a:ext cx="137160" cy="43891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412394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OBJECT_NAME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4123944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객체 이름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4544568"/>
            <a:ext cx="56692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4544568"/>
            <a:ext cx="137160" cy="43891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459943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OBJECT_TYPE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459943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TABLE, VIEW, INDEX, SEQUENCE 등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5020056"/>
            <a:ext cx="5669280" cy="43891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17920" y="5020056"/>
            <a:ext cx="137160" cy="43891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6520" y="507492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CREATED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5074920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생성일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5495544"/>
            <a:ext cx="56692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17920" y="5495544"/>
            <a:ext cx="137160" cy="43891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46520" y="5550407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LAST_DDL_TIME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5550407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최종 DDL 수정일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5971032"/>
            <a:ext cx="5669280" cy="43891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17920" y="5971032"/>
            <a:ext cx="137160" cy="43891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46520" y="602589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STATUS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40" y="6025896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VALID / INVALID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USER_TABLES 뷰 — 테이블 정보 조회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6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12: 데이터 딕셔너리 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51560"/>
            <a:ext cx="548640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7899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USER_TABLES 사용법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63040"/>
            <a:ext cx="5486400" cy="26060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554480"/>
            <a:ext cx="5212080" cy="2423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구조 확인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DESCRIBE user_tables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테이블 목록 조회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SELECT table_name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FROM   user_tables;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상세 정보 조회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SELECT table_name, num_rows, blocks,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   avg_row_len, status, read_only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FROM   user_tables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ORDER BY table_name;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특정 상태 필터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SELECT table_name, status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FROM   user_tables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WHERE  read_only = 'YES';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051560"/>
            <a:ext cx="566928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0789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USER_TABLES 주요 컬럼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463040"/>
            <a:ext cx="5669280" cy="50292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463040"/>
            <a:ext cx="13716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5270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TABLE_NAME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152704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테이블 이름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011680"/>
            <a:ext cx="56692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2011680"/>
            <a:ext cx="13716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20756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NUM_ROWS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07568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행 수 (통계 기반 — ANALYZE 후 갱신)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2560320"/>
            <a:ext cx="5669280" cy="50292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2560320"/>
            <a:ext cx="13716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2624327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BLOCKS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624327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사용 중인 데이터 블록 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108960"/>
            <a:ext cx="56692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3108960"/>
            <a:ext cx="13716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317296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AVG_ROW_LEN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317296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평균 행 길이 (바이트)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3657600"/>
            <a:ext cx="5669280" cy="50292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3657600"/>
            <a:ext cx="13716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372160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STATUS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372160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VALID / INVALID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4206240"/>
            <a:ext cx="56692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4206240"/>
            <a:ext cx="13716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42702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READ_ONLY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427024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YES (읽기 전용) / NO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4754879"/>
            <a:ext cx="5669280" cy="50292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17920" y="4754879"/>
            <a:ext cx="13716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48188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TABLESPACE_NAME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481888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저장 테이블스페이스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4160520"/>
            <a:ext cx="1161288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4187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NUM_ROWS 주의사항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459028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NUM_ROWS는 실시간 값이 아니라 통계 값입니다. 실제 행 수는 SELECT COUNT(*) FROM table_name; 으로 확인하세요.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5120640"/>
            <a:ext cx="11612880" cy="10058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79" y="5212079"/>
            <a:ext cx="1133855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실제 행 수 vs 통계 행 수 비교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SELECT t.table_name, t.num_rows AS stats_rows,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   (SELECT COUNT(*) FROM employees) AS actual_rows  -- 실제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FROM   user_tables t WHERE t.table_name = 'EMPLOYEES';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USER_TAB_COLUMNS 뷰 — 열 정보 조회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7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12: 데이터 딕셔너리 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51560"/>
            <a:ext cx="5486400" cy="36576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7899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USER_TAB_COLUMNS 사용법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63040"/>
            <a:ext cx="5486400" cy="30632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554480"/>
            <a:ext cx="5212080" cy="2880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EMPLOYEES 열 정보 조회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SELECT column_name, data_type,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   data_length, data_precision,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   data_scale, nullable,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   data_default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FROM   user_tab_columns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WHERE  table_name = 'EMPLOYEES'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ORDER BY column_id;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NUMBER 타입 열만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SELECT column_name, data_precision, data_scale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FROM   user_tab_columns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WHERE  table_name = 'EMPLOYEES'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AND    data_type = 'NUMBER';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NOT NULL 열 개수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SELECT COUNT(*) FROM user_tab_columns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WHERE  table_name = 'EMPLOYEES'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AND    nullable = 'N';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051560"/>
            <a:ext cx="5669280" cy="36576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0789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USER_TAB_COLUMNS 주요 컬럼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463040"/>
            <a:ext cx="5669280" cy="4572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463040"/>
            <a:ext cx="137160" cy="45720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517904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COLUMN_NAME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1517904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열 이름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956816"/>
            <a:ext cx="56692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1956816"/>
            <a:ext cx="137160" cy="45720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2011680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DATA_TYPE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01168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VARCHAR2, CHAR, NUMBER, DATE 등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2450592"/>
            <a:ext cx="5669280" cy="4572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2450592"/>
            <a:ext cx="137160" cy="45720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2505456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DATA_LENGTH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2505456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최대 길이 (바이트)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2944368"/>
            <a:ext cx="56692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2944368"/>
            <a:ext cx="137160" cy="45720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2999232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DATA_PRECISION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2999232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NUMBER 전체 자릿수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3438144"/>
            <a:ext cx="5669280" cy="4572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3438144"/>
            <a:ext cx="137160" cy="45720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3493008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DATA_SCALE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349300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NUMBER 소수점 이하 자릿수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3931920"/>
            <a:ext cx="56692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3931920"/>
            <a:ext cx="137160" cy="45720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3986784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NULLABLE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3986784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Y (NULL 허용) / N (NOT NULL)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4425696"/>
            <a:ext cx="5669280" cy="4572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17920" y="4425696"/>
            <a:ext cx="137160" cy="45720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4480559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DATA_DEFAULT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75320" y="4480559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열 기본값 (DEFAULT expr)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4919472"/>
            <a:ext cx="56692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17920" y="4919472"/>
            <a:ext cx="137160" cy="45720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46520" y="4974336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COLUMN_ID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75320" y="4974336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열 순서 번호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4617720"/>
            <a:ext cx="11612880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" y="464515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NULLABLE 값: N → NOT NULL 제약 있음  |  Y → NULL 허용  |  table_name은 대문자로 입력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USER_CONSTRAINTS 뷰 — 제약 조건 정보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8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12: 데이터 딕셔너리 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51560"/>
            <a:ext cx="5486400" cy="3657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7899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USER_CONSTRAINTS 사용법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63040"/>
            <a:ext cx="5486400" cy="20116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554480"/>
            <a:ext cx="5212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EMPLOYEES 제약 조건 조회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SELECT constraint_name,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   constraint_type,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   search_condition,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   r_constraint_name,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   delete_rule,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   status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FROM   user_constraints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WHERE  table_name = 'EMPLOYEES'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ORDER BY constraint_type;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547872"/>
            <a:ext cx="5486400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57530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CONSTRAINT_TYPE 값의 의미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950208"/>
            <a:ext cx="5486400" cy="57607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950208"/>
            <a:ext cx="502920" cy="5760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" y="4041648"/>
            <a:ext cx="46634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69080"/>
            <a:ext cx="46634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PRIMARY KEY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572000"/>
            <a:ext cx="548640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572000"/>
            <a:ext cx="502920" cy="5760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2608" y="4663440"/>
            <a:ext cx="46634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690872"/>
            <a:ext cx="46634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UNIQUE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193792"/>
            <a:ext cx="5486400" cy="57607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5193792"/>
            <a:ext cx="502920" cy="576072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2608" y="5285232"/>
            <a:ext cx="46634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312664"/>
            <a:ext cx="46634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FOREIGN KEY (Referential)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815584"/>
            <a:ext cx="548640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5815584"/>
            <a:ext cx="502920" cy="576072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2608" y="5907024"/>
            <a:ext cx="46634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934456"/>
            <a:ext cx="46634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CHECK / NOT NULL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1051560"/>
            <a:ext cx="5669280" cy="3657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10789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USER_CONSTRAINTS 주요 컬럼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1463040"/>
            <a:ext cx="5669280" cy="50292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1463040"/>
            <a:ext cx="137160" cy="5029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152704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CONSTRAINT_NAME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15270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제약 조건 이름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2011680"/>
            <a:ext cx="56692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17920" y="2011680"/>
            <a:ext cx="137160" cy="5029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6520" y="207568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CONSTRAINT_TYPE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20756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P / U / R / 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2560320"/>
            <a:ext cx="5669280" cy="50292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17920" y="2560320"/>
            <a:ext cx="137160" cy="5029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46520" y="2624327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TABLE_NAME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03920" y="2624327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제약 조건이 있는 테이블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3108960"/>
            <a:ext cx="56692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17920" y="3108960"/>
            <a:ext cx="137160" cy="5029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46520" y="31729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SEARCH_CONDITION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03920" y="31729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CHECK/NOT NULL 조건식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0" y="3657600"/>
            <a:ext cx="5669280" cy="50292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17920" y="3657600"/>
            <a:ext cx="137160" cy="5029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46520" y="37216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R_CONSTRAINT_NAME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03920" y="37216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참조하는 부모 PK 이름 (FK 전용)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17920" y="4206240"/>
            <a:ext cx="56692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217920" y="4206240"/>
            <a:ext cx="137160" cy="5029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46520" y="427024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DELETE_RULE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03920" y="42702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CASCADE / SET NULL / NO ACTION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17920" y="4754879"/>
            <a:ext cx="5669280" cy="50292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217920" y="4754879"/>
            <a:ext cx="137160" cy="5029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46520" y="481888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STATUS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03920" y="48188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ENABLED / DISABLED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USER_CONS_COLUMNS &amp; JOIN 활용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9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12: 데이터 딕셔너리 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51560"/>
            <a:ext cx="5303520" cy="365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7899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USER_CONS_COLUMNS 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63040"/>
            <a:ext cx="5303520" cy="16459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554480"/>
            <a:ext cx="50292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제약 조건이 적용된 열 조회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DESCRIBE user_cons_columns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SELECT constraint_name,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   column_name,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   position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FROM   user_cons_columns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WHERE  table_name = 'EMPLOYEES';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182112"/>
            <a:ext cx="5303520" cy="365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209544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USER_CONS_COLUMNS 컬럼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593592"/>
            <a:ext cx="5303520" cy="50292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593592"/>
            <a:ext cx="137160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657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CONSTRAINT_NAME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3657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제약 조건 이름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142232"/>
            <a:ext cx="53035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142232"/>
            <a:ext cx="137160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206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TABLE_NAME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4206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테이블 이름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690872"/>
            <a:ext cx="5303520" cy="50292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4690872"/>
            <a:ext cx="137160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754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COLUMN_NAME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4754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제약이 걸린 열 이름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239512"/>
            <a:ext cx="53035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5239512"/>
            <a:ext cx="137160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5303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POSITION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0" y="5303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복합 제약에서 열 순서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1051560"/>
            <a:ext cx="5943600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0" y="107899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두 뷰 JOIN — 완전한 제약 조건 정보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0" y="1463040"/>
            <a:ext cx="5943600" cy="21945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80760" y="1554480"/>
            <a:ext cx="5669280" cy="2011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SELECT c.constraint_name,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   c.constraint_type,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   c.status,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   cc.column_name,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   c.search_condition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FROM   user_constraints  c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JOIN   user_cons_columns cc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ON c.constraint_name = cc.constraint_name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AND c.table_name      = cc.table_name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WHERE  c.table_name = 'EMPLOYEES'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ORDER BY c.constraint_type, cc.position;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0" y="3730752"/>
            <a:ext cx="594360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0" y="3758184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JOIN이 필요한 이유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0" y="4142232"/>
            <a:ext cx="5943600" cy="521207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43600" y="4142232"/>
            <a:ext cx="137160" cy="521207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72200" y="4215384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• USER_CONSTRAINTS: 제약 조건 유형·상태·조건식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0" y="4709160"/>
            <a:ext cx="5943600" cy="5212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943600" y="4709160"/>
            <a:ext cx="137160" cy="521207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72200" y="478231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• USER_CONS_COLUMNS: 어떤 열에 적용됐는지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0" y="5276088"/>
            <a:ext cx="5943600" cy="521207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943600" y="5276088"/>
            <a:ext cx="137160" cy="521207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72200" y="53492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• 두 뷰 JOIN → 제약 조건 + 열 정보를 한번에 조회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0" y="5843016"/>
            <a:ext cx="5943600" cy="5212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943600" y="5843016"/>
            <a:ext cx="137160" cy="521207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72200" y="5916168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• ON 절로 TABLE_NAME 모호성 방지 (USING 대신 ON 사용)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FOREIGN KEY 참조 관계 조회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10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12: 데이터 딕셔너리 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51560"/>
            <a:ext cx="11612880" cy="36576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789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부모-자식 테이블 관계 전체 조회 (4-way JOIN)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63040"/>
            <a:ext cx="11612880" cy="26060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554480"/>
            <a:ext cx="11338559" cy="2423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SELECT c.table_name    AS 자식_테이블,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   cc.column_name   AS FK_열,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   pc.table_name    AS 부모_테이블,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   pcc.column_name  AS PK_열,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   c.delete_rule    AS 삭제_규칙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FROM   user_constraints  c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JOIN   user_cons_columns cc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ON c.constraint_name   = cc.constraint_name  AND c.table_name  = cc.table_name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JOIN   user_constraints  pc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ON c.r_constraint_name = pc.constraint_name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JOIN   user_cons_columns pcc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ON pc.constraint_name  = pcc.constraint_name AND pc.table_name = pcc.table_name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WHERE  c.constraint_type = 'R'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ORDER BY c.table_name;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160520"/>
            <a:ext cx="11612880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4187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HR 스키마 예상 결과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572000"/>
            <a:ext cx="2057400" cy="347472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4590288"/>
            <a:ext cx="2011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자식 테이블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4572000"/>
            <a:ext cx="2057400" cy="347472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23160" y="4590288"/>
            <a:ext cx="2011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FK 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60" y="4572000"/>
            <a:ext cx="2057400" cy="347472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80" y="4590288"/>
            <a:ext cx="2011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부모 테이블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4572000"/>
            <a:ext cx="1965960" cy="347472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459028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PK 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95360" y="4572000"/>
            <a:ext cx="3200400" cy="347472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41080" y="4590288"/>
            <a:ext cx="3154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삭제 규칙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956048"/>
            <a:ext cx="2057400" cy="29260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4974336"/>
            <a:ext cx="20116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332"/>
                </a:solidFill>
              </a:rPr>
              <a:t>DEPARTMENTS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77440" y="4956048"/>
            <a:ext cx="2057400" cy="29260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23160" y="4974336"/>
            <a:ext cx="20116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332"/>
                </a:solidFill>
              </a:rPr>
              <a:t>LOCATION_ID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80560" y="4956048"/>
            <a:ext cx="2057400" cy="29260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26280" y="4974336"/>
            <a:ext cx="20116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332"/>
                </a:solidFill>
              </a:rPr>
              <a:t>LOCATIONS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0" y="4956048"/>
            <a:ext cx="1965960" cy="29260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4974336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332"/>
                </a:solidFill>
              </a:rPr>
              <a:t>LOCATION_ID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95360" y="4956048"/>
            <a:ext cx="3200400" cy="29260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41080" y="4974336"/>
            <a:ext cx="31546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332"/>
                </a:solidFill>
              </a:rPr>
              <a:t>NO ACTION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276088"/>
            <a:ext cx="20574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5294376"/>
            <a:ext cx="20116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332"/>
                </a:solidFill>
              </a:rPr>
              <a:t>DEPARTMENTS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77440" y="5276088"/>
            <a:ext cx="20574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23160" y="5294376"/>
            <a:ext cx="20116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332"/>
                </a:solidFill>
              </a:rPr>
              <a:t>MANAGER_ID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80560" y="5276088"/>
            <a:ext cx="20574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26280" y="5294376"/>
            <a:ext cx="20116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332"/>
                </a:solidFill>
              </a:rPr>
              <a:t>EMPLOYEES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0" y="5276088"/>
            <a:ext cx="196596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29400" y="5294376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332"/>
                </a:solidFill>
              </a:rPr>
              <a:t>EMPLOYEE_ID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95360" y="5276088"/>
            <a:ext cx="32004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41080" y="5294376"/>
            <a:ext cx="31546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332"/>
                </a:solidFill>
              </a:rPr>
              <a:t>NO ACTION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5596128"/>
            <a:ext cx="2057400" cy="29260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" y="5614416"/>
            <a:ext cx="20116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332"/>
                </a:solidFill>
              </a:rPr>
              <a:t>EMPLOYEES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377440" y="5596128"/>
            <a:ext cx="2057400" cy="29260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423160" y="5614416"/>
            <a:ext cx="20116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332"/>
                </a:solidFill>
              </a:rPr>
              <a:t>DEPARTMENT_ID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480560" y="5596128"/>
            <a:ext cx="2057400" cy="29260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26280" y="5614416"/>
            <a:ext cx="20116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332"/>
                </a:solidFill>
              </a:rPr>
              <a:t>DEPARTMENTS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80" y="5596128"/>
            <a:ext cx="1965960" cy="29260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29400" y="5614416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332"/>
                </a:solidFill>
              </a:rPr>
              <a:t>DEPT_ID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95360" y="5596128"/>
            <a:ext cx="3200400" cy="29260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641080" y="5614416"/>
            <a:ext cx="31546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332"/>
                </a:solidFill>
              </a:rPr>
              <a:t>NO ACTION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5916168"/>
            <a:ext cx="20574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0040" y="5934456"/>
            <a:ext cx="20116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332"/>
                </a:solidFill>
              </a:rPr>
              <a:t>EMPLOYEES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377440" y="5916168"/>
            <a:ext cx="20574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423160" y="5934456"/>
            <a:ext cx="20116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332"/>
                </a:solidFill>
              </a:rPr>
              <a:t>MANAGER_ID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480560" y="5916168"/>
            <a:ext cx="20574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26280" y="5934456"/>
            <a:ext cx="20116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332"/>
                </a:solidFill>
              </a:rPr>
              <a:t>EMPLOYEES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83680" y="5916168"/>
            <a:ext cx="196596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629400" y="5934456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332"/>
                </a:solidFill>
              </a:rPr>
              <a:t>EMPLOYEE_ID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595360" y="5916168"/>
            <a:ext cx="32004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641080" y="5934456"/>
            <a:ext cx="31546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74634"/>
                </a:solidFill>
              </a:rPr>
              <a:t>NO ACTION 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" y="6236208"/>
            <a:ext cx="2057400" cy="29260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20040" y="6254496"/>
            <a:ext cx="20116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332"/>
                </a:solidFill>
              </a:rPr>
              <a:t>JOB_HISTORY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377440" y="6236208"/>
            <a:ext cx="2057400" cy="29260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423160" y="6254496"/>
            <a:ext cx="20116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332"/>
                </a:solidFill>
              </a:rPr>
              <a:t>EMPLOYEE_ID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480560" y="6236208"/>
            <a:ext cx="2057400" cy="29260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526280" y="6254496"/>
            <a:ext cx="20116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332"/>
                </a:solidFill>
              </a:rPr>
              <a:t>EMPLOYEES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583680" y="6236208"/>
            <a:ext cx="1965960" cy="29260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629400" y="6254496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332"/>
                </a:solidFill>
              </a:rPr>
              <a:t>EMPLOYEE_ID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595360" y="6236208"/>
            <a:ext cx="3200400" cy="29260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641080" y="6254496"/>
            <a:ext cx="31546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332"/>
                </a:solidFill>
              </a:rPr>
              <a:t>NO ACTION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테이블 &amp; 열에 주석(COMMENT) 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11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12: 데이터 딕셔너리 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51560"/>
            <a:ext cx="548640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7899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주석 추가 구문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63040"/>
            <a:ext cx="5486400" cy="25603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554480"/>
            <a:ext cx="5212080" cy="2377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테이블에 주석 추가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COMMENT ON TABLE employees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IS 'Employee Information';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열에 주석 추가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COMMENT ON COLUMN employees.first_name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IS 'First name of the employee';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COMMENT ON COLUMN employees.employee_id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IS 'Primary key - unique employee ID';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주석 삭제 (빈 문자열)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COMMENT ON TABLE employees IS '';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COMMENT ON COLUMN employees.first_name IS '';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051560"/>
            <a:ext cx="566928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0789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주석 조회 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463040"/>
            <a:ext cx="5669280" cy="73152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463040"/>
            <a:ext cx="137160" cy="7315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51790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USER_TAB_COMMENTS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186537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자신의 테이블/뷰 주석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240280"/>
            <a:ext cx="566928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2240280"/>
            <a:ext cx="137160" cy="7315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229514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ALL_TAB_COMMENTS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64261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접근 가능한 모든 테이블 주석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017520"/>
            <a:ext cx="5669280" cy="73152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3017520"/>
            <a:ext cx="137160" cy="7315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307238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USER_COL_COMMENTS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41985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자신의 테이블 열 주석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794760"/>
            <a:ext cx="566928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3794760"/>
            <a:ext cx="137160" cy="73152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384962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ALL_COL_COMMENTS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19709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접근 가능한 모든 열 주석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4617720"/>
            <a:ext cx="566928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464515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주석 조회 예제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5029200"/>
            <a:ext cx="5669280" cy="14630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5120640"/>
            <a:ext cx="53949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테이블 주석 조회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SELECT table_name, comments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FROM   user_tab_comments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WHERE  comments IS NOT NULL;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열 주석 조회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SELECT column_name, comments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FROM   user_col_comments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WHERE  table_name = 'EMPLOYEES';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160520"/>
            <a:ext cx="5486400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418795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주요 사항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4590288"/>
            <a:ext cx="5486400" cy="54864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4320" y="4590288"/>
            <a:ext cx="137160" cy="54864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4681727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• 주석 삭제: IS '' (빈 문자열 입력)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5184648"/>
            <a:ext cx="54864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74320" y="5184648"/>
            <a:ext cx="137160" cy="54864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527608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• 삭제된 주석은 COMMENTS = NULL로 표시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딕셔너리 실전 활용 예제 (1)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12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12: 데이터 딕셔너리 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51560"/>
            <a:ext cx="557784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10642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스키마 객체 현황 파악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63039"/>
            <a:ext cx="5577840" cy="21945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554480"/>
            <a:ext cx="5303520" cy="2011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SELECT object_type, COUNT(*) AS cnt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FROM   user_objects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GROUP BY object_type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ORDER BY cnt DESC;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051560"/>
            <a:ext cx="557784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59" y="110642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특정 열 이름 사용 테이블 찾기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463039"/>
            <a:ext cx="5577840" cy="21945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554480"/>
            <a:ext cx="5303520" cy="2011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SELECT table_name, column_id, data_type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FROM   user_tab_columns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WHERE  column_name = 'DEPARTMENT_ID'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ORDER BY table_name;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749039"/>
            <a:ext cx="5577840" cy="3657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803903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INVALID 객체 점검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160520"/>
            <a:ext cx="5577840" cy="21945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4251959"/>
            <a:ext cx="5303520" cy="2011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SELECT object_name, object_type, status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FROM   user_objects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WHERE  status = 'INVALID';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749039"/>
            <a:ext cx="557784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59" y="3803903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최근 DDL 변경 객체 조회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4160520"/>
            <a:ext cx="5577840" cy="21945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4251959"/>
            <a:ext cx="5303520" cy="2011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SELECT object_name, object_type,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   last_ddl_time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FROM   user_objects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WHERE  TRUNC(last_ddl_time) = TRUNC(SYSDATE)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ORDER BY last_ddl_time DESC;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딕셔너리 실전 활용 예제 (2)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13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12: 데이터 딕셔너리 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51560"/>
            <a:ext cx="5577840" cy="36576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10642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NOT NULL 열 비율 분석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63039"/>
            <a:ext cx="5577840" cy="21945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554480"/>
            <a:ext cx="5303520" cy="2011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SELECT table_name,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   COUNT(*) AS total_cols,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   SUM(CASE WHEN nullable='N'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       THEN 1 ELSE 0 END) AS nn_cols,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   ROUND(SUM(CASE WHEN nullable='N'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       THEN 1 ELSE 0 END)/COUNT(*)*100)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       AS nn_pct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FROM   user_tab_columns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GROUP BY table_name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ORDER BY nn_pct DESC;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051560"/>
            <a:ext cx="5577840" cy="3657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59" y="110642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PRIMARY KEY 없는 테이블 찾기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463039"/>
            <a:ext cx="5577840" cy="21945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554480"/>
            <a:ext cx="5303520" cy="2011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SELECT t.table_name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FROM   user_tables t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WHERE  NOT EXISTS (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SELECT 1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FROM   user_constraints c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WHERE  c.table_name = t.table_name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AND    c.constraint_type = 'P'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);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749039"/>
            <a:ext cx="5577840" cy="365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803903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CHECK vs NOT NULL 구분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160520"/>
            <a:ext cx="5577840" cy="21945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4251959"/>
            <a:ext cx="5303520" cy="2011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SELECT constraint_name,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   CASE WHEN search_condition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             LIKE '%IS NOT NULL%'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        THEN 'NOT NULL'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        ELSE 'CHECK'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   END AS actual_type,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   search_condition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FROM   user_constraints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WHERE  table_name = 'EMPLOYEES'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AND    constraint_type = 'C';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749039"/>
            <a:ext cx="557784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59" y="3803903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EMPLOYEES 참조 자식 테이블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4160520"/>
            <a:ext cx="5577840" cy="21945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4251959"/>
            <a:ext cx="5303520" cy="2011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SELECT c.table_name AS 자식_테이블,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   cc.column_name AS FK_열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FROM   user_constraints c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JOIN   user_cons_columns cc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ON c.constraint_name = cc.constraint_name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WHERE  c.r_constraint_name = (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SELECT constraint_name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FROM   user_constraints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WHERE  table_name = 'EMPLOYEES'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AND    constraint_type = 'P');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365760"/>
            <a:ext cx="1164031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Chapter 12 단원 요약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5577840" cy="1051560"/>
          </a:xfrm>
          <a:prstGeom prst="rect">
            <a:avLst/>
          </a:prstGeom>
          <a:solidFill>
            <a:srgbClr val="22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182880" cy="10515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</a:rPr>
              <a:t>데이터 딕셔너리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Oracle DB 모든 객체의 메타데이터 저장소 — 베이스 테이블 + 사용자 뷰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25880"/>
            <a:ext cx="5577840" cy="1051560"/>
          </a:xfrm>
          <a:prstGeom prst="rect">
            <a:avLst/>
          </a:prstGeom>
          <a:solidFill>
            <a:srgbClr val="22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182880" cy="10515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59" y="141732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뷰 접두사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59" y="18288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USER_(자신) · ALL_(접근 가능) · DBA_(전체) · V$(성능)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14600"/>
            <a:ext cx="5577840" cy="1051560"/>
          </a:xfrm>
          <a:prstGeom prst="rect">
            <a:avLst/>
          </a:prstGeom>
          <a:solidFill>
            <a:srgbClr val="22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514600"/>
            <a:ext cx="182880" cy="10515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6060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DICTIONARY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0175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모든 딕셔너리 뷰의 이름·설명 조회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514600"/>
            <a:ext cx="5577840" cy="1051560"/>
          </a:xfrm>
          <a:prstGeom prst="rect">
            <a:avLst/>
          </a:prstGeom>
          <a:solidFill>
            <a:srgbClr val="22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514600"/>
            <a:ext cx="182880" cy="105156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59" y="26060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3A91"/>
                </a:solidFill>
              </a:rPr>
              <a:t>USER_OBJECTS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59" y="30175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자신이 소유한 모든 객체 — 이름, 유형, 생성일, 상태(VALID/INVALID)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703320"/>
            <a:ext cx="5577840" cy="1051560"/>
          </a:xfrm>
          <a:prstGeom prst="rect">
            <a:avLst/>
          </a:prstGeom>
          <a:solidFill>
            <a:srgbClr val="22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703320"/>
            <a:ext cx="182880" cy="10515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794759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</a:rPr>
              <a:t>USER_TABLES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206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테이블 상세 정보 — NUM_ROWS는 통계값 (실시간 아님)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703320"/>
            <a:ext cx="5577840" cy="1051560"/>
          </a:xfrm>
          <a:prstGeom prst="rect">
            <a:avLst/>
          </a:prstGeom>
          <a:solidFill>
            <a:srgbClr val="22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3703320"/>
            <a:ext cx="182880" cy="10515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3794759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74634"/>
                </a:solidFill>
              </a:rPr>
              <a:t>USER_TAB_COLUMNS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59" y="4206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열 정보 — 타입, 크기, NULLABLE, DATA_DEFAULT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892040"/>
            <a:ext cx="5577840" cy="1051560"/>
          </a:xfrm>
          <a:prstGeom prst="rect">
            <a:avLst/>
          </a:prstGeom>
          <a:solidFill>
            <a:srgbClr val="22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892040"/>
            <a:ext cx="182880" cy="105156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498348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5C96"/>
                </a:solidFill>
              </a:rPr>
              <a:t>USER_CONSTRAINTS + USER_CONS_COLUMNS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3949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JOIN으로 제약 조건·열 정보 통합 조회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4892040"/>
            <a:ext cx="5577840" cy="1051560"/>
          </a:xfrm>
          <a:prstGeom prst="rect">
            <a:avLst/>
          </a:prstGeom>
          <a:solidFill>
            <a:srgbClr val="22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4892040"/>
            <a:ext cx="182880" cy="10515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59" y="498348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CCCC"/>
                </a:solidFill>
              </a:rPr>
              <a:t>COMMENT 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59" y="53949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TABLE / COLUMN에 주석 추가 — USER_TAB_COMMENTS, USER_COL_COMMENTS로 조회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9224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5A623"/>
                </a:solidFill>
              </a:rPr>
              <a:t>다음 장: Chapter 13 — 시퀀스, 동의어, 인덱스 생성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
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0" y="1097280"/>
            <a:ext cx="2743200" cy="27432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0" y="1371600"/>
            <a:ext cx="1828800" cy="18288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CCCCCC"/>
                </a:solidFill>
              </a:rPr>
              <a:t>Chapter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정규표현식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F5A623"/>
                </a:solidFill>
              </a:rPr>
              <a:t>Regular Expression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Oracle Database 19c: SQL Workshop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91440"/>
            <a:ext cx="96012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학습 목표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91440"/>
            <a:ext cx="2103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Chapter 25  |  2/14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7512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 —  정규표현식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7512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© Oracle University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"/>
            <a:ext cx="12188952" cy="5998464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868680"/>
            <a:ext cx="54864" cy="53035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86868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2332"/>
                </a:solidFill>
              </a:rPr>
              <a:t>이 단원을 마치면 다음을 수행할 수 있습니다.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41732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A2332"/>
                </a:solidFill>
              </a:rPr>
              <a:t>✔  정규표현식의 기본 개념과 메타문자(.  *  +  ?  ^  $  []  {})를 이해한다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01168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A2332"/>
                </a:solidFill>
              </a:rPr>
              <a:t>✔  REGEXP_LIKE로 패턴 기반 행 필터링을 수행한다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60604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A2332"/>
                </a:solidFill>
              </a:rPr>
              <a:t>✔  REGEXP_INSTR로 문자열 내 패턴의 위치를 찾는다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20040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A2332"/>
                </a:solidFill>
              </a:rPr>
              <a:t>✔  REGEXP_SUBSTR로 패턴에 일치하는 부분 문자열을 추출한다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79476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A2332"/>
                </a:solidFill>
              </a:rPr>
              <a:t>✔  REGEXP_REPLACE로 패턴 일치 문자열을 치환·변환한다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38912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A2332"/>
                </a:solidFill>
              </a:rPr>
              <a:t>✔  REGEXP_COUNT로 패턴 출현 횟수를 집계한다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98348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A2332"/>
                </a:solidFill>
              </a:rPr>
              <a:t>✔  match_param(i, c, n, m)으로 일치 동작을 제어한다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91440"/>
            <a:ext cx="96012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정규표현식 메타문자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91440"/>
            <a:ext cx="2103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Chapter 25  |  3/14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7512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 —  정규표현식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7512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© Oracle University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"/>
            <a:ext cx="12188952" cy="5998464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804672"/>
            <a:ext cx="56692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2332"/>
                </a:solidFill>
              </a:rPr>
              <a:t>핵심 메타문자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804672"/>
            <a:ext cx="54864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2332"/>
                </a:solidFill>
              </a:rPr>
              <a:t>POSIX 문자 클래스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234440"/>
            <a:ext cx="1371600" cy="29260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645920" y="1234440"/>
            <a:ext cx="3931920" cy="29260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1271016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메타문자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1271016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의미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527048"/>
            <a:ext cx="1371600" cy="274320"/>
          </a:xfrm>
          <a:prstGeom prst="rect">
            <a:avLst/>
          </a:prstGeom>
          <a:solidFill>
            <a:srgbClr val="D6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645920" y="1527048"/>
            <a:ext cx="3931920" cy="274320"/>
          </a:xfrm>
          <a:prstGeom prst="rect">
            <a:avLst/>
          </a:prstGeom>
          <a:solidFill>
            <a:srgbClr val="D6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1563624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5C96"/>
                </a:solidFill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156362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임의의 한 문자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1801368"/>
            <a:ext cx="13716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645920" y="1801368"/>
            <a:ext cx="39319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1837943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5C96"/>
                </a:solidFill>
              </a:rPr>
              <a:t>*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1837943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0회 이상 반복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075688"/>
            <a:ext cx="1371600" cy="274320"/>
          </a:xfrm>
          <a:prstGeom prst="rect">
            <a:avLst/>
          </a:prstGeom>
          <a:solidFill>
            <a:srgbClr val="D6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645920" y="2075688"/>
            <a:ext cx="3931920" cy="274320"/>
          </a:xfrm>
          <a:prstGeom prst="rect">
            <a:avLst/>
          </a:prstGeom>
          <a:solidFill>
            <a:srgbClr val="D6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2112264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5C96"/>
                </a:solidFill>
              </a:rPr>
              <a:t>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211226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1회 이상 반복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2350008"/>
            <a:ext cx="13716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645920" y="2350008"/>
            <a:ext cx="39319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2386584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5C96"/>
                </a:solidFill>
              </a:rPr>
              <a:t>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238658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0회 또는 1회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2624328"/>
            <a:ext cx="1371600" cy="274320"/>
          </a:xfrm>
          <a:prstGeom prst="rect">
            <a:avLst/>
          </a:prstGeom>
          <a:solidFill>
            <a:srgbClr val="D6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645920" y="2624328"/>
            <a:ext cx="3931920" cy="274320"/>
          </a:xfrm>
          <a:prstGeom prst="rect">
            <a:avLst/>
          </a:prstGeom>
          <a:solidFill>
            <a:srgbClr val="D6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660904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5C96"/>
                </a:solidFill>
              </a:rPr>
              <a:t>^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37360" y="266090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문자열 시작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2898648"/>
            <a:ext cx="13716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645920" y="2898648"/>
            <a:ext cx="39319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2935224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5C96"/>
                </a:solidFill>
              </a:rPr>
              <a:t>$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37360" y="293522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문자열 끝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3172968"/>
            <a:ext cx="1371600" cy="274320"/>
          </a:xfrm>
          <a:prstGeom prst="rect">
            <a:avLst/>
          </a:prstGeom>
          <a:solidFill>
            <a:srgbClr val="D6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645920" y="3172968"/>
            <a:ext cx="3931920" cy="274320"/>
          </a:xfrm>
          <a:prstGeom prst="rect">
            <a:avLst/>
          </a:prstGeom>
          <a:solidFill>
            <a:srgbClr val="D6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3209544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5C96"/>
                </a:solidFill>
              </a:rPr>
              <a:t>[...]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37360" y="320954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문자 집합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3447288"/>
            <a:ext cx="13716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645920" y="3447288"/>
            <a:ext cx="39319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3483864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5C96"/>
                </a:solidFill>
              </a:rPr>
              <a:t>[^...]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737360" y="348386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부정 문자 집합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3721608"/>
            <a:ext cx="1371600" cy="274320"/>
          </a:xfrm>
          <a:prstGeom prst="rect">
            <a:avLst/>
          </a:prstGeom>
          <a:solidFill>
            <a:srgbClr val="D6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645920" y="3721608"/>
            <a:ext cx="3931920" cy="274320"/>
          </a:xfrm>
          <a:prstGeom prst="rect">
            <a:avLst/>
          </a:prstGeom>
          <a:solidFill>
            <a:srgbClr val="D6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5760" y="3758183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5C96"/>
                </a:solidFill>
              </a:rPr>
              <a:t>{n,m}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37360" y="3758183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n~m회 반복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3995928"/>
            <a:ext cx="13716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645920" y="3995928"/>
            <a:ext cx="39319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" y="4032504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5C96"/>
                </a:solidFill>
              </a:rPr>
              <a:t>|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737360" y="403250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OR (선택)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4270248"/>
            <a:ext cx="1371600" cy="274320"/>
          </a:xfrm>
          <a:prstGeom prst="rect">
            <a:avLst/>
          </a:prstGeom>
          <a:solidFill>
            <a:srgbClr val="D6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645920" y="4270248"/>
            <a:ext cx="3931920" cy="274320"/>
          </a:xfrm>
          <a:prstGeom prst="rect">
            <a:avLst/>
          </a:prstGeom>
          <a:solidFill>
            <a:srgbClr val="D6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5760" y="4306824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5C96"/>
                </a:solidFill>
              </a:rPr>
              <a:t>()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737360" y="430682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그룹화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17920" y="1234440"/>
            <a:ext cx="1645920" cy="292608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863840" y="1234440"/>
            <a:ext cx="3474720" cy="292608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63640" y="1271016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클래스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909560" y="1271016"/>
            <a:ext cx="338327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의미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217920" y="1527048"/>
            <a:ext cx="1645920" cy="274320"/>
          </a:xfrm>
          <a:prstGeom prst="rect">
            <a:avLst/>
          </a:prstGeom>
          <a:solidFill>
            <a:srgbClr val="D6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863840" y="1527048"/>
            <a:ext cx="3474720" cy="274320"/>
          </a:xfrm>
          <a:prstGeom prst="rect">
            <a:avLst/>
          </a:prstGeom>
          <a:solidFill>
            <a:srgbClr val="D6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09360" y="1563624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C3A91"/>
                </a:solidFill>
              </a:rPr>
              <a:t>[:alpha:]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955280" y="1563624"/>
            <a:ext cx="338327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알파벳 문자 [a-zA-Z]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217920" y="1801368"/>
            <a:ext cx="16459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863840" y="1801368"/>
            <a:ext cx="34747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09360" y="1837943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C3A91"/>
                </a:solidFill>
              </a:rPr>
              <a:t>[:digit:]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955280" y="1837943"/>
            <a:ext cx="338327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숫자 [0-9]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217920" y="2075688"/>
            <a:ext cx="1645920" cy="274320"/>
          </a:xfrm>
          <a:prstGeom prst="rect">
            <a:avLst/>
          </a:prstGeom>
          <a:solidFill>
            <a:srgbClr val="D6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863840" y="2075688"/>
            <a:ext cx="3474720" cy="274320"/>
          </a:xfrm>
          <a:prstGeom prst="rect">
            <a:avLst/>
          </a:prstGeom>
          <a:solidFill>
            <a:srgbClr val="D6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09360" y="2112264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C3A91"/>
                </a:solidFill>
              </a:rPr>
              <a:t>[:alnum:]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955280" y="2112264"/>
            <a:ext cx="338327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알파벳 + 숫자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217920" y="2350008"/>
            <a:ext cx="16459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863840" y="2350008"/>
            <a:ext cx="34747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09360" y="2386584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C3A91"/>
                </a:solidFill>
              </a:rPr>
              <a:t>[:upper:]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955280" y="2386584"/>
            <a:ext cx="338327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대문자 [A-Z]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217920" y="2624328"/>
            <a:ext cx="1645920" cy="274320"/>
          </a:xfrm>
          <a:prstGeom prst="rect">
            <a:avLst/>
          </a:prstGeom>
          <a:solidFill>
            <a:srgbClr val="D6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863840" y="2624328"/>
            <a:ext cx="3474720" cy="274320"/>
          </a:xfrm>
          <a:prstGeom prst="rect">
            <a:avLst/>
          </a:prstGeom>
          <a:solidFill>
            <a:srgbClr val="D6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309360" y="2660904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C3A91"/>
                </a:solidFill>
              </a:rPr>
              <a:t>[:lower:]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955280" y="2660904"/>
            <a:ext cx="338327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소문자 [a-z]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217920" y="2898648"/>
            <a:ext cx="16459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863840" y="2898648"/>
            <a:ext cx="34747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309360" y="2935224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C3A91"/>
                </a:solidFill>
              </a:rPr>
              <a:t>[:space:]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955280" y="2935224"/>
            <a:ext cx="338327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공백 문자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217920" y="3172968"/>
            <a:ext cx="1645920" cy="274320"/>
          </a:xfrm>
          <a:prstGeom prst="rect">
            <a:avLst/>
          </a:prstGeom>
          <a:solidFill>
            <a:srgbClr val="D6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863840" y="3172968"/>
            <a:ext cx="3474720" cy="274320"/>
          </a:xfrm>
          <a:prstGeom prst="rect">
            <a:avLst/>
          </a:prstGeom>
          <a:solidFill>
            <a:srgbClr val="D6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309360" y="3209544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C3A91"/>
                </a:solidFill>
              </a:rPr>
              <a:t>[:punct:]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955280" y="3209544"/>
            <a:ext cx="338327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구두점 문자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217920" y="5074920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E67E22"/>
                </a:solidFill>
              </a:rPr>
              <a:t>※ POSIX 클래스는 [[ ]] 안에서 사용: [[:alpha:]], [[:digit:]]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91440"/>
            <a:ext cx="96012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REGEXP_LIKE — 패턴 기반 행 필터링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91440"/>
            <a:ext cx="2103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Chapter 25  |  4/14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7512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 —  정규표현식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7512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© Oracle University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"/>
            <a:ext cx="12188952" cy="5998464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804672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2332"/>
                </a:solidFill>
              </a:rPr>
              <a:t>구문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70432"/>
            <a:ext cx="7772400" cy="8686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243584"/>
            <a:ext cx="7552944" cy="7223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REGEXP_LIKE(source_string, pattern [, match_param])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-- match_param: i=대소문자무시  c=구분(기본)  n=줄바꿈포함  m=다중행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2176272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예제 1 — 이름이 모음으로 시작하는 직원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542032"/>
            <a:ext cx="7772400" cy="9601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2615184"/>
            <a:ext cx="7552944" cy="8138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SELECT employee_id, first_name, last_name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WHERE  REGEXP_LIKE(first_name, '^[AEIOU]', 'i')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ORDER BY first_name;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3639312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예제 2 — 이메일이 4~6자 알파벳인 직원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005072"/>
            <a:ext cx="7772400" cy="9601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4078224"/>
            <a:ext cx="7552944" cy="8138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SELECT employee_id, last_name, email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WHERE  REGEXP_LIKE(email, '^[A-Z]{4,6}$')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ORDER BY email;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804672"/>
            <a:ext cx="3566160" cy="576072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841248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결과 예시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66760" y="1170432"/>
            <a:ext cx="3429000" cy="13258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76488" y="1243584"/>
            <a:ext cx="3209544" cy="1179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EMPLOYEE_ID  FIRST_NAME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-----------  ----------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174          Ellen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166          Sundar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105          David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60604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C3A91"/>
                </a:solidFill>
              </a:rPr>
              <a:t>핵심 포인트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944368"/>
            <a:ext cx="33832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^ : 시작 앵커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328416"/>
            <a:ext cx="33832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[AEIOU] : 문자 집합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712464"/>
            <a:ext cx="33832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'i' : 대소문자 무시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096512"/>
            <a:ext cx="33832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{4,6} : 4~6회 반복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480560"/>
            <a:ext cx="33832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$ : 끝 앵커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91440"/>
            <a:ext cx="96012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REGEXP_INSTR — 패턴 위치 찾기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91440"/>
            <a:ext cx="2103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Chapter 25  |  5/14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7512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 —  정규표현식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7512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© Oracle University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"/>
            <a:ext cx="12188952" cy="5998464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804672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2332"/>
                </a:solidFill>
              </a:rPr>
              <a:t>구문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70432"/>
            <a:ext cx="11430000" cy="10058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243584"/>
            <a:ext cx="11210544" cy="8595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REGEXP_INSTR(source_string, pattern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      [, position [, occurrence [, return_opt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      [, match_param [, subexpr]]]]])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-- return_opt: 0=시작위치(기본), 1=끝위치+1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233172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예제 1 — 이메일에서 두 번째 숫자 그룹 위치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697480"/>
            <a:ext cx="7772400" cy="17830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2770632"/>
            <a:ext cx="7552944" cy="16367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SELECT last_name,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phone_number,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REGEXP_INSTR(phone_number, '[0-9]+', 1, 1) AS first_pos,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REGEXP_INSTR(phone_number, '[0-9]+', 1, 2) AS second_pos,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REGEXP_INSTR(phone_number, '[0-9]+', 1, 3) AS third_pos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WHERE  REGEXP_LIKE(phone_number, '^\d{3}\.\d{3}\.\d{4}$')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ORDER BY employee_id FETCH FIRST 5 ROWS ONLY;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2331720"/>
            <a:ext cx="3566160" cy="393192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395728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결과 예시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66760" y="2724912"/>
            <a:ext cx="3429000" cy="14630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76488" y="2798064"/>
            <a:ext cx="3209544" cy="131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LAST_NAME  FIRST  SECOND  THIRD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---------  -----  ------  -----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King           1       5      9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Kochhar        1       5      9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De Haan        1       5      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4279392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E67E22"/>
                </a:solidFill>
              </a:rPr>
              <a:t>515.123.4567
  ↑   ↑    ↑
 pos1 pos5 pos9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4617720"/>
            <a:ext cx="11430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E67E22"/>
                </a:solidFill>
              </a:rPr>
              <a:t>파라미터 position=1(시작), occurrence=1~3(몇 번째), return_opt=0(시작위치)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91440"/>
            <a:ext cx="96012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REGEXP_SUBSTR — 패턴 부분 추출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91440"/>
            <a:ext cx="2103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Chapter 25  |  6/14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7512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 —  정규표현식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7512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© Oracle University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"/>
            <a:ext cx="12188952" cy="5998464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804672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2332"/>
                </a:solidFill>
              </a:rPr>
              <a:t>구문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70432"/>
            <a:ext cx="11430000" cy="9601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243584"/>
            <a:ext cx="11210544" cy="8138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REGEXP_SUBSTR(source_string, pattern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       [, position [, occurrence [, match_param [, subexpr]]]])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-- subexpr: 0=전체 일치(기본), 1=첫 번째 그룹, 2=두 번째 그룹 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228600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예제 — 전화번호 분해 (지역번호·국번·번호)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651760"/>
            <a:ext cx="7772400" cy="17830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2724912"/>
            <a:ext cx="7552944" cy="16367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SELECT last_name,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phone_number,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REGEXP_SUBSTR(phone_number, '[0-9]+', 1, 1) AS area_code,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REGEXP_SUBSTR(phone_number, '[0-9]+', 1, 2) AS exchange,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REGEXP_SUBSTR(phone_number, '[0-9]+', 1, 3) AS number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WHERE  REGEXP_LIKE(phone_number, '^\d{3}\.\d{3}\.\d{4}$')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ORDER BY employee_id FETCH FIRST 5 ROWS ONLY;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2286000"/>
            <a:ext cx="3566160" cy="402336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35915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결과 예시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66760" y="2697480"/>
            <a:ext cx="3429000" cy="14173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76488" y="2770632"/>
            <a:ext cx="3209544" cy="1271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LAST_NAME  AREA  EXCH  NUM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---------  ----  ----  ----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King       515   123   4567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Kochhar    515   123   4568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De Haan    515   123   4569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4224528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A2332"/>
                </a:solidFill>
              </a:rPr>
              <a:t>• occurrence=1 → '515'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57200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A2332"/>
                </a:solidFill>
              </a:rPr>
              <a:t>• occurrence=2 → '123'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919472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A2332"/>
                </a:solidFill>
              </a:rPr>
              <a:t>• occurrence=3 → '4567'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4590288"/>
            <a:ext cx="11430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E67E22"/>
                </a:solidFill>
              </a:rPr>
              <a:t>일치하지 않으면 NULL 반환 (INSTR는 0 반환과 차이)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91440"/>
            <a:ext cx="96012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REGEXP_REPLACE — 패턴 치환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91440"/>
            <a:ext cx="2103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Chapter 25  |  7/14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7512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 —  정규표현식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7512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© Oracle University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"/>
            <a:ext cx="12188952" cy="5998464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804672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2332"/>
                </a:solidFill>
              </a:rPr>
              <a:t>구문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70432"/>
            <a:ext cx="11430000" cy="9601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243584"/>
            <a:ext cx="11210544" cy="8138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REGEXP_REPLACE(source_string, pattern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        [, replace_string [, position [, occurrence [, match_param]]]])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-- replace_string에서 역참조: \1, \2 ... (그룹 캡처 결과)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22860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예제 1 — 전화번호 형식 변환 (점 → 하이픈)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651760"/>
            <a:ext cx="5486400" cy="10972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2724912"/>
            <a:ext cx="5266944" cy="9509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SELECT phone_number,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REGEXP_REPLACE(phone_number, '\.', '-') AS formatted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WHERE  REGEXP_LIKE(phone_number, '^\d{3}\.\d{3}\.\d{4}$')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FETCH FIRST 3 ROWS ONLY;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38862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예제 2 — 역참조로 이름 순서 변환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251960"/>
            <a:ext cx="5486400" cy="13716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4325112"/>
            <a:ext cx="5266944" cy="12252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SELECT last_name || ' ' || first_name AS original,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REGEXP_REPLACE(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    last_name || ' ' || first_name,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    '^(\S+)\s+(\S+)$', '\2 \1'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) AS swapped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FROM   employees FETCH FIRST 4 ROWS ONLY;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2286000"/>
            <a:ext cx="5943600" cy="425196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0" y="2359152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결과 예시 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2697480"/>
            <a:ext cx="5852160" cy="9601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8" y="2770632"/>
            <a:ext cx="5632704" cy="8138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PHONE_NUMBER   FORMATTED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-------------  -------------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515.123.4567   515-123-4567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515.123.4568   515-123-4568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3767328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결과 예시 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89320" y="4096512"/>
            <a:ext cx="5852160" cy="9601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99048" y="4169664"/>
            <a:ext cx="5632704" cy="8138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ORIGINAL        SWAPPED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--------------  --------------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King Steven     Steven King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Kochhar Neena   Neena Kochhar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5138928"/>
            <a:ext cx="5760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E67E22"/>
                </a:solidFill>
              </a:rPr>
              <a:t>(\S+) : 공백 아닌 문자 1개 이상 = 그룹 캡처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5486400"/>
            <a:ext cx="5760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E67E22"/>
                </a:solidFill>
              </a:rPr>
              <a:t>\1 → 첫 번째 그룹(성), \2 → 두 번째 그룹(이름)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91440"/>
            <a:ext cx="96012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REGEXP_COUNT — 패턴 출현 횟수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91440"/>
            <a:ext cx="2103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Chapter 25  |  8/14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7512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 —  정규표현식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7512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© Oracle University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"/>
            <a:ext cx="12188952" cy="5998464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804672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2332"/>
                </a:solidFill>
              </a:rPr>
              <a:t>구문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70432"/>
            <a:ext cx="7772400" cy="7772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243584"/>
            <a:ext cx="7552944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REGEXP_COUNT(source_string, pattern [, position [, match_param]])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-- Oracle 11g 이상, 일치 횟수 반환 (일치 없으면 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2084831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예제 1 — 이름에서 모음 개수 세기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450592"/>
            <a:ext cx="7772400" cy="10972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2523744"/>
            <a:ext cx="7552944" cy="9509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SELECT last_name,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REGEXP_COUNT(last_name, '[AEIOU]', 1, 'i') AS vowel_count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ORDER BY vowel_count DESC, last_name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FETCH FIRST 8 ROWS ONLY;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3675887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예제 2 — 모음 개수별 직원 수 집계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041648"/>
            <a:ext cx="7772400" cy="10972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4114800"/>
            <a:ext cx="7552944" cy="9509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SELECT REGEXP_COUNT(last_name, '[AEIOU]', 1, 'i') AS vowels,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COUNT(*)                                    AS emp_count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GROUP BY REGEXP_COUNT(last_name, '[AEIOU]', 1, 'i')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ORDER BY vowels;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2084831"/>
            <a:ext cx="3566160" cy="411480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2157984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결과 예시 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66760" y="2487168"/>
            <a:ext cx="3429000" cy="1143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76488" y="2560320"/>
            <a:ext cx="3209544" cy="9966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LAST_NAME     VOWEL_COUNT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------------  -----------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Mikkilineni             4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Livingston              3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Higgins                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73075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결과 예시 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66760" y="4041648"/>
            <a:ext cx="3429000" cy="1143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76488" y="4114800"/>
            <a:ext cx="3209544" cy="9966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VOWELS  EMP_COUNT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------  ---------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0          3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1         28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2         42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3         28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91440"/>
            <a:ext cx="96012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LIKE vs 정규표현식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91440"/>
            <a:ext cx="2103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Chapter 25  |  9/14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7512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 —  정규표현식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7512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© Oracle University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"/>
            <a:ext cx="12188952" cy="5998464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822960"/>
            <a:ext cx="5486400" cy="384048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868680"/>
            <a:ext cx="53035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LIKE 연산자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822960"/>
            <a:ext cx="5669280" cy="384048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868680"/>
            <a:ext cx="5486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정규표현식 (REGEXP_*)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261872"/>
            <a:ext cx="5486400" cy="475488"/>
          </a:xfrm>
          <a:prstGeom prst="rect">
            <a:avLst/>
          </a:prstGeom>
          <a:solidFill>
            <a:srgbClr val="D6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261872"/>
            <a:ext cx="5669280" cy="475488"/>
          </a:xfrm>
          <a:prstGeom prst="rect">
            <a:avLst/>
          </a:prstGeom>
          <a:solidFill>
            <a:srgbClr val="D6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1298448"/>
            <a:ext cx="530352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5C96"/>
                </a:solidFill>
              </a:rPr>
              <a:t>• % : 0개 이상 임의 문자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298448"/>
            <a:ext cx="54864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C3A91"/>
                </a:solidFill>
              </a:rPr>
              <a:t>• .* : 0개 이상 임의 문자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1764792"/>
            <a:ext cx="54864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764792"/>
            <a:ext cx="56692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1801368"/>
            <a:ext cx="530352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5C96"/>
                </a:solidFill>
              </a:rPr>
              <a:t>• _ : 임의의 한 문자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1801368"/>
            <a:ext cx="54864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C3A91"/>
                </a:solidFill>
              </a:rPr>
              <a:t>• . : 임의의 한 문자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267712"/>
            <a:ext cx="5486400" cy="475488"/>
          </a:xfrm>
          <a:prstGeom prst="rect">
            <a:avLst/>
          </a:prstGeom>
          <a:solidFill>
            <a:srgbClr val="D6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2267712"/>
            <a:ext cx="5669280" cy="475488"/>
          </a:xfrm>
          <a:prstGeom prst="rect">
            <a:avLst/>
          </a:prstGeom>
          <a:solidFill>
            <a:srgbClr val="D6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2304288"/>
            <a:ext cx="530352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5C96"/>
                </a:solidFill>
              </a:rPr>
              <a:t>• 문자 집합 지정 불가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304288"/>
            <a:ext cx="54864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C3A91"/>
                </a:solidFill>
              </a:rPr>
              <a:t>• [abc], [a-z] : 문자 집합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770632"/>
            <a:ext cx="54864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2770632"/>
            <a:ext cx="56692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2807208"/>
            <a:ext cx="530352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5C96"/>
                </a:solidFill>
              </a:rPr>
              <a:t>• 반복 횟수 지정 불가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2807208"/>
            <a:ext cx="54864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C3A91"/>
                </a:solidFill>
              </a:rPr>
              <a:t>• {n}, {n,m} : 정확한 반복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273552"/>
            <a:ext cx="5486400" cy="475488"/>
          </a:xfrm>
          <a:prstGeom prst="rect">
            <a:avLst/>
          </a:prstGeom>
          <a:solidFill>
            <a:srgbClr val="D6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3273552"/>
            <a:ext cx="5669280" cy="475488"/>
          </a:xfrm>
          <a:prstGeom prst="rect">
            <a:avLst/>
          </a:prstGeom>
          <a:solidFill>
            <a:srgbClr val="D6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3310128"/>
            <a:ext cx="530352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5C96"/>
                </a:solidFill>
              </a:rPr>
              <a:t>• OR 조건 불가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3310128"/>
            <a:ext cx="54864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C3A91"/>
                </a:solidFill>
              </a:rPr>
              <a:t>• | : OR (cat|dog)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776472"/>
            <a:ext cx="54864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3776472"/>
            <a:ext cx="56692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3813048"/>
            <a:ext cx="530352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5C96"/>
                </a:solidFill>
              </a:rPr>
              <a:t>• 그룹화 불가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3813048"/>
            <a:ext cx="54864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C3A91"/>
                </a:solidFill>
              </a:rPr>
              <a:t>• () : 그룹 캡처 및 역참조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4279392"/>
            <a:ext cx="5486400" cy="475488"/>
          </a:xfrm>
          <a:prstGeom prst="rect">
            <a:avLst/>
          </a:prstGeom>
          <a:solidFill>
            <a:srgbClr val="D6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17920" y="4279392"/>
            <a:ext cx="5669280" cy="475488"/>
          </a:xfrm>
          <a:prstGeom prst="rect">
            <a:avLst/>
          </a:prstGeom>
          <a:solidFill>
            <a:srgbClr val="D6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4315968"/>
            <a:ext cx="530352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5C96"/>
                </a:solidFill>
              </a:rPr>
              <a:t>• 대소문자 UPPER/LOWER 필요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4315968"/>
            <a:ext cx="54864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C3A91"/>
                </a:solidFill>
              </a:rPr>
              <a:t>• 'i' 옵션으로 간단히 처리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4782312"/>
            <a:ext cx="54864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17920" y="4782312"/>
            <a:ext cx="56692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818888"/>
            <a:ext cx="530352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5C96"/>
                </a:solidFill>
              </a:rPr>
              <a:t>• 성능 우수 (단순 패턴)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0" y="4818888"/>
            <a:ext cx="54864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C3A91"/>
                </a:solidFill>
              </a:rPr>
              <a:t>• 복잡한 패턴에 더 강력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4320" y="5349240"/>
            <a:ext cx="116128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E67E22"/>
                </a:solidFill>
              </a:rPr>
              <a:t>권장: 단순 패턴은 LIKE, 복잡한 패턴 매칭/추출/치환은 REGEXP_* 함수 사용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91440"/>
            <a:ext cx="96012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match_param — 일치 동작 제어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91440"/>
            <a:ext cx="2103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Chapter 25  |  10/14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7512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 —  정규표현식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7512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© Oracle University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"/>
            <a:ext cx="12188952" cy="5998464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804672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2332"/>
                </a:solidFill>
              </a:rPr>
              <a:t>match_param 옵션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88720"/>
            <a:ext cx="914400" cy="29260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88720" y="1188720"/>
            <a:ext cx="4572000" cy="29260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225296"/>
            <a:ext cx="822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옵션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1225296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설명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481328"/>
            <a:ext cx="914400" cy="329184"/>
          </a:xfrm>
          <a:prstGeom prst="rect">
            <a:avLst/>
          </a:prstGeom>
          <a:solidFill>
            <a:srgbClr val="FD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88720" y="1481328"/>
            <a:ext cx="4572000" cy="329184"/>
          </a:xfrm>
          <a:prstGeom prst="rect">
            <a:avLst/>
          </a:prstGeom>
          <a:solidFill>
            <a:srgbClr val="FD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151790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</a:rPr>
              <a:t>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1517904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대소문자 무시 (case-insensitive)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810512"/>
            <a:ext cx="9144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88720" y="1810512"/>
            <a:ext cx="45720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1847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184708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대소문자 구분 (기본값)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139696"/>
            <a:ext cx="914400" cy="329184"/>
          </a:xfrm>
          <a:prstGeom prst="rect">
            <a:avLst/>
          </a:prstGeom>
          <a:solidFill>
            <a:srgbClr val="FD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88720" y="2139696"/>
            <a:ext cx="4572000" cy="329184"/>
          </a:xfrm>
          <a:prstGeom prst="rect">
            <a:avLst/>
          </a:prstGeom>
          <a:solidFill>
            <a:srgbClr val="FD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21762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</a:rPr>
              <a:t>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2176272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.(점)이 줄바꿈 문자도 일치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2468880"/>
            <a:ext cx="9144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88720" y="2468880"/>
            <a:ext cx="45720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250545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</a:rPr>
              <a:t>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2505456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다중 행 모드: ^/$ 가 각 행 시작/끝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2798064"/>
            <a:ext cx="914400" cy="329184"/>
          </a:xfrm>
          <a:prstGeom prst="rect">
            <a:avLst/>
          </a:prstGeom>
          <a:solidFill>
            <a:srgbClr val="FD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88720" y="2798064"/>
            <a:ext cx="4572000" cy="329184"/>
          </a:xfrm>
          <a:prstGeom prst="rect">
            <a:avLst/>
          </a:prstGeom>
          <a:solidFill>
            <a:srgbClr val="FD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2834639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</a:rPr>
              <a:t>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2834639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공백·주석 허용 (가독성 향상)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32461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예제 — 'i' 옵션으로 대소문자 무시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3611880"/>
            <a:ext cx="5486400" cy="15087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4048" y="3685032"/>
            <a:ext cx="5266944" cy="1362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-- 'i' 옵션: 'king', 'KING', 'King' 모두 일치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SELECT last_name FROM employees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WHERE  REGEXP_LIKE(last_name, '^king$', 'i');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-- 'c' 옵션 (기본): 'King'만 일치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SELECT last_name FROM employees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WHERE  REGEXP_LIKE(last_name, '^King$');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804672"/>
            <a:ext cx="5577840" cy="576072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0" y="86868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예제 — 복합 옵션 활용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1234440"/>
            <a:ext cx="5394960" cy="31546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73368" y="1307592"/>
            <a:ext cx="5175504" cy="30083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-- REGEXP_COUNT + 'i' 옵션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SELECT last_name,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REGEXP_COUNT(last_name, 'e', 1, 'i') AS e_count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ORDER BY e_count DESC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FETCH FIRST 5 ROWS ONLY;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-- REGEXP_REPLACE + 대소문자 무시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SELECT REGEXP_REPLACE(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    'Hello World HELLO',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    'hello', 'Hi', 1, 0, 'i'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) AS result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FROM dual;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-- 결과: Hi World Hi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4498848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E67E22"/>
                </a:solidFill>
              </a:rPr>
              <a:t>※ 여러 옵션 조합 가능: 'im' = 대소문자무시 + 다중행모드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91440"/>
            <a:ext cx="96012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정규표현식 5개 함수 — 종합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91440"/>
            <a:ext cx="2103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Chapter 25  |  11/14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7512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 —  정규표현식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7512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© Oracle University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"/>
            <a:ext cx="12188952" cy="5998464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2880" y="960120"/>
            <a:ext cx="1371600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" y="987552"/>
            <a:ext cx="12801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함수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960120"/>
            <a:ext cx="2286000" cy="36576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987552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반환값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31920" y="960120"/>
            <a:ext cx="2743200" cy="36576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77639" y="987552"/>
            <a:ext cx="26517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주요 파라미터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20840" y="960120"/>
            <a:ext cx="320040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59" y="987552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주요 사용처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66959" y="960120"/>
            <a:ext cx="2286000" cy="3657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12680" y="987552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Oracle 버전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" y="1371600"/>
            <a:ext cx="1371600" cy="804672"/>
          </a:xfrm>
          <a:prstGeom prst="rect">
            <a:avLst/>
          </a:prstGeom>
          <a:solidFill>
            <a:srgbClr val="D6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" y="1426464"/>
            <a:ext cx="1280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C74634"/>
                </a:solidFill>
              </a:rPr>
              <a:t>REGEXP_LIKE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00200" y="1371600"/>
            <a:ext cx="2286000" cy="804672"/>
          </a:xfrm>
          <a:prstGeom prst="rect">
            <a:avLst/>
          </a:prstGeom>
          <a:solidFill>
            <a:srgbClr val="D6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45920" y="1426464"/>
            <a:ext cx="21945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A2332"/>
                </a:solidFill>
              </a:rPr>
              <a:t>TRUE / FALSE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1920" y="1371600"/>
            <a:ext cx="2743200" cy="804672"/>
          </a:xfrm>
          <a:prstGeom prst="rect">
            <a:avLst/>
          </a:prstGeom>
          <a:solidFill>
            <a:srgbClr val="D6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77639" y="1426464"/>
            <a:ext cx="26517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A2332"/>
                </a:solidFill>
              </a:rPr>
              <a:t>source, pattern, [match]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20840" y="1371600"/>
            <a:ext cx="3200400" cy="804672"/>
          </a:xfrm>
          <a:prstGeom prst="rect">
            <a:avLst/>
          </a:prstGeom>
          <a:solidFill>
            <a:srgbClr val="D6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59" y="1426464"/>
            <a:ext cx="31089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A2332"/>
                </a:solidFill>
              </a:rPr>
              <a:t>WHERE 절 패턴 필터링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966959" y="1371600"/>
            <a:ext cx="2286000" cy="804672"/>
          </a:xfrm>
          <a:prstGeom prst="rect">
            <a:avLst/>
          </a:prstGeom>
          <a:solidFill>
            <a:srgbClr val="D6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12680" y="1426464"/>
            <a:ext cx="21945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A2332"/>
                </a:solidFill>
              </a:rPr>
              <a:t>10g+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2880" y="219456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8600" y="2249424"/>
            <a:ext cx="1280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C74634"/>
                </a:solidFill>
              </a:rPr>
              <a:t>REGEXP_INSTR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00200" y="2194560"/>
            <a:ext cx="22860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45920" y="2249424"/>
            <a:ext cx="21945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A2332"/>
                </a:solidFill>
              </a:rPr>
              <a:t>숫자 (위치)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31920" y="2194560"/>
            <a:ext cx="27432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77639" y="2249424"/>
            <a:ext cx="26517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A2332"/>
                </a:solidFill>
              </a:rPr>
              <a:t>source, pattern, [pos, occ, ret, match, sub]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20840" y="2194560"/>
            <a:ext cx="32004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59" y="2249424"/>
            <a:ext cx="31089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A2332"/>
                </a:solidFill>
              </a:rPr>
              <a:t>패턴 시작/끝 위치 반환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966959" y="2194560"/>
            <a:ext cx="22860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12680" y="2249424"/>
            <a:ext cx="21945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A2332"/>
                </a:solidFill>
              </a:rPr>
              <a:t>10g+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3017520"/>
            <a:ext cx="1371600" cy="804672"/>
          </a:xfrm>
          <a:prstGeom prst="rect">
            <a:avLst/>
          </a:prstGeom>
          <a:solidFill>
            <a:srgbClr val="D6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28600" y="3072384"/>
            <a:ext cx="1280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C74634"/>
                </a:solidFill>
              </a:rPr>
              <a:t>REGEXP_SUBSTR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00200" y="3017520"/>
            <a:ext cx="2286000" cy="804672"/>
          </a:xfrm>
          <a:prstGeom prst="rect">
            <a:avLst/>
          </a:prstGeom>
          <a:solidFill>
            <a:srgbClr val="D6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45920" y="3072384"/>
            <a:ext cx="21945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A2332"/>
                </a:solidFill>
              </a:rPr>
              <a:t>문자열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931920" y="3017520"/>
            <a:ext cx="2743200" cy="804672"/>
          </a:xfrm>
          <a:prstGeom prst="rect">
            <a:avLst/>
          </a:prstGeom>
          <a:solidFill>
            <a:srgbClr val="D6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977639" y="3072384"/>
            <a:ext cx="26517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A2332"/>
                </a:solidFill>
              </a:rPr>
              <a:t>source, pattern, [pos, occ, match, sub]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720840" y="3017520"/>
            <a:ext cx="3200400" cy="804672"/>
          </a:xfrm>
          <a:prstGeom prst="rect">
            <a:avLst/>
          </a:prstGeom>
          <a:solidFill>
            <a:srgbClr val="D6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66559" y="3072384"/>
            <a:ext cx="31089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A2332"/>
                </a:solidFill>
              </a:rPr>
              <a:t>패턴 일치 부분 추출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966959" y="3017520"/>
            <a:ext cx="2286000" cy="804672"/>
          </a:xfrm>
          <a:prstGeom prst="rect">
            <a:avLst/>
          </a:prstGeom>
          <a:solidFill>
            <a:srgbClr val="D6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012680" y="3072384"/>
            <a:ext cx="21945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A2332"/>
                </a:solidFill>
              </a:rPr>
              <a:t>10g+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2880" y="384048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28600" y="3895344"/>
            <a:ext cx="1280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C74634"/>
                </a:solidFill>
              </a:rPr>
              <a:t>REGEXP_REPLACE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00200" y="3840480"/>
            <a:ext cx="22860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45920" y="3895344"/>
            <a:ext cx="21945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A2332"/>
                </a:solidFill>
              </a:rPr>
              <a:t>문자열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931920" y="3840480"/>
            <a:ext cx="27432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977639" y="3895344"/>
            <a:ext cx="26517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A2332"/>
                </a:solidFill>
              </a:rPr>
              <a:t>source, pattern, [replace, pos, occ, match]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720840" y="3840480"/>
            <a:ext cx="32004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766559" y="3895344"/>
            <a:ext cx="31089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A2332"/>
                </a:solidFill>
              </a:rPr>
              <a:t>패턴 치환·역참조 변환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966959" y="3840480"/>
            <a:ext cx="22860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012680" y="3895344"/>
            <a:ext cx="21945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A2332"/>
                </a:solidFill>
              </a:rPr>
              <a:t>10g+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82880" y="4663440"/>
            <a:ext cx="1371600" cy="804672"/>
          </a:xfrm>
          <a:prstGeom prst="rect">
            <a:avLst/>
          </a:prstGeom>
          <a:solidFill>
            <a:srgbClr val="D6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28600" y="4718304"/>
            <a:ext cx="1280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C74634"/>
                </a:solidFill>
              </a:rPr>
              <a:t>REGEXP_COUNT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4663440"/>
            <a:ext cx="2286000" cy="804672"/>
          </a:xfrm>
          <a:prstGeom prst="rect">
            <a:avLst/>
          </a:prstGeom>
          <a:solidFill>
            <a:srgbClr val="D6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45920" y="4718304"/>
            <a:ext cx="21945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A2332"/>
                </a:solidFill>
              </a:rPr>
              <a:t>숫자 (횟수)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931920" y="4663440"/>
            <a:ext cx="2743200" cy="804672"/>
          </a:xfrm>
          <a:prstGeom prst="rect">
            <a:avLst/>
          </a:prstGeom>
          <a:solidFill>
            <a:srgbClr val="D6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977639" y="4718304"/>
            <a:ext cx="26517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A2332"/>
                </a:solidFill>
              </a:rPr>
              <a:t>source, pattern, [pos, match]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720840" y="4663440"/>
            <a:ext cx="3200400" cy="804672"/>
          </a:xfrm>
          <a:prstGeom prst="rect">
            <a:avLst/>
          </a:prstGeom>
          <a:solidFill>
            <a:srgbClr val="D6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766559" y="4718304"/>
            <a:ext cx="31089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A2332"/>
                </a:solidFill>
              </a:rPr>
              <a:t>패턴 출현 횟수 집계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966959" y="4663440"/>
            <a:ext cx="2286000" cy="804672"/>
          </a:xfrm>
          <a:prstGeom prst="rect">
            <a:avLst/>
          </a:prstGeom>
          <a:solidFill>
            <a:srgbClr val="D6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012680" y="4718304"/>
            <a:ext cx="21945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A2332"/>
                </a:solidFill>
              </a:rPr>
              <a:t>11g+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82880" y="5532120"/>
            <a:ext cx="1179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E67E22"/>
                </a:solidFill>
              </a:rPr>
              <a:t>모든 함수는 일치하지 않을 때: REGEXP_LIKE → FALSE, REGEXP_INSTR → 0, 나머지 → NULL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91440"/>
            <a:ext cx="96012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실습 문제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91440"/>
            <a:ext cx="2103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Chapter 25  |  12/14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7512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 —  정규표현식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7512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© Oracle University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"/>
            <a:ext cx="12188952" cy="5998464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804672"/>
            <a:ext cx="114300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5A623"/>
                </a:solidFill>
              </a:rPr>
              <a:t>HR 스키마를 사용하여 다음 쿼리를 작성하세요.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261872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문제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572768"/>
            <a:ext cx="11430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last_name에 연속된 모음(a, e, i, o, u)이 2개 이상 포함된 직원을 조회하시오.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920240"/>
            <a:ext cx="7772400" cy="89611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1993392"/>
            <a:ext cx="7552944" cy="7498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SELECT employee_id, last_name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WHERE  REGEXP_LIKE(last_name, '[aeiou]{2,}', 'i')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ORDER BY last_name;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9443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문제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255264"/>
            <a:ext cx="11430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전화번호를 '(515) 123-4567' 형식으로 변환하시오. (점 구분 형식만 대상)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602736"/>
            <a:ext cx="9601200" cy="1298448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3675887"/>
            <a:ext cx="9381744" cy="11521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SELECT phone_number,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'(' || REGEXP_SUBSTR(phone_number, '[0-9]+', 1, 1) || ') '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|| REGEXP_SUBSTR(phone_number, '[0-9]+', 1, 2) || '-'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|| REGEXP_SUBSTR(phone_number, '[0-9]+', 1, 3) AS new_format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WHERE  REGEXP_LIKE(phone_number, '^\d{3}\.\d{3}\.\d{4}$');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010912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문제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321808"/>
            <a:ext cx="11430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last_name에서 알파벳 자음의 개수를 구하여 내림차순으로 상위 5명을 조회하시오.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91440"/>
            <a:ext cx="96012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정규표현식 고급 패턴 활용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91440"/>
            <a:ext cx="2103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Chapter 25  |  13/14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7512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 —  정규표현식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7512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© Oracle University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"/>
            <a:ext cx="12188952" cy="5998464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822960"/>
            <a:ext cx="5486400" cy="36576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850392"/>
            <a:ext cx="53035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이메일 유효성 검사 시나리오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234440"/>
            <a:ext cx="5486400" cy="245059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1307592"/>
            <a:ext cx="5266944" cy="23042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-- 간단한 이메일 형식 검증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SELECT employee_id, last_name,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email || '@oracle.com' AS full_email,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CASE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  WHEN REGEXP_LIKE(email, '^[A-Z]+$')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  THEN '유효'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  ELSE '무효'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END AS email_status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ORDER BY email_status, employee_id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FETCH FIRST 8 ROWS ONLY;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822960"/>
            <a:ext cx="5669280" cy="36576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850392"/>
            <a:ext cx="5486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데이터 정제 시나리오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234440"/>
            <a:ext cx="5669280" cy="17830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7648" y="1307592"/>
            <a:ext cx="5449824" cy="16367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-- 이름 첫 글자 + 성 형식으로 변환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SELECT first_name || ' ' || last_name AS full_name,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REGEXP_SUBSTR(first_name, '^[A-Za-z]')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|| '. ' || last_name            AS abbrev_name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ORDER BY last_name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FETCH FIRST 8 ROWS ONLY;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127248"/>
            <a:ext cx="5669280" cy="34747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315468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연속 공백·특수문자 제거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511296"/>
            <a:ext cx="5669280" cy="2286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3584448"/>
            <a:ext cx="5449824" cy="21396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-- 연속 공백 → 단일 공백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SELECT REGEXP_REPLACE(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'  Oracle   DB  19c  ',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'\s+', ' '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) AS cleaned FROM dual;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-- 숫자만 추출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SELECT REGEXP_REPLACE(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'ABC-123-DEF-456',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'[^0-9]', ''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) AS nums_only FROM dual;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-- 결과: 123456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767328"/>
            <a:ext cx="5486400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794760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역참조 그룹 캡처 활용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160520"/>
            <a:ext cx="5486400" cy="15087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" y="4233672"/>
            <a:ext cx="5266944" cy="1362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-- (성)(공백)(이름) → 이름 성 순서 변환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SELECT REGEXP_REPLACE(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last_name || ' ' || first_name,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'^(\S+)\s+(\S+)$', '\2 \1'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) AS name_swapped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FROM employees FETCH FIRST 5 ROWS ONLY;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91440"/>
            <a:ext cx="96012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91440"/>
            <a:ext cx="2103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Chapter 25  |  14/14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7512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 —  정규표현식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7512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© Oracle University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"/>
            <a:ext cx="12188952" cy="5998464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868680"/>
            <a:ext cx="2286000" cy="5943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914400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정규표현식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91440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메타문자(.  *  +  ?  ^  $)와 POSIX 문자 클래스([[:alpha:]] 등)로 패턴 정의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572768"/>
            <a:ext cx="2286000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618488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REGEXP_LIKE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1618488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WHERE 절에서 패턴 조건 적용 — LIKE보다 강력한 문자 집합·반복·OR 지원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276856"/>
            <a:ext cx="2286000" cy="5943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322576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REGEXP_INSTR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2322576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패턴의 시작·끝 위치 반환 — occurrence로 n번째 일치 선택 가능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980944"/>
            <a:ext cx="2286000" cy="59436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026664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REGEXP_SUBSTR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3026664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패턴 일치 부분 추출 — subexpr로 그룹 캡처 결과 선택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685032"/>
            <a:ext cx="2286000" cy="5943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730752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REGEXP_REPLACE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3730752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패턴 치환 — 역참조(\1, \2)로 그룹 순서 재배치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389120"/>
            <a:ext cx="2286000" cy="5943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4434840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REGEXP_COUNT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443484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패턴 출현 횟수 반환 — Oracle 11g 이상 지원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5093208"/>
            <a:ext cx="2286000" cy="59436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5138928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match_param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5138928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'i'(대소문자 무시)·'m'(다중행)·'n'(줄바꿈 포함) 옵션으로 동작 제어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
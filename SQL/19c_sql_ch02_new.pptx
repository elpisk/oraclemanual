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74634"/>
                </a:solidFill>
                <a:latin typeface="Arial"/>
              </a:rPr>
              <a:t>ORACLE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EA8C9"/>
                </a:solidFill>
                <a:latin typeface="Arial"/>
              </a:rPr>
              <a:t>DATABASE 19c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89888"/>
            <a:ext cx="8229600" cy="36576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8229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 Black"/>
              </a:rPr>
              <a:t>SQL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786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4634"/>
                </a:solidFill>
                <a:latin typeface="Arial"/>
              </a:rPr>
              <a:t>Chapter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992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ADCFC"/>
                </a:solidFill>
                <a:latin typeface="Arial"/>
              </a:rPr>
              <a:t>SQL SELECT 문으로 데이터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46320"/>
            <a:ext cx="9144000" cy="160020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484632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55464"/>
            <a:ext cx="8138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rial"/>
              </a:rPr>
              <a:t>|  Oracle Database 19c: SQL Workshop  |  Chapter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학습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983480"/>
            <a:ext cx="1828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92624"/>
            <a:ext cx="8138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2 — SQL SELECT 문으로 데이터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C74634"/>
              </a:buClr>
            </a:pPr>
            <a:r>
              <a:rPr sz="1800" b="0">
                <a:solidFill>
                  <a:srgbClr val="1E293B"/>
                </a:solidFill>
                <a:latin typeface="Arial"/>
              </a:rPr>
              <a:t>SQL SELECT 문의 기능을 나열한다</a:t>
            </a:r>
          </a:p>
          <a:p>
            <a:pPr algn="l">
              <a:spcBef>
                <a:spcPts val="2000"/>
              </a:spcBef>
              <a:buChar char="•"/>
              <a:buClr>
                <a:srgbClr val="C74634"/>
              </a:buClr>
            </a:pPr>
            <a:r>
              <a:rPr sz="1800" b="0">
                <a:solidFill>
                  <a:srgbClr val="1E293B"/>
                </a:solidFill>
                <a:latin typeface="Arial"/>
              </a:rPr>
              <a:t>기본 SELECT 문을 실행한다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학습 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983480"/>
            <a:ext cx="1828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92624"/>
            <a:ext cx="8138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2 — SQL SELECT 문으로 데이터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C74634"/>
              </a:buClr>
            </a:pPr>
            <a:r>
              <a:rPr sz="1600" b="0">
                <a:solidFill>
                  <a:srgbClr val="1E293B"/>
                </a:solidFill>
                <a:latin typeface="Arial"/>
              </a:rPr>
              <a:t>SQL SELECT 문의 기능</a:t>
            </a:r>
          </a:p>
          <a:p>
            <a:pPr algn="l">
              <a:spcBef>
                <a:spcPts val="1000"/>
              </a:spcBef>
              <a:buChar char="•"/>
              <a:buClr>
                <a:srgbClr val="C74634"/>
              </a:buClr>
            </a:pPr>
            <a:r>
              <a:rPr sz="1600" b="0">
                <a:solidFill>
                  <a:srgbClr val="1E293B"/>
                </a:solidFill>
                <a:latin typeface="Arial"/>
              </a:rPr>
              <a:t>SELECT 문에서의 산술 표현식과 NULL 값</a:t>
            </a:r>
          </a:p>
          <a:p>
            <a:pPr algn="l">
              <a:spcBef>
                <a:spcPts val="1000"/>
              </a:spcBef>
              <a:buChar char="•"/>
              <a:buClr>
                <a:srgbClr val="C74634"/>
              </a:buClr>
            </a:pPr>
            <a:r>
              <a:rPr sz="1600" b="0">
                <a:solidFill>
                  <a:srgbClr val="1E293B"/>
                </a:solidFill>
                <a:latin typeface="Arial"/>
              </a:rPr>
              <a:t>열 별칭 (Column Alias)</a:t>
            </a:r>
          </a:p>
          <a:p>
            <a:pPr algn="l">
              <a:spcBef>
                <a:spcPts val="1000"/>
              </a:spcBef>
              <a:buChar char="•"/>
              <a:buClr>
                <a:srgbClr val="C74634"/>
              </a:buClr>
            </a:pPr>
            <a:r>
              <a:rPr sz="1600" b="0">
                <a:solidFill>
                  <a:srgbClr val="1E293B"/>
                </a:solidFill>
                <a:latin typeface="Arial"/>
              </a:rPr>
              <a:t>연결 연산자, 리터럴 문자열, 대체 따옴표 연산자, DISTINCT 키워드 사용</a:t>
            </a:r>
          </a:p>
          <a:p>
            <a:pPr algn="l">
              <a:spcBef>
                <a:spcPts val="1000"/>
              </a:spcBef>
              <a:buChar char="•"/>
              <a:buClr>
                <a:srgbClr val="C74634"/>
              </a:buClr>
            </a:pPr>
            <a:r>
              <a:rPr sz="1600" b="0">
                <a:solidFill>
                  <a:srgbClr val="1E293B"/>
                </a:solidFill>
                <a:latin typeface="Arial"/>
              </a:rPr>
              <a:t>DESCRIBE 명령어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SQL 문 작성 규칙 및 기본 SELECT 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983480"/>
            <a:ext cx="1828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92624"/>
            <a:ext cx="8138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2 — SQL SELECT 문으로 데이터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49808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SQL 문은 대소문자를 구분하지 않는다</a:t>
            </a:r>
          </a:p>
          <a:p>
            <a:pPr algn="l">
              <a:spcBef>
                <a:spcPts val="600"/>
              </a:spcBef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SQL 문은 한 줄 또는 여러 줄에 걸쳐 입력할 수 있다</a:t>
            </a:r>
          </a:p>
          <a:p>
            <a:pPr algn="l">
              <a:spcBef>
                <a:spcPts val="600"/>
              </a:spcBef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키워드는 축약하거나 줄을 나눌 수 없다</a:t>
            </a:r>
          </a:p>
          <a:p>
            <a:pPr algn="l">
              <a:spcBef>
                <a:spcPts val="600"/>
              </a:spcBef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절(Clause)은 보통 별도의 줄에 작성한다</a:t>
            </a:r>
          </a:p>
          <a:p>
            <a:pPr algn="l">
              <a:spcBef>
                <a:spcPts val="600"/>
              </a:spcBef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가독성을 높이기 위해 들여쓰기를 사용한다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749808"/>
            <a:ext cx="3931920" cy="914400"/>
          </a:xfrm>
          <a:prstGeom prst="rect">
            <a:avLst/>
          </a:prstGeom>
          <a:solidFill>
            <a:srgbClr val="F8F9F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Arial"/>
              </a:rPr>
              <a:t>SELECT  — 표시할 열을 지정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1704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Arial"/>
              </a:rPr>
              <a:t>FROM    — 해당 열이 포함된 테이블 지정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546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Arial"/>
              </a:rPr>
              <a:t>구문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74720"/>
            <a:ext cx="8412480" cy="777240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8183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ED4AD"/>
                </a:solidFill>
                <a:latin typeface="Courier New"/>
              </a:rPr>
              <a:t>SELECT  *|{[DISTINCT] column [alias], ...}
FROM    table;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434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  <a:latin typeface="Arial"/>
              </a:rPr>
              <a:t>예시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70832"/>
            <a:ext cx="8412480" cy="457200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462272"/>
            <a:ext cx="8183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ED4AD"/>
                </a:solidFill>
                <a:latin typeface="Courier New"/>
              </a:rPr>
              <a:t>SELECT *   FROM departments;        -- 모든 열
SELECT department_id, location_id   FROM departments;  -- 특정 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SQL 실행 환경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983480"/>
            <a:ext cx="1828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92624"/>
            <a:ext cx="8138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2 — SQL SELECT 문으로 데이터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749808"/>
            <a:ext cx="8412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749808"/>
            <a:ext cx="82296" cy="12344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813815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Arial"/>
              </a:rPr>
              <a:t>Oracle SQL 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170432"/>
            <a:ext cx="8046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1A2332"/>
              </a:buClr>
            </a:pPr>
            <a:r>
              <a:rPr sz="1200" b="0">
                <a:solidFill>
                  <a:srgbClr val="1E293B"/>
                </a:solidFill>
                <a:latin typeface="Arial"/>
              </a:rPr>
              <a:t>Execute Statement 버튼 또는 F9 — 단일 문 실행</a:t>
            </a:r>
          </a:p>
          <a:p>
            <a:pPr algn="l">
              <a:spcBef>
                <a:spcPts val="300"/>
              </a:spcBef>
              <a:buChar char="•"/>
              <a:buClr>
                <a:srgbClr val="1A2332"/>
              </a:buClr>
            </a:pPr>
            <a:r>
              <a:rPr sz="1200" b="0">
                <a:solidFill>
                  <a:srgbClr val="1E293B"/>
                </a:solidFill>
                <a:latin typeface="Arial"/>
              </a:rPr>
              <a:t>Run Script 버튼 또는 F5 — 스크립트 전체 실행</a:t>
            </a:r>
          </a:p>
          <a:p>
            <a:pPr algn="l">
              <a:spcBef>
                <a:spcPts val="300"/>
              </a:spcBef>
              <a:buChar char="•"/>
              <a:buClr>
                <a:srgbClr val="1A2332"/>
              </a:buClr>
            </a:pPr>
            <a:r>
              <a:rPr sz="1200" b="0">
                <a:solidFill>
                  <a:srgbClr val="1E293B"/>
                </a:solidFill>
                <a:latin typeface="Arial"/>
              </a:rPr>
              <a:t>열 머리글: 왼쪽 정렬, 대문자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39696"/>
            <a:ext cx="8412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39696"/>
            <a:ext cx="82296" cy="123444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203703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8A"/>
                </a:solidFill>
                <a:latin typeface="Arial"/>
              </a:rPr>
              <a:t>MySQL Workbench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560320"/>
            <a:ext cx="8046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2C5F8A"/>
              </a:buClr>
            </a:pPr>
            <a:r>
              <a:rPr sz="1200" b="0">
                <a:solidFill>
                  <a:srgbClr val="1E293B"/>
                </a:solidFill>
                <a:latin typeface="Arial"/>
              </a:rPr>
              <a:t>SQL 편집기에 입력 후 Ctrl+Enter 또는 Execute 버튼</a:t>
            </a:r>
          </a:p>
          <a:p>
            <a:pPr algn="l">
              <a:spcBef>
                <a:spcPts val="300"/>
              </a:spcBef>
              <a:buChar char="•"/>
              <a:buClr>
                <a:srgbClr val="2C5F8A"/>
              </a:buClr>
            </a:pPr>
            <a:r>
              <a:rPr sz="1200" b="0">
                <a:solidFill>
                  <a:srgbClr val="1E293B"/>
                </a:solidFill>
                <a:latin typeface="Arial"/>
              </a:rPr>
              <a:t>결과는 Results Grid에 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29584"/>
            <a:ext cx="8412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529584"/>
            <a:ext cx="82296" cy="1234440"/>
          </a:xfrm>
          <a:prstGeom prst="rect">
            <a:avLst/>
          </a:prstGeom>
          <a:solidFill>
            <a:srgbClr val="2C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593591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7A4A"/>
                </a:solidFill>
                <a:latin typeface="Arial"/>
              </a:rPr>
              <a:t>SQL*Plus / mysql 명령행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3950208"/>
            <a:ext cx="8046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2C7A4A"/>
              </a:buClr>
            </a:pPr>
            <a:r>
              <a:rPr sz="1200" b="0">
                <a:solidFill>
                  <a:srgbClr val="1E293B"/>
                </a:solidFill>
                <a:latin typeface="Arial"/>
              </a:rPr>
              <a:t>SQL*Plus: ';' 또는 '/' 로 실행</a:t>
            </a:r>
          </a:p>
          <a:p>
            <a:pPr algn="l">
              <a:spcBef>
                <a:spcPts val="300"/>
              </a:spcBef>
              <a:buChar char="•"/>
              <a:buClr>
                <a:srgbClr val="2C7A4A"/>
              </a:buClr>
            </a:pPr>
            <a:r>
              <a:rPr sz="1200" b="0">
                <a:solidFill>
                  <a:srgbClr val="1E293B"/>
                </a:solidFill>
                <a:latin typeface="Arial"/>
              </a:rPr>
              <a:t>mysql: ';' 로 문을 끝내고 Enter</a:t>
            </a:r>
          </a:p>
          <a:p>
            <a:pPr algn="l">
              <a:spcBef>
                <a:spcPts val="300"/>
              </a:spcBef>
              <a:buChar char="•"/>
              <a:buClr>
                <a:srgbClr val="2C7A4A"/>
              </a:buClr>
            </a:pPr>
            <a:r>
              <a:rPr sz="1200" b="0">
                <a:solidFill>
                  <a:srgbClr val="1E293B"/>
                </a:solidFill>
                <a:latin typeface="Arial"/>
              </a:rPr>
              <a:t>숫자 열: 오른쪽 정렬 / 문자·날짜 열: 왼쪽 정렬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dual 테이블 (Oracle) 및 MySQL 상수 표현식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983480"/>
            <a:ext cx="1828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92624"/>
            <a:ext cx="8138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2 — SQL SELECT 문으로 데이터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749808"/>
            <a:ext cx="8412480" cy="640080"/>
          </a:xfrm>
          <a:prstGeom prst="rect">
            <a:avLst/>
          </a:prstGeom>
          <a:solidFill>
            <a:srgbClr val="FEF2F2"/>
          </a:solidFill>
          <a:ln w="63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80467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4634"/>
                </a:solidFill>
                <a:latin typeface="Arial"/>
              </a:rPr>
              <a:t>dual은 Oracle Database가 자동으로 생성하는 특수 테이블입니다.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DUMMY라는 단일 열(VARCHAR2(1))을 가지며 값은 'X'</a:t>
            </a:r>
          </a:p>
          <a:p>
            <a:pPr algn="l">
              <a:spcBef>
                <a:spcPts val="400"/>
              </a:spcBef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테이블 없이 표현식·함수 결과를 조회할 때 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1284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Arial"/>
              </a:rPr>
              <a:t>Oracle — dual 사용 예시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42032"/>
            <a:ext cx="4114800" cy="658368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33472"/>
            <a:ext cx="38862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ED4AD"/>
                </a:solidFill>
                <a:latin typeface="Courier New"/>
              </a:rPr>
              <a:t>SELECT *      FROM dual;
SELECT SYSDATE FROM dual;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2128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8A"/>
                </a:solidFill>
                <a:latin typeface="Arial"/>
              </a:rPr>
              <a:t>MySQL — 상수 표현식 조회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542032"/>
            <a:ext cx="4114800" cy="658368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2633472"/>
            <a:ext cx="38862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ED4AD"/>
                </a:solidFill>
                <a:latin typeface="Courier New"/>
              </a:rPr>
              <a:t>SELECT SYSDATE();          -- FROM 없이 사용
SELECT SYSDATE() FROM DUAL; -- DUAL 무시됨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산술 표현식과 연산자 우선순위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983480"/>
            <a:ext cx="1828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92624"/>
            <a:ext cx="8138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2 — SQL SELECT 문으로 데이터 조회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749808"/>
          <a:ext cx="393191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980"/>
                <a:gridCol w="2948939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연산자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설명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Arial"/>
                        </a:rPr>
                        <a:t>  +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Arial"/>
                        </a:rPr>
                        <a:t>더하기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Arial"/>
                        </a:rPr>
                        <a:t>  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Arial"/>
                        </a:rPr>
                        <a:t>빼기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Arial"/>
                        </a:rPr>
                        <a:t>  *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Arial"/>
                        </a:rPr>
                        <a:t>곱하기 (덧셈·뺄셈보다 먼저 계산)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Arial"/>
                        </a:rPr>
                        <a:t>  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Arial"/>
                        </a:rPr>
                        <a:t>나누기 (덧셈·뺄셈보다 먼저 계산)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0" y="74980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Arial"/>
              </a:rPr>
              <a:t>괄호로 우선순위를 변경할 수 있습니다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14300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C74634"/>
              </a:buClr>
            </a:pPr>
            <a:r>
              <a:rPr sz="1200" b="0">
                <a:solidFill>
                  <a:srgbClr val="1E293B"/>
                </a:solidFill>
                <a:latin typeface="Arial"/>
              </a:rPr>
              <a:t>곱셈·나눗셈이 덧셈·뺄셈보다 먼저 계산</a:t>
            </a:r>
          </a:p>
          <a:p>
            <a:pPr algn="l">
              <a:spcBef>
                <a:spcPts val="400"/>
              </a:spcBef>
              <a:buChar char="•"/>
              <a:buClr>
                <a:srgbClr val="C74634"/>
              </a:buClr>
            </a:pPr>
            <a:r>
              <a:rPr sz="1200" b="0">
                <a:solidFill>
                  <a:srgbClr val="1E293B"/>
                </a:solidFill>
                <a:latin typeface="Arial"/>
              </a:rPr>
              <a:t>같은 우선순위면 왼쪽에서 오른쪽으로 계산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Arial"/>
              </a:rPr>
              <a:t>예시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8412480" cy="594360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08960"/>
            <a:ext cx="8183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ED4AD"/>
                </a:solidFill>
                <a:latin typeface="Courier New"/>
              </a:rPr>
              <a:t>SELECT last_name, salary, salary + 300
FROM   employees;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03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Arial"/>
              </a:rPr>
              <a:t>연산자 우선순위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8412480" cy="658368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818387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ED4AD"/>
                </a:solidFill>
                <a:latin typeface="Courier New"/>
              </a:rPr>
              <a:t>SELECT last_name, 12*salary+100   FROM employees;  -- salary×12 후 +100
SELECT last_name, 12*(salary+100) FROM employees;  -- (salary+100)×12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NULL 값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983480"/>
            <a:ext cx="1828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92624"/>
            <a:ext cx="8138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2 — SQL SELECT 문으로 데이터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749808"/>
            <a:ext cx="8412480" cy="621792"/>
          </a:xfrm>
          <a:prstGeom prst="rect">
            <a:avLst/>
          </a:prstGeom>
          <a:solidFill>
            <a:srgbClr val="FEF2F2"/>
          </a:solidFill>
          <a:ln w="63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804672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4634"/>
                </a:solidFill>
                <a:latin typeface="Arial"/>
              </a:rPr>
              <a:t>NULL을 포함한 산술 표현식의 결과는 항상 NULL입니다.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C74634"/>
              </a:buClr>
            </a:pPr>
            <a:r>
              <a:rPr sz="1400" b="0">
                <a:solidFill>
                  <a:srgbClr val="1E293B"/>
                </a:solidFill>
                <a:latin typeface="Arial"/>
              </a:rPr>
              <a:t>NULL은 사용할 수 없거나, 할당되지 않았거나, 알 수 없거나, 해당하지 않는 값</a:t>
            </a:r>
          </a:p>
          <a:p>
            <a:pPr algn="l">
              <a:spcBef>
                <a:spcPts val="700"/>
              </a:spcBef>
              <a:buChar char="•"/>
              <a:buClr>
                <a:srgbClr val="C74634"/>
              </a:buClr>
            </a:pPr>
            <a:r>
              <a:rPr sz="1400" b="0">
                <a:solidFill>
                  <a:srgbClr val="1E293B"/>
                </a:solidFill>
                <a:latin typeface="Arial"/>
              </a:rPr>
              <a:t>NULL은 0 또는 공백과 다름</a:t>
            </a:r>
          </a:p>
          <a:p>
            <a:pPr algn="l">
              <a:spcBef>
                <a:spcPts val="700"/>
              </a:spcBef>
              <a:buChar char="•"/>
              <a:buClr>
                <a:srgbClr val="C74634"/>
              </a:buClr>
            </a:pPr>
            <a:r>
              <a:rPr sz="1400" b="0">
                <a:solidFill>
                  <a:srgbClr val="1E293B"/>
                </a:solidFill>
                <a:latin typeface="Arial"/>
              </a:rPr>
              <a:t>commission_pct가 NULL이면 12 × salary × commission_pct 도 NULL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Arial"/>
              </a:rPr>
              <a:t>예시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27248"/>
            <a:ext cx="8412480" cy="1572768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218688"/>
            <a:ext cx="8183879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ED4AD"/>
                </a:solidFill>
                <a:latin typeface="Courier New"/>
              </a:rPr>
              <a:t>SELECT last_name, job_id, salary, commission_pct
FROM   employees;
-- commission_pct가 NULL이면 결과도 NULL
SELECT last_name, 12*salary*commission_pct
FROM   employees;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열 별칭 (Column Alias)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983480"/>
            <a:ext cx="1828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92624"/>
            <a:ext cx="8138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2 — SQL SELECT 문으로 데이터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C74634"/>
              </a:buClr>
            </a:pPr>
            <a:r>
              <a:rPr sz="1400" b="0">
                <a:solidFill>
                  <a:srgbClr val="1E293B"/>
                </a:solidFill>
                <a:latin typeface="Arial"/>
              </a:rPr>
              <a:t>열 머리글의 이름을 변경한다</a:t>
            </a:r>
          </a:p>
          <a:p>
            <a:pPr algn="l">
              <a:spcBef>
                <a:spcPts val="800"/>
              </a:spcBef>
              <a:buChar char="•"/>
              <a:buClr>
                <a:srgbClr val="C74634"/>
              </a:buClr>
            </a:pPr>
            <a:r>
              <a:rPr sz="1400" b="0">
                <a:solidFill>
                  <a:srgbClr val="1E293B"/>
                </a:solidFill>
                <a:latin typeface="Arial"/>
              </a:rPr>
              <a:t>계산 결과에 유용하다</a:t>
            </a:r>
          </a:p>
          <a:p>
            <a:pPr algn="l">
              <a:spcBef>
                <a:spcPts val="800"/>
              </a:spcBef>
              <a:buChar char="•"/>
              <a:buClr>
                <a:srgbClr val="C74634"/>
              </a:buClr>
            </a:pPr>
            <a:r>
              <a:rPr sz="1400" b="0">
                <a:solidFill>
                  <a:srgbClr val="1E293B"/>
                </a:solidFill>
                <a:latin typeface="Arial"/>
              </a:rPr>
              <a:t>열 이름 바로 뒤에 위치 — 선택적으로 AS 키워드 사용 가능</a:t>
            </a:r>
          </a:p>
          <a:p>
            <a:pPr algn="l">
              <a:spcBef>
                <a:spcPts val="800"/>
              </a:spcBef>
              <a:buChar char="•"/>
              <a:buClr>
                <a:srgbClr val="C74634"/>
              </a:buClr>
            </a:pPr>
            <a:r>
              <a:rPr sz="1400" b="0">
                <a:solidFill>
                  <a:srgbClr val="1E293B"/>
                </a:solidFill>
                <a:latin typeface="Arial"/>
              </a:rPr>
              <a:t>공백·특수문자·대소문자 구분이 필요한 경우 큰따옴표("")로 감싼다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4203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Arial"/>
              </a:rPr>
              <a:t>사용 예시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71216"/>
            <a:ext cx="8412480" cy="1536192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62656"/>
            <a:ext cx="8183879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ED4AD"/>
                </a:solidFill>
                <a:latin typeface="Courier New"/>
              </a:rPr>
              <a:t>SELECT last_name AS name, commission_pct comm
FROM   employees;
SELECT last_name "Name", salary*12 "Annual Salary"
FROM   employees;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연결 연산자 및 리터럴 문자열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983480"/>
            <a:ext cx="1828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92624"/>
            <a:ext cx="8138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2 — SQL SELECT 문으로 데이터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749808"/>
            <a:ext cx="4160520" cy="38404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78638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Oracle — || 연산자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8872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C74634"/>
              </a:buClr>
            </a:pPr>
            <a:r>
              <a:rPr sz="1200" b="0">
                <a:solidFill>
                  <a:srgbClr val="1E293B"/>
                </a:solidFill>
                <a:latin typeface="Arial"/>
              </a:rPr>
              <a:t>두 수직 막대(||)로 열 또는 문자열을 연결</a:t>
            </a:r>
          </a:p>
          <a:p>
            <a:pPr algn="l">
              <a:spcBef>
                <a:spcPts val="400"/>
              </a:spcBef>
              <a:buChar char="•"/>
              <a:buClr>
                <a:srgbClr val="C74634"/>
              </a:buClr>
            </a:pPr>
            <a:r>
              <a:rPr sz="1200" b="0">
                <a:solidFill>
                  <a:srgbClr val="1E293B"/>
                </a:solidFill>
                <a:latin typeface="Arial"/>
              </a:rPr>
              <a:t>결과 열은 문자 표현식으로 생성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20240"/>
            <a:ext cx="4160520" cy="1417320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01168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ED4AD"/>
                </a:solidFill>
                <a:latin typeface="Courier New"/>
              </a:rPr>
              <a:t>SELECT last_name || job_id AS "Employees"
FROM   employees;
SELECT last_name || ' is a ' || job_id
       AS "Employee Details"
FROM   employees;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749808"/>
            <a:ext cx="4160520" cy="38404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78638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MySQL — CONCAT() 함수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18872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2C5F8A"/>
              </a:buClr>
            </a:pPr>
            <a:r>
              <a:rPr sz="1200" b="0">
                <a:solidFill>
                  <a:srgbClr val="1E293B"/>
                </a:solidFill>
                <a:latin typeface="Arial"/>
              </a:rPr>
              <a:t>CONCAT() 함수로 값을 연결</a:t>
            </a:r>
          </a:p>
          <a:p>
            <a:pPr algn="l">
              <a:spcBef>
                <a:spcPts val="400"/>
              </a:spcBef>
              <a:buChar char="•"/>
              <a:buClr>
                <a:srgbClr val="2C5F8A"/>
              </a:buClr>
            </a:pPr>
            <a:r>
              <a:rPr sz="1200" b="0">
                <a:solidFill>
                  <a:srgbClr val="1E293B"/>
                </a:solidFill>
                <a:latin typeface="Arial"/>
              </a:rPr>
              <a:t>결과 열은 문자 표현식으로 생성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920240"/>
            <a:ext cx="4160520" cy="1417320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01168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ED4AD"/>
                </a:solidFill>
                <a:latin typeface="Courier New"/>
              </a:rPr>
              <a:t>SELECT CONCAT(last_name, job_id)
       AS "Employees"
FROM   employees;
SELECT CONCAT(last_name,' is a ',job_id)
       AS 'Employee Details'
FROM   employees;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01568"/>
            <a:ext cx="8412480" cy="548640"/>
          </a:xfrm>
          <a:prstGeom prst="rect">
            <a:avLst/>
          </a:prstGeom>
          <a:solidFill>
            <a:srgbClr val="F8F9F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4564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  <a:latin typeface="Arial"/>
              </a:rPr>
              <a:t>리터럴 문자열: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456432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날짜·문자 리터럴은 단일 따옴표('')로 감싸야 합니다. 반환된 행마다 한 번씩 출력됩니다.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대체 따옴표 연산자 및 DISTINCT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983480"/>
            <a:ext cx="1828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92624"/>
            <a:ext cx="8138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2 — SQL SELECT 문으로 데이터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4980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Arial"/>
              </a:rPr>
              <a:t>대체 따옴표 연산자 q'' (Oracle)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단일 따옴표가 포함된 문자열을 간편하게 작성할 수 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4846320" cy="1005840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4617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ED4AD"/>
                </a:solidFill>
                <a:latin typeface="Courier New"/>
              </a:rPr>
              <a:t>SELECT department_name
       || q'[ Department's Manager Id: ]'
       || manager_id AS "Department and Manager"
FROM   departments;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7860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8A"/>
                </a:solidFill>
                <a:latin typeface="Arial"/>
              </a:rPr>
              <a:t>MySQL — 이스케이프 시퀀스 (\' 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44368"/>
            <a:ext cx="4846320" cy="914400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035808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ED4AD"/>
                </a:solidFill>
                <a:latin typeface="Courier New"/>
              </a:rPr>
              <a:t>SELECT CONCAT(department_name,
       ' Department\'s Manager Id: ',
       manager_id) AS "Department and Manager"
FROM   departments;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749808"/>
            <a:ext cx="3703320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749808"/>
            <a:ext cx="3703320" cy="38404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7863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DISTINCT — 중복 제거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120700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기본 쿼리는 중복 행을 포함합니다.
DISTINCT 키워드로 중복을 제거합니다.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1920240"/>
            <a:ext cx="3566160" cy="1664208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2011680"/>
            <a:ext cx="333756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ED4AD"/>
                </a:solidFill>
                <a:latin typeface="Courier New"/>
              </a:rPr>
              <a:t>-- 중복 포함 (기본)
SELECT department_id
FROM   employees;
-- 중복 제거
SELECT DISTINCT department_id
FROM   employees;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테이블 구조 조회 — DESCRIBE 명령어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983480"/>
            <a:ext cx="1828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92624"/>
            <a:ext cx="8138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2 — SQL SELECT 문으로 데이터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749808"/>
            <a:ext cx="8412480" cy="621792"/>
          </a:xfrm>
          <a:prstGeom prst="rect">
            <a:avLst/>
          </a:prstGeom>
          <a:solidFill>
            <a:srgbClr val="FFF9E6"/>
          </a:solidFill>
          <a:ln w="6350">
            <a:solidFill>
              <a:srgbClr val="D97B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804672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24000"/>
                </a:solidFill>
                <a:latin typeface="Arial"/>
              </a:rPr>
              <a:t>DESCRIBE 명령어로 열 이름, 데이터 타입, NULL 허용 여부를 확인합니다.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904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Arial"/>
              </a:rPr>
              <a:t>구문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28800"/>
            <a:ext cx="8412480" cy="1353312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20240"/>
            <a:ext cx="8183879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ED4AD"/>
                </a:solidFill>
                <a:latin typeface="Courier New"/>
              </a:rPr>
              <a:t>DESCRIBE tablename
-- 또는 축약형
DESC tablename
-- 예시
DESCRIBE employees
DESC employees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91840"/>
            <a:ext cx="8412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291840"/>
            <a:ext cx="82296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  <a:latin typeface="Arial"/>
              </a:rPr>
              <a:t>Oracle SQL Developer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61188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DESCRIBE 명령어 또는 연결 트리에서 테이블 선택 → Columns 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23360"/>
            <a:ext cx="8412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23360"/>
            <a:ext cx="82296" cy="6400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5F8A"/>
                </a:solidFill>
                <a:latin typeface="Arial"/>
              </a:rPr>
              <a:t>MySQL Workbench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434340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DESCRIBE 명령어 또는 Navigator에서 테이블 우클릭 → Table Inspector → Columns 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SELECT 문 핵심 기능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983480"/>
            <a:ext cx="1828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92624"/>
            <a:ext cx="8138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2 — SQL SELECT 문으로 데이터 조회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731520"/>
          <a:ext cx="841248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126480"/>
              </a:tblGrid>
              <a:tr h="4521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기능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구문 예시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4521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32"/>
                          </a:solidFill>
                          <a:latin typeface="Arial"/>
                        </a:rPr>
                        <a:t>모든 열 조회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SELECT * FROM employees;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521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32"/>
                          </a:solidFill>
                          <a:latin typeface="Arial"/>
                        </a:rPr>
                        <a:t>특정 열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SELECT last_name, salary FROM employees;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21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32"/>
                          </a:solidFill>
                          <a:latin typeface="Arial"/>
                        </a:rPr>
                        <a:t>열 별칭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SELECT salary*12 AS "Annual Salary" FROM employees;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521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32"/>
                          </a:solidFill>
                          <a:latin typeface="Arial"/>
                        </a:rPr>
                        <a:t>산술 표현식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SELECT last_name, 12*(salary+100) FROM employees;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21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32"/>
                          </a:solidFill>
                          <a:latin typeface="Arial"/>
                        </a:rPr>
                        <a:t>연결 (Oracle)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SELECT last_name || ' - ' || job_id FROM employees;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521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32"/>
                          </a:solidFill>
                          <a:latin typeface="Arial"/>
                        </a:rPr>
                        <a:t>연결 (MySQL)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SELECT CONCAT(last_name, ' - ', job_id) FROM employees;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21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32"/>
                          </a:solidFill>
                          <a:latin typeface="Arial"/>
                        </a:rPr>
                        <a:t>중복 제거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SELECT DISTINCT department_id FROM employees;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521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32"/>
                          </a:solidFill>
                          <a:latin typeface="Arial"/>
                        </a:rPr>
                        <a:t>테이블 구조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DESCRIBE employees;  또는  DESC employees;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단원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983480"/>
            <a:ext cx="1828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92624"/>
            <a:ext cx="8138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Oracle Database 19c: SQL Workshop  |  Chapter 2 — SQL SELECT 문으로 데이터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  <a:latin typeface="Arial"/>
              </a:rPr>
              <a:t>이 단원에서 배운 SELECT 문 기능: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70432"/>
            <a:ext cx="8046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C74634"/>
              </a:buClr>
            </a:pPr>
            <a:r>
              <a:rPr sz="1400" b="0">
                <a:solidFill>
                  <a:srgbClr val="1E293B"/>
                </a:solidFill>
                <a:latin typeface="Arial"/>
              </a:rPr>
              <a:t>테이블의 모든 행과 열 반환 — SELECT *</a:t>
            </a:r>
          </a:p>
          <a:p>
            <a:pPr algn="l">
              <a:spcBef>
                <a:spcPts val="800"/>
              </a:spcBef>
              <a:buChar char="•"/>
              <a:buClr>
                <a:srgbClr val="C74634"/>
              </a:buClr>
            </a:pPr>
            <a:r>
              <a:rPr sz="1400" b="0">
                <a:solidFill>
                  <a:srgbClr val="1E293B"/>
                </a:solidFill>
                <a:latin typeface="Arial"/>
              </a:rPr>
              <a:t>테이블에서 지정한 열만 반환</a:t>
            </a:r>
          </a:p>
          <a:p>
            <a:pPr algn="l">
              <a:spcBef>
                <a:spcPts val="800"/>
              </a:spcBef>
              <a:buChar char="•"/>
              <a:buClr>
                <a:srgbClr val="C74634"/>
              </a:buClr>
            </a:pPr>
            <a:r>
              <a:rPr sz="1400" b="0">
                <a:solidFill>
                  <a:srgbClr val="1E293B"/>
                </a:solidFill>
                <a:latin typeface="Arial"/>
              </a:rPr>
              <a:t>열 별칭(AS)으로 더 설명적인 열 머리글 표시</a:t>
            </a:r>
          </a:p>
          <a:p>
            <a:pPr algn="l">
              <a:spcBef>
                <a:spcPts val="800"/>
              </a:spcBef>
              <a:buChar char="•"/>
              <a:buClr>
                <a:srgbClr val="C74634"/>
              </a:buClr>
            </a:pPr>
            <a:r>
              <a:rPr sz="1400" b="0">
                <a:solidFill>
                  <a:srgbClr val="1E293B"/>
                </a:solidFill>
                <a:latin typeface="Arial"/>
              </a:rPr>
              <a:t>산술 표현식 사용 및 연산자 우선순위 이해</a:t>
            </a:r>
          </a:p>
          <a:p>
            <a:pPr algn="l">
              <a:spcBef>
                <a:spcPts val="800"/>
              </a:spcBef>
              <a:buChar char="•"/>
              <a:buClr>
                <a:srgbClr val="C74634"/>
              </a:buClr>
            </a:pPr>
            <a:r>
              <a:rPr sz="1400" b="0">
                <a:solidFill>
                  <a:srgbClr val="1E293B"/>
                </a:solidFill>
                <a:latin typeface="Arial"/>
              </a:rPr>
              <a:t>NULL 값의 특성 — 산술 표현식의 결과도 NULL</a:t>
            </a:r>
          </a:p>
          <a:p>
            <a:pPr algn="l">
              <a:spcBef>
                <a:spcPts val="800"/>
              </a:spcBef>
              <a:buChar char="•"/>
              <a:buClr>
                <a:srgbClr val="C74634"/>
              </a:buClr>
            </a:pPr>
            <a:r>
              <a:rPr sz="1400" b="0">
                <a:solidFill>
                  <a:srgbClr val="1E293B"/>
                </a:solidFill>
                <a:latin typeface="Arial"/>
              </a:rPr>
              <a:t>DISTINCT로 중복 행 제거</a:t>
            </a:r>
          </a:p>
          <a:p>
            <a:pPr algn="l">
              <a:spcBef>
                <a:spcPts val="800"/>
              </a:spcBef>
              <a:buChar char="•"/>
              <a:buClr>
                <a:srgbClr val="C74634"/>
              </a:buClr>
            </a:pPr>
            <a:r>
              <a:rPr sz="1400" b="0">
                <a:solidFill>
                  <a:srgbClr val="1E293B"/>
                </a:solidFill>
                <a:latin typeface="Arial"/>
              </a:rPr>
              <a:t>DESCRIBE 명령어로 테이블 구조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4069080"/>
            <a:ext cx="109728" cy="6858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105656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Practice 2 — 여러 테이블 데이터 조회 · 테이블 구조 확인 · 산술 계산 및 열 이름 지정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
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0" y="0"/>
            <a:ext cx="36576" cy="6858000"/>
          </a:xfrm>
          <a:prstGeom prst="rect">
            <a:avLst/>
          </a:prstGeom>
          <a:solidFill>
            <a:srgbClr val="30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Oracle Database 19c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6596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계층 쿼리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2608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5A623"/>
                </a:solidFill>
              </a:rPr>
              <a:t>Hierarchical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Chapter 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160520"/>
            <a:ext cx="761695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3434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HR Schema  |  EMPLOYEES 조직 계층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5743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91440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89611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932688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START WITH와 CONNECT BY PRIOR로 계층 쿼리를 작성한다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64207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645919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1682495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LEVEL 의사컬럼으로 계층 깊이를 확인한다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14015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95728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432304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Top-Down(부모→자식)과 Bottom-Up(자식→부모) 탐색을 구분한다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145536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182112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LPAD와 SYS_CONNECT_BY_PATH로 트리 구조를 시각화한다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13631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95344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931920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WHERE 절과 CONNECT BY 절 필터의 차이를 이해한다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40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45152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681727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CONNECT_BY_ROOT, CONNECT_BY_ISLEAF로 루트·잎 노드를 식별한다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413248"/>
            <a:ext cx="292608" cy="2926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94960"/>
            <a:ext cx="25603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0789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</a:rPr>
              <a:t>ORDER SIBLINGS BY로 형제 노드를 정렬하고 NOCYCLE로 순환을 처리한다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계층 데이터와 HR 스키마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5486400" cy="53035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HR EMPLOYEES 조직도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07008"/>
            <a:ext cx="5486400" cy="3840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280160"/>
            <a:ext cx="5266944" cy="36941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King (100)  ← MANAGER_ID = NULL (루트)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├─ Kochhar (101)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├─ Greenberg (108)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│   └─ Faviet (109)  ← 잎 노드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└─ Zlotkey (149)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├─ De Haan (102)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└─ Hunold (103)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    ├─ Austin (105)  ← 잎 노드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│       └─ Pataballa (106)  ← 잎 노드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└─ Raphaely (114)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└─ Khoo (115)  ← 잎 노드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138928"/>
            <a:ext cx="5486400" cy="822960"/>
          </a:xfrm>
          <a:prstGeom prst="rect">
            <a:avLst/>
          </a:prstGeom>
          <a:solidFill>
            <a:srgbClr val="0A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2303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EMPLOYEE_ID = 자식 키  |  MANAGER_ID = 부모 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5955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5A623"/>
                </a:solidFill>
              </a:rPr>
              <a:t>MANAGER_ID IS NULL → 루트 노드 (King)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777240"/>
            <a:ext cx="5760720" cy="2331720"/>
          </a:xfrm>
          <a:prstGeom prst="rect">
            <a:avLst/>
          </a:prstGeom>
          <a:solidFill>
            <a:srgbClr val="D6E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8412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C96"/>
                </a:solidFill>
              </a:rPr>
              <a:t>계층 용어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207008"/>
            <a:ext cx="164592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1243584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루트(Root)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1243584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최상위 노드, 부모 없음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91056"/>
            <a:ext cx="164592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1627632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부모(Parent)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1627632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자식을 가진 노드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975104"/>
            <a:ext cx="164592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2011680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자식(Child)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011680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부모를 가진 노드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359152"/>
            <a:ext cx="164592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2395728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잎(Leaf)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2395728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자식이 없는 최하위 노드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743200"/>
            <a:ext cx="1645920" cy="320040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2779776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2779776"/>
            <a:ext cx="3749039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루트=1, 자식마다 +1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218688"/>
            <a:ext cx="5760720" cy="274320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282696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CONNECT BY 구문 핵심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3630168"/>
            <a:ext cx="576072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44768" y="3703320"/>
            <a:ext cx="554126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PRIOR가 왼쪽 → Top-Down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PRIOR가 오른쪽 → Bottom-Up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계층 쿼리 기본 구문과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32104"/>
            <a:ext cx="110642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SELECT [LEVEL,] 컬럼  FROM 테이블  START WITH 루트조건  CONNECT BY [NOCYCLE] PRIOR 자식키=부모키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52728"/>
            <a:ext cx="11430000" cy="210312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325880"/>
            <a:ext cx="11210544" cy="195681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      -- King(100): MANAGER_ID =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LEVEL, employee_id;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74720"/>
            <a:ext cx="11430000" cy="26060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538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실행 결과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22191"/>
            <a:ext cx="110642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895344"/>
            <a:ext cx="10844784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LEVEL  EMPLOYEE_ID  LAST_NAME  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  -----------  ----------  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1          100  King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      101  Kochhar 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      102  De Haan 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      114  Raphaely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3          108  Greenberg          101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3          103  Hunold             102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4          109  Faviet             108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Top-Down vs Bottom-Up 탐색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539496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Top-Down (부모 → 자식)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070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PRIOR employee_id = manager_id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39496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1810512"/>
            <a:ext cx="517550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AS org_chart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employee_id =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05072"/>
            <a:ext cx="5394960" cy="2167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078224"/>
            <a:ext cx="5175504" cy="2020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LEVEL  ORG_CHART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  -----------------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1  King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Kochhar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3      Greenberg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4        Faviet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De Haan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777240"/>
            <a:ext cx="5394960" cy="91440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8412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Bottom-Up (자식 → 부모)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2070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PRIOR manager_id = employee_id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539496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810512"/>
            <a:ext cx="517550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employee_id = 109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employee_id;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05072"/>
            <a:ext cx="5394960" cy="2167128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78224"/>
            <a:ext cx="5175504" cy="20208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LEVEL  EMPLOYEE_ID 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  -----------  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1          109  Faviet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2          108  Greenberg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3          101  Kochhar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4          100  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트리 시각화 — LPAD &amp; SYS_CONNECT_BY_PATH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95528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LPAD로 들여쓰기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486400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16152"/>
            <a:ext cx="5266944" cy="1773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LPAD(' ', (LEVEL-1)*3) ||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AS org_chart,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LEVEL, job_id,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27248"/>
            <a:ext cx="548640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200400"/>
            <a:ext cx="5266944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ORG_CHART             LEVEL  JOB_ID   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--------------------  -----  --------  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                     1  AD_PRES    24000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De Haan                2  AD_VP      17000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Hunold              3  IT_PROG     9000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Austin           4  IT_PROG     4800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Kochhar                2  AD_VP      17000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795528"/>
            <a:ext cx="576072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SYS_CONNECT_BY_PATH — 루트~현재 경로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143000"/>
            <a:ext cx="576072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216152"/>
            <a:ext cx="5541264" cy="20482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SYS_CONNECT_BY_PATH(last_name, ' / ')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AS path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401568"/>
            <a:ext cx="5760720" cy="19019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474720"/>
            <a:ext cx="5541264" cy="1755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   LAST_NAME   LV  PATH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   ----------  --  ------------------------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100   King         1  / King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101   Kochhar      2  / King / Kochhar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108   Greenberg    3  / King / Kochhar / Greenberg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109   Faviet       4  / King / Kochhar / Greenberg / Faviet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76672"/>
            <a:ext cx="11430000" cy="41148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4406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SYS_CONNECT_BY_PATH(컬럼, 구분자): 구분자로 시작하는 경로 문자열 반환. 구분자 문자가 컬럼값에 포함되면 오류.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가지치기 — WHERE vs CONNECT BY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두 필터 방식은 결과가 다르다 — WHERE는 행만, CONNECT BY는 가지 전체를 제거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53949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WHERE 절 — 행만 제거 (자식 유지)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09928"/>
            <a:ext cx="539496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783080"/>
            <a:ext cx="5175504" cy="209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 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job_id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job_id NOT LIKE 'IT%'   -- 행만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39496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96512"/>
            <a:ext cx="5175504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Hunold(IT_PROG) 행 제외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하지만 Austin, Pataballa는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결과에 포함됨 (계층 연결 유지)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De Haan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(Hunold 제외됨)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Austin     ← 여전히 포함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Pataballa  ← 여전히 포함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25880"/>
            <a:ext cx="539496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3716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 BY — 가지 전체 제거 (Pruning)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09928"/>
            <a:ext cx="539496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783080"/>
            <a:ext cx="5175504" cy="209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 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job_id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AND job_id NOT LIKE 'IT%';  -- 가지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023360"/>
            <a:ext cx="539496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4096512"/>
            <a:ext cx="5175504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Hunold(IT_PROG) 행 + 가지 제거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Austin, Pataballa도 함께 제거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De Haan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(Hunold + 아래 전체 제거됨)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(Austin  → 제거)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(Pataballa → 제거)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CONNECT_BY_ROOT &amp; CONNECT_BY_ISLEAF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5486400" cy="347472"/>
          </a:xfrm>
          <a:prstGeom prst="rect">
            <a:avLst/>
          </a:prstGeom>
          <a:solidFill>
            <a:srgbClr val="1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3210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CONNECT_BY_ROOT — 루트 노드 값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170432"/>
            <a:ext cx="548640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243584"/>
            <a:ext cx="5266944" cy="2276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CONNECT_BY_ROOT last_name  AS root_name,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CONNECT_BY_ROOT employee_id AS root_id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57600"/>
            <a:ext cx="548640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730752"/>
            <a:ext cx="5266944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  LAST_NAME   LV  ROOT_NAME  ROOT_ID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  ----------  --  ---------  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100  King         1  King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101  Kochhar      2  King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108  Greenberg    3  King           100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109  Faviet       4  King          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777240"/>
            <a:ext cx="557784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832104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CONNECT_BY_ISLEAF — 잎 노드 여부 (1/0)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70432"/>
            <a:ext cx="557784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243584"/>
            <a:ext cx="5358383" cy="2276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CONNECT_BY_ISLEAF AS is_leaf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657600"/>
            <a:ext cx="5577840" cy="217627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3730752"/>
            <a:ext cx="5358383" cy="202996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  LAST_NAME   LV  IS_LEAF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  ----------  --  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100  King         1        0  (자식 있음)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101  Kochhar      2        0  (자식 있음)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108  Greenberg    3        0  (자식 있음)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109  Faviet       4        1  &lt;- 잎 노드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ORDER SIBLINGS BY — 형제 노드 정렬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ORDER BY는 계층 순서를 파괴한다 → 계층 유지 정렬에는 반드시 ORDER SIBLINGS BY 사용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5394960" cy="347472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7160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 BY — 계층 순서 파괴 (잘못된 방식)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792224"/>
            <a:ext cx="5175504" cy="1865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 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salary DESC;  -- 계층 무시!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39496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867912"/>
            <a:ext cx="5175504" cy="1545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급여 순으로 재정렬 → 계층 무의미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King (LV1)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Kochhar (LV2)      -- 섞임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De Haan (LV2)      -- 섞임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Greenberg (LV3)    -- 섞임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325880"/>
            <a:ext cx="5394960" cy="3474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3716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 SIBLINGS BY — 계층 유지 정렬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19072"/>
            <a:ext cx="5394960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1792224"/>
            <a:ext cx="5175504" cy="18653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 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salary DESC;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794760"/>
            <a:ext cx="539496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867912"/>
            <a:ext cx="5175504" cy="1545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같은 부모 밑에서만 급여순 정렬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(LV1)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Kochhar (LV2, 17000)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De Haan (LV2, 17000)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Raphaely (LV2, 11000)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559552"/>
            <a:ext cx="11430000" cy="59436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650992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ORDER SIBLINGS BY: 형제 노드끼리만 정렬하며 부모-자식 계층 순서를 유지. 복수 컬럼 지정 가능.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순환 참조 처리 — NOCYCLE &amp; CONNECT_BY_ISCYCLE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841248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순환 참조(A→B→C→A)가 있으면 CONNECT BY는 무한 루프 발생 → ORA-01436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11430000" cy="2377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399032"/>
            <a:ext cx="11210544" cy="2231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순환 참조 탐지 + 방지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employee_id,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CONNECT_BY_ISCYCLE AS is_cycle   -- 순환 발생 행: 1, 아니면: 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NOCYCLE PRIOR employee_id = manager_id;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 -- ↑ NOCYCLE: 순환 감지 시 해당 경로 중단, 오류 없이 진행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94760"/>
            <a:ext cx="11430000" cy="347472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849624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순환 참조 행만 조회 — CONNECT_BY_ISCYCLE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187952"/>
            <a:ext cx="11430000" cy="19019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261104"/>
            <a:ext cx="11210544" cy="17556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CONNECT_BY_ISCYCLE AS cycle_flag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NOCYCLE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HAVING CONNECT_BY_ISCYCLE = 1;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HR 스키마는 순환 참조 없음 → 0건 반환 (정상)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활용 예제 — 최하위 직원 &amp; 경로 조회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95528"/>
            <a:ext cx="114300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최하위 직원(잎 노드)만 조회 — CONNECT_BY_ISLEAF =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11430000" cy="17373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16152"/>
            <a:ext cx="11210544" cy="15910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employee_id, last_name, job_id,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CONNECT_BY_ISLEAF = 1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salary DESC;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44368"/>
            <a:ext cx="11430000" cy="12344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017520"/>
            <a:ext cx="11210544" cy="10881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EMPLOYEE_ID  LAST_NAME   JOB_ID      SALARY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-----------  ----------  ----------  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145  Russell     SA_MAN       14000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146  Partners    SA_MAN       13500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168  Ozer        SA_REP       11500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79392"/>
            <a:ext cx="114300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특정 직원의 상위 경로 조회 (Bottom-Up)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626864"/>
            <a:ext cx="11430000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700016"/>
            <a:ext cx="11210544" cy="15453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Faviet(109)의 루트까지 경로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LEVEL, employee_id,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SYS_CONNECT_BY_PATH(last_name, '→') AS full_path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employee_id = 109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manager_id = employee_id;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활용 예제 — 부하 직원 수 집계 &amp; 계층 필터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95528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관리자별 총 부하 직원 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48640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16152"/>
            <a:ext cx="5266944" cy="2276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SELECT CONNECT_BY_ROOT last_name AS top_mgr,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COUNT(*) - 1  AS total_sub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GROUP BY CONNECT_BY_ROOT 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BY total_sub DESC;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630168"/>
            <a:ext cx="5486400" cy="89611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703320"/>
            <a:ext cx="5266944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TOP_MGR  TOTAL_SUB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-------  ---------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King           106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795528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2332"/>
                </a:solidFill>
              </a:rPr>
              <a:t>4레벨 이내 직원만 조회 (LEVEL 필터)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5577840" cy="3063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216152"/>
            <a:ext cx="5358383" cy="29169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LEVEL &lt;= 3: 루트에서 3단계까지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LPAD(' ',(LEVEL-1)*2)||last_name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AS org_chart,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job_id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LEVEL &lt;= 3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manager_id IS NULL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45152"/>
            <a:ext cx="11430000" cy="1554480"/>
          </a:xfrm>
          <a:prstGeom prst="rect">
            <a:avLst/>
          </a:prstGeom>
          <a:solidFill>
            <a:srgbClr val="FD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7091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</a:rPr>
              <a:t>LEVEL 필터 — WHERE vs CONNECT BY 차이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3200400" cy="43891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084064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WHERE LEVEL &lt;=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5084064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3레벨까지 행만 출력, 계층 탐색은 계속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77840"/>
            <a:ext cx="32004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632703"/>
            <a:ext cx="30175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CONNECT BY LEVEL &lt;=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5632703"/>
            <a:ext cx="7772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</a:rPr>
              <a:t>3레벨 아래 자식 탐색 자체를 중단 (Pruning)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실습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777240"/>
            <a:ext cx="114300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다음 쿼리를 HR 스키마에서 직접 수행하고 결과를 확인하세요.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188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문제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11430000" cy="24231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581912"/>
            <a:ext cx="11210544" cy="22768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De Haan(102) 아래 모든 직원을 들여쓰기와 경로로 조회하시오.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LPAD(' ', (LEVEL-1)*3) || last_name  AS 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SYS_CONNECT_BY_PATH(last_name, '/')  AS path,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CONNECT_BY_ISLEAF                    AS is_leaf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START WITH employee_id = 102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CONNECT BY PRIOR employee_id = manager_id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ORDER SIBLINGS BY last_name;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4164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문제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361688"/>
            <a:ext cx="11430000" cy="2359152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4434840"/>
            <a:ext cx="11210544" cy="22128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>
                <a:solidFill>
                  <a:srgbClr val="50FA7B"/>
                </a:solidFill>
                <a:latin typeface="Consolas"/>
              </a:rPr>
              <a:t>-- 급여 상위 3명의 상위 관리자 체인을 각각 조회하시오.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-- (FETCH FIRST + Bottom-Up 계층 쿼리 결합)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WITH top3 AS (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SELECT employee_id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ORDER BY salary DESC FETCH FIRST 3 ROWS ONLY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SELECT t.employee_id AS start_emp,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h.last_name, h.LEVEL,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SYS_CONNECT_BY_PATH(h.last_name, '→') AS chain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FROM   top3 t,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(SELECT employee_id, last_name,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       LEVEL, PRIOR employee_id AS start_id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FROM employees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START WITH employee_id IN (SELECT employee_id FROM top3)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        CONNECT BY PRIOR manager_id = employee_id) h</a:t>
            </a:r>
          </a:p>
          <a:p>
            <a:r>
              <a:rPr sz="1050">
                <a:solidFill>
                  <a:srgbClr val="50FA7B"/>
                </a:solidFill>
                <a:latin typeface="Consolas"/>
              </a:rPr>
              <a:t>WHERE  t.employee_id = h.start_id;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3152" cy="65836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91440"/>
            <a:ext cx="96012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Chapter 23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91440"/>
            <a:ext cx="21031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Chapter 23  |  14/14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675120"/>
            <a:ext cx="91440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</a:rPr>
              <a:t>Oracle Database 19c SQL Workshop  —  계층 쿼리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7512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</a:rPr>
              <a:t>© Oracle University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822960"/>
            <a:ext cx="11430000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960120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00584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 BY PRIOR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02412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계층 관계 정의 — PRIOR 위치로 Top-Down / Bottom-Up 결정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664208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0992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LEVEL 의사컬럼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72821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루트=1, 자식마다 +1 — 들여쓰기(LPAD)와 필터에 활용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368296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1401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SYS_CONNECT_BY_PATH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432304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루트~현재까지 전체 경로를 구분자로 연결한 문자열 반환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72384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11810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WHERE vs CONNECT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3136392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WHERE: 행만 제거 / CONNECT BY: 해당 가지 전체 제거(Pruning)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76472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8221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CONNECT_BY_ROOT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384048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현재 행의 루트 노드 값 반환 — 계층별 집계에 활용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262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CONNECT_BY_ISLEAF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544568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잎 노드 여부(1/0) — 최하위 직원 필터링에 활용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84648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303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ORDER SIBLINGS 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248656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형제 노드 정렬 — 계층 구조 유지, ORDER BY와 구분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88736"/>
            <a:ext cx="274320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93445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46120" y="5952744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순환 참조 방지 — CONNECT_BY_ISCYCLE로 순환 행 식별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92240"/>
            <a:ext cx="1143000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
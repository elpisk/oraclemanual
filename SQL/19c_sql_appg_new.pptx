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C746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14400" y="0"/>
            <a:ext cx="36576" cy="6858000"/>
          </a:xfrm>
          <a:prstGeom prst="rect">
            <a:avLst/>
          </a:prstGeom>
          <a:solidFill>
            <a:srgbClr val="303A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0" y="0"/>
            <a:ext cx="36576" cy="6858000"/>
          </a:xfrm>
          <a:prstGeom prst="rect">
            <a:avLst/>
          </a:prstGeom>
          <a:solidFill>
            <a:srgbClr val="303A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0" y="0"/>
            <a:ext cx="36576" cy="6858000"/>
          </a:xfrm>
          <a:prstGeom prst="rect">
            <a:avLst/>
          </a:prstGeom>
          <a:solidFill>
            <a:srgbClr val="303A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0" y="0"/>
            <a:ext cx="36576" cy="6858000"/>
          </a:xfrm>
          <a:prstGeom prst="rect">
            <a:avLst/>
          </a:prstGeom>
          <a:solidFill>
            <a:srgbClr val="303A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229600" y="0"/>
            <a:ext cx="36576" cy="6858000"/>
          </a:xfrm>
          <a:prstGeom prst="rect">
            <a:avLst/>
          </a:prstGeom>
          <a:solidFill>
            <a:srgbClr val="303A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0058400" y="0"/>
            <a:ext cx="36576" cy="6858000"/>
          </a:xfrm>
          <a:prstGeom prst="rect">
            <a:avLst/>
          </a:prstGeom>
          <a:solidFill>
            <a:srgbClr val="303A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71600" y="1463040"/>
            <a:ext cx="91440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800" b="0" i="0">
                <a:solidFill>
                  <a:srgbClr val="CCCCCC"/>
                </a:solidFill>
              </a:rPr>
              <a:t>Oracle Database 19c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2011680"/>
            <a:ext cx="91440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4600" b="1" i="0">
                <a:solidFill>
                  <a:srgbClr val="FFFFFF"/>
                </a:solidFill>
              </a:rPr>
              <a:t>고급 스크립트 작성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880360"/>
            <a:ext cx="91440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200" b="0" i="1">
                <a:solidFill>
                  <a:srgbClr val="F5A623"/>
                </a:solidFill>
              </a:rPr>
              <a:t>Writing Advanced Scripts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3520440"/>
            <a:ext cx="91440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600" b="0" i="0">
                <a:solidFill>
                  <a:srgbClr val="CCCCCC"/>
                </a:solidFill>
              </a:rPr>
              <a:t>Appendix G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286000" y="4160520"/>
            <a:ext cx="7616952" cy="27432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560320" y="4343400"/>
            <a:ext cx="2011680" cy="365760"/>
          </a:xfrm>
          <a:prstGeom prst="rect">
            <a:avLst/>
          </a:prstGeom>
          <a:solidFill>
            <a:srgbClr val="2835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651760" y="4398264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SQL Generating SQL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0" y="4343400"/>
            <a:ext cx="2011680" cy="365760"/>
          </a:xfrm>
          <a:prstGeom prst="rect">
            <a:avLst/>
          </a:prstGeom>
          <a:solidFill>
            <a:srgbClr val="2835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120640" y="4398264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SET 명령어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498079" y="4343400"/>
            <a:ext cx="2011680" cy="365760"/>
          </a:xfrm>
          <a:prstGeom prst="rect">
            <a:avLst/>
          </a:prstGeom>
          <a:solidFill>
            <a:srgbClr val="2835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589519" y="4398264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데이터 덤프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560320" y="4818888"/>
            <a:ext cx="2011680" cy="365760"/>
          </a:xfrm>
          <a:prstGeom prst="rect">
            <a:avLst/>
          </a:prstGeom>
          <a:solidFill>
            <a:srgbClr val="2835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651760" y="4873751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홑따옴표 처리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29200" y="4818888"/>
            <a:ext cx="2011680" cy="365760"/>
          </a:xfrm>
          <a:prstGeom prst="rect">
            <a:avLst/>
          </a:prstGeom>
          <a:solidFill>
            <a:srgbClr val="2835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120640" y="4873751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동적 WHERE 절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498079" y="4818888"/>
            <a:ext cx="2011680" cy="365760"/>
          </a:xfrm>
          <a:prstGeom prst="rect">
            <a:avLst/>
          </a:prstGeom>
          <a:solidFill>
            <a:srgbClr val="2835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589519" y="4873751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SPOOL 파일 저장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71600" y="6400800"/>
            <a:ext cx="91440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CCCCCC"/>
                </a:solidFill>
              </a:rPr>
              <a:t>SQL*Plus · SQL Developer · iSQL*Plus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58368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73152" cy="658368"/>
          </a:xfrm>
          <a:prstGeom prst="rect">
            <a:avLst/>
          </a:prstGeom>
          <a:solidFill>
            <a:srgbClr val="C746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01168" y="91440"/>
            <a:ext cx="9601200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학습 목표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75520" y="91440"/>
            <a:ext cx="2103120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CCCCCC"/>
                </a:solidFill>
              </a:rPr>
              <a:t>Appendix G  |  2/14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56832"/>
            <a:ext cx="12188952" cy="201168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2880" y="6675120"/>
            <a:ext cx="914400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CCCCCC"/>
                </a:solidFill>
              </a:rPr>
              <a:t>Oracle Database 19c SQL Workshop  —  고급 스크립트 작성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675120"/>
            <a:ext cx="155448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CCCCCC"/>
                </a:solidFill>
              </a:rPr>
              <a:t>© Oracle University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" y="804672"/>
            <a:ext cx="557784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028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20040" y="804672"/>
            <a:ext cx="164592" cy="150876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877824"/>
            <a:ext cx="9144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028090"/>
                </a:solidFill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1261872"/>
            <a:ext cx="5120640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1A2332"/>
                </a:solidFill>
              </a:rPr>
              <a:t>SQL Generating SQL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1627632"/>
            <a:ext cx="512064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444444"/>
                </a:solidFill>
              </a:rPr>
              <a:t>SELECT 문으로 DDL/DML SQL을 자동 생성하는 기법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09359" y="804672"/>
            <a:ext cx="557784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028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09359" y="804672"/>
            <a:ext cx="164592" cy="150876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37959" y="877824"/>
            <a:ext cx="9144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028090"/>
                </a:solidFill>
              </a:rPr>
              <a:t>02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37959" y="1261872"/>
            <a:ext cx="5120640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1A2332"/>
                </a:solidFill>
              </a:rPr>
              <a:t>기본 스크립트 작성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37959" y="1627632"/>
            <a:ext cx="512064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444444"/>
                </a:solidFill>
              </a:rPr>
              <a:t>SET 명령어로 출력 환경을 제어하고 스크립트를 작성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0040" y="2496312"/>
            <a:ext cx="557784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028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20040" y="2496312"/>
            <a:ext cx="164592" cy="150876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8640" y="2569464"/>
            <a:ext cx="9144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028090"/>
                </a:solidFill>
              </a:rPr>
              <a:t>03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2953512"/>
            <a:ext cx="5120640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1A2332"/>
                </a:solidFill>
              </a:rPr>
              <a:t>데이터 덤프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3319272"/>
            <a:ext cx="512064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444444"/>
                </a:solidFill>
              </a:rPr>
              <a:t>INSERT 문을 자동 생성하여 테이블 데이터를 파일에 저장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309359" y="2496312"/>
            <a:ext cx="557784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028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309359" y="2496312"/>
            <a:ext cx="164592" cy="150876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37959" y="2569464"/>
            <a:ext cx="9144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028090"/>
                </a:solidFill>
              </a:rPr>
              <a:t>04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37959" y="2953512"/>
            <a:ext cx="5120640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1A2332"/>
                </a:solidFill>
              </a:rPr>
              <a:t>홑따옴표 처리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37959" y="3319272"/>
            <a:ext cx="512064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444444"/>
                </a:solidFill>
              </a:rPr>
              <a:t>SQL 문자열 내에서 홑따옴표를 안전하게 표현하는 규칙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20040" y="4187952"/>
            <a:ext cx="557784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028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20040" y="4187952"/>
            <a:ext cx="164592" cy="150876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4261104"/>
            <a:ext cx="9144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028090"/>
                </a:solidFill>
              </a:rPr>
              <a:t>05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8640" y="4645152"/>
            <a:ext cx="5120640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1A2332"/>
                </a:solidFill>
              </a:rPr>
              <a:t>동적 WHERE 절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8640" y="5010912"/>
            <a:ext cx="512064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444444"/>
                </a:solidFill>
              </a:rPr>
              <a:t>치환 변수와 DECODE로 실행 시점에 WHERE 조건을 결정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309359" y="4187952"/>
            <a:ext cx="557784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028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309359" y="4187952"/>
            <a:ext cx="164592" cy="150876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537959" y="4261104"/>
            <a:ext cx="9144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028090"/>
                </a:solidFill>
              </a:rPr>
              <a:t>06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537959" y="4645152"/>
            <a:ext cx="5120640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1A2332"/>
                </a:solidFill>
              </a:rPr>
              <a:t>SPOOL 출력 저장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537959" y="5010912"/>
            <a:ext cx="512064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444444"/>
                </a:solidFill>
              </a:rPr>
              <a:t>쿼리 결과를 외부 파일에 저장하고 재활용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58368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73152" cy="658368"/>
          </a:xfrm>
          <a:prstGeom prst="rect">
            <a:avLst/>
          </a:prstGeom>
          <a:solidFill>
            <a:srgbClr val="C746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01168" y="91440"/>
            <a:ext cx="9601200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SQL Generating SQL 개요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75520" y="91440"/>
            <a:ext cx="2103120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CCCCCC"/>
                </a:solidFill>
              </a:rPr>
              <a:t>Appendix G  |  3/14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56832"/>
            <a:ext cx="12188952" cy="201168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2880" y="6675120"/>
            <a:ext cx="914400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CCCCCC"/>
                </a:solidFill>
              </a:rPr>
              <a:t>Oracle Database 19c SQL Workshop  —  고급 스크립트 작성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675120"/>
            <a:ext cx="155448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CCCCCC"/>
                </a:solidFill>
              </a:rPr>
              <a:t>© Oracle University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777240"/>
            <a:ext cx="11640312" cy="100584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859536"/>
            <a:ext cx="1124712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SELECT 문으로 다른 SQL 문을 생성하는 기법 — 반복 작업을 한 번에 자동화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1920240"/>
            <a:ext cx="3749039" cy="228600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1479" y="2011680"/>
            <a:ext cx="347472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데이터 딕셔너리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2487168"/>
            <a:ext cx="3200400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user_tables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2834640"/>
            <a:ext cx="3200400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user_objects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3182112"/>
            <a:ext cx="3200400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user_constraints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3529584"/>
            <a:ext cx="3200400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user_indexes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069080" y="2743200"/>
            <a:ext cx="3657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200" b="1" i="0">
                <a:solidFill>
                  <a:srgbClr val="1A2332"/>
                </a:solidFill>
              </a:rPr>
              <a:t>→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251959" y="1920240"/>
            <a:ext cx="3749039" cy="228600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389120" y="2011680"/>
            <a:ext cx="347472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SQL 생성 (SELECT)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26279" y="2487168"/>
            <a:ext cx="3200400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문자열 연결(||)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26279" y="2834640"/>
            <a:ext cx="3200400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홑따옴표 처리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26279" y="3182112"/>
            <a:ext cx="3200400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리터럴 조합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26279" y="3529584"/>
            <a:ext cx="3200400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NVL NULL 처리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46720" y="2743200"/>
            <a:ext cx="3657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200" b="1" i="0">
                <a:solidFill>
                  <a:srgbClr val="1A2332"/>
                </a:solidFill>
              </a:rPr>
              <a:t>→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229600" y="1920240"/>
            <a:ext cx="3749039" cy="2286000"/>
          </a:xfrm>
          <a:prstGeom prst="rect">
            <a:avLst/>
          </a:prstGeom>
          <a:solidFill>
            <a:srgbClr val="C746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366760" y="2011680"/>
            <a:ext cx="347472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스크립트 파일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503920" y="2487168"/>
            <a:ext cx="3200400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SPOOL로 저장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03920" y="2834640"/>
            <a:ext cx="3200400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.sql 파일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503920" y="3182112"/>
            <a:ext cx="3200400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@실행 또는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503920" y="3529584"/>
            <a:ext cx="3200400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직접 복사·붙여넣기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4320" y="4389120"/>
            <a:ext cx="11640312" cy="36576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74320" y="4526280"/>
            <a:ext cx="1164031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1A2332"/>
                </a:solidFill>
              </a:rPr>
              <a:t>실습 예제 — 각 테이블의 빈 복사본 생성 SQL 자동 생성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74320" y="4892040"/>
            <a:ext cx="11640312" cy="141732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84048" y="4965192"/>
            <a:ext cx="11420856" cy="127101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050">
                <a:solidFill>
                  <a:srgbClr val="50FA7B"/>
                </a:solidFill>
                <a:latin typeface="Consolas"/>
              </a:rPr>
              <a:t>SELECT 'CREATE TABLE ' || table_name ||</a:t>
            </a:r>
          </a:p>
          <a:p>
            <a:r>
              <a:rPr sz="1050">
                <a:solidFill>
                  <a:srgbClr val="50FA7B"/>
                </a:solidFill>
                <a:latin typeface="Consolas"/>
              </a:rPr>
              <a:t>       '_bak AS SELECT * FROM ' || table_name || ' WHERE 1=2;'</a:t>
            </a:r>
          </a:p>
          <a:p>
            <a:r>
              <a:rPr sz="1050">
                <a:solidFill>
                  <a:srgbClr val="50FA7B"/>
                </a:solidFill>
                <a:latin typeface="Consolas"/>
              </a:rPr>
              <a:t>FROM   user_tables</a:t>
            </a:r>
          </a:p>
          <a:p>
            <a:r>
              <a:rPr sz="1050">
                <a:solidFill>
                  <a:srgbClr val="50FA7B"/>
                </a:solidFill>
                <a:latin typeface="Consolas"/>
              </a:rPr>
              <a:t>ORDER BY table_name;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58368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73152" cy="658368"/>
          </a:xfrm>
          <a:prstGeom prst="rect">
            <a:avLst/>
          </a:prstGeom>
          <a:solidFill>
            <a:srgbClr val="C746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01168" y="91440"/>
            <a:ext cx="9601200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SET 명령어 — 스크립트 출력 환경 제어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75520" y="91440"/>
            <a:ext cx="2103120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CCCCCC"/>
                </a:solidFill>
              </a:rPr>
              <a:t>Appendix G  |  4/14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56832"/>
            <a:ext cx="12188952" cy="201168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2880" y="6675120"/>
            <a:ext cx="914400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CCCCCC"/>
                </a:solidFill>
              </a:rPr>
              <a:t>Oracle Database 19c SQL Workshop  —  고급 스크립트 작성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675120"/>
            <a:ext cx="155448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CCCCCC"/>
                </a:solidFill>
              </a:rPr>
              <a:t>© Oracle University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777240"/>
            <a:ext cx="11640312" cy="50292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841248"/>
            <a:ext cx="112471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SQL*Plus SET 명령어로 불필요한 출력을 억제하고 순수 SQL 텍스트만 추출한다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14400" y="1417320"/>
            <a:ext cx="2194560" cy="384048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1463040"/>
            <a:ext cx="21031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SET 옵션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00400" y="1417320"/>
            <a:ext cx="3566160" cy="384048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291840" y="1463040"/>
            <a:ext cx="34747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의미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858000" y="1417320"/>
            <a:ext cx="4572000" cy="384048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949440" y="1463040"/>
            <a:ext cx="44805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스크립트에서 권장 값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14400" y="1801368"/>
            <a:ext cx="1097280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05840" y="1856231"/>
            <a:ext cx="210312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C74634"/>
                </a:solidFill>
              </a:rPr>
              <a:t>ECHO OFF/ON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46120" y="1856231"/>
            <a:ext cx="352044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1A2332"/>
                </a:solidFill>
              </a:rPr>
              <a:t>입력한 SQL 명령어 자체를 화면에 출력할지 여부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03720" y="1856231"/>
            <a:ext cx="466344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444444"/>
                </a:solidFill>
              </a:rPr>
              <a:t>OFF — 생성 SQL 문이 헤더로 출력 안 됨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14400" y="2276856"/>
            <a:ext cx="10972800" cy="475488"/>
          </a:xfrm>
          <a:prstGeom prst="rect">
            <a:avLst/>
          </a:prstGeom>
          <a:solidFill>
            <a:srgbClr val="F8F9FB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05840" y="2331720"/>
            <a:ext cx="210312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C74634"/>
                </a:solidFill>
              </a:rPr>
              <a:t>FEEDBACK OFF/ON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246120" y="2331720"/>
            <a:ext cx="352044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1A2332"/>
                </a:solidFill>
              </a:rPr>
              <a:t>"N rows selected" 피드백 메시지 출력 여부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03720" y="2331720"/>
            <a:ext cx="466344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444444"/>
                </a:solidFill>
              </a:rPr>
              <a:t>OFF — 행 수 메시지 없음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14400" y="2752344"/>
            <a:ext cx="1097280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05840" y="2807208"/>
            <a:ext cx="210312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028090"/>
                </a:solidFill>
              </a:rPr>
              <a:t>PAGESIZE 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246120" y="2807208"/>
            <a:ext cx="352044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1A2332"/>
                </a:solidFill>
              </a:rPr>
              <a:t>페이지당 최대 행 수 (0=무제한, 헤더·구분선 제거)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903720" y="2807208"/>
            <a:ext cx="466344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444444"/>
                </a:solidFill>
              </a:rPr>
              <a:t>0 — 헤더, 구분선 모두 제거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14400" y="3227832"/>
            <a:ext cx="10972800" cy="475488"/>
          </a:xfrm>
          <a:prstGeom prst="rect">
            <a:avLst/>
          </a:prstGeom>
          <a:solidFill>
            <a:srgbClr val="F8F9FB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05840" y="3282696"/>
            <a:ext cx="210312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C74634"/>
                </a:solidFill>
              </a:rPr>
              <a:t>HEADING OFF/ON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246120" y="3282696"/>
            <a:ext cx="352044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1A2332"/>
                </a:solidFill>
              </a:rPr>
              <a:t>컬럼 이름(헤더) 출력 여부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903720" y="3282696"/>
            <a:ext cx="466344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444444"/>
                </a:solidFill>
              </a:rPr>
              <a:t>OFF — 컬럼명 줄 출력 안 됨</a:t>
            </a:r>
          </a:p>
        </p:txBody>
      </p:sp>
      <p:sp>
        <p:nvSpPr>
          <p:cNvPr id="34" name="Rectangle 33"/>
          <p:cNvSpPr/>
          <p:nvPr/>
        </p:nvSpPr>
        <p:spPr>
          <a:xfrm>
            <a:off x="914400" y="3703320"/>
            <a:ext cx="1097280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05840" y="3758183"/>
            <a:ext cx="210312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028090"/>
                </a:solidFill>
              </a:rPr>
              <a:t>LINESIZE 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246120" y="3758183"/>
            <a:ext cx="352044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1A2332"/>
                </a:solidFill>
              </a:rPr>
              <a:t>한 줄 최대 글자 수 (줄 잘림 방지)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903720" y="3758183"/>
            <a:ext cx="466344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444444"/>
                </a:solidFill>
              </a:rPr>
              <a:t>200 이상 — SQL 문 잘림 방지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74320" y="4297680"/>
            <a:ext cx="11640312" cy="36576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74320" y="4434840"/>
            <a:ext cx="11640312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1A2332"/>
                </a:solidFill>
              </a:rPr>
              <a:t>표준 패턴 — 스크립트 실행 전·후 SET 설정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74320" y="4754880"/>
            <a:ext cx="11640312" cy="105156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84048" y="4828032"/>
            <a:ext cx="11420856" cy="90525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050">
                <a:solidFill>
                  <a:srgbClr val="50FA7B"/>
                </a:solidFill>
                <a:latin typeface="Consolas"/>
              </a:rPr>
              <a:t>SET ECHO OFF  FEEDBACK OFF  PAGESIZE 0  HEADING OFF  LINESIZE 200</a:t>
            </a:r>
          </a:p>
          <a:p>
            <a:r>
              <a:rPr sz="1050">
                <a:solidFill>
                  <a:srgbClr val="50FA7B"/>
                </a:solidFill>
                <a:latin typeface="Consolas"/>
              </a:rPr>
              <a:t>-- (SQL 스크립트 실행)</a:t>
            </a:r>
          </a:p>
          <a:p>
            <a:r>
              <a:rPr sz="1050">
                <a:solidFill>
                  <a:srgbClr val="50FA7B"/>
                </a:solidFill>
                <a:latin typeface="Consolas"/>
              </a:rPr>
              <a:t>SET FEEDBACK ON  HEADING ON  PAGESIZE 24  ECHO 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58368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73152" cy="658368"/>
          </a:xfrm>
          <a:prstGeom prst="rect">
            <a:avLst/>
          </a:prstGeom>
          <a:solidFill>
            <a:srgbClr val="C746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01168" y="91440"/>
            <a:ext cx="9601200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DROP·ANALYZE·GRANT 스크립트 자동 생성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75520" y="91440"/>
            <a:ext cx="2103120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CCCCCC"/>
                </a:solidFill>
              </a:rPr>
              <a:t>Appendix G  |  5/14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56832"/>
            <a:ext cx="12188952" cy="201168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2880" y="6675120"/>
            <a:ext cx="914400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CCCCCC"/>
                </a:solidFill>
              </a:rPr>
              <a:t>Oracle Database 19c SQL Workshop  —  고급 스크립트 작성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675120"/>
            <a:ext cx="155448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CCCCCC"/>
                </a:solidFill>
              </a:rPr>
              <a:t>© Oracle University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777240"/>
            <a:ext cx="11640312" cy="50292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841248"/>
            <a:ext cx="112471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user_objects / user_tables 딕셔너리에서 객체 목록을 가져와 DBA 작업 스크립트 자동 생성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1417320"/>
            <a:ext cx="5486400" cy="347472"/>
          </a:xfrm>
          <a:prstGeom prst="rect">
            <a:avLst/>
          </a:prstGeom>
          <a:solidFill>
            <a:srgbClr val="C746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5760" y="1463040"/>
            <a:ext cx="530352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DROP TABLE 스크립트 (user_objects)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1828800"/>
            <a:ext cx="5486400" cy="196596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84048" y="1901952"/>
            <a:ext cx="5266944" cy="181965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050">
                <a:solidFill>
                  <a:srgbClr val="50FA7B"/>
                </a:solidFill>
                <a:latin typeface="Consolas"/>
              </a:rPr>
              <a:t>SET ECHO OFF  FEEDBACK OFF  PAGESIZE 0</a:t>
            </a:r>
          </a:p>
          <a:p>
            <a:r>
              <a:rPr sz="1050">
                <a:solidFill>
                  <a:srgbClr val="50FA7B"/>
                </a:solidFill>
                <a:latin typeface="Consolas"/>
              </a:rPr>
              <a:t/>
            </a:r>
          </a:p>
          <a:p>
            <a:r>
              <a:rPr sz="1050">
                <a:solidFill>
                  <a:srgbClr val="50FA7B"/>
                </a:solidFill>
                <a:latin typeface="Consolas"/>
              </a:rPr>
              <a:t>SELECT 'DROP TABLE ' || object_name || ' PURGE;'</a:t>
            </a:r>
          </a:p>
          <a:p>
            <a:r>
              <a:rPr sz="1050">
                <a:solidFill>
                  <a:srgbClr val="50FA7B"/>
                </a:solidFill>
                <a:latin typeface="Consolas"/>
              </a:rPr>
              <a:t>FROM   user_objects</a:t>
            </a:r>
          </a:p>
          <a:p>
            <a:r>
              <a:rPr sz="1050">
                <a:solidFill>
                  <a:srgbClr val="50FA7B"/>
                </a:solidFill>
                <a:latin typeface="Consolas"/>
              </a:rPr>
              <a:t>WHERE  object_type = 'TABLE'</a:t>
            </a:r>
          </a:p>
          <a:p>
            <a:r>
              <a:rPr sz="1050">
                <a:solidFill>
                  <a:srgbClr val="50FA7B"/>
                </a:solidFill>
                <a:latin typeface="Consolas"/>
              </a:rPr>
              <a:t>ORDER BY object_name;</a:t>
            </a:r>
          </a:p>
          <a:p>
            <a:r>
              <a:rPr sz="1050">
                <a:solidFill>
                  <a:srgbClr val="50FA7B"/>
                </a:solidFill>
                <a:latin typeface="Consolas"/>
              </a:rPr>
              <a:t/>
            </a:r>
          </a:p>
          <a:p>
            <a:r>
              <a:rPr sz="1050">
                <a:solidFill>
                  <a:srgbClr val="50FA7B"/>
                </a:solidFill>
                <a:latin typeface="Consolas"/>
              </a:rPr>
              <a:t>SET FEEDBACK ON  PAGESIZE 24  ECHO 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" y="3886200"/>
            <a:ext cx="5486400" cy="347472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5760" y="3931920"/>
            <a:ext cx="530352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ENABLE CONSTRAINT 스크립트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4279392"/>
            <a:ext cx="5486400" cy="141732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84048" y="4352544"/>
            <a:ext cx="5266944" cy="127101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050">
                <a:solidFill>
                  <a:srgbClr val="50FA7B"/>
                </a:solidFill>
                <a:latin typeface="Consolas"/>
              </a:rPr>
              <a:t>SELECT 'ALTER TABLE ' || table_name ||</a:t>
            </a:r>
          </a:p>
          <a:p>
            <a:r>
              <a:rPr sz="1050">
                <a:solidFill>
                  <a:srgbClr val="50FA7B"/>
                </a:solidFill>
                <a:latin typeface="Consolas"/>
              </a:rPr>
              <a:t>       ' ENABLE CONSTRAINT ' || constraint_name || ';'</a:t>
            </a:r>
          </a:p>
          <a:p>
            <a:r>
              <a:rPr sz="1050">
                <a:solidFill>
                  <a:srgbClr val="50FA7B"/>
                </a:solidFill>
                <a:latin typeface="Consolas"/>
              </a:rPr>
              <a:t>FROM   user_constraints</a:t>
            </a:r>
          </a:p>
          <a:p>
            <a:r>
              <a:rPr sz="1050">
                <a:solidFill>
                  <a:srgbClr val="50FA7B"/>
                </a:solidFill>
                <a:latin typeface="Consolas"/>
              </a:rPr>
              <a:t>WHERE  status = 'DISABLED';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153912" y="1417320"/>
            <a:ext cx="5760720" cy="347472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245352" y="1463040"/>
            <a:ext cx="557784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1A2332"/>
                </a:solidFill>
              </a:rPr>
              <a:t>ANALYZE 스크립트 (통계 수집)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53912" y="1828800"/>
            <a:ext cx="5760720" cy="196596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263640" y="1901952"/>
            <a:ext cx="5541264" cy="181965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050">
                <a:solidFill>
                  <a:srgbClr val="50FA7B"/>
                </a:solidFill>
                <a:latin typeface="Consolas"/>
              </a:rPr>
              <a:t>SET ECHO OFF  FEEDBACK OFF  PAGESIZE 0</a:t>
            </a:r>
          </a:p>
          <a:p>
            <a:r>
              <a:rPr sz="1050">
                <a:solidFill>
                  <a:srgbClr val="50FA7B"/>
                </a:solidFill>
                <a:latin typeface="Consolas"/>
              </a:rPr>
              <a:t/>
            </a:r>
          </a:p>
          <a:p>
            <a:r>
              <a:rPr sz="1050">
                <a:solidFill>
                  <a:srgbClr val="50FA7B"/>
                </a:solidFill>
                <a:latin typeface="Consolas"/>
              </a:rPr>
              <a:t>SELECT 'ANALYZE TABLE ' || table_name ||</a:t>
            </a:r>
          </a:p>
          <a:p>
            <a:r>
              <a:rPr sz="1050">
                <a:solidFill>
                  <a:srgbClr val="50FA7B"/>
                </a:solidFill>
                <a:latin typeface="Consolas"/>
              </a:rPr>
              <a:t>       ' COMPUTE STATISTICS;'</a:t>
            </a:r>
          </a:p>
          <a:p>
            <a:r>
              <a:rPr sz="1050">
                <a:solidFill>
                  <a:srgbClr val="50FA7B"/>
                </a:solidFill>
                <a:latin typeface="Consolas"/>
              </a:rPr>
              <a:t>FROM   user_tables</a:t>
            </a:r>
          </a:p>
          <a:p>
            <a:r>
              <a:rPr sz="1050">
                <a:solidFill>
                  <a:srgbClr val="50FA7B"/>
                </a:solidFill>
                <a:latin typeface="Consolas"/>
              </a:rPr>
              <a:t>ORDER BY table_name;</a:t>
            </a:r>
          </a:p>
          <a:p>
            <a:r>
              <a:rPr sz="1050">
                <a:solidFill>
                  <a:srgbClr val="50FA7B"/>
                </a:solidFill>
                <a:latin typeface="Consolas"/>
              </a:rPr>
              <a:t/>
            </a:r>
          </a:p>
          <a:p>
            <a:r>
              <a:rPr sz="1050">
                <a:solidFill>
                  <a:srgbClr val="50FA7B"/>
                </a:solidFill>
                <a:latin typeface="Consolas"/>
              </a:rPr>
              <a:t>SET FEEDBACK ON  PAGESIZE 24  ECHO ON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153912" y="3886200"/>
            <a:ext cx="5760720" cy="347472"/>
          </a:xfrm>
          <a:prstGeom prst="rect">
            <a:avLst/>
          </a:prstGeom>
          <a:solidFill>
            <a:srgbClr val="6C3A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45352" y="3931920"/>
            <a:ext cx="557784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GRANT 스크립트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153912" y="4279392"/>
            <a:ext cx="5760720" cy="141732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263640" y="4352544"/>
            <a:ext cx="5541264" cy="127101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050">
                <a:solidFill>
                  <a:srgbClr val="50FA7B"/>
                </a:solidFill>
                <a:latin typeface="Consolas"/>
              </a:rPr>
              <a:t>SELECT 'GRANT SELECT ON ' || table_name ||</a:t>
            </a:r>
          </a:p>
          <a:p>
            <a:r>
              <a:rPr sz="1050">
                <a:solidFill>
                  <a:srgbClr val="50FA7B"/>
                </a:solidFill>
                <a:latin typeface="Consolas"/>
              </a:rPr>
              <a:t>       ' TO &amp;&amp;target_user;'</a:t>
            </a:r>
          </a:p>
          <a:p>
            <a:r>
              <a:rPr sz="1050">
                <a:solidFill>
                  <a:srgbClr val="50FA7B"/>
                </a:solidFill>
                <a:latin typeface="Consolas"/>
              </a:rPr>
              <a:t>FROM   user_tables</a:t>
            </a:r>
          </a:p>
          <a:p>
            <a:r>
              <a:rPr sz="1050">
                <a:solidFill>
                  <a:srgbClr val="50FA7B"/>
                </a:solidFill>
                <a:latin typeface="Consolas"/>
              </a:rPr>
              <a:t>ORDER BY table_name;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5742432"/>
            <a:ext cx="114300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1">
                <a:solidFill>
                  <a:srgbClr val="1A2332"/>
                </a:solidFill>
              </a:rPr>
              <a:t>PURGE: 휴지통 없이 즉시 삭제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58368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73152" cy="658368"/>
          </a:xfrm>
          <a:prstGeom prst="rect">
            <a:avLst/>
          </a:prstGeom>
          <a:solidFill>
            <a:srgbClr val="C746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01168" y="91440"/>
            <a:ext cx="9601200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테이블 데이터 INSERT 덤프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75520" y="91440"/>
            <a:ext cx="2103120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CCCCCC"/>
                </a:solidFill>
              </a:rPr>
              <a:t>Appendix G  |  6/14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56832"/>
            <a:ext cx="12188952" cy="201168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2880" y="6675120"/>
            <a:ext cx="914400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CCCCCC"/>
                </a:solidFill>
              </a:rPr>
              <a:t>Oracle Database 19c SQL Workshop  —  고급 스크립트 작성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675120"/>
            <a:ext cx="155448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CCCCCC"/>
                </a:solidFill>
              </a:rPr>
              <a:t>© Oracle University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777240"/>
            <a:ext cx="11640312" cy="50292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841248"/>
            <a:ext cx="112471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SELECT 문으로 각 행을 INSERT 문 문자열로 변환 — 데이터 백업 및 이식에 활용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1417320"/>
            <a:ext cx="11640312" cy="347472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5760" y="1463040"/>
            <a:ext cx="114300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departments 테이블 INSERT 문 생성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1828800"/>
            <a:ext cx="11640312" cy="233172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84048" y="1901952"/>
            <a:ext cx="11420856" cy="218541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050">
                <a:solidFill>
                  <a:srgbClr val="50FA7B"/>
                </a:solidFill>
                <a:latin typeface="Consolas"/>
              </a:rPr>
              <a:t>SET HEADING OFF  ECHO OFF  FEEDBACK OFF  PAGESIZE 0  LINESIZE 200</a:t>
            </a:r>
          </a:p>
          <a:p>
            <a:r>
              <a:rPr sz="1050">
                <a:solidFill>
                  <a:srgbClr val="50FA7B"/>
                </a:solidFill>
                <a:latin typeface="Consolas"/>
              </a:rPr>
              <a:t/>
            </a:r>
          </a:p>
          <a:p>
            <a:r>
              <a:rPr sz="1050">
                <a:solidFill>
                  <a:srgbClr val="50FA7B"/>
                </a:solidFill>
                <a:latin typeface="Consolas"/>
              </a:rPr>
              <a:t>SELECT 'INSERT INTO departments VALUES (' ||</a:t>
            </a:r>
          </a:p>
          <a:p>
            <a:r>
              <a:rPr sz="1050">
                <a:solidFill>
                  <a:srgbClr val="50FA7B"/>
                </a:solidFill>
                <a:latin typeface="Consolas"/>
              </a:rPr>
              <a:t>       department_id   || ', ''' ||</a:t>
            </a:r>
          </a:p>
          <a:p>
            <a:r>
              <a:rPr sz="1050">
                <a:solidFill>
                  <a:srgbClr val="50FA7B"/>
                </a:solidFill>
                <a:latin typeface="Consolas"/>
              </a:rPr>
              <a:t>       department_name || ''', ' ||</a:t>
            </a:r>
          </a:p>
          <a:p>
            <a:r>
              <a:rPr sz="1050">
                <a:solidFill>
                  <a:srgbClr val="50FA7B"/>
                </a:solidFill>
                <a:latin typeface="Consolas"/>
              </a:rPr>
              <a:t>       NVL(TO_CHAR(manager_id),  'NULL') || ', ' ||</a:t>
            </a:r>
          </a:p>
          <a:p>
            <a:r>
              <a:rPr sz="1050">
                <a:solidFill>
                  <a:srgbClr val="50FA7B"/>
                </a:solidFill>
                <a:latin typeface="Consolas"/>
              </a:rPr>
              <a:t>       NVL(TO_CHAR(location_id), 'NULL') || ');'</a:t>
            </a:r>
          </a:p>
          <a:p>
            <a:r>
              <a:rPr sz="1050">
                <a:solidFill>
                  <a:srgbClr val="50FA7B"/>
                </a:solidFill>
                <a:latin typeface="Consolas"/>
              </a:rPr>
              <a:t>FROM   departments</a:t>
            </a:r>
          </a:p>
          <a:p>
            <a:r>
              <a:rPr sz="1050">
                <a:solidFill>
                  <a:srgbClr val="50FA7B"/>
                </a:solidFill>
                <a:latin typeface="Consolas"/>
              </a:rPr>
              <a:t>ORDER BY department_id;</a:t>
            </a:r>
          </a:p>
          <a:p>
            <a:r>
              <a:rPr sz="1050">
                <a:solidFill>
                  <a:srgbClr val="50FA7B"/>
                </a:solidFill>
                <a:latin typeface="Consolas"/>
              </a:rPr>
              <a:t/>
            </a:r>
          </a:p>
          <a:p>
            <a:r>
              <a:rPr sz="1050">
                <a:solidFill>
                  <a:srgbClr val="50FA7B"/>
                </a:solidFill>
                <a:latin typeface="Consolas"/>
              </a:rPr>
              <a:t>SET FEEDBACK ON  HEADING ON  PAGESIZE 24  ECHO 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" y="4251960"/>
            <a:ext cx="11640312" cy="32004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5760" y="4297680"/>
            <a:ext cx="11430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1A2332"/>
                </a:solidFill>
              </a:rPr>
              <a:t>출력 예시 (파일 또는 화면)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4617720"/>
            <a:ext cx="11640312" cy="128016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84048" y="4690872"/>
            <a:ext cx="11420856" cy="113385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050">
                <a:solidFill>
                  <a:srgbClr val="50FA7B"/>
                </a:solidFill>
                <a:latin typeface="Consolas"/>
              </a:rPr>
              <a:t>INSERT INTO departments VALUES (10, 'Administration', 200, 1700);</a:t>
            </a:r>
          </a:p>
          <a:p>
            <a:r>
              <a:rPr sz="1050">
                <a:solidFill>
                  <a:srgbClr val="50FA7B"/>
                </a:solidFill>
                <a:latin typeface="Consolas"/>
              </a:rPr>
              <a:t>INSERT INTO departments VALUES (20, 'Marketing', 201, 1800);</a:t>
            </a:r>
          </a:p>
          <a:p>
            <a:r>
              <a:rPr sz="1050">
                <a:solidFill>
                  <a:srgbClr val="50FA7B"/>
                </a:solidFill>
                <a:latin typeface="Consolas"/>
              </a:rPr>
              <a:t>INSERT INTO departments VALUES (30, 'Purchasing', 114, 1700);</a:t>
            </a:r>
          </a:p>
          <a:p>
            <a:r>
              <a:rPr sz="1050">
                <a:solidFill>
                  <a:srgbClr val="50FA7B"/>
                </a:solidFill>
                <a:latin typeface="Consolas"/>
              </a:rPr>
              <a:t>INSERT INTO departments VALUES (40, 'Human Resources', 203, 2400);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14400" y="5943600"/>
            <a:ext cx="3200400" cy="548640"/>
          </a:xfrm>
          <a:prstGeom prst="rect">
            <a:avLst/>
          </a:prstGeom>
          <a:solidFill>
            <a:srgbClr val="D6E8F8"/>
          </a:solidFill>
          <a:ln w="6350">
            <a:solidFill>
              <a:srgbClr val="028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05840" y="5971032"/>
            <a:ext cx="3017520" cy="4937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A2332"/>
                </a:solidFill>
              </a:rPr>
              <a:t>NVL(TO_CHAR(col), 'NULL')
NULL 값 → 문자열 NULL로 출력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0" y="5943600"/>
            <a:ext cx="3200400" cy="548640"/>
          </a:xfrm>
          <a:prstGeom prst="rect">
            <a:avLst/>
          </a:prstGeom>
          <a:solidFill>
            <a:srgbClr val="D6E8F8"/>
          </a:solidFill>
          <a:ln w="6350">
            <a:solidFill>
              <a:srgbClr val="028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663440" y="5971032"/>
            <a:ext cx="3017520" cy="4937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A2332"/>
                </a:solidFill>
              </a:rPr>
              <a:t>'''  col  '''
VARCHAR2 컬럼 양쪽 홑따옴표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58368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73152" cy="658368"/>
          </a:xfrm>
          <a:prstGeom prst="rect">
            <a:avLst/>
          </a:prstGeom>
          <a:solidFill>
            <a:srgbClr val="C746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01168" y="91440"/>
            <a:ext cx="9601200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홑따옴표 처리 규칙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75520" y="91440"/>
            <a:ext cx="2103120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CCCCCC"/>
                </a:solidFill>
              </a:rPr>
              <a:t>Appendix G  |  7/14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56832"/>
            <a:ext cx="12188952" cy="201168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2880" y="6675120"/>
            <a:ext cx="914400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CCCCCC"/>
                </a:solidFill>
              </a:rPr>
              <a:t>Oracle Database 19c SQL Workshop  —  고급 스크립트 작성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675120"/>
            <a:ext cx="155448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CCCCCC"/>
                </a:solidFill>
              </a:rPr>
              <a:t>© Oracle University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777240"/>
            <a:ext cx="11640312" cy="50292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841248"/>
            <a:ext cx="112471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SQL 문자열 내에서 홑따옴표를 출력하려면 두 개 연속 ''(이중)으로 작성한다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1417320"/>
            <a:ext cx="11640312" cy="384048"/>
          </a:xfrm>
          <a:prstGeom prst="rect">
            <a:avLst/>
          </a:prstGeom>
          <a:solidFill>
            <a:srgbClr val="C746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5760" y="1463040"/>
            <a:ext cx="40233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SQL 표현식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26279" y="1463040"/>
            <a:ext cx="31089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실제 출력값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0" y="1463040"/>
            <a:ext cx="41148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사용 상황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" y="1847088"/>
            <a:ext cx="11640312" cy="48463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5760" y="1901952"/>
            <a:ext cx="393192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1E1E2E"/>
                </a:solidFill>
              </a:rPr>
              <a:t>''''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26280" y="1901952"/>
            <a:ext cx="301752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C74634"/>
                </a:solidFill>
              </a:rPr>
              <a:t>'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0" y="1901952"/>
            <a:ext cx="411480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1A2332"/>
                </a:solidFill>
              </a:rPr>
              <a:t>홑따옴표 문자 하나 출력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4320" y="2331720"/>
            <a:ext cx="11640312" cy="484632"/>
          </a:xfrm>
          <a:prstGeom prst="rect">
            <a:avLst/>
          </a:prstGeom>
          <a:solidFill>
            <a:srgbClr val="F8F9FB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5760" y="2386584"/>
            <a:ext cx="393192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1E1E2E"/>
                </a:solidFill>
              </a:rPr>
              <a:t>''''''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26280" y="2386584"/>
            <a:ext cx="301752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C74634"/>
                </a:solidFill>
              </a:rPr>
              <a:t>''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0" y="2386584"/>
            <a:ext cx="411480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1A2332"/>
                </a:solidFill>
              </a:rPr>
              <a:t>홑따옴표 두 개 출력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74320" y="2816352"/>
            <a:ext cx="11640312" cy="48463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65760" y="2871216"/>
            <a:ext cx="393192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1E1E2E"/>
                </a:solidFill>
              </a:rPr>
              <a:t>'''X'''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26280" y="2871216"/>
            <a:ext cx="301752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C74634"/>
                </a:solidFill>
              </a:rPr>
              <a:t>'X'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72400" y="2871216"/>
            <a:ext cx="411480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1A2332"/>
                </a:solidFill>
              </a:rPr>
              <a:t>값을 홑따옴표로 감싸기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74320" y="3300984"/>
            <a:ext cx="11640312" cy="484632"/>
          </a:xfrm>
          <a:prstGeom prst="rect">
            <a:avLst/>
          </a:prstGeom>
          <a:solidFill>
            <a:srgbClr val="F8F9FB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65760" y="3355848"/>
            <a:ext cx="393192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1E1E2E"/>
                </a:solidFill>
              </a:rPr>
              <a:t>''''||col||''''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26280" y="3355848"/>
            <a:ext cx="301752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C74634"/>
                </a:solidFill>
              </a:rPr>
              <a:t>'값'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772400" y="3355848"/>
            <a:ext cx="411480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1A2332"/>
                </a:solidFill>
              </a:rPr>
              <a:t>컬럼 값을 홑따옴표로 감싸기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4320" y="3785616"/>
            <a:ext cx="11640312" cy="48463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65760" y="3840480"/>
            <a:ext cx="393192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1E1E2E"/>
                </a:solidFill>
              </a:rPr>
              <a:t>'It''s easy'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26280" y="3840480"/>
            <a:ext cx="301752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C74634"/>
                </a:solidFill>
              </a:rPr>
              <a:t>It's easy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772400" y="3840480"/>
            <a:ext cx="411480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1A2332"/>
                </a:solidFill>
              </a:rPr>
              <a:t>문자열 내 홑따옴표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74320" y="4270248"/>
            <a:ext cx="11640312" cy="484632"/>
          </a:xfrm>
          <a:prstGeom prst="rect">
            <a:avLst/>
          </a:prstGeom>
          <a:solidFill>
            <a:srgbClr val="F8F9FB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65760" y="4325112"/>
            <a:ext cx="393192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1E1E2E"/>
                </a:solidFill>
              </a:rPr>
              <a:t>''', '''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26280" y="4325112"/>
            <a:ext cx="301752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C74634"/>
                </a:solidFill>
              </a:rPr>
              <a:t>', '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772400" y="4325112"/>
            <a:ext cx="411480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1A2332"/>
                </a:solidFill>
              </a:rPr>
              <a:t>쉼표 앞뒤 홑따옴표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74320" y="4754880"/>
            <a:ext cx="11640312" cy="48463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65760" y="4809744"/>
            <a:ext cx="393192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1E1E2E"/>
                </a:solidFill>
              </a:rPr>
              <a:t>''');'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526280" y="4809744"/>
            <a:ext cx="301752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C74634"/>
                </a:solidFill>
              </a:rPr>
              <a:t>');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772400" y="4809744"/>
            <a:ext cx="411480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1A2332"/>
                </a:solidFill>
              </a:rPr>
              <a:t>INSERT 문 닫기</a:t>
            </a:r>
          </a:p>
        </p:txBody>
      </p:sp>
      <p:sp>
        <p:nvSpPr>
          <p:cNvPr id="44" name="Rectangle 43"/>
          <p:cNvSpPr/>
          <p:nvPr/>
        </p:nvSpPr>
        <p:spPr>
          <a:xfrm>
            <a:off x="274320" y="5349240"/>
            <a:ext cx="11640312" cy="548640"/>
          </a:xfrm>
          <a:prstGeom prst="rect">
            <a:avLst/>
          </a:prstGeom>
          <a:solidFill>
            <a:srgbClr val="FDF3CD"/>
          </a:solidFill>
          <a:ln w="12700">
            <a:solidFill>
              <a:srgbClr val="F5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57200" y="5376672"/>
            <a:ext cx="45720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1A2332"/>
                </a:solidFill>
              </a:rPr>
              <a:t>데이터 내 홑따옴표가 포함될 경우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029200" y="5376672"/>
            <a:ext cx="667512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C74634"/>
                </a:solidFill>
              </a:rPr>
              <a:t>→ REPLACE(col, '''', '''''')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57200" y="5650992"/>
            <a:ext cx="1124712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1">
                <a:solidFill>
                  <a:srgbClr val="1A2332"/>
                </a:solidFill>
              </a:rPr>
              <a:t>예: REPLACE(department_name, '''', '''''')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58368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73152" cy="658368"/>
          </a:xfrm>
          <a:prstGeom prst="rect">
            <a:avLst/>
          </a:prstGeom>
          <a:solidFill>
            <a:srgbClr val="C746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01168" y="91440"/>
            <a:ext cx="9601200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동적 WHERE 절 (Dynamic Predicate)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75520" y="91440"/>
            <a:ext cx="2103120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CCCCCC"/>
                </a:solidFill>
              </a:rPr>
              <a:t>Appendix G  |  8/14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56832"/>
            <a:ext cx="12188952" cy="201168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2880" y="6675120"/>
            <a:ext cx="914400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CCCCCC"/>
                </a:solidFill>
              </a:rPr>
              <a:t>Oracle Database 19c SQL Workshop  —  고급 스크립트 작성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675120"/>
            <a:ext cx="155448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CCCCCC"/>
                </a:solidFill>
              </a:rPr>
              <a:t>© Oracle University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777240"/>
            <a:ext cx="11640312" cy="50292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841248"/>
            <a:ext cx="112471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치환 변수(&amp;, &amp;&amp;)와 DECODE/CASE를 결합하여 실행 시점에 WHERE 조건을 동적으로 생성한다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1463040"/>
            <a:ext cx="3291840" cy="132588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84048" y="1554480"/>
            <a:ext cx="3072384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&amp; (단일 변수)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4048" y="1993392"/>
            <a:ext cx="3072384" cy="7132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매 실행마다
입력 요청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926080" y="1463040"/>
            <a:ext cx="3291840" cy="132588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035808" y="1554480"/>
            <a:ext cx="3072384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&amp;&amp; (세션 변수)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35808" y="1993392"/>
            <a:ext cx="3072384" cy="7132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첫 입력 후
세션 동안 재사용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577840" y="1463040"/>
            <a:ext cx="3291840" cy="1325880"/>
          </a:xfrm>
          <a:prstGeom prst="rect">
            <a:avLst/>
          </a:prstGeom>
          <a:solidFill>
            <a:srgbClr val="6C3A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687568" y="1554480"/>
            <a:ext cx="3072384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COLUMN … NEW_VALUE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87568" y="1993392"/>
            <a:ext cx="3072384" cy="7132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SELECT 결과를
변수로 저장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229600" y="1463040"/>
            <a:ext cx="3291840" cy="132588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39327" y="1554480"/>
            <a:ext cx="3072384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동적 WHERE 삽입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39327" y="1993392"/>
            <a:ext cx="3072384" cy="7132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&amp;변수명을 WHERE
위치에 사용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74320" y="2907792"/>
            <a:ext cx="11640312" cy="347472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65760" y="2962656"/>
            <a:ext cx="114300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복합 동적 WHERE — 부서 + 입사 연도 선택적 필터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74320" y="3291840"/>
            <a:ext cx="11640312" cy="278892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84048" y="3364992"/>
            <a:ext cx="11420856" cy="264261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050">
                <a:solidFill>
                  <a:srgbClr val="50FA7B"/>
                </a:solidFill>
                <a:latin typeface="Consolas"/>
              </a:rPr>
              <a:t>COLUMN my_where NEW_VALUE dynamic_where</a:t>
            </a:r>
          </a:p>
          <a:p>
            <a:r>
              <a:rPr sz="1050">
                <a:solidFill>
                  <a:srgbClr val="50FA7B"/>
                </a:solidFill>
                <a:latin typeface="Consolas"/>
              </a:rPr>
              <a:t/>
            </a:r>
          </a:p>
          <a:p>
            <a:r>
              <a:rPr sz="1050">
                <a:solidFill>
                  <a:srgbClr val="50FA7B"/>
                </a:solidFill>
                <a:latin typeface="Consolas"/>
              </a:rPr>
              <a:t>SELECT DECODE('&amp;&amp;dept_no', null,</a:t>
            </a:r>
          </a:p>
          <a:p>
            <a:r>
              <a:rPr sz="1050">
                <a:solidFill>
                  <a:srgbClr val="50FA7B"/>
                </a:solidFill>
                <a:latin typeface="Consolas"/>
              </a:rPr>
              <a:t>    DECODE('&amp;&amp;year_no', null, ' ',</a:t>
            </a:r>
          </a:p>
          <a:p>
            <a:r>
              <a:rPr sz="1050">
                <a:solidFill>
                  <a:srgbClr val="50FA7B"/>
                </a:solidFill>
                <a:latin typeface="Consolas"/>
              </a:rPr>
              <a:t>        'WHERE EXTRACT(YEAR FROM hire_date) = ' || '&amp;&amp;year_no'),</a:t>
            </a:r>
          </a:p>
          <a:p>
            <a:r>
              <a:rPr sz="1050">
                <a:solidFill>
                  <a:srgbClr val="50FA7B"/>
                </a:solidFill>
                <a:latin typeface="Consolas"/>
              </a:rPr>
              <a:t>    DECODE('&amp;&amp;year_no', null,</a:t>
            </a:r>
          </a:p>
          <a:p>
            <a:r>
              <a:rPr sz="1050">
                <a:solidFill>
                  <a:srgbClr val="50FA7B"/>
                </a:solidFill>
                <a:latin typeface="Consolas"/>
              </a:rPr>
              <a:t>        'WHERE department_id = ' || '&amp;&amp;dept_no',</a:t>
            </a:r>
          </a:p>
          <a:p>
            <a:r>
              <a:rPr sz="1050">
                <a:solidFill>
                  <a:srgbClr val="50FA7B"/>
                </a:solidFill>
                <a:latin typeface="Consolas"/>
              </a:rPr>
              <a:t>        'WHERE department_id = ' || '&amp;&amp;dept_no' ||</a:t>
            </a:r>
          </a:p>
          <a:p>
            <a:r>
              <a:rPr sz="1050">
                <a:solidFill>
                  <a:srgbClr val="50FA7B"/>
                </a:solidFill>
                <a:latin typeface="Consolas"/>
              </a:rPr>
              <a:t>        ' AND EXTRACT(YEAR FROM hire_date) = ' || '&amp;&amp;year_no'))</a:t>
            </a:r>
          </a:p>
          <a:p>
            <a:r>
              <a:rPr sz="1050">
                <a:solidFill>
                  <a:srgbClr val="50FA7B"/>
                </a:solidFill>
                <a:latin typeface="Consolas"/>
              </a:rPr>
              <a:t>    AS my_where</a:t>
            </a:r>
          </a:p>
          <a:p>
            <a:r>
              <a:rPr sz="1050">
                <a:solidFill>
                  <a:srgbClr val="50FA7B"/>
                </a:solidFill>
                <a:latin typeface="Consolas"/>
              </a:rPr>
              <a:t>FROM dual;</a:t>
            </a:r>
          </a:p>
          <a:p>
            <a:r>
              <a:rPr sz="1050">
                <a:solidFill>
                  <a:srgbClr val="50FA7B"/>
                </a:solidFill>
                <a:latin typeface="Consolas"/>
              </a:rPr>
              <a:t/>
            </a:r>
          </a:p>
          <a:p>
            <a:r>
              <a:rPr sz="1050">
                <a:solidFill>
                  <a:srgbClr val="50FA7B"/>
                </a:solidFill>
                <a:latin typeface="Consolas"/>
              </a:rPr>
              <a:t>SELECT employee_id, last_name, hire_date FROM employees &amp;dynamic_where;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58368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73152" cy="658368"/>
          </a:xfrm>
          <a:prstGeom prst="rect">
            <a:avLst/>
          </a:prstGeom>
          <a:solidFill>
            <a:srgbClr val="C746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01168" y="91440"/>
            <a:ext cx="9601200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COLUMN NEW_VALUE — 동작 매트릭스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75520" y="91440"/>
            <a:ext cx="2103120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CCCCCC"/>
                </a:solidFill>
              </a:rPr>
              <a:t>Appendix G  |  9/14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56832"/>
            <a:ext cx="12188952" cy="201168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2880" y="6675120"/>
            <a:ext cx="914400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CCCCCC"/>
                </a:solidFill>
              </a:rPr>
              <a:t>Oracle Database 19c SQL Workshop  —  고급 스크립트 작성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675120"/>
            <a:ext cx="155448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CCCCCC"/>
                </a:solidFill>
              </a:rPr>
              <a:t>© Oracle University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777240"/>
            <a:ext cx="11640312" cy="50292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841248"/>
            <a:ext cx="112471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COLUMN col NEW_VALUE var: SELECT 결과의 col 값을 SQL*Plus 변수 var에 자동 저장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1417320"/>
            <a:ext cx="530352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028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74320" y="1417320"/>
            <a:ext cx="164592" cy="114300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1463040"/>
            <a:ext cx="45720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28090"/>
                </a:solidFill>
              </a:rPr>
              <a:t>문법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1792224"/>
            <a:ext cx="5029200" cy="704088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66928" y="1865376"/>
            <a:ext cx="4809744" cy="55778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050">
                <a:solidFill>
                  <a:srgbClr val="50FA7B"/>
                </a:solidFill>
                <a:latin typeface="Consolas"/>
              </a:rPr>
              <a:t>COLUMN col_alias NEW_VALUE variable_name</a:t>
            </a:r>
          </a:p>
          <a:p>
            <a:r>
              <a:rPr sz="1050">
                <a:solidFill>
                  <a:srgbClr val="50FA7B"/>
                </a:solidFill>
                <a:latin typeface="Consolas"/>
              </a:rPr>
              <a:t>SELECT 표현식 AS col_alias FROM dual;</a:t>
            </a:r>
          </a:p>
          <a:p>
            <a:r>
              <a:rPr sz="1050">
                <a:solidFill>
                  <a:srgbClr val="50FA7B"/>
                </a:solidFill>
                <a:latin typeface="Consolas"/>
              </a:rPr>
              <a:t>SELECT ... &amp;variable_name ...;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897880" y="1417320"/>
            <a:ext cx="6016752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5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897880" y="1417320"/>
            <a:ext cx="164592" cy="114300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126480" y="1463040"/>
            <a:ext cx="530352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F5A623"/>
                </a:solidFill>
              </a:rPr>
              <a:t>활용 사례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26480" y="1810512"/>
            <a:ext cx="530352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1A2332"/>
                </a:solidFill>
              </a:rPr>
              <a:t>• 동적 WHERE 절 생성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26480" y="2066543"/>
            <a:ext cx="530352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1A2332"/>
                </a:solidFill>
              </a:rPr>
              <a:t>• 동적 ORDER BY 생성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26480" y="2322576"/>
            <a:ext cx="530352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1A2332"/>
                </a:solidFill>
              </a:rPr>
              <a:t>• 보고서 파일명에 날짜 삽입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26480" y="2578608"/>
            <a:ext cx="530352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1A2332"/>
                </a:solidFill>
              </a:rPr>
              <a:t>• 타이틀/서브타이틀 자동화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74320" y="2697480"/>
            <a:ext cx="11640312" cy="384048"/>
          </a:xfrm>
          <a:prstGeom prst="rect">
            <a:avLst/>
          </a:prstGeom>
          <a:solidFill>
            <a:srgbClr val="C746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65760" y="2734056"/>
            <a:ext cx="31089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dept_no 입력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11880" y="2734056"/>
            <a:ext cx="31089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year_no 입력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8000" y="2734056"/>
            <a:ext cx="50292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생성되는 WHERE 절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74320" y="3127248"/>
            <a:ext cx="11640312" cy="48463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65760" y="3182112"/>
            <a:ext cx="301752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0" i="0">
                <a:solidFill>
                  <a:srgbClr val="1A2332"/>
                </a:solidFill>
              </a:rPr>
              <a:t>(없음)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611880" y="3182112"/>
            <a:ext cx="301752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0" i="0">
                <a:solidFill>
                  <a:srgbClr val="1A2332"/>
                </a:solidFill>
              </a:rPr>
              <a:t>(없음)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58000" y="3182112"/>
            <a:ext cx="493776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028090"/>
                </a:solidFill>
              </a:rPr>
              <a:t>← WHERE 절 없음 — 전체 조회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4320" y="3611880"/>
            <a:ext cx="11640312" cy="484632"/>
          </a:xfrm>
          <a:prstGeom prst="rect">
            <a:avLst/>
          </a:prstGeom>
          <a:solidFill>
            <a:srgbClr val="F8F9FB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65760" y="3666744"/>
            <a:ext cx="301752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0" i="0">
                <a:solidFill>
                  <a:srgbClr val="1A2332"/>
                </a:solidFill>
              </a:rPr>
              <a:t>80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611880" y="3666744"/>
            <a:ext cx="301752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0" i="0">
                <a:solidFill>
                  <a:srgbClr val="1A2332"/>
                </a:solidFill>
              </a:rPr>
              <a:t>(없음)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58000" y="3666744"/>
            <a:ext cx="493776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028090"/>
                </a:solidFill>
              </a:rPr>
              <a:t>WHERE department_id = 80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74320" y="4096512"/>
            <a:ext cx="11640312" cy="48463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65760" y="4151376"/>
            <a:ext cx="301752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0" i="0">
                <a:solidFill>
                  <a:srgbClr val="1A2332"/>
                </a:solidFill>
              </a:rPr>
              <a:t>(없음)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611880" y="4151376"/>
            <a:ext cx="301752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0" i="0">
                <a:solidFill>
                  <a:srgbClr val="1A2332"/>
                </a:solidFill>
              </a:rPr>
              <a:t>2005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858000" y="4151376"/>
            <a:ext cx="493776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028090"/>
                </a:solidFill>
              </a:rPr>
              <a:t>WHERE EXTRACT(YEAR FROM hire_date) = 2005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74320" y="4581144"/>
            <a:ext cx="11640312" cy="484632"/>
          </a:xfrm>
          <a:prstGeom prst="rect">
            <a:avLst/>
          </a:prstGeom>
          <a:solidFill>
            <a:srgbClr val="F8F9FB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65760" y="4636008"/>
            <a:ext cx="301752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0" i="0">
                <a:solidFill>
                  <a:srgbClr val="1A2332"/>
                </a:solidFill>
              </a:rPr>
              <a:t>80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611880" y="4636008"/>
            <a:ext cx="301752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0" i="0">
                <a:solidFill>
                  <a:srgbClr val="1A2332"/>
                </a:solidFill>
              </a:rPr>
              <a:t>2005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858000" y="4636008"/>
            <a:ext cx="493776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27AE60"/>
                </a:solidFill>
              </a:rPr>
              <a:t>WHERE department_id = 80 AND EXTRACT(YEAR...) = 2005</a:t>
            </a:r>
          </a:p>
        </p:txBody>
      </p:sp>
      <p:sp>
        <p:nvSpPr>
          <p:cNvPr id="44" name="Rectangle 43"/>
          <p:cNvSpPr/>
          <p:nvPr/>
        </p:nvSpPr>
        <p:spPr>
          <a:xfrm>
            <a:off x="274320" y="5102352"/>
            <a:ext cx="11640312" cy="347472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65760" y="5157216"/>
            <a:ext cx="114300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동적 ORDER BY 예제</a:t>
            </a:r>
          </a:p>
        </p:txBody>
      </p:sp>
      <p:sp>
        <p:nvSpPr>
          <p:cNvPr id="46" name="Rectangle 45"/>
          <p:cNvSpPr/>
          <p:nvPr/>
        </p:nvSpPr>
        <p:spPr>
          <a:xfrm>
            <a:off x="274320" y="5486400"/>
            <a:ext cx="11640312" cy="100584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384048" y="5559552"/>
            <a:ext cx="11420856" cy="8595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050">
                <a:solidFill>
                  <a:srgbClr val="50FA7B"/>
                </a:solidFill>
                <a:latin typeface="Consolas"/>
              </a:rPr>
              <a:t>COLUMN sort_col NEW_VALUE order_col</a:t>
            </a:r>
          </a:p>
          <a:p>
            <a:r>
              <a:rPr sz="1050">
                <a:solidFill>
                  <a:srgbClr val="50FA7B"/>
                </a:solidFill>
                <a:latin typeface="Consolas"/>
              </a:rPr>
              <a:t>SELECT NVL('&amp;&amp;sort_column', 'employee_id') AS sort_col FROM dual;</a:t>
            </a:r>
          </a:p>
          <a:p>
            <a:r>
              <a:rPr sz="1050">
                <a:solidFill>
                  <a:srgbClr val="50FA7B"/>
                </a:solidFill>
                <a:latin typeface="Consolas"/>
              </a:rPr>
              <a:t>SELECT employee_id, last_name, salary FROM employees ORDER BY &amp;order_col;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58368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73152" cy="658368"/>
          </a:xfrm>
          <a:prstGeom prst="rect">
            <a:avLst/>
          </a:prstGeom>
          <a:solidFill>
            <a:srgbClr val="C746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01168" y="91440"/>
            <a:ext cx="9601200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SPOOL — 쿼리 출력을 파일로 저장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75520" y="91440"/>
            <a:ext cx="2103120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CCCCCC"/>
                </a:solidFill>
              </a:rPr>
              <a:t>Appendix G  |  10/14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56832"/>
            <a:ext cx="12188952" cy="201168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2880" y="6675120"/>
            <a:ext cx="914400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CCCCCC"/>
                </a:solidFill>
              </a:rPr>
              <a:t>Oracle Database 19c SQL Workshop  —  고급 스크립트 작성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675120"/>
            <a:ext cx="155448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CCCCCC"/>
                </a:solidFill>
              </a:rPr>
              <a:t>© Oracle University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777240"/>
            <a:ext cx="11640312" cy="50292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841248"/>
            <a:ext cx="112471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SPOOL 명령어로 SQL*Plus 출력을 파일에 저장 — 생성된 스크립트를 별도 실행 가능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1417320"/>
            <a:ext cx="2148840" cy="141732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5760" y="1508760"/>
            <a:ext cx="19659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1. SPOOL 시작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1920240"/>
            <a:ext cx="196596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SPOOL /path/to/file.sql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468879" y="1920240"/>
            <a:ext cx="2286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1A2332"/>
                </a:solidFill>
              </a:rPr>
              <a:t>→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615184" y="1417320"/>
            <a:ext cx="2148840" cy="141732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706624" y="1508760"/>
            <a:ext cx="19659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2. SET 설정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06624" y="1920240"/>
            <a:ext cx="196596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SET ECHO OFF FEEDBACK OFF
PAGESIZE 0 HEADING OFF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809744" y="1920240"/>
            <a:ext cx="2286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1A2332"/>
                </a:solidFill>
              </a:rPr>
              <a:t>→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956048" y="1417320"/>
            <a:ext cx="2148840" cy="1417320"/>
          </a:xfrm>
          <a:prstGeom prst="rect">
            <a:avLst/>
          </a:prstGeom>
          <a:solidFill>
            <a:srgbClr val="6C3A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47488" y="1508760"/>
            <a:ext cx="19659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3. SQL 실행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47488" y="1920240"/>
            <a:ext cx="196596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SELECT ... (SQL 생성 쿼리)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50608" y="1920240"/>
            <a:ext cx="2286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1A2332"/>
                </a:solidFill>
              </a:rPr>
              <a:t>→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296912" y="1417320"/>
            <a:ext cx="2148840" cy="141732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388352" y="1508760"/>
            <a:ext cx="19659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4. SPOOL 종료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88352" y="1920240"/>
            <a:ext cx="196596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SPOOL OFF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491472" y="1920240"/>
            <a:ext cx="2286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1A2332"/>
                </a:solidFill>
              </a:rPr>
              <a:t>→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637776" y="1417320"/>
            <a:ext cx="2148840" cy="1417320"/>
          </a:xfrm>
          <a:prstGeom prst="rect">
            <a:avLst/>
          </a:prstGeom>
          <a:solidFill>
            <a:srgbClr val="C746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729216" y="1508760"/>
            <a:ext cx="19659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5. 스크립트 실행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729216" y="1920240"/>
            <a:ext cx="196596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@/path/to/file.sql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74320" y="2971800"/>
            <a:ext cx="11640312" cy="347472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65760" y="3026664"/>
            <a:ext cx="114300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완전한 SPOOL 예제 — departments INSERT 스크립트 생성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74320" y="3364992"/>
            <a:ext cx="11640312" cy="2898648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84048" y="3438144"/>
            <a:ext cx="11420856" cy="275234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050">
                <a:solidFill>
                  <a:srgbClr val="50FA7B"/>
                </a:solidFill>
                <a:latin typeface="Consolas"/>
              </a:rPr>
              <a:t>SPOOL /tmp/dept_insert.sql</a:t>
            </a:r>
          </a:p>
          <a:p>
            <a:r>
              <a:rPr sz="1050">
                <a:solidFill>
                  <a:srgbClr val="50FA7B"/>
                </a:solidFill>
                <a:latin typeface="Consolas"/>
              </a:rPr>
              <a:t/>
            </a:r>
          </a:p>
          <a:p>
            <a:r>
              <a:rPr sz="1050">
                <a:solidFill>
                  <a:srgbClr val="50FA7B"/>
                </a:solidFill>
                <a:latin typeface="Consolas"/>
              </a:rPr>
              <a:t>SET ECHO OFF  FEEDBACK OFF  HEADING OFF  PAGESIZE 0  LINESIZE 200</a:t>
            </a:r>
          </a:p>
          <a:p>
            <a:r>
              <a:rPr sz="1050">
                <a:solidFill>
                  <a:srgbClr val="50FA7B"/>
                </a:solidFill>
                <a:latin typeface="Consolas"/>
              </a:rPr>
              <a:t/>
            </a:r>
          </a:p>
          <a:p>
            <a:r>
              <a:rPr sz="1050">
                <a:solidFill>
                  <a:srgbClr val="50FA7B"/>
                </a:solidFill>
                <a:latin typeface="Consolas"/>
              </a:rPr>
              <a:t>SELECT 'INSERT INTO departments VALUES (' ||</a:t>
            </a:r>
          </a:p>
          <a:p>
            <a:r>
              <a:rPr sz="1050">
                <a:solidFill>
                  <a:srgbClr val="50FA7B"/>
                </a:solidFill>
                <a:latin typeface="Consolas"/>
              </a:rPr>
              <a:t>       department_id || ', ''' ||</a:t>
            </a:r>
          </a:p>
          <a:p>
            <a:r>
              <a:rPr sz="1050">
                <a:solidFill>
                  <a:srgbClr val="50FA7B"/>
                </a:solidFill>
                <a:latin typeface="Consolas"/>
              </a:rPr>
              <a:t>       department_name || ''', ' ||</a:t>
            </a:r>
          </a:p>
          <a:p>
            <a:r>
              <a:rPr sz="1050">
                <a:solidFill>
                  <a:srgbClr val="50FA7B"/>
                </a:solidFill>
                <a:latin typeface="Consolas"/>
              </a:rPr>
              <a:t>       NVL(TO_CHAR(manager_id), 'NULL') || ', ' ||</a:t>
            </a:r>
          </a:p>
          <a:p>
            <a:r>
              <a:rPr sz="1050">
                <a:solidFill>
                  <a:srgbClr val="50FA7B"/>
                </a:solidFill>
                <a:latin typeface="Consolas"/>
              </a:rPr>
              <a:t>       NVL(TO_CHAR(location_id), 'NULL') || ');'</a:t>
            </a:r>
          </a:p>
          <a:p>
            <a:r>
              <a:rPr sz="1050">
                <a:solidFill>
                  <a:srgbClr val="50FA7B"/>
                </a:solidFill>
                <a:latin typeface="Consolas"/>
              </a:rPr>
              <a:t>FROM   departments ORDER BY department_id;</a:t>
            </a:r>
          </a:p>
          <a:p>
            <a:r>
              <a:rPr sz="1050">
                <a:solidFill>
                  <a:srgbClr val="50FA7B"/>
                </a:solidFill>
                <a:latin typeface="Consolas"/>
              </a:rPr>
              <a:t/>
            </a:r>
          </a:p>
          <a:p>
            <a:r>
              <a:rPr sz="1050">
                <a:solidFill>
                  <a:srgbClr val="50FA7B"/>
                </a:solidFill>
                <a:latin typeface="Consolas"/>
              </a:rPr>
              <a:t>SPOOL OFF</a:t>
            </a:r>
          </a:p>
          <a:p>
            <a:r>
              <a:rPr sz="1050">
                <a:solidFill>
                  <a:srgbClr val="50FA7B"/>
                </a:solidFill>
                <a:latin typeface="Consolas"/>
              </a:rPr>
              <a:t>SET FEEDBACK ON  HEADING ON  PAGESIZE 24  ECHO ON</a:t>
            </a:r>
          </a:p>
          <a:p>
            <a:r>
              <a:rPr sz="1050">
                <a:solidFill>
                  <a:srgbClr val="50FA7B"/>
                </a:solidFill>
                <a:latin typeface="Consolas"/>
              </a:rPr>
              <a:t/>
            </a:r>
          </a:p>
          <a:p>
            <a:r>
              <a:rPr sz="1050">
                <a:solidFill>
                  <a:srgbClr val="50FA7B"/>
                </a:solidFill>
                <a:latin typeface="Consolas"/>
              </a:rPr>
              <a:t>-- 생성된 파일 실행:</a:t>
            </a:r>
          </a:p>
          <a:p>
            <a:r>
              <a:rPr sz="1050">
                <a:solidFill>
                  <a:srgbClr val="50FA7B"/>
                </a:solidFill>
                <a:latin typeface="Consolas"/>
              </a:rPr>
              <a:t>-- @/tmp/dept_insert.sql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58368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73152" cy="658368"/>
          </a:xfrm>
          <a:prstGeom prst="rect">
            <a:avLst/>
          </a:prstGeom>
          <a:solidFill>
            <a:srgbClr val="C746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01168" y="91440"/>
            <a:ext cx="9601200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동적 파일명 — 날짜 포함 SPOOL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75520" y="91440"/>
            <a:ext cx="2103120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CCCCCC"/>
                </a:solidFill>
              </a:rPr>
              <a:t>Appendix G  |  11/14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56832"/>
            <a:ext cx="12188952" cy="201168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2880" y="6675120"/>
            <a:ext cx="914400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CCCCCC"/>
                </a:solidFill>
              </a:rPr>
              <a:t>Oracle Database 19c SQL Workshop  —  고급 스크립트 작성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675120"/>
            <a:ext cx="155448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CCCCCC"/>
                </a:solidFill>
              </a:rPr>
              <a:t>© Oracle University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777240"/>
            <a:ext cx="11640312" cy="50292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841248"/>
            <a:ext cx="112471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COLUMN NEW_VALUE + SYSDATE로 날짜가 포함된 파일명을 동적으로 생성한다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1417320"/>
            <a:ext cx="11640312" cy="411480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84048" y="1490472"/>
            <a:ext cx="11420856" cy="39684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050">
                <a:solidFill>
                  <a:srgbClr val="50FA7B"/>
                </a:solidFill>
                <a:latin typeface="Consolas"/>
              </a:rPr>
              <a:t>-- 1. 날짜 변수 설정</a:t>
            </a:r>
          </a:p>
          <a:p>
            <a:r>
              <a:rPr sz="1050">
                <a:solidFill>
                  <a:srgbClr val="50FA7B"/>
                </a:solidFill>
                <a:latin typeface="Consolas"/>
              </a:rPr>
              <a:t>COLUMN report_date NEW_VALUE rpt_date</a:t>
            </a:r>
          </a:p>
          <a:p>
            <a:r>
              <a:rPr sz="1050">
                <a:solidFill>
                  <a:srgbClr val="50FA7B"/>
                </a:solidFill>
                <a:latin typeface="Consolas"/>
              </a:rPr>
              <a:t>SELECT TO_CHAR(SYSDATE, 'YYYYMMDD') AS report_date FROM dual;</a:t>
            </a:r>
          </a:p>
          <a:p>
            <a:r>
              <a:rPr sz="1050">
                <a:solidFill>
                  <a:srgbClr val="50FA7B"/>
                </a:solidFill>
                <a:latin typeface="Consolas"/>
              </a:rPr>
              <a:t/>
            </a:r>
          </a:p>
          <a:p>
            <a:r>
              <a:rPr sz="1050">
                <a:solidFill>
                  <a:srgbClr val="50FA7B"/>
                </a:solidFill>
                <a:latin typeface="Consolas"/>
              </a:rPr>
              <a:t>-- 2. 날짜 포함 파일명으로 SPOOL (점 두 개 '..' 로 변수명 끝 표시)</a:t>
            </a:r>
          </a:p>
          <a:p>
            <a:r>
              <a:rPr sz="1050">
                <a:solidFill>
                  <a:srgbClr val="50FA7B"/>
                </a:solidFill>
                <a:latin typeface="Consolas"/>
              </a:rPr>
              <a:t>SPOOL /tmp/employee_report_&amp;rpt_date..sql</a:t>
            </a:r>
          </a:p>
          <a:p>
            <a:r>
              <a:rPr sz="1050">
                <a:solidFill>
                  <a:srgbClr val="50FA7B"/>
                </a:solidFill>
                <a:latin typeface="Consolas"/>
              </a:rPr>
              <a:t/>
            </a:r>
          </a:p>
          <a:p>
            <a:r>
              <a:rPr sz="1050">
                <a:solidFill>
                  <a:srgbClr val="50FA7B"/>
                </a:solidFill>
                <a:latin typeface="Consolas"/>
              </a:rPr>
              <a:t>SET ECHO OFF  FEEDBACK OFF  HEADING OFF  PAGESIZE 0  LINESIZE 200</a:t>
            </a:r>
          </a:p>
          <a:p>
            <a:r>
              <a:rPr sz="1050">
                <a:solidFill>
                  <a:srgbClr val="50FA7B"/>
                </a:solidFill>
                <a:latin typeface="Consolas"/>
              </a:rPr>
              <a:t/>
            </a:r>
          </a:p>
          <a:p>
            <a:r>
              <a:rPr sz="1050">
                <a:solidFill>
                  <a:srgbClr val="50FA7B"/>
                </a:solidFill>
                <a:latin typeface="Consolas"/>
              </a:rPr>
              <a:t>-- 3. 보고서 헤더</a:t>
            </a:r>
          </a:p>
          <a:p>
            <a:r>
              <a:rPr sz="1050">
                <a:solidFill>
                  <a:srgbClr val="50FA7B"/>
                </a:solidFill>
                <a:latin typeface="Consolas"/>
              </a:rPr>
              <a:t>SELECT '-- Report: ' || TO_CHAR(SYSDATE, 'YYYY-MM-DD HH24:MI:SS') FROM dual;</a:t>
            </a:r>
          </a:p>
          <a:p>
            <a:r>
              <a:rPr sz="1050">
                <a:solidFill>
                  <a:srgbClr val="50FA7B"/>
                </a:solidFill>
                <a:latin typeface="Consolas"/>
              </a:rPr>
              <a:t>SELECT '-- Generated by: ' || USER FROM dual;</a:t>
            </a:r>
          </a:p>
          <a:p>
            <a:r>
              <a:rPr sz="1050">
                <a:solidFill>
                  <a:srgbClr val="50FA7B"/>
                </a:solidFill>
                <a:latin typeface="Consolas"/>
              </a:rPr>
              <a:t/>
            </a:r>
          </a:p>
          <a:p>
            <a:r>
              <a:rPr sz="1050">
                <a:solidFill>
                  <a:srgbClr val="50FA7B"/>
                </a:solidFill>
                <a:latin typeface="Consolas"/>
              </a:rPr>
              <a:t>-- 4. 데이터 INSERT 생성</a:t>
            </a:r>
          </a:p>
          <a:p>
            <a:r>
              <a:rPr sz="1050">
                <a:solidFill>
                  <a:srgbClr val="50FA7B"/>
                </a:solidFill>
                <a:latin typeface="Consolas"/>
              </a:rPr>
              <a:t>SELECT 'INSERT INTO report_stats VALUES (' ||</a:t>
            </a:r>
          </a:p>
          <a:p>
            <a:r>
              <a:rPr sz="1050">
                <a:solidFill>
                  <a:srgbClr val="50FA7B"/>
                </a:solidFill>
                <a:latin typeface="Consolas"/>
              </a:rPr>
              <a:t>       department_id || ', ' || COUNT(*) || ', ' ||</a:t>
            </a:r>
          </a:p>
          <a:p>
            <a:r>
              <a:rPr sz="1050">
                <a:solidFill>
                  <a:srgbClr val="50FA7B"/>
                </a:solidFill>
                <a:latin typeface="Consolas"/>
              </a:rPr>
              <a:t>       ROUND(AVG(salary)) || ', ' || MAX(salary) || ');'</a:t>
            </a:r>
          </a:p>
          <a:p>
            <a:r>
              <a:rPr sz="1050">
                <a:solidFill>
                  <a:srgbClr val="50FA7B"/>
                </a:solidFill>
                <a:latin typeface="Consolas"/>
              </a:rPr>
              <a:t>FROM   employees</a:t>
            </a:r>
          </a:p>
          <a:p>
            <a:r>
              <a:rPr sz="1050">
                <a:solidFill>
                  <a:srgbClr val="50FA7B"/>
                </a:solidFill>
                <a:latin typeface="Consolas"/>
              </a:rPr>
              <a:t>WHERE  department_id IS NOT NULL</a:t>
            </a:r>
          </a:p>
          <a:p>
            <a:r>
              <a:rPr sz="1050">
                <a:solidFill>
                  <a:srgbClr val="50FA7B"/>
                </a:solidFill>
                <a:latin typeface="Consolas"/>
              </a:rPr>
              <a:t>GROUP  BY department_id</a:t>
            </a:r>
          </a:p>
          <a:p>
            <a:r>
              <a:rPr sz="1050">
                <a:solidFill>
                  <a:srgbClr val="50FA7B"/>
                </a:solidFill>
                <a:latin typeface="Consolas"/>
              </a:rPr>
              <a:t>ORDER  BY department_id;</a:t>
            </a:r>
          </a:p>
          <a:p>
            <a:r>
              <a:rPr sz="1050">
                <a:solidFill>
                  <a:srgbClr val="50FA7B"/>
                </a:solidFill>
                <a:latin typeface="Consolas"/>
              </a:rPr>
              <a:t/>
            </a:r>
          </a:p>
          <a:p>
            <a:r>
              <a:rPr sz="1050">
                <a:solidFill>
                  <a:srgbClr val="50FA7B"/>
                </a:solidFill>
                <a:latin typeface="Consolas"/>
              </a:rPr>
              <a:t>SPOOL OFF</a:t>
            </a:r>
          </a:p>
          <a:p>
            <a:r>
              <a:rPr sz="1050">
                <a:solidFill>
                  <a:srgbClr val="50FA7B"/>
                </a:solidFill>
                <a:latin typeface="Consolas"/>
              </a:rPr>
              <a:t>SET FEEDBACK ON  HEADING ON  PAGESIZE 24  ECHO 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5623560"/>
            <a:ext cx="3749039" cy="841248"/>
          </a:xfrm>
          <a:prstGeom prst="rect">
            <a:avLst/>
          </a:prstGeom>
          <a:solidFill>
            <a:srgbClr val="D6E8F8"/>
          </a:solidFill>
          <a:ln w="6350">
            <a:solidFill>
              <a:srgbClr val="028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11480" y="5669280"/>
            <a:ext cx="3383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028090"/>
                </a:solidFill>
              </a:rPr>
              <a:t>.. (점 두 개)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480" y="5961888"/>
            <a:ext cx="33832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A2332"/>
                </a:solidFill>
              </a:rPr>
              <a:t>&amp;변수명 뒤에 '.' 두 개를 쓰면 변수명 끝을 표시하고 그 뒤 '.sql' 추가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251959" y="5623560"/>
            <a:ext cx="3749039" cy="841248"/>
          </a:xfrm>
          <a:prstGeom prst="rect">
            <a:avLst/>
          </a:prstGeom>
          <a:solidFill>
            <a:srgbClr val="D6E8F8"/>
          </a:solidFill>
          <a:ln w="6350">
            <a:solidFill>
              <a:srgbClr val="028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389120" y="5669280"/>
            <a:ext cx="3383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028090"/>
                </a:solidFill>
              </a:rPr>
              <a:t>USER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89120" y="5961888"/>
            <a:ext cx="33832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A2332"/>
                </a:solidFill>
              </a:rPr>
              <a:t>현재 접속 사용자명 반환 (예: HR)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229600" y="5623560"/>
            <a:ext cx="3749039" cy="841248"/>
          </a:xfrm>
          <a:prstGeom prst="rect">
            <a:avLst/>
          </a:prstGeom>
          <a:solidFill>
            <a:srgbClr val="D6E8F8"/>
          </a:solidFill>
          <a:ln w="6350">
            <a:solidFill>
              <a:srgbClr val="028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66759" y="5669280"/>
            <a:ext cx="3383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028090"/>
                </a:solidFill>
              </a:rPr>
              <a:t>SYSDATE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66759" y="5961888"/>
            <a:ext cx="33832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A2332"/>
                </a:solidFill>
              </a:rPr>
              <a:t>현재 서버 날짜/시간 반환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58368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73152" cy="658368"/>
          </a:xfrm>
          <a:prstGeom prst="rect">
            <a:avLst/>
          </a:prstGeom>
          <a:solidFill>
            <a:srgbClr val="C746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01168" y="91440"/>
            <a:ext cx="9601200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종합 활용 패턴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75520" y="91440"/>
            <a:ext cx="2103120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CCCCCC"/>
                </a:solidFill>
              </a:rPr>
              <a:t>Appendix G  |  12/14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56832"/>
            <a:ext cx="12188952" cy="201168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2880" y="6675120"/>
            <a:ext cx="914400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CCCCCC"/>
                </a:solidFill>
              </a:rPr>
              <a:t>Oracle Database 19c SQL Workshop  —  고급 스크립트 작성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675120"/>
            <a:ext cx="155448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CCCCCC"/>
                </a:solidFill>
              </a:rPr>
              <a:t>© Oracle University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777240"/>
            <a:ext cx="11640312" cy="50292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841248"/>
            <a:ext cx="112471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SQL Generating SQL 주요 패턴 — 실무에서 자주 사용하는 조합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1417320"/>
            <a:ext cx="5577840" cy="2331720"/>
          </a:xfrm>
          <a:prstGeom prst="rect">
            <a:avLst/>
          </a:prstGeom>
          <a:solidFill>
            <a:srgbClr val="FFFFFF"/>
          </a:solidFill>
          <a:ln w="19050">
            <a:solidFill>
              <a:srgbClr val="028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74320" y="1417320"/>
            <a:ext cx="5577840" cy="347472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84048" y="1463040"/>
            <a:ext cx="530352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백업 스크립트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1819656"/>
            <a:ext cx="5394960" cy="182880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75488" y="1892807"/>
            <a:ext cx="5175504" cy="16824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050">
                <a:solidFill>
                  <a:srgbClr val="50FA7B"/>
                </a:solidFill>
                <a:latin typeface="Consolas"/>
              </a:rPr>
              <a:t>SELECT 'CREATE TABLE ' || table_name ||</a:t>
            </a:r>
          </a:p>
          <a:p>
            <a:r>
              <a:rPr sz="1050">
                <a:solidFill>
                  <a:srgbClr val="50FA7B"/>
                </a:solidFill>
                <a:latin typeface="Consolas"/>
              </a:rPr>
              <a:t>'_bak AS SELECT * FROM ' || table_name || ';'</a:t>
            </a:r>
          </a:p>
          <a:p>
            <a:r>
              <a:rPr sz="1050">
                <a:solidFill>
                  <a:srgbClr val="50FA7B"/>
                </a:solidFill>
                <a:latin typeface="Consolas"/>
              </a:rPr>
              <a:t>FROM user_tables;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63640" y="1417320"/>
            <a:ext cx="5577840" cy="2331720"/>
          </a:xfrm>
          <a:prstGeom prst="rect">
            <a:avLst/>
          </a:prstGeom>
          <a:solidFill>
            <a:srgbClr val="FFFFFF"/>
          </a:solidFill>
          <a:ln w="19050">
            <a:solidFill>
              <a:srgbClr val="F5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63640" y="1417320"/>
            <a:ext cx="5577840" cy="347472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73368" y="1463040"/>
            <a:ext cx="530352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외래 키 비활성화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355079" y="1819656"/>
            <a:ext cx="5394960" cy="182880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64807" y="1892807"/>
            <a:ext cx="5175504" cy="16824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050">
                <a:solidFill>
                  <a:srgbClr val="50FA7B"/>
                </a:solidFill>
                <a:latin typeface="Consolas"/>
              </a:rPr>
              <a:t>SELECT 'ALTER TABLE ' || table_name ||</a:t>
            </a:r>
          </a:p>
          <a:p>
            <a:r>
              <a:rPr sz="1050">
                <a:solidFill>
                  <a:srgbClr val="50FA7B"/>
                </a:solidFill>
                <a:latin typeface="Consolas"/>
              </a:rPr>
              <a:t>' DISABLE CONSTRAINT ' || constraint_name || ';'</a:t>
            </a:r>
          </a:p>
          <a:p>
            <a:r>
              <a:rPr sz="1050">
                <a:solidFill>
                  <a:srgbClr val="50FA7B"/>
                </a:solidFill>
                <a:latin typeface="Consolas"/>
              </a:rPr>
              <a:t>FROM user_constraints WHERE constraint_type = 'R';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74320" y="3840480"/>
            <a:ext cx="5577840" cy="2331720"/>
          </a:xfrm>
          <a:prstGeom prst="rect">
            <a:avLst/>
          </a:prstGeom>
          <a:solidFill>
            <a:srgbClr val="FFFFFF"/>
          </a:solidFill>
          <a:ln w="19050">
            <a:solidFill>
              <a:srgbClr val="C746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74320" y="3840480"/>
            <a:ext cx="5577840" cy="347472"/>
          </a:xfrm>
          <a:prstGeom prst="rect">
            <a:avLst/>
          </a:prstGeom>
          <a:solidFill>
            <a:srgbClr val="C746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84048" y="3886200"/>
            <a:ext cx="530352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인덱스 REBUILD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65760" y="4242816"/>
            <a:ext cx="5394960" cy="182880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75488" y="4315968"/>
            <a:ext cx="5175504" cy="16824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050">
                <a:solidFill>
                  <a:srgbClr val="50FA7B"/>
                </a:solidFill>
                <a:latin typeface="Consolas"/>
              </a:rPr>
              <a:t>SELECT 'ALTER INDEX ' || index_name || ' REBUILD;'</a:t>
            </a:r>
          </a:p>
          <a:p>
            <a:r>
              <a:rPr sz="1050">
                <a:solidFill>
                  <a:srgbClr val="50FA7B"/>
                </a:solidFill>
                <a:latin typeface="Consolas"/>
              </a:rPr>
              <a:t>FROM user_indexes</a:t>
            </a:r>
          </a:p>
          <a:p>
            <a:r>
              <a:rPr sz="1050">
                <a:solidFill>
                  <a:srgbClr val="50FA7B"/>
                </a:solidFill>
                <a:latin typeface="Consolas"/>
              </a:rPr>
              <a:t>WHERE status != 'VALID';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263640" y="3840480"/>
            <a:ext cx="5577840" cy="2331720"/>
          </a:xfrm>
          <a:prstGeom prst="rect">
            <a:avLst/>
          </a:prstGeom>
          <a:solidFill>
            <a:srgbClr val="FFFFFF"/>
          </a:solidFill>
          <a:ln w="19050">
            <a:solidFill>
              <a:srgbClr val="6C3A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263640" y="3840480"/>
            <a:ext cx="5577840" cy="347472"/>
          </a:xfrm>
          <a:prstGeom prst="rect">
            <a:avLst/>
          </a:prstGeom>
          <a:solidFill>
            <a:srgbClr val="6C3A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373368" y="3886200"/>
            <a:ext cx="530352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DDL 추출 (DBMS_METADATA)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355079" y="4242816"/>
            <a:ext cx="5394960" cy="182880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64807" y="4315968"/>
            <a:ext cx="5175504" cy="16824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050">
                <a:solidFill>
                  <a:srgbClr val="50FA7B"/>
                </a:solidFill>
                <a:latin typeface="Consolas"/>
              </a:rPr>
              <a:t>SET LONG 10000</a:t>
            </a:r>
          </a:p>
          <a:p>
            <a:r>
              <a:rPr sz="1050">
                <a:solidFill>
                  <a:srgbClr val="50FA7B"/>
                </a:solidFill>
                <a:latin typeface="Consolas"/>
              </a:rPr>
              <a:t>SELECT DBMS_METADATA.GET_DDL('TABLE', table_name)</a:t>
            </a:r>
          </a:p>
          <a:p>
            <a:r>
              <a:rPr sz="1050">
                <a:solidFill>
                  <a:srgbClr val="50FA7B"/>
                </a:solidFill>
                <a:latin typeface="Consolas"/>
              </a:rPr>
              <a:t>FROM user_tables WHERE table_name = 'EMPLOYEES';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74320" y="6309360"/>
            <a:ext cx="1164031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1">
                <a:solidFill>
                  <a:srgbClr val="1A2332"/>
                </a:solidFill>
              </a:rPr>
              <a:t>DBMS_METADATA.GET_DDL: 오브젝트 생성 DDL을 CLOB으로 반환 / SET LONG으로 출력 길이 확장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58368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73152" cy="658368"/>
          </a:xfrm>
          <a:prstGeom prst="rect">
            <a:avLst/>
          </a:prstGeom>
          <a:solidFill>
            <a:srgbClr val="C746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01168" y="91440"/>
            <a:ext cx="9601200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고급 기법 — 복합 타입 INSERT 덤프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75520" y="91440"/>
            <a:ext cx="2103120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CCCCCC"/>
                </a:solidFill>
              </a:rPr>
              <a:t>Appendix G  |  13/14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56832"/>
            <a:ext cx="12188952" cy="201168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2880" y="6675120"/>
            <a:ext cx="914400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CCCCCC"/>
                </a:solidFill>
              </a:rPr>
              <a:t>Oracle Database 19c SQL Workshop  —  고급 스크립트 작성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675120"/>
            <a:ext cx="155448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CCCCCC"/>
                </a:solidFill>
              </a:rPr>
              <a:t>© Oracle University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777240"/>
            <a:ext cx="11640312" cy="50292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841248"/>
            <a:ext cx="112471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DATE, NUMBER NULL, VARCHAR2 NULL 혼재 시 각 타입별 처리 방법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1417320"/>
            <a:ext cx="11640312" cy="370332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84048" y="1490472"/>
            <a:ext cx="11420856" cy="355701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050">
                <a:solidFill>
                  <a:srgbClr val="50FA7B"/>
                </a:solidFill>
                <a:latin typeface="Consolas"/>
              </a:rPr>
              <a:t>SET ECHO OFF  FEEDBACK OFF  HEADING OFF  PAGESIZE 0  LINESIZE 400</a:t>
            </a:r>
          </a:p>
          <a:p>
            <a:r>
              <a:rPr sz="1050">
                <a:solidFill>
                  <a:srgbClr val="50FA7B"/>
                </a:solidFill>
                <a:latin typeface="Consolas"/>
              </a:rPr>
              <a:t/>
            </a:r>
          </a:p>
          <a:p>
            <a:r>
              <a:rPr sz="1050">
                <a:solidFill>
                  <a:srgbClr val="50FA7B"/>
                </a:solidFill>
                <a:latin typeface="Consolas"/>
              </a:rPr>
              <a:t>SELECT 'INSERT INTO backup_employees VALUES (' ||</a:t>
            </a:r>
          </a:p>
          <a:p>
            <a:r>
              <a:rPr sz="1050">
                <a:solidFill>
                  <a:srgbClr val="50FA7B"/>
                </a:solidFill>
                <a:latin typeface="Consolas"/>
              </a:rPr>
              <a:t>       employee_id          || ', ''' ||</a:t>
            </a:r>
          </a:p>
          <a:p>
            <a:r>
              <a:rPr sz="1050">
                <a:solidFill>
                  <a:srgbClr val="50FA7B"/>
                </a:solidFill>
                <a:latin typeface="Consolas"/>
              </a:rPr>
              <a:t>       first_name           || ''', ''' ||</a:t>
            </a:r>
          </a:p>
          <a:p>
            <a:r>
              <a:rPr sz="1050">
                <a:solidFill>
                  <a:srgbClr val="50FA7B"/>
                </a:solidFill>
                <a:latin typeface="Consolas"/>
              </a:rPr>
              <a:t>       last_name            || ''', ''' ||</a:t>
            </a:r>
          </a:p>
          <a:p>
            <a:r>
              <a:rPr sz="1050">
                <a:solidFill>
                  <a:srgbClr val="50FA7B"/>
                </a:solidFill>
                <a:latin typeface="Consolas"/>
              </a:rPr>
              <a:t>       email                || ''', ''' ||</a:t>
            </a:r>
          </a:p>
          <a:p>
            <a:r>
              <a:rPr sz="1050">
                <a:solidFill>
                  <a:srgbClr val="50FA7B"/>
                </a:solidFill>
                <a:latin typeface="Consolas"/>
              </a:rPr>
              <a:t>       NVL(phone_number, 'N/A') || ''', ''' ||         -- VARCHAR2 NULL</a:t>
            </a:r>
          </a:p>
          <a:p>
            <a:r>
              <a:rPr sz="1050">
                <a:solidFill>
                  <a:srgbClr val="50FA7B"/>
                </a:solidFill>
                <a:latin typeface="Consolas"/>
              </a:rPr>
              <a:t>       TO_CHAR(hire_date, 'DD-MON-YYYY') || ''', ''' ||  -- DATE → 문자열 변환</a:t>
            </a:r>
          </a:p>
          <a:p>
            <a:r>
              <a:rPr sz="1050">
                <a:solidFill>
                  <a:srgbClr val="50FA7B"/>
                </a:solidFill>
                <a:latin typeface="Consolas"/>
              </a:rPr>
              <a:t>       job_id               || ''', ' ||</a:t>
            </a:r>
          </a:p>
          <a:p>
            <a:r>
              <a:rPr sz="1050">
                <a:solidFill>
                  <a:srgbClr val="50FA7B"/>
                </a:solidFill>
                <a:latin typeface="Consolas"/>
              </a:rPr>
              <a:t>       salary               || ', ' ||</a:t>
            </a:r>
          </a:p>
          <a:p>
            <a:r>
              <a:rPr sz="1050">
                <a:solidFill>
                  <a:srgbClr val="50FA7B"/>
                </a:solidFill>
                <a:latin typeface="Consolas"/>
              </a:rPr>
              <a:t>       NVL(TO_CHAR(commission_pct), 'NULL') || ', ' || -- NUMBER NULL</a:t>
            </a:r>
          </a:p>
          <a:p>
            <a:r>
              <a:rPr sz="1050">
                <a:solidFill>
                  <a:srgbClr val="50FA7B"/>
                </a:solidFill>
                <a:latin typeface="Consolas"/>
              </a:rPr>
              <a:t>       NVL(TO_CHAR(manager_id), 'NULL')     || ', ' || -- NUMBER NULL</a:t>
            </a:r>
          </a:p>
          <a:p>
            <a:r>
              <a:rPr sz="1050">
                <a:solidFill>
                  <a:srgbClr val="50FA7B"/>
                </a:solidFill>
                <a:latin typeface="Consolas"/>
              </a:rPr>
              <a:t>       NVL(TO_CHAR(department_id), 'NULL')  || ');'</a:t>
            </a:r>
          </a:p>
          <a:p>
            <a:r>
              <a:rPr sz="1050">
                <a:solidFill>
                  <a:srgbClr val="50FA7B"/>
                </a:solidFill>
                <a:latin typeface="Consolas"/>
              </a:rPr>
              <a:t>FROM   employees</a:t>
            </a:r>
          </a:p>
          <a:p>
            <a:r>
              <a:rPr sz="1050">
                <a:solidFill>
                  <a:srgbClr val="50FA7B"/>
                </a:solidFill>
                <a:latin typeface="Consolas"/>
              </a:rPr>
              <a:t>WHERE  department_id = 80</a:t>
            </a:r>
          </a:p>
          <a:p>
            <a:r>
              <a:rPr sz="1050">
                <a:solidFill>
                  <a:srgbClr val="50FA7B"/>
                </a:solidFill>
                <a:latin typeface="Consolas"/>
              </a:rPr>
              <a:t>ORDER BY employee_id;</a:t>
            </a:r>
          </a:p>
          <a:p>
            <a:r>
              <a:rPr sz="1050">
                <a:solidFill>
                  <a:srgbClr val="50FA7B"/>
                </a:solidFill>
                <a:latin typeface="Consolas"/>
              </a:rPr>
              <a:t/>
            </a:r>
          </a:p>
          <a:p>
            <a:r>
              <a:rPr sz="1050">
                <a:solidFill>
                  <a:srgbClr val="50FA7B"/>
                </a:solidFill>
                <a:latin typeface="Consolas"/>
              </a:rPr>
              <a:t>SET FEEDBACK ON  HEADING ON  PAGESIZE 24  ECHO 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5230368"/>
            <a:ext cx="11640312" cy="347472"/>
          </a:xfrm>
          <a:prstGeom prst="rect">
            <a:avLst/>
          </a:prstGeom>
          <a:solidFill>
            <a:srgbClr val="C746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5760" y="5276088"/>
            <a:ext cx="283464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데이터 타입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37560" y="5276088"/>
            <a:ext cx="402336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처리 방법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98079" y="5276088"/>
            <a:ext cx="448056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예제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5623560"/>
            <a:ext cx="11640312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65760" y="566928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1A2332"/>
                </a:solidFill>
              </a:rPr>
              <a:t>VARCHAR2 (NOT NULL)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46120" y="5669280"/>
            <a:ext cx="40233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028090"/>
                </a:solidFill>
              </a:rPr>
              <a:t>''' || 값 || '''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06640" y="566928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C74634"/>
                </a:solidFill>
              </a:rPr>
              <a:t>''' || first_name || '''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74320" y="5989320"/>
            <a:ext cx="11640312" cy="365760"/>
          </a:xfrm>
          <a:prstGeom prst="rect">
            <a:avLst/>
          </a:prstGeom>
          <a:solidFill>
            <a:srgbClr val="F8F9FB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65760" y="603504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1A2332"/>
                </a:solidFill>
              </a:rPr>
              <a:t>NUMBER NULL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246120" y="6035040"/>
            <a:ext cx="40233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028090"/>
                </a:solidFill>
              </a:rPr>
              <a:t>NVL(TO_CHAR(값), 'NULL')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06640" y="603504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C74634"/>
                </a:solidFill>
              </a:rPr>
              <a:t>NVL(TO_CHAR(commission_pct), 'NULL')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74320" y="6355080"/>
            <a:ext cx="11640312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65760" y="640080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1A2332"/>
                </a:solidFill>
              </a:rPr>
              <a:t>DATE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246120" y="6400800"/>
            <a:ext cx="40233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028090"/>
                </a:solidFill>
              </a:rPr>
              <a:t>TO_CHAR(날짜, 포맷) + 홑따옴표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06640" y="640080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C74634"/>
                </a:solidFill>
              </a:rPr>
              <a:t>TO_CHAR(hire_date, 'DD-MON-YYYY')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C746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65760"/>
            <a:ext cx="114300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3200" b="1" i="0">
                <a:solidFill>
                  <a:srgbClr val="FFFFFF"/>
                </a:solidFill>
              </a:rPr>
              <a:t>단원 요약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60120"/>
            <a:ext cx="114300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600" b="0" i="1">
                <a:solidFill>
                  <a:srgbClr val="F5A623"/>
                </a:solidFill>
              </a:rPr>
              <a:t>Appendix G — 고급 스크립트 작성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463040"/>
            <a:ext cx="11274552" cy="27432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572768"/>
            <a:ext cx="5577840" cy="1417320"/>
          </a:xfrm>
          <a:prstGeom prst="rect">
            <a:avLst/>
          </a:prstGeom>
          <a:solidFill>
            <a:srgbClr val="2835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572768"/>
            <a:ext cx="146304" cy="1417320"/>
          </a:xfrm>
          <a:prstGeom prst="rect">
            <a:avLst/>
          </a:prstGeom>
          <a:solidFill>
            <a:srgbClr val="C746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13232" y="1664208"/>
            <a:ext cx="512064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C74634"/>
                </a:solidFill>
              </a:rPr>
              <a:t>SQL Generating SQL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" y="2075688"/>
            <a:ext cx="512064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CCCCCC"/>
                </a:solidFill>
              </a:rPr>
              <a:t>user_tables / user_objects 등 데이터 딕셔너리를 SELECT하여 DDL/DML SQL을 자동 생성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55080" y="1572768"/>
            <a:ext cx="5577840" cy="1417320"/>
          </a:xfrm>
          <a:prstGeom prst="rect">
            <a:avLst/>
          </a:prstGeom>
          <a:solidFill>
            <a:srgbClr val="2835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55080" y="1572768"/>
            <a:ext cx="146304" cy="141732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11112" y="1664208"/>
            <a:ext cx="512064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028090"/>
                </a:solidFill>
              </a:rPr>
              <a:t>SET 명령어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11112" y="2075688"/>
            <a:ext cx="512064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CCCCCC"/>
                </a:solidFill>
              </a:rPr>
              <a:t>ECHO OFF · FEEDBACK OFF · PAGESIZE 0 · HEADING OFF · LINESIZE로 출력 최소화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3081528"/>
            <a:ext cx="5577840" cy="1417320"/>
          </a:xfrm>
          <a:prstGeom prst="rect">
            <a:avLst/>
          </a:prstGeom>
          <a:solidFill>
            <a:srgbClr val="2835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57200" y="3081528"/>
            <a:ext cx="146304" cy="141732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13232" y="3172968"/>
            <a:ext cx="512064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F5A623"/>
                </a:solidFill>
              </a:rPr>
              <a:t>데이터 덤프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3232" y="3584448"/>
            <a:ext cx="512064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CCCCCC"/>
                </a:solidFill>
              </a:rPr>
              <a:t>SELECT로 INSERT 문 생성 → NVL · TO_CHAR · 홑따옴표로 모든 타입 처리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355080" y="3081528"/>
            <a:ext cx="5577840" cy="1417320"/>
          </a:xfrm>
          <a:prstGeom prst="rect">
            <a:avLst/>
          </a:prstGeom>
          <a:solidFill>
            <a:srgbClr val="2835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355080" y="3081528"/>
            <a:ext cx="146304" cy="1417320"/>
          </a:xfrm>
          <a:prstGeom prst="rect">
            <a:avLst/>
          </a:prstGeom>
          <a:solidFill>
            <a:srgbClr val="6C3A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611112" y="3172968"/>
            <a:ext cx="512064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6C3A91"/>
                </a:solidFill>
              </a:rPr>
              <a:t>홑따옴표 규칙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11112" y="3584448"/>
            <a:ext cx="512064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CCCCCC"/>
                </a:solidFill>
              </a:rPr>
              <a:t>SQL 문자열 내 홑따옴표 = '' (두 개 연속) / REPLACE로 데이터 내 홑따옴표 안전 처리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4590288"/>
            <a:ext cx="5577840" cy="1417320"/>
          </a:xfrm>
          <a:prstGeom prst="rect">
            <a:avLst/>
          </a:prstGeom>
          <a:solidFill>
            <a:srgbClr val="2835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57200" y="4590288"/>
            <a:ext cx="146304" cy="141732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13232" y="4681727"/>
            <a:ext cx="512064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27AE60"/>
                </a:solidFill>
              </a:rPr>
              <a:t>동적 WHERE 절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3232" y="5093207"/>
            <a:ext cx="512064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CCCCCC"/>
                </a:solidFill>
              </a:rPr>
              <a:t>&amp;&amp;변수 + DECODE + COLUMN NEW_VALUE로 조건 유무에 따라 WHERE 절을 동적 구성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355080" y="4590288"/>
            <a:ext cx="5577840" cy="1417320"/>
          </a:xfrm>
          <a:prstGeom prst="rect">
            <a:avLst/>
          </a:prstGeom>
          <a:solidFill>
            <a:srgbClr val="2835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355080" y="4590288"/>
            <a:ext cx="146304" cy="141732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611112" y="4681727"/>
            <a:ext cx="512064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E67E22"/>
                </a:solidFill>
              </a:rPr>
              <a:t>SPOOL 파일 저장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611112" y="5093207"/>
            <a:ext cx="512064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CCCCCC"/>
                </a:solidFill>
              </a:rPr>
              <a:t>SPOOL 파일명 → SQL → SPOOL OFF → @파일명 실행 / 날짜 포함 파일명 자동 생성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57200" y="6153912"/>
            <a:ext cx="11274552" cy="27432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57200" y="6236208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CCCCCC"/>
                </a:solidFill>
              </a:rPr>
              <a:t>Oracle Database 19c SQL Workshop  —  Appendix 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
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2560320"/>
            <a:ext cx="12024360" cy="1828800"/>
          </a:xfrm>
          <a:prstGeom prst="rect">
            <a:avLst/>
          </a:prstGeom>
          <a:solidFill>
            <a:srgbClr val="24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B8D8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A623"/>
                </a:solidFill>
              </a:rPr>
              <a:t>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단일행 함수를 사용한 출력 커스터마이징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A8C8"/>
                </a:solidFill>
              </a:rPr>
              <a:t>Using Single-Row Functions to Customize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90A8"/>
                </a:solidFill>
              </a:rPr>
              <a:t>Oracle Database 19c SQL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06060"/>
                </a:solidFill>
              </a:rPr>
              <a:t>이 단원을 완료하면 다음을 수행할 수 있습니다: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28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SQL에서 사용 가능한 다양한 함수 유형(단일행/다중행)을 설명한다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23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SELECT 문에서 문자 함수를 사용하여 데이터를 조작한다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LOWER / UPPER / INITCAP으로 대소문자를 변환한다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0332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57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CONCAT / SUBSTR / LENGTH / INSTR / LPAD / RPAD / TRIM / REPLACE를 활용한다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중첩 함수의 실행 순서(안쪽 → 바깥쪽)를 이해한다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00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ROUND / TRUNC / CEIL / FLOOR / MOD로 숫자를 처리한다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86400"/>
            <a:ext cx="320040" cy="3200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949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SYSDATE, 날짜 산술, 날짜 함수(MONTHS_BETWEEN 등)를 활용한다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SQL 함수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4572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함수란?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입력 인수를 받아 하나의 결과 값을 반환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5212080" cy="914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3172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function_name(arg1, arg2, ...)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 ↓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결과 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두 가지 함수 유형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029200" cy="5943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단일행 함수  →  행마다 1개 결과 반환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34840"/>
            <a:ext cx="5029200" cy="594360"/>
          </a:xfrm>
          <a:prstGeom prst="rect">
            <a:avLst/>
          </a:prstGeom>
          <a:solidFill>
            <a:srgbClr val="5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다중행 함수  →  그룹마다 1개 결과 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12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74634"/>
                </a:solidFill>
              </a:rPr>
              <a:t>※ Chapter 4 범위: 단일행 함수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143000"/>
            <a:ext cx="5760720" cy="4572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170432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단일행 함수 분류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737360"/>
            <a:ext cx="1280160" cy="685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783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문자 함수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0"/>
                </a:solidFill>
              </a:rPr>
              <a:t>Character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8745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LOWER / UPPER / INITCAP / CONCAT / SUBSTR...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37360"/>
            <a:ext cx="73152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606040"/>
            <a:ext cx="1280160" cy="685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숫자 함수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0"/>
                </a:solidFill>
              </a:rPr>
              <a:t>Number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74320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 / TRUNC / CEIL / FLOOR / MOD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606040"/>
            <a:ext cx="73152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474720"/>
            <a:ext cx="1280160" cy="685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520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날짜 함수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840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0"/>
                </a:solidFill>
              </a:rPr>
              <a:t>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6118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SYSDATE / ADD_MONTHS / NEXT_DAY / LAST_DAY...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3474720"/>
            <a:ext cx="73152" cy="6858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4343400"/>
            <a:ext cx="1280160" cy="685800"/>
          </a:xfrm>
          <a:prstGeom prst="rect">
            <a:avLst/>
          </a:prstGeom>
          <a:solidFill>
            <a:srgbClr val="5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변환 함수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709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0"/>
                </a:solidFill>
              </a:rPr>
              <a:t>Conversion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48056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TO_CHAR / TO_DATE / TO_NUMBER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5212080"/>
            <a:ext cx="1280160" cy="685800"/>
          </a:xfrm>
          <a:prstGeom prst="rect">
            <a:avLst/>
          </a:prstGeom>
          <a:solidFill>
            <a:srgbClr val="5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일반 함수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577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F0"/>
                </a:solidFill>
              </a:rPr>
              <a:t>General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53492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NVL / DECODE /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문자 함수 — 대소문자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8100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5760" y="1188720"/>
            <a:ext cx="38100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480" y="118872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5760" y="1188720"/>
            <a:ext cx="38100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31480" y="118872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54480"/>
            <a:ext cx="381000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55448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LOWER(col|expr)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5760" y="1554480"/>
            <a:ext cx="381000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1480" y="155448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LOWER('SQL Workshop')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85760" y="1554480"/>
            <a:ext cx="381000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1480" y="155448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'sql workshop'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20240"/>
            <a:ext cx="381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192024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UPPER(col|expr)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5760" y="1920240"/>
            <a:ext cx="381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1480" y="192024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UPPER('sql workshop')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85760" y="1920240"/>
            <a:ext cx="3810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1480" y="192024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'SQL WORKSHOP'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286000"/>
            <a:ext cx="381000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28600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INITCAP(col|expr)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5760" y="2286000"/>
            <a:ext cx="381000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21480" y="228600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INITCAP('the soap')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5760" y="2286000"/>
            <a:ext cx="381000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1480" y="2286000"/>
            <a:ext cx="371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'The Soap'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활용 예제 — WHERE 절에서 대소문자 구분 없이 검색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46120"/>
            <a:ext cx="6858000" cy="2468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337560"/>
            <a:ext cx="65836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-- 결과 없음 (Oracle은 대소문자 구분)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last_name = 'higgins';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LOWER 함수로 대소문자 구분 없이 검색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LOWER(last_name) = 'higgins';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246120"/>
            <a:ext cx="448056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결과: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49039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EMPLOYEE_ID  LAST_NAME  DEPT_ID
-----------  ---------  -------
        205  Higgins        110
(1개 행)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문자 함수 — 문자 조작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5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87096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5280" y="1143000"/>
            <a:ext cx="387096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114300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6240" y="1143000"/>
            <a:ext cx="387096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1960" y="114300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1704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71704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CONCAT(s1, s2)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5280" y="171704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1000" y="171704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CONCAT('Hello','World')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6240" y="171704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960" y="171704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'HelloWorld'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9108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29108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SUBSTR(s, pos, len)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45280" y="229108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1000" y="229108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SUBSTR('HelloWorld', 1, 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6240" y="229108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960" y="229108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'Hello'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6512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86512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LENGTH(s)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5280" y="286512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1000" y="286512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LENGTH('HelloWorld')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16240" y="286512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1960" y="286512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3916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43916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INSTR(s, substr)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5280" y="343916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1000" y="343916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INSTR('HelloWorld','W')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6240" y="343916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1960" y="343916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1320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01320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LPAD(s, n, pad)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5280" y="401320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91000" y="401320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LPAD(24000, 10, '*')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6240" y="401320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61960" y="401320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'*****24000'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58724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58724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RPAD(s, n, pad)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45280" y="458724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1000" y="458724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RPAD(24000, 10, '*')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6240" y="458724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960" y="458724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'24000*****'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6128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516128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TRIM(c FROM 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45280" y="516128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91000" y="516128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TRIM('H' FROM 'HelloWorld')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6240" y="5161280"/>
            <a:ext cx="387096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61960" y="516128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'elloWorld'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73532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573532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REPLACE(s, old, new)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45280" y="573532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1000" y="573532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REPLACE('JACK','J','BL')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16240" y="5735320"/>
            <a:ext cx="387096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61960" y="5735320"/>
            <a:ext cx="377952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'BLACE'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문자 조작 함수 — 예제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6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11612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704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SUBSTR: job_id가 'REP'로 끝나는 사원 조회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640080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45920"/>
            <a:ext cx="6126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SELECT last_name, CONCAT('Job: ', job_id) AS Job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SUBSTR(job_id, 4) = 'REP';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결과:
LAST_NAME  JOB
---------  ----------
Abel       Job: SA_REP
Taylor     Job: SA_REP
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161288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620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LENGTH + INSTR + SUBSTR: 마지막 문자가 'n'인 사원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46120"/>
            <a:ext cx="713232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37560"/>
            <a:ext cx="68580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SELECT employee_id,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CONCAT(first_name, last_name)  AS NAME,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LENGTH(last_name),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INSTR(last_name, 'a')          AS "Contains 'a'?"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SUBSTR(last_name, -1, 1) = 'n';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46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핵심 포인트:
• CONCAT(a, b): 두 문자열 연결
• INSTR: 첫 발견 위치 반환
  (없으면 0)
• SUBSTR(str, -1, 1):
  마지막 문자 1개 추출
  음수 위치 = 끝에서부터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중첩 함수 (Nesting Functions)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7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2"/>
                </a:solidFill>
              </a:rPr>
              <a:t>단일행 함수는 여러 단계로 중첩 가능 — 가장 안쪽(깊은) 함수부터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143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F3( F2( F1(col, arg1), arg2 ), arg3 )
       Step 1: F1(col, arg1)  →  Result 1
       Step 2: F2(Result1, arg2)  →  Result 2
       Step 3: F3(Result2, arg3)  →  최종 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278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예제: last_name 앞 8글자 + '_US' → 대문자로 변환 (부서 60)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7315200" cy="2651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703320"/>
            <a:ext cx="70408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UPPER(CONCAT(SUBSTR(last_name, 1, 8), '_US')) AS result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department_id = 60;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Step 1: SUBSTR(last_name, 1, 8)  → 'Pataball' (Pataballa의 8글자)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Step 2: CONCAT('Pataball', '_US') → 'Pataball_US'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Step 3: UPPER('Pataball_US')      → 'PATABALL_US'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3611880"/>
            <a:ext cx="411480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3703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결과: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06908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LAST_NAME  RESULT
----------  -----------
Hunold      HUNOLD_US
Ernst       ERNST_US
Austin      AUSTIN_US
Pataballa   PATABALL_US
Lorentz     LORENTZ_US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숫자 함수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8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90322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7540" y="1143000"/>
            <a:ext cx="290322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3260" y="11430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143000"/>
            <a:ext cx="290322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430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1143000"/>
            <a:ext cx="2903220" cy="574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1430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1704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170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ROUND(n, 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7540" y="171704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3260" y="17170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ROUND(45.923, 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71704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7170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45.92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3980" y="171704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17170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소수 2자리 반올림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9108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2910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ROUND(n, 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229108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3260" y="22910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ROUND(45.923, 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29108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2910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3980" y="229108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22910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정수로 반올림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86512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28651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ROUND(n, 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286512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3260" y="28651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ROUND(45.923,-1)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286512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8651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980" y="286512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9700" y="28651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10의 자리 반올림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43916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43916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TRUNC(n, 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40" y="343916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3260" y="343916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TRUNC(45.923, 2)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43916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43916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45.92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3980" y="343916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9700" y="343916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소수 2자리에서 절사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01320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0132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TRUNC(n, 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7540" y="401320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3260" y="40132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TRUNC(45.923,-1)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401320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40132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3980" y="401320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9700" y="401320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10의 자리에서 절사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58724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45872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CEIL(n)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40" y="458724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60" y="45872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CEIL(2.83)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458724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45872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3980" y="458724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9700" y="458724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올림 (이상 최소 정수)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16128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1612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FLOOR(n)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7540" y="516128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23260" y="51612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FLOOR(2.83)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516128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51612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3980" y="5161280"/>
            <a:ext cx="2903220" cy="57404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9700" y="516128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내림 (이하 최대 정수)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4320" y="573532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20040" y="57353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MOD(m, n)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77540" y="573532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23260" y="57353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MOD(1600, 300)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80760" y="573532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6480" y="57353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3980" y="5735320"/>
            <a:ext cx="2903220" cy="574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29700" y="5735320"/>
            <a:ext cx="2811780" cy="57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나머지 (1600÷300=5 나머지 100)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숫자 함수 — 예제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9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70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ROUND / TRUNC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2560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45920"/>
            <a:ext cx="53949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SELECT ROUND(45.923, 2),  -- 45.92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ROUND(45.923, 0),  -- 46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ROUND(45.923,-1)   -- 50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dual;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TRUNC(45.923, 2),  -- 45.92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TRUNC(45.923),     -- 45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TRUNC(45.923,-1)   -- 40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dual;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760720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704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 — 짝수 사원 조회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54480"/>
            <a:ext cx="5760720" cy="1188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5486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SELECT employee_id, last_name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MOD(employee_id, 2) = 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34640"/>
            <a:ext cx="5760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결과 (일부):
EMPLOYEE_ID  LAST_NAME
-----------  ----------
        102  De Haan
        104  Ernst
        106  Pataballa
        108  Greenberg
        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51960"/>
            <a:ext cx="56692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793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CEIL vs 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• CEIL(2.1) = 3  (이상의 최소 정수, 올림)
• CEIL(2.9) = 3  (항상 올림)
• FLOOR(2.1) = 2  (이하의 최대 정수, 내림)
• FLOOR(2.9) = 2  (항상 내림)
• CEIL(-2.1) = -2  (음수 주의!)
• FLOOR(-2.1) = -3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Oracle 데이터베이스에서 날짜 작업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10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66928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66928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날짜 저장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• 내부적으로 숫자(세기/연/월/일/시/분/초) 저장
• 기본 표시 형식: DD-MON-RR
  예) 17-JUN-03 = 2003년 6월 17일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RR 날짜 형식 (2자리 연도 → 세기 자동 판별)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76784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08960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현재 연도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3600" y="3108960"/>
            <a:ext cx="176784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9320" y="3108960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지정 날짜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1440" y="3108960"/>
            <a:ext cx="1767840" cy="47548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7160" y="3108960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RR 해석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84448"/>
            <a:ext cx="17678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584448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1995년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3600" y="3584448"/>
            <a:ext cx="17678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79320" y="3584448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27-OCT-95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01440" y="3584448"/>
            <a:ext cx="17678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7160" y="3584448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1995년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59936"/>
            <a:ext cx="176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059936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1995년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33600" y="4059936"/>
            <a:ext cx="176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79320" y="4059936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27-OCT-17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01440" y="4059936"/>
            <a:ext cx="176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7160" y="4059936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2017년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35424"/>
            <a:ext cx="17678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535424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2001년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3600" y="4535424"/>
            <a:ext cx="17678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79320" y="4535424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27-OCT-17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01440" y="4535424"/>
            <a:ext cx="1767840" cy="475488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47160" y="4535424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2017년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010912"/>
            <a:ext cx="176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010912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2001년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33600" y="5010912"/>
            <a:ext cx="176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79320" y="5010912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27-OCT-95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1440" y="5010912"/>
            <a:ext cx="1767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47160" y="5010912"/>
            <a:ext cx="167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1995년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1143000"/>
            <a:ext cx="576072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11704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SYSDATE &amp; 날짜 산술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600200"/>
            <a:ext cx="5486400" cy="3657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1691640"/>
            <a:ext cx="52120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-- 현재 날짜/시간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SYSDATE FROM dual;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날짜 산술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날짜 + 숫자  → 날짜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날짜 - 숫자  → 날짜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날짜 - 날짜  → 일수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 부서 90 사원 입사 후 주수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last_name,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(SYSDATE - hire_date)/7 AS WEEKS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WHERE  department_id = 90;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74634"/>
                </a:solidFill>
              </a:rPr>
              <a:t>시간 추가: 시간수 / 24를 더한다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Oracle 날짜 조작 함수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11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903220" cy="64579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4300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7540" y="1143000"/>
            <a:ext cx="2903220" cy="64579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3260" y="114300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예시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143000"/>
            <a:ext cx="2903220" cy="64579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4300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1143000"/>
            <a:ext cx="2903220" cy="645795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9700" y="114300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8879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8879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MONTHS_BETWEEN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77540" y="178879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23260" y="178879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MONTHS_BETWEEN('01-SEP-18','11-JAN-17')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78879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78879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19.68...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83980" y="178879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9700" y="178879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두 날짜 사이 월 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3459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43459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ADD_MONTHS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7540" y="243459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23260" y="243459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ADD_MONTHS('31-JAN-16', 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43459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43459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29-FEB-16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83980" y="243459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9700" y="243459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날짜에 월 수 추가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08038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08038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NEXT_DAY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7540" y="308038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3260" y="308038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NEXT_DAY('01-JUN-16','FRIDAY')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08038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08038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다음 금요일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83980" y="308038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9700" y="308038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다음 해당 요일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72618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72618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LAST_DAY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7540" y="372618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23260" y="372618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LAST_DAY('01-APR-16')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72618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72618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30-APR-16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83980" y="372618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29700" y="372618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해당 달 마지막 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37197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37197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ROUND(날짜)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7540" y="437197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3260" y="437197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ROUND(SYSDATE,'MONTH')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437197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437197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월 기준 반올림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3980" y="437197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29700" y="437197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15일 이후→다음달 1일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01777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501777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TRUNC(날짜)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77540" y="501777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23260" y="501777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TRUNC(SYSDATE,'MONTH')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501777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501777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해당달 1일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3980" y="5017770"/>
            <a:ext cx="2903220" cy="645795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29700" y="5017770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월 기준 절사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66356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566356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TRUNC(날짜)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7540" y="566356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23260" y="566356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TRUNC(SYSDATE,'YEAR')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0760" y="566356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26480" y="566356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1월 1일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3980" y="5663565"/>
            <a:ext cx="2903220" cy="645795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29700" y="5663565"/>
            <a:ext cx="2811780" cy="645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연도 기준 절사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날짜 함수 예제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1161288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113385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-- 날짜 함수 종합 예제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MONTHS_BETWEEN('01-SEP-18', '11-JAN-17'),  -- 19.677...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ADD_MONTHS('31-JAN-16', 1),               -- 29-FEB-16 (월말 처리)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NEXT_DAY('01-JUN-16', 'FRIDAY'),           -- 다음 금요일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LAST_DAY('01-APR-16')                      -- 30-APR-16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dual;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40"/>
            <a:ext cx="1161288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154680"/>
            <a:ext cx="113385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-- 날짜 ROUND / TRUNC (2018-06-29 기준)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SELECT ROUND(SYSDATE, 'MONTH'),  -- 01-JUL-18 (29일 → 올림)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ROUND(SYSDATE, 'YEAR'),   -- 01-JAN-18 (6월 → 그대로)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TRUNC(SYSDATE, 'MONTH'),  -- 01-JUN-18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       TRUNC(SYSDATE, 'YEAR')    -- 01-JAN-18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FROM   dual;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892040"/>
            <a:ext cx="116128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919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핵심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ADD_MONTHS('31-JAN', 1) = '28-FEB' — 월말 자동 조정     • MONTHS_BETWEEN(최신, 과거) = 양수
• ROUND(날짜, 'MONTH'): 15일 이상이면 다음달 1일     • TRUNC(날짜, 'MONTH'): 항상 해당달 1일
• NEXT_DAY는 NLS 언어 설정에 따라 요일 이름이 달라짐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함수 비교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3949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ROUND vs TRUNC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521208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49377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0FA7B"/>
                </a:solidFill>
                <a:latin typeface="Consolas"/>
              </a:rPr>
              <a:t>값       ROUND(,0)  TRUNC(,0)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-----    ---------  ---------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2.3  →      2          2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2.5  →      3          2  ← 차이!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2.9  →      3          2</a:t>
            </a:r>
          </a:p>
          <a:p>
            <a:r>
              <a:rPr sz="1200">
                <a:solidFill>
                  <a:srgbClr val="50FA7B"/>
                </a:solidFill>
                <a:latin typeface="Consolas"/>
              </a:rPr>
              <a:t>-2.5 →     -3         -2  ← 차이!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• ROUND: 반올림 (≥5 → 올림)
• TRUNC: 절사 (무조건 버림)
• 음수에서도 TRUNC는 0 방향으로 절사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CEIL vs FLOOR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749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• CEIL(2.1)  = 3   FLOOR(2.1)  = 2
• CEIL(-2.1) = -2  FLOOR(-2.1) = -3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143000"/>
            <a:ext cx="5943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143000"/>
            <a:ext cx="59436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17043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날짜 산술 vs 날짜 함수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6459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날짜 산술: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2011680"/>
            <a:ext cx="2834640" cy="3429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0116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연산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011680"/>
            <a:ext cx="2834640" cy="3429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0116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354580"/>
            <a:ext cx="2834640" cy="34290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3545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 + 숫자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354580"/>
            <a:ext cx="2834640" cy="34290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23545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697480"/>
            <a:ext cx="2834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6974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 - 숫자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2697480"/>
            <a:ext cx="2834640" cy="3429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26974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40380"/>
            <a:ext cx="2834640" cy="34290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0403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 - 날짜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040380"/>
            <a:ext cx="2834640" cy="34290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3040380"/>
            <a:ext cx="2743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일수(NUMBER)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3520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날짜 함수: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3886200"/>
            <a:ext cx="28346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함수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3886200"/>
            <a:ext cx="28346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1540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반환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4251960"/>
            <a:ext cx="283464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MONTHS_BETWEEN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4251960"/>
            <a:ext cx="283464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월 수(NUMBER)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461772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076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ADD_MONTHS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461772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154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35040" y="4983480"/>
            <a:ext cx="283464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8076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NEXT_DAY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69680" y="4983480"/>
            <a:ext cx="283464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534924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LAST_DAY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5349240"/>
            <a:ext cx="2834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1540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5715000"/>
            <a:ext cx="283464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076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ROUND/TRUNC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5715000"/>
            <a:ext cx="2834640" cy="3657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1540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단원 요약 &amp; Practice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Oracle Database 19c SQL Workshop —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14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68580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685800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이 단원에서 배운 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3291840" cy="6705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1600200"/>
            <a:ext cx="3291840" cy="6705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60020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주요 함수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70760"/>
            <a:ext cx="3291840" cy="6705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27076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대소문자 변환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270760"/>
            <a:ext cx="3291840" cy="6705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7076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LOWER  /  UPPER  /  INITCAP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41320"/>
            <a:ext cx="32918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94132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문자 조작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941320"/>
            <a:ext cx="32918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294132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CONCAT / SUBSTR / LENGTH / INSTR
LPAD / RPAD / TRIM / REPLACE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11880"/>
            <a:ext cx="3291840" cy="6705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61188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숫자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611880"/>
            <a:ext cx="3291840" cy="6705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61188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 / TRUNC / CEIL / FLOOR / MOD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82440"/>
            <a:ext cx="32918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28244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282440"/>
            <a:ext cx="3291840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428244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SYSDATE / MONTHS_BETWEEN
ADD_MONTHS / NEXT_DAY / LAST_DAY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953000"/>
            <a:ext cx="3291840" cy="6705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95300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날짜 반올림/절사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4953000"/>
            <a:ext cx="3291840" cy="670560"/>
          </a:xfrm>
          <a:prstGeom prst="rect">
            <a:avLst/>
          </a:prstGeom>
          <a:solidFill>
            <a:srgbClr val="F8F9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953000"/>
            <a:ext cx="3200400" cy="67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ROUND(date, fmt) / TRUNC(date, fmt)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15000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단일행 함수는 중첩 가능 — 가장 안쪽부터 평가
• WHERE 절에서도 함수 사용 가능
• 날짜 산술: 날짜-날짜 = 일수 / 날짜±숫자 = 날짜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1143000"/>
            <a:ext cx="45720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1143000"/>
            <a:ext cx="4572000" cy="4114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11704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Practice 4 — 개요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18013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1755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1691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SYSDATE를 표시하는 쿼리 작성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24871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24414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3774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문자 함수로 데이터 조작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1729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31272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063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숫자 함수로 급여 가공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60" y="38587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38130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8120" y="37490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날짜 함수로 근속 월수 계산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5445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52360" y="4498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18120" y="4434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중첩 함수 활용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5230368"/>
            <a:ext cx="274320" cy="2743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5184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18120" y="51206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함수를 WHERE 절에 적용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
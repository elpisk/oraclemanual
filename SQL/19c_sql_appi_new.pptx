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Oracle Database 19c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정규 표현식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5A623"/>
                </a:solidFill>
              </a:rPr>
              <a:t>Regular Expression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Appendix 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REGEXP_LIKE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REGEXP_REPLACE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343400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4398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REGEXP_INSTR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REGEXP_SUBSTR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REGEXP_COUNT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818888"/>
            <a:ext cx="2011680" cy="365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487375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메타문자 &amp; 서브표현식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40080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Oracle 10g  ·  POSIX 정규 표현식  ·  CHECK 제약 조건 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정규 표현식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정규 표현식 개념과 Oracle 지원 함수(REGEXP_*) 5종 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80467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80467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87782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26187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REGEXP_LIKE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1627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WHERE 절에서 패턴 일치 여부 검사 — LIKE의 강력한 대체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REGEXP_REPLACE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패턴에 일치하는 부분을 다른 문자열로 교체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49631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249631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256946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295351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REGEXP_INSTR / SUBSTR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331927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패턴 위치 반환 (INSTR) · 패턴 일치 문자열 추출 (SUBSTR)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REGEXP_COUNT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패턴 발생 횟수 계산 (Oracle 11g 이상)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4187952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4187952"/>
            <a:ext cx="164592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59" y="42611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28090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4645152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서브표현식 &amp;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50109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서브표현식(그룹) 활용 및 CHECK 제약 조건에 정규 표현식 적용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정규 표현식 개요 — LIKE vs REGEXP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정규 표현식: 문자열 패턴을 정의하는 형식 언어 — Oracle 10g부터 POSIX 기반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48640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기존 LIKE (제한적)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28800"/>
            <a:ext cx="5486400" cy="1024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901952"/>
            <a:ext cx="5266944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단순 패턴만 가능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phone LIKE '010-%'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name LIKE 'K%'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% : 임의 개수 문자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_ : 임의 한 문자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417320"/>
            <a:ext cx="576072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1417320"/>
            <a:ext cx="57607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472184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REGEXP_LIKE (강력)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1828800"/>
            <a:ext cx="5760720" cy="1024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01952"/>
            <a:ext cx="5541264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복잡한 패턴 표현 가능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REGEXP_LIKE(phone,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'^010-[0-9]{4}-[0-9]{4}$')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REGEXP_LIKE(email,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'^[[:alnum:]]+@.+\.[[:alpha:]]{2,}$')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17520"/>
            <a:ext cx="1164031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72384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Oracle REGEXP 함수 5종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10712"/>
            <a:ext cx="2240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410712"/>
            <a:ext cx="224028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4564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REGEXP_LIKE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856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패턴 일치 여부
(WHERE 절)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62272"/>
            <a:ext cx="2057400" cy="347472"/>
          </a:xfrm>
          <a:prstGeom prst="rect">
            <a:avLst/>
          </a:prstGeom>
          <a:solidFill>
            <a:srgbClr val="F8F9FB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5079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74634"/>
                </a:solidFill>
              </a:rPr>
              <a:t>반환: TRUE/FALSE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64608"/>
            <a:ext cx="20574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937760"/>
            <a:ext cx="1837943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REGEXP_*(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col,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'pattern')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410712"/>
            <a:ext cx="2240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51760" y="3410712"/>
            <a:ext cx="22402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4564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REGEXP_REPLACE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7856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패턴 교체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462272"/>
            <a:ext cx="2057400" cy="347472"/>
          </a:xfrm>
          <a:prstGeom prst="rect">
            <a:avLst/>
          </a:prstGeom>
          <a:solidFill>
            <a:srgbClr val="F8F9F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45079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반환: 교체된 문자열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864608"/>
            <a:ext cx="20574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2928" y="4937760"/>
            <a:ext cx="1837943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REGEXP_*(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col,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'pattern')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410712"/>
            <a:ext cx="2240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3410712"/>
            <a:ext cx="22402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4564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REGEXP_INSTR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7856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패턴 위치 반환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4462272"/>
            <a:ext cx="2057400" cy="347472"/>
          </a:xfrm>
          <a:prstGeom prst="rect">
            <a:avLst/>
          </a:prstGeom>
          <a:solidFill>
            <a:srgbClr val="F8F9FB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45079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반환: 숫자(위치)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4864608"/>
            <a:ext cx="20574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4937760"/>
            <a:ext cx="1837943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REGEXP_*(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col,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'pattern')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3410712"/>
            <a:ext cx="2240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06640" y="3410712"/>
            <a:ext cx="2240280" cy="3200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34564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REGEXP_SUBSTR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37856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패턴 일치 부분 추출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0" y="4462272"/>
            <a:ext cx="2057400" cy="347472"/>
          </a:xfrm>
          <a:prstGeom prst="rect">
            <a:avLst/>
          </a:prstGeom>
          <a:solidFill>
            <a:srgbClr val="F8F9FB"/>
          </a:solidFill>
          <a:ln w="63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45079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C3A91"/>
                </a:solidFill>
              </a:rPr>
              <a:t>반환: 부분 문자열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0" y="4864608"/>
            <a:ext cx="20574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07808" y="4937760"/>
            <a:ext cx="1837943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REGEXP_*(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col,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'pattern')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410712"/>
            <a:ext cx="22402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84080" y="3410712"/>
            <a:ext cx="224028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0" y="34564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REGEXP_COUNT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3785615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패턴 발생 횟수
(11g+)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4462272"/>
            <a:ext cx="2057400" cy="347472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40" y="45079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반환: 숫자(횟수)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20" y="4864608"/>
            <a:ext cx="205740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85248" y="4937760"/>
            <a:ext cx="1837943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REGEXP_*(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col,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'pattern')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주요 메타문자 (Metacharacters)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정규 표현식 메타문자 — 특별한 의미를 가진 문자들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463040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메타문자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463040"/>
            <a:ext cx="2304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146304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2880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892807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92807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임의의 문자 하나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892807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a.c → abc, aXc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77440"/>
            <a:ext cx="548640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4144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44144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앞 패턴 0회 이상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44144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ca* → c, ca, caa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2608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90087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990087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앞 패턴 1회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990087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ca+ → ca, caa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74720"/>
            <a:ext cx="548640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538727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538727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0회 또는 1회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538727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colo u?r → color, colour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2336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08736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^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08736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시작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08736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^Hello → 'Hello...'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572000"/>
            <a:ext cx="548640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63600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63600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문자열 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63600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end$ → '...end'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18464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|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18464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 연산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8464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cat|dog → cat 또는 dog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669280"/>
            <a:ext cx="548640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733288"/>
            <a:ext cx="10058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74634"/>
                </a:solidFill>
              </a:rPr>
              <a:t>\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73328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이스케이프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73328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\. → 마침표 자체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53912" y="1417320"/>
            <a:ext cx="576072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4" y="146304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메타문자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44383" y="1463040"/>
            <a:ext cx="202996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93224" y="1463040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53912" y="1828800"/>
            <a:ext cx="5760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5352" y="1892807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[]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1231" y="1892807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문자 클래스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20072" y="1892807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[aeiou] → 모음 하나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53912" y="2377440"/>
            <a:ext cx="5760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244144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[^]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244144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부정 문자 클래스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0072" y="244144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[^0-9] → 숫자 아닌 것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53912" y="2926080"/>
            <a:ext cx="5760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7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{n}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71231" y="2990087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정확히 n회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0072" y="2990087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[0-9]{4} → 숫자 4자리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3912" y="3474720"/>
            <a:ext cx="5760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7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{n,}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71231" y="3538727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n회 이상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20072" y="3538727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[a-z]{2,} → 소문자 2+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53912" y="4023360"/>
            <a:ext cx="5760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408736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{n,m}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1231" y="408736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n~m회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20072" y="408736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[A-Z]{2,5} → 대문자 2~5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53912" y="4572000"/>
            <a:ext cx="5760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463600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()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71231" y="463600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서브표현식(그룹)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20072" y="463600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(ab)+ → ab, abab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53912" y="5120640"/>
            <a:ext cx="5760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5352" y="518464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[:alpha:]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71231" y="518464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알파벳 [a-zA-Z]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20072" y="518464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[[:alpha:]]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53912" y="5669280"/>
            <a:ext cx="5760720" cy="5486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45352" y="573328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[:digit:]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71231" y="5733288"/>
            <a:ext cx="2057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[0-9]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20072" y="573328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[[:digit:]]{3}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POSIX 문자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POSIX 표준 문자 클래스 — 대괄호 안에서 [: :] 형식으로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137160" cy="1170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4813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[:alpha:]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152704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[a-zA-Z]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85623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알파벳 (대문자+소문자)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4884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'^[[:alpha:]]+$')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137160" cy="11704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4813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4634"/>
                </a:solidFill>
              </a:rPr>
              <a:t>[:digit:]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152704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[0-9]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85623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숫자 0~9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14884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'^[[:digit:]]+$')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79191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79191"/>
            <a:ext cx="137160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7431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[:alnum:]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39" y="27889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[a-zA-Z0-9]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118103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알파벳+숫자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410711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'^[[:alnum:]]+$')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679191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679191"/>
            <a:ext cx="137160" cy="117043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274319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3A91"/>
                </a:solidFill>
              </a:rPr>
              <a:t>[:upper:]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27889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[A-Z]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118103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대문자 알파벳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410711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'^[[:upper:]]')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941063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941063"/>
            <a:ext cx="137160" cy="1170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005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[:lower:]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39" y="4050791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[a-z]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4379975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소문자 알파벳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672583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'^[[:lower:]]+$')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941063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3941063"/>
            <a:ext cx="137160" cy="1170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0050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[:space:]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4050791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스페이스, 탭, 개행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9672" y="4379975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공백 문자류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4672583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REGEXP_REPLACE(col, '[[:space:]]+', ' ')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202936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5202936"/>
            <a:ext cx="137160" cy="117043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526694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96"/>
                </a:solidFill>
              </a:rPr>
              <a:t>[:punct:]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39" y="5312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!.,;: 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56418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구두점 문자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5934455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REGEXP_COUNT(col, '[[:punct:]]')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202936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5202936"/>
            <a:ext cx="137160" cy="1170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9672" y="526694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[:print:]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59" y="5312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= 출력 가능 문자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9672" y="56418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공백 포함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9672" y="5934455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REGEXP_LIKE(col, '^[[:print:]]+$')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REGEXP_LIKE — 패턴 일치 행 필터링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REGEXP_LIKE(source, pattern [, match_param]) — WHERE 절에서 TRUE/FALSE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0292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match_parameter 옵션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828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'i'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288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대소문자 구분 없음 (case-insensitive)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0848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'c'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08483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대소문자 구분 (기본값)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3408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'n'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4086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. 이 개행 문자도 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596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'm'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596896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^ $ 이 각 줄 시작/끝에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17520"/>
            <a:ext cx="11640312" cy="3246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090672"/>
            <a:ext cx="11420856" cy="30998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알파벳만으로 구성된 이름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REGEXP_LIKE(first_name, '^[[:alpha:]]+$')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대문자 시작 + 소문자 이름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REGEXP_LIKE(last_name, '^[[:upper:]][[:lower:]]+$')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전화번호 형식: 515.XXX.XXXX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REGEXP_LIKE(phone_number, '^515\.[0-9]{3}\.[0-9]{4}$')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이메일 유효성 (대소문자 무관)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REGEXP_LIKE(email,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'^[[:alnum:]._-]+@[[:alnum:].-]+\.[[:alpha:]]{2,}$', 'i')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숫자가 포함된 이메일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REGEXP_LIKE(email, '[[:digit:]]')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job_id: 대문자2 + _ + 대문자3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REGEXP_LIKE(job_id, '^[[:upper:]]{2}_[[:upper:]]{3}$')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REGEXP_REPLACE — 패턴 교체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REGEXP_REPLACE(source, pattern [, replace [, pos [, occur [, match_param]]]])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463040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463040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463040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기본값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10512"/>
            <a:ext cx="116403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86537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replace_string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86537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교체 문자열 (역참조 \1 \2 가능)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6537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</a:rPr>
              <a:t>NULL → 패턴 삭제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21992"/>
            <a:ext cx="11640312" cy="41148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7685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2768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검색 시작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2768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33472"/>
            <a:ext cx="116403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68833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occurrence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6883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교체할 발생 번호 (0=전체)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8833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44952"/>
            <a:ext cx="11640312" cy="41148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09981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4634"/>
                </a:solidFill>
              </a:rPr>
              <a:t>match_param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09981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일치 옵션 (i/c/n/m)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09981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</a:rPr>
              <a:t>'c'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93008"/>
            <a:ext cx="11640312" cy="2880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566160"/>
            <a:ext cx="11420856" cy="2734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-- 1. 구분자 변환: 마침표 → 하이픈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REGEXP_REPLACE(phone_number, '\.', '-') FROM employees;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-- 515.123.4567 → 515-123-4567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-- 2. 연속 공백을 하나로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REGEXP_REPLACE('Hello    World', ' {2,}', ' ')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Hello    World → Hello World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-- 3. 날짜 재구성 (역참조 \1 \2 \3)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REGEXP_REPLACE('12/25/2024',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'([0-9]{2})/([0-9]{2})/([0-9]{4})', '\3-\1-\2')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-- 12/25/2024 → 2024-12-25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-- 4. 숫자 이외 문자 제거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REGEXP_REPLACE(phone_number, '[^[:digit:]]', '') FROM employees;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-- 515.123.4567 → 5151234567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-- 5. HTML 태그 제거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REGEXP_REPLACE('&lt;b&gt;Hello&lt;/b&gt; &lt;i&gt;World&lt;/i&gt;', '&lt;[^&gt;]+&gt;', '')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Hello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REGEXP_INSTR — 패턴 위치 반환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REGEXP_INSTR(source, pattern [, pos [, occur [, return_opt [, match_param]]]])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30352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3035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인수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47088"/>
            <a:ext cx="5029200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1109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24942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검색 시작 위치 (기본: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70048"/>
            <a:ext cx="5029200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73405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occurrence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0723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몇 번째 발생을 찾을지 (기본: 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93008"/>
            <a:ext cx="5029200" cy="749808"/>
          </a:xfrm>
          <a:prstGeom prst="rect">
            <a:avLst/>
          </a:prstGeom>
          <a:solidFill>
            <a:srgbClr val="F8F9FB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557015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return_opt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8953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0=시작 위치, 1=끝 다음 위치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434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74634"/>
                </a:solidFill>
              </a:rPr>
              <a:t>패턴 없음 → 0 반환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417320"/>
            <a:ext cx="606247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472184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예제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828800"/>
            <a:ext cx="6062472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1901952"/>
            <a:ext cx="5843016" cy="442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처음 숫자 위치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REGEXP_INSTR('abc123def', '[[:digit:]]')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  -- 결과: 4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두 번째 숫자 그룹 위치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REGEXP_INSTR('abc123def456', '[[:digit:]]+', 1, 2)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  -- 결과: 10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이메일 @ 위치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email, REGEXP_INSTR(email, '@') AS at_pos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 WHERE ROWNUM &lt;= 5;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전화번호 두 번째 점 위치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REGEXP_INSTR(phone_number, '\.', 1, 2) AS dot2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 WHERE ROWNUM &lt;= 5;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return_option=1: 끝 다음 위치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REGEXP_INSTR('abcXYZdef', 'XYZ', 1, 1, 1)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  -- 결과: 7 (XYZ 끝+1)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REGEXP_SUBSTR — 패턴 일치 문자열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REGEXP_SUBSTR(source, pattern [, pos [, occur [, match_param [, subexpr]]]])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303520" cy="914400"/>
          </a:xfrm>
          <a:prstGeom prst="rect">
            <a:avLst/>
          </a:prstGeom>
          <a:solidFill>
            <a:srgbClr val="FD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813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6번째 인수 subexpr: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48132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추출할 서브표현식(괄호 그룹) 번호 지정 (0=전체 패턴)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79222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예: 서브표현식 1 → 첫 번째 () 그룹에 일치하는 문자열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11640312" cy="4023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496312"/>
            <a:ext cx="11420856" cy="3877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첫 번째 숫자 그룹(지역번호) 추출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REGEXP_SUBSTR(phone_number, '[[:digit:]]+', 1, 1) AS area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 WHERE ROWNUM &lt;= 5;  -- 515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쉼표 구분 문자열에서 두 번째 항목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REGEXP_SUBSTR('Apple,Banana,Cherry', '[^,]+', 1, 2)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Banana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이메일 로컬 파트 추출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REGEXP_SUBSTR(email, '^[^@]+') AS local_part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서브표현식으로 날짜 분리 (6번째 인수)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REGEXP_SUBSTR('2024-12-25',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'([0-9]{4})-([0-9]{2})-([0-9]{2})', 1, 1, NULL, 1) AS yr,  -- 2024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REGEXP_SUBSTR('2024-12-25',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'([0-9]{4})-([0-9]{2})-([0-9]{2})', 1, 1, NULL, 2) AS mo,  -- 12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REGEXP_SUBSTR('2024-12-25',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'([0-9]{4})-([0-9]{2})-([0-9]{2})', 1, 1, NULL, 3) AS dy   -- 25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공백으로 구분된 세 번째 단어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REGEXP_SUBSTR('one two three four', '[^ ]+', 1, 3) 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three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REGEXP_COUNT — 패턴 발생 횟수 (Oracle 11g+)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REGEXP_COUNT(source, pattern [, position [, match_param]]) — 패턴 발생 횟수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02920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0292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활용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2880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89280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특정 문자 개수 세기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9456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'aababab'에서 'ab': 3회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6032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6243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마침표 개수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92608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phone에서 '.': 정확히 2개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3558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모음 개수 통계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5760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last_name에서 [aeiouAEIOU]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2336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0873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특정 단어 출현 빈도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38912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대소문자 무관 카운트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75488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8188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조건부 필터링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12064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REGEXP_COUNT = 0 (없음)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8640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5504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품질 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85216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숫자 개수로 비밀번호 강도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1417320"/>
            <a:ext cx="6428232" cy="4892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6128" y="1490472"/>
            <a:ext cx="6208776" cy="4745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숫자 개수 세기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REGEXP_COUNT('abc123def456', '[[:digit:]]')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  -- 결과: 6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phone_number에 점이 2개인 직원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first_name, phone_number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REGEXP_COUNT(phone_number, '\.') = 2;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last_name에서 모음 개수 (대소문자 무관)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REGEXP_COUNT(last_name, '[aeiouAEIOU]') AS vowels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vowels DESC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5 ROWS ONLY;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특정 단어 출현 횟수 (대소문자 무관)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REGEXP_COUNT(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'The quick brown fox. The fox jumped.',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'the', 1, 'i') AS the_count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  -- 결과: 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비밀번호 강도: 숫자 2개 이상 포함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CASE WHEN REGEXP_COUNT(password, '[[:digit:]]') &gt;= 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THEN '강함' ELSE '약함' END AS strength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accounts;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서브표현식 — 그룹화 &amp; 역참조 (Back Reference)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괄호 ()로 패턴 그룹화 — REPLACE에서 \1 \2로 역참조, SUBSTR에서 서브표현식 번호로 추출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777240"/>
          </a:xfrm>
          <a:prstGeom prst="rect">
            <a:avLst/>
          </a:prstGeom>
          <a:solidFill>
            <a:srgbClr val="D6E8F8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8132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역참조(Back Reference): REGEXP_REPLACE의 replace_string에서 \1, \2, ...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81051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REGEXP_SUBSTR의 6번째 인수: 추출할 서브표현식 번호 (1번째, 2번째, 3번째 그룹)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0280"/>
            <a:ext cx="11640312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313432"/>
            <a:ext cx="11420856" cy="4151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예1. 날짜 형식 재구성 MM/DD/YYYY → YYYY-MM-DD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     \1=MM  \2=DD  \3=YYYY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REGEXP_REPLACE('12/25/2024',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'([0-9]{2})/([0-9]{2})/([0-9]{4})',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'\3-\1-\2') AS iso_date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2024-12-25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예2. 이름 순서 변환: 'John Smith' → 'Smith, John'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REGEXP_REPLACE('John Smith',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'([[:alpha:]]+) ([[:alpha:]]+)',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'\2, \1') AS reversed_name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Smith, John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예3. REGEXP_SUBSTR + 서브표현식 번호로 각 그룹 추출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REGEXP_SUBSTR('Phone: 010-1234-5678',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'([0-9]{3})-([0-9]{4})-([0-9]{4})', 1, 1, NULL, 2) AS mid_num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dual;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결과: 1234 (2번째 서브표현식)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예4. 전화번호 마지막 4자리 마스킹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REGEXP_REPLACE(phone_number,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'([0-9]{3})\.([0-9]{3})\.([0-9]{4})',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'\1.\2.****') AS masked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employees WHERE ROWNUM &lt;= 5;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CHECK 제약 조건에 정규 표현식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REGEXP_LIKE를 CHECK 제약 조건에 사용 — 복잡한 형식 검증을 데이터베이스 수준에서 강제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4663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90472"/>
            <a:ext cx="11420856" cy="4517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CREATE TABLE contacts_new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id       NUMBER          GENERATED ALWAYS AS IDENTITY PRIMARY KEY,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name     VARCHAR2(100)   NOT NULL,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-- 한국 휴대폰: 010-XXXX-XXXX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phone    VARCHAR2(20)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CONSTRAINT chk_phone CHECK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REGEXP_LIKE(phone, '^010-[0-9]{4}-[0-9]{4}$')),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-- 이메일 형식 검증 (대소문자 무관)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email    VARCHAR2(200)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CONSTRAINT chk_email CHECK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REGEXP_LIKE(email, '^[[:alnum:]._%-]+@[[:alnum:].-]+\.[[:alpha:]]{2,}$', 'i')),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-- 우편번호: XXXXX 또는 XXXXX-XXXX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zipcode  VARCHAR2(10)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CONSTRAINT chk_zip CHECK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REGEXP_LIKE(zipcode, '^[0-9]{5}(-[0-9]{4})?$'))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성공: 올바른 데이터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INSERT INTO contacts_new (name, phone, email, zipcode)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VALUES ('Kim', '010-1234-5678', 'kim@oracle.com', '12345');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실패: 잘못된 전화번호 형식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INSERT INTO contacts_new (name, phone, email, zipcode)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VALUES ('Lee', '02-123-4567', 'lee@oracle.com', '12345');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ORA-02290: check constraint (CHK_PHONE) violated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6144768"/>
            <a:ext cx="11640312" cy="502920"/>
          </a:xfrm>
          <a:prstGeom prst="rect">
            <a:avLst/>
          </a:prstGeom>
          <a:solidFill>
            <a:srgbClr val="D6E8F8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217920"/>
            <a:ext cx="11247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CHECK + REGEXP_LIKE 조합 → 애플리케이션 레이어에 의존하지 않고 DB 수준에서 데이터 품질 보장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실용 정규 표현식 패턴 모음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Appendix I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정규 표현식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777240"/>
            <a:ext cx="11640312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자주 사용하는 검증 패턴 — REGEXP_LIKE, REGEXP_REPLACE에 바로 적용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55778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47218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한국 휴대폰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3794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^010-[0-9]{4}-[0-9]{4}$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854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010-1234-5678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557784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7218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이메일 주소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83794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^[[:alnum:]._-]+@[[:alnum:].-]+\.[[:alpha:]]{2,}$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854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user@oracle.com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79191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79191"/>
            <a:ext cx="557784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3405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숫자만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09981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^[[:digit:]]+$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447287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1234567890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679191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679191"/>
            <a:ext cx="5577840" cy="3200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73405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알파벳+숫자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09981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^[[:alnum:]]+$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447287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Admin123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41063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941063"/>
            <a:ext cx="557784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995927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날짜 YYYY-MM-DD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3616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^[0-9]{4}-(0[1-9]|1[0-2])-(0[1-9]|[12][0-9]|3[01])$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70915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2024-12-25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941063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941063"/>
            <a:ext cx="557784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995927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카드번호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43616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^[0-9]{4}-[0-9]{4}-[0-9]{4}-[0-9]{4}$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70915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1234-5678-9012-3456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02936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202936"/>
            <a:ext cx="557784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5257799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HTML 태그 제거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623559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REGEXP_REPLACE(col, '&lt;[^&gt;]+&gt;', '')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5971031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→ 태그 없는 텍스트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202936"/>
            <a:ext cx="557784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5202936"/>
            <a:ext cx="55778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5257799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공백 정리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5623559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1E2E"/>
                </a:solidFill>
              </a:rPr>
              <a:t>REGEXP_REPLACE(col, '[[:space:]]+', ' ')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5971031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</a:rPr>
              <a:t>예: → 단일 공백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5A623"/>
                </a:solidFill>
              </a:rPr>
              <a:t>Appendix I — 정규 표현식 지원 (Regular Expression Support)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46304" cy="1508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4634"/>
                </a:solidFill>
              </a:rPr>
              <a:t>REGEXP_LIKE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WHERE 절 패턴 일치 필터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865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REGEXP_LIKE(col, 'pattern', 'i')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883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대소문자 구분 'i' 옵션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727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72768"/>
            <a:ext cx="146304" cy="1508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REGEXP_REPLACE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0848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패턴 교체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3865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REGEXP_REPLACE(col, pat, rep)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883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역참조 \1 \2 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727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572768"/>
            <a:ext cx="146304" cy="1508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16642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REGEXP_INSTR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0848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패턴 위치 반환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3865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REGEXP_INSTR(col, pat, 1,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6883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2번째 발생 위치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1729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172968"/>
            <a:ext cx="146304" cy="1508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32644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3A91"/>
                </a:solidFill>
              </a:rPr>
              <a:t>REGEXP_SUBSTR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6850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패턴 문자열 추출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9867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REGEXP_SUBSTR(col, pat, 1, 1, NULL,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42885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서브표현식 1번 추출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729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172968"/>
            <a:ext cx="146304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2644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REGEXP_COUNT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850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패턴 발생 횟수 (11g+)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9867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REGEXP_COUNT(col, '[[:digit:]]')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2885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숫자 개수 세기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172968"/>
            <a:ext cx="5577840" cy="1508760"/>
          </a:xfrm>
          <a:prstGeom prst="rect">
            <a:avLst/>
          </a:prstGeom>
          <a:solidFill>
            <a:srgbClr val="28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3172968"/>
            <a:ext cx="146304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32644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CHECK 제약 &amp; 메타문자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368503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CHECK(REGEXP_LIKE(col, 'pattern'))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98678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^ $ . * + ? [] {} () | \\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42885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[:alpha:] [:digit:] [:alnum:]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492240"/>
            <a:ext cx="112745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Oracle Database 19c SQL Workshop  —  Appendix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
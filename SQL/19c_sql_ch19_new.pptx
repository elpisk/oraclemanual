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2560320"/>
            <a:ext cx="119603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5A623"/>
                </a:solidFill>
              </a:rPr>
              <a:t>Oracle Database 19c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고급 쿼리를 이용한
데이터 조작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028090"/>
                </a:solidFill>
              </a:rPr>
              <a:t>Manipulating Data Using Advanced Queries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Chapter 19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029200"/>
            <a:ext cx="73152" cy="256032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01091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DEFAULT 키워드 (INSERT / UPDATE)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413248"/>
            <a:ext cx="73152" cy="256032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다중 테이블 INSERT (ALL / FIRST / Pivoting)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797296"/>
            <a:ext cx="73152" cy="256032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7790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MERGE 문 (병합 DML)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6181344"/>
            <a:ext cx="73152" cy="256032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16305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FLASHBACK TABLE / Flashback Query / Flashback Version Query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6629400"/>
            <a:ext cx="11960352" cy="228600"/>
          </a:xfrm>
          <a:prstGeom prst="rect">
            <a:avLst/>
          </a:prstGeom>
          <a:solidFill>
            <a:srgbClr val="0F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19  |  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— Chapter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647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A623"/>
                </a:solidFill>
              </a:rPr>
              <a:t>고급 쿼리를 이용한 데이터 조작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143000"/>
            <a:ext cx="457200" cy="475488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612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1143000"/>
            <a:ext cx="10789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1887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INSERT / UPDATE 문에서 명시적 DEFAULT 값을 지정한다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801368"/>
            <a:ext cx="457200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81965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1801368"/>
            <a:ext cx="10789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184708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다중 테이블 INSERT 문의 기능과 4가지 유형을 설명한다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459736"/>
            <a:ext cx="457200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47802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2459736"/>
            <a:ext cx="10789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2505456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Unconditional INSERT ALL로 모든 대상에 동시 삽입한다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118104"/>
            <a:ext cx="457200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1363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3118104"/>
            <a:ext cx="10789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163824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Conditional INSERT ALL / FIRST로 조건 기반 분류 삽입을 수행한다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776472"/>
            <a:ext cx="457200" cy="475488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794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3776472"/>
            <a:ext cx="10789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3822191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Pivoting INSERT로 열 기반 데이터를 행 기반으로 변환한다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434840"/>
            <a:ext cx="457200" cy="47548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453127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0" y="4434840"/>
            <a:ext cx="10789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4480559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MERGE 문으로 UPDATE · INSERT · DELETE를 한 번에 처리한다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093208"/>
            <a:ext cx="457200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1114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0" y="5093208"/>
            <a:ext cx="10789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13892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FLASHBACK TABLE로 테이블을 특정 시점으로 복구한다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751576"/>
            <a:ext cx="457200" cy="47548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7698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⑧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5840" y="5751576"/>
            <a:ext cx="10789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" y="5797296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Flashback Query (AS OF)와 Flashback Version Query (VERSIONS BETWEEN)를 사용한다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명시적 DEFAULT 값 (Explicit Default Values)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19  |  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— Chapter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647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A623"/>
                </a:solidFill>
              </a:rPr>
              <a:t>고급 쿼리를 이용한 데이터 조작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32"/>
                </a:solidFill>
              </a:rPr>
              <a:t>열에 정의된 기본값을 INSERT · UPDATE 시 명시적으로 적용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54480"/>
            <a:ext cx="5394960" cy="36576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8191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INSERT에서 DEFAULT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20240"/>
            <a:ext cx="5394960" cy="14173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011680"/>
            <a:ext cx="5120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INSERT INTO deptm3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(department_id, department_name, manager_id)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VALUES (300, 'Engineering', DEFAULT);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-- manager_id의 DEFAULT 값이 삽입됨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554480"/>
            <a:ext cx="539496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8191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UPDATE에서 DEFAULT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920240"/>
            <a:ext cx="5394960" cy="14173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11680"/>
            <a:ext cx="5120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UPDATE deptm3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SET    manager_id = DEFAULT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WHERE  department_id = 10;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-- DEFAULT 값으로 재설정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554480"/>
            <a:ext cx="182880" cy="1828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474720"/>
            <a:ext cx="5669280" cy="9601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538727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DEFAULT 없이 열 생략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9319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열 목록에서 제외해도 DEFAULT 적용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474720"/>
            <a:ext cx="5669280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538727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DEFAULT 키워드 명시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9319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VALUES 절에 DEFAULT 직접 입력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572000"/>
            <a:ext cx="5669280" cy="9601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63600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DEFAULT 미정의 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0292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DEFAULT 사용 시 NULL 적용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4572000"/>
            <a:ext cx="5669280" cy="96012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463600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열 수준 제어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0292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기본값 적용 시점을 직접 결정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다중 테이블 INSERT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19  |  4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— Chapter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647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A623"/>
                </a:solidFill>
              </a:rPr>
              <a:t>고급 쿼리를 이용한 데이터 조작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하나의 SELECT 결과를 여러 테이블에 동시 삽입 — ETL·DW 환경에 최적화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08760"/>
            <a:ext cx="11430000" cy="1920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600200"/>
            <a:ext cx="11155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INSERT { ALL | FIRST }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[ WHEN condition THEN ]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INTO target_table [ (col_list) ] [ VALUES (val_list) ]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...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[ ELSE INTO target_table ... ]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SELECT ...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FROM   source_table;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66160"/>
            <a:ext cx="5577840" cy="123444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63931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①  Unconditional 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06908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조건 없이 모든 INTO 절에 삽입
→ 항상 모든 대상에 행 추가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566160"/>
            <a:ext cx="5577840" cy="1234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63931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②  Conditional 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06908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WHEN 조건 만족하는 모든 절에 삽입
→ 중복 삽입 허용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937760"/>
            <a:ext cx="5577840" cy="1234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01091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③  Conditional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44068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첫 번째 만족 조건에만 삽입
→ 상호 배타적 분류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4937760"/>
            <a:ext cx="5577840" cy="123444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501091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④  Pivoting INSERT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44068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열 기반 → 행 기반 데이터 변환
→ 비정규화 데이터 정규화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Unconditional INSERT 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19  |  5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— Chapter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647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A623"/>
                </a:solidFill>
              </a:rPr>
              <a:t>고급 쿼리를 이용한 데이터 조작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조건 없이 모든 INTO 절에 소스 행을 삽입 — 중복 복사 허용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08760"/>
            <a:ext cx="5943600" cy="36576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27048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예제: employee_id &gt; 200 직원 → 두 테이블 동시 삽입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74519"/>
            <a:ext cx="5943600" cy="2834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965960"/>
            <a:ext cx="5669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INSERT ALL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INTO sal_history VALUES(EMPID, HIREDATE, SAL)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INTO mgr_history VALUES(EMPID, MGR, SAL)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SELECT employee_id EMPID,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hire_date   HIREDATE,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salary      SAL,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manager_id  MGR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WHERE  employee_id &gt; 200;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1508760"/>
            <a:ext cx="512064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데이터 흐름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2057400"/>
            <a:ext cx="51206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21031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332"/>
                </a:solidFill>
              </a:rPr>
              <a:t>employees (employee_id &gt; 200)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788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2332"/>
                </a:solidFill>
              </a:rPr>
              <a:t>↙  각 행 복사  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3200400"/>
            <a:ext cx="2377440" cy="64008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32461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sal_history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8320" y="3200400"/>
            <a:ext cx="2377440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32461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mgr_history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4023360"/>
            <a:ext cx="73152" cy="3200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400507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소스 N행 × INTO 절 수 = 총 삽입 행 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4572000"/>
            <a:ext cx="73152" cy="3200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455371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조건(WHEN) 없이 항상 전체 대상에 삽입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5120640"/>
            <a:ext cx="73152" cy="3200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510235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동일 데이터를 여러 테이블에 복사 시 유용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846320"/>
            <a:ext cx="114300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87375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A623"/>
                </a:solidFill>
              </a:rPr>
              <a:t>결과: sal_history와 mgr_history 각각에 employee_id &gt; 200인 직원 수만큼 행 삽입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Conditional INSERT 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19  |  6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— Chapter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647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A623"/>
                </a:solidFill>
              </a:rPr>
              <a:t>고급 쿼리를 이용한 데이터 조작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WHEN 조건을 평가하여 만족하는 모든 INTO 절에 삽입 — 중복 허용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08760"/>
            <a:ext cx="594360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3619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예제: 입사일 또는 커미션 기준으로 두 테이블에 삽입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74519"/>
            <a:ext cx="5943600" cy="2834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965960"/>
            <a:ext cx="5669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INSERT ALL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WHEN hiredate &lt; DATE '2015-01-01' THEN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 INTO emp_history VALUES(EMPID, HIREDATE, SAL)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WHEN comm IS NOT NULL THEN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 INTO emp_sales VALUES(EMPID, COMM, SAL)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SELECT employee_id EMPID,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hire_date   HIREDATE,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salary      SAL,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commission_pct COMM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FROM   employees;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1508760"/>
            <a:ext cx="512064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5361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조건 만족 시나리오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1920240"/>
            <a:ext cx="1097280" cy="47548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11696" y="1938528"/>
            <a:ext cx="102412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직원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1920240"/>
            <a:ext cx="1005840" cy="47548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08975" y="1938528"/>
            <a:ext cx="9326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입사2015이전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1920240"/>
            <a:ext cx="914400" cy="47548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14815" y="1938528"/>
            <a:ext cx="8412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커미션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2640" y="1920240"/>
            <a:ext cx="1005840" cy="47548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9215" y="1938528"/>
            <a:ext cx="9326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emp_history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98480" y="1920240"/>
            <a:ext cx="1005840" cy="47548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35055" y="1938528"/>
            <a:ext cx="9326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emp_sales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2423160"/>
            <a:ext cx="1097280" cy="47548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11696" y="2441448"/>
            <a:ext cx="102412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A직원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2423160"/>
            <a:ext cx="1005840" cy="47548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08975" y="2441448"/>
            <a:ext cx="9326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78240" y="2423160"/>
            <a:ext cx="914400" cy="47548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14815" y="2441448"/>
            <a:ext cx="8412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92640" y="2423160"/>
            <a:ext cx="1005840" cy="47548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29215" y="2441448"/>
            <a:ext cx="9326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삽입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698480" y="2423160"/>
            <a:ext cx="1005840" cy="47548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35055" y="2441448"/>
            <a:ext cx="9326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75120" y="2926080"/>
            <a:ext cx="1097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11696" y="2944368"/>
            <a:ext cx="102412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B직원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0" y="2926080"/>
            <a:ext cx="1005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08975" y="2944368"/>
            <a:ext cx="9326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78240" y="2926080"/>
            <a:ext cx="914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14815" y="2944368"/>
            <a:ext cx="8412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92640" y="2926080"/>
            <a:ext cx="1005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29215" y="2944368"/>
            <a:ext cx="9326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698480" y="2926080"/>
            <a:ext cx="1005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735055" y="2944368"/>
            <a:ext cx="9326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삽입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75120" y="3429000"/>
            <a:ext cx="1097280" cy="475488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11696" y="3447288"/>
            <a:ext cx="102412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C직원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0" y="3429000"/>
            <a:ext cx="1005840" cy="475488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08975" y="3447288"/>
            <a:ext cx="9326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3429000"/>
            <a:ext cx="914400" cy="475488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14815" y="3447288"/>
            <a:ext cx="8412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92640" y="3429000"/>
            <a:ext cx="1005840" cy="475488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29215" y="3447288"/>
            <a:ext cx="9326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삽입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698480" y="3429000"/>
            <a:ext cx="1005840" cy="475488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735055" y="3447288"/>
            <a:ext cx="9326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삽입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75120" y="3931920"/>
            <a:ext cx="1097280" cy="475488"/>
          </a:xfrm>
          <a:prstGeom prst="rect">
            <a:avLst/>
          </a:prstGeom>
          <a:solidFill>
            <a:srgbClr val="F5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11696" y="3950208"/>
            <a:ext cx="102412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D직원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72400" y="3931920"/>
            <a:ext cx="1005840" cy="475488"/>
          </a:xfrm>
          <a:prstGeom prst="rect">
            <a:avLst/>
          </a:prstGeom>
          <a:solidFill>
            <a:srgbClr val="F5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08975" y="3950208"/>
            <a:ext cx="9326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✗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778240" y="3931920"/>
            <a:ext cx="914400" cy="475488"/>
          </a:xfrm>
          <a:prstGeom prst="rect">
            <a:avLst/>
          </a:prstGeom>
          <a:solidFill>
            <a:srgbClr val="F5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814815" y="3950208"/>
            <a:ext cx="8412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✗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692640" y="3931920"/>
            <a:ext cx="1005840" cy="475488"/>
          </a:xfrm>
          <a:prstGeom prst="rect">
            <a:avLst/>
          </a:prstGeom>
          <a:solidFill>
            <a:srgbClr val="F5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29215" y="3950208"/>
            <a:ext cx="9326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698480" y="3931920"/>
            <a:ext cx="1005840" cy="475488"/>
          </a:xfrm>
          <a:prstGeom prst="rect">
            <a:avLst/>
          </a:prstGeom>
          <a:solidFill>
            <a:srgbClr val="F5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735055" y="3950208"/>
            <a:ext cx="9326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675120" y="4480560"/>
            <a:ext cx="73152" cy="3200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0" y="446227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C직원처럼 두 조건 모두 만족 → 두 테이블 모두 삽입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75120" y="4956048"/>
            <a:ext cx="73152" cy="3200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58000" y="4937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D직원처럼 모두 불만족 → 어디에도 삽입 안 됨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675120" y="5431536"/>
            <a:ext cx="73152" cy="3200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58000" y="541324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ELSE 절 추가 시 미분류 행 처리 가능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Conditional INSERT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19  |  7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— Chapter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647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A623"/>
                </a:solidFill>
              </a:rPr>
              <a:t>고급 쿼리를 이용한 데이터 조작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조건을 순서대로 평가 — 첫 번째 만족 조건에만 삽입, 이후 조건은 무시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08760"/>
            <a:ext cx="5943600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3619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예제: 급여 구간에 따라 상호 배타적 분류 삽입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74519"/>
            <a:ext cx="5943600" cy="2926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96596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INSERT FIRST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WHEN salary &lt; 5000 THEN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 INTO sal_low  VALUES(employee_id, last_name, salary)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WHEN salary BETWEEN 5000 AND 10000 THEN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 INTO sal_mid  VALUES(employee_id, last_name, salary)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ELSE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 INTO sal_high VALUES(employee_id, last_name, salary)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SELECT employee_id, last_name, salary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FROM   employees;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1508760"/>
            <a:ext cx="512064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5361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INSERT FIRST 평가 흐름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1965960"/>
            <a:ext cx="51206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00253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2"/>
                </a:solidFill>
              </a:rPr>
              <a:t>소스 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2560320"/>
            <a:ext cx="5120640" cy="53035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259689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2"/>
                </a:solidFill>
              </a:rPr>
              <a:t>salary &lt; 5000 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3154680"/>
            <a:ext cx="5120640" cy="530352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319125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8A44"/>
                </a:solidFill>
              </a:rPr>
              <a:t>→ YES: sal_low 삽입 후 종료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3749039"/>
            <a:ext cx="5120640" cy="530352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378561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5C96"/>
                </a:solidFill>
              </a:rPr>
              <a:t>salary BETWEEN 5000-10000?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4343400"/>
            <a:ext cx="5120640" cy="530352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437997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8A44"/>
                </a:solidFill>
              </a:rPr>
              <a:t>→ YES: sal_mid 삽입 후 종료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4937760"/>
            <a:ext cx="5120640" cy="530352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497433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74634"/>
                </a:solidFill>
              </a:rPr>
              <a:t>ELSE: sal_high 삽입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669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74634"/>
                </a:solidFill>
              </a:rPr>
              <a:t>※ 한 행은 반드시 하나의 테이블에만 삽입됨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937760"/>
            <a:ext cx="114300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9651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ELSE 절이 있으면 모든 행을 처리 | ELSE 생략 시 어느 조건도 만족하지 못한 행은 삽입 안 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INSERT ALL vs INSERT FIRST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19  |  8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— Chapter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647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A623"/>
                </a:solidFill>
              </a:rPr>
              <a:t>고급 쿼리를 이용한 데이터 조작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097280"/>
            <a:ext cx="3200400" cy="5029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33856"/>
            <a:ext cx="3017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332"/>
                </a:solidFill>
              </a:rPr>
              <a:t>항목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1097280"/>
            <a:ext cx="393192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133856"/>
            <a:ext cx="374903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INSERT 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1097280"/>
            <a:ext cx="429768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1133856"/>
            <a:ext cx="4114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INSERT FIRST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600200"/>
            <a:ext cx="3200400" cy="62179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636776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WHEN 조건 평가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1600200"/>
            <a:ext cx="3931920" cy="62179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1636776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5C96"/>
                </a:solidFill>
              </a:rPr>
              <a:t>모든 WHEN 절 평가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1600200"/>
            <a:ext cx="4297680" cy="62179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1636776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7E22"/>
                </a:solidFill>
              </a:rPr>
              <a:t>첫 번째 만족 후 중단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286000"/>
            <a:ext cx="32004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322576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중복 삽입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2286000"/>
            <a:ext cx="39319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2322576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5C96"/>
                </a:solidFill>
              </a:rPr>
              <a:t>여러 테이블에 가능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79" y="2286000"/>
            <a:ext cx="42976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2322576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7E22"/>
                </a:solidFill>
              </a:rPr>
              <a:t>하나의 테이블에만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971800"/>
            <a:ext cx="3200400" cy="62179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008376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조건 순서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66160" y="2971800"/>
            <a:ext cx="3931920" cy="62179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3008376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5C96"/>
                </a:solidFill>
              </a:rPr>
              <a:t>순서 무관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79" y="2971800"/>
            <a:ext cx="4297680" cy="62179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0" y="3008376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7E22"/>
                </a:solidFill>
              </a:rPr>
              <a:t>순서가 결과에 영향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657600"/>
            <a:ext cx="32004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694176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ELSE 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66160" y="3657600"/>
            <a:ext cx="39319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0" y="3694176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5C96"/>
                </a:solidFill>
              </a:rPr>
              <a:t>지원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79" y="3657600"/>
            <a:ext cx="42976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20" y="3694176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7E22"/>
                </a:solidFill>
              </a:rPr>
              <a:t>지원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343400"/>
            <a:ext cx="3200400" cy="62179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379976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주요 용도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66160" y="4343400"/>
            <a:ext cx="3931920" cy="62179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4379976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5C96"/>
                </a:solidFill>
              </a:rPr>
              <a:t>동시 다중 복사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79" y="4343400"/>
            <a:ext cx="4297680" cy="62179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89520" y="4379976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7E22"/>
                </a:solidFill>
              </a:rPr>
              <a:t>상호 배타적 분류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029200"/>
            <a:ext cx="32004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5065776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총 삽입 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66160" y="5029200"/>
            <a:ext cx="39319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0" y="5065776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5C96"/>
                </a:solidFill>
              </a:rPr>
              <a:t>소스 행 × INTO 절 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98079" y="5029200"/>
            <a:ext cx="42976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89520" y="5065776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7E22"/>
                </a:solidFill>
              </a:rPr>
              <a:t>소스 행 수와 동일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806440"/>
            <a:ext cx="11430000" cy="685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585216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선택 가이드: 한 행이 여러 테이블에 속할 수 있으면 ALL | 상호 배타적 분류(중복 불허)이면 FIRST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Pivoting INSERT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19  |  9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— Chapter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647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A623"/>
                </a:solidFill>
              </a:rPr>
              <a:t>고급 쿼리를 이용한 데이터 조작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비관계형(열 기반) 데이터를 관계형(행 기반)으로 변환 삽입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08760"/>
            <a:ext cx="5029200" cy="36576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361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소스 테이블 (sales_source_data) — 열 기반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74519"/>
            <a:ext cx="718457" cy="38404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1901952"/>
            <a:ext cx="66359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EMP_ID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84217" y="1874519"/>
            <a:ext cx="718457" cy="38404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1649" y="1901952"/>
            <a:ext cx="66359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WEEK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02674" y="1874519"/>
            <a:ext cx="718457" cy="38404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30106" y="1901952"/>
            <a:ext cx="66359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21131" y="1874519"/>
            <a:ext cx="718457" cy="38404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48563" y="1901952"/>
            <a:ext cx="66359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39588" y="1874519"/>
            <a:ext cx="718457" cy="38404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67020" y="1901952"/>
            <a:ext cx="66359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58045" y="1874519"/>
            <a:ext cx="718457" cy="38404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85477" y="1901952"/>
            <a:ext cx="66359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THUR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76502" y="1874519"/>
            <a:ext cx="718457" cy="38404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3934" y="1901952"/>
            <a:ext cx="66359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FRI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258568"/>
            <a:ext cx="718457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192" y="2276856"/>
            <a:ext cx="66359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176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84217" y="2258568"/>
            <a:ext cx="718457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1649" y="2276856"/>
            <a:ext cx="66359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02674" y="2258568"/>
            <a:ext cx="718457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30106" y="2276856"/>
            <a:ext cx="66359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2000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21131" y="2258568"/>
            <a:ext cx="718457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48563" y="2276856"/>
            <a:ext cx="66359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3000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39588" y="2258568"/>
            <a:ext cx="718457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67020" y="2276856"/>
            <a:ext cx="66359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4000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58045" y="2258568"/>
            <a:ext cx="718457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85477" y="2276856"/>
            <a:ext cx="66359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5000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76502" y="2258568"/>
            <a:ext cx="718457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03934" y="2276856"/>
            <a:ext cx="66359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6000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2194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74634"/>
                </a:solidFill>
              </a:rPr>
              <a:t>→  Pivoting INSERT  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49440" y="1508760"/>
            <a:ext cx="484632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40880" y="153619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대상 테이블 (sales_info) — 행 기반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49440" y="1874519"/>
            <a:ext cx="1615440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76872" y="1901952"/>
            <a:ext cx="15605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EMP_ID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64880" y="1874519"/>
            <a:ext cx="1615440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92312" y="1901952"/>
            <a:ext cx="15605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WEEK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180320" y="1874519"/>
            <a:ext cx="1615440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207751" y="1901952"/>
            <a:ext cx="15605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SALES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49440" y="2258568"/>
            <a:ext cx="1615440" cy="33832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76872" y="2276856"/>
            <a:ext cx="15605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176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64880" y="2258568"/>
            <a:ext cx="1615440" cy="33832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92312" y="2276856"/>
            <a:ext cx="15605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80320" y="2258568"/>
            <a:ext cx="1615440" cy="33832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207751" y="2276856"/>
            <a:ext cx="15605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2000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49440" y="2606040"/>
            <a:ext cx="16154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76872" y="2624328"/>
            <a:ext cx="15605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176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564880" y="2606040"/>
            <a:ext cx="16154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92312" y="2624328"/>
            <a:ext cx="15605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180320" y="2606040"/>
            <a:ext cx="16154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207751" y="2624328"/>
            <a:ext cx="15605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3000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949440" y="2953512"/>
            <a:ext cx="1615440" cy="33832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76872" y="2971800"/>
            <a:ext cx="15605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176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564880" y="2953512"/>
            <a:ext cx="1615440" cy="33832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592312" y="2971800"/>
            <a:ext cx="15605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180320" y="2953512"/>
            <a:ext cx="1615440" cy="33832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207751" y="2971800"/>
            <a:ext cx="15605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4000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949440" y="3300984"/>
            <a:ext cx="16154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76872" y="3319272"/>
            <a:ext cx="15605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176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564880" y="3300984"/>
            <a:ext cx="16154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592312" y="3319272"/>
            <a:ext cx="15605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180320" y="3300984"/>
            <a:ext cx="16154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207751" y="3319272"/>
            <a:ext cx="15605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5000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949440" y="3648456"/>
            <a:ext cx="1615440" cy="33832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976872" y="3666744"/>
            <a:ext cx="15605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176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64880" y="3648456"/>
            <a:ext cx="1615440" cy="33832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592312" y="3666744"/>
            <a:ext cx="15605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180320" y="3648456"/>
            <a:ext cx="1615440" cy="33832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207751" y="3666744"/>
            <a:ext cx="15605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</a:rPr>
              <a:t>6000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65760" y="3794760"/>
            <a:ext cx="11430000" cy="2606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2920" y="3886200"/>
            <a:ext cx="111556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INSERT ALL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INTO sales_info VALUES(employee_id, week_id, sales_mon)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INTO sales_info VALUES(employee_id, week_id, sales_tue)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INTO sales_info VALUES(employee_id, week_id, sales_wed)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INTO sales_info VALUES(employee_id, week_id, sales_thur)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INTO sales_info VALUES(employee_id, week_id, sales_fri)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SELECT employee_id, week_id,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sales_mon, sales_tue, sales_wed, sales_thur, sales_fri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FROM   sales_source_data;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MERGE 문 — 개념 &amp; 구문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19  |  10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— Chapter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647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A623"/>
                </a:solidFill>
              </a:rPr>
              <a:t>고급 쿼리를 이용한 데이터 조작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단일 DML로 UPDATE · INSERT · DELETE를 조건부 처리 — 데이터 병합(Upsert)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08760"/>
            <a:ext cx="5669280" cy="36576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361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MERGE 기본 구문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74519"/>
            <a:ext cx="5669280" cy="3429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965960"/>
            <a:ext cx="539496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MERGE INTO   target_table  alias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USING        (source | subquery)  alias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ON           (join_condition)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WHEN MATCHED THEN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UPDATE SET col1 = val1, ...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[DELETE WHERE condition]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WHEN NOT MATCHED THEN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INSERT (col_list)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VALUES (val_list)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[WHERE filter];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508760"/>
            <a:ext cx="548640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361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MERGE 실행 흐름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920240"/>
            <a:ext cx="54864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965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332"/>
                </a:solidFill>
              </a:rPr>
              <a:t>소스 데이터 (USING)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514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2"/>
                </a:solidFill>
              </a:rPr>
              <a:t>↓  ON (조인 조건) 평가  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926080"/>
            <a:ext cx="256032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94436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MATCHED
(행 존재)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2926080"/>
            <a:ext cx="2560320" cy="5943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294436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NOT MATCHED
(행 없음)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657600"/>
            <a:ext cx="2560320" cy="50292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68503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UPDATE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3657600"/>
            <a:ext cx="25603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368503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INSERT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251960"/>
            <a:ext cx="2560320" cy="5029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27024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DELETE WHERE
(조건부)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486400"/>
            <a:ext cx="1344168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553212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단일 패스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" y="5916168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소스를 한 번만 읽어 처리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01368" y="5486400"/>
            <a:ext cx="1344168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74520" y="553212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성능 향상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520" y="5916168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개별 DML보다 효율적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36976" y="5486400"/>
            <a:ext cx="1344168" cy="100584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10128" y="553212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ETL 최적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10128" y="5916168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증분 로드에 활용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72584" y="5486400"/>
            <a:ext cx="1344168" cy="10058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45736" y="553212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DELETE 지원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45736" y="5916168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MATCHED 후 조건부 삭제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MERGE 문 — 상세 예제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19  |  11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— Chapter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647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A623"/>
                </a:solidFill>
              </a:rPr>
              <a:t>고급 쿼리를 이용한 데이터 조작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copy_emp3 테이블을 employees와 동기화 (UPDATE + DELETE + INSERT)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08760"/>
            <a:ext cx="11430000" cy="3657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600200"/>
            <a:ext cx="11155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MERGE INTO copy_emp3 c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USING (SELECT * FROM employees) e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ON    (c.employee_id = e.employee_id)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WHEN MATCHED THEN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UPDATE SET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 c.first_name    = e.first_name,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 c.last_name     = e.last_name,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 c.salary        = e.salary,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 c.department_id = e.department_id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DELETE WHERE (e.commission_pct IS NOT NULL)  -- 커미션 있으면 삭제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WHEN NOT MATCHED THEN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INSERT VALUES (e.employee_id, e.first_name, e.last_name,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           e.email, e.phone_number, e.hire_date, e.job_id,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           e.salary, e.commission_pct, e.manager_id,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           e.department_id);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303520"/>
            <a:ext cx="3749039" cy="1188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34924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MATCHED + 커미션 없음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8064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UPDATE 적용 → copy_emp3에 유지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5303520"/>
            <a:ext cx="3749039" cy="11887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534924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MATCHED + 커미션 있음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58064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UPDATE 후 DELETE → copy_emp3에서 제거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5303520"/>
            <a:ext cx="3749039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534924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NOT MATCHED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58064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INSERT → copy_emp3에 신규 추가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FLASHBACK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19  |  12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— Chapter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647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A623"/>
                </a:solidFill>
              </a:rPr>
              <a:t>고급 쿼리를 이용한 데이터 조작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테이블을 과거 SCN / 타임스탬프 / DROP 이전으로 복구 — 인플레이스 복원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08760"/>
            <a:ext cx="5669280" cy="36576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361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구문 &amp; DROP 복구 예제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74519"/>
            <a:ext cx="5669280" cy="3977639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965960"/>
            <a:ext cx="5394960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-- 기본 구문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FLASHBACK TABLE table_name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TO { SCN expr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| TIMESTAMP expr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| RESTORE POINT name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| BEFORE DROP };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-- RECYCLEBIN에서 복구 절차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DROP TABLE emp3;              -- 1. 삭제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SELECT original_name,         -- 2. 확인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operation, droptime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FROM   recyclebin;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FLASHBACK TABLE emp3          -- 3. 복구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TO BEFORE DROP;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508760"/>
            <a:ext cx="5486400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361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전제 조건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920240"/>
            <a:ext cx="5486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947672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TIMESTAMP 복구 시 ROW MOVEMENT 활성화 필요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423160"/>
            <a:ext cx="5486400" cy="457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450591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FA7B"/>
                </a:solidFill>
              </a:rPr>
              <a:t>ALTER TABLE t ENABLE ROW MOVEMENT;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926080"/>
            <a:ext cx="5486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953512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UNDO_RETENTION 기간 내 복구만 가능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429000"/>
            <a:ext cx="5486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456432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DBA 또는 FLASHBACK TABLE 권한 필요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023360"/>
            <a:ext cx="2560320" cy="7772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0690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인플레이스 복원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43484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IMPORT/EXPORT 불필요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4023360"/>
            <a:ext cx="2560320" cy="7772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40690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인덱스 포함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443484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연관 인덱스·제약 함께 복원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937760"/>
            <a:ext cx="2560320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9834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RECYCLEBIN 활용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34924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DROP 후에도 복구 가능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52560" y="4937760"/>
            <a:ext cx="2560320" cy="77724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49834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PURGE 주의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534924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PURGE 후에는 복구 불가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Flashback Query &amp; Flashback Version 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19  |  13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— Chapter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647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A623"/>
                </a:solidFill>
              </a:rPr>
              <a:t>고급 쿼리를 이용한 데이터 조작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051560"/>
            <a:ext cx="1143000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7899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Flashback Query — AS OF TIMESTAMP: 과거 시점의 데이터 조회 (테이블 복구 없이)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463040"/>
            <a:ext cx="5486400" cy="25603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554480"/>
            <a:ext cx="521208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-- 1분 전 급여 조회 (DML 실수 확인)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SELECT salary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FROM   employees3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AS OF TIMESTAMP (SYSTIMESTAMP - INTERVAL '1' MINUTE)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WHERE  last_name = 'Chung';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-- 과거 데이터를 이용한 복구 패턴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INSERT INTO employees3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SELECT * FROM employees3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AS OF TIMESTAMP (SYSTIMESTAMP - INTERVAL '10' MINUTE);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463040"/>
            <a:ext cx="73152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444752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UNDO 데이터 기반 — 복구 없이 SELECT로 확인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011680"/>
            <a:ext cx="73152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993392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UNDO_RETENTION 범위 내에서만 조회 가능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560320"/>
            <a:ext cx="73152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542032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서브쿼리로 사용하여 복구 INSERT에 활용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114800"/>
            <a:ext cx="11430000" cy="45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251960"/>
            <a:ext cx="1143000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27939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Flashback Version Query — VERSIONS BETWEEN: 행 변경 이력 추적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663440"/>
            <a:ext cx="5486400" cy="1874519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754879"/>
            <a:ext cx="521208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SELECT versions_starttime "시작시각",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versions_endtime   "종료시각",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versions_operation "작업",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       salary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VERSIONS BETWEEN SCN MINVALUE AND MAXVALUE</a:t>
            </a:r>
          </a:p>
          <a:p>
            <a:pPr algn="l"/>
            <a:r>
              <a:rPr sz="1050" b="0">
                <a:solidFill>
                  <a:srgbClr val="50FA7B"/>
                </a:solidFill>
                <a:latin typeface="Consolas"/>
              </a:rPr>
              <a:t>WHERE  last_name = 'Lorentz';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663440"/>
            <a:ext cx="2560320" cy="3474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4681728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0FA7B"/>
                </a:solidFill>
              </a:rPr>
              <a:t>VERSIONS_STARTTIME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4663440"/>
            <a:ext cx="3200400" cy="34747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4681728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버전 시작 시각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5038344"/>
            <a:ext cx="2560320" cy="3474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505663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0FA7B"/>
                </a:solidFill>
              </a:rPr>
              <a:t>VERSIONS_ENDTIME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5038344"/>
            <a:ext cx="3200400" cy="34747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32520" y="5056632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버전 종료 시각 (NULL = 현재)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5413248"/>
            <a:ext cx="2560320" cy="3474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5431536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0FA7B"/>
                </a:solidFill>
              </a:rPr>
              <a:t>VERSIONS_STARTSCN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0" y="5413248"/>
            <a:ext cx="3200400" cy="34747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32520" y="5431536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버전 시작 SCN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5788152"/>
            <a:ext cx="2560320" cy="3474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5806440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0FA7B"/>
                </a:solidFill>
              </a:rPr>
              <a:t>VERSIONS_ENDSCN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0" y="5788152"/>
            <a:ext cx="3200400" cy="34747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32520" y="5806440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버전 종료 SCN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6163055"/>
            <a:ext cx="2560320" cy="3474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6181344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0FA7B"/>
                </a:solidFill>
              </a:rPr>
              <a:t>VERSIONS_OPERATION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0" y="6163055"/>
            <a:ext cx="3200400" cy="34747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32520" y="618134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I=INSERT, U=UPDATE, D=DELETE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단원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19  |  14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— Chapter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647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A623"/>
                </a:solidFill>
              </a:rPr>
              <a:t>고급 쿼리를 이용한 데이터 조작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</a:rPr>
              <a:t>Chapter 19 — 고급 쿼리를 이용한 데이터 조작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54480"/>
            <a:ext cx="3749039" cy="9875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61848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DEFAULT 키워드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01168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INSERT / UPDATE에서 열 기본값 명시 적용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554480"/>
            <a:ext cx="3749039" cy="987552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161848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Unconditional INSERT 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01168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조건 없이 모든 INTO 절에 동시 삽입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554480"/>
            <a:ext cx="3749039" cy="9875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161848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Conditional INSERT 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201168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WHEN 조건 만족하는 모든 절에 삽입 (중복 허용)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51760"/>
            <a:ext cx="3749039" cy="9875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271576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Conditional INSERT FIRST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310896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첫 번째 만족 조건에만 삽입 (배타적 분류)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2651760"/>
            <a:ext cx="3749039" cy="987552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07408" y="271576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Pivoting INSERT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310896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열 기반 → 행 기반 변환 삽입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2651760"/>
            <a:ext cx="3749039" cy="987552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9327" y="271576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MERGE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310896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MATCHED → UPDATE + DELETE / NOT MATCHED → INSERT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749039"/>
            <a:ext cx="3749039" cy="9875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381304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FLASHBACK TABLE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420624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테이블을 시점·SCN·BEFORE DROP으로 복구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3749039"/>
            <a:ext cx="3749039" cy="9875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07408" y="381304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Flashback Query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7408" y="420624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AS OF TIMESTAMP로 과거 데이터 SELECT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3749039"/>
            <a:ext cx="3749039" cy="987552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39327" y="381304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Flashback Version Query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7" y="420624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VERSIONS BETWEEN으로 행 변경 이력 추적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892040"/>
            <a:ext cx="11430000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91947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고급 DML의 핵심: INSERT ALL/FIRST로 ETL 자동화 | MERGE로 동기화 | Flashback으로 실수 복구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
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2834640"/>
            <a:ext cx="1182319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  <a:latin typeface="Calibri"/>
              </a:rPr>
              <a:t>Chapter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그룹 함수를 사용한
집계 데이터 보고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  <a:latin typeface="Calibri"/>
              </a:rPr>
              <a:t>Oracle Database 19c: SQL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  <a:latin typeface="Calibri"/>
              </a:rPr>
              <a:t>GROUP Functions for Aggregating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846320"/>
            <a:ext cx="17373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4846320"/>
            <a:ext cx="1737360" cy="5029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4846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AVG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4846320"/>
            <a:ext cx="173736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4846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846320"/>
            <a:ext cx="17373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846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GROUP BY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846320"/>
            <a:ext cx="1737360" cy="5029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4846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HAVING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4846320"/>
            <a:ext cx="173736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4846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LISTAGG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6  |  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6: 그룹 함수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822960"/>
            <a:ext cx="11640312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1051560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051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그룹 함수의 특성과 단일행 함수와의 차이를 설명할 수 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47088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470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1847088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8470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COUNT, AVG, SUM, MIN, MAX 등 그룹 함수를 올바르게 사용할 수 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42615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642615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2642615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642615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그룹 함수에서 NULL 값이 자동 무시됨을 이해하고 NVL로 보완할 수 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38144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3814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3438144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43814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GROUP BY 절을 사용하여 단일/다중 열 기준으로 데이터를 그룹화할 수 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33672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3367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4233672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2336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HAVING 절로 그룹 함수 조건을 지정하여 그룹을 필터링할 수 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29200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029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5029200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029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MAX(AVG(salary)) 형태의 그룹 함수 중첩을 작성하고 해석할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그룹 함수란?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6  |  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6: 그룹 함수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777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단일행 함수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777240"/>
            <a:ext cx="548640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각 행에 대해 실행 → 행마다 1개 결과 반환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00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예: UPPER, ROUND, TO_CHAR, NVL 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11680"/>
            <a:ext cx="5212080" cy="914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031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UPPER(last_name)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-- 107행 결과 반환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777240"/>
            <a:ext cx="5879592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777240"/>
            <a:ext cx="5879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그룹 함수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777240"/>
            <a:ext cx="5879592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2344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행의 집합(그룹)에 대해 실행 → 그룹당 1개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6002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예: COUNT, AVG, SUM, MIN, MAX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011680"/>
            <a:ext cx="5669280" cy="914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1031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MAX(salary)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-- 1행 결과 반환 (24000)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74320" y="3200400"/>
          <a:ext cx="1164031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함수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설명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데이터 타입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COUNT(*)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전체 행 수 (NULL 포함)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모든 타입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COUNT(col)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비-NULL 행 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모든 타입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AVG(col)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평균값 (NULL 무시)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숫자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SUM(col)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합계 (NULL 무시)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숫자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MAX(col)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최대값 (NULL 무시)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숫자·문자·날짜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MIN(col)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최소값 (NULL 무시)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숫자·문자·날짜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LISTAGG(col,delim)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그룹 값 문자열 연결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문자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AVG · SUM · MIN · MAX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6  |  4/14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6: 그룹 함수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숫자 데이터에 AVG와 SUM을 사용할 수 있다. MIN과 MAX는 숫자·문자·날짜 모두 가능.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40312" cy="1417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280160"/>
            <a:ext cx="1136599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직무에 'REP'가 포함된 사원들의 급여 통계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AVG(salary), MAX(salary),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MIN(salary), SUM(salary)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job_id LIKE '%REP%';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11640312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834640"/>
            <a:ext cx="113659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MIN/MAX: 문자·날짜에도 적용 가능 (알파벳 순, 시간 순)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MIN(last_name), MAX(last_name),   -- 알파벳 첫/마지막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MIN(hire_date), MAX(hire_date)   -- 최초/최근 입사일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51960"/>
            <a:ext cx="54864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251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COUNT(*)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51960"/>
            <a:ext cx="548640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모든 행 수를 반환 (NULL 포함)
결과: 107 (전체 사원 수)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349240"/>
            <a:ext cx="5120640" cy="1097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440679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COUNT(*)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department_id = 50;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결과: 45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251960"/>
            <a:ext cx="560527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251960"/>
            <a:ext cx="5605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COUNT(expr)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251960"/>
            <a:ext cx="560527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6634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NULL이 아닌 행 수만 반환
NULL 자동 무시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5349240"/>
            <a:ext cx="5394960" cy="1097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544067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COUNT(commission_pct)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department_id = 50;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결과: 5 (NULL 제외)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DISTINCT 키워드 · NULL 값 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6  |  5/14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6: 그룹 함수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DISTINCT — 중복을 제거한 비-NULL 값의 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11640312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280160"/>
            <a:ext cx="113659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EMPLOYEES에서 서로 다른 department_id의 수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COUNT(DISTINCT department_id)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결과: 11 (NULL이 아닌 고유 부서 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97480"/>
            <a:ext cx="1164031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NULL 값 처리 — 그룹 함수는 NULL을 자동으로 무시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154680"/>
            <a:ext cx="54864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AVG(commission_pct)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11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NULL 자동 무시 → 35명 기준 평균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39"/>
            <a:ext cx="521208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69079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AVG(commission_pct)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≈ 0.2229 (35명 기준)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NULL 72명은 제외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94960"/>
            <a:ext cx="5212080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  <a:latin typeface="Calibri"/>
              </a:rPr>
              <a:t>commission_pct 없는 72명 → 계산에서 제외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154680"/>
            <a:ext cx="5605272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2004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4634"/>
                </a:solidFill>
                <a:latin typeface="Calibri"/>
              </a:rPr>
              <a:t>AVG(NVL(commission_pct, 0))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11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NVL로 0 대체 → 107명 전체 기준 평균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977639"/>
            <a:ext cx="539496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069079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AVG(NVL(commission_pct, 0))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≈ 0.0729 (107명 기준)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NULL을 0으로 포함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5394960"/>
            <a:ext cx="5394960" cy="5486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3949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비즈니스 요구사항에 따라 방식 선택!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GROUP BY 절 — 데이터 그룹화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6  |  6/14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6: 그룹 함수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SELECT 목록에서 그룹 함수가 아닌 모든 열은 반드시 GROUP BY 절에 포함해야 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40312" cy="320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구문 (Syntax)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08760"/>
            <a:ext cx="11640312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00200"/>
            <a:ext cx="113659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  column, group_function(column)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  table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[WHERE   condition]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[GROUP BY group_by_expression]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[ORDER BY column];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71800"/>
            <a:ext cx="11640312" cy="3200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— 부서별 평균 급여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91840"/>
            <a:ext cx="11640312" cy="3017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383280"/>
            <a:ext cx="11365992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부서별 평균 급여 (department_id를 GROUP BY에 포함)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  department_id, AVG(salary)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GROUP BY department_id;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 예시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DEPT_ID | AVG(SALARY)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--------+-----------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     10 | 4400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     20 | 9500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     90 | 19333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3291840"/>
            <a:ext cx="338328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⚠ GROUP BY 규칙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657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  <a:latin typeface="Calibri"/>
              </a:rPr>
              <a:t>GROUP BY 열을 SELECT에
넣지 않아도 오류 없음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잘못된 쿼리 패턴 — 3가지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6  |  7/14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6: 그룹 함수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822960"/>
            <a:ext cx="182880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822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ORA-00937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8229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Calibri"/>
              </a:rPr>
              <a:t>GROUP BY 없이 그룹 함수 + 일반 열 혼용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80160"/>
            <a:ext cx="8046720" cy="1188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3716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department_id, COUNT(last_name)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ORA-00937: not a single-group group function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280160"/>
            <a:ext cx="3410712" cy="1188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325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  <a:latin typeface="Calibri"/>
              </a:rPr>
              <a:t>해결 방법: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6002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GROUP BY department_id 추가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43200"/>
            <a:ext cx="182880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743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ORA-00979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7432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Calibri"/>
              </a:rPr>
              <a:t>SELECT 열이 GROUP BY에 없음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200400"/>
            <a:ext cx="8046720" cy="1188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2918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department_id, job_id, COUNT(*)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GROUP BY department_id;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ORA-00979: not a GROUP BY expression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3200400"/>
            <a:ext cx="3410712" cy="1188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  <a:latin typeface="Calibri"/>
              </a:rPr>
              <a:t>해결 방법: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5204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GROUP BY department_id, job_id 로 수정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663440"/>
            <a:ext cx="182880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663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ORA-00934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663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  <a:latin typeface="Calibri"/>
              </a:rPr>
              <a:t>WHERE 절에 그룹 함수 사용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120640"/>
            <a:ext cx="8046720" cy="1188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521208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  department_id, AVG(salary)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  AVG(salary) &gt; 8000  -- 오류!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GROUP BY department_id;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ORA-00934: group function is not allowed here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5120640"/>
            <a:ext cx="3410712" cy="1188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5166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  <a:latin typeface="Calibri"/>
              </a:rPr>
              <a:t>해결 방법: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54406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WHERE → HAVING 으로 변경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다중 열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6  |  8/14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6: 그룹 함수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두 개 이상의 열을 GROUP BY에 지정하면 열 조합이 하나의 그룹 단위가 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40312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280160"/>
            <a:ext cx="113659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부서 40 초과인 부서에서 직무별 급여 합계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  department_id, job_id, SUM(salary)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  department_id &gt; 40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GROUP BY department_id, job_id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department_id;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5468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결과 예시: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3520440"/>
          <a:ext cx="11640312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43760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DEPARTMENT_ID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JOB_ID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SUM(SALARY)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SH_CLERK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64,300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ST_CLERK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55,700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ST_MAN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36,400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IT_PROG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28,800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SA_MAN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61,000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376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SA_REP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243,500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HAVING 절 — 그룹 필터링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6  |  9/14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6: 그룹 함수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그룹 함수 결과를 조건으로 그룹을 포함하거나 제외할 때 HAVING 절을 사용한다.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40312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280160"/>
            <a:ext cx="113659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   column, group_function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   table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[WHERE    condition]          -- 행 필터 (GROUP BY 이전)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[GROUP BY group_by_expression]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[HAVING   group_condition]    -- 그룹 필터 (GROUP BY 이후)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[ORDER BY column];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108960"/>
            <a:ext cx="11640312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HAVING 절 처리 순서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474720"/>
            <a:ext cx="3749039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4747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① 행을 그룹화 (GROUP BY)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474720"/>
            <a:ext cx="3749039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34747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② 그룹 함수 적용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474720"/>
            <a:ext cx="3749039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34747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③ HAVING 조건과 일치하는 그룹만 표시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114800"/>
            <a:ext cx="11640312" cy="2468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206240"/>
            <a:ext cx="113659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최대 급여가 10,000 초과인 부서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  department_id, MAX(salary)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GROUP BY department_id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HAVING   MAX(salary) &gt; 10000;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'REP' 없는 직무 중 급여 합계 13,000 초과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  job_id, SUM(salary) AS PAYROLL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  job_id NOT LIKE '%REP%'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GROUP BY job_id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HAVING   SUM(salary) &gt; 13000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SUM(salary);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WHERE 절 vs HAVING 절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6  |  10/14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6: 그룹 함수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777240"/>
          <a:ext cx="11640312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비교 항목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HAVING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적용 대상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개별 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그룹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그룹 함수 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불가 (ORA-00934)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처리 시점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GROUP BY 이전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GROUP BY 이후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예시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WHERE salary &gt; 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HAVING AVG(salary) &gt; 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역할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행 필터링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그룹 필터링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3749039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차이점을 보여주는 예제: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114800"/>
            <a:ext cx="557784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41148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WHERE 사용 — 개별 행 필터링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114800"/>
            <a:ext cx="55778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526280"/>
            <a:ext cx="539496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617720"/>
            <a:ext cx="51206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  department_id, COUNT(*)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  salary &gt; 5000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GROUP BY department_id;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salary &gt; 5000인 사원만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카운트에 포함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114800"/>
            <a:ext cx="5605272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114800"/>
            <a:ext cx="5605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HAVING 사용 — 그룹 필터링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114800"/>
            <a:ext cx="560527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526280"/>
            <a:ext cx="539496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617720"/>
            <a:ext cx="51206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  department_id, COUNT(*)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GROUP BY department_id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HAVING   AVG(salary) &gt; 5000;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전체 사원 카운트 후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평균 급여 조건으로 그룹 필터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SELECT 문 처리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6  |  11/14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6: 그룹 함수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SQL 엔진이 SELECT 문을 처리하는 논리적 순서 (작성 순서와 다름에 주의!)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50292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234440"/>
            <a:ext cx="18288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2344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FROM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234440"/>
            <a:ext cx="914400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123444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테이블 지정 및 데이터 접근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029968"/>
            <a:ext cx="50292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02996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029968"/>
            <a:ext cx="18288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02996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WHERE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029968"/>
            <a:ext cx="914400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202996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개별 행 필터링 (그룹 함수 사용 불가)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25496"/>
            <a:ext cx="502920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825496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2825496"/>
            <a:ext cx="18288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2825496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GROUP BY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2825496"/>
            <a:ext cx="914400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2825496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지정된 열 기준으로 행 그룹화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621024"/>
            <a:ext cx="502920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621024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3621024"/>
            <a:ext cx="18288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621024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HAVING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3621024"/>
            <a:ext cx="914400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3621024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그룹 함수 기준으로 그룹 필터링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416552"/>
            <a:ext cx="50292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441655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4416552"/>
            <a:ext cx="18288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41655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SELECT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4416552"/>
            <a:ext cx="914400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360" y="441655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열 선택 및 표현식 계산, 별칭 부여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212079"/>
            <a:ext cx="50292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212079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5212079"/>
            <a:ext cx="18288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21207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ORDER BY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88920" y="5212079"/>
            <a:ext cx="914400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80360" y="5212079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결과 정렬 (SELECT 별칭 사용 가능)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6035040"/>
            <a:ext cx="11640312" cy="685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6126479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-- 6가지 절 모두 포함 예제 (처리 순서: FROM→WHERE→GROUP BY→HAVING→SELECT→ORDER BY)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  job_id, SUM(salary) AS PAYROLL     -- 5. SELECT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  employees                          -- 1. FROM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  job_id NOT LIKE '%REP%'           -- 2. WHERE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GROUP BY job_id                            -- 3. GROUP BY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HAVING   SUM(salary) &gt; 13000              -- 4. HAVING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SUM(salary);                     -- 6. ORDER BY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그룹 함수 중첩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6  |  12/14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6: 그룹 함수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Oracle에서 그룹 함수는 최대 2단계까지 중첩할 수 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4031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대표 예제: 부서별 평균 급여 중 최대값 구하기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11640312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91640"/>
            <a:ext cx="113659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MAX(AVG(salary))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GROUP BY department_id;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결과: 19333 (부서 90의 평균 급여)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63240"/>
            <a:ext cx="116403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63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처리 단계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20440"/>
            <a:ext cx="91440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5204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단계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3520440"/>
            <a:ext cx="32004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520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GROUP BY department_id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3520440"/>
            <a:ext cx="7342631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52044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부서별로 행 그룹화 (11개 그룹)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297680"/>
            <a:ext cx="91440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29768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단계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0" y="4297680"/>
            <a:ext cx="32004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2976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AVG(salary)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4297680"/>
            <a:ext cx="7342631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2976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각 부서의 평균 급여 계산 (11개 값)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074920"/>
            <a:ext cx="914400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50749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단계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0160" y="5074920"/>
            <a:ext cx="32004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07492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MAX(...)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5074920"/>
            <a:ext cx="7342631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507492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11개 평균 중 최대값 1개 반환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897880"/>
            <a:ext cx="11640312" cy="731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897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⚠ 주의: 그룹 함수 중첩 시 GROUP BY 절이 반드시 필요하다.
  GROUP BY 없이 MAX(AVG(salary)) 를 사용하면 ORA-00978 오류 발생.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LISTAGG 함수 (Oracle)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6  |  13/14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6: 그룹 함수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LISTAGG 함수는 그룹 내의 값을 지정한 구분자로 연결하여 하나의 문자열로 반환한다.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403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구문 (Syntax)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54480"/>
            <a:ext cx="11640312" cy="594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459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LISTAGG(열, '구분자') WITHIN GROUP (ORDER BY 정렬기준)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74320" y="2194560"/>
          <a:ext cx="116403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파라미터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설명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예시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열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연결할 값이 있는 열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last_name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구분자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값 사이에 삽입할 문자열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', '  또는  ' | 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ORDER BY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연결 순서 지정 (필수)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ORDER BY last_name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74320" y="4114800"/>
            <a:ext cx="116403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480560"/>
            <a:ext cx="11640312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572000"/>
            <a:ext cx="11365992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부서 20의 사원 이름을 쉼표로 연결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department_id,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LISTAGG(last_name, ', ')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WITHIN GROUP (ORDER BY last_name) AS employees_list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department_id = 20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GROUP BY department_id;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결과: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DEPARTMENT_ID | EMPLOYEES_LIST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-------------|------------------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          20 | Fay, Hartstein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Chapter 6 단원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56032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그룹 함수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00584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COUNT / AVG / SUM / MIN / MAX — 그룹당 1개 결과 반환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256032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NULL 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60020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그룹 함수는 NULL 자동 무시 — NVL로 명시적 포함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56032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DISTINCT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19456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COUNT(DISTINCT col) — 중복 제거 후 비-NULL 카운트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256032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GROUP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78892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SELECT의 비집계 열은 반드시 GROUP BY에 포함해야 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256032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8328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잘못된 패턴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38328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ORA-00937 / ORA-00979 / ORA-00934 — 오류 유형 숙지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256032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77639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HAVING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3977639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그룹 함수 기준 그룹 필터링 — WHERE로는 불가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256032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처리 순서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57200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FROM → WHERE → GROUP BY → HAVING → SELECT → ORDER BY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66360"/>
            <a:ext cx="256032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1663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그룹 함수 중첩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516636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MAX(AVG(salary)) — 2단계까지 가능, GROUP BY 필수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256032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76072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LISTAGG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576072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그룹 내 값을 구분자로 연결 — WITHIN GROUP (ORDER BY ...) 필수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Oracle Database 19c  |  Chapter 6: 그룹 함수를 사용한 집계 데이터 보고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
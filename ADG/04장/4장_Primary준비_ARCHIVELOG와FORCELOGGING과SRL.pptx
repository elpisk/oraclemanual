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Guard 구축은 같은 작업을 두 번 이상 하게 되는 경우가 많습니다. 첫 시도가 실패하거나, 나중에 Standby를 추가하거나, 테스트 환경을 새로 만들거나. 그때마다 그래픽 화면에서 같은 값을 다시 입력하는 것은 실수의 원천입니다. 명령 한 줄로 남겨 두면 재현도 되고 검토도 됩니다. 또한 무인 실행은 로그를 파일로 남기기 좋습니다. 실습 환경에서도 표준 출력을 /home/oracle/dbca_chicago.log 로 받아 두었고, 실습 01 에서 그 파일을 그대로 읽습니다. 화면에서 진행했다면 남지 않았을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-totalMemory 4096을 주면 오라클이 알아서 SGA와 PGA로 나눕니다. 실측에서 sga_target 3,221,225,472바이트와 pga_aggregate_target 1,073,741,824바이트로 3대1 비율이 됐습니다. Standby도 비슷한 메모리가 필요합니다. MRP와 적용 슬레이브가 이 메모리를 쓰기 때문이며, Standby를 작게 잡으면 적용이 밀립니다.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DBT-10317은 실제로 구축 중에 겪은 오류입니다. /etc/oratab에 chicago 항목을 미리 넣어 두었더니 DBCA가 중복으로 판단해 즉시 멈췄습니다. 실제 인스턴스가 없어도 oratab에 항목만 있으면 검사에 걸립니다. oratab 등록은 DBCA에게 맡겨야 한다는 교훈이며, 실습생이 똑같이 밟을 함정입니다. 진행률이 51퍼센트에서 오래 멈춘 것처럼 보이는 것도 짚어 주십시오. 카탈로그 스크립트를 실행하는 구간이라 정상입니다. 실습 환경에서 전체 12분이 걸렸는데 그중 상당 부분이 이 구간이었습니다.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실무에서 중요한 이유는 손해의 크기가 다르기 때문입니다. ARCHIVELOG를 안 켰다면 나중에 켜면 됩니다. 그런데 문자셋을 잘못 정했다면 데이터베이스를 다시 만들어야 합니다. Standby를 다 만들고 나서 발견하면 그동안의 작업이 전부 무의미해집니다. 그래서 앞의 다섯 가지를 먼저 확정하라는 것입니다. 실습 환경도 -enableArchive false 로 만든 뒤 4.3절에서 수동으로 켰습니다. 절차를 눈으로 보기 위한 선택이었지만, 실무에서도 이런 유연성이 도움이 됩니다. 급하게 만들어 놓고 나중에 차분히 조건을 갖출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갭 해소가 자동이라는 말이 "무조건 알아서 된다"는 뜻이 아니라는 점을 여기서 다시 짚어 주십시오. 필요한 아카이브 파일이 Primary에 남아 있어야 성립합니다. ARCHIVELOG가 아니면 애초에 그 파일이 만들어지지 않고, ARCHIVELOG라도 파일을 지워 버렸다면 마찬가지입니다. 7장에서 이 상황을 재현합니다. 또 하나, ARCHIVELOG는 Data Guard가 아니어도 운영 데이터베이스라면 당연히 켜 두는 설정입니다. 시점 복구가 불가능해지기 때문입니다. 따라서 이 조건 때문에 새로 고민할 일은 실무에서 거의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LOG_ARCHIVE_FORMAT의 %r을 설명해 주십시오. resetlogs ID입니다. 불완전 복구 후 RESETLOGS를 하면 시퀀스 번호가 1부터 다시 시작하므로, %r이 없으면 이전 파일과 이름이 겹쳐 덮어쓸 위험이 있습니다. 세 치환 문자가 모두 필요한 이유입니다. ARCHIVE LOG LIST는 사람이 보기 편하지만 SQL*Plus 전용이라 스크립트에서 쓸 수 없습니다. 모니터링을 만든다면 V$DATABASE와 V$ARCHIVED_LOG를 조합해야 합니다. 두 방법을 모두 알아 두어야 하는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2장에서 "Maximum Performance는 Standby 장애가 Primary에 영향을 주지 않는다"고 배웠는데, 여기서 예외가 하나 나옵니다. FRA를 통한 경로입니다. Standby를 며칠 방치하면 아카이브가 쌓여 FRA가 차고, 결국 Primary가 멈춥니다. "우리는 성능 모드니까 괜찮다"는 판단이 위험해지는 지점이므로 반드시 짚어야 합니다. 대책은 셋입니다. FRA 크기를 넉넉히 잡거나, 사용률을 감시해 경보를 내거나, Standby 장애가 길어지면 해당 목적지를 DEFER 해 아카이브가 쌓이지 않게 합니다. 다만 DEFER 하는 순간부터 갭이 커지므로 최후 수단입니다.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오류 번호가 상황에 따라 다른 의미를 갖는다는 좋은 예입니다. 오류 번호만 보고 원인을 단정하면 안 된다는 원칙을 다시 확인하는 자리이기도 합니다. 그리고 운영 중인 Data Guard에서 ARCHIVELOG를 끄는 일은 없어야 합니다. 껐다 켠 구간의 리두는 아카이브되지 않아 Standby에 영구적인 구멍이 남습니다. 껐다 켠 구간의 리두는 아카이브되지 않으므로 Standby에 영구적인 구멍이 남고, 재구축 말고는 메울 방법이 없습니다. 유지보수를 이유로 잠깐 끄자는 제안이 나오면 이 사실을 근거로 막아야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"NOLOGGING인데 리두가 남는다"는 말이 모순처럼 들려서 학습자가 잘 받아들이지 못합니다. 그래서 다음 슬라이드에서 실제로 측정합니다. 말로 설명하는 것보다 수치를 보여 주는 편이 훨씬 효과적이며, 이 장에서 실측을 넣은 가장 큰 이유입니다. Standby에 생긴 손상 블록은 즉시 드러나지 않습니다. 그 블록을 실제로 읽으려 할 때, 즉 역할 전환 이후나 Standby에서 조회할 때에야 오류로 나타납니다. 사고가 나야 알게 된다는 점이 이 문제를 특히 위험하게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4장의 핵심입니다. A와 B의 차이가 43,852바이트, 약 0.9퍼센트에 불과하다는 점을 강조해 주십시오. FORCE LOGGING이 켜져 있으면 NOLOGGING을 쓰든 안 쓰든 리두가 똑같이 발생합니다. 지정이 무시된 것입니다. 그리고 세그먼트 크기가 셋 다 5MB라는 사실이 결정적입니다. 같은 데이터를 만들었는데 리두만 44배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LOGGING을 켜 두었는데도 이 값이 올라가 있다면, 누군가 잠시 껐거나 테이블스페이스 단위로 예외를 두었다는 뜻입니다. 실무에서 "분명 FORCE LOGGING인데 Standby에서 블록 오류가 난다"는 상황의 원인을 찾는 단서가 됩니다. 그리고 FORCE LOGGING을 다시 켜도 이미 생긴 값은 그대로 남습니다. 실무에서 이 조회가 쓰이는 장면은 이렇습니다. Standby에서 블록 오류가 났는데 FORCE LOGGING은 분명히 YES입니다. 이 조회로 UNRECOVERABLE_TIME을 확인하면 언제 구멍이 생겼는지 알 수 있고, 그 시각의 작업 이력을 뒤져 원인을 특정할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Guard 환경에서는 데이터베이스 수준을 켜는 것이 원칙이므로 테이블스페이스 단위 설정은 사실상 쓸 일이 없습니다. 그럼에도 다루는 이유는 남의 설정을 읽을 때 혼란을 피하기 위해서입니다. DBA_TABLESPACES.FORCE_LOGGING이 NO인 것을 보고 "보호가 안 되고 있다"고 오판하는 경우가 있습니다. 확인 조회가 서로 다르다는 점도 기억해 두십시오. 데이터베이스 수준은 V$DATABASE.FORCE_LOGGING, 테이블스페이스 수준은 DBA_TABLESPACES.FORCE_LOGGING입니다. 점검 스크립트에는 둘 다 넣는 편이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실무적으로 유용합니다. "끄면 44배 빨라지지만 Standby에 구멍이 생긴다"는 한 문장이 논의를 정리해 줍니다. 숫자가 없으면 "좀 느려진다"와 "좀 위험해진다"의 대결이 되어 결론이 나지 않지만, 44배라는 숫자가 있으면 논의의 성격이 바뀝니다. 세 번째 항목의 절차를 구체적으로 알아 두면 좋습니다. Primary에서 해당 데이터 파일의 백업을 뜨고 Standby에 복원한 뒤, MRP를 다시 돌려 그 시점 이후의 리두를 적용하는 방식입니다. 16장에서 Standby 백업을 다룰 때 관련 절차가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개수 규칙의 근거를 함께 설명하면 외우지 않아도 됩니다. 온라인 그룹 수만큼만 있으면 모두 아카이브 중일 때 받을 곳이 없어지므로 최소 하나가 더 필요합니다. 그리고 이 규칙은 뒤에서 보듯 "동작의 최소 요건"이 아니라 "권장"입니다. 하나만 있어도 적용은 시작되지만 지연이 커집니다. RAC 환경이라면 계산이 달라집니다. 각 스레드마다 온라인 리두 그룹이 있으므로, SRL도 스레드별로 (그 스레드의 그룹 수 + 1)개씩 만들어야 합니다. 이 과정은 단일 인스턴스로 한정하지만 개념은 알아 두는 편이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Primary의 SRL은 평소 놀고 있어 관심에서 멀어지기 쉽습니다. 그러나 Switchover 직후에는 즉시 필요해집니다. 미리 만들어 두지 않으면 전환 직후 실시간 적용이 되지 않아 지연이 생깁니다. 정기 점검에 양쪽을 모두 넣어야 하는 이유입니다. ACTIVE와 UNASSIGNED 외에 다른 상태도 나타날 수 있습니다. 아카이브 중이면 그에 맞는 상태가 되며, 이때는 삭제가 거부됩니다. 실습 05에서 ORA-00261을 만나게 되는 배경입니다.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"오라클이 막아 주겠지"라는 기대가 통하지 않는 대표적인 사례입니다. 생성은 되고 조회하면 보이는데 동작하지 않습니다. 오류도 경고도 없습니다. 그래서 만든 뒤 반드시 온라인 리두와 크기를 대조해야 합니다. 다음 슬라이드의 UNION ALL 조회가 그 대조를 한 줄로 해 줍니다. 이 문제가 실제로 발생하는 가장 흔한 경로는 온라인 리두 크기 변경입니다. 성능 개선을 위해 온라인 리두를 키우는 작업은 드물지 않은데, 그때 SRL을 함께 손보지 않으면 실시간 적용이 조용히 멈춥니다. 8장에서 이 상황을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MIN과 MAX를 함께 보는 이유는 크기가 섞인 경우를 잡아내기 위해서입니다. 100MB짜리를 추가한 직후에 실행했다면 MIN_MB가 100으로 나와 즉시 이상이 드러났을 것입니다. COUNT만 보면 5개로 늘어난 것처럼 보여 오히려 좋아 보입니다. 양쪽 노드에서 실행해 대칭인지도 확인하십시오. 이 조회를 정기 점검 스크립트에 넣어 두면 좋습니다. 다만 정기 점검보다 중요한 것은 계기 기반 점검입니다. 온라인 리두 구성을 바꾼 직후에는 반드시 확인해야 하며, 그 시점이 문제가 생기는 유일한 순간이기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ORA-00261의 원인이 특히 중요합니다. MRP를 CANCEL 했는데도 SRL이 ACTIVE인 것은 적용과 수신이 별개의 흐름이기 때문입니다. Primary는 계속 보내고 RFS는 계속 받습니다. 삭제하려면 Primary에서 목적지를 DEFER 하거나 다른 그룹부터 처리해야 합니다. 세 오류 모두 실습 05에서 직접 만나게 됩니다. 특히 ORA-01184의 부분 실패 성질은 복구 상황에서 혼란을 크게 만듭니다. 분명히 실행했는데 조회해 보면 하나만 있어서, 명령이 실행되지 않은 것으로 오해하기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실측이 유용한 이유는 "SRL이 부족하면 적용이 아예 안 되는 것 아닌가"라는 오해를 풀어 주기 때문입니다. 동작은 합니다. 그래서 오히려 발견이 늦어집니다. 지연이 서서히 커지는 것으로만 나타나므로, 개수를 규칙대로 맞춰 두는 것이 예방입니다. 이 실측이 유용한 이유는 오해를 풀어 주기 때문입니다. SRL이 부족하면 적용이 아예 안 될 것이라 생각하기 쉬운데, 실제로는 동작합니다. 그래서 오히려 발견이 늦어지고 지연만 서서히 커집니다. 개수를 규칙대로 맞춰 두는 것이 예방입니다.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기준을 한 문장으로 줄이면 "Standby가 못 따라올 때 적재를 기다리게 할 것인가, 그냥 진행할 것인가"입니다. 기다리게 하겠다면 DATA AVAILABILITY, 진행하겠다면 LOAD PERFORMANCE, 그런 상황을 아예 만들지 않겠다면 FORCE LOGGING입니다. 이 한 문장이면 현장에서 판단이 됩니다. 두 모드 모두 FORCE LOGGING을 대체하는 것이지 병행하는 것이 아닙니다. 설정하는 순간 FORCE LOGGING 상태가 그 모드로 바뀝니다. 다음 슬라이드에서 V$DATABASE.FORCE_LOGGING 값이 어떻게 표시되는지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점검 스크립트를 19c로 올릴 때 확인해야 할 항목입니다. 사소해 보이지만 "보호가 꺼져 있는데 모니터링이 잡아내지 못하는" 상황을 만들 수 있습니다. 이런 종류의 문제는 사고가 나기 전까지 드러나지 않아 더 위험합니다. 사소해 보이지만 보호가 꺼져 있는데 모니터링이 잡아내지 못하는 상황을 만들 수 있습니다. 이런 종류의 문제는 사고가 나기 전까지 드러나지 않아 더 위험합니다. 19c로 올릴 때 기존 점검 스크립트를 한 번씩 훑어보라고 권하는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반드시 짚어 주십시오. "리두가 너무 많다"는 문제가 일반 DML 때문이라면 이 모드는 답이 아닙니다. 그런데 이름만 보고 만능 해법으로 오해하기 쉽습니다. 문제의 원인이 어디에 있는지 먼저 확인해야 하며, 일반 DML의 리두를 줄이려면 트랜잭션 설계나 배치 방식을 손봐야 합니다. 표의 네 행이 보호와 성능의 스펙트럼을 이룹니다. 위로 갈수록 안전하고 아래로 갈수록 빠릅니다. 어느 지점을 고를지는 기술적 판단이 아니라 사업적 판단이며, 2장의 보호 모드 선택과 같은 성격의 결정입니다.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점검표가 1~4장의 결론입니다. 아홉 항목이 모두 통과하면 5장의 RMAN DUPLICATE로 넘어갈 준비가 된 것입니다. 그리고 하나라도 빠지면 어디서 막힐지를 이미 앞 장들에서 재현해 봤으므로, 학습자는 오류를 만났을 때 당황하지 않고 이 표로 돌아올 수 있습니다. 이 표를 인쇄해 옆에 두고 5장 실습을 진행하게 하면 효과가 좋습니다. RMAN DUPLICATE가 막혔을 때 오류 번호로 어느 항목이 빠졌는지 역추적할 수 있기 때문입니다. 1~4장이 5장을 위한 준비였다는 것이 이 표에서 분명해집니다.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Primary 준비</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ARCHIVELOG · FORCE LOGGING · Standby Redo Log — 구축이 시작된다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리두 44배 실측 · SRL 산정 · 19c STANDBY NOLOGGING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DBCA silent 모드 CDB 생성 명령의 각 옵션이 무엇을 정하는지 설명한다.</a:t>
            </a:r>
          </a:p>
          <a:p>
            <a:pPr algn="l">
              <a:spcAft>
                <a:spcPts val="1000"/>
              </a:spcAft>
            </a:pPr>
            <a:r>
              <a:rPr sz="1600" b="0">
                <a:solidFill>
                  <a:srgbClr val="222222"/>
                </a:solidFill>
                <a:latin typeface="맑은 고딕"/>
              </a:rPr>
              <a:t>•  ARCHIVELOG 모드를 확인·전환하고 전환이 거부되는 조건을 안다.</a:t>
            </a:r>
          </a:p>
          <a:p>
            <a:pPr algn="l">
              <a:spcAft>
                <a:spcPts val="1000"/>
              </a:spcAft>
            </a:pPr>
            <a:r>
              <a:rPr sz="1600" b="0">
                <a:solidFill>
                  <a:srgbClr val="222222"/>
                </a:solidFill>
                <a:latin typeface="맑은 고딕"/>
              </a:rPr>
              <a:t>•  FORCE LOGGING이 NOLOGGING을 무력화하는 것을 리두 발생량 측정으로 실증한다.</a:t>
            </a:r>
          </a:p>
          <a:p>
            <a:pPr algn="l">
              <a:spcAft>
                <a:spcPts val="1000"/>
              </a:spcAft>
            </a:pPr>
            <a:r>
              <a:rPr sz="1600" b="0">
                <a:solidFill>
                  <a:srgbClr val="222222"/>
                </a:solidFill>
                <a:latin typeface="맑은 고딕"/>
              </a:rPr>
              <a:t>•  데이터베이스 단위와 테이블스페이스 단위 FORCE LOGGING의 관계를 구분한다.</a:t>
            </a:r>
          </a:p>
          <a:p>
            <a:pPr algn="l">
              <a:spcAft>
                <a:spcPts val="1000"/>
              </a:spcAft>
            </a:pPr>
            <a:r>
              <a:rPr sz="1600" b="0">
                <a:solidFill>
                  <a:srgbClr val="222222"/>
                </a:solidFill>
                <a:latin typeface="맑은 고딕"/>
              </a:rPr>
              <a:t>•  SRL의 개수와 크기를 산정하고 생성한다. 크기가 다를 때 무슨 일이 일어나는지 안다.</a:t>
            </a:r>
          </a:p>
          <a:p>
            <a:pPr algn="l">
              <a:spcAft>
                <a:spcPts val="1000"/>
              </a:spcAft>
            </a:pPr>
            <a:r>
              <a:rPr sz="1600" b="0">
                <a:solidFill>
                  <a:srgbClr val="222222"/>
                </a:solidFill>
                <a:latin typeface="맑은 고딕"/>
              </a:rPr>
              <a:t>•  SRL 작업에서 만나는 세 오류(ORA-00261·ORA-01153·ORA-01184)를 구분한다.</a:t>
            </a:r>
          </a:p>
          <a:p>
            <a:pPr algn="l">
              <a:spcAft>
                <a:spcPts val="1000"/>
              </a:spcAft>
            </a:pPr>
            <a:r>
              <a:rPr sz="1600" b="0">
                <a:solidFill>
                  <a:srgbClr val="222222"/>
                </a:solidFill>
                <a:latin typeface="맑은 고딕"/>
              </a:rPr>
              <a:t>•  19c의 STANDBY NOLOGGING 두 모드를 구분하고 선택 기준을 댄다.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4.2  DBCA silent 모드로 CDB 만들기</a:t>
            </a:r>
          </a:p>
          <a:p>
            <a:pPr algn="l">
              <a:spcAft>
                <a:spcPts val="1000"/>
              </a:spcAft>
            </a:pPr>
            <a:r>
              <a:rPr sz="1600" b="0">
                <a:solidFill>
                  <a:srgbClr val="222222"/>
                </a:solidFill>
                <a:latin typeface="맑은 고딕"/>
              </a:rPr>
              <a:t>•  4.3  ARCHIVELOG 모드</a:t>
            </a:r>
          </a:p>
          <a:p>
            <a:pPr algn="l">
              <a:spcAft>
                <a:spcPts val="1000"/>
              </a:spcAft>
            </a:pPr>
            <a:r>
              <a:rPr sz="1600" b="0">
                <a:solidFill>
                  <a:srgbClr val="222222"/>
                </a:solidFill>
                <a:latin typeface="맑은 고딕"/>
              </a:rPr>
              <a:t>•  4.4  FORCE LOGGING — 이 장의 핵심</a:t>
            </a:r>
          </a:p>
          <a:p>
            <a:pPr algn="l">
              <a:spcAft>
                <a:spcPts val="1000"/>
              </a:spcAft>
            </a:pPr>
            <a:r>
              <a:rPr sz="1600" b="0">
                <a:solidFill>
                  <a:srgbClr val="222222"/>
                </a:solidFill>
                <a:latin typeface="맑은 고딕"/>
              </a:rPr>
              <a:t>•  4.5  Standby Redo Log</a:t>
            </a:r>
          </a:p>
          <a:p>
            <a:pPr algn="l">
              <a:spcAft>
                <a:spcPts val="1000"/>
              </a:spcAft>
            </a:pPr>
            <a:r>
              <a:rPr sz="1600" b="0">
                <a:solidFill>
                  <a:srgbClr val="222222"/>
                </a:solidFill>
                <a:latin typeface="맑은 고딕"/>
              </a:rPr>
              <a:t>•  4.6  19c의 STANDBY NOLOGGING 모드</a:t>
            </a:r>
          </a:p>
          <a:p>
            <a:pPr algn="l">
              <a:spcAft>
                <a:spcPts val="1000"/>
              </a:spcAft>
            </a:pPr>
            <a:r>
              <a:rPr sz="1600" b="0">
                <a:solidFill>
                  <a:srgbClr val="222222"/>
                </a:solidFill>
                <a:latin typeface="맑은 고딕"/>
              </a:rPr>
              <a:t>•  4.7  Primary 준비 점검표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DBCA silent 모드로 CDB 만들기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왜 무인 모드인가</a:t>
            </a:r>
          </a:p>
          <a:p>
            <a:pPr algn="l">
              <a:spcAft>
                <a:spcPts val="800"/>
              </a:spcAft>
            </a:pPr>
            <a:r>
              <a:rPr sz="1600" b="0">
                <a:solidFill>
                  <a:srgbClr val="FFFFFF"/>
                </a:solidFill>
                <a:latin typeface="맑은 고딕"/>
              </a:rPr>
              <a:t>•  Data Guard 관점에서 중요한 옵션</a:t>
            </a:r>
          </a:p>
          <a:p>
            <a:pPr algn="l">
              <a:spcAft>
                <a:spcPts val="800"/>
              </a:spcAft>
            </a:pPr>
            <a:r>
              <a:rPr sz="1600" b="0">
                <a:solidFill>
                  <a:srgbClr val="FFFFFF"/>
                </a:solidFill>
                <a:latin typeface="맑은 고딕"/>
              </a:rPr>
              <a:t>•  생성 로그 읽는 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silent 모드인가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같은 명령을 반복 실행할 수 있어 재현이 가능하다</a:t>
            </a:r>
          </a:p>
          <a:p>
            <a:pPr algn="l">
              <a:spcAft>
                <a:spcPts val="1000"/>
              </a:spcAft>
            </a:pPr>
            <a:r>
              <a:rPr sz="1700" b="0">
                <a:solidFill>
                  <a:srgbClr val="222222"/>
                </a:solidFill>
                <a:latin typeface="맑은 고딕"/>
              </a:rPr>
              <a:t>•  ② 스크립트로 남겨 두면 그 자체가 문서가 된다</a:t>
            </a:r>
          </a:p>
          <a:p>
            <a:pPr algn="l">
              <a:spcAft>
                <a:spcPts val="1000"/>
              </a:spcAft>
            </a:pPr>
            <a:r>
              <a:rPr sz="1700" b="0">
                <a:solidFill>
                  <a:srgbClr val="222222"/>
                </a:solidFill>
                <a:latin typeface="맑은 고딕"/>
              </a:rPr>
              <a:t>•  ③ 원격 서버에 X 환경을 마련할 필요가 없다</a:t>
            </a:r>
          </a:p>
          <a:p>
            <a:pPr algn="l">
              <a:spcAft>
                <a:spcPts val="1000"/>
              </a:spcAft>
            </a:pPr>
            <a:r>
              <a:rPr sz="1700" b="0">
                <a:solidFill>
                  <a:srgbClr val="222222"/>
                </a:solidFill>
                <a:latin typeface="맑은 고딕"/>
              </a:rPr>
              <a:t>•  ADMIN 5장에서 DBCA 를 이미 다뤘으므로 여기서는 Data Guard 관련만 짚는다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 Guard 관점의 주요 옵션</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-gdbname / -sid : 둘 다 chicago → DB_NAME 이 되며 Standby 도 같다</a:t>
            </a:r>
          </a:p>
          <a:p>
            <a:pPr algn="l">
              <a:spcAft>
                <a:spcPts val="1000"/>
              </a:spcAft>
            </a:pPr>
            <a:r>
              <a:rPr sz="1600" b="0">
                <a:solidFill>
                  <a:srgbClr val="222222"/>
                </a:solidFill>
                <a:latin typeface="맑은 고딕"/>
              </a:rPr>
              <a:t>•  -characterSet : 양쪽이 같아야 한다 (복제본이므로 자동으로 같아짐)</a:t>
            </a:r>
          </a:p>
          <a:p>
            <a:pPr algn="l">
              <a:spcAft>
                <a:spcPts val="1000"/>
              </a:spcAft>
            </a:pPr>
            <a:r>
              <a:rPr sz="1600" b="0">
                <a:solidFill>
                  <a:srgbClr val="222222"/>
                </a:solidFill>
                <a:latin typeface="맑은 고딕"/>
              </a:rPr>
              <a:t>•  -totalMemory 4096 : SGA 3GB + PGA 1GB 로 나뉜다. Standby 도 비슷하게</a:t>
            </a:r>
          </a:p>
          <a:p>
            <a:pPr algn="l">
              <a:spcAft>
                <a:spcPts val="1000"/>
              </a:spcAft>
            </a:pPr>
            <a:r>
              <a:rPr sz="1600" b="0">
                <a:solidFill>
                  <a:srgbClr val="222222"/>
                </a:solidFill>
                <a:latin typeface="맑은 고딕"/>
              </a:rPr>
              <a:t>•  -enableArchive false : 실습에서는 끄고 4.3절에서 수동 전환</a:t>
            </a:r>
          </a:p>
          <a:p>
            <a:pPr algn="l">
              <a:spcAft>
                <a:spcPts val="1000"/>
              </a:spcAft>
            </a:pPr>
            <a:r>
              <a:rPr sz="1600" b="0">
                <a:solidFill>
                  <a:srgbClr val="222222"/>
                </a:solidFill>
                <a:latin typeface="맑은 고딕"/>
              </a:rPr>
              <a:t>•  -recoveryAreaSize 15360 : FRA. 가득 차면 Primary 가 멈춘다</a:t>
            </a:r>
          </a:p>
          <a:p>
            <a:pPr algn="l">
              <a:spcAft>
                <a:spcPts val="1000"/>
              </a:spcAft>
            </a:pPr>
            <a:r>
              <a:rPr sz="1600" b="0">
                <a:solidFill>
                  <a:srgbClr val="222222"/>
                </a:solidFill>
                <a:latin typeface="맑은 고딕"/>
              </a:rPr>
              <a:t>•  -datafileDestination : 경로 지정 방식. 6장에서 OMF 와 대조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생성 로그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경고와 치명적 오류를 구분한다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[WARNING] [DBT-06208] 비밀번호가 권장 기준 미달 — 진행된다</a:t>
            </a:r>
          </a:p>
          <a:p>
            <a:pPr algn="l">
              <a:spcAft>
                <a:spcPts val="1000"/>
              </a:spcAft>
            </a:pPr>
            <a:r>
              <a:rPr sz="1700" b="0">
                <a:solidFill>
                  <a:srgbClr val="222222"/>
                </a:solidFill>
                <a:latin typeface="맑은 고딕"/>
              </a:rPr>
              <a:t>•  [WARNING] [DBT-10328] GDB 이름 충돌 가능성 — 진행된다</a:t>
            </a:r>
          </a:p>
          <a:p>
            <a:pPr algn="l">
              <a:spcAft>
                <a:spcPts val="1000"/>
              </a:spcAft>
            </a:pPr>
            <a:r>
              <a:rPr sz="1700" b="0">
                <a:solidFill>
                  <a:srgbClr val="222222"/>
                </a:solidFill>
                <a:latin typeface="맑은 고딕"/>
              </a:rPr>
              <a:t>•  [FATAL] [DBT-10317] SID 가 이미 존재 — 즉시 중단</a:t>
            </a:r>
          </a:p>
          <a:p>
            <a:pPr algn="l">
              <a:spcAft>
                <a:spcPts val="1000"/>
              </a:spcAft>
            </a:pPr>
            <a:r>
              <a:rPr sz="1700" b="0">
                <a:solidFill>
                  <a:srgbClr val="222222"/>
                </a:solidFill>
                <a:latin typeface="맑은 고딕"/>
              </a:rPr>
              <a:t>•  로그를 읽을 때는 [FATAL] 부터 찾는다. 그것이 실제 중단 원인이다</a:t>
            </a:r>
          </a:p>
          <a:p>
            <a:pPr algn="l">
              <a:spcAft>
                <a:spcPts val="1000"/>
              </a:spcAft>
            </a:pPr>
            <a:r>
              <a:rPr sz="1700" b="0">
                <a:solidFill>
                  <a:srgbClr val="222222"/>
                </a:solidFill>
                <a:latin typeface="맑은 고딕"/>
              </a:rPr>
              <a:t>•  진행 단계 : 파일 복사(31%) → 인스턴스(46%) → 마무리(54%) → PDB(77%) → 후속(100%)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DBCA 가 정하는 것과 나중에 바꾸는 것</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되돌릴 수 없는 것 : DB_NAME · 문자셋 · DB_BLOCK_SIZE · PDB 구성 · 경로 방식</a:t>
            </a:r>
          </a:p>
          <a:p>
            <a:pPr algn="l">
              <a:spcAft>
                <a:spcPts val="1000"/>
              </a:spcAft>
            </a:pPr>
            <a:r>
              <a:rPr sz="1600" b="0">
                <a:solidFill>
                  <a:srgbClr val="222222"/>
                </a:solidFill>
                <a:latin typeface="맑은 고딕"/>
              </a:rPr>
              <a:t>•  나중에 바꾸는 것 : ARCHIVELOG · FORCE LOGGING · SRL · DG 파라미터 · 보호 모드</a:t>
            </a:r>
          </a:p>
          <a:p>
            <a:pPr algn="l">
              <a:spcAft>
                <a:spcPts val="1000"/>
              </a:spcAft>
            </a:pPr>
            <a:r>
              <a:rPr sz="1600" b="0">
                <a:solidFill>
                  <a:srgbClr val="222222"/>
                </a:solidFill>
                <a:latin typeface="맑은 고딕"/>
              </a:rPr>
              <a:t>•  1장 점검표에 문자셋과 블록 크기가 있는 이유가 여기 있다</a:t>
            </a:r>
          </a:p>
          <a:p>
            <a:pPr algn="l">
              <a:spcAft>
                <a:spcPts val="1000"/>
              </a:spcAft>
            </a:pPr>
            <a:r>
              <a:rPr sz="1600" b="0">
                <a:solidFill>
                  <a:srgbClr val="222222"/>
                </a:solidFill>
                <a:latin typeface="맑은 고딕"/>
              </a:rPr>
              <a:t>•  구축 순서 : "되돌릴 수 없는 것"부터 확정한다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ARCHIVELOG 모드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Data Guard 의 전제</a:t>
            </a:r>
          </a:p>
          <a:p>
            <a:pPr algn="l">
              <a:spcAft>
                <a:spcPts val="800"/>
              </a:spcAft>
            </a:pPr>
            <a:r>
              <a:rPr sz="1600" b="0">
                <a:solidFill>
                  <a:srgbClr val="FFFFFF"/>
                </a:solidFill>
                <a:latin typeface="맑은 고딕"/>
              </a:rPr>
              <a:t>•  상태 확인 두 가지 방법</a:t>
            </a:r>
          </a:p>
          <a:p>
            <a:pPr algn="l">
              <a:spcAft>
                <a:spcPts val="800"/>
              </a:spcAft>
            </a:pPr>
            <a:r>
              <a:rPr sz="1600" b="0">
                <a:solidFill>
                  <a:srgbClr val="FFFFFF"/>
                </a:solidFill>
                <a:latin typeface="맑은 고딕"/>
              </a:rPr>
              <a:t>•  FRA 가 Primary 를 멈출 수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ARCHIVELOG 가 전제인 이유</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NOARCHIVELOG : 온라인 리두가 순환하며 덮어쓰인다 → 리두가 사라진다</a:t>
            </a:r>
          </a:p>
          <a:p>
            <a:pPr algn="l">
              <a:spcAft>
                <a:spcPts val="1000"/>
              </a:spcAft>
            </a:pPr>
            <a:r>
              <a:rPr sz="1600" b="0">
                <a:solidFill>
                  <a:srgbClr val="222222"/>
                </a:solidFill>
                <a:latin typeface="맑은 고딕"/>
              </a:rPr>
              <a:t>•  Standby 가 뒤처지면 따라올 방법이 없다</a:t>
            </a:r>
          </a:p>
          <a:p>
            <a:pPr algn="l">
              <a:spcAft>
                <a:spcPts val="1000"/>
              </a:spcAft>
            </a:pPr>
            <a:r>
              <a:rPr sz="1600" b="0">
                <a:solidFill>
                  <a:srgbClr val="222222"/>
                </a:solidFill>
                <a:latin typeface="맑은 고딕"/>
              </a:rPr>
              <a:t>•  ARCHIVELOG : 덮어쓰기 전에 아카이브로 복사 → 나중에 받아 갭을 메운다</a:t>
            </a:r>
          </a:p>
          <a:p>
            <a:pPr algn="l">
              <a:spcAft>
                <a:spcPts val="1000"/>
              </a:spcAft>
            </a:pPr>
            <a:r>
              <a:rPr sz="1600" b="0">
                <a:solidFill>
                  <a:srgbClr val="222222"/>
                </a:solidFill>
                <a:latin typeface="맑은 고딕"/>
              </a:rPr>
              <a:t>•  1장의 자동 갭 해소도 이 파일들이 전제다</a:t>
            </a:r>
          </a:p>
          <a:p>
            <a:pPr algn="l">
              <a:spcAft>
                <a:spcPts val="1000"/>
              </a:spcAft>
            </a:pPr>
            <a:r>
              <a:rPr sz="1600" b="0">
                <a:solidFill>
                  <a:srgbClr val="222222"/>
                </a:solidFill>
                <a:latin typeface="맑은 고딕"/>
              </a:rPr>
              <a:t>•  즉 선택 사항이 아니라 전제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상태 확인 — 두 가지 방법</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ARCHIVE LOG LIST (SQL*Plus 전용) — 한 화면에 모두</a:t>
            </a:r>
          </a:p>
          <a:p>
            <a:pPr algn="l">
              <a:spcAft>
                <a:spcPts val="1000"/>
              </a:spcAft>
            </a:pPr>
            <a:r>
              <a:rPr sz="1600" b="0">
                <a:solidFill>
                  <a:srgbClr val="222222"/>
                </a:solidFill>
                <a:latin typeface="맑은 고딕"/>
              </a:rPr>
              <a:t>•  V$DATABASE.LOG_MODE / FORCE_LOGGING / FLASHBACK_ON — 스크립트용</a:t>
            </a:r>
          </a:p>
          <a:p>
            <a:pPr algn="l">
              <a:spcAft>
                <a:spcPts val="1000"/>
              </a:spcAft>
            </a:pPr>
            <a:r>
              <a:rPr sz="1600" b="0">
                <a:solidFill>
                  <a:srgbClr val="222222"/>
                </a:solidFill>
                <a:latin typeface="맑은 고딕"/>
              </a:rPr>
              <a:t>•  LOG_ARCHIVE_FORMAT = %t_%s_%r.dbf (스레드·시퀀스·resetlogs ID)</a:t>
            </a:r>
          </a:p>
          <a:p>
            <a:pPr algn="l">
              <a:spcAft>
                <a:spcPts val="1000"/>
              </a:spcAft>
            </a:pPr>
            <a:r>
              <a:rPr sz="1600" b="0">
                <a:solidFill>
                  <a:srgbClr val="222222"/>
                </a:solidFill>
                <a:latin typeface="맑은 고딕"/>
              </a:rPr>
              <a:t>•  LOG_ARCHIVE_MAX_PROCESSES = 4 → 1장의 ARC0~ARC3 과 일치</a:t>
            </a:r>
          </a:p>
          <a:p>
            <a:pPr algn="l">
              <a:spcAft>
                <a:spcPts val="1000"/>
              </a:spcAft>
            </a:pPr>
            <a:r>
              <a:rPr sz="1600" b="0">
                <a:solidFill>
                  <a:srgbClr val="222222"/>
                </a:solidFill>
                <a:latin typeface="맑은 고딕"/>
              </a:rPr>
              <a:t>•  실측: Oldest 51 / Next 53 / Current 53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FRA — Data Guard 환경의 감시 항목</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실측: 한도 15360MB, 사용 228.24MB, 1.49%</a:t>
            </a:r>
          </a:p>
          <a:p>
            <a:pPr algn="l">
              <a:spcAft>
                <a:spcPts val="1000"/>
              </a:spcAft>
            </a:pPr>
            <a:r>
              <a:rPr sz="1600" b="0">
                <a:solidFill>
                  <a:srgbClr val="222222"/>
                </a:solidFill>
                <a:latin typeface="맑은 고딕"/>
              </a:rPr>
              <a:t>•  100% 가 되면 아카이브를 쓸 수 없어 </a:t>
            </a:r>
            <a:r>
              <a:rPr sz="1600" b="1">
                <a:solidFill>
                  <a:srgbClr val="222222"/>
                </a:solidFill>
                <a:latin typeface="맑은 고딕"/>
              </a:rPr>
              <a:t>Primary 가 멈춘다</a:t>
            </a:r>
          </a:p>
          <a:p>
            <a:pPr algn="l">
              <a:spcAft>
                <a:spcPts val="1000"/>
              </a:spcAft>
            </a:pPr>
            <a:r>
              <a:rPr sz="1600" b="0">
                <a:solidFill>
                  <a:srgbClr val="222222"/>
                </a:solidFill>
                <a:latin typeface="맑은 고딕"/>
              </a:rPr>
              <a:t>•  Data Guard 특유의 위험 : Standby 가 적용하지 않은 아카이브는 지워지지 않는다</a:t>
            </a:r>
          </a:p>
          <a:p>
            <a:pPr algn="l">
              <a:spcAft>
                <a:spcPts val="1000"/>
              </a:spcAft>
            </a:pPr>
            <a:r>
              <a:rPr sz="1600" b="0">
                <a:solidFill>
                  <a:srgbClr val="222222"/>
                </a:solidFill>
                <a:latin typeface="맑은 고딕"/>
              </a:rPr>
              <a:t>•  → Standby 장애가 FRA 를 통해 Primary 정지로 이어진다</a:t>
            </a:r>
          </a:p>
          <a:p>
            <a:pPr algn="l">
              <a:spcAft>
                <a:spcPts val="1000"/>
              </a:spcAft>
            </a:pPr>
            <a:r>
              <a:rPr sz="1600" b="0">
                <a:solidFill>
                  <a:srgbClr val="222222"/>
                </a:solidFill>
                <a:latin typeface="맑은 고딕"/>
              </a:rPr>
              <a:t>•  ★ 이 경로는 </a:t>
            </a:r>
            <a:r>
              <a:rPr sz="1600" b="1">
                <a:solidFill>
                  <a:srgbClr val="222222"/>
                </a:solidFill>
                <a:latin typeface="맑은 고딕"/>
              </a:rPr>
              <a:t>보호 모드와 무관하게</a:t>
            </a:r>
            <a:r>
              <a:rPr sz="1600" b="0">
                <a:solidFill>
                  <a:srgbClr val="222222"/>
                </a:solidFill>
                <a:latin typeface="맑은 고딕"/>
              </a:rPr>
              <a:t> 작동한다 (Maximum Performance 도 예외 아님)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절차와 거부 조건</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SHUTDOWN IMMEDIATE → STARTUP MOUNT → ALTER DATABASE ARCHIVELOG → OPEN</a:t>
            </a:r>
          </a:p>
          <a:p>
            <a:pPr algn="l">
              <a:spcAft>
                <a:spcPts val="1000"/>
              </a:spcAft>
            </a:pPr>
            <a:r>
              <a:rPr sz="1600" b="0">
                <a:solidFill>
                  <a:srgbClr val="222222"/>
                </a:solidFill>
                <a:latin typeface="맑은 고딕"/>
              </a:rPr>
              <a:t>•  열린 상태에서 시도 → ORA-01126</a:t>
            </a:r>
          </a:p>
          <a:p>
            <a:pPr algn="l">
              <a:spcAft>
                <a:spcPts val="1000"/>
              </a:spcAft>
            </a:pPr>
            <a:r>
              <a:rPr sz="1600" b="0">
                <a:solidFill>
                  <a:srgbClr val="222222"/>
                </a:solidFill>
                <a:latin typeface="맑은 고딕"/>
              </a:rPr>
              <a:t>•  ★ 2장의 ORA-01126 과 의미가 다르다</a:t>
            </a:r>
          </a:p>
          <a:p>
            <a:pPr algn="l">
              <a:spcAft>
                <a:spcPts val="1000"/>
              </a:spcAft>
            </a:pPr>
            <a:r>
              <a:rPr sz="1600" b="0">
                <a:solidFill>
                  <a:srgbClr val="222222"/>
                </a:solidFill>
                <a:latin typeface="맑은 고딕"/>
              </a:rPr>
              <a:t>•  2장 : 문면("마운트하라")과 실제 원인(보호 모드 요건)이 달랐다</a:t>
            </a:r>
          </a:p>
          <a:p>
            <a:pPr algn="l">
              <a:spcAft>
                <a:spcPts val="1000"/>
              </a:spcAft>
            </a:pPr>
            <a:r>
              <a:rPr sz="1600" b="0">
                <a:solidFill>
                  <a:srgbClr val="222222"/>
                </a:solidFill>
                <a:latin typeface="맑은 고딕"/>
              </a:rPr>
              <a:t>•  4장 : 문면 그대로. 정말로 마운트 상태여야 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FORCE LOGGING — 이 장의 핵심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NOLOGGING 이 남기는 구멍</a:t>
            </a:r>
          </a:p>
          <a:p>
            <a:pPr algn="l">
              <a:spcAft>
                <a:spcPts val="800"/>
              </a:spcAft>
            </a:pPr>
            <a:r>
              <a:rPr sz="1600" b="0">
                <a:solidFill>
                  <a:srgbClr val="FFFFFF"/>
                </a:solidFill>
                <a:latin typeface="맑은 고딕"/>
              </a:rPr>
              <a:t>•  세 조건 실측 — 44배</a:t>
            </a:r>
          </a:p>
          <a:p>
            <a:pPr algn="l">
              <a:spcAft>
                <a:spcPts val="800"/>
              </a:spcAft>
            </a:pPr>
            <a:r>
              <a:rPr sz="1600" b="0">
                <a:solidFill>
                  <a:srgbClr val="FFFFFF"/>
                </a:solidFill>
                <a:latin typeface="맑은 고딕"/>
              </a:rPr>
              <a:t>•  구멍의 흔적을 확인한다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NOLOGGING 이 남기는 구멍</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NOLOGGING : 블록을 직접 쓰고 리두는 최소한만 남긴다</a:t>
            </a:r>
          </a:p>
          <a:p>
            <a:pPr algn="l">
              <a:spcAft>
                <a:spcPts val="1000"/>
              </a:spcAft>
            </a:pPr>
            <a:r>
              <a:rPr sz="1600" b="0">
                <a:solidFill>
                  <a:srgbClr val="222222"/>
                </a:solidFill>
                <a:latin typeface="맑은 고딕"/>
              </a:rPr>
              <a:t>•  단일 DB 에서는 합리적 절충 (백업을 다시 뜨면 된다)</a:t>
            </a:r>
          </a:p>
          <a:p>
            <a:pPr algn="l">
              <a:spcAft>
                <a:spcPts val="1000"/>
              </a:spcAft>
            </a:pPr>
            <a:r>
              <a:rPr sz="1600" b="0">
                <a:solidFill>
                  <a:srgbClr val="222222"/>
                </a:solidFill>
                <a:latin typeface="맑은 고딕"/>
              </a:rPr>
              <a:t>•  Data Guard 에서는 다르다 — Standby 는 리두만으로 따라온다</a:t>
            </a:r>
          </a:p>
          <a:p>
            <a:pPr algn="l">
              <a:spcAft>
                <a:spcPts val="1000"/>
              </a:spcAft>
            </a:pPr>
            <a:r>
              <a:rPr sz="1600" b="0">
                <a:solidFill>
                  <a:srgbClr val="222222"/>
                </a:solidFill>
                <a:latin typeface="맑은 고딕"/>
              </a:rPr>
              <a:t>•  리두가 없으면 그 블록을 만들 방법이 없다 → Standby 에 손상된 블록</a:t>
            </a:r>
          </a:p>
          <a:p>
            <a:pPr algn="l">
              <a:spcAft>
                <a:spcPts val="1000"/>
              </a:spcAft>
            </a:pPr>
            <a:r>
              <a:rPr sz="1600" b="0">
                <a:solidFill>
                  <a:srgbClr val="222222"/>
                </a:solidFill>
                <a:latin typeface="맑은 고딕"/>
              </a:rPr>
              <a:t>•  FORCE LOGGING 이 이 구멍을 막는다 (NOLOGGING 지정을 무시)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실측 — 세 조건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44배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측정 : V$SYSSTAT 의 'redo size' 를 작업 전후로 비교</a:t>
            </a:r>
          </a:p>
          <a:p>
            <a:pPr algn="l">
              <a:spcAft>
                <a:spcPts val="1000"/>
              </a:spcAft>
            </a:pPr>
            <a:r>
              <a:rPr sz="1700" b="0">
                <a:solidFill>
                  <a:srgbClr val="222222"/>
                </a:solidFill>
                <a:latin typeface="맑은 고딕"/>
              </a:rPr>
              <a:t>•  A. FORCE LOGGING=YES + NOLOGGING → 4,737,636 bytes (4.52 MB)</a:t>
            </a:r>
          </a:p>
          <a:p>
            <a:pPr algn="l">
              <a:spcAft>
                <a:spcPts val="1000"/>
              </a:spcAft>
            </a:pPr>
            <a:r>
              <a:rPr sz="1700" b="0">
                <a:solidFill>
                  <a:srgbClr val="222222"/>
                </a:solidFill>
                <a:latin typeface="맑은 고딕"/>
              </a:rPr>
              <a:t>•  B. FORCE LOGGING=YES + LOGGING   → 4,693,784 bytes (4.48 MB)</a:t>
            </a:r>
          </a:p>
          <a:p>
            <a:pPr algn="l">
              <a:spcAft>
                <a:spcPts val="1000"/>
              </a:spcAft>
            </a:pPr>
            <a:r>
              <a:rPr sz="1700" b="0">
                <a:solidFill>
                  <a:srgbClr val="222222"/>
                </a:solidFill>
                <a:latin typeface="맑은 고딕"/>
              </a:rPr>
              <a:t>•  C. FORCE LOGGING=NO  + NOLOGGING →   106,456 bytes (0.10 MB)</a:t>
            </a:r>
          </a:p>
          <a:p>
            <a:pPr algn="l">
              <a:spcAft>
                <a:spcPts val="1000"/>
              </a:spcAft>
            </a:pPr>
            <a:r>
              <a:rPr sz="1700" b="0">
                <a:solidFill>
                  <a:srgbClr val="222222"/>
                </a:solidFill>
                <a:latin typeface="맑은 고딕"/>
              </a:rPr>
              <a:t>•  세그먼트 크기는 세 경우 모두 5MB 로 동일</a:t>
            </a:r>
          </a:p>
          <a:p>
            <a:pPr algn="l">
              <a:spcAft>
                <a:spcPts val="1000"/>
              </a:spcAft>
            </a:pPr>
            <a:r>
              <a:rPr sz="1700" b="0">
                <a:solidFill>
                  <a:srgbClr val="222222"/>
                </a:solidFill>
                <a:latin typeface="맑은 고딕"/>
              </a:rPr>
              <a:t>•  A ÷ C = 약 44.5 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구멍의 흔적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V$DATAFILE.UNRECOVERABLE_CHANGE#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조건 C 직후: file# 7 users01.dbf, 값 2396261, 시각 2026-08-26 20:22</a:t>
            </a:r>
          </a:p>
          <a:p>
            <a:pPr algn="l">
              <a:spcAft>
                <a:spcPts val="1000"/>
              </a:spcAft>
            </a:pPr>
            <a:r>
              <a:rPr sz="1700" b="0">
                <a:solidFill>
                  <a:srgbClr val="222222"/>
                </a:solidFill>
                <a:latin typeface="맑은 고딕"/>
              </a:rPr>
              <a:t>•  조건 A·B 직후에는 'no rows selected' 였다</a:t>
            </a:r>
          </a:p>
          <a:p>
            <a:pPr algn="l">
              <a:spcAft>
                <a:spcPts val="1000"/>
              </a:spcAft>
            </a:pPr>
            <a:r>
              <a:rPr sz="1700" b="0">
                <a:solidFill>
                  <a:srgbClr val="222222"/>
                </a:solidFill>
                <a:latin typeface="맑은 고딕"/>
              </a:rPr>
              <a:t>•  의미 : 이 파일에서 리두 없이 변경된 마지막 SCN</a:t>
            </a:r>
          </a:p>
          <a:p>
            <a:pPr algn="l">
              <a:spcAft>
                <a:spcPts val="1000"/>
              </a:spcAft>
            </a:pPr>
            <a:r>
              <a:rPr sz="1700" b="0">
                <a:solidFill>
                  <a:srgbClr val="222222"/>
                </a:solidFill>
                <a:latin typeface="맑은 고딕"/>
              </a:rPr>
              <a:t>•  값이 0보다 크면 Standby 쪽 해당 블록을 신뢰할 수 없다</a:t>
            </a:r>
          </a:p>
          <a:p>
            <a:pPr algn="l">
              <a:spcAft>
                <a:spcPts val="1000"/>
              </a:spcAft>
            </a:pPr>
            <a:r>
              <a:rPr sz="1700" b="0">
                <a:solidFill>
                  <a:srgbClr val="222222"/>
                </a:solidFill>
                <a:latin typeface="맑은 고딕"/>
              </a:rPr>
              <a:t>•  사후 점검 도구로 유용 — 정기 점검 항목으로 삼을 만하다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수준의 FORCE LOGGING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데이터베이스가 우선한다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데이터베이스 수준 : ALTER DATABASE FORCE LOGGING</a:t>
            </a:r>
          </a:p>
          <a:p>
            <a:pPr algn="l">
              <a:spcAft>
                <a:spcPts val="1000"/>
              </a:spcAft>
            </a:pPr>
            <a:r>
              <a:rPr sz="1700" b="0">
                <a:solidFill>
                  <a:srgbClr val="222222"/>
                </a:solidFill>
                <a:latin typeface="맑은 고딕"/>
              </a:rPr>
              <a:t>•  테이블스페이스 수준 : ALTER TABLESPACE ... FORCE LOGGING</a:t>
            </a:r>
          </a:p>
          <a:p>
            <a:pPr algn="l">
              <a:spcAft>
                <a:spcPts val="1000"/>
              </a:spcAft>
            </a:pPr>
            <a:r>
              <a:rPr sz="1700" b="0">
                <a:solidFill>
                  <a:srgbClr val="222222"/>
                </a:solidFill>
                <a:latin typeface="맑은 고딕"/>
              </a:rPr>
              <a:t>•  ★ 데이터베이스 수준이 우선한다</a:t>
            </a:r>
          </a:p>
          <a:p>
            <a:pPr algn="l">
              <a:spcAft>
                <a:spcPts val="1000"/>
              </a:spcAft>
            </a:pPr>
            <a:r>
              <a:rPr sz="1700" b="0">
                <a:solidFill>
                  <a:srgbClr val="222222"/>
                </a:solidFill>
                <a:latin typeface="맑은 고딕"/>
              </a:rPr>
              <a:t>•  실측 근거: 조건 A 의 테이블스페이스는 FORCE_LOGGING=NO 였는데도 4.52MB 발생</a:t>
            </a:r>
          </a:p>
          <a:p>
            <a:pPr algn="l">
              <a:spcAft>
                <a:spcPts val="1000"/>
              </a:spcAft>
            </a:pPr>
            <a:r>
              <a:rPr sz="1700" b="0">
                <a:solidFill>
                  <a:srgbClr val="222222"/>
                </a:solidFill>
                <a:latin typeface="맑은 고딕"/>
              </a:rPr>
              <a:t>•  테이블스페이스 단위는 DB 수준을 끈 상태에서 일부만 보호할 때 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FORCE LOGGING 운영 원칙</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Data Guard 구성에서는 </a:t>
            </a:r>
            <a:r>
              <a:rPr sz="1600" b="1">
                <a:solidFill>
                  <a:srgbClr val="222222"/>
                </a:solidFill>
                <a:latin typeface="맑은 고딕"/>
              </a:rPr>
              <a:t>데이터베이스 수준을 반드시 켠다</a:t>
            </a:r>
          </a:p>
          <a:p>
            <a:pPr algn="l">
              <a:spcAft>
                <a:spcPts val="1000"/>
              </a:spcAft>
            </a:pPr>
            <a:r>
              <a:rPr sz="1600" b="0">
                <a:solidFill>
                  <a:srgbClr val="222222"/>
                </a:solidFill>
                <a:latin typeface="맑은 고딕"/>
              </a:rPr>
              <a:t>•  끄는 것은 예외적 결정. 끈 동안의 블록은 Standby 에서 복구 불가</a:t>
            </a:r>
          </a:p>
          <a:p>
            <a:pPr algn="l">
              <a:spcAft>
                <a:spcPts val="1000"/>
              </a:spcAft>
            </a:pPr>
            <a:r>
              <a:rPr sz="1600" b="0">
                <a:solidFill>
                  <a:srgbClr val="222222"/>
                </a:solidFill>
                <a:latin typeface="맑은 고딕"/>
              </a:rPr>
              <a:t>•  부득이 껐다면 해당 데이터 파일을 Standby 에서 복구하거나 재구축</a:t>
            </a:r>
          </a:p>
          <a:p>
            <a:pPr algn="l">
              <a:spcAft>
                <a:spcPts val="1000"/>
              </a:spcAft>
            </a:pPr>
            <a:r>
              <a:rPr sz="1600" b="0">
                <a:solidFill>
                  <a:srgbClr val="222222"/>
                </a:solidFill>
                <a:latin typeface="맑은 고딕"/>
              </a:rPr>
              <a:t>•  UNRECOVERABLE_CHANGE# 를 정기 점검한다</a:t>
            </a:r>
          </a:p>
          <a:p>
            <a:pPr algn="l">
              <a:spcAft>
                <a:spcPts val="1000"/>
              </a:spcAft>
            </a:pPr>
            <a:r>
              <a:rPr sz="1600" b="0">
                <a:solidFill>
                  <a:srgbClr val="222222"/>
                </a:solidFill>
                <a:latin typeface="맑은 고딕"/>
              </a:rPr>
              <a:t>•  성능 요청이 오면 19c STANDBY NOLOGGING 을 먼저 검토한다</a:t>
            </a:r>
          </a:p>
          <a:p>
            <a:pPr algn="l">
              <a:spcAft>
                <a:spcPts val="1000"/>
              </a:spcAft>
            </a:pPr>
            <a:r>
              <a:rPr sz="1600" b="0">
                <a:solidFill>
                  <a:srgbClr val="222222"/>
                </a:solidFill>
                <a:latin typeface="맑은 고딕"/>
              </a:rPr>
              <a:t>•  실측 근거를 준비해 두면 설득이 쉽다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 Redo Log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개수와 크기 산정</a:t>
            </a:r>
          </a:p>
          <a:p>
            <a:pPr algn="l">
              <a:spcAft>
                <a:spcPts val="800"/>
              </a:spcAft>
            </a:pPr>
            <a:r>
              <a:rPr sz="1600" b="0">
                <a:solidFill>
                  <a:srgbClr val="FFFFFF"/>
                </a:solidFill>
                <a:latin typeface="맑은 고딕"/>
              </a:rPr>
              <a:t>•  크기가 다르면 조용히 무시된다</a:t>
            </a:r>
          </a:p>
          <a:p>
            <a:pPr algn="l">
              <a:spcAft>
                <a:spcPts val="800"/>
              </a:spcAft>
            </a:pPr>
            <a:r>
              <a:rPr sz="1600" b="0">
                <a:solidFill>
                  <a:srgbClr val="FFFFFF"/>
                </a:solidFill>
                <a:latin typeface="맑은 고딕"/>
              </a:rPr>
              <a:t>•  세 가지 오류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산정 규칙과 근거</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개수 = 온라인 리두 그룹 수 + 1 이상</a:t>
            </a:r>
          </a:p>
          <a:p>
            <a:pPr algn="l">
              <a:spcAft>
                <a:spcPts val="1000"/>
              </a:spcAft>
            </a:pPr>
            <a:r>
              <a:rPr sz="1600" b="0">
                <a:solidFill>
                  <a:srgbClr val="222222"/>
                </a:solidFill>
                <a:latin typeface="맑은 고딕"/>
              </a:rPr>
              <a:t>•  근거 : 하나가 아카이브되는 동안 다른 하나가 계속 받아야 한다</a:t>
            </a:r>
          </a:p>
          <a:p>
            <a:pPr algn="l">
              <a:spcAft>
                <a:spcPts val="1000"/>
              </a:spcAft>
            </a:pPr>
            <a:r>
              <a:rPr sz="1600" b="0">
                <a:solidFill>
                  <a:srgbClr val="222222"/>
                </a:solidFill>
                <a:latin typeface="맑은 고딕"/>
              </a:rPr>
              <a:t>•  크기 = 온라인 리두와 정확히 동일</a:t>
            </a:r>
          </a:p>
          <a:p>
            <a:pPr algn="l">
              <a:spcAft>
                <a:spcPts val="1000"/>
              </a:spcAft>
            </a:pPr>
            <a:r>
              <a:rPr sz="1600" b="0">
                <a:solidFill>
                  <a:srgbClr val="222222"/>
                </a:solidFill>
                <a:latin typeface="맑은 고딕"/>
              </a:rPr>
              <a:t>•  실습 환경 : 온라인 3그룹 × 200MB → SRL 4개 × 200MB</a:t>
            </a:r>
          </a:p>
          <a:p>
            <a:pPr algn="l">
              <a:spcAft>
                <a:spcPts val="1000"/>
              </a:spcAft>
            </a:pPr>
            <a:r>
              <a:rPr sz="1600" b="0">
                <a:solidFill>
                  <a:srgbClr val="222222"/>
                </a:solidFill>
                <a:latin typeface="맑은 고딕"/>
              </a:rPr>
              <a:t>•  THREAD 1 (단일 인스턴스). RAC 면 스레드마다 별도로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와 Standby 의 SRL 상태가 다르다</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Primary : group 4~7 모두 UNASSIGNED (쓰이지 않는다)</a:t>
            </a:r>
          </a:p>
          <a:p>
            <a:pPr algn="l">
              <a:spcAft>
                <a:spcPts val="1000"/>
              </a:spcAft>
            </a:pPr>
            <a:r>
              <a:rPr sz="1600" b="0">
                <a:solidFill>
                  <a:srgbClr val="222222"/>
                </a:solidFill>
                <a:latin typeface="맑은 고딕"/>
              </a:rPr>
              <a:t>•  Standby : group 4 ACTIVE (시퀀스 50 수신 중), 나머지 UNASSIGNED</a:t>
            </a:r>
          </a:p>
          <a:p>
            <a:pPr algn="l">
              <a:spcAft>
                <a:spcPts val="1000"/>
              </a:spcAft>
            </a:pPr>
            <a:r>
              <a:rPr sz="1600" b="0">
                <a:solidFill>
                  <a:srgbClr val="222222"/>
                </a:solidFill>
                <a:latin typeface="맑은 고딕"/>
              </a:rPr>
              <a:t>•  Primary 에도 만들어 두는 이유 : 역할 전환 직후 즉시 필요해진다</a:t>
            </a:r>
          </a:p>
          <a:p>
            <a:pPr algn="l">
              <a:spcAft>
                <a:spcPts val="1000"/>
              </a:spcAft>
            </a:pPr>
            <a:r>
              <a:rPr sz="1600" b="0">
                <a:solidFill>
                  <a:srgbClr val="222222"/>
                </a:solidFill>
                <a:latin typeface="맑은 고딕"/>
              </a:rPr>
              <a:t>•  ARCHIVED 열은 그 SRL 의 내용이 아카이브됐는지를 나타낸다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크기가 다른 SRL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조용한 실패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100MB 짜리 group 8 추가 → "Database altered" (오류 없음)</a:t>
            </a:r>
          </a:p>
          <a:p>
            <a:pPr algn="l">
              <a:spcAft>
                <a:spcPts val="1000"/>
              </a:spcAft>
            </a:pPr>
            <a:r>
              <a:rPr sz="1700" b="0">
                <a:solidFill>
                  <a:srgbClr val="222222"/>
                </a:solidFill>
                <a:latin typeface="맑은 고딕"/>
              </a:rPr>
              <a:t>•  조회하면 목록에 보인다</a:t>
            </a:r>
          </a:p>
          <a:p>
            <a:pPr algn="l">
              <a:spcAft>
                <a:spcPts val="1000"/>
              </a:spcAft>
            </a:pPr>
            <a:r>
              <a:rPr sz="1700" b="0">
                <a:solidFill>
                  <a:srgbClr val="222222"/>
                </a:solidFill>
                <a:latin typeface="맑은 고딕"/>
              </a:rPr>
              <a:t>•  그러나 리두를 받을 때 </a:t>
            </a:r>
            <a:r>
              <a:rPr sz="1700" b="1">
                <a:solidFill>
                  <a:srgbClr val="222222"/>
                </a:solidFill>
                <a:latin typeface="맑은 고딕"/>
              </a:rPr>
              <a:t>건너뛴다</a:t>
            </a:r>
            <a:r>
              <a:rPr sz="1700" b="0">
                <a:solidFill>
                  <a:srgbClr val="222222"/>
                </a:solidFill>
                <a:latin typeface="맑은 고딕"/>
              </a:rPr>
              <a:t> — 만들어도 없는 것과 같다</a:t>
            </a:r>
          </a:p>
          <a:p>
            <a:pPr algn="l">
              <a:spcAft>
                <a:spcPts val="1000"/>
              </a:spcAft>
            </a:pPr>
            <a:r>
              <a:rPr sz="1700" b="0">
                <a:solidFill>
                  <a:srgbClr val="222222"/>
                </a:solidFill>
                <a:latin typeface="맑은 고딕"/>
              </a:rPr>
              <a:t>•  3장의 VALID_FOR 오설정과 같은 성격</a:t>
            </a:r>
          </a:p>
          <a:p>
            <a:pPr algn="l">
              <a:spcAft>
                <a:spcPts val="1000"/>
              </a:spcAft>
            </a:pPr>
            <a:r>
              <a:rPr sz="1700" b="0">
                <a:solidFill>
                  <a:srgbClr val="222222"/>
                </a:solidFill>
                <a:latin typeface="맑은 고딕"/>
              </a:rPr>
              <a:t>•  실무 시나리오 : 온라인 리두를 200MB→500MB 로 키우고 SRL 을 그대로 두면 전부 무시된다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 조회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줄로 두 규칙을 확인한다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SELECT 'srl', COUNT(*), MIN(mb), MAX(mb) FROM v$standby_log</a:t>
            </a:r>
          </a:p>
          <a:p>
            <a:pPr algn="l">
              <a:spcAft>
                <a:spcPts val="1000"/>
              </a:spcAft>
            </a:pPr>
            <a:r>
              <a:rPr sz="1700" b="0">
                <a:solidFill>
                  <a:srgbClr val="222222"/>
                </a:solidFill>
                <a:latin typeface="맑은 고딕"/>
              </a:rPr>
              <a:t>•  UNION ALL SELECT 'online', COUNT(*), MIN(mb), MAX(mb) FROM v$log</a:t>
            </a:r>
          </a:p>
          <a:p>
            <a:pPr algn="l">
              <a:spcAft>
                <a:spcPts val="1000"/>
              </a:spcAft>
            </a:pPr>
            <a:r>
              <a:rPr sz="1700" b="0">
                <a:solidFill>
                  <a:srgbClr val="222222"/>
                </a:solidFill>
                <a:latin typeface="맑은 고딕"/>
              </a:rPr>
              <a:t>•  판정 ① SRL 개수 &gt; online 개수  ② MIN=MAX  ③ 그 값이 online 과 동일</a:t>
            </a:r>
          </a:p>
          <a:p>
            <a:pPr algn="l">
              <a:spcAft>
                <a:spcPts val="1000"/>
              </a:spcAft>
            </a:pPr>
            <a:r>
              <a:rPr sz="1700" b="0">
                <a:solidFill>
                  <a:srgbClr val="222222"/>
                </a:solidFill>
                <a:latin typeface="맑은 고딕"/>
              </a:rPr>
              <a:t>•  실측 primary : (4, 200, 200) / (3, 200, 200)</a:t>
            </a:r>
          </a:p>
          <a:p>
            <a:pPr algn="l">
              <a:spcAft>
                <a:spcPts val="1000"/>
              </a:spcAft>
            </a:pPr>
            <a:r>
              <a:rPr sz="1700" b="0">
                <a:solidFill>
                  <a:srgbClr val="222222"/>
                </a:solidFill>
                <a:latin typeface="맑은 고딕"/>
              </a:rPr>
              <a:t>•  실측 standby : (4, 200, 200) / (3, 200, 200) — 대칭</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SRL 작업의 세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ORA-00261 : ACTIVE 인 SRL 삭제 시도 (MRP 를 CANCEL 해도 RFS 는 계속 받는다)</a:t>
            </a:r>
          </a:p>
          <a:p>
            <a:pPr algn="l">
              <a:spcAft>
                <a:spcPts val="1000"/>
              </a:spcAft>
            </a:pPr>
            <a:r>
              <a:rPr sz="1700" b="0">
                <a:solidFill>
                  <a:srgbClr val="222222"/>
                </a:solidFill>
                <a:latin typeface="맑은 고딕"/>
              </a:rPr>
              <a:t>•  ORA-01153 : 적용 방식을 겹쳐 실행 (실시간 ↔ 일반). 먼저 CANCEL 해야 한다</a:t>
            </a:r>
          </a:p>
          <a:p>
            <a:pPr algn="l">
              <a:spcAft>
                <a:spcPts val="1000"/>
              </a:spcAft>
            </a:pPr>
            <a:r>
              <a:rPr sz="1700" b="0">
                <a:solidFill>
                  <a:srgbClr val="222222"/>
                </a:solidFill>
                <a:latin typeface="맑은 고딕"/>
              </a:rPr>
              <a:t>•  ORA-01184 : 여러 그룹을 한 문장으로 추가 중 하나가 중복 → </a:t>
            </a:r>
            <a:r>
              <a:rPr sz="1700" b="1">
                <a:solidFill>
                  <a:srgbClr val="222222"/>
                </a:solidFill>
                <a:latin typeface="맑은 고딕"/>
              </a:rPr>
              <a:t>전체가 실패</a:t>
            </a:r>
          </a:p>
          <a:p>
            <a:pPr algn="l">
              <a:spcAft>
                <a:spcPts val="1000"/>
              </a:spcAft>
            </a:pPr>
            <a:r>
              <a:rPr sz="1700" b="0">
                <a:solidFill>
                  <a:srgbClr val="222222"/>
                </a:solidFill>
                <a:latin typeface="맑은 고딕"/>
              </a:rPr>
              <a:t>•  지운 뒤에도 파일은 디스크에 남는다 → REUSE 를 주거나 먼저 지운다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SRL 이 하나뿐이면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개수 규칙의 성격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SRL 1개만 남긴 상태에서 USING CURRENT LOGFILE 적용 → </a:t>
            </a:r>
            <a:r>
              <a:rPr sz="1700" b="1">
                <a:solidFill>
                  <a:srgbClr val="222222"/>
                </a:solidFill>
                <a:latin typeface="맑은 고딕"/>
              </a:rPr>
              <a:t>성공했다</a:t>
            </a:r>
          </a:p>
          <a:p>
            <a:pPr algn="l">
              <a:spcAft>
                <a:spcPts val="1000"/>
              </a:spcAft>
            </a:pPr>
            <a:r>
              <a:rPr sz="1700" b="0">
                <a:solidFill>
                  <a:srgbClr val="222222"/>
                </a:solidFill>
                <a:latin typeface="맑은 고딕"/>
              </a:rPr>
              <a:t>•  즉 개수 규칙은 "동작의 최소 요건" 이 아니라 "성능·안정을 위한 권장"</a:t>
            </a:r>
          </a:p>
          <a:p>
            <a:pPr algn="l">
              <a:spcAft>
                <a:spcPts val="1000"/>
              </a:spcAft>
            </a:pPr>
            <a:r>
              <a:rPr sz="1700" b="0">
                <a:solidFill>
                  <a:srgbClr val="222222"/>
                </a:solidFill>
                <a:latin typeface="맑은 고딕"/>
              </a:rPr>
              <a:t>•  다만 하나뿐이면 아카이브되는 동안 받을 곳이 없어 전송이 대기 → 지연 증가</a:t>
            </a:r>
          </a:p>
          <a:p>
            <a:pPr algn="l">
              <a:spcAft>
                <a:spcPts val="1000"/>
              </a:spcAft>
            </a:pPr>
            <a:r>
              <a:rPr sz="1700" b="0">
                <a:solidFill>
                  <a:srgbClr val="222222"/>
                </a:solidFill>
                <a:latin typeface="맑은 고딕"/>
              </a:rPr>
              <a:t>•  부하가 있는 환경에서는 이 차이가 크게 나타난다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19c STANDBY NOLOGGING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FORCE LOGGING 과 NOLOGGING 사이의 절충</a:t>
            </a:r>
          </a:p>
          <a:p>
            <a:pPr algn="l">
              <a:spcAft>
                <a:spcPts val="800"/>
              </a:spcAft>
            </a:pPr>
            <a:r>
              <a:rPr sz="1600" b="0">
                <a:solidFill>
                  <a:srgbClr val="FFFFFF"/>
                </a:solidFill>
                <a:latin typeface="맑은 고딕"/>
              </a:rPr>
              <a:t>•  두 모드의 차이</a:t>
            </a:r>
          </a:p>
          <a:p>
            <a:pPr algn="l">
              <a:spcAft>
                <a:spcPts val="800"/>
              </a:spcAft>
            </a:pPr>
            <a:r>
              <a:rPr sz="1600" b="0">
                <a:solidFill>
                  <a:srgbClr val="FFFFFF"/>
                </a:solidFill>
                <a:latin typeface="맑은 고딕"/>
              </a:rPr>
              <a:t>•  적용되지 않는 작업</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모드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 대신 블록을 보낸다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SET STANDBY NOLOGGING FOR DATA AVAILABILITY</a:t>
            </a:r>
          </a:p>
          <a:p>
            <a:pPr algn="l">
              <a:spcAft>
                <a:spcPts val="1000"/>
              </a:spcAft>
            </a:pPr>
            <a:r>
              <a:rPr sz="1700" b="0">
                <a:solidFill>
                  <a:srgbClr val="222222"/>
                </a:solidFill>
                <a:latin typeface="맑은 고딕"/>
              </a:rPr>
              <a:t>•  SET STANDBY NOLOGGING FOR LOAD PERFORMANCE</a:t>
            </a:r>
          </a:p>
          <a:p>
            <a:pPr algn="l">
              <a:spcAft>
                <a:spcPts val="1000"/>
              </a:spcAft>
            </a:pPr>
            <a:r>
              <a:rPr sz="1700" b="0">
                <a:solidFill>
                  <a:srgbClr val="222222"/>
                </a:solidFill>
                <a:latin typeface="맑은 고딕"/>
              </a:rPr>
              <a:t>•  공통 : 리두 대신 적재된 블록을 Standby 로 직접 보낸다</a:t>
            </a:r>
          </a:p>
          <a:p>
            <a:pPr algn="l">
              <a:spcAft>
                <a:spcPts val="1000"/>
              </a:spcAft>
            </a:pPr>
            <a:r>
              <a:rPr sz="1700" b="0">
                <a:solidFill>
                  <a:srgbClr val="222222"/>
                </a:solidFill>
                <a:latin typeface="맑은 고딕"/>
              </a:rPr>
              <a:t>•  DATA AVAILABILITY : Standby 가 받을 때까지 적재가 </a:t>
            </a:r>
            <a:r>
              <a:rPr sz="1700" b="1">
                <a:solidFill>
                  <a:srgbClr val="222222"/>
                </a:solidFill>
                <a:latin typeface="맑은 고딕"/>
              </a:rPr>
              <a:t>기다린다</a:t>
            </a:r>
          </a:p>
          <a:p>
            <a:pPr algn="l">
              <a:spcAft>
                <a:spcPts val="1000"/>
              </a:spcAft>
            </a:pPr>
            <a:r>
              <a:rPr sz="1700" b="0">
                <a:solidFill>
                  <a:srgbClr val="222222"/>
                </a:solidFill>
                <a:latin typeface="맑은 고딕"/>
              </a:rPr>
              <a:t>•  LOAD PERFORMANCE : 기다리지 않는다. 못 받은 블록은 구멍으로 남는다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V$DATABASE.FORCE_LOGGING 이 달라진다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설정 후 값 : "STANDBY NOLOGGING FOR DATA AVAILABILITY" (모드 이름 전체)</a:t>
            </a:r>
          </a:p>
          <a:p>
            <a:pPr algn="l">
              <a:spcAft>
                <a:spcPts val="1000"/>
              </a:spcAft>
            </a:pPr>
            <a:r>
              <a:rPr sz="1700" b="0">
                <a:solidFill>
                  <a:srgbClr val="222222"/>
                </a:solidFill>
                <a:latin typeface="맑은 고딕"/>
              </a:rPr>
              <a:t>•  YES/NO 가 아니다</a:t>
            </a:r>
          </a:p>
          <a:p>
            <a:pPr algn="l">
              <a:spcAft>
                <a:spcPts val="1000"/>
              </a:spcAft>
            </a:pPr>
            <a:r>
              <a:rPr sz="1700" b="0">
                <a:solidFill>
                  <a:srgbClr val="222222"/>
                </a:solidFill>
                <a:latin typeface="맑은 고딕"/>
              </a:rPr>
              <a:t>•  ★ 이 열을 YES/NO 로만 판정하는 모니터링 스크립트는 19c 에서 오작동한다</a:t>
            </a:r>
          </a:p>
          <a:p>
            <a:pPr algn="l">
              <a:spcAft>
                <a:spcPts val="1000"/>
              </a:spcAft>
            </a:pPr>
            <a:r>
              <a:rPr sz="1700" b="0">
                <a:solidFill>
                  <a:srgbClr val="222222"/>
                </a:solidFill>
                <a:latin typeface="맑은 고딕"/>
              </a:rPr>
              <a:t>•  WHERE force_logging = 'NO'   → 이 모드를 잡아내지 못한다</a:t>
            </a:r>
          </a:p>
          <a:p>
            <a:pPr algn="l">
              <a:spcAft>
                <a:spcPts val="1000"/>
              </a:spcAft>
            </a:pPr>
            <a:r>
              <a:rPr sz="1700" b="0">
                <a:solidFill>
                  <a:srgbClr val="222222"/>
                </a:solidFill>
                <a:latin typeface="맑은 고딕"/>
              </a:rPr>
              <a:t>•  WHERE force_logging != 'YES' → 잡아낸다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 가지 선택지와 적용 범위</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FORCE LOGGING : 리두 많음 / 보호 완전 / 적재 느림</a:t>
            </a:r>
          </a:p>
          <a:p>
            <a:pPr algn="l">
              <a:spcAft>
                <a:spcPts val="1000"/>
              </a:spcAft>
            </a:pPr>
            <a:r>
              <a:rPr sz="1600" b="0">
                <a:solidFill>
                  <a:srgbClr val="222222"/>
                </a:solidFill>
                <a:latin typeface="맑은 고딕"/>
              </a:rPr>
              <a:t>•  FOR DATA AVAILABILITY : 리두 적음 / 보호 유지 / 적재 중간</a:t>
            </a:r>
          </a:p>
          <a:p>
            <a:pPr algn="l">
              <a:spcAft>
                <a:spcPts val="1000"/>
              </a:spcAft>
            </a:pPr>
            <a:r>
              <a:rPr sz="1600" b="0">
                <a:solidFill>
                  <a:srgbClr val="222222"/>
                </a:solidFill>
                <a:latin typeface="맑은 고딕"/>
              </a:rPr>
              <a:t>•  FOR LOAD PERFORMANCE : 리두 적음 / 보호 부분 / 적재 빠름</a:t>
            </a:r>
          </a:p>
          <a:p>
            <a:pPr algn="l">
              <a:spcAft>
                <a:spcPts val="1000"/>
              </a:spcAft>
            </a:pPr>
            <a:r>
              <a:rPr sz="1600" b="0">
                <a:solidFill>
                  <a:srgbClr val="222222"/>
                </a:solidFill>
                <a:latin typeface="맑은 고딕"/>
              </a:rPr>
              <a:t>•  NO FORCE LOGGING : 리두 최소 / 보호 없음 / 적재 최속</a:t>
            </a:r>
          </a:p>
          <a:p>
            <a:pPr algn="l">
              <a:spcAft>
                <a:spcPts val="1000"/>
              </a:spcAft>
            </a:pPr>
            <a:r>
              <a:rPr sz="1600" b="0">
                <a:solidFill>
                  <a:srgbClr val="222222"/>
                </a:solidFill>
                <a:latin typeface="맑은 고딕"/>
              </a:rPr>
              <a:t>•  ★ 두 STANDBY NOLOGGING 모드는 </a:t>
            </a:r>
            <a:r>
              <a:rPr sz="1600" b="1">
                <a:solidFill>
                  <a:srgbClr val="222222"/>
                </a:solidFill>
                <a:latin typeface="맑은 고딕"/>
              </a:rPr>
              <a:t>직접 경로 적재에만 적용된다</a:t>
            </a:r>
            <a:r>
              <a:rPr sz="1600" b="0">
                <a:solidFill>
                  <a:srgbClr val="222222"/>
                </a:solidFill>
                <a:latin typeface="맑은 고딕"/>
              </a:rPr>
              <a:t>. 일반 DML 은 그대로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Primary 준비 점검표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1~4장 조건을 아홉 항목으로</a:t>
            </a:r>
          </a:p>
          <a:p>
            <a:pPr algn="l">
              <a:spcAft>
                <a:spcPts val="800"/>
              </a:spcAft>
            </a:pPr>
            <a:r>
              <a:rPr sz="1600" b="0">
                <a:solidFill>
                  <a:srgbClr val="FFFFFF"/>
                </a:solidFill>
                <a:latin typeface="맑은 고딕"/>
              </a:rPr>
              <a:t>•  하나라도 빠지면 그 지점에서 막힌다</a:t>
            </a:r>
          </a:p>
          <a:p>
            <a:pPr algn="l">
              <a:spcAft>
                <a:spcPts val="800"/>
              </a:spcAft>
            </a:pPr>
            <a:r>
              <a:rPr sz="1600" b="0">
                <a:solidFill>
                  <a:srgbClr val="FFFFFF"/>
                </a:solidFill>
                <a:latin typeface="맑은 고딕"/>
              </a:rPr>
              <a:t>•  어디서 막힐지는 이미 재현해 봤다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5장으로 넘어가기 전 점검표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아홉 항목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ARCHIVELOG 모드 · FORCE LOGGING · FRA 여유 (4장)</a:t>
            </a:r>
          </a:p>
          <a:p>
            <a:pPr algn="l">
              <a:spcAft>
                <a:spcPts val="1000"/>
              </a:spcAft>
            </a:pPr>
            <a:r>
              <a:rPr sz="1700" b="0">
                <a:solidFill>
                  <a:srgbClr val="222222"/>
                </a:solidFill>
                <a:latin typeface="맑은 고딕"/>
              </a:rPr>
              <a:t>•  SRL 개수 · SRL 크기 (4장)</a:t>
            </a:r>
          </a:p>
          <a:p>
            <a:pPr algn="l">
              <a:spcAft>
                <a:spcPts val="1000"/>
              </a:spcAft>
            </a:pPr>
            <a:r>
              <a:rPr sz="1700" b="0">
                <a:solidFill>
                  <a:srgbClr val="222222"/>
                </a:solidFill>
                <a:latin typeface="맑은 고딕"/>
              </a:rPr>
              <a:t>•  패스워드 파일 · 정적 등록 · DG_CONFIG (3장)</a:t>
            </a:r>
          </a:p>
          <a:p>
            <a:pPr algn="l">
              <a:spcAft>
                <a:spcPts val="1000"/>
              </a:spcAft>
            </a:pPr>
            <a:r>
              <a:rPr sz="1700" b="0">
                <a:solidFill>
                  <a:srgbClr val="222222"/>
                </a:solidFill>
                <a:latin typeface="맑은 고딕"/>
              </a:rPr>
              <a:t>•  전송 목적지 VALID_NOW (2장)</a:t>
            </a:r>
          </a:p>
          <a:p>
            <a:pPr algn="l">
              <a:spcAft>
                <a:spcPts val="1000"/>
              </a:spcAft>
            </a:pPr>
            <a:r>
              <a:rPr sz="1700" b="0">
                <a:solidFill>
                  <a:srgbClr val="222222"/>
                </a:solidFill>
                <a:latin typeface="맑은 고딕"/>
              </a:rPr>
              <a:t>•  누락 시 : 정적 등록→ORA-12528 / 패스워드→ORA-01017 / DG_CONFIG→ORA-16053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FORCE LOGGING이 켜진 상태의 NOLOGGING CTAS 리두량은? 실측 근거를 들어 설명하라.</a:t>
            </a:r>
          </a:p>
          <a:p>
            <a:pPr algn="l">
              <a:spcAft>
                <a:spcPts val="1000"/>
              </a:spcAft>
            </a:pPr>
            <a:r>
              <a:rPr sz="1600" b="0">
                <a:solidFill>
                  <a:srgbClr val="222222"/>
                </a:solidFill>
                <a:latin typeface="맑은 고딕"/>
              </a:rPr>
              <a:t>•  Q2. FORCE LOGGING을 끄면 어떤 이득과 위험이 생기는가? 실측 수치로 설명하라.</a:t>
            </a:r>
          </a:p>
          <a:p>
            <a:pPr algn="l">
              <a:spcAft>
                <a:spcPts val="1000"/>
              </a:spcAft>
            </a:pPr>
            <a:r>
              <a:rPr sz="1600" b="0">
                <a:solidFill>
                  <a:srgbClr val="222222"/>
                </a:solidFill>
                <a:latin typeface="맑은 고딕"/>
              </a:rPr>
              <a:t>•  Q3. 데이터베이스 수준과 테이블스페이스 수준 중 어느 쪽이 우선하며, 실측으로 어떻게 확인했는가?</a:t>
            </a:r>
          </a:p>
          <a:p>
            <a:pPr algn="l">
              <a:spcAft>
                <a:spcPts val="1000"/>
              </a:spcAft>
            </a:pPr>
            <a:r>
              <a:rPr sz="1600" b="0">
                <a:solidFill>
                  <a:srgbClr val="222222"/>
                </a:solidFill>
                <a:latin typeface="맑은 고딕"/>
              </a:rPr>
              <a:t>•  Q4. SRL의 개수와 크기 규칙을 쓰고, 크기가 다른 SRL을 만들면 무슨 일이 일어나는지 설명하라.</a:t>
            </a:r>
          </a:p>
          <a:p>
            <a:pPr algn="l">
              <a:spcAft>
                <a:spcPts val="1000"/>
              </a:spcAft>
            </a:pPr>
            <a:r>
              <a:rPr sz="1600" b="0">
                <a:solidFill>
                  <a:srgbClr val="222222"/>
                </a:solidFill>
                <a:latin typeface="맑은 고딕"/>
              </a:rPr>
              <a:t>•  Q5. ORA-00261과 ORA-01184는 각각 어떤 상황에서 나며 어떻게 피하는가?</a:t>
            </a:r>
          </a:p>
          <a:p>
            <a:pPr algn="l">
              <a:spcAft>
                <a:spcPts val="1000"/>
              </a:spcAft>
            </a:pPr>
            <a:r>
              <a:rPr sz="1600" b="0">
                <a:solidFill>
                  <a:srgbClr val="222222"/>
                </a:solidFill>
                <a:latin typeface="맑은 고딕"/>
              </a:rPr>
              <a:t>•  Q6. STANDBY NOLOGGING의 두 모드 차이는 무엇이며, 어떤 작업에는 적용되지 않는가?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ARCHIVELOG는 Data Guard의 전제다. 전환은 MOUNT에서만 가능하며 OPEN에서 시도하면 ORA-01126.</a:t>
            </a:r>
          </a:p>
          <a:p>
            <a:pPr algn="l">
              <a:spcAft>
                <a:spcPts val="1000"/>
              </a:spcAft>
            </a:pPr>
            <a:r>
              <a:rPr sz="1600" b="0">
                <a:solidFill>
                  <a:srgbClr val="222222"/>
                </a:solidFill>
                <a:latin typeface="맑은 고딕"/>
              </a:rPr>
              <a:t>•  FRA가 가득 차면 Primary가 멈춘다. Standby가 적용하지 않은 아카이브는 지워지지 않으므로 보호 모드와 무관하게 위험하다.</a:t>
            </a:r>
          </a:p>
          <a:p>
            <a:pPr algn="l">
              <a:spcAft>
                <a:spcPts val="1000"/>
              </a:spcAft>
            </a:pPr>
            <a:r>
              <a:rPr sz="1600" b="0">
                <a:solidFill>
                  <a:srgbClr val="222222"/>
                </a:solidFill>
                <a:latin typeface="맑은 고딕"/>
              </a:rPr>
              <a:t>•  실측: FORCE LOGGING=YES에서 NOLOGGING 4,737,636 / LOGGING 4,693,784 — 사실상 같다. 지정이 무시된 것이다.</a:t>
            </a:r>
          </a:p>
          <a:p>
            <a:pPr algn="l">
              <a:spcAft>
                <a:spcPts val="1000"/>
              </a:spcAft>
            </a:pPr>
            <a:r>
              <a:rPr sz="1600" b="0">
                <a:solidFill>
                  <a:srgbClr val="222222"/>
                </a:solidFill>
                <a:latin typeface="맑은 고딕"/>
              </a:rPr>
              <a:t>•  실측: FORCE LOGGING=NO에서 106,456바이트. 약 44.5배 차이. 세그먼트는 셋 다 5MB로 동일.</a:t>
            </a:r>
          </a:p>
          <a:p>
            <a:pPr algn="l">
              <a:spcAft>
                <a:spcPts val="1000"/>
              </a:spcAft>
            </a:pPr>
            <a:r>
              <a:rPr sz="1600" b="0">
                <a:solidFill>
                  <a:srgbClr val="222222"/>
                </a:solidFill>
                <a:latin typeface="맑은 고딕"/>
              </a:rPr>
              <a:t>•  NOLOGGING이 동작하면 V$DATAFILE.UNRECOVERABLE_CHANGE#가 0보다 커진다. 실측 users01.dbf 2396261.</a:t>
            </a:r>
          </a:p>
          <a:p>
            <a:pPr algn="l">
              <a:spcAft>
                <a:spcPts val="1000"/>
              </a:spcAft>
            </a:pPr>
            <a:r>
              <a:rPr sz="1600" b="0">
                <a:solidFill>
                  <a:srgbClr val="222222"/>
                </a:solidFill>
                <a:latin typeface="맑은 고딕"/>
              </a:rPr>
              <a:t>•  데이터베이스 수준 FORCE LOGGING이 테이블스페이스 수준보다 우선한다.</a:t>
            </a:r>
          </a:p>
          <a:p>
            <a:pPr algn="l">
              <a:spcAft>
                <a:spcPts val="1000"/>
              </a:spcAft>
            </a:pPr>
            <a:r>
              <a:rPr sz="1600" b="0">
                <a:solidFill>
                  <a:srgbClr val="222222"/>
                </a:solidFill>
                <a:latin typeface="맑은 고딕"/>
              </a:rPr>
              <a:t>•  SRL: 개수 = 온라인 + 1 이상, 크기 = 동일. 크기가 달라도 생성은 되지만 조용히 무시된다.</a:t>
            </a:r>
          </a:p>
          <a:p>
            <a:pPr algn="l">
              <a:spcAft>
                <a:spcPts val="1000"/>
              </a:spcAft>
            </a:pPr>
            <a:r>
              <a:rPr sz="1600" b="0">
                <a:solidFill>
                  <a:srgbClr val="222222"/>
                </a:solidFill>
                <a:latin typeface="맑은 고딕"/>
              </a:rPr>
              <a:t>•  SRL 작업의 세 오류: ORA-00261(ACTIVE), ORA-01153(적용 방식 충돌), ORA-01184(한 문장 부분 실패).</a:t>
            </a:r>
          </a:p>
          <a:p>
            <a:pPr algn="l">
              <a:spcAft>
                <a:spcPts val="1000"/>
              </a:spcAft>
            </a:pPr>
            <a:r>
              <a:rPr sz="1600" b="0">
                <a:solidFill>
                  <a:srgbClr val="222222"/>
                </a:solidFill>
                <a:latin typeface="맑은 고딕"/>
              </a:rPr>
              <a:t>•  SRL이 하나뿐이어도 실시간 적용은 시작된다. 개수 규칙은 최소 요건이 아니라 권장이다.</a:t>
            </a:r>
          </a:p>
          <a:p>
            <a:pPr algn="l">
              <a:spcAft>
                <a:spcPts val="1000"/>
              </a:spcAft>
            </a:pPr>
            <a:r>
              <a:rPr sz="1600" b="0">
                <a:solidFill>
                  <a:srgbClr val="222222"/>
                </a:solidFill>
                <a:latin typeface="맑은 고딕"/>
              </a:rPr>
              <a:t>•  19c STANDBY NOLOGGING 두 모드는 리두 대신 블록을 보낸다. 직접 경로 적재에만 적용되며 일반 DML은 그대로다.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DBCA silent CDB 생성: 구축 로그를 읽고 옵션과 단계를 해석한다. DBT-10317과 DBT-06208을 구분한다.</a:t>
            </a:r>
          </a:p>
          <a:p>
            <a:pPr algn="l">
              <a:spcAft>
                <a:spcPts val="1000"/>
              </a:spcAft>
            </a:pPr>
            <a:r>
              <a:rPr sz="1600" b="0">
                <a:solidFill>
                  <a:srgbClr val="222222"/>
                </a:solidFill>
                <a:latin typeface="맑은 고딕"/>
              </a:rPr>
              <a:t>•  실습 02 — ARCHIVELOG 확인과 전환: 두 방법으로 상태를 확인하고 FRA를 점검한다. ORA-01126을 재현한다.</a:t>
            </a:r>
          </a:p>
          <a:p>
            <a:pPr algn="l">
              <a:spcAft>
                <a:spcPts val="1000"/>
              </a:spcAft>
            </a:pPr>
            <a:r>
              <a:rPr sz="1600" b="0">
                <a:solidFill>
                  <a:srgbClr val="222222"/>
                </a:solidFill>
                <a:latin typeface="맑은 고딕"/>
              </a:rPr>
              <a:t>•  실습 03 — FORCE LOGGING 실증: 세 조건에서 리두를 측정하고 UNRECOVERABLE_CHANGE#로 흔적을 확인한다.</a:t>
            </a:r>
          </a:p>
          <a:p>
            <a:pPr algn="l">
              <a:spcAft>
                <a:spcPts val="1000"/>
              </a:spcAft>
            </a:pPr>
            <a:r>
              <a:rPr sz="1600" b="0">
                <a:solidFill>
                  <a:srgbClr val="222222"/>
                </a:solidFill>
                <a:latin typeface="맑은 고딕"/>
              </a:rPr>
              <a:t>•  실습 04 — SRL 산정과 생성: 온라인 리두를 근거로 산정하고, 크기가 다른 SRL을 만들어 본 뒤 파일이 남는 것까지 확인한다.</a:t>
            </a:r>
          </a:p>
          <a:p>
            <a:pPr algn="l">
              <a:spcAft>
                <a:spcPts val="1000"/>
              </a:spcAft>
            </a:pPr>
            <a:r>
              <a:rPr sz="1600" b="0">
                <a:solidFill>
                  <a:srgbClr val="222222"/>
                </a:solidFill>
                <a:latin typeface="맑은 고딕"/>
              </a:rPr>
              <a:t>•  실습 05 — SRL 없이 실시간 적용: ORA-00261·ORA-01153·ORA-01184를 재현하고 복구한다.</a:t>
            </a:r>
          </a:p>
          <a:p>
            <a:pPr algn="l">
              <a:spcAft>
                <a:spcPts val="1000"/>
              </a:spcAft>
            </a:pPr>
            <a:r>
              <a:rPr sz="1600" b="0">
                <a:solidFill>
                  <a:srgbClr val="222222"/>
                </a:solidFill>
                <a:latin typeface="맑은 고딕"/>
              </a:rPr>
              <a:t>•  실습 06 — 19c STANDBY NOLOGGING: 두 모드를 설정해 FORCE_LOGGING 열 변화를 확인하고 원복한다.</a:t>
            </a:r>
          </a:p>
          <a:p>
            <a:pPr algn="l">
              <a:spcAft>
                <a:spcPts val="1000"/>
              </a:spcAft>
            </a:pPr>
            <a:r>
              <a:rPr sz="1600" b="0">
                <a:solidFill>
                  <a:srgbClr val="222222"/>
                </a:solidFill>
                <a:latin typeface="맑은 고딕"/>
              </a:rPr>
              <a:t>•  실습 03·04·05는 실제로 설정을 바꾼다. 각 실습 끝에서 반드시 원복한다.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
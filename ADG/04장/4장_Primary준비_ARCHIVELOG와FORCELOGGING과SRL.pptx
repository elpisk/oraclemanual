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교재는 물리 Standby 생성을 여섯 단계로 나누고, 이 장은 그 첫 단계를 맡습니다. 순서에 의미가 있습니다. DUPLICATE는 실행하는 순간의 Primary를 그대로 복제하기 때문에, Primary에 SRL이 있으면 Standby에도 같은 구성으로 생기고 없으면 Standby에서 따로 만들어야 합니다. FORCE LOGGING을 복제 도중에 켜면 그 사이 실행된 NOLOGGING 작업이 Standby에 빠질 수 있습니다. 준비 작업 대부분은 온라인으로 되지만 ARCHIVELOG 전환만은 재기동이 필요하니 정지 일정을 먼저 잡습니다.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항목을 외우기보다 각 항목이 빠졌을 때 어떤 증상이 나오는지와 함께 기억하면 장애 때 거꾸로 추적하기 쉽습니다. 증상이 나타나는 시점도 다릅니다. ARCHIVELOG나 파라미터 오류는 구성 직후 바로 드러나지만, FORCE LOGGING 누락은 몇 주 뒤 Standby에서 특정 테이블을 읽을 때에야 오류로 나타납니다. SRL 문제는 오류조차 없이 실시간 적용이 꺼진 상태로 지나갑니다. 늦게 드러나는 항목일수록 생성 전에 조회로 미리 확인해 두는 편이 비용이 적게 듭니다.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Primary에 Standby 역할용 설정을 넣어 두는 것이 처음엔 어색하게 느껴집니다. 그런데 Switchover를 한 번 하면 지금의 chicago가 Standby가 되고, 그 순간 SRL과 FAL_SERVER, STANDBY_FILE_MANAGEMENT가 필요해집니다. 미리 들어 있으면 전환 직후 아무것도 고치지 않아도 리두를 받고 갭도 해소합니다. VALID_FOR 속성 역시 같은 발상입니다. 역할이 바뀌면 쓰일 목적지와 무시될 목적지가 저절로 갈리도록 처음부터 적어 둡니다. Broker는 spfile에 값을 쓰므로 pfile만 있는 데이터베이스는 Broker 구성에 넣을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Standby는 데이터 파일을 처음 한 번 복제하고, 그 뒤로는 오직 리두만 받아 따라갑니다. 데이터 파일을 다시 가져오는 경로가 평소 동작에는 없다는 데 주목하면 ARCHIVELOG가 왜 전제인지 자연스럽게 이해됩니다. 네트워크가 몇 분 끊긴 사이 온라인 로그가 한 바퀴 돌아 덮어써지면, 아카이브 로그가 없는 한 그 리두는 영영 사라집니다. 갭 해소도 Primary가 아카이브 로그를 읽어 보내는 방식입니다. 멀티테넌트에서는 리두 스트림이 CDB에 하나뿐이라 PDB마다 다른 모드를 둘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전환 명령 자체는 한 줄인데, 실패하는 경우는 두 가지로 정리됩니다. 데이터베이스가 열려 있으면 ORA-01126이 나고, 직전에 SHUTDOWN ABORT나 장애로 내려갔다면 인스턴스 복구가 끝나지 않아 ORA-00265가 납니다. 두 번째 경우는 한 번 정상적으로 열었다가 IMMEDIATE로 다시 내리면 해결됩니다. 운영 중인 데이터베이스에서는 정지 시간이 귀하므로 FORCE LOGGING, FRA 지정까지 같은 정지 시간에 묶어 처리하는 계획을 세웁니다.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모드가 ARCHIVELOG로 보여도 대상 경로 권한이 없거나 공간이 없으면 아카이브는 실패합니다. 확인은 모드 조회에서 끝내지 않고 로그를 한 번 전환해 V$ARCHIVED_LOG에 새 행이 생기는지까지 봅니다. 파일 이름 형식에 resetlogs ID를 넣는 이유는 Failover 같은 RESETLOGS 뒤 순번이 1부터 다시 시작하기 때문입니다. FRA를 쓰면 오라클이 OMF 규칙으로 이름을 붙이므로 형식 파라미터는 적용되지 않습니다. 아카이브 로그 정리는 운영체제 명령 대신 RMAN으로 해야 제어 파일 기록과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NOLOGGING 속성을 붙인 테이블이라도 일반 DML은 평소처럼 리두를 만듭니다. 리두를 건너뛰는 것은 direct-path로 블록을 직접 쓰는 작업뿐입니다. 이 구분을 놓치면 NOLOGGING 테이블이면 모든 변경이 Standby에 안 간다고 오해하게 됩니다. 또 세그먼트를 만들고 익스텐트를 할당했다는 딕셔너리 변경은 리두에 남기 때문에 Standby에도 테이블은 생깁니다. 비어 있는 것은 새로 쓴 데이터 블록의 내용입니다. 데이터 웨어하우스 야간 적재가 이 경로를 자주 쓰는 이유는 리두와 아카이브 양이 크게 줄기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NOLOGGING의 무서운 점은 문제가 늦게 드러난다는 데 있습니다. Redo Apply는 그 범위에 리두가 없다는 표시만 받고 블록을 복구 불가로 표시한 뒤 계속 진행하므로 적용 단계에서는 아무 오류가 없습니다. 오류는 누군가 그 블록을 읽을 때 처음 나오는데, Active Data Guard 조회일 수도 있고 Failover 뒤 새 Primary에서 업무가 그 테이블을 읽을 때일 수도 있습니다. 후자라면 장애 복구 중에 두 번째 장애를 만나는 셈입니다. Primary의 UNRECOVERABLE 열을 마지막 백업 시각과 비교하면 NOLOGGING 작업이 있었는지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실제로 자주 보는 형태입니다. 적재 스크립트는 Data Guard 도입 훨씬 전에 만들어졌고, 당시에는 UNRECOVERABLE 옵션이 적재 시간을 줄이는 좋은 선택이었습니다. Data Guard를 붙이면서 FORCE LOGGING을 켜지 않았으니 Primary는 문제가 없고 Standby에만 구멍이 쌓였습니다. 조치는 두 갈래입니다. 이미 생긴 무효 블록은 Standby에서 다시 채우고, 앞으로의 재발은 FORCE LOGGING으로 막습니다. FORCE LOGGING이 켜지면 스크립트를 고치지 않아도 옵션이 무시되므로 개발팀과 협의할 일이 줄어듭니다.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우선순위를 정리하면 간단합니다. 데이터베이스 수준에서 FORCE LOGGING을 켜면 그 아래 어디에 NOLOGGING이 붙어 있든 리두가 생깁니다. 임시 테이블스페이스만 예외인데, 원래 복구 대상이 아니라서 Standby에도 필요 없습니다. PDB나 테이블스페이스 단위로만 켜는 구성도 가능하지만, 나중에 추가되는 PDB나 테이블스페이스가 보호에서 빠지기 쉬워 Data Guard에서는 데이터베이스 수준을 씁니다. 새로 만든 데이터베이스는 기본이 꺼져 있다는 사실도 함께 확인해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명령은 OPEN 상태에서도 받아들여지지만, 이미 돌고 있는 NOLOGGING 작업이 끝날 때까지 완료되지 않습니다. 대량 적재가 몇 시간짜리라면 그만큼 기다립니다. 공식 교재가 MOUNT 상태를 권하는 이유가 이 대기 때문이고, ARCHIVELOG 전환과 함께 하면 추가 정지도 없습니다. 확인할 때는 데이터베이스 열과 테이블스페이스 열을 모두 봅니다. 데이터베이스가 NO인데 일부 테이블스페이스만 YES인 상태를 데이터베이스 열만 보고 판단하면 보호 범위를 잘못 읽게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LOGGING을 켰다고 끝난 것은 아닙니다. 켜기 전에 있었던 NOLOGGING 작업의 흔적은 Standby에 그대로 남아 있습니다. 12.2부터는 Standby에서 무효 블록만 골라 Primary로부터 받아 채우는 명령이 생겼고, 범위가 넓으면 데이터 파일 단위로 Primary에서 네트워크로 다시 받아 옵니다. 둘 다 Redo Apply를 멈추고 진행합니다. 상세 절차는 15장 문제 해결에서 다시 다루고, 여기서는 FORCE LOGGING을 늦게 켰다면 과거 구간을 따로 점검해야 한다는 정도로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FORCE LOGGING이 공짜는 아닙니다. 적재하는 데이터 크기만큼 리두가 생기고, 그 리두를 쓰고 아카이브하고 네트워크로 보내는 비용이 모두 따라옵니다. 적재가 많은 시스템에서는 야간 배치 시간이 눈에 띄게 늘어나기도 합니다. 이 때문에 운영팀에서 FORCE LOGGING을 잠깐 끄자는 요청이 나오는데, 끄는 순간 앞에서 본 무효 블록 문제가 다시 시작됩니다. 18c에 들어온 STANDBY NOLOGGING 두 모드는 이 줄다리기에 세 번째 선택지를 주기 위해 만들어졌습니다.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모드에서 적재 프로세스는 블록 내용을 리두에 남기지 않는 대신 각 Standby에 별도 연결을 열어 블록을 직접 보냅니다. 그리고 모든 Standby가 그 블록을 적용할 때까지 커밋을 미룹니다. 커밋이 끝났다면 Standby에도 데이터가 있다는 보장이 생기는 셈입니다. 대가는 적재 속도가 Standby 쪽 사정에 묶인다는 점입니다. Standby가 멀리 있거나 바쁘면 Primary의 적재 세션이 그만큼 기다립니다. 데이터 완전성을 포기할 수 없는 적재에 맞습니다.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모드는 평소에는 첫 번째와 똑같이 움직이다가, 네트워크가 적재 속도를 따라가지 못할 때 갈라집니다. 전송을 포기하고 적재를 계속하므로 Primary 적재 시간은 지켜집니다. 빠진 블록은 Standby가 Redo Apply를 진행하면서 Primary에 요청해 자동으로 채웁니다. 문제는 채워지기 전의 짧은 구간입니다. 그 사이 Primary가 사라져 Failover하면 해당 블록은 새 Primary에서 무효로 보입니다. 이 구간을 감수할 수 있는 적재에만 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상태를 한 줄씩 놓고 보면 선택 기준이 드러납니다. Data Guard 구성에서 NOFORCE는 고려 대상에서 빠지고, 대부분은 FORCE LOGGING을 씁니다. 대량 적재 때문에 FORCE LOGGING 비용이 문제가 될 때 나머지 두 모드를 검토합니다. 데이터 완전성이 우선이면 DATA AVAILABILITY, 적재 마감 시간이 우선이면 LOAD PERFORMANCE입니다. 세 설정은 서로 배타적이라 하나를 지정하면 이전 설정은 대체됩니다. 두 모드가 다루는 대상이 direct-path 적재로 한정되는지도 버전 문서로 확인하고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STANDBY NOLOGGING 모드를 설정하면 V$DATABASE의 FORCE_LOGGING 열에 YES나 NO 대신 모드 이름이 문자열로 들어갑니다. 오래된 점검 스크립트가 NO인지를 검사하도록 짜여 있으면 이 상태를 정상으로 통과시킵니다. 조건을 YES가 아닌 모든 값으로 바꾸고, 의도한 모드라면 예외 목록에 따로 적는 방식이 안전합니다. 명령을 칠 때 LOAD를 빠뜨려 FOR PERFORMANCE로 쓰면 구문 오류가 나는데, 실습에서 일부러 재현해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교재는 두 모드를 Active Data Guard 환경에서 managed recovery의 일부로 동작한다고 설명합니다. Active Data Guard는 Enterprise Edition 위에 따로 사는 옵션이므로, Standby를 READ ONLY WITH APPLY로 운영하지 않는 구성이라면 이 모드를 검토하기 전에 라이선스부터 확인합니다. 라이선스가 없다면 현실적인 선택지는 FORCE LOGGING 하나입니다. 운영 측면에서는 모드를 바꾼 사실이 잊히기 쉽습니다. 적재가 끝나면 FORCE LOGGING으로 되돌리는지, 계속 유지하는지를 절차서에 적어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SRL은 온라인 리두 로그와 같은 구조의 파일이지만 Standby 역할일 때만 쓰이는 별도의 그룹 풀입니다. Primary가 로그를 전환하면 Standby의 RFS도 SRL을 전환하므로 둘은 비슷한 리듬으로 움직입니다. 다 찬 SRL은 Standby의 ARCn이 아카이브 로그로 만들고, 아카이브가 끝나야 그 SRL이 다시 쓰일 수 있습니다. 실시간 적용은 RFS가 쓰고 있는 SRL을 MRP가 동시에 읽는 구조입니다. 예전 자료에 나오는 STANDBY_ARCHIVE_DEST 파라미터는 지금은 쓰지 않고, 위치는 로컬 아카이브 목적지에서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경우 모두 RFS는 SRL을 포기하고 아카이브 로그 파일을 직접 만들어 씁니다. 전송도 적용도 계속되기 때문에 경고 로그를 꼼꼼히 보지 않으면 알아채기 어렵습니다. 달라지는 것은 리두가 적용 대상이 되는 시점입니다. 로그 하나가 다 찰 때까지 기다려야 하므로 apply lag가 로그 전환 간격만큼 벌어집니다. 세 번째 경우는 SRL 개수가 부족할 때 리두가 몰리는 시간대에만 간헐적으로 나타나서 원인 찾기가 특히 까다롭습니다.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공식 교재가 SRL 필수 기능으로 꼽는 것은 SYNC 전송, 실시간 적용, 캐스케이딩 세 가지입니다. 여기에 Far Sync 인스턴스도 SRL로 리두를 받아 중계하므로 SRL이 없으면 쓸 수 없습니다. 보호 모드 가운데 Maximum Availability와 Maximum Protection은 SYNC 전송을 요구하니 이 역시 SRL을 전제로 합니다. 2장에서 다룬 보호 모드, 7장의 실시간 적용, 10장의 Far Sync가 모두 이 장에서 만든 SRL 위에 올라간다고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하나를 더 두는 이유는 아카이브 대기 때문입니다. 다 찬 SRL을 ARCn이 아카이브하는 동안 RFS는 다음 리두를 쓸 빈 SRL이 필요합니다. 온라인 그룹 수와 똑같이 만들면 리두가 몰리는 순간 빈 그룹이 없어 RFS가 아카이브 로그로 직접 쓰기 시작합니다. RAC Primary라면 스레드마다 따로 계산하고 각 그룹에 스레드 번호를 붙입니다. 많이 만들어서 생기는 손해는 디스크 공간 정도이니, 계산이 애매하면 넉넉한 쪽을 택합니다.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자체는 크거나 같으면 된다는 것이지만, 공식 교재는 모든 로그를 같은 크기로 맞추라고 권합니다. 크기가 하나뿐이면 산정도 점검도 단순해집니다. SRL을 크게 만들어 둔다고 여유가 생기지는 않습니다. RFS는 Primary의 로그 전환에 맞춰 SRL을 전환하므로 큰 SRL도 온라인 로그 크기만큼만 채워집니다. 가장 흔한 사고는 Primary의 온라인 로그를 키우면서 SRL을 그대로 둔 경우입니다. 기존 SRL이 모두 작은 SRL이 되어 쓰이지 않고, 실시간 적용이 소리 없이 꺼집니다.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Primary에서 SRL은 상태가 UNASSIGNED인 채로 놓여 있을 뿐 아무 일도 하지 않습니다. 그래도 미리 만드는 데는 이유가 있습니다. Switchover로 chicago가 Standby가 되는 순간 리두를 받아야 하는데, 그때 SRL을 만들려고 하면 전환 작업 중에 DBA가 손을 대야 합니다. 또 Primary에 SRL이 있으면 DUPLICATE가 Standby에 같은 구성을 만들어 주므로 Standby 쪽 작업이 줄어듭니다. 결과적으로 모든 구성원이 같은 SRL 규격을 갖게 되어 어떤 역할 조합에서도 조건이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그룹 번호는 온라인 로그와 겹치면 안 되므로 온라인이 1번부터 3번이면 SRL은 4번부터 붙입니다. THREAD 절을 빼도 생성은 되지만 스레드가 지정되지 않은 SRL이 되어 나중에 RAC로 확장할 때 계산이 꼬입니다. 확인은 V$LOGFILE에서 경로를, V$STANDBY_LOG에서 스레드와 크기와 상태를 봅니다. 같은 이름의 파일이 이미 있으면 ORA-00301이 먼저 보이는데, 실제 원인은 그 아래 ORA-27038에 적혀 있습니다. 오류 스택은 마지막 줄까지 읽는 습관이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FRA는 복구 관련 파일을 한곳에 모으고 공간 관리를 오라클에 맡기는 장소입니다. Data Guard에서 특히 쓸모 있는 이유는 플래시백 데이터베이스입니다. Failover 뒤 이전 Primary를 버리지 않고 Standby로 되살리는 reinstate와, Standby를 잠시 읽기 쓰기로 여는 Snapshot Standby가 모두 플래시백 로그를 씁니다. Standby도 받은 리두를 아카이브하고 플래시백 로그를 쌓으므로 FRA가 따로 필요합니다. 수동 경로에 둔 아카이브 로그는 오라클이 정리해 주지 않는다는 차이도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바꾸면 크기가 정해지지 않았다는 오류가 납니다. 크기는 디스크를 미리 잡아 두는 값이 아니고 FRA가 쓸 수 있는 상한입니다. 산정할 때 놓치기 쉬운 것이 Standby가 멈춰 있는 기간입니다. 삭제 정책이 Standby 적용을 기다리도록 되어 있으면, Standby가 내려가 있는 동안 Primary는 아카이브 로그를 지우지 못하고 계속 쌓습니다. 계획된 Standby 정지가 최대 며칠까지 있을 수 있는지를 보관 일수에 반영해 두면 뒤에서 볼 사례 같은 일을 피합니다.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삭제 정책은 두 위험 사이에서 균형을 잡는 장치입니다. 너무 일찍 지우면 Standby가 아직 받지 못한 로그가 사라져 갭을 메울 수 없게 되고, 너무 늦게 지우면 FRA가 차서 Primary가 멈춥니다. APPLIED ON ALL STANDBY는 모든 Standby가 적용까지 끝낸 로그만 지우므로 안전한 대신 Standby가 오래 멈추면 Primary에 부담이 갑니다. 사례처럼 스토리지 교체로 Standby를 며칠 내리는 계획이 있다면, 정지 전에 FRA 여유를 계산하고 목적지를 DEFER할지 함께 결정합니다.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물리 Standby는 Primary의 복제본이라 데이터베이스 이름과 DBID가 같습니다. 구성원을 구분할 이름이 따로 필요하고, 그것이 DB_UNIQUE_NAME입니다. Primary는 지정하지 않으면 DB_NAME과 같은 값을 쓰니 따로 손대지 않아도 됩니다. Standby는 반드시 다른 값을 가져야 합니다. 이 이름은 LOG_ARCHIVE_CONFIG 목록, 목적지 속성, Broker 구성, 리스너 서비스 이름에 두루 쓰이므로 구성 후에 바꾸면 고칠 곳이 너무 많습니다. 처음에 표기까지 정해 문서로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DG_CONFIG에는 구성에 속한 모든 데이터베이스와 Far Sync 인스턴스의 고유 이름을 적습니다. 목록에 없는 상대와는 리두를 주고받지 않으므로, 다른 구성의 데이터베이스와 실수로 리두가 섞이는 사고를 막아 줍니다. 목록에 있다고 전송이 일어나지는 않습니다. 실제로 보낼지는 목적지 파라미터가 정하므로, 앞으로 추가할 Standby 이름을 미리 넣어 두어도 문제없습니다. V$DATAGUARD_CONFIG의 첫 행은 자기 자신입니다. Broker를 쓰는 구성에서는 이 값을 손으로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목적지 하나하나가 로컬 아카이브 위치이거나 원격 전송 대상입니다. 원격 목적지의 SERVICE 값은 tnsnames.ora의 서비스 이름이고, DB_UNIQUE_NAME 속성은 받는 쪽이 누구인지 확인하는 데 쓰입니다. FRA를 쓴다면 로컬 목적지를 명시해야 합니다. 목적지를 하나도 지정하지 않으면 FRA가 암묵적으로 쓰이지만, 원격 목적지만 하나 지정하는 순간 암묵적 로컬 목적지가 사라집니다. Standby가 아직 없을 때는 DEFER로 두었다가 생성 후 ENABLE로 바꾸는 순서도 흔히 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VALID_FOR는 이 목적지를 언제 쓸지를 로그 종류와 역할의 쌍으로 정합니다. Standby로 리두를 보내는 목적지는 Primary 역할에서 온라인 로그를 처리할 때만 쓰이면 되므로 ONLINE_LOGFILES와 PRIMARY_ROLE을 적습니다. 역할이 바뀌면 이 목적지는 오류 없이 무시되니 파라미터를 고칠 필요가 없습니다. 유일하게 성립하지 않는 조합은 Primary 역할에서 SRL을 아카이브하라는 것인데, Primary에는 받는 리두가 없으니 말이 되지 않아 ORA-16026으로 거부됩니다.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묶음은 Primary 역할에서는 쓰이지 않습니다. chicago의 FAL_SERVER에는 boston을, boston의 FAL_SERVER에는 chicago를 적어 두면 어느 쪽이 Standby가 되든 갭을 메울 상대가 정해져 있습니다. STANDBY_FILE_MANAGEMENT를 AUTO로 두면 Primary에서 데이터 파일을 추가할 때 Standby에도 자동으로 생기지만, 대신 Standby에서 몇몇 ALTER DATABASE 명령이 막힙니다. 그 영향은 8장에서 따로 봅니다. ARCHIVE_LAG_TARGET은 리두가 적은 시간대에도 일정 간격으로 로그를 전환시켜 아카이브 기반 적용의 지연에 상한을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전송 연결은 비밀번호 파일로 인증합니다. 구성원 모두가 비밀번호 파일을 갖고 SYS 비밀번호가 같아야 합니다. 공식 교재는 Standby용 파일을 orapwd로 새로 만들지 말고 Primary 파일을 복사해 이름만 바꾸라고 권합니다. 비밀번호가 같아도 새로 만든 파일로는 인증이 실패하는 경우가 있기 때문입니다. SYS 대신 전송 전용 사용자를 쓰고 싶다면 REDO_TRANSPORT_USER에 SYSOPER 권한 사용자를 지정합니다. SYS 비밀번호를 바꾸는 작업은 Data Guard 환경에서 계획된 변경으로 다뤄야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묶음을 boston 쪽에 옮기면 고유 이름이 boston이 되고, 2번 목적지의 대상과 FAL_SERVER가 chicago로 바뀝니다. 두 서버의 파라미터를 나란히 놓고 거울상인지 비교하는 습관이 장애를 줄입니다. 설정 후에는 SHOW PARAMETER로 문자열을 보는 데서 멈추지 말고 V$ARCHIVE_DEST의 상태를 봅니다. VALID면 정상이고, BAD PARAM이면 속성 문자열에 오타나 잘못된 조합이 있습니다. Standby를 만들기 전이라면 2번 목적지가 ERROR로 보이는 것은 당연한 결과입니다.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개 조회로 이 장의 준비 항목을 한꺼번에 확인할 수 있습니다. 점검은 DUPLICATE 직전에 한 번, 그리고 Switchover 같은 역할 전환 직전에 다시 씁니다. SRL 조회는 개수와 함께 최소 크기를 보는데, 가장 작은 SRL이 가장 큰 온라인 로그 이상이어야 조건을 만족합니다. FORCE_LOGGING 열은 YES인지를 기준으로 보고, STANDBY NOLOGGING 모드를 의도했다면 그 모드 이름이 맞는지 확인합니다. 2번 목적지가 ERROR인 것은 Standby가 생기기 전까지는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준비 항목은 한 번 갖추면 끝날 것 같지만 운영 중에 조금씩 무너집니다. 성능 문제로 FORCE LOGGING을 잠깐 끄거나, 온라인 로그를 키우면서 SRL을 잊거나, 비밀번호를 바꾸고 Standby 파일을 복사하지 않는 식입니다. 공통점은 그 순간에는 오류가 없다는 것입니다. 변경 요청서 양식에 SRL과 비밀번호 파일 항목을 넣어 두는 것이 가장 확실한 예방책입니다. FRA 경보도 양쪽에 걸어야 하는데, Standby FRA가 차면 받은 리두를 아카이브하지 못해 적용이 멈춥니다.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Primary 준비</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ARCHIVELOG, FORCE LOGGING, Standby Redo Log, 파라미터</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제4장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Primary 준비 항목과 빠졌을 때의 증상을 연결한다</a:t>
            </a:r>
          </a:p>
          <a:p>
            <a:pPr algn="l">
              <a:spcAft>
                <a:spcPts val="1000"/>
              </a:spcAft>
            </a:pPr>
            <a:r>
              <a:rPr sz="1600" b="0">
                <a:solidFill>
                  <a:srgbClr val="222222"/>
                </a:solidFill>
                <a:latin typeface="맑은 고딕"/>
              </a:rPr>
              <a:t>•  ARCHIVELOG 전환의 선행 조건과 확인 방법을 안다</a:t>
            </a:r>
          </a:p>
          <a:p>
            <a:pPr algn="l">
              <a:spcAft>
                <a:spcPts val="1000"/>
              </a:spcAft>
            </a:pPr>
            <a:r>
              <a:rPr sz="1600" b="0">
                <a:solidFill>
                  <a:srgbClr val="222222"/>
                </a:solidFill>
                <a:latin typeface="맑은 고딕"/>
              </a:rPr>
              <a:t>•  NOLOGGING의 위험과 FORCE LOGGING 우선순위를 구분한다</a:t>
            </a:r>
          </a:p>
          <a:p>
            <a:pPr algn="l">
              <a:spcAft>
                <a:spcPts val="1000"/>
              </a:spcAft>
            </a:pPr>
            <a:r>
              <a:rPr sz="1600" b="0">
                <a:solidFill>
                  <a:srgbClr val="222222"/>
                </a:solidFill>
                <a:latin typeface="맑은 고딕"/>
              </a:rPr>
              <a:t>•  19c STANDBY NOLOGGING 두 모드와 라이선스를 설명한다</a:t>
            </a:r>
          </a:p>
          <a:p>
            <a:pPr algn="l">
              <a:spcAft>
                <a:spcPts val="1000"/>
              </a:spcAft>
            </a:pPr>
            <a:r>
              <a:rPr sz="1600" b="0">
                <a:solidFill>
                  <a:srgbClr val="222222"/>
                </a:solidFill>
                <a:latin typeface="맑은 고딕"/>
              </a:rPr>
              <a:t>•  SRL 개수·크기를 산정하고 Primary에 미리 만든다</a:t>
            </a:r>
          </a:p>
          <a:p>
            <a:pPr algn="l">
              <a:spcAft>
                <a:spcPts val="1000"/>
              </a:spcAft>
            </a:pPr>
            <a:r>
              <a:rPr sz="1600" b="0">
                <a:solidFill>
                  <a:srgbClr val="222222"/>
                </a:solidFill>
                <a:latin typeface="맑은 고딕"/>
              </a:rPr>
              <a:t>•  FRA와 Data Guard 파라미터의 역할을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4.2  Primary 준비의 전체 그림</a:t>
            </a:r>
          </a:p>
          <a:p>
            <a:pPr algn="l">
              <a:spcAft>
                <a:spcPts val="1000"/>
              </a:spcAft>
            </a:pPr>
            <a:r>
              <a:rPr sz="1600" b="0">
                <a:solidFill>
                  <a:srgbClr val="222222"/>
                </a:solidFill>
                <a:latin typeface="맑은 고딕"/>
              </a:rPr>
              <a:t>•  4.3  ARCHIVELOG 모드</a:t>
            </a:r>
          </a:p>
          <a:p>
            <a:pPr algn="l">
              <a:spcAft>
                <a:spcPts val="1000"/>
              </a:spcAft>
            </a:pPr>
            <a:r>
              <a:rPr sz="1600" b="0">
                <a:solidFill>
                  <a:srgbClr val="222222"/>
                </a:solidFill>
                <a:latin typeface="맑은 고딕"/>
              </a:rPr>
              <a:t>•  4.4  FORCE LOGGING과 NOLOGGING 작업</a:t>
            </a:r>
          </a:p>
          <a:p>
            <a:pPr algn="l">
              <a:spcAft>
                <a:spcPts val="1000"/>
              </a:spcAft>
            </a:pPr>
            <a:r>
              <a:rPr sz="1600" b="0">
                <a:solidFill>
                  <a:srgbClr val="222222"/>
                </a:solidFill>
                <a:latin typeface="맑은 고딕"/>
              </a:rPr>
              <a:t>•  4.5  19c의 STANDBY NOLOGGING 모드</a:t>
            </a:r>
          </a:p>
          <a:p>
            <a:pPr algn="l">
              <a:spcAft>
                <a:spcPts val="1000"/>
              </a:spcAft>
            </a:pPr>
            <a:r>
              <a:rPr sz="1600" b="0">
                <a:solidFill>
                  <a:srgbClr val="222222"/>
                </a:solidFill>
                <a:latin typeface="맑은 고딕"/>
              </a:rPr>
              <a:t>•  4.6  Standby Redo Log  /  4.7  FRA와 아카이브 보관</a:t>
            </a:r>
          </a:p>
          <a:p>
            <a:pPr algn="l">
              <a:spcAft>
                <a:spcPts val="1000"/>
              </a:spcAft>
            </a:pPr>
            <a:r>
              <a:rPr sz="1600" b="0">
                <a:solidFill>
                  <a:srgbClr val="222222"/>
                </a:solidFill>
                <a:latin typeface="맑은 고딕"/>
              </a:rPr>
              <a:t>•  4.8  Primary의 Data Guard 파라미터  /  4.9  점검과 주의점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Primary 준비의 전체 그림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Standby 생성 여섯 단계 중 첫 단계</a:t>
            </a:r>
          </a:p>
          <a:p>
            <a:pPr algn="l">
              <a:spcAft>
                <a:spcPts val="800"/>
              </a:spcAft>
            </a:pPr>
            <a:r>
              <a:rPr sz="1600" b="0">
                <a:solidFill>
                  <a:srgbClr val="FFFFFF"/>
                </a:solidFill>
                <a:latin typeface="맑은 고딕"/>
              </a:rPr>
              <a:t>•  준비 항목과 빠졌을 때의 증상</a:t>
            </a:r>
          </a:p>
          <a:p>
            <a:pPr algn="l">
              <a:spcAft>
                <a:spcPts val="800"/>
              </a:spcAft>
            </a:pPr>
            <a:r>
              <a:rPr sz="1600" b="0">
                <a:solidFill>
                  <a:srgbClr val="FFFFFF"/>
                </a:solidFill>
                <a:latin typeface="맑은 고딕"/>
              </a:rPr>
              <a:t>•  역할 전환까지 내다본 준비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생성 절차와 Primary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DUPLICATE는 그 시점의 Primary를 복제한다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 Primary 준비 → 2 Standby 파라미터 → 3 Net</a:t>
            </a:r>
          </a:p>
          <a:p>
            <a:pPr algn="l">
              <a:spcAft>
                <a:spcPts val="1000"/>
              </a:spcAft>
            </a:pPr>
            <a:r>
              <a:rPr sz="1700" b="0">
                <a:solidFill>
                  <a:srgbClr val="222222"/>
                </a:solidFill>
                <a:latin typeface="맑은 고딕"/>
              </a:rPr>
              <a:t>•  4 NOMOUNT 기동 → 5 DUPLICATE → 6 전송·적용</a:t>
            </a:r>
          </a:p>
          <a:p>
            <a:pPr algn="l">
              <a:spcAft>
                <a:spcPts val="1000"/>
              </a:spcAft>
            </a:pPr>
            <a:r>
              <a:rPr sz="1700" b="0">
                <a:solidFill>
                  <a:srgbClr val="222222"/>
                </a:solidFill>
                <a:latin typeface="맑은 고딕"/>
              </a:rPr>
              <a:t>•  Primary에 SRL이 있으면 Standby에도 자동 생성</a:t>
            </a:r>
          </a:p>
          <a:p>
            <a:pPr algn="l">
              <a:spcAft>
                <a:spcPts val="1000"/>
              </a:spcAft>
            </a:pPr>
            <a:r>
              <a:rPr sz="1700" b="0">
                <a:solidFill>
                  <a:srgbClr val="222222"/>
                </a:solidFill>
                <a:latin typeface="맑은 고딕"/>
              </a:rPr>
              <a:t>•  FORCE LOGGING은 복제 시작 전에 켠다</a:t>
            </a:r>
          </a:p>
          <a:p>
            <a:pPr algn="l">
              <a:spcAft>
                <a:spcPts val="1000"/>
              </a:spcAft>
            </a:pPr>
            <a:r>
              <a:rPr sz="1700" b="0">
                <a:solidFill>
                  <a:srgbClr val="222222"/>
                </a:solidFill>
                <a:latin typeface="맑은 고딕"/>
              </a:rPr>
              <a:t>•  재기동이 필요한 작업은 ARCHIVELOG 전환뿐</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준비 항목과 빠졌을 때의 증상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빠지면 어디서 드러나는가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ARCHIVELOG 없음: 전송 서비스가 성립하지 않음</a:t>
            </a:r>
          </a:p>
          <a:p>
            <a:pPr algn="l">
              <a:spcAft>
                <a:spcPts val="1000"/>
              </a:spcAft>
            </a:pPr>
            <a:r>
              <a:rPr sz="1700" b="0">
                <a:solidFill>
                  <a:srgbClr val="222222"/>
                </a:solidFill>
                <a:latin typeface="맑은 고딕"/>
              </a:rPr>
              <a:t>•  FORCE LOGGING 없음: Standby에 무효 블록</a:t>
            </a:r>
          </a:p>
          <a:p>
            <a:pPr algn="l">
              <a:spcAft>
                <a:spcPts val="1000"/>
              </a:spcAft>
            </a:pPr>
            <a:r>
              <a:rPr sz="1700" b="0">
                <a:solidFill>
                  <a:srgbClr val="222222"/>
                </a:solidFill>
                <a:latin typeface="맑은 고딕"/>
              </a:rPr>
              <a:t>•  SRL 없음: 실시간 적용, SYNC, 캐스케이딩 불가</a:t>
            </a:r>
          </a:p>
          <a:p>
            <a:pPr algn="l">
              <a:spcAft>
                <a:spcPts val="1000"/>
              </a:spcAft>
            </a:pPr>
            <a:r>
              <a:rPr sz="1700" b="0">
                <a:solidFill>
                  <a:srgbClr val="222222"/>
                </a:solidFill>
                <a:latin typeface="맑은 고딕"/>
              </a:rPr>
              <a:t>•  FRA 부족: 아카이브 중단, Primary 정지</a:t>
            </a:r>
          </a:p>
          <a:p>
            <a:pPr algn="l">
              <a:spcAft>
                <a:spcPts val="1000"/>
              </a:spcAft>
            </a:pPr>
            <a:r>
              <a:rPr sz="1700" b="0">
                <a:solidFill>
                  <a:srgbClr val="222222"/>
                </a:solidFill>
                <a:latin typeface="맑은 고딕"/>
              </a:rPr>
              <a:t>•  DG 파라미터 오류: 리두 송수신 거부</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전환까지 내다본 준비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Primary도 언젠가 Standby가 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SRL, FAL_SERVER, STANDBY_FILE_MANAGEMENT</a:t>
            </a:r>
          </a:p>
          <a:p>
            <a:pPr algn="l">
              <a:spcAft>
                <a:spcPts val="1000"/>
              </a:spcAft>
            </a:pPr>
            <a:r>
              <a:rPr sz="1700" b="0">
                <a:solidFill>
                  <a:srgbClr val="222222"/>
                </a:solidFill>
                <a:latin typeface="맑은 고딕"/>
              </a:rPr>
              <a:t>•  셋 다 Primary 역할에서는 쓰이지 않음</a:t>
            </a:r>
          </a:p>
          <a:p>
            <a:pPr algn="l">
              <a:spcAft>
                <a:spcPts val="1000"/>
              </a:spcAft>
            </a:pPr>
            <a:r>
              <a:rPr sz="1700" b="0">
                <a:solidFill>
                  <a:srgbClr val="222222"/>
                </a:solidFill>
                <a:latin typeface="맑은 고딕"/>
              </a:rPr>
              <a:t>•  VALID_FOR로 역할별 목적지를 미리 구분</a:t>
            </a:r>
          </a:p>
          <a:p>
            <a:pPr algn="l">
              <a:spcAft>
                <a:spcPts val="1000"/>
              </a:spcAft>
            </a:pPr>
            <a:r>
              <a:rPr sz="1700" b="0">
                <a:solidFill>
                  <a:srgbClr val="222222"/>
                </a:solidFill>
                <a:latin typeface="맑은 고딕"/>
              </a:rPr>
              <a:t>•  Broker를 쓰려면 spfile이 필요</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ARCHIVELOG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리두는 Standby의 유일한 재료</a:t>
            </a:r>
          </a:p>
          <a:p>
            <a:pPr algn="l">
              <a:spcAft>
                <a:spcPts val="800"/>
              </a:spcAft>
            </a:pPr>
            <a:r>
              <a:rPr sz="1600" b="0">
                <a:solidFill>
                  <a:srgbClr val="FFFFFF"/>
                </a:solidFill>
                <a:latin typeface="맑은 고딕"/>
              </a:rPr>
              <a:t>•  MOUNT 상태에서의 전환</a:t>
            </a:r>
          </a:p>
          <a:p>
            <a:pPr algn="l">
              <a:spcAft>
                <a:spcPts val="800"/>
              </a:spcAft>
            </a:pPr>
            <a:r>
              <a:rPr sz="1600" b="0">
                <a:solidFill>
                  <a:srgbClr val="FFFFFF"/>
                </a:solidFill>
                <a:latin typeface="맑은 고딕"/>
              </a:rPr>
              <a:t>•  상태 확인과 아카이브 로그 이름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리두가 Standby의 유일한 재료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덮어쓰인 리두는 다시 구할 수 없다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최초 복제 이후 변경은 리두로만 전달</a:t>
            </a:r>
          </a:p>
          <a:p>
            <a:pPr algn="l">
              <a:spcAft>
                <a:spcPts val="1000"/>
              </a:spcAft>
            </a:pPr>
            <a:r>
              <a:rPr sz="1700" b="0">
                <a:solidFill>
                  <a:srgbClr val="222222"/>
                </a:solidFill>
                <a:latin typeface="맑은 고딕"/>
              </a:rPr>
              <a:t>•  NOARCHIVELOG면 한 바퀴 돈 리두는 사라짐</a:t>
            </a:r>
          </a:p>
          <a:p>
            <a:pPr algn="l">
              <a:spcAft>
                <a:spcPts val="1000"/>
              </a:spcAft>
            </a:pPr>
            <a:r>
              <a:rPr sz="1700" b="0">
                <a:solidFill>
                  <a:srgbClr val="222222"/>
                </a:solidFill>
                <a:latin typeface="맑은 고딕"/>
              </a:rPr>
              <a:t>•  갭 해소(FAL)도 아카이브 로그에서 읽음</a:t>
            </a:r>
          </a:p>
          <a:p>
            <a:pPr algn="l">
              <a:spcAft>
                <a:spcPts val="1000"/>
              </a:spcAft>
            </a:pPr>
            <a:r>
              <a:rPr sz="1700" b="0">
                <a:solidFill>
                  <a:srgbClr val="222222"/>
                </a:solidFill>
                <a:latin typeface="맑은 고딕"/>
              </a:rPr>
              <a:t>•  ACTIVE DUPLICATE도 아카이브 로그로 따라잡음</a:t>
            </a:r>
          </a:p>
          <a:p>
            <a:pPr algn="l">
              <a:spcAft>
                <a:spcPts val="1000"/>
              </a:spcAft>
            </a:pPr>
            <a:r>
              <a:rPr sz="1700" b="0">
                <a:solidFill>
                  <a:srgbClr val="222222"/>
                </a:solidFill>
                <a:latin typeface="맑은 고딕"/>
              </a:rPr>
              <a:t>•  로그 모드는 CDB 단위로 하나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전환 절차와 선행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MOUNT에서만, 깨끗한 종료 뒤에만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SHUTDOWN IMMEDIATE → STARTUP MOUNT</a:t>
            </a:r>
          </a:p>
          <a:p>
            <a:pPr algn="l">
              <a:spcAft>
                <a:spcPts val="1000"/>
              </a:spcAft>
            </a:pPr>
            <a:r>
              <a:rPr sz="1700" b="0">
                <a:solidFill>
                  <a:srgbClr val="222222"/>
                </a:solidFill>
                <a:latin typeface="맑은 고딕"/>
              </a:rPr>
              <a:t>•  ALTER DATABASE ARCHIVELOG → OPEN</a:t>
            </a:r>
          </a:p>
          <a:p>
            <a:pPr algn="l">
              <a:spcAft>
                <a:spcPts val="1000"/>
              </a:spcAft>
            </a:pPr>
            <a:r>
              <a:rPr sz="1700" b="0">
                <a:solidFill>
                  <a:srgbClr val="222222"/>
                </a:solidFill>
                <a:latin typeface="맑은 고딕"/>
              </a:rPr>
              <a:t>•  OPEN 상태에서 실행하면 ORA-01126</a:t>
            </a:r>
          </a:p>
          <a:p>
            <a:pPr algn="l">
              <a:spcAft>
                <a:spcPts val="1000"/>
              </a:spcAft>
            </a:pPr>
            <a:r>
              <a:rPr sz="1700" b="0">
                <a:solidFill>
                  <a:srgbClr val="222222"/>
                </a:solidFill>
                <a:latin typeface="맑은 고딕"/>
              </a:rPr>
              <a:t>•  ABORT 직후면 ORA-00265, 정상 종료 후 재시도</a:t>
            </a:r>
          </a:p>
          <a:p>
            <a:pPr algn="l">
              <a:spcAft>
                <a:spcPts val="1000"/>
              </a:spcAft>
            </a:pPr>
            <a:r>
              <a:rPr sz="1700" b="0">
                <a:solidFill>
                  <a:srgbClr val="222222"/>
                </a:solidFill>
                <a:latin typeface="맑은 고딕"/>
              </a:rPr>
              <a:t>•  같은 정지 시간에 FORCE LOGGING도 처리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상태 확인과 아카이브 로그 이름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모드와 실제 아카이브는 따로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ARCHIVE LOG LIST: 모드, 대상, 현재 순번</a:t>
            </a:r>
          </a:p>
          <a:p>
            <a:pPr algn="l">
              <a:spcAft>
                <a:spcPts val="1000"/>
              </a:spcAft>
            </a:pPr>
            <a:r>
              <a:rPr sz="1700" b="0">
                <a:solidFill>
                  <a:srgbClr val="222222"/>
                </a:solidFill>
                <a:latin typeface="맑은 고딕"/>
              </a:rPr>
              <a:t>•  스크립트 점검은 V$DATABASE.LOG_MODE</a:t>
            </a:r>
          </a:p>
          <a:p>
            <a:pPr algn="l">
              <a:spcAft>
                <a:spcPts val="1000"/>
              </a:spcAft>
            </a:pPr>
            <a:r>
              <a:rPr sz="1700" b="0">
                <a:solidFill>
                  <a:srgbClr val="222222"/>
                </a:solidFill>
                <a:latin typeface="맑은 고딕"/>
              </a:rPr>
              <a:t>•  로그 전환 후 V$ARCHIVED_LOG로 실제 생성 확인</a:t>
            </a:r>
          </a:p>
          <a:p>
            <a:pPr algn="l">
              <a:spcAft>
                <a:spcPts val="1000"/>
              </a:spcAft>
            </a:pPr>
            <a:r>
              <a:rPr sz="1700" b="0">
                <a:solidFill>
                  <a:srgbClr val="222222"/>
                </a:solidFill>
                <a:latin typeface="맑은 고딕"/>
              </a:rPr>
              <a:t>•  LOG_ARCHIVE_FORMAT에는 %t, %s, %r 필수</a:t>
            </a:r>
          </a:p>
          <a:p>
            <a:pPr algn="l">
              <a:spcAft>
                <a:spcPts val="1000"/>
              </a:spcAft>
            </a:pPr>
            <a:r>
              <a:rPr sz="1700" b="0">
                <a:solidFill>
                  <a:srgbClr val="222222"/>
                </a:solidFill>
                <a:latin typeface="맑은 고딕"/>
              </a:rPr>
              <a:t>•  FRA에 쓰면 OMF 이름이 붙어 FORMAT 무시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FORCE LOGGING과 NOLOGGING 작업</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NOLOGGING 작업이 Standby에 남기는 구멍</a:t>
            </a:r>
          </a:p>
          <a:p>
            <a:pPr algn="l">
              <a:spcAft>
                <a:spcPts val="800"/>
              </a:spcAft>
            </a:pPr>
            <a:r>
              <a:rPr sz="1600" b="0">
                <a:solidFill>
                  <a:srgbClr val="FFFFFF"/>
                </a:solidFill>
                <a:latin typeface="맑은 고딕"/>
              </a:rPr>
              <a:t>•  FORCE LOGGING의 우선순위</a:t>
            </a:r>
          </a:p>
          <a:p>
            <a:pPr algn="l">
              <a:spcAft>
                <a:spcPts val="800"/>
              </a:spcAft>
            </a:pPr>
            <a:r>
              <a:rPr sz="1600" b="0">
                <a:solidFill>
                  <a:srgbClr val="FFFFFF"/>
                </a:solidFill>
                <a:latin typeface="맑은 고딕"/>
              </a:rPr>
              <a:t>•  켜는 시점과 이미 생긴 손상 처리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NOLOGGING 작업의 범위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버퍼 캐시를 거치지 않는 대량 작업</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APPEND 힌트 INSERT, SQL*Loader direct</a:t>
            </a:r>
          </a:p>
          <a:p>
            <a:pPr algn="l">
              <a:spcAft>
                <a:spcPts val="1000"/>
              </a:spcAft>
            </a:pPr>
            <a:r>
              <a:rPr sz="1700" b="0">
                <a:solidFill>
                  <a:srgbClr val="222222"/>
                </a:solidFill>
                <a:latin typeface="맑은 고딕"/>
              </a:rPr>
              <a:t>•  CTAS, 인덱스 생성·재구성, MOVE</a:t>
            </a:r>
          </a:p>
          <a:p>
            <a:pPr algn="l">
              <a:spcAft>
                <a:spcPts val="1000"/>
              </a:spcAft>
            </a:pPr>
            <a:r>
              <a:rPr sz="1700" b="0">
                <a:solidFill>
                  <a:srgbClr val="222222"/>
                </a:solidFill>
                <a:latin typeface="맑은 고딕"/>
              </a:rPr>
              <a:t>•  일반 INSERT/UPDATE/DELETE는 해당 없음</a:t>
            </a:r>
          </a:p>
          <a:p>
            <a:pPr algn="l">
              <a:spcAft>
                <a:spcPts val="1000"/>
              </a:spcAft>
            </a:pPr>
            <a:r>
              <a:rPr sz="1700" b="0">
                <a:solidFill>
                  <a:srgbClr val="222222"/>
                </a:solidFill>
                <a:latin typeface="맑은 고딕"/>
              </a:rPr>
              <a:t>•  딕셔너리 변경 리두는 남고 데이터 블록만 빠짐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Standby에 남는 흔적</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적용할 때는 조용하고, 읽을 때 터진다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없는 블록은 복구 불가 상태로 표시</a:t>
            </a:r>
          </a:p>
          <a:p>
            <a:pPr algn="l">
              <a:spcAft>
                <a:spcPts val="1000"/>
              </a:spcAft>
            </a:pPr>
            <a:r>
              <a:rPr sz="1700" b="0">
                <a:solidFill>
                  <a:srgbClr val="222222"/>
                </a:solidFill>
                <a:latin typeface="맑은 고딕"/>
              </a:rPr>
              <a:t>•  읽는 순간 ORA-01578 + ORA-26040</a:t>
            </a:r>
          </a:p>
          <a:p>
            <a:pPr algn="l">
              <a:spcAft>
                <a:spcPts val="1000"/>
              </a:spcAft>
            </a:pPr>
            <a:r>
              <a:rPr sz="1700" b="0">
                <a:solidFill>
                  <a:srgbClr val="222222"/>
                </a:solidFill>
                <a:latin typeface="맑은 고딕"/>
              </a:rPr>
              <a:t>•  Primary: V$DATAFILE.UNRECOVERABLE_TIME</a:t>
            </a:r>
          </a:p>
          <a:p>
            <a:pPr algn="l">
              <a:spcAft>
                <a:spcPts val="1000"/>
              </a:spcAft>
            </a:pPr>
            <a:r>
              <a:rPr sz="1700" b="0">
                <a:solidFill>
                  <a:srgbClr val="222222"/>
                </a:solidFill>
                <a:latin typeface="맑은 고딕"/>
              </a:rPr>
              <a:t>•  Standby: V$NONLOGGED_BLOCK (12.2 이후)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실무 시나리오: 야간 적재 다음 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Primary는 멀쩡했다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SQL*Loader direct + UNRECOVERABLE 옵션</a:t>
            </a:r>
          </a:p>
          <a:p>
            <a:pPr algn="l">
              <a:spcAft>
                <a:spcPts val="1000"/>
              </a:spcAft>
            </a:pPr>
            <a:r>
              <a:rPr sz="1700" b="0">
                <a:solidFill>
                  <a:srgbClr val="222222"/>
                </a:solidFill>
                <a:latin typeface="맑은 고딕"/>
              </a:rPr>
              <a:t>•  Primary는 FORCE LOGGING 없이 운영</a:t>
            </a:r>
          </a:p>
          <a:p>
            <a:pPr algn="l">
              <a:spcAft>
                <a:spcPts val="1000"/>
              </a:spcAft>
            </a:pPr>
            <a:r>
              <a:rPr sz="1700" b="0">
                <a:solidFill>
                  <a:srgbClr val="222222"/>
                </a:solidFill>
                <a:latin typeface="맑은 고딕"/>
              </a:rPr>
              <a:t>•  다음 날 ADG 보고서 조회가 ORA-01578로 실패</a:t>
            </a:r>
          </a:p>
          <a:p>
            <a:pPr algn="l">
              <a:spcAft>
                <a:spcPts val="1000"/>
              </a:spcAft>
            </a:pPr>
            <a:r>
              <a:rPr sz="1700" b="0">
                <a:solidFill>
                  <a:srgbClr val="222222"/>
                </a:solidFill>
                <a:latin typeface="맑은 고딕"/>
              </a:rPr>
              <a:t>•  복구: NONLOGGED BLOCK 복구 또는 파일 재수신</a:t>
            </a:r>
          </a:p>
          <a:p>
            <a:pPr algn="l">
              <a:spcAft>
                <a:spcPts val="1000"/>
              </a:spcAft>
            </a:pPr>
            <a:r>
              <a:rPr sz="1700" b="0">
                <a:solidFill>
                  <a:srgbClr val="222222"/>
                </a:solidFill>
                <a:latin typeface="맑은 고딕"/>
              </a:rPr>
              <a:t>•  재발 방지: FORCE LOGGING (스크립트 옵션은 무시됨)</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LOGGING의 동작과 우선순위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데이터베이스 설정이 모든 하위 설정을 이긴다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객체·테이블스페이스 NOLOGGING, 문장 지정 모두 무시</a:t>
            </a:r>
          </a:p>
          <a:p>
            <a:pPr algn="l">
              <a:spcAft>
                <a:spcPts val="1000"/>
              </a:spcAft>
            </a:pPr>
            <a:r>
              <a:rPr sz="1700" b="0">
                <a:solidFill>
                  <a:srgbClr val="222222"/>
                </a:solidFill>
                <a:latin typeface="맑은 고딕"/>
              </a:rPr>
              <a:t>•  임시 테이블스페이스·임시 세그먼트는 예외</a:t>
            </a:r>
          </a:p>
          <a:p>
            <a:pPr algn="l">
              <a:spcAft>
                <a:spcPts val="1000"/>
              </a:spcAft>
            </a:pPr>
            <a:r>
              <a:rPr sz="1700" b="0">
                <a:solidFill>
                  <a:srgbClr val="222222"/>
                </a:solidFill>
                <a:latin typeface="맑은 고딕"/>
              </a:rPr>
              <a:t>•  수준: 데이터베이스, PDB, 테이블스페이스</a:t>
            </a:r>
          </a:p>
          <a:p>
            <a:pPr algn="l">
              <a:spcAft>
                <a:spcPts val="1000"/>
              </a:spcAft>
            </a:pPr>
            <a:r>
              <a:rPr sz="1700" b="0">
                <a:solidFill>
                  <a:srgbClr val="222222"/>
                </a:solidFill>
                <a:latin typeface="맑은 고딕"/>
              </a:rPr>
              <a:t>•  기본값은 NOFORCE LOGGING</a:t>
            </a:r>
          </a:p>
          <a:p>
            <a:pPr algn="l">
              <a:spcAft>
                <a:spcPts val="1000"/>
              </a:spcAft>
            </a:pPr>
            <a:r>
              <a:rPr sz="1700" b="0">
                <a:solidFill>
                  <a:srgbClr val="222222"/>
                </a:solidFill>
                <a:latin typeface="맑은 고딕"/>
              </a:rPr>
              <a:t>•  물리·논리 Standby 모두에 필요</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켜는 시점과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복제 전에 켜고, 구성이 있는 동안 유지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OPEN에서도 가능, 진행 중 NOLOGGING 작업 종료까지 대기</a:t>
            </a:r>
          </a:p>
          <a:p>
            <a:pPr algn="l">
              <a:spcAft>
                <a:spcPts val="1000"/>
              </a:spcAft>
            </a:pPr>
            <a:r>
              <a:rPr sz="1700" b="0">
                <a:solidFill>
                  <a:srgbClr val="222222"/>
                </a:solidFill>
                <a:latin typeface="맑은 고딕"/>
              </a:rPr>
              <a:t>•  공식 교재 권장은 MOUNT 상태</a:t>
            </a:r>
          </a:p>
          <a:p>
            <a:pPr algn="l">
              <a:spcAft>
                <a:spcPts val="1000"/>
              </a:spcAft>
            </a:pPr>
            <a:r>
              <a:rPr sz="1700" b="0">
                <a:solidFill>
                  <a:srgbClr val="222222"/>
                </a:solidFill>
                <a:latin typeface="맑은 고딕"/>
              </a:rPr>
              <a:t>•  V$DATABASE.FORCE_LOGGING = YES</a:t>
            </a:r>
          </a:p>
          <a:p>
            <a:pPr algn="l">
              <a:spcAft>
                <a:spcPts val="1000"/>
              </a:spcAft>
            </a:pPr>
            <a:r>
              <a:rPr sz="1700" b="0">
                <a:solidFill>
                  <a:srgbClr val="222222"/>
                </a:solidFill>
                <a:latin typeface="맑은 고딕"/>
              </a:rPr>
              <a:t>•  DBA_TABLESPACES.FORCE_LOGGING도 함께 확인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이미 생긴 무효 블록의 처리</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FORCE LOGGING은 과거를 고치지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켜기 전 작업의 무효 블록은 그대로 남음</a:t>
            </a:r>
          </a:p>
          <a:p>
            <a:pPr algn="l">
              <a:spcAft>
                <a:spcPts val="1000"/>
              </a:spcAft>
            </a:pPr>
            <a:r>
              <a:rPr sz="1700" b="0">
                <a:solidFill>
                  <a:srgbClr val="222222"/>
                </a:solidFill>
                <a:latin typeface="맑은 고딕"/>
              </a:rPr>
              <a:t>•  범위가 작으면 RECOVER DATABASE NONLOGGED BLOCK</a:t>
            </a:r>
          </a:p>
          <a:p>
            <a:pPr algn="l">
              <a:spcAft>
                <a:spcPts val="1000"/>
              </a:spcAft>
            </a:pPr>
            <a:r>
              <a:rPr sz="1700" b="0">
                <a:solidFill>
                  <a:srgbClr val="222222"/>
                </a:solidFill>
                <a:latin typeface="맑은 고딕"/>
              </a:rPr>
              <a:t>•  범위가 넓으면 RECOVER DATAFILE ... FROM SERVICE</a:t>
            </a:r>
          </a:p>
          <a:p>
            <a:pPr algn="l">
              <a:spcAft>
                <a:spcPts val="1000"/>
              </a:spcAft>
            </a:pPr>
            <a:r>
              <a:rPr sz="1700" b="0">
                <a:solidFill>
                  <a:srgbClr val="222222"/>
                </a:solidFill>
                <a:latin typeface="맑은 고딕"/>
              </a:rPr>
              <a:t>•  Redo Apply를 멈춘 상태에서 수행</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19c의 STANDBY NOLOGGING 모드</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FORCE LOGGING의 비용</a:t>
            </a:r>
          </a:p>
          <a:p>
            <a:pPr algn="l">
              <a:spcAft>
                <a:spcPts val="800"/>
              </a:spcAft>
            </a:pPr>
            <a:r>
              <a:rPr sz="1600" b="0">
                <a:solidFill>
                  <a:srgbClr val="FFFFFF"/>
                </a:solidFill>
                <a:latin typeface="맑은 고딕"/>
              </a:rPr>
              <a:t>•  DATA AVAILABILITY와 LOAD PERFORMANCE</a:t>
            </a:r>
          </a:p>
          <a:p>
            <a:pPr algn="l">
              <a:spcAft>
                <a:spcPts val="800"/>
              </a:spcAft>
            </a:pPr>
            <a:r>
              <a:rPr sz="1600" b="0">
                <a:solidFill>
                  <a:srgbClr val="FFFFFF"/>
                </a:solidFill>
                <a:latin typeface="맑은 고딕"/>
              </a:rPr>
              <a:t>•  라이선스와 점검 스크립트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 LOGGING의 비용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적재 데이터만큼 리두가 늘어난다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direct-path 적재 블록 전체가 리두로</a:t>
            </a:r>
          </a:p>
          <a:p>
            <a:pPr algn="l">
              <a:spcAft>
                <a:spcPts val="1000"/>
              </a:spcAft>
            </a:pPr>
            <a:r>
              <a:rPr sz="1700" b="0">
                <a:solidFill>
                  <a:srgbClr val="222222"/>
                </a:solidFill>
                <a:latin typeface="맑은 고딕"/>
              </a:rPr>
              <a:t>•  LGWR 쓰기, 아카이브, 전송량 모두 증가</a:t>
            </a:r>
          </a:p>
          <a:p>
            <a:pPr algn="l">
              <a:spcAft>
                <a:spcPts val="1000"/>
              </a:spcAft>
            </a:pPr>
            <a:r>
              <a:rPr sz="1700" b="0">
                <a:solidFill>
                  <a:srgbClr val="222222"/>
                </a:solidFill>
                <a:latin typeface="맑은 고딕"/>
              </a:rPr>
              <a:t>•  SYNC 구성이면 커밋 대기도 길어짐</a:t>
            </a:r>
          </a:p>
          <a:p>
            <a:pPr algn="l">
              <a:spcAft>
                <a:spcPts val="1000"/>
              </a:spcAft>
            </a:pPr>
            <a:r>
              <a:rPr sz="1700" b="0">
                <a:solidFill>
                  <a:srgbClr val="222222"/>
                </a:solidFill>
                <a:latin typeface="맑은 고딕"/>
              </a:rPr>
              <a:t>•  비용 때문에 끄면 다시 구멍이 생김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 DATA AVAILABILITY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커밋을 Standby 적용까지 미룬다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대신 별도 연결로 적재 블록을 직접 전송</a:t>
            </a:r>
          </a:p>
          <a:p>
            <a:pPr algn="l">
              <a:spcAft>
                <a:spcPts val="1000"/>
              </a:spcAft>
            </a:pPr>
            <a:r>
              <a:rPr sz="1700" b="0">
                <a:solidFill>
                  <a:srgbClr val="222222"/>
                </a:solidFill>
                <a:latin typeface="맑은 고딕"/>
              </a:rPr>
              <a:t>•  모든 Standby가 적용해야 커밋 완료</a:t>
            </a:r>
          </a:p>
          <a:p>
            <a:pPr algn="l">
              <a:spcAft>
                <a:spcPts val="1000"/>
              </a:spcAft>
            </a:pPr>
            <a:r>
              <a:rPr sz="1700" b="0">
                <a:solidFill>
                  <a:srgbClr val="222222"/>
                </a:solidFill>
                <a:latin typeface="맑은 고딕"/>
              </a:rPr>
              <a:t>•  리두는 적고, Standby 데이터는 완전</a:t>
            </a:r>
          </a:p>
          <a:p>
            <a:pPr algn="l">
              <a:spcAft>
                <a:spcPts val="1000"/>
              </a:spcAft>
            </a:pPr>
            <a:r>
              <a:rPr sz="1700" b="0">
                <a:solidFill>
                  <a:srgbClr val="222222"/>
                </a:solidFill>
                <a:latin typeface="맑은 고딕"/>
              </a:rPr>
              <a:t>•  Standby·네트워크가 느리면 적재도 느려짐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 LOAD PERFORMANCE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적재 속도를 지키고 나중에 채운다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기본 동작은 DATA AVAILABILITY와 같음</a:t>
            </a:r>
          </a:p>
          <a:p>
            <a:pPr algn="l">
              <a:spcAft>
                <a:spcPts val="1000"/>
              </a:spcAft>
            </a:pPr>
            <a:r>
              <a:rPr sz="1700" b="0">
                <a:solidFill>
                  <a:srgbClr val="222222"/>
                </a:solidFill>
                <a:latin typeface="맑은 고딕"/>
              </a:rPr>
              <a:t>•  네트워크가 못 따라오면 전송을 멈추고 적재 계속</a:t>
            </a:r>
          </a:p>
          <a:p>
            <a:pPr algn="l">
              <a:spcAft>
                <a:spcPts val="1000"/>
              </a:spcAft>
            </a:pPr>
            <a:r>
              <a:rPr sz="1700" b="0">
                <a:solidFill>
                  <a:srgbClr val="222222"/>
                </a:solidFill>
                <a:latin typeface="맑은 고딕"/>
              </a:rPr>
              <a:t>•  빠진 블록은 Standby가 managed recovery 중 자동 수신</a:t>
            </a:r>
          </a:p>
          <a:p>
            <a:pPr algn="l">
              <a:spcAft>
                <a:spcPts val="1000"/>
              </a:spcAft>
            </a:pPr>
            <a:r>
              <a:rPr sz="1700" b="0">
                <a:solidFill>
                  <a:srgbClr val="222222"/>
                </a:solidFill>
                <a:latin typeface="맑은 고딕"/>
              </a:rPr>
              <a:t>•  보충 전 Failover 시 해당 블록은 무효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네 가지 로깅 상태 비교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 양, Standby 데이터, 적재 속도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NOFORCE: 리두 적음, 무효 블록, 빠름</a:t>
            </a:r>
          </a:p>
          <a:p>
            <a:pPr algn="l">
              <a:spcAft>
                <a:spcPts val="1000"/>
              </a:spcAft>
            </a:pPr>
            <a:r>
              <a:rPr sz="1700" b="0">
                <a:solidFill>
                  <a:srgbClr val="222222"/>
                </a:solidFill>
                <a:latin typeface="맑은 고딕"/>
              </a:rPr>
              <a:t>•  FORCE LOGGING: 리두 많음, 완전, 느림</a:t>
            </a:r>
          </a:p>
          <a:p>
            <a:pPr algn="l">
              <a:spcAft>
                <a:spcPts val="1000"/>
              </a:spcAft>
            </a:pPr>
            <a:r>
              <a:rPr sz="1700" b="0">
                <a:solidFill>
                  <a:srgbClr val="222222"/>
                </a:solidFill>
                <a:latin typeface="맑은 고딕"/>
              </a:rPr>
              <a:t>•  DATA AVAILABILITY: 리두 적음, 커밋 시 완전, 중간</a:t>
            </a:r>
          </a:p>
          <a:p>
            <a:pPr algn="l">
              <a:spcAft>
                <a:spcPts val="1000"/>
              </a:spcAft>
            </a:pPr>
            <a:r>
              <a:rPr sz="1700" b="0">
                <a:solidFill>
                  <a:srgbClr val="222222"/>
                </a:solidFill>
                <a:latin typeface="맑은 고딕"/>
              </a:rPr>
              <a:t>•  LOAD PERFORMANCE: 리두 적음, 일시 누락, 빠름</a:t>
            </a:r>
          </a:p>
          <a:p>
            <a:pPr algn="l">
              <a:spcAft>
                <a:spcPts val="1000"/>
              </a:spcAft>
            </a:pPr>
            <a:r>
              <a:rPr sz="1700" b="0">
                <a:solidFill>
                  <a:srgbClr val="222222"/>
                </a:solidFill>
                <a:latin typeface="맑은 고딕"/>
              </a:rPr>
              <a:t>•  서로 배타적, 대상은 direct-path 적재</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FORCE_LOGGING 열은 YES/NO만이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점검 스크립트 조건을 다시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모드 설정 시 열에 모드 이름이 그대로 표시</a:t>
            </a:r>
          </a:p>
          <a:p>
            <a:pPr algn="l">
              <a:spcAft>
                <a:spcPts val="1000"/>
              </a:spcAft>
            </a:pPr>
            <a:r>
              <a:rPr sz="1700" b="0">
                <a:solidFill>
                  <a:srgbClr val="222222"/>
                </a:solidFill>
                <a:latin typeface="맑은 고딕"/>
              </a:rPr>
              <a:t>•  force_logging = 'NO' 조건은 이 모드를 놓침</a:t>
            </a:r>
          </a:p>
          <a:p>
            <a:pPr algn="l">
              <a:spcAft>
                <a:spcPts val="1000"/>
              </a:spcAft>
            </a:pPr>
            <a:r>
              <a:rPr sz="1700" b="0">
                <a:solidFill>
                  <a:srgbClr val="222222"/>
                </a:solidFill>
                <a:latin typeface="맑은 고딕"/>
              </a:rPr>
              <a:t>•  정상 기준 'YES', 그 밖의 값을 모두 보고</a:t>
            </a:r>
          </a:p>
          <a:p>
            <a:pPr algn="l">
              <a:spcAft>
                <a:spcPts val="1000"/>
              </a:spcAft>
            </a:pPr>
            <a:r>
              <a:rPr sz="1700" b="0">
                <a:solidFill>
                  <a:srgbClr val="222222"/>
                </a:solidFill>
                <a:latin typeface="맑은 고딕"/>
              </a:rPr>
              <a:t>•  FOR PERFORMANCE처럼 LOAD를 빼면 ORA-02231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라이선스와 적용 조건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Active Data Guard 환경이 전제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두 모드는 Active Data Guard 환경 기준으로 설명됨</a:t>
            </a:r>
          </a:p>
          <a:p>
            <a:pPr algn="l">
              <a:spcAft>
                <a:spcPts val="1000"/>
              </a:spcAft>
            </a:pPr>
            <a:r>
              <a:rPr sz="1700" b="0">
                <a:solidFill>
                  <a:srgbClr val="222222"/>
                </a:solidFill>
                <a:latin typeface="맑은 고딕"/>
              </a:rPr>
              <a:t>•  ADG는 EE 위의 별도 구매 옵션</a:t>
            </a:r>
          </a:p>
          <a:p>
            <a:pPr algn="l">
              <a:spcAft>
                <a:spcPts val="1000"/>
              </a:spcAft>
            </a:pPr>
            <a:r>
              <a:rPr sz="1700" b="0">
                <a:solidFill>
                  <a:srgbClr val="222222"/>
                </a:solidFill>
                <a:latin typeface="맑은 고딕"/>
              </a:rPr>
              <a:t>•  Standby를 마운트로만 운영하면 FORCE LOGGING만</a:t>
            </a:r>
          </a:p>
          <a:p>
            <a:pPr algn="l">
              <a:spcAft>
                <a:spcPts val="1000"/>
              </a:spcAft>
            </a:pPr>
            <a:r>
              <a:rPr sz="1700" b="0">
                <a:solidFill>
                  <a:srgbClr val="222222"/>
                </a:solidFill>
                <a:latin typeface="맑은 고딕"/>
              </a:rPr>
              <a:t>•  적재 후 원복 여부를 절차서에 명시</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Redo Log</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SRL을 거치는 리두의 흐름</a:t>
            </a:r>
          </a:p>
          <a:p>
            <a:pPr algn="l">
              <a:spcAft>
                <a:spcPts val="800"/>
              </a:spcAft>
            </a:pPr>
            <a:r>
              <a:rPr sz="1600" b="0">
                <a:solidFill>
                  <a:srgbClr val="FFFFFF"/>
                </a:solidFill>
                <a:latin typeface="맑은 고딕"/>
              </a:rPr>
              <a:t>•  개수와 크기 규칙</a:t>
            </a:r>
          </a:p>
          <a:p>
            <a:pPr algn="l">
              <a:spcAft>
                <a:spcPts val="800"/>
              </a:spcAft>
            </a:pPr>
            <a:r>
              <a:rPr sz="1600" b="0">
                <a:solidFill>
                  <a:srgbClr val="FFFFFF"/>
                </a:solidFill>
                <a:latin typeface="맑은 고딕"/>
              </a:rPr>
              <a:t>•  Primary에 먼저 만드는 이유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SRL을 거치는 리두의 흐름</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RFS가 쓰고, ARCn이 아카이브하고, MRP가 읽는다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받은 리두는 RFS가 SRL에 기록</a:t>
            </a:r>
          </a:p>
          <a:p>
            <a:pPr algn="l">
              <a:spcAft>
                <a:spcPts val="1000"/>
              </a:spcAft>
            </a:pPr>
            <a:r>
              <a:rPr sz="1700" b="0">
                <a:solidFill>
                  <a:srgbClr val="222222"/>
                </a:solidFill>
                <a:latin typeface="맑은 고딕"/>
              </a:rPr>
              <a:t>•  온라인 로그와 비슷한 주기로 차고 전환</a:t>
            </a:r>
          </a:p>
          <a:p>
            <a:pPr algn="l">
              <a:spcAft>
                <a:spcPts val="1000"/>
              </a:spcAft>
            </a:pPr>
            <a:r>
              <a:rPr sz="1700" b="0">
                <a:solidFill>
                  <a:srgbClr val="222222"/>
                </a:solidFill>
                <a:latin typeface="맑은 고딕"/>
              </a:rPr>
              <a:t>•  다 찬 SRL은 Standby ARCn이 아카이브</a:t>
            </a:r>
          </a:p>
          <a:p>
            <a:pPr algn="l">
              <a:spcAft>
                <a:spcPts val="1000"/>
              </a:spcAft>
            </a:pPr>
            <a:r>
              <a:rPr sz="1700" b="0">
                <a:solidFill>
                  <a:srgbClr val="222222"/>
                </a:solidFill>
                <a:latin typeface="맑은 고딕"/>
              </a:rPr>
              <a:t>•  실시간 적용이면 MRP가 쓰는 중인 SRL을 읽음</a:t>
            </a:r>
          </a:p>
          <a:p>
            <a:pPr algn="l">
              <a:spcAft>
                <a:spcPts val="1000"/>
              </a:spcAft>
            </a:pPr>
            <a:r>
              <a:rPr sz="1700" b="0">
                <a:solidFill>
                  <a:srgbClr val="222222"/>
                </a:solidFill>
                <a:latin typeface="맑은 고딕"/>
              </a:rPr>
              <a:t>•  STANDBY_ARCHIVE_DEST는 폐기됨</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SRL이 없거나 맞지 않을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없이 아카이브 로그로 직접 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SRL이 하나도 없음</a:t>
            </a:r>
          </a:p>
          <a:p>
            <a:pPr algn="l">
              <a:spcAft>
                <a:spcPts val="1000"/>
              </a:spcAft>
            </a:pPr>
            <a:r>
              <a:rPr sz="1700" b="0">
                <a:solidFill>
                  <a:srgbClr val="222222"/>
                </a:solidFill>
                <a:latin typeface="맑은 고딕"/>
              </a:rPr>
              <a:t>•  들어오는 로그보다 크거나 같은 SRL이 없음</a:t>
            </a:r>
          </a:p>
          <a:p>
            <a:pPr algn="l">
              <a:spcAft>
                <a:spcPts val="1000"/>
              </a:spcAft>
            </a:pPr>
            <a:r>
              <a:rPr sz="1700" b="0">
                <a:solidFill>
                  <a:srgbClr val="222222"/>
                </a:solidFill>
                <a:latin typeface="맑은 고딕"/>
              </a:rPr>
              <a:t>•  크기 맞는 SRL이 모두 아카이브 대기 중</a:t>
            </a:r>
          </a:p>
          <a:p>
            <a:pPr algn="l">
              <a:spcAft>
                <a:spcPts val="1000"/>
              </a:spcAft>
            </a:pPr>
            <a:r>
              <a:rPr sz="1700" b="0">
                <a:solidFill>
                  <a:srgbClr val="222222"/>
                </a:solidFill>
                <a:latin typeface="맑은 고딕"/>
              </a:rPr>
              <a:t>•  전송은 계속되지만 로그 단위 적용으로 후퇴</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SRL이 필요한 기능</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없으면 동작하지 않는 것들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SYNC 전송 모드</a:t>
            </a:r>
          </a:p>
          <a:p>
            <a:pPr algn="l">
              <a:spcAft>
                <a:spcPts val="1000"/>
              </a:spcAft>
            </a:pPr>
            <a:r>
              <a:rPr sz="1700" b="0">
                <a:solidFill>
                  <a:srgbClr val="222222"/>
                </a:solidFill>
                <a:latin typeface="맑은 고딕"/>
              </a:rPr>
              <a:t>•  실시간 적용 (19c 기본 적용 방식)</a:t>
            </a:r>
          </a:p>
          <a:p>
            <a:pPr algn="l">
              <a:spcAft>
                <a:spcPts val="1000"/>
              </a:spcAft>
            </a:pPr>
            <a:r>
              <a:rPr sz="1700" b="0">
                <a:solidFill>
                  <a:srgbClr val="222222"/>
                </a:solidFill>
                <a:latin typeface="맑은 고딕"/>
              </a:rPr>
              <a:t>•  캐스케이딩 목적지</a:t>
            </a:r>
          </a:p>
          <a:p>
            <a:pPr algn="l">
              <a:spcAft>
                <a:spcPts val="1000"/>
              </a:spcAft>
            </a:pPr>
            <a:r>
              <a:rPr sz="1700" b="0">
                <a:solidFill>
                  <a:srgbClr val="222222"/>
                </a:solidFill>
                <a:latin typeface="맑은 고딕"/>
              </a:rPr>
              <a:t>•  Far Sync 인스턴스의 리두 중계</a:t>
            </a:r>
          </a:p>
          <a:p>
            <a:pPr algn="l">
              <a:spcAft>
                <a:spcPts val="1000"/>
              </a:spcAft>
            </a:pPr>
            <a:r>
              <a:rPr sz="1700" b="0">
                <a:solidFill>
                  <a:srgbClr val="222222"/>
                </a:solidFill>
                <a:latin typeface="맑은 고딕"/>
              </a:rPr>
              <a:t>•  결과적으로 Max Availability·Protection 모드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개수 산정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스레드마다 온라인 그룹 수 + 1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단일 인스턴스: 온라인 3그룹 → SRL 4그룹</a:t>
            </a:r>
          </a:p>
          <a:p>
            <a:pPr algn="l">
              <a:spcAft>
                <a:spcPts val="1000"/>
              </a:spcAft>
            </a:pPr>
            <a:r>
              <a:rPr sz="1700" b="0">
                <a:solidFill>
                  <a:srgbClr val="222222"/>
                </a:solidFill>
                <a:latin typeface="맑은 고딕"/>
              </a:rPr>
              <a:t>•  2노드 RAC, 스레드당 3그룹 → (3+1)×2 = 8</a:t>
            </a:r>
          </a:p>
          <a:p>
            <a:pPr algn="l">
              <a:spcAft>
                <a:spcPts val="1000"/>
              </a:spcAft>
            </a:pPr>
            <a:r>
              <a:rPr sz="1700" b="0">
                <a:solidFill>
                  <a:srgbClr val="222222"/>
                </a:solidFill>
                <a:latin typeface="맑은 고딕"/>
              </a:rPr>
              <a:t>•  여분 한 그룹은 아카이브 대기를 흡수</a:t>
            </a:r>
          </a:p>
          <a:p>
            <a:pPr algn="l">
              <a:spcAft>
                <a:spcPts val="1000"/>
              </a:spcAft>
            </a:pPr>
            <a:r>
              <a:rPr sz="1700" b="0">
                <a:solidFill>
                  <a:srgbClr val="222222"/>
                </a:solidFill>
                <a:latin typeface="맑은 고딕"/>
              </a:rPr>
              <a:t>•  부족하면 피크 시간대에 실시간 적용이 끊김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크기 규칙</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큰 온라인 로그 이상, 실무에서는 전부 같은 크기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리두 소스의 최대 온라인 로그보다 작으면 안 됨</a:t>
            </a:r>
          </a:p>
          <a:p>
            <a:pPr algn="l">
              <a:spcAft>
                <a:spcPts val="1000"/>
              </a:spcAft>
            </a:pPr>
            <a:r>
              <a:rPr sz="1700" b="0">
                <a:solidFill>
                  <a:srgbClr val="222222"/>
                </a:solidFill>
                <a:latin typeface="맑은 고딕"/>
              </a:rPr>
              <a:t>•  관리 편의를 위해 온라인 로그와 SRL을 동일 크기로</a:t>
            </a:r>
          </a:p>
          <a:p>
            <a:pPr algn="l">
              <a:spcAft>
                <a:spcPts val="1000"/>
              </a:spcAft>
            </a:pPr>
            <a:r>
              <a:rPr sz="1700" b="0">
                <a:solidFill>
                  <a:srgbClr val="222222"/>
                </a:solidFill>
                <a:latin typeface="맑은 고딕"/>
              </a:rPr>
              <a:t>•  더 크게 잡아도 이점 없음</a:t>
            </a:r>
          </a:p>
          <a:p>
            <a:pPr algn="l">
              <a:spcAft>
                <a:spcPts val="1000"/>
              </a:spcAft>
            </a:pPr>
            <a:r>
              <a:rPr sz="1700" b="0">
                <a:solidFill>
                  <a:srgbClr val="222222"/>
                </a:solidFill>
                <a:latin typeface="맑은 고딕"/>
              </a:rPr>
              <a:t>•  온라인 로그 변경 시 SRL도 함께 변경</a:t>
            </a:r>
          </a:p>
          <a:p>
            <a:pPr algn="l">
              <a:spcAft>
                <a:spcPts val="1000"/>
              </a:spcAft>
            </a:pPr>
            <a:r>
              <a:rPr sz="1700" b="0">
                <a:solidFill>
                  <a:srgbClr val="222222"/>
                </a:solidFill>
                <a:latin typeface="맑은 고딕"/>
              </a:rPr>
              <a:t>•  멤버 다중화는 필수 아님</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Primary에도 SRL을 만드는 이유</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쓰이지 않는 파일을 미리 두는 까닭</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역할 전환 직후 곧 리두를 받을 수 있음</a:t>
            </a:r>
          </a:p>
          <a:p>
            <a:pPr algn="l">
              <a:spcAft>
                <a:spcPts val="1000"/>
              </a:spcAft>
            </a:pPr>
            <a:r>
              <a:rPr sz="1700" b="0">
                <a:solidFill>
                  <a:srgbClr val="222222"/>
                </a:solidFill>
                <a:latin typeface="맑은 고딕"/>
              </a:rPr>
              <a:t>•  DUPLICATE가 Standby에 같은 SRL을 자동 생성</a:t>
            </a:r>
          </a:p>
          <a:p>
            <a:pPr algn="l">
              <a:spcAft>
                <a:spcPts val="1000"/>
              </a:spcAft>
            </a:pPr>
            <a:r>
              <a:rPr sz="1700" b="0">
                <a:solidFill>
                  <a:srgbClr val="222222"/>
                </a:solidFill>
                <a:latin typeface="맑은 고딕"/>
              </a:rPr>
              <a:t>•  Far Sync 생성 때도 동일하게 복제</a:t>
            </a:r>
          </a:p>
          <a:p>
            <a:pPr algn="l">
              <a:spcAft>
                <a:spcPts val="1000"/>
              </a:spcAft>
            </a:pPr>
            <a:r>
              <a:rPr sz="1700" b="0">
                <a:solidFill>
                  <a:srgbClr val="222222"/>
                </a:solidFill>
                <a:latin typeface="맑은 고딕"/>
              </a:rPr>
              <a:t>•  구성 전체가 같은 SRL 규격을 가짐</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생성과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ADD STANDBY LOGFILE THREAD 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그룹 번호는 온라인 로그와 같은 번호 공간</a:t>
            </a:r>
          </a:p>
          <a:p>
            <a:pPr algn="l">
              <a:spcAft>
                <a:spcPts val="1000"/>
              </a:spcAft>
            </a:pPr>
            <a:r>
              <a:rPr sz="1700" b="0">
                <a:solidFill>
                  <a:srgbClr val="222222"/>
                </a:solidFill>
                <a:latin typeface="맑은 고딕"/>
              </a:rPr>
              <a:t>•  단일 인스턴스라도 THREAD 절 명시</a:t>
            </a:r>
          </a:p>
          <a:p>
            <a:pPr algn="l">
              <a:spcAft>
                <a:spcPts val="1000"/>
              </a:spcAft>
            </a:pPr>
            <a:r>
              <a:rPr sz="1700" b="0">
                <a:solidFill>
                  <a:srgbClr val="222222"/>
                </a:solidFill>
                <a:latin typeface="맑은 고딕"/>
              </a:rPr>
              <a:t>•  V$LOGFILE TYPE='STANDBY', V$STANDBY_LOG</a:t>
            </a:r>
          </a:p>
          <a:p>
            <a:pPr algn="l">
              <a:spcAft>
                <a:spcPts val="1000"/>
              </a:spcAft>
            </a:pPr>
            <a:r>
              <a:rPr sz="1700" b="0">
                <a:solidFill>
                  <a:srgbClr val="222222"/>
                </a:solidFill>
                <a:latin typeface="맑은 고딕"/>
              </a:rPr>
              <a:t>•  Primary에서는 모두 UNASSIGNED가 정상</a:t>
            </a:r>
          </a:p>
          <a:p>
            <a:pPr algn="l">
              <a:spcAft>
                <a:spcPts val="1000"/>
              </a:spcAft>
            </a:pPr>
            <a:r>
              <a:rPr sz="1700" b="0">
                <a:solidFill>
                  <a:srgbClr val="222222"/>
                </a:solidFill>
                <a:latin typeface="맑은 고딕"/>
              </a:rPr>
              <a:t>•  파일 충돌은 ORA-00301 아래 ORA-27038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FRA와 아카이브 보관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FRA가 Data Guard에서 맡는 일</a:t>
            </a:r>
          </a:p>
          <a:p>
            <a:pPr algn="l">
              <a:spcAft>
                <a:spcPts val="800"/>
              </a:spcAft>
            </a:pPr>
            <a:r>
              <a:rPr sz="1600" b="0">
                <a:solidFill>
                  <a:srgbClr val="FFFFFF"/>
                </a:solidFill>
                <a:latin typeface="맑은 고딕"/>
              </a:rPr>
              <a:t>•  크기와 위치 지정</a:t>
            </a:r>
          </a:p>
          <a:p>
            <a:pPr algn="l">
              <a:spcAft>
                <a:spcPts val="800"/>
              </a:spcAft>
            </a:pPr>
            <a:r>
              <a:rPr sz="1600" b="0">
                <a:solidFill>
                  <a:srgbClr val="FFFFFF"/>
                </a:solidFill>
                <a:latin typeface="맑은 고딕"/>
              </a:rPr>
              <a:t>•  삭제 정책과 공간 부족</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FRA가 Data Guard에서 맡는 일</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아카이브 로그와 플래시백 로그의 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아카이브 로그, 플래시백 로그, 백업 보관</a:t>
            </a:r>
          </a:p>
          <a:p>
            <a:pPr algn="l">
              <a:spcAft>
                <a:spcPts val="1000"/>
              </a:spcAft>
            </a:pPr>
            <a:r>
              <a:rPr sz="1700" b="0">
                <a:solidFill>
                  <a:srgbClr val="222222"/>
                </a:solidFill>
                <a:latin typeface="맑은 고딕"/>
              </a:rPr>
              <a:t>•  reinstate와 Snapshot Standby가 플래시백에 기댐</a:t>
            </a:r>
          </a:p>
          <a:p>
            <a:pPr algn="l">
              <a:spcAft>
                <a:spcPts val="1000"/>
              </a:spcAft>
            </a:pPr>
            <a:r>
              <a:rPr sz="1700" b="0">
                <a:solidFill>
                  <a:srgbClr val="222222"/>
                </a:solidFill>
                <a:latin typeface="맑은 고딕"/>
              </a:rPr>
              <a:t>•  공간이 부족하면 삭제 정책에 따라 자동 정리</a:t>
            </a:r>
          </a:p>
          <a:p>
            <a:pPr algn="l">
              <a:spcAft>
                <a:spcPts val="1000"/>
              </a:spcAft>
            </a:pPr>
            <a:r>
              <a:rPr sz="1700" b="0">
                <a:solidFill>
                  <a:srgbClr val="222222"/>
                </a:solidFill>
                <a:latin typeface="맑은 고딕"/>
              </a:rPr>
              <a:t>•  Standby에도 자체 FRA 필요</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크기와 위치 지정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크기 먼저, 위치 다음</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DB_RECOVERY_FILE_DEST_SIZE 먼저 지정</a:t>
            </a:r>
          </a:p>
          <a:p>
            <a:pPr algn="l">
              <a:spcAft>
                <a:spcPts val="1000"/>
              </a:spcAft>
            </a:pPr>
            <a:r>
              <a:rPr sz="1700" b="0">
                <a:solidFill>
                  <a:srgbClr val="222222"/>
                </a:solidFill>
                <a:latin typeface="맑은 고딕"/>
              </a:rPr>
              <a:t>•  위치부터 지정하면 ORA-19802</a:t>
            </a:r>
          </a:p>
          <a:p>
            <a:pPr algn="l">
              <a:spcAft>
                <a:spcPts val="1000"/>
              </a:spcAft>
            </a:pPr>
            <a:r>
              <a:rPr sz="1700" b="0">
                <a:solidFill>
                  <a:srgbClr val="222222"/>
                </a:solidFill>
                <a:latin typeface="맑은 고딕"/>
              </a:rPr>
              <a:t>•  둘 다 동적 파라미터, 크기는 상한일 뿐</a:t>
            </a:r>
          </a:p>
          <a:p>
            <a:pPr algn="l">
              <a:spcAft>
                <a:spcPts val="1000"/>
              </a:spcAft>
            </a:pPr>
            <a:r>
              <a:rPr sz="1700" b="0">
                <a:solidFill>
                  <a:srgbClr val="222222"/>
                </a:solidFill>
                <a:latin typeface="맑은 고딕"/>
              </a:rPr>
              <a:t>•  하루 리두량 × 보관 일수 + 플래시백·백업 몫</a:t>
            </a:r>
          </a:p>
          <a:p>
            <a:pPr algn="l">
              <a:spcAft>
                <a:spcPts val="1000"/>
              </a:spcAft>
            </a:pPr>
            <a:r>
              <a:rPr sz="1700" b="0">
                <a:solidFill>
                  <a:srgbClr val="222222"/>
                </a:solidFill>
                <a:latin typeface="맑은 고딕"/>
              </a:rPr>
              <a:t>•  V$RECOVERY_FILE_DEST, V$RECOVERY_AREA_USAGE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삭제 정책과 공간 부족</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너무 빨리 지우면 갭, 너무 늦게 지우면 정지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FRA가 차면 아카이브 중단, Primary DML 정지</a:t>
            </a:r>
          </a:p>
          <a:p>
            <a:pPr algn="l">
              <a:spcAft>
                <a:spcPts val="1000"/>
              </a:spcAft>
            </a:pPr>
            <a:r>
              <a:rPr sz="1700" b="0">
                <a:solidFill>
                  <a:srgbClr val="222222"/>
                </a:solidFill>
                <a:latin typeface="맑은 고딕"/>
              </a:rPr>
              <a:t>•  받지 못한 로그를 지우면 FAL로도 못 메움</a:t>
            </a:r>
          </a:p>
          <a:p>
            <a:pPr algn="l">
              <a:spcAft>
                <a:spcPts val="1000"/>
              </a:spcAft>
            </a:pPr>
            <a:r>
              <a:rPr sz="1700" b="0">
                <a:solidFill>
                  <a:srgbClr val="222222"/>
                </a:solidFill>
                <a:latin typeface="맑은 고딕"/>
              </a:rPr>
              <a:t>•  SHIPPED TO ALL STANDBY / APPLIED ON ALL STANDBY</a:t>
            </a:r>
          </a:p>
          <a:p>
            <a:pPr algn="l">
              <a:spcAft>
                <a:spcPts val="1000"/>
              </a:spcAft>
            </a:pPr>
            <a:r>
              <a:rPr sz="1700" b="0">
                <a:solidFill>
                  <a:srgbClr val="222222"/>
                </a:solidFill>
                <a:latin typeface="맑은 고딕"/>
              </a:rPr>
              <a:t>•  사례: Standby 사흘 정지 중 Primary FRA 포화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Primary의 Data Guard 파라미터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이름: DB_UNIQUE_NAME, LOG_ARCHIVE_CONFIG</a:t>
            </a:r>
          </a:p>
          <a:p>
            <a:pPr algn="l">
              <a:spcAft>
                <a:spcPts val="800"/>
              </a:spcAft>
            </a:pPr>
            <a:r>
              <a:rPr sz="1600" b="0">
                <a:solidFill>
                  <a:srgbClr val="FFFFFF"/>
                </a:solidFill>
                <a:latin typeface="맑은 고딕"/>
              </a:rPr>
              <a:t>•  목적지: LOG_ARCHIVE_DEST_n, VALID_FOR</a:t>
            </a:r>
          </a:p>
          <a:p>
            <a:pPr algn="l">
              <a:spcAft>
                <a:spcPts val="800"/>
              </a:spcAft>
            </a:pPr>
            <a:r>
              <a:rPr sz="1600" b="0">
                <a:solidFill>
                  <a:srgbClr val="FFFFFF"/>
                </a:solidFill>
                <a:latin typeface="맑은 고딕"/>
              </a:rPr>
              <a:t>•  역할 전환 대비와 인증</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DB_NAME과 DB_UNIQUE_NAME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이름은 같고, 고유 이름은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DB_NAME과 DBID는 구성 전체가 같음</a:t>
            </a:r>
          </a:p>
          <a:p>
            <a:pPr algn="l">
              <a:spcAft>
                <a:spcPts val="1000"/>
              </a:spcAft>
            </a:pPr>
            <a:r>
              <a:rPr sz="1700" b="0">
                <a:solidFill>
                  <a:srgbClr val="222222"/>
                </a:solidFill>
                <a:latin typeface="맑은 고딕"/>
              </a:rPr>
              <a:t>•  구성원 구분은 DB_UNIQUE_NAME</a:t>
            </a:r>
          </a:p>
          <a:p>
            <a:pPr algn="l">
              <a:spcAft>
                <a:spcPts val="1000"/>
              </a:spcAft>
            </a:pPr>
            <a:r>
              <a:rPr sz="1700" b="0">
                <a:solidFill>
                  <a:srgbClr val="222222"/>
                </a:solidFill>
                <a:latin typeface="맑은 고딕"/>
              </a:rPr>
              <a:t>•  Primary는 기본값(DB_NAME과 동일) 사용 가능</a:t>
            </a:r>
          </a:p>
          <a:p>
            <a:pPr algn="l">
              <a:spcAft>
                <a:spcPts val="1000"/>
              </a:spcAft>
            </a:pPr>
            <a:r>
              <a:rPr sz="1700" b="0">
                <a:solidFill>
                  <a:srgbClr val="222222"/>
                </a:solidFill>
                <a:latin typeface="맑은 고딕"/>
              </a:rPr>
              <a:t>•  예: DB_NAME chicago, 고유 이름 chicago·boston</a:t>
            </a:r>
          </a:p>
          <a:p>
            <a:pPr algn="l">
              <a:spcAft>
                <a:spcPts val="1000"/>
              </a:spcAft>
            </a:pPr>
            <a:r>
              <a:rPr sz="1700" b="0">
                <a:solidFill>
                  <a:srgbClr val="222222"/>
                </a:solidFill>
                <a:latin typeface="맑은 고딕"/>
              </a:rPr>
              <a:t>•  정적 파라미터, 처음 정하면 바꾸지 않음</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LOG_ARCHIVE_CONFIG</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구성원 명단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DG_CONFIG=(chicago,boston)</a:t>
            </a:r>
          </a:p>
          <a:p>
            <a:pPr algn="l">
              <a:spcAft>
                <a:spcPts val="1000"/>
              </a:spcAft>
            </a:pPr>
            <a:r>
              <a:rPr sz="1700" b="0">
                <a:solidFill>
                  <a:srgbClr val="222222"/>
                </a:solidFill>
                <a:latin typeface="맑은 고딕"/>
              </a:rPr>
              <a:t>•  목록에 없는 이름과는 송수신하지 않음</a:t>
            </a:r>
          </a:p>
          <a:p>
            <a:pPr algn="l">
              <a:spcAft>
                <a:spcPts val="1000"/>
              </a:spcAft>
            </a:pPr>
            <a:r>
              <a:rPr sz="1700" b="0">
                <a:solidFill>
                  <a:srgbClr val="222222"/>
                </a:solidFill>
                <a:latin typeface="맑은 고딕"/>
              </a:rPr>
              <a:t>•  미래의 Standby·Far Sync도 미리 등록 가능</a:t>
            </a:r>
          </a:p>
          <a:p>
            <a:pPr algn="l">
              <a:spcAft>
                <a:spcPts val="1000"/>
              </a:spcAft>
            </a:pPr>
            <a:r>
              <a:rPr sz="1700" b="0">
                <a:solidFill>
                  <a:srgbClr val="222222"/>
                </a:solidFill>
                <a:latin typeface="맑은 고딕"/>
              </a:rPr>
              <a:t>•  V$DATAGUARD_CONFIG로 확인</a:t>
            </a:r>
          </a:p>
          <a:p>
            <a:pPr algn="l">
              <a:spcAft>
                <a:spcPts val="1000"/>
              </a:spcAft>
            </a:pPr>
            <a:r>
              <a:rPr sz="1700" b="0">
                <a:solidFill>
                  <a:srgbClr val="222222"/>
                </a:solidFill>
                <a:latin typeface="맑은 고딕"/>
              </a:rPr>
              <a:t>•  Broker 구성에서는 Broker가 관리</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LOG_ARCHIVE_DEST_n과 STATE_n</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어디로 보내는가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n은 1~31, 보통 1은 로컬, 2는 Standby</a:t>
            </a:r>
          </a:p>
          <a:p>
            <a:pPr algn="l">
              <a:spcAft>
                <a:spcPts val="1000"/>
              </a:spcAft>
            </a:pPr>
            <a:r>
              <a:rPr sz="1700" b="0">
                <a:solidFill>
                  <a:srgbClr val="222222"/>
                </a:solidFill>
                <a:latin typeface="맑은 고딕"/>
              </a:rPr>
              <a:t>•  LOCATION 또는 SERVICE 중 하나는 필수</a:t>
            </a:r>
          </a:p>
          <a:p>
            <a:pPr algn="l">
              <a:spcAft>
                <a:spcPts val="1000"/>
              </a:spcAft>
            </a:pPr>
            <a:r>
              <a:rPr sz="1700" b="0">
                <a:solidFill>
                  <a:srgbClr val="222222"/>
                </a:solidFill>
                <a:latin typeface="맑은 고딕"/>
              </a:rPr>
              <a:t>•  원격 목적지에는 DB_UNIQUE_NAME 속성</a:t>
            </a:r>
          </a:p>
          <a:p>
            <a:pPr algn="l">
              <a:spcAft>
                <a:spcPts val="1000"/>
              </a:spcAft>
            </a:pPr>
            <a:r>
              <a:rPr sz="1700" b="0">
                <a:solidFill>
                  <a:srgbClr val="222222"/>
                </a:solidFill>
                <a:latin typeface="맑은 고딕"/>
              </a:rPr>
              <a:t>•  STATE_n: ENABLE(기본) 또는 DEFER</a:t>
            </a:r>
          </a:p>
          <a:p>
            <a:pPr algn="l">
              <a:spcAft>
                <a:spcPts val="1000"/>
              </a:spcAft>
            </a:pPr>
            <a:r>
              <a:rPr sz="1700" b="0">
                <a:solidFill>
                  <a:srgbClr val="222222"/>
                </a:solidFill>
                <a:latin typeface="맑은 고딕"/>
              </a:rPr>
              <a:t>•  로컬은 USE_DB_RECOVERY_FILE_DEST로 명시</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VALID_FOR 조합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로그 종류 × 데이터베이스 역할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예: (ONLINE_LOGFILES, PRIMARY_ROLE)</a:t>
            </a:r>
          </a:p>
          <a:p>
            <a:pPr algn="l">
              <a:spcAft>
                <a:spcPts val="1000"/>
              </a:spcAft>
            </a:pPr>
            <a:r>
              <a:rPr sz="1700" b="0">
                <a:solidFill>
                  <a:srgbClr val="222222"/>
                </a:solidFill>
                <a:latin typeface="맑은 고딕"/>
              </a:rPr>
              <a:t>•  로컬은 (ALL_LOGFILES, ALL_ROLES)가 일반적</a:t>
            </a:r>
          </a:p>
          <a:p>
            <a:pPr algn="l">
              <a:spcAft>
                <a:spcPts val="1000"/>
              </a:spcAft>
            </a:pPr>
            <a:r>
              <a:rPr sz="1700" b="0">
                <a:solidFill>
                  <a:srgbClr val="222222"/>
                </a:solidFill>
                <a:latin typeface="맑은 고딕"/>
              </a:rPr>
              <a:t>•  역할에 맞지 않으면 오류 없이 무시</a:t>
            </a:r>
          </a:p>
          <a:p>
            <a:pPr algn="l">
              <a:spcAft>
                <a:spcPts val="1000"/>
              </a:spcAft>
            </a:pPr>
            <a:r>
              <a:rPr sz="1700" b="0">
                <a:solidFill>
                  <a:srgbClr val="222222"/>
                </a:solidFill>
                <a:latin typeface="맑은 고딕"/>
              </a:rPr>
              <a:t>•  (STANDBY_LOGFILE, PRIMARY_ROLE)만 ORA-16026</a:t>
            </a:r>
          </a:p>
          <a:p>
            <a:pPr algn="l">
              <a:spcAft>
                <a:spcPts val="1000"/>
              </a:spcAft>
            </a:pPr>
            <a:r>
              <a:rPr sz="1700" b="0">
                <a:solidFill>
                  <a:srgbClr val="222222"/>
                </a:solidFill>
                <a:latin typeface="맑은 고딕"/>
              </a:rPr>
              <a:t>•  전송 속성 상세는 2장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전환에 대비하는 파라미터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Standby가 되었을 때 쓰일 값</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FAL_SERVER: 갭을 메울 로그를 요청할 대상</a:t>
            </a:r>
          </a:p>
          <a:p>
            <a:pPr algn="l">
              <a:spcAft>
                <a:spcPts val="1000"/>
              </a:spcAft>
            </a:pPr>
            <a:r>
              <a:rPr sz="1700" b="0">
                <a:solidFill>
                  <a:srgbClr val="222222"/>
                </a:solidFill>
                <a:latin typeface="맑은 고딕"/>
              </a:rPr>
              <a:t>•  FAL_CLIENT: 생략 가능, 명시하는 구성이 많음</a:t>
            </a:r>
          </a:p>
          <a:p>
            <a:pPr algn="l">
              <a:spcAft>
                <a:spcPts val="1000"/>
              </a:spcAft>
            </a:pPr>
            <a:r>
              <a:rPr sz="1700" b="0">
                <a:solidFill>
                  <a:srgbClr val="222222"/>
                </a:solidFill>
                <a:latin typeface="맑은 고딕"/>
              </a:rPr>
              <a:t>•  STANDBY_FILE_MANAGEMENT=AUTO (상세는 8장)</a:t>
            </a:r>
          </a:p>
          <a:p>
            <a:pPr algn="l">
              <a:spcAft>
                <a:spcPts val="1000"/>
              </a:spcAft>
            </a:pPr>
            <a:r>
              <a:rPr sz="1700" b="0">
                <a:solidFill>
                  <a:srgbClr val="222222"/>
                </a:solidFill>
                <a:latin typeface="맑은 고딕"/>
              </a:rPr>
              <a:t>•  DB_/LOG_FILE_NAME_CONVERT: 경로가 다를 때 (5장)</a:t>
            </a:r>
          </a:p>
          <a:p>
            <a:pPr algn="l">
              <a:spcAft>
                <a:spcPts val="1000"/>
              </a:spcAft>
            </a:pPr>
            <a:r>
              <a:rPr sz="1700" b="0">
                <a:solidFill>
                  <a:srgbClr val="222222"/>
                </a:solidFill>
                <a:latin typeface="맑은 고딕"/>
              </a:rPr>
              <a:t>•  ARCHIVE_LAG_TARGET, LOG_ARCHIVE_MAX_PROCESSES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비밀번호 파일과 spfile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전송 연결의 인증</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모든 구성원에 비밀번호 파일, SYS 비밀번호 동일</a:t>
            </a:r>
          </a:p>
          <a:p>
            <a:pPr algn="l">
              <a:spcAft>
                <a:spcPts val="1000"/>
              </a:spcAft>
            </a:pPr>
            <a:r>
              <a:rPr sz="1700" b="0">
                <a:solidFill>
                  <a:srgbClr val="222222"/>
                </a:solidFill>
                <a:latin typeface="맑은 고딕"/>
              </a:rPr>
              <a:t>•  REMOTE_LOGIN_PASSWORDFILE=EXCLUSIVE</a:t>
            </a:r>
          </a:p>
          <a:p>
            <a:pPr algn="l">
              <a:spcAft>
                <a:spcPts val="1000"/>
              </a:spcAft>
            </a:pPr>
            <a:r>
              <a:rPr sz="1700" b="0">
                <a:solidFill>
                  <a:srgbClr val="222222"/>
                </a:solidFill>
                <a:latin typeface="맑은 고딕"/>
              </a:rPr>
              <a:t>•  Standby 파일은 Primary 파일을 복사해 이름 변경</a:t>
            </a:r>
          </a:p>
          <a:p>
            <a:pPr algn="l">
              <a:spcAft>
                <a:spcPts val="1000"/>
              </a:spcAft>
            </a:pPr>
            <a:r>
              <a:rPr sz="1700" b="0">
                <a:solidFill>
                  <a:srgbClr val="222222"/>
                </a:solidFill>
                <a:latin typeface="맑은 고딕"/>
              </a:rPr>
              <a:t>•  REDO_TRANSPORT_USER로 전송 전용 사용자 가능</a:t>
            </a:r>
          </a:p>
          <a:p>
            <a:pPr algn="l">
              <a:spcAft>
                <a:spcPts val="1000"/>
              </a:spcAft>
            </a:pPr>
            <a:r>
              <a:rPr sz="1700" b="0">
                <a:solidFill>
                  <a:srgbClr val="222222"/>
                </a:solidFill>
                <a:latin typeface="맑은 고딕"/>
              </a:rPr>
              <a:t>•  spfile은 Broker의 전제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파라미터 묶음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chicago 기준, Standby는 거울상</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DB_UNIQUE_NAME=chicago, DG_CONFIG=(chicago,boston)</a:t>
            </a:r>
          </a:p>
          <a:p>
            <a:pPr algn="l">
              <a:spcAft>
                <a:spcPts val="1000"/>
              </a:spcAft>
            </a:pPr>
            <a:r>
              <a:rPr sz="1700" b="0">
                <a:solidFill>
                  <a:srgbClr val="222222"/>
                </a:solidFill>
                <a:latin typeface="맑은 고딕"/>
              </a:rPr>
              <a:t>•  DEST_1 로컬 FRA, DEST_2 SERVICE=boston ASYNC</a:t>
            </a:r>
          </a:p>
          <a:p>
            <a:pPr algn="l">
              <a:spcAft>
                <a:spcPts val="1000"/>
              </a:spcAft>
            </a:pPr>
            <a:r>
              <a:rPr sz="1700" b="0">
                <a:solidFill>
                  <a:srgbClr val="222222"/>
                </a:solidFill>
                <a:latin typeface="맑은 고딕"/>
              </a:rPr>
              <a:t>•  FAL_SERVER=boston, STANDBY_FILE_MANAGEMENT=AUTO</a:t>
            </a:r>
          </a:p>
          <a:p>
            <a:pPr algn="l">
              <a:spcAft>
                <a:spcPts val="1000"/>
              </a:spcAft>
            </a:pPr>
            <a:r>
              <a:rPr sz="1700" b="0">
                <a:solidFill>
                  <a:srgbClr val="222222"/>
                </a:solidFill>
                <a:latin typeface="맑은 고딕"/>
              </a:rPr>
              <a:t>•  바꾼 뒤에는 V$ARCHIVE_DEST의 STATUS·ERROR 확인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4.9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준비 상태 점검과 운영 시 주의점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생성 전 점검 조회</a:t>
            </a:r>
          </a:p>
          <a:p>
            <a:pPr algn="l">
              <a:spcAft>
                <a:spcPts val="800"/>
              </a:spcAft>
            </a:pPr>
            <a:r>
              <a:rPr sz="1600" b="0">
                <a:solidFill>
                  <a:srgbClr val="FFFFFF"/>
                </a:solidFill>
                <a:latin typeface="맑은 고딕"/>
              </a:rPr>
              <a:t>•  운영 중 지켜야 할 것</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생성 전 점검 조회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DUPLICATE 직전에 한 번 더</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LOG_MODE = ARCHIVELOG, FORCE_LOGGING = YES</a:t>
            </a:r>
          </a:p>
          <a:p>
            <a:pPr algn="l">
              <a:spcAft>
                <a:spcPts val="1000"/>
              </a:spcAft>
            </a:pPr>
            <a:r>
              <a:rPr sz="1700" b="0">
                <a:solidFill>
                  <a:srgbClr val="222222"/>
                </a:solidFill>
                <a:latin typeface="맑은 고딕"/>
              </a:rPr>
              <a:t>•  SRL 개수 ≥ 스레드별 온라인 그룹 + 1</a:t>
            </a:r>
          </a:p>
          <a:p>
            <a:pPr algn="l">
              <a:spcAft>
                <a:spcPts val="1000"/>
              </a:spcAft>
            </a:pPr>
            <a:r>
              <a:rPr sz="1700" b="0">
                <a:solidFill>
                  <a:srgbClr val="222222"/>
                </a:solidFill>
                <a:latin typeface="맑은 고딕"/>
              </a:rPr>
              <a:t>•  SRL 최소 크기 ≥ 온라인 로그 최대 크기</a:t>
            </a:r>
          </a:p>
          <a:p>
            <a:pPr algn="l">
              <a:spcAft>
                <a:spcPts val="1000"/>
              </a:spcAft>
            </a:pPr>
            <a:r>
              <a:rPr sz="1700" b="0">
                <a:solidFill>
                  <a:srgbClr val="222222"/>
                </a:solidFill>
                <a:latin typeface="맑은 고딕"/>
              </a:rPr>
              <a:t>•  FRA 지정과 여유 공간</a:t>
            </a:r>
          </a:p>
          <a:p>
            <a:pPr algn="l">
              <a:spcAft>
                <a:spcPts val="1000"/>
              </a:spcAft>
            </a:pPr>
            <a:r>
              <a:rPr sz="1700" b="0">
                <a:solidFill>
                  <a:srgbClr val="222222"/>
                </a:solidFill>
                <a:latin typeface="맑은 고딕"/>
              </a:rPr>
              <a:t>•  dest_1 VALID, dest_2는 생성 후 VALID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운영 시 주의점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조용히 무너지는 준비 항목</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FORCE LOGGING은 구성이 있는 동안 끄지 않음</a:t>
            </a:r>
          </a:p>
          <a:p>
            <a:pPr algn="l">
              <a:spcAft>
                <a:spcPts val="1000"/>
              </a:spcAft>
            </a:pPr>
            <a:r>
              <a:rPr sz="1700" b="0">
                <a:solidFill>
                  <a:srgbClr val="222222"/>
                </a:solidFill>
                <a:latin typeface="맑은 고딕"/>
              </a:rPr>
              <a:t>•  온라인 로그 변경과 SRL 변경은 한 묶음</a:t>
            </a:r>
          </a:p>
          <a:p>
            <a:pPr algn="l">
              <a:spcAft>
                <a:spcPts val="1000"/>
              </a:spcAft>
            </a:pPr>
            <a:r>
              <a:rPr sz="1700" b="0">
                <a:solidFill>
                  <a:srgbClr val="222222"/>
                </a:solidFill>
                <a:latin typeface="맑은 고딕"/>
              </a:rPr>
              <a:t>•  FRA 경보는 Primary와 Standby 모두에</a:t>
            </a:r>
          </a:p>
          <a:p>
            <a:pPr algn="l">
              <a:spcAft>
                <a:spcPts val="1000"/>
              </a:spcAft>
            </a:pPr>
            <a:r>
              <a:rPr sz="1700" b="0">
                <a:solidFill>
                  <a:srgbClr val="222222"/>
                </a:solidFill>
                <a:latin typeface="맑은 고딕"/>
              </a:rPr>
              <a:t>•  SYS 비밀번호 변경은 계획된 작업으로</a:t>
            </a:r>
          </a:p>
          <a:p>
            <a:pPr algn="l">
              <a:spcAft>
                <a:spcPts val="1000"/>
              </a:spcAft>
            </a:pPr>
            <a:r>
              <a:rPr sz="1700" b="0">
                <a:solidFill>
                  <a:srgbClr val="222222"/>
                </a:solidFill>
                <a:latin typeface="맑은 고딕"/>
              </a:rPr>
              <a:t>•  고유 이름·서비스 이름 표기를 한 문서로 관리</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Primary 준비는 DUPLICATE 전에 끝낸다 (SRL·FORCE LOGGING)</a:t>
            </a:r>
          </a:p>
          <a:p>
            <a:pPr algn="l">
              <a:spcAft>
                <a:spcPts val="1000"/>
              </a:spcAft>
            </a:pPr>
            <a:r>
              <a:rPr sz="1600" b="0">
                <a:solidFill>
                  <a:srgbClr val="222222"/>
                </a:solidFill>
                <a:latin typeface="맑은 고딕"/>
              </a:rPr>
              <a:t>•  ARCHIVELOG는 MOUNT에서 전환, 리두 보존의 전제</a:t>
            </a:r>
          </a:p>
          <a:p>
            <a:pPr algn="l">
              <a:spcAft>
                <a:spcPts val="1000"/>
              </a:spcAft>
            </a:pPr>
            <a:r>
              <a:rPr sz="1600" b="0">
                <a:solidFill>
                  <a:srgbClr val="222222"/>
                </a:solidFill>
                <a:latin typeface="맑은 고딕"/>
              </a:rPr>
              <a:t>•  FORCE LOGGING이 모든 NOLOGGING 설정보다 우선</a:t>
            </a:r>
          </a:p>
          <a:p>
            <a:pPr algn="l">
              <a:spcAft>
                <a:spcPts val="1000"/>
              </a:spcAft>
            </a:pPr>
            <a:r>
              <a:rPr sz="1600" b="0">
                <a:solidFill>
                  <a:srgbClr val="222222"/>
                </a:solidFill>
                <a:latin typeface="맑은 고딕"/>
              </a:rPr>
              <a:t>•  STANDBY NOLOGGING 두 모드는 ADG 환경 전제</a:t>
            </a:r>
          </a:p>
          <a:p>
            <a:pPr algn="l">
              <a:spcAft>
                <a:spcPts val="1000"/>
              </a:spcAft>
            </a:pPr>
            <a:r>
              <a:rPr sz="1600" b="0">
                <a:solidFill>
                  <a:srgbClr val="222222"/>
                </a:solidFill>
                <a:latin typeface="맑은 고딕"/>
              </a:rPr>
              <a:t>•  SRL: 스레드별 온라인 그룹 + 1, 같은 크기, Primary에 먼저</a:t>
            </a:r>
          </a:p>
          <a:p>
            <a:pPr algn="l">
              <a:spcAft>
                <a:spcPts val="1000"/>
              </a:spcAft>
            </a:pPr>
            <a:r>
              <a:rPr sz="1600" b="0">
                <a:solidFill>
                  <a:srgbClr val="222222"/>
                </a:solidFill>
                <a:latin typeface="맑은 고딕"/>
              </a:rPr>
              <a:t>•  FRA·삭제 정책, DB_UNIQUE_NAME·DG_CONFIG·DEST_n·FAL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(1/2)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OPEN 상태에서 ARCHIVELOG 전환? → ORA-01126</a:t>
            </a:r>
          </a:p>
          <a:p>
            <a:pPr algn="l">
              <a:spcAft>
                <a:spcPts val="1000"/>
              </a:spcAft>
            </a:pPr>
            <a:r>
              <a:rPr sz="1600" b="0">
                <a:solidFill>
                  <a:srgbClr val="222222"/>
                </a:solidFill>
                <a:latin typeface="맑은 고딕"/>
              </a:rPr>
              <a:t>•  Q2. FORCE LOGGING + NOLOGGING 테이블 APPEND 적재? → 리두 생성</a:t>
            </a:r>
          </a:p>
          <a:p>
            <a:pPr algn="l">
              <a:spcAft>
                <a:spcPts val="1000"/>
              </a:spcAft>
            </a:pPr>
            <a:r>
              <a:rPr sz="1600" b="0">
                <a:solidFill>
                  <a:srgbClr val="222222"/>
                </a:solidFill>
                <a:latin typeface="맑은 고딕"/>
              </a:rPr>
              <a:t>•  Q3. LOAD PERFORMANCE 모드의 특징? → 전송 생략 후 Standby가 보충</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(2/2)</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Q4. 2노드 RAC, 스레드당 4그룹의 SRL 수? → 10</a:t>
            </a:r>
          </a:p>
          <a:p>
            <a:pPr algn="l">
              <a:spcAft>
                <a:spcPts val="1000"/>
              </a:spcAft>
            </a:pPr>
            <a:r>
              <a:rPr sz="1600" b="0">
                <a:solidFill>
                  <a:srgbClr val="222222"/>
                </a:solidFill>
                <a:latin typeface="맑은 고딕"/>
              </a:rPr>
              <a:t>•  Q5. 온라인 로그만 키우고 SRL을 두면? → 아카이브 직접 기록, 실시간 적용 중단</a:t>
            </a:r>
          </a:p>
          <a:p>
            <a:pPr algn="l">
              <a:spcAft>
                <a:spcPts val="1000"/>
              </a:spcAft>
            </a:pPr>
            <a:r>
              <a:rPr sz="1600" b="0">
                <a:solidFill>
                  <a:srgbClr val="222222"/>
                </a:solidFill>
                <a:latin typeface="맑은 고딕"/>
              </a:rPr>
              <a:t>•  Q6. Primary에 FAL_SERVER를 두는 이유? → 역할 전환 대비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01 DBCA로 CDB 생성 — 옵션의 Data Guard 의미 (4.2, 4.7)</a:t>
            </a:r>
          </a:p>
          <a:p>
            <a:pPr algn="l">
              <a:spcAft>
                <a:spcPts val="1000"/>
              </a:spcAft>
            </a:pPr>
            <a:r>
              <a:rPr sz="1600" b="0">
                <a:solidFill>
                  <a:srgbClr val="222222"/>
                </a:solidFill>
                <a:latin typeface="맑은 고딕"/>
              </a:rPr>
              <a:t>•  02 ARCHIVELOG 확인과 전환 — ORA-01126, FRA (4.3)</a:t>
            </a:r>
          </a:p>
          <a:p>
            <a:pPr algn="l">
              <a:spcAft>
                <a:spcPts val="1000"/>
              </a:spcAft>
            </a:pPr>
            <a:r>
              <a:rPr sz="1600" b="0">
                <a:solidFill>
                  <a:srgbClr val="222222"/>
                </a:solidFill>
                <a:latin typeface="맑은 고딕"/>
              </a:rPr>
              <a:t>•  03 FORCE LOGGING 실증 — 리두 양 비교 (4.4)</a:t>
            </a:r>
          </a:p>
          <a:p>
            <a:pPr algn="l">
              <a:spcAft>
                <a:spcPts val="1000"/>
              </a:spcAft>
            </a:pPr>
            <a:r>
              <a:rPr sz="1600" b="0">
                <a:solidFill>
                  <a:srgbClr val="222222"/>
                </a:solidFill>
                <a:latin typeface="맑은 고딕"/>
              </a:rPr>
              <a:t>•  04 SRL 산정과 생성 / 05 SRL 없이 실시간 적용 (4.6)</a:t>
            </a:r>
          </a:p>
          <a:p>
            <a:pPr algn="l">
              <a:spcAft>
                <a:spcPts val="1000"/>
              </a:spcAft>
            </a:pPr>
            <a:r>
              <a:rPr sz="1600" b="0">
                <a:solidFill>
                  <a:srgbClr val="222222"/>
                </a:solidFill>
                <a:latin typeface="맑은 고딕"/>
              </a:rPr>
              <a:t>•  06 19c STANDBY NOLOGGING — 모드와 열 값 (4.5)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
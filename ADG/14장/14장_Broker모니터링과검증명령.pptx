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DGMGRL에서 명령을 칠 때마다 Broker가 모든 구성원을 새로 검사한다고 생각하기 쉬운데, 실제로는 Primary의 DMON이 주기적으로 돌린 점검 결과를 메모리에 두고 보여 줍니다. 19c 출력에서 상태 줄 옆에 붙는 status updated 몇 초 전이라는 표시가 그 증거입니다. 장애가 막 생긴 직후 몇십 초 동안은 이전 상태가 그대로 보일 수 있고, 이 시간이 계속 늘어난다면 점검 자체가 돌지 못하는 상황이니 그때는 상태 값보다 통신 문제를 먼저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집계 규칙은 단순합니다. 구성원 하나에 경고와 오류가 섞여 있으면 오류가 이기고, Standby 하나만 WARNING이어도 구성 전체가 WARNING이 됩니다. SHOW CONFIGURATION의 마지막 줄만 보는 감시는 어느 구성원이 문제인지 알려 주지 못합니다. 구성 상태는 경보를 울리는 데 쓰고, 원인은 그 위에 표시된 구성원 줄과 코드에서 찾는 식으로 역할을 나눠 쓰는 것이 실무에서 편합니다. DISABLED는 Broker가 관리를 멈춘 상태라 정상과 구분해서 다뤄야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Broker는 데이터가 안전한지를 직접 판단하지 않습니다. 운영자가 정해 둔 의도 상태와 실제 상태가 맞는지를 볼 뿐입니다. 적용을 꺼 두겠다고 정했으면 적용이 멈춰 있어도 SUCCESS가 나옵니다. 이 성질은 유지 보수 때 편리하지만, 작업을 마치고 원래 상태로 돌려놓는 것을 잊으면 경고 없이 위험한 상태가 오래 이어집니다. 뒤에서 볼 LogShipping 사례가 정확히 이 구조에서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코드를 외우기보다 층을 나누는 습관이 중요합니다. 구성 수준 코드는 어딘가에 문제가 있다는 사실까지만 말해 주고, 실제 원인은 그 아래 원인 수준 코드에 있습니다. 구성 상태가 WARNING이고 로그에 ORA-16608이 찍혔다면 경고를 낸 구성원을 찾아 내려가야 합니다. 원인 수준 코드를 만나면 그때부터는 어느 영역을 볼지가 정해집니다. 적용이면 Standby 프로세스, 전송이면 LogXptStatus, 불일치면 Inconsistent 속성 쪽입니다.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화면에 여러 개라는 의미의 코드만 보이면 원인이 감춰진 상태입니다. 이때는 해당 구성원의 StatusReport 속성을 조회하면 개별 경고와 오류가 한 줄씩 펼쳐집니다. ORA-16664처럼 결과를 받지 못했다는 코드는 원인이라기보다 점검 실패를 알리는 신호라서, 같이 보이는 다른 값들도 믿기 어렵습니다. DGM으로 시작하는 오류는 대부분 문법이나 인자 형식 문제로, 서버 상태와는 상관이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구성원 목록의 들여쓰기를 그냥 보기 좋게 정렬한 것으로 넘기면 안 됩니다. Primary 아래 들여 쓴 구성원은 Primary에게서 직접 리두를 받고, Far Sync 아래 한 번 더 들여 쓴 구성원은 Far Sync를 거쳐 받습니다. 여러 Standby가 동시에 경고를 낼 때 들여쓰기를 보면 공통 경로가 어디인지 드러납니다. Fast-Start Failover 줄은 켜짐 여부만 알려 주며, 자동 전환의 세부 동작은 16장에서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VERBOSE를 붙이면 구성 전체에 걸리는 속성이 나옵니다. 이 가운데 TraceLevel은 뒤에서 Broker 로그의 상세도를 올릴 때 다시 쓰고, CommunicationTimeout은 구성원 사이 통신을 얼마나 기다릴지 정하는 값이라 통신 계열 오류가 잦을 때 확인 대상이 됩니다. 구성원이 여럿이면 하나씩 SHOW DATABASE를 치기보다 지연만 모아 보는 형태가 편합니다. 다만 이 형태의 정확한 문법은 버전에 따라 차이가 있어 HELP SHOW로 먼저 확인하는 편이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Standby에 대해 실행하면 지연과 적용 속도가 나오고, Primary에 대해 실행하면 역할과 의도 상태 정도만 나옵니다. 지연 값 옆의 computed 몇 초 전 표시는 값을 계산한 시점입니다. 이 시점이 오래됐다면 지연이 0이어도 믿지 않습니다. 공식 교재 예시에는 Apply Rate로 나오지만 19c 출력에서는 Average Apply Rate로 표기됩니다. 지연 값의 출처인 V$DATAGUARD_STATS는 15장에서 직접 조회합니다.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VERBOSE 목록에는 성격이 다른 두 종류가 섞여 있습니다. DelayMins나 ApplyLagThreshold처럼 운영자가 값을 정하는 설정 속성이 있고, LogXptStatus나 RecvQEntries처럼 조회할 때 Broker가 계산해 주는 모니터링 속성이 있습니다. 모니터링 속성은 목록에서 (monitor)라고만 나오고 내용이 보이지 않습니다. 처음 보는 분들은 값이 비었다고 오해하곤 하는데, SHOW DATABASE 다음에 속성 이름을 붙여 따로 조회해야 표가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 Sync는 데이터 파일이 없는 중계점이라 적용 관련 항목이 없습니다. 대신 Far Sync가 막히면 그 뒤에 매달린 Standby들의 transport lag가 한꺼번에 늘어납니다. 자동 전환이 켜진 구성에서는 Observer 관련 경고를 지연 경고보다 먼저 봐야 합니다. Observer가 없으면 Primary가 사라져도 아무도 전환을 결정하지 않기 때문입니다. Observer의 동작과 전환 조건은 16장에서 다루고, 여기서는 경고를 알아보는 데까지만 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장애 상황에서는 여러 명령을 한꺼번에 치게 되는데, 순서를 정해 두면 놓치는 것이 줄어듭니다. 구성 화면에서 문제 구성원을 찾고, 그 구성원의 요약에서 원인 코드를 확인하고, 코드 종류에 맞는 모니터링 속성으로 내려갑니다. 마지막 단계의 로그는 언제 시작됐는지를 알려 주는 자료라서, 화면이 지금 상태만 보여 준다는 한계를 메워 줍니다. 각 단계에서 처음 이상이 보인 곳에 멈춰 원인을 찾는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속성 관련 오류 세 가지는 실습에서 자주 마주칩니다. 이름을 잘못 쓰면 16538, 이름은 맞는데 값이 이상하면 16790, 모니터링 속성에 값을 주려 하면 16568이 납니다. 모니터링 속성은 조회할 때마다 Broker가 대상 구성원에서 값을 모아 오기 때문에 SHOW CONFIGURATION보다 느릴 수 있습니다. 감시 스크립트에 넣을 때는 경고가 떴을 때 원인을 보는 용도로 쓰고, 1분 단위 반복 조회 같은 방식은 피하는 것이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StatusReport는 묶음 코드를 펼치는 도구입니다. 머리글만 있고 행이 없으면 문제가 없는 상태입니다. LogXptStatus는 리두를 보내는 쪽에서 본 결과라 Primary에 대해 조회해야 의미가 있습니다. Standby에 대해 조회하면 보낼 곳이 없으니 내용이 없습니다. ERROR 칸에 ORA-12541이나 ORA-12514 같은 Oracle Net 오류가 보이면 리스너와 접속 문자열을 의심할 차례이므로 3장에서 만든 구성을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불일치는 대부분 누군가 SQL*Plus에서 ALTER SYSTEM으로 파라미터를 직접 바꿨을 때 생깁니다. Broker는 자기 구성 파일의 값을 정답으로 여기므로, 다음 상태 변경이나 재기동 때 Broker 값으로 다시 덮어써 사람이 바꾼 값이 사라질 수 있습니다. 해결 방향은 둘 중 하나입니다. Broker 속성을 원하는 값으로 바꾸거나, 실제 설정을 Broker 값으로 되돌립니다. Broker가 모르는 파라미터의 차이는 여기 나오지 않으며, 그런 차이는 VALIDATE DATABASE SPFILE로 찾습니다.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큐는 7장에서 transport lag와 apply lag를 나눠 본 것과 같은 일을 로그 파일 단위로 보여 줍니다. 지연 값은 몇 초 늦었는지만 알려 주지만, 큐는 어떤 로그가 어디에 걸려 있는지를 보여 줍니다. 지연 적용을 걸어 둔 Standby는 받은 큐가 늘 길게 나오는데, 설정의 결과이므로 지연 시간에 해당하는 만큼은 정상으로 봅니다. 그 이상 쌓인다면 그때부터가 진짜 적용 지연입니다.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지연 경고가 뜨면 많은 경우 네트워크부터 의심합니다. 그런데 보낼 큐가 비어 있다면 리두는 이미 Standby에 도착한 것이고, 네트워크를 늘려도 달라질 것이 없습니다. 받은 큐가 쌓여 있으니 적용이 따라가지 못하는 상황이고, 대기 이벤트가 I/O 쪽을 가리키니 Standby 스토리지가 원인 후보가 됩니다. 이 사례처럼 큐 두 개와 대기 이벤트만으로 DGMGRL을 벗어나지 않고도 병목 위치를 꽤 정확히 좁힐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TopWaitEvents의 상위 목록에 리두를 기다리는 유휴 대기가 보이면 처음에는 이상해 보일 수 있지만, 할 일이 없어 기다리는 것이니 정상입니다. 쓸모는 비교에 있습니다. 평소 목록을 한 번 기록해 두면 지연이 생겼을 때 무엇이 새로 올라왔는지 금방 보입니다. Lsby로 시작하는 두 속성은 논리 Standby 전용이라 물리 Standby만 있는 구성에서는 쓸 일이 없고, 12장의 SQL Apply 문제 해결에서 다시 등장합니다.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공식 교재의 VERBOSE 출력 예시를 보면 ApplyLagThreshold와 TransportLagThreshold가 0으로 나오는데, 이전 릴리스 기준의 예시입니다. 19c에서는 세 속성 모두 30초가 기본이라 따로 설정하지 않아도 30초를 넘는 지연은 경고가 됩니다. 계산이 불가능한 경우는 별도 코드로 구분되는데, apply lag는 16854, transport lag는 16856입니다. 역할 전환 직후에 잠깐 보였다 사라지는 경우가 많습니다. ArchiveLagTarget은 이름만 비슷할 뿐 강제 로그 전환을 일으키는 속성입니다.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임계값을 넘었다가 다시 내려오면 경고는 다음 점검에서 조용히 사라집니다. 화면만 보는 감시라면 그런 일이 있었는지조차 모를 수 있습니다. 경고가 생기고 사라진 시각은 Broker 로그에 남으므로, 매일 한 번 로그를 집계하면 배치 시간대마다 반복되는 패턴이 드러납니다. 임계값을 바꿔도 리두가 더 빨리 가거나 적용이 빨라지지 않습니다. 임계값은 Broker가 상태를 판정하는 기준일 뿐이라서, 지연을 줄이려면 전송 방식이나 Standby 자원 쪽을 손봐야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30초를 그대로 두는 것도 하나의 선택이지만, 업무 기준과 맞는지는 따져 봐야 합니다. 데이터 손실을 몇 분까지 허용하는지가 transport lag 기준이 되고, 전환 후 몇 분 안에 서비스가 열려야 하는지가 apply lag 기준이 됩니다. 값을 정할 때는 먼저 배치 시간대를 포함한 평소 지연을 일주일쯤 기록해 보는 것이 좋습니다. 매일 밤 경고가 뜨는 시스템에서는 운영자가 경고를 무시하게 되고, 그 상태에서 진짜 경고도 함께 묻힙니다.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DelayMins를 30분으로 두면 Primary에서 실수로 지운 데이터를 30분 안에 Standby에서 되살릴 여지가 생깁니다. 그 대신 이 Standby로 Failover하려면 밀린 30분어치를 먼저 적용해야 합니다. 이 거래를 받아들였다면 apply lag 기준도 그에 맞게 올려야 늘 WARNING이 뜨는 일을 피할 수 있습니다. 반면 지연 적용은 전송에 아무 영향이 없으므로, transport lag가 늘었다면 설정과 무관한 실제 문제로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12.2부터 VALIDATE의 형태가 늘어났고, 19c DGMGRL의 도움말에는 여섯 가지가 나옵니다. 실행 전에 HELP VALIDATE로 지금 쓰는 DGMGRL이 받아들이는 문법을 확인하는 습관을 들이면 구문 오류로 시간을 버리는 일이 줄어듭니다. 대부분의 VALIDATE는 대상 구성원에 직접 접속해 검사하므로, 출력 첫 줄에 접속이 필요하다는 문장이 나옵니다. 대상에 접속할 수 없으면 검사도 끝까지 가지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Standby에 대해 실행할 때 항목이 가장 많고, Primary에 대해 실행하면 Ready for Failover와 Log Files Cleared가 빠집니다. 둘 다 전환을 받는 쪽에서만 의미가 있는 항목이기 때문입니다. Standby의 Online Redo Log가 Not Cleared로 나오는 것은 경고가 아닙니다. 아직 쓰인 적이 없는 로그라 전환 때 정리됩니다. Ready for Switchover가 No이면 출력에 이유가 문장으로 붙으니 그 문장부터 읽으면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항목이 이 명령에서 가장 유용한 부분 중 하나입니다. 지금 Primary인 chicago에 SRL이 없으면 현재는 문제가 없어도, 전환 후 chicago가 Standby가 됐을 때 실시간 적용이 동작하지 않습니다. VALIDATE는 그 상황을 미리 계산해 보여 줍니다. Gap Status는 7장에서 V$ARCHIVE_GAP으로 확인하던 내용을 한 줄로 정리한 것이고, 임시 파일 수 비교는 전환 직후 정렬 작업이 실패하는 일을 막기 위한 항목입니다.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처음 보면 목록이 길어 당황하기 쉽습니다. DB_UNIQUE_NAME, FAL_CLIENT, 감사 파일 경로처럼 구성원 이름이 들어가는 값은 다른 것이 정상입니다. 경로 끝의 슬래시 하나 차이나, 한쪽만 기본값을 명시적으로 적은 경우도 다르다고 나옵니다. 목록을 모두 맞추는 것이 목적이 아니고, 항목마다 의도한 차이인지 판정하는 것이 목적입니다. 메모리나 프로세스 관련 값이 Standby 쪽이 작다면 전환 전에 미리 고쳐 둡니다.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명령은 비교를 시작했다는 메시지를 내고 곧 프롬프트를 돌려줍니다. 공식 교재도 이 메시지만으로 비교 완료나 이상 없음을 판단하지 말라고 적고 있습니다. 결과는 OUTPUT에 준 이름으로 대상 구성원 호스트의 trace 디렉터리에 생깁니다. 검사를 수행한 쪽에 생기므로 명령을 낸 서버만 뒤지다가 파일을 못 찾는 일이 잦습니다. 데이터 파일이 크면 양쪽에 I/O 부하가 생기니 한가한 시간대에 나눠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lost write는 스토리지가 쓰기를 마쳤다고 응답했지만 실제로는 기록하지 않은 사고입니다. 전송과 적용이 정상이고 지연이 0이어도 생길 수 있어서 SHOW 계열의 어떤 상태 값에도 드러나지 않습니다. 결과 표에서 LWLOC, LWRMT, DIFFPAIR가 0이면 정상입니다. DIFFV는 Standby가 적용을 계속하는 중이라 비교 순간 버전이 다른 블록이 있는 것이 자연스럽습니다. 7장의 DB_LOST_WRITE_PROTECT와 함께 쓰면 적용 중 감지와 시점 비교를 모두 갖추게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한쪽 방향만 접속이 되는 상황은 생각보다 흔합니다. 방화벽이 한쪽만 열려 있거나, 한 서버의 tnsnames.ora에만 상대 항목이 있는 경우입니다. 평소에는 Primary에서 Standby로만 리두가 가니 문제를 모르다가, 전환 후 반대 방향이 필요해지는 순간 드러납니다. 이 명령은 그런 비대칭을 미리 찾아 줍니다. 3장에서 만든 접속 구성을 Broker의 시각으로 다시 시험하는 명령이라고 보면 이해가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 전환 중 Broker는 인스턴스를 내렸다 올립니다. 인스턴스가 내려가 있는 동안에는 리스너에 동적으로 등록된 서비스가 사라지므로, 다시 올리려면 정적으로 등록된 서비스가 필요합니다. 13장에서 리스너에 DGMGRL 서비스를 정적으로 적은 이유입니다. 정적 등록이 빠져 있어도 평소 동작에는 아무 영향이 없어서 SHOW는 SUCCESS를 냅니다. 전환을 시작한 뒤에야 중간에 멈추는 형태로 드러나니, 전환 전 점검에 이 명령을 꼭 넣어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 Sync를 둔 구성에서는 RedoRoutes가 역할에 따라 다른 경로를 정의하는 경우가 많습니다. 지금 chicago가 Primary일 때는 chicagoFS를 거치고, boston이 Primary가 되면 다른 Far Sync를 거치는 식입니다. WHEN PRIMARY IS 절은 이 가운데 아직 쓰이지 않는 경로를 미리 검사하게 해 줍니다. 평소에는 inactive로 표시되던 Far Sync가 전환 후 실제로 일을 할 수 있는지 확인하는 수단입니다. Far Sync가 없는 구성이면 쓸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SHOW의 SUCCESS는 설정한 대로 돌고 있다는 판정입니다. 설정 자체가 전환에 불리해도 SUCCESS가 나옵니다. VALIDATE는 그 설정이 전환을 막는지를 따집니다. 반대로 VALIDATE는 시간에 따라 변하는 지연 같은 값을 계속 지켜보는 데는 맞지 않습니다. 두 명령은 서로를 대신하지 못하므로, 운영에서는 짧은 주기 감시에 SHOW를, 주 단위 점검과 계획된 전환 직전에 VALIDATE를 넣는 식으로 역할을 나눕니다.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전송을 끈 것은 운영자가 정한 의도 상태라서 Broker는 문제로 보지 않습니다. Standby 쪽에서는 다음 리두를 기다리는 평범한 상태로 보이고, 리두가 들어오지 않으니 지연을 새로 계산할 근거도 없습니다. 이 상태로 Primary에 장애가 나면 전환할 Standby에는 끈 시점 이후의 데이터가 없습니다. VALIDATE는 전환 가능 여부를 묻기 때문에 이 상황을 곧장 잡아냅니다. 실습 2에서 이 장면을 직접 만들어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 파일 dr1, dr2는 이진 형식이라 열어 봐도 읽을 수 없습니다. EXPORT CONFIGURATION은 그 내용을 사람이 읽는 XML로 남기는 공식 방법입니다. 인자에는 파일 이름만 줄 수 있고, 파일은 항상 trace 디렉터리에 생기며 명령은 위치를 알려 주지 않습니다. 내보낸 직후 백업 위치로 옮기는 단계까지 스크립트에 넣어 두면 좋습니다. 두 시점의 파일을 diff로 비교하면 누가 언제 어떤 속성을 바꿨는지가 드러나 감사 자료로도 쓸 만합니다.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가져오기가 기존 구성을 덮어쓰지 않는 것은 안전장치입니다. 오래된 파일을 실수로 가져와 현재 구성이 망가지는 일을 막아 줍니다. 그래서 실제로 쓰려면 구성을 먼저 지워야 합니다. REMOVE CONFIGURATION은 데이터베이스나 리두 흐름을 건드리지 않으므로 위험한 작업은 아니지만, 지운 순간부터 가져오기가 끝날 때까지 Broker의 감시가 사라집니다. 그 사이 장애가 나도 알려 줄 주체가 없으니 짧게 끝내야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화면은 지금의 상태만 보여 주지만 로그에는 시간순으로 변화가 쌓입니다. 정상 상태는 ORA-0이라는 표기로 남고, 문제가 있으면 구성 수준과 구성원 수준 코드가 함께 기록됩니다. 역할 전환이 중간에 멈췄을 때 어느 단계까지 갔는지도 이 로그에서만 확인됩니다. 명령을 낸 쪽과 실제로 처리한 쪽의 로그 내용이 다를 수 있으므로, 전환 같은 작업을 분석할 때는 Primary와 Standby 양쪽 로그를 같은 시각 기준으로 함께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Broker가 내리는 조치는 대부분 SQL 문장이라서, 데이터베이스에 내린 조치는 경고 로그에도 그대로 남습니다. drc 로그는 Broker가 무엇을 하려 했는지, 경고 로그는 데이터베이스에서 실제로 무슨 일이 있었는지를 보여 줍니다. 둘을 같은 시각으로 맞춰 놓고 읽으면 Broker의 판단과 결과가 어긋난 지점이 보입니다. TraceLevel을 SUPPORT로 올리면 로그 양이 크게 늘어나므로 지원 요청 자료를 모을 때만 잠깐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스크립트는 Configuration Status 줄의 낱말만 보지 말고 ORA와 DGM 접두어 코드를 함께 처리해야 합니다. DGMGRL이 접속에 실패해 아무 결과도 내지 못한 경우도 경보 대상에 넣어야 합니다. 감시 도구가 JDBC로만 붙는 환경처럼 DGMGRL을 쓸 수 없는 경우나, Broker 요약 값의 근거를 확인하고 싶을 때는 V$ 뷰를 직접 조회합니다. 그 방법은 15장에서 이어서 다룹니다. SHOW ALL이 보여 주는 것은 데이터베이스 속성과 별개인 DGMGRL 자체의 설정입니다.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본 문제 가운데 상당수는 경보 없이 진행된다는 공통점이 있습니다. 의도 상태로 기록된 변경은 SHOW가 문제 삼지 않고, 정적 등록 누락이나 lost write는 상태 값에 아예 나오지 않습니다. 감시 경보와 정기 점검을 따로 설계해야 합니다. 임계값은 구성원 성격에 맞게 따로 두고, Fast-Start Failover를 켠 구성이라면 Observer 경고를 지연 경고보다 먼저 처리합니다. 내보낸 구성 파일은 ADR 정리 때 지워질 수 있으니 바깥으로 옮겨 둡니다.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Broker 모니터링과 검증 명령</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지금 괜찮은가, 지금 넘길 수 있는가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제14장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DMON의 상태 수집과 SUCCESS·WARNING·ERROR 집계를 설명한다</a:t>
            </a:r>
          </a:p>
          <a:p>
            <a:pPr algn="l">
              <a:spcAft>
                <a:spcPts val="1000"/>
              </a:spcAft>
            </a:pPr>
            <a:r>
              <a:rPr sz="1600" b="0">
                <a:solidFill>
                  <a:srgbClr val="222222"/>
                </a:solidFill>
                <a:latin typeface="맑은 고딕"/>
              </a:rPr>
              <a:t>•  SHOW 계열 출력과 ORA-166xx 코드로 문제 위치를 좁힌다</a:t>
            </a:r>
          </a:p>
          <a:p>
            <a:pPr algn="l">
              <a:spcAft>
                <a:spcPts val="1000"/>
              </a:spcAft>
            </a:pPr>
            <a:r>
              <a:rPr sz="1600" b="0">
                <a:solidFill>
                  <a:srgbClr val="222222"/>
                </a:solidFill>
                <a:latin typeface="맑은 고딕"/>
              </a:rPr>
              <a:t>•  모니터링 전용 속성으로 경고의 원인을 찾는다</a:t>
            </a:r>
          </a:p>
          <a:p>
            <a:pPr algn="l">
              <a:spcAft>
                <a:spcPts val="1000"/>
              </a:spcAft>
            </a:pPr>
            <a:r>
              <a:rPr sz="1600" b="0">
                <a:solidFill>
                  <a:srgbClr val="222222"/>
                </a:solidFill>
                <a:latin typeface="맑은 고딕"/>
              </a:rPr>
              <a:t>•  지연 임계값 속성으로 경고 기준을 정한다</a:t>
            </a:r>
          </a:p>
          <a:p>
            <a:pPr algn="l">
              <a:spcAft>
                <a:spcPts val="1000"/>
              </a:spcAft>
            </a:pPr>
            <a:r>
              <a:rPr sz="1600" b="0">
                <a:solidFill>
                  <a:srgbClr val="222222"/>
                </a:solidFill>
                <a:latin typeface="맑은 고딕"/>
              </a:rPr>
              <a:t>•  VALIDATE 여섯 가지의 검사 대상을 구분한다</a:t>
            </a:r>
          </a:p>
          <a:p>
            <a:pPr algn="l">
              <a:spcAft>
                <a:spcPts val="1000"/>
              </a:spcAft>
            </a:pPr>
            <a:r>
              <a:rPr sz="1600" b="0">
                <a:solidFill>
                  <a:srgbClr val="222222"/>
                </a:solidFill>
                <a:latin typeface="맑은 고딕"/>
              </a:rPr>
              <a:t>•  SHOW와 VALIDATE의 차이, 구성 내보내기, Broker 로그를 다룬다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14.2  Broker 모니터링의 원리</a:t>
            </a:r>
          </a:p>
          <a:p>
            <a:pPr algn="l">
              <a:spcAft>
                <a:spcPts val="1000"/>
              </a:spcAft>
            </a:pPr>
            <a:r>
              <a:rPr sz="1600" b="0">
                <a:solidFill>
                  <a:srgbClr val="222222"/>
                </a:solidFill>
                <a:latin typeface="맑은 고딕"/>
              </a:rPr>
              <a:t>•  14.3  SHOW 명령으로 상태 읽기</a:t>
            </a:r>
          </a:p>
          <a:p>
            <a:pPr algn="l">
              <a:spcAft>
                <a:spcPts val="1000"/>
              </a:spcAft>
            </a:pPr>
            <a:r>
              <a:rPr sz="1600" b="0">
                <a:solidFill>
                  <a:srgbClr val="222222"/>
                </a:solidFill>
                <a:latin typeface="맑은 고딕"/>
              </a:rPr>
              <a:t>•  14.4  모니터링 전용 속성  /  14.5  지연 임계값과 경고</a:t>
            </a:r>
          </a:p>
          <a:p>
            <a:pPr algn="l">
              <a:spcAft>
                <a:spcPts val="1000"/>
              </a:spcAft>
            </a:pPr>
            <a:r>
              <a:rPr sz="1600" b="0">
                <a:solidFill>
                  <a:srgbClr val="222222"/>
                </a:solidFill>
                <a:latin typeface="맑은 고딕"/>
              </a:rPr>
              <a:t>•  14.6  VALIDATE 계열 검증 명령</a:t>
            </a:r>
          </a:p>
          <a:p>
            <a:pPr algn="l">
              <a:spcAft>
                <a:spcPts val="1000"/>
              </a:spcAft>
            </a:pPr>
            <a:r>
              <a:rPr sz="1600" b="0">
                <a:solidFill>
                  <a:srgbClr val="222222"/>
                </a:solidFill>
                <a:latin typeface="맑은 고딕"/>
              </a:rPr>
              <a:t>•  14.7  SHOW와 VALIDATE의 차이  /  14.8  구성 내보내기와 가져오기</a:t>
            </a:r>
          </a:p>
          <a:p>
            <a:pPr algn="l">
              <a:spcAft>
                <a:spcPts val="1000"/>
              </a:spcAft>
            </a:pPr>
            <a:r>
              <a:rPr sz="1600" b="0">
                <a:solidFill>
                  <a:srgbClr val="222222"/>
                </a:solidFill>
                <a:latin typeface="맑은 고딕"/>
              </a:rPr>
              <a:t>•  14.9  Broker 로그와 경고 로그  /  14.10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Broker 모니터링의 원리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DMON이 상태를 모으는 방식</a:t>
            </a:r>
          </a:p>
          <a:p>
            <a:pPr algn="l">
              <a:spcAft>
                <a:spcPts val="800"/>
              </a:spcAft>
            </a:pPr>
            <a:r>
              <a:rPr sz="1600" b="0">
                <a:solidFill>
                  <a:srgbClr val="FFFFFF"/>
                </a:solidFill>
                <a:latin typeface="맑은 고딕"/>
              </a:rPr>
              <a:t>•  상태 값과 집계 규칙</a:t>
            </a:r>
          </a:p>
          <a:p>
            <a:pPr algn="l">
              <a:spcAft>
                <a:spcPts val="800"/>
              </a:spcAft>
            </a:pPr>
            <a:r>
              <a:rPr sz="1600" b="0">
                <a:solidFill>
                  <a:srgbClr val="FFFFFF"/>
                </a:solidFill>
                <a:latin typeface="맑은 고딕"/>
              </a:rPr>
              <a:t>•  ORA-166xx 코드 읽는 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DMON과 상태 수집</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화면의 상태는 대개 저장된 점검 결과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구성원마다 DMON 하나, 구성 파일을 메모리에 보관</a:t>
            </a:r>
          </a:p>
          <a:p>
            <a:pPr algn="l">
              <a:spcAft>
                <a:spcPts val="1000"/>
              </a:spcAft>
            </a:pPr>
            <a:r>
              <a:rPr sz="1700" b="0">
                <a:solidFill>
                  <a:srgbClr val="222222"/>
                </a:solidFill>
                <a:latin typeface="맑은 고딕"/>
              </a:rPr>
              <a:t>•  Primary DMON이 주기적으로 상태 점검을 주도</a:t>
            </a:r>
          </a:p>
          <a:p>
            <a:pPr algn="l">
              <a:spcAft>
                <a:spcPts val="1000"/>
              </a:spcAft>
            </a:pPr>
            <a:r>
              <a:rPr sz="1700" b="0">
                <a:solidFill>
                  <a:srgbClr val="222222"/>
                </a:solidFill>
                <a:latin typeface="맑은 고딕"/>
              </a:rPr>
              <a:t>•  각 구성원 DMON이 자기 쪽 사실을 확인해 회신</a:t>
            </a:r>
          </a:p>
          <a:p>
            <a:pPr algn="l">
              <a:spcAft>
                <a:spcPts val="1000"/>
              </a:spcAft>
            </a:pPr>
            <a:r>
              <a:rPr sz="1700" b="0">
                <a:solidFill>
                  <a:srgbClr val="222222"/>
                </a:solidFill>
                <a:latin typeface="맑은 고딕"/>
              </a:rPr>
              <a:t>•  SHOW CONFIGURATION은 보관된 결과를 표시</a:t>
            </a:r>
          </a:p>
          <a:p>
            <a:pPr algn="l">
              <a:spcAft>
                <a:spcPts val="1000"/>
              </a:spcAft>
            </a:pPr>
            <a:r>
              <a:rPr sz="1700" b="0">
                <a:solidFill>
                  <a:srgbClr val="222222"/>
                </a:solidFill>
                <a:latin typeface="맑은 고딕"/>
              </a:rPr>
              <a:t>•  status updated 시간으로 결과의 신선도 확인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상태 값과 집계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심각한 것이 위로 올라간다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SUCCESS: 의도대로 동작, 경고 조건 없음</a:t>
            </a:r>
          </a:p>
          <a:p>
            <a:pPr algn="l">
              <a:spcAft>
                <a:spcPts val="1000"/>
              </a:spcAft>
            </a:pPr>
            <a:r>
              <a:rPr sz="1700" b="0">
                <a:solidFill>
                  <a:srgbClr val="222222"/>
                </a:solidFill>
                <a:latin typeface="맑은 고딕"/>
              </a:rPr>
              <a:t>•  WARNING: 동작하지만 주의 조건 있음</a:t>
            </a:r>
          </a:p>
          <a:p>
            <a:pPr algn="l">
              <a:spcAft>
                <a:spcPts val="1000"/>
              </a:spcAft>
            </a:pPr>
            <a:r>
              <a:rPr sz="1700" b="0">
                <a:solidFill>
                  <a:srgbClr val="222222"/>
                </a:solidFill>
                <a:latin typeface="맑은 고딕"/>
              </a:rPr>
              <a:t>•  ERROR: 의도한 상태를 만족하지 못함</a:t>
            </a:r>
          </a:p>
          <a:p>
            <a:pPr algn="l">
              <a:spcAft>
                <a:spcPts val="1000"/>
              </a:spcAft>
            </a:pPr>
            <a:r>
              <a:rPr sz="1700" b="0">
                <a:solidFill>
                  <a:srgbClr val="222222"/>
                </a:solidFill>
                <a:latin typeface="맑은 고딕"/>
              </a:rPr>
              <a:t>•  구성원 상태 = 그 구성원의 가장 심각한 문제</a:t>
            </a:r>
          </a:p>
          <a:p>
            <a:pPr algn="l">
              <a:spcAft>
                <a:spcPts val="1000"/>
              </a:spcAft>
            </a:pPr>
            <a:r>
              <a:rPr sz="1700" b="0">
                <a:solidFill>
                  <a:srgbClr val="222222"/>
                </a:solidFill>
                <a:latin typeface="맑은 고딕"/>
              </a:rPr>
              <a:t>•  구성 상태 = 구성원 상태를 다시 집계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Intended State가 판정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의도와 실제를 견주는 구조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TRANSPORT-ON / TRANSPORT-OFF</a:t>
            </a:r>
          </a:p>
          <a:p>
            <a:pPr algn="l">
              <a:spcAft>
                <a:spcPts val="1000"/>
              </a:spcAft>
            </a:pPr>
            <a:r>
              <a:rPr sz="1700" b="0">
                <a:solidFill>
                  <a:srgbClr val="222222"/>
                </a:solidFill>
                <a:latin typeface="맑은 고딕"/>
              </a:rPr>
              <a:t>•  물리 Standby: APPLY-ON / APPLY-OFF</a:t>
            </a:r>
          </a:p>
          <a:p>
            <a:pPr algn="l">
              <a:spcAft>
                <a:spcPts val="1000"/>
              </a:spcAft>
            </a:pPr>
            <a:r>
              <a:rPr sz="1700" b="0">
                <a:solidFill>
                  <a:srgbClr val="222222"/>
                </a:solidFill>
                <a:latin typeface="맑은 고딕"/>
              </a:rPr>
              <a:t>•  APPLY-OFF에서 적용 중지는 정상</a:t>
            </a:r>
          </a:p>
          <a:p>
            <a:pPr algn="l">
              <a:spcAft>
                <a:spcPts val="1000"/>
              </a:spcAft>
            </a:pPr>
            <a:r>
              <a:rPr sz="1700" b="0">
                <a:solidFill>
                  <a:srgbClr val="222222"/>
                </a:solidFill>
                <a:latin typeface="맑은 고딕"/>
              </a:rPr>
              <a:t>•  APPLY-ON에서 적용 중지는 ORA-16766, ERROR</a:t>
            </a:r>
          </a:p>
          <a:p>
            <a:pPr algn="l">
              <a:spcAft>
                <a:spcPts val="1000"/>
              </a:spcAft>
            </a:pPr>
            <a:r>
              <a:rPr sz="1700" b="0">
                <a:solidFill>
                  <a:srgbClr val="222222"/>
                </a:solidFill>
                <a:latin typeface="맑은 고딕"/>
              </a:rPr>
              <a:t>•  일부러 꺼 둔 기능은 경고 대상에서 빠진다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ORA-166xx 코드 읽는 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구성, 구성원, 원인 순으로 내려간다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구성: 16607 실패, 16608 경고</a:t>
            </a:r>
          </a:p>
          <a:p>
            <a:pPr algn="l">
              <a:spcAft>
                <a:spcPts val="1000"/>
              </a:spcAft>
            </a:pPr>
            <a:r>
              <a:rPr sz="1700" b="0">
                <a:solidFill>
                  <a:srgbClr val="222222"/>
                </a:solidFill>
                <a:latin typeface="맑은 고딕"/>
              </a:rPr>
              <a:t>•  구성원: 16809, 16810 여러 문제 묶음</a:t>
            </a:r>
          </a:p>
          <a:p>
            <a:pPr algn="l">
              <a:spcAft>
                <a:spcPts val="1000"/>
              </a:spcAft>
            </a:pPr>
            <a:r>
              <a:rPr sz="1700" b="0">
                <a:solidFill>
                  <a:srgbClr val="222222"/>
                </a:solidFill>
                <a:latin typeface="맑은 고딕"/>
              </a:rPr>
              <a:t>•  원인: 16766 적용 중지, 16737 전송 오류</a:t>
            </a:r>
          </a:p>
          <a:p>
            <a:pPr algn="l">
              <a:spcAft>
                <a:spcPts val="1000"/>
              </a:spcAft>
            </a:pPr>
            <a:r>
              <a:rPr sz="1700" b="0">
                <a:solidFill>
                  <a:srgbClr val="222222"/>
                </a:solidFill>
                <a:latin typeface="맑은 고딕"/>
              </a:rPr>
              <a:t>•  원인: 16853·16855 지연 초과, 16857 연결 끊김</a:t>
            </a:r>
          </a:p>
          <a:p>
            <a:pPr algn="l">
              <a:spcAft>
                <a:spcPts val="1000"/>
              </a:spcAft>
            </a:pPr>
            <a:r>
              <a:rPr sz="1700" b="0">
                <a:solidFill>
                  <a:srgbClr val="222222"/>
                </a:solidFill>
                <a:latin typeface="맑은 고딕"/>
              </a:rPr>
              <a:t>•  원인: 16714·16715 속성 불일치, 16789 SRL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묶음 코드와 통신 코드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화면에 다 나오지 않는 경우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16809, 16810은 StatusReport로 펼친다</a:t>
            </a:r>
          </a:p>
          <a:p>
            <a:pPr algn="l">
              <a:spcAft>
                <a:spcPts val="1000"/>
              </a:spcAft>
            </a:pPr>
            <a:r>
              <a:rPr sz="1700" b="0">
                <a:solidFill>
                  <a:srgbClr val="222222"/>
                </a:solidFill>
                <a:latin typeface="맑은 고딕"/>
              </a:rPr>
              <a:t>•  16664는 결과를 받지 못했다는 뜻</a:t>
            </a:r>
          </a:p>
          <a:p>
            <a:pPr algn="l">
              <a:spcAft>
                <a:spcPts val="1000"/>
              </a:spcAft>
            </a:pPr>
            <a:r>
              <a:rPr sz="1700" b="0">
                <a:solidFill>
                  <a:srgbClr val="222222"/>
                </a:solidFill>
                <a:latin typeface="맑은 고딕"/>
              </a:rPr>
              <a:t>•  통신 오류 때 다른 상태 값은 오래된 정보</a:t>
            </a:r>
          </a:p>
          <a:p>
            <a:pPr algn="l">
              <a:spcAft>
                <a:spcPts val="1000"/>
              </a:spcAft>
            </a:pPr>
            <a:r>
              <a:rPr sz="1700" b="0">
                <a:solidFill>
                  <a:srgbClr val="222222"/>
                </a:solidFill>
                <a:latin typeface="맑은 고딕"/>
              </a:rPr>
              <a:t>•  DGM- 접두어는 DGMGRL 클라이언트 오류</a:t>
            </a:r>
          </a:p>
          <a:p>
            <a:pPr algn="l">
              <a:spcAft>
                <a:spcPts val="1000"/>
              </a:spcAft>
            </a:pPr>
            <a:r>
              <a:rPr sz="1700" b="0">
                <a:solidFill>
                  <a:srgbClr val="222222"/>
                </a:solidFill>
                <a:latin typeface="맑은 고딕"/>
              </a:rPr>
              <a:t>•  정확한 문구는 oerr ora 번호로 확인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SHOW 명령으로 상태 읽기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구성에서 구성원, 인스턴스로 좁힌다</a:t>
            </a:r>
          </a:p>
          <a:p>
            <a:pPr algn="l">
              <a:spcAft>
                <a:spcPts val="800"/>
              </a:spcAft>
            </a:pPr>
            <a:r>
              <a:rPr sz="1600" b="0">
                <a:solidFill>
                  <a:srgbClr val="FFFFFF"/>
                </a:solidFill>
                <a:latin typeface="맑은 고딕"/>
              </a:rPr>
              <a:t>•  요약 항목과 VERBOSE 속성 목록</a:t>
            </a:r>
          </a:p>
          <a:p>
            <a:pPr algn="l">
              <a:spcAft>
                <a:spcPts val="800"/>
              </a:spcAft>
            </a:pPr>
            <a:r>
              <a:rPr sz="1600" b="0">
                <a:solidFill>
                  <a:srgbClr val="FFFFFF"/>
                </a:solidFill>
                <a:latin typeface="맑은 고딕"/>
              </a:rPr>
              <a:t>•  Far Sync와 자동 전환의 표시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SHOW CONFIGURATION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구성 전체를 한 화면에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구성 이름과 보호 모드</a:t>
            </a:r>
          </a:p>
          <a:p>
            <a:pPr algn="l">
              <a:spcAft>
                <a:spcPts val="1000"/>
              </a:spcAft>
            </a:pPr>
            <a:r>
              <a:rPr sz="1700" b="0">
                <a:solidFill>
                  <a:srgbClr val="222222"/>
                </a:solidFill>
                <a:latin typeface="맑은 고딕"/>
              </a:rPr>
              <a:t>•  들여쓰기는 리두가 흐르는 방향</a:t>
            </a:r>
          </a:p>
          <a:p>
            <a:pPr algn="l">
              <a:spcAft>
                <a:spcPts val="1000"/>
              </a:spcAft>
            </a:pPr>
            <a:r>
              <a:rPr sz="1700" b="0">
                <a:solidFill>
                  <a:srgbClr val="222222"/>
                </a:solidFill>
                <a:latin typeface="맑은 고딕"/>
              </a:rPr>
              <a:t>•  문제 구성원 아래 Warning·Error 줄과 코드</a:t>
            </a:r>
          </a:p>
          <a:p>
            <a:pPr algn="l">
              <a:spcAft>
                <a:spcPts val="1000"/>
              </a:spcAft>
            </a:pPr>
            <a:r>
              <a:rPr sz="1700" b="0">
                <a:solidFill>
                  <a:srgbClr val="222222"/>
                </a:solidFill>
                <a:latin typeface="맑은 고딕"/>
              </a:rPr>
              <a:t>•  쓰이지 않는 Far Sync는 (inactive)</a:t>
            </a:r>
          </a:p>
          <a:p>
            <a:pPr algn="l">
              <a:spcAft>
                <a:spcPts val="1000"/>
              </a:spcAft>
            </a:pPr>
            <a:r>
              <a:rPr sz="1700" b="0">
                <a:solidFill>
                  <a:srgbClr val="222222"/>
                </a:solidFill>
                <a:latin typeface="맑은 고딕"/>
              </a:rPr>
              <a:t>•  Fast-Start Failover 켜짐 여부, 구성 상태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SHOW CONFIGURATION의 변형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더 많이, 또는 지연만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VERBOSE: 구성 수준 속성까지 표시</a:t>
            </a:r>
          </a:p>
          <a:p>
            <a:pPr algn="l">
              <a:spcAft>
                <a:spcPts val="1000"/>
              </a:spcAft>
            </a:pPr>
            <a:r>
              <a:rPr sz="1700" b="0">
                <a:solidFill>
                  <a:srgbClr val="222222"/>
                </a:solidFill>
                <a:latin typeface="맑은 고딕"/>
              </a:rPr>
              <a:t>•  TraceLevel, CommunicationTimeout 등</a:t>
            </a:r>
          </a:p>
          <a:p>
            <a:pPr algn="l">
              <a:spcAft>
                <a:spcPts val="1000"/>
              </a:spcAft>
            </a:pPr>
            <a:r>
              <a:rPr sz="1700" b="0">
                <a:solidFill>
                  <a:srgbClr val="222222"/>
                </a:solidFill>
                <a:latin typeface="맑은 고딕"/>
              </a:rPr>
              <a:t>•  OperationTimeout, FSFO 관련 속성</a:t>
            </a:r>
          </a:p>
          <a:p>
            <a:pPr algn="l">
              <a:spcAft>
                <a:spcPts val="1000"/>
              </a:spcAft>
            </a:pPr>
            <a:r>
              <a:rPr sz="1700" b="0">
                <a:solidFill>
                  <a:srgbClr val="222222"/>
                </a:solidFill>
                <a:latin typeface="맑은 고딕"/>
              </a:rPr>
              <a:t>•  19c LAG 형태: 구성원별 지연을 모아 보기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SHOW DATABASE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구성원 하나의 요약</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Role, Intended State</a:t>
            </a:r>
          </a:p>
          <a:p>
            <a:pPr algn="l">
              <a:spcAft>
                <a:spcPts val="1000"/>
              </a:spcAft>
            </a:pPr>
            <a:r>
              <a:rPr sz="1700" b="0">
                <a:solidFill>
                  <a:srgbClr val="222222"/>
                </a:solidFill>
                <a:latin typeface="맑은 고딕"/>
              </a:rPr>
              <a:t>•  Transport Lag, Apply Lag와 computed 시점</a:t>
            </a:r>
          </a:p>
          <a:p>
            <a:pPr algn="l">
              <a:spcAft>
                <a:spcPts val="1000"/>
              </a:spcAft>
            </a:pPr>
            <a:r>
              <a:rPr sz="1700" b="0">
                <a:solidFill>
                  <a:srgbClr val="222222"/>
                </a:solidFill>
                <a:latin typeface="맑은 고딕"/>
              </a:rPr>
              <a:t>•  Average Apply Rate: 리두 생성 속도와 비교</a:t>
            </a:r>
          </a:p>
          <a:p>
            <a:pPr algn="l">
              <a:spcAft>
                <a:spcPts val="1000"/>
              </a:spcAft>
            </a:pPr>
            <a:r>
              <a:rPr sz="1700" b="0">
                <a:solidFill>
                  <a:srgbClr val="222222"/>
                </a:solidFill>
                <a:latin typeface="맑은 고딕"/>
              </a:rPr>
              <a:t>•  Real Time Query: ADG 옵션 기능(9장)</a:t>
            </a:r>
          </a:p>
          <a:p>
            <a:pPr algn="l">
              <a:spcAft>
                <a:spcPts val="1000"/>
              </a:spcAft>
            </a:pPr>
            <a:r>
              <a:rPr sz="1700" b="0">
                <a:solidFill>
                  <a:srgbClr val="222222"/>
                </a:solidFill>
                <a:latin typeface="맑은 고딕"/>
              </a:rPr>
              <a:t>•  경고·오류 목록과 Database Status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SHOW DATABASE VERBOSE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속성 전체와 (monitor) 표시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요약 뒤에 속성 전체를 이름 = 값으로 나열</a:t>
            </a:r>
          </a:p>
          <a:p>
            <a:pPr algn="l">
              <a:spcAft>
                <a:spcPts val="1000"/>
              </a:spcAft>
            </a:pPr>
            <a:r>
              <a:rPr sz="1700" b="0">
                <a:solidFill>
                  <a:srgbClr val="222222"/>
                </a:solidFill>
                <a:latin typeface="맑은 고딕"/>
              </a:rPr>
              <a:t>•  설정 속성: 값을 바꿀 수 있음</a:t>
            </a:r>
          </a:p>
          <a:p>
            <a:pPr algn="l">
              <a:spcAft>
                <a:spcPts val="1000"/>
              </a:spcAft>
            </a:pPr>
            <a:r>
              <a:rPr sz="1700" b="0">
                <a:solidFill>
                  <a:srgbClr val="222222"/>
                </a:solidFill>
                <a:latin typeface="맑은 고딕"/>
              </a:rPr>
              <a:t>•  모니터링 속성: 값 자리에 (monitor)만 표시</a:t>
            </a:r>
          </a:p>
          <a:p>
            <a:pPr algn="l">
              <a:spcAft>
                <a:spcPts val="1000"/>
              </a:spcAft>
            </a:pPr>
            <a:r>
              <a:rPr sz="1700" b="0">
                <a:solidFill>
                  <a:srgbClr val="222222"/>
                </a:solidFill>
                <a:latin typeface="맑은 고딕"/>
              </a:rPr>
              <a:t>•  모니터링 속성은 이름을 지정해 따로 조회</a:t>
            </a:r>
          </a:p>
          <a:p>
            <a:pPr algn="l">
              <a:spcAft>
                <a:spcPts val="1000"/>
              </a:spcAft>
            </a:pPr>
            <a:r>
              <a:rPr sz="1700" b="0">
                <a:solidFill>
                  <a:srgbClr val="222222"/>
                </a:solidFill>
                <a:latin typeface="맑은 고딕"/>
              </a:rPr>
              <a:t>•  철자가 틀리면 ORA-16538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Far Sync, 인스턴스, 자동 전환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모니터링 관점에서만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SHOW FAR_SYNC: Apply Lag 항목이 없음</a:t>
            </a:r>
          </a:p>
          <a:p>
            <a:pPr algn="l">
              <a:spcAft>
                <a:spcPts val="1000"/>
              </a:spcAft>
            </a:pPr>
            <a:r>
              <a:rPr sz="1700" b="0">
                <a:solidFill>
                  <a:srgbClr val="222222"/>
                </a:solidFill>
                <a:latin typeface="맑은 고딕"/>
              </a:rPr>
              <a:t>•  Far Sync 문제는 뒤의 Standby 지연으로 번짐</a:t>
            </a:r>
          </a:p>
          <a:p>
            <a:pPr algn="l">
              <a:spcAft>
                <a:spcPts val="1000"/>
              </a:spcAft>
            </a:pPr>
            <a:r>
              <a:rPr sz="1700" b="0">
                <a:solidFill>
                  <a:srgbClr val="222222"/>
                </a:solidFill>
                <a:latin typeface="맑은 고딕"/>
              </a:rPr>
              <a:t>•  SHOW INSTANCE: RAC처럼 인스턴스가 여럿일 때</a:t>
            </a:r>
          </a:p>
          <a:p>
            <a:pPr algn="l">
              <a:spcAft>
                <a:spcPts val="1000"/>
              </a:spcAft>
            </a:pPr>
            <a:r>
              <a:rPr sz="1700" b="0">
                <a:solidFill>
                  <a:srgbClr val="222222"/>
                </a:solidFill>
                <a:latin typeface="맑은 고딕"/>
              </a:rPr>
              <a:t>•  SHOW FAST_START FAILOVER: 설정과 Observer</a:t>
            </a:r>
          </a:p>
          <a:p>
            <a:pPr algn="l">
              <a:spcAft>
                <a:spcPts val="1000"/>
              </a:spcAft>
            </a:pPr>
            <a:r>
              <a:rPr sz="1700" b="0">
                <a:solidFill>
                  <a:srgbClr val="222222"/>
                </a:solidFill>
                <a:latin typeface="맑은 고딕"/>
              </a:rPr>
              <a:t>•  ORA-16819, 16820: Observer 부재 경고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SHOW로 문제를 좁히는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위에서 아래로, 한 단계씩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SHOW CONFIGURATION: 문제 구성원과 갱신 시각</a:t>
            </a:r>
          </a:p>
          <a:p>
            <a:pPr algn="l">
              <a:spcAft>
                <a:spcPts val="1000"/>
              </a:spcAft>
            </a:pPr>
            <a:r>
              <a:rPr sz="1700" b="0">
                <a:solidFill>
                  <a:srgbClr val="222222"/>
                </a:solidFill>
                <a:latin typeface="맑은 고딕"/>
              </a:rPr>
              <a:t>•  2. SHOW DATABASE / FAR_SYNC: 원인 코드</a:t>
            </a:r>
          </a:p>
          <a:p>
            <a:pPr algn="l">
              <a:spcAft>
                <a:spcPts val="1000"/>
              </a:spcAft>
            </a:pPr>
            <a:r>
              <a:rPr sz="1700" b="0">
                <a:solidFill>
                  <a:srgbClr val="222222"/>
                </a:solidFill>
                <a:latin typeface="맑은 고딕"/>
              </a:rPr>
              <a:t>•  3. 묶음 코드면 StatusReport</a:t>
            </a:r>
          </a:p>
          <a:p>
            <a:pPr algn="l">
              <a:spcAft>
                <a:spcPts val="1000"/>
              </a:spcAft>
            </a:pPr>
            <a:r>
              <a:rPr sz="1700" b="0">
                <a:solidFill>
                  <a:srgbClr val="222222"/>
                </a:solidFill>
                <a:latin typeface="맑은 고딕"/>
              </a:rPr>
              <a:t>•  3. 전송이면 LogXptStatus, 불일치면 Inconsistent</a:t>
            </a:r>
          </a:p>
          <a:p>
            <a:pPr algn="l">
              <a:spcAft>
                <a:spcPts val="1000"/>
              </a:spcAft>
            </a:pPr>
            <a:r>
              <a:rPr sz="1700" b="0">
                <a:solidFill>
                  <a:srgbClr val="222222"/>
                </a:solidFill>
                <a:latin typeface="맑은 고딕"/>
              </a:rPr>
              <a:t>•  4. 그래도 모호하면 drc 로그와 경고 로그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모니터링 전용 속성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읽기 전용, 조회할 때 계산</a:t>
            </a:r>
          </a:p>
          <a:p>
            <a:pPr algn="l">
              <a:spcAft>
                <a:spcPts val="800"/>
              </a:spcAft>
            </a:pPr>
            <a:r>
              <a:rPr sz="1600" b="0">
                <a:solidFill>
                  <a:srgbClr val="FFFFFF"/>
                </a:solidFill>
                <a:latin typeface="맑은 고딕"/>
              </a:rPr>
              <a:t>•  보내는 쪽과 받는 쪽의 큐</a:t>
            </a:r>
          </a:p>
          <a:p>
            <a:pPr algn="l">
              <a:spcAft>
                <a:spcPts val="800"/>
              </a:spcAft>
            </a:pPr>
            <a:r>
              <a:rPr sz="1600" b="0">
                <a:solidFill>
                  <a:srgbClr val="FFFFFF"/>
                </a:solidFill>
                <a:latin typeface="맑은 고딕"/>
              </a:rPr>
              <a:t>•  속성 불일치와 대기 이벤트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설정 속성과 모니터링 속성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값을 주면 거부된다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모니터링 속성은 읽기 전용</a:t>
            </a:r>
          </a:p>
          <a:p>
            <a:pPr algn="l">
              <a:spcAft>
                <a:spcPts val="1000"/>
              </a:spcAft>
            </a:pPr>
            <a:r>
              <a:rPr sz="1700" b="0">
                <a:solidFill>
                  <a:srgbClr val="222222"/>
                </a:solidFill>
                <a:latin typeface="맑은 고딕"/>
              </a:rPr>
              <a:t>•  ORA-16538: 그런 속성이 없음</a:t>
            </a:r>
          </a:p>
          <a:p>
            <a:pPr algn="l">
              <a:spcAft>
                <a:spcPts val="1000"/>
              </a:spcAft>
            </a:pPr>
            <a:r>
              <a:rPr sz="1700" b="0">
                <a:solidFill>
                  <a:srgbClr val="222222"/>
                </a:solidFill>
                <a:latin typeface="맑은 고딕"/>
              </a:rPr>
              <a:t>•  ORA-16790: 값이 허용 범위 밖</a:t>
            </a:r>
          </a:p>
          <a:p>
            <a:pPr algn="l">
              <a:spcAft>
                <a:spcPts val="1000"/>
              </a:spcAft>
            </a:pPr>
            <a:r>
              <a:rPr sz="1700" b="0">
                <a:solidFill>
                  <a:srgbClr val="222222"/>
                </a:solidFill>
                <a:latin typeface="맑은 고딕"/>
              </a:rPr>
              <a:t>•  ORA-16568: 읽기 전용 속성에 값을 줌</a:t>
            </a:r>
          </a:p>
          <a:p>
            <a:pPr algn="l">
              <a:spcAft>
                <a:spcPts val="1000"/>
              </a:spcAft>
            </a:pPr>
            <a:r>
              <a:rPr sz="1700" b="0">
                <a:solidFill>
                  <a:srgbClr val="222222"/>
                </a:solidFill>
                <a:latin typeface="맑은 고딕"/>
              </a:rPr>
              <a:t>•  조회 때마다 통신하므로 반복 조회는 피함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StatusReport와 LogXptStatus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문제 목록과 전송 상태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StatusReport: 인스턴스별 심각도와 오류 문장</a:t>
            </a:r>
          </a:p>
          <a:p>
            <a:pPr algn="l">
              <a:spcAft>
                <a:spcPts val="1000"/>
              </a:spcAft>
            </a:pPr>
            <a:r>
              <a:rPr sz="1700" b="0">
                <a:solidFill>
                  <a:srgbClr val="222222"/>
                </a:solidFill>
                <a:latin typeface="맑은 고딕"/>
              </a:rPr>
              <a:t>•  행이 없으면 정상</a:t>
            </a:r>
          </a:p>
          <a:p>
            <a:pPr algn="l">
              <a:spcAft>
                <a:spcPts val="1000"/>
              </a:spcAft>
            </a:pPr>
            <a:r>
              <a:rPr sz="1700" b="0">
                <a:solidFill>
                  <a:srgbClr val="222222"/>
                </a:solidFill>
                <a:latin typeface="맑은 고딕"/>
              </a:rPr>
              <a:t>•  LogXptStatus: Primary에서 조회</a:t>
            </a:r>
          </a:p>
          <a:p>
            <a:pPr algn="l">
              <a:spcAft>
                <a:spcPts val="1000"/>
              </a:spcAft>
            </a:pPr>
            <a:r>
              <a:rPr sz="1700" b="0">
                <a:solidFill>
                  <a:srgbClr val="222222"/>
                </a:solidFill>
                <a:latin typeface="맑은 고딕"/>
              </a:rPr>
              <a:t>•  목적지별 STATUS와 ERROR</a:t>
            </a:r>
          </a:p>
          <a:p>
            <a:pPr algn="l">
              <a:spcAft>
                <a:spcPts val="1000"/>
              </a:spcAft>
            </a:pPr>
            <a:r>
              <a:rPr sz="1700" b="0">
                <a:solidFill>
                  <a:srgbClr val="222222"/>
                </a:solidFill>
                <a:latin typeface="맑은 고딕"/>
              </a:rPr>
              <a:t>•  Net 계열 오류면 3장의 접속 구성부터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속성 불일치 두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메모리, SPFILE, 구성 파일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InconsistentProperties: 세 값이 다른 항목</a:t>
            </a:r>
          </a:p>
          <a:p>
            <a:pPr algn="l">
              <a:spcAft>
                <a:spcPts val="1000"/>
              </a:spcAft>
            </a:pPr>
            <a:r>
              <a:rPr sz="1700" b="0">
                <a:solidFill>
                  <a:srgbClr val="222222"/>
                </a:solidFill>
                <a:latin typeface="맑은 고딕"/>
              </a:rPr>
              <a:t>•  MEMORY_VALUE, SPFILE_VALUE, BROKER_VALUE</a:t>
            </a:r>
          </a:p>
          <a:p>
            <a:pPr algn="l">
              <a:spcAft>
                <a:spcPts val="1000"/>
              </a:spcAft>
            </a:pPr>
            <a:r>
              <a:rPr sz="1700" b="0">
                <a:solidFill>
                  <a:srgbClr val="222222"/>
                </a:solidFill>
                <a:latin typeface="맑은 고딕"/>
              </a:rPr>
              <a:t>•  InconsistentLogXptProps: 전송 속성만 비교</a:t>
            </a:r>
          </a:p>
          <a:p>
            <a:pPr algn="l">
              <a:spcAft>
                <a:spcPts val="1000"/>
              </a:spcAft>
            </a:pPr>
            <a:r>
              <a:rPr sz="1700" b="0">
                <a:solidFill>
                  <a:srgbClr val="222222"/>
                </a:solidFill>
                <a:latin typeface="맑은 고딕"/>
              </a:rPr>
              <a:t>•  경고 ORA-16714, 16715로 드러남</a:t>
            </a:r>
          </a:p>
          <a:p>
            <a:pPr algn="l">
              <a:spcAft>
                <a:spcPts val="1000"/>
              </a:spcAft>
            </a:pPr>
            <a:r>
              <a:rPr sz="1700" b="0">
                <a:solidFill>
                  <a:srgbClr val="222222"/>
                </a:solidFill>
                <a:latin typeface="맑은 고딕"/>
              </a:rPr>
              <a:t>•  Broker 관리 파라미터는 SQL로 바꾸지 않음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SendQEntries와 RecvQEntries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보낼 것과 적용할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SendQEntries: Primary에서 아직 못 보낸 로그</a:t>
            </a:r>
          </a:p>
          <a:p>
            <a:pPr algn="l">
              <a:spcAft>
                <a:spcPts val="1000"/>
              </a:spcAft>
            </a:pPr>
            <a:r>
              <a:rPr sz="1700" b="0">
                <a:solidFill>
                  <a:srgbClr val="222222"/>
                </a:solidFill>
                <a:latin typeface="맑은 고딕"/>
              </a:rPr>
              <a:t>•  정상이면 CURRENT 한 줄 정도</a:t>
            </a:r>
          </a:p>
          <a:p>
            <a:pPr algn="l">
              <a:spcAft>
                <a:spcPts val="1000"/>
              </a:spcAft>
            </a:pPr>
            <a:r>
              <a:rPr sz="1700" b="0">
                <a:solidFill>
                  <a:srgbClr val="222222"/>
                </a:solidFill>
                <a:latin typeface="맑은 고딕"/>
              </a:rPr>
              <a:t>•  RecvQEntries: Standby가 받고 아직 적용 안 한 로그</a:t>
            </a:r>
          </a:p>
          <a:p>
            <a:pPr algn="l">
              <a:spcAft>
                <a:spcPts val="1000"/>
              </a:spcAft>
            </a:pPr>
            <a:r>
              <a:rPr sz="1700" b="0">
                <a:solidFill>
                  <a:srgbClr val="222222"/>
                </a:solidFill>
                <a:latin typeface="맑은 고딕"/>
              </a:rPr>
              <a:t>•  보낼 큐가 길면 전송 구간 문제</a:t>
            </a:r>
          </a:p>
          <a:p>
            <a:pPr algn="l">
              <a:spcAft>
                <a:spcPts val="1000"/>
              </a:spcAft>
            </a:pPr>
            <a:r>
              <a:rPr sz="1700" b="0">
                <a:solidFill>
                  <a:srgbClr val="222222"/>
                </a:solidFill>
                <a:latin typeface="맑은 고딕"/>
              </a:rPr>
              <a:t>•  받은 큐가 길면 적용 구간 문제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큐 두 개로 병목 가리기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야간 배치 중 apply lag 경고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경고: ORA-16853, 처음 의심은 네트워크</a:t>
            </a:r>
          </a:p>
          <a:p>
            <a:pPr algn="l">
              <a:spcAft>
                <a:spcPts val="1000"/>
              </a:spcAft>
            </a:pPr>
            <a:r>
              <a:rPr sz="1700" b="0">
                <a:solidFill>
                  <a:srgbClr val="222222"/>
                </a:solidFill>
                <a:latin typeface="맑은 고딕"/>
              </a:rPr>
              <a:t>•  SendQEntries: CURRENT 한 줄, 전송 정상</a:t>
            </a:r>
          </a:p>
          <a:p>
            <a:pPr algn="l">
              <a:spcAft>
                <a:spcPts val="1000"/>
              </a:spcAft>
            </a:pPr>
            <a:r>
              <a:rPr sz="1700" b="0">
                <a:solidFill>
                  <a:srgbClr val="222222"/>
                </a:solidFill>
                <a:latin typeface="맑은 고딕"/>
              </a:rPr>
              <a:t>•  RecvQEntries: NOT_APPLIED 다수, 적용 지연</a:t>
            </a:r>
          </a:p>
          <a:p>
            <a:pPr algn="l">
              <a:spcAft>
                <a:spcPts val="1000"/>
              </a:spcAft>
            </a:pPr>
            <a:r>
              <a:rPr sz="1700" b="0">
                <a:solidFill>
                  <a:srgbClr val="222222"/>
                </a:solidFill>
                <a:latin typeface="맑은 고딕"/>
              </a:rPr>
              <a:t>•  TopWaitEvents: 데이터 파일 읽기 대기 상위</a:t>
            </a:r>
          </a:p>
          <a:p>
            <a:pPr algn="l">
              <a:spcAft>
                <a:spcPts val="1000"/>
              </a:spcAft>
            </a:pPr>
            <a:r>
              <a:rPr sz="1700" b="0">
                <a:solidFill>
                  <a:srgbClr val="222222"/>
                </a:solidFill>
                <a:latin typeface="맑은 고딕"/>
              </a:rPr>
              <a:t>•  대응: 배치 분산, Standby I/O 점검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TopWaitEvents와 논리 Standby 속성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대기 성격과 SQL Apply 정보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TopWaitEvents: 대기 시간 상위 5개 이벤트</a:t>
            </a:r>
          </a:p>
          <a:p>
            <a:pPr algn="l">
              <a:spcAft>
                <a:spcPts val="1000"/>
              </a:spcAft>
            </a:pPr>
            <a:r>
              <a:rPr sz="1700" b="0">
                <a:solidFill>
                  <a:srgbClr val="222222"/>
                </a:solidFill>
                <a:latin typeface="맑은 고딕"/>
              </a:rPr>
              <a:t>•  Standby에서는 유휴 대기가 상위인 것이 보통</a:t>
            </a:r>
          </a:p>
          <a:p>
            <a:pPr algn="l">
              <a:spcAft>
                <a:spcPts val="1000"/>
              </a:spcAft>
            </a:pPr>
            <a:r>
              <a:rPr sz="1700" b="0">
                <a:solidFill>
                  <a:srgbClr val="222222"/>
                </a:solidFill>
                <a:latin typeface="맑은 고딕"/>
              </a:rPr>
              <a:t>•  적용 병목이면 I/O 계열이 올라옴</a:t>
            </a:r>
          </a:p>
          <a:p>
            <a:pPr algn="l">
              <a:spcAft>
                <a:spcPts val="1000"/>
              </a:spcAft>
            </a:pPr>
            <a:r>
              <a:rPr sz="1700" b="0">
                <a:solidFill>
                  <a:srgbClr val="222222"/>
                </a:solidFill>
                <a:latin typeface="맑은 고딕"/>
              </a:rPr>
              <a:t>•  LsbyFailedTxnInfo: SQL Apply를 멈춘 트랜잭션</a:t>
            </a:r>
          </a:p>
          <a:p>
            <a:pPr algn="l">
              <a:spcAft>
                <a:spcPts val="1000"/>
              </a:spcAft>
            </a:pPr>
            <a:r>
              <a:rPr sz="1700" b="0">
                <a:solidFill>
                  <a:srgbClr val="222222"/>
                </a:solidFill>
                <a:latin typeface="맑은 고딕"/>
              </a:rPr>
              <a:t>•  LsbyParameters: MAX_SGA, MAX_SERVERS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지연 임계값과 경고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임계값 속성</a:t>
            </a:r>
          </a:p>
          <a:p>
            <a:pPr algn="l">
              <a:spcAft>
                <a:spcPts val="800"/>
              </a:spcAft>
            </a:pPr>
            <a:r>
              <a:rPr sz="1600" b="0">
                <a:solidFill>
                  <a:srgbClr val="FFFFFF"/>
                </a:solidFill>
                <a:latin typeface="맑은 고딕"/>
              </a:rPr>
              <a:t>•  경고가 상태로 번지는 경로</a:t>
            </a:r>
          </a:p>
          <a:p>
            <a:pPr algn="l">
              <a:spcAft>
                <a:spcPts val="800"/>
              </a:spcAft>
            </a:pPr>
            <a:r>
              <a:rPr sz="1600" b="0">
                <a:solidFill>
                  <a:srgbClr val="FFFFFF"/>
                </a:solidFill>
                <a:latin typeface="맑은 고딕"/>
              </a:rPr>
              <a:t>•  업무 기준으로 값을 정한다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임계값 속성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19c 기본값은 모두 30초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ApplyLagThreshold: apply lag, ORA-16853</a:t>
            </a:r>
          </a:p>
          <a:p>
            <a:pPr algn="l">
              <a:spcAft>
                <a:spcPts val="1000"/>
              </a:spcAft>
            </a:pPr>
            <a:r>
              <a:rPr sz="1700" b="0">
                <a:solidFill>
                  <a:srgbClr val="222222"/>
                </a:solidFill>
                <a:latin typeface="맑은 고딕"/>
              </a:rPr>
              <a:t>•  TransportLagThreshold: transport lag, ORA-16855</a:t>
            </a:r>
          </a:p>
          <a:p>
            <a:pPr algn="l">
              <a:spcAft>
                <a:spcPts val="1000"/>
              </a:spcAft>
            </a:pPr>
            <a:r>
              <a:rPr sz="1700" b="0">
                <a:solidFill>
                  <a:srgbClr val="222222"/>
                </a:solidFill>
                <a:latin typeface="맑은 고딕"/>
              </a:rPr>
              <a:t>•  TransportDisconnectedThreshold: ORA-16857</a:t>
            </a:r>
          </a:p>
          <a:p>
            <a:pPr algn="l">
              <a:spcAft>
                <a:spcPts val="1000"/>
              </a:spcAft>
            </a:pPr>
            <a:r>
              <a:rPr sz="1700" b="0">
                <a:solidFill>
                  <a:srgbClr val="222222"/>
                </a:solidFill>
                <a:latin typeface="맑은 고딕"/>
              </a:rPr>
              <a:t>•  단위는 초, 구성원마다 지정</a:t>
            </a:r>
          </a:p>
          <a:p>
            <a:pPr algn="l">
              <a:spcAft>
                <a:spcPts val="1000"/>
              </a:spcAft>
            </a:pPr>
            <a:r>
              <a:rPr sz="1700" b="0">
                <a:solidFill>
                  <a:srgbClr val="222222"/>
                </a:solidFill>
                <a:latin typeface="맑은 고딕"/>
              </a:rPr>
              <a:t>•  0이면 그 항목을 감시하지 않음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경고가 상태로 번지는 경로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구성원에서 구성 전체로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임계값 초과 → 구성원 WARNING</a:t>
            </a:r>
          </a:p>
          <a:p>
            <a:pPr algn="l">
              <a:spcAft>
                <a:spcPts val="1000"/>
              </a:spcAft>
            </a:pPr>
            <a:r>
              <a:rPr sz="1700" b="0">
                <a:solidFill>
                  <a:srgbClr val="222222"/>
                </a:solidFill>
                <a:latin typeface="맑은 고딕"/>
              </a:rPr>
              <a:t>•  구성원 WARNING → 구성 WARNING</a:t>
            </a:r>
          </a:p>
          <a:p>
            <a:pPr algn="l">
              <a:spcAft>
                <a:spcPts val="1000"/>
              </a:spcAft>
            </a:pPr>
            <a:r>
              <a:rPr sz="1700" b="0">
                <a:solidFill>
                  <a:srgbClr val="222222"/>
                </a:solidFill>
                <a:latin typeface="맑은 고딕"/>
              </a:rPr>
              <a:t>•  다음 상태 점검에서 반영, 즉시는 아님</a:t>
            </a:r>
          </a:p>
          <a:p>
            <a:pPr algn="l">
              <a:spcAft>
                <a:spcPts val="1000"/>
              </a:spcAft>
            </a:pPr>
            <a:r>
              <a:rPr sz="1700" b="0">
                <a:solidFill>
                  <a:srgbClr val="222222"/>
                </a:solidFill>
                <a:latin typeface="맑은 고딕"/>
              </a:rPr>
              <a:t>•  내려가면 SUCCESS로 복귀, 이력은 로그에</a:t>
            </a:r>
          </a:p>
          <a:p>
            <a:pPr algn="l">
              <a:spcAft>
                <a:spcPts val="1000"/>
              </a:spcAft>
            </a:pPr>
            <a:r>
              <a:rPr sz="1700" b="0">
                <a:solidFill>
                  <a:srgbClr val="222222"/>
                </a:solidFill>
                <a:latin typeface="맑은 고딕"/>
              </a:rPr>
              <a:t>•  임계값은 판정만 바꾸고 전송·적용은 그대로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임계값을 정하는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RPO와 RTO에서 거꾸로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TransportLagThreshold는 RPO 쪽</a:t>
            </a:r>
          </a:p>
          <a:p>
            <a:pPr algn="l">
              <a:spcAft>
                <a:spcPts val="1000"/>
              </a:spcAft>
            </a:pPr>
            <a:r>
              <a:rPr sz="1700" b="0">
                <a:solidFill>
                  <a:srgbClr val="222222"/>
                </a:solidFill>
                <a:latin typeface="맑은 고딕"/>
              </a:rPr>
              <a:t>•  ApplyLagThreshold는 RTO 쪽</a:t>
            </a:r>
          </a:p>
          <a:p>
            <a:pPr algn="l">
              <a:spcAft>
                <a:spcPts val="1000"/>
              </a:spcAft>
            </a:pPr>
            <a:r>
              <a:rPr sz="1700" b="0">
                <a:solidFill>
                  <a:srgbClr val="222222"/>
                </a:solidFill>
                <a:latin typeface="맑은 고딕"/>
              </a:rPr>
              <a:t>•  평소 지연 분포를 먼저 기록</a:t>
            </a:r>
          </a:p>
          <a:p>
            <a:pPr algn="l">
              <a:spcAft>
                <a:spcPts val="1000"/>
              </a:spcAft>
            </a:pPr>
            <a:r>
              <a:rPr sz="1700" b="0">
                <a:solidFill>
                  <a:srgbClr val="222222"/>
                </a:solidFill>
                <a:latin typeface="맑은 고딕"/>
              </a:rPr>
              <a:t>•  너무 짧으면 경고 피로, 너무 길면 무의미</a:t>
            </a:r>
          </a:p>
          <a:p>
            <a:pPr algn="l">
              <a:spcAft>
                <a:spcPts val="1000"/>
              </a:spcAft>
            </a:pPr>
            <a:r>
              <a:rPr sz="1700" b="0">
                <a:solidFill>
                  <a:srgbClr val="222222"/>
                </a:solidFill>
                <a:latin typeface="맑은 고딕"/>
              </a:rPr>
              <a:t>•  ASYNC 원거리 Standby는 별도 기준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지연 적용과 임계값</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DelayMins를 쓰면 함께 바꾼다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DelayMins: 실수 대비 시간을 산다</a:t>
            </a:r>
          </a:p>
          <a:p>
            <a:pPr algn="l">
              <a:spcAft>
                <a:spcPts val="1000"/>
              </a:spcAft>
            </a:pPr>
            <a:r>
              <a:rPr sz="1700" b="0">
                <a:solidFill>
                  <a:srgbClr val="222222"/>
                </a:solidFill>
                <a:latin typeface="맑은 고딕"/>
              </a:rPr>
              <a:t>•  대가: Failover 전 밀린 리두 적용 시간</a:t>
            </a:r>
          </a:p>
          <a:p>
            <a:pPr algn="l">
              <a:spcAft>
                <a:spcPts val="1000"/>
              </a:spcAft>
            </a:pPr>
            <a:r>
              <a:rPr sz="1700" b="0">
                <a:solidFill>
                  <a:srgbClr val="222222"/>
                </a:solidFill>
                <a:latin typeface="맑은 고딕"/>
              </a:rPr>
              <a:t>•  ApplyLagThreshold는 지연 시간보다 넉넉하게</a:t>
            </a:r>
          </a:p>
          <a:p>
            <a:pPr algn="l">
              <a:spcAft>
                <a:spcPts val="1000"/>
              </a:spcAft>
            </a:pPr>
            <a:r>
              <a:rPr sz="1700" b="0">
                <a:solidFill>
                  <a:srgbClr val="222222"/>
                </a:solidFill>
                <a:latin typeface="맑은 고딕"/>
              </a:rPr>
              <a:t>•  TransportLagThreshold는 그대로 둔다</a:t>
            </a:r>
          </a:p>
          <a:p>
            <a:pPr algn="l">
              <a:spcAft>
                <a:spcPts val="1000"/>
              </a:spcAft>
            </a:pPr>
            <a:r>
              <a:rPr sz="1700" b="0">
                <a:solidFill>
                  <a:srgbClr val="222222"/>
                </a:solidFill>
                <a:latin typeface="맑은 고딕"/>
              </a:rPr>
              <a:t>•  전송 지연은 여전히 실제 문제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VALIDATE 계열 검증 명령</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여섯 가지 형태</a:t>
            </a:r>
          </a:p>
          <a:p>
            <a:pPr algn="l">
              <a:spcAft>
                <a:spcPts val="800"/>
              </a:spcAft>
            </a:pPr>
            <a:r>
              <a:rPr sz="1600" b="0">
                <a:solidFill>
                  <a:srgbClr val="FFFFFF"/>
                </a:solidFill>
                <a:latin typeface="맑은 고딕"/>
              </a:rPr>
              <a:t>•  전환 준비, 파라미터, 블록, 접속 경로</a:t>
            </a:r>
          </a:p>
          <a:p>
            <a:pPr algn="l">
              <a:spcAft>
                <a:spcPts val="800"/>
              </a:spcAft>
            </a:pPr>
            <a:r>
              <a:rPr sz="1600" b="0">
                <a:solidFill>
                  <a:srgbClr val="FFFFFF"/>
                </a:solidFill>
                <a:latin typeface="맑은 고딕"/>
              </a:rPr>
              <a:t>•  결과 파일을 남기는 명령</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여섯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검사하는가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DATABASE: 역할 전환 준비 상태</a:t>
            </a:r>
          </a:p>
          <a:p>
            <a:pPr algn="l">
              <a:spcAft>
                <a:spcPts val="1000"/>
              </a:spcAft>
            </a:pPr>
            <a:r>
              <a:rPr sz="1700" b="0">
                <a:solidFill>
                  <a:srgbClr val="222222"/>
                </a:solidFill>
                <a:latin typeface="맑은 고딕"/>
              </a:rPr>
              <a:t>•  DATABASE ... SPFILE: 파라미터 차이</a:t>
            </a:r>
          </a:p>
          <a:p>
            <a:pPr algn="l">
              <a:spcAft>
                <a:spcPts val="1000"/>
              </a:spcAft>
            </a:pPr>
            <a:r>
              <a:rPr sz="1700" b="0">
                <a:solidFill>
                  <a:srgbClr val="222222"/>
                </a:solidFill>
                <a:latin typeface="맑은 고딕"/>
              </a:rPr>
              <a:t>•  DATABASE ... DATAFILE: 블록 비교, lost write</a:t>
            </a:r>
          </a:p>
          <a:p>
            <a:pPr algn="l">
              <a:spcAft>
                <a:spcPts val="1000"/>
              </a:spcAft>
            </a:pPr>
            <a:r>
              <a:rPr sz="1700" b="0">
                <a:solidFill>
                  <a:srgbClr val="222222"/>
                </a:solidFill>
                <a:latin typeface="맑은 고딕"/>
              </a:rPr>
              <a:t>•  FAR_SYNC: Far Sync 준비 상태</a:t>
            </a:r>
          </a:p>
          <a:p>
            <a:pPr algn="l">
              <a:spcAft>
                <a:spcPts val="1000"/>
              </a:spcAft>
            </a:pPr>
            <a:r>
              <a:rPr sz="1700" b="0">
                <a:solidFill>
                  <a:srgbClr val="222222"/>
                </a:solidFill>
                <a:latin typeface="맑은 고딕"/>
              </a:rPr>
              <a:t>•  NETWORK CONFIGURATION, STATIC CONNECT IDENTIFIER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DATABASE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역할 전환을 기준으로 한 점검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Ready for Switchover / Ready for Failover</a:t>
            </a:r>
          </a:p>
          <a:p>
            <a:pPr algn="l">
              <a:spcAft>
                <a:spcPts val="1000"/>
              </a:spcAft>
            </a:pPr>
            <a:r>
              <a:rPr sz="1700" b="0">
                <a:solidFill>
                  <a:srgbClr val="222222"/>
                </a:solidFill>
                <a:latin typeface="맑은 고딕"/>
              </a:rPr>
              <a:t>•  Flashback Database Status: Reinstate 조건</a:t>
            </a:r>
          </a:p>
          <a:p>
            <a:pPr algn="l">
              <a:spcAft>
                <a:spcPts val="1000"/>
              </a:spcAft>
            </a:pPr>
            <a:r>
              <a:rPr sz="1700" b="0">
                <a:solidFill>
                  <a:srgbClr val="222222"/>
                </a:solidFill>
                <a:latin typeface="맑은 고딕"/>
              </a:rPr>
              <a:t>•  Managed by Clusterware</a:t>
            </a:r>
          </a:p>
          <a:p>
            <a:pPr algn="l">
              <a:spcAft>
                <a:spcPts val="1000"/>
              </a:spcAft>
            </a:pPr>
            <a:r>
              <a:rPr sz="1700" b="0">
                <a:solidFill>
                  <a:srgbClr val="222222"/>
                </a:solidFill>
                <a:latin typeface="맑은 고딕"/>
              </a:rPr>
              <a:t>•  정적 접속 식별자로 실제 접속 시험</a:t>
            </a:r>
          </a:p>
          <a:p>
            <a:pPr algn="l">
              <a:spcAft>
                <a:spcPts val="1000"/>
              </a:spcAft>
            </a:pPr>
            <a:r>
              <a:rPr sz="1700" b="0">
                <a:solidFill>
                  <a:srgbClr val="222222"/>
                </a:solidFill>
                <a:latin typeface="맑은 고딕"/>
              </a:rPr>
              <a:t>•  Log Files Cleared: 전환 후 쓸 로그 준비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VERBOSE와 로그 구성 계산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현재와 전환 후를 함께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용량 정보, 임시 파일 수, 온라인 이동 여부</a:t>
            </a:r>
          </a:p>
          <a:p>
            <a:pPr algn="l">
              <a:spcAft>
                <a:spcPts val="1000"/>
              </a:spcAft>
            </a:pPr>
            <a:r>
              <a:rPr sz="1700" b="0">
                <a:solidFill>
                  <a:srgbClr val="222222"/>
                </a:solidFill>
                <a:latin typeface="맑은 고딕"/>
              </a:rPr>
              <a:t>•  적용·전송 정보, Gap Status</a:t>
            </a:r>
          </a:p>
          <a:p>
            <a:pPr algn="l">
              <a:spcAft>
                <a:spcPts val="1000"/>
              </a:spcAft>
            </a:pPr>
            <a:r>
              <a:rPr sz="1700" b="0">
                <a:solidFill>
                  <a:srgbClr val="222222"/>
                </a:solidFill>
                <a:latin typeface="맑은 고딕"/>
              </a:rPr>
              <a:t>•  Current: 지금의 ORL과 상대 SRL 비교</a:t>
            </a:r>
          </a:p>
          <a:p>
            <a:pPr algn="l">
              <a:spcAft>
                <a:spcPts val="1000"/>
              </a:spcAft>
            </a:pPr>
            <a:r>
              <a:rPr sz="1700" b="0">
                <a:solidFill>
                  <a:srgbClr val="222222"/>
                </a:solidFill>
                <a:latin typeface="맑은 고딕"/>
              </a:rPr>
              <a:t>•  Future: 역할이 바뀐 뒤의 ORL과 SRL 비교</a:t>
            </a:r>
          </a:p>
          <a:p>
            <a:pPr algn="l">
              <a:spcAft>
                <a:spcPts val="1000"/>
              </a:spcAft>
            </a:pPr>
            <a:r>
              <a:rPr sz="1700" b="0">
                <a:solidFill>
                  <a:srgbClr val="222222"/>
                </a:solidFill>
                <a:latin typeface="맑은 고딕"/>
              </a:rPr>
              <a:t>•  Primary에도 SRL이 필요한 이유</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DATABASE SPFILE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Primary와 Standby의 파라미터 차이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값이 다른 파라미터만 나열</a:t>
            </a:r>
          </a:p>
          <a:p>
            <a:pPr algn="l">
              <a:spcAft>
                <a:spcPts val="1000"/>
              </a:spcAft>
            </a:pPr>
            <a:r>
              <a:rPr sz="1700" b="0">
                <a:solidFill>
                  <a:srgbClr val="222222"/>
                </a:solidFill>
                <a:latin typeface="맑은 고딕"/>
              </a:rPr>
              <a:t>•  접속은 DGConnectIdentifier 사용</a:t>
            </a:r>
          </a:p>
          <a:p>
            <a:pPr algn="l">
              <a:spcAft>
                <a:spcPts val="1000"/>
              </a:spcAft>
            </a:pPr>
            <a:r>
              <a:rPr sz="1700" b="0">
                <a:solidFill>
                  <a:srgbClr val="222222"/>
                </a:solidFill>
                <a:latin typeface="맑은 고딕"/>
              </a:rPr>
              <a:t>•  전환 후 성능 차이를 미리 발견</a:t>
            </a:r>
          </a:p>
          <a:p>
            <a:pPr algn="l">
              <a:spcAft>
                <a:spcPts val="1000"/>
              </a:spcAft>
            </a:pPr>
            <a:r>
              <a:rPr sz="1700" b="0">
                <a:solidFill>
                  <a:srgbClr val="222222"/>
                </a:solidFill>
                <a:latin typeface="맑은 고딕"/>
              </a:rPr>
              <a:t>•  원래 달라야 하는 항목도 섞여 나옴</a:t>
            </a:r>
          </a:p>
          <a:p>
            <a:pPr algn="l">
              <a:spcAft>
                <a:spcPts val="1000"/>
              </a:spcAft>
            </a:pPr>
            <a:r>
              <a:rPr sz="1700" b="0">
                <a:solidFill>
                  <a:srgbClr val="222222"/>
                </a:solidFill>
                <a:latin typeface="맑은 고딕"/>
              </a:rPr>
              <a:t>•  표기만 다른 항목도 보고됨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DATABASE DATAFILE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블록 단위 비교와 lost write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내부적으로 DBMS_DBCOMP 호출</a:t>
            </a:r>
          </a:p>
          <a:p>
            <a:pPr algn="l">
              <a:spcAft>
                <a:spcPts val="1000"/>
              </a:spcAft>
            </a:pPr>
            <a:r>
              <a:rPr sz="1700" b="0">
                <a:solidFill>
                  <a:srgbClr val="222222"/>
                </a:solidFill>
                <a:latin typeface="맑은 고딕"/>
              </a:rPr>
              <a:t>•  Primary나 ALL이면 모든 Standby와 비교</a:t>
            </a:r>
          </a:p>
          <a:p>
            <a:pPr algn="l">
              <a:spcAft>
                <a:spcPts val="1000"/>
              </a:spcAft>
            </a:pPr>
            <a:r>
              <a:rPr sz="1700" b="0">
                <a:solidFill>
                  <a:srgbClr val="222222"/>
                </a:solidFill>
                <a:latin typeface="맑은 고딕"/>
              </a:rPr>
              <a:t>•  OUTPUT 필수, 디렉터리 포함 시 DGM-17138</a:t>
            </a:r>
          </a:p>
          <a:p>
            <a:pPr algn="l">
              <a:spcAft>
                <a:spcPts val="1000"/>
              </a:spcAft>
            </a:pPr>
            <a:r>
              <a:rPr sz="1700" b="0">
                <a:solidFill>
                  <a:srgbClr val="222222"/>
                </a:solidFill>
                <a:latin typeface="맑은 고딕"/>
              </a:rPr>
              <a:t>•  결과는 대상 호스트의 trace 디렉터리</a:t>
            </a:r>
          </a:p>
          <a:p>
            <a:pPr algn="l">
              <a:spcAft>
                <a:spcPts val="1000"/>
              </a:spcAft>
            </a:pPr>
            <a:r>
              <a:rPr sz="1700" b="0">
                <a:solidFill>
                  <a:srgbClr val="222222"/>
                </a:solidFill>
                <a:latin typeface="맑은 고딕"/>
              </a:rPr>
              <a:t>•  시작 메시지만 내고 돌아온다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DATAFILE 결과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0이어야 하는 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SAMEV, SAMEV&amp;C: 같은 블록 쌍</a:t>
            </a:r>
          </a:p>
          <a:p>
            <a:pPr algn="l">
              <a:spcAft>
                <a:spcPts val="1000"/>
              </a:spcAft>
            </a:pPr>
            <a:r>
              <a:rPr sz="1700" b="0">
                <a:solidFill>
                  <a:srgbClr val="222222"/>
                </a:solidFill>
                <a:latin typeface="맑은 고딕"/>
              </a:rPr>
              <a:t>•  DIFFV: 적용 중이면 생길 수 있음</a:t>
            </a:r>
          </a:p>
          <a:p>
            <a:pPr algn="l">
              <a:spcAft>
                <a:spcPts val="1000"/>
              </a:spcAft>
            </a:pPr>
            <a:r>
              <a:rPr sz="1700" b="0">
                <a:solidFill>
                  <a:srgbClr val="222222"/>
                </a:solidFill>
                <a:latin typeface="맑은 고딕"/>
              </a:rPr>
              <a:t>•  LWLOC, LWRMT: lost write, 0이어야 함</a:t>
            </a:r>
          </a:p>
          <a:p>
            <a:pPr algn="l">
              <a:spcAft>
                <a:spcPts val="1000"/>
              </a:spcAft>
            </a:pPr>
            <a:r>
              <a:rPr sz="1700" b="0">
                <a:solidFill>
                  <a:srgbClr val="222222"/>
                </a:solidFill>
                <a:latin typeface="맑은 고딕"/>
              </a:rPr>
              <a:t>•  DIFFPAIR: 버전 같은데 내용 다름, 0이어야 함</a:t>
            </a:r>
          </a:p>
          <a:p>
            <a:pPr algn="l">
              <a:spcAft>
                <a:spcPts val="1000"/>
              </a:spcAft>
            </a:pPr>
            <a:r>
              <a:rPr sz="1700" b="0">
                <a:solidFill>
                  <a:srgbClr val="222222"/>
                </a:solidFill>
                <a:latin typeface="맑은 고딕"/>
              </a:rPr>
              <a:t>•  SKIPPED, ENCERR: 건너뛴 이유 확인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NETWORK CONFIGURATION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구성원 사이 접속을 양방향으로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chicago에서 boston, boston에서 chicago</a:t>
            </a:r>
          </a:p>
          <a:p>
            <a:pPr algn="l">
              <a:spcAft>
                <a:spcPts val="1000"/>
              </a:spcAft>
            </a:pPr>
            <a:r>
              <a:rPr sz="1700" b="0">
                <a:solidFill>
                  <a:srgbClr val="222222"/>
                </a:solidFill>
                <a:latin typeface="맑은 고딕"/>
              </a:rPr>
              <a:t>•  접속 문자열은 DGConnectIdentifier에서</a:t>
            </a:r>
          </a:p>
          <a:p>
            <a:pPr algn="l">
              <a:spcAft>
                <a:spcPts val="1000"/>
              </a:spcAft>
            </a:pPr>
            <a:r>
              <a:rPr sz="1700" b="0">
                <a:solidFill>
                  <a:srgbClr val="222222"/>
                </a:solidFill>
                <a:latin typeface="맑은 고딕"/>
              </a:rPr>
              <a:t>•  한 방향만 되는 경우를 잡는다</a:t>
            </a:r>
          </a:p>
          <a:p>
            <a:pPr algn="l">
              <a:spcAft>
                <a:spcPts val="1000"/>
              </a:spcAft>
            </a:pPr>
            <a:r>
              <a:rPr sz="1700" b="0">
                <a:solidFill>
                  <a:srgbClr val="222222"/>
                </a:solidFill>
                <a:latin typeface="맑은 고딕"/>
              </a:rPr>
              <a:t>•  정적 접속 식별자 시험도 함께 수행</a:t>
            </a:r>
          </a:p>
          <a:p>
            <a:pPr algn="l">
              <a:spcAft>
                <a:spcPts val="1000"/>
              </a:spcAft>
            </a:pPr>
            <a:r>
              <a:rPr sz="1700" b="0">
                <a:solidFill>
                  <a:srgbClr val="222222"/>
                </a:solidFill>
                <a:latin typeface="맑은 고딕"/>
              </a:rPr>
              <a:t>•  ALL 대신 구성원 이름으로 범위 지정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STATIC CONNECT IDENTIFIER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정적 서비스만으로 접속되는가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StaticConnectIdentifier 속성 값 사용</a:t>
            </a:r>
          </a:p>
          <a:p>
            <a:pPr algn="l">
              <a:spcAft>
                <a:spcPts val="1000"/>
              </a:spcAft>
            </a:pPr>
            <a:r>
              <a:rPr sz="1700" b="0">
                <a:solidFill>
                  <a:srgbClr val="222222"/>
                </a:solidFill>
                <a:latin typeface="맑은 고딕"/>
              </a:rPr>
              <a:t>•  STATIC_SERVICE=TRUE를 붙여 새로 접속</a:t>
            </a:r>
          </a:p>
          <a:p>
            <a:pPr algn="l">
              <a:spcAft>
                <a:spcPts val="1000"/>
              </a:spcAft>
            </a:pPr>
            <a:r>
              <a:rPr sz="1700" b="0">
                <a:solidFill>
                  <a:srgbClr val="222222"/>
                </a:solidFill>
                <a:latin typeface="맑은 고딕"/>
              </a:rPr>
              <a:t>•  동적 등록 서비스는 쓰지 않음</a:t>
            </a:r>
          </a:p>
          <a:p>
            <a:pPr algn="l">
              <a:spcAft>
                <a:spcPts val="1000"/>
              </a:spcAft>
            </a:pPr>
            <a:r>
              <a:rPr sz="1700" b="0">
                <a:solidFill>
                  <a:srgbClr val="222222"/>
                </a:solidFill>
                <a:latin typeface="맑은 고딕"/>
              </a:rPr>
              <a:t>•  실패하면 ORA-12514와 Failed</a:t>
            </a:r>
          </a:p>
          <a:p>
            <a:pPr algn="l">
              <a:spcAft>
                <a:spcPts val="1000"/>
              </a:spcAft>
            </a:pPr>
            <a:r>
              <a:rPr sz="1700" b="0">
                <a:solidFill>
                  <a:srgbClr val="222222"/>
                </a:solidFill>
                <a:latin typeface="맑은 고딕"/>
              </a:rPr>
              <a:t>•  SHOW 상태 값에는 반영되지 않음</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FAR_SYNC</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Far Sync의 중계 준비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Far Sync가 받고 다시 보낼 준비가 됐는지</a:t>
            </a:r>
          </a:p>
          <a:p>
            <a:pPr algn="l">
              <a:spcAft>
                <a:spcPts val="1000"/>
              </a:spcAft>
            </a:pPr>
            <a:r>
              <a:rPr sz="1700" b="0">
                <a:solidFill>
                  <a:srgbClr val="222222"/>
                </a:solidFill>
                <a:latin typeface="맑은 고딕"/>
              </a:rPr>
              <a:t>•  SRL 구성, 전송 대상 상태</a:t>
            </a:r>
          </a:p>
          <a:p>
            <a:pPr algn="l">
              <a:spcAft>
                <a:spcPts val="1000"/>
              </a:spcAft>
            </a:pPr>
            <a:r>
              <a:rPr sz="1700" b="0">
                <a:solidFill>
                  <a:srgbClr val="222222"/>
                </a:solidFill>
                <a:latin typeface="맑은 고딕"/>
              </a:rPr>
              <a:t>•  WHEN PRIMARY IS: 전환 후를 가정한 판정</a:t>
            </a:r>
          </a:p>
          <a:p>
            <a:pPr algn="l">
              <a:spcAft>
                <a:spcPts val="1000"/>
              </a:spcAft>
            </a:pPr>
            <a:r>
              <a:rPr sz="1700" b="0">
                <a:solidFill>
                  <a:srgbClr val="222222"/>
                </a:solidFill>
                <a:latin typeface="맑은 고딕"/>
              </a:rPr>
              <a:t>•  RedoRoutes가 역할별로 다를 때 유용</a:t>
            </a:r>
          </a:p>
          <a:p>
            <a:pPr algn="l">
              <a:spcAft>
                <a:spcPts val="1000"/>
              </a:spcAft>
            </a:pPr>
            <a:r>
              <a:rPr sz="1700" b="0">
                <a:solidFill>
                  <a:srgbClr val="222222"/>
                </a:solidFill>
                <a:latin typeface="맑은 고딕"/>
              </a:rPr>
              <a:t>•  Far Sync 구성에서는 전환 전 점검 목록에</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SHOW와 VALIDATE의 차이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의도대로인가, 넘길 수 있는가</a:t>
            </a:r>
          </a:p>
          <a:p>
            <a:pPr algn="l">
              <a:spcAft>
                <a:spcPts val="800"/>
              </a:spcAft>
            </a:pPr>
            <a:r>
              <a:rPr sz="1600" b="0">
                <a:solidFill>
                  <a:srgbClr val="FFFFFF"/>
                </a:solidFill>
                <a:latin typeface="맑은 고딕"/>
              </a:rPr>
              <a:t>•  저장된 결과와 새 검사</a:t>
            </a:r>
          </a:p>
          <a:p>
            <a:pPr algn="l">
              <a:spcAft>
                <a:spcPts val="800"/>
              </a:spcAft>
            </a:pPr>
            <a:r>
              <a:rPr sz="1600" b="0">
                <a:solidFill>
                  <a:srgbClr val="FFFFFF"/>
                </a:solidFill>
                <a:latin typeface="맑은 고딕"/>
              </a:rPr>
              <a:t>•  감시용과 점검용으로 나눠 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명령이 묻는 질문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기준이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SHOW: 의도대로 동작하는가</a:t>
            </a:r>
          </a:p>
          <a:p>
            <a:pPr algn="l">
              <a:spcAft>
                <a:spcPts val="1000"/>
              </a:spcAft>
            </a:pPr>
            <a:r>
              <a:rPr sz="1700" b="0">
                <a:solidFill>
                  <a:srgbClr val="222222"/>
                </a:solidFill>
                <a:latin typeface="맑은 고딕"/>
              </a:rPr>
              <a:t>•  VALIDATE: 지정한 작업을 지금 할 수 있는가</a:t>
            </a:r>
          </a:p>
          <a:p>
            <a:pPr algn="l">
              <a:spcAft>
                <a:spcPts val="1000"/>
              </a:spcAft>
            </a:pPr>
            <a:r>
              <a:rPr sz="1700" b="0">
                <a:solidFill>
                  <a:srgbClr val="222222"/>
                </a:solidFill>
                <a:latin typeface="맑은 고딕"/>
              </a:rPr>
              <a:t>•  SHOW: 저장된 점검 결과, 가벼움</a:t>
            </a:r>
          </a:p>
          <a:p>
            <a:pPr algn="l">
              <a:spcAft>
                <a:spcPts val="1000"/>
              </a:spcAft>
            </a:pPr>
            <a:r>
              <a:rPr sz="1700" b="0">
                <a:solidFill>
                  <a:srgbClr val="222222"/>
                </a:solidFill>
                <a:latin typeface="맑은 고딕"/>
              </a:rPr>
              <a:t>•  VALIDATE: 명령 시점에 접속해 새로 검사</a:t>
            </a:r>
          </a:p>
          <a:p>
            <a:pPr algn="l">
              <a:spcAft>
                <a:spcPts val="1000"/>
              </a:spcAft>
            </a:pPr>
            <a:r>
              <a:rPr sz="1700" b="0">
                <a:solidFill>
                  <a:srgbClr val="222222"/>
                </a:solidFill>
                <a:latin typeface="맑은 고딕"/>
              </a:rPr>
              <a:t>•  SHOW는 짧은 주기 감시, VALIDATE는 정기 점검</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전송을 꺼 둔 채 잊은 Standby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SHOW는 조용했다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점검 중 LogShipping=OFF, 원복 누락</a:t>
            </a:r>
          </a:p>
          <a:p>
            <a:pPr algn="l">
              <a:spcAft>
                <a:spcPts val="1000"/>
              </a:spcAft>
            </a:pPr>
            <a:r>
              <a:rPr sz="1700" b="0">
                <a:solidFill>
                  <a:srgbClr val="222222"/>
                </a:solidFill>
                <a:latin typeface="맑은 고딕"/>
              </a:rPr>
              <a:t>•  SHOW CONFIGURATION: 계속 SUCCESS</a:t>
            </a:r>
          </a:p>
          <a:p>
            <a:pPr algn="l">
              <a:spcAft>
                <a:spcPts val="1000"/>
              </a:spcAft>
            </a:pPr>
            <a:r>
              <a:rPr sz="1700" b="0">
                <a:solidFill>
                  <a:srgbClr val="222222"/>
                </a:solidFill>
                <a:latin typeface="맑은 고딕"/>
              </a:rPr>
              <a:t>•  지연 지표도 한동안 0에 가깝게 보임</a:t>
            </a:r>
          </a:p>
          <a:p>
            <a:pPr algn="l">
              <a:spcAft>
                <a:spcPts val="1000"/>
              </a:spcAft>
            </a:pPr>
            <a:r>
              <a:rPr sz="1700" b="0">
                <a:solidFill>
                  <a:srgbClr val="222222"/>
                </a:solidFill>
                <a:latin typeface="맑은 고딕"/>
              </a:rPr>
              <a:t>•  VALIDATE: Ready for Switchover No와 이유</a:t>
            </a:r>
          </a:p>
          <a:p>
            <a:pPr algn="l">
              <a:spcAft>
                <a:spcPts val="1000"/>
              </a:spcAft>
            </a:pPr>
            <a:r>
              <a:rPr sz="1700" b="0">
                <a:solidFill>
                  <a:srgbClr val="222222"/>
                </a:solidFill>
                <a:latin typeface="맑은 고딕"/>
              </a:rPr>
              <a:t>•  ON으로 되돌리자 갭 해소, 손실 없음</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구성 내보내기와 가져오기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구성 메타데이터를 XML로</a:t>
            </a:r>
          </a:p>
          <a:p>
            <a:pPr algn="l">
              <a:spcAft>
                <a:spcPts val="800"/>
              </a:spcAft>
            </a:pPr>
            <a:r>
              <a:rPr sz="1600" b="0">
                <a:solidFill>
                  <a:srgbClr val="FFFFFF"/>
                </a:solidFill>
                <a:latin typeface="맑은 고딕"/>
              </a:rPr>
              <a:t>•  위치는 trace 디렉터리 고정</a:t>
            </a:r>
          </a:p>
          <a:p>
            <a:pPr algn="l">
              <a:spcAft>
                <a:spcPts val="800"/>
              </a:spcAft>
            </a:pPr>
            <a:r>
              <a:rPr sz="1600" b="0">
                <a:solidFill>
                  <a:srgbClr val="FFFFFF"/>
                </a:solidFill>
                <a:latin typeface="맑은 고딕"/>
              </a:rPr>
              <a:t>•  가져오기는 구성이 없을 때만</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EXPORT CONFIGURATION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읽을 수 있는 구성 기록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이진 구성 파일 내용을 XML로 내보냄</a:t>
            </a:r>
          </a:p>
          <a:p>
            <a:pPr algn="l">
              <a:spcAft>
                <a:spcPts val="1000"/>
              </a:spcAft>
            </a:pPr>
            <a:r>
              <a:rPr sz="1700" b="0">
                <a:solidFill>
                  <a:srgbClr val="222222"/>
                </a:solidFill>
                <a:latin typeface="맑은 고딕"/>
              </a:rPr>
              <a:t>•  위치는 trace 디렉터리, 경로 지정 시 ORA-16540</a:t>
            </a:r>
          </a:p>
          <a:p>
            <a:pPr algn="l">
              <a:spcAft>
                <a:spcPts val="1000"/>
              </a:spcAft>
            </a:pPr>
            <a:r>
              <a:rPr sz="1700" b="0">
                <a:solidFill>
                  <a:srgbClr val="222222"/>
                </a:solidFill>
                <a:latin typeface="맑은 고딕"/>
              </a:rPr>
              <a:t>•  TO 생략 시 SID_dmon_번호_brkmeta_n.trc</a:t>
            </a:r>
          </a:p>
          <a:p>
            <a:pPr algn="l">
              <a:spcAft>
                <a:spcPts val="1000"/>
              </a:spcAft>
            </a:pPr>
            <a:r>
              <a:rPr sz="1700" b="0">
                <a:solidFill>
                  <a:srgbClr val="222222"/>
                </a:solidFill>
                <a:latin typeface="맑은 고딕"/>
              </a:rPr>
              <a:t>•  Default="True"로 손댄 속성 구별</a:t>
            </a:r>
          </a:p>
          <a:p>
            <a:pPr algn="l">
              <a:spcAft>
                <a:spcPts val="1000"/>
              </a:spcAft>
            </a:pPr>
            <a:r>
              <a:rPr sz="1700" b="0">
                <a:solidFill>
                  <a:srgbClr val="222222"/>
                </a:solidFill>
                <a:latin typeface="맑은 고딕"/>
              </a:rPr>
              <a:t>•  정기 내보내기와 diff로 변경 이력 관리</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IMPORT CONFIGURATION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덮어쓰지 않는 가져오기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trace 디렉터리의 파일을 읽어 구성 파일에 기록</a:t>
            </a:r>
          </a:p>
          <a:p>
            <a:pPr algn="l">
              <a:spcAft>
                <a:spcPts val="1000"/>
              </a:spcAft>
            </a:pPr>
            <a:r>
              <a:rPr sz="1700" b="0">
                <a:solidFill>
                  <a:srgbClr val="222222"/>
                </a:solidFill>
                <a:latin typeface="맑은 고딕"/>
              </a:rPr>
              <a:t>•  구성이 있으면 ORA-16504로 거부</a:t>
            </a:r>
          </a:p>
          <a:p>
            <a:pPr algn="l">
              <a:spcAft>
                <a:spcPts val="1000"/>
              </a:spcAft>
            </a:pPr>
            <a:r>
              <a:rPr sz="1700" b="0">
                <a:solidFill>
                  <a:srgbClr val="222222"/>
                </a:solidFill>
                <a:latin typeface="맑은 고딕"/>
              </a:rPr>
              <a:t>•  대표 용도: 다운그레이드 후 구성 복원</a:t>
            </a:r>
          </a:p>
          <a:p>
            <a:pPr algn="l">
              <a:spcAft>
                <a:spcPts val="1000"/>
              </a:spcAft>
            </a:pPr>
            <a:r>
              <a:rPr sz="1700" b="0">
                <a:solidFill>
                  <a:srgbClr val="222222"/>
                </a:solidFill>
                <a:latin typeface="맑은 고딕"/>
              </a:rPr>
              <a:t>•  구성 파일 손상 시 REMOVE 후 IMPORT</a:t>
            </a:r>
          </a:p>
          <a:p>
            <a:pPr algn="l">
              <a:spcAft>
                <a:spcPts val="1000"/>
              </a:spcAft>
            </a:pPr>
            <a:r>
              <a:rPr sz="1700" b="0">
                <a:solidFill>
                  <a:srgbClr val="222222"/>
                </a:solidFill>
                <a:latin typeface="맑은 고딕"/>
              </a:rPr>
              <a:t>•  REMOVE부터 IMPORT까지 감시 공백</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Broker 로그와 경고 로그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drc 로그는 그동안의 기록</a:t>
            </a:r>
          </a:p>
          <a:p>
            <a:pPr algn="l">
              <a:spcAft>
                <a:spcPts val="800"/>
              </a:spcAft>
            </a:pPr>
            <a:r>
              <a:rPr sz="1600" b="0">
                <a:solidFill>
                  <a:srgbClr val="FFFFFF"/>
                </a:solidFill>
                <a:latin typeface="맑은 고딕"/>
              </a:rPr>
              <a:t>•  경고 로그와 나란히 읽기</a:t>
            </a:r>
          </a:p>
          <a:p>
            <a:pPr algn="l">
              <a:spcAft>
                <a:spcPts val="800"/>
              </a:spcAft>
            </a:pPr>
            <a:r>
              <a:rPr sz="1600" b="0">
                <a:solidFill>
                  <a:srgbClr val="FFFFFF"/>
                </a:solidFill>
                <a:latin typeface="맑은 고딕"/>
              </a:rPr>
              <a:t>•  스크립트와 감시 주기</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drc&lt;SID&gt;.log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Broker의 활동 기록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경고 로그와 같은 ADR trace 디렉터리</a:t>
            </a:r>
          </a:p>
          <a:p>
            <a:pPr algn="l">
              <a:spcAft>
                <a:spcPts val="1000"/>
              </a:spcAft>
            </a:pPr>
            <a:r>
              <a:rPr sz="1700" b="0">
                <a:solidFill>
                  <a:srgbClr val="222222"/>
                </a:solidFill>
                <a:latin typeface="맑은 고딕"/>
              </a:rPr>
              <a:t>•  구성원마다 각자의 파일</a:t>
            </a:r>
          </a:p>
          <a:p>
            <a:pPr algn="l">
              <a:spcAft>
                <a:spcPts val="1000"/>
              </a:spcAft>
            </a:pPr>
            <a:r>
              <a:rPr sz="1700" b="0">
                <a:solidFill>
                  <a:srgbClr val="222222"/>
                </a:solidFill>
                <a:latin typeface="맑은 고딕"/>
              </a:rPr>
              <a:t>•  명령과 결과, 속성 변경, 상태 요약</a:t>
            </a:r>
          </a:p>
          <a:p>
            <a:pPr algn="l">
              <a:spcAft>
                <a:spcPts val="1000"/>
              </a:spcAft>
            </a:pPr>
            <a:r>
              <a:rPr sz="1700" b="0">
                <a:solidFill>
                  <a:srgbClr val="222222"/>
                </a:solidFill>
                <a:latin typeface="맑은 고딕"/>
              </a:rPr>
              <a:t>•  화면의 낱말 대신 ORA-16607 등 코드로 기록</a:t>
            </a:r>
          </a:p>
          <a:p>
            <a:pPr algn="l">
              <a:spcAft>
                <a:spcPts val="1000"/>
              </a:spcAft>
            </a:pPr>
            <a:r>
              <a:rPr sz="1700" b="0">
                <a:solidFill>
                  <a:srgbClr val="222222"/>
                </a:solidFill>
                <a:latin typeface="맑은 고딕"/>
              </a:rPr>
              <a:t>•  경고가 생기고 사라진 시각은 로그에만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경고 로그와 TraceLevel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하려 했고, 무엇이 일어났나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경고 로그: Broker가 실행한 ALTER SYSTEM 등</a:t>
            </a:r>
          </a:p>
          <a:p>
            <a:pPr algn="l">
              <a:spcAft>
                <a:spcPts val="1000"/>
              </a:spcAft>
            </a:pPr>
            <a:r>
              <a:rPr sz="1700" b="0">
                <a:solidFill>
                  <a:srgbClr val="222222"/>
                </a:solidFill>
                <a:latin typeface="맑은 고딕"/>
              </a:rPr>
              <a:t>•  Redo Apply 기동·중지 기록</a:t>
            </a:r>
          </a:p>
          <a:p>
            <a:pPr algn="l">
              <a:spcAft>
                <a:spcPts val="1000"/>
              </a:spcAft>
            </a:pPr>
            <a:r>
              <a:rPr sz="1700" b="0">
                <a:solidFill>
                  <a:srgbClr val="222222"/>
                </a:solidFill>
                <a:latin typeface="맑은 고딕"/>
              </a:rPr>
              <a:t>•  drc 로그와 같은 시각을 나란히 비교</a:t>
            </a:r>
          </a:p>
          <a:p>
            <a:pPr algn="l">
              <a:spcAft>
                <a:spcPts val="1000"/>
              </a:spcAft>
            </a:pPr>
            <a:r>
              <a:rPr sz="1700" b="0">
                <a:solidFill>
                  <a:srgbClr val="222222"/>
                </a:solidFill>
                <a:latin typeface="맑은 고딕"/>
              </a:rPr>
              <a:t>•  TraceLevel: 기본 USER, 분석 때 SUPPORT</a:t>
            </a:r>
          </a:p>
          <a:p>
            <a:pPr algn="l">
              <a:spcAft>
                <a:spcPts val="1000"/>
              </a:spcAft>
            </a:pPr>
            <a:r>
              <a:rPr sz="1700" b="0">
                <a:solidFill>
                  <a:srgbClr val="222222"/>
                </a:solidFill>
                <a:latin typeface="맑은 고딕"/>
              </a:rPr>
              <a:t>•  분석이 끝나면 USER로 되돌림</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감시 스크립트와 주기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명령마다 맞는 주기가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dgmgrl -silent로 배너 없이 결과만</a:t>
            </a:r>
          </a:p>
          <a:p>
            <a:pPr algn="l">
              <a:spcAft>
                <a:spcPts val="1000"/>
              </a:spcAft>
            </a:pPr>
            <a:r>
              <a:rPr sz="1700" b="0">
                <a:solidFill>
                  <a:srgbClr val="222222"/>
                </a:solidFill>
                <a:latin typeface="맑은 고딕"/>
              </a:rPr>
              <a:t>•  SET ECHO ON, SHOW ALL은 클라이언트 설정</a:t>
            </a:r>
          </a:p>
          <a:p>
            <a:pPr algn="l">
              <a:spcAft>
                <a:spcPts val="1000"/>
              </a:spcAft>
            </a:pPr>
            <a:r>
              <a:rPr sz="1700" b="0">
                <a:solidFill>
                  <a:srgbClr val="222222"/>
                </a:solidFill>
                <a:latin typeface="맑은 고딕"/>
              </a:rPr>
              <a:t>•  짧은 주기: SHOW CONFIGURATION 상태와 코드</a:t>
            </a:r>
          </a:p>
          <a:p>
            <a:pPr algn="l">
              <a:spcAft>
                <a:spcPts val="1000"/>
              </a:spcAft>
            </a:pPr>
            <a:r>
              <a:rPr sz="1700" b="0">
                <a:solidFill>
                  <a:srgbClr val="222222"/>
                </a:solidFill>
                <a:latin typeface="맑은 고딕"/>
              </a:rPr>
              <a:t>•  하루: 로그의 ORA-166 계열 건수 집계</a:t>
            </a:r>
          </a:p>
          <a:p>
            <a:pPr algn="l">
              <a:spcAft>
                <a:spcPts val="1000"/>
              </a:spcAft>
            </a:pPr>
            <a:r>
              <a:rPr sz="1700" b="0">
                <a:solidFill>
                  <a:srgbClr val="222222"/>
                </a:solidFill>
                <a:latin typeface="맑은 고딕"/>
              </a:rPr>
              <a:t>•  주·월, 전환 직전: VALIDATE 계열, EXPORT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SUCCESS만으로 전환을 판단하지 않는다</a:t>
            </a:r>
          </a:p>
          <a:p>
            <a:pPr algn="l">
              <a:spcAft>
                <a:spcPts val="800"/>
              </a:spcAft>
            </a:pPr>
            <a:r>
              <a:rPr sz="1600" b="0">
                <a:solidFill>
                  <a:srgbClr val="FFFFFF"/>
                </a:solidFill>
                <a:latin typeface="맑은 고딕"/>
              </a:rPr>
              <a:t>•  원복은 체크리스트로</a:t>
            </a:r>
          </a:p>
          <a:p>
            <a:pPr algn="l">
              <a:spcAft>
                <a:spcPts val="800"/>
              </a:spcAft>
            </a:pPr>
            <a:r>
              <a:rPr sz="1600" b="0">
                <a:solidFill>
                  <a:srgbClr val="FFFFFF"/>
                </a:solidFill>
                <a:latin typeface="맑은 고딕"/>
              </a:rPr>
              <a:t>•  결과 파일과 로그를 남긴다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조용한 위험을 줄이는 습관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계획된 전환 전에는 VALIDATE DATABASE</a:t>
            </a:r>
          </a:p>
          <a:p>
            <a:pPr algn="l">
              <a:spcAft>
                <a:spcPts val="1000"/>
              </a:spcAft>
            </a:pPr>
            <a:r>
              <a:rPr sz="1700" b="0">
                <a:solidFill>
                  <a:srgbClr val="222222"/>
                </a:solidFill>
                <a:latin typeface="맑은 고딕"/>
              </a:rPr>
              <a:t>•  updated 시간이 늘면 통신부터 확인</a:t>
            </a:r>
          </a:p>
          <a:p>
            <a:pPr algn="l">
              <a:spcAft>
                <a:spcPts val="1000"/>
              </a:spcAft>
            </a:pPr>
            <a:r>
              <a:rPr sz="1700" b="0">
                <a:solidFill>
                  <a:srgbClr val="222222"/>
                </a:solidFill>
                <a:latin typeface="맑은 고딕"/>
              </a:rPr>
              <a:t>•  Broker 관리 파라미터는 속성으로 변경</a:t>
            </a:r>
          </a:p>
          <a:p>
            <a:pPr algn="l">
              <a:spcAft>
                <a:spcPts val="1000"/>
              </a:spcAft>
            </a:pPr>
            <a:r>
              <a:rPr sz="1700" b="0">
                <a:solidFill>
                  <a:srgbClr val="222222"/>
                </a:solidFill>
                <a:latin typeface="맑은 고딕"/>
              </a:rPr>
              <a:t>•  유지 보수 때 바꾼 속성은 원복 체크리스트에</a:t>
            </a:r>
          </a:p>
          <a:p>
            <a:pPr algn="l">
              <a:spcAft>
                <a:spcPts val="1000"/>
              </a:spcAft>
            </a:pPr>
            <a:r>
              <a:rPr sz="1700" b="0">
                <a:solidFill>
                  <a:srgbClr val="222222"/>
                </a:solidFill>
                <a:latin typeface="맑은 고딕"/>
              </a:rPr>
              <a:t>•  EXPORT 결과는 trace 밖으로, DATAFILE은 결과 확인</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DMON이 상태를 모아 SUCCESS·WARNING·ERROR로 집계, 기준은 Intended State</a:t>
            </a:r>
          </a:p>
          <a:p>
            <a:pPr algn="l">
              <a:spcAft>
                <a:spcPts val="1000"/>
              </a:spcAft>
            </a:pPr>
            <a:r>
              <a:rPr sz="1600" b="0">
                <a:solidFill>
                  <a:srgbClr val="222222"/>
                </a:solidFill>
                <a:latin typeface="맑은 고딕"/>
              </a:rPr>
              <a:t>•  ORA-166xx는 구성, 구성원, 원인 순으로 읽는다</a:t>
            </a:r>
          </a:p>
          <a:p>
            <a:pPr algn="l">
              <a:spcAft>
                <a:spcPts val="1000"/>
              </a:spcAft>
            </a:pPr>
            <a:r>
              <a:rPr sz="1600" b="0">
                <a:solidFill>
                  <a:srgbClr val="222222"/>
                </a:solidFill>
                <a:latin typeface="맑은 고딕"/>
              </a:rPr>
              <a:t>•  SHOW CONFIGURATION → DATABASE → 모니터링 속성</a:t>
            </a:r>
          </a:p>
          <a:p>
            <a:pPr algn="l">
              <a:spcAft>
                <a:spcPts val="1000"/>
              </a:spcAft>
            </a:pPr>
            <a:r>
              <a:rPr sz="1600" b="0">
                <a:solidFill>
                  <a:srgbClr val="222222"/>
                </a:solidFill>
                <a:latin typeface="맑은 고딕"/>
              </a:rPr>
              <a:t>•  두 큐로 전송 구간과 적용 구간을 가른다</a:t>
            </a:r>
          </a:p>
          <a:p>
            <a:pPr algn="l">
              <a:spcAft>
                <a:spcPts val="1000"/>
              </a:spcAft>
            </a:pPr>
            <a:r>
              <a:rPr sz="1600" b="0">
                <a:solidFill>
                  <a:srgbClr val="222222"/>
                </a:solidFill>
                <a:latin typeface="맑은 고딕"/>
              </a:rPr>
              <a:t>•  임계값 3종 19c 기본 30초, 업무 기준으로 조정</a:t>
            </a:r>
          </a:p>
          <a:p>
            <a:pPr algn="l">
              <a:spcAft>
                <a:spcPts val="1000"/>
              </a:spcAft>
            </a:pPr>
            <a:r>
              <a:rPr sz="1600" b="0">
                <a:solidFill>
                  <a:srgbClr val="222222"/>
                </a:solidFill>
                <a:latin typeface="맑은 고딕"/>
              </a:rPr>
              <a:t>•  VALIDATE는 전환 가능성, EXPORT는 기록, drc 로그는 이력</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ORA-16809가 보이면 먼저? → StatusReport 조회</a:t>
            </a:r>
          </a:p>
          <a:p>
            <a:pPr algn="l">
              <a:spcAft>
                <a:spcPts val="1000"/>
              </a:spcAft>
            </a:pPr>
            <a:r>
              <a:rPr sz="1600" b="0">
                <a:solidFill>
                  <a:srgbClr val="222222"/>
                </a:solidFill>
                <a:latin typeface="맑은 고딕"/>
              </a:rPr>
              <a:t>•  Q2. APPLY-OFF에서 적용 중지 상태는? → SUCCESS</a:t>
            </a:r>
          </a:p>
          <a:p>
            <a:pPr algn="l">
              <a:spcAft>
                <a:spcPts val="1000"/>
              </a:spcAft>
            </a:pPr>
            <a:r>
              <a:rPr sz="1600" b="0">
                <a:solidFill>
                  <a:srgbClr val="222222"/>
                </a:solidFill>
                <a:latin typeface="맑은 고딕"/>
              </a:rPr>
              <a:t>•  Q3. 값을 설정할 수 없는 속성은? → RecvQEntries (ORA-16568)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보낼 큐 비고 받은 큐가 쌓이면? → 적용 구간 병목</a:t>
            </a:r>
          </a:p>
          <a:p>
            <a:pPr algn="l">
              <a:spcAft>
                <a:spcPts val="1000"/>
              </a:spcAft>
            </a:pPr>
            <a:r>
              <a:rPr sz="1600" b="0">
                <a:solidFill>
                  <a:srgbClr val="222222"/>
                </a:solidFill>
                <a:latin typeface="맑은 고딕"/>
              </a:rPr>
              <a:t>•  Q5. SHOW는 SUCCESS, 전환 불가인 원인은? → LogShipping OFF</a:t>
            </a:r>
          </a:p>
          <a:p>
            <a:pPr algn="l">
              <a:spcAft>
                <a:spcPts val="1000"/>
              </a:spcAft>
            </a:pPr>
            <a:r>
              <a:rPr sz="1600" b="0">
                <a:solidFill>
                  <a:srgbClr val="222222"/>
                </a:solidFill>
                <a:latin typeface="맑은 고딕"/>
              </a:rPr>
              <a:t>•  Q6. 구성이 있을 때 IMPORT는? → ORA-16504로 거부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VALIDATE 읽기 / 02 SHOW와 VALIDATE의 차이 (14.6, 14.7)</a:t>
            </a:r>
          </a:p>
          <a:p>
            <a:pPr algn="l">
              <a:spcAft>
                <a:spcPts val="1000"/>
              </a:spcAft>
            </a:pPr>
            <a:r>
              <a:rPr sz="1600" b="0">
                <a:solidFill>
                  <a:srgbClr val="222222"/>
                </a:solidFill>
                <a:latin typeface="맑은 고딕"/>
              </a:rPr>
              <a:t>•  03 모니터링 전용 속성 / 04 지연과 임계값 (14.4, 14.5)</a:t>
            </a:r>
          </a:p>
          <a:p>
            <a:pPr algn="l">
              <a:spcAft>
                <a:spcPts val="1000"/>
              </a:spcAft>
            </a:pPr>
            <a:r>
              <a:rPr sz="1600" b="0">
                <a:solidFill>
                  <a:srgbClr val="222222"/>
                </a:solidFill>
                <a:latin typeface="맑은 고딕"/>
              </a:rPr>
              <a:t>•  05 V$ 뷰로 교차 확인 (15장 연결)</a:t>
            </a:r>
          </a:p>
          <a:p>
            <a:pPr algn="l">
              <a:spcAft>
                <a:spcPts val="1000"/>
              </a:spcAft>
            </a:pPr>
            <a:r>
              <a:rPr sz="1600" b="0">
                <a:solidFill>
                  <a:srgbClr val="222222"/>
                </a:solidFill>
                <a:latin typeface="맑은 고딕"/>
              </a:rPr>
              <a:t>•  06 구성 내보내기 / 07 Fast-Start Failover 표시 (14.8, 14.3)</a:t>
            </a:r>
          </a:p>
          <a:p>
            <a:pPr algn="l">
              <a:spcAft>
                <a:spcPts val="1000"/>
              </a:spcAft>
            </a:pPr>
            <a:r>
              <a:rPr sz="1600" b="0">
                <a:solidFill>
                  <a:srgbClr val="222222"/>
                </a:solidFill>
                <a:latin typeface="맑은 고딕"/>
              </a:rPr>
              <a:t>•  08 VALIDATE의 나머지 형태 (14.6)</a:t>
            </a:r>
          </a:p>
          <a:p>
            <a:pPr algn="l">
              <a:spcAft>
                <a:spcPts val="1000"/>
              </a:spcAft>
            </a:pPr>
            <a:r>
              <a:rPr sz="1600" b="0">
                <a:solidFill>
                  <a:srgbClr val="222222"/>
                </a:solidFill>
                <a:latin typeface="맑은 고딕"/>
              </a:rPr>
              <a:t>•  09 Broker 로그 판독 (14.9)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
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Redo Apply가 데이터 블록만 바꾼다고 생각하기 쉬운데, 리두에는 테이블스페이스를 만들거나 파일 크기를 바꾸는 기록도 함께 들어 있습니다. MRP0는 이런 기록을 만나면 Standby 컨트롤 파일을 고치고 서버에 실제 파일까지 만듭니다. 데이터 사전 쪽 변경은 일반 블록처럼 적용되니 신경 쓸 일이 없습니다. 걸리는 부분은 운영체제 파일의 경로입니다. 리두는 몇 번 파일을 얼마 크기로 만들라는 지시만 담고 있어서, Standby 서버의 어느 디렉터리에 둘지는 Standby가 자기 설정을 보고 정해야 합니다. 이 장의 상당 부분이 그 결정을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리두는 데이터베이스 안에서 일어난 변경의 기록이라 데이터베이스 바깥 파일은 모릅니다. spfile, 키스토어, tnsnames.ora 같은 것이 대표적입니다. 한편 리두에 기록은 되지만 Standby가 그대로 재현하지 못하는 경우도 있습니다. 파일 이름 변경은 Primary 컨트롤 파일만 고치고 Standby 이름은 그대로 두며, NOLOGGING 작업은 블록 내용이 없으니 복구 불가라는 표시만 남깁니다. 패스워드 파일은 12.2부터 예외적으로 리두에 실려 갱신되는데, 이 내용은 8.9절에서 Far Sync 예외와 함께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첫 단계에서 Standby에 직접 데이터 파일을 추가해 보면 ORA-16000이 납니다. STANDBY_FILE_MANAGEMENT 값과는 상관없는 오류이고, 물리 Standby가 원래 쓰기를 받지 않기 때문에 나는 것입니다. 물리 Standby의 데이터 파일은 Primary와 블록 단위로 같아야 하므로 구조 변경은 항상 Primary에서 하고 Standby는 리두로 따라갑니다. 다만 온라인 리두 로그 그룹이나 Standby Redo Log, 파일 이름처럼 Standby 컨트롤 파일에만 존재하는 항목은 리두가 대신해 주지 못하니 Standby에서 사람이 직접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8.2.4의 표를 여기서 한 번 훑고 지나가면 뒤의 절들이 어디에 놓이는지 보입니다. 자동 반영 항목은 대부분 파일을 새로 만들거나 크기를 바꾸는 변경입니다. 수동 항목은 원본 파일이 다른 데이터베이스에서 오거나, Standby 쪽 이름과 구성을 오라클이 함부로 바꾸면 안 되는 경우입니다. 그리고 자동이라는 말에는 Redo Apply가 정상적으로 돌고 있다는 전제가 붙습니다. 적용이 멈춘 Standby는 어떤 변경도 따라가지 못하고, 그 상태로 시간이 지나면 밀린 구조 변경이 한꺼번에 몰려옵니다.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기본값이 MANUAL이라 Standby를 만들 때 AUTO로 바꿔 두지 않으면 첫 테이블스페이스 추가에서 적용이 멈춥니다. 자주 나오는 실수는 Primary에서 이 값을 조회해 AUTO인 것을 보고 안심하는 경우입니다. 실제 동작을 정하는 쪽은 리두를 적용하는 Standby이므로 확인도 Standby에서 해야 합니다. 그렇다고 Primary 값이 쓸모없지는 않습니다. Switchover로 옛 Primary가 Standby가 되는 순간부터 그 값을 읽기 때문에 양쪽 모두 AUTO로 두는 것이 관례입니다.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Primary가 OMF인지와 Standby가 OMF인지는 서로 독립입니다. 과정 실습 구성처럼 Primary는 경로 지정, Standby는 OMF인 비대칭 구성도 흔합니다. Standby가 OMF면 오라클이 디렉터리까지 만들어 주므로 경로 문제로 실패할 일이 거의 없습니다. 경로 방식이면 변환 규칙이 새 경로를 덮는지가 관건이고, 규칙에 걸리지 않은 경로는 Primary 경로 그대로 만들려다 디렉터리가 없어 실패합니다. 새 구성을 만든 뒤에는 시험용 테이블스페이스 하나로 실제 생성 위치를 확인해 두면 나중에 당황할 일이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파라미터는 경로를 해석하지 않고 문자열을 그대로 치환합니다. 끝의 슬래시를 빼먹으면 디렉터리 이름 일부가 겹치는 다른 경로까지 바뀌는 일이 생깁니다. 대소문자도 그대로 비교하므로 Primary 경로가 Chicago인데 규칙에 CHICAGO를 적으면 일치하지 않고 원래 경로가 쓰입니다. 정적 파라미터라 값을 고친 뒤에는 Standby 인스턴스를 재기동해야 적용되는데, 운영 중인 Standby를 재기동하는 일정이 필요하니 처음 구성할 때 넉넉하게 규칙을 잡아 두는 편이 낫습니다. LOG_FILE_NAME_CONVERT도 같은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AUTO가 켜져 있으면 Standby의 파일 구성은 오라클이 관리한다고 보고, 사람이 같은 대상에 손대는 명령을 ORA-01275로 막습니다. 이 장의 수동 절차 대부분이 적용을 멈추고 MANUAL로 내렸다가 작업 뒤에 AUTO로 되돌리는 같은 틀을 씁니다. 가장 위험한 것은 마지막 복귀를 잊는 경우입니다. MANUAL인 채로 두면 당장은 아무 일도 없다가 며칠 뒤 Primary에서 파일이 추가될 때 적용이 멈춥니다. Broker 구성이라도 19c에서는 이 값을 파라미터로 직접 다루며, 예전 Broker 속성은 디프리케이트됐습니다.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생성과 크기 변경은 가장 흔한 구조 변경이고 AUTO에서는 손댈 것이 없습니다. 양쪽을 비교할 때는 파일 개수만 세지 말고 FILE# 기준으로 맞춰 보는 습관을 들이면 좋습니다. 예전에 쓰였다 지워진 번호를 건너뛰는 일이 있어서 개수만으로는 어긋남을 놓칠 수 있습니다. 운영에서 실제로 문제를 일으키는 것은 Standby 디스크입니다. Primary에는 여유가 있는데 Standby가 가득 차 있으면 파일 추가나 자동 확장이 Standby에서만 실패하고 적용이 멈춥니다. 용량 감시 기준을 양쪽에 똑같이 거는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삭제는 컨트롤 파일 항목과 운영체제 파일을 나눠서 생각해야 합니다. 항목은 리두로 항상 사라지지만, 파일까지 지워지는지는 OMF 여부와 삭제 문장의 절에 달려 있습니다. 비OMF 구성에서 절 없이 DROP TABLESPACE만 했다면 Standby 서버에 파일이 그대로 남아 공간을 차지합니다. 이 파일을 정리할 때 바로 지우기보다 다른 위치로 옮겨 두고 며칠 지켜보는 편이 안전합니다. 아직 쓰이는 파일을 잘못 옮겼다면 되돌리면 되지만, 지운 파일은 되돌릴 방법이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Primary와 Standby의 경로가 처음부터 다를 수 있으니 오라클은 Standby 쪽 이름을 건드리지 않습니다. 이름이 어긋나도 적용은 파일 번호로 대상을 찾으므로 멈추지 않습니다. 같은 배치를 유지하려면 Standby에서 따로 옮기는데, 오프라인 방식은 정지 시간이 필요하지만 라이선스 제약이 없습니다. 온라인 이동은 마운트 상태에서는 실행되지 않고 데이터베이스가 열려 있어야 합니다. 적용을 멈추고 READ ONLY로 열어 작업하면 기본 기능이고, 실시간 조회 상태에서 적용을 켠 채 옮기는 것은 Active Data Guard 옵션 영역입니다.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TTS로 가져온 데이터 파일은 다른 데이터베이스에서 만들어진 것이라 Primary 리두 어디에도 그 내용이 없습니다. 플러그인 순간의 리두는 이 파일을 이제 데이터베이스의 일부로 쓴다는 선언일 뿐이어서, Standby는 자기 쪽에 같은 파일이 이미 있어야 연결할 수 있습니다. 파일 사본을 Primary와 Standby 양쪽에 먼저 놓고 플러그인합니다. 경로를 맞추지 못했다면 적용이 실패한 뒤 MANUAL로 내리고 RENAME FILE로 실제 위치를 알려 준 다음 재기동합니다. 원격 클론과 플러그인으로 만드는 PDB도 같은 구조의 문제를 가집니다.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이름 변경이 전달되지 않는다는 규칙이 몇 달 뒤 어떤 모습으로 돌아오는지 보여 줍니다. 작업 당일에는 모든 것이 정상이었고, 문제는 Standby 쪽 디스크가 원래 계획보다 빨리 차면서 드러났습니다. Primary에서는 공간 문제가 이미 해결된 상태라 운영자는 Standby를 의심하지 않았습니다. 교훈은 파일 배치를 바꾸는 작업 계획서에 Standby 이동과 용량 점검을 함께 넣는 것입니다. 수강생에게 자기 조직의 디스크 증설 절차서에 Standby 항목이 있는지 떠올려 보게 하면 이야기가 잘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UNNAMED라는 이름 때문에 디스크 어딘가에 그런 파일이 있을 거라 생각하고 찾아다니는 경우가 있는데, 이 이름은 컨트롤 파일 안의 표시일 뿐 실제 파일은 없습니다. 원인은 설정 실수인 MANUAL과, 환경 차이인 경로 문제와 공간 문제로 나뉩니다. 증상과 복구 절차는 원인과 상관없이 같으므로 먼저 복구하고 나서 원인별로 재발 방지책을 세우면 됩니다. 실습 03에서 일부러 MANUAL로 내려 이 상태를 만들어 보고, 실습 04에서 이어서 복구합니다.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적용이 멈출 때는 ORA-01274가 나고, AUTO로 바꾸고 다시 기동하면 ORA-01111로 바뀝니다. 번호가 바뀌었다고 상황이 나아진 것은 아니고, 이미 컨트롤 파일에 잘못된 자리가 생겨서 다른 단계의 오류가 보이는 것입니다. 이 상태에서 전송은 정상이라 Primary 쪽 목적지 상태는 VALID로 남고 transport lag도 작습니다. 7장에서 본 apply lag만 커지는 패턴이 이 모습이며, 이런 패턴을 보면 MRP0가 살아 있는지와 Standby alert log를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문제의 원인이 MANUAL이었는데 복구하려고 다시 MANUAL로 내리는 순서가 처음에는 어색하게 느껴집니다. CREATE DATAFILE은 사람이 파일 구성을 바꾸는 명령이라 AUTO에서는 ORA-01275로 막히기 때문입니다. 새로 만든 파일은 비어 있지만 파일이 추가된 시점의 상태로 시작하므로, 적용이 그 시점부터의 리두를 채워 Primary와 같아집니다. 공식 교재는 Primary 파일을 복사하는 방법도 소개하지만, Active Data Guard로 운영 중인 Standby에서는 이 명령을 쓰라고 안내합니다. 복구 뒤에는 이름과 상태, apply lag 감소를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재발 방지책 가운데 효과가 가장 큰 것은 Standby를 OMF로 운영하는 것입니다. 디렉터리를 오라클이 만들어 주므로 경로 차이로 생기는 실패가 거의 사라집니다. 6장에서 OMF 방식을 권한 이유도 여기에 있습니다. 경로 방식을 유지한다면 Primary에 새 디렉터리가 생길 때마다 Standby 쪽 준비를 먼저 끝내야 합니다. 마지막 줄의 확인 루틴은 작업자가 그 자리에서 몇 분이면 끝낼 수 있는 일이고, 문제를 며칠 뒤가 아니라 작업 직후에 발견하게 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Standby의 V$LOG를 처음 조회하면 CLEARING 같은 낯선 상태가 보여 이상하게 여기는 수강생이 많습니다. Standby 역할에서 온라인 리두 로그는 쓰이지 않고 대기만 하는 상태라 이런 값이 정상입니다. 파일이 아직 디스크에 없고 처음 필요할 때 초기화되는 경우도 있습니다. 하지만 쓰이지 않는다고 구성을 소홀히 하면 안 됩니다. Switchover가 끝나는 순간 새 Primary는 이 구성 그대로 리두를 만들기 시작하므로, 그룹 수와 크기는 Primary와 같아야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 그룹 변경은 전달되지 않아도 당장 드러나는 문제가 없습니다. 예를 들어 Primary를 네 그룹으로 늘렸는데 Standby가 세 그룹이면, 전환 뒤 새 Primary는 세 그룹으로 운영되고 바쁜 시간대에 로그 전환 대기가 늘어납니다. 크기를 바꾼 경우는 더 조용히 문제를 만듭니다. 들어오는 로그보다 작은 SRL은 쓰이지 못해 실시간 적용이 아카이브 기반으로 떨어지고, 오류 메시지는 나오지 않습니다. 로그 구성 변경은 Primary와 Standby의 ORL, SRL 네 가지를 한 작업으로 묶어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추가는 데이터 파일 작업과 같은 틀이라 어렵지 않습니다. 삭제에는 Standby만의 단계가 하나 더 있는데, 지우기 전에 CLEAR LOGFILE GROUP으로 그룹을 먼저 초기화해야 합니다. 상태가 CURRENT나 CLEARING_CURRENT인 그룹은 Standby에서 지울 수 없으며, 공식 교재는 이런 그룹을 역할 전환 뒤에 지우라고 안내합니다. 크기를 바꾸는 작업이라면 새 크기의 그룹을 먼저 만들고 옛 그룹이 INACTIVE가 된 뒤 지우는 순서가 안전합니다. SRL도 같은 시점에 함께 손봅니다.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오류들은 대부분 지금 상태에서는 할 수 없다는 알림이고 데이터에는 영향이 없습니다. Primary에서 그룹을 지울 때 ORA-01623을 만나면 로그 전환으로 다른 그룹으로 넘기는데, 전환 직후 그룹은 아직 ACTIVE라 ORA-01624가 이어질 수 있습니다. 이때 체크포인트를 강제하고 V$LOG에서 INACTIVE를 확인한 뒤 다시 시도합니다. ORA-00359는 스크립트를 두 번 돌렸을 때 흔히 보이며 이미 원하는 상태로 보고 넘어가면 됩니다. 7장의 ORA-16136과 같은 성격입니다.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07은 이 순서를 어겨 실제로 일어난 사고를 읽는 자료입니다. 그룹 삭제가 ORA-01623으로 거부됐는데 운영체제에서 파일부터 지운 경우였고, 다음 로그 전환에서 LGWR이 파일을 열지 못해 인스턴스가 내려갔습니다. CURRENT 그룹의 리두는 아카이브되지 않았기 때문에 Primary만으로는 복구할 수 없었습니다. 이때 SYNC로 마지막 리두까지 받은 Standby가 있었다면 Failover가 현실적인 길이었을 것입니다. 데이터베이스에서 먼저 제거하고, 조회로 확인하고, 파일은 지우지 말고 옮겨 두는 순서를 몸에 익혀야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생성 리두를 받은 Standby는 Primary와 같은 GUID로 PDB를 등록합니다. 시드에서 만드는 경우가 가장 단순한데, Standby도 자기 PDB$SEED를 가지고 있어서 그 파일을 복사하면 됩니다. Standby가 OMF라면 GUID 이름의 디렉터리까지 자동으로 생깁니다. 원격 클론과 플러그인은 원본 파일이 다른 데이터베이스에 있으니 TTS와 같은 문제가 생깁니다. 새 PDB는 Standby에서 MOUNTED 상태로 시작하므로 Active Data Guard로 조회하려면 Standby에서 따로 열어야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12c까지는 원격 클론이나 플러그인을 하기 전에 Standby의 정해진 위치에 파일을 미리 복사해 두어야 했고, 잊으면 적용이 멈췄습니다. 18c부터 두 파라미터가 이 복사를 대신합니다. 공식 교재 퀴즈에서 원격 클론 때 파일 복사가 더 이상 필요 없다는 문장을 참으로 처리하는 것도 이 기능을 전제로 한 것입니다. 다만 DB 링크 방식은 링크가 원본 PDB를 직접 가리키고 그 원본이 READ ONLY로 열려 있을 때만 동작합니다. 원본을 읽기 전용으로 둘 수 없는 운영이라면 수동 복사 절차를 남겨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이전에는 모든 PDB를 복제하거나 하나도 안 하거나 둘 중 하나였습니다. 지금은 개발용이나 임시 PDB를 빼서 Standby 공간과 적용 부담을 줄일 수 있습니다. 패턴 해석에서 가장 많이 틀리는 부분이 우선순위입니다. 예를 들어 별표, 마이너스 PDB별A, PDB2A 순서로 적으면 A로 끝나는 PDB를 뺐다가 맨 오른쪽 패턴이 PDB2A를 다시 넣습니다. STANDBYS 절은 PDB를 만드는 순간에 대상 Standby를 정하는 방식이라, 파라미터는 Standby별 정책으로, STANDBYS 절은 PDB별 판단으로 나눠 쓰면 깔끔합니다.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제외했다고 Standby에서 PDB가 아예 보이지 않는 것은 아닙니다. 이름과 메타데이터는 등록되고 데이터 파일만 없는 상태로 남습니다. 나중에 이 PDB를 포함하려면 Standby에서 RMAN으로 Primary 서비스에서 해당 PDB 파일을 복원하고, 그 PDB에 대해 ENABLE RECOVERY를 실행한 뒤 적용을 재기동합니다. 결정할 때 따져 볼 것은 마지막 줄입니다. 제외된 PDB는 Failover 뒤 새 Primary에서 열 수 없으므로, 장애 때 잃어도 되는 PDB인지 업무 담당자와 합의하고 제외해야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삭제는 자동으로 따라가지만 OMF에서는 빈 GUID 디렉터리가 남는 경우가 있습니다. 정리할 때 빈 디렉터리만 지우는 rmdir을 쓰면, 비어 있지 않을 때 실패하므로 그 자체가 안전장치가 됩니다. 시나리오는 개발팀이 원격 클론으로 PDB를 자주 만드는 CDB에서 복제 대상을 고르지 않아 생긴 일입니다. 원본이 Standby에 없으니 적용이 멈췄고, 해당 PDB를 복구 제외로 돌린 뒤 재기동했습니다. 이후 개발 PDB 이름을 DEV로 시작하게 정하고 Standby에서 그 패턴을 빼는 방식으로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NOLOGGING 작업이 무서운 이유는 적용 단계에서 아무 오류도 나지 않는다는 데 있습니다. Standby는 이 범위가 복구 불가라는 표시만 받아 기록하고 넘어가므로, 적용 상태와 lag 지표는 모두 정상으로 보입니다. 문제는 누군가 그 블록을 읽을 때 드러납니다. ORA-01578만 보면 저장 장치 손상으로 오해하기 쉬운데 ORA-26040이 함께 나오면 NOLOGGING 적재의 흔적입니다. Failover 뒤에 처음 발견하면 원본이 있던 Primary가 사라진 상태라 손쓸 방법이 거의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UNRECOVERABLE_CHANGE#는 그 파일에서 마지막으로 NOLOGGING 작업이 일어난 SCN입니다. Primary와 Standby의 값을 파일별로 나란히 놓고 Primary 쪽이 더 큰 파일을 찾으면 그것이 복구 대상입니다. 12.2부터는 Standby에서 V$NONLOGGED_BLOCK으로 블록 범위까지 직접 볼 수 있어 범위가 작은지 큰지 판단하기 쉬워졌습니다. 이 비교를 정기 점검 스크립트에 넣어 두면, 누군가 FORCE LOGGING을 잠시 해제하고 작업한 흔적도 함께 잡힙니다.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 교재는 BEGIN BACKUP으로 Primary 파일을 복사하는 오래된 방법을 보여 주지만, 19c에서는 RMAN의 FROM SERVICE로 네트워크를 통해 파일을 바로 가져오는 방법이 간단합니다. 12.2부터는 복구 불가로 표시된 블록만 골라 Primary에서 가져오는 NONLOGGED BLOCK 복구도 있어서, 큰 파일의 일부만 문제인 경우 훨씬 가볍습니다. 파일 복사 방식에서는 복사 시점 이후의 아카이브 로그가 Standby에 모두 있어야 하며, 재기동 때 ORA-00308이 보이면 7장의 갭 해소부터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LOGGING은 4장에서 Primary를 준비할 때 이미 켰던 설정입니다. 여기서 덧붙일 내용은 켜기 전에 생긴 흔적은 그대로 남는다는 것입니다. 공식 교재 시나리오도 FORCE LOGGING 없이 운영하다 NOLOGGING 작업이 있었고 그 뒤에 켠 상황을 가정합니다. 대량 적재 성능이 꼭 필요한 시스템이라면 18c의 Standby nologging 모드를 검토할 수 있는데, 리두 대신 적재된 블록을 Standby로 보내는 방식이며 Active Data Guard 옵션이 필요합니다. 19c CDB에서는 PDB 설정보다 CDB 수준의 FORCE LOGGING이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관련 파라미터를 Primary에서만 바꿔 두면 평소에는 아무 문제가 없다가 Switchover 뒤 새 Primary의 성능이 갑자기 떨어지는 일이 생깁니다. 메모리 크기나 프로세스 수처럼 역할이 바뀌어도 같은 성능을 내야 하는 값은 양쪽에 함께 넣습니다. 반대로 DB_UNIQUE_NAME이나 목적지 설정은 처음부터 다르게 설계된 값이라 맞추면 오히려 고장이 납니다. COMPATIBLE은 순서가 중요합니다. Primary를 먼저 올리면 그 이후 리두를 Standby가 처리하지 못할 수 있으므로 Standby부터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 자료에는 SYS 암호를 바꾸거나 SYSDG 권한을 줄 때마다 패스워드 파일을 Standby에 복사하라고 적혀 있습니다. 12.2부터는 이 변경이 리두에 실려 Standby가 적용할 때 패스워드 파일도 갱신되므로 복사가 필요 없습니다. 예외는 Far Sync 인스턴스입니다. Far Sync는 리두를 넘겨주기만 하고 적용하지 않으니 패스워드 파일이 바뀌지 않아 직접 복사해야 합니다. 그리고 이 갱신은 적용이 돌아야 일어납니다. 적용이 멈춘 Standby로 전환하면 바뀐 암호를 모르는 상태일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TDE를 쓰는 구성에서는 Primary에서 마스터 키를 재설정할 때마다 키스토어 파일을 Standby에 복사해야 합니다. 이 복사를 잊으면 키 재설정 이후 암호화된 데이터를 Standby가 다루지 못합니다. 공식 교재의 시나리오는 키스토어 암호 변경 명령을 예로 들고 있는데, 키 재설정과 암호 변경 모두 Primary 키스토어 파일을 바꾸는 작업이니 어느 쪽이든 복사해 두는 것이 안전합니다. Oracle Key Vault처럼 외부 키 관리 시스템을 쓰면 양쪽이 같은 저장소를 바라보므로 이 문제가 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컨트롤 파일을 CREATE CONTROLFILE로 다시 만드는 일은 드물지만, 그렇게 하면 Standby와의 연결이 끊어지므로 Standby용 컨트롤 파일을 새로 만들어 배치해야 합니다. Oracle Net 설정과 운영체제 계정도 리두와 무관합니다. 점검표는 Switchover 연습 전후로 양쪽 서버를 나란히 놓고 비교하는 용도입니다. Switchover가 성공하면 다 됐다고 여기기 쉽지만, 이 항목들의 차이는 보통 며칠 뒤 업무 중에 드러납니다. 연습 결과 보고서에 이 비교 결과를 함께 남기면 다음 연습의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본 문제들은 대부분 작업 당일에는 보이지 않다가 나중에 드러납니다. MANUAL로 둔 값은 다음 파일 추가 때, 옮기지 않은 Standby 파일은 디스크가 찰 때, 맞추지 않은 로그 구성과 파라미터는 역할 전환 뒤에 문제가 됩니다. 대책도 작업 계획서와 정기 점검에 들어가야 합니다. 경로 방식 Standby를 운영한다면 PDB를 자주 만들거나 파일 배치가 바뀌는 환경일수록 OMF로 옮기는 것을 진지하게 검토할 만합니다. NOLOGGING 흔적은 Failover 뒤에 발견되면 되돌릴 수 없으니 정기 점검 목록의 앞쪽에 둡니다.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Primary 구조 변경의 Standby 반영</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리두가 따라가는 변경, 사람이 따라가야 하는 변경</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구조 변경이 리두로 Standby에 전달되는 경로를 설명한다</a:t>
            </a:r>
          </a:p>
          <a:p>
            <a:pPr algn="l">
              <a:spcAft>
                <a:spcPts val="1000"/>
              </a:spcAft>
            </a:pPr>
            <a:r>
              <a:rPr sz="1600" b="0">
                <a:solidFill>
                  <a:srgbClr val="222222"/>
                </a:solidFill>
                <a:latin typeface="맑은 고딕"/>
              </a:rPr>
              <a:t>•  STANDBY_FILE_MANAGEMENT와 파일 이름 결정 규칙을 안다</a:t>
            </a:r>
          </a:p>
          <a:p>
            <a:pPr algn="l">
              <a:spcAft>
                <a:spcPts val="1000"/>
              </a:spcAft>
            </a:pPr>
            <a:r>
              <a:rPr sz="1600" b="0">
                <a:solidFill>
                  <a:srgbClr val="222222"/>
                </a:solidFill>
                <a:latin typeface="맑은 고딕"/>
              </a:rPr>
              <a:t>•  파일 추가·삭제·크기·이름 변경의 수동 개입 여부를 판단한다</a:t>
            </a:r>
          </a:p>
          <a:p>
            <a:pPr algn="l">
              <a:spcAft>
                <a:spcPts val="1000"/>
              </a:spcAft>
            </a:pPr>
            <a:r>
              <a:rPr sz="1600" b="0">
                <a:solidFill>
                  <a:srgbClr val="222222"/>
                </a:solidFill>
                <a:latin typeface="맑은 고딕"/>
              </a:rPr>
              <a:t>•  UNNAMED 파일을 진단하고 CREATE DATAFILE로 복구한다</a:t>
            </a:r>
          </a:p>
          <a:p>
            <a:pPr algn="l">
              <a:spcAft>
                <a:spcPts val="1000"/>
              </a:spcAft>
            </a:pPr>
            <a:r>
              <a:rPr sz="1600" b="0">
                <a:solidFill>
                  <a:srgbClr val="222222"/>
                </a:solidFill>
                <a:latin typeface="맑은 고딕"/>
              </a:rPr>
              <a:t>•  리두 로그와 PDB 변경을 Standby에서 처리한다</a:t>
            </a:r>
          </a:p>
          <a:p>
            <a:pPr algn="l">
              <a:spcAft>
                <a:spcPts val="1000"/>
              </a:spcAft>
            </a:pPr>
            <a:r>
              <a:rPr sz="1600" b="0">
                <a:solidFill>
                  <a:srgbClr val="222222"/>
                </a:solidFill>
                <a:latin typeface="맑은 고딕"/>
              </a:rPr>
              <a:t>•  NOLOGGING 흔적과 리두 밖 항목을 관리한다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8.2  구조 변경이 Standby에 전달되는 원리</a:t>
            </a:r>
          </a:p>
          <a:p>
            <a:pPr algn="l">
              <a:spcAft>
                <a:spcPts val="1000"/>
              </a:spcAft>
            </a:pPr>
            <a:r>
              <a:rPr sz="1600" b="0">
                <a:solidFill>
                  <a:srgbClr val="222222"/>
                </a:solidFill>
                <a:latin typeface="맑은 고딕"/>
              </a:rPr>
              <a:t>•  8.3  STANDBY_FILE_MANAGEMENT와 파일 이름 결정</a:t>
            </a:r>
          </a:p>
          <a:p>
            <a:pPr algn="l">
              <a:spcAft>
                <a:spcPts val="1000"/>
              </a:spcAft>
            </a:pPr>
            <a:r>
              <a:rPr sz="1600" b="0">
                <a:solidFill>
                  <a:srgbClr val="222222"/>
                </a:solidFill>
                <a:latin typeface="맑은 고딕"/>
              </a:rPr>
              <a:t>•  8.4  테이블스페이스와 데이터 파일 변경  /  8.5  UNNAMED 파일과 복구</a:t>
            </a:r>
          </a:p>
          <a:p>
            <a:pPr algn="l">
              <a:spcAft>
                <a:spcPts val="1000"/>
              </a:spcAft>
            </a:pPr>
            <a:r>
              <a:rPr sz="1600" b="0">
                <a:solidFill>
                  <a:srgbClr val="222222"/>
                </a:solidFill>
                <a:latin typeface="맑은 고딕"/>
              </a:rPr>
              <a:t>•  8.6  온라인 리두 로그와 Standby Redo Log</a:t>
            </a:r>
          </a:p>
          <a:p>
            <a:pPr algn="l">
              <a:spcAft>
                <a:spcPts val="1000"/>
              </a:spcAft>
            </a:pPr>
            <a:r>
              <a:rPr sz="1600" b="0">
                <a:solidFill>
                  <a:srgbClr val="222222"/>
                </a:solidFill>
                <a:latin typeface="맑은 고딕"/>
              </a:rPr>
              <a:t>•  8.7  멀티테넌트 환경의 PDB 변경  /  8.8  NOLOGGING 작업</a:t>
            </a:r>
          </a:p>
          <a:p>
            <a:pPr algn="l">
              <a:spcAft>
                <a:spcPts val="1000"/>
              </a:spcAft>
            </a:pPr>
            <a:r>
              <a:rPr sz="1600" b="0">
                <a:solidFill>
                  <a:srgbClr val="222222"/>
                </a:solidFill>
                <a:latin typeface="맑은 고딕"/>
              </a:rPr>
              <a:t>•  8.9  리두로 전달되지 않는 것  /  8.10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구조 변경이 Standby에 전달되는 원리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리두에 실리는 변경과 실리지 않는 변경</a:t>
            </a:r>
          </a:p>
          <a:p>
            <a:pPr algn="l">
              <a:spcAft>
                <a:spcPts val="800"/>
              </a:spcAft>
            </a:pPr>
            <a:r>
              <a:rPr sz="1600" b="0">
                <a:solidFill>
                  <a:srgbClr val="FFFFFF"/>
                </a:solidFill>
                <a:latin typeface="맑은 고딕"/>
              </a:rPr>
              <a:t>•  Standby에서 직접 바꿀 수 없는 이유</a:t>
            </a:r>
          </a:p>
          <a:p>
            <a:pPr algn="l">
              <a:spcAft>
                <a:spcPts val="800"/>
              </a:spcAft>
            </a:pPr>
            <a:r>
              <a:rPr sz="1600" b="0">
                <a:solidFill>
                  <a:srgbClr val="FFFFFF"/>
                </a:solidFill>
                <a:latin typeface="맑은 고딕"/>
              </a:rPr>
              <a:t>•  자동 반영과 수동 개입 분류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리두에 실리는 구조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지시는 리두가, 파일 위치는 Standby가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TABLESPACE, ADD DATAFILE, RESIZE, DROP</a:t>
            </a:r>
          </a:p>
          <a:p>
            <a:pPr algn="l">
              <a:spcAft>
                <a:spcPts val="1000"/>
              </a:spcAft>
            </a:pPr>
            <a:r>
              <a:rPr sz="1700" b="0">
                <a:solidFill>
                  <a:srgbClr val="222222"/>
                </a:solidFill>
                <a:latin typeface="맑은 고딕"/>
              </a:rPr>
              <a:t>•  MRP0가 Standby 컨트롤 파일에 같은 변경을 가함</a:t>
            </a:r>
          </a:p>
          <a:p>
            <a:pPr algn="l">
              <a:spcAft>
                <a:spcPts val="1000"/>
              </a:spcAft>
            </a:pPr>
            <a:r>
              <a:rPr sz="1700" b="0">
                <a:solidFill>
                  <a:srgbClr val="222222"/>
                </a:solidFill>
                <a:latin typeface="맑은 고딕"/>
              </a:rPr>
              <a:t>•  필요하면 Standby 서버에 실제 파일을 만듦</a:t>
            </a:r>
          </a:p>
          <a:p>
            <a:pPr algn="l">
              <a:spcAft>
                <a:spcPts val="1000"/>
              </a:spcAft>
            </a:pPr>
            <a:r>
              <a:rPr sz="1700" b="0">
                <a:solidFill>
                  <a:srgbClr val="222222"/>
                </a:solidFill>
                <a:latin typeface="맑은 고딕"/>
              </a:rPr>
              <a:t>•  리두에는 파일 번호와 크기만, 경로는 Standby가 정함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리두에 실리지 않는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데이터베이스 밖의 파일과 설정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초기화 파라미터(spfile), Oracle Net 설정</a:t>
            </a:r>
          </a:p>
          <a:p>
            <a:pPr algn="l">
              <a:spcAft>
                <a:spcPts val="1000"/>
              </a:spcAft>
            </a:pPr>
            <a:r>
              <a:rPr sz="1700" b="0">
                <a:solidFill>
                  <a:srgbClr val="222222"/>
                </a:solidFill>
                <a:latin typeface="맑은 고딕"/>
              </a:rPr>
              <a:t>•  TDE 키스토어, 운영체제 디렉터리</a:t>
            </a:r>
          </a:p>
          <a:p>
            <a:pPr algn="l">
              <a:spcAft>
                <a:spcPts val="1000"/>
              </a:spcAft>
            </a:pPr>
            <a:r>
              <a:rPr sz="1700" b="0">
                <a:solidFill>
                  <a:srgbClr val="222222"/>
                </a:solidFill>
                <a:latin typeface="맑은 고딕"/>
              </a:rPr>
              <a:t>•  패스워드 파일은 12.2부터 리두로 갱신</a:t>
            </a:r>
          </a:p>
          <a:p>
            <a:pPr algn="l">
              <a:spcAft>
                <a:spcPts val="1000"/>
              </a:spcAft>
            </a:pPr>
            <a:r>
              <a:rPr sz="1700" b="0">
                <a:solidFill>
                  <a:srgbClr val="222222"/>
                </a:solidFill>
                <a:latin typeface="맑은 고딕"/>
              </a:rPr>
              <a:t>•  이름 변경은 Standby 쪽 이름에 손대지 않음</a:t>
            </a:r>
          </a:p>
          <a:p>
            <a:pPr algn="l">
              <a:spcAft>
                <a:spcPts val="1000"/>
              </a:spcAft>
            </a:pPr>
            <a:r>
              <a:rPr sz="1700" b="0">
                <a:solidFill>
                  <a:srgbClr val="222222"/>
                </a:solidFill>
                <a:latin typeface="맑은 고딕"/>
              </a:rPr>
              <a:t>•  NOLOGGING은 블록 내용 없이 표시만 남김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Standby에서 직접 바꿀 수 없는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구조 변경은 Primary에서 한 방향으로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MOUNT 또는 READ ONLY 상태라 쓰기 불가</a:t>
            </a:r>
          </a:p>
          <a:p>
            <a:pPr algn="l">
              <a:spcAft>
                <a:spcPts val="1000"/>
              </a:spcAft>
            </a:pPr>
            <a:r>
              <a:rPr sz="1700" b="0">
                <a:solidFill>
                  <a:srgbClr val="222222"/>
                </a:solidFill>
                <a:latin typeface="맑은 고딕"/>
              </a:rPr>
              <a:t>•  열린 Standby에서 ADD DATAFILE은 ORA-16000</a:t>
            </a:r>
          </a:p>
          <a:p>
            <a:pPr algn="l">
              <a:spcAft>
                <a:spcPts val="1000"/>
              </a:spcAft>
            </a:pPr>
            <a:r>
              <a:rPr sz="1700" b="0">
                <a:solidFill>
                  <a:srgbClr val="222222"/>
                </a:solidFill>
                <a:latin typeface="맑은 고딕"/>
              </a:rPr>
              <a:t>•  블록 단위 동일성을 지키려면 Primary가 원천</a:t>
            </a:r>
          </a:p>
          <a:p>
            <a:pPr algn="l">
              <a:spcAft>
                <a:spcPts val="1000"/>
              </a:spcAft>
            </a:pPr>
            <a:r>
              <a:rPr sz="1700" b="0">
                <a:solidFill>
                  <a:srgbClr val="222222"/>
                </a:solidFill>
                <a:latin typeface="맑은 고딕"/>
              </a:rPr>
              <a:t>•  예외: 로그 그룹, SRL, 파일 이름은 Standby에서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반영과 수동 개입 분류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 전체의 지도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자동: 파일 생성·추가·크기 변경, PDB 생성·삭제</a:t>
            </a:r>
          </a:p>
          <a:p>
            <a:pPr algn="l">
              <a:spcAft>
                <a:spcPts val="1000"/>
              </a:spcAft>
            </a:pPr>
            <a:r>
              <a:rPr sz="1700" b="0">
                <a:solidFill>
                  <a:srgbClr val="222222"/>
                </a:solidFill>
                <a:latin typeface="맑은 고딕"/>
              </a:rPr>
              <a:t>•  일부 수동: 테이블스페이스 삭제 후 비OMF 파일 정리</a:t>
            </a:r>
          </a:p>
          <a:p>
            <a:pPr algn="l">
              <a:spcAft>
                <a:spcPts val="1000"/>
              </a:spcAft>
            </a:pPr>
            <a:r>
              <a:rPr sz="1700" b="0">
                <a:solidFill>
                  <a:srgbClr val="222222"/>
                </a:solidFill>
                <a:latin typeface="맑은 고딕"/>
              </a:rPr>
              <a:t>•  수동: 파일 이름 변경, 로그 그룹, TTS, 플러그인</a:t>
            </a:r>
          </a:p>
          <a:p>
            <a:pPr algn="l">
              <a:spcAft>
                <a:spcPts val="1000"/>
              </a:spcAft>
            </a:pPr>
            <a:r>
              <a:rPr sz="1700" b="0">
                <a:solidFill>
                  <a:srgbClr val="222222"/>
                </a:solidFill>
                <a:latin typeface="맑은 고딕"/>
              </a:rPr>
              <a:t>•  수동: NOLOGGING 복구, 파라미터, TDE 키스토어</a:t>
            </a:r>
          </a:p>
          <a:p>
            <a:pPr algn="l">
              <a:spcAft>
                <a:spcPts val="1000"/>
              </a:spcAft>
            </a:pPr>
            <a:r>
              <a:rPr sz="1700" b="0">
                <a:solidFill>
                  <a:srgbClr val="222222"/>
                </a:solidFill>
                <a:latin typeface="맑은 고딕"/>
              </a:rPr>
              <a:t>•  자동이라도 적용이 돌고 있어야 반영됨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STANDBY_FILE_MANAGEMENT와 파일 이름 결정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AUTO와 MANUAL의 차이</a:t>
            </a:r>
          </a:p>
          <a:p>
            <a:pPr algn="l">
              <a:spcAft>
                <a:spcPts val="800"/>
              </a:spcAft>
            </a:pPr>
            <a:r>
              <a:rPr sz="1600" b="0">
                <a:solidFill>
                  <a:srgbClr val="FFFFFF"/>
                </a:solidFill>
                <a:latin typeface="맑은 고딕"/>
              </a:rPr>
              <a:t>•  새 파일 이름이 정해지는 순서</a:t>
            </a:r>
          </a:p>
          <a:p>
            <a:pPr algn="l">
              <a:spcAft>
                <a:spcPts val="800"/>
              </a:spcAft>
            </a:pPr>
            <a:r>
              <a:rPr sz="1600" b="0">
                <a:solidFill>
                  <a:srgbClr val="FFFFFF"/>
                </a:solidFill>
                <a:latin typeface="맑은 고딕"/>
              </a:rPr>
              <a:t>•  AUTO에서 막히는 명령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AUTO와 MANUAL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동작을 정하는 것은 Standby 쪽 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AUTO: Standby가 파일을 만들고 적용을 계속</a:t>
            </a:r>
          </a:p>
          <a:p>
            <a:pPr algn="l">
              <a:spcAft>
                <a:spcPts val="1000"/>
              </a:spcAft>
            </a:pPr>
            <a:r>
              <a:rPr sz="1700" b="0">
                <a:solidFill>
                  <a:srgbClr val="222222"/>
                </a:solidFill>
                <a:latin typeface="맑은 고딕"/>
              </a:rPr>
              <a:t>•  MANUAL(기본값): UNNAMED 항목만 남기고 적용 중지</a:t>
            </a:r>
          </a:p>
          <a:p>
            <a:pPr algn="l">
              <a:spcAft>
                <a:spcPts val="1000"/>
              </a:spcAft>
            </a:pPr>
            <a:r>
              <a:rPr sz="1700" b="0">
                <a:solidFill>
                  <a:srgbClr val="222222"/>
                </a:solidFill>
                <a:latin typeface="맑은 고딕"/>
              </a:rPr>
              <a:t>•  Standby 역할일 때만 의미, Primary 값은 전환 대비</a:t>
            </a:r>
          </a:p>
          <a:p>
            <a:pPr algn="l">
              <a:spcAft>
                <a:spcPts val="1000"/>
              </a:spcAft>
            </a:pPr>
            <a:r>
              <a:rPr sz="1700" b="0">
                <a:solidFill>
                  <a:srgbClr val="222222"/>
                </a:solidFill>
                <a:latin typeface="맑은 고딕"/>
              </a:rPr>
              <a:t>•  동적 파라미터, SCOPE=BOTH로 즉시 변경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새 파일 이름이 정해지는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설정만 보고 결정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DB_CREATE_FILE_DEST 있음: OMF 이름, PDB는 GUID 디렉터리</a:t>
            </a:r>
          </a:p>
          <a:p>
            <a:pPr algn="l">
              <a:spcAft>
                <a:spcPts val="1000"/>
              </a:spcAft>
            </a:pPr>
            <a:r>
              <a:rPr sz="1700" b="0">
                <a:solidFill>
                  <a:srgbClr val="222222"/>
                </a:solidFill>
                <a:latin typeface="맑은 고딕"/>
              </a:rPr>
              <a:t>•  없으면 DB_FILE_NAME_CONVERT로 경로 변환</a:t>
            </a:r>
          </a:p>
          <a:p>
            <a:pPr algn="l">
              <a:spcAft>
                <a:spcPts val="1000"/>
              </a:spcAft>
            </a:pPr>
            <a:r>
              <a:rPr sz="1700" b="0">
                <a:solidFill>
                  <a:srgbClr val="222222"/>
                </a:solidFill>
                <a:latin typeface="맑은 고딕"/>
              </a:rPr>
              <a:t>•  둘 다 없으면 Primary와 같은 경로 시도</a:t>
            </a:r>
          </a:p>
          <a:p>
            <a:pPr algn="l">
              <a:spcAft>
                <a:spcPts val="1000"/>
              </a:spcAft>
            </a:pPr>
            <a:r>
              <a:rPr sz="1700" b="0">
                <a:solidFill>
                  <a:srgbClr val="222222"/>
                </a:solidFill>
                <a:latin typeface="맑은 고딕"/>
              </a:rPr>
              <a:t>•  디렉터리가 없으면 생성 실패, UNNAMED로</a:t>
            </a:r>
          </a:p>
          <a:p>
            <a:pPr algn="l">
              <a:spcAft>
                <a:spcPts val="1000"/>
              </a:spcAft>
            </a:pPr>
            <a:r>
              <a:rPr sz="1700" b="0">
                <a:solidFill>
                  <a:srgbClr val="222222"/>
                </a:solidFill>
                <a:latin typeface="맑은 고딕"/>
              </a:rPr>
              <a:t>•  두 방식을 섞지 말고 한쪽으로 통일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DB_FILE_NAME_CONVERT 작성 요령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정적 파라미터, 문자열 치환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왼쪽 문자열을 찾아 오른쪽으로 바꿈</a:t>
            </a:r>
          </a:p>
          <a:p>
            <a:pPr algn="l">
              <a:spcAft>
                <a:spcPts val="1000"/>
              </a:spcAft>
            </a:pPr>
            <a:r>
              <a:rPr sz="1700" b="0">
                <a:solidFill>
                  <a:srgbClr val="222222"/>
                </a:solidFill>
                <a:latin typeface="맑은 고딕"/>
              </a:rPr>
              <a:t>•  여러 쌍 나열 가능, 처음 일치한 쌍 사용</a:t>
            </a:r>
          </a:p>
          <a:p>
            <a:pPr algn="l">
              <a:spcAft>
                <a:spcPts val="1000"/>
              </a:spcAft>
            </a:pPr>
            <a:r>
              <a:rPr sz="1700" b="0">
                <a:solidFill>
                  <a:srgbClr val="222222"/>
                </a:solidFill>
                <a:latin typeface="맑은 고딕"/>
              </a:rPr>
              <a:t>•  디렉터리 끝 슬래시까지 맞춰 적기</a:t>
            </a:r>
          </a:p>
          <a:p>
            <a:pPr algn="l">
              <a:spcAft>
                <a:spcPts val="1000"/>
              </a:spcAft>
            </a:pPr>
            <a:r>
              <a:rPr sz="1700" b="0">
                <a:solidFill>
                  <a:srgbClr val="222222"/>
                </a:solidFill>
                <a:latin typeface="맑은 고딕"/>
              </a:rPr>
              <a:t>•  대소문자 그대로 비교</a:t>
            </a:r>
          </a:p>
          <a:p>
            <a:pPr algn="l">
              <a:spcAft>
                <a:spcPts val="1000"/>
              </a:spcAft>
            </a:pPr>
            <a:r>
              <a:rPr sz="1700" b="0">
                <a:solidFill>
                  <a:srgbClr val="222222"/>
                </a:solidFill>
                <a:latin typeface="맑은 고딕"/>
              </a:rPr>
              <a:t>•  변경 후 Standby 재기동 필요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AUTO에서 막히는 명령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 관리와 사람의 개입이 부딪히지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RENAME FILE, ADD/DROP LOGFILE, CREATE DATAFILE</a:t>
            </a:r>
          </a:p>
          <a:p>
            <a:pPr algn="l">
              <a:spcAft>
                <a:spcPts val="1000"/>
              </a:spcAft>
            </a:pPr>
            <a:r>
              <a:rPr sz="1700" b="0">
                <a:solidFill>
                  <a:srgbClr val="222222"/>
                </a:solidFill>
                <a:latin typeface="맑은 고딕"/>
              </a:rPr>
              <a:t>•  AUTO 상태에서는 ORA-01275로 거부</a:t>
            </a:r>
          </a:p>
          <a:p>
            <a:pPr algn="l">
              <a:spcAft>
                <a:spcPts val="1000"/>
              </a:spcAft>
            </a:pPr>
            <a:r>
              <a:rPr sz="1700" b="0">
                <a:solidFill>
                  <a:srgbClr val="222222"/>
                </a:solidFill>
                <a:latin typeface="맑은 고딕"/>
              </a:rPr>
              <a:t>•  적용 중지 → MANUAL → 작업 → AUTO → 적용 기동</a:t>
            </a:r>
          </a:p>
          <a:p>
            <a:pPr algn="l">
              <a:spcAft>
                <a:spcPts val="1000"/>
              </a:spcAft>
            </a:pPr>
            <a:r>
              <a:rPr sz="1700" b="0">
                <a:solidFill>
                  <a:srgbClr val="222222"/>
                </a:solidFill>
                <a:latin typeface="맑은 고딕"/>
              </a:rPr>
              <a:t>•  19c Broker: StandbyFileManagement 속성 디프리케이트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테이블스페이스와 데이터 파일 변경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생성·추가·크기 변경은 자동</a:t>
            </a:r>
          </a:p>
          <a:p>
            <a:pPr algn="l">
              <a:spcAft>
                <a:spcPts val="800"/>
              </a:spcAft>
            </a:pPr>
            <a:r>
              <a:rPr sz="1600" b="0">
                <a:solidFill>
                  <a:srgbClr val="FFFFFF"/>
                </a:solidFill>
                <a:latin typeface="맑은 고딕"/>
              </a:rPr>
              <a:t>•  삭제 뒤의 운영체제 파일</a:t>
            </a:r>
          </a:p>
          <a:p>
            <a:pPr algn="l">
              <a:spcAft>
                <a:spcPts val="800"/>
              </a:spcAft>
            </a:pPr>
            <a:r>
              <a:rPr sz="1600" b="0">
                <a:solidFill>
                  <a:srgbClr val="FFFFFF"/>
                </a:solidFill>
                <a:latin typeface="맑은 고딕"/>
              </a:rPr>
              <a:t>•  이름 변경과 TTS는 수동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생성, 추가, 크기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AUTO면 사람이 할 일이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파일 번호로, Standby 규칙의 이름으로 생성</a:t>
            </a:r>
          </a:p>
          <a:p>
            <a:pPr algn="l">
              <a:spcAft>
                <a:spcPts val="1000"/>
              </a:spcAft>
            </a:pPr>
            <a:r>
              <a:rPr sz="1700" b="0">
                <a:solidFill>
                  <a:srgbClr val="222222"/>
                </a:solidFill>
                <a:latin typeface="맑은 고딕"/>
              </a:rPr>
              <a:t>•  RESIZE, AUTOEXTEND로 늘어난 크기도 전달</a:t>
            </a:r>
          </a:p>
          <a:p>
            <a:pPr algn="l">
              <a:spcAft>
                <a:spcPts val="1000"/>
              </a:spcAft>
            </a:pPr>
            <a:r>
              <a:rPr sz="1700" b="0">
                <a:solidFill>
                  <a:srgbClr val="222222"/>
                </a:solidFill>
                <a:latin typeface="맑은 고딕"/>
              </a:rPr>
              <a:t>•  파일 번호는 연속 보장 없음, FILE#로 비교</a:t>
            </a:r>
          </a:p>
          <a:p>
            <a:pPr algn="l">
              <a:spcAft>
                <a:spcPts val="1000"/>
              </a:spcAft>
            </a:pPr>
            <a:r>
              <a:rPr sz="1700" b="0">
                <a:solidFill>
                  <a:srgbClr val="222222"/>
                </a:solidFill>
                <a:latin typeface="맑은 고딕"/>
              </a:rPr>
              <a:t>•  Standby 디스크 부족이면 Standby만 실패</a:t>
            </a:r>
          </a:p>
          <a:p>
            <a:pPr algn="l">
              <a:spcAft>
                <a:spcPts val="1000"/>
              </a:spcAft>
            </a:pPr>
            <a:r>
              <a:rPr sz="1700" b="0">
                <a:solidFill>
                  <a:srgbClr val="222222"/>
                </a:solidFill>
                <a:latin typeface="맑은 고딕"/>
              </a:rPr>
              <a:t>•  임시 파일은 리두로 만들어지지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삭제와 운영체제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항목은 사라지지만 파일은 남을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TABLESPACE는 Standby 컨트롤 파일에서도 제거</a:t>
            </a:r>
          </a:p>
          <a:p>
            <a:pPr algn="l">
              <a:spcAft>
                <a:spcPts val="1000"/>
              </a:spcAft>
            </a:pPr>
            <a:r>
              <a:rPr sz="1700" b="0">
                <a:solidFill>
                  <a:srgbClr val="222222"/>
                </a:solidFill>
                <a:latin typeface="맑은 고딕"/>
              </a:rPr>
              <a:t>•  OMF 파일은 함께 삭제</a:t>
            </a:r>
          </a:p>
          <a:p>
            <a:pPr algn="l">
              <a:spcAft>
                <a:spcPts val="1000"/>
              </a:spcAft>
            </a:pPr>
            <a:r>
              <a:rPr sz="1700" b="0">
                <a:solidFill>
                  <a:srgbClr val="222222"/>
                </a:solidFill>
                <a:latin typeface="맑은 고딕"/>
              </a:rPr>
              <a:t>•  비OMF: INCLUDING CONTENTS AND DATAFILES + AUTO면 삭제</a:t>
            </a:r>
          </a:p>
          <a:p>
            <a:pPr algn="l">
              <a:spcAft>
                <a:spcPts val="1000"/>
              </a:spcAft>
            </a:pPr>
            <a:r>
              <a:rPr sz="1700" b="0">
                <a:solidFill>
                  <a:srgbClr val="222222"/>
                </a:solidFill>
                <a:latin typeface="맑은 고딕"/>
              </a:rPr>
              <a:t>•  그 밖에는 Standby에 고아 파일이 남음</a:t>
            </a:r>
          </a:p>
          <a:p>
            <a:pPr algn="l">
              <a:spcAft>
                <a:spcPts val="1000"/>
              </a:spcAft>
            </a:pPr>
            <a:r>
              <a:rPr sz="1700" b="0">
                <a:solidFill>
                  <a:srgbClr val="222222"/>
                </a:solidFill>
                <a:latin typeface="맑은 고딕"/>
              </a:rPr>
              <a:t>•  정리는 삭제 확인 뒤, 지우지 말고 옮겨 두기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 변경과 이동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AUTO여도 Standby에 전달되지 않음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MOVE DATAFILE, RENAME FILE은 Primary만 바꿈</a:t>
            </a:r>
          </a:p>
          <a:p>
            <a:pPr algn="l">
              <a:spcAft>
                <a:spcPts val="1000"/>
              </a:spcAft>
            </a:pPr>
            <a:r>
              <a:rPr sz="1700" b="0">
                <a:solidFill>
                  <a:srgbClr val="222222"/>
                </a:solidFill>
                <a:latin typeface="맑은 고딕"/>
              </a:rPr>
              <a:t>•  적용은 파일 번호로 계속, 이름만 어긋남</a:t>
            </a:r>
          </a:p>
          <a:p>
            <a:pPr algn="l">
              <a:spcAft>
                <a:spcPts val="1000"/>
              </a:spcAft>
            </a:pPr>
            <a:r>
              <a:rPr sz="1700" b="0">
                <a:solidFill>
                  <a:srgbClr val="222222"/>
                </a:solidFill>
                <a:latin typeface="맑은 고딕"/>
              </a:rPr>
              <a:t>•  오프라인: 마운트에서 OS 이동 후 RENAME FILE</a:t>
            </a:r>
          </a:p>
          <a:p>
            <a:pPr algn="l">
              <a:spcAft>
                <a:spcPts val="1000"/>
              </a:spcAft>
            </a:pPr>
            <a:r>
              <a:rPr sz="1700" b="0">
                <a:solidFill>
                  <a:srgbClr val="222222"/>
                </a:solidFill>
                <a:latin typeface="맑은 고딕"/>
              </a:rPr>
              <a:t>•  온라인: READ ONLY로 열고 MOVE DATAFILE</a:t>
            </a:r>
          </a:p>
          <a:p>
            <a:pPr algn="l">
              <a:spcAft>
                <a:spcPts val="1000"/>
              </a:spcAft>
            </a:pPr>
            <a:r>
              <a:rPr sz="1700" b="0">
                <a:solidFill>
                  <a:srgbClr val="222222"/>
                </a:solidFill>
                <a:latin typeface="맑은 고딕"/>
              </a:rPr>
              <a:t>•  적용을 켠 채 이동은 Active Data Guard 옵션 필요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전송 가능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 내용이 리두에서 오지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플러그인 리두는 연결 선언만 담음</a:t>
            </a:r>
          </a:p>
          <a:p>
            <a:pPr algn="l">
              <a:spcAft>
                <a:spcPts val="1000"/>
              </a:spcAft>
            </a:pPr>
            <a:r>
              <a:rPr sz="1700" b="0">
                <a:solidFill>
                  <a:srgbClr val="222222"/>
                </a:solidFill>
                <a:latin typeface="맑은 고딕"/>
              </a:rPr>
              <a:t>•  적용 시점에 Standby에 같은 파일이 있어야 함</a:t>
            </a:r>
          </a:p>
          <a:p>
            <a:pPr algn="l">
              <a:spcAft>
                <a:spcPts val="1000"/>
              </a:spcAft>
            </a:pPr>
            <a:r>
              <a:rPr sz="1700" b="0">
                <a:solidFill>
                  <a:srgbClr val="222222"/>
                </a:solidFill>
                <a:latin typeface="맑은 고딕"/>
              </a:rPr>
              <a:t>•  데이터 파일 사본을 양쪽에 놓고 impdp로 플러그인</a:t>
            </a:r>
          </a:p>
          <a:p>
            <a:pPr algn="l">
              <a:spcAft>
                <a:spcPts val="1000"/>
              </a:spcAft>
            </a:pPr>
            <a:r>
              <a:rPr sz="1700" b="0">
                <a:solidFill>
                  <a:srgbClr val="222222"/>
                </a:solidFill>
                <a:latin typeface="맑은 고딕"/>
              </a:rPr>
              <a:t>•  경로가 다르면 실패 후 MANUAL, RENAME FILE, 재기동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시나리오: 새 디스크로 옮긴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Primary만 옮기고 잊은 Standby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Primary에서 큰 파일을 /u02로 온라인 이동</a:t>
            </a:r>
          </a:p>
          <a:p>
            <a:pPr algn="l">
              <a:spcAft>
                <a:spcPts val="1000"/>
              </a:spcAft>
            </a:pPr>
            <a:r>
              <a:rPr sz="1700" b="0">
                <a:solidFill>
                  <a:srgbClr val="222222"/>
                </a:solidFill>
                <a:latin typeface="맑은 고딕"/>
              </a:rPr>
              <a:t>•  Standby 파일은 /u01에 그대로, 적용은 정상</a:t>
            </a:r>
          </a:p>
          <a:p>
            <a:pPr algn="l">
              <a:spcAft>
                <a:spcPts val="1000"/>
              </a:spcAft>
            </a:pPr>
            <a:r>
              <a:rPr sz="1700" b="0">
                <a:solidFill>
                  <a:srgbClr val="222222"/>
                </a:solidFill>
                <a:latin typeface="맑은 고딕"/>
              </a:rPr>
              <a:t>•  석 달 뒤 Standby /u01 가득 참, 자동 확장 실패</a:t>
            </a:r>
          </a:p>
          <a:p>
            <a:pPr algn="l">
              <a:spcAft>
                <a:spcPts val="1000"/>
              </a:spcAft>
            </a:pPr>
            <a:r>
              <a:rPr sz="1700" b="0">
                <a:solidFill>
                  <a:srgbClr val="222222"/>
                </a:solidFill>
                <a:latin typeface="맑은 고딕"/>
              </a:rPr>
              <a:t>•  적용 중지, Primary에는 아무 신호 없음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UNNAMED 파일과 복구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UNNAMED가 생기는 경로</a:t>
            </a:r>
          </a:p>
          <a:p>
            <a:pPr algn="l">
              <a:spcAft>
                <a:spcPts val="800"/>
              </a:spcAft>
            </a:pPr>
            <a:r>
              <a:rPr sz="1600" b="0">
                <a:solidFill>
                  <a:srgbClr val="FFFFFF"/>
                </a:solidFill>
                <a:latin typeface="맑은 고딕"/>
              </a:rPr>
              <a:t>•  증상 읽기: ORA-01274, ORA-01111</a:t>
            </a:r>
          </a:p>
          <a:p>
            <a:pPr algn="l">
              <a:spcAft>
                <a:spcPts val="800"/>
              </a:spcAft>
            </a:pPr>
            <a:r>
              <a:rPr sz="1600" b="0">
                <a:solidFill>
                  <a:srgbClr val="FFFFFF"/>
                </a:solidFill>
                <a:latin typeface="맑은 고딕"/>
              </a:rPr>
              <a:t>•  CREATE DATAFILE로 복구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UNNAMED 파일이 생기는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파일을 만들지 못하면 자리만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컨트롤 파일에 $ORACLE_HOME/dbs/UNNAMEDnnnnn 등록</a:t>
            </a:r>
          </a:p>
          <a:p>
            <a:pPr algn="l">
              <a:spcAft>
                <a:spcPts val="1000"/>
              </a:spcAft>
            </a:pPr>
            <a:r>
              <a:rPr sz="1700" b="0">
                <a:solidFill>
                  <a:srgbClr val="222222"/>
                </a:solidFill>
                <a:latin typeface="맑은 고딕"/>
              </a:rPr>
              <a:t>•  실제 파일은 없음, nnnnn은 파일 번호</a:t>
            </a:r>
          </a:p>
          <a:p>
            <a:pPr algn="l">
              <a:spcAft>
                <a:spcPts val="1000"/>
              </a:spcAft>
            </a:pPr>
            <a:r>
              <a:rPr sz="1700" b="0">
                <a:solidFill>
                  <a:srgbClr val="222222"/>
                </a:solidFill>
                <a:latin typeface="맑은 고딕"/>
              </a:rPr>
              <a:t>•  원인 ①: MANUAL 상태에서 파일 추가</a:t>
            </a:r>
          </a:p>
          <a:p>
            <a:pPr algn="l">
              <a:spcAft>
                <a:spcPts val="1000"/>
              </a:spcAft>
            </a:pPr>
            <a:r>
              <a:rPr sz="1700" b="0">
                <a:solidFill>
                  <a:srgbClr val="222222"/>
                </a:solidFill>
                <a:latin typeface="맑은 고딕"/>
              </a:rPr>
              <a:t>•  원인 ②: 디렉터리 없음, 변환 규칙 누락</a:t>
            </a:r>
          </a:p>
          <a:p>
            <a:pPr algn="l">
              <a:spcAft>
                <a:spcPts val="1000"/>
              </a:spcAft>
            </a:pPr>
            <a:r>
              <a:rPr sz="1700" b="0">
                <a:solidFill>
                  <a:srgbClr val="222222"/>
                </a:solidFill>
                <a:latin typeface="맑은 고딕"/>
              </a:rPr>
              <a:t>•  원인 ③: 공간 부족, 권한 문제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증상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번호가 진행 단계를 알려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처음 멈출 때: ORA-01274 (만들 수 없었다)</a:t>
            </a:r>
          </a:p>
          <a:p>
            <a:pPr algn="l">
              <a:spcAft>
                <a:spcPts val="1000"/>
              </a:spcAft>
            </a:pPr>
            <a:r>
              <a:rPr sz="1700" b="0">
                <a:solidFill>
                  <a:srgbClr val="222222"/>
                </a:solidFill>
                <a:latin typeface="맑은 고딕"/>
              </a:rPr>
              <a:t>•  재기동 시: ORA-01111 (이름 모를 파일)</a:t>
            </a:r>
          </a:p>
          <a:p>
            <a:pPr algn="l">
              <a:spcAft>
                <a:spcPts val="1000"/>
              </a:spcAft>
            </a:pPr>
            <a:r>
              <a:rPr sz="1700" b="0">
                <a:solidFill>
                  <a:srgbClr val="222222"/>
                </a:solidFill>
                <a:latin typeface="맑은 고딕"/>
              </a:rPr>
              <a:t>•  V$DATAFILE: UNNAMED, STATUS=RECOVER</a:t>
            </a:r>
          </a:p>
          <a:p>
            <a:pPr algn="l">
              <a:spcAft>
                <a:spcPts val="1000"/>
              </a:spcAft>
            </a:pPr>
            <a:r>
              <a:rPr sz="1700" b="0">
                <a:solidFill>
                  <a:srgbClr val="222222"/>
                </a:solidFill>
                <a:latin typeface="맑은 고딕"/>
              </a:rPr>
              <a:t>•  V$DATAFILE_HEADER.ERROR = FILE MISSING</a:t>
            </a:r>
          </a:p>
          <a:p>
            <a:pPr algn="l">
              <a:spcAft>
                <a:spcPts val="1000"/>
              </a:spcAft>
            </a:pPr>
            <a:r>
              <a:rPr sz="1700" b="0">
                <a:solidFill>
                  <a:srgbClr val="222222"/>
                </a:solidFill>
                <a:latin typeface="맑은 고딕"/>
              </a:rPr>
              <a:t>•  Primary 목적지는 VALID, apply lag만 증가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CREATE DATAFILE로 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빈 파일을 만들고 적용이 채운다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MANUAL로 내림 (AUTO면 ORA-01275)</a:t>
            </a:r>
          </a:p>
          <a:p>
            <a:pPr algn="l">
              <a:spcAft>
                <a:spcPts val="1000"/>
              </a:spcAft>
            </a:pPr>
            <a:r>
              <a:rPr sz="1700" b="0">
                <a:solidFill>
                  <a:srgbClr val="222222"/>
                </a:solidFill>
                <a:latin typeface="맑은 고딕"/>
              </a:rPr>
              <a:t>•  CREATE DATAFILE 'UNNAMED...' AS '실제 경로'</a:t>
            </a:r>
          </a:p>
          <a:p>
            <a:pPr algn="l">
              <a:spcAft>
                <a:spcPts val="1000"/>
              </a:spcAft>
            </a:pPr>
            <a:r>
              <a:rPr sz="1700" b="0">
                <a:solidFill>
                  <a:srgbClr val="222222"/>
                </a:solidFill>
                <a:latin typeface="맑은 고딕"/>
              </a:rPr>
              <a:t>•  OMF 구성은 CREATE DATAFILE n AS NEW</a:t>
            </a:r>
          </a:p>
          <a:p>
            <a:pPr algn="l">
              <a:spcAft>
                <a:spcPts val="1000"/>
              </a:spcAft>
            </a:pPr>
            <a:r>
              <a:rPr sz="1700" b="0">
                <a:solidFill>
                  <a:srgbClr val="222222"/>
                </a:solidFill>
                <a:latin typeface="맑은 고딕"/>
              </a:rPr>
              <a:t>•  AUTO 복귀, 적용 재기동, V$DATAFILE 확인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재발 방지와 확인 루틴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구조 변경 작업은 Standby 확인으로 닫는다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MANUAL 원인: AUTO 고정, 복귀 확인을 절차서에</a:t>
            </a:r>
          </a:p>
          <a:p>
            <a:pPr algn="l">
              <a:spcAft>
                <a:spcPts val="1000"/>
              </a:spcAft>
            </a:pPr>
            <a:r>
              <a:rPr sz="1700" b="0">
                <a:solidFill>
                  <a:srgbClr val="222222"/>
                </a:solidFill>
                <a:latin typeface="맑은 고딕"/>
              </a:rPr>
              <a:t>•  경로 원인: 변환 규칙 보완 또는 Standby OMF</a:t>
            </a:r>
          </a:p>
          <a:p>
            <a:pPr algn="l">
              <a:spcAft>
                <a:spcPts val="1000"/>
              </a:spcAft>
            </a:pPr>
            <a:r>
              <a:rPr sz="1700" b="0">
                <a:solidFill>
                  <a:srgbClr val="222222"/>
                </a:solidFill>
                <a:latin typeface="맑은 고딕"/>
              </a:rPr>
              <a:t>•  공간 원인: 양쪽 같은 디스크 감시 기준</a:t>
            </a:r>
          </a:p>
          <a:p>
            <a:pPr algn="l">
              <a:spcAft>
                <a:spcPts val="1000"/>
              </a:spcAft>
            </a:pPr>
            <a:r>
              <a:rPr sz="1700" b="0">
                <a:solidFill>
                  <a:srgbClr val="222222"/>
                </a:solidFill>
                <a:latin typeface="맑은 고딕"/>
              </a:rPr>
              <a:t>•  작업 후: 로그 전환 → FILE# 비교 → 적용 확인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온라인 리두 로그와 Standby Redo Log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Standby에 있는 두 종류의 로그</a:t>
            </a:r>
          </a:p>
          <a:p>
            <a:pPr algn="l">
              <a:spcAft>
                <a:spcPts val="800"/>
              </a:spcAft>
            </a:pPr>
            <a:r>
              <a:rPr sz="1600" b="0">
                <a:solidFill>
                  <a:srgbClr val="FFFFFF"/>
                </a:solidFill>
                <a:latin typeface="맑은 고딕"/>
              </a:rPr>
              <a:t>•  Primary 로그 변경은 전달되지 않음</a:t>
            </a:r>
          </a:p>
          <a:p>
            <a:pPr algn="l">
              <a:spcAft>
                <a:spcPts val="800"/>
              </a:spcAft>
            </a:pPr>
            <a:r>
              <a:rPr sz="1600" b="0">
                <a:solidFill>
                  <a:srgbClr val="FFFFFF"/>
                </a:solidFill>
                <a:latin typeface="맑은 고딕"/>
              </a:rPr>
              <a:t>•  Standby에서의 추가·삭제와 오류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 있는 두 종류의 로그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지금 쓰는 로그와 전환 뒤에 쓸 로그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SRL: Standby 역할에서 RFS가 쓰는 곳</a:t>
            </a:r>
          </a:p>
          <a:p>
            <a:pPr algn="l">
              <a:spcAft>
                <a:spcPts val="1000"/>
              </a:spcAft>
            </a:pPr>
            <a:r>
              <a:rPr sz="1700" b="0">
                <a:solidFill>
                  <a:srgbClr val="222222"/>
                </a:solidFill>
                <a:latin typeface="맑은 고딕"/>
              </a:rPr>
              <a:t>•  ORL: Standby 역할에서는 쓰이지 않음</a:t>
            </a:r>
          </a:p>
          <a:p>
            <a:pPr algn="l">
              <a:spcAft>
                <a:spcPts val="1000"/>
              </a:spcAft>
            </a:pPr>
            <a:r>
              <a:rPr sz="1700" b="0">
                <a:solidFill>
                  <a:srgbClr val="222222"/>
                </a:solidFill>
                <a:latin typeface="맑은 고딕"/>
              </a:rPr>
              <a:t>•  ORL은 역할 전환 뒤 LGWR이 쓰기 시작</a:t>
            </a:r>
          </a:p>
          <a:p>
            <a:pPr algn="l">
              <a:spcAft>
                <a:spcPts val="1000"/>
              </a:spcAft>
            </a:pPr>
            <a:r>
              <a:rPr sz="1700" b="0">
                <a:solidFill>
                  <a:srgbClr val="222222"/>
                </a:solidFill>
                <a:latin typeface="맑은 고딕"/>
              </a:rPr>
              <a:t>•  V$LOG 상태: UNUSED, CLEARING, CLEARING_CURRENT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로그 변경은 전달되지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AUTO여도 마찬가지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ADD/DROP LOGFILE GROUP은 Standby ORL을 안 바꿈</a:t>
            </a:r>
          </a:p>
          <a:p>
            <a:pPr algn="l">
              <a:spcAft>
                <a:spcPts val="1000"/>
              </a:spcAft>
            </a:pPr>
            <a:r>
              <a:rPr sz="1700" b="0">
                <a:solidFill>
                  <a:srgbClr val="222222"/>
                </a:solidFill>
                <a:latin typeface="맑은 고딕"/>
              </a:rPr>
              <a:t>•  전환 뒤 그룹 수 부족 → 로그 전환 대기 증가</a:t>
            </a:r>
          </a:p>
          <a:p>
            <a:pPr algn="l">
              <a:spcAft>
                <a:spcPts val="1000"/>
              </a:spcAft>
            </a:pPr>
            <a:r>
              <a:rPr sz="1700" b="0">
                <a:solidFill>
                  <a:srgbClr val="222222"/>
                </a:solidFill>
                <a:latin typeface="맑은 고딕"/>
              </a:rPr>
              <a:t>•  ORL만 키우고 SRL을 두면 실시간 적용 강등</a:t>
            </a:r>
          </a:p>
          <a:p>
            <a:pPr algn="l">
              <a:spcAft>
                <a:spcPts val="1000"/>
              </a:spcAft>
            </a:pPr>
            <a:r>
              <a:rPr sz="1700" b="0">
                <a:solidFill>
                  <a:srgbClr val="222222"/>
                </a:solidFill>
                <a:latin typeface="맑은 고딕"/>
              </a:rPr>
              <a:t>•  함께 볼 대상 네 가지: 양쪽 ORL과 SRL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Standby에서 로그 그룹 추가와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 중지와 MANUAL이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중지 → MANUAL 전환</a:t>
            </a:r>
          </a:p>
          <a:p>
            <a:pPr algn="l">
              <a:spcAft>
                <a:spcPts val="1000"/>
              </a:spcAft>
            </a:pPr>
            <a:r>
              <a:rPr sz="1700" b="0">
                <a:solidFill>
                  <a:srgbClr val="222222"/>
                </a:solidFill>
                <a:latin typeface="맑은 고딕"/>
              </a:rPr>
              <a:t>•  추가: Primary와 같은 크기로 ADD LOGFILE</a:t>
            </a:r>
          </a:p>
          <a:p>
            <a:pPr algn="l">
              <a:spcAft>
                <a:spcPts val="1000"/>
              </a:spcAft>
            </a:pPr>
            <a:r>
              <a:rPr sz="1700" b="0">
                <a:solidFill>
                  <a:srgbClr val="222222"/>
                </a:solidFill>
                <a:latin typeface="맑은 고딕"/>
              </a:rPr>
              <a:t>•  삭제: CLEAR LOGFILE GROUP n 후 DROP</a:t>
            </a:r>
          </a:p>
          <a:p>
            <a:pPr algn="l">
              <a:spcAft>
                <a:spcPts val="1000"/>
              </a:spcAft>
            </a:pPr>
            <a:r>
              <a:rPr sz="1700" b="0">
                <a:solidFill>
                  <a:srgbClr val="222222"/>
                </a:solidFill>
                <a:latin typeface="맑은 고딕"/>
              </a:rPr>
              <a:t>•  CURRENT, CLEARING_CURRENT 그룹은 전환 뒤 삭제</a:t>
            </a:r>
          </a:p>
          <a:p>
            <a:pPr algn="l">
              <a:spcAft>
                <a:spcPts val="1000"/>
              </a:spcAft>
            </a:pPr>
            <a:r>
              <a:rPr sz="1700" b="0">
                <a:solidFill>
                  <a:srgbClr val="222222"/>
                </a:solidFill>
                <a:latin typeface="맑은 고딕"/>
              </a:rPr>
              <a:t>•  AUTO 복귀 → 적용 재기동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 작업에서 만나는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대부분 상태를 알려 주는 오류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ORA-01275: AUTO 상태에서 로그 작업</a:t>
            </a:r>
          </a:p>
          <a:p>
            <a:pPr algn="l">
              <a:spcAft>
                <a:spcPts val="1000"/>
              </a:spcAft>
            </a:pPr>
            <a:r>
              <a:rPr sz="1700" b="0">
                <a:solidFill>
                  <a:srgbClr val="222222"/>
                </a:solidFill>
                <a:latin typeface="맑은 고딕"/>
              </a:rPr>
              <a:t>•  ORA-01623: CURRENT 그룹 삭제 시도</a:t>
            </a:r>
          </a:p>
          <a:p>
            <a:pPr algn="l">
              <a:spcAft>
                <a:spcPts val="1000"/>
              </a:spcAft>
            </a:pPr>
            <a:r>
              <a:rPr sz="1700" b="0">
                <a:solidFill>
                  <a:srgbClr val="222222"/>
                </a:solidFill>
                <a:latin typeface="맑은 고딕"/>
              </a:rPr>
              <a:t>•  ORA-01624: ACTIVE 그룹, 체크포인트 후 재시도</a:t>
            </a:r>
          </a:p>
          <a:p>
            <a:pPr algn="l">
              <a:spcAft>
                <a:spcPts val="1000"/>
              </a:spcAft>
            </a:pPr>
            <a:r>
              <a:rPr sz="1700" b="0">
                <a:solidFill>
                  <a:srgbClr val="222222"/>
                </a:solidFill>
                <a:latin typeface="맑은 고딕"/>
              </a:rPr>
              <a:t>•  ORA-00359: 이미 없는 그룹, 조치 불필요</a:t>
            </a:r>
          </a:p>
          <a:p>
            <a:pPr algn="l">
              <a:spcAft>
                <a:spcPts val="1000"/>
              </a:spcAft>
            </a:pPr>
            <a:r>
              <a:rPr sz="1700" b="0">
                <a:solidFill>
                  <a:srgbClr val="222222"/>
                </a:solidFill>
                <a:latin typeface="맑은 고딕"/>
              </a:rPr>
              <a:t>•  ORA-01156: 적용이 도는 중에 로그 작업</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 그룹을 지워도 파일은 남는다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순서를 바꾸면 인스턴스가 내려간다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비OMF DROP LOGFILE은 OS 파일을 지우지 않음</a:t>
            </a:r>
          </a:p>
          <a:p>
            <a:pPr algn="l">
              <a:spcAft>
                <a:spcPts val="1000"/>
              </a:spcAft>
            </a:pPr>
            <a:r>
              <a:rPr sz="1700" b="0">
                <a:solidFill>
                  <a:srgbClr val="222222"/>
                </a:solidFill>
                <a:latin typeface="맑은 고딕"/>
              </a:rPr>
              <a:t>•  삭제 성공 확인 전에 OS 파일부터 지우면 위험</a:t>
            </a:r>
          </a:p>
          <a:p>
            <a:pPr algn="l">
              <a:spcAft>
                <a:spcPts val="1000"/>
              </a:spcAft>
            </a:pPr>
            <a:r>
              <a:rPr sz="1700" b="0">
                <a:solidFill>
                  <a:srgbClr val="222222"/>
                </a:solidFill>
                <a:latin typeface="맑은 고딕"/>
              </a:rPr>
              <a:t>•  CURRENT 그룹 파일이면 다음 전환에서 인스턴스 종료</a:t>
            </a:r>
          </a:p>
          <a:p>
            <a:pPr algn="l">
              <a:spcAft>
                <a:spcPts val="1000"/>
              </a:spcAft>
            </a:pPr>
            <a:r>
              <a:rPr sz="1700" b="0">
                <a:solidFill>
                  <a:srgbClr val="222222"/>
                </a:solidFill>
                <a:latin typeface="맑은 고딕"/>
              </a:rPr>
              <a:t>•  순서: DB에서 제거 → 조회 확인 → 옮겨 두기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멀티테넌트 환경의 PDB 변경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PDB 생성 방법별 파일 확보</a:t>
            </a:r>
          </a:p>
          <a:p>
            <a:pPr algn="l">
              <a:spcAft>
                <a:spcPts val="800"/>
              </a:spcAft>
            </a:pPr>
            <a:r>
              <a:rPr sz="1600" b="0">
                <a:solidFill>
                  <a:srgbClr val="FFFFFF"/>
                </a:solidFill>
                <a:latin typeface="맑은 고딕"/>
              </a:rPr>
              <a:t>•  ENABLED_PDBS_ON_STANDBY와 STANDBYS 절</a:t>
            </a:r>
          </a:p>
          <a:p>
            <a:pPr algn="l">
              <a:spcAft>
                <a:spcPts val="800"/>
              </a:spcAft>
            </a:pPr>
            <a:r>
              <a:rPr sz="1600" b="0">
                <a:solidFill>
                  <a:srgbClr val="FFFFFF"/>
                </a:solidFill>
                <a:latin typeface="맑은 고딕"/>
              </a:rPr>
              <a:t>•  제외된 PDB와 PDB 삭제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생성이 전달되는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파일을 어디서 얻느냐가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CON_ID, 같은 GUID로 Standby에 등록</a:t>
            </a:r>
          </a:p>
          <a:p>
            <a:pPr algn="l">
              <a:spcAft>
                <a:spcPts val="1000"/>
              </a:spcAft>
            </a:pPr>
            <a:r>
              <a:rPr sz="1700" b="0">
                <a:solidFill>
                  <a:srgbClr val="222222"/>
                </a:solidFill>
                <a:latin typeface="맑은 고딕"/>
              </a:rPr>
              <a:t>•  시드에서 생성: Standby의 PDB$SEED 복사, 자동</a:t>
            </a:r>
          </a:p>
          <a:p>
            <a:pPr algn="l">
              <a:spcAft>
                <a:spcPts val="1000"/>
              </a:spcAft>
            </a:pPr>
            <a:r>
              <a:rPr sz="1700" b="0">
                <a:solidFill>
                  <a:srgbClr val="222222"/>
                </a:solidFill>
                <a:latin typeface="맑은 고딕"/>
              </a:rPr>
              <a:t>•  로컬 클론: Standby의 원본 PDB 복사</a:t>
            </a:r>
          </a:p>
          <a:p>
            <a:pPr algn="l">
              <a:spcAft>
                <a:spcPts val="1000"/>
              </a:spcAft>
            </a:pPr>
            <a:r>
              <a:rPr sz="1700" b="0">
                <a:solidFill>
                  <a:srgbClr val="222222"/>
                </a:solidFill>
                <a:latin typeface="맑은 고딕"/>
              </a:rPr>
              <a:t>•  원격 클론, XML 플러그인: 원본이 Standby에 없음</a:t>
            </a:r>
          </a:p>
          <a:p>
            <a:pPr algn="l">
              <a:spcAft>
                <a:spcPts val="1000"/>
              </a:spcAft>
            </a:pPr>
            <a:r>
              <a:rPr sz="1700" b="0">
                <a:solidFill>
                  <a:srgbClr val="222222"/>
                </a:solidFill>
                <a:latin typeface="맑은 고딕"/>
              </a:rPr>
              <a:t>•  새 PDB는 Standby에서 MOUNTED로 시작</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18c의 자동 복사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원격 클론과 플러그인의 수작업 줄이기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12c: Primary 생성 전에 Standby에 파일 직접 복사</a:t>
            </a:r>
          </a:p>
          <a:p>
            <a:pPr algn="l">
              <a:spcAft>
                <a:spcPts val="1000"/>
              </a:spcAft>
            </a:pPr>
            <a:r>
              <a:rPr sz="1700" b="0">
                <a:solidFill>
                  <a:srgbClr val="222222"/>
                </a:solidFill>
                <a:latin typeface="맑은 고딕"/>
              </a:rPr>
              <a:t>•  STANDBY_PDB_SOURCE_FILE_DIRECTORY: 플러그인 파일 위치</a:t>
            </a:r>
          </a:p>
          <a:p>
            <a:pPr algn="l">
              <a:spcAft>
                <a:spcPts val="1000"/>
              </a:spcAft>
            </a:pPr>
            <a:r>
              <a:rPr sz="1700" b="0">
                <a:solidFill>
                  <a:srgbClr val="222222"/>
                </a:solidFill>
                <a:latin typeface="맑은 고딕"/>
              </a:rPr>
              <a:t>•  STANDBY_PDB_SOURCE_FILE_DBLINK: 원격 클론 원본 링크</a:t>
            </a:r>
          </a:p>
          <a:p>
            <a:pPr algn="l">
              <a:spcAft>
                <a:spcPts val="1000"/>
              </a:spcAft>
            </a:pPr>
            <a:r>
              <a:rPr sz="1700" b="0">
                <a:solidFill>
                  <a:srgbClr val="222222"/>
                </a:solidFill>
                <a:latin typeface="맑은 고딕"/>
              </a:rPr>
              <a:t>•  DB 링크는 원본 PDB를 가리키고 원본이 READ ONLY여야 함</a:t>
            </a:r>
          </a:p>
          <a:p>
            <a:pPr algn="l">
              <a:spcAft>
                <a:spcPts val="1000"/>
              </a:spcAft>
            </a:pPr>
            <a:r>
              <a:rPr sz="1700" b="0">
                <a:solidFill>
                  <a:srgbClr val="222222"/>
                </a:solidFill>
                <a:latin typeface="맑은 고딕"/>
              </a:rPr>
              <a:t>•  조건이 안 맞으면 여전히 수동 복사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ENABLED_PDBS_ON_STANDBY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Standby마다 복제할 PDB 고르기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Standby에 설정, Primary에서는 무시</a:t>
            </a:r>
          </a:p>
          <a:p>
            <a:pPr algn="l">
              <a:spcAft>
                <a:spcPts val="1000"/>
              </a:spcAft>
            </a:pPr>
            <a:r>
              <a:rPr sz="1700" b="0">
                <a:solidFill>
                  <a:srgbClr val="222222"/>
                </a:solidFill>
                <a:latin typeface="맑은 고딕"/>
              </a:rPr>
              <a:t>•  미지정이면 모든 PDB("*")</a:t>
            </a:r>
          </a:p>
          <a:p>
            <a:pPr algn="l">
              <a:spcAft>
                <a:spcPts val="1000"/>
              </a:spcAft>
            </a:pPr>
            <a:r>
              <a:rPr sz="1700" b="0">
                <a:solidFill>
                  <a:srgbClr val="222222"/>
                </a:solidFill>
                <a:latin typeface="맑은 고딕"/>
              </a:rPr>
              <a:t>•  와일드카드 *, 앞에 -를 붙이면 제외</a:t>
            </a:r>
          </a:p>
          <a:p>
            <a:pPr algn="l">
              <a:spcAft>
                <a:spcPts val="1000"/>
              </a:spcAft>
            </a:pPr>
            <a:r>
              <a:rPr sz="1700" b="0">
                <a:solidFill>
                  <a:srgbClr val="222222"/>
                </a:solidFill>
                <a:latin typeface="맑은 고딕"/>
              </a:rPr>
              <a:t>•  여러 패턴이 겹치면 오른쪽이 우선</a:t>
            </a:r>
          </a:p>
          <a:p>
            <a:pPr algn="l">
              <a:spcAft>
                <a:spcPts val="1000"/>
              </a:spcAft>
            </a:pPr>
            <a:r>
              <a:rPr sz="1700" b="0">
                <a:solidFill>
                  <a:srgbClr val="222222"/>
                </a:solidFill>
                <a:latin typeface="맑은 고딕"/>
              </a:rPr>
              <a:t>•  Primary 쪽 선택: CREATE PLUGGABLE DATABASE ... STANDBYS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제외된 PDB와 나중에 포함하기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RECOVERY_STATUS로 구분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제외된 PDB도 이름과 메타데이터는 등록</a:t>
            </a:r>
          </a:p>
          <a:p>
            <a:pPr algn="l">
              <a:spcAft>
                <a:spcPts val="1000"/>
              </a:spcAft>
            </a:pPr>
            <a:r>
              <a:rPr sz="1700" b="0">
                <a:solidFill>
                  <a:srgbClr val="222222"/>
                </a:solidFill>
                <a:latin typeface="맑은 고딕"/>
              </a:rPr>
              <a:t>•  데이터 파일은 OFFLINE, 리두 적용 대상에서 빠짐</a:t>
            </a:r>
          </a:p>
          <a:p>
            <a:pPr algn="l">
              <a:spcAft>
                <a:spcPts val="1000"/>
              </a:spcAft>
            </a:pPr>
            <a:r>
              <a:rPr sz="1700" b="0">
                <a:solidFill>
                  <a:srgbClr val="222222"/>
                </a:solidFill>
                <a:latin typeface="맑은 고딕"/>
              </a:rPr>
              <a:t>•  V$PDBS.RECOVERY_STATUS: ENABLED / DISABLED</a:t>
            </a:r>
          </a:p>
          <a:p>
            <a:pPr algn="l">
              <a:spcAft>
                <a:spcPts val="1000"/>
              </a:spcAft>
            </a:pPr>
            <a:r>
              <a:rPr sz="1700" b="0">
                <a:solidFill>
                  <a:srgbClr val="222222"/>
                </a:solidFill>
                <a:latin typeface="맑은 고딕"/>
              </a:rPr>
              <a:t>•  포함: FROM SERVICE로 파일 복원 → ENABLE RECOVERY</a:t>
            </a:r>
          </a:p>
          <a:p>
            <a:pPr algn="l">
              <a:spcAft>
                <a:spcPts val="1000"/>
              </a:spcAft>
            </a:pPr>
            <a:r>
              <a:rPr sz="1700" b="0">
                <a:solidFill>
                  <a:srgbClr val="222222"/>
                </a:solidFill>
                <a:latin typeface="맑은 고딕"/>
              </a:rPr>
              <a:t>•  제외된 PDB는 역할 전환 뒤 새 Primary에서 못 엶</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삭제와 시나리오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개발 PDB 때문에 멈춘 적용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PLUGGABLE DATABASE는 Standby에도 반영</a:t>
            </a:r>
          </a:p>
          <a:p>
            <a:pPr algn="l">
              <a:spcAft>
                <a:spcPts val="1000"/>
              </a:spcAft>
            </a:pPr>
            <a:r>
              <a:rPr sz="1700" b="0">
                <a:solidFill>
                  <a:srgbClr val="222222"/>
                </a:solidFill>
                <a:latin typeface="맑은 고딕"/>
              </a:rPr>
              <a:t>•  OMF는 빈 GUID 디렉터리가 남을 수 있음, rmdir로 정리</a:t>
            </a:r>
          </a:p>
          <a:p>
            <a:pPr algn="l">
              <a:spcAft>
                <a:spcPts val="1000"/>
              </a:spcAft>
            </a:pPr>
            <a:r>
              <a:rPr sz="1700" b="0">
                <a:solidFill>
                  <a:srgbClr val="222222"/>
                </a:solidFill>
                <a:latin typeface="맑은 고딕"/>
              </a:rPr>
              <a:t>•  시나리오: 원격 클론 개발 PDB에서 적용 중지</a:t>
            </a:r>
          </a:p>
          <a:p>
            <a:pPr algn="l">
              <a:spcAft>
                <a:spcPts val="1000"/>
              </a:spcAft>
            </a:pPr>
            <a:r>
              <a:rPr sz="1700" b="0">
                <a:solidFill>
                  <a:srgbClr val="222222"/>
                </a:solidFill>
                <a:latin typeface="맑은 고딕"/>
              </a:rPr>
              <a:t>•  대책: '*','-DEV*' 설정과 이름 규칙 통일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NOLOGGING 작업과 복구 불가 블록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Standby에서 일어나는 일</a:t>
            </a:r>
          </a:p>
          <a:p>
            <a:pPr algn="l">
              <a:spcAft>
                <a:spcPts val="800"/>
              </a:spcAft>
            </a:pPr>
            <a:r>
              <a:rPr sz="1600" b="0">
                <a:solidFill>
                  <a:srgbClr val="FFFFFF"/>
                </a:solidFill>
                <a:latin typeface="맑은 고딕"/>
              </a:rPr>
              <a:t>•  영향받은 파일 찾기</a:t>
            </a:r>
          </a:p>
          <a:p>
            <a:pPr algn="l">
              <a:spcAft>
                <a:spcPts val="800"/>
              </a:spcAft>
            </a:pPr>
            <a:r>
              <a:rPr sz="1600" b="0">
                <a:solidFill>
                  <a:srgbClr val="FFFFFF"/>
                </a:solidFill>
                <a:latin typeface="맑은 고딕"/>
              </a:rPr>
              <a:t>•  복구와 예방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Standby에서 무엇이 일어나는가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적용은 조용히 지나가고 조회에서 터진다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직접 경로 적재 + NOLOGGING: 블록 내용 없음</a:t>
            </a:r>
          </a:p>
          <a:p>
            <a:pPr algn="l">
              <a:spcAft>
                <a:spcPts val="1000"/>
              </a:spcAft>
            </a:pPr>
            <a:r>
              <a:rPr sz="1700" b="0">
                <a:solidFill>
                  <a:srgbClr val="222222"/>
                </a:solidFill>
                <a:latin typeface="맑은 고딕"/>
              </a:rPr>
              <a:t>•  Standby는 블록을 복구 불가로 표시하고 진행</a:t>
            </a:r>
          </a:p>
          <a:p>
            <a:pPr algn="l">
              <a:spcAft>
                <a:spcPts val="1000"/>
              </a:spcAft>
            </a:pPr>
            <a:r>
              <a:rPr sz="1700" b="0">
                <a:solidFill>
                  <a:srgbClr val="222222"/>
                </a:solidFill>
                <a:latin typeface="맑은 고딕"/>
              </a:rPr>
              <a:t>•  조회나 Failover 뒤 업무에서 오류 발생</a:t>
            </a:r>
          </a:p>
          <a:p>
            <a:pPr algn="l">
              <a:spcAft>
                <a:spcPts val="1000"/>
              </a:spcAft>
            </a:pPr>
            <a:r>
              <a:rPr sz="1700" b="0">
                <a:solidFill>
                  <a:srgbClr val="222222"/>
                </a:solidFill>
                <a:latin typeface="맑은 고딕"/>
              </a:rPr>
              <a:t>•  ORA-01578 + ORA-26040 = NOLOGGING 흔적</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영향받은 파일 찾기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UNRECOVERABLE_CHANGE# 비교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V$DATAFILE.UNRECOVERABLE_CHANGE#, _TIME</a:t>
            </a:r>
          </a:p>
          <a:p>
            <a:pPr algn="l">
              <a:spcAft>
                <a:spcPts val="1000"/>
              </a:spcAft>
            </a:pPr>
            <a:r>
              <a:rPr sz="1700" b="0">
                <a:solidFill>
                  <a:srgbClr val="222222"/>
                </a:solidFill>
                <a:latin typeface="맑은 고딕"/>
              </a:rPr>
              <a:t>•  양쪽 값을 FILE#별로 비교</a:t>
            </a:r>
          </a:p>
          <a:p>
            <a:pPr algn="l">
              <a:spcAft>
                <a:spcPts val="1000"/>
              </a:spcAft>
            </a:pPr>
            <a:r>
              <a:rPr sz="1700" b="0">
                <a:solidFill>
                  <a:srgbClr val="222222"/>
                </a:solidFill>
                <a:latin typeface="맑은 고딕"/>
              </a:rPr>
              <a:t>•  Primary 값이 크면 Standby가 내용을 못 가진 파일</a:t>
            </a:r>
          </a:p>
          <a:p>
            <a:pPr algn="l">
              <a:spcAft>
                <a:spcPts val="1000"/>
              </a:spcAft>
            </a:pPr>
            <a:r>
              <a:rPr sz="1700" b="0">
                <a:solidFill>
                  <a:srgbClr val="222222"/>
                </a:solidFill>
                <a:latin typeface="맑은 고딕"/>
              </a:rPr>
              <a:t>•  12.2 이후 Standby의 V$NONLOGGED_BLOCK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 방법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 전체 또는 블록만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교재 방식: BEGIN BACKUP 후 파일 복사</a:t>
            </a:r>
          </a:p>
          <a:p>
            <a:pPr algn="l">
              <a:spcAft>
                <a:spcPts val="1000"/>
              </a:spcAft>
            </a:pPr>
            <a:r>
              <a:rPr sz="1700" b="0">
                <a:solidFill>
                  <a:srgbClr val="222222"/>
                </a:solidFill>
                <a:latin typeface="맑은 고딕"/>
              </a:rPr>
              <a:t>•  RMAN RECOVER DATAFILE n FROM SERVICE (12c 이후)</a:t>
            </a:r>
          </a:p>
          <a:p>
            <a:pPr algn="l">
              <a:spcAft>
                <a:spcPts val="1000"/>
              </a:spcAft>
            </a:pPr>
            <a:r>
              <a:rPr sz="1700" b="0">
                <a:solidFill>
                  <a:srgbClr val="222222"/>
                </a:solidFill>
                <a:latin typeface="맑은 고딕"/>
              </a:rPr>
              <a:t>•  RMAN NONLOGGED BLOCK 복구 (12.2 이후)</a:t>
            </a:r>
          </a:p>
          <a:p>
            <a:pPr algn="l">
              <a:spcAft>
                <a:spcPts val="1000"/>
              </a:spcAft>
            </a:pPr>
            <a:r>
              <a:rPr sz="1700" b="0">
                <a:solidFill>
                  <a:srgbClr val="222222"/>
                </a:solidFill>
                <a:latin typeface="맑은 고딕"/>
              </a:rPr>
              <a:t>•  적용 중지 상태에서 진행, 끝나면 재기동</a:t>
            </a:r>
          </a:p>
          <a:p>
            <a:pPr algn="l">
              <a:spcAft>
                <a:spcPts val="1000"/>
              </a:spcAft>
            </a:pPr>
            <a:r>
              <a:rPr sz="1700" b="0">
                <a:solidFill>
                  <a:srgbClr val="222222"/>
                </a:solidFill>
                <a:latin typeface="맑은 고딕"/>
              </a:rPr>
              <a:t>•  ORA-00308, ORA-01152면 갭부터 해소</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예방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FORCE LOGGING이 기본 방어선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FORCE LOGGING: 객체 설정과 무관하게 리두 생성</a:t>
            </a:r>
          </a:p>
          <a:p>
            <a:pPr algn="l">
              <a:spcAft>
                <a:spcPts val="1000"/>
              </a:spcAft>
            </a:pPr>
            <a:r>
              <a:rPr sz="1700" b="0">
                <a:solidFill>
                  <a:srgbClr val="222222"/>
                </a:solidFill>
                <a:latin typeface="맑은 고딕"/>
              </a:rPr>
              <a:t>•  켠 이후 작업만 보호, 기존 흔적은 별도 복구</a:t>
            </a:r>
          </a:p>
          <a:p>
            <a:pPr algn="l">
              <a:spcAft>
                <a:spcPts val="1000"/>
              </a:spcAft>
            </a:pPr>
            <a:r>
              <a:rPr sz="1700" b="0">
                <a:solidFill>
                  <a:srgbClr val="222222"/>
                </a:solidFill>
                <a:latin typeface="맑은 고딕"/>
              </a:rPr>
              <a:t>•  CDB 단위 설정, V$DATABASE.FORCE_LOGGING 확인</a:t>
            </a:r>
          </a:p>
          <a:p>
            <a:pPr algn="l">
              <a:spcAft>
                <a:spcPts val="1000"/>
              </a:spcAft>
            </a:pPr>
            <a:r>
              <a:rPr sz="1700" b="0">
                <a:solidFill>
                  <a:srgbClr val="222222"/>
                </a:solidFill>
                <a:latin typeface="맑은 고딕"/>
              </a:rPr>
              <a:t>•  18c Standby nologging 모드: ADG 옵션 필요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리두로 전달되지 않는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초기화 파라미터</a:t>
            </a:r>
          </a:p>
          <a:p>
            <a:pPr algn="l">
              <a:spcAft>
                <a:spcPts val="800"/>
              </a:spcAft>
            </a:pPr>
            <a:r>
              <a:rPr sz="1600" b="0">
                <a:solidFill>
                  <a:srgbClr val="FFFFFF"/>
                </a:solidFill>
                <a:latin typeface="맑은 고딕"/>
              </a:rPr>
              <a:t>•  패스워드 파일과 Far Sync</a:t>
            </a:r>
          </a:p>
          <a:p>
            <a:pPr algn="l">
              <a:spcAft>
                <a:spcPts val="800"/>
              </a:spcAft>
            </a:pPr>
            <a:r>
              <a:rPr sz="1600" b="0">
                <a:solidFill>
                  <a:srgbClr val="FFFFFF"/>
                </a:solidFill>
                <a:latin typeface="맑은 고딕"/>
              </a:rPr>
              <a:t>•  TDE 키스토어와 그 밖의 항목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초기화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spfile 변경은 리두에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Primary의 ALTER SYSTEM은 Standby에 반영 안 됨</a:t>
            </a:r>
          </a:p>
          <a:p>
            <a:pPr algn="l">
              <a:spcAft>
                <a:spcPts val="1000"/>
              </a:spcAft>
            </a:pPr>
            <a:r>
              <a:rPr sz="1700" b="0">
                <a:solidFill>
                  <a:srgbClr val="222222"/>
                </a:solidFill>
                <a:latin typeface="맑은 고딕"/>
              </a:rPr>
              <a:t>•  같아야 할 값: 메모리, PROCESSES, 옵티마이저</a:t>
            </a:r>
          </a:p>
          <a:p>
            <a:pPr algn="l">
              <a:spcAft>
                <a:spcPts val="1000"/>
              </a:spcAft>
            </a:pPr>
            <a:r>
              <a:rPr sz="1700" b="0">
                <a:solidFill>
                  <a:srgbClr val="222222"/>
                </a:solidFill>
                <a:latin typeface="맑은 고딕"/>
              </a:rPr>
              <a:t>•  달라야 할 값: DB_UNIQUE_NAME, FAL_SERVER, 목적지</a:t>
            </a:r>
          </a:p>
          <a:p>
            <a:pPr algn="l">
              <a:spcAft>
                <a:spcPts val="1000"/>
              </a:spcAft>
            </a:pPr>
            <a:r>
              <a:rPr sz="1700" b="0">
                <a:solidFill>
                  <a:srgbClr val="222222"/>
                </a:solidFill>
                <a:latin typeface="맑은 고딕"/>
              </a:rPr>
              <a:t>•  COMPATIBLE은 Standby 먼저, Primary 나중</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패스워드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12.2부터 리두로 갱신, Far Sync는 예외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 전송 인증에 패스워드 파일 사용</a:t>
            </a:r>
          </a:p>
          <a:p>
            <a:pPr algn="l">
              <a:spcAft>
                <a:spcPts val="1000"/>
              </a:spcAft>
            </a:pPr>
            <a:r>
              <a:rPr sz="1700" b="0">
                <a:solidFill>
                  <a:srgbClr val="222222"/>
                </a:solidFill>
                <a:latin typeface="맑은 고딕"/>
              </a:rPr>
              <a:t>•  12.2+: 권한 부여·회수, 암호 변경이 리두로 전달</a:t>
            </a:r>
          </a:p>
          <a:p>
            <a:pPr algn="l">
              <a:spcAft>
                <a:spcPts val="1000"/>
              </a:spcAft>
            </a:pPr>
            <a:r>
              <a:rPr sz="1700" b="0">
                <a:solidFill>
                  <a:srgbClr val="222222"/>
                </a:solidFill>
                <a:latin typeface="맑은 고딕"/>
              </a:rPr>
              <a:t>•  Far Sync는 적용하지 않으므로 수동 복사</a:t>
            </a:r>
          </a:p>
          <a:p>
            <a:pPr algn="l">
              <a:spcAft>
                <a:spcPts val="1000"/>
              </a:spcAft>
            </a:pPr>
            <a:r>
              <a:rPr sz="1700" b="0">
                <a:solidFill>
                  <a:srgbClr val="222222"/>
                </a:solidFill>
                <a:latin typeface="맑은 고딕"/>
              </a:rPr>
              <a:t>•  적용이 밀린 Standby는 변경을 아직 모름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TDE 키스토어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암호화된 리두는 가지만 키는 가지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암호화 데이터는 리두에도 암호화된 채 전달</a:t>
            </a:r>
          </a:p>
          <a:p>
            <a:pPr algn="l">
              <a:spcAft>
                <a:spcPts val="1000"/>
              </a:spcAft>
            </a:pPr>
            <a:r>
              <a:rPr sz="1700" b="0">
                <a:solidFill>
                  <a:srgbClr val="222222"/>
                </a:solidFill>
                <a:latin typeface="맑은 고딕"/>
              </a:rPr>
              <a:t>•  마스터 키는 데이터베이스 밖 키스토어 파일에</a:t>
            </a:r>
          </a:p>
          <a:p>
            <a:pPr algn="l">
              <a:spcAft>
                <a:spcPts val="1000"/>
              </a:spcAft>
            </a:pPr>
            <a:r>
              <a:rPr sz="1700" b="0">
                <a:solidFill>
                  <a:srgbClr val="222222"/>
                </a:solidFill>
                <a:latin typeface="맑은 고딕"/>
              </a:rPr>
              <a:t>•  SET KEY로 키 재설정 후 Standby에 키스토어 복사</a:t>
            </a:r>
          </a:p>
          <a:p>
            <a:pPr algn="l">
              <a:spcAft>
                <a:spcPts val="1000"/>
              </a:spcAft>
            </a:pPr>
            <a:r>
              <a:rPr sz="1700" b="0">
                <a:solidFill>
                  <a:srgbClr val="222222"/>
                </a:solidFill>
                <a:latin typeface="맑은 고딕"/>
              </a:rPr>
              <a:t>•  자동 로그인 키스토어(cwallet.sso)도 함께</a:t>
            </a:r>
          </a:p>
          <a:p>
            <a:pPr algn="l">
              <a:spcAft>
                <a:spcPts val="1000"/>
              </a:spcAft>
            </a:pPr>
            <a:r>
              <a:rPr sz="1700" b="0">
                <a:solidFill>
                  <a:srgbClr val="222222"/>
                </a:solidFill>
                <a:latin typeface="맑은 고딕"/>
              </a:rPr>
              <a:t>•  외부 키 관리(OKV)면 복사 불필요</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 밖의 항목과 점검표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 전환 연습 때마다 비교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CONTROLFILE 후 Standby 컨트롤 파일 재생성</a:t>
            </a:r>
          </a:p>
          <a:p>
            <a:pPr algn="l">
              <a:spcAft>
                <a:spcPts val="1000"/>
              </a:spcAft>
            </a:pPr>
            <a:r>
              <a:rPr sz="1700" b="0">
                <a:solidFill>
                  <a:srgbClr val="222222"/>
                </a:solidFill>
                <a:latin typeface="맑은 고딕"/>
              </a:rPr>
              <a:t>•  tnsnames.ora, listener.ora, OS 사용자와 권한</a:t>
            </a:r>
          </a:p>
          <a:p>
            <a:pPr algn="l">
              <a:spcAft>
                <a:spcPts val="1000"/>
              </a:spcAft>
            </a:pPr>
            <a:r>
              <a:rPr sz="1700" b="0">
                <a:solidFill>
                  <a:srgbClr val="222222"/>
                </a:solidFill>
                <a:latin typeface="맑은 고딕"/>
              </a:rPr>
              <a:t>•  점검: 성능 파라미터, COMPATIBLE</a:t>
            </a:r>
          </a:p>
          <a:p>
            <a:pPr algn="l">
              <a:spcAft>
                <a:spcPts val="1000"/>
              </a:spcAft>
            </a:pPr>
            <a:r>
              <a:rPr sz="1700" b="0">
                <a:solidFill>
                  <a:srgbClr val="222222"/>
                </a:solidFill>
                <a:latin typeface="맑은 고딕"/>
              </a:rPr>
              <a:t>•  점검: V$PWFILE_USERS, 키스토어 갱신 시각</a:t>
            </a:r>
          </a:p>
          <a:p>
            <a:pPr algn="l">
              <a:spcAft>
                <a:spcPts val="1000"/>
              </a:spcAft>
            </a:pPr>
            <a:r>
              <a:rPr sz="1700" b="0">
                <a:solidFill>
                  <a:srgbClr val="222222"/>
                </a:solidFill>
                <a:latin typeface="맑은 고딕"/>
              </a:rPr>
              <a:t>•  점검: ORL·SRL 구성, 임시 파일</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구조 변경 계획서에 Standby 단계</a:t>
            </a:r>
          </a:p>
          <a:p>
            <a:pPr algn="l">
              <a:spcAft>
                <a:spcPts val="800"/>
              </a:spcAft>
            </a:pPr>
            <a:r>
              <a:rPr sz="1600" b="0">
                <a:solidFill>
                  <a:srgbClr val="FFFFFF"/>
                </a:solidFill>
                <a:latin typeface="맑은 고딕"/>
              </a:rPr>
              <a:t>•  양쪽 AUTO, Standby에서 확인</a:t>
            </a:r>
          </a:p>
          <a:p>
            <a:pPr algn="l">
              <a:spcAft>
                <a:spcPts val="800"/>
              </a:spcAft>
            </a:pPr>
            <a:r>
              <a:rPr sz="1600" b="0">
                <a:solidFill>
                  <a:srgbClr val="FFFFFF"/>
                </a:solidFill>
                <a:latin typeface="맑은 고딕"/>
              </a:rPr>
              <a:t>•  리두 밖 항목은 전환 연습 때 비교</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 반영에도 사람의 확인이 필요하다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구조 변경 계획서에 Standby 확인 단계 포함</a:t>
            </a:r>
          </a:p>
          <a:p>
            <a:pPr algn="l">
              <a:spcAft>
                <a:spcPts val="1000"/>
              </a:spcAft>
            </a:pPr>
            <a:r>
              <a:rPr sz="1700" b="0">
                <a:solidFill>
                  <a:srgbClr val="222222"/>
                </a:solidFill>
                <a:latin typeface="맑은 고딕"/>
              </a:rPr>
              <a:t>•  양쪽 AUTO, 값은 Standby에서 조회</a:t>
            </a:r>
          </a:p>
          <a:p>
            <a:pPr algn="l">
              <a:spcAft>
                <a:spcPts val="1000"/>
              </a:spcAft>
            </a:pPr>
            <a:r>
              <a:rPr sz="1700" b="0">
                <a:solidFill>
                  <a:srgbClr val="222222"/>
                </a:solidFill>
                <a:latin typeface="맑은 고딕"/>
              </a:rPr>
              <a:t>•  경로 방식 Standby는 새 디렉터리마다 규칙 점검</a:t>
            </a:r>
          </a:p>
          <a:p>
            <a:pPr algn="l">
              <a:spcAft>
                <a:spcPts val="1000"/>
              </a:spcAft>
            </a:pPr>
            <a:r>
              <a:rPr sz="1700" b="0">
                <a:solidFill>
                  <a:srgbClr val="222222"/>
                </a:solidFill>
                <a:latin typeface="맑은 고딕"/>
              </a:rPr>
              <a:t>•  로그 구성 변경은 네 군데를 한 작업으로</a:t>
            </a:r>
          </a:p>
          <a:p>
            <a:pPr algn="l">
              <a:spcAft>
                <a:spcPts val="1000"/>
              </a:spcAft>
            </a:pPr>
            <a:r>
              <a:rPr sz="1700" b="0">
                <a:solidFill>
                  <a:srgbClr val="222222"/>
                </a:solidFill>
                <a:latin typeface="맑은 고딕"/>
              </a:rPr>
              <a:t>•  FORCE LOGGING과 UNRECOVERABLE_CHANGE# 정기 점검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구조 변경은 리두로 전달, 파일 위치는 Standby 설정이 결정</a:t>
            </a:r>
          </a:p>
          <a:p>
            <a:pPr algn="l">
              <a:spcAft>
                <a:spcPts val="1000"/>
              </a:spcAft>
            </a:pPr>
            <a:r>
              <a:rPr sz="1600" b="0">
                <a:solidFill>
                  <a:srgbClr val="222222"/>
                </a:solidFill>
                <a:latin typeface="맑은 고딕"/>
              </a:rPr>
              <a:t>•  AUTO면 파일 생성·삭제 자동, MANUAL이면 UNNAMED와 적용 중지</a:t>
            </a:r>
          </a:p>
          <a:p>
            <a:pPr algn="l">
              <a:spcAft>
                <a:spcPts val="1000"/>
              </a:spcAft>
            </a:pPr>
            <a:r>
              <a:rPr sz="1600" b="0">
                <a:solidFill>
                  <a:srgbClr val="222222"/>
                </a:solidFill>
                <a:latin typeface="맑은 고딕"/>
              </a:rPr>
              <a:t>•  이름 변경, 로그 그룹, TTS·플러그인 파일은 수동</a:t>
            </a:r>
          </a:p>
          <a:p>
            <a:pPr algn="l">
              <a:spcAft>
                <a:spcPts val="1000"/>
              </a:spcAft>
            </a:pPr>
            <a:r>
              <a:rPr sz="1600" b="0">
                <a:solidFill>
                  <a:srgbClr val="222222"/>
                </a:solidFill>
                <a:latin typeface="맑은 고딕"/>
              </a:rPr>
              <a:t>•  UNNAMED: ORA-01274 → ORA-01111, MANUAL에서 CREATE DATAFILE</a:t>
            </a:r>
          </a:p>
          <a:p>
            <a:pPr algn="l">
              <a:spcAft>
                <a:spcPts val="1000"/>
              </a:spcAft>
            </a:pPr>
            <a:r>
              <a:rPr sz="1600" b="0">
                <a:solidFill>
                  <a:srgbClr val="222222"/>
                </a:solidFill>
                <a:latin typeface="맑은 고딕"/>
              </a:rPr>
              <a:t>•  PDB 복제 대상은 ENABLED_PDBS_ON_STANDBY, STANDBYS 절</a:t>
            </a:r>
          </a:p>
          <a:p>
            <a:pPr algn="l">
              <a:spcAft>
                <a:spcPts val="1000"/>
              </a:spcAft>
            </a:pPr>
            <a:r>
              <a:rPr sz="1600" b="0">
                <a:solidFill>
                  <a:srgbClr val="222222"/>
                </a:solidFill>
                <a:latin typeface="맑은 고딕"/>
              </a:rPr>
              <a:t>•  NOLOGGING은 FORCE LOGGING으로 예방, 파라미터·TDE는 리두 밖</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Primary만 AUTO, Standby는 MANUAL이면? → UNNAMED와 적용 중지</a:t>
            </a:r>
          </a:p>
          <a:p>
            <a:pPr algn="l">
              <a:spcAft>
                <a:spcPts val="1000"/>
              </a:spcAft>
            </a:pPr>
            <a:r>
              <a:rPr sz="1600" b="0">
                <a:solidFill>
                  <a:srgbClr val="222222"/>
                </a:solidFill>
                <a:latin typeface="맑은 고딕"/>
              </a:rPr>
              <a:t>•  Q2. AUTO Standby에서 RENAME FILE 오류는? → ORA-01275</a:t>
            </a:r>
          </a:p>
          <a:p>
            <a:pPr algn="l">
              <a:spcAft>
                <a:spcPts val="1000"/>
              </a:spcAft>
            </a:pPr>
            <a:r>
              <a:rPr sz="1600" b="0">
                <a:solidFill>
                  <a:srgbClr val="222222"/>
                </a:solidFill>
                <a:latin typeface="맑은 고딕"/>
              </a:rPr>
              <a:t>•  Q3. Primary에서 MOVE DATAFILE 후 Standby는? → 원래 경로, 적용 계속</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Primary에 로그 그룹 추가 후 Standby는? → MANUAL로 직접 추가</a:t>
            </a:r>
          </a:p>
          <a:p>
            <a:pPr algn="l">
              <a:spcAft>
                <a:spcPts val="1000"/>
              </a:spcAft>
            </a:pPr>
            <a:r>
              <a:rPr sz="1600" b="0">
                <a:solidFill>
                  <a:srgbClr val="222222"/>
                </a:solidFill>
                <a:latin typeface="맑은 고딕"/>
              </a:rPr>
              <a:t>•  Q5. "*","-PDB*A","PDB2A"의 결과는? → PDB1B, PDB2A</a:t>
            </a:r>
          </a:p>
          <a:p>
            <a:pPr algn="l">
              <a:spcAft>
                <a:spcPts val="1000"/>
              </a:spcAft>
            </a:pPr>
            <a:r>
              <a:rPr sz="1600" b="0">
                <a:solidFill>
                  <a:srgbClr val="222222"/>
                </a:solidFill>
                <a:latin typeface="맑은 고딕"/>
              </a:rPr>
              <a:t>•  Q6. ORA-01578 + ORA-26040이면? → NOLOGGING 흔적, 다시 가져옴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자동 반영 확인 / 02 파일 추가와 크기 변경 (8.3, 8.4)</a:t>
            </a:r>
          </a:p>
          <a:p>
            <a:pPr algn="l">
              <a:spcAft>
                <a:spcPts val="1000"/>
              </a:spcAft>
            </a:pPr>
            <a:r>
              <a:rPr sz="1600" b="0">
                <a:solidFill>
                  <a:srgbClr val="222222"/>
                </a:solidFill>
                <a:latin typeface="맑은 고딕"/>
              </a:rPr>
              <a:t>•  03 MANUAL과 UNNAMED 파일 (8.3, 8.5)</a:t>
            </a:r>
          </a:p>
          <a:p>
            <a:pPr algn="l">
              <a:spcAft>
                <a:spcPts val="1000"/>
              </a:spcAft>
            </a:pPr>
            <a:r>
              <a:rPr sz="1600" b="0">
                <a:solidFill>
                  <a:srgbClr val="222222"/>
                </a:solidFill>
                <a:latin typeface="맑은 고딕"/>
              </a:rPr>
              <a:t>•  04 UNNAMED 파일 복구 (8.5)</a:t>
            </a:r>
          </a:p>
          <a:p>
            <a:pPr algn="l">
              <a:spcAft>
                <a:spcPts val="1000"/>
              </a:spcAft>
            </a:pPr>
            <a:r>
              <a:rPr sz="1600" b="0">
                <a:solidFill>
                  <a:srgbClr val="222222"/>
                </a:solidFill>
                <a:latin typeface="맑은 고딕"/>
              </a:rPr>
              <a:t>•  05 PDB 추가와 삭제 (8.7)</a:t>
            </a:r>
          </a:p>
          <a:p>
            <a:pPr algn="l">
              <a:spcAft>
                <a:spcPts val="1000"/>
              </a:spcAft>
            </a:pPr>
            <a:r>
              <a:rPr sz="1600" b="0">
                <a:solidFill>
                  <a:srgbClr val="222222"/>
                </a:solidFill>
                <a:latin typeface="맑은 고딕"/>
              </a:rPr>
              <a:t>•  06 반영되지 않는 것: 온라인 리두 로그 (8.6)</a:t>
            </a:r>
          </a:p>
          <a:p>
            <a:pPr algn="l">
              <a:spcAft>
                <a:spcPts val="1000"/>
              </a:spcAft>
            </a:pPr>
            <a:r>
              <a:rPr sz="1600" b="0">
                <a:solidFill>
                  <a:srgbClr val="222222"/>
                </a:solidFill>
                <a:latin typeface="맑은 고딕"/>
              </a:rPr>
              <a:t>•  07 사고 분석: CURRENT 리두 삭제, 읽기 자료 (8.6)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
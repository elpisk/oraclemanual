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Standby는 Primary 블록을 그대로 복사한 쌍둥이이고, 논리 Standby는 같은 내용을 담은 다른 데이터베이스에 가깝습니다. 같은 INSERT가 실행되더라도 그 행이 어느 블록에 들어갈지는 Standby가 스스로 정하므로 ROWID가 달라집니다. 이 차이에서 장점과 단점이 한꺼번에 나옵니다. 구조가 독립적이니 인덱스를 마음대로 더할 수 있지만, 리두를 해석해 SQL로 다시 만드는 과정이 들어가니 해석할 수 없는 유형이 생기고 CPU도 더 듭니다.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실무에서 Logical Standby를 고르는 가장 흔한 이유는 보고 시스템입니다. Primary는 주문 처리에 맞춘 인덱스만 두고, 보고용 인덱스나 요약 테이블은 Standby에 따로 만드는 식입니다. 손상 차단도 눈여겨볼 만합니다. 블록 이미지를 옮기지 않으므로 Primary의 스토리지가 망가뜨린 블록이 Standby로 그대로 옮겨 가지 않습니다. 롤링 업그레이드는 버전이 달라도 적용이 된다는 성질을 이용하는데, 원리는 마지막 절에서 정리합니다.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표의 여러 줄 가운데 컨트롤 파일 유형은 운영 중에 바로 오류로 드러나는 항목입니다. Logical Standby의 컨트롤 파일은 CURRENT라서, 습관처럼 RECOVER MANAGED STANDBY DATABASE를 입력하면 ORA-01665가 납니다. MRP는 Standby 컨트롤 파일에서만 뜨기 때문입니다. 재해 복구 관점에서는 물리 Standby가 우선입니다. 모든 데이터를 빠짐없이 지키고 지연도 작아서, 보통 재해 복구용은 물리로 두고 논리 Standby는 보고용 구성원으로 하나 더 붙입니다.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조회만 하면 되는 요구에 Logical Standby를 고르는 경우가 종종 있는데, 이때는 Active Data Guard의 실시간 조회와 비교해 보는 것이 먼저입니다. 실시간 조회는 적용 비용이 낮고 유형 제약도 없지만 옵션 라이선스가 필요합니다. 반대로 Logical Standby는 라이선스 추가 없이 쓸 수 있는 대신 제약과 관리 부담을 떠안습니다. 롤링 업그레이드를 자동화하는 DBMS_ROLLING은 ADG 옵션이 필요하므로, 같은 SQL Apply 기반이라도 라이선스가 갈린다는 데 유의해야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 레코드에는 HR.EMPLOYEES 같은 이름이 들어 있지 않고 객체 번호와 열 번호만 있습니다. 물리 Standby는 번호만으로 같은 블록을 고치면 되니 이름이 필요 없었습니다. 논리 Standby는 SQL을 만들어야 하므로 번호를 이름으로 바꿔 줄 사전이 필요한데, Standby는 Primary의 딕셔너리를 직접 볼 수 없습니다. 이 문제를 풀려고 Primary가 딕셔너리를 리두에 담아 보내는 작업이 생성 절차의 BUILD 단계입니다. 행을 찾을 때 쓰는 키 값은 보충 로깅이 리두에 남겨 줍니다.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LCR은 논리 변경 레코드로, 어느 테이블의 어느 행이 어떻게 바뀌었는지를 담은 단위입니다. Preparer가 막 만들어 낸 LCR은 아직 트랜잭션별로 정리되지 않은 낱개 변경이고, Builder가 커밋 레코드까지 모아서 완결된 트랜잭션으로 묶습니다. 이 중간 결과물은 공유 풀의 LCR 캐시에 머무는데, 수백만 행을 바꾸는 대형 트랜잭션이 들어오면 캐시가 차서 디스크로 내려 쓰게 됩니다. 성능 조정 절에서 MAX_SGA를 다룰 때 이 spill이 다시 나옵니다.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Standby에서 MRP0가 하던 지휘 역할을 여기서는 LSP0, 곧 Coordinator가 맡습니다. Analyzer가 두 트랜잭션이 같은 행을 건드리는지 따져 두면, 서로 무관한 트랜잭션은 여러 Applier가 동시에 실행합니다. 의존이 남은 트랜잭션은 Applier가 Coordinator의 승인을 기다립니다. 실습 4에서 V$LOGSTDBY_PROCESS를 조회하면 이 여섯 종류가 TYPE 열에 그대로 나타나며, Applier는 보통 여러 개가 함께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병렬로 SQL을 실행하면 끝나는 순서가 뒤바뀔 수 있습니다. 예를 들어 Primary에서 계좌 A 출금이 먼저, 계좌 B 입금이 나중에 커밋됐는데 Standby에서 입금이 먼저 보이면, 잠깐 동안 돈이 두 곳에 있는 상태를 조회하게 됩니다. 기본값 TRUE는 이런 상태를 막으려고 커밋 순서를 Primary와 맞춥니다. 보고 시스템에서는 대개 TRUE를 유지하는 편이 맞고, FALSE는 조회가 없는 적재 시간대처럼 처리량이 우선인 상황에서만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오래된 시스템에는 SYSTEM 스키마에 업무 테이블을 만들어 둔 경우가 의외로 많습니다. 이런 테이블은 열 유형이 평범해도 복제되지 않고, DBA_LOGSTDBY_UNSUPPORTED에도 나오지 않으니 아무도 모르는 채 Standby에서 빠집니다. 전환 전에 내부 스키마 목록을 뽑아 각 스키마의 사용자 테이블을 대조해야 하는 이유가 여기 있습니다. Multitenant에서는 루트와 PDB의 결과가 다르므로, 컨테이너마다 같은 조회를 반복합니다.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미지원 열이 하나라도 있으면 그 테이블 전체가 적용에서 빠지고, Primary에서 변경이 일어나도 Standby는 아무 오류 없이 지나갑니다. 오류가 없다는 점 때문에 문제가 늦게 발견됩니다. 지원 범위는 버전과 COMPATIBLE 값에 따라 꾸준히 넓어져 왔기 때문에 목록을 외우기보다 실제 Primary에서 뷰를 조회해 판단하는 편이 정확합니다. 결과 목록은 업무 담당자와 함께 보면서 Standby에 꼭 필요한 테이블이 있는지 확인하는 절차로 쓰면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목록의 문장은 데이터 변경이 아니거나 그 인스턴스에만 의미가 있는 것들입니다. 운영에서 주로 문제가 되는 것은 데이터베이스 링크와 머티리얼라이즈드 뷰입니다. Primary에서 보고용 MV를 새로 만들었는데 Standby에는 생기지 않아, Standby에서 같은 보고서가 실패하는 식입니다. PL/SQL 패키지는 리두를 남기지 않는 것, 사용자 데이터만 바꾸는 것, 시스템 메타데이터를 바꾸는 것으로 나눠 보면 정리가 쉽고, 마지막 부류가 대체로 지원되지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Standby의 행은 ROWID가 Primary와 다르니, UPDATE나 DELETE를 적용하려면 키 값으로 행을 찾아야 합니다. 키가 없으면 모든 열 값을 리두에 남기고 Standby에서는 그 값으로 전체 스캔을 하게 됩니다. BAD_COLUMN이 Y인 경우가 더 심각한데, LOB 값만 다른 두 행이 있으면 어느 행을 고쳐야 할지 정할 수 없어 SQL Apply가 멈춥니다. Y인 테이블부터 키를 정비하고, N인 테이블은 다음 슬라이드의 RELY 제약으로 보완하는 순서가 현실적입니다.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RELY DISABLE 기본 키는 Primary에서 아무것도 검사하지 않는 표시용 제약입니다. 응용 프로그램이 유일성을 보장한다면 인덱스 유지 비용 없이 보충 로깅에 어떤 열을 남길지만 알려 줄 수 있습니다. 다만 고른 열 조합이 실제 데이터에서 중복되면 SQL Apply가 행을 특정하지 못하니, 데이터를 조회해 확인하고 정해야 합니다. 보충 로깅은 리두량을 늘리는데, 키가 없는 테이블이 많을수록 모든 열이 기록되어 증가 폭이 커집니다.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Logical Standby로 바꾼 뒤에는 되돌리는 명령이 없습니다. 물리 Standby로 돌아가려면 5장이나 6장의 절차로 처음부터 다시 만들어야 하니, 점검은 전환 전에 끝내야 합니다. 마지막 줄의 원복 수단은 실습에서는 가상 머신 스냅샷이고, 운영에서는 재생성에 걸리는 시간과 그동안의 보호 공백을 미리 계산해 둔 절차서입니다. DB_NAME 길이는 다음 절의 전환 명령에서 새 이름이 8자를 넘으면 오류가 나기 때문에 함께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논리 Standby를 처음부터 만드는 명령은 없습니다. 먼저 물리 Standby를 만들어 Primary와 블록 수준까지 같은 출발점을 확보하고, 특정 리두 위치부터는 SQL로 변경만 따라가게 바꾸는 방식입니다. 그 경계가 4단계에서 만든 딕셔너리가 들어 있는 리두입니다. 단계마다 실행 위치가 Primary와 Standby를 오가므로, 실습할 때 프롬프트의 인스턴스 이름을 꼭 확인하게 해야 합니다. 3단계는 Switchover 계획이 없으면 생략할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Redo Apply를 먼저 멈추는 이유는 위치 문제입니다. 적용이 계속 돌고 있으면 딕셔너리를 담은 리두를 MRP가 그냥 적용하고 지나가 버리고, 전환 명령은 그 뒤에서 오지 않을 딕셔너리를 기다리게 됩니다. 목적지 분리는 논리 Standby가 열린 데이터베이스라서 필요합니다. SQL Apply가 실행한 변경도 Standby 자신의 리두로 남기 때문에, 자기 리두와 Primary에서 받은 리두가 섞이지 않도록 VALID_FOR로 목적지를 나눕니다.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BUILD는 Primary에서, CDB라면 루트에서 실행합니다. 실행하는 순간 진행 중인 트랜잭션을 모두 기다리므로 대형 배치가 돌고 있으면 프로시저가 오래 반환되지 않습니다. 업무가 한가한 시간에 실행하는 편이 낫습니다. 보충 로깅이 함께 켜지는 것도 부수 효과로 알고 있어야 합니다. 이 순간부터 Primary의 리두량이 늘기 때문입니다. 실습 2에서 BUILD 전후로 V$DATABASE의 보충 로깅 열을 비교해 보면 이 변화가 바로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명령 뒤에 붙이는 이름은 새 DB_NAME이므로 8자 제한을 그대로 받습니다. 8자를 넘으면 ORA-02084가 나는데, 메시지가 이름 길이 이야기처럼 읽히지 않아 처음 보면 당황하기 쉽습니다. 새 이름 형식은 DBID까지 바뀌어 Primary와 별개의 데이터베이스가 되며, 상시 운영하는 Logical Standby를 만드는 공식 절차입니다. KEEP IDENTITY는 Primary와 같은 이름과 DBID를 유지해, 업그레이드가 끝난 뒤 다시 물리 Standby로 되돌릴 수 있게 하는 형식입니다.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전환 명령은 딕셔너리가 나올 때까지 리두를 적용하며 기다리게 만들어져 있습니다. 그래서 무언가 어긋나면 오류 대신 침묵이 돌아옵니다. 알림 로그 경로는 짐작하지 말고 V$DIAG_INFO로 찾고, Media Recovery Waiting 메시지가 가리키는 시퀀스가 Primary에 아직 없는지 확인하면 원인이 좁혀집니다. Primary에서 로그 전환을 몇 번 일으켜도 진행이 없으면 딕셔너리를 이미 지나친 경우이므로, BUILD를 다시 실행하고 로그 전환을 하면 명령이 끝납니다.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이름으로 전환했다면 RESETLOGS로 열고, 이 시점부터 Standby는 자기 리두를 만드는 독립된 데이터베이스가 됩니다. 확인은 로그 등록과 적용 진행 두 가지로 나눠 봅니다. Primary에서 로그 전환을 일으켰을 때 DBA_LOGSTDBY_LOG에 새 행이 생기면 전송과 등록이 되는 것이고, APPLIED_SCN이 LATEST_SCN을 따라 올라가면 적용도 진행 중입니다. 기동 직후 몇 분 동안 INITIALIZING이나 LOADING DICTIONARY 상태로 머무는 것은 정상입니다.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Standby의 Redo Apply는 19c에서 기본이 실시간 적용이었지만, SQL Apply는 IMMEDIATE 절을 붙여야 실시간이 됩니다. 7장에서 익힌 습관대로 명령을 줄여 쓰면 아카이브 기반 적용으로 돌게 되니 주의해야 합니다. Broker로 관리하는 구성이라면 Broker가 실시간으로 기동합니다. SKIP FAILED TRANSACTION은 편리하지만, 건너뛴 변경은 Standby에 영영 반영되지 않으므로 나중에 해당 테이블을 맞추는 작업이 반드시 따라와야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파라미터를 바꾸거나 필터 규칙을 넣는 계획 작업에는 STOP을 씁니다. STOP이 몇 분씩 반환되지 않으면 고장으로 오해하기 쉬운데, 큰 트랜잭션을 마무리하는 중일 가능성이 높습니다. ABORT는 그럴 때 기다릴 수 없는 경우를 위한 명령입니다. 데이터가 틀어지지는 않고, 재기동 때 마무리하지 못한 부분을 다시 처리하므로 준비 시간이 조금 늘어납니다. 물리 Standby의 CANCEL은 MRP가 없으니 여기서는 의미가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V$LOGSTDBY_PROCESS의 STATUS 열은 정상 상태도 ORA- 번호로 표현합니다. ORA-16116은 처리할 작업이 없는 상태, ORA-16242는 로그 파일을 처리하는 상태를 나타냅니다. 이 번호를 오류로 보고 경보를 걸면 정상 시스템에서 경보가 끝없이 울립니다. 실제 오류는 DBA_LOGSTDBY_EVENTS에 원인과 함께 남으니 장애 판단은 그쪽에서 합니다. STATE가 IDLE이면 적용할 것이 없어 쉬는 중이고, 멈춘 경우에는 SQL APPLY NOT ON으로 따로 표시됩니다.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Standby에서는 RMAN 삭제 정책으로 아카이브 로그를 관리했지만, SQL Apply는 적용이 끝난 원격 로그를 스스로 지웁니다. 문제는 Standby를 Flashback으로 되돌릴 때입니다. 되돌린 시점 이후의 로그를 SQL Apply가 다시 읽어야 하는데, 이미 지워졌다면 Primary에서 다시 가져와야 합니다. 그래서 보관 시간을 Standby의 Flashback 보존 기간에 맞춰 두는 것이 안전합니다. FRA에 두는 구성이라면 이 설정 대신 FRA 공간 관리가 정리를 맡습니다.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열린 Standby에서 누군가 복제 테이블을 직접 고치면 Primary에서 오는 다음 변경과 어긋나 적용이 멈춥니다. 가드는 이것을 막기 위해 전환과 함께 ALL로 켜집니다. 보고용 스키마나 요약 테이블을 Standby에서 운영하려면 STANDBY로 내리는데, 이 수준에서도 복제 테이블은 계속 보호됩니다. NONE은 Primary의 기본값이고 Standby에서 쓸 이유는 거의 없습니다. 가드는 CDB 전체 설정이라 PDB 안에서 바꾸려 하면 ORA-65040이 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Apply가 자기 작업을 하려면 가드를 통과해야 하고, 장애 복구 때 관리자가 데이터를 직접 맞춰야 하는 경우도 있어서 SYS는 예외로 둡니다. 문제는 SYS로 접속한 사람이 가드를 풀었다는 의식이 없다는 데 있습니다. 데이터베이스 전체를 NONE으로 내리는 것보다 세션 단위 해제가 범위가 좁아 안전하고, 그보다 더 나은 방법은 STANDBY 수준에서 보고용 객체만 관리하는 전용 계정을 두는 것입니다. 실습 6에서 세 가지를 차례로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사고는 명령이 성공한 순간에는 아무 일도 일어나지 않는다는 점에서 까다롭습니다. Primary에서 그 테이블에 변경이 들어오는 시점에야 LCR의 열 개수와 Standby 테이블의 열 개수가 달라 적용이 멈춥니다. 복구할 때는 구조를 Primary와 같게 되돌리는 것만으로 끝나지 않는 경우가 많습니다. 적용이 멈춰 있는 동안 Primary에 쌓인 변경까지 맞춰야 하므로, 테이블을 Primary에서 통째로 다시 가져오는 INSTANTIATE_TABLE이 빠른 해결책입니다.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보고용 요약 테이블을 매일 밤 채우는 배치를 Standby에서 돌리고 싶다면, Standby에서 Scheduler 작업을 만들면 됩니다. 이 작업은 LOGICAL STANDBY 역할로 지정돼 Standby일 때만 실행됩니다. Primary에서 만든 작업은 Standby로 복제되긴 하지만 역할이 PRIMARY라서 실행되지 않으므로, 같은 배치가 양쪽에서 두 번 도는 일은 생기지 않습니다. Switchover 뒤에도 각 호스트가 새 역할에 맞는 작업만 실행하도록 Scheduler가 알아서 전환합니다.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물리 Standby는 Primary 전체를 받는 것 외에 선택지가 없지만, 논리 Standby는 SQL 단위로 적용하므로 걸러 낼 수 있습니다. 변경량이 많은 임시 작업 스키마나 테스트용 PDB를 빼면 Standby 부하가 눈에 띄게 줄어듭니다. 규칙은 SQL Apply를 멈춘 뒤 넣습니다. 적용 중에 실행해도 프로시저는 성공으로 끝나지만 의도한 시점부터 반영된다는 보장이 없어, 성공 메시지만 믿으면 안 됩니다. 실습 5에서 이 차이를 직접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Apply의 기본 동작은 오류가 나면 멈추는 것입니다. Standby에 없는 사용자에게 권한을 주는 GRANT처럼 실패해도 데이터에 상관없는 문장이라면 SKIP_ERROR로 넘어가게 하는 것이 운영상 편합니다. 하지만 이것을 DML이나 DDL 전체에 걸어 두면 Standby가 어긋나도 적용이 계속되고, 아무도 모르는 사이 데이터가 달라집니다. SKIP_TRANSACTION은 특정 트랜잭션 하나를 지정하는 정밀한 도구로, 오류 이력에서 ID를 확인해 씁니다.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DBA_LOGSTDBY_SKIP을 처음 조회하면 사용자가 넣지 않은 행이 많이 보이는데, 대부분 내부 스키마를 빼는 기본 규칙입니다. 사용자가 넣은 규칙만 보려면 OWNER나 STATEMENT_OPT로 걸러야 합니다. 제거할 때는 추가할 때와 같은 인수를 정확히 줘야 규칙을 찾습니다. 규칙은 Standby에만 있는 설정이라 Primary에서는 보이지 않으니, 넣을 때 사용한 인수를 운영 문서에 그대로 적어 두면 그 기록이 원복 스크립트 역할을 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INSTANTIATE_TABLE은 먼저 Standby의 테이블을 지우고 나서 Primary에서 가져옵니다. 링크 계정에 Data Pump 내보내기에 필요한 권한이 없으면, 지우기는 끝났는데 가져오기가 실패해 테이블이 아예 없는 상태로 남을 수 있습니다. 실행 전에 링크로 대상 테이블을 조회해 보고 링크 계정의 역할 목록까지 확인한 다음 실행하는 순서를 지키면 이 사고를 피할 수 있습니다. 실습 7에서 권한 부족 상황과 복구를 함께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Apply는 리두 해석과 SQL 실행을 모두 Standby에서 하므로, Primary의 변경량이 늘면 물리 Standby보다 먼저 뒤처집니다. 조정은 DBMS_LOGSTDBY.APPLY_SET 하나로 하고, 현재 값은 DBA_LOGSTDBY_PARAMETERS에서 봅니다. 일부 파라미터는 적용 중에도 바뀌지만, 프로세스 수처럼 구조에 영향을 주는 값은 멈추고 바꾼 뒤 다시 기동하는 편이 결과를 예측하기 쉽습니다. 기록 관련 파라미터는 건너뛴 오류를 이벤트로 남길지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Applier와 Preparer, 그리고 Reader, Builder, Analyzer는 모두 MAX_SERVERS라는 한 그릇 안에서 자리를 나눠 씁니다. APPLY_SERVERS를 올려 둔 상태에서 MAX_SERVERS를 기본값으로 먼저 돌리면 그릇이 내용물보다 작아져 ORA-16081로 거부됩니다. 줄일 때는 안쪽부터, 늘릴 때는 바깥쪽부터 바꾸면 됩니다. 이 서버들은 인스턴스의 병렬 실행 서버에서 가져오기 때문에, Standby에서 병렬 보고 쿼리를 많이 돌린다면 PARALLEL_MAX_SERVERS도 같이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적용이 밀릴 때 가장 먼저 떠올리는 대책이 Applier를 늘리는 것인데, 원인이 다른 곳에 있으면 효과가 없습니다. Applier가 놀고 있다면 앞단의 마이닝이 느린 것이고, 큰 트랜잭션마다 정체된다면 LCR 캐시가 작아 spill이 생기는 경우가 많습니다. 특정 테이블에서만 막힌다면 키가 없어 전체 스캔으로 행을 찾고 있을 가능성이 큽니다. 이런 테이블은 서버를 아무리 늘려도 빨라지지 않습니다. 프로세스별 통계로 병목을 짚는 절차는 15장에서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블록을 그대로 복원하는 Redo Apply는 Primary와 Standby의 버전이 같아야 합니다. SQL Apply는 리두를 SQL로 바꿔 실행하기 때문에 버전 차이를 넘을 수 있고, 이 성질 덕분에 Standby를 먼저 새 버전으로 올려 두고 준비가 되면 역할을 바꾸는 방식이 가능해집니다. 업무 중단은 Switchover에 걸리는 시간으로 줄어듭니다. 다만 업그레이드 기간에도 미지원 테이블의 변경은 넘어가지 않으므로, 이 장 앞부분의 사전 점검이 똑같이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롤링 업그레이드를 하려고 Logical Standby를 늘 운영할 필요는 없습니다. 평소에는 물리 Standby로 두다가 업그레이드 기간에만 KEEP IDENTITY로 논리 Standby로 바꾸고, 끝나면 옛 Primary를 Flashback한 뒤 새 Primary의 물리 Standby로 붙입니다. 이름과 DBID를 유지해야 이 마지막 단계가 가능합니다. DBMS_ROLLING은 이 과정을 패키지 호출 몇 번으로 묶어 주지만 ADG 옵션이 필요합니다. 구체적인 절차는 이 과정의 범위 밖이고, 역할 전환 일반은 16장에서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다룬 문제는 대부분 오류 없이 시작된다는 공통점이 있습니다. 미지원 테이블은 조용히 빠지고, SYS로 고친 테이블은 다음 변경이 올 때까지 멀쩡해 보이며, 적용 중에 넣은 SKIP 규칙은 성공 메시지를 돌려줍니다. 대책으로는 변경 절차서에 Standby 쪽 작업 칸을 따로 두고, 작업 뒤에는 DBA_LOGSTDBY_EVENTS와 적용 위치를 확인하는 단계를 넣는 것이 가장 현실적인 대책입니다. Standby 자원도 물리 Standby보다 넉넉하게 잡아야 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Logical Standby와 SQL Apply</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리두를 SQL로 되살려 적용하는 열린 Standby</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제12장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Logical Standby의 용도와 Physical과의 차이를 비교한다</a:t>
            </a:r>
          </a:p>
          <a:p>
            <a:pPr algn="l">
              <a:spcAft>
                <a:spcPts val="1000"/>
              </a:spcAft>
            </a:pPr>
            <a:r>
              <a:rPr sz="1600" b="0">
                <a:solidFill>
                  <a:srgbClr val="222222"/>
                </a:solidFill>
                <a:latin typeface="맑은 고딕"/>
              </a:rPr>
              <a:t>•  SQL Apply의 단계별 프로세스와 LCR 흐름을 설명한다</a:t>
            </a:r>
          </a:p>
          <a:p>
            <a:pPr algn="l">
              <a:spcAft>
                <a:spcPts val="1000"/>
              </a:spcAft>
            </a:pPr>
            <a:r>
              <a:rPr sz="1600" b="0">
                <a:solidFill>
                  <a:srgbClr val="222222"/>
                </a:solidFill>
                <a:latin typeface="맑은 고딕"/>
              </a:rPr>
              <a:t>•  미지원 객체와 행 식별 문제를 전환 전에 점검한다</a:t>
            </a:r>
          </a:p>
          <a:p>
            <a:pPr algn="l">
              <a:spcAft>
                <a:spcPts val="1000"/>
              </a:spcAft>
            </a:pPr>
            <a:r>
              <a:rPr sz="1600" b="0">
                <a:solidFill>
                  <a:srgbClr val="222222"/>
                </a:solidFill>
                <a:latin typeface="맑은 고딕"/>
              </a:rPr>
              <a:t>•  Physical을 거쳐 Logical로 전환하는 절차를 수행한다</a:t>
            </a:r>
          </a:p>
          <a:p>
            <a:pPr algn="l">
              <a:spcAft>
                <a:spcPts val="1000"/>
              </a:spcAft>
            </a:pPr>
            <a:r>
              <a:rPr sz="1600" b="0">
                <a:solidFill>
                  <a:srgbClr val="222222"/>
                </a:solidFill>
                <a:latin typeface="맑은 고딕"/>
              </a:rPr>
              <a:t>•  DATABASE GUARD와 SKIP 규칙으로 복제를 통제한다</a:t>
            </a:r>
          </a:p>
          <a:p>
            <a:pPr algn="l">
              <a:spcAft>
                <a:spcPts val="1000"/>
              </a:spcAft>
            </a:pPr>
            <a:r>
              <a:rPr sz="1600" b="0">
                <a:solidFill>
                  <a:srgbClr val="222222"/>
                </a:solidFill>
                <a:latin typeface="맑은 고딕"/>
              </a:rPr>
              <a:t>•  APPLY_SET으로 적용 성능을 조정하고 롤링 업그레이드와 연결한다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12.2  Logical Standby의 용도와 Physical과의 차이</a:t>
            </a:r>
          </a:p>
          <a:p>
            <a:pPr algn="l">
              <a:spcAft>
                <a:spcPts val="1000"/>
              </a:spcAft>
            </a:pPr>
            <a:r>
              <a:rPr sz="1600" b="0">
                <a:solidFill>
                  <a:srgbClr val="222222"/>
                </a:solidFill>
                <a:latin typeface="맑은 고딕"/>
              </a:rPr>
              <a:t>•  12.3  SQL Apply 아키텍처  /  12.4  지원 범위 점검</a:t>
            </a:r>
          </a:p>
          <a:p>
            <a:pPr algn="l">
              <a:spcAft>
                <a:spcPts val="1000"/>
              </a:spcAft>
            </a:pPr>
            <a:r>
              <a:rPr sz="1600" b="0">
                <a:solidFill>
                  <a:srgbClr val="222222"/>
                </a:solidFill>
                <a:latin typeface="맑은 고딕"/>
              </a:rPr>
              <a:t>•  12.5  Logical Standby 생성 절차</a:t>
            </a:r>
          </a:p>
          <a:p>
            <a:pPr algn="l">
              <a:spcAft>
                <a:spcPts val="1000"/>
              </a:spcAft>
            </a:pPr>
            <a:r>
              <a:rPr sz="1600" b="0">
                <a:solidFill>
                  <a:srgbClr val="222222"/>
                </a:solidFill>
                <a:latin typeface="맑은 고딕"/>
              </a:rPr>
              <a:t>•  12.6  SQL Apply 기동·중지와 실시간 적용  /  12.7  DATABASE GUARD</a:t>
            </a:r>
          </a:p>
          <a:p>
            <a:pPr algn="l">
              <a:spcAft>
                <a:spcPts val="1000"/>
              </a:spcAft>
            </a:pPr>
            <a:r>
              <a:rPr sz="1600" b="0">
                <a:solidFill>
                  <a:srgbClr val="222222"/>
                </a:solidFill>
                <a:latin typeface="맑은 고딕"/>
              </a:rPr>
              <a:t>•  12.8  선택적 복제와 필터링  /  12.9  SQL Apply 성능 조정</a:t>
            </a:r>
          </a:p>
          <a:p>
            <a:pPr algn="l">
              <a:spcAft>
                <a:spcPts val="1000"/>
              </a:spcAft>
            </a:pPr>
            <a:r>
              <a:rPr sz="1600" b="0">
                <a:solidFill>
                  <a:srgbClr val="222222"/>
                </a:solidFill>
                <a:latin typeface="맑은 고딕"/>
              </a:rPr>
              <a:t>•  12.10  롤링 업그레이드와의 관계  /  12.11  운영 시 주의점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Logical Standby의 용도와 Physical과의 차이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열린 채로 갱신되는 Standby</a:t>
            </a:r>
          </a:p>
          <a:p>
            <a:pPr algn="l">
              <a:spcAft>
                <a:spcPts val="800"/>
              </a:spcAft>
            </a:pPr>
            <a:r>
              <a:rPr sz="1600" b="0">
                <a:solidFill>
                  <a:srgbClr val="FFFFFF"/>
                </a:solidFill>
                <a:latin typeface="맑은 고딕"/>
              </a:rPr>
              <a:t>•  보고 분산, 추가 구조, 손상 차단</a:t>
            </a:r>
          </a:p>
          <a:p>
            <a:pPr algn="l">
              <a:spcAft>
                <a:spcPts val="800"/>
              </a:spcAft>
            </a:pPr>
            <a:r>
              <a:rPr sz="1600" b="0">
                <a:solidFill>
                  <a:srgbClr val="FFFFFF"/>
                </a:solidFill>
                <a:latin typeface="맑은 고딕"/>
              </a:rPr>
              <a:t>•  고르는 기준과 라이선스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열린 채로 갱신되는 Standby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같은 행과 값, 다른 블록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받은 리두를 SQL로 되살려 실행 (SQL Apply)</a:t>
            </a:r>
          </a:p>
          <a:p>
            <a:pPr algn="l">
              <a:spcAft>
                <a:spcPts val="1000"/>
              </a:spcAft>
            </a:pPr>
            <a:r>
              <a:rPr sz="1700" b="0">
                <a:solidFill>
                  <a:srgbClr val="222222"/>
                </a:solidFill>
                <a:latin typeface="맑은 고딕"/>
              </a:rPr>
              <a:t>•  READ WRITE로 열린 채 복제 테이블이 갱신됨</a:t>
            </a:r>
          </a:p>
          <a:p>
            <a:pPr algn="l">
              <a:spcAft>
                <a:spcPts val="1000"/>
              </a:spcAft>
            </a:pPr>
            <a:r>
              <a:rPr sz="1700" b="0">
                <a:solidFill>
                  <a:srgbClr val="222222"/>
                </a:solidFill>
                <a:latin typeface="맑은 고딕"/>
              </a:rPr>
              <a:t>•  블록 배치와 ROWID는 Primary와 다름</a:t>
            </a:r>
          </a:p>
          <a:p>
            <a:pPr algn="l">
              <a:spcAft>
                <a:spcPts val="1000"/>
              </a:spcAft>
            </a:pPr>
            <a:r>
              <a:rPr sz="1700" b="0">
                <a:solidFill>
                  <a:srgbClr val="222222"/>
                </a:solidFill>
                <a:latin typeface="맑은 고딕"/>
              </a:rPr>
              <a:t>•  Standby에만 인덱스, MV, 보고용 스키마 추가 가능</a:t>
            </a:r>
          </a:p>
          <a:p>
            <a:pPr algn="l">
              <a:spcAft>
                <a:spcPts val="1000"/>
              </a:spcAft>
            </a:pPr>
            <a:r>
              <a:rPr sz="1700" b="0">
                <a:solidFill>
                  <a:srgbClr val="222222"/>
                </a:solidFill>
                <a:latin typeface="맑은 고딕"/>
              </a:rPr>
              <a:t>•  미지원 유형이 있고 적용 비용이 큼</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Logical Standby가 주는 이점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보고 분산부터 업그레이드까지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월말 집계, 대량 조회를 Primary에서 덜어 냄</a:t>
            </a:r>
          </a:p>
          <a:p>
            <a:pPr algn="l">
              <a:spcAft>
                <a:spcPts val="1000"/>
              </a:spcAft>
            </a:pPr>
            <a:r>
              <a:rPr sz="1700" b="0">
                <a:solidFill>
                  <a:srgbClr val="222222"/>
                </a:solidFill>
                <a:latin typeface="맑은 고딕"/>
              </a:rPr>
              <a:t>•  보고에 맞춘 인덱스·요약 테이블을 Standby에만</a:t>
            </a:r>
          </a:p>
          <a:p>
            <a:pPr algn="l">
              <a:spcAft>
                <a:spcPts val="1000"/>
              </a:spcAft>
            </a:pPr>
            <a:r>
              <a:rPr sz="1700" b="0">
                <a:solidFill>
                  <a:srgbClr val="222222"/>
                </a:solidFill>
                <a:latin typeface="맑은 고딕"/>
              </a:rPr>
              <a:t>•  Primary의 블록 손상이 Standby로 번지지 않음</a:t>
            </a:r>
          </a:p>
          <a:p>
            <a:pPr algn="l">
              <a:spcAft>
                <a:spcPts val="1000"/>
              </a:spcAft>
            </a:pPr>
            <a:r>
              <a:rPr sz="1700" b="0">
                <a:solidFill>
                  <a:srgbClr val="222222"/>
                </a:solidFill>
                <a:latin typeface="맑은 고딕"/>
              </a:rPr>
              <a:t>•  Switchover·Failover로 재해 복구 역할 수행</a:t>
            </a:r>
          </a:p>
          <a:p>
            <a:pPr algn="l">
              <a:spcAft>
                <a:spcPts val="1000"/>
              </a:spcAft>
            </a:pPr>
            <a:r>
              <a:rPr sz="1700" b="0">
                <a:solidFill>
                  <a:srgbClr val="222222"/>
                </a:solidFill>
                <a:latin typeface="맑은 고딕"/>
              </a:rPr>
              <a:t>•  버전이 다른 DB 사이에서도 동작해 롤링 업그레이드에 쓰임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Physical과의 비교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적용 방식이 나머지 차이를 만든다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적용: Redo Apply(블록) 대 SQL Apply(SQL)</a:t>
            </a:r>
          </a:p>
          <a:p>
            <a:pPr algn="l">
              <a:spcAft>
                <a:spcPts val="1000"/>
              </a:spcAft>
            </a:pPr>
            <a:r>
              <a:rPr sz="1700" b="0">
                <a:solidFill>
                  <a:srgbClr val="222222"/>
                </a:solidFill>
                <a:latin typeface="맑은 고딕"/>
              </a:rPr>
              <a:t>•  열린 모드: MOUNT·READ ONLY 대 READ WRITE</a:t>
            </a:r>
          </a:p>
          <a:p>
            <a:pPr algn="l">
              <a:spcAft>
                <a:spcPts val="1000"/>
              </a:spcAft>
            </a:pPr>
            <a:r>
              <a:rPr sz="1700" b="0">
                <a:solidFill>
                  <a:srgbClr val="222222"/>
                </a:solidFill>
                <a:latin typeface="맑은 고딕"/>
              </a:rPr>
              <a:t>•  데이터 유형 제약: 없음 대 일부 제외</a:t>
            </a:r>
          </a:p>
          <a:p>
            <a:pPr algn="l">
              <a:spcAft>
                <a:spcPts val="1000"/>
              </a:spcAft>
            </a:pPr>
            <a:r>
              <a:rPr sz="1700" b="0">
                <a:solidFill>
                  <a:srgbClr val="222222"/>
                </a:solidFill>
                <a:latin typeface="맑은 고딕"/>
              </a:rPr>
              <a:t>•  컨트롤 파일: STANDBY 대 CURRENT</a:t>
            </a:r>
          </a:p>
          <a:p>
            <a:pPr algn="l">
              <a:spcAft>
                <a:spcPts val="1000"/>
              </a:spcAft>
            </a:pPr>
            <a:r>
              <a:rPr sz="1700" b="0">
                <a:solidFill>
                  <a:srgbClr val="222222"/>
                </a:solidFill>
                <a:latin typeface="맑은 고딕"/>
              </a:rPr>
              <a:t>•  주된 쓰임: 재해 복구 대 보고 DB, 롤링 업그레이드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Logical Standby를 고르는가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요구와 제약을 같이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쓰기 가능한 보고 공간이 필요하고 약간의 지연이 허용될 때</a:t>
            </a:r>
          </a:p>
          <a:p>
            <a:pPr algn="l">
              <a:spcAft>
                <a:spcPts val="1000"/>
              </a:spcAft>
            </a:pPr>
            <a:r>
              <a:rPr sz="1700" b="0">
                <a:solidFill>
                  <a:srgbClr val="222222"/>
                </a:solidFill>
                <a:latin typeface="맑은 고딕"/>
              </a:rPr>
              <a:t>•  중요 테이블이 미지원 유형이면 고르지 않음</a:t>
            </a:r>
          </a:p>
          <a:p>
            <a:pPr algn="l">
              <a:spcAft>
                <a:spcPts val="1000"/>
              </a:spcAft>
            </a:pPr>
            <a:r>
              <a:rPr sz="1700" b="0">
                <a:solidFill>
                  <a:srgbClr val="222222"/>
                </a:solidFill>
                <a:latin typeface="맑은 고딕"/>
              </a:rPr>
              <a:t>•  조회만 필요하면 ADG 실시간 조회가 더 단순</a:t>
            </a:r>
          </a:p>
          <a:p>
            <a:pPr algn="l">
              <a:spcAft>
                <a:spcPts val="1000"/>
              </a:spcAft>
            </a:pPr>
            <a:r>
              <a:rPr sz="1700" b="0">
                <a:solidFill>
                  <a:srgbClr val="222222"/>
                </a:solidFill>
                <a:latin typeface="맑은 고딕"/>
              </a:rPr>
              <a:t>•  Logical Standby 자체는 EE 기본 기능</a:t>
            </a:r>
          </a:p>
          <a:p>
            <a:pPr algn="l">
              <a:spcAft>
                <a:spcPts val="1000"/>
              </a:spcAft>
            </a:pPr>
            <a:r>
              <a:rPr sz="1700" b="0">
                <a:solidFill>
                  <a:srgbClr val="222222"/>
                </a:solidFill>
                <a:latin typeface="맑은 고딕"/>
              </a:rPr>
              <a:t>•  DBMS_ROLLING은 ADG 옵션 필요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Apply 아키텍처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LogMiner와 LogMiner 딕셔너리</a:t>
            </a:r>
          </a:p>
          <a:p>
            <a:pPr algn="l">
              <a:spcAft>
                <a:spcPts val="800"/>
              </a:spcAft>
            </a:pPr>
            <a:r>
              <a:rPr sz="1600" b="0">
                <a:solidFill>
                  <a:srgbClr val="FFFFFF"/>
                </a:solidFill>
                <a:latin typeface="맑은 고딕"/>
              </a:rPr>
              <a:t>•  마이닝 단계와 적용 단계</a:t>
            </a:r>
          </a:p>
          <a:p>
            <a:pPr algn="l">
              <a:spcAft>
                <a:spcPts val="800"/>
              </a:spcAft>
            </a:pPr>
            <a:r>
              <a:rPr sz="1600" b="0">
                <a:solidFill>
                  <a:srgbClr val="FFFFFF"/>
                </a:solidFill>
                <a:latin typeface="맑은 고딕"/>
              </a:rPr>
              <a:t>•  커밋 순서와 일관성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리두를 SQL로 바꾸는 LogMiner</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리두에는 이름이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리두에는 객체 번호, 블록, 슬롯 같은 물리 정보만 있음</a:t>
            </a:r>
          </a:p>
          <a:p>
            <a:pPr algn="l">
              <a:spcAft>
                <a:spcPts val="1000"/>
              </a:spcAft>
            </a:pPr>
            <a:r>
              <a:rPr sz="1700" b="0">
                <a:solidFill>
                  <a:srgbClr val="222222"/>
                </a:solidFill>
                <a:latin typeface="맑은 고딕"/>
              </a:rPr>
              <a:t>•  이름과 번호를 잇는 사전이 LogMiner 딕셔너리</a:t>
            </a:r>
          </a:p>
          <a:p>
            <a:pPr algn="l">
              <a:spcAft>
                <a:spcPts val="1000"/>
              </a:spcAft>
            </a:pPr>
            <a:r>
              <a:rPr sz="1700" b="0">
                <a:solidFill>
                  <a:srgbClr val="222222"/>
                </a:solidFill>
                <a:latin typeface="맑은 고딕"/>
              </a:rPr>
              <a:t>•  Primary가 딕셔너리를 리두에 실어 보냄</a:t>
            </a:r>
          </a:p>
          <a:p>
            <a:pPr algn="l">
              <a:spcAft>
                <a:spcPts val="1000"/>
              </a:spcAft>
            </a:pPr>
            <a:r>
              <a:rPr sz="1700" b="0">
                <a:solidFill>
                  <a:srgbClr val="222222"/>
                </a:solidFill>
                <a:latin typeface="맑은 고딕"/>
              </a:rPr>
              <a:t>•  Standby ROWID가 달라 키 값으로 행을 찾음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로그 마이닝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Reader, Preparer, Builder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Reader: SRL·아카이브 로그에서 리두를 읽음</a:t>
            </a:r>
          </a:p>
          <a:p>
            <a:pPr algn="l">
              <a:spcAft>
                <a:spcPts val="1000"/>
              </a:spcAft>
            </a:pPr>
            <a:r>
              <a:rPr sz="1700" b="0">
                <a:solidFill>
                  <a:srgbClr val="222222"/>
                </a:solidFill>
                <a:latin typeface="맑은 고딕"/>
              </a:rPr>
              <a:t>•  Preparer: 블록 변경을 LCR로 변환, 병렬 가능</a:t>
            </a:r>
          </a:p>
          <a:p>
            <a:pPr algn="l">
              <a:spcAft>
                <a:spcPts val="1000"/>
              </a:spcAft>
            </a:pPr>
            <a:r>
              <a:rPr sz="1700" b="0">
                <a:solidFill>
                  <a:srgbClr val="222222"/>
                </a:solidFill>
                <a:latin typeface="맑은 고딕"/>
              </a:rPr>
              <a:t>•  Builder: 낱개 LCR을 트랜잭션으로 조립</a:t>
            </a:r>
          </a:p>
          <a:p>
            <a:pPr algn="l">
              <a:spcAft>
                <a:spcPts val="1000"/>
              </a:spcAft>
            </a:pPr>
            <a:r>
              <a:rPr sz="1700" b="0">
                <a:solidFill>
                  <a:srgbClr val="222222"/>
                </a:solidFill>
                <a:latin typeface="맑은 고딕"/>
              </a:rPr>
              <a:t>•  메모리가 모자라면 LCR을 디스크로 spill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적용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Analyzer, Coordinator, Applier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Analyzer: 트랜잭션 사이 의존 관계 계산</a:t>
            </a:r>
          </a:p>
          <a:p>
            <a:pPr algn="l">
              <a:spcAft>
                <a:spcPts val="1000"/>
              </a:spcAft>
            </a:pPr>
            <a:r>
              <a:rPr sz="1700" b="0">
                <a:solidFill>
                  <a:srgbClr val="222222"/>
                </a:solidFill>
                <a:latin typeface="맑은 고딕"/>
              </a:rPr>
              <a:t>•  Coordinator(LSP0): 배분과 커밋 순서 승인</a:t>
            </a:r>
          </a:p>
          <a:p>
            <a:pPr algn="l">
              <a:spcAft>
                <a:spcPts val="1000"/>
              </a:spcAft>
            </a:pPr>
            <a:r>
              <a:rPr sz="1700" b="0">
                <a:solidFill>
                  <a:srgbClr val="222222"/>
                </a:solidFill>
                <a:latin typeface="맑은 고딕"/>
              </a:rPr>
              <a:t>•  Applier: LCR을 SQL로 실행하고 커밋, 병렬</a:t>
            </a:r>
          </a:p>
          <a:p>
            <a:pPr algn="l">
              <a:spcAft>
                <a:spcPts val="1000"/>
              </a:spcAft>
            </a:pPr>
            <a:r>
              <a:rPr sz="1700" b="0">
                <a:solidFill>
                  <a:srgbClr val="222222"/>
                </a:solidFill>
                <a:latin typeface="맑은 고딕"/>
              </a:rPr>
              <a:t>•  V$LOGSTDBY_PROCESS의 TYPE으로 확인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커밋 순서와 일관성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PRESERVE_COMMIT_ORDER</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 Primary와 같은 순서로 커밋 (TRUE)</a:t>
            </a:r>
          </a:p>
          <a:p>
            <a:pPr algn="l">
              <a:spcAft>
                <a:spcPts val="1000"/>
              </a:spcAft>
            </a:pPr>
            <a:r>
              <a:rPr sz="1700" b="0">
                <a:solidFill>
                  <a:srgbClr val="222222"/>
                </a:solidFill>
                <a:latin typeface="맑은 고딕"/>
              </a:rPr>
              <a:t>•  조회 사용자는 실제 있었던 상태만 봄</a:t>
            </a:r>
          </a:p>
          <a:p>
            <a:pPr algn="l">
              <a:spcAft>
                <a:spcPts val="1000"/>
              </a:spcAft>
            </a:pPr>
            <a:r>
              <a:rPr sz="1700" b="0">
                <a:solidFill>
                  <a:srgbClr val="222222"/>
                </a:solidFill>
                <a:latin typeface="맑은 고딕"/>
              </a:rPr>
              <a:t>•  FALSE: 처리량은 오르나 중간 상태가 보일 수 있음</a:t>
            </a:r>
          </a:p>
          <a:p>
            <a:pPr algn="l">
              <a:spcAft>
                <a:spcPts val="1000"/>
              </a:spcAft>
            </a:pPr>
            <a:r>
              <a:rPr sz="1700" b="0">
                <a:solidFill>
                  <a:srgbClr val="222222"/>
                </a:solidFill>
                <a:latin typeface="맑은 고딕"/>
              </a:rPr>
              <a:t>•  블록을 되돌리는 물리 Standby에는 없는 문제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지원 범위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내부 스키마와 미지원 유형</a:t>
            </a:r>
          </a:p>
          <a:p>
            <a:pPr algn="l">
              <a:spcAft>
                <a:spcPts val="800"/>
              </a:spcAft>
            </a:pPr>
            <a:r>
              <a:rPr sz="1600" b="0">
                <a:solidFill>
                  <a:srgbClr val="FFFFFF"/>
                </a:solidFill>
                <a:latin typeface="맑은 고딕"/>
              </a:rPr>
              <a:t>•  넘어가지 않는 SQL과 패키지</a:t>
            </a:r>
          </a:p>
          <a:p>
            <a:pPr algn="l">
              <a:spcAft>
                <a:spcPts val="800"/>
              </a:spcAft>
            </a:pPr>
            <a:r>
              <a:rPr sz="1600" b="0">
                <a:solidFill>
                  <a:srgbClr val="FFFFFF"/>
                </a:solidFill>
                <a:latin typeface="맑은 고딕"/>
              </a:rPr>
              <a:t>•  행 식별과 보충 로깅</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내부 스키마는 자동으로 빠진다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DBA_LOGSTDBY_SKIP의 INTERNAL SCHEMA</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 SYSTEM, XDB 등은 기본 SKIP 규칙에 포함</a:t>
            </a:r>
          </a:p>
          <a:p>
            <a:pPr algn="l">
              <a:spcAft>
                <a:spcPts val="1000"/>
              </a:spcAft>
            </a:pPr>
            <a:r>
              <a:rPr sz="1700" b="0">
                <a:solidFill>
                  <a:srgbClr val="222222"/>
                </a:solidFill>
                <a:latin typeface="맑은 고딕"/>
              </a:rPr>
              <a:t>•  여기 만든 사용자 테이블은 복제되지 않음</a:t>
            </a:r>
          </a:p>
          <a:p>
            <a:pPr algn="l">
              <a:spcAft>
                <a:spcPts val="1000"/>
              </a:spcAft>
            </a:pPr>
            <a:r>
              <a:rPr sz="1700" b="0">
                <a:solidFill>
                  <a:srgbClr val="222222"/>
                </a:solidFill>
                <a:latin typeface="맑은 고딕"/>
              </a:rPr>
              <a:t>•  미지원 목록에도 나오지 않아 놓치기 쉬움</a:t>
            </a:r>
          </a:p>
          <a:p>
            <a:pPr algn="l">
              <a:spcAft>
                <a:spcPts val="1000"/>
              </a:spcAft>
            </a:pPr>
            <a:r>
              <a:rPr sz="1700" b="0">
                <a:solidFill>
                  <a:srgbClr val="222222"/>
                </a:solidFill>
                <a:latin typeface="맑은 고딕"/>
              </a:rPr>
              <a:t>•  CDB 루트와 각 PDB에서 따로 조회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지원되지 않는 유형과 객체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오류 없이 테이블 전체가 빠진다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BFILE, ROWID·UROWID, VARRAY·중첩 테이블</a:t>
            </a:r>
          </a:p>
          <a:p>
            <a:pPr algn="l">
              <a:spcAft>
                <a:spcPts val="1000"/>
              </a:spcAft>
            </a:pPr>
            <a:r>
              <a:rPr sz="1700" b="0">
                <a:solidFill>
                  <a:srgbClr val="222222"/>
                </a:solidFill>
                <a:latin typeface="맑은 고딕"/>
              </a:rPr>
              <a:t>•  REF·중첩 테이블을 가진 객체, 일부 Spatial 유형</a:t>
            </a:r>
          </a:p>
          <a:p>
            <a:pPr algn="l">
              <a:spcAft>
                <a:spcPts val="1000"/>
              </a:spcAft>
            </a:pPr>
            <a:r>
              <a:rPr sz="1700" b="0">
                <a:solidFill>
                  <a:srgbClr val="222222"/>
                </a:solidFill>
                <a:latin typeface="맑은 고딕"/>
              </a:rPr>
              <a:t>•  전역 임시 테이블, MV 지원 테이블, SYS 객체</a:t>
            </a:r>
          </a:p>
          <a:p>
            <a:pPr algn="l">
              <a:spcAft>
                <a:spcPts val="1000"/>
              </a:spcAft>
            </a:pPr>
            <a:r>
              <a:rPr sz="1700" b="0">
                <a:solidFill>
                  <a:srgbClr val="222222"/>
                </a:solidFill>
                <a:latin typeface="맑은 고딕"/>
              </a:rPr>
              <a:t>•  DBA_LOGSTDBY_UNSUPPORTED로 열 단위 원인 확인</a:t>
            </a:r>
          </a:p>
          <a:p>
            <a:pPr algn="l">
              <a:spcAft>
                <a:spcPts val="1000"/>
              </a:spcAft>
            </a:pPr>
            <a:r>
              <a:rPr sz="1700" b="0">
                <a:solidFill>
                  <a:srgbClr val="222222"/>
                </a:solidFill>
                <a:latin typeface="맑은 고딕"/>
              </a:rPr>
              <a:t>•  중요 테이블이 있으면 물리 Standby 검토</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Standby로 넘어가지 않는 SQL과 패키지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Standby에서 따로 실행해야 하는 작업</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SYSTEM, ALTER SESSION, ALTER DATABASE</a:t>
            </a:r>
          </a:p>
          <a:p>
            <a:pPr algn="l">
              <a:spcAft>
                <a:spcPts val="1000"/>
              </a:spcAft>
            </a:pPr>
            <a:r>
              <a:rPr sz="1700" b="0">
                <a:solidFill>
                  <a:srgbClr val="222222"/>
                </a:solidFill>
                <a:latin typeface="맑은 고딕"/>
              </a:rPr>
              <a:t>•  CREATE·DROP DATABASE LINK, MV와 MV LOG</a:t>
            </a:r>
          </a:p>
          <a:p>
            <a:pPr algn="l">
              <a:spcAft>
                <a:spcPts val="1000"/>
              </a:spcAft>
            </a:pPr>
            <a:r>
              <a:rPr sz="1700" b="0">
                <a:solidFill>
                  <a:srgbClr val="222222"/>
                </a:solidFill>
                <a:latin typeface="맑은 고딕"/>
              </a:rPr>
              <a:t>•  LOCK TABLE, SET ROLE, SET TRANSACTION, PURGE</a:t>
            </a:r>
          </a:p>
          <a:p>
            <a:pPr algn="l">
              <a:spcAft>
                <a:spcPts val="1000"/>
              </a:spcAft>
            </a:pPr>
            <a:r>
              <a:rPr sz="1700" b="0">
                <a:solidFill>
                  <a:srgbClr val="222222"/>
                </a:solidFill>
                <a:latin typeface="맑은 고딕"/>
              </a:rPr>
              <a:t>•  메타데이터를 바꾸는 패키지: DBMS_JAVA, DBMS_AQ 등</a:t>
            </a:r>
          </a:p>
          <a:p>
            <a:pPr algn="l">
              <a:spcAft>
                <a:spcPts val="1000"/>
              </a:spcAft>
            </a:pPr>
            <a:r>
              <a:rPr sz="1700" b="0">
                <a:solidFill>
                  <a:srgbClr val="222222"/>
                </a:solidFill>
                <a:latin typeface="맑은 고딕"/>
              </a:rPr>
              <a:t>•  롤링 업그레이드 전용 지원: DBA_LOGSTDBY_PLSQL_SUPPORT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행 식별과 DBA_LOGSTDBY_NOT_UNIQUE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ROWID 대신 키로 행을 찾는다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기본 키나 NOT NULL 고유 인덱스로 행을 찾음</a:t>
            </a:r>
          </a:p>
          <a:p>
            <a:pPr algn="l">
              <a:spcAft>
                <a:spcPts val="1000"/>
              </a:spcAft>
            </a:pPr>
            <a:r>
              <a:rPr sz="1700" b="0">
                <a:solidFill>
                  <a:srgbClr val="222222"/>
                </a:solidFill>
                <a:latin typeface="맑은 고딕"/>
              </a:rPr>
              <a:t>•  키가 없으면 모든 열 비교, 전체 스캔 발생</a:t>
            </a:r>
          </a:p>
          <a:p>
            <a:pPr algn="l">
              <a:spcAft>
                <a:spcPts val="1000"/>
              </a:spcAft>
            </a:pPr>
            <a:r>
              <a:rPr sz="1700" b="0">
                <a:solidFill>
                  <a:srgbClr val="222222"/>
                </a:solidFill>
                <a:latin typeface="맑은 고딕"/>
              </a:rPr>
              <a:t>•  BAD_COLUMN = Y: LOB 등 때문에 구별 불가, 키 필수</a:t>
            </a:r>
          </a:p>
          <a:p>
            <a:pPr algn="l">
              <a:spcAft>
                <a:spcPts val="1000"/>
              </a:spcAft>
            </a:pPr>
            <a:r>
              <a:rPr sz="1700" b="0">
                <a:solidFill>
                  <a:srgbClr val="222222"/>
                </a:solidFill>
                <a:latin typeface="맑은 고딕"/>
              </a:rPr>
              <a:t>•  BAD_COLUMN = N: 동작은 하나 비효율, 키 권장</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RELY 제약과 보충 로깅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키 열 값을 리두에 남기는 장치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RELY DISABLE 기본 키: 검사·인덱스 유지 비용 없음</a:t>
            </a:r>
          </a:p>
          <a:p>
            <a:pPr algn="l">
              <a:spcAft>
                <a:spcPts val="1000"/>
              </a:spcAft>
            </a:pPr>
            <a:r>
              <a:rPr sz="1700" b="0">
                <a:solidFill>
                  <a:srgbClr val="222222"/>
                </a:solidFill>
                <a:latin typeface="맑은 고딕"/>
              </a:rPr>
              <a:t>•  고른 열이 실제로 유일하지 않으면 적용 실패</a:t>
            </a:r>
          </a:p>
          <a:p>
            <a:pPr algn="l">
              <a:spcAft>
                <a:spcPts val="1000"/>
              </a:spcAft>
            </a:pPr>
            <a:r>
              <a:rPr sz="1700" b="0">
                <a:solidFill>
                  <a:srgbClr val="222222"/>
                </a:solidFill>
                <a:latin typeface="맑은 고딕"/>
              </a:rPr>
              <a:t>•  Standby에는 같은 열에 고유 인덱스를 따로 생성</a:t>
            </a:r>
          </a:p>
          <a:p>
            <a:pPr algn="l">
              <a:spcAft>
                <a:spcPts val="1000"/>
              </a:spcAft>
            </a:pPr>
            <a:r>
              <a:rPr sz="1700" b="0">
                <a:solidFill>
                  <a:srgbClr val="222222"/>
                </a:solidFill>
                <a:latin typeface="맑은 고딕"/>
              </a:rPr>
              <a:t>•  보충 로깅: 변경과 함께 키 열 값을 기록</a:t>
            </a:r>
          </a:p>
          <a:p>
            <a:pPr algn="l">
              <a:spcAft>
                <a:spcPts val="1000"/>
              </a:spcAft>
            </a:pPr>
            <a:r>
              <a:rPr sz="1700" b="0">
                <a:solidFill>
                  <a:srgbClr val="222222"/>
                </a:solidFill>
                <a:latin typeface="맑은 고딕"/>
              </a:rPr>
              <a:t>•  BUILD가 PK·UI 보충 로깅을 자동으로 켬</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 전 점검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모두 Primary에서, 컨테이너마다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내부 스키마에 사용자 테이블이 없는지</a:t>
            </a:r>
          </a:p>
          <a:p>
            <a:pPr algn="l">
              <a:spcAft>
                <a:spcPts val="1000"/>
              </a:spcAft>
            </a:pPr>
            <a:r>
              <a:rPr sz="1700" b="0">
                <a:solidFill>
                  <a:srgbClr val="222222"/>
                </a:solidFill>
                <a:latin typeface="맑은 고딕"/>
              </a:rPr>
              <a:t>•  미지원 테이블 목록을 업무 담당자와 검토</a:t>
            </a:r>
          </a:p>
          <a:p>
            <a:pPr algn="l">
              <a:spcAft>
                <a:spcPts val="1000"/>
              </a:spcAft>
            </a:pPr>
            <a:r>
              <a:rPr sz="1700" b="0">
                <a:solidFill>
                  <a:srgbClr val="222222"/>
                </a:solidFill>
                <a:latin typeface="맑은 고딕"/>
              </a:rPr>
              <a:t>•  BAD_COLUMN = Y 테이블부터 키 정비</a:t>
            </a:r>
          </a:p>
          <a:p>
            <a:pPr algn="l">
              <a:spcAft>
                <a:spcPts val="1000"/>
              </a:spcAft>
            </a:pPr>
            <a:r>
              <a:rPr sz="1700" b="0">
                <a:solidFill>
                  <a:srgbClr val="222222"/>
                </a:solidFill>
                <a:latin typeface="맑은 고딕"/>
              </a:rPr>
              <a:t>•  ARCHIVELOG, FORCE LOGGING, DB_NAME 길이 확인</a:t>
            </a:r>
          </a:p>
          <a:p>
            <a:pPr algn="l">
              <a:spcAft>
                <a:spcPts val="1000"/>
              </a:spcAft>
            </a:pPr>
            <a:r>
              <a:rPr sz="1700" b="0">
                <a:solidFill>
                  <a:srgbClr val="222222"/>
                </a:solidFill>
                <a:latin typeface="맑은 고딕"/>
              </a:rPr>
              <a:t>•  원복 수단(스냅샷, 재생성 절차) 준비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Logical Standby 생성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Physical Standby에서 출발</a:t>
            </a:r>
          </a:p>
          <a:p>
            <a:pPr algn="l">
              <a:spcAft>
                <a:spcPts val="800"/>
              </a:spcAft>
            </a:pPr>
            <a:r>
              <a:rPr sz="1600" b="0">
                <a:solidFill>
                  <a:srgbClr val="FFFFFF"/>
                </a:solidFill>
                <a:latin typeface="맑은 고딕"/>
              </a:rPr>
              <a:t>•  BUILD와 RECOVER TO LOGICAL STANDBY</a:t>
            </a:r>
          </a:p>
          <a:p>
            <a:pPr algn="l">
              <a:spcAft>
                <a:spcPts val="800"/>
              </a:spcAft>
            </a:pPr>
            <a:r>
              <a:rPr sz="1600" b="0">
                <a:solidFill>
                  <a:srgbClr val="FFFFFF"/>
                </a:solidFill>
                <a:latin typeface="맑은 고딕"/>
              </a:rPr>
              <a:t>•  열기와 첫 확인</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생성 절차 일곱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Physical Standby를 거쳐 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 물리 Standby 생성과 동기화</a:t>
            </a:r>
          </a:p>
          <a:p>
            <a:pPr algn="l">
              <a:spcAft>
                <a:spcPts val="1000"/>
              </a:spcAft>
            </a:pPr>
            <a:r>
              <a:rPr sz="1700" b="0">
                <a:solidFill>
                  <a:srgbClr val="222222"/>
                </a:solidFill>
                <a:latin typeface="맑은 고딕"/>
              </a:rPr>
              <a:t>•  2 Redo Apply 중지  3 Primary 목적지 준비(선택)</a:t>
            </a:r>
          </a:p>
          <a:p>
            <a:pPr algn="l">
              <a:spcAft>
                <a:spcPts val="1000"/>
              </a:spcAft>
            </a:pPr>
            <a:r>
              <a:rPr sz="1700" b="0">
                <a:solidFill>
                  <a:srgbClr val="222222"/>
                </a:solidFill>
                <a:latin typeface="맑은 고딕"/>
              </a:rPr>
              <a:t>•  4 Primary에서 DBMS_LOGSTDBY.BUILD</a:t>
            </a:r>
          </a:p>
          <a:p>
            <a:pPr algn="l">
              <a:spcAft>
                <a:spcPts val="1000"/>
              </a:spcAft>
            </a:pPr>
            <a:r>
              <a:rPr sz="1700" b="0">
                <a:solidFill>
                  <a:srgbClr val="222222"/>
                </a:solidFill>
                <a:latin typeface="맑은 고딕"/>
              </a:rPr>
              <a:t>•  5 RECOVER TO LOGICAL STANDBY, MOUNT 재기동</a:t>
            </a:r>
          </a:p>
          <a:p>
            <a:pPr algn="l">
              <a:spcAft>
                <a:spcPts val="1000"/>
              </a:spcAft>
            </a:pPr>
            <a:r>
              <a:rPr sz="1700" b="0">
                <a:solidFill>
                  <a:srgbClr val="222222"/>
                </a:solidFill>
                <a:latin typeface="맑은 고딕"/>
              </a:rPr>
              <a:t>•  6 OPEN RESETLOGS, SQL Apply 기동  7 확인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Redo Apply 중지와 목적지 분리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딕셔너리를 지나치지 않게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BUILD 전에 MRP를 멈춰 딕셔너리 위치를 지킴</a:t>
            </a:r>
          </a:p>
          <a:p>
            <a:pPr algn="l">
              <a:spcAft>
                <a:spcPts val="1000"/>
              </a:spcAft>
            </a:pPr>
            <a:r>
              <a:rPr sz="1700" b="0">
                <a:solidFill>
                  <a:srgbClr val="222222"/>
                </a:solidFill>
                <a:latin typeface="맑은 고딕"/>
              </a:rPr>
              <a:t>•  Broker 구성은 STATE='APPLY-OFF'</a:t>
            </a:r>
          </a:p>
          <a:p>
            <a:pPr algn="l">
              <a:spcAft>
                <a:spcPts val="1000"/>
              </a:spcAft>
            </a:pPr>
            <a:r>
              <a:rPr sz="1700" b="0">
                <a:solidFill>
                  <a:srgbClr val="222222"/>
                </a:solidFill>
                <a:latin typeface="맑은 고딕"/>
              </a:rPr>
              <a:t>•  논리 Standby는 자기 리두를 직접 생성</a:t>
            </a:r>
          </a:p>
          <a:p>
            <a:pPr algn="l">
              <a:spcAft>
                <a:spcPts val="1000"/>
              </a:spcAft>
            </a:pPr>
            <a:r>
              <a:rPr sz="1700" b="0">
                <a:solidFill>
                  <a:srgbClr val="222222"/>
                </a:solidFill>
                <a:latin typeface="맑은 고딕"/>
              </a:rPr>
              <a:t>•  자기 Online Redo Log용과 받은 SRL용 목적지 분리</a:t>
            </a:r>
          </a:p>
          <a:p>
            <a:pPr algn="l">
              <a:spcAft>
                <a:spcPts val="1000"/>
              </a:spcAft>
            </a:pPr>
            <a:r>
              <a:rPr sz="1700" b="0">
                <a:solidFill>
                  <a:srgbClr val="222222"/>
                </a:solidFill>
                <a:latin typeface="맑은 고딕"/>
              </a:rPr>
              <a:t>•  FRA를 쓰면 두 종류를 자동으로 구분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LogMiner 딕셔너리 빌드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EXECUTE DBMS_LOGSTDBY.BUILD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Primary 딕셔너리를 리두에 기록</a:t>
            </a:r>
          </a:p>
          <a:p>
            <a:pPr algn="l">
              <a:spcAft>
                <a:spcPts val="1000"/>
              </a:spcAft>
            </a:pPr>
            <a:r>
              <a:rPr sz="1700" b="0">
                <a:solidFill>
                  <a:srgbClr val="222222"/>
                </a:solidFill>
                <a:latin typeface="맑은 고딕"/>
              </a:rPr>
              <a:t>•  PK·고유 인덱스 보충 로깅 자동 활성화</a:t>
            </a:r>
          </a:p>
          <a:p>
            <a:pPr algn="l">
              <a:spcAft>
                <a:spcPts val="1000"/>
              </a:spcAft>
            </a:pPr>
            <a:r>
              <a:rPr sz="1700" b="0">
                <a:solidFill>
                  <a:srgbClr val="222222"/>
                </a:solidFill>
                <a:latin typeface="맑은 고딕"/>
              </a:rPr>
              <a:t>•  진행 중인 트랜잭션이 끝날 때까지 대기</a:t>
            </a:r>
          </a:p>
          <a:p>
            <a:pPr algn="l">
              <a:spcAft>
                <a:spcPts val="1000"/>
              </a:spcAft>
            </a:pPr>
            <a:r>
              <a:rPr sz="1700" b="0">
                <a:solidFill>
                  <a:srgbClr val="222222"/>
                </a:solidFill>
                <a:latin typeface="맑은 고딕"/>
              </a:rPr>
              <a:t>•  Standby의 DBA_LOGSTDBY_LOG에 DICT_BEGIN·DICT_END로 표시</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RECOVER TO LOGICAL STANDBY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이름을 주는 형식과 KEEP IDENTITY</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딕셔너리 위치까지 적용한 뒤 논리 Standby로 전환</a:t>
            </a:r>
          </a:p>
          <a:p>
            <a:pPr algn="l">
              <a:spcAft>
                <a:spcPts val="1000"/>
              </a:spcAft>
            </a:pPr>
            <a:r>
              <a:rPr sz="1700" b="0">
                <a:solidFill>
                  <a:srgbClr val="222222"/>
                </a:solidFill>
                <a:latin typeface="맑은 고딕"/>
              </a:rPr>
              <a:t>•  새 이름: DB_NAME·DBID 변경, 8자 초과는 ORA-02084</a:t>
            </a:r>
          </a:p>
          <a:p>
            <a:pPr algn="l">
              <a:spcAft>
                <a:spcPts val="1000"/>
              </a:spcAft>
            </a:pPr>
            <a:r>
              <a:rPr sz="1700" b="0">
                <a:solidFill>
                  <a:srgbClr val="222222"/>
                </a:solidFill>
                <a:latin typeface="맑은 고딕"/>
              </a:rPr>
              <a:t>•  KEEP IDENTITY: 이름·DBID 유지, 롤링 업그레이드용</a:t>
            </a:r>
          </a:p>
          <a:p>
            <a:pPr algn="l">
              <a:spcAft>
                <a:spcPts val="1000"/>
              </a:spcAft>
            </a:pPr>
            <a:r>
              <a:rPr sz="1700" b="0">
                <a:solidFill>
                  <a:srgbClr val="222222"/>
                </a:solidFill>
                <a:latin typeface="맑은 고딕"/>
              </a:rPr>
              <a:t>•  전환 후 LOGICAL STANDBY, CURRENT, GUARD ALL</a:t>
            </a:r>
          </a:p>
          <a:p>
            <a:pPr algn="l">
              <a:spcAft>
                <a:spcPts val="1000"/>
              </a:spcAft>
            </a:pPr>
            <a:r>
              <a:rPr sz="1700" b="0">
                <a:solidFill>
                  <a:srgbClr val="222222"/>
                </a:solidFill>
                <a:latin typeface="맑은 고딕"/>
              </a:rPr>
              <a:t>•  SHUTDOWN 후 MOUNT로 재기동, 목적지 조정</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전환 명령이 끝나지 않을 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무엇을 기다리는지부터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오류 없이 프롬프트가 돌아오지 않음</a:t>
            </a:r>
          </a:p>
          <a:p>
            <a:pPr algn="l">
              <a:spcAft>
                <a:spcPts val="1000"/>
              </a:spcAft>
            </a:pPr>
            <a:r>
              <a:rPr sz="1700" b="0">
                <a:solidFill>
                  <a:srgbClr val="222222"/>
                </a:solidFill>
                <a:latin typeface="맑은 고딕"/>
              </a:rPr>
              <a:t>•  알림 로그: 특정 시퀀스를 기다리는 메시지</a:t>
            </a:r>
          </a:p>
          <a:p>
            <a:pPr algn="l">
              <a:spcAft>
                <a:spcPts val="1000"/>
              </a:spcAft>
            </a:pPr>
            <a:r>
              <a:rPr sz="1700" b="0">
                <a:solidFill>
                  <a:srgbClr val="222222"/>
                </a:solidFill>
                <a:latin typeface="맑은 고딕"/>
              </a:rPr>
              <a:t>•  Primary가 조용하면 다음 로그가 안 생김</a:t>
            </a:r>
          </a:p>
          <a:p>
            <a:pPr algn="l">
              <a:spcAft>
                <a:spcPts val="1000"/>
              </a:spcAft>
            </a:pPr>
            <a:r>
              <a:rPr sz="1700" b="0">
                <a:solidFill>
                  <a:srgbClr val="222222"/>
                </a:solidFill>
                <a:latin typeface="맑은 고딕"/>
              </a:rPr>
              <a:t>•  BUILD 전에 MRP를 멈추지 않았으면 딕셔너리를 지나침</a:t>
            </a:r>
          </a:p>
          <a:p>
            <a:pPr algn="l">
              <a:spcAft>
                <a:spcPts val="1000"/>
              </a:spcAft>
            </a:pPr>
            <a:r>
              <a:rPr sz="1700" b="0">
                <a:solidFill>
                  <a:srgbClr val="222222"/>
                </a:solidFill>
                <a:latin typeface="맑은 고딕"/>
              </a:rPr>
              <a:t>•  조치: 로그 전환, 그래도 안 되면 BUILD 재실행</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열기와 첫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OPEN RESETLOGS 다음 할 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ALTER DATABASE OPEN RESETLOGS</a:t>
            </a:r>
          </a:p>
          <a:p>
            <a:pPr algn="l">
              <a:spcAft>
                <a:spcPts val="1000"/>
              </a:spcAft>
            </a:pPr>
            <a:r>
              <a:rPr sz="1700" b="0">
                <a:solidFill>
                  <a:srgbClr val="222222"/>
                </a:solidFill>
                <a:latin typeface="맑은 고딕"/>
              </a:rPr>
              <a:t>•  START LOGICAL STANDBY APPLY IMMEDIATE</a:t>
            </a:r>
          </a:p>
          <a:p>
            <a:pPr algn="l">
              <a:spcAft>
                <a:spcPts val="1000"/>
              </a:spcAft>
            </a:pPr>
            <a:r>
              <a:rPr sz="1700" b="0">
                <a:solidFill>
                  <a:srgbClr val="222222"/>
                </a:solidFill>
                <a:latin typeface="맑은 고딕"/>
              </a:rPr>
              <a:t>•  Primary 로그 전환 후 DBA_LOGSTDBY_LOG 등록 확인</a:t>
            </a:r>
          </a:p>
          <a:p>
            <a:pPr algn="l">
              <a:spcAft>
                <a:spcPts val="1000"/>
              </a:spcAft>
            </a:pPr>
            <a:r>
              <a:rPr sz="1700" b="0">
                <a:solidFill>
                  <a:srgbClr val="222222"/>
                </a:solidFill>
                <a:latin typeface="맑은 고딕"/>
              </a:rPr>
              <a:t>•  V$LOGSTDBY_PROGRESS의 APPLIED_SCN, LATEST_SCN</a:t>
            </a:r>
          </a:p>
          <a:p>
            <a:pPr algn="l">
              <a:spcAft>
                <a:spcPts val="1000"/>
              </a:spcAft>
            </a:pPr>
            <a:r>
              <a:rPr sz="1700" b="0">
                <a:solidFill>
                  <a:srgbClr val="222222"/>
                </a:solidFill>
                <a:latin typeface="맑은 고딕"/>
              </a:rPr>
              <a:t>•  초기 INITIALIZING은 딕셔너리 적재 중</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Apply 기동·중지와 실시간 적용</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IMMEDIATE와 실시간 적용</a:t>
            </a:r>
          </a:p>
          <a:p>
            <a:pPr algn="l">
              <a:spcAft>
                <a:spcPts val="800"/>
              </a:spcAft>
            </a:pPr>
            <a:r>
              <a:rPr sz="1600" b="0">
                <a:solidFill>
                  <a:srgbClr val="FFFFFF"/>
                </a:solidFill>
                <a:latin typeface="맑은 고딕"/>
              </a:rPr>
              <a:t>•  STOP과 ABORT</a:t>
            </a:r>
          </a:p>
          <a:p>
            <a:pPr algn="l">
              <a:spcAft>
                <a:spcPts val="800"/>
              </a:spcAft>
            </a:pPr>
            <a:r>
              <a:rPr sz="1600" b="0">
                <a:solidFill>
                  <a:srgbClr val="FFFFFF"/>
                </a:solidFill>
                <a:latin typeface="맑은 고딕"/>
              </a:rPr>
              <a:t>•  상태 뷰와 아카이브 자동 삭제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기동과 실시간 적용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IMMEDIATE를 붙여야 실시간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START LOGICAL STANDBY APPLY IMMEDIATE</a:t>
            </a:r>
          </a:p>
          <a:p>
            <a:pPr algn="l">
              <a:spcAft>
                <a:spcPts val="1000"/>
              </a:spcAft>
            </a:pPr>
            <a:r>
              <a:rPr sz="1700" b="0">
                <a:solidFill>
                  <a:srgbClr val="222222"/>
                </a:solidFill>
                <a:latin typeface="맑은 고딕"/>
              </a:rPr>
              <a:t>•  IMMEDIATE 없으면 아카이브된 로그부터 마이닝</a:t>
            </a:r>
          </a:p>
          <a:p>
            <a:pPr algn="l">
              <a:spcAft>
                <a:spcPts val="1000"/>
              </a:spcAft>
            </a:pPr>
            <a:r>
              <a:rPr sz="1700" b="0">
                <a:solidFill>
                  <a:srgbClr val="222222"/>
                </a:solidFill>
                <a:latin typeface="맑은 고딕"/>
              </a:rPr>
              <a:t>•  전제는 물리 Standby와 같은 SRL 구성</a:t>
            </a:r>
          </a:p>
          <a:p>
            <a:pPr algn="l">
              <a:spcAft>
                <a:spcPts val="1000"/>
              </a:spcAft>
            </a:pPr>
            <a:r>
              <a:rPr sz="1700" b="0">
                <a:solidFill>
                  <a:srgbClr val="222222"/>
                </a:solidFill>
                <a:latin typeface="맑은 고딕"/>
              </a:rPr>
              <a:t>•  NODELAY: 설정된 지연을 무시</a:t>
            </a:r>
          </a:p>
          <a:p>
            <a:pPr algn="l">
              <a:spcAft>
                <a:spcPts val="1000"/>
              </a:spcAft>
            </a:pPr>
            <a:r>
              <a:rPr sz="1700" b="0">
                <a:solidFill>
                  <a:srgbClr val="222222"/>
                </a:solidFill>
                <a:latin typeface="맑은 고딕"/>
              </a:rPr>
              <a:t>•  SKIP FAILED TRANSACTION: 실패 트랜잭션 하나 건너뜀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중지: STOP과 ABORT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기다리느냐, 바로 멈추느냐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STOP: 진행 중인 트랜잭션을 마무리하고 멈춤</a:t>
            </a:r>
          </a:p>
          <a:p>
            <a:pPr algn="l">
              <a:spcAft>
                <a:spcPts val="1000"/>
              </a:spcAft>
            </a:pPr>
            <a:r>
              <a:rPr sz="1700" b="0">
                <a:solidFill>
                  <a:srgbClr val="222222"/>
                </a:solidFill>
                <a:latin typeface="맑은 고딕"/>
              </a:rPr>
              <a:t>•  대형 트랜잭션 처리 중이면 몇 분 걸릴 수 있음</a:t>
            </a:r>
          </a:p>
          <a:p>
            <a:pPr algn="l">
              <a:spcAft>
                <a:spcPts val="1000"/>
              </a:spcAft>
            </a:pPr>
            <a:r>
              <a:rPr sz="1700" b="0">
                <a:solidFill>
                  <a:srgbClr val="222222"/>
                </a:solidFill>
                <a:latin typeface="맑은 고딕"/>
              </a:rPr>
              <a:t>•  ABORT: 즉시 멈춤, 미커밋 부분은 재기동 후 재적용</a:t>
            </a:r>
          </a:p>
          <a:p>
            <a:pPr algn="l">
              <a:spcAft>
                <a:spcPts val="1000"/>
              </a:spcAft>
            </a:pPr>
            <a:r>
              <a:rPr sz="1700" b="0">
                <a:solidFill>
                  <a:srgbClr val="222222"/>
                </a:solidFill>
                <a:latin typeface="맑은 고딕"/>
              </a:rPr>
              <a:t>•  RECOVER MANAGED ... CANCEL은 쓰지 않음</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상태를 보는 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어디서 무엇을 보는지만 먼저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V$LOGSTDBY_STATE: 전체 상태, 실시간 여부</a:t>
            </a:r>
          </a:p>
          <a:p>
            <a:pPr algn="l">
              <a:spcAft>
                <a:spcPts val="1000"/>
              </a:spcAft>
            </a:pPr>
            <a:r>
              <a:rPr sz="1700" b="0">
                <a:solidFill>
                  <a:srgbClr val="222222"/>
                </a:solidFill>
                <a:latin typeface="맑은 고딕"/>
              </a:rPr>
              <a:t>•  V$LOGSTDBY_PROCESS: 프로세스별 상태 메시지</a:t>
            </a:r>
          </a:p>
          <a:p>
            <a:pPr algn="l">
              <a:spcAft>
                <a:spcPts val="1000"/>
              </a:spcAft>
            </a:pPr>
            <a:r>
              <a:rPr sz="1700" b="0">
                <a:solidFill>
                  <a:srgbClr val="222222"/>
                </a:solidFill>
                <a:latin typeface="맑은 고딕"/>
              </a:rPr>
              <a:t>•  V$LOGSTDBY_PROGRESS: 적용 위치(SCN)</a:t>
            </a:r>
          </a:p>
          <a:p>
            <a:pPr algn="l">
              <a:spcAft>
                <a:spcPts val="1000"/>
              </a:spcAft>
            </a:pPr>
            <a:r>
              <a:rPr sz="1700" b="0">
                <a:solidFill>
                  <a:srgbClr val="222222"/>
                </a:solidFill>
                <a:latin typeface="맑은 고딕"/>
              </a:rPr>
              <a:t>•  DBA_LOGSTDBY_EVENTS: 실제 오류 이력</a:t>
            </a:r>
          </a:p>
          <a:p>
            <a:pPr algn="l">
              <a:spcAft>
                <a:spcPts val="1000"/>
              </a:spcAft>
            </a:pPr>
            <a:r>
              <a:rPr sz="1700" b="0">
                <a:solidFill>
                  <a:srgbClr val="222222"/>
                </a:solidFill>
                <a:latin typeface="맑은 고딕"/>
              </a:rPr>
              <a:t>•  ORA-16111, 16116, 16242는 정상 상태 메시지</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아카이브 로그 자동 삭제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LOG_AUTO_DELETE와 보관 시간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적용 끝난 원격 아카이브 로그를 자동 삭제(기본 TRUE)</a:t>
            </a:r>
          </a:p>
          <a:p>
            <a:pPr algn="l">
              <a:spcAft>
                <a:spcPts val="1000"/>
              </a:spcAft>
            </a:pPr>
            <a:r>
              <a:rPr sz="1700" b="0">
                <a:solidFill>
                  <a:srgbClr val="222222"/>
                </a:solidFill>
                <a:latin typeface="맑은 고딕"/>
              </a:rPr>
              <a:t>•  LOG_AUTO_DEL_RETENTION_TARGET: 기본 1,440분 보관</a:t>
            </a:r>
          </a:p>
          <a:p>
            <a:pPr algn="l">
              <a:spcAft>
                <a:spcPts val="1000"/>
              </a:spcAft>
            </a:pPr>
            <a:r>
              <a:rPr sz="1700" b="0">
                <a:solidFill>
                  <a:srgbClr val="222222"/>
                </a:solidFill>
                <a:latin typeface="맑은 고딕"/>
              </a:rPr>
              <a:t>•  Flashback·시점 복구 때 과거 로그가 다시 필요</a:t>
            </a:r>
          </a:p>
          <a:p>
            <a:pPr algn="l">
              <a:spcAft>
                <a:spcPts val="1000"/>
              </a:spcAft>
            </a:pPr>
            <a:r>
              <a:rPr sz="1700" b="0">
                <a:solidFill>
                  <a:srgbClr val="222222"/>
                </a:solidFill>
                <a:latin typeface="맑은 고딕"/>
              </a:rPr>
              <a:t>•  FRA를 쓰지 않을 때만 의미가 있는 설정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DATABASE GUARD</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ALL, STANDBY, NONE</a:t>
            </a:r>
          </a:p>
          <a:p>
            <a:pPr algn="l">
              <a:spcAft>
                <a:spcPts val="800"/>
              </a:spcAft>
            </a:pPr>
            <a:r>
              <a:rPr sz="1600" b="0">
                <a:solidFill>
                  <a:srgbClr val="FFFFFF"/>
                </a:solidFill>
                <a:latin typeface="맑은 고딕"/>
              </a:rPr>
              <a:t>•  SYS 예외와 세션 단위 해제</a:t>
            </a:r>
          </a:p>
          <a:p>
            <a:pPr algn="l">
              <a:spcAft>
                <a:spcPts val="800"/>
              </a:spcAft>
            </a:pPr>
            <a:r>
              <a:rPr sz="1600" b="0">
                <a:solidFill>
                  <a:srgbClr val="FFFFFF"/>
                </a:solidFill>
                <a:latin typeface="맑은 고딕"/>
              </a:rPr>
              <a:t>•  Standby에서 도는 작업 관리</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가드의 세 수준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열린 Standby를 보호하는 장치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ALL: SYS 외 모든 데이터 변경 차단 (Logical 기본)</a:t>
            </a:r>
          </a:p>
          <a:p>
            <a:pPr algn="l">
              <a:spcAft>
                <a:spcPts val="1000"/>
              </a:spcAft>
            </a:pPr>
            <a:r>
              <a:rPr sz="1700" b="0">
                <a:solidFill>
                  <a:srgbClr val="222222"/>
                </a:solidFill>
                <a:latin typeface="맑은 고딕"/>
              </a:rPr>
              <a:t>•  STANDBY: SQL Apply가 유지하는 테이블만 차단</a:t>
            </a:r>
          </a:p>
          <a:p>
            <a:pPr algn="l">
              <a:spcAft>
                <a:spcPts val="1000"/>
              </a:spcAft>
            </a:pPr>
            <a:r>
              <a:rPr sz="1700" b="0">
                <a:solidFill>
                  <a:srgbClr val="222222"/>
                </a:solidFill>
                <a:latin typeface="맑은 고딕"/>
              </a:rPr>
              <a:t>•  NONE: 차단 없음 (Primary 기본)</a:t>
            </a:r>
          </a:p>
          <a:p>
            <a:pPr algn="l">
              <a:spcAft>
                <a:spcPts val="1000"/>
              </a:spcAft>
            </a:pPr>
            <a:r>
              <a:rPr sz="1700" b="0">
                <a:solidFill>
                  <a:srgbClr val="222222"/>
                </a:solidFill>
                <a:latin typeface="맑은 고딕"/>
              </a:rPr>
              <a:t>•  CDB 루트에서 설정, PDB에서는 ORA-65040</a:t>
            </a:r>
          </a:p>
          <a:p>
            <a:pPr algn="l">
              <a:spcAft>
                <a:spcPts val="1000"/>
              </a:spcAft>
            </a:pPr>
            <a:r>
              <a:rPr sz="1700" b="0">
                <a:solidFill>
                  <a:srgbClr val="222222"/>
                </a:solidFill>
                <a:latin typeface="맑은 고딕"/>
              </a:rPr>
              <a:t>•  V$DATABASE.GUARD_STATUS로 확인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SYS 예외와 세션 단위 해제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위험한 것은 인식하지 못한 해제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가드는 SYS에 적용되지 않음</a:t>
            </a:r>
          </a:p>
          <a:p>
            <a:pPr algn="l">
              <a:spcAft>
                <a:spcPts val="1000"/>
              </a:spcAft>
            </a:pPr>
            <a:r>
              <a:rPr sz="1700" b="0">
                <a:solidFill>
                  <a:srgbClr val="222222"/>
                </a:solidFill>
                <a:latin typeface="맑은 고딕"/>
              </a:rPr>
              <a:t>•  ALTER SESSION DISABLE GUARD: 그 세션만 해제</a:t>
            </a:r>
          </a:p>
          <a:p>
            <a:pPr algn="l">
              <a:spcAft>
                <a:spcPts val="1000"/>
              </a:spcAft>
            </a:pPr>
            <a:r>
              <a:rPr sz="1700" b="0">
                <a:solidFill>
                  <a:srgbClr val="222222"/>
                </a:solidFill>
                <a:latin typeface="맑은 고딕"/>
              </a:rPr>
              <a:t>•  세션 해제도 권한 필요, 없으면 ORA-01031</a:t>
            </a:r>
          </a:p>
          <a:p>
            <a:pPr algn="l">
              <a:spcAft>
                <a:spcPts val="1000"/>
              </a:spcAft>
            </a:pPr>
            <a:r>
              <a:rPr sz="1700" b="0">
                <a:solidFill>
                  <a:srgbClr val="222222"/>
                </a:solidFill>
                <a:latin typeface="맑은 고딕"/>
              </a:rPr>
              <a:t>•  GUARD NONE은 다시 켜는 것을 잊기 쉬움</a:t>
            </a:r>
          </a:p>
          <a:p>
            <a:pPr algn="l">
              <a:spcAft>
                <a:spcPts val="1000"/>
              </a:spcAft>
            </a:pPr>
            <a:r>
              <a:rPr sz="1700" b="0">
                <a:solidFill>
                  <a:srgbClr val="222222"/>
                </a:solidFill>
                <a:latin typeface="맑은 고딕"/>
              </a:rPr>
              <a:t>•  Standby 작업용 계정을 따로 둠</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SYS로 복제 테이블을 고친 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다음 리두에서 멈춘다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SYS로 복제 테이블에 열 추가, 가드가 막지 않음</a:t>
            </a:r>
          </a:p>
          <a:p>
            <a:pPr algn="l">
              <a:spcAft>
                <a:spcPts val="1000"/>
              </a:spcAft>
            </a:pPr>
            <a:r>
              <a:rPr sz="1700" b="0">
                <a:solidFill>
                  <a:srgbClr val="222222"/>
                </a:solidFill>
                <a:latin typeface="맑은 고딕"/>
              </a:rPr>
              <a:t>•  다음 INSERT에서 SQL Apply 중지</a:t>
            </a:r>
          </a:p>
          <a:p>
            <a:pPr algn="l">
              <a:spcAft>
                <a:spcPts val="1000"/>
              </a:spcAft>
            </a:pPr>
            <a:r>
              <a:rPr sz="1700" b="0">
                <a:solidFill>
                  <a:srgbClr val="222222"/>
                </a:solidFill>
                <a:latin typeface="맑은 고딕"/>
              </a:rPr>
              <a:t>•  DBA_LOGSTDBY_EVENTS에 ORA-26676 (열 개수 불일치)</a:t>
            </a:r>
          </a:p>
          <a:p>
            <a:pPr algn="l">
              <a:spcAft>
                <a:spcPts val="1000"/>
              </a:spcAft>
            </a:pPr>
            <a:r>
              <a:rPr sz="1700" b="0">
                <a:solidFill>
                  <a:srgbClr val="222222"/>
                </a:solidFill>
                <a:latin typeface="맑은 고딕"/>
              </a:rPr>
              <a:t>•  구조 원복 후 INSTANTIATE_TABLE로 재적재</a:t>
            </a:r>
          </a:p>
          <a:p>
            <a:pPr algn="l">
              <a:spcAft>
                <a:spcPts val="1000"/>
              </a:spcAft>
            </a:pPr>
            <a:r>
              <a:rPr sz="1700" b="0">
                <a:solidFill>
                  <a:srgbClr val="222222"/>
                </a:solidFill>
                <a:latin typeface="맑은 고딕"/>
              </a:rPr>
              <a:t>•  재발 방지: 전용 계정, GUARD STANDBY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Standby에서 도는 작업 관리</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Scheduler의 DATABASE_ROLE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작업은 만든 DB의 현재 역할을 DATABASE_ROLE로 가짐</a:t>
            </a:r>
          </a:p>
          <a:p>
            <a:pPr algn="l">
              <a:spcAft>
                <a:spcPts val="1000"/>
              </a:spcAft>
            </a:pPr>
            <a:r>
              <a:rPr sz="1700" b="0">
                <a:solidFill>
                  <a:srgbClr val="222222"/>
                </a:solidFill>
                <a:latin typeface="맑은 고딕"/>
              </a:rPr>
              <a:t>•  Primary 작업은 복제되지만 Standby에서는 실행 안 됨</a:t>
            </a:r>
          </a:p>
          <a:p>
            <a:pPr algn="l">
              <a:spcAft>
                <a:spcPts val="1000"/>
              </a:spcAft>
            </a:pPr>
            <a:r>
              <a:rPr sz="1700" b="0">
                <a:solidFill>
                  <a:srgbClr val="222222"/>
                </a:solidFill>
                <a:latin typeface="맑은 고딕"/>
              </a:rPr>
              <a:t>•  Standby에서 만든 작업은 LOGICAL STANDBY 역할</a:t>
            </a:r>
          </a:p>
          <a:p>
            <a:pPr algn="l">
              <a:spcAft>
                <a:spcPts val="1000"/>
              </a:spcAft>
            </a:pPr>
            <a:r>
              <a:rPr sz="1700" b="0">
                <a:solidFill>
                  <a:srgbClr val="222222"/>
                </a:solidFill>
                <a:latin typeface="맑은 고딕"/>
              </a:rPr>
              <a:t>•  양쪽 모두 돌려면 역할별 사본 두 개</a:t>
            </a:r>
          </a:p>
          <a:p>
            <a:pPr algn="l">
              <a:spcAft>
                <a:spcPts val="1000"/>
              </a:spcAft>
            </a:pPr>
            <a:r>
              <a:rPr sz="1700" b="0">
                <a:solidFill>
                  <a:srgbClr val="222222"/>
                </a:solidFill>
                <a:latin typeface="맑은 고딕"/>
              </a:rPr>
              <a:t>•  DBA_SCHEDULER_JOB_ROLES로 확인</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선택적 복제와 필터링</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SKIP 규칙</a:t>
            </a:r>
          </a:p>
          <a:p>
            <a:pPr algn="l">
              <a:spcAft>
                <a:spcPts val="800"/>
              </a:spcAft>
            </a:pPr>
            <a:r>
              <a:rPr sz="1600" b="0">
                <a:solidFill>
                  <a:srgbClr val="FFFFFF"/>
                </a:solidFill>
                <a:latin typeface="맑은 고딕"/>
              </a:rPr>
              <a:t>•  SKIP_ERROR, SKIP_TRANSACTION</a:t>
            </a:r>
          </a:p>
          <a:p>
            <a:pPr algn="l">
              <a:spcAft>
                <a:spcPts val="800"/>
              </a:spcAft>
            </a:pPr>
            <a:r>
              <a:rPr sz="1600" b="0">
                <a:solidFill>
                  <a:srgbClr val="FFFFFF"/>
                </a:solidFill>
                <a:latin typeface="맑은 고딕"/>
              </a:rPr>
              <a:t>•  INSTANTIATE_TABLE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SKIP 규칙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일부 스키마·문장을 빼고 받는다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DBMS_LOGSTDBY.SKIP(stmt, schema_name, object_name)</a:t>
            </a:r>
          </a:p>
          <a:p>
            <a:pPr algn="l">
              <a:spcAft>
                <a:spcPts val="1000"/>
              </a:spcAft>
            </a:pPr>
            <a:r>
              <a:rPr sz="1700" b="0">
                <a:solidFill>
                  <a:srgbClr val="222222"/>
                </a:solidFill>
                <a:latin typeface="맑은 고딕"/>
              </a:rPr>
              <a:t>•  stmt: DML, SCHEMA_DDL, CONTAINER 등</a:t>
            </a:r>
          </a:p>
          <a:p>
            <a:pPr algn="l">
              <a:spcAft>
                <a:spcPts val="1000"/>
              </a:spcAft>
            </a:pPr>
            <a:r>
              <a:rPr sz="1700" b="0">
                <a:solidFill>
                  <a:srgbClr val="222222"/>
                </a:solidFill>
                <a:latin typeface="맑은 고딕"/>
              </a:rPr>
              <a:t>•  와일드카드 %, USE_LIKE로 표시</a:t>
            </a:r>
          </a:p>
          <a:p>
            <a:pPr algn="l">
              <a:spcAft>
                <a:spcPts val="1000"/>
              </a:spcAft>
            </a:pPr>
            <a:r>
              <a:rPr sz="1700" b="0">
                <a:solidFill>
                  <a:srgbClr val="222222"/>
                </a:solidFill>
                <a:latin typeface="맑은 고딕"/>
              </a:rPr>
              <a:t>•  SQL Apply를 멈춘 상태에서 추가</a:t>
            </a:r>
          </a:p>
          <a:p>
            <a:pPr algn="l">
              <a:spcAft>
                <a:spcPts val="1000"/>
              </a:spcAft>
            </a:pPr>
            <a:r>
              <a:rPr sz="1700" b="0">
                <a:solidFill>
                  <a:srgbClr val="222222"/>
                </a:solidFill>
                <a:latin typeface="맑은 고딕"/>
              </a:rPr>
              <a:t>•  빠진 객체는 그 시점부터 Primary와 달라짐</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SKIP_ERROR와 SKIP_TRANSACTION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멈추는 대신 넘어가게 하기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SKIP_ERROR: 지정한 문장 종류의 오류를 기록만 하고 계속</a:t>
            </a:r>
          </a:p>
          <a:p>
            <a:pPr algn="l">
              <a:spcAft>
                <a:spcPts val="1000"/>
              </a:spcAft>
            </a:pPr>
            <a:r>
              <a:rPr sz="1700" b="0">
                <a:solidFill>
                  <a:srgbClr val="222222"/>
                </a:solidFill>
                <a:latin typeface="맑은 고딕"/>
              </a:rPr>
              <a:t>•  실패해도 데이터에 영향 없는 문장(GRANT 등)에만</a:t>
            </a:r>
          </a:p>
          <a:p>
            <a:pPr algn="l">
              <a:spcAft>
                <a:spcPts val="1000"/>
              </a:spcAft>
            </a:pPr>
            <a:r>
              <a:rPr sz="1700" b="0">
                <a:solidFill>
                  <a:srgbClr val="222222"/>
                </a:solidFill>
                <a:latin typeface="맑은 고딕"/>
              </a:rPr>
              <a:t>•  SKIP_TRANSACTION: XIDUSN·XIDSLT·XIDSQN으로 하나 지정</a:t>
            </a:r>
          </a:p>
          <a:p>
            <a:pPr algn="l">
              <a:spcAft>
                <a:spcPts val="1000"/>
              </a:spcAft>
            </a:pPr>
            <a:r>
              <a:rPr sz="1700" b="0">
                <a:solidFill>
                  <a:srgbClr val="222222"/>
                </a:solidFill>
                <a:latin typeface="맑은 고딕"/>
              </a:rPr>
              <a:t>•  트랜잭션 ID는 DBA_LOGSTDBY_EVENTS에서 확인</a:t>
            </a:r>
          </a:p>
          <a:p>
            <a:pPr algn="l">
              <a:spcAft>
                <a:spcPts val="1000"/>
              </a:spcAft>
            </a:pPr>
            <a:r>
              <a:rPr sz="1700" b="0">
                <a:solidFill>
                  <a:srgbClr val="222222"/>
                </a:solidFill>
                <a:latin typeface="맑은 고딕"/>
              </a:rPr>
              <a:t>•  건너뛴 DDL은 Standby에서 손으로 처리</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규칙 확인과 제거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DBA_LOGSTDBY_SKIP과 UNSKIP</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ERROR 열: N은 문장 건너뜀, Y는 오류 건너뜀</a:t>
            </a:r>
          </a:p>
          <a:p>
            <a:pPr algn="l">
              <a:spcAft>
                <a:spcPts val="1000"/>
              </a:spcAft>
            </a:pPr>
            <a:r>
              <a:rPr sz="1700" b="0">
                <a:solidFill>
                  <a:srgbClr val="222222"/>
                </a:solidFill>
                <a:latin typeface="맑은 고딕"/>
              </a:rPr>
              <a:t>•  INTERNAL SCHEMA 기본 규칙이 처음부터 있음</a:t>
            </a:r>
          </a:p>
          <a:p>
            <a:pPr algn="l">
              <a:spcAft>
                <a:spcPts val="1000"/>
              </a:spcAft>
            </a:pPr>
            <a:r>
              <a:rPr sz="1700" b="0">
                <a:solidFill>
                  <a:srgbClr val="222222"/>
                </a:solidFill>
                <a:latin typeface="맑은 고딕"/>
              </a:rPr>
              <a:t>•  트랜잭션 규칙은 DBA_LOGSTDBY_SKIP_TRANSACTION</a:t>
            </a:r>
          </a:p>
          <a:p>
            <a:pPr algn="l">
              <a:spcAft>
                <a:spcPts val="1000"/>
              </a:spcAft>
            </a:pPr>
            <a:r>
              <a:rPr sz="1700" b="0">
                <a:solidFill>
                  <a:srgbClr val="222222"/>
                </a:solidFill>
                <a:latin typeface="맑은 고딕"/>
              </a:rPr>
              <a:t>•  UNSKIP 계열은 추가 때와 같은 인수로</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INSTANTIATE_TABLE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Primary에서 테이블을 다시 가져온다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 테이블을 지우고 Primary 현재 데이터로 재생성</a:t>
            </a:r>
          </a:p>
          <a:p>
            <a:pPr algn="l">
              <a:spcAft>
                <a:spcPts val="1000"/>
              </a:spcAft>
            </a:pPr>
            <a:r>
              <a:rPr sz="1700" b="0">
                <a:solidFill>
                  <a:srgbClr val="222222"/>
                </a:solidFill>
                <a:latin typeface="맑은 고딕"/>
              </a:rPr>
              <a:t>•  DB 링크를 통한 Data Pump 사용</a:t>
            </a:r>
          </a:p>
          <a:p>
            <a:pPr algn="l">
              <a:spcAft>
                <a:spcPts val="1000"/>
              </a:spcAft>
            </a:pPr>
            <a:r>
              <a:rPr sz="1700" b="0">
                <a:solidFill>
                  <a:srgbClr val="222222"/>
                </a:solidFill>
                <a:latin typeface="맑은 고딕"/>
              </a:rPr>
              <a:t>•  쓰는 때: SKIP 해제 후 재포함, 사고 후 재동기화</a:t>
            </a:r>
          </a:p>
          <a:p>
            <a:pPr algn="l">
              <a:spcAft>
                <a:spcPts val="1000"/>
              </a:spcAft>
            </a:pPr>
            <a:r>
              <a:rPr sz="1700" b="0">
                <a:solidFill>
                  <a:srgbClr val="222222"/>
                </a:solidFill>
                <a:latin typeface="맑은 고딕"/>
              </a:rPr>
              <a:t>•  SQL Apply를 멈춘 상태에서 실행</a:t>
            </a:r>
          </a:p>
          <a:p>
            <a:pPr algn="l">
              <a:spcAft>
                <a:spcPts val="1000"/>
              </a:spcAft>
            </a:pPr>
            <a:r>
              <a:rPr sz="1700" b="0">
                <a:solidFill>
                  <a:srgbClr val="222222"/>
                </a:solidFill>
                <a:latin typeface="맑은 고딕"/>
              </a:rPr>
              <a:t>•  링크 계정 권한 부족 시 테이블이 사라진 채 남을 수 있음</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Apply 성능 조정</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APPLY_SET과 파라미터</a:t>
            </a:r>
          </a:p>
          <a:p>
            <a:pPr algn="l">
              <a:spcAft>
                <a:spcPts val="800"/>
              </a:spcAft>
            </a:pPr>
            <a:r>
              <a:rPr sz="1600" b="0">
                <a:solidFill>
                  <a:srgbClr val="FFFFFF"/>
                </a:solidFill>
                <a:latin typeface="맑은 고딕"/>
              </a:rPr>
              <a:t>•  서버 수의 관계</a:t>
            </a:r>
          </a:p>
          <a:p>
            <a:pPr algn="l">
              <a:spcAft>
                <a:spcPts val="800"/>
              </a:spcAft>
            </a:pPr>
            <a:r>
              <a:rPr sz="1600" b="0">
                <a:solidFill>
                  <a:srgbClr val="FFFFFF"/>
                </a:solidFill>
                <a:latin typeface="맑은 고딕"/>
              </a:rPr>
              <a:t>•  MAX_SGA와 병목 판단</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APPLY_SET과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DBA_LOGSTDBY_PARAMETERS로 확인</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변경 APPLY_SET, 기본값 복귀 APPLY_UNSET</a:t>
            </a:r>
          </a:p>
          <a:p>
            <a:pPr algn="l">
              <a:spcAft>
                <a:spcPts val="1000"/>
              </a:spcAft>
            </a:pPr>
            <a:r>
              <a:rPr sz="1700" b="0">
                <a:solidFill>
                  <a:srgbClr val="222222"/>
                </a:solidFill>
                <a:latin typeface="맑은 고딕"/>
              </a:rPr>
              <a:t>•  MAX_SERVERS, APPLY_SERVERS, PREPARE_SERVERS</a:t>
            </a:r>
          </a:p>
          <a:p>
            <a:pPr algn="l">
              <a:spcAft>
                <a:spcPts val="1000"/>
              </a:spcAft>
            </a:pPr>
            <a:r>
              <a:rPr sz="1700" b="0">
                <a:solidFill>
                  <a:srgbClr val="222222"/>
                </a:solidFill>
                <a:latin typeface="맑은 고딕"/>
              </a:rPr>
              <a:t>•  MAX_SGA: LCR 캐시 크기(MB)</a:t>
            </a:r>
          </a:p>
          <a:p>
            <a:pPr algn="l">
              <a:spcAft>
                <a:spcPts val="1000"/>
              </a:spcAft>
            </a:pPr>
            <a:r>
              <a:rPr sz="1700" b="0">
                <a:solidFill>
                  <a:srgbClr val="222222"/>
                </a:solidFill>
                <a:latin typeface="맑은 고딕"/>
              </a:rPr>
              <a:t>•  PRESERVE_COMMIT_ORDER, LOG_AUTO_DELETE 등</a:t>
            </a:r>
          </a:p>
          <a:p>
            <a:pPr algn="l">
              <a:spcAft>
                <a:spcPts val="1000"/>
              </a:spcAft>
            </a:pPr>
            <a:r>
              <a:rPr sz="1700" b="0">
                <a:solidFill>
                  <a:srgbClr val="222222"/>
                </a:solidFill>
                <a:latin typeface="맑은 고딕"/>
              </a:rPr>
              <a:t>•  프로세스 수 변경은 SQL Apply 중지 후</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서버 수의 관계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그릇과 내용물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MAX_SERVERS가 상한(그릇)</a:t>
            </a:r>
          </a:p>
          <a:p>
            <a:pPr algn="l">
              <a:spcAft>
                <a:spcPts val="1000"/>
              </a:spcAft>
            </a:pPr>
            <a:r>
              <a:rPr sz="1700" b="0">
                <a:solidFill>
                  <a:srgbClr val="222222"/>
                </a:solidFill>
                <a:latin typeface="맑은 고딕"/>
              </a:rPr>
              <a:t>•  APPLY + PREPARE + 고정 3개(Reader, Builder, Analyzer)</a:t>
            </a:r>
          </a:p>
          <a:p>
            <a:pPr algn="l">
              <a:spcAft>
                <a:spcPts val="1000"/>
              </a:spcAft>
            </a:pPr>
            <a:r>
              <a:rPr sz="1700" b="0">
                <a:solidFill>
                  <a:srgbClr val="222222"/>
                </a:solidFill>
                <a:latin typeface="맑은 고딕"/>
              </a:rPr>
              <a:t>•  상한을 넘으면 ORA-16081</a:t>
            </a:r>
          </a:p>
          <a:p>
            <a:pPr algn="l">
              <a:spcAft>
                <a:spcPts val="1000"/>
              </a:spcAft>
            </a:pPr>
            <a:r>
              <a:rPr sz="1700" b="0">
                <a:solidFill>
                  <a:srgbClr val="222222"/>
                </a:solidFill>
                <a:latin typeface="맑은 고딕"/>
              </a:rPr>
              <a:t>•  늘릴 때는 MAX_SERVERS 먼저, 줄일 때는 APPLY_SERVERS 먼저</a:t>
            </a:r>
          </a:p>
          <a:p>
            <a:pPr algn="l">
              <a:spcAft>
                <a:spcPts val="1000"/>
              </a:spcAft>
            </a:pPr>
            <a:r>
              <a:rPr sz="1700" b="0">
                <a:solidFill>
                  <a:srgbClr val="222222"/>
                </a:solidFill>
                <a:latin typeface="맑은 고딕"/>
              </a:rPr>
              <a:t>•  PARALLEL_MAX_SERVERS의 여유도 함께 확인</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MAX_SGA와 병목 판단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늘리기 전에 원인부터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LCR 캐시가 모자라면 spill 증가, 적용 정체</a:t>
            </a:r>
          </a:p>
          <a:p>
            <a:pPr algn="l">
              <a:spcAft>
                <a:spcPts val="1000"/>
              </a:spcAft>
            </a:pPr>
            <a:r>
              <a:rPr sz="1700" b="0">
                <a:solidFill>
                  <a:srgbClr val="222222"/>
                </a:solidFill>
                <a:latin typeface="맑은 고딕"/>
              </a:rPr>
              <a:t>•  MAX_SGA를 키우면 공유 풀 크기도 검토</a:t>
            </a:r>
          </a:p>
          <a:p>
            <a:pPr algn="l">
              <a:spcAft>
                <a:spcPts val="1000"/>
              </a:spcAft>
            </a:pPr>
            <a:r>
              <a:rPr sz="1700" b="0">
                <a:solidFill>
                  <a:srgbClr val="222222"/>
                </a:solidFill>
                <a:latin typeface="맑은 고딕"/>
              </a:rPr>
              <a:t>•  Applier 한가: 마이닝 쪽, PREPARE_SERVERS</a:t>
            </a:r>
          </a:p>
          <a:p>
            <a:pPr algn="l">
              <a:spcAft>
                <a:spcPts val="1000"/>
              </a:spcAft>
            </a:pPr>
            <a:r>
              <a:rPr sz="1700" b="0">
                <a:solidFill>
                  <a:srgbClr val="222222"/>
                </a:solidFill>
                <a:latin typeface="맑은 고딕"/>
              </a:rPr>
              <a:t>•  Applier 모두 바쁨: APPLY_SERVERS, Standby 인덱스</a:t>
            </a:r>
          </a:p>
          <a:p>
            <a:pPr algn="l">
              <a:spcAft>
                <a:spcPts val="1000"/>
              </a:spcAft>
            </a:pPr>
            <a:r>
              <a:rPr sz="1700" b="0">
                <a:solidFill>
                  <a:srgbClr val="222222"/>
                </a:solidFill>
                <a:latin typeface="맑은 고딕"/>
              </a:rPr>
              <a:t>•  특정 테이블 정체: 키 없는 테이블 정비</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12.10</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롤링 업그레이드와의 관계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버전 차이를 넘는 SQL Apply</a:t>
            </a:r>
          </a:p>
          <a:p>
            <a:pPr algn="l">
              <a:spcAft>
                <a:spcPts val="800"/>
              </a:spcAft>
            </a:pPr>
            <a:r>
              <a:rPr sz="1600" b="0">
                <a:solidFill>
                  <a:srgbClr val="FFFFFF"/>
                </a:solidFill>
                <a:latin typeface="맑은 고딕"/>
              </a:rPr>
              <a:t>•  Transient Logical Standby와 DBMS_ROLLING</a:t>
            </a:r>
          </a:p>
          <a:p>
            <a:pPr algn="l">
              <a:spcAft>
                <a:spcPts val="800"/>
              </a:spcAft>
            </a:pPr>
            <a:r>
              <a:rPr sz="1600" b="0">
                <a:solidFill>
                  <a:srgbClr val="FFFFFF"/>
                </a:solidFill>
                <a:latin typeface="맑은 고딕"/>
              </a:rPr>
              <a:t>•  운영 시 주의점</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버전이 다른 두 DB를 잇는 SQL Apply</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Standby를 먼저 올리고 역할을 바꾼다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Redo Apply는 같은 버전끼리만 가능</a:t>
            </a:r>
          </a:p>
          <a:p>
            <a:pPr algn="l">
              <a:spcAft>
                <a:spcPts val="1000"/>
              </a:spcAft>
            </a:pPr>
            <a:r>
              <a:rPr sz="1700" b="0">
                <a:solidFill>
                  <a:srgbClr val="222222"/>
                </a:solidFill>
                <a:latin typeface="맑은 고딕"/>
              </a:rPr>
              <a:t>•  SQL Apply는 낮은 버전의 변경을 높은 버전에 적용</a:t>
            </a:r>
          </a:p>
          <a:p>
            <a:pPr algn="l">
              <a:spcAft>
                <a:spcPts val="1000"/>
              </a:spcAft>
            </a:pPr>
            <a:r>
              <a:rPr sz="1700" b="0">
                <a:solidFill>
                  <a:srgbClr val="222222"/>
                </a:solidFill>
                <a:latin typeface="맑은 고딕"/>
              </a:rPr>
              <a:t>•  Standby 업그레이드 동안 Primary는 업무 계속</a:t>
            </a:r>
          </a:p>
          <a:p>
            <a:pPr algn="l">
              <a:spcAft>
                <a:spcPts val="1000"/>
              </a:spcAft>
            </a:pPr>
            <a:r>
              <a:rPr sz="1700" b="0">
                <a:solidFill>
                  <a:srgbClr val="222222"/>
                </a:solidFill>
                <a:latin typeface="맑은 고딕"/>
              </a:rPr>
              <a:t>•  업무 중단은 Switchover 시간 정도</a:t>
            </a:r>
          </a:p>
          <a:p>
            <a:pPr algn="l">
              <a:spcAft>
                <a:spcPts val="1000"/>
              </a:spcAft>
            </a:pPr>
            <a:r>
              <a:rPr sz="1700" b="0">
                <a:solidFill>
                  <a:srgbClr val="222222"/>
                </a:solidFill>
                <a:latin typeface="맑은 고딕"/>
              </a:rPr>
              <a:t>•  미지원 유형 제약은 업그레이드 중에도 그대로</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Transient Logical Standby와 DBMS_ROLLING</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업그레이드 기간에만 논리로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물리 Standby를 KEEP IDENTITY로 잠시 논리 전환</a:t>
            </a:r>
          </a:p>
          <a:p>
            <a:pPr algn="l">
              <a:spcAft>
                <a:spcPts val="1000"/>
              </a:spcAft>
            </a:pPr>
            <a:r>
              <a:rPr sz="1700" b="0">
                <a:solidFill>
                  <a:srgbClr val="222222"/>
                </a:solidFill>
                <a:latin typeface="맑은 고딕"/>
              </a:rPr>
              <a:t>•  이름·DBID 유지 → 끝나면 옛 Primary를 물리로 복귀</a:t>
            </a:r>
          </a:p>
          <a:p>
            <a:pPr algn="l">
              <a:spcAft>
                <a:spcPts val="1000"/>
              </a:spcAft>
            </a:pPr>
            <a:r>
              <a:rPr sz="1700" b="0">
                <a:solidFill>
                  <a:srgbClr val="222222"/>
                </a:solidFill>
                <a:latin typeface="맑은 고딕"/>
              </a:rPr>
              <a:t>•  수동 절차는 physru 스크립트로 자동화</a:t>
            </a:r>
          </a:p>
          <a:p>
            <a:pPr algn="l">
              <a:spcAft>
                <a:spcPts val="1000"/>
              </a:spcAft>
            </a:pPr>
            <a:r>
              <a:rPr sz="1700" b="0">
                <a:solidFill>
                  <a:srgbClr val="222222"/>
                </a:solidFill>
                <a:latin typeface="맑은 고딕"/>
              </a:rPr>
              <a:t>•  DBMS_ROLLING: 계획·전환·마무리를 명령 몇 개로</a:t>
            </a:r>
          </a:p>
          <a:p>
            <a:pPr algn="l">
              <a:spcAft>
                <a:spcPts val="1000"/>
              </a:spcAft>
            </a:pPr>
            <a:r>
              <a:rPr sz="1700" b="0">
                <a:solidFill>
                  <a:srgbClr val="222222"/>
                </a:solidFill>
                <a:latin typeface="맑은 고딕"/>
              </a:rPr>
              <a:t>•  DBMS_ROLLING은 ADG 옵션 라이선스 필요</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운영 시 주의점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조용히 어긋나는 지점들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전환은 되돌릴 수 없음, 원복 수단 먼저</a:t>
            </a:r>
          </a:p>
          <a:p>
            <a:pPr algn="l">
              <a:spcAft>
                <a:spcPts val="1000"/>
              </a:spcAft>
            </a:pPr>
            <a:r>
              <a:rPr sz="1700" b="0">
                <a:solidFill>
                  <a:srgbClr val="222222"/>
                </a:solidFill>
                <a:latin typeface="맑은 고딕"/>
              </a:rPr>
              <a:t>•  새 테이블이 생기면 미지원 목록 다시 확인</a:t>
            </a:r>
          </a:p>
          <a:p>
            <a:pPr algn="l">
              <a:spcAft>
                <a:spcPts val="1000"/>
              </a:spcAft>
            </a:pPr>
            <a:r>
              <a:rPr sz="1700" b="0">
                <a:solidFill>
                  <a:srgbClr val="222222"/>
                </a:solidFill>
                <a:latin typeface="맑은 고딕"/>
              </a:rPr>
              <a:t>•  SYS 접속은 장애 대응으로 한정</a:t>
            </a:r>
          </a:p>
          <a:p>
            <a:pPr algn="l">
              <a:spcAft>
                <a:spcPts val="1000"/>
              </a:spcAft>
            </a:pPr>
            <a:r>
              <a:rPr sz="1700" b="0">
                <a:solidFill>
                  <a:srgbClr val="222222"/>
                </a:solidFill>
                <a:latin typeface="맑은 고딕"/>
              </a:rPr>
              <a:t>•  순서: BUILD 전 적용 중지, 규칙 전 SQL Apply 중지</a:t>
            </a:r>
          </a:p>
          <a:p>
            <a:pPr algn="l">
              <a:spcAft>
                <a:spcPts val="1000"/>
              </a:spcAft>
            </a:pPr>
            <a:r>
              <a:rPr sz="1700" b="0">
                <a:solidFill>
                  <a:srgbClr val="222222"/>
                </a:solidFill>
                <a:latin typeface="맑은 고딕"/>
              </a:rPr>
              <a:t>•  Primary의 링크·MV·ALTER SYSTEM은 Standby에서 따로</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Logical Standby = SQL Apply로 갱신되는 열린 Standby</a:t>
            </a:r>
          </a:p>
          <a:p>
            <a:pPr algn="l">
              <a:spcAft>
                <a:spcPts val="1000"/>
              </a:spcAft>
            </a:pPr>
            <a:r>
              <a:rPr sz="1600" b="0">
                <a:solidFill>
                  <a:srgbClr val="222222"/>
                </a:solidFill>
                <a:latin typeface="맑은 고딕"/>
              </a:rPr>
              <a:t>•  Reader·Preparer·Builder → Analyzer·LSP0·Applier, 커밋 순서 유지</a:t>
            </a:r>
          </a:p>
          <a:p>
            <a:pPr algn="l">
              <a:spcAft>
                <a:spcPts val="1000"/>
              </a:spcAft>
            </a:pPr>
            <a:r>
              <a:rPr sz="1600" b="0">
                <a:solidFill>
                  <a:srgbClr val="222222"/>
                </a:solidFill>
                <a:latin typeface="맑은 고딕"/>
              </a:rPr>
              <a:t>•  전환 전 내부 스키마, UNSUPPORTED, NOT_UNIQUE 점검</a:t>
            </a:r>
          </a:p>
          <a:p>
            <a:pPr algn="l">
              <a:spcAft>
                <a:spcPts val="1000"/>
              </a:spcAft>
            </a:pPr>
            <a:r>
              <a:rPr sz="1600" b="0">
                <a:solidFill>
                  <a:srgbClr val="222222"/>
                </a:solidFill>
                <a:latin typeface="맑은 고딕"/>
              </a:rPr>
              <a:t>•  적용 중지 → BUILD → RECOVER TO LOGICAL STANDBY → OPEN RESETLOGS</a:t>
            </a:r>
          </a:p>
          <a:p>
            <a:pPr algn="l">
              <a:spcAft>
                <a:spcPts val="1000"/>
              </a:spcAft>
            </a:pPr>
            <a:r>
              <a:rPr sz="1600" b="0">
                <a:solidFill>
                  <a:srgbClr val="222222"/>
                </a:solidFill>
                <a:latin typeface="맑은 고딕"/>
              </a:rPr>
              <a:t>•  START ... IMMEDIATE로 실시간 적용, 중지는 STOP·ABORT</a:t>
            </a:r>
          </a:p>
          <a:p>
            <a:pPr algn="l">
              <a:spcAft>
                <a:spcPts val="1000"/>
              </a:spcAft>
            </a:pPr>
            <a:r>
              <a:rPr sz="1600" b="0">
                <a:solidFill>
                  <a:srgbClr val="222222"/>
                </a:solidFill>
                <a:latin typeface="맑은 고딕"/>
              </a:rPr>
              <a:t>•  GUARD ALL 기본·SYS 예외, SKIP·INSTANTIATE_TABLE·APPLY_SET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(1/2)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Logical Standby에 대해 옳은 것은? → READ WRITE, 고유 인덱스 추가 가능</a:t>
            </a:r>
          </a:p>
          <a:p>
            <a:pPr algn="l">
              <a:spcAft>
                <a:spcPts val="1000"/>
              </a:spcAft>
            </a:pPr>
            <a:r>
              <a:rPr sz="1600" b="0">
                <a:solidFill>
                  <a:srgbClr val="222222"/>
                </a:solidFill>
                <a:latin typeface="맑은 고딕"/>
              </a:rPr>
              <a:t>•  Q2. LCR을 트랜잭션으로 조립하는 프로세스는? → Builder</a:t>
            </a:r>
          </a:p>
          <a:p>
            <a:pPr algn="l">
              <a:spcAft>
                <a:spcPts val="1000"/>
              </a:spcAft>
            </a:pPr>
            <a:r>
              <a:rPr sz="1600" b="0">
                <a:solidFill>
                  <a:srgbClr val="222222"/>
                </a:solidFill>
                <a:latin typeface="맑은 고딕"/>
              </a:rPr>
              <a:t>•  Q3. BAD_COLUMN = Y의 조치는? → 기본 키·고유 키 추가</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(2/2)</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Q4. BUILD 전에 Redo Apply를 멈추는 이유는? → 딕셔너리를 지나치지 않게</a:t>
            </a:r>
          </a:p>
          <a:p>
            <a:pPr algn="l">
              <a:spcAft>
                <a:spcPts val="1000"/>
              </a:spcAft>
            </a:pPr>
            <a:r>
              <a:rPr sz="1600" b="0">
                <a:solidFill>
                  <a:srgbClr val="222222"/>
                </a:solidFill>
                <a:latin typeface="맑은 고딕"/>
              </a:rPr>
              <a:t>•  Q5. GUARD ALL에서 복제 테이블을 바꿀 수 있는 세션은? → SYS</a:t>
            </a:r>
          </a:p>
          <a:p>
            <a:pPr algn="l">
              <a:spcAft>
                <a:spcPts val="1000"/>
              </a:spcAft>
            </a:pPr>
            <a:r>
              <a:rPr sz="1600" b="0">
                <a:solidFill>
                  <a:srgbClr val="222222"/>
                </a:solidFill>
                <a:latin typeface="맑은 고딕"/>
              </a:rPr>
              <a:t>•  Q6. 서버 수를 기본값으로 되돌리는 순서는? → APPLY_SERVERS 먼저</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01 전제 조건 점검 / 02 LogMiner 딕셔너리 (12.4, 12.5)</a:t>
            </a:r>
          </a:p>
          <a:p>
            <a:pPr algn="l">
              <a:spcAft>
                <a:spcPts val="1000"/>
              </a:spcAft>
            </a:pPr>
            <a:r>
              <a:rPr sz="1600" b="0">
                <a:solidFill>
                  <a:srgbClr val="222222"/>
                </a:solidFill>
                <a:latin typeface="맑은 고딕"/>
              </a:rPr>
              <a:t>•  03 전환: 이름 형식, 대기 진단, 전환 후 값 (12.5)</a:t>
            </a:r>
          </a:p>
          <a:p>
            <a:pPr algn="l">
              <a:spcAft>
                <a:spcPts val="1000"/>
              </a:spcAft>
            </a:pPr>
            <a:r>
              <a:rPr sz="1600" b="0">
                <a:solidFill>
                  <a:srgbClr val="222222"/>
                </a:solidFill>
                <a:latin typeface="맑은 고딕"/>
              </a:rPr>
              <a:t>•  04 SQL Apply 기동과 복제 확인 (12.3, 12.6)</a:t>
            </a:r>
          </a:p>
          <a:p>
            <a:pPr algn="l">
              <a:spcAft>
                <a:spcPts val="1000"/>
              </a:spcAft>
            </a:pPr>
            <a:r>
              <a:rPr sz="1600" b="0">
                <a:solidFill>
                  <a:srgbClr val="222222"/>
                </a:solidFill>
                <a:latin typeface="맑은 고딕"/>
              </a:rPr>
              <a:t>•  05 골라서 복제하기와 조정: SKIP, APPLY_SET (12.8, 12.9)</a:t>
            </a:r>
          </a:p>
          <a:p>
            <a:pPr algn="l">
              <a:spcAft>
                <a:spcPts val="1000"/>
              </a:spcAft>
            </a:pPr>
            <a:r>
              <a:rPr sz="1600" b="0">
                <a:solidFill>
                  <a:srgbClr val="222222"/>
                </a:solidFill>
                <a:latin typeface="맑은 고딕"/>
              </a:rPr>
              <a:t>•  06 데이터베이스 가드와 SYS 사고 (12.7)</a:t>
            </a:r>
          </a:p>
          <a:p>
            <a:pPr algn="l">
              <a:spcAft>
                <a:spcPts val="1000"/>
              </a:spcAft>
            </a:pPr>
            <a:r>
              <a:rPr sz="1600" b="0">
                <a:solidFill>
                  <a:srgbClr val="222222"/>
                </a:solidFill>
                <a:latin typeface="맑은 고딕"/>
              </a:rPr>
              <a:t>•  07 되살리기와 원복: INSTANTIATE_TABLE, 스냅샷 (12.8)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
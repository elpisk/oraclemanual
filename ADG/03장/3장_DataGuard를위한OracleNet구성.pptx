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애플리케이션이 데이터베이스에 접속하는 과정을 떠올리면 Data Guard의 전송도 같은 그림으로 이해됩니다. 리두를 보내는 Primary의 백그라운드 프로세스가 클라이언트 자리에 서고, Standby 리스너가 그 요청을 받아 서버 프로세스를 하나 만들어 주는데 그것이 RFS입니다. 이 구조 때문에 전송이 안 되는 원인의 상당수는 데이터베이스 내부가 아니라 접속 단계에 있습니다. 리스너가 서비스를 모르거나 인증이 실패하면 RFS는 아예 생기지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경로는 여럿이지만 쓰는 재료는 같습니다. tnsnames.ora, 리스너, 패스워드 파일 세 가지입니다. 한 파일의 오타가 여러 경로를 동시에 망가뜨리기도 합니다. 리두 전송이 정상이면 구성이 끝났다고 생각하기 쉬운데, FAL과 역할 전환은 반대 방향 연결을 쓰기 때문에 평소에는 시험받지 않습니다. 갭이 생기거나 Switchover를 하는 날 처음으로 그 경로가 쓰이고, 그때 문제가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구축할 때 Primary에서 Standby로 가는 길만 확인하고 끝내는 경우가 많습니다. 하지만 Standby가 빠진 로그를 요청할 때는 Standby가 Primary의 리스너에 접속하고, 역할이 바뀐 뒤에는 boston이 chicago로 리두를 보냅니다. 두 서버의 네트워크 설정을 거울처럼 같은 모양으로 만들어 두면 이런 순간에 따로 손댈 것이 없습니다. 방화벽도 리스너 포트를 양방향으로 열어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 서버는 리두를 보내는 클라이언트이면서 접속을 받는 서버이므로 세 파일을 모두 가집니다. 자주 생기는 함정은 파일 위치입니다. Grid 홈, 데이터베이스 홈, 클라이언트 홈이 따로 있는 서버에서는 셸에서 고친 파일과 인스턴스가 읽는 파일이 다를 수 있습니다. 또 전송 프로세스는 인스턴스를 띄울 때의 TNS_ADMIN을 그대로 쓰기 때문에, 이 값을 바꿨다면 인스턴스 재기동까지 해야 새 파일을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 기술자는 주소와 대상, 이 두 정보로 이뤄집니다. 주소는 리스너가 기다리는 곳이고, 대상은 리스너가 알아듣는 서비스 이름입니다. 둘 중 어느 쪽이 틀렸느냐에 따라 오류 번호가 달라집니다. 주소가 틀리면 리스너가 없다거나 시간이 초과됐다는 오류가 나고, 서비스가 틀리면 리스너는 응답하지만 그런 서비스는 모른다고 답합니다. 3.8절의 오류 지도는 이 구분 위에 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서버에 있는 파일만으로 이름이 풀리는 로컬 이름 지정이 Data Guard에서 가장 다루기 쉽습니다. 전송이 실패했을 때 무엇을 읽었는지 쉽게 추적할 수 있기 때문입니다. Broker는 목적지 파라미터를 직접 관리할 때 별칭 대신 접속 기술자 전체를 SERVICE 값에 넣는데, 이렇게 하면 이름 해석 단계가 없어집니다. DNS가 불안정한 구간이라면 호스트 자리에 IP를 써서 DNS 장애가 전송을 멈추지 않게 하는 방법도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Primary와 Standby는 DB_NAME이 같으므로 DB_NAME을 서비스 이름으로 쓰면 어느 쪽에 붙을지 정해지지 않고, 구성원마다 다른 DB_UNIQUE_NAME 기반 서비스를 써야 합니다. 자기 별칭은 RMAN의 target 접속이나 원격 방식의 자기 점검에 쓰입니다. 같은 서버를 한 곳에서는 짧은 이름으로, 다른 곳에서는 도메인을 붙여 적어 두면 지금은 둘 다 풀려도 hosts 파일이나 DNS가 바뀌는 날 한쪽만 깨지니 표기를 하나로 맞춥니다.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LOG_ARCHIVE_DEST_2에 SERVICE=boston이라고 적으면 그 boston은 별칭입니다. 별칭이 풀려 나온 기술자의 SERVICE_NAME이 리스너에서 다시 서비스로 찾아지고, 같은 줄의 DB_UNIQUE_NAME=boston은 상대 데이터베이스의 실제 고유 이름입니다. 셋을 같은 글자로 맞춰 두는 구성이 많아 차이가 보이지 않는데, 별칭만 STBY1로 바꿔 보면 어느 값이 어느 층인지 드러납니다. DB_DOMAIN을 쓰면 서비스 이름에 도메인이 붙는 것도 같이 챙겨야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예제에는 FAILOVER=on이 적혀 있지만 ADDRESS_LIST를 쓰면 이미 켜져 있는 값입니다. 교재는 ADDRESS_LIST 없이 주소만 나열하면 꺼진다고 설명하는데, 19c Net Services Reference 기준으로는 DESCRIPTION 수준에서도 기본값이 on입니다. 중요한 함정은 Standby 리스너도 살아 있다는 사실입니다. 리스너에만 닿으면 되는 구조라서, 어디서나 등록되는 서비스 이름을 쓰면 클라이언트가 Standby에 붙어 버립니다. 역할별 서비스는 16장에서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리스너는 설정 파일이 없어도 기본 이름과 1521 포트로 기동됩니다. Data Guard 환경에서 listener.ora를 손대야 하는 이유는 대개 두 가지로, 정적 등록 서비스를 넣어야 하고 SDU와 소켓 버퍼를 키워야 하기 때문입니다. 데이터베이스마다 리스너를 따로 두면 하나씩 내리고 올릴 수 있는 장점이 있지만 리스너마다 다른 포트를 써야 하고, 정적 등록 블록 이름도 리스너 이름을 따라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동적 등록 덕분에 대부분의 데이터베이스는 listener.ora에 아무것도 적지 않아도 접속이 됩니다. Standby에서 DB_UNIQUE_NAME 설정을 빠뜨리면 기본값이 DB_NAME이 되어, Primary와 Standby가 같은 서비스 이름을 등록하는 일이 생깁니다. 리스너를 재기동하면 등록 정보가 잠시 비는데, LREG가 다음 주기에 다시 채우므로 기다리거나 ALTER SYSTEM REGISTER로 앞당깁니다. 서비스를 업무별로 나눌 때는 DBMS_SERVICE나 srvctl을 쓰는 편이 19c의 권장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 작업 중에는 아직 데이터베이스가 없는 인스턴스에 원격으로 접속해야 하는 순간이 자주 옵니다. RMAN DUPLICATE의 auxiliary는 NOMOUNT 상태이고, Broker는 역할 전환 중에 인스턴스를 내렸다가 원격에서 다시 올립니다. 이때 동적 등록에 기대면 서비스가 아예 없거나 BLOCKED라서 접속이 거절됩니다. ORA-12514는 리스너가 서비스를 모르는 경우이고, ORA-12528은 알고는 있지만 인스턴스가 막고 있는 경우라 두 번호를 구분해 두면 진단이 빨라집니다.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정적 등록에서는 리스너가 인스턴스와 대화하지 않습니다. 적힌 SID와 ORACLE_HOME으로 서버 프로세스를 직접 띄우기 때문에 NOMOUNT 인스턴스에도 접속을 넘겨줄 수 있습니다. 반대로 SID_NAME이나 ORACLE_HOME이 실제와 다르면 접속은 되는데 엉뚱한 유휴 인스턴스에 붙는 이상한 결과가 나옵니다. 리스너 이름이 LISTENER2인데 블록 이름을 SID_LIST_LISTENER로 적으면 리스너가 그 블록을 무시한다는 점도 실무에서 자주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Broker는 역할 전환 도중 옛 Primary를 종료했다가 새 역할로 다시 기동합니다. 인스턴스가 내려간 사이에는 동적 서비스가 없으니 정적으로 등록된 _DGMGRL 서비스로 접속해 STARTUP을 냅니다. 이 서비스가 없어도 구성 생성이나 평상시 모니터링은 멀쩡해 보이고, Switchover를 처음 해 보는 날 마지막 단계에서 수동 기동하라는 메시지를 받게 됩니다. 이름에 도메인을 붙이는 규칙도 DB_DOMAIN 사용 여부에 맞춰야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UNKNOWN이라는 표시는 말 그대로 리스너가 인스턴스 상태를 확인하지 않았다는 표시입니다. 정적 등록은 파일에 적힌 선언일 뿐이라 인스턴스가 꺼져 있어도 서비스를 광고합니다. 그 상태에서 접속하면 리스너는 통과하고 서버 프로세스 단계에서 ORA-01034가 납니다. 같은 서비스 이름 아래 UNKNOWN과 READY 항목이 함께 보이는 것은 정적과 동적이 동시에 등록된 정상 모습입니다. 고친 파일이 반영되지 않는다면 출력의 Parameter File 경로부터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정적 등록은 Standby를 만들 때 처음 필요해지기 때문에 Standby에만 넣고 끝내는 경우가 많습니다. 그런데 Switchover 뒤에는 chicago가 Standby가 되고, Broker가 chicago를 원격으로 재기동해야 합니다. 이때 chicago 리스너에 _DGMGRL 서비스가 없으면 전환이 마지막 단계에서 멈춥니다. 구축 문서에 서버별로 GLOBAL_DBNAME, tnsnames.ora의 SERVICE_NAME, DB_DOMAIN 값을 표로 남겨 두면 나중에 이름을 바꿀 때 어디까지 손대야 하는지 한눈에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전송에 쓰는 비밀번호는 사람이 입력하지 않습니다. 인스턴스가 자기 패스워드 파일에서 꺼내 쓰고, 받는 쪽은 자기 파일의 정보와 비교합니다. 두 서버의 파일이 어긋나면 사람이 원격으로 SYSDBA 접속할 때와 똑같이 거절됩니다. SSL 인증은 인증서와 디렉터리 서버 같은 기반이 필요해 대부분의 구성은 패스워드 파일을 씁니다. 패스워드 파일은 리두 전송만이 아니라 FAL, Broker, RMAN DUPLICATE 모두의 공통 자격 증명입니다.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chicago 서버의 orapwchicago를 boston 서버에 그대로 복사하면 boston 인스턴스는 파일을 찾지 못합니다. 이름의 SID 부분을 orapwboston으로 바꿔야 합니다. 12.2부터는 Primary에서 SQL로 바꾼 비밀번호나 관리 권한이 리두를 타고 물리 Standby 파일에 반영되지만, orapwd로 파일을 다시 만든 경우는 리두에 남지 않아 직접 복사해야 합니다. 적용이 멈춘 Standby나 Far Sync 인스턴스에도 자동 반영은 일어나지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 비밀번호를 주기적으로 바꾸는 조직에서는 바꿀 때마다 리두 전송이 멈출 위험을 안게 됩니다. 전송 전용 사용자를 두면 SYS 비밀번호 변경과 전송 인증이 분리됩니다. 사용자에게 SYSOPER를 주는 이유는 그래야 패스워드 파일에 등록되기 때문입니다. 역할이 바뀌면 지금의 Standby가 송신자가 되므로 Primary에만 지정해서는 안 되고, Far Sync 인스턴스를 포함한 모든 구성원에 같은 값을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ORA-16191은 전송 클라이언트가 Standby에 로그온하지 못했다는 결과만 말합니다. 원인이 패스워드 파일인지 네트워크 차단인지는 tnsping과 원격 SYSDBA 접속을 따로 해 봐야 갈립니다. 원인을 고친 뒤에도 목적지 오류가 그대로 남아 있어 당황하는 경우가 많은데, 실패한 목적지는 REOPEN 간격이 지나야 다시 시도하기 때문입니다. 기본 간격은 300초이고, 기다리지 않으려면 목적지 상태를 DEFER로 바꿨다가 ENABLE로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사례에서는 업무 쪽 증상이 전혀 없었기 때문에 하루가 지나서야 발견됐습니다. 새 비밀번호로 boston에 원격 접속하면 실패하고 옛 비밀번호로는 성공한다는 사실이 원인을 가리킵니다. orapwd 재생성은 리두로 전달되지 않으니 boston은 옛 파일을 쓰고 있었던 것입니다. 이후 절차서에 모든 구성원 파일 복사, 원격 SYSDBA 확인, 목적지 상태 확인 세 단계를 넣었고, 장기적으로는 REDO_TRANSPORT_USER 도입을 검토했습니다.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DG_CONFIG에는 Primary, Standby, Far Sync, 캐스케이드 대상까지 구성원의 고유 이름을 모두 적습니다. 순서는 상관없습니다. 목록이 있으면 목적지에 오타가 난 고유 이름을 넣는 순간 ORA-16053으로 거부되어 실수를 일찍 잡아 줍니다. 두 노드 구성에서는 목록을 비워도 전송이 돌아가는 경우가 있지만, 그러면 이 검사가 사라지고 Broker와 일부 기능이 기대하는 전제가 깨집니다. Broker 구성에서는 Broker가 이 값을 직접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LOG_ARCHIVE_CONFIG에는 구성원 목록 말고도 이 데이터베이스가 리두를 보내도 되는지, 받아도 되는지를 함께 적을 수 있습니다. 특정 구성원의 송신이나 수신을 잠시 막을 때 쓰는 옵션이지만, 작업 뒤 원래대로 돌려놓지 않으면 몇 달 뒤 역할 전환을 했을 때 전송이 시작되지 않는 문제로 나타납니다. 이런 이유로 상시 설정으로는 거의 쓰지 않고, 쓴다면 변경 기록과 원복 절차를 같이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FAL_SERVER 값은 tnsnames.ora에서 풀리는 별칭이어야 하며 여러 개를 나열할 수도 있습니다. Primary에도 Standby 별칭을 미리 넣어 두는 이유는 역할이 바뀐 뒤를 위해서입니다. FAL_CLIENT는 예전에는 FAL 서버가 응답을 보낼 이름으로 반드시 필요했지만, 지금은 요청한 쪽의 목적지 정보로 응답 경로를 찾으므로 생략해도 됩니다. 갭이 생기고 해소되는 동작 자체는 7장에서 다루고, 여기서는 이 요청 역시 네트워크와 인증을 통과해야 한다는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SDU는 Oracle Net이 데이터를 모았다가 네트워크로 내보내는 버퍼 크기입니다. 일반 질의 결과에는 기본값 8KB로 충분하지만, 리두는 큰 덩어리로 끊임없이 흐르기 때문에 작은 SDU로는 조각 수가 많아집니다. SDU는 양쪽이 협상해 작은 쪽으로 정해지므로 송신 쪽 tnsnames.ora만 키우고 수신 쪽 리스너를 그대로 두면 효과가 없습니다. 동적 등록 서비스까지 일괄 적용하려면 sqlnet.ora의 DEFAULT_SDU_SIZE를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지연이 긴 구간에서는 응답을 기다리는 동안 보낼 수 있는 양이 소켓 버퍼 크기에 묶입니다. 선로가 비어 있어도 버퍼가 작으면 기다려야 합니다. 교재 예처럼 622Mbit/s, 30ms 구간이면 BDP가 약 2.3MB이고 세 배는 약 7MB라서, 10MB와 비교해 큰 쪽인 10MB를 씁니다. 역할이 바뀌면 송신과 수신도 바뀌므로 버퍼 설정은 두 서버의 tnsnames.ora와 listener.ora에 똑같이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소켓 버퍼를 10MB로 적었는데 처리량이 그대로라면 커널 한도를 의심합니다. 운영체제는 허용 최대값보다 큰 요청을 오류 없이 깎아서 적용합니다. oracle-database-preinstall-19c 패키지가 커널 값을 올려 주기는 하지만 Data Guard 권고값에는 못 미치므로, 교재 퀴즈에서도 패키지만으로 충분하다는 진술은 거짓으로 처리합니다. sysctl.conf에 값을 넣고 sysctl -p로 반영한 뒤, 리스너와 전송 연결을 다시 맺어야 새 버퍼가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Nagle 알고리즘은 작은 패킷을 모아서 한 번에 보내 패킷 수를 줄이는 장치입니다. 대화형 트래픽에는 유리하지만, 리두 전송에서는 보낼 데이터를 잠깐 붙잡아 두는 지연으로 나타납니다. SYNC 전송은 Standby의 응답을 받아야 커밋이 끝나므로 이런 지연이 사용자의 커밋 시간에 그대로 얹힙니다. ASYNC라면 커밋에는 영향이 없지만 transport lag에 반영됩니다. 교재는 sqlnet.ora에 양쪽 모두 명시하도록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네트워크 조정은 구간에 따라 효과 차이가 큽니다. 같은 데이터센터 안이라면 거의 변화가 없고, 멀리 떨어진 WAN 구간일수록 차이가 커집니다. 바꾸기 전 값을 기록해 두지 않으면 조정이 효과가 있었는지 판단할 근거가 없습니다. 공식 교재의 listener.ora 예제에 SEND_SDU, RECV_SDU라는 이름이 보이는데 Oracle Net에 없는 파라미터라서, 설명 본문과 tnsnames.ora 예처럼 SEND_BUF_SIZE와 RECV_BUF_SIZE로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tnsping은 리스너가 응답하는지까지만 확인합니다. 리스너가 그 서비스를 아는지, 인스턴스가 떠 있는지, 인증이 통과하는지는 보지 않으므로 tnsping이 OK여도 접속이 실패하는 일이 흔합니다. 원격 SYSDBA 접속은 전송 프로세스와 같은 길을 같은 방식으로 지나가기 때문에 3단계까지를 한 번에 확인하는 가장 확실한 방법입니다. 이 순서를 chicago와 boston 양쪽에서 각각 밟아야 FAL과 역할 전환 경로까지 점검됩니다.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오류가 나는 데 걸린 시간도 단서가 됩니다. ORA-12541은 즉시 돌아오며, 그 포트에서 기다리는 프로세스가 없는 경우입니다. ORA-12170이나 TNS-12535는 한참 기다린 끝에 돌아오며, 방화벽이 패킷을 버리거나 라우팅이 끊긴 경우가 많습니다. 같은 이름 해석 실패라도 tnsping은 TNS 접두어로, SQL*Plus는 ORA 접두어로 보고합니다. 리스너 계층의 두 오류는 정적 등록으로 해결되는 경우가 대부분입니다.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ORA-01034는 정적 등록 서비스로 접속했는데 인스턴스가 꺼져 있을 때 자주 봅니다. 리스너는 상태를 모르니 일단 넘겨주고, 서버 프로세스가 붙을 인스턴스가 없다고 알려 주는 것입니다. 리두 전송은 아래층의 실패를 ORA-16191 같은 Data Guard 오류로 감싸 기록하기도 합니다. 그럴 때는 전송 프로세스의 트레이스 파일에 원래 Oracle Net 오류가 함께 남아 있으니, alert log만 보고 판단이 서지 않으면 트레이스를 엽니다.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목적지의 STATUS가 VALID이고 ERROR가 비어 있으면 전송 경로는 살아 있습니다. ERROR 열은 마지막 실패를 그대로 들고 있으므로, 원인을 고친 뒤 다시 조회해서 사라졌는지까지 봐야 합니다. Broker를 구성한 뒤에는 두 VALIDATE 명령이 구성원 사이의 접속과 정적 서비스 접속을 대신 시험해 줍니다. 다만 Broker 구성이 있어야 쓸 수 있으므로 구축 단계에서는 수동 점검이 기준이 되고, 출력 해석은 14장에서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생성은 5장과 6장에서 하는데, 그 과정의 RMAN DUPLICATE는 네트워크, 정적 등록, 인증을 한꺼번에 쓰는 작업입니다. 이 점검표를 건너뛰고 DUPLICATE에서 실패하면 RMAN 오류 메시지 뒤에 숨은 원인을 찾느라 시간이 훨씬 오래 걸립니다. 특히 boston을 NOMOUNT로 띄운 상태에서 chicago 서버로부터 원격 SYSDBA 접속이 되는지 확인해 두면 DUPLICATE의 접속 단계 실패는 거의 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설정은 대부분 평소에는 문제를 드러내지 않습니다. 한쪽 파일만 고쳐도 지금 방향의 전송은 돌아가고, 문제는 갭 해소나 역할 전환 때 터집니다. 중간 방화벽의 유휴 세션 차단 시간이 짧으면 오래 열려 있는 전송 연결이 끊기기도 하므로 네트워크 담당자와 값을 맞춰 둡니다. 서버 교체나 OS 재설치 때는 커널 한도와 SDU 설정이 빠지기 쉬워, 값과 계산 근거를 문서로 남겨 두는 것이 가장 손쉬운 예방책입니다.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Data Guard를 위한 Oracle Net 구성</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이름, 리스너, 인증, 그리고 양방향 연결</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제3장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데이터베이스가 클라이언트가 되는 구조를 설명한다</a:t>
            </a:r>
          </a:p>
          <a:p>
            <a:pPr algn="l">
              <a:spcAft>
                <a:spcPts val="1000"/>
              </a:spcAft>
            </a:pPr>
            <a:r>
              <a:rPr sz="1600" b="0">
                <a:solidFill>
                  <a:srgbClr val="222222"/>
                </a:solidFill>
                <a:latin typeface="맑은 고딕"/>
              </a:rPr>
              <a:t>•  별칭, 서비스 이름, DB_UNIQUE_NAME을 구분한다</a:t>
            </a:r>
          </a:p>
          <a:p>
            <a:pPr algn="l">
              <a:spcAft>
                <a:spcPts val="1000"/>
              </a:spcAft>
            </a:pPr>
            <a:r>
              <a:rPr sz="1600" b="0">
                <a:solidFill>
                  <a:srgbClr val="222222"/>
                </a:solidFill>
                <a:latin typeface="맑은 고딕"/>
              </a:rPr>
              <a:t>•  동적 등록과 정적 등록, _DGMGRL 서비스를 구성한다</a:t>
            </a:r>
          </a:p>
          <a:p>
            <a:pPr algn="l">
              <a:spcAft>
                <a:spcPts val="1000"/>
              </a:spcAft>
            </a:pPr>
            <a:r>
              <a:rPr sz="1600" b="0">
                <a:solidFill>
                  <a:srgbClr val="222222"/>
                </a:solidFill>
                <a:latin typeface="맑은 고딕"/>
              </a:rPr>
              <a:t>•  패스워드 파일과 REDO_TRANSPORT_USER로 인증을 맞춘다</a:t>
            </a:r>
          </a:p>
          <a:p>
            <a:pPr algn="l">
              <a:spcAft>
                <a:spcPts val="1000"/>
              </a:spcAft>
            </a:pPr>
            <a:r>
              <a:rPr sz="1600" b="0">
                <a:solidFill>
                  <a:srgbClr val="222222"/>
                </a:solidFill>
                <a:latin typeface="맑은 고딕"/>
              </a:rPr>
              <a:t>•  DG_CONFIG의 역할과 네트워크 성능 조정값을 정한다</a:t>
            </a:r>
          </a:p>
          <a:p>
            <a:pPr algn="l">
              <a:spcAft>
                <a:spcPts val="1000"/>
              </a:spcAft>
            </a:pPr>
            <a:r>
              <a:rPr sz="1600" b="0">
                <a:solidFill>
                  <a:srgbClr val="222222"/>
                </a:solidFill>
                <a:latin typeface="맑은 고딕"/>
              </a:rPr>
              <a:t>•  계층별 순서로 연결을 검증하고 오류를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3.2  Data Guard에서 Oracle Net이 쓰이는 곳</a:t>
            </a:r>
          </a:p>
          <a:p>
            <a:pPr algn="l">
              <a:spcAft>
                <a:spcPts val="1000"/>
              </a:spcAft>
            </a:pPr>
            <a:r>
              <a:rPr sz="1600" b="0">
                <a:solidFill>
                  <a:srgbClr val="222222"/>
                </a:solidFill>
                <a:latin typeface="맑은 고딕"/>
              </a:rPr>
              <a:t>•  3.3  이름 해석과 tnsnames.ora</a:t>
            </a:r>
          </a:p>
          <a:p>
            <a:pPr algn="l">
              <a:spcAft>
                <a:spcPts val="1000"/>
              </a:spcAft>
            </a:pPr>
            <a:r>
              <a:rPr sz="1600" b="0">
                <a:solidFill>
                  <a:srgbClr val="222222"/>
                </a:solidFill>
                <a:latin typeface="맑은 고딕"/>
              </a:rPr>
              <a:t>•  3.4  리스너와 서비스 등록</a:t>
            </a:r>
          </a:p>
          <a:p>
            <a:pPr algn="l">
              <a:spcAft>
                <a:spcPts val="1000"/>
              </a:spcAft>
            </a:pPr>
            <a:r>
              <a:rPr sz="1600" b="0">
                <a:solidFill>
                  <a:srgbClr val="222222"/>
                </a:solidFill>
                <a:latin typeface="맑은 고딕"/>
              </a:rPr>
              <a:t>•  3.5  리두 전송 인증  /  3.6  LOG_ARCHIVE_CONFIG와 DG_CONFIG</a:t>
            </a:r>
          </a:p>
          <a:p>
            <a:pPr algn="l">
              <a:spcAft>
                <a:spcPts val="1000"/>
              </a:spcAft>
            </a:pPr>
            <a:r>
              <a:rPr sz="1600" b="0">
                <a:solidFill>
                  <a:srgbClr val="222222"/>
                </a:solidFill>
                <a:latin typeface="맑은 고딕"/>
              </a:rPr>
              <a:t>•  3.7  네트워크 성능 조정</a:t>
            </a:r>
          </a:p>
          <a:p>
            <a:pPr algn="l">
              <a:spcAft>
                <a:spcPts val="1000"/>
              </a:spcAft>
            </a:pPr>
            <a:r>
              <a:rPr sz="1600" b="0">
                <a:solidFill>
                  <a:srgbClr val="222222"/>
                </a:solidFill>
                <a:latin typeface="맑은 고딕"/>
              </a:rPr>
              <a:t>•  3.8  연결 검증과 오류 진단  /  3.9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Data Guard에서 Oracle Net이 쓰이는 곳</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데이터베이스가 클라이언트가 되는 구조</a:t>
            </a:r>
          </a:p>
          <a:p>
            <a:pPr algn="l">
              <a:spcAft>
                <a:spcPts val="800"/>
              </a:spcAft>
            </a:pPr>
            <a:r>
              <a:rPr sz="1600" b="0">
                <a:solidFill>
                  <a:srgbClr val="FFFFFF"/>
                </a:solidFill>
                <a:latin typeface="맑은 고딕"/>
              </a:rPr>
              <a:t>•  Oracle Net을 쓰는 여섯 경로</a:t>
            </a:r>
          </a:p>
          <a:p>
            <a:pPr algn="l">
              <a:spcAft>
                <a:spcPts val="800"/>
              </a:spcAft>
            </a:pPr>
            <a:r>
              <a:rPr sz="1600" b="0">
                <a:solidFill>
                  <a:srgbClr val="FFFFFF"/>
                </a:solidFill>
                <a:latin typeface="맑은 고딕"/>
              </a:rPr>
              <a:t>•  양방향 대칭 구성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데이터베이스가 클라이언트가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전송 프로세스는 Standby 리스너의 손님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리스너가 요청을 받아 전용 서버 프로세스 생성</a:t>
            </a:r>
          </a:p>
          <a:p>
            <a:pPr algn="l">
              <a:spcAft>
                <a:spcPts val="1000"/>
              </a:spcAft>
            </a:pPr>
            <a:r>
              <a:rPr sz="1700" b="0">
                <a:solidFill>
                  <a:srgbClr val="222222"/>
                </a:solidFill>
                <a:latin typeface="맑은 고딕"/>
              </a:rPr>
              <a:t>•  로컬 sqlplus / as sysdba는 리스너를 거치지 않음</a:t>
            </a:r>
          </a:p>
          <a:p>
            <a:pPr algn="l">
              <a:spcAft>
                <a:spcPts val="1000"/>
              </a:spcAft>
            </a:pPr>
            <a:r>
              <a:rPr sz="1700" b="0">
                <a:solidFill>
                  <a:srgbClr val="222222"/>
                </a:solidFill>
                <a:latin typeface="맑은 고딕"/>
              </a:rPr>
              <a:t>•  Primary의 NSS, TT, ARCn이 클라이언트 역할</a:t>
            </a:r>
          </a:p>
          <a:p>
            <a:pPr algn="l">
              <a:spcAft>
                <a:spcPts val="1000"/>
              </a:spcAft>
            </a:pPr>
            <a:r>
              <a:rPr sz="1700" b="0">
                <a:solidFill>
                  <a:srgbClr val="222222"/>
                </a:solidFill>
                <a:latin typeface="맑은 고딕"/>
              </a:rPr>
              <a:t>•  Standby에서는 그 접속을 RFS가 받는다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Oracle Net을 쓰는 경로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같은 설정 파일을 공유한다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전송: Primary에서 Standby로</a:t>
            </a:r>
          </a:p>
          <a:p>
            <a:pPr algn="l">
              <a:spcAft>
                <a:spcPts val="1000"/>
              </a:spcAft>
            </a:pPr>
            <a:r>
              <a:rPr sz="1700" b="0">
                <a:solidFill>
                  <a:srgbClr val="222222"/>
                </a:solidFill>
                <a:latin typeface="맑은 고딕"/>
              </a:rPr>
              <a:t>•  FAL 갭 해소: Standby에서 FAL 서버로</a:t>
            </a:r>
          </a:p>
          <a:p>
            <a:pPr algn="l">
              <a:spcAft>
                <a:spcPts val="1000"/>
              </a:spcAft>
            </a:pPr>
            <a:r>
              <a:rPr sz="1700" b="0">
                <a:solidFill>
                  <a:srgbClr val="222222"/>
                </a:solidFill>
                <a:latin typeface="맑은 고딕"/>
              </a:rPr>
              <a:t>•  RMAN DUPLICATE: NOMOUNT auxiliary 접속</a:t>
            </a:r>
          </a:p>
          <a:p>
            <a:pPr algn="l">
              <a:spcAft>
                <a:spcPts val="1000"/>
              </a:spcAft>
            </a:pPr>
            <a:r>
              <a:rPr sz="1700" b="0">
                <a:solidFill>
                  <a:srgbClr val="222222"/>
                </a:solidFill>
                <a:latin typeface="맑은 고딕"/>
              </a:rPr>
              <a:t>•  역할 전환 뒤 반대 방향 전송, Broker DMON 통신</a:t>
            </a:r>
          </a:p>
          <a:p>
            <a:pPr algn="l">
              <a:spcAft>
                <a:spcPts val="1000"/>
              </a:spcAft>
            </a:pPr>
            <a:r>
              <a:rPr sz="1700" b="0">
                <a:solidFill>
                  <a:srgbClr val="222222"/>
                </a:solidFill>
                <a:latin typeface="맑은 고딕"/>
              </a:rPr>
              <a:t>•  애플리케이션의 현재 Primary 접속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양방향 연결과 대칭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평상시에는 보이지 않는 반대 방향</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FAL은 Standby가 Primary에 접속하는 연결</a:t>
            </a:r>
          </a:p>
          <a:p>
            <a:pPr algn="l">
              <a:spcAft>
                <a:spcPts val="1000"/>
              </a:spcAft>
            </a:pPr>
            <a:r>
              <a:rPr sz="1700" b="0">
                <a:solidFill>
                  <a:srgbClr val="222222"/>
                </a:solidFill>
                <a:latin typeface="맑은 고딕"/>
              </a:rPr>
              <a:t>•  Switchover 뒤에는 boston이 chicago로 전송</a:t>
            </a:r>
          </a:p>
          <a:p>
            <a:pPr algn="l">
              <a:spcAft>
                <a:spcPts val="1000"/>
              </a:spcAft>
            </a:pPr>
            <a:r>
              <a:rPr sz="1700" b="0">
                <a:solidFill>
                  <a:srgbClr val="222222"/>
                </a:solidFill>
                <a:latin typeface="맑은 고딕"/>
              </a:rPr>
              <a:t>•  Broker DMON은 구성원끼리 서로 접속</a:t>
            </a:r>
          </a:p>
          <a:p>
            <a:pPr algn="l">
              <a:spcAft>
                <a:spcPts val="1000"/>
              </a:spcAft>
            </a:pPr>
            <a:r>
              <a:rPr sz="1700" b="0">
                <a:solidFill>
                  <a:srgbClr val="222222"/>
                </a:solidFill>
                <a:latin typeface="맑은 고딕"/>
              </a:rPr>
              <a:t>•  별칭, 정적 등록, 방화벽 허용을 양쪽에 똑같이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파일과 위치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인스턴스가 실제로 읽는 파일은 어디인가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tnsnames.ora: 별칭과 접속 기술자</a:t>
            </a:r>
          </a:p>
          <a:p>
            <a:pPr algn="l">
              <a:spcAft>
                <a:spcPts val="1000"/>
              </a:spcAft>
            </a:pPr>
            <a:r>
              <a:rPr sz="1700" b="0">
                <a:solidFill>
                  <a:srgbClr val="222222"/>
                </a:solidFill>
                <a:latin typeface="맑은 고딕"/>
              </a:rPr>
              <a:t>•  sqlnet.ora: 이름 해석 순서, 타임아웃, TCP 옵션</a:t>
            </a:r>
          </a:p>
          <a:p>
            <a:pPr algn="l">
              <a:spcAft>
                <a:spcPts val="1000"/>
              </a:spcAft>
            </a:pPr>
            <a:r>
              <a:rPr sz="1700" b="0">
                <a:solidFill>
                  <a:srgbClr val="222222"/>
                </a:solidFill>
                <a:latin typeface="맑은 고딕"/>
              </a:rPr>
              <a:t>•  listener.ora: 수신 주소와 정적 등록</a:t>
            </a:r>
          </a:p>
          <a:p>
            <a:pPr algn="l">
              <a:spcAft>
                <a:spcPts val="1000"/>
              </a:spcAft>
            </a:pPr>
            <a:r>
              <a:rPr sz="1700" b="0">
                <a:solidFill>
                  <a:srgbClr val="222222"/>
                </a:solidFill>
                <a:latin typeface="맑은 고딕"/>
              </a:rPr>
              <a:t>•  TNS_ADMIN을 먼저, 없으면 ORACLE_HOME/network/admin</a:t>
            </a:r>
          </a:p>
          <a:p>
            <a:pPr algn="l">
              <a:spcAft>
                <a:spcPts val="1000"/>
              </a:spcAft>
            </a:pPr>
            <a:r>
              <a:rPr sz="1700" b="0">
                <a:solidFill>
                  <a:srgbClr val="222222"/>
                </a:solidFill>
                <a:latin typeface="맑은 고딕"/>
              </a:rPr>
              <a:t>•  백그라운드 프로세스는 기동 시점 환경을 물려받음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이름 해석과 tnsnames.ora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접속 기술자의 두 요소</a:t>
            </a:r>
          </a:p>
          <a:p>
            <a:pPr algn="l">
              <a:spcAft>
                <a:spcPts val="800"/>
              </a:spcAft>
            </a:pPr>
            <a:r>
              <a:rPr sz="1600" b="0">
                <a:solidFill>
                  <a:srgbClr val="FFFFFF"/>
                </a:solidFill>
                <a:latin typeface="맑은 고딕"/>
              </a:rPr>
              <a:t>•  별칭, 서비스 이름, DB_UNIQUE_NAME</a:t>
            </a:r>
          </a:p>
          <a:p>
            <a:pPr algn="l">
              <a:spcAft>
                <a:spcPts val="800"/>
              </a:spcAft>
            </a:pPr>
            <a:r>
              <a:rPr sz="1600" b="0">
                <a:solidFill>
                  <a:srgbClr val="FFFFFF"/>
                </a:solidFill>
                <a:latin typeface="맑은 고딕"/>
              </a:rPr>
              <a:t>•  역할 전환에 대비한 클라이언트 접속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접속 기술자의 두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어디로 가서, 누구를 찾는가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ADDRESS: 프로토콜, 호스트, 포트</a:t>
            </a:r>
          </a:p>
          <a:p>
            <a:pPr algn="l">
              <a:spcAft>
                <a:spcPts val="1000"/>
              </a:spcAft>
            </a:pPr>
            <a:r>
              <a:rPr sz="1700" b="0">
                <a:solidFill>
                  <a:srgbClr val="222222"/>
                </a:solidFill>
                <a:latin typeface="맑은 고딕"/>
              </a:rPr>
              <a:t>•  CONNECT_DATA: SERVICE_NAME 또는 SID</a:t>
            </a:r>
          </a:p>
          <a:p>
            <a:pPr algn="l">
              <a:spcAft>
                <a:spcPts val="1000"/>
              </a:spcAft>
            </a:pPr>
            <a:r>
              <a:rPr sz="1700" b="0">
                <a:solidFill>
                  <a:srgbClr val="222222"/>
                </a:solidFill>
                <a:latin typeface="맑은 고딕"/>
              </a:rPr>
              <a:t>•  주소가 틀리면 리스너에 닿지 못함</a:t>
            </a:r>
          </a:p>
          <a:p>
            <a:pPr algn="l">
              <a:spcAft>
                <a:spcPts val="1000"/>
              </a:spcAft>
            </a:pPr>
            <a:r>
              <a:rPr sz="1700" b="0">
                <a:solidFill>
                  <a:srgbClr val="222222"/>
                </a:solidFill>
                <a:latin typeface="맑은 고딕"/>
              </a:rPr>
              <a:t>•  서비스가 틀리면 리스너가 거절함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 해석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과정은 로컬 이름 지정을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로컬(tnsnames.ora), 디렉터리(LDAP)</a:t>
            </a:r>
          </a:p>
          <a:p>
            <a:pPr algn="l">
              <a:spcAft>
                <a:spcPts val="1000"/>
              </a:spcAft>
            </a:pPr>
            <a:r>
              <a:rPr sz="1700" b="0">
                <a:solidFill>
                  <a:srgbClr val="222222"/>
                </a:solidFill>
                <a:latin typeface="맑은 고딕"/>
              </a:rPr>
              <a:t>•  Easy Connect, 외부 이름 서비스</a:t>
            </a:r>
          </a:p>
          <a:p>
            <a:pPr algn="l">
              <a:spcAft>
                <a:spcPts val="1000"/>
              </a:spcAft>
            </a:pPr>
            <a:r>
              <a:rPr sz="1700" b="0">
                <a:solidFill>
                  <a:srgbClr val="222222"/>
                </a:solidFill>
                <a:latin typeface="맑은 고딕"/>
              </a:rPr>
              <a:t>•  순서는 sqlnet.ora의 NAMES.DIRECTORY_PATH</a:t>
            </a:r>
          </a:p>
          <a:p>
            <a:pPr algn="l">
              <a:spcAft>
                <a:spcPts val="1000"/>
              </a:spcAft>
            </a:pPr>
            <a:r>
              <a:rPr sz="1700" b="0">
                <a:solidFill>
                  <a:srgbClr val="222222"/>
                </a:solidFill>
                <a:latin typeface="맑은 고딕"/>
              </a:rPr>
              <a:t>•  Broker는 별칭 대신 완전한 기술자를 쓰기도 함</a:t>
            </a:r>
          </a:p>
          <a:p>
            <a:pPr algn="l">
              <a:spcAft>
                <a:spcPts val="1000"/>
              </a:spcAft>
            </a:pPr>
            <a:r>
              <a:rPr sz="1700" b="0">
                <a:solidFill>
                  <a:srgbClr val="222222"/>
                </a:solidFill>
                <a:latin typeface="맑은 고딕"/>
              </a:rPr>
              <a:t>•  호스트에 IP를 쓰면 DNS 조회를 건너뜀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 Guard용 tnsnames.ora</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구성원 별칭을 모든 서버에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BOSTON 별칭을 양쪽에 같은 내용으로</a:t>
            </a:r>
          </a:p>
          <a:p>
            <a:pPr algn="l">
              <a:spcAft>
                <a:spcPts val="1000"/>
              </a:spcAft>
            </a:pPr>
            <a:r>
              <a:rPr sz="1700" b="0">
                <a:solidFill>
                  <a:srgbClr val="222222"/>
                </a:solidFill>
                <a:latin typeface="맑은 고딕"/>
              </a:rPr>
              <a:t>•  자기 자신을 가리키는 별칭도 둔다</a:t>
            </a:r>
          </a:p>
          <a:p>
            <a:pPr algn="l">
              <a:spcAft>
                <a:spcPts val="1000"/>
              </a:spcAft>
            </a:pPr>
            <a:r>
              <a:rPr sz="1700" b="0">
                <a:solidFill>
                  <a:srgbClr val="222222"/>
                </a:solidFill>
                <a:latin typeface="맑은 고딕"/>
              </a:rPr>
              <a:t>•  SERVICE_NAME은 DB_UNIQUE_NAME 기반으로</a:t>
            </a:r>
          </a:p>
          <a:p>
            <a:pPr algn="l">
              <a:spcAft>
                <a:spcPts val="1000"/>
              </a:spcAft>
            </a:pPr>
            <a:r>
              <a:rPr sz="1700" b="0">
                <a:solidFill>
                  <a:srgbClr val="222222"/>
                </a:solidFill>
                <a:latin typeface="맑은 고딕"/>
              </a:rPr>
              <a:t>•  호스트 이름 표기는 한 가지로 통일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이름의 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boston이라도 층이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넷 서비스 이름: tnsnames.ora의 별칭</a:t>
            </a:r>
          </a:p>
          <a:p>
            <a:pPr algn="l">
              <a:spcAft>
                <a:spcPts val="1000"/>
              </a:spcAft>
            </a:pPr>
            <a:r>
              <a:rPr sz="1700" b="0">
                <a:solidFill>
                  <a:srgbClr val="222222"/>
                </a:solidFill>
                <a:latin typeface="맑은 고딕"/>
              </a:rPr>
              <a:t>•  서비스 이름: 인스턴스가 리스너에 등록</a:t>
            </a:r>
          </a:p>
          <a:p>
            <a:pPr algn="l">
              <a:spcAft>
                <a:spcPts val="1000"/>
              </a:spcAft>
            </a:pPr>
            <a:r>
              <a:rPr sz="1700" b="0">
                <a:solidFill>
                  <a:srgbClr val="222222"/>
                </a:solidFill>
                <a:latin typeface="맑은 고딕"/>
              </a:rPr>
              <a:t>•  DB_UNIQUE_NAME: 구성원 고유 이름</a:t>
            </a:r>
          </a:p>
          <a:p>
            <a:pPr algn="l">
              <a:spcAft>
                <a:spcPts val="1000"/>
              </a:spcAft>
            </a:pPr>
            <a:r>
              <a:rPr sz="1700" b="0">
                <a:solidFill>
                  <a:srgbClr val="222222"/>
                </a:solidFill>
                <a:latin typeface="맑은 고딕"/>
              </a:rPr>
              <a:t>•  DEST의 SERVICE는 별칭, DB_UNIQUE_NAME은 실제 이름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전환에 대비한 접속</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접속 시 페일오버와 대기 상한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ADDRESS_LIST에 두 호스트를 함께</a:t>
            </a:r>
          </a:p>
          <a:p>
            <a:pPr algn="l">
              <a:spcAft>
                <a:spcPts val="1000"/>
              </a:spcAft>
            </a:pPr>
            <a:r>
              <a:rPr sz="1700" b="0">
                <a:solidFill>
                  <a:srgbClr val="222222"/>
                </a:solidFill>
                <a:latin typeface="맑은 고딕"/>
              </a:rPr>
              <a:t>•  앞 리스너가 응답 없으면 다음 주소로</a:t>
            </a:r>
          </a:p>
          <a:p>
            <a:pPr algn="l">
              <a:spcAft>
                <a:spcPts val="1000"/>
              </a:spcAft>
            </a:pPr>
            <a:r>
              <a:rPr sz="1700" b="0">
                <a:solidFill>
                  <a:srgbClr val="222222"/>
                </a:solidFill>
                <a:latin typeface="맑은 고딕"/>
              </a:rPr>
              <a:t>•  FAILOVER=on은 기본값이라 생략 가능</a:t>
            </a:r>
          </a:p>
          <a:p>
            <a:pPr algn="l">
              <a:spcAft>
                <a:spcPts val="1000"/>
              </a:spcAft>
            </a:pPr>
            <a:r>
              <a:rPr sz="1700" b="0">
                <a:solidFill>
                  <a:srgbClr val="222222"/>
                </a:solidFill>
                <a:latin typeface="맑은 고딕"/>
              </a:rPr>
              <a:t>•  SQLNET.OUTBOUND_CONNECT_TIMEOUT으로 빨리 포기</a:t>
            </a:r>
          </a:p>
          <a:p>
            <a:pPr algn="l">
              <a:spcAft>
                <a:spcPts val="1000"/>
              </a:spcAft>
            </a:pPr>
            <a:r>
              <a:rPr sz="1700" b="0">
                <a:solidFill>
                  <a:srgbClr val="222222"/>
                </a:solidFill>
                <a:latin typeface="맑은 고딕"/>
              </a:rPr>
              <a:t>•  Primary에서만 뜨는 서비스 이름을 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리스너와 서비스 등록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동적 등록과 그 한계</a:t>
            </a:r>
          </a:p>
          <a:p>
            <a:pPr algn="l">
              <a:spcAft>
                <a:spcPts val="800"/>
              </a:spcAft>
            </a:pPr>
            <a:r>
              <a:rPr sz="1600" b="0">
                <a:solidFill>
                  <a:srgbClr val="FFFFFF"/>
                </a:solidFill>
                <a:latin typeface="맑은 고딕"/>
              </a:rPr>
              <a:t>•  정적 등록 SID_LIST와 GLOBAL_DBNAME</a:t>
            </a:r>
          </a:p>
          <a:p>
            <a:pPr algn="l">
              <a:spcAft>
                <a:spcPts val="800"/>
              </a:spcAft>
            </a:pPr>
            <a:r>
              <a:rPr sz="1600" b="0">
                <a:solidFill>
                  <a:srgbClr val="FFFFFF"/>
                </a:solidFill>
                <a:latin typeface="맑은 고딕"/>
              </a:rPr>
              <a:t>•  Broker의 _DGMGRL 서비스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listener.ora의 구조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기본값만으로도 리스너는 뜬다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수신 주소, 서비스 정보, 동작 파라미터</a:t>
            </a:r>
          </a:p>
          <a:p>
            <a:pPr algn="l">
              <a:spcAft>
                <a:spcPts val="1000"/>
              </a:spcAft>
            </a:pPr>
            <a:r>
              <a:rPr sz="1700" b="0">
                <a:solidFill>
                  <a:srgbClr val="222222"/>
                </a:solidFill>
                <a:latin typeface="맑은 고딕"/>
              </a:rPr>
              <a:t>•  기본 이름 LISTENER는 명령에서 생략 가능</a:t>
            </a:r>
          </a:p>
          <a:p>
            <a:pPr algn="l">
              <a:spcAft>
                <a:spcPts val="1000"/>
              </a:spcAft>
            </a:pPr>
            <a:r>
              <a:rPr sz="1700" b="0">
                <a:solidFill>
                  <a:srgbClr val="222222"/>
                </a:solidFill>
                <a:latin typeface="맑은 고딕"/>
              </a:rPr>
              <a:t>•  리스너를 나누면 포트도 달라야 함</a:t>
            </a:r>
          </a:p>
          <a:p>
            <a:pPr algn="l">
              <a:spcAft>
                <a:spcPts val="1000"/>
              </a:spcAft>
            </a:pPr>
            <a:r>
              <a:rPr sz="1700" b="0">
                <a:solidFill>
                  <a:srgbClr val="222222"/>
                </a:solidFill>
                <a:latin typeface="맑은 고딕"/>
              </a:rPr>
              <a:t>•  DG 때문에 바꾸는 이유: 정적 등록과 성능 조정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동적 등록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LREG가 리스너에게 알려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서비스 이름, 인스턴스 이름, 상태를 등록</a:t>
            </a:r>
          </a:p>
          <a:p>
            <a:pPr algn="l">
              <a:spcAft>
                <a:spcPts val="1000"/>
              </a:spcAft>
            </a:pPr>
            <a:r>
              <a:rPr sz="1700" b="0">
                <a:solidFill>
                  <a:srgbClr val="222222"/>
                </a:solidFill>
                <a:latin typeface="맑은 고딕"/>
              </a:rPr>
              <a:t>•  기본 서비스 이름은 DB_UNIQUE_NAME.DB_DOMAIN</a:t>
            </a:r>
          </a:p>
          <a:p>
            <a:pPr algn="l">
              <a:spcAft>
                <a:spcPts val="1000"/>
              </a:spcAft>
            </a:pPr>
            <a:r>
              <a:rPr sz="1700" b="0">
                <a:solidFill>
                  <a:srgbClr val="222222"/>
                </a:solidFill>
                <a:latin typeface="맑은 고딕"/>
              </a:rPr>
              <a:t>•  1521이 아니면 LOCAL_LISTENER 지정</a:t>
            </a:r>
          </a:p>
          <a:p>
            <a:pPr algn="l">
              <a:spcAft>
                <a:spcPts val="1000"/>
              </a:spcAft>
            </a:pPr>
            <a:r>
              <a:rPr sz="1700" b="0">
                <a:solidFill>
                  <a:srgbClr val="222222"/>
                </a:solidFill>
                <a:latin typeface="맑은 고딕"/>
              </a:rPr>
              <a:t>•  즉시 반영은 ALTER SYSTEM REGISTER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동적 등록만으로 부족한 순간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인스턴스가 없거나 NOMOUNT일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인스턴스가 내려가면 동적 서비스 정보 소멸</a:t>
            </a:r>
          </a:p>
          <a:p>
            <a:pPr algn="l">
              <a:spcAft>
                <a:spcPts val="1000"/>
              </a:spcAft>
            </a:pPr>
            <a:r>
              <a:rPr sz="1700" b="0">
                <a:solidFill>
                  <a:srgbClr val="222222"/>
                </a:solidFill>
                <a:latin typeface="맑은 고딕"/>
              </a:rPr>
              <a:t>•  그 서비스로 접속하면 ORA-12514</a:t>
            </a:r>
          </a:p>
          <a:p>
            <a:pPr algn="l">
              <a:spcAft>
                <a:spcPts val="1000"/>
              </a:spcAft>
            </a:pPr>
            <a:r>
              <a:rPr sz="1700" b="0">
                <a:solidFill>
                  <a:srgbClr val="222222"/>
                </a:solidFill>
                <a:latin typeface="맑은 고딕"/>
              </a:rPr>
              <a:t>•  NOMOUNT, MOUNT는 BLOCKED로 등록</a:t>
            </a:r>
          </a:p>
          <a:p>
            <a:pPr algn="l">
              <a:spcAft>
                <a:spcPts val="1000"/>
              </a:spcAft>
            </a:pPr>
            <a:r>
              <a:rPr sz="1700" b="0">
                <a:solidFill>
                  <a:srgbClr val="222222"/>
                </a:solidFill>
                <a:latin typeface="맑은 고딕"/>
              </a:rPr>
              <a:t>•  BLOCKED 서비스 접속은 ORA-12528</a:t>
            </a:r>
          </a:p>
          <a:p>
            <a:pPr algn="l">
              <a:spcAft>
                <a:spcPts val="1000"/>
              </a:spcAft>
            </a:pPr>
            <a:r>
              <a:rPr sz="1700" b="0">
                <a:solidFill>
                  <a:srgbClr val="222222"/>
                </a:solidFill>
                <a:latin typeface="맑은 고딕"/>
              </a:rPr>
              <a:t>•  DUPLICATE와 Broker 재기동이 이 순간을 만남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정적 등록 SID_LIST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파일에 적힌 선언을 리스너가 믿는다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SID_LIST_ 뒤에 리스너 이름을 붙인다</a:t>
            </a:r>
          </a:p>
          <a:p>
            <a:pPr algn="l">
              <a:spcAft>
                <a:spcPts val="1000"/>
              </a:spcAft>
            </a:pPr>
            <a:r>
              <a:rPr sz="1700" b="0">
                <a:solidFill>
                  <a:srgbClr val="222222"/>
                </a:solidFill>
                <a:latin typeface="맑은 고딕"/>
              </a:rPr>
              <a:t>•  SID_DESC 하나가 정적 서비스 하나</a:t>
            </a:r>
          </a:p>
          <a:p>
            <a:pPr algn="l">
              <a:spcAft>
                <a:spcPts val="1000"/>
              </a:spcAft>
            </a:pPr>
            <a:r>
              <a:rPr sz="1700" b="0">
                <a:solidFill>
                  <a:srgbClr val="222222"/>
                </a:solidFill>
                <a:latin typeface="맑은 고딕"/>
              </a:rPr>
              <a:t>•  GLOBAL_DBNAME은 SERVICE_NAME과 글자 그대로 일치</a:t>
            </a:r>
          </a:p>
          <a:p>
            <a:pPr algn="l">
              <a:spcAft>
                <a:spcPts val="1000"/>
              </a:spcAft>
            </a:pPr>
            <a:r>
              <a:rPr sz="1700" b="0">
                <a:solidFill>
                  <a:srgbClr val="222222"/>
                </a:solidFill>
                <a:latin typeface="맑은 고딕"/>
              </a:rPr>
              <a:t>•  SID_NAME, ORACLE_HOME은 실제 인스턴스 환경</a:t>
            </a:r>
          </a:p>
          <a:p>
            <a:pPr algn="l">
              <a:spcAft>
                <a:spcPts val="1000"/>
              </a:spcAft>
            </a:pPr>
            <a:r>
              <a:rPr sz="1700" b="0">
                <a:solidFill>
                  <a:srgbClr val="222222"/>
                </a:solidFill>
                <a:latin typeface="맑은 고딕"/>
              </a:rPr>
              <a:t>•  변경 후 lsnrctl reload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Broker의 _DGMGRL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인스턴스를 다시 올릴 때 쓰는 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 규칙: db_unique_name_DGMGRL.db_domain</a:t>
            </a:r>
          </a:p>
          <a:p>
            <a:pPr algn="l">
              <a:spcAft>
                <a:spcPts val="1000"/>
              </a:spcAft>
            </a:pPr>
            <a:r>
              <a:rPr sz="1700" b="0">
                <a:solidFill>
                  <a:srgbClr val="222222"/>
                </a:solidFill>
                <a:latin typeface="맑은 고딕"/>
              </a:rPr>
              <a:t>•  StaticConnectIdentifier 속성이 이 서비스를 가리킴</a:t>
            </a:r>
          </a:p>
          <a:p>
            <a:pPr algn="l">
              <a:spcAft>
                <a:spcPts val="1000"/>
              </a:spcAft>
            </a:pPr>
            <a:r>
              <a:rPr sz="1700" b="0">
                <a:solidFill>
                  <a:srgbClr val="222222"/>
                </a:solidFill>
                <a:latin typeface="맑은 고딕"/>
              </a:rPr>
              <a:t>•  없으면 Switchover 마지막 재기동에서 실패</a:t>
            </a:r>
          </a:p>
          <a:p>
            <a:pPr algn="l">
              <a:spcAft>
                <a:spcPts val="1000"/>
              </a:spcAft>
            </a:pPr>
            <a:r>
              <a:rPr sz="1700" b="0">
                <a:solidFill>
                  <a:srgbClr val="222222"/>
                </a:solidFill>
                <a:latin typeface="맑은 고딕"/>
              </a:rPr>
              <a:t>•  _DGB 서비스는 DMON용 동적 등록</a:t>
            </a:r>
          </a:p>
          <a:p>
            <a:pPr algn="l">
              <a:spcAft>
                <a:spcPts val="1000"/>
              </a:spcAft>
            </a:pPr>
            <a:r>
              <a:rPr sz="1700" b="0">
                <a:solidFill>
                  <a:srgbClr val="222222"/>
                </a:solidFill>
                <a:latin typeface="맑은 고딕"/>
              </a:rPr>
              <a:t>•  Clusterware 관리 DB에는 불필요</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lsnrctl status로 상태 읽기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READY, BLOCKED, UNKNOWN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동적 등록, 접속 가능</a:t>
            </a:r>
          </a:p>
          <a:p>
            <a:pPr algn="l">
              <a:spcAft>
                <a:spcPts val="1000"/>
              </a:spcAft>
            </a:pPr>
            <a:r>
              <a:rPr sz="1700" b="0">
                <a:solidFill>
                  <a:srgbClr val="222222"/>
                </a:solidFill>
                <a:latin typeface="맑은 고딕"/>
              </a:rPr>
              <a:t>•  BLOCKED: 동적 등록, NOMOUNT·MOUNT라 거부</a:t>
            </a:r>
          </a:p>
          <a:p>
            <a:pPr algn="l">
              <a:spcAft>
                <a:spcPts val="1000"/>
              </a:spcAft>
            </a:pPr>
            <a:r>
              <a:rPr sz="1700" b="0">
                <a:solidFill>
                  <a:srgbClr val="222222"/>
                </a:solidFill>
                <a:latin typeface="맑은 고딕"/>
              </a:rPr>
              <a:t>•  UNKNOWN: 정적 등록, 리스너는 상태를 모름</a:t>
            </a:r>
          </a:p>
          <a:p>
            <a:pPr algn="l">
              <a:spcAft>
                <a:spcPts val="1000"/>
              </a:spcAft>
            </a:pPr>
            <a:r>
              <a:rPr sz="1700" b="0">
                <a:solidFill>
                  <a:srgbClr val="222222"/>
                </a:solidFill>
                <a:latin typeface="맑은 고딕"/>
              </a:rPr>
              <a:t>•  같은 서비스에 정적·동적 항목이 함께 보일 수 있음</a:t>
            </a:r>
          </a:p>
          <a:p>
            <a:pPr algn="l">
              <a:spcAft>
                <a:spcPts val="1000"/>
              </a:spcAft>
            </a:pPr>
            <a:r>
              <a:rPr sz="1700" b="0">
                <a:solidFill>
                  <a:srgbClr val="222222"/>
                </a:solidFill>
                <a:latin typeface="맑은 고딕"/>
              </a:rPr>
              <a:t>•  Listener Parameter File 줄로 실제 파일 경로 확인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정적 등록은 양쪽에 같은 모양으로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역할이 바뀌면 chicago도 NOMOUNT가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두 서버에 db_unique_name 서비스와 _DGMGRL 서비스</a:t>
            </a:r>
          </a:p>
          <a:p>
            <a:pPr algn="l">
              <a:spcAft>
                <a:spcPts val="1000"/>
              </a:spcAft>
            </a:pPr>
            <a:r>
              <a:rPr sz="1700" b="0">
                <a:solidFill>
                  <a:srgbClr val="222222"/>
                </a:solidFill>
                <a:latin typeface="맑은 고딕"/>
              </a:rPr>
              <a:t>•  GLOBAL_DBNAME, SERVICE_NAME, DB_DOMAIN을 한 표로</a:t>
            </a:r>
          </a:p>
          <a:p>
            <a:pPr algn="l">
              <a:spcAft>
                <a:spcPts val="1000"/>
              </a:spcAft>
            </a:pPr>
            <a:r>
              <a:rPr sz="1700" b="0">
                <a:solidFill>
                  <a:srgbClr val="222222"/>
                </a:solidFill>
                <a:latin typeface="맑은 고딕"/>
              </a:rPr>
              <a:t>•  셋 중 하나를 바꾸면 나머지 둘도 확인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리두 전송 인증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패스워드 파일 기반 인증</a:t>
            </a:r>
          </a:p>
          <a:p>
            <a:pPr algn="l">
              <a:spcAft>
                <a:spcPts val="800"/>
              </a:spcAft>
            </a:pPr>
            <a:r>
              <a:rPr sz="1600" b="0">
                <a:solidFill>
                  <a:srgbClr val="FFFFFF"/>
                </a:solidFill>
                <a:latin typeface="맑은 고딕"/>
              </a:rPr>
              <a:t>•  REDO_TRANSPORT_USER</a:t>
            </a:r>
          </a:p>
          <a:p>
            <a:pPr algn="l">
              <a:spcAft>
                <a:spcPts val="800"/>
              </a:spcAft>
            </a:pPr>
            <a:r>
              <a:rPr sz="1600" b="0">
                <a:solidFill>
                  <a:srgbClr val="FFFFFF"/>
                </a:solidFill>
                <a:latin typeface="맑은 고딕"/>
              </a:rPr>
              <a:t>•  인증 실패의 증상과 회복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전송 세션도 로그온한다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패스워드 파일로 서로를 확인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인증 방식: SSL 또는 원격 로그인 패스워드 파일</a:t>
            </a:r>
          </a:p>
          <a:p>
            <a:pPr algn="l">
              <a:spcAft>
                <a:spcPts val="1000"/>
              </a:spcAft>
            </a:pPr>
            <a:r>
              <a:rPr sz="1700" b="0">
                <a:solidFill>
                  <a:srgbClr val="222222"/>
                </a:solidFill>
                <a:latin typeface="맑은 고딕"/>
              </a:rPr>
              <a:t>•  대부분 패스워드 파일 방식을 사용</a:t>
            </a:r>
          </a:p>
          <a:p>
            <a:pPr algn="l">
              <a:spcAft>
                <a:spcPts val="1000"/>
              </a:spcAft>
            </a:pPr>
            <a:r>
              <a:rPr sz="1700" b="0">
                <a:solidFill>
                  <a:srgbClr val="222222"/>
                </a:solidFill>
                <a:latin typeface="맑은 고딕"/>
              </a:rPr>
              <a:t>•  인스턴스가 자기 파일에서 자격 정보를 읽음</a:t>
            </a:r>
          </a:p>
          <a:p>
            <a:pPr algn="l">
              <a:spcAft>
                <a:spcPts val="1000"/>
              </a:spcAft>
            </a:pPr>
            <a:r>
              <a:rPr sz="1700" b="0">
                <a:solidFill>
                  <a:srgbClr val="222222"/>
                </a:solidFill>
                <a:latin typeface="맑은 고딕"/>
              </a:rPr>
              <a:t>•  FAL, DMON, DUPLICATE도 같은 파일에 기댐</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패스워드 파일 요건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 내용, 파라미터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REMOTE_LOGIN_PASSWORDFILE=EXCLUSIVE</a:t>
            </a:r>
          </a:p>
          <a:p>
            <a:pPr algn="l">
              <a:spcAft>
                <a:spcPts val="1000"/>
              </a:spcAft>
            </a:pPr>
            <a:r>
              <a:rPr sz="1700" b="0">
                <a:solidFill>
                  <a:srgbClr val="222222"/>
                </a:solidFill>
                <a:latin typeface="맑은 고딕"/>
              </a:rPr>
              <a:t>•  파일 이름은 orapw + 각 서버의 ORACLE_SID</a:t>
            </a:r>
          </a:p>
          <a:p>
            <a:pPr algn="l">
              <a:spcAft>
                <a:spcPts val="1000"/>
              </a:spcAft>
            </a:pPr>
            <a:r>
              <a:rPr sz="1700" b="0">
                <a:solidFill>
                  <a:srgbClr val="222222"/>
                </a:solidFill>
                <a:latin typeface="맑은 고딕"/>
              </a:rPr>
              <a:t>•  Primary 파일을 복사해 Standby 이름으로</a:t>
            </a:r>
          </a:p>
          <a:p>
            <a:pPr algn="l">
              <a:spcAft>
                <a:spcPts val="1000"/>
              </a:spcAft>
            </a:pPr>
            <a:r>
              <a:rPr sz="1700" b="0">
                <a:solidFill>
                  <a:srgbClr val="222222"/>
                </a:solidFill>
                <a:latin typeface="맑은 고딕"/>
              </a:rPr>
              <a:t>•  orapwd 재생성은 리두로 전달되지 않음</a:t>
            </a:r>
          </a:p>
          <a:p>
            <a:pPr algn="l">
              <a:spcAft>
                <a:spcPts val="1000"/>
              </a:spcAft>
            </a:pPr>
            <a:r>
              <a:rPr sz="1700" b="0">
                <a:solidFill>
                  <a:srgbClr val="222222"/>
                </a:solidFill>
                <a:latin typeface="맑은 고딕"/>
              </a:rPr>
              <a:t>•  로그온 버전 설정도 양쪽 sqlnet.ora에서 일치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REDO_TRANSPORT_USER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SYS 대신 전송 전용 사용자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기본값은 SYS로 인증</a:t>
            </a:r>
          </a:p>
          <a:p>
            <a:pPr algn="l">
              <a:spcAft>
                <a:spcPts val="1000"/>
              </a:spcAft>
            </a:pPr>
            <a:r>
              <a:rPr sz="1700" b="0">
                <a:solidFill>
                  <a:srgbClr val="222222"/>
                </a:solidFill>
                <a:latin typeface="맑은 고딕"/>
              </a:rPr>
              <a:t>•  지정한 사용자는 SYSOPER 권한 필요</a:t>
            </a:r>
          </a:p>
          <a:p>
            <a:pPr algn="l">
              <a:spcAft>
                <a:spcPts val="1000"/>
              </a:spcAft>
            </a:pPr>
            <a:r>
              <a:rPr sz="1700" b="0">
                <a:solidFill>
                  <a:srgbClr val="222222"/>
                </a:solidFill>
                <a:latin typeface="맑은 고딕"/>
              </a:rPr>
              <a:t>•  모든 구성원에 같은 값과 같은 사용자</a:t>
            </a:r>
          </a:p>
          <a:p>
            <a:pPr algn="l">
              <a:spcAft>
                <a:spcPts val="1000"/>
              </a:spcAft>
            </a:pPr>
            <a:r>
              <a:rPr sz="1700" b="0">
                <a:solidFill>
                  <a:srgbClr val="222222"/>
                </a:solidFill>
                <a:latin typeface="맑은 고딕"/>
              </a:rPr>
              <a:t>•  패스워드 파일 일치 조건은 그대로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인증 실패의 증상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ORA-01017에서 ORA-16191로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원격 SYSDBA 접속: ORA-01017</a:t>
            </a:r>
          </a:p>
          <a:p>
            <a:pPr algn="l">
              <a:spcAft>
                <a:spcPts val="1000"/>
              </a:spcAft>
            </a:pPr>
            <a:r>
              <a:rPr sz="1700" b="0">
                <a:solidFill>
                  <a:srgbClr val="222222"/>
                </a:solidFill>
                <a:latin typeface="맑은 고딕"/>
              </a:rPr>
              <a:t>•  리두 전송 목적지: ORA-16191</a:t>
            </a:r>
          </a:p>
          <a:p>
            <a:pPr algn="l">
              <a:spcAft>
                <a:spcPts val="1000"/>
              </a:spcAft>
            </a:pPr>
            <a:r>
              <a:rPr sz="1700" b="0">
                <a:solidFill>
                  <a:srgbClr val="222222"/>
                </a:solidFill>
                <a:latin typeface="맑은 고딕"/>
              </a:rPr>
              <a:t>•  ORA-16191은 로그온 실패라는 결과만 알려 줌</a:t>
            </a:r>
          </a:p>
          <a:p>
            <a:pPr algn="l">
              <a:spcAft>
                <a:spcPts val="1000"/>
              </a:spcAft>
            </a:pPr>
            <a:r>
              <a:rPr sz="1700" b="0">
                <a:solidFill>
                  <a:srgbClr val="222222"/>
                </a:solidFill>
                <a:latin typeface="맑은 고딕"/>
              </a:rPr>
              <a:t>•  원인 제거 후에도 목적지는 실패 상태로 남음</a:t>
            </a:r>
          </a:p>
          <a:p>
            <a:pPr algn="l">
              <a:spcAft>
                <a:spcPts val="1000"/>
              </a:spcAft>
            </a:pPr>
            <a:r>
              <a:rPr sz="1700" b="0">
                <a:solidFill>
                  <a:srgbClr val="222222"/>
                </a:solidFill>
                <a:latin typeface="맑은 고딕"/>
              </a:rPr>
              <a:t>•  DEFER 후 ENABLE로 즉시 재시도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실무 시나리오: 비밀번호 변경 다음 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transport lag가 계속 늘어난다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Primary에서 orapwd로 SYS 비밀번호 변경</a:t>
            </a:r>
          </a:p>
          <a:p>
            <a:pPr algn="l">
              <a:spcAft>
                <a:spcPts val="1000"/>
              </a:spcAft>
            </a:pPr>
            <a:r>
              <a:rPr sz="1700" b="0">
                <a:solidFill>
                  <a:srgbClr val="222222"/>
                </a:solidFill>
                <a:latin typeface="맑은 고딕"/>
              </a:rPr>
              <a:t>•  업무 영향은 없고 다음 날 lag 증가 발견</a:t>
            </a:r>
          </a:p>
          <a:p>
            <a:pPr algn="l">
              <a:spcAft>
                <a:spcPts val="1000"/>
              </a:spcAft>
            </a:pPr>
            <a:r>
              <a:rPr sz="1700" b="0">
                <a:solidFill>
                  <a:srgbClr val="222222"/>
                </a:solidFill>
                <a:latin typeface="맑은 고딕"/>
              </a:rPr>
              <a:t>•  목적지 오류 ORA-16191, 원격 접속 ORA-01017</a:t>
            </a:r>
          </a:p>
          <a:p>
            <a:pPr algn="l">
              <a:spcAft>
                <a:spcPts val="1000"/>
              </a:spcAft>
            </a:pPr>
            <a:r>
              <a:rPr sz="1700" b="0">
                <a:solidFill>
                  <a:srgbClr val="222222"/>
                </a:solidFill>
                <a:latin typeface="맑은 고딕"/>
              </a:rPr>
              <a:t>•  파일 복사, DEFER·ENABLE로 전송 재개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LOG_ARCHIVE_CONFIG와 DG_CONFIG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구성원 목록의 역할</a:t>
            </a:r>
          </a:p>
          <a:p>
            <a:pPr algn="l">
              <a:spcAft>
                <a:spcPts val="800"/>
              </a:spcAft>
            </a:pPr>
            <a:r>
              <a:rPr sz="1600" b="0">
                <a:solidFill>
                  <a:srgbClr val="FFFFFF"/>
                </a:solidFill>
                <a:latin typeface="맑은 고딕"/>
              </a:rPr>
              <a:t>•  SEND, RECEIVE 옵션</a:t>
            </a:r>
          </a:p>
          <a:p>
            <a:pPr algn="l">
              <a:spcAft>
                <a:spcPts val="800"/>
              </a:spcAft>
            </a:pPr>
            <a:r>
              <a:rPr sz="1600" b="0">
                <a:solidFill>
                  <a:srgbClr val="FFFFFF"/>
                </a:solidFill>
                <a:latin typeface="맑은 고딕"/>
              </a:rPr>
              <a:t>•  FAL 파라미터와의 관계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DG_CONFIG 구성원 목록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구성에 누가 속하는가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모든 구성원의 DB_UNIQUE_NAME을 나열</a:t>
            </a:r>
          </a:p>
          <a:p>
            <a:pPr algn="l">
              <a:spcAft>
                <a:spcPts val="1000"/>
              </a:spcAft>
            </a:pPr>
            <a:r>
              <a:rPr sz="1700" b="0">
                <a:solidFill>
                  <a:srgbClr val="222222"/>
                </a:solidFill>
                <a:latin typeface="맑은 고딕"/>
              </a:rPr>
              <a:t>•  목적지 DB_UNIQUE_NAME 검사, 없으면 ORA-16053</a:t>
            </a:r>
          </a:p>
          <a:p>
            <a:pPr algn="l">
              <a:spcAft>
                <a:spcPts val="1000"/>
              </a:spcAft>
            </a:pPr>
            <a:r>
              <a:rPr sz="1700" b="0">
                <a:solidFill>
                  <a:srgbClr val="222222"/>
                </a:solidFill>
                <a:latin typeface="맑은 고딕"/>
              </a:rPr>
              <a:t>•  목록 밖에서 온 리두는 수신 거부</a:t>
            </a:r>
          </a:p>
          <a:p>
            <a:pPr algn="l">
              <a:spcAft>
                <a:spcPts val="1000"/>
              </a:spcAft>
            </a:pPr>
            <a:r>
              <a:rPr sz="1700" b="0">
                <a:solidFill>
                  <a:srgbClr val="222222"/>
                </a:solidFill>
                <a:latin typeface="맑은 고딕"/>
              </a:rPr>
              <a:t>•  모든 구성원에 같은 목록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SEND, RECEIVE 옵션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기본값을 거의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기본값은 SEND, RECEIVE</a:t>
            </a:r>
          </a:p>
          <a:p>
            <a:pPr algn="l">
              <a:spcAft>
                <a:spcPts val="1000"/>
              </a:spcAft>
            </a:pPr>
            <a:r>
              <a:rPr sz="1700" b="0">
                <a:solidFill>
                  <a:srgbClr val="222222"/>
                </a:solidFill>
                <a:latin typeface="맑은 고딕"/>
              </a:rPr>
              <a:t>•  NOSEND: 리두를 보내지 않음</a:t>
            </a:r>
          </a:p>
          <a:p>
            <a:pPr algn="l">
              <a:spcAft>
                <a:spcPts val="1000"/>
              </a:spcAft>
            </a:pPr>
            <a:r>
              <a:rPr sz="1700" b="0">
                <a:solidFill>
                  <a:srgbClr val="222222"/>
                </a:solidFill>
                <a:latin typeface="맑은 고딕"/>
              </a:rPr>
              <a:t>•  NORECEIVE: 리두를 받지 않음</a:t>
            </a:r>
          </a:p>
          <a:p>
            <a:pPr algn="l">
              <a:spcAft>
                <a:spcPts val="1000"/>
              </a:spcAft>
            </a:pPr>
            <a:r>
              <a:rPr sz="1700" b="0">
                <a:solidFill>
                  <a:srgbClr val="222222"/>
                </a:solidFill>
                <a:latin typeface="맑은 고딕"/>
              </a:rPr>
              <a:t>•  잘못 남기면 역할 전환 뒤 전송이 시작되지 않음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FAL_SERVER와 FAL_CLIENT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갭 해소도 Oracle Net 접속이다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FAL_SERVER: 빠진 로그를 요청할 대상 별칭</a:t>
            </a:r>
          </a:p>
          <a:p>
            <a:pPr algn="l">
              <a:spcAft>
                <a:spcPts val="1000"/>
              </a:spcAft>
            </a:pPr>
            <a:r>
              <a:rPr sz="1700" b="0">
                <a:solidFill>
                  <a:srgbClr val="222222"/>
                </a:solidFill>
                <a:latin typeface="맑은 고딕"/>
              </a:rPr>
              <a:t>•  Standby에는 Primary, Primary에는 Standby 별칭</a:t>
            </a:r>
          </a:p>
          <a:p>
            <a:pPr algn="l">
              <a:spcAft>
                <a:spcPts val="1000"/>
              </a:spcAft>
            </a:pPr>
            <a:r>
              <a:rPr sz="1700" b="0">
                <a:solidFill>
                  <a:srgbClr val="222222"/>
                </a:solidFill>
                <a:latin typeface="맑은 고딕"/>
              </a:rPr>
              <a:t>•  FAL_CLIENT는 11.2부터 필수 아님</a:t>
            </a:r>
          </a:p>
          <a:p>
            <a:pPr algn="l">
              <a:spcAft>
                <a:spcPts val="1000"/>
              </a:spcAft>
            </a:pPr>
            <a:r>
              <a:rPr sz="1700" b="0">
                <a:solidFill>
                  <a:srgbClr val="222222"/>
                </a:solidFill>
                <a:latin typeface="맑은 고딕"/>
              </a:rPr>
              <a:t>•  Standby 쪽 tnsnames.ora와 Primary 리스너가 필요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네트워크 성능 조정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SDU</a:t>
            </a:r>
          </a:p>
          <a:p>
            <a:pPr algn="l">
              <a:spcAft>
                <a:spcPts val="800"/>
              </a:spcAft>
            </a:pPr>
            <a:r>
              <a:rPr sz="1600" b="0">
                <a:solidFill>
                  <a:srgbClr val="FFFFFF"/>
                </a:solidFill>
                <a:latin typeface="맑은 고딕"/>
              </a:rPr>
              <a:t>•  TCP 소켓 버퍼와 BDP</a:t>
            </a:r>
          </a:p>
          <a:p>
            <a:pPr algn="l">
              <a:spcAft>
                <a:spcPts val="800"/>
              </a:spcAft>
            </a:pPr>
            <a:r>
              <a:rPr sz="1600" b="0">
                <a:solidFill>
                  <a:srgbClr val="FFFFFF"/>
                </a:solidFill>
                <a:latin typeface="맑은 고딕"/>
              </a:rPr>
              <a:t>•  커널 한도와 TCP.NODELAY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SDU</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리두를 몇 조각으로 나눠 보내는가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Oracle Net 버퍼 단위, 기본 8192바이트</a:t>
            </a:r>
          </a:p>
          <a:p>
            <a:pPr algn="l">
              <a:spcAft>
                <a:spcPts val="1000"/>
              </a:spcAft>
            </a:pPr>
            <a:r>
              <a:rPr sz="1700" b="0">
                <a:solidFill>
                  <a:srgbClr val="222222"/>
                </a:solidFill>
                <a:latin typeface="맑은 고딕"/>
              </a:rPr>
              <a:t>•  리두는 훨씬 큰 단위로 흐름</a:t>
            </a:r>
          </a:p>
          <a:p>
            <a:pPr algn="l">
              <a:spcAft>
                <a:spcPts val="1000"/>
              </a:spcAft>
            </a:pPr>
            <a:r>
              <a:rPr sz="1700" b="0">
                <a:solidFill>
                  <a:srgbClr val="222222"/>
                </a:solidFill>
                <a:latin typeface="맑은 고딕"/>
              </a:rPr>
              <a:t>•  권고값 64KB(65535), 12.1부터 상한 2MB</a:t>
            </a:r>
          </a:p>
          <a:p>
            <a:pPr algn="l">
              <a:spcAft>
                <a:spcPts val="1000"/>
              </a:spcAft>
            </a:pPr>
            <a:r>
              <a:rPr sz="1700" b="0">
                <a:solidFill>
                  <a:srgbClr val="222222"/>
                </a:solidFill>
                <a:latin typeface="맑은 고딕"/>
              </a:rPr>
              <a:t>•  양쪽 협상값 중 작은 값이 적용됨</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TCP 소켓 버퍼와 BDP</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선로를 채울 만큼의 버퍼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BDP = 대역폭(바이트/초) × 왕복 지연(초)</a:t>
            </a:r>
          </a:p>
          <a:p>
            <a:pPr algn="l">
              <a:spcAft>
                <a:spcPts val="1000"/>
              </a:spcAft>
            </a:pPr>
            <a:r>
              <a:rPr sz="1700" b="0">
                <a:solidFill>
                  <a:srgbClr val="222222"/>
                </a:solidFill>
                <a:latin typeface="맑은 고딕"/>
              </a:rPr>
              <a:t>•  권고값: BDP×3과 10MB 중 큰 값</a:t>
            </a:r>
          </a:p>
          <a:p>
            <a:pPr algn="l">
              <a:spcAft>
                <a:spcPts val="1000"/>
              </a:spcAft>
            </a:pPr>
            <a:r>
              <a:rPr sz="1700" b="0">
                <a:solidFill>
                  <a:srgbClr val="222222"/>
                </a:solidFill>
                <a:latin typeface="맑은 고딕"/>
              </a:rPr>
              <a:t>•  SEND_BUF_SIZE, RECV_BUF_SIZE</a:t>
            </a:r>
          </a:p>
          <a:p>
            <a:pPr algn="l">
              <a:spcAft>
                <a:spcPts val="1000"/>
              </a:spcAft>
            </a:pPr>
            <a:r>
              <a:rPr sz="1700" b="0">
                <a:solidFill>
                  <a:srgbClr val="222222"/>
                </a:solidFill>
                <a:latin typeface="맑은 고딕"/>
              </a:rPr>
              <a:t>•  양쪽 tnsnames.ora와 listener.ora에 함께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운영체제 커널 한도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OS가 허용하지 않으면 조용히 줄어든다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Oracle Net 지정값은 OS 최대값을 넘지 못함</a:t>
            </a:r>
          </a:p>
          <a:p>
            <a:pPr algn="l">
              <a:spcAft>
                <a:spcPts val="1000"/>
              </a:spcAft>
            </a:pPr>
            <a:r>
              <a:rPr sz="1700" b="0">
                <a:solidFill>
                  <a:srgbClr val="222222"/>
                </a:solidFill>
                <a:latin typeface="맑은 고딕"/>
              </a:rPr>
              <a:t>•  줄어들어도 오류는 나지 않음</a:t>
            </a:r>
          </a:p>
          <a:p>
            <a:pPr algn="l">
              <a:spcAft>
                <a:spcPts val="1000"/>
              </a:spcAft>
            </a:pPr>
            <a:r>
              <a:rPr sz="1700" b="0">
                <a:solidFill>
                  <a:srgbClr val="222222"/>
                </a:solidFill>
                <a:latin typeface="맑은 고딕"/>
              </a:rPr>
              <a:t>•  rmem_max, wmem_max, tcp_rmem, tcp_wmem</a:t>
            </a:r>
          </a:p>
          <a:p>
            <a:pPr algn="l">
              <a:spcAft>
                <a:spcPts val="1000"/>
              </a:spcAft>
            </a:pPr>
            <a:r>
              <a:rPr sz="1700" b="0">
                <a:solidFill>
                  <a:srgbClr val="222222"/>
                </a:solidFill>
                <a:latin typeface="맑은 고딕"/>
              </a:rPr>
              <a:t>•  preinstall 패키지 값도 권고보다 작음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TCP.NODELAY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작은 패킷을 기다리지 않고 보낸다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Nagle 알고리즘은 작은 패킷을 모아서 송신</a:t>
            </a:r>
          </a:p>
          <a:p>
            <a:pPr algn="l">
              <a:spcAft>
                <a:spcPts val="1000"/>
              </a:spcAft>
            </a:pPr>
            <a:r>
              <a:rPr sz="1700" b="0">
                <a:solidFill>
                  <a:srgbClr val="222222"/>
                </a:solidFill>
                <a:latin typeface="맑은 고딕"/>
              </a:rPr>
              <a:t>•  sqlnet.ora에 TCP.NODELAY=YES</a:t>
            </a:r>
          </a:p>
          <a:p>
            <a:pPr algn="l">
              <a:spcAft>
                <a:spcPts val="1000"/>
              </a:spcAft>
            </a:pPr>
            <a:r>
              <a:rPr sz="1700" b="0">
                <a:solidFill>
                  <a:srgbClr val="222222"/>
                </a:solidFill>
                <a:latin typeface="맑은 고딕"/>
              </a:rPr>
              <a:t>•  Primary와 Standby 양쪽에 설정</a:t>
            </a:r>
          </a:p>
          <a:p>
            <a:pPr algn="l">
              <a:spcAft>
                <a:spcPts val="1000"/>
              </a:spcAft>
            </a:pPr>
            <a:r>
              <a:rPr sz="1700" b="0">
                <a:solidFill>
                  <a:srgbClr val="222222"/>
                </a:solidFill>
                <a:latin typeface="맑은 고딕"/>
              </a:rPr>
              <a:t>•  SYNC 전송에서는 커밋 시간에 직접 영향</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조정 전후를 같은 조건에서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숫자로 효과를 확인한다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대역폭과 왕복 지연을 먼저 측정해 BDP 계산</a:t>
            </a:r>
          </a:p>
          <a:p>
            <a:pPr algn="l">
              <a:spcAft>
                <a:spcPts val="1000"/>
              </a:spcAft>
            </a:pPr>
            <a:r>
              <a:rPr sz="1700" b="0">
                <a:solidFill>
                  <a:srgbClr val="222222"/>
                </a:solidFill>
                <a:latin typeface="맑은 고딕"/>
              </a:rPr>
              <a:t>•  같은 부하에서 transport lag와 전송 속도 기록</a:t>
            </a:r>
          </a:p>
          <a:p>
            <a:pPr algn="l">
              <a:spcAft>
                <a:spcPts val="1000"/>
              </a:spcAft>
            </a:pPr>
            <a:r>
              <a:rPr sz="1700" b="0">
                <a:solidFill>
                  <a:srgbClr val="222222"/>
                </a:solidFill>
                <a:latin typeface="맑은 고딕"/>
              </a:rPr>
              <a:t>•  SDU, 버퍼, 커널, NODELAY를 양쪽에 한 번에</a:t>
            </a:r>
          </a:p>
          <a:p>
            <a:pPr algn="l">
              <a:spcAft>
                <a:spcPts val="1000"/>
              </a:spcAft>
            </a:pPr>
            <a:r>
              <a:rPr sz="1700" b="0">
                <a:solidFill>
                  <a:srgbClr val="222222"/>
                </a:solidFill>
                <a:latin typeface="맑은 고딕"/>
              </a:rPr>
              <a:t>•  교재 listener.ora 예의 SEND_SDU는 SEND_BUF_SIZE로 읽음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연결 검증과 오류 진단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계층별 검증 순서</a:t>
            </a:r>
          </a:p>
          <a:p>
            <a:pPr algn="l">
              <a:spcAft>
                <a:spcPts val="800"/>
              </a:spcAft>
            </a:pPr>
            <a:r>
              <a:rPr sz="1600" b="0">
                <a:solidFill>
                  <a:srgbClr val="FFFFFF"/>
                </a:solidFill>
                <a:latin typeface="맑은 고딕"/>
              </a:rPr>
              <a:t>•  오류 코드 지도</a:t>
            </a:r>
          </a:p>
          <a:p>
            <a:pPr algn="l">
              <a:spcAft>
                <a:spcPts val="800"/>
              </a:spcAft>
            </a:pPr>
            <a:r>
              <a:rPr sz="1600" b="0">
                <a:solidFill>
                  <a:srgbClr val="FFFFFF"/>
                </a:solidFill>
                <a:latin typeface="맑은 고딕"/>
              </a:rPr>
              <a:t>•  Data Guard 쪽 확인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계층별 검증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아래층부터 올라간다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tnsping: 이름 해석과 리스너 응답</a:t>
            </a:r>
          </a:p>
          <a:p>
            <a:pPr algn="l">
              <a:spcAft>
                <a:spcPts val="1000"/>
              </a:spcAft>
            </a:pPr>
            <a:r>
              <a:rPr sz="1700" b="0">
                <a:solidFill>
                  <a:srgbClr val="222222"/>
                </a:solidFill>
                <a:latin typeface="맑은 고딕"/>
              </a:rPr>
              <a:t>•  2 lsnrctl status: 서비스 이름과 상태</a:t>
            </a:r>
          </a:p>
          <a:p>
            <a:pPr algn="l">
              <a:spcAft>
                <a:spcPts val="1000"/>
              </a:spcAft>
            </a:pPr>
            <a:r>
              <a:rPr sz="1700" b="0">
                <a:solidFill>
                  <a:srgbClr val="222222"/>
                </a:solidFill>
                <a:latin typeface="맑은 고딕"/>
              </a:rPr>
              <a:t>•  3 sqlplus sys@별칭 as sysdba: 인스턴스와 인증</a:t>
            </a:r>
          </a:p>
          <a:p>
            <a:pPr algn="l">
              <a:spcAft>
                <a:spcPts val="1000"/>
              </a:spcAft>
            </a:pPr>
            <a:r>
              <a:rPr sz="1700" b="0">
                <a:solidFill>
                  <a:srgbClr val="222222"/>
                </a:solidFill>
                <a:latin typeface="맑은 고딕"/>
              </a:rPr>
              <a:t>•  4 DG_CONFIG, 5 V$ARCHIVE_DEST_STATUS</a:t>
            </a:r>
          </a:p>
          <a:p>
            <a:pPr algn="l">
              <a:spcAft>
                <a:spcPts val="1000"/>
              </a:spcAft>
            </a:pPr>
            <a:r>
              <a:rPr sz="1700" b="0">
                <a:solidFill>
                  <a:srgbClr val="222222"/>
                </a:solidFill>
                <a:latin typeface="맑은 고딕"/>
              </a:rPr>
              <a:t>•  모든 단계를 양방향으로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코드 지도 (1)</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 네트워크, 리스너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ORA-12154, TNS-03505: 별칭을 풀지 못함</a:t>
            </a:r>
          </a:p>
          <a:p>
            <a:pPr algn="l">
              <a:spcAft>
                <a:spcPts val="1000"/>
              </a:spcAft>
            </a:pPr>
            <a:r>
              <a:rPr sz="1700" b="0">
                <a:solidFill>
                  <a:srgbClr val="222222"/>
                </a:solidFill>
                <a:latin typeface="맑은 고딕"/>
              </a:rPr>
              <a:t>•  ORA-12170, TNS-12535: 응답 없이 시간 초과</a:t>
            </a:r>
          </a:p>
          <a:p>
            <a:pPr algn="l">
              <a:spcAft>
                <a:spcPts val="1000"/>
              </a:spcAft>
            </a:pPr>
            <a:r>
              <a:rPr sz="1700" b="0">
                <a:solidFill>
                  <a:srgbClr val="222222"/>
                </a:solidFill>
                <a:latin typeface="맑은 고딕"/>
              </a:rPr>
              <a:t>•  ORA-12541: 리스너 없음, 즉시 거부</a:t>
            </a:r>
          </a:p>
          <a:p>
            <a:pPr algn="l">
              <a:spcAft>
                <a:spcPts val="1000"/>
              </a:spcAft>
            </a:pPr>
            <a:r>
              <a:rPr sz="1700" b="0">
                <a:solidFill>
                  <a:srgbClr val="222222"/>
                </a:solidFill>
                <a:latin typeface="맑은 고딕"/>
              </a:rPr>
              <a:t>•  ORA-12514: 서비스를 모름</a:t>
            </a:r>
          </a:p>
          <a:p>
            <a:pPr algn="l">
              <a:spcAft>
                <a:spcPts val="1000"/>
              </a:spcAft>
            </a:pPr>
            <a:r>
              <a:rPr sz="1700" b="0">
                <a:solidFill>
                  <a:srgbClr val="222222"/>
                </a:solidFill>
                <a:latin typeface="맑은 고딕"/>
              </a:rPr>
              <a:t>•  ORA-12528: 인스턴스가 막음(BLOCKED)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코드 지도 (2)</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인스턴스, 인증, Data Guard</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ORA-01034: 인스턴스가 떠 있지 않음</a:t>
            </a:r>
          </a:p>
          <a:p>
            <a:pPr algn="l">
              <a:spcAft>
                <a:spcPts val="1000"/>
              </a:spcAft>
            </a:pPr>
            <a:r>
              <a:rPr sz="1700" b="0">
                <a:solidFill>
                  <a:srgbClr val="222222"/>
                </a:solidFill>
                <a:latin typeface="맑은 고딕"/>
              </a:rPr>
              <a:t>•  ORA-01017: 인증 실패, 패스워드 파일 확인</a:t>
            </a:r>
          </a:p>
          <a:p>
            <a:pPr algn="l">
              <a:spcAft>
                <a:spcPts val="1000"/>
              </a:spcAft>
            </a:pPr>
            <a:r>
              <a:rPr sz="1700" b="0">
                <a:solidFill>
                  <a:srgbClr val="222222"/>
                </a:solidFill>
                <a:latin typeface="맑은 고딕"/>
              </a:rPr>
              <a:t>•  ORA-16191: 전송 클라이언트 로그온 실패</a:t>
            </a:r>
          </a:p>
          <a:p>
            <a:pPr algn="l">
              <a:spcAft>
                <a:spcPts val="1000"/>
              </a:spcAft>
            </a:pPr>
            <a:r>
              <a:rPr sz="1700" b="0">
                <a:solidFill>
                  <a:srgbClr val="222222"/>
                </a:solidFill>
                <a:latin typeface="맑은 고딕"/>
              </a:rPr>
              <a:t>•  ORA-16053: DB_UNIQUE_NAME이 DG_CONFIG에 없음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 Guard 쪽에서 하는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목적지 상태와 Broker 검증 명령</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V$ARCHIVE_DEST_STATUS: STATUS, ERROR</a:t>
            </a:r>
          </a:p>
          <a:p>
            <a:pPr algn="l">
              <a:spcAft>
                <a:spcPts val="1000"/>
              </a:spcAft>
            </a:pPr>
            <a:r>
              <a:rPr sz="1700" b="0">
                <a:solidFill>
                  <a:srgbClr val="222222"/>
                </a:solidFill>
                <a:latin typeface="맑은 고딕"/>
              </a:rPr>
              <a:t>•  ERROR는 마지막 실패 기록, 고친 뒤 재조회</a:t>
            </a:r>
          </a:p>
          <a:p>
            <a:pPr algn="l">
              <a:spcAft>
                <a:spcPts val="1000"/>
              </a:spcAft>
            </a:pPr>
            <a:r>
              <a:rPr sz="1700" b="0">
                <a:solidFill>
                  <a:srgbClr val="222222"/>
                </a:solidFill>
                <a:latin typeface="맑은 고딕"/>
              </a:rPr>
              <a:t>•  VALIDATE NETWORK CONFIGURATION FOR ALL</a:t>
            </a:r>
          </a:p>
          <a:p>
            <a:pPr algn="l">
              <a:spcAft>
                <a:spcPts val="1000"/>
              </a:spcAft>
            </a:pPr>
            <a:r>
              <a:rPr sz="1700" b="0">
                <a:solidFill>
                  <a:srgbClr val="222222"/>
                </a:solidFill>
                <a:latin typeface="맑은 고딕"/>
              </a:rPr>
              <a:t>•  VALIDATE STATIC CONNECT IDENTIFIER FOR ALL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구축 전 네트워크 점검표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DUPLICATE 전에 모두 통과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양쪽 tnsnames.ora, 모든 별칭 tnsping 성공</a:t>
            </a:r>
          </a:p>
          <a:p>
            <a:pPr algn="l">
              <a:spcAft>
                <a:spcPts val="1000"/>
              </a:spcAft>
            </a:pPr>
            <a:r>
              <a:rPr sz="1700" b="0">
                <a:solidFill>
                  <a:srgbClr val="222222"/>
                </a:solidFill>
                <a:latin typeface="맑은 고딕"/>
              </a:rPr>
              <a:t>•  양쪽 정적 서비스 2개, UNKNOWN 표시</a:t>
            </a:r>
          </a:p>
          <a:p>
            <a:pPr algn="l">
              <a:spcAft>
                <a:spcPts val="1000"/>
              </a:spcAft>
            </a:pPr>
            <a:r>
              <a:rPr sz="1700" b="0">
                <a:solidFill>
                  <a:srgbClr val="222222"/>
                </a:solidFill>
                <a:latin typeface="맑은 고딕"/>
              </a:rPr>
              <a:t>•  양방향 원격 SYSDBA 접속, NOMOUNT에서도</a:t>
            </a:r>
          </a:p>
          <a:p>
            <a:pPr algn="l">
              <a:spcAft>
                <a:spcPts val="1000"/>
              </a:spcAft>
            </a:pPr>
            <a:r>
              <a:rPr sz="1700" b="0">
                <a:solidFill>
                  <a:srgbClr val="222222"/>
                </a:solidFill>
                <a:latin typeface="맑은 고딕"/>
              </a:rPr>
              <a:t>•  리스너 포트 양방향 허용</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양쪽을 함께 바꾼다</a:t>
            </a:r>
          </a:p>
          <a:p>
            <a:pPr algn="l">
              <a:spcAft>
                <a:spcPts val="800"/>
              </a:spcAft>
            </a:pPr>
            <a:r>
              <a:rPr sz="1600" b="0">
                <a:solidFill>
                  <a:srgbClr val="FFFFFF"/>
                </a:solidFill>
                <a:latin typeface="맑은 고딕"/>
              </a:rPr>
              <a:t>•  비밀번호와 IP 변경은 Data Guard 변경</a:t>
            </a:r>
          </a:p>
          <a:p>
            <a:pPr algn="l">
              <a:spcAft>
                <a:spcPts val="800"/>
              </a:spcAft>
            </a:pPr>
            <a:r>
              <a:rPr sz="1600" b="0">
                <a:solidFill>
                  <a:srgbClr val="FFFFFF"/>
                </a:solidFill>
                <a:latin typeface="맑은 고딕"/>
              </a:rPr>
              <a:t>•  원인 제거 뒤 상태 회복까지 확인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평소에는 드러나지 않는 설정들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네트워크 설정은 양쪽을 함께 수정</a:t>
            </a:r>
          </a:p>
          <a:p>
            <a:pPr algn="l">
              <a:spcAft>
                <a:spcPts val="1000"/>
              </a:spcAft>
            </a:pPr>
            <a:r>
              <a:rPr sz="1700" b="0">
                <a:solidFill>
                  <a:srgbClr val="222222"/>
                </a:solidFill>
                <a:latin typeface="맑은 고딕"/>
              </a:rPr>
              <a:t>•  IP, 호스트 이름, DNS 변경은 DG 변경으로 취급</a:t>
            </a:r>
          </a:p>
          <a:p>
            <a:pPr algn="l">
              <a:spcAft>
                <a:spcPts val="1000"/>
              </a:spcAft>
            </a:pPr>
            <a:r>
              <a:rPr sz="1700" b="0">
                <a:solidFill>
                  <a:srgbClr val="222222"/>
                </a:solidFill>
                <a:latin typeface="맑은 고딕"/>
              </a:rPr>
              <a:t>•  비밀번호 변경 절차에 파일 동기화 포함</a:t>
            </a:r>
          </a:p>
          <a:p>
            <a:pPr algn="l">
              <a:spcAft>
                <a:spcPts val="1000"/>
              </a:spcAft>
            </a:pPr>
            <a:r>
              <a:rPr sz="1700" b="0">
                <a:solidFill>
                  <a:srgbClr val="222222"/>
                </a:solidFill>
                <a:latin typeface="맑은 고딕"/>
              </a:rPr>
              <a:t>•  방화벽은 끄지 말고 포트를 양방향 허용</a:t>
            </a:r>
          </a:p>
          <a:p>
            <a:pPr algn="l">
              <a:spcAft>
                <a:spcPts val="1000"/>
              </a:spcAft>
            </a:pPr>
            <a:r>
              <a:rPr sz="1700" b="0">
                <a:solidFill>
                  <a:srgbClr val="222222"/>
                </a:solidFill>
                <a:latin typeface="맑은 고딕"/>
              </a:rPr>
              <a:t>•  조정값과 BDP 근거를 구축 문서에</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전송 프로세스는 Standby 리스너의 클라이언트, 받는 쪽은 RFS</a:t>
            </a:r>
          </a:p>
          <a:p>
            <a:pPr algn="l">
              <a:spcAft>
                <a:spcPts val="1000"/>
              </a:spcAft>
            </a:pPr>
            <a:r>
              <a:rPr sz="1600" b="0">
                <a:solidFill>
                  <a:srgbClr val="222222"/>
                </a:solidFill>
                <a:latin typeface="맑은 고딕"/>
              </a:rPr>
              <a:t>•  별칭, 서비스 이름, DB_UNIQUE_NAME은 서로 다른 층</a:t>
            </a:r>
          </a:p>
          <a:p>
            <a:pPr algn="l">
              <a:spcAft>
                <a:spcPts val="1000"/>
              </a:spcAft>
            </a:pPr>
            <a:r>
              <a:rPr sz="1600" b="0">
                <a:solidFill>
                  <a:srgbClr val="222222"/>
                </a:solidFill>
                <a:latin typeface="맑은 고딕"/>
              </a:rPr>
              <a:t>•  NOMOUNT 접속과 Broker 재기동에는 정적 등록과 _DGMGRL</a:t>
            </a:r>
          </a:p>
          <a:p>
            <a:pPr algn="l">
              <a:spcAft>
                <a:spcPts val="1000"/>
              </a:spcAft>
            </a:pPr>
            <a:r>
              <a:rPr sz="1600" b="0">
                <a:solidFill>
                  <a:srgbClr val="222222"/>
                </a:solidFill>
                <a:latin typeface="맑은 고딕"/>
              </a:rPr>
              <a:t>•  패스워드 파일 일치, REDO_TRANSPORT_USER는 SYSOPER</a:t>
            </a:r>
          </a:p>
          <a:p>
            <a:pPr algn="l">
              <a:spcAft>
                <a:spcPts val="1000"/>
              </a:spcAft>
            </a:pPr>
            <a:r>
              <a:rPr sz="1600" b="0">
                <a:solidFill>
                  <a:srgbClr val="222222"/>
                </a:solidFill>
                <a:latin typeface="맑은 고딕"/>
              </a:rPr>
              <a:t>•  DG_CONFIG는 구성원 목록, 오기는 ORA-16053</a:t>
            </a:r>
          </a:p>
          <a:p>
            <a:pPr algn="l">
              <a:spcAft>
                <a:spcPts val="1000"/>
              </a:spcAft>
            </a:pPr>
            <a:r>
              <a:rPr sz="1600" b="0">
                <a:solidFill>
                  <a:srgbClr val="222222"/>
                </a:solidFill>
                <a:latin typeface="맑은 고딕"/>
              </a:rPr>
              <a:t>•  SDU 64KB, 버퍼 max(BDP×3, 10MB), NODELAY, 양방향 검증</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ADDRESS_LIST의 접속 시 페일오버는? → 기본으로 켜짐</a:t>
            </a:r>
          </a:p>
          <a:p>
            <a:pPr algn="l">
              <a:spcAft>
                <a:spcPts val="1000"/>
              </a:spcAft>
            </a:pPr>
            <a:r>
              <a:rPr sz="1600" b="0">
                <a:solidFill>
                  <a:srgbClr val="222222"/>
                </a:solidFill>
                <a:latin typeface="맑은 고딕"/>
              </a:rPr>
              <a:t>•  Q2. NOMOUNT auxiliary 접속에서 ORA-12528이면? → 정적 등록 추가</a:t>
            </a:r>
          </a:p>
          <a:p>
            <a:pPr algn="l">
              <a:spcAft>
                <a:spcPts val="1000"/>
              </a:spcAft>
            </a:pPr>
            <a:r>
              <a:rPr sz="1600" b="0">
                <a:solidFill>
                  <a:srgbClr val="222222"/>
                </a:solidFill>
                <a:latin typeface="맑은 고딕"/>
              </a:rPr>
              <a:t>•  Q3. Broker 재기동용 정적 서비스 이름은? → db_unique_name_DGMGRL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REDO_TRANSPORT_USER는 Primary에만? → 아니다, 모든 구성원</a:t>
            </a:r>
          </a:p>
          <a:p>
            <a:pPr algn="l">
              <a:spcAft>
                <a:spcPts val="1000"/>
              </a:spcAft>
            </a:pPr>
            <a:r>
              <a:rPr sz="1600" b="0">
                <a:solidFill>
                  <a:srgbClr val="222222"/>
                </a:solidFill>
                <a:latin typeface="맑은 고딕"/>
              </a:rPr>
              <a:t>•  Q5. 목적지 DB_UNIQUE_NAME 오기를 막는 설정은? → DG_CONFIG</a:t>
            </a:r>
          </a:p>
          <a:p>
            <a:pPr algn="l">
              <a:spcAft>
                <a:spcPts val="1000"/>
              </a:spcAft>
            </a:pPr>
            <a:r>
              <a:rPr sz="1600" b="0">
                <a:solidFill>
                  <a:srgbClr val="222222"/>
                </a:solidFill>
                <a:latin typeface="맑은 고딕"/>
              </a:rPr>
              <a:t>•  Q6. 1Gbit/s, 30ms 구간 소켓 버퍼는? → 약 11.25MB(BDP×3)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tnsnames 구성과 검증: tnsping의 범위 (3.3, 3.8)</a:t>
            </a:r>
          </a:p>
          <a:p>
            <a:pPr algn="l">
              <a:spcAft>
                <a:spcPts val="1000"/>
              </a:spcAft>
            </a:pPr>
            <a:r>
              <a:rPr sz="1600" b="0">
                <a:solidFill>
                  <a:srgbClr val="222222"/>
                </a:solidFill>
                <a:latin typeface="맑은 고딕"/>
              </a:rPr>
              <a:t>•  02 listener 정적 등록: READY·BLOCKED·UNKNOWN (3.4)</a:t>
            </a:r>
          </a:p>
          <a:p>
            <a:pPr algn="l">
              <a:spcAft>
                <a:spcPts val="1000"/>
              </a:spcAft>
            </a:pPr>
            <a:r>
              <a:rPr sz="1600" b="0">
                <a:solidFill>
                  <a:srgbClr val="222222"/>
                </a:solidFill>
                <a:latin typeface="맑은 고딕"/>
              </a:rPr>
              <a:t>•  03 정적 등록 제거와 복원: ORA-12514, 12528 (3.4)</a:t>
            </a:r>
          </a:p>
          <a:p>
            <a:pPr algn="l">
              <a:spcAft>
                <a:spcPts val="1000"/>
              </a:spcAft>
            </a:pPr>
            <a:r>
              <a:rPr sz="1600" b="0">
                <a:solidFill>
                  <a:srgbClr val="222222"/>
                </a:solidFill>
                <a:latin typeface="맑은 고딕"/>
              </a:rPr>
              <a:t>•  04 DG_CONFIG 설정과 누락: ORA-16053 (3.6)</a:t>
            </a:r>
          </a:p>
          <a:p>
            <a:pPr algn="l">
              <a:spcAft>
                <a:spcPts val="1000"/>
              </a:spcAft>
            </a:pPr>
            <a:r>
              <a:rPr sz="1600" b="0">
                <a:solidFill>
                  <a:srgbClr val="222222"/>
                </a:solidFill>
                <a:latin typeface="맑은 고딕"/>
              </a:rPr>
              <a:t>•  05 패스워드 파일 불일치: 01017, 16191 (3.5)</a:t>
            </a:r>
          </a:p>
          <a:p>
            <a:pPr algn="l">
              <a:spcAft>
                <a:spcPts val="1000"/>
              </a:spcAft>
            </a:pPr>
            <a:r>
              <a:rPr sz="1600" b="0">
                <a:solidFill>
                  <a:srgbClr val="222222"/>
                </a:solidFill>
                <a:latin typeface="맑은 고딕"/>
              </a:rPr>
              <a:t>•  06 포트 차단과 해소: 오류 계층 지도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
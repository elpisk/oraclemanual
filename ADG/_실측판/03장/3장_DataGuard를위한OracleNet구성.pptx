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세 조건이 이 장 전체의 뼈대입니다. ADMIN 과정에서 배운 리스너와 tnsnames 기초는 다시 설명하지 않고, Data Guard가 추가로 요구하는 것만 다룹니다. 각 조건이 무너졌을 때 나타나는 오류가 제각각이고 번호만으로는 계층을 알기 어렵기 때문에, 이 장의 실습은 조건을 하나씩 일부러 무너뜨리고 실제 오류를 관찰하는 방식으로 진행합니다. 세 조건 중 어느 하나만 빠져도 구축이 막히지만, 막히는 지점이 서로 달라 초보자는 원인을 찾기 어렵습니다. 그래서 이 장을 5장 구축 실습보다 앞에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Switchover 이후에는 boston이 chicago로 리두를 보내야 하므로 boston에도 chicago 항목이 있어야 합니다. 지금 당장 쓰지 않더라도 미리 넣어 두는 것이 표준입니다. _DG 항목도 마찬가지로 13장에서야 쓰지만 나중에 다시 손대지 않으려고 처음부터 넣어 두었습니다. 이런 "미리 넣어 두기"가 Data Guard 구성의 일반적인 방식입니다.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"tnsping은 OK인데 접속이 안 된다"는 신고가 자주 들어옵니다. 그때 tnsnames를 다시 들여다보는 것은 시간 낭비입니다. tnsping이 통과했다면 이름 해석은 이미 검증된 것이므로 리스너 위쪽을 봐야 합니다. 반대로 tnsping부터 실패하면 서비스 등록이나 인증은 볼 필요가 없습니다. 이 한 줄의 판단이 진단 시간을 크게 줄입니다. 실습 03에서 tnsping은 OK인데 접속만 실패하는 상태를 직접 만들어 봅니다. 그 경험이 있으면 이후 현장에서 같은 신고를 받았을 때 tnsnames를 다시 뒤지는 시간 낭비를 피할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항목이 특히 놓치기 쉽습니다. DBA가 자기 셸에서 TNS_ADMIN을 설정하고 파일을 고쳐도, 인스턴스가 다른 환경에서 떠 있었다면 그 파일을 보지 않습니다. 리두 전송은 백그라운드 프로세스가 수행하므로 이 문제가 그대로 드러납니다. 인증 문제가 아무리 봐도 안 풀릴 때 sqlnet.ora의 인증 버전을 확인해 보라는 것도 실무에서 유용한 조언입니다.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이것이 이 장에서 정적 등록을 그토록 강조하는 이유입니다. Data Guard 구축의 가장 중요한 단계인 RMAN DUPLICATE가 바로 이 지점에서 막히기 때문입니다. 5장에서 학습자가 실제로 이 문제를 만나게 되므로, 여기서 미리 원리를 이해해 두면 그때 당황하지 않습니다. 정적 등록의 필요성을 말로만 설명하면 잘 와닿지 않습니다. 그래서 실습 03에서 정적 등록을 실제로 제거하고 NOMOUNT로 내려 접속이 막히는 것을 눈으로 보게 합니다. 그 뒤 복원해서 같은 NOMOUNT 상태인데 접속이 되는 것을 확인하면 원리가 확실히 각인됩니다.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항목이 중요합니다. 두 노드의 DB_NAME이 chicago로 같기 때문에 DB_NAME을 쓰면 구별이 되지 않습니다. 구별하는 이름은 DB_UNIQUE_NAME이며, listener.ora의 GLOBAL_DBNAME도 이 값을 씁니다. 1장에서 DB_UNIQUE_NAME이 "둘을 구별하는 유일한 이름"이라고 한 것이 여기서 또 한 번 확인됩니다. SID_DESC가 노드마다 두 건인 것도 짚어 주십시오. 서비스 이름만 다르고 SID_NAME은 같습니다. 하나는 일반 접속용, 하나는 Broker용이며 같은 인스턴스를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장면이 tnsping의 한계를 가장 분명하게 보여 줍니다. 리스너는 살아서 응답하지만 요청한 서비스를 모릅니다. tnsping은 리스너 생존까지만 보므로 이 차이를 잡아내지 못합니다. 실습 03에서 학습자가 직접 이 상태를 만들어 보게 됩니다. 리스너가 살아 있다는 것과 서비스를 안다는 것이 다르다는 점이 핵심입니다. 실습 03에서 학습자가 직접 이 상태를 만들어 보게 되며, 그 뒤로는 ORA-12514를 보면 곧바로 lsnrctl status를 확인하게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오류의 차이를 정확히 짚어 주십시오. ORA-12514는 리스너가 서비스 자체를 모르는 경우이고, ORA-12528은 알지만 인스턴스가 접속을 거부하는 경우입니다. 원인은 다르지만 해법은 같습니다. 정적 등록을 넣으면 리스너가 "이 SID로 넘겨라"는 근거를 갖게 되어 두 경우 모두 해결됩니다. 두 오류의 원인은 다르지만 해법은 같습니다. 정적 등록을 넣으면 리스너가 '이 SID로 넘겨라'는 근거를 갖게 되어 두 경우 모두 해결됩니다. 그래서 실무에서는 ORA-12514든 ORA-12528이든 listener.ora부터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3장의 결론입니다. 인스턴스는 여전히 NOMOUNT인데 원격 SYS 접속이 성립했습니다. 정적 등록 덕분에 리스너가 인스턴스 상태를 따지지 않고 접속을 넘겨준 것입니다. 실습 03에서 이 세 단계(제거 → NOMOUNT → 복원)를 순서대로 밟으면 원리가 확실히 각인됩니다. 특히 마지막 단계에서 V$INSTANCE.STATUS가 STARTED인 것을 직접 확인하게 하십시오. NOMOUNT인데 접속됐다는 사실이 눈으로 확인되는 순간입니다.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UNKNOWN이 "모른다"인 것이 핵심입니다. 정적 등록은 리스너가 인스턴스와 통신해 얻은 정보가 아니라 파일에 적힌 선언이므로, 그 인스턴스가 떠 있는지조차 모릅니다. 장점은 NOMOUNT에도 접속할 수 있다는 것이고, 단점은 인스턴스가 죽어 있어도 서비스를 광고한다는 것입니다. Data Guard에서는 장점이 훨씬 큽니다. 실습 02에서 chicago의 lsnrctl status를 보면 같은 서비스에 UNKNOWN과 READY가 나란히 있습니다. 오류가 아니라 정적 등록과 동적 등록이 함께 있는 정상적인 모습이라는 점을 짚어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FAL은 Fetch Archive Log의 약자로 갭이 생겼을 때 빠진 로그를 요청하는 경로입니다. chicago의 FAL_SERVER가 boston이라는 것은 "갭이 생기면 boston에게 요청하겠다"는 뜻입니다. Primary에 이 값을 두는 이유는 역할 전환 이후를 대비하기 위해서입니다. Data Guard 파라미터의 상당수가 이런 식으로 "미래의 역할"을 위해 미리 설정됩니다.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실측이 흥미로운 이유는 기대와 다르기 때문입니다. "중요한 파라미터를 비웠으니 뭔가 깨지겠지"라고 예상하는데 아무 일도 일어나지 않습니다. 그런데 바로 그 점이 위험합니다. 즉시 문제가 드러나지 않으니 발견이 늦어지고, 그동안 안전망 없이 운영되는 것입니다. 기대와 다른 결과라 학습자가 당황합니다. 실습 04에서 이 관찰을 직접 하게 하고 다음 슬라이드로 이어 가십시오.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04에서 값을 비운 상태로 db_unique_name=boston을 설정했을 때 아무 검사 없이 통과한 것이 결정적 증거입니다. 방금 전까지 ORA-16053으로 오배송을 막아 주던 장치가 사라진 것입니다. 오타 하나로 리두가 엉뚱한 데이터베이스로 갈 수 있는 상태가 됩니다. 방금 전까지 ORA-16053으로 오배송을 막아 주던 장치가 사라진 것이며, 오타 하나로 리두가 엉뚱한 곳으로 갈 수 있는 상태가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이름이 다른데 내용은 같아야 하는지 헷갈리기 쉽습니다. 파일 이름은 그 서버의 인스턴스를 가리키는 것이고, 내용은 인증에 쓰이는 비밀번호입니다. 그래서 설치 가이드가 Primary의 파일을 복사해 이름만 바꾸도록 지시합니다. md5sum이 참고용인 이유는 파일 안에 DB 식별 정보가 들어가 같은 비밀번호라도 해시가 다를 수 있기 때문입니다. 실무에서는 SYS 비밀번호를 바꿀 때 이 요건이 문제가 됩니다. 한쪽만 바꾸면 그 순간부터 전송이 멈추므로, 비밀번호 변경은 반드시 양쪽 파일을 함께 갱신하는 절차로 만들어 두어야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이것이 실습 중 실제로 겪은 사고입니다. 비밀번호를 바꾸려다 실패했는데, 그 전에 실행한 rm은 이미 성공해 파일이 사라진 상태가 됐습니다. 명령 하나가 실패했다고 아무 일도 일어나지 않은 것이 아닙니다. 설정 파일이나 인증 파일을 손대는 작업은 반드시 백업부터 해야 한다는 교훈을 실물로 보여 주는 사례입니다. 명령 하나가 실패했다고 아무 일도 일어나지 않은 것이 아니라는 교훈을 실물로 보여 주는 사례입니다. 설정 파일이나 인증 파일을 손대는 작업은 반드시 백업부터 해야 합니다. 백업이 없다면 Primary의 파일을 복사해 이름만 바꾸는 방법으로 복구할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ORA-16191은 Data Guard에서 패스워드 문제를 가리키는 대표 오류입니다. 문면 자체가 원인을 정확히 말해 줍니다. 다만 뒤에서 보듯 네트워크 문제일 때도 같은 번호가 나오므로, tnsping 결과와 함께 봐야 원인이 특정됩니다. 오류가 지연되어 나타난다는 점도 실무에서 중요한 관찰입니다. 설정을 바꾼 직후 한 번 조회하고 '문제없다'고 판단하면 안 되며, 로그 스위치를 내고 잠시 기다린 뒤 다시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원칙은 Data Guard 문제 해결에서 반복해서 만나게 됩니다. 여기서 처음 부딪히지만 실습 06(방화벽)에서 또 만나고, 이후 장들에서도 계속 나옵니다. REOPEN 속성으로 지정한 시간(기본 300초)이 지나면 자동 재시도하기도 하지만 확실하지 않으므로, 즉시 회복하려면 DEFER/ENABLE이 확실합니다. 이 원칙은 이후 장들에서 계속 반복됩니다. 실습 06(방화벽)에서 또 만나고, 7장의 갭 해소에서도 비슷한 상황이 나옵니다. 여기서 확실히 각인시켜 두면 나중에 학습자가 스스로 DEFER/ENABLE을 떠올리게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교재의 절차를 그대로 따르기 전에 현재 상태를 확인해야 한다는 사례입니다. 설치 가이드는 firewalld가 돌고 있다고 가정하지만 이 이미지에서는 애초에 활성화되어 있지 않습니다. 그래서 실습에서는 iptables로 직접 규칙을 넣어 차단을 재현합니다. 양방향이어야 하는 이유를 강조해 주십시오. 평소에는 Primary에서 Standby로만 가지만, 갭 해소 요청(FAL)과 역할 전환 이후에는 반대 방향이 필요합니다. 한쪽만 열어 두면 평소에는 멀쩡하다가 장애 상황에서 막힙니다.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응답 속도로 원인을 가른다는 것이 이 슬라이드의 핵심입니다. 즉시 실패했다면 거부이고, 한참 기다렸다면 침묵입니다. 침묵은 대개 방화벽입니다. 오류 번호를 확인하기 전에 "얼마나 기다렸는지"를 먼저 떠올리는 습관이 진단을 빠르게 만듭니다. DROP과 REJECT의 차이도 함께 설명하면 좋습니다. REJECT는 거부 응답을 보내므로 즉시 오류가 나고, DROP은 침묵하므로 타임아웃을 기다립니다. 보안 정책에서 어느 쪽을 쓰는지에 따라 증상이 달라진다는 점을 알아 두면 진단이 빨라집니다.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ORA-16191은 "로그온하지 못했다"는 결과만 말해 줍니다. 로그온에 실패한 이유까지는 알려 주지 않습니다. 오류 번호 하나로 원인을 단정하면 안 되는 대표적인 사례이며, 항상 두 개 이상의 근거를 맞춰 봐야 한다는 원칙을 보여 줍니다. 오류 번호 하나로 원인을 단정하면 안 되는 대표적인 사례입니다. 항상 두 개 이상의 근거를 맞춰 봐야 합니다. 실습 05와 06을 연달아 진행하면 학습자가 같은 번호를 두 번 만나면서 이 교훈을 스스로 깨닫게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위에서 아래로 갈수록 상위 계층입니다. 하위 계층이 상위 계층의 전제이므로 위에서부터 확인하는 것이 빠릅니다. 이름이 안 풀리는데 인증을 의심할 필요는 없습니다. 반대로 인증까지 성공했다면 그 아래 모든 계층이 정상임이 자동으로 증명됩니다. 이 표를 출력해 옆에 두고 실습하게 하면 효과가 좋습니다. 실습 03·05·06에서 만나는 오류를 하나씩 표에서 찾아 표시해 가면, 장이 끝날 무렵에는 지도가 완성되고 각 번호의 위치가 몸에 익습니다.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번의 확인으로 여섯 계층이 정리된다는 것이 이 절차의 효율입니다. 특히 ③의 실제 SYS 접속 한 번이 서비스 등록·인스턴스 상태·인증 세 계층을 동시에 검증합니다. 그리고 ⑥과 ⑦을 빠뜨리지 않는 것이 중요합니다. 설정이 맞다는 것과 리두가 흐른다는 것은 다른 이야기이며, 이 장 전체가 그 차이를 반복해서 보여 주었습니다. 이 절차는 3장뿐 아니라 이 과정 전체에서 쓰입니다. 15장의 문제 해결에서 다시 확장되며, 그때는 적용 계층까지 포함한 더 큰 지도가 됩니다. 여기서 만든 절차가 그 바탕이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ORA-12514는 "그 서비스를 모른다"고만 말할 뿐 클라이언트가 무엇을 요청했는지는 알려 주지 않습니다. 리스너 로그에는 요청된 SERVICE_NAME이 그대로 기록되므로, tnsnames 쪽 오타인지 listener.ora 쪽 누락인지 즉시 구분할 수 있습니다. 2장에서 본 Fatal NI connect error 12537 같은 항목은 데이터베이스 알림 로그에 남으므로, 두 로그를 함께 보는 습관이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단계가 각각 다른 계층을 검증하므로 하나라도 빠지면 불완전합니다. 특히 ⑤를 빠뜨리는 경우가 많습니다. 목적지가 VALID라는 것과 실제로 리두가 적용되고 있다는 것은 다른 이야기입니다. Standby에서 시퀀스가 오르는 것을 직접 확인해야 작업이 끝난 것입니다. ①도 자주 놓칩니다. tnsnames는 양쪽에 같은 내용을 두어야 하는데 한쪽만 고치고 끝내는 일이 흔합니다. 역할 전환 전까지는 문제가 드러나지 않으므로 더 위험합니다. 목적지가 VALID라는 것과 실제로 리두가 적용되고 있다는 것은 다른 이야기입니다. Standby에서 시퀀스가 오르는 것을 직접 확인해야 작업이 끝난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Data Guard를 위한 Oracle Net 구성</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Oracle Net Services for Data Guard — 전송이 성립하기 위한 받침</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정적 등록 · 패스워드 파일 · DG_CONFIG · 오류 계층 지도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Data Guard가 일반 접속과 달리 요구하는 세 가지 Oracle Net 조건을 설명한다.</a:t>
            </a:r>
          </a:p>
          <a:p>
            <a:pPr algn="l">
              <a:spcAft>
                <a:spcPts val="1000"/>
              </a:spcAft>
            </a:pPr>
            <a:r>
              <a:rPr sz="1600" b="0">
                <a:solidFill>
                  <a:srgbClr val="222222"/>
                </a:solidFill>
                <a:latin typeface="맑은 고딕"/>
              </a:rPr>
              <a:t>•  양쪽 노드에 대칭적인 tnsnames.ora를 구성하고 tnsping으로 검증한다.</a:t>
            </a:r>
          </a:p>
          <a:p>
            <a:pPr algn="l">
              <a:spcAft>
                <a:spcPts val="1000"/>
              </a:spcAft>
            </a:pPr>
            <a:r>
              <a:rPr sz="1600" b="0">
                <a:solidFill>
                  <a:srgbClr val="222222"/>
                </a:solidFill>
                <a:latin typeface="맑은 고딕"/>
              </a:rPr>
              <a:t>•  listener.ora 정적 등록이 왜 필요한지를 NOMOUNT 접속 실패로 실증한다.</a:t>
            </a:r>
          </a:p>
          <a:p>
            <a:pPr algn="l">
              <a:spcAft>
                <a:spcPts val="1000"/>
              </a:spcAft>
            </a:pPr>
            <a:r>
              <a:rPr sz="1600" b="0">
                <a:solidFill>
                  <a:srgbClr val="222222"/>
                </a:solidFill>
                <a:latin typeface="맑은 고딕"/>
              </a:rPr>
              <a:t>•  LOG_ARCHIVE_CONFIG의 DG_CONFIG가 하는 일과 누락 시 증상을 안다.</a:t>
            </a:r>
          </a:p>
          <a:p>
            <a:pPr algn="l">
              <a:spcAft>
                <a:spcPts val="1000"/>
              </a:spcAft>
            </a:pPr>
            <a:r>
              <a:rPr sz="1600" b="0">
                <a:solidFill>
                  <a:srgbClr val="222222"/>
                </a:solidFill>
                <a:latin typeface="맑은 고딕"/>
              </a:rPr>
              <a:t>•  패스워드 파일 인증의 요건을 알고 불일치를 재현·해소한다.</a:t>
            </a:r>
          </a:p>
          <a:p>
            <a:pPr algn="l">
              <a:spcAft>
                <a:spcPts val="1000"/>
              </a:spcAft>
            </a:pPr>
            <a:r>
              <a:rPr sz="1600" b="0">
                <a:solidFill>
                  <a:srgbClr val="222222"/>
                </a:solidFill>
                <a:latin typeface="맑은 고딕"/>
              </a:rPr>
              <a:t>•  방화벽·포트 문제를 진단하고 오류 번호로 계층을 가른다.</a:t>
            </a:r>
          </a:p>
          <a:p>
            <a:pPr algn="l">
              <a:spcAft>
                <a:spcPts val="1000"/>
              </a:spcAft>
            </a:pPr>
            <a:r>
              <a:rPr sz="1600" b="0">
                <a:solidFill>
                  <a:srgbClr val="222222"/>
                </a:solidFill>
                <a:latin typeface="맑은 고딕"/>
              </a:rPr>
              <a:t>•  ORA-12514·ORA-12528·ORA-01017·ORA-16191·TNS-12535를 구분해 조치를 댄다.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3.2  Data Guard가 Oracle Net에 요구하는 것</a:t>
            </a:r>
          </a:p>
          <a:p>
            <a:pPr algn="l">
              <a:spcAft>
                <a:spcPts val="1000"/>
              </a:spcAft>
            </a:pPr>
            <a:r>
              <a:rPr sz="1600" b="0">
                <a:solidFill>
                  <a:srgbClr val="222222"/>
                </a:solidFill>
                <a:latin typeface="맑은 고딕"/>
              </a:rPr>
              <a:t>•  3.3  정적 등록 — 이 장의 핵심</a:t>
            </a:r>
          </a:p>
          <a:p>
            <a:pPr algn="l">
              <a:spcAft>
                <a:spcPts val="1000"/>
              </a:spcAft>
            </a:pPr>
            <a:r>
              <a:rPr sz="1600" b="0">
                <a:solidFill>
                  <a:srgbClr val="222222"/>
                </a:solidFill>
                <a:latin typeface="맑은 고딕"/>
              </a:rPr>
              <a:t>•  3.4  LOG_ARCHIVE_CONFIG와 DG_CONFIG</a:t>
            </a:r>
          </a:p>
          <a:p>
            <a:pPr algn="l">
              <a:spcAft>
                <a:spcPts val="1000"/>
              </a:spcAft>
            </a:pPr>
            <a:r>
              <a:rPr sz="1600" b="0">
                <a:solidFill>
                  <a:srgbClr val="222222"/>
                </a:solidFill>
                <a:latin typeface="맑은 고딕"/>
              </a:rPr>
              <a:t>•  3.5  인증 — 패스워드 파일</a:t>
            </a:r>
          </a:p>
          <a:p>
            <a:pPr algn="l">
              <a:spcAft>
                <a:spcPts val="1000"/>
              </a:spcAft>
            </a:pPr>
            <a:r>
              <a:rPr sz="1600" b="0">
                <a:solidFill>
                  <a:srgbClr val="222222"/>
                </a:solidFill>
                <a:latin typeface="맑은 고딕"/>
              </a:rPr>
              <a:t>•  3.6  네트워크 계층 점검</a:t>
            </a:r>
          </a:p>
          <a:p>
            <a:pPr algn="l">
              <a:spcAft>
                <a:spcPts val="1000"/>
              </a:spcAft>
            </a:pPr>
            <a:r>
              <a:rPr sz="1600" b="0">
                <a:solidFill>
                  <a:srgbClr val="222222"/>
                </a:solidFill>
                <a:latin typeface="맑은 고딕"/>
              </a:rPr>
              <a:t>•  3.7  진단 순서 정리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Data Guard가 Oracle Net에 요구하는 것</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NOMOUNT 상태 원격 접속</a:t>
            </a:r>
          </a:p>
          <a:p>
            <a:pPr algn="l">
              <a:spcAft>
                <a:spcPts val="800"/>
              </a:spcAft>
            </a:pPr>
            <a:r>
              <a:rPr sz="1600" b="0">
                <a:solidFill>
                  <a:srgbClr val="FFFFFF"/>
                </a:solidFill>
                <a:latin typeface="맑은 고딕"/>
              </a:rPr>
              <a:t>•  양쪽의 SYS 인증</a:t>
            </a:r>
          </a:p>
          <a:p>
            <a:pPr algn="l">
              <a:spcAft>
                <a:spcPts val="800"/>
              </a:spcAft>
            </a:pPr>
            <a:r>
              <a:rPr sz="1600" b="0">
                <a:solidFill>
                  <a:srgbClr val="FFFFFF"/>
                </a:solidFill>
                <a:latin typeface="맑은 고딕"/>
              </a:rPr>
              <a:t>•  구성원의 파라미터 선언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일반 접속과 무엇이 다른가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가지 추가 조건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NOMOUNT 상태의 인스턴스에 접속해야 한다 → 정적 등록</a:t>
            </a:r>
          </a:p>
          <a:p>
            <a:pPr algn="l">
              <a:spcAft>
                <a:spcPts val="1000"/>
              </a:spcAft>
            </a:pPr>
            <a:r>
              <a:rPr sz="1700" b="0">
                <a:solidFill>
                  <a:srgbClr val="222222"/>
                </a:solidFill>
                <a:latin typeface="맑은 고딕"/>
              </a:rPr>
              <a:t>•  ② 양쪽이 서로를 SYS로 인증해야 한다 → 패스워드 파일</a:t>
            </a:r>
          </a:p>
          <a:p>
            <a:pPr algn="l">
              <a:spcAft>
                <a:spcPts val="1000"/>
              </a:spcAft>
            </a:pPr>
            <a:r>
              <a:rPr sz="1700" b="0">
                <a:solidFill>
                  <a:srgbClr val="222222"/>
                </a:solidFill>
                <a:latin typeface="맑은 고딕"/>
              </a:rPr>
              <a:t>•  ③ 구성 구성원을 파라미터로 선언해야 한다 → DG_CONFIG</a:t>
            </a:r>
          </a:p>
          <a:p>
            <a:pPr algn="l">
              <a:spcAft>
                <a:spcPts val="1000"/>
              </a:spcAft>
            </a:pPr>
            <a:r>
              <a:rPr sz="1700" b="0">
                <a:solidFill>
                  <a:srgbClr val="222222"/>
                </a:solidFill>
                <a:latin typeface="맑은 고딕"/>
              </a:rPr>
              <a:t>•  일반 애플리케이션 접속은 셋 중 어느 것도 필요하지 않다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tnsnames.ora</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양쪽에 같은 내용을 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CHICAGO / BOSTON — 일반 전송용</a:t>
            </a:r>
          </a:p>
          <a:p>
            <a:pPr algn="l">
              <a:spcAft>
                <a:spcPts val="1000"/>
              </a:spcAft>
            </a:pPr>
            <a:r>
              <a:rPr sz="1700" b="0">
                <a:solidFill>
                  <a:srgbClr val="222222"/>
                </a:solidFill>
                <a:latin typeface="맑은 고딕"/>
              </a:rPr>
              <a:t>•  CHICAGO_DG / BOSTON_DG — Broker용, SERVICE_NAME은 &lt;db_unique_name&gt;_DGMGRL</a:t>
            </a:r>
          </a:p>
          <a:p>
            <a:pPr algn="l">
              <a:spcAft>
                <a:spcPts val="1000"/>
              </a:spcAft>
            </a:pPr>
            <a:r>
              <a:rPr sz="1700" b="0">
                <a:solidFill>
                  <a:srgbClr val="222222"/>
                </a:solidFill>
                <a:latin typeface="맑은 고딕"/>
              </a:rPr>
              <a:t>•  양쪽에 같은 파일을 두는 이유: 역할 전환 이후 반대 방향 전송</a:t>
            </a:r>
          </a:p>
          <a:p>
            <a:pPr algn="l">
              <a:spcAft>
                <a:spcPts val="1000"/>
              </a:spcAft>
            </a:pPr>
            <a:r>
              <a:rPr sz="1700" b="0">
                <a:solidFill>
                  <a:srgbClr val="222222"/>
                </a:solidFill>
                <a:latin typeface="맑은 고딕"/>
              </a:rPr>
              <a:t>•  실습 환경 주의: BOSTON은 boston-srv.localdomain, BOSTON_DG는 boston-srv</a:t>
            </a:r>
          </a:p>
          <a:p>
            <a:pPr algn="l">
              <a:spcAft>
                <a:spcPts val="1000"/>
              </a:spcAft>
            </a:pPr>
            <a:r>
              <a:rPr sz="1700" b="0">
                <a:solidFill>
                  <a:srgbClr val="222222"/>
                </a:solidFill>
                <a:latin typeface="맑은 고딕"/>
              </a:rPr>
              <a:t>•  둘 다 /etc/hosts에 있어 동작하지만 표기는 통일하는 편이 낫다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tnsping이 확인하는 것과 못 하는 것</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확인한다 : 별칭이 풀렸다 / 호스트·포트에 도달했다 / 리스너가 응답했다</a:t>
            </a:r>
          </a:p>
          <a:p>
            <a:pPr algn="l">
              <a:spcAft>
                <a:spcPts val="1000"/>
              </a:spcAft>
            </a:pPr>
            <a:r>
              <a:rPr sz="1600" b="0">
                <a:solidFill>
                  <a:srgbClr val="222222"/>
                </a:solidFill>
                <a:latin typeface="맑은 고딕"/>
              </a:rPr>
              <a:t>•  확인 못 한다 : 서비스 등록 여부 → ORA-12514</a:t>
            </a:r>
          </a:p>
          <a:p>
            <a:pPr algn="l">
              <a:spcAft>
                <a:spcPts val="1000"/>
              </a:spcAft>
            </a:pPr>
            <a:r>
              <a:rPr sz="1600" b="0">
                <a:solidFill>
                  <a:srgbClr val="222222"/>
                </a:solidFill>
                <a:latin typeface="맑은 고딕"/>
              </a:rPr>
              <a:t>•  확인 못 한다 : 인스턴스 상태 → ORA-12528</a:t>
            </a:r>
          </a:p>
          <a:p>
            <a:pPr algn="l">
              <a:spcAft>
                <a:spcPts val="1000"/>
              </a:spcAft>
            </a:pPr>
            <a:r>
              <a:rPr sz="1600" b="0">
                <a:solidFill>
                  <a:srgbClr val="222222"/>
                </a:solidFill>
                <a:latin typeface="맑은 고딕"/>
              </a:rPr>
              <a:t>•  확인 못 한다 : 인증 통과 여부 → ORA-01017</a:t>
            </a:r>
          </a:p>
          <a:p>
            <a:pPr algn="l">
              <a:spcAft>
                <a:spcPts val="1000"/>
              </a:spcAft>
            </a:pPr>
            <a:r>
              <a:rPr sz="1600" b="0">
                <a:solidFill>
                  <a:srgbClr val="222222"/>
                </a:solidFill>
                <a:latin typeface="맑은 고딕"/>
              </a:rPr>
              <a:t>•  실무 요령 : OK인데 실패하면 리스너 위쪽, 실패하면 아래쪽</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TNS_ADMIN과 sqlnet.ora</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"고쳤는데 반영이 안 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기본 위치는 $ORACLE_HOME/network/admin, TNS_ADMIN이 있으면 그쪽 우선</a:t>
            </a:r>
          </a:p>
          <a:p>
            <a:pPr algn="l">
              <a:spcAft>
                <a:spcPts val="1000"/>
              </a:spcAft>
            </a:pPr>
            <a:r>
              <a:rPr sz="1700" b="0">
                <a:solidFill>
                  <a:srgbClr val="222222"/>
                </a:solidFill>
                <a:latin typeface="맑은 고딕"/>
              </a:rPr>
              <a:t>•  백그라운드 프로세스는 인스턴스를 기동한 셸의 환경을 물려받는다</a:t>
            </a:r>
          </a:p>
          <a:p>
            <a:pPr algn="l">
              <a:spcAft>
                <a:spcPts val="1000"/>
              </a:spcAft>
            </a:pPr>
            <a:r>
              <a:rPr sz="1700" b="0">
                <a:solidFill>
                  <a:srgbClr val="222222"/>
                </a:solidFill>
                <a:latin typeface="맑은 고딕"/>
              </a:rPr>
              <a:t>•  실습 환경 sqlnet.ora : SQLNET.ALLOWED_LOGON_VERSION_SERVER=11 / CLIENT=11</a:t>
            </a:r>
          </a:p>
          <a:p>
            <a:pPr algn="l">
              <a:spcAft>
                <a:spcPts val="1000"/>
              </a:spcAft>
            </a:pPr>
            <a:r>
              <a:rPr sz="1700" b="0">
                <a:solidFill>
                  <a:srgbClr val="222222"/>
                </a:solidFill>
                <a:latin typeface="맑은 고딕"/>
              </a:rPr>
              <a:t>•  이 값이 두 노드에서 다르면 패스워드 파일이 같아도 ORA-01017이 날 수 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정적 등록 — 이 장의 핵심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동적 등록은 NOMOUNT에서 통하지 않는다</a:t>
            </a:r>
          </a:p>
          <a:p>
            <a:pPr algn="l">
              <a:spcAft>
                <a:spcPts val="800"/>
              </a:spcAft>
            </a:pPr>
            <a:r>
              <a:rPr sz="1600" b="0">
                <a:solidFill>
                  <a:srgbClr val="FFFFFF"/>
                </a:solidFill>
                <a:latin typeface="맑은 고딕"/>
              </a:rPr>
              <a:t>•  SID_LIST_LISTENER 로 미리 선언한다</a:t>
            </a:r>
          </a:p>
          <a:p>
            <a:pPr algn="l">
              <a:spcAft>
                <a:spcPts val="800"/>
              </a:spcAft>
            </a:pPr>
            <a:r>
              <a:rPr sz="1600" b="0">
                <a:solidFill>
                  <a:srgbClr val="FFFFFF"/>
                </a:solidFill>
                <a:latin typeface="맑은 고딕"/>
              </a:rPr>
              <a:t>•  제거해서 실패를 재현한다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동적 등록의 한계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왜 정적 등록이 필요한가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동적 등록: 인스턴스가 기동하며 스스로 리스너에 알린다</a:t>
            </a:r>
          </a:p>
          <a:p>
            <a:pPr algn="l">
              <a:spcAft>
                <a:spcPts val="1000"/>
              </a:spcAft>
            </a:pPr>
            <a:r>
              <a:rPr sz="1700" b="0">
                <a:solidFill>
                  <a:srgbClr val="222222"/>
                </a:solidFill>
                <a:latin typeface="맑은 고딕"/>
              </a:rPr>
              <a:t>•  전제: 인스턴스가 등록할 수 있는 상태여야 한다</a:t>
            </a:r>
          </a:p>
          <a:p>
            <a:pPr algn="l">
              <a:spcAft>
                <a:spcPts val="1000"/>
              </a:spcAft>
            </a:pPr>
            <a:r>
              <a:rPr sz="1700" b="0">
                <a:solidFill>
                  <a:srgbClr val="222222"/>
                </a:solidFill>
                <a:latin typeface="맑은 고딕"/>
              </a:rPr>
              <a:t>•  NOMOUNT에서는 정상 등록이 안 되고, 되더라도 status BLOCKED</a:t>
            </a:r>
          </a:p>
          <a:p>
            <a:pPr algn="l">
              <a:spcAft>
                <a:spcPts val="1000"/>
              </a:spcAft>
            </a:pPr>
            <a:r>
              <a:rPr sz="1700" b="0">
                <a:solidFill>
                  <a:srgbClr val="222222"/>
                </a:solidFill>
                <a:latin typeface="맑은 고딕"/>
              </a:rPr>
              <a:t>•  5장 RMAN DUPLICATE는 auxiliary가 NOMOUNT여야 하고 원격 접속이 필요하다</a:t>
            </a:r>
          </a:p>
          <a:p>
            <a:pPr algn="l">
              <a:spcAft>
                <a:spcPts val="1000"/>
              </a:spcAft>
            </a:pPr>
            <a:r>
              <a:rPr sz="1700" b="0">
                <a:solidFill>
                  <a:srgbClr val="222222"/>
                </a:solidFill>
                <a:latin typeface="맑은 고딕"/>
              </a:rPr>
              <a:t>•  → 동적 등록만으로는 여기서 막힌다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SID_LIST_LISTENER의 구조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요소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GLOBAL_DBNAME — 클라이언트가 SERVICE_NAME으로 요청할 이름</a:t>
            </a:r>
          </a:p>
          <a:p>
            <a:pPr algn="l">
              <a:spcAft>
                <a:spcPts val="1000"/>
              </a:spcAft>
            </a:pPr>
            <a:r>
              <a:rPr sz="1700" b="0">
                <a:solidFill>
                  <a:srgbClr val="222222"/>
                </a:solidFill>
                <a:latin typeface="맑은 고딕"/>
              </a:rPr>
              <a:t>•  ORACLE_HOME — 리스너가 인스턴스에 연결할 때 쓸 경로</a:t>
            </a:r>
          </a:p>
          <a:p>
            <a:pPr algn="l">
              <a:spcAft>
                <a:spcPts val="1000"/>
              </a:spcAft>
            </a:pPr>
            <a:r>
              <a:rPr sz="1700" b="0">
                <a:solidFill>
                  <a:srgbClr val="222222"/>
                </a:solidFill>
                <a:latin typeface="맑은 고딕"/>
              </a:rPr>
              <a:t>•  SID_NAME — 실제 인스턴스의 SID (그 서버의 ORACLE_SID)</a:t>
            </a:r>
          </a:p>
          <a:p>
            <a:pPr algn="l">
              <a:spcAft>
                <a:spcPts val="1000"/>
              </a:spcAft>
            </a:pPr>
            <a:r>
              <a:rPr sz="1700" b="0">
                <a:solidFill>
                  <a:srgbClr val="222222"/>
                </a:solidFill>
                <a:latin typeface="맑은 고딕"/>
              </a:rPr>
              <a:t>•  실습 환경은 노드마다 SID_DESC 두 건 (일반용 + _DGMGRL)</a:t>
            </a:r>
          </a:p>
          <a:p>
            <a:pPr algn="l">
              <a:spcAft>
                <a:spcPts val="1000"/>
              </a:spcAft>
            </a:pPr>
            <a:r>
              <a:rPr sz="1700" b="0">
                <a:solidFill>
                  <a:srgbClr val="222222"/>
                </a:solidFill>
                <a:latin typeface="맑은 고딕"/>
              </a:rPr>
              <a:t>•  GLOBAL_DBNAME은 DB_NAME이 아니라 DB_UNIQUE_NAME을 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정적 등록을 제거하면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 ①  ORA-12514</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SID_LIST_LISTENER를 빼고 리스너 재기동</a:t>
            </a:r>
          </a:p>
          <a:p>
            <a:pPr algn="l">
              <a:spcAft>
                <a:spcPts val="1000"/>
              </a:spcAft>
            </a:pPr>
            <a:r>
              <a:rPr sz="1700" b="0">
                <a:solidFill>
                  <a:srgbClr val="222222"/>
                </a:solidFill>
                <a:latin typeface="맑은 고딕"/>
              </a:rPr>
              <a:t>•  "The listener supports no services"</a:t>
            </a:r>
          </a:p>
          <a:p>
            <a:pPr algn="l">
              <a:spcAft>
                <a:spcPts val="1000"/>
              </a:spcAft>
            </a:pPr>
            <a:r>
              <a:rPr sz="1700" b="0">
                <a:solidFill>
                  <a:srgbClr val="222222"/>
                </a:solidFill>
                <a:latin typeface="맑은 고딕"/>
              </a:rPr>
              <a:t>•  접속 시도 → ORA-12514: listener does not currently know of service requested</a:t>
            </a:r>
          </a:p>
          <a:p>
            <a:pPr algn="l">
              <a:spcAft>
                <a:spcPts val="1000"/>
              </a:spcAft>
            </a:pPr>
            <a:r>
              <a:rPr sz="1700" b="0">
                <a:solidFill>
                  <a:srgbClr val="222222"/>
                </a:solidFill>
                <a:latin typeface="맑은 고딕"/>
              </a:rPr>
              <a:t>•  그런데 tnsping은 여전히 OK</a:t>
            </a:r>
          </a:p>
          <a:p>
            <a:pPr algn="l">
              <a:spcAft>
                <a:spcPts val="1000"/>
              </a:spcAft>
            </a:pPr>
            <a:r>
              <a:rPr sz="1700" b="0">
                <a:solidFill>
                  <a:srgbClr val="222222"/>
                </a:solidFill>
                <a:latin typeface="맑은 고딕"/>
              </a:rPr>
              <a:t>•  → "tnsping OK인데 접속 실패"의 전형적인 모습</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NOMOUNT로 내리면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 ②  ORA-12528 / status BLOCKED</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boston을 STARTUP NOMOUNT</a:t>
            </a:r>
          </a:p>
          <a:p>
            <a:pPr algn="l">
              <a:spcAft>
                <a:spcPts val="1000"/>
              </a:spcAft>
            </a:pPr>
            <a:r>
              <a:rPr sz="1700" b="0">
                <a:solidFill>
                  <a:srgbClr val="222222"/>
                </a:solidFill>
                <a:latin typeface="맑은 고딕"/>
              </a:rPr>
              <a:t>•  접속 시도 → ORA-12528: all appropriate instances are blocking new connections</a:t>
            </a:r>
          </a:p>
          <a:p>
            <a:pPr algn="l">
              <a:spcAft>
                <a:spcPts val="1000"/>
              </a:spcAft>
            </a:pPr>
            <a:r>
              <a:rPr sz="1700" b="0">
                <a:solidFill>
                  <a:srgbClr val="222222"/>
                </a:solidFill>
                <a:latin typeface="맑은 고딕"/>
              </a:rPr>
              <a:t>•  lsnrctl status → Instance "boston", status BLOCKED</a:t>
            </a:r>
          </a:p>
          <a:p>
            <a:pPr algn="l">
              <a:spcAft>
                <a:spcPts val="1000"/>
              </a:spcAft>
            </a:pPr>
            <a:r>
              <a:rPr sz="1700" b="0">
                <a:solidFill>
                  <a:srgbClr val="222222"/>
                </a:solidFill>
                <a:latin typeface="맑은 고딕"/>
              </a:rPr>
              <a:t>•  오류 번호가 12514에서 12528로 바뀌었다</a:t>
            </a:r>
          </a:p>
          <a:p>
            <a:pPr algn="l">
              <a:spcAft>
                <a:spcPts val="1000"/>
              </a:spcAft>
            </a:pPr>
            <a:r>
              <a:rPr sz="1700" b="0">
                <a:solidFill>
                  <a:srgbClr val="222222"/>
                </a:solidFill>
                <a:latin typeface="맑은 고딕"/>
              </a:rPr>
              <a:t>•  리스너는 서비스를 알게 됐지만 인스턴스가 막고 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정적 등록을 복원하면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 ③  status UNKNOWN</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listener.ora 복원 후 재기동</a:t>
            </a:r>
          </a:p>
          <a:p>
            <a:pPr algn="l">
              <a:spcAft>
                <a:spcPts val="1000"/>
              </a:spcAft>
            </a:pPr>
            <a:r>
              <a:rPr sz="1700" b="0">
                <a:solidFill>
                  <a:srgbClr val="222222"/>
                </a:solidFill>
                <a:latin typeface="맑은 고딕"/>
              </a:rPr>
              <a:t>•  Instance "boston", status UNKNOWN</a:t>
            </a:r>
          </a:p>
          <a:p>
            <a:pPr algn="l">
              <a:spcAft>
                <a:spcPts val="1000"/>
              </a:spcAft>
            </a:pPr>
            <a:r>
              <a:rPr sz="1700" b="0">
                <a:solidFill>
                  <a:srgbClr val="222222"/>
                </a:solidFill>
                <a:latin typeface="맑은 고딕"/>
              </a:rPr>
              <a:t>•  접속 성공 — V$INSTANCE.STATUS = STARTED (여전히 NOMOUNT!)</a:t>
            </a:r>
          </a:p>
          <a:p>
            <a:pPr algn="l">
              <a:spcAft>
                <a:spcPts val="1000"/>
              </a:spcAft>
            </a:pPr>
            <a:r>
              <a:rPr sz="1700" b="0">
                <a:solidFill>
                  <a:srgbClr val="222222"/>
                </a:solidFill>
                <a:latin typeface="맑은 고딕"/>
              </a:rPr>
              <a:t>•  ★ 5장 RMAN DUPLICATE가 가능한 이유가 정확히 이것이다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READY · BLOCKED · UNKNOWN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status 세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READY — 동적 등록, 인스턴스 OPEN, 접속 가능</a:t>
            </a:r>
          </a:p>
          <a:p>
            <a:pPr algn="l">
              <a:spcAft>
                <a:spcPts val="1000"/>
              </a:spcAft>
            </a:pPr>
            <a:r>
              <a:rPr sz="1700" b="0">
                <a:solidFill>
                  <a:srgbClr val="222222"/>
                </a:solidFill>
                <a:latin typeface="맑은 고딕"/>
              </a:rPr>
              <a:t>•  BLOCKED — 동적 등록, NOMOUNT/MOUNT, 접속 불가 (ORA-12528)</a:t>
            </a:r>
          </a:p>
          <a:p>
            <a:pPr algn="l">
              <a:spcAft>
                <a:spcPts val="1000"/>
              </a:spcAft>
            </a:pPr>
            <a:r>
              <a:rPr sz="1700" b="0">
                <a:solidFill>
                  <a:srgbClr val="222222"/>
                </a:solidFill>
                <a:latin typeface="맑은 고딕"/>
              </a:rPr>
              <a:t>•  UNKNOWN — 정적 등록, 리스너가 인스턴스 상태를 모름, 시도해 봐야 안다</a:t>
            </a:r>
          </a:p>
          <a:p>
            <a:pPr algn="l">
              <a:spcAft>
                <a:spcPts val="1000"/>
              </a:spcAft>
            </a:pPr>
            <a:r>
              <a:rPr sz="1700" b="0">
                <a:solidFill>
                  <a:srgbClr val="222222"/>
                </a:solidFill>
                <a:latin typeface="맑은 고딕"/>
              </a:rPr>
              <a:t>•  실측: Service "chicago" has 2 instance(s) — UNKNOWN + READY</a:t>
            </a:r>
          </a:p>
          <a:p>
            <a:pPr algn="l">
              <a:spcAft>
                <a:spcPts val="1000"/>
              </a:spcAft>
            </a:pPr>
            <a:r>
              <a:rPr sz="1700" b="0">
                <a:solidFill>
                  <a:srgbClr val="222222"/>
                </a:solidFill>
                <a:latin typeface="맑은 고딕"/>
              </a:rPr>
              <a:t>•  같은 인스턴스를 두 경로로 알고 있는 정상적인 모습</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LOG_ARCHIVE_CONFIG와 DG_CONFIG</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무엇을 선언하는가</a:t>
            </a:r>
          </a:p>
          <a:p>
            <a:pPr algn="l">
              <a:spcAft>
                <a:spcPts val="800"/>
              </a:spcAft>
            </a:pPr>
            <a:r>
              <a:rPr sz="1600" b="0">
                <a:solidFill>
                  <a:srgbClr val="FFFFFF"/>
                </a:solidFill>
                <a:latin typeface="맑은 고딕"/>
              </a:rPr>
              <a:t>•  비우면 무슨 일이 일어나는가 (그리고 안 일어나는가)</a:t>
            </a:r>
          </a:p>
          <a:p>
            <a:pPr algn="l">
              <a:spcAft>
                <a:spcPts val="800"/>
              </a:spcAft>
            </a:pPr>
            <a:r>
              <a:rPr sz="1600" b="0">
                <a:solidFill>
                  <a:srgbClr val="FFFFFF"/>
                </a:solidFill>
                <a:latin typeface="맑은 고딕"/>
              </a:rPr>
              <a:t>•  안전망이라는 성격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DG_CONFIG가 하는 일</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구성에 속한 모든 DB_UNIQUE_NAME을 나열한다</a:t>
            </a:r>
          </a:p>
          <a:p>
            <a:pPr algn="l">
              <a:spcAft>
                <a:spcPts val="1000"/>
              </a:spcAft>
            </a:pPr>
            <a:r>
              <a:rPr sz="1600" b="0">
                <a:solidFill>
                  <a:srgbClr val="222222"/>
                </a:solidFill>
                <a:latin typeface="맑은 고딕"/>
              </a:rPr>
              <a:t>•  ① 목적지에 지정할 수 있는 이름을 제한 → 2장의 ORA-16053</a:t>
            </a:r>
          </a:p>
          <a:p>
            <a:pPr algn="l">
              <a:spcAft>
                <a:spcPts val="1000"/>
              </a:spcAft>
            </a:pPr>
            <a:r>
              <a:rPr sz="1600" b="0">
                <a:solidFill>
                  <a:srgbClr val="222222"/>
                </a:solidFill>
                <a:latin typeface="맑은 고딕"/>
              </a:rPr>
              <a:t>•  ② 어떤 구성원이 보낸 리두를 받아들일지 결정</a:t>
            </a:r>
          </a:p>
          <a:p>
            <a:pPr algn="l">
              <a:spcAft>
                <a:spcPts val="1000"/>
              </a:spcAft>
            </a:pPr>
            <a:r>
              <a:rPr sz="1600" b="0">
                <a:solidFill>
                  <a:srgbClr val="222222"/>
                </a:solidFill>
                <a:latin typeface="맑은 고딕"/>
              </a:rPr>
              <a:t>•  실습 환경 : dg_config=(chicago,boston)</a:t>
            </a:r>
          </a:p>
          <a:p>
            <a:pPr algn="l">
              <a:spcAft>
                <a:spcPts val="1000"/>
              </a:spcAft>
            </a:pPr>
            <a:r>
              <a:rPr sz="1600" b="0">
                <a:solidFill>
                  <a:srgbClr val="222222"/>
                </a:solidFill>
                <a:latin typeface="맑은 고딕"/>
              </a:rPr>
              <a:t>•  함께 볼 것 : FAL_SERVER=boston, FAL_CLIENT=chicago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비웠는데 아무 일도 안 일어났다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SYSTEM SET log_archive_config='' SCOPE=BOTH → System altered</a:t>
            </a:r>
          </a:p>
          <a:p>
            <a:pPr algn="l">
              <a:spcAft>
                <a:spcPts val="1000"/>
              </a:spcAft>
            </a:pPr>
            <a:r>
              <a:rPr sz="1700" b="0">
                <a:solidFill>
                  <a:srgbClr val="222222"/>
                </a:solidFill>
                <a:latin typeface="맑은 고딕"/>
              </a:rPr>
              <a:t>•  목적지 재설정도 통과 (db_unique_name=boston 이 검증 없이 통과)</a:t>
            </a:r>
          </a:p>
          <a:p>
            <a:pPr algn="l">
              <a:spcAft>
                <a:spcPts val="1000"/>
              </a:spcAft>
            </a:pPr>
            <a:r>
              <a:rPr sz="1700" b="0">
                <a:solidFill>
                  <a:srgbClr val="222222"/>
                </a:solidFill>
                <a:latin typeface="맑은 고딕"/>
              </a:rPr>
              <a:t>•  로그 스위치 후에도 dest_2는 VALID, 전송 계속</a:t>
            </a:r>
          </a:p>
          <a:p>
            <a:pPr algn="l">
              <a:spcAft>
                <a:spcPts val="1000"/>
              </a:spcAft>
            </a:pPr>
            <a:r>
              <a:rPr sz="1700" b="0">
                <a:solidFill>
                  <a:srgbClr val="222222"/>
                </a:solidFill>
                <a:latin typeface="맑은 고딕"/>
              </a:rPr>
              <a:t>•  이유: 이미 확립된 연결과 설정된 목적지는 즉시 끊기지 않는다</a:t>
            </a:r>
          </a:p>
          <a:p>
            <a:pPr algn="l">
              <a:spcAft>
                <a:spcPts val="1000"/>
              </a:spcAft>
            </a:pPr>
            <a:r>
              <a:rPr sz="1700" b="0">
                <a:solidFill>
                  <a:srgbClr val="222222"/>
                </a:solidFill>
                <a:latin typeface="맑은 고딕"/>
              </a:rPr>
              <a:t>•  DG_CONFIG는 런타임 스위치가 아니라 설정·재기동 시점의 검증 장치</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그럼에도 비우면 안 되는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안전망이 사라진다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새 목적지 추가 시 오배송 검증이 사라진다 (ORA-16053이 안 난다)</a:t>
            </a:r>
          </a:p>
          <a:p>
            <a:pPr algn="l">
              <a:spcAft>
                <a:spcPts val="1000"/>
              </a:spcAft>
            </a:pPr>
            <a:r>
              <a:rPr sz="1700" b="0">
                <a:solidFill>
                  <a:srgbClr val="222222"/>
                </a:solidFill>
                <a:latin typeface="맑은 고딕"/>
              </a:rPr>
              <a:t>•  ② Broker 구성 생성이 실패한다 (13장)</a:t>
            </a:r>
          </a:p>
          <a:p>
            <a:pPr algn="l">
              <a:spcAft>
                <a:spcPts val="1000"/>
              </a:spcAft>
            </a:pPr>
            <a:r>
              <a:rPr sz="1700" b="0">
                <a:solidFill>
                  <a:srgbClr val="222222"/>
                </a:solidFill>
                <a:latin typeface="맑은 고딕"/>
              </a:rPr>
              <a:t>•  ③ 인스턴스 재기동 시 잘못된 설정이 그대로 살아난다</a:t>
            </a:r>
          </a:p>
          <a:p>
            <a:pPr algn="l">
              <a:spcAft>
                <a:spcPts val="1000"/>
              </a:spcAft>
            </a:pPr>
            <a:r>
              <a:rPr sz="1700" b="0">
                <a:solidFill>
                  <a:srgbClr val="222222"/>
                </a:solidFill>
                <a:latin typeface="맑은 고딕"/>
              </a:rPr>
              <a:t>•  즉 "지금 막는 스위치"가 아니라 "실수를 걸러 주는 안전망"</a:t>
            </a:r>
          </a:p>
          <a:p>
            <a:pPr algn="l">
              <a:spcAft>
                <a:spcPts val="1000"/>
              </a:spcAft>
            </a:pPr>
            <a:r>
              <a:rPr sz="1700" b="0">
                <a:solidFill>
                  <a:srgbClr val="222222"/>
                </a:solidFill>
                <a:latin typeface="맑은 고딕"/>
              </a:rPr>
              <a:t>•  관리 원칙 : 모든 노드에 · Far Sync도 포함 · 비우지 않는다 · Broker 쓰면 손대지 않는다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인증 — 패스워드 파일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원격 SYS 접속이 필요하다</a:t>
            </a:r>
          </a:p>
          <a:p>
            <a:pPr algn="l">
              <a:spcAft>
                <a:spcPts val="800"/>
              </a:spcAft>
            </a:pPr>
            <a:r>
              <a:rPr sz="1600" b="0">
                <a:solidFill>
                  <a:srgbClr val="FFFFFF"/>
                </a:solidFill>
                <a:latin typeface="맑은 고딕"/>
              </a:rPr>
              <a:t>•  이름은 달라도 내용은 같아야 한다</a:t>
            </a:r>
          </a:p>
          <a:p>
            <a:pPr algn="l">
              <a:spcAft>
                <a:spcPts val="800"/>
              </a:spcAft>
            </a:pPr>
            <a:r>
              <a:rPr sz="1600" b="0">
                <a:solidFill>
                  <a:srgbClr val="FFFFFF"/>
                </a:solidFill>
                <a:latin typeface="맑은 고딕"/>
              </a:rPr>
              <a:t>•  ORA-01017 → ORA-16191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패스워드 파일의 요건</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REMOTE_LOGIN_PASSWORDFILE = EXCLUSIVE (양쪽)</a:t>
            </a:r>
          </a:p>
          <a:p>
            <a:pPr algn="l">
              <a:spcAft>
                <a:spcPts val="1000"/>
              </a:spcAft>
            </a:pPr>
            <a:r>
              <a:rPr sz="1600" b="0">
                <a:solidFill>
                  <a:srgbClr val="222222"/>
                </a:solidFill>
                <a:latin typeface="맑은 고딕"/>
              </a:rPr>
              <a:t>•  파일 이름 : orapw&lt;ORACLE_SID&gt; — orapwchicago / orapwboston</a:t>
            </a:r>
          </a:p>
          <a:p>
            <a:pPr algn="l">
              <a:spcAft>
                <a:spcPts val="1000"/>
              </a:spcAft>
            </a:pPr>
            <a:r>
              <a:rPr sz="1600" b="0">
                <a:solidFill>
                  <a:srgbClr val="222222"/>
                </a:solidFill>
                <a:latin typeface="맑은 고딕"/>
              </a:rPr>
              <a:t>•  이름은 달라도 </a:t>
            </a:r>
            <a:r>
              <a:rPr sz="1600" b="1">
                <a:solidFill>
                  <a:srgbClr val="222222"/>
                </a:solidFill>
                <a:latin typeface="맑은 고딕"/>
              </a:rPr>
              <a:t>내용(SYS 비밀번호)은 같아야 한다</a:t>
            </a:r>
          </a:p>
          <a:p>
            <a:pPr algn="l">
              <a:spcAft>
                <a:spcPts val="1000"/>
              </a:spcAft>
            </a:pPr>
            <a:r>
              <a:rPr sz="1600" b="0">
                <a:solidFill>
                  <a:srgbClr val="222222"/>
                </a:solidFill>
                <a:latin typeface="맑은 고딕"/>
              </a:rPr>
              <a:t>•  권한 640, 소유자 oracle</a:t>
            </a:r>
          </a:p>
          <a:p>
            <a:pPr algn="l">
              <a:spcAft>
                <a:spcPts val="1000"/>
              </a:spcAft>
            </a:pPr>
            <a:r>
              <a:rPr sz="1600" b="0">
                <a:solidFill>
                  <a:srgbClr val="222222"/>
                </a:solidFill>
                <a:latin typeface="맑은 고딕"/>
              </a:rPr>
              <a:t>•  확실한 검증은 실제 원격 접속 — md5sum 대조는 참고용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orapwd와 19c 복잡성 규칙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 OPW-00029</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orapwd file=... password=WrongPass123 force=y</a:t>
            </a:r>
          </a:p>
          <a:p>
            <a:pPr algn="l">
              <a:spcAft>
                <a:spcPts val="1000"/>
              </a:spcAft>
            </a:pPr>
            <a:r>
              <a:rPr sz="1700" b="0">
                <a:solidFill>
                  <a:srgbClr val="222222"/>
                </a:solidFill>
                <a:latin typeface="맑은 고딕"/>
              </a:rPr>
              <a:t>•  OPW-00029: Password must contain at least 1 special character.</a:t>
            </a:r>
          </a:p>
          <a:p>
            <a:pPr algn="l">
              <a:spcAft>
                <a:spcPts val="1000"/>
              </a:spcAft>
            </a:pPr>
            <a:r>
              <a:rPr sz="1700" b="0">
                <a:solidFill>
                  <a:srgbClr val="222222"/>
                </a:solidFill>
                <a:latin typeface="맑은 고딕"/>
              </a:rPr>
              <a:t>•  ★ rm은 이미 성공했고 orapwd만 실패했다 → 패스워드 파일이 없는 상태</a:t>
            </a:r>
          </a:p>
          <a:p>
            <a:pPr algn="l">
              <a:spcAft>
                <a:spcPts val="1000"/>
              </a:spcAft>
            </a:pPr>
            <a:r>
              <a:rPr sz="1700" b="0">
                <a:solidFill>
                  <a:srgbClr val="222222"/>
                </a:solidFill>
                <a:latin typeface="맑은 고딕"/>
              </a:rPr>
              <a:t>•  작업 전 백업이 필수인 이유</a:t>
            </a:r>
          </a:p>
          <a:p>
            <a:pPr algn="l">
              <a:spcAft>
                <a:spcPts val="1000"/>
              </a:spcAft>
            </a:pPr>
            <a:r>
              <a:rPr sz="1700" b="0">
                <a:solidFill>
                  <a:srgbClr val="222222"/>
                </a:solidFill>
                <a:latin typeface="맑은 고딕"/>
              </a:rPr>
              <a:t>•  참고: 실습 환경의 'oracle'도 이 규칙을 통과하지 못한다 (DBCA 생성 파일을 물려받음)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ORA-01017 → ORA-16191</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원격 SYS 접속 → ORA-01017: invalid username/password</a:t>
            </a:r>
          </a:p>
          <a:p>
            <a:pPr algn="l">
              <a:spcAft>
                <a:spcPts val="1000"/>
              </a:spcAft>
            </a:pPr>
            <a:r>
              <a:rPr sz="1700" b="0">
                <a:solidFill>
                  <a:srgbClr val="222222"/>
                </a:solidFill>
                <a:latin typeface="맑은 고딕"/>
              </a:rPr>
              <a:t>•  리두 전송 → ORA-16191: Primary log shipping client not logged on standby</a:t>
            </a:r>
          </a:p>
          <a:p>
            <a:pPr algn="l">
              <a:spcAft>
                <a:spcPts val="1000"/>
              </a:spcAft>
            </a:pPr>
            <a:r>
              <a:rPr sz="1700" b="0">
                <a:solidFill>
                  <a:srgbClr val="222222"/>
                </a:solidFill>
                <a:latin typeface="맑은 고딕"/>
              </a:rPr>
              <a:t>•  ★ 첫 조회에서는 VALID였고 잠시 뒤 ERROR로 바뀌었다</a:t>
            </a:r>
          </a:p>
          <a:p>
            <a:pPr algn="l">
              <a:spcAft>
                <a:spcPts val="1000"/>
              </a:spcAft>
            </a:pPr>
            <a:r>
              <a:rPr sz="1700" b="0">
                <a:solidFill>
                  <a:srgbClr val="222222"/>
                </a:solidFill>
                <a:latin typeface="맑은 고딕"/>
              </a:rPr>
              <a:t>•  전송 시도가 실제로 일어나야 오류가 기록되기 때문</a:t>
            </a:r>
          </a:p>
          <a:p>
            <a:pPr algn="l">
              <a:spcAft>
                <a:spcPts val="1000"/>
              </a:spcAft>
            </a:pPr>
            <a:r>
              <a:rPr sz="1700" b="0">
                <a:solidFill>
                  <a:srgbClr val="222222"/>
                </a:solidFill>
                <a:latin typeface="맑은 고딕"/>
              </a:rPr>
              <a:t>•  설정 직후 한 번 조회하고 "문제없다"고 판단하면 안 되는 이유</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고쳐도 저절로 풀리지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 장의 핵심 원칙</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패스워드 파일 복원 → 원격 SYS 접속 성공 (원인 제거 확인)</a:t>
            </a:r>
          </a:p>
          <a:p>
            <a:pPr algn="l">
              <a:spcAft>
                <a:spcPts val="1000"/>
              </a:spcAft>
            </a:pPr>
            <a:r>
              <a:rPr sz="1700" b="0">
                <a:solidFill>
                  <a:srgbClr val="222222"/>
                </a:solidFill>
                <a:latin typeface="맑은 고딕"/>
              </a:rPr>
              <a:t>•  그런데 dest_2는 여전히 ORA-16191</a:t>
            </a:r>
          </a:p>
          <a:p>
            <a:pPr algn="l">
              <a:spcAft>
                <a:spcPts val="1000"/>
              </a:spcAft>
            </a:pPr>
            <a:r>
              <a:rPr sz="1700" b="0">
                <a:solidFill>
                  <a:srgbClr val="222222"/>
                </a:solidFill>
                <a:latin typeface="맑은 고딕"/>
              </a:rPr>
              <a:t>•  목적지가 실패 상태로 굳어 재시도를 하지 않기 때문</a:t>
            </a:r>
          </a:p>
          <a:p>
            <a:pPr algn="l">
              <a:spcAft>
                <a:spcPts val="1000"/>
              </a:spcAft>
            </a:pPr>
            <a:r>
              <a:rPr sz="1700" b="0">
                <a:solidFill>
                  <a:srgbClr val="222222"/>
                </a:solidFill>
                <a:latin typeface="맑은 고딕"/>
              </a:rPr>
              <a:t>•  해소 : LOG_ARCHIVE_DEST_STATE_2 = DEFER → ENABLE → 로그 스위치</a:t>
            </a:r>
          </a:p>
          <a:p>
            <a:pPr algn="l">
              <a:spcAft>
                <a:spcPts val="1000"/>
              </a:spcAft>
            </a:pPr>
            <a:r>
              <a:rPr sz="1700" b="0">
                <a:solidFill>
                  <a:srgbClr val="222222"/>
                </a:solidFill>
                <a:latin typeface="맑은 고딕"/>
              </a:rPr>
              <a:t>•  ★ 원인을 제거한 것과 상태가 회복되는 것은 다른 일이다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네트워크 계층 점검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포트 하나, 그러나 양방향</a:t>
            </a:r>
          </a:p>
          <a:p>
            <a:pPr algn="l">
              <a:spcAft>
                <a:spcPts val="800"/>
              </a:spcAft>
            </a:pPr>
            <a:r>
              <a:rPr sz="1600" b="0">
                <a:solidFill>
                  <a:srgbClr val="FFFFFF"/>
                </a:solidFill>
                <a:latin typeface="맑은 고딕"/>
              </a:rPr>
              <a:t>•  차단하면 오류가 달라진다</a:t>
            </a:r>
          </a:p>
          <a:p>
            <a:pPr algn="l">
              <a:spcAft>
                <a:spcPts val="800"/>
              </a:spcAft>
            </a:pPr>
            <a:r>
              <a:rPr sz="1600" b="0">
                <a:solidFill>
                  <a:srgbClr val="FFFFFF"/>
                </a:solidFill>
                <a:latin typeface="맑은 고딕"/>
              </a:rPr>
              <a:t>•  오류 번호로 계층을 가른다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포트와 방화벽</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양방향이어야 하는 이유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Data Guard는 리스너 포트 하나만 쓴다 (실습 환경 1521)</a:t>
            </a:r>
          </a:p>
          <a:p>
            <a:pPr algn="l">
              <a:spcAft>
                <a:spcPts val="1000"/>
              </a:spcAft>
            </a:pPr>
            <a:r>
              <a:rPr sz="1700" b="0">
                <a:solidFill>
                  <a:srgbClr val="222222"/>
                </a:solidFill>
                <a:latin typeface="맑은 고딕"/>
              </a:rPr>
              <a:t>•  양방향으로 열려야 한다 — FAL 요청과 역할 전환 이후</a:t>
            </a:r>
          </a:p>
          <a:p>
            <a:pPr algn="l">
              <a:spcAft>
                <a:spcPts val="1000"/>
              </a:spcAft>
            </a:pPr>
            <a:r>
              <a:rPr sz="1700" b="0">
                <a:solidFill>
                  <a:srgbClr val="222222"/>
                </a:solidFill>
                <a:latin typeface="맑은 고딕"/>
              </a:rPr>
              <a:t>•  실습 환경 : firewalld 패키지는 설치, 서비스는 비활성(unknown)</a:t>
            </a:r>
          </a:p>
          <a:p>
            <a:pPr algn="l">
              <a:spcAft>
                <a:spcPts val="1000"/>
              </a:spcAft>
            </a:pPr>
            <a:r>
              <a:rPr sz="1700" b="0">
                <a:solidFill>
                  <a:srgbClr val="222222"/>
                </a:solidFill>
                <a:latin typeface="맑은 고딕"/>
              </a:rPr>
              <a:t>•  설치 가이드 1장 Step 7의 "firewalld stop/disable"은 이 환경에서 무의미</a:t>
            </a:r>
          </a:p>
          <a:p>
            <a:pPr algn="l">
              <a:spcAft>
                <a:spcPts val="1000"/>
              </a:spcAft>
            </a:pPr>
            <a:r>
              <a:rPr sz="1700" b="0">
                <a:solidFill>
                  <a:srgbClr val="222222"/>
                </a:solidFill>
                <a:latin typeface="맑은 고딕"/>
              </a:rPr>
              <a:t>•  ss -lntp | grep 1521 → tnslsnr이 수신 중</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1521을 DROP하면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 TNS-12535</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iptables -I INPUT -p tcp --dport 1521 -j DROP</a:t>
            </a:r>
          </a:p>
          <a:p>
            <a:pPr algn="l">
              <a:spcAft>
                <a:spcPts val="1000"/>
              </a:spcAft>
            </a:pPr>
            <a:r>
              <a:rPr sz="1700" b="0">
                <a:solidFill>
                  <a:srgbClr val="222222"/>
                </a:solidFill>
                <a:latin typeface="맑은 고딕"/>
              </a:rPr>
              <a:t>•  tnsping boston → TNS-12535: TNS:operation timed out</a:t>
            </a:r>
          </a:p>
          <a:p>
            <a:pPr algn="l">
              <a:spcAft>
                <a:spcPts val="1000"/>
              </a:spcAft>
            </a:pPr>
            <a:r>
              <a:rPr sz="1700" b="0">
                <a:solidFill>
                  <a:srgbClr val="222222"/>
                </a:solidFill>
                <a:latin typeface="맑은 고딕"/>
              </a:rPr>
              <a:t>•  ★ 오류가 나기까지 시간이 걸렸다</a:t>
            </a:r>
          </a:p>
          <a:p>
            <a:pPr algn="l">
              <a:spcAft>
                <a:spcPts val="1000"/>
              </a:spcAft>
            </a:pPr>
            <a:r>
              <a:rPr sz="1700" b="0">
                <a:solidFill>
                  <a:srgbClr val="222222"/>
                </a:solidFill>
                <a:latin typeface="맑은 고딕"/>
              </a:rPr>
              <a:t>•  DROP은 응답을 보내지 않으므로 타임아웃을 기다려야 한다</a:t>
            </a:r>
          </a:p>
          <a:p>
            <a:pPr algn="l">
              <a:spcAft>
                <a:spcPts val="1000"/>
              </a:spcAft>
            </a:pPr>
            <a:r>
              <a:rPr sz="1700" b="0">
                <a:solidFill>
                  <a:srgbClr val="222222"/>
                </a:solidFill>
                <a:latin typeface="맑은 고딕"/>
              </a:rPr>
              <a:t>•  리스너 부재는 즉시 거부(ORA-12541) — 응답 속도가 진단 단서</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같은 ORA-16191, 다른 원인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가르는 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실습 05 (패스워드 없음) → ORA-16191</a:t>
            </a:r>
          </a:p>
          <a:p>
            <a:pPr algn="l">
              <a:spcAft>
                <a:spcPts val="1000"/>
              </a:spcAft>
            </a:pPr>
            <a:r>
              <a:rPr sz="1700" b="0">
                <a:solidFill>
                  <a:srgbClr val="222222"/>
                </a:solidFill>
                <a:latin typeface="맑은 고딕"/>
              </a:rPr>
              <a:t>•  실습 06 (방화벽 차단) → ORA-16191</a:t>
            </a:r>
          </a:p>
          <a:p>
            <a:pPr algn="l">
              <a:spcAft>
                <a:spcPts val="1000"/>
              </a:spcAft>
            </a:pPr>
            <a:r>
              <a:rPr sz="1700" b="0">
                <a:solidFill>
                  <a:srgbClr val="222222"/>
                </a:solidFill>
                <a:latin typeface="맑은 고딕"/>
              </a:rPr>
              <a:t>•  같은 번호인데 원인이 전혀 다르다</a:t>
            </a:r>
          </a:p>
          <a:p>
            <a:pPr algn="l">
              <a:spcAft>
                <a:spcPts val="1000"/>
              </a:spcAft>
            </a:pPr>
            <a:r>
              <a:rPr sz="1700" b="0">
                <a:solidFill>
                  <a:srgbClr val="222222"/>
                </a:solidFill>
                <a:latin typeface="맑은 고딕"/>
              </a:rPr>
              <a:t>•  가르는 법 : tnsping OK + ORA-16191 → 인증 / tnsping 실패 + ORA-16191 → 네트워크</a:t>
            </a:r>
          </a:p>
          <a:p>
            <a:pPr algn="l">
              <a:spcAft>
                <a:spcPts val="1000"/>
              </a:spcAft>
            </a:pPr>
            <a:r>
              <a:rPr sz="1700" b="0">
                <a:solidFill>
                  <a:srgbClr val="222222"/>
                </a:solidFill>
                <a:latin typeface="맑은 고딕"/>
              </a:rPr>
              <a:t>•  더 확실한 방법 : 수동 SYS 접속을 시도한다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계층 지도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 장에서 만난 것들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이름 해석 : TNS-03505 (별칭 없음)</a:t>
            </a:r>
          </a:p>
          <a:p>
            <a:pPr algn="l">
              <a:spcAft>
                <a:spcPts val="1000"/>
              </a:spcAft>
            </a:pPr>
            <a:r>
              <a:rPr sz="1700" b="0">
                <a:solidFill>
                  <a:srgbClr val="222222"/>
                </a:solidFill>
                <a:latin typeface="맑은 고딕"/>
              </a:rPr>
              <a:t>•  네트워크 : TNS-12535 (타임아웃/DROP) · ORA-12541 (리스너 없음/즉시)</a:t>
            </a:r>
          </a:p>
          <a:p>
            <a:pPr algn="l">
              <a:spcAft>
                <a:spcPts val="1000"/>
              </a:spcAft>
            </a:pPr>
            <a:r>
              <a:rPr sz="1700" b="0">
                <a:solidFill>
                  <a:srgbClr val="222222"/>
                </a:solidFill>
                <a:latin typeface="맑은 고딕"/>
              </a:rPr>
              <a:t>•  리스너 : ORA-12514 (서비스 모름) · ORA-12528 (BLOCKED)</a:t>
            </a:r>
          </a:p>
          <a:p>
            <a:pPr algn="l">
              <a:spcAft>
                <a:spcPts val="1000"/>
              </a:spcAft>
            </a:pPr>
            <a:r>
              <a:rPr sz="1700" b="0">
                <a:solidFill>
                  <a:srgbClr val="222222"/>
                </a:solidFill>
                <a:latin typeface="맑은 고딕"/>
              </a:rPr>
              <a:t>•  인스턴스 : ORA-01034 (인스턴스 없음)</a:t>
            </a:r>
          </a:p>
          <a:p>
            <a:pPr algn="l">
              <a:spcAft>
                <a:spcPts val="1000"/>
              </a:spcAft>
            </a:pPr>
            <a:r>
              <a:rPr sz="1700" b="0">
                <a:solidFill>
                  <a:srgbClr val="222222"/>
                </a:solidFill>
                <a:latin typeface="맑은 고딕"/>
              </a:rPr>
              <a:t>•  인증 : ORA-01017 (패스워드) · ORA-16191 (전송 로그온 실패)</a:t>
            </a:r>
          </a:p>
          <a:p>
            <a:pPr algn="l">
              <a:spcAft>
                <a:spcPts val="1000"/>
              </a:spcAft>
            </a:pPr>
            <a:r>
              <a:rPr sz="1700" b="0">
                <a:solidFill>
                  <a:srgbClr val="222222"/>
                </a:solidFill>
                <a:latin typeface="맑은 고딕"/>
              </a:rPr>
              <a:t>•  구성 : ORA-16053 (DG_CONFIG에 이름 없음)</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진단 순서 정리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세 도구로 여섯 계층</a:t>
            </a:r>
          </a:p>
          <a:p>
            <a:pPr algn="l">
              <a:spcAft>
                <a:spcPts val="800"/>
              </a:spcAft>
            </a:pPr>
            <a:r>
              <a:rPr sz="1600" b="0">
                <a:solidFill>
                  <a:srgbClr val="FFFFFF"/>
                </a:solidFill>
                <a:latin typeface="맑은 고딕"/>
              </a:rPr>
              <a:t>•  고친 뒤에는 상태를 되살린다</a:t>
            </a:r>
          </a:p>
          <a:p>
            <a:pPr algn="l">
              <a:spcAft>
                <a:spcPts val="800"/>
              </a:spcAft>
            </a:pPr>
            <a:r>
              <a:rPr sz="1600" b="0">
                <a:solidFill>
                  <a:srgbClr val="FFFFFF"/>
                </a:solidFill>
                <a:latin typeface="맑은 고딕"/>
              </a:rPr>
              <a:t>•  실제 흐름까지 확인해야 끝이다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표준 진단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도구로 여섯 계층</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tnsping — 이름 해석 · 네트워크 · 리스너 생존</a:t>
            </a:r>
          </a:p>
          <a:p>
            <a:pPr algn="l">
              <a:spcAft>
                <a:spcPts val="1000"/>
              </a:spcAft>
            </a:pPr>
            <a:r>
              <a:rPr sz="1700" b="0">
                <a:solidFill>
                  <a:srgbClr val="222222"/>
                </a:solidFill>
                <a:latin typeface="맑은 고딕"/>
              </a:rPr>
              <a:t>•  ② lsnrctl status (상대 노드) — 서비스 등록 · 인스턴스 status</a:t>
            </a:r>
          </a:p>
          <a:p>
            <a:pPr algn="l">
              <a:spcAft>
                <a:spcPts val="1000"/>
              </a:spcAft>
            </a:pPr>
            <a:r>
              <a:rPr sz="1700" b="0">
                <a:solidFill>
                  <a:srgbClr val="222222"/>
                </a:solidFill>
                <a:latin typeface="맑은 고딕"/>
              </a:rPr>
              <a:t>•  ③ sqlplus "sys/oracle@별칭 as sysdba" — 인스턴스 · 인증</a:t>
            </a:r>
          </a:p>
          <a:p>
            <a:pPr algn="l">
              <a:spcAft>
                <a:spcPts val="1000"/>
              </a:spcAft>
            </a:pPr>
            <a:r>
              <a:rPr sz="1700" b="0">
                <a:solidFill>
                  <a:srgbClr val="222222"/>
                </a:solidFill>
                <a:latin typeface="맑은 고딕"/>
              </a:rPr>
              <a:t>•  ④ LOG_ARCHIVE_CONFIG 확인 — 구성 선언</a:t>
            </a:r>
          </a:p>
          <a:p>
            <a:pPr algn="l">
              <a:spcAft>
                <a:spcPts val="1000"/>
              </a:spcAft>
            </a:pPr>
            <a:r>
              <a:rPr sz="1700" b="0">
                <a:solidFill>
                  <a:srgbClr val="222222"/>
                </a:solidFill>
                <a:latin typeface="맑은 고딕"/>
              </a:rPr>
              <a:t>•  ⑤ V$ARCHIVE_DEST / V$ARCHIVE_DEST_STATUS (2장)</a:t>
            </a:r>
          </a:p>
          <a:p>
            <a:pPr algn="l">
              <a:spcAft>
                <a:spcPts val="1000"/>
              </a:spcAft>
            </a:pPr>
            <a:r>
              <a:rPr sz="1700" b="0">
                <a:solidFill>
                  <a:srgbClr val="222222"/>
                </a:solidFill>
                <a:latin typeface="맑은 고딕"/>
              </a:rPr>
              <a:t>•  ⑥ 고쳤으면 DEFER → ENABLE → 로그 스위치</a:t>
            </a:r>
          </a:p>
          <a:p>
            <a:pPr algn="l">
              <a:spcAft>
                <a:spcPts val="1000"/>
              </a:spcAft>
            </a:pPr>
            <a:r>
              <a:rPr sz="1700" b="0">
                <a:solidFill>
                  <a:srgbClr val="222222"/>
                </a:solidFill>
                <a:latin typeface="맑은 고딕"/>
              </a:rPr>
              <a:t>•  ⑦ Standby 시퀀스 상승과 lag 0 확인 — 여기까지가 완료</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리스너 로그 활용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클라이언트가 실제로 보낸 이름을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위치 : $ORACLE_BASE/diag/tnslsnr/&lt;host&gt;/listener/alert/log.xml</a:t>
            </a:r>
          </a:p>
          <a:p>
            <a:pPr algn="l">
              <a:spcAft>
                <a:spcPts val="1000"/>
              </a:spcAft>
            </a:pPr>
            <a:r>
              <a:rPr sz="1700" b="0">
                <a:solidFill>
                  <a:srgbClr val="222222"/>
                </a:solidFill>
                <a:latin typeface="맑은 고딕"/>
              </a:rPr>
              <a:t>•  평문 : 같은 계층의 trace 디렉터리에 있는 listener.log</a:t>
            </a:r>
          </a:p>
          <a:p>
            <a:pPr algn="l">
              <a:spcAft>
                <a:spcPts val="1000"/>
              </a:spcAft>
            </a:pPr>
            <a:r>
              <a:rPr sz="1700" b="0">
                <a:solidFill>
                  <a:srgbClr val="222222"/>
                </a:solidFill>
                <a:latin typeface="맑은 고딕"/>
              </a:rPr>
              <a:t>•  기록되는 것 : 접속 요청 시각 · 요청한 SERVICE_NAME · 클라이언트 주소 · 처리 결과</a:t>
            </a:r>
          </a:p>
          <a:p>
            <a:pPr algn="l">
              <a:spcAft>
                <a:spcPts val="1000"/>
              </a:spcAft>
            </a:pPr>
            <a:r>
              <a:rPr sz="1700" b="0">
                <a:solidFill>
                  <a:srgbClr val="222222"/>
                </a:solidFill>
                <a:latin typeface="맑은 고딕"/>
              </a:rPr>
              <a:t>•  ORA-12514가 났을 때 오타인지 누락인지 구분하는 결정적 근거</a:t>
            </a:r>
          </a:p>
          <a:p>
            <a:pPr algn="l">
              <a:spcAft>
                <a:spcPts val="1000"/>
              </a:spcAft>
            </a:pPr>
            <a:r>
              <a:rPr sz="1700" b="0">
                <a:solidFill>
                  <a:srgbClr val="222222"/>
                </a:solidFill>
                <a:latin typeface="맑은 고딕"/>
              </a:rPr>
              <a:t>•  데이터베이스 알림 로그에는 NI connect error가 스택과 함께 남는다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구성 변경 후 반드시 할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다섯 단계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양쪽 노드에서 확인한다 — 한쪽만 고치는 것이 가장 흔한 실수</a:t>
            </a:r>
          </a:p>
          <a:p>
            <a:pPr algn="l">
              <a:spcAft>
                <a:spcPts val="1000"/>
              </a:spcAft>
            </a:pPr>
            <a:r>
              <a:rPr sz="1700" b="0">
                <a:solidFill>
                  <a:srgbClr val="222222"/>
                </a:solidFill>
                <a:latin typeface="맑은 고딕"/>
              </a:rPr>
              <a:t>•  ② 양방향 tnsping — FAL과 역할 전환 대비</a:t>
            </a:r>
          </a:p>
          <a:p>
            <a:pPr algn="l">
              <a:spcAft>
                <a:spcPts val="1000"/>
              </a:spcAft>
            </a:pPr>
            <a:r>
              <a:rPr sz="1700" b="0">
                <a:solidFill>
                  <a:srgbClr val="222222"/>
                </a:solidFill>
                <a:latin typeface="맑은 고딕"/>
              </a:rPr>
              <a:t>•  ③ 실제 SYS 접속 — tnsping이 통과해도 접속은 실패할 수 있다</a:t>
            </a:r>
          </a:p>
          <a:p>
            <a:pPr algn="l">
              <a:spcAft>
                <a:spcPts val="1000"/>
              </a:spcAft>
            </a:pPr>
            <a:r>
              <a:rPr sz="1700" b="0">
                <a:solidFill>
                  <a:srgbClr val="222222"/>
                </a:solidFill>
                <a:latin typeface="맑은 고딕"/>
              </a:rPr>
              <a:t>•  ④ 목적지 상태 회복 — DEFER → ENABLE → 로그 스위치</a:t>
            </a:r>
          </a:p>
          <a:p>
            <a:pPr algn="l">
              <a:spcAft>
                <a:spcPts val="1000"/>
              </a:spcAft>
            </a:pPr>
            <a:r>
              <a:rPr sz="1700" b="0">
                <a:solidFill>
                  <a:srgbClr val="222222"/>
                </a:solidFill>
                <a:latin typeface="맑은 고딕"/>
              </a:rPr>
              <a:t>•  ⑤ 실제 리두 흐름 확인 — RFS 시퀀스 상승, 두 lag 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Data Guard가 정적 등록을 요구하는 이유를 5장 RMAN DUPLICATE와 연결해 설명하라.</a:t>
            </a:r>
          </a:p>
          <a:p>
            <a:pPr algn="l">
              <a:spcAft>
                <a:spcPts val="1000"/>
              </a:spcAft>
            </a:pPr>
            <a:r>
              <a:rPr sz="1600" b="0">
                <a:solidFill>
                  <a:srgbClr val="222222"/>
                </a:solidFill>
                <a:latin typeface="맑은 고딕"/>
              </a:rPr>
              <a:t>•  Q2. lsnrctl status의 BLOCKED와 UNKNOWN은 각각 무엇을 뜻하며 접속 가능 여부는?</a:t>
            </a:r>
          </a:p>
          <a:p>
            <a:pPr algn="l">
              <a:spcAft>
                <a:spcPts val="1000"/>
              </a:spcAft>
            </a:pPr>
            <a:r>
              <a:rPr sz="1600" b="0">
                <a:solidFill>
                  <a:srgbClr val="222222"/>
                </a:solidFill>
                <a:latin typeface="맑은 고딕"/>
              </a:rPr>
              <a:t>•  Q3. ORA-12514와 ORA-12528의 차이는 무엇이며 각각의 조치는?</a:t>
            </a:r>
          </a:p>
          <a:p>
            <a:pPr algn="l">
              <a:spcAft>
                <a:spcPts val="1000"/>
              </a:spcAft>
            </a:pPr>
            <a:r>
              <a:rPr sz="1600" b="0">
                <a:solidFill>
                  <a:srgbClr val="222222"/>
                </a:solidFill>
                <a:latin typeface="맑은 고딕"/>
              </a:rPr>
              <a:t>•  Q4. tnsping이 OK인데 접속이 실패한다. 무엇을 의심해야 하는가? 세 가지를 들라.</a:t>
            </a:r>
          </a:p>
          <a:p>
            <a:pPr algn="l">
              <a:spcAft>
                <a:spcPts val="1000"/>
              </a:spcAft>
            </a:pPr>
            <a:r>
              <a:rPr sz="1600" b="0">
                <a:solidFill>
                  <a:srgbClr val="222222"/>
                </a:solidFill>
                <a:latin typeface="맑은 고딕"/>
              </a:rPr>
              <a:t>•  Q5. ORA-16191이 나타났다. 어느 계층이며, 원인을 고친 뒤에도 회복되지 않으면 무엇을 해야 하는가?</a:t>
            </a:r>
          </a:p>
          <a:p>
            <a:pPr algn="l">
              <a:spcAft>
                <a:spcPts val="1000"/>
              </a:spcAft>
            </a:pPr>
            <a:r>
              <a:rPr sz="1600" b="0">
                <a:solidFill>
                  <a:srgbClr val="222222"/>
                </a:solidFill>
                <a:latin typeface="맑은 고딕"/>
              </a:rPr>
              <a:t>•  Q6. 방화벽 DROP과 리스너 부재를 오류 번호와 응답 속도로 구분하는 방법은?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Data Guard는 NOMOUNT 원격 접속 · SYS 인증 · 구성원 선언 세 가지를 추가로 요구한다.</a:t>
            </a:r>
          </a:p>
          <a:p>
            <a:pPr algn="l">
              <a:spcAft>
                <a:spcPts val="1000"/>
              </a:spcAft>
            </a:pPr>
            <a:r>
              <a:rPr sz="1600" b="0">
                <a:solidFill>
                  <a:srgbClr val="222222"/>
                </a:solidFill>
                <a:latin typeface="맑은 고딕"/>
              </a:rPr>
              <a:t>•  tnsnames.ora는 양쪽에 같은 내용을 둔다. 역할 전환 이후 반대 방향 전송에 필요하다.</a:t>
            </a:r>
          </a:p>
          <a:p>
            <a:pPr algn="l">
              <a:spcAft>
                <a:spcPts val="1000"/>
              </a:spcAft>
            </a:pPr>
            <a:r>
              <a:rPr sz="1600" b="0">
                <a:solidFill>
                  <a:srgbClr val="222222"/>
                </a:solidFill>
                <a:latin typeface="맑은 고딕"/>
              </a:rPr>
              <a:t>•  tnsping은 이름 해석·네트워크·리스너 생존까지만 확인한다. 나머지는 실제 접속으로 본다.</a:t>
            </a:r>
          </a:p>
          <a:p>
            <a:pPr algn="l">
              <a:spcAft>
                <a:spcPts val="1000"/>
              </a:spcAft>
            </a:pPr>
            <a:r>
              <a:rPr sz="1600" b="0">
                <a:solidFill>
                  <a:srgbClr val="222222"/>
                </a:solidFill>
                <a:latin typeface="맑은 고딕"/>
              </a:rPr>
              <a:t>•  정적 등록이 필요한 이유는 NOMOUNT 인스턴스 접속이다. 실측: 제거 → ORA-12514, NOMOUNT → ORA-12528(BLOCKED), 복원 → UNKNOWN으로 접속 성공(STATUS=STARTED).</a:t>
            </a:r>
          </a:p>
          <a:p>
            <a:pPr algn="l">
              <a:spcAft>
                <a:spcPts val="1000"/>
              </a:spcAft>
            </a:pPr>
            <a:r>
              <a:rPr sz="1600" b="0">
                <a:solidFill>
                  <a:srgbClr val="222222"/>
                </a:solidFill>
                <a:latin typeface="맑은 고딕"/>
              </a:rPr>
              <a:t>•  READY(동적·OPEN) / BLOCKED(동적·NOMOUNT) / UNKNOWN(정적·상태 모름)을 구분한다.</a:t>
            </a:r>
          </a:p>
          <a:p>
            <a:pPr algn="l">
              <a:spcAft>
                <a:spcPts val="1000"/>
              </a:spcAft>
            </a:pPr>
            <a:r>
              <a:rPr sz="1600" b="0">
                <a:solidFill>
                  <a:srgbClr val="222222"/>
                </a:solidFill>
                <a:latin typeface="맑은 고딕"/>
              </a:rPr>
              <a:t>•  DG_CONFIG는 즉시 막는 스위치가 아니라 안전망이다. 비워도 당장은 돌아가지만 오배송을 막지 못한다.</a:t>
            </a:r>
          </a:p>
          <a:p>
            <a:pPr algn="l">
              <a:spcAft>
                <a:spcPts val="1000"/>
              </a:spcAft>
            </a:pPr>
            <a:r>
              <a:rPr sz="1600" b="0">
                <a:solidFill>
                  <a:srgbClr val="222222"/>
                </a:solidFill>
                <a:latin typeface="맑은 고딕"/>
              </a:rPr>
              <a:t>•  패스워드 파일은 이름은 달라도 내용이 같아야 한다. 불일치 시 ORA-01017 → ORA-16191.</a:t>
            </a:r>
          </a:p>
          <a:p>
            <a:pPr algn="l">
              <a:spcAft>
                <a:spcPts val="1000"/>
              </a:spcAft>
            </a:pPr>
            <a:r>
              <a:rPr sz="1600" b="0">
                <a:solidFill>
                  <a:srgbClr val="222222"/>
                </a:solidFill>
                <a:latin typeface="맑은 고딕"/>
              </a:rPr>
              <a:t>•  orapwd 재생성은 OPW-00029에 걸릴 수 있고, 그때 rm은 이미 성공한 뒤다. 백업이 필수다.</a:t>
            </a:r>
          </a:p>
          <a:p>
            <a:pPr algn="l">
              <a:spcAft>
                <a:spcPts val="1000"/>
              </a:spcAft>
            </a:pPr>
            <a:r>
              <a:rPr sz="1600" b="0">
                <a:solidFill>
                  <a:srgbClr val="222222"/>
                </a:solidFill>
                <a:latin typeface="맑은 고딕"/>
              </a:rPr>
              <a:t>•  원인을 제거해도 목적지가 ERROR로 굳어 있다. DEFER → ENABLE 해야 회복된다.</a:t>
            </a:r>
          </a:p>
          <a:p>
            <a:pPr algn="l">
              <a:spcAft>
                <a:spcPts val="1000"/>
              </a:spcAft>
            </a:pPr>
            <a:r>
              <a:rPr sz="1600" b="0">
                <a:solidFill>
                  <a:srgbClr val="222222"/>
                </a:solidFill>
                <a:latin typeface="맑은 고딕"/>
              </a:rPr>
              <a:t>•  오류 번호를 계층 지도로 정리하면 진단 순서가 저절로 정해진다.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실습 01 — tnsnames 구성과 검증: 네 별칭을 양방향으로 tnsping. 없는 별칭으로 TNS-03505 재현.</a:t>
            </a:r>
          </a:p>
          <a:p>
            <a:pPr algn="l">
              <a:spcAft>
                <a:spcPts val="1000"/>
              </a:spcAft>
            </a:pPr>
            <a:r>
              <a:rPr sz="1600" b="0">
                <a:solidFill>
                  <a:srgbClr val="222222"/>
                </a:solidFill>
                <a:latin typeface="맑은 고딕"/>
              </a:rPr>
              <a:t>•  실습 02 — listener.ora 정적 등록: SID_DESC 세 요소 확인, Services Summary와 status 읽기. ORA-01034 재현.</a:t>
            </a:r>
          </a:p>
          <a:p>
            <a:pPr algn="l">
              <a:spcAft>
                <a:spcPts val="1000"/>
              </a:spcAft>
            </a:pPr>
            <a:r>
              <a:rPr sz="1600" b="0">
                <a:solidFill>
                  <a:srgbClr val="222222"/>
                </a:solidFill>
                <a:latin typeface="맑은 고딕"/>
              </a:rPr>
              <a:t>•  실습 03 — 정적 등록 제거와 복원: ORA-12514 → ORA-12528(BLOCKED) → 복원 후 NOMOUNT 접속 성공.</a:t>
            </a:r>
          </a:p>
          <a:p>
            <a:pPr algn="l">
              <a:spcAft>
                <a:spcPts val="1000"/>
              </a:spcAft>
            </a:pPr>
            <a:r>
              <a:rPr sz="1600" b="0">
                <a:solidFill>
                  <a:srgbClr val="222222"/>
                </a:solidFill>
                <a:latin typeface="맑은 고딕"/>
              </a:rPr>
              <a:t>•  실습 04 — DG_CONFIG 설정과 누락: 비워도 전송이 계속되는 것을 확인하고, 그럼에도 비우면 안 되는 이유를 정리.</a:t>
            </a:r>
          </a:p>
          <a:p>
            <a:pPr algn="l">
              <a:spcAft>
                <a:spcPts val="1000"/>
              </a:spcAft>
            </a:pPr>
            <a:r>
              <a:rPr sz="1600" b="0">
                <a:solidFill>
                  <a:srgbClr val="222222"/>
                </a:solidFill>
                <a:latin typeface="맑은 고딕"/>
              </a:rPr>
              <a:t>•  실습 05 — 패스워드 파일 불일치: OPW-00029 → ORA-01017 → ORA-16191 → 복원 → DEFER/ENABLE.</a:t>
            </a:r>
          </a:p>
          <a:p>
            <a:pPr algn="l">
              <a:spcAft>
                <a:spcPts val="1000"/>
              </a:spcAft>
            </a:pPr>
            <a:r>
              <a:rPr sz="1600" b="0">
                <a:solidFill>
                  <a:srgbClr val="222222"/>
                </a:solidFill>
                <a:latin typeface="맑은 고딕"/>
              </a:rPr>
              <a:t>•  실습 06 — 포트 차단과 해소: iptables로 TNS-12535 재현, 규칙 제거 후 상태 회복. 계층 지도 완성.</a:t>
            </a:r>
          </a:p>
          <a:p>
            <a:pPr algn="l">
              <a:spcAft>
                <a:spcPts val="1000"/>
              </a:spcAft>
            </a:pPr>
            <a:r>
              <a:rPr sz="1600" b="0">
                <a:solidFill>
                  <a:srgbClr val="222222"/>
                </a:solidFill>
                <a:latin typeface="맑은 고딕"/>
              </a:rPr>
              <a:t>•  실습 03·05·06은 설정 파일과 방화벽을 실제로 건드린다. 각 실습 끝에서 반드시 원복한다.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
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파라미터의 특징은 여러 결정을 문자열 하나에 몰아넣었다는 점입니다. 그래서 읽기는 편하지만 실수하기도 쉽습니다. 특히 속성을 생략하면 조용히 기본값으로 되돌아간다는 점을 강조해 주십시오. SYNC만 쓰고 AFFIRM을 빠뜨리면 NOAFFIRM이 되어 보장 수준이 달라집니다. 전체 문자열을 항상 완전하게 적는 습관이 필요합니다. 또 하나, DB_UNIQUE_NAME 속성은 단순한 표기가 아니라 오배송 방지 장치입니다. 목적지 데이터베이스의 고유 이름이 다르면 오라클이 전송을 거부하므로, 여러 Standby를 운영할 때 리두가 엉뚱한 곳으로 가는 사고를 막아 줍니다.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진단할 때 파라미터 문자열을 보면 안 되는 이유가 여기 있습니다. 문자열은 사람이 쓴 것이고 뷰는 오라클이 해석한 결과입니다. 생략된 속성의 기본값까지 반영된 실제 적용값은 뷰에만 나타납니다. 실습 02에서 두 가지를 나란히 놓고 비교하며 각 속성이 어느 열로 가는지 직접 대응시킵니다. 한 가지 더 짚을 것은 로컬 목적지인 dest_1의 TRANSMIT_MODE가 SYNCHRONOUS로 표시된다는 점입니다. 원격 전송을 동기로 설정했다는 뜻이 아니라 로컬 디스크 기록이라 애초에 동기라는 의미이므로 혼동하지 않도록 미리 짚어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PARALLELSYNC라는 값이 낯설 수 있는데, 여러 동기 목적지가 있을 때 병렬로 전송한다는 뜻이며 동기 전송이 켜졌음을 나타냅니다. 실측에서 SYNC로 바꾼 직후 TT02와 TT04가 CLOSING으로 보였는데, 이는 전환 과정이지 오류가 아닙니다. ALTER SYSTEM ARCHIVE LOG CURRENT를 한 번 실행하면 전환이 빨리 매듭지어집니다.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2장에서 가장 실무적인 대목입니다. 오설정인데 아무것도 실패하지 않습니다. 명령은 성공하고, 목적지 상태는 VALID이며, 알림 로그에도 오류가 없습니다. 유일한 단서가 VALID_NOW 열입니다. "STATUS가 VALID"와 "VALID_NOW가 YES"는 서로 다른 질문에 답한다는 점을 반드시 짚어 주십시오. 양쪽 노드에 대칭적인 목적지 설정을 미리 넣어 두는 것이 표준적인 구성 방식입니다. 그래야 역할이 바뀌는 순간 별도 작업 없이 리두 방향이 뒤집힙니다.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NET_TIMEOUT이 실질적으로 결정하는 것은 "네트워크가 몇 초 흔들리면 서비스를 멈출 것인가"입니다. 이 시간이 지나면 Maximum Availability는 비동기화로 내려가고 Maximum Protection은 인스턴스를 종료합니다. 기본 30초가 짧다고 무작정 늘리면 그 시간만큼 커밋이 정지하므로, 회선 품질을 측정한 뒤 정해야 합니다. DELAY는 요즘 잘 쓰지 않습니다. 지연된 Standby는 최신 데이터를 보여 주지 못해 Active Data Guard의 실시간 조회와 목적이 충돌하기 때문이며, 같은 목적을 Flashback Database로 달성하는 편이 일반적입니다.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크기가 다르면 오라클이 오류를 내지 않고 그 SRL을 조용히 건너뜁니다. 그래서 "만들었는데 실시간 적용이 안 된다"는 증상으로 나타나며 원인을 찾기 어렵습니다. 실습 01에서 양쪽 SRL을 조회해 개수와 크기를 직접 확인합니다. Primary의 SRL이 전부 UNASSIGNED인 것도 함께 보면 왜 미리 만들어 두는지 이해가 빠릅니다. 개수 규칙의 근거도 함께 설명해 주십시오. 하나가 아카이브되는 동안 다른 하나가 계속 받아야 하므로 온라인 리두 그룹 수보다 최소 하나는 많아야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보호 모드가 관여하는 지점은 ②와 ⑤ 사이의 결합 여부 하나뿐입니다. Maximum Performance는 둘을 끊어 놓고, 나머지 두 모드는 묶습니다. 묶었을 때 ⑤가 오지 않으면 어떻게 할 것인가 — 그 답이 Availability와 Protection을 가릅니다. 그리고 ⑥은 전송과 독립이라 전송이 정상인데 적용만 밀릴 수 있습니다. 그래서 7장에서 transport lag와 apply lag를 나누어 봅니다. 두 지표가 각각 ③–⑤ 구간과 ⑥ 구간을 재기 때문에, 어느 쪽이 큰지에 따라 조치 방향이 완전히 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사실이 도입 판단의 핵심입니다. 커밋 조건이 같다는 것은 정상 운영 중에는 두 모드의 보호 수준이 똑같다는 뜻입니다. 차이는 오직 장애 상황에서만 드러납니다. 따라서 "무손실이 필요하다"는 요구는 대부분 Maximum Availability로 충족되고, Protection이 추가로 주는 것은 "어떤 경우에도 예외를 두지 않겠다"는 보장뿐입니다. 이 표를 외우기보다 '조건은 같고 행동만 다르다'는 한 문장으로 기억하게 하는 편이 오래갑니다. 나머지는 그 문장에서 따라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가장 중요한 원칙이 나오는 슬라이드입니다. 명령이 성공했다는 것은 설정이 받아들여졌다는 뜻이지 그 수준으로 운영된다는 뜻이 아닙니다. 이 구분을 놓치면 운영자는 무손실 구성이라 믿는데 실제로는 아닌 상태가 됩니다. 보호 모드를 바꿀 때마다 LEVEL을 확인하는 절차를 반드시 넣어야 합니다. 실습 05에서 이 상황을 두 가지 경로로 재현합니다. 하나는 요건을 갖추지 못한 설정 문제이고 다른 하나는 전송이 끊긴 장애인데, 두 열만 봐서는 구분되지 않는다는 점이 진단의 출발점이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모니터링을 설계할 때 이 구분이 그대로 쓰입니다. 순간값으로 경보를 걸면 로그 스위치마다 오탐이 납니다. "MISMATCH가 5분 이상 지속"처럼 지속 시간을 조건에 넣어야 합니다. 그리고 STATUS와 ERROR를 함께 수집해 두면 설정 문제인지 장애인지 자동으로 분류할 수 있습니다. 실습 05 마지막에 판정용 조회를 만들어 봅니다. CASE 문으로 OK와 MISMATCH를 내는 한 줄짜리 조회인데, 그대로 스케줄러에 걸어 두면 바로 모니터링이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오류 번호가 서로 다른 두 원인으로 발생합니다. 첫 번째는 중간 단계를 거치지 않았기 때문이고, 두 번째는 아직 동기화가 끝나지 않았기 때문입니다. 문면은 "마운트하라"지만 실제 원인은 요건 미충족입니다. 마운트가 통하는 이유는 그 상태에서 커밋이 없어 요건 검사가 느슨해지기 때문이며, 해결책이 아니라 우회로일 뿐입니다. 문서에도 이 두 번째 조건은 명시적으로 드러나지 않습니다. 실습에서 직접 부딪혀 알아낸 규칙이며, 이런 것이 실측으로 만든 교재의 값어치입니다.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03에서 이 순서를 그대로 밟습니다. ④를 건너뛰면 첫 번째 ORA-01126, ⑤를 건너뛰면 두 번째 ORA-01126이 납니다. 두 번 다 오류 번호가 같아서 문면만으로는 어느 단계를 놓쳤는지 알 수 없습니다. 순서를 절차로 만들어 두는 것이 시행착오를 줄이는 가장 확실한 방법입니다. 특히 ⑦을 강조해 주십시오. 명령이 성공했다는 것만 확인하고 넘어가면 실제로는 낮은 수준으로 운영되는 상태를 놓치게 됩니다. 확인까지가 작업입니다.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개입한 것은 Standby를 다시 켠 것뿐입니다. 나머지는 전부 자동입니다. 이것이 Maximum Availability가 "가용성을 해치지 않는 최고 수준의 보호"라 불리는 이유입니다. ORA-03113은 "연결이 끊겼다"는 뜻으로 네트워크 문제일 수도 인스턴스 다운일 수도 있으므로, Standby 쪽 상태를 확인해 구분해야 합니다. 유지보수 계획을 세울 때 이 실측이 근거가 됩니다. Availability 구성이라면 Standby를 계획적으로 내려도 서비스에 영향이 없고, 켜기만 하면 자동으로 회복된다는 것을 미리 확인해 둔 셈입니다.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거부는 오류가 아니라 보호 장치입니다. 운영 중이라면 이것이 정답입니다. 다만 유지보수 계획을 세울 때는 반드시 고려해야 합니다. Standby를 내리려면 보호 모드 하향이 선행되어야 하고, 그 사이에는 무손실 보장이 없습니다. Standby를 둘 이상 두면 이 문제가 사라진다는 점도 다중화의 실용적 이유입니다. ORA-01154의 문면은 'database busy'라 다른 원인을 의심하기 쉽습니다. Maximum Protection 구성에서 이 오류를 만나면 트랜잭션이 아니라 보호 모드를 먼저 의심해야 한다는 점을 기억하게 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알림 로그의 문장이 그대로 설명입니다. 모든 standby 목적지가 실패했고, primary를 보호하기 위해 인스턴스 종료가 필요하며, LGWR이 그것을 수행했습니다. 종료를 수행한 것이 PMON이나 SMON이 아니라 LGWR이라는 점이 의미심장합니다. 커밋을 책임지는 프로세스가 "더 이상 약속을 지킬 수 없다"고 판단한 것입니다. 실습 04에서 학습자가 직접 이 장면을 만들어 봅니다. Primary가 실제로 죽는 실습이라 처음에는 당황하지만, 설계된 동작임을 알고 나면 Maximum Protection의 성격이 확실히 각인됩니다.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Maximum Protection의 진짜 비용은 평소의 성능이 아니라 이 복구 시간입니다. 도입 검토에서 반드시 계산에 넣어야 할 항목입니다. 그리고 선택 B로 갔다면 그 순간부터 무손실 보장이 없다는 사실을 관계자에게 알리고 기록으로 남겨야 합니다. 장애 한복판에서 누가 이 결정을 내릴지도 미리 정해 두어야 합니다. 순서를 어기면 어떻게 되는지도 짚어 주십시오. 보호 모드를 낮추기 전에 OPEN을 시도하면 다시 막힙니다. MOUNT → 모드 하향 → OPEN이 정해진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AFFIRM을 쓰면 Standby의 SRL 디스크 기록까지 기다리므로 응답시간이 더 늘어납니다. NOAFFIRM은 메모리 수신 시점에 확인하므로 빠르지만 그만큼 보장이 약합니다. Maximum Protection과 Availability에서는 AFFIRM이 사실상 필수입니다. 원거리인데 무손실이 필요하다면 10장의 Far Sync가 답이 됩니다. 비동기의 잠재 손실량은 V$DATAGUARD_STATS의 transport lag로 가늠합니다. 이 값이 0에 가깝게 유지되면 실질 손실 위험도 작으므로, ASYNC라고 무조건 위험하다고 말할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정해 두면 진단이 빨라집니다. VALID_NOW가 YES가 아니면 설정 문제이므로 오류를 찾을 필요가 없습니다. DEFERRED와 DISABLED는 겉보기가 비슷하지만 원인이 정반대입니다. 전자는 LOG_ARCHIVE_DEST_STATE_n을 DEFER로 사람이 껐고, 후자는 재시도 한도를 넘겨 오라클이 껐습니다. 오류 번호로도 방향을 가를 수 있습니다. ORA-03113이면 연결 단절, ORA-12514면 리스너는 살아 있으나 서비스가 없음, ORA-01034면 인스턴스가 없음입니다. 3장에서 이 구분을 실습으로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가장 흔한 선택은 Maximum Availability입니다. 정상 운영 중에는 Protection과 똑같이 무손실이고 장애 시에만 판단이 갈리기 때문입니다. "평소에는 무손실, 장애 시에는 서비스 유지"라는 절충이 대부분의 요구 사항에 맞습니다. 모드를 정한 뒤에도 PROTECTION_LEVEL 확인을 자동화해 두는 것이 운영의 기본입니다. 표의 마지막 행이 10장으로 이어집니다. 원거리인데 무손실이 필요한 경우는 동기 전송의 왕복 시간이 감당되지 않으므로, 가까운 곳에 Far Sync 인스턴스를 두어 동기로 받고 그곳에서 원거리 Standby로 비동기 전달하는 구성을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항목이 실무에서 자주 빠집니다. 장애 한복판에서 "무손실을 포기하고 서비스를 살릴 것인가"를 결정할 권한이 누구에게 있는지 미리 정해 두지 않으면, 그 논의를 하는 동안 서비스가 계속 멈춰 있게 됩니다. 기술 준비만큼 의사결정 준비도 중요합니다. 다섯 번째 항목이 실무에서 자주 빠집니다. 장애 한복판에서 '무손실을 포기하고 서비스를 살릴 것인가'를 결정할 권한이 누구에게 있는지 미리 정해 두지 않으면, 그 논의를 하는 동안 서비스가 계속 멈춰 있게 됩니다. 기술 준비만큼 의사결정 준비도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ORA-01126을 만나며 시행착오로 알아낸 요건을, Broker는 VALIDATE DATABASE 명령 하나로 알려 줍니다. 편리하지만 그것만 쓰면 원리를 모르게 됩니다. SHOW CONFIGURATION이 경고를 띄웠을 때 그 뒤에 PROTECTION_LEVEL과 VALID_NOW가 있다는 것을 아는 사람과 모르는 사람의 진단 속도는 크게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유지보수로 Standby를 오래 내려야 할 때 이 파라미터를 DEFER로 두면 Primary가 실패한 목적지에 계속 재시도하지 않습니다. 알림 로그가 오류로 뒤덮이는 것을 막을 수 있고, 재시도 부담도 없어집니다. 작업이 끝나면 ENABLE로 되돌리는 것을 잊지 않아야 하며, 되돌리지 않아 리두가 몇 시간씩 안 가는 사고가 실제로 흔합니다. DEFERRED와 DISABLED를 구분해야 하는 이유이기도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압축은 만능이 아닙니다. CPU를 써서 대역폭을 아끼는 맞바꿈이므로, 대역폭이 넉넉하고 CPU가 빠듯한 환경에서는 오히려 손해입니다. 판단하려면 먼저 현재 리두 생성량과 회선 용량을 측정해야 합니다. 갭이 생겼을 때 밀린 아카이브를 한꺼번에 보내는 구간에서는 효과가 확실하므로, 상시 압축 대신 그런 상황에만 쓰는 구성도 검토할 만합니다. 커밋 경로가 바뀌었다는 점도 함께 짚어 주십시오. 비동기에서는 LGWR이 전송에 관여하지 않았지만, 동기에서는 LGWR이 NSSn의 응답을 기다린 뒤에야 커밋을 완료합니다. 이 한 줄의 차이가 커밋 응답시간에 네트워크 왕복을 더하는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습관이 사실은 하나의 원칙입니다. 설정한 것과 실제로 동작하는 것이 다를 수 있다는 것입니다. 파라미터에 SYNC라고 써 있어도 실제로는 아닐 수 있고, 명령이 성공해도 그 수준으로 운영되지 않을 수 있으며, 오류 메시지가 말하는 원인이 진짜 원인이 아닐 수 있습니다. Data Guard 운영에서 이 회의적 태도가 진단 속도를 결정합니다. 커밋 경로가 바뀌었다는 점도 함께 짚어 주십시오. 비동기에서는 LGWR이 전송에 관여하지 않았지만, 동기에서는 LGWR이 NSSn의 응답을 기다린 뒤에야 커밋을 완료합니다. 이 한 줄의 차이가 커밋 응답시간에 네트워크 왕복을 더하는 이유입니다.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데이터 보호 모드와 리두 전송 서비스</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Data Protection Modes and Redo Transport — 리두를 어떻게 보낼 것인가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SYNC/ASYNC · AFFIRM · VALID_FOR · 세 가지 보호 모드 · Maximum Protection의 위험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세 가지 보호 모드의 커밋 조건과 장애 시 동작을 구분하고, 전환에 필요한 요건을 말한다.</a:t>
            </a:r>
          </a:p>
          <a:p>
            <a:pPr algn="l">
              <a:spcAft>
                <a:spcPts val="1000"/>
              </a:spcAft>
            </a:pPr>
            <a:r>
              <a:rPr sz="1600" b="0">
                <a:solidFill>
                  <a:srgbClr val="222222"/>
                </a:solidFill>
                <a:latin typeface="맑은 고딕"/>
              </a:rPr>
              <a:t>•  LOG_ARCHIVE_DEST_n의 주요 속성을 해석하고 V$ARCHIVE_DEST의 어느 열로 나타나는지 대응시킨다.</a:t>
            </a:r>
          </a:p>
          <a:p>
            <a:pPr algn="l">
              <a:spcAft>
                <a:spcPts val="1000"/>
              </a:spcAft>
            </a:pPr>
            <a:r>
              <a:rPr sz="1600" b="0">
                <a:solidFill>
                  <a:srgbClr val="222222"/>
                </a:solidFill>
                <a:latin typeface="맑은 고딕"/>
              </a:rPr>
              <a:t>•  PROTECTION_MODE와 PROTECTION_LEVEL의 차이를 설명하고 어긋난 상태를 재현·해소한다.</a:t>
            </a:r>
          </a:p>
          <a:p>
            <a:pPr algn="l">
              <a:spcAft>
                <a:spcPts val="1000"/>
              </a:spcAft>
            </a:pPr>
            <a:r>
              <a:rPr sz="1600" b="0">
                <a:solidFill>
                  <a:srgbClr val="222222"/>
                </a:solidFill>
                <a:latin typeface="맑은 고딕"/>
              </a:rPr>
              <a:t>•  보호 모드 전환이 거부되는 조건을 알고 오류 메시지에서 실제 원인을 읽어 낸다.</a:t>
            </a:r>
          </a:p>
          <a:p>
            <a:pPr algn="l">
              <a:spcAft>
                <a:spcPts val="1000"/>
              </a:spcAft>
            </a:pPr>
            <a:r>
              <a:rPr sz="1600" b="0">
                <a:solidFill>
                  <a:srgbClr val="222222"/>
                </a:solidFill>
                <a:latin typeface="맑은 고딕"/>
              </a:rPr>
              <a:t>•  동기 전송의 NSSn과 비동기 전송의 TTnn을 구분해 확인한다.</a:t>
            </a:r>
          </a:p>
          <a:p>
            <a:pPr algn="l">
              <a:spcAft>
                <a:spcPts val="1000"/>
              </a:spcAft>
            </a:pPr>
            <a:r>
              <a:rPr sz="1600" b="0">
                <a:solidFill>
                  <a:srgbClr val="222222"/>
                </a:solidFill>
                <a:latin typeface="맑은 고딕"/>
              </a:rPr>
              <a:t>•  Maximum Protection의 위험을 실증으로 이해하고 도입 판단 근거를 댄다.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2.2  리두 전송 서비스의 구조</a:t>
            </a:r>
          </a:p>
          <a:p>
            <a:pPr algn="l">
              <a:spcAft>
                <a:spcPts val="1000"/>
              </a:spcAft>
            </a:pPr>
            <a:r>
              <a:rPr sz="1600" b="0">
                <a:solidFill>
                  <a:srgbClr val="222222"/>
                </a:solidFill>
                <a:latin typeface="맑은 고딕"/>
              </a:rPr>
              <a:t>•  2.3  세 가지 데이터 보호 모드</a:t>
            </a:r>
          </a:p>
          <a:p>
            <a:pPr algn="l">
              <a:spcAft>
                <a:spcPts val="1000"/>
              </a:spcAft>
            </a:pPr>
            <a:r>
              <a:rPr sz="1600" b="0">
                <a:solidFill>
                  <a:srgbClr val="222222"/>
                </a:solidFill>
                <a:latin typeface="맑은 고딕"/>
              </a:rPr>
              <a:t>•  2.4  Standby를 잃었을 때 각 모드는 어떻게 다른가</a:t>
            </a:r>
          </a:p>
          <a:p>
            <a:pPr algn="l">
              <a:spcAft>
                <a:spcPts val="1000"/>
              </a:spcAft>
            </a:pPr>
            <a:r>
              <a:rPr sz="1600" b="0">
                <a:solidFill>
                  <a:srgbClr val="222222"/>
                </a:solidFill>
                <a:latin typeface="맑은 고딕"/>
              </a:rPr>
              <a:t>•  2.5  전송 방식과 성능의 맞바꿈</a:t>
            </a:r>
          </a:p>
          <a:p>
            <a:pPr algn="l">
              <a:spcAft>
                <a:spcPts val="1000"/>
              </a:spcAft>
            </a:pPr>
            <a:r>
              <a:rPr sz="1600" b="0">
                <a:solidFill>
                  <a:srgbClr val="222222"/>
                </a:solidFill>
                <a:latin typeface="맑은 고딕"/>
              </a:rPr>
              <a:t>•  2.6  어떤 모드를 고를 것인가</a:t>
            </a:r>
          </a:p>
          <a:p>
            <a:pPr algn="l">
              <a:spcAft>
                <a:spcPts val="1000"/>
              </a:spcAft>
            </a:pPr>
            <a:r>
              <a:rPr sz="1600" b="0">
                <a:solidFill>
                  <a:srgbClr val="222222"/>
                </a:solidFill>
                <a:latin typeface="맑은 고딕"/>
              </a:rPr>
              <a:t>•  2.7  Broker를 쓸 때의 차이 (예고)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리두 전송 서비스의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LOG_ARCHIVE_DEST_n 하나에 속성을 나열한다</a:t>
            </a:r>
          </a:p>
          <a:p>
            <a:pPr algn="l">
              <a:spcAft>
                <a:spcPts val="800"/>
              </a:spcAft>
            </a:pPr>
            <a:r>
              <a:rPr sz="1600" b="0">
                <a:solidFill>
                  <a:srgbClr val="FFFFFF"/>
                </a:solidFill>
                <a:latin typeface="맑은 고딕"/>
              </a:rPr>
              <a:t>•  파라미터가 아니라 V$ARCHIVE_DEST 로 확인한다</a:t>
            </a:r>
          </a:p>
          <a:p>
            <a:pPr algn="l">
              <a:spcAft>
                <a:spcPts val="800"/>
              </a:spcAft>
            </a:pPr>
            <a:r>
              <a:rPr sz="1600" b="0">
                <a:solidFill>
                  <a:srgbClr val="FFFFFF"/>
                </a:solidFill>
                <a:latin typeface="맑은 고딕"/>
              </a:rPr>
              <a:t>•  동기와 비동기는 담당 프로세스가 다르다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LOG_ARCHIVE_DEST_n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줄에 담긴 네 가지 결정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service=boston — 리두를 보낼 대상. tnsnames.ora의 넷 서비스 이름</a:t>
            </a:r>
          </a:p>
          <a:p>
            <a:pPr algn="l">
              <a:spcAft>
                <a:spcPts val="1000"/>
              </a:spcAft>
            </a:pPr>
            <a:r>
              <a:rPr sz="1700" b="0">
                <a:solidFill>
                  <a:srgbClr val="222222"/>
                </a:solidFill>
                <a:latin typeface="맑은 고딕"/>
              </a:rPr>
              <a:t>•  async / sync — 전송 방식. 커밋을 기다리는지 여부</a:t>
            </a:r>
          </a:p>
          <a:p>
            <a:pPr algn="l">
              <a:spcAft>
                <a:spcPts val="1000"/>
              </a:spcAft>
            </a:pPr>
            <a:r>
              <a:rPr sz="1700" b="0">
                <a:solidFill>
                  <a:srgbClr val="222222"/>
                </a:solidFill>
                <a:latin typeface="맑은 고딕"/>
              </a:rPr>
              <a:t>•  valid_for=(로그유형, 역할) — 언제 이 목적지를 쓸 것인가</a:t>
            </a:r>
          </a:p>
          <a:p>
            <a:pPr algn="l">
              <a:spcAft>
                <a:spcPts val="1000"/>
              </a:spcAft>
            </a:pPr>
            <a:r>
              <a:rPr sz="1700" b="0">
                <a:solidFill>
                  <a:srgbClr val="222222"/>
                </a:solidFill>
                <a:latin typeface="맑은 고딕"/>
              </a:rPr>
              <a:t>•  db_unique_name=boston — 오배송을 막는 검증용</a:t>
            </a:r>
          </a:p>
          <a:p>
            <a:pPr algn="l">
              <a:spcAft>
                <a:spcPts val="1000"/>
              </a:spcAft>
            </a:pPr>
            <a:r>
              <a:rPr sz="1700" b="0">
                <a:solidFill>
                  <a:srgbClr val="222222"/>
                </a:solidFill>
                <a:latin typeface="맑은 고딕"/>
              </a:rPr>
              <a:t>•  목적지는 최대 31개. 하나는 로컬 아카이브가 쓰므로 원격용 30개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V$ARCHIVE_DEST 로 확인한다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파라미터는 사람의 표현, 뷰는 오라클의 해석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DESTINATION — service 속성의 값</a:t>
            </a:r>
          </a:p>
          <a:p>
            <a:pPr algn="l">
              <a:spcAft>
                <a:spcPts val="1000"/>
              </a:spcAft>
            </a:pPr>
            <a:r>
              <a:rPr sz="1700" b="0">
                <a:solidFill>
                  <a:srgbClr val="222222"/>
                </a:solidFill>
                <a:latin typeface="맑은 고딕"/>
              </a:rPr>
              <a:t>•  TRANSMIT_MODE — ASYNCHRONOUS / PARALLELSYNC(동기)</a:t>
            </a:r>
          </a:p>
          <a:p>
            <a:pPr algn="l">
              <a:spcAft>
                <a:spcPts val="1000"/>
              </a:spcAft>
            </a:pPr>
            <a:r>
              <a:rPr sz="1700" b="0">
                <a:solidFill>
                  <a:srgbClr val="222222"/>
                </a:solidFill>
                <a:latin typeface="맑은 고딕"/>
              </a:rPr>
              <a:t>•  AFFIRM — YES / NO</a:t>
            </a:r>
          </a:p>
          <a:p>
            <a:pPr algn="l">
              <a:spcAft>
                <a:spcPts val="1000"/>
              </a:spcAft>
            </a:pPr>
            <a:r>
              <a:rPr sz="1700" b="0">
                <a:solidFill>
                  <a:srgbClr val="222222"/>
                </a:solidFill>
                <a:latin typeface="맑은 고딕"/>
              </a:rPr>
              <a:t>•  VALID_TYPE, VALID_ROLE — valid_for의 두 값이 나뉘어 들어간다</a:t>
            </a:r>
          </a:p>
          <a:p>
            <a:pPr algn="l">
              <a:spcAft>
                <a:spcPts val="1000"/>
              </a:spcAft>
            </a:pPr>
            <a:r>
              <a:rPr sz="1700" b="0">
                <a:solidFill>
                  <a:srgbClr val="222222"/>
                </a:solidFill>
                <a:latin typeface="맑은 고딕"/>
              </a:rPr>
              <a:t>•  VALID_NOW — 지금 이 목적지를 실제로 쓰는가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SYNC로 바꾸면 무엇이 달라지는가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SYSTEM SET log_archive_dest_2 = '... SYNC AFFIRM ...'</a:t>
            </a:r>
          </a:p>
          <a:p>
            <a:pPr algn="l">
              <a:spcAft>
                <a:spcPts val="1000"/>
              </a:spcAft>
            </a:pPr>
            <a:r>
              <a:rPr sz="1700" b="0">
                <a:solidFill>
                  <a:srgbClr val="222222"/>
                </a:solidFill>
                <a:latin typeface="맑은 고딕"/>
              </a:rPr>
              <a:t>•  TRANSMIT_MODE : ASYNCHRONOUS → PARALLELSYNC</a:t>
            </a:r>
          </a:p>
          <a:p>
            <a:pPr algn="l">
              <a:spcAft>
                <a:spcPts val="1000"/>
              </a:spcAft>
            </a:pPr>
            <a:r>
              <a:rPr sz="1700" b="0">
                <a:solidFill>
                  <a:srgbClr val="222222"/>
                </a:solidFill>
                <a:latin typeface="맑은 고딕"/>
              </a:rPr>
              <a:t>•  AFFIRM : NO → YES</a:t>
            </a:r>
          </a:p>
          <a:p>
            <a:pPr algn="l">
              <a:spcAft>
                <a:spcPts val="1000"/>
              </a:spcAft>
            </a:pPr>
            <a:r>
              <a:rPr sz="1700" b="0">
                <a:solidFill>
                  <a:srgbClr val="222222"/>
                </a:solidFill>
                <a:latin typeface="맑은 고딕"/>
              </a:rPr>
              <a:t>•  프로세스 : NSS2 'sync' 등장, TT02·TT04 'async ORL' 은 CLOSING</a:t>
            </a:r>
          </a:p>
          <a:p>
            <a:pPr algn="l">
              <a:spcAft>
                <a:spcPts val="1000"/>
              </a:spcAft>
            </a:pPr>
            <a:r>
              <a:rPr sz="1700" b="0">
                <a:solidFill>
                  <a:srgbClr val="222222"/>
                </a:solidFill>
                <a:latin typeface="맑은 고딕"/>
              </a:rPr>
              <a:t>•  커밋 경로 : LGWR → NSS2 → 네트워크 → RFS → SRL 기록 → 확인 → 커밋 완료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VALID_FOR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조용한 함정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앞은 로그 유형, 뒤는 데이터베이스 역할</a:t>
            </a:r>
          </a:p>
          <a:p>
            <a:pPr algn="l">
              <a:spcAft>
                <a:spcPts val="1000"/>
              </a:spcAft>
            </a:pPr>
            <a:r>
              <a:rPr sz="1700" b="0">
                <a:solidFill>
                  <a:srgbClr val="222222"/>
                </a:solidFill>
                <a:latin typeface="맑은 고딕"/>
              </a:rPr>
              <a:t>•  "이 DB가 뒤의 역할일 때 앞의 로그를 이 목적지로 보낸다"</a:t>
            </a:r>
          </a:p>
          <a:p>
            <a:pPr algn="l">
              <a:spcAft>
                <a:spcPts val="1000"/>
              </a:spcAft>
            </a:pPr>
            <a:r>
              <a:rPr sz="1700" b="0">
                <a:solidFill>
                  <a:srgbClr val="222222"/>
                </a:solidFill>
                <a:latin typeface="맑은 고딕"/>
              </a:rPr>
              <a:t>•  역할 전환 시 목적지가 자동으로 켜지고 꺼지도록 하는 장치</a:t>
            </a:r>
          </a:p>
          <a:p>
            <a:pPr algn="l">
              <a:spcAft>
                <a:spcPts val="1000"/>
              </a:spcAft>
            </a:pPr>
            <a:r>
              <a:rPr sz="1700" b="0">
                <a:solidFill>
                  <a:srgbClr val="222222"/>
                </a:solidFill>
                <a:latin typeface="맑은 고딕"/>
              </a:rPr>
              <a:t>•  실측: primary인데 standby_role로 지정 → VALID_NOW = WRONG VALID_ROLE</a:t>
            </a:r>
          </a:p>
          <a:p>
            <a:pPr algn="l">
              <a:spcAft>
                <a:spcPts val="1000"/>
              </a:spcAft>
            </a:pPr>
            <a:r>
              <a:rPr sz="1700" b="0">
                <a:solidFill>
                  <a:srgbClr val="222222"/>
                </a:solidFill>
                <a:latin typeface="맑은 고딕"/>
              </a:rPr>
              <a:t>•  ALTER SYSTEM은 성공, STATUS는 VALID, ERROR도 없음 — 그런데 전송만 멈춘다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 밖의 주요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남의 설정을 읽을 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NET_TIMEOUT=n — 동기 전송에서 응답을 기다리는 최대 초 (기본 30)</a:t>
            </a:r>
          </a:p>
          <a:p>
            <a:pPr algn="l">
              <a:spcAft>
                <a:spcPts val="1000"/>
              </a:spcAft>
            </a:pPr>
            <a:r>
              <a:rPr sz="1700" b="0">
                <a:solidFill>
                  <a:srgbClr val="222222"/>
                </a:solidFill>
                <a:latin typeface="맑은 고딕"/>
              </a:rPr>
              <a:t>•  REOPEN=n — 실패한 목적지를 다시 열기까지 대기 초 (기본 300)</a:t>
            </a:r>
          </a:p>
          <a:p>
            <a:pPr algn="l">
              <a:spcAft>
                <a:spcPts val="1000"/>
              </a:spcAft>
            </a:pPr>
            <a:r>
              <a:rPr sz="1700" b="0">
                <a:solidFill>
                  <a:srgbClr val="222222"/>
                </a:solidFill>
                <a:latin typeface="맑은 고딕"/>
              </a:rPr>
              <a:t>•  MAX_FAILURE=n — 연속 실패 재시도 한도</a:t>
            </a:r>
          </a:p>
          <a:p>
            <a:pPr algn="l">
              <a:spcAft>
                <a:spcPts val="1000"/>
              </a:spcAft>
            </a:pPr>
            <a:r>
              <a:rPr sz="1700" b="0">
                <a:solidFill>
                  <a:srgbClr val="222222"/>
                </a:solidFill>
                <a:latin typeface="맑은 고딕"/>
              </a:rPr>
              <a:t>•  COMPRESSION=ENABLE — 리두 압축 (Advanced Compression 옵션)</a:t>
            </a:r>
          </a:p>
          <a:p>
            <a:pPr algn="l">
              <a:spcAft>
                <a:spcPts val="1000"/>
              </a:spcAft>
            </a:pPr>
            <a:r>
              <a:rPr sz="1700" b="0">
                <a:solidFill>
                  <a:srgbClr val="222222"/>
                </a:solidFill>
                <a:latin typeface="맑은 고딕"/>
              </a:rPr>
              <a:t>•  ALTERNATE — 실패 시 대신 쓸 목적지</a:t>
            </a:r>
          </a:p>
          <a:p>
            <a:pPr algn="l">
              <a:spcAft>
                <a:spcPts val="1000"/>
              </a:spcAft>
            </a:pPr>
            <a:r>
              <a:rPr sz="1700" b="0">
                <a:solidFill>
                  <a:srgbClr val="222222"/>
                </a:solidFill>
                <a:latin typeface="맑은 고딕"/>
              </a:rPr>
              <a:t>•  DELAY=n — Standby 적용을 n분 지연 (ADG 실시간 조회와 상충)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 Redo Log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동기 전송의 전제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RFS가 받은 리두를 즉시 쓸 곳이 필요하다</a:t>
            </a:r>
          </a:p>
          <a:p>
            <a:pPr algn="l">
              <a:spcAft>
                <a:spcPts val="1000"/>
              </a:spcAft>
            </a:pPr>
            <a:r>
              <a:rPr sz="1700" b="0">
                <a:solidFill>
                  <a:srgbClr val="222222"/>
                </a:solidFill>
                <a:latin typeface="맑은 고딕"/>
              </a:rPr>
              <a:t>•  SRL이 없으면 아카이브 완료 뒤에야 전송 → 지연 상존</a:t>
            </a:r>
          </a:p>
          <a:p>
            <a:pPr algn="l">
              <a:spcAft>
                <a:spcPts val="1000"/>
              </a:spcAft>
            </a:pPr>
            <a:r>
              <a:rPr sz="1700" b="0">
                <a:solidFill>
                  <a:srgbClr val="222222"/>
                </a:solidFill>
                <a:latin typeface="맑은 고딕"/>
              </a:rPr>
              <a:t>•  개수 : 온라인 리두 그룹 수 + 1 이상 (실습 환경 3 + 1 = 4)</a:t>
            </a:r>
          </a:p>
          <a:p>
            <a:pPr algn="l">
              <a:spcAft>
                <a:spcPts val="1000"/>
              </a:spcAft>
            </a:pPr>
            <a:r>
              <a:rPr sz="1700" b="0">
                <a:solidFill>
                  <a:srgbClr val="222222"/>
                </a:solidFill>
                <a:latin typeface="맑은 고딕"/>
              </a:rPr>
              <a:t>•  크기 : 온라인 리두와 정확히 같아야 (실습 환경 200MB)</a:t>
            </a:r>
          </a:p>
          <a:p>
            <a:pPr algn="l">
              <a:spcAft>
                <a:spcPts val="1000"/>
              </a:spcAft>
            </a:pPr>
            <a:r>
              <a:rPr sz="1700" b="0">
                <a:solidFill>
                  <a:srgbClr val="222222"/>
                </a:solidFill>
                <a:latin typeface="맑은 고딕"/>
              </a:rPr>
              <a:t>•  Primary에도 만들어 둔다 — 역할 전환 직후에 필요해진다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 한 건이 Standby에 닿기까지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여섯 단계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리두 생성 — 리두 로그 버퍼에 쌓인다</a:t>
            </a:r>
          </a:p>
          <a:p>
            <a:pPr algn="l">
              <a:spcAft>
                <a:spcPts val="1000"/>
              </a:spcAft>
            </a:pPr>
            <a:r>
              <a:rPr sz="1700" b="0">
                <a:solidFill>
                  <a:srgbClr val="222222"/>
                </a:solidFill>
                <a:latin typeface="맑은 고딕"/>
              </a:rPr>
              <a:t>•  ② 커밋 요청 — LGWR이 온라인 리두 로그에 기록 (Performance는 여기서 완료)</a:t>
            </a:r>
          </a:p>
          <a:p>
            <a:pPr algn="l">
              <a:spcAft>
                <a:spcPts val="1000"/>
              </a:spcAft>
            </a:pPr>
            <a:r>
              <a:rPr sz="1700" b="0">
                <a:solidFill>
                  <a:srgbClr val="222222"/>
                </a:solidFill>
                <a:latin typeface="맑은 고딕"/>
              </a:rPr>
              <a:t>•  ③ 원격 전송 — 동기는 NSSn, 비동기는 TTnn</a:t>
            </a:r>
          </a:p>
          <a:p>
            <a:pPr algn="l">
              <a:spcAft>
                <a:spcPts val="1000"/>
              </a:spcAft>
            </a:pPr>
            <a:r>
              <a:rPr sz="1700" b="0">
                <a:solidFill>
                  <a:srgbClr val="222222"/>
                </a:solidFill>
                <a:latin typeface="맑은 고딕"/>
              </a:rPr>
              <a:t>•  ④ 수신 — Standby의 RFS가 받아 SRL에 기록</a:t>
            </a:r>
          </a:p>
          <a:p>
            <a:pPr algn="l">
              <a:spcAft>
                <a:spcPts val="1000"/>
              </a:spcAft>
            </a:pPr>
            <a:r>
              <a:rPr sz="1700" b="0">
                <a:solidFill>
                  <a:srgbClr val="222222"/>
                </a:solidFill>
                <a:latin typeface="맑은 고딕"/>
              </a:rPr>
              <a:t>•  ⑤ 확인 응답 — AFFIRM이면 디스크 기록 후, NOAFFIRM이면 메모리 수신 시</a:t>
            </a:r>
          </a:p>
          <a:p>
            <a:pPr algn="l">
              <a:spcAft>
                <a:spcPts val="1000"/>
              </a:spcAft>
            </a:pPr>
            <a:r>
              <a:rPr sz="1700" b="0">
                <a:solidFill>
                  <a:srgbClr val="222222"/>
                </a:solidFill>
                <a:latin typeface="맑은 고딕"/>
              </a:rPr>
              <a:t>•  ⑥ 적용 — MRP가 SRL을 읽어 데이터 파일에 적용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세 가지 데이터 보호 모드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Protection · Availability · Performance</a:t>
            </a:r>
          </a:p>
          <a:p>
            <a:pPr algn="l">
              <a:spcAft>
                <a:spcPts val="800"/>
              </a:spcAft>
            </a:pPr>
            <a:r>
              <a:rPr sz="1600" b="0">
                <a:solidFill>
                  <a:srgbClr val="FFFFFF"/>
                </a:solidFill>
                <a:latin typeface="맑은 고딕"/>
              </a:rPr>
              <a:t>•  커밋 조건과 장애 시 행동</a:t>
            </a:r>
          </a:p>
          <a:p>
            <a:pPr algn="l">
              <a:spcAft>
                <a:spcPts val="800"/>
              </a:spcAft>
            </a:pPr>
            <a:r>
              <a:rPr sz="1600" b="0">
                <a:solidFill>
                  <a:srgbClr val="FFFFFF"/>
                </a:solidFill>
                <a:latin typeface="맑은 고딕"/>
              </a:rPr>
              <a:t>•  MODE 와 LEVEL 은 다른 값이다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모드의 커밋 조건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Protection과 Availability는 조건이 같다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Maximum Protection : 로컬 + 최소 1대 SRL 기록 후 커밋 / 상실 시 인스턴스 종료</a:t>
            </a:r>
          </a:p>
          <a:p>
            <a:pPr algn="l">
              <a:spcAft>
                <a:spcPts val="1000"/>
              </a:spcAft>
            </a:pPr>
            <a:r>
              <a:rPr sz="1700" b="0">
                <a:solidFill>
                  <a:srgbClr val="222222"/>
                </a:solidFill>
                <a:latin typeface="맑은 고딕"/>
              </a:rPr>
              <a:t>•  Maximum Availability : 커밋 조건 동일 / 상실 시 비동기화로 계속 운영 후 자동 복귀</a:t>
            </a:r>
          </a:p>
          <a:p>
            <a:pPr algn="l">
              <a:spcAft>
                <a:spcPts val="1000"/>
              </a:spcAft>
            </a:pPr>
            <a:r>
              <a:rPr sz="1700" b="0">
                <a:solidFill>
                  <a:srgbClr val="222222"/>
                </a:solidFill>
                <a:latin typeface="맑은 고딕"/>
              </a:rPr>
              <a:t>•  Maximum Performance : 로컬 기록만으로 커밋 / 상실해도 영향 없음 (기본값)</a:t>
            </a:r>
          </a:p>
          <a:p>
            <a:pPr algn="l">
              <a:spcAft>
                <a:spcPts val="1000"/>
              </a:spcAft>
            </a:pPr>
            <a:r>
              <a:rPr sz="1700" b="0">
                <a:solidFill>
                  <a:srgbClr val="222222"/>
                </a:solidFill>
                <a:latin typeface="맑은 고딕"/>
              </a:rPr>
              <a:t>•  앞의 두 모드는 정상 운영 중 보호 수준이 동일하다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PROTECTION_MODE vs PROTECTION_LEVEL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 성공 ≠ 수준 달성</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PROTECTION_MODE : 설정한 모드. "이렇게 운영하겠다"</a:t>
            </a:r>
          </a:p>
          <a:p>
            <a:pPr algn="l">
              <a:spcAft>
                <a:spcPts val="1000"/>
              </a:spcAft>
            </a:pPr>
            <a:r>
              <a:rPr sz="1700" b="0">
                <a:solidFill>
                  <a:srgbClr val="222222"/>
                </a:solidFill>
                <a:latin typeface="맑은 고딕"/>
              </a:rPr>
              <a:t>•  PROTECTION_LEVEL : 달성 중인 수준. "실제로는 이렇다"</a:t>
            </a:r>
          </a:p>
          <a:p>
            <a:pPr algn="l">
              <a:spcAft>
                <a:spcPts val="1000"/>
              </a:spcAft>
            </a:pPr>
            <a:r>
              <a:rPr sz="1700" b="0">
                <a:solidFill>
                  <a:srgbClr val="222222"/>
                </a:solidFill>
                <a:latin typeface="맑은 고딕"/>
              </a:rPr>
              <a:t>•  실측: ASYNC 상태에서 MAXIMIZE AVAILABILITY → "Database altered"</a:t>
            </a:r>
          </a:p>
          <a:p>
            <a:pPr algn="l">
              <a:spcAft>
                <a:spcPts val="1000"/>
              </a:spcAft>
            </a:pPr>
            <a:r>
              <a:rPr sz="1700" b="0">
                <a:solidFill>
                  <a:srgbClr val="222222"/>
                </a:solidFill>
                <a:latin typeface="맑은 고딕"/>
              </a:rPr>
              <a:t>•  그런데 LEVEL은 RESYNCHRONIZATION — 요건(동기 전송) 미충족</a:t>
            </a:r>
          </a:p>
          <a:p>
            <a:pPr algn="l">
              <a:spcAft>
                <a:spcPts val="1000"/>
              </a:spcAft>
            </a:pPr>
            <a:r>
              <a:rPr sz="1700" b="0">
                <a:solidFill>
                  <a:srgbClr val="222222"/>
                </a:solidFill>
                <a:latin typeface="맑은 고딕"/>
              </a:rPr>
              <a:t>•  SYNC AFFIRM으로 바꾸고 다시 설정하니 LEVEL이 따라왔다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RESYNCHRONIZATION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오류가 아니라 과도 상태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"설정한 수준에 도달하려고 따라잡는 중"</a:t>
            </a:r>
          </a:p>
          <a:p>
            <a:pPr algn="l">
              <a:spcAft>
                <a:spcPts val="1000"/>
              </a:spcAft>
            </a:pPr>
            <a:r>
              <a:rPr sz="1700" b="0">
                <a:solidFill>
                  <a:srgbClr val="222222"/>
                </a:solidFill>
                <a:latin typeface="맑은 고딕"/>
              </a:rPr>
              <a:t>•  로그 스위치마다 잠깐 나타났다 사라지는 것은 정상</a:t>
            </a:r>
          </a:p>
          <a:p>
            <a:pPr algn="l">
              <a:spcAft>
                <a:spcPts val="1000"/>
              </a:spcAft>
            </a:pPr>
            <a:r>
              <a:rPr sz="1700" b="0">
                <a:solidFill>
                  <a:srgbClr val="222222"/>
                </a:solidFill>
                <a:latin typeface="맑은 고딕"/>
              </a:rPr>
              <a:t>•  문제는 계속 머물러 있을 때</a:t>
            </a:r>
          </a:p>
          <a:p>
            <a:pPr algn="l">
              <a:spcAft>
                <a:spcPts val="1000"/>
              </a:spcAft>
            </a:pPr>
            <a:r>
              <a:rPr sz="1700" b="0">
                <a:solidFill>
                  <a:srgbClr val="222222"/>
                </a:solidFill>
                <a:latin typeface="맑은 고딕"/>
              </a:rPr>
              <a:t>•  구분 기준 : V$ARCHIVE_DEST_STATUS 를 함께 본다</a:t>
            </a:r>
          </a:p>
          <a:p>
            <a:pPr algn="l">
              <a:spcAft>
                <a:spcPts val="1000"/>
              </a:spcAft>
            </a:pPr>
            <a:r>
              <a:rPr sz="1700" b="0">
                <a:solidFill>
                  <a:srgbClr val="222222"/>
                </a:solidFill>
                <a:latin typeface="맑은 고딕"/>
              </a:rPr>
              <a:t>•  STATUS=VALID + 오류 없음 → 설정 요건 미충족</a:t>
            </a:r>
          </a:p>
          <a:p>
            <a:pPr algn="l">
              <a:spcAft>
                <a:spcPts val="1000"/>
              </a:spcAft>
            </a:pPr>
            <a:r>
              <a:rPr sz="1700" b="0">
                <a:solidFill>
                  <a:srgbClr val="222222"/>
                </a:solidFill>
                <a:latin typeface="맑은 고딕"/>
              </a:rPr>
              <a:t>•  STATUS=ERROR + ORA- 번호 → 전송 장애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전환이 거부되는 조건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ORA-01126의 두 얼굴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Performance → Protection (OPEN) : ORA-01126 거부</a:t>
            </a:r>
          </a:p>
          <a:p>
            <a:pPr algn="l">
              <a:spcAft>
                <a:spcPts val="1000"/>
              </a:spcAft>
            </a:pPr>
            <a:r>
              <a:rPr sz="1700" b="0">
                <a:solidFill>
                  <a:srgbClr val="222222"/>
                </a:solidFill>
                <a:latin typeface="맑은 고딕"/>
              </a:rPr>
              <a:t>•  Performance → Availability (OPEN) : 허용, LEVEL=RESYNCHRONIZATION</a:t>
            </a:r>
          </a:p>
          <a:p>
            <a:pPr algn="l">
              <a:spcAft>
                <a:spcPts val="1000"/>
              </a:spcAft>
            </a:pPr>
            <a:r>
              <a:rPr sz="1700" b="0">
                <a:solidFill>
                  <a:srgbClr val="222222"/>
                </a:solidFill>
                <a:latin typeface="맑은 고딕"/>
              </a:rPr>
              <a:t>•  Availability(LEVEL=RESYNC) → Protection (OPEN) : ORA-01126 거부</a:t>
            </a:r>
          </a:p>
          <a:p>
            <a:pPr algn="l">
              <a:spcAft>
                <a:spcPts val="1000"/>
              </a:spcAft>
            </a:pPr>
            <a:r>
              <a:rPr sz="1700" b="0">
                <a:solidFill>
                  <a:srgbClr val="222222"/>
                </a:solidFill>
                <a:latin typeface="맑은 고딕"/>
              </a:rPr>
              <a:t>•  Availability(LEVEL=MAX AVAIL) → Protection (OPEN) : 허용</a:t>
            </a:r>
          </a:p>
          <a:p>
            <a:pPr algn="l">
              <a:spcAft>
                <a:spcPts val="1000"/>
              </a:spcAft>
            </a:pPr>
            <a:r>
              <a:rPr sz="1700" b="0">
                <a:solidFill>
                  <a:srgbClr val="222222"/>
                </a:solidFill>
                <a:latin typeface="맑은 고딕"/>
              </a:rPr>
              <a:t>•  낮추는 방향은 제약 없음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올바른 전환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순서를 지키면 ORA-01126을 만나지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Standby SRL 확인 (V$STANDBY_LOG)</a:t>
            </a:r>
          </a:p>
          <a:p>
            <a:pPr algn="l">
              <a:spcAft>
                <a:spcPts val="1000"/>
              </a:spcAft>
            </a:pPr>
            <a:r>
              <a:rPr sz="1700" b="0">
                <a:solidFill>
                  <a:srgbClr val="222222"/>
                </a:solidFill>
                <a:latin typeface="맑은 고딕"/>
              </a:rPr>
              <a:t>•  ② 목적지를 SYNC AFFIRM 으로 변경</a:t>
            </a:r>
          </a:p>
          <a:p>
            <a:pPr algn="l">
              <a:spcAft>
                <a:spcPts val="1000"/>
              </a:spcAft>
            </a:pPr>
            <a:r>
              <a:rPr sz="1700" b="0">
                <a:solidFill>
                  <a:srgbClr val="222222"/>
                </a:solidFill>
                <a:latin typeface="맑은 고딕"/>
              </a:rPr>
              <a:t>•  ③ ALTER SYSTEM ARCHIVE LOG CURRENT</a:t>
            </a:r>
          </a:p>
          <a:p>
            <a:pPr algn="l">
              <a:spcAft>
                <a:spcPts val="1000"/>
              </a:spcAft>
            </a:pPr>
            <a:r>
              <a:rPr sz="1700" b="0">
                <a:solidFill>
                  <a:srgbClr val="222222"/>
                </a:solidFill>
                <a:latin typeface="맑은 고딕"/>
              </a:rPr>
              <a:t>•  ④ MAXIMIZE AVAILABILITY</a:t>
            </a:r>
          </a:p>
          <a:p>
            <a:pPr algn="l">
              <a:spcAft>
                <a:spcPts val="1000"/>
              </a:spcAft>
            </a:pPr>
            <a:r>
              <a:rPr sz="1700" b="0">
                <a:solidFill>
                  <a:srgbClr val="222222"/>
                </a:solidFill>
                <a:latin typeface="맑은 고딕"/>
              </a:rPr>
              <a:t>•  ⑤ PROTECTION_LEVEL 이 MAXIMUM AVAILABILITY 가 될 때까지 대기</a:t>
            </a:r>
          </a:p>
          <a:p>
            <a:pPr algn="l">
              <a:spcAft>
                <a:spcPts val="1000"/>
              </a:spcAft>
            </a:pPr>
            <a:r>
              <a:rPr sz="1700" b="0">
                <a:solidFill>
                  <a:srgbClr val="222222"/>
                </a:solidFill>
                <a:latin typeface="맑은 고딕"/>
              </a:rPr>
              <a:t>•  ⑥ MAXIMIZE PROTECTION</a:t>
            </a:r>
          </a:p>
          <a:p>
            <a:pPr algn="l">
              <a:spcAft>
                <a:spcPts val="1000"/>
              </a:spcAft>
            </a:pPr>
            <a:r>
              <a:rPr sz="1700" b="0">
                <a:solidFill>
                  <a:srgbClr val="222222"/>
                </a:solidFill>
                <a:latin typeface="맑은 고딕"/>
              </a:rPr>
              <a:t>•  ⑦ PROTECTION_LEVEL 재확인 — 명령 성공은 절반의 확인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Standby를 잃었을 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Maximum Availability — 계속 돈다</a:t>
            </a:r>
          </a:p>
          <a:p>
            <a:pPr algn="l">
              <a:spcAft>
                <a:spcPts val="800"/>
              </a:spcAft>
            </a:pPr>
            <a:r>
              <a:rPr sz="1600" b="0">
                <a:solidFill>
                  <a:srgbClr val="FFFFFF"/>
                </a:solidFill>
                <a:latin typeface="맑은 고딕"/>
              </a:rPr>
              <a:t>•  Maximum Protection — Primary가 스스로 멈춘다</a:t>
            </a:r>
          </a:p>
          <a:p>
            <a:pPr algn="l">
              <a:spcAft>
                <a:spcPts val="800"/>
              </a:spcAft>
            </a:pPr>
            <a:r>
              <a:rPr sz="1600" b="0">
                <a:solidFill>
                  <a:srgbClr val="FFFFFF"/>
                </a:solidFill>
                <a:latin typeface="맑은 고딕"/>
              </a:rPr>
              <a:t>•  실측으로 확인한다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Maximum Availability에서 Standby 상실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Standby를 SHUTDOWN IMMEDIATE — 정상 종료된다</a:t>
            </a:r>
          </a:p>
          <a:p>
            <a:pPr algn="l">
              <a:spcAft>
                <a:spcPts val="1000"/>
              </a:spcAft>
            </a:pPr>
            <a:r>
              <a:rPr sz="1700" b="0">
                <a:solidFill>
                  <a:srgbClr val="222222"/>
                </a:solidFill>
                <a:latin typeface="맑은 고딕"/>
              </a:rPr>
              <a:t>•  Primary는 OPEN 유지, PROTECTION_LEVEL만 RESYNCHRONIZATION으로 하락</a:t>
            </a:r>
          </a:p>
          <a:p>
            <a:pPr algn="l">
              <a:spcAft>
                <a:spcPts val="1000"/>
              </a:spcAft>
            </a:pPr>
            <a:r>
              <a:rPr sz="1700" b="0">
                <a:solidFill>
                  <a:srgbClr val="222222"/>
                </a:solidFill>
                <a:latin typeface="맑은 고딕"/>
              </a:rPr>
              <a:t>•  CREATE TABLE / INSERT / COMMIT 모두 정상</a:t>
            </a:r>
          </a:p>
          <a:p>
            <a:pPr algn="l">
              <a:spcAft>
                <a:spcPts val="1000"/>
              </a:spcAft>
            </a:pPr>
            <a:r>
              <a:rPr sz="1700" b="0">
                <a:solidFill>
                  <a:srgbClr val="222222"/>
                </a:solidFill>
                <a:latin typeface="맑은 고딕"/>
              </a:rPr>
              <a:t>•  V$ARCHIVE_DEST_STATUS : STATUS=ERROR, ORA-03113</a:t>
            </a:r>
          </a:p>
          <a:p>
            <a:pPr algn="l">
              <a:spcAft>
                <a:spcPts val="1000"/>
              </a:spcAft>
            </a:pPr>
            <a:r>
              <a:rPr sz="1700" b="0">
                <a:solidFill>
                  <a:srgbClr val="222222"/>
                </a:solidFill>
                <a:latin typeface="맑은 고딕"/>
              </a:rPr>
              <a:t>•  Standby를 켜고 로그 스위치 → LEVEL과 STATUS 모두 자동 회복</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Maximum Protection에서는 종료조차 막힌다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ORA-01154</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SYS@boston&gt; SHUTDOWN IMMEDIATE</a:t>
            </a:r>
          </a:p>
          <a:p>
            <a:pPr algn="l">
              <a:spcAft>
                <a:spcPts val="1000"/>
              </a:spcAft>
            </a:pPr>
            <a:r>
              <a:rPr sz="1700" b="0">
                <a:solidFill>
                  <a:srgbClr val="222222"/>
                </a:solidFill>
                <a:latin typeface="맑은 고딕"/>
              </a:rPr>
              <a:t>•  ORA-01154: database busy. Open, close, mount, and dismount not allowed now</a:t>
            </a:r>
          </a:p>
          <a:p>
            <a:pPr algn="l">
              <a:spcAft>
                <a:spcPts val="1000"/>
              </a:spcAft>
            </a:pPr>
            <a:r>
              <a:rPr sz="1700" b="0">
                <a:solidFill>
                  <a:srgbClr val="222222"/>
                </a:solidFill>
                <a:latin typeface="맑은 고딕"/>
              </a:rPr>
              <a:t>•  Primary가 이 Standby 없이는 커밋할 수 없어 오라클이 막은 것</a:t>
            </a:r>
          </a:p>
          <a:p>
            <a:pPr algn="l">
              <a:spcAft>
                <a:spcPts val="1000"/>
              </a:spcAft>
            </a:pPr>
            <a:r>
              <a:rPr sz="1700" b="0">
                <a:solidFill>
                  <a:srgbClr val="222222"/>
                </a:solidFill>
                <a:latin typeface="맑은 고딕"/>
              </a:rPr>
              <a:t>•  Standby가 "있으면 좋은 것"에서 "없으면 안 되는 것"이 됐다</a:t>
            </a:r>
          </a:p>
          <a:p>
            <a:pPr algn="l">
              <a:spcAft>
                <a:spcPts val="1000"/>
              </a:spcAft>
            </a:pPr>
            <a:r>
              <a:rPr sz="1700" b="0">
                <a:solidFill>
                  <a:srgbClr val="222222"/>
                </a:solidFill>
                <a:latin typeface="맑은 고딕"/>
              </a:rPr>
              <a:t>•  유지보수하려면 먼저 보호 모드를 낮춰야 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 강제 종료 — Primary가 사라졌다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알림 로그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SYS@boston&gt; SHUTDOWN ABORT</a:t>
            </a:r>
          </a:p>
          <a:p>
            <a:pPr algn="l">
              <a:spcAft>
                <a:spcPts val="1000"/>
              </a:spcAft>
            </a:pPr>
            <a:r>
              <a:rPr sz="1700" b="0">
                <a:solidFill>
                  <a:srgbClr val="222222"/>
                </a:solidFill>
                <a:latin typeface="맑은 고딕"/>
              </a:rPr>
              <a:t>•  30초 뒤 Primary 접속 → ORA-01034: ORACLE not available</a:t>
            </a:r>
          </a:p>
          <a:p>
            <a:pPr algn="l">
              <a:spcAft>
                <a:spcPts val="1000"/>
              </a:spcAft>
            </a:pPr>
            <a:r>
              <a:rPr sz="1700" b="0">
                <a:solidFill>
                  <a:srgbClr val="222222"/>
                </a:solidFill>
                <a:latin typeface="맑은 고딕"/>
              </a:rPr>
              <a:t>•  ps -ef | grep ora_pmon_chicago → 0</a:t>
            </a:r>
          </a:p>
          <a:p>
            <a:pPr algn="l">
              <a:spcAft>
                <a:spcPts val="1000"/>
              </a:spcAft>
            </a:pPr>
            <a:r>
              <a:rPr sz="1700" b="0">
                <a:solidFill>
                  <a:srgbClr val="222222"/>
                </a:solidFill>
                <a:latin typeface="맑은 고딕"/>
              </a:rPr>
              <a:t>•  LGWR: All standby database destinations have failed</a:t>
            </a:r>
          </a:p>
          <a:p>
            <a:pPr algn="l">
              <a:spcAft>
                <a:spcPts val="1000"/>
              </a:spcAft>
            </a:pPr>
            <a:r>
              <a:rPr sz="1700" b="0">
                <a:solidFill>
                  <a:srgbClr val="222222"/>
                </a:solidFill>
                <a:latin typeface="맑은 고딕"/>
              </a:rPr>
              <a:t>•  LGWR: WARN: Instance shutdown required to protect primary</a:t>
            </a:r>
          </a:p>
          <a:p>
            <a:pPr algn="l">
              <a:spcAft>
                <a:spcPts val="1000"/>
              </a:spcAft>
            </a:pPr>
            <a:r>
              <a:rPr sz="1700" b="0">
                <a:solidFill>
                  <a:srgbClr val="222222"/>
                </a:solidFill>
                <a:latin typeface="맑은 고딕"/>
              </a:rPr>
              <a:t>•  Instance terminated by LGWR, pid = 7843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종료된 Primary를 되살리는 두 길</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선택 A — Standby를 먼저 살린다 : 무손실 보장을 유지한 채 재개</a:t>
            </a:r>
          </a:p>
          <a:p>
            <a:pPr algn="l">
              <a:spcAft>
                <a:spcPts val="1000"/>
              </a:spcAft>
            </a:pPr>
            <a:r>
              <a:rPr sz="1600" b="0">
                <a:solidFill>
                  <a:srgbClr val="222222"/>
                </a:solidFill>
                <a:latin typeface="맑은 고딕"/>
              </a:rPr>
              <a:t>•  선택 B — 보호 모드를 낮춘다 : 서비스를 먼저 살리고 무손실은 포기</a:t>
            </a:r>
          </a:p>
          <a:p>
            <a:pPr algn="l">
              <a:spcAft>
                <a:spcPts val="1000"/>
              </a:spcAft>
            </a:pPr>
            <a:r>
              <a:rPr sz="1600" b="0">
                <a:solidFill>
                  <a:srgbClr val="222222"/>
                </a:solidFill>
                <a:latin typeface="맑은 고딕"/>
              </a:rPr>
              <a:t>•  B의 순서 : STARTUP MOUNT → MAXIMIZE PERFORMANCE → ALTER DATABASE OPEN</a:t>
            </a:r>
          </a:p>
          <a:p>
            <a:pPr algn="l">
              <a:spcAft>
                <a:spcPts val="1000"/>
              </a:spcAft>
            </a:pPr>
            <a:r>
              <a:rPr sz="1600" b="0">
                <a:solidFill>
                  <a:srgbClr val="222222"/>
                </a:solidFill>
                <a:latin typeface="맑은 고딕"/>
              </a:rPr>
              <a:t>•  순서를 어기면 OPEN이 다시 막힌다</a:t>
            </a:r>
          </a:p>
          <a:p>
            <a:pPr algn="l">
              <a:spcAft>
                <a:spcPts val="1000"/>
              </a:spcAft>
            </a:pPr>
            <a:r>
              <a:rPr sz="1600" b="0">
                <a:solidFill>
                  <a:srgbClr val="222222"/>
                </a:solidFill>
                <a:latin typeface="맑은 고딕"/>
              </a:rPr>
              <a:t>•  어느 쪽이든 그동안 서비스는 멈춰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전송 방식과 성능의 맞바꿈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SYNC의 비용은 커밋 응답시간</a:t>
            </a:r>
          </a:p>
          <a:p>
            <a:pPr algn="l">
              <a:spcAft>
                <a:spcPts val="800"/>
              </a:spcAft>
            </a:pPr>
            <a:r>
              <a:rPr sz="1600" b="0">
                <a:solidFill>
                  <a:srgbClr val="FFFFFF"/>
                </a:solidFill>
                <a:latin typeface="맑은 고딕"/>
              </a:rPr>
              <a:t>•  ASYNC의 비용은 잠재 손실</a:t>
            </a:r>
          </a:p>
          <a:p>
            <a:pPr algn="l">
              <a:spcAft>
                <a:spcPts val="800"/>
              </a:spcAft>
            </a:pPr>
            <a:r>
              <a:rPr sz="1600" b="0">
                <a:solidFill>
                  <a:srgbClr val="FFFFFF"/>
                </a:solidFill>
                <a:latin typeface="맑은 고딕"/>
              </a:rPr>
              <a:t>•  진단은 세 개의 뷰로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SYNC와 ASYNC의 비용 비교</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커밋 응답시간 : SYNC는 네트워크 왕복만큼 증가 / ASYNC는 영향 없음</a:t>
            </a:r>
          </a:p>
          <a:p>
            <a:pPr algn="l">
              <a:spcAft>
                <a:spcPts val="1000"/>
              </a:spcAft>
            </a:pPr>
            <a:r>
              <a:rPr sz="1600" b="0">
                <a:solidFill>
                  <a:srgbClr val="222222"/>
                </a:solidFill>
                <a:latin typeface="맑은 고딕"/>
              </a:rPr>
              <a:t>•  데이터 손실 : SYNC는 없음 / ASYNC는 transport lag만큼 가능</a:t>
            </a:r>
          </a:p>
          <a:p>
            <a:pPr algn="l">
              <a:spcAft>
                <a:spcPts val="1000"/>
              </a:spcAft>
            </a:pPr>
            <a:r>
              <a:rPr sz="1600" b="0">
                <a:solidFill>
                  <a:srgbClr val="222222"/>
                </a:solidFill>
                <a:latin typeface="맑은 고딕"/>
              </a:rPr>
              <a:t>•  Standby 장애 영향 : SYNC는 모드에 따라 Primary 정지 가능 / ASYNC는 없음</a:t>
            </a:r>
          </a:p>
          <a:p>
            <a:pPr algn="l">
              <a:spcAft>
                <a:spcPts val="1000"/>
              </a:spcAft>
            </a:pPr>
            <a:r>
              <a:rPr sz="1600" b="0">
                <a:solidFill>
                  <a:srgbClr val="222222"/>
                </a:solidFill>
                <a:latin typeface="맑은 고딕"/>
              </a:rPr>
              <a:t>•  프로세스 : NSSn / TTnn</a:t>
            </a:r>
          </a:p>
          <a:p>
            <a:pPr algn="l">
              <a:spcAft>
                <a:spcPts val="1000"/>
              </a:spcAft>
            </a:pPr>
            <a:r>
              <a:rPr sz="1600" b="0">
                <a:solidFill>
                  <a:srgbClr val="222222"/>
                </a:solidFill>
                <a:latin typeface="맑은 고딕"/>
              </a:rPr>
              <a:t>•  적합한 거리 : 근거리 / 원거리 포함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전송 상태를 진단하는 세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순서가 중요하다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V$ARCHIVE_DEST — VALID_NOW 가 YES 인가 (아니면 설정 문제)</a:t>
            </a:r>
          </a:p>
          <a:p>
            <a:pPr algn="l">
              <a:spcAft>
                <a:spcPts val="1000"/>
              </a:spcAft>
            </a:pPr>
            <a:r>
              <a:rPr sz="1700" b="0">
                <a:solidFill>
                  <a:srgbClr val="222222"/>
                </a:solidFill>
                <a:latin typeface="맑은 고딕"/>
              </a:rPr>
              <a:t>•  ② V$ARCHIVE_DEST_STATUS — STATUS 와 ERROR (ORA- 번호가 실제 원인)</a:t>
            </a:r>
          </a:p>
          <a:p>
            <a:pPr algn="l">
              <a:spcAft>
                <a:spcPts val="1000"/>
              </a:spcAft>
            </a:pPr>
            <a:r>
              <a:rPr sz="1700" b="0">
                <a:solidFill>
                  <a:srgbClr val="222222"/>
                </a:solidFill>
                <a:latin typeface="맑은 고딕"/>
              </a:rPr>
              <a:t>•  ③ V$DATAGUARD_PROCESS — ACTION 이 IDLE 인가 WRITING 인가</a:t>
            </a:r>
          </a:p>
          <a:p>
            <a:pPr algn="l">
              <a:spcAft>
                <a:spcPts val="1000"/>
              </a:spcAft>
            </a:pPr>
            <a:r>
              <a:rPr sz="1700" b="0">
                <a:solidFill>
                  <a:srgbClr val="222222"/>
                </a:solidFill>
                <a:latin typeface="맑은 고딕"/>
              </a:rPr>
              <a:t>•  STATUS 값 : VALID / ERROR / DEFERRED(사람이 끔) / DISABLED(오라클이 끔) / INACTIVE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어떤 모드를 고를 것인가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기술적 판단이 아니라 사업적 판단</a:t>
            </a:r>
          </a:p>
          <a:p>
            <a:pPr algn="l">
              <a:spcAft>
                <a:spcPts val="800"/>
              </a:spcAft>
            </a:pPr>
            <a:r>
              <a:rPr sz="1600" b="0">
                <a:solidFill>
                  <a:srgbClr val="FFFFFF"/>
                </a:solidFill>
                <a:latin typeface="맑은 고딕"/>
              </a:rPr>
              <a:t>•  대부분의 현장은 Maximum Availability</a:t>
            </a:r>
          </a:p>
          <a:p>
            <a:pPr algn="l">
              <a:spcAft>
                <a:spcPts val="800"/>
              </a:spcAft>
            </a:pPr>
            <a:r>
              <a:rPr sz="1600" b="0">
                <a:solidFill>
                  <a:srgbClr val="FFFFFF"/>
                </a:solidFill>
                <a:latin typeface="맑은 고딕"/>
              </a:rPr>
              <a:t>•  Protection은 Standby 2대 이상이 전제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상황별 권장 모드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일반 업무 시스템, 원거리 DR → Maximum Performance</a:t>
            </a:r>
          </a:p>
          <a:p>
            <a:pPr algn="l">
              <a:spcAft>
                <a:spcPts val="1000"/>
              </a:spcAft>
            </a:pPr>
            <a:r>
              <a:rPr sz="1600" b="0">
                <a:solidFill>
                  <a:srgbClr val="222222"/>
                </a:solidFill>
                <a:latin typeface="맑은 고딕"/>
              </a:rPr>
              <a:t>•  무손실이 필요하나 정지는 곤란 → Maximum Availability</a:t>
            </a:r>
          </a:p>
          <a:p>
            <a:pPr algn="l">
              <a:spcAft>
                <a:spcPts val="1000"/>
              </a:spcAft>
            </a:pPr>
            <a:r>
              <a:rPr sz="1600" b="0">
                <a:solidFill>
                  <a:srgbClr val="222222"/>
                </a:solidFill>
                <a:latin typeface="맑은 고딕"/>
              </a:rPr>
              <a:t>•  계약상 무손실 보장 필수 → Maximum Protection (Standby 2대 이상 필수)</a:t>
            </a:r>
          </a:p>
          <a:p>
            <a:pPr algn="l">
              <a:spcAft>
                <a:spcPts val="1000"/>
              </a:spcAft>
            </a:pPr>
            <a:r>
              <a:rPr sz="1600" b="0">
                <a:solidFill>
                  <a:srgbClr val="222222"/>
                </a:solidFill>
                <a:latin typeface="맑은 고딕"/>
              </a:rPr>
              <a:t>•  원거리인데 무손실 필요 → Far Sync + Maximum Availability (10장)</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Maximum Protection 도입 전 점검표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Standby가 둘 이상인가 — 하나뿐이면 도입하지 않는다</a:t>
            </a:r>
          </a:p>
          <a:p>
            <a:pPr algn="l">
              <a:spcAft>
                <a:spcPts val="1000"/>
              </a:spcAft>
            </a:pPr>
            <a:r>
              <a:rPr sz="1600" b="0">
                <a:solidFill>
                  <a:srgbClr val="222222"/>
                </a:solidFill>
                <a:latin typeface="맑은 고딕"/>
              </a:rPr>
              <a:t>•  각 Standby에 SRL이 있고 크기가 온라인 리두와 같은가</a:t>
            </a:r>
          </a:p>
          <a:p>
            <a:pPr algn="l">
              <a:spcAft>
                <a:spcPts val="1000"/>
              </a:spcAft>
            </a:pPr>
            <a:r>
              <a:rPr sz="1600" b="0">
                <a:solidFill>
                  <a:srgbClr val="222222"/>
                </a:solidFill>
                <a:latin typeface="맑은 고딕"/>
              </a:rPr>
              <a:t>•  목적지가 SYNC AFFIRM 이고 NET_TIMEOUT 을 회선에 맞게 정했는가</a:t>
            </a:r>
          </a:p>
          <a:p>
            <a:pPr algn="l">
              <a:spcAft>
                <a:spcPts val="1000"/>
              </a:spcAft>
            </a:pPr>
            <a:r>
              <a:rPr sz="1600" b="0">
                <a:solidFill>
                  <a:srgbClr val="222222"/>
                </a:solidFill>
                <a:latin typeface="맑은 고딕"/>
              </a:rPr>
              <a:t>•  Primary 종료 시 복구 절차가 문서화되어 있고 담당자가 아는가</a:t>
            </a:r>
          </a:p>
          <a:p>
            <a:pPr algn="l">
              <a:spcAft>
                <a:spcPts val="1000"/>
              </a:spcAft>
            </a:pPr>
            <a:r>
              <a:rPr sz="1600" b="0">
                <a:solidFill>
                  <a:srgbClr val="222222"/>
                </a:solidFill>
                <a:latin typeface="맑은 고딕"/>
              </a:rPr>
              <a:t>•  보호 수준을 낮추는 결정을 누가 내릴지 정해져 있는가</a:t>
            </a:r>
          </a:p>
          <a:p>
            <a:pPr algn="l">
              <a:spcAft>
                <a:spcPts val="1000"/>
              </a:spcAft>
            </a:pPr>
            <a:r>
              <a:rPr sz="1600" b="0">
                <a:solidFill>
                  <a:srgbClr val="222222"/>
                </a:solidFill>
                <a:latin typeface="맑은 고딕"/>
              </a:rPr>
              <a:t>•  PROTECTION_LEVEL 모니터링이 걸려 있는가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Broker를 쓸 때의 차이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명령이 바뀐다</a:t>
            </a:r>
          </a:p>
          <a:p>
            <a:pPr algn="l">
              <a:spcAft>
                <a:spcPts val="800"/>
              </a:spcAft>
            </a:pPr>
            <a:r>
              <a:rPr sz="1600" b="0">
                <a:solidFill>
                  <a:srgbClr val="FFFFFF"/>
                </a:solidFill>
                <a:latin typeface="맑은 고딕"/>
              </a:rPr>
              <a:t>•  파라미터를 손으로 고치면 안 된다</a:t>
            </a:r>
          </a:p>
          <a:p>
            <a:pPr algn="l">
              <a:spcAft>
                <a:spcPts val="800"/>
              </a:spcAft>
            </a:pPr>
            <a:r>
              <a:rPr sz="1600" b="0">
                <a:solidFill>
                  <a:srgbClr val="FFFFFF"/>
                </a:solidFill>
                <a:latin typeface="맑은 고딕"/>
              </a:rPr>
              <a:t>•  그래도 SQL로 먼저 배우는 이유</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 환경에서는 무엇이 달라지나 (13장 예고)</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모드 전환 : EDIT CONFIGURATION SET PROTECTION MODE AS MAXAVAILABILITY</a:t>
            </a:r>
          </a:p>
          <a:p>
            <a:pPr algn="l">
              <a:spcAft>
                <a:spcPts val="1000"/>
              </a:spcAft>
            </a:pPr>
            <a:r>
              <a:rPr sz="1600" b="0">
                <a:solidFill>
                  <a:srgbClr val="222222"/>
                </a:solidFill>
                <a:latin typeface="맑은 고딕"/>
              </a:rPr>
              <a:t>•  전송 방식 : EDIT DATABASE boston SET PROPERTY LogXptMode='SYNC'</a:t>
            </a:r>
          </a:p>
          <a:p>
            <a:pPr algn="l">
              <a:spcAft>
                <a:spcPts val="1000"/>
              </a:spcAft>
            </a:pPr>
            <a:r>
              <a:rPr sz="1600" b="0">
                <a:solidFill>
                  <a:srgbClr val="222222"/>
                </a:solidFill>
                <a:latin typeface="맑은 고딕"/>
              </a:rPr>
              <a:t>•  LOG_ARCHIVE_DEST_n 을 손으로 고치면 Broker가 되돌리거나 경고한다</a:t>
            </a:r>
          </a:p>
          <a:p>
            <a:pPr algn="l">
              <a:spcAft>
                <a:spcPts val="1000"/>
              </a:spcAft>
            </a:pPr>
            <a:r>
              <a:rPr sz="1600" b="0">
                <a:solidFill>
                  <a:srgbClr val="222222"/>
                </a:solidFill>
                <a:latin typeface="맑은 고딕"/>
              </a:rPr>
              <a:t>•  SHOW CONFIGURATION 이 구성 전체 상태를, VALIDATE DATABASE 가 요건을 알려 준다</a:t>
            </a:r>
          </a:p>
          <a:p>
            <a:pPr algn="l">
              <a:spcAft>
                <a:spcPts val="1000"/>
              </a:spcAft>
            </a:pPr>
            <a:r>
              <a:rPr sz="1600" b="0">
                <a:solidFill>
                  <a:srgbClr val="222222"/>
                </a:solidFill>
                <a:latin typeface="맑은 고딕"/>
              </a:rPr>
              <a:t>•  그래도 SQL로 먼저 배우는 이유 : Broker가 감춘 것을 알아야 진단이 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LOG_ARCHIVE_DEST_STATE_n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목적지를 켜고 끄는 스위치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ENABLE — 목적지를 사용한다 (기본값)</a:t>
            </a:r>
          </a:p>
          <a:p>
            <a:pPr algn="l">
              <a:spcAft>
                <a:spcPts val="1000"/>
              </a:spcAft>
            </a:pPr>
            <a:r>
              <a:rPr sz="1700" b="0">
                <a:solidFill>
                  <a:srgbClr val="222222"/>
                </a:solidFill>
                <a:latin typeface="맑은 고딕"/>
              </a:rPr>
              <a:t>•  DEFER — 사람이 명시적으로 끈다. V$ARCHIVE_DEST_STATUS 의 STATUS 가 DEFERRED</a:t>
            </a:r>
          </a:p>
          <a:p>
            <a:pPr algn="l">
              <a:spcAft>
                <a:spcPts val="1000"/>
              </a:spcAft>
            </a:pPr>
            <a:r>
              <a:rPr sz="1700" b="0">
                <a:solidFill>
                  <a:srgbClr val="222222"/>
                </a:solidFill>
                <a:latin typeface="맑은 고딕"/>
              </a:rPr>
              <a:t>•  ALTERNATE — 다른 목적지가 실패했을 때만 쓴다</a:t>
            </a:r>
          </a:p>
          <a:p>
            <a:pPr algn="l">
              <a:spcAft>
                <a:spcPts val="1000"/>
              </a:spcAft>
            </a:pPr>
            <a:r>
              <a:rPr sz="1700" b="0">
                <a:solidFill>
                  <a:srgbClr val="222222"/>
                </a:solidFill>
                <a:latin typeface="맑은 고딕"/>
              </a:rPr>
              <a:t>•  RESET — 설정을 초기화한다</a:t>
            </a:r>
          </a:p>
          <a:p>
            <a:pPr algn="l">
              <a:spcAft>
                <a:spcPts val="1000"/>
              </a:spcAft>
            </a:pPr>
            <a:r>
              <a:rPr sz="1700" b="0">
                <a:solidFill>
                  <a:srgbClr val="222222"/>
                </a:solidFill>
                <a:latin typeface="맑은 고딕"/>
              </a:rPr>
              <a:t>•  실습 환경: LOG_ARCHIVE_DEST_STATE_2 = ENABLE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압축과 대역폭</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원거리 구성에서 고려할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COMPRESSION=ENABLE 로 리두를 압축해 전송한다</a:t>
            </a:r>
          </a:p>
          <a:p>
            <a:pPr algn="l">
              <a:spcAft>
                <a:spcPts val="1000"/>
              </a:spcAft>
            </a:pPr>
            <a:r>
              <a:rPr sz="1700" b="0">
                <a:solidFill>
                  <a:srgbClr val="222222"/>
                </a:solidFill>
                <a:latin typeface="맑은 고딕"/>
              </a:rPr>
              <a:t>•  Advanced Compression 옵션 라이선스가 필요하다</a:t>
            </a:r>
          </a:p>
          <a:p>
            <a:pPr algn="l">
              <a:spcAft>
                <a:spcPts val="1000"/>
              </a:spcAft>
            </a:pPr>
            <a:r>
              <a:rPr sz="1700" b="0">
                <a:solidFill>
                  <a:srgbClr val="222222"/>
                </a:solidFill>
                <a:latin typeface="맑은 고딕"/>
              </a:rPr>
              <a:t>•  효과는 리두의 성질에 달려 있다 — 반복이 많은 워크로드일수록 유리</a:t>
            </a:r>
          </a:p>
          <a:p>
            <a:pPr algn="l">
              <a:spcAft>
                <a:spcPts val="1000"/>
              </a:spcAft>
            </a:pPr>
            <a:r>
              <a:rPr sz="1700" b="0">
                <a:solidFill>
                  <a:srgbClr val="222222"/>
                </a:solidFill>
                <a:latin typeface="맑은 고딕"/>
              </a:rPr>
              <a:t>•  CPU를 쓰는 대신 대역폭을 아끼는 맞바꿈</a:t>
            </a:r>
          </a:p>
          <a:p>
            <a:pPr algn="l">
              <a:spcAft>
                <a:spcPts val="1000"/>
              </a:spcAft>
            </a:pPr>
            <a:r>
              <a:rPr sz="1700" b="0">
                <a:solidFill>
                  <a:srgbClr val="222222"/>
                </a:solidFill>
                <a:latin typeface="맑은 고딕"/>
              </a:rPr>
              <a:t>•  갭 해소 시 대량 전송에서 특히 효과가 크다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장에서 얻어 갈 세 가지 습관</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① 파라미터 문자열이 아니라 V$ARCHIVE_DEST 의 열로 확인한다</a:t>
            </a:r>
          </a:p>
          <a:p>
            <a:pPr algn="l">
              <a:spcAft>
                <a:spcPts val="1000"/>
              </a:spcAft>
            </a:pPr>
            <a:r>
              <a:rPr sz="1600" b="0">
                <a:solidFill>
                  <a:srgbClr val="222222"/>
                </a:solidFill>
                <a:latin typeface="맑은 고딕"/>
              </a:rPr>
              <a:t>•  ② 명령 성공으로 끝내지 않고 PROTECTION_LEVEL 을 확인한다</a:t>
            </a:r>
          </a:p>
          <a:p>
            <a:pPr algn="l">
              <a:spcAft>
                <a:spcPts val="1000"/>
              </a:spcAft>
            </a:pPr>
            <a:r>
              <a:rPr sz="1600" b="0">
                <a:solidFill>
                  <a:srgbClr val="222222"/>
                </a:solidFill>
                <a:latin typeface="맑은 고딕"/>
              </a:rPr>
              <a:t>•  ③ 오류 번호의 문면을 그대로 믿지 않고 요건부터 확인한다</a:t>
            </a:r>
          </a:p>
          <a:p>
            <a:pPr algn="l">
              <a:spcAft>
                <a:spcPts val="1000"/>
              </a:spcAft>
            </a:pPr>
            <a:r>
              <a:rPr sz="1600" b="0">
                <a:solidFill>
                  <a:srgbClr val="222222"/>
                </a:solidFill>
                <a:latin typeface="맑은 고딕"/>
              </a:rPr>
              <a:t>•  세 습관 모두 "보이는 것"과 "실제"가 다를 수 있다는 같은 원칙에서 나온다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PROTECTION_MODE가 MAXIMUM AVAILABILITY인데 LEVEL이 RESYNCHRONIZATION이다. 무엇을 확인해야 하는가?</a:t>
            </a:r>
          </a:p>
          <a:p>
            <a:pPr algn="l">
              <a:spcAft>
                <a:spcPts val="1000"/>
              </a:spcAft>
            </a:pPr>
            <a:r>
              <a:rPr sz="1600" b="0">
                <a:solidFill>
                  <a:srgbClr val="222222"/>
                </a:solidFill>
                <a:latin typeface="맑은 고딕"/>
              </a:rPr>
              <a:t>•  Q2. VALID_NOW가 WRONG VALID_ROLE이다. 어떤 설정이 잘못됐고 증상은 어떻게 나타나는가?</a:t>
            </a:r>
          </a:p>
          <a:p>
            <a:pPr algn="l">
              <a:spcAft>
                <a:spcPts val="1000"/>
              </a:spcAft>
            </a:pPr>
            <a:r>
              <a:rPr sz="1600" b="0">
                <a:solidFill>
                  <a:srgbClr val="222222"/>
                </a:solidFill>
                <a:latin typeface="맑은 고딕"/>
              </a:rPr>
              <a:t>•  Q3. TRANSMIT_MODE가 PARALLELSYNC이고 AFFIRM이 YES라면 어떤 설정인가? 새로 뜨는 프로세스는?</a:t>
            </a:r>
          </a:p>
          <a:p>
            <a:pPr algn="l">
              <a:spcAft>
                <a:spcPts val="1000"/>
              </a:spcAft>
            </a:pPr>
            <a:r>
              <a:rPr sz="1600" b="0">
                <a:solidFill>
                  <a:srgbClr val="222222"/>
                </a:solidFill>
                <a:latin typeface="맑은 고딕"/>
              </a:rPr>
              <a:t>•  Q4. Performance에서 Protection으로 곧바로 전환하면 어떤 오류가 나며, 문면을 그대로 믿으면 안 되는 이유는?</a:t>
            </a:r>
          </a:p>
          <a:p>
            <a:pPr algn="l">
              <a:spcAft>
                <a:spcPts val="1000"/>
              </a:spcAft>
            </a:pPr>
            <a:r>
              <a:rPr sz="1600" b="0">
                <a:solidFill>
                  <a:srgbClr val="222222"/>
                </a:solidFill>
                <a:latin typeface="맑은 고딕"/>
              </a:rPr>
              <a:t>•  Q5. Maximum Protection에서 Standby에 SHUTDOWN IMMEDIATE를 실행하면 어떤 오류가 나는가? 왜 그런가?</a:t>
            </a:r>
          </a:p>
          <a:p>
            <a:pPr algn="l">
              <a:spcAft>
                <a:spcPts val="1000"/>
              </a:spcAft>
            </a:pPr>
            <a:r>
              <a:rPr sz="1600" b="0">
                <a:solidFill>
                  <a:srgbClr val="222222"/>
                </a:solidFill>
                <a:latin typeface="맑은 고딕"/>
              </a:rPr>
              <a:t>•  Q6. Maximum Protection에서 Standby를 강제 종료했을 때 Primary 알림 로그의 핵심 두 줄과 이후 복구 순서는?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전송 방식은 LOG_ARCHIVE_DEST_n에 속성으로 기술한다. 파라미터가 아니라 V$ARCHIVE_DEST의 열로 확인한다.</a:t>
            </a:r>
          </a:p>
          <a:p>
            <a:pPr algn="l">
              <a:spcAft>
                <a:spcPts val="1000"/>
              </a:spcAft>
            </a:pPr>
            <a:r>
              <a:rPr sz="1600" b="0">
                <a:solidFill>
                  <a:srgbClr val="222222"/>
                </a:solidFill>
                <a:latin typeface="맑은 고딕"/>
              </a:rPr>
              <a:t>•  VALID_FOR를 잘못 주면 오류 없이 조용히 전송이 멈춘다. 유일한 단서는 VALID_NOW = WRONG VALID_ROLE.</a:t>
            </a:r>
          </a:p>
          <a:p>
            <a:pPr algn="l">
              <a:spcAft>
                <a:spcPts val="1000"/>
              </a:spcAft>
            </a:pPr>
            <a:r>
              <a:rPr sz="1600" b="0">
                <a:solidFill>
                  <a:srgbClr val="222222"/>
                </a:solidFill>
                <a:latin typeface="맑은 고딕"/>
              </a:rPr>
              <a:t>•  동기는 NSSn, 비동기는 TTnn이 리두를 나른다. SYNC로 바꾸면 TRANSMIT_MODE가 PARALLELSYNC가 된다.</a:t>
            </a:r>
          </a:p>
          <a:p>
            <a:pPr algn="l">
              <a:spcAft>
                <a:spcPts val="1000"/>
              </a:spcAft>
            </a:pPr>
            <a:r>
              <a:rPr sz="1600" b="0">
                <a:solidFill>
                  <a:srgbClr val="222222"/>
                </a:solidFill>
                <a:latin typeface="맑은 고딕"/>
              </a:rPr>
              <a:t>•  SRL은 동기 전송과 실시간 적용의 전제다. 개수는 온라인 그룹 + 1 이상, 크기는 정확히 동일.</a:t>
            </a:r>
          </a:p>
          <a:p>
            <a:pPr algn="l">
              <a:spcAft>
                <a:spcPts val="1000"/>
              </a:spcAft>
            </a:pPr>
            <a:r>
              <a:rPr sz="1600" b="0">
                <a:solidFill>
                  <a:srgbClr val="222222"/>
                </a:solidFill>
                <a:latin typeface="맑은 고딕"/>
              </a:rPr>
              <a:t>•  보호 모드 세 가지, 기본값은 Maximum Performance. Protection과 Availability는 커밋 조건이 같다.</a:t>
            </a:r>
          </a:p>
          <a:p>
            <a:pPr algn="l">
              <a:spcAft>
                <a:spcPts val="1000"/>
              </a:spcAft>
            </a:pPr>
            <a:r>
              <a:rPr sz="1600" b="0">
                <a:solidFill>
                  <a:srgbClr val="222222"/>
                </a:solidFill>
                <a:latin typeface="맑은 고딕"/>
              </a:rPr>
              <a:t>•  PROTECTION_MODE는 설정값, PROTECTION_LEVEL은 달성 수준. 명령 성공만 보지 말고 LEVEL을 확인한다.</a:t>
            </a:r>
          </a:p>
          <a:p>
            <a:pPr algn="l">
              <a:spcAft>
                <a:spcPts val="1000"/>
              </a:spcAft>
            </a:pPr>
            <a:r>
              <a:rPr sz="1600" b="0">
                <a:solidFill>
                  <a:srgbClr val="222222"/>
                </a:solidFill>
                <a:latin typeface="맑은 고딕"/>
              </a:rPr>
              <a:t>•  실측: Performance→Protection 직접 전환은 ORA-01126. Availability를 거치되 LEVEL이 동기화된 뒤에야 성공했다.</a:t>
            </a:r>
          </a:p>
          <a:p>
            <a:pPr algn="l">
              <a:spcAft>
                <a:spcPts val="1000"/>
              </a:spcAft>
            </a:pPr>
            <a:r>
              <a:rPr sz="1600" b="0">
                <a:solidFill>
                  <a:srgbClr val="222222"/>
                </a:solidFill>
                <a:latin typeface="맑은 고딕"/>
              </a:rPr>
              <a:t>•  실측: Maximum Protection에서 Standby를 잃자 LGWR이 "Instance shutdown required to protect primary"를 남기고 Primary를 종료했다.</a:t>
            </a:r>
          </a:p>
          <a:p>
            <a:pPr algn="l">
              <a:spcAft>
                <a:spcPts val="1000"/>
              </a:spcAft>
            </a:pPr>
            <a:r>
              <a:rPr sz="1600" b="0">
                <a:solidFill>
                  <a:srgbClr val="222222"/>
                </a:solidFill>
                <a:latin typeface="맑은 고딕"/>
              </a:rPr>
              <a:t>•  Standby가 한 대뿐이라면 Maximum Protection을 도입하지 않는다.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현재 보호 모드 확인: 두 열의 차이와 SRL 요건을 점검한다. 요건 없이 모드를 올려 ORA-01126을 재현한다.</a:t>
            </a:r>
          </a:p>
          <a:p>
            <a:pPr algn="l">
              <a:spcAft>
                <a:spcPts val="1000"/>
              </a:spcAft>
            </a:pPr>
            <a:r>
              <a:rPr sz="1600" b="0">
                <a:solidFill>
                  <a:srgbClr val="222222"/>
                </a:solidFill>
                <a:latin typeface="맑은 고딕"/>
              </a:rPr>
              <a:t>•  실습 02 — LOG_ARCHIVE_DEST_2 속성 해부: SYNC/ASYNC·AFFIRM·VALID_FOR를 바꿔 가며 V$ARCHIVE_DEST의 변화를 관찰하고 WRONG VALID_ROLE을 재현한다.</a:t>
            </a:r>
          </a:p>
          <a:p>
            <a:pPr algn="l">
              <a:spcAft>
                <a:spcPts val="1000"/>
              </a:spcAft>
            </a:pPr>
            <a:r>
              <a:rPr sz="1600" b="0">
                <a:solidFill>
                  <a:srgbClr val="222222"/>
                </a:solidFill>
                <a:latin typeface="맑은 고딕"/>
              </a:rPr>
              <a:t>•  실습 03 — 보호 모드 전환: ORA-01126을 두 가지 경로로 재현하고 요건을 갖춰 Maximum Protection까지 올린다.</a:t>
            </a:r>
          </a:p>
          <a:p>
            <a:pPr algn="l">
              <a:spcAft>
                <a:spcPts val="1000"/>
              </a:spcAft>
            </a:pPr>
            <a:r>
              <a:rPr sz="1600" b="0">
                <a:solidFill>
                  <a:srgbClr val="222222"/>
                </a:solidFill>
                <a:latin typeface="맑은 고딕"/>
              </a:rPr>
              <a:t>•  실습 04 — 모드별 Primary 동작: Availability와 Protection 각각에서 Standby를 내려 차이를 실증한다. ORA-01154와 인스턴스 자동 종료를 확인한다.</a:t>
            </a:r>
          </a:p>
          <a:p>
            <a:pPr algn="l">
              <a:spcAft>
                <a:spcPts val="1000"/>
              </a:spcAft>
            </a:pPr>
            <a:r>
              <a:rPr sz="1600" b="0">
                <a:solidFill>
                  <a:srgbClr val="222222"/>
                </a:solidFill>
                <a:latin typeface="맑은 고딕"/>
              </a:rPr>
              <a:t>•  실습 05 — MODE와 LEVEL 어긋남: RESYNCHRONIZATION을 두 경로로 재현하고 설정 문제와 장애를 구분하는 기준을 세운다.</a:t>
            </a:r>
          </a:p>
          <a:p>
            <a:pPr algn="l">
              <a:spcAft>
                <a:spcPts val="1000"/>
              </a:spcAft>
            </a:pPr>
            <a:r>
              <a:rPr sz="1600" b="0">
                <a:solidFill>
                  <a:srgbClr val="222222"/>
                </a:solidFill>
                <a:latin typeface="맑은 고딕"/>
              </a:rPr>
              <a:t>•  실습 04는 Primary를 실제로 종료시킨다. 개인 실습 환경에서만, 다른 실습과 겹치지 않게 진행한다.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
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9장의 Active Data Guard 는 강력하지만 읽기 전용이다. 쓰기를 시도하면 ORA-16000 이 난다. 그런데 시험해야 할 것들 중에는 쓰기를 요구하는 것이 많다. 이 목록의 공통점은 운영과 같은 크기·분포의 데이터에서 해야 의미가 있다는 것이다. 개발 환경의 작은 데이터로는 실행 계획이 다르게 나오고 소요 시간도 참고가 되지 않는다. 반대로 조회만으로 되는 시험이라면 9장의 ADG 로 충분하다. 굳이 전환할 이유가 없다.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되돌리기가 쉬운 방법일수록 데이터 시점이 최신이라는 점을 함께 본다. 이 둘이 같이 가는 것이 Snapshot Standby 의 강점이다. 백업 복원은 되돌리기가 곧 다시 복원이므로 시험을 반복할수록 비용이 커진다. 반대로 적합한 시험의 폭은 좁다. 단기 검증에 맞춰져 있으며 개발팀이 몇 주씩 쓰는 환경으로는 맞지 않는다. 표를 볼 때 자기 조직의 상황을 대입해 본다. 테스트 DB 가 이미 있고 잘 쓰이고 있다면 굳이 바꿀 필요는 없다.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번째가 가장 무겁다. 그래서 운영에서는 Standby 를 둘 이상 두고 하나만 전환한다. Standby 가 하나뿐이라면 그 기간 동안 보호가 없다는 것을 인지하고 승인을 받아야 한다. 라이선스는 조금 미묘하다. 같은 Standby 를 평소 ADG 로 조회에 쓴다면 ADG 옵션이 필요하다. 어느 상태로 쓰느냐가 아니라 어느 기능을 쓰느냐가 기준이다. 세 가지 대가를 감수할 수 없다면 이 기능을 쓰지 않는 것이 맞다. 기능이 있다고 해서 써야 하는 것은 아니다.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10장을 마친 상태 그대로다. 매 장의 출발점을 명시하는 이유는 실습을 이어서 하기 때문이다. 여기서 값이 다르다면 앞 장의 원상 복구가 덜 된 것이므로 먼저 맞추고 시작한다. 특히 MRP0 이 살아 있고 두 지연이 0 인지 확인한다. 이미 밀려 있는 상태에서 전환하면 복귀 후 따라잡는 데 더 오래 걸린다. 값이 어긋났을 때 가장 확실한 복구는 VM 스냅샷 adg-configured 로 되돌리는 것이다. 실습 환경의 안전망이다.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플래시백 로깅은 임의의 시점으로 자유롭게 돌아가게 해 주며 그러려면 상시 로그를 남겨야 한다. 보장 복원 지점은 특정 시점 하나로 돌아가는 것만 보장한다. Snapshot Standby 가 필요한 것은 딱 그것이다. 전환 시점 하나로만 돌아가면 된다. 전환 후 값이 RESTORE POINT ONLY 가 되는 것이 이 사실을 정확히 표현한다. 전환 전에 플래시백을 미리 켤 필요가 없다는 뜻이기도 하다. 준비가 그만큼 간단해진다.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①을 소홀히 하면 시험 도중에 데이터베이스가 멈춘다. 보장 복원 지점은 FRA 가 부족해도 지워지지 않으므로 공간을 비울 방법이 없다. ③은 Primary 의 아카이브 보관 정책과 함께 본다. 전환 기간이 그보다 길면 아직 적용되지 않은 아카이브를 Primary 가 지워 갭이 생길 수 있다. ⑧번째로 비교 기준 데이터를 심어 두는 것도 권한다. 되돌리기가 동작했는지 확인할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것이 결과이고 뒤의 것이 원인이다. 여기서 오라클의 설계 원칙이 드러난다. 되돌릴 준비를 먼저 하고 바꾼다. 만약 순서가 반대여서 역할부터 바꾼 뒤 복원 지점 생성이 실패했다면 되돌릴 수 없는 어중간한 상태가 만들어졌을 것이다. 조치는 간단하다. MRP 를 멈춘다. 그러면 READ ONLY WITH APPLY 가 READ ONLY 로 바뀐다. 오류 메시지를 끝까지 읽는 습관이 여기서 값을 한다. 두 번째 줄에 진짜 원인이 있었다.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OPEN_MODE 가 MOUNTED 로 바뀐 것을 놓치기 쉽다. 열려 있는 상태에서 명령을 냈는데 끝나고 보니 마운트다. 전환 과정에서 데이터베이스를 닫았다가 다시 마운트했기 때문이며 그래서 따로 열어야 한다. CONTROLFILE_TYPE 이 CURRENT 가 된 것이 특히 중요하다. Primary 와 같은 값이며 그래서 MRP 를 띄울 수 없다. 네 값을 한 줄로 조회하는 습관을 들이면 지금 어느 단계인지 헷갈릴 일이 없다.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GUARANTEE 가 YES 인 것이 핵심이다. 일반 복원 지점은 FRA 가 부족하면 오라클이 지우지만 보장 복원 지점은 지우지 않는다. 반드시 되돌아갈 수 있게 하겠다는 약속이므로 대신 데이터베이스가 멈춘다. 이름이 길고 날짜가 들어 있어 실수로 지우기 어렵다는 점도 다행이다. 정리 스크립트를 쓴다면 SNAPSHOT_STANDBY_REQUIRED 로 시작하는 것은 반드시 제외한다.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실수가 반복해서 생기는 이유가 있다. ALTER DATABASE OPEN 이 성공하고 V$DATABASE.OPEN_MODE 도 READ WRITE 이므로 다 끝났다고 생각하게 된다. V$PDBS 를 따로 보지 않으면 알 수 없다. 게다가 오류는 애플리케이션 쪽에서 먼저 나타난다. DBA 는 CDB 에서 확인하고 정상이라고 판단했는데 사용자는 PDB 에 접속하므로 오류를 본다. 여는 절차의 마지막에 PDB 열기를 반드시 넣는다.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두 데이터베이스가 갈라지기 시작한다. Primary 쪽 1번 행은 여전히 before-snapshot 이고 Snapshot 쪽은 modified-on-snapshot 이다. 이 차이가 실습 07 의 검증 근거가 된다. 되돌린 뒤 before-snapshot 으로 복귀하면 되돌리기가 동작했다는 뜻이다. 시험을 설계할 때도 이런 비교 기준을 미리 심어 두면 좋다. 뷰 조회만으로는 놓치는 문제가 있으므로 작은 쓰기 하나로 확인하는 것이 확실하다.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MOUNTED 에서 0 이 나오는 것은 알아 둘 만한 값이다. 복원 지점 SCN 과 비교하려고 조회했다가 당황하기 쉽다. V$DATABASE.CURRENT_SCN 은 열려 있을 때만 의미 있는 값을 준다. 복원 지점의 SCN 은 전환 시점에 고정되어 움직이지 않고 CURRENT_SCN 만 앞으로 나아간다. 되돌리기는 이 구간을 되감는 작업이다. 이 차이를 기록해 두면 되돌리기가 얼마나 걸릴지 가늠하는 데 도움이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메시지가 데이터 파일을 언급하지 않고 컨트롤 파일을 말한다는 점이 힌트다. 어떤 데이터베이스에서 MRP 가 뜰지 알고 싶으면 역할을 볼 것이 아니라 CONTROLFILE_TYPE 을 보면 된다. 이 구별이 실무에서 유용하다. STATUS 는 여전히 VALID 로 남는다는 점도 함께 본다. 목적지 자체는 정상이며 두 열이 다른 질문에 답한다. 같은 오류를 세 장에 걸쳐 만났다는 것은 그만큼 근본적인 규칙이라는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두 값을 구별해 배운 것이 여기서 쓰인다. 조합으로 원인을 좁힐 수 있다. transport 0 에 apply 증가면 적용이 멈춘 것이고, 둘 다 증가면 전송이 끊긴 것이다. 후자라면 7장의 진단 절차로 간다. Primary 가 영향받지 않는다는 점도 중요하다. 운영 데이터베이스를 건드리지 않고 시험할 수 있는 이유가 여기 있다. 감시 도구에 경보를 걸어 두었다면 apply lag 경보가 울릴 것이다. 전환 기간에는 그 경보를 잠시 눌러 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평소에는 이 위험이 작다. Standby 가 실시간으로 적용하므로 지워도 되는 아카이브만 남는다. 전환 중에만 생기는 위험이다. 며칠씩 전환해 두면 정리 정책에 걸릴 수 있다. 복귀 후 apply lag 이 0 으로 수렴하는지 확인하는 것도 이 때문이다. 줄지 않는다면 V$ARCHIVE_GAP 을 조회해 갭이 생겼는지 본다. 전환을 시작할 때 종료 시각을 달력에 적어 두는 것이 가장 단순하고 효과적인 대책이다.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플래시백 로그는 바뀐 블록의 이전 이미지를 통째로 남긴다. 한 행을 고쳐도 그 행이 속한 블록 전체가 대상이다. 그래서 흩어진 소량 갱신이 집중된 대량 갱신보다 오히려 비쌀 수 있고 예측이 어렵다. 감시가 가장 현실적인 대응이다. 주의할 것은 V$RESTORE_POINT 의 STORAGE_SIZE 로 감시하면 안 된다는 점이다. 다음 슬라이드에서 다룬다. 시험 스크립트를 미리 읽어 어느 테이블을 얼마나 건드리는지 가늠해 두면 예측이 조금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예상과 다른 실측이었다. 쓰기 전 200MB, 대량 쓰기 후에도 200MB 였다. 미리 잡아 둔 한 덩어리 안에서 감당됐다는 뜻이다. 이 값을 감시 지표로 삼았다면 위험이 커지는 것을 놓쳤을 것이다. 전체 사용률에 여유를 두는 이유는 아카이브 로그도 계속 쌓이기 때문이다. 증가 속도가 남은 시험 시간 안에 한계에 닿을 것으로 계산되면 그때도 중단한다. 예상과 다른 실측을 만났을 때 문서를 의심하기보다 값을 기록해 두는 것이 낫다.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 시험을 한 번에 하는 것보다 나누는 편이 나은 이유가 이 숫자에 있다. 다만 되돌리기와 재전환에 재기동이 두 번 들어간다. 실습 환경에서도 몇 분이 걸린다. 시험 하나가 5분이라면 나누는 것이 오히려 손해다. 나누는 단위는 되돌리기 비용보다 커야 한다는 것이 판단 기준이다. 실습에서는 세 번 전환했고 매번 복원 지점이 새로 만들어졌다가 되돌릴 때 사라졌다. 반복해도 흔적이 남지 않는다는 점이 이 기능의 장점이다. 다만 재기동 시간은 매번 든다.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되돌릴 준비를 먼저 하고 바꾼다. 오라클이 위험한 작업을 설계할 때 쓰는 일반적인 원칙이기도 하다. 만약 역할부터 바꾼 뒤 복원 지점 생성이 실패했다면 되돌릴 수 없는 어중간한 상태가 만들어졌을 것이다. 복귀 명령은 이 순서를 거꾸로 밟으며, 되감기가 첫 단계이므로 실패하면 역할이 그대로 남는다. 양쪽 모두 안전한 순서다. 이런 식으로 오류 메시지와 관찰값에서 내부 동작을 역으로 추론하는 연습은 다른 기능에도 그대로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요구가 다른 이유는 하는 일이 다르기 때문이다. 전환은 복원 지점을 만들고 표시를 바꾸는 일이지만 복귀는 데이터 파일을 복원 지점 시점으로 되감는 일이다. 되감으려면 아무도 그 파일을 쓰고 있지 않아야 한다. 복원 지점은 지우라고 한 적이 없는데 없어진다. 임무를 마쳤으므로 오라클이 정리한 것이다. SHUTDOWN IMMEDIATE 가 Database closed. 부터 시작하면 열려 있었다는 뜻이고, ORA-01109 가 나오면 마운트 상태였다는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⑤와 ⑥의 순서가 이 절차의 함정이다. 반대로 하면 ORA-10456 이다. ADG 를 쓰지 않는다면 ⑤를 건너뛰고 MOUNT 에서 ⑥만 해도 되며, 그때는 조회가 안 될 뿐 복제는 정상이다. ①을 절차의 첫 단계로 넣어 둔 이유는 잊기 쉽기 때문이다. 되돌린 뒤에 아차 하면 이미 늦었다. 절차를 스크립트로 만들어 두면 좋다. 다만 각 단계 뒤에 확인 조회를 넣어 실패를 조용히 지나치지 않게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실수가 흔한 이유는 MOUNT 상태에서도 MRP 가 잘 뜨기 때문이다. 오류 없이 Database altered. 가 나오므로 잘못됐다는 신호가 없다. 문제는 그다음에 드러난다. 게다가 ADG 를 쓰지 않는 환경에서는 이 순서가 아무 문제가 없다. MOUNT 에서 MRP 만 돌려도 복제는 정상이고 조회가 안 될 뿐이다. 그래서 ADG 환경으로 옮겨 왔을 때 예전 습관대로 하다가 만난다.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PDB 를 세 번 열었다. 전환 후 한 번, 복귀 후 한 번, 재기동할 때마다 또 한 번이다. 컨테이너를 여닫을 때마다 반복된다. ALTER PLUGGABLE DATABASE ALL OPEN 으로 한꺼번에 열거나, SAVE STATE 를 써서 다음 기동에서 자동으로 열리게 할 수도 있다. 자동화 스크립트를 쓴다면 마지막 단계에 반드시 넣는다. 명령을 외우기보다 지금 어떤 역할인지 먼저 확인하면 어느 쪽을 써야 할지 저절로 나온다.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가지가 한꺼번에 일어난다는 점이 핵심이다. 되돌리기는 원래 자리로 돌아가는 것에서 끝나지 않는다. 원래 자리로 돌아간 뒤 그동안 밀린 리두를 따라잡는다. FRA 400MB 회수도 함께 본다. 반대로 말하면 되돌리기 전에는 회수되지 않는다. FRA 가 차서 곤란할 때 공간을 비울 유일한 방법이 되돌리는 것이라고 한 이유가 여기 있다. 검증 없이 복귀를 끝냈다고 판단하면 나중에 갭을 뒤늦게 발견하게 된다. 두 지연이 0 으로 수렴하는지 반드시 본다.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조합으로 읽는 법도 정해져 있다. SNAPSHOT STANDBY 에 READ WRITE 면 시험 가능, MOUNTED 면 열어야 한다. apply lag 증가에 RFS 있고 MRP0 없으면 정상적인 Snapshot 동작이다. PHYSICAL STANDBY 에 복원 지점 0행이면 복귀 완료다. FLASHBACK LOG 비율이 계속 오르면 시험이 데이터를 많이 바꾸고 있으니 임계 감시로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나누는 것이 유리한 이유가 셋 있다. 쌓이는 리두가 적고, FRA 사용량이 매번 초기화되며, 각 시험이 더 최신 데이터에서 이뤄진다. 실측에서 두 번째 전환의 복원 지점 SCN 이 2252853 에서 2253716 으로 앞으로 나아갔다. 다만 되돌리기와 재전환에 재기동이 두 번 들어가므로 시험 하나가 5분이라면 나누는 것이 오히려 손해다. 판단이 애매하면 기간을 짧게 잡고 한 번 해 보는 것이 낫다. 되돌리면 흔적이 남지 않으므로 시도 비용이 낮다.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줄이면 역할·개방 모드·컨트롤 파일 유형·플래시백 상태를 한꺼번에 볼 수 있다. 조합별 판정도 정해져 있다. SNAPSHOT STANDBY 에 MOUNTED 면 열어야 하고, READ WRITE 면 시험 가능 상태이며, PHYSICAL STANDBY 에 복원 지점 0행이면 복귀 완료다. 명령을 내리기 전에 이 한 줄을 먼저 실행하는 습관을 들이면 이 장의 오류 대부분을 피할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Snapshot Standby</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Standby 를 잠시 빌려 쓰기</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되돌릴 준비를 먼저 하고 바꾼다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Snapshot Standby 가 필요한 상황을 ADG 의 한계와 연결해 설명한다.</a:t>
            </a:r>
          </a:p>
          <a:p>
            <a:pPr algn="l">
              <a:spcAft>
                <a:spcPts val="1000"/>
              </a:spcAft>
            </a:pPr>
            <a:r>
              <a:rPr sz="1600" b="0">
                <a:solidFill>
                  <a:srgbClr val="222222"/>
                </a:solidFill>
                <a:latin typeface="맑은 고딕"/>
              </a:rPr>
              <a:t>•  전환에 필요한 전제 조건을 확인하고 준비한다.</a:t>
            </a:r>
          </a:p>
          <a:p>
            <a:pPr algn="l">
              <a:spcAft>
                <a:spcPts val="1000"/>
              </a:spcAft>
            </a:pPr>
            <a:r>
              <a:rPr sz="1600" b="0">
                <a:solidFill>
                  <a:srgbClr val="222222"/>
                </a:solidFill>
                <a:latin typeface="맑은 고딕"/>
              </a:rPr>
              <a:t>•  전환 후 역할·컨트롤 파일 유형·플래시백 상태의 변화를 읽는다.</a:t>
            </a:r>
          </a:p>
          <a:p>
            <a:pPr algn="l">
              <a:spcAft>
                <a:spcPts val="1000"/>
              </a:spcAft>
            </a:pPr>
            <a:r>
              <a:rPr sz="1600" b="0">
                <a:solidFill>
                  <a:srgbClr val="222222"/>
                </a:solidFill>
                <a:latin typeface="맑은 고딕"/>
              </a:rPr>
              <a:t>•  보장 복원 지점이 자동 생성되는 것을 확인하고 의미를 설명한다.</a:t>
            </a:r>
          </a:p>
          <a:p>
            <a:pPr algn="l">
              <a:spcAft>
                <a:spcPts val="1000"/>
              </a:spcAft>
            </a:pPr>
            <a:r>
              <a:rPr sz="1600" b="0">
                <a:solidFill>
                  <a:srgbClr val="222222"/>
                </a:solidFill>
                <a:latin typeface="맑은 고딕"/>
              </a:rPr>
              <a:t>•  Snapshot Standby 에서 되는 일과 안 되는 일을 구분한다.</a:t>
            </a:r>
          </a:p>
          <a:p>
            <a:pPr algn="l">
              <a:spcAft>
                <a:spcPts val="1000"/>
              </a:spcAft>
            </a:pPr>
            <a:r>
              <a:rPr sz="1600" b="0">
                <a:solidFill>
                  <a:srgbClr val="222222"/>
                </a:solidFill>
                <a:latin typeface="맑은 고딕"/>
              </a:rPr>
              <a:t>•  되돌리기 절차를 수행하고 데이터가 원래대로 돌아왔음을 검증한다.</a:t>
            </a:r>
          </a:p>
          <a:p>
            <a:pPr algn="l">
              <a:spcAft>
                <a:spcPts val="1000"/>
              </a:spcAft>
            </a:pPr>
            <a:r>
              <a:rPr sz="1600" b="0">
                <a:solidFill>
                  <a:srgbClr val="222222"/>
                </a:solidFill>
                <a:latin typeface="맑은 고딕"/>
              </a:rPr>
              <a:t>•  ORA-38784·ORA-01153·ORA-01665·ORA-10456 을 해석한다.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11.2  왜 Snapshot Standby 인가</a:t>
            </a:r>
          </a:p>
          <a:p>
            <a:pPr algn="l">
              <a:spcAft>
                <a:spcPts val="1000"/>
              </a:spcAft>
            </a:pPr>
            <a:r>
              <a:rPr sz="1600" b="0">
                <a:solidFill>
                  <a:srgbClr val="222222"/>
                </a:solidFill>
                <a:latin typeface="맑은 고딕"/>
              </a:rPr>
              <a:t>•  11.3  전환 전에 확인할 것</a:t>
            </a:r>
          </a:p>
          <a:p>
            <a:pPr algn="l">
              <a:spcAft>
                <a:spcPts val="1000"/>
              </a:spcAft>
            </a:pPr>
            <a:r>
              <a:rPr sz="1600" b="0">
                <a:solidFill>
                  <a:srgbClr val="222222"/>
                </a:solidFill>
                <a:latin typeface="맑은 고딕"/>
              </a:rPr>
              <a:t>•  11.4  전환</a:t>
            </a:r>
          </a:p>
          <a:p>
            <a:pPr algn="l">
              <a:spcAft>
                <a:spcPts val="1000"/>
              </a:spcAft>
            </a:pPr>
            <a:r>
              <a:rPr sz="1600" b="0">
                <a:solidFill>
                  <a:srgbClr val="222222"/>
                </a:solidFill>
                <a:latin typeface="맑은 고딕"/>
              </a:rPr>
              <a:t>•  11.5  전환 중에 무슨 일이 일어나는가</a:t>
            </a:r>
          </a:p>
          <a:p>
            <a:pPr algn="l">
              <a:spcAft>
                <a:spcPts val="1000"/>
              </a:spcAft>
            </a:pPr>
            <a:r>
              <a:rPr sz="1600" b="0">
                <a:solidFill>
                  <a:srgbClr val="222222"/>
                </a:solidFill>
                <a:latin typeface="맑은 고딕"/>
              </a:rPr>
              <a:t>•  11.6  되돌리기</a:t>
            </a:r>
          </a:p>
          <a:p>
            <a:pPr algn="l">
              <a:spcAft>
                <a:spcPts val="1000"/>
              </a:spcAft>
            </a:pPr>
            <a:r>
              <a:rPr sz="1600" b="0">
                <a:solidFill>
                  <a:srgbClr val="222222"/>
                </a:solidFill>
                <a:latin typeface="맑은 고딕"/>
              </a:rPr>
              <a:t>•  11.7  운영에서의 판단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왜 Snapshot Standby 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조회만으로 안 되는 일</a:t>
            </a:r>
          </a:p>
          <a:p>
            <a:pPr algn="l">
              <a:spcAft>
                <a:spcPts val="800"/>
              </a:spcAft>
            </a:pPr>
            <a:r>
              <a:rPr sz="1600" b="0">
                <a:solidFill>
                  <a:srgbClr val="FFFFFF"/>
                </a:solidFill>
                <a:latin typeface="맑은 고딕"/>
              </a:rPr>
              <a:t>•  대가는 무엇인가</a:t>
            </a:r>
          </a:p>
          <a:p>
            <a:pPr algn="l">
              <a:spcAft>
                <a:spcPts val="800"/>
              </a:spcAft>
            </a:pPr>
            <a:r>
              <a:rPr sz="1600" b="0">
                <a:solidFill>
                  <a:srgbClr val="FFFFFF"/>
                </a:solidFill>
                <a:latin typeface="맑은 고딕"/>
              </a:rPr>
              <a:t>•  다른 방법들과 나란히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조회만으로 안 되는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쓰기가 필요한 시험들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새 애플리케이션 배포 시험 — DDL 이 실행된다</a:t>
            </a:r>
          </a:p>
          <a:p>
            <a:pPr algn="l">
              <a:spcAft>
                <a:spcPts val="1000"/>
              </a:spcAft>
            </a:pPr>
            <a:r>
              <a:rPr sz="1700" b="0">
                <a:solidFill>
                  <a:srgbClr val="222222"/>
                </a:solidFill>
                <a:latin typeface="맑은 고딕"/>
              </a:rPr>
              <a:t>•  통계 재수집 후 계획 비교 — 딕셔너리를 갱신한다</a:t>
            </a:r>
          </a:p>
          <a:p>
            <a:pPr algn="l">
              <a:spcAft>
                <a:spcPts val="1000"/>
              </a:spcAft>
            </a:pPr>
            <a:r>
              <a:rPr sz="1700" b="0">
                <a:solidFill>
                  <a:srgbClr val="222222"/>
                </a:solidFill>
                <a:latin typeface="맑은 고딕"/>
              </a:rPr>
              <a:t>•  대량 배치 소요 시간 측정 — 실제로 데이터를 바꿔야 한다</a:t>
            </a:r>
          </a:p>
          <a:p>
            <a:pPr algn="l">
              <a:spcAft>
                <a:spcPts val="1000"/>
              </a:spcAft>
            </a:pPr>
            <a:r>
              <a:rPr sz="1700" b="0">
                <a:solidFill>
                  <a:srgbClr val="222222"/>
                </a:solidFill>
                <a:latin typeface="맑은 고딕"/>
              </a:rPr>
              <a:t>•  마이그레이션 스크립트 검증 — 구조가 바뀐다</a:t>
            </a:r>
          </a:p>
          <a:p>
            <a:pPr algn="l">
              <a:spcAft>
                <a:spcPts val="1000"/>
              </a:spcAft>
            </a:pPr>
            <a:r>
              <a:rPr sz="1700" b="0">
                <a:solidFill>
                  <a:srgbClr val="222222"/>
                </a:solidFill>
                <a:latin typeface="맑은 고딕"/>
              </a:rPr>
              <a:t>•  장애 상황 재현 — 일부러 망가뜨린다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 가지 방법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자리가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백업 복원 — 준비 오래, 공간 사본 하나, 데이터는 백업 시점</a:t>
            </a:r>
          </a:p>
          <a:p>
            <a:pPr algn="l">
              <a:spcAft>
                <a:spcPts val="1000"/>
              </a:spcAft>
            </a:pPr>
            <a:r>
              <a:rPr sz="1700" b="0">
                <a:solidFill>
                  <a:srgbClr val="222222"/>
                </a:solidFill>
                <a:latin typeface="맑은 고딕"/>
              </a:rPr>
              <a:t>•  export/import — 준비 더 오래, 공간 사본 하나, 추출 시점</a:t>
            </a:r>
          </a:p>
          <a:p>
            <a:pPr algn="l">
              <a:spcAft>
                <a:spcPts val="1000"/>
              </a:spcAft>
            </a:pPr>
            <a:r>
              <a:rPr sz="1700" b="0">
                <a:solidFill>
                  <a:srgbClr val="222222"/>
                </a:solidFill>
                <a:latin typeface="맑은 고딕"/>
              </a:rPr>
              <a:t>•  </a:t>
            </a:r>
            <a:r>
              <a:rPr sz="1700" b="1">
                <a:solidFill>
                  <a:srgbClr val="222222"/>
                </a:solidFill>
                <a:latin typeface="맑은 고딕"/>
              </a:rPr>
              <a:t>Snapshot Standby</a:t>
            </a:r>
            <a:r>
              <a:rPr sz="1700" b="0">
                <a:solidFill>
                  <a:srgbClr val="222222"/>
                </a:solidFill>
                <a:latin typeface="맑은 고딕"/>
              </a:rPr>
              <a:t> — </a:t>
            </a:r>
            <a:r>
              <a:rPr sz="1700" b="1">
                <a:solidFill>
                  <a:srgbClr val="222222"/>
                </a:solidFill>
                <a:latin typeface="맑은 고딕"/>
              </a:rPr>
              <a:t>명령 한 줄</a:t>
            </a:r>
            <a:r>
              <a:rPr sz="1700" b="0">
                <a:solidFill>
                  <a:srgbClr val="222222"/>
                </a:solidFill>
                <a:latin typeface="맑은 고딕"/>
              </a:rPr>
              <a:t>, </a:t>
            </a:r>
            <a:r>
              <a:rPr sz="1700" b="1">
                <a:solidFill>
                  <a:srgbClr val="222222"/>
                </a:solidFill>
                <a:latin typeface="맑은 고딕"/>
              </a:rPr>
              <a:t>기존 Standby 재사용</a:t>
            </a:r>
            <a:r>
              <a:rPr sz="1700" b="0">
                <a:solidFill>
                  <a:srgbClr val="222222"/>
                </a:solidFill>
                <a:latin typeface="맑은 고딕"/>
              </a:rPr>
              <a:t>, </a:t>
            </a:r>
            <a:r>
              <a:rPr sz="1700" b="1">
                <a:solidFill>
                  <a:srgbClr val="222222"/>
                </a:solidFill>
                <a:latin typeface="맑은 고딕"/>
              </a:rPr>
              <a:t>전환 직전까지</a:t>
            </a:r>
          </a:p>
          <a:p>
            <a:pPr algn="l">
              <a:spcAft>
                <a:spcPts val="1000"/>
              </a:spcAft>
            </a:pPr>
            <a:r>
              <a:rPr sz="1700" b="0">
                <a:solidFill>
                  <a:srgbClr val="222222"/>
                </a:solidFill>
                <a:latin typeface="맑은 고딕"/>
              </a:rPr>
              <a:t>•  ADG (Physical Standby) — 실시간이지만 </a:t>
            </a:r>
            <a:r>
              <a:rPr sz="1700" b="1">
                <a:solidFill>
                  <a:srgbClr val="222222"/>
                </a:solidFill>
                <a:latin typeface="맑은 고딕"/>
              </a:rPr>
              <a:t>조회만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대가는 셋</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공짜가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① 재해 복구 능력이 잠시 사라진다</a:t>
            </a:r>
            <a:r>
              <a:rPr sz="1700" b="0">
                <a:solidFill>
                  <a:srgbClr val="222222"/>
                </a:solidFill>
                <a:latin typeface="맑은 고딕"/>
              </a:rPr>
              <a:t> — 적용이 멈춘다</a:t>
            </a:r>
          </a:p>
          <a:p>
            <a:pPr algn="l">
              <a:spcAft>
                <a:spcPts val="1000"/>
              </a:spcAft>
            </a:pPr>
            <a:r>
              <a:rPr sz="1700" b="0">
                <a:solidFill>
                  <a:srgbClr val="222222"/>
                </a:solidFill>
                <a:latin typeface="맑은 고딕"/>
              </a:rPr>
              <a:t>•  </a:t>
            </a:r>
            <a:r>
              <a:rPr sz="1700" b="1">
                <a:solidFill>
                  <a:srgbClr val="222222"/>
                </a:solidFill>
                <a:latin typeface="맑은 고딕"/>
              </a:rPr>
              <a:t>② FRA 를 쓴다</a:t>
            </a:r>
            <a:r>
              <a:rPr sz="1700" b="0">
                <a:solidFill>
                  <a:srgbClr val="222222"/>
                </a:solidFill>
                <a:latin typeface="맑은 고딕"/>
              </a:rPr>
              <a:t> — 플래시백 로그. 실습에서 405MB</a:t>
            </a:r>
          </a:p>
          <a:p>
            <a:pPr algn="l">
              <a:spcAft>
                <a:spcPts val="1000"/>
              </a:spcAft>
            </a:pPr>
            <a:r>
              <a:rPr sz="1700" b="0">
                <a:solidFill>
                  <a:srgbClr val="222222"/>
                </a:solidFill>
                <a:latin typeface="맑은 고딕"/>
              </a:rPr>
              <a:t>•  </a:t>
            </a:r>
            <a:r>
              <a:rPr sz="1700" b="1">
                <a:solidFill>
                  <a:srgbClr val="222222"/>
                </a:solidFill>
                <a:latin typeface="맑은 고딕"/>
              </a:rPr>
              <a:t>③ 되돌리면 전부 사라진다</a:t>
            </a:r>
            <a:r>
              <a:rPr sz="1700" b="0">
                <a:solidFill>
                  <a:srgbClr val="222222"/>
                </a:solidFill>
                <a:latin typeface="맑은 고딕"/>
              </a:rPr>
              <a:t> — 남길 것은 미리 빼낸다</a:t>
            </a:r>
          </a:p>
          <a:p>
            <a:pPr algn="l">
              <a:spcAft>
                <a:spcPts val="1000"/>
              </a:spcAft>
            </a:pPr>
            <a:r>
              <a:rPr sz="1700" b="0">
                <a:solidFill>
                  <a:srgbClr val="222222"/>
                </a:solidFill>
                <a:latin typeface="맑은 고딕"/>
              </a:rPr>
              <a:t>•  라이선스 — ADG 옵션은 </a:t>
            </a:r>
            <a:r>
              <a:rPr sz="1700" b="1">
                <a:solidFill>
                  <a:srgbClr val="222222"/>
                </a:solidFill>
                <a:latin typeface="맑은 고딕"/>
              </a:rPr>
              <a:t>필요 없다</a:t>
            </a:r>
            <a:r>
              <a:rPr sz="1700" b="0">
                <a:solidFill>
                  <a:srgbClr val="222222"/>
                </a:solidFill>
                <a:latin typeface="맑은 고딕"/>
              </a:rPr>
              <a:t>. EE 의 Data Guard 범위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전환 전에 확인할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출발점</a:t>
            </a:r>
          </a:p>
          <a:p>
            <a:pPr algn="l">
              <a:spcAft>
                <a:spcPts val="800"/>
              </a:spcAft>
            </a:pPr>
            <a:r>
              <a:rPr sz="1600" b="0">
                <a:solidFill>
                  <a:srgbClr val="FFFFFF"/>
                </a:solidFill>
                <a:latin typeface="맑은 고딕"/>
              </a:rPr>
              <a:t>•  FRA 와 플래시백</a:t>
            </a:r>
          </a:p>
          <a:p>
            <a:pPr algn="l">
              <a:spcAft>
                <a:spcPts val="800"/>
              </a:spcAft>
            </a:pPr>
            <a:r>
              <a:rPr sz="1600" b="0">
                <a:solidFill>
                  <a:srgbClr val="FFFFFF"/>
                </a:solidFill>
                <a:latin typeface="맑은 고딕"/>
              </a:rPr>
              <a:t>•  점검표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출발점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11장은 여기서 시작한다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chicago — PRIMARY / READ WRITE / MAXIMUM PERFORMANCE</a:t>
            </a:r>
          </a:p>
          <a:p>
            <a:pPr algn="l">
              <a:spcAft>
                <a:spcPts val="1000"/>
              </a:spcAft>
            </a:pPr>
            <a:r>
              <a:rPr sz="1700" b="0">
                <a:solidFill>
                  <a:srgbClr val="222222"/>
                </a:solidFill>
                <a:latin typeface="맑은 고딕"/>
              </a:rPr>
              <a:t>•  boston — PHYSICAL STANDBY / </a:t>
            </a:r>
            <a:r>
              <a:rPr sz="1700" b="1">
                <a:solidFill>
                  <a:srgbClr val="222222"/>
                </a:solidFill>
                <a:latin typeface="맑은 고딕"/>
              </a:rPr>
              <a:t>READ ONLY WITH APPLY</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 MANAGED REAL TIME APPLY</a:t>
            </a:r>
          </a:p>
          <a:p>
            <a:pPr algn="l">
              <a:spcAft>
                <a:spcPts val="1000"/>
              </a:spcAft>
            </a:pPr>
            <a:r>
              <a:rPr sz="1700" b="0">
                <a:solidFill>
                  <a:srgbClr val="222222"/>
                </a:solidFill>
                <a:latin typeface="맑은 고딕"/>
              </a:rPr>
              <a:t>•  MRP0 — APPLYING_LOG (시퀀스 40)</a:t>
            </a:r>
          </a:p>
          <a:p>
            <a:pPr algn="l">
              <a:spcAft>
                <a:spcPts val="1000"/>
              </a:spcAft>
            </a:pPr>
            <a:r>
              <a:rPr sz="1700" b="0">
                <a:solidFill>
                  <a:srgbClr val="222222"/>
                </a:solidFill>
                <a:latin typeface="맑은 고딕"/>
              </a:rPr>
              <a:t>•  Far Sync 는 내려가 있다. 이 장은 </a:t>
            </a:r>
            <a:r>
              <a:rPr sz="1700" b="1">
                <a:solidFill>
                  <a:srgbClr val="222222"/>
                </a:solidFill>
                <a:latin typeface="맑은 고딕"/>
              </a:rPr>
              <a:t>2노드만</a:t>
            </a:r>
            <a:r>
              <a:rPr sz="1700" b="0">
                <a:solidFill>
                  <a:srgbClr val="222222"/>
                </a:solidFill>
                <a:latin typeface="맑은 고딕"/>
              </a:rPr>
              <a:t> 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뜻밖의 값</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FLASHBACK_ON 이 NO 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전환 전 boston — </a:t>
            </a:r>
            <a:r>
              <a:rPr sz="1700" b="0">
                <a:solidFill>
                  <a:srgbClr val="222222"/>
                </a:solidFill>
                <a:latin typeface="Consolas"/>
                <a:cs typeface="Consolas"/>
              </a:rPr>
              <a:t>FLASHBACK_ON = NO</a:t>
            </a:r>
          </a:p>
          <a:p>
            <a:pPr algn="l">
              <a:spcAft>
                <a:spcPts val="1000"/>
              </a:spcAft>
            </a:pPr>
            <a:r>
              <a:rPr sz="1700" b="0">
                <a:solidFill>
                  <a:srgbClr val="222222"/>
                </a:solidFill>
                <a:latin typeface="맑은 고딕"/>
              </a:rPr>
              <a:t>•  Primary 도 </a:t>
            </a:r>
            <a:r>
              <a:rPr sz="1700" b="0">
                <a:solidFill>
                  <a:srgbClr val="222222"/>
                </a:solidFill>
                <a:latin typeface="Consolas"/>
                <a:cs typeface="Consolas"/>
              </a:rPr>
              <a:t>NO</a:t>
            </a:r>
          </a:p>
          <a:p>
            <a:pPr algn="l">
              <a:spcAft>
                <a:spcPts val="1000"/>
              </a:spcAft>
            </a:pPr>
            <a:r>
              <a:rPr sz="1700" b="0">
                <a:solidFill>
                  <a:srgbClr val="222222"/>
                </a:solidFill>
                <a:latin typeface="맑은 고딕"/>
              </a:rPr>
              <a:t>•  그런데 전환이 된다</a:t>
            </a:r>
          </a:p>
          <a:p>
            <a:pPr algn="l">
              <a:spcAft>
                <a:spcPts val="1000"/>
              </a:spcAft>
            </a:pPr>
            <a:r>
              <a:rPr sz="1700" b="0">
                <a:solidFill>
                  <a:srgbClr val="222222"/>
                </a:solidFill>
                <a:latin typeface="맑은 고딕"/>
              </a:rPr>
              <a:t>•  이유 — 전체 플래시백 로깅이 아니라 </a:t>
            </a:r>
            <a:r>
              <a:rPr sz="1700" b="1">
                <a:solidFill>
                  <a:srgbClr val="222222"/>
                </a:solidFill>
                <a:latin typeface="맑은 고딕"/>
              </a:rPr>
              <a:t>보장 복원 지점</a:t>
            </a:r>
            <a:r>
              <a:rPr sz="1700" b="0">
                <a:solidFill>
                  <a:srgbClr val="222222"/>
                </a:solidFill>
                <a:latin typeface="맑은 고딕"/>
              </a:rPr>
              <a:t>을 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전 점검표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다섯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① FRA 여유</a:t>
            </a:r>
            <a:r>
              <a:rPr sz="1700" b="0">
                <a:solidFill>
                  <a:srgbClr val="222222"/>
                </a:solidFill>
                <a:latin typeface="맑은 고딕"/>
              </a:rPr>
              <a:t> — 실습 15,360MB 중 1,536MB 사용</a:t>
            </a:r>
          </a:p>
          <a:p>
            <a:pPr algn="l">
              <a:spcAft>
                <a:spcPts val="1000"/>
              </a:spcAft>
            </a:pPr>
            <a:r>
              <a:rPr sz="1700" b="0">
                <a:solidFill>
                  <a:srgbClr val="222222"/>
                </a:solidFill>
                <a:latin typeface="맑은 고딕"/>
              </a:rPr>
              <a:t>•  </a:t>
            </a:r>
            <a:r>
              <a:rPr sz="1700" b="1">
                <a:solidFill>
                  <a:srgbClr val="222222"/>
                </a:solidFill>
                <a:latin typeface="맑은 고딕"/>
              </a:rPr>
              <a:t>② 다른 Standby 가 있는가</a:t>
            </a:r>
            <a:r>
              <a:rPr sz="1700" b="0">
                <a:solidFill>
                  <a:srgbClr val="222222"/>
                </a:solidFill>
                <a:latin typeface="맑은 고딕"/>
              </a:rPr>
              <a:t> — 전환하면 재해 복구 대상이 아니다</a:t>
            </a:r>
          </a:p>
          <a:p>
            <a:pPr algn="l">
              <a:spcAft>
                <a:spcPts val="1000"/>
              </a:spcAft>
            </a:pPr>
            <a:r>
              <a:rPr sz="1700" b="0">
                <a:solidFill>
                  <a:srgbClr val="222222"/>
                </a:solidFill>
                <a:latin typeface="맑은 고딕"/>
              </a:rPr>
              <a:t>•  </a:t>
            </a:r>
            <a:r>
              <a:rPr sz="1700" b="1">
                <a:solidFill>
                  <a:srgbClr val="222222"/>
                </a:solidFill>
                <a:latin typeface="맑은 고딕"/>
              </a:rPr>
              <a:t>③ 언제까지 쓸 것인가</a:t>
            </a:r>
            <a:r>
              <a:rPr sz="1700" b="0">
                <a:solidFill>
                  <a:srgbClr val="222222"/>
                </a:solidFill>
                <a:latin typeface="맑은 고딕"/>
              </a:rPr>
              <a:t> — 길수록 리두가 쌓인다</a:t>
            </a:r>
          </a:p>
          <a:p>
            <a:pPr algn="l">
              <a:spcAft>
                <a:spcPts val="1000"/>
              </a:spcAft>
            </a:pPr>
            <a:r>
              <a:rPr sz="1700" b="0">
                <a:solidFill>
                  <a:srgbClr val="222222"/>
                </a:solidFill>
                <a:latin typeface="맑은 고딕"/>
              </a:rPr>
              <a:t>•  </a:t>
            </a:r>
            <a:r>
              <a:rPr sz="1700" b="1">
                <a:solidFill>
                  <a:srgbClr val="222222"/>
                </a:solidFill>
                <a:latin typeface="맑은 고딕"/>
              </a:rPr>
              <a:t>④ 남길 것은 무엇인가</a:t>
            </a:r>
            <a:r>
              <a:rPr sz="1700" b="0">
                <a:solidFill>
                  <a:srgbClr val="222222"/>
                </a:solidFill>
                <a:latin typeface="맑은 고딕"/>
              </a:rPr>
              <a:t> — 되돌리면 전부 사라진다</a:t>
            </a:r>
          </a:p>
          <a:p>
            <a:pPr algn="l">
              <a:spcAft>
                <a:spcPts val="1000"/>
              </a:spcAft>
            </a:pPr>
            <a:r>
              <a:rPr sz="1700" b="0">
                <a:solidFill>
                  <a:srgbClr val="222222"/>
                </a:solidFill>
                <a:latin typeface="맑은 고딕"/>
              </a:rPr>
              <a:t>•  </a:t>
            </a:r>
            <a:r>
              <a:rPr sz="1700" b="1">
                <a:solidFill>
                  <a:srgbClr val="222222"/>
                </a:solidFill>
                <a:latin typeface="맑은 고딕"/>
              </a:rPr>
              <a:t>⑤ 알림은 했는가</a:t>
            </a:r>
            <a:r>
              <a:rPr sz="1700" b="0">
                <a:solidFill>
                  <a:srgbClr val="222222"/>
                </a:solidFill>
                <a:latin typeface="맑은 고딕"/>
              </a:rPr>
              <a:t> — ADG 조회 사용자가 있다면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먼저 실패해 본다</a:t>
            </a:r>
          </a:p>
          <a:p>
            <a:pPr algn="l">
              <a:spcAft>
                <a:spcPts val="800"/>
              </a:spcAft>
            </a:pPr>
            <a:r>
              <a:rPr sz="1600" b="0">
                <a:solidFill>
                  <a:srgbClr val="FFFFFF"/>
                </a:solidFill>
                <a:latin typeface="맑은 고딕"/>
              </a:rPr>
              <a:t>•  네 값이 바뀐다</a:t>
            </a:r>
          </a:p>
          <a:p>
            <a:pPr algn="l">
              <a:spcAft>
                <a:spcPts val="800"/>
              </a:spcAft>
            </a:pPr>
            <a:r>
              <a:rPr sz="1600" b="0">
                <a:solidFill>
                  <a:srgbClr val="FFFFFF"/>
                </a:solidFill>
                <a:latin typeface="맑은 고딕"/>
              </a:rPr>
              <a:t>•  복원 지점 읽기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ORA-38784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메시지가 설계를 드러낸다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MRP 가 도는 채로 전환 → 오류 두 줄</a:t>
            </a:r>
          </a:p>
          <a:p>
            <a:pPr algn="l">
              <a:spcAft>
                <a:spcPts val="1000"/>
              </a:spcAft>
            </a:pPr>
            <a:r>
              <a:rPr sz="1700" b="0">
                <a:solidFill>
                  <a:srgbClr val="222222"/>
                </a:solidFill>
                <a:latin typeface="맑은 고딕"/>
              </a:rPr>
              <a:t>•  </a:t>
            </a:r>
            <a:r>
              <a:rPr sz="1700" b="0">
                <a:solidFill>
                  <a:srgbClr val="222222"/>
                </a:solidFill>
                <a:latin typeface="Consolas"/>
                <a:cs typeface="Consolas"/>
              </a:rPr>
              <a:t>ORA-38784: Cannot create restore point 'SNAPSHOT_STANDBY_REQUIRED_...'</a:t>
            </a:r>
          </a:p>
          <a:p>
            <a:pPr algn="l">
              <a:spcAft>
                <a:spcPts val="1000"/>
              </a:spcAft>
            </a:pPr>
            <a:r>
              <a:rPr sz="1700" b="0">
                <a:solidFill>
                  <a:srgbClr val="222222"/>
                </a:solidFill>
                <a:latin typeface="맑은 고딕"/>
              </a:rPr>
              <a:t>•  </a:t>
            </a:r>
            <a:r>
              <a:rPr sz="1700" b="0">
                <a:solidFill>
                  <a:srgbClr val="222222"/>
                </a:solidFill>
                <a:latin typeface="Consolas"/>
                <a:cs typeface="Consolas"/>
              </a:rPr>
              <a:t>ORA-01153: an incompatible media recovery is active</a:t>
            </a:r>
          </a:p>
          <a:p>
            <a:pPr algn="l">
              <a:spcAft>
                <a:spcPts val="1000"/>
              </a:spcAft>
            </a:pPr>
            <a:r>
              <a:rPr sz="1700" b="0">
                <a:solidFill>
                  <a:srgbClr val="222222"/>
                </a:solidFill>
                <a:latin typeface="맑은 고딕"/>
              </a:rPr>
              <a:t>•  읽어 낼 수 있는 것 — </a:t>
            </a:r>
            <a:r>
              <a:rPr sz="1700" b="1">
                <a:solidFill>
                  <a:srgbClr val="222222"/>
                </a:solidFill>
                <a:latin typeface="맑은 고딕"/>
              </a:rPr>
              <a:t>전환의 첫 단계가 복원 지점 생성</a:t>
            </a:r>
          </a:p>
          <a:p>
            <a:pPr algn="l">
              <a:spcAft>
                <a:spcPts val="1000"/>
              </a:spcAft>
            </a:pPr>
            <a:r>
              <a:rPr sz="1700" b="0">
                <a:solidFill>
                  <a:srgbClr val="222222"/>
                </a:solidFill>
                <a:latin typeface="맑은 고딕"/>
              </a:rPr>
              <a:t>•  복원 지점은 </a:t>
            </a:r>
            <a:r>
              <a:rPr sz="1700" b="1">
                <a:solidFill>
                  <a:srgbClr val="222222"/>
                </a:solidFill>
                <a:latin typeface="맑은 고딕"/>
              </a:rPr>
              <a:t>SCN 이 고정</a:t>
            </a:r>
            <a:r>
              <a:rPr sz="1700" b="0">
                <a:solidFill>
                  <a:srgbClr val="222222"/>
                </a:solidFill>
                <a:latin typeface="맑은 고딕"/>
              </a:rPr>
              <a:t>되어야 만들 수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값이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DATABASE_ROLE</a:t>
            </a:r>
            <a:r>
              <a:rPr sz="1700" b="0">
                <a:solidFill>
                  <a:srgbClr val="222222"/>
                </a:solidFill>
                <a:latin typeface="맑은 고딕"/>
              </a:rPr>
              <a:t> — PHYSICAL STANDBY → </a:t>
            </a:r>
            <a:r>
              <a:rPr sz="1700" b="1">
                <a:solidFill>
                  <a:srgbClr val="222222"/>
                </a:solidFill>
                <a:latin typeface="맑은 고딕"/>
              </a:rPr>
              <a:t>SNAPSHOT STANDBY</a:t>
            </a:r>
          </a:p>
          <a:p>
            <a:pPr algn="l">
              <a:spcAft>
                <a:spcPts val="1000"/>
              </a:spcAft>
            </a:pPr>
            <a:r>
              <a:rPr sz="1700" b="0">
                <a:solidFill>
                  <a:srgbClr val="222222"/>
                </a:solidFill>
                <a:latin typeface="맑은 고딕"/>
              </a:rPr>
              <a:t>•  </a:t>
            </a:r>
            <a:r>
              <a:rPr sz="1700" b="0">
                <a:solidFill>
                  <a:srgbClr val="222222"/>
                </a:solidFill>
                <a:latin typeface="Consolas"/>
                <a:cs typeface="Consolas"/>
              </a:rPr>
              <a:t>CONTROLFILE_TYPE</a:t>
            </a:r>
            <a:r>
              <a:rPr sz="1700" b="0">
                <a:solidFill>
                  <a:srgbClr val="222222"/>
                </a:solidFill>
                <a:latin typeface="맑은 고딕"/>
              </a:rPr>
              <a:t> — STANDBY → </a:t>
            </a:r>
            <a:r>
              <a:rPr sz="1700" b="1">
                <a:solidFill>
                  <a:srgbClr val="222222"/>
                </a:solidFill>
                <a:latin typeface="맑은 고딕"/>
              </a:rPr>
              <a:t>CURRENT</a:t>
            </a:r>
          </a:p>
          <a:p>
            <a:pPr algn="l">
              <a:spcAft>
                <a:spcPts val="1000"/>
              </a:spcAft>
            </a:pPr>
            <a:r>
              <a:rPr sz="1700" b="0">
                <a:solidFill>
                  <a:srgbClr val="222222"/>
                </a:solidFill>
                <a:latin typeface="맑은 고딕"/>
              </a:rPr>
              <a:t>•  </a:t>
            </a:r>
            <a:r>
              <a:rPr sz="1700" b="0">
                <a:solidFill>
                  <a:srgbClr val="222222"/>
                </a:solidFill>
                <a:latin typeface="Consolas"/>
                <a:cs typeface="Consolas"/>
              </a:rPr>
              <a:t>FLASHBACK_ON</a:t>
            </a:r>
            <a:r>
              <a:rPr sz="1700" b="0">
                <a:solidFill>
                  <a:srgbClr val="222222"/>
                </a:solidFill>
                <a:latin typeface="맑은 고딕"/>
              </a:rPr>
              <a:t> — NO → </a:t>
            </a:r>
            <a:r>
              <a:rPr sz="1700" b="1">
                <a:solidFill>
                  <a:srgbClr val="222222"/>
                </a:solidFill>
                <a:latin typeface="맑은 고딕"/>
              </a:rPr>
              <a:t>RESTORE POINT ONLY</a:t>
            </a:r>
          </a:p>
          <a:p>
            <a:pPr algn="l">
              <a:spcAft>
                <a:spcPts val="1000"/>
              </a:spcAft>
            </a:pPr>
            <a:r>
              <a:rPr sz="1700" b="0">
                <a:solidFill>
                  <a:srgbClr val="222222"/>
                </a:solidFill>
                <a:latin typeface="맑은 고딕"/>
              </a:rPr>
              <a:t>•  </a:t>
            </a:r>
            <a:r>
              <a:rPr sz="1700" b="0">
                <a:solidFill>
                  <a:srgbClr val="222222"/>
                </a:solidFill>
                <a:latin typeface="Consolas"/>
                <a:cs typeface="Consolas"/>
              </a:rPr>
              <a:t>OPEN_MODE</a:t>
            </a:r>
            <a:r>
              <a:rPr sz="1700" b="0">
                <a:solidFill>
                  <a:srgbClr val="222222"/>
                </a:solidFill>
                <a:latin typeface="맑은 고딕"/>
              </a:rPr>
              <a:t> — READ ONLY → </a:t>
            </a:r>
            <a:r>
              <a:rPr sz="1700" b="1">
                <a:solidFill>
                  <a:srgbClr val="222222"/>
                </a:solidFill>
                <a:latin typeface="맑은 고딕"/>
              </a:rPr>
              <a:t>MOUNTED</a:t>
            </a:r>
          </a:p>
          <a:p>
            <a:pPr algn="l">
              <a:spcAft>
                <a:spcPts val="1000"/>
              </a:spcAft>
            </a:pPr>
            <a:r>
              <a:rPr sz="1700" b="0">
                <a:solidFill>
                  <a:srgbClr val="222222"/>
                </a:solidFill>
                <a:latin typeface="맑은 고딕"/>
              </a:rPr>
              <a:t>•  열린 채로도 전환된다. MOUNT 로 내릴 필요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복원 지점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되돌아갈 자리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 — </a:t>
            </a:r>
            <a:r>
              <a:rPr sz="1700" b="0">
                <a:solidFill>
                  <a:srgbClr val="222222"/>
                </a:solidFill>
                <a:latin typeface="Consolas"/>
                <a:cs typeface="Consolas"/>
              </a:rPr>
              <a:t>SNAPSHOT_STANDBY_REQUIRED_08/27/2026 16:16:43</a:t>
            </a:r>
          </a:p>
          <a:p>
            <a:pPr algn="l">
              <a:spcAft>
                <a:spcPts val="1000"/>
              </a:spcAft>
            </a:pPr>
            <a:r>
              <a:rPr sz="1700" b="0">
                <a:solidFill>
                  <a:srgbClr val="222222"/>
                </a:solidFill>
                <a:latin typeface="맑은 고딕"/>
              </a:rPr>
              <a:t>•  SCN — 2252853 (전환 시점에 고정)</a:t>
            </a:r>
          </a:p>
          <a:p>
            <a:pPr algn="l">
              <a:spcAft>
                <a:spcPts val="1000"/>
              </a:spcAft>
            </a:pPr>
            <a:r>
              <a:rPr sz="1700" b="0">
                <a:solidFill>
                  <a:srgbClr val="222222"/>
                </a:solidFill>
                <a:latin typeface="맑은 고딕"/>
              </a:rPr>
              <a:t>•  </a:t>
            </a:r>
            <a:r>
              <a:rPr sz="1700" b="0">
                <a:solidFill>
                  <a:srgbClr val="222222"/>
                </a:solidFill>
                <a:latin typeface="Consolas"/>
                <a:cs typeface="Consolas"/>
              </a:rPr>
              <a:t>GUARANTEE_FLASHBACK_DATABASE</a:t>
            </a:r>
            <a:r>
              <a:rPr sz="1700" b="0">
                <a:solidFill>
                  <a:srgbClr val="222222"/>
                </a:solidFill>
                <a:latin typeface="맑은 고딕"/>
              </a:rPr>
              <a:t> — </a:t>
            </a:r>
            <a:r>
              <a:rPr sz="1700" b="1">
                <a:solidFill>
                  <a:srgbClr val="222222"/>
                </a:solidFill>
                <a:latin typeface="맑은 고딕"/>
              </a:rPr>
              <a:t>YES</a:t>
            </a:r>
          </a:p>
          <a:p>
            <a:pPr algn="l">
              <a:spcAft>
                <a:spcPts val="1000"/>
              </a:spcAft>
            </a:pPr>
            <a:r>
              <a:rPr sz="1700" b="0">
                <a:solidFill>
                  <a:srgbClr val="222222"/>
                </a:solidFill>
                <a:latin typeface="맑은 고딕"/>
              </a:rPr>
              <a:t>•  </a:t>
            </a:r>
            <a:r>
              <a:rPr sz="1700" b="0">
                <a:solidFill>
                  <a:srgbClr val="222222"/>
                </a:solidFill>
                <a:latin typeface="Consolas"/>
                <a:cs typeface="Consolas"/>
              </a:rPr>
              <a:t>STORAGE_SIZE</a:t>
            </a:r>
            <a:r>
              <a:rPr sz="1700" b="0">
                <a:solidFill>
                  <a:srgbClr val="222222"/>
                </a:solidFill>
                <a:latin typeface="맑은 고딕"/>
              </a:rPr>
              <a:t> — 200MB</a:t>
            </a:r>
          </a:p>
          <a:p>
            <a:pPr algn="l">
              <a:spcAft>
                <a:spcPts val="1000"/>
              </a:spcAft>
            </a:pPr>
            <a:r>
              <a:rPr sz="1700" b="0">
                <a:solidFill>
                  <a:srgbClr val="222222"/>
                </a:solidFill>
                <a:latin typeface="맑은 고딕"/>
              </a:rPr>
              <a:t>•  </a:t>
            </a:r>
            <a:r>
              <a:rPr sz="1700" b="1">
                <a:solidFill>
                  <a:srgbClr val="222222"/>
                </a:solidFill>
                <a:latin typeface="맑은 고딕"/>
              </a:rPr>
              <a:t>REQUIRED</a:t>
            </a:r>
            <a:r>
              <a:rPr sz="1700" b="0">
                <a:solidFill>
                  <a:srgbClr val="222222"/>
                </a:solidFill>
                <a:latin typeface="맑은 고딕"/>
              </a:rPr>
              <a:t> 는 지우면 안 된다는 표시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열고 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PDB 는 따라오지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DATABASE OPEN</a:t>
            </a:r>
            <a:r>
              <a:rPr sz="1700" b="0">
                <a:solidFill>
                  <a:srgbClr val="222222"/>
                </a:solidFill>
                <a:latin typeface="맑은 고딕"/>
              </a:rPr>
              <a:t> → </a:t>
            </a:r>
            <a:r>
              <a:rPr sz="1700" b="1">
                <a:solidFill>
                  <a:srgbClr val="222222"/>
                </a:solidFill>
                <a:latin typeface="맑은 고딕"/>
              </a:rPr>
              <a:t>READ WRITE</a:t>
            </a:r>
            <a:r>
              <a:rPr sz="1700" b="0">
                <a:solidFill>
                  <a:srgbClr val="222222"/>
                </a:solidFill>
                <a:latin typeface="맑은 고딕"/>
              </a:rPr>
              <a:t> (READ ONLY 가 아니다)</a:t>
            </a:r>
          </a:p>
          <a:p>
            <a:pPr algn="l">
              <a:spcAft>
                <a:spcPts val="1000"/>
              </a:spcAft>
            </a:pPr>
            <a:r>
              <a:rPr sz="1700" b="0">
                <a:solidFill>
                  <a:srgbClr val="222222"/>
                </a:solidFill>
                <a:latin typeface="맑은 고딕"/>
              </a:rPr>
              <a:t>•  </a:t>
            </a:r>
            <a:r>
              <a:rPr sz="1700" b="0">
                <a:solidFill>
                  <a:srgbClr val="222222"/>
                </a:solidFill>
                <a:latin typeface="Consolas"/>
                <a:cs typeface="Consolas"/>
              </a:rPr>
              <a:t>V$PDBS</a:t>
            </a:r>
            <a:r>
              <a:rPr sz="1700" b="0">
                <a:solidFill>
                  <a:srgbClr val="222222"/>
                </a:solidFill>
                <a:latin typeface="맑은 고딕"/>
              </a:rPr>
              <a:t> — CHICAGO_PDB1 이 </a:t>
            </a:r>
            <a:r>
              <a:rPr sz="1700" b="1">
                <a:solidFill>
                  <a:srgbClr val="222222"/>
                </a:solidFill>
                <a:latin typeface="맑은 고딕"/>
              </a:rPr>
              <a:t>MOUNTED</a:t>
            </a:r>
            <a:r>
              <a:rPr sz="1700" b="0">
                <a:solidFill>
                  <a:srgbClr val="222222"/>
                </a:solidFill>
                <a:latin typeface="맑은 고딕"/>
              </a:rPr>
              <a:t> 로 남는다</a:t>
            </a:r>
          </a:p>
          <a:p>
            <a:pPr algn="l">
              <a:spcAft>
                <a:spcPts val="1000"/>
              </a:spcAft>
            </a:pPr>
            <a:r>
              <a:rPr sz="1700" b="0">
                <a:solidFill>
                  <a:srgbClr val="222222"/>
                </a:solidFill>
                <a:latin typeface="맑은 고딕"/>
              </a:rPr>
              <a:t>•  조회하면 </a:t>
            </a:r>
            <a:r>
              <a:rPr sz="1700" b="1">
                <a:solidFill>
                  <a:srgbClr val="222222"/>
                </a:solidFill>
                <a:latin typeface="맑은 고딕"/>
              </a:rPr>
              <a:t>ORA-01219</a:t>
            </a:r>
          </a:p>
          <a:p>
            <a:pPr algn="l">
              <a:spcAft>
                <a:spcPts val="1000"/>
              </a:spcAft>
            </a:pPr>
            <a:r>
              <a:rPr sz="1700" b="0">
                <a:solidFill>
                  <a:srgbClr val="222222"/>
                </a:solidFill>
                <a:latin typeface="맑은 고딕"/>
              </a:rPr>
              <a:t>•  </a:t>
            </a:r>
            <a:r>
              <a:rPr sz="1700" b="0">
                <a:solidFill>
                  <a:srgbClr val="222222"/>
                </a:solidFill>
                <a:latin typeface="Consolas"/>
                <a:cs typeface="Consolas"/>
              </a:rPr>
              <a:t>ALTER PLUGGABLE DATABASE ... OPEN</a:t>
            </a:r>
            <a:r>
              <a:rPr sz="1700" b="0">
                <a:solidFill>
                  <a:srgbClr val="222222"/>
                </a:solidFill>
                <a:latin typeface="맑은 고딕"/>
              </a:rPr>
              <a:t> 으로 따로 연다</a:t>
            </a:r>
          </a:p>
          <a:p>
            <a:pPr algn="l">
              <a:spcAft>
                <a:spcPts val="1000"/>
              </a:spcAft>
            </a:pPr>
            <a:r>
              <a:rPr sz="1700" b="0">
                <a:solidFill>
                  <a:srgbClr val="222222"/>
                </a:solidFill>
                <a:latin typeface="맑은 고딕"/>
              </a:rPr>
              <a:t>•  CDB·PDB 양쪽에 DDL·DML·COMMIT 모두 가능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실제로 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이것이 목적이다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CDB — </a:t>
            </a:r>
            <a:r>
              <a:rPr sz="1700" b="0">
                <a:solidFill>
                  <a:srgbClr val="222222"/>
                </a:solidFill>
                <a:latin typeface="Consolas"/>
                <a:cs typeface="Consolas"/>
              </a:rPr>
              <a:t>CREATE TABLE</a:t>
            </a:r>
            <a:r>
              <a:rPr sz="1700" b="0">
                <a:solidFill>
                  <a:srgbClr val="222222"/>
                </a:solidFill>
                <a:latin typeface="맑은 고딕"/>
              </a:rPr>
              <a:t> / </a:t>
            </a:r>
            <a:r>
              <a:rPr sz="1700" b="0">
                <a:solidFill>
                  <a:srgbClr val="222222"/>
                </a:solidFill>
                <a:latin typeface="Consolas"/>
                <a:cs typeface="Consolas"/>
              </a:rPr>
              <a:t>INSERT</a:t>
            </a:r>
            <a:r>
              <a:rPr sz="1700" b="0">
                <a:solidFill>
                  <a:srgbClr val="222222"/>
                </a:solidFill>
                <a:latin typeface="맑은 고딕"/>
              </a:rPr>
              <a:t> / </a:t>
            </a:r>
            <a:r>
              <a:rPr sz="1700" b="0">
                <a:solidFill>
                  <a:srgbClr val="222222"/>
                </a:solidFill>
                <a:latin typeface="Consolas"/>
                <a:cs typeface="Consolas"/>
              </a:rPr>
              <a:t>COMMIT</a:t>
            </a:r>
            <a:r>
              <a:rPr sz="1700" b="0">
                <a:solidFill>
                  <a:srgbClr val="222222"/>
                </a:solidFill>
                <a:latin typeface="맑은 고딕"/>
              </a:rPr>
              <a:t> 모두 성공</a:t>
            </a:r>
          </a:p>
          <a:p>
            <a:pPr algn="l">
              <a:spcAft>
                <a:spcPts val="1000"/>
              </a:spcAft>
            </a:pPr>
            <a:r>
              <a:rPr sz="1700" b="0">
                <a:solidFill>
                  <a:srgbClr val="222222"/>
                </a:solidFill>
                <a:latin typeface="맑은 고딕"/>
              </a:rPr>
              <a:t>•  기존 행 </a:t>
            </a:r>
            <a:r>
              <a:rPr sz="1700" b="0">
                <a:solidFill>
                  <a:srgbClr val="222222"/>
                </a:solidFill>
                <a:latin typeface="Consolas"/>
                <a:cs typeface="Consolas"/>
              </a:rPr>
              <a:t>UPDATE</a:t>
            </a:r>
            <a:r>
              <a:rPr sz="1700" b="0">
                <a:solidFill>
                  <a:srgbClr val="222222"/>
                </a:solidFill>
                <a:latin typeface="맑은 고딕"/>
              </a:rPr>
              <a:t> — </a:t>
            </a:r>
            <a:r>
              <a:rPr sz="1700" b="0">
                <a:solidFill>
                  <a:srgbClr val="222222"/>
                </a:solidFill>
                <a:latin typeface="Consolas"/>
                <a:cs typeface="Consolas"/>
              </a:rPr>
              <a:t>before-snapshot</a:t>
            </a:r>
            <a:r>
              <a:rPr sz="1700" b="0">
                <a:solidFill>
                  <a:srgbClr val="222222"/>
                </a:solidFill>
                <a:latin typeface="맑은 고딕"/>
              </a:rPr>
              <a:t> → </a:t>
            </a:r>
            <a:r>
              <a:rPr sz="1700" b="0">
                <a:solidFill>
                  <a:srgbClr val="222222"/>
                </a:solidFill>
                <a:latin typeface="Consolas"/>
                <a:cs typeface="Consolas"/>
              </a:rPr>
              <a:t>modified-on-snapshot</a:t>
            </a:r>
          </a:p>
          <a:p>
            <a:pPr algn="l">
              <a:spcAft>
                <a:spcPts val="1000"/>
              </a:spcAft>
            </a:pPr>
            <a:r>
              <a:rPr sz="1700" b="0">
                <a:solidFill>
                  <a:srgbClr val="222222"/>
                </a:solidFill>
                <a:latin typeface="맑은 고딕"/>
              </a:rPr>
              <a:t>•  PDB 안에서도 같다</a:t>
            </a:r>
          </a:p>
          <a:p>
            <a:pPr algn="l">
              <a:spcAft>
                <a:spcPts val="1000"/>
              </a:spcAft>
            </a:pPr>
            <a:r>
              <a:rPr sz="1700" b="0">
                <a:solidFill>
                  <a:srgbClr val="222222"/>
                </a:solidFill>
                <a:latin typeface="맑은 고딕"/>
              </a:rPr>
              <a:t>•  9장에서 같은 명령이 </a:t>
            </a:r>
            <a:r>
              <a:rPr sz="1700" b="1">
                <a:solidFill>
                  <a:srgbClr val="222222"/>
                </a:solidFill>
                <a:latin typeface="맑은 고딕"/>
              </a:rPr>
              <a:t>ORA-16000</a:t>
            </a:r>
            <a:r>
              <a:rPr sz="1700" b="0">
                <a:solidFill>
                  <a:srgbClr val="222222"/>
                </a:solidFill>
                <a:latin typeface="맑은 고딕"/>
              </a:rPr>
              <a:t> 을 냈던 것과 대조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SCN 이 벌어진다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되돌릴 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MOUNTED 에서 </a:t>
            </a:r>
            <a:r>
              <a:rPr sz="1700" b="0">
                <a:solidFill>
                  <a:srgbClr val="222222"/>
                </a:solidFill>
                <a:latin typeface="Consolas"/>
                <a:cs typeface="Consolas"/>
              </a:rPr>
              <a:t>CURRENT_SCN</a:t>
            </a:r>
            <a:r>
              <a:rPr sz="1700" b="0">
                <a:solidFill>
                  <a:srgbClr val="222222"/>
                </a:solidFill>
                <a:latin typeface="맑은 고딕"/>
              </a:rPr>
              <a:t> → </a:t>
            </a:r>
            <a:r>
              <a:rPr sz="1700" b="1">
                <a:solidFill>
                  <a:srgbClr val="222222"/>
                </a:solidFill>
                <a:latin typeface="맑은 고딕"/>
              </a:rPr>
              <a:t>0</a:t>
            </a:r>
            <a:r>
              <a:rPr sz="1700" b="0">
                <a:solidFill>
                  <a:srgbClr val="222222"/>
                </a:solidFill>
                <a:latin typeface="맑은 고딕"/>
              </a:rPr>
              <a:t> (열려 있어야 값이 나온다)</a:t>
            </a:r>
          </a:p>
          <a:p>
            <a:pPr algn="l">
              <a:spcAft>
                <a:spcPts val="1000"/>
              </a:spcAft>
            </a:pPr>
            <a:r>
              <a:rPr sz="1700" b="0">
                <a:solidFill>
                  <a:srgbClr val="222222"/>
                </a:solidFill>
                <a:latin typeface="맑은 고딕"/>
              </a:rPr>
              <a:t>•  연 뒤 쓰기 → 복원 지점 </a:t>
            </a:r>
            <a:r>
              <a:rPr sz="1700" b="1">
                <a:solidFill>
                  <a:srgbClr val="222222"/>
                </a:solidFill>
                <a:latin typeface="맑은 고딕"/>
              </a:rPr>
              <a:t>2255344</a:t>
            </a:r>
            <a:r>
              <a:rPr sz="1700" b="0">
                <a:solidFill>
                  <a:srgbClr val="222222"/>
                </a:solidFill>
                <a:latin typeface="맑은 고딕"/>
              </a:rPr>
              <a:t> / </a:t>
            </a:r>
            <a:r>
              <a:rPr sz="1700" b="0">
                <a:solidFill>
                  <a:srgbClr val="222222"/>
                </a:solidFill>
                <a:latin typeface="Consolas"/>
                <a:cs typeface="Consolas"/>
              </a:rPr>
              <a:t>CURRENT_SCN</a:t>
            </a:r>
            <a:r>
              <a:rPr sz="1700" b="0">
                <a:solidFill>
                  <a:srgbClr val="222222"/>
                </a:solidFill>
                <a:latin typeface="맑은 고딕"/>
              </a:rPr>
              <a:t> </a:t>
            </a:r>
            <a:r>
              <a:rPr sz="1700" b="1">
                <a:solidFill>
                  <a:srgbClr val="222222"/>
                </a:solidFill>
                <a:latin typeface="맑은 고딕"/>
              </a:rPr>
              <a:t>2256351</a:t>
            </a:r>
          </a:p>
          <a:p>
            <a:pPr algn="l">
              <a:spcAft>
                <a:spcPts val="1000"/>
              </a:spcAft>
            </a:pPr>
            <a:r>
              <a:rPr sz="1700" b="0">
                <a:solidFill>
                  <a:srgbClr val="222222"/>
                </a:solidFill>
                <a:latin typeface="맑은 고딕"/>
              </a:rPr>
              <a:t>•  차이 </a:t>
            </a:r>
            <a:r>
              <a:rPr sz="1700" b="1">
                <a:solidFill>
                  <a:srgbClr val="222222"/>
                </a:solidFill>
                <a:latin typeface="맑은 고딕"/>
              </a:rPr>
              <a:t>1,007</a:t>
            </a:r>
            <a:r>
              <a:rPr sz="1700" b="0">
                <a:solidFill>
                  <a:srgbClr val="222222"/>
                </a:solidFill>
                <a:latin typeface="맑은 고딕"/>
              </a:rPr>
              <a:t> 이 되돌릴 양</a:t>
            </a:r>
          </a:p>
          <a:p>
            <a:pPr algn="l">
              <a:spcAft>
                <a:spcPts val="1000"/>
              </a:spcAft>
            </a:pPr>
            <a:r>
              <a:rPr sz="1700" b="0">
                <a:solidFill>
                  <a:srgbClr val="222222"/>
                </a:solidFill>
                <a:latin typeface="맑은 고딕"/>
              </a:rPr>
              <a:t>•  시험이 길수록 이 차이가 벌어진다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전환 중에 무슨 일이 일어나는가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적용은 멈춘다</a:t>
            </a:r>
          </a:p>
          <a:p>
            <a:pPr algn="l">
              <a:spcAft>
                <a:spcPts val="800"/>
              </a:spcAft>
            </a:pPr>
            <a:r>
              <a:rPr sz="1600" b="0">
                <a:solidFill>
                  <a:srgbClr val="FFFFFF"/>
                </a:solidFill>
                <a:latin typeface="맑은 고딕"/>
              </a:rPr>
              <a:t>•  받기는 계속한다</a:t>
            </a:r>
          </a:p>
          <a:p>
            <a:pPr algn="l">
              <a:spcAft>
                <a:spcPts val="800"/>
              </a:spcAft>
            </a:pPr>
            <a:r>
              <a:rPr sz="1600" b="0">
                <a:solidFill>
                  <a:srgbClr val="FFFFFF"/>
                </a:solidFill>
                <a:latin typeface="맑은 고딕"/>
              </a:rPr>
              <a:t>•  FRA 가 늘어난다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ORA-01665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번째 만난다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Snapshot Standby 에서 MRP 기동 → </a:t>
            </a:r>
            <a:r>
              <a:rPr sz="1700" b="1">
                <a:solidFill>
                  <a:srgbClr val="222222"/>
                </a:solidFill>
                <a:latin typeface="맑은 고딕"/>
              </a:rPr>
              <a:t>ORA-01665</a:t>
            </a:r>
          </a:p>
          <a:p>
            <a:pPr algn="l">
              <a:spcAft>
                <a:spcPts val="1000"/>
              </a:spcAft>
            </a:pPr>
            <a:r>
              <a:rPr sz="1700" b="0">
                <a:solidFill>
                  <a:srgbClr val="222222"/>
                </a:solidFill>
                <a:latin typeface="맑은 고딕"/>
              </a:rPr>
              <a:t>•  1장 Primary(CURRENT) / 10장 Far Sync(FARSYNC) / 11장 Snapshot(CURRENT)</a:t>
            </a:r>
          </a:p>
          <a:p>
            <a:pPr algn="l">
              <a:spcAft>
                <a:spcPts val="1000"/>
              </a:spcAft>
            </a:pPr>
            <a:r>
              <a:rPr sz="1700" b="0">
                <a:solidFill>
                  <a:srgbClr val="222222"/>
                </a:solidFill>
                <a:latin typeface="맑은 고딕"/>
              </a:rPr>
              <a:t>•  </a:t>
            </a:r>
            <a:r>
              <a:rPr sz="1700" b="1">
                <a:solidFill>
                  <a:srgbClr val="222222"/>
                </a:solidFill>
                <a:latin typeface="맑은 고딕"/>
              </a:rPr>
              <a:t>MRP 를 띄울 수 있는 것은 Standby 컨트롤 파일뿐</a:t>
            </a:r>
          </a:p>
          <a:p>
            <a:pPr algn="l">
              <a:spcAft>
                <a:spcPts val="1000"/>
              </a:spcAft>
            </a:pPr>
            <a:r>
              <a:rPr sz="1700" b="0">
                <a:solidFill>
                  <a:srgbClr val="222222"/>
                </a:solidFill>
                <a:latin typeface="맑은 고딕"/>
              </a:rPr>
              <a:t>•  오라클이 이 판단을 </a:t>
            </a:r>
            <a:r>
              <a:rPr sz="1700" b="1">
                <a:solidFill>
                  <a:srgbClr val="222222"/>
                </a:solidFill>
                <a:latin typeface="맑은 고딕"/>
              </a:rPr>
              <a:t>역할이 아니라 컨트롤 파일 유형</a:t>
            </a:r>
            <a:r>
              <a:rPr sz="1700" b="0">
                <a:solidFill>
                  <a:srgbClr val="222222"/>
                </a:solidFill>
                <a:latin typeface="맑은 고딕"/>
              </a:rPr>
              <a:t>으로 한다</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 </a:t>
            </a:r>
            <a:r>
              <a:rPr sz="1700" b="1">
                <a:solidFill>
                  <a:srgbClr val="222222"/>
                </a:solidFill>
                <a:latin typeface="맑은 고딕"/>
              </a:rPr>
              <a:t>IDLE</a:t>
            </a:r>
            <a:r>
              <a:rPr sz="1700" b="0">
                <a:solidFill>
                  <a:srgbClr val="222222"/>
                </a:solidFill>
                <a:latin typeface="맑은 고딕"/>
              </a:rPr>
              <a:t>, MRP0 = 0개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지연이 갈라진다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Snapshot 의 표식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transport lag</a:t>
            </a:r>
            <a:r>
              <a:rPr sz="1700" b="0">
                <a:solidFill>
                  <a:srgbClr val="222222"/>
                </a:solidFill>
                <a:latin typeface="맑은 고딕"/>
              </a:rPr>
              <a:t> — </a:t>
            </a:r>
            <a:r>
              <a:rPr sz="1700" b="1">
                <a:solidFill>
                  <a:srgbClr val="222222"/>
                </a:solidFill>
                <a:latin typeface="맑은 고딕"/>
              </a:rPr>
              <a:t>+00 00:00:00</a:t>
            </a:r>
            <a:r>
              <a:rPr sz="1700" b="0">
                <a:solidFill>
                  <a:srgbClr val="222222"/>
                </a:solidFill>
                <a:latin typeface="맑은 고딕"/>
              </a:rPr>
              <a:t> (계속 받는다)</a:t>
            </a:r>
          </a:p>
          <a:p>
            <a:pPr algn="l">
              <a:spcAft>
                <a:spcPts val="1000"/>
              </a:spcAft>
            </a:pPr>
            <a:r>
              <a:rPr sz="1700" b="0">
                <a:solidFill>
                  <a:srgbClr val="222222"/>
                </a:solidFill>
                <a:latin typeface="맑은 고딕"/>
              </a:rPr>
              <a:t>•  </a:t>
            </a:r>
            <a:r>
              <a:rPr sz="1700" b="0">
                <a:solidFill>
                  <a:srgbClr val="222222"/>
                </a:solidFill>
                <a:latin typeface="Consolas"/>
                <a:cs typeface="Consolas"/>
              </a:rPr>
              <a:t>apply lag</a:t>
            </a:r>
            <a:r>
              <a:rPr sz="1700" b="0">
                <a:solidFill>
                  <a:srgbClr val="222222"/>
                </a:solidFill>
                <a:latin typeface="맑은 고딕"/>
              </a:rPr>
              <a:t> — </a:t>
            </a:r>
            <a:r>
              <a:rPr sz="1700" b="1">
                <a:solidFill>
                  <a:srgbClr val="222222"/>
                </a:solidFill>
                <a:latin typeface="맑은 고딕"/>
              </a:rPr>
              <a:t>+00 00:02:38</a:t>
            </a:r>
            <a:r>
              <a:rPr sz="1700" b="0">
                <a:solidFill>
                  <a:srgbClr val="222222"/>
                </a:solidFill>
                <a:latin typeface="맑은 고딕"/>
              </a:rPr>
              <a:t> (적용을 안 한다)</a:t>
            </a:r>
          </a:p>
          <a:p>
            <a:pPr algn="l">
              <a:spcAft>
                <a:spcPts val="1000"/>
              </a:spcAft>
            </a:pPr>
            <a:r>
              <a:rPr sz="1700" b="0">
                <a:solidFill>
                  <a:srgbClr val="222222"/>
                </a:solidFill>
                <a:latin typeface="맑은 고딕"/>
              </a:rPr>
              <a:t>•  RFS 있음 / MRP0 없음</a:t>
            </a:r>
          </a:p>
          <a:p>
            <a:pPr algn="l">
              <a:spcAft>
                <a:spcPts val="1000"/>
              </a:spcAft>
            </a:pPr>
            <a:r>
              <a:rPr sz="1700" b="0">
                <a:solidFill>
                  <a:srgbClr val="222222"/>
                </a:solidFill>
                <a:latin typeface="맑은 고딕"/>
              </a:rPr>
              <a:t>•  Primary 목적지는 </a:t>
            </a:r>
            <a:r>
              <a:rPr sz="1700" b="1">
                <a:solidFill>
                  <a:srgbClr val="222222"/>
                </a:solidFill>
                <a:latin typeface="맑은 고딕"/>
              </a:rPr>
              <a:t>VALID</a:t>
            </a:r>
            <a:r>
              <a:rPr sz="1700" b="0">
                <a:solidFill>
                  <a:srgbClr val="222222"/>
                </a:solidFill>
                <a:latin typeface="맑은 고딕"/>
              </a:rPr>
              <a:t> — 영향받지 않는다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쌓이는 리두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갭의 위험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전환 중 적용이 멈추므로 "아직 필요한" 아카이브가 늘어난다</a:t>
            </a:r>
          </a:p>
          <a:p>
            <a:pPr algn="l">
              <a:spcAft>
                <a:spcPts val="1000"/>
              </a:spcAft>
            </a:pPr>
            <a:r>
              <a:rPr sz="1700" b="0">
                <a:solidFill>
                  <a:srgbClr val="222222"/>
                </a:solidFill>
                <a:latin typeface="맑은 고딕"/>
              </a:rPr>
              <a:t>•  Primary 가 그것을 지우면 </a:t>
            </a:r>
            <a:r>
              <a:rPr sz="1700" b="1">
                <a:solidFill>
                  <a:srgbClr val="222222"/>
                </a:solidFill>
                <a:latin typeface="맑은 고딕"/>
              </a:rPr>
              <a:t>갭</a:t>
            </a:r>
            <a:r>
              <a:rPr sz="1700" b="0">
                <a:solidFill>
                  <a:srgbClr val="222222"/>
                </a:solidFill>
                <a:latin typeface="맑은 고딕"/>
              </a:rPr>
              <a:t>이 된다</a:t>
            </a:r>
          </a:p>
          <a:p>
            <a:pPr algn="l">
              <a:spcAft>
                <a:spcPts val="1000"/>
              </a:spcAft>
            </a:pPr>
            <a:r>
              <a:rPr sz="1700" b="0">
                <a:solidFill>
                  <a:srgbClr val="222222"/>
                </a:solidFill>
                <a:latin typeface="맑은 고딕"/>
              </a:rPr>
              <a:t>•  다행히 </a:t>
            </a:r>
            <a:r>
              <a:rPr sz="1700" b="1">
                <a:solidFill>
                  <a:srgbClr val="222222"/>
                </a:solidFill>
                <a:latin typeface="맑은 고딕"/>
              </a:rPr>
              <a:t>전송은 계속</a:t>
            </a:r>
            <a:r>
              <a:rPr sz="1700" b="0">
                <a:solidFill>
                  <a:srgbClr val="222222"/>
                </a:solidFill>
                <a:latin typeface="맑은 고딕"/>
              </a:rPr>
              <a:t>되므로 이미 받아 둔 것은 무사하다</a:t>
            </a:r>
          </a:p>
          <a:p>
            <a:pPr algn="l">
              <a:spcAft>
                <a:spcPts val="1000"/>
              </a:spcAft>
            </a:pPr>
            <a:r>
              <a:rPr sz="1700" b="0">
                <a:solidFill>
                  <a:srgbClr val="222222"/>
                </a:solidFill>
                <a:latin typeface="맑은 고딕"/>
              </a:rPr>
              <a:t>•  위험한 것은 </a:t>
            </a:r>
            <a:r>
              <a:rPr sz="1700" b="1">
                <a:solidFill>
                  <a:srgbClr val="222222"/>
                </a:solidFill>
                <a:latin typeface="맑은 고딕"/>
              </a:rPr>
              <a:t>전송이 끊겼던 구간</a:t>
            </a:r>
          </a:p>
          <a:p>
            <a:pPr algn="l">
              <a:spcAft>
                <a:spcPts val="1000"/>
              </a:spcAft>
            </a:pPr>
            <a:r>
              <a:rPr sz="1700" b="0">
                <a:solidFill>
                  <a:srgbClr val="222222"/>
                </a:solidFill>
                <a:latin typeface="맑은 고딕"/>
              </a:rPr>
              <a:t>•  대책 — 기간을 짧게, Primary 보관 정책을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FRA</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새 유형이 생긴다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전환 전 — REDO LOG / ARCHIVED LOG / BACKUP PIECE</a:t>
            </a:r>
          </a:p>
          <a:p>
            <a:pPr algn="l">
              <a:spcAft>
                <a:spcPts val="1000"/>
              </a:spcAft>
            </a:pPr>
            <a:r>
              <a:rPr sz="1700" b="0">
                <a:solidFill>
                  <a:srgbClr val="222222"/>
                </a:solidFill>
                <a:latin typeface="맑은 고딕"/>
              </a:rPr>
              <a:t>•  전환 후 — </a:t>
            </a:r>
            <a:r>
              <a:rPr sz="1700" b="1">
                <a:solidFill>
                  <a:srgbClr val="222222"/>
                </a:solidFill>
                <a:latin typeface="맑은 고딕"/>
              </a:rPr>
              <a:t>FLASHBACK LOG</a:t>
            </a:r>
            <a:r>
              <a:rPr sz="1700" b="0">
                <a:solidFill>
                  <a:srgbClr val="222222"/>
                </a:solidFill>
                <a:latin typeface="맑은 고딕"/>
              </a:rPr>
              <a:t> 2.6% / 2개 추가</a:t>
            </a:r>
          </a:p>
          <a:p>
            <a:pPr algn="l">
              <a:spcAft>
                <a:spcPts val="1000"/>
              </a:spcAft>
            </a:pPr>
            <a:r>
              <a:rPr sz="1700" b="0">
                <a:solidFill>
                  <a:srgbClr val="222222"/>
                </a:solidFill>
                <a:latin typeface="맑은 고딕"/>
              </a:rPr>
              <a:t>•  1,536MB → </a:t>
            </a:r>
            <a:r>
              <a:rPr sz="1700" b="1">
                <a:solidFill>
                  <a:srgbClr val="222222"/>
                </a:solidFill>
                <a:latin typeface="맑은 고딕"/>
              </a:rPr>
              <a:t>1,941MB</a:t>
            </a:r>
            <a:r>
              <a:rPr sz="1700" b="0">
                <a:solidFill>
                  <a:srgbClr val="222222"/>
                </a:solidFill>
                <a:latin typeface="맑은 고딕"/>
              </a:rPr>
              <a:t> (405MB 증가)</a:t>
            </a:r>
          </a:p>
          <a:p>
            <a:pPr algn="l">
              <a:spcAft>
                <a:spcPts val="1000"/>
              </a:spcAft>
            </a:pPr>
            <a:r>
              <a:rPr sz="1700" b="0">
                <a:solidFill>
                  <a:srgbClr val="222222"/>
                </a:solidFill>
                <a:latin typeface="맑은 고딕"/>
              </a:rPr>
              <a:t>•  몇 건만 바꿨는데 405MB 인 이유 — </a:t>
            </a:r>
            <a:r>
              <a:rPr sz="1700" b="1">
                <a:solidFill>
                  <a:srgbClr val="222222"/>
                </a:solidFill>
                <a:latin typeface="맑은 고딕"/>
              </a:rPr>
              <a:t>블록 단위 이전 이미지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무엇으로 감시하는가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실측이 예상과 달랐다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144,766행 테이블 생성 후 </a:t>
            </a:r>
            <a:r>
              <a:rPr sz="1700" b="0">
                <a:solidFill>
                  <a:srgbClr val="222222"/>
                </a:solidFill>
                <a:latin typeface="Consolas"/>
                <a:cs typeface="Consolas"/>
              </a:rPr>
              <a:t>STORAGE_SIZE</a:t>
            </a:r>
            <a:r>
              <a:rPr sz="1700" b="0">
                <a:solidFill>
                  <a:srgbClr val="222222"/>
                </a:solidFill>
                <a:latin typeface="맑은 고딕"/>
              </a:rPr>
              <a:t> → </a:t>
            </a:r>
            <a:r>
              <a:rPr sz="1700" b="1">
                <a:solidFill>
                  <a:srgbClr val="222222"/>
                </a:solidFill>
                <a:latin typeface="맑은 고딕"/>
              </a:rPr>
              <a:t>200MB 그대로</a:t>
            </a:r>
          </a:p>
          <a:p>
            <a:pPr algn="l">
              <a:spcAft>
                <a:spcPts val="1000"/>
              </a:spcAft>
            </a:pPr>
            <a:r>
              <a:rPr sz="1700" b="0">
                <a:solidFill>
                  <a:srgbClr val="222222"/>
                </a:solidFill>
                <a:latin typeface="맑은 고딕"/>
              </a:rPr>
              <a:t>•  이 값은 "쓴 양" 이 아니라 </a:t>
            </a:r>
            <a:r>
              <a:rPr sz="1700" b="1">
                <a:solidFill>
                  <a:srgbClr val="222222"/>
                </a:solidFill>
                <a:latin typeface="맑은 고딕"/>
              </a:rPr>
              <a:t>확보된 크기</a:t>
            </a:r>
          </a:p>
          <a:p>
            <a:pPr algn="l">
              <a:spcAft>
                <a:spcPts val="1000"/>
              </a:spcAft>
            </a:pPr>
            <a:r>
              <a:rPr sz="1700" b="0">
                <a:solidFill>
                  <a:srgbClr val="222222"/>
                </a:solidFill>
                <a:latin typeface="맑은 고딕"/>
              </a:rPr>
              <a:t>•  감시는 </a:t>
            </a:r>
            <a:r>
              <a:rPr sz="1700" b="0">
                <a:solidFill>
                  <a:srgbClr val="222222"/>
                </a:solidFill>
                <a:latin typeface="Consolas"/>
                <a:cs typeface="Consolas"/>
              </a:rPr>
              <a:t>V$FLASH_RECOVERY_AREA_USAGE</a:t>
            </a:r>
            <a:r>
              <a:rPr sz="1700" b="0">
                <a:solidFill>
                  <a:srgbClr val="222222"/>
                </a:solidFill>
                <a:latin typeface="맑은 고딕"/>
              </a:rPr>
              <a:t> 의 </a:t>
            </a:r>
            <a:r>
              <a:rPr sz="1700" b="1">
                <a:solidFill>
                  <a:srgbClr val="222222"/>
                </a:solidFill>
                <a:latin typeface="맑은 고딕"/>
              </a:rPr>
              <a:t>FLASHBACK LOG</a:t>
            </a:r>
            <a:r>
              <a:rPr sz="1700" b="0">
                <a:solidFill>
                  <a:srgbClr val="222222"/>
                </a:solidFill>
                <a:latin typeface="맑은 고딕"/>
              </a:rPr>
              <a:t> 로</a:t>
            </a:r>
          </a:p>
          <a:p>
            <a:pPr algn="l">
              <a:spcAft>
                <a:spcPts val="1000"/>
              </a:spcAft>
            </a:pPr>
            <a:r>
              <a:rPr sz="1700" b="0">
                <a:solidFill>
                  <a:srgbClr val="222222"/>
                </a:solidFill>
                <a:latin typeface="맑은 고딕"/>
              </a:rPr>
              <a:t>•  중단 기준 — 전체 사용률 80% 또는 계획한 상한 초과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나누어 하기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번째 전환의 SCN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첫 전환 SCN </a:t>
            </a:r>
            <a:r>
              <a:rPr sz="1700" b="1">
                <a:solidFill>
                  <a:srgbClr val="222222"/>
                </a:solidFill>
                <a:latin typeface="맑은 고딕"/>
              </a:rPr>
              <a:t>2252853</a:t>
            </a:r>
            <a:r>
              <a:rPr sz="1700" b="0">
                <a:solidFill>
                  <a:srgbClr val="222222"/>
                </a:solidFill>
                <a:latin typeface="맑은 고딕"/>
              </a:rPr>
              <a:t> → 되돌림 → 두 번째 전환 SCN </a:t>
            </a:r>
            <a:r>
              <a:rPr sz="1700" b="1">
                <a:solidFill>
                  <a:srgbClr val="222222"/>
                </a:solidFill>
                <a:latin typeface="맑은 고딕"/>
              </a:rPr>
              <a:t>2253716</a:t>
            </a:r>
          </a:p>
          <a:p>
            <a:pPr algn="l">
              <a:spcAft>
                <a:spcPts val="1000"/>
              </a:spcAft>
            </a:pPr>
            <a:r>
              <a:rPr sz="1700" b="0">
                <a:solidFill>
                  <a:srgbClr val="222222"/>
                </a:solidFill>
                <a:latin typeface="맑은 고딕"/>
              </a:rPr>
              <a:t>•  되돌리면 Primary 를 따라잡고, 그 상태에서 다시 전환한다</a:t>
            </a:r>
          </a:p>
          <a:p>
            <a:pPr algn="l">
              <a:spcAft>
                <a:spcPts val="1000"/>
              </a:spcAft>
            </a:pPr>
            <a:r>
              <a:rPr sz="1700" b="0">
                <a:solidFill>
                  <a:srgbClr val="222222"/>
                </a:solidFill>
                <a:latin typeface="맑은 고딕"/>
              </a:rPr>
              <a:t>•  그래서 </a:t>
            </a:r>
            <a:r>
              <a:rPr sz="1700" b="1">
                <a:solidFill>
                  <a:srgbClr val="222222"/>
                </a:solidFill>
                <a:latin typeface="맑은 고딕"/>
              </a:rPr>
              <a:t>매번 더 최신 데이터</a:t>
            </a:r>
            <a:r>
              <a:rPr sz="1700" b="0">
                <a:solidFill>
                  <a:srgbClr val="222222"/>
                </a:solidFill>
                <a:latin typeface="맑은 고딕"/>
              </a:rPr>
              <a:t>에서 시작한다</a:t>
            </a:r>
          </a:p>
          <a:p>
            <a:pPr algn="l">
              <a:spcAft>
                <a:spcPts val="1000"/>
              </a:spcAft>
            </a:pPr>
            <a:r>
              <a:rPr sz="1700" b="0">
                <a:solidFill>
                  <a:srgbClr val="222222"/>
                </a:solidFill>
                <a:latin typeface="맑은 고딕"/>
              </a:rPr>
              <a:t>•  쌓이는 리두가 적고 FRA 사용량도 초기화된다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명령이 하는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순서를 재구성한다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보장 복원 지점 생성 ← 근거 ORA-38784</a:t>
            </a:r>
          </a:p>
          <a:p>
            <a:pPr algn="l">
              <a:spcAft>
                <a:spcPts val="1000"/>
              </a:spcAft>
            </a:pPr>
            <a:r>
              <a:rPr sz="1700" b="0">
                <a:solidFill>
                  <a:srgbClr val="222222"/>
                </a:solidFill>
                <a:latin typeface="맑은 고딕"/>
              </a:rPr>
              <a:t>•  ② 적용이 멈춰 있어야 한다 ← 근거 ORA-01153</a:t>
            </a:r>
          </a:p>
          <a:p>
            <a:pPr algn="l">
              <a:spcAft>
                <a:spcPts val="1000"/>
              </a:spcAft>
            </a:pPr>
            <a:r>
              <a:rPr sz="1700" b="0">
                <a:solidFill>
                  <a:srgbClr val="222222"/>
                </a:solidFill>
                <a:latin typeface="맑은 고딕"/>
              </a:rPr>
              <a:t>•  ③ 닫고 마운트로 ← 근거 전환 후 MOUNTED</a:t>
            </a:r>
          </a:p>
          <a:p>
            <a:pPr algn="l">
              <a:spcAft>
                <a:spcPts val="1000"/>
              </a:spcAft>
            </a:pPr>
            <a:r>
              <a:rPr sz="1700" b="0">
                <a:solidFill>
                  <a:srgbClr val="222222"/>
                </a:solidFill>
                <a:latin typeface="맑은 고딕"/>
              </a:rPr>
              <a:t>•  ④ 컨트롤 파일 유형 변경 ⑤ 역할 변경 ⑥ 플래시백 상태 변경</a:t>
            </a:r>
          </a:p>
          <a:p>
            <a:pPr algn="l">
              <a:spcAft>
                <a:spcPts val="1000"/>
              </a:spcAft>
            </a:pPr>
            <a:r>
              <a:rPr sz="1700" b="0">
                <a:solidFill>
                  <a:srgbClr val="222222"/>
                </a:solidFill>
                <a:latin typeface="맑은 고딕"/>
              </a:rPr>
              <a:t>•  </a:t>
            </a:r>
            <a:r>
              <a:rPr sz="1700" b="1">
                <a:solidFill>
                  <a:srgbClr val="222222"/>
                </a:solidFill>
                <a:latin typeface="맑은 고딕"/>
              </a:rPr>
              <a:t>①이 첫 단계인 것</a:t>
            </a:r>
            <a:r>
              <a:rPr sz="1700" b="0">
                <a:solidFill>
                  <a:srgbClr val="222222"/>
                </a:solidFill>
                <a:latin typeface="맑은 고딕"/>
              </a:rPr>
              <a:t>이 핵심이다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되돌리기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절차</a:t>
            </a:r>
          </a:p>
          <a:p>
            <a:pPr algn="l">
              <a:spcAft>
                <a:spcPts val="800"/>
              </a:spcAft>
            </a:pPr>
            <a:r>
              <a:rPr sz="1600" b="0">
                <a:solidFill>
                  <a:srgbClr val="FFFFFF"/>
                </a:solidFill>
                <a:latin typeface="맑은 고딕"/>
              </a:rPr>
              <a:t>•  여는 순서</a:t>
            </a:r>
          </a:p>
          <a:p>
            <a:pPr algn="l">
              <a:spcAft>
                <a:spcPts val="800"/>
              </a:spcAft>
            </a:pPr>
            <a:r>
              <a:rPr sz="1600" b="0">
                <a:solidFill>
                  <a:srgbClr val="FFFFFF"/>
                </a:solidFill>
                <a:latin typeface="맑은 고딕"/>
              </a:rPr>
              <a:t>•  검증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MOUNT 에서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SHUTDOWN IMMEDIATE</a:t>
            </a:r>
            <a:r>
              <a:rPr sz="1700" b="0">
                <a:solidFill>
                  <a:srgbClr val="222222"/>
                </a:solidFill>
                <a:latin typeface="맑은 고딕"/>
              </a:rPr>
              <a:t> → </a:t>
            </a:r>
            <a:r>
              <a:rPr sz="1700" b="0">
                <a:solidFill>
                  <a:srgbClr val="222222"/>
                </a:solidFill>
                <a:latin typeface="Consolas"/>
                <a:cs typeface="Consolas"/>
              </a:rPr>
              <a:t>STARTUP MOUNT</a:t>
            </a:r>
          </a:p>
          <a:p>
            <a:pPr algn="l">
              <a:spcAft>
                <a:spcPts val="1000"/>
              </a:spcAft>
            </a:pPr>
            <a:r>
              <a:rPr sz="1700" b="0">
                <a:solidFill>
                  <a:srgbClr val="222222"/>
                </a:solidFill>
                <a:latin typeface="맑은 고딕"/>
              </a:rPr>
              <a:t>•  </a:t>
            </a:r>
            <a:r>
              <a:rPr sz="1700" b="0">
                <a:solidFill>
                  <a:srgbClr val="222222"/>
                </a:solidFill>
                <a:latin typeface="Consolas"/>
                <a:cs typeface="Consolas"/>
              </a:rPr>
              <a:t>ALTER DATABASE CONVERT TO PHYSICAL STANDBY</a:t>
            </a:r>
          </a:p>
          <a:p>
            <a:pPr algn="l">
              <a:spcAft>
                <a:spcPts val="1000"/>
              </a:spcAft>
            </a:pPr>
            <a:r>
              <a:rPr sz="1700" b="0">
                <a:solidFill>
                  <a:srgbClr val="222222"/>
                </a:solidFill>
                <a:latin typeface="맑은 고딕"/>
              </a:rPr>
              <a:t>•  결과 — </a:t>
            </a:r>
            <a:r>
              <a:rPr sz="1700" b="0">
                <a:solidFill>
                  <a:srgbClr val="222222"/>
                </a:solidFill>
                <a:latin typeface="Consolas"/>
                <a:cs typeface="Consolas"/>
              </a:rPr>
              <a:t>PHYSICAL STANDBY / STANDBY / NO</a:t>
            </a:r>
          </a:p>
          <a:p>
            <a:pPr algn="l">
              <a:spcAft>
                <a:spcPts val="1000"/>
              </a:spcAft>
            </a:pPr>
            <a:r>
              <a:rPr sz="1700" b="0">
                <a:solidFill>
                  <a:srgbClr val="222222"/>
                </a:solidFill>
                <a:latin typeface="맑은 고딕"/>
              </a:rPr>
              <a:t>•  </a:t>
            </a:r>
            <a:r>
              <a:rPr sz="1700" b="1">
                <a:solidFill>
                  <a:srgbClr val="222222"/>
                </a:solidFill>
                <a:latin typeface="맑은 고딕"/>
              </a:rPr>
              <a:t>복원 지점이 사라진다</a:t>
            </a:r>
            <a:r>
              <a:rPr sz="1700" b="0">
                <a:solidFill>
                  <a:srgbClr val="222222"/>
                </a:solidFill>
                <a:latin typeface="맑은 고딕"/>
              </a:rPr>
              <a:t> (</a:t>
            </a:r>
            <a:r>
              <a:rPr sz="1700" b="0">
                <a:solidFill>
                  <a:srgbClr val="222222"/>
                </a:solidFill>
                <a:latin typeface="Consolas"/>
                <a:cs typeface="Consolas"/>
              </a:rPr>
              <a:t>V$RESTORE_POINT</a:t>
            </a:r>
            <a:r>
              <a:rPr sz="1700" b="0">
                <a:solidFill>
                  <a:srgbClr val="222222"/>
                </a:solidFill>
                <a:latin typeface="맑은 고딕"/>
              </a:rPr>
              <a:t> 0행)</a:t>
            </a:r>
          </a:p>
          <a:p>
            <a:pPr algn="l">
              <a:spcAft>
                <a:spcPts val="1000"/>
              </a:spcAft>
            </a:pPr>
            <a:r>
              <a:rPr sz="1700" b="0">
                <a:solidFill>
                  <a:srgbClr val="222222"/>
                </a:solidFill>
                <a:latin typeface="맑은 고딕"/>
              </a:rPr>
              <a:t>•  전환은 열린 채로도 됐는데 복귀는 MOUNT 여야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복귀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이유로 기억한다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결과를 밖으로 뺀다 — 되돌리면 사라진다</a:t>
            </a:r>
          </a:p>
          <a:p>
            <a:pPr algn="l">
              <a:spcAft>
                <a:spcPts val="1000"/>
              </a:spcAft>
            </a:pPr>
            <a:r>
              <a:rPr sz="1700" b="0">
                <a:solidFill>
                  <a:srgbClr val="222222"/>
                </a:solidFill>
                <a:latin typeface="맑은 고딕"/>
              </a:rPr>
              <a:t>•  ② </a:t>
            </a:r>
            <a:r>
              <a:rPr sz="1700" b="0">
                <a:solidFill>
                  <a:srgbClr val="222222"/>
                </a:solidFill>
                <a:latin typeface="Consolas"/>
                <a:cs typeface="Consolas"/>
              </a:rPr>
              <a:t>SHUTDOWN</a:t>
            </a:r>
            <a:r>
              <a:rPr sz="1700" b="0">
                <a:solidFill>
                  <a:srgbClr val="222222"/>
                </a:solidFill>
                <a:latin typeface="맑은 고딕"/>
              </a:rPr>
              <a:t> → </a:t>
            </a:r>
            <a:r>
              <a:rPr sz="1700" b="0">
                <a:solidFill>
                  <a:srgbClr val="222222"/>
                </a:solidFill>
                <a:latin typeface="Consolas"/>
                <a:cs typeface="Consolas"/>
              </a:rPr>
              <a:t>STARTUP MOUNT</a:t>
            </a:r>
            <a:r>
              <a:rPr sz="1700" b="0">
                <a:solidFill>
                  <a:srgbClr val="222222"/>
                </a:solidFill>
                <a:latin typeface="맑은 고딕"/>
              </a:rPr>
              <a:t> — 되감으려면 아무도 안 써야 한다</a:t>
            </a:r>
          </a:p>
          <a:p>
            <a:pPr algn="l">
              <a:spcAft>
                <a:spcPts val="1000"/>
              </a:spcAft>
            </a:pPr>
            <a:r>
              <a:rPr sz="1700" b="0">
                <a:solidFill>
                  <a:srgbClr val="222222"/>
                </a:solidFill>
                <a:latin typeface="맑은 고딕"/>
              </a:rPr>
              <a:t>•  ③ </a:t>
            </a:r>
            <a:r>
              <a:rPr sz="1700" b="0">
                <a:solidFill>
                  <a:srgbClr val="222222"/>
                </a:solidFill>
                <a:latin typeface="Consolas"/>
                <a:cs typeface="Consolas"/>
              </a:rPr>
              <a:t>CONVERT TO PHYSICAL STANDBY</a:t>
            </a:r>
          </a:p>
          <a:p>
            <a:pPr algn="l">
              <a:spcAft>
                <a:spcPts val="1000"/>
              </a:spcAft>
            </a:pPr>
            <a:r>
              <a:rPr sz="1700" b="0">
                <a:solidFill>
                  <a:srgbClr val="222222"/>
                </a:solidFill>
                <a:latin typeface="맑은 고딕"/>
              </a:rPr>
              <a:t>•  ④ 재기동 — 컨트롤 파일 유형이 바뀌었으므로</a:t>
            </a:r>
          </a:p>
          <a:p>
            <a:pPr algn="l">
              <a:spcAft>
                <a:spcPts val="1000"/>
              </a:spcAft>
            </a:pPr>
            <a:r>
              <a:rPr sz="1700" b="0">
                <a:solidFill>
                  <a:srgbClr val="222222"/>
                </a:solidFill>
                <a:latin typeface="맑은 고딕"/>
              </a:rPr>
              <a:t>•  ⑤ </a:t>
            </a:r>
            <a:r>
              <a:rPr sz="1700" b="0">
                <a:solidFill>
                  <a:srgbClr val="222222"/>
                </a:solidFill>
                <a:latin typeface="Consolas"/>
                <a:cs typeface="Consolas"/>
              </a:rPr>
              <a:t>OPEN READ ONLY</a:t>
            </a:r>
            <a:r>
              <a:rPr sz="1700" b="0">
                <a:solidFill>
                  <a:srgbClr val="222222"/>
                </a:solidFill>
                <a:latin typeface="맑은 고딕"/>
              </a:rPr>
              <a:t> → ⑥ MRP 기동 → ⑦ PDB 열기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ORA-10456</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순서를 어기면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재기동 후 MRP 를 먼저 띄우고 열면</a:t>
            </a:r>
          </a:p>
          <a:p>
            <a:pPr algn="l">
              <a:spcAft>
                <a:spcPts val="1000"/>
              </a:spcAft>
            </a:pPr>
            <a:r>
              <a:rPr sz="1700" b="0">
                <a:solidFill>
                  <a:srgbClr val="222222"/>
                </a:solidFill>
                <a:latin typeface="맑은 고딕"/>
              </a:rPr>
              <a:t>•  </a:t>
            </a:r>
            <a:r>
              <a:rPr sz="1700" b="0">
                <a:solidFill>
                  <a:srgbClr val="222222"/>
                </a:solidFill>
                <a:latin typeface="Consolas"/>
                <a:cs typeface="Consolas"/>
              </a:rPr>
              <a:t>ORA-10456: cannot open standby database; media recovery session may be in progress</a:t>
            </a:r>
          </a:p>
          <a:p>
            <a:pPr algn="l">
              <a:spcAft>
                <a:spcPts val="1000"/>
              </a:spcAft>
            </a:pPr>
            <a:r>
              <a:rPr sz="1700" b="0">
                <a:solidFill>
                  <a:srgbClr val="222222"/>
                </a:solidFill>
                <a:latin typeface="맑은 고딕"/>
              </a:rPr>
              <a:t>•  올바른 순서 — </a:t>
            </a:r>
            <a:r>
              <a:rPr sz="1700" b="1">
                <a:solidFill>
                  <a:srgbClr val="222222"/>
                </a:solidFill>
                <a:latin typeface="맑은 고딕"/>
              </a:rPr>
              <a:t>MRP 취소 → OPEN READ ONLY → MRP 기동</a:t>
            </a:r>
          </a:p>
          <a:p>
            <a:pPr algn="l">
              <a:spcAft>
                <a:spcPts val="1000"/>
              </a:spcAft>
            </a:pPr>
            <a:r>
              <a:rPr sz="1700" b="0">
                <a:solidFill>
                  <a:srgbClr val="222222"/>
                </a:solidFill>
                <a:latin typeface="맑은 고딕"/>
              </a:rPr>
              <a:t>•  결과 — </a:t>
            </a:r>
            <a:r>
              <a:rPr sz="1700" b="0">
                <a:solidFill>
                  <a:srgbClr val="222222"/>
                </a:solidFill>
                <a:latin typeface="Consolas"/>
                <a:cs typeface="Consolas"/>
              </a:rPr>
              <a:t>READ ONLY WITH APPLY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명령이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상태에 따라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Snapshot Standby — </a:t>
            </a:r>
            <a:r>
              <a:rPr sz="1700" b="0">
                <a:solidFill>
                  <a:srgbClr val="222222"/>
                </a:solidFill>
                <a:latin typeface="Consolas"/>
                <a:cs typeface="Consolas"/>
              </a:rPr>
              <a:t>ALTER PLUGGABLE DATABASE ... </a:t>
            </a:r>
            <a:r>
              <a:rPr sz="1700" b="1">
                <a:solidFill>
                  <a:srgbClr val="222222"/>
                </a:solidFill>
                <a:latin typeface="Consolas"/>
                <a:cs typeface="Consolas"/>
              </a:rPr>
              <a:t>OPEN</a:t>
            </a:r>
          </a:p>
          <a:p>
            <a:pPr algn="l">
              <a:spcAft>
                <a:spcPts val="1000"/>
              </a:spcAft>
            </a:pPr>
            <a:r>
              <a:rPr sz="1700" b="0">
                <a:solidFill>
                  <a:srgbClr val="222222"/>
                </a:solidFill>
                <a:latin typeface="맑은 고딕"/>
              </a:rPr>
              <a:t>•  Physical Standby — </a:t>
            </a:r>
            <a:r>
              <a:rPr sz="1700" b="0">
                <a:solidFill>
                  <a:srgbClr val="222222"/>
                </a:solidFill>
                <a:latin typeface="Consolas"/>
                <a:cs typeface="Consolas"/>
              </a:rPr>
              <a:t>ALTER PLUGGABLE DATABASE ... </a:t>
            </a:r>
            <a:r>
              <a:rPr sz="1700" b="1">
                <a:solidFill>
                  <a:srgbClr val="222222"/>
                </a:solidFill>
                <a:latin typeface="Consolas"/>
                <a:cs typeface="Consolas"/>
              </a:rPr>
              <a:t>OPEN READ ONLY</a:t>
            </a:r>
          </a:p>
          <a:p>
            <a:pPr algn="l">
              <a:spcAft>
                <a:spcPts val="1000"/>
              </a:spcAft>
            </a:pPr>
            <a:r>
              <a:rPr sz="1700" b="0">
                <a:solidFill>
                  <a:srgbClr val="222222"/>
                </a:solidFill>
                <a:latin typeface="맑은 고딕"/>
              </a:rPr>
              <a:t>•  CDB 도 마찬가지 — Snapshot 은 </a:t>
            </a:r>
            <a:r>
              <a:rPr sz="1700" b="0">
                <a:solidFill>
                  <a:srgbClr val="222222"/>
                </a:solidFill>
                <a:latin typeface="Consolas"/>
                <a:cs typeface="Consolas"/>
              </a:rPr>
              <a:t>OPEN</a:t>
            </a:r>
            <a:r>
              <a:rPr sz="1700" b="0">
                <a:solidFill>
                  <a:srgbClr val="222222"/>
                </a:solidFill>
                <a:latin typeface="맑은 고딕"/>
              </a:rPr>
              <a:t>, Physical 은 </a:t>
            </a:r>
            <a:r>
              <a:rPr sz="1700" b="0">
                <a:solidFill>
                  <a:srgbClr val="222222"/>
                </a:solidFill>
                <a:latin typeface="Consolas"/>
                <a:cs typeface="Consolas"/>
              </a:rPr>
              <a:t>OPEN READ ONLY</a:t>
            </a:r>
          </a:p>
          <a:p>
            <a:pPr algn="l">
              <a:spcAft>
                <a:spcPts val="1000"/>
              </a:spcAft>
            </a:pPr>
            <a:r>
              <a:rPr sz="1700" b="0">
                <a:solidFill>
                  <a:srgbClr val="222222"/>
                </a:solidFill>
                <a:latin typeface="맑은 고딕"/>
              </a:rPr>
              <a:t>•  어느 쪽이든 </a:t>
            </a:r>
            <a:r>
              <a:rPr sz="1700" b="1">
                <a:solidFill>
                  <a:srgbClr val="222222"/>
                </a:solidFill>
                <a:latin typeface="맑은 고딕"/>
              </a:rPr>
              <a:t>CDB 를 열어도 PDB 는 따라오지 않는다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정말 돌아왔는가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Snapshot 에서 만든 테이블 → </a:t>
            </a:r>
            <a:r>
              <a:rPr sz="1700" b="1">
                <a:solidFill>
                  <a:srgbClr val="222222"/>
                </a:solidFill>
                <a:latin typeface="맑은 고딕"/>
              </a:rPr>
              <a:t>ORA-00942</a:t>
            </a:r>
            <a:r>
              <a:rPr sz="1700" b="0">
                <a:solidFill>
                  <a:srgbClr val="222222"/>
                </a:solidFill>
                <a:latin typeface="맑은 고딕"/>
              </a:rPr>
              <a:t> (존재 자체가 없다)</a:t>
            </a:r>
          </a:p>
          <a:p>
            <a:pPr algn="l">
              <a:spcAft>
                <a:spcPts val="1000"/>
              </a:spcAft>
            </a:pPr>
            <a:r>
              <a:rPr sz="1700" b="0">
                <a:solidFill>
                  <a:srgbClr val="222222"/>
                </a:solidFill>
                <a:latin typeface="맑은 고딕"/>
              </a:rPr>
              <a:t>•  고친 행 → </a:t>
            </a:r>
            <a:r>
              <a:rPr sz="1700" b="0">
                <a:solidFill>
                  <a:srgbClr val="222222"/>
                </a:solidFill>
                <a:latin typeface="Consolas"/>
                <a:cs typeface="Consolas"/>
              </a:rPr>
              <a:t>modified-on-snapshot</a:t>
            </a:r>
            <a:r>
              <a:rPr sz="1700" b="0">
                <a:solidFill>
                  <a:srgbClr val="222222"/>
                </a:solidFill>
                <a:latin typeface="맑은 고딕"/>
              </a:rPr>
              <a:t> → </a:t>
            </a:r>
            <a:r>
              <a:rPr sz="1700" b="1">
                <a:solidFill>
                  <a:srgbClr val="222222"/>
                </a:solidFill>
                <a:latin typeface="Consolas"/>
                <a:cs typeface="Consolas"/>
              </a:rPr>
              <a:t>before-snapshot</a:t>
            </a:r>
            <a:r>
              <a:rPr sz="1700" b="0">
                <a:solidFill>
                  <a:srgbClr val="222222"/>
                </a:solidFill>
                <a:latin typeface="맑은 고딕"/>
              </a:rPr>
              <a:t> 복귀</a:t>
            </a:r>
          </a:p>
          <a:p>
            <a:pPr algn="l">
              <a:spcAft>
                <a:spcPts val="1000"/>
              </a:spcAft>
            </a:pPr>
            <a:r>
              <a:rPr sz="1700" b="0">
                <a:solidFill>
                  <a:srgbClr val="222222"/>
                </a:solidFill>
                <a:latin typeface="맑은 고딕"/>
              </a:rPr>
              <a:t>•  그동안 Primary 가 넣은 2·3번 행 → </a:t>
            </a:r>
            <a:r>
              <a:rPr sz="1700" b="1">
                <a:solidFill>
                  <a:srgbClr val="222222"/>
                </a:solidFill>
                <a:latin typeface="맑은 고딕"/>
              </a:rPr>
              <a:t>나타났다</a:t>
            </a:r>
          </a:p>
          <a:p>
            <a:pPr algn="l">
              <a:spcAft>
                <a:spcPts val="1000"/>
              </a:spcAft>
            </a:pPr>
            <a:r>
              <a:rPr sz="1700" b="0">
                <a:solidFill>
                  <a:srgbClr val="222222"/>
                </a:solidFill>
                <a:latin typeface="맑은 고딕"/>
              </a:rPr>
              <a:t>•  </a:t>
            </a:r>
            <a:r>
              <a:rPr sz="1700" b="0">
                <a:solidFill>
                  <a:srgbClr val="222222"/>
                </a:solidFill>
                <a:latin typeface="Consolas"/>
                <a:cs typeface="Consolas"/>
              </a:rPr>
              <a:t>apply lag</a:t>
            </a:r>
            <a:r>
              <a:rPr sz="1700" b="0">
                <a:solidFill>
                  <a:srgbClr val="222222"/>
                </a:solidFill>
                <a:latin typeface="맑은 고딕"/>
              </a:rPr>
              <a:t> 2분 38초 → </a:t>
            </a:r>
            <a:r>
              <a:rPr sz="1700" b="1">
                <a:solidFill>
                  <a:srgbClr val="222222"/>
                </a:solidFill>
                <a:latin typeface="맑은 고딕"/>
              </a:rPr>
              <a:t>0</a:t>
            </a:r>
          </a:p>
          <a:p>
            <a:pPr algn="l">
              <a:spcAft>
                <a:spcPts val="1000"/>
              </a:spcAft>
            </a:pPr>
            <a:r>
              <a:rPr sz="1700" b="0">
                <a:solidFill>
                  <a:srgbClr val="222222"/>
                </a:solidFill>
                <a:latin typeface="맑은 고딕"/>
              </a:rPr>
              <a:t>•  FRA — FLASHBACK LOG 사라지고 </a:t>
            </a:r>
            <a:r>
              <a:rPr sz="1700" b="1">
                <a:solidFill>
                  <a:srgbClr val="222222"/>
                </a:solidFill>
                <a:latin typeface="맑은 고딕"/>
              </a:rPr>
              <a:t>1,941MB → 1,559MB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 명령 여섯 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이것이면 충분하다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상태 — </a:t>
            </a:r>
            <a:r>
              <a:rPr sz="1700" b="0">
                <a:solidFill>
                  <a:srgbClr val="222222"/>
                </a:solidFill>
                <a:latin typeface="Consolas"/>
                <a:cs typeface="Consolas"/>
              </a:rPr>
              <a:t>database_role, open_mode, controlfile_type, flashback_on</a:t>
            </a:r>
          </a:p>
          <a:p>
            <a:pPr algn="l">
              <a:spcAft>
                <a:spcPts val="1000"/>
              </a:spcAft>
            </a:pPr>
            <a:r>
              <a:rPr sz="1700" b="0">
                <a:solidFill>
                  <a:srgbClr val="222222"/>
                </a:solidFill>
                <a:latin typeface="맑은 고딕"/>
              </a:rPr>
              <a:t>•  되돌아갈 자리 — </a:t>
            </a:r>
            <a:r>
              <a:rPr sz="1700" b="0">
                <a:solidFill>
                  <a:srgbClr val="222222"/>
                </a:solidFill>
                <a:latin typeface="Consolas"/>
                <a:cs typeface="Consolas"/>
              </a:rPr>
              <a:t>V$RESTORE_POINT</a:t>
            </a:r>
          </a:p>
          <a:p>
            <a:pPr algn="l">
              <a:spcAft>
                <a:spcPts val="1000"/>
              </a:spcAft>
            </a:pPr>
            <a:r>
              <a:rPr sz="1700" b="0">
                <a:solidFill>
                  <a:srgbClr val="222222"/>
                </a:solidFill>
                <a:latin typeface="맑은 고딕"/>
              </a:rPr>
              <a:t>•  적용 — </a:t>
            </a:r>
            <a:r>
              <a:rPr sz="1700" b="0">
                <a:solidFill>
                  <a:srgbClr val="222222"/>
                </a:solidFill>
                <a:latin typeface="Consolas"/>
                <a:cs typeface="Consolas"/>
              </a:rPr>
              <a:t>V$ARCHIVE_DEST_STATUS.RECOVERY_MODE</a:t>
            </a:r>
            <a:r>
              <a:rPr sz="1700" b="0">
                <a:solidFill>
                  <a:srgbClr val="222222"/>
                </a:solidFill>
                <a:latin typeface="맑은 고딕"/>
              </a:rPr>
              <a:t>, </a:t>
            </a:r>
            <a:r>
              <a:rPr sz="1700" b="0">
                <a:solidFill>
                  <a:srgbClr val="222222"/>
                </a:solidFill>
                <a:latin typeface="Consolas"/>
                <a:cs typeface="Consolas"/>
              </a:rPr>
              <a:t>V$MANAGED_STANDBY</a:t>
            </a:r>
          </a:p>
          <a:p>
            <a:pPr algn="l">
              <a:spcAft>
                <a:spcPts val="1000"/>
              </a:spcAft>
            </a:pPr>
            <a:r>
              <a:rPr sz="1700" b="0">
                <a:solidFill>
                  <a:srgbClr val="222222"/>
                </a:solidFill>
                <a:latin typeface="맑은 고딕"/>
              </a:rPr>
              <a:t>•  지연 — </a:t>
            </a:r>
            <a:r>
              <a:rPr sz="1700" b="0">
                <a:solidFill>
                  <a:srgbClr val="222222"/>
                </a:solidFill>
                <a:latin typeface="Consolas"/>
                <a:cs typeface="Consolas"/>
              </a:rPr>
              <a:t>V$DATAGUARD_STATS</a:t>
            </a:r>
          </a:p>
          <a:p>
            <a:pPr algn="l">
              <a:spcAft>
                <a:spcPts val="1000"/>
              </a:spcAft>
            </a:pPr>
            <a:r>
              <a:rPr sz="1700" b="0">
                <a:solidFill>
                  <a:srgbClr val="222222"/>
                </a:solidFill>
                <a:latin typeface="맑은 고딕"/>
              </a:rPr>
              <a:t>•  FRA — </a:t>
            </a:r>
            <a:r>
              <a:rPr sz="1700" b="0">
                <a:solidFill>
                  <a:srgbClr val="222222"/>
                </a:solidFill>
                <a:latin typeface="Consolas"/>
                <a:cs typeface="Consolas"/>
              </a:rPr>
              <a:t>V$FLASH_RECOVERY_AREA_USAGE</a:t>
            </a:r>
          </a:p>
          <a:p>
            <a:pPr algn="l">
              <a:spcAft>
                <a:spcPts val="1000"/>
              </a:spcAft>
            </a:pPr>
            <a:r>
              <a:rPr sz="1700" b="0">
                <a:solidFill>
                  <a:srgbClr val="222222"/>
                </a:solidFill>
                <a:latin typeface="맑은 고딕"/>
              </a:rPr>
              <a:t>•  PDB — </a:t>
            </a:r>
            <a:r>
              <a:rPr sz="1700" b="0">
                <a:solidFill>
                  <a:srgbClr val="222222"/>
                </a:solidFill>
                <a:latin typeface="Consolas"/>
                <a:cs typeface="Consolas"/>
              </a:rPr>
              <a:t>V$PDBS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운영에서의 판단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적합·부적합</a:t>
            </a:r>
          </a:p>
          <a:p>
            <a:pPr algn="l">
              <a:spcAft>
                <a:spcPts val="800"/>
              </a:spcAft>
            </a:pPr>
            <a:r>
              <a:rPr sz="1600" b="0">
                <a:solidFill>
                  <a:srgbClr val="FFFFFF"/>
                </a:solidFill>
                <a:latin typeface="맑은 고딕"/>
              </a:rPr>
              <a:t>•  상태가 어렵지 명령은 쉽다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적합·부적합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판단 기준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적합</a:t>
            </a:r>
            <a:r>
              <a:rPr sz="1700" b="0">
                <a:solidFill>
                  <a:srgbClr val="222222"/>
                </a:solidFill>
                <a:latin typeface="맑은 고딕"/>
              </a:rPr>
              <a:t> — 실제 데이터에서만 드러나는 문제 / 짧게 / 되돌릴 것이 확실할 때</a:t>
            </a:r>
          </a:p>
          <a:p>
            <a:pPr algn="l">
              <a:spcAft>
                <a:spcPts val="1000"/>
              </a:spcAft>
            </a:pPr>
            <a:r>
              <a:rPr sz="1700" b="0">
                <a:solidFill>
                  <a:srgbClr val="222222"/>
                </a:solidFill>
                <a:latin typeface="맑은 고딕"/>
              </a:rPr>
              <a:t>•  </a:t>
            </a:r>
            <a:r>
              <a:rPr sz="1700" b="1">
                <a:solidFill>
                  <a:srgbClr val="222222"/>
                </a:solidFill>
                <a:latin typeface="맑은 고딕"/>
              </a:rPr>
              <a:t>부적합</a:t>
            </a:r>
            <a:r>
              <a:rPr sz="1700" b="0">
                <a:solidFill>
                  <a:srgbClr val="222222"/>
                </a:solidFill>
                <a:latin typeface="맑은 고딕"/>
              </a:rPr>
              <a:t> — Standby 가 하나뿐 / 오래 / 결과를 유지 / 데이터를 많이 바꿈</a:t>
            </a:r>
          </a:p>
          <a:p>
            <a:pPr algn="l">
              <a:spcAft>
                <a:spcPts val="1000"/>
              </a:spcAft>
            </a:pPr>
            <a:r>
              <a:rPr sz="1700" b="0">
                <a:solidFill>
                  <a:srgbClr val="222222"/>
                </a:solidFill>
                <a:latin typeface="맑은 고딕"/>
              </a:rPr>
              <a:t>•  긴 시험은 </a:t>
            </a:r>
            <a:r>
              <a:rPr sz="1700" b="1">
                <a:solidFill>
                  <a:srgbClr val="222222"/>
                </a:solidFill>
                <a:latin typeface="맑은 고딕"/>
              </a:rPr>
              <a:t>나누어</a:t>
            </a:r>
            <a:r>
              <a:rPr sz="1700" b="0">
                <a:solidFill>
                  <a:srgbClr val="222222"/>
                </a:solidFill>
                <a:latin typeface="맑은 고딕"/>
              </a:rPr>
              <a:t> 한다 — 되돌렸다 다시 전환</a:t>
            </a:r>
          </a:p>
          <a:p>
            <a:pPr algn="l">
              <a:spcAft>
                <a:spcPts val="1000"/>
              </a:spcAft>
            </a:pPr>
            <a:r>
              <a:rPr sz="1700" b="0">
                <a:solidFill>
                  <a:srgbClr val="222222"/>
                </a:solidFill>
                <a:latin typeface="맑은 고딕"/>
              </a:rPr>
              <a:t>•  나누는 단위는 되돌리기 비용보다 커야 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장을 관통하는 한 문장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명령이 아니라 상태다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쓰는 명령은 둘뿐이고 옵션도 없다</a:t>
            </a:r>
          </a:p>
          <a:p>
            <a:pPr algn="l">
              <a:spcAft>
                <a:spcPts val="1000"/>
              </a:spcAft>
            </a:pPr>
            <a:r>
              <a:rPr sz="1700" b="0">
                <a:solidFill>
                  <a:srgbClr val="222222"/>
                </a:solidFill>
                <a:latin typeface="맑은 고딕"/>
              </a:rPr>
              <a:t>•  그런데 만난 오류 넷 중 </a:t>
            </a:r>
            <a:r>
              <a:rPr sz="1700" b="1">
                <a:solidFill>
                  <a:srgbClr val="222222"/>
                </a:solidFill>
                <a:latin typeface="맑은 고딕"/>
              </a:rPr>
              <a:t>셋이 상태에서</a:t>
            </a:r>
            <a:r>
              <a:rPr sz="1700" b="0">
                <a:solidFill>
                  <a:srgbClr val="222222"/>
                </a:solidFill>
                <a:latin typeface="맑은 고딕"/>
              </a:rPr>
              <a:t> 왔다</a:t>
            </a:r>
          </a:p>
          <a:p>
            <a:pPr algn="l">
              <a:spcAft>
                <a:spcPts val="1000"/>
              </a:spcAft>
            </a:pPr>
            <a:r>
              <a:rPr sz="1700" b="0">
                <a:solidFill>
                  <a:srgbClr val="222222"/>
                </a:solidFill>
                <a:latin typeface="맑은 고딕"/>
              </a:rPr>
              <a:t>•  MRP 가 돌고 있어서 / 열려 있어서 / 마운트가 아니어서</a:t>
            </a:r>
          </a:p>
          <a:p>
            <a:pPr algn="l">
              <a:spcAft>
                <a:spcPts val="1000"/>
              </a:spcAft>
            </a:pPr>
            <a:r>
              <a:rPr sz="1700" b="0">
                <a:solidFill>
                  <a:srgbClr val="222222"/>
                </a:solidFill>
                <a:latin typeface="맑은 고딕"/>
              </a:rPr>
              <a:t>•  대책 — 명령 전에 </a:t>
            </a:r>
            <a:r>
              <a:rPr sz="1700" b="1">
                <a:solidFill>
                  <a:srgbClr val="222222"/>
                </a:solidFill>
                <a:latin typeface="맑은 고딕"/>
              </a:rPr>
              <a:t>상태 한 줄</a:t>
            </a:r>
            <a:r>
              <a:rPr sz="1700" b="0">
                <a:solidFill>
                  <a:srgbClr val="222222"/>
                </a:solidFill>
                <a:latin typeface="맑은 고딕"/>
              </a:rPr>
              <a:t>을 먼저 조회한다</a:t>
            </a:r>
          </a:p>
          <a:p>
            <a:pPr algn="l">
              <a:spcAft>
                <a:spcPts val="1000"/>
              </a:spcAft>
            </a:pPr>
            <a:r>
              <a:rPr sz="1700" b="0">
                <a:solidFill>
                  <a:srgbClr val="222222"/>
                </a:solidFill>
                <a:latin typeface="맑은 고딕"/>
              </a:rPr>
              <a:t>•  </a:t>
            </a:r>
            <a:r>
              <a:rPr sz="1700" b="0">
                <a:solidFill>
                  <a:srgbClr val="222222"/>
                </a:solidFill>
                <a:latin typeface="Consolas"/>
                <a:cs typeface="Consolas"/>
              </a:rPr>
              <a:t>select database_role, open_mode, controlfile_type, flashback_on from v$database;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Snapshot Standby 는 Physical Standby 를 </a:t>
            </a:r>
            <a:r>
              <a:rPr sz="1600" b="1">
                <a:solidFill>
                  <a:srgbClr val="222222"/>
                </a:solidFill>
                <a:latin typeface="맑은 고딕"/>
              </a:rPr>
              <a:t>잠시 쓰기 가능</a:t>
            </a:r>
            <a:r>
              <a:rPr sz="1600" b="0">
                <a:solidFill>
                  <a:srgbClr val="222222"/>
                </a:solidFill>
                <a:latin typeface="맑은 고딕"/>
              </a:rPr>
              <a:t>하게 바꾼다. 되돌리면 전부 사라진다.</a:t>
            </a:r>
          </a:p>
          <a:p>
            <a:pPr algn="l">
              <a:spcAft>
                <a:spcPts val="1000"/>
              </a:spcAft>
            </a:pPr>
            <a:r>
              <a:rPr sz="1600" b="0">
                <a:solidFill>
                  <a:srgbClr val="222222"/>
                </a:solidFill>
                <a:latin typeface="맑은 고딕"/>
              </a:rPr>
              <a:t>•  대가는 셋 — 재해 복구 능력 일시 상실, FRA 사용, 결과 소멸.</a:t>
            </a:r>
          </a:p>
          <a:p>
            <a:pPr algn="l">
              <a:spcAft>
                <a:spcPts val="1000"/>
              </a:spcAft>
            </a:pPr>
            <a:r>
              <a:rPr sz="1600" b="0">
                <a:solidFill>
                  <a:srgbClr val="222222"/>
                </a:solidFill>
                <a:latin typeface="맑은 고딕"/>
              </a:rPr>
              <a:t>•  되돌리는 원리는 </a:t>
            </a:r>
            <a:r>
              <a:rPr sz="1600" b="1">
                <a:solidFill>
                  <a:srgbClr val="222222"/>
                </a:solidFill>
                <a:latin typeface="맑은 고딕"/>
              </a:rPr>
              <a:t>보장 복원 지점</a:t>
            </a:r>
            <a:r>
              <a:rPr sz="1600" b="0">
                <a:solidFill>
                  <a:srgbClr val="222222"/>
                </a:solidFill>
                <a:latin typeface="맑은 고딕"/>
              </a:rPr>
              <a:t>이다. 전환할 때 자동으로 만들어진다.</a:t>
            </a:r>
          </a:p>
          <a:p>
            <a:pPr algn="l">
              <a:spcAft>
                <a:spcPts val="1000"/>
              </a:spcAft>
            </a:pPr>
            <a:r>
              <a:rPr sz="1600" b="0">
                <a:solidFill>
                  <a:srgbClr val="222222"/>
                </a:solidFill>
                <a:latin typeface="맑은 고딕"/>
              </a:rPr>
              <a:t>•  </a:t>
            </a:r>
            <a:r>
              <a:rPr sz="1600" b="0">
                <a:solidFill>
                  <a:srgbClr val="222222"/>
                </a:solidFill>
                <a:latin typeface="Consolas"/>
                <a:cs typeface="Consolas"/>
              </a:rPr>
              <a:t>FLASHBACK_ON</a:t>
            </a:r>
            <a:r>
              <a:rPr sz="1600" b="0">
                <a:solidFill>
                  <a:srgbClr val="222222"/>
                </a:solidFill>
                <a:latin typeface="맑은 고딕"/>
              </a:rPr>
              <a:t> 이 NO 여도 전환된다. 전체 로깅이 아니라 복원 지점을 쓰기 때문이다.</a:t>
            </a:r>
          </a:p>
          <a:p>
            <a:pPr algn="l">
              <a:spcAft>
                <a:spcPts val="1000"/>
              </a:spcAft>
            </a:pPr>
            <a:r>
              <a:rPr sz="1600" b="0">
                <a:solidFill>
                  <a:srgbClr val="222222"/>
                </a:solidFill>
                <a:latin typeface="맑은 고딕"/>
              </a:rPr>
              <a:t>•  MRP 가 돌면 전환 불가 — </a:t>
            </a:r>
            <a:r>
              <a:rPr sz="1600" b="1">
                <a:solidFill>
                  <a:srgbClr val="222222"/>
                </a:solidFill>
                <a:latin typeface="맑은 고딕"/>
              </a:rPr>
              <a:t>ORA-38784 + ORA-01153</a:t>
            </a:r>
            <a:r>
              <a:rPr sz="1600" b="0">
                <a:solidFill>
                  <a:srgbClr val="222222"/>
                </a:solidFill>
                <a:latin typeface="맑은 고딕"/>
              </a:rPr>
              <a:t>. 메시지에 복원 지점 이름이 드러난다.</a:t>
            </a:r>
          </a:p>
          <a:p>
            <a:pPr algn="l">
              <a:spcAft>
                <a:spcPts val="1000"/>
              </a:spcAft>
            </a:pPr>
            <a:r>
              <a:rPr sz="1600" b="0">
                <a:solidFill>
                  <a:srgbClr val="222222"/>
                </a:solidFill>
                <a:latin typeface="맑은 고딕"/>
              </a:rPr>
              <a:t>•  전환 후 — SNAPSHOT STANDBY / </a:t>
            </a:r>
            <a:r>
              <a:rPr sz="1600" b="1">
                <a:solidFill>
                  <a:srgbClr val="222222"/>
                </a:solidFill>
                <a:latin typeface="맑은 고딕"/>
              </a:rPr>
              <a:t>MOUNTED</a:t>
            </a:r>
            <a:r>
              <a:rPr sz="1600" b="0">
                <a:solidFill>
                  <a:srgbClr val="222222"/>
                </a:solidFill>
                <a:latin typeface="맑은 고딕"/>
              </a:rPr>
              <a:t> / CURRENT / RESTORE POINT ONLY.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보장 복원 지점은 FRA 가 부족해도 </a:t>
            </a:r>
            <a:r>
              <a:rPr sz="1600" b="1">
                <a:solidFill>
                  <a:srgbClr val="222222"/>
                </a:solidFill>
                <a:latin typeface="맑은 고딕"/>
              </a:rPr>
              <a:t>지워지지 않는다.</a:t>
            </a:r>
            <a:r>
              <a:rPr sz="1600" b="0">
                <a:solidFill>
                  <a:srgbClr val="222222"/>
                </a:solidFill>
                <a:latin typeface="맑은 고딕"/>
              </a:rPr>
              <a:t> 대신 데이터베이스가 멈춘다.</a:t>
            </a:r>
          </a:p>
          <a:p>
            <a:pPr algn="l">
              <a:spcAft>
                <a:spcPts val="1000"/>
              </a:spcAft>
            </a:pPr>
            <a:r>
              <a:rPr sz="1600" b="0">
                <a:solidFill>
                  <a:srgbClr val="222222"/>
                </a:solidFill>
                <a:latin typeface="맑은 고딕"/>
              </a:rPr>
              <a:t>•  CDB 를 열어도 </a:t>
            </a:r>
            <a:r>
              <a:rPr sz="1600" b="1">
                <a:solidFill>
                  <a:srgbClr val="222222"/>
                </a:solidFill>
                <a:latin typeface="맑은 고딕"/>
              </a:rPr>
              <a:t>PDB 는 MOUNTED</a:t>
            </a:r>
            <a:r>
              <a:rPr sz="1600" b="0">
                <a:solidFill>
                  <a:srgbClr val="222222"/>
                </a:solidFill>
                <a:latin typeface="맑은 고딕"/>
              </a:rPr>
              <a:t> 로 남는다. 조회하면 ORA-01219.</a:t>
            </a:r>
          </a:p>
          <a:p>
            <a:pPr algn="l">
              <a:spcAft>
                <a:spcPts val="1000"/>
              </a:spcAft>
            </a:pPr>
            <a:r>
              <a:rPr sz="1600" b="0">
                <a:solidFill>
                  <a:srgbClr val="222222"/>
                </a:solidFill>
                <a:latin typeface="맑은 고딕"/>
              </a:rPr>
              <a:t>•  Snapshot 에서 MRP 기동 → </a:t>
            </a:r>
            <a:r>
              <a:rPr sz="1600" b="1">
                <a:solidFill>
                  <a:srgbClr val="222222"/>
                </a:solidFill>
                <a:latin typeface="맑은 고딕"/>
              </a:rPr>
              <a:t>ORA-01665</a:t>
            </a:r>
            <a:r>
              <a:rPr sz="1600" b="0">
                <a:solidFill>
                  <a:srgbClr val="222222"/>
                </a:solidFill>
                <a:latin typeface="맑은 고딕"/>
              </a:rPr>
              <a:t>. Primary·Far Sync 와 같은 이유(컨트롤 파일 유형).</a:t>
            </a:r>
          </a:p>
          <a:p>
            <a:pPr algn="l">
              <a:spcAft>
                <a:spcPts val="1000"/>
              </a:spcAft>
            </a:pPr>
            <a:r>
              <a:rPr sz="1600" b="0">
                <a:solidFill>
                  <a:srgbClr val="222222"/>
                </a:solidFill>
                <a:latin typeface="맑은 고딕"/>
              </a:rPr>
              <a:t>•  적용은 멈추고 </a:t>
            </a:r>
            <a:r>
              <a:rPr sz="1600" b="1">
                <a:solidFill>
                  <a:srgbClr val="222222"/>
                </a:solidFill>
                <a:latin typeface="맑은 고딕"/>
              </a:rPr>
              <a:t>수신은 계속</a:t>
            </a:r>
            <a:r>
              <a:rPr sz="1600" b="0">
                <a:solidFill>
                  <a:srgbClr val="222222"/>
                </a:solidFill>
                <a:latin typeface="맑은 고딕"/>
              </a:rPr>
              <a:t>한다. transport lag 0 / apply lag 증가.</a:t>
            </a:r>
          </a:p>
          <a:p>
            <a:pPr algn="l">
              <a:spcAft>
                <a:spcPts val="1000"/>
              </a:spcAft>
            </a:pPr>
            <a:r>
              <a:rPr sz="1600" b="0">
                <a:solidFill>
                  <a:srgbClr val="222222"/>
                </a:solidFill>
                <a:latin typeface="맑은 고딕"/>
              </a:rPr>
              <a:t>•  FRA 에 </a:t>
            </a:r>
            <a:r>
              <a:rPr sz="1600" b="1">
                <a:solidFill>
                  <a:srgbClr val="222222"/>
                </a:solidFill>
                <a:latin typeface="맑은 고딕"/>
              </a:rPr>
              <a:t>FLASHBACK LOG</a:t>
            </a:r>
            <a:r>
              <a:rPr sz="1600" b="0">
                <a:solidFill>
                  <a:srgbClr val="222222"/>
                </a:solidFill>
                <a:latin typeface="맑은 고딕"/>
              </a:rPr>
              <a:t> 유형이 생긴다(1,536 → 1,941MB). 감시는 </a:t>
            </a:r>
            <a:r>
              <a:rPr sz="1600" b="0">
                <a:solidFill>
                  <a:srgbClr val="222222"/>
                </a:solidFill>
                <a:latin typeface="Consolas"/>
                <a:cs typeface="Consolas"/>
              </a:rPr>
              <a:t>STORAGE_SIZE</a:t>
            </a:r>
            <a:r>
              <a:rPr sz="1600" b="0">
                <a:solidFill>
                  <a:srgbClr val="222222"/>
                </a:solidFill>
                <a:latin typeface="맑은 고딕"/>
              </a:rPr>
              <a:t> 가 아니라 이것으로.</a:t>
            </a:r>
          </a:p>
          <a:p>
            <a:pPr algn="l">
              <a:spcAft>
                <a:spcPts val="1000"/>
              </a:spcAft>
            </a:pPr>
            <a:r>
              <a:rPr sz="1600" b="0">
                <a:solidFill>
                  <a:srgbClr val="222222"/>
                </a:solidFill>
                <a:latin typeface="맑은 고딕"/>
              </a:rPr>
              <a:t>•  복귀는 </a:t>
            </a:r>
            <a:r>
              <a:rPr sz="1600" b="1">
                <a:solidFill>
                  <a:srgbClr val="222222"/>
                </a:solidFill>
                <a:latin typeface="맑은 고딕"/>
              </a:rPr>
              <a:t>MOUNT 에서</a:t>
            </a:r>
            <a:r>
              <a:rPr sz="1600" b="0">
                <a:solidFill>
                  <a:srgbClr val="222222"/>
                </a:solidFill>
                <a:latin typeface="맑은 고딕"/>
              </a:rPr>
              <a:t>. 이후 </a:t>
            </a:r>
            <a:r>
              <a:rPr sz="1600" b="1">
                <a:solidFill>
                  <a:srgbClr val="222222"/>
                </a:solidFill>
                <a:latin typeface="맑은 고딕"/>
              </a:rPr>
              <a:t>열고 나서 MRP</a:t>
            </a:r>
            <a:r>
              <a:rPr sz="1600" b="0">
                <a:solidFill>
                  <a:srgbClr val="222222"/>
                </a:solidFill>
                <a:latin typeface="맑은 고딕"/>
              </a:rPr>
              <a:t> — 반대면 </a:t>
            </a:r>
            <a:r>
              <a:rPr sz="1600" b="1">
                <a:solidFill>
                  <a:srgbClr val="222222"/>
                </a:solidFill>
                <a:latin typeface="맑은 고딕"/>
              </a:rPr>
              <a:t>ORA-10456</a:t>
            </a:r>
            <a:r>
              <a:rPr sz="1600" b="0">
                <a:solidFill>
                  <a:srgbClr val="222222"/>
                </a:solidFill>
                <a:latin typeface="맑은 고딕"/>
              </a:rPr>
              <a:t>.</a:t>
            </a:r>
          </a:p>
          <a:p>
            <a:pPr algn="l">
              <a:spcAft>
                <a:spcPts val="1000"/>
              </a:spcAft>
            </a:pPr>
            <a:r>
              <a:rPr sz="1600" b="0">
                <a:solidFill>
                  <a:srgbClr val="222222"/>
                </a:solidFill>
                <a:latin typeface="맑은 고딕"/>
              </a:rPr>
              <a:t>•  검증 — 쓴 테이블은 </a:t>
            </a:r>
            <a:r>
              <a:rPr sz="1600" b="1">
                <a:solidFill>
                  <a:srgbClr val="222222"/>
                </a:solidFill>
                <a:latin typeface="맑은 고딕"/>
              </a:rPr>
              <a:t>ORA-00942</a:t>
            </a:r>
            <a:r>
              <a:rPr sz="1600" b="0">
                <a:solidFill>
                  <a:srgbClr val="222222"/>
                </a:solidFill>
                <a:latin typeface="맑은 고딕"/>
              </a:rPr>
              <a:t>, 고친 행은 복귀, 밀린 리두는 적용, FRA 400MB 회수.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전제 조건 확인</a:t>
            </a:r>
          </a:p>
          <a:p>
            <a:pPr algn="l">
              <a:spcAft>
                <a:spcPts val="1000"/>
              </a:spcAft>
            </a:pPr>
            <a:r>
              <a:rPr sz="1600" b="0">
                <a:solidFill>
                  <a:srgbClr val="222222"/>
                </a:solidFill>
                <a:latin typeface="맑은 고딕"/>
              </a:rPr>
              <a:t>•  실습 02 — 전환 실패와 성공</a:t>
            </a:r>
          </a:p>
          <a:p>
            <a:pPr algn="l">
              <a:spcAft>
                <a:spcPts val="1000"/>
              </a:spcAft>
            </a:pPr>
            <a:r>
              <a:rPr sz="1600" b="0">
                <a:solidFill>
                  <a:srgbClr val="222222"/>
                </a:solidFill>
                <a:latin typeface="맑은 고딕"/>
              </a:rPr>
              <a:t>•  실습 03 — 복원 지점 읽기</a:t>
            </a:r>
          </a:p>
          <a:p>
            <a:pPr algn="l">
              <a:spcAft>
                <a:spcPts val="1000"/>
              </a:spcAft>
            </a:pPr>
            <a:r>
              <a:rPr sz="1600" b="0">
                <a:solidFill>
                  <a:srgbClr val="222222"/>
                </a:solidFill>
                <a:latin typeface="맑은 고딕"/>
              </a:rPr>
              <a:t>•  실습 04 — 열고 쓰기</a:t>
            </a:r>
          </a:p>
          <a:p>
            <a:pPr algn="l">
              <a:spcAft>
                <a:spcPts val="1000"/>
              </a:spcAft>
            </a:pPr>
            <a:r>
              <a:rPr sz="1600" b="0">
                <a:solidFill>
                  <a:srgbClr val="222222"/>
                </a:solidFill>
                <a:latin typeface="맑은 고딕"/>
              </a:rPr>
              <a:t>•  실습 05 — 전환 중의 관찰</a:t>
            </a:r>
          </a:p>
          <a:p>
            <a:pPr algn="l">
              <a:spcAft>
                <a:spcPts val="1000"/>
              </a:spcAft>
            </a:pPr>
            <a:r>
              <a:rPr sz="1600" b="0">
                <a:solidFill>
                  <a:srgbClr val="222222"/>
                </a:solidFill>
                <a:latin typeface="맑은 고딕"/>
              </a:rPr>
              <a:t>•  실습 06 — 되돌리기</a:t>
            </a:r>
          </a:p>
          <a:p>
            <a:pPr algn="l">
              <a:spcAft>
                <a:spcPts val="1000"/>
              </a:spcAft>
            </a:pPr>
            <a:r>
              <a:rPr sz="1600" b="0">
                <a:solidFill>
                  <a:srgbClr val="222222"/>
                </a:solidFill>
                <a:latin typeface="맑은 고딕"/>
              </a:rPr>
              <a:t>•  실습 07 — 검증과 정리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
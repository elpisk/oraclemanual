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구축을 마치고 상태 조회 하나가 정상으로 나오면 안심하게 됩니다. 그런데 이 장에서 보게 되겠지만, 그 시점의 boston은 목적지 1번이 BAD PARAM 상태였고 FAL_CLIENT도 잘못되어 있었습니다. 지연은 0이었고 적용도 돌고 있었으므로 어떤 조회도 문제를 알려 주지 않았습니다. 겉모습은 정상이었던 것이죠. 이런 결함은 평상시에 보이지 않다가 역할 전환처럼 가장 급한 순간에 드러납니다. 그래서 확인 항목을 늘려야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아홉 행이 나오지만 진단에서 실제로 보는 것은 RFS와 MRP0 둘입니다. 나머지는 배경입니다. ARCH가 네 개인 것은 우연이 아니라 DUPLICATE 스크립트에 넣은 log_archive_max_processes 값 그대로입니다. Standby에서는 아카이브할 일이 거의 없어 상태가 전부 CONNECTED인데, 역할 전환 후 Primary가 되면 이들이 일을 시작합니다. MRP0이 항상 하나라는 규칙에서 ORA-01153이 나옵니다. 이미 돌고 있는데 또 기동하려 하면 두 번째를 만들 수 없어 거부됩니다.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비교가 유용한 이유는 Active Data Guard가 아니어도 쓸 수 있다는 점입니다. MOUNTED 상태에서는 Standby를 조회할 수 없으므로 기능 시험이 불가능한데, V$MANAGED_STANDBY는 볼 수 있습니다. 아카이브 적용이라면 두 값이 달라야 합니다. RFS가 받고 있는 로그는 아직 아카이브되지 않았으므로 적용 대상이 아니고, MRP0의 시퀀스가 최소 하나 이상 뒤처져 있어야 하니까요. 다만 로그 전환 직후에는 잠깐 어긋나 보일 수 있어 두 번 확인하는 편이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가장 중요한 함정입니다. 적용이 완전히 멈추면 새로 적용할 것이 없으므로 transport lag도 apply lag도 0이 됩니다. 지연만 감시하는 모니터링은 이 상태를 정상으로 보고합니다. 그래서 지연보다 MRP0의 존재와 OPEN_MODE를 먼저 봐야 합니다. WITH APPLY라는 꼬리표가 MRP0의 존재를 그대로 반영하므로, 이 한 문자열만으로도 적용 여부를 알 수 있습니다. 시간이 지나면 지연 값도 올라가지만 그때까지 몇 분이 그냥 지나갑니다.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오류처럼 보이지만 실은 "이미 그 상태다"라는 알림입니다. 멱등성 위반 알림에 가깝습니다. 실측에서 ORA-01153 직후 조회한 MRP0은 그대로 APPLYING_LOG였고, ORA-16136 직후의 MRP0 개수는 그대로 0이었습니다. ORA-01153의 incompatible이라는 단어를 "다른 종류"로 오해하기 쉬운데, "지금 상태와 양립할 수 없다"는 뜻입니다. 4장에서는 서로 다른 적용 방식을 겹쳐 실행해 만났고 여기서는 같은 방식을 두 번 실행해 만났습니다. 근본 규칙은 MRP는 하나뿐이라는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순서가 대칭이 아니라는 점이 요령입니다. CANCEL을 먼저 내는 쪽이 항상 비용이 낮습니다. 실패해도 정보가 필요 없기 때문입니다. 반대로 기동부터 시도했다가 ORA-01153을 만나면 "그럼 지금 어떤 방식으로 돌고 있지"를 확인해야 하고, 방식을 바꾸려던 것이었다면 결국 CANCEL로 돌아옵니다. 스크립트에서는 WHENEVER SQLERROR 설정을 CANCEL 구간에서만 풀어 주면 깔끔합니다. 마지막 확인 단계를 빠뜨리지 않는 것도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DB_UNIQUE_NAME 속성은 "이 목적지는 이 이름을 가진 데이터베이스를 위한 것"이라는 선언입니다. 값이 자신과 다르면 그 목적지는 자신에게 해당하지 않으므로 오라클은 해석을 거부하고 BAD PARAM으로 둡니다. 왜 이렇게 됐는가. DUPLICATE의 SPFILE 절이 Primary spfile을 가져오는데 스크립트에 set log_archive_dest_1이 없었기 때문입니다. 6장의 CONTROL_FILES와 완전히 같은 구조입니다. 지정하지 않은 파라미터는 조용히 상속됩니다.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이런 결함이 가장 다루기 어렵습니다. 오류가 나지 않으니 아무도 알아채지 못합니다. 진짜 문제는 역할 전환 후에 드러납니다. boston이 Primary가 되면 목적지 1번이 로컬 아카이브를 담당해야 하는데 BAD PARAM이면 그때 멈춥니다. 평상시에는 보이지 않다가 가장 급한 순간에 터지는 종류입니다. 그래서 구축 직후 점검 목록에 "목적지 상태가 전부 VALID인가"를 넣어야 합니다. 지연이 0이라는 것만으로는 부족합니다.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변화가 더 중요합니다. 적용은 그전에도 돌고 있었지만 RECOVERY_MODE 열은 IDLE을 보여 주고 있었습니다. 목적지가 유효하지 않으면 이 열이 의미 있는 값을 갖지 못하기 때문입니다. 즉 진단 도구 자체가 고장 나 있었던 셈입니다. 이것이 BAD PARAM을 방치하면 안 되는 두 번째 이유입니다. 참고로 LOG_ARCHIVE_DEST_n은 동적 파라미터라 SCOPE=BOTH로 즉시 반영됩니다. 6장의 CONTROL_FILES가 SCOPE=SPFILE만 가능해 재기동이 필요했던 것과 대조됩니다.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열을 구분해 읽는 것이 이 슬라이드의 요점입니다. STATUS가 BAD PARAM이면 고쳐야 하고, VALID_NOW가 WRONG VALID_TYPE이면 그대로 두어야 합니다. 2장에서 배운 VALID_FOR 속성이 여기서 결과로 나타납니다. 이 목적지는 boston이 Primary가 되었을 때 chicago로 리두를 보내기 위한 것이므로 지금 쓰이지 않는 것이 당연합니다. 이 둘을 혼동하면 멀쩡한 목적지를 고치거나 고장 난 목적지를 방치하게 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FAL_CLIENT는 "요청을 보낼 때 나를 이렇게 소개하라"는 값인데, boston이 자신을 chicago라고 소개하고 있었습니다. 11g 이후로는 이 값이 없거나 틀려도 동작하므로 오류조차 나지 않습니다. 셋 중 가장 조용한 결함이죠. 여기서 끌어낼 원칙은 하나입니다. DUPLICATE의 SPFILE 절은 Primary 파라미터를 통째로 가져오므로, Standby에서 값이 달라야 하는 파라미터는 빠짐없이 SET으로 지정해야 합니다. 지정하지 않은 것은 조용히 상속되고, 그중 일부만 오류를 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 값 하나를 믿기 어려운 상황을 앞에서 봤으므로 독립적인 확인 방법이 필요합니다. 정의로 돌아가면 판별법이 나옵니다. 주의할 점이 셋 있습니다. 첫째, Primary에 쓰기가 발생하므로 운영에서는 신중해야 합니다. 둘째, 시험이 끝나면 테이블을 지웁니다. 셋째, 충분히 기다립니다. 실측에서 20초에서 40초가 걸렸는데, 5초 만에 확인하고 안 보인다고 판단하면 잘못된 결론에 이릅니다.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오래된 문서와 절차서가 강조하는 절이 사실상 무의미해진 것입니다. 여기서 두 가지를 배웁니다. 첫째, 절차서에서 이 절이 빠졌다고 해서 아카이브 적용으로 돌고 있다고 단정하면 안 됩니다. 확인은 RECOVERY_MODE와 기능 시험으로 합니다. 둘째, 그럼에도 명시하는 편이 낫습니다. 명령을 읽는 사람에게 의도를 알려 주고, SRL이 없는 환경으로 옮겼을 때 동작이 조용히 달라지는 것을 막아 줍니다. 동작이 같다고 해서 생략이 최선은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숫자가 다른 것이 핵심입니다. V$ARCHIVE_GAP은 "적용해야 하는데 파일이 없는 것"을 보여 주지 "적용하지 않은 것"을 보여 주지 않습니다. 전송은 계속되고 있었으므로 파일 대부분은 도착해 있었고, 갭으로 잡힌 것은 그중 일부입니다. 그래서 갭이 비어 있다고 해서 뒤처지지 않았다는 뜻이 아닙니다. 지금이 그 예입니다. 참고로 Primary 쪽 APPLIED_SEQ#는 Primary가 마지막으로 확인한 시점의 값이라 시차가 있습니다. 정확한 판단은 Standby에서 직접 조회한 값으로 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파일은 모두 도착했지만 아직 적용 중이라는 뜻입니다. 갭 해소와 지연 해소는 다른 단계입니다. apply lag이 transport lag보다 큰 것도 당연합니다. 받아야 적용할 수 있으므로 적용이 더 뒤처집니다. 반대로 나오면 두 값의 계산 시점이 어긋난 것이고 몇 초 뒤 정상 관계로 돌아옵니다. 그리고 이때 조급하게 명령을 다시 내리면 ORA-01153만 만납니다. MRP0의 BLOCK#이 늘어나는지 확인하고 기다리는 것이 옳습니다.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estimated startup time은 지금 Standby를 Primary로 전환한다면 서비스 개시까지 걸릴 예상 시간입니다. 실측 8초였는데 16장의 역할 전환에서 다시 보게 됩니다. UNIT 열을 보면 정밀도가 다릅니다. 두 지연은 초 단위이고 apply finish time은 밀리초 단위입니다. 앞의 둘은 초보다 세밀하게 볼 필요가 없다는 오라클의 판단이 반영된 것으로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차이를 모르면 진단이 어긋납니다. 값이 줄어들고 있으면 따라잡는 중이므로 기다리면 되고, 늘어나고 있으면 문제이며, 제자리이면 정상이거나 완전히 멈춘 것이라 다른 지표로 확인해야 합니다. 추세로 판단한다는 원칙이 여기서 나옵니다. 참고로 apply finish time과 estimated startup time에는 DATUM_TIME이 없습니다. 과거 정보가 아니라 예측값이기 때문입니다.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행이 앞에서 본 함정입니다. 지연 값만으로는 이 상태를 구분할 수 없으므로 MRP0 존재를 봐야 합니다. 두 번째 행은 야간 배치 뒤에 흔히 나타납니다. 배치가 만든 리두량이 Standby의 적용 능력을 넘어선 것이며, 시간이 지나며 값이 줄어들면 조치가 필요 없습니다. 줄지 않거나 늘어나면 Standby의 I/O를 보거나 배치 자체의 리두 발생량을 줄이는 방향을 검토합니다.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4장에서도 같은 관찰을 했고 두 장의 실측이 같은 방향을 가리킵니다. 규칙의 성격을 아는 것이 중요합니다. 최소 요건이라면 어기면 동작하지 않아야 하는데 동작합니다. 여유를 위한 권장이므로 부하가 가벼운 환경에서는 차이가 드러나지 않습니다. 실습 환경이 그랬습니다. 운영에서 리두 생성량이 많으면 이 차이가 지연으로 나타납니다. 참고로 ACTIVE인 SRL은 지울 수 없습니다. MRP를 멈춰도 RFS는 계속 받으니까요.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ORA-00312가 두 줄이라는 사소한 사실이 구성 방식을 드러냅니다. 4장에서 같은 오류를 만났을 때는 경로 지정 방식이라 한 줄이었습니다. ORA-01184 쪽은 4장과 결과가 다릅니다. 그때는 여러 그룹을 한 문장에 넣었다가 중복 하나 때문에 전체가 실패했는데, 이번에는 그룹별로 따로 실행해 셋은 성공하고 하나만 실패했습니다. 복구 상황처럼 현재 상태가 불확실할 때는 반드시 그룹별로 실행합니다.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UNION ALL로 각 뷰의 결과를 item과 val 두 문자열로 맞추면 됩니다. 여러 목적지를 한 줄로 보이려면 LISTAGG를 씁니다. 작성할 때 주의할 점이 셋 있습니다. 첫째, mrp 행의 NVL입니다. 집계 함수가 NULL을 돌려주면 빈 칸으로 보여 놓치기 쉬우므로 눈에 띄게 만듭니다. 둘째, recovery_mode는 dest status와 함께 봅니다. 목적지가 BAD PARAM이면 값이 왜곡되니까요. 셋째, 모든 열을 문자열로 맞춰야 UNION ALL에서 타입 불일치가 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순서에 의존 관계가 있다는 것이 이 슬라이드의 요점입니다. ①이 실패하면 나머지를 볼 필요가 없습니다. 적용부터 기동해야죠. ③이 실패하면 ②는 신뢰할 수 없지만 ④와 ⑤는 여전히 유효합니다. 이 의존 관계를 모르면 IDLE이라는 값을 보고 "실시간 적용이 아니구나"라고 잘못 판단하게 됩니다. 실제로 이 장에서 그런 상황을 겪었습니다. ⑥은 가장 확실하지만 Primary에 쓰기가 발생하므로 마지막 수단으로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진단에서 흔히 헷갈리는 지점입니다. IDLE이라는 값만 보고 "실시간 적용이 아니구나"라고 판단하면 두 상황을 구분하지 못합니다. 목적지 STATUS가 BAD PARAM이면 진단 열 자체가 왜곡된 것이고, VALID인데 IDLE이면 적용이 실제로 멈춘 것입니다. 그래서 점검 순서에서 RECOVERY_MODE 다음에 STATUS를 두었고, 통합 점검 조회에도 dest status 행을 반드시 포함시켰습니다. 값 하나가 두 가지를 뜻할 수 있다면 그것을 가르는 다른 값을 함께 봐야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장의 실측이 공통으로 가리키는 것은 하나입니다. 단일 지표는 거짓 안심을 준다는 것입니다. READ ONLY WITH APPLY만 보고 넘어갔다면 BAD PARAM을 못 찾았을 것이고, 지연만 보고 넘어갔다면 멈춘 적용을 정상으로 판단했을 것이며, 한 번의 조회로 끝냈다면 DATUM_TIME 때문에 십수 초 전 상태를 지금으로 착각했을 것입니다. 세 습관은 모두 같은 원칙의 다른 표현입니다. 다음 장부터는 이 습관을 전제로 진행합니다.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Redo Apply 기동과 동기화 검증</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상태 열 하나로는 알 수 없다</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프로세스·모드·갭·지연을 읽는 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V$MANAGED_STANDBY</a:t>
            </a:r>
            <a:r>
              <a:rPr sz="1600" b="0">
                <a:solidFill>
                  <a:srgbClr val="222222"/>
                </a:solidFill>
                <a:latin typeface="맑은 고딕"/>
              </a:rPr>
              <a:t>의 프로세스(ARCH·DGRD·RFS·MRP0) 역할과 상태를 읽는다.</a:t>
            </a:r>
          </a:p>
          <a:p>
            <a:pPr algn="l">
              <a:spcAft>
                <a:spcPts val="1000"/>
              </a:spcAft>
            </a:pPr>
            <a:r>
              <a:rPr sz="1600" b="0">
                <a:solidFill>
                  <a:srgbClr val="222222"/>
                </a:solidFill>
                <a:latin typeface="맑은 고딕"/>
              </a:rPr>
              <a:t>•  Redo Apply를 기동·중지하고 ORA-16136과 ORA-01153을 구분한다.</a:t>
            </a:r>
          </a:p>
          <a:p>
            <a:pPr algn="l">
              <a:spcAft>
                <a:spcPts val="1000"/>
              </a:spcAft>
            </a:pPr>
            <a:r>
              <a:rPr sz="1600" b="0">
                <a:solidFill>
                  <a:srgbClr val="222222"/>
                </a:solidFill>
                <a:latin typeface="맑은 고딕"/>
              </a:rPr>
              <a:t>•  Standby의 </a:t>
            </a:r>
            <a:r>
              <a:rPr sz="1600" b="0">
                <a:solidFill>
                  <a:srgbClr val="222222"/>
                </a:solidFill>
                <a:latin typeface="Consolas"/>
                <a:cs typeface="Consolas"/>
              </a:rPr>
              <a:t>LOG_ARCHIVE_DEST_1</a:t>
            </a:r>
            <a:r>
              <a:rPr sz="1600" b="0">
                <a:solidFill>
                  <a:srgbClr val="222222"/>
                </a:solidFill>
                <a:latin typeface="맑은 고딕"/>
              </a:rPr>
              <a:t>이 </a:t>
            </a:r>
            <a:r>
              <a:rPr sz="1600" b="0">
                <a:solidFill>
                  <a:srgbClr val="222222"/>
                </a:solidFill>
                <a:latin typeface="Consolas"/>
                <a:cs typeface="Consolas"/>
              </a:rPr>
              <a:t>BAD PARAM</a:t>
            </a:r>
            <a:r>
              <a:rPr sz="1600" b="0">
                <a:solidFill>
                  <a:srgbClr val="222222"/>
                </a:solidFill>
                <a:latin typeface="맑은 고딕"/>
              </a:rPr>
              <a:t>이 되는 원인을 진단하고 고친다.</a:t>
            </a:r>
          </a:p>
          <a:p>
            <a:pPr algn="l">
              <a:spcAft>
                <a:spcPts val="1000"/>
              </a:spcAft>
            </a:pPr>
            <a:r>
              <a:rPr sz="1600" b="0">
                <a:solidFill>
                  <a:srgbClr val="222222"/>
                </a:solidFill>
                <a:latin typeface="맑은 고딕"/>
              </a:rPr>
              <a:t>•  </a:t>
            </a:r>
            <a:r>
              <a:rPr sz="1600" b="0">
                <a:solidFill>
                  <a:srgbClr val="222222"/>
                </a:solidFill>
                <a:latin typeface="Consolas"/>
                <a:cs typeface="Consolas"/>
              </a:rPr>
              <a:t>RECOVERY_MODE</a:t>
            </a:r>
            <a:r>
              <a:rPr sz="1600" b="0">
                <a:solidFill>
                  <a:srgbClr val="222222"/>
                </a:solidFill>
                <a:latin typeface="맑은 고딕"/>
              </a:rPr>
              <a:t> 열과 기능 시험으로 실시간 적용 여부를 교차 검증한다.</a:t>
            </a:r>
          </a:p>
          <a:p>
            <a:pPr algn="l">
              <a:spcAft>
                <a:spcPts val="1000"/>
              </a:spcAft>
            </a:pPr>
            <a:r>
              <a:rPr sz="1600" b="0">
                <a:solidFill>
                  <a:srgbClr val="222222"/>
                </a:solidFill>
                <a:latin typeface="맑은 고딕"/>
              </a:rPr>
              <a:t>•  19c에서 </a:t>
            </a:r>
            <a:r>
              <a:rPr sz="1600" b="0">
                <a:solidFill>
                  <a:srgbClr val="222222"/>
                </a:solidFill>
                <a:latin typeface="Consolas"/>
                <a:cs typeface="Consolas"/>
              </a:rPr>
              <a:t>USING CURRENT LOGFILE</a:t>
            </a:r>
            <a:r>
              <a:rPr sz="1600" b="0">
                <a:solidFill>
                  <a:srgbClr val="222222"/>
                </a:solidFill>
                <a:latin typeface="맑은 고딕"/>
              </a:rPr>
              <a:t>이 사실상 불필요해진 것을 실측으로 확인한다.</a:t>
            </a:r>
          </a:p>
          <a:p>
            <a:pPr algn="l">
              <a:spcAft>
                <a:spcPts val="1000"/>
              </a:spcAft>
            </a:pPr>
            <a:r>
              <a:rPr sz="1600" b="0">
                <a:solidFill>
                  <a:srgbClr val="222222"/>
                </a:solidFill>
                <a:latin typeface="맑은 고딕"/>
              </a:rPr>
              <a:t>•  갭을 만들어 </a:t>
            </a:r>
            <a:r>
              <a:rPr sz="1600" b="0">
                <a:solidFill>
                  <a:srgbClr val="222222"/>
                </a:solidFill>
                <a:latin typeface="Consolas"/>
                <a:cs typeface="Consolas"/>
              </a:rPr>
              <a:t>V$ARCHIVE_GAP</a:t>
            </a:r>
            <a:r>
              <a:rPr sz="1600" b="0">
                <a:solidFill>
                  <a:srgbClr val="222222"/>
                </a:solidFill>
                <a:latin typeface="맑은 고딕"/>
              </a:rPr>
              <a:t>으로 관찰하고 해소 과정을 추적한다.</a:t>
            </a:r>
          </a:p>
          <a:p>
            <a:pPr algn="l">
              <a:spcAft>
                <a:spcPts val="1000"/>
              </a:spcAft>
            </a:pPr>
            <a:r>
              <a:rPr sz="1600" b="0">
                <a:solidFill>
                  <a:srgbClr val="222222"/>
                </a:solidFill>
                <a:latin typeface="맑은 고딕"/>
              </a:rPr>
              <a:t>•  </a:t>
            </a:r>
            <a:r>
              <a:rPr sz="1600" b="0">
                <a:solidFill>
                  <a:srgbClr val="222222"/>
                </a:solidFill>
                <a:latin typeface="Consolas"/>
                <a:cs typeface="Consolas"/>
              </a:rPr>
              <a:t>V$DATAGUARD_STATS</a:t>
            </a:r>
            <a:r>
              <a:rPr sz="1600" b="0">
                <a:solidFill>
                  <a:srgbClr val="222222"/>
                </a:solidFill>
                <a:latin typeface="맑은 고딕"/>
              </a:rPr>
              <a:t> 네 행과 두 시각 열의 차이를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7.2  적용은 누가 하는가</a:t>
            </a:r>
          </a:p>
          <a:p>
            <a:pPr algn="l">
              <a:spcAft>
                <a:spcPts val="1000"/>
              </a:spcAft>
            </a:pPr>
            <a:r>
              <a:rPr sz="1600" b="0">
                <a:solidFill>
                  <a:srgbClr val="222222"/>
                </a:solidFill>
                <a:latin typeface="맑은 고딕"/>
              </a:rPr>
              <a:t>•  7.3  적용 제어</a:t>
            </a:r>
          </a:p>
          <a:p>
            <a:pPr algn="l">
              <a:spcAft>
                <a:spcPts val="1000"/>
              </a:spcAft>
            </a:pPr>
            <a:r>
              <a:rPr sz="1600" b="0">
                <a:solidFill>
                  <a:srgbClr val="222222"/>
                </a:solidFill>
                <a:latin typeface="맑은 고딕"/>
              </a:rPr>
              <a:t>•  7.4  Standby 아카이브 목적지 — 세 번째 가이드 결함</a:t>
            </a:r>
          </a:p>
          <a:p>
            <a:pPr algn="l">
              <a:spcAft>
                <a:spcPts val="1000"/>
              </a:spcAft>
            </a:pPr>
            <a:r>
              <a:rPr sz="1600" b="0">
                <a:solidFill>
                  <a:srgbClr val="222222"/>
                </a:solidFill>
                <a:latin typeface="맑은 고딕"/>
              </a:rPr>
              <a:t>•  7.5  실시간 적용인가 — 두 가지 확인 방법</a:t>
            </a:r>
          </a:p>
          <a:p>
            <a:pPr algn="l">
              <a:spcAft>
                <a:spcPts val="1000"/>
              </a:spcAft>
            </a:pPr>
            <a:r>
              <a:rPr sz="1600" b="0">
                <a:solidFill>
                  <a:srgbClr val="222222"/>
                </a:solidFill>
                <a:latin typeface="맑은 고딕"/>
              </a:rPr>
              <a:t>•  7.6  갭을 만들고 관찰하기</a:t>
            </a:r>
          </a:p>
          <a:p>
            <a:pPr algn="l">
              <a:spcAft>
                <a:spcPts val="1000"/>
              </a:spcAft>
            </a:pPr>
            <a:r>
              <a:rPr sz="1600" b="0">
                <a:solidFill>
                  <a:srgbClr val="222222"/>
                </a:solidFill>
                <a:latin typeface="맑은 고딕"/>
              </a:rPr>
              <a:t>•  7.7  지연 읽기</a:t>
            </a:r>
          </a:p>
          <a:p>
            <a:pPr algn="l">
              <a:spcAft>
                <a:spcPts val="1000"/>
              </a:spcAft>
            </a:pPr>
            <a:r>
              <a:rPr sz="1600" b="0">
                <a:solidFill>
                  <a:srgbClr val="222222"/>
                </a:solidFill>
                <a:latin typeface="맑은 고딕"/>
              </a:rPr>
              <a:t>•  7.8  SRL과 적용의 관계</a:t>
            </a:r>
          </a:p>
          <a:p>
            <a:pPr algn="l">
              <a:spcAft>
                <a:spcPts val="1000"/>
              </a:spcAft>
            </a:pPr>
            <a:r>
              <a:rPr sz="1600" b="0">
                <a:solidFill>
                  <a:srgbClr val="222222"/>
                </a:solidFill>
                <a:latin typeface="맑은 고딕"/>
              </a:rPr>
              <a:t>•  7.9  점검 순서 정리</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적용은 누가 하는가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네 종류의 프로세스</a:t>
            </a:r>
          </a:p>
          <a:p>
            <a:pPr algn="l">
              <a:spcAft>
                <a:spcPts val="800"/>
              </a:spcAft>
            </a:pPr>
            <a:r>
              <a:rPr sz="1600" b="0">
                <a:solidFill>
                  <a:srgbClr val="FFFFFF"/>
                </a:solidFill>
                <a:latin typeface="맑은 고딕"/>
              </a:rPr>
              <a:t>•  RFS와 MRP0</a:t>
            </a:r>
          </a:p>
          <a:p>
            <a:pPr algn="l">
              <a:spcAft>
                <a:spcPts val="800"/>
              </a:spcAft>
            </a:pPr>
            <a:r>
              <a:rPr sz="1600" b="0">
                <a:solidFill>
                  <a:srgbClr val="FFFFFF"/>
                </a:solidFill>
                <a:latin typeface="맑은 고딕"/>
              </a:rPr>
              <a:t>•  MRP0이 사라졌을 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겉모습 안으로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상태 열 하나로는 알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5·6장은 </a:t>
            </a:r>
            <a:r>
              <a:rPr sz="1700" b="0">
                <a:solidFill>
                  <a:srgbClr val="222222"/>
                </a:solidFill>
                <a:latin typeface="Consolas"/>
                <a:cs typeface="Consolas"/>
              </a:rPr>
              <a:t>READ ONLY WITH APPLY</a:t>
            </a:r>
            <a:r>
              <a:rPr sz="1700" b="0">
                <a:solidFill>
                  <a:srgbClr val="222222"/>
                </a:solidFill>
                <a:latin typeface="맑은 고딕"/>
              </a:rPr>
              <a:t> 확인으로 끝났다</a:t>
            </a:r>
          </a:p>
          <a:p>
            <a:pPr algn="l">
              <a:spcAft>
                <a:spcPts val="1000"/>
              </a:spcAft>
            </a:pPr>
            <a:r>
              <a:rPr sz="1700" b="0">
                <a:solidFill>
                  <a:srgbClr val="222222"/>
                </a:solidFill>
                <a:latin typeface="맑은 고딕"/>
              </a:rPr>
              <a:t>•  그 확인은 "적용이 돌고 있다"까지만 말해 준다</a:t>
            </a:r>
          </a:p>
          <a:p>
            <a:pPr algn="l">
              <a:spcAft>
                <a:spcPts val="1000"/>
              </a:spcAft>
            </a:pPr>
            <a:r>
              <a:rPr sz="1700" b="0">
                <a:solidFill>
                  <a:srgbClr val="222222"/>
                </a:solidFill>
                <a:latin typeface="맑은 고딕"/>
              </a:rPr>
              <a:t>•  실시간인가, 얼마나 뒤처졌는가, 목적지는 정상인가 — 답하지 않는다</a:t>
            </a:r>
          </a:p>
          <a:p>
            <a:pPr algn="l">
              <a:spcAft>
                <a:spcPts val="1000"/>
              </a:spcAft>
            </a:pPr>
            <a:r>
              <a:rPr sz="1700" b="0">
                <a:solidFill>
                  <a:srgbClr val="222222"/>
                </a:solidFill>
                <a:latin typeface="맑은 고딕"/>
              </a:rPr>
              <a:t>•  이 장은 그 안으로 들어간다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V$MANAGED_STANDBY 9행</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누가 무엇을 하는가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RFS</a:t>
            </a:r>
            <a:r>
              <a:rPr sz="1700" b="0">
                <a:solidFill>
                  <a:srgbClr val="222222"/>
                </a:solidFill>
                <a:latin typeface="맑은 고딕"/>
              </a:rPr>
              <a:t> — Primary의 리두를 받아 SRL에 쓴다. 개수 유동적</a:t>
            </a:r>
          </a:p>
          <a:p>
            <a:pPr algn="l">
              <a:spcAft>
                <a:spcPts val="1000"/>
              </a:spcAft>
            </a:pPr>
            <a:r>
              <a:rPr sz="1700" b="0">
                <a:solidFill>
                  <a:srgbClr val="222222"/>
                </a:solidFill>
                <a:latin typeface="맑은 고딕"/>
              </a:rPr>
              <a:t>•  </a:t>
            </a:r>
            <a:r>
              <a:rPr sz="1700" b="0">
                <a:solidFill>
                  <a:srgbClr val="222222"/>
                </a:solidFill>
                <a:latin typeface="Consolas"/>
                <a:cs typeface="Consolas"/>
              </a:rPr>
              <a:t>MRP0</a:t>
            </a:r>
            <a:r>
              <a:rPr sz="1700" b="0">
                <a:solidFill>
                  <a:srgbClr val="222222"/>
                </a:solidFill>
                <a:latin typeface="맑은 고딕"/>
              </a:rPr>
              <a:t> — SRL을 읽어 데이터 파일에 적용한다. </a:t>
            </a:r>
            <a:r>
              <a:rPr sz="1700" b="1">
                <a:solidFill>
                  <a:srgbClr val="222222"/>
                </a:solidFill>
                <a:latin typeface="맑은 고딕"/>
              </a:rPr>
              <a:t>항상 하나</a:t>
            </a:r>
          </a:p>
          <a:p>
            <a:pPr algn="l">
              <a:spcAft>
                <a:spcPts val="1000"/>
              </a:spcAft>
            </a:pPr>
            <a:r>
              <a:rPr sz="1700" b="0">
                <a:solidFill>
                  <a:srgbClr val="222222"/>
                </a:solidFill>
                <a:latin typeface="맑은 고딕"/>
              </a:rPr>
              <a:t>•  </a:t>
            </a:r>
            <a:r>
              <a:rPr sz="1700" b="0">
                <a:solidFill>
                  <a:srgbClr val="222222"/>
                </a:solidFill>
                <a:latin typeface="Consolas"/>
                <a:cs typeface="Consolas"/>
              </a:rPr>
              <a:t>ARCH</a:t>
            </a:r>
            <a:r>
              <a:rPr sz="1700" b="0">
                <a:solidFill>
                  <a:srgbClr val="222222"/>
                </a:solidFill>
                <a:latin typeface="맑은 고딕"/>
              </a:rPr>
              <a:t> — 아카이브 담당. 실측 4개 (</a:t>
            </a:r>
            <a:r>
              <a:rPr sz="1700" b="0">
                <a:solidFill>
                  <a:srgbClr val="222222"/>
                </a:solidFill>
                <a:latin typeface="Consolas"/>
                <a:cs typeface="Consolas"/>
              </a:rPr>
              <a:t>LOG_ARCHIVE_MAX_PROCESSES=4</a:t>
            </a:r>
            <a:r>
              <a:rPr sz="1700" b="0">
                <a:solidFill>
                  <a:srgbClr val="222222"/>
                </a:solidFill>
                <a:latin typeface="맑은 고딕"/>
              </a:rPr>
              <a:t>)</a:t>
            </a:r>
          </a:p>
          <a:p>
            <a:pPr algn="l">
              <a:spcAft>
                <a:spcPts val="1000"/>
              </a:spcAft>
            </a:pPr>
            <a:r>
              <a:rPr sz="1700" b="0">
                <a:solidFill>
                  <a:srgbClr val="222222"/>
                </a:solidFill>
                <a:latin typeface="맑은 고딕"/>
              </a:rPr>
              <a:t>•  </a:t>
            </a:r>
            <a:r>
              <a:rPr sz="1700" b="0">
                <a:solidFill>
                  <a:srgbClr val="222222"/>
                </a:solidFill>
                <a:latin typeface="Consolas"/>
                <a:cs typeface="Consolas"/>
              </a:rPr>
              <a:t>DGRD</a:t>
            </a:r>
            <a:r>
              <a:rPr sz="1700" b="0">
                <a:solidFill>
                  <a:srgbClr val="222222"/>
                </a:solidFill>
                <a:latin typeface="맑은 고딕"/>
              </a:rPr>
              <a:t> — 관리용 보조. 실측 2개</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결정적 관찰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시퀀스가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MRP0 : thread 1, sequence 64, block 2285</a:t>
            </a:r>
          </a:p>
          <a:p>
            <a:pPr algn="l">
              <a:spcAft>
                <a:spcPts val="1000"/>
              </a:spcAft>
            </a:pPr>
            <a:r>
              <a:rPr sz="1700" b="0">
                <a:solidFill>
                  <a:srgbClr val="222222"/>
                </a:solidFill>
                <a:latin typeface="맑은 고딕"/>
              </a:rPr>
              <a:t>•  RFS  : thread 1, sequence 64, block 2285</a:t>
            </a:r>
          </a:p>
          <a:p>
            <a:pPr algn="l">
              <a:spcAft>
                <a:spcPts val="1000"/>
              </a:spcAft>
            </a:pPr>
            <a:r>
              <a:rPr sz="1700" b="0">
                <a:solidFill>
                  <a:srgbClr val="222222"/>
                </a:solidFill>
                <a:latin typeface="맑은 고딕"/>
              </a:rPr>
              <a:t>•  </a:t>
            </a:r>
            <a:r>
              <a:rPr sz="1700" b="1">
                <a:solidFill>
                  <a:srgbClr val="222222"/>
                </a:solidFill>
                <a:latin typeface="맑은 고딕"/>
              </a:rPr>
              <a:t>받는 지점과 적용하는 지점이 같다</a:t>
            </a:r>
          </a:p>
          <a:p>
            <a:pPr algn="l">
              <a:spcAft>
                <a:spcPts val="1000"/>
              </a:spcAft>
            </a:pPr>
            <a:r>
              <a:rPr sz="1700" b="0">
                <a:solidFill>
                  <a:srgbClr val="222222"/>
                </a:solidFill>
                <a:latin typeface="맑은 고딕"/>
              </a:rPr>
              <a:t>•  실시간 적용의 직접 증거. MOUNTED 상태에서도 쓸 수 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MRP0이 사라지면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꼬리표도 사라진다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중지 → </a:t>
            </a:r>
            <a:r>
              <a:rPr sz="1700" b="0">
                <a:solidFill>
                  <a:srgbClr val="222222"/>
                </a:solidFill>
                <a:latin typeface="Consolas"/>
                <a:cs typeface="Consolas"/>
              </a:rPr>
              <a:t>V$MANAGED_STANDBY</a:t>
            </a:r>
            <a:r>
              <a:rPr sz="1700" b="0">
                <a:solidFill>
                  <a:srgbClr val="222222"/>
                </a:solidFill>
                <a:latin typeface="맑은 고딕"/>
              </a:rPr>
              <a:t>에서 MRP0이 없어진다</a:t>
            </a:r>
          </a:p>
          <a:p>
            <a:pPr algn="l">
              <a:spcAft>
                <a:spcPts val="1000"/>
              </a:spcAft>
            </a:pPr>
            <a:r>
              <a:rPr sz="1700" b="0">
                <a:solidFill>
                  <a:srgbClr val="222222"/>
                </a:solidFill>
                <a:latin typeface="맑은 고딕"/>
              </a:rPr>
              <a:t>•  </a:t>
            </a:r>
            <a:r>
              <a:rPr sz="1700" b="0">
                <a:solidFill>
                  <a:srgbClr val="222222"/>
                </a:solidFill>
                <a:latin typeface="Consolas"/>
                <a:cs typeface="Consolas"/>
              </a:rPr>
              <a:t>OPEN_MODE</a:t>
            </a:r>
            <a:r>
              <a:rPr sz="1700" b="0">
                <a:solidFill>
                  <a:srgbClr val="222222"/>
                </a:solidFill>
                <a:latin typeface="맑은 고딕"/>
              </a:rPr>
              <a:t> : READ ONLY WITH APPLY → </a:t>
            </a:r>
            <a:r>
              <a:rPr sz="1700" b="1">
                <a:solidFill>
                  <a:srgbClr val="222222"/>
                </a:solidFill>
                <a:latin typeface="맑은 고딕"/>
              </a:rPr>
              <a:t>READ ONLY</a:t>
            </a:r>
          </a:p>
          <a:p>
            <a:pPr algn="l">
              <a:spcAft>
                <a:spcPts val="1000"/>
              </a:spcAft>
            </a:pPr>
            <a:r>
              <a:rPr sz="1700" b="0">
                <a:solidFill>
                  <a:srgbClr val="222222"/>
                </a:solidFill>
                <a:latin typeface="맑은 고딕"/>
              </a:rPr>
              <a:t>•  그런데 두 지연은 </a:t>
            </a:r>
            <a:r>
              <a:rPr sz="1700" b="1">
                <a:solidFill>
                  <a:srgbClr val="222222"/>
                </a:solidFill>
                <a:latin typeface="맑은 고딕"/>
              </a:rPr>
              <a:t>0으로 보인다</a:t>
            </a:r>
          </a:p>
          <a:p>
            <a:pPr algn="l">
              <a:spcAft>
                <a:spcPts val="1000"/>
              </a:spcAft>
            </a:pPr>
            <a:r>
              <a:rPr sz="1700" b="0">
                <a:solidFill>
                  <a:srgbClr val="222222"/>
                </a:solidFill>
                <a:latin typeface="맑은 고딕"/>
              </a:rPr>
              <a:t>•  적용할 것이 없으니 뒤처질 것도 없다는 계산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적용 제어</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가지 명령</a:t>
            </a:r>
          </a:p>
          <a:p>
            <a:pPr algn="l">
              <a:spcAft>
                <a:spcPts val="800"/>
              </a:spcAft>
            </a:pPr>
            <a:r>
              <a:rPr sz="1600" b="0">
                <a:solidFill>
                  <a:srgbClr val="FFFFFF"/>
                </a:solidFill>
                <a:latin typeface="맑은 고딕"/>
              </a:rPr>
              <a:t>•  두 가지 오류</a:t>
            </a:r>
          </a:p>
          <a:p>
            <a:pPr algn="l">
              <a:spcAft>
                <a:spcPts val="800"/>
              </a:spcAft>
            </a:pPr>
            <a:r>
              <a:rPr sz="1600" b="0">
                <a:solidFill>
                  <a:srgbClr val="FFFFFF"/>
                </a:solidFill>
                <a:latin typeface="맑은 고딕"/>
              </a:rPr>
              <a:t>•  안전한 재기동 순서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오류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둘 다 무해하다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멈춰 있는데 CANCEL → </a:t>
            </a:r>
            <a:r>
              <a:rPr sz="1700" b="1">
                <a:solidFill>
                  <a:srgbClr val="222222"/>
                </a:solidFill>
                <a:latin typeface="맑은 고딕"/>
              </a:rPr>
              <a:t>ORA-16136</a:t>
            </a:r>
            <a:r>
              <a:rPr sz="1700" b="0">
                <a:solidFill>
                  <a:srgbClr val="222222"/>
                </a:solidFill>
                <a:latin typeface="맑은 고딕"/>
              </a:rPr>
              <a:t> </a:t>
            </a:r>
            <a:r>
              <a:rPr sz="1700" b="0">
                <a:solidFill>
                  <a:srgbClr val="222222"/>
                </a:solidFill>
                <a:latin typeface="Consolas"/>
                <a:cs typeface="Consolas"/>
              </a:rPr>
              <a:t>Managed Standby Recovery not active</a:t>
            </a:r>
          </a:p>
          <a:p>
            <a:pPr algn="l">
              <a:spcAft>
                <a:spcPts val="1000"/>
              </a:spcAft>
            </a:pPr>
            <a:r>
              <a:rPr sz="1700" b="0">
                <a:solidFill>
                  <a:srgbClr val="222222"/>
                </a:solidFill>
                <a:latin typeface="맑은 고딕"/>
              </a:rPr>
              <a:t>•  돌고 있는데 기동 → </a:t>
            </a:r>
            <a:r>
              <a:rPr sz="1700" b="1">
                <a:solidFill>
                  <a:srgbClr val="222222"/>
                </a:solidFill>
                <a:latin typeface="맑은 고딕"/>
              </a:rPr>
              <a:t>ORA-01153</a:t>
            </a:r>
            <a:r>
              <a:rPr sz="1700" b="0">
                <a:solidFill>
                  <a:srgbClr val="222222"/>
                </a:solidFill>
                <a:latin typeface="맑은 고딕"/>
              </a:rPr>
              <a:t> </a:t>
            </a:r>
            <a:r>
              <a:rPr sz="1700" b="0">
                <a:solidFill>
                  <a:srgbClr val="222222"/>
                </a:solidFill>
                <a:latin typeface="Consolas"/>
                <a:cs typeface="Consolas"/>
              </a:rPr>
              <a:t>an incompatible media recovery is active</a:t>
            </a:r>
          </a:p>
          <a:p>
            <a:pPr algn="l">
              <a:spcAft>
                <a:spcPts val="1000"/>
              </a:spcAft>
            </a:pPr>
            <a:r>
              <a:rPr sz="1700" b="0">
                <a:solidFill>
                  <a:srgbClr val="222222"/>
                </a:solidFill>
                <a:latin typeface="맑은 고딕"/>
              </a:rPr>
              <a:t>•  </a:t>
            </a:r>
            <a:r>
              <a:rPr sz="1700" b="0">
                <a:solidFill>
                  <a:srgbClr val="222222"/>
                </a:solidFill>
                <a:latin typeface="Consolas"/>
                <a:cs typeface="Consolas"/>
              </a:rPr>
              <a:t>USING CURRENT LOGFILE</a:t>
            </a:r>
            <a:r>
              <a:rPr sz="1700" b="0">
                <a:solidFill>
                  <a:srgbClr val="222222"/>
                </a:solidFill>
                <a:latin typeface="맑은 고딕"/>
              </a:rPr>
              <a:t> 유무와 무관하게 같은 오류</a:t>
            </a:r>
          </a:p>
          <a:p>
            <a:pPr algn="l">
              <a:spcAft>
                <a:spcPts val="1000"/>
              </a:spcAft>
            </a:pPr>
            <a:r>
              <a:rPr sz="1700" b="0">
                <a:solidFill>
                  <a:srgbClr val="222222"/>
                </a:solidFill>
                <a:latin typeface="맑은 고딕"/>
              </a:rPr>
              <a:t>•  둘 다 </a:t>
            </a:r>
            <a:r>
              <a:rPr sz="1700" b="1">
                <a:solidFill>
                  <a:srgbClr val="222222"/>
                </a:solidFill>
                <a:latin typeface="맑은 고딕"/>
              </a:rPr>
              <a:t>상태를 바꾸지 않는다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재기동은 CANCEL 먼저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비용이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CANCEL → 대기 → 기동 → 확인</a:t>
            </a:r>
          </a:p>
          <a:p>
            <a:pPr algn="l">
              <a:spcAft>
                <a:spcPts val="1000"/>
              </a:spcAft>
            </a:pPr>
            <a:r>
              <a:rPr sz="1700" b="0">
                <a:solidFill>
                  <a:srgbClr val="222222"/>
                </a:solidFill>
                <a:latin typeface="맑은 고딕"/>
              </a:rPr>
              <a:t>•  CANCEL 먼저 : 이미 멈춰 있어도 ORA-16136만 나고 끝난다</a:t>
            </a:r>
          </a:p>
          <a:p>
            <a:pPr algn="l">
              <a:spcAft>
                <a:spcPts val="1000"/>
              </a:spcAft>
            </a:pPr>
            <a:r>
              <a:rPr sz="1700" b="0">
                <a:solidFill>
                  <a:srgbClr val="222222"/>
                </a:solidFill>
                <a:latin typeface="맑은 고딕"/>
              </a:rPr>
              <a:t>•  기동 먼저 : ORA-01153이 나면 현재 방식을 확인하는 단계가 더 든다</a:t>
            </a:r>
          </a:p>
          <a:p>
            <a:pPr algn="l">
              <a:spcAft>
                <a:spcPts val="1000"/>
              </a:spcAft>
            </a:pPr>
            <a:r>
              <a:rPr sz="1700" b="0">
                <a:solidFill>
                  <a:srgbClr val="222222"/>
                </a:solidFill>
                <a:latin typeface="맑은 고딕"/>
              </a:rPr>
              <a:t>•  자동화 시 CANCEL 구간의 ORA-16136을 무시하도록 작성한다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세 번째 가이드 결함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BAD PARAM 진단</a:t>
            </a:r>
          </a:p>
          <a:p>
            <a:pPr algn="l">
              <a:spcAft>
                <a:spcPts val="800"/>
              </a:spcAft>
            </a:pPr>
            <a:r>
              <a:rPr sz="1600" b="0">
                <a:solidFill>
                  <a:srgbClr val="FFFFFF"/>
                </a:solidFill>
                <a:latin typeface="맑은 고딕"/>
              </a:rPr>
              <a:t>•  소리 없는 결함</a:t>
            </a:r>
          </a:p>
          <a:p>
            <a:pPr algn="l">
              <a:spcAft>
                <a:spcPts val="800"/>
              </a:spcAft>
            </a:pPr>
            <a:r>
              <a:rPr sz="1600" b="0">
                <a:solidFill>
                  <a:srgbClr val="FFFFFF"/>
                </a:solidFill>
                <a:latin typeface="맑은 고딕"/>
              </a:rPr>
              <a:t>•  WRONG VALID_TYPE은 정상</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BAD PARAM</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목적지 이름은 있는데 경로가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1 LOG_ARCHIVE_DEST_1  (빈칸)  BAD PARAM  IDLE</a:t>
            </a:r>
          </a:p>
          <a:p>
            <a:pPr algn="l">
              <a:spcAft>
                <a:spcPts val="1000"/>
              </a:spcAft>
            </a:pPr>
            <a:r>
              <a:rPr sz="1700" b="0">
                <a:solidFill>
                  <a:srgbClr val="222222"/>
                </a:solidFill>
                <a:latin typeface="맑은 고딕"/>
              </a:rPr>
              <a:t>•  파라미터 값 : </a:t>
            </a:r>
            <a:r>
              <a:rPr sz="1700" b="0">
                <a:solidFill>
                  <a:srgbClr val="222222"/>
                </a:solidFill>
                <a:latin typeface="Consolas"/>
                <a:cs typeface="Consolas"/>
              </a:rPr>
              <a:t>... db_unique_name=</a:t>
            </a:r>
            <a:r>
              <a:rPr sz="1700" b="1">
                <a:solidFill>
                  <a:srgbClr val="222222"/>
                </a:solidFill>
                <a:latin typeface="Consolas"/>
                <a:cs typeface="Consolas"/>
              </a:rPr>
              <a:t>chicago</a:t>
            </a:r>
          </a:p>
          <a:p>
            <a:pPr algn="l">
              <a:spcAft>
                <a:spcPts val="1000"/>
              </a:spcAft>
            </a:pPr>
            <a:r>
              <a:rPr sz="1700" b="0">
                <a:solidFill>
                  <a:srgbClr val="222222"/>
                </a:solidFill>
                <a:latin typeface="맑은 고딕"/>
              </a:rPr>
              <a:t>•  이 데이터베이스의 </a:t>
            </a:r>
            <a:r>
              <a:rPr sz="1700" b="0">
                <a:solidFill>
                  <a:srgbClr val="222222"/>
                </a:solidFill>
                <a:latin typeface="Consolas"/>
                <a:cs typeface="Consolas"/>
              </a:rPr>
              <a:t>DB_UNIQUE_NAME</a:t>
            </a:r>
            <a:r>
              <a:rPr sz="1700" b="0">
                <a:solidFill>
                  <a:srgbClr val="222222"/>
                </a:solidFill>
                <a:latin typeface="맑은 고딕"/>
              </a:rPr>
              <a:t>은 </a:t>
            </a:r>
            <a:r>
              <a:rPr sz="1700" b="0">
                <a:solidFill>
                  <a:srgbClr val="222222"/>
                </a:solidFill>
                <a:latin typeface="Consolas"/>
                <a:cs typeface="Consolas"/>
              </a:rPr>
              <a:t>boston</a:t>
            </a:r>
          </a:p>
          <a:p>
            <a:pPr algn="l">
              <a:spcAft>
                <a:spcPts val="1000"/>
              </a:spcAft>
            </a:pPr>
            <a:r>
              <a:rPr sz="1700" b="0">
                <a:solidFill>
                  <a:srgbClr val="222222"/>
                </a:solidFill>
                <a:latin typeface="맑은 고딕"/>
              </a:rPr>
              <a:t>•  원인은 </a:t>
            </a:r>
            <a:r>
              <a:rPr sz="1700" b="1">
                <a:solidFill>
                  <a:srgbClr val="222222"/>
                </a:solidFill>
                <a:latin typeface="맑은 고딕"/>
              </a:rPr>
              <a:t>파라미터 상속</a:t>
            </a:r>
            <a:r>
              <a:rPr sz="1700" b="0">
                <a:solidFill>
                  <a:srgbClr val="222222"/>
                </a:solidFill>
                <a:latin typeface="맑은 고딕"/>
              </a:rPr>
              <a:t> — 6장 컨트롤 파일과 같은 구조</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그런데 왜 아무 문제가 없었나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우회로가 있었다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5·6장 확인 항목은 모두 정상이었다 — 실제로도 정상이었다</a:t>
            </a:r>
          </a:p>
          <a:p>
            <a:pPr algn="l">
              <a:spcAft>
                <a:spcPts val="1000"/>
              </a:spcAft>
            </a:pPr>
            <a:r>
              <a:rPr sz="1700" b="0">
                <a:solidFill>
                  <a:srgbClr val="222222"/>
                </a:solidFill>
                <a:latin typeface="맑은 고딕"/>
              </a:rPr>
              <a:t>•  </a:t>
            </a:r>
            <a:r>
              <a:rPr sz="1700" b="0">
                <a:solidFill>
                  <a:srgbClr val="222222"/>
                </a:solidFill>
                <a:latin typeface="Consolas"/>
                <a:cs typeface="Consolas"/>
              </a:rPr>
              <a:t>DB_RECOVERY_FILE_DEST</a:t>
            </a:r>
            <a:r>
              <a:rPr sz="1700" b="0">
                <a:solidFill>
                  <a:srgbClr val="222222"/>
                </a:solidFill>
                <a:latin typeface="맑은 고딕"/>
              </a:rPr>
              <a:t>가 있어 아카이브는 FRA로 갔다</a:t>
            </a:r>
          </a:p>
          <a:p>
            <a:pPr algn="l">
              <a:spcAft>
                <a:spcPts val="1000"/>
              </a:spcAft>
            </a:pPr>
            <a:r>
              <a:rPr sz="1700" b="0">
                <a:solidFill>
                  <a:srgbClr val="222222"/>
                </a:solidFill>
                <a:latin typeface="맑은 고딕"/>
              </a:rPr>
              <a:t>•  실측 : </a:t>
            </a:r>
            <a:r>
              <a:rPr sz="1700" b="0">
                <a:solidFill>
                  <a:srgbClr val="222222"/>
                </a:solidFill>
                <a:latin typeface="Consolas"/>
                <a:cs typeface="Consolas"/>
              </a:rPr>
              <a:t>.../fast_recovery_area/BOSTON/archivelog/2026_08_27/o1_mf_1_66_...arc</a:t>
            </a:r>
          </a:p>
          <a:p>
            <a:pPr algn="l">
              <a:spcAft>
                <a:spcPts val="1000"/>
              </a:spcAft>
            </a:pPr>
            <a:r>
              <a:rPr sz="1700" b="0">
                <a:solidFill>
                  <a:srgbClr val="222222"/>
                </a:solidFill>
                <a:latin typeface="맑은 고딕"/>
              </a:rPr>
              <a:t>•  </a:t>
            </a:r>
            <a:r>
              <a:rPr sz="1700" b="1">
                <a:solidFill>
                  <a:srgbClr val="222222"/>
                </a:solidFill>
                <a:latin typeface="맑은 고딕"/>
              </a:rPr>
              <a:t>기능은 동작하고 상태 열만 비정상</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고치면 진단 도구가 되살아난다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가지가 함께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db_unique_name=boston</a:t>
            </a:r>
            <a:r>
              <a:rPr sz="1700" b="0">
                <a:solidFill>
                  <a:srgbClr val="222222"/>
                </a:solidFill>
                <a:latin typeface="맑은 고딕"/>
              </a:rPr>
              <a:t>으로 수정, </a:t>
            </a:r>
            <a:r>
              <a:rPr sz="1700" b="0">
                <a:solidFill>
                  <a:srgbClr val="222222"/>
                </a:solidFill>
                <a:latin typeface="Consolas"/>
                <a:cs typeface="Consolas"/>
              </a:rPr>
              <a:t>SCOPE=BOTH</a:t>
            </a:r>
          </a:p>
          <a:p>
            <a:pPr algn="l">
              <a:spcAft>
                <a:spcPts val="1000"/>
              </a:spcAft>
            </a:pPr>
            <a:r>
              <a:rPr sz="1700" b="0">
                <a:solidFill>
                  <a:srgbClr val="222222"/>
                </a:solidFill>
                <a:latin typeface="맑은 고딕"/>
              </a:rPr>
              <a:t>•  </a:t>
            </a:r>
            <a:r>
              <a:rPr sz="1700" b="0">
                <a:solidFill>
                  <a:srgbClr val="222222"/>
                </a:solidFill>
                <a:latin typeface="Consolas"/>
                <a:cs typeface="Consolas"/>
              </a:rPr>
              <a:t>STATUS</a:t>
            </a:r>
            <a:r>
              <a:rPr sz="1700" b="0">
                <a:solidFill>
                  <a:srgbClr val="222222"/>
                </a:solidFill>
                <a:latin typeface="맑은 고딕"/>
              </a:rPr>
              <a:t> : BAD PARAM → </a:t>
            </a:r>
            <a:r>
              <a:rPr sz="1700" b="1">
                <a:solidFill>
                  <a:srgbClr val="222222"/>
                </a:solidFill>
                <a:latin typeface="맑은 고딕"/>
              </a:rPr>
              <a:t>VALID</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 IDLE → </a:t>
            </a:r>
            <a:r>
              <a:rPr sz="1700" b="1">
                <a:solidFill>
                  <a:srgbClr val="222222"/>
                </a:solidFill>
                <a:latin typeface="맑은 고딕"/>
              </a:rPr>
              <a:t>MANAGED REAL TIME APPLY</a:t>
            </a:r>
          </a:p>
          <a:p>
            <a:pPr algn="l">
              <a:spcAft>
                <a:spcPts val="1000"/>
              </a:spcAft>
            </a:pPr>
            <a:r>
              <a:rPr sz="1700" b="0">
                <a:solidFill>
                  <a:srgbClr val="222222"/>
                </a:solidFill>
                <a:latin typeface="맑은 고딕"/>
              </a:rPr>
              <a:t>•  고치기 전에는 실시간 적용 여부를 이 열로 판단할 수 없었다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WRONG VALID_TYPE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이것은 정상이다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2 ... VALID  REMOTE  WRONG VALID_TYPE</a:t>
            </a:r>
          </a:p>
          <a:p>
            <a:pPr algn="l">
              <a:spcAft>
                <a:spcPts val="1000"/>
              </a:spcAft>
            </a:pPr>
            <a:r>
              <a:rPr sz="1700" b="0">
                <a:solidFill>
                  <a:srgbClr val="222222"/>
                </a:solidFill>
                <a:latin typeface="맑은 고딕"/>
              </a:rPr>
              <a:t>•  boston의 목적지 2번 : </a:t>
            </a:r>
            <a:r>
              <a:rPr sz="1700" b="0">
                <a:solidFill>
                  <a:srgbClr val="222222"/>
                </a:solidFill>
                <a:latin typeface="Consolas"/>
                <a:cs typeface="Consolas"/>
              </a:rPr>
              <a:t>valid_for=(online_logfile,</a:t>
            </a:r>
            <a:r>
              <a:rPr sz="1700" b="1">
                <a:solidFill>
                  <a:srgbClr val="222222"/>
                </a:solidFill>
                <a:latin typeface="Consolas"/>
                <a:cs typeface="Consolas"/>
              </a:rPr>
              <a:t>primary_role</a:t>
            </a:r>
            <a:r>
              <a:rPr sz="1700" b="0">
                <a:solidFill>
                  <a:srgbClr val="222222"/>
                </a:solidFill>
                <a:latin typeface="Consolas"/>
                <a:cs typeface="Consolas"/>
              </a:rPr>
              <a:t>)</a:t>
            </a:r>
          </a:p>
          <a:p>
            <a:pPr algn="l">
              <a:spcAft>
                <a:spcPts val="1000"/>
              </a:spcAft>
            </a:pPr>
            <a:r>
              <a:rPr sz="1700" b="0">
                <a:solidFill>
                  <a:srgbClr val="222222"/>
                </a:solidFill>
                <a:latin typeface="맑은 고딕"/>
              </a:rPr>
              <a:t>•  boston은 지금 Standby → 역할이 맞지 않으니 지금은 유효하지 않다</a:t>
            </a:r>
          </a:p>
          <a:p>
            <a:pPr algn="l">
              <a:spcAft>
                <a:spcPts val="1000"/>
              </a:spcAft>
            </a:pPr>
            <a:r>
              <a:rPr sz="1700" b="0">
                <a:solidFill>
                  <a:srgbClr val="222222"/>
                </a:solidFill>
                <a:latin typeface="맑은 고딕"/>
              </a:rPr>
              <a:t>•  역할 전환 후 쓰일 목적지다. 고치면 안 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상속 사례가 넷</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하나는 증상조차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CONTROL_FILES</a:t>
            </a:r>
            <a:r>
              <a:rPr sz="1700" b="0">
                <a:solidFill>
                  <a:srgbClr val="222222"/>
                </a:solidFill>
                <a:latin typeface="맑은 고딕"/>
              </a:rPr>
              <a:t> (6장) — Standby에 Chicago 디렉터리</a:t>
            </a:r>
          </a:p>
          <a:p>
            <a:pPr algn="l">
              <a:spcAft>
                <a:spcPts val="1000"/>
              </a:spcAft>
            </a:pPr>
            <a:r>
              <a:rPr sz="1700" b="0">
                <a:solidFill>
                  <a:srgbClr val="222222"/>
                </a:solidFill>
                <a:latin typeface="맑은 고딕"/>
              </a:rPr>
              <a:t>•  </a:t>
            </a:r>
            <a:r>
              <a:rPr sz="1700" b="0">
                <a:solidFill>
                  <a:srgbClr val="222222"/>
                </a:solidFill>
                <a:latin typeface="Consolas"/>
                <a:cs typeface="Consolas"/>
              </a:rPr>
              <a:t>LOG_ARCHIVE_DEST_1</a:t>
            </a:r>
            <a:r>
              <a:rPr sz="1700" b="0">
                <a:solidFill>
                  <a:srgbClr val="222222"/>
                </a:solidFill>
                <a:latin typeface="맑은 고딕"/>
              </a:rPr>
              <a:t> (7장) — BAD PARAM</a:t>
            </a:r>
          </a:p>
          <a:p>
            <a:pPr algn="l">
              <a:spcAft>
                <a:spcPts val="1000"/>
              </a:spcAft>
            </a:pPr>
            <a:r>
              <a:rPr sz="1700" b="0">
                <a:solidFill>
                  <a:srgbClr val="222222"/>
                </a:solidFill>
                <a:latin typeface="맑은 고딕"/>
              </a:rPr>
              <a:t>•  </a:t>
            </a:r>
            <a:r>
              <a:rPr sz="1700" b="0">
                <a:solidFill>
                  <a:srgbClr val="222222"/>
                </a:solidFill>
                <a:latin typeface="Consolas"/>
                <a:cs typeface="Consolas"/>
              </a:rPr>
              <a:t>FAL_CLIENT</a:t>
            </a:r>
            <a:r>
              <a:rPr sz="1700" b="0">
                <a:solidFill>
                  <a:srgbClr val="222222"/>
                </a:solidFill>
                <a:latin typeface="맑은 고딕"/>
              </a:rPr>
              <a:t> (7장) — </a:t>
            </a:r>
            <a:r>
              <a:rPr sz="1700" b="1">
                <a:solidFill>
                  <a:srgbClr val="222222"/>
                </a:solidFill>
                <a:latin typeface="맑은 고딕"/>
              </a:rPr>
              <a:t>증상 없음.</a:t>
            </a:r>
            <a:r>
              <a:rPr sz="1700" b="0">
                <a:solidFill>
                  <a:srgbClr val="222222"/>
                </a:solidFill>
                <a:latin typeface="맑은 고딕"/>
              </a:rPr>
              <a:t> 값이 chicago였다</a:t>
            </a:r>
          </a:p>
          <a:p>
            <a:pPr algn="l">
              <a:spcAft>
                <a:spcPts val="1000"/>
              </a:spcAft>
            </a:pPr>
            <a:r>
              <a:rPr sz="1700" b="0">
                <a:solidFill>
                  <a:srgbClr val="222222"/>
                </a:solidFill>
                <a:latin typeface="맑은 고딕"/>
              </a:rPr>
              <a:t>•  </a:t>
            </a:r>
            <a:r>
              <a:rPr sz="1700" b="0">
                <a:solidFill>
                  <a:srgbClr val="222222"/>
                </a:solidFill>
                <a:latin typeface="Consolas"/>
                <a:cs typeface="Consolas"/>
              </a:rPr>
              <a:t>DB_NAME</a:t>
            </a:r>
            <a:r>
              <a:rPr sz="1700" b="0">
                <a:solidFill>
                  <a:srgbClr val="222222"/>
                </a:solidFill>
                <a:latin typeface="맑은 고딕"/>
              </a:rPr>
              <a:t> (5장) — 스크립트가 </a:t>
            </a:r>
            <a:r>
              <a:rPr sz="1700" b="0">
                <a:solidFill>
                  <a:srgbClr val="222222"/>
                </a:solidFill>
                <a:latin typeface="Consolas"/>
                <a:cs typeface="Consolas"/>
              </a:rPr>
              <a:t>set db_name</a:t>
            </a:r>
            <a:r>
              <a:rPr sz="1700" b="0">
                <a:solidFill>
                  <a:srgbClr val="222222"/>
                </a:solidFill>
                <a:latin typeface="맑은 고딕"/>
              </a:rPr>
              <a:t>으로 막아 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실시간 적용인가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RECOVERY_MODE 열</a:t>
            </a:r>
          </a:p>
          <a:p>
            <a:pPr algn="l">
              <a:spcAft>
                <a:spcPts val="800"/>
              </a:spcAft>
            </a:pPr>
            <a:r>
              <a:rPr sz="1600" b="0">
                <a:solidFill>
                  <a:srgbClr val="FFFFFF"/>
                </a:solidFill>
                <a:latin typeface="맑은 고딕"/>
              </a:rPr>
              <a:t>•  기능 시험</a:t>
            </a:r>
          </a:p>
          <a:p>
            <a:pPr algn="l">
              <a:spcAft>
                <a:spcPts val="800"/>
              </a:spcAft>
            </a:pPr>
            <a:r>
              <a:rPr sz="1600" b="0">
                <a:solidFill>
                  <a:srgbClr val="FFFFFF"/>
                </a:solidFill>
                <a:latin typeface="맑은 고딕"/>
              </a:rPr>
              <a:t>•  19c에서 달라진 것</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기능 시험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정의가 곧 판별법이다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실시간 적용 = 아카이브를 기다리지 않고 적용한다</a:t>
            </a:r>
          </a:p>
          <a:p>
            <a:pPr algn="l">
              <a:spcAft>
                <a:spcPts val="1000"/>
              </a:spcAft>
            </a:pPr>
            <a:r>
              <a:rPr sz="1700" b="0">
                <a:solidFill>
                  <a:srgbClr val="222222"/>
                </a:solidFill>
                <a:latin typeface="맑은 고딕"/>
              </a:rPr>
              <a:t>•  그러므로 : </a:t>
            </a:r>
            <a:r>
              <a:rPr sz="1700" b="1">
                <a:solidFill>
                  <a:srgbClr val="222222"/>
                </a:solidFill>
                <a:latin typeface="맑은 고딕"/>
              </a:rPr>
              <a:t>로그를 전환하지 않고</a:t>
            </a:r>
            <a:r>
              <a:rPr sz="1700" b="0">
                <a:solidFill>
                  <a:srgbClr val="222222"/>
                </a:solidFill>
                <a:latin typeface="맑은 고딕"/>
              </a:rPr>
              <a:t> 커밋한 행이 Standby에서 보이면 실시간</a:t>
            </a:r>
          </a:p>
          <a:p>
            <a:pPr algn="l">
              <a:spcAft>
                <a:spcPts val="1000"/>
              </a:spcAft>
            </a:pPr>
            <a:r>
              <a:rPr sz="1700" b="0">
                <a:solidFill>
                  <a:srgbClr val="222222"/>
                </a:solidFill>
                <a:latin typeface="맑은 고딕"/>
              </a:rPr>
              <a:t>•  보이지 않다가 </a:t>
            </a:r>
            <a:r>
              <a:rPr sz="1700" b="0">
                <a:solidFill>
                  <a:srgbClr val="222222"/>
                </a:solidFill>
                <a:latin typeface="Consolas"/>
                <a:cs typeface="Consolas"/>
              </a:rPr>
              <a:t>ARCHIVE LOG CURRENT</a:t>
            </a:r>
            <a:r>
              <a:rPr sz="1700" b="0">
                <a:solidFill>
                  <a:srgbClr val="222222"/>
                </a:solidFill>
                <a:latin typeface="맑은 고딕"/>
              </a:rPr>
              <a:t> 후에 보이면 아카이브 적용</a:t>
            </a:r>
          </a:p>
          <a:p>
            <a:pPr algn="l">
              <a:spcAft>
                <a:spcPts val="1000"/>
              </a:spcAft>
            </a:pPr>
            <a:r>
              <a:rPr sz="1700" b="0">
                <a:solidFill>
                  <a:srgbClr val="222222"/>
                </a:solidFill>
                <a:latin typeface="맑은 고딕"/>
              </a:rPr>
              <a:t>•  Active Data Guard여야 가능한 시험</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실측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명령이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 DISCONNECT FROM SESSION</a:t>
            </a:r>
            <a:r>
              <a:rPr sz="1700" b="0">
                <a:solidFill>
                  <a:srgbClr val="222222"/>
                </a:solidFill>
                <a:latin typeface="맑은 고딕"/>
              </a:rPr>
              <a:t> → MANAGED REAL TIME APPLY, 40초 내 보임</a:t>
            </a:r>
          </a:p>
          <a:p>
            <a:pPr algn="l">
              <a:spcAft>
                <a:spcPts val="1000"/>
              </a:spcAft>
            </a:pPr>
            <a:r>
              <a:rPr sz="1700" b="0">
                <a:solidFill>
                  <a:srgbClr val="222222"/>
                </a:solidFill>
                <a:latin typeface="맑은 고딕"/>
              </a:rPr>
              <a:t>•  </a:t>
            </a:r>
            <a:r>
              <a:rPr sz="1700" b="0">
                <a:solidFill>
                  <a:srgbClr val="222222"/>
                </a:solidFill>
                <a:latin typeface="Consolas"/>
                <a:cs typeface="Consolas"/>
              </a:rPr>
              <a:t>... USING CURRENT LOGFILE ...</a:t>
            </a:r>
            <a:r>
              <a:rPr sz="1700" b="0">
                <a:solidFill>
                  <a:srgbClr val="222222"/>
                </a:solidFill>
                <a:latin typeface="맑은 고딕"/>
              </a:rPr>
              <a:t> → MANAGED REAL TIME APPLY, 20초 내 보임</a:t>
            </a:r>
          </a:p>
          <a:p>
            <a:pPr algn="l">
              <a:spcAft>
                <a:spcPts val="1000"/>
              </a:spcAft>
            </a:pPr>
            <a:r>
              <a:rPr sz="1700" b="0">
                <a:solidFill>
                  <a:srgbClr val="222222"/>
                </a:solidFill>
                <a:latin typeface="맑은 고딕"/>
              </a:rPr>
              <a:t>•  </a:t>
            </a:r>
            <a:r>
              <a:rPr sz="1700" b="1">
                <a:solidFill>
                  <a:srgbClr val="222222"/>
                </a:solidFill>
                <a:latin typeface="맑은 고딕"/>
              </a:rPr>
              <a:t>SRL이 있으면 12.2 이후 실시간 적용이 기본</a:t>
            </a:r>
          </a:p>
          <a:p>
            <a:pPr algn="l">
              <a:spcAft>
                <a:spcPts val="1000"/>
              </a:spcAft>
            </a:pPr>
            <a:r>
              <a:rPr sz="1700" b="0">
                <a:solidFill>
                  <a:srgbClr val="222222"/>
                </a:solidFill>
                <a:latin typeface="맑은 고딕"/>
              </a:rPr>
              <a:t>•  </a:t>
            </a:r>
            <a:r>
              <a:rPr sz="1700" b="0">
                <a:solidFill>
                  <a:srgbClr val="222222"/>
                </a:solidFill>
                <a:latin typeface="Consolas"/>
                <a:cs typeface="Consolas"/>
              </a:rPr>
              <a:t>USING CURRENT LOGFILE</a:t>
            </a:r>
            <a:r>
              <a:rPr sz="1700" b="0">
                <a:solidFill>
                  <a:srgbClr val="222222"/>
                </a:solidFill>
                <a:latin typeface="맑은 고딕"/>
              </a:rPr>
              <a:t>은 받아들여지지만 동작을 바꾸지 않는다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갭과 지연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갭 만들기와 관찰</a:t>
            </a:r>
          </a:p>
          <a:p>
            <a:pPr algn="l">
              <a:spcAft>
                <a:spcPts val="800"/>
              </a:spcAft>
            </a:pPr>
            <a:r>
              <a:rPr sz="1600" b="0">
                <a:solidFill>
                  <a:srgbClr val="FFFFFF"/>
                </a:solidFill>
                <a:latin typeface="맑은 고딕"/>
              </a:rPr>
              <a:t>•  갭 0과 지연 0은 다르다</a:t>
            </a:r>
          </a:p>
          <a:p>
            <a:pPr algn="l">
              <a:spcAft>
                <a:spcPts val="800"/>
              </a:spcAft>
            </a:pPr>
            <a:r>
              <a:rPr sz="1600" b="0">
                <a:solidFill>
                  <a:srgbClr val="FFFFFF"/>
                </a:solidFill>
                <a:latin typeface="맑은 고딕"/>
              </a:rPr>
              <a:t>•  지연 읽기</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갭 만들기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적용을 멈추고 로그를 전환한다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Standby: CANCEL / Primary: </a:t>
            </a:r>
            <a:r>
              <a:rPr sz="1700" b="0">
                <a:solidFill>
                  <a:srgbClr val="222222"/>
                </a:solidFill>
                <a:latin typeface="Consolas"/>
                <a:cs typeface="Consolas"/>
              </a:rPr>
              <a:t>ARCHIVE LOG CURRENT</a:t>
            </a:r>
            <a:r>
              <a:rPr sz="1700" b="0">
                <a:solidFill>
                  <a:srgbClr val="222222"/>
                </a:solidFill>
                <a:latin typeface="맑은 고딕"/>
              </a:rPr>
              <a:t> × 3</a:t>
            </a:r>
          </a:p>
          <a:p>
            <a:pPr algn="l">
              <a:spcAft>
                <a:spcPts val="1000"/>
              </a:spcAft>
            </a:pPr>
            <a:r>
              <a:rPr sz="1700" b="0">
                <a:solidFill>
                  <a:srgbClr val="222222"/>
                </a:solidFill>
                <a:latin typeface="맑은 고딕"/>
              </a:rPr>
              <a:t>•  </a:t>
            </a:r>
            <a:r>
              <a:rPr sz="1700" b="0">
                <a:solidFill>
                  <a:srgbClr val="222222"/>
                </a:solidFill>
                <a:latin typeface="Consolas"/>
                <a:cs typeface="Consolas"/>
              </a:rPr>
              <a:t>V$ARCHIVE_GAP</a:t>
            </a:r>
            <a:r>
              <a:rPr sz="1700" b="0">
                <a:solidFill>
                  <a:srgbClr val="222222"/>
                </a:solidFill>
                <a:latin typeface="맑은 고딕"/>
              </a:rPr>
              <a:t> : thread 1, 64 ~ 65</a:t>
            </a:r>
          </a:p>
          <a:p>
            <a:pPr algn="l">
              <a:spcAft>
                <a:spcPts val="1000"/>
              </a:spcAft>
            </a:pPr>
            <a:r>
              <a:rPr sz="1700" b="0">
                <a:solidFill>
                  <a:srgbClr val="222222"/>
                </a:solidFill>
                <a:latin typeface="맑은 고딕"/>
              </a:rPr>
              <a:t>•  받은 것 66 / 적용한 것 61 — </a:t>
            </a:r>
            <a:r>
              <a:rPr sz="1700" b="1">
                <a:solidFill>
                  <a:srgbClr val="222222"/>
                </a:solidFill>
                <a:latin typeface="맑은 고딕"/>
              </a:rPr>
              <a:t>다섯 개 밀림</a:t>
            </a:r>
          </a:p>
          <a:p>
            <a:pPr algn="l">
              <a:spcAft>
                <a:spcPts val="1000"/>
              </a:spcAft>
            </a:pPr>
            <a:r>
              <a:rPr sz="1700" b="0">
                <a:solidFill>
                  <a:srgbClr val="222222"/>
                </a:solidFill>
                <a:latin typeface="맑은 고딕"/>
              </a:rPr>
              <a:t>•  갭은 두 개인데 밀린 것은 다섯 개</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갭 0, 지연 1분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단계다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적용 재기동 20초 뒤 : gaps 0, transport lag 59초, apply lag 64초</a:t>
            </a:r>
          </a:p>
          <a:p>
            <a:pPr algn="l">
              <a:spcAft>
                <a:spcPts val="1000"/>
              </a:spcAft>
            </a:pPr>
            <a:r>
              <a:rPr sz="1700" b="0">
                <a:solidFill>
                  <a:srgbClr val="222222"/>
                </a:solidFill>
                <a:latin typeface="맑은 고딕"/>
              </a:rPr>
              <a:t>•  갭 = 빠진 파일이 있는가</a:t>
            </a:r>
          </a:p>
          <a:p>
            <a:pPr algn="l">
              <a:spcAft>
                <a:spcPts val="1000"/>
              </a:spcAft>
            </a:pPr>
            <a:r>
              <a:rPr sz="1700" b="0">
                <a:solidFill>
                  <a:srgbClr val="222222"/>
                </a:solidFill>
                <a:latin typeface="맑은 고딕"/>
              </a:rPr>
              <a:t>•  지연 = 얼마나 뒤처져 있는가</a:t>
            </a:r>
          </a:p>
          <a:p>
            <a:pPr algn="l">
              <a:spcAft>
                <a:spcPts val="1000"/>
              </a:spcAft>
            </a:pPr>
            <a:r>
              <a:rPr sz="1700" b="0">
                <a:solidFill>
                  <a:srgbClr val="222222"/>
                </a:solidFill>
                <a:latin typeface="맑은 고딕"/>
              </a:rPr>
              <a:t>•  </a:t>
            </a:r>
            <a:r>
              <a:rPr sz="1700" b="0">
                <a:solidFill>
                  <a:srgbClr val="222222"/>
                </a:solidFill>
                <a:latin typeface="Consolas"/>
                <a:cs typeface="Consolas"/>
              </a:rPr>
              <a:t>apply lag &gt;= transport lag</a:t>
            </a:r>
            <a:r>
              <a:rPr sz="1700" b="0">
                <a:solidFill>
                  <a:srgbClr val="222222"/>
                </a:solidFill>
                <a:latin typeface="맑은 고딕"/>
              </a:rPr>
              <a:t>이 정상 관계</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V$DATAGUARD_STATS 네 행</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과거 둘, 미래 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transport lag</a:t>
            </a:r>
            <a:r>
              <a:rPr sz="1700" b="0">
                <a:solidFill>
                  <a:srgbClr val="222222"/>
                </a:solidFill>
                <a:latin typeface="맑은 고딕"/>
              </a:rPr>
              <a:t> / </a:t>
            </a:r>
            <a:r>
              <a:rPr sz="1700" b="0">
                <a:solidFill>
                  <a:srgbClr val="222222"/>
                </a:solidFill>
                <a:latin typeface="Consolas"/>
                <a:cs typeface="Consolas"/>
              </a:rPr>
              <a:t>apply lag</a:t>
            </a:r>
            <a:r>
              <a:rPr sz="1700" b="0">
                <a:solidFill>
                  <a:srgbClr val="222222"/>
                </a:solidFill>
                <a:latin typeface="맑은 고딕"/>
              </a:rPr>
              <a:t> — 과거. </a:t>
            </a:r>
            <a:r>
              <a:rPr sz="1700" b="0">
                <a:solidFill>
                  <a:srgbClr val="222222"/>
                </a:solidFill>
                <a:latin typeface="Consolas"/>
                <a:cs typeface="Consolas"/>
              </a:rPr>
              <a:t>DATUM_TIME</a:t>
            </a:r>
            <a:r>
              <a:rPr sz="1700" b="0">
                <a:solidFill>
                  <a:srgbClr val="222222"/>
                </a:solidFill>
                <a:latin typeface="맑은 고딕"/>
              </a:rPr>
              <a:t>이 있다</a:t>
            </a:r>
          </a:p>
          <a:p>
            <a:pPr algn="l">
              <a:spcAft>
                <a:spcPts val="1000"/>
              </a:spcAft>
            </a:pPr>
            <a:r>
              <a:rPr sz="1700" b="0">
                <a:solidFill>
                  <a:srgbClr val="222222"/>
                </a:solidFill>
                <a:latin typeface="맑은 고딕"/>
              </a:rPr>
              <a:t>•  </a:t>
            </a:r>
            <a:r>
              <a:rPr sz="1700" b="0">
                <a:solidFill>
                  <a:srgbClr val="222222"/>
                </a:solidFill>
                <a:latin typeface="Consolas"/>
                <a:cs typeface="Consolas"/>
              </a:rPr>
              <a:t>apply finish time</a:t>
            </a:r>
            <a:r>
              <a:rPr sz="1700" b="0">
                <a:solidFill>
                  <a:srgbClr val="222222"/>
                </a:solidFill>
                <a:latin typeface="맑은 고딕"/>
              </a:rPr>
              <a:t> — 밀린 것을 다 적용하는 데 걸릴 시간</a:t>
            </a:r>
          </a:p>
          <a:p>
            <a:pPr algn="l">
              <a:spcAft>
                <a:spcPts val="1000"/>
              </a:spcAft>
            </a:pPr>
            <a:r>
              <a:rPr sz="1700" b="0">
                <a:solidFill>
                  <a:srgbClr val="222222"/>
                </a:solidFill>
                <a:latin typeface="맑은 고딕"/>
              </a:rPr>
              <a:t>•  </a:t>
            </a:r>
            <a:r>
              <a:rPr sz="1700" b="0">
                <a:solidFill>
                  <a:srgbClr val="222222"/>
                </a:solidFill>
                <a:latin typeface="Consolas"/>
                <a:cs typeface="Consolas"/>
              </a:rPr>
              <a:t>estimated startup time</a:t>
            </a:r>
            <a:r>
              <a:rPr sz="1700" b="0">
                <a:solidFill>
                  <a:srgbClr val="222222"/>
                </a:solidFill>
                <a:latin typeface="맑은 고딕"/>
              </a:rPr>
              <a:t> — 실측 </a:t>
            </a:r>
            <a:r>
              <a:rPr sz="1700" b="1">
                <a:solidFill>
                  <a:srgbClr val="222222"/>
                </a:solidFill>
                <a:latin typeface="맑은 고딕"/>
              </a:rPr>
              <a:t>8초</a:t>
            </a:r>
          </a:p>
          <a:p>
            <a:pPr algn="l">
              <a:spcAft>
                <a:spcPts val="1000"/>
              </a:spcAft>
            </a:pPr>
            <a:r>
              <a:rPr sz="1700" b="0">
                <a:solidFill>
                  <a:srgbClr val="222222"/>
                </a:solidFill>
                <a:latin typeface="맑은 고딕"/>
              </a:rPr>
              <a:t>•  뒤의 둘은 예측이라 </a:t>
            </a:r>
            <a:r>
              <a:rPr sz="1700" b="0">
                <a:solidFill>
                  <a:srgbClr val="222222"/>
                </a:solidFill>
                <a:latin typeface="Consolas"/>
                <a:cs typeface="Consolas"/>
              </a:rPr>
              <a:t>DATUM_TIME</a:t>
            </a:r>
            <a:r>
              <a:rPr sz="1700" b="0">
                <a:solidFill>
                  <a:srgbClr val="222222"/>
                </a:solidFill>
                <a:latin typeface="맑은 고딕"/>
              </a:rPr>
              <a:t>이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 값에도 지연이 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12초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TIME_COMPUTED</a:t>
            </a:r>
            <a:r>
              <a:rPr sz="1700" b="0">
                <a:solidFill>
                  <a:srgbClr val="222222"/>
                </a:solidFill>
                <a:latin typeface="맑은 고딕"/>
              </a:rPr>
              <a:t> 10:43:24 — 계산한 시각</a:t>
            </a:r>
          </a:p>
          <a:p>
            <a:pPr algn="l">
              <a:spcAft>
                <a:spcPts val="1000"/>
              </a:spcAft>
            </a:pPr>
            <a:r>
              <a:rPr sz="1700" b="0">
                <a:solidFill>
                  <a:srgbClr val="222222"/>
                </a:solidFill>
                <a:latin typeface="맑은 고딕"/>
              </a:rPr>
              <a:t>•  </a:t>
            </a:r>
            <a:r>
              <a:rPr sz="1700" b="0">
                <a:solidFill>
                  <a:srgbClr val="222222"/>
                </a:solidFill>
                <a:latin typeface="Consolas"/>
                <a:cs typeface="Consolas"/>
              </a:rPr>
              <a:t>DATUM_TIME</a:t>
            </a:r>
            <a:r>
              <a:rPr sz="1700" b="0">
                <a:solidFill>
                  <a:srgbClr val="222222"/>
                </a:solidFill>
                <a:latin typeface="맑은 고딕"/>
              </a:rPr>
              <a:t> 10:43:12 — 근거가 된 정보의 시각</a:t>
            </a:r>
          </a:p>
          <a:p>
            <a:pPr algn="l">
              <a:spcAft>
                <a:spcPts val="1000"/>
              </a:spcAft>
            </a:pPr>
            <a:r>
              <a:rPr sz="1700" b="0">
                <a:solidFill>
                  <a:srgbClr val="222222"/>
                </a:solidFill>
                <a:latin typeface="맑은 고딕"/>
              </a:rPr>
              <a:t>•  </a:t>
            </a:r>
            <a:r>
              <a:rPr sz="1700" b="1">
                <a:solidFill>
                  <a:srgbClr val="222222"/>
                </a:solidFill>
                <a:latin typeface="맑은 고딕"/>
              </a:rPr>
              <a:t>"apply lag이 0이다" = "십수 초 전에는 0이었다"</a:t>
            </a:r>
          </a:p>
          <a:p>
            <a:pPr algn="l">
              <a:spcAft>
                <a:spcPts val="1000"/>
              </a:spcAft>
            </a:pPr>
            <a:r>
              <a:rPr sz="1700" b="0">
                <a:solidFill>
                  <a:srgbClr val="222222"/>
                </a:solidFill>
                <a:latin typeface="맑은 고딕"/>
              </a:rPr>
              <a:t>•  한 번의 조회로 단정하지 않는다. 두세 번 조회해 추세를 본다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지연 원인 분류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어느 쪽이 큰가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transport lag</a:t>
            </a:r>
            <a:r>
              <a:rPr sz="1700" b="0">
                <a:solidFill>
                  <a:srgbClr val="222222"/>
                </a:solidFill>
                <a:latin typeface="맑은 고딕"/>
              </a:rPr>
              <a:t>만 크다 → 네트워크·전송 경로</a:t>
            </a:r>
          </a:p>
          <a:p>
            <a:pPr algn="l">
              <a:spcAft>
                <a:spcPts val="1000"/>
              </a:spcAft>
            </a:pPr>
            <a:r>
              <a:rPr sz="1700" b="0">
                <a:solidFill>
                  <a:srgbClr val="222222"/>
                </a:solidFill>
                <a:latin typeface="맑은 고딕"/>
              </a:rPr>
              <a:t>•  </a:t>
            </a:r>
            <a:r>
              <a:rPr sz="1700" b="0">
                <a:solidFill>
                  <a:srgbClr val="222222"/>
                </a:solidFill>
                <a:latin typeface="Consolas"/>
                <a:cs typeface="Consolas"/>
              </a:rPr>
              <a:t>apply lag</a:t>
            </a:r>
            <a:r>
              <a:rPr sz="1700" b="0">
                <a:solidFill>
                  <a:srgbClr val="222222"/>
                </a:solidFill>
                <a:latin typeface="맑은 고딕"/>
              </a:rPr>
              <a:t>만 크다 → Standby의 적용 성능</a:t>
            </a:r>
          </a:p>
          <a:p>
            <a:pPr algn="l">
              <a:spcAft>
                <a:spcPts val="1000"/>
              </a:spcAft>
            </a:pPr>
            <a:r>
              <a:rPr sz="1700" b="0">
                <a:solidFill>
                  <a:srgbClr val="222222"/>
                </a:solidFill>
                <a:latin typeface="맑은 고딕"/>
              </a:rPr>
              <a:t>•  둘 다 크고 비슷 → 전송이 막혀 적용도 못 한다</a:t>
            </a:r>
          </a:p>
          <a:p>
            <a:pPr algn="l">
              <a:spcAft>
                <a:spcPts val="1000"/>
              </a:spcAft>
            </a:pPr>
            <a:r>
              <a:rPr sz="1700" b="0">
                <a:solidFill>
                  <a:srgbClr val="222222"/>
                </a:solidFill>
                <a:latin typeface="맑은 고딕"/>
              </a:rPr>
              <a:t>•  </a:t>
            </a:r>
            <a:r>
              <a:rPr sz="1700" b="1">
                <a:solidFill>
                  <a:srgbClr val="222222"/>
                </a:solidFill>
                <a:latin typeface="맑은 고딕"/>
              </a:rPr>
              <a:t>둘 다 0인데 데이터가 최신이 아니다 → 적용이 멈췄다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7.8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SRL과 점검 절차</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SRL과 적용의 관계</a:t>
            </a:r>
          </a:p>
          <a:p>
            <a:pPr algn="l">
              <a:spcAft>
                <a:spcPts val="800"/>
              </a:spcAft>
            </a:pPr>
            <a:r>
              <a:rPr sz="1600" b="0">
                <a:solidFill>
                  <a:srgbClr val="FFFFFF"/>
                </a:solidFill>
                <a:latin typeface="맑은 고딕"/>
              </a:rPr>
              <a:t>•  통합 점검 조회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SRL 하나여도 실시간 적용된다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규칙의 성격</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네 그룹 중 셋을 지우고 하나만 남겼다</a:t>
            </a:r>
          </a:p>
          <a:p>
            <a:pPr algn="l">
              <a:spcAft>
                <a:spcPts val="1000"/>
              </a:spcAft>
            </a:pPr>
            <a:r>
              <a:rPr sz="1700" b="0">
                <a:solidFill>
                  <a:srgbClr val="222222"/>
                </a:solidFill>
                <a:latin typeface="맑은 고딕"/>
              </a:rPr>
              <a:t>•  </a:t>
            </a:r>
            <a:r>
              <a:rPr sz="1700" b="0">
                <a:solidFill>
                  <a:srgbClr val="222222"/>
                </a:solidFill>
                <a:latin typeface="Consolas"/>
                <a:cs typeface="Consolas"/>
              </a:rPr>
              <a:t>RECOVERY_MODE</a:t>
            </a:r>
            <a:r>
              <a:rPr sz="1700" b="0">
                <a:solidFill>
                  <a:srgbClr val="222222"/>
                </a:solidFill>
                <a:latin typeface="맑은 고딕"/>
              </a:rPr>
              <a:t> 유지, 전환 없이 커밋한 행 40초 내 보임</a:t>
            </a:r>
          </a:p>
          <a:p>
            <a:pPr algn="l">
              <a:spcAft>
                <a:spcPts val="1000"/>
              </a:spcAft>
            </a:pPr>
            <a:r>
              <a:rPr sz="1700" b="0">
                <a:solidFill>
                  <a:srgbClr val="222222"/>
                </a:solidFill>
                <a:latin typeface="맑은 고딕"/>
              </a:rPr>
              <a:t>•  4장의 "온라인 + 1" 규칙은 </a:t>
            </a:r>
            <a:r>
              <a:rPr sz="1700" b="1">
                <a:solidFill>
                  <a:srgbClr val="222222"/>
                </a:solidFill>
                <a:latin typeface="맑은 고딕"/>
              </a:rPr>
              <a:t>최소 요건이 아니라 여유를 위한 권장</a:t>
            </a:r>
          </a:p>
          <a:p>
            <a:pPr algn="l">
              <a:spcAft>
                <a:spcPts val="1000"/>
              </a:spcAft>
            </a:pPr>
            <a:r>
              <a:rPr sz="1700" b="0">
                <a:solidFill>
                  <a:srgbClr val="222222"/>
                </a:solidFill>
                <a:latin typeface="맑은 고딕"/>
              </a:rPr>
              <a:t>•  하나만이면 아카이브되는 동안 받을 자리가 없어 전송이 대기한다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오류 두 개와 OMF의 흔적</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ORA-00261 / ORA-01184</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ACTIVE인 SRL 삭제 → </a:t>
            </a:r>
            <a:r>
              <a:rPr sz="1700" b="0">
                <a:solidFill>
                  <a:srgbClr val="222222"/>
                </a:solidFill>
                <a:latin typeface="Consolas"/>
                <a:cs typeface="Consolas"/>
              </a:rPr>
              <a:t>ORA-00261</a:t>
            </a:r>
            <a:r>
              <a:rPr sz="1700" b="0">
                <a:solidFill>
                  <a:srgbClr val="222222"/>
                </a:solidFill>
                <a:latin typeface="맑은 고딕"/>
              </a:rPr>
              <a:t> + </a:t>
            </a:r>
            <a:r>
              <a:rPr sz="1700" b="0">
                <a:solidFill>
                  <a:srgbClr val="222222"/>
                </a:solidFill>
                <a:latin typeface="Consolas"/>
                <a:cs typeface="Consolas"/>
              </a:rPr>
              <a:t>ORA-00312</a:t>
            </a:r>
            <a:r>
              <a:rPr sz="1700" b="0">
                <a:solidFill>
                  <a:srgbClr val="222222"/>
                </a:solidFill>
                <a:latin typeface="맑은 고딕"/>
              </a:rPr>
              <a:t> </a:t>
            </a:r>
            <a:r>
              <a:rPr sz="1700" b="1">
                <a:solidFill>
                  <a:srgbClr val="222222"/>
                </a:solidFill>
                <a:latin typeface="맑은 고딕"/>
              </a:rPr>
              <a:t>두 줄</a:t>
            </a:r>
          </a:p>
          <a:p>
            <a:pPr algn="l">
              <a:spcAft>
                <a:spcPts val="1000"/>
              </a:spcAft>
            </a:pPr>
            <a:r>
              <a:rPr sz="1700" b="0">
                <a:solidFill>
                  <a:srgbClr val="222222"/>
                </a:solidFill>
                <a:latin typeface="맑은 고딕"/>
              </a:rPr>
              <a:t>•  두 줄인 이유 : OMF라 그룹당 멤버가 둘 (oradata + FRA)</a:t>
            </a:r>
          </a:p>
          <a:p>
            <a:pPr algn="l">
              <a:spcAft>
                <a:spcPts val="1000"/>
              </a:spcAft>
            </a:pPr>
            <a:r>
              <a:rPr sz="1700" b="0">
                <a:solidFill>
                  <a:srgbClr val="222222"/>
                </a:solidFill>
                <a:latin typeface="맑은 고딕"/>
              </a:rPr>
              <a:t>•  이미 있는 그룹 번호로 추가 → </a:t>
            </a:r>
            <a:r>
              <a:rPr sz="1700" b="0">
                <a:solidFill>
                  <a:srgbClr val="222222"/>
                </a:solidFill>
                <a:latin typeface="Consolas"/>
                <a:cs typeface="Consolas"/>
              </a:rPr>
              <a:t>ORA-01184</a:t>
            </a:r>
          </a:p>
          <a:p>
            <a:pPr algn="l">
              <a:spcAft>
                <a:spcPts val="1000"/>
              </a:spcAft>
            </a:pPr>
            <a:r>
              <a:rPr sz="1700" b="0">
                <a:solidFill>
                  <a:srgbClr val="222222"/>
                </a:solidFill>
                <a:latin typeface="맑은 고딕"/>
              </a:rPr>
              <a:t>•  그룹별로 따로 실행하면 나머지는 성공한다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통합 점검 조회</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아홉 줄로 전부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role/open · protection · mrp · recovery_mode</a:t>
            </a:r>
          </a:p>
          <a:p>
            <a:pPr algn="l">
              <a:spcAft>
                <a:spcPts val="1000"/>
              </a:spcAft>
            </a:pPr>
            <a:r>
              <a:rPr sz="1700" b="0">
                <a:solidFill>
                  <a:srgbClr val="222222"/>
                </a:solidFill>
                <a:latin typeface="맑은 고딕"/>
              </a:rPr>
              <a:t>•  dest status · gaps · transport lag · apply lag · srl</a:t>
            </a:r>
          </a:p>
          <a:p>
            <a:pPr algn="l">
              <a:spcAft>
                <a:spcPts val="1000"/>
              </a:spcAft>
            </a:pPr>
            <a:r>
              <a:rPr sz="1700" b="0">
                <a:solidFill>
                  <a:srgbClr val="222222"/>
                </a:solidFill>
                <a:latin typeface="맑은 고딕"/>
              </a:rPr>
              <a:t>•  </a:t>
            </a:r>
            <a:r>
              <a:rPr sz="1700" b="0">
                <a:solidFill>
                  <a:srgbClr val="222222"/>
                </a:solidFill>
                <a:latin typeface="Consolas"/>
                <a:cs typeface="Consolas"/>
              </a:rPr>
              <a:t>mrp</a:t>
            </a:r>
            <a:r>
              <a:rPr sz="1700" b="0">
                <a:solidFill>
                  <a:srgbClr val="222222"/>
                </a:solidFill>
                <a:latin typeface="맑은 고딕"/>
              </a:rPr>
              <a:t> 행에 </a:t>
            </a:r>
            <a:r>
              <a:rPr sz="1700" b="0">
                <a:solidFill>
                  <a:srgbClr val="222222"/>
                </a:solidFill>
                <a:latin typeface="Consolas"/>
                <a:cs typeface="Consolas"/>
              </a:rPr>
              <a:t>NVL(..., '*** NOT RUNNING ***')</a:t>
            </a:r>
          </a:p>
          <a:p>
            <a:pPr algn="l">
              <a:spcAft>
                <a:spcPts val="1000"/>
              </a:spcAft>
            </a:pPr>
            <a:r>
              <a:rPr sz="1700" b="0">
                <a:solidFill>
                  <a:srgbClr val="222222"/>
                </a:solidFill>
                <a:latin typeface="맑은 고딕"/>
              </a:rPr>
              <a:t>•  그 한 줄이 "지연 0인데 멈춰 있는" 함정을 막는다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점검 순서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의존 관계가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MRP0 존재 — 없으면 나머지는 무의미하다</a:t>
            </a:r>
          </a:p>
          <a:p>
            <a:pPr algn="l">
              <a:spcAft>
                <a:spcPts val="1000"/>
              </a:spcAft>
            </a:pPr>
            <a:r>
              <a:rPr sz="1700" b="0">
                <a:solidFill>
                  <a:srgbClr val="222222"/>
                </a:solidFill>
                <a:latin typeface="맑은 고딕"/>
              </a:rPr>
              <a:t>•  ② </a:t>
            </a:r>
            <a:r>
              <a:rPr sz="1700" b="0">
                <a:solidFill>
                  <a:srgbClr val="222222"/>
                </a:solidFill>
                <a:latin typeface="Consolas"/>
                <a:cs typeface="Consolas"/>
              </a:rPr>
              <a:t>RECOVERY_MODE</a:t>
            </a:r>
            <a:r>
              <a:rPr sz="1700" b="0">
                <a:solidFill>
                  <a:srgbClr val="222222"/>
                </a:solidFill>
                <a:latin typeface="맑은 고딕"/>
              </a:rPr>
              <a:t> — IDLE이면 ③을 먼저 본다</a:t>
            </a:r>
          </a:p>
          <a:p>
            <a:pPr algn="l">
              <a:spcAft>
                <a:spcPts val="1000"/>
              </a:spcAft>
            </a:pPr>
            <a:r>
              <a:rPr sz="1700" b="0">
                <a:solidFill>
                  <a:srgbClr val="222222"/>
                </a:solidFill>
                <a:latin typeface="맑은 고딕"/>
              </a:rPr>
              <a:t>•  ③ 목적지 </a:t>
            </a:r>
            <a:r>
              <a:rPr sz="1700" b="0">
                <a:solidFill>
                  <a:srgbClr val="222222"/>
                </a:solidFill>
                <a:latin typeface="Consolas"/>
                <a:cs typeface="Consolas"/>
              </a:rPr>
              <a:t>STATUS</a:t>
            </a:r>
            <a:r>
              <a:rPr sz="1700" b="0">
                <a:solidFill>
                  <a:srgbClr val="222222"/>
                </a:solidFill>
                <a:latin typeface="맑은 고딕"/>
              </a:rPr>
              <a:t> — BAD PARAM이면 ②를 믿을 수 없다</a:t>
            </a:r>
          </a:p>
          <a:p>
            <a:pPr algn="l">
              <a:spcAft>
                <a:spcPts val="1000"/>
              </a:spcAft>
            </a:pPr>
            <a:r>
              <a:rPr sz="1700" b="0">
                <a:solidFill>
                  <a:srgbClr val="222222"/>
                </a:solidFill>
                <a:latin typeface="맑은 고딕"/>
              </a:rPr>
              <a:t>•  ④ 갭 → ⑤ 지연(추세) → ⑥ 기능 시험</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같은 IDLE, 다른 원인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STATUS를 함께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RECOVERY_MODE = IDLE</a:t>
            </a:r>
            <a:r>
              <a:rPr sz="1700" b="0">
                <a:solidFill>
                  <a:srgbClr val="222222"/>
                </a:solidFill>
                <a:latin typeface="맑은 고딕"/>
              </a:rPr>
              <a:t> 이 두 가지 상황에서 나온다</a:t>
            </a:r>
          </a:p>
          <a:p>
            <a:pPr algn="l">
              <a:spcAft>
                <a:spcPts val="1000"/>
              </a:spcAft>
            </a:pPr>
            <a:r>
              <a:rPr sz="1700" b="0">
                <a:solidFill>
                  <a:srgbClr val="222222"/>
                </a:solidFill>
                <a:latin typeface="맑은 고딕"/>
              </a:rPr>
              <a:t>•  ① 목적지가 </a:t>
            </a:r>
            <a:r>
              <a:rPr sz="1700" b="0">
                <a:solidFill>
                  <a:srgbClr val="222222"/>
                </a:solidFill>
                <a:latin typeface="Consolas"/>
                <a:cs typeface="Consolas"/>
              </a:rPr>
              <a:t>BAD PARAM</a:t>
            </a:r>
            <a:r>
              <a:rPr sz="1700" b="0">
                <a:solidFill>
                  <a:srgbClr val="222222"/>
                </a:solidFill>
                <a:latin typeface="맑은 고딕"/>
              </a:rPr>
              <a:t> — 7.4절의 사례</a:t>
            </a:r>
          </a:p>
          <a:p>
            <a:pPr algn="l">
              <a:spcAft>
                <a:spcPts val="1000"/>
              </a:spcAft>
            </a:pPr>
            <a:r>
              <a:rPr sz="1700" b="0">
                <a:solidFill>
                  <a:srgbClr val="222222"/>
                </a:solidFill>
                <a:latin typeface="맑은 고딕"/>
              </a:rPr>
              <a:t>•  ② 적용이 멈춤 — MRP0이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STATUS</a:t>
            </a:r>
            <a:r>
              <a:rPr sz="1700" b="0">
                <a:solidFill>
                  <a:srgbClr val="222222"/>
                </a:solidFill>
                <a:latin typeface="맑은 고딕"/>
              </a:rPr>
              <a:t>가 VALID인지 아닌지로 갈린다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장이 남기는 습관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상태 열 하나로 판단하지 않는다 — 교차 검증한다</a:t>
            </a:r>
          </a:p>
          <a:p>
            <a:pPr algn="l">
              <a:spcAft>
                <a:spcPts val="1000"/>
              </a:spcAft>
            </a:pPr>
            <a:r>
              <a:rPr sz="1700" b="0">
                <a:solidFill>
                  <a:srgbClr val="222222"/>
                </a:solidFill>
                <a:latin typeface="맑은 고딕"/>
              </a:rPr>
              <a:t>•  지연보다 </a:t>
            </a:r>
            <a:r>
              <a:rPr sz="1700" b="1">
                <a:solidFill>
                  <a:srgbClr val="222222"/>
                </a:solidFill>
                <a:latin typeface="맑은 고딕"/>
              </a:rPr>
              <a:t>MRP0 존재</a:t>
            </a:r>
            <a:r>
              <a:rPr sz="1700" b="0">
                <a:solidFill>
                  <a:srgbClr val="222222"/>
                </a:solidFill>
                <a:latin typeface="맑은 고딕"/>
              </a:rPr>
              <a:t>를 먼저 본다</a:t>
            </a:r>
          </a:p>
          <a:p>
            <a:pPr algn="l">
              <a:spcAft>
                <a:spcPts val="1000"/>
              </a:spcAft>
            </a:pPr>
            <a:r>
              <a:rPr sz="1700" b="0">
                <a:solidFill>
                  <a:srgbClr val="222222"/>
                </a:solidFill>
                <a:latin typeface="맑은 고딕"/>
              </a:rPr>
              <a:t>•  값 하나가 아니라 </a:t>
            </a:r>
            <a:r>
              <a:rPr sz="1700" b="1">
                <a:solidFill>
                  <a:srgbClr val="222222"/>
                </a:solidFill>
                <a:latin typeface="맑은 고딕"/>
              </a:rPr>
              <a:t>추세</a:t>
            </a:r>
            <a:r>
              <a:rPr sz="1700" b="0">
                <a:solidFill>
                  <a:srgbClr val="222222"/>
                </a:solidFill>
                <a:latin typeface="맑은 고딕"/>
              </a:rPr>
              <a:t>를 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RFS와 MRP0의 </a:t>
            </a:r>
            <a:r>
              <a:rPr sz="1600" b="0">
                <a:solidFill>
                  <a:srgbClr val="222222"/>
                </a:solidFill>
                <a:latin typeface="Consolas"/>
                <a:cs typeface="Consolas"/>
              </a:rPr>
              <a:t>SEQUENCE#</a:t>
            </a:r>
            <a:r>
              <a:rPr sz="1600" b="0">
                <a:solidFill>
                  <a:srgbClr val="222222"/>
                </a:solidFill>
                <a:latin typeface="맑은 고딕"/>
              </a:rPr>
              <a:t>가 같다는 것이 무엇을 뜻하며, 왜 유용한 판별법인가?</a:t>
            </a:r>
          </a:p>
          <a:p>
            <a:pPr algn="l">
              <a:spcAft>
                <a:spcPts val="1000"/>
              </a:spcAft>
            </a:pPr>
            <a:r>
              <a:rPr sz="1600" b="0">
                <a:solidFill>
                  <a:srgbClr val="222222"/>
                </a:solidFill>
                <a:latin typeface="맑은 고딕"/>
              </a:rPr>
              <a:t>•  Q2. Standby 목적지 1번이 </a:t>
            </a:r>
            <a:r>
              <a:rPr sz="1600" b="0">
                <a:solidFill>
                  <a:srgbClr val="222222"/>
                </a:solidFill>
                <a:latin typeface="Consolas"/>
                <a:cs typeface="Consolas"/>
              </a:rPr>
              <a:t>BAD PARAM</a:t>
            </a:r>
            <a:r>
              <a:rPr sz="1600" b="0">
                <a:solidFill>
                  <a:srgbClr val="222222"/>
                </a:solidFill>
                <a:latin typeface="맑은 고딕"/>
              </a:rPr>
              <a:t>인데도 아카이브가 정상 생성된 이유는?</a:t>
            </a:r>
          </a:p>
          <a:p>
            <a:pPr algn="l">
              <a:spcAft>
                <a:spcPts val="1000"/>
              </a:spcAft>
            </a:pPr>
            <a:r>
              <a:rPr sz="1600" b="0">
                <a:solidFill>
                  <a:srgbClr val="222222"/>
                </a:solidFill>
                <a:latin typeface="맑은 고딕"/>
              </a:rPr>
              <a:t>•  Q3. </a:t>
            </a:r>
            <a:r>
              <a:rPr sz="1600" b="0">
                <a:solidFill>
                  <a:srgbClr val="222222"/>
                </a:solidFill>
                <a:latin typeface="Consolas"/>
                <a:cs typeface="Consolas"/>
              </a:rPr>
              <a:t>STATUS=BAD PARAM</a:t>
            </a:r>
            <a:r>
              <a:rPr sz="1600" b="0">
                <a:solidFill>
                  <a:srgbClr val="222222"/>
                </a:solidFill>
                <a:latin typeface="맑은 고딕"/>
              </a:rPr>
              <a:t>과 </a:t>
            </a:r>
            <a:r>
              <a:rPr sz="1600" b="0">
                <a:solidFill>
                  <a:srgbClr val="222222"/>
                </a:solidFill>
                <a:latin typeface="Consolas"/>
                <a:cs typeface="Consolas"/>
              </a:rPr>
              <a:t>VALID_NOW=WRONG VALID_TYPE</a:t>
            </a:r>
            <a:r>
              <a:rPr sz="1600" b="0">
                <a:solidFill>
                  <a:srgbClr val="222222"/>
                </a:solidFill>
                <a:latin typeface="맑은 고딕"/>
              </a:rPr>
              <a:t>은 각각 어떻게 대응해야 하는가?</a:t>
            </a:r>
          </a:p>
          <a:p>
            <a:pPr algn="l">
              <a:spcAft>
                <a:spcPts val="1000"/>
              </a:spcAft>
            </a:pPr>
            <a:r>
              <a:rPr sz="1600" b="0">
                <a:solidFill>
                  <a:srgbClr val="222222"/>
                </a:solidFill>
                <a:latin typeface="맑은 고딕"/>
              </a:rPr>
              <a:t>•  Q4. 19c에서 </a:t>
            </a:r>
            <a:r>
              <a:rPr sz="1600" b="0">
                <a:solidFill>
                  <a:srgbClr val="222222"/>
                </a:solidFill>
                <a:latin typeface="Consolas"/>
                <a:cs typeface="Consolas"/>
              </a:rPr>
              <a:t>USING CURRENT LOGFILE</a:t>
            </a:r>
            <a:r>
              <a:rPr sz="1600" b="0">
                <a:solidFill>
                  <a:srgbClr val="222222"/>
                </a:solidFill>
                <a:latin typeface="맑은 고딕"/>
              </a:rPr>
              <a:t>의 실질적 효과는 무엇이며, 그럼에도 명시해야 하는 이유는?</a:t>
            </a:r>
          </a:p>
          <a:p>
            <a:pPr algn="l">
              <a:spcAft>
                <a:spcPts val="1000"/>
              </a:spcAft>
            </a:pPr>
            <a:r>
              <a:rPr sz="1600" b="0">
                <a:solidFill>
                  <a:srgbClr val="222222"/>
                </a:solidFill>
                <a:latin typeface="맑은 고딕"/>
              </a:rPr>
              <a:t>•  Q5. 갭이 0인데 지연이 1분인 상태를 어떻게 해석해야 하는가?</a:t>
            </a:r>
          </a:p>
          <a:p>
            <a:pPr algn="l">
              <a:spcAft>
                <a:spcPts val="1000"/>
              </a:spcAft>
            </a:pPr>
            <a:r>
              <a:rPr sz="1600" b="0">
                <a:solidFill>
                  <a:srgbClr val="222222"/>
                </a:solidFill>
                <a:latin typeface="맑은 고딕"/>
              </a:rPr>
              <a:t>•  Q6. 적용이 멈췄는데 두 지연이 0으로 보이는 이유와, 그때 무엇을 확인해야 하는가?</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a:t>
            </a:r>
            <a:r>
              <a:rPr sz="1600" b="0">
                <a:solidFill>
                  <a:srgbClr val="222222"/>
                </a:solidFill>
                <a:latin typeface="Consolas"/>
                <a:cs typeface="Consolas"/>
              </a:rPr>
              <a:t>V$MANAGED_STANDBY</a:t>
            </a:r>
            <a:r>
              <a:rPr sz="1600" b="0">
                <a:solidFill>
                  <a:srgbClr val="222222"/>
                </a:solidFill>
                <a:latin typeface="맑은 고딕"/>
              </a:rPr>
              <a:t> 실측 9행. 진단에 쓰는 것은 RFS와 MRP0 둘이다.</a:t>
            </a:r>
          </a:p>
          <a:p>
            <a:pPr algn="l">
              <a:spcAft>
                <a:spcPts val="1000"/>
              </a:spcAft>
            </a:pPr>
            <a:r>
              <a:rPr sz="1600" b="0">
                <a:solidFill>
                  <a:srgbClr val="222222"/>
                </a:solidFill>
                <a:latin typeface="맑은 고딕"/>
              </a:rPr>
              <a:t>•  MRP0은 항상 하나다. 이 규칙에서 ORA-01153이 나온다.</a:t>
            </a:r>
          </a:p>
          <a:p>
            <a:pPr algn="l">
              <a:spcAft>
                <a:spcPts val="1000"/>
              </a:spcAft>
            </a:pPr>
            <a:r>
              <a:rPr sz="1600" b="0">
                <a:solidFill>
                  <a:srgbClr val="222222"/>
                </a:solidFill>
                <a:latin typeface="맑은 고딕"/>
              </a:rPr>
              <a:t>•  RFS와 MRP0의 </a:t>
            </a:r>
            <a:r>
              <a:rPr sz="1600" b="0">
                <a:solidFill>
                  <a:srgbClr val="222222"/>
                </a:solidFill>
                <a:latin typeface="Consolas"/>
                <a:cs typeface="Consolas"/>
              </a:rPr>
              <a:t>SEQUENCE#</a:t>
            </a:r>
            <a:r>
              <a:rPr sz="1600" b="0">
                <a:solidFill>
                  <a:srgbClr val="222222"/>
                </a:solidFill>
                <a:latin typeface="맑은 고딕"/>
              </a:rPr>
              <a:t>·</a:t>
            </a:r>
            <a:r>
              <a:rPr sz="1600" b="0">
                <a:solidFill>
                  <a:srgbClr val="222222"/>
                </a:solidFill>
                <a:latin typeface="Consolas"/>
                <a:cs typeface="Consolas"/>
              </a:rPr>
              <a:t>BLOCK#</a:t>
            </a:r>
            <a:r>
              <a:rPr sz="1600" b="0">
                <a:solidFill>
                  <a:srgbClr val="222222"/>
                </a:solidFill>
                <a:latin typeface="맑은 고딕"/>
              </a:rPr>
              <a:t>이 같으면 실시간 적용의 직접 증거다. MOUNTED에서도 쓸 수 있다.</a:t>
            </a:r>
          </a:p>
          <a:p>
            <a:pPr algn="l">
              <a:spcAft>
                <a:spcPts val="1000"/>
              </a:spcAft>
            </a:pPr>
            <a:r>
              <a:rPr sz="1600" b="0">
                <a:solidFill>
                  <a:srgbClr val="222222"/>
                </a:solidFill>
                <a:latin typeface="맑은 고딕"/>
              </a:rPr>
              <a:t>•  적용을 멈추면 MRP0이 사라지고 </a:t>
            </a:r>
            <a:r>
              <a:rPr sz="1600" b="0">
                <a:solidFill>
                  <a:srgbClr val="222222"/>
                </a:solidFill>
                <a:latin typeface="Consolas"/>
                <a:cs typeface="Consolas"/>
              </a:rPr>
              <a:t>OPEN_MODE</a:t>
            </a:r>
            <a:r>
              <a:rPr sz="1600" b="0">
                <a:solidFill>
                  <a:srgbClr val="222222"/>
                </a:solidFill>
                <a:latin typeface="맑은 고딕"/>
              </a:rPr>
              <a:t>가 </a:t>
            </a:r>
            <a:r>
              <a:rPr sz="1600" b="0">
                <a:solidFill>
                  <a:srgbClr val="222222"/>
                </a:solidFill>
                <a:latin typeface="Consolas"/>
                <a:cs typeface="Consolas"/>
              </a:rPr>
              <a:t>READ ONLY</a:t>
            </a:r>
            <a:r>
              <a:rPr sz="1600" b="0">
                <a:solidFill>
                  <a:srgbClr val="222222"/>
                </a:solidFill>
                <a:latin typeface="맑은 고딕"/>
              </a:rPr>
              <a:t>가 된다. </a:t>
            </a:r>
            <a:r>
              <a:rPr sz="1600" b="1">
                <a:solidFill>
                  <a:srgbClr val="222222"/>
                </a:solidFill>
                <a:latin typeface="맑은 고딕"/>
              </a:rPr>
              <a:t>그런데 두 지연은 0으로 보인다.</a:t>
            </a:r>
          </a:p>
          <a:p>
            <a:pPr algn="l">
              <a:spcAft>
                <a:spcPts val="1000"/>
              </a:spcAft>
            </a:pPr>
            <a:r>
              <a:rPr sz="1600" b="0">
                <a:solidFill>
                  <a:srgbClr val="222222"/>
                </a:solidFill>
                <a:latin typeface="맑은 고딕"/>
              </a:rPr>
              <a:t>•  멈춰 있는데 CANCEL → ORA-16136. 돌고 있는데 기동 → ORA-01153. 둘 다 상태를 바꾸지 않는다.</a:t>
            </a:r>
          </a:p>
          <a:p>
            <a:pPr algn="l">
              <a:spcAft>
                <a:spcPts val="1000"/>
              </a:spcAft>
            </a:pPr>
            <a:r>
              <a:rPr sz="1600" b="0">
                <a:solidFill>
                  <a:srgbClr val="222222"/>
                </a:solidFill>
                <a:latin typeface="맑은 고딕"/>
              </a:rPr>
              <a:t>•  재기동은 CANCEL → 대기 → 기동 → 확인. CANCEL을 먼저 내는 쪽이 항상 비용이 낮다.</a:t>
            </a:r>
          </a:p>
          <a:p>
            <a:pPr algn="l">
              <a:spcAft>
                <a:spcPts val="1000"/>
              </a:spcAft>
            </a:pPr>
            <a:r>
              <a:rPr sz="1600" b="0">
                <a:solidFill>
                  <a:srgbClr val="222222"/>
                </a:solidFill>
                <a:latin typeface="맑은 고딕"/>
              </a:rPr>
              <a:t>•  Standby의 </a:t>
            </a:r>
            <a:r>
              <a:rPr sz="1600" b="0">
                <a:solidFill>
                  <a:srgbClr val="222222"/>
                </a:solidFill>
                <a:latin typeface="Consolas"/>
                <a:cs typeface="Consolas"/>
              </a:rPr>
              <a:t>LOG_ARCHIVE_DEST_1</a:t>
            </a:r>
            <a:r>
              <a:rPr sz="1600" b="0">
                <a:solidFill>
                  <a:srgbClr val="222222"/>
                </a:solidFill>
                <a:latin typeface="맑은 고딕"/>
              </a:rPr>
              <a:t>이 </a:t>
            </a:r>
            <a:r>
              <a:rPr sz="1600" b="0">
                <a:solidFill>
                  <a:srgbClr val="222222"/>
                </a:solidFill>
                <a:latin typeface="Consolas"/>
                <a:cs typeface="Consolas"/>
              </a:rPr>
              <a:t>db_unique_name=chicago</a:t>
            </a:r>
            <a:r>
              <a:rPr sz="1600" b="0">
                <a:solidFill>
                  <a:srgbClr val="222222"/>
                </a:solidFill>
                <a:latin typeface="맑은 고딕"/>
              </a:rPr>
              <a:t> 상속으로 </a:t>
            </a:r>
            <a:r>
              <a:rPr sz="1600" b="0">
                <a:solidFill>
                  <a:srgbClr val="222222"/>
                </a:solidFill>
                <a:latin typeface="Consolas"/>
                <a:cs typeface="Consolas"/>
              </a:rPr>
              <a:t>BAD PARAM</a:t>
            </a:r>
            <a:r>
              <a:rPr sz="1600" b="0">
                <a:solidFill>
                  <a:srgbClr val="222222"/>
                </a:solidFill>
                <a:latin typeface="맑은 고딕"/>
              </a:rPr>
              <a:t>이었다.</a:t>
            </a:r>
          </a:p>
          <a:p>
            <a:pPr algn="l">
              <a:spcAft>
                <a:spcPts val="1000"/>
              </a:spcAft>
            </a:pPr>
            <a:r>
              <a:rPr sz="1600" b="0">
                <a:solidFill>
                  <a:srgbClr val="222222"/>
                </a:solidFill>
                <a:latin typeface="맑은 고딕"/>
              </a:rPr>
              <a:t>•  FRA가 있어 기능은 우회로로 동작했다. 소리 없는 결함이며 역할 전환 후에 드러난다.</a:t>
            </a:r>
          </a:p>
          <a:p>
            <a:pPr algn="l">
              <a:spcAft>
                <a:spcPts val="1000"/>
              </a:spcAft>
            </a:pPr>
            <a:r>
              <a:rPr sz="1600" b="0">
                <a:solidFill>
                  <a:srgbClr val="222222"/>
                </a:solidFill>
                <a:latin typeface="맑은 고딕"/>
              </a:rPr>
              <a:t>•  고치면 </a:t>
            </a:r>
            <a:r>
              <a:rPr sz="1600" b="0">
                <a:solidFill>
                  <a:srgbClr val="222222"/>
                </a:solidFill>
                <a:latin typeface="Consolas"/>
                <a:cs typeface="Consolas"/>
              </a:rPr>
              <a:t>STATUS</a:t>
            </a:r>
            <a:r>
              <a:rPr sz="1600" b="0">
                <a:solidFill>
                  <a:srgbClr val="222222"/>
                </a:solidFill>
                <a:latin typeface="맑은 고딕"/>
              </a:rPr>
              <a:t>가 VALID가 되고 </a:t>
            </a:r>
            <a:r>
              <a:rPr sz="1600" b="0">
                <a:solidFill>
                  <a:srgbClr val="222222"/>
                </a:solidFill>
                <a:latin typeface="Consolas"/>
                <a:cs typeface="Consolas"/>
              </a:rPr>
              <a:t>RECOVERY_MODE</a:t>
            </a:r>
            <a:r>
              <a:rPr sz="1600" b="0">
                <a:solidFill>
                  <a:srgbClr val="222222"/>
                </a:solidFill>
                <a:latin typeface="맑은 고딕"/>
              </a:rPr>
              <a:t>가 되살아난다. 진단 도구가 고장 나 있던 것이다.</a:t>
            </a:r>
          </a:p>
          <a:p>
            <a:pPr algn="l">
              <a:spcAft>
                <a:spcPts val="1000"/>
              </a:spcAft>
            </a:pPr>
            <a:r>
              <a:rPr sz="1600" b="0">
                <a:solidFill>
                  <a:srgbClr val="222222"/>
                </a:solidFill>
                <a:latin typeface="맑은 고딕"/>
              </a:rPr>
              <a:t>•  </a:t>
            </a:r>
            <a:r>
              <a:rPr sz="1600" b="0">
                <a:solidFill>
                  <a:srgbClr val="222222"/>
                </a:solidFill>
                <a:latin typeface="Consolas"/>
                <a:cs typeface="Consolas"/>
              </a:rPr>
              <a:t>LOG_ARCHIVE_DEST_n</a:t>
            </a:r>
            <a:r>
              <a:rPr sz="1600" b="0">
                <a:solidFill>
                  <a:srgbClr val="222222"/>
                </a:solidFill>
                <a:latin typeface="맑은 고딕"/>
              </a:rPr>
              <a:t>은 동적 파라미터라 </a:t>
            </a:r>
            <a:r>
              <a:rPr sz="1600" b="0">
                <a:solidFill>
                  <a:srgbClr val="222222"/>
                </a:solidFill>
                <a:latin typeface="Consolas"/>
                <a:cs typeface="Consolas"/>
              </a:rPr>
              <a:t>SCOPE=BOTH</a:t>
            </a:r>
            <a:r>
              <a:rPr sz="1600" b="0">
                <a:solidFill>
                  <a:srgbClr val="222222"/>
                </a:solidFill>
                <a:latin typeface="맑은 고딕"/>
              </a:rPr>
              <a:t>로 즉시 반영된다.</a:t>
            </a:r>
          </a:p>
          <a:p>
            <a:pPr algn="l">
              <a:spcAft>
                <a:spcPts val="1000"/>
              </a:spcAft>
            </a:pPr>
            <a:r>
              <a:rPr sz="1600" b="0">
                <a:solidFill>
                  <a:srgbClr val="222222"/>
                </a:solidFill>
                <a:latin typeface="맑은 고딕"/>
              </a:rPr>
              <a:t>•  </a:t>
            </a:r>
            <a:r>
              <a:rPr sz="1600" b="0">
                <a:solidFill>
                  <a:srgbClr val="222222"/>
                </a:solidFill>
                <a:latin typeface="Consolas"/>
                <a:cs typeface="Consolas"/>
              </a:rPr>
              <a:t>WRONG VALID_TYPE</a:t>
            </a:r>
            <a:r>
              <a:rPr sz="1600" b="0">
                <a:solidFill>
                  <a:srgbClr val="222222"/>
                </a:solidFill>
                <a:latin typeface="맑은 고딕"/>
              </a:rPr>
              <a:t>은 정상이다. 역할 전환용 목적지가 지금은 유효하지 않다는 뜻이다.</a:t>
            </a:r>
          </a:p>
          <a:p>
            <a:pPr algn="l">
              <a:spcAft>
                <a:spcPts val="1000"/>
              </a:spcAft>
            </a:pPr>
            <a:r>
              <a:rPr sz="1600" b="0">
                <a:solidFill>
                  <a:srgbClr val="222222"/>
                </a:solidFill>
                <a:latin typeface="맑은 고딕"/>
              </a:rPr>
              <a:t>•  상속 사례가 넷 — </a:t>
            </a:r>
            <a:r>
              <a:rPr sz="1600" b="0">
                <a:solidFill>
                  <a:srgbClr val="222222"/>
                </a:solidFill>
                <a:latin typeface="Consolas"/>
                <a:cs typeface="Consolas"/>
              </a:rPr>
              <a:t>CONTROL_FILES</a:t>
            </a:r>
            <a:r>
              <a:rPr sz="1600" b="0">
                <a:solidFill>
                  <a:srgbClr val="222222"/>
                </a:solidFill>
                <a:latin typeface="맑은 고딕"/>
              </a:rPr>
              <a:t>·</a:t>
            </a:r>
            <a:r>
              <a:rPr sz="1600" b="0">
                <a:solidFill>
                  <a:srgbClr val="222222"/>
                </a:solidFill>
                <a:latin typeface="Consolas"/>
                <a:cs typeface="Consolas"/>
              </a:rPr>
              <a:t>LOG_ARCHIVE_DEST_1</a:t>
            </a:r>
            <a:r>
              <a:rPr sz="1600" b="0">
                <a:solidFill>
                  <a:srgbClr val="222222"/>
                </a:solidFill>
                <a:latin typeface="맑은 고딕"/>
              </a:rPr>
              <a:t>·</a:t>
            </a:r>
            <a:r>
              <a:rPr sz="1600" b="0">
                <a:solidFill>
                  <a:srgbClr val="222222"/>
                </a:solidFill>
                <a:latin typeface="Consolas"/>
                <a:cs typeface="Consolas"/>
              </a:rPr>
              <a:t>FAL_CLIENT</a:t>
            </a:r>
            <a:r>
              <a:rPr sz="1600" b="0">
                <a:solidFill>
                  <a:srgbClr val="222222"/>
                </a:solidFill>
                <a:latin typeface="맑은 고딕"/>
              </a:rPr>
              <a:t>, 그리고 막아 낸 </a:t>
            </a:r>
            <a:r>
              <a:rPr sz="1600" b="0">
                <a:solidFill>
                  <a:srgbClr val="222222"/>
                </a:solidFill>
                <a:latin typeface="Consolas"/>
                <a:cs typeface="Consolas"/>
              </a:rPr>
              <a:t>DB_NAME</a:t>
            </a:r>
            <a:r>
              <a:rPr sz="1600" b="0">
                <a:solidFill>
                  <a:srgbClr val="222222"/>
                </a:solidFill>
                <a:latin typeface="맑은 고딕"/>
              </a:rPr>
              <a:t>.</a:t>
            </a:r>
          </a:p>
          <a:p>
            <a:pPr algn="l">
              <a:spcAft>
                <a:spcPts val="1000"/>
              </a:spcAft>
            </a:pPr>
            <a:r>
              <a:rPr sz="1600" b="0">
                <a:solidFill>
                  <a:srgbClr val="222222"/>
                </a:solidFill>
                <a:latin typeface="맑은 고딕"/>
              </a:rPr>
              <a:t>•  19c에서는 SRL이 있으면 </a:t>
            </a:r>
            <a:r>
              <a:rPr sz="1600" b="0">
                <a:solidFill>
                  <a:srgbClr val="222222"/>
                </a:solidFill>
                <a:latin typeface="Consolas"/>
                <a:cs typeface="Consolas"/>
              </a:rPr>
              <a:t>USING CURRENT LOGFILE</a:t>
            </a:r>
            <a:r>
              <a:rPr sz="1600" b="0">
                <a:solidFill>
                  <a:srgbClr val="222222"/>
                </a:solidFill>
                <a:latin typeface="맑은 고딕"/>
              </a:rPr>
              <a:t> 없이도 실시간 적용이다. 그럼에도 명시하는 편이 낫다.</a:t>
            </a:r>
          </a:p>
          <a:p>
            <a:pPr algn="l">
              <a:spcAft>
                <a:spcPts val="1000"/>
              </a:spcAft>
            </a:pPr>
            <a:r>
              <a:rPr sz="1600" b="0">
                <a:solidFill>
                  <a:srgbClr val="222222"/>
                </a:solidFill>
                <a:latin typeface="맑은 고딕"/>
              </a:rPr>
              <a:t>•  </a:t>
            </a:r>
            <a:r>
              <a:rPr sz="1600" b="0">
                <a:solidFill>
                  <a:srgbClr val="222222"/>
                </a:solidFill>
                <a:latin typeface="Consolas"/>
                <a:cs typeface="Consolas"/>
              </a:rPr>
              <a:t>V$ARCHIVE_GAP</a:t>
            </a:r>
            <a:r>
              <a:rPr sz="1600" b="0">
                <a:solidFill>
                  <a:srgbClr val="222222"/>
                </a:solidFill>
                <a:latin typeface="맑은 고딕"/>
              </a:rPr>
              <a:t>은 빠진 파일을 보여 준다. 실측 갭 2개, 밀린 것 5개로 서로 다르다.</a:t>
            </a:r>
          </a:p>
          <a:p>
            <a:pPr algn="l">
              <a:spcAft>
                <a:spcPts val="1000"/>
              </a:spcAft>
            </a:pPr>
            <a:r>
              <a:rPr sz="1600" b="0">
                <a:solidFill>
                  <a:srgbClr val="222222"/>
                </a:solidFill>
                <a:latin typeface="맑은 고딕"/>
              </a:rPr>
              <a:t>•  갭 0과 지연 0은 다르다. 실측에서 갭 0, 지연 59/64초인 구간이 있었다.</a:t>
            </a:r>
          </a:p>
          <a:p>
            <a:pPr algn="l">
              <a:spcAft>
                <a:spcPts val="1000"/>
              </a:spcAft>
            </a:pPr>
            <a:r>
              <a:rPr sz="1600" b="0">
                <a:solidFill>
                  <a:srgbClr val="222222"/>
                </a:solidFill>
                <a:latin typeface="맑은 고딕"/>
              </a:rPr>
              <a:t>•  </a:t>
            </a:r>
            <a:r>
              <a:rPr sz="1600" b="0">
                <a:solidFill>
                  <a:srgbClr val="222222"/>
                </a:solidFill>
                <a:latin typeface="Consolas"/>
                <a:cs typeface="Consolas"/>
              </a:rPr>
              <a:t>TIME_COMPUTED</a:t>
            </a:r>
            <a:r>
              <a:rPr sz="1600" b="0">
                <a:solidFill>
                  <a:srgbClr val="222222"/>
                </a:solidFill>
                <a:latin typeface="맑은 고딕"/>
              </a:rPr>
              <a:t>와 </a:t>
            </a:r>
            <a:r>
              <a:rPr sz="1600" b="0">
                <a:solidFill>
                  <a:srgbClr val="222222"/>
                </a:solidFill>
                <a:latin typeface="Consolas"/>
                <a:cs typeface="Consolas"/>
              </a:rPr>
              <a:t>DATUM_TIME</a:t>
            </a:r>
            <a:r>
              <a:rPr sz="1600" b="0">
                <a:solidFill>
                  <a:srgbClr val="222222"/>
                </a:solidFill>
                <a:latin typeface="맑은 고딕"/>
              </a:rPr>
              <a:t>이 12초 차이 났다. 지연 값 자체가 십수 초 전 정보다.</a:t>
            </a:r>
          </a:p>
          <a:p>
            <a:pPr algn="l">
              <a:spcAft>
                <a:spcPts val="1000"/>
              </a:spcAft>
            </a:pPr>
            <a:r>
              <a:rPr sz="1600" b="0">
                <a:solidFill>
                  <a:srgbClr val="222222"/>
                </a:solidFill>
                <a:latin typeface="맑은 고딕"/>
              </a:rPr>
              <a:t>•  SRL이 하나여도 실시간 적용은 동작한다. 개수 규칙은 여유를 위한 권장이다.</a:t>
            </a:r>
          </a:p>
          <a:p>
            <a:pPr algn="l">
              <a:spcAft>
                <a:spcPts val="1000"/>
              </a:spcAft>
            </a:pPr>
            <a:r>
              <a:rPr sz="1600" b="0">
                <a:solidFill>
                  <a:srgbClr val="222222"/>
                </a:solidFill>
                <a:latin typeface="맑은 고딕"/>
              </a:rPr>
              <a:t>•  ACTIVE인 SRL 삭제 → ORA-00261 + ORA-00312(OMF라 두 줄). 중복 그룹 추가 → ORA-01184.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적용 프로세스 관찰: 9행을 읽고 RFS와 MRP0의 관계를 확인한다. 지연 0의 함정을 재현한다.</a:t>
            </a:r>
          </a:p>
          <a:p>
            <a:pPr algn="l">
              <a:spcAft>
                <a:spcPts val="1000"/>
              </a:spcAft>
            </a:pPr>
            <a:r>
              <a:rPr sz="1600" b="0">
                <a:solidFill>
                  <a:srgbClr val="222222"/>
                </a:solidFill>
                <a:latin typeface="맑은 고딕"/>
              </a:rPr>
              <a:t>•  실습 02 — 적용 제어와 오류: ORA-16136과 ORA-01153을 재현하고 안전한 재기동 순서를 익힌다.</a:t>
            </a:r>
          </a:p>
          <a:p>
            <a:pPr algn="l">
              <a:spcAft>
                <a:spcPts val="1000"/>
              </a:spcAft>
            </a:pPr>
            <a:r>
              <a:rPr sz="1600" b="0">
                <a:solidFill>
                  <a:srgbClr val="222222"/>
                </a:solidFill>
                <a:latin typeface="맑은 고딕"/>
              </a:rPr>
              <a:t>•  실습 03 — BAD PARAM 진단과 교정: 상속된 두 파라미터를 고치고 </a:t>
            </a:r>
            <a:r>
              <a:rPr sz="1600" b="0">
                <a:solidFill>
                  <a:srgbClr val="222222"/>
                </a:solidFill>
                <a:latin typeface="Consolas"/>
                <a:cs typeface="Consolas"/>
              </a:rPr>
              <a:t>RECOVERY_MODE</a:t>
            </a:r>
            <a:r>
              <a:rPr sz="1600" b="0">
                <a:solidFill>
                  <a:srgbClr val="222222"/>
                </a:solidFill>
                <a:latin typeface="맑은 고딕"/>
              </a:rPr>
              <a:t> 변화를 확인한다.</a:t>
            </a:r>
          </a:p>
          <a:p>
            <a:pPr algn="l">
              <a:spcAft>
                <a:spcPts val="1000"/>
              </a:spcAft>
            </a:pPr>
            <a:r>
              <a:rPr sz="1600" b="0">
                <a:solidFill>
                  <a:srgbClr val="222222"/>
                </a:solidFill>
                <a:latin typeface="맑은 고딕"/>
              </a:rPr>
              <a:t>•  실습 04 — 실시간 적용 판별: 두 기동 명령을 기능 시험으로 비교한다. ORA-00942를 재현한다.</a:t>
            </a:r>
          </a:p>
          <a:p>
            <a:pPr algn="l">
              <a:spcAft>
                <a:spcPts val="1000"/>
              </a:spcAft>
            </a:pPr>
            <a:r>
              <a:rPr sz="1600" b="0">
                <a:solidFill>
                  <a:srgbClr val="222222"/>
                </a:solidFill>
                <a:latin typeface="맑은 고딕"/>
              </a:rPr>
              <a:t>•  실습 05 — 갭 만들기와 해소: </a:t>
            </a:r>
            <a:r>
              <a:rPr sz="1600" b="0">
                <a:solidFill>
                  <a:srgbClr val="222222"/>
                </a:solidFill>
                <a:latin typeface="Consolas"/>
                <a:cs typeface="Consolas"/>
              </a:rPr>
              <a:t>V$ARCHIVE_GAP</a:t>
            </a:r>
            <a:r>
              <a:rPr sz="1600" b="0">
                <a:solidFill>
                  <a:srgbClr val="222222"/>
                </a:solidFill>
                <a:latin typeface="맑은 고딕"/>
              </a:rPr>
              <a:t>을 관찰하고 따라잡는 과정을 추적한다.</a:t>
            </a:r>
          </a:p>
          <a:p>
            <a:pPr algn="l">
              <a:spcAft>
                <a:spcPts val="1000"/>
              </a:spcAft>
            </a:pPr>
            <a:r>
              <a:rPr sz="1600" b="0">
                <a:solidFill>
                  <a:srgbClr val="222222"/>
                </a:solidFill>
                <a:latin typeface="맑은 고딕"/>
              </a:rPr>
              <a:t>•  실습 06 — 지연 읽기: 네 행과 두 시각 열을 해석하고 통합 점검 조회를 만든다.</a:t>
            </a:r>
          </a:p>
          <a:p>
            <a:pPr algn="l">
              <a:spcAft>
                <a:spcPts val="1000"/>
              </a:spcAft>
            </a:pPr>
            <a:r>
              <a:rPr sz="1600" b="0">
                <a:solidFill>
                  <a:srgbClr val="222222"/>
                </a:solidFill>
                <a:latin typeface="맑은 고딕"/>
              </a:rPr>
              <a:t>•  실습 07 — SRL과 적용: SRL을 지웠다 복구하며 ORA-00261·ORA-01184를 재현한다.</a:t>
            </a:r>
          </a:p>
          <a:p>
            <a:pPr algn="l">
              <a:spcAft>
                <a:spcPts val="1000"/>
              </a:spcAft>
            </a:pPr>
            <a:r>
              <a:rPr sz="1600" b="0">
                <a:solidFill>
                  <a:srgbClr val="222222"/>
                </a:solidFill>
                <a:latin typeface="맑은 고딕"/>
              </a:rPr>
              <a:t>•  실습 05·07은 적용을 멈추거나 SRL을 변경한다. 각 실습 끝에서 반드시 원복한다.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
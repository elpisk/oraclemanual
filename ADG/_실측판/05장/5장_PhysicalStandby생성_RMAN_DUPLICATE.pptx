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&amp; Recovery 과정에서 이미 DUPLICATE를 다뤘습니다. 명령의 뼈대는 같습니다. 그런데 결과물의 성격이 전혀 다릅니다. 테스트 복제본은 원본과 무관한 별개의 데이터베이스여야 하므로 새 DBID를 받고 RESETLOGS를 합니다. 반면 Standby는 원본과 같은 데이터베이스의 물리적 사본이어야 하므로 DBID가 같아야 하고 RESETLOGS를 하면 안 됩니다. FOR STANDBY 한 절이 이 모든 차이를 만듭니다. 실습에서 양쪽 DBID가 1852041610으로 같은 것을 확인하게 됩니다. 이 값이 다르면 아무리 파일이 똑같아도 Data Guard로 쓸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예전에는 Standby를 만들려면 먼저 Primary 백업을 받고, 그 백업을 Standby 서버로 옮기고, 그 다음 복원해야 했습니다. FROM ACTIVE DATABASE는 이 과정을 하나로 합칩니다. 네트워크를 통해 Primary의 파일을 직접 읽어 Standby에 씁니다. 실무에서 이 방식의 가장 큰 가치는 재시도의 자유입니다. Primary는 읽기 대상일 뿐이므로 몇 번을 실패해도 손상되지 않습니다. 이 장에서 실제로 두 번 실패하는데, 그 동안에도 chicago는 정상 운영되었습니다. 부담 없이 시도하고 실패에서 배울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복제가 잘 됐는지 확인하려면 기준이 있어야 합니다. 복제한 뒤에 Standby만 들여다봐서는 그것이 옳은지 알 수 없습니다. 그래서 실습 01에서 Primary의 상태를 먼저 기록합니다. 데이터 파일 번호 목록, 각 파일의 크기, 로그 그룹 수, PDB 이름까지 적어 둡니다. 실습 06에서 이 목록과 Standby를 한 줄씩 대조하면 검증이 기계적인 작업이 됩니다. 무엇을 봐야 할지 고민할 필요가 없어집니다. 참고로 파일 번호 2번이 없는데, CDB에서는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구조를 지금 기억해 두어야 합니다. convert 규칙은 경로의 앞부분만 바꾸고 뒤의 하위 디렉터리 구조는 그대로 따라옵니다. 즉 Standby에도 pdbseed와 chicago_pdb1 디렉터리가 필요해집니다. 그런데 오라클은 디렉터리를 만들어 주지 않습니다. 5.6절의 두 번째 실패가 정확히 이 지점에서 납니다. 지금은 그냥 파일 목록처럼 보이지만, 실패를 겪고 나면 이 슬라이드가 다시 보일 것입니다. 실무에서도 PDB를 추가할 때마다 이 확인이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보면 불안합니다. 메모리도, 컨트롤 파일 경로도, 아무것도 없이 인스턴스가 뜰까 싶습니다. 뜹니다. 이 두 줄은 인스턴스를 NOMOUNT로 띄우기 위한 최소한일 뿐입니다. 진짜 파라미터는 복제 과정에서 만들어집니다. DUPLICATE 스크립트의 SPFILE 절이 Primary의 spfile을 가져와 SET 지시대로 고친 뒤 Standby에 씁니다. 47바이트가 5,632바이트가 되는 것이 그 결과입니다. 약 120배입니다. 여기서 db_name을 boston으로 쓰는 실수가 매우 흔한데, 다음 슬라이드에서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중 넷이 boston이고 하나만 chicago입니다. 실수하기 딱 좋은 구조입니다. 물리 복제본은 DB_NAME이 원본과 같아야 하고, 구별은 DB_UNIQUE_NAME이 담당합니다. 1장에서 양쪽 V$DATABASE.NAME이 모두 CHICAGO였던 것을 기억하실 겁니다. 다행히 이 실수는 조기에 드러납니다. RMAN 접속 시 connected to auxiliary database 뒤에 BOSTON이 찍히면 잘못된 것입니다. 정상이라면 CHICAGO여야 합니다. 명령을 내리기 전에 이 한 줄만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STATUS가 STARTED로 나오는 것이 NOMOUNT를 뜻합니다. MOUNTED나 OPEN이면 DUPLICATE가 시작되지 않습니다. SGA가 356MB로 아주 작은데, pfile에 메모리 파라미터를 주지 않아 기본값으로 뜬 것입니다. Primary는 3GB이니 약 9분의 1입니다. 이 상태는 임시입니다. 복제 과정에서 spfile이 만들어지고 그것으로 재기동되면서 Primary와 같은 규모가 됩니다. 실습 06에서 재기동 시 SGA 숫자가 바뀌는 것을 직접 확인합니다. 숫자를 비교하는 습관이 상태를 읽는 감각을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3장에서 정적 등록을 왜 그렇게 강조했는지가 여기서 완결됩니다. DUPLICATE는 Primary에서 Standby로 원격 SYS 접속을 해야 시작됩니다. 그런데 그 시점의 Standby는 NOMOUNT라 리스너에 스스로 등록하지 못합니다. 정적 등록이 유일한 통로입니다. lsnrctl status에서 status가 UNKNOWN으로 나오는데, 이것이 정적 등록의 표식입니다. 리스너가 인스턴스 상태를 모르지만 일단 접속을 넘겨준다는 뜻입니다. 이 실습은 3장 구성이 실제로 작동하는지 검증하는 시험대이기도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명령이 길어 보이지만 절 단위로 끊어 읽으면 각각이 하나씩만 결정합니다. 채널 세 개를 먼저 할당하는데, c1과 c2는 Primary 쪽에서 파일을 읽어 보내고 sby는 Standby 쪽에서 받아 씁니다. 채널이 둘이라 파일 전송이 병렬로 일어나고, 그래서 로그에서 input과 output 순서가 뒤섞여 보입니다. 마지막의 sql channel sby 절도 눈여겨보십시오. 복제가 끝나자마자 Standby에서 MRP를 기동합니다. 별도로 띄울 필요가 없다는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스크립트를 보면 가장 이상한 줄입니다. Primary와 같은 값을 왜 굳이 지정하는가. 이유는 자동 치환의 부작용을 막기 위해서입니다. PARAMETER_VALUE_CONVERT는 파라미터 값 안의 chicago라는 문자열을 가리지 않고 boston으로 바꿉니다. db_name도 예외가 아닙니다. 그러면 물리 복제본의 조건이 깨집니다. 그래서 SET으로 원복해 줍니다. 즉 이 한 줄은 안전장치입니다. audit_file_dest와 diagnostic_dest를 따로 SET한 것도 같은 맥락으로, 자동 치환 결과가 의도와 다를 수 있어 명시적으로 못 박은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자체는 단순합니다. 앞의 문자열이 경로에 있으면 뒤의 문자열로 바꿉니다. 중요한 것은 뒤에 붙은 하위 디렉터리 구조가 그대로 따라온다는 점입니다. chicago_pdb1이라는 디렉터리 이름은 손대지 않습니다. 그래서 Standby에도 같은 이름의 디렉터리가 필요해집니다. 데이터 파일과 로그의 목적지가 다른 것도 확인해 두십시오. 설치 가이드가 datafile과 onlinelog로 디렉터리를 나눠 두었기 때문에 두 convert의 목적지가 다릅니다. 한쪽만 지정하는 실수가 흔합니다.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convert 파라미터와 NOFILENAMECHECK를 모두 뺀 최소 스크립트로 실행한 결과입니다. 먼저 봐야 할 것은 세 줄 위의 경고입니다. RMAN이 스스로 변환 규칙을 만들어 썼다는 뜻인데, 만들 재료가 없으니 결국 아무것도 바꾸지 않는 규칙이 되었습니다. 그 결과 auxiliary 파일 경로가 Primary 경로 그대로가 되었고, 이름 충돌 검사가 이를 잡았습니다. 경로에 Chicago가 찍혀 있다는 것이 결정적 증거입니다. 같은 서버였다면 Primary를 덮어썼을 상황이며, RMAN이 막아 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가장 위험한 오해입니다. 오류 메시지가 "이름 충돌"이라고 하니 충돌 검사를 끄면 해결될 것 같습니다. 실제로는 정반대입니다. 안전장치만 사라지고 원인은 그대로 남습니다. NOFILENAMECHECK의 올바른 용도는 convert로 경로를 제대로 바꾼 뒤, 두 노드가 같은 디렉터리 구조를 쓰는 상황에서 "이름이 같아 보여도 다른 서버이니 괜찮다"고 알려 주는 것입니다. 원인을 고치는 절이 아니라 정상 상황을 승인하는 절입니다. 오류를 없애는 것과 원인을 고치는 것은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스크립트가 아니라 환경이 원인입니다. 정리 과정에서 datafile/* 로 지워 pdbseed와 chicago_pdb1 디렉터리까지 없앤 상태였습니다. convert가 만든 목적지 경로는 맞는데 그 디렉터리가 없습니다. 오라클은 디렉터리를 만들어 주지 않으므로 그대로 실패합니다. 로그를 보면 성공한 파일과 실패한 파일이 갈리는 지점이 명확합니다. datafile 바로 아래 있던 파일은 성공했고, 하위 디렉터리 아래 있던 파일에서 멈췄습니다. 이 대비가 원인을 그대로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자주 만나는 유형의 불친절한 메시지입니다. 파일을 식별하지 못했다면서 그 파일 이름 자리가 비어 있습니다. 메시지만 보면 아무것도 알 수 없습니다. 그래서 로그를 파일로 남기는 것이 중요합니다. 오류 줄의 바로 앞 줄에 RMAN이 어느 파일을 처리하려 했는지가 남아 있습니다. 화면으로 흘려보냈다면 이 정보를 잃습니다. 로그 파일을 남기고, 오류가 나면 그 줄 번호 앞뒤를 보는 습관이 진단 시간을 크게 줄입니다.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 오류 스택은 바깥에서 안쪽으로 쌓입니다. 그래서 읽을 때는 반대로 아래에서 위로 올라갑니다. 가장 바깥의 RMAN-03002는 "Duplicate 명령이 실패했다"는 결론일 뿐 아무 정보가 없습니다. 정보는 안쪽에 있습니다. ORA-17628의 remote Oracle server라는 표현은 특히 유용한데, 그 오류가 Standby 쪽에서 왔다는 방향을 알려 줍니다. Primary 로그만 뒤지고 있으면 원인을 찾을 수 없습니다. 어느 노드를 봐야 하는지가 여기서 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실패를 만났을 때 가장 먼저 판단해야 할 것은 언제 막혔느냐입니다. 로그에 output file name 줄이 하나라도 나왔다면 이미 파일을 쓰기 시작한 것이므로, 반쯤 복제된 파일이 남아 있습니다. 그대로 재실행하면 예상치 못한 결과가 나오므로 반드시 지우고 처음부터 해야 합니다. output 줄이 없다면 아무것도 쓰지 않았으니 스크립트만 고쳐 다시 돌리면 됩니다. 이 판단 하나로 복구 절차가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418줄짜리 로그를 처음부터 읽을 필요가 없습니다. 세 가지만 확인하면 됩니다. 먼저 종료 코드입니다. 실패한 실행에서는 rc=1이었습니다. 그 다음 grep으로 오류 줄이 하나도 없는지 봅니다. 성공한 실행에서는 RMAN-이나 ORA-로 시작하는 줄이 한 줄도 없었습니다. 마지막으로 Finished Duplicate Db가 있는지 봅니다. 이 세 가지가 5초면 끝납니다. 오류가 있을 때만 그 줄 번호 앞뒤 30줄을 읽습니다. 로그 전체를 읽는 것은 마지막 수단입니다.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로그의 골격을 알아 두면 오류가 어느 단계에서 났는지 바로 가늠할 수 있습니다. 전반부는 준비 작업이고, 중반부의 데이터 파일 전송이 대부분을 차지합니다. 파일 하나당 input과 output 두 줄이 나오는데, 채널 두 개가 병렬로 도니 순서가 뒤섞여 보입니다. 이것은 정상입니다. 짝이 맞는지만 확인하면 됩니다. 후반부의 DORECOVER 구간에서는 아카이브 두 개를 적용하고 지우는데, 실측에서 arch1_56과 arch1_57이 처리되고 Deleted 2 objects가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스크립트 마지막의 sql channel sby 절이 이 일을 합니다. 복제가 끝나자마자 Standby에서 실시간 적용을 시작합니다. 그래서 복제 직후 V$MANAGED_STANDBY를 보면 MRP0이 이미 WAIT_FOR_LOG 상태로 대기하고 있습니다. 시퀀스 58을 기다린다는 것은 57번까지는 DORECOVER로 적용을 마쳤다는 뜻입니다. 이 절이 없으면 복제 후 수동으로 MRP를 기동해야 하고, 그 사이의 시간만큼 갭이 생깁니다. 작아 보이는 한 줄이지만 절차를 하나 줄여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복제가 끝나면 Standby가 완성된 것처럼 보이지만 아직 한 단계가 남았습니다. MOUNTED 상태에서는 리두 적용은 되지만 조회가 불가능합니다. Active Data Guard는 적용하면서 동시에 조회할 수 있는 상태를 말하므로, 데이터베이스를 READ ONLY로 열어야 합니다. 순서는 적용 중지, 재기동, READ ONLY 열기, PDB 열기, 적용 재개입니다. 이 다섯 단계를 마치면 OPEN_MODE가 READ ONLY WITH APPLY로 바뀝니다. 이 한 문장이 ADG의 표식입니다.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설치 가이드를 그대로 따라가면 두 곳에서 걸립니다. 첫째, spfile을 만들라는 단계가 있는데 실행하면 ORA-32002가 납니다. DUPLICATE의 SPFILE 절이 이미 만들었기 때문에 처음부터 불필요한 단계입니다. 오류를 보고 복제가 잘못됐나 하며 되돌아가지 않는 것이 중요합니다. 둘째, PDB를 여는 줄이 없습니다. 이쪽이 더 까다로운데, 상태 표시상으로는 READ ONLY WITH APPLY로 정상인데도 정작 사용자 데이터를 조회할 수 없습니다. 문제가 드러나지 않는 유형의 누락입니다.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01에서 기록한 기준값과 하나씩 맞춰 보면 검증이 끝납니다. 눈여겨볼 것은 SRL입니다. 4장에서 Primary에 만들어 둔 SRL 네 그룹이 그대로 복제되어 왔습니다. Standby에서 따로 만든 것이 아닙니다. 4장에서 미리 만들어 둔 보람이 여기서 나옵니다. 만약 그때 만들지 않았다면 지금 Standby에 수동으로 만들어야 했을 것입니다. 준비 순서가 왜 그랬는지가 여기서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조회만으로는 실제로 리두가 흐르는지 알 수 없습니다. Primary에서 로그를 강제로 넘겨 전송을 유발한 뒤 Standby를 보는 것이 확실합니다. 두 지연이 모두 0이고, MRP0의 상태가 대기에서 적용 중으로 바뀌고, 시퀀스가 하나 올라갑니다. 세 가지가 함께 움직여야 정상입니다. 정지된 화면을 보는 것과 움직이는 것을 보는 것은 다릅니다. 운영에서도 문제를 의심할 때 이 방법으로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lost write는 디스크가 쓴 척만 하고 실제로는 쓰지 않은 상태입니다. 데이터베이스는 성공했다고 알고 있으므로 오류도 나지 않습니다. 시간이 한참 지나 그 블록을 읽을 때에야 드러나며, 그때는 이미 복구가 어렵습니다. DBCOMP는 Primary와 Standby의 같은 블록을 맞춰 보면서 이런 상태를 찾아냅니다. 실무에서는 정기 점검 항목으로 넣거나, 스토리지 장애가 의심될 때 씁니다. 구축 직후에 한 번 돌려 기준을 잡아 두는 것도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 디렉터리 객체 DBCOMP_DIR을 만들고 /u03/dbcomp를 가리키게 한 뒤 그 이름을 넘겼습니다. 프로시저는 성공했는데 디렉터리는 비어 있었습니다. 파일은 $ORACLE_HOME/dbs 아래에 DBCOMP_DIR과 DBCOMP_DIR_boston_7이라는 이름으로 생겨 있었습니다. 문자열을 그대로 파일 이름으로 쓴 것입니다. 디렉터리 객체는 아무 관련이 없었습니다. 이름 규칙을 알아 두면 파일을 찾기 쉽습니다. 뒤에 붙는 숫자는 데이터 파일 번호이고, 그 앞은 상대 데이터베이스의 DB_UNIQUE_NAME입니다.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가지는 오류가 나므로 바로 알 수 있습니다. 문제는 세 번째입니다. 존재하지 않는 디렉터리 객체 이름을 주어도 오류가 나지 않습니다. 두 번째 인자가 디렉터리 객체가 아니라 파일 이름이기 때문입니다. 디렉터리 객체를 넣었다고 믿은 사람은 그 디렉터리를 들여다보고 아무것도 없는 것을 확인한 뒤 문제가 없었나 보다 하고 넘어갑니다. 실제로는 보고서를 엉뚱한 곳에서 찾고 있었을 뿐입니다. 소리를 내는 오류보다 조용한 실패가 훨씬 다루기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보고서에는 열이 열 개 넘게 나오지만 판정은 세 열로 끝납니다. DIFFPAIR가 왜 결정적인지 이해해 두십시오. 버전이 같다는 것은 같은 시점의 같은 블록이라는 뜻입니다. 그런데 내용이 다르다면 논리적으로 있을 수 없는 상태입니다. 이것이 0이 아니면 데이터 불일치이며 반드시 원인을 찾아야 합니다. LWLOC와 LWRMT는 각각 어느 쪽에서 lost write가 일어났는지까지 알려 줍니다. 실습 환경의 system01.dbf 비교에서는 세 열 모두 모든 행에서 0이었습니다.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보고서를 처음 보면 0이 아닌 숫자마다 불안해집니다. 대부분은 정상입니다. DIFFV는 버전이 다른 블록인데, 비교하는 동안에도 Primary는 계속 돌아가므로 Standby가 아직 적용하지 않은 변경분이 있으면 당연히 생깁니다. apply lag이 0이어도 마이크로초 단위 시차는 존재합니다. SAMEV와 SAMEV&amp;C의 차이는 내용이 같아도 체크섬이 다를 수 있기 때문입니다. CORR가 잡히면 한 번의 결과로 단정하지 말고 접두어를 바꿔 다시 비교하거나 RMAN VALIDATE로 교차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실패는 실수가 아니라 이 방식의 구조적 약점입니다. convert 규칙은 문자열을 바꿀 뿐 그 경로가 존재하는지 확인하지 않습니다. 그래서 사람이 미리 디렉터리를 만들어 두어야 하고, 이 부담은 PDB를 추가할 때마다 반복됩니다. STANDBY_FILE_MANAGEMENT가 AUTO여도 디렉터리까지 만들어 주지는 않습니다. 6장의 OMF 방식은 DB_CREATE_FILE_DEST 하나만 지정하면 오라클이 디렉터리 구조와 파일 이름을 스스로 만듭니다. 대신 경로와 이름을 사람이 정할 수 없다는 대가가 따릅니다.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Physical Standby 생성 ①</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RMAN DUPLICATE — 경로 지정 방식</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실패 두 번에서 배우는 convert · NOFILENAMECHECK · DBMS_DBCOMP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DUPLICATE ... FOR STANDBY FROM ACTIVE DATABASE</a:t>
            </a:r>
            <a:r>
              <a:rPr sz="1600" b="0">
                <a:solidFill>
                  <a:srgbClr val="222222"/>
                </a:solidFill>
                <a:latin typeface="맑은 고딕"/>
              </a:rPr>
              <a:t>의 각 절이 무엇을 결정하는지 설명한다.</a:t>
            </a:r>
          </a:p>
          <a:p>
            <a:pPr algn="l">
              <a:spcAft>
                <a:spcPts val="1000"/>
              </a:spcAft>
            </a:pPr>
            <a:r>
              <a:rPr sz="1600" b="0">
                <a:solidFill>
                  <a:srgbClr val="222222"/>
                </a:solidFill>
                <a:latin typeface="맑은 고딕"/>
              </a:rPr>
              <a:t>•  Standby 초기 pfile이 두 줄로 충분한 이유와 나머지 파라미터가 채워지는 시점을 안다.</a:t>
            </a:r>
          </a:p>
          <a:p>
            <a:pPr algn="l">
              <a:spcAft>
                <a:spcPts val="1000"/>
              </a:spcAft>
            </a:pPr>
            <a:r>
              <a:rPr sz="1600" b="0">
                <a:solidFill>
                  <a:srgbClr val="222222"/>
                </a:solidFill>
                <a:latin typeface="맑은 고딕"/>
              </a:rPr>
              <a:t>•  convert 파라미터와 NOFILENAMECHECK의 관계를 설명하고, 한쪽만 쓰는 것의 위험을 안다.</a:t>
            </a:r>
          </a:p>
          <a:p>
            <a:pPr algn="l">
              <a:spcAft>
                <a:spcPts val="1000"/>
              </a:spcAft>
            </a:pPr>
            <a:r>
              <a:rPr sz="1600" b="0">
                <a:solidFill>
                  <a:srgbClr val="222222"/>
                </a:solidFill>
                <a:latin typeface="맑은 고딕"/>
              </a:rPr>
              <a:t>•  DUPLICATE 실패 두 유형(RMAN-05001, ORA-19505)을 구분하고 진단 경로를 댄다.</a:t>
            </a:r>
          </a:p>
          <a:p>
            <a:pPr algn="l">
              <a:spcAft>
                <a:spcPts val="1000"/>
              </a:spcAft>
            </a:pPr>
            <a:r>
              <a:rPr sz="1600" b="0">
                <a:solidFill>
                  <a:srgbClr val="222222"/>
                </a:solidFill>
                <a:latin typeface="맑은 고딕"/>
              </a:rPr>
              <a:t>•  복제 결과를 기준값과 대조해 검증하고, MOUNTED에서 ADG로 전환한다.</a:t>
            </a:r>
          </a:p>
          <a:p>
            <a:pPr algn="l">
              <a:spcAft>
                <a:spcPts val="1000"/>
              </a:spcAft>
            </a:pPr>
            <a:r>
              <a:rPr sz="1600" b="0">
                <a:solidFill>
                  <a:srgbClr val="222222"/>
                </a:solidFill>
                <a:latin typeface="맑은 고딕"/>
              </a:rPr>
              <a:t>•  </a:t>
            </a:r>
            <a:r>
              <a:rPr sz="1600" b="0">
                <a:solidFill>
                  <a:srgbClr val="222222"/>
                </a:solidFill>
                <a:latin typeface="Consolas"/>
                <a:cs typeface="Consolas"/>
              </a:rPr>
              <a:t>DBMS_DBCOMP.DBCOMP</a:t>
            </a:r>
            <a:r>
              <a:rPr sz="1600" b="0">
                <a:solidFill>
                  <a:srgbClr val="222222"/>
                </a:solidFill>
                <a:latin typeface="맑은 고딕"/>
              </a:rPr>
              <a:t>로 블록을 비교하고 보고서의 판정 열을 읽는다.</a:t>
            </a:r>
          </a:p>
          <a:p>
            <a:pPr algn="l">
              <a:spcAft>
                <a:spcPts val="1000"/>
              </a:spcAft>
            </a:pPr>
            <a:r>
              <a:rPr sz="1600" b="0">
                <a:solidFill>
                  <a:srgbClr val="222222"/>
                </a:solidFill>
                <a:latin typeface="맑은 고딕"/>
              </a:rPr>
              <a:t>•  경로 지정 방식의 구조적 약점을 설명하고 6장 OMF와 대비한다.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5.2  BR 17장과 무엇이 다른가</a:t>
            </a:r>
          </a:p>
          <a:p>
            <a:pPr algn="l">
              <a:spcAft>
                <a:spcPts val="1000"/>
              </a:spcAft>
            </a:pPr>
            <a:r>
              <a:rPr sz="1600" b="0">
                <a:solidFill>
                  <a:srgbClr val="222222"/>
                </a:solidFill>
                <a:latin typeface="맑은 고딕"/>
              </a:rPr>
              <a:t>•  5.3  Primary 쪽 준비 확인</a:t>
            </a:r>
          </a:p>
          <a:p>
            <a:pPr algn="l">
              <a:spcAft>
                <a:spcPts val="1000"/>
              </a:spcAft>
            </a:pPr>
            <a:r>
              <a:rPr sz="1600" b="0">
                <a:solidFill>
                  <a:srgbClr val="222222"/>
                </a:solidFill>
                <a:latin typeface="맑은 고딕"/>
              </a:rPr>
              <a:t>•  5.4  Standby 인스턴스 준비</a:t>
            </a:r>
          </a:p>
          <a:p>
            <a:pPr algn="l">
              <a:spcAft>
                <a:spcPts val="1000"/>
              </a:spcAft>
            </a:pPr>
            <a:r>
              <a:rPr sz="1600" b="0">
                <a:solidFill>
                  <a:srgbClr val="222222"/>
                </a:solidFill>
                <a:latin typeface="맑은 고딕"/>
              </a:rPr>
              <a:t>•  5.5  DUPLICATE 스크립트 읽기</a:t>
            </a:r>
          </a:p>
          <a:p>
            <a:pPr algn="l">
              <a:spcAft>
                <a:spcPts val="1000"/>
              </a:spcAft>
            </a:pPr>
            <a:r>
              <a:rPr sz="1600" b="0">
                <a:solidFill>
                  <a:srgbClr val="222222"/>
                </a:solidFill>
                <a:latin typeface="맑은 고딕"/>
              </a:rPr>
              <a:t>•  5.6  실패 두 번</a:t>
            </a:r>
          </a:p>
          <a:p>
            <a:pPr algn="l">
              <a:spcAft>
                <a:spcPts val="1000"/>
              </a:spcAft>
            </a:pPr>
            <a:r>
              <a:rPr sz="1600" b="0">
                <a:solidFill>
                  <a:srgbClr val="222222"/>
                </a:solidFill>
                <a:latin typeface="맑은 고딕"/>
              </a:rPr>
              <a:t>•  5.7  성공한 DUPLICATE</a:t>
            </a:r>
          </a:p>
          <a:p>
            <a:pPr algn="l">
              <a:spcAft>
                <a:spcPts val="1000"/>
              </a:spcAft>
            </a:pPr>
            <a:r>
              <a:rPr sz="1600" b="0">
                <a:solidFill>
                  <a:srgbClr val="222222"/>
                </a:solidFill>
                <a:latin typeface="맑은 고딕"/>
              </a:rPr>
              <a:t>•  5.8  결과 검증</a:t>
            </a:r>
          </a:p>
          <a:p>
            <a:pPr algn="l">
              <a:spcAft>
                <a:spcPts val="1000"/>
              </a:spcAft>
            </a:pPr>
            <a:r>
              <a:rPr sz="1600" b="0">
                <a:solidFill>
                  <a:srgbClr val="222222"/>
                </a:solidFill>
                <a:latin typeface="맑은 고딕"/>
              </a:rPr>
              <a:t>•  5.9  DBMS_DBCOMP로 블록 비교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 17장과 무엇이 다른가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같은 DUPLICATE, 다른 목적</a:t>
            </a:r>
          </a:p>
          <a:p>
            <a:pPr algn="l">
              <a:spcAft>
                <a:spcPts val="800"/>
              </a:spcAft>
            </a:pPr>
            <a:r>
              <a:rPr sz="1600" b="0">
                <a:solidFill>
                  <a:srgbClr val="FFFFFF"/>
                </a:solidFill>
                <a:latin typeface="맑은 고딕"/>
              </a:rPr>
              <a:t>•  FOR STANDBY가 바꾸는 것</a:t>
            </a:r>
          </a:p>
          <a:p>
            <a:pPr algn="l">
              <a:spcAft>
                <a:spcPts val="800"/>
              </a:spcAft>
            </a:pPr>
            <a:r>
              <a:rPr sz="1600" b="0">
                <a:solidFill>
                  <a:srgbClr val="FFFFFF"/>
                </a:solidFill>
                <a:latin typeface="맑은 고딕"/>
              </a:rPr>
              <a:t>•  FROM ACTIVE DATABASE의 이점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같은 명령, 다른 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 과정의 DUPLICATE와 비교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BR 17장 : 테스트용 복제본을 만든다 — 새 DBID, RESETLOGS</a:t>
            </a:r>
          </a:p>
          <a:p>
            <a:pPr algn="l">
              <a:spcAft>
                <a:spcPts val="1000"/>
              </a:spcAft>
            </a:pPr>
            <a:r>
              <a:rPr sz="1700" b="0">
                <a:solidFill>
                  <a:srgbClr val="222222"/>
                </a:solidFill>
                <a:latin typeface="맑은 고딕"/>
              </a:rPr>
              <a:t>•  이 장   : Data Guard용 Standby를 만든다 — DBID 유지, RESETLOGS 없음</a:t>
            </a:r>
          </a:p>
          <a:p>
            <a:pPr algn="l">
              <a:spcAft>
                <a:spcPts val="1000"/>
              </a:spcAft>
            </a:pPr>
            <a:r>
              <a:rPr sz="1700" b="0">
                <a:solidFill>
                  <a:srgbClr val="222222"/>
                </a:solidFill>
                <a:latin typeface="맑은 고딕"/>
              </a:rPr>
              <a:t>•  차이를 만드는 것은 단 한 절, </a:t>
            </a:r>
            <a:r>
              <a:rPr sz="1700" b="0">
                <a:solidFill>
                  <a:srgbClr val="222222"/>
                </a:solidFill>
                <a:latin typeface="Consolas"/>
                <a:cs typeface="Consolas"/>
              </a:rPr>
              <a:t>FOR STANDBY</a:t>
            </a:r>
          </a:p>
          <a:p>
            <a:pPr algn="l">
              <a:spcAft>
                <a:spcPts val="1000"/>
              </a:spcAft>
            </a:pPr>
            <a:r>
              <a:rPr sz="1700" b="0">
                <a:solidFill>
                  <a:srgbClr val="222222"/>
                </a:solidFill>
                <a:latin typeface="맑은 고딕"/>
              </a:rPr>
              <a:t>•  실측 DBID : chicago 1852041610 = boston 1852041610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FROM ACTIVE DATABASE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백업 없이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백업셋이 아니라 운영 중인 Primary에서 직접 읽는다</a:t>
            </a:r>
          </a:p>
          <a:p>
            <a:pPr algn="l">
              <a:spcAft>
                <a:spcPts val="1000"/>
              </a:spcAft>
            </a:pPr>
            <a:r>
              <a:rPr sz="1700" b="0">
                <a:solidFill>
                  <a:srgbClr val="222222"/>
                </a:solidFill>
                <a:latin typeface="맑은 고딕"/>
              </a:rPr>
              <a:t>•  사전 백업이 필요 없다 — 준비 시간이 사라진다</a:t>
            </a:r>
          </a:p>
          <a:p>
            <a:pPr algn="l">
              <a:spcAft>
                <a:spcPts val="1000"/>
              </a:spcAft>
            </a:pPr>
            <a:r>
              <a:rPr sz="1700" b="0">
                <a:solidFill>
                  <a:srgbClr val="222222"/>
                </a:solidFill>
                <a:latin typeface="맑은 고딕"/>
              </a:rPr>
              <a:t>•  Primary는 읽기만 한다 — 실패해도 운영에 영향이 없다</a:t>
            </a:r>
          </a:p>
          <a:p>
            <a:pPr algn="l">
              <a:spcAft>
                <a:spcPts val="1000"/>
              </a:spcAft>
            </a:pPr>
            <a:r>
              <a:rPr sz="1700" b="0">
                <a:solidFill>
                  <a:srgbClr val="222222"/>
                </a:solidFill>
                <a:latin typeface="맑은 고딕"/>
              </a:rPr>
              <a:t>•  실습에서 두 번 실패하는 동안 chicago는 계속 READ WRITE였다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Primary 쪽 준비 확인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2~4장에서 설정한 값 점검</a:t>
            </a:r>
          </a:p>
          <a:p>
            <a:pPr algn="l">
              <a:spcAft>
                <a:spcPts val="800"/>
              </a:spcAft>
            </a:pPr>
            <a:r>
              <a:rPr sz="1600" b="0">
                <a:solidFill>
                  <a:srgbClr val="FFFFFF"/>
                </a:solidFill>
                <a:latin typeface="맑은 고딕"/>
              </a:rPr>
              <a:t>•  기준값 기록의 중요성</a:t>
            </a:r>
          </a:p>
          <a:p>
            <a:pPr algn="l">
              <a:spcAft>
                <a:spcPts val="800"/>
              </a:spcAft>
            </a:pPr>
            <a:r>
              <a:rPr sz="1600" b="0">
                <a:solidFill>
                  <a:srgbClr val="FFFFFF"/>
                </a:solidFill>
                <a:latin typeface="맑은 고딕"/>
              </a:rPr>
              <a:t>•  파일 목록과 디렉터리 구조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기준값을 먼저 기록한다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검증은 대조다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DBID · DB_NAME · DB_UNIQUE_NAME · ROLE · CONTROLFILE_TYPE</a:t>
            </a:r>
          </a:p>
          <a:p>
            <a:pPr algn="l">
              <a:spcAft>
                <a:spcPts val="1000"/>
              </a:spcAft>
            </a:pPr>
            <a:r>
              <a:rPr sz="1700" b="0">
                <a:solidFill>
                  <a:srgbClr val="222222"/>
                </a:solidFill>
                <a:latin typeface="맑은 고딕"/>
              </a:rPr>
              <a:t>•  데이터 파일 11개, 번호 1,3,4,5,6,7,8,9,10,11,12</a:t>
            </a:r>
          </a:p>
          <a:p>
            <a:pPr algn="l">
              <a:spcAft>
                <a:spcPts val="1000"/>
              </a:spcAft>
            </a:pPr>
            <a:r>
              <a:rPr sz="1700" b="0">
                <a:solidFill>
                  <a:srgbClr val="222222"/>
                </a:solidFill>
                <a:latin typeface="맑은 고딕"/>
              </a:rPr>
              <a:t>•  온라인 리두 3그룹 · SRL 4그룹 · PDB 두 개</a:t>
            </a:r>
          </a:p>
          <a:p>
            <a:pPr algn="l">
              <a:spcAft>
                <a:spcPts val="1000"/>
              </a:spcAft>
            </a:pPr>
            <a:r>
              <a:rPr sz="1700" b="0">
                <a:solidFill>
                  <a:srgbClr val="222222"/>
                </a:solidFill>
                <a:latin typeface="맑은 고딕"/>
              </a:rPr>
              <a:t>•  복제 후 이 목록과 하나씩 맞춰 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하위 디렉터리에 주목한다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나중에 문제가 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데이터 파일은 세 층으로 나뉜다</a:t>
            </a:r>
          </a:p>
          <a:p>
            <a:pPr algn="l">
              <a:spcAft>
                <a:spcPts val="1000"/>
              </a:spcAft>
            </a:pPr>
            <a:r>
              <a:rPr sz="1700" b="0">
                <a:solidFill>
                  <a:srgbClr val="222222"/>
                </a:solidFill>
                <a:latin typeface="맑은 고딕"/>
              </a:rPr>
              <a:t>•  루트 : 1, 3, 4, 7 — </a:t>
            </a:r>
            <a:r>
              <a:rPr sz="1700" b="0">
                <a:solidFill>
                  <a:srgbClr val="222222"/>
                </a:solidFill>
                <a:latin typeface="Consolas"/>
                <a:cs typeface="Consolas"/>
              </a:rPr>
              <a:t>/Chicago/</a:t>
            </a:r>
            <a:r>
              <a:rPr sz="1700" b="0">
                <a:solidFill>
                  <a:srgbClr val="222222"/>
                </a:solidFill>
                <a:latin typeface="맑은 고딕"/>
              </a:rPr>
              <a:t> 바로 아래</a:t>
            </a:r>
          </a:p>
          <a:p>
            <a:pPr algn="l">
              <a:spcAft>
                <a:spcPts val="1000"/>
              </a:spcAft>
            </a:pPr>
            <a:r>
              <a:rPr sz="1700" b="0">
                <a:solidFill>
                  <a:srgbClr val="222222"/>
                </a:solidFill>
                <a:latin typeface="맑은 고딕"/>
              </a:rPr>
              <a:t>•  시드 PDB : 5, 6, 8 — </a:t>
            </a:r>
            <a:r>
              <a:rPr sz="1700" b="0">
                <a:solidFill>
                  <a:srgbClr val="222222"/>
                </a:solidFill>
                <a:latin typeface="Consolas"/>
                <a:cs typeface="Consolas"/>
              </a:rPr>
              <a:t>/Chicago/pdbseed/</a:t>
            </a:r>
          </a:p>
          <a:p>
            <a:pPr algn="l">
              <a:spcAft>
                <a:spcPts val="1000"/>
              </a:spcAft>
            </a:pPr>
            <a:r>
              <a:rPr sz="1700" b="0">
                <a:solidFill>
                  <a:srgbClr val="222222"/>
                </a:solidFill>
                <a:latin typeface="맑은 고딕"/>
              </a:rPr>
              <a:t>•  사용자 PDB : 9, 10, 11, 12 — </a:t>
            </a:r>
            <a:r>
              <a:rPr sz="1700" b="0">
                <a:solidFill>
                  <a:srgbClr val="222222"/>
                </a:solidFill>
                <a:latin typeface="Consolas"/>
                <a:cs typeface="Consolas"/>
              </a:rPr>
              <a:t>/Chicago/chicago_pdb1/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 인스턴스 준비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두 줄짜리 pfile</a:t>
            </a:r>
          </a:p>
          <a:p>
            <a:pPr algn="l">
              <a:spcAft>
                <a:spcPts val="800"/>
              </a:spcAft>
            </a:pPr>
            <a:r>
              <a:rPr sz="1600" b="0">
                <a:solidFill>
                  <a:srgbClr val="FFFFFF"/>
                </a:solidFill>
                <a:latin typeface="맑은 고딕"/>
              </a:rPr>
              <a:t>•  NOMOUNT 기동</a:t>
            </a:r>
          </a:p>
          <a:p>
            <a:pPr algn="l">
              <a:spcAft>
                <a:spcPts val="800"/>
              </a:spcAft>
            </a:pPr>
            <a:r>
              <a:rPr sz="1600" b="0">
                <a:solidFill>
                  <a:srgbClr val="FFFFFF"/>
                </a:solidFill>
                <a:latin typeface="맑은 고딕"/>
              </a:rPr>
              <a:t>•  3장 정적 등록의 회수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줄이면 충분하다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initboston.ora 47바이트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db_name=chicago</a:t>
            </a:r>
            <a:r>
              <a:rPr sz="1700" b="0">
                <a:solidFill>
                  <a:srgbClr val="222222"/>
                </a:solidFill>
                <a:latin typeface="맑은 고딕"/>
              </a:rPr>
              <a:t> — Primary와 같아야 한다</a:t>
            </a:r>
          </a:p>
          <a:p>
            <a:pPr algn="l">
              <a:spcAft>
                <a:spcPts val="1000"/>
              </a:spcAft>
            </a:pPr>
            <a:r>
              <a:rPr sz="1700" b="0">
                <a:solidFill>
                  <a:srgbClr val="222222"/>
                </a:solidFill>
                <a:latin typeface="맑은 고딕"/>
              </a:rPr>
              <a:t>•  </a:t>
            </a:r>
            <a:r>
              <a:rPr sz="1700" b="0">
                <a:solidFill>
                  <a:srgbClr val="222222"/>
                </a:solidFill>
                <a:latin typeface="Consolas"/>
                <a:cs typeface="Consolas"/>
              </a:rPr>
              <a:t>enable_pluggable_database=true</a:t>
            </a:r>
            <a:r>
              <a:rPr sz="1700" b="0">
                <a:solidFill>
                  <a:srgbClr val="222222"/>
                </a:solidFill>
                <a:latin typeface="맑은 고딕"/>
              </a:rPr>
              <a:t> — CDB이므로</a:t>
            </a:r>
          </a:p>
          <a:p>
            <a:pPr algn="l">
              <a:spcAft>
                <a:spcPts val="1000"/>
              </a:spcAft>
            </a:pPr>
            <a:r>
              <a:rPr sz="1700" b="0">
                <a:solidFill>
                  <a:srgbClr val="222222"/>
                </a:solidFill>
                <a:latin typeface="맑은 고딕"/>
              </a:rPr>
              <a:t>•  나머지는 DUPLICATE의 SPFILE 절이 채운다</a:t>
            </a:r>
          </a:p>
          <a:p>
            <a:pPr algn="l">
              <a:spcAft>
                <a:spcPts val="1000"/>
              </a:spcAft>
            </a:pPr>
            <a:r>
              <a:rPr sz="1700" b="0">
                <a:solidFill>
                  <a:srgbClr val="222222"/>
                </a:solidFill>
                <a:latin typeface="맑은 고딕"/>
              </a:rPr>
              <a:t>•  실측 : pfile 47바이트 → spfile 5,632바이트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boston이 네 곳, chicago가 한 곳</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흔한 실수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ORACLE_SID = boston</a:t>
            </a:r>
          </a:p>
          <a:p>
            <a:pPr algn="l">
              <a:spcAft>
                <a:spcPts val="1000"/>
              </a:spcAft>
            </a:pPr>
            <a:r>
              <a:rPr sz="1700" b="0">
                <a:solidFill>
                  <a:srgbClr val="222222"/>
                </a:solidFill>
                <a:latin typeface="맑은 고딕"/>
              </a:rPr>
              <a:t>•  DB_UNIQUE_NAME = boston</a:t>
            </a:r>
          </a:p>
          <a:p>
            <a:pPr algn="l">
              <a:spcAft>
                <a:spcPts val="1000"/>
              </a:spcAft>
            </a:pPr>
            <a:r>
              <a:rPr sz="1700" b="0">
                <a:solidFill>
                  <a:srgbClr val="222222"/>
                </a:solidFill>
                <a:latin typeface="맑은 고딕"/>
              </a:rPr>
              <a:t>•  리스너 GLOBAL_DBNAME = boston</a:t>
            </a:r>
          </a:p>
          <a:p>
            <a:pPr algn="l">
              <a:spcAft>
                <a:spcPts val="1000"/>
              </a:spcAft>
            </a:pPr>
            <a:r>
              <a:rPr sz="1700" b="0">
                <a:solidFill>
                  <a:srgbClr val="222222"/>
                </a:solidFill>
                <a:latin typeface="맑은 고딕"/>
              </a:rPr>
              <a:t>•  패스워드 파일 = orapwboston</a:t>
            </a:r>
          </a:p>
          <a:p>
            <a:pPr algn="l">
              <a:spcAft>
                <a:spcPts val="1000"/>
              </a:spcAft>
            </a:pPr>
            <a:r>
              <a:rPr sz="1700" b="0">
                <a:solidFill>
                  <a:srgbClr val="222222"/>
                </a:solidFill>
                <a:latin typeface="맑은 고딕"/>
              </a:rPr>
              <a:t>•  </a:t>
            </a:r>
            <a:r>
              <a:rPr sz="1700" b="1">
                <a:solidFill>
                  <a:srgbClr val="222222"/>
                </a:solidFill>
                <a:latin typeface="맑은 고딕"/>
              </a:rPr>
              <a:t>DB_NAME = chicago</a:t>
            </a:r>
            <a:r>
              <a:rPr sz="1700" b="0">
                <a:solidFill>
                  <a:srgbClr val="222222"/>
                </a:solidFill>
                <a:latin typeface="맑은 고딕"/>
              </a:rPr>
              <a:t> ← 이것만 다르다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NOMOUNT 기동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SGA 356MB의 의미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STARTUP NOMOUNT PFILE='.../initboston.ora'</a:t>
            </a:r>
          </a:p>
          <a:p>
            <a:pPr algn="l">
              <a:spcAft>
                <a:spcPts val="1000"/>
              </a:spcAft>
            </a:pPr>
            <a:r>
              <a:rPr sz="1700" b="0">
                <a:solidFill>
                  <a:srgbClr val="222222"/>
                </a:solidFill>
                <a:latin typeface="맑은 고딕"/>
              </a:rPr>
              <a:t>•  V$INSTANCE.STATUS = STARTED</a:t>
            </a:r>
          </a:p>
          <a:p>
            <a:pPr algn="l">
              <a:spcAft>
                <a:spcPts val="1000"/>
              </a:spcAft>
            </a:pPr>
            <a:r>
              <a:rPr sz="1700" b="0">
                <a:solidFill>
                  <a:srgbClr val="222222"/>
                </a:solidFill>
                <a:latin typeface="맑은 고딕"/>
              </a:rPr>
              <a:t>•  실측 SGA 356,512,392바이트 — Primary의 약 1/9</a:t>
            </a:r>
          </a:p>
          <a:p>
            <a:pPr algn="l">
              <a:spcAft>
                <a:spcPts val="1000"/>
              </a:spcAft>
            </a:pPr>
            <a:r>
              <a:rPr sz="1700" b="0">
                <a:solidFill>
                  <a:srgbClr val="222222"/>
                </a:solidFill>
                <a:latin typeface="맑은 고딕"/>
              </a:rPr>
              <a:t>•  spfile로 기동되면 3,221,223,192바이트가 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3장이 여기서 회수된다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정적 등록의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NOMOUNT 인스턴스는 리스너에 동적 등록되지 않는다</a:t>
            </a:r>
          </a:p>
          <a:p>
            <a:pPr algn="l">
              <a:spcAft>
                <a:spcPts val="1000"/>
              </a:spcAft>
            </a:pPr>
            <a:r>
              <a:rPr sz="1700" b="0">
                <a:solidFill>
                  <a:srgbClr val="222222"/>
                </a:solidFill>
                <a:latin typeface="맑은 고딕"/>
              </a:rPr>
              <a:t>•  정적 등록이 없으면 → ORA-12528</a:t>
            </a:r>
          </a:p>
          <a:p>
            <a:pPr algn="l">
              <a:spcAft>
                <a:spcPts val="1000"/>
              </a:spcAft>
            </a:pPr>
            <a:r>
              <a:rPr sz="1700" b="0">
                <a:solidFill>
                  <a:srgbClr val="222222"/>
                </a:solidFill>
                <a:latin typeface="맑은 고딕"/>
              </a:rPr>
              <a:t>•  있으면 → </a:t>
            </a:r>
            <a:r>
              <a:rPr sz="1700" b="0">
                <a:solidFill>
                  <a:srgbClr val="222222"/>
                </a:solidFill>
                <a:latin typeface="Consolas"/>
                <a:cs typeface="Consolas"/>
              </a:rPr>
              <a:t>status UNKNOWN</a:t>
            </a:r>
            <a:r>
              <a:rPr sz="1700" b="0">
                <a:solidFill>
                  <a:srgbClr val="222222"/>
                </a:solidFill>
                <a:latin typeface="맑은 고딕"/>
              </a:rPr>
              <a:t>으로 접속을 넘겨준다</a:t>
            </a:r>
          </a:p>
          <a:p>
            <a:pPr algn="l">
              <a:spcAft>
                <a:spcPts val="1000"/>
              </a:spcAft>
            </a:pPr>
            <a:r>
              <a:rPr sz="1700" b="0">
                <a:solidFill>
                  <a:srgbClr val="222222"/>
                </a:solidFill>
                <a:latin typeface="맑은 고딕"/>
              </a:rPr>
              <a:t>•  Primary에서 </a:t>
            </a:r>
            <a:r>
              <a:rPr sz="1700" b="0">
                <a:solidFill>
                  <a:srgbClr val="222222"/>
                </a:solidFill>
                <a:latin typeface="Consolas"/>
                <a:cs typeface="Consolas"/>
              </a:rPr>
              <a:t>sqlplus "sys/oracle@boston as sysdba"</a:t>
            </a:r>
            <a:r>
              <a:rPr sz="1700" b="0">
                <a:solidFill>
                  <a:srgbClr val="222222"/>
                </a:solidFill>
                <a:latin typeface="맑은 고딕"/>
              </a:rPr>
              <a:t>가 되어야 시작할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DUPLICATE 스크립트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절마다 무엇을 정하는가</a:t>
            </a:r>
          </a:p>
          <a:p>
            <a:pPr algn="l">
              <a:spcAft>
                <a:spcPts val="800"/>
              </a:spcAft>
            </a:pPr>
            <a:r>
              <a:rPr sz="1600" b="0">
                <a:solidFill>
                  <a:srgbClr val="FFFFFF"/>
                </a:solidFill>
                <a:latin typeface="맑은 고딕"/>
              </a:rPr>
              <a:t>•  PARAMETER_VALUE_CONVERT와 SET</a:t>
            </a:r>
          </a:p>
          <a:p>
            <a:pPr algn="l">
              <a:spcAft>
                <a:spcPts val="800"/>
              </a:spcAft>
            </a:pPr>
            <a:r>
              <a:rPr sz="1600" b="0">
                <a:solidFill>
                  <a:srgbClr val="FFFFFF"/>
                </a:solidFill>
                <a:latin typeface="맑은 고딕"/>
              </a:rPr>
              <a:t>•  convert 파라미터의 동작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스크립트의 절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절마다 하나씩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for standby</a:t>
            </a:r>
            <a:r>
              <a:rPr sz="1700" b="0">
                <a:solidFill>
                  <a:srgbClr val="222222"/>
                </a:solidFill>
                <a:latin typeface="맑은 고딕"/>
              </a:rPr>
              <a:t> — DBID 유지, standby 컨트롤 파일</a:t>
            </a:r>
          </a:p>
          <a:p>
            <a:pPr algn="l">
              <a:spcAft>
                <a:spcPts val="1000"/>
              </a:spcAft>
            </a:pPr>
            <a:r>
              <a:rPr sz="1700" b="0">
                <a:solidFill>
                  <a:srgbClr val="222222"/>
                </a:solidFill>
                <a:latin typeface="맑은 고딕"/>
              </a:rPr>
              <a:t>•  </a:t>
            </a:r>
            <a:r>
              <a:rPr sz="1700" b="0">
                <a:solidFill>
                  <a:srgbClr val="222222"/>
                </a:solidFill>
                <a:latin typeface="Consolas"/>
                <a:cs typeface="Consolas"/>
              </a:rPr>
              <a:t>from active database</a:t>
            </a:r>
            <a:r>
              <a:rPr sz="1700" b="0">
                <a:solidFill>
                  <a:srgbClr val="222222"/>
                </a:solidFill>
                <a:latin typeface="맑은 고딕"/>
              </a:rPr>
              <a:t> — 운영 중 Primary에서 직접</a:t>
            </a:r>
          </a:p>
          <a:p>
            <a:pPr algn="l">
              <a:spcAft>
                <a:spcPts val="1000"/>
              </a:spcAft>
            </a:pPr>
            <a:r>
              <a:rPr sz="1700" b="0">
                <a:solidFill>
                  <a:srgbClr val="222222"/>
                </a:solidFill>
                <a:latin typeface="맑은 고딕"/>
              </a:rPr>
              <a:t>•  </a:t>
            </a:r>
            <a:r>
              <a:rPr sz="1700" b="0">
                <a:solidFill>
                  <a:srgbClr val="222222"/>
                </a:solidFill>
                <a:latin typeface="Consolas"/>
                <a:cs typeface="Consolas"/>
              </a:rPr>
              <a:t>DORECOVER</a:t>
            </a:r>
            <a:r>
              <a:rPr sz="1700" b="0">
                <a:solidFill>
                  <a:srgbClr val="222222"/>
                </a:solidFill>
                <a:latin typeface="맑은 고딕"/>
              </a:rPr>
              <a:t> — 복제 후 그 시점까지 복구</a:t>
            </a:r>
          </a:p>
          <a:p>
            <a:pPr algn="l">
              <a:spcAft>
                <a:spcPts val="1000"/>
              </a:spcAft>
            </a:pPr>
            <a:r>
              <a:rPr sz="1700" b="0">
                <a:solidFill>
                  <a:srgbClr val="222222"/>
                </a:solidFill>
                <a:latin typeface="맑은 고딕"/>
              </a:rPr>
              <a:t>•  </a:t>
            </a:r>
            <a:r>
              <a:rPr sz="1700" b="0">
                <a:solidFill>
                  <a:srgbClr val="222222"/>
                </a:solidFill>
                <a:latin typeface="Consolas"/>
                <a:cs typeface="Consolas"/>
              </a:rPr>
              <a:t>spfile</a:t>
            </a:r>
            <a:r>
              <a:rPr sz="1700" b="0">
                <a:solidFill>
                  <a:srgbClr val="222222"/>
                </a:solidFill>
                <a:latin typeface="맑은 고딕"/>
              </a:rPr>
              <a:t> — Primary spfile을 고쳐 Standby용으로</a:t>
            </a:r>
          </a:p>
          <a:p>
            <a:pPr algn="l">
              <a:spcAft>
                <a:spcPts val="1000"/>
              </a:spcAft>
            </a:pPr>
            <a:r>
              <a:rPr sz="1700" b="0">
                <a:solidFill>
                  <a:srgbClr val="222222"/>
                </a:solidFill>
                <a:latin typeface="맑은 고딕"/>
              </a:rPr>
              <a:t>•  </a:t>
            </a:r>
            <a:r>
              <a:rPr sz="1700" b="0">
                <a:solidFill>
                  <a:srgbClr val="222222"/>
                </a:solidFill>
                <a:latin typeface="Consolas"/>
                <a:cs typeface="Consolas"/>
              </a:rPr>
              <a:t>nofilenamecheck</a:t>
            </a:r>
            <a:r>
              <a:rPr sz="1700" b="0">
                <a:solidFill>
                  <a:srgbClr val="222222"/>
                </a:solidFill>
                <a:latin typeface="맑은 고딕"/>
              </a:rPr>
              <a:t> — 이름 충돌 검사 생략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SET DB_NAME = 'chicago'</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왜 같은 값을 다시 쓰는가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PARAMETER_VALUE_CONVERT 'chicago','boston'</a:t>
            </a:r>
            <a:r>
              <a:rPr sz="1700" b="0">
                <a:solidFill>
                  <a:srgbClr val="222222"/>
                </a:solidFill>
                <a:latin typeface="맑은 고딕"/>
              </a:rPr>
              <a:t> — 값 안의 문자열 일괄 치환</a:t>
            </a:r>
          </a:p>
          <a:p>
            <a:pPr algn="l">
              <a:spcAft>
                <a:spcPts val="1000"/>
              </a:spcAft>
            </a:pPr>
            <a:r>
              <a:rPr sz="1700" b="0">
                <a:solidFill>
                  <a:srgbClr val="222222"/>
                </a:solidFill>
                <a:latin typeface="맑은 고딕"/>
              </a:rPr>
              <a:t>•  그 대상에 </a:t>
            </a:r>
            <a:r>
              <a:rPr sz="1700" b="0">
                <a:solidFill>
                  <a:srgbClr val="222222"/>
                </a:solidFill>
                <a:latin typeface="Consolas"/>
                <a:cs typeface="Consolas"/>
              </a:rPr>
              <a:t>db_name</a:t>
            </a:r>
            <a:r>
              <a:rPr sz="1700" b="0">
                <a:solidFill>
                  <a:srgbClr val="222222"/>
                </a:solidFill>
                <a:latin typeface="맑은 고딕"/>
              </a:rPr>
              <a:t>의 값도 포함된다</a:t>
            </a:r>
          </a:p>
          <a:p>
            <a:pPr algn="l">
              <a:spcAft>
                <a:spcPts val="1000"/>
              </a:spcAft>
            </a:pPr>
            <a:r>
              <a:rPr sz="1700" b="0">
                <a:solidFill>
                  <a:srgbClr val="222222"/>
                </a:solidFill>
                <a:latin typeface="맑은 고딕"/>
              </a:rPr>
              <a:t>•  물리 복제본은 DB_NAME이 같아야 하므로 되돌린다</a:t>
            </a:r>
          </a:p>
          <a:p>
            <a:pPr algn="l">
              <a:spcAft>
                <a:spcPts val="1000"/>
              </a:spcAft>
            </a:pPr>
            <a:r>
              <a:rPr sz="1700" b="0">
                <a:solidFill>
                  <a:srgbClr val="222222"/>
                </a:solidFill>
                <a:latin typeface="맑은 고딕"/>
              </a:rPr>
              <a:t>•  둘이 겹치면 </a:t>
            </a:r>
            <a:r>
              <a:rPr sz="1700" b="1">
                <a:solidFill>
                  <a:srgbClr val="222222"/>
                </a:solidFill>
                <a:latin typeface="맑은 고딕"/>
              </a:rPr>
              <a:t>SET이 이긴다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convert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접두만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/u03/.../Chicago/</a:t>
            </a:r>
            <a:r>
              <a:rPr sz="1700" b="0">
                <a:solidFill>
                  <a:srgbClr val="222222"/>
                </a:solidFill>
                <a:latin typeface="맑은 고딕"/>
              </a:rPr>
              <a:t> → </a:t>
            </a:r>
            <a:r>
              <a:rPr sz="1700" b="0">
                <a:solidFill>
                  <a:srgbClr val="222222"/>
                </a:solidFill>
                <a:latin typeface="Consolas"/>
                <a:cs typeface="Consolas"/>
              </a:rPr>
              <a:t>/u03/.../Boston/datafile/</a:t>
            </a:r>
          </a:p>
          <a:p>
            <a:pPr algn="l">
              <a:spcAft>
                <a:spcPts val="1000"/>
              </a:spcAft>
            </a:pPr>
            <a:r>
              <a:rPr sz="1700" b="0">
                <a:solidFill>
                  <a:srgbClr val="222222"/>
                </a:solidFill>
                <a:latin typeface="맑은 고딕"/>
              </a:rPr>
              <a:t>•  </a:t>
            </a:r>
            <a:r>
              <a:rPr sz="1700" b="0">
                <a:solidFill>
                  <a:srgbClr val="222222"/>
                </a:solidFill>
                <a:latin typeface="Consolas"/>
                <a:cs typeface="Consolas"/>
              </a:rPr>
              <a:t>system01.dbf</a:t>
            </a:r>
            <a:r>
              <a:rPr sz="1700" b="0">
                <a:solidFill>
                  <a:srgbClr val="222222"/>
                </a:solidFill>
                <a:latin typeface="맑은 고딕"/>
              </a:rPr>
              <a:t> → </a:t>
            </a:r>
            <a:r>
              <a:rPr sz="1700" b="0">
                <a:solidFill>
                  <a:srgbClr val="222222"/>
                </a:solidFill>
                <a:latin typeface="Consolas"/>
                <a:cs typeface="Consolas"/>
              </a:rPr>
              <a:t>Boston/datafile/system01.dbf</a:t>
            </a:r>
          </a:p>
          <a:p>
            <a:pPr algn="l">
              <a:spcAft>
                <a:spcPts val="1000"/>
              </a:spcAft>
            </a:pPr>
            <a:r>
              <a:rPr sz="1700" b="0">
                <a:solidFill>
                  <a:srgbClr val="222222"/>
                </a:solidFill>
                <a:latin typeface="맑은 고딕"/>
              </a:rPr>
              <a:t>•  </a:t>
            </a:r>
            <a:r>
              <a:rPr sz="1700" b="0">
                <a:solidFill>
                  <a:srgbClr val="222222"/>
                </a:solidFill>
                <a:latin typeface="Consolas"/>
                <a:cs typeface="Consolas"/>
              </a:rPr>
              <a:t>chicago_pdb1/users01.dbf</a:t>
            </a:r>
            <a:r>
              <a:rPr sz="1700" b="0">
                <a:solidFill>
                  <a:srgbClr val="222222"/>
                </a:solidFill>
                <a:latin typeface="맑은 고딕"/>
              </a:rPr>
              <a:t> → </a:t>
            </a:r>
            <a:r>
              <a:rPr sz="1700" b="0">
                <a:solidFill>
                  <a:srgbClr val="222222"/>
                </a:solidFill>
                <a:latin typeface="Consolas"/>
                <a:cs typeface="Consolas"/>
              </a:rPr>
              <a:t>Boston/datafile/chicago_pdb1/users01.dbf</a:t>
            </a:r>
          </a:p>
          <a:p>
            <a:pPr algn="l">
              <a:spcAft>
                <a:spcPts val="1000"/>
              </a:spcAft>
            </a:pPr>
            <a:r>
              <a:rPr sz="1700" b="0">
                <a:solidFill>
                  <a:srgbClr val="222222"/>
                </a:solidFill>
                <a:latin typeface="맑은 고딕"/>
              </a:rPr>
              <a:t>•  로그는 목적지가 다르다 → </a:t>
            </a:r>
            <a:r>
              <a:rPr sz="1700" b="0">
                <a:solidFill>
                  <a:srgbClr val="222222"/>
                </a:solidFill>
                <a:latin typeface="Consolas"/>
                <a:cs typeface="Consolas"/>
              </a:rPr>
              <a:t>Boston/onlinelog/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실패 두 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첫 번째 — convert가 없으면</a:t>
            </a:r>
          </a:p>
          <a:p>
            <a:pPr algn="l">
              <a:spcAft>
                <a:spcPts val="800"/>
              </a:spcAft>
            </a:pPr>
            <a:r>
              <a:rPr sz="1600" b="0">
                <a:solidFill>
                  <a:srgbClr val="FFFFFF"/>
                </a:solidFill>
                <a:latin typeface="맑은 고딕"/>
              </a:rPr>
              <a:t>•  두 번째 — 디렉터리가 없으면</a:t>
            </a:r>
          </a:p>
          <a:p>
            <a:pPr algn="l">
              <a:spcAft>
                <a:spcPts val="800"/>
              </a:spcAft>
            </a:pPr>
            <a:r>
              <a:rPr sz="1600" b="0">
                <a:solidFill>
                  <a:srgbClr val="FFFFFF"/>
                </a:solidFill>
                <a:latin typeface="맑은 고딕"/>
              </a:rPr>
              <a:t>•  오류 스택 읽는 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첫 번째 실패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RMAN-05538 → RMAN-05001 ×11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경고 : </a:t>
            </a:r>
            <a:r>
              <a:rPr sz="1700" b="0">
                <a:solidFill>
                  <a:srgbClr val="222222"/>
                </a:solidFill>
                <a:latin typeface="Consolas"/>
                <a:cs typeface="Consolas"/>
              </a:rPr>
              <a:t>warning: implicitly using DB_FILE_NAME_CONVERT</a:t>
            </a:r>
          </a:p>
          <a:p>
            <a:pPr algn="l">
              <a:spcAft>
                <a:spcPts val="1000"/>
              </a:spcAft>
            </a:pPr>
            <a:r>
              <a:rPr sz="1700" b="0">
                <a:solidFill>
                  <a:srgbClr val="222222"/>
                </a:solidFill>
                <a:latin typeface="맑은 고딕"/>
              </a:rPr>
              <a:t>•  오류 : </a:t>
            </a:r>
            <a:r>
              <a:rPr sz="1700" b="0">
                <a:solidFill>
                  <a:srgbClr val="222222"/>
                </a:solidFill>
                <a:latin typeface="Consolas"/>
                <a:cs typeface="Consolas"/>
              </a:rPr>
              <a:t>auxiliary file name ... conflicts with a file used by the target database</a:t>
            </a:r>
          </a:p>
          <a:p>
            <a:pPr algn="l">
              <a:spcAft>
                <a:spcPts val="1000"/>
              </a:spcAft>
            </a:pPr>
            <a:r>
              <a:rPr sz="1700" b="0">
                <a:solidFill>
                  <a:srgbClr val="222222"/>
                </a:solidFill>
                <a:latin typeface="맑은 고딕"/>
              </a:rPr>
              <a:t>•  경로가 </a:t>
            </a:r>
            <a:r>
              <a:rPr sz="1700" b="1">
                <a:solidFill>
                  <a:srgbClr val="222222"/>
                </a:solidFill>
                <a:latin typeface="맑은 고딕"/>
              </a:rPr>
              <a:t>Chicago</a:t>
            </a:r>
            <a:r>
              <a:rPr sz="1700" b="0">
                <a:solidFill>
                  <a:srgbClr val="222222"/>
                </a:solidFill>
                <a:latin typeface="맑은 고딕"/>
              </a:rPr>
              <a:t>다 — 변환이 전혀 없었다</a:t>
            </a:r>
          </a:p>
          <a:p>
            <a:pPr algn="l">
              <a:spcAft>
                <a:spcPts val="1000"/>
              </a:spcAft>
            </a:pPr>
            <a:r>
              <a:rPr sz="1700" b="0">
                <a:solidFill>
                  <a:srgbClr val="222222"/>
                </a:solidFill>
                <a:latin typeface="맑은 고딕"/>
              </a:rPr>
              <a:t>•  파일 열한 개마다 한 줄씩, 총 11줄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여기서 하는 오해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"검사를 끄면 되겠다"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NOFILENAMECHECK를 넣으면 검사는 통과한다</a:t>
            </a:r>
          </a:p>
          <a:p>
            <a:pPr algn="l">
              <a:spcAft>
                <a:spcPts val="1000"/>
              </a:spcAft>
            </a:pPr>
            <a:r>
              <a:rPr sz="1700" b="0">
                <a:solidFill>
                  <a:srgbClr val="222222"/>
                </a:solidFill>
                <a:latin typeface="맑은 고딕"/>
              </a:rPr>
              <a:t>•  그러나 경로는 여전히 Chicago다</a:t>
            </a:r>
          </a:p>
          <a:p>
            <a:pPr algn="l">
              <a:spcAft>
                <a:spcPts val="1000"/>
              </a:spcAft>
            </a:pPr>
            <a:r>
              <a:rPr sz="1700" b="0">
                <a:solidFill>
                  <a:srgbClr val="222222"/>
                </a:solidFill>
                <a:latin typeface="맑은 고딕"/>
              </a:rPr>
              <a:t>•  결과 : </a:t>
            </a:r>
            <a:r>
              <a:rPr sz="1700" b="1">
                <a:solidFill>
                  <a:srgbClr val="222222"/>
                </a:solidFill>
                <a:latin typeface="맑은 고딕"/>
              </a:rPr>
              <a:t>Primary 데이터 파일을 실제로 덮어쓴다</a:t>
            </a:r>
          </a:p>
          <a:p>
            <a:pPr algn="l">
              <a:spcAft>
                <a:spcPts val="1000"/>
              </a:spcAft>
            </a:pPr>
            <a:r>
              <a:rPr sz="1700" b="0">
                <a:solidFill>
                  <a:srgbClr val="222222"/>
                </a:solidFill>
                <a:latin typeface="맑은 고딕"/>
              </a:rPr>
              <a:t>•  올바른 조치는 convert 파라미터를 넣는 것</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번째 실패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ORA-17628 + ORA-19505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올바른 스크립트인데도 실패했다</a:t>
            </a:r>
          </a:p>
          <a:p>
            <a:pPr algn="l">
              <a:spcAft>
                <a:spcPts val="1000"/>
              </a:spcAft>
            </a:pPr>
            <a:r>
              <a:rPr sz="1700" b="0">
                <a:solidFill>
                  <a:srgbClr val="222222"/>
                </a:solidFill>
                <a:latin typeface="맑은 고딕"/>
              </a:rPr>
              <a:t>•  1·3·4번 파일은 output이 나왔다 — 성공</a:t>
            </a:r>
          </a:p>
          <a:p>
            <a:pPr algn="l">
              <a:spcAft>
                <a:spcPts val="1000"/>
              </a:spcAft>
            </a:pPr>
            <a:r>
              <a:rPr sz="1700" b="0">
                <a:solidFill>
                  <a:srgbClr val="222222"/>
                </a:solidFill>
                <a:latin typeface="맑은 고딕"/>
              </a:rPr>
              <a:t>•  6번(</a:t>
            </a:r>
            <a:r>
              <a:rPr sz="1700" b="0">
                <a:solidFill>
                  <a:srgbClr val="222222"/>
                </a:solidFill>
                <a:latin typeface="Consolas"/>
                <a:cs typeface="Consolas"/>
              </a:rPr>
              <a:t>pdbseed/sysaux01.dbf</a:t>
            </a:r>
            <a:r>
              <a:rPr sz="1700" b="0">
                <a:solidFill>
                  <a:srgbClr val="222222"/>
                </a:solidFill>
                <a:latin typeface="맑은 고딕"/>
              </a:rPr>
              <a:t>)에서 멈췄다</a:t>
            </a:r>
          </a:p>
          <a:p>
            <a:pPr algn="l">
              <a:spcAft>
                <a:spcPts val="1000"/>
              </a:spcAft>
            </a:pPr>
            <a:r>
              <a:rPr sz="1700" b="0">
                <a:solidFill>
                  <a:srgbClr val="222222"/>
                </a:solidFill>
                <a:latin typeface="맑은 고딕"/>
              </a:rPr>
              <a:t>•  공통점 : 실패한 파일은 </a:t>
            </a:r>
            <a:r>
              <a:rPr sz="1700" b="1">
                <a:solidFill>
                  <a:srgbClr val="222222"/>
                </a:solidFill>
                <a:latin typeface="맑은 고딕"/>
              </a:rPr>
              <a:t>하위 디렉터리 아래</a:t>
            </a:r>
            <a:r>
              <a:rPr sz="1700" b="0">
                <a:solidFill>
                  <a:srgbClr val="222222"/>
                </a:solidFill>
                <a:latin typeface="맑은 고딕"/>
              </a:rPr>
              <a:t>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빈 따옴표의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Consolas"/>
                <a:cs typeface="Consolas"/>
              </a:rPr>
              <a:t>failed to identify file ""</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어느 파일인지 알려 주지 않는다</a:t>
            </a:r>
          </a:p>
          <a:p>
            <a:pPr algn="l">
              <a:spcAft>
                <a:spcPts val="1000"/>
              </a:spcAft>
            </a:pPr>
            <a:r>
              <a:rPr sz="1700" b="0">
                <a:solidFill>
                  <a:srgbClr val="222222"/>
                </a:solidFill>
                <a:latin typeface="맑은 고딕"/>
              </a:rPr>
              <a:t>•  해법 : 로그에서 </a:t>
            </a:r>
            <a:r>
              <a:rPr sz="1700" b="1">
                <a:solidFill>
                  <a:srgbClr val="222222"/>
                </a:solidFill>
                <a:latin typeface="맑은 고딕"/>
              </a:rPr>
              <a:t>바로 앞의 input datafile 줄</a:t>
            </a:r>
            <a:r>
              <a:rPr sz="1700" b="0">
                <a:solidFill>
                  <a:srgbClr val="222222"/>
                </a:solidFill>
                <a:latin typeface="맑은 고딕"/>
              </a:rPr>
              <a:t>을 본다</a:t>
            </a:r>
          </a:p>
          <a:p>
            <a:pPr algn="l">
              <a:spcAft>
                <a:spcPts val="1000"/>
              </a:spcAft>
            </a:pPr>
            <a:r>
              <a:rPr sz="1700" b="0">
                <a:solidFill>
                  <a:srgbClr val="222222"/>
                </a:solidFill>
                <a:latin typeface="맑은 고딕"/>
              </a:rPr>
              <a:t>•  286번 줄 : </a:t>
            </a:r>
            <a:r>
              <a:rPr sz="1700" b="0">
                <a:solidFill>
                  <a:srgbClr val="222222"/>
                </a:solidFill>
                <a:latin typeface="Consolas"/>
                <a:cs typeface="Consolas"/>
              </a:rPr>
              <a:t>input datafile file number=00006 ... pdbseed/sysaux01.dbf</a:t>
            </a:r>
          </a:p>
          <a:p>
            <a:pPr algn="l">
              <a:spcAft>
                <a:spcPts val="1000"/>
              </a:spcAft>
            </a:pPr>
            <a:r>
              <a:rPr sz="1700" b="0">
                <a:solidFill>
                  <a:srgbClr val="222222"/>
                </a:solidFill>
                <a:latin typeface="맑은 고딕"/>
              </a:rPr>
              <a:t>•  287번 줄 : 오류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스택은 아래에서 위로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안쪽이 원인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ORA-19505 — 진짜 원인. 파일을 만들 수 없다</a:t>
            </a:r>
          </a:p>
          <a:p>
            <a:pPr algn="l">
              <a:spcAft>
                <a:spcPts val="1000"/>
              </a:spcAft>
            </a:pPr>
            <a:r>
              <a:rPr sz="1700" b="0">
                <a:solidFill>
                  <a:srgbClr val="222222"/>
                </a:solidFill>
                <a:latin typeface="맑은 고딕"/>
              </a:rPr>
              <a:t>•  ORA-17628 — 방향. </a:t>
            </a:r>
            <a:r>
              <a:rPr sz="1700" b="1">
                <a:solidFill>
                  <a:srgbClr val="222222"/>
                </a:solidFill>
                <a:latin typeface="맑은 고딕"/>
              </a:rPr>
              <a:t>원격(Standby) 쪽</a:t>
            </a:r>
            <a:r>
              <a:rPr sz="1700" b="0">
                <a:solidFill>
                  <a:srgbClr val="222222"/>
                </a:solidFill>
                <a:latin typeface="맑은 고딕"/>
              </a:rPr>
              <a:t> 오류다</a:t>
            </a:r>
          </a:p>
          <a:p>
            <a:pPr algn="l">
              <a:spcAft>
                <a:spcPts val="1000"/>
              </a:spcAft>
            </a:pPr>
            <a:r>
              <a:rPr sz="1700" b="0">
                <a:solidFill>
                  <a:srgbClr val="222222"/>
                </a:solidFill>
                <a:latin typeface="맑은 고딕"/>
              </a:rPr>
              <a:t>•  RMAN-03009 — 위치와 시각. c2 채널, 09:21:47</a:t>
            </a:r>
          </a:p>
          <a:p>
            <a:pPr algn="l">
              <a:spcAft>
                <a:spcPts val="1000"/>
              </a:spcAft>
            </a:pPr>
            <a:r>
              <a:rPr sz="1700" b="0">
                <a:solidFill>
                  <a:srgbClr val="222222"/>
                </a:solidFill>
                <a:latin typeface="맑은 고딕"/>
              </a:rPr>
              <a:t>•  RMAN-05501 / RMAN-03002 — 결과 통보일 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실패의 대조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성격이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첫 번째 : 전송 </a:t>
            </a:r>
            <a:r>
              <a:rPr sz="1700" b="1">
                <a:solidFill>
                  <a:srgbClr val="222222"/>
                </a:solidFill>
                <a:latin typeface="맑은 고딕"/>
              </a:rPr>
              <a:t>전</a:t>
            </a:r>
            <a:r>
              <a:rPr sz="1700" b="0">
                <a:solidFill>
                  <a:srgbClr val="222222"/>
                </a:solidFill>
                <a:latin typeface="맑은 고딕"/>
              </a:rPr>
              <a:t>에 막힘 — 남은 파일 없음</a:t>
            </a:r>
          </a:p>
          <a:p>
            <a:pPr algn="l">
              <a:spcAft>
                <a:spcPts val="1000"/>
              </a:spcAft>
            </a:pPr>
            <a:r>
              <a:rPr sz="1700" b="0">
                <a:solidFill>
                  <a:srgbClr val="222222"/>
                </a:solidFill>
                <a:latin typeface="맑은 고딕"/>
              </a:rPr>
              <a:t>•  두 번째 : 전송 </a:t>
            </a:r>
            <a:r>
              <a:rPr sz="1700" b="1">
                <a:solidFill>
                  <a:srgbClr val="222222"/>
                </a:solidFill>
                <a:latin typeface="맑은 고딕"/>
              </a:rPr>
              <a:t>도중</a:t>
            </a:r>
            <a:r>
              <a:rPr sz="1700" b="0">
                <a:solidFill>
                  <a:srgbClr val="222222"/>
                </a:solidFill>
                <a:latin typeface="맑은 고딕"/>
              </a:rPr>
              <a:t> 막힘 — 일부 파일이 남는다</a:t>
            </a:r>
          </a:p>
          <a:p>
            <a:pPr algn="l">
              <a:spcAft>
                <a:spcPts val="1000"/>
              </a:spcAft>
            </a:pPr>
            <a:r>
              <a:rPr sz="1700" b="0">
                <a:solidFill>
                  <a:srgbClr val="222222"/>
                </a:solidFill>
                <a:latin typeface="맑은 고딕"/>
              </a:rPr>
              <a:t>•  첫 번째는 스크립트 문제, 두 번째는 환경 문제</a:t>
            </a:r>
          </a:p>
          <a:p>
            <a:pPr algn="l">
              <a:spcAft>
                <a:spcPts val="1000"/>
              </a:spcAft>
            </a:pPr>
            <a:r>
              <a:rPr sz="1700" b="0">
                <a:solidFill>
                  <a:srgbClr val="222222"/>
                </a:solidFill>
                <a:latin typeface="맑은 고딕"/>
              </a:rPr>
              <a:t>•  두 경우 모두 Primary는 무사하다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성공한 DUPLICATE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성공의 세 조건</a:t>
            </a:r>
          </a:p>
          <a:p>
            <a:pPr algn="l">
              <a:spcAft>
                <a:spcPts val="800"/>
              </a:spcAft>
            </a:pPr>
            <a:r>
              <a:rPr sz="1600" b="0">
                <a:solidFill>
                  <a:srgbClr val="FFFFFF"/>
                </a:solidFill>
                <a:latin typeface="맑은 고딕"/>
              </a:rPr>
              <a:t>•  로그 읽는 순서</a:t>
            </a:r>
          </a:p>
          <a:p>
            <a:pPr algn="l">
              <a:spcAft>
                <a:spcPts val="800"/>
              </a:spcAft>
            </a:pPr>
            <a:r>
              <a:rPr sz="1600" b="0">
                <a:solidFill>
                  <a:srgbClr val="FFFFFF"/>
                </a:solidFill>
                <a:latin typeface="맑은 고딕"/>
              </a:rPr>
              <a:t>•  MRP 자동 기동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성공의 세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이것만 보면 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rc=0</a:t>
            </a:r>
            <a:r>
              <a:rPr sz="1700" b="0">
                <a:solidFill>
                  <a:srgbClr val="222222"/>
                </a:solidFill>
                <a:latin typeface="맑은 고딕"/>
              </a:rPr>
              <a:t> — 종료 코드</a:t>
            </a:r>
          </a:p>
          <a:p>
            <a:pPr algn="l">
              <a:spcAft>
                <a:spcPts val="1000"/>
              </a:spcAft>
            </a:pPr>
            <a:r>
              <a:rPr sz="1700" b="0">
                <a:solidFill>
                  <a:srgbClr val="222222"/>
                </a:solidFill>
                <a:latin typeface="맑은 고딕"/>
              </a:rPr>
              <a:t>•  </a:t>
            </a:r>
            <a:r>
              <a:rPr sz="1700" b="0">
                <a:solidFill>
                  <a:srgbClr val="222222"/>
                </a:solidFill>
                <a:latin typeface="Consolas"/>
                <a:cs typeface="Consolas"/>
              </a:rPr>
              <a:t>grep -cE 'RMAN-|ORA-'</a:t>
            </a:r>
            <a:r>
              <a:rPr sz="1700" b="0">
                <a:solidFill>
                  <a:srgbClr val="222222"/>
                </a:solidFill>
                <a:latin typeface="맑은 고딕"/>
              </a:rPr>
              <a:t> = </a:t>
            </a:r>
            <a:r>
              <a:rPr sz="1700" b="1">
                <a:solidFill>
                  <a:srgbClr val="222222"/>
                </a:solidFill>
                <a:latin typeface="맑은 고딕"/>
              </a:rPr>
              <a:t>0</a:t>
            </a:r>
          </a:p>
          <a:p>
            <a:pPr algn="l">
              <a:spcAft>
                <a:spcPts val="1000"/>
              </a:spcAft>
            </a:pPr>
            <a:r>
              <a:rPr sz="1700" b="0">
                <a:solidFill>
                  <a:srgbClr val="222222"/>
                </a:solidFill>
                <a:latin typeface="맑은 고딕"/>
              </a:rPr>
              <a:t>•  </a:t>
            </a:r>
            <a:r>
              <a:rPr sz="1700" b="0">
                <a:solidFill>
                  <a:srgbClr val="222222"/>
                </a:solidFill>
                <a:latin typeface="Consolas"/>
                <a:cs typeface="Consolas"/>
              </a:rPr>
              <a:t>Finished Duplicate Db</a:t>
            </a:r>
            <a:r>
              <a:rPr sz="1700" b="0">
                <a:solidFill>
                  <a:srgbClr val="222222"/>
                </a:solidFill>
                <a:latin typeface="맑은 고딕"/>
              </a:rPr>
              <a:t> 존재</a:t>
            </a:r>
          </a:p>
          <a:p>
            <a:pPr algn="l">
              <a:spcAft>
                <a:spcPts val="1000"/>
              </a:spcAft>
            </a:pPr>
            <a:r>
              <a:rPr sz="1700" b="0">
                <a:solidFill>
                  <a:srgbClr val="222222"/>
                </a:solidFill>
                <a:latin typeface="맑은 고딕"/>
              </a:rPr>
              <a:t>•  실측 : 418줄 로그, 54번 Starting, 413번 Finished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로그의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어디서 무엇이 일어나는가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~53 : 접속과 채널 할당</a:t>
            </a:r>
          </a:p>
          <a:p>
            <a:pPr algn="l">
              <a:spcAft>
                <a:spcPts val="1000"/>
              </a:spcAft>
            </a:pPr>
            <a:r>
              <a:rPr sz="1700" b="0">
                <a:solidFill>
                  <a:srgbClr val="222222"/>
                </a:solidFill>
                <a:latin typeface="맑은 고딕"/>
              </a:rPr>
              <a:t>•  ~230 : spfile 생성, standby 컨트롤 파일 복원</a:t>
            </a:r>
          </a:p>
          <a:p>
            <a:pPr algn="l">
              <a:spcAft>
                <a:spcPts val="1000"/>
              </a:spcAft>
            </a:pPr>
            <a:r>
              <a:rPr sz="1700" b="0">
                <a:solidFill>
                  <a:srgbClr val="222222"/>
                </a:solidFill>
                <a:latin typeface="맑은 고딕"/>
              </a:rPr>
              <a:t>•  276~400 : 데이터 파일 11개 전송 — 로그의 30%</a:t>
            </a:r>
          </a:p>
          <a:p>
            <a:pPr algn="l">
              <a:spcAft>
                <a:spcPts val="1000"/>
              </a:spcAft>
            </a:pPr>
            <a:r>
              <a:rPr sz="1700" b="0">
                <a:solidFill>
                  <a:srgbClr val="222222"/>
                </a:solidFill>
                <a:latin typeface="맑은 고딕"/>
              </a:rPr>
              <a:t>•  ~410 : DORECOVER — 아카이브 적용 후 삭제</a:t>
            </a:r>
          </a:p>
          <a:p>
            <a:pPr algn="l">
              <a:spcAft>
                <a:spcPts val="1000"/>
              </a:spcAft>
            </a:pPr>
            <a:r>
              <a:rPr sz="1700" b="0">
                <a:solidFill>
                  <a:srgbClr val="222222"/>
                </a:solidFill>
                <a:latin typeface="맑은 고딕"/>
              </a:rPr>
              <a:t>•  413~418 : 완료와 채널 해제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MRP가 이미 돌고 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channel sby 절의 효과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로그 끝 : </a:t>
            </a:r>
            <a:r>
              <a:rPr sz="1700" b="0">
                <a:solidFill>
                  <a:srgbClr val="222222"/>
                </a:solidFill>
                <a:latin typeface="Consolas"/>
                <a:cs typeface="Consolas"/>
              </a:rPr>
              <a:t>sql statement: alter database recover managed standby database ...</a:t>
            </a:r>
          </a:p>
          <a:p>
            <a:pPr algn="l">
              <a:spcAft>
                <a:spcPts val="1000"/>
              </a:spcAft>
            </a:pPr>
            <a:r>
              <a:rPr sz="1700" b="0">
                <a:solidFill>
                  <a:srgbClr val="222222"/>
                </a:solidFill>
                <a:latin typeface="맑은 고딕"/>
              </a:rPr>
              <a:t>•  복제 종료와 동시에 MRP 기동</a:t>
            </a:r>
          </a:p>
          <a:p>
            <a:pPr algn="l">
              <a:spcAft>
                <a:spcPts val="1000"/>
              </a:spcAft>
            </a:pPr>
            <a:r>
              <a:rPr sz="1700" b="0">
                <a:solidFill>
                  <a:srgbClr val="222222"/>
                </a:solidFill>
                <a:latin typeface="맑은 고딕"/>
              </a:rPr>
              <a:t>•  실측 : MRP0 / WAIT_FOR_LOG / 시퀀스 58</a:t>
            </a:r>
          </a:p>
          <a:p>
            <a:pPr algn="l">
              <a:spcAft>
                <a:spcPts val="1000"/>
              </a:spcAft>
            </a:pPr>
            <a:r>
              <a:rPr sz="1700" b="0">
                <a:solidFill>
                  <a:srgbClr val="222222"/>
                </a:solidFill>
                <a:latin typeface="맑은 고딕"/>
              </a:rPr>
              <a:t>•  별도로 MRP를 띄울 필요가 없다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결과 검증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DBID 대조</a:t>
            </a:r>
          </a:p>
          <a:p>
            <a:pPr algn="l">
              <a:spcAft>
                <a:spcPts val="800"/>
              </a:spcAft>
            </a:pPr>
            <a:r>
              <a:rPr sz="1600" b="0">
                <a:solidFill>
                  <a:srgbClr val="FFFFFF"/>
                </a:solidFill>
                <a:latin typeface="맑은 고딕"/>
              </a:rPr>
              <a:t>•  파일 목록 대조</a:t>
            </a:r>
          </a:p>
          <a:p>
            <a:pPr algn="l">
              <a:spcAft>
                <a:spcPts val="800"/>
              </a:spcAft>
            </a:pPr>
            <a:r>
              <a:rPr sz="1600" b="0">
                <a:solidFill>
                  <a:srgbClr val="FFFFFF"/>
                </a:solidFill>
                <a:latin typeface="맑은 고딕"/>
              </a:rPr>
              <a:t>•  ADG 전환과 동기화 확인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복제 직후는 아직 ADG가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OPEN_MODE = MOUNTED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DBID 1852041610 · ROLE PHYSICAL STANDBY · CONTROLFILE_TYPE STANDBY</a:t>
            </a:r>
          </a:p>
          <a:p>
            <a:pPr algn="l">
              <a:spcAft>
                <a:spcPts val="1000"/>
              </a:spcAft>
            </a:pPr>
            <a:r>
              <a:rPr sz="1700" b="0">
                <a:solidFill>
                  <a:srgbClr val="222222"/>
                </a:solidFill>
                <a:latin typeface="맑은 고딕"/>
              </a:rPr>
              <a:t>•  그러나 OPEN_MODE는 </a:t>
            </a:r>
            <a:r>
              <a:rPr sz="1700" b="1">
                <a:solidFill>
                  <a:srgbClr val="222222"/>
                </a:solidFill>
                <a:latin typeface="맑은 고딕"/>
              </a:rPr>
              <a:t>MOUNTED</a:t>
            </a:r>
          </a:p>
          <a:p>
            <a:pPr algn="l">
              <a:spcAft>
                <a:spcPts val="1000"/>
              </a:spcAft>
            </a:pPr>
            <a:r>
              <a:rPr sz="1700" b="0">
                <a:solidFill>
                  <a:srgbClr val="222222"/>
                </a:solidFill>
                <a:latin typeface="맑은 고딕"/>
              </a:rPr>
              <a:t>•  적용은 되지만 조회는 불가능하다</a:t>
            </a:r>
          </a:p>
          <a:p>
            <a:pPr algn="l">
              <a:spcAft>
                <a:spcPts val="1000"/>
              </a:spcAft>
            </a:pPr>
            <a:r>
              <a:rPr sz="1700" b="0">
                <a:solidFill>
                  <a:srgbClr val="222222"/>
                </a:solidFill>
                <a:latin typeface="맑은 고딕"/>
              </a:rPr>
              <a:t>•  READ ONLY로 열어야 READ ONLY WITH APPLY가 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가이드의 결함 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ORA-32002와 누락된 한 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CREATE SPFILE FROM MEMORY</a:t>
            </a:r>
            <a:r>
              <a:rPr sz="1700" b="0">
                <a:solidFill>
                  <a:srgbClr val="222222"/>
                </a:solidFill>
                <a:latin typeface="맑은 고딕"/>
              </a:rPr>
              <a:t> → </a:t>
            </a:r>
            <a:r>
              <a:rPr sz="1700" b="1">
                <a:solidFill>
                  <a:srgbClr val="222222"/>
                </a:solidFill>
                <a:latin typeface="맑은 고딕"/>
              </a:rPr>
              <a:t>ORA-32002</a:t>
            </a:r>
          </a:p>
          <a:p>
            <a:pPr algn="l">
              <a:spcAft>
                <a:spcPts val="1000"/>
              </a:spcAft>
            </a:pPr>
            <a:r>
              <a:rPr sz="1700" b="0">
                <a:solidFill>
                  <a:srgbClr val="222222"/>
                </a:solidFill>
                <a:latin typeface="맑은 고딕"/>
              </a:rPr>
              <a:t>•  이미 spfile로 돌고 있다 — SPFILE 절이 만들었다</a:t>
            </a:r>
          </a:p>
          <a:p>
            <a:pPr algn="l">
              <a:spcAft>
                <a:spcPts val="1000"/>
              </a:spcAft>
            </a:pPr>
            <a:r>
              <a:rPr sz="1700" b="0">
                <a:solidFill>
                  <a:srgbClr val="222222"/>
                </a:solidFill>
                <a:latin typeface="맑은 고딕"/>
              </a:rPr>
              <a:t>•  가이드에 </a:t>
            </a:r>
            <a:r>
              <a:rPr sz="1700" b="0">
                <a:solidFill>
                  <a:srgbClr val="222222"/>
                </a:solidFill>
                <a:latin typeface="Consolas"/>
                <a:cs typeface="Consolas"/>
              </a:rPr>
              <a:t>ALTER PLUGGABLE DATABASE ... OPEN READ ONLY</a:t>
            </a:r>
            <a:r>
              <a:rPr sz="1700" b="0">
                <a:solidFill>
                  <a:srgbClr val="222222"/>
                </a:solidFill>
                <a:latin typeface="맑은 고딕"/>
              </a:rPr>
              <a:t>가 </a:t>
            </a:r>
            <a:r>
              <a:rPr sz="1700" b="1">
                <a:solidFill>
                  <a:srgbClr val="222222"/>
                </a:solidFill>
                <a:latin typeface="맑은 고딕"/>
              </a:rPr>
              <a:t>없다</a:t>
            </a:r>
          </a:p>
          <a:p>
            <a:pPr algn="l">
              <a:spcAft>
                <a:spcPts val="1000"/>
              </a:spcAft>
            </a:pPr>
            <a:r>
              <a:rPr sz="1700" b="0">
                <a:solidFill>
                  <a:srgbClr val="222222"/>
                </a:solidFill>
                <a:latin typeface="맑은 고딕"/>
              </a:rPr>
              <a:t>•  CDB를 열어도 PDB는 열리지 않는다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대조표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열네 항목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DBID · DB_NAME · DB_UNIQUE_NAME · ROLE · CONTROLFILE_TYPE</a:t>
            </a:r>
          </a:p>
          <a:p>
            <a:pPr algn="l">
              <a:spcAft>
                <a:spcPts val="1000"/>
              </a:spcAft>
            </a:pPr>
            <a:r>
              <a:rPr sz="1700" b="0">
                <a:solidFill>
                  <a:srgbClr val="222222"/>
                </a:solidFill>
                <a:latin typeface="맑은 고딕"/>
              </a:rPr>
              <a:t>•  데이터 파일 개수 11 · 번호 동일 · 경로 접두만 변경</a:t>
            </a:r>
          </a:p>
          <a:p>
            <a:pPr algn="l">
              <a:spcAft>
                <a:spcPts val="1000"/>
              </a:spcAft>
            </a:pPr>
            <a:r>
              <a:rPr sz="1700" b="0">
                <a:solidFill>
                  <a:srgbClr val="222222"/>
                </a:solidFill>
                <a:latin typeface="맑은 고딕"/>
              </a:rPr>
              <a:t>•  온라인 3그룹 · SRL 4그룹 · PDB 두 개 READ ONLY</a:t>
            </a:r>
          </a:p>
          <a:p>
            <a:pPr algn="l">
              <a:spcAft>
                <a:spcPts val="1000"/>
              </a:spcAft>
            </a:pPr>
            <a:r>
              <a:rPr sz="1700" b="0">
                <a:solidFill>
                  <a:srgbClr val="222222"/>
                </a:solidFill>
                <a:latin typeface="맑은 고딕"/>
              </a:rPr>
              <a:t>•  transport lag 0 · apply lag 0 · dest 1,2 VALID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동기화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숫자가 움직이는 것을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Primary에서 </a:t>
            </a:r>
            <a:r>
              <a:rPr sz="1700" b="0">
                <a:solidFill>
                  <a:srgbClr val="222222"/>
                </a:solidFill>
                <a:latin typeface="Consolas"/>
                <a:cs typeface="Consolas"/>
              </a:rPr>
              <a:t>ALTER SYSTEM ARCHIVE LOG CURRENT</a:t>
            </a:r>
          </a:p>
          <a:p>
            <a:pPr algn="l">
              <a:spcAft>
                <a:spcPts val="1000"/>
              </a:spcAft>
            </a:pPr>
            <a:r>
              <a:rPr sz="1700" b="0">
                <a:solidFill>
                  <a:srgbClr val="222222"/>
                </a:solidFill>
                <a:latin typeface="맑은 고딕"/>
              </a:rPr>
              <a:t>•  transport lag / apply lag = </a:t>
            </a:r>
            <a:r>
              <a:rPr sz="1700" b="0">
                <a:solidFill>
                  <a:srgbClr val="222222"/>
                </a:solidFill>
                <a:latin typeface="Consolas"/>
                <a:cs typeface="Consolas"/>
              </a:rPr>
              <a:t>+00 00:00:00</a:t>
            </a:r>
          </a:p>
          <a:p>
            <a:pPr algn="l">
              <a:spcAft>
                <a:spcPts val="1000"/>
              </a:spcAft>
            </a:pPr>
            <a:r>
              <a:rPr sz="1700" b="0">
                <a:solidFill>
                  <a:srgbClr val="222222"/>
                </a:solidFill>
                <a:latin typeface="맑은 고딕"/>
              </a:rPr>
              <a:t>•  MRP0 상태가 WAIT_FOR_LOG → </a:t>
            </a:r>
            <a:r>
              <a:rPr sz="1700" b="1">
                <a:solidFill>
                  <a:srgbClr val="222222"/>
                </a:solidFill>
                <a:latin typeface="맑은 고딕"/>
              </a:rPr>
              <a:t>APPLYING_LOG</a:t>
            </a:r>
          </a:p>
          <a:p>
            <a:pPr algn="l">
              <a:spcAft>
                <a:spcPts val="1000"/>
              </a:spcAft>
            </a:pPr>
            <a:r>
              <a:rPr sz="1700" b="0">
                <a:solidFill>
                  <a:srgbClr val="222222"/>
                </a:solidFill>
                <a:latin typeface="맑은 고딕"/>
              </a:rPr>
              <a:t>•  시퀀스 58 → 59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DBMS_DBCOMP로 블록 비교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두 번째 인자의 정체</a:t>
            </a:r>
          </a:p>
          <a:p>
            <a:pPr algn="l">
              <a:spcAft>
                <a:spcPts val="800"/>
              </a:spcAft>
            </a:pPr>
            <a:r>
              <a:rPr sz="1600" b="0">
                <a:solidFill>
                  <a:srgbClr val="FFFFFF"/>
                </a:solidFill>
                <a:latin typeface="맑은 고딕"/>
              </a:rPr>
              <a:t>•  세 가지 함정</a:t>
            </a:r>
          </a:p>
          <a:p>
            <a:pPr algn="l">
              <a:spcAft>
                <a:spcPts val="800"/>
              </a:spcAft>
            </a:pPr>
            <a:r>
              <a:rPr sz="1600" b="0">
                <a:solidFill>
                  <a:srgbClr val="FFFFFF"/>
                </a:solidFill>
                <a:latin typeface="맑은 고딕"/>
              </a:rPr>
              <a:t>•  결과 판독</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메타데이터를 넘어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블록을 직접 맞춘다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지금까지의 검증은 파일 개수·경로·지연 — 메타데이터</a:t>
            </a:r>
          </a:p>
          <a:p>
            <a:pPr algn="l">
              <a:spcAft>
                <a:spcPts val="1000"/>
              </a:spcAft>
            </a:pPr>
            <a:r>
              <a:rPr sz="1700" b="0">
                <a:solidFill>
                  <a:srgbClr val="222222"/>
                </a:solidFill>
                <a:latin typeface="맑은 고딕"/>
              </a:rPr>
              <a:t>•  </a:t>
            </a:r>
            <a:r>
              <a:rPr sz="1700" b="0">
                <a:solidFill>
                  <a:srgbClr val="222222"/>
                </a:solidFill>
                <a:latin typeface="Consolas"/>
                <a:cs typeface="Consolas"/>
              </a:rPr>
              <a:t>DBMS_DBCOMP.DBCOMP</a:t>
            </a:r>
            <a:r>
              <a:rPr sz="1700" b="0">
                <a:solidFill>
                  <a:srgbClr val="222222"/>
                </a:solidFill>
                <a:latin typeface="맑은 고딕"/>
              </a:rPr>
              <a:t>는 데이터 블록을 하나씩 비교한다</a:t>
            </a:r>
          </a:p>
          <a:p>
            <a:pPr algn="l">
              <a:spcAft>
                <a:spcPts val="1000"/>
              </a:spcAft>
            </a:pPr>
            <a:r>
              <a:rPr sz="1700" b="0">
                <a:solidFill>
                  <a:srgbClr val="222222"/>
                </a:solidFill>
                <a:latin typeface="맑은 고딕"/>
              </a:rPr>
              <a:t>•  19c에서 추가된 패키지</a:t>
            </a:r>
          </a:p>
          <a:p>
            <a:pPr algn="l">
              <a:spcAft>
                <a:spcPts val="1000"/>
              </a:spcAft>
            </a:pPr>
            <a:r>
              <a:rPr sz="1700" b="0">
                <a:solidFill>
                  <a:srgbClr val="222222"/>
                </a:solidFill>
                <a:latin typeface="맑은 고딕"/>
              </a:rPr>
              <a:t>•  용도 : 복제 정확성 확인, lost write 탐지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번째 인자의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디렉터리 객체가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이름은 </a:t>
            </a:r>
            <a:r>
              <a:rPr sz="1700" b="0">
                <a:solidFill>
                  <a:srgbClr val="222222"/>
                </a:solidFill>
                <a:latin typeface="Consolas"/>
                <a:cs typeface="Consolas"/>
              </a:rPr>
              <a:t>output_file</a:t>
            </a:r>
            <a:r>
              <a:rPr sz="1700" b="0">
                <a:solidFill>
                  <a:srgbClr val="222222"/>
                </a:solidFill>
                <a:latin typeface="맑은 고딕"/>
              </a:rPr>
              <a:t> — 디렉터리 객체를 넣고 싶어진다</a:t>
            </a:r>
          </a:p>
          <a:p>
            <a:pPr algn="l">
              <a:spcAft>
                <a:spcPts val="1000"/>
              </a:spcAft>
            </a:pPr>
            <a:r>
              <a:rPr sz="1700" b="0">
                <a:solidFill>
                  <a:srgbClr val="222222"/>
                </a:solidFill>
                <a:latin typeface="맑은 고딕"/>
              </a:rPr>
              <a:t>•  실제로는 </a:t>
            </a:r>
            <a:r>
              <a:rPr sz="1700" b="1">
                <a:solidFill>
                  <a:srgbClr val="222222"/>
                </a:solidFill>
                <a:latin typeface="맑은 고딕"/>
              </a:rPr>
              <a:t>파일 이름 접두어</a:t>
            </a:r>
          </a:p>
          <a:p>
            <a:pPr algn="l">
              <a:spcAft>
                <a:spcPts val="1000"/>
              </a:spcAft>
            </a:pPr>
            <a:r>
              <a:rPr sz="1700" b="0">
                <a:solidFill>
                  <a:srgbClr val="222222"/>
                </a:solidFill>
                <a:latin typeface="맑은 고딕"/>
              </a:rPr>
              <a:t>•  결과는 </a:t>
            </a:r>
            <a:r>
              <a:rPr sz="1700" b="0">
                <a:solidFill>
                  <a:srgbClr val="222222"/>
                </a:solidFill>
                <a:latin typeface="Consolas"/>
                <a:cs typeface="Consolas"/>
              </a:rPr>
              <a:t>$ORACLE_HOME/dbs</a:t>
            </a:r>
            <a:r>
              <a:rPr sz="1700" b="0">
                <a:solidFill>
                  <a:srgbClr val="222222"/>
                </a:solidFill>
                <a:latin typeface="맑은 고딕"/>
              </a:rPr>
              <a:t> 아래에 생긴다</a:t>
            </a:r>
          </a:p>
          <a:p>
            <a:pPr algn="l">
              <a:spcAft>
                <a:spcPts val="1000"/>
              </a:spcAft>
            </a:pPr>
            <a:r>
              <a:rPr sz="1700" b="0">
                <a:solidFill>
                  <a:srgbClr val="222222"/>
                </a:solidFill>
                <a:latin typeface="맑은 고딕"/>
              </a:rPr>
              <a:t>•  </a:t>
            </a:r>
            <a:r>
              <a:rPr sz="1700" b="0">
                <a:solidFill>
                  <a:srgbClr val="222222"/>
                </a:solidFill>
                <a:latin typeface="Consolas"/>
                <a:cs typeface="Consolas"/>
              </a:rPr>
              <a:t>&lt;접두어&gt;</a:t>
            </a:r>
            <a:r>
              <a:rPr sz="1700" b="0">
                <a:solidFill>
                  <a:srgbClr val="222222"/>
                </a:solidFill>
                <a:latin typeface="맑은 고딕"/>
              </a:rPr>
              <a:t> 와 </a:t>
            </a:r>
            <a:r>
              <a:rPr sz="1700" b="0">
                <a:solidFill>
                  <a:srgbClr val="222222"/>
                </a:solidFill>
                <a:latin typeface="Consolas"/>
                <a:cs typeface="Consolas"/>
              </a:rPr>
              <a:t>&lt;접두어&gt;_&lt;상대 DB_UNIQUE_NAME&gt;_&lt;파일번호&gt;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둘은 시끄럽고 하나는 조용하다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접두어 재사용 → </a:t>
            </a:r>
            <a:r>
              <a:rPr sz="1700" b="1">
                <a:solidFill>
                  <a:srgbClr val="222222"/>
                </a:solidFill>
                <a:latin typeface="맑은 고딕"/>
              </a:rPr>
              <a:t>ORA-24258</a:t>
            </a:r>
            <a:r>
              <a:rPr sz="1700" b="0">
                <a:solidFill>
                  <a:srgbClr val="222222"/>
                </a:solidFill>
                <a:latin typeface="맑은 고딕"/>
              </a:rPr>
              <a:t> (덮어쓰지 않는다)</a:t>
            </a:r>
          </a:p>
          <a:p>
            <a:pPr algn="l">
              <a:spcAft>
                <a:spcPts val="1000"/>
              </a:spcAft>
            </a:pPr>
            <a:r>
              <a:rPr sz="1700" b="0">
                <a:solidFill>
                  <a:srgbClr val="222222"/>
                </a:solidFill>
                <a:latin typeface="맑은 고딕"/>
              </a:rPr>
              <a:t>•  NULL이나 없는 파일 → </a:t>
            </a:r>
            <a:r>
              <a:rPr sz="1700" b="1">
                <a:solidFill>
                  <a:srgbClr val="222222"/>
                </a:solidFill>
                <a:latin typeface="맑은 고딕"/>
              </a:rPr>
              <a:t>ORA-53201</a:t>
            </a:r>
            <a:r>
              <a:rPr sz="1700" b="0">
                <a:solidFill>
                  <a:srgbClr val="222222"/>
                </a:solidFill>
                <a:latin typeface="맑은 고딕"/>
              </a:rPr>
              <a:t> (한 번에 한 파일만)</a:t>
            </a:r>
          </a:p>
          <a:p>
            <a:pPr algn="l">
              <a:spcAft>
                <a:spcPts val="1000"/>
              </a:spcAft>
            </a:pPr>
            <a:r>
              <a:rPr sz="1700" b="0">
                <a:solidFill>
                  <a:srgbClr val="222222"/>
                </a:solidFill>
                <a:latin typeface="맑은 고딕"/>
              </a:rPr>
              <a:t>•  없는 디렉터리 객체 이름 → </a:t>
            </a:r>
            <a:r>
              <a:rPr sz="1700" b="1">
                <a:solidFill>
                  <a:srgbClr val="222222"/>
                </a:solidFill>
                <a:latin typeface="맑은 고딕"/>
              </a:rPr>
              <a:t>오류 없이 성공</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판정은 세 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DIFFPAIR · LWLOC · LWRMT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DIFFPAIR</a:t>
            </a:r>
            <a:r>
              <a:rPr sz="1700" b="0">
                <a:solidFill>
                  <a:srgbClr val="222222"/>
                </a:solidFill>
                <a:latin typeface="맑은 고딕"/>
              </a:rPr>
              <a:t> : 버전은 같은데 내용이 다르다 — 있을 수 없는 상태</a:t>
            </a:r>
          </a:p>
          <a:p>
            <a:pPr algn="l">
              <a:spcAft>
                <a:spcPts val="1000"/>
              </a:spcAft>
            </a:pPr>
            <a:r>
              <a:rPr sz="1700" b="0">
                <a:solidFill>
                  <a:srgbClr val="222222"/>
                </a:solidFill>
                <a:latin typeface="맑은 고딕"/>
              </a:rPr>
              <a:t>•  </a:t>
            </a:r>
            <a:r>
              <a:rPr sz="1700" b="1">
                <a:solidFill>
                  <a:srgbClr val="222222"/>
                </a:solidFill>
                <a:latin typeface="맑은 고딕"/>
              </a:rPr>
              <a:t>LWLOC / LWRMT</a:t>
            </a:r>
            <a:r>
              <a:rPr sz="1700" b="0">
                <a:solidFill>
                  <a:srgbClr val="222222"/>
                </a:solidFill>
                <a:latin typeface="맑은 고딕"/>
              </a:rPr>
              <a:t> : 로컬·원격의 lost write</a:t>
            </a:r>
          </a:p>
          <a:p>
            <a:pPr algn="l">
              <a:spcAft>
                <a:spcPts val="1000"/>
              </a:spcAft>
            </a:pPr>
            <a:r>
              <a:rPr sz="1700" b="0">
                <a:solidFill>
                  <a:srgbClr val="222222"/>
                </a:solidFill>
                <a:latin typeface="맑은 고딕"/>
              </a:rPr>
              <a:t>•  실측 : 모든 블록 타입에서 세 열 모두 0</a:t>
            </a:r>
          </a:p>
          <a:p>
            <a:pPr algn="l">
              <a:spcAft>
                <a:spcPts val="1000"/>
              </a:spcAft>
            </a:pPr>
            <a:r>
              <a:rPr sz="1700" b="0">
                <a:solidFill>
                  <a:srgbClr val="222222"/>
                </a:solidFill>
                <a:latin typeface="맑은 고딕"/>
              </a:rPr>
              <a:t>•  나머지 열은 참고 정보다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정상인데 0이 아닌 값들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오해하기 쉬운 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DIFFV 1,645 — 운영 중 비교라 버전 차이는 당연하다</a:t>
            </a:r>
          </a:p>
          <a:p>
            <a:pPr algn="l">
              <a:spcAft>
                <a:spcPts val="1000"/>
              </a:spcAft>
            </a:pPr>
            <a:r>
              <a:rPr sz="1700" b="0">
                <a:solidFill>
                  <a:srgbClr val="222222"/>
                </a:solidFill>
                <a:latin typeface="맑은 고딕"/>
              </a:rPr>
              <a:t>•  SAMEV 91,295 vs SAMEV&amp;C 91,148 — 차이 147도 정상</a:t>
            </a:r>
          </a:p>
          <a:p>
            <a:pPr algn="l">
              <a:spcAft>
                <a:spcPts val="1000"/>
              </a:spcAft>
            </a:pPr>
            <a:r>
              <a:rPr sz="1700" b="0">
                <a:solidFill>
                  <a:srgbClr val="222222"/>
                </a:solidFill>
                <a:latin typeface="맑은 고딕"/>
              </a:rPr>
              <a:t>•  SKIPPED — 빈 블록, 직접 로드 블록</a:t>
            </a:r>
          </a:p>
          <a:p>
            <a:pPr algn="l">
              <a:spcAft>
                <a:spcPts val="1000"/>
              </a:spcAft>
            </a:pPr>
            <a:r>
              <a:rPr sz="1700" b="0">
                <a:solidFill>
                  <a:srgbClr val="222222"/>
                </a:solidFill>
                <a:latin typeface="맑은 고딕"/>
              </a:rPr>
              <a:t>•  CORR가 잡히면 </a:t>
            </a:r>
            <a:r>
              <a:rPr sz="1700" b="1">
                <a:solidFill>
                  <a:srgbClr val="222222"/>
                </a:solidFill>
                <a:latin typeface="맑은 고딕"/>
              </a:rPr>
              <a:t>재실행과 RMAN VALIDATE로 교차 확인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정리와 6장 예고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경로 지정 방식의 약점</a:t>
            </a:r>
          </a:p>
          <a:p>
            <a:pPr algn="l">
              <a:spcAft>
                <a:spcPts val="800"/>
              </a:spcAft>
            </a:pPr>
            <a:r>
              <a:rPr sz="1600" b="0">
                <a:solidFill>
                  <a:srgbClr val="FFFFFF"/>
                </a:solidFill>
                <a:latin typeface="맑은 고딕"/>
              </a:rPr>
              <a:t>•  OMF가 없애는 것</a:t>
            </a:r>
          </a:p>
          <a:p>
            <a:pPr algn="l">
              <a:spcAft>
                <a:spcPts val="800"/>
              </a:spcAft>
            </a:pPr>
            <a:r>
              <a:rPr sz="1600" b="0">
                <a:solidFill>
                  <a:srgbClr val="FFFFFF"/>
                </a:solidFill>
                <a:latin typeface="맑은 고딕"/>
              </a:rPr>
              <a:t>•  실습 안내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경로 지정 방식의 약점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6장의 출발점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convert는 문자열만 바꾼다 — 디렉터리를 만들지 않는다</a:t>
            </a:r>
          </a:p>
          <a:p>
            <a:pPr algn="l">
              <a:spcAft>
                <a:spcPts val="1000"/>
              </a:spcAft>
            </a:pPr>
            <a:r>
              <a:rPr sz="1700" b="0">
                <a:solidFill>
                  <a:srgbClr val="222222"/>
                </a:solidFill>
                <a:latin typeface="맑은 고딕"/>
              </a:rPr>
              <a:t>•  Primary 구조를 사람이 Standby에 미리 만들어야 한다</a:t>
            </a:r>
          </a:p>
          <a:p>
            <a:pPr algn="l">
              <a:spcAft>
                <a:spcPts val="1000"/>
              </a:spcAft>
            </a:pPr>
            <a:r>
              <a:rPr sz="1700" b="0">
                <a:solidFill>
                  <a:srgbClr val="222222"/>
                </a:solidFill>
                <a:latin typeface="맑은 고딕"/>
              </a:rPr>
              <a:t>•  PDB를 추가할 때마다 반복된다. 잊으면 복제가 깨진다</a:t>
            </a:r>
          </a:p>
          <a:p>
            <a:pPr algn="l">
              <a:spcAft>
                <a:spcPts val="1000"/>
              </a:spcAft>
            </a:pPr>
            <a:r>
              <a:rPr sz="1700" b="0">
                <a:solidFill>
                  <a:srgbClr val="222222"/>
                </a:solidFill>
                <a:latin typeface="맑은 고딕"/>
              </a:rPr>
              <a:t>•  6장 OMF : </a:t>
            </a:r>
            <a:r>
              <a:rPr sz="1700" b="0">
                <a:solidFill>
                  <a:srgbClr val="222222"/>
                </a:solidFill>
                <a:latin typeface="Consolas"/>
                <a:cs typeface="Consolas"/>
              </a:rPr>
              <a:t>DB_CREATE_FILE_DEST</a:t>
            </a:r>
            <a:r>
              <a:rPr sz="1700" b="0">
                <a:solidFill>
                  <a:srgbClr val="222222"/>
                </a:solidFill>
                <a:latin typeface="맑은 고딕"/>
              </a:rPr>
              <a:t> 하나면 끝난다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a:t>
            </a:r>
            <a:r>
              <a:rPr sz="1600" b="0">
                <a:solidFill>
                  <a:srgbClr val="222222"/>
                </a:solidFill>
                <a:latin typeface="Consolas"/>
                <a:cs typeface="Consolas"/>
              </a:rPr>
              <a:t>FOR STANDBY</a:t>
            </a:r>
            <a:r>
              <a:rPr sz="1600" b="0">
                <a:solidFill>
                  <a:srgbClr val="222222"/>
                </a:solidFill>
                <a:latin typeface="맑은 고딕"/>
              </a:rPr>
              <a:t>가 없으면 무엇이 달라지며, 그것이 왜 Data Guard에 치명적인가?</a:t>
            </a:r>
          </a:p>
          <a:p>
            <a:pPr algn="l">
              <a:spcAft>
                <a:spcPts val="1000"/>
              </a:spcAft>
            </a:pPr>
            <a:r>
              <a:rPr sz="1600" b="0">
                <a:solidFill>
                  <a:srgbClr val="222222"/>
                </a:solidFill>
                <a:latin typeface="맑은 고딕"/>
              </a:rPr>
              <a:t>•  Q2. Standby 초기 pfile이 두 줄로 충분한 이유와, 나머지 파라미터가 채워지는 시점은?</a:t>
            </a:r>
          </a:p>
          <a:p>
            <a:pPr algn="l">
              <a:spcAft>
                <a:spcPts val="1000"/>
              </a:spcAft>
            </a:pPr>
            <a:r>
              <a:rPr sz="1600" b="0">
                <a:solidFill>
                  <a:srgbClr val="222222"/>
                </a:solidFill>
                <a:latin typeface="맑은 고딕"/>
              </a:rPr>
              <a:t>•  Q3. </a:t>
            </a:r>
            <a:r>
              <a:rPr sz="1600" b="0">
                <a:solidFill>
                  <a:srgbClr val="222222"/>
                </a:solidFill>
                <a:latin typeface="Consolas"/>
                <a:cs typeface="Consolas"/>
              </a:rPr>
              <a:t>RMAN-05538</a:t>
            </a:r>
            <a:r>
              <a:rPr sz="1600" b="0">
                <a:solidFill>
                  <a:srgbClr val="222222"/>
                </a:solidFill>
                <a:latin typeface="맑은 고딕"/>
              </a:rPr>
              <a:t> 경고가 뜨고 </a:t>
            </a:r>
            <a:r>
              <a:rPr sz="1600" b="0">
                <a:solidFill>
                  <a:srgbClr val="222222"/>
                </a:solidFill>
                <a:latin typeface="Consolas"/>
                <a:cs typeface="Consolas"/>
              </a:rPr>
              <a:t>RMAN-05001</a:t>
            </a:r>
            <a:r>
              <a:rPr sz="1600" b="0">
                <a:solidFill>
                  <a:srgbClr val="222222"/>
                </a:solidFill>
                <a:latin typeface="맑은 고딕"/>
              </a:rPr>
              <a:t>의 경로가 Chicago였다. 무엇이 잘못되었는가?</a:t>
            </a:r>
          </a:p>
          <a:p>
            <a:pPr algn="l">
              <a:spcAft>
                <a:spcPts val="1000"/>
              </a:spcAft>
            </a:pPr>
            <a:r>
              <a:rPr sz="1600" b="0">
                <a:solidFill>
                  <a:srgbClr val="222222"/>
                </a:solidFill>
                <a:latin typeface="맑은 고딕"/>
              </a:rPr>
              <a:t>•  Q4. </a:t>
            </a:r>
            <a:r>
              <a:rPr sz="1600" b="0">
                <a:solidFill>
                  <a:srgbClr val="222222"/>
                </a:solidFill>
                <a:latin typeface="Consolas"/>
                <a:cs typeface="Consolas"/>
              </a:rPr>
              <a:t>NOFILENAMECHECK</a:t>
            </a:r>
            <a:r>
              <a:rPr sz="1600" b="0">
                <a:solidFill>
                  <a:srgbClr val="222222"/>
                </a:solidFill>
                <a:latin typeface="맑은 고딕"/>
              </a:rPr>
              <a:t>를 convert 없이 단독으로 쓰면 왜 위험한가?</a:t>
            </a:r>
          </a:p>
          <a:p>
            <a:pPr algn="l">
              <a:spcAft>
                <a:spcPts val="1000"/>
              </a:spcAft>
            </a:pPr>
            <a:r>
              <a:rPr sz="1600" b="0">
                <a:solidFill>
                  <a:srgbClr val="222222"/>
                </a:solidFill>
                <a:latin typeface="맑은 고딕"/>
              </a:rPr>
              <a:t>•  Q5. </a:t>
            </a:r>
            <a:r>
              <a:rPr sz="1600" b="0">
                <a:solidFill>
                  <a:srgbClr val="222222"/>
                </a:solidFill>
                <a:latin typeface="Consolas"/>
                <a:cs typeface="Consolas"/>
              </a:rPr>
              <a:t>ORA-19505</a:t>
            </a:r>
            <a:r>
              <a:rPr sz="1600" b="0">
                <a:solidFill>
                  <a:srgbClr val="222222"/>
                </a:solidFill>
                <a:latin typeface="맑은 고딕"/>
              </a:rPr>
              <a:t>의 파일 이름이 비어 있을 때 원인을 어떻게 특정하는가?</a:t>
            </a:r>
          </a:p>
          <a:p>
            <a:pPr algn="l">
              <a:spcAft>
                <a:spcPts val="1000"/>
              </a:spcAft>
            </a:pPr>
            <a:r>
              <a:rPr sz="1600" b="0">
                <a:solidFill>
                  <a:srgbClr val="222222"/>
                </a:solidFill>
                <a:latin typeface="맑은 고딕"/>
              </a:rPr>
              <a:t>•  Q6. </a:t>
            </a:r>
            <a:r>
              <a:rPr sz="1600" b="0">
                <a:solidFill>
                  <a:srgbClr val="222222"/>
                </a:solidFill>
                <a:latin typeface="Consolas"/>
                <a:cs typeface="Consolas"/>
              </a:rPr>
              <a:t>DBMS_DBCOMP</a:t>
            </a:r>
            <a:r>
              <a:rPr sz="1600" b="0">
                <a:solidFill>
                  <a:srgbClr val="222222"/>
                </a:solidFill>
                <a:latin typeface="맑은 고딕"/>
              </a:rPr>
              <a:t> 보고서에서 정상 여부를 판정하는 세 열은 무엇이며 왜 그 셋인가?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FOR STANDBY</a:t>
            </a:r>
            <a:r>
              <a:rPr sz="1600" b="0">
                <a:solidFill>
                  <a:srgbClr val="222222"/>
                </a:solidFill>
                <a:latin typeface="맑은 고딕"/>
              </a:rPr>
              <a:t>가 DBID를 유지한다. 실측 양쪽 모두 1852041610. 이 값이 다르면 Data Guard로 쓸 수 없다.</a:t>
            </a:r>
          </a:p>
          <a:p>
            <a:pPr algn="l">
              <a:spcAft>
                <a:spcPts val="1000"/>
              </a:spcAft>
            </a:pPr>
            <a:r>
              <a:rPr sz="1600" b="0">
                <a:solidFill>
                  <a:srgbClr val="222222"/>
                </a:solidFill>
                <a:latin typeface="맑은 고딕"/>
              </a:rPr>
              <a:t>•  </a:t>
            </a:r>
            <a:r>
              <a:rPr sz="1600" b="0">
                <a:solidFill>
                  <a:srgbClr val="222222"/>
                </a:solidFill>
                <a:latin typeface="Consolas"/>
                <a:cs typeface="Consolas"/>
              </a:rPr>
              <a:t>FROM ACTIVE DATABASE</a:t>
            </a:r>
            <a:r>
              <a:rPr sz="1600" b="0">
                <a:solidFill>
                  <a:srgbClr val="222222"/>
                </a:solidFill>
                <a:latin typeface="맑은 고딕"/>
              </a:rPr>
              <a:t>는 백업 없이 운영 중 Primary에서 직접 읽는다. 실패해도 Primary는 무사하다.</a:t>
            </a:r>
          </a:p>
          <a:p>
            <a:pPr algn="l">
              <a:spcAft>
                <a:spcPts val="1000"/>
              </a:spcAft>
            </a:pPr>
            <a:r>
              <a:rPr sz="1600" b="0">
                <a:solidFill>
                  <a:srgbClr val="222222"/>
                </a:solidFill>
                <a:latin typeface="맑은 고딕"/>
              </a:rPr>
              <a:t>•  초기 pfile은 두 줄 47바이트로 충분하다. SPFILE 절이 5,632바이트 spfile을 만들어 준다.</a:t>
            </a:r>
          </a:p>
          <a:p>
            <a:pPr algn="l">
              <a:spcAft>
                <a:spcPts val="1000"/>
              </a:spcAft>
            </a:pPr>
            <a:r>
              <a:rPr sz="1600" b="0">
                <a:solidFill>
                  <a:srgbClr val="222222"/>
                </a:solidFill>
                <a:latin typeface="맑은 고딕"/>
              </a:rPr>
              <a:t>•  SGA는 pfile 기동 시 356,512,392바이트 → spfile 기동 시 3,221,223,192바이트로 바뀐다.</a:t>
            </a:r>
          </a:p>
          <a:p>
            <a:pPr algn="l">
              <a:spcAft>
                <a:spcPts val="1000"/>
              </a:spcAft>
            </a:pPr>
            <a:r>
              <a:rPr sz="1600" b="0">
                <a:solidFill>
                  <a:srgbClr val="222222"/>
                </a:solidFill>
                <a:latin typeface="맑은 고딕"/>
              </a:rPr>
              <a:t>•  </a:t>
            </a:r>
            <a:r>
              <a:rPr sz="1600" b="0">
                <a:solidFill>
                  <a:srgbClr val="222222"/>
                </a:solidFill>
                <a:latin typeface="Consolas"/>
                <a:cs typeface="Consolas"/>
              </a:rPr>
              <a:t>PARAMETER_VALUE_CONVERT</a:t>
            </a:r>
            <a:r>
              <a:rPr sz="1600" b="0">
                <a:solidFill>
                  <a:srgbClr val="222222"/>
                </a:solidFill>
                <a:latin typeface="맑은 고딕"/>
              </a:rPr>
              <a:t>가 db_name까지 바꾸므로 </a:t>
            </a:r>
            <a:r>
              <a:rPr sz="1600" b="0">
                <a:solidFill>
                  <a:srgbClr val="222222"/>
                </a:solidFill>
                <a:latin typeface="Consolas"/>
                <a:cs typeface="Consolas"/>
              </a:rPr>
              <a:t>SET DB_NAME='chicago'</a:t>
            </a:r>
            <a:r>
              <a:rPr sz="1600" b="0">
                <a:solidFill>
                  <a:srgbClr val="222222"/>
                </a:solidFill>
                <a:latin typeface="맑은 고딕"/>
              </a:rPr>
              <a:t>로 되돌린다. SET이 이긴다.</a:t>
            </a:r>
          </a:p>
          <a:p>
            <a:pPr algn="l">
              <a:spcAft>
                <a:spcPts val="1000"/>
              </a:spcAft>
            </a:pPr>
            <a:r>
              <a:rPr sz="1600" b="0">
                <a:solidFill>
                  <a:srgbClr val="222222"/>
                </a:solidFill>
                <a:latin typeface="맑은 고딕"/>
              </a:rPr>
              <a:t>•  첫 번째 실패: convert 없음 → RMAN-05538 경고 후 RMAN-05001이 파일 수만큼 11줄. 경로가 Chicago다.</a:t>
            </a:r>
          </a:p>
          <a:p>
            <a:pPr algn="l">
              <a:spcAft>
                <a:spcPts val="1000"/>
              </a:spcAft>
            </a:pPr>
            <a:r>
              <a:rPr sz="1600" b="0">
                <a:solidFill>
                  <a:srgbClr val="222222"/>
                </a:solidFill>
                <a:latin typeface="맑은 고딕"/>
              </a:rPr>
              <a:t>•  </a:t>
            </a:r>
            <a:r>
              <a:rPr sz="1600" b="0">
                <a:solidFill>
                  <a:srgbClr val="222222"/>
                </a:solidFill>
                <a:latin typeface="Consolas"/>
                <a:cs typeface="Consolas"/>
              </a:rPr>
              <a:t>NOFILENAMECHECK</a:t>
            </a:r>
            <a:r>
              <a:rPr sz="1600" b="0">
                <a:solidFill>
                  <a:srgbClr val="222222"/>
                </a:solidFill>
                <a:latin typeface="맑은 고딕"/>
              </a:rPr>
              <a:t>는 convert와 함께 써야 한다. 단독 사용은 안전장치만 제거한다.</a:t>
            </a:r>
          </a:p>
          <a:p>
            <a:pPr algn="l">
              <a:spcAft>
                <a:spcPts val="1000"/>
              </a:spcAft>
            </a:pPr>
            <a:r>
              <a:rPr sz="1600" b="0">
                <a:solidFill>
                  <a:srgbClr val="222222"/>
                </a:solidFill>
                <a:latin typeface="맑은 고딕"/>
              </a:rPr>
              <a:t>•  두 번째 실패: 하위 디렉터리 없음 → ORA-17628 + ORA-19505. 파일 이름이 빈 따옴표로 나온다.</a:t>
            </a:r>
          </a:p>
          <a:p>
            <a:pPr algn="l">
              <a:spcAft>
                <a:spcPts val="1000"/>
              </a:spcAft>
            </a:pPr>
            <a:r>
              <a:rPr sz="1600" b="0">
                <a:solidFill>
                  <a:srgbClr val="222222"/>
                </a:solidFill>
                <a:latin typeface="맑은 고딕"/>
              </a:rPr>
              <a:t>•  오류 스택은 아래에서 위로 읽는다. ORA-17628의 remote는 Standby 쪽 오류라는 뜻이다.</a:t>
            </a:r>
          </a:p>
          <a:p>
            <a:pPr algn="l">
              <a:spcAft>
                <a:spcPts val="1000"/>
              </a:spcAft>
            </a:pPr>
            <a:r>
              <a:rPr sz="1600" b="0">
                <a:solidFill>
                  <a:srgbClr val="222222"/>
                </a:solidFill>
                <a:latin typeface="맑은 고딕"/>
              </a:rPr>
              <a:t>•  성공 조건 셋: rc=0, RMAN-·ORA- 줄 0개, </a:t>
            </a:r>
            <a:r>
              <a:rPr sz="1600" b="0">
                <a:solidFill>
                  <a:srgbClr val="222222"/>
                </a:solidFill>
                <a:latin typeface="Consolas"/>
                <a:cs typeface="Consolas"/>
              </a:rPr>
              <a:t>Finished Duplicate Db</a:t>
            </a:r>
            <a:r>
              <a:rPr sz="1600" b="0">
                <a:solidFill>
                  <a:srgbClr val="222222"/>
                </a:solidFill>
                <a:latin typeface="맑은 고딕"/>
              </a:rPr>
              <a:t>. 실측 418줄 중 413번 줄.</a:t>
            </a:r>
          </a:p>
          <a:p>
            <a:pPr algn="l">
              <a:spcAft>
                <a:spcPts val="1000"/>
              </a:spcAft>
            </a:pPr>
            <a:r>
              <a:rPr sz="1600" b="0">
                <a:solidFill>
                  <a:srgbClr val="222222"/>
                </a:solidFill>
                <a:latin typeface="맑은 고딕"/>
              </a:rPr>
              <a:t>•  복제 직후 OPEN_MODE는 MOUNTED다. READ ONLY로 열고 PDB까지 열어야 READ ONLY WITH APPLY가 된다.</a:t>
            </a:r>
          </a:p>
          <a:p>
            <a:pPr algn="l">
              <a:spcAft>
                <a:spcPts val="1000"/>
              </a:spcAft>
            </a:pPr>
            <a:r>
              <a:rPr sz="1600" b="0">
                <a:solidFill>
                  <a:srgbClr val="222222"/>
                </a:solidFill>
                <a:latin typeface="맑은 고딕"/>
              </a:rPr>
              <a:t>•  가이드 결함 둘: </a:t>
            </a:r>
            <a:r>
              <a:rPr sz="1600" b="0">
                <a:solidFill>
                  <a:srgbClr val="222222"/>
                </a:solidFill>
                <a:latin typeface="Consolas"/>
                <a:cs typeface="Consolas"/>
              </a:rPr>
              <a:t>CREATE SPFILE FROM MEMORY</a:t>
            </a:r>
            <a:r>
              <a:rPr sz="1600" b="0">
                <a:solidFill>
                  <a:srgbClr val="222222"/>
                </a:solidFill>
                <a:latin typeface="맑은 고딕"/>
              </a:rPr>
              <a:t>는 불필요(ORA-32002), PDB 여는 줄이 누락되어 있다.</a:t>
            </a:r>
          </a:p>
          <a:p>
            <a:pPr algn="l">
              <a:spcAft>
                <a:spcPts val="1000"/>
              </a:spcAft>
            </a:pPr>
            <a:r>
              <a:rPr sz="1600" b="0">
                <a:solidFill>
                  <a:srgbClr val="222222"/>
                </a:solidFill>
                <a:latin typeface="맑은 고딕"/>
              </a:rPr>
              <a:t>•  SRL 네 그룹은 복제되어 온다. 4장에서 Primary에 미리 만들어 둔 결과다.</a:t>
            </a:r>
          </a:p>
          <a:p>
            <a:pPr algn="l">
              <a:spcAft>
                <a:spcPts val="1000"/>
              </a:spcAft>
            </a:pPr>
            <a:r>
              <a:rPr sz="1600" b="0">
                <a:solidFill>
                  <a:srgbClr val="222222"/>
                </a:solidFill>
                <a:latin typeface="맑은 고딕"/>
              </a:rPr>
              <a:t>•  </a:t>
            </a:r>
            <a:r>
              <a:rPr sz="1600" b="0">
                <a:solidFill>
                  <a:srgbClr val="222222"/>
                </a:solidFill>
                <a:latin typeface="Consolas"/>
                <a:cs typeface="Consolas"/>
              </a:rPr>
              <a:t>DBMS_DBCOMP</a:t>
            </a:r>
            <a:r>
              <a:rPr sz="1600" b="0">
                <a:solidFill>
                  <a:srgbClr val="222222"/>
                </a:solidFill>
                <a:latin typeface="맑은 고딕"/>
              </a:rPr>
              <a:t>의 둘째 인자는 디렉터리 객체가 아니라 파일 이름 접두어다. 결과는 dbs 아래에 생긴다.</a:t>
            </a:r>
          </a:p>
          <a:p>
            <a:pPr algn="l">
              <a:spcAft>
                <a:spcPts val="1000"/>
              </a:spcAft>
            </a:pPr>
            <a:r>
              <a:rPr sz="1600" b="0">
                <a:solidFill>
                  <a:srgbClr val="222222"/>
                </a:solidFill>
                <a:latin typeface="맑은 고딕"/>
              </a:rPr>
              <a:t>•  판정 열은 DIFFPAIR·LWLOC·LWRMT 셋. DIFFV가 0이 아닌 것은 운영 중 비교라 정상이다.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Primary 파라미터 확인: 2~4장 설정을 점검하고 대조용 기준값을 기록한다. RMAN-05500을 재현한다.</a:t>
            </a:r>
          </a:p>
          <a:p>
            <a:pPr algn="l">
              <a:spcAft>
                <a:spcPts val="1000"/>
              </a:spcAft>
            </a:pPr>
            <a:r>
              <a:rPr sz="1600" b="0">
                <a:solidFill>
                  <a:srgbClr val="222222"/>
                </a:solidFill>
                <a:latin typeface="맑은 고딕"/>
              </a:rPr>
              <a:t>•  실습 02 — Standby 초기 pfile: 두 줄로 충분한 이유를 확인하고 db_name 오설정을 재현한다.</a:t>
            </a:r>
          </a:p>
          <a:p>
            <a:pPr algn="l">
              <a:spcAft>
                <a:spcPts val="1000"/>
              </a:spcAft>
            </a:pPr>
            <a:r>
              <a:rPr sz="1600" b="0">
                <a:solidFill>
                  <a:srgbClr val="222222"/>
                </a:solidFill>
                <a:latin typeface="맑은 고딕"/>
              </a:rPr>
              <a:t>•  실습 03 — NOMOUNT 기동과 접속 확인: Standby를 헐고 NOMOUNT로 띄운 뒤 원격 SYS 접속을 확인한다.</a:t>
            </a:r>
          </a:p>
          <a:p>
            <a:pPr algn="l">
              <a:spcAft>
                <a:spcPts val="1000"/>
              </a:spcAft>
            </a:pPr>
            <a:r>
              <a:rPr sz="1600" b="0">
                <a:solidFill>
                  <a:srgbClr val="222222"/>
                </a:solidFill>
                <a:latin typeface="맑은 고딕"/>
              </a:rPr>
              <a:t>•  실습 04 — DUPLICATE 실행: 스크립트를 실행하고 418줄 로그를 단계별로 읽는다.</a:t>
            </a:r>
          </a:p>
          <a:p>
            <a:pPr algn="l">
              <a:spcAft>
                <a:spcPts val="1000"/>
              </a:spcAft>
            </a:pPr>
            <a:r>
              <a:rPr sz="1600" b="0">
                <a:solidFill>
                  <a:srgbClr val="222222"/>
                </a:solidFill>
                <a:latin typeface="맑은 고딕"/>
              </a:rPr>
              <a:t>•  실습 05 — 실패 재현과 진단: RMAN-05001과 ORA-19505를 각각 재현하고 진단 경로를 따라간다.</a:t>
            </a:r>
          </a:p>
          <a:p>
            <a:pPr algn="l">
              <a:spcAft>
                <a:spcPts val="1000"/>
              </a:spcAft>
            </a:pPr>
            <a:r>
              <a:rPr sz="1600" b="0">
                <a:solidFill>
                  <a:srgbClr val="222222"/>
                </a:solidFill>
                <a:latin typeface="맑은 고딕"/>
              </a:rPr>
              <a:t>•  실습 06 — 결과 검증과 ADG 전환: 기준값과 열네 항목을 대조하고 READ ONLY WITH APPLY로 올린다.</a:t>
            </a:r>
          </a:p>
          <a:p>
            <a:pPr algn="l">
              <a:spcAft>
                <a:spcPts val="1000"/>
              </a:spcAft>
            </a:pPr>
            <a:r>
              <a:rPr sz="1600" b="0">
                <a:solidFill>
                  <a:srgbClr val="222222"/>
                </a:solidFill>
                <a:latin typeface="맑은 고딕"/>
              </a:rPr>
              <a:t>•  실습 07 — DBMS_DBCOMP 블록 비교: 세 가지 함정을 확인하고 보고서의 판정 열을 읽는다.</a:t>
            </a:r>
          </a:p>
          <a:p>
            <a:pPr algn="l">
              <a:spcAft>
                <a:spcPts val="1000"/>
              </a:spcAft>
            </a:pPr>
            <a:r>
              <a:rPr sz="1600" b="0">
                <a:solidFill>
                  <a:srgbClr val="222222"/>
                </a:solidFill>
                <a:latin typeface="맑은 고딕"/>
              </a:rPr>
              <a:t>•  실습 03·04·05는 Standby를 실제로 헌다. 개인 실습 환경에서만, VM 스냅샷을 뜬 뒤 수행한다.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
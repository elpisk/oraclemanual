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손실 여부가 핵심 차이다. Switchover 는 Primary 가 살아 있으므로 남은 리두를 모두 보내고 나서 역할을 바꾼다. Failover 는 그럴 수 없으므로 Standby 가 받은 데까지만 살린다. 14장의 VALIDATE 출력에서 이 차이가 이미 드러났다. 전송을 껐을 때 Ready for Switchover 는 No 이면서 Ready for Failover 는 Yes 였다. 무손실이어야 하는 쪽만 막힌 것이다.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1장부터 15장까지 구성하고 감시했지만 한 번도 역할을 바꾸지 않았다. Data Guard 를 만든 이유가 그것인데도 그렇다. 재해가 나면 Standby 를 Primary 로 올려야 하고 그러려면 그 절차가 실제로 동작한다는 것을 확인해 두어야 한다. 이 장에서 실제로 바꾸고 원래대로 되돌린다. 되돌리는 것까지가 훈련이다. 훈련은 반드시 원래 역할로 되돌리고 끝낸다. 그 과정에서 반대 방향의 정적 등록과 파라미터도 함께 검증된다.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ALLOWED 를 문제로 읽지 않는다. Standby 쪽에서 전환을 시작할 수 없다는 뜻일 뿐이며 명령은 Primary 쪽에서 낸다. 15장부터 반복한 주제가 여기서도 나온다. 뷰의 값이 무엇을 뜻하는지 알아야 판정할 수 있다. 감시 스크립트가 이 값을 이상 신호로 쓰면 Standby 에서 상시 오경보가 나므로 역할별로 기댓값을 나눠 두어야 한다. 실측에서 전환 후 두 값이 그대로 뒤바뀌었다.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6장에서 복제할 때 DB_NAME 을 같게 만들었기 때문이며 전환해도 바뀌지 않는다. 감시 스크립트도 DB_UNIQUE_NAME 을 써야 한다. 이 구분을 놓치면 전환 후 어느 쪽에 접속했는지 알 수 없게 된다. 접속 식별자와 서비스 이름 역시 DB_UNIQUE_NAME 기준으로 만들어 두는 것이 안전하다. 전환 후 어느 쪽에 접속했는지 헷갈리지 않게 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전송이 꺼졌을 때와 DelayMins 가 걸렸을 때다. 후자는 an apply delay has been set 이라는 문장까지 준다. 정적 등록 검사가 여기서 의미가 커지는데, 아래에서 볼 전환 과정에 DGMGRL 이 상대 인스턴스를 기동하는 단계가 있고 그때 이 등록을 쓰기 때문이다. 13장에서 필수라고 한 이유가 이 한 줄에 있다. 점검을 건너뛰고 전환부터 시도하면 Performing switchover NOW 까지 진행된 뒤 실패하므로 그동안 트랜잭션이 막히는 구간이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출력을 단계로 나눠 읽는다. 남은 리두를 보내고 대상에 접속해 새 Primary 를 연 다음, 옛 Primary 를 다시 기동해 새 Standby 로 만든다. 7장에서 손으로 구성할 때는 이 모든 단계를 사람이 순서대로 해야 했다. Broker 는 그것을 명령 하나에 담는다. 실측 소요는 왕복 64초와 69초였고 Failover 뒤의 복귀 전환은 55초였다. 명령이 한 줄이라는 것이 곧 실수할 자리가 하나뿐이라는 뜻이기도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13장에서 chicago_DGMGRL 을 적을 때는 역할 전환에 필요하다고만 했는데 그 필요가 여기서 구체적으로 드러난다. 등록이 없으면 새 Primary 는 올라갔는데 옛 Primary 를 되살리지 못한 상태가 되고, 그 상태에서 수습하는 것은 훨씬 번거롭다. 14장의 VALIDATE 가 이 등록을 실제로 접속해 시험해 주는 이유가 여기 있다. 그래서 13장에서 양쪽 리스너에 모두 등록해 둔 것이다.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9장에서 만든 Active Data Guard 가 전환 후에도 유지된다. 우리가 명령을 내리지 않았는데 MRP0 가 떴다는 것이 핵심이다. 13장에서 배운 Intended State 개념이 전환에서 이렇게 작동한다. 손으로 구성했다면 새 Standby 에서 MRP 를 직접 기동하고 read only 로 여는 명령을 따로 실행해야 했다. 실측 시퀀스 86 이 Primary 의 현재 시퀀스와 맞물려 있는 것도 함께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손으로 구성할 때는 양쪽 파라미터를 사람이 맞춰 적었고 전환하려면 그것을 다시 손봐야 했다. Broker 는 그 일을 전환 과정에 포함한다. FAL_SERVER 가 비어 있는 것은 Broker 가 구성 정보로 갭을 해소하기 때문이며 13장에서 확인한 그대로다. farsync 는 10장의 잔여물로 동작에는 지장이 없지만 정리 대상이며, 이런 값이 쌓이면 구성을 읽기 어려워진다.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내려갔다 올라오는 쪽이 바뀌었을 뿐 구조는 같으므로 양쪽에 정적 등록을 해 두어야 한다. Switchover 가 무손실이라는 것도 여기서 확인된다. 전환 전에 넣은 행과 전환 후에 넣은 행이 모두 남아 있는 것이 그 증거이며, Failover 와의 가장 큰 차이가 이것이다. 실습 07 에서 대비된다. 훈련은 반드시 원래 역할로 되돌리고 끝낸다. 되돌리기까지 마쳐야 반대 방향의 설정도 검증된다.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번호가 있는 것과 없는 것이 섞여 있다는 점이 스크립트에서 함정이 된다. 실패 판정을 출력에 ORA- 가 있는가로만 하면 앞의 경우를 성공으로 오인한다. 성공 문구를 긍정 판정하는 쪽으로 뒤집는 것이 안전하며, 그다음 실제 상태를 뷰로 확인한다. 그리고 실패한 Broker 명령은 상태를 바꾸지 않는다는 것도 중요하다. 실패해도 시작 지점으로 남는다는 것이 Broker 로 전환하는 이유 중 하나다.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명령을 나란히 놓으면 검사 강도가 다르다는 것이 분명해진다. Broker 의 보호는 생각보다 얇으며 이 명령은 아예 검사하지 않는다. 규율은 도구가 아니라 사람이 지킨다. 이 장의 실습 05 는 실제로 그 사고를 재현하고 복구하는 과정이다. 실습 환경에서만 하고 시작 전에 꺼진 상태의 VM 스냅샷을 확보해야 하며, 운영에서는 절대로 시도하지 않는다. 규율은 도구가 아니라 사람이 지킨다는 것이 이 절의 결론이다.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전환은 한쪽 데이터베이스의 명령이다. 상대를 기동하거나 파라미터를 다시 쓰거나 상태를 맞추는 일을 하지 않는다. 1~12장에서 손으로 구성할 때는 그 뒷일도 사람이 했다. Broker 환경에서는 Broker 가 한다고 전제하는데 SQL 전환은 Broker 를 거치지 않으므로 아무도 하지 않는다. 결과는 두 데이터베이스가 각자 돌아가는데 복제만 없는 상태다.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14장부터 반복한 주제가 여기서 가장 위험한 형태로 나타난다. 두 데이터베이스는 각자 잘 동작하고 있고 겉으로는 문제가 보이지 않는데 복제가 없다. 실제 역할은 V$DATABASE 에서 확인한다. Broker 화면이 아니라 뷰가 사실이라는 것이 이 장에서 가장 값비싸게 얻은 교훈이며, 감지에 시간이 걸린다는 점도 함께 기억한다. 감지에 시간이 걸린다는 점도 함께 기억한다. 그사이에는 화면이 정상으로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13장에서 확인한 성질을 쓴다. REMOVE CONFIGURATION 은 구성 메타데이터만 지우고 데이터베이스를 건드리지 않는다. 다시 만들 때는 실제 역할대로 적는다. ENABLE CONFIGURATION 이 파라미터를 다시 써 주므로 비어 있던 목적지가 채워지고 전송이 재개된다. 다만 REMOVE 부터 ENABLE 까지 감시 공백이 생기므로 명령을 미리 준비해 두고 짧게 끝낸다.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Failover 는 Standby 가 받은 데까지만 살리고 나머지를 버린다. 옛 Primary 에는 버려진 변경이 남아 있으므로 그대로는 새 Primary 의 Standby 가 될 수 없다. 플래시백으로 그 지점까지 되감아야 한다. 없으면 6장의 절차로 새로 만들어야 하며 그 시간이 훨씬 크다. 오류가 두 줄일 때는 두 번째 줄이 이유다. 켜는 순간 공간을 쓰므로 FRA 여유를 먼저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"아마도" 라고 말한다는 것이 중요하다. Standby 는 Primary 가 죽은 것인지 네트워크가 끊긴 것인지 구별할 수 없다. 14장에서 관측자가 제3의 위치에 있어야 하는 이유로 든 사실이 여기서 문장으로 확인된다. 그리고 같은 오류를 도구마다 다르게 적는다. 문자열로 비교하는 스크립트라면 걸린다. 같은 오류를 도구마다 다르게 적는다는 점도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괄호 안이 (Primary Running) 에서 바뀐 것이 판정의 핵심 신호다. Unknown 이 많은 것 자체도 진단 정보다. 물어볼 상대가 없다는 뜻이기 때문이다. 다만 Failover 를 결정하기 전에 Primary 를 RTO 안에 되살릴 수 있는지 먼저 판단해야 한다. Failover 는 손실 가능성과 Reinstate 부담, 백업 재수립을 동반한다.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짧은 이유는 옛 Primary 와 협상하지 않기 때문이다. MaxPerformance 인데도 손실이 없었던 것은 실시간 전송이라 커밋 시점에 이미 SRL 로 흘러가 있었기 때문이며 보장은 아니다. 무손실을 보장하려면 8장의 MaxAvailability 이상이 필요하다. RESETLOGS 는 새 인큐네이션의 시작이며 이것이 Reinstate 가 필요한 이유이기도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14장부터 반복한 주제가 가장 극단적으로 나타난다. 재해가 났고 Standby 가 없는 상태인데 화면은 SUCCESS 다. 지금 이 구성에는 보호가 없으며 재해가 한 번 더 나면 복구할 곳이 없다. 감시 항목에 활성 멤버 수와 (disabled) 표시, ORA-16661 문자열을 넣어 두어야 이 상황이 잡힌다. 재해가 한 번 더 나면 복구할 곳이 없다. 14장의 감시 다섯 층 중 4층인 VALIDATE 를 돌리면 정상이 아니라는 것이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열면 옛 인큐네이션으로 열려 되감을 수 없게 된다. 마운트 상태에서 FLASHBACK_ON 이 YES 인 것이 결정적이며 NO 였다면 이 데이터베이스는 버리고 6장의 절차로 새로 만들어야 했다. Reinstate 는 내부적으로 플래시백으로 되감고 역할을 바꾸고 적용을 시작한다. 명령은 한 줄이다. 명령은 한 줄이다. Reinstate 는 내부적으로 플래시백으로 되감고 역할을 바꾸고 적용을 시작한다. 실측 소요는 51초였다.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RESETLOGS 로 새 인큐네이션이 시작되면서 시퀀스가 1 부터 다시 매겨졌다. 95 를 기대하는 감시는 4 를 보고 91만큼 밀렸다고 판정한다. 그러므로 RESETLOGS_ID 나 RESETLOGS_CHANGE# 를 함께 수집하고 그 값이 바뀌면 기준선을 재설정해야 한다. 그리고 그때가 전체 백업을 다시 받아야 하는 시점이기도 하다. 그때가 전체 백업을 다시 받아야 하는 시점이기도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재해 대응의 총 소요는 Failover 시간만이 아니다. 상황 판단(자동이면 FSFO 의 Threshold 30초), Failover 24초, 애플리케이션 재접속, 그리고 Reinstate 51초가 이어진다. Reinstate 는 업무 재개 후에 해도 된다. 이 숫자들을 기록해 두면 RTO 를 몇 분쯤이 아니라 지난 훈련 기준 N초로 말할 수 있다. 이 숫자들을 기록해 두면 RTO 를 몇 분쯤이 아니라 지난 훈련 기준 N초로 말할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IDENTIFIER IS 절이 있으면 관측자가 그 식별자로 다시 접속하면서 자격증명을 새로 요구한다. 로그인 자체는 성공했는데 그다음이 실패한 이유다. 대화식이라면 물어보지만 스크립트에서는 줄 방법이 없으므로 전경 실행 형식을 쓰고 셸에서 배경으로 돌린다. 관측자 이름은 호스트 이름을 쓰며, dat 파일은 재기동해도 이어서 감시하도록 상태를 담는다.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Ping 두 줄이 감시가 살아 있다는 증거이며 이 값이 커지면 관측자가 응답하지 않는 것이다. Master 라는 표시도 읽어 둔다. 19c 는 관측자를 여럿 둘 수 있고 그중 하나가 주 관측자다. 이 화면이 나와야 비로소 자동 전환이 실제로 동작하는 상태이며, 14장에서는 여기까지 가지 않고 ORA-16819 인 채로 껐다. 관측자 호스트에 직접 접속하지 않고도 이 화면으로 상태를 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53초의 MOUNTED 가 전환이 진행 중인 순간이며 Active Data Guard 로 조회하던 세션은 이때 끊긴다. 전환 자체는 33초였고 강제 종료부터 세면 69초다. 차이인 36초가 Threshold 30초와 확인 절차다. 손실은 없었다. 실습 07 의 수동 Failover 와 같은 이유이며 역시 보장은 아니다. 실습 07 의 수동 Failover 24초와 비교하면 판단에 쓰인 시간이 얼마인지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임계값이 지났는데도 한 번 거부한다. Standby 가 방금까지 Primary 와 연락하고 있었다는 이유다. 관측자에게만 안 보이는 상황일 수 있으므로 두 곳이 모두 안 보인다고 해야 진행한다. 14장에서 관측자가 제3의 위치에 있어야 한다고 설명한 이유가 여기서 동작으로 확인된다. 이 한 줄이 자동 전환을 신뢰할 수 있게 만드는 근거다. 두 곳의 관점이 일치해야 움직인다는 설계를 기억해 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14장에서 값만 보고 넘어간 Auto-reinstate: TRUE 가 이 동작이다. 반복되는 Failed to ping 은 MOUNT 직후 아직 준비가 안 된 것이며 될 때까지 재시도한다. 진행 중에는 구성에 ORA-16657 이 붙는다. 재편입은 역할을 되돌리는 데까지이고 Intended State 적용은 별개 단계이므로, 자동 전환 뒤에는 역할과 적용을 두 번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RMAN-06820 은 아카이브를 빠짐없이 받으려면 Primary 의 현재 로그를 먼저 아카이브해야 하는데 자격증명이 없어 나는 경고다. 백업은 그대로 진행된다. 가장 단순한 배분은 데이터 파일은 Standby 에서, 아카이브는 Primary 에서 받는 것이다. 컨트롤 파일 자동 백업은 FORMAT 절을 따르지 않고 FRA 로 간다는 점도 함께 기억한다. 열린 채로 받았고 MRP 는 그동안 계속 적용했다는 점도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컨트롤 파일은 리두로 복제되는 대상이 아니다. 8장에서 데이터 파일 추가는 전파되지만 컨트롤 파일 자체는 각자 관리한다고 배웠고 백업 이력도 마찬가지다. 그러므로 Standby 에서 백업받으면 된다는 말은 절반만 맞다. 백업 자체는 쓸 수 있지만 Primary 가 그 존재를 모르며, 재해가 나서 급할 때 이것을 알게 되면 곤란하다. 이 사실을 모르고 Standby 백업만 믿으면 정작 복구할 때 목록에서 찾지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카탈로그는 DB_UNIQUE_NAME 으로 구성원을 구별한다. DBID 가 같아 그것만으로는 어느 쪽인지 알 수 없기 때문이며 16.3절의 원칙이 여기서도 적용된다. 두 번째 방법의 결론이 마지막 줄이다. 백업은 boston 에서 받았는데 chicago 에 등록하니 chicago 의 파일 이름으로 나온다. 6장에서 양쪽을 OMF 와 수동 경로로 다르게 구성했는데도 그대로 쓸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역할 전환과 이후 운영</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시험해 보지 않은 전환은 없는 것과 같다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과정을 닫는 자리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Switchover 와 Failover 의 차이를 손실·되돌림 관점에서 설명한다.</a:t>
            </a:r>
          </a:p>
          <a:p>
            <a:pPr algn="l">
              <a:spcAft>
                <a:spcPts val="1000"/>
              </a:spcAft>
            </a:pPr>
            <a:r>
              <a:rPr sz="1600" b="0">
                <a:solidFill>
                  <a:srgbClr val="222222"/>
                </a:solidFill>
                <a:latin typeface="맑은 고딕"/>
              </a:rPr>
              <a:t>•  </a:t>
            </a:r>
            <a:r>
              <a:rPr sz="1600" b="0">
                <a:solidFill>
                  <a:srgbClr val="222222"/>
                </a:solidFill>
                <a:latin typeface="Consolas"/>
                <a:cs typeface="Consolas"/>
              </a:rPr>
              <a:t>V$DATABASE.SWITCHOVER_STATUS</a:t>
            </a:r>
            <a:r>
              <a:rPr sz="1600" b="0">
                <a:solidFill>
                  <a:srgbClr val="222222"/>
                </a:solidFill>
                <a:latin typeface="맑은 고딕"/>
              </a:rPr>
              <a:t> 를 역할별로 해석한다.</a:t>
            </a:r>
          </a:p>
          <a:p>
            <a:pPr algn="l">
              <a:spcAft>
                <a:spcPts val="1000"/>
              </a:spcAft>
            </a:pPr>
            <a:r>
              <a:rPr sz="1600" b="0">
                <a:solidFill>
                  <a:srgbClr val="222222"/>
                </a:solidFill>
                <a:latin typeface="맑은 고딕"/>
              </a:rPr>
              <a:t>•  DGMGRL 로 전환하고 출력의 각 줄이 무엇을 뜻하는지 읽는다.</a:t>
            </a:r>
          </a:p>
          <a:p>
            <a:pPr algn="l">
              <a:spcAft>
                <a:spcPts val="1000"/>
              </a:spcAft>
            </a:pPr>
            <a:r>
              <a:rPr sz="1600" b="0">
                <a:solidFill>
                  <a:srgbClr val="222222"/>
                </a:solidFill>
                <a:latin typeface="맑은 고딕"/>
              </a:rPr>
              <a:t>•  전환 후 파라미터와 역할이 어떻게 뒤바뀌는지 확인한다.</a:t>
            </a:r>
          </a:p>
          <a:p>
            <a:pPr algn="l">
              <a:spcAft>
                <a:spcPts val="1000"/>
              </a:spcAft>
            </a:pPr>
            <a:r>
              <a:rPr sz="1600" b="0">
                <a:solidFill>
                  <a:srgbClr val="222222"/>
                </a:solidFill>
                <a:latin typeface="맑은 고딕"/>
              </a:rPr>
              <a:t>•  전환이 거부되는 경우와 오류 번호를 구별한다.</a:t>
            </a:r>
          </a:p>
          <a:p>
            <a:pPr algn="l">
              <a:spcAft>
                <a:spcPts val="1000"/>
              </a:spcAft>
            </a:pPr>
            <a:r>
              <a:rPr sz="1600" b="0">
                <a:solidFill>
                  <a:srgbClr val="222222"/>
                </a:solidFill>
                <a:latin typeface="맑은 고딕"/>
              </a:rPr>
              <a:t>•  </a:t>
            </a:r>
            <a:r>
              <a:rPr sz="1600" b="1">
                <a:solidFill>
                  <a:srgbClr val="222222"/>
                </a:solidFill>
                <a:latin typeface="맑은 고딕"/>
              </a:rPr>
              <a:t>Broker 환경에서 SQL 로 전환하면</a:t>
            </a:r>
            <a:r>
              <a:rPr sz="1600" b="0">
                <a:solidFill>
                  <a:srgbClr val="222222"/>
                </a:solidFill>
                <a:latin typeface="맑은 고딕"/>
              </a:rPr>
              <a:t> 어떻게 되는지 실측으로 확인하고 복구한다.</a:t>
            </a:r>
          </a:p>
          <a:p>
            <a:pPr algn="l">
              <a:spcAft>
                <a:spcPts val="1000"/>
              </a:spcAft>
            </a:pPr>
            <a:r>
              <a:rPr sz="1600" b="0">
                <a:solidFill>
                  <a:srgbClr val="222222"/>
                </a:solidFill>
                <a:latin typeface="맑은 고딕"/>
              </a:rPr>
              <a:t>•  플래시백을 켜고 Failover 후 </a:t>
            </a:r>
            <a:r>
              <a:rPr sz="1600" b="0">
                <a:solidFill>
                  <a:srgbClr val="222222"/>
                </a:solidFill>
                <a:latin typeface="Consolas"/>
                <a:cs typeface="Consolas"/>
              </a:rPr>
              <a:t>REINSTATE</a:t>
            </a:r>
            <a:r>
              <a:rPr sz="1600" b="0">
                <a:solidFill>
                  <a:srgbClr val="222222"/>
                </a:solidFill>
                <a:latin typeface="맑은 고딕"/>
              </a:rPr>
              <a:t> 로 옛 Primary 를 되살린다.</a:t>
            </a:r>
          </a:p>
          <a:p>
            <a:pPr algn="l">
              <a:spcAft>
                <a:spcPts val="1000"/>
              </a:spcAft>
            </a:pPr>
            <a:r>
              <a:rPr sz="1600" b="0">
                <a:solidFill>
                  <a:srgbClr val="222222"/>
                </a:solidFill>
                <a:latin typeface="맑은 고딕"/>
              </a:rPr>
              <a:t>•  전환 절차를 운영 체크리스트로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16.2  두 가지 전환</a:t>
            </a:r>
          </a:p>
          <a:p>
            <a:pPr algn="l">
              <a:spcAft>
                <a:spcPts val="1000"/>
              </a:spcAft>
            </a:pPr>
            <a:r>
              <a:rPr sz="1600" b="0">
                <a:solidFill>
                  <a:srgbClr val="222222"/>
                </a:solidFill>
                <a:latin typeface="맑은 고딕"/>
              </a:rPr>
              <a:t>•  16.3  사전 점검</a:t>
            </a:r>
          </a:p>
          <a:p>
            <a:pPr algn="l">
              <a:spcAft>
                <a:spcPts val="1000"/>
              </a:spcAft>
            </a:pPr>
            <a:r>
              <a:rPr sz="1600" b="0">
                <a:solidFill>
                  <a:srgbClr val="222222"/>
                </a:solidFill>
                <a:latin typeface="맑은 고딕"/>
              </a:rPr>
              <a:t>•  16.4  Switchover 실행</a:t>
            </a:r>
          </a:p>
          <a:p>
            <a:pPr algn="l">
              <a:spcAft>
                <a:spcPts val="1000"/>
              </a:spcAft>
            </a:pPr>
            <a:r>
              <a:rPr sz="1600" b="0">
                <a:solidFill>
                  <a:srgbClr val="222222"/>
                </a:solidFill>
                <a:latin typeface="맑은 고딕"/>
              </a:rPr>
              <a:t>•  16.5  전환 후 무엇이 바뀌었나</a:t>
            </a:r>
          </a:p>
          <a:p>
            <a:pPr algn="l">
              <a:spcAft>
                <a:spcPts val="1000"/>
              </a:spcAft>
            </a:pPr>
            <a:r>
              <a:rPr sz="1600" b="0">
                <a:solidFill>
                  <a:srgbClr val="222222"/>
                </a:solidFill>
                <a:latin typeface="맑은 고딕"/>
              </a:rPr>
              <a:t>•  16.6  전환이 거부되는 경우</a:t>
            </a:r>
          </a:p>
          <a:p>
            <a:pPr algn="l">
              <a:spcAft>
                <a:spcPts val="1000"/>
              </a:spcAft>
            </a:pPr>
            <a:r>
              <a:rPr sz="1600" b="0">
                <a:solidFill>
                  <a:srgbClr val="222222"/>
                </a:solidFill>
                <a:latin typeface="맑은 고딕"/>
              </a:rPr>
              <a:t>•  16.7  SQL 로 전환하면 — 실측 사고</a:t>
            </a:r>
          </a:p>
          <a:p>
            <a:pPr algn="l">
              <a:spcAft>
                <a:spcPts val="1000"/>
              </a:spcAft>
            </a:pPr>
            <a:r>
              <a:rPr sz="1600" b="0">
                <a:solidFill>
                  <a:srgbClr val="222222"/>
                </a:solidFill>
                <a:latin typeface="맑은 고딕"/>
              </a:rPr>
              <a:t>•  16.8  Failover 와 Reinstate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두 가지 전환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이름은 비슷하고 성격은 다르다</a:t>
            </a:r>
          </a:p>
          <a:p>
            <a:pPr algn="l">
              <a:spcAft>
                <a:spcPts val="800"/>
              </a:spcAft>
            </a:pPr>
            <a:r>
              <a:rPr sz="1600" b="0">
                <a:solidFill>
                  <a:srgbClr val="FFFFFF"/>
                </a:solidFill>
                <a:latin typeface="맑은 고딕"/>
              </a:rPr>
              <a:t>•  손실 여부가 핵심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Switchover vs Failover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다른가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언제 — </a:t>
            </a:r>
            <a:r>
              <a:rPr sz="1700" b="1">
                <a:solidFill>
                  <a:srgbClr val="222222"/>
                </a:solidFill>
                <a:latin typeface="맑은 고딕"/>
              </a:rPr>
              <a:t>계획된 작업</a:t>
            </a:r>
            <a:r>
              <a:rPr sz="1700" b="0">
                <a:solidFill>
                  <a:srgbClr val="222222"/>
                </a:solidFill>
                <a:latin typeface="맑은 고딕"/>
              </a:rPr>
              <a:t> / </a:t>
            </a:r>
            <a:r>
              <a:rPr sz="1700" b="1">
                <a:solidFill>
                  <a:srgbClr val="222222"/>
                </a:solidFill>
                <a:latin typeface="맑은 고딕"/>
              </a:rPr>
              <a:t>재해</a:t>
            </a:r>
          </a:p>
          <a:p>
            <a:pPr algn="l">
              <a:spcAft>
                <a:spcPts val="1000"/>
              </a:spcAft>
            </a:pPr>
            <a:r>
              <a:rPr sz="1700" b="0">
                <a:solidFill>
                  <a:srgbClr val="222222"/>
                </a:solidFill>
                <a:latin typeface="맑은 고딕"/>
              </a:rPr>
              <a:t>•  데이터 손실 — </a:t>
            </a:r>
            <a:r>
              <a:rPr sz="1700" b="1">
                <a:solidFill>
                  <a:srgbClr val="222222"/>
                </a:solidFill>
                <a:latin typeface="맑은 고딕"/>
              </a:rPr>
              <a:t>없다</a:t>
            </a:r>
            <a:r>
              <a:rPr sz="1700" b="0">
                <a:solidFill>
                  <a:srgbClr val="222222"/>
                </a:solidFill>
                <a:latin typeface="맑은 고딕"/>
              </a:rPr>
              <a:t> / </a:t>
            </a:r>
            <a:r>
              <a:rPr sz="1700" b="1">
                <a:solidFill>
                  <a:srgbClr val="222222"/>
                </a:solidFill>
                <a:latin typeface="맑은 고딕"/>
              </a:rPr>
              <a:t>있을 수 있다</a:t>
            </a:r>
          </a:p>
          <a:p>
            <a:pPr algn="l">
              <a:spcAft>
                <a:spcPts val="1000"/>
              </a:spcAft>
            </a:pPr>
            <a:r>
              <a:rPr sz="1700" b="0">
                <a:solidFill>
                  <a:srgbClr val="222222"/>
                </a:solidFill>
                <a:latin typeface="맑은 고딕"/>
              </a:rPr>
              <a:t>•  옛 Primary — 그대로 Standby / </a:t>
            </a:r>
            <a:r>
              <a:rPr sz="1700" b="1">
                <a:solidFill>
                  <a:srgbClr val="222222"/>
                </a:solidFill>
                <a:latin typeface="맑은 고딕"/>
              </a:rPr>
              <a:t>Reinstate 필요</a:t>
            </a:r>
          </a:p>
          <a:p>
            <a:pPr algn="l">
              <a:spcAft>
                <a:spcPts val="1000"/>
              </a:spcAft>
            </a:pPr>
            <a:r>
              <a:rPr sz="1700" b="0">
                <a:solidFill>
                  <a:srgbClr val="222222"/>
                </a:solidFill>
                <a:latin typeface="맑은 고딕"/>
              </a:rPr>
              <a:t>•  전제 — 양쪽 정상 / Standby 만 살아 있으면 된다</a:t>
            </a:r>
          </a:p>
          <a:p>
            <a:pPr algn="l">
              <a:spcAft>
                <a:spcPts val="1000"/>
              </a:spcAft>
            </a:pPr>
            <a:r>
              <a:rPr sz="1700" b="0">
                <a:solidFill>
                  <a:srgbClr val="222222"/>
                </a:solidFill>
                <a:latin typeface="맑은 고딕"/>
              </a:rPr>
              <a:t>•  실측 소요 — </a:t>
            </a:r>
            <a:r>
              <a:rPr sz="1700" b="1">
                <a:solidFill>
                  <a:srgbClr val="222222"/>
                </a:solidFill>
                <a:latin typeface="맑은 고딕"/>
              </a:rPr>
              <a:t>64초</a:t>
            </a:r>
            <a:r>
              <a:rPr sz="1700" b="0">
                <a:solidFill>
                  <a:srgbClr val="222222"/>
                </a:solidFill>
                <a:latin typeface="맑은 고딕"/>
              </a:rPr>
              <a:t> / </a:t>
            </a:r>
            <a:r>
              <a:rPr sz="1700" b="1">
                <a:solidFill>
                  <a:srgbClr val="222222"/>
                </a:solidFill>
                <a:latin typeface="맑은 고딕"/>
              </a:rPr>
              <a:t>24초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훈련하는가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되돌릴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Switchover 는 다시 Switchover 하면 원래대로</a:t>
            </a:r>
          </a:p>
          <a:p>
            <a:pPr algn="l">
              <a:spcAft>
                <a:spcPts val="1000"/>
              </a:spcAft>
            </a:pPr>
            <a:r>
              <a:rPr sz="1700" b="0">
                <a:solidFill>
                  <a:srgbClr val="222222"/>
                </a:solidFill>
                <a:latin typeface="맑은 고딕"/>
              </a:rPr>
              <a:t>•  Failover 는 훈련하기 어렵고 </a:t>
            </a:r>
            <a:r>
              <a:rPr sz="1700" b="1">
                <a:solidFill>
                  <a:srgbClr val="222222"/>
                </a:solidFill>
                <a:latin typeface="맑은 고딕"/>
              </a:rPr>
              <a:t>흔적이 남는다</a:t>
            </a:r>
            <a:r>
              <a:rPr sz="1700" b="0">
                <a:solidFill>
                  <a:srgbClr val="222222"/>
                </a:solidFill>
                <a:latin typeface="맑은 고딕"/>
              </a:rPr>
              <a:t>(RESETLOGS)</a:t>
            </a:r>
          </a:p>
          <a:p>
            <a:pPr algn="l">
              <a:spcAft>
                <a:spcPts val="1000"/>
              </a:spcAft>
            </a:pPr>
            <a:r>
              <a:rPr sz="1700" b="0">
                <a:solidFill>
                  <a:srgbClr val="222222"/>
                </a:solidFill>
                <a:latin typeface="맑은 고딕"/>
              </a:rPr>
              <a:t>•  실측 왕복 </a:t>
            </a:r>
            <a:r>
              <a:rPr sz="1700" b="1">
                <a:solidFill>
                  <a:srgbClr val="222222"/>
                </a:solidFill>
                <a:latin typeface="맑은 고딕"/>
              </a:rPr>
              <a:t>64초 + 69초</a:t>
            </a:r>
          </a:p>
          <a:p>
            <a:pPr algn="l">
              <a:spcAft>
                <a:spcPts val="1000"/>
              </a:spcAft>
            </a:pPr>
            <a:r>
              <a:rPr sz="1700" b="0">
                <a:solidFill>
                  <a:srgbClr val="222222"/>
                </a:solidFill>
                <a:latin typeface="맑은 고딕"/>
              </a:rPr>
              <a:t>•  </a:t>
            </a:r>
            <a:r>
              <a:rPr sz="1700" b="1">
                <a:solidFill>
                  <a:srgbClr val="222222"/>
                </a:solidFill>
                <a:latin typeface="맑은 고딕"/>
              </a:rPr>
              <a:t>시험해 보지 않은 전환은 없는 것과 같다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사전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SWITCHOVER_STATUS</a:t>
            </a:r>
          </a:p>
          <a:p>
            <a:pPr algn="l">
              <a:spcAft>
                <a:spcPts val="800"/>
              </a:spcAft>
            </a:pPr>
            <a:r>
              <a:rPr sz="1600" b="0">
                <a:solidFill>
                  <a:srgbClr val="FFFFFF"/>
                </a:solidFill>
                <a:latin typeface="맑은 고딕"/>
              </a:rPr>
              <a:t>•  VALIDATE 로 최종 확인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SWITCHOVER_STATUS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양쪽이 다른 것이 정상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 </a:t>
            </a:r>
            <a:r>
              <a:rPr sz="1700" b="1">
                <a:solidFill>
                  <a:srgbClr val="222222"/>
                </a:solidFill>
                <a:latin typeface="Consolas"/>
                <a:cs typeface="Consolas"/>
              </a:rPr>
              <a:t>TO STANDBY</a:t>
            </a:r>
          </a:p>
          <a:p>
            <a:pPr algn="l">
              <a:spcAft>
                <a:spcPts val="1000"/>
              </a:spcAft>
            </a:pPr>
            <a:r>
              <a:rPr sz="1700" b="0">
                <a:solidFill>
                  <a:srgbClr val="222222"/>
                </a:solidFill>
                <a:latin typeface="맑은 고딕"/>
              </a:rPr>
              <a:t>•  Standby — </a:t>
            </a:r>
            <a:r>
              <a:rPr sz="1700" b="1">
                <a:solidFill>
                  <a:srgbClr val="222222"/>
                </a:solidFill>
                <a:latin typeface="Consolas"/>
                <a:cs typeface="Consolas"/>
              </a:rPr>
              <a:t>NOT ALLOWED</a:t>
            </a:r>
          </a:p>
          <a:p>
            <a:pPr algn="l">
              <a:spcAft>
                <a:spcPts val="1000"/>
              </a:spcAft>
            </a:pPr>
            <a:r>
              <a:rPr sz="1700" b="0">
                <a:solidFill>
                  <a:srgbClr val="222222"/>
                </a:solidFill>
                <a:latin typeface="맑은 고딕"/>
              </a:rPr>
              <a:t>•  </a:t>
            </a:r>
            <a:r>
              <a:rPr sz="1700" b="0">
                <a:solidFill>
                  <a:srgbClr val="222222"/>
                </a:solidFill>
                <a:latin typeface="Consolas"/>
                <a:cs typeface="Consolas"/>
              </a:rPr>
              <a:t>SESSIONS ACTIVE</a:t>
            </a:r>
            <a:r>
              <a:rPr sz="1700" b="0">
                <a:solidFill>
                  <a:srgbClr val="222222"/>
                </a:solidFill>
                <a:latin typeface="맑은 고딕"/>
              </a:rPr>
              <a:t> — 활성 세션이 있다</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 NEEDED</a:t>
            </a:r>
            <a:r>
              <a:rPr sz="1700" b="0">
                <a:solidFill>
                  <a:srgbClr val="222222"/>
                </a:solidFill>
                <a:latin typeface="맑은 고딕"/>
              </a:rPr>
              <a:t> — 적용이 덜 됐다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이름은 같고 역할만 바뀐다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DB_UNIQUE_NAME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V$DATABASE.NAME</a:t>
            </a:r>
            <a:r>
              <a:rPr sz="1700" b="0">
                <a:solidFill>
                  <a:srgbClr val="222222"/>
                </a:solidFill>
                <a:latin typeface="맑은 고딕"/>
              </a:rPr>
              <a:t> — 양쪽 모두 </a:t>
            </a:r>
            <a:r>
              <a:rPr sz="1700" b="1">
                <a:solidFill>
                  <a:srgbClr val="222222"/>
                </a:solidFill>
                <a:latin typeface="Consolas"/>
                <a:cs typeface="Consolas"/>
              </a:rPr>
              <a:t>CHICAGO</a:t>
            </a:r>
          </a:p>
          <a:p>
            <a:pPr algn="l">
              <a:spcAft>
                <a:spcPts val="1000"/>
              </a:spcAft>
            </a:pPr>
            <a:r>
              <a:rPr sz="1700" b="0">
                <a:solidFill>
                  <a:srgbClr val="222222"/>
                </a:solidFill>
                <a:latin typeface="맑은 고딕"/>
              </a:rPr>
              <a:t>•  구별은 </a:t>
            </a:r>
            <a:r>
              <a:rPr sz="1700" b="1">
                <a:solidFill>
                  <a:srgbClr val="222222"/>
                </a:solidFill>
                <a:latin typeface="Consolas"/>
                <a:cs typeface="Consolas"/>
              </a:rPr>
              <a:t>DB_UNIQUE_NAME</a:t>
            </a:r>
            <a:r>
              <a:rPr sz="1700" b="0">
                <a:solidFill>
                  <a:srgbClr val="222222"/>
                </a:solidFill>
                <a:latin typeface="맑은 고딕"/>
              </a:rPr>
              <a:t> (</a:t>
            </a:r>
            <a:r>
              <a:rPr sz="1700" b="0">
                <a:solidFill>
                  <a:srgbClr val="222222"/>
                </a:solidFill>
                <a:latin typeface="Consolas"/>
                <a:cs typeface="Consolas"/>
              </a:rPr>
              <a:t>chicago</a:t>
            </a:r>
            <a:r>
              <a:rPr sz="1700" b="0">
                <a:solidFill>
                  <a:srgbClr val="222222"/>
                </a:solidFill>
                <a:latin typeface="맑은 고딕"/>
              </a:rPr>
              <a:t> / </a:t>
            </a:r>
            <a:r>
              <a:rPr sz="1700" b="0">
                <a:solidFill>
                  <a:srgbClr val="222222"/>
                </a:solidFill>
                <a:latin typeface="Consolas"/>
                <a:cs typeface="Consolas"/>
              </a:rPr>
              <a:t>boston</a:t>
            </a:r>
            <a:r>
              <a:rPr sz="1700" b="0">
                <a:solidFill>
                  <a:srgbClr val="222222"/>
                </a:solidFill>
                <a:latin typeface="맑은 고딕"/>
              </a:rPr>
              <a:t>)</a:t>
            </a:r>
          </a:p>
          <a:p>
            <a:pPr algn="l">
              <a:spcAft>
                <a:spcPts val="1000"/>
              </a:spcAft>
            </a:pPr>
            <a:r>
              <a:rPr sz="1700" b="0">
                <a:solidFill>
                  <a:srgbClr val="222222"/>
                </a:solidFill>
                <a:latin typeface="맑은 고딕"/>
              </a:rPr>
              <a:t>•  Broker 의 멤버 이름도 이 값</a:t>
            </a:r>
          </a:p>
          <a:p>
            <a:pPr algn="l">
              <a:spcAft>
                <a:spcPts val="1000"/>
              </a:spcAft>
            </a:pPr>
            <a:r>
              <a:rPr sz="1700" b="0">
                <a:solidFill>
                  <a:srgbClr val="222222"/>
                </a:solidFill>
                <a:latin typeface="맑은 고딕"/>
              </a:rPr>
              <a:t>•  </a:t>
            </a:r>
            <a:r>
              <a:rPr sz="1700" b="1">
                <a:solidFill>
                  <a:srgbClr val="222222"/>
                </a:solidFill>
                <a:latin typeface="Consolas"/>
                <a:cs typeface="Consolas"/>
              </a:rPr>
              <a:t>NAME</a:t>
            </a:r>
            <a:r>
              <a:rPr sz="1700" b="1">
                <a:solidFill>
                  <a:srgbClr val="222222"/>
                </a:solidFill>
                <a:latin typeface="맑은 고딕"/>
              </a:rPr>
              <a:t> 으로 판단하면 안 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가 본래 목적을 얻는다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전환 직전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Ready for Switchover: Yes</a:t>
            </a:r>
            <a:r>
              <a:rPr sz="1700" b="0">
                <a:solidFill>
                  <a:srgbClr val="222222"/>
                </a:solidFill>
                <a:latin typeface="맑은 고딕"/>
              </a:rPr>
              <a:t> 가 </a:t>
            </a:r>
            <a:r>
              <a:rPr sz="1700" b="1">
                <a:solidFill>
                  <a:srgbClr val="222222"/>
                </a:solidFill>
                <a:latin typeface="맑은 고딕"/>
              </a:rPr>
              <a:t>진행 신호</a:t>
            </a:r>
          </a:p>
          <a:p>
            <a:pPr algn="l">
              <a:spcAft>
                <a:spcPts val="1000"/>
              </a:spcAft>
            </a:pPr>
            <a:r>
              <a:rPr sz="1700" b="0">
                <a:solidFill>
                  <a:srgbClr val="222222"/>
                </a:solidFill>
                <a:latin typeface="맑은 고딕"/>
              </a:rPr>
              <a:t>•  </a:t>
            </a:r>
            <a:r>
              <a:rPr sz="1700" b="0">
                <a:solidFill>
                  <a:srgbClr val="222222"/>
                </a:solidFill>
                <a:latin typeface="Consolas"/>
                <a:cs typeface="Consolas"/>
              </a:rPr>
              <a:t>static connect identifier</a:t>
            </a:r>
            <a:r>
              <a:rPr sz="1700" b="0">
                <a:solidFill>
                  <a:srgbClr val="222222"/>
                </a:solidFill>
                <a:latin typeface="맑은 고딕"/>
              </a:rPr>
              <a:t> 검사 — 전환 과정과 직결</a:t>
            </a:r>
          </a:p>
          <a:p>
            <a:pPr algn="l">
              <a:spcAft>
                <a:spcPts val="1000"/>
              </a:spcAft>
            </a:pPr>
            <a:r>
              <a:rPr sz="1700" b="0">
                <a:solidFill>
                  <a:srgbClr val="222222"/>
                </a:solidFill>
                <a:latin typeface="맑은 고딕"/>
              </a:rPr>
              <a:t>•  </a:t>
            </a:r>
            <a:r>
              <a:rPr sz="1700" b="0">
                <a:solidFill>
                  <a:srgbClr val="222222"/>
                </a:solidFill>
                <a:latin typeface="Consolas"/>
                <a:cs typeface="Consolas"/>
              </a:rPr>
              <a:t>Log Files Cleared</a:t>
            </a:r>
            <a:r>
              <a:rPr sz="1700" b="0">
                <a:solidFill>
                  <a:srgbClr val="222222"/>
                </a:solidFill>
                <a:latin typeface="맑은 고딕"/>
              </a:rPr>
              <a:t> / </a:t>
            </a:r>
            <a:r>
              <a:rPr sz="1700" b="0">
                <a:solidFill>
                  <a:srgbClr val="222222"/>
                </a:solidFill>
                <a:latin typeface="Consolas"/>
                <a:cs typeface="Consolas"/>
              </a:rPr>
              <a:t>Future</a:t>
            </a:r>
            <a:r>
              <a:rPr sz="1700" b="0">
                <a:solidFill>
                  <a:srgbClr val="222222"/>
                </a:solidFill>
                <a:latin typeface="맑은 고딕"/>
              </a:rPr>
              <a:t> 구성</a:t>
            </a:r>
          </a:p>
          <a:p>
            <a:pPr algn="l">
              <a:spcAft>
                <a:spcPts val="1000"/>
              </a:spcAft>
            </a:pPr>
            <a:r>
              <a:rPr sz="1700" b="0">
                <a:solidFill>
                  <a:srgbClr val="222222"/>
                </a:solidFill>
                <a:latin typeface="맑은 고딕"/>
              </a:rPr>
              <a:t>•  14장에서 </a:t>
            </a:r>
            <a:r>
              <a:rPr sz="1700" b="0">
                <a:solidFill>
                  <a:srgbClr val="222222"/>
                </a:solidFill>
                <a:latin typeface="Consolas"/>
                <a:cs typeface="Consolas"/>
              </a:rPr>
              <a:t>No</a:t>
            </a:r>
            <a:r>
              <a:rPr sz="1700" b="0">
                <a:solidFill>
                  <a:srgbClr val="222222"/>
                </a:solidFill>
                <a:latin typeface="맑은 고딕"/>
              </a:rPr>
              <a:t> 가 되는 두 상황을 만들어 봤다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Switchover 실행</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명령은 한 줄</a:t>
            </a:r>
          </a:p>
          <a:p>
            <a:pPr algn="l">
              <a:spcAft>
                <a:spcPts val="800"/>
              </a:spcAft>
            </a:pPr>
            <a:r>
              <a:rPr sz="1600" b="0">
                <a:solidFill>
                  <a:srgbClr val="FFFFFF"/>
                </a:solidFill>
                <a:latin typeface="맑은 고딕"/>
              </a:rPr>
              <a:t>•  출력을 단계로 읽는다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명령은 한 줄이다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64초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switchover to 'boston'</a:t>
            </a:r>
          </a:p>
          <a:p>
            <a:pPr algn="l">
              <a:spcAft>
                <a:spcPts val="1000"/>
              </a:spcAft>
            </a:pPr>
            <a:r>
              <a:rPr sz="1700" b="0">
                <a:solidFill>
                  <a:srgbClr val="222222"/>
                </a:solidFill>
                <a:latin typeface="맑은 고딕"/>
              </a:rPr>
              <a:t>•  </a:t>
            </a:r>
            <a:r>
              <a:rPr sz="1700" b="0">
                <a:solidFill>
                  <a:srgbClr val="222222"/>
                </a:solidFill>
                <a:latin typeface="Consolas"/>
                <a:cs typeface="Consolas"/>
              </a:rPr>
              <a:t>Performing switchover NOW, please wait...</a:t>
            </a:r>
          </a:p>
          <a:p>
            <a:pPr algn="l">
              <a:spcAft>
                <a:spcPts val="1000"/>
              </a:spcAft>
            </a:pPr>
            <a:r>
              <a:rPr sz="1700" b="0">
                <a:solidFill>
                  <a:srgbClr val="222222"/>
                </a:solidFill>
                <a:latin typeface="맑은 고딕"/>
              </a:rPr>
              <a:t>•  </a:t>
            </a:r>
            <a:r>
              <a:rPr sz="1700" b="0">
                <a:solidFill>
                  <a:srgbClr val="222222"/>
                </a:solidFill>
                <a:latin typeface="Consolas"/>
                <a:cs typeface="Consolas"/>
              </a:rPr>
              <a:t>New primary database "boston" is opening...</a:t>
            </a:r>
          </a:p>
          <a:p>
            <a:pPr algn="l">
              <a:spcAft>
                <a:spcPts val="1000"/>
              </a:spcAft>
            </a:pPr>
            <a:r>
              <a:rPr sz="1700" b="0">
                <a:solidFill>
                  <a:srgbClr val="222222"/>
                </a:solidFill>
                <a:latin typeface="맑은 고딕"/>
              </a:rPr>
              <a:t>•  </a:t>
            </a:r>
            <a:r>
              <a:rPr sz="1700" b="0">
                <a:solidFill>
                  <a:srgbClr val="222222"/>
                </a:solidFill>
                <a:latin typeface="Consolas"/>
                <a:cs typeface="Consolas"/>
              </a:rPr>
              <a:t>Operation requires start up of instance "chicago"</a:t>
            </a:r>
          </a:p>
          <a:p>
            <a:pPr algn="l">
              <a:spcAft>
                <a:spcPts val="1000"/>
              </a:spcAft>
            </a:pPr>
            <a:r>
              <a:rPr sz="1700" b="0">
                <a:solidFill>
                  <a:srgbClr val="222222"/>
                </a:solidFill>
                <a:latin typeface="맑은 고딕"/>
              </a:rPr>
              <a:t>•  </a:t>
            </a:r>
            <a:r>
              <a:rPr sz="1700" b="0">
                <a:solidFill>
                  <a:srgbClr val="222222"/>
                </a:solidFill>
                <a:latin typeface="Consolas"/>
                <a:cs typeface="Consolas"/>
              </a:rPr>
              <a:t>Switchover succeeded, new primary is "boston"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Connected to an idle instance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핵심 한 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옛 Primary 는 전환 중 </a:t>
            </a:r>
            <a:r>
              <a:rPr sz="1700" b="1">
                <a:solidFill>
                  <a:srgbClr val="222222"/>
                </a:solidFill>
                <a:latin typeface="맑은 고딕"/>
              </a:rPr>
              <a:t>한 번 내려간다</a:t>
            </a:r>
          </a:p>
          <a:p>
            <a:pPr algn="l">
              <a:spcAft>
                <a:spcPts val="1000"/>
              </a:spcAft>
            </a:pPr>
            <a:r>
              <a:rPr sz="1700" b="0">
                <a:solidFill>
                  <a:srgbClr val="222222"/>
                </a:solidFill>
                <a:latin typeface="맑은 고딕"/>
              </a:rPr>
              <a:t>•  내려간 인스턴스에는 </a:t>
            </a:r>
            <a:r>
              <a:rPr sz="1700" b="1">
                <a:solidFill>
                  <a:srgbClr val="222222"/>
                </a:solidFill>
                <a:latin typeface="맑은 고딕"/>
              </a:rPr>
              <a:t>동적 등록이 없다</a:t>
            </a:r>
          </a:p>
          <a:p>
            <a:pPr algn="l">
              <a:spcAft>
                <a:spcPts val="1000"/>
              </a:spcAft>
            </a:pPr>
            <a:r>
              <a:rPr sz="1700" b="0">
                <a:solidFill>
                  <a:srgbClr val="222222"/>
                </a:solidFill>
                <a:latin typeface="맑은 고딕"/>
              </a:rPr>
              <a:t>•  그래서 </a:t>
            </a:r>
            <a:r>
              <a:rPr sz="1700" b="0">
                <a:solidFill>
                  <a:srgbClr val="222222"/>
                </a:solidFill>
                <a:latin typeface="Consolas"/>
                <a:cs typeface="Consolas"/>
              </a:rPr>
              <a:t>listener.ora</a:t>
            </a:r>
            <a:r>
              <a:rPr sz="1700" b="0">
                <a:solidFill>
                  <a:srgbClr val="222222"/>
                </a:solidFill>
                <a:latin typeface="맑은 고딕"/>
              </a:rPr>
              <a:t> 의 </a:t>
            </a:r>
            <a:r>
              <a:rPr sz="1700" b="1">
                <a:solidFill>
                  <a:srgbClr val="222222"/>
                </a:solidFill>
                <a:latin typeface="맑은 고딕"/>
              </a:rPr>
              <a:t>정적 등록</a:t>
            </a:r>
            <a:r>
              <a:rPr sz="1700" b="0">
                <a:solidFill>
                  <a:srgbClr val="222222"/>
                </a:solidFill>
                <a:latin typeface="맑은 고딕"/>
              </a:rPr>
              <a:t>이 필요하다</a:t>
            </a:r>
          </a:p>
          <a:p>
            <a:pPr algn="l">
              <a:spcAft>
                <a:spcPts val="1000"/>
              </a:spcAft>
            </a:pPr>
            <a:r>
              <a:rPr sz="1700" b="0">
                <a:solidFill>
                  <a:srgbClr val="222222"/>
                </a:solidFill>
                <a:latin typeface="맑은 고딕"/>
              </a:rPr>
              <a:t>•  없으면 </a:t>
            </a:r>
            <a:r>
              <a:rPr sz="1700" b="0">
                <a:solidFill>
                  <a:srgbClr val="222222"/>
                </a:solidFill>
                <a:latin typeface="Consolas"/>
                <a:cs typeface="Consolas"/>
              </a:rPr>
              <a:t>New primary ... is opening</a:t>
            </a:r>
            <a:r>
              <a:rPr sz="1700" b="0">
                <a:solidFill>
                  <a:srgbClr val="222222"/>
                </a:solidFill>
                <a:latin typeface="맑은 고딕"/>
              </a:rPr>
              <a:t> </a:t>
            </a:r>
            <a:r>
              <a:rPr sz="1700" b="1">
                <a:solidFill>
                  <a:srgbClr val="222222"/>
                </a:solidFill>
                <a:latin typeface="맑은 고딕"/>
              </a:rPr>
              <a:t>다음에서 멈춘다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Database opened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ADG 가 유지된다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새 Standby 가 마운트에서 그치지 않고 </a:t>
            </a:r>
            <a:r>
              <a:rPr sz="1700" b="1">
                <a:solidFill>
                  <a:srgbClr val="222222"/>
                </a:solidFill>
                <a:latin typeface="맑은 고딕"/>
              </a:rPr>
              <a:t>열렸다</a:t>
            </a:r>
          </a:p>
          <a:p>
            <a:pPr algn="l">
              <a:spcAft>
                <a:spcPts val="1000"/>
              </a:spcAft>
            </a:pPr>
            <a:r>
              <a:rPr sz="1700" b="0">
                <a:solidFill>
                  <a:srgbClr val="222222"/>
                </a:solidFill>
                <a:latin typeface="맑은 고딕"/>
              </a:rPr>
              <a:t>•  </a:t>
            </a:r>
            <a:r>
              <a:rPr sz="1700" b="0">
                <a:solidFill>
                  <a:srgbClr val="222222"/>
                </a:solidFill>
                <a:latin typeface="Consolas"/>
                <a:cs typeface="Consolas"/>
              </a:rPr>
              <a:t>READ ONLY WITH APPLY</a:t>
            </a:r>
          </a:p>
          <a:p>
            <a:pPr algn="l">
              <a:spcAft>
                <a:spcPts val="1000"/>
              </a:spcAft>
            </a:pPr>
            <a:r>
              <a:rPr sz="1700" b="0">
                <a:solidFill>
                  <a:srgbClr val="222222"/>
                </a:solidFill>
                <a:latin typeface="맑은 고딕"/>
              </a:rPr>
              <a:t>•  MRP0 도 </a:t>
            </a:r>
            <a:r>
              <a:rPr sz="1700" b="1">
                <a:solidFill>
                  <a:srgbClr val="222222"/>
                </a:solidFill>
                <a:latin typeface="맑은 고딕"/>
              </a:rPr>
              <a:t>자동으로 뜬다</a:t>
            </a:r>
            <a:r>
              <a:rPr sz="1700" b="0">
                <a:solidFill>
                  <a:srgbClr val="222222"/>
                </a:solidFill>
                <a:latin typeface="맑은 고딕"/>
              </a:rPr>
              <a:t> (시퀀스 86)</a:t>
            </a:r>
          </a:p>
          <a:p>
            <a:pPr algn="l">
              <a:spcAft>
                <a:spcPts val="1000"/>
              </a:spcAft>
            </a:pPr>
            <a:r>
              <a:rPr sz="1700" b="0">
                <a:solidFill>
                  <a:srgbClr val="222222"/>
                </a:solidFill>
                <a:latin typeface="맑은 고딕"/>
              </a:rPr>
              <a:t>•  Broker 의 </a:t>
            </a:r>
            <a:r>
              <a:rPr sz="1700" b="0">
                <a:solidFill>
                  <a:srgbClr val="222222"/>
                </a:solidFill>
                <a:latin typeface="Consolas"/>
                <a:cs typeface="Consolas"/>
              </a:rPr>
              <a:t>Intended State</a:t>
            </a:r>
            <a:r>
              <a:rPr sz="1700" b="0">
                <a:solidFill>
                  <a:srgbClr val="222222"/>
                </a:solidFill>
                <a:latin typeface="맑은 고딕"/>
              </a:rPr>
              <a:t> 가 역할과 함께 옮겨 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전환 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파라미터가 뒤바뀐다</a:t>
            </a:r>
          </a:p>
          <a:p>
            <a:pPr algn="l">
              <a:spcAft>
                <a:spcPts val="800"/>
              </a:spcAft>
            </a:pPr>
            <a:r>
              <a:rPr sz="1600" b="0">
                <a:solidFill>
                  <a:srgbClr val="FFFFFF"/>
                </a:solidFill>
                <a:latin typeface="맑은 고딕"/>
              </a:rPr>
              <a:t>•  되돌리기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파라미터가 뒤바뀐다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 가 다시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log_archive_dest_2</a:t>
            </a:r>
            <a:r>
              <a:rPr sz="1700" b="0">
                <a:solidFill>
                  <a:srgbClr val="222222"/>
                </a:solidFill>
                <a:latin typeface="맑은 고딕"/>
              </a:rPr>
              <a:t> = </a:t>
            </a:r>
            <a:r>
              <a:rPr sz="1700" b="1">
                <a:solidFill>
                  <a:srgbClr val="222222"/>
                </a:solidFill>
                <a:latin typeface="Consolas"/>
                <a:cs typeface="Consolas"/>
              </a:rPr>
              <a:t>service="chicago"</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log_archive_dest_state_2</a:t>
            </a:r>
            <a:r>
              <a:rPr sz="1700" b="0">
                <a:solidFill>
                  <a:srgbClr val="222222"/>
                </a:solidFill>
                <a:latin typeface="맑은 고딕"/>
              </a:rPr>
              <a:t> = </a:t>
            </a:r>
            <a:r>
              <a:rPr sz="1700" b="0">
                <a:solidFill>
                  <a:srgbClr val="222222"/>
                </a:solidFill>
                <a:latin typeface="Consolas"/>
                <a:cs typeface="Consolas"/>
              </a:rPr>
              <a:t>ENABLE</a:t>
            </a:r>
          </a:p>
          <a:p>
            <a:pPr algn="l">
              <a:spcAft>
                <a:spcPts val="1000"/>
              </a:spcAft>
            </a:pPr>
            <a:r>
              <a:rPr sz="1700" b="0">
                <a:solidFill>
                  <a:srgbClr val="222222"/>
                </a:solidFill>
                <a:latin typeface="맑은 고딕"/>
              </a:rPr>
              <a:t>•  </a:t>
            </a:r>
            <a:r>
              <a:rPr sz="1700" b="0">
                <a:solidFill>
                  <a:srgbClr val="222222"/>
                </a:solidFill>
                <a:latin typeface="Consolas"/>
                <a:cs typeface="Consolas"/>
              </a:rPr>
              <a:t>fal_server</a:t>
            </a:r>
            <a:r>
              <a:rPr sz="1700" b="0">
                <a:solidFill>
                  <a:srgbClr val="222222"/>
                </a:solidFill>
                <a:latin typeface="맑은 고딕"/>
              </a:rPr>
              <a:t> = </a:t>
            </a:r>
            <a:r>
              <a:rPr sz="1700" b="1">
                <a:solidFill>
                  <a:srgbClr val="222222"/>
                </a:solidFill>
                <a:latin typeface="맑은 고딕"/>
              </a:rPr>
              <a:t>(비어 있음)</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log_archive_config</a:t>
            </a:r>
            <a:r>
              <a:rPr sz="1700" b="0">
                <a:solidFill>
                  <a:srgbClr val="222222"/>
                </a:solidFill>
                <a:latin typeface="맑은 고딕"/>
              </a:rPr>
              <a:t> = </a:t>
            </a:r>
            <a:r>
              <a:rPr sz="1700" b="0">
                <a:solidFill>
                  <a:srgbClr val="222222"/>
                </a:solidFill>
                <a:latin typeface="Consolas"/>
                <a:cs typeface="Consolas"/>
              </a:rPr>
              <a:t>dg_config=(chicago,boston,farsync)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명령이 대칭이다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switchover to 'chicago'</a:t>
            </a:r>
            <a:r>
              <a:rPr sz="1700" b="0">
                <a:solidFill>
                  <a:srgbClr val="222222"/>
                </a:solidFill>
                <a:latin typeface="맑은 고딕"/>
              </a:rPr>
              <a:t> — 실측 </a:t>
            </a:r>
            <a:r>
              <a:rPr sz="1700" b="1">
                <a:solidFill>
                  <a:srgbClr val="222222"/>
                </a:solidFill>
                <a:latin typeface="맑은 고딕"/>
              </a:rPr>
              <a:t>69초</a:t>
            </a:r>
          </a:p>
          <a:p>
            <a:pPr algn="l">
              <a:spcAft>
                <a:spcPts val="1000"/>
              </a:spcAft>
            </a:pPr>
            <a:r>
              <a:rPr sz="1700" b="0">
                <a:solidFill>
                  <a:srgbClr val="222222"/>
                </a:solidFill>
                <a:latin typeface="맑은 고딕"/>
              </a:rPr>
              <a:t>•  이번에는 boston 쪽에 </a:t>
            </a:r>
            <a:r>
              <a:rPr sz="1700" b="0">
                <a:solidFill>
                  <a:srgbClr val="222222"/>
                </a:solidFill>
                <a:latin typeface="Consolas"/>
                <a:cs typeface="Consolas"/>
              </a:rPr>
              <a:t>Connected to an idle instance.</a:t>
            </a:r>
          </a:p>
          <a:p>
            <a:pPr algn="l">
              <a:spcAft>
                <a:spcPts val="1000"/>
              </a:spcAft>
            </a:pPr>
            <a:r>
              <a:rPr sz="1700" b="0">
                <a:solidFill>
                  <a:srgbClr val="222222"/>
                </a:solidFill>
                <a:latin typeface="맑은 고딕"/>
              </a:rPr>
              <a:t>•  데이터 — 전환 전(94)·후(95) </a:t>
            </a:r>
            <a:r>
              <a:rPr sz="1700" b="1">
                <a:solidFill>
                  <a:srgbClr val="222222"/>
                </a:solidFill>
                <a:latin typeface="맑은 고딕"/>
              </a:rPr>
              <a:t>모두 유지</a:t>
            </a:r>
          </a:p>
          <a:p>
            <a:pPr algn="l">
              <a:spcAft>
                <a:spcPts val="1000"/>
              </a:spcAft>
            </a:pPr>
            <a:r>
              <a:rPr sz="1700" b="0">
                <a:solidFill>
                  <a:srgbClr val="222222"/>
                </a:solidFill>
                <a:latin typeface="맑은 고딕"/>
              </a:rPr>
              <a:t>•  </a:t>
            </a:r>
            <a:r>
              <a:rPr sz="1700" b="1">
                <a:solidFill>
                  <a:srgbClr val="222222"/>
                </a:solidFill>
                <a:latin typeface="맑은 고딕"/>
              </a:rPr>
              <a:t>되돌리는 것까지가 훈련이다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거부되는 경우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두 가지 표현</a:t>
            </a:r>
          </a:p>
          <a:p>
            <a:pPr algn="l">
              <a:spcAft>
                <a:spcPts val="800"/>
              </a:spcAft>
            </a:pPr>
            <a:r>
              <a:rPr sz="1600" b="0">
                <a:solidFill>
                  <a:srgbClr val="FFFFFF"/>
                </a:solidFill>
                <a:latin typeface="맑은 고딕"/>
              </a:rPr>
              <a:t>•  실패는 상태를 바꾸지 않는다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가지 거부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표현이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없는 멤버 → </a:t>
            </a:r>
            <a:r>
              <a:rPr sz="1700" b="1">
                <a:solidFill>
                  <a:srgbClr val="222222"/>
                </a:solidFill>
                <a:latin typeface="Consolas"/>
                <a:cs typeface="Consolas"/>
              </a:rPr>
              <a:t>Object "seattle" was not found</a:t>
            </a:r>
            <a:r>
              <a:rPr sz="1700" b="0">
                <a:solidFill>
                  <a:srgbClr val="222222"/>
                </a:solidFill>
                <a:latin typeface="맑은 고딕"/>
              </a:rPr>
              <a:t> (ORA- 없음)</a:t>
            </a:r>
          </a:p>
          <a:p>
            <a:pPr algn="l">
              <a:spcAft>
                <a:spcPts val="1000"/>
              </a:spcAft>
            </a:pPr>
            <a:r>
              <a:rPr sz="1700" b="0">
                <a:solidFill>
                  <a:srgbClr val="222222"/>
                </a:solidFill>
                <a:latin typeface="맑은 고딕"/>
              </a:rPr>
              <a:t>•  자기 자신 → </a:t>
            </a:r>
            <a:r>
              <a:rPr sz="1700" b="1">
                <a:solidFill>
                  <a:srgbClr val="222222"/>
                </a:solidFill>
                <a:latin typeface="Consolas"/>
                <a:cs typeface="Consolas"/>
              </a:rPr>
              <a:t>ORA-16558</a:t>
            </a:r>
          </a:p>
          <a:p>
            <a:pPr algn="l">
              <a:spcAft>
                <a:spcPts val="1000"/>
              </a:spcAft>
            </a:pPr>
            <a:r>
              <a:rPr sz="1700" b="0">
                <a:solidFill>
                  <a:srgbClr val="222222"/>
                </a:solidFill>
                <a:latin typeface="맑은 고딕"/>
              </a:rPr>
              <a:t>•  후자는 </a:t>
            </a:r>
            <a:r>
              <a:rPr sz="1700" b="0">
                <a:solidFill>
                  <a:srgbClr val="222222"/>
                </a:solidFill>
                <a:latin typeface="Consolas"/>
                <a:cs typeface="Consolas"/>
              </a:rPr>
              <a:t>Performing switchover NOW</a:t>
            </a:r>
            <a:r>
              <a:rPr sz="1700" b="0">
                <a:solidFill>
                  <a:srgbClr val="222222"/>
                </a:solidFill>
                <a:latin typeface="맑은 고딕"/>
              </a:rPr>
              <a:t> 까지 출력한다</a:t>
            </a:r>
          </a:p>
          <a:p>
            <a:pPr algn="l">
              <a:spcAft>
                <a:spcPts val="1000"/>
              </a:spcAft>
            </a:pPr>
            <a:r>
              <a:rPr sz="1700" b="0">
                <a:solidFill>
                  <a:srgbClr val="222222"/>
                </a:solidFill>
                <a:latin typeface="맑은 고딕"/>
              </a:rPr>
              <a:t>•  그래도 </a:t>
            </a:r>
            <a:r>
              <a:rPr sz="1700" b="0">
                <a:solidFill>
                  <a:srgbClr val="222222"/>
                </a:solidFill>
                <a:latin typeface="Consolas"/>
                <a:cs typeface="Consolas"/>
              </a:rPr>
              <a:t>primary database is still "chicago"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로 전환하면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거부되지 않는다</a:t>
            </a:r>
          </a:p>
          <a:p>
            <a:pPr algn="l">
              <a:spcAft>
                <a:spcPts val="800"/>
              </a:spcAft>
            </a:pPr>
            <a:r>
              <a:rPr sz="1600" b="0">
                <a:solidFill>
                  <a:srgbClr val="FFFFFF"/>
                </a:solidFill>
                <a:latin typeface="맑은 고딕"/>
              </a:rPr>
              <a:t>•  Broker 는 모른다</a:t>
            </a:r>
          </a:p>
          <a:p>
            <a:pPr algn="l">
              <a:spcAft>
                <a:spcPts val="800"/>
              </a:spcAft>
            </a:pPr>
            <a:r>
              <a:rPr sz="1600" b="0">
                <a:solidFill>
                  <a:srgbClr val="FFFFFF"/>
                </a:solidFill>
                <a:latin typeface="맑은 고딕"/>
              </a:rPr>
              <a:t>•  복구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실측 사고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거부되지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DATABASE SWITCHOVER TO boston;</a:t>
            </a:r>
            <a:r>
              <a:rPr sz="1700" b="0">
                <a:solidFill>
                  <a:srgbClr val="222222"/>
                </a:solidFill>
                <a:latin typeface="맑은 고딕"/>
              </a:rPr>
              <a:t> → </a:t>
            </a:r>
            <a:r>
              <a:rPr sz="1700" b="1">
                <a:solidFill>
                  <a:srgbClr val="222222"/>
                </a:solidFill>
                <a:latin typeface="Consolas"/>
                <a:cs typeface="Consolas"/>
              </a:rPr>
              <a:t>Database altered.</a:t>
            </a:r>
          </a:p>
          <a:p>
            <a:pPr algn="l">
              <a:spcAft>
                <a:spcPts val="1000"/>
              </a:spcAft>
            </a:pPr>
            <a:r>
              <a:rPr sz="1700" b="0">
                <a:solidFill>
                  <a:srgbClr val="222222"/>
                </a:solidFill>
                <a:latin typeface="맑은 고딕"/>
              </a:rPr>
              <a:t>•  13장 보호 모드 변경 — </a:t>
            </a:r>
            <a:r>
              <a:rPr sz="1700" b="0">
                <a:solidFill>
                  <a:srgbClr val="222222"/>
                </a:solidFill>
                <a:latin typeface="Consolas"/>
                <a:cs typeface="Consolas"/>
              </a:rPr>
              <a:t>ORA-16627</a:t>
            </a:r>
            <a:r>
              <a:rPr sz="1700" b="0">
                <a:solidFill>
                  <a:srgbClr val="222222"/>
                </a:solidFill>
                <a:latin typeface="맑은 고딕"/>
              </a:rPr>
              <a:t> 로 </a:t>
            </a:r>
            <a:r>
              <a:rPr sz="1700" b="1">
                <a:solidFill>
                  <a:srgbClr val="222222"/>
                </a:solidFill>
                <a:latin typeface="맑은 고딕"/>
              </a:rPr>
              <a:t>거부</a:t>
            </a:r>
          </a:p>
          <a:p>
            <a:pPr algn="l">
              <a:spcAft>
                <a:spcPts val="1000"/>
              </a:spcAft>
            </a:pPr>
            <a:r>
              <a:rPr sz="1700" b="0">
                <a:solidFill>
                  <a:srgbClr val="222222"/>
                </a:solidFill>
                <a:latin typeface="맑은 고딕"/>
              </a:rPr>
              <a:t>•  14장 FSFO 활성화 — </a:t>
            </a:r>
            <a:r>
              <a:rPr sz="1700" b="0">
                <a:solidFill>
                  <a:srgbClr val="222222"/>
                </a:solidFill>
                <a:latin typeface="Consolas"/>
                <a:cs typeface="Consolas"/>
              </a:rPr>
              <a:t>ORA-16827</a:t>
            </a:r>
            <a:r>
              <a:rPr sz="1700" b="0">
                <a:solidFill>
                  <a:srgbClr val="222222"/>
                </a:solidFill>
                <a:latin typeface="맑은 고딕"/>
              </a:rPr>
              <a:t> </a:t>
            </a:r>
            <a:r>
              <a:rPr sz="1700" b="1">
                <a:solidFill>
                  <a:srgbClr val="222222"/>
                </a:solidFill>
                <a:latin typeface="맑은 고딕"/>
              </a:rPr>
              <a:t>경고만</a:t>
            </a:r>
          </a:p>
          <a:p>
            <a:pPr algn="l">
              <a:spcAft>
                <a:spcPts val="1000"/>
              </a:spcAft>
            </a:pPr>
            <a:r>
              <a:rPr sz="1700" b="0">
                <a:solidFill>
                  <a:srgbClr val="222222"/>
                </a:solidFill>
                <a:latin typeface="맑은 고딕"/>
              </a:rPr>
              <a:t>•  SQL 역할 전환 — </a:t>
            </a:r>
            <a:r>
              <a:rPr sz="1700" b="1">
                <a:solidFill>
                  <a:srgbClr val="222222"/>
                </a:solidFill>
                <a:latin typeface="맑은 고딕"/>
              </a:rPr>
              <a:t>아무 말도 없다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뒷정리가 없다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역할만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옛 Primary — </a:t>
            </a:r>
            <a:r>
              <a:rPr sz="1700" b="1">
                <a:solidFill>
                  <a:srgbClr val="222222"/>
                </a:solidFill>
                <a:latin typeface="맑은 고딕"/>
              </a:rPr>
              <a:t>인스턴스가 내려간다</a:t>
            </a:r>
            <a:r>
              <a:rPr sz="1700" b="0">
                <a:solidFill>
                  <a:srgbClr val="222222"/>
                </a:solidFill>
                <a:latin typeface="맑은 고딕"/>
              </a:rPr>
              <a:t> (</a:t>
            </a:r>
            <a:r>
              <a:rPr sz="1700" b="0">
                <a:solidFill>
                  <a:srgbClr val="222222"/>
                </a:solidFill>
                <a:latin typeface="Consolas"/>
                <a:cs typeface="Consolas"/>
              </a:rPr>
              <a:t>ORA-01034</a:t>
            </a:r>
            <a:r>
              <a:rPr sz="1700" b="0">
                <a:solidFill>
                  <a:srgbClr val="222222"/>
                </a:solidFill>
                <a:latin typeface="맑은 고딕"/>
              </a:rPr>
              <a:t>)</a:t>
            </a:r>
          </a:p>
          <a:p>
            <a:pPr algn="l">
              <a:spcAft>
                <a:spcPts val="1000"/>
              </a:spcAft>
            </a:pPr>
            <a:r>
              <a:rPr sz="1700" b="0">
                <a:solidFill>
                  <a:srgbClr val="222222"/>
                </a:solidFill>
                <a:latin typeface="맑은 고딕"/>
              </a:rPr>
              <a:t>•  새 Primary — </a:t>
            </a:r>
            <a:r>
              <a:rPr sz="1700" b="1">
                <a:solidFill>
                  <a:srgbClr val="222222"/>
                </a:solidFill>
                <a:latin typeface="Consolas"/>
                <a:cs typeface="Consolas"/>
              </a:rPr>
              <a:t>MOUNTED</a:t>
            </a:r>
            <a:r>
              <a:rPr sz="1700" b="0">
                <a:solidFill>
                  <a:srgbClr val="222222"/>
                </a:solidFill>
                <a:latin typeface="맑은 고딕"/>
              </a:rPr>
              <a:t> 에 머문다</a:t>
            </a:r>
          </a:p>
          <a:p>
            <a:pPr algn="l">
              <a:spcAft>
                <a:spcPts val="1000"/>
              </a:spcAft>
            </a:pPr>
            <a:r>
              <a:rPr sz="1700" b="0">
                <a:solidFill>
                  <a:srgbClr val="222222"/>
                </a:solidFill>
                <a:latin typeface="맑은 고딕"/>
              </a:rPr>
              <a:t>•  새 Primary 의 </a:t>
            </a:r>
            <a:r>
              <a:rPr sz="1700" b="0">
                <a:solidFill>
                  <a:srgbClr val="222222"/>
                </a:solidFill>
                <a:latin typeface="Consolas"/>
                <a:cs typeface="Consolas"/>
              </a:rPr>
              <a:t>log_archive_dest_2</a:t>
            </a:r>
            <a:r>
              <a:rPr sz="1700" b="0">
                <a:solidFill>
                  <a:srgbClr val="222222"/>
                </a:solidFill>
                <a:latin typeface="맑은 고딕"/>
              </a:rPr>
              <a:t> — </a:t>
            </a:r>
            <a:r>
              <a:rPr sz="1700" b="1">
                <a:solidFill>
                  <a:srgbClr val="222222"/>
                </a:solidFill>
                <a:latin typeface="맑은 고딕"/>
              </a:rPr>
              <a:t>비어 있다</a:t>
            </a:r>
          </a:p>
          <a:p>
            <a:pPr algn="l">
              <a:spcAft>
                <a:spcPts val="1000"/>
              </a:spcAft>
            </a:pPr>
            <a:r>
              <a:rPr sz="1700" b="0">
                <a:solidFill>
                  <a:srgbClr val="222222"/>
                </a:solidFill>
                <a:latin typeface="맑은 고딕"/>
              </a:rPr>
              <a:t>•  목적지 2번 </a:t>
            </a:r>
            <a:r>
              <a:rPr sz="1700" b="0">
                <a:solidFill>
                  <a:srgbClr val="222222"/>
                </a:solidFill>
                <a:latin typeface="Consolas"/>
                <a:cs typeface="Consolas"/>
              </a:rPr>
              <a:t>INACTIVE</a:t>
            </a:r>
            <a:r>
              <a:rPr sz="1700" b="0">
                <a:solidFill>
                  <a:srgbClr val="222222"/>
                </a:solidFill>
                <a:latin typeface="맑은 고딕"/>
              </a:rPr>
              <a:t>, MRP 는 </a:t>
            </a:r>
            <a:r>
              <a:rPr sz="1700" b="0">
                <a:solidFill>
                  <a:srgbClr val="222222"/>
                </a:solidFill>
                <a:latin typeface="Consolas"/>
                <a:cs typeface="Consolas"/>
              </a:rPr>
              <a:t>WAIT_FOR_LOG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는 잠시 모른다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SUCCESS 가 거짓을 말한다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역할이 어긋난 직후 — </a:t>
            </a:r>
            <a:r>
              <a:rPr sz="1700" b="1">
                <a:solidFill>
                  <a:srgbClr val="222222"/>
                </a:solidFill>
                <a:latin typeface="Consolas"/>
                <a:cs typeface="Consolas"/>
              </a:rPr>
              <a:t>SUCCESS</a:t>
            </a:r>
            <a:r>
              <a:rPr sz="1700" b="0">
                <a:solidFill>
                  <a:srgbClr val="222222"/>
                </a:solidFill>
                <a:latin typeface="맑은 고딕"/>
              </a:rPr>
              <a:t>, chicago 를 Primary 라고</a:t>
            </a:r>
          </a:p>
          <a:p>
            <a:pPr algn="l">
              <a:spcAft>
                <a:spcPts val="1000"/>
              </a:spcAft>
            </a:pPr>
            <a:r>
              <a:rPr sz="1700" b="0">
                <a:solidFill>
                  <a:srgbClr val="222222"/>
                </a:solidFill>
                <a:latin typeface="맑은 고딕"/>
              </a:rPr>
              <a:t>•  </a:t>
            </a:r>
            <a:r>
              <a:rPr sz="1700" b="0">
                <a:solidFill>
                  <a:srgbClr val="222222"/>
                </a:solidFill>
                <a:latin typeface="Consolas"/>
                <a:cs typeface="Consolas"/>
              </a:rPr>
              <a:t>status updated 0 seconds ago</a:t>
            </a:r>
            <a:r>
              <a:rPr sz="1700" b="0">
                <a:solidFill>
                  <a:srgbClr val="222222"/>
                </a:solidFill>
                <a:latin typeface="맑은 고딕"/>
              </a:rPr>
              <a:t> — 방금 계산한 값</a:t>
            </a:r>
          </a:p>
          <a:p>
            <a:pPr algn="l">
              <a:spcAft>
                <a:spcPts val="1000"/>
              </a:spcAft>
            </a:pPr>
            <a:r>
              <a:rPr sz="1700" b="0">
                <a:solidFill>
                  <a:srgbClr val="222222"/>
                </a:solidFill>
                <a:latin typeface="맑은 고딕"/>
              </a:rPr>
              <a:t>•  시간이 지나면 → </a:t>
            </a:r>
            <a:r>
              <a:rPr sz="1700" b="1">
                <a:solidFill>
                  <a:srgbClr val="222222"/>
                </a:solidFill>
                <a:latin typeface="Consolas"/>
                <a:cs typeface="Consolas"/>
              </a:rPr>
              <a:t>ORA-16816: incorrect database role</a:t>
            </a:r>
            <a:r>
              <a:rPr sz="1700" b="0">
                <a:solidFill>
                  <a:srgbClr val="222222"/>
                </a:solidFill>
                <a:latin typeface="맑은 고딕"/>
              </a:rPr>
              <a:t> 양쪽</a:t>
            </a:r>
          </a:p>
          <a:p>
            <a:pPr algn="l">
              <a:spcAft>
                <a:spcPts val="1000"/>
              </a:spcAft>
            </a:pPr>
            <a:r>
              <a:rPr sz="1700" b="0">
                <a:solidFill>
                  <a:srgbClr val="222222"/>
                </a:solidFill>
                <a:latin typeface="맑은 고딕"/>
              </a:rPr>
              <a:t>•  SQL 로 되돌리려 하면 → </a:t>
            </a:r>
            <a:r>
              <a:rPr sz="1700" b="1">
                <a:solidFill>
                  <a:srgbClr val="222222"/>
                </a:solidFill>
                <a:latin typeface="Consolas"/>
                <a:cs typeface="Consolas"/>
              </a:rPr>
              <a:t>ORA-16468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구성을 다시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remove configuration;</a:t>
            </a:r>
          </a:p>
          <a:p>
            <a:pPr algn="l">
              <a:spcAft>
                <a:spcPts val="1000"/>
              </a:spcAft>
            </a:pPr>
            <a:r>
              <a:rPr sz="1700" b="0">
                <a:solidFill>
                  <a:srgbClr val="222222"/>
                </a:solidFill>
                <a:latin typeface="맑은 고딕"/>
              </a:rPr>
              <a:t>•  </a:t>
            </a:r>
            <a:r>
              <a:rPr sz="1700" b="0">
                <a:solidFill>
                  <a:srgbClr val="222222"/>
                </a:solidFill>
                <a:latin typeface="Consolas"/>
                <a:cs typeface="Consolas"/>
              </a:rPr>
              <a:t>create configuration ... as primary database is 'boston' ...</a:t>
            </a:r>
          </a:p>
          <a:p>
            <a:pPr algn="l">
              <a:spcAft>
                <a:spcPts val="1000"/>
              </a:spcAft>
            </a:pPr>
            <a:r>
              <a:rPr sz="1700" b="0">
                <a:solidFill>
                  <a:srgbClr val="222222"/>
                </a:solidFill>
                <a:latin typeface="맑은 고딕"/>
              </a:rPr>
              <a:t>•  </a:t>
            </a:r>
            <a:r>
              <a:rPr sz="1700" b="0">
                <a:solidFill>
                  <a:srgbClr val="222222"/>
                </a:solidFill>
                <a:latin typeface="Consolas"/>
                <a:cs typeface="Consolas"/>
              </a:rPr>
              <a:t>add database 'chicago' ...</a:t>
            </a:r>
            <a:r>
              <a:rPr sz="1700" b="0">
                <a:solidFill>
                  <a:srgbClr val="222222"/>
                </a:solidFill>
                <a:latin typeface="맑은 고딕"/>
              </a:rPr>
              <a:t> → </a:t>
            </a:r>
            <a:r>
              <a:rPr sz="1700" b="0">
                <a:solidFill>
                  <a:srgbClr val="222222"/>
                </a:solidFill>
                <a:latin typeface="Consolas"/>
                <a:cs typeface="Consolas"/>
              </a:rPr>
              <a:t>enable configuration;</a:t>
            </a:r>
          </a:p>
          <a:p>
            <a:pPr algn="l">
              <a:spcAft>
                <a:spcPts val="1000"/>
              </a:spcAft>
            </a:pPr>
            <a:r>
              <a:rPr sz="1700" b="0">
                <a:solidFill>
                  <a:srgbClr val="222222"/>
                </a:solidFill>
                <a:latin typeface="맑은 고딕"/>
              </a:rPr>
              <a:t>•  그다음 </a:t>
            </a:r>
            <a:r>
              <a:rPr sz="1700" b="0">
                <a:solidFill>
                  <a:srgbClr val="222222"/>
                </a:solidFill>
                <a:latin typeface="Consolas"/>
                <a:cs typeface="Consolas"/>
              </a:rPr>
              <a:t>switchover to 'chicago'</a:t>
            </a:r>
            <a:r>
              <a:rPr sz="1700" b="0">
                <a:solidFill>
                  <a:srgbClr val="222222"/>
                </a:solidFill>
                <a:latin typeface="맑은 고딕"/>
              </a:rPr>
              <a:t> 로 원래 역할 회복</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Failover 와 Reinstate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플래시백이 전제다</a:t>
            </a:r>
          </a:p>
          <a:p>
            <a:pPr algn="l">
              <a:spcAft>
                <a:spcPts val="800"/>
              </a:spcAft>
            </a:pPr>
            <a:r>
              <a:rPr sz="1600" b="0">
                <a:solidFill>
                  <a:srgbClr val="FFFFFF"/>
                </a:solidFill>
                <a:latin typeface="맑은 고딕"/>
              </a:rPr>
              <a:t>•  24초와 51초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플래시백을 먼저 켠다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Reinstate 의 전제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19c 는 </a:t>
            </a:r>
            <a:r>
              <a:rPr sz="1700" b="1">
                <a:solidFill>
                  <a:srgbClr val="222222"/>
                </a:solidFill>
                <a:latin typeface="맑은 고딕"/>
              </a:rPr>
              <a:t>열린 채로</a:t>
            </a:r>
            <a:r>
              <a:rPr sz="1700" b="0">
                <a:solidFill>
                  <a:srgbClr val="222222"/>
                </a:solidFill>
                <a:latin typeface="맑은 고딕"/>
              </a:rPr>
              <a:t> </a:t>
            </a:r>
            <a:r>
              <a:rPr sz="1700" b="0">
                <a:solidFill>
                  <a:srgbClr val="222222"/>
                </a:solidFill>
                <a:latin typeface="Consolas"/>
                <a:cs typeface="Consolas"/>
              </a:rPr>
              <a:t>ALTER DATABASE FLASHBACK ON</a:t>
            </a:r>
          </a:p>
          <a:p>
            <a:pPr algn="l">
              <a:spcAft>
                <a:spcPts val="1000"/>
              </a:spcAft>
            </a:pPr>
            <a:r>
              <a:rPr sz="1700" b="0">
                <a:solidFill>
                  <a:srgbClr val="222222"/>
                </a:solidFill>
                <a:latin typeface="맑은 고딕"/>
              </a:rPr>
              <a:t>•  이미 켜져 있으면 </a:t>
            </a:r>
            <a:r>
              <a:rPr sz="1700" b="1">
                <a:solidFill>
                  <a:srgbClr val="222222"/>
                </a:solidFill>
                <a:latin typeface="Consolas"/>
                <a:cs typeface="Consolas"/>
              </a:rPr>
              <a:t>ORA-38706</a:t>
            </a:r>
            <a:r>
              <a:rPr sz="1700" b="1">
                <a:solidFill>
                  <a:srgbClr val="222222"/>
                </a:solidFill>
                <a:latin typeface="맑은 고딕"/>
              </a:rPr>
              <a:t> + </a:t>
            </a:r>
            <a:r>
              <a:rPr sz="1700" b="1">
                <a:solidFill>
                  <a:srgbClr val="222222"/>
                </a:solidFill>
                <a:latin typeface="Consolas"/>
                <a:cs typeface="Consolas"/>
              </a:rPr>
              <a:t>ORA-38713</a:t>
            </a:r>
          </a:p>
          <a:p>
            <a:pPr algn="l">
              <a:spcAft>
                <a:spcPts val="1000"/>
              </a:spcAft>
            </a:pPr>
            <a:r>
              <a:rPr sz="1700" b="0">
                <a:solidFill>
                  <a:srgbClr val="222222"/>
                </a:solidFill>
                <a:latin typeface="맑은 고딕"/>
              </a:rPr>
              <a:t>•  켜는 즉시 </a:t>
            </a:r>
            <a:r>
              <a:rPr sz="1700" b="1">
                <a:solidFill>
                  <a:srgbClr val="222222"/>
                </a:solidFill>
                <a:latin typeface="맑은 고딕"/>
              </a:rPr>
              <a:t>200MB × 2</a:t>
            </a:r>
            <a:r>
              <a:rPr sz="1700" b="0">
                <a:solidFill>
                  <a:srgbClr val="222222"/>
                </a:solidFill>
                <a:latin typeface="맑은 고딕"/>
              </a:rPr>
              <a:t> 의 </a:t>
            </a:r>
            <a:r>
              <a:rPr sz="1700" b="0">
                <a:solidFill>
                  <a:srgbClr val="222222"/>
                </a:solidFill>
                <a:latin typeface="Consolas"/>
                <a:cs typeface="Consolas"/>
              </a:rPr>
              <a:t>.flb</a:t>
            </a:r>
            <a:r>
              <a:rPr sz="1700" b="0">
                <a:solidFill>
                  <a:srgbClr val="222222"/>
                </a:solidFill>
                <a:latin typeface="맑은 고딕"/>
              </a:rPr>
              <a:t> 파일</a:t>
            </a:r>
          </a:p>
          <a:p>
            <a:pPr algn="l">
              <a:spcAft>
                <a:spcPts val="1000"/>
              </a:spcAft>
            </a:pPr>
            <a:r>
              <a:rPr sz="1700" b="0">
                <a:solidFill>
                  <a:srgbClr val="222222"/>
                </a:solidFill>
                <a:latin typeface="맑은 고딕"/>
              </a:rPr>
              <a:t>•  FRA 실측 15,360MB 중 1,424MB 사용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가 죽는다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 는 구별하지 못한다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shutdown abort</a:t>
            </a:r>
            <a:r>
              <a:rPr sz="1700" b="0">
                <a:solidFill>
                  <a:srgbClr val="222222"/>
                </a:solidFill>
                <a:latin typeface="맑은 고딕"/>
              </a:rPr>
              <a:t> — 재해를 흉내 낸다</a:t>
            </a:r>
          </a:p>
          <a:p>
            <a:pPr algn="l">
              <a:spcAft>
                <a:spcPts val="1000"/>
              </a:spcAft>
            </a:pPr>
            <a:r>
              <a:rPr sz="1700" b="0">
                <a:solidFill>
                  <a:srgbClr val="222222"/>
                </a:solidFill>
                <a:latin typeface="맑은 고딕"/>
              </a:rPr>
              <a:t>•  Standby 메시지 — </a:t>
            </a:r>
            <a:r>
              <a:rPr sz="1700" b="1">
                <a:solidFill>
                  <a:srgbClr val="222222"/>
                </a:solidFill>
                <a:latin typeface="Consolas"/>
                <a:cs typeface="Consolas"/>
              </a:rPr>
              <a:t>Possible network disconnect</a:t>
            </a:r>
          </a:p>
          <a:p>
            <a:pPr algn="l">
              <a:spcAft>
                <a:spcPts val="1000"/>
              </a:spcAft>
            </a:pPr>
            <a:r>
              <a:rPr sz="1700" b="0">
                <a:solidFill>
                  <a:srgbClr val="222222"/>
                </a:solidFill>
                <a:latin typeface="맑은 고딕"/>
              </a:rPr>
              <a:t>•  그 행의 </a:t>
            </a:r>
            <a:r>
              <a:rPr sz="1700" b="1">
                <a:solidFill>
                  <a:srgbClr val="222222"/>
                </a:solidFill>
                <a:latin typeface="Consolas"/>
                <a:cs typeface="Consolas"/>
              </a:rPr>
              <a:t>ERROR_CODE</a:t>
            </a:r>
            <a:r>
              <a:rPr sz="1700" b="1">
                <a:solidFill>
                  <a:srgbClr val="222222"/>
                </a:solidFill>
                <a:latin typeface="맑은 고딕"/>
              </a:rPr>
              <a:t> 는 0</a:t>
            </a:r>
            <a:r>
              <a:rPr sz="1700" b="0">
                <a:solidFill>
                  <a:srgbClr val="222222"/>
                </a:solidFill>
                <a:latin typeface="맑은 고딕"/>
              </a:rPr>
              <a:t> (15장 필터로 걸러진다)</a:t>
            </a:r>
          </a:p>
          <a:p>
            <a:pPr algn="l">
              <a:spcAft>
                <a:spcPts val="1000"/>
              </a:spcAft>
            </a:pPr>
            <a:r>
              <a:rPr sz="1700" b="0">
                <a:solidFill>
                  <a:srgbClr val="222222"/>
                </a:solidFill>
                <a:latin typeface="맑은 고딕"/>
              </a:rPr>
              <a:t>•  Broker — </a:t>
            </a:r>
            <a:r>
              <a:rPr sz="1700" b="1">
                <a:solidFill>
                  <a:srgbClr val="222222"/>
                </a:solidFill>
                <a:latin typeface="Consolas"/>
                <a:cs typeface="Consolas"/>
              </a:rPr>
              <a:t>ORA-1034</a:t>
            </a:r>
            <a:r>
              <a:rPr sz="1700" b="0">
                <a:solidFill>
                  <a:srgbClr val="222222"/>
                </a:solidFill>
                <a:latin typeface="맑은 고딕"/>
              </a:rPr>
              <a:t> (SQL*Plus 는 </a:t>
            </a:r>
            <a:r>
              <a:rPr sz="1700" b="0">
                <a:solidFill>
                  <a:srgbClr val="222222"/>
                </a:solidFill>
                <a:latin typeface="Consolas"/>
                <a:cs typeface="Consolas"/>
              </a:rPr>
              <a:t>ORA-01034</a:t>
            </a:r>
            <a:r>
              <a:rPr sz="1700" b="0">
                <a:solidFill>
                  <a:srgbClr val="222222"/>
                </a:solidFill>
                <a:latin typeface="맑은 고딕"/>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가 신호를 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괄호가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Ready for Switchover:</a:t>
            </a:r>
            <a:r>
              <a:rPr sz="1700" b="0">
                <a:solidFill>
                  <a:srgbClr val="222222"/>
                </a:solidFill>
                <a:latin typeface="맑은 고딕"/>
              </a:rPr>
              <a:t> </a:t>
            </a:r>
            <a:r>
              <a:rPr sz="1700" b="1">
                <a:solidFill>
                  <a:srgbClr val="222222"/>
                </a:solidFill>
                <a:latin typeface="맑은 고딕"/>
              </a:rPr>
              <a:t>No</a:t>
            </a:r>
          </a:p>
          <a:p>
            <a:pPr algn="l">
              <a:spcAft>
                <a:spcPts val="1000"/>
              </a:spcAft>
            </a:pPr>
            <a:r>
              <a:rPr sz="1700" b="0">
                <a:solidFill>
                  <a:srgbClr val="222222"/>
                </a:solidFill>
                <a:latin typeface="맑은 고딕"/>
              </a:rPr>
              <a:t>•  </a:t>
            </a:r>
            <a:r>
              <a:rPr sz="1700" b="0">
                <a:solidFill>
                  <a:srgbClr val="222222"/>
                </a:solidFill>
                <a:latin typeface="Consolas"/>
                <a:cs typeface="Consolas"/>
              </a:rPr>
              <a:t>Ready for Failover:</a:t>
            </a:r>
            <a:r>
              <a:rPr sz="1700" b="0">
                <a:solidFill>
                  <a:srgbClr val="222222"/>
                </a:solidFill>
                <a:latin typeface="맑은 고딕"/>
              </a:rPr>
              <a:t> </a:t>
            </a:r>
            <a:r>
              <a:rPr sz="1700" b="1">
                <a:solidFill>
                  <a:srgbClr val="222222"/>
                </a:solidFill>
                <a:latin typeface="맑은 고딕"/>
              </a:rPr>
              <a:t>Yes (Primary Not Running)</a:t>
            </a:r>
          </a:p>
          <a:p>
            <a:pPr algn="l">
              <a:spcAft>
                <a:spcPts val="1000"/>
              </a:spcAft>
            </a:pPr>
            <a:r>
              <a:rPr sz="1700" b="0">
                <a:solidFill>
                  <a:srgbClr val="222222"/>
                </a:solidFill>
                <a:latin typeface="맑은 고딕"/>
              </a:rPr>
              <a:t>•  chicago 관련 항목 전부 </a:t>
            </a:r>
            <a:r>
              <a:rPr sz="1700" b="1">
                <a:solidFill>
                  <a:srgbClr val="222222"/>
                </a:solidFill>
                <a:latin typeface="Consolas"/>
                <a:cs typeface="Consolas"/>
              </a:rPr>
              <a:t>Unknown</a:t>
            </a:r>
          </a:p>
          <a:p>
            <a:pPr algn="l">
              <a:spcAft>
                <a:spcPts val="1000"/>
              </a:spcAft>
            </a:pPr>
            <a:r>
              <a:rPr sz="1700" b="0">
                <a:solidFill>
                  <a:srgbClr val="222222"/>
                </a:solidFill>
                <a:latin typeface="맑은 고딕"/>
              </a:rPr>
              <a:t>•  </a:t>
            </a:r>
            <a:r>
              <a:rPr sz="1700" b="0">
                <a:solidFill>
                  <a:srgbClr val="222222"/>
                </a:solidFill>
                <a:latin typeface="Consolas"/>
                <a:cs typeface="Consolas"/>
              </a:rPr>
              <a:t>Transport On: No</a:t>
            </a:r>
            <a:r>
              <a:rPr sz="1700" b="0">
                <a:solidFill>
                  <a:srgbClr val="222222"/>
                </a:solidFill>
                <a:latin typeface="맑은 고딕"/>
              </a:rPr>
              <a:t> / </a:t>
            </a:r>
            <a:r>
              <a:rPr sz="1700" b="0">
                <a:solidFill>
                  <a:srgbClr val="222222"/>
                </a:solidFill>
                <a:latin typeface="Consolas"/>
                <a:cs typeface="Consolas"/>
              </a:rPr>
              <a:t>Gap Status: Unknown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FAILOVER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줄, 24초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Performing failover NOW, please wait...</a:t>
            </a:r>
          </a:p>
          <a:p>
            <a:pPr algn="l">
              <a:spcAft>
                <a:spcPts val="1000"/>
              </a:spcAft>
            </a:pPr>
            <a:r>
              <a:rPr sz="1700" b="0">
                <a:solidFill>
                  <a:srgbClr val="222222"/>
                </a:solidFill>
                <a:latin typeface="맑은 고딕"/>
              </a:rPr>
              <a:t>•  </a:t>
            </a:r>
            <a:r>
              <a:rPr sz="1700" b="0">
                <a:solidFill>
                  <a:srgbClr val="222222"/>
                </a:solidFill>
                <a:latin typeface="Consolas"/>
                <a:cs typeface="Consolas"/>
              </a:rPr>
              <a:t>Failover succeeded, new primary is "boston"</a:t>
            </a:r>
          </a:p>
          <a:p>
            <a:pPr algn="l">
              <a:spcAft>
                <a:spcPts val="1000"/>
              </a:spcAft>
            </a:pPr>
            <a:r>
              <a:rPr sz="1700" b="0">
                <a:solidFill>
                  <a:srgbClr val="222222"/>
                </a:solidFill>
                <a:latin typeface="맑은 고딕"/>
              </a:rPr>
              <a:t>•  </a:t>
            </a:r>
            <a:r>
              <a:rPr sz="1700" b="1">
                <a:solidFill>
                  <a:srgbClr val="222222"/>
                </a:solidFill>
                <a:latin typeface="맑은 고딕"/>
              </a:rPr>
              <a:t>손실 없음</a:t>
            </a:r>
            <a:r>
              <a:rPr sz="1700" b="0">
                <a:solidFill>
                  <a:srgbClr val="222222"/>
                </a:solidFill>
                <a:latin typeface="맑은 고딕"/>
              </a:rPr>
              <a:t> — 강제 종료 직전 커밋한 </a:t>
            </a:r>
            <a:r>
              <a:rPr sz="1700" b="0">
                <a:solidFill>
                  <a:srgbClr val="222222"/>
                </a:solidFill>
                <a:latin typeface="Consolas"/>
                <a:cs typeface="Consolas"/>
              </a:rPr>
              <a:t>id=97</a:t>
            </a:r>
            <a:r>
              <a:rPr sz="1700" b="0">
                <a:solidFill>
                  <a:srgbClr val="222222"/>
                </a:solidFill>
                <a:latin typeface="맑은 고딕"/>
              </a:rPr>
              <a:t> 생존</a:t>
            </a:r>
          </a:p>
          <a:p>
            <a:pPr algn="l">
              <a:spcAft>
                <a:spcPts val="1000"/>
              </a:spcAft>
            </a:pPr>
            <a:r>
              <a:rPr sz="1700" b="0">
                <a:solidFill>
                  <a:srgbClr val="222222"/>
                </a:solidFill>
                <a:latin typeface="맑은 고딕"/>
              </a:rPr>
              <a:t>•  </a:t>
            </a:r>
            <a:r>
              <a:rPr sz="1700" b="0">
                <a:solidFill>
                  <a:srgbClr val="222222"/>
                </a:solidFill>
                <a:latin typeface="Consolas"/>
                <a:cs typeface="Consolas"/>
              </a:rPr>
              <a:t>RESETLOGS_CHANGE# 2692902</a:t>
            </a:r>
            <a:r>
              <a:rPr sz="1700" b="0">
                <a:solidFill>
                  <a:srgbClr val="222222"/>
                </a:solidFill>
                <a:latin typeface="맑은 고딕"/>
              </a:rPr>
              <a:t> — </a:t>
            </a:r>
            <a:r>
              <a:rPr sz="1700" b="1">
                <a:solidFill>
                  <a:srgbClr val="222222"/>
                </a:solidFill>
                <a:latin typeface="맑은 고딕"/>
              </a:rPr>
              <a:t>OPEN RESETLOGS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가장 위험한 SUCCESS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 가 없는데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chicago - Physical standby database</a:t>
            </a:r>
            <a:r>
              <a:rPr sz="1700" b="0">
                <a:solidFill>
                  <a:srgbClr val="222222"/>
                </a:solidFill>
                <a:latin typeface="맑은 고딕"/>
              </a:rPr>
              <a:t> </a:t>
            </a:r>
            <a:r>
              <a:rPr sz="1700" b="1">
                <a:solidFill>
                  <a:srgbClr val="222222"/>
                </a:solidFill>
                <a:latin typeface="Consolas"/>
                <a:cs typeface="Consolas"/>
              </a:rPr>
              <a:t>(disabled)</a:t>
            </a:r>
          </a:p>
          <a:p>
            <a:pPr algn="l">
              <a:spcAft>
                <a:spcPts val="1000"/>
              </a:spcAft>
            </a:pPr>
            <a:r>
              <a:rPr sz="1700" b="0">
                <a:solidFill>
                  <a:srgbClr val="222222"/>
                </a:solidFill>
                <a:latin typeface="맑은 고딕"/>
              </a:rPr>
              <a:t>•  </a:t>
            </a:r>
            <a:r>
              <a:rPr sz="1700" b="0">
                <a:solidFill>
                  <a:srgbClr val="222222"/>
                </a:solidFill>
                <a:latin typeface="Consolas"/>
                <a:cs typeface="Consolas"/>
              </a:rPr>
              <a:t>ORA-16661: the standby database needs to be reinstated</a:t>
            </a:r>
          </a:p>
          <a:p>
            <a:pPr algn="l">
              <a:spcAft>
                <a:spcPts val="1000"/>
              </a:spcAft>
            </a:pPr>
            <a:r>
              <a:rPr sz="1700" b="0">
                <a:solidFill>
                  <a:srgbClr val="222222"/>
                </a:solidFill>
                <a:latin typeface="맑은 고딕"/>
              </a:rPr>
              <a:t>•  그런데 </a:t>
            </a:r>
            <a:r>
              <a:rPr sz="1700" b="0">
                <a:solidFill>
                  <a:srgbClr val="222222"/>
                </a:solidFill>
                <a:latin typeface="Consolas"/>
                <a:cs typeface="Consolas"/>
              </a:rPr>
              <a:t>Configuration Status:</a:t>
            </a:r>
            <a:r>
              <a:rPr sz="1700" b="0">
                <a:solidFill>
                  <a:srgbClr val="222222"/>
                </a:solidFill>
                <a:latin typeface="맑은 고딕"/>
              </a:rPr>
              <a:t> </a:t>
            </a:r>
            <a:r>
              <a:rPr sz="1700" b="1">
                <a:solidFill>
                  <a:srgbClr val="222222"/>
                </a:solidFill>
                <a:latin typeface="Consolas"/>
                <a:cs typeface="Consolas"/>
              </a:rPr>
              <a:t>SUCCESS</a:t>
            </a:r>
          </a:p>
          <a:p>
            <a:pPr algn="l">
              <a:spcAft>
                <a:spcPts val="1000"/>
              </a:spcAft>
            </a:pPr>
            <a:r>
              <a:rPr sz="1700" b="0">
                <a:solidFill>
                  <a:srgbClr val="222222"/>
                </a:solidFill>
                <a:latin typeface="맑은 고딕"/>
              </a:rPr>
              <a:t>•  </a:t>
            </a:r>
            <a:r>
              <a:rPr sz="1700" b="1">
                <a:solidFill>
                  <a:srgbClr val="222222"/>
                </a:solidFill>
                <a:latin typeface="맑은 고딕"/>
              </a:rPr>
              <a:t>비활성 멤버는 판정에서 제외된다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REINSTATE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내려간 채로 시도 → </a:t>
            </a:r>
            <a:r>
              <a:rPr sz="1700" b="1">
                <a:solidFill>
                  <a:srgbClr val="222222"/>
                </a:solidFill>
                <a:latin typeface="Consolas"/>
                <a:cs typeface="Consolas"/>
              </a:rPr>
              <a:t>ORA-16653</a:t>
            </a:r>
          </a:p>
          <a:p>
            <a:pPr algn="l">
              <a:spcAft>
                <a:spcPts val="1000"/>
              </a:spcAft>
            </a:pPr>
            <a:r>
              <a:rPr sz="1700" b="0">
                <a:solidFill>
                  <a:srgbClr val="222222"/>
                </a:solidFill>
                <a:latin typeface="맑은 고딕"/>
              </a:rPr>
              <a:t>•  </a:t>
            </a:r>
            <a:r>
              <a:rPr sz="1700" b="0">
                <a:solidFill>
                  <a:srgbClr val="222222"/>
                </a:solidFill>
                <a:latin typeface="Consolas"/>
                <a:cs typeface="Consolas"/>
              </a:rPr>
              <a:t>STARTUP MOUNT</a:t>
            </a:r>
            <a:r>
              <a:rPr sz="1700" b="0">
                <a:solidFill>
                  <a:srgbClr val="222222"/>
                </a:solidFill>
                <a:latin typeface="맑은 고딕"/>
              </a:rPr>
              <a:t> — </a:t>
            </a:r>
            <a:r>
              <a:rPr sz="1700" b="1">
                <a:solidFill>
                  <a:srgbClr val="222222"/>
                </a:solidFill>
                <a:latin typeface="맑은 고딕"/>
              </a:rPr>
              <a:t>열면 안 된다</a:t>
            </a:r>
          </a:p>
          <a:p>
            <a:pPr algn="l">
              <a:spcAft>
                <a:spcPts val="1000"/>
              </a:spcAft>
            </a:pPr>
            <a:r>
              <a:rPr sz="1700" b="0">
                <a:solidFill>
                  <a:srgbClr val="222222"/>
                </a:solidFill>
                <a:latin typeface="맑은 고딕"/>
              </a:rPr>
              <a:t>•  마운트한 옛 Primary 는 자기를 </a:t>
            </a:r>
            <a:r>
              <a:rPr sz="1700" b="1">
                <a:solidFill>
                  <a:srgbClr val="222222"/>
                </a:solidFill>
                <a:latin typeface="Consolas"/>
                <a:cs typeface="Consolas"/>
              </a:rPr>
              <a:t>PRIMARY</a:t>
            </a:r>
            <a:r>
              <a:rPr sz="1700" b="0">
                <a:solidFill>
                  <a:srgbClr val="222222"/>
                </a:solidFill>
                <a:latin typeface="맑은 고딕"/>
              </a:rPr>
              <a:t> 라고 말한다</a:t>
            </a:r>
          </a:p>
          <a:p>
            <a:pPr algn="l">
              <a:spcAft>
                <a:spcPts val="1000"/>
              </a:spcAft>
            </a:pPr>
            <a:r>
              <a:rPr sz="1700" b="0">
                <a:solidFill>
                  <a:srgbClr val="222222"/>
                </a:solidFill>
                <a:latin typeface="맑은 고딕"/>
              </a:rPr>
              <a:t>•  </a:t>
            </a:r>
            <a:r>
              <a:rPr sz="1700" b="0">
                <a:solidFill>
                  <a:srgbClr val="222222"/>
                </a:solidFill>
                <a:latin typeface="Consolas"/>
                <a:cs typeface="Consolas"/>
              </a:rPr>
              <a:t>reinstate database 'chicago'</a:t>
            </a:r>
            <a:r>
              <a:rPr sz="1700" b="0">
                <a:solidFill>
                  <a:srgbClr val="222222"/>
                </a:solidFill>
                <a:latin typeface="맑은 고딕"/>
              </a:rPr>
              <a:t> → </a:t>
            </a:r>
            <a:r>
              <a:rPr sz="1700" b="1">
                <a:solidFill>
                  <a:srgbClr val="222222"/>
                </a:solidFill>
                <a:latin typeface="맑은 고딕"/>
              </a:rPr>
              <a:t>51초</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되살아난 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시퀀스가 4다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PHYSICAL STANDBY / READ ONLY WITH APPLY</a:t>
            </a:r>
          </a:p>
          <a:p>
            <a:pPr algn="l">
              <a:spcAft>
                <a:spcPts val="1000"/>
              </a:spcAft>
            </a:pPr>
            <a:r>
              <a:rPr sz="1700" b="0">
                <a:solidFill>
                  <a:srgbClr val="222222"/>
                </a:solidFill>
                <a:latin typeface="맑은 고딕"/>
              </a:rPr>
              <a:t>•  </a:t>
            </a:r>
            <a:r>
              <a:rPr sz="1700" b="0">
                <a:solidFill>
                  <a:srgbClr val="222222"/>
                </a:solidFill>
                <a:latin typeface="Consolas"/>
                <a:cs typeface="Consolas"/>
              </a:rPr>
              <a:t>MRP0 APPLYING_LOG</a:t>
            </a:r>
            <a:r>
              <a:rPr sz="1700" b="0">
                <a:solidFill>
                  <a:srgbClr val="222222"/>
                </a:solidFill>
                <a:latin typeface="맑은 고딕"/>
              </a:rPr>
              <a:t> </a:t>
            </a:r>
            <a:r>
              <a:rPr sz="1700" b="1">
                <a:solidFill>
                  <a:srgbClr val="222222"/>
                </a:solidFill>
                <a:latin typeface="맑은 고딕"/>
              </a:rPr>
              <a:t>시퀀스 4</a:t>
            </a:r>
            <a:r>
              <a:rPr sz="1700" b="0">
                <a:solidFill>
                  <a:srgbClr val="222222"/>
                </a:solidFill>
                <a:latin typeface="맑은 고딕"/>
              </a:rPr>
              <a:t> (전환 전에는 95)</a:t>
            </a:r>
          </a:p>
          <a:p>
            <a:pPr algn="l">
              <a:spcAft>
                <a:spcPts val="1000"/>
              </a:spcAft>
            </a:pPr>
            <a:r>
              <a:rPr sz="1700" b="0">
                <a:solidFill>
                  <a:srgbClr val="222222"/>
                </a:solidFill>
                <a:latin typeface="맑은 고딕"/>
              </a:rPr>
              <a:t>•  Failover 후 넣은 </a:t>
            </a:r>
            <a:r>
              <a:rPr sz="1700" b="0">
                <a:solidFill>
                  <a:srgbClr val="222222"/>
                </a:solidFill>
                <a:latin typeface="Consolas"/>
                <a:cs typeface="Consolas"/>
              </a:rPr>
              <a:t>id=98</a:t>
            </a:r>
            <a:r>
              <a:rPr sz="1700" b="0">
                <a:solidFill>
                  <a:srgbClr val="222222"/>
                </a:solidFill>
                <a:latin typeface="맑은 고딕"/>
              </a:rPr>
              <a:t> 까지 </a:t>
            </a:r>
            <a:r>
              <a:rPr sz="1700" b="1">
                <a:solidFill>
                  <a:srgbClr val="222222"/>
                </a:solidFill>
                <a:latin typeface="맑은 고딕"/>
              </a:rPr>
              <a:t>따라잡았다</a:t>
            </a:r>
          </a:p>
          <a:p>
            <a:pPr algn="l">
              <a:spcAft>
                <a:spcPts val="1000"/>
              </a:spcAft>
            </a:pPr>
            <a:r>
              <a:rPr sz="1700" b="0">
                <a:solidFill>
                  <a:srgbClr val="222222"/>
                </a:solidFill>
                <a:latin typeface="맑은 고딕"/>
              </a:rPr>
              <a:t>•  15장의 시퀀스 비교는 </a:t>
            </a:r>
            <a:r>
              <a:rPr sz="1700" b="1">
                <a:solidFill>
                  <a:srgbClr val="222222"/>
                </a:solidFill>
                <a:latin typeface="맑은 고딕"/>
              </a:rPr>
              <a:t>기준선을 새로 잡아야 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소요 시간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RTO 의 근거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Switchover — </a:t>
            </a:r>
            <a:r>
              <a:rPr sz="1700" b="1">
                <a:solidFill>
                  <a:srgbClr val="222222"/>
                </a:solidFill>
                <a:latin typeface="맑은 고딕"/>
              </a:rPr>
              <a:t>64초 / 69초 / 55초</a:t>
            </a:r>
          </a:p>
          <a:p>
            <a:pPr algn="l">
              <a:spcAft>
                <a:spcPts val="1000"/>
              </a:spcAft>
            </a:pPr>
            <a:r>
              <a:rPr sz="1700" b="0">
                <a:solidFill>
                  <a:srgbClr val="222222"/>
                </a:solidFill>
                <a:latin typeface="맑은 고딕"/>
              </a:rPr>
              <a:t>•  Failover — </a:t>
            </a:r>
            <a:r>
              <a:rPr sz="1700" b="1">
                <a:solidFill>
                  <a:srgbClr val="222222"/>
                </a:solidFill>
                <a:latin typeface="맑은 고딕"/>
              </a:rPr>
              <a:t>24초</a:t>
            </a:r>
          </a:p>
          <a:p>
            <a:pPr algn="l">
              <a:spcAft>
                <a:spcPts val="1000"/>
              </a:spcAft>
            </a:pPr>
            <a:r>
              <a:rPr sz="1700" b="0">
                <a:solidFill>
                  <a:srgbClr val="222222"/>
                </a:solidFill>
                <a:latin typeface="맑은 고딕"/>
              </a:rPr>
              <a:t>•  Reinstate — </a:t>
            </a:r>
            <a:r>
              <a:rPr sz="1700" b="1">
                <a:solidFill>
                  <a:srgbClr val="222222"/>
                </a:solidFill>
                <a:latin typeface="맑은 고딕"/>
              </a:rPr>
              <a:t>51초</a:t>
            </a:r>
          </a:p>
          <a:p>
            <a:pPr algn="l">
              <a:spcAft>
                <a:spcPts val="1000"/>
              </a:spcAft>
            </a:pPr>
            <a:r>
              <a:rPr sz="1700" b="0">
                <a:solidFill>
                  <a:srgbClr val="222222"/>
                </a:solidFill>
                <a:latin typeface="맑은 고딕"/>
              </a:rPr>
              <a:t>•  14장 </a:t>
            </a:r>
            <a:r>
              <a:rPr sz="1700" b="0">
                <a:solidFill>
                  <a:srgbClr val="222222"/>
                </a:solidFill>
                <a:latin typeface="Consolas"/>
                <a:cs typeface="Consolas"/>
              </a:rPr>
              <a:t>estimated startup time</a:t>
            </a:r>
            <a:r>
              <a:rPr sz="1700" b="0">
                <a:solidFill>
                  <a:srgbClr val="222222"/>
                </a:solidFill>
                <a:latin typeface="맑은 고딕"/>
              </a:rPr>
              <a:t> — </a:t>
            </a:r>
            <a:r>
              <a:rPr sz="1700" b="1">
                <a:solidFill>
                  <a:srgbClr val="222222"/>
                </a:solidFill>
                <a:latin typeface="맑은 고딕"/>
              </a:rPr>
              <a:t>11초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관측자와 자동 전환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제3 호스트에 띄운다</a:t>
            </a:r>
          </a:p>
          <a:p>
            <a:pPr algn="l">
              <a:spcAft>
                <a:spcPts val="800"/>
              </a:spcAft>
            </a:pPr>
            <a:r>
              <a:rPr sz="1600" b="0">
                <a:solidFill>
                  <a:srgbClr val="FFFFFF"/>
                </a:solidFill>
                <a:latin typeface="맑은 고딕"/>
              </a:rPr>
              <a:t>•  명령 없이 일어난다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관측자를 띄운다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기동에 함정이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호스트 </a:t>
            </a:r>
            <a:r>
              <a:rPr sz="1700" b="1">
                <a:solidFill>
                  <a:srgbClr val="222222"/>
                </a:solidFill>
                <a:latin typeface="맑은 고딕"/>
              </a:rPr>
              <a:t>farsync-srv</a:t>
            </a:r>
            <a:r>
              <a:rPr sz="1700" b="0">
                <a:solidFill>
                  <a:srgbClr val="222222"/>
                </a:solidFill>
                <a:latin typeface="맑은 고딕"/>
              </a:rPr>
              <a:t> — 인스턴스 없이 소프트웨어만</a:t>
            </a:r>
          </a:p>
          <a:p>
            <a:pPr algn="l">
              <a:spcAft>
                <a:spcPts val="1000"/>
              </a:spcAft>
            </a:pPr>
            <a:r>
              <a:rPr sz="1700" b="0">
                <a:solidFill>
                  <a:srgbClr val="222222"/>
                </a:solidFill>
                <a:latin typeface="맑은 고딕"/>
              </a:rPr>
              <a:t>•  </a:t>
            </a:r>
            <a:r>
              <a:rPr sz="1700" b="0">
                <a:solidFill>
                  <a:srgbClr val="222222"/>
                </a:solidFill>
                <a:latin typeface="Consolas"/>
                <a:cs typeface="Consolas"/>
              </a:rPr>
              <a:t>CONNECT IDENTIFIER IS</a:t>
            </a:r>
            <a:r>
              <a:rPr sz="1700" b="0">
                <a:solidFill>
                  <a:srgbClr val="222222"/>
                </a:solidFill>
                <a:latin typeface="맑은 고딕"/>
              </a:rPr>
              <a:t> 형식 → </a:t>
            </a:r>
            <a:r>
              <a:rPr sz="1700" b="1">
                <a:solidFill>
                  <a:srgbClr val="222222"/>
                </a:solidFill>
                <a:latin typeface="Consolas"/>
                <a:cs typeface="Consolas"/>
              </a:rPr>
              <a:t>ORA-01017</a:t>
            </a:r>
          </a:p>
          <a:p>
            <a:pPr algn="l">
              <a:spcAft>
                <a:spcPts val="1000"/>
              </a:spcAft>
            </a:pPr>
            <a:r>
              <a:rPr sz="1700" b="0">
                <a:solidFill>
                  <a:srgbClr val="222222"/>
                </a:solidFill>
                <a:latin typeface="맑은 고딕"/>
              </a:rPr>
              <a:t>•  </a:t>
            </a:r>
            <a:r>
              <a:rPr sz="1700" b="0">
                <a:solidFill>
                  <a:srgbClr val="222222"/>
                </a:solidFill>
                <a:latin typeface="Consolas"/>
                <a:cs typeface="Consolas"/>
              </a:rPr>
              <a:t>nohup dgmgrl ... "start observer file='...'" &amp;</a:t>
            </a:r>
            <a:r>
              <a:rPr sz="1700" b="0">
                <a:solidFill>
                  <a:srgbClr val="222222"/>
                </a:solidFill>
                <a:latin typeface="맑은 고딕"/>
              </a:rPr>
              <a:t> 로 띄운다</a:t>
            </a:r>
          </a:p>
          <a:p>
            <a:pPr algn="l">
              <a:spcAft>
                <a:spcPts val="1000"/>
              </a:spcAft>
            </a:pPr>
            <a:r>
              <a:rPr sz="1700" b="0">
                <a:solidFill>
                  <a:srgbClr val="222222"/>
                </a:solidFill>
                <a:latin typeface="맑은 고딕"/>
              </a:rPr>
              <a:t>•  </a:t>
            </a:r>
            <a:r>
              <a:rPr sz="1700" b="0">
                <a:solidFill>
                  <a:srgbClr val="222222"/>
                </a:solidFill>
                <a:latin typeface="Consolas"/>
                <a:cs typeface="Consolas"/>
              </a:rPr>
              <a:t>Observer 'farsync-srv' started</a:t>
            </a:r>
            <a:r>
              <a:rPr sz="1700" b="0">
                <a:solidFill>
                  <a:srgbClr val="222222"/>
                </a:solidFill>
                <a:latin typeface="맑은 고딕"/>
              </a:rPr>
              <a:t> / </a:t>
            </a:r>
            <a:r>
              <a:rPr sz="1700" b="0">
                <a:solidFill>
                  <a:srgbClr val="222222"/>
                </a:solidFill>
                <a:latin typeface="Consolas"/>
                <a:cs typeface="Consolas"/>
              </a:rPr>
              <a:t>.dat</a:t>
            </a:r>
            <a:r>
              <a:rPr sz="1700" b="0">
                <a:solidFill>
                  <a:srgbClr val="222222"/>
                </a:solidFill>
                <a:latin typeface="맑은 고딕"/>
              </a:rPr>
              <a:t> 116바이트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가 인식한다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SHOW OBSERVER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Observer: farsync-srv</a:t>
            </a:r>
            <a:r>
              <a:rPr sz="1700" b="0">
                <a:solidFill>
                  <a:srgbClr val="222222"/>
                </a:solidFill>
                <a:latin typeface="맑은 고딕"/>
              </a:rPr>
              <a:t> — </a:t>
            </a:r>
            <a:r>
              <a:rPr sz="1700" b="1">
                <a:solidFill>
                  <a:srgbClr val="222222"/>
                </a:solidFill>
                <a:latin typeface="Consolas"/>
                <a:cs typeface="Consolas"/>
              </a:rPr>
              <a:t>ORA-16819</a:t>
            </a:r>
            <a:r>
              <a:rPr sz="1700" b="1">
                <a:solidFill>
                  <a:srgbClr val="222222"/>
                </a:solidFill>
                <a:latin typeface="맑은 고딕"/>
              </a:rPr>
              <a:t> 사라짐</a:t>
            </a:r>
          </a:p>
          <a:p>
            <a:pPr algn="l">
              <a:spcAft>
                <a:spcPts val="1000"/>
              </a:spcAft>
            </a:pPr>
            <a:r>
              <a:rPr sz="1700" b="0">
                <a:solidFill>
                  <a:srgbClr val="222222"/>
                </a:solidFill>
                <a:latin typeface="맑은 고딕"/>
              </a:rPr>
              <a:t>•  </a:t>
            </a:r>
            <a:r>
              <a:rPr sz="1700" b="0">
                <a:solidFill>
                  <a:srgbClr val="222222"/>
                </a:solidFill>
                <a:latin typeface="Consolas"/>
                <a:cs typeface="Consolas"/>
              </a:rPr>
              <a:t>Observer "farsync-srv" - Master</a:t>
            </a:r>
          </a:p>
          <a:p>
            <a:pPr algn="l">
              <a:spcAft>
                <a:spcPts val="1000"/>
              </a:spcAft>
            </a:pPr>
            <a:r>
              <a:rPr sz="1700" b="0">
                <a:solidFill>
                  <a:srgbClr val="222222"/>
                </a:solidFill>
                <a:latin typeface="맑은 고딕"/>
              </a:rPr>
              <a:t>•  </a:t>
            </a:r>
            <a:r>
              <a:rPr sz="1700" b="0">
                <a:solidFill>
                  <a:srgbClr val="222222"/>
                </a:solidFill>
                <a:latin typeface="Consolas"/>
                <a:cs typeface="Consolas"/>
              </a:rPr>
              <a:t>Last Ping to Primary: 2 seconds ago</a:t>
            </a:r>
          </a:p>
          <a:p>
            <a:pPr algn="l">
              <a:spcAft>
                <a:spcPts val="1000"/>
              </a:spcAft>
            </a:pPr>
            <a:r>
              <a:rPr sz="1700" b="0">
                <a:solidFill>
                  <a:srgbClr val="222222"/>
                </a:solidFill>
                <a:latin typeface="맑은 고딕"/>
              </a:rPr>
              <a:t>•  </a:t>
            </a:r>
            <a:r>
              <a:rPr sz="1700" b="0">
                <a:solidFill>
                  <a:srgbClr val="222222"/>
                </a:solidFill>
                <a:latin typeface="Consolas"/>
                <a:cs typeface="Consolas"/>
              </a:rPr>
              <a:t>Last Ping to Target: 2 seconds ago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 없이 일어나는 전환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69초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shutdown abort</a:t>
            </a:r>
            <a:r>
              <a:rPr sz="1700" b="0">
                <a:solidFill>
                  <a:srgbClr val="222222"/>
                </a:solidFill>
                <a:latin typeface="맑은 고딕"/>
              </a:rPr>
              <a:t> 후 </a:t>
            </a:r>
            <a:r>
              <a:rPr sz="1700" b="1">
                <a:solidFill>
                  <a:srgbClr val="222222"/>
                </a:solidFill>
                <a:latin typeface="맑은 고딕"/>
              </a:rPr>
              <a:t>아무 명령도 내리지 않는다</a:t>
            </a:r>
          </a:p>
          <a:p>
            <a:pPr algn="l">
              <a:spcAft>
                <a:spcPts val="1000"/>
              </a:spcAft>
            </a:pPr>
            <a:r>
              <a:rPr sz="1700" b="0">
                <a:solidFill>
                  <a:srgbClr val="222222"/>
                </a:solidFill>
                <a:latin typeface="맑은 고딕"/>
              </a:rPr>
              <a:t>•  21초 / 37초 — 아직 Standby</a:t>
            </a:r>
          </a:p>
          <a:p>
            <a:pPr algn="l">
              <a:spcAft>
                <a:spcPts val="1000"/>
              </a:spcAft>
            </a:pPr>
            <a:r>
              <a:rPr sz="1700" b="0">
                <a:solidFill>
                  <a:srgbClr val="222222"/>
                </a:solidFill>
                <a:latin typeface="맑은 고딕"/>
              </a:rPr>
              <a:t>•  53초 — </a:t>
            </a:r>
            <a:r>
              <a:rPr sz="1700" b="1">
                <a:solidFill>
                  <a:srgbClr val="222222"/>
                </a:solidFill>
                <a:latin typeface="Consolas"/>
                <a:cs typeface="Consolas"/>
              </a:rPr>
              <a:t>MOUNTED</a:t>
            </a:r>
            <a:r>
              <a:rPr sz="1700" b="0">
                <a:solidFill>
                  <a:srgbClr val="222222"/>
                </a:solidFill>
                <a:latin typeface="맑은 고딕"/>
              </a:rPr>
              <a:t> (전환 중)</a:t>
            </a:r>
          </a:p>
          <a:p>
            <a:pPr algn="l">
              <a:spcAft>
                <a:spcPts val="1000"/>
              </a:spcAft>
            </a:pPr>
            <a:r>
              <a:rPr sz="1700" b="0">
                <a:solidFill>
                  <a:srgbClr val="222222"/>
                </a:solidFill>
                <a:latin typeface="맑은 고딕"/>
              </a:rPr>
              <a:t>•  69초 — </a:t>
            </a:r>
            <a:r>
              <a:rPr sz="1700" b="1">
                <a:solidFill>
                  <a:srgbClr val="222222"/>
                </a:solidFill>
                <a:latin typeface="Consolas"/>
                <a:cs typeface="Consolas"/>
              </a:rPr>
              <a:t>PRIMARY / READ WRITE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관측자는 한 번 거부한다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split brain 방지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threshold has not exceeded. Retry for the next 3 seconds</a:t>
            </a:r>
          </a:p>
          <a:p>
            <a:pPr algn="l">
              <a:spcAft>
                <a:spcPts val="1000"/>
              </a:spcAft>
            </a:pPr>
            <a:r>
              <a:rPr sz="1700" b="0">
                <a:solidFill>
                  <a:srgbClr val="222222"/>
                </a:solidFill>
                <a:latin typeface="맑은 고딕"/>
              </a:rPr>
              <a:t>•  </a:t>
            </a:r>
            <a:r>
              <a:rPr sz="1700" b="0">
                <a:solidFill>
                  <a:srgbClr val="222222"/>
                </a:solidFill>
                <a:latin typeface="Consolas"/>
                <a:cs typeface="Consolas"/>
              </a:rPr>
              <a:t>threshold has expired.</a:t>
            </a:r>
            <a:r>
              <a:rPr sz="1700" b="0">
                <a:solidFill>
                  <a:srgbClr val="222222"/>
                </a:solidFill>
                <a:latin typeface="맑은 고딕"/>
              </a:rPr>
              <a:t> → </a:t>
            </a:r>
            <a:r>
              <a:rPr sz="1700" b="0">
                <a:solidFill>
                  <a:srgbClr val="222222"/>
                </a:solidFill>
                <a:latin typeface="Consolas"/>
                <a:cs typeface="Consolas"/>
              </a:rPr>
              <a:t>Making a last connection attempt</a:t>
            </a:r>
          </a:p>
          <a:p>
            <a:pPr algn="l">
              <a:spcAft>
                <a:spcPts val="1000"/>
              </a:spcAft>
            </a:pPr>
            <a:r>
              <a:rPr sz="1700" b="0">
                <a:solidFill>
                  <a:srgbClr val="222222"/>
                </a:solidFill>
                <a:latin typeface="맑은 고딕"/>
              </a:rPr>
              <a:t>•  </a:t>
            </a:r>
            <a:r>
              <a:rPr sz="1700" b="1">
                <a:solidFill>
                  <a:srgbClr val="222222"/>
                </a:solidFill>
                <a:latin typeface="Consolas"/>
                <a:cs typeface="Consolas"/>
              </a:rPr>
              <a:t>not possible because primary last contacted the standby</a:t>
            </a:r>
          </a:p>
          <a:p>
            <a:pPr algn="l">
              <a:spcAft>
                <a:spcPts val="1000"/>
              </a:spcAft>
            </a:pPr>
            <a:r>
              <a:rPr sz="1700" b="0">
                <a:solidFill>
                  <a:srgbClr val="222222"/>
                </a:solidFill>
                <a:latin typeface="맑은 고딕"/>
              </a:rPr>
              <a:t>•  </a:t>
            </a:r>
            <a:r>
              <a:rPr sz="1700" b="0">
                <a:solidFill>
                  <a:srgbClr val="222222"/>
                </a:solidFill>
                <a:latin typeface="Consolas"/>
                <a:cs typeface="Consolas"/>
              </a:rPr>
              <a:t>Failed to ping the primary.</a:t>
            </a:r>
            <a:r>
              <a:rPr sz="1700" b="0">
                <a:solidFill>
                  <a:srgbClr val="222222"/>
                </a:solidFill>
                <a:latin typeface="맑은 고딕"/>
              </a:rPr>
              <a:t> → </a:t>
            </a:r>
            <a:r>
              <a:rPr sz="1700" b="0">
                <a:solidFill>
                  <a:srgbClr val="222222"/>
                </a:solidFill>
                <a:latin typeface="Consolas"/>
                <a:cs typeface="Consolas"/>
              </a:rPr>
              <a:t>Fast-Start Failover started...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재편입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42초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옛 Primary 를 </a:t>
            </a:r>
            <a:r>
              <a:rPr sz="1700" b="1">
                <a:solidFill>
                  <a:srgbClr val="222222"/>
                </a:solidFill>
                <a:latin typeface="Consolas"/>
                <a:cs typeface="Consolas"/>
              </a:rPr>
              <a:t>MOUNT</a:t>
            </a:r>
            <a:r>
              <a:rPr sz="1700" b="1">
                <a:solidFill>
                  <a:srgbClr val="222222"/>
                </a:solidFill>
                <a:latin typeface="맑은 고딕"/>
              </a:rPr>
              <a:t> 까지만</a:t>
            </a:r>
            <a:r>
              <a:rPr sz="1700" b="0">
                <a:solidFill>
                  <a:srgbClr val="222222"/>
                </a:solidFill>
                <a:latin typeface="맑은 고딕"/>
              </a:rPr>
              <a:t> 올린다</a:t>
            </a:r>
          </a:p>
          <a:p>
            <a:pPr algn="l">
              <a:spcAft>
                <a:spcPts val="1000"/>
              </a:spcAft>
            </a:pPr>
            <a:r>
              <a:rPr sz="1700" b="0">
                <a:solidFill>
                  <a:srgbClr val="222222"/>
                </a:solidFill>
                <a:latin typeface="맑은 고딕"/>
              </a:rPr>
              <a:t>•  </a:t>
            </a:r>
            <a:r>
              <a:rPr sz="1700" b="0">
                <a:solidFill>
                  <a:srgbClr val="222222"/>
                </a:solidFill>
                <a:latin typeface="Consolas"/>
                <a:cs typeface="Consolas"/>
              </a:rPr>
              <a:t>The standby chicago needs to be reinstated</a:t>
            </a:r>
          </a:p>
          <a:p>
            <a:pPr algn="l">
              <a:spcAft>
                <a:spcPts val="1000"/>
              </a:spcAft>
            </a:pPr>
            <a:r>
              <a:rPr sz="1700" b="0">
                <a:solidFill>
                  <a:srgbClr val="222222"/>
                </a:solidFill>
                <a:latin typeface="맑은 고딕"/>
              </a:rPr>
              <a:t>•  </a:t>
            </a:r>
            <a:r>
              <a:rPr sz="1700" b="0">
                <a:solidFill>
                  <a:srgbClr val="222222"/>
                </a:solidFill>
                <a:latin typeface="Consolas"/>
                <a:cs typeface="Consolas"/>
              </a:rPr>
              <a:t>New primary is now ready to reinstate.</a:t>
            </a:r>
            <a:r>
              <a:rPr sz="1700" b="0">
                <a:solidFill>
                  <a:srgbClr val="222222"/>
                </a:solidFill>
                <a:latin typeface="맑은 고딕"/>
              </a:rPr>
              <a:t> → </a:t>
            </a:r>
            <a:r>
              <a:rPr sz="1700" b="0">
                <a:solidFill>
                  <a:srgbClr val="222222"/>
                </a:solidFill>
                <a:latin typeface="Consolas"/>
                <a:cs typeface="Consolas"/>
              </a:rPr>
              <a:t>Issuing REINSTATE command.</a:t>
            </a:r>
          </a:p>
          <a:p>
            <a:pPr algn="l">
              <a:spcAft>
                <a:spcPts val="1000"/>
              </a:spcAft>
            </a:pPr>
            <a:r>
              <a:rPr sz="1700" b="0">
                <a:solidFill>
                  <a:srgbClr val="222222"/>
                </a:solidFill>
                <a:latin typeface="맑은 고딕"/>
              </a:rPr>
              <a:t>•  재편입 직후에는 아직 </a:t>
            </a:r>
            <a:r>
              <a:rPr sz="1700" b="1">
                <a:solidFill>
                  <a:srgbClr val="222222"/>
                </a:solidFill>
                <a:latin typeface="Consolas"/>
                <a:cs typeface="Consolas"/>
              </a:rPr>
              <a:t>MOUNTED</a:t>
            </a:r>
            <a:r>
              <a:rPr sz="1700" b="0">
                <a:solidFill>
                  <a:srgbClr val="222222"/>
                </a:solidFill>
                <a:latin typeface="맑은 고딕"/>
              </a:rPr>
              <a:t> — 적용 시작은 다음 단계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16.11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 를 백업에 활용한다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받을 수는 있다</a:t>
            </a:r>
          </a:p>
          <a:p>
            <a:pPr algn="l">
              <a:spcAft>
                <a:spcPts val="800"/>
              </a:spcAft>
            </a:pPr>
            <a:r>
              <a:rPr sz="1600" b="0">
                <a:solidFill>
                  <a:srgbClr val="FFFFFF"/>
                </a:solidFill>
                <a:latin typeface="맑은 고딕"/>
              </a:rPr>
              <a:t>•  그런데 보이지 않는다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에서 백업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열린 채로 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양쪽 </a:t>
            </a:r>
            <a:r>
              <a:rPr sz="1700" b="1">
                <a:solidFill>
                  <a:srgbClr val="222222"/>
                </a:solidFill>
                <a:latin typeface="맑은 고딕"/>
              </a:rPr>
              <a:t>DBID 동일</a:t>
            </a:r>
            <a:r>
              <a:rPr sz="1700" b="0">
                <a:solidFill>
                  <a:srgbClr val="222222"/>
                </a:solidFill>
                <a:latin typeface="맑은 고딕"/>
              </a:rPr>
              <a:t> (1852041610)</a:t>
            </a:r>
          </a:p>
          <a:p>
            <a:pPr algn="l">
              <a:spcAft>
                <a:spcPts val="1000"/>
              </a:spcAft>
            </a:pPr>
            <a:r>
              <a:rPr sz="1700" b="0">
                <a:solidFill>
                  <a:srgbClr val="222222"/>
                </a:solidFill>
                <a:latin typeface="맑은 고딕"/>
              </a:rPr>
              <a:t>•  </a:t>
            </a:r>
            <a:r>
              <a:rPr sz="1700" b="0">
                <a:solidFill>
                  <a:srgbClr val="222222"/>
                </a:solidFill>
                <a:latin typeface="Consolas"/>
                <a:cs typeface="Consolas"/>
              </a:rPr>
              <a:t>connected to target database: </a:t>
            </a:r>
            <a:r>
              <a:rPr sz="1700" b="1">
                <a:solidFill>
                  <a:srgbClr val="222222"/>
                </a:solidFill>
                <a:latin typeface="Consolas"/>
                <a:cs typeface="Consolas"/>
              </a:rPr>
              <a:t>CHICAGO</a:t>
            </a:r>
            <a:r>
              <a:rPr sz="1700" b="0">
                <a:solidFill>
                  <a:srgbClr val="222222"/>
                </a:solidFill>
                <a:latin typeface="맑은 고딕"/>
              </a:rPr>
              <a:t> — DB_NAME 이다</a:t>
            </a:r>
          </a:p>
          <a:p>
            <a:pPr algn="l">
              <a:spcAft>
                <a:spcPts val="1000"/>
              </a:spcAft>
            </a:pPr>
            <a:r>
              <a:rPr sz="1700" b="0">
                <a:solidFill>
                  <a:srgbClr val="222222"/>
                </a:solidFill>
                <a:latin typeface="맑은 고딕"/>
              </a:rPr>
              <a:t>•  실측 </a:t>
            </a:r>
            <a:r>
              <a:rPr sz="1700" b="1">
                <a:solidFill>
                  <a:srgbClr val="222222"/>
                </a:solidFill>
                <a:latin typeface="맑은 고딕"/>
              </a:rPr>
              <a:t>2,820MB → 550MB, 57초</a:t>
            </a:r>
          </a:p>
          <a:p>
            <a:pPr algn="l">
              <a:spcAft>
                <a:spcPts val="1000"/>
              </a:spcAft>
            </a:pPr>
            <a:r>
              <a:rPr sz="1700" b="0">
                <a:solidFill>
                  <a:srgbClr val="222222"/>
                </a:solidFill>
                <a:latin typeface="맑은 고딕"/>
              </a:rPr>
              <a:t>•  아카이브까지 받으면 </a:t>
            </a:r>
            <a:r>
              <a:rPr sz="1700" b="1">
                <a:solidFill>
                  <a:srgbClr val="222222"/>
                </a:solidFill>
                <a:latin typeface="Consolas"/>
                <a:cs typeface="Consolas"/>
              </a:rPr>
              <a:t>RMAN-06820</a:t>
            </a:r>
            <a:r>
              <a:rPr sz="1700" b="0">
                <a:solidFill>
                  <a:srgbClr val="222222"/>
                </a:solidFill>
                <a:latin typeface="맑은 고딕"/>
              </a:rPr>
              <a:t> 경고</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그런데 Primary 에서는 안 보인다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절반만 맞다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boston </a:t>
            </a:r>
            <a:r>
              <a:rPr sz="1700" b="0">
                <a:solidFill>
                  <a:srgbClr val="222222"/>
                </a:solidFill>
                <a:latin typeface="Consolas"/>
                <a:cs typeface="Consolas"/>
              </a:rPr>
              <a:t>list backup summary</a:t>
            </a:r>
            <a:r>
              <a:rPr sz="1700" b="0">
                <a:solidFill>
                  <a:srgbClr val="222222"/>
                </a:solidFill>
                <a:latin typeface="맑은 고딕"/>
              </a:rPr>
              <a:t> → </a:t>
            </a:r>
            <a:r>
              <a:rPr sz="1700" b="1">
                <a:solidFill>
                  <a:srgbClr val="222222"/>
                </a:solidFill>
                <a:latin typeface="맑은 고딕"/>
              </a:rPr>
              <a:t>11건</a:t>
            </a:r>
          </a:p>
          <a:p>
            <a:pPr algn="l">
              <a:spcAft>
                <a:spcPts val="1000"/>
              </a:spcAft>
            </a:pPr>
            <a:r>
              <a:rPr sz="1700" b="0">
                <a:solidFill>
                  <a:srgbClr val="222222"/>
                </a:solidFill>
                <a:latin typeface="맑은 고딕"/>
              </a:rPr>
              <a:t>•  chicago </a:t>
            </a:r>
            <a:r>
              <a:rPr sz="1700" b="0">
                <a:solidFill>
                  <a:srgbClr val="222222"/>
                </a:solidFill>
                <a:latin typeface="Consolas"/>
                <a:cs typeface="Consolas"/>
              </a:rPr>
              <a:t>list backup summary</a:t>
            </a:r>
            <a:r>
              <a:rPr sz="1700" b="0">
                <a:solidFill>
                  <a:srgbClr val="222222"/>
                </a:solidFill>
                <a:latin typeface="맑은 고딕"/>
              </a:rPr>
              <a:t> → </a:t>
            </a:r>
            <a:r>
              <a:rPr sz="1700" b="1">
                <a:solidFill>
                  <a:srgbClr val="222222"/>
                </a:solidFill>
                <a:latin typeface="맑은 고딕"/>
              </a:rPr>
              <a:t>2건</a:t>
            </a:r>
          </a:p>
          <a:p>
            <a:pPr algn="l">
              <a:spcAft>
                <a:spcPts val="1000"/>
              </a:spcAft>
            </a:pPr>
            <a:r>
              <a:rPr sz="1700" b="0">
                <a:solidFill>
                  <a:srgbClr val="222222"/>
                </a:solidFill>
                <a:latin typeface="맑은 고딕"/>
              </a:rPr>
              <a:t>•  </a:t>
            </a:r>
            <a:r>
              <a:rPr sz="1700" b="0">
                <a:solidFill>
                  <a:srgbClr val="222222"/>
                </a:solidFill>
                <a:latin typeface="Consolas"/>
                <a:cs typeface="Consolas"/>
              </a:rPr>
              <a:t>V$RMAN_BACKUP_JOB_DETAILS</a:t>
            </a:r>
            <a:r>
              <a:rPr sz="1700" b="0">
                <a:solidFill>
                  <a:srgbClr val="222222"/>
                </a:solidFill>
                <a:latin typeface="맑은 고딕"/>
              </a:rPr>
              <a:t> → </a:t>
            </a:r>
            <a:r>
              <a:rPr sz="1700" b="1">
                <a:solidFill>
                  <a:srgbClr val="222222"/>
                </a:solidFill>
                <a:latin typeface="Consolas"/>
                <a:cs typeface="Consolas"/>
              </a:rPr>
              <a:t>no rows selected</a:t>
            </a:r>
          </a:p>
          <a:p>
            <a:pPr algn="l">
              <a:spcAft>
                <a:spcPts val="1000"/>
              </a:spcAft>
            </a:pPr>
            <a:r>
              <a:rPr sz="1700" b="0">
                <a:solidFill>
                  <a:srgbClr val="222222"/>
                </a:solidFill>
                <a:latin typeface="맑은 고딕"/>
              </a:rPr>
              <a:t>•  백업 이력은 </a:t>
            </a:r>
            <a:r>
              <a:rPr sz="1700" b="1">
                <a:solidFill>
                  <a:srgbClr val="222222"/>
                </a:solidFill>
                <a:latin typeface="맑은 고딕"/>
              </a:rPr>
              <a:t>받은 쪽 컨트롤 파일에만</a:t>
            </a:r>
            <a:r>
              <a:rPr sz="1700" b="0">
                <a:solidFill>
                  <a:srgbClr val="222222"/>
                </a:solidFill>
                <a:latin typeface="맑은 고딕"/>
              </a:rPr>
              <a:t> 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가지 조치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카탈로그와 CATALOG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① 복구 카탈로그</a:t>
            </a:r>
            <a:r>
              <a:rPr sz="1700" b="0">
                <a:solidFill>
                  <a:srgbClr val="222222"/>
                </a:solidFill>
                <a:latin typeface="맑은 고딕"/>
              </a:rPr>
              <a:t> — </a:t>
            </a:r>
            <a:r>
              <a:rPr sz="1700" b="0">
                <a:solidFill>
                  <a:srgbClr val="222222"/>
                </a:solidFill>
                <a:latin typeface="Consolas"/>
                <a:cs typeface="Consolas"/>
              </a:rPr>
              <a:t>configure db_unique_name 'boston' ...</a:t>
            </a:r>
          </a:p>
          <a:p>
            <a:pPr algn="l">
              <a:spcAft>
                <a:spcPts val="1000"/>
              </a:spcAft>
            </a:pPr>
            <a:r>
              <a:rPr sz="1700" b="0">
                <a:solidFill>
                  <a:srgbClr val="222222"/>
                </a:solidFill>
                <a:latin typeface="맑은 고딕"/>
              </a:rPr>
              <a:t>•  </a:t>
            </a:r>
            <a:r>
              <a:rPr sz="1700" b="1">
                <a:solidFill>
                  <a:srgbClr val="222222"/>
                </a:solidFill>
                <a:latin typeface="맑은 고딕"/>
              </a:rPr>
              <a:t>② 조각을 옮기고 등록</a:t>
            </a:r>
            <a:r>
              <a:rPr sz="1700" b="0">
                <a:solidFill>
                  <a:srgbClr val="222222"/>
                </a:solidFill>
                <a:latin typeface="맑은 고딕"/>
              </a:rPr>
              <a:t> — </a:t>
            </a:r>
            <a:r>
              <a:rPr sz="1700" b="0">
                <a:solidFill>
                  <a:srgbClr val="222222"/>
                </a:solidFill>
                <a:latin typeface="Consolas"/>
                <a:cs typeface="Consolas"/>
              </a:rPr>
              <a:t>catalog start with '...' noprompt</a:t>
            </a:r>
          </a:p>
          <a:p>
            <a:pPr algn="l">
              <a:spcAft>
                <a:spcPts val="1000"/>
              </a:spcAft>
            </a:pPr>
            <a:r>
              <a:rPr sz="1700" b="0">
                <a:solidFill>
                  <a:srgbClr val="222222"/>
                </a:solidFill>
                <a:latin typeface="맑은 고딕"/>
              </a:rPr>
              <a:t>•  등록하면 </a:t>
            </a:r>
            <a:r>
              <a:rPr sz="1700" b="1">
                <a:solidFill>
                  <a:srgbClr val="222222"/>
                </a:solidFill>
                <a:latin typeface="Consolas"/>
                <a:cs typeface="Consolas"/>
              </a:rPr>
              <a:t>.../Chicago/users01.dbf</a:t>
            </a:r>
            <a:r>
              <a:rPr sz="1700" b="0">
                <a:solidFill>
                  <a:srgbClr val="222222"/>
                </a:solidFill>
                <a:latin typeface="맑은 고딕"/>
              </a:rPr>
              <a:t> 로 인식된다</a:t>
            </a:r>
          </a:p>
          <a:p>
            <a:pPr algn="l">
              <a:spcAft>
                <a:spcPts val="1000"/>
              </a:spcAft>
            </a:pPr>
            <a:r>
              <a:rPr sz="1700" b="0">
                <a:solidFill>
                  <a:srgbClr val="222222"/>
                </a:solidFill>
                <a:latin typeface="맑은 고딕"/>
              </a:rPr>
              <a:t>•  RMAN 은 이름이 아니라 </a:t>
            </a:r>
            <a:r>
              <a:rPr sz="1700" b="1">
                <a:solidFill>
                  <a:srgbClr val="222222"/>
                </a:solidFill>
                <a:latin typeface="맑은 고딕"/>
              </a:rPr>
              <a:t>DBID + 파일 번호</a:t>
            </a:r>
            <a:r>
              <a:rPr sz="1700" b="0">
                <a:solidFill>
                  <a:srgbClr val="222222"/>
                </a:solidFill>
                <a:latin typeface="맑은 고딕"/>
              </a:rPr>
              <a:t>로 판단한다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Switchover 는 </a:t>
            </a:r>
            <a:r>
              <a:rPr sz="1600" b="1">
                <a:solidFill>
                  <a:srgbClr val="222222"/>
                </a:solidFill>
                <a:latin typeface="맑은 고딕"/>
              </a:rPr>
              <a:t>무손실·되돌림 가능</a:t>
            </a:r>
            <a:r>
              <a:rPr sz="1600" b="0">
                <a:solidFill>
                  <a:srgbClr val="222222"/>
                </a:solidFill>
                <a:latin typeface="맑은 고딕"/>
              </a:rPr>
              <a:t>, Failover 는 </a:t>
            </a:r>
            <a:r>
              <a:rPr sz="1600" b="1">
                <a:solidFill>
                  <a:srgbClr val="222222"/>
                </a:solidFill>
                <a:latin typeface="맑은 고딕"/>
              </a:rPr>
              <a:t>손실 가능·Reinstate 필요</a:t>
            </a:r>
          </a:p>
          <a:p>
            <a:pPr algn="l">
              <a:spcAft>
                <a:spcPts val="1000"/>
              </a:spcAft>
            </a:pPr>
            <a:r>
              <a:rPr sz="1600" b="0">
                <a:solidFill>
                  <a:srgbClr val="222222"/>
                </a:solidFill>
                <a:latin typeface="맑은 고딕"/>
              </a:rPr>
              <a:t>•  </a:t>
            </a:r>
            <a:r>
              <a:rPr sz="1600" b="0">
                <a:solidFill>
                  <a:srgbClr val="222222"/>
                </a:solidFill>
                <a:latin typeface="Consolas"/>
                <a:cs typeface="Consolas"/>
              </a:rPr>
              <a:t>SWITCHOVER_STATUS</a:t>
            </a:r>
            <a:r>
              <a:rPr sz="1600" b="0">
                <a:solidFill>
                  <a:srgbClr val="222222"/>
                </a:solidFill>
                <a:latin typeface="맑은 고딕"/>
              </a:rPr>
              <a:t> — Primary </a:t>
            </a:r>
            <a:r>
              <a:rPr sz="1600" b="0">
                <a:solidFill>
                  <a:srgbClr val="222222"/>
                </a:solidFill>
                <a:latin typeface="Consolas"/>
                <a:cs typeface="Consolas"/>
              </a:rPr>
              <a:t>TO STANDBY</a:t>
            </a:r>
            <a:r>
              <a:rPr sz="1600" b="0">
                <a:solidFill>
                  <a:srgbClr val="222222"/>
                </a:solidFill>
                <a:latin typeface="맑은 고딕"/>
              </a:rPr>
              <a:t>, Standby </a:t>
            </a:r>
            <a:r>
              <a:rPr sz="1600" b="0">
                <a:solidFill>
                  <a:srgbClr val="222222"/>
                </a:solidFill>
                <a:latin typeface="Consolas"/>
                <a:cs typeface="Consolas"/>
              </a:rPr>
              <a:t>NOT ALLOWED</a:t>
            </a:r>
            <a:r>
              <a:rPr sz="1600" b="0">
                <a:solidFill>
                  <a:srgbClr val="222222"/>
                </a:solidFill>
                <a:latin typeface="맑은 고딕"/>
              </a:rPr>
              <a:t>(정상)</a:t>
            </a:r>
          </a:p>
          <a:p>
            <a:pPr algn="l">
              <a:spcAft>
                <a:spcPts val="1000"/>
              </a:spcAft>
            </a:pPr>
            <a:r>
              <a:rPr sz="1600" b="0">
                <a:solidFill>
                  <a:srgbClr val="222222"/>
                </a:solidFill>
                <a:latin typeface="맑은 고딕"/>
              </a:rPr>
              <a:t>•  </a:t>
            </a:r>
            <a:r>
              <a:rPr sz="1600" b="0">
                <a:solidFill>
                  <a:srgbClr val="222222"/>
                </a:solidFill>
                <a:latin typeface="Consolas"/>
                <a:cs typeface="Consolas"/>
              </a:rPr>
              <a:t>Connected to an idle instance.</a:t>
            </a:r>
            <a:r>
              <a:rPr sz="1600" b="0">
                <a:solidFill>
                  <a:srgbClr val="222222"/>
                </a:solidFill>
                <a:latin typeface="맑은 고딕"/>
              </a:rPr>
              <a:t> — </a:t>
            </a:r>
            <a:r>
              <a:rPr sz="1600" b="1">
                <a:solidFill>
                  <a:srgbClr val="222222"/>
                </a:solidFill>
                <a:latin typeface="맑은 고딕"/>
              </a:rPr>
              <a:t>정적 등록이 여기서 쓰인다</a:t>
            </a:r>
          </a:p>
          <a:p>
            <a:pPr algn="l">
              <a:spcAft>
                <a:spcPts val="1000"/>
              </a:spcAft>
            </a:pPr>
            <a:r>
              <a:rPr sz="1600" b="0">
                <a:solidFill>
                  <a:srgbClr val="222222"/>
                </a:solidFill>
                <a:latin typeface="맑은 고딕"/>
              </a:rPr>
              <a:t>•  </a:t>
            </a:r>
            <a:r>
              <a:rPr sz="1600" b="0">
                <a:solidFill>
                  <a:srgbClr val="222222"/>
                </a:solidFill>
                <a:latin typeface="Consolas"/>
                <a:cs typeface="Consolas"/>
              </a:rPr>
              <a:t>Database opened.</a:t>
            </a:r>
            <a:r>
              <a:rPr sz="1600" b="0">
                <a:solidFill>
                  <a:srgbClr val="222222"/>
                </a:solidFill>
                <a:latin typeface="맑은 고딕"/>
              </a:rPr>
              <a:t> — </a:t>
            </a:r>
            <a:r>
              <a:rPr sz="1600" b="1">
                <a:solidFill>
                  <a:srgbClr val="222222"/>
                </a:solidFill>
                <a:latin typeface="맑은 고딕"/>
              </a:rPr>
              <a:t>Active Data Guard 가 전환 후에도 유지</a:t>
            </a:r>
          </a:p>
          <a:p>
            <a:pPr algn="l">
              <a:spcAft>
                <a:spcPts val="1000"/>
              </a:spcAft>
            </a:pPr>
            <a:r>
              <a:rPr sz="1600" b="0">
                <a:solidFill>
                  <a:srgbClr val="222222"/>
                </a:solidFill>
                <a:latin typeface="맑은 고딕"/>
              </a:rPr>
              <a:t>•  </a:t>
            </a:r>
            <a:r>
              <a:rPr sz="1600" b="0">
                <a:solidFill>
                  <a:srgbClr val="222222"/>
                </a:solidFill>
                <a:latin typeface="Consolas"/>
                <a:cs typeface="Consolas"/>
              </a:rPr>
              <a:t>DB_NAME</a:t>
            </a:r>
            <a:r>
              <a:rPr sz="1600" b="0">
                <a:solidFill>
                  <a:srgbClr val="222222"/>
                </a:solidFill>
                <a:latin typeface="맑은 고딕"/>
              </a:rPr>
              <a:t> 은 양쪽 </a:t>
            </a:r>
            <a:r>
              <a:rPr sz="1600" b="0">
                <a:solidFill>
                  <a:srgbClr val="222222"/>
                </a:solidFill>
                <a:latin typeface="Consolas"/>
                <a:cs typeface="Consolas"/>
              </a:rPr>
              <a:t>CHICAGO</a:t>
            </a:r>
            <a:r>
              <a:rPr sz="1600" b="0">
                <a:solidFill>
                  <a:srgbClr val="222222"/>
                </a:solidFill>
                <a:latin typeface="맑은 고딕"/>
              </a:rPr>
              <a:t>. 구별은 </a:t>
            </a:r>
            <a:r>
              <a:rPr sz="1600" b="1">
                <a:solidFill>
                  <a:srgbClr val="222222"/>
                </a:solidFill>
                <a:latin typeface="Consolas"/>
                <a:cs typeface="Consolas"/>
              </a:rPr>
              <a:t>DB_UNIQUE_NAME</a:t>
            </a:r>
          </a:p>
          <a:p>
            <a:pPr algn="l">
              <a:spcAft>
                <a:spcPts val="1000"/>
              </a:spcAft>
            </a:pPr>
            <a:r>
              <a:rPr sz="1600" b="0">
                <a:solidFill>
                  <a:srgbClr val="222222"/>
                </a:solidFill>
                <a:latin typeface="맑은 고딕"/>
              </a:rPr>
              <a:t>•  전환하면 Broker 가 목적지를 </a:t>
            </a:r>
            <a:r>
              <a:rPr sz="1600" b="1">
                <a:solidFill>
                  <a:srgbClr val="222222"/>
                </a:solidFill>
                <a:latin typeface="맑은 고딕"/>
              </a:rPr>
              <a:t>반대 방향으로 다시 쓴다</a:t>
            </a:r>
          </a:p>
          <a:p>
            <a:pPr algn="l">
              <a:spcAft>
                <a:spcPts val="1000"/>
              </a:spcAft>
            </a:pPr>
            <a:r>
              <a:rPr sz="1600" b="0">
                <a:solidFill>
                  <a:srgbClr val="222222"/>
                </a:solidFill>
                <a:latin typeface="맑은 고딕"/>
              </a:rPr>
              <a:t>•  없는 멤버는 문장, 자기 자신은 </a:t>
            </a:r>
            <a:r>
              <a:rPr sz="1600" b="1">
                <a:solidFill>
                  <a:srgbClr val="222222"/>
                </a:solidFill>
                <a:latin typeface="맑은 고딕"/>
              </a:rPr>
              <a:t>ORA-16558</a:t>
            </a:r>
          </a:p>
          <a:p>
            <a:pPr algn="l">
              <a:spcAft>
                <a:spcPts val="1000"/>
              </a:spcAft>
            </a:pPr>
            <a:r>
              <a:rPr sz="1600" b="0">
                <a:solidFill>
                  <a:srgbClr val="222222"/>
                </a:solidFill>
                <a:latin typeface="맑은 고딕"/>
              </a:rPr>
              <a:t>•  </a:t>
            </a:r>
            <a:r>
              <a:rPr sz="1600" b="1">
                <a:solidFill>
                  <a:srgbClr val="222222"/>
                </a:solidFill>
                <a:latin typeface="맑은 고딕"/>
              </a:rPr>
              <a:t>★ SQL 전환은 거부되지 않는다.</a:t>
            </a:r>
            <a:r>
              <a:rPr sz="1600" b="0">
                <a:solidFill>
                  <a:srgbClr val="222222"/>
                </a:solidFill>
                <a:latin typeface="맑은 고딕"/>
              </a:rPr>
              <a:t> 역할만 바뀌고 뒷정리가 없다</a:t>
            </a:r>
          </a:p>
          <a:p>
            <a:pPr algn="l">
              <a:spcAft>
                <a:spcPts val="1000"/>
              </a:spcAft>
            </a:pPr>
            <a:r>
              <a:rPr sz="1600" b="0">
                <a:solidFill>
                  <a:srgbClr val="222222"/>
                </a:solidFill>
                <a:latin typeface="맑은 고딕"/>
              </a:rPr>
              <a:t>•  그 결과 </a:t>
            </a:r>
            <a:r>
              <a:rPr sz="1600" b="1">
                <a:solidFill>
                  <a:srgbClr val="222222"/>
                </a:solidFill>
                <a:latin typeface="맑은 고딕"/>
              </a:rPr>
              <a:t>ORA-16816</a:t>
            </a:r>
            <a:r>
              <a:rPr sz="1600" b="0">
                <a:solidFill>
                  <a:srgbClr val="222222"/>
                </a:solidFill>
                <a:latin typeface="맑은 고딕"/>
              </a:rPr>
              <a:t>, 복구는 </a:t>
            </a:r>
            <a:r>
              <a:rPr sz="1600" b="0">
                <a:solidFill>
                  <a:srgbClr val="222222"/>
                </a:solidFill>
                <a:latin typeface="Consolas"/>
                <a:cs typeface="Consolas"/>
              </a:rPr>
              <a:t>REMOVE</a:t>
            </a:r>
            <a:r>
              <a:rPr sz="1600" b="0">
                <a:solidFill>
                  <a:srgbClr val="222222"/>
                </a:solidFill>
                <a:latin typeface="맑은 고딕"/>
              </a:rPr>
              <a:t>→</a:t>
            </a:r>
            <a:r>
              <a:rPr sz="1600" b="0">
                <a:solidFill>
                  <a:srgbClr val="222222"/>
                </a:solidFill>
                <a:latin typeface="Consolas"/>
                <a:cs typeface="Consolas"/>
              </a:rPr>
              <a:t>CREATE</a:t>
            </a:r>
            <a:r>
              <a:rPr sz="1600" b="0">
                <a:solidFill>
                  <a:srgbClr val="222222"/>
                </a:solidFill>
                <a:latin typeface="맑은 고딕"/>
              </a:rPr>
              <a:t>→</a:t>
            </a:r>
            <a:r>
              <a:rPr sz="1600" b="0">
                <a:solidFill>
                  <a:srgbClr val="222222"/>
                </a:solidFill>
                <a:latin typeface="Consolas"/>
                <a:cs typeface="Consolas"/>
              </a:rPr>
              <a:t>ADD</a:t>
            </a:r>
            <a:r>
              <a:rPr sz="1600" b="0">
                <a:solidFill>
                  <a:srgbClr val="222222"/>
                </a:solidFill>
                <a:latin typeface="맑은 고딕"/>
              </a:rPr>
              <a:t>→</a:t>
            </a:r>
            <a:r>
              <a:rPr sz="1600" b="0">
                <a:solidFill>
                  <a:srgbClr val="222222"/>
                </a:solidFill>
                <a:latin typeface="Consolas"/>
                <a:cs typeface="Consolas"/>
              </a:rPr>
              <a:t>ENABLE</a:t>
            </a:r>
          </a:p>
          <a:p>
            <a:pPr algn="l">
              <a:spcAft>
                <a:spcPts val="1000"/>
              </a:spcAft>
            </a:pPr>
            <a:r>
              <a:rPr sz="1600" b="0">
                <a:solidFill>
                  <a:srgbClr val="222222"/>
                </a:solidFill>
                <a:latin typeface="맑은 고딕"/>
              </a:rPr>
              <a:t>•  플래시백은 열린 채로 켜진다. 이미 켜졌으면 </a:t>
            </a:r>
            <a:r>
              <a:rPr sz="1600" b="1">
                <a:solidFill>
                  <a:srgbClr val="222222"/>
                </a:solidFill>
                <a:latin typeface="맑은 고딕"/>
              </a:rPr>
              <a:t>ORA-38706+38713</a:t>
            </a:r>
          </a:p>
          <a:p>
            <a:pPr algn="l">
              <a:spcAft>
                <a:spcPts val="1000"/>
              </a:spcAft>
            </a:pPr>
            <a:r>
              <a:rPr sz="1600" b="0">
                <a:solidFill>
                  <a:srgbClr val="222222"/>
                </a:solidFill>
                <a:latin typeface="맑은 고딕"/>
              </a:rPr>
              <a:t>•  Standby 는 </a:t>
            </a:r>
            <a:r>
              <a:rPr sz="1600" b="1">
                <a:solidFill>
                  <a:srgbClr val="222222"/>
                </a:solidFill>
                <a:latin typeface="Consolas"/>
                <a:cs typeface="Consolas"/>
              </a:rPr>
              <a:t>Possible network disconnect</a:t>
            </a:r>
            <a:r>
              <a:rPr sz="1600" b="0">
                <a:solidFill>
                  <a:srgbClr val="222222"/>
                </a:solidFill>
                <a:latin typeface="맑은 고딕"/>
              </a:rPr>
              <a:t> 라고만 말한다 (</a:t>
            </a:r>
            <a:r>
              <a:rPr sz="1600" b="0">
                <a:solidFill>
                  <a:srgbClr val="222222"/>
                </a:solidFill>
                <a:latin typeface="Consolas"/>
                <a:cs typeface="Consolas"/>
              </a:rPr>
              <a:t>ERROR_CODE</a:t>
            </a:r>
            <a:r>
              <a:rPr sz="1600" b="0">
                <a:solidFill>
                  <a:srgbClr val="222222"/>
                </a:solidFill>
                <a:latin typeface="맑은 고딕"/>
              </a:rPr>
              <a:t> 0)</a:t>
            </a:r>
          </a:p>
          <a:p>
            <a:pPr algn="l">
              <a:spcAft>
                <a:spcPts val="1000"/>
              </a:spcAft>
            </a:pPr>
            <a:r>
              <a:rPr sz="1600" b="0">
                <a:solidFill>
                  <a:srgbClr val="222222"/>
                </a:solidFill>
                <a:latin typeface="맑은 고딕"/>
              </a:rPr>
              <a:t>•  Failover 직후 </a:t>
            </a:r>
            <a:r>
              <a:rPr sz="1600" b="0">
                <a:solidFill>
                  <a:srgbClr val="222222"/>
                </a:solidFill>
                <a:latin typeface="Consolas"/>
                <a:cs typeface="Consolas"/>
              </a:rPr>
              <a:t>(disabled)</a:t>
            </a:r>
            <a:r>
              <a:rPr sz="1600" b="0">
                <a:solidFill>
                  <a:srgbClr val="222222"/>
                </a:solidFill>
                <a:latin typeface="맑은 고딕"/>
              </a:rPr>
              <a:t> + </a:t>
            </a:r>
            <a:r>
              <a:rPr sz="1600" b="1">
                <a:solidFill>
                  <a:srgbClr val="222222"/>
                </a:solidFill>
                <a:latin typeface="맑은 고딕"/>
              </a:rPr>
              <a:t>ORA-16661</a:t>
            </a:r>
            <a:r>
              <a:rPr sz="1600" b="0">
                <a:solidFill>
                  <a:srgbClr val="222222"/>
                </a:solidFill>
                <a:latin typeface="맑은 고딕"/>
              </a:rPr>
              <a:t> 인데 상태는 </a:t>
            </a:r>
            <a:r>
              <a:rPr sz="1600" b="1">
                <a:solidFill>
                  <a:srgbClr val="222222"/>
                </a:solidFill>
                <a:latin typeface="Consolas"/>
                <a:cs typeface="Consolas"/>
              </a:rPr>
              <a:t>SUCCESS</a:t>
            </a:r>
          </a:p>
          <a:p>
            <a:pPr algn="l">
              <a:spcAft>
                <a:spcPts val="1000"/>
              </a:spcAft>
            </a:pPr>
            <a:r>
              <a:rPr sz="1600" b="0">
                <a:solidFill>
                  <a:srgbClr val="222222"/>
                </a:solidFill>
                <a:latin typeface="맑은 고딕"/>
              </a:rPr>
              <a:t>•  내려간 채로 Reinstate → </a:t>
            </a:r>
            <a:r>
              <a:rPr sz="1600" b="1">
                <a:solidFill>
                  <a:srgbClr val="222222"/>
                </a:solidFill>
                <a:latin typeface="맑은 고딕"/>
              </a:rPr>
              <a:t>ORA-16653</a:t>
            </a:r>
            <a:r>
              <a:rPr sz="1600" b="0">
                <a:solidFill>
                  <a:srgbClr val="222222"/>
                </a:solidFill>
                <a:latin typeface="맑은 고딕"/>
              </a:rPr>
              <a:t>. </a:t>
            </a:r>
            <a:r>
              <a:rPr sz="1600" b="0">
                <a:solidFill>
                  <a:srgbClr val="222222"/>
                </a:solidFill>
                <a:latin typeface="Consolas"/>
                <a:cs typeface="Consolas"/>
              </a:rPr>
              <a:t>MOUNT</a:t>
            </a:r>
            <a:r>
              <a:rPr sz="1600" b="0">
                <a:solidFill>
                  <a:srgbClr val="222222"/>
                </a:solidFill>
                <a:latin typeface="맑은 고딕"/>
              </a:rPr>
              <a:t> 까지만 올린다</a:t>
            </a:r>
          </a:p>
          <a:p>
            <a:pPr algn="l">
              <a:spcAft>
                <a:spcPts val="1000"/>
              </a:spcAft>
            </a:pPr>
            <a:r>
              <a:rPr sz="1600" b="0">
                <a:solidFill>
                  <a:srgbClr val="222222"/>
                </a:solidFill>
                <a:latin typeface="맑은 고딕"/>
              </a:rPr>
              <a:t>•  Failover 는 </a:t>
            </a:r>
            <a:r>
              <a:rPr sz="1600" b="0">
                <a:solidFill>
                  <a:srgbClr val="222222"/>
                </a:solidFill>
                <a:latin typeface="Consolas"/>
                <a:cs typeface="Consolas"/>
              </a:rPr>
              <a:t>OPEN RESETLOGS</a:t>
            </a:r>
            <a:r>
              <a:rPr sz="1600" b="0">
                <a:solidFill>
                  <a:srgbClr val="222222"/>
                </a:solidFill>
                <a:latin typeface="맑은 고딕"/>
              </a:rPr>
              <a:t> — 시퀀스가 </a:t>
            </a:r>
            <a:r>
              <a:rPr sz="1600" b="1">
                <a:solidFill>
                  <a:srgbClr val="222222"/>
                </a:solidFill>
                <a:latin typeface="맑은 고딕"/>
              </a:rPr>
              <a:t>4로 다시 시작</a:t>
            </a:r>
          </a:p>
          <a:p>
            <a:pPr algn="l">
              <a:spcAft>
                <a:spcPts val="1000"/>
              </a:spcAft>
            </a:pPr>
            <a:r>
              <a:rPr sz="1600" b="0">
                <a:solidFill>
                  <a:srgbClr val="222222"/>
                </a:solidFill>
                <a:latin typeface="맑은 고딕"/>
              </a:rPr>
              <a:t>•  전환 직후의 </a:t>
            </a:r>
            <a:r>
              <a:rPr sz="1600" b="0">
                <a:solidFill>
                  <a:srgbClr val="222222"/>
                </a:solidFill>
                <a:latin typeface="Consolas"/>
                <a:cs typeface="Consolas"/>
              </a:rPr>
              <a:t>ORA-16786</a:t>
            </a:r>
            <a:r>
              <a:rPr sz="1600" b="0">
                <a:solidFill>
                  <a:srgbClr val="222222"/>
                </a:solidFill>
                <a:latin typeface="맑은 고딕"/>
              </a:rPr>
              <a:t>·</a:t>
            </a:r>
            <a:r>
              <a:rPr sz="1600" b="0">
                <a:solidFill>
                  <a:srgbClr val="222222"/>
                </a:solidFill>
                <a:latin typeface="Consolas"/>
                <a:cs typeface="Consolas"/>
              </a:rPr>
              <a:t>ORA-16854</a:t>
            </a:r>
            <a:r>
              <a:rPr sz="1600" b="0">
                <a:solidFill>
                  <a:srgbClr val="222222"/>
                </a:solidFill>
                <a:latin typeface="맑은 고딕"/>
              </a:rPr>
              <a:t> 는 </a:t>
            </a:r>
            <a:r>
              <a:rPr sz="1600" b="1">
                <a:solidFill>
                  <a:srgbClr val="222222"/>
                </a:solidFill>
                <a:latin typeface="맑은 고딕"/>
              </a:rPr>
              <a:t>판정 시차</a:t>
            </a:r>
          </a:p>
          <a:p>
            <a:pPr algn="l">
              <a:spcAft>
                <a:spcPts val="1000"/>
              </a:spcAft>
            </a:pPr>
            <a:r>
              <a:rPr sz="1600" b="0">
                <a:solidFill>
                  <a:srgbClr val="222222"/>
                </a:solidFill>
                <a:latin typeface="맑은 고딕"/>
              </a:rPr>
              <a:t>•  관측자는 제3 호스트에서 돈다. 자동 전환 </a:t>
            </a:r>
            <a:r>
              <a:rPr sz="1600" b="1">
                <a:solidFill>
                  <a:srgbClr val="222222"/>
                </a:solidFill>
                <a:latin typeface="맑은 고딕"/>
              </a:rPr>
              <a:t>69초</a:t>
            </a:r>
            <a:r>
              <a:rPr sz="1600" b="0">
                <a:solidFill>
                  <a:srgbClr val="222222"/>
                </a:solidFill>
                <a:latin typeface="맑은 고딕"/>
              </a:rPr>
              <a:t>, 자동 재편입 </a:t>
            </a:r>
            <a:r>
              <a:rPr sz="1600" b="1">
                <a:solidFill>
                  <a:srgbClr val="222222"/>
                </a:solidFill>
                <a:latin typeface="맑은 고딕"/>
              </a:rPr>
              <a:t>42초</a:t>
            </a:r>
          </a:p>
          <a:p>
            <a:pPr algn="l">
              <a:spcAft>
                <a:spcPts val="1000"/>
              </a:spcAft>
            </a:pPr>
            <a:r>
              <a:rPr sz="1600" b="0">
                <a:solidFill>
                  <a:srgbClr val="222222"/>
                </a:solidFill>
                <a:latin typeface="맑은 고딕"/>
              </a:rPr>
              <a:t>•  관측자는 </a:t>
            </a:r>
            <a:r>
              <a:rPr sz="1600" b="1">
                <a:solidFill>
                  <a:srgbClr val="222222"/>
                </a:solidFill>
                <a:latin typeface="맑은 고딕"/>
              </a:rPr>
              <a:t>"Standby 가 방금까지 Primary 와 연락했다"면 한 번 거부</a:t>
            </a:r>
            <a:r>
              <a:rPr sz="1600" b="0">
                <a:solidFill>
                  <a:srgbClr val="222222"/>
                </a:solidFill>
                <a:latin typeface="맑은 고딕"/>
              </a:rPr>
              <a:t>한다</a:t>
            </a:r>
          </a:p>
          <a:p>
            <a:pPr algn="l">
              <a:spcAft>
                <a:spcPts val="1000"/>
              </a:spcAft>
            </a:pPr>
            <a:r>
              <a:rPr sz="1600" b="0">
                <a:solidFill>
                  <a:srgbClr val="222222"/>
                </a:solidFill>
                <a:latin typeface="맑은 고딕"/>
              </a:rPr>
              <a:t>•  Standby 백업은 되지만 </a:t>
            </a:r>
            <a:r>
              <a:rPr sz="1600" b="1">
                <a:solidFill>
                  <a:srgbClr val="222222"/>
                </a:solidFill>
                <a:latin typeface="맑은 고딕"/>
              </a:rPr>
              <a:t>Primary 에서는 보이지 않는다</a:t>
            </a:r>
            <a:r>
              <a:rPr sz="1600" b="0">
                <a:solidFill>
                  <a:srgbClr val="222222"/>
                </a:solidFill>
                <a:latin typeface="맑은 고딕"/>
              </a:rPr>
              <a:t> — 카탈로그 또는 </a:t>
            </a:r>
            <a:r>
              <a:rPr sz="1600" b="0">
                <a:solidFill>
                  <a:srgbClr val="222222"/>
                </a:solidFill>
                <a:latin typeface="Consolas"/>
                <a:cs typeface="Consolas"/>
              </a:rPr>
              <a:t>CATALOG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과정을 닫으며</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1장에서 시작해 16장에서 실제로 역할을 바꿨다</a:t>
            </a:r>
          </a:p>
          <a:p>
            <a:pPr algn="l">
              <a:spcAft>
                <a:spcPts val="1000"/>
              </a:spcAft>
            </a:pPr>
            <a:r>
              <a:rPr sz="1600" b="0">
                <a:solidFill>
                  <a:srgbClr val="222222"/>
                </a:solidFill>
                <a:latin typeface="맑은 고딕"/>
              </a:rPr>
              <a:t>•  관통하는 원칙 셋</a:t>
            </a:r>
          </a:p>
          <a:p>
            <a:pPr algn="l">
              <a:spcAft>
                <a:spcPts val="1000"/>
              </a:spcAft>
            </a:pPr>
            <a:r>
              <a:rPr sz="1600" b="0">
                <a:solidFill>
                  <a:srgbClr val="222222"/>
                </a:solidFill>
                <a:latin typeface="맑은 고딕"/>
              </a:rPr>
              <a:t>•  </a:t>
            </a:r>
            <a:r>
              <a:rPr sz="1600" b="1">
                <a:solidFill>
                  <a:srgbClr val="222222"/>
                </a:solidFill>
                <a:latin typeface="맑은 고딕"/>
              </a:rPr>
              <a:t>① </a:t>
            </a:r>
            <a:r>
              <a:rPr sz="1600" b="1">
                <a:solidFill>
                  <a:srgbClr val="222222"/>
                </a:solidFill>
                <a:latin typeface="Consolas"/>
                <a:cs typeface="Consolas"/>
              </a:rPr>
              <a:t>SUCCESS</a:t>
            </a:r>
            <a:r>
              <a:rPr sz="1600" b="1">
                <a:solidFill>
                  <a:srgbClr val="222222"/>
                </a:solidFill>
                <a:latin typeface="맑은 고딕"/>
              </a:rPr>
              <a:t> 를 안전으로 읽지 않는다</a:t>
            </a:r>
            <a:r>
              <a:rPr sz="1600" b="0">
                <a:solidFill>
                  <a:srgbClr val="222222"/>
                </a:solidFill>
                <a:latin typeface="맑은 고딕"/>
              </a:rPr>
              <a:t> (14~16장에서 네 번)</a:t>
            </a:r>
          </a:p>
          <a:p>
            <a:pPr algn="l">
              <a:spcAft>
                <a:spcPts val="1000"/>
              </a:spcAft>
            </a:pPr>
            <a:r>
              <a:rPr sz="1600" b="0">
                <a:solidFill>
                  <a:srgbClr val="222222"/>
                </a:solidFill>
                <a:latin typeface="맑은 고딕"/>
              </a:rPr>
              <a:t>•  </a:t>
            </a:r>
            <a:r>
              <a:rPr sz="1600" b="1">
                <a:solidFill>
                  <a:srgbClr val="222222"/>
                </a:solidFill>
                <a:latin typeface="맑은 고딕"/>
              </a:rPr>
              <a:t>② 요약이 아니라 흐름을 본다</a:t>
            </a:r>
            <a:r>
              <a:rPr sz="1600" b="0">
                <a:solidFill>
                  <a:srgbClr val="222222"/>
                </a:solidFill>
                <a:latin typeface="맑은 고딕"/>
              </a:rPr>
              <a:t> (15장의 주 지표)</a:t>
            </a:r>
          </a:p>
          <a:p>
            <a:pPr algn="l">
              <a:spcAft>
                <a:spcPts val="1000"/>
              </a:spcAft>
            </a:pPr>
            <a:r>
              <a:rPr sz="1600" b="0">
                <a:solidFill>
                  <a:srgbClr val="222222"/>
                </a:solidFill>
                <a:latin typeface="맑은 고딕"/>
              </a:rPr>
              <a:t>•  </a:t>
            </a:r>
            <a:r>
              <a:rPr sz="1600" b="1">
                <a:solidFill>
                  <a:srgbClr val="222222"/>
                </a:solidFill>
                <a:latin typeface="맑은 고딕"/>
              </a:rPr>
              <a:t>③ 전환은 DGMGRL 로만 한다</a:t>
            </a:r>
            <a:r>
              <a:rPr sz="1600" b="0">
                <a:solidFill>
                  <a:srgbClr val="222222"/>
                </a:solidFill>
                <a:latin typeface="맑은 고딕"/>
              </a:rPr>
              <a:t> (16장의 사고)</a:t>
            </a:r>
          </a:p>
          <a:p>
            <a:pPr algn="l">
              <a:spcAft>
                <a:spcPts val="1000"/>
              </a:spcAft>
            </a:pPr>
            <a:r>
              <a:rPr sz="1600" b="0">
                <a:solidFill>
                  <a:srgbClr val="222222"/>
                </a:solidFill>
                <a:latin typeface="맑은 고딕"/>
              </a:rPr>
              <a:t>•  그리고 — </a:t>
            </a:r>
            <a:r>
              <a:rPr sz="1600" b="1">
                <a:solidFill>
                  <a:srgbClr val="222222"/>
                </a:solidFill>
                <a:latin typeface="맑은 고딕"/>
              </a:rPr>
              <a:t>되돌리는 것까지가 훈련이다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
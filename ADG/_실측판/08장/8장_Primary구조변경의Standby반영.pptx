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7장까지는 정지된 그림을 봤습니다. Standby를 만들고 리두가 흐르는 것을 확인했습니다. 그런데 실제 운영은 정지 상태가 아닙니다. 이 장은 움직이는 구조를 다룹니다. 문서에 적힌 답은 간단합니다. AUTO면 자동, MANUAL이면 수동. 이 장이 다루는 것은 그 다음입니다. 반영되지 않으면 정확히 무슨 일이 일어나는가. 실측 결과는 "그냥 반영이 안 되는" 정도가 아니었습니다. 적용 자체가 죽습니다.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흔한 실수가 Primary에서 AUTO를 확인하고 안심하는 것입니다. 실습에서 Standby만 MANUAL로 바꿨는데 UNNAMED 파일이 만들어지고 MRP가 죽었습니다. Primary는 계속 AUTO였지만 아무 영향이 없었습니다. 그렇다고 Primary 쪽 값이 무의미한 것은 아닙니다. 그 데이터베이스가 역할 전환으로 Standby가 되었을 때를 위한 준비입니다. 그래서 양쪽을 같게 두는 것이 원칙이고, 확인은 Standby에서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할 일이 없습니다. Primary에서 명령을 내리면 리두를 통해 Standby가 따라 만듭니다. resize도 반영되는데, 이때 파일 이름은 바뀌지 않습니다. 파일을 다시 만든 것이 아니라 크기만 늘린 것이니까요. 삭제도 반영됩니다. DROP TABLESPACE에 INCLUDING DATAFILES를 붙이면 Standby의 운영체제 파일까지 사라집니다. 붙이지 않으면 양쪽 모두 파일이 남고, Standby 쪽은 OMF 이름이라 사람이 짐작하기 어려우므로 붙이는 편이 낫습니다.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6장에서 만든 비대칭 구성의 결과입니다. 각자 자기 규칙을 따릅니다. 불안하게 느껴질 수 있지만 근거가 있습니다. Data Guard가 파일을 짝지을 때 쓰는 것은 파일 번호입니다. convert 파라미터나 DB_CREATE_FILE_DEST는 "어디에 어떤 이름으로 둘 것인가"만 정합니다. 오히려 이름이 다른 편이 나을 때가 있습니다. 두 노드의 목록을 나란히 볼 때 구분이 되니까요. 대조도 이름이 아니라 번호와 크기로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파일을 만들지 못했으므로 오라클이 자리만 잡아 둔 것입니다. 컨트롤 파일에는 16번 항목이 있지만 실체가 없습니다. 경로가 $ORACLE_HOME/dbs라는 것 자체가 비정상 신호입니다. 데이터 파일이 있을 자리가 아니니까요. 더 중요한 것은 MRP0이 사라졌다는 사실입니다. 적용이 죽었고, transport lag은 0인데 apply lag만 벌어지기 시작합니다. 7장에서 배운 대로 두 지연을 나눠 보면 병목이 어디인지 바로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Standby 쪽 MRP0 존재를 확인해야 한다고 강조했는데, 그 이유가 여기서 다시 확인됩니다. 시간이 지나면 apply lag이 계속 벌어져 결국 드러나기는 합니다. 실측에서 30초였던 값이 곧 1분 18초가 되었습니다. 그러나 그때는 이미 밀린 리두를 따라잡는 작업이 남습니다. 한 가지 더. V$DATAGUARD_STATUS에는 오류와 정상 기록이 섞여 있습니다. Warning 16037은 사람이 CANCEL을 냈을 때 남는 정상 기록입니다. SEVERITY와 시각을 함께 봐야 오판하지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번호의 변화가 진행을 말해 줍니다. 원인이 "만들 수 없다"에서 "이미 만들어진 자리가 잘못됐다"로 옮겨 간 것입니다. 진단할 때 이 변화 자체를 정보로 읽으십시오. 같은 오류가 반복되면 조치가 효과 없었다는 뜻이고, 번호가 바뀌면 한 단계 나아갔다는 뜻입니다. 실무적 결론은 분명합니다. 파라미터를 고치는 것으로 끝나지 않고 사람이 파일을 직접 만들어 주어야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뷰가 같은 사실을 다른 말로 알려 줍니다. 이 둘이 확실한 증거입니다. 문제는 세 번째입니다. V$RECOVER_FILE은 복구가 필요한 파일을 나열하는 뷰인데, 16번이 분명히 문제인데도 나오지 않습니다. UNNAMED 파일은 아직 "복구할 대상"으로 등록되지도 못한 상태이기 때문으로 보입니다. 진단에서 이 뷰만 믿으면 문제를 놓칩니다. 운영체제에서 ls를 해 보면 파일이 실제로 없다는 것도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①이 의아할 수 있습니다. MANUAL 때문에 생긴 문제인데 다시 MANUAL로 두라니. 이유가 있습니다. AUTO 상태에서는 파일 생성을 오라클이 관리하므로 사람이 CREATE DATAFILE로 개입하는 것과 충돌합니다. 작업하는 동안만 MANUAL로 두고 끝나면 되돌립니다. 복구 도중 ORA-01153을 자주 만나는데, 여러 번 시도하다 보면 어느 시점에 MRP를 기동했는지 놓치기 때문입니다. 명령을 내리기 전에 MRP0 존재를 먼저 조회하는 습관이 이것을 막습니다.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어떻게 알았을까요. 리두에 그 정보가 들어 있기 때문입니다. 파일 추가 작업의 리두에는 어느 테이블스페이스의 몇 번 파일이 얼마 크기로 만들어졌는지가 기록되어 있고, 오라클이 그것을 읽어 재현합니다. 경로도 UNNAMED가 있던 dbs가 아니라 정상 위치로 갔습니다. DB_CREATE_FILE_DEST가 설정되어 있기 때문입니다. 경로 지정 방식이라면 AS NEW 대신 AS '&lt;경로&gt;'로 직접 주어야 하고, 그 디렉터리가 미리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파일을 "새로" 만들었으니 그 안의 내용이 걱정될 수 있습니다. 실측으로 확인했습니다. 이것이 물리 복제의 원리를 보여 줍니다. 파일 자체를 복사하는 것이 아니라 변경 기록을 적용해 같은 상태를 만듭니다. 그래서 파일을 새로 만들어도 데이터가 사라지지 않습니다. 검증은 네 가지로 합니다. 두 지연이 0인가, MRP0이 존재하는가, 파일 개수가 Primary와 같은가, V$RECOVER_FILE이 0건인가.</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6장에서 OMF의 장점으로 예고했던 것이 여기서 실현됩니다. GUID 디렉터리와 그 아래 datafile 디렉터리가 자동으로 만들어지고 데이터 파일 세 개가 생깁니다. GUID가 Primary와 같다는 것도 확인됩니다. 물리 복제본이므로 GUID까지 따라오는 것이죠. 경로 지정 방식이었다면 이 시점에 Standby에 디렉터리를 만들어 주어야 했고, 잊으면 5장에서 만난 ORA-19505를 다시 만났을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1장과 5장에서 확인한 규칙이 그대로입니다. CDB를 READ ONLY로 열어도 PDB는 따로 열어야 합니다. 새로 추가된 PDB는 오히려 더 주의해야 합니다. Primary에서 열었다고 Standby에서도 열리는 것이 아니니까요. 그리고 재기동할 때마다 반복되는 일입니다. 기동 스크립트에 ALL 옵션으로 한 줄 넣어 두면 PDB 개수가 늘어나도 스크립트를 고칠 필요가 없습니다. 설치 가이드가 이 줄을 빠뜨렸던 것과 같은 뿌리의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동작에는 아무 지장이 없습니다. 그러나 PDB를 자주 만들고 지우는 환경이라면 빈 디렉터리가 쌓이고, 어느 것이 살아 있는 PDB의 것인지 이름만 봐서는 알 수 없습니다. 정리할 때 rmdir을 쓰는 것이 중요합니다. rmdir은 비어 있지 않으면 실패하므로, 그 실패가 "살아 있는 PDB의 디렉터리를 지우려 한다"는 경고가 됩니다. rm -rf에는 그 보호가 없습니다. 이 원칙을 어기면 어떻게 되는지는 8.9절에서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전부 자동이었는데 여기서 예외가 나옵니다. 그리고 이 예외는 조용합니다. 오류가 나면 알아채기라도 할 텐데 아무 신호가 없습니다. 이유는 자원의 성격에 있습니다. 온라인 리두 로그는 그 데이터베이스가 Primary로서 쓰는 자원입니다. Standby는 자신의 온라인 리두를 쓰지 않고 받은 리두는 SRL에 씁니다. 지금 당장 필요 없는 것을 오라클은 미리 만들지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자동화되지 않는 몇 안 되는 항목이므로 절차서에 명시해 두어야 합니다. 함께 검토할 것이 SRL입니다. 4장의 규칙에 따르면 온라인을 넷으로 늘렸다면 SRL도 다섯이 되어야 합니다. 점검은 양쪽에서 V$LOGFILE을 TYPE으로 묶어 세어 비교하면 됩니다. 참고로 V$LOG에는 TYPE 열이 없습니다. 그룹 단위 뷰라 온라인만 보여 주기 때문이고, 멤버 정보는 V$LOGFILE에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ORA-00301이 특히 중요합니다. 오라클은 로그 그룹을 지울 때 운영체제 파일을 지우지 않기 때문입니다. 데이터 파일과 다른 점이고, DROP TABLESPACE의 INCLUDING DATAFILES에 해당하는 옵션이 DROP LOGFILE에는 없습니다. 해법은 REUSE를 쓰거나 파일을 정리하는 것인데, REUSE는 그 파일이 정말 쓰이지 않는지 확인하지 않고 덮어쓰므로 위험합니다. 조회로 확인한 뒤 mv로 옮기는 편이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교재용으로 꾸민 사례가 아니라 실제 기록입니다. 그래서 남겼습니다. 주목할 것은 세 번째 줄입니다. 리눅스는 열려 있는 파일을 지워도 그 파일을 연 프로세스가 계속 쓸 수 있게 합니다. LGWR은 이미 열어 둔 파일 기술자로 계속 기록했습니다. 그래서 지운 직후에는 아무 일도 일어나지 않고, 다음 전환에서 터집니다. 시차가 있어 원인과 결과를 연결하기 어렵다는 것이 이 사고를 특히 위험하게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 로그는 시간 순 기록이므로 위에서 아래로 사건 순서대로 읽습니다. 오류 스택을 아래에서 위로 읽는 것과 반대입니다. 운영체제 수준의 원인이 먼저 나오고, 오라클이 그것을 로그 그룹 문제로 번역하고, 리두를 쓸 수 없게 된 LG01이 죽고, 필수 프로세스가 죽었으므로 PMON이 인스턴스를 내립니다. 데이터베이스가 죽는 것이 아니라 PMON이 죽이는 것입니다. 세션에서는 ORA-03113으로 보이고 이후 모든 접속이 ORA-01034가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SCN이 전진했다는 것은 SRL의 리두가 실제로 적용됐다는 뜻입니다. 절반은 성공한 것이죠. 그러나 여전히 부족했습니다. ASYNC에서는 LGWR이 로그 파일에 쓴 리두와 Standby로 전송된 리두 사이에 시차가 있습니다. 마지막 순간에 Primary가 쓰고 아직 보내지 못한 리두는 그 파일에만 있었고, 그 파일을 지웠습니다. 2장에서 보호 모드를 성능과 보호의 교환으로 설명했는데, 이 사고는 또 다른 대가를 보여 줍니다. 보호 모드는 사고 시 복구 가능성까지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사고의 본질은 기술 부족이 아니라 오류를 우회한 것입니다. ORA-01623은 "지금은 지울 수 없다"는 뜻이지 "다른 방법으로 지워라"는 뜻이 아니었습니다. 오류 메시지는 방금 하려던 일이 위험하다고 알려 주고 있었습니다. 세 단계 중 특히 세 번째가 중요합니다. mv는 되돌릴 수 있지만 rm은 되돌릴 수 없습니다. 빈 디렉터리를 지울 때 rmdir을 쓰는 것도 같은 원칙입니다. 비어 있지 않으면 실패한다는 것이 보호 장치가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경계를 외워 두는 것이 이 장의 실용적 결론입니다. 자동인 것은 신경 쓰지 않아도 되고, 수동인 것은 절차서에 명시해야 하며, 불가능한 것은 시도조차 하지 않습니다. 경계가 나뉘는 기준도 일관됩니다. Standby가 지금 필요로 하는 자원은 자동으로 만들어지고, 역할 전환 후에야 필요해지는 자원은 만들어지지 않습니다. 온라인 리두가 후자입니다. 이 기준을 이해하면 새로운 상황에서도 어느 쪽인지 추론할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습관이 이 장의 실측에서 모두 검증됐습니다. 첫 번째는 STANDBY_FILE_MANAGEMENT를 Primary에서 확인하고 안심했다면 문제를 놓쳤을 상황입니다. 두 번째는 ORA-01623을 우회해 rm을 쓴 결과 인스턴스가 죽은 사고입니다. 세 번째는 그 사고의 직접적 원인이자, 빈 디렉터리를 rmdir로 지우는 이유이기도 합니다. 기술적으로 어려운 내용은 없습니다. 어려운 것은 급할 때도 이 순서를 지키는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Primary 구조 변경의 Standby 반영</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무엇이 자동이고 무엇이 아닌가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UNNAMED 파일 · PDB · 그리고 하나의 사고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STANDBY_FILE_MANAGEMENT</a:t>
            </a:r>
            <a:r>
              <a:rPr sz="1600" b="0">
                <a:solidFill>
                  <a:srgbClr val="222222"/>
                </a:solidFill>
                <a:latin typeface="맑은 고딕"/>
              </a:rPr>
              <a:t>가 자동화하는 범위와 하지 않는 범위를 구분한다.</a:t>
            </a:r>
          </a:p>
          <a:p>
            <a:pPr algn="l">
              <a:spcAft>
                <a:spcPts val="1000"/>
              </a:spcAft>
            </a:pPr>
            <a:r>
              <a:rPr sz="1600" b="0">
                <a:solidFill>
                  <a:srgbClr val="222222"/>
                </a:solidFill>
                <a:latin typeface="맑은 고딕"/>
              </a:rPr>
              <a:t>•  비대칭 구성에서 파일 이름이 어떻게 정해지고, 왜 문제가 없는지 설명한다.</a:t>
            </a:r>
          </a:p>
          <a:p>
            <a:pPr algn="l">
              <a:spcAft>
                <a:spcPts val="1000"/>
              </a:spcAft>
            </a:pPr>
            <a:r>
              <a:rPr sz="1600" b="0">
                <a:solidFill>
                  <a:srgbClr val="222222"/>
                </a:solidFill>
                <a:latin typeface="맑은 고딕"/>
              </a:rPr>
              <a:t>•  </a:t>
            </a:r>
            <a:r>
              <a:rPr sz="1600" b="0">
                <a:solidFill>
                  <a:srgbClr val="222222"/>
                </a:solidFill>
                <a:latin typeface="Consolas"/>
                <a:cs typeface="Consolas"/>
              </a:rPr>
              <a:t>MANUAL</a:t>
            </a:r>
            <a:r>
              <a:rPr sz="1600" b="0">
                <a:solidFill>
                  <a:srgbClr val="222222"/>
                </a:solidFill>
                <a:latin typeface="맑은 고딕"/>
              </a:rPr>
              <a:t> 상태의 </a:t>
            </a:r>
            <a:r>
              <a:rPr sz="1600" b="0">
                <a:solidFill>
                  <a:srgbClr val="222222"/>
                </a:solidFill>
                <a:latin typeface="Consolas"/>
                <a:cs typeface="Consolas"/>
              </a:rPr>
              <a:t>UNNAMED</a:t>
            </a:r>
            <a:r>
              <a:rPr sz="1600" b="0">
                <a:solidFill>
                  <a:srgbClr val="222222"/>
                </a:solidFill>
                <a:latin typeface="맑은 고딕"/>
              </a:rPr>
              <a:t> 파일과 ORA-1274·ORA-1111을 진단한다.</a:t>
            </a:r>
          </a:p>
          <a:p>
            <a:pPr algn="l">
              <a:spcAft>
                <a:spcPts val="1000"/>
              </a:spcAft>
            </a:pPr>
            <a:r>
              <a:rPr sz="1600" b="0">
                <a:solidFill>
                  <a:srgbClr val="222222"/>
                </a:solidFill>
                <a:latin typeface="맑은 고딕"/>
              </a:rPr>
              <a:t>•  </a:t>
            </a:r>
            <a:r>
              <a:rPr sz="1600" b="0">
                <a:solidFill>
                  <a:srgbClr val="222222"/>
                </a:solidFill>
                <a:latin typeface="Consolas"/>
                <a:cs typeface="Consolas"/>
              </a:rPr>
              <a:t>ALTER DATABASE CREATE DATAFILE ... AS NEW</a:t>
            </a:r>
            <a:r>
              <a:rPr sz="1600" b="0">
                <a:solidFill>
                  <a:srgbClr val="222222"/>
                </a:solidFill>
                <a:latin typeface="맑은 고딕"/>
              </a:rPr>
              <a:t>로 복구한다.</a:t>
            </a:r>
          </a:p>
          <a:p>
            <a:pPr algn="l">
              <a:spcAft>
                <a:spcPts val="1000"/>
              </a:spcAft>
            </a:pPr>
            <a:r>
              <a:rPr sz="1600" b="0">
                <a:solidFill>
                  <a:srgbClr val="222222"/>
                </a:solidFill>
                <a:latin typeface="맑은 고딕"/>
              </a:rPr>
              <a:t>•  PDB 추가·삭제의 반영과 삭제 후 남는 것을 안다.</a:t>
            </a:r>
          </a:p>
          <a:p>
            <a:pPr algn="l">
              <a:spcAft>
                <a:spcPts val="1000"/>
              </a:spcAft>
            </a:pPr>
            <a:r>
              <a:rPr sz="1600" b="0">
                <a:solidFill>
                  <a:srgbClr val="222222"/>
                </a:solidFill>
                <a:latin typeface="맑은 고딕"/>
              </a:rPr>
              <a:t>•  온라인 리두 로그 그룹이 반영되지 않는다는 사실과 그 함의를 안다.</a:t>
            </a:r>
          </a:p>
          <a:p>
            <a:pPr algn="l">
              <a:spcAft>
                <a:spcPts val="1000"/>
              </a:spcAft>
            </a:pPr>
            <a:r>
              <a:rPr sz="1600" b="0">
                <a:solidFill>
                  <a:srgbClr val="222222"/>
                </a:solidFill>
                <a:latin typeface="맑은 고딕"/>
              </a:rPr>
              <a:t>•  리두 파일 작업의 오류 네 가지를 구분하고, 구조 변경의 표준 순서를 익힌다.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8.2  STANDBY_FILE_MANAGEMENT</a:t>
            </a:r>
          </a:p>
          <a:p>
            <a:pPr algn="l">
              <a:spcAft>
                <a:spcPts val="1000"/>
              </a:spcAft>
            </a:pPr>
            <a:r>
              <a:rPr sz="1600" b="0">
                <a:solidFill>
                  <a:srgbClr val="222222"/>
                </a:solidFill>
                <a:latin typeface="맑은 고딕"/>
              </a:rPr>
              <a:t>•  8.3  자동 반영 — 무엇이 되는가</a:t>
            </a:r>
          </a:p>
          <a:p>
            <a:pPr algn="l">
              <a:spcAft>
                <a:spcPts val="1000"/>
              </a:spcAft>
            </a:pPr>
            <a:r>
              <a:rPr sz="1600" b="0">
                <a:solidFill>
                  <a:srgbClr val="222222"/>
                </a:solidFill>
                <a:latin typeface="맑은 고딕"/>
              </a:rPr>
              <a:t>•  8.4  MANUAL이면 무슨 일이 일어나는가</a:t>
            </a:r>
          </a:p>
          <a:p>
            <a:pPr algn="l">
              <a:spcAft>
                <a:spcPts val="1000"/>
              </a:spcAft>
            </a:pPr>
            <a:r>
              <a:rPr sz="1600" b="0">
                <a:solidFill>
                  <a:srgbClr val="222222"/>
                </a:solidFill>
                <a:latin typeface="맑은 고딕"/>
              </a:rPr>
              <a:t>•  8.5  복구 절차</a:t>
            </a:r>
          </a:p>
          <a:p>
            <a:pPr algn="l">
              <a:spcAft>
                <a:spcPts val="1000"/>
              </a:spcAft>
            </a:pPr>
            <a:r>
              <a:rPr sz="1600" b="0">
                <a:solidFill>
                  <a:srgbClr val="222222"/>
                </a:solidFill>
                <a:latin typeface="맑은 고딕"/>
              </a:rPr>
              <a:t>•  8.6  PDB 추가와 삭제</a:t>
            </a:r>
          </a:p>
          <a:p>
            <a:pPr algn="l">
              <a:spcAft>
                <a:spcPts val="1000"/>
              </a:spcAft>
            </a:pPr>
            <a:r>
              <a:rPr sz="1600" b="0">
                <a:solidFill>
                  <a:srgbClr val="222222"/>
                </a:solidFill>
                <a:latin typeface="맑은 고딕"/>
              </a:rPr>
              <a:t>•  8.7  반영되지 않는 것 — 온라인 리두 로그</a:t>
            </a:r>
          </a:p>
          <a:p>
            <a:pPr algn="l">
              <a:spcAft>
                <a:spcPts val="1000"/>
              </a:spcAft>
            </a:pPr>
            <a:r>
              <a:rPr sz="1600" b="0">
                <a:solidFill>
                  <a:srgbClr val="222222"/>
                </a:solidFill>
                <a:latin typeface="맑은 고딕"/>
              </a:rPr>
              <a:t>•  8.8  리두 파일 작업에서 만나는 오류</a:t>
            </a:r>
          </a:p>
          <a:p>
            <a:pPr algn="l">
              <a:spcAft>
                <a:spcPts val="1000"/>
              </a:spcAft>
            </a:pPr>
            <a:r>
              <a:rPr sz="1600" b="0">
                <a:solidFill>
                  <a:srgbClr val="222222"/>
                </a:solidFill>
                <a:latin typeface="맑은 고딕"/>
              </a:rPr>
              <a:t>•  8.9  사고 사례 — CURRENT 리두 파일 삭제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STANDBY_FILE_MANAGEMENT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값은 둘뿐</a:t>
            </a:r>
          </a:p>
          <a:p>
            <a:pPr algn="l">
              <a:spcAft>
                <a:spcPts val="800"/>
              </a:spcAft>
            </a:pPr>
            <a:r>
              <a:rPr sz="1600" b="0">
                <a:solidFill>
                  <a:srgbClr val="FFFFFF"/>
                </a:solidFill>
                <a:latin typeface="맑은 고딕"/>
              </a:rPr>
              <a:t>•  어느 쪽 값이 동작을 정하는가</a:t>
            </a:r>
          </a:p>
          <a:p>
            <a:pPr algn="l">
              <a:spcAft>
                <a:spcPts val="800"/>
              </a:spcAft>
            </a:pPr>
            <a:r>
              <a:rPr sz="1600" b="0">
                <a:solidFill>
                  <a:srgbClr val="FFFFFF"/>
                </a:solidFill>
                <a:latin typeface="맑은 고딕"/>
              </a:rPr>
              <a:t>•  비대칭 구성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운영은 멈추지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구조는 계속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테이블스페이스가 추가되고 데이터 파일이 늘어난다</a:t>
            </a:r>
          </a:p>
          <a:p>
            <a:pPr algn="l">
              <a:spcAft>
                <a:spcPts val="1000"/>
              </a:spcAft>
            </a:pPr>
            <a:r>
              <a:rPr sz="1700" b="0">
                <a:solidFill>
                  <a:srgbClr val="222222"/>
                </a:solidFill>
                <a:latin typeface="맑은 고딕"/>
              </a:rPr>
              <a:t>•  PDB가 생겼다 없어진다</a:t>
            </a:r>
          </a:p>
          <a:p>
            <a:pPr algn="l">
              <a:spcAft>
                <a:spcPts val="1000"/>
              </a:spcAft>
            </a:pPr>
            <a:r>
              <a:rPr sz="1700" b="0">
                <a:solidFill>
                  <a:srgbClr val="222222"/>
                </a:solidFill>
                <a:latin typeface="맑은 고딕"/>
              </a:rPr>
              <a:t>•  그때마다 Standby는 어떻게 되는가</a:t>
            </a:r>
          </a:p>
          <a:p>
            <a:pPr algn="l">
              <a:spcAft>
                <a:spcPts val="1000"/>
              </a:spcAft>
            </a:pPr>
            <a:r>
              <a:rPr sz="1700" b="0">
                <a:solidFill>
                  <a:srgbClr val="222222"/>
                </a:solidFill>
                <a:latin typeface="맑은 고딕"/>
              </a:rPr>
              <a:t>•  답의 핵심은 파라미터 하나 — </a:t>
            </a:r>
            <a:r>
              <a:rPr sz="1700" b="0">
                <a:solidFill>
                  <a:srgbClr val="222222"/>
                </a:solidFill>
                <a:latin typeface="Consolas"/>
                <a:cs typeface="Consolas"/>
              </a:rPr>
              <a:t>STANDBY_FILE_MANAGEMENT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쪽 값이 동작을 정하는가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 쪽이다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파일을 따라 만드는 주체는 Standby의 MRP</a:t>
            </a:r>
          </a:p>
          <a:p>
            <a:pPr algn="l">
              <a:spcAft>
                <a:spcPts val="1000"/>
              </a:spcAft>
            </a:pPr>
            <a:r>
              <a:rPr sz="1700" b="0">
                <a:solidFill>
                  <a:srgbClr val="222222"/>
                </a:solidFill>
                <a:latin typeface="맑은 고딕"/>
              </a:rPr>
              <a:t>•  실측 : Standby만 MANUAL, Primary는 AUTO → </a:t>
            </a:r>
            <a:r>
              <a:rPr sz="1700" b="1">
                <a:solidFill>
                  <a:srgbClr val="222222"/>
                </a:solidFill>
                <a:latin typeface="맑은 고딕"/>
              </a:rPr>
              <a:t>문제 발생</a:t>
            </a:r>
          </a:p>
          <a:p>
            <a:pPr algn="l">
              <a:spcAft>
                <a:spcPts val="1000"/>
              </a:spcAft>
            </a:pPr>
            <a:r>
              <a:rPr sz="1700" b="0">
                <a:solidFill>
                  <a:srgbClr val="222222"/>
                </a:solidFill>
                <a:latin typeface="맑은 고딕"/>
              </a:rPr>
              <a:t>•  Primary 쪽 값은 역할 전환 대비용</a:t>
            </a:r>
          </a:p>
          <a:p>
            <a:pPr algn="l">
              <a:spcAft>
                <a:spcPts val="1000"/>
              </a:spcAft>
            </a:pPr>
            <a:r>
              <a:rPr sz="1700" b="0">
                <a:solidFill>
                  <a:srgbClr val="222222"/>
                </a:solidFill>
                <a:latin typeface="맑은 고딕"/>
              </a:rPr>
              <a:t>•  </a:t>
            </a:r>
            <a:r>
              <a:rPr sz="1700" b="1">
                <a:solidFill>
                  <a:srgbClr val="222222"/>
                </a:solidFill>
                <a:latin typeface="맑은 고딕"/>
              </a:rPr>
              <a:t>확인은 반드시 Standby에서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자동 반영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무엇이 되는가</a:t>
            </a:r>
          </a:p>
          <a:p>
            <a:pPr algn="l">
              <a:spcAft>
                <a:spcPts val="800"/>
              </a:spcAft>
            </a:pPr>
            <a:r>
              <a:rPr sz="1600" b="0">
                <a:solidFill>
                  <a:srgbClr val="FFFFFF"/>
                </a:solidFill>
                <a:latin typeface="맑은 고딕"/>
              </a:rPr>
              <a:t>•  비대칭 구성의 이름</a:t>
            </a:r>
          </a:p>
          <a:p>
            <a:pPr algn="l">
              <a:spcAft>
                <a:spcPts val="800"/>
              </a:spcAft>
            </a:pPr>
            <a:r>
              <a:rPr sz="1600" b="0">
                <a:solidFill>
                  <a:srgbClr val="FFFFFF"/>
                </a:solidFill>
                <a:latin typeface="맑은 고딕"/>
              </a:rPr>
              <a:t>•  대응은 번호가 유지한다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자동으로 되는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테이블스페이스 추가 — 실측 25초 뒤 반영</a:t>
            </a:r>
          </a:p>
          <a:p>
            <a:pPr algn="l">
              <a:spcAft>
                <a:spcPts val="1000"/>
              </a:spcAft>
            </a:pPr>
            <a:r>
              <a:rPr sz="1700" b="0">
                <a:solidFill>
                  <a:srgbClr val="222222"/>
                </a:solidFill>
                <a:latin typeface="맑은 고딕"/>
              </a:rPr>
              <a:t>•  데이터 파일 추가</a:t>
            </a:r>
          </a:p>
          <a:p>
            <a:pPr algn="l">
              <a:spcAft>
                <a:spcPts val="1000"/>
              </a:spcAft>
            </a:pPr>
            <a:r>
              <a:rPr sz="1700" b="0">
                <a:solidFill>
                  <a:srgbClr val="222222"/>
                </a:solidFill>
                <a:latin typeface="맑은 고딕"/>
              </a:rPr>
              <a:t>•  데이터 파일 크기 변경(resize)</a:t>
            </a:r>
          </a:p>
          <a:p>
            <a:pPr algn="l">
              <a:spcAft>
                <a:spcPts val="1000"/>
              </a:spcAft>
            </a:pPr>
            <a:r>
              <a:rPr sz="1700" b="0">
                <a:solidFill>
                  <a:srgbClr val="222222"/>
                </a:solidFill>
                <a:latin typeface="맑은 고딕"/>
              </a:rPr>
              <a:t>•  테이블스페이스 삭제 — 파일까지 사라진다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이름이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그래도 문제가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 </a:t>
            </a:r>
            <a:r>
              <a:rPr sz="1700" b="0">
                <a:solidFill>
                  <a:srgbClr val="222222"/>
                </a:solidFill>
                <a:latin typeface="Consolas"/>
                <a:cs typeface="Consolas"/>
              </a:rPr>
              <a:t>dg_ts1_01.dbf</a:t>
            </a:r>
            <a:r>
              <a:rPr sz="1700" b="0">
                <a:solidFill>
                  <a:srgbClr val="222222"/>
                </a:solidFill>
                <a:latin typeface="맑은 고딕"/>
              </a:rPr>
              <a:t> (비OMF, 사람이 지정)</a:t>
            </a:r>
          </a:p>
          <a:p>
            <a:pPr algn="l">
              <a:spcAft>
                <a:spcPts val="1000"/>
              </a:spcAft>
            </a:pPr>
            <a:r>
              <a:rPr sz="1700" b="0">
                <a:solidFill>
                  <a:srgbClr val="222222"/>
                </a:solidFill>
                <a:latin typeface="맑은 고딕"/>
              </a:rPr>
              <a:t>•  Standby : </a:t>
            </a:r>
            <a:r>
              <a:rPr sz="1700" b="0">
                <a:solidFill>
                  <a:srgbClr val="222222"/>
                </a:solidFill>
                <a:latin typeface="Consolas"/>
                <a:cs typeface="Consolas"/>
              </a:rPr>
              <a:t>o1_mf_dg_ts1_o8z7v7lh_.dbf</a:t>
            </a:r>
            <a:r>
              <a:rPr sz="1700" b="0">
                <a:solidFill>
                  <a:srgbClr val="222222"/>
                </a:solidFill>
                <a:latin typeface="맑은 고딕"/>
              </a:rPr>
              <a:t> (OMF, 오라클이 지정)</a:t>
            </a:r>
          </a:p>
          <a:p>
            <a:pPr algn="l">
              <a:spcAft>
                <a:spcPts val="1000"/>
              </a:spcAft>
            </a:pPr>
            <a:r>
              <a:rPr sz="1700" b="0">
                <a:solidFill>
                  <a:srgbClr val="222222"/>
                </a:solidFill>
                <a:latin typeface="맑은 고딕"/>
              </a:rPr>
              <a:t>•  파일 번호는 양쪽 모두 </a:t>
            </a:r>
            <a:r>
              <a:rPr sz="1700" b="1">
                <a:solidFill>
                  <a:srgbClr val="222222"/>
                </a:solidFill>
                <a:latin typeface="맑은 고딕"/>
              </a:rPr>
              <a:t>14</a:t>
            </a:r>
            <a:r>
              <a:rPr sz="1700" b="0">
                <a:solidFill>
                  <a:srgbClr val="222222"/>
                </a:solidFill>
                <a:latin typeface="맑은 고딕"/>
              </a:rPr>
              <a:t>, 크기도 20MB로 같다</a:t>
            </a:r>
          </a:p>
          <a:p>
            <a:pPr algn="l">
              <a:spcAft>
                <a:spcPts val="1000"/>
              </a:spcAft>
            </a:pPr>
            <a:r>
              <a:rPr sz="1700" b="0">
                <a:solidFill>
                  <a:srgbClr val="222222"/>
                </a:solidFill>
                <a:latin typeface="맑은 고딕"/>
              </a:rPr>
              <a:t>•  </a:t>
            </a:r>
            <a:r>
              <a:rPr sz="1700" b="1">
                <a:solidFill>
                  <a:srgbClr val="222222"/>
                </a:solidFill>
                <a:latin typeface="맑은 고딕"/>
              </a:rPr>
              <a:t>대응을 유지하는 것은 이름이 아니라 파일 번호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MANUAL이면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UNNAMED 파일</a:t>
            </a:r>
          </a:p>
          <a:p>
            <a:pPr algn="l">
              <a:spcAft>
                <a:spcPts val="800"/>
              </a:spcAft>
            </a:pPr>
            <a:r>
              <a:rPr sz="1600" b="0">
                <a:solidFill>
                  <a:srgbClr val="FFFFFF"/>
                </a:solidFill>
                <a:latin typeface="맑은 고딕"/>
              </a:rPr>
              <a:t>•  MRP가 죽는다</a:t>
            </a:r>
          </a:p>
          <a:p>
            <a:pPr algn="l">
              <a:spcAft>
                <a:spcPts val="800"/>
              </a:spcAft>
            </a:pPr>
            <a:r>
              <a:rPr sz="1600" b="0">
                <a:solidFill>
                  <a:srgbClr val="FFFFFF"/>
                </a:solidFill>
                <a:latin typeface="맑은 고딕"/>
              </a:rPr>
              <a:t>•  Primary는 모른다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UNNAMED00016</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0바이트, dbs 아래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Primary는 아무 일 없이 성공한다</a:t>
            </a:r>
          </a:p>
          <a:p>
            <a:pPr algn="l">
              <a:spcAft>
                <a:spcPts val="1000"/>
              </a:spcAft>
            </a:pPr>
            <a:r>
              <a:rPr sz="1700" b="0">
                <a:solidFill>
                  <a:srgbClr val="222222"/>
                </a:solidFill>
                <a:latin typeface="맑은 고딕"/>
              </a:rPr>
              <a:t>•  Standby에 </a:t>
            </a:r>
            <a:r>
              <a:rPr sz="1700" b="0">
                <a:solidFill>
                  <a:srgbClr val="222222"/>
                </a:solidFill>
                <a:latin typeface="Consolas"/>
                <a:cs typeface="Consolas"/>
              </a:rPr>
              <a:t>$ORACLE_HOME/dbs/UNNAMED00016</a:t>
            </a:r>
            <a:r>
              <a:rPr sz="1700" b="0">
                <a:solidFill>
                  <a:srgbClr val="222222"/>
                </a:solidFill>
                <a:latin typeface="맑은 고딕"/>
              </a:rPr>
              <a:t> (0바이트)</a:t>
            </a:r>
          </a:p>
          <a:p>
            <a:pPr algn="l">
              <a:spcAft>
                <a:spcPts val="1000"/>
              </a:spcAft>
            </a:pPr>
            <a:r>
              <a:rPr sz="1700" b="0">
                <a:solidFill>
                  <a:srgbClr val="222222"/>
                </a:solidFill>
                <a:latin typeface="맑은 고딕"/>
              </a:rPr>
              <a:t>•  이름 규칙 : </a:t>
            </a:r>
            <a:r>
              <a:rPr sz="1700" b="0">
                <a:solidFill>
                  <a:srgbClr val="222222"/>
                </a:solidFill>
                <a:latin typeface="Consolas"/>
                <a:cs typeface="Consolas"/>
              </a:rPr>
              <a:t>UNNAMED</a:t>
            </a:r>
            <a:r>
              <a:rPr sz="1700" b="0">
                <a:solidFill>
                  <a:srgbClr val="222222"/>
                </a:solidFill>
                <a:latin typeface="맑은 고딕"/>
              </a:rPr>
              <a:t> + 파일 번호 5자리</a:t>
            </a:r>
          </a:p>
          <a:p>
            <a:pPr algn="l">
              <a:spcAft>
                <a:spcPts val="1000"/>
              </a:spcAft>
            </a:pPr>
            <a:r>
              <a:rPr sz="1700" b="0">
                <a:solidFill>
                  <a:srgbClr val="222222"/>
                </a:solidFill>
                <a:latin typeface="맑은 고딕"/>
              </a:rPr>
              <a:t>•  </a:t>
            </a:r>
            <a:r>
              <a:rPr sz="1700" b="1">
                <a:solidFill>
                  <a:srgbClr val="222222"/>
                </a:solidFill>
                <a:latin typeface="맑은 고딕"/>
              </a:rPr>
              <a:t>MRP0이 사라진다</a:t>
            </a:r>
            <a:r>
              <a:rPr sz="1700" b="0">
                <a:solidFill>
                  <a:srgbClr val="222222"/>
                </a:solidFill>
                <a:latin typeface="맑은 고딕"/>
              </a:rPr>
              <a:t> — 적용이 죽었다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ORA-1274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그리고 조용한 Primary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MRP0: Background Media Recovery terminated with error 1274</a:t>
            </a:r>
          </a:p>
          <a:p>
            <a:pPr algn="l">
              <a:spcAft>
                <a:spcPts val="1000"/>
              </a:spcAft>
            </a:pPr>
            <a:r>
              <a:rPr sz="1700" b="0">
                <a:solidFill>
                  <a:srgbClr val="222222"/>
                </a:solidFill>
                <a:latin typeface="맑은 고딕"/>
              </a:rPr>
              <a:t>•  Primary 쪽 목적지는 계속 </a:t>
            </a:r>
            <a:r>
              <a:rPr sz="1700" b="1">
                <a:solidFill>
                  <a:srgbClr val="222222"/>
                </a:solidFill>
                <a:latin typeface="맑은 고딕"/>
              </a:rPr>
              <a:t>VALID</a:t>
            </a:r>
            <a:r>
              <a:rPr sz="1700" b="0">
                <a:solidFill>
                  <a:srgbClr val="222222"/>
                </a:solidFill>
                <a:latin typeface="맑은 고딕"/>
              </a:rPr>
              <a:t>, ERROR 열도 비어 있다</a:t>
            </a:r>
          </a:p>
          <a:p>
            <a:pPr algn="l">
              <a:spcAft>
                <a:spcPts val="1000"/>
              </a:spcAft>
            </a:pPr>
            <a:r>
              <a:rPr sz="1700" b="0">
                <a:solidFill>
                  <a:srgbClr val="222222"/>
                </a:solidFill>
                <a:latin typeface="맑은 고딕"/>
              </a:rPr>
              <a:t>•  전송은 정상이고 </a:t>
            </a:r>
            <a:r>
              <a:rPr sz="1700" b="1">
                <a:solidFill>
                  <a:srgbClr val="222222"/>
                </a:solidFill>
                <a:latin typeface="맑은 고딕"/>
              </a:rPr>
              <a:t>적용만 안 되기 때문</a:t>
            </a:r>
          </a:p>
          <a:p>
            <a:pPr algn="l">
              <a:spcAft>
                <a:spcPts val="1000"/>
              </a:spcAft>
            </a:pPr>
            <a:r>
              <a:rPr sz="1700" b="0">
                <a:solidFill>
                  <a:srgbClr val="222222"/>
                </a:solidFill>
                <a:latin typeface="맑은 고딕"/>
              </a:rPr>
              <a:t>•  Primary만 감시하는 모니터링은 이 상태를 잡지 못한다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AUTO로 되돌려도 안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ORA-1274 → ORA-1111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파라미터를 AUTO로, MRP 재기동 → </a:t>
            </a:r>
            <a:r>
              <a:rPr sz="1700" b="1">
                <a:solidFill>
                  <a:srgbClr val="222222"/>
                </a:solidFill>
                <a:latin typeface="맑은 고딕"/>
              </a:rPr>
              <a:t>또 죽는다</a:t>
            </a:r>
          </a:p>
          <a:p>
            <a:pPr algn="l">
              <a:spcAft>
                <a:spcPts val="1000"/>
              </a:spcAft>
            </a:pPr>
            <a:r>
              <a:rPr sz="1700" b="0">
                <a:solidFill>
                  <a:srgbClr val="222222"/>
                </a:solidFill>
                <a:latin typeface="맑은 고딕"/>
              </a:rPr>
              <a:t>•  오류가 </a:t>
            </a:r>
            <a:r>
              <a:rPr sz="1700" b="1">
                <a:solidFill>
                  <a:srgbClr val="222222"/>
                </a:solidFill>
                <a:latin typeface="맑은 고딕"/>
              </a:rPr>
              <a:t>1274에서 1111로 바뀐다</a:t>
            </a:r>
          </a:p>
          <a:p>
            <a:pPr algn="l">
              <a:spcAft>
                <a:spcPts val="1000"/>
              </a:spcAft>
            </a:pPr>
            <a:r>
              <a:rPr sz="1700" b="0">
                <a:solidFill>
                  <a:srgbClr val="222222"/>
                </a:solidFill>
                <a:latin typeface="맑은 고딕"/>
              </a:rPr>
              <a:t>•  1274 : 만들 수 없다 / 1111 : 자리가 잘못됐다</a:t>
            </a:r>
          </a:p>
          <a:p>
            <a:pPr algn="l">
              <a:spcAft>
                <a:spcPts val="1000"/>
              </a:spcAft>
            </a:pPr>
            <a:r>
              <a:rPr sz="1700" b="0">
                <a:solidFill>
                  <a:srgbClr val="222222"/>
                </a:solidFill>
                <a:latin typeface="맑은 고딕"/>
              </a:rPr>
              <a:t>•  이미 생긴 UNNAMED 항목은 저절로 고쳐지지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증거 두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그리고 믿으면 안 되는 뷰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V$DATAFILE.STATUS</a:t>
            </a:r>
            <a:r>
              <a:rPr sz="1700" b="0">
                <a:solidFill>
                  <a:srgbClr val="222222"/>
                </a:solidFill>
                <a:latin typeface="맑은 고딕"/>
              </a:rPr>
              <a:t> = </a:t>
            </a:r>
            <a:r>
              <a:rPr sz="1700" b="1">
                <a:solidFill>
                  <a:srgbClr val="222222"/>
                </a:solidFill>
                <a:latin typeface="맑은 고딕"/>
              </a:rPr>
              <a:t>RECOVER</a:t>
            </a:r>
          </a:p>
          <a:p>
            <a:pPr algn="l">
              <a:spcAft>
                <a:spcPts val="1000"/>
              </a:spcAft>
            </a:pPr>
            <a:r>
              <a:rPr sz="1700" b="0">
                <a:solidFill>
                  <a:srgbClr val="222222"/>
                </a:solidFill>
                <a:latin typeface="맑은 고딕"/>
              </a:rPr>
              <a:t>•  </a:t>
            </a:r>
            <a:r>
              <a:rPr sz="1700" b="0">
                <a:solidFill>
                  <a:srgbClr val="222222"/>
                </a:solidFill>
                <a:latin typeface="Consolas"/>
                <a:cs typeface="Consolas"/>
              </a:rPr>
              <a:t>V$DATAFILE_HEADER.ERROR</a:t>
            </a:r>
            <a:r>
              <a:rPr sz="1700" b="0">
                <a:solidFill>
                  <a:srgbClr val="222222"/>
                </a:solidFill>
                <a:latin typeface="맑은 고딕"/>
              </a:rPr>
              <a:t> = </a:t>
            </a:r>
            <a:r>
              <a:rPr sz="1700" b="1">
                <a:solidFill>
                  <a:srgbClr val="222222"/>
                </a:solidFill>
                <a:latin typeface="맑은 고딕"/>
              </a:rPr>
              <a:t>FILE MISSING</a:t>
            </a:r>
          </a:p>
          <a:p>
            <a:pPr algn="l">
              <a:spcAft>
                <a:spcPts val="1000"/>
              </a:spcAft>
            </a:pPr>
            <a:r>
              <a:rPr sz="1700" b="0">
                <a:solidFill>
                  <a:srgbClr val="222222"/>
                </a:solidFill>
                <a:latin typeface="맑은 고딕"/>
              </a:rPr>
              <a:t>•  </a:t>
            </a:r>
            <a:r>
              <a:rPr sz="1700" b="0">
                <a:solidFill>
                  <a:srgbClr val="222222"/>
                </a:solidFill>
                <a:latin typeface="Consolas"/>
                <a:cs typeface="Consolas"/>
              </a:rPr>
              <a:t>V$RECOVER_FILE</a:t>
            </a:r>
            <a:r>
              <a:rPr sz="1700" b="0">
                <a:solidFill>
                  <a:srgbClr val="222222"/>
                </a:solidFill>
                <a:latin typeface="맑은 고딕"/>
              </a:rPr>
              <a:t> → </a:t>
            </a:r>
            <a:r>
              <a:rPr sz="1700" b="1">
                <a:solidFill>
                  <a:srgbClr val="222222"/>
                </a:solidFill>
                <a:latin typeface="맑은 고딕"/>
              </a:rPr>
              <a:t>no rows selected</a:t>
            </a:r>
          </a:p>
          <a:p>
            <a:pPr algn="l">
              <a:spcAft>
                <a:spcPts val="1000"/>
              </a:spcAft>
            </a:pPr>
            <a:r>
              <a:rPr sz="1700" b="0">
                <a:solidFill>
                  <a:srgbClr val="222222"/>
                </a:solidFill>
                <a:latin typeface="맑은 고딕"/>
              </a:rPr>
              <a:t>•  복구가 필요한 파일을 보여 주는 뷰인데 비어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복구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CREATE DATAFILE AS NEW</a:t>
            </a:r>
          </a:p>
          <a:p>
            <a:pPr algn="l">
              <a:spcAft>
                <a:spcPts val="800"/>
              </a:spcAft>
            </a:pPr>
            <a:r>
              <a:rPr sz="1600" b="0">
                <a:solidFill>
                  <a:srgbClr val="FFFFFF"/>
                </a:solidFill>
                <a:latin typeface="맑은 고딕"/>
              </a:rPr>
              <a:t>•  리두가 이름과 크기를 알려 준다</a:t>
            </a:r>
          </a:p>
          <a:p>
            <a:pPr algn="l">
              <a:spcAft>
                <a:spcPts val="800"/>
              </a:spcAft>
            </a:pPr>
            <a:r>
              <a:rPr sz="1600" b="0">
                <a:solidFill>
                  <a:srgbClr val="FFFFFF"/>
                </a:solidFill>
                <a:latin typeface="맑은 고딕"/>
              </a:rPr>
              <a:t>•  내용도 리두가 채운다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 네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작업 동안만 MANUAL</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a:t>
            </a:r>
            <a:r>
              <a:rPr sz="1700" b="0">
                <a:solidFill>
                  <a:srgbClr val="222222"/>
                </a:solidFill>
                <a:latin typeface="Consolas"/>
                <a:cs typeface="Consolas"/>
              </a:rPr>
              <a:t>STANDBY_FILE_MANAGEMENT</a:t>
            </a:r>
            <a:r>
              <a:rPr sz="1700" b="0">
                <a:solidFill>
                  <a:srgbClr val="222222"/>
                </a:solidFill>
                <a:latin typeface="맑은 고딕"/>
              </a:rPr>
              <a:t> = MANUAL</a:t>
            </a:r>
          </a:p>
          <a:p>
            <a:pPr algn="l">
              <a:spcAft>
                <a:spcPts val="1000"/>
              </a:spcAft>
            </a:pPr>
            <a:r>
              <a:rPr sz="1700" b="0">
                <a:solidFill>
                  <a:srgbClr val="222222"/>
                </a:solidFill>
                <a:latin typeface="맑은 고딕"/>
              </a:rPr>
              <a:t>•  ② </a:t>
            </a:r>
            <a:r>
              <a:rPr sz="1700" b="0">
                <a:solidFill>
                  <a:srgbClr val="222222"/>
                </a:solidFill>
                <a:latin typeface="Consolas"/>
                <a:cs typeface="Consolas"/>
              </a:rPr>
              <a:t>ALTER DATABASE CREATE DATAFILE '&lt;UNNAMED&gt;' AS NEW</a:t>
            </a:r>
          </a:p>
          <a:p>
            <a:pPr algn="l">
              <a:spcAft>
                <a:spcPts val="1000"/>
              </a:spcAft>
            </a:pPr>
            <a:r>
              <a:rPr sz="1700" b="0">
                <a:solidFill>
                  <a:srgbClr val="222222"/>
                </a:solidFill>
                <a:latin typeface="맑은 고딕"/>
              </a:rPr>
              <a:t>•  ③ AUTO로 복귀</a:t>
            </a:r>
          </a:p>
          <a:p>
            <a:pPr algn="l">
              <a:spcAft>
                <a:spcPts val="1000"/>
              </a:spcAft>
            </a:pPr>
            <a:r>
              <a:rPr sz="1700" b="0">
                <a:solidFill>
                  <a:srgbClr val="222222"/>
                </a:solidFill>
                <a:latin typeface="맑은 고딕"/>
              </a:rPr>
              <a:t>•  ④ MRP 재기동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 NEW가 아는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리두에 다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실측 결과 : </a:t>
            </a:r>
            <a:r>
              <a:rPr sz="1700" b="0">
                <a:solidFill>
                  <a:srgbClr val="222222"/>
                </a:solidFill>
                <a:latin typeface="Consolas"/>
                <a:cs typeface="Consolas"/>
              </a:rPr>
              <a:t>o1_mf_dg_ts2_o8z81hpl_.dbf</a:t>
            </a:r>
            <a:r>
              <a:rPr sz="1700" b="0">
                <a:solidFill>
                  <a:srgbClr val="222222"/>
                </a:solidFill>
                <a:latin typeface="맑은 고딕"/>
              </a:rPr>
              <a:t>, </a:t>
            </a:r>
            <a:r>
              <a:rPr sz="1700" b="1">
                <a:solidFill>
                  <a:srgbClr val="222222"/>
                </a:solidFill>
                <a:latin typeface="맑은 고딕"/>
              </a:rPr>
              <a:t>10MB</a:t>
            </a:r>
          </a:p>
          <a:p>
            <a:pPr algn="l">
              <a:spcAft>
                <a:spcPts val="1000"/>
              </a:spcAft>
            </a:pPr>
            <a:r>
              <a:rPr sz="1700" b="0">
                <a:solidFill>
                  <a:srgbClr val="222222"/>
                </a:solidFill>
                <a:latin typeface="맑은 고딕"/>
              </a:rPr>
              <a:t>•  테이블스페이스 이름 </a:t>
            </a:r>
            <a:r>
              <a:rPr sz="1700" b="0">
                <a:solidFill>
                  <a:srgbClr val="222222"/>
                </a:solidFill>
                <a:latin typeface="Consolas"/>
                <a:cs typeface="Consolas"/>
              </a:rPr>
              <a:t>dg_ts2</a:t>
            </a:r>
            <a:r>
              <a:rPr sz="1700" b="0">
                <a:solidFill>
                  <a:srgbClr val="222222"/>
                </a:solidFill>
                <a:latin typeface="맑은 고딕"/>
              </a:rPr>
              <a:t>가 이름에 들어갔다</a:t>
            </a:r>
          </a:p>
          <a:p>
            <a:pPr algn="l">
              <a:spcAft>
                <a:spcPts val="1000"/>
              </a:spcAft>
            </a:pPr>
            <a:r>
              <a:rPr sz="1700" b="0">
                <a:solidFill>
                  <a:srgbClr val="222222"/>
                </a:solidFill>
                <a:latin typeface="맑은 고딕"/>
              </a:rPr>
              <a:t>•  크기도 정확하다</a:t>
            </a:r>
          </a:p>
          <a:p>
            <a:pPr algn="l">
              <a:spcAft>
                <a:spcPts val="1000"/>
              </a:spcAft>
            </a:pPr>
            <a:r>
              <a:rPr sz="1700" b="0">
                <a:solidFill>
                  <a:srgbClr val="222222"/>
                </a:solidFill>
                <a:latin typeface="맑은 고딕"/>
              </a:rPr>
              <a:t>•  사람은 "새로 만들어라"라고만 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내용은 리두가 채운다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100행 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AS NEW</a:t>
            </a:r>
            <a:r>
              <a:rPr sz="1700" b="0">
                <a:solidFill>
                  <a:srgbClr val="222222"/>
                </a:solidFill>
                <a:latin typeface="맑은 고딕"/>
              </a:rPr>
              <a:t>로 만든 파일은 빈 껍데기</a:t>
            </a:r>
          </a:p>
          <a:p>
            <a:pPr algn="l">
              <a:spcAft>
                <a:spcPts val="1000"/>
              </a:spcAft>
            </a:pPr>
            <a:r>
              <a:rPr sz="1700" b="0">
                <a:solidFill>
                  <a:srgbClr val="222222"/>
                </a:solidFill>
                <a:latin typeface="맑은 고딕"/>
              </a:rPr>
              <a:t>•  MRP가 밀렸던 리두를 적용하며 채운다</a:t>
            </a:r>
          </a:p>
          <a:p>
            <a:pPr algn="l">
              <a:spcAft>
                <a:spcPts val="1000"/>
              </a:spcAft>
            </a:pPr>
            <a:r>
              <a:rPr sz="1700" b="0">
                <a:solidFill>
                  <a:srgbClr val="222222"/>
                </a:solidFill>
                <a:latin typeface="맑은 고딕"/>
              </a:rPr>
              <a:t>•  문제가 있었던 그 테이블스페이스에 100행 입력</a:t>
            </a:r>
          </a:p>
          <a:p>
            <a:pPr algn="l">
              <a:spcAft>
                <a:spcPts val="1000"/>
              </a:spcAft>
            </a:pPr>
            <a:r>
              <a:rPr sz="1700" b="0">
                <a:solidFill>
                  <a:srgbClr val="222222"/>
                </a:solidFill>
                <a:latin typeface="맑은 고딕"/>
              </a:rPr>
              <a:t>•  Standby에서 </a:t>
            </a:r>
            <a:r>
              <a:rPr sz="1700" b="1">
                <a:solidFill>
                  <a:srgbClr val="222222"/>
                </a:solidFill>
                <a:latin typeface="맑은 고딕"/>
              </a:rPr>
              <a:t>100행 그대로 조회됨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PDB 추가와 삭제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완전 자동</a:t>
            </a:r>
          </a:p>
          <a:p>
            <a:pPr algn="l">
              <a:spcAft>
                <a:spcPts val="800"/>
              </a:spcAft>
            </a:pPr>
            <a:r>
              <a:rPr sz="1600" b="0">
                <a:solidFill>
                  <a:srgbClr val="FFFFFF"/>
                </a:solidFill>
                <a:latin typeface="맑은 고딕"/>
              </a:rPr>
              <a:t>•  GUID 디렉터리</a:t>
            </a:r>
          </a:p>
          <a:p>
            <a:pPr algn="l">
              <a:spcAft>
                <a:spcPts val="800"/>
              </a:spcAft>
            </a:pPr>
            <a:r>
              <a:rPr sz="1600" b="0">
                <a:solidFill>
                  <a:srgbClr val="FFFFFF"/>
                </a:solidFill>
                <a:latin typeface="맑은 고딕"/>
              </a:rPr>
              <a:t>•  삭제 후 남는 것</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추가는 완전 자동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디렉터리까지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Standby에 PDB 등록, </a:t>
            </a:r>
            <a:r>
              <a:rPr sz="1700" b="1">
                <a:solidFill>
                  <a:srgbClr val="222222"/>
                </a:solidFill>
                <a:latin typeface="맑은 고딕"/>
              </a:rPr>
              <a:t>GUID 동일</a:t>
            </a:r>
            <a:r>
              <a:rPr sz="1700" b="0">
                <a:solidFill>
                  <a:srgbClr val="222222"/>
                </a:solidFill>
                <a:latin typeface="맑은 고딕"/>
              </a:rPr>
              <a:t>, 데이터 파일 3개</a:t>
            </a:r>
          </a:p>
          <a:p>
            <a:pPr algn="l">
              <a:spcAft>
                <a:spcPts val="1000"/>
              </a:spcAft>
            </a:pPr>
            <a:r>
              <a:rPr sz="1700" b="0">
                <a:solidFill>
                  <a:srgbClr val="222222"/>
                </a:solidFill>
                <a:latin typeface="맑은 고딕"/>
              </a:rPr>
              <a:t>•  </a:t>
            </a:r>
            <a:r>
              <a:rPr sz="1700" b="0">
                <a:solidFill>
                  <a:srgbClr val="222222"/>
                </a:solidFill>
                <a:latin typeface="Consolas"/>
                <a:cs typeface="Consolas"/>
              </a:rPr>
              <a:t>mkdir</a:t>
            </a:r>
            <a:r>
              <a:rPr sz="1700" b="0">
                <a:solidFill>
                  <a:srgbClr val="222222"/>
                </a:solidFill>
                <a:latin typeface="맑은 고딕"/>
              </a:rPr>
              <a:t> 없이 </a:t>
            </a:r>
            <a:r>
              <a:rPr sz="1700" b="0">
                <a:solidFill>
                  <a:srgbClr val="222222"/>
                </a:solidFill>
                <a:latin typeface="Consolas"/>
                <a:cs typeface="Consolas"/>
              </a:rPr>
              <a:t>59FF1704.../datafile</a:t>
            </a:r>
            <a:r>
              <a:rPr sz="1700" b="0">
                <a:solidFill>
                  <a:srgbClr val="222222"/>
                </a:solidFill>
                <a:latin typeface="맑은 고딕"/>
              </a:rPr>
              <a:t> 생성</a:t>
            </a:r>
          </a:p>
          <a:p>
            <a:pPr algn="l">
              <a:spcAft>
                <a:spcPts val="1000"/>
              </a:spcAft>
            </a:pPr>
            <a:r>
              <a:rPr sz="1700" b="0">
                <a:solidFill>
                  <a:srgbClr val="222222"/>
                </a:solidFill>
                <a:latin typeface="맑은 고딕"/>
              </a:rPr>
              <a:t>•  5장 방식이었다면 사람이 만들어야 했다 (ORA-19505)</a:t>
            </a:r>
          </a:p>
          <a:p>
            <a:pPr algn="l">
              <a:spcAft>
                <a:spcPts val="1000"/>
              </a:spcAft>
            </a:pPr>
            <a:r>
              <a:rPr sz="1700" b="0">
                <a:solidFill>
                  <a:srgbClr val="222222"/>
                </a:solidFill>
                <a:latin typeface="맑은 고딕"/>
              </a:rPr>
              <a:t>•  </a:t>
            </a:r>
            <a:r>
              <a:rPr sz="1700" b="1">
                <a:solidFill>
                  <a:srgbClr val="222222"/>
                </a:solidFill>
                <a:latin typeface="맑은 고딕"/>
              </a:rPr>
              <a:t>PDB를 자주 추가하는 환경에서 OMF를 권하는 이유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새 PDB는 열어야 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ORA-01219</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Standby에서 새 PDB의 OPEN_MODE는 </a:t>
            </a:r>
            <a:r>
              <a:rPr sz="1700" b="1">
                <a:solidFill>
                  <a:srgbClr val="222222"/>
                </a:solidFill>
                <a:latin typeface="맑은 고딕"/>
              </a:rPr>
              <a:t>MOUNTED</a:t>
            </a:r>
          </a:p>
          <a:p>
            <a:pPr algn="l">
              <a:spcAft>
                <a:spcPts val="1000"/>
              </a:spcAft>
            </a:pPr>
            <a:r>
              <a:rPr sz="1700" b="0">
                <a:solidFill>
                  <a:srgbClr val="222222"/>
                </a:solidFill>
                <a:latin typeface="맑은 고딕"/>
              </a:rPr>
              <a:t>•  조회하면 </a:t>
            </a:r>
            <a:r>
              <a:rPr sz="1700" b="0">
                <a:solidFill>
                  <a:srgbClr val="222222"/>
                </a:solidFill>
                <a:latin typeface="Consolas"/>
                <a:cs typeface="Consolas"/>
              </a:rPr>
              <a:t>ORA-01219: ... queries allowed on fixed tables or views only</a:t>
            </a:r>
          </a:p>
          <a:p>
            <a:pPr algn="l">
              <a:spcAft>
                <a:spcPts val="1000"/>
              </a:spcAft>
            </a:pPr>
            <a:r>
              <a:rPr sz="1700" b="0">
                <a:solidFill>
                  <a:srgbClr val="222222"/>
                </a:solidFill>
                <a:latin typeface="맑은 고딕"/>
              </a:rPr>
              <a:t>•  기존 PDB는 구축 때 열어 두었지만 </a:t>
            </a:r>
            <a:r>
              <a:rPr sz="1700" b="1">
                <a:solidFill>
                  <a:srgbClr val="222222"/>
                </a:solidFill>
                <a:latin typeface="맑은 고딕"/>
              </a:rPr>
              <a:t>새 PDB는 아무도 열지 않는다</a:t>
            </a:r>
          </a:p>
          <a:p>
            <a:pPr algn="l">
              <a:spcAft>
                <a:spcPts val="1000"/>
              </a:spcAft>
            </a:pPr>
            <a:r>
              <a:rPr sz="1700" b="0">
                <a:solidFill>
                  <a:srgbClr val="222222"/>
                </a:solidFill>
                <a:latin typeface="맑은 고딕"/>
              </a:rPr>
              <a:t>•  기동 스크립트에 </a:t>
            </a:r>
            <a:r>
              <a:rPr sz="1700" b="0">
                <a:solidFill>
                  <a:srgbClr val="222222"/>
                </a:solidFill>
                <a:latin typeface="Consolas"/>
                <a:cs typeface="Consolas"/>
              </a:rPr>
              <a:t>ALTER PLUGGABLE DATABASE ALL OPEN READ ONLY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 후 남는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빈 GUID 디렉터리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PDB도 데이터 파일도 사라진다</a:t>
            </a:r>
          </a:p>
          <a:p>
            <a:pPr algn="l">
              <a:spcAft>
                <a:spcPts val="1000"/>
              </a:spcAft>
            </a:pPr>
            <a:r>
              <a:rPr sz="1700" b="0">
                <a:solidFill>
                  <a:srgbClr val="222222"/>
                </a:solidFill>
                <a:latin typeface="맑은 고딕"/>
              </a:rPr>
              <a:t>•  그런데 </a:t>
            </a:r>
            <a:r>
              <a:rPr sz="1700" b="1">
                <a:solidFill>
                  <a:srgbClr val="222222"/>
                </a:solidFill>
                <a:latin typeface="맑은 고딕"/>
              </a:rPr>
              <a:t>빈 GUID 디렉터리는 남는다</a:t>
            </a:r>
          </a:p>
          <a:p>
            <a:pPr algn="l">
              <a:spcAft>
                <a:spcPts val="1000"/>
              </a:spcAft>
            </a:pPr>
            <a:r>
              <a:rPr sz="1700" b="0">
                <a:solidFill>
                  <a:srgbClr val="222222"/>
                </a:solidFill>
                <a:latin typeface="맑은 고딕"/>
              </a:rPr>
              <a:t>•  자주 만들고 지우면 쌓인다. 이름만으로는 구분 불가</a:t>
            </a:r>
          </a:p>
          <a:p>
            <a:pPr algn="l">
              <a:spcAft>
                <a:spcPts val="1000"/>
              </a:spcAft>
            </a:pPr>
            <a:r>
              <a:rPr sz="1700" b="0">
                <a:solidFill>
                  <a:srgbClr val="222222"/>
                </a:solidFill>
                <a:latin typeface="맑은 고딕"/>
              </a:rPr>
              <a:t>•  정리는 </a:t>
            </a:r>
            <a:r>
              <a:rPr sz="1700" b="0">
                <a:solidFill>
                  <a:srgbClr val="222222"/>
                </a:solidFill>
                <a:latin typeface="Consolas"/>
                <a:cs typeface="Consolas"/>
              </a:rPr>
              <a:t>V$PDBS.GUID</a:t>
            </a:r>
            <a:r>
              <a:rPr sz="1700" b="0">
                <a:solidFill>
                  <a:srgbClr val="222222"/>
                </a:solidFill>
                <a:latin typeface="맑은 고딕"/>
              </a:rPr>
              <a:t>와 대조해 </a:t>
            </a:r>
            <a:r>
              <a:rPr sz="1700" b="1">
                <a:solidFill>
                  <a:srgbClr val="222222"/>
                </a:solidFill>
                <a:latin typeface="Consolas"/>
                <a:cs typeface="Consolas"/>
              </a:rPr>
              <a:t>rmdir</a:t>
            </a:r>
            <a:r>
              <a:rPr sz="1700" b="0">
                <a:solidFill>
                  <a:srgbClr val="222222"/>
                </a:solidFill>
                <a:latin typeface="맑은 고딕"/>
              </a:rPr>
              <a:t>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반영되지 않는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온라인 리두 로그</a:t>
            </a:r>
          </a:p>
          <a:p>
            <a:pPr algn="l">
              <a:spcAft>
                <a:spcPts val="800"/>
              </a:spcAft>
            </a:pPr>
            <a:r>
              <a:rPr sz="1600" b="0">
                <a:solidFill>
                  <a:srgbClr val="FFFFFF"/>
                </a:solidFill>
                <a:latin typeface="맑은 고딕"/>
              </a:rPr>
              <a:t>•  왜 그런가</a:t>
            </a:r>
          </a:p>
          <a:p>
            <a:pPr algn="l">
              <a:spcAft>
                <a:spcPts val="800"/>
              </a:spcAft>
            </a:pPr>
            <a:r>
              <a:rPr sz="1600" b="0">
                <a:solidFill>
                  <a:srgbClr val="FFFFFF"/>
                </a:solidFill>
                <a:latin typeface="맑은 고딕"/>
              </a:rPr>
              <a:t>•  언제 문제가 되는가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조용히 반영되지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온라인 리두 그룹</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Primary에 그룹 8 추가 → 네 그룹</a:t>
            </a:r>
          </a:p>
          <a:p>
            <a:pPr algn="l">
              <a:spcAft>
                <a:spcPts val="1000"/>
              </a:spcAft>
            </a:pPr>
            <a:r>
              <a:rPr sz="1700" b="0">
                <a:solidFill>
                  <a:srgbClr val="222222"/>
                </a:solidFill>
                <a:latin typeface="맑은 고딕"/>
              </a:rPr>
              <a:t>•  45초 뒤 Standby : </a:t>
            </a:r>
            <a:r>
              <a:rPr sz="1700" b="1">
                <a:solidFill>
                  <a:srgbClr val="222222"/>
                </a:solidFill>
                <a:latin typeface="맑은 고딕"/>
              </a:rPr>
              <a:t>세 그룹 그대로</a:t>
            </a:r>
          </a:p>
          <a:p>
            <a:pPr algn="l">
              <a:spcAft>
                <a:spcPts val="1000"/>
              </a:spcAft>
            </a:pPr>
            <a:r>
              <a:rPr sz="1700" b="0">
                <a:solidFill>
                  <a:srgbClr val="222222"/>
                </a:solidFill>
                <a:latin typeface="맑은 고딕"/>
              </a:rPr>
              <a:t>•  지연은 0 — 밀려서가 아니라 애초에 반영되지 않는다</a:t>
            </a:r>
          </a:p>
          <a:p>
            <a:pPr algn="l">
              <a:spcAft>
                <a:spcPts val="1000"/>
              </a:spcAft>
            </a:pPr>
            <a:r>
              <a:rPr sz="1700" b="0">
                <a:solidFill>
                  <a:srgbClr val="222222"/>
                </a:solidFill>
                <a:latin typeface="맑은 고딕"/>
              </a:rPr>
              <a:t>•  오류도 경고도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전환 때 드러난다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사람이 해야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boston이 Primary가 되면 그때 온라인 리두가 필요해진다</a:t>
            </a:r>
          </a:p>
          <a:p>
            <a:pPr algn="l">
              <a:spcAft>
                <a:spcPts val="1000"/>
              </a:spcAft>
            </a:pPr>
            <a:r>
              <a:rPr sz="1700" b="0">
                <a:solidFill>
                  <a:srgbClr val="222222"/>
                </a:solidFill>
                <a:latin typeface="맑은 고딕"/>
              </a:rPr>
              <a:t>•  chicago 4그룹 / boston 3그룹 → 전환 잦아져 성능 영향</a:t>
            </a:r>
          </a:p>
          <a:p>
            <a:pPr algn="l">
              <a:spcAft>
                <a:spcPts val="1000"/>
              </a:spcAft>
            </a:pPr>
            <a:r>
              <a:rPr sz="1700" b="0">
                <a:solidFill>
                  <a:srgbClr val="222222"/>
                </a:solidFill>
                <a:latin typeface="맑은 고딕"/>
              </a:rPr>
              <a:t>•  </a:t>
            </a:r>
            <a:r>
              <a:rPr sz="1700" b="1">
                <a:solidFill>
                  <a:srgbClr val="222222"/>
                </a:solidFill>
                <a:latin typeface="맑은 고딕"/>
              </a:rPr>
              <a:t>양쪽에 사람이 같이 적용해야 한다</a:t>
            </a:r>
          </a:p>
          <a:p>
            <a:pPr algn="l">
              <a:spcAft>
                <a:spcPts val="1000"/>
              </a:spcAft>
            </a:pPr>
            <a:r>
              <a:rPr sz="1700" b="0">
                <a:solidFill>
                  <a:srgbClr val="222222"/>
                </a:solidFill>
                <a:latin typeface="맑은 고딕"/>
              </a:rPr>
              <a:t>•  SRL 개수도 다시 계산한다 (온라인 + 1)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파일 작업의 오류 넷</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모두 자주 만난다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ORA-00301</a:t>
            </a:r>
            <a:r>
              <a:rPr sz="1700" b="0">
                <a:solidFill>
                  <a:srgbClr val="222222"/>
                </a:solidFill>
                <a:latin typeface="맑은 고딕"/>
              </a:rPr>
              <a:t> + </a:t>
            </a:r>
            <a:r>
              <a:rPr sz="1700" b="0">
                <a:solidFill>
                  <a:srgbClr val="222222"/>
                </a:solidFill>
                <a:latin typeface="Consolas"/>
                <a:cs typeface="Consolas"/>
              </a:rPr>
              <a:t>ORA-27038</a:t>
            </a:r>
            <a:r>
              <a:rPr sz="1700" b="0">
                <a:solidFill>
                  <a:srgbClr val="222222"/>
                </a:solidFill>
                <a:latin typeface="맑은 고딕"/>
              </a:rPr>
              <a:t> — 파일이 이미 있다</a:t>
            </a:r>
          </a:p>
          <a:p>
            <a:pPr algn="l">
              <a:spcAft>
                <a:spcPts val="1000"/>
              </a:spcAft>
            </a:pPr>
            <a:r>
              <a:rPr sz="1700" b="0">
                <a:solidFill>
                  <a:srgbClr val="222222"/>
                </a:solidFill>
                <a:latin typeface="맑은 고딕"/>
              </a:rPr>
              <a:t>•  </a:t>
            </a:r>
            <a:r>
              <a:rPr sz="1700" b="0">
                <a:solidFill>
                  <a:srgbClr val="222222"/>
                </a:solidFill>
                <a:latin typeface="Consolas"/>
                <a:cs typeface="Consolas"/>
              </a:rPr>
              <a:t>ORA-00359</a:t>
            </a:r>
            <a:r>
              <a:rPr sz="1700" b="0">
                <a:solidFill>
                  <a:srgbClr val="222222"/>
                </a:solidFill>
                <a:latin typeface="맑은 고딕"/>
              </a:rPr>
              <a:t> — 그룹이 없다</a:t>
            </a:r>
          </a:p>
          <a:p>
            <a:pPr algn="l">
              <a:spcAft>
                <a:spcPts val="1000"/>
              </a:spcAft>
            </a:pPr>
            <a:r>
              <a:rPr sz="1700" b="0">
                <a:solidFill>
                  <a:srgbClr val="222222"/>
                </a:solidFill>
                <a:latin typeface="맑은 고딕"/>
              </a:rPr>
              <a:t>•  </a:t>
            </a:r>
            <a:r>
              <a:rPr sz="1700" b="0">
                <a:solidFill>
                  <a:srgbClr val="222222"/>
                </a:solidFill>
                <a:latin typeface="Consolas"/>
                <a:cs typeface="Consolas"/>
              </a:rPr>
              <a:t>ORA-01623</a:t>
            </a:r>
            <a:r>
              <a:rPr sz="1700" b="0">
                <a:solidFill>
                  <a:srgbClr val="222222"/>
                </a:solidFill>
                <a:latin typeface="맑은 고딕"/>
              </a:rPr>
              <a:t> — CURRENT 그룹은 지울 수 없다</a:t>
            </a:r>
          </a:p>
          <a:p>
            <a:pPr algn="l">
              <a:spcAft>
                <a:spcPts val="1000"/>
              </a:spcAft>
            </a:pPr>
            <a:r>
              <a:rPr sz="1700" b="0">
                <a:solidFill>
                  <a:srgbClr val="222222"/>
                </a:solidFill>
                <a:latin typeface="맑은 고딕"/>
              </a:rPr>
              <a:t>•  </a:t>
            </a:r>
            <a:r>
              <a:rPr sz="1700" b="0">
                <a:solidFill>
                  <a:srgbClr val="222222"/>
                </a:solidFill>
                <a:latin typeface="Consolas"/>
                <a:cs typeface="Consolas"/>
              </a:rPr>
              <a:t>ORA-00904</a:t>
            </a:r>
            <a:r>
              <a:rPr sz="1700" b="0">
                <a:solidFill>
                  <a:srgbClr val="222222"/>
                </a:solidFill>
                <a:latin typeface="맑은 고딕"/>
              </a:rPr>
              <a:t> — V$LOG에 TYPE 열이 없다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사고 사례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무엇을 했는가</a:t>
            </a:r>
          </a:p>
          <a:p>
            <a:pPr algn="l">
              <a:spcAft>
                <a:spcPts val="800"/>
              </a:spcAft>
            </a:pPr>
            <a:r>
              <a:rPr sz="1600" b="0">
                <a:solidFill>
                  <a:srgbClr val="FFFFFF"/>
                </a:solidFill>
                <a:latin typeface="맑은 고딕"/>
              </a:rPr>
              <a:t>•  무엇이 일어났는가</a:t>
            </a:r>
          </a:p>
          <a:p>
            <a:pPr algn="l">
              <a:spcAft>
                <a:spcPts val="800"/>
              </a:spcAft>
            </a:pPr>
            <a:r>
              <a:rPr sz="1600" b="0">
                <a:solidFill>
                  <a:srgbClr val="FFFFFF"/>
                </a:solidFill>
                <a:latin typeface="맑은 고딕"/>
              </a:rPr>
              <a:t>•  왜 복구할 수 없었는가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실측 중 실제로 일어난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재현하지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ORA-01623</a:t>
            </a:r>
            <a:r>
              <a:rPr sz="1700" b="0">
                <a:solidFill>
                  <a:srgbClr val="222222"/>
                </a:solidFill>
                <a:latin typeface="맑은 고딕"/>
              </a:rPr>
              <a:t>으로 그룹 삭제가 거부됐다</a:t>
            </a:r>
          </a:p>
          <a:p>
            <a:pPr algn="l">
              <a:spcAft>
                <a:spcPts val="1000"/>
              </a:spcAft>
            </a:pPr>
            <a:r>
              <a:rPr sz="1700" b="0">
                <a:solidFill>
                  <a:srgbClr val="222222"/>
                </a:solidFill>
                <a:latin typeface="맑은 고딕"/>
              </a:rPr>
              <a:t>•  그 직후 </a:t>
            </a:r>
            <a:r>
              <a:rPr sz="1700" b="0">
                <a:solidFill>
                  <a:srgbClr val="222222"/>
                </a:solidFill>
                <a:latin typeface="Consolas"/>
                <a:cs typeface="Consolas"/>
              </a:rPr>
              <a:t>rm -f</a:t>
            </a:r>
            <a:r>
              <a:rPr sz="1700" b="0">
                <a:solidFill>
                  <a:srgbClr val="222222"/>
                </a:solidFill>
                <a:latin typeface="맑은 고딕"/>
              </a:rPr>
              <a:t>로 CURRENT 리두 파일을 지웠다</a:t>
            </a:r>
          </a:p>
          <a:p>
            <a:pPr algn="l">
              <a:spcAft>
                <a:spcPts val="1000"/>
              </a:spcAft>
            </a:pPr>
            <a:r>
              <a:rPr sz="1700" b="0">
                <a:solidFill>
                  <a:srgbClr val="222222"/>
                </a:solidFill>
                <a:latin typeface="맑은 고딕"/>
              </a:rPr>
              <a:t>•  </a:t>
            </a:r>
            <a:r>
              <a:rPr sz="1700" b="1">
                <a:solidFill>
                  <a:srgbClr val="222222"/>
                </a:solidFill>
                <a:latin typeface="맑은 고딕"/>
              </a:rPr>
              <a:t>직후에는 아무 일도 일어나지 않았다</a:t>
            </a:r>
          </a:p>
          <a:p>
            <a:pPr algn="l">
              <a:spcAft>
                <a:spcPts val="1000"/>
              </a:spcAft>
            </a:pPr>
            <a:r>
              <a:rPr sz="1700" b="0">
                <a:solidFill>
                  <a:srgbClr val="222222"/>
                </a:solidFill>
                <a:latin typeface="맑은 고딕"/>
              </a:rPr>
              <a:t>•  다음 로그 전환에서 인스턴스가 죽었다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죽는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PMON이 인스턴스를 죽인다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ORA-27041: unable to open file</a:t>
            </a:r>
            <a:r>
              <a:rPr sz="1700" b="0">
                <a:solidFill>
                  <a:srgbClr val="222222"/>
                </a:solidFill>
                <a:latin typeface="맑은 고딕"/>
              </a:rPr>
              <a:t> (Linux Error 2)</a:t>
            </a:r>
          </a:p>
          <a:p>
            <a:pPr algn="l">
              <a:spcAft>
                <a:spcPts val="1000"/>
              </a:spcAft>
            </a:pPr>
            <a:r>
              <a:rPr sz="1700" b="0">
                <a:solidFill>
                  <a:srgbClr val="222222"/>
                </a:solidFill>
                <a:latin typeface="맑은 고딕"/>
              </a:rPr>
              <a:t>•  </a:t>
            </a:r>
            <a:r>
              <a:rPr sz="1700" b="0">
                <a:solidFill>
                  <a:srgbClr val="222222"/>
                </a:solidFill>
                <a:latin typeface="Consolas"/>
                <a:cs typeface="Consolas"/>
              </a:rPr>
              <a:t>ORA-00313: open failed for members of log group 8</a:t>
            </a:r>
          </a:p>
          <a:p>
            <a:pPr algn="l">
              <a:spcAft>
                <a:spcPts val="1000"/>
              </a:spcAft>
            </a:pPr>
            <a:r>
              <a:rPr sz="1700" b="0">
                <a:solidFill>
                  <a:srgbClr val="222222"/>
                </a:solidFill>
                <a:latin typeface="맑은 고딕"/>
              </a:rPr>
              <a:t>•  LG01 프로세스 사망</a:t>
            </a:r>
          </a:p>
          <a:p>
            <a:pPr algn="l">
              <a:spcAft>
                <a:spcPts val="1000"/>
              </a:spcAft>
            </a:pPr>
            <a:r>
              <a:rPr sz="1700" b="0">
                <a:solidFill>
                  <a:srgbClr val="222222"/>
                </a:solidFill>
                <a:latin typeface="맑은 고딕"/>
              </a:rPr>
              <a:t>•  </a:t>
            </a:r>
            <a:r>
              <a:rPr sz="1700" b="1">
                <a:solidFill>
                  <a:srgbClr val="222222"/>
                </a:solidFill>
                <a:latin typeface="맑은 고딕"/>
              </a:rPr>
              <a:t>PMON이 인스턴스를 종료</a:t>
            </a:r>
            <a:r>
              <a:rPr sz="1700" b="0">
                <a:solidFill>
                  <a:srgbClr val="222222"/>
                </a:solidFill>
                <a:latin typeface="맑은 고딕"/>
              </a:rPr>
              <a:t> → 세션에는 </a:t>
            </a:r>
            <a:r>
              <a:rPr sz="1700" b="0">
                <a:solidFill>
                  <a:srgbClr val="222222"/>
                </a:solidFill>
                <a:latin typeface="Consolas"/>
                <a:cs typeface="Consolas"/>
              </a:rPr>
              <a:t>ORA-03113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복구할 수 없었나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ASYNC의 대가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CLEAR UNARCHIVED LOGFILE</a:t>
            </a:r>
            <a:r>
              <a:rPr sz="1700" b="0">
                <a:solidFill>
                  <a:srgbClr val="222222"/>
                </a:solidFill>
                <a:latin typeface="맑은 고딕"/>
              </a:rPr>
              <a:t> → </a:t>
            </a:r>
            <a:r>
              <a:rPr sz="1700" b="0">
                <a:solidFill>
                  <a:srgbClr val="222222"/>
                </a:solidFill>
                <a:latin typeface="Consolas"/>
                <a:cs typeface="Consolas"/>
              </a:rPr>
              <a:t>ORA-01624</a:t>
            </a:r>
            <a:r>
              <a:rPr sz="1700" b="0">
                <a:solidFill>
                  <a:srgbClr val="222222"/>
                </a:solidFill>
                <a:latin typeface="맑은 고딕"/>
              </a:rPr>
              <a:t> (크래시 복구에 필요)</a:t>
            </a:r>
          </a:p>
          <a:p>
            <a:pPr algn="l">
              <a:spcAft>
                <a:spcPts val="1000"/>
              </a:spcAft>
            </a:pPr>
            <a:r>
              <a:rPr sz="1700" b="0">
                <a:solidFill>
                  <a:srgbClr val="222222"/>
                </a:solidFill>
                <a:latin typeface="맑은 고딕"/>
              </a:rPr>
              <a:t>•  Standby의 SRL을 가져와 적용 → 필요 SCN </a:t>
            </a:r>
            <a:r>
              <a:rPr sz="1700" b="1">
                <a:solidFill>
                  <a:srgbClr val="222222"/>
                </a:solidFill>
                <a:latin typeface="맑은 고딕"/>
              </a:rPr>
              <a:t>2513532 → 2513652 전진</a:t>
            </a:r>
          </a:p>
          <a:p>
            <a:pPr algn="l">
              <a:spcAft>
                <a:spcPts val="1000"/>
              </a:spcAft>
            </a:pPr>
            <a:r>
              <a:rPr sz="1700" b="0">
                <a:solidFill>
                  <a:srgbClr val="222222"/>
                </a:solidFill>
                <a:latin typeface="맑은 고딕"/>
              </a:rPr>
              <a:t>•  그래도 부족하다</a:t>
            </a:r>
          </a:p>
          <a:p>
            <a:pPr algn="l">
              <a:spcAft>
                <a:spcPts val="1000"/>
              </a:spcAft>
            </a:pPr>
            <a:r>
              <a:rPr sz="1700" b="0">
                <a:solidFill>
                  <a:srgbClr val="222222"/>
                </a:solidFill>
                <a:latin typeface="맑은 고딕"/>
              </a:rPr>
              <a:t>•  </a:t>
            </a:r>
            <a:r>
              <a:rPr sz="1700" b="1">
                <a:solidFill>
                  <a:srgbClr val="222222"/>
                </a:solidFill>
                <a:latin typeface="맑은 고딕"/>
              </a:rPr>
              <a:t>MAXIMUM PERFORMANCE = ASYNC</a:t>
            </a:r>
            <a:r>
              <a:rPr sz="1700" b="0">
                <a:solidFill>
                  <a:srgbClr val="222222"/>
                </a:solidFill>
                <a:latin typeface="맑은 고딕"/>
              </a:rPr>
              <a:t> — 보내지 못한 리두 꼬리가 있었다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교훈과 표준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mv는 되돌릴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① DB에서 먼저 제거</a:t>
            </a:r>
            <a:r>
              <a:rPr sz="1700" b="0">
                <a:solidFill>
                  <a:srgbClr val="222222"/>
                </a:solidFill>
                <a:latin typeface="맑은 고딕"/>
              </a:rPr>
              <a:t> — 실패하면 원인을 해결한다. 우회하지 않는다</a:t>
            </a:r>
          </a:p>
          <a:p>
            <a:pPr algn="l">
              <a:spcAft>
                <a:spcPts val="1000"/>
              </a:spcAft>
            </a:pPr>
            <a:r>
              <a:rPr sz="1700" b="0">
                <a:solidFill>
                  <a:srgbClr val="222222"/>
                </a:solidFill>
                <a:latin typeface="맑은 고딕"/>
              </a:rPr>
              <a:t>•  </a:t>
            </a:r>
            <a:r>
              <a:rPr sz="1700" b="1">
                <a:solidFill>
                  <a:srgbClr val="222222"/>
                </a:solidFill>
                <a:latin typeface="맑은 고딕"/>
              </a:rPr>
              <a:t>② 조회로 확인</a:t>
            </a:r>
            <a:r>
              <a:rPr sz="1700" b="0">
                <a:solidFill>
                  <a:srgbClr val="222222"/>
                </a:solidFill>
                <a:latin typeface="맑은 고딕"/>
              </a:rPr>
              <a:t> — </a:t>
            </a:r>
            <a:r>
              <a:rPr sz="1700" b="0">
                <a:solidFill>
                  <a:srgbClr val="222222"/>
                </a:solidFill>
                <a:latin typeface="Consolas"/>
                <a:cs typeface="Consolas"/>
              </a:rPr>
              <a:t>no rows selected</a:t>
            </a:r>
            <a:r>
              <a:rPr sz="1700" b="0">
                <a:solidFill>
                  <a:srgbClr val="222222"/>
                </a:solidFill>
                <a:latin typeface="맑은 고딕"/>
              </a:rPr>
              <a:t>를 눈으로 본다</a:t>
            </a:r>
          </a:p>
          <a:p>
            <a:pPr algn="l">
              <a:spcAft>
                <a:spcPts val="1000"/>
              </a:spcAft>
            </a:pPr>
            <a:r>
              <a:rPr sz="1700" b="0">
                <a:solidFill>
                  <a:srgbClr val="222222"/>
                </a:solidFill>
                <a:latin typeface="맑은 고딕"/>
              </a:rPr>
              <a:t>•  </a:t>
            </a:r>
            <a:r>
              <a:rPr sz="1700" b="1">
                <a:solidFill>
                  <a:srgbClr val="222222"/>
                </a:solidFill>
                <a:latin typeface="맑은 고딕"/>
              </a:rPr>
              <a:t>③ 파일은 </a:t>
            </a:r>
            <a:r>
              <a:rPr sz="1700" b="1">
                <a:solidFill>
                  <a:srgbClr val="222222"/>
                </a:solidFill>
                <a:latin typeface="Consolas"/>
                <a:cs typeface="Consolas"/>
              </a:rPr>
              <a:t>mv</a:t>
            </a:r>
            <a:r>
              <a:rPr sz="1700" b="1">
                <a:solidFill>
                  <a:srgbClr val="222222"/>
                </a:solidFill>
                <a:latin typeface="맑은 고딕"/>
              </a:rPr>
              <a:t>로 정리</a:t>
            </a:r>
            <a:r>
              <a:rPr sz="1700" b="0">
                <a:solidFill>
                  <a:srgbClr val="222222"/>
                </a:solidFill>
                <a:latin typeface="맑은 고딕"/>
              </a:rPr>
              <a:t> — 며칠 뒤 지운다</a:t>
            </a:r>
          </a:p>
          <a:p>
            <a:pPr algn="l">
              <a:spcAft>
                <a:spcPts val="1000"/>
              </a:spcAft>
            </a:pPr>
            <a:r>
              <a:rPr sz="1700" b="0">
                <a:solidFill>
                  <a:srgbClr val="222222"/>
                </a:solidFill>
                <a:latin typeface="맑은 고딕"/>
              </a:rPr>
              <a:t>•  실습 05의 </a:t>
            </a:r>
            <a:r>
              <a:rPr sz="1700" b="0">
                <a:solidFill>
                  <a:srgbClr val="222222"/>
                </a:solidFill>
                <a:latin typeface="Consolas"/>
                <a:cs typeface="Consolas"/>
              </a:rPr>
              <a:t>rmdir</a:t>
            </a:r>
            <a:r>
              <a:rPr sz="1700" b="0">
                <a:solidFill>
                  <a:srgbClr val="222222"/>
                </a:solidFill>
                <a:latin typeface="맑은 고딕"/>
              </a:rPr>
              <a:t>도 같은 원칙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자동과 수동의 경계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장으로 정리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자동 : 테이블스페이스 · 데이터 파일 · resize · PDB (디렉터리 포함)</a:t>
            </a:r>
          </a:p>
          <a:p>
            <a:pPr algn="l">
              <a:spcAft>
                <a:spcPts val="1000"/>
              </a:spcAft>
            </a:pPr>
            <a:r>
              <a:rPr sz="1700" b="0">
                <a:solidFill>
                  <a:srgbClr val="222222"/>
                </a:solidFill>
                <a:latin typeface="맑은 고딕"/>
              </a:rPr>
              <a:t>•  수동 : 온라인 리두 로그 그룹 · SRL</a:t>
            </a:r>
          </a:p>
          <a:p>
            <a:pPr algn="l">
              <a:spcAft>
                <a:spcPts val="1000"/>
              </a:spcAft>
            </a:pPr>
            <a:r>
              <a:rPr sz="1700" b="0">
                <a:solidFill>
                  <a:srgbClr val="222222"/>
                </a:solidFill>
                <a:latin typeface="맑은 고딕"/>
              </a:rPr>
              <a:t>•  불가 : Standby에서 직접 만들기 (ORA-16000)</a:t>
            </a:r>
          </a:p>
          <a:p>
            <a:pPr algn="l">
              <a:spcAft>
                <a:spcPts val="1000"/>
              </a:spcAft>
            </a:pPr>
            <a:r>
              <a:rPr sz="1700" b="0">
                <a:solidFill>
                  <a:srgbClr val="222222"/>
                </a:solidFill>
                <a:latin typeface="맑은 고딕"/>
              </a:rPr>
              <a:t>•  조건 : Standby의 </a:t>
            </a:r>
            <a:r>
              <a:rPr sz="1700" b="0">
                <a:solidFill>
                  <a:srgbClr val="222222"/>
                </a:solidFill>
                <a:latin typeface="Consolas"/>
                <a:cs typeface="Consolas"/>
              </a:rPr>
              <a:t>STANDBY_FILE_MANAGEMENT</a:t>
            </a:r>
            <a:r>
              <a:rPr sz="1700" b="0">
                <a:solidFill>
                  <a:srgbClr val="222222"/>
                </a:solidFill>
                <a:latin typeface="맑은 고딕"/>
              </a:rPr>
              <a:t> = AUTO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장이 남기는 습관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확인은 </a:t>
            </a:r>
            <a:r>
              <a:rPr sz="1700" b="1">
                <a:solidFill>
                  <a:srgbClr val="222222"/>
                </a:solidFill>
                <a:latin typeface="맑은 고딕"/>
              </a:rPr>
              <a:t>Standby에서</a:t>
            </a:r>
            <a:r>
              <a:rPr sz="1700" b="0">
                <a:solidFill>
                  <a:srgbClr val="222222"/>
                </a:solidFill>
                <a:latin typeface="맑은 고딕"/>
              </a:rPr>
              <a:t> 한다 — 파라미터도 상태도</a:t>
            </a:r>
          </a:p>
          <a:p>
            <a:pPr algn="l">
              <a:spcAft>
                <a:spcPts val="1000"/>
              </a:spcAft>
            </a:pPr>
            <a:r>
              <a:rPr sz="1700" b="0">
                <a:solidFill>
                  <a:srgbClr val="222222"/>
                </a:solidFill>
                <a:latin typeface="맑은 고딕"/>
              </a:rPr>
              <a:t>•  오류를 </a:t>
            </a:r>
            <a:r>
              <a:rPr sz="1700" b="1">
                <a:solidFill>
                  <a:srgbClr val="222222"/>
                </a:solidFill>
                <a:latin typeface="맑은 고딕"/>
              </a:rPr>
              <a:t>우회하지 않는다</a:t>
            </a:r>
            <a:r>
              <a:rPr sz="1700" b="0">
                <a:solidFill>
                  <a:srgbClr val="222222"/>
                </a:solidFill>
                <a:latin typeface="맑은 고딕"/>
              </a:rPr>
              <a:t> — 오류는 위험 신호다</a:t>
            </a:r>
          </a:p>
          <a:p>
            <a:pPr algn="l">
              <a:spcAft>
                <a:spcPts val="1000"/>
              </a:spcAft>
            </a:pPr>
            <a:r>
              <a:rPr sz="1700" b="0">
                <a:solidFill>
                  <a:srgbClr val="222222"/>
                </a:solidFill>
                <a:latin typeface="맑은 고딕"/>
              </a:rPr>
              <a:t>•  지울 때는 </a:t>
            </a:r>
            <a:r>
              <a:rPr sz="1700" b="1">
                <a:solidFill>
                  <a:srgbClr val="222222"/>
                </a:solidFill>
                <a:latin typeface="맑은 고딕"/>
              </a:rPr>
              <a:t>되돌릴 수 있게</a:t>
            </a:r>
            <a:r>
              <a:rPr sz="1700" b="0">
                <a:solidFill>
                  <a:srgbClr val="222222"/>
                </a:solidFill>
                <a:latin typeface="맑은 고딕"/>
              </a:rPr>
              <a:t> — </a:t>
            </a:r>
            <a:r>
              <a:rPr sz="1700" b="0">
                <a:solidFill>
                  <a:srgbClr val="222222"/>
                </a:solidFill>
                <a:latin typeface="Consolas"/>
                <a:cs typeface="Consolas"/>
              </a:rPr>
              <a:t>mv</a:t>
            </a:r>
            <a:r>
              <a:rPr sz="1700" b="0">
                <a:solidFill>
                  <a:srgbClr val="222222"/>
                </a:solidFill>
                <a:latin typeface="맑은 고딕"/>
              </a:rPr>
              <a:t>와 </a:t>
            </a:r>
            <a:r>
              <a:rPr sz="1700" b="0">
                <a:solidFill>
                  <a:srgbClr val="222222"/>
                </a:solidFill>
                <a:latin typeface="Consolas"/>
                <a:cs typeface="Consolas"/>
              </a:rPr>
              <a:t>rmdir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a:t>
            </a:r>
            <a:r>
              <a:rPr sz="1600" b="0">
                <a:solidFill>
                  <a:srgbClr val="222222"/>
                </a:solidFill>
                <a:latin typeface="Consolas"/>
                <a:cs typeface="Consolas"/>
              </a:rPr>
              <a:t>STANDBY_FILE_MANAGEMENT</a:t>
            </a:r>
            <a:r>
              <a:rPr sz="1600" b="0">
                <a:solidFill>
                  <a:srgbClr val="222222"/>
                </a:solidFill>
                <a:latin typeface="맑은 고딕"/>
              </a:rPr>
              <a:t>를 확인할 때 어느 쪽에서 조회해야 하며 그 이유는?</a:t>
            </a:r>
          </a:p>
          <a:p>
            <a:pPr algn="l">
              <a:spcAft>
                <a:spcPts val="1000"/>
              </a:spcAft>
            </a:pPr>
            <a:r>
              <a:rPr sz="1600" b="0">
                <a:solidFill>
                  <a:srgbClr val="222222"/>
                </a:solidFill>
                <a:latin typeface="맑은 고딕"/>
              </a:rPr>
              <a:t>•  Q2. Primary와 Standby의 파일 이름이 다른데도 문제가 없는 이유는?</a:t>
            </a:r>
          </a:p>
          <a:p>
            <a:pPr algn="l">
              <a:spcAft>
                <a:spcPts val="1000"/>
              </a:spcAft>
            </a:pPr>
            <a:r>
              <a:rPr sz="1600" b="0">
                <a:solidFill>
                  <a:srgbClr val="222222"/>
                </a:solidFill>
                <a:latin typeface="맑은 고딕"/>
              </a:rPr>
              <a:t>•  Q3. </a:t>
            </a:r>
            <a:r>
              <a:rPr sz="1600" b="0">
                <a:solidFill>
                  <a:srgbClr val="222222"/>
                </a:solidFill>
                <a:latin typeface="Consolas"/>
                <a:cs typeface="Consolas"/>
              </a:rPr>
              <a:t>UNNAMED00016</a:t>
            </a:r>
            <a:r>
              <a:rPr sz="1600" b="0">
                <a:solidFill>
                  <a:srgbClr val="222222"/>
                </a:solidFill>
                <a:latin typeface="맑은 고딕"/>
              </a:rPr>
              <a:t>이 만들어지는 조건과 ORA-1274가 ORA-1111로 바뀌는 것의 의미는?</a:t>
            </a:r>
          </a:p>
          <a:p>
            <a:pPr algn="l">
              <a:spcAft>
                <a:spcPts val="1000"/>
              </a:spcAft>
            </a:pPr>
            <a:r>
              <a:rPr sz="1600" b="0">
                <a:solidFill>
                  <a:srgbClr val="222222"/>
                </a:solidFill>
                <a:latin typeface="맑은 고딕"/>
              </a:rPr>
              <a:t>•  Q4. </a:t>
            </a:r>
            <a:r>
              <a:rPr sz="1600" b="0">
                <a:solidFill>
                  <a:srgbClr val="222222"/>
                </a:solidFill>
                <a:latin typeface="Consolas"/>
                <a:cs typeface="Consolas"/>
              </a:rPr>
              <a:t>AS NEW</a:t>
            </a:r>
            <a:r>
              <a:rPr sz="1600" b="0">
                <a:solidFill>
                  <a:srgbClr val="222222"/>
                </a:solidFill>
                <a:latin typeface="맑은 고딕"/>
              </a:rPr>
              <a:t>가 올바른 이름과 크기의 파일을 만들 수 있는 근거는?</a:t>
            </a:r>
          </a:p>
          <a:p>
            <a:pPr algn="l">
              <a:spcAft>
                <a:spcPts val="1000"/>
              </a:spcAft>
            </a:pPr>
            <a:r>
              <a:rPr sz="1600" b="0">
                <a:solidFill>
                  <a:srgbClr val="222222"/>
                </a:solidFill>
                <a:latin typeface="맑은 고딕"/>
              </a:rPr>
              <a:t>•  Q5. PDB를 지운 뒤 Standby에 남는 것은 무엇이며 어떻게 정리하는가?</a:t>
            </a:r>
          </a:p>
          <a:p>
            <a:pPr algn="l">
              <a:spcAft>
                <a:spcPts val="1000"/>
              </a:spcAft>
            </a:pPr>
            <a:r>
              <a:rPr sz="1600" b="0">
                <a:solidFill>
                  <a:srgbClr val="222222"/>
                </a:solidFill>
                <a:latin typeface="맑은 고딕"/>
              </a:rPr>
              <a:t>•  Q6. 온라인 리두 그룹 추가가 반영되지 않는 이유와, 그것이 언제 문제가 되는가?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STANDBY_FILE_MANAGEMENT</a:t>
            </a:r>
            <a:r>
              <a:rPr sz="1600" b="0">
                <a:solidFill>
                  <a:srgbClr val="222222"/>
                </a:solidFill>
                <a:latin typeface="맑은 고딕"/>
              </a:rPr>
              <a:t>는 Standby 쪽 값이 동작을 결정한다. Primary에서 확인하고 안심하면 안 된다.</a:t>
            </a:r>
          </a:p>
          <a:p>
            <a:pPr algn="l">
              <a:spcAft>
                <a:spcPts val="1000"/>
              </a:spcAft>
            </a:pPr>
            <a:r>
              <a:rPr sz="1600" b="0">
                <a:solidFill>
                  <a:srgbClr val="222222"/>
                </a:solidFill>
                <a:latin typeface="맑은 고딕"/>
              </a:rPr>
              <a:t>•  AUTO이면 테이블스페이스 추가·삭제, 데이터 파일 추가, 크기 변경이 모두 자동 반영된다.</a:t>
            </a:r>
          </a:p>
          <a:p>
            <a:pPr algn="l">
              <a:spcAft>
                <a:spcPts val="1000"/>
              </a:spcAft>
            </a:pPr>
            <a:r>
              <a:rPr sz="1600" b="0">
                <a:solidFill>
                  <a:srgbClr val="222222"/>
                </a:solidFill>
                <a:latin typeface="맑은 고딕"/>
              </a:rPr>
              <a:t>•  비대칭 구성에서 이름은 각자 규칙을 따른다. Primary </a:t>
            </a:r>
            <a:r>
              <a:rPr sz="1600" b="0">
                <a:solidFill>
                  <a:srgbClr val="222222"/>
                </a:solidFill>
                <a:latin typeface="Consolas"/>
                <a:cs typeface="Consolas"/>
              </a:rPr>
              <a:t>dg_ts1_01.dbf</a:t>
            </a:r>
            <a:r>
              <a:rPr sz="1600" b="0">
                <a:solidFill>
                  <a:srgbClr val="222222"/>
                </a:solidFill>
                <a:latin typeface="맑은 고딕"/>
              </a:rPr>
              <a:t> / Standby </a:t>
            </a:r>
            <a:r>
              <a:rPr sz="1600" b="0">
                <a:solidFill>
                  <a:srgbClr val="222222"/>
                </a:solidFill>
                <a:latin typeface="Consolas"/>
                <a:cs typeface="Consolas"/>
              </a:rPr>
              <a:t>o1_mf_dg_ts1_o8z7v7lh_.dbf</a:t>
            </a:r>
            <a:r>
              <a:rPr sz="1600" b="0">
                <a:solidFill>
                  <a:srgbClr val="222222"/>
                </a:solidFill>
                <a:latin typeface="맑은 고딕"/>
              </a:rPr>
              <a:t>.</a:t>
            </a:r>
          </a:p>
          <a:p>
            <a:pPr algn="l">
              <a:spcAft>
                <a:spcPts val="1000"/>
              </a:spcAft>
            </a:pPr>
            <a:r>
              <a:rPr sz="1600" b="0">
                <a:solidFill>
                  <a:srgbClr val="222222"/>
                </a:solidFill>
                <a:latin typeface="맑은 고딕"/>
              </a:rPr>
              <a:t>•  대응 관계를 유지하는 것은 이름이 아니라 파일 번호다. 실측에서 양쪽 모두 14번이었다.</a:t>
            </a:r>
          </a:p>
          <a:p>
            <a:pPr algn="l">
              <a:spcAft>
                <a:spcPts val="1000"/>
              </a:spcAft>
            </a:pPr>
            <a:r>
              <a:rPr sz="1600" b="0">
                <a:solidFill>
                  <a:srgbClr val="222222"/>
                </a:solidFill>
                <a:latin typeface="맑은 고딕"/>
              </a:rPr>
              <a:t>•  Standby에서 직접 파일을 만들 수 없다 — ORA-16000. Standby의 파일은 리두를 통해서만 생긴다.</a:t>
            </a:r>
          </a:p>
          <a:p>
            <a:pPr algn="l">
              <a:spcAft>
                <a:spcPts val="1000"/>
              </a:spcAft>
            </a:pPr>
            <a:r>
              <a:rPr sz="1600" b="0">
                <a:solidFill>
                  <a:srgbClr val="222222"/>
                </a:solidFill>
                <a:latin typeface="맑은 고딕"/>
              </a:rPr>
              <a:t>•  MANUAL이면 </a:t>
            </a:r>
            <a:r>
              <a:rPr sz="1600" b="0">
                <a:solidFill>
                  <a:srgbClr val="222222"/>
                </a:solidFill>
                <a:latin typeface="Consolas"/>
                <a:cs typeface="Consolas"/>
              </a:rPr>
              <a:t>$ORACLE_HOME/dbs/UNNAMED00016</a:t>
            </a:r>
            <a:r>
              <a:rPr sz="1600" b="0">
                <a:solidFill>
                  <a:srgbClr val="222222"/>
                </a:solidFill>
                <a:latin typeface="맑은 고딕"/>
              </a:rPr>
              <a:t>(0바이트)이 만들어지고 MRP가 죽는다. 오류는 </a:t>
            </a:r>
            <a:r>
              <a:rPr sz="1600" b="1">
                <a:solidFill>
                  <a:srgbClr val="222222"/>
                </a:solidFill>
                <a:latin typeface="맑은 고딕"/>
              </a:rPr>
              <a:t>ORA-1274</a:t>
            </a:r>
            <a:r>
              <a:rPr sz="1600" b="0">
                <a:solidFill>
                  <a:srgbClr val="222222"/>
                </a:solidFill>
                <a:latin typeface="맑은 고딕"/>
              </a:rPr>
              <a:t>.</a:t>
            </a:r>
          </a:p>
          <a:p>
            <a:pPr algn="l">
              <a:spcAft>
                <a:spcPts val="1000"/>
              </a:spcAft>
            </a:pPr>
            <a:r>
              <a:rPr sz="1600" b="0">
                <a:solidFill>
                  <a:srgbClr val="222222"/>
                </a:solidFill>
                <a:latin typeface="맑은 고딕"/>
              </a:rPr>
              <a:t>•  Primary 쪽에는 아무 신호가 없다. 목적지는 계속 VALID. 전송은 정상이고 적용만 안 되기 때문이다.</a:t>
            </a:r>
          </a:p>
          <a:p>
            <a:pPr algn="l">
              <a:spcAft>
                <a:spcPts val="1000"/>
              </a:spcAft>
            </a:pPr>
            <a:r>
              <a:rPr sz="1600" b="0">
                <a:solidFill>
                  <a:srgbClr val="222222"/>
                </a:solidFill>
                <a:latin typeface="맑은 고딕"/>
              </a:rPr>
              <a:t>•  AUTO로 되돌려도 저절로 고쳐지지 않는다. 오류가 </a:t>
            </a:r>
            <a:r>
              <a:rPr sz="1600" b="1">
                <a:solidFill>
                  <a:srgbClr val="222222"/>
                </a:solidFill>
                <a:latin typeface="맑은 고딕"/>
              </a:rPr>
              <a:t>ORA-1111</a:t>
            </a:r>
            <a:r>
              <a:rPr sz="1600" b="0">
                <a:solidFill>
                  <a:srgbClr val="222222"/>
                </a:solidFill>
                <a:latin typeface="맑은 고딕"/>
              </a:rPr>
              <a:t>로 바뀔 뿐이다.</a:t>
            </a:r>
          </a:p>
          <a:p>
            <a:pPr algn="l">
              <a:spcAft>
                <a:spcPts val="1000"/>
              </a:spcAft>
            </a:pPr>
            <a:r>
              <a:rPr sz="1600" b="0">
                <a:solidFill>
                  <a:srgbClr val="222222"/>
                </a:solidFill>
                <a:latin typeface="맑은 고딕"/>
              </a:rPr>
              <a:t>•  증거는 </a:t>
            </a:r>
            <a:r>
              <a:rPr sz="1600" b="0">
                <a:solidFill>
                  <a:srgbClr val="222222"/>
                </a:solidFill>
                <a:latin typeface="Consolas"/>
                <a:cs typeface="Consolas"/>
              </a:rPr>
              <a:t>V$DATAFILE.STATUS=RECOVER</a:t>
            </a:r>
            <a:r>
              <a:rPr sz="1600" b="0">
                <a:solidFill>
                  <a:srgbClr val="222222"/>
                </a:solidFill>
                <a:latin typeface="맑은 고딕"/>
              </a:rPr>
              <a:t>와 </a:t>
            </a:r>
            <a:r>
              <a:rPr sz="1600" b="0">
                <a:solidFill>
                  <a:srgbClr val="222222"/>
                </a:solidFill>
                <a:latin typeface="Consolas"/>
                <a:cs typeface="Consolas"/>
              </a:rPr>
              <a:t>V$DATAFILE_HEADER.ERROR=FILE MISSING</a:t>
            </a:r>
            <a:r>
              <a:rPr sz="1600" b="0">
                <a:solidFill>
                  <a:srgbClr val="222222"/>
                </a:solidFill>
                <a:latin typeface="맑은 고딕"/>
              </a:rPr>
              <a:t>. </a:t>
            </a:r>
            <a:r>
              <a:rPr sz="1600" b="0">
                <a:solidFill>
                  <a:srgbClr val="222222"/>
                </a:solidFill>
                <a:latin typeface="Consolas"/>
                <a:cs typeface="Consolas"/>
              </a:rPr>
              <a:t>V$RECOVER_FILE</a:t>
            </a:r>
            <a:r>
              <a:rPr sz="1600" b="0">
                <a:solidFill>
                  <a:srgbClr val="222222"/>
                </a:solidFill>
                <a:latin typeface="맑은 고딕"/>
              </a:rPr>
              <a:t>은 비어 있다.</a:t>
            </a:r>
          </a:p>
          <a:p>
            <a:pPr algn="l">
              <a:spcAft>
                <a:spcPts val="1000"/>
              </a:spcAft>
            </a:pPr>
            <a:r>
              <a:rPr sz="1600" b="0">
                <a:solidFill>
                  <a:srgbClr val="222222"/>
                </a:solidFill>
                <a:latin typeface="맑은 고딕"/>
              </a:rPr>
              <a:t>•  복구는 MANUAL → </a:t>
            </a:r>
            <a:r>
              <a:rPr sz="1600" b="0">
                <a:solidFill>
                  <a:srgbClr val="222222"/>
                </a:solidFill>
                <a:latin typeface="Consolas"/>
                <a:cs typeface="Consolas"/>
              </a:rPr>
              <a:t>CREATE DATAFILE ... AS NEW</a:t>
            </a:r>
            <a:r>
              <a:rPr sz="1600" b="0">
                <a:solidFill>
                  <a:srgbClr val="222222"/>
                </a:solidFill>
                <a:latin typeface="맑은 고딕"/>
              </a:rPr>
              <a:t> → AUTO → MRP 재기동 순서다.</a:t>
            </a:r>
          </a:p>
          <a:p>
            <a:pPr algn="l">
              <a:spcAft>
                <a:spcPts val="1000"/>
              </a:spcAft>
            </a:pPr>
            <a:r>
              <a:rPr sz="1600" b="0">
                <a:solidFill>
                  <a:srgbClr val="222222"/>
                </a:solidFill>
                <a:latin typeface="맑은 고딕"/>
              </a:rPr>
              <a:t>•  </a:t>
            </a:r>
            <a:r>
              <a:rPr sz="1600" b="0">
                <a:solidFill>
                  <a:srgbClr val="222222"/>
                </a:solidFill>
                <a:latin typeface="Consolas"/>
                <a:cs typeface="Consolas"/>
              </a:rPr>
              <a:t>AS NEW</a:t>
            </a:r>
            <a:r>
              <a:rPr sz="1600" b="0">
                <a:solidFill>
                  <a:srgbClr val="222222"/>
                </a:solidFill>
                <a:latin typeface="맑은 고딕"/>
              </a:rPr>
              <a:t>는 리두에서 정보를 읽어 이름·크기를 맞춘다. 실측 </a:t>
            </a:r>
            <a:r>
              <a:rPr sz="1600" b="0">
                <a:solidFill>
                  <a:srgbClr val="222222"/>
                </a:solidFill>
                <a:latin typeface="Consolas"/>
                <a:cs typeface="Consolas"/>
              </a:rPr>
              <a:t>o1_mf_dg_ts2_o8z81hpl_.dbf</a:t>
            </a:r>
            <a:r>
              <a:rPr sz="1600" b="0">
                <a:solidFill>
                  <a:srgbClr val="222222"/>
                </a:solidFill>
                <a:latin typeface="맑은 고딕"/>
              </a:rPr>
              <a:t> 10MB.</a:t>
            </a:r>
          </a:p>
          <a:p>
            <a:pPr algn="l">
              <a:spcAft>
                <a:spcPts val="1000"/>
              </a:spcAft>
            </a:pPr>
            <a:r>
              <a:rPr sz="1600" b="0">
                <a:solidFill>
                  <a:srgbClr val="222222"/>
                </a:solidFill>
                <a:latin typeface="맑은 고딕"/>
              </a:rPr>
              <a:t>•  파일은 빈 껍데기로 만들어지고 내용은 리두가 채운다. 실측 100행이 그대로 보였다.</a:t>
            </a:r>
          </a:p>
          <a:p>
            <a:pPr algn="l">
              <a:spcAft>
                <a:spcPts val="1000"/>
              </a:spcAft>
            </a:pPr>
            <a:r>
              <a:rPr sz="1600" b="0">
                <a:solidFill>
                  <a:srgbClr val="222222"/>
                </a:solidFill>
                <a:latin typeface="맑은 고딕"/>
              </a:rPr>
              <a:t>•  PDB 추가는 완전 자동이다. GUID 디렉터리와 datafile 디렉터리까지 만들어지고 GUID는 양쪽이 같다.</a:t>
            </a:r>
          </a:p>
          <a:p>
            <a:pPr algn="l">
              <a:spcAft>
                <a:spcPts val="1000"/>
              </a:spcAft>
            </a:pPr>
            <a:r>
              <a:rPr sz="1600" b="0">
                <a:solidFill>
                  <a:srgbClr val="222222"/>
                </a:solidFill>
                <a:latin typeface="맑은 고딕"/>
              </a:rPr>
              <a:t>•  새 PDB는 Standby에서 MOUNTED다. 열지 않으면 </a:t>
            </a:r>
            <a:r>
              <a:rPr sz="1600" b="1">
                <a:solidFill>
                  <a:srgbClr val="222222"/>
                </a:solidFill>
                <a:latin typeface="맑은 고딕"/>
              </a:rPr>
              <a:t>ORA-01219</a:t>
            </a:r>
            <a:r>
              <a:rPr sz="1600" b="0">
                <a:solidFill>
                  <a:srgbClr val="222222"/>
                </a:solidFill>
                <a:latin typeface="맑은 고딕"/>
              </a:rPr>
              <a:t>. 기동 스크립트에 ALL 옵션을 넣는다.</a:t>
            </a:r>
          </a:p>
          <a:p>
            <a:pPr algn="l">
              <a:spcAft>
                <a:spcPts val="1000"/>
              </a:spcAft>
            </a:pPr>
            <a:r>
              <a:rPr sz="1600" b="0">
                <a:solidFill>
                  <a:srgbClr val="222222"/>
                </a:solidFill>
                <a:latin typeface="맑은 고딕"/>
              </a:rPr>
              <a:t>•  PDB를 지우면 파일은 사라지지만 </a:t>
            </a:r>
            <a:r>
              <a:rPr sz="1600" b="1">
                <a:solidFill>
                  <a:srgbClr val="222222"/>
                </a:solidFill>
                <a:latin typeface="맑은 고딕"/>
              </a:rPr>
              <a:t>빈 GUID 디렉터리는 남는다.</a:t>
            </a:r>
            <a:r>
              <a:rPr sz="1600" b="0">
                <a:solidFill>
                  <a:srgbClr val="222222"/>
                </a:solidFill>
                <a:latin typeface="맑은 고딕"/>
              </a:rPr>
              <a:t> </a:t>
            </a:r>
            <a:r>
              <a:rPr sz="1600" b="0">
                <a:solidFill>
                  <a:srgbClr val="222222"/>
                </a:solidFill>
                <a:latin typeface="Consolas"/>
                <a:cs typeface="Consolas"/>
              </a:rPr>
              <a:t>V$PDBS</a:t>
            </a:r>
            <a:r>
              <a:rPr sz="1600" b="0">
                <a:solidFill>
                  <a:srgbClr val="222222"/>
                </a:solidFill>
                <a:latin typeface="맑은 고딕"/>
              </a:rPr>
              <a:t>와 대조해 </a:t>
            </a:r>
            <a:r>
              <a:rPr sz="1600" b="0">
                <a:solidFill>
                  <a:srgbClr val="222222"/>
                </a:solidFill>
                <a:latin typeface="Consolas"/>
                <a:cs typeface="Consolas"/>
              </a:rPr>
              <a:t>rmdir</a:t>
            </a:r>
            <a:r>
              <a:rPr sz="1600" b="0">
                <a:solidFill>
                  <a:srgbClr val="222222"/>
                </a:solidFill>
                <a:latin typeface="맑은 고딕"/>
              </a:rPr>
              <a:t>로 정리한다.</a:t>
            </a:r>
          </a:p>
          <a:p>
            <a:pPr algn="l">
              <a:spcAft>
                <a:spcPts val="1000"/>
              </a:spcAft>
            </a:pPr>
            <a:r>
              <a:rPr sz="1600" b="0">
                <a:solidFill>
                  <a:srgbClr val="222222"/>
                </a:solidFill>
                <a:latin typeface="맑은 고딕"/>
              </a:rPr>
              <a:t>•  </a:t>
            </a:r>
            <a:r>
              <a:rPr sz="1600" b="1">
                <a:solidFill>
                  <a:srgbClr val="222222"/>
                </a:solidFill>
                <a:latin typeface="맑은 고딕"/>
              </a:rPr>
              <a:t>온라인 리두 로그 그룹 추가는 반영되지 않는다.</a:t>
            </a:r>
            <a:r>
              <a:rPr sz="1600" b="0">
                <a:solidFill>
                  <a:srgbClr val="222222"/>
                </a:solidFill>
                <a:latin typeface="맑은 고딕"/>
              </a:rPr>
              <a:t> 오류도 경고도 없다. 역할 전환 때 구성 차이로 드러난다.</a:t>
            </a:r>
          </a:p>
          <a:p>
            <a:pPr algn="l">
              <a:spcAft>
                <a:spcPts val="1000"/>
              </a:spcAft>
            </a:pPr>
            <a:r>
              <a:rPr sz="1600" b="0">
                <a:solidFill>
                  <a:srgbClr val="222222"/>
                </a:solidFill>
                <a:latin typeface="맑은 고딕"/>
              </a:rPr>
              <a:t>•  로그 작업 오류 넷: ORA-00301(파일 존재)·ORA-00359(그룹 없음)·ORA-01623(CURRENT)·ORA-00904(V$LOG에 TYPE 없음).</a:t>
            </a:r>
          </a:p>
          <a:p>
            <a:pPr algn="l">
              <a:spcAft>
                <a:spcPts val="1000"/>
              </a:spcAft>
            </a:pPr>
            <a:r>
              <a:rPr sz="1600" b="0">
                <a:solidFill>
                  <a:srgbClr val="222222"/>
                </a:solidFill>
                <a:latin typeface="맑은 고딕"/>
              </a:rPr>
              <a:t>•  CURRENT 리두 파일을 rm으로 지우면 다음 전환에서 ORA-27041 → ORA-00313 → LG01 사망 → PMON이 인스턴스를 종료한다.</a:t>
            </a:r>
          </a:p>
          <a:p>
            <a:pPr algn="l">
              <a:spcAft>
                <a:spcPts val="1000"/>
              </a:spcAft>
            </a:pPr>
            <a:r>
              <a:rPr sz="1600" b="0">
                <a:solidFill>
                  <a:srgbClr val="222222"/>
                </a:solidFill>
                <a:latin typeface="맑은 고딕"/>
              </a:rPr>
              <a:t>•  ASYNC 환경에서는 Standby에도 마지막 리두가 없다. 보호 모드가 복구 가능성을 결정한다.</a:t>
            </a:r>
          </a:p>
          <a:p>
            <a:pPr algn="l">
              <a:spcAft>
                <a:spcPts val="1000"/>
              </a:spcAft>
            </a:pPr>
            <a:r>
              <a:rPr sz="1600" b="0">
                <a:solidFill>
                  <a:srgbClr val="222222"/>
                </a:solidFill>
                <a:latin typeface="맑은 고딕"/>
              </a:rPr>
              <a:t>•  구조 변경 표준 순서: DB에서 제거 → 조회로 확인 → 파일은 </a:t>
            </a:r>
            <a:r>
              <a:rPr sz="1600" b="0">
                <a:solidFill>
                  <a:srgbClr val="222222"/>
                </a:solidFill>
                <a:latin typeface="Consolas"/>
                <a:cs typeface="Consolas"/>
              </a:rPr>
              <a:t>mv</a:t>
            </a:r>
            <a:r>
              <a:rPr sz="1600" b="0">
                <a:solidFill>
                  <a:srgbClr val="222222"/>
                </a:solidFill>
                <a:latin typeface="맑은 고딕"/>
              </a:rPr>
              <a:t>로 정리. </a:t>
            </a:r>
            <a:r>
              <a:rPr sz="1600" b="0">
                <a:solidFill>
                  <a:srgbClr val="222222"/>
                </a:solidFill>
                <a:latin typeface="Consolas"/>
                <a:cs typeface="Consolas"/>
              </a:rPr>
              <a:t>rm</a:t>
            </a:r>
            <a:r>
              <a:rPr sz="1600" b="0">
                <a:solidFill>
                  <a:srgbClr val="222222"/>
                </a:solidFill>
                <a:latin typeface="맑은 고딕"/>
              </a:rPr>
              <a:t>은 되돌릴 수 없다.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자동 반영 확인: 테이블스페이스 추가와 OMF 이름 생성을 확인한다. ORA-16000을 재현한다.</a:t>
            </a:r>
          </a:p>
          <a:p>
            <a:pPr algn="l">
              <a:spcAft>
                <a:spcPts val="1000"/>
              </a:spcAft>
            </a:pPr>
            <a:r>
              <a:rPr sz="1600" b="0">
                <a:solidFill>
                  <a:srgbClr val="222222"/>
                </a:solidFill>
                <a:latin typeface="맑은 고딕"/>
              </a:rPr>
              <a:t>•  실습 02 — 파일 추가와 크기 변경: 두 변경의 반영을 확인하고 대조 조회를 익힌다. ORA-00904를 재현한다.</a:t>
            </a:r>
          </a:p>
          <a:p>
            <a:pPr algn="l">
              <a:spcAft>
                <a:spcPts val="1000"/>
              </a:spcAft>
            </a:pPr>
            <a:r>
              <a:rPr sz="1600" b="0">
                <a:solidFill>
                  <a:srgbClr val="222222"/>
                </a:solidFill>
                <a:latin typeface="맑은 고딕"/>
              </a:rPr>
              <a:t>•  실습 03 — MANUAL 재현: </a:t>
            </a:r>
            <a:r>
              <a:rPr sz="1600" b="0">
                <a:solidFill>
                  <a:srgbClr val="222222"/>
                </a:solidFill>
                <a:latin typeface="Consolas"/>
                <a:cs typeface="Consolas"/>
              </a:rPr>
              <a:t>UNNAMED00016</a:t>
            </a:r>
            <a:r>
              <a:rPr sz="1600" b="0">
                <a:solidFill>
                  <a:srgbClr val="222222"/>
                </a:solidFill>
                <a:latin typeface="맑은 고딕"/>
              </a:rPr>
              <a:t>과 ORA-1274·ORA-1111을 재현하고 진단한다.</a:t>
            </a:r>
          </a:p>
          <a:p>
            <a:pPr algn="l">
              <a:spcAft>
                <a:spcPts val="1000"/>
              </a:spcAft>
            </a:pPr>
            <a:r>
              <a:rPr sz="1600" b="0">
                <a:solidFill>
                  <a:srgbClr val="222222"/>
                </a:solidFill>
                <a:latin typeface="맑은 고딕"/>
              </a:rPr>
              <a:t>•  실습 04 — UNNAMED 복구: </a:t>
            </a:r>
            <a:r>
              <a:rPr sz="1600" b="0">
                <a:solidFill>
                  <a:srgbClr val="222222"/>
                </a:solidFill>
                <a:latin typeface="Consolas"/>
                <a:cs typeface="Consolas"/>
              </a:rPr>
              <a:t>CREATE DATAFILE ... AS NEW</a:t>
            </a:r>
            <a:r>
              <a:rPr sz="1600" b="0">
                <a:solidFill>
                  <a:srgbClr val="222222"/>
                </a:solidFill>
                <a:latin typeface="맑은 고딕"/>
              </a:rPr>
              <a:t>로 복구하고 데이터까지 검증한다.</a:t>
            </a:r>
          </a:p>
          <a:p>
            <a:pPr algn="l">
              <a:spcAft>
                <a:spcPts val="1000"/>
              </a:spcAft>
            </a:pPr>
            <a:r>
              <a:rPr sz="1600" b="0">
                <a:solidFill>
                  <a:srgbClr val="222222"/>
                </a:solidFill>
                <a:latin typeface="맑은 고딕"/>
              </a:rPr>
              <a:t>•  실습 05 — PDB 추가와 삭제: GUID 디렉터리 자동 생성과 삭제 후 빈 디렉터리를 확인한다. ORA-01219를 재현한다.</a:t>
            </a:r>
          </a:p>
          <a:p>
            <a:pPr algn="l">
              <a:spcAft>
                <a:spcPts val="1000"/>
              </a:spcAft>
            </a:pPr>
            <a:r>
              <a:rPr sz="1600" b="0">
                <a:solidFill>
                  <a:srgbClr val="222222"/>
                </a:solidFill>
                <a:latin typeface="맑은 고딕"/>
              </a:rPr>
              <a:t>•  실습 06 — 반영되지 않는 것: 온라인 리두 그룹이 생기지 않음을 확인하고 로그 작업 오류 넷을 재현한다.</a:t>
            </a:r>
          </a:p>
          <a:p>
            <a:pPr algn="l">
              <a:spcAft>
                <a:spcPts val="1000"/>
              </a:spcAft>
            </a:pPr>
            <a:r>
              <a:rPr sz="1600" b="0">
                <a:solidFill>
                  <a:srgbClr val="222222"/>
                </a:solidFill>
                <a:latin typeface="맑은 고딕"/>
              </a:rPr>
              <a:t>•  실습 07 — 사고 분석: CURRENT 리두 파일 삭제 사고의 오류 스택과 복구 시도를 따라간다. </a:t>
            </a:r>
            <a:r>
              <a:rPr sz="1600" b="1">
                <a:solidFill>
                  <a:srgbClr val="222222"/>
                </a:solidFill>
                <a:latin typeface="맑은 고딕"/>
              </a:rPr>
              <a:t>재현하지 않는다.</a:t>
            </a:r>
          </a:p>
          <a:p>
            <a:pPr algn="l">
              <a:spcAft>
                <a:spcPts val="1000"/>
              </a:spcAft>
            </a:pPr>
            <a:r>
              <a:rPr sz="1600" b="0">
                <a:solidFill>
                  <a:srgbClr val="222222"/>
                </a:solidFill>
                <a:latin typeface="맑은 고딕"/>
              </a:rPr>
              <a:t>•  실습 03·05·06은 구성을 실제로 바꾼다. 각 실습 끝에서 반드시 원복한다. 실습 07은 읽기 자료다.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
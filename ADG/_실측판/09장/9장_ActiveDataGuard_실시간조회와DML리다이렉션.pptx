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배운 주의사항이 여기서도 그대로 적용됩니다. RECOVERY_MODE 는 목적지가 BAD PARAM 이면 실제로 적용 중이어도 IDLE 로 나옵니다. 그래서 두 열을 함께 조회해야 합니다. OPEN_MODE 의 WITH APPLY 라는 꼬리표는 MRP0 의 존재를 그대로 반영하므로, 이 한 문자열만으로도 적용 여부를 알 수 있습니다. 반대로 MRP 를 멈추면 READ ONLY 로 바뀝니다. 이 장에서 다룰 모든 기능이 이 상태를 전제로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 뷰는 현재 컨테이너만 보여 줍니다. SYS 로 접속하면 CDB$ROOT 이므로 루트의 통계만 조회되죠. 1장에서 겪은 것과 같은 상황입니다. 더 중요한 것은 값이 0이라는 사실입니다. 지금 이 순간 ADG 로 조회하고 있는데도 0입니다. 이 통계는 주기적으로 수집되고 Standby 에서는 갱신이 제한적이기 때문입니다. 따라서 이 값을 근거로 "쓰지 않았다"고 말할 수 없습니다. MOUNTED 로만 두면 옵션이 필요 없고, READ ONLY 로 여는 순간부터 옵션의 영역이라는 점을 절차서에 명시해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읽기를 분산하면 세션이 어느 쪽에 붙었는지 헷갈리는 일이 생깁니다. 접속 문자열만 믿지 말고 세션 스스로 확인하게 하는 편이 안전합니다. 특히 역할 전환이 있는 환경에서는 접속 대상이 그대로인데 역할이 바뀔 수 있으므로 이름이 아니라 역할을 기준으로 삼아야 합니다. 실측에서 boston 의 chicago_pdb1 서비스가 리스너에 status READY 로 등록되어 있었습니다. 8장에서 새 PDB 를 열어야 한다고 강조한 이유가 여기서도 확인됩니다. 열지 않으면 서비스가 없고 접속할 수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리두는 커밋 전에도 전송되고 적용됩니다. 그러므로 Standby 의 데이터 블록에는 커밋되지 않은 변경이 이미 반영되어 있을 수 있습니다. 그럼에도 조회 결과가 깨끗한 것은 UNDO 정보 역시 함께 적용되기 때문입니다. Primary 에서와 같은 읽기 일관성 규칙이 그대로 적용됩니다. 측정의 핵심은 세션을 살려 두는 것이었습니다. DBMS_SESSION.SLEEP 으로 40초를 붙잡아 두고 그 사이에 조회했습니다.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사례가 주는 교훈은 Data Guard 지식이 아니라 측정 방법에 관한 것입니다. 도구가 세션을 닫으면서 무엇을 하는지 알아야 합니다. 커밋·롤백·잠금 해제 같은 동작이 조용히 일어납니다. 상태를 유지해야 하는 시험은 그 상태를 만든 세션 안에서 처리해야 합니다. 실무에서도 같은 일이 일어납니다. "운영에서는 되는데 테스트에서는 안 된다"는 보고의 상당수가 테스트 방법의 차이에서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원인도 같습니다. 읽기 전용으로 열려 있기 때문입니다. STANDBY_FILE_MANAGEMENT 값과는 무관합니다. 그 파라미터는 리두를 적용하다 파일 추가 지시를 만났을 때의 동작을 정하는 것이고, 여기는 사람이 직접 쓰기를 시도한 경우입니다. 이 둘을 혼동하면 "AUTO 인데 왜 안 되지" 하는 잘못된 질문에 갇히게 됩니다. Standby 의 파일과 데이터는 오직 리두를 통해서만 바뀝니다.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정렬이 된다는 것이 ADG 활용의 핵심 근거입니다. 보고서와 집계처럼 정렬과 해시 조인이 많은 조회를 Standby 로 옮길 수 있습니다. 실측에서 임시 테이블스페이스가 실제로 쓰인 것을 V$TEMP_SPACE_HEADER 로 확인했습니다. GTT 에 대한 INSERT 가 되는 것도 같은 이유입니다. 데이터가 임시 테이블스페이스에 있고 영구 데이터 파일을 건드리지 않으니까요. 읽기 전용 데이터베이스에서 INSERT 가 성공하는 것이 처음에는 의아하지만 원리를 알면 자연스럽습니다.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시퀀스는 값을 주려면 어딘가에 "여기까지 썼다"를 기록해야 하는데 Standby 는 딕셔너리를 갱신할 수 없습니다. 그래서 Primary 가 쓰지 않을 범위를 통째로 떼어 메모리에서만 관리합니다. 실무적으로 중요한 결론이 나옵니다. 채번을 두 노드에서 나눠 하면 값에 큰 구멍이 생깁니다. 전표 번호처럼 연속성이 감사 요건이라면 문제가 되고, 단순히 유일한 값이 필요할 뿐이라면 괜찮습니다. 연속성이 요건인가 유일성이 요건인가를 구분하는 것이 판단의 출발점입니다.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 스택을 읽는 요령이 있습니다. ORA-06512 는 PL/SQL 호출 스택으로 어디를 지났는지만 알려 줍니다. 그것을 건너뛰고 그것이 아닌 번호를 찾으면 됩니다. 실측 스택에서는 맨 위 ORA-00604 가 형식이고 중간의 ORA-16000 이 내용이었습니다. AWR 은 대조적입니다. 전용 오류 번호가 있고 스택도 짧습니다. ORA-16000 까지 내려가기 전에 패키지가 먼저 상태를 확인하고 거부했기 때문입니다. 오류 번호와 스택 길이가 그 기능이 상태를 얼마나 일찍 점검하는지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기준의 가치는 새로운 상황도 판단할 수 있다는 것입니다. 표를 외우는 대신 "이 작업이 영구 파일이나 딕셔너리를 바꾸는가"를 물으면 됩니다. 예를 들어 DBMS_STATS 는 딕셔너리를 바꾸니 안 되고, PLAN_TABLE 은 GTT 니까 됩니다. 시퀀스는 애매해 보이지만 메모리에서만 관리하는 방식으로 우회했다는 것을 알면 이해됩니다. 읽기 분산 설계에서 조회를 분류할 때 이 기준이 그대로 판단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동작 방식은 이렇습니다. Standby 가 Primary 로 새 연결을 만들어 현재 세션의 사용자로 인증한 뒤 그 문장을 실행합니다. 커밋 후 그 변경이 리두를 통해 Standby 로 돌아옵니다. 즉 실제로 실행된 곳은 Primary 이고 Standby 는 중계 역할만 합니다. 목적은 편의성입니다. 조회는 Standby 로 보내고 싶은데 애플리케이션이 가끔 작은 갱신을 한다면 그 한두 문장 때문에 접속을 나누는 것이 번거롭죠. 리다이렉션이 그 간격을 메웁니다.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실습에서도 처음에 SYS 로 시도해 이 오류를 만났고 일반 사용자로 바꾸자 바로 동작했습니다. 오류 메시지가 원인을 알려 주지 않는다는 점도 문제입니다. "리다이렉션이 실패했다"고만 말할 뿐 왜인지는 말하지 않습니다. 접속 계정, Primary 접근 가능 여부, 대상 객체의 존재를 차례로 확인해야 합니다. 기능 검증은 실제 애플리케이션이 쓰는 계정과 같은 종류로 해야 한다는 교훈이 여기서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구분이 진단의 출발점입니다. DDL 에서 ORA-16397 이 아니라 ORA-16000 이 나오는 것이 특히 중요합니다. 리다이렉션을 켰는데도 아예 시도되지 않았다는 뜻이니까요. 이름 그대로 DML 리다이렉션이며 DDL 은 포함하지 않습니다. 점검 순서는 문장 종류 → 설정 → 계정 → 경로 → 객체입니다. 네 번째 단계는 3장의 진단이 그대로 쓰입니다. Standby 에서 Primary 로 tnsping 이 되는지 확인하는 것이죠.</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리다이렉션의 가치는 부하 분산이 아니라 접속 단순화에 있습니다. 이 점을 오해하면 기대한 효과를 얻지 못합니다. 수십만 행을 갱신하는 배치를 리다이렉션으로 돌리면 Standby 가 중계기 노릇을 하며 지연만 늘어납니다. 그런 작업은 처음부터 Primary 에 접속해 실행해야 합니다. 적합한 용도는 마지막 접속 시각 기록이나 조회 이력 한 줄 남기기 정도입니다. 그리고 트랜잭션이 Primary 에 존재하므로 Standby 세션이 문제를 겪는 동안 Primary 에 잠금이 남을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0은 "지연이 전혀 없어야 한다"는 뜻인데 비동기 전송에서는 사실상 항상 위반됩니다. LGWR 이 쓴 리두와 Standby 에 도착한 리두 사이에 아무리 짧아도 시차가 있으니까요. 0을 쓰려면 동기 전송이어야 합니다. 값은 정상 상태의 지연을 관찰해 정합니다. 실측에서 정상 상태는 0초였고 히스토그램의 대부분이 0초 구간이었으므로, 5초나 10초로 잡으면 평상시에는 거의 걸리지 않고 실제 문제가 있을 때만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구조의 장점은 Standby 가 정상일 때는 부하를 나누고 뒤처졌을 때만 Primary 로 간다는 것입니다. 평상시 대부분의 조회가 Standby 에서 처리되고 문제가 있을 때만 Primary 가 받습니다. 그리고 이 오류는 장애가 아니라 "지금 이 Standby 로는 요건을 못 맞춘다"는 통보이므로 재시도가 자연스러운 처리입니다. 실패 경로는 반드시 실제로 실패시켜 검증해야 합니다. 적용을 잠시 멈춰 지연을 만들고 재시도가 동작하는지 확인하십시오.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SYS 로 시험해 오판할 뻔한 기능이 두 개나 나왔습니다. DML 리다이렉션과 지연 한도입니다. 둘 다 일반 사용자로 바꾸자 바로 동작했습니다. 여기서 일반화할 수 있습니다. ADG 의 세션 기능들은 대체로 일반 사용자를 전제로 설계되어 있습니다. 기능 검증은 실제 애플리케이션 계정과 같은 종류로 해야 합니다. 그리고 설정만 거부되고 세션은 그대로 쓸 수 있다는 점도 기억해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2장에서 보호 모드를 성능과 보호의 교환으로 설명했습니다. 그때는 주로 평상시 성능과 Primary 정지 위험의 교환으로 다뤘죠. 그런데 8장에서는 사고 시 복구 가능성을 결정했고, 이 장에서는 조회 신선도 보장 장치의 사용 가능 여부를 결정합니다. 보호 모드는 한 가지가 아니라 여러 기능의 전제 조건입니다. 그러므로 보호 모드 선택은 성능 문제가 아니라 얼마만큼의 손실과 제약을 감수할 것인가의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표본이 대략 2초에 한 번 수집되므로 59회는 약 2분에 해당합니다. 3초부터 59초까지 구간마다 1~2회씩 있는 것은 적용을 재개해 따라잡는 동안 지연이 점진적으로 줄어든 흔적입니다. 59초에서 3초로 내려오면서 각 구간을 한두 번씩 스친 것이죠. 참고로 이 뷰가 기록하는 항목은 apply lag 하나뿐입니다. transport lag 히스토그램은 없으므로 전송 쪽 추세가 필요하면 별도로 수집해야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안정성을 한 숫자로 요약할 수 있다는 것이 이 지표의 가치입니다. 다만 누적값이라는 점을 반드시 기억해야 합니다. 한 번의 조회로는 "지금까지 전체가 어땠는가"만 알 수 있고 "최근 한 시간이 어땠는가"는 알 수 없습니다. 정기적으로 스냅샷을 떠 두고 비교하십시오. 그리고 재기동 직후의 낮은 값은 안정성의 증거가 아니라 표본이 적다는 뜻일 뿐입니다. 실측의 9.3 퍼센트도 실습 때문에 올라간 값이므로 기준으로 삼으면 안 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7장에서 배운 함정이 여기서도 적용됩니다. 적용이 멈추면 두 지연이 0으로 보이므로, 지연 값만 감시하는 모니터링은 이 상태를 정상으로 보고합니다. 그래서 MRP0 의 존재를 먼저 확인해야 합니다. 세 뷰를 조합하면 "적용이 도는데 뒤처져 있고 최근에도 그랬다" 같은 판단을 할 수 있습니다. 하나만으로는 불가능한 판단이죠. 7장의 통합 점검 조회에 히스토그램 비율을 더하면 이 세 관점이 한 화면에 들어옵니다.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부딪히는 것은 대개 "순수한 조회가 아닌 조회"입니다. 조회할 때마다 로그 테이블에 한 줄 넣는 구조라면 그 한 줄 때문에 전체가 Standby 에서 실패합니다. 중간 결과를 일반 테이블에 넣는 방식이라면 GTT 로 바꾸는 것이 선행 작업이 됩니다. 그래서 읽기 분산은 접속만 바꾸면 되는 일이 아니라, 어떤 조회를 옮길 수 있는지 먼저 분류하는 작업이 필요합니다. 9.4절의 기준이 그 분류의 근거가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습관 모두 이 장의 실측에서 검증됐습니다. 첫 번째는 DML 리다이렉션과 지연 한도에서 각각 ORA-16397 과 ORA-03174 를 만난 경험입니다. 둘 다 일반 사용자로 바꾸자 바로 동작했습니다. 두 번째는 읽기 일관성 측정에서 SQL*Plus 의 암묵적 커밋 때문에 잘못된 결론에 이를 뻔한 경험입니다. 세 번째는 같은 상황에서도 오류 번호가 다르면 처리 경로가 다르다는 것입니다. 기술적으로 어려운 내용은 없지만 습관이 되어 있어야 급할 때 제대로 판단할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재해 복구 능력은 조금도 줄지 않는다. USING CURRENT LOGFILE 도 그대로 쓸 수 있어 실시간 적용이며, 줄어드는 것은 조회뿐이다. ORA-01219 는 열려 있지 않다는 뜻이고 ORA-16000 은 읽기 전용이라 쓸 수 없다는 뜻이다. 오류 번호가 상태를 가른다. 고정 뷰는 조회되므로 Standby 에 SYSDBA 로 붙기만 하면 두 지연을 그대로 잴 수 있다. PDB 서비스는 사라져 그 서비스로 접속하면 ORA-12514 다. 리스너는 살아 있고 등록된 서비스만 사라진 것이다.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9.2.1 에서 정리한 표식 둘에 하나가 더 붙는 셈이고 이것은 Primary 에서 보이는 표식이다. WITH QUERY 가 있으면 그 Standby 는 열려 있고 곧 옵션을 쓰고 있다는 뜻이다. ARCHIVED_SEQ# 와 APPLIED_SEQ# 의 차이가 밀린 양이다. Broker 의 Real Time Query 도 ON 에서 OFF 로 바뀌지만 구성 상태는 양쪽 모두 SUCCESS 다. 닫는 것은 장애가 아니다. V$ARCHIVED_LOG 의 최댓값을 쓰면 RESETLOGS 이전 인큐네이션의 번호를 집는다. 실측에서 94 가 나왔는데 그때 현재 시퀀스는 12 였다.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Active Data Guard ①</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실시간 조회와 DML 리다이렉션</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되는 것·안 되는 것·그리고 SYS 라는 함정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ADG 가 켜져 있음을 두 표식으로 확인하고 사용 기록을 조회한다.</a:t>
            </a:r>
          </a:p>
          <a:p>
            <a:pPr algn="l">
              <a:spcAft>
                <a:spcPts val="1000"/>
              </a:spcAft>
            </a:pPr>
            <a:r>
              <a:rPr sz="1600" b="0">
                <a:solidFill>
                  <a:srgbClr val="222222"/>
                </a:solidFill>
                <a:latin typeface="맑은 고딕"/>
              </a:rPr>
              <a:t>•  Standby 조회가 커밋된 데이터만 보여 준다는 것을 정확한 방법으로 검증한다.</a:t>
            </a:r>
          </a:p>
          <a:p>
            <a:pPr algn="l">
              <a:spcAft>
                <a:spcPts val="1000"/>
              </a:spcAft>
            </a:pPr>
            <a:r>
              <a:rPr sz="1600" b="0">
                <a:solidFill>
                  <a:srgbClr val="222222"/>
                </a:solidFill>
                <a:latin typeface="맑은 고딕"/>
              </a:rPr>
              <a:t>•  Standby 에서 되는 작업과 안 되는 작업의 경계를 하나의 기준으로 설명한다.</a:t>
            </a:r>
          </a:p>
          <a:p>
            <a:pPr algn="l">
              <a:spcAft>
                <a:spcPts val="1000"/>
              </a:spcAft>
            </a:pPr>
            <a:r>
              <a:rPr sz="1600" b="0">
                <a:solidFill>
                  <a:srgbClr val="222222"/>
                </a:solidFill>
                <a:latin typeface="맑은 고딕"/>
              </a:rPr>
              <a:t>•  DML 리다이렉션을 세션 수준에서 켜고 동작 조건과 제약을 설명한다.</a:t>
            </a:r>
          </a:p>
          <a:p>
            <a:pPr algn="l">
              <a:spcAft>
                <a:spcPts val="1000"/>
              </a:spcAft>
            </a:pPr>
            <a:r>
              <a:rPr sz="1600" b="0">
                <a:solidFill>
                  <a:srgbClr val="222222"/>
                </a:solidFill>
                <a:latin typeface="맑은 고딕"/>
              </a:rPr>
              <a:t>•  </a:t>
            </a:r>
            <a:r>
              <a:rPr sz="1600" b="0">
                <a:solidFill>
                  <a:srgbClr val="222222"/>
                </a:solidFill>
                <a:latin typeface="Consolas"/>
                <a:cs typeface="Consolas"/>
              </a:rPr>
              <a:t>STANDBY_MAX_DATA_DELAY</a:t>
            </a:r>
            <a:r>
              <a:rPr sz="1600" b="0">
                <a:solidFill>
                  <a:srgbClr val="222222"/>
                </a:solidFill>
                <a:latin typeface="맑은 고딕"/>
              </a:rPr>
              <a:t> 로 허용 지연을 정하고 ORA-03172 를 해석한다.</a:t>
            </a:r>
          </a:p>
          <a:p>
            <a:pPr algn="l">
              <a:spcAft>
                <a:spcPts val="1000"/>
              </a:spcAft>
            </a:pPr>
            <a:r>
              <a:rPr sz="1600" b="0">
                <a:solidFill>
                  <a:srgbClr val="222222"/>
                </a:solidFill>
                <a:latin typeface="맑은 고딕"/>
              </a:rPr>
              <a:t>•  </a:t>
            </a:r>
            <a:r>
              <a:rPr sz="1600" b="0">
                <a:solidFill>
                  <a:srgbClr val="222222"/>
                </a:solidFill>
                <a:latin typeface="Consolas"/>
                <a:cs typeface="Consolas"/>
              </a:rPr>
              <a:t>SYNC WITH PRIMARY</a:t>
            </a:r>
            <a:r>
              <a:rPr sz="1600" b="0">
                <a:solidFill>
                  <a:srgbClr val="222222"/>
                </a:solidFill>
                <a:latin typeface="맑은 고딕"/>
              </a:rPr>
              <a:t> 가 실패하는 이유를 보호 모드와 연결해 설명한다.</a:t>
            </a:r>
          </a:p>
          <a:p>
            <a:pPr algn="l">
              <a:spcAft>
                <a:spcPts val="1000"/>
              </a:spcAft>
            </a:pPr>
            <a:r>
              <a:rPr sz="1600" b="0">
                <a:solidFill>
                  <a:srgbClr val="222222"/>
                </a:solidFill>
                <a:latin typeface="맑은 고딕"/>
              </a:rPr>
              <a:t>•  </a:t>
            </a:r>
            <a:r>
              <a:rPr sz="1600" b="0">
                <a:solidFill>
                  <a:srgbClr val="222222"/>
                </a:solidFill>
                <a:latin typeface="Consolas"/>
                <a:cs typeface="Consolas"/>
              </a:rPr>
              <a:t>V$STANDBY_EVENT_HISTOGRAM</a:t>
            </a:r>
            <a:r>
              <a:rPr sz="1600" b="0">
                <a:solidFill>
                  <a:srgbClr val="222222"/>
                </a:solidFill>
                <a:latin typeface="맑은 고딕"/>
              </a:rPr>
              <a:t> 으로 지연의 분포를 읽는다.</a:t>
            </a:r>
          </a:p>
          <a:p>
            <a:pPr algn="l">
              <a:spcAft>
                <a:spcPts val="1000"/>
              </a:spcAft>
            </a:pPr>
            <a:r>
              <a:rPr sz="1600" b="0">
                <a:solidFill>
                  <a:srgbClr val="222222"/>
                </a:solidFill>
                <a:latin typeface="맑은 고딕"/>
              </a:rPr>
              <a:t>•  옵션 없이 운영할 때 MOUNTED 로 두고 동기화를 확인하는 방법을 제시한다.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9.2  무엇이 켜져 있는가</a:t>
            </a:r>
          </a:p>
          <a:p>
            <a:pPr algn="l">
              <a:spcAft>
                <a:spcPts val="1000"/>
              </a:spcAft>
            </a:pPr>
            <a:r>
              <a:rPr sz="1600" b="0">
                <a:solidFill>
                  <a:srgbClr val="222222"/>
                </a:solidFill>
                <a:latin typeface="맑은 고딕"/>
              </a:rPr>
              <a:t>•  9.3  실시간 조회의 일관성</a:t>
            </a:r>
          </a:p>
          <a:p>
            <a:pPr algn="l">
              <a:spcAft>
                <a:spcPts val="1000"/>
              </a:spcAft>
            </a:pPr>
            <a:r>
              <a:rPr sz="1600" b="0">
                <a:solidFill>
                  <a:srgbClr val="222222"/>
                </a:solidFill>
                <a:latin typeface="맑은 고딕"/>
              </a:rPr>
              <a:t>•  9.4  되는 것과 안 되는 것</a:t>
            </a:r>
          </a:p>
          <a:p>
            <a:pPr algn="l">
              <a:spcAft>
                <a:spcPts val="1000"/>
              </a:spcAft>
            </a:pPr>
            <a:r>
              <a:rPr sz="1600" b="0">
                <a:solidFill>
                  <a:srgbClr val="222222"/>
                </a:solidFill>
                <a:latin typeface="맑은 고딕"/>
              </a:rPr>
              <a:t>•  9.5  DML 리다이렉션</a:t>
            </a:r>
          </a:p>
          <a:p>
            <a:pPr algn="l">
              <a:spcAft>
                <a:spcPts val="1000"/>
              </a:spcAft>
            </a:pPr>
            <a:r>
              <a:rPr sz="1600" b="0">
                <a:solidFill>
                  <a:srgbClr val="222222"/>
                </a:solidFill>
                <a:latin typeface="맑은 고딕"/>
              </a:rPr>
              <a:t>•  9.6  세션이 허용할 지연을 정한다</a:t>
            </a:r>
          </a:p>
          <a:p>
            <a:pPr algn="l">
              <a:spcAft>
                <a:spcPts val="1000"/>
              </a:spcAft>
            </a:pPr>
            <a:r>
              <a:rPr sz="1600" b="0">
                <a:solidFill>
                  <a:srgbClr val="222222"/>
                </a:solidFill>
                <a:latin typeface="맑은 고딕"/>
              </a:rPr>
              <a:t>•  9.7  지연의 분포 읽기</a:t>
            </a:r>
          </a:p>
          <a:p>
            <a:pPr algn="l">
              <a:spcAft>
                <a:spcPts val="1000"/>
              </a:spcAft>
            </a:pPr>
            <a:r>
              <a:rPr sz="1600" b="0">
                <a:solidFill>
                  <a:srgbClr val="222222"/>
                </a:solidFill>
                <a:latin typeface="맑은 고딕"/>
              </a:rPr>
              <a:t>•  9.8  옵션이 없다면 — MOUNTED 로 두고 확인한다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무엇이 켜져 있는가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표식 두 가지</a:t>
            </a:r>
          </a:p>
          <a:p>
            <a:pPr algn="l">
              <a:spcAft>
                <a:spcPts val="800"/>
              </a:spcAft>
            </a:pPr>
            <a:r>
              <a:rPr sz="1600" b="0">
                <a:solidFill>
                  <a:srgbClr val="FFFFFF"/>
                </a:solidFill>
                <a:latin typeface="맑은 고딕"/>
              </a:rPr>
              <a:t>•  사용 기록과 라이선스</a:t>
            </a:r>
          </a:p>
          <a:p>
            <a:pPr algn="l">
              <a:spcAft>
                <a:spcPts val="800"/>
              </a:spcAft>
            </a:pPr>
            <a:r>
              <a:rPr sz="1600" b="0">
                <a:solidFill>
                  <a:srgbClr val="FFFFFF"/>
                </a:solidFill>
                <a:latin typeface="맑은 고딕"/>
              </a:rPr>
              <a:t>•  어디에 붙었는지 확인하기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ADG 의 표식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값을 함께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OPEN_MODE</a:t>
            </a:r>
            <a:r>
              <a:rPr sz="1700" b="0">
                <a:solidFill>
                  <a:srgbClr val="222222"/>
                </a:solidFill>
                <a:latin typeface="맑은 고딕"/>
              </a:rPr>
              <a:t> = </a:t>
            </a:r>
            <a:r>
              <a:rPr sz="1700" b="1">
                <a:solidFill>
                  <a:srgbClr val="222222"/>
                </a:solidFill>
                <a:latin typeface="맑은 고딕"/>
              </a:rPr>
              <a:t>READ ONLY WITH APPLY</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 </a:t>
            </a:r>
            <a:r>
              <a:rPr sz="1700" b="1">
                <a:solidFill>
                  <a:srgbClr val="222222"/>
                </a:solidFill>
                <a:latin typeface="맑은 고딕"/>
              </a:rPr>
              <a:t>MANAGED REAL TIME APPLY</a:t>
            </a:r>
          </a:p>
          <a:p>
            <a:pPr algn="l">
              <a:spcAft>
                <a:spcPts val="1000"/>
              </a:spcAft>
            </a:pPr>
            <a:r>
              <a:rPr sz="1700" b="0">
                <a:solidFill>
                  <a:srgbClr val="222222"/>
                </a:solidFill>
                <a:latin typeface="맑은 고딕"/>
              </a:rPr>
              <a:t>•  두 번째는 목적지 </a:t>
            </a:r>
            <a:r>
              <a:rPr sz="1700" b="0">
                <a:solidFill>
                  <a:srgbClr val="222222"/>
                </a:solidFill>
                <a:latin typeface="Consolas"/>
                <a:cs typeface="Consolas"/>
              </a:rPr>
              <a:t>STATUS</a:t>
            </a:r>
            <a:r>
              <a:rPr sz="1700" b="0">
                <a:solidFill>
                  <a:srgbClr val="222222"/>
                </a:solidFill>
                <a:latin typeface="맑은 고딕"/>
              </a:rPr>
              <a:t> 가 VALID 일 때만 의미가 있다</a:t>
            </a:r>
          </a:p>
          <a:p>
            <a:pPr algn="l">
              <a:spcAft>
                <a:spcPts val="1000"/>
              </a:spcAft>
            </a:pPr>
            <a:r>
              <a:rPr sz="1700" b="0">
                <a:solidFill>
                  <a:srgbClr val="222222"/>
                </a:solidFill>
                <a:latin typeface="맑은 고딕"/>
              </a:rPr>
              <a:t>•  이 둘이 함께 확인되면 조회와 적용이 동시에 이뤄지고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 기록은 CDB_ 뷰에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그리고 0이어도 쓴 것이다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DBA_FEATURE_USAGE_STATISTICS</a:t>
            </a:r>
            <a:r>
              <a:rPr sz="1700" b="0">
                <a:solidFill>
                  <a:srgbClr val="222222"/>
                </a:solidFill>
                <a:latin typeface="맑은 고딕"/>
              </a:rPr>
              <a:t> → </a:t>
            </a:r>
            <a:r>
              <a:rPr sz="1700" b="1">
                <a:solidFill>
                  <a:srgbClr val="222222"/>
                </a:solidFill>
                <a:latin typeface="맑은 고딕"/>
              </a:rPr>
              <a:t>no rows selected</a:t>
            </a:r>
          </a:p>
          <a:p>
            <a:pPr algn="l">
              <a:spcAft>
                <a:spcPts val="1000"/>
              </a:spcAft>
            </a:pPr>
            <a:r>
              <a:rPr sz="1700" b="0">
                <a:solidFill>
                  <a:srgbClr val="222222"/>
                </a:solidFill>
                <a:latin typeface="맑은 고딕"/>
              </a:rPr>
              <a:t>•  </a:t>
            </a:r>
            <a:r>
              <a:rPr sz="1700" b="0">
                <a:solidFill>
                  <a:srgbClr val="222222"/>
                </a:solidFill>
                <a:latin typeface="Consolas"/>
                <a:cs typeface="Consolas"/>
              </a:rPr>
              <a:t>CDB_FEATURE_USAGE_STATISTICS</a:t>
            </a:r>
            <a:r>
              <a:rPr sz="1700" b="0">
                <a:solidFill>
                  <a:srgbClr val="222222"/>
                </a:solidFill>
                <a:latin typeface="맑은 고딕"/>
              </a:rPr>
              <a:t> CON_ID 3 에 두 항목</a:t>
            </a:r>
          </a:p>
          <a:p>
            <a:pPr algn="l">
              <a:spcAft>
                <a:spcPts val="1000"/>
              </a:spcAft>
            </a:pPr>
            <a:r>
              <a:rPr sz="1700" b="0">
                <a:solidFill>
                  <a:srgbClr val="222222"/>
                </a:solidFill>
                <a:latin typeface="맑은 고딕"/>
              </a:rPr>
              <a:t>•  그런데 </a:t>
            </a:r>
            <a:r>
              <a:rPr sz="1700" b="0">
                <a:solidFill>
                  <a:srgbClr val="222222"/>
                </a:solidFill>
                <a:latin typeface="Consolas"/>
                <a:cs typeface="Consolas"/>
              </a:rPr>
              <a:t>DETECTED_USAGES</a:t>
            </a:r>
            <a:r>
              <a:rPr sz="1700" b="0">
                <a:solidFill>
                  <a:srgbClr val="222222"/>
                </a:solidFill>
                <a:latin typeface="맑은 고딕"/>
              </a:rPr>
              <a:t> 가 </a:t>
            </a:r>
            <a:r>
              <a:rPr sz="1700" b="1">
                <a:solidFill>
                  <a:srgbClr val="222222"/>
                </a:solidFill>
                <a:latin typeface="맑은 고딕"/>
              </a:rPr>
              <a:t>0</a:t>
            </a:r>
          </a:p>
          <a:p>
            <a:pPr algn="l">
              <a:spcAft>
                <a:spcPts val="1000"/>
              </a:spcAft>
            </a:pPr>
            <a:r>
              <a:rPr sz="1700" b="0">
                <a:solidFill>
                  <a:srgbClr val="222222"/>
                </a:solidFill>
                <a:latin typeface="맑은 고딕"/>
              </a:rPr>
              <a:t>•  라이선스 판단은 </a:t>
            </a:r>
            <a:r>
              <a:rPr sz="1700" b="0">
                <a:solidFill>
                  <a:srgbClr val="222222"/>
                </a:solidFill>
                <a:latin typeface="Consolas"/>
                <a:cs typeface="Consolas"/>
              </a:rPr>
              <a:t>OPEN_MODE</a:t>
            </a:r>
            <a:r>
              <a:rPr sz="1700" b="0">
                <a:solidFill>
                  <a:srgbClr val="222222"/>
                </a:solidFill>
                <a:latin typeface="맑은 고딕"/>
              </a:rPr>
              <a:t> 로 하는 편이 정확하다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세션이 어디에 붙었는지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이름이 아니라 역할로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SYS_CONTEXT('userenv','db_unique_name')</a:t>
            </a:r>
            <a:r>
              <a:rPr sz="1700" b="0">
                <a:solidFill>
                  <a:srgbClr val="222222"/>
                </a:solidFill>
                <a:latin typeface="맑은 고딕"/>
              </a:rPr>
              <a:t> → boston</a:t>
            </a:r>
          </a:p>
          <a:p>
            <a:pPr algn="l">
              <a:spcAft>
                <a:spcPts val="1000"/>
              </a:spcAft>
            </a:pPr>
            <a:r>
              <a:rPr sz="1700" b="0">
                <a:solidFill>
                  <a:srgbClr val="222222"/>
                </a:solidFill>
                <a:latin typeface="맑은 고딕"/>
              </a:rPr>
              <a:t>•  </a:t>
            </a:r>
            <a:r>
              <a:rPr sz="1700" b="0">
                <a:solidFill>
                  <a:srgbClr val="222222"/>
                </a:solidFill>
                <a:latin typeface="Consolas"/>
                <a:cs typeface="Consolas"/>
              </a:rPr>
              <a:t>SYS_CONTEXT('userenv','database_role')</a:t>
            </a:r>
            <a:r>
              <a:rPr sz="1700" b="0">
                <a:solidFill>
                  <a:srgbClr val="222222"/>
                </a:solidFill>
                <a:latin typeface="맑은 고딕"/>
              </a:rPr>
              <a:t> → PHYSICAL STANDBY</a:t>
            </a:r>
          </a:p>
          <a:p>
            <a:pPr algn="l">
              <a:spcAft>
                <a:spcPts val="1000"/>
              </a:spcAft>
            </a:pPr>
            <a:r>
              <a:rPr sz="1700" b="0">
                <a:solidFill>
                  <a:srgbClr val="222222"/>
                </a:solidFill>
                <a:latin typeface="맑은 고딕"/>
              </a:rPr>
              <a:t>•  역할 전환 환경에서는 </a:t>
            </a:r>
            <a:r>
              <a:rPr sz="1700" b="1">
                <a:solidFill>
                  <a:srgbClr val="222222"/>
                </a:solidFill>
                <a:latin typeface="맑은 고딕"/>
              </a:rPr>
              <a:t>역할로 판단</a:t>
            </a:r>
            <a:r>
              <a:rPr sz="1700" b="0">
                <a:solidFill>
                  <a:srgbClr val="222222"/>
                </a:solidFill>
                <a:latin typeface="맑은 고딕"/>
              </a:rPr>
              <a:t>해야 한다</a:t>
            </a:r>
          </a:p>
          <a:p>
            <a:pPr algn="l">
              <a:spcAft>
                <a:spcPts val="1000"/>
              </a:spcAft>
            </a:pPr>
            <a:r>
              <a:rPr sz="1700" b="0">
                <a:solidFill>
                  <a:srgbClr val="222222"/>
                </a:solidFill>
                <a:latin typeface="맑은 고딕"/>
              </a:rPr>
              <a:t>•  Standby PDB 서비스는 PDB 가 열려 있어야 등록된다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실시간 조회의 일관성</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커밋된 것만 보인다</a:t>
            </a:r>
          </a:p>
          <a:p>
            <a:pPr algn="l">
              <a:spcAft>
                <a:spcPts val="800"/>
              </a:spcAft>
            </a:pPr>
            <a:r>
              <a:rPr sz="1600" b="0">
                <a:solidFill>
                  <a:srgbClr val="FFFFFF"/>
                </a:solidFill>
                <a:latin typeface="맑은 고딕"/>
              </a:rPr>
              <a:t>•  측정의 함정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미커밋 데이터는 보이지 않는다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올바른 측정</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가 40초간 커밋하지 않는 상태를 유지</a:t>
            </a:r>
          </a:p>
          <a:p>
            <a:pPr algn="l">
              <a:spcAft>
                <a:spcPts val="1000"/>
              </a:spcAft>
            </a:pPr>
            <a:r>
              <a:rPr sz="1700" b="0">
                <a:solidFill>
                  <a:srgbClr val="222222"/>
                </a:solidFill>
                <a:latin typeface="맑은 고딕"/>
              </a:rPr>
              <a:t>•  그 사이 Standby 조회 → </a:t>
            </a:r>
            <a:r>
              <a:rPr sz="1700" b="1">
                <a:solidFill>
                  <a:srgbClr val="222222"/>
                </a:solidFill>
                <a:latin typeface="맑은 고딕"/>
              </a:rPr>
              <a:t>커밋된 1건만</a:t>
            </a:r>
            <a:r>
              <a:rPr sz="1700" b="0">
                <a:solidFill>
                  <a:srgbClr val="222222"/>
                </a:solidFill>
                <a:latin typeface="맑은 고딕"/>
              </a:rPr>
              <a:t> 보인다</a:t>
            </a:r>
          </a:p>
          <a:p>
            <a:pPr algn="l">
              <a:spcAft>
                <a:spcPts val="1000"/>
              </a:spcAft>
            </a:pPr>
            <a:r>
              <a:rPr sz="1700" b="0">
                <a:solidFill>
                  <a:srgbClr val="222222"/>
                </a:solidFill>
                <a:latin typeface="맑은 고딕"/>
              </a:rPr>
              <a:t>•  롤백 후에도 결과가 같다</a:t>
            </a:r>
          </a:p>
          <a:p>
            <a:pPr algn="l">
              <a:spcAft>
                <a:spcPts val="1000"/>
              </a:spcAft>
            </a:pPr>
            <a:r>
              <a:rPr sz="1700" b="0">
                <a:solidFill>
                  <a:srgbClr val="222222"/>
                </a:solidFill>
                <a:latin typeface="맑은 고딕"/>
              </a:rPr>
              <a:t>•  리두와 함께 </a:t>
            </a:r>
            <a:r>
              <a:rPr sz="1700" b="1">
                <a:solidFill>
                  <a:srgbClr val="222222"/>
                </a:solidFill>
                <a:latin typeface="맑은 고딕"/>
              </a:rPr>
              <a:t>UNDO 도 적용</a:t>
            </a:r>
            <a:r>
              <a:rPr sz="1700" b="0">
                <a:solidFill>
                  <a:srgbClr val="222222"/>
                </a:solidFill>
                <a:latin typeface="맑은 고딕"/>
              </a:rPr>
              <a:t>되어 일관성이 유지된다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첫 측정은 틀렸다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SQL*Plus 의 암묵적 커밋</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INSERT</a:t>
            </a:r>
            <a:r>
              <a:rPr sz="1700" b="0">
                <a:solidFill>
                  <a:srgbClr val="222222"/>
                </a:solidFill>
                <a:latin typeface="맑은 고딕"/>
              </a:rPr>
              <a:t> 후 </a:t>
            </a:r>
            <a:r>
              <a:rPr sz="1700" b="0">
                <a:solidFill>
                  <a:srgbClr val="222222"/>
                </a:solidFill>
                <a:latin typeface="Consolas"/>
                <a:cs typeface="Consolas"/>
              </a:rPr>
              <a:t>COMMIT</a:t>
            </a:r>
            <a:r>
              <a:rPr sz="1700" b="0">
                <a:solidFill>
                  <a:srgbClr val="222222"/>
                </a:solidFill>
                <a:latin typeface="맑은 고딕"/>
              </a:rPr>
              <a:t> 없이 </a:t>
            </a:r>
            <a:r>
              <a:rPr sz="1700" b="0">
                <a:solidFill>
                  <a:srgbClr val="222222"/>
                </a:solidFill>
                <a:latin typeface="Consolas"/>
                <a:cs typeface="Consolas"/>
              </a:rPr>
              <a:t>EXIT</a:t>
            </a:r>
            <a:r>
              <a:rPr sz="1700" b="0">
                <a:solidFill>
                  <a:srgbClr val="222222"/>
                </a:solidFill>
                <a:latin typeface="맑은 고딕"/>
              </a:rPr>
              <a:t> → Standby 에서 </a:t>
            </a:r>
            <a:r>
              <a:rPr sz="1700" b="1">
                <a:solidFill>
                  <a:srgbClr val="222222"/>
                </a:solidFill>
                <a:latin typeface="맑은 고딕"/>
              </a:rPr>
              <a:t>보였다</a:t>
            </a:r>
          </a:p>
          <a:p>
            <a:pPr algn="l">
              <a:spcAft>
                <a:spcPts val="1000"/>
              </a:spcAft>
            </a:pPr>
            <a:r>
              <a:rPr sz="1700" b="0">
                <a:solidFill>
                  <a:srgbClr val="222222"/>
                </a:solidFill>
                <a:latin typeface="맑은 고딕"/>
              </a:rPr>
              <a:t>•  원인은 Data Guard 가 아니라 </a:t>
            </a:r>
            <a:r>
              <a:rPr sz="1700" b="1">
                <a:solidFill>
                  <a:srgbClr val="222222"/>
                </a:solidFill>
                <a:latin typeface="맑은 고딕"/>
              </a:rPr>
              <a:t>SQL*Plus</a:t>
            </a:r>
          </a:p>
          <a:p>
            <a:pPr algn="l">
              <a:spcAft>
                <a:spcPts val="1000"/>
              </a:spcAft>
            </a:pPr>
            <a:r>
              <a:rPr sz="1700" b="0">
                <a:solidFill>
                  <a:srgbClr val="222222"/>
                </a:solidFill>
                <a:latin typeface="맑은 고딕"/>
              </a:rPr>
              <a:t>•  정상 종료 시 암묵적으로 커밋한다 (비정상 종료는 롤백)</a:t>
            </a:r>
          </a:p>
          <a:p>
            <a:pPr algn="l">
              <a:spcAft>
                <a:spcPts val="1000"/>
              </a:spcAft>
            </a:pPr>
            <a:r>
              <a:rPr sz="1700" b="0">
                <a:solidFill>
                  <a:srgbClr val="222222"/>
                </a:solidFill>
                <a:latin typeface="맑은 고딕"/>
              </a:rPr>
              <a:t>•  </a:t>
            </a:r>
            <a:r>
              <a:rPr sz="1700" b="1">
                <a:solidFill>
                  <a:srgbClr val="222222"/>
                </a:solidFill>
                <a:latin typeface="맑은 고딕"/>
              </a:rPr>
              <a:t>"제품이 이상하다"보다 "내 측정이 이상하다"를 먼저 의심한다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되는 것과 안 되는 것</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쓰기는 막힌다</a:t>
            </a:r>
          </a:p>
          <a:p>
            <a:pPr algn="l">
              <a:spcAft>
                <a:spcPts val="800"/>
              </a:spcAft>
            </a:pPr>
            <a:r>
              <a:rPr sz="1600" b="0">
                <a:solidFill>
                  <a:srgbClr val="FFFFFF"/>
                </a:solidFill>
                <a:latin typeface="맑은 고딕"/>
              </a:rPr>
              <a:t>•  그런데 되는 것들</a:t>
            </a:r>
          </a:p>
          <a:p>
            <a:pPr algn="l">
              <a:spcAft>
                <a:spcPts val="800"/>
              </a:spcAft>
            </a:pPr>
            <a:r>
              <a:rPr sz="1600" b="0">
                <a:solidFill>
                  <a:srgbClr val="FFFFFF"/>
                </a:solidFill>
                <a:latin typeface="맑은 고딕"/>
              </a:rPr>
              <a:t>•  하나의 기준</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쓰기는 모두 ORA-16000</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형태가 같은 오류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INSERT</a:t>
            </a:r>
            <a:r>
              <a:rPr sz="1700" b="0">
                <a:solidFill>
                  <a:srgbClr val="222222"/>
                </a:solidFill>
                <a:latin typeface="맑은 고딕"/>
              </a:rPr>
              <a:t> → ORA-16000</a:t>
            </a:r>
          </a:p>
          <a:p>
            <a:pPr algn="l">
              <a:spcAft>
                <a:spcPts val="1000"/>
              </a:spcAft>
            </a:pPr>
            <a:r>
              <a:rPr sz="1700" b="0">
                <a:solidFill>
                  <a:srgbClr val="222222"/>
                </a:solidFill>
                <a:latin typeface="맑은 고딕"/>
              </a:rPr>
              <a:t>•  </a:t>
            </a:r>
            <a:r>
              <a:rPr sz="1700" b="0">
                <a:solidFill>
                  <a:srgbClr val="222222"/>
                </a:solidFill>
                <a:latin typeface="Consolas"/>
                <a:cs typeface="Consolas"/>
              </a:rPr>
              <a:t>UPDATE</a:t>
            </a:r>
            <a:r>
              <a:rPr sz="1700" b="0">
                <a:solidFill>
                  <a:srgbClr val="222222"/>
                </a:solidFill>
                <a:latin typeface="맑은 고딕"/>
              </a:rPr>
              <a:t> → ORA-16000</a:t>
            </a:r>
          </a:p>
          <a:p>
            <a:pPr algn="l">
              <a:spcAft>
                <a:spcPts val="1000"/>
              </a:spcAft>
            </a:pPr>
            <a:r>
              <a:rPr sz="1700" b="0">
                <a:solidFill>
                  <a:srgbClr val="222222"/>
                </a:solidFill>
                <a:latin typeface="맑은 고딕"/>
              </a:rPr>
              <a:t>•  </a:t>
            </a:r>
            <a:r>
              <a:rPr sz="1700" b="0">
                <a:solidFill>
                  <a:srgbClr val="222222"/>
                </a:solidFill>
                <a:latin typeface="Consolas"/>
                <a:cs typeface="Consolas"/>
              </a:rPr>
              <a:t>CREATE TABLE</a:t>
            </a:r>
            <a:r>
              <a:rPr sz="1700" b="0">
                <a:solidFill>
                  <a:srgbClr val="222222"/>
                </a:solidFill>
                <a:latin typeface="맑은 고딕"/>
              </a:rPr>
              <a:t> → ORA-16000</a:t>
            </a:r>
          </a:p>
          <a:p>
            <a:pPr algn="l">
              <a:spcAft>
                <a:spcPts val="1000"/>
              </a:spcAft>
            </a:pPr>
            <a:r>
              <a:rPr sz="1700" b="0">
                <a:solidFill>
                  <a:srgbClr val="222222"/>
                </a:solidFill>
                <a:latin typeface="맑은 고딕"/>
              </a:rPr>
              <a:t>•  8장에서 테이블스페이스를 만들려다 만난 것과 같다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그런데 이런 것들은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정렬</a:t>
            </a:r>
            <a:r>
              <a:rPr sz="1700" b="0">
                <a:solidFill>
                  <a:srgbClr val="222222"/>
                </a:solidFill>
                <a:latin typeface="맑은 고딕"/>
              </a:rPr>
              <a:t> — 7만 행 정렬 성공, TEMP 3MB씩 사용</a:t>
            </a:r>
          </a:p>
          <a:p>
            <a:pPr algn="l">
              <a:spcAft>
                <a:spcPts val="1000"/>
              </a:spcAft>
            </a:pPr>
            <a:r>
              <a:rPr sz="1700" b="0">
                <a:solidFill>
                  <a:srgbClr val="222222"/>
                </a:solidFill>
                <a:latin typeface="맑은 고딕"/>
              </a:rPr>
              <a:t>•  </a:t>
            </a:r>
            <a:r>
              <a:rPr sz="1700" b="1">
                <a:solidFill>
                  <a:srgbClr val="222222"/>
                </a:solidFill>
                <a:latin typeface="Consolas"/>
                <a:cs typeface="Consolas"/>
              </a:rPr>
              <a:t>EXPLAIN PLAN</a:t>
            </a:r>
            <a:r>
              <a:rPr sz="1700" b="0">
                <a:solidFill>
                  <a:srgbClr val="222222"/>
                </a:solidFill>
                <a:latin typeface="맑은 고딕"/>
              </a:rPr>
              <a:t> — </a:t>
            </a:r>
            <a:r>
              <a:rPr sz="1700" b="0">
                <a:solidFill>
                  <a:srgbClr val="222222"/>
                </a:solidFill>
                <a:latin typeface="Consolas"/>
                <a:cs typeface="Consolas"/>
              </a:rPr>
              <a:t>PLAN_TABLE</a:t>
            </a:r>
            <a:r>
              <a:rPr sz="1700" b="0">
                <a:solidFill>
                  <a:srgbClr val="222222"/>
                </a:solidFill>
                <a:latin typeface="맑은 고딕"/>
              </a:rPr>
              <a:t> 이 GTT 다</a:t>
            </a:r>
          </a:p>
          <a:p>
            <a:pPr algn="l">
              <a:spcAft>
                <a:spcPts val="1000"/>
              </a:spcAft>
            </a:pPr>
            <a:r>
              <a:rPr sz="1700" b="0">
                <a:solidFill>
                  <a:srgbClr val="222222"/>
                </a:solidFill>
                <a:latin typeface="맑은 고딕"/>
              </a:rPr>
              <a:t>•  </a:t>
            </a:r>
            <a:r>
              <a:rPr sz="1700" b="1">
                <a:solidFill>
                  <a:srgbClr val="222222"/>
                </a:solidFill>
                <a:latin typeface="맑은 고딕"/>
              </a:rPr>
              <a:t>GTT </a:t>
            </a:r>
            <a:r>
              <a:rPr sz="1700" b="1">
                <a:solidFill>
                  <a:srgbClr val="222222"/>
                </a:solidFill>
                <a:latin typeface="Consolas"/>
                <a:cs typeface="Consolas"/>
              </a:rPr>
              <a:t>INSERT</a:t>
            </a:r>
            <a:r>
              <a:rPr sz="1700" b="0">
                <a:solidFill>
                  <a:srgbClr val="222222"/>
                </a:solidFill>
                <a:latin typeface="맑은 고딕"/>
              </a:rPr>
              <a:t> — </a:t>
            </a:r>
            <a:r>
              <a:rPr sz="1700" b="0">
                <a:solidFill>
                  <a:srgbClr val="222222"/>
                </a:solidFill>
                <a:latin typeface="Consolas"/>
                <a:cs typeface="Consolas"/>
              </a:rPr>
              <a:t>TEMP_UNDO_ENABLED=FALSE</a:t>
            </a:r>
            <a:r>
              <a:rPr sz="1700" b="0">
                <a:solidFill>
                  <a:srgbClr val="222222"/>
                </a:solidFill>
                <a:latin typeface="맑은 고딕"/>
              </a:rPr>
              <a:t> 인데도 동작</a:t>
            </a:r>
          </a:p>
          <a:p>
            <a:pPr algn="l">
              <a:spcAft>
                <a:spcPts val="1000"/>
              </a:spcAft>
            </a:pPr>
            <a:r>
              <a:rPr sz="1700" b="0">
                <a:solidFill>
                  <a:srgbClr val="222222"/>
                </a:solidFill>
                <a:latin typeface="맑은 고딕"/>
              </a:rPr>
              <a:t>•  </a:t>
            </a:r>
            <a:r>
              <a:rPr sz="1700" b="1">
                <a:solidFill>
                  <a:srgbClr val="222222"/>
                </a:solidFill>
                <a:latin typeface="맑은 고딕"/>
              </a:rPr>
              <a:t>시퀀스 </a:t>
            </a:r>
            <a:r>
              <a:rPr sz="1700" b="1">
                <a:solidFill>
                  <a:srgbClr val="222222"/>
                </a:solidFill>
                <a:latin typeface="Consolas"/>
                <a:cs typeface="Consolas"/>
              </a:rPr>
              <a:t>NEXTVAL</a:t>
            </a:r>
            <a:r>
              <a:rPr sz="1700" b="0">
                <a:solidFill>
                  <a:srgbClr val="222222"/>
                </a:solidFill>
                <a:latin typeface="맑은 고딕"/>
              </a:rPr>
              <a:t> — 되지만 값이 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시퀀스는 값이 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 다음이 21</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에서 </a:t>
            </a:r>
            <a:r>
              <a:rPr sz="1700" b="0">
                <a:solidFill>
                  <a:srgbClr val="222222"/>
                </a:solidFill>
                <a:latin typeface="Consolas"/>
                <a:cs typeface="Consolas"/>
              </a:rPr>
              <a:t>NEXTVAL</a:t>
            </a:r>
            <a:r>
              <a:rPr sz="1700" b="0">
                <a:solidFill>
                  <a:srgbClr val="222222"/>
                </a:solidFill>
                <a:latin typeface="맑은 고딕"/>
              </a:rPr>
              <a:t> → </a:t>
            </a:r>
            <a:r>
              <a:rPr sz="1700" b="1">
                <a:solidFill>
                  <a:srgbClr val="222222"/>
                </a:solidFill>
                <a:latin typeface="맑은 고딕"/>
              </a:rPr>
              <a:t>1</a:t>
            </a:r>
          </a:p>
          <a:p>
            <a:pPr algn="l">
              <a:spcAft>
                <a:spcPts val="1000"/>
              </a:spcAft>
            </a:pPr>
            <a:r>
              <a:rPr sz="1700" b="0">
                <a:solidFill>
                  <a:srgbClr val="222222"/>
                </a:solidFill>
                <a:latin typeface="맑은 고딕"/>
              </a:rPr>
              <a:t>•  같은 시퀀스를 Standby 에서 → </a:t>
            </a:r>
            <a:r>
              <a:rPr sz="1700" b="1">
                <a:solidFill>
                  <a:srgbClr val="222222"/>
                </a:solidFill>
                <a:latin typeface="맑은 고딕"/>
              </a:rPr>
              <a:t>21</a:t>
            </a:r>
          </a:p>
          <a:p>
            <a:pPr algn="l">
              <a:spcAft>
                <a:spcPts val="1000"/>
              </a:spcAft>
            </a:pPr>
            <a:r>
              <a:rPr sz="1700" b="0">
                <a:solidFill>
                  <a:srgbClr val="222222"/>
                </a:solidFill>
                <a:latin typeface="맑은 고딕"/>
              </a:rPr>
              <a:t>•  딕셔너리를 못 쓰므로 별도 범위를 메모리에서 관리한다</a:t>
            </a:r>
          </a:p>
          <a:p>
            <a:pPr algn="l">
              <a:spcAft>
                <a:spcPts val="1000"/>
              </a:spcAft>
            </a:pPr>
            <a:r>
              <a:rPr sz="1700" b="0">
                <a:solidFill>
                  <a:srgbClr val="222222"/>
                </a:solidFill>
                <a:latin typeface="맑은 고딕"/>
              </a:rPr>
              <a:t>•  </a:t>
            </a:r>
            <a:r>
              <a:rPr sz="1700" b="1">
                <a:solidFill>
                  <a:srgbClr val="222222"/>
                </a:solidFill>
                <a:latin typeface="맑은 고딕"/>
              </a:rPr>
              <a:t>연속성이 요건이면 Standby 에서 쓰지 않는다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관리 작업은 막힌다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번호가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DBMS_STATS</a:t>
            </a:r>
            <a:r>
              <a:rPr sz="1700" b="0">
                <a:solidFill>
                  <a:srgbClr val="222222"/>
                </a:solidFill>
                <a:latin typeface="맑은 고딕"/>
              </a:rPr>
              <a:t> → 열 줄 넘는 스택, 안쪽에 </a:t>
            </a:r>
            <a:r>
              <a:rPr sz="1700" b="1">
                <a:solidFill>
                  <a:srgbClr val="222222"/>
                </a:solidFill>
                <a:latin typeface="맑은 고딕"/>
              </a:rPr>
              <a:t>ORA-16000</a:t>
            </a:r>
          </a:p>
          <a:p>
            <a:pPr algn="l">
              <a:spcAft>
                <a:spcPts val="1000"/>
              </a:spcAft>
            </a:pPr>
            <a:r>
              <a:rPr sz="1700" b="0">
                <a:solidFill>
                  <a:srgbClr val="222222"/>
                </a:solidFill>
                <a:latin typeface="맑은 고딕"/>
              </a:rPr>
              <a:t>•  AWR 스냅샷 → 전용 오류 </a:t>
            </a:r>
            <a:r>
              <a:rPr sz="1700" b="1">
                <a:solidFill>
                  <a:srgbClr val="222222"/>
                </a:solidFill>
                <a:latin typeface="맑은 고딕"/>
              </a:rPr>
              <a:t>ORA-13516</a:t>
            </a:r>
            <a:r>
              <a:rPr sz="1700" b="0">
                <a:solidFill>
                  <a:srgbClr val="222222"/>
                </a:solidFill>
                <a:latin typeface="맑은 고딕"/>
              </a:rPr>
              <a:t>, 스택이 짧다</a:t>
            </a:r>
          </a:p>
          <a:p>
            <a:pPr algn="l">
              <a:spcAft>
                <a:spcPts val="1000"/>
              </a:spcAft>
            </a:pPr>
            <a:r>
              <a:rPr sz="1700" b="0">
                <a:solidFill>
                  <a:srgbClr val="222222"/>
                </a:solidFill>
                <a:latin typeface="맑은 고딕"/>
              </a:rPr>
              <a:t>•  </a:t>
            </a:r>
            <a:r>
              <a:rPr sz="1700" b="0">
                <a:solidFill>
                  <a:srgbClr val="222222"/>
                </a:solidFill>
                <a:latin typeface="Consolas"/>
                <a:cs typeface="Consolas"/>
              </a:rPr>
              <a:t>V$</a:t>
            </a:r>
            <a:r>
              <a:rPr sz="1700" b="0">
                <a:solidFill>
                  <a:srgbClr val="222222"/>
                </a:solidFill>
                <a:latin typeface="맑은 고딕"/>
              </a:rPr>
              <a:t> 뷰 조회 → 문제없다</a:t>
            </a:r>
          </a:p>
          <a:p>
            <a:pPr algn="l">
              <a:spcAft>
                <a:spcPts val="1000"/>
              </a:spcAft>
            </a:pPr>
            <a:r>
              <a:rPr sz="1700" b="0">
                <a:solidFill>
                  <a:srgbClr val="222222"/>
                </a:solidFill>
                <a:latin typeface="맑은 고딕"/>
              </a:rPr>
              <a:t>•  </a:t>
            </a:r>
            <a:r>
              <a:rPr sz="1700" b="1">
                <a:solidFill>
                  <a:srgbClr val="222222"/>
                </a:solidFill>
                <a:latin typeface="맑은 고딕"/>
              </a:rPr>
              <a:t>"보는 것은 되고 남기는 것은 안 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경계를 가르는 하나의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표를 외우지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영구 데이터 파일이나 딕셔너리를 바꾸는가</a:t>
            </a:r>
          </a:p>
          <a:p>
            <a:pPr algn="l">
              <a:spcAft>
                <a:spcPts val="1000"/>
              </a:spcAft>
            </a:pPr>
            <a:r>
              <a:rPr sz="1700" b="0">
                <a:solidFill>
                  <a:srgbClr val="222222"/>
                </a:solidFill>
                <a:latin typeface="맑은 고딕"/>
              </a:rPr>
              <a:t>•  임시 세그먼트에서 끝나면 → 된다</a:t>
            </a:r>
          </a:p>
          <a:p>
            <a:pPr algn="l">
              <a:spcAft>
                <a:spcPts val="1000"/>
              </a:spcAft>
            </a:pPr>
            <a:r>
              <a:rPr sz="1700" b="0">
                <a:solidFill>
                  <a:srgbClr val="222222"/>
                </a:solidFill>
                <a:latin typeface="맑은 고딕"/>
              </a:rPr>
              <a:t>•  블록·UNDO·리두를 만들면 → ORA-16000</a:t>
            </a:r>
          </a:p>
          <a:p>
            <a:pPr algn="l">
              <a:spcAft>
                <a:spcPts val="1000"/>
              </a:spcAft>
            </a:pPr>
            <a:r>
              <a:rPr sz="1700" b="0">
                <a:solidFill>
                  <a:srgbClr val="222222"/>
                </a:solidFill>
                <a:latin typeface="맑은 고딕"/>
              </a:rPr>
              <a:t>•  딕셔너리까지 바꾸면 → ORA-16000 (DDL·통계)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DML 리다이렉션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동작 방식</a:t>
            </a:r>
          </a:p>
          <a:p>
            <a:pPr algn="l">
              <a:spcAft>
                <a:spcPts val="800"/>
              </a:spcAft>
            </a:pPr>
            <a:r>
              <a:rPr sz="1600" b="0">
                <a:solidFill>
                  <a:srgbClr val="FFFFFF"/>
                </a:solidFill>
                <a:latin typeface="맑은 고딕"/>
              </a:rPr>
              <a:t>•  SYS 라는 함정</a:t>
            </a:r>
          </a:p>
          <a:p>
            <a:pPr algn="l">
              <a:spcAft>
                <a:spcPts val="800"/>
              </a:spcAft>
            </a:pPr>
            <a:r>
              <a:rPr sz="1600" b="0">
                <a:solidFill>
                  <a:srgbClr val="FFFFFF"/>
                </a:solidFill>
                <a:latin typeface="맑은 고딕"/>
              </a:rPr>
              <a:t>•  비용과 용도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읽기 전용에서 INSERT 가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 의 기능</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SESSION ENABLE ADG_REDIRECT_DML</a:t>
            </a:r>
          </a:p>
          <a:p>
            <a:pPr algn="l">
              <a:spcAft>
                <a:spcPts val="1000"/>
              </a:spcAft>
            </a:pPr>
            <a:r>
              <a:rPr sz="1700" b="0">
                <a:solidFill>
                  <a:srgbClr val="222222"/>
                </a:solidFill>
                <a:latin typeface="맑은 고딕"/>
              </a:rPr>
              <a:t>•  일반 사용자로 </a:t>
            </a:r>
            <a:r>
              <a:rPr sz="1700" b="0">
                <a:solidFill>
                  <a:srgbClr val="222222"/>
                </a:solidFill>
                <a:latin typeface="Consolas"/>
                <a:cs typeface="Consolas"/>
              </a:rPr>
              <a:t>INSERT</a:t>
            </a:r>
            <a:r>
              <a:rPr sz="1700" b="0">
                <a:solidFill>
                  <a:srgbClr val="222222"/>
                </a:solidFill>
                <a:latin typeface="맑은 고딕"/>
              </a:rPr>
              <a:t> → </a:t>
            </a:r>
            <a:r>
              <a:rPr sz="1700" b="1">
                <a:solidFill>
                  <a:srgbClr val="222222"/>
                </a:solidFill>
                <a:latin typeface="맑은 고딕"/>
              </a:rPr>
              <a:t>1 row created</a:t>
            </a:r>
          </a:p>
          <a:p>
            <a:pPr algn="l">
              <a:spcAft>
                <a:spcPts val="1000"/>
              </a:spcAft>
            </a:pPr>
            <a:r>
              <a:rPr sz="1700" b="0">
                <a:solidFill>
                  <a:srgbClr val="222222"/>
                </a:solidFill>
                <a:latin typeface="맑은 고딕"/>
              </a:rPr>
              <a:t>•  같은 행이 </a:t>
            </a:r>
            <a:r>
              <a:rPr sz="1700" b="1">
                <a:solidFill>
                  <a:srgbClr val="222222"/>
                </a:solidFill>
                <a:latin typeface="맑은 고딕"/>
              </a:rPr>
              <a:t>Primary 에서도</a:t>
            </a:r>
            <a:r>
              <a:rPr sz="1700" b="0">
                <a:solidFill>
                  <a:srgbClr val="222222"/>
                </a:solidFill>
                <a:latin typeface="맑은 고딕"/>
              </a:rPr>
              <a:t> 조회된다</a:t>
            </a:r>
          </a:p>
          <a:p>
            <a:pPr algn="l">
              <a:spcAft>
                <a:spcPts val="1000"/>
              </a:spcAft>
            </a:pPr>
            <a:r>
              <a:rPr sz="1700" b="0">
                <a:solidFill>
                  <a:srgbClr val="222222"/>
                </a:solidFill>
                <a:latin typeface="맑은 고딕"/>
              </a:rPr>
              <a:t>•  </a:t>
            </a:r>
            <a:r>
              <a:rPr sz="1700" b="0">
                <a:solidFill>
                  <a:srgbClr val="222222"/>
                </a:solidFill>
                <a:latin typeface="Consolas"/>
                <a:cs typeface="Consolas"/>
              </a:rPr>
              <a:t>UPDATE</a:t>
            </a:r>
            <a:r>
              <a:rPr sz="1700" b="0">
                <a:solidFill>
                  <a:srgbClr val="222222"/>
                </a:solidFill>
                <a:latin typeface="맑은 고딕"/>
              </a:rPr>
              <a:t>·</a:t>
            </a:r>
            <a:r>
              <a:rPr sz="1700" b="0">
                <a:solidFill>
                  <a:srgbClr val="222222"/>
                </a:solidFill>
                <a:latin typeface="Consolas"/>
                <a:cs typeface="Consolas"/>
              </a:rPr>
              <a:t>DELETE</a:t>
            </a:r>
            <a:r>
              <a:rPr sz="1700" b="0">
                <a:solidFill>
                  <a:srgbClr val="222222"/>
                </a:solidFill>
                <a:latin typeface="맑은 고딕"/>
              </a:rPr>
              <a:t> 도 마찬가지</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SYS 로는 안 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ORA-16397</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세션 설정은 성공 (</a:t>
            </a:r>
            <a:r>
              <a:rPr sz="1700" b="0">
                <a:solidFill>
                  <a:srgbClr val="222222"/>
                </a:solidFill>
                <a:latin typeface="Consolas"/>
                <a:cs typeface="Consolas"/>
              </a:rPr>
              <a:t>Session altered.</a:t>
            </a:r>
            <a:r>
              <a:rPr sz="1700" b="0">
                <a:solidFill>
                  <a:srgbClr val="222222"/>
                </a:solidFill>
                <a:latin typeface="맑은 고딕"/>
              </a:rPr>
              <a:t>)</a:t>
            </a:r>
          </a:p>
          <a:p>
            <a:pPr algn="l">
              <a:spcAft>
                <a:spcPts val="1000"/>
              </a:spcAft>
            </a:pPr>
            <a:r>
              <a:rPr sz="1700" b="0">
                <a:solidFill>
                  <a:srgbClr val="222222"/>
                </a:solidFill>
                <a:latin typeface="맑은 고딕"/>
              </a:rPr>
              <a:t>•  실행에서 </a:t>
            </a:r>
            <a:r>
              <a:rPr sz="1700" b="1">
                <a:solidFill>
                  <a:srgbClr val="222222"/>
                </a:solidFill>
                <a:latin typeface="맑은 고딕"/>
              </a:rPr>
              <a:t>ORA-16397</a:t>
            </a:r>
          </a:p>
          <a:p>
            <a:pPr algn="l">
              <a:spcAft>
                <a:spcPts val="1000"/>
              </a:spcAft>
            </a:pPr>
            <a:r>
              <a:rPr sz="1700" b="0">
                <a:solidFill>
                  <a:srgbClr val="222222"/>
                </a:solidFill>
                <a:latin typeface="맑은 고딕"/>
              </a:rPr>
              <a:t>•  이유 : SYSDBA 접속은 재인증 경로가 없다</a:t>
            </a:r>
          </a:p>
          <a:p>
            <a:pPr algn="l">
              <a:spcAft>
                <a:spcPts val="1000"/>
              </a:spcAft>
            </a:pPr>
            <a:r>
              <a:rPr sz="1700" b="0">
                <a:solidFill>
                  <a:srgbClr val="222222"/>
                </a:solidFill>
                <a:latin typeface="맑은 고딕"/>
              </a:rPr>
              <a:t>•  </a:t>
            </a:r>
            <a:r>
              <a:rPr sz="1700" b="1">
                <a:solidFill>
                  <a:srgbClr val="222222"/>
                </a:solidFill>
                <a:latin typeface="맑은 고딕"/>
              </a:rPr>
              <a:t>관리자 계정으로 시험하면 기능이 없다고 오판한다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번호가 경로를 알려 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16000 대 16397</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리다이렉션 꺼짐 + DML → </a:t>
            </a:r>
            <a:r>
              <a:rPr sz="1700" b="1">
                <a:solidFill>
                  <a:srgbClr val="222222"/>
                </a:solidFill>
                <a:latin typeface="맑은 고딕"/>
              </a:rPr>
              <a:t>ORA-16000</a:t>
            </a:r>
            <a:r>
              <a:rPr sz="1700" b="0">
                <a:solidFill>
                  <a:srgbClr val="222222"/>
                </a:solidFill>
                <a:latin typeface="맑은 고딕"/>
              </a:rPr>
              <a:t> (시도하지 않았다)</a:t>
            </a:r>
          </a:p>
          <a:p>
            <a:pPr algn="l">
              <a:spcAft>
                <a:spcPts val="1000"/>
              </a:spcAft>
            </a:pPr>
            <a:r>
              <a:rPr sz="1700" b="0">
                <a:solidFill>
                  <a:srgbClr val="222222"/>
                </a:solidFill>
                <a:latin typeface="맑은 고딕"/>
              </a:rPr>
              <a:t>•  리다이렉션 켜짐 + DDL → </a:t>
            </a:r>
            <a:r>
              <a:rPr sz="1700" b="1">
                <a:solidFill>
                  <a:srgbClr val="222222"/>
                </a:solidFill>
                <a:latin typeface="맑은 고딕"/>
              </a:rPr>
              <a:t>ORA-16000</a:t>
            </a:r>
            <a:r>
              <a:rPr sz="1700" b="0">
                <a:solidFill>
                  <a:srgbClr val="222222"/>
                </a:solidFill>
                <a:latin typeface="맑은 고딕"/>
              </a:rPr>
              <a:t> (대상이 아니다)</a:t>
            </a:r>
          </a:p>
          <a:p>
            <a:pPr algn="l">
              <a:spcAft>
                <a:spcPts val="1000"/>
              </a:spcAft>
            </a:pPr>
            <a:r>
              <a:rPr sz="1700" b="0">
                <a:solidFill>
                  <a:srgbClr val="222222"/>
                </a:solidFill>
                <a:latin typeface="맑은 고딕"/>
              </a:rPr>
              <a:t>•  리다이렉션 켜짐 + DML + SYS → </a:t>
            </a:r>
            <a:r>
              <a:rPr sz="1700" b="1">
                <a:solidFill>
                  <a:srgbClr val="222222"/>
                </a:solidFill>
                <a:latin typeface="맑은 고딕"/>
              </a:rPr>
              <a:t>ORA-16397</a:t>
            </a:r>
            <a:r>
              <a:rPr sz="1700" b="0">
                <a:solidFill>
                  <a:srgbClr val="222222"/>
                </a:solidFill>
                <a:latin typeface="맑은 고딕"/>
              </a:rPr>
              <a:t> (시도했다가 실패)</a:t>
            </a:r>
          </a:p>
          <a:p>
            <a:pPr algn="l">
              <a:spcAft>
                <a:spcPts val="1000"/>
              </a:spcAft>
            </a:pPr>
            <a:r>
              <a:rPr sz="1700" b="0">
                <a:solidFill>
                  <a:srgbClr val="222222"/>
                </a:solidFill>
                <a:latin typeface="맑은 고딕"/>
              </a:rPr>
              <a:t>•  ORA-16000 이면 설정·대상을, ORA-16397 이면 접속·경로를 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비용을 이해한다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부하 분산이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문장 하나가 </a:t>
            </a:r>
            <a:r>
              <a:rPr sz="1700" b="1">
                <a:solidFill>
                  <a:srgbClr val="222222"/>
                </a:solidFill>
                <a:latin typeface="맑은 고딕"/>
              </a:rPr>
              <a:t>두 번의 네트워크 왕복</a:t>
            </a:r>
          </a:p>
          <a:p>
            <a:pPr algn="l">
              <a:spcAft>
                <a:spcPts val="1000"/>
              </a:spcAft>
            </a:pPr>
            <a:r>
              <a:rPr sz="1700" b="0">
                <a:solidFill>
                  <a:srgbClr val="222222"/>
                </a:solidFill>
                <a:latin typeface="맑은 고딕"/>
              </a:rPr>
              <a:t>•  실행은 결국 </a:t>
            </a:r>
            <a:r>
              <a:rPr sz="1700" b="1">
                <a:solidFill>
                  <a:srgbClr val="222222"/>
                </a:solidFill>
                <a:latin typeface="맑은 고딕"/>
              </a:rPr>
              <a:t>Primary</a:t>
            </a:r>
            <a:r>
              <a:rPr sz="1700" b="0">
                <a:solidFill>
                  <a:srgbClr val="222222"/>
                </a:solidFill>
                <a:latin typeface="맑은 고딕"/>
              </a:rPr>
              <a:t> 에서 일어난다 — Primary 부담은 줄지 않는다</a:t>
            </a:r>
          </a:p>
          <a:p>
            <a:pPr algn="l">
              <a:spcAft>
                <a:spcPts val="1000"/>
              </a:spcAft>
            </a:pPr>
            <a:r>
              <a:rPr sz="1700" b="0">
                <a:solidFill>
                  <a:srgbClr val="222222"/>
                </a:solidFill>
                <a:latin typeface="맑은 고딕"/>
              </a:rPr>
              <a:t>•  트랜잭션도 Primary 에 존재한다. 길게 열어 두지 않는다</a:t>
            </a:r>
          </a:p>
          <a:p>
            <a:pPr algn="l">
              <a:spcAft>
                <a:spcPts val="1000"/>
              </a:spcAft>
            </a:pPr>
            <a:r>
              <a:rPr sz="1700" b="0">
                <a:solidFill>
                  <a:srgbClr val="222222"/>
                </a:solidFill>
                <a:latin typeface="맑은 고딕"/>
              </a:rPr>
              <a:t>•  적합 : 간헐적이고 작은 갱신 / 부적합 : 대량 DML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세션이 허용할 지연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STANDBY_MAX_DATA_DELAY</a:t>
            </a:r>
          </a:p>
          <a:p>
            <a:pPr algn="l">
              <a:spcAft>
                <a:spcPts val="800"/>
              </a:spcAft>
            </a:pPr>
            <a:r>
              <a:rPr sz="1600" b="0">
                <a:solidFill>
                  <a:srgbClr val="FFFFFF"/>
                </a:solidFill>
                <a:latin typeface="맑은 고딕"/>
              </a:rPr>
              <a:t>•  SYNC WITH PRIMARY</a:t>
            </a:r>
          </a:p>
          <a:p>
            <a:pPr algn="l">
              <a:spcAft>
                <a:spcPts val="800"/>
              </a:spcAft>
            </a:pPr>
            <a:r>
              <a:rPr sz="1600" b="0">
                <a:solidFill>
                  <a:srgbClr val="FFFFFF"/>
                </a:solidFill>
                <a:latin typeface="맑은 고딕"/>
              </a:rPr>
              <a:t>•  보호 모드가 결정한다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얼마나 오래된 데이터까지 받을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ORA-03172</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SESSION SET standby_max_data_delay=1</a:t>
            </a:r>
            <a:r>
              <a:rPr sz="1700" b="0">
                <a:solidFill>
                  <a:srgbClr val="222222"/>
                </a:solidFill>
                <a:latin typeface="맑은 고딕"/>
              </a:rPr>
              <a:t> (초 단위)</a:t>
            </a:r>
          </a:p>
          <a:p>
            <a:pPr algn="l">
              <a:spcAft>
                <a:spcPts val="1000"/>
              </a:spcAft>
            </a:pPr>
            <a:r>
              <a:rPr sz="1700" b="0">
                <a:solidFill>
                  <a:srgbClr val="222222"/>
                </a:solidFill>
                <a:latin typeface="맑은 고딕"/>
              </a:rPr>
              <a:t>•  정상 상태 → 통과</a:t>
            </a:r>
          </a:p>
          <a:p>
            <a:pPr algn="l">
              <a:spcAft>
                <a:spcPts val="1000"/>
              </a:spcAft>
            </a:pPr>
            <a:r>
              <a:rPr sz="1700" b="0">
                <a:solidFill>
                  <a:srgbClr val="222222"/>
                </a:solidFill>
                <a:latin typeface="맑은 고딕"/>
              </a:rPr>
              <a:t>•  </a:t>
            </a:r>
            <a:r>
              <a:rPr sz="1700" b="0">
                <a:solidFill>
                  <a:srgbClr val="222222"/>
                </a:solidFill>
                <a:latin typeface="Consolas"/>
                <a:cs typeface="Consolas"/>
              </a:rPr>
              <a:t>=0</a:t>
            </a:r>
            <a:r>
              <a:rPr sz="1700" b="0">
                <a:solidFill>
                  <a:srgbClr val="222222"/>
                </a:solidFill>
                <a:latin typeface="맑은 고딕"/>
              </a:rPr>
              <a:t> → </a:t>
            </a:r>
            <a:r>
              <a:rPr sz="1700" b="1">
                <a:solidFill>
                  <a:srgbClr val="222222"/>
                </a:solidFill>
                <a:latin typeface="맑은 고딕"/>
              </a:rPr>
              <a:t>ORA-03172 of 0 seconds exceeded</a:t>
            </a:r>
            <a:r>
              <a:rPr sz="1700" b="0">
                <a:solidFill>
                  <a:srgbClr val="222222"/>
                </a:solidFill>
                <a:latin typeface="맑은 고딕"/>
              </a:rPr>
              <a:t> (ASYNC 라 항상)</a:t>
            </a:r>
          </a:p>
          <a:p>
            <a:pPr algn="l">
              <a:spcAft>
                <a:spcPts val="1000"/>
              </a:spcAft>
            </a:pPr>
            <a:r>
              <a:rPr sz="1700" b="0">
                <a:solidFill>
                  <a:srgbClr val="222222"/>
                </a:solidFill>
                <a:latin typeface="맑은 고딕"/>
              </a:rPr>
              <a:t>•  적용 정지 후 lag 1분 22초 → </a:t>
            </a:r>
            <a:r>
              <a:rPr sz="1700" b="0">
                <a:solidFill>
                  <a:srgbClr val="222222"/>
                </a:solidFill>
                <a:latin typeface="Consolas"/>
                <a:cs typeface="Consolas"/>
              </a:rPr>
              <a:t>=1</a:t>
            </a:r>
            <a:r>
              <a:rPr sz="1700" b="0">
                <a:solidFill>
                  <a:srgbClr val="222222"/>
                </a:solidFill>
                <a:latin typeface="맑은 고딕"/>
              </a:rPr>
              <a:t> 로 </a:t>
            </a:r>
            <a:r>
              <a:rPr sz="1700" b="1">
                <a:solidFill>
                  <a:srgbClr val="222222"/>
                </a:solidFill>
                <a:latin typeface="맑은 고딕"/>
              </a:rPr>
              <a:t>ORA-03172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한도가 있을 때와 없을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대비가 요점이다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한도 없음 → 성공하되 </a:t>
            </a:r>
            <a:r>
              <a:rPr sz="1700" b="1">
                <a:solidFill>
                  <a:srgbClr val="222222"/>
                </a:solidFill>
                <a:latin typeface="맑은 고딕"/>
              </a:rPr>
              <a:t>옛 데이터</a:t>
            </a:r>
            <a:r>
              <a:rPr sz="1700" b="0">
                <a:solidFill>
                  <a:srgbClr val="222222"/>
                </a:solidFill>
                <a:latin typeface="맑은 고딕"/>
              </a:rPr>
              <a:t>를 돌려준다</a:t>
            </a:r>
          </a:p>
          <a:p>
            <a:pPr algn="l">
              <a:spcAft>
                <a:spcPts val="1000"/>
              </a:spcAft>
            </a:pPr>
            <a:r>
              <a:rPr sz="1700" b="0">
                <a:solidFill>
                  <a:srgbClr val="222222"/>
                </a:solidFill>
                <a:latin typeface="맑은 고딕"/>
              </a:rPr>
              <a:t>•  한도 있음 → </a:t>
            </a:r>
            <a:r>
              <a:rPr sz="1700" b="1">
                <a:solidFill>
                  <a:srgbClr val="222222"/>
                </a:solidFill>
                <a:latin typeface="맑은 고딕"/>
              </a:rPr>
              <a:t>거부</a:t>
            </a:r>
            <a:r>
              <a:rPr sz="1700" b="0">
                <a:solidFill>
                  <a:srgbClr val="222222"/>
                </a:solidFill>
                <a:latin typeface="맑은 고딕"/>
              </a:rPr>
              <a:t>한다 (ORA-03172)</a:t>
            </a:r>
          </a:p>
          <a:p>
            <a:pPr algn="l">
              <a:spcAft>
                <a:spcPts val="1000"/>
              </a:spcAft>
            </a:pPr>
            <a:r>
              <a:rPr sz="1700" b="0">
                <a:solidFill>
                  <a:srgbClr val="222222"/>
                </a:solidFill>
                <a:latin typeface="맑은 고딕"/>
              </a:rPr>
              <a:t>•  판단을 </a:t>
            </a:r>
            <a:r>
              <a:rPr sz="1700" b="1">
                <a:solidFill>
                  <a:srgbClr val="222222"/>
                </a:solidFill>
                <a:latin typeface="맑은 고딕"/>
              </a:rPr>
              <a:t>애플리케이션이 하게</a:t>
            </a:r>
            <a:r>
              <a:rPr sz="1700" b="0">
                <a:solidFill>
                  <a:srgbClr val="222222"/>
                </a:solidFill>
                <a:latin typeface="맑은 고딕"/>
              </a:rPr>
              <a:t> 해 준다</a:t>
            </a:r>
          </a:p>
          <a:p>
            <a:pPr algn="l">
              <a:spcAft>
                <a:spcPts val="1000"/>
              </a:spcAft>
            </a:pPr>
            <a:r>
              <a:rPr sz="1700" b="0">
                <a:solidFill>
                  <a:srgbClr val="222222"/>
                </a:solidFill>
                <a:latin typeface="맑은 고딕"/>
              </a:rPr>
              <a:t>•  </a:t>
            </a:r>
            <a:r>
              <a:rPr sz="1700" b="0">
                <a:solidFill>
                  <a:srgbClr val="222222"/>
                </a:solidFill>
                <a:latin typeface="Consolas"/>
                <a:cs typeface="Consolas"/>
              </a:rPr>
              <a:t>try { standby } catch (ORA-03172) { primary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SYS 는 또 예외다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ORA-03174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SYS</a:t>
            </a:r>
            <a:r>
              <a:rPr sz="1700" b="0">
                <a:solidFill>
                  <a:srgbClr val="222222"/>
                </a:solidFill>
                <a:latin typeface="맑은 고딕"/>
              </a:rPr>
              <a:t> 로 설정 → </a:t>
            </a:r>
            <a:r>
              <a:rPr sz="1700" b="1">
                <a:solidFill>
                  <a:srgbClr val="222222"/>
                </a:solidFill>
                <a:latin typeface="맑은 고딕"/>
              </a:rPr>
              <a:t>ORA-03174: does not apply to SYS users</a:t>
            </a:r>
          </a:p>
          <a:p>
            <a:pPr algn="l">
              <a:spcAft>
                <a:spcPts val="1000"/>
              </a:spcAft>
            </a:pPr>
            <a:r>
              <a:rPr sz="1700" b="0">
                <a:solidFill>
                  <a:srgbClr val="222222"/>
                </a:solidFill>
                <a:latin typeface="맑은 고딕"/>
              </a:rPr>
              <a:t>•  오류가 나도 </a:t>
            </a:r>
            <a:r>
              <a:rPr sz="1700" b="1">
                <a:solidFill>
                  <a:srgbClr val="222222"/>
                </a:solidFill>
                <a:latin typeface="맑은 고딕"/>
              </a:rPr>
              <a:t>그 뒤의 조회는 정상 수행</a:t>
            </a:r>
            <a:r>
              <a:rPr sz="1700" b="0">
                <a:solidFill>
                  <a:srgbClr val="222222"/>
                </a:solidFill>
                <a:latin typeface="맑은 고딕"/>
              </a:rPr>
              <a:t>된다</a:t>
            </a:r>
          </a:p>
          <a:p>
            <a:pPr algn="l">
              <a:spcAft>
                <a:spcPts val="1000"/>
              </a:spcAft>
            </a:pPr>
            <a:r>
              <a:rPr sz="1700" b="0">
                <a:solidFill>
                  <a:srgbClr val="222222"/>
                </a:solidFill>
                <a:latin typeface="맑은 고딕"/>
              </a:rPr>
              <a:t>•  관리자가 진단 조회를 할 때 막히면 곤란하기 때문으로 보인다</a:t>
            </a:r>
          </a:p>
          <a:p>
            <a:pPr algn="l">
              <a:spcAft>
                <a:spcPts val="1000"/>
              </a:spcAft>
            </a:pPr>
            <a:r>
              <a:rPr sz="1700" b="0">
                <a:solidFill>
                  <a:srgbClr val="222222"/>
                </a:solidFill>
                <a:latin typeface="맑은 고딕"/>
              </a:rPr>
              <a:t>•  리다이렉션의 ORA-16397 과 </a:t>
            </a:r>
            <a:r>
              <a:rPr sz="1700" b="1">
                <a:solidFill>
                  <a:srgbClr val="222222"/>
                </a:solidFill>
                <a:latin typeface="맑은 고딕"/>
              </a:rPr>
              <a:t>같은 교훈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보호 모드가 또 결정한다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ORA-03173</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ALTER SESSION SYNC WITH PRIMARY</a:t>
            </a:r>
            <a:r>
              <a:rPr sz="1700" b="0">
                <a:solidFill>
                  <a:srgbClr val="222222"/>
                </a:solidFill>
                <a:latin typeface="맑은 고딕"/>
              </a:rPr>
              <a:t> → </a:t>
            </a:r>
            <a:r>
              <a:rPr sz="1700" b="1">
                <a:solidFill>
                  <a:srgbClr val="222222"/>
                </a:solidFill>
                <a:latin typeface="맑은 고딕"/>
              </a:rPr>
              <a:t>ORA-03173</a:t>
            </a:r>
          </a:p>
          <a:p>
            <a:pPr algn="l">
              <a:spcAft>
                <a:spcPts val="1000"/>
              </a:spcAft>
            </a:pPr>
            <a:r>
              <a:rPr sz="1700" b="0">
                <a:solidFill>
                  <a:srgbClr val="222222"/>
                </a:solidFill>
                <a:latin typeface="맑은 고딕"/>
              </a:rPr>
              <a:t>•  동기 전송이 전제다. ASYNC 에서는 시도 자체가 거부된다</a:t>
            </a:r>
          </a:p>
          <a:p>
            <a:pPr algn="l">
              <a:spcAft>
                <a:spcPts val="1000"/>
              </a:spcAft>
            </a:pPr>
            <a:r>
              <a:rPr sz="1700" b="0">
                <a:solidFill>
                  <a:srgbClr val="222222"/>
                </a:solidFill>
                <a:latin typeface="맑은 고딕"/>
              </a:rPr>
              <a:t>•  8장 : 보호 모드가 </a:t>
            </a:r>
            <a:r>
              <a:rPr sz="1700" b="1">
                <a:solidFill>
                  <a:srgbClr val="222222"/>
                </a:solidFill>
                <a:latin typeface="맑은 고딕"/>
              </a:rPr>
              <a:t>복구 가능성</a:t>
            </a:r>
            <a:r>
              <a:rPr sz="1700" b="0">
                <a:solidFill>
                  <a:srgbClr val="222222"/>
                </a:solidFill>
                <a:latin typeface="맑은 고딕"/>
              </a:rPr>
              <a:t>을 결정했다</a:t>
            </a:r>
          </a:p>
          <a:p>
            <a:pPr algn="l">
              <a:spcAft>
                <a:spcPts val="1000"/>
              </a:spcAft>
            </a:pPr>
            <a:r>
              <a:rPr sz="1700" b="0">
                <a:solidFill>
                  <a:srgbClr val="222222"/>
                </a:solidFill>
                <a:latin typeface="맑은 고딕"/>
              </a:rPr>
              <a:t>•  9장 : 보호 모드가 </a:t>
            </a:r>
            <a:r>
              <a:rPr sz="1700" b="1">
                <a:solidFill>
                  <a:srgbClr val="222222"/>
                </a:solidFill>
                <a:latin typeface="맑은 고딕"/>
              </a:rPr>
              <a:t>조회 신선도 보장</a:t>
            </a:r>
            <a:r>
              <a:rPr sz="1700" b="0">
                <a:solidFill>
                  <a:srgbClr val="222222"/>
                </a:solidFill>
                <a:latin typeface="맑은 고딕"/>
              </a:rPr>
              <a:t>을 결정한다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지연의 분포</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히스토그램 읽기</a:t>
            </a:r>
          </a:p>
          <a:p>
            <a:pPr algn="l">
              <a:spcAft>
                <a:spcPts val="800"/>
              </a:spcAft>
            </a:pPr>
            <a:r>
              <a:rPr sz="1600" b="0">
                <a:solidFill>
                  <a:srgbClr val="FFFFFF"/>
                </a:solidFill>
                <a:latin typeface="맑은 고딕"/>
              </a:rPr>
              <a:t>•  모니터링 지표</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V$STANDBY_EVENT_HISTOGRAM</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누적된 분포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TIME</a:t>
            </a:r>
            <a:r>
              <a:rPr sz="1700" b="0">
                <a:solidFill>
                  <a:srgbClr val="222222"/>
                </a:solidFill>
                <a:latin typeface="맑은 고딕"/>
              </a:rPr>
              <a:t> + </a:t>
            </a:r>
            <a:r>
              <a:rPr sz="1700" b="0">
                <a:solidFill>
                  <a:srgbClr val="222222"/>
                </a:solidFill>
                <a:latin typeface="Consolas"/>
                <a:cs typeface="Consolas"/>
              </a:rPr>
              <a:t>UNIT</a:t>
            </a:r>
            <a:r>
              <a:rPr sz="1700" b="0">
                <a:solidFill>
                  <a:srgbClr val="222222"/>
                </a:solidFill>
                <a:latin typeface="맑은 고딕"/>
              </a:rPr>
              <a:t> 이 구간, </a:t>
            </a:r>
            <a:r>
              <a:rPr sz="1700" b="0">
                <a:solidFill>
                  <a:srgbClr val="222222"/>
                </a:solidFill>
                <a:latin typeface="Consolas"/>
                <a:cs typeface="Consolas"/>
              </a:rPr>
              <a:t>COUNT</a:t>
            </a:r>
            <a:r>
              <a:rPr sz="1700" b="0">
                <a:solidFill>
                  <a:srgbClr val="222222"/>
                </a:solidFill>
                <a:latin typeface="맑은 고딕"/>
              </a:rPr>
              <a:t> 가 표본 수</a:t>
            </a:r>
          </a:p>
          <a:p>
            <a:pPr algn="l">
              <a:spcAft>
                <a:spcPts val="1000"/>
              </a:spcAft>
            </a:pPr>
            <a:r>
              <a:rPr sz="1700" b="0">
                <a:solidFill>
                  <a:srgbClr val="222222"/>
                </a:solidFill>
                <a:latin typeface="맑은 고딕"/>
              </a:rPr>
              <a:t>•  실측 : 0초 854회, 2초 1회, </a:t>
            </a:r>
            <a:r>
              <a:rPr sz="1700" b="1">
                <a:solidFill>
                  <a:srgbClr val="222222"/>
                </a:solidFill>
                <a:latin typeface="Consolas"/>
                <a:cs typeface="Consolas"/>
              </a:rPr>
              <a:t>2 minutes</a:t>
            </a:r>
            <a:r>
              <a:rPr sz="1700" b="1">
                <a:solidFill>
                  <a:srgbClr val="222222"/>
                </a:solidFill>
                <a:latin typeface="맑은 고딕"/>
              </a:rPr>
              <a:t> 59회</a:t>
            </a:r>
          </a:p>
          <a:p>
            <a:pPr algn="l">
              <a:spcAft>
                <a:spcPts val="1000"/>
              </a:spcAft>
            </a:pPr>
            <a:r>
              <a:rPr sz="1700" b="0">
                <a:solidFill>
                  <a:srgbClr val="222222"/>
                </a:solidFill>
                <a:latin typeface="맑은 고딕"/>
              </a:rPr>
              <a:t>•  2분 정지가 그대로 기록됐다</a:t>
            </a:r>
          </a:p>
          <a:p>
            <a:pPr algn="l">
              <a:spcAft>
                <a:spcPts val="1000"/>
              </a:spcAft>
            </a:pPr>
            <a:r>
              <a:rPr sz="1700" b="0">
                <a:solidFill>
                  <a:srgbClr val="222222"/>
                </a:solidFill>
                <a:latin typeface="맑은 고딕"/>
              </a:rPr>
              <a:t>•  따라잡는 과정이 3~59초 구간에 1~2회씩 흔적을 남겼다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실용 지표 하나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0초가 아닌 구간의 비율</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ROUND(100*SUM(CASE WHEN time&gt;0 THEN count END)/SUM(count),2)</a:t>
            </a:r>
          </a:p>
          <a:p>
            <a:pPr algn="l">
              <a:spcAft>
                <a:spcPts val="1000"/>
              </a:spcAft>
            </a:pPr>
            <a:r>
              <a:rPr sz="1700" b="0">
                <a:solidFill>
                  <a:srgbClr val="222222"/>
                </a:solidFill>
                <a:latin typeface="맑은 고딕"/>
              </a:rPr>
              <a:t>•  실측 9.3 퍼센트 (표본 1,849 중 0초가 1,677)</a:t>
            </a:r>
          </a:p>
          <a:p>
            <a:pPr algn="l">
              <a:spcAft>
                <a:spcPts val="1000"/>
              </a:spcAft>
            </a:pPr>
            <a:r>
              <a:rPr sz="1700" b="0">
                <a:solidFill>
                  <a:srgbClr val="222222"/>
                </a:solidFill>
                <a:latin typeface="맑은 고딕"/>
              </a:rPr>
              <a:t>•  </a:t>
            </a:r>
            <a:r>
              <a:rPr sz="1700" b="1">
                <a:solidFill>
                  <a:srgbClr val="222222"/>
                </a:solidFill>
                <a:latin typeface="맑은 고딕"/>
              </a:rPr>
              <a:t>누적값이므로 두 시점의 차이</a:t>
            </a:r>
            <a:r>
              <a:rPr sz="1700" b="0">
                <a:solidFill>
                  <a:srgbClr val="222222"/>
                </a:solidFill>
                <a:latin typeface="맑은 고딕"/>
              </a:rPr>
              <a:t>를 본다</a:t>
            </a:r>
          </a:p>
          <a:p>
            <a:pPr algn="l">
              <a:spcAft>
                <a:spcPts val="1000"/>
              </a:spcAft>
            </a:pPr>
            <a:r>
              <a:rPr sz="1700" b="0">
                <a:solidFill>
                  <a:srgbClr val="222222"/>
                </a:solidFill>
                <a:latin typeface="맑은 고딕"/>
              </a:rPr>
              <a:t>•  재기동하면 초기화된다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뷰가 서로의 한계를 메운다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조합해서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V$MANAGED_STANDBY</a:t>
            </a:r>
            <a:r>
              <a:rPr sz="1700" b="0">
                <a:solidFill>
                  <a:srgbClr val="222222"/>
                </a:solidFill>
                <a:latin typeface="맑은 고딕"/>
              </a:rPr>
              <a:t> — 적용이 도는가 (지연은 모른다)</a:t>
            </a:r>
          </a:p>
          <a:p>
            <a:pPr algn="l">
              <a:spcAft>
                <a:spcPts val="1000"/>
              </a:spcAft>
            </a:pPr>
            <a:r>
              <a:rPr sz="1700" b="0">
                <a:solidFill>
                  <a:srgbClr val="222222"/>
                </a:solidFill>
                <a:latin typeface="맑은 고딕"/>
              </a:rPr>
              <a:t>•  </a:t>
            </a:r>
            <a:r>
              <a:rPr sz="1700" b="0">
                <a:solidFill>
                  <a:srgbClr val="222222"/>
                </a:solidFill>
                <a:latin typeface="Consolas"/>
                <a:cs typeface="Consolas"/>
              </a:rPr>
              <a:t>V$DATAGUARD_STATS</a:t>
            </a:r>
            <a:r>
              <a:rPr sz="1700" b="0">
                <a:solidFill>
                  <a:srgbClr val="222222"/>
                </a:solidFill>
                <a:latin typeface="맑은 고딕"/>
              </a:rPr>
              <a:t> — 지금 얼마나 뒤처졌나 (십수 초 전 정보)</a:t>
            </a:r>
          </a:p>
          <a:p>
            <a:pPr algn="l">
              <a:spcAft>
                <a:spcPts val="1000"/>
              </a:spcAft>
            </a:pPr>
            <a:r>
              <a:rPr sz="1700" b="0">
                <a:solidFill>
                  <a:srgbClr val="222222"/>
                </a:solidFill>
                <a:latin typeface="맑은 고딕"/>
              </a:rPr>
              <a:t>•  </a:t>
            </a:r>
            <a:r>
              <a:rPr sz="1700" b="0">
                <a:solidFill>
                  <a:srgbClr val="222222"/>
                </a:solidFill>
                <a:latin typeface="Consolas"/>
                <a:cs typeface="Consolas"/>
              </a:rPr>
              <a:t>V$STANDBY_EVENT_HISTOGRAM</a:t>
            </a:r>
            <a:r>
              <a:rPr sz="1700" b="0">
                <a:solidFill>
                  <a:srgbClr val="222222"/>
                </a:solidFill>
                <a:latin typeface="맑은 고딕"/>
              </a:rPr>
              <a:t> — 그동안 안정적이었나 (언제인지 모른다)</a:t>
            </a:r>
          </a:p>
          <a:p>
            <a:pPr algn="l">
              <a:spcAft>
                <a:spcPts val="1000"/>
              </a:spcAft>
            </a:pPr>
            <a:r>
              <a:rPr sz="1700" b="0">
                <a:solidFill>
                  <a:srgbClr val="222222"/>
                </a:solidFill>
                <a:latin typeface="맑은 고딕"/>
              </a:rPr>
              <a:t>•  </a:t>
            </a:r>
            <a:r>
              <a:rPr sz="1700" b="1">
                <a:solidFill>
                  <a:srgbClr val="222222"/>
                </a:solidFill>
                <a:latin typeface="맑은 고딕"/>
              </a:rPr>
              <a:t>MRP0 을 먼저 본다</a:t>
            </a:r>
            <a:r>
              <a:rPr sz="1700" b="0">
                <a:solidFill>
                  <a:srgbClr val="222222"/>
                </a:solidFill>
                <a:latin typeface="맑은 고딕"/>
              </a:rPr>
              <a:t> — 없으면 나머지는 무의미하다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읽기 분산은 접속만 바꾸는 일이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먼저 분류한다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조회 이력을 남기는 코드 → 리다이렉션으로 메운다</a:t>
            </a:r>
          </a:p>
          <a:p>
            <a:pPr algn="l">
              <a:spcAft>
                <a:spcPts val="1000"/>
              </a:spcAft>
            </a:pPr>
            <a:r>
              <a:rPr sz="1700" b="0">
                <a:solidFill>
                  <a:srgbClr val="222222"/>
                </a:solidFill>
                <a:latin typeface="맑은 고딕"/>
              </a:rPr>
              <a:t>•  일반 테이블을 임시 저장소로 쓰는 조회 → </a:t>
            </a:r>
            <a:r>
              <a:rPr sz="1700" b="1">
                <a:solidFill>
                  <a:srgbClr val="222222"/>
                </a:solidFill>
                <a:latin typeface="맑은 고딕"/>
              </a:rPr>
              <a:t>GTT 로 바꿔야</a:t>
            </a:r>
            <a:r>
              <a:rPr sz="1700" b="0">
                <a:solidFill>
                  <a:srgbClr val="222222"/>
                </a:solidFill>
                <a:latin typeface="맑은 고딕"/>
              </a:rPr>
              <a:t> 옮길 수 있다</a:t>
            </a:r>
          </a:p>
          <a:p>
            <a:pPr algn="l">
              <a:spcAft>
                <a:spcPts val="1000"/>
              </a:spcAft>
            </a:pPr>
            <a:r>
              <a:rPr sz="1700" b="0">
                <a:solidFill>
                  <a:srgbClr val="222222"/>
                </a:solidFill>
                <a:latin typeface="맑은 고딕"/>
              </a:rPr>
              <a:t>•  시퀀스로 식별자를 만드는 코드 → 값이 뛴다. 요건을 확인한다</a:t>
            </a:r>
          </a:p>
          <a:p>
            <a:pPr algn="l">
              <a:spcAft>
                <a:spcPts val="1000"/>
              </a:spcAft>
            </a:pPr>
            <a:r>
              <a:rPr sz="1700" b="0">
                <a:solidFill>
                  <a:srgbClr val="222222"/>
                </a:solidFill>
                <a:latin typeface="맑은 고딕"/>
              </a:rPr>
              <a:t>•  순수 조회 → 그대로 옮긴다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장이 남기는 습관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기능 검증은 </a:t>
            </a:r>
            <a:r>
              <a:rPr sz="1700" b="1">
                <a:solidFill>
                  <a:srgbClr val="222222"/>
                </a:solidFill>
                <a:latin typeface="맑은 고딕"/>
              </a:rPr>
              <a:t>애플리케이션 계정</a:t>
            </a:r>
            <a:r>
              <a:rPr sz="1700" b="0">
                <a:solidFill>
                  <a:srgbClr val="222222"/>
                </a:solidFill>
                <a:latin typeface="맑은 고딕"/>
              </a:rPr>
              <a:t>으로 한다 — SYS 로 두 번 오판할 뻔했다</a:t>
            </a:r>
          </a:p>
          <a:p>
            <a:pPr algn="l">
              <a:spcAft>
                <a:spcPts val="1000"/>
              </a:spcAft>
            </a:pPr>
            <a:r>
              <a:rPr sz="1700" b="0">
                <a:solidFill>
                  <a:srgbClr val="222222"/>
                </a:solidFill>
                <a:latin typeface="맑은 고딕"/>
              </a:rPr>
              <a:t>•  예상과 다르면 </a:t>
            </a:r>
            <a:r>
              <a:rPr sz="1700" b="1">
                <a:solidFill>
                  <a:srgbClr val="222222"/>
                </a:solidFill>
                <a:latin typeface="맑은 고딕"/>
              </a:rPr>
              <a:t>측정을 먼저 의심</a:t>
            </a:r>
            <a:r>
              <a:rPr sz="1700" b="0">
                <a:solidFill>
                  <a:srgbClr val="222222"/>
                </a:solidFill>
                <a:latin typeface="맑은 고딕"/>
              </a:rPr>
              <a:t>한다 — SQL*Plus 암묵적 커밋</a:t>
            </a:r>
          </a:p>
          <a:p>
            <a:pPr algn="l">
              <a:spcAft>
                <a:spcPts val="1000"/>
              </a:spcAft>
            </a:pPr>
            <a:r>
              <a:rPr sz="1700" b="0">
                <a:solidFill>
                  <a:srgbClr val="222222"/>
                </a:solidFill>
                <a:latin typeface="맑은 고딕"/>
              </a:rPr>
              <a:t>•  오류 번호를 </a:t>
            </a:r>
            <a:r>
              <a:rPr sz="1700" b="1">
                <a:solidFill>
                  <a:srgbClr val="222222"/>
                </a:solidFill>
                <a:latin typeface="맑은 고딕"/>
              </a:rPr>
              <a:t>경로 정보</a:t>
            </a:r>
            <a:r>
              <a:rPr sz="1700" b="0">
                <a:solidFill>
                  <a:srgbClr val="222222"/>
                </a:solidFill>
                <a:latin typeface="맑은 고딕"/>
              </a:rPr>
              <a:t>로 읽는다 — 16000 대 16397, 16000 대 13516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9.8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옵션이 없다면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MOUNTED 로 두면 적용만 남는다</a:t>
            </a:r>
          </a:p>
          <a:p>
            <a:pPr algn="l">
              <a:spcAft>
                <a:spcPts val="800"/>
              </a:spcAft>
            </a:pPr>
            <a:r>
              <a:rPr sz="1600" b="0">
                <a:solidFill>
                  <a:srgbClr val="FFFFFF"/>
                </a:solidFill>
                <a:latin typeface="맑은 고딕"/>
              </a:rPr>
              <a:t>•  Primary 에서 읽는 두 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닫아도 적용은 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MOUNTED 의 실측</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OPEN_MODE</a:t>
            </a:r>
            <a:r>
              <a:rPr sz="1700" b="0">
                <a:solidFill>
                  <a:srgbClr val="222222"/>
                </a:solidFill>
                <a:latin typeface="맑은 고딕"/>
              </a:rPr>
              <a:t> </a:t>
            </a:r>
            <a:r>
              <a:rPr sz="1700" b="1">
                <a:solidFill>
                  <a:srgbClr val="222222"/>
                </a:solidFill>
                <a:latin typeface="맑은 고딕"/>
              </a:rPr>
              <a:t>MOUNTED</a:t>
            </a:r>
            <a:r>
              <a:rPr sz="1700" b="0">
                <a:solidFill>
                  <a:srgbClr val="222222"/>
                </a:solidFill>
                <a:latin typeface="맑은 고딕"/>
              </a:rPr>
              <a:t>, </a:t>
            </a:r>
            <a:r>
              <a:rPr sz="1700" b="0">
                <a:solidFill>
                  <a:srgbClr val="222222"/>
                </a:solidFill>
                <a:latin typeface="Consolas"/>
                <a:cs typeface="Consolas"/>
              </a:rPr>
              <a:t>MRP0</a:t>
            </a:r>
            <a:r>
              <a:rPr sz="1700" b="0">
                <a:solidFill>
                  <a:srgbClr val="222222"/>
                </a:solidFill>
                <a:latin typeface="맑은 고딕"/>
              </a:rPr>
              <a:t> 은 </a:t>
            </a:r>
            <a:r>
              <a:rPr sz="1700" b="0">
                <a:solidFill>
                  <a:srgbClr val="222222"/>
                </a:solidFill>
                <a:latin typeface="Consolas"/>
                <a:cs typeface="Consolas"/>
              </a:rPr>
              <a:t>APPLYING_LOG</a:t>
            </a:r>
            <a:r>
              <a:rPr sz="1700" b="0">
                <a:solidFill>
                  <a:srgbClr val="222222"/>
                </a:solidFill>
                <a:latin typeface="맑은 고딕"/>
              </a:rPr>
              <a:t> 그대로</a:t>
            </a:r>
          </a:p>
          <a:p>
            <a:pPr algn="l">
              <a:spcAft>
                <a:spcPts val="1000"/>
              </a:spcAft>
            </a:pPr>
            <a:r>
              <a:rPr sz="1700" b="0">
                <a:solidFill>
                  <a:srgbClr val="222222"/>
                </a:solidFill>
                <a:latin typeface="맑은 고딕"/>
              </a:rPr>
              <a:t>•  사용자 표 조회 → </a:t>
            </a:r>
            <a:r>
              <a:rPr sz="1700" b="1">
                <a:solidFill>
                  <a:srgbClr val="222222"/>
                </a:solidFill>
                <a:latin typeface="Consolas"/>
                <a:cs typeface="Consolas"/>
              </a:rPr>
              <a:t>ORA-01219</a:t>
            </a:r>
            <a:r>
              <a:rPr sz="1700" b="0">
                <a:solidFill>
                  <a:srgbClr val="222222"/>
                </a:solidFill>
                <a:latin typeface="맑은 고딕"/>
              </a:rPr>
              <a:t> (9.4 의 </a:t>
            </a:r>
            <a:r>
              <a:rPr sz="1700" b="0">
                <a:solidFill>
                  <a:srgbClr val="222222"/>
                </a:solidFill>
                <a:latin typeface="Consolas"/>
                <a:cs typeface="Consolas"/>
              </a:rPr>
              <a:t>ORA-16000</a:t>
            </a:r>
            <a:r>
              <a:rPr sz="1700" b="0">
                <a:solidFill>
                  <a:srgbClr val="222222"/>
                </a:solidFill>
                <a:latin typeface="맑은 고딕"/>
              </a:rPr>
              <a:t> 과 다르다)</a:t>
            </a:r>
          </a:p>
          <a:p>
            <a:pPr algn="l">
              <a:spcAft>
                <a:spcPts val="1000"/>
              </a:spcAft>
            </a:pPr>
            <a:r>
              <a:rPr sz="1700" b="0">
                <a:solidFill>
                  <a:srgbClr val="222222"/>
                </a:solidFill>
                <a:latin typeface="맑은 고딕"/>
              </a:rPr>
              <a:t>•  메시지의 뒷부분 — </a:t>
            </a:r>
            <a:r>
              <a:rPr sz="1700" b="1">
                <a:solidFill>
                  <a:srgbClr val="222222"/>
                </a:solidFill>
                <a:latin typeface="맑은 고딕"/>
              </a:rPr>
              <a:t>"fixed tables or views only"</a:t>
            </a:r>
          </a:p>
          <a:p>
            <a:pPr algn="l">
              <a:spcAft>
                <a:spcPts val="1000"/>
              </a:spcAft>
            </a:pPr>
            <a:r>
              <a:rPr sz="1700" b="0">
                <a:solidFill>
                  <a:srgbClr val="222222"/>
                </a:solidFill>
                <a:latin typeface="맑은 고딕"/>
              </a:rPr>
              <a:t>•  그래서 </a:t>
            </a:r>
            <a:r>
              <a:rPr sz="1700" b="0">
                <a:solidFill>
                  <a:srgbClr val="222222"/>
                </a:solidFill>
                <a:latin typeface="Consolas"/>
                <a:cs typeface="Consolas"/>
              </a:rPr>
              <a:t>V$DATAGUARD_STATS</a:t>
            </a:r>
            <a:r>
              <a:rPr sz="1700" b="0">
                <a:solidFill>
                  <a:srgbClr val="222222"/>
                </a:solidFill>
                <a:latin typeface="맑은 고딕"/>
              </a:rPr>
              <a:t> 는 </a:t>
            </a:r>
            <a:r>
              <a:rPr sz="1700" b="1">
                <a:solidFill>
                  <a:srgbClr val="222222"/>
                </a:solidFill>
                <a:latin typeface="맑은 고딕"/>
              </a:rPr>
              <a:t>닫혀 있어도 값이 나온다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Primary 에서 읽는 두 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WITH QUERY 가 표식이다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DATABASE_MODE</a:t>
            </a:r>
            <a:r>
              <a:rPr sz="1700" b="0">
                <a:solidFill>
                  <a:srgbClr val="222222"/>
                </a:solidFill>
                <a:latin typeface="맑은 고딕"/>
              </a:rPr>
              <a:t> — </a:t>
            </a:r>
            <a:r>
              <a:rPr sz="1700" b="0">
                <a:solidFill>
                  <a:srgbClr val="222222"/>
                </a:solidFill>
                <a:latin typeface="Consolas"/>
                <a:cs typeface="Consolas"/>
              </a:rPr>
              <a:t>OPEN_READ-ONLY</a:t>
            </a:r>
            <a:r>
              <a:rPr sz="1700" b="0">
                <a:solidFill>
                  <a:srgbClr val="222222"/>
                </a:solidFill>
                <a:latin typeface="맑은 고딕"/>
              </a:rPr>
              <a:t> ↔ </a:t>
            </a:r>
            <a:r>
              <a:rPr sz="1700" b="1">
                <a:solidFill>
                  <a:srgbClr val="222222"/>
                </a:solidFill>
                <a:latin typeface="Consolas"/>
                <a:cs typeface="Consolas"/>
              </a:rPr>
              <a:t>MOUNTED-STANDBY</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 </a:t>
            </a:r>
            <a:r>
              <a:rPr sz="1700" b="0">
                <a:solidFill>
                  <a:srgbClr val="222222"/>
                </a:solidFill>
                <a:latin typeface="Consolas"/>
                <a:cs typeface="Consolas"/>
              </a:rPr>
              <a:t>... REAL TIME APPLY</a:t>
            </a:r>
            <a:r>
              <a:rPr sz="1700" b="0">
                <a:solidFill>
                  <a:srgbClr val="222222"/>
                </a:solidFill>
                <a:latin typeface="맑은 고딕"/>
              </a:rPr>
              <a:t> </a:t>
            </a:r>
            <a:r>
              <a:rPr sz="1700" b="1">
                <a:solidFill>
                  <a:srgbClr val="222222"/>
                </a:solidFill>
                <a:latin typeface="Consolas"/>
                <a:cs typeface="Consolas"/>
              </a:rPr>
              <a:t>WITH QUERY</a:t>
            </a:r>
            <a:r>
              <a:rPr sz="1700" b="0">
                <a:solidFill>
                  <a:srgbClr val="222222"/>
                </a:solidFill>
                <a:latin typeface="맑은 고딕"/>
              </a:rPr>
              <a:t> 유무</a:t>
            </a:r>
          </a:p>
          <a:p>
            <a:pPr algn="l">
              <a:spcAft>
                <a:spcPts val="1000"/>
              </a:spcAft>
            </a:pPr>
            <a:r>
              <a:rPr sz="1700" b="0">
                <a:solidFill>
                  <a:srgbClr val="222222"/>
                </a:solidFill>
                <a:latin typeface="맑은 고딕"/>
              </a:rPr>
              <a:t>•  </a:t>
            </a:r>
            <a:r>
              <a:rPr sz="1700" b="0">
                <a:solidFill>
                  <a:srgbClr val="222222"/>
                </a:solidFill>
                <a:latin typeface="Consolas"/>
                <a:cs typeface="Consolas"/>
              </a:rPr>
              <a:t>APPLIED_SEQ#</a:t>
            </a:r>
            <a:r>
              <a:rPr sz="1700" b="0">
                <a:solidFill>
                  <a:srgbClr val="222222"/>
                </a:solidFill>
                <a:latin typeface="맑은 고딕"/>
              </a:rPr>
              <a:t> 는 닫은 뒤에도 올라간다 (8 → 10)</a:t>
            </a:r>
          </a:p>
          <a:p>
            <a:pPr algn="l">
              <a:spcAft>
                <a:spcPts val="1000"/>
              </a:spcAft>
            </a:pPr>
            <a:r>
              <a:rPr sz="1700" b="0">
                <a:solidFill>
                  <a:srgbClr val="222222"/>
                </a:solidFill>
                <a:latin typeface="맑은 고딕"/>
              </a:rPr>
              <a:t>•  </a:t>
            </a:r>
            <a:r>
              <a:rPr sz="1700" b="0">
                <a:solidFill>
                  <a:srgbClr val="222222"/>
                </a:solidFill>
                <a:latin typeface="Consolas"/>
                <a:cs typeface="Consolas"/>
              </a:rPr>
              <a:t>V$DATAGUARD_STATS</a:t>
            </a:r>
            <a:r>
              <a:rPr sz="1700" b="0">
                <a:solidFill>
                  <a:srgbClr val="222222"/>
                </a:solidFill>
                <a:latin typeface="맑은 고딕"/>
              </a:rPr>
              <a:t> 는 Primary 에서 </a:t>
            </a:r>
            <a:r>
              <a:rPr sz="1700" b="1">
                <a:solidFill>
                  <a:srgbClr val="222222"/>
                </a:solidFill>
                <a:latin typeface="맑은 고딕"/>
              </a:rPr>
              <a:t>0행</a:t>
            </a:r>
            <a:r>
              <a:rPr sz="1700" b="0">
                <a:solidFill>
                  <a:srgbClr val="222222"/>
                </a:solidFill>
                <a:latin typeface="맑은 고딕"/>
              </a:rPr>
              <a:t> — 이 방법은 성립하지 않는다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Standby 에서 커밋되지 않은 데이터가 보이지 않는 이유를 리두·UNDO 적용과 연결해 설명하라.</a:t>
            </a:r>
          </a:p>
          <a:p>
            <a:pPr algn="l">
              <a:spcAft>
                <a:spcPts val="1000"/>
              </a:spcAft>
            </a:pPr>
            <a:r>
              <a:rPr sz="1600" b="0">
                <a:solidFill>
                  <a:srgbClr val="222222"/>
                </a:solidFill>
                <a:latin typeface="맑은 고딕"/>
              </a:rPr>
              <a:t>•  Q2. 첫 측정이 잘못된 결론을 낼 뻔한 원인은 무엇이며, 어떻게 바로잡았는가?</a:t>
            </a:r>
          </a:p>
          <a:p>
            <a:pPr algn="l">
              <a:spcAft>
                <a:spcPts val="1000"/>
              </a:spcAft>
            </a:pPr>
            <a:r>
              <a:rPr sz="1600" b="0">
                <a:solidFill>
                  <a:srgbClr val="222222"/>
                </a:solidFill>
                <a:latin typeface="맑은 고딕"/>
              </a:rPr>
              <a:t>•  Q3. Standby 에서 되는 작업과 안 되는 작업을 가르는 기준은 무엇인가?</a:t>
            </a:r>
          </a:p>
          <a:p>
            <a:pPr algn="l">
              <a:spcAft>
                <a:spcPts val="1000"/>
              </a:spcAft>
            </a:pPr>
            <a:r>
              <a:rPr sz="1600" b="0">
                <a:solidFill>
                  <a:srgbClr val="222222"/>
                </a:solidFill>
                <a:latin typeface="맑은 고딕"/>
              </a:rPr>
              <a:t>•  Q4. Standby 에서 얻은 시퀀스 값이 Primary 와 연속되지 않는 이유와 실무적 함의는?</a:t>
            </a:r>
          </a:p>
          <a:p>
            <a:pPr algn="l">
              <a:spcAft>
                <a:spcPts val="1000"/>
              </a:spcAft>
            </a:pPr>
            <a:r>
              <a:rPr sz="1600" b="0">
                <a:solidFill>
                  <a:srgbClr val="222222"/>
                </a:solidFill>
                <a:latin typeface="맑은 고딕"/>
              </a:rPr>
              <a:t>•  Q5. DML 리다이렉션이 </a:t>
            </a:r>
            <a:r>
              <a:rPr sz="1600" b="0">
                <a:solidFill>
                  <a:srgbClr val="222222"/>
                </a:solidFill>
                <a:latin typeface="Consolas"/>
                <a:cs typeface="Consolas"/>
              </a:rPr>
              <a:t>SYS</a:t>
            </a:r>
            <a:r>
              <a:rPr sz="1600" b="0">
                <a:solidFill>
                  <a:srgbClr val="222222"/>
                </a:solidFill>
                <a:latin typeface="맑은 고딕"/>
              </a:rPr>
              <a:t> 로 실패하는 이유와, 그것이 기능 검증에 주는 교훈은?</a:t>
            </a:r>
          </a:p>
          <a:p>
            <a:pPr algn="l">
              <a:spcAft>
                <a:spcPts val="1000"/>
              </a:spcAft>
            </a:pPr>
            <a:r>
              <a:rPr sz="1600" b="0">
                <a:solidFill>
                  <a:srgbClr val="222222"/>
                </a:solidFill>
                <a:latin typeface="맑은 고딕"/>
              </a:rPr>
              <a:t>•  Q6. ASYNC 구성에서 </a:t>
            </a:r>
            <a:r>
              <a:rPr sz="1600" b="0">
                <a:solidFill>
                  <a:srgbClr val="222222"/>
                </a:solidFill>
                <a:latin typeface="Consolas"/>
                <a:cs typeface="Consolas"/>
              </a:rPr>
              <a:t>SYNC WITH PRIMARY</a:t>
            </a:r>
            <a:r>
              <a:rPr sz="1600" b="0">
                <a:solidFill>
                  <a:srgbClr val="222222"/>
                </a:solidFill>
                <a:latin typeface="맑은 고딕"/>
              </a:rPr>
              <a:t> 가 거부되는 이유를 보호 모드와 연결해 설명하라.</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ADG 의 표식은 </a:t>
            </a:r>
            <a:r>
              <a:rPr sz="1600" b="0">
                <a:solidFill>
                  <a:srgbClr val="222222"/>
                </a:solidFill>
                <a:latin typeface="Consolas"/>
                <a:cs typeface="Consolas"/>
              </a:rPr>
              <a:t>OPEN_MODE = READ ONLY WITH APPLY</a:t>
            </a:r>
            <a:r>
              <a:rPr sz="1600" b="0">
                <a:solidFill>
                  <a:srgbClr val="222222"/>
                </a:solidFill>
                <a:latin typeface="맑은 고딕"/>
              </a:rPr>
              <a:t> 와 </a:t>
            </a:r>
            <a:r>
              <a:rPr sz="1600" b="0">
                <a:solidFill>
                  <a:srgbClr val="222222"/>
                </a:solidFill>
                <a:latin typeface="Consolas"/>
                <a:cs typeface="Consolas"/>
              </a:rPr>
              <a:t>RECOVERY_MODE = MANAGED REAL TIME APPLY</a:t>
            </a:r>
            <a:r>
              <a:rPr sz="1600" b="0">
                <a:solidFill>
                  <a:srgbClr val="222222"/>
                </a:solidFill>
                <a:latin typeface="맑은 고딕"/>
              </a:rPr>
              <a:t> 두 가지다.</a:t>
            </a:r>
          </a:p>
          <a:p>
            <a:pPr algn="l">
              <a:spcAft>
                <a:spcPts val="1000"/>
              </a:spcAft>
            </a:pPr>
            <a:r>
              <a:rPr sz="1600" b="0">
                <a:solidFill>
                  <a:srgbClr val="222222"/>
                </a:solidFill>
                <a:latin typeface="맑은 고딕"/>
              </a:rPr>
              <a:t>•  기능 사용 통계는 </a:t>
            </a:r>
            <a:r>
              <a:rPr sz="1600" b="0">
                <a:solidFill>
                  <a:srgbClr val="222222"/>
                </a:solidFill>
                <a:latin typeface="Consolas"/>
                <a:cs typeface="Consolas"/>
              </a:rPr>
              <a:t>CDB_</a:t>
            </a:r>
            <a:r>
              <a:rPr sz="1600" b="0">
                <a:solidFill>
                  <a:srgbClr val="222222"/>
                </a:solidFill>
                <a:latin typeface="맑은 고딕"/>
              </a:rPr>
              <a:t> 뷰의 CON_ID 3 에만 있고 </a:t>
            </a:r>
            <a:r>
              <a:rPr sz="1600" b="0">
                <a:solidFill>
                  <a:srgbClr val="222222"/>
                </a:solidFill>
                <a:latin typeface="Consolas"/>
                <a:cs typeface="Consolas"/>
              </a:rPr>
              <a:t>DETECTED_USAGES</a:t>
            </a:r>
            <a:r>
              <a:rPr sz="1600" b="0">
                <a:solidFill>
                  <a:srgbClr val="222222"/>
                </a:solidFill>
                <a:latin typeface="맑은 고딕"/>
              </a:rPr>
              <a:t> 는 0이었다. 라이선스 근거로는 부족하다.</a:t>
            </a:r>
          </a:p>
          <a:p>
            <a:pPr algn="l">
              <a:spcAft>
                <a:spcPts val="1000"/>
              </a:spcAft>
            </a:pPr>
            <a:r>
              <a:rPr sz="1600" b="0">
                <a:solidFill>
                  <a:srgbClr val="222222"/>
                </a:solidFill>
                <a:latin typeface="맑은 고딕"/>
              </a:rPr>
              <a:t>•  MOUNTED 로만 두면 ADG 옵션이 필요 없다. 여는 순간부터 옵션의 영역이다.</a:t>
            </a:r>
          </a:p>
          <a:p>
            <a:pPr algn="l">
              <a:spcAft>
                <a:spcPts val="1000"/>
              </a:spcAft>
            </a:pPr>
            <a:r>
              <a:rPr sz="1600" b="0">
                <a:solidFill>
                  <a:srgbClr val="222222"/>
                </a:solidFill>
                <a:latin typeface="맑은 고딕"/>
              </a:rPr>
              <a:t>•  Standby 조회는 </a:t>
            </a:r>
            <a:r>
              <a:rPr sz="1600" b="1">
                <a:solidFill>
                  <a:srgbClr val="222222"/>
                </a:solidFill>
                <a:latin typeface="맑은 고딕"/>
              </a:rPr>
              <a:t>커밋된 데이터만</a:t>
            </a:r>
            <a:r>
              <a:rPr sz="1600" b="0">
                <a:solidFill>
                  <a:srgbClr val="222222"/>
                </a:solidFill>
                <a:latin typeface="맑은 고딕"/>
              </a:rPr>
              <a:t> 보여 준다. 리두와 함께 UNDO 도 적용되기 때문이다.</a:t>
            </a:r>
          </a:p>
          <a:p>
            <a:pPr algn="l">
              <a:spcAft>
                <a:spcPts val="1000"/>
              </a:spcAft>
            </a:pPr>
            <a:r>
              <a:rPr sz="1600" b="0">
                <a:solidFill>
                  <a:srgbClr val="222222"/>
                </a:solidFill>
                <a:latin typeface="맑은 고딕"/>
              </a:rPr>
              <a:t>•  SQL*Plus 는 </a:t>
            </a:r>
            <a:r>
              <a:rPr sz="1600" b="0">
                <a:solidFill>
                  <a:srgbClr val="222222"/>
                </a:solidFill>
                <a:latin typeface="Consolas"/>
                <a:cs typeface="Consolas"/>
              </a:rPr>
              <a:t>EXIT</a:t>
            </a:r>
            <a:r>
              <a:rPr sz="1600" b="0">
                <a:solidFill>
                  <a:srgbClr val="222222"/>
                </a:solidFill>
                <a:latin typeface="맑은 고딕"/>
              </a:rPr>
              <a:t> 시 암묵적으로 커밋한다. 이 때문에 첫 측정이 잘못된 결론을 낼 뻔했다.</a:t>
            </a:r>
          </a:p>
          <a:p>
            <a:pPr algn="l">
              <a:spcAft>
                <a:spcPts val="1000"/>
              </a:spcAft>
            </a:pPr>
            <a:r>
              <a:rPr sz="1600" b="0">
                <a:solidFill>
                  <a:srgbClr val="222222"/>
                </a:solidFill>
                <a:latin typeface="맑은 고딕"/>
              </a:rPr>
              <a:t>•  쓰기는 모두 </a:t>
            </a:r>
            <a:r>
              <a:rPr sz="1600" b="1">
                <a:solidFill>
                  <a:srgbClr val="222222"/>
                </a:solidFill>
                <a:latin typeface="맑은 고딕"/>
              </a:rPr>
              <a:t>ORA-16000</a:t>
            </a:r>
            <a:r>
              <a:rPr sz="1600" b="0">
                <a:solidFill>
                  <a:srgbClr val="222222"/>
                </a:solidFill>
                <a:latin typeface="맑은 고딕"/>
              </a:rPr>
              <a:t> 이다. </a:t>
            </a:r>
            <a:r>
              <a:rPr sz="1600" b="0">
                <a:solidFill>
                  <a:srgbClr val="222222"/>
                </a:solidFill>
                <a:latin typeface="Consolas"/>
                <a:cs typeface="Consolas"/>
              </a:rPr>
              <a:t>INSERT</a:t>
            </a:r>
            <a:r>
              <a:rPr sz="1600" b="0">
                <a:solidFill>
                  <a:srgbClr val="222222"/>
                </a:solidFill>
                <a:latin typeface="맑은 고딕"/>
              </a:rPr>
              <a:t>·</a:t>
            </a:r>
            <a:r>
              <a:rPr sz="1600" b="0">
                <a:solidFill>
                  <a:srgbClr val="222222"/>
                </a:solidFill>
                <a:latin typeface="Consolas"/>
                <a:cs typeface="Consolas"/>
              </a:rPr>
              <a:t>UPDATE</a:t>
            </a:r>
            <a:r>
              <a:rPr sz="1600" b="0">
                <a:solidFill>
                  <a:srgbClr val="222222"/>
                </a:solidFill>
                <a:latin typeface="맑은 고딕"/>
              </a:rPr>
              <a:t>·DDL 이 같은 오류다.</a:t>
            </a:r>
          </a:p>
          <a:p>
            <a:pPr algn="l">
              <a:spcAft>
                <a:spcPts val="1000"/>
              </a:spcAft>
            </a:pPr>
            <a:r>
              <a:rPr sz="1600" b="0">
                <a:solidFill>
                  <a:srgbClr val="222222"/>
                </a:solidFill>
                <a:latin typeface="맑은 고딕"/>
              </a:rPr>
              <a:t>•  정렬은 된다. 실측 7만 행 정렬에 TEMP 3MB 씩 사용됐다. 보고서 조회를 옮기는 근거다.</a:t>
            </a:r>
          </a:p>
          <a:p>
            <a:pPr algn="l">
              <a:spcAft>
                <a:spcPts val="1000"/>
              </a:spcAft>
            </a:pPr>
            <a:r>
              <a:rPr sz="1600" b="0">
                <a:solidFill>
                  <a:srgbClr val="222222"/>
                </a:solidFill>
                <a:latin typeface="맑은 고딕"/>
              </a:rPr>
              <a:t>•  </a:t>
            </a:r>
            <a:r>
              <a:rPr sz="1600" b="0">
                <a:solidFill>
                  <a:srgbClr val="222222"/>
                </a:solidFill>
                <a:latin typeface="Consolas"/>
                <a:cs typeface="Consolas"/>
              </a:rPr>
              <a:t>EXPLAIN PLAN</a:t>
            </a:r>
            <a:r>
              <a:rPr sz="1600" b="0">
                <a:solidFill>
                  <a:srgbClr val="222222"/>
                </a:solidFill>
                <a:latin typeface="맑은 고딕"/>
              </a:rPr>
              <a:t> 과 GTT </a:t>
            </a:r>
            <a:r>
              <a:rPr sz="1600" b="0">
                <a:solidFill>
                  <a:srgbClr val="222222"/>
                </a:solidFill>
                <a:latin typeface="Consolas"/>
                <a:cs typeface="Consolas"/>
              </a:rPr>
              <a:t>INSERT</a:t>
            </a:r>
            <a:r>
              <a:rPr sz="1600" b="0">
                <a:solidFill>
                  <a:srgbClr val="222222"/>
                </a:solidFill>
                <a:latin typeface="맑은 고딕"/>
              </a:rPr>
              <a:t> 도 된다. 데이터가 임시 테이블스페이스에 있기 때문이다.</a:t>
            </a:r>
          </a:p>
          <a:p>
            <a:pPr algn="l">
              <a:spcAft>
                <a:spcPts val="1000"/>
              </a:spcAft>
            </a:pPr>
            <a:r>
              <a:rPr sz="1600" b="0">
                <a:solidFill>
                  <a:srgbClr val="222222"/>
                </a:solidFill>
                <a:latin typeface="맑은 고딕"/>
              </a:rPr>
              <a:t>•  시퀀스도 되지만 </a:t>
            </a:r>
            <a:r>
              <a:rPr sz="1600" b="1">
                <a:solidFill>
                  <a:srgbClr val="222222"/>
                </a:solidFill>
                <a:latin typeface="맑은 고딕"/>
              </a:rPr>
              <a:t>값이 뛴다.</a:t>
            </a:r>
            <a:r>
              <a:rPr sz="1600" b="0">
                <a:solidFill>
                  <a:srgbClr val="222222"/>
                </a:solidFill>
                <a:latin typeface="맑은 고딕"/>
              </a:rPr>
              <a:t> Primary 에서 1이었던 시퀀스가 Standby 에서 21을 돌려주었다.</a:t>
            </a:r>
          </a:p>
          <a:p>
            <a:pPr algn="l">
              <a:spcAft>
                <a:spcPts val="1000"/>
              </a:spcAft>
            </a:pPr>
            <a:r>
              <a:rPr sz="1600" b="0">
                <a:solidFill>
                  <a:srgbClr val="222222"/>
                </a:solidFill>
                <a:latin typeface="맑은 고딕"/>
              </a:rPr>
              <a:t>•  통계 수집은 ORA-16000, AWR 은 전용 오류 </a:t>
            </a:r>
            <a:r>
              <a:rPr sz="1600" b="1">
                <a:solidFill>
                  <a:srgbClr val="222222"/>
                </a:solidFill>
                <a:latin typeface="맑은 고딕"/>
              </a:rPr>
              <a:t>ORA-13516</a:t>
            </a:r>
            <a:r>
              <a:rPr sz="1600" b="0">
                <a:solidFill>
                  <a:srgbClr val="222222"/>
                </a:solidFill>
                <a:latin typeface="맑은 고딕"/>
              </a:rPr>
              <a:t>. </a:t>
            </a:r>
            <a:r>
              <a:rPr sz="1600" b="0">
                <a:solidFill>
                  <a:srgbClr val="222222"/>
                </a:solidFill>
                <a:latin typeface="Consolas"/>
                <a:cs typeface="Consolas"/>
              </a:rPr>
              <a:t>V$</a:t>
            </a:r>
            <a:r>
              <a:rPr sz="1600" b="0">
                <a:solidFill>
                  <a:srgbClr val="222222"/>
                </a:solidFill>
                <a:latin typeface="맑은 고딕"/>
              </a:rPr>
              <a:t> 뷰 조회는 자유롭다.</a:t>
            </a:r>
          </a:p>
          <a:p>
            <a:pPr algn="l">
              <a:spcAft>
                <a:spcPts val="1000"/>
              </a:spcAft>
            </a:pPr>
            <a:r>
              <a:rPr sz="1600" b="0">
                <a:solidFill>
                  <a:srgbClr val="222222"/>
                </a:solidFill>
                <a:latin typeface="맑은 고딕"/>
              </a:rPr>
              <a:t>•  경계를 가르는 기준은 </a:t>
            </a:r>
            <a:r>
              <a:rPr sz="1600" b="1">
                <a:solidFill>
                  <a:srgbClr val="222222"/>
                </a:solidFill>
                <a:latin typeface="맑은 고딕"/>
              </a:rPr>
              <a:t>영구 데이터 파일이나 딕셔너리를 바꾸는가</a:t>
            </a:r>
            <a:r>
              <a:rPr sz="1600" b="0">
                <a:solidFill>
                  <a:srgbClr val="222222"/>
                </a:solidFill>
                <a:latin typeface="맑은 고딕"/>
              </a:rPr>
              <a:t> 하나다.</a:t>
            </a:r>
          </a:p>
          <a:p>
            <a:pPr algn="l">
              <a:spcAft>
                <a:spcPts val="1000"/>
              </a:spcAft>
            </a:pPr>
            <a:r>
              <a:rPr sz="1600" b="0">
                <a:solidFill>
                  <a:srgbClr val="222222"/>
                </a:solidFill>
                <a:latin typeface="맑은 고딕"/>
              </a:rPr>
              <a:t>•  DML 리다이렉션은 일반 사용자로 </a:t>
            </a:r>
            <a:r>
              <a:rPr sz="1600" b="0">
                <a:solidFill>
                  <a:srgbClr val="222222"/>
                </a:solidFill>
                <a:latin typeface="Consolas"/>
                <a:cs typeface="Consolas"/>
              </a:rPr>
              <a:t>INSERT</a:t>
            </a:r>
            <a:r>
              <a:rPr sz="1600" b="0">
                <a:solidFill>
                  <a:srgbClr val="222222"/>
                </a:solidFill>
                <a:latin typeface="맑은 고딕"/>
              </a:rPr>
              <a:t>·</a:t>
            </a:r>
            <a:r>
              <a:rPr sz="1600" b="0">
                <a:solidFill>
                  <a:srgbClr val="222222"/>
                </a:solidFill>
                <a:latin typeface="Consolas"/>
                <a:cs typeface="Consolas"/>
              </a:rPr>
              <a:t>UPDATE</a:t>
            </a:r>
            <a:r>
              <a:rPr sz="1600" b="0">
                <a:solidFill>
                  <a:srgbClr val="222222"/>
                </a:solidFill>
                <a:latin typeface="맑은 고딕"/>
              </a:rPr>
              <a:t>·</a:t>
            </a:r>
            <a:r>
              <a:rPr sz="1600" b="0">
                <a:solidFill>
                  <a:srgbClr val="222222"/>
                </a:solidFill>
                <a:latin typeface="Consolas"/>
                <a:cs typeface="Consolas"/>
              </a:rPr>
              <a:t>DELETE</a:t>
            </a:r>
            <a:r>
              <a:rPr sz="1600" b="0">
                <a:solidFill>
                  <a:srgbClr val="222222"/>
                </a:solidFill>
                <a:latin typeface="맑은 고딕"/>
              </a:rPr>
              <a:t> 가 모두 성공하며 Primary 에 반영된다.</a:t>
            </a:r>
          </a:p>
          <a:p>
            <a:pPr algn="l">
              <a:spcAft>
                <a:spcPts val="1000"/>
              </a:spcAft>
            </a:pPr>
            <a:r>
              <a:rPr sz="1600" b="0">
                <a:solidFill>
                  <a:srgbClr val="222222"/>
                </a:solidFill>
                <a:latin typeface="맑은 고딕"/>
              </a:rPr>
              <a:t>•  </a:t>
            </a:r>
            <a:r>
              <a:rPr sz="1600" b="1">
                <a:solidFill>
                  <a:srgbClr val="222222"/>
                </a:solidFill>
                <a:latin typeface="Consolas"/>
                <a:cs typeface="Consolas"/>
              </a:rPr>
              <a:t>SYS</a:t>
            </a:r>
            <a:r>
              <a:rPr sz="1600" b="1">
                <a:solidFill>
                  <a:srgbClr val="222222"/>
                </a:solidFill>
                <a:latin typeface="맑은 고딕"/>
              </a:rPr>
              <a:t> 로는 ORA-16397 로 실패한다.</a:t>
            </a:r>
            <a:r>
              <a:rPr sz="1600" b="0">
                <a:solidFill>
                  <a:srgbClr val="222222"/>
                </a:solidFill>
                <a:latin typeface="맑은 고딕"/>
              </a:rPr>
              <a:t> 관리자 계정으로 시험하면 기능이 없다고 오판하기 쉽다.</a:t>
            </a:r>
          </a:p>
          <a:p>
            <a:pPr algn="l">
              <a:spcAft>
                <a:spcPts val="1000"/>
              </a:spcAft>
            </a:pPr>
            <a:r>
              <a:rPr sz="1600" b="0">
                <a:solidFill>
                  <a:srgbClr val="222222"/>
                </a:solidFill>
                <a:latin typeface="맑은 고딕"/>
              </a:rPr>
              <a:t>•  DDL 은 대상이 아니다. ORA-16000 이 나며, 오류 번호가 처리 경로를 알려 준다.</a:t>
            </a:r>
          </a:p>
          <a:p>
            <a:pPr algn="l">
              <a:spcAft>
                <a:spcPts val="1000"/>
              </a:spcAft>
            </a:pPr>
            <a:r>
              <a:rPr sz="1600" b="0">
                <a:solidFill>
                  <a:srgbClr val="222222"/>
                </a:solidFill>
                <a:latin typeface="맑은 고딕"/>
              </a:rPr>
              <a:t>•  리다이렉션의 가치는 부하 분산이 아니라 </a:t>
            </a:r>
            <a:r>
              <a:rPr sz="1600" b="1">
                <a:solidFill>
                  <a:srgbClr val="222222"/>
                </a:solidFill>
                <a:latin typeface="맑은 고딕"/>
              </a:rPr>
              <a:t>접속 단순화</a:t>
            </a:r>
            <a:r>
              <a:rPr sz="1600" b="0">
                <a:solidFill>
                  <a:srgbClr val="222222"/>
                </a:solidFill>
                <a:latin typeface="맑은 고딕"/>
              </a:rPr>
              <a:t>다. 실행은 Primary 에서 일어난다.</a:t>
            </a:r>
          </a:p>
          <a:p>
            <a:pPr algn="l">
              <a:spcAft>
                <a:spcPts val="1000"/>
              </a:spcAft>
            </a:pPr>
            <a:r>
              <a:rPr sz="1600" b="0">
                <a:solidFill>
                  <a:srgbClr val="222222"/>
                </a:solidFill>
                <a:latin typeface="맑은 고딕"/>
              </a:rPr>
              <a:t>•  </a:t>
            </a:r>
            <a:r>
              <a:rPr sz="1600" b="0">
                <a:solidFill>
                  <a:srgbClr val="222222"/>
                </a:solidFill>
                <a:latin typeface="Consolas"/>
                <a:cs typeface="Consolas"/>
              </a:rPr>
              <a:t>STANDBY_MAX_DATA_DELAY</a:t>
            </a:r>
            <a:r>
              <a:rPr sz="1600" b="0">
                <a:solidFill>
                  <a:srgbClr val="222222"/>
                </a:solidFill>
                <a:latin typeface="맑은 고딕"/>
              </a:rPr>
              <a:t> 초과 시 </a:t>
            </a:r>
            <a:r>
              <a:rPr sz="1600" b="1">
                <a:solidFill>
                  <a:srgbClr val="222222"/>
                </a:solidFill>
                <a:latin typeface="맑은 고딕"/>
              </a:rPr>
              <a:t>ORA-03172</a:t>
            </a:r>
            <a:r>
              <a:rPr sz="1600" b="0">
                <a:solidFill>
                  <a:srgbClr val="222222"/>
                </a:solidFill>
                <a:latin typeface="맑은 고딕"/>
              </a:rPr>
              <a:t>. ASYNC 에서 0은 항상 위반된다.</a:t>
            </a:r>
          </a:p>
          <a:p>
            <a:pPr algn="l">
              <a:spcAft>
                <a:spcPts val="1000"/>
              </a:spcAft>
            </a:pPr>
            <a:r>
              <a:rPr sz="1600" b="0">
                <a:solidFill>
                  <a:srgbClr val="222222"/>
                </a:solidFill>
                <a:latin typeface="맑은 고딕"/>
              </a:rPr>
              <a:t>•  </a:t>
            </a:r>
            <a:r>
              <a:rPr sz="1600" b="1">
                <a:solidFill>
                  <a:srgbClr val="222222"/>
                </a:solidFill>
                <a:latin typeface="Consolas"/>
                <a:cs typeface="Consolas"/>
              </a:rPr>
              <a:t>SYS</a:t>
            </a:r>
            <a:r>
              <a:rPr sz="1600" b="1">
                <a:solidFill>
                  <a:srgbClr val="222222"/>
                </a:solidFill>
                <a:latin typeface="맑은 고딕"/>
              </a:rPr>
              <a:t> 세션에는 적용되지 않는다 — ORA-03174.</a:t>
            </a:r>
            <a:r>
              <a:rPr sz="1600" b="0">
                <a:solidFill>
                  <a:srgbClr val="222222"/>
                </a:solidFill>
                <a:latin typeface="맑은 고딕"/>
              </a:rPr>
              <a:t> ADG 세션 기능은 일반 사용자를 전제로 한다.</a:t>
            </a:r>
          </a:p>
          <a:p>
            <a:pPr algn="l">
              <a:spcAft>
                <a:spcPts val="1000"/>
              </a:spcAft>
            </a:pPr>
            <a:r>
              <a:rPr sz="1600" b="0">
                <a:solidFill>
                  <a:srgbClr val="222222"/>
                </a:solidFill>
                <a:latin typeface="맑은 고딕"/>
              </a:rPr>
              <a:t>•  </a:t>
            </a:r>
            <a:r>
              <a:rPr sz="1600" b="0">
                <a:solidFill>
                  <a:srgbClr val="222222"/>
                </a:solidFill>
                <a:latin typeface="Consolas"/>
                <a:cs typeface="Consolas"/>
              </a:rPr>
              <a:t>SYNC WITH PRIMARY</a:t>
            </a:r>
            <a:r>
              <a:rPr sz="1600" b="0">
                <a:solidFill>
                  <a:srgbClr val="222222"/>
                </a:solidFill>
                <a:latin typeface="맑은 고딕"/>
              </a:rPr>
              <a:t> 는 동기 전송이 전제다. ASYNC 에서는 </a:t>
            </a:r>
            <a:r>
              <a:rPr sz="1600" b="1">
                <a:solidFill>
                  <a:srgbClr val="222222"/>
                </a:solidFill>
                <a:latin typeface="맑은 고딕"/>
              </a:rPr>
              <a:t>ORA-03173</a:t>
            </a:r>
            <a:r>
              <a:rPr sz="1600" b="0">
                <a:solidFill>
                  <a:srgbClr val="222222"/>
                </a:solidFill>
                <a:latin typeface="맑은 고딕"/>
              </a:rPr>
              <a:t>.</a:t>
            </a:r>
          </a:p>
          <a:p>
            <a:pPr algn="l">
              <a:spcAft>
                <a:spcPts val="1000"/>
              </a:spcAft>
            </a:pPr>
            <a:r>
              <a:rPr sz="1600" b="0">
                <a:solidFill>
                  <a:srgbClr val="222222"/>
                </a:solidFill>
                <a:latin typeface="맑은 고딕"/>
              </a:rPr>
              <a:t>•  보호 모드는 8장에서 복구 가능성을, 9장에서 조회 신선도 보장을 결정했다.</a:t>
            </a:r>
          </a:p>
          <a:p>
            <a:pPr algn="l">
              <a:spcAft>
                <a:spcPts val="1000"/>
              </a:spcAft>
            </a:pPr>
            <a:r>
              <a:rPr sz="1600" b="0">
                <a:solidFill>
                  <a:srgbClr val="222222"/>
                </a:solidFill>
                <a:latin typeface="맑은 고딕"/>
              </a:rPr>
              <a:t>•  </a:t>
            </a:r>
            <a:r>
              <a:rPr sz="1600" b="0">
                <a:solidFill>
                  <a:srgbClr val="222222"/>
                </a:solidFill>
                <a:latin typeface="Consolas"/>
                <a:cs typeface="Consolas"/>
              </a:rPr>
              <a:t>V$STANDBY_EVENT_HISTOGRAM</a:t>
            </a:r>
            <a:r>
              <a:rPr sz="1600" b="0">
                <a:solidFill>
                  <a:srgbClr val="222222"/>
                </a:solidFill>
                <a:latin typeface="맑은 고딕"/>
              </a:rPr>
              <a:t> 은 </a:t>
            </a:r>
            <a:r>
              <a:rPr sz="1600" b="0">
                <a:solidFill>
                  <a:srgbClr val="222222"/>
                </a:solidFill>
                <a:latin typeface="Consolas"/>
                <a:cs typeface="Consolas"/>
              </a:rPr>
              <a:t>apply lag</a:t>
            </a:r>
            <a:r>
              <a:rPr sz="1600" b="0">
                <a:solidFill>
                  <a:srgbClr val="222222"/>
                </a:solidFill>
                <a:latin typeface="맑은 고딕"/>
              </a:rPr>
              <a:t> 하나만 누적한다. 2분 정지가 </a:t>
            </a:r>
            <a:r>
              <a:rPr sz="1600" b="0">
                <a:solidFill>
                  <a:srgbClr val="222222"/>
                </a:solidFill>
                <a:latin typeface="Consolas"/>
                <a:cs typeface="Consolas"/>
              </a:rPr>
              <a:t>2 minutes</a:t>
            </a:r>
            <a:r>
              <a:rPr sz="1600" b="0">
                <a:solidFill>
                  <a:srgbClr val="222222"/>
                </a:solidFill>
                <a:latin typeface="맑은 고딕"/>
              </a:rPr>
              <a:t> 59회로 남았다.</a:t>
            </a:r>
          </a:p>
          <a:p>
            <a:pPr algn="l">
              <a:spcAft>
                <a:spcPts val="1000"/>
              </a:spcAft>
            </a:pPr>
            <a:r>
              <a:rPr sz="1600" b="0">
                <a:solidFill>
                  <a:srgbClr val="222222"/>
                </a:solidFill>
                <a:latin typeface="맑은 고딕"/>
              </a:rPr>
              <a:t>•  옵션 없이 쓰려면 MOUNTED 로 둔다. 적용은 돌고 조회만 </a:t>
            </a:r>
            <a:r>
              <a:rPr sz="1600" b="1">
                <a:solidFill>
                  <a:srgbClr val="222222"/>
                </a:solidFill>
                <a:latin typeface="맑은 고딕"/>
              </a:rPr>
              <a:t>ORA-01219</a:t>
            </a:r>
            <a:r>
              <a:rPr sz="1600" b="0">
                <a:solidFill>
                  <a:srgbClr val="222222"/>
                </a:solidFill>
                <a:latin typeface="맑은 고딕"/>
              </a:rPr>
              <a:t> 로 막힌다.</a:t>
            </a:r>
          </a:p>
          <a:p>
            <a:pPr algn="l">
              <a:spcAft>
                <a:spcPts val="1000"/>
              </a:spcAft>
            </a:pPr>
            <a:r>
              <a:rPr sz="1600" b="0">
                <a:solidFill>
                  <a:srgbClr val="222222"/>
                </a:solidFill>
                <a:latin typeface="맑은 고딕"/>
              </a:rPr>
              <a:t>•  Primary 쪽 표식은 </a:t>
            </a:r>
            <a:r>
              <a:rPr sz="1600" b="0">
                <a:solidFill>
                  <a:srgbClr val="222222"/>
                </a:solidFill>
                <a:latin typeface="Consolas"/>
                <a:cs typeface="Consolas"/>
              </a:rPr>
              <a:t>DATABASE_MODE</a:t>
            </a:r>
            <a:r>
              <a:rPr sz="1600" b="0">
                <a:solidFill>
                  <a:srgbClr val="222222"/>
                </a:solidFill>
                <a:latin typeface="맑은 고딕"/>
              </a:rPr>
              <a:t> 와 </a:t>
            </a:r>
            <a:r>
              <a:rPr sz="1600" b="0">
                <a:solidFill>
                  <a:srgbClr val="222222"/>
                </a:solidFill>
                <a:latin typeface="Consolas"/>
                <a:cs typeface="Consolas"/>
              </a:rPr>
              <a:t>RECOVERY_MODE</a:t>
            </a:r>
            <a:r>
              <a:rPr sz="1600" b="0">
                <a:solidFill>
                  <a:srgbClr val="222222"/>
                </a:solidFill>
                <a:latin typeface="맑은 고딕"/>
              </a:rPr>
              <a:t> 의 </a:t>
            </a:r>
            <a:r>
              <a:rPr sz="1600" b="1">
                <a:solidFill>
                  <a:srgbClr val="222222"/>
                </a:solidFill>
                <a:latin typeface="Consolas"/>
                <a:cs typeface="Consolas"/>
              </a:rPr>
              <a:t>WITH QUERY</a:t>
            </a:r>
            <a:r>
              <a:rPr sz="1600" b="0">
                <a:solidFill>
                  <a:srgbClr val="222222"/>
                </a:solidFill>
                <a:latin typeface="맑은 고딕"/>
              </a:rPr>
              <a:t> 유무다.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ADG 상태 확인: 두 표식과 기능 사용 통계, 세션 컨텍스트, PDB 서비스를 확인한다.</a:t>
            </a:r>
          </a:p>
          <a:p>
            <a:pPr algn="l">
              <a:spcAft>
                <a:spcPts val="1000"/>
              </a:spcAft>
            </a:pPr>
            <a:r>
              <a:rPr sz="1600" b="0">
                <a:solidFill>
                  <a:srgbClr val="222222"/>
                </a:solidFill>
                <a:latin typeface="맑은 고딕"/>
              </a:rPr>
              <a:t>•  실습 02 — 읽기 일관성 검증: 미커밋 상태를 유지한 채 조회하고, SQL*Plus 의 함정을 재현한다.</a:t>
            </a:r>
          </a:p>
          <a:p>
            <a:pPr algn="l">
              <a:spcAft>
                <a:spcPts val="1000"/>
              </a:spcAft>
            </a:pPr>
            <a:r>
              <a:rPr sz="1600" b="0">
                <a:solidFill>
                  <a:srgbClr val="222222"/>
                </a:solidFill>
                <a:latin typeface="맑은 고딕"/>
              </a:rPr>
              <a:t>•  실습 03 — 되는 것과 안 되는 것: ORA-16000 을 재현하고 정렬·GTT·시퀀스·통계·AWR 을 확인한다.</a:t>
            </a:r>
          </a:p>
          <a:p>
            <a:pPr algn="l">
              <a:spcAft>
                <a:spcPts val="1000"/>
              </a:spcAft>
            </a:pPr>
            <a:r>
              <a:rPr sz="1600" b="0">
                <a:solidFill>
                  <a:srgbClr val="222222"/>
                </a:solidFill>
                <a:latin typeface="맑은 고딕"/>
              </a:rPr>
              <a:t>•  실습 04 — DML 리다이렉션: 일반 사용자로 세 가지 DML 을 리다이렉트하고 Primary 에서 검증한다.</a:t>
            </a:r>
          </a:p>
          <a:p>
            <a:pPr algn="l">
              <a:spcAft>
                <a:spcPts val="1000"/>
              </a:spcAft>
            </a:pPr>
            <a:r>
              <a:rPr sz="1600" b="0">
                <a:solidFill>
                  <a:srgbClr val="222222"/>
                </a:solidFill>
                <a:latin typeface="맑은 고딕"/>
              </a:rPr>
              <a:t>•  실습 05 — 리다이렉션의 제약: </a:t>
            </a:r>
            <a:r>
              <a:rPr sz="1600" b="0">
                <a:solidFill>
                  <a:srgbClr val="222222"/>
                </a:solidFill>
                <a:latin typeface="Consolas"/>
                <a:cs typeface="Consolas"/>
              </a:rPr>
              <a:t>SYS</a:t>
            </a:r>
            <a:r>
              <a:rPr sz="1600" b="0">
                <a:solidFill>
                  <a:srgbClr val="222222"/>
                </a:solidFill>
                <a:latin typeface="맑은 고딕"/>
              </a:rPr>
              <a:t> 의 ORA-16397 과 DDL 의 ORA-16000 을 구분하고 점검표를 만든다.</a:t>
            </a:r>
          </a:p>
          <a:p>
            <a:pPr algn="l">
              <a:spcAft>
                <a:spcPts val="1000"/>
              </a:spcAft>
            </a:pPr>
            <a:r>
              <a:rPr sz="1600" b="0">
                <a:solidFill>
                  <a:srgbClr val="222222"/>
                </a:solidFill>
                <a:latin typeface="맑은 고딕"/>
              </a:rPr>
              <a:t>•  실습 06 — 지연 한도: ORA-03172·ORA-03174·ORA-03173 을 재현하고 두 장치를 비교한다.</a:t>
            </a:r>
          </a:p>
          <a:p>
            <a:pPr algn="l">
              <a:spcAft>
                <a:spcPts val="1000"/>
              </a:spcAft>
            </a:pPr>
            <a:r>
              <a:rPr sz="1600" b="0">
                <a:solidFill>
                  <a:srgbClr val="222222"/>
                </a:solidFill>
                <a:latin typeface="맑은 고딕"/>
              </a:rPr>
              <a:t>•  실습 07 — 히스토그램: 적용을 멈췄다 재개하며 분포의 변화를 관찰한다.</a:t>
            </a:r>
          </a:p>
          <a:p>
            <a:pPr algn="l">
              <a:spcAft>
                <a:spcPts val="1000"/>
              </a:spcAft>
            </a:pPr>
            <a:r>
              <a:rPr sz="1600" b="0">
                <a:solidFill>
                  <a:srgbClr val="222222"/>
                </a:solidFill>
                <a:latin typeface="맑은 고딕"/>
              </a:rPr>
              <a:t>•  실습 08 — 옵션 없는 대안 경로: MOUNTED 로 내려 </a:t>
            </a:r>
            <a:r>
              <a:rPr sz="1600" b="0">
                <a:solidFill>
                  <a:srgbClr val="222222"/>
                </a:solidFill>
                <a:latin typeface="Consolas"/>
                <a:cs typeface="Consolas"/>
              </a:rPr>
              <a:t>ORA-01219</a:t>
            </a:r>
            <a:r>
              <a:rPr sz="1600" b="0">
                <a:solidFill>
                  <a:srgbClr val="222222"/>
                </a:solidFill>
                <a:latin typeface="맑은 고딕"/>
              </a:rPr>
              <a:t> 를 재현하고 양쪽에서 동기화를 확인한다.</a:t>
            </a:r>
          </a:p>
          <a:p>
            <a:pPr algn="l">
              <a:spcAft>
                <a:spcPts val="1000"/>
              </a:spcAft>
            </a:pPr>
            <a:r>
              <a:rPr sz="1600" b="0">
                <a:solidFill>
                  <a:srgbClr val="222222"/>
                </a:solidFill>
                <a:latin typeface="맑은 고딕"/>
              </a:rPr>
              <a:t>•  실습 06·07 은 적용을 멈추고 08 은 Standby 를 닫는다. 각 실습 끝에서 반드시 원복한다.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
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13장에서 Intended State 를 배웠다. Broker 는 우리가 지시한 상태와 실제가 일치하면 정상으로 본다. 그것이 SHOW 의 판정 기준이다. VALIDATE 는 의도를 묻지 않고 전환 가능 여부라는 별개의 조건을 검사한다. 두 명령이 같은 상황에서 다른 답을 낼 수 있다는 뜻이며, 이 장은 그 장면을 실제로 만들어 보는 데서 시작한다. SUCCESS 라는 글자를 안전으로 읽는 습관이 이 장에서 깨진다.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재해 복구 능력이 완전히 사라진 상태인데 화면은 초록불이다. 이유가 둘이다. 첫째, LogShipping=OFF 는 우리가 Broker 에게 지시한 것이므로 의도한 상태다. 둘째, 지연이 0 인 것도 논리적으로 맞다. 전송이 꺼져 있으면 언제까지 받았는가의 기준이 갱신되지 않기 때문이다. 보내지 않으니 늦지도 않는다. 이 장면이 이 장의 출발점이다. 화면이 초록불인 동안 실제로는 재해 복구 능력이 사라져 있었다는 사실을 기억해 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Failover 가 Yes 인 것도 눈여겨본다. Failover 는 데이터 손실을 감수하는 비계획 전환이므로 전송이 꺼져 있어도 할 수는 있다. Switchover 는 무손실이어야 하므로 안 된다. 속성 표가 실습 01 에서는 전체 목록이었는데 여기서는 다른 값만 한 줄로 나왔다. 정상일수록 표가 짧다는 뜻이며, 표의 길이 자체가 점검 신호가 된다. 행이 하나라도 나오면 그 속성이 무엇인지 먼저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차이가 진단에 쓰인다. RESET 이 보이면 Broker 가 껐다는 뜻이고 DEFER 가 보이면 사람이 SQL 로 껐다는 뜻이다. 후자라면 13장에서 배운 대로 Broker 가 관리하는 것을 SQL 로 바꾼 상황이므로 다른 문제까지 의심해야 한다. 파라미터 값의 표현 차이가 곧 정보다. 실측에서 파라미터는 RESET 인데 목적지 상태는 DEFERRED 로 표시됐다. 같은 사실을 두 곳에서 다르게 표현하므로 둘을 함께 읽는 습관이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등록을 실제로 접속해 시험한다는 점이 인상적이다. 13장에서 정적 등록이 없으면 역할 전환이 중간에 멈춘다고 배웠는데, VALIDATE 는 그 전제를 미리 확인해 준다. boston Online Redo Log Files: Not Cleared 는 경고가 아니다. Standby 의 온라인 리두는 아직 쓰이지 않았을 뿐이며 전환되면 그때 정리된다. Primary 쪽 출력에 Ready for Failover 와 Log Files Cleared 가 없는 것도 같은 이유다. 받는 쪽의 관심사만 Standby 출력에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는 역할이 바뀐 뒤를 가정한 계산이다. 4장에서 배운 규칙 — SRL 은 온라인 그룹 수 + 1, 크기는 같게 — 이 양방향으로 지켜져야 한다는 뜻이다. Primary 쪽 SRL 을 만들어 두지 않으면 지금은 문제가 없다가 전환한 순간 리두를 받지 못한다. 손으로 하려면 양쪽에서 V$LOG 와 V$STANDBY_LOG 를 각각 조회해 두 번 비교해야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DATABASE VERBOSE 출력에서 값이 '(monitor)' 로 나오는 것들이다. 값을 설정하는 것이 아니라 조회하면 계산해 주는 속성이며, 이름을 지정해 하나씩 본다. 각각이 대응하는 V$ 뷰가 있지만 Broker 는 그것을 한 번에 요약해 준다. StatusReport 는 RAC 처럼 인스턴스가 여럿일 때 어느 인스턴스인지 구별할 수 있어 특히 쓸모가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STATUS=CURRENT 는 지금 쓰고 있는 로그이므로 밀린 것이 아니다. 전송이 밀리면 CURRENT 가 아닌 항목이 쌓인다. 7장에서 transport lag 과 apply lag 을 조합해 같은 진단을 했는데, 큐를 보면 양까지 알 수 있다는 점이 다르다. 얼마나 밀렸는가를 KB 단위로 말할 수 있다는 것이 실무에서 큰 차이를 만든다. SendQEntries 는 Primary 에서, RecvQEntries 는 Standby 를 대상으로 조회한다는 점도 함께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경우의 다음 확인 항목이 정해진다. 전송이 막혔으면 Primary 의 V$ARCHIVE_DEST_STATUS 와 LOG_ARCHIVE_DEST_STATE_2, LogShipping 속성을 본다. 적용이 막혔으면 MRP 존재 여부와 Intended State, DelayMins 를 본다. 다만 전송이 아예 꺼져 있으면 SendQ 도 쌓이지 않을 수 있으므로 큐만으로 판정하지 말고 목적지 상태를 함께 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크다고 문제가 아니다. 적용할 리두가 없어 기다리는 것이므로 유휴에 가깝다. 적용이 병목이라면 유휴가 아닌 I/O 계열이 상위로 올라온다. 이 속성을 쓰는 방법은 하나다. 평소 값을 알아 두는 것이다. 정기 점검에서 이 목록을 기록해 두면 나중에 비교할 근거가 생긴다. 기준선 없이 한 번 보는 것으로는 아무 판단도 할 수 없으며, 그 기준선을 만드는 일이 곧 이 속성을 쓰는 준비다. 상위 다섯 건과 값을 그대로 옮겨 적어 두는 것으로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번호가 이름-값-권한의 순서로 대응한다고 기억하면 편하다. 무엇을 고쳐야 하는지가 번호만으로 정해진다. 조회 전용이라는 사실은 SHOW DATABASE VERBOSE 출력에서 값이 '(monitor)' 로 나오는 것으로 미리 알 수 있으므로, 스크립트를 짤 때 그 표시를 먼저 확인하면 이 오류를 피할 수 있다. 조치는 SET 이 아니라 SHOW 를 쓰는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셋 다 기본값이 30 이었다. 임계값을 너무 짧게 잡으면 늘 WARNING 이 뜨고, 그러면 아무도 보지 않게 된다. 경보의 가치가 사라진다. 반대로 너무 길게 잡으면 문제를 늦게 안다. 환경의 정상 범위를 먼저 관찰한 뒤 그보다 위에 두는 것이 원칙이다. 임계값은 기술적 설정이 아니라 운영 정책의 표현이다. 숫자를 정하는 것은 어디까지를 정상으로 볼 것인가를 정하는 일이며, 그래서 담당자가 아니라 운영 규칙이 답을 가지고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장면이 두 지연을 나눠 보는 이유를 분명하게 만든다. 지금 보이는 apply lag 은 장애가 아니라 설정이며, transport lag 이 0 이라는 사실이 그것을 증명한다. 반대로 transport lag 이 커지면 그때는 진짜 문제다. 같은 지연이라는 말을 쓰지만 뜻이 다르다. 진단할 때 두 값을 반드시 함께 읽어야 하는 이유가 여기 있다. 하나만 보면 설정과 장애를 구별할 수 없으며, apply lag 하나로 경보를 만든 감시 체계가 거짓 경보를 쏟아 내는 원인이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이것이 DelayMins 가 파는 것이다. 첫째 계획된 전환이 막힌다. 둘째 재해가 나면 밀린 만큼을 잃는다. 셋째 밀린 리두를 다 적용할 때까지 Failover 도 늦어진다. DelayMins 는 실수 대비를 사고 재해 복구 능력을 파는 거래이지 공짜 안전장치가 아니다. 도입할 때는 이 세 가지 대가를 문서에 명시해 두는 것이 좋다. 나중에 왜 전환이 안 되느냐는 질문을 받았을 때 그 문서가 근거가 되며, 지연을 해제할 시점을 정하는 기준도 거기서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는 임계값이 있는 항목만 경보한다. 설정 자체가 위험한 것은 알리지 않는다. 임계값을 가진 것은 셋뿐이며 그 바깥의 위험 — 전송 차단, 보호 모드가 요구보다 낮음, 플래시백 꺼짐, 관측자 없음 — 은 경보의 대상이 아니다. 그래서 정기 점검에 VALIDATE 를 넣어야 한다. 경보는 숫자가 임계를 넘었는가만 답한다. 임계값을 가진 것은 셋뿐이며 그 바깥의 위험은 경보의 대상이 아니다. 그래서 정기 점검에 VALIDATE 를 넣어야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멤버 하나의 경고가 구성 상태를 끌어내린다. 이것을 반대로 이용하면 SHOW CONFIGURATION 한 줄로 봐야 할 일이 있는가를 판정할 수 있다. 다만 그러려면 임계값이 환경에 맞아야 한다. 담당자가 무시하는 습관이 들면 진짜 경보까지 함께 묻힌다. 경보의 가치는 평소에 조용한 데서 나온다는 원칙을 기억한다. 멤버 하나의 경고가 구성 상태를 끌어내리므로 반대로 이용하면 SHOW CONFIGURATION 한 줄로 봐야 할 일이 있는가를 판정할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ERROR_CODE &lt;&gt; 0 인 행을 먼저 보는 것이 요령이다. 이 조건 하나로 봐야 할 것과 그냥 기록이 나뉜다. 남은 두 건은 사용자가 MRP 를 취소했다는 뜻이며 실습 준비 과정의 흔적이다. 이 뷰는 인스턴스를 재기동하기 전까지 과거 기록을 그대로 들고 있으므로, 지금 문제인가를 보려면 TIMESTAMP 를 함께 봐야 한다. 이 뷰는 인스턴스를 재기동하기 전까지 과거 기록을 그대로 들고 있으므로 지금 문제인가를 보려면 TIMESTAMP 를 함께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Failover 에 걸릴 시간을 가늠하려면 밀린 것을 다 적용하고 Primary 로 열어야 하므로 두 값을 더한다. 지금 환경이라면 약 11초다. 몇 분 걸립니다 대신 지금 값으로 11초입니다 라고 말할 수 있게 된다. 다만 조회 시점의 상태만 반영하므로 평상시 값이 아니라 최악의 시점 값을 기준으로 삼아야 한다. 다만 조회 시점의 상태만 반영하므로 평상시 값이 아니라 최악의 시점 값을 기준으로 삼아야 한다. 배치 작업 중이라면 값이 크게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감시 스크립트를 짤 때 실제로 자주 겪는 함정이다. 뷰마다 조회할 쪽이 다르다. V$ARCHIVE_DEST_STATUS 는 Primary 에서 dest_id 2, Standby 에서 dest_id 1 을 본다. V$MANAGED_STANDBY 는 Standby 에서만 의미가 있다. 스크립트는 V$DATABASE 로 역할을 먼저 판정하고 역할에 따라 다른 조회 묶음을 실행하는 구조여야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DATABASE 와 REDO_SOURCE 가 512바이트로 정의되어 있어 서식을 주지 않으면 화면이 무너진다. STATUS 에 문자 서식을 주면 우물 정 자가 나오고 실측값은 0 이었다. SUCCESS 같은 문자열을 기대하고 파싱하면 어긋난다. 구성 정보는 양쪽 구성 파일에 같이 들어 있으므로 Primary 가 죽어도 Standby 에서 구성을 조회할 수 있다는 점도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감시 계정이 SYSDBA 가 아니라면 이름이 맞아도 이 오류가 난다. 이름을 의심하기 전에 접속 계정을 먼저 본다. V$ 뷰의 실제 이름은 V_$ 로 시작하므로 딕셔너리에서 찾을 때는 그 점에 주의한다. 세 뷰의 이름 규칙도 일관되지 않다. 앞의 둘은 DATAGUARD 인데 구성 뷰만 DG 로 줄어 있다. 세 뷰의 이름 규칙도 일관되지 않다. 앞의 둘은 DATAGUARD 인데 구성 뷰만 DG 로 줄어 있어 더 헷갈린다.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10장에서 Far Sync 의 ADR 경로를 짐작했다가 틀렸던 일과 같다. 경로는 추측하지 말고 find 로 찾는다. 권한도 본다. dr1 dat 은 640 인데 내보낸 XML 은 644 라 같은 그룹이 아닌 사용자도 읽을 수 있다. 구성 정보가 담긴 파일이므로 백업 위치로 옮긴 뒤 권한을 조이는 것이 낫다. 권한도 본다. dr1 dat 은 640 인데 내보낸 XML 은 644 라 같은 그룹이 아닌 사용자도 읽을 수 있으므로 옮긴 뒤 조이는 것이 낫다.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줄이 중요하다. DGMGRL 명령이 실제로는 서버 쪽 PL/SQL 호출이라는 것이 오류 스택에서 드러난다. 13장에서 DGMGRL 이 SQL 을 대신 실행해 준다고 한 그 구조다. 원하는 곳에 두려면 만들어진 뒤 OS 에서 옮긴다. 백업 스크립트라면 EXPORT 다음 줄에 mv 를 넣고 이름에 날짜를 포함시킨다. 원하는 곳에 두려면 만들어진 뒤 OS 에서 옮긴다. 백업 스크립트라면 EXPORT 다음 줄에 mv 를 넣고 이름에 날짜를 포함시킨다.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오래된 XML 로 현재 구성이 덮이는 사고를 막는 안전한 설계다. 13장의 ORA-16532 와 짝이 되는 번호로 기억하면 좋다. 있는데 또 만들려 하면 16504, 없는데 쓰려 하면 16532 다. 구성을 지운 동안에도 전송과 적용은 파라미터대로 계속되지만 장애가 나도 알려 줄 주체가 없으므로 이 작업은 짧게 끝내야 한다. 구성을 지운 동안에도 전송과 적용은 파라미터대로 계속되지만 장애가 나도 알려 줄 주체가 없으므로 이 작업은 짧게 끝내야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파일이 커졌다는 것은 그만큼 명시적으로 설정한 항목이 늘었다는 신호다. XML 안에서 Default="True" 표시가 붙은 항목은 기본값이라는 뜻이므로, 그 표시가 없는 항목을 찾으면 무엇을 손댔는지 알 수 있다. 실측에서 ApplyLagThreshold 는 값이 기본과 같은 30 인데도 Default 표시가 없었다. 한 번 설정하면 값이 같아도 설정한 것으로 남는다.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네트워크가 끊겼을 뿐인데 Standby 가 Primary 가 죽었다고 판단해 승격하면 Primary 가 둘이 된다. 양쪽에 서로 다른 쓰기가 쌓이면 되돌릴 수 없다. 관측자는 Primary 만 안 보이는지 내 쪽 네트워크가 문제인지를 구별할 수 있다. 관측자를 Primary 호스트에 두면 그 호스트가 죽을 때 판단 주체가 함께 사라진다. 관측자를 Primary 호스트에 두면 그 호스트가 죽을 때 판단 주체가 함께 사라진다. Standby 에 두면 단독 판정과 다를 바 없어진다.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데이터베이스의 백그라운드 프로세스가 아니라는 것이 구문에서 드러난다. FILE 절은 재기동 후에도 이어서 감시하기 위한 것이다. 이 실습에서는 관측자를 시작하지 않는다. 전경에서 돌면 세션을 붙잡고 IN BACKGROUND 로 띄우면 조건이 맞을 때 실제로 전환을 일으키기 때문이다. 실제 전환은 16장에서 다룬다. 이 실습에서는 관측자를 시작하지 않는다. IN BACKGROUND 로 띄우면 조건이 맞을 때 실제로 전환을 일으키기 때문이며 실제 전환은 16장에서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기본값이 NO 인 둘은 회복 가능한 상황이기 때문이다. 아카이버가 멈춘 것은 FRA 가 찼기 때문일 수 있고 공간을 비우면 풀린다. 그런 상황에 역할을 바꾸는 것은 과하다. 필요하면 ENABLE FAST_START FAILOVER CONDITION 으로 켤 수 있다. 자동 전환의 민감도를 사람이 정한다는 뜻이며 켤수록 빨리 반응하지만 불필요한 전환도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그러므로 enable 계열 명령은 실행한 뒤 반드시 SHOW 로 결과를 확인해야 한다. 화면에 Warning 이 있으면 그것이 무시해도 되는 것인지 판단한다. 플래시백이 왜 필요한가. 자동 전환 뒤 옛 Primary 를 되살리려면 필요하다. 없으면 옛 Primary 는 버리고 새로 만들어야 한다. 그래서 경고이지 금지는 아니다. 플래시백이 없으면 전환 뒤 옛 Primary 를 되살릴 수 없다. 그래서 경고이지 금지는 아니다. 자동 전환 자체는 동작한다.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ORA-16819 는 실습에서는 의도한 것이지만 운영에서 보면 심각한 상태다. FSFO 를 켜 놓고 관측자가 없으면 자동 전환이 일어나지 않는다. 자동 전환이 켜져 있다고 안심하는 사이 아무 일도 하지 않는다. Potential Data Loss Mode 는 보호 모드가 MaxPerformance 이므로 전환 시 데이터 손실 가능성이 있다는 뜻이다. Potential Data Loss Mode 는 보호 모드가 MaxPerformance 이므로 전환 시 데이터 손실 가능성이 있다는 뜻이다. MaxAvailability 라면 표현이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대상을 지정하는 것이 켜는 행위처럼 보이기 때문에 생기는 착각이다. 실제로는 ENABLE 이 기능을 켜고 속성은 대상을 정할 뿐이며 둘은 별개다. 이 상태에서 관측자가 떠 있다면 대상이 불명확한 채로 전환 조건을 감시하게 된다. SHOW 로 확인하지 않으면 모른 채 넘어간다는 점이 가장 위험하다. 대상을 지정하는 것이 켜는 행위처럼 보이기 때문에 생기는 착각이다. 실제로는 ENABLE 이 기능을 켜고 속성은 대상을 정할 뿐이며 둘은 별개다. SHOW 로 확인하지 않으면 모른 채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Observe-Only Mode 는 관측자가 조건을 감시하고 기록은 남기지만 실제 전환은 하지 않는 모드다. 도입 단계에서 얼마나 자주 조건에 걸리는지 먼저 관찰한 뒤 진짜로 켤지 판단할 수 있다. 다만 관측 전용이어도 관측자는 필요하며 실측에서 ORA-16819 는 그대로 떴다. 감시만 하는 모드일 뿐 감시할 주체가 없어도 된다는 뜻이 아니다. 다만 관측 전용이어도 관측자는 필요하며 실측에서 ORA-16819 는 그대로 떴다. 감시만 하는 모드일 뿐 감시할 주체가 없어도 된다는 뜻이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시차 때문에 SHOW 를 한 번 보고 판단하면 오판할 수 있다. 방금 무언가를 바꿨다면 갱신 시각을 확인하고 필요하면 다시 조회한다. 반대로 오래된 판정을 최신 상태로 오인하는 경우도 있다. 실습 02 에서 SUCCESS 옆에 58 seconds ago 가 붙어 있었던 것을 떠올린다. 화면의 색깔만이 아니라 그 값이 언제 계산됐는지를 함께 보는 습관이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1~3층은 SQL 이나 DGMGRL 한 줄로 끝나므로 자동화한다. 4층은 사람이 읽어야 할 항목이 많으므로 정기 점검에 넣는다. 5층은 사건이 났을 때만 본다. 층마다 답하는 질문이 다르므로 어느 하나로 다른 것을 대신할 수 없다. 특히 1층의 SUCCESS 는 4층의 답을 대신하지 못한다는 것이 이 장 전체의 결론이다. 그래서 4층을 자동화하기 어렵더라도 최소한 Ready for Switchover 한 줄은 뽑아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실측한 상황이 정확히 그것이다. 전송이 완전히 끊겼는데 1층은 SUCCESS 였고 2층은 두 지연 모두 0 이었다. 4층만이 Ready for Switchover: No 라고 답했다. 최소한 Ready for Switchover 한 줄과 속성 비교 표의 불일치 행만이라도 자동으로 뽑아 주간 점검 기록에 남기면 이 함정을 피할 수 있다. 최소한 Ready for Switchover 한 줄과 속성 비교 표의 불일치 행만이라도 자동으로 뽑아 주간 점검 기록에 남기면 이 함정을 피할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가지 중 셋이 정상이거나 설정한 대로다. Broker 의 화면에서 색깔만 보고 판단하면 안 된다는 것이 이 장의 요지다. SUCCESS 가 안전을 뜻하지 않고 Warning 이 위험을 뜻하지도 않는다. 각 표시가 어떤 질문에 대한 답인지를 알아야 판정할 수 있으며, 그것을 아는 것이 이 장에서 배운 전부다. 각 표시가 어떤 질문에 대한 답인지를 알아야 판정할 수 있으며 그것을 아는 것이 이 장에서 배운 전부다.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 에서 쓴 것은 첫 번째뿐이었다. DATAFILE 은 OUTPUT= 이 대괄호 밖에 있어 필수이며 빠뜨리면 Syntax error 다. 그리고 경로를 주면 DGM-17138 로 거부된다. 14.6절의 EXPORT CONFIGURATION 이 ORA-16540 을 낸 것과 같은 구조이며 인자는 경로가 아니라 파일 이름이다. 오류 접두어가 ORA- 가 아니라 DGM- 이라는 점도 판정 스크립트를 짤 때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명령은 Primary 에서 냈는데 결과물은 대상 쪽에 생긴다. 검사를 대상 데이터베이스가 수행하기 때문이며 14.6절의 EXPORT 와 다르므로 명령마다 확인한다. lost write 는 전송과 적용이 정상인데도 데이터가 조용히 어긋나는 사고이며 지연이나 시퀀스로는 드러나지 않는다. 15장에서 만들 점검표로도 잡히지 않고 이 명령만이 잡는다. 실측에서 CORR 와 lost write 는 모두 0 이었다.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log_archive_trace 가 흥미롭다. 15장에서 chicago 에만 추적을 켰다가 0 으로 되돌리는데 그때 SCOPE=BOTH 로 저장되면서 명시적으로 0 이 된다. boston 은 한 번도 건드리지 않아 NOT SPECIFIED 다. 값은 사실상 같은데 표기가 다르며, 14.6절에서 본 XML 의 Default 표시와 같은 이야기다. 한 번 설정하면 기본값과 같아도 설정한 것으로 남는다.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출력에 이유가 있다. VALIDATE DATABASE 는 Primary 의 정적 등록만 시험하고 대상의 것은 검사하지 않는다. 그런데 16장의 전환 과정은 대상 쪽 정적 등록을 쓰므로 지금 전환하면 New primary is opening 다음에서 멈춘다. 이 장은 SHOW 가 SUCCESS 라고 안전한 것이 아니라는 데서 출발했는데, VALIDATE 가 Yes 라고 전환이 된다는 보장도 아니라는 데까지 온다.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화면은 SUCCESS·WARNING·ERROR 라는 낱말만 보여 주므로 자동 판정에는 로그 쪽이 쓰기 좋다. IncarnationTable 은 우리가 실행한 적 없는 명령인데 Broker 가 스스로 실행한 것이며, 16장에서 Failover 로 인큐네이션이 바뀐 뒤 그 이력을 기록한 것이다. 값 안의 숫자가 16장에서 볼 RESETLOGS_CHANGE# 와 같다. 화면은 지금을, 로그는 그동안을 보여 준다.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Broker 모니터링과 검증</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SUCCESS 가 안전을 뜻하지 않는다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보는 법을 배우는 자리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SHOW</a:t>
            </a:r>
            <a:r>
              <a:rPr sz="1600" b="0">
                <a:solidFill>
                  <a:srgbClr val="222222"/>
                </a:solidFill>
                <a:latin typeface="맑은 고딕"/>
              </a:rPr>
              <a:t> 와 </a:t>
            </a:r>
            <a:r>
              <a:rPr sz="1600" b="0">
                <a:solidFill>
                  <a:srgbClr val="222222"/>
                </a:solidFill>
                <a:latin typeface="Consolas"/>
                <a:cs typeface="Consolas"/>
              </a:rPr>
              <a:t>VALIDATE</a:t>
            </a:r>
            <a:r>
              <a:rPr sz="1600" b="0">
                <a:solidFill>
                  <a:srgbClr val="222222"/>
                </a:solidFill>
                <a:latin typeface="맑은 고딕"/>
              </a:rPr>
              <a:t> 가 각각 어떤 질문에 답하는지 구별한다.</a:t>
            </a:r>
          </a:p>
          <a:p>
            <a:pPr algn="l">
              <a:spcAft>
                <a:spcPts val="1000"/>
              </a:spcAft>
            </a:pPr>
            <a:r>
              <a:rPr sz="1600" b="0">
                <a:solidFill>
                  <a:srgbClr val="222222"/>
                </a:solidFill>
                <a:latin typeface="맑은 고딕"/>
              </a:rPr>
              <a:t>•  전송이 끊겼는데 </a:t>
            </a:r>
            <a:r>
              <a:rPr sz="1600" b="0">
                <a:solidFill>
                  <a:srgbClr val="222222"/>
                </a:solidFill>
                <a:latin typeface="Consolas"/>
                <a:cs typeface="Consolas"/>
              </a:rPr>
              <a:t>SUCCESS</a:t>
            </a:r>
            <a:r>
              <a:rPr sz="1600" b="0">
                <a:solidFill>
                  <a:srgbClr val="222222"/>
                </a:solidFill>
                <a:latin typeface="맑은 고딕"/>
              </a:rPr>
              <a:t> 가 나오는 상황을 실측으로 확인한다.</a:t>
            </a:r>
          </a:p>
          <a:p>
            <a:pPr algn="l">
              <a:spcAft>
                <a:spcPts val="1000"/>
              </a:spcAft>
            </a:pPr>
            <a:r>
              <a:rPr sz="1600" b="0">
                <a:solidFill>
                  <a:srgbClr val="222222"/>
                </a:solidFill>
                <a:latin typeface="맑은 고딕"/>
              </a:rPr>
              <a:t>•  모니터링 전용 속성으로 큐와 대기 이벤트를 읽는다.</a:t>
            </a:r>
          </a:p>
          <a:p>
            <a:pPr algn="l">
              <a:spcAft>
                <a:spcPts val="1000"/>
              </a:spcAft>
            </a:pPr>
            <a:r>
              <a:rPr sz="1600" b="0">
                <a:solidFill>
                  <a:srgbClr val="222222"/>
                </a:solidFill>
                <a:latin typeface="맑은 고딕"/>
              </a:rPr>
              <a:t>•  임계값 셋과 대응 오류(ORA-16853·16855·16857)를 안다.</a:t>
            </a:r>
          </a:p>
          <a:p>
            <a:pPr algn="l">
              <a:spcAft>
                <a:spcPts val="1000"/>
              </a:spcAft>
            </a:pPr>
            <a:r>
              <a:rPr sz="1600" b="0">
                <a:solidFill>
                  <a:srgbClr val="222222"/>
                </a:solidFill>
                <a:latin typeface="맑은 고딕"/>
              </a:rPr>
              <a:t>•  </a:t>
            </a:r>
            <a:r>
              <a:rPr sz="1600" b="0">
                <a:solidFill>
                  <a:srgbClr val="222222"/>
                </a:solidFill>
                <a:latin typeface="Consolas"/>
                <a:cs typeface="Consolas"/>
              </a:rPr>
              <a:t>DelayMins</a:t>
            </a:r>
            <a:r>
              <a:rPr sz="1600" b="0">
                <a:solidFill>
                  <a:srgbClr val="222222"/>
                </a:solidFill>
                <a:latin typeface="맑은 고딕"/>
              </a:rPr>
              <a:t> 가 사는 것과 파는 것을 설명한다.</a:t>
            </a:r>
          </a:p>
          <a:p>
            <a:pPr algn="l">
              <a:spcAft>
                <a:spcPts val="1000"/>
              </a:spcAft>
            </a:pPr>
            <a:r>
              <a:rPr sz="1600" b="0">
                <a:solidFill>
                  <a:srgbClr val="222222"/>
                </a:solidFill>
                <a:latin typeface="맑은 고딕"/>
              </a:rPr>
              <a:t>•  V$ 뷰로 Broker 의 요약을 교차 확인한다.</a:t>
            </a:r>
          </a:p>
          <a:p>
            <a:pPr algn="l">
              <a:spcAft>
                <a:spcPts val="1000"/>
              </a:spcAft>
            </a:pPr>
            <a:r>
              <a:rPr sz="1600" b="0">
                <a:solidFill>
                  <a:srgbClr val="222222"/>
                </a:solidFill>
                <a:latin typeface="맑은 고딕"/>
              </a:rPr>
              <a:t>•  구성을 XML 로 내보내고 그 제약을 안다.</a:t>
            </a:r>
          </a:p>
          <a:p>
            <a:pPr algn="l">
              <a:spcAft>
                <a:spcPts val="1000"/>
              </a:spcAft>
            </a:pPr>
            <a:r>
              <a:rPr sz="1600" b="0">
                <a:solidFill>
                  <a:srgbClr val="222222"/>
                </a:solidFill>
                <a:latin typeface="맑은 고딕"/>
              </a:rPr>
              <a:t>•  Fast-Start Failover 를 켜고 정식으로 끄는 순서를 익힌다.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14.2  SHOW 와 VALIDATE</a:t>
            </a:r>
          </a:p>
          <a:p>
            <a:pPr algn="l">
              <a:spcAft>
                <a:spcPts val="1000"/>
              </a:spcAft>
            </a:pPr>
            <a:r>
              <a:rPr sz="1600" b="0">
                <a:solidFill>
                  <a:srgbClr val="222222"/>
                </a:solidFill>
                <a:latin typeface="맑은 고딕"/>
              </a:rPr>
              <a:t>•  14.3  모니터링 전용 속성</a:t>
            </a:r>
          </a:p>
          <a:p>
            <a:pPr algn="l">
              <a:spcAft>
                <a:spcPts val="1000"/>
              </a:spcAft>
            </a:pPr>
            <a:r>
              <a:rPr sz="1600" b="0">
                <a:solidFill>
                  <a:srgbClr val="222222"/>
                </a:solidFill>
                <a:latin typeface="맑은 고딕"/>
              </a:rPr>
              <a:t>•  14.4  임계값과 경고</a:t>
            </a:r>
          </a:p>
          <a:p>
            <a:pPr algn="l">
              <a:spcAft>
                <a:spcPts val="1000"/>
              </a:spcAft>
            </a:pPr>
            <a:r>
              <a:rPr sz="1600" b="0">
                <a:solidFill>
                  <a:srgbClr val="222222"/>
                </a:solidFill>
                <a:latin typeface="맑은 고딕"/>
              </a:rPr>
              <a:t>•  14.5  V$ 뷰와 대조</a:t>
            </a:r>
          </a:p>
          <a:p>
            <a:pPr algn="l">
              <a:spcAft>
                <a:spcPts val="1000"/>
              </a:spcAft>
            </a:pPr>
            <a:r>
              <a:rPr sz="1600" b="0">
                <a:solidFill>
                  <a:srgbClr val="222222"/>
                </a:solidFill>
                <a:latin typeface="맑은 고딕"/>
              </a:rPr>
              <a:t>•  14.6  구성을 파일로 남긴다</a:t>
            </a:r>
          </a:p>
          <a:p>
            <a:pPr algn="l">
              <a:spcAft>
                <a:spcPts val="1000"/>
              </a:spcAft>
            </a:pPr>
            <a:r>
              <a:rPr sz="1600" b="0">
                <a:solidFill>
                  <a:srgbClr val="222222"/>
                </a:solidFill>
                <a:latin typeface="맑은 고딕"/>
              </a:rPr>
              <a:t>•  14.7  Fast-Start Failover</a:t>
            </a:r>
          </a:p>
          <a:p>
            <a:pPr algn="l">
              <a:spcAft>
                <a:spcPts val="1000"/>
              </a:spcAft>
            </a:pPr>
            <a:r>
              <a:rPr sz="1600" b="0">
                <a:solidFill>
                  <a:srgbClr val="222222"/>
                </a:solidFill>
                <a:latin typeface="맑은 고딕"/>
              </a:rPr>
              <a:t>•  14.8  감시 체계를 어떻게 짤 것인가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SHOW 와 VALIDATE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다른 질문에 답한다</a:t>
            </a:r>
          </a:p>
          <a:p>
            <a:pPr algn="l">
              <a:spcAft>
                <a:spcPts val="800"/>
              </a:spcAft>
            </a:pPr>
            <a:r>
              <a:rPr sz="1600" b="0">
                <a:solidFill>
                  <a:srgbClr val="FFFFFF"/>
                </a:solidFill>
                <a:latin typeface="맑은 고딕"/>
              </a:rPr>
              <a:t>•  실측 — 전송을 끊어 본다</a:t>
            </a:r>
          </a:p>
          <a:p>
            <a:pPr algn="l">
              <a:spcAft>
                <a:spcPts val="800"/>
              </a:spcAft>
            </a:pPr>
            <a:r>
              <a:rPr sz="1600" b="0">
                <a:solidFill>
                  <a:srgbClr val="FFFFFF"/>
                </a:solidFill>
                <a:latin typeface="맑은 고딕"/>
              </a:rPr>
              <a:t>•  VALIDATE 가 읽어 주는 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명령의 질문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묻는가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SHOW CONFIGURATION</a:t>
            </a:r>
            <a:r>
              <a:rPr sz="1700" b="0">
                <a:solidFill>
                  <a:srgbClr val="222222"/>
                </a:solidFill>
                <a:latin typeface="맑은 고딕"/>
              </a:rPr>
              <a:t> — 지금 </a:t>
            </a:r>
            <a:r>
              <a:rPr sz="1700" b="1">
                <a:solidFill>
                  <a:srgbClr val="222222"/>
                </a:solidFill>
                <a:latin typeface="맑은 고딕"/>
              </a:rPr>
              <a:t>의도대로</a:t>
            </a:r>
            <a:r>
              <a:rPr sz="1700" b="0">
                <a:solidFill>
                  <a:srgbClr val="222222"/>
                </a:solidFill>
                <a:latin typeface="맑은 고딕"/>
              </a:rPr>
              <a:t> 동작하는가</a:t>
            </a:r>
          </a:p>
          <a:p>
            <a:pPr algn="l">
              <a:spcAft>
                <a:spcPts val="1000"/>
              </a:spcAft>
            </a:pPr>
            <a:r>
              <a:rPr sz="1700" b="0">
                <a:solidFill>
                  <a:srgbClr val="222222"/>
                </a:solidFill>
                <a:latin typeface="맑은 고딕"/>
              </a:rPr>
              <a:t>•  </a:t>
            </a:r>
            <a:r>
              <a:rPr sz="1700" b="0">
                <a:solidFill>
                  <a:srgbClr val="222222"/>
                </a:solidFill>
                <a:latin typeface="Consolas"/>
                <a:cs typeface="Consolas"/>
              </a:rPr>
              <a:t>SHOW DATABASE</a:t>
            </a:r>
            <a:r>
              <a:rPr sz="1700" b="0">
                <a:solidFill>
                  <a:srgbClr val="222222"/>
                </a:solidFill>
                <a:latin typeface="맑은 고딕"/>
              </a:rPr>
              <a:t> — 이 멤버가 의도대로인가</a:t>
            </a:r>
          </a:p>
          <a:p>
            <a:pPr algn="l">
              <a:spcAft>
                <a:spcPts val="1000"/>
              </a:spcAft>
            </a:pPr>
            <a:r>
              <a:rPr sz="1700" b="0">
                <a:solidFill>
                  <a:srgbClr val="222222"/>
                </a:solidFill>
                <a:latin typeface="맑은 고딕"/>
              </a:rPr>
              <a:t>•  </a:t>
            </a:r>
            <a:r>
              <a:rPr sz="1700" b="0">
                <a:solidFill>
                  <a:srgbClr val="222222"/>
                </a:solidFill>
                <a:latin typeface="Consolas"/>
                <a:cs typeface="Consolas"/>
              </a:rPr>
              <a:t>VALIDATE DATABASE</a:t>
            </a:r>
            <a:r>
              <a:rPr sz="1700" b="0">
                <a:solidFill>
                  <a:srgbClr val="222222"/>
                </a:solidFill>
                <a:latin typeface="맑은 고딕"/>
              </a:rPr>
              <a:t> — 지금 </a:t>
            </a:r>
            <a:r>
              <a:rPr sz="1700" b="1">
                <a:solidFill>
                  <a:srgbClr val="222222"/>
                </a:solidFill>
                <a:latin typeface="맑은 고딕"/>
              </a:rPr>
              <a:t>역할을 바꿀 수 있는가</a:t>
            </a:r>
          </a:p>
          <a:p>
            <a:pPr algn="l">
              <a:spcAft>
                <a:spcPts val="1000"/>
              </a:spcAft>
            </a:pPr>
            <a:r>
              <a:rPr sz="1700" b="0">
                <a:solidFill>
                  <a:srgbClr val="222222"/>
                </a:solidFill>
                <a:latin typeface="맑은 고딕"/>
              </a:rPr>
              <a:t>•  세 번째만 미래를 묻는다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실측 — 전송을 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SHOW 는 뭐라고 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edit database 'boston' set property 'LogShipping'='OFF'</a:t>
            </a:r>
          </a:p>
          <a:p>
            <a:pPr algn="l">
              <a:spcAft>
                <a:spcPts val="1000"/>
              </a:spcAft>
            </a:pPr>
            <a:r>
              <a:rPr sz="1700" b="0">
                <a:solidFill>
                  <a:srgbClr val="222222"/>
                </a:solidFill>
                <a:latin typeface="맑은 고딕"/>
              </a:rPr>
              <a:t>•  Primary 에 변경 발생 + 로그 두 번 전환</a:t>
            </a:r>
          </a:p>
          <a:p>
            <a:pPr algn="l">
              <a:spcAft>
                <a:spcPts val="1000"/>
              </a:spcAft>
            </a:pPr>
            <a:r>
              <a:rPr sz="1700" b="0">
                <a:solidFill>
                  <a:srgbClr val="222222"/>
                </a:solidFill>
                <a:latin typeface="맑은 고딕"/>
              </a:rPr>
              <a:t>•  </a:t>
            </a:r>
            <a:r>
              <a:rPr sz="1700" b="0">
                <a:solidFill>
                  <a:srgbClr val="222222"/>
                </a:solidFill>
                <a:latin typeface="Consolas"/>
                <a:cs typeface="Consolas"/>
              </a:rPr>
              <a:t>SHOW CONFIGURATION</a:t>
            </a:r>
            <a:r>
              <a:rPr sz="1700" b="0">
                <a:solidFill>
                  <a:srgbClr val="222222"/>
                </a:solidFill>
                <a:latin typeface="맑은 고딕"/>
              </a:rPr>
              <a:t> → </a:t>
            </a:r>
            <a:r>
              <a:rPr sz="1700" b="1">
                <a:solidFill>
                  <a:srgbClr val="222222"/>
                </a:solidFill>
                <a:latin typeface="맑은 고딕"/>
              </a:rPr>
              <a:t>SUCCESS</a:t>
            </a:r>
          </a:p>
          <a:p>
            <a:pPr algn="l">
              <a:spcAft>
                <a:spcPts val="1000"/>
              </a:spcAft>
            </a:pPr>
            <a:r>
              <a:rPr sz="1700" b="0">
                <a:solidFill>
                  <a:srgbClr val="222222"/>
                </a:solidFill>
                <a:latin typeface="맑은 고딕"/>
              </a:rPr>
              <a:t>•  </a:t>
            </a:r>
            <a:r>
              <a:rPr sz="1700" b="0">
                <a:solidFill>
                  <a:srgbClr val="222222"/>
                </a:solidFill>
                <a:latin typeface="Consolas"/>
                <a:cs typeface="Consolas"/>
              </a:rPr>
              <a:t>SHOW DATABASE 'boston'</a:t>
            </a:r>
            <a:r>
              <a:rPr sz="1700" b="0">
                <a:solidFill>
                  <a:srgbClr val="222222"/>
                </a:solidFill>
                <a:latin typeface="맑은 고딕"/>
              </a:rPr>
              <a:t> → </a:t>
            </a:r>
            <a:r>
              <a:rPr sz="1700" b="1">
                <a:solidFill>
                  <a:srgbClr val="222222"/>
                </a:solidFill>
                <a:latin typeface="맑은 고딕"/>
              </a:rPr>
              <a:t>SUCCESS</a:t>
            </a:r>
          </a:p>
          <a:p>
            <a:pPr algn="l">
              <a:spcAft>
                <a:spcPts val="1000"/>
              </a:spcAft>
            </a:pPr>
            <a:r>
              <a:rPr sz="1700" b="0">
                <a:solidFill>
                  <a:srgbClr val="222222"/>
                </a:solidFill>
                <a:latin typeface="맑은 고딕"/>
              </a:rPr>
              <a:t>•  Transport Lag </a:t>
            </a:r>
            <a:r>
              <a:rPr sz="1700" b="1">
                <a:solidFill>
                  <a:srgbClr val="222222"/>
                </a:solidFill>
                <a:latin typeface="맑은 고딕"/>
              </a:rPr>
              <a:t>0</a:t>
            </a:r>
            <a:r>
              <a:rPr sz="1700" b="0">
                <a:solidFill>
                  <a:srgbClr val="222222"/>
                </a:solidFill>
                <a:latin typeface="맑은 고딕"/>
              </a:rPr>
              <a:t> / Apply Lag </a:t>
            </a:r>
            <a:r>
              <a:rPr sz="1700" b="1">
                <a:solidFill>
                  <a:srgbClr val="222222"/>
                </a:solidFill>
                <a:latin typeface="맑은 고딕"/>
              </a:rPr>
              <a:t>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같은 시점의 VALIDATE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다른 답이 나온다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Ready for Switchover:</a:t>
            </a:r>
            <a:r>
              <a:rPr sz="1700" b="0">
                <a:solidFill>
                  <a:srgbClr val="222222"/>
                </a:solidFill>
                <a:latin typeface="맑은 고딕"/>
              </a:rPr>
              <a:t> </a:t>
            </a:r>
            <a:r>
              <a:rPr sz="1700" b="1">
                <a:solidFill>
                  <a:srgbClr val="222222"/>
                </a:solidFill>
                <a:latin typeface="맑은 고딕"/>
              </a:rPr>
              <a:t>No</a:t>
            </a:r>
          </a:p>
          <a:p>
            <a:pPr algn="l">
              <a:spcAft>
                <a:spcPts val="1000"/>
              </a:spcAft>
            </a:pPr>
            <a:r>
              <a:rPr sz="1700" b="0">
                <a:solidFill>
                  <a:srgbClr val="222222"/>
                </a:solidFill>
                <a:latin typeface="맑은 고딕"/>
              </a:rPr>
              <a:t>•  </a:t>
            </a:r>
            <a:r>
              <a:rPr sz="1700" b="0">
                <a:solidFill>
                  <a:srgbClr val="222222"/>
                </a:solidFill>
                <a:latin typeface="Consolas"/>
                <a:cs typeface="Consolas"/>
              </a:rPr>
              <a:t>Ready for Failover:</a:t>
            </a:r>
            <a:r>
              <a:rPr sz="1700" b="0">
                <a:solidFill>
                  <a:srgbClr val="222222"/>
                </a:solidFill>
                <a:latin typeface="맑은 고딕"/>
              </a:rPr>
              <a:t> Yes (Primary Running)</a:t>
            </a:r>
          </a:p>
          <a:p>
            <a:pPr algn="l">
              <a:spcAft>
                <a:spcPts val="1000"/>
              </a:spcAft>
            </a:pPr>
            <a:r>
              <a:rPr sz="1700" b="0">
                <a:solidFill>
                  <a:srgbClr val="222222"/>
                </a:solidFill>
                <a:latin typeface="맑은 고딕"/>
              </a:rPr>
              <a:t>•  속성 표에 </a:t>
            </a:r>
            <a:r>
              <a:rPr sz="1700" b="0">
                <a:solidFill>
                  <a:srgbClr val="222222"/>
                </a:solidFill>
                <a:latin typeface="Consolas"/>
                <a:cs typeface="Consolas"/>
              </a:rPr>
              <a:t>LogShipping ON / OFF</a:t>
            </a:r>
            <a:r>
              <a:rPr sz="1700" b="0">
                <a:solidFill>
                  <a:srgbClr val="222222"/>
                </a:solidFill>
                <a:latin typeface="맑은 고딕"/>
              </a:rPr>
              <a:t> </a:t>
            </a:r>
            <a:r>
              <a:rPr sz="1700" b="1">
                <a:solidFill>
                  <a:srgbClr val="222222"/>
                </a:solidFill>
                <a:latin typeface="맑은 고딕"/>
              </a:rPr>
              <a:t>한 줄만</a:t>
            </a:r>
          </a:p>
          <a:p>
            <a:pPr algn="l">
              <a:spcAft>
                <a:spcPts val="1000"/>
              </a:spcAft>
            </a:pPr>
            <a:r>
              <a:rPr sz="1700" b="0">
                <a:solidFill>
                  <a:srgbClr val="222222"/>
                </a:solidFill>
                <a:latin typeface="맑은 고딕"/>
              </a:rPr>
              <a:t>•  VALIDATE 는 </a:t>
            </a:r>
            <a:r>
              <a:rPr sz="1700" b="1">
                <a:solidFill>
                  <a:srgbClr val="222222"/>
                </a:solidFill>
                <a:latin typeface="맑은 고딕"/>
              </a:rPr>
              <a:t>값이 다른 것만</a:t>
            </a:r>
            <a:r>
              <a:rPr sz="1700" b="0">
                <a:solidFill>
                  <a:srgbClr val="222222"/>
                </a:solidFill>
                <a:latin typeface="맑은 고딕"/>
              </a:rPr>
              <a:t> 골라 보여 준다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는 RESET 을 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손으로 껐을 때와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LOG_ARCHIVE_DEST_STATE_2</a:t>
            </a:r>
            <a:r>
              <a:rPr sz="1700" b="0">
                <a:solidFill>
                  <a:srgbClr val="222222"/>
                </a:solidFill>
                <a:latin typeface="맑은 고딕"/>
              </a:rPr>
              <a:t> = </a:t>
            </a:r>
            <a:r>
              <a:rPr sz="1700" b="1">
                <a:solidFill>
                  <a:srgbClr val="222222"/>
                </a:solidFill>
                <a:latin typeface="맑은 고딕"/>
              </a:rPr>
              <a:t>RESET</a:t>
            </a:r>
            <a:r>
              <a:rPr sz="1700" b="0">
                <a:solidFill>
                  <a:srgbClr val="222222"/>
                </a:solidFill>
                <a:latin typeface="맑은 고딕"/>
              </a:rPr>
              <a:t> (DEFER 아님)</a:t>
            </a:r>
          </a:p>
          <a:p>
            <a:pPr algn="l">
              <a:spcAft>
                <a:spcPts val="1000"/>
              </a:spcAft>
            </a:pPr>
            <a:r>
              <a:rPr sz="1700" b="0">
                <a:solidFill>
                  <a:srgbClr val="222222"/>
                </a:solidFill>
                <a:latin typeface="맑은 고딕"/>
              </a:rPr>
              <a:t>•  </a:t>
            </a:r>
            <a:r>
              <a:rPr sz="1700" b="0">
                <a:solidFill>
                  <a:srgbClr val="222222"/>
                </a:solidFill>
                <a:latin typeface="Consolas"/>
                <a:cs typeface="Consolas"/>
              </a:rPr>
              <a:t>V$ARCHIVE_DEST_STATUS</a:t>
            </a:r>
            <a:r>
              <a:rPr sz="1700" b="0">
                <a:solidFill>
                  <a:srgbClr val="222222"/>
                </a:solidFill>
                <a:latin typeface="맑은 고딕"/>
              </a:rPr>
              <a:t> STATUS = </a:t>
            </a:r>
            <a:r>
              <a:rPr sz="1700" b="1">
                <a:solidFill>
                  <a:srgbClr val="222222"/>
                </a:solidFill>
                <a:latin typeface="맑은 고딕"/>
              </a:rPr>
              <a:t>DEFERRED</a:t>
            </a:r>
          </a:p>
          <a:p>
            <a:pPr algn="l">
              <a:spcAft>
                <a:spcPts val="1000"/>
              </a:spcAft>
            </a:pPr>
            <a:r>
              <a:rPr sz="1700" b="0">
                <a:solidFill>
                  <a:srgbClr val="222222"/>
                </a:solidFill>
                <a:latin typeface="맑은 고딕"/>
              </a:rPr>
              <a:t>•  7장에서 손으로 껐을 때는 </a:t>
            </a:r>
            <a:r>
              <a:rPr sz="1700" b="0">
                <a:solidFill>
                  <a:srgbClr val="222222"/>
                </a:solidFill>
                <a:latin typeface="Consolas"/>
                <a:cs typeface="Consolas"/>
              </a:rPr>
              <a:t>DEFER</a:t>
            </a:r>
          </a:p>
          <a:p>
            <a:pPr algn="l">
              <a:spcAft>
                <a:spcPts val="1000"/>
              </a:spcAft>
            </a:pPr>
            <a:r>
              <a:rPr sz="1700" b="0">
                <a:solidFill>
                  <a:srgbClr val="222222"/>
                </a:solidFill>
                <a:latin typeface="맑은 고딕"/>
              </a:rPr>
              <a:t>•  값만 보고 </a:t>
            </a:r>
            <a:r>
              <a:rPr sz="1700" b="1">
                <a:solidFill>
                  <a:srgbClr val="222222"/>
                </a:solidFill>
                <a:latin typeface="맑은 고딕"/>
              </a:rPr>
              <a:t>누가 껐는지</a:t>
            </a:r>
            <a:r>
              <a:rPr sz="1700" b="0">
                <a:solidFill>
                  <a:srgbClr val="222222"/>
                </a:solidFill>
                <a:latin typeface="맑은 고딕"/>
              </a:rPr>
              <a:t> 구별할 수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가 읽어 주는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항목별로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Ready for Switchover</a:t>
            </a:r>
            <a:r>
              <a:rPr sz="1700" b="0">
                <a:solidFill>
                  <a:srgbClr val="222222"/>
                </a:solidFill>
                <a:latin typeface="맑은 고딕"/>
              </a:rPr>
              <a:t> / </a:t>
            </a:r>
            <a:r>
              <a:rPr sz="1700" b="0">
                <a:solidFill>
                  <a:srgbClr val="222222"/>
                </a:solidFill>
                <a:latin typeface="Consolas"/>
                <a:cs typeface="Consolas"/>
              </a:rPr>
              <a:t>Ready for Failover</a:t>
            </a:r>
            <a:r>
              <a:rPr sz="1700" b="0">
                <a:solidFill>
                  <a:srgbClr val="222222"/>
                </a:solidFill>
                <a:latin typeface="맑은 고딕"/>
              </a:rPr>
              <a:t> — 핵심 답</a:t>
            </a:r>
          </a:p>
          <a:p>
            <a:pPr algn="l">
              <a:spcAft>
                <a:spcPts val="1000"/>
              </a:spcAft>
            </a:pPr>
            <a:r>
              <a:rPr sz="1700" b="0">
                <a:solidFill>
                  <a:srgbClr val="222222"/>
                </a:solidFill>
                <a:latin typeface="맑은 고딕"/>
              </a:rPr>
              <a:t>•  </a:t>
            </a:r>
            <a:r>
              <a:rPr sz="1700" b="0">
                <a:solidFill>
                  <a:srgbClr val="222222"/>
                </a:solidFill>
                <a:latin typeface="Consolas"/>
                <a:cs typeface="Consolas"/>
              </a:rPr>
              <a:t>Flashback Database Status</a:t>
            </a:r>
            <a:r>
              <a:rPr sz="1700" b="0">
                <a:solidFill>
                  <a:srgbClr val="222222"/>
                </a:solidFill>
                <a:latin typeface="맑은 고딕"/>
              </a:rPr>
              <a:t> — 16장 Reinstate 와 연결</a:t>
            </a:r>
          </a:p>
          <a:p>
            <a:pPr algn="l">
              <a:spcAft>
                <a:spcPts val="1000"/>
              </a:spcAft>
            </a:pPr>
            <a:r>
              <a:rPr sz="1700" b="0">
                <a:solidFill>
                  <a:srgbClr val="222222"/>
                </a:solidFill>
                <a:latin typeface="맑은 고딕"/>
              </a:rPr>
              <a:t>•  </a:t>
            </a:r>
            <a:r>
              <a:rPr sz="1700" b="0">
                <a:solidFill>
                  <a:srgbClr val="222222"/>
                </a:solidFill>
                <a:latin typeface="Consolas"/>
                <a:cs typeface="Consolas"/>
              </a:rPr>
              <a:t>static connect identifier</a:t>
            </a:r>
            <a:r>
              <a:rPr sz="1700" b="0">
                <a:solidFill>
                  <a:srgbClr val="222222"/>
                </a:solidFill>
                <a:latin typeface="맑은 고딕"/>
              </a:rPr>
              <a:t> — </a:t>
            </a:r>
            <a:r>
              <a:rPr sz="1700" b="1">
                <a:solidFill>
                  <a:srgbClr val="222222"/>
                </a:solidFill>
                <a:latin typeface="맑은 고딕"/>
              </a:rPr>
              <a:t>실제로 접속해 시험한다</a:t>
            </a:r>
          </a:p>
          <a:p>
            <a:pPr algn="l">
              <a:spcAft>
                <a:spcPts val="1000"/>
              </a:spcAft>
            </a:pPr>
            <a:r>
              <a:rPr sz="1700" b="0">
                <a:solidFill>
                  <a:srgbClr val="222222"/>
                </a:solidFill>
                <a:latin typeface="맑은 고딕"/>
              </a:rPr>
              <a:t>•  </a:t>
            </a:r>
            <a:r>
              <a:rPr sz="1700" b="0">
                <a:solidFill>
                  <a:srgbClr val="222222"/>
                </a:solidFill>
                <a:latin typeface="Consolas"/>
                <a:cs typeface="Consolas"/>
              </a:rPr>
              <a:t>Log Files Cleared</a:t>
            </a:r>
            <a:r>
              <a:rPr sz="1700" b="0">
                <a:solidFill>
                  <a:srgbClr val="222222"/>
                </a:solidFill>
                <a:latin typeface="맑은 고딕"/>
              </a:rPr>
              <a:t> — 전환 후 쓸 로그가 준비됐는가</a:t>
            </a:r>
          </a:p>
          <a:p>
            <a:pPr algn="l">
              <a:spcAft>
                <a:spcPts val="1000"/>
              </a:spcAft>
            </a:pPr>
            <a:r>
              <a:rPr sz="1700" b="0">
                <a:solidFill>
                  <a:srgbClr val="222222"/>
                </a:solidFill>
                <a:latin typeface="맑은 고딕"/>
              </a:rPr>
              <a:t>•  Primary 쪽은 항목이 적다 (Failover 대상이 아니므로)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VERBOSE 가 더 주는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현재와 미래를 함께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Gap Status: No Gap</a:t>
            </a:r>
            <a:r>
              <a:rPr sz="1700" b="0">
                <a:solidFill>
                  <a:srgbClr val="222222"/>
                </a:solidFill>
                <a:latin typeface="맑은 고딕"/>
              </a:rPr>
              <a:t> — 7장 </a:t>
            </a:r>
            <a:r>
              <a:rPr sz="1700" b="0">
                <a:solidFill>
                  <a:srgbClr val="222222"/>
                </a:solidFill>
                <a:latin typeface="Consolas"/>
                <a:cs typeface="Consolas"/>
              </a:rPr>
              <a:t>V$ARCHIVE_GAP</a:t>
            </a:r>
            <a:r>
              <a:rPr sz="1700" b="0">
                <a:solidFill>
                  <a:srgbClr val="222222"/>
                </a:solidFill>
                <a:latin typeface="맑은 고딕"/>
              </a:rPr>
              <a:t> 을 한 줄로</a:t>
            </a:r>
          </a:p>
          <a:p>
            <a:pPr algn="l">
              <a:spcAft>
                <a:spcPts val="1000"/>
              </a:spcAft>
            </a:pPr>
            <a:r>
              <a:rPr sz="1700" b="0">
                <a:solidFill>
                  <a:srgbClr val="222222"/>
                </a:solidFill>
                <a:latin typeface="맑은 고딕"/>
              </a:rPr>
              <a:t>•  </a:t>
            </a:r>
            <a:r>
              <a:rPr sz="1700" b="0">
                <a:solidFill>
                  <a:srgbClr val="222222"/>
                </a:solidFill>
                <a:latin typeface="Consolas"/>
                <a:cs typeface="Consolas"/>
              </a:rPr>
              <a:t>Capacity</a:t>
            </a:r>
            <a:r>
              <a:rPr sz="1700" b="0">
                <a:solidFill>
                  <a:srgbClr val="222222"/>
                </a:solidFill>
                <a:latin typeface="맑은 고딕"/>
              </a:rPr>
              <a:t> · </a:t>
            </a:r>
            <a:r>
              <a:rPr sz="1700" b="0">
                <a:solidFill>
                  <a:srgbClr val="222222"/>
                </a:solidFill>
                <a:latin typeface="Consolas"/>
                <a:cs typeface="Consolas"/>
              </a:rPr>
              <a:t>TEMP Files</a:t>
            </a:r>
            <a:r>
              <a:rPr sz="1700" b="0">
                <a:solidFill>
                  <a:srgbClr val="222222"/>
                </a:solidFill>
                <a:latin typeface="맑은 고딕"/>
              </a:rPr>
              <a:t> (실측 3 / 3)</a:t>
            </a:r>
          </a:p>
          <a:p>
            <a:pPr algn="l">
              <a:spcAft>
                <a:spcPts val="1000"/>
              </a:spcAft>
            </a:pPr>
            <a:r>
              <a:rPr sz="1700" b="0">
                <a:solidFill>
                  <a:srgbClr val="222222"/>
                </a:solidFill>
                <a:latin typeface="맑은 고딕"/>
              </a:rPr>
              <a:t>•  </a:t>
            </a:r>
            <a:r>
              <a:rPr sz="1700" b="0">
                <a:solidFill>
                  <a:srgbClr val="222222"/>
                </a:solidFill>
                <a:latin typeface="Consolas"/>
                <a:cs typeface="Consolas"/>
              </a:rPr>
              <a:t>Current</a:t>
            </a:r>
            <a:r>
              <a:rPr sz="1700" b="0">
                <a:solidFill>
                  <a:srgbClr val="222222"/>
                </a:solidFill>
                <a:latin typeface="맑은 고딕"/>
              </a:rPr>
              <a:t> 구성 — chicago 온라인 3 + boston SRL 4</a:t>
            </a:r>
          </a:p>
          <a:p>
            <a:pPr algn="l">
              <a:spcAft>
                <a:spcPts val="1000"/>
              </a:spcAft>
            </a:pPr>
            <a:r>
              <a:rPr sz="1700" b="0">
                <a:solidFill>
                  <a:srgbClr val="222222"/>
                </a:solidFill>
                <a:latin typeface="맑은 고딕"/>
              </a:rPr>
              <a:t>•  </a:t>
            </a:r>
            <a:r>
              <a:rPr sz="1700" b="0">
                <a:solidFill>
                  <a:srgbClr val="222222"/>
                </a:solidFill>
                <a:latin typeface="Consolas"/>
                <a:cs typeface="Consolas"/>
              </a:rPr>
              <a:t>Future</a:t>
            </a:r>
            <a:r>
              <a:rPr sz="1700" b="0">
                <a:solidFill>
                  <a:srgbClr val="222222"/>
                </a:solidFill>
                <a:latin typeface="맑은 고딕"/>
              </a:rPr>
              <a:t> 구성 — boston 온라인 3 + chicago SRL 4</a:t>
            </a:r>
          </a:p>
          <a:p>
            <a:pPr algn="l">
              <a:spcAft>
                <a:spcPts val="1000"/>
              </a:spcAft>
            </a:pPr>
            <a:r>
              <a:rPr sz="1700" b="0">
                <a:solidFill>
                  <a:srgbClr val="222222"/>
                </a:solidFill>
                <a:latin typeface="맑은 고딕"/>
              </a:rPr>
              <a:t>•  양쪽 다 </a:t>
            </a:r>
            <a:r>
              <a:rPr sz="1700" b="1">
                <a:solidFill>
                  <a:srgbClr val="222222"/>
                </a:solidFill>
                <a:latin typeface="맑은 고딕"/>
              </a:rPr>
              <a:t>Sufficient SRLs</a:t>
            </a:r>
            <a:r>
              <a:rPr sz="1700" b="0">
                <a:solidFill>
                  <a:srgbClr val="222222"/>
                </a:solidFill>
                <a:latin typeface="맑은 고딕"/>
              </a:rPr>
              <a:t>, 크기 200MB 동일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모니터링 전용 속성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(monitor) 로 표시되는 것들</a:t>
            </a:r>
          </a:p>
          <a:p>
            <a:pPr algn="l">
              <a:spcAft>
                <a:spcPts val="800"/>
              </a:spcAft>
            </a:pPr>
            <a:r>
              <a:rPr sz="1600" b="0">
                <a:solidFill>
                  <a:srgbClr val="FFFFFF"/>
                </a:solidFill>
                <a:latin typeface="맑은 고딕"/>
              </a:rPr>
              <a:t>•  두 큐로 병목 찾기</a:t>
            </a:r>
          </a:p>
          <a:p>
            <a:pPr algn="l">
              <a:spcAft>
                <a:spcPts val="800"/>
              </a:spcAft>
            </a:pPr>
            <a:r>
              <a:rPr sz="1600" b="0">
                <a:solidFill>
                  <a:srgbClr val="FFFFFF"/>
                </a:solidFill>
                <a:latin typeface="맑은 고딕"/>
              </a:rPr>
              <a:t>•  조회 전용이라는 성질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(monitor) 속성 목록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설정이 아니라 계산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StatusReport</a:t>
            </a:r>
            <a:r>
              <a:rPr sz="1700" b="0">
                <a:solidFill>
                  <a:srgbClr val="222222"/>
                </a:solidFill>
                <a:latin typeface="맑은 고딕"/>
              </a:rPr>
              <a:t> — 인스턴스별 오류를 표로</a:t>
            </a:r>
          </a:p>
          <a:p>
            <a:pPr algn="l">
              <a:spcAft>
                <a:spcPts val="1000"/>
              </a:spcAft>
            </a:pPr>
            <a:r>
              <a:rPr sz="1700" b="0">
                <a:solidFill>
                  <a:srgbClr val="222222"/>
                </a:solidFill>
                <a:latin typeface="맑은 고딕"/>
              </a:rPr>
              <a:t>•  </a:t>
            </a:r>
            <a:r>
              <a:rPr sz="1700" b="0">
                <a:solidFill>
                  <a:srgbClr val="222222"/>
                </a:solidFill>
                <a:latin typeface="Consolas"/>
                <a:cs typeface="Consolas"/>
              </a:rPr>
              <a:t>LogXptStatus</a:t>
            </a:r>
            <a:r>
              <a:rPr sz="1700" b="0">
                <a:solidFill>
                  <a:srgbClr val="222222"/>
                </a:solidFill>
                <a:latin typeface="맑은 고딕"/>
              </a:rPr>
              <a:t> — Primary 에서 조회. 실측 </a:t>
            </a:r>
            <a:r>
              <a:rPr sz="1700" b="0">
                <a:solidFill>
                  <a:srgbClr val="222222"/>
                </a:solidFill>
                <a:latin typeface="Consolas"/>
                <a:cs typeface="Consolas"/>
              </a:rPr>
              <a:t>VALID</a:t>
            </a:r>
          </a:p>
          <a:p>
            <a:pPr algn="l">
              <a:spcAft>
                <a:spcPts val="1000"/>
              </a:spcAft>
            </a:pPr>
            <a:r>
              <a:rPr sz="1700" b="0">
                <a:solidFill>
                  <a:srgbClr val="222222"/>
                </a:solidFill>
                <a:latin typeface="맑은 고딕"/>
              </a:rPr>
              <a:t>•  </a:t>
            </a:r>
            <a:r>
              <a:rPr sz="1700" b="0">
                <a:solidFill>
                  <a:srgbClr val="222222"/>
                </a:solidFill>
                <a:latin typeface="Consolas"/>
                <a:cs typeface="Consolas"/>
              </a:rPr>
              <a:t>SendQEntries</a:t>
            </a:r>
            <a:r>
              <a:rPr sz="1700" b="0">
                <a:solidFill>
                  <a:srgbClr val="222222"/>
                </a:solidFill>
                <a:latin typeface="맑은 고딕"/>
              </a:rPr>
              <a:t> / </a:t>
            </a:r>
            <a:r>
              <a:rPr sz="1700" b="0">
                <a:solidFill>
                  <a:srgbClr val="222222"/>
                </a:solidFill>
                <a:latin typeface="Consolas"/>
                <a:cs typeface="Consolas"/>
              </a:rPr>
              <a:t>RecvQEntries</a:t>
            </a:r>
            <a:r>
              <a:rPr sz="1700" b="0">
                <a:solidFill>
                  <a:srgbClr val="222222"/>
                </a:solidFill>
                <a:latin typeface="맑은 고딕"/>
              </a:rPr>
              <a:t> — 두 개의 큐</a:t>
            </a:r>
          </a:p>
          <a:p>
            <a:pPr algn="l">
              <a:spcAft>
                <a:spcPts val="1000"/>
              </a:spcAft>
            </a:pPr>
            <a:r>
              <a:rPr sz="1700" b="0">
                <a:solidFill>
                  <a:srgbClr val="222222"/>
                </a:solidFill>
                <a:latin typeface="맑은 고딕"/>
              </a:rPr>
              <a:t>•  </a:t>
            </a:r>
            <a:r>
              <a:rPr sz="1700" b="0">
                <a:solidFill>
                  <a:srgbClr val="222222"/>
                </a:solidFill>
                <a:latin typeface="Consolas"/>
                <a:cs typeface="Consolas"/>
              </a:rPr>
              <a:t>TopWaitEvents</a:t>
            </a:r>
            <a:r>
              <a:rPr sz="1700" b="0">
                <a:solidFill>
                  <a:srgbClr val="222222"/>
                </a:solidFill>
                <a:latin typeface="맑은 고딕"/>
              </a:rPr>
              <a:t> — 상위 대기 이벤트</a:t>
            </a:r>
          </a:p>
          <a:p>
            <a:pPr algn="l">
              <a:spcAft>
                <a:spcPts val="1000"/>
              </a:spcAft>
            </a:pPr>
            <a:r>
              <a:rPr sz="1700" b="0">
                <a:solidFill>
                  <a:srgbClr val="222222"/>
                </a:solidFill>
                <a:latin typeface="맑은 고딕"/>
              </a:rPr>
              <a:t>•  </a:t>
            </a:r>
            <a:r>
              <a:rPr sz="1700" b="0">
                <a:solidFill>
                  <a:srgbClr val="222222"/>
                </a:solidFill>
                <a:latin typeface="Consolas"/>
                <a:cs typeface="Consolas"/>
              </a:rPr>
              <a:t>InconsistentProperties</a:t>
            </a:r>
            <a:r>
              <a:rPr sz="1700" b="0">
                <a:solidFill>
                  <a:srgbClr val="222222"/>
                </a:solidFill>
                <a:latin typeface="맑은 고딕"/>
              </a:rPr>
              <a:t> — 메모리·SPFILE·Broker 비교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개의 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어디서 막혔는가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SendQEntries</a:t>
            </a:r>
            <a:r>
              <a:rPr sz="1700" b="0">
                <a:solidFill>
                  <a:srgbClr val="222222"/>
                </a:solidFill>
                <a:latin typeface="맑은 고딕"/>
              </a:rPr>
              <a:t> — 보낼 것이 남아 있는가 (Primary)</a:t>
            </a:r>
          </a:p>
          <a:p>
            <a:pPr algn="l">
              <a:spcAft>
                <a:spcPts val="1000"/>
              </a:spcAft>
            </a:pPr>
            <a:r>
              <a:rPr sz="1700" b="0">
                <a:solidFill>
                  <a:srgbClr val="222222"/>
                </a:solidFill>
                <a:latin typeface="맑은 고딕"/>
              </a:rPr>
              <a:t>•  </a:t>
            </a:r>
            <a:r>
              <a:rPr sz="1700" b="0">
                <a:solidFill>
                  <a:srgbClr val="222222"/>
                </a:solidFill>
                <a:latin typeface="Consolas"/>
                <a:cs typeface="Consolas"/>
              </a:rPr>
              <a:t>RecvQEntries</a:t>
            </a:r>
            <a:r>
              <a:rPr sz="1700" b="0">
                <a:solidFill>
                  <a:srgbClr val="222222"/>
                </a:solidFill>
                <a:latin typeface="맑은 고딕"/>
              </a:rPr>
              <a:t> — 받았지만 적용 못 한 것 (Standby)</a:t>
            </a:r>
          </a:p>
          <a:p>
            <a:pPr algn="l">
              <a:spcAft>
                <a:spcPts val="1000"/>
              </a:spcAft>
            </a:pPr>
            <a:r>
              <a:rPr sz="1700" b="0">
                <a:solidFill>
                  <a:srgbClr val="222222"/>
                </a:solidFill>
                <a:latin typeface="맑은 고딕"/>
              </a:rPr>
              <a:t>•  실측 — SendQ </a:t>
            </a:r>
            <a:r>
              <a:rPr sz="1700" b="0">
                <a:solidFill>
                  <a:srgbClr val="222222"/>
                </a:solidFill>
                <a:latin typeface="Consolas"/>
                <a:cs typeface="Consolas"/>
              </a:rPr>
              <a:t>STATUS=CURRENT</a:t>
            </a:r>
            <a:r>
              <a:rPr sz="1700" b="0">
                <a:solidFill>
                  <a:srgbClr val="222222"/>
                </a:solidFill>
                <a:latin typeface="맑은 고딕"/>
              </a:rPr>
              <a:t> </a:t>
            </a:r>
            <a:r>
              <a:rPr sz="1700" b="0">
                <a:solidFill>
                  <a:srgbClr val="222222"/>
                </a:solidFill>
                <a:latin typeface="Consolas"/>
                <a:cs typeface="Consolas"/>
              </a:rPr>
              <a:t>LOG_SEQ 69</a:t>
            </a:r>
            <a:r>
              <a:rPr sz="1700" b="0">
                <a:solidFill>
                  <a:srgbClr val="222222"/>
                </a:solidFill>
                <a:latin typeface="맑은 고딕"/>
              </a:rPr>
              <a:t> </a:t>
            </a:r>
            <a:r>
              <a:rPr sz="1700" b="1">
                <a:solidFill>
                  <a:srgbClr val="222222"/>
                </a:solidFill>
                <a:latin typeface="맑은 고딕"/>
              </a:rPr>
              <a:t>6,911KB</a:t>
            </a:r>
          </a:p>
          <a:p>
            <a:pPr algn="l">
              <a:spcAft>
                <a:spcPts val="1000"/>
              </a:spcAft>
            </a:pPr>
            <a:r>
              <a:rPr sz="1700" b="0">
                <a:solidFill>
                  <a:srgbClr val="222222"/>
                </a:solidFill>
                <a:latin typeface="맑은 고딕"/>
              </a:rPr>
              <a:t>•  RecvQ 는 비어 있었다 = 밀린 것 없음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조합 진단표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가지 경우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SendQ 비었거나 CURRENT + RecvQ 비었음 → </a:t>
            </a:r>
            <a:r>
              <a:rPr sz="1700" b="1">
                <a:solidFill>
                  <a:srgbClr val="222222"/>
                </a:solidFill>
                <a:latin typeface="맑은 고딕"/>
              </a:rPr>
              <a:t>정상</a:t>
            </a:r>
          </a:p>
          <a:p>
            <a:pPr algn="l">
              <a:spcAft>
                <a:spcPts val="1000"/>
              </a:spcAft>
            </a:pPr>
            <a:r>
              <a:rPr sz="1700" b="0">
                <a:solidFill>
                  <a:srgbClr val="222222"/>
                </a:solidFill>
                <a:latin typeface="맑은 고딕"/>
              </a:rPr>
              <a:t>•  SendQ 쌓임 + RecvQ 비었음 → </a:t>
            </a:r>
            <a:r>
              <a:rPr sz="1700" b="1">
                <a:solidFill>
                  <a:srgbClr val="222222"/>
                </a:solidFill>
                <a:latin typeface="맑은 고딕"/>
              </a:rPr>
              <a:t>전송이 막혔다</a:t>
            </a:r>
          </a:p>
          <a:p>
            <a:pPr algn="l">
              <a:spcAft>
                <a:spcPts val="1000"/>
              </a:spcAft>
            </a:pPr>
            <a:r>
              <a:rPr sz="1700" b="0">
                <a:solidFill>
                  <a:srgbClr val="222222"/>
                </a:solidFill>
                <a:latin typeface="맑은 고딕"/>
              </a:rPr>
              <a:t>•  SendQ 비었음 + RecvQ 쌓임 → </a:t>
            </a:r>
            <a:r>
              <a:rPr sz="1700" b="1">
                <a:solidFill>
                  <a:srgbClr val="222222"/>
                </a:solidFill>
                <a:latin typeface="맑은 고딕"/>
              </a:rPr>
              <a:t>적용이 막혔다</a:t>
            </a:r>
          </a:p>
          <a:p>
            <a:pPr algn="l">
              <a:spcAft>
                <a:spcPts val="1000"/>
              </a:spcAft>
            </a:pPr>
            <a:r>
              <a:rPr sz="1700" b="0">
                <a:solidFill>
                  <a:srgbClr val="222222"/>
                </a:solidFill>
                <a:latin typeface="맑은 고딕"/>
              </a:rPr>
              <a:t>•  둘 다 쌓임 → 양쪽 문제이거나 </a:t>
            </a:r>
            <a:r>
              <a:rPr sz="1700" b="1">
                <a:solidFill>
                  <a:srgbClr val="222222"/>
                </a:solidFill>
                <a:latin typeface="맑은 고딕"/>
              </a:rPr>
              <a:t>Standby 가 멈췄다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TopWaitEvents 읽는 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상위는 대부분 유휴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rdbms ipc message</a:t>
            </a:r>
            <a:r>
              <a:rPr sz="1700" b="0">
                <a:solidFill>
                  <a:srgbClr val="222222"/>
                </a:solidFill>
                <a:latin typeface="맑은 고딕"/>
              </a:rPr>
              <a:t> 8,006,598 — 유휴</a:t>
            </a:r>
          </a:p>
          <a:p>
            <a:pPr algn="l">
              <a:spcAft>
                <a:spcPts val="1000"/>
              </a:spcAft>
            </a:pPr>
            <a:r>
              <a:rPr sz="1700" b="0">
                <a:solidFill>
                  <a:srgbClr val="222222"/>
                </a:solidFill>
                <a:latin typeface="맑은 고딕"/>
              </a:rPr>
              <a:t>•  </a:t>
            </a:r>
            <a:r>
              <a:rPr sz="1700" b="0">
                <a:solidFill>
                  <a:srgbClr val="222222"/>
                </a:solidFill>
                <a:latin typeface="Consolas"/>
                <a:cs typeface="Consolas"/>
              </a:rPr>
              <a:t>PX Idle Wait</a:t>
            </a:r>
            <a:r>
              <a:rPr sz="1700" b="0">
                <a:solidFill>
                  <a:srgbClr val="222222"/>
                </a:solidFill>
                <a:latin typeface="맑은 고딕"/>
              </a:rPr>
              <a:t> 2,912,212 — 유휴</a:t>
            </a:r>
          </a:p>
          <a:p>
            <a:pPr algn="l">
              <a:spcAft>
                <a:spcPts val="1000"/>
              </a:spcAft>
            </a:pPr>
            <a:r>
              <a:rPr sz="1700" b="0">
                <a:solidFill>
                  <a:srgbClr val="222222"/>
                </a:solidFill>
                <a:latin typeface="맑은 고딕"/>
              </a:rPr>
              <a:t>•  </a:t>
            </a:r>
            <a:r>
              <a:rPr sz="1700" b="0">
                <a:solidFill>
                  <a:srgbClr val="222222"/>
                </a:solidFill>
                <a:latin typeface="Consolas"/>
                <a:cs typeface="Consolas"/>
              </a:rPr>
              <a:t>Space Manager: slave idle wait</a:t>
            </a:r>
            <a:r>
              <a:rPr sz="1700" b="0">
                <a:solidFill>
                  <a:srgbClr val="222222"/>
                </a:solidFill>
                <a:latin typeface="맑은 고딕"/>
              </a:rPr>
              <a:t> — 유휴</a:t>
            </a:r>
          </a:p>
          <a:p>
            <a:pPr algn="l">
              <a:spcAft>
                <a:spcPts val="1000"/>
              </a:spcAft>
            </a:pPr>
            <a:r>
              <a:rPr sz="1700" b="0">
                <a:solidFill>
                  <a:srgbClr val="222222"/>
                </a:solidFill>
                <a:latin typeface="맑은 고딕"/>
              </a:rPr>
              <a:t>•  </a:t>
            </a:r>
            <a:r>
              <a:rPr sz="1700" b="0">
                <a:solidFill>
                  <a:srgbClr val="222222"/>
                </a:solidFill>
                <a:latin typeface="Consolas"/>
                <a:cs typeface="Consolas"/>
              </a:rPr>
              <a:t>parallel recovery slave next change</a:t>
            </a:r>
            <a:r>
              <a:rPr sz="1700" b="0">
                <a:solidFill>
                  <a:srgbClr val="222222"/>
                </a:solidFill>
                <a:latin typeface="맑은 고딕"/>
              </a:rPr>
              <a:t> — 적용 관련이나 대기</a:t>
            </a:r>
          </a:p>
          <a:p>
            <a:pPr algn="l">
              <a:spcAft>
                <a:spcPts val="1000"/>
              </a:spcAft>
            </a:pPr>
            <a:r>
              <a:rPr sz="1700" b="0">
                <a:solidFill>
                  <a:srgbClr val="222222"/>
                </a:solidFill>
                <a:latin typeface="맑은 고딕"/>
              </a:rPr>
              <a:t>•  </a:t>
            </a:r>
            <a:r>
              <a:rPr sz="1700" b="1">
                <a:solidFill>
                  <a:srgbClr val="222222"/>
                </a:solidFill>
                <a:latin typeface="맑은 고딕"/>
              </a:rPr>
              <a:t>절대값이 아니라 평소와의 차이를 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조회 전용에 값을 주면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edit database 'boston' set property 'TopWaitEvents'='5';</a:t>
            </a:r>
          </a:p>
          <a:p>
            <a:pPr algn="l">
              <a:spcAft>
                <a:spcPts val="1000"/>
              </a:spcAft>
            </a:pPr>
            <a:r>
              <a:rPr sz="1700" b="0">
                <a:solidFill>
                  <a:srgbClr val="222222"/>
                </a:solidFill>
                <a:latin typeface="맑은 고딕"/>
              </a:rPr>
              <a:t>•  → </a:t>
            </a:r>
            <a:r>
              <a:rPr sz="1700" b="1">
                <a:solidFill>
                  <a:srgbClr val="222222"/>
                </a:solidFill>
                <a:latin typeface="Consolas"/>
                <a:cs typeface="Consolas"/>
              </a:rPr>
              <a:t>Error: ORA-16568: cannot set property</a:t>
            </a:r>
          </a:p>
          <a:p>
            <a:pPr algn="l">
              <a:spcAft>
                <a:spcPts val="1000"/>
              </a:spcAft>
            </a:pPr>
            <a:r>
              <a:rPr sz="1700" b="0">
                <a:solidFill>
                  <a:srgbClr val="222222"/>
                </a:solidFill>
                <a:latin typeface="맑은 고딕"/>
              </a:rPr>
              <a:t>•  </a:t>
            </a:r>
            <a:r>
              <a:rPr sz="1700" b="0">
                <a:solidFill>
                  <a:srgbClr val="222222"/>
                </a:solidFill>
                <a:latin typeface="Consolas"/>
                <a:cs typeface="Consolas"/>
              </a:rPr>
              <a:t>ORA-16538</a:t>
            </a:r>
            <a:r>
              <a:rPr sz="1700" b="0">
                <a:solidFill>
                  <a:srgbClr val="222222"/>
                </a:solidFill>
                <a:latin typeface="맑은 고딕"/>
              </a:rPr>
              <a:t> 속성 이름이 없다</a:t>
            </a:r>
          </a:p>
          <a:p>
            <a:pPr algn="l">
              <a:spcAft>
                <a:spcPts val="1000"/>
              </a:spcAft>
            </a:pPr>
            <a:r>
              <a:rPr sz="1700" b="0">
                <a:solidFill>
                  <a:srgbClr val="222222"/>
                </a:solidFill>
                <a:latin typeface="맑은 고딕"/>
              </a:rPr>
              <a:t>•  </a:t>
            </a:r>
            <a:r>
              <a:rPr sz="1700" b="0">
                <a:solidFill>
                  <a:srgbClr val="222222"/>
                </a:solidFill>
                <a:latin typeface="Consolas"/>
                <a:cs typeface="Consolas"/>
              </a:rPr>
              <a:t>ORA-16790</a:t>
            </a:r>
            <a:r>
              <a:rPr sz="1700" b="0">
                <a:solidFill>
                  <a:srgbClr val="222222"/>
                </a:solidFill>
                <a:latin typeface="맑은 고딕"/>
              </a:rPr>
              <a:t> 값이 틀렸다</a:t>
            </a:r>
          </a:p>
          <a:p>
            <a:pPr algn="l">
              <a:spcAft>
                <a:spcPts val="1000"/>
              </a:spcAft>
            </a:pPr>
            <a:r>
              <a:rPr sz="1700" b="0">
                <a:solidFill>
                  <a:srgbClr val="222222"/>
                </a:solidFill>
                <a:latin typeface="맑은 고딕"/>
              </a:rPr>
              <a:t>•  </a:t>
            </a:r>
            <a:r>
              <a:rPr sz="1700" b="0">
                <a:solidFill>
                  <a:srgbClr val="222222"/>
                </a:solidFill>
                <a:latin typeface="Consolas"/>
                <a:cs typeface="Consolas"/>
              </a:rPr>
              <a:t>ORA-16568</a:t>
            </a:r>
            <a:r>
              <a:rPr sz="1700" b="0">
                <a:solidFill>
                  <a:srgbClr val="222222"/>
                </a:solidFill>
                <a:latin typeface="맑은 고딕"/>
              </a:rPr>
              <a:t> 있는데 </a:t>
            </a:r>
            <a:r>
              <a:rPr sz="1700" b="1">
                <a:solidFill>
                  <a:srgbClr val="222222"/>
                </a:solidFill>
                <a:latin typeface="맑은 고딕"/>
              </a:rPr>
              <a:t>설정할 수 없다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임계값과 경고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임계값 셋</a:t>
            </a:r>
          </a:p>
          <a:p>
            <a:pPr algn="l">
              <a:spcAft>
                <a:spcPts val="800"/>
              </a:spcAft>
            </a:pPr>
            <a:r>
              <a:rPr sz="1600" b="0">
                <a:solidFill>
                  <a:srgbClr val="FFFFFF"/>
                </a:solidFill>
                <a:latin typeface="맑은 고딕"/>
              </a:rPr>
              <a:t>•  DelayMins 의 거래</a:t>
            </a:r>
          </a:p>
          <a:p>
            <a:pPr algn="l">
              <a:spcAft>
                <a:spcPts val="800"/>
              </a:spcAft>
            </a:pPr>
            <a:r>
              <a:rPr sz="1600" b="0">
                <a:solidFill>
                  <a:srgbClr val="FFFFFF"/>
                </a:solidFill>
                <a:latin typeface="맑은 고딕"/>
              </a:rPr>
              <a:t>•  경보하는 것과 하지 않는 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임계값 셋</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모두 기본 30초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ApplyLagThreshold</a:t>
            </a:r>
            <a:r>
              <a:rPr sz="1700" b="0">
                <a:solidFill>
                  <a:srgbClr val="222222"/>
                </a:solidFill>
                <a:latin typeface="맑은 고딕"/>
              </a:rPr>
              <a:t> → </a:t>
            </a:r>
            <a:r>
              <a:rPr sz="1700" b="1">
                <a:solidFill>
                  <a:srgbClr val="222222"/>
                </a:solidFill>
                <a:latin typeface="맑은 고딕"/>
              </a:rPr>
              <a:t>ORA-16853</a:t>
            </a:r>
            <a:r>
              <a:rPr sz="1700" b="0">
                <a:solidFill>
                  <a:srgbClr val="222222"/>
                </a:solidFill>
                <a:latin typeface="맑은 고딕"/>
              </a:rPr>
              <a:t> 적용이 늦다</a:t>
            </a:r>
          </a:p>
          <a:p>
            <a:pPr algn="l">
              <a:spcAft>
                <a:spcPts val="1000"/>
              </a:spcAft>
            </a:pPr>
            <a:r>
              <a:rPr sz="1700" b="0">
                <a:solidFill>
                  <a:srgbClr val="222222"/>
                </a:solidFill>
                <a:latin typeface="맑은 고딕"/>
              </a:rPr>
              <a:t>•  </a:t>
            </a:r>
            <a:r>
              <a:rPr sz="1700" b="0">
                <a:solidFill>
                  <a:srgbClr val="222222"/>
                </a:solidFill>
                <a:latin typeface="Consolas"/>
                <a:cs typeface="Consolas"/>
              </a:rPr>
              <a:t>TransportLagThreshold</a:t>
            </a:r>
            <a:r>
              <a:rPr sz="1700" b="0">
                <a:solidFill>
                  <a:srgbClr val="222222"/>
                </a:solidFill>
                <a:latin typeface="맑은 고딕"/>
              </a:rPr>
              <a:t> → </a:t>
            </a:r>
            <a:r>
              <a:rPr sz="1700" b="1">
                <a:solidFill>
                  <a:srgbClr val="222222"/>
                </a:solidFill>
                <a:latin typeface="맑은 고딕"/>
              </a:rPr>
              <a:t>ORA-16855</a:t>
            </a:r>
            <a:r>
              <a:rPr sz="1700" b="0">
                <a:solidFill>
                  <a:srgbClr val="222222"/>
                </a:solidFill>
                <a:latin typeface="맑은 고딕"/>
              </a:rPr>
              <a:t> 전송이 늦다</a:t>
            </a:r>
          </a:p>
          <a:p>
            <a:pPr algn="l">
              <a:spcAft>
                <a:spcPts val="1000"/>
              </a:spcAft>
            </a:pPr>
            <a:r>
              <a:rPr sz="1700" b="0">
                <a:solidFill>
                  <a:srgbClr val="222222"/>
                </a:solidFill>
                <a:latin typeface="맑은 고딕"/>
              </a:rPr>
              <a:t>•  </a:t>
            </a:r>
            <a:r>
              <a:rPr sz="1700" b="0">
                <a:solidFill>
                  <a:srgbClr val="222222"/>
                </a:solidFill>
                <a:latin typeface="Consolas"/>
                <a:cs typeface="Consolas"/>
              </a:rPr>
              <a:t>TransportDisconnectedThreshold</a:t>
            </a:r>
            <a:r>
              <a:rPr sz="1700" b="0">
                <a:solidFill>
                  <a:srgbClr val="222222"/>
                </a:solidFill>
                <a:latin typeface="맑은 고딕"/>
              </a:rPr>
              <a:t> → </a:t>
            </a:r>
            <a:r>
              <a:rPr sz="1700" b="1">
                <a:solidFill>
                  <a:srgbClr val="222222"/>
                </a:solidFill>
                <a:latin typeface="맑은 고딕"/>
              </a:rPr>
              <a:t>ORA-16857</a:t>
            </a:r>
            <a:r>
              <a:rPr sz="1700" b="0">
                <a:solidFill>
                  <a:srgbClr val="222222"/>
                </a:solidFill>
                <a:latin typeface="맑은 고딕"/>
              </a:rPr>
              <a:t> 연결이 끊겼다</a:t>
            </a:r>
          </a:p>
          <a:p>
            <a:pPr algn="l">
              <a:spcAft>
                <a:spcPts val="1000"/>
              </a:spcAft>
            </a:pPr>
            <a:r>
              <a:rPr sz="1700" b="0">
                <a:solidFill>
                  <a:srgbClr val="222222"/>
                </a:solidFill>
                <a:latin typeface="맑은 고딕"/>
              </a:rPr>
              <a:t>•  0 을 주면 그 항목의 경보를 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DelayMins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지연이 갈라진다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edit database 'boston' set property 'DelayMins'='2'</a:t>
            </a:r>
          </a:p>
          <a:p>
            <a:pPr algn="l">
              <a:spcAft>
                <a:spcPts val="1000"/>
              </a:spcAft>
            </a:pPr>
            <a:r>
              <a:rPr sz="1700" b="0">
                <a:solidFill>
                  <a:srgbClr val="222222"/>
                </a:solidFill>
                <a:latin typeface="맑은 고딕"/>
              </a:rPr>
              <a:t>•  transport lag </a:t>
            </a:r>
            <a:r>
              <a:rPr sz="1700" b="1">
                <a:solidFill>
                  <a:srgbClr val="222222"/>
                </a:solidFill>
                <a:latin typeface="맑은 고딕"/>
              </a:rPr>
              <a:t>0</a:t>
            </a:r>
            <a:r>
              <a:rPr sz="1700" b="0">
                <a:solidFill>
                  <a:srgbClr val="222222"/>
                </a:solidFill>
                <a:latin typeface="맑은 고딕"/>
              </a:rPr>
              <a:t> — 리두는 이미 도착했다</a:t>
            </a:r>
          </a:p>
          <a:p>
            <a:pPr algn="l">
              <a:spcAft>
                <a:spcPts val="1000"/>
              </a:spcAft>
            </a:pPr>
            <a:r>
              <a:rPr sz="1700" b="0">
                <a:solidFill>
                  <a:srgbClr val="222222"/>
                </a:solidFill>
                <a:latin typeface="맑은 고딕"/>
              </a:rPr>
              <a:t>•  apply lag </a:t>
            </a:r>
            <a:r>
              <a:rPr sz="1700" b="1">
                <a:solidFill>
                  <a:srgbClr val="222222"/>
                </a:solidFill>
                <a:latin typeface="맑은 고딕"/>
              </a:rPr>
              <a:t>1분 33초</a:t>
            </a:r>
            <a:r>
              <a:rPr sz="1700" b="0">
                <a:solidFill>
                  <a:srgbClr val="222222"/>
                </a:solidFill>
                <a:latin typeface="맑은 고딕"/>
              </a:rPr>
              <a:t> — 적용을 일부러 미룬다</a:t>
            </a:r>
          </a:p>
          <a:p>
            <a:pPr algn="l">
              <a:spcAft>
                <a:spcPts val="1000"/>
              </a:spcAft>
            </a:pPr>
            <a:r>
              <a:rPr sz="1700" b="0">
                <a:solidFill>
                  <a:srgbClr val="222222"/>
                </a:solidFill>
                <a:latin typeface="맑은 고딕"/>
              </a:rPr>
              <a:t>•  </a:t>
            </a:r>
            <a:r>
              <a:rPr sz="1700" b="0">
                <a:solidFill>
                  <a:srgbClr val="222222"/>
                </a:solidFill>
                <a:latin typeface="Consolas"/>
                <a:cs typeface="Consolas"/>
              </a:rPr>
              <a:t>Database Warning(s): ORA-16853</a:t>
            </a:r>
          </a:p>
          <a:p>
            <a:pPr algn="l">
              <a:spcAft>
                <a:spcPts val="1000"/>
              </a:spcAft>
            </a:pPr>
            <a:r>
              <a:rPr sz="1700" b="0">
                <a:solidFill>
                  <a:srgbClr val="222222"/>
                </a:solidFill>
                <a:latin typeface="맑은 고딕"/>
              </a:rPr>
              <a:t>•  Database Status: </a:t>
            </a:r>
            <a:r>
              <a:rPr sz="1700" b="1">
                <a:solidFill>
                  <a:srgbClr val="222222"/>
                </a:solidFill>
                <a:latin typeface="맑은 고딕"/>
              </a:rPr>
              <a:t>WARNING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는 이유를 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문장으로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Ready for Switchover:</a:t>
            </a:r>
            <a:r>
              <a:rPr sz="1700" b="0">
                <a:solidFill>
                  <a:srgbClr val="222222"/>
                </a:solidFill>
                <a:latin typeface="맑은 고딕"/>
              </a:rPr>
              <a:t> No</a:t>
            </a:r>
          </a:p>
          <a:p>
            <a:pPr algn="l">
              <a:spcAft>
                <a:spcPts val="1000"/>
              </a:spcAft>
            </a:pPr>
            <a:r>
              <a:rPr sz="1700" b="0">
                <a:solidFill>
                  <a:srgbClr val="222222"/>
                </a:solidFill>
                <a:latin typeface="맑은 고딕"/>
              </a:rPr>
              <a:t>•  </a:t>
            </a:r>
            <a:r>
              <a:rPr sz="1700" b="0">
                <a:solidFill>
                  <a:srgbClr val="222222"/>
                </a:solidFill>
                <a:latin typeface="Consolas"/>
                <a:cs typeface="Consolas"/>
              </a:rPr>
              <a:t>Error: Switchover to this standby is not possible</a:t>
            </a:r>
          </a:p>
          <a:p>
            <a:pPr algn="l">
              <a:spcAft>
                <a:spcPts val="1000"/>
              </a:spcAft>
            </a:pPr>
            <a:r>
              <a:rPr sz="1700" b="0">
                <a:solidFill>
                  <a:srgbClr val="222222"/>
                </a:solidFill>
                <a:latin typeface="맑은 고딕"/>
              </a:rPr>
              <a:t>•  </a:t>
            </a:r>
            <a:r>
              <a:rPr sz="1700" b="0">
                <a:solidFill>
                  <a:srgbClr val="222222"/>
                </a:solidFill>
                <a:latin typeface="Consolas"/>
                <a:cs typeface="Consolas"/>
              </a:rPr>
              <a:t>because an apply delay has been set</a:t>
            </a:r>
          </a:p>
          <a:p>
            <a:pPr algn="l">
              <a:spcAft>
                <a:spcPts val="1000"/>
              </a:spcAft>
            </a:pPr>
            <a:r>
              <a:rPr sz="1700" b="0">
                <a:solidFill>
                  <a:srgbClr val="222222"/>
                </a:solidFill>
                <a:latin typeface="맑은 고딕"/>
              </a:rPr>
              <a:t>•  </a:t>
            </a:r>
            <a:r>
              <a:rPr sz="1700" b="0">
                <a:solidFill>
                  <a:srgbClr val="222222"/>
                </a:solidFill>
                <a:latin typeface="Consolas"/>
                <a:cs typeface="Consolas"/>
              </a:rPr>
              <a:t>Apply Delay: 2 minutes</a:t>
            </a:r>
          </a:p>
          <a:p>
            <a:pPr algn="l">
              <a:spcAft>
                <a:spcPts val="1000"/>
              </a:spcAft>
            </a:pPr>
            <a:r>
              <a:rPr sz="1700" b="0">
                <a:solidFill>
                  <a:srgbClr val="222222"/>
                </a:solidFill>
                <a:latin typeface="맑은 고딕"/>
              </a:rPr>
              <a:t>•  DelayMins 는 Apply / Transport </a:t>
            </a:r>
            <a:r>
              <a:rPr sz="1700" b="1">
                <a:solidFill>
                  <a:srgbClr val="222222"/>
                </a:solidFill>
                <a:latin typeface="맑은 고딕"/>
              </a:rPr>
              <a:t>양쪽 표</a:t>
            </a:r>
            <a:r>
              <a:rPr sz="1700" b="0">
                <a:solidFill>
                  <a:srgbClr val="222222"/>
                </a:solidFill>
                <a:latin typeface="맑은 고딕"/>
              </a:rPr>
              <a:t>에 나온다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경보하는 것과 안 하는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경계는 임계값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LogShipping=OFF</a:t>
            </a:r>
            <a:r>
              <a:rPr sz="1700" b="0">
                <a:solidFill>
                  <a:srgbClr val="222222"/>
                </a:solidFill>
                <a:latin typeface="맑은 고딕"/>
              </a:rPr>
              <a:t> → SUCCESS. </a:t>
            </a:r>
            <a:r>
              <a:rPr sz="1700" b="1">
                <a:solidFill>
                  <a:srgbClr val="222222"/>
                </a:solidFill>
                <a:latin typeface="맑은 고딕"/>
              </a:rPr>
              <a:t>경보 없음</a:t>
            </a:r>
          </a:p>
          <a:p>
            <a:pPr algn="l">
              <a:spcAft>
                <a:spcPts val="1000"/>
              </a:spcAft>
            </a:pPr>
            <a:r>
              <a:rPr sz="1700" b="0">
                <a:solidFill>
                  <a:srgbClr val="222222"/>
                </a:solidFill>
                <a:latin typeface="맑은 고딕"/>
              </a:rPr>
              <a:t>•  </a:t>
            </a:r>
            <a:r>
              <a:rPr sz="1700" b="0">
                <a:solidFill>
                  <a:srgbClr val="222222"/>
                </a:solidFill>
                <a:latin typeface="Consolas"/>
                <a:cs typeface="Consolas"/>
              </a:rPr>
              <a:t>DelayMins=2</a:t>
            </a:r>
            <a:r>
              <a:rPr sz="1700" b="0">
                <a:solidFill>
                  <a:srgbClr val="222222"/>
                </a:solidFill>
                <a:latin typeface="맑은 고딕"/>
              </a:rPr>
              <a:t> → WARNING. </a:t>
            </a:r>
            <a:r>
              <a:rPr sz="1700" b="1">
                <a:solidFill>
                  <a:srgbClr val="222222"/>
                </a:solidFill>
                <a:latin typeface="맑은 고딕"/>
              </a:rPr>
              <a:t>경보 있음</a:t>
            </a:r>
          </a:p>
          <a:p>
            <a:pPr algn="l">
              <a:spcAft>
                <a:spcPts val="1000"/>
              </a:spcAft>
            </a:pPr>
            <a:r>
              <a:rPr sz="1700" b="0">
                <a:solidFill>
                  <a:srgbClr val="222222"/>
                </a:solidFill>
                <a:latin typeface="맑은 고딕"/>
              </a:rPr>
              <a:t>•  둘 다 사람이 설정한 것인데 결과가 다르다</a:t>
            </a:r>
          </a:p>
          <a:p>
            <a:pPr algn="l">
              <a:spcAft>
                <a:spcPts val="1000"/>
              </a:spcAft>
            </a:pPr>
            <a:r>
              <a:rPr sz="1700" b="0">
                <a:solidFill>
                  <a:srgbClr val="222222"/>
                </a:solidFill>
                <a:latin typeface="맑은 고딕"/>
              </a:rPr>
              <a:t>•  차이 = </a:t>
            </a:r>
            <a:r>
              <a:rPr sz="1700" b="1">
                <a:solidFill>
                  <a:srgbClr val="222222"/>
                </a:solidFill>
                <a:latin typeface="맑은 고딕"/>
              </a:rPr>
              <a:t>비교할 숫자 기준이 있는가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지연을 두면 임계값도 올린다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함께 조정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DelayMins=2</a:t>
            </a:r>
            <a:r>
              <a:rPr sz="1700" b="0">
                <a:solidFill>
                  <a:srgbClr val="222222"/>
                </a:solidFill>
                <a:latin typeface="맑은 고딕"/>
              </a:rPr>
              <a:t> + </a:t>
            </a:r>
            <a:r>
              <a:rPr sz="1700" b="0">
                <a:solidFill>
                  <a:srgbClr val="222222"/>
                </a:solidFill>
                <a:latin typeface="Consolas"/>
                <a:cs typeface="Consolas"/>
              </a:rPr>
              <a:t>ApplyLagThreshold=30</a:t>
            </a:r>
            <a:r>
              <a:rPr sz="1700" b="0">
                <a:solidFill>
                  <a:srgbClr val="222222"/>
                </a:solidFill>
                <a:latin typeface="맑은 고딕"/>
              </a:rPr>
              <a:t> → 즉시 ORA-16853</a:t>
            </a:r>
          </a:p>
          <a:p>
            <a:pPr algn="l">
              <a:spcAft>
                <a:spcPts val="1000"/>
              </a:spcAft>
            </a:pPr>
            <a:r>
              <a:rPr sz="1700" b="0">
                <a:solidFill>
                  <a:srgbClr val="222222"/>
                </a:solidFill>
                <a:latin typeface="맑은 고딕"/>
              </a:rPr>
              <a:t>•  임계값을 10 으로 낮추자 구성 전체가 </a:t>
            </a:r>
            <a:r>
              <a:rPr sz="1700" b="1">
                <a:solidFill>
                  <a:srgbClr val="222222"/>
                </a:solidFill>
                <a:latin typeface="맑은 고딕"/>
              </a:rPr>
              <a:t>WARNING</a:t>
            </a:r>
          </a:p>
          <a:p>
            <a:pPr algn="l">
              <a:spcAft>
                <a:spcPts val="1000"/>
              </a:spcAft>
            </a:pPr>
            <a:r>
              <a:rPr sz="1700" b="0">
                <a:solidFill>
                  <a:srgbClr val="222222"/>
                </a:solidFill>
                <a:latin typeface="맑은 고딕"/>
              </a:rPr>
              <a:t>•  </a:t>
            </a:r>
            <a:r>
              <a:rPr sz="1700" b="0">
                <a:solidFill>
                  <a:srgbClr val="222222"/>
                </a:solidFill>
                <a:latin typeface="Consolas"/>
                <a:cs typeface="Consolas"/>
              </a:rPr>
              <a:t>DelayMins=30</a:t>
            </a:r>
            <a:r>
              <a:rPr sz="1700" b="0">
                <a:solidFill>
                  <a:srgbClr val="222222"/>
                </a:solidFill>
                <a:latin typeface="맑은 고딕"/>
              </a:rPr>
              <a:t> 이면 임계값은 </a:t>
            </a:r>
            <a:r>
              <a:rPr sz="1700" b="1">
                <a:solidFill>
                  <a:srgbClr val="222222"/>
                </a:solidFill>
                <a:latin typeface="맑은 고딕"/>
              </a:rPr>
              <a:t>30분보다 넉넉하게</a:t>
            </a:r>
          </a:p>
          <a:p>
            <a:pPr algn="l">
              <a:spcAft>
                <a:spcPts val="1000"/>
              </a:spcAft>
            </a:pPr>
            <a:r>
              <a:rPr sz="1700" b="0">
                <a:solidFill>
                  <a:srgbClr val="222222"/>
                </a:solidFill>
                <a:latin typeface="맑은 고딕"/>
              </a:rPr>
              <a:t>•  상시 경고 = 아무도 보지 않는 경고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 뷰와 대조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사건의 흐름</a:t>
            </a:r>
          </a:p>
          <a:p>
            <a:pPr algn="l">
              <a:spcAft>
                <a:spcPts val="800"/>
              </a:spcAft>
            </a:pPr>
            <a:r>
              <a:rPr sz="1600" b="0">
                <a:solidFill>
                  <a:srgbClr val="FFFFFF"/>
                </a:solidFill>
                <a:latin typeface="맑은 고딕"/>
              </a:rPr>
              <a:t>•  지연과 시간 추정</a:t>
            </a:r>
          </a:p>
          <a:p>
            <a:pPr algn="l">
              <a:spcAft>
                <a:spcPts val="800"/>
              </a:spcAft>
            </a:pPr>
            <a:r>
              <a:rPr sz="1600" b="0">
                <a:solidFill>
                  <a:srgbClr val="FFFFFF"/>
                </a:solidFill>
                <a:latin typeface="맑은 고딕"/>
              </a:rPr>
              <a:t>•  구성을 SQL 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V$DATAGUARD_STATUS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Warning 이 다 문제가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SEVERITY</a:t>
            </a:r>
            <a:r>
              <a:rPr sz="1700" b="0">
                <a:solidFill>
                  <a:srgbClr val="222222"/>
                </a:solidFill>
                <a:latin typeface="맑은 고딕"/>
              </a:rPr>
              <a:t> — Informational / Control / Warning</a:t>
            </a:r>
          </a:p>
          <a:p>
            <a:pPr algn="l">
              <a:spcAft>
                <a:spcPts val="1000"/>
              </a:spcAft>
            </a:pPr>
            <a:r>
              <a:rPr sz="1700" b="0">
                <a:solidFill>
                  <a:srgbClr val="222222"/>
                </a:solidFill>
                <a:latin typeface="맑은 고딕"/>
              </a:rPr>
              <a:t>•  실측 </a:t>
            </a:r>
            <a:r>
              <a:rPr sz="1700" b="0">
                <a:solidFill>
                  <a:srgbClr val="222222"/>
                </a:solidFill>
                <a:latin typeface="Consolas"/>
                <a:cs typeface="Consolas"/>
              </a:rPr>
              <a:t>SRL selected for T-1.S-69 for LAD:2</a:t>
            </a:r>
            <a:r>
              <a:rPr sz="1700" b="0">
                <a:solidFill>
                  <a:srgbClr val="222222"/>
                </a:solidFill>
                <a:latin typeface="맑은 고딕"/>
              </a:rPr>
              <a:t> 가 </a:t>
            </a:r>
            <a:r>
              <a:rPr sz="1700" b="1">
                <a:solidFill>
                  <a:srgbClr val="222222"/>
                </a:solidFill>
                <a:latin typeface="맑은 고딕"/>
              </a:rPr>
              <a:t>Warning</a:t>
            </a:r>
          </a:p>
          <a:p>
            <a:pPr algn="l">
              <a:spcAft>
                <a:spcPts val="1000"/>
              </a:spcAft>
            </a:pPr>
            <a:r>
              <a:rPr sz="1700" b="0">
                <a:solidFill>
                  <a:srgbClr val="222222"/>
                </a:solidFill>
                <a:latin typeface="맑은 고딕"/>
              </a:rPr>
              <a:t>•  그런데 </a:t>
            </a:r>
            <a:r>
              <a:rPr sz="1700" b="0">
                <a:solidFill>
                  <a:srgbClr val="222222"/>
                </a:solidFill>
                <a:latin typeface="Consolas"/>
                <a:cs typeface="Consolas"/>
              </a:rPr>
              <a:t>ERROR_CODE</a:t>
            </a:r>
            <a:r>
              <a:rPr sz="1700" b="0">
                <a:solidFill>
                  <a:srgbClr val="222222"/>
                </a:solidFill>
                <a:latin typeface="맑은 고딕"/>
              </a:rPr>
              <a:t> 는 </a:t>
            </a:r>
            <a:r>
              <a:rPr sz="1700" b="1">
                <a:solidFill>
                  <a:srgbClr val="222222"/>
                </a:solidFill>
                <a:latin typeface="맑은 고딕"/>
              </a:rPr>
              <a:t>0</a:t>
            </a:r>
          </a:p>
          <a:p>
            <a:pPr algn="l">
              <a:spcAft>
                <a:spcPts val="1000"/>
              </a:spcAft>
            </a:pPr>
            <a:r>
              <a:rPr sz="1700" b="0">
                <a:solidFill>
                  <a:srgbClr val="222222"/>
                </a:solidFill>
                <a:latin typeface="맑은 고딕"/>
              </a:rPr>
              <a:t>•  거르면 11건 → </a:t>
            </a:r>
            <a:r>
              <a:rPr sz="1700" b="1">
                <a:solidFill>
                  <a:srgbClr val="222222"/>
                </a:solidFill>
                <a:latin typeface="맑은 고딕"/>
              </a:rPr>
              <a:t>2건</a:t>
            </a:r>
            <a:r>
              <a:rPr sz="1700" b="0">
                <a:solidFill>
                  <a:srgbClr val="222222"/>
                </a:solidFill>
                <a:latin typeface="맑은 고딕"/>
              </a:rPr>
              <a:t> (ORA-16037)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V$DATAGUARD_STATS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transport lag</a:t>
            </a:r>
            <a:r>
              <a:rPr sz="1700" b="0">
                <a:solidFill>
                  <a:srgbClr val="222222"/>
                </a:solidFill>
                <a:latin typeface="맑은 고딕"/>
              </a:rPr>
              <a:t> / </a:t>
            </a:r>
            <a:r>
              <a:rPr sz="1700" b="0">
                <a:solidFill>
                  <a:srgbClr val="222222"/>
                </a:solidFill>
                <a:latin typeface="Consolas"/>
                <a:cs typeface="Consolas"/>
              </a:rPr>
              <a:t>apply lag</a:t>
            </a:r>
            <a:r>
              <a:rPr sz="1700" b="0">
                <a:solidFill>
                  <a:srgbClr val="222222"/>
                </a:solidFill>
                <a:latin typeface="맑은 고딕"/>
              </a:rPr>
              <a:t> — 7장부터 본 둘</a:t>
            </a:r>
          </a:p>
          <a:p>
            <a:pPr algn="l">
              <a:spcAft>
                <a:spcPts val="1000"/>
              </a:spcAft>
            </a:pPr>
            <a:r>
              <a:rPr sz="1700" b="0">
                <a:solidFill>
                  <a:srgbClr val="222222"/>
                </a:solidFill>
                <a:latin typeface="맑은 고딕"/>
              </a:rPr>
              <a:t>•  </a:t>
            </a:r>
            <a:r>
              <a:rPr sz="1700" b="1">
                <a:solidFill>
                  <a:srgbClr val="222222"/>
                </a:solidFill>
                <a:latin typeface="Consolas"/>
                <a:cs typeface="Consolas"/>
              </a:rPr>
              <a:t>apply finish time</a:t>
            </a:r>
            <a:r>
              <a:rPr sz="1700" b="0">
                <a:solidFill>
                  <a:srgbClr val="222222"/>
                </a:solidFill>
                <a:latin typeface="맑은 고딕"/>
              </a:rPr>
              <a:t> — 밀린 것을 다 적용할 예상 시간</a:t>
            </a:r>
          </a:p>
          <a:p>
            <a:pPr algn="l">
              <a:spcAft>
                <a:spcPts val="1000"/>
              </a:spcAft>
            </a:pPr>
            <a:r>
              <a:rPr sz="1700" b="0">
                <a:solidFill>
                  <a:srgbClr val="222222"/>
                </a:solidFill>
                <a:latin typeface="맑은 고딕"/>
              </a:rPr>
              <a:t>•  </a:t>
            </a:r>
            <a:r>
              <a:rPr sz="1700" b="1">
                <a:solidFill>
                  <a:srgbClr val="222222"/>
                </a:solidFill>
                <a:latin typeface="Consolas"/>
                <a:cs typeface="Consolas"/>
              </a:rPr>
              <a:t>estimated startup time</a:t>
            </a:r>
            <a:r>
              <a:rPr sz="1700" b="0">
                <a:solidFill>
                  <a:srgbClr val="222222"/>
                </a:solidFill>
                <a:latin typeface="맑은 고딕"/>
              </a:rPr>
              <a:t> — 실측 </a:t>
            </a:r>
            <a:r>
              <a:rPr sz="1700" b="1">
                <a:solidFill>
                  <a:srgbClr val="222222"/>
                </a:solidFill>
                <a:latin typeface="맑은 고딕"/>
              </a:rPr>
              <a:t>11초</a:t>
            </a:r>
          </a:p>
          <a:p>
            <a:pPr algn="l">
              <a:spcAft>
                <a:spcPts val="1000"/>
              </a:spcAft>
            </a:pPr>
            <a:r>
              <a:rPr sz="1700" b="0">
                <a:solidFill>
                  <a:srgbClr val="222222"/>
                </a:solidFill>
                <a:latin typeface="맑은 고딕"/>
              </a:rPr>
              <a:t>•  두 값을 더하면 </a:t>
            </a:r>
            <a:r>
              <a:rPr sz="1700" b="1">
                <a:solidFill>
                  <a:srgbClr val="222222"/>
                </a:solidFill>
                <a:latin typeface="맑은 고딕"/>
              </a:rPr>
              <a:t>RTO 근거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뷰는 어느 쪽에서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함정이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에서 조회 → 네 행</a:t>
            </a:r>
          </a:p>
          <a:p>
            <a:pPr algn="l">
              <a:spcAft>
                <a:spcPts val="1000"/>
              </a:spcAft>
            </a:pPr>
            <a:r>
              <a:rPr sz="1700" b="0">
                <a:solidFill>
                  <a:srgbClr val="222222"/>
                </a:solidFill>
                <a:latin typeface="맑은 고딕"/>
              </a:rPr>
              <a:t>•  </a:t>
            </a:r>
            <a:r>
              <a:rPr sz="1700" b="1">
                <a:solidFill>
                  <a:srgbClr val="222222"/>
                </a:solidFill>
                <a:latin typeface="맑은 고딕"/>
              </a:rPr>
              <a:t>Primary 에서 조회 → </a:t>
            </a:r>
            <a:r>
              <a:rPr sz="1700" b="1">
                <a:solidFill>
                  <a:srgbClr val="222222"/>
                </a:solidFill>
                <a:latin typeface="Consolas"/>
                <a:cs typeface="Consolas"/>
              </a:rPr>
              <a:t>no rows selected</a:t>
            </a:r>
          </a:p>
          <a:p>
            <a:pPr algn="l">
              <a:spcAft>
                <a:spcPts val="1000"/>
              </a:spcAft>
            </a:pPr>
            <a:r>
              <a:rPr sz="1700" b="0">
                <a:solidFill>
                  <a:srgbClr val="222222"/>
                </a:solidFill>
                <a:latin typeface="맑은 고딕"/>
              </a:rPr>
              <a:t>•  지연은 </a:t>
            </a:r>
            <a:r>
              <a:rPr sz="1700" b="1">
                <a:solidFill>
                  <a:srgbClr val="222222"/>
                </a:solidFill>
                <a:latin typeface="맑은 고딕"/>
              </a:rPr>
              <a:t>받는 쪽</a:t>
            </a:r>
            <a:r>
              <a:rPr sz="1700" b="0">
                <a:solidFill>
                  <a:srgbClr val="222222"/>
                </a:solidFill>
                <a:latin typeface="맑은 고딕"/>
              </a:rPr>
              <a:t>의 개념이므로 당연</a:t>
            </a:r>
          </a:p>
          <a:p>
            <a:pPr algn="l">
              <a:spcAft>
                <a:spcPts val="1000"/>
              </a:spcAft>
            </a:pPr>
            <a:r>
              <a:rPr sz="1700" b="0">
                <a:solidFill>
                  <a:srgbClr val="222222"/>
                </a:solidFill>
                <a:latin typeface="맑은 고딕"/>
              </a:rPr>
              <a:t>•  양쪽에 같은 SQL 을 돌리면 빈 결과를 오류로 오인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V$DG_BROKER_CONFIG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SHOW 를 SQL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REDO_SOURCE</a:t>
            </a:r>
            <a:r>
              <a:rPr sz="1700" b="0">
                <a:solidFill>
                  <a:srgbClr val="222222"/>
                </a:solidFill>
                <a:latin typeface="맑은 고딕"/>
              </a:rPr>
              <a:t> 가 </a:t>
            </a:r>
            <a:r>
              <a:rPr sz="1700" b="1">
                <a:solidFill>
                  <a:srgbClr val="222222"/>
                </a:solidFill>
                <a:latin typeface="맑은 고딕"/>
              </a:rPr>
              <a:t>들여쓰기를 대신한다</a:t>
            </a:r>
          </a:p>
          <a:p>
            <a:pPr algn="l">
              <a:spcAft>
                <a:spcPts val="1000"/>
              </a:spcAft>
            </a:pPr>
            <a:r>
              <a:rPr sz="1700" b="0">
                <a:solidFill>
                  <a:srgbClr val="222222"/>
                </a:solidFill>
                <a:latin typeface="맑은 고딕"/>
              </a:rPr>
              <a:t>•  chicago </a:t>
            </a:r>
            <a:r>
              <a:rPr sz="1700" b="0">
                <a:solidFill>
                  <a:srgbClr val="222222"/>
                </a:solidFill>
                <a:latin typeface="Consolas"/>
                <a:cs typeface="Consolas"/>
              </a:rPr>
              <a:t>-N/A-</a:t>
            </a:r>
            <a:r>
              <a:rPr sz="1700" b="0">
                <a:solidFill>
                  <a:srgbClr val="222222"/>
                </a:solidFill>
                <a:latin typeface="맑은 고딕"/>
              </a:rPr>
              <a:t> / boston </a:t>
            </a:r>
            <a:r>
              <a:rPr sz="1700" b="0">
                <a:solidFill>
                  <a:srgbClr val="222222"/>
                </a:solidFill>
                <a:latin typeface="Consolas"/>
                <a:cs typeface="Consolas"/>
              </a:rPr>
              <a:t>chicago</a:t>
            </a:r>
          </a:p>
          <a:p>
            <a:pPr algn="l">
              <a:spcAft>
                <a:spcPts val="1000"/>
              </a:spcAft>
            </a:pPr>
            <a:r>
              <a:rPr sz="1700" b="0">
                <a:solidFill>
                  <a:srgbClr val="222222"/>
                </a:solidFill>
                <a:latin typeface="맑은 고딕"/>
              </a:rPr>
              <a:t>•  Standby 에서도 같은 내용이 나온다</a:t>
            </a:r>
          </a:p>
          <a:p>
            <a:pPr algn="l">
              <a:spcAft>
                <a:spcPts val="1000"/>
              </a:spcAft>
            </a:pPr>
            <a:r>
              <a:rPr sz="1700" b="0">
                <a:solidFill>
                  <a:srgbClr val="222222"/>
                </a:solidFill>
                <a:latin typeface="맑은 고딕"/>
              </a:rPr>
              <a:t>•  </a:t>
            </a:r>
            <a:r>
              <a:rPr sz="1700" b="0">
                <a:solidFill>
                  <a:srgbClr val="222222"/>
                </a:solidFill>
                <a:latin typeface="Consolas"/>
                <a:cs typeface="Consolas"/>
              </a:rPr>
              <a:t>STATUS</a:t>
            </a:r>
            <a:r>
              <a:rPr sz="1700" b="0">
                <a:solidFill>
                  <a:srgbClr val="222222"/>
                </a:solidFill>
                <a:latin typeface="맑은 고딕"/>
              </a:rPr>
              <a:t> 는 문자열이 아니라 </a:t>
            </a:r>
            <a:r>
              <a:rPr sz="1700" b="1">
                <a:solidFill>
                  <a:srgbClr val="222222"/>
                </a:solidFill>
                <a:latin typeface="맑은 고딕"/>
              </a:rPr>
              <a:t>숫자</a:t>
            </a:r>
            <a:r>
              <a:rPr sz="1700" b="0">
                <a:solidFill>
                  <a:srgbClr val="222222"/>
                </a:solidFill>
                <a:latin typeface="맑은 고딕"/>
              </a:rPr>
              <a:t> — </a:t>
            </a:r>
            <a:r>
              <a:rPr sz="1700" b="0">
                <a:solidFill>
                  <a:srgbClr val="222222"/>
                </a:solidFill>
                <a:latin typeface="Consolas"/>
                <a:cs typeface="Consolas"/>
              </a:rPr>
              <a:t>a10</a:t>
            </a:r>
            <a:r>
              <a:rPr sz="1700" b="0">
                <a:solidFill>
                  <a:srgbClr val="222222"/>
                </a:solidFill>
                <a:latin typeface="맑은 고딕"/>
              </a:rPr>
              <a:t> 주면 </a:t>
            </a:r>
            <a:r>
              <a:rPr sz="1700" b="0">
                <a:solidFill>
                  <a:srgbClr val="222222"/>
                </a:solidFill>
                <a:latin typeface="Consolas"/>
                <a:cs typeface="Consolas"/>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뷰 이름의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ORA-00942 의 두 얼굴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V$DATAGUARD_STATUS</a:t>
            </a:r>
            <a:r>
              <a:rPr sz="1700" b="0">
                <a:solidFill>
                  <a:srgbClr val="222222"/>
                </a:solidFill>
                <a:latin typeface="맑은 고딕"/>
              </a:rPr>
              <a:t> 상태 메시지</a:t>
            </a:r>
          </a:p>
          <a:p>
            <a:pPr algn="l">
              <a:spcAft>
                <a:spcPts val="1000"/>
              </a:spcAft>
            </a:pPr>
            <a:r>
              <a:rPr sz="1700" b="0">
                <a:solidFill>
                  <a:srgbClr val="222222"/>
                </a:solidFill>
                <a:latin typeface="맑은 고딕"/>
              </a:rPr>
              <a:t>•  </a:t>
            </a:r>
            <a:r>
              <a:rPr sz="1700" b="0">
                <a:solidFill>
                  <a:srgbClr val="222222"/>
                </a:solidFill>
                <a:latin typeface="Consolas"/>
                <a:cs typeface="Consolas"/>
              </a:rPr>
              <a:t>V$DATAGUARD_STATS</a:t>
            </a:r>
            <a:r>
              <a:rPr sz="1700" b="0">
                <a:solidFill>
                  <a:srgbClr val="222222"/>
                </a:solidFill>
                <a:latin typeface="맑은 고딕"/>
              </a:rPr>
              <a:t> 통계 — </a:t>
            </a:r>
            <a:r>
              <a:rPr sz="1700" b="1">
                <a:solidFill>
                  <a:srgbClr val="222222"/>
                </a:solidFill>
                <a:latin typeface="맑은 고딕"/>
              </a:rPr>
              <a:t>한 글자 차이</a:t>
            </a:r>
          </a:p>
          <a:p>
            <a:pPr algn="l">
              <a:spcAft>
                <a:spcPts val="1000"/>
              </a:spcAft>
            </a:pPr>
            <a:r>
              <a:rPr sz="1700" b="0">
                <a:solidFill>
                  <a:srgbClr val="222222"/>
                </a:solidFill>
                <a:latin typeface="맑은 고딕"/>
              </a:rPr>
              <a:t>•  틀리면 </a:t>
            </a:r>
            <a:r>
              <a:rPr sz="1700" b="0">
                <a:solidFill>
                  <a:srgbClr val="222222"/>
                </a:solidFill>
                <a:latin typeface="Consolas"/>
                <a:cs typeface="Consolas"/>
              </a:rPr>
              <a:t>ORA-00942: table or view does not exist</a:t>
            </a:r>
          </a:p>
          <a:p>
            <a:pPr algn="l">
              <a:spcAft>
                <a:spcPts val="1000"/>
              </a:spcAft>
            </a:pPr>
            <a:r>
              <a:rPr sz="1700" b="0">
                <a:solidFill>
                  <a:srgbClr val="222222"/>
                </a:solidFill>
                <a:latin typeface="맑은 고딕"/>
              </a:rPr>
              <a:t>•  </a:t>
            </a:r>
            <a:r>
              <a:rPr sz="1700" b="1">
                <a:solidFill>
                  <a:srgbClr val="222222"/>
                </a:solidFill>
                <a:latin typeface="맑은 고딕"/>
              </a:rPr>
              <a:t>같은 번호가 권한 부족일 때도 나온다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구성을 파일로 남긴다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어디에 생기는가</a:t>
            </a:r>
          </a:p>
          <a:p>
            <a:pPr algn="l">
              <a:spcAft>
                <a:spcPts val="800"/>
              </a:spcAft>
            </a:pPr>
            <a:r>
              <a:rPr sz="1600" b="0">
                <a:solidFill>
                  <a:srgbClr val="FFFFFF"/>
                </a:solidFill>
                <a:latin typeface="맑은 고딕"/>
              </a:rPr>
              <a:t>•  경로는 줄 수 없다</a:t>
            </a:r>
          </a:p>
          <a:p>
            <a:pPr algn="l">
              <a:spcAft>
                <a:spcPts val="800"/>
              </a:spcAft>
            </a:pPr>
            <a:r>
              <a:rPr sz="1600" b="0">
                <a:solidFill>
                  <a:srgbClr val="FFFFFF"/>
                </a:solidFill>
                <a:latin typeface="맑은 고딕"/>
              </a:rPr>
              <a:t>•  가져오기의 제약</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EXPORT 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어디에 생기나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export configuration to 'ch14_export.xml'</a:t>
            </a:r>
            <a:r>
              <a:rPr sz="1700" b="0">
                <a:solidFill>
                  <a:srgbClr val="222222"/>
                </a:solidFill>
                <a:latin typeface="맑은 고딕"/>
              </a:rPr>
              <a:t> → </a:t>
            </a:r>
            <a:r>
              <a:rPr sz="1700" b="0">
                <a:solidFill>
                  <a:srgbClr val="222222"/>
                </a:solidFill>
                <a:latin typeface="Consolas"/>
                <a:cs typeface="Consolas"/>
              </a:rPr>
              <a:t>Succeeded.</a:t>
            </a:r>
          </a:p>
          <a:p>
            <a:pPr algn="l">
              <a:spcAft>
                <a:spcPts val="1000"/>
              </a:spcAft>
            </a:pPr>
            <a:r>
              <a:rPr sz="1700" b="0">
                <a:solidFill>
                  <a:srgbClr val="222222"/>
                </a:solidFill>
                <a:latin typeface="맑은 고딕"/>
              </a:rPr>
              <a:t>•  </a:t>
            </a:r>
            <a:r>
              <a:rPr sz="1700" b="1">
                <a:solidFill>
                  <a:srgbClr val="222222"/>
                </a:solidFill>
                <a:latin typeface="맑은 고딕"/>
              </a:rPr>
              <a:t>어디에 만들었는지 말해 주지 않는다</a:t>
            </a:r>
          </a:p>
          <a:p>
            <a:pPr algn="l">
              <a:spcAft>
                <a:spcPts val="1000"/>
              </a:spcAft>
            </a:pPr>
            <a:r>
              <a:rPr sz="1700" b="0">
                <a:solidFill>
                  <a:srgbClr val="222222"/>
                </a:solidFill>
                <a:latin typeface="맑은 고딕"/>
              </a:rPr>
              <a:t>•  </a:t>
            </a:r>
            <a:r>
              <a:rPr sz="1700" b="0">
                <a:solidFill>
                  <a:srgbClr val="222222"/>
                </a:solidFill>
                <a:latin typeface="Consolas"/>
                <a:cs typeface="Consolas"/>
              </a:rPr>
              <a:t>$ORACLE_HOME/dbs</a:t>
            </a:r>
            <a:r>
              <a:rPr sz="1700" b="0">
                <a:solidFill>
                  <a:srgbClr val="222222"/>
                </a:solidFill>
                <a:latin typeface="맑은 고딕"/>
              </a:rPr>
              <a:t> 에는 없다</a:t>
            </a:r>
          </a:p>
          <a:p>
            <a:pPr algn="l">
              <a:spcAft>
                <a:spcPts val="1000"/>
              </a:spcAft>
            </a:pPr>
            <a:r>
              <a:rPr sz="1700" b="0">
                <a:solidFill>
                  <a:srgbClr val="222222"/>
                </a:solidFill>
                <a:latin typeface="맑은 고딕"/>
              </a:rPr>
              <a:t>•  실측 → </a:t>
            </a:r>
            <a:r>
              <a:rPr sz="1700" b="0">
                <a:solidFill>
                  <a:srgbClr val="222222"/>
                </a:solidFill>
                <a:latin typeface="Consolas"/>
                <a:cs typeface="Consolas"/>
              </a:rPr>
              <a:t>/u01/app/oracle/diag/rdbms/chicago/chicago/trace/</a:t>
            </a:r>
          </a:p>
          <a:p>
            <a:pPr algn="l">
              <a:spcAft>
                <a:spcPts val="1000"/>
              </a:spcAft>
            </a:pPr>
            <a:r>
              <a:rPr sz="1700" b="0">
                <a:solidFill>
                  <a:srgbClr val="222222"/>
                </a:solidFill>
                <a:latin typeface="맑은 고딕"/>
              </a:rPr>
              <a:t>•  104줄 4,433바이트, 권한 644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경로를 주면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export configuration to '/tmp/ch14_abs.xml';</a:t>
            </a:r>
          </a:p>
          <a:p>
            <a:pPr algn="l">
              <a:spcAft>
                <a:spcPts val="1000"/>
              </a:spcAft>
            </a:pPr>
            <a:r>
              <a:rPr sz="1700" b="0">
                <a:solidFill>
                  <a:srgbClr val="222222"/>
                </a:solidFill>
                <a:latin typeface="맑은 고딕"/>
              </a:rPr>
              <a:t>•  → </a:t>
            </a:r>
            <a:r>
              <a:rPr sz="1700" b="1">
                <a:solidFill>
                  <a:srgbClr val="222222"/>
                </a:solidFill>
                <a:latin typeface="Consolas"/>
                <a:cs typeface="Consolas"/>
              </a:rPr>
              <a:t>ORA-16540: invalid argument</a:t>
            </a:r>
          </a:p>
          <a:p>
            <a:pPr algn="l">
              <a:spcAft>
                <a:spcPts val="1000"/>
              </a:spcAft>
            </a:pPr>
            <a:r>
              <a:rPr sz="1700" b="0">
                <a:solidFill>
                  <a:srgbClr val="222222"/>
                </a:solidFill>
                <a:latin typeface="맑은 고딕"/>
              </a:rPr>
              <a:t>•  </a:t>
            </a:r>
            <a:r>
              <a:rPr sz="1700" b="0">
                <a:solidFill>
                  <a:srgbClr val="222222"/>
                </a:solidFill>
                <a:latin typeface="Consolas"/>
                <a:cs typeface="Consolas"/>
              </a:rPr>
              <a:t>ORA-06512: at "SYS.DBMS_DRS", line 1947</a:t>
            </a:r>
          </a:p>
          <a:p>
            <a:pPr algn="l">
              <a:spcAft>
                <a:spcPts val="1000"/>
              </a:spcAft>
            </a:pPr>
            <a:r>
              <a:rPr sz="1700" b="0">
                <a:solidFill>
                  <a:srgbClr val="222222"/>
                </a:solidFill>
                <a:latin typeface="맑은 고딕"/>
              </a:rPr>
              <a:t>•  </a:t>
            </a:r>
            <a:r>
              <a:rPr sz="1700" b="0">
                <a:solidFill>
                  <a:srgbClr val="222222"/>
                </a:solidFill>
                <a:latin typeface="Consolas"/>
                <a:cs typeface="Consolas"/>
              </a:rPr>
              <a:t>/</a:t>
            </a:r>
            <a:r>
              <a:rPr sz="1700" b="0">
                <a:solidFill>
                  <a:srgbClr val="222222"/>
                </a:solidFill>
                <a:latin typeface="맑은 고딕"/>
              </a:rPr>
              <a:t> 아래도 같은 오류 — </a:t>
            </a:r>
            <a:r>
              <a:rPr sz="1700" b="1">
                <a:solidFill>
                  <a:srgbClr val="222222"/>
                </a:solidFill>
                <a:latin typeface="맑은 고딕"/>
              </a:rPr>
              <a:t>위치와 무관</a:t>
            </a:r>
          </a:p>
          <a:p>
            <a:pPr algn="l">
              <a:spcAft>
                <a:spcPts val="1000"/>
              </a:spcAft>
            </a:pPr>
            <a:r>
              <a:rPr sz="1700" b="0">
                <a:solidFill>
                  <a:srgbClr val="222222"/>
                </a:solidFill>
                <a:latin typeface="맑은 고딕"/>
              </a:rPr>
              <a:t>•  인자는 경로가 아니라 </a:t>
            </a:r>
            <a:r>
              <a:rPr sz="1700" b="1">
                <a:solidFill>
                  <a:srgbClr val="222222"/>
                </a:solidFill>
                <a:latin typeface="맑은 고딕"/>
              </a:rPr>
              <a:t>파일 이름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가져오기는 거부된다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import configuration from 'ch14_export.xml';</a:t>
            </a:r>
          </a:p>
          <a:p>
            <a:pPr algn="l">
              <a:spcAft>
                <a:spcPts val="1000"/>
              </a:spcAft>
            </a:pPr>
            <a:r>
              <a:rPr sz="1700" b="0">
                <a:solidFill>
                  <a:srgbClr val="222222"/>
                </a:solidFill>
                <a:latin typeface="맑은 고딕"/>
              </a:rPr>
              <a:t>•  → </a:t>
            </a:r>
            <a:r>
              <a:rPr sz="1700" b="1">
                <a:solidFill>
                  <a:srgbClr val="222222"/>
                </a:solidFill>
                <a:latin typeface="Consolas"/>
                <a:cs typeface="Consolas"/>
              </a:rPr>
              <a:t>ORA-16504: configuration already exists</a:t>
            </a:r>
          </a:p>
          <a:p>
            <a:pPr algn="l">
              <a:spcAft>
                <a:spcPts val="1000"/>
              </a:spcAft>
            </a:pPr>
            <a:r>
              <a:rPr sz="1700" b="0">
                <a:solidFill>
                  <a:srgbClr val="222222"/>
                </a:solidFill>
                <a:latin typeface="맑은 고딕"/>
              </a:rPr>
              <a:t>•  덮어쓰기가 아니다 — 아예 받지 않는다</a:t>
            </a:r>
          </a:p>
          <a:p>
            <a:pPr algn="l">
              <a:spcAft>
                <a:spcPts val="1000"/>
              </a:spcAft>
            </a:pPr>
            <a:r>
              <a:rPr sz="1700" b="0">
                <a:solidFill>
                  <a:srgbClr val="222222"/>
                </a:solidFill>
                <a:latin typeface="맑은 고딕"/>
              </a:rPr>
              <a:t>•  복구는 </a:t>
            </a:r>
            <a:r>
              <a:rPr sz="1700" b="0">
                <a:solidFill>
                  <a:srgbClr val="222222"/>
                </a:solidFill>
                <a:latin typeface="Consolas"/>
                <a:cs typeface="Consolas"/>
              </a:rPr>
              <a:t>REMOVE CONFIGURATION</a:t>
            </a:r>
            <a:r>
              <a:rPr sz="1700" b="0">
                <a:solidFill>
                  <a:srgbClr val="222222"/>
                </a:solidFill>
                <a:latin typeface="맑은 고딕"/>
              </a:rPr>
              <a:t> → </a:t>
            </a:r>
            <a:r>
              <a:rPr sz="1700" b="0">
                <a:solidFill>
                  <a:srgbClr val="222222"/>
                </a:solidFill>
                <a:latin typeface="Consolas"/>
                <a:cs typeface="Consolas"/>
              </a:rPr>
              <a:t>IMPORT</a:t>
            </a:r>
          </a:p>
          <a:p>
            <a:pPr algn="l">
              <a:spcAft>
                <a:spcPts val="1000"/>
              </a:spcAft>
            </a:pPr>
            <a:r>
              <a:rPr sz="1700" b="0">
                <a:solidFill>
                  <a:srgbClr val="222222"/>
                </a:solidFill>
                <a:latin typeface="맑은 고딕"/>
              </a:rPr>
              <a:t>•  그사이 </a:t>
            </a:r>
            <a:r>
              <a:rPr sz="1700" b="1">
                <a:solidFill>
                  <a:srgbClr val="222222"/>
                </a:solidFill>
                <a:latin typeface="맑은 고딕"/>
              </a:rPr>
              <a:t>감시 공백 구간</a:t>
            </a:r>
            <a:r>
              <a:rPr sz="1700" b="0">
                <a:solidFill>
                  <a:srgbClr val="222222"/>
                </a:solidFill>
                <a:latin typeface="맑은 고딕"/>
              </a:rPr>
              <a:t>이 생긴다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파일이 커진다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이력이 쌓인다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13장 구성 직후 — </a:t>
            </a:r>
            <a:r>
              <a:rPr sz="1700" b="1">
                <a:solidFill>
                  <a:srgbClr val="222222"/>
                </a:solidFill>
                <a:latin typeface="맑은 고딕"/>
              </a:rPr>
              <a:t>8,192</a:t>
            </a:r>
            <a:r>
              <a:rPr sz="1700" b="0">
                <a:solidFill>
                  <a:srgbClr val="222222"/>
                </a:solidFill>
                <a:latin typeface="맑은 고딕"/>
              </a:rPr>
              <a:t> 바이트</a:t>
            </a:r>
          </a:p>
          <a:p>
            <a:pPr algn="l">
              <a:spcAft>
                <a:spcPts val="1000"/>
              </a:spcAft>
            </a:pPr>
            <a:r>
              <a:rPr sz="1700" b="0">
                <a:solidFill>
                  <a:srgbClr val="222222"/>
                </a:solidFill>
                <a:latin typeface="맑은 고딕"/>
              </a:rPr>
              <a:t>•  14장 속성·FSFO 를 손본 뒤 — </a:t>
            </a:r>
            <a:r>
              <a:rPr sz="1700" b="1">
                <a:solidFill>
                  <a:srgbClr val="222222"/>
                </a:solidFill>
                <a:latin typeface="맑은 고딕"/>
              </a:rPr>
              <a:t>12,288</a:t>
            </a:r>
            <a:r>
              <a:rPr sz="1700" b="0">
                <a:solidFill>
                  <a:srgbClr val="222222"/>
                </a:solidFill>
                <a:latin typeface="맑은 고딕"/>
              </a:rPr>
              <a:t> 바이트</a:t>
            </a:r>
          </a:p>
          <a:p>
            <a:pPr algn="l">
              <a:spcAft>
                <a:spcPts val="1000"/>
              </a:spcAft>
            </a:pPr>
            <a:r>
              <a:rPr sz="1700" b="0">
                <a:solidFill>
                  <a:srgbClr val="222222"/>
                </a:solidFill>
                <a:latin typeface="맑은 고딕"/>
              </a:rPr>
              <a:t>•  기본값에서 벗어난 설정이 누적된다</a:t>
            </a:r>
          </a:p>
          <a:p>
            <a:pPr algn="l">
              <a:spcAft>
                <a:spcPts val="1000"/>
              </a:spcAft>
            </a:pPr>
            <a:r>
              <a:rPr sz="1700" b="0">
                <a:solidFill>
                  <a:srgbClr val="222222"/>
                </a:solidFill>
                <a:latin typeface="맑은 고딕"/>
              </a:rPr>
              <a:t>•  XML 을 정기적으로 남기고 </a:t>
            </a:r>
            <a:r>
              <a:rPr sz="1700" b="0">
                <a:solidFill>
                  <a:srgbClr val="222222"/>
                </a:solidFill>
                <a:latin typeface="Consolas"/>
                <a:cs typeface="Consolas"/>
              </a:rPr>
              <a:t>diff</a:t>
            </a:r>
            <a:r>
              <a:rPr sz="1700" b="0">
                <a:solidFill>
                  <a:srgbClr val="222222"/>
                </a:solidFill>
                <a:latin typeface="맑은 고딕"/>
              </a:rPr>
              <a:t> 로 비교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Fast-Start Failover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관측자가 필요한 이유</a:t>
            </a:r>
          </a:p>
          <a:p>
            <a:pPr algn="l">
              <a:spcAft>
                <a:spcPts val="800"/>
              </a:spcAft>
            </a:pPr>
            <a:r>
              <a:rPr sz="1600" b="0">
                <a:solidFill>
                  <a:srgbClr val="FFFFFF"/>
                </a:solidFill>
                <a:latin typeface="맑은 고딕"/>
              </a:rPr>
              <a:t>•  켜면 무엇이 달라지는가</a:t>
            </a:r>
          </a:p>
          <a:p>
            <a:pPr algn="l">
              <a:spcAft>
                <a:spcPts val="800"/>
              </a:spcAft>
            </a:pPr>
            <a:r>
              <a:rPr sz="1600" b="0">
                <a:solidFill>
                  <a:srgbClr val="FFFFFF"/>
                </a:solidFill>
                <a:latin typeface="맑은 고딕"/>
              </a:rPr>
              <a:t>•  끄는 순서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FSFO 와 관측자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왜 제3의 위치인가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가 응답하지 않으면 자동으로 전환</a:t>
            </a:r>
          </a:p>
          <a:p>
            <a:pPr algn="l">
              <a:spcAft>
                <a:spcPts val="1000"/>
              </a:spcAft>
            </a:pPr>
            <a:r>
              <a:rPr sz="1700" b="0">
                <a:solidFill>
                  <a:srgbClr val="222222"/>
                </a:solidFill>
                <a:latin typeface="맑은 고딕"/>
              </a:rPr>
              <a:t>•  판단 주체 = </a:t>
            </a:r>
            <a:r>
              <a:rPr sz="1700" b="1">
                <a:solidFill>
                  <a:srgbClr val="222222"/>
                </a:solidFill>
                <a:latin typeface="맑은 고딕"/>
              </a:rPr>
              <a:t>관측자(Observer)</a:t>
            </a:r>
          </a:p>
          <a:p>
            <a:pPr algn="l">
              <a:spcAft>
                <a:spcPts val="1000"/>
              </a:spcAft>
            </a:pPr>
            <a:r>
              <a:rPr sz="1700" b="0">
                <a:solidFill>
                  <a:srgbClr val="222222"/>
                </a:solidFill>
                <a:latin typeface="맑은 고딕"/>
              </a:rPr>
              <a:t>•  Standby 가 스스로 판단하면 </a:t>
            </a:r>
            <a:r>
              <a:rPr sz="1700" b="1">
                <a:solidFill>
                  <a:srgbClr val="222222"/>
                </a:solidFill>
                <a:latin typeface="맑은 고딕"/>
              </a:rPr>
              <a:t>split brain</a:t>
            </a:r>
          </a:p>
          <a:p>
            <a:pPr algn="l">
              <a:spcAft>
                <a:spcPts val="1000"/>
              </a:spcAft>
            </a:pPr>
            <a:r>
              <a:rPr sz="1700" b="0">
                <a:solidFill>
                  <a:srgbClr val="222222"/>
                </a:solidFill>
                <a:latin typeface="맑은 고딕"/>
              </a:rPr>
              <a:t>•  관측자는 양쪽에 접속해 있어 구별할 수 있다</a:t>
            </a:r>
          </a:p>
          <a:p>
            <a:pPr algn="l">
              <a:spcAft>
                <a:spcPts val="1000"/>
              </a:spcAft>
            </a:pPr>
            <a:r>
              <a:rPr sz="1700" b="0">
                <a:solidFill>
                  <a:srgbClr val="222222"/>
                </a:solidFill>
                <a:latin typeface="맑은 고딕"/>
              </a:rPr>
              <a:t>•  Primary·Standby 와 </a:t>
            </a:r>
            <a:r>
              <a:rPr sz="1700" b="1">
                <a:solidFill>
                  <a:srgbClr val="222222"/>
                </a:solidFill>
                <a:latin typeface="맑은 고딕"/>
              </a:rPr>
              <a:t>다른 호스트</a:t>
            </a:r>
            <a:r>
              <a:rPr sz="1700" b="0">
                <a:solidFill>
                  <a:srgbClr val="222222"/>
                </a:solidFill>
                <a:latin typeface="맑은 고딕"/>
              </a:rPr>
              <a:t>에 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관측자는 별개 프로세스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구문이 말해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START OBSERVER ... IN BACKGROUND</a:t>
            </a:r>
          </a:p>
          <a:p>
            <a:pPr algn="l">
              <a:spcAft>
                <a:spcPts val="1000"/>
              </a:spcAft>
            </a:pPr>
            <a:r>
              <a:rPr sz="1700" b="0">
                <a:solidFill>
                  <a:srgbClr val="222222"/>
                </a:solidFill>
                <a:latin typeface="맑은 고딕"/>
              </a:rPr>
              <a:t>•  </a:t>
            </a:r>
            <a:r>
              <a:rPr sz="1700" b="0">
                <a:solidFill>
                  <a:srgbClr val="222222"/>
                </a:solidFill>
                <a:latin typeface="Consolas"/>
                <a:cs typeface="Consolas"/>
              </a:rPr>
              <a:t>CONNECT IDENTIFIER IS &lt;connect identifier&gt;</a:t>
            </a:r>
          </a:p>
          <a:p>
            <a:pPr algn="l">
              <a:spcAft>
                <a:spcPts val="1000"/>
              </a:spcAft>
            </a:pPr>
            <a:r>
              <a:rPr sz="1700" b="0">
                <a:solidFill>
                  <a:srgbClr val="222222"/>
                </a:solidFill>
                <a:latin typeface="맑은 고딕"/>
              </a:rPr>
              <a:t>•  → </a:t>
            </a:r>
            <a:r>
              <a:rPr sz="1700" b="1">
                <a:solidFill>
                  <a:srgbClr val="222222"/>
                </a:solidFill>
                <a:latin typeface="맑은 고딕"/>
              </a:rPr>
              <a:t>tnsnames 로 접속하는 클라이언트</a:t>
            </a:r>
          </a:p>
          <a:p>
            <a:pPr algn="l">
              <a:spcAft>
                <a:spcPts val="1000"/>
              </a:spcAft>
            </a:pPr>
            <a:r>
              <a:rPr sz="1700" b="0">
                <a:solidFill>
                  <a:srgbClr val="222222"/>
                </a:solidFill>
                <a:latin typeface="맑은 고딕"/>
              </a:rPr>
              <a:t>•  </a:t>
            </a:r>
            <a:r>
              <a:rPr sz="1700" b="0">
                <a:solidFill>
                  <a:srgbClr val="222222"/>
                </a:solidFill>
                <a:latin typeface="Consolas"/>
                <a:cs typeface="Consolas"/>
              </a:rPr>
              <a:t>FILE IS &lt;observer file&gt;</a:t>
            </a:r>
            <a:r>
              <a:rPr sz="1700" b="0">
                <a:solidFill>
                  <a:srgbClr val="222222"/>
                </a:solidFill>
                <a:latin typeface="맑은 고딕"/>
              </a:rPr>
              <a:t> — 상태를 파일에 남긴다</a:t>
            </a:r>
          </a:p>
          <a:p>
            <a:pPr algn="l">
              <a:spcAft>
                <a:spcPts val="1000"/>
              </a:spcAft>
            </a:pPr>
            <a:r>
              <a:rPr sz="1700" b="0">
                <a:solidFill>
                  <a:srgbClr val="222222"/>
                </a:solidFill>
                <a:latin typeface="맑은 고딕"/>
              </a:rPr>
              <a:t>•  DGMGRL 만 설치된 호스트에서 실행 가능</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기본이 NO 인 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Corrupted Controlfile</a:t>
            </a:r>
            <a:r>
              <a:rPr sz="1700" b="0">
                <a:solidFill>
                  <a:srgbClr val="222222"/>
                </a:solidFill>
                <a:latin typeface="맑은 고딕"/>
              </a:rPr>
              <a:t> YES</a:t>
            </a:r>
          </a:p>
          <a:p>
            <a:pPr algn="l">
              <a:spcAft>
                <a:spcPts val="1000"/>
              </a:spcAft>
            </a:pPr>
            <a:r>
              <a:rPr sz="1700" b="0">
                <a:solidFill>
                  <a:srgbClr val="222222"/>
                </a:solidFill>
                <a:latin typeface="맑은 고딕"/>
              </a:rPr>
              <a:t>•  </a:t>
            </a:r>
            <a:r>
              <a:rPr sz="1700" b="0">
                <a:solidFill>
                  <a:srgbClr val="222222"/>
                </a:solidFill>
                <a:latin typeface="Consolas"/>
                <a:cs typeface="Consolas"/>
              </a:rPr>
              <a:t>Corrupted Dictionary</a:t>
            </a:r>
            <a:r>
              <a:rPr sz="1700" b="0">
                <a:solidFill>
                  <a:srgbClr val="222222"/>
                </a:solidFill>
                <a:latin typeface="맑은 고딕"/>
              </a:rPr>
              <a:t> YES</a:t>
            </a:r>
          </a:p>
          <a:p>
            <a:pPr algn="l">
              <a:spcAft>
                <a:spcPts val="1000"/>
              </a:spcAft>
            </a:pPr>
            <a:r>
              <a:rPr sz="1700" b="0">
                <a:solidFill>
                  <a:srgbClr val="222222"/>
                </a:solidFill>
                <a:latin typeface="맑은 고딕"/>
              </a:rPr>
              <a:t>•  </a:t>
            </a:r>
            <a:r>
              <a:rPr sz="1700" b="0">
                <a:solidFill>
                  <a:srgbClr val="222222"/>
                </a:solidFill>
                <a:latin typeface="Consolas"/>
                <a:cs typeface="Consolas"/>
              </a:rPr>
              <a:t>Inaccessible Logfile</a:t>
            </a:r>
            <a:r>
              <a:rPr sz="1700" b="0">
                <a:solidFill>
                  <a:srgbClr val="222222"/>
                </a:solidFill>
                <a:latin typeface="맑은 고딕"/>
              </a:rPr>
              <a:t> </a:t>
            </a:r>
            <a:r>
              <a:rPr sz="1700" b="1">
                <a:solidFill>
                  <a:srgbClr val="222222"/>
                </a:solidFill>
                <a:latin typeface="맑은 고딕"/>
              </a:rPr>
              <a:t>NO</a:t>
            </a:r>
          </a:p>
          <a:p>
            <a:pPr algn="l">
              <a:spcAft>
                <a:spcPts val="1000"/>
              </a:spcAft>
            </a:pPr>
            <a:r>
              <a:rPr sz="1700" b="0">
                <a:solidFill>
                  <a:srgbClr val="222222"/>
                </a:solidFill>
                <a:latin typeface="맑은 고딕"/>
              </a:rPr>
              <a:t>•  </a:t>
            </a:r>
            <a:r>
              <a:rPr sz="1700" b="0">
                <a:solidFill>
                  <a:srgbClr val="222222"/>
                </a:solidFill>
                <a:latin typeface="Consolas"/>
                <a:cs typeface="Consolas"/>
              </a:rPr>
              <a:t>Stuck Archiver</a:t>
            </a:r>
            <a:r>
              <a:rPr sz="1700" b="0">
                <a:solidFill>
                  <a:srgbClr val="222222"/>
                </a:solidFill>
                <a:latin typeface="맑은 고딕"/>
              </a:rPr>
              <a:t> </a:t>
            </a:r>
            <a:r>
              <a:rPr sz="1700" b="1">
                <a:solidFill>
                  <a:srgbClr val="222222"/>
                </a:solidFill>
                <a:latin typeface="맑은 고딕"/>
              </a:rPr>
              <a:t>NO</a:t>
            </a:r>
          </a:p>
          <a:p>
            <a:pPr algn="l">
              <a:spcAft>
                <a:spcPts val="1000"/>
              </a:spcAft>
            </a:pPr>
            <a:r>
              <a:rPr sz="1700" b="0">
                <a:solidFill>
                  <a:srgbClr val="222222"/>
                </a:solidFill>
                <a:latin typeface="맑은 고딕"/>
              </a:rPr>
              <a:t>•  </a:t>
            </a:r>
            <a:r>
              <a:rPr sz="1700" b="0">
                <a:solidFill>
                  <a:srgbClr val="222222"/>
                </a:solidFill>
                <a:latin typeface="Consolas"/>
                <a:cs typeface="Consolas"/>
              </a:rPr>
              <a:t>Datafile Write Errors</a:t>
            </a:r>
            <a:r>
              <a:rPr sz="1700" b="0">
                <a:solidFill>
                  <a:srgbClr val="222222"/>
                </a:solidFill>
                <a:latin typeface="맑은 고딕"/>
              </a:rPr>
              <a:t> YES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전제 없이 켜면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enable fast_start failover</a:t>
            </a:r>
          </a:p>
          <a:p>
            <a:pPr algn="l">
              <a:spcAft>
                <a:spcPts val="1000"/>
              </a:spcAft>
            </a:pPr>
            <a:r>
              <a:rPr sz="1700" b="0">
                <a:solidFill>
                  <a:srgbClr val="222222"/>
                </a:solidFill>
                <a:latin typeface="맑은 고딕"/>
              </a:rPr>
              <a:t>•  → </a:t>
            </a:r>
            <a:r>
              <a:rPr sz="1700" b="1">
                <a:solidFill>
                  <a:srgbClr val="222222"/>
                </a:solidFill>
                <a:latin typeface="Consolas"/>
                <a:cs typeface="Consolas"/>
              </a:rPr>
              <a:t>Warning: ORA-16827: Flashback Database is disabled</a:t>
            </a:r>
          </a:p>
          <a:p>
            <a:pPr algn="l">
              <a:spcAft>
                <a:spcPts val="1000"/>
              </a:spcAft>
            </a:pPr>
            <a:r>
              <a:rPr sz="1700" b="0">
                <a:solidFill>
                  <a:srgbClr val="222222"/>
                </a:solidFill>
                <a:latin typeface="맑은 고딕"/>
              </a:rPr>
              <a:t>•  </a:t>
            </a:r>
            <a:r>
              <a:rPr sz="1700" b="1">
                <a:solidFill>
                  <a:srgbClr val="222222"/>
                </a:solidFill>
                <a:latin typeface="맑은 고딕"/>
              </a:rPr>
              <a:t>Error 가 아니라 Warning. 그리고 켜졌다</a:t>
            </a:r>
          </a:p>
          <a:p>
            <a:pPr algn="l">
              <a:spcAft>
                <a:spcPts val="1000"/>
              </a:spcAft>
            </a:pPr>
            <a:r>
              <a:rPr sz="1700" b="0">
                <a:solidFill>
                  <a:srgbClr val="222222"/>
                </a:solidFill>
                <a:latin typeface="맑은 고딕"/>
              </a:rPr>
              <a:t>•  13장 보호 모드 변경은 ORA-16627 로 </a:t>
            </a:r>
            <a:r>
              <a:rPr sz="1700" b="1">
                <a:solidFill>
                  <a:srgbClr val="222222"/>
                </a:solidFill>
                <a:latin typeface="맑은 고딕"/>
              </a:rPr>
              <a:t>거부</a:t>
            </a:r>
            <a:r>
              <a:rPr sz="1700" b="0">
                <a:solidFill>
                  <a:srgbClr val="222222"/>
                </a:solidFill>
                <a:latin typeface="맑은 고딕"/>
              </a:rPr>
              <a:t>했다</a:t>
            </a:r>
          </a:p>
          <a:p>
            <a:pPr algn="l">
              <a:spcAft>
                <a:spcPts val="1000"/>
              </a:spcAft>
            </a:pPr>
            <a:r>
              <a:rPr sz="1700" b="0">
                <a:solidFill>
                  <a:srgbClr val="222222"/>
                </a:solidFill>
                <a:latin typeface="맑은 고딕"/>
              </a:rPr>
              <a:t>•  </a:t>
            </a:r>
            <a:r>
              <a:rPr sz="1700" b="1">
                <a:solidFill>
                  <a:srgbClr val="222222"/>
                </a:solidFill>
                <a:latin typeface="맑은 고딕"/>
              </a:rPr>
              <a:t>검사 강도가 명령마다 다르다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켜면 달라지는 화면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가지가 나타난다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boston  - (*) Physical standby database</a:t>
            </a:r>
          </a:p>
          <a:p>
            <a:pPr algn="l">
              <a:spcAft>
                <a:spcPts val="1000"/>
              </a:spcAft>
            </a:pPr>
            <a:r>
              <a:rPr sz="1700" b="0">
                <a:solidFill>
                  <a:srgbClr val="222222"/>
                </a:solidFill>
                <a:latin typeface="맑은 고딕"/>
              </a:rPr>
              <a:t>•  </a:t>
            </a:r>
            <a:r>
              <a:rPr sz="1700" b="0">
                <a:solidFill>
                  <a:srgbClr val="222222"/>
                </a:solidFill>
                <a:latin typeface="Consolas"/>
                <a:cs typeface="Consolas"/>
              </a:rPr>
              <a:t>(*) Fast-Start Failover target</a:t>
            </a:r>
            <a:r>
              <a:rPr sz="1700" b="0">
                <a:solidFill>
                  <a:srgbClr val="222222"/>
                </a:solidFill>
                <a:latin typeface="맑은 고딕"/>
              </a:rPr>
              <a:t> — 범례까지 붙는다</a:t>
            </a:r>
          </a:p>
          <a:p>
            <a:pPr algn="l">
              <a:spcAft>
                <a:spcPts val="1000"/>
              </a:spcAft>
            </a:pPr>
            <a:r>
              <a:rPr sz="1700" b="0">
                <a:solidFill>
                  <a:srgbClr val="222222"/>
                </a:solidFill>
                <a:latin typeface="맑은 고딕"/>
              </a:rPr>
              <a:t>•  </a:t>
            </a:r>
            <a:r>
              <a:rPr sz="1700" b="0">
                <a:solidFill>
                  <a:srgbClr val="222222"/>
                </a:solidFill>
                <a:latin typeface="Consolas"/>
                <a:cs typeface="Consolas"/>
              </a:rPr>
              <a:t>Warning: ORA-16819: observer not started</a:t>
            </a:r>
          </a:p>
          <a:p>
            <a:pPr algn="l">
              <a:spcAft>
                <a:spcPts val="1000"/>
              </a:spcAft>
            </a:pPr>
            <a:r>
              <a:rPr sz="1700" b="0">
                <a:solidFill>
                  <a:srgbClr val="222222"/>
                </a:solidFill>
                <a:latin typeface="맑은 고딕"/>
              </a:rPr>
              <a:t>•  </a:t>
            </a:r>
            <a:r>
              <a:rPr sz="1700" b="0">
                <a:solidFill>
                  <a:srgbClr val="222222"/>
                </a:solidFill>
                <a:latin typeface="Consolas"/>
                <a:cs typeface="Consolas"/>
              </a:rPr>
              <a:t>Enabled in Potential Data Loss Mode</a:t>
            </a:r>
          </a:p>
          <a:p>
            <a:pPr algn="l">
              <a:spcAft>
                <a:spcPts val="1000"/>
              </a:spcAft>
            </a:pPr>
            <a:r>
              <a:rPr sz="1700" b="0">
                <a:solidFill>
                  <a:srgbClr val="222222"/>
                </a:solidFill>
                <a:latin typeface="맑은 고딕"/>
              </a:rPr>
              <a:t>•  Configuration Status: </a:t>
            </a:r>
            <a:r>
              <a:rPr sz="1700" b="1">
                <a:solidFill>
                  <a:srgbClr val="222222"/>
                </a:solidFill>
                <a:latin typeface="맑은 고딕"/>
              </a:rPr>
              <a:t>WARNING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대상만 지우면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set property 'FastStartFailoverTarget'=''</a:t>
            </a:r>
            <a:r>
              <a:rPr sz="1700" b="0">
                <a:solidFill>
                  <a:srgbClr val="222222"/>
                </a:solidFill>
                <a:latin typeface="맑은 고딕"/>
              </a:rPr>
              <a:t> 양쪽</a:t>
            </a:r>
          </a:p>
          <a:p>
            <a:pPr algn="l">
              <a:spcAft>
                <a:spcPts val="1000"/>
              </a:spcAft>
            </a:pPr>
            <a:r>
              <a:rPr sz="1700" b="0">
                <a:solidFill>
                  <a:srgbClr val="222222"/>
                </a:solidFill>
                <a:latin typeface="맑은 고딕"/>
              </a:rPr>
              <a:t>•  </a:t>
            </a:r>
            <a:r>
              <a:rPr sz="1700" b="0">
                <a:solidFill>
                  <a:srgbClr val="222222"/>
                </a:solidFill>
                <a:latin typeface="Consolas"/>
                <a:cs typeface="Consolas"/>
              </a:rPr>
              <a:t>Fast-Start Failover:</a:t>
            </a:r>
            <a:r>
              <a:rPr sz="1700" b="0">
                <a:solidFill>
                  <a:srgbClr val="222222"/>
                </a:solidFill>
                <a:latin typeface="맑은 고딕"/>
              </a:rPr>
              <a:t> </a:t>
            </a:r>
            <a:r>
              <a:rPr sz="1700" b="1">
                <a:solidFill>
                  <a:srgbClr val="222222"/>
                </a:solidFill>
                <a:latin typeface="맑은 고딕"/>
              </a:rPr>
              <a:t>여전히 Enabled</a:t>
            </a:r>
          </a:p>
          <a:p>
            <a:pPr algn="l">
              <a:spcAft>
                <a:spcPts val="1000"/>
              </a:spcAft>
            </a:pPr>
            <a:r>
              <a:rPr sz="1700" b="0">
                <a:solidFill>
                  <a:srgbClr val="222222"/>
                </a:solidFill>
                <a:latin typeface="맑은 고딕"/>
              </a:rPr>
              <a:t>•  </a:t>
            </a:r>
            <a:r>
              <a:rPr sz="1700" b="0">
                <a:solidFill>
                  <a:srgbClr val="222222"/>
                </a:solidFill>
                <a:latin typeface="Consolas"/>
                <a:cs typeface="Consolas"/>
              </a:rPr>
              <a:t>Potential Targets: (none)</a:t>
            </a:r>
            <a:r>
              <a:rPr sz="1700" b="0">
                <a:solidFill>
                  <a:srgbClr val="222222"/>
                </a:solidFill>
                <a:latin typeface="맑은 고딕"/>
              </a:rPr>
              <a:t> 인데 </a:t>
            </a:r>
            <a:r>
              <a:rPr sz="1700" b="0">
                <a:solidFill>
                  <a:srgbClr val="222222"/>
                </a:solidFill>
                <a:latin typeface="Consolas"/>
                <a:cs typeface="Consolas"/>
              </a:rPr>
              <a:t>Active Target: boston</a:t>
            </a:r>
          </a:p>
          <a:p>
            <a:pPr algn="l">
              <a:spcAft>
                <a:spcPts val="1000"/>
              </a:spcAft>
            </a:pPr>
            <a:r>
              <a:rPr sz="1700" b="0">
                <a:solidFill>
                  <a:srgbClr val="222222"/>
                </a:solidFill>
                <a:latin typeface="맑은 고딕"/>
              </a:rPr>
              <a:t>•  기능은 켜져 있고 설정만 반쯤 지워진 </a:t>
            </a:r>
            <a:r>
              <a:rPr sz="1700" b="1">
                <a:solidFill>
                  <a:srgbClr val="222222"/>
                </a:solidFill>
                <a:latin typeface="맑은 고딕"/>
              </a:rPr>
              <a:t>중간 상태</a:t>
            </a:r>
          </a:p>
          <a:p>
            <a:pPr algn="l">
              <a:spcAft>
                <a:spcPts val="1000"/>
              </a:spcAft>
            </a:pPr>
            <a:r>
              <a:rPr sz="1700" b="0">
                <a:solidFill>
                  <a:srgbClr val="222222"/>
                </a:solidFill>
                <a:latin typeface="맑은 고딕"/>
              </a:rPr>
              <a:t>•  속성을 지웠으니 껐다고 착각하기 쉽다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끄는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DISABLE 이 먼저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disable fast_start failover</a:t>
            </a:r>
          </a:p>
          <a:p>
            <a:pPr algn="l">
              <a:spcAft>
                <a:spcPts val="1000"/>
              </a:spcAft>
            </a:pPr>
            <a:r>
              <a:rPr sz="1700" b="0">
                <a:solidFill>
                  <a:srgbClr val="222222"/>
                </a:solidFill>
                <a:latin typeface="맑은 고딕"/>
              </a:rPr>
              <a:t>•  → </a:t>
            </a:r>
            <a:r>
              <a:rPr sz="1700" b="0">
                <a:solidFill>
                  <a:srgbClr val="222222"/>
                </a:solidFill>
                <a:latin typeface="Consolas"/>
                <a:cs typeface="Consolas"/>
              </a:rPr>
              <a:t>Fast-Start Failover: Disabled</a:t>
            </a:r>
            <a:r>
              <a:rPr sz="1700" b="0">
                <a:solidFill>
                  <a:srgbClr val="222222"/>
                </a:solidFill>
                <a:latin typeface="맑은 고딕"/>
              </a:rPr>
              <a:t>, </a:t>
            </a:r>
            <a:r>
              <a:rPr sz="1700" b="0">
                <a:solidFill>
                  <a:srgbClr val="222222"/>
                </a:solidFill>
                <a:latin typeface="Consolas"/>
                <a:cs typeface="Consolas"/>
              </a:rPr>
              <a:t>Active Target: (none)</a:t>
            </a:r>
          </a:p>
          <a:p>
            <a:pPr algn="l">
              <a:spcAft>
                <a:spcPts val="1000"/>
              </a:spcAft>
            </a:pPr>
            <a:r>
              <a:rPr sz="1700" b="0">
                <a:solidFill>
                  <a:srgbClr val="222222"/>
                </a:solidFill>
                <a:latin typeface="맑은 고딕"/>
              </a:rPr>
              <a:t>•  그다음 대상 속성을 지운다</a:t>
            </a:r>
          </a:p>
          <a:p>
            <a:pPr algn="l">
              <a:spcAft>
                <a:spcPts val="1000"/>
              </a:spcAft>
            </a:pPr>
            <a:r>
              <a:rPr sz="1700" b="0">
                <a:solidFill>
                  <a:srgbClr val="222222"/>
                </a:solidFill>
                <a:latin typeface="맑은 고딕"/>
              </a:rPr>
              <a:t>•  반대로 하면 중간 상태를 거친다</a:t>
            </a:r>
          </a:p>
          <a:p>
            <a:pPr algn="l">
              <a:spcAft>
                <a:spcPts val="1000"/>
              </a:spcAft>
            </a:pPr>
            <a:r>
              <a:rPr sz="1700" b="0">
                <a:solidFill>
                  <a:srgbClr val="222222"/>
                </a:solidFill>
                <a:latin typeface="맑은 고딕"/>
              </a:rPr>
              <a:t>•  </a:t>
            </a:r>
            <a:r>
              <a:rPr sz="1700" b="0">
                <a:solidFill>
                  <a:srgbClr val="222222"/>
                </a:solidFill>
                <a:latin typeface="Consolas"/>
                <a:cs typeface="Consolas"/>
              </a:rPr>
              <a:t>OBSERVE ONLY</a:t>
            </a:r>
            <a:r>
              <a:rPr sz="1700" b="0">
                <a:solidFill>
                  <a:srgbClr val="222222"/>
                </a:solidFill>
                <a:latin typeface="맑은 고딕"/>
              </a:rPr>
              <a:t> 로 먼저 관찰한 뒤 켜는 것이 안전</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상태 갱신의 시차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번 보고 판단하지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DISABLE</a:t>
            </a:r>
            <a:r>
              <a:rPr sz="1700" b="0">
                <a:solidFill>
                  <a:srgbClr val="222222"/>
                </a:solidFill>
                <a:latin typeface="맑은 고딕"/>
              </a:rPr>
              <a:t> 직후에도 ORA-16819 가 남아 있었다</a:t>
            </a:r>
          </a:p>
          <a:p>
            <a:pPr algn="l">
              <a:spcAft>
                <a:spcPts val="1000"/>
              </a:spcAft>
            </a:pPr>
            <a:r>
              <a:rPr sz="1700" b="0">
                <a:solidFill>
                  <a:srgbClr val="222222"/>
                </a:solidFill>
                <a:latin typeface="맑은 고딕"/>
              </a:rPr>
              <a:t>•  잠시 후 다시 조회 → </a:t>
            </a:r>
            <a:r>
              <a:rPr sz="1700" b="0">
                <a:solidFill>
                  <a:srgbClr val="222222"/>
                </a:solidFill>
                <a:latin typeface="Consolas"/>
                <a:cs typeface="Consolas"/>
              </a:rPr>
              <a:t>SUCCESS</a:t>
            </a:r>
          </a:p>
          <a:p>
            <a:pPr algn="l">
              <a:spcAft>
                <a:spcPts val="1000"/>
              </a:spcAft>
            </a:pPr>
            <a:r>
              <a:rPr sz="1700" b="0">
                <a:solidFill>
                  <a:srgbClr val="222222"/>
                </a:solidFill>
                <a:latin typeface="맑은 고딕"/>
              </a:rPr>
              <a:t>•  </a:t>
            </a:r>
            <a:r>
              <a:rPr sz="1700" b="0">
                <a:solidFill>
                  <a:srgbClr val="222222"/>
                </a:solidFill>
                <a:latin typeface="Consolas"/>
                <a:cs typeface="Consolas"/>
              </a:rPr>
              <a:t>status updated NN seconds ago</a:t>
            </a:r>
            <a:r>
              <a:rPr sz="1700" b="0">
                <a:solidFill>
                  <a:srgbClr val="222222"/>
                </a:solidFill>
                <a:latin typeface="맑은 고딕"/>
              </a:rPr>
              <a:t> 의 </a:t>
            </a:r>
            <a:r>
              <a:rPr sz="1700" b="1">
                <a:solidFill>
                  <a:srgbClr val="222222"/>
                </a:solidFill>
                <a:latin typeface="맑은 고딕"/>
              </a:rPr>
              <a:t>초를 함께 읽는다</a:t>
            </a:r>
          </a:p>
          <a:p>
            <a:pPr algn="l">
              <a:spcAft>
                <a:spcPts val="1000"/>
              </a:spcAft>
            </a:pPr>
            <a:r>
              <a:rPr sz="1700" b="0">
                <a:solidFill>
                  <a:srgbClr val="222222"/>
                </a:solidFill>
                <a:latin typeface="맑은 고딕"/>
              </a:rPr>
              <a:t>•  Broker 의 판정은 주기적으로 다시 계산된다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감시 체계를 어떻게 짤 것인가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다섯 층</a:t>
            </a:r>
          </a:p>
          <a:p>
            <a:pPr algn="l">
              <a:spcAft>
                <a:spcPts val="800"/>
              </a:spcAft>
            </a:pPr>
            <a:r>
              <a:rPr sz="1600" b="0">
                <a:solidFill>
                  <a:srgbClr val="FFFFFF"/>
                </a:solidFill>
                <a:latin typeface="맑은 고딕"/>
              </a:rPr>
              <a:t>•  가장 흔한 실수</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감시의 다섯 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얼마나 자주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1층 </a:t>
            </a:r>
            <a:r>
              <a:rPr sz="1700" b="0">
                <a:solidFill>
                  <a:srgbClr val="222222"/>
                </a:solidFill>
                <a:latin typeface="Consolas"/>
                <a:cs typeface="Consolas"/>
              </a:rPr>
              <a:t>SHOW CONFIGURATION</a:t>
            </a:r>
            <a:r>
              <a:rPr sz="1700" b="0">
                <a:solidFill>
                  <a:srgbClr val="222222"/>
                </a:solidFill>
                <a:latin typeface="맑은 고딕"/>
              </a:rPr>
              <a:t> — 분 단위. 설정과 다른 상태</a:t>
            </a:r>
          </a:p>
          <a:p>
            <a:pPr algn="l">
              <a:spcAft>
                <a:spcPts val="1000"/>
              </a:spcAft>
            </a:pPr>
            <a:r>
              <a:rPr sz="1700" b="0">
                <a:solidFill>
                  <a:srgbClr val="222222"/>
                </a:solidFill>
                <a:latin typeface="맑은 고딕"/>
              </a:rPr>
              <a:t>•  2층 </a:t>
            </a:r>
            <a:r>
              <a:rPr sz="1700" b="0">
                <a:solidFill>
                  <a:srgbClr val="222222"/>
                </a:solidFill>
                <a:latin typeface="Consolas"/>
                <a:cs typeface="Consolas"/>
              </a:rPr>
              <a:t>V$DATAGUARD_STATS</a:t>
            </a:r>
            <a:r>
              <a:rPr sz="1700" b="0">
                <a:solidFill>
                  <a:srgbClr val="222222"/>
                </a:solidFill>
                <a:latin typeface="맑은 고딕"/>
              </a:rPr>
              <a:t> — 분 단위. 지연 추세</a:t>
            </a:r>
          </a:p>
          <a:p>
            <a:pPr algn="l">
              <a:spcAft>
                <a:spcPts val="1000"/>
              </a:spcAft>
            </a:pPr>
            <a:r>
              <a:rPr sz="1700" b="0">
                <a:solidFill>
                  <a:srgbClr val="222222"/>
                </a:solidFill>
                <a:latin typeface="맑은 고딕"/>
              </a:rPr>
              <a:t>•  3층 </a:t>
            </a:r>
            <a:r>
              <a:rPr sz="1700" b="0">
                <a:solidFill>
                  <a:srgbClr val="222222"/>
                </a:solidFill>
                <a:latin typeface="Consolas"/>
                <a:cs typeface="Consolas"/>
              </a:rPr>
              <a:t>V$DATAGUARD_STATUS</a:t>
            </a:r>
            <a:r>
              <a:rPr sz="1700" b="0">
                <a:solidFill>
                  <a:srgbClr val="222222"/>
                </a:solidFill>
                <a:latin typeface="맑은 고딕"/>
              </a:rPr>
              <a:t> — 필요시. 사건의 흐름</a:t>
            </a:r>
          </a:p>
          <a:p>
            <a:pPr algn="l">
              <a:spcAft>
                <a:spcPts val="1000"/>
              </a:spcAft>
            </a:pPr>
            <a:r>
              <a:rPr sz="1700" b="0">
                <a:solidFill>
                  <a:srgbClr val="222222"/>
                </a:solidFill>
                <a:latin typeface="맑은 고딕"/>
              </a:rPr>
              <a:t>•  4층 </a:t>
            </a:r>
            <a:r>
              <a:rPr sz="1700" b="0">
                <a:solidFill>
                  <a:srgbClr val="222222"/>
                </a:solidFill>
                <a:latin typeface="Consolas"/>
                <a:cs typeface="Consolas"/>
              </a:rPr>
              <a:t>VALIDATE DATABASE</a:t>
            </a:r>
            <a:r>
              <a:rPr sz="1700" b="0">
                <a:solidFill>
                  <a:srgbClr val="222222"/>
                </a:solidFill>
                <a:latin typeface="맑은 고딕"/>
              </a:rPr>
              <a:t> — 일·주 단위. </a:t>
            </a:r>
            <a:r>
              <a:rPr sz="1700" b="1">
                <a:solidFill>
                  <a:srgbClr val="222222"/>
                </a:solidFill>
                <a:latin typeface="맑은 고딕"/>
              </a:rPr>
              <a:t>전환 가능 여부</a:t>
            </a:r>
          </a:p>
          <a:p>
            <a:pPr algn="l">
              <a:spcAft>
                <a:spcPts val="1000"/>
              </a:spcAft>
            </a:pPr>
            <a:r>
              <a:rPr sz="1700" b="0">
                <a:solidFill>
                  <a:srgbClr val="222222"/>
                </a:solidFill>
                <a:latin typeface="맑은 고딕"/>
              </a:rPr>
              <a:t>•  5층 알림 로그 — 문제 발생 시. </a:t>
            </a:r>
            <a:r>
              <a:rPr sz="1700" b="1">
                <a:solidFill>
                  <a:srgbClr val="222222"/>
                </a:solidFill>
                <a:latin typeface="맑은 고딕"/>
              </a:rPr>
              <a:t>근본 원인</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가장 흔한 실수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4층을 빠뜨린다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1~3층은 숫자라서 자동 판정이 쉽다 — 대개 갖춰져 있다</a:t>
            </a:r>
          </a:p>
          <a:p>
            <a:pPr algn="l">
              <a:spcAft>
                <a:spcPts val="1000"/>
              </a:spcAft>
            </a:pPr>
            <a:r>
              <a:rPr sz="1700" b="0">
                <a:solidFill>
                  <a:srgbClr val="222222"/>
                </a:solidFill>
                <a:latin typeface="맑은 고딕"/>
              </a:rPr>
              <a:t>•  4층은 출력이 문장과 표라서 자동화가 어렵다</a:t>
            </a:r>
          </a:p>
          <a:p>
            <a:pPr algn="l">
              <a:spcAft>
                <a:spcPts val="1000"/>
              </a:spcAft>
            </a:pPr>
            <a:r>
              <a:rPr sz="1700" b="0">
                <a:solidFill>
                  <a:srgbClr val="222222"/>
                </a:solidFill>
                <a:latin typeface="맑은 고딕"/>
              </a:rPr>
              <a:t>•  평소에는 늘 </a:t>
            </a:r>
            <a:r>
              <a:rPr sz="1700" b="0">
                <a:solidFill>
                  <a:srgbClr val="222222"/>
                </a:solidFill>
                <a:latin typeface="Consolas"/>
                <a:cs typeface="Consolas"/>
              </a:rPr>
              <a:t>Yes</a:t>
            </a:r>
            <a:r>
              <a:rPr sz="1700" b="0">
                <a:solidFill>
                  <a:srgbClr val="222222"/>
                </a:solidFill>
                <a:latin typeface="맑은 고딕"/>
              </a:rPr>
              <a:t> 라 넣을 필요를 못 느낀다</a:t>
            </a:r>
          </a:p>
          <a:p>
            <a:pPr algn="l">
              <a:spcAft>
                <a:spcPts val="1000"/>
              </a:spcAft>
            </a:pPr>
            <a:r>
              <a:rPr sz="1700" b="0">
                <a:solidFill>
                  <a:srgbClr val="222222"/>
                </a:solidFill>
                <a:latin typeface="맑은 고딕"/>
              </a:rPr>
              <a:t>•  그래서 </a:t>
            </a:r>
            <a:r>
              <a:rPr sz="1700" b="1">
                <a:solidFill>
                  <a:srgbClr val="222222"/>
                </a:solidFill>
                <a:latin typeface="맑은 고딕"/>
              </a:rPr>
              <a:t>장애가 나서 전환하려 할 때 처음 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스스로 판정해 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정상인가 조치인가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LogShipping=OFF</a:t>
            </a:r>
            <a:r>
              <a:rPr sz="1700" b="0">
                <a:solidFill>
                  <a:srgbClr val="222222"/>
                </a:solidFill>
                <a:latin typeface="맑은 고딕"/>
              </a:rPr>
              <a:t> 인데 SUCCESS → </a:t>
            </a:r>
            <a:r>
              <a:rPr sz="1700" b="1">
                <a:solidFill>
                  <a:srgbClr val="222222"/>
                </a:solidFill>
                <a:latin typeface="맑은 고딕"/>
              </a:rPr>
              <a:t>설정한 대로</a:t>
            </a:r>
          </a:p>
          <a:p>
            <a:pPr algn="l">
              <a:spcAft>
                <a:spcPts val="1000"/>
              </a:spcAft>
            </a:pPr>
            <a:r>
              <a:rPr sz="1700" b="0">
                <a:solidFill>
                  <a:srgbClr val="222222"/>
                </a:solidFill>
                <a:latin typeface="맑은 고딕"/>
              </a:rPr>
              <a:t>•  </a:t>
            </a:r>
            <a:r>
              <a:rPr sz="1700" b="0">
                <a:solidFill>
                  <a:srgbClr val="222222"/>
                </a:solidFill>
                <a:latin typeface="Consolas"/>
                <a:cs typeface="Consolas"/>
              </a:rPr>
              <a:t>VALIDATE</a:t>
            </a:r>
            <a:r>
              <a:rPr sz="1700" b="0">
                <a:solidFill>
                  <a:srgbClr val="222222"/>
                </a:solidFill>
                <a:latin typeface="맑은 고딕"/>
              </a:rPr>
              <a:t> 가 </a:t>
            </a:r>
            <a:r>
              <a:rPr sz="1700" b="0">
                <a:solidFill>
                  <a:srgbClr val="222222"/>
                </a:solidFill>
                <a:latin typeface="Consolas"/>
                <a:cs typeface="Consolas"/>
              </a:rPr>
              <a:t>Ready for Switchover: No</a:t>
            </a:r>
            <a:r>
              <a:rPr sz="1700" b="0">
                <a:solidFill>
                  <a:srgbClr val="222222"/>
                </a:solidFill>
                <a:latin typeface="맑은 고딕"/>
              </a:rPr>
              <a:t> → </a:t>
            </a:r>
            <a:r>
              <a:rPr sz="1700" b="1">
                <a:solidFill>
                  <a:srgbClr val="222222"/>
                </a:solidFill>
                <a:latin typeface="맑은 고딕"/>
              </a:rPr>
              <a:t>조치 필요</a:t>
            </a:r>
          </a:p>
          <a:p>
            <a:pPr algn="l">
              <a:spcAft>
                <a:spcPts val="1000"/>
              </a:spcAft>
            </a:pPr>
            <a:r>
              <a:rPr sz="1700" b="0">
                <a:solidFill>
                  <a:srgbClr val="222222"/>
                </a:solidFill>
                <a:latin typeface="맑은 고딕"/>
              </a:rPr>
              <a:t>•  </a:t>
            </a:r>
            <a:r>
              <a:rPr sz="1700" b="0">
                <a:solidFill>
                  <a:srgbClr val="222222"/>
                </a:solidFill>
                <a:latin typeface="Consolas"/>
                <a:cs typeface="Consolas"/>
              </a:rPr>
              <a:t>Warning</a:t>
            </a:r>
            <a:r>
              <a:rPr sz="1700" b="0">
                <a:solidFill>
                  <a:srgbClr val="222222"/>
                </a:solidFill>
                <a:latin typeface="맑은 고딕"/>
              </a:rPr>
              <a:t> 인데 </a:t>
            </a:r>
            <a:r>
              <a:rPr sz="1700" b="0">
                <a:solidFill>
                  <a:srgbClr val="222222"/>
                </a:solidFill>
                <a:latin typeface="Consolas"/>
                <a:cs typeface="Consolas"/>
              </a:rPr>
              <a:t>ERROR_CODE</a:t>
            </a:r>
            <a:r>
              <a:rPr sz="1700" b="0">
                <a:solidFill>
                  <a:srgbClr val="222222"/>
                </a:solidFill>
                <a:latin typeface="맑은 고딕"/>
              </a:rPr>
              <a:t> 0 → 정상</a:t>
            </a:r>
          </a:p>
          <a:p>
            <a:pPr algn="l">
              <a:spcAft>
                <a:spcPts val="1000"/>
              </a:spcAft>
            </a:pPr>
            <a:r>
              <a:rPr sz="1700" b="0">
                <a:solidFill>
                  <a:srgbClr val="222222"/>
                </a:solidFill>
                <a:latin typeface="맑은 고딕"/>
              </a:rPr>
              <a:t>•  </a:t>
            </a:r>
            <a:r>
              <a:rPr sz="1700" b="0">
                <a:solidFill>
                  <a:srgbClr val="222222"/>
                </a:solidFill>
                <a:latin typeface="Consolas"/>
                <a:cs typeface="Consolas"/>
              </a:rPr>
              <a:t>TopWaitEvents</a:t>
            </a:r>
            <a:r>
              <a:rPr sz="1700" b="0">
                <a:solidFill>
                  <a:srgbClr val="222222"/>
                </a:solidFill>
                <a:latin typeface="맑은 고딕"/>
              </a:rPr>
              <a:t> 1위가 800만 → 정상 (유휴)</a:t>
            </a:r>
          </a:p>
          <a:p>
            <a:pPr algn="l">
              <a:spcAft>
                <a:spcPts val="1000"/>
              </a:spcAft>
            </a:pPr>
            <a:r>
              <a:rPr sz="1700" b="0">
                <a:solidFill>
                  <a:srgbClr val="222222"/>
                </a:solidFill>
                <a:latin typeface="맑은 고딕"/>
              </a:rPr>
              <a:t>•  </a:t>
            </a:r>
            <a:r>
              <a:rPr sz="1700" b="0">
                <a:solidFill>
                  <a:srgbClr val="222222"/>
                </a:solidFill>
                <a:latin typeface="Consolas"/>
                <a:cs typeface="Consolas"/>
              </a:rPr>
              <a:t>ORA-16827</a:t>
            </a:r>
            <a:r>
              <a:rPr sz="1700" b="0">
                <a:solidFill>
                  <a:srgbClr val="222222"/>
                </a:solidFill>
                <a:latin typeface="맑은 고딕"/>
              </a:rPr>
              <a:t> 인데 켜졌다 → </a:t>
            </a:r>
            <a:r>
              <a:rPr sz="1700" b="1">
                <a:solidFill>
                  <a:srgbClr val="222222"/>
                </a:solidFill>
                <a:latin typeface="맑은 고딕"/>
              </a:rPr>
              <a:t>조치 필요</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VALIDATE 의 나머지 형태와 Broker 로그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여섯 구문을 모두 쓴다</a:t>
            </a:r>
          </a:p>
          <a:p>
            <a:pPr algn="l">
              <a:spcAft>
                <a:spcPts val="800"/>
              </a:spcAft>
            </a:pPr>
            <a:r>
              <a:rPr sz="1600" b="0">
                <a:solidFill>
                  <a:srgbClr val="FFFFFF"/>
                </a:solidFill>
                <a:latin typeface="맑은 고딕"/>
              </a:rPr>
              <a:t>•  검사하지 않는 것이 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VALIDATE 는 여섯 구문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하나만 써 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DATABASE [VERBOSE]</a:t>
            </a:r>
            <a:r>
              <a:rPr sz="1700" b="0">
                <a:solidFill>
                  <a:srgbClr val="222222"/>
                </a:solidFill>
                <a:latin typeface="맑은 고딕"/>
              </a:rPr>
              <a:t> / </a:t>
            </a:r>
            <a:r>
              <a:rPr sz="1700" b="0">
                <a:solidFill>
                  <a:srgbClr val="222222"/>
                </a:solidFill>
                <a:latin typeface="Consolas"/>
                <a:cs typeface="Consolas"/>
              </a:rPr>
              <a:t>... DATAFILE &lt;n&gt; OUTPUT=&lt;file&gt;</a:t>
            </a:r>
          </a:p>
          <a:p>
            <a:pPr algn="l">
              <a:spcAft>
                <a:spcPts val="1000"/>
              </a:spcAft>
            </a:pPr>
            <a:r>
              <a:rPr sz="1700" b="0">
                <a:solidFill>
                  <a:srgbClr val="222222"/>
                </a:solidFill>
                <a:latin typeface="맑은 고딕"/>
              </a:rPr>
              <a:t>•  </a:t>
            </a:r>
            <a:r>
              <a:rPr sz="1700" b="0">
                <a:solidFill>
                  <a:srgbClr val="222222"/>
                </a:solidFill>
                <a:latin typeface="Consolas"/>
                <a:cs typeface="Consolas"/>
              </a:rPr>
              <a:t>... SPFILE</a:t>
            </a:r>
            <a:r>
              <a:rPr sz="1700" b="0">
                <a:solidFill>
                  <a:srgbClr val="222222"/>
                </a:solidFill>
                <a:latin typeface="맑은 고딕"/>
              </a:rPr>
              <a:t> / </a:t>
            </a:r>
            <a:r>
              <a:rPr sz="1700" b="0">
                <a:solidFill>
                  <a:srgbClr val="222222"/>
                </a:solidFill>
                <a:latin typeface="Consolas"/>
                <a:cs typeface="Consolas"/>
              </a:rPr>
              <a:t>FAR_SYNC</a:t>
            </a:r>
            <a:r>
              <a:rPr sz="1700" b="0">
                <a:solidFill>
                  <a:srgbClr val="222222"/>
                </a:solidFill>
                <a:latin typeface="맑은 고딕"/>
              </a:rPr>
              <a:t> (10장)</a:t>
            </a:r>
          </a:p>
          <a:p>
            <a:pPr algn="l">
              <a:spcAft>
                <a:spcPts val="1000"/>
              </a:spcAft>
            </a:pPr>
            <a:r>
              <a:rPr sz="1700" b="0">
                <a:solidFill>
                  <a:srgbClr val="222222"/>
                </a:solidFill>
                <a:latin typeface="맑은 고딕"/>
              </a:rPr>
              <a:t>•  </a:t>
            </a:r>
            <a:r>
              <a:rPr sz="1700" b="0">
                <a:solidFill>
                  <a:srgbClr val="222222"/>
                </a:solidFill>
                <a:latin typeface="Consolas"/>
                <a:cs typeface="Consolas"/>
              </a:rPr>
              <a:t>NETWORK CONFIGURATION FOR { ALL | &lt;member&gt; }</a:t>
            </a:r>
          </a:p>
          <a:p>
            <a:pPr algn="l">
              <a:spcAft>
                <a:spcPts val="1000"/>
              </a:spcAft>
            </a:pPr>
            <a:r>
              <a:rPr sz="1700" b="0">
                <a:solidFill>
                  <a:srgbClr val="222222"/>
                </a:solidFill>
                <a:latin typeface="맑은 고딕"/>
              </a:rPr>
              <a:t>•  </a:t>
            </a:r>
            <a:r>
              <a:rPr sz="1700" b="0">
                <a:solidFill>
                  <a:srgbClr val="222222"/>
                </a:solidFill>
                <a:latin typeface="Consolas"/>
                <a:cs typeface="Consolas"/>
              </a:rPr>
              <a:t>STATIC CONNECT IDENTIFIER FOR { ALL | &lt;database&gt;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DATAFILE 은 블록을 비교한다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5장의 그 엔진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결과물은 </a:t>
            </a:r>
            <a:r>
              <a:rPr sz="1700" b="1">
                <a:solidFill>
                  <a:srgbClr val="222222"/>
                </a:solidFill>
                <a:latin typeface="맑은 고딕"/>
              </a:rPr>
              <a:t>대상(Standby) 쪽 trace</a:t>
            </a:r>
            <a:r>
              <a:rPr sz="1700" b="0">
                <a:solidFill>
                  <a:srgbClr val="222222"/>
                </a:solidFill>
                <a:latin typeface="맑은 고딕"/>
              </a:rPr>
              <a:t> 에 생긴다</a:t>
            </a:r>
          </a:p>
          <a:p>
            <a:pPr algn="l">
              <a:spcAft>
                <a:spcPts val="1000"/>
              </a:spcAft>
            </a:pPr>
            <a:r>
              <a:rPr sz="1700" b="0">
                <a:solidFill>
                  <a:srgbClr val="222222"/>
                </a:solidFill>
                <a:latin typeface="맑은 고딕"/>
              </a:rPr>
              <a:t>•  내용은 5장 실습 07 의 </a:t>
            </a:r>
            <a:r>
              <a:rPr sz="1700" b="1">
                <a:solidFill>
                  <a:srgbClr val="222222"/>
                </a:solidFill>
                <a:latin typeface="Consolas"/>
                <a:cs typeface="Consolas"/>
              </a:rPr>
              <a:t>DBMS_DBCOMP</a:t>
            </a:r>
            <a:r>
              <a:rPr sz="1700" b="0">
                <a:solidFill>
                  <a:srgbClr val="222222"/>
                </a:solidFill>
                <a:latin typeface="맑은 고딕"/>
              </a:rPr>
              <a:t> 비교 결과</a:t>
            </a:r>
          </a:p>
          <a:p>
            <a:pPr algn="l">
              <a:spcAft>
                <a:spcPts val="1000"/>
              </a:spcAft>
            </a:pPr>
            <a:r>
              <a:rPr sz="1700" b="0">
                <a:solidFill>
                  <a:srgbClr val="222222"/>
                </a:solidFill>
                <a:latin typeface="맑은 고딕"/>
              </a:rPr>
              <a:t>•  </a:t>
            </a:r>
            <a:r>
              <a:rPr sz="1700" b="0">
                <a:solidFill>
                  <a:srgbClr val="222222"/>
                </a:solidFill>
                <a:latin typeface="Consolas"/>
                <a:cs typeface="Consolas"/>
              </a:rPr>
              <a:t>CORR</a:t>
            </a:r>
            <a:r>
              <a:rPr sz="1700" b="0">
                <a:solidFill>
                  <a:srgbClr val="222222"/>
                </a:solidFill>
                <a:latin typeface="맑은 고딕"/>
              </a:rPr>
              <a:t>·</a:t>
            </a:r>
            <a:r>
              <a:rPr sz="1700" b="0">
                <a:solidFill>
                  <a:srgbClr val="222222"/>
                </a:solidFill>
                <a:latin typeface="Consolas"/>
                <a:cs typeface="Consolas"/>
              </a:rPr>
              <a:t>LWLOC</a:t>
            </a:r>
            <a:r>
              <a:rPr sz="1700" b="0">
                <a:solidFill>
                  <a:srgbClr val="222222"/>
                </a:solidFill>
                <a:latin typeface="맑은 고딕"/>
              </a:rPr>
              <a:t>·</a:t>
            </a:r>
            <a:r>
              <a:rPr sz="1700" b="0">
                <a:solidFill>
                  <a:srgbClr val="222222"/>
                </a:solidFill>
                <a:latin typeface="Consolas"/>
                <a:cs typeface="Consolas"/>
              </a:rPr>
              <a:t>LWRMT</a:t>
            </a:r>
            <a:r>
              <a:rPr sz="1700" b="0">
                <a:solidFill>
                  <a:srgbClr val="222222"/>
                </a:solidFill>
                <a:latin typeface="맑은 고딕"/>
              </a:rPr>
              <a:t>·</a:t>
            </a:r>
            <a:r>
              <a:rPr sz="1700" b="0">
                <a:solidFill>
                  <a:srgbClr val="222222"/>
                </a:solidFill>
                <a:latin typeface="Consolas"/>
                <a:cs typeface="Consolas"/>
              </a:rPr>
              <a:t>DIFFPAIR</a:t>
            </a:r>
            <a:r>
              <a:rPr sz="1700" b="0">
                <a:solidFill>
                  <a:srgbClr val="222222"/>
                </a:solidFill>
                <a:latin typeface="맑은 고딕"/>
              </a:rPr>
              <a:t> 가 </a:t>
            </a:r>
            <a:r>
              <a:rPr sz="1700" b="1">
                <a:solidFill>
                  <a:srgbClr val="222222"/>
                </a:solidFill>
                <a:latin typeface="맑은 고딕"/>
              </a:rPr>
              <a:t>0</a:t>
            </a:r>
            <a:r>
              <a:rPr sz="1700" b="0">
                <a:solidFill>
                  <a:srgbClr val="222222"/>
                </a:solidFill>
                <a:latin typeface="맑은 고딕"/>
              </a:rPr>
              <a:t> 이어야 한다</a:t>
            </a:r>
          </a:p>
          <a:p>
            <a:pPr algn="l">
              <a:spcAft>
                <a:spcPts val="1000"/>
              </a:spcAft>
            </a:pPr>
            <a:r>
              <a:rPr sz="1700" b="0">
                <a:solidFill>
                  <a:srgbClr val="222222"/>
                </a:solidFill>
                <a:latin typeface="맑은 고딕"/>
              </a:rPr>
              <a:t>•  없는 파일 번호 → </a:t>
            </a:r>
            <a:r>
              <a:rPr sz="1700" b="1">
                <a:solidFill>
                  <a:srgbClr val="222222"/>
                </a:solidFill>
                <a:latin typeface="맑은 고딕"/>
              </a:rPr>
              <a:t>ORA-53201</a:t>
            </a:r>
            <a:r>
              <a:rPr sz="1700" b="0">
                <a:solidFill>
                  <a:srgbClr val="222222"/>
                </a:solidFill>
                <a:latin typeface="맑은 고딕"/>
              </a:rPr>
              <a:t> + </a:t>
            </a:r>
            <a:r>
              <a:rPr sz="1700" b="0">
                <a:solidFill>
                  <a:srgbClr val="222222"/>
                </a:solidFill>
                <a:latin typeface="Consolas"/>
                <a:cs typeface="Consolas"/>
              </a:rPr>
              <a:t>SYS.DBMS_DBCOMP</a:t>
            </a:r>
            <a:r>
              <a:rPr sz="1700" b="0">
                <a:solidFill>
                  <a:srgbClr val="222222"/>
                </a:solidFill>
                <a:latin typeface="맑은 고딕"/>
              </a:rPr>
              <a:t> 스택</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SPFILE 은 파라미터를 비교한다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4개 차이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audit_file_dest</a:t>
            </a:r>
            <a:r>
              <a:rPr sz="1700" b="0">
                <a:solidFill>
                  <a:srgbClr val="222222"/>
                </a:solidFill>
                <a:latin typeface="맑은 고딕"/>
              </a:rPr>
              <a:t> / </a:t>
            </a:r>
            <a:r>
              <a:rPr sz="1700" b="0">
                <a:solidFill>
                  <a:srgbClr val="222222"/>
                </a:solidFill>
                <a:latin typeface="Consolas"/>
                <a:cs typeface="Consolas"/>
              </a:rPr>
              <a:t>fal_client</a:t>
            </a:r>
            <a:r>
              <a:rPr sz="1700" b="0">
                <a:solidFill>
                  <a:srgbClr val="222222"/>
                </a:solidFill>
                <a:latin typeface="맑은 고딕"/>
              </a:rPr>
              <a:t> — 다른 것이 </a:t>
            </a:r>
            <a:r>
              <a:rPr sz="1700" b="1">
                <a:solidFill>
                  <a:srgbClr val="222222"/>
                </a:solidFill>
                <a:latin typeface="맑은 고딕"/>
              </a:rPr>
              <a:t>정상</a:t>
            </a:r>
          </a:p>
          <a:p>
            <a:pPr algn="l">
              <a:spcAft>
                <a:spcPts val="1000"/>
              </a:spcAft>
            </a:pPr>
            <a:r>
              <a:rPr sz="1700" b="0">
                <a:solidFill>
                  <a:srgbClr val="222222"/>
                </a:solidFill>
                <a:latin typeface="맑은 고딕"/>
              </a:rPr>
              <a:t>•  </a:t>
            </a:r>
            <a:r>
              <a:rPr sz="1700" b="0">
                <a:solidFill>
                  <a:srgbClr val="222222"/>
                </a:solidFill>
                <a:latin typeface="Consolas"/>
                <a:cs typeface="Consolas"/>
              </a:rPr>
              <a:t>diagnostic_dest</a:t>
            </a:r>
            <a:r>
              <a:rPr sz="1700" b="0">
                <a:solidFill>
                  <a:srgbClr val="222222"/>
                </a:solidFill>
                <a:latin typeface="맑은 고딕"/>
              </a:rPr>
              <a:t> — </a:t>
            </a:r>
            <a:r>
              <a:rPr sz="1700" b="1">
                <a:solidFill>
                  <a:srgbClr val="222222"/>
                </a:solidFill>
                <a:latin typeface="맑은 고딕"/>
              </a:rPr>
              <a:t>끝의 슬래시 하나</a:t>
            </a:r>
            <a:r>
              <a:rPr sz="1700" b="0">
                <a:solidFill>
                  <a:srgbClr val="222222"/>
                </a:solidFill>
                <a:latin typeface="맑은 고딕"/>
              </a:rPr>
              <a:t> 차이</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log_archive_trace</a:t>
            </a:r>
            <a:r>
              <a:rPr sz="1700" b="0">
                <a:solidFill>
                  <a:srgbClr val="222222"/>
                </a:solidFill>
                <a:latin typeface="맑은 고딕"/>
              </a:rPr>
              <a:t> — chicago </a:t>
            </a:r>
            <a:r>
              <a:rPr sz="1700" b="0">
                <a:solidFill>
                  <a:srgbClr val="222222"/>
                </a:solidFill>
                <a:latin typeface="Consolas"/>
                <a:cs typeface="Consolas"/>
              </a:rPr>
              <a:t>0</a:t>
            </a:r>
            <a:r>
              <a:rPr sz="1700" b="0">
                <a:solidFill>
                  <a:srgbClr val="222222"/>
                </a:solidFill>
                <a:latin typeface="맑은 고딕"/>
              </a:rPr>
              <a:t> / boston </a:t>
            </a:r>
            <a:r>
              <a:rPr sz="1700" b="0">
                <a:solidFill>
                  <a:srgbClr val="222222"/>
                </a:solidFill>
                <a:latin typeface="Consolas"/>
                <a:cs typeface="Consolas"/>
              </a:rPr>
              <a:t>NOT SPECIFIED</a:t>
            </a:r>
          </a:p>
          <a:p>
            <a:pPr algn="l">
              <a:spcAft>
                <a:spcPts val="1000"/>
              </a:spcAft>
            </a:pPr>
            <a:r>
              <a:rPr sz="1700" b="0">
                <a:solidFill>
                  <a:srgbClr val="222222"/>
                </a:solidFill>
                <a:latin typeface="맑은 고딕"/>
              </a:rPr>
              <a:t>•  전부 고치는 것이 아니라 </a:t>
            </a:r>
            <a:r>
              <a:rPr sz="1700" b="1">
                <a:solidFill>
                  <a:srgbClr val="222222"/>
                </a:solidFill>
                <a:latin typeface="맑은 고딕"/>
              </a:rPr>
              <a:t>읽고 판정하는 것</a:t>
            </a:r>
            <a:r>
              <a:rPr sz="1700" b="0">
                <a:solidFill>
                  <a:srgbClr val="222222"/>
                </a:solidFill>
                <a:latin typeface="맑은 고딕"/>
              </a:rPr>
              <a:t>이 목적</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 VALIDATE 가 검사하지 않는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단계 더 밀린 명제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대상의 정적 등록을 지우고 확인하면</a:t>
            </a:r>
          </a:p>
          <a:p>
            <a:pPr algn="l">
              <a:spcAft>
                <a:spcPts val="1000"/>
              </a:spcAft>
            </a:pPr>
            <a:r>
              <a:rPr sz="1700" b="0">
                <a:solidFill>
                  <a:srgbClr val="222222"/>
                </a:solidFill>
                <a:latin typeface="맑은 고딕"/>
              </a:rPr>
              <a:t>•  </a:t>
            </a:r>
            <a:r>
              <a:rPr sz="1700" b="0">
                <a:solidFill>
                  <a:srgbClr val="222222"/>
                </a:solidFill>
                <a:latin typeface="Consolas"/>
                <a:cs typeface="Consolas"/>
              </a:rPr>
              <a:t>VALIDATE STATIC CONNECT IDENTIFIER</a:t>
            </a:r>
            <a:r>
              <a:rPr sz="1700" b="0">
                <a:solidFill>
                  <a:srgbClr val="222222"/>
                </a:solidFill>
                <a:latin typeface="맑은 고딕"/>
              </a:rPr>
              <a:t> → </a:t>
            </a:r>
            <a:r>
              <a:rPr sz="1700" b="1">
                <a:solidFill>
                  <a:srgbClr val="222222"/>
                </a:solidFill>
                <a:latin typeface="Consolas"/>
                <a:cs typeface="Consolas"/>
              </a:rPr>
              <a:t>ORA-12514</a:t>
            </a:r>
            <a:r>
              <a:rPr sz="1700" b="1">
                <a:solidFill>
                  <a:srgbClr val="222222"/>
                </a:solidFill>
                <a:latin typeface="맑은 고딕"/>
              </a:rPr>
              <a:t> Failed</a:t>
            </a:r>
          </a:p>
          <a:p>
            <a:pPr algn="l">
              <a:spcAft>
                <a:spcPts val="1000"/>
              </a:spcAft>
            </a:pPr>
            <a:r>
              <a:rPr sz="1700" b="0">
                <a:solidFill>
                  <a:srgbClr val="222222"/>
                </a:solidFill>
                <a:latin typeface="맑은 고딕"/>
              </a:rPr>
              <a:t>•  그런데 </a:t>
            </a:r>
            <a:r>
              <a:rPr sz="1700" b="0">
                <a:solidFill>
                  <a:srgbClr val="222222"/>
                </a:solidFill>
                <a:latin typeface="Consolas"/>
                <a:cs typeface="Consolas"/>
              </a:rPr>
              <a:t>VALIDATE DATABASE</a:t>
            </a:r>
            <a:r>
              <a:rPr sz="1700" b="0">
                <a:solidFill>
                  <a:srgbClr val="222222"/>
                </a:solidFill>
                <a:latin typeface="맑은 고딕"/>
              </a:rPr>
              <a:t> → </a:t>
            </a:r>
            <a:r>
              <a:rPr sz="1700" b="1">
                <a:solidFill>
                  <a:srgbClr val="222222"/>
                </a:solidFill>
                <a:latin typeface="Consolas"/>
                <a:cs typeface="Consolas"/>
              </a:rPr>
              <a:t>Ready for Switchover: Yes</a:t>
            </a:r>
          </a:p>
          <a:p>
            <a:pPr algn="l">
              <a:spcAft>
                <a:spcPts val="1000"/>
              </a:spcAft>
            </a:pPr>
            <a:r>
              <a:rPr sz="1700" b="0">
                <a:solidFill>
                  <a:srgbClr val="222222"/>
                </a:solidFill>
                <a:latin typeface="맑은 고딕"/>
              </a:rPr>
              <a:t>•  </a:t>
            </a:r>
            <a:r>
              <a:rPr sz="1700" b="0">
                <a:solidFill>
                  <a:srgbClr val="222222"/>
                </a:solidFill>
                <a:latin typeface="Consolas"/>
                <a:cs typeface="Consolas"/>
              </a:rPr>
              <a:t>SHOW CONFIGURATION</a:t>
            </a:r>
            <a:r>
              <a:rPr sz="1700" b="0">
                <a:solidFill>
                  <a:srgbClr val="222222"/>
                </a:solidFill>
                <a:latin typeface="맑은 고딕"/>
              </a:rPr>
              <a:t> → </a:t>
            </a:r>
            <a:r>
              <a:rPr sz="1700" b="1">
                <a:solidFill>
                  <a:srgbClr val="222222"/>
                </a:solidFill>
                <a:latin typeface="Consolas"/>
                <a:cs typeface="Consolas"/>
              </a:rPr>
              <a:t>SUCCESS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로그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drc&lt;DB_UNIQUE_NAME&gt;.log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위치는 알림 로그와 같은 </a:t>
            </a:r>
            <a:r>
              <a:rPr sz="1700" b="1">
                <a:solidFill>
                  <a:srgbClr val="222222"/>
                </a:solidFill>
                <a:latin typeface="맑은 고딕"/>
              </a:rPr>
              <a:t>ADR 의 trace</a:t>
            </a:r>
          </a:p>
          <a:p>
            <a:pPr algn="l">
              <a:spcAft>
                <a:spcPts val="1000"/>
              </a:spcAft>
            </a:pPr>
            <a:r>
              <a:rPr sz="1700" b="0">
                <a:solidFill>
                  <a:srgbClr val="222222"/>
                </a:solidFill>
                <a:latin typeface="맑은 고딕"/>
              </a:rPr>
              <a:t>•  </a:t>
            </a:r>
            <a:r>
              <a:rPr sz="1700" b="1">
                <a:solidFill>
                  <a:srgbClr val="222222"/>
                </a:solidFill>
                <a:latin typeface="맑은 고딕"/>
              </a:rPr>
              <a:t>명령과 결과가 한 쌍</a:t>
            </a:r>
            <a:r>
              <a:rPr sz="1700" b="0">
                <a:solidFill>
                  <a:srgbClr val="222222"/>
                </a:solidFill>
                <a:latin typeface="맑은 고딕"/>
              </a:rPr>
              <a:t>으로 남는다 (</a:t>
            </a:r>
            <a:r>
              <a:rPr sz="1700" b="0">
                <a:solidFill>
                  <a:srgbClr val="222222"/>
                </a:solidFill>
                <a:latin typeface="Consolas"/>
                <a:cs typeface="Consolas"/>
              </a:rPr>
              <a:t>... completed with error ORA-16568</a:t>
            </a:r>
            <a:r>
              <a:rPr sz="1700" b="0">
                <a:solidFill>
                  <a:srgbClr val="222222"/>
                </a:solidFill>
                <a:latin typeface="맑은 고딕"/>
              </a:rPr>
              <a:t>)</a:t>
            </a:r>
          </a:p>
          <a:p>
            <a:pPr algn="l">
              <a:spcAft>
                <a:spcPts val="1000"/>
              </a:spcAft>
            </a:pPr>
            <a:r>
              <a:rPr sz="1700" b="0">
                <a:solidFill>
                  <a:srgbClr val="222222"/>
                </a:solidFill>
                <a:latin typeface="맑은 고딕"/>
              </a:rPr>
              <a:t>•  화면에 없는 </a:t>
            </a:r>
            <a:r>
              <a:rPr sz="1700" b="1">
                <a:solidFill>
                  <a:srgbClr val="222222"/>
                </a:solidFill>
                <a:latin typeface="맑은 고딕"/>
              </a:rPr>
              <a:t>구성 수준 오류 번호</a:t>
            </a:r>
            <a:r>
              <a:rPr sz="1700" b="0">
                <a:solidFill>
                  <a:srgbClr val="222222"/>
                </a:solidFill>
                <a:latin typeface="맑은 고딕"/>
              </a:rPr>
              <a:t> — </a:t>
            </a:r>
            <a:r>
              <a:rPr sz="1700" b="0">
                <a:solidFill>
                  <a:srgbClr val="222222"/>
                </a:solidFill>
                <a:latin typeface="Consolas"/>
                <a:cs typeface="Consolas"/>
              </a:rPr>
              <a:t>ORA-16607</a:t>
            </a:r>
            <a:r>
              <a:rPr sz="1700" b="0">
                <a:solidFill>
                  <a:srgbClr val="222222"/>
                </a:solidFill>
                <a:latin typeface="맑은 고딕"/>
              </a:rPr>
              <a:t>·</a:t>
            </a:r>
            <a:r>
              <a:rPr sz="1700" b="0">
                <a:solidFill>
                  <a:srgbClr val="222222"/>
                </a:solidFill>
                <a:latin typeface="Consolas"/>
                <a:cs typeface="Consolas"/>
              </a:rPr>
              <a:t>ORA-16608</a:t>
            </a:r>
          </a:p>
          <a:p>
            <a:pPr algn="l">
              <a:spcAft>
                <a:spcPts val="1000"/>
              </a:spcAft>
            </a:pPr>
            <a:r>
              <a:rPr sz="1700" b="0">
                <a:solidFill>
                  <a:srgbClr val="222222"/>
                </a:solidFill>
                <a:latin typeface="맑은 고딕"/>
              </a:rPr>
              <a:t>•  정상은 </a:t>
            </a:r>
            <a:r>
              <a:rPr sz="1700" b="1">
                <a:solidFill>
                  <a:srgbClr val="222222"/>
                </a:solidFill>
                <a:latin typeface="Consolas"/>
                <a:cs typeface="Consolas"/>
              </a:rPr>
              <a:t>ORA-0</a:t>
            </a:r>
            <a:r>
              <a:rPr sz="1700" b="0">
                <a:solidFill>
                  <a:srgbClr val="222222"/>
                </a:solidFill>
                <a:latin typeface="맑은 고딕"/>
              </a:rPr>
              <a:t>. Broker 가 스스로 실행한 </a:t>
            </a:r>
            <a:r>
              <a:rPr sz="1700" b="0">
                <a:solidFill>
                  <a:srgbClr val="222222"/>
                </a:solidFill>
                <a:latin typeface="Consolas"/>
                <a:cs typeface="Consolas"/>
              </a:rPr>
              <a:t>IncarnationTable</a:t>
            </a:r>
            <a:r>
              <a:rPr sz="1700" b="0">
                <a:solidFill>
                  <a:srgbClr val="222222"/>
                </a:solidFill>
                <a:latin typeface="맑은 고딕"/>
              </a:rPr>
              <a:t> 도 남는다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SHOW</a:t>
            </a:r>
            <a:r>
              <a:rPr sz="1600" b="0">
                <a:solidFill>
                  <a:srgbClr val="222222"/>
                </a:solidFill>
                <a:latin typeface="맑은 고딕"/>
              </a:rPr>
              <a:t> 는 "의도대로인가", </a:t>
            </a:r>
            <a:r>
              <a:rPr sz="1600" b="0">
                <a:solidFill>
                  <a:srgbClr val="222222"/>
                </a:solidFill>
                <a:latin typeface="Consolas"/>
                <a:cs typeface="Consolas"/>
              </a:rPr>
              <a:t>VALIDATE</a:t>
            </a:r>
            <a:r>
              <a:rPr sz="1600" b="0">
                <a:solidFill>
                  <a:srgbClr val="222222"/>
                </a:solidFill>
                <a:latin typeface="맑은 고딕"/>
              </a:rPr>
              <a:t> 는 "전환할 수 있는가"</a:t>
            </a:r>
          </a:p>
          <a:p>
            <a:pPr algn="l">
              <a:spcAft>
                <a:spcPts val="1000"/>
              </a:spcAft>
            </a:pPr>
            <a:r>
              <a:rPr sz="1600" b="0">
                <a:solidFill>
                  <a:srgbClr val="222222"/>
                </a:solidFill>
                <a:latin typeface="맑은 고딕"/>
              </a:rPr>
              <a:t>•  실측 — </a:t>
            </a:r>
            <a:r>
              <a:rPr sz="1600" b="0">
                <a:solidFill>
                  <a:srgbClr val="222222"/>
                </a:solidFill>
                <a:latin typeface="Consolas"/>
                <a:cs typeface="Consolas"/>
              </a:rPr>
              <a:t>LogShipping=OFF</a:t>
            </a:r>
            <a:r>
              <a:rPr sz="1600" b="0">
                <a:solidFill>
                  <a:srgbClr val="222222"/>
                </a:solidFill>
                <a:latin typeface="맑은 고딕"/>
              </a:rPr>
              <a:t> 인데 </a:t>
            </a:r>
            <a:r>
              <a:rPr sz="1600" b="0">
                <a:solidFill>
                  <a:srgbClr val="222222"/>
                </a:solidFill>
                <a:latin typeface="Consolas"/>
                <a:cs typeface="Consolas"/>
              </a:rPr>
              <a:t>SUCCESS</a:t>
            </a:r>
            <a:r>
              <a:rPr sz="1600" b="0">
                <a:solidFill>
                  <a:srgbClr val="222222"/>
                </a:solidFill>
                <a:latin typeface="맑은 고딕"/>
              </a:rPr>
              <a:t>, 두 지연도 0</a:t>
            </a:r>
          </a:p>
          <a:p>
            <a:pPr algn="l">
              <a:spcAft>
                <a:spcPts val="1000"/>
              </a:spcAft>
            </a:pPr>
            <a:r>
              <a:rPr sz="1600" b="0">
                <a:solidFill>
                  <a:srgbClr val="222222"/>
                </a:solidFill>
                <a:latin typeface="맑은 고딕"/>
              </a:rPr>
              <a:t>•  Broker 는 </a:t>
            </a:r>
            <a:r>
              <a:rPr sz="1600" b="0">
                <a:solidFill>
                  <a:srgbClr val="222222"/>
                </a:solidFill>
                <a:latin typeface="Consolas"/>
                <a:cs typeface="Consolas"/>
              </a:rPr>
              <a:t>DEFER</a:t>
            </a:r>
            <a:r>
              <a:rPr sz="1600" b="0">
                <a:solidFill>
                  <a:srgbClr val="222222"/>
                </a:solidFill>
                <a:latin typeface="맑은 고딕"/>
              </a:rPr>
              <a:t> 가 아니라 </a:t>
            </a:r>
            <a:r>
              <a:rPr sz="1600" b="1">
                <a:solidFill>
                  <a:srgbClr val="222222"/>
                </a:solidFill>
                <a:latin typeface="Consolas"/>
                <a:cs typeface="Consolas"/>
              </a:rPr>
              <a:t>RESET</a:t>
            </a:r>
            <a:r>
              <a:rPr sz="1600" b="0">
                <a:solidFill>
                  <a:srgbClr val="222222"/>
                </a:solidFill>
                <a:latin typeface="맑은 고딕"/>
              </a:rPr>
              <a:t> 을 쓴다</a:t>
            </a:r>
          </a:p>
          <a:p>
            <a:pPr algn="l">
              <a:spcAft>
                <a:spcPts val="1000"/>
              </a:spcAft>
            </a:pPr>
            <a:r>
              <a:rPr sz="1600" b="0">
                <a:solidFill>
                  <a:srgbClr val="222222"/>
                </a:solidFill>
                <a:latin typeface="맑은 고딕"/>
              </a:rPr>
              <a:t>•  </a:t>
            </a:r>
            <a:r>
              <a:rPr sz="1600" b="0">
                <a:solidFill>
                  <a:srgbClr val="222222"/>
                </a:solidFill>
                <a:latin typeface="Consolas"/>
                <a:cs typeface="Consolas"/>
              </a:rPr>
              <a:t>VERBOSE</a:t>
            </a:r>
            <a:r>
              <a:rPr sz="1600" b="0">
                <a:solidFill>
                  <a:srgbClr val="222222"/>
                </a:solidFill>
                <a:latin typeface="맑은 고딕"/>
              </a:rPr>
              <a:t> 는 </a:t>
            </a:r>
            <a:r>
              <a:rPr sz="1600" b="0">
                <a:solidFill>
                  <a:srgbClr val="222222"/>
                </a:solidFill>
                <a:latin typeface="Consolas"/>
                <a:cs typeface="Consolas"/>
              </a:rPr>
              <a:t>Future</a:t>
            </a:r>
            <a:r>
              <a:rPr sz="1600" b="0">
                <a:solidFill>
                  <a:srgbClr val="222222"/>
                </a:solidFill>
                <a:latin typeface="맑은 고딕"/>
              </a:rPr>
              <a:t> 구성까지 계산한다</a:t>
            </a:r>
          </a:p>
          <a:p>
            <a:pPr algn="l">
              <a:spcAft>
                <a:spcPts val="1000"/>
              </a:spcAft>
            </a:pPr>
            <a:r>
              <a:rPr sz="1600" b="0">
                <a:solidFill>
                  <a:srgbClr val="222222"/>
                </a:solidFill>
                <a:latin typeface="맑은 고딕"/>
              </a:rPr>
              <a:t>•  임계값 셋은 기본 30초 — ORA-16853·16855·16857</a:t>
            </a:r>
          </a:p>
          <a:p>
            <a:pPr algn="l">
              <a:spcAft>
                <a:spcPts val="1000"/>
              </a:spcAft>
            </a:pPr>
            <a:r>
              <a:rPr sz="1600" b="0">
                <a:solidFill>
                  <a:srgbClr val="222222"/>
                </a:solidFill>
                <a:latin typeface="맑은 고딕"/>
              </a:rPr>
              <a:t>•  </a:t>
            </a:r>
            <a:r>
              <a:rPr sz="1600" b="1">
                <a:solidFill>
                  <a:srgbClr val="222222"/>
                </a:solidFill>
                <a:latin typeface="맑은 고딕"/>
              </a:rPr>
              <a:t>임계값이 있는 항목만 경보한다</a:t>
            </a:r>
          </a:p>
          <a:p>
            <a:pPr algn="l">
              <a:spcAft>
                <a:spcPts val="1000"/>
              </a:spcAft>
            </a:pPr>
            <a:r>
              <a:rPr sz="1600" b="0">
                <a:solidFill>
                  <a:srgbClr val="222222"/>
                </a:solidFill>
                <a:latin typeface="맑은 고딕"/>
              </a:rPr>
              <a:t>•  </a:t>
            </a:r>
            <a:r>
              <a:rPr sz="1600" b="0">
                <a:solidFill>
                  <a:srgbClr val="222222"/>
                </a:solidFill>
                <a:latin typeface="Consolas"/>
                <a:cs typeface="Consolas"/>
              </a:rPr>
              <a:t>EXPORT</a:t>
            </a:r>
            <a:r>
              <a:rPr sz="1600" b="0">
                <a:solidFill>
                  <a:srgbClr val="222222"/>
                </a:solidFill>
                <a:latin typeface="맑은 고딕"/>
              </a:rPr>
              <a:t> 는 trace 디렉터리. 경로를 주면 ORA-16540</a:t>
            </a:r>
          </a:p>
          <a:p>
            <a:pPr algn="l">
              <a:spcAft>
                <a:spcPts val="1000"/>
              </a:spcAft>
            </a:pPr>
            <a:r>
              <a:rPr sz="1600" b="0">
                <a:solidFill>
                  <a:srgbClr val="222222"/>
                </a:solidFill>
                <a:latin typeface="맑은 고딕"/>
              </a:rPr>
              <a:t>•  </a:t>
            </a:r>
            <a:r>
              <a:rPr sz="1600" b="0">
                <a:solidFill>
                  <a:srgbClr val="222222"/>
                </a:solidFill>
                <a:latin typeface="Consolas"/>
                <a:cs typeface="Consolas"/>
              </a:rPr>
              <a:t>IMPORT</a:t>
            </a:r>
            <a:r>
              <a:rPr sz="1600" b="0">
                <a:solidFill>
                  <a:srgbClr val="222222"/>
                </a:solidFill>
                <a:latin typeface="맑은 고딕"/>
              </a:rPr>
              <a:t> 는 구성이 있으면 ORA-16504</a:t>
            </a:r>
          </a:p>
          <a:p>
            <a:pPr algn="l">
              <a:spcAft>
                <a:spcPts val="1000"/>
              </a:spcAft>
            </a:pPr>
            <a:r>
              <a:rPr sz="1600" b="0">
                <a:solidFill>
                  <a:srgbClr val="222222"/>
                </a:solidFill>
                <a:latin typeface="맑은 고딕"/>
              </a:rPr>
              <a:t>•  FSFO 는 전제 없이도 경고만 하고 켜진다 (ORA-16827)</a:t>
            </a:r>
          </a:p>
          <a:p>
            <a:pPr algn="l">
              <a:spcAft>
                <a:spcPts val="1000"/>
              </a:spcAft>
            </a:pPr>
            <a:r>
              <a:rPr sz="1600" b="0">
                <a:solidFill>
                  <a:srgbClr val="222222"/>
                </a:solidFill>
                <a:latin typeface="맑은 고딕"/>
              </a:rPr>
              <a:t>•  끌 때는 </a:t>
            </a:r>
            <a:r>
              <a:rPr sz="1600" b="1">
                <a:solidFill>
                  <a:srgbClr val="222222"/>
                </a:solidFill>
                <a:latin typeface="Consolas"/>
                <a:cs typeface="Consolas"/>
              </a:rPr>
              <a:t>DISABLE</a:t>
            </a:r>
            <a:r>
              <a:rPr sz="1600" b="1">
                <a:solidFill>
                  <a:srgbClr val="222222"/>
                </a:solidFill>
                <a:latin typeface="맑은 고딕"/>
              </a:rPr>
              <a:t> 이 먼저</a:t>
            </a:r>
          </a:p>
          <a:p>
            <a:pPr algn="l">
              <a:spcAft>
                <a:spcPts val="1000"/>
              </a:spcAft>
            </a:pPr>
            <a:r>
              <a:rPr sz="1600" b="0">
                <a:solidFill>
                  <a:srgbClr val="222222"/>
                </a:solidFill>
                <a:latin typeface="맑은 고딕"/>
              </a:rPr>
              <a:t>•  감시 다섯 층 중 </a:t>
            </a:r>
            <a:r>
              <a:rPr sz="1600" b="1">
                <a:solidFill>
                  <a:srgbClr val="222222"/>
                </a:solidFill>
                <a:latin typeface="맑은 고딕"/>
              </a:rPr>
              <a:t>4층을 빠뜨리는 것이 가장 흔한 실수</a:t>
            </a:r>
          </a:p>
          <a:p>
            <a:pPr algn="l">
              <a:spcAft>
                <a:spcPts val="1000"/>
              </a:spcAft>
            </a:pPr>
            <a:r>
              <a:rPr sz="1600" b="0">
                <a:solidFill>
                  <a:srgbClr val="222222"/>
                </a:solidFill>
                <a:latin typeface="맑은 고딕"/>
              </a:rPr>
              <a:t>•  </a:t>
            </a:r>
            <a:r>
              <a:rPr sz="1600" b="0">
                <a:solidFill>
                  <a:srgbClr val="222222"/>
                </a:solidFill>
                <a:latin typeface="Consolas"/>
                <a:cs typeface="Consolas"/>
              </a:rPr>
              <a:t>VALIDATE</a:t>
            </a:r>
            <a:r>
              <a:rPr sz="1600" b="0">
                <a:solidFill>
                  <a:srgbClr val="222222"/>
                </a:solidFill>
                <a:latin typeface="맑은 고딕"/>
              </a:rPr>
              <a:t> 는 여섯 구문. </a:t>
            </a:r>
            <a:r>
              <a:rPr sz="1600" b="1">
                <a:solidFill>
                  <a:srgbClr val="222222"/>
                </a:solidFill>
                <a:latin typeface="맑은 고딕"/>
              </a:rPr>
              <a:t>★ </a:t>
            </a:r>
            <a:r>
              <a:rPr sz="1600" b="1">
                <a:solidFill>
                  <a:srgbClr val="222222"/>
                </a:solidFill>
                <a:latin typeface="Consolas"/>
                <a:cs typeface="Consolas"/>
              </a:rPr>
              <a:t>VALIDATE DATABASE</a:t>
            </a:r>
            <a:r>
              <a:rPr sz="1600" b="1">
                <a:solidFill>
                  <a:srgbClr val="222222"/>
                </a:solidFill>
                <a:latin typeface="맑은 고딕"/>
              </a:rPr>
              <a:t> 는 Primary 의 정적 등록만 검사한다</a:t>
            </a:r>
          </a:p>
          <a:p>
            <a:pPr algn="l">
              <a:spcAft>
                <a:spcPts val="1000"/>
              </a:spcAft>
            </a:pPr>
            <a:r>
              <a:rPr sz="1600" b="0">
                <a:solidFill>
                  <a:srgbClr val="222222"/>
                </a:solidFill>
                <a:latin typeface="맑은 고딕"/>
              </a:rPr>
              <a:t>•  </a:t>
            </a:r>
            <a:r>
              <a:rPr sz="1600" b="0">
                <a:solidFill>
                  <a:srgbClr val="222222"/>
                </a:solidFill>
                <a:latin typeface="Consolas"/>
                <a:cs typeface="Consolas"/>
              </a:rPr>
              <a:t>drc&lt;이름&gt;.log</a:t>
            </a:r>
            <a:r>
              <a:rPr sz="1600" b="0">
                <a:solidFill>
                  <a:srgbClr val="222222"/>
                </a:solidFill>
                <a:latin typeface="맑은 고딕"/>
              </a:rPr>
              <a:t> 에 명령·결과와 </a:t>
            </a:r>
            <a:r>
              <a:rPr sz="1600" b="1">
                <a:solidFill>
                  <a:srgbClr val="222222"/>
                </a:solidFill>
                <a:latin typeface="맑은 고딕"/>
              </a:rPr>
              <a:t>구성 수준 오류</a:t>
            </a:r>
            <a:r>
              <a:rPr sz="1600" b="0">
                <a:solidFill>
                  <a:srgbClr val="222222"/>
                </a:solidFill>
                <a:latin typeface="맑은 고딕"/>
              </a:rPr>
              <a:t>(ORA-16607·16608)가 남는다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다음 장 예고</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15장 — V$ 뷰 기반 모니터링과 문제 해결</a:t>
            </a:r>
          </a:p>
          <a:p>
            <a:pPr algn="l">
              <a:spcAft>
                <a:spcPts val="1000"/>
              </a:spcAft>
            </a:pPr>
            <a:r>
              <a:rPr sz="1600" b="0">
                <a:solidFill>
                  <a:srgbClr val="222222"/>
                </a:solidFill>
                <a:latin typeface="맑은 고딕"/>
              </a:rPr>
              <a:t>•  Broker 없이 SQL 만으로 진단하는 방법</a:t>
            </a:r>
          </a:p>
          <a:p>
            <a:pPr algn="l">
              <a:spcAft>
                <a:spcPts val="1000"/>
              </a:spcAft>
            </a:pPr>
            <a:r>
              <a:rPr sz="1600" b="0">
                <a:solidFill>
                  <a:srgbClr val="222222"/>
                </a:solidFill>
                <a:latin typeface="맑은 고딕"/>
              </a:rPr>
              <a:t>•  갭·성능·공간 문제의 절차화</a:t>
            </a:r>
          </a:p>
          <a:p>
            <a:pPr algn="l">
              <a:spcAft>
                <a:spcPts val="1000"/>
              </a:spcAft>
            </a:pPr>
            <a:r>
              <a:rPr sz="1600" b="0">
                <a:solidFill>
                  <a:srgbClr val="222222"/>
                </a:solidFill>
                <a:latin typeface="맑은 고딕"/>
              </a:rPr>
              <a:t>•  이 장에서 본 뷰들을 실제 장애 상황에 적용한다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
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1~12장에서 만난 오류의 상당수가 개념이 어려워서가 아니라 두 데이터베이스에 걸쳐 일관되게 유지하기가 번거로워서 생겼다. 7장의 BAD PARAM 은 오타였고 10장의 ORA-16057 은 순서 문제였으며 WRONG VALID_TYPE 은 조합 실수였다. Broker 가 대신하는 것은 어려운 일이 아니라 번거로운 일이다. 대칭을 사람이 유지해야 한다는 것이 부담의 본질이며, Broker 는 그 대칭을 자동으로 만든다.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Broker 로그에 DMON: Executing SQL [ALTER SYSTEM REGISTER] 가 남는다. Broker 명령이 결국 SQL 로 번역된다는 증거다. DGMGRL 은 SQL 을 실행하는 도구가 아니라 구성을 조작하는 도구이며, 그래서 SELECT 대신 SHOW 가 있다. 역할 전환처럼 여러 노드에 걸친 절차를 명령 하나로 묶는 것이 존재 이유다. 셋의 관계를 알면 진단이 쉬워진다. DGMGRL 이 응답하지 않으면 DMON 을, DMON 이 이상하면 구성 파일을 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구성 파일은 아직 없다. 구성을 만들 때 생기며 실측 크기는 8KB 였다. Broker 는 두 파일을 번갈아 쓰므로 갱신 시각이 다른 것이 정상이다. 하나가 손상돼도 다른 하나로 복구한다. 이름 규칙에 db_unique_name 이 들어가므로 boston 에서는 dr1boston.dat 이 된다. 세 값만 확인하면 Broker 준비 상태를 판정할 수 있다. 도입 검토의 첫 조회로 삼기 좋다.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3장에서는 NOMOUNT 접속을 위해, 10장에서는 Far Sync 가 항상 MOUNTED 라서 정적 등록이 필요했다. Broker 에서는 재기동 구간 때문이다. 이유는 매번 다르지만 뿌리는 같다. 동적 등록이 없는 구간이 있기 때문이다. 정적 등록이 없으면 역할 전환이 중간에 멈춘다. 3장에서 미리 넣어 둔 덕분에 이 장에서 추가 작업이 없었다. 새 환경이라면 여기서 시간을 쓰게 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오류 번호 하나로 어느 단계에서 막혔는지 알 수 있다는 점이 유용하다. 그리고 조치 후 같은 오류가 반복되면 효과가 없었다는 뜻이고, 오류가 바뀌면 진전이 있었다는 뜻이다. 12장에서 ORA-26676 을 고치니 ORA-26786 이 드러났던 것과 같은 구조다. 세 증상을 외워 두면 문제를 만났을 때 어디부터 볼지 바로 정해진다. 진단 시간이 크게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SCOPE=BOTH 로 주는 이유는 다음 기동에도 유지되게 하기 위해서다. MEMORY 로만 주면 재기동 후 Broker 가 꺼지고 구성은 남아 있는데 관리자가 없는 상태가 된다. 양쪽 모두 켜야 DMON 끼리 통신할 수 있다. 프로세스 확인은 OS 와 V$PROCESS 양쪽에서 한다. 한쪽만 보면 놓치는 경우가 있다. 켜고 나서 dgmgrl 접속까지 확인하는 것을 한 단계로 묶어 두면 좋다. 오류가 16532 로 바뀌면 이 단계는 끝난 것이다.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안심하고 켤 수 있다는 뜻이다. 구성을 만들고 활성화해야 인수가 시작된다. 도입을 검토하는 단계라면 켜 두고 dgmgrl 로 접속만 해 보는 것도 가능하다. 그 상태에서는 ORA-16532 가 나올 뿐 아무것도 바뀌지 않는다. 도입을 망설이는 팀에게 이 사실을 알려 주면 결정이 쉬워진다. 켜 보는 것만으로는 아무 일도 일어나지 않는다. 그래서 이관 계획을 세울 때 이 단계는 평시에 미리 해 두고, 서비스 영향이 있는 다음 단계만 변경 시간대에 배치하는 방식이 가능하다.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번째가 헷갈리기 쉽다. 실습 환경에서는 DB_UNIQUE_NAME 과 별칭이 우연히 같은 이름이라 구별이 안 보이지만 둘은 다른 것이다. 별칭이 chicago_dg 였다면 connect identifier is chicago_dg 로 적어야 한다. 만들었다고 바로 동작하는 것이 아니라 활성화 단계가 따로 있다는 점도 확인한다. 구성 이름은 나중에 바꾸기 번거로우므로 처음에 규칙을 정해 두는 편이 낫다. dg_&lt;Primary 이름&gt; 이 무난하다.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오류 메시지가 "충돌한다" 가 아니라 "설정되어 있다" 인 것이 핵심이다. 값이 맞고 틀리고를 따지지 않는다. 사람이 적어 둔 값과 Broker 가 만들 값이 공존하면 어느 쪽이 진짜인지 알 수 없게 되고, 역할 전환에서 어긋나면 그때는 이미 늦다. 이것이 실무에서 Broker 도입의 첫 관문이며 이미 손으로 운영하던 구성을 옮길 때 반드시 만난다. 이 오류를 예상하고 있으면 당황하지 않는다. 도입 계획서에 미리 적어 두면 좋다.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데이터를 잃지는 않지만 그동안 Standby 가 뒤처지므로 재해 복구 관점에서 노출 구간이 생긴다. 그래서 변경 시간대를 잡아 두고 활성화까지 한 번에 진행한다. 비운 채로 오래 두지 않는다. Primary 쪽도 비우는 이유는 Broker 가 그 자리에 자기 값을 쓸 것이기 때문이다. 비우기와 활성화 사이의 시간을 최소화하는 것이 요령이다. 명령을 미리 준비해 두고 연속 실행한다.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Broker 의 표시 방식을 읽는 연습이다. chicago 가 왼쪽에 있고 boston 이 그 아래 들여쓰기되어 리두가 어디서 어디로 가는지를 그림처럼 보여 준다. 10장의 Far Sync 나 계단식 구성이라면 단계가 더 들어간다. 구성 자체는 정상이고 멤버 하나가 비활성일 뿐이므로 SUCCESS 가 맞다. 들여쓰기를 읽는 습관을 들이면 복잡한 구성에서도 리두 경로를 한눈에 파악할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Broker 의 속성 하나하나가 이 문자열의 한 조각에 대응한다. SET PROPERTY 'ReopenSecs'='60' 을 실행하면 reopen=300 이 reopen=60 으로 바뀐다. 명시해 두어야 바꿀 자리가 생긴다. 사람이 적을 때는 필요한 것만 적고 나머지는 기본값에 맡겼지만 Broker 는 전부 명시한다. 처음 보면 길어서 당황하지만 각 조각이 속성 하나에 대응한다는 것을 알면 오히려 읽기 쉽다.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손으로 관리한다면 역할 전환 때마다 양쪽의 VALID_FOR 를 바꿔야 한다. Broker 는 처음부터 all_roles 로 잡아 두어 그 수고를 없앤다. FAL_SERVER 가 비는 것은 처음 보면 놀라지만 정상이다. Broker 는 갭 해소 대상을 구성 정보로 알고 있다. 파라미터가 비었다고 기능이 사라진 것이 아니라는 점을 기억한다. FAL_SERVER 가 빈 것을 보고 설정이 지워졌다고 오해해 되돌리는 실수가 흔하다. 그것이 정상이다.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로그를 읽으면 DMON 이 실제로 SQL 을 실행한다는 것이 보인다. SCI harvested 의 SCI 는 StaticConnectIdentifier 이며 DMON 이 리스너에서 알아냈다는 뜻이다. chicago_CFG 서비스도 Broker 가 스스로 만들어 등록했다. 우리가 listener.ora 에 적지 않았는데 생겼다. 구성 파일은 백업 대상에 넣어 둔다. export 명령으로 텍스트 형태로도 남길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줄이 중요하다. Broker 의 상태 판정은 주기적으로 갱신되므로 방금 바꾼 것이 아직 반영되지 않았을 수 있다. 명령을 실행하고 바로 조회해 이전 상태가 보이는 것은 오류가 아니다. 급하면 잠시 기다렸다 다시 본다. SQL 로 지금 값을 확인하는 방법도 있다. 다섯 줄을 순서대로 읽는 습관을 들이면 놓치는 것이 없다. 특히 마지막 줄을 늘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개념이 없으면 Broker 는 "지금 적용이 멈춰 있다" 는 사실만 알 뿐 그것이 문제인지 아닌지 판단할 수 없다. 목표가 있어야 판정이 가능하다. 계획된 정지와 사고를 구별하는 장치이며, 이 구별이 있어야 감시 도구가 의미 있는 경보를 낼 수 있다. 감시 도구를 붙일 때 이 값을 함께 수집하면 계획된 정지로 인한 오경보를 없앨 수 있다. 이 값을 함께 보지 않으면 정상인 시스템을 장애로 신고하거나 반대로 진짜 장애를 놓친다. 상태 판정의 기준선이라고 생각하면 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여러 오류가 보이면 요약인 것을 걷어내고 결과인 것을 걷어내고 남은 하나를 본다. 지연 값이 비상식적이면 그 자체가 단서다. 13125일은 약 36년 전이며 적용이 완전히 멈춰 진척 기록이 의미를 잃었다는 뜻이었다. 이런 값을 보면 "느려졌다" 가 아니라 "끊겼다" 로 읽는다. 경보 시스템을 설계할 때도 이 인과를 반영한다. 결과에 해당하는 경보는 억제하고 원인만 알린다.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이것이 이 장에서 가장 실무적인 교훈이다. Broker 는 상태를 요약하는 도구이지 진단 도구가 아니다. 진단 순서의 마지막 두 단계(drc 로그와 알림 로그)를 빠뜨리면 "적용이 안 된다" 에서 더 나아갈 수 없다. Broker 화면만 보고 원인을 찾으려 하면 시간을 잃는다. 진단 절차서에 알림 로그 확인 단계를 명시해 두면 급할 때 건너뛰지 않는다. 진단 절차서에 알림 로그 확인 단계를 명시해 두면 급할 때 건너뛰지 않는다. Broker 화면만 보고 원인을 찾으려 하면 시간을 잃는다.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Broker 명령이 결국 SQL 로 번역된다는 것을 여기서 확인할 수 있다. 7장에서 ALTER DATABASE RECOVER MANAGED STANDBY DATABASE CANCEL 을 실행했던 것과 같은 결과다. 차이는 기억한다는 점이다. SQL 로 멈추면 Intended State 는 APPLY-ON 인 채로 남아 Broker 가 경고한다. 계획 정비로 적용을 멈출 때는 반드시 Broker 명령을 쓴다. SQL 로 멈추면 불필요한 경보가 울린다.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10장에서 Far Sync 를 구성할 때 이 문자열을 손으로 적었던 것과 비교된다. 그때는 SYNC AFFIRM 을 정확히 적어야 했고 빠뜨린 속성은 기본값이 되었다. Broker 는 속성 이름만 알면 된다. 2장에서 배운 대로 SYNC 와 AFFIRM 은 다른 것이지만 Broker 에서는 하나의 속성으로 다룬다. 속성 이름을 외우기보다 SHOW DATABASE VERBOSE 로 목록을 보는 습관이 낫다. 버전마다 늘어난다.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Broker 는 순서를 대신해 줄 뿐 물리 법칙을 바꾸지 않는다. 11장에서 배운 규칙이 그대로 적용된다. 반대로 하면 MaxAvailability 인데 동기 대상이 없는 상태가 된다. Broker 를 쓴다고 해서 이해가 필요 없어지는 것이 아니라, 이해한 것을 더 적은 명령으로 표현할 수 있게 되는 것이다. Broker 를 쓴다고 이해가 필요 없어지는 것이 아니라, 이해한 것을 더 적은 명령으로 표현하게 되는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"Broker 가 감지해서 경고한다" 는 흔한 설명이 이 환경·이 시간 범위에서는 성립하지 않았다. 감지 주기나 대상 항목의 문제일 수 있고 더 기다리면 달라질 수도 있다. 확인한 것은 30초 안에는 아무 신호도 없었다는 사실뿐이다. 그러므로 실무 지침은 감지에 기대지 않는 쪽이어야 한다. 문서의 일반적 설명과 자기 환경의 실측이 다를 수 있다는 것을 보여 주는 사례다. 중요한 전제는 직접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감지가 안 되는 것이 오히려 위험하므로 첫째 원칙은 바꾸지 않는 것이다. 그래도 실수했다면 이 방법으로 되돌린다. 발견 방법도 함께 정해 둔다. 정기적으로 파라미터가 Broker 형식인지(service="..." 로 시작하고 속성이 모두 명시된 형태) 확인하는 것이다. 이 방법을 알아 두면 어긋남을 발견했을 때 구성을 다시 만들 필요가 없다. 명령 한 줄이면 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어떤 것은 Broker 로 어떤 것은 SQL 로 관리하면 어느 쪽이 진짜인지 알 수 없고, Broker 가 다음 갱신에서 덮어써 SQL 변경이 사라지며, 역할 전환에서 예상치 못한 값이 적용된다. 그래서 도입은 한 방향으로 정해 두어야 하는 결정이다. 실무에서는 도입 시점에 팀 규칙으로 못 박아 두는 편이 낫다. 팀 규칙으로 문서화하고 신규 구성원에게 전달한다. 기술 문제가 아니라 합의의 문제다.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종료 순서도 함께 기억한다. Standby 를 먼저 내리고 Primary 를 나중에 내린다. 반대로 하면 Standby 가 전송이 끊겼다고 판단해 불필요한 오류를 남긴다. 기동할 때는 리스너를 먼저 올린다. DMON 이 상대 노드에 접속하려면 리스너가 살아 있어야 하기 때문이다. 계획 정비 후 기동 절차서를 만들어 두면 좋다. 순서 하나로 불필요한 오류를 없앨 수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Active Data Guard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Data Guard Broker</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구성 전체를 하나로 관리한다</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손으로 하던 번거로움을 넘기는 자리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Broker 가 무엇을 대신하는지 손으로 하던 작업과 대응시켜 설명한다.</a:t>
            </a:r>
          </a:p>
          <a:p>
            <a:pPr algn="l">
              <a:spcAft>
                <a:spcPts val="1000"/>
              </a:spcAft>
            </a:pPr>
            <a:r>
              <a:rPr sz="1600" b="0">
                <a:solidFill>
                  <a:srgbClr val="222222"/>
                </a:solidFill>
                <a:latin typeface="맑은 고딕"/>
              </a:rPr>
              <a:t>•  전제 조건을 확인하고 </a:t>
            </a:r>
            <a:r>
              <a:rPr sz="1600" b="0">
                <a:solidFill>
                  <a:srgbClr val="222222"/>
                </a:solidFill>
                <a:latin typeface="Consolas"/>
                <a:cs typeface="Consolas"/>
              </a:rPr>
              <a:t>DG_BROKER_START</a:t>
            </a:r>
            <a:r>
              <a:rPr sz="1600" b="0">
                <a:solidFill>
                  <a:srgbClr val="222222"/>
                </a:solidFill>
                <a:latin typeface="맑은 고딕"/>
              </a:rPr>
              <a:t> 를 켠다.</a:t>
            </a:r>
          </a:p>
          <a:p>
            <a:pPr algn="l">
              <a:spcAft>
                <a:spcPts val="1000"/>
              </a:spcAft>
            </a:pPr>
            <a:r>
              <a:rPr sz="1600" b="0">
                <a:solidFill>
                  <a:srgbClr val="222222"/>
                </a:solidFill>
                <a:latin typeface="맑은 고딕"/>
              </a:rPr>
              <a:t>•  </a:t>
            </a:r>
            <a:r>
              <a:rPr sz="1600" b="0">
                <a:solidFill>
                  <a:srgbClr val="222222"/>
                </a:solidFill>
                <a:latin typeface="Consolas"/>
                <a:cs typeface="Consolas"/>
              </a:rPr>
              <a:t>CREATE</a:t>
            </a:r>
            <a:r>
              <a:rPr sz="1600" b="0">
                <a:solidFill>
                  <a:srgbClr val="222222"/>
                </a:solidFill>
                <a:latin typeface="맑은 고딕"/>
              </a:rPr>
              <a:t> · </a:t>
            </a:r>
            <a:r>
              <a:rPr sz="1600" b="0">
                <a:solidFill>
                  <a:srgbClr val="222222"/>
                </a:solidFill>
                <a:latin typeface="Consolas"/>
                <a:cs typeface="Consolas"/>
              </a:rPr>
              <a:t>ADD</a:t>
            </a:r>
            <a:r>
              <a:rPr sz="1600" b="0">
                <a:solidFill>
                  <a:srgbClr val="222222"/>
                </a:solidFill>
                <a:latin typeface="맑은 고딕"/>
              </a:rPr>
              <a:t> · </a:t>
            </a:r>
            <a:r>
              <a:rPr sz="1600" b="0">
                <a:solidFill>
                  <a:srgbClr val="222222"/>
                </a:solidFill>
                <a:latin typeface="Consolas"/>
                <a:cs typeface="Consolas"/>
              </a:rPr>
              <a:t>ENABLE</a:t>
            </a:r>
            <a:r>
              <a:rPr sz="1600" b="0">
                <a:solidFill>
                  <a:srgbClr val="222222"/>
                </a:solidFill>
                <a:latin typeface="맑은 고딕"/>
              </a:rPr>
              <a:t> 로 구성을 만든다.</a:t>
            </a:r>
          </a:p>
          <a:p>
            <a:pPr algn="l">
              <a:spcAft>
                <a:spcPts val="1000"/>
              </a:spcAft>
            </a:pPr>
            <a:r>
              <a:rPr sz="1600" b="0">
                <a:solidFill>
                  <a:srgbClr val="222222"/>
                </a:solidFill>
                <a:latin typeface="맑은 고딕"/>
              </a:rPr>
              <a:t>•  전환 중 만나는 오류(ORA-16525·16532·16698·16905)를 해석한다.</a:t>
            </a:r>
          </a:p>
          <a:p>
            <a:pPr algn="l">
              <a:spcAft>
                <a:spcPts val="1000"/>
              </a:spcAft>
            </a:pPr>
            <a:r>
              <a:rPr sz="1600" b="0">
                <a:solidFill>
                  <a:srgbClr val="222222"/>
                </a:solidFill>
                <a:latin typeface="맑은 고딕"/>
              </a:rPr>
              <a:t>•  Broker 가 인수한 파라미터의 변화를 읽는다.</a:t>
            </a:r>
          </a:p>
          <a:p>
            <a:pPr algn="l">
              <a:spcAft>
                <a:spcPts val="1000"/>
              </a:spcAft>
            </a:pPr>
            <a:r>
              <a:rPr sz="1600" b="0">
                <a:solidFill>
                  <a:srgbClr val="222222"/>
                </a:solidFill>
                <a:latin typeface="맑은 고딕"/>
              </a:rPr>
              <a:t>•  </a:t>
            </a:r>
            <a:r>
              <a:rPr sz="1600" b="0">
                <a:solidFill>
                  <a:srgbClr val="222222"/>
                </a:solidFill>
                <a:latin typeface="Consolas"/>
                <a:cs typeface="Consolas"/>
              </a:rPr>
              <a:t>SHOW</a:t>
            </a:r>
            <a:r>
              <a:rPr sz="1600" b="0">
                <a:solidFill>
                  <a:srgbClr val="222222"/>
                </a:solidFill>
                <a:latin typeface="맑은 고딕"/>
              </a:rPr>
              <a:t> · </a:t>
            </a:r>
            <a:r>
              <a:rPr sz="1600" b="0">
                <a:solidFill>
                  <a:srgbClr val="222222"/>
                </a:solidFill>
                <a:latin typeface="Consolas"/>
                <a:cs typeface="Consolas"/>
              </a:rPr>
              <a:t>EDIT</a:t>
            </a:r>
            <a:r>
              <a:rPr sz="1600" b="0">
                <a:solidFill>
                  <a:srgbClr val="222222"/>
                </a:solidFill>
                <a:latin typeface="맑은 고딕"/>
              </a:rPr>
              <a:t> 로 상태와 속성을 다룬다.</a:t>
            </a:r>
          </a:p>
          <a:p>
            <a:pPr algn="l">
              <a:spcAft>
                <a:spcPts val="1000"/>
              </a:spcAft>
            </a:pPr>
            <a:r>
              <a:rPr sz="1600" b="0">
                <a:solidFill>
                  <a:srgbClr val="222222"/>
                </a:solidFill>
                <a:latin typeface="맑은 고딕"/>
              </a:rPr>
              <a:t>•  Broker 가 관리하는 것을 SQL 로 바꾸면 안 되는 이유를 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13.2  Broker 가 대신하는 일</a:t>
            </a:r>
          </a:p>
          <a:p>
            <a:pPr algn="l">
              <a:spcAft>
                <a:spcPts val="1000"/>
              </a:spcAft>
            </a:pPr>
            <a:r>
              <a:rPr sz="1600" b="0">
                <a:solidFill>
                  <a:srgbClr val="222222"/>
                </a:solidFill>
                <a:latin typeface="맑은 고딕"/>
              </a:rPr>
              <a:t>•  13.3  전제 조건</a:t>
            </a:r>
          </a:p>
          <a:p>
            <a:pPr algn="l">
              <a:spcAft>
                <a:spcPts val="1000"/>
              </a:spcAft>
            </a:pPr>
            <a:r>
              <a:rPr sz="1600" b="0">
                <a:solidFill>
                  <a:srgbClr val="222222"/>
                </a:solidFill>
                <a:latin typeface="맑은 고딕"/>
              </a:rPr>
              <a:t>•  13.4  Broker 켜기</a:t>
            </a:r>
          </a:p>
          <a:p>
            <a:pPr algn="l">
              <a:spcAft>
                <a:spcPts val="1000"/>
              </a:spcAft>
            </a:pPr>
            <a:r>
              <a:rPr sz="1600" b="0">
                <a:solidFill>
                  <a:srgbClr val="222222"/>
                </a:solidFill>
                <a:latin typeface="맑은 고딕"/>
              </a:rPr>
              <a:t>•  13.5  구성 만들기</a:t>
            </a:r>
          </a:p>
          <a:p>
            <a:pPr algn="l">
              <a:spcAft>
                <a:spcPts val="1000"/>
              </a:spcAft>
            </a:pPr>
            <a:r>
              <a:rPr sz="1600" b="0">
                <a:solidFill>
                  <a:srgbClr val="222222"/>
                </a:solidFill>
                <a:latin typeface="맑은 고딕"/>
              </a:rPr>
              <a:t>•  13.6  Broker 가 인수한 것</a:t>
            </a:r>
          </a:p>
          <a:p>
            <a:pPr algn="l">
              <a:spcAft>
                <a:spcPts val="1000"/>
              </a:spcAft>
            </a:pPr>
            <a:r>
              <a:rPr sz="1600" b="0">
                <a:solidFill>
                  <a:srgbClr val="222222"/>
                </a:solidFill>
                <a:latin typeface="맑은 고딕"/>
              </a:rPr>
              <a:t>•  13.7  상태 읽기</a:t>
            </a:r>
          </a:p>
          <a:p>
            <a:pPr algn="l">
              <a:spcAft>
                <a:spcPts val="1000"/>
              </a:spcAft>
            </a:pPr>
            <a:r>
              <a:rPr sz="1600" b="0">
                <a:solidFill>
                  <a:srgbClr val="222222"/>
                </a:solidFill>
                <a:latin typeface="맑은 고딕"/>
              </a:rPr>
              <a:t>•  13.8  Broker 로 상태를 바꾼다</a:t>
            </a:r>
          </a:p>
          <a:p>
            <a:pPr algn="l">
              <a:spcAft>
                <a:spcPts val="1000"/>
              </a:spcAft>
            </a:pPr>
            <a:r>
              <a:rPr sz="1600" b="0">
                <a:solidFill>
                  <a:srgbClr val="222222"/>
                </a:solidFill>
                <a:latin typeface="맑은 고딕"/>
              </a:rPr>
              <a:t>•  13.9  SQL 로 바꾸면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Broker 가 대신하는 일</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손으로 하던 것</a:t>
            </a:r>
          </a:p>
          <a:p>
            <a:pPr algn="l">
              <a:spcAft>
                <a:spcPts val="800"/>
              </a:spcAft>
            </a:pPr>
            <a:r>
              <a:rPr sz="1600" b="0">
                <a:solidFill>
                  <a:srgbClr val="FFFFFF"/>
                </a:solidFill>
                <a:latin typeface="맑은 고딕"/>
              </a:rPr>
              <a:t>•  구성 요소 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손으로 한 것</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대칭을 사람이 유지한다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양쪽 </a:t>
            </a:r>
            <a:r>
              <a:rPr sz="1700" b="0">
                <a:solidFill>
                  <a:srgbClr val="222222"/>
                </a:solidFill>
                <a:latin typeface="Consolas"/>
                <a:cs typeface="Consolas"/>
              </a:rPr>
              <a:t>LOG_ARCHIVE_DEST_2</a:t>
            </a:r>
            <a:r>
              <a:rPr sz="1700" b="0">
                <a:solidFill>
                  <a:srgbClr val="222222"/>
                </a:solidFill>
                <a:latin typeface="맑은 고딕"/>
              </a:rPr>
              <a:t> 를 각각 작성</a:t>
            </a:r>
          </a:p>
          <a:p>
            <a:pPr algn="l">
              <a:spcAft>
                <a:spcPts val="1000"/>
              </a:spcAft>
            </a:pPr>
            <a:r>
              <a:rPr sz="1700" b="0">
                <a:solidFill>
                  <a:srgbClr val="222222"/>
                </a:solidFill>
                <a:latin typeface="맑은 고딕"/>
              </a:rPr>
              <a:t>•  </a:t>
            </a:r>
            <a:r>
              <a:rPr sz="1700" b="0">
                <a:solidFill>
                  <a:srgbClr val="222222"/>
                </a:solidFill>
                <a:latin typeface="Consolas"/>
                <a:cs typeface="Consolas"/>
              </a:rPr>
              <a:t>FAL_SERVER</a:t>
            </a:r>
            <a:r>
              <a:rPr sz="1700" b="0">
                <a:solidFill>
                  <a:srgbClr val="222222"/>
                </a:solidFill>
                <a:latin typeface="맑은 고딕"/>
              </a:rPr>
              <a:t> 를 서로 가리키게 설정</a:t>
            </a:r>
          </a:p>
          <a:p>
            <a:pPr algn="l">
              <a:spcAft>
                <a:spcPts val="1000"/>
              </a:spcAft>
            </a:pPr>
            <a:r>
              <a:rPr sz="1700" b="0">
                <a:solidFill>
                  <a:srgbClr val="222222"/>
                </a:solidFill>
                <a:latin typeface="맑은 고딕"/>
              </a:rPr>
              <a:t>•  </a:t>
            </a:r>
            <a:r>
              <a:rPr sz="1700" b="0">
                <a:solidFill>
                  <a:srgbClr val="222222"/>
                </a:solidFill>
                <a:latin typeface="Consolas"/>
                <a:cs typeface="Consolas"/>
              </a:rPr>
              <a:t>LOG_ARCHIVE_CONFIG</a:t>
            </a:r>
            <a:r>
              <a:rPr sz="1700" b="0">
                <a:solidFill>
                  <a:srgbClr val="222222"/>
                </a:solidFill>
                <a:latin typeface="맑은 고딕"/>
              </a:rPr>
              <a:t> 목록을 동기화</a:t>
            </a:r>
          </a:p>
          <a:p>
            <a:pPr algn="l">
              <a:spcAft>
                <a:spcPts val="1000"/>
              </a:spcAft>
            </a:pPr>
            <a:r>
              <a:rPr sz="1700" b="0">
                <a:solidFill>
                  <a:srgbClr val="222222"/>
                </a:solidFill>
                <a:latin typeface="맑은 고딕"/>
              </a:rPr>
              <a:t>•  실측에서 발견 — chicago </a:t>
            </a:r>
            <a:r>
              <a:rPr sz="1700" b="0">
                <a:solidFill>
                  <a:srgbClr val="222222"/>
                </a:solidFill>
                <a:latin typeface="Consolas"/>
                <a:cs typeface="Consolas"/>
              </a:rPr>
              <a:t>online_logfiles</a:t>
            </a:r>
            <a:r>
              <a:rPr sz="1700" b="0">
                <a:solidFill>
                  <a:srgbClr val="222222"/>
                </a:solidFill>
                <a:latin typeface="맑은 고딕"/>
              </a:rPr>
              <a:t> / boston </a:t>
            </a:r>
            <a:r>
              <a:rPr sz="1700" b="0">
                <a:solidFill>
                  <a:srgbClr val="222222"/>
                </a:solidFill>
                <a:latin typeface="Consolas"/>
                <a:cs typeface="Consolas"/>
              </a:rPr>
              <a:t>online_logfile</a:t>
            </a:r>
          </a:p>
          <a:p>
            <a:pPr algn="l">
              <a:spcAft>
                <a:spcPts val="1000"/>
              </a:spcAft>
            </a:pPr>
            <a:r>
              <a:rPr sz="1700" b="0">
                <a:solidFill>
                  <a:srgbClr val="222222"/>
                </a:solidFill>
                <a:latin typeface="맑은 고딕"/>
              </a:rPr>
              <a:t>•  동작에는 지장 없지만 </a:t>
            </a:r>
            <a:r>
              <a:rPr sz="1700" b="1">
                <a:solidFill>
                  <a:srgbClr val="222222"/>
                </a:solidFill>
                <a:latin typeface="맑은 고딕"/>
              </a:rPr>
              <a:t>사람이 적었다는 흔적</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구성 요소 셋</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누가 무엇을 하는가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1">
                <a:solidFill>
                  <a:srgbClr val="222222"/>
                </a:solidFill>
                <a:latin typeface="맑은 고딕"/>
              </a:rPr>
              <a:t>DMON</a:t>
            </a:r>
            <a:r>
              <a:rPr sz="1700" b="0">
                <a:solidFill>
                  <a:srgbClr val="222222"/>
                </a:solidFill>
                <a:latin typeface="맑은 고딕"/>
              </a:rPr>
              <a:t> — 각 DB 의 백그라운드 프로세스. 구성을 유지하고 상대와 통신</a:t>
            </a:r>
          </a:p>
          <a:p>
            <a:pPr algn="l">
              <a:spcAft>
                <a:spcPts val="1000"/>
              </a:spcAft>
            </a:pPr>
            <a:r>
              <a:rPr sz="1700" b="0">
                <a:solidFill>
                  <a:srgbClr val="222222"/>
                </a:solidFill>
                <a:latin typeface="맑은 고딕"/>
              </a:rPr>
              <a:t>•  </a:t>
            </a:r>
            <a:r>
              <a:rPr sz="1700" b="1">
                <a:solidFill>
                  <a:srgbClr val="222222"/>
                </a:solidFill>
                <a:latin typeface="맑은 고딕"/>
              </a:rPr>
              <a:t>구성 파일</a:t>
            </a:r>
            <a:r>
              <a:rPr sz="1700" b="0">
                <a:solidFill>
                  <a:srgbClr val="222222"/>
                </a:solidFill>
                <a:latin typeface="맑은 고딕"/>
              </a:rPr>
              <a:t> — 노드당 두 벌. </a:t>
            </a:r>
            <a:r>
              <a:rPr sz="1700" b="0">
                <a:solidFill>
                  <a:srgbClr val="222222"/>
                </a:solidFill>
                <a:latin typeface="Consolas"/>
                <a:cs typeface="Consolas"/>
              </a:rPr>
              <a:t>dr1&lt;이름&gt;.dat</a:t>
            </a:r>
            <a:r>
              <a:rPr sz="1700" b="0">
                <a:solidFill>
                  <a:srgbClr val="222222"/>
                </a:solidFill>
                <a:latin typeface="맑은 고딕"/>
              </a:rPr>
              <a:t> / </a:t>
            </a:r>
            <a:r>
              <a:rPr sz="1700" b="0">
                <a:solidFill>
                  <a:srgbClr val="222222"/>
                </a:solidFill>
                <a:latin typeface="Consolas"/>
                <a:cs typeface="Consolas"/>
              </a:rPr>
              <a:t>dr2&lt;이름&gt;.dat</a:t>
            </a:r>
          </a:p>
          <a:p>
            <a:pPr algn="l">
              <a:spcAft>
                <a:spcPts val="1000"/>
              </a:spcAft>
            </a:pPr>
            <a:r>
              <a:rPr sz="1700" b="0">
                <a:solidFill>
                  <a:srgbClr val="222222"/>
                </a:solidFill>
                <a:latin typeface="맑은 고딕"/>
              </a:rPr>
              <a:t>•  </a:t>
            </a:r>
            <a:r>
              <a:rPr sz="1700" b="1">
                <a:solidFill>
                  <a:srgbClr val="222222"/>
                </a:solidFill>
                <a:latin typeface="맑은 고딕"/>
              </a:rPr>
              <a:t>DGMGRL</a:t>
            </a:r>
            <a:r>
              <a:rPr sz="1700" b="0">
                <a:solidFill>
                  <a:srgbClr val="222222"/>
                </a:solidFill>
                <a:latin typeface="맑은 고딕"/>
              </a:rPr>
              <a:t> — 명령줄 도구</a:t>
            </a:r>
          </a:p>
          <a:p>
            <a:pPr algn="l">
              <a:spcAft>
                <a:spcPts val="1000"/>
              </a:spcAft>
            </a:pPr>
            <a:r>
              <a:rPr sz="1700" b="0">
                <a:solidFill>
                  <a:srgbClr val="222222"/>
                </a:solidFill>
                <a:latin typeface="맑은 고딕"/>
              </a:rPr>
              <a:t>•  </a:t>
            </a:r>
            <a:r>
              <a:rPr sz="1700" b="1">
                <a:solidFill>
                  <a:srgbClr val="222222"/>
                </a:solidFill>
                <a:latin typeface="맑은 고딕"/>
              </a:rPr>
              <a:t>DGMGRL 은 전달만 하고 실제 작업은 DMON 이 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전제 조건</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파라미터 셋</a:t>
            </a:r>
          </a:p>
          <a:p>
            <a:pPr algn="l">
              <a:spcAft>
                <a:spcPts val="800"/>
              </a:spcAft>
            </a:pPr>
            <a:r>
              <a:rPr sz="1600" b="0">
                <a:solidFill>
                  <a:srgbClr val="FFFFFF"/>
                </a:solidFill>
                <a:latin typeface="맑은 고딕"/>
              </a:rPr>
              <a:t>•  정적 등록</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파라미터는 셋뿐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기본값은 꺼짐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dg_broker_start</a:t>
            </a:r>
            <a:r>
              <a:rPr sz="1700" b="0">
                <a:solidFill>
                  <a:srgbClr val="222222"/>
                </a:solidFill>
                <a:latin typeface="맑은 고딕"/>
              </a:rPr>
              <a:t> = </a:t>
            </a:r>
            <a:r>
              <a:rPr sz="1700" b="1">
                <a:solidFill>
                  <a:srgbClr val="222222"/>
                </a:solidFill>
                <a:latin typeface="맑은 고딕"/>
              </a:rPr>
              <a:t>FALSE</a:t>
            </a:r>
          </a:p>
          <a:p>
            <a:pPr algn="l">
              <a:spcAft>
                <a:spcPts val="1000"/>
              </a:spcAft>
            </a:pPr>
            <a:r>
              <a:rPr sz="1700" b="0">
                <a:solidFill>
                  <a:srgbClr val="222222"/>
                </a:solidFill>
                <a:latin typeface="맑은 고딕"/>
              </a:rPr>
              <a:t>•  </a:t>
            </a:r>
            <a:r>
              <a:rPr sz="1700" b="0">
                <a:solidFill>
                  <a:srgbClr val="222222"/>
                </a:solidFill>
                <a:latin typeface="Consolas"/>
                <a:cs typeface="Consolas"/>
              </a:rPr>
              <a:t>dg_broker_config_file1</a:t>
            </a:r>
            <a:r>
              <a:rPr sz="1700" b="0">
                <a:solidFill>
                  <a:srgbClr val="222222"/>
                </a:solidFill>
                <a:latin typeface="맑은 고딕"/>
              </a:rPr>
              <a:t> = </a:t>
            </a:r>
            <a:r>
              <a:rPr sz="1700" b="0">
                <a:solidFill>
                  <a:srgbClr val="222222"/>
                </a:solidFill>
                <a:latin typeface="Consolas"/>
                <a:cs typeface="Consolas"/>
              </a:rPr>
              <a:t>.../dbs/dr1chicago.dat</a:t>
            </a:r>
          </a:p>
          <a:p>
            <a:pPr algn="l">
              <a:spcAft>
                <a:spcPts val="1000"/>
              </a:spcAft>
            </a:pPr>
            <a:r>
              <a:rPr sz="1700" b="0">
                <a:solidFill>
                  <a:srgbClr val="222222"/>
                </a:solidFill>
                <a:latin typeface="맑은 고딕"/>
              </a:rPr>
              <a:t>•  </a:t>
            </a:r>
            <a:r>
              <a:rPr sz="1700" b="0">
                <a:solidFill>
                  <a:srgbClr val="222222"/>
                </a:solidFill>
                <a:latin typeface="Consolas"/>
                <a:cs typeface="Consolas"/>
              </a:rPr>
              <a:t>dg_broker_config_file2</a:t>
            </a:r>
            <a:r>
              <a:rPr sz="1700" b="0">
                <a:solidFill>
                  <a:srgbClr val="222222"/>
                </a:solidFill>
                <a:latin typeface="맑은 고딕"/>
              </a:rPr>
              <a:t> = </a:t>
            </a:r>
            <a:r>
              <a:rPr sz="1700" b="0">
                <a:solidFill>
                  <a:srgbClr val="222222"/>
                </a:solidFill>
                <a:latin typeface="Consolas"/>
                <a:cs typeface="Consolas"/>
              </a:rPr>
              <a:t>.../dbs/dr2chicago.dat</a:t>
            </a:r>
          </a:p>
          <a:p>
            <a:pPr algn="l">
              <a:spcAft>
                <a:spcPts val="1000"/>
              </a:spcAft>
            </a:pPr>
            <a:r>
              <a:rPr sz="1700" b="0">
                <a:solidFill>
                  <a:srgbClr val="222222"/>
                </a:solidFill>
                <a:latin typeface="맑은 고딕"/>
              </a:rPr>
              <a:t>•  두 벌인 이유는 </a:t>
            </a:r>
            <a:r>
              <a:rPr sz="1700" b="1">
                <a:solidFill>
                  <a:srgbClr val="222222"/>
                </a:solidFill>
                <a:latin typeface="맑은 고딕"/>
              </a:rPr>
              <a:t>다중화</a:t>
            </a:r>
            <a:r>
              <a:rPr sz="1700" b="0">
                <a:solidFill>
                  <a:srgbClr val="222222"/>
                </a:solidFill>
                <a:latin typeface="맑은 고딕"/>
              </a:rPr>
              <a:t>. 실무에서는 서로 다른 디스크에</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Consolas"/>
                <a:cs typeface="Consolas"/>
              </a:rPr>
              <a:t>_DGMGRL</a:t>
            </a:r>
            <a:r>
              <a:rPr sz="2600" b="1">
                <a:solidFill>
                  <a:srgbClr val="FFFFFF"/>
                </a:solidFill>
                <a:latin typeface="맑은 고딕"/>
              </a:rPr>
              <a:t> 정적 등록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Broker 에서는 필수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GLOBAL_DBNAME = chicago_DGMGRL</a:t>
            </a:r>
            <a:r>
              <a:rPr sz="1700" b="0">
                <a:solidFill>
                  <a:srgbClr val="222222"/>
                </a:solidFill>
                <a:latin typeface="맑은 고딕"/>
              </a:rPr>
              <a:t> 을 </a:t>
            </a:r>
            <a:r>
              <a:rPr sz="1700" b="0">
                <a:solidFill>
                  <a:srgbClr val="222222"/>
                </a:solidFill>
                <a:latin typeface="Consolas"/>
                <a:cs typeface="Consolas"/>
              </a:rPr>
              <a:t>listener.ora</a:t>
            </a:r>
            <a:r>
              <a:rPr sz="1700" b="0">
                <a:solidFill>
                  <a:srgbClr val="222222"/>
                </a:solidFill>
                <a:latin typeface="맑은 고딕"/>
              </a:rPr>
              <a:t> 에</a:t>
            </a:r>
          </a:p>
          <a:p>
            <a:pPr algn="l">
              <a:spcAft>
                <a:spcPts val="1000"/>
              </a:spcAft>
            </a:pPr>
            <a:r>
              <a:rPr sz="1700" b="0">
                <a:solidFill>
                  <a:srgbClr val="222222"/>
                </a:solidFill>
                <a:latin typeface="맑은 고딕"/>
              </a:rPr>
              <a:t>•  </a:t>
            </a:r>
            <a:r>
              <a:rPr sz="1700" b="0">
                <a:solidFill>
                  <a:srgbClr val="222222"/>
                </a:solidFill>
                <a:latin typeface="Consolas"/>
                <a:cs typeface="Consolas"/>
              </a:rPr>
              <a:t>lsnrctl status</a:t>
            </a:r>
            <a:r>
              <a:rPr sz="1700" b="0">
                <a:solidFill>
                  <a:srgbClr val="222222"/>
                </a:solidFill>
                <a:latin typeface="맑은 고딕"/>
              </a:rPr>
              <a:t> 에 </a:t>
            </a:r>
            <a:r>
              <a:rPr sz="1700" b="1">
                <a:solidFill>
                  <a:srgbClr val="222222"/>
                </a:solidFill>
                <a:latin typeface="Consolas"/>
                <a:cs typeface="Consolas"/>
              </a:rPr>
              <a:t>status UNKNOWN</a:t>
            </a:r>
            <a:r>
              <a:rPr sz="1700" b="0">
                <a:solidFill>
                  <a:srgbClr val="222222"/>
                </a:solidFill>
                <a:latin typeface="맑은 고딕"/>
              </a:rPr>
              <a:t> 으로 보인다</a:t>
            </a:r>
          </a:p>
          <a:p>
            <a:pPr algn="l">
              <a:spcAft>
                <a:spcPts val="1000"/>
              </a:spcAft>
            </a:pPr>
            <a:r>
              <a:rPr sz="1700" b="0">
                <a:solidFill>
                  <a:srgbClr val="222222"/>
                </a:solidFill>
                <a:latin typeface="맑은 고딕"/>
              </a:rPr>
              <a:t>•  이유 — 역할 전환 중 </a:t>
            </a:r>
            <a:r>
              <a:rPr sz="1700" b="1">
                <a:solidFill>
                  <a:srgbClr val="222222"/>
                </a:solidFill>
                <a:latin typeface="맑은 고딕"/>
              </a:rPr>
              <a:t>재기동 구간에는 동적 등록이 없다</a:t>
            </a:r>
          </a:p>
          <a:p>
            <a:pPr algn="l">
              <a:spcAft>
                <a:spcPts val="1000"/>
              </a:spcAft>
            </a:pPr>
            <a:r>
              <a:rPr sz="1700" b="0">
                <a:solidFill>
                  <a:srgbClr val="222222"/>
                </a:solidFill>
                <a:latin typeface="맑은 고딕"/>
              </a:rPr>
              <a:t>•  실제 사용처 — </a:t>
            </a:r>
            <a:r>
              <a:rPr sz="1700" b="0">
                <a:solidFill>
                  <a:srgbClr val="222222"/>
                </a:solidFill>
                <a:latin typeface="Consolas"/>
                <a:cs typeface="Consolas"/>
              </a:rPr>
              <a:t>StaticConnectIdentifier</a:t>
            </a:r>
            <a:r>
              <a:rPr sz="1700" b="0">
                <a:solidFill>
                  <a:srgbClr val="222222"/>
                </a:solidFill>
                <a:latin typeface="맑은 고딕"/>
              </a:rPr>
              <a:t> 속성에 그대로 들어 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오류가 단계를 알려 준다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 가지 증상</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접속조차 안 된다 → </a:t>
            </a:r>
            <a:r>
              <a:rPr sz="1700" b="1">
                <a:solidFill>
                  <a:srgbClr val="222222"/>
                </a:solidFill>
                <a:latin typeface="맑은 고딕"/>
              </a:rPr>
              <a:t>Oracle Net 문제</a:t>
            </a:r>
            <a:r>
              <a:rPr sz="1700" b="0">
                <a:solidFill>
                  <a:srgbClr val="222222"/>
                </a:solidFill>
                <a:latin typeface="맑은 고딕"/>
              </a:rPr>
              <a:t>. </a:t>
            </a:r>
            <a:r>
              <a:rPr sz="1700" b="0">
                <a:solidFill>
                  <a:srgbClr val="222222"/>
                </a:solidFill>
                <a:latin typeface="Consolas"/>
                <a:cs typeface="Consolas"/>
              </a:rPr>
              <a:t>tnsping</a:t>
            </a:r>
            <a:r>
              <a:rPr sz="1700" b="0">
                <a:solidFill>
                  <a:srgbClr val="222222"/>
                </a:solidFill>
                <a:latin typeface="맑은 고딕"/>
              </a:rPr>
              <a:t> 부터</a:t>
            </a:r>
          </a:p>
          <a:p>
            <a:pPr algn="l">
              <a:spcAft>
                <a:spcPts val="1000"/>
              </a:spcAft>
            </a:pPr>
            <a:r>
              <a:rPr sz="1700" b="0">
                <a:solidFill>
                  <a:srgbClr val="222222"/>
                </a:solidFill>
                <a:latin typeface="맑은 고딕"/>
              </a:rPr>
              <a:t>•  </a:t>
            </a:r>
            <a:r>
              <a:rPr sz="1700" b="0">
                <a:solidFill>
                  <a:srgbClr val="222222"/>
                </a:solidFill>
                <a:latin typeface="Consolas"/>
                <a:cs typeface="Consolas"/>
              </a:rPr>
              <a:t>Connected</a:t>
            </a:r>
            <a:r>
              <a:rPr sz="1700" b="0">
                <a:solidFill>
                  <a:srgbClr val="222222"/>
                </a:solidFill>
                <a:latin typeface="맑은 고딕"/>
              </a:rPr>
              <a:t> 후 </a:t>
            </a:r>
            <a:r>
              <a:rPr sz="1700" b="1">
                <a:solidFill>
                  <a:srgbClr val="222222"/>
                </a:solidFill>
                <a:latin typeface="맑은 고딕"/>
              </a:rPr>
              <a:t>ORA-16525</a:t>
            </a:r>
            <a:r>
              <a:rPr sz="1700" b="0">
                <a:solidFill>
                  <a:srgbClr val="222222"/>
                </a:solidFill>
                <a:latin typeface="맑은 고딕"/>
              </a:rPr>
              <a:t> → DMON 이 없다</a:t>
            </a:r>
          </a:p>
          <a:p>
            <a:pPr algn="l">
              <a:spcAft>
                <a:spcPts val="1000"/>
              </a:spcAft>
            </a:pPr>
            <a:r>
              <a:rPr sz="1700" b="0">
                <a:solidFill>
                  <a:srgbClr val="222222"/>
                </a:solidFill>
                <a:latin typeface="맑은 고딕"/>
              </a:rPr>
              <a:t>•  </a:t>
            </a:r>
            <a:r>
              <a:rPr sz="1700" b="0">
                <a:solidFill>
                  <a:srgbClr val="222222"/>
                </a:solidFill>
                <a:latin typeface="Consolas"/>
                <a:cs typeface="Consolas"/>
              </a:rPr>
              <a:t>Connected</a:t>
            </a:r>
            <a:r>
              <a:rPr sz="1700" b="0">
                <a:solidFill>
                  <a:srgbClr val="222222"/>
                </a:solidFill>
                <a:latin typeface="맑은 고딕"/>
              </a:rPr>
              <a:t> 후 </a:t>
            </a:r>
            <a:r>
              <a:rPr sz="1700" b="1">
                <a:solidFill>
                  <a:srgbClr val="222222"/>
                </a:solidFill>
                <a:latin typeface="맑은 고딕"/>
              </a:rPr>
              <a:t>ORA-16532</a:t>
            </a:r>
            <a:r>
              <a:rPr sz="1700" b="0">
                <a:solidFill>
                  <a:srgbClr val="222222"/>
                </a:solidFill>
                <a:latin typeface="맑은 고딕"/>
              </a:rPr>
              <a:t> → DMON 은 있고 구성이 없다</a:t>
            </a:r>
          </a:p>
          <a:p>
            <a:pPr algn="l">
              <a:spcAft>
                <a:spcPts val="1000"/>
              </a:spcAft>
            </a:pPr>
            <a:r>
              <a:rPr sz="1700" b="0">
                <a:solidFill>
                  <a:srgbClr val="222222"/>
                </a:solidFill>
                <a:latin typeface="맑은 고딕"/>
              </a:rPr>
              <a:t>•  오류가 </a:t>
            </a:r>
            <a:r>
              <a:rPr sz="1700" b="1">
                <a:solidFill>
                  <a:srgbClr val="222222"/>
                </a:solidFill>
                <a:latin typeface="맑은 고딕"/>
              </a:rPr>
              <a:t>바뀌었다면 한 단계 넘어간 것</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Broker 켜기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DMON 이 뜬다</a:t>
            </a:r>
          </a:p>
          <a:p>
            <a:pPr algn="l">
              <a:spcAft>
                <a:spcPts val="800"/>
              </a:spcAft>
            </a:pPr>
            <a:r>
              <a:rPr sz="1600" b="0">
                <a:solidFill>
                  <a:srgbClr val="FFFFFF"/>
                </a:solidFill>
                <a:latin typeface="맑은 고딕"/>
              </a:rPr>
              <a:t>•  아직 아무것도 바뀌지 않는다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켜기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재기동이 필요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ALTER SYSTEM SET dg_broker_start=TRUE SCOPE=BOTH;</a:t>
            </a:r>
            <a:r>
              <a:rPr sz="1700" b="0">
                <a:solidFill>
                  <a:srgbClr val="222222"/>
                </a:solidFill>
                <a:latin typeface="맑은 고딕"/>
              </a:rPr>
              <a:t> — 양쪽</a:t>
            </a:r>
          </a:p>
          <a:p>
            <a:pPr algn="l">
              <a:spcAft>
                <a:spcPts val="1000"/>
              </a:spcAft>
            </a:pPr>
            <a:r>
              <a:rPr sz="1700" b="0">
                <a:solidFill>
                  <a:srgbClr val="222222"/>
                </a:solidFill>
                <a:latin typeface="맑은 고딕"/>
              </a:rPr>
              <a:t>•  </a:t>
            </a:r>
            <a:r>
              <a:rPr sz="1700" b="0">
                <a:solidFill>
                  <a:srgbClr val="222222"/>
                </a:solidFill>
                <a:latin typeface="Consolas"/>
                <a:cs typeface="Consolas"/>
              </a:rPr>
              <a:t>ps -ef | grep dmon</a:t>
            </a:r>
            <a:r>
              <a:rPr sz="1700" b="0">
                <a:solidFill>
                  <a:srgbClr val="222222"/>
                </a:solidFill>
                <a:latin typeface="맑은 고딕"/>
              </a:rPr>
              <a:t> → </a:t>
            </a:r>
            <a:r>
              <a:rPr sz="1700" b="0">
                <a:solidFill>
                  <a:srgbClr val="222222"/>
                </a:solidFill>
                <a:latin typeface="Consolas"/>
                <a:cs typeface="Consolas"/>
              </a:rPr>
              <a:t>ora_dmon_chicago</a:t>
            </a:r>
            <a:r>
              <a:rPr sz="1700" b="0">
                <a:solidFill>
                  <a:srgbClr val="222222"/>
                </a:solidFill>
                <a:latin typeface="맑은 고딕"/>
              </a:rPr>
              <a:t> / </a:t>
            </a:r>
            <a:r>
              <a:rPr sz="1700" b="0">
                <a:solidFill>
                  <a:srgbClr val="222222"/>
                </a:solidFill>
                <a:latin typeface="Consolas"/>
                <a:cs typeface="Consolas"/>
              </a:rPr>
              <a:t>ora_dmon_boston</a:t>
            </a:r>
          </a:p>
          <a:p>
            <a:pPr algn="l">
              <a:spcAft>
                <a:spcPts val="1000"/>
              </a:spcAft>
            </a:pPr>
            <a:r>
              <a:rPr sz="1700" b="0">
                <a:solidFill>
                  <a:srgbClr val="222222"/>
                </a:solidFill>
                <a:latin typeface="맑은 고딕"/>
              </a:rPr>
              <a:t>•  </a:t>
            </a:r>
            <a:r>
              <a:rPr sz="1700" b="0">
                <a:solidFill>
                  <a:srgbClr val="222222"/>
                </a:solidFill>
                <a:latin typeface="Consolas"/>
                <a:cs typeface="Consolas"/>
              </a:rPr>
              <a:t>V$PROCESS</a:t>
            </a:r>
            <a:r>
              <a:rPr sz="1700" b="0">
                <a:solidFill>
                  <a:srgbClr val="222222"/>
                </a:solidFill>
                <a:latin typeface="맑은 고딕"/>
              </a:rPr>
              <a:t> 의 </a:t>
            </a:r>
            <a:r>
              <a:rPr sz="1700" b="0">
                <a:solidFill>
                  <a:srgbClr val="222222"/>
                </a:solidFill>
                <a:latin typeface="Consolas"/>
                <a:cs typeface="Consolas"/>
              </a:rPr>
              <a:t>PNAME</a:t>
            </a:r>
            <a:r>
              <a:rPr sz="1700" b="0">
                <a:solidFill>
                  <a:srgbClr val="222222"/>
                </a:solidFill>
                <a:latin typeface="맑은 고딕"/>
              </a:rPr>
              <a:t> = </a:t>
            </a:r>
            <a:r>
              <a:rPr sz="1700" b="0">
                <a:solidFill>
                  <a:srgbClr val="222222"/>
                </a:solidFill>
                <a:latin typeface="Consolas"/>
                <a:cs typeface="Consolas"/>
              </a:rPr>
              <a:t>DMON</a:t>
            </a:r>
          </a:p>
          <a:p>
            <a:pPr algn="l">
              <a:spcAft>
                <a:spcPts val="1000"/>
              </a:spcAft>
            </a:pPr>
            <a:r>
              <a:rPr sz="1700" b="0">
                <a:solidFill>
                  <a:srgbClr val="222222"/>
                </a:solidFill>
                <a:latin typeface="맑은 고딕"/>
              </a:rPr>
              <a:t>•  구성이 활성화되면 통신용 </a:t>
            </a:r>
            <a:r>
              <a:rPr sz="1700" b="1">
                <a:solidFill>
                  <a:srgbClr val="222222"/>
                </a:solidFill>
                <a:latin typeface="Consolas"/>
                <a:cs typeface="Consolas"/>
              </a:rPr>
              <a:t>NSV2</a:t>
            </a:r>
            <a:r>
              <a:rPr sz="1700" b="0">
                <a:solidFill>
                  <a:srgbClr val="222222"/>
                </a:solidFill>
                <a:latin typeface="맑은 고딕"/>
              </a:rPr>
              <a:t> 도 뜬다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켠 것과 인수한 것은 다르다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아직은 그대로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파라미터가 바뀌지 않았다 — </a:t>
            </a:r>
            <a:r>
              <a:rPr sz="1700" b="0">
                <a:solidFill>
                  <a:srgbClr val="222222"/>
                </a:solidFill>
                <a:latin typeface="Consolas"/>
                <a:cs typeface="Consolas"/>
              </a:rPr>
              <a:t>fal_server</a:t>
            </a:r>
            <a:r>
              <a:rPr sz="1700" b="0">
                <a:solidFill>
                  <a:srgbClr val="222222"/>
                </a:solidFill>
                <a:latin typeface="맑은 고딕"/>
              </a:rPr>
              <a:t> 는 여전히 </a:t>
            </a:r>
            <a:r>
              <a:rPr sz="1700" b="0">
                <a:solidFill>
                  <a:srgbClr val="222222"/>
                </a:solidFill>
                <a:latin typeface="Consolas"/>
                <a:cs typeface="Consolas"/>
              </a:rPr>
              <a:t>boston</a:t>
            </a:r>
          </a:p>
          <a:p>
            <a:pPr algn="l">
              <a:spcAft>
                <a:spcPts val="1000"/>
              </a:spcAft>
            </a:pPr>
            <a:r>
              <a:rPr sz="1700" b="0">
                <a:solidFill>
                  <a:srgbClr val="222222"/>
                </a:solidFill>
                <a:latin typeface="맑은 고딕"/>
              </a:rPr>
              <a:t>•  복제도 그대로 — </a:t>
            </a:r>
            <a:r>
              <a:rPr sz="1700" b="0">
                <a:solidFill>
                  <a:srgbClr val="222222"/>
                </a:solidFill>
                <a:latin typeface="Consolas"/>
                <a:cs typeface="Consolas"/>
              </a:rPr>
              <a:t>MANAGED REAL TIME APPLY</a:t>
            </a:r>
          </a:p>
          <a:p>
            <a:pPr algn="l">
              <a:spcAft>
                <a:spcPts val="1000"/>
              </a:spcAft>
            </a:pPr>
            <a:r>
              <a:rPr sz="1700" b="0">
                <a:solidFill>
                  <a:srgbClr val="222222"/>
                </a:solidFill>
                <a:latin typeface="맑은 고딕"/>
              </a:rPr>
              <a:t>•  </a:t>
            </a:r>
            <a:r>
              <a:rPr sz="1700" b="1">
                <a:solidFill>
                  <a:srgbClr val="222222"/>
                </a:solidFill>
                <a:latin typeface="맑은 고딕"/>
              </a:rPr>
              <a:t>Broker 를 켜는 것 자체는 서비스에 영향이 없다</a:t>
            </a:r>
          </a:p>
          <a:p>
            <a:pPr algn="l">
              <a:spcAft>
                <a:spcPts val="1000"/>
              </a:spcAft>
            </a:pPr>
            <a:r>
              <a:rPr sz="1700" b="0">
                <a:solidFill>
                  <a:srgbClr val="222222"/>
                </a:solidFill>
                <a:latin typeface="맑은 고딕"/>
              </a:rPr>
              <a:t>•  영향을 주는 단계는 뒤의 "목적지 비우기" 하나뿐</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구성 만들기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Primary 부터</a:t>
            </a:r>
          </a:p>
          <a:p>
            <a:pPr algn="l">
              <a:spcAft>
                <a:spcPts val="800"/>
              </a:spcAft>
            </a:pPr>
            <a:r>
              <a:rPr sz="1600" b="0">
                <a:solidFill>
                  <a:srgbClr val="FFFFFF"/>
                </a:solidFill>
                <a:latin typeface="맑은 고딕"/>
              </a:rPr>
              <a:t>•  ORA-16698 이라는 관문</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CREATE CONFIGURATION</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 부분으로 읽는다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'dg_chicago'</a:t>
            </a:r>
            <a:r>
              <a:rPr sz="1700" b="0">
                <a:solidFill>
                  <a:srgbClr val="222222"/>
                </a:solidFill>
                <a:latin typeface="맑은 고딕"/>
              </a:rPr>
              <a:t> — 구성의 이름. 아무거나</a:t>
            </a:r>
          </a:p>
          <a:p>
            <a:pPr algn="l">
              <a:spcAft>
                <a:spcPts val="1000"/>
              </a:spcAft>
            </a:pPr>
            <a:r>
              <a:rPr sz="1700" b="0">
                <a:solidFill>
                  <a:srgbClr val="222222"/>
                </a:solidFill>
                <a:latin typeface="맑은 고딕"/>
              </a:rPr>
              <a:t>•  </a:t>
            </a:r>
            <a:r>
              <a:rPr sz="1700" b="0">
                <a:solidFill>
                  <a:srgbClr val="222222"/>
                </a:solidFill>
                <a:latin typeface="Consolas"/>
                <a:cs typeface="Consolas"/>
              </a:rPr>
              <a:t>primary database is 'chicago'</a:t>
            </a:r>
            <a:r>
              <a:rPr sz="1700" b="0">
                <a:solidFill>
                  <a:srgbClr val="222222"/>
                </a:solidFill>
                <a:latin typeface="맑은 고딕"/>
              </a:rPr>
              <a:t> — </a:t>
            </a:r>
            <a:r>
              <a:rPr sz="1700" b="1">
                <a:solidFill>
                  <a:srgbClr val="222222"/>
                </a:solidFill>
                <a:latin typeface="맑은 고딕"/>
              </a:rPr>
              <a:t>DB_UNIQUE_NAME</a:t>
            </a:r>
          </a:p>
          <a:p>
            <a:pPr algn="l">
              <a:spcAft>
                <a:spcPts val="1000"/>
              </a:spcAft>
            </a:pPr>
            <a:r>
              <a:rPr sz="1700" b="0">
                <a:solidFill>
                  <a:srgbClr val="222222"/>
                </a:solidFill>
                <a:latin typeface="맑은 고딕"/>
              </a:rPr>
              <a:t>•  </a:t>
            </a:r>
            <a:r>
              <a:rPr sz="1700" b="0">
                <a:solidFill>
                  <a:srgbClr val="222222"/>
                </a:solidFill>
                <a:latin typeface="Consolas"/>
                <a:cs typeface="Consolas"/>
              </a:rPr>
              <a:t>connect identifier is chicago</a:t>
            </a:r>
            <a:r>
              <a:rPr sz="1700" b="0">
                <a:solidFill>
                  <a:srgbClr val="222222"/>
                </a:solidFill>
                <a:latin typeface="맑은 고딕"/>
              </a:rPr>
              <a:t> — </a:t>
            </a:r>
            <a:r>
              <a:rPr sz="1700" b="1">
                <a:solidFill>
                  <a:srgbClr val="222222"/>
                </a:solidFill>
                <a:latin typeface="맑은 고딕"/>
              </a:rPr>
              <a:t>tnsnames 별칭</a:t>
            </a:r>
          </a:p>
          <a:p>
            <a:pPr algn="l">
              <a:spcAft>
                <a:spcPts val="1000"/>
              </a:spcAft>
            </a:pPr>
            <a:r>
              <a:rPr sz="1700" b="0">
                <a:solidFill>
                  <a:srgbClr val="222222"/>
                </a:solidFill>
                <a:latin typeface="맑은 고딕"/>
              </a:rPr>
              <a:t>•  만든 직후 </a:t>
            </a:r>
            <a:r>
              <a:rPr sz="1700" b="0">
                <a:solidFill>
                  <a:srgbClr val="222222"/>
                </a:solidFill>
                <a:latin typeface="Consolas"/>
                <a:cs typeface="Consolas"/>
              </a:rPr>
              <a:t>Configuration Status: DISABLED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ORA-16698</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손으로 해 둔 설정이 걸림돌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ADD DATABASE 'boston'</a:t>
            </a:r>
            <a:r>
              <a:rPr sz="1700" b="0">
                <a:solidFill>
                  <a:srgbClr val="222222"/>
                </a:solidFill>
                <a:latin typeface="맑은 고딕"/>
              </a:rPr>
              <a:t> → </a:t>
            </a:r>
            <a:r>
              <a:rPr sz="1700" b="1">
                <a:solidFill>
                  <a:srgbClr val="222222"/>
                </a:solidFill>
                <a:latin typeface="Consolas"/>
                <a:cs typeface="Consolas"/>
              </a:rPr>
              <a:t>member has a LOG_ARCHIVE_DEST_n parameter with SERVICE attribute set</a:t>
            </a:r>
          </a:p>
          <a:p>
            <a:pPr algn="l">
              <a:spcAft>
                <a:spcPts val="1000"/>
              </a:spcAft>
            </a:pPr>
            <a:r>
              <a:rPr sz="1700" b="0">
                <a:solidFill>
                  <a:srgbClr val="222222"/>
                </a:solidFill>
                <a:latin typeface="맑은 고딕"/>
              </a:rPr>
              <a:t>•  boston 의 </a:t>
            </a:r>
            <a:r>
              <a:rPr sz="1700" b="0">
                <a:solidFill>
                  <a:srgbClr val="222222"/>
                </a:solidFill>
                <a:latin typeface="Consolas"/>
                <a:cs typeface="Consolas"/>
              </a:rPr>
              <a:t>log_archive_dest_2</a:t>
            </a:r>
            <a:r>
              <a:rPr sz="1700" b="0">
                <a:solidFill>
                  <a:srgbClr val="222222"/>
                </a:solidFill>
                <a:latin typeface="맑은 고딕"/>
              </a:rPr>
              <a:t> 는 5장 DUPLICATE 가 설정한 것</a:t>
            </a:r>
          </a:p>
          <a:p>
            <a:pPr algn="l">
              <a:spcAft>
                <a:spcPts val="1000"/>
              </a:spcAft>
            </a:pPr>
            <a:r>
              <a:rPr sz="1700" b="0">
                <a:solidFill>
                  <a:srgbClr val="222222"/>
                </a:solidFill>
                <a:latin typeface="맑은 고딕"/>
              </a:rPr>
              <a:t>•  </a:t>
            </a:r>
            <a:r>
              <a:rPr sz="1700" b="1">
                <a:solidFill>
                  <a:srgbClr val="222222"/>
                </a:solidFill>
                <a:latin typeface="맑은 고딕"/>
              </a:rPr>
              <a:t>잘못된 값이 아니다.</a:t>
            </a:r>
            <a:r>
              <a:rPr sz="1700" b="0">
                <a:solidFill>
                  <a:srgbClr val="222222"/>
                </a:solidFill>
                <a:latin typeface="맑은 고딕"/>
              </a:rPr>
              <a:t> Broker 가 그 자리를 요구할 뿐</a:t>
            </a:r>
          </a:p>
          <a:p>
            <a:pPr algn="l">
              <a:spcAft>
                <a:spcPts val="1000"/>
              </a:spcAft>
            </a:pPr>
            <a:r>
              <a:rPr sz="1700" b="0">
                <a:solidFill>
                  <a:srgbClr val="222222"/>
                </a:solidFill>
                <a:latin typeface="맑은 고딕"/>
              </a:rPr>
              <a:t>•  원칙 — </a:t>
            </a:r>
            <a:r>
              <a:rPr sz="1700" b="1">
                <a:solidFill>
                  <a:srgbClr val="222222"/>
                </a:solidFill>
                <a:latin typeface="맑은 고딕"/>
              </a:rPr>
              <a:t>"내가 관리하는 것은 내가 만든다"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조치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양쪽을 비운다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ALTER SYSTEM SET log_archive_dest_2='' SCOPE=BOTH;</a:t>
            </a:r>
            <a:r>
              <a:rPr sz="1700" b="0">
                <a:solidFill>
                  <a:srgbClr val="222222"/>
                </a:solidFill>
                <a:latin typeface="맑은 고딕"/>
              </a:rPr>
              <a:t> — </a:t>
            </a:r>
            <a:r>
              <a:rPr sz="1700" b="1">
                <a:solidFill>
                  <a:srgbClr val="222222"/>
                </a:solidFill>
                <a:latin typeface="맑은 고딕"/>
              </a:rPr>
              <a:t>양쪽 모두</a:t>
            </a:r>
          </a:p>
          <a:p>
            <a:pPr algn="l">
              <a:spcAft>
                <a:spcPts val="1000"/>
              </a:spcAft>
            </a:pPr>
            <a:r>
              <a:rPr sz="1700" b="0">
                <a:solidFill>
                  <a:srgbClr val="222222"/>
                </a:solidFill>
                <a:latin typeface="맑은 고딕"/>
              </a:rPr>
              <a:t>•  1번(로컬 아카이브)은 </a:t>
            </a:r>
            <a:r>
              <a:rPr sz="1700" b="0">
                <a:solidFill>
                  <a:srgbClr val="222222"/>
                </a:solidFill>
                <a:latin typeface="Consolas"/>
                <a:cs typeface="Consolas"/>
              </a:rPr>
              <a:t>SERVICE</a:t>
            </a:r>
            <a:r>
              <a:rPr sz="1700" b="0">
                <a:solidFill>
                  <a:srgbClr val="222222"/>
                </a:solidFill>
                <a:latin typeface="맑은 고딕"/>
              </a:rPr>
              <a:t> 속성이 없으므로 그대로</a:t>
            </a:r>
          </a:p>
          <a:p>
            <a:pPr algn="l">
              <a:spcAft>
                <a:spcPts val="1000"/>
              </a:spcAft>
            </a:pPr>
            <a:r>
              <a:rPr sz="1700" b="0">
                <a:solidFill>
                  <a:srgbClr val="222222"/>
                </a:solidFill>
                <a:latin typeface="맑은 고딕"/>
              </a:rPr>
              <a:t>•  </a:t>
            </a:r>
            <a:r>
              <a:rPr sz="1700" b="1">
                <a:solidFill>
                  <a:srgbClr val="222222"/>
                </a:solidFill>
                <a:latin typeface="맑은 고딕"/>
              </a:rPr>
              <a:t>이 순간 전송이 끊긴다</a:t>
            </a:r>
            <a:r>
              <a:rPr sz="1700" b="0">
                <a:solidFill>
                  <a:srgbClr val="222222"/>
                </a:solidFill>
                <a:latin typeface="맑은 고딕"/>
              </a:rPr>
              <a:t> — 이 장의 유일한 서비스 영향 구간</a:t>
            </a:r>
          </a:p>
          <a:p>
            <a:pPr algn="l">
              <a:spcAft>
                <a:spcPts val="1000"/>
              </a:spcAft>
            </a:pPr>
            <a:r>
              <a:rPr sz="1700" b="0">
                <a:solidFill>
                  <a:srgbClr val="222222"/>
                </a:solidFill>
                <a:latin typeface="맑은 고딕"/>
              </a:rPr>
              <a:t>•  리두는 Primary 에 남아 있다가 목적지가 생기면 따라간다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활성화 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ORA-16905 는 오류가 아니다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boston - Physical standby database </a:t>
            </a:r>
            <a:r>
              <a:rPr sz="1700" b="1">
                <a:solidFill>
                  <a:srgbClr val="222222"/>
                </a:solidFill>
                <a:latin typeface="Consolas"/>
                <a:cs typeface="Consolas"/>
              </a:rPr>
              <a:t>(disabled)</a:t>
            </a:r>
          </a:p>
          <a:p>
            <a:pPr algn="l">
              <a:spcAft>
                <a:spcPts val="1000"/>
              </a:spcAft>
            </a:pPr>
            <a:r>
              <a:rPr sz="1700" b="0">
                <a:solidFill>
                  <a:srgbClr val="222222"/>
                </a:solidFill>
                <a:latin typeface="맑은 고딕"/>
              </a:rPr>
              <a:t>•  </a:t>
            </a:r>
            <a:r>
              <a:rPr sz="1700" b="0">
                <a:solidFill>
                  <a:srgbClr val="222222"/>
                </a:solidFill>
                <a:latin typeface="Consolas"/>
                <a:cs typeface="Consolas"/>
              </a:rPr>
              <a:t>ORA-16905: The member was not enabled yet.</a:t>
            </a:r>
          </a:p>
          <a:p>
            <a:pPr algn="l">
              <a:spcAft>
                <a:spcPts val="1000"/>
              </a:spcAft>
            </a:pPr>
            <a:r>
              <a:rPr sz="1700" b="0">
                <a:solidFill>
                  <a:srgbClr val="222222"/>
                </a:solidFill>
                <a:latin typeface="맑은 고딕"/>
              </a:rPr>
              <a:t>•  그런데 </a:t>
            </a:r>
            <a:r>
              <a:rPr sz="1700" b="0">
                <a:solidFill>
                  <a:srgbClr val="222222"/>
                </a:solidFill>
                <a:latin typeface="Consolas"/>
                <a:cs typeface="Consolas"/>
              </a:rPr>
              <a:t>Configuration Status: SUCCESS</a:t>
            </a:r>
          </a:p>
          <a:p>
            <a:pPr algn="l">
              <a:spcAft>
                <a:spcPts val="1000"/>
              </a:spcAft>
            </a:pPr>
            <a:r>
              <a:rPr sz="1700" b="0">
                <a:solidFill>
                  <a:srgbClr val="222222"/>
                </a:solidFill>
                <a:latin typeface="맑은 고딕"/>
              </a:rPr>
              <a:t>•  </a:t>
            </a:r>
            <a:r>
              <a:rPr sz="1700" b="1">
                <a:solidFill>
                  <a:srgbClr val="222222"/>
                </a:solidFill>
                <a:latin typeface="맑은 고딕"/>
              </a:rPr>
              <a:t>구성 상태와 멤버 상태가 따로 판정된다</a:t>
            </a:r>
          </a:p>
          <a:p>
            <a:pPr algn="l">
              <a:spcAft>
                <a:spcPts val="1000"/>
              </a:spcAft>
            </a:pPr>
            <a:r>
              <a:rPr sz="1700" b="0">
                <a:solidFill>
                  <a:srgbClr val="222222"/>
                </a:solidFill>
                <a:latin typeface="맑은 고딕"/>
              </a:rPr>
              <a:t>•  들여쓰기가 </a:t>
            </a:r>
            <a:r>
              <a:rPr sz="1700" b="1">
                <a:solidFill>
                  <a:srgbClr val="222222"/>
                </a:solidFill>
                <a:latin typeface="맑은 고딕"/>
              </a:rPr>
              <a:t>리두 경로</a:t>
            </a:r>
            <a:r>
              <a:rPr sz="1700" b="0">
                <a:solidFill>
                  <a:srgbClr val="222222"/>
                </a:solidFill>
                <a:latin typeface="맑은 고딕"/>
              </a:rPr>
              <a:t>를 나타낸다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Broker 가 인수한 것</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파라미터가 다시 쓰인다</a:t>
            </a:r>
          </a:p>
          <a:p>
            <a:pPr algn="l">
              <a:spcAft>
                <a:spcPts val="800"/>
              </a:spcAft>
            </a:pPr>
            <a:r>
              <a:rPr sz="1600" b="0">
                <a:solidFill>
                  <a:srgbClr val="FFFFFF"/>
                </a:solidFill>
                <a:latin typeface="맑은 고딕"/>
              </a:rPr>
              <a:t>•  구성 파일과 로그</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목적지가 다시 쓰였다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모든 속성을 명시한다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사람 — </a:t>
            </a:r>
            <a:r>
              <a:rPr sz="1700" b="0">
                <a:solidFill>
                  <a:srgbClr val="222222"/>
                </a:solidFill>
                <a:latin typeface="Consolas"/>
                <a:cs typeface="Consolas"/>
              </a:rPr>
              <a:t>service=boston async noaffirm valid_for=(online_logfiles,primary_role) ...</a:t>
            </a:r>
          </a:p>
          <a:p>
            <a:pPr algn="l">
              <a:spcAft>
                <a:spcPts val="1000"/>
              </a:spcAft>
            </a:pPr>
            <a:r>
              <a:rPr sz="1700" b="0">
                <a:solidFill>
                  <a:srgbClr val="222222"/>
                </a:solidFill>
                <a:latin typeface="맑은 고딕"/>
              </a:rPr>
              <a:t>•  Broker — </a:t>
            </a:r>
            <a:r>
              <a:rPr sz="1700" b="0">
                <a:solidFill>
                  <a:srgbClr val="222222"/>
                </a:solidFill>
                <a:latin typeface="Consolas"/>
                <a:cs typeface="Consolas"/>
              </a:rPr>
              <a:t>service="boston", ASYNC NOAFFIRM delay=0 optional compression=disable max_failure=0 reopen=300 db_unique_name="boston" net_timeout=30, valid_for=(online_logfile,all_roles)</a:t>
            </a:r>
          </a:p>
          <a:p>
            <a:pPr algn="l">
              <a:spcAft>
                <a:spcPts val="1000"/>
              </a:spcAft>
            </a:pPr>
            <a:r>
              <a:rPr sz="1700" b="0">
                <a:solidFill>
                  <a:srgbClr val="222222"/>
                </a:solidFill>
                <a:latin typeface="맑은 고딕"/>
              </a:rPr>
              <a:t>•  기본값까지 전부 적는 이유 — </a:t>
            </a:r>
            <a:r>
              <a:rPr sz="1700" b="1">
                <a:solidFill>
                  <a:srgbClr val="222222"/>
                </a:solidFill>
                <a:latin typeface="맑은 고딕"/>
              </a:rPr>
              <a:t>속성으로 바꿀 자리를 만들기 위해</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가지가 더 바뀐다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FAL_SERVER 와 VALID_FOR</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1">
                <a:solidFill>
                  <a:srgbClr val="222222"/>
                </a:solidFill>
                <a:latin typeface="Consolas"/>
                <a:cs typeface="Consolas"/>
              </a:rPr>
              <a:t>FAL_SERVER</a:t>
            </a:r>
            <a:r>
              <a:rPr sz="1700" b="1">
                <a:solidFill>
                  <a:srgbClr val="222222"/>
                </a:solidFill>
                <a:latin typeface="맑은 고딕"/>
              </a:rPr>
              <a:t> 를 비운다</a:t>
            </a:r>
            <a:r>
              <a:rPr sz="1700" b="0">
                <a:solidFill>
                  <a:srgbClr val="222222"/>
                </a:solidFill>
                <a:latin typeface="맑은 고딕"/>
              </a:rPr>
              <a:t> — 구성 정보로 대체. 기능이 없어진 것이 아니다</a:t>
            </a:r>
          </a:p>
          <a:p>
            <a:pPr algn="l">
              <a:spcAft>
                <a:spcPts val="1000"/>
              </a:spcAft>
            </a:pPr>
            <a:r>
              <a:rPr sz="1700" b="0">
                <a:solidFill>
                  <a:srgbClr val="222222"/>
                </a:solidFill>
                <a:latin typeface="맑은 고딕"/>
              </a:rPr>
              <a:t>•  </a:t>
            </a:r>
            <a:r>
              <a:rPr sz="1700" b="1">
                <a:solidFill>
                  <a:srgbClr val="222222"/>
                </a:solidFill>
                <a:latin typeface="Consolas"/>
                <a:cs typeface="Consolas"/>
              </a:rPr>
              <a:t>VALID_FOR</a:t>
            </a:r>
            <a:r>
              <a:rPr sz="1700" b="1">
                <a:solidFill>
                  <a:srgbClr val="222222"/>
                </a:solidFill>
                <a:latin typeface="맑은 고딕"/>
              </a:rPr>
              <a:t> 가 </a:t>
            </a:r>
            <a:r>
              <a:rPr sz="1700" b="1">
                <a:solidFill>
                  <a:srgbClr val="222222"/>
                </a:solidFill>
                <a:latin typeface="Consolas"/>
                <a:cs typeface="Consolas"/>
              </a:rPr>
              <a:t>all_roles</a:t>
            </a:r>
            <a:r>
              <a:rPr sz="1700" b="0">
                <a:solidFill>
                  <a:srgbClr val="222222"/>
                </a:solidFill>
                <a:latin typeface="맑은 고딕"/>
              </a:rPr>
              <a:t> — </a:t>
            </a:r>
            <a:r>
              <a:rPr sz="1700" b="0">
                <a:solidFill>
                  <a:srgbClr val="222222"/>
                </a:solidFill>
                <a:latin typeface="Consolas"/>
                <a:cs typeface="Consolas"/>
              </a:rPr>
              <a:t>primary_role</a:t>
            </a:r>
            <a:r>
              <a:rPr sz="1700" b="0">
                <a:solidFill>
                  <a:srgbClr val="222222"/>
                </a:solidFill>
                <a:latin typeface="맑은 고딕"/>
              </a:rPr>
              <a:t> 이 아니다</a:t>
            </a:r>
          </a:p>
          <a:p>
            <a:pPr algn="l">
              <a:spcAft>
                <a:spcPts val="1000"/>
              </a:spcAft>
            </a:pPr>
            <a:r>
              <a:rPr sz="1700" b="0">
                <a:solidFill>
                  <a:srgbClr val="222222"/>
                </a:solidFill>
                <a:latin typeface="맑은 고딕"/>
              </a:rPr>
              <a:t>•  역할 전환 후에도 목적지가 유효하도록 미리 대비</a:t>
            </a:r>
          </a:p>
          <a:p>
            <a:pPr algn="l">
              <a:spcAft>
                <a:spcPts val="1000"/>
              </a:spcAft>
            </a:pPr>
            <a:r>
              <a:rPr sz="1700" b="0">
                <a:solidFill>
                  <a:srgbClr val="222222"/>
                </a:solidFill>
                <a:latin typeface="맑은 고딕"/>
              </a:rPr>
              <a:t>•  16장의 Switchover 가 한 줄로 끝나는 이유</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구성 파일과 Broker 로그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디스크에 남는 것</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dr1&lt;이름&gt;.dat</a:t>
            </a:r>
            <a:r>
              <a:rPr sz="1700" b="0">
                <a:solidFill>
                  <a:srgbClr val="222222"/>
                </a:solidFill>
                <a:latin typeface="맑은 고딕"/>
              </a:rPr>
              <a:t> / </a:t>
            </a:r>
            <a:r>
              <a:rPr sz="1700" b="0">
                <a:solidFill>
                  <a:srgbClr val="222222"/>
                </a:solidFill>
                <a:latin typeface="Consolas"/>
                <a:cs typeface="Consolas"/>
              </a:rPr>
              <a:t>dr2&lt;이름&gt;.dat</a:t>
            </a:r>
            <a:r>
              <a:rPr sz="1700" b="0">
                <a:solidFill>
                  <a:srgbClr val="222222"/>
                </a:solidFill>
                <a:latin typeface="맑은 고딕"/>
              </a:rPr>
              <a:t> — </a:t>
            </a:r>
            <a:r>
              <a:rPr sz="1700" b="1">
                <a:solidFill>
                  <a:srgbClr val="222222"/>
                </a:solidFill>
                <a:latin typeface="맑은 고딕"/>
              </a:rPr>
              <a:t>양쪽 노드에</a:t>
            </a:r>
            <a:r>
              <a:rPr sz="1700" b="0">
                <a:solidFill>
                  <a:srgbClr val="222222"/>
                </a:solidFill>
                <a:latin typeface="맑은 고딕"/>
              </a:rPr>
              <a:t> 8KB</a:t>
            </a:r>
          </a:p>
          <a:p>
            <a:pPr algn="l">
              <a:spcAft>
                <a:spcPts val="1000"/>
              </a:spcAft>
            </a:pPr>
            <a:r>
              <a:rPr sz="1700" b="0">
                <a:solidFill>
                  <a:srgbClr val="222222"/>
                </a:solidFill>
                <a:latin typeface="맑은 고딕"/>
              </a:rPr>
              <a:t>•  구성이 복제되어 있으므로 Primary 를 잃어도 전환 가능</a:t>
            </a:r>
          </a:p>
          <a:p>
            <a:pPr algn="l">
              <a:spcAft>
                <a:spcPts val="1000"/>
              </a:spcAft>
            </a:pPr>
            <a:r>
              <a:rPr sz="1700" b="0">
                <a:solidFill>
                  <a:srgbClr val="222222"/>
                </a:solidFill>
                <a:latin typeface="맑은 고딕"/>
              </a:rPr>
              <a:t>•  </a:t>
            </a:r>
            <a:r>
              <a:rPr sz="1700" b="0">
                <a:solidFill>
                  <a:srgbClr val="222222"/>
                </a:solidFill>
                <a:latin typeface="Consolas"/>
                <a:cs typeface="Consolas"/>
              </a:rPr>
              <a:t>drc&lt;이름&gt;.log</a:t>
            </a:r>
            <a:r>
              <a:rPr sz="1700" b="0">
                <a:solidFill>
                  <a:srgbClr val="222222"/>
                </a:solidFill>
                <a:latin typeface="맑은 고딕"/>
              </a:rPr>
              <a:t> — Broker 전용 로그</a:t>
            </a:r>
          </a:p>
          <a:p>
            <a:pPr algn="l">
              <a:spcAft>
                <a:spcPts val="1000"/>
              </a:spcAft>
            </a:pPr>
            <a:r>
              <a:rPr sz="1700" b="0">
                <a:solidFill>
                  <a:srgbClr val="222222"/>
                </a:solidFill>
                <a:latin typeface="맑은 고딕"/>
              </a:rPr>
              <a:t>•  로그에 </a:t>
            </a:r>
            <a:r>
              <a:rPr sz="1700" b="0">
                <a:solidFill>
                  <a:srgbClr val="222222"/>
                </a:solidFill>
                <a:latin typeface="Consolas"/>
                <a:cs typeface="Consolas"/>
              </a:rPr>
              <a:t>DMON: Executing SQL [ALTER SYSTEM REGISTER]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상태 읽기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SHOW 명령</a:t>
            </a:r>
          </a:p>
          <a:p>
            <a:pPr algn="l">
              <a:spcAft>
                <a:spcPts val="800"/>
              </a:spcAft>
            </a:pPr>
            <a:r>
              <a:rPr sz="1600" b="0">
                <a:solidFill>
                  <a:srgbClr val="FFFFFF"/>
                </a:solidFill>
                <a:latin typeface="맑은 고딕"/>
              </a:rPr>
              <a:t>•  오류의 인과</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SHOW CONFIGURATION</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다섯 줄에 담긴 것</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Protection Mode</a:t>
            </a:r>
            <a:r>
              <a:rPr sz="1700" b="0">
                <a:solidFill>
                  <a:srgbClr val="222222"/>
                </a:solidFill>
                <a:latin typeface="맑은 고딕"/>
              </a:rPr>
              <a:t> — 2장의 보호 모드</a:t>
            </a:r>
          </a:p>
          <a:p>
            <a:pPr algn="l">
              <a:spcAft>
                <a:spcPts val="1000"/>
              </a:spcAft>
            </a:pPr>
            <a:r>
              <a:rPr sz="1700" b="0">
                <a:solidFill>
                  <a:srgbClr val="222222"/>
                </a:solidFill>
                <a:latin typeface="맑은 고딕"/>
              </a:rPr>
              <a:t>•  </a:t>
            </a:r>
            <a:r>
              <a:rPr sz="1700" b="0">
                <a:solidFill>
                  <a:srgbClr val="222222"/>
                </a:solidFill>
                <a:latin typeface="Consolas"/>
                <a:cs typeface="Consolas"/>
              </a:rPr>
              <a:t>Members</a:t>
            </a:r>
            <a:r>
              <a:rPr sz="1700" b="0">
                <a:solidFill>
                  <a:srgbClr val="222222"/>
                </a:solidFill>
                <a:latin typeface="맑은 고딕"/>
              </a:rPr>
              <a:t> — 구성원·역할, 들여쓰기로 리두 경로</a:t>
            </a:r>
          </a:p>
          <a:p>
            <a:pPr algn="l">
              <a:spcAft>
                <a:spcPts val="1000"/>
              </a:spcAft>
            </a:pPr>
            <a:r>
              <a:rPr sz="1700" b="0">
                <a:solidFill>
                  <a:srgbClr val="222222"/>
                </a:solidFill>
                <a:latin typeface="맑은 고딕"/>
              </a:rPr>
              <a:t>•  </a:t>
            </a:r>
            <a:r>
              <a:rPr sz="1700" b="0">
                <a:solidFill>
                  <a:srgbClr val="222222"/>
                </a:solidFill>
                <a:latin typeface="Consolas"/>
                <a:cs typeface="Consolas"/>
              </a:rPr>
              <a:t>Fast-Start Failover</a:t>
            </a:r>
            <a:r>
              <a:rPr sz="1700" b="0">
                <a:solidFill>
                  <a:srgbClr val="222222"/>
                </a:solidFill>
                <a:latin typeface="맑은 고딕"/>
              </a:rPr>
              <a:t> — 14장</a:t>
            </a:r>
          </a:p>
          <a:p>
            <a:pPr algn="l">
              <a:spcAft>
                <a:spcPts val="1000"/>
              </a:spcAft>
            </a:pPr>
            <a:r>
              <a:rPr sz="1700" b="0">
                <a:solidFill>
                  <a:srgbClr val="222222"/>
                </a:solidFill>
                <a:latin typeface="맑은 고딕"/>
              </a:rPr>
              <a:t>•  </a:t>
            </a:r>
            <a:r>
              <a:rPr sz="1700" b="0">
                <a:solidFill>
                  <a:srgbClr val="222222"/>
                </a:solidFill>
                <a:latin typeface="Consolas"/>
                <a:cs typeface="Consolas"/>
              </a:rPr>
              <a:t>Configuration Status</a:t>
            </a:r>
            <a:r>
              <a:rPr sz="1700" b="0">
                <a:solidFill>
                  <a:srgbClr val="222222"/>
                </a:solidFill>
                <a:latin typeface="맑은 고딕"/>
              </a:rPr>
              <a:t> — 전체 판정</a:t>
            </a:r>
          </a:p>
          <a:p>
            <a:pPr algn="l">
              <a:spcAft>
                <a:spcPts val="1000"/>
              </a:spcAft>
            </a:pPr>
            <a:r>
              <a:rPr sz="1700" b="0">
                <a:solidFill>
                  <a:srgbClr val="222222"/>
                </a:solidFill>
                <a:latin typeface="맑은 고딕"/>
              </a:rPr>
              <a:t>•  </a:t>
            </a:r>
            <a:r>
              <a:rPr sz="1700" b="1">
                <a:solidFill>
                  <a:srgbClr val="222222"/>
                </a:solidFill>
                <a:latin typeface="Consolas"/>
                <a:cs typeface="Consolas"/>
              </a:rPr>
              <a:t>status updated N seconds ago</a:t>
            </a:r>
            <a:r>
              <a:rPr sz="1700" b="0">
                <a:solidFill>
                  <a:srgbClr val="222222"/>
                </a:solidFill>
                <a:latin typeface="맑은 고딕"/>
              </a:rPr>
              <a:t> — 실시간이 아니다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Intended State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목표와 실제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 — </a:t>
            </a:r>
            <a:r>
              <a:rPr sz="1700" b="0">
                <a:solidFill>
                  <a:srgbClr val="222222"/>
                </a:solidFill>
                <a:latin typeface="Consolas"/>
                <a:cs typeface="Consolas"/>
              </a:rPr>
              <a:t>TRANSPORT-ON</a:t>
            </a:r>
            <a:r>
              <a:rPr sz="1700" b="0">
                <a:solidFill>
                  <a:srgbClr val="222222"/>
                </a:solidFill>
                <a:latin typeface="맑은 고딕"/>
              </a:rPr>
              <a:t> / </a:t>
            </a:r>
            <a:r>
              <a:rPr sz="1700" b="0">
                <a:solidFill>
                  <a:srgbClr val="222222"/>
                </a:solidFill>
                <a:latin typeface="Consolas"/>
                <a:cs typeface="Consolas"/>
              </a:rPr>
              <a:t>TRANSPORT-OFF</a:t>
            </a:r>
          </a:p>
          <a:p>
            <a:pPr algn="l">
              <a:spcAft>
                <a:spcPts val="1000"/>
              </a:spcAft>
            </a:pPr>
            <a:r>
              <a:rPr sz="1700" b="0">
                <a:solidFill>
                  <a:srgbClr val="222222"/>
                </a:solidFill>
                <a:latin typeface="맑은 고딕"/>
              </a:rPr>
              <a:t>•  Standby — </a:t>
            </a:r>
            <a:r>
              <a:rPr sz="1700" b="0">
                <a:solidFill>
                  <a:srgbClr val="222222"/>
                </a:solidFill>
                <a:latin typeface="Consolas"/>
                <a:cs typeface="Consolas"/>
              </a:rPr>
              <a:t>APPLY-ON</a:t>
            </a:r>
            <a:r>
              <a:rPr sz="1700" b="0">
                <a:solidFill>
                  <a:srgbClr val="222222"/>
                </a:solidFill>
                <a:latin typeface="맑은 고딕"/>
              </a:rPr>
              <a:t> / </a:t>
            </a:r>
            <a:r>
              <a:rPr sz="1700" b="0">
                <a:solidFill>
                  <a:srgbClr val="222222"/>
                </a:solidFill>
                <a:latin typeface="Consolas"/>
                <a:cs typeface="Consolas"/>
              </a:rPr>
              <a:t>APPLY-OFF</a:t>
            </a:r>
          </a:p>
          <a:p>
            <a:pPr algn="l">
              <a:spcAft>
                <a:spcPts val="1000"/>
              </a:spcAft>
            </a:pPr>
            <a:r>
              <a:rPr sz="1700" b="0">
                <a:solidFill>
                  <a:srgbClr val="222222"/>
                </a:solidFill>
                <a:latin typeface="맑은 고딕"/>
              </a:rPr>
              <a:t>•  Broker 는 </a:t>
            </a:r>
            <a:r>
              <a:rPr sz="1700" b="1">
                <a:solidFill>
                  <a:srgbClr val="222222"/>
                </a:solidFill>
                <a:latin typeface="맑은 고딕"/>
              </a:rPr>
              <a:t>목표를 기억하고 실제를 거기에 맞추려 한다</a:t>
            </a:r>
          </a:p>
          <a:p>
            <a:pPr algn="l">
              <a:spcAft>
                <a:spcPts val="1000"/>
              </a:spcAft>
            </a:pPr>
            <a:r>
              <a:rPr sz="1700" b="0">
                <a:solidFill>
                  <a:srgbClr val="222222"/>
                </a:solidFill>
                <a:latin typeface="맑은 고딕"/>
              </a:rPr>
              <a:t>•  둘이 다르면 달성에 실패한 것</a:t>
            </a:r>
          </a:p>
          <a:p>
            <a:pPr algn="l">
              <a:spcAft>
                <a:spcPts val="1000"/>
              </a:spcAft>
            </a:pPr>
            <a:r>
              <a:rPr sz="1700" b="0">
                <a:solidFill>
                  <a:srgbClr val="222222"/>
                </a:solidFill>
                <a:latin typeface="맑은 고딕"/>
              </a:rPr>
              <a:t>•  </a:t>
            </a:r>
            <a:r>
              <a:rPr sz="1700" b="0">
                <a:solidFill>
                  <a:srgbClr val="222222"/>
                </a:solidFill>
                <a:latin typeface="Consolas"/>
                <a:cs typeface="Consolas"/>
              </a:rPr>
              <a:t>Real Time Query: ON</a:t>
            </a:r>
            <a:r>
              <a:rPr sz="1700" b="0">
                <a:solidFill>
                  <a:srgbClr val="222222"/>
                </a:solidFill>
                <a:latin typeface="맑은 고딕"/>
              </a:rPr>
              <a:t> 은 9장의 ADG 가 동작 중이라는 뜻</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오류의 인과를 가린다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셋이 한 줄로 이어진다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ORA-16766: Redo Apply is stopped</a:t>
            </a:r>
            <a:r>
              <a:rPr sz="1700" b="0">
                <a:solidFill>
                  <a:srgbClr val="222222"/>
                </a:solidFill>
                <a:latin typeface="맑은 고딕"/>
              </a:rPr>
              <a:t> — </a:t>
            </a:r>
            <a:r>
              <a:rPr sz="1700" b="1">
                <a:solidFill>
                  <a:srgbClr val="222222"/>
                </a:solidFill>
                <a:latin typeface="맑은 고딕"/>
              </a:rPr>
              <a:t>원인</a:t>
            </a:r>
          </a:p>
          <a:p>
            <a:pPr algn="l">
              <a:spcAft>
                <a:spcPts val="1000"/>
              </a:spcAft>
            </a:pPr>
            <a:r>
              <a:rPr sz="1700" b="0">
                <a:solidFill>
                  <a:srgbClr val="222222"/>
                </a:solidFill>
                <a:latin typeface="맑은 고딕"/>
              </a:rPr>
              <a:t>•  </a:t>
            </a:r>
            <a:r>
              <a:rPr sz="1700" b="0">
                <a:solidFill>
                  <a:srgbClr val="222222"/>
                </a:solidFill>
                <a:latin typeface="Consolas"/>
                <a:cs typeface="Consolas"/>
              </a:rPr>
              <a:t>ORA-16853: apply lag has exceeded threshold</a:t>
            </a:r>
            <a:r>
              <a:rPr sz="1700" b="0">
                <a:solidFill>
                  <a:srgbClr val="222222"/>
                </a:solidFill>
                <a:latin typeface="맑은 고딕"/>
              </a:rPr>
              <a:t> — </a:t>
            </a:r>
            <a:r>
              <a:rPr sz="1700" b="1">
                <a:solidFill>
                  <a:srgbClr val="222222"/>
                </a:solidFill>
                <a:latin typeface="맑은 고딕"/>
              </a:rPr>
              <a:t>결과</a:t>
            </a:r>
          </a:p>
          <a:p>
            <a:pPr algn="l">
              <a:spcAft>
                <a:spcPts val="1000"/>
              </a:spcAft>
            </a:pPr>
            <a:r>
              <a:rPr sz="1700" b="0">
                <a:solidFill>
                  <a:srgbClr val="222222"/>
                </a:solidFill>
                <a:latin typeface="맑은 고딕"/>
              </a:rPr>
              <a:t>•  </a:t>
            </a:r>
            <a:r>
              <a:rPr sz="1700" b="0">
                <a:solidFill>
                  <a:srgbClr val="222222"/>
                </a:solidFill>
                <a:latin typeface="Consolas"/>
                <a:cs typeface="Consolas"/>
              </a:rPr>
              <a:t>ORA-16809: multiple warnings detected</a:t>
            </a:r>
            <a:r>
              <a:rPr sz="1700" b="0">
                <a:solidFill>
                  <a:srgbClr val="222222"/>
                </a:solidFill>
                <a:latin typeface="맑은 고딕"/>
              </a:rPr>
              <a:t> — </a:t>
            </a:r>
            <a:r>
              <a:rPr sz="1700" b="1">
                <a:solidFill>
                  <a:srgbClr val="222222"/>
                </a:solidFill>
                <a:latin typeface="맑은 고딕"/>
              </a:rPr>
              <a:t>요약</a:t>
            </a:r>
          </a:p>
          <a:p>
            <a:pPr algn="l">
              <a:spcAft>
                <a:spcPts val="1000"/>
              </a:spcAft>
            </a:pPr>
            <a:r>
              <a:rPr sz="1700" b="0">
                <a:solidFill>
                  <a:srgbClr val="222222"/>
                </a:solidFill>
                <a:latin typeface="맑은 고딕"/>
              </a:rPr>
              <a:t>•  실측 </a:t>
            </a:r>
            <a:r>
              <a:rPr sz="1700" b="0">
                <a:solidFill>
                  <a:srgbClr val="222222"/>
                </a:solidFill>
                <a:latin typeface="Consolas"/>
                <a:cs typeface="Consolas"/>
              </a:rPr>
              <a:t>Apply Lag: 13125 days</a:t>
            </a:r>
            <a:r>
              <a:rPr sz="1700" b="0">
                <a:solidFill>
                  <a:srgbClr val="222222"/>
                </a:solidFill>
                <a:latin typeface="맑은 고딕"/>
              </a:rPr>
              <a:t> — 진척 기록이 무의미해진 신호</a:t>
            </a:r>
          </a:p>
          <a:p>
            <a:pPr algn="l">
              <a:spcAft>
                <a:spcPts val="1000"/>
              </a:spcAft>
            </a:pPr>
            <a:r>
              <a:rPr sz="1700" b="0">
                <a:solidFill>
                  <a:srgbClr val="222222"/>
                </a:solidFill>
                <a:latin typeface="맑은 고딕"/>
              </a:rPr>
              <a:t>•  </a:t>
            </a:r>
            <a:r>
              <a:rPr sz="1700" b="1">
                <a:solidFill>
                  <a:srgbClr val="222222"/>
                </a:solidFill>
                <a:latin typeface="맑은 고딕"/>
              </a:rPr>
              <a:t>고쳐야 할 것은 하나뿐</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Broker 가 알려 주지 않는 것</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왜 멈췄는가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Broker — "적용이 멈췄다" 까지만</a:t>
            </a:r>
          </a:p>
          <a:p>
            <a:pPr algn="l">
              <a:spcAft>
                <a:spcPts val="1000"/>
              </a:spcAft>
            </a:pPr>
            <a:r>
              <a:rPr sz="1700" b="0">
                <a:solidFill>
                  <a:srgbClr val="222222"/>
                </a:solidFill>
                <a:latin typeface="맑은 고딕"/>
              </a:rPr>
              <a:t>•  실제 원인은 </a:t>
            </a:r>
            <a:r>
              <a:rPr sz="1700" b="1">
                <a:solidFill>
                  <a:srgbClr val="222222"/>
                </a:solidFill>
                <a:latin typeface="맑은 고딕"/>
              </a:rPr>
              <a:t>알림 로그</a:t>
            </a:r>
            <a:r>
              <a:rPr sz="1700" b="0">
                <a:solidFill>
                  <a:srgbClr val="222222"/>
                </a:solidFill>
                <a:latin typeface="맑은 고딕"/>
              </a:rPr>
              <a:t>에 있었다</a:t>
            </a:r>
          </a:p>
          <a:p>
            <a:pPr algn="l">
              <a:spcAft>
                <a:spcPts val="1000"/>
              </a:spcAft>
            </a:pPr>
            <a:r>
              <a:rPr sz="1700" b="0">
                <a:solidFill>
                  <a:srgbClr val="222222"/>
                </a:solidFill>
                <a:latin typeface="맑은 고딕"/>
              </a:rPr>
              <a:t>•  </a:t>
            </a:r>
            <a:r>
              <a:rPr sz="1700" b="0">
                <a:solidFill>
                  <a:srgbClr val="222222"/>
                </a:solidFill>
                <a:latin typeface="Consolas"/>
                <a:cs typeface="Consolas"/>
              </a:rPr>
              <a:t>ORA-00600 [krr_parse_lwn_header]</a:t>
            </a:r>
            <a:r>
              <a:rPr sz="1700" b="0">
                <a:solidFill>
                  <a:srgbClr val="222222"/>
                </a:solidFill>
                <a:latin typeface="맑은 고딕"/>
              </a:rPr>
              <a:t> + </a:t>
            </a:r>
            <a:r>
              <a:rPr sz="1700" b="0">
                <a:solidFill>
                  <a:srgbClr val="222222"/>
                </a:solidFill>
                <a:latin typeface="Consolas"/>
                <a:cs typeface="Consolas"/>
              </a:rPr>
              <a:t>ORA-10877</a:t>
            </a:r>
            <a:r>
              <a:rPr sz="1700" b="0">
                <a:solidFill>
                  <a:srgbClr val="222222"/>
                </a:solidFill>
                <a:latin typeface="맑은 고딕"/>
              </a:rPr>
              <a:t> ×4</a:t>
            </a:r>
          </a:p>
          <a:p>
            <a:pPr algn="l">
              <a:spcAft>
                <a:spcPts val="1000"/>
              </a:spcAft>
            </a:pPr>
            <a:r>
              <a:rPr sz="1700" b="0">
                <a:solidFill>
                  <a:srgbClr val="222222"/>
                </a:solidFill>
                <a:latin typeface="맑은 고딕"/>
              </a:rPr>
              <a:t>•  Broker 화면에는 그 흔적이 </a:t>
            </a:r>
            <a:r>
              <a:rPr sz="1700" b="1">
                <a:solidFill>
                  <a:srgbClr val="222222"/>
                </a:solidFill>
                <a:latin typeface="맑은 고딕"/>
              </a:rPr>
              <a:t>전혀 없었다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Broker 로 바꾼다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상태</a:t>
            </a:r>
          </a:p>
          <a:p>
            <a:pPr algn="l">
              <a:spcAft>
                <a:spcPts val="800"/>
              </a:spcAft>
            </a:pPr>
            <a:r>
              <a:rPr sz="1600" b="0">
                <a:solidFill>
                  <a:srgbClr val="FFFFFF"/>
                </a:solidFill>
                <a:latin typeface="맑은 고딕"/>
              </a:rPr>
              <a:t>•  속성</a:t>
            </a:r>
          </a:p>
          <a:p>
            <a:pPr algn="l">
              <a:spcAft>
                <a:spcPts val="800"/>
              </a:spcAft>
            </a:pPr>
            <a:r>
              <a:rPr sz="1600" b="0">
                <a:solidFill>
                  <a:srgbClr val="FFFFFF"/>
                </a:solidFill>
                <a:latin typeface="맑은 고딕"/>
              </a:rPr>
              <a:t>•  보호 모드</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SET STATE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SQL 값이 그대로 움직인다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EDIT DATABASE 'boston' SET STATE='APPLY-OFF';</a:t>
            </a:r>
          </a:p>
          <a:p>
            <a:pPr algn="l">
              <a:spcAft>
                <a:spcPts val="1000"/>
              </a:spcAft>
            </a:pPr>
            <a:r>
              <a:rPr sz="1700" b="0">
                <a:solidFill>
                  <a:srgbClr val="222222"/>
                </a:solidFill>
                <a:latin typeface="맑은 고딕"/>
              </a:rPr>
              <a:t>•  </a:t>
            </a:r>
            <a:r>
              <a:rPr sz="1700" b="0">
                <a:solidFill>
                  <a:srgbClr val="222222"/>
                </a:solidFill>
                <a:latin typeface="Consolas"/>
                <a:cs typeface="Consolas"/>
              </a:rPr>
              <a:t>READ ONLY WITH APPLY</a:t>
            </a:r>
            <a:r>
              <a:rPr sz="1700" b="0">
                <a:solidFill>
                  <a:srgbClr val="222222"/>
                </a:solidFill>
                <a:latin typeface="맑은 고딕"/>
              </a:rPr>
              <a:t> → </a:t>
            </a:r>
            <a:r>
              <a:rPr sz="1700" b="0">
                <a:solidFill>
                  <a:srgbClr val="222222"/>
                </a:solidFill>
                <a:latin typeface="Consolas"/>
                <a:cs typeface="Consolas"/>
              </a:rPr>
              <a:t>READ ONLY</a:t>
            </a:r>
          </a:p>
          <a:p>
            <a:pPr algn="l">
              <a:spcAft>
                <a:spcPts val="1000"/>
              </a:spcAft>
            </a:pPr>
            <a:r>
              <a:rPr sz="1700" b="0">
                <a:solidFill>
                  <a:srgbClr val="222222"/>
                </a:solidFill>
                <a:latin typeface="맑은 고딕"/>
              </a:rPr>
              <a:t>•  </a:t>
            </a:r>
            <a:r>
              <a:rPr sz="1700" b="0">
                <a:solidFill>
                  <a:srgbClr val="222222"/>
                </a:solidFill>
                <a:latin typeface="Consolas"/>
                <a:cs typeface="Consolas"/>
              </a:rPr>
              <a:t>MANAGED REAL TIME APPLY</a:t>
            </a:r>
            <a:r>
              <a:rPr sz="1700" b="0">
                <a:solidFill>
                  <a:srgbClr val="222222"/>
                </a:solidFill>
                <a:latin typeface="맑은 고딕"/>
              </a:rPr>
              <a:t> → </a:t>
            </a:r>
            <a:r>
              <a:rPr sz="1700" b="0">
                <a:solidFill>
                  <a:srgbClr val="222222"/>
                </a:solidFill>
                <a:latin typeface="Consolas"/>
                <a:cs typeface="Consolas"/>
              </a:rPr>
              <a:t>IDLE</a:t>
            </a:r>
          </a:p>
          <a:p>
            <a:pPr algn="l">
              <a:spcAft>
                <a:spcPts val="1000"/>
              </a:spcAft>
            </a:pPr>
            <a:r>
              <a:rPr sz="1700" b="0">
                <a:solidFill>
                  <a:srgbClr val="222222"/>
                </a:solidFill>
                <a:latin typeface="맑은 고딕"/>
              </a:rPr>
              <a:t>•  MRP0 1개 → </a:t>
            </a:r>
            <a:r>
              <a:rPr sz="1700" b="1">
                <a:solidFill>
                  <a:srgbClr val="222222"/>
                </a:solidFill>
                <a:latin typeface="맑은 고딕"/>
              </a:rPr>
              <a:t>0개</a:t>
            </a:r>
          </a:p>
          <a:p>
            <a:pPr algn="l">
              <a:spcAft>
                <a:spcPts val="1000"/>
              </a:spcAft>
            </a:pPr>
            <a:r>
              <a:rPr sz="1700" b="0">
                <a:solidFill>
                  <a:srgbClr val="222222"/>
                </a:solidFill>
                <a:latin typeface="맑은 고딕"/>
              </a:rPr>
              <a:t>•  </a:t>
            </a:r>
            <a:r>
              <a:rPr sz="1700" b="0">
                <a:solidFill>
                  <a:srgbClr val="222222"/>
                </a:solidFill>
                <a:latin typeface="Consolas"/>
                <a:cs typeface="Consolas"/>
              </a:rPr>
              <a:t>Database Status</a:t>
            </a:r>
            <a:r>
              <a:rPr sz="1700" b="0">
                <a:solidFill>
                  <a:srgbClr val="222222"/>
                </a:solidFill>
                <a:latin typeface="맑은 고딕"/>
              </a:rPr>
              <a:t> 는 </a:t>
            </a:r>
            <a:r>
              <a:rPr sz="1700" b="1">
                <a:solidFill>
                  <a:srgbClr val="222222"/>
                </a:solidFill>
                <a:latin typeface="맑은 고딕"/>
              </a:rPr>
              <a:t>SUCCESS</a:t>
            </a:r>
            <a:r>
              <a:rPr sz="1700" b="0">
                <a:solidFill>
                  <a:srgbClr val="222222"/>
                </a:solidFill>
                <a:latin typeface="맑은 고딕"/>
              </a:rPr>
              <a:t> — Intended State 도 함께 바뀌었다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속성으로 전송 방식을 바꾼다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문자열 전체가 재생성</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SHOW DATABASE 'boston' 'LogXptMode'</a:t>
            </a:r>
            <a:r>
              <a:rPr sz="1700" b="0">
                <a:solidFill>
                  <a:srgbClr val="222222"/>
                </a:solidFill>
                <a:latin typeface="맑은 고딕"/>
              </a:rPr>
              <a:t> → </a:t>
            </a:r>
            <a:r>
              <a:rPr sz="1700" b="0">
                <a:solidFill>
                  <a:srgbClr val="222222"/>
                </a:solidFill>
                <a:latin typeface="Consolas"/>
                <a:cs typeface="Consolas"/>
              </a:rPr>
              <a:t>ASYNC</a:t>
            </a:r>
          </a:p>
          <a:p>
            <a:pPr algn="l">
              <a:spcAft>
                <a:spcPts val="1000"/>
              </a:spcAft>
            </a:pPr>
            <a:r>
              <a:rPr sz="1700" b="0">
                <a:solidFill>
                  <a:srgbClr val="222222"/>
                </a:solidFill>
                <a:latin typeface="맑은 고딕"/>
              </a:rPr>
              <a:t>•  </a:t>
            </a:r>
            <a:r>
              <a:rPr sz="1700" b="0">
                <a:solidFill>
                  <a:srgbClr val="222222"/>
                </a:solidFill>
                <a:latin typeface="Consolas"/>
                <a:cs typeface="Consolas"/>
              </a:rPr>
              <a:t>EDIT DATABASE 'boston' SET PROPERTY 'LogXptMode'='SYNC';</a:t>
            </a:r>
          </a:p>
          <a:p>
            <a:pPr algn="l">
              <a:spcAft>
                <a:spcPts val="1000"/>
              </a:spcAft>
            </a:pPr>
            <a:r>
              <a:rPr sz="1700" b="0">
                <a:solidFill>
                  <a:srgbClr val="222222"/>
                </a:solidFill>
                <a:latin typeface="맑은 고딕"/>
              </a:rPr>
              <a:t>•  파라미터가 </a:t>
            </a:r>
            <a:r>
              <a:rPr sz="1700" b="0">
                <a:solidFill>
                  <a:srgbClr val="222222"/>
                </a:solidFill>
                <a:latin typeface="Consolas"/>
                <a:cs typeface="Consolas"/>
              </a:rPr>
              <a:t>ASYNC NOAFFIRM</a:t>
            </a:r>
            <a:r>
              <a:rPr sz="1700" b="0">
                <a:solidFill>
                  <a:srgbClr val="222222"/>
                </a:solidFill>
                <a:latin typeface="맑은 고딕"/>
              </a:rPr>
              <a:t> → </a:t>
            </a:r>
            <a:r>
              <a:rPr sz="1700" b="1">
                <a:solidFill>
                  <a:srgbClr val="222222"/>
                </a:solidFill>
                <a:latin typeface="Consolas"/>
                <a:cs typeface="Consolas"/>
              </a:rPr>
              <a:t>SYNC AFFIRM</a:t>
            </a:r>
          </a:p>
          <a:p>
            <a:pPr algn="l">
              <a:spcAft>
                <a:spcPts val="1000"/>
              </a:spcAft>
            </a:pPr>
            <a:r>
              <a:rPr sz="1700" b="0">
                <a:solidFill>
                  <a:srgbClr val="222222"/>
                </a:solidFill>
                <a:latin typeface="맑은 고딕"/>
              </a:rPr>
              <a:t>•  </a:t>
            </a:r>
            <a:r>
              <a:rPr sz="1700" b="0">
                <a:solidFill>
                  <a:srgbClr val="222222"/>
                </a:solidFill>
                <a:latin typeface="Consolas"/>
                <a:cs typeface="Consolas"/>
              </a:rPr>
              <a:t>FASTSYNC</a:t>
            </a:r>
            <a:r>
              <a:rPr sz="1700" b="0">
                <a:solidFill>
                  <a:srgbClr val="222222"/>
                </a:solidFill>
                <a:latin typeface="맑은 고딕"/>
              </a:rPr>
              <a:t> 를 주면 </a:t>
            </a:r>
            <a:r>
              <a:rPr sz="1700" b="0">
                <a:solidFill>
                  <a:srgbClr val="222222"/>
                </a:solidFill>
                <a:latin typeface="Consolas"/>
                <a:cs typeface="Consolas"/>
              </a:rPr>
              <a:t>SYNC NOAFFIRM</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보호 모드도 한 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그래도 순서는 사람이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EDIT CONFIGURATION SET PROTECTION MODE AS MAXAVAILABILITY;</a:t>
            </a:r>
          </a:p>
          <a:p>
            <a:pPr algn="l">
              <a:spcAft>
                <a:spcPts val="1000"/>
              </a:spcAft>
            </a:pPr>
            <a:r>
              <a:rPr sz="1700" b="0">
                <a:solidFill>
                  <a:srgbClr val="222222"/>
                </a:solidFill>
                <a:latin typeface="맑은 고딕"/>
              </a:rPr>
              <a:t>•  손으로 할 때는 네 단계였다</a:t>
            </a:r>
          </a:p>
          <a:p>
            <a:pPr algn="l">
              <a:spcAft>
                <a:spcPts val="1000"/>
              </a:spcAft>
            </a:pPr>
            <a:r>
              <a:rPr sz="1700" b="0">
                <a:solidFill>
                  <a:srgbClr val="222222"/>
                </a:solidFill>
                <a:latin typeface="맑은 고딕"/>
              </a:rPr>
              <a:t>•  다만 전제는 같다 — </a:t>
            </a:r>
            <a:r>
              <a:rPr sz="1700" b="0">
                <a:solidFill>
                  <a:srgbClr val="222222"/>
                </a:solidFill>
                <a:latin typeface="Consolas"/>
                <a:cs typeface="Consolas"/>
              </a:rPr>
              <a:t>LogXptMode</a:t>
            </a:r>
            <a:r>
              <a:rPr sz="1700" b="0">
                <a:solidFill>
                  <a:srgbClr val="222222"/>
                </a:solidFill>
                <a:latin typeface="맑은 고딕"/>
              </a:rPr>
              <a:t> 가 </a:t>
            </a:r>
            <a:r>
              <a:rPr sz="1700" b="0">
                <a:solidFill>
                  <a:srgbClr val="222222"/>
                </a:solidFill>
                <a:latin typeface="Consolas"/>
                <a:cs typeface="Consolas"/>
              </a:rPr>
              <a:t>SYNC</a:t>
            </a:r>
            <a:r>
              <a:rPr sz="1700" b="0">
                <a:solidFill>
                  <a:srgbClr val="222222"/>
                </a:solidFill>
                <a:latin typeface="맑은 고딕"/>
              </a:rPr>
              <a:t> 여야 한다</a:t>
            </a:r>
          </a:p>
          <a:p>
            <a:pPr algn="l">
              <a:spcAft>
                <a:spcPts val="1000"/>
              </a:spcAft>
            </a:pPr>
            <a:r>
              <a:rPr sz="1700" b="0">
                <a:solidFill>
                  <a:srgbClr val="222222"/>
                </a:solidFill>
                <a:latin typeface="맑은 고딕"/>
              </a:rPr>
              <a:t>•  내릴 때도 </a:t>
            </a:r>
            <a:r>
              <a:rPr sz="1700" b="1">
                <a:solidFill>
                  <a:srgbClr val="222222"/>
                </a:solidFill>
                <a:latin typeface="맑은 고딕"/>
              </a:rPr>
              <a:t>보호 모드를 먼저</a:t>
            </a:r>
            <a:r>
              <a:rPr sz="1700" b="0">
                <a:solidFill>
                  <a:srgbClr val="222222"/>
                </a:solidFill>
                <a:latin typeface="맑은 고딕"/>
              </a:rPr>
              <a:t>, 전송 방식을 나중에</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SQL 로 바꾸면</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실측 결과</a:t>
            </a:r>
          </a:p>
          <a:p>
            <a:pPr algn="l">
              <a:spcAft>
                <a:spcPts val="800"/>
              </a:spcAft>
            </a:pPr>
            <a:r>
              <a:rPr sz="1600" b="0">
                <a:solidFill>
                  <a:srgbClr val="FFFFFF"/>
                </a:solidFill>
                <a:latin typeface="맑은 고딕"/>
              </a:rPr>
              <a:t>•  원칙</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실측</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Broker 는 곧바로 알아채지 못했다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SQL 로 </a:t>
            </a:r>
            <a:r>
              <a:rPr sz="1700" b="0">
                <a:solidFill>
                  <a:srgbClr val="222222"/>
                </a:solidFill>
                <a:latin typeface="Consolas"/>
                <a:cs typeface="Consolas"/>
              </a:rPr>
              <a:t>log_archive_dest_2</a:t>
            </a:r>
            <a:r>
              <a:rPr sz="1700" b="0">
                <a:solidFill>
                  <a:srgbClr val="222222"/>
                </a:solidFill>
                <a:latin typeface="맑은 고딕"/>
              </a:rPr>
              <a:t> 변경 → </a:t>
            </a:r>
            <a:r>
              <a:rPr sz="1700" b="1">
                <a:solidFill>
                  <a:srgbClr val="222222"/>
                </a:solidFill>
                <a:latin typeface="Consolas"/>
                <a:cs typeface="Consolas"/>
              </a:rPr>
              <a:t>System altered.</a:t>
            </a:r>
          </a:p>
          <a:p>
            <a:pPr algn="l">
              <a:spcAft>
                <a:spcPts val="1000"/>
              </a:spcAft>
            </a:pPr>
            <a:r>
              <a:rPr sz="1700" b="0">
                <a:solidFill>
                  <a:srgbClr val="222222"/>
                </a:solidFill>
                <a:latin typeface="맑은 고딕"/>
              </a:rPr>
              <a:t>•  30초 뒤 </a:t>
            </a:r>
            <a:r>
              <a:rPr sz="1700" b="0">
                <a:solidFill>
                  <a:srgbClr val="222222"/>
                </a:solidFill>
                <a:latin typeface="Consolas"/>
                <a:cs typeface="Consolas"/>
              </a:rPr>
              <a:t>SHOW CONFIGURATION</a:t>
            </a:r>
            <a:r>
              <a:rPr sz="1700" b="0">
                <a:solidFill>
                  <a:srgbClr val="222222"/>
                </a:solidFill>
                <a:latin typeface="맑은 고딕"/>
              </a:rPr>
              <a:t> → </a:t>
            </a:r>
            <a:r>
              <a:rPr sz="1700" b="1">
                <a:solidFill>
                  <a:srgbClr val="222222"/>
                </a:solidFill>
                <a:latin typeface="Consolas"/>
                <a:cs typeface="Consolas"/>
              </a:rPr>
              <a:t>SUCCESS</a:t>
            </a:r>
            <a:r>
              <a:rPr sz="1700" b="0">
                <a:solidFill>
                  <a:srgbClr val="222222"/>
                </a:solidFill>
                <a:latin typeface="맑은 고딕"/>
              </a:rPr>
              <a:t>. 경고 없음</a:t>
            </a:r>
          </a:p>
          <a:p>
            <a:pPr algn="l">
              <a:spcAft>
                <a:spcPts val="1000"/>
              </a:spcAft>
            </a:pPr>
            <a:r>
              <a:rPr sz="1700" b="0">
                <a:solidFill>
                  <a:srgbClr val="222222"/>
                </a:solidFill>
                <a:latin typeface="맑은 고딕"/>
              </a:rPr>
              <a:t>•  </a:t>
            </a:r>
            <a:r>
              <a:rPr sz="1700" b="0">
                <a:solidFill>
                  <a:srgbClr val="222222"/>
                </a:solidFill>
                <a:latin typeface="Consolas"/>
                <a:cs typeface="Consolas"/>
              </a:rPr>
              <a:t>InconsistentLogXptProps</a:t>
            </a:r>
            <a:r>
              <a:rPr sz="1700" b="0">
                <a:solidFill>
                  <a:srgbClr val="222222"/>
                </a:solidFill>
                <a:latin typeface="맑은 고딕"/>
              </a:rPr>
              <a:t> / </a:t>
            </a:r>
            <a:r>
              <a:rPr sz="1700" b="0">
                <a:solidFill>
                  <a:srgbClr val="222222"/>
                </a:solidFill>
                <a:latin typeface="Consolas"/>
                <a:cs typeface="Consolas"/>
              </a:rPr>
              <a:t>InconsistentProperties</a:t>
            </a:r>
            <a:r>
              <a:rPr sz="1700" b="0">
                <a:solidFill>
                  <a:srgbClr val="222222"/>
                </a:solidFill>
                <a:latin typeface="맑은 고딕"/>
              </a:rPr>
              <a:t> → </a:t>
            </a:r>
            <a:r>
              <a:rPr sz="1700" b="1">
                <a:solidFill>
                  <a:srgbClr val="222222"/>
                </a:solidFill>
                <a:latin typeface="맑은 고딕"/>
              </a:rPr>
              <a:t>비어 있음</a:t>
            </a:r>
          </a:p>
          <a:p>
            <a:pPr algn="l">
              <a:spcAft>
                <a:spcPts val="1000"/>
              </a:spcAft>
            </a:pPr>
            <a:r>
              <a:rPr sz="1700" b="0">
                <a:solidFill>
                  <a:srgbClr val="222222"/>
                </a:solidFill>
                <a:latin typeface="맑은 고딕"/>
              </a:rPr>
              <a:t>•  그런데 파라미터는 분명히 바뀌어 있었다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회복 방법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아무 속성이나 다시 적용한다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EDIT DATABASE 'boston' SET PROPERTY 'LogXptMode'='ASYNC';</a:t>
            </a:r>
          </a:p>
          <a:p>
            <a:pPr algn="l">
              <a:spcAft>
                <a:spcPts val="1000"/>
              </a:spcAft>
            </a:pPr>
            <a:r>
              <a:rPr sz="1700" b="0">
                <a:solidFill>
                  <a:srgbClr val="222222"/>
                </a:solidFill>
                <a:latin typeface="맑은 고딕"/>
              </a:rPr>
              <a:t>•  값이 </a:t>
            </a:r>
            <a:r>
              <a:rPr sz="1700" b="1">
                <a:solidFill>
                  <a:srgbClr val="222222"/>
                </a:solidFill>
                <a:latin typeface="맑은 고딕"/>
              </a:rPr>
              <a:t>원래와 같아도</a:t>
            </a:r>
            <a:r>
              <a:rPr sz="1700" b="0">
                <a:solidFill>
                  <a:srgbClr val="222222"/>
                </a:solidFill>
                <a:latin typeface="맑은 고딕"/>
              </a:rPr>
              <a:t> 상관없다</a:t>
            </a:r>
          </a:p>
          <a:p>
            <a:pPr algn="l">
              <a:spcAft>
                <a:spcPts val="1000"/>
              </a:spcAft>
            </a:pPr>
            <a:r>
              <a:rPr sz="1700" b="0">
                <a:solidFill>
                  <a:srgbClr val="222222"/>
                </a:solidFill>
                <a:latin typeface="맑은 고딕"/>
              </a:rPr>
              <a:t>•  속성을 하나라도 적용하면 </a:t>
            </a:r>
            <a:r>
              <a:rPr sz="1700" b="1">
                <a:solidFill>
                  <a:srgbClr val="222222"/>
                </a:solidFill>
                <a:latin typeface="맑은 고딕"/>
              </a:rPr>
              <a:t>문자열 전체가 다시 만들어진다</a:t>
            </a:r>
          </a:p>
          <a:p>
            <a:pPr algn="l">
              <a:spcAft>
                <a:spcPts val="1000"/>
              </a:spcAft>
            </a:pPr>
            <a:r>
              <a:rPr sz="1700" b="0">
                <a:solidFill>
                  <a:srgbClr val="222222"/>
                </a:solidFill>
                <a:latin typeface="맑은 고딕"/>
              </a:rPr>
              <a:t>•  실무에서 쓸 만한 회복 수단</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원칙 하나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Broker 를 켰으면 Broker 로만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판단 기준 — </a:t>
            </a:r>
            <a:r>
              <a:rPr sz="1700" b="0">
                <a:solidFill>
                  <a:srgbClr val="222222"/>
                </a:solidFill>
                <a:latin typeface="Consolas"/>
                <a:cs typeface="Consolas"/>
              </a:rPr>
              <a:t>SHOW DATABASE VERBOSE</a:t>
            </a:r>
            <a:r>
              <a:rPr sz="1700" b="0">
                <a:solidFill>
                  <a:srgbClr val="222222"/>
                </a:solidFill>
                <a:latin typeface="맑은 고딕"/>
              </a:rPr>
              <a:t> </a:t>
            </a:r>
            <a:r>
              <a:rPr sz="1700" b="1">
                <a:solidFill>
                  <a:srgbClr val="222222"/>
                </a:solidFill>
                <a:latin typeface="맑은 고딕"/>
              </a:rPr>
              <a:t>속성 목록에 있으면 Broker 의 것</a:t>
            </a:r>
          </a:p>
          <a:p>
            <a:pPr algn="l">
              <a:spcAft>
                <a:spcPts val="1000"/>
              </a:spcAft>
            </a:pPr>
            <a:r>
              <a:rPr sz="1700" b="0">
                <a:solidFill>
                  <a:srgbClr val="222222"/>
                </a:solidFill>
                <a:latin typeface="맑은 고딕"/>
              </a:rPr>
              <a:t>•  </a:t>
            </a:r>
            <a:r>
              <a:rPr sz="1700" b="0">
                <a:solidFill>
                  <a:srgbClr val="222222"/>
                </a:solidFill>
                <a:latin typeface="Consolas"/>
                <a:cs typeface="Consolas"/>
              </a:rPr>
              <a:t>SGA_TARGET</a:t>
            </a:r>
            <a:r>
              <a:rPr sz="1700" b="0">
                <a:solidFill>
                  <a:srgbClr val="222222"/>
                </a:solidFill>
                <a:latin typeface="맑은 고딕"/>
              </a:rPr>
              <a:t> · </a:t>
            </a:r>
            <a:r>
              <a:rPr sz="1700" b="0">
                <a:solidFill>
                  <a:srgbClr val="222222"/>
                </a:solidFill>
                <a:latin typeface="Consolas"/>
                <a:cs typeface="Consolas"/>
              </a:rPr>
              <a:t>PROCESSES</a:t>
            </a:r>
            <a:r>
              <a:rPr sz="1700" b="0">
                <a:solidFill>
                  <a:srgbClr val="222222"/>
                </a:solidFill>
                <a:latin typeface="맑은 고딕"/>
              </a:rPr>
              <a:t> 는 SQL 로 바꿔도 된다</a:t>
            </a:r>
          </a:p>
          <a:p>
            <a:pPr algn="l">
              <a:spcAft>
                <a:spcPts val="1000"/>
              </a:spcAft>
            </a:pPr>
            <a:r>
              <a:rPr sz="1700" b="0">
                <a:solidFill>
                  <a:srgbClr val="222222"/>
                </a:solidFill>
                <a:latin typeface="맑은 고딕"/>
              </a:rPr>
              <a:t>•  Broker 를 꺼도 파라미터는 남는다 — 되돌리기 어려운 결정은 아니다</a:t>
            </a:r>
          </a:p>
          <a:p>
            <a:pPr algn="l">
              <a:spcAft>
                <a:spcPts val="1000"/>
              </a:spcAft>
            </a:pPr>
            <a:r>
              <a:rPr sz="1700" b="0">
                <a:solidFill>
                  <a:srgbClr val="222222"/>
                </a:solidFill>
                <a:latin typeface="맑은 고딕"/>
              </a:rPr>
              <a:t>•  그러나 </a:t>
            </a:r>
            <a:r>
              <a:rPr sz="1700" b="1">
                <a:solidFill>
                  <a:srgbClr val="222222"/>
                </a:solidFill>
                <a:latin typeface="맑은 고딕"/>
              </a:rPr>
              <a:t>혼용이 가장 나쁘다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재기동을 넘어 유지된다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실측</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양쪽 정상 종료 → VM 종료 → 다시 기동</a:t>
            </a:r>
          </a:p>
          <a:p>
            <a:pPr algn="l">
              <a:spcAft>
                <a:spcPts val="1000"/>
              </a:spcAft>
            </a:pPr>
            <a:r>
              <a:rPr sz="1700" b="0">
                <a:solidFill>
                  <a:srgbClr val="222222"/>
                </a:solidFill>
                <a:latin typeface="맑은 고딕"/>
              </a:rPr>
              <a:t>•  </a:t>
            </a:r>
            <a:r>
              <a:rPr sz="1700" b="0">
                <a:solidFill>
                  <a:srgbClr val="222222"/>
                </a:solidFill>
                <a:latin typeface="Consolas"/>
                <a:cs typeface="Consolas"/>
              </a:rPr>
              <a:t>Configuration Status: SUCCESS</a:t>
            </a:r>
            <a:r>
              <a:rPr sz="1700" b="0">
                <a:solidFill>
                  <a:srgbClr val="222222"/>
                </a:solidFill>
                <a:latin typeface="맑은 고딕"/>
              </a:rPr>
              <a:t>, </a:t>
            </a:r>
            <a:r>
              <a:rPr sz="1700" b="0">
                <a:solidFill>
                  <a:srgbClr val="222222"/>
                </a:solidFill>
                <a:latin typeface="Consolas"/>
                <a:cs typeface="Consolas"/>
              </a:rPr>
              <a:t>Real Time Query: ON</a:t>
            </a:r>
            <a:r>
              <a:rPr sz="1700" b="0">
                <a:solidFill>
                  <a:srgbClr val="222222"/>
                </a:solidFill>
                <a:latin typeface="맑은 고딕"/>
              </a:rPr>
              <a:t>, 두 지연 0</a:t>
            </a:r>
          </a:p>
          <a:p>
            <a:pPr algn="l">
              <a:spcAft>
                <a:spcPts val="1000"/>
              </a:spcAft>
            </a:pPr>
            <a:r>
              <a:rPr sz="1700" b="0">
                <a:solidFill>
                  <a:srgbClr val="222222"/>
                </a:solidFill>
                <a:latin typeface="맑은 고딕"/>
              </a:rPr>
              <a:t>•  </a:t>
            </a:r>
            <a:r>
              <a:rPr sz="1700" b="1">
                <a:solidFill>
                  <a:srgbClr val="222222"/>
                </a:solidFill>
                <a:latin typeface="맑은 고딕"/>
              </a:rPr>
              <a:t>Broker 가 MRP 를 스스로 띄웠다</a:t>
            </a:r>
            <a:r>
              <a:rPr sz="1700" b="0">
                <a:solidFill>
                  <a:srgbClr val="222222"/>
                </a:solidFill>
                <a:latin typeface="맑은 고딕"/>
              </a:rPr>
              <a:t> — SQL 을 실행하지 않았다</a:t>
            </a:r>
          </a:p>
          <a:p>
            <a:pPr algn="l">
              <a:spcAft>
                <a:spcPts val="1000"/>
              </a:spcAft>
            </a:pPr>
            <a:r>
              <a:rPr sz="1700" b="0">
                <a:solidFill>
                  <a:srgbClr val="222222"/>
                </a:solidFill>
                <a:latin typeface="맑은 고딕"/>
              </a:rPr>
              <a:t>•  이유 둘 — </a:t>
            </a:r>
            <a:r>
              <a:rPr sz="1700" b="0">
                <a:solidFill>
                  <a:srgbClr val="222222"/>
                </a:solidFill>
                <a:latin typeface="Consolas"/>
                <a:cs typeface="Consolas"/>
              </a:rPr>
              <a:t>SCOPE=BOTH</a:t>
            </a:r>
            <a:r>
              <a:rPr sz="1700" b="0">
                <a:solidFill>
                  <a:srgbClr val="222222"/>
                </a:solidFill>
                <a:latin typeface="맑은 고딕"/>
              </a:rPr>
              <a:t> 설정 + 디스크의 구성 파일</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 (1/2)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Broker 는 </a:t>
            </a:r>
            <a:r>
              <a:rPr sz="1600" b="1">
                <a:solidFill>
                  <a:srgbClr val="222222"/>
                </a:solidFill>
                <a:latin typeface="맑은 고딕"/>
              </a:rPr>
              <a:t>번거로운 일</a:t>
            </a:r>
            <a:r>
              <a:rPr sz="1600" b="0">
                <a:solidFill>
                  <a:srgbClr val="222222"/>
                </a:solidFill>
                <a:latin typeface="맑은 고딕"/>
              </a:rPr>
              <a:t>을 대신한다. 어려운 일이 아니다.</a:t>
            </a:r>
          </a:p>
          <a:p>
            <a:pPr algn="l">
              <a:spcAft>
                <a:spcPts val="1000"/>
              </a:spcAft>
            </a:pPr>
            <a:r>
              <a:rPr sz="1600" b="0">
                <a:solidFill>
                  <a:srgbClr val="222222"/>
                </a:solidFill>
                <a:latin typeface="맑은 고딕"/>
              </a:rPr>
              <a:t>•  구성 요소 셋 — </a:t>
            </a:r>
            <a:r>
              <a:rPr sz="1600" b="1">
                <a:solidFill>
                  <a:srgbClr val="222222"/>
                </a:solidFill>
                <a:latin typeface="맑은 고딕"/>
              </a:rPr>
              <a:t>DMON</a:t>
            </a:r>
            <a:r>
              <a:rPr sz="1600" b="0">
                <a:solidFill>
                  <a:srgbClr val="222222"/>
                </a:solidFill>
                <a:latin typeface="맑은 고딕"/>
              </a:rPr>
              <a:t>, </a:t>
            </a:r>
            <a:r>
              <a:rPr sz="1600" b="1">
                <a:solidFill>
                  <a:srgbClr val="222222"/>
                </a:solidFill>
                <a:latin typeface="맑은 고딕"/>
              </a:rPr>
              <a:t>구성 파일</a:t>
            </a:r>
            <a:r>
              <a:rPr sz="1600" b="0">
                <a:solidFill>
                  <a:srgbClr val="222222"/>
                </a:solidFill>
                <a:latin typeface="맑은 고딕"/>
              </a:rPr>
              <a:t>(노드당 2벌), </a:t>
            </a:r>
            <a:r>
              <a:rPr sz="1600" b="1">
                <a:solidFill>
                  <a:srgbClr val="222222"/>
                </a:solidFill>
                <a:latin typeface="맑은 고딕"/>
              </a:rPr>
              <a:t>DGMGRL</a:t>
            </a:r>
            <a:r>
              <a:rPr sz="1600" b="0">
                <a:solidFill>
                  <a:srgbClr val="222222"/>
                </a:solidFill>
                <a:latin typeface="맑은 고딕"/>
              </a:rPr>
              <a:t>.</a:t>
            </a:r>
          </a:p>
          <a:p>
            <a:pPr algn="l">
              <a:spcAft>
                <a:spcPts val="1000"/>
              </a:spcAft>
            </a:pPr>
            <a:r>
              <a:rPr sz="1600" b="0">
                <a:solidFill>
                  <a:srgbClr val="222222"/>
                </a:solidFill>
                <a:latin typeface="맑은 고딕"/>
              </a:rPr>
              <a:t>•  DGMGRL 은 전달만 하고 </a:t>
            </a:r>
            <a:r>
              <a:rPr sz="1600" b="1">
                <a:solidFill>
                  <a:srgbClr val="222222"/>
                </a:solidFill>
                <a:latin typeface="맑은 고딕"/>
              </a:rPr>
              <a:t>DMON 이 SQL 로</a:t>
            </a:r>
            <a:r>
              <a:rPr sz="1600" b="0">
                <a:solidFill>
                  <a:srgbClr val="222222"/>
                </a:solidFill>
                <a:latin typeface="맑은 고딕"/>
              </a:rPr>
              <a:t> 실행한다. </a:t>
            </a:r>
            <a:r>
              <a:rPr sz="1600" b="0">
                <a:solidFill>
                  <a:srgbClr val="222222"/>
                </a:solidFill>
                <a:latin typeface="Consolas"/>
                <a:cs typeface="Consolas"/>
              </a:rPr>
              <a:t>drc*.log</a:t>
            </a:r>
            <a:r>
              <a:rPr sz="1600" b="0">
                <a:solidFill>
                  <a:srgbClr val="222222"/>
                </a:solidFill>
                <a:latin typeface="맑은 고딕"/>
              </a:rPr>
              <a:t> 에 흔적.</a:t>
            </a:r>
          </a:p>
          <a:p>
            <a:pPr algn="l">
              <a:spcAft>
                <a:spcPts val="1000"/>
              </a:spcAft>
            </a:pPr>
            <a:r>
              <a:rPr sz="1600" b="0">
                <a:solidFill>
                  <a:srgbClr val="222222"/>
                </a:solidFill>
                <a:latin typeface="맑은 고딕"/>
              </a:rPr>
              <a:t>•  </a:t>
            </a:r>
            <a:r>
              <a:rPr sz="1600" b="0">
                <a:solidFill>
                  <a:srgbClr val="222222"/>
                </a:solidFill>
                <a:latin typeface="Consolas"/>
                <a:cs typeface="Consolas"/>
              </a:rPr>
              <a:t>DG_BROKER_START</a:t>
            </a:r>
            <a:r>
              <a:rPr sz="1600" b="0">
                <a:solidFill>
                  <a:srgbClr val="222222"/>
                </a:solidFill>
                <a:latin typeface="맑은 고딕"/>
              </a:rPr>
              <a:t> 기본 </a:t>
            </a:r>
            <a:r>
              <a:rPr sz="1600" b="0">
                <a:solidFill>
                  <a:srgbClr val="222222"/>
                </a:solidFill>
                <a:latin typeface="Consolas"/>
                <a:cs typeface="Consolas"/>
              </a:rPr>
              <a:t>FALSE</a:t>
            </a:r>
            <a:r>
              <a:rPr sz="1600" b="0">
                <a:solidFill>
                  <a:srgbClr val="222222"/>
                </a:solidFill>
                <a:latin typeface="맑은 고딕"/>
              </a:rPr>
              <a:t>. </a:t>
            </a:r>
            <a:r>
              <a:rPr sz="1600" b="0">
                <a:solidFill>
                  <a:srgbClr val="222222"/>
                </a:solidFill>
                <a:latin typeface="Consolas"/>
                <a:cs typeface="Consolas"/>
              </a:rPr>
              <a:t>SCOPE=BOTH</a:t>
            </a:r>
            <a:r>
              <a:rPr sz="1600" b="0">
                <a:solidFill>
                  <a:srgbClr val="222222"/>
                </a:solidFill>
                <a:latin typeface="맑은 고딕"/>
              </a:rPr>
              <a:t> 로 켜면 </a:t>
            </a:r>
            <a:r>
              <a:rPr sz="1600" b="1">
                <a:solidFill>
                  <a:srgbClr val="222222"/>
                </a:solidFill>
                <a:latin typeface="맑은 고딕"/>
              </a:rPr>
              <a:t>재기동 없이</a:t>
            </a:r>
            <a:r>
              <a:rPr sz="1600" b="0">
                <a:solidFill>
                  <a:srgbClr val="222222"/>
                </a:solidFill>
                <a:latin typeface="맑은 고딕"/>
              </a:rPr>
              <a:t> DMON.</a:t>
            </a:r>
          </a:p>
          <a:p>
            <a:pPr algn="l">
              <a:spcAft>
                <a:spcPts val="1000"/>
              </a:spcAft>
            </a:pPr>
            <a:r>
              <a:rPr sz="1600" b="0">
                <a:solidFill>
                  <a:srgbClr val="222222"/>
                </a:solidFill>
                <a:latin typeface="맑은 고딕"/>
              </a:rPr>
              <a:t>•  </a:t>
            </a:r>
            <a:r>
              <a:rPr sz="1600" b="1">
                <a:solidFill>
                  <a:srgbClr val="222222"/>
                </a:solidFill>
                <a:latin typeface="맑은 고딕"/>
              </a:rPr>
              <a:t>정적 등록 </a:t>
            </a:r>
            <a:r>
              <a:rPr sz="1600" b="1">
                <a:solidFill>
                  <a:srgbClr val="222222"/>
                </a:solidFill>
                <a:latin typeface="Consolas"/>
                <a:cs typeface="Consolas"/>
              </a:rPr>
              <a:t>&lt;이름&gt;_DGMGRL</a:t>
            </a:r>
            <a:r>
              <a:rPr sz="1600" b="1">
                <a:solidFill>
                  <a:srgbClr val="222222"/>
                </a:solidFill>
                <a:latin typeface="맑은 고딕"/>
              </a:rPr>
              <a:t> 필수</a:t>
            </a:r>
            <a:r>
              <a:rPr sz="1600" b="0">
                <a:solidFill>
                  <a:srgbClr val="222222"/>
                </a:solidFill>
                <a:latin typeface="맑은 고딕"/>
              </a:rPr>
              <a:t> — 역할 전환 중 재기동 구간 때문.</a:t>
            </a:r>
          </a:p>
          <a:p>
            <a:pPr algn="l">
              <a:spcAft>
                <a:spcPts val="1000"/>
              </a:spcAft>
            </a:pPr>
            <a:r>
              <a:rPr sz="1600" b="0">
                <a:solidFill>
                  <a:srgbClr val="222222"/>
                </a:solidFill>
                <a:latin typeface="맑은 고딕"/>
              </a:rPr>
              <a:t>•  Broker 없이 접속 </a:t>
            </a:r>
            <a:r>
              <a:rPr sz="1600" b="1">
                <a:solidFill>
                  <a:srgbClr val="222222"/>
                </a:solidFill>
                <a:latin typeface="맑은 고딕"/>
              </a:rPr>
              <a:t>ORA-16525</a:t>
            </a:r>
            <a:r>
              <a:rPr sz="1600" b="0">
                <a:solidFill>
                  <a:srgbClr val="222222"/>
                </a:solidFill>
                <a:latin typeface="맑은 고딕"/>
              </a:rPr>
              <a:t>, 구성이 없으면 </a:t>
            </a:r>
            <a:r>
              <a:rPr sz="1600" b="1">
                <a:solidFill>
                  <a:srgbClr val="222222"/>
                </a:solidFill>
                <a:latin typeface="맑은 고딕"/>
              </a:rPr>
              <a:t>ORA-16532</a:t>
            </a:r>
            <a:r>
              <a:rPr sz="1600" b="0">
                <a:solidFill>
                  <a:srgbClr val="222222"/>
                </a:solidFill>
                <a:latin typeface="맑은 고딕"/>
              </a:rPr>
              <a:t>.</a:t>
            </a:r>
          </a:p>
          <a:p>
            <a:pPr algn="l">
              <a:spcAft>
                <a:spcPts val="1000"/>
              </a:spcAft>
            </a:pPr>
            <a:r>
              <a:rPr sz="1600" b="0">
                <a:solidFill>
                  <a:srgbClr val="222222"/>
                </a:solidFill>
                <a:latin typeface="맑은 고딕"/>
              </a:rPr>
              <a:t>•  </a:t>
            </a:r>
            <a:r>
              <a:rPr sz="1600" b="0">
                <a:solidFill>
                  <a:srgbClr val="222222"/>
                </a:solidFill>
                <a:latin typeface="Consolas"/>
                <a:cs typeface="Consolas"/>
              </a:rPr>
              <a:t>CREATE CONFIGURATION</a:t>
            </a:r>
            <a:r>
              <a:rPr sz="1600" b="0">
                <a:solidFill>
                  <a:srgbClr val="222222"/>
                </a:solidFill>
                <a:latin typeface="맑은 고딕"/>
              </a:rPr>
              <a:t> → </a:t>
            </a:r>
            <a:r>
              <a:rPr sz="1600" b="0">
                <a:solidFill>
                  <a:srgbClr val="222222"/>
                </a:solidFill>
                <a:latin typeface="Consolas"/>
                <a:cs typeface="Consolas"/>
              </a:rPr>
              <a:t>ADD DATABASE</a:t>
            </a:r>
            <a:r>
              <a:rPr sz="1600" b="0">
                <a:solidFill>
                  <a:srgbClr val="222222"/>
                </a:solidFill>
                <a:latin typeface="맑은 고딕"/>
              </a:rPr>
              <a:t> → </a:t>
            </a:r>
            <a:r>
              <a:rPr sz="1600" b="0">
                <a:solidFill>
                  <a:srgbClr val="222222"/>
                </a:solidFill>
                <a:latin typeface="Consolas"/>
                <a:cs typeface="Consolas"/>
              </a:rPr>
              <a:t>ENABLE CONFIGURATION</a:t>
            </a:r>
            <a:r>
              <a:rPr sz="1600" b="0">
                <a:solidFill>
                  <a:srgbClr val="222222"/>
                </a:solidFill>
                <a:latin typeface="맑은 고딕"/>
              </a:rPr>
              <a:t>.</a:t>
            </a:r>
          </a:p>
          <a:p>
            <a:pPr algn="l">
              <a:spcAft>
                <a:spcPts val="1000"/>
              </a:spcAft>
            </a:pPr>
            <a:r>
              <a:rPr sz="1600" b="0">
                <a:solidFill>
                  <a:srgbClr val="222222"/>
                </a:solidFill>
                <a:latin typeface="맑은 고딕"/>
              </a:rPr>
              <a:t>•  </a:t>
            </a:r>
            <a:r>
              <a:rPr sz="1600" b="0">
                <a:solidFill>
                  <a:srgbClr val="222222"/>
                </a:solidFill>
                <a:latin typeface="Consolas"/>
                <a:cs typeface="Consolas"/>
              </a:rPr>
              <a:t>connect identifier</a:t>
            </a:r>
            <a:r>
              <a:rPr sz="1600" b="0">
                <a:solidFill>
                  <a:srgbClr val="222222"/>
                </a:solidFill>
                <a:latin typeface="맑은 고딕"/>
              </a:rPr>
              <a:t> 는 </a:t>
            </a:r>
            <a:r>
              <a:rPr sz="1600" b="1">
                <a:solidFill>
                  <a:srgbClr val="222222"/>
                </a:solidFill>
                <a:latin typeface="맑은 고딕"/>
              </a:rPr>
              <a:t>tnsnames 별칭</a:t>
            </a:r>
            <a:r>
              <a:rPr sz="1600" b="0">
                <a:solidFill>
                  <a:srgbClr val="222222"/>
                </a:solidFill>
                <a:latin typeface="맑은 고딕"/>
              </a:rPr>
              <a:t>이다.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 (2/2)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손으로 설정한 목적지가 있으면 </a:t>
            </a:r>
            <a:r>
              <a:rPr sz="1600" b="1">
                <a:solidFill>
                  <a:srgbClr val="222222"/>
                </a:solidFill>
                <a:latin typeface="맑은 고딕"/>
              </a:rPr>
              <a:t>ORA-16698</a:t>
            </a:r>
            <a:r>
              <a:rPr sz="1600" b="0">
                <a:solidFill>
                  <a:srgbClr val="222222"/>
                </a:solidFill>
                <a:latin typeface="맑은 고딕"/>
              </a:rPr>
              <a:t>. 양쪽을 비운다(</a:t>
            </a:r>
            <a:r>
              <a:rPr sz="1600" b="1">
                <a:solidFill>
                  <a:srgbClr val="222222"/>
                </a:solidFill>
                <a:latin typeface="맑은 고딕"/>
              </a:rPr>
              <a:t>유일한 서비스 영향</a:t>
            </a:r>
            <a:r>
              <a:rPr sz="1600" b="0">
                <a:solidFill>
                  <a:srgbClr val="222222"/>
                </a:solidFill>
                <a:latin typeface="맑은 고딕"/>
              </a:rPr>
              <a:t>).</a:t>
            </a:r>
          </a:p>
          <a:p>
            <a:pPr algn="l">
              <a:spcAft>
                <a:spcPts val="1000"/>
              </a:spcAft>
            </a:pPr>
            <a:r>
              <a:rPr sz="1600" b="0">
                <a:solidFill>
                  <a:srgbClr val="222222"/>
                </a:solidFill>
                <a:latin typeface="맑은 고딕"/>
              </a:rPr>
              <a:t>•  활성화 전에는 </a:t>
            </a:r>
            <a:r>
              <a:rPr sz="1600" b="0">
                <a:solidFill>
                  <a:srgbClr val="222222"/>
                </a:solidFill>
                <a:latin typeface="Consolas"/>
                <a:cs typeface="Consolas"/>
              </a:rPr>
              <a:t>(disabled)</a:t>
            </a:r>
            <a:r>
              <a:rPr sz="1600" b="0">
                <a:solidFill>
                  <a:srgbClr val="222222"/>
                </a:solidFill>
                <a:latin typeface="맑은 고딕"/>
              </a:rPr>
              <a:t> 와 </a:t>
            </a:r>
            <a:r>
              <a:rPr sz="1600" b="1">
                <a:solidFill>
                  <a:srgbClr val="222222"/>
                </a:solidFill>
                <a:latin typeface="맑은 고딕"/>
              </a:rPr>
              <a:t>ORA-16905</a:t>
            </a:r>
            <a:r>
              <a:rPr sz="1600" b="0">
                <a:solidFill>
                  <a:srgbClr val="222222"/>
                </a:solidFill>
                <a:latin typeface="맑은 고딕"/>
              </a:rPr>
              <a:t> — 상태 안내다.</a:t>
            </a:r>
          </a:p>
          <a:p>
            <a:pPr algn="l">
              <a:spcAft>
                <a:spcPts val="1000"/>
              </a:spcAft>
            </a:pPr>
            <a:r>
              <a:rPr sz="1600" b="0">
                <a:solidFill>
                  <a:srgbClr val="222222"/>
                </a:solidFill>
                <a:latin typeface="맑은 고딕"/>
              </a:rPr>
              <a:t>•  Broker 는 목적지를 </a:t>
            </a:r>
            <a:r>
              <a:rPr sz="1600" b="1">
                <a:solidFill>
                  <a:srgbClr val="222222"/>
                </a:solidFill>
                <a:latin typeface="맑은 고딕"/>
              </a:rPr>
              <a:t>모든 속성을 명시</a:t>
            </a:r>
            <a:r>
              <a:rPr sz="1600" b="0">
                <a:solidFill>
                  <a:srgbClr val="222222"/>
                </a:solidFill>
                <a:latin typeface="맑은 고딕"/>
              </a:rPr>
              <a:t>해 다시 쓴다. </a:t>
            </a:r>
            <a:r>
              <a:rPr sz="1600" b="0">
                <a:solidFill>
                  <a:srgbClr val="222222"/>
                </a:solidFill>
                <a:latin typeface="Consolas"/>
                <a:cs typeface="Consolas"/>
              </a:rPr>
              <a:t>FAL_SERVER</a:t>
            </a:r>
            <a:r>
              <a:rPr sz="1600" b="0">
                <a:solidFill>
                  <a:srgbClr val="222222"/>
                </a:solidFill>
                <a:latin typeface="맑은 고딕"/>
              </a:rPr>
              <a:t> 는 </a:t>
            </a:r>
            <a:r>
              <a:rPr sz="1600" b="1">
                <a:solidFill>
                  <a:srgbClr val="222222"/>
                </a:solidFill>
                <a:latin typeface="맑은 고딕"/>
              </a:rPr>
              <a:t>비운다</a:t>
            </a:r>
            <a:r>
              <a:rPr sz="1600" b="0">
                <a:solidFill>
                  <a:srgbClr val="222222"/>
                </a:solidFill>
                <a:latin typeface="맑은 고딕"/>
              </a:rPr>
              <a:t>.</a:t>
            </a:r>
          </a:p>
          <a:p>
            <a:pPr algn="l">
              <a:spcAft>
                <a:spcPts val="1000"/>
              </a:spcAft>
            </a:pPr>
            <a:r>
              <a:rPr sz="1600" b="0">
                <a:solidFill>
                  <a:srgbClr val="222222"/>
                </a:solidFill>
                <a:latin typeface="맑은 고딕"/>
              </a:rPr>
              <a:t>•  </a:t>
            </a:r>
            <a:r>
              <a:rPr sz="1600" b="0">
                <a:solidFill>
                  <a:srgbClr val="222222"/>
                </a:solidFill>
                <a:latin typeface="Consolas"/>
                <a:cs typeface="Consolas"/>
              </a:rPr>
              <a:t>VALID_FOR</a:t>
            </a:r>
            <a:r>
              <a:rPr sz="1600" b="0">
                <a:solidFill>
                  <a:srgbClr val="222222"/>
                </a:solidFill>
                <a:latin typeface="맑은 고딕"/>
              </a:rPr>
              <a:t> 를 </a:t>
            </a:r>
            <a:r>
              <a:rPr sz="1600" b="1">
                <a:solidFill>
                  <a:srgbClr val="222222"/>
                </a:solidFill>
                <a:latin typeface="Consolas"/>
                <a:cs typeface="Consolas"/>
              </a:rPr>
              <a:t>all_roles</a:t>
            </a:r>
            <a:r>
              <a:rPr sz="1600" b="0">
                <a:solidFill>
                  <a:srgbClr val="222222"/>
                </a:solidFill>
                <a:latin typeface="맑은 고딕"/>
              </a:rPr>
              <a:t> 로 — 역할 전환 대비.</a:t>
            </a:r>
          </a:p>
          <a:p>
            <a:pPr algn="l">
              <a:spcAft>
                <a:spcPts val="1000"/>
              </a:spcAft>
            </a:pPr>
            <a:r>
              <a:rPr sz="1600" b="0">
                <a:solidFill>
                  <a:srgbClr val="222222"/>
                </a:solidFill>
                <a:latin typeface="맑은 고딕"/>
              </a:rPr>
              <a:t>•  </a:t>
            </a:r>
            <a:r>
              <a:rPr sz="1600" b="1">
                <a:solidFill>
                  <a:srgbClr val="222222"/>
                </a:solidFill>
                <a:latin typeface="Consolas"/>
                <a:cs typeface="Consolas"/>
              </a:rPr>
              <a:t>Intended State</a:t>
            </a:r>
            <a:r>
              <a:rPr sz="1600" b="0">
                <a:solidFill>
                  <a:srgbClr val="222222"/>
                </a:solidFill>
                <a:latin typeface="맑은 고딕"/>
              </a:rPr>
              <a:t> 는 목표 상태. 실제와 다르면 달성 실패.</a:t>
            </a:r>
          </a:p>
          <a:p>
            <a:pPr algn="l">
              <a:spcAft>
                <a:spcPts val="1000"/>
              </a:spcAft>
            </a:pPr>
            <a:r>
              <a:rPr sz="1600" b="0">
                <a:solidFill>
                  <a:srgbClr val="222222"/>
                </a:solidFill>
                <a:latin typeface="맑은 고딕"/>
              </a:rPr>
              <a:t>•  오류 인과 — </a:t>
            </a:r>
            <a:r>
              <a:rPr sz="1600" b="1">
                <a:solidFill>
                  <a:srgbClr val="222222"/>
                </a:solidFill>
                <a:latin typeface="맑은 고딕"/>
              </a:rPr>
              <a:t>16766(원인) → 16853(결과) → 16809(요약)</a:t>
            </a:r>
            <a:r>
              <a:rPr sz="1600" b="0">
                <a:solidFill>
                  <a:srgbClr val="222222"/>
                </a:solidFill>
                <a:latin typeface="맑은 고딕"/>
              </a:rPr>
              <a:t>.</a:t>
            </a:r>
          </a:p>
          <a:p>
            <a:pPr algn="l">
              <a:spcAft>
                <a:spcPts val="1000"/>
              </a:spcAft>
            </a:pPr>
            <a:r>
              <a:rPr sz="1600" b="0">
                <a:solidFill>
                  <a:srgbClr val="222222"/>
                </a:solidFill>
                <a:latin typeface="맑은 고딕"/>
              </a:rPr>
              <a:t>•  Broker 는 "멈췄다" 까지만. </a:t>
            </a:r>
            <a:r>
              <a:rPr sz="1600" b="1">
                <a:solidFill>
                  <a:srgbClr val="222222"/>
                </a:solidFill>
                <a:latin typeface="맑은 고딕"/>
              </a:rPr>
              <a:t>왜 멈췄는지는 알림 로그</a:t>
            </a:r>
            <a:r>
              <a:rPr sz="1600" b="0">
                <a:solidFill>
                  <a:srgbClr val="222222"/>
                </a:solidFill>
                <a:latin typeface="맑은 고딕"/>
              </a:rPr>
              <a:t>에.</a:t>
            </a:r>
          </a:p>
          <a:p>
            <a:pPr algn="l">
              <a:spcAft>
                <a:spcPts val="1000"/>
              </a:spcAft>
            </a:pPr>
            <a:r>
              <a:rPr sz="1600" b="0">
                <a:solidFill>
                  <a:srgbClr val="222222"/>
                </a:solidFill>
                <a:latin typeface="맑은 고딕"/>
              </a:rPr>
              <a:t>•  SQL 로 바꿔도 실측에서 </a:t>
            </a:r>
            <a:r>
              <a:rPr sz="1600" b="1">
                <a:solidFill>
                  <a:srgbClr val="222222"/>
                </a:solidFill>
                <a:latin typeface="맑은 고딕"/>
              </a:rPr>
              <a:t>30초 안에 경고가 없었다</a:t>
            </a:r>
            <a:r>
              <a:rPr sz="1600" b="0">
                <a:solidFill>
                  <a:srgbClr val="222222"/>
                </a:solidFill>
                <a:latin typeface="맑은 고딕"/>
              </a:rPr>
              <a:t>. 속성 재적용으로 회복.</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실습 01 — 전제 조건 점검 (ORA-16525)</a:t>
            </a:r>
          </a:p>
          <a:p>
            <a:pPr algn="l">
              <a:spcAft>
                <a:spcPts val="1000"/>
              </a:spcAft>
            </a:pPr>
            <a:r>
              <a:rPr sz="1600" b="0">
                <a:solidFill>
                  <a:srgbClr val="222222"/>
                </a:solidFill>
                <a:latin typeface="맑은 고딕"/>
              </a:rPr>
              <a:t>•  실습 02 — Broker 켜기 (ORA-16532 로 바뀐다)</a:t>
            </a:r>
          </a:p>
          <a:p>
            <a:pPr algn="l">
              <a:spcAft>
                <a:spcPts val="1000"/>
              </a:spcAft>
            </a:pPr>
            <a:r>
              <a:rPr sz="1600" b="0">
                <a:solidFill>
                  <a:srgbClr val="222222"/>
                </a:solidFill>
                <a:latin typeface="맑은 고딕"/>
              </a:rPr>
              <a:t>•  실습 03 — 구성 만들기와 ORA-16698</a:t>
            </a:r>
          </a:p>
          <a:p>
            <a:pPr algn="l">
              <a:spcAft>
                <a:spcPts val="1000"/>
              </a:spcAft>
            </a:pPr>
            <a:r>
              <a:rPr sz="1600" b="0">
                <a:solidFill>
                  <a:srgbClr val="222222"/>
                </a:solidFill>
                <a:latin typeface="맑은 고딕"/>
              </a:rPr>
              <a:t>•  실습 04 — 활성화와 인수 확인</a:t>
            </a:r>
          </a:p>
          <a:p>
            <a:pPr algn="l">
              <a:spcAft>
                <a:spcPts val="1000"/>
              </a:spcAft>
            </a:pPr>
            <a:r>
              <a:rPr sz="1600" b="0">
                <a:solidFill>
                  <a:srgbClr val="222222"/>
                </a:solidFill>
                <a:latin typeface="맑은 고딕"/>
              </a:rPr>
              <a:t>•  실습 05 — 상태 제어와 속성</a:t>
            </a:r>
          </a:p>
          <a:p>
            <a:pPr algn="l">
              <a:spcAft>
                <a:spcPts val="1000"/>
              </a:spcAft>
            </a:pPr>
            <a:r>
              <a:rPr sz="1600" b="0">
                <a:solidFill>
                  <a:srgbClr val="222222"/>
                </a:solidFill>
                <a:latin typeface="맑은 고딕"/>
              </a:rPr>
              <a:t>•  실습 06 — SQL 로 바꾸면</a:t>
            </a:r>
          </a:p>
          <a:p>
            <a:pPr algn="l">
              <a:spcAft>
                <a:spcPts val="1000"/>
              </a:spcAft>
            </a:pPr>
            <a:r>
              <a:rPr sz="1600" b="0">
                <a:solidFill>
                  <a:srgbClr val="222222"/>
                </a:solidFill>
                <a:latin typeface="맑은 고딕"/>
              </a:rPr>
              <a:t>•  실습 07 — 재기동 검증과 스냅샷</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
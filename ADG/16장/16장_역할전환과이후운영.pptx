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 정보가 두 군데에 저장된다는 사실이 이 장 전체에 걸쳐 계속 등장합니다. 데이터베이스 자신은 컨트롤 파일에 적힌 역할을 믿고, Broker는 자기 구성 파일에 적힌 역할을 믿습니다. 평소에는 둘이 같지만, Broker를 거치지 않고 SQL로 역할을 바꾸면 두 기록이 갈라집니다. 스냅샷 Standby는 리두를 받기만 하고 적용하지 않는 상태라서 그대로는 Primary가 될 수 없고, 먼저 물리 Standby로 되돌려 밀린 리두를 적용해야 합니다. 11장에서 본 내용이 여기서 전환 제약으로 다시 나타납니다.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Switchover에서는 옛 Primary가 마지막 리두까지 넘겨준 뒤에 Standby로 내려가므로 두 데이터베이스의 역사가 하나로 이어지고, 옛 Primary가 곧바로 새 Standby가 됩니다. Failover는 Primary가 응답하지 않는 상태에서 Standby가 일방적으로 역할을 가져오므로, 옛 Primary는 자기가 여전히 Primary라고 믿는 채로 남고 두 데이터베이스의 역사가 갈라집니다. Failover를 거꾸로 되돌리는 명령이 없어서, 원래 배치로 가려면 옛 Primary를 복구한 뒤 Switchover를 한 번 더 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장애 현장에서 가장 시간을 잡아먹는 일은 명령 실행보다 결정입니다. Primary를 몇 분 더 기다려 볼지, 지금 Failover할지를 놓고 회의를 하다 보면 RTO가 지나갑니다. 반대로 성급하게 Failover했는데 Primary는 인스턴스 재기동 한 번으로 살아날 장애였다면, Failover 뒤 정리 작업만 늘어난 셈입니다. 몇 분 이상 응답이 없으면 Failover한다는 기준, 그리고 누가 결정하는지를 평소에 정해 두면 이 시간을 줄일 수 있습니다. 판단 시간 자체를 없애려면 16.7절의 Fast-Start Failover로 갑니다.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역할이 바뀌면 옛 Primary에 붙어 있던 세션은 모두 끊기고 애플리케이션이 다시 접속해야 합니다. 18c 이전에는 열린 ADG Standby가 Primary가 될 때 버퍼 캐시가 비워져, 전환 직후 디스크 읽기가 몰려 느려지는 구간이 있었습니다. 지금은 캐시가 유지됩니다. STANDBY_DB_PRESERVE_STATES를 SESSION이나 ALL로 두면 Standby에서 조회하던 세션도 전환 동안 잠시 멈췄다가 이어서 동작합니다. 정적 파라미터라 인스턴스 기동 전에 설정해야 하고, 기본값 NONE은 세션을 정리해 전환을 빠르게 하는 쪽입니다.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교재가 꼽는 Switchover 불가 조건은 세 가지입니다. 갭이 있으면 Standby가 Primary의 현재 시점에 도달할 수 없고, Switchover는 언제나 현재 시점으로만 넘어가므로 시점 복구 용도로는 쓸 수 없습니다. Primary를 열 수 없다면 처음부터 Switchover의 전제가 무너진 상태입니다. 지연 적용은 전환을 막지는 않지만, 밀린 리두를 모두 적용하느라 전환 시간이 그만큼 늘어나므로 미리 풀어 두라고 권합니다. 4시간 지연을 걸어 둔 Standby로 전환하면 그 4시간 분량을 적용하는 동안 업무가 멈춘다고 생각하면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V$DATABASE의 SWITCHOVER_STATUS는 지금 이 데이터베이스가 전환을 받아들일 수 있는지를 한 단어로 보여 줍니다. Primary라면 TO STANDBY, Standby라면 TO PRIMARY가 정상입니다. SESSIONS ACTIVE는 사용자 세션이 남아 있다는 표시인데, 19c의 Broker나 SWITCHOVER TO 명령은 세션을 정리하면서 진행하므로 전환을 막지는 않습니다. RECOVERY NEEDED는 받은 리두를 아직 다 적용하지 못했다는 뜻이니 적용 상태를 먼저 봅니다. 이 열은 순간 상태라서, 갭과 지연은 15장의 뷰로 함께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VALIDATE DATABASE는 Data Guard 뷰와 ADR 정보를 모아 전환 준비 상태를 요약합니다. 맨 위 두 줄이 Yes인지가 판정이고, No라면 아래에 이유가 나옵니다. 함께 나오는 Flashback 상태가 꽤 중요한데, 양쪽이 Off라면 Failover는 할 수 있어도 나중에 옛 Primary를 Reinstate할 수 없다는 예고입니다. 로그 구성 항목은 현재와 전환 뒤를 나눠 보여 주므로, 옛 Primary에 SRL이 없어서 Standby가 되자마자 실시간 적용이 안 되는 문제를 미리 잡아 줍니다. 출력 해석의 세부는 14장에서 다뤘습니다.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SQL로 운영하는 구성에서는 VERIFY 절이 VALIDATE의 역할을 대신합니다. 문제가 없으면 Database altered 한 줄로 끝나고, 문제가 있으면 오류 번호와 함께 실패하며 자세한 이유는 alert log에 남습니다. ORA-16475는 전환 자체는 가능하지만 경고가 있다는 뜻이라 alert log를 읽고 감수할지 정하면 됩니다. ORA-16470은 대상 Standby에서 적용이 꺼져 있다는 뜻이니 적용을 기동하고 다시 검사합니다. 이 검사를 통과해도 임시 파일이나 VALID_FOR 설정까지 보장하지는 않으므로 따로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Primary에 SRL을 만들어 두라는 권고는 처음 들으면 이상하게 들립니다. Primary 역할일 때는 쓰이지 않기 때문입니다. 하지만 Switchover 직후 옛 Primary가 Standby가 되는 순간 SRL이 없으면 실시간 적용이 되지 않습니다. VALID_FOR로 목적지를 역할별로 정의해 두면 전환 뒤 파라미터를 손볼 필요가 없고, Broker 구성이라면 Broker가 알아서 다시 써 줍니다. 점검은 구성 상태, 지연과 갭, VALIDATE, 정적 접속 경로 순으로 하고, 되돌리는 절차를 미리 출력해 두면 전환 당일 당황할 일이 줄어듭니다.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DGMGRL에서 SWITCHOVER TO boston 한 줄을 치면 Broker가 뒤에서 여섯 단계를 차례로 처리합니다. 이 중 옛 Primary를 재기동하는 단계는 인스턴스가 내려간 상태에서 접속해야 하므로 동적 서비스 등록에 기댈 수 없고, 리스너의 정적 등록이나 StaticConnectIdentifier 속성을 씁니다. 정적 등록이 틀려 있으면 역할 교환까지는 성공하고 재기동에서 멈춥니다. 이때는 옛 Primary를 손으로 STARTUP MOUNT해 주면 Broker가 나머지를 이어서 처리합니다. 전환 직후 잠깐 보이는 ORA-16854 경고는 지표 계산이 아직 안 된 것이라 곧 사라집니다.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11g까지는 Primary와 Standby에서 COMMIT TO SWITCHOVER를 각각 내야 했지만, 12.1부터는 Primary에서 SWITCHOVER TO 한 번이면 역할이 바뀝니다. 다만 그다음 정리는 사람 몫입니다. 명령이 끝나면 옛 Primary 인스턴스는 내려가 있고, 새 Primary는 역할만 바뀐 채 MOUNTED 상태에 머뭅니다. 새 Primary를 열지 않으면 업무가 계속 멈춰 있고, 새 Standby에서 적용을 기동하지 않으면 보호가 없는 상태로 운영됩니다. Broker가 대신하던 4단계와 5단계를 손으로 한다고 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많은 분이 Broker가 켜져 있으면 SQL 전환은 거부될 거라고 예상합니다. 실제로는 그대로 실행됩니다. 역할 전환 SQL은 데이터베이스 엔진이 직접 처리하므로 Broker가 중간에 끼어들 수 없기 때문입니다. 그 결과 Broker는 옛 역할을 기억한 채 한동안 SUCCESS를 보여 주다가 ORA-16816을 냅니다. 새 Primary의 원격 목적지가 비어 리두가 가지 않는 일도 생깁니다. 이렇게 되면 V$DATABASE로 실제 역할을 확인하고, 구성을 지운 뒤 실제 역할대로 다시 만들어 ENABLE CONFIGURATION으로 파라미터를 다시 쓰게 하는 경로가 가장 확실합니다.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Failover의 결과로 새 Primary는 RESETLOGS로 열리고 새 incarnation이 시작됩니다. 그 시작 지점의 SCN이 V$DATABASE의 STANDBY_BECAME_PRIMARY_SCN에 남는데, 이 값이 이후 모든 정리 작업의 기준점입니다. 옛 Primary든 다른 Standby든 이 SCN까지 되감으면 새 Primary를 따라갈 수 있습니다. 전환에 참여하지 않은 Standby는 대개 그대로 새 Primary의 리두를 받지만, 적용 속도 차이 때문에 새 Primary보다 더 앞까지 적용해 버린 Standby는 플래시백으로 되감거나 다시 만들어야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옵션 없이 FAILOVER TO를 내면 완전 Failover입니다. 대상 Standby가 이미 받아 둔 리두를 끝까지 적용한 다음 역할을 넘겨받으므로, 보호 모드에 따라서는 손실이 0이 됩니다. 즉시 Failover는 받아 둔 리두마저 버리고 곧장 엽니다. 손상된 리두에서 적용이 멈춰 완전 Failover가 끝나지 않을 때처럼 더 기다려도 소용없는 경우를 위한 수단입니다. 즉시 Failover 뒤에는 대상이 아니었던 Standby도 모두 비활성화되므로 정리할 일이 훨씬 많아집니다. apply lag가 큰 Standby라면 완전 Failover도 그만큼 오래 걸립니다.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무엇을 잃는지는 Standby에 도착하지 못한 리두가 정합니다. 동기 전송이 정상이던 구성은 커밋된 데이터를 잃지 않지만, Maximum Availability라도 장애 직전에 동기화가 풀린 채 돌고 있었다면 손실이 생길 수 있습니다. ASYNC라면 장애 직전 transport lag가 대략의 손실 규모입니다. 옛 Primary가 열리지는 않아도 마운트가 된다면 ALTER SYSTEM FLUSH REDO TO로 남은 리두를 대상에 밀어 넣을 수 있고, 그러면 ASYNC 구성에서도 손실을 0으로 만들 수 있습니다. 대상이 여럿이면 가장 많이 받은 물리 Standby를 고릅니다.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Failover는 Primary에 접속할 수 없을 때 하므로 DGMGRL도 대상 Standby에 접속해 실행합니다. SQL 쪽은 12.1부터 ALTER DATABASE FAILOVER TO가 남은 리두 적용과 역할 변경을 한 번에 처리합니다. 예전 방식인 RECOVER FINISH와 COMMIT TO SWITCHOVER TO PRIMARY 조합도 19c에서 동작합니다. 빠진 아카이브 로그를 끝내 구할 수 없을 때 쓰는 ACTIVATE PHYSICAL STANDBY DATABASE는 적용하지 못한 리두를 모두 포기하는 명령이라 최후의 선택지입니다. Broker 구성에서는 SQL Failover도 앞의 Switchover와 같은 불일치를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Failover는 옛 Primary가 사라졌다고 가정하고 진행합니다. 그런데 실제로는 네트워크만 끊겼을 뿐 옛 Primary가 멀쩡히 돌고 있는 경우가 있습니다. 이때 일부 애플리케이션 서버가 옛 Primary에 계속 붙어 쓰기를 하면, 그 트랜잭션은 새 Primary에 없고 나중에 Reinstate하면서 플래시백으로 되감길 때 사라집니다. 수동 Failover라면 결정 직후 옛 Primary 인스턴스를 내리거나 네트워크를 막는 단계를 절차서에 넣어 둡니다. Fast-Start Failover는 같은 문제를 Primary 자동 종료 속성으로 처리합니다.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옛 Primary는 장애 직전까지 리두를 만들었고, 그중 일부는 Standby에 도착하지 못했을 수 있습니다. 새 Primary는 갈림길 SCN 이후로 자기만의 변경을 쌓았습니다. 두 데이터베이스가 서로 갖지 않은 변경을 하나씩 들고 있는 셈이라 그대로는 이어 붙일 수 없습니다. 옛 Primary를 갈림길 SCN 시점으로 되감으면 갈라지기 전의 공통 상태가 되고, 거기서부터 새 Primary의 리두를 받으면 됩니다. 이 되감기를 백업 복원으로 하면 몇 시간이 걸리지만, 플래시백 로그로 바뀐 블록만 되돌리면 대개 몇 분이면 끝납니다.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플래시백은 장애가 난 뒤에 켜서는 소용이 없습니다. 되감을 기록이 남아 있지 않기 때문입니다. 구성을 만들 때 Primary와 모든 물리 Standby에 함께 켜 두는 것을 표준으로 삼습니다. 보존 기간은 장애를 발견하고 결정을 내려 옛 Primary를 다시 마운트하기까지 걸릴 수 있는 시간보다 넉넉해야 합니다. 금요일 밤 장애를 월요일에 정리하는 조직이라면 기본값 하루로는 모자랍니다. FRA가 부족하면 보존 기간보다 일찍 로그가 지워지므로 FRA 사용률 감시도 같이 걸어 둡니다.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완전 Failover 뒤 SHOW CONFIGURATION을 보면 옛 Primary 옆에 두 오류 중 하나가 붙어 있습니다. ORA-16661이면 Reinstate가 가능하고, ORA-16795면 다시 만들어야 합니다. Reinstate할 때 가장 흔한 실수는 옛 Primary를 습관처럼 OPEN까지 올리는 것입니다. 열리는 순간 새 리두가 생겨 갈라진 범위가 더 커지므로 마운트까지만 올립니다. 그다음 새 Primary에 접속한 DGMGRL에서 REINSTATE DATABASE를 실행하면 플래시백, 물리 Standby 변환, 재기동, 적용 기동을 Broker가 한 번에 처리합니다.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Broker 없이 운영한다면 REINSTATE가 하던 일을 손으로 합니다. 새 Primary에서 갈림길 SCN을 조회하고, 옛 Primary를 마운트해 그 SCN으로 플래시백한 다음 물리 Standby로 변환하고 적용을 기동합니다. 이후 새 Primary의 리두 목적지가 켜져 있는지도 확인해야 실제로 리두가 흐릅니다. 플래시백이 꺼져 있었거나 로그가 지워졌거나 스토리지를 잃었다면 5장, 6장의 방법으로 Standby를 다시 만듭니다. Broker 구성이라면 구성에서 지울 필요 없이 다시 만든 뒤 ENABLE DATABASE로 편입하면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Fast-Start Failover는 장애 감지, 판단, 명령 실행을 모두 자동으로 처리합니다. 그 판단을 맡는 것이 Observer인데, DGMGRL 안에 들어 있는 클라이언트 기능입니다. Observer를 어디에 두느냐가 중요합니다. Primary 서버에 두면 Primary와 함께 사라지고, Standby 서버에 두면 Standby 쪽 네트워크만 끊겨도 Primary가 죽은 것으로 오판할 수 있으니 제3의 서버에 둡니다. 라이선스 측면에서는 Data Guard에 포함된 기능이라 Active Data Guard 옵션이 없어도 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연결 상실 조건은 양쪽 모두와 끊겼을 때만 성립합니다. Observer만 Primary를 못 보고 Standby는 Primary와 잘 통신하고 있다면 Primary가 살아 있다고 봅니다. 인스턴스 장애나 SHUTDOWN ABORT는 Primary가 사라진 것과 같으므로 발동하지만, SHUTDOWN IMMEDIATE 같은 정상 종료는 발동하지 않습니다. 상태 점검 조건은 연결은 살아 있는데 데이터베이스가 제 기능을 못 하는 경우를 위한 것입니다. 로그 접근 불가와 아카이브 정체는 일시적인 공간 문제로도 생길 수 있어 기본으로 꺼져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Maximum Performance에서 FSFO를 켜면 손실 가능성을 받아들이게 되는데, 그 상한이 FastStartFailoverLagLimit입니다. 기본 30초이고, 대상 Standby가 이보다 더 뒤처져 있으면 Primary가 사라져도 자동 전환을 하지 않고 사람의 판단을 기다립니다. 이 값은 업무 쪽과 합의해서 정해야 하는 숫자입니다. FastStartFailoverPmyShutdown은 Observer와 대상 양쪽과 끊긴 Primary가 스스로 종료하게 해 split brain을 막고, AutoReinstate는 옛 Primary가 마운트되면 Observer가 알아서 Reinstate하게 합니다. 플래시백이 없으면 ORA-16827 경고가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대상 속성을 양쪽에 서로를 가리키도록 넣는 이유는 자동 전환 뒤에도 FSFO가 반대 방향으로 계속 동작하게 하기 위해서입니다. FSFO를 켠 직후 Observer가 아직 없으면 SHOW CONFIGURATION에 ORA-16819 경고가 보이고, Observer가 붙으면 사라집니다. Observer를 배경으로 띄울 때 CONNECT IDENTIFIER 절을 쓰면 암호를 대화식으로 물어보지 않으므로 Oracle Wallet 같은 외부 인증을 준비해 두는 편이 운영에 맞습니다. 설정을 바꿀 때마다 SHOW FAST_START FAILOVER 한 화면으로 대상, 임계값, Observer, 조건을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 본문에는 Observer가 하나라고 적혀 있지만 12.1 시절 이야기이고, 19c에서는 세 개까지 둘 수 있습니다. 실제 판단은 마스터 하나가 하고, 마스터가 사라지면 대기 중인 Observer가 이어받습니다. 서로 다른 장소에 두면 Observer 서버 한 대가 죽어서 FSFO가 멈추는 일을 막을 수 있습니다. observe-only 모드는 19c에 새로 들어왔는데, 지금이라면 Failover했을 것이라는 기록만 남기고 실제로는 전환하지 않습니다. 운영에 처음 도입할 때 일정 기간 이 모드로 돌리며 임계값이 적절한지 확인하는 용도입니다.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Observer를 Standby 데이터센터에 두었는데 두 데이터센터 사이 회선이 2분 끊겼다고 생각해 보겠습니다. Observer와 Standby 모두 Primary를 볼 수 없으니 자동 전환이 일어납니다. Primary는 멀쩡했고 그쪽 사용자들도 잘 쓰고 있었는데 말입니다. 교재가 Observer를 클라이언트가 가장 많은 곳에 두라고 하는 이유가 이것입니다. 운영 중에는 계획 작업에서 SHUTDOWN ABORT를 쓰는 습관이 자동 전환을 부르니 주의하고, Observer가 죽으면 FSFO가 조용히 꺼진 상태가 되므로 프로세스 감시도 모니터링에 넣습니다.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역할이 바뀌어도 애플리케이션 설정을 고치지 않으려면 애플리케이션이 데이터베이스 이름 대신 서비스 이름으로 접속하게 하고, 그 서비스가 현재 Primary에서만 뜨게 만들면 됩니다. Oracle Restart나 Clusterware가 있으면 srvctl의 role 옵션 하나로 끝납니다. 없는 환경에서는 DBMS_SERVICE로 서비스를 만들고 기동 트리거에서 DATABASE_ROLE을 확인해 Primary일 때만 서비스를 시작합니다. 조회 업무를 Standby로 보내는 서비스를 따로 둘 수도 있는데, 이 경우 Standby가 적용하면서 열려 있어야 하므로 Active Data Guard 옵션이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접속 기술자에 Primary와 Standby 두 호스트를 모두 넣고 서비스 이름은 하나만 적습니다. 클라이언트는 목록을 차례로 시도하는데, 서비스가 없는 쪽 리스너는 즉시 거절하므로 서비스가 떠 있는 현재 Primary에 접속됩니다. 문제는 호스트 자체가 죽어 응답이 없을 때입니다. 타임아웃 설정이 없으면 운영체제의 TCP 타임아웃을 기다리느라 첫 주소에서만 몇 분을 보낼 수 있습니다. TRANSPORT_CONNECT_TIMEOUT과 CONNECT_TIMEOUT을 짧게 잡고 RETRY_COUNT로 재시도 횟수를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TAF는 접속이 끊기면 OCI 클라이언트가 알아서 다시 접속하고, 진행 중이던 SELECT는 이어서 읽어 줍니다. 다만 커밋하지 않은 트랜잭션은 롤백되므로 애플리케이션이 다시 시도해야 합니다. TAF의 약점은 장애 순간 연결이 끊긴 것을 클라이언트가 늦게 알아챈다는 데 있는데, FAN이 데이터베이스와 서비스의 상태 변화를 이벤트로 즉시 알려 이 공백을 메웁니다. 연결 풀은 FCF로 FAN 이벤트를 받아 죽은 연결을 치우고 새 Primary 연결로 채웁니다. 어느 것도 전환 자체를 빠르게 하지는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전환 명령이 성공했다는 메시지는 출발점일 뿐입니다. 점검은 위에서부터 순서대로 합니다. 역할이 의도와 다르면 그 아래 항목은 볼 의미가 없고, 전송이 안 되면 동기화 지표가 나쁜 것은 당연하기 때문입니다. 전환 직후 1~2분은 Broker가 지표를 계산하지 못해 경고를 보일 수 있으니 잠시 뒤 다시 봅니다. 실제로 놓치기 쉬운 것은 Data Guard 바깥입니다. 백업 작업이 옛 Primary 서버에만 등록돼 있거나 모니터링 대상이 그대로인 경우가 많습니다. Failover 뒤라면 새 incarnation이 시작됐으니 전체 백업을 서둘러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Switchover는 데이터 손실이 없고 되돌릴 수 있어서 운영 중에도 훈련할 수 있습니다. 실제로 역할을 바꿔 며칠 동안 Standby 쪽에서 업무를 돌려 보는 조직이 많습니다. 훈련을 해 보면 Data Guard 자체보다 주변에서 문제가 나옵니다. 옛 Primary 서버의 crontab에만 있던 배치, 애플리케이션 설정에 박힌 호스트 이름, 한쪽 서버에만 등록된 백업 작업 같은 것들입니다. 훈련 때마다 시작과 종료 시각을 기록해 두면 실제 장애 때 Failover까지 몇 분이 걸릴지 근거를 갖고 말할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물리 Standby는 Primary와 블록 단위로 같은 데이터베이스이므로 여기서 받은 데이터 파일과 아카이브 로그 백업을 Primary 복구에 그대로 쓸 수 있습니다. RMAN은 파일 경로가 달라도 DBID와 파일 번호로 같은 파일임을 압니다. 백업은 I/O를 많이 쓰므로 Standby로 옮기면 Primary가 업무에 집중할 수 있습니다. RMAN 접속은 AUXILIARY가 아닌 TARGET으로 합니다. 증분 백업을 빠르게 하는 블록 변경 추적을 Standby에서 쓰려면 Active Data Guard 옵션이 필요하다는 점은 라이선스 검토 때 놓치기 쉽습니다.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Standby에서 백업을 받으면 그 기록은 Standby의 컨트롤 파일에만 남습니다. 컨트롤 파일은 리두로 복제되지 않으므로 Primary는 그 백업이 있는지 모릅니다. Standby에서 백업하면 된다는 말이 절반만 맞는 이유입니다. 양쪽이 같은 복구 카탈로그를 쓰면 이 문제가 사라지고, 카탈로그는 같은 DBID 안에서 DB_UNIQUE_NAME으로 사이트를 구분해 기록합니다. 카탈로그가 없어도 백업 조각을 Primary 쪽으로 옮겨 CATALOG 명령으로 등록하면 쓸 수 있지만, 장애 중에 이 작업을 손으로 하기는 부담스럽습니다.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카탈로그는 백업을 만든 데이터베이스와 그 백업을 연관 지어 둡니다. boston에서 받은 백업은 boston 것입니다. 그런데 누가 그 백업을 쓸 수 있느냐는 다른 문제입니다. 디스크 백업은 그 서버에서만 보인다고 가정하므로 연관된 데이터베이스만 접근할 수 있고, 테이프 백업은 라이브러리를 여러 서버가 공유한다고 보아 모든 데이터베이스가 접근할 수 있습니다. Standby에서 받아 Primary에서 복원하는 전략이라면 공유 테이프나 공유 스토리지가 자연스럽고, 디스크 백업을 다른 서버로 복사했다면 CATALOG로 등록해 연관을 만들어 줍니다.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Standby가 아직 받지 못했거나 적용하지 못한 로그를 Primary에서 지우면 갭이 생기고, 그 로그는 FAL로도 다시 가져올 수 없습니다. 삭제 정책을 APPLIED ON ALL STANDBY로 두면 모든 Standby가 적용을 마친 로그만 지울 수 있고, FRA는 공간이 부족할 때 이 조건을 만족하는 로그부터 자동으로 정리합니다. ALL을 빼면 필수 목적지만 따지므로 대개 ALL을 붙입니다. 이 정책을 서버 이름 기준으로 정해 두면 Switchover 한 번에 틀어지므로, 역할 기준으로 정의하고 스크립트가 현재 역할을 확인하게 만드는 편이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파일과 아카이브 로그는 양쪽이 완전히 같으므로 어느 쪽 백업이든 서로 복원할 수 있습니다. 컨트롤 파일도 Standby용과 일반용을 서로 복원할 수 있는데, 복원할 때 대상 역할에 맞게 RESTORE STANDBY CONTROLFILE과 RESTORE CONTROLFILE을 골라 씁니다. SPFILE은 DB_UNIQUE_NAME, FAL_SERVER, 로그 목적지처럼 사이트마다 다른 값을 담고 있어 바꿔 쓸 수 없습니다. Logical Standby는 같은 데이터를 담은 별개의 데이터베이스라 그 백업은 Primary 복구에 쓸 수 없고, 컨트롤 파일은 반드시 바이너리 백업으로 받아 둬야 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역할 전환과 이후 운영</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Switchover, Failover, Reinstate, Fast-Start Failover, 백업 전략</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제16장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Switchover와 Failover를 구분하고 상황에 맞게 고른다</a:t>
            </a:r>
          </a:p>
          <a:p>
            <a:pPr algn="l">
              <a:spcAft>
                <a:spcPts val="1000"/>
              </a:spcAft>
            </a:pPr>
            <a:r>
              <a:rPr sz="1600" b="0">
                <a:solidFill>
                  <a:srgbClr val="222222"/>
                </a:solidFill>
                <a:latin typeface="맑은 고딕"/>
              </a:rPr>
              <a:t>•  VALIDATE와 VERIFY로 전환 가능 여부를 판정한다</a:t>
            </a:r>
          </a:p>
          <a:p>
            <a:pPr algn="l">
              <a:spcAft>
                <a:spcPts val="1000"/>
              </a:spcAft>
            </a:pPr>
            <a:r>
              <a:rPr sz="1600" b="0">
                <a:solidFill>
                  <a:srgbClr val="222222"/>
                </a:solidFill>
                <a:latin typeface="맑은 고딕"/>
              </a:rPr>
              <a:t>•  Broker와 SQL의 Switchover 절차와 내부 단계를 설명한다</a:t>
            </a:r>
          </a:p>
          <a:p>
            <a:pPr algn="l">
              <a:spcAft>
                <a:spcPts val="1000"/>
              </a:spcAft>
            </a:pPr>
            <a:r>
              <a:rPr sz="1600" b="0">
                <a:solidFill>
                  <a:srgbClr val="222222"/>
                </a:solidFill>
                <a:latin typeface="맑은 고딕"/>
              </a:rPr>
              <a:t>•  Failover의 종류와 데이터 손실을 판단하고 옛 Primary를 되살린다</a:t>
            </a:r>
          </a:p>
          <a:p>
            <a:pPr algn="l">
              <a:spcAft>
                <a:spcPts val="1000"/>
              </a:spcAft>
            </a:pPr>
            <a:r>
              <a:rPr sz="1600" b="0">
                <a:solidFill>
                  <a:srgbClr val="222222"/>
                </a:solidFill>
                <a:latin typeface="맑은 고딕"/>
              </a:rPr>
              <a:t>•  Fast-Start Failover의 Observer, 임계값, LagLimit를 설명한다</a:t>
            </a:r>
          </a:p>
          <a:p>
            <a:pPr algn="l">
              <a:spcAft>
                <a:spcPts val="1000"/>
              </a:spcAft>
            </a:pPr>
            <a:r>
              <a:rPr sz="1600" b="0">
                <a:solidFill>
                  <a:srgbClr val="222222"/>
                </a:solidFill>
                <a:latin typeface="맑은 고딕"/>
              </a:rPr>
              <a:t>•  역할 기반 서비스, 전환 후 점검, Standby 백업 전략을 세운다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16.2  역할 전환의 종류와 선택  /  16.3  Switchover 사전 점검</a:t>
            </a:r>
          </a:p>
          <a:p>
            <a:pPr algn="l">
              <a:spcAft>
                <a:spcPts val="1000"/>
              </a:spcAft>
            </a:pPr>
            <a:r>
              <a:rPr sz="1600" b="0">
                <a:solidFill>
                  <a:srgbClr val="222222"/>
                </a:solidFill>
                <a:latin typeface="맑은 고딕"/>
              </a:rPr>
              <a:t>•  16.4  Switchover 실행  /  16.5  Failover</a:t>
            </a:r>
          </a:p>
          <a:p>
            <a:pPr algn="l">
              <a:spcAft>
                <a:spcPts val="1000"/>
              </a:spcAft>
            </a:pPr>
            <a:r>
              <a:rPr sz="1600" b="0">
                <a:solidFill>
                  <a:srgbClr val="222222"/>
                </a:solidFill>
                <a:latin typeface="맑은 고딕"/>
              </a:rPr>
              <a:t>•  16.6  Failover 이후 옛 Primary 복구</a:t>
            </a:r>
          </a:p>
          <a:p>
            <a:pPr algn="l">
              <a:spcAft>
                <a:spcPts val="1000"/>
              </a:spcAft>
            </a:pPr>
            <a:r>
              <a:rPr sz="1600" b="0">
                <a:solidFill>
                  <a:srgbClr val="222222"/>
                </a:solidFill>
                <a:latin typeface="맑은 고딕"/>
              </a:rPr>
              <a:t>•  16.7  Fast-Start Failover</a:t>
            </a:r>
          </a:p>
          <a:p>
            <a:pPr algn="l">
              <a:spcAft>
                <a:spcPts val="1000"/>
              </a:spcAft>
            </a:pPr>
            <a:r>
              <a:rPr sz="1600" b="0">
                <a:solidFill>
                  <a:srgbClr val="222222"/>
                </a:solidFill>
                <a:latin typeface="맑은 고딕"/>
              </a:rPr>
              <a:t>•  16.8  역할 기반 서비스와 클라이언트 재접속</a:t>
            </a:r>
          </a:p>
          <a:p>
            <a:pPr algn="l">
              <a:spcAft>
                <a:spcPts val="1000"/>
              </a:spcAft>
            </a:pPr>
            <a:r>
              <a:rPr sz="1600" b="0">
                <a:solidFill>
                  <a:srgbClr val="222222"/>
                </a:solidFill>
                <a:latin typeface="맑은 고딕"/>
              </a:rPr>
              <a:t>•  16.9  역할 전환 후 운영 점검  /  16.10  Data Guard 환경의 백업 전략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역할 전환의 종류와 선택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Primary 역할과 Standby 역할</a:t>
            </a:r>
          </a:p>
          <a:p>
            <a:pPr algn="l">
              <a:spcAft>
                <a:spcPts val="800"/>
              </a:spcAft>
            </a:pPr>
            <a:r>
              <a:rPr sz="1600" b="0">
                <a:solidFill>
                  <a:srgbClr val="FFFFFF"/>
                </a:solidFill>
                <a:latin typeface="맑은 고딕"/>
              </a:rPr>
              <a:t>•  계획된 Switchover, 비상용 Failover</a:t>
            </a:r>
          </a:p>
          <a:p>
            <a:pPr algn="l">
              <a:spcAft>
                <a:spcPts val="800"/>
              </a:spcAft>
            </a:pPr>
            <a:r>
              <a:rPr sz="1600" b="0">
                <a:solidFill>
                  <a:srgbClr val="FFFFFF"/>
                </a:solidFill>
                <a:latin typeface="맑은 고딕"/>
              </a:rPr>
              <a:t>•  전환과 세션, 버퍼 캐시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역할과 역할 관리 서비스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구성 안의 Primary는 언제나 하나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Primary와 Standby 역할은 서로 배타적</a:t>
            </a:r>
          </a:p>
          <a:p>
            <a:pPr algn="l">
              <a:spcAft>
                <a:spcPts val="1000"/>
              </a:spcAft>
            </a:pPr>
            <a:r>
              <a:rPr sz="1700" b="0">
                <a:solidFill>
                  <a:srgbClr val="222222"/>
                </a:solidFill>
                <a:latin typeface="맑은 고딕"/>
              </a:rPr>
              <a:t>•  Standby 하위 유형: 물리, 논리, 스냅샷</a:t>
            </a:r>
          </a:p>
          <a:p>
            <a:pPr algn="l">
              <a:spcAft>
                <a:spcPts val="1000"/>
              </a:spcAft>
            </a:pPr>
            <a:r>
              <a:rPr sz="1700" b="0">
                <a:solidFill>
                  <a:srgbClr val="222222"/>
                </a:solidFill>
                <a:latin typeface="맑은 고딕"/>
              </a:rPr>
              <a:t>•  스냅샷 Standby는 물리로 되돌린 뒤 전환 대상</a:t>
            </a:r>
          </a:p>
          <a:p>
            <a:pPr algn="l">
              <a:spcAft>
                <a:spcPts val="1000"/>
              </a:spcAft>
            </a:pPr>
            <a:r>
              <a:rPr sz="1700" b="0">
                <a:solidFill>
                  <a:srgbClr val="222222"/>
                </a:solidFill>
                <a:latin typeface="맑은 고딕"/>
              </a:rPr>
              <a:t>•  역할은 컨트롤 파일(V$DATABASE)과 Broker 구성 파일에 기록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Switchover와 Failover</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계획 여부가 모든 차이를 만든다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Switchover: 계획 전환, 손실 없음, 로그 리셋 없음</a:t>
            </a:r>
          </a:p>
          <a:p>
            <a:pPr algn="l">
              <a:spcAft>
                <a:spcPts val="1000"/>
              </a:spcAft>
            </a:pPr>
            <a:r>
              <a:rPr sz="1700" b="0">
                <a:solidFill>
                  <a:srgbClr val="222222"/>
                </a:solidFill>
                <a:latin typeface="맑은 고딕"/>
              </a:rPr>
              <a:t>•  Failover: 비상 전환, 손실 가능, RESETLOGS</a:t>
            </a:r>
          </a:p>
          <a:p>
            <a:pPr algn="l">
              <a:spcAft>
                <a:spcPts val="1000"/>
              </a:spcAft>
            </a:pPr>
            <a:r>
              <a:rPr sz="1700" b="0">
                <a:solidFill>
                  <a:srgbClr val="222222"/>
                </a:solidFill>
                <a:latin typeface="맑은 고딕"/>
              </a:rPr>
              <a:t>•  Switchover는 Primary에서, Failover는 Standby에서 시작</a:t>
            </a:r>
          </a:p>
          <a:p>
            <a:pPr algn="l">
              <a:spcAft>
                <a:spcPts val="1000"/>
              </a:spcAft>
            </a:pPr>
            <a:r>
              <a:rPr sz="1700" b="0">
                <a:solidFill>
                  <a:srgbClr val="222222"/>
                </a:solidFill>
                <a:latin typeface="맑은 고딕"/>
              </a:rPr>
              <a:t>•  옛 Primary: 곧바로 Standby 대 구성에서 배제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어느 쪽을 고르는가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장애라고 해서 무조건 Failover는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Primary가 열리고 통신되면 Switchover</a:t>
            </a:r>
          </a:p>
          <a:p>
            <a:pPr algn="l">
              <a:spcAft>
                <a:spcPts val="1000"/>
              </a:spcAft>
            </a:pPr>
            <a:r>
              <a:rPr sz="1700" b="0">
                <a:solidFill>
                  <a:srgbClr val="222222"/>
                </a:solidFill>
                <a:latin typeface="맑은 고딕"/>
              </a:rPr>
              <a:t>•  재기동, 파일 복구로 끝나는 장애가 많음</a:t>
            </a:r>
          </a:p>
          <a:p>
            <a:pPr algn="l">
              <a:spcAft>
                <a:spcPts val="1000"/>
              </a:spcAft>
            </a:pPr>
            <a:r>
              <a:rPr sz="1700" b="0">
                <a:solidFill>
                  <a:srgbClr val="222222"/>
                </a:solidFill>
                <a:latin typeface="맑은 고딕"/>
              </a:rPr>
              <a:t>•  판단 기준: RTO와 RPO</a:t>
            </a:r>
          </a:p>
          <a:p>
            <a:pPr algn="l">
              <a:spcAft>
                <a:spcPts val="1000"/>
              </a:spcAft>
            </a:pPr>
            <a:r>
              <a:rPr sz="1700" b="0">
                <a:solidFill>
                  <a:srgbClr val="222222"/>
                </a:solidFill>
                <a:latin typeface="맑은 고딕"/>
              </a:rPr>
              <a:t>•  기준과 결정권자를 절차서에 미리 적어 둔다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전환과 세션, 버퍼 캐시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ADG Standby가 Primary가 될 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Data Guard는 세션을 새 Primary로 옮기지 않음</a:t>
            </a:r>
          </a:p>
          <a:p>
            <a:pPr algn="l">
              <a:spcAft>
                <a:spcPts val="1000"/>
              </a:spcAft>
            </a:pPr>
            <a:r>
              <a:rPr sz="1700" b="0">
                <a:solidFill>
                  <a:srgbClr val="222222"/>
                </a:solidFill>
                <a:latin typeface="맑은 고딕"/>
              </a:rPr>
              <a:t>•  18c부터 ADG Standby의 버퍼 캐시 유지</a:t>
            </a:r>
          </a:p>
          <a:p>
            <a:pPr algn="l">
              <a:spcAft>
                <a:spcPts val="1000"/>
              </a:spcAft>
            </a:pPr>
            <a:r>
              <a:rPr sz="1700" b="0">
                <a:solidFill>
                  <a:srgbClr val="222222"/>
                </a:solidFill>
                <a:latin typeface="맑은 고딕"/>
              </a:rPr>
              <a:t>•  STANDBY_DB_PRESERVE_STATES: NONE, SESSION, BUFFER, ALL</a:t>
            </a:r>
          </a:p>
          <a:p>
            <a:pPr algn="l">
              <a:spcAft>
                <a:spcPts val="1000"/>
              </a:spcAft>
            </a:pPr>
            <a:r>
              <a:rPr sz="1700" b="0">
                <a:solidFill>
                  <a:srgbClr val="222222"/>
                </a:solidFill>
                <a:latin typeface="맑은 고딕"/>
              </a:rPr>
              <a:t>•  실시간 조회가 전제, ADG 라이선스 필요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Switchover 사전 점검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전환을 막는 조건</a:t>
            </a:r>
          </a:p>
          <a:p>
            <a:pPr algn="l">
              <a:spcAft>
                <a:spcPts val="800"/>
              </a:spcAft>
            </a:pPr>
            <a:r>
              <a:rPr sz="1600" b="0">
                <a:solidFill>
                  <a:srgbClr val="FFFFFF"/>
                </a:solidFill>
                <a:latin typeface="맑은 고딕"/>
              </a:rPr>
              <a:t>•  SWITCHOVER_STATUS와 VALIDATE DATABASE</a:t>
            </a:r>
          </a:p>
          <a:p>
            <a:pPr algn="l">
              <a:spcAft>
                <a:spcPts val="800"/>
              </a:spcAft>
            </a:pPr>
            <a:r>
              <a:rPr sz="1600" b="0">
                <a:solidFill>
                  <a:srgbClr val="FFFFFF"/>
                </a:solidFill>
                <a:latin typeface="맑은 고딕"/>
              </a:rPr>
              <a:t>•  SWITCHOVER TO ... VERIFY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전환을 막는 조건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명령 전에 판정한다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Standby에 아카이브 로그 갭이 있음</a:t>
            </a:r>
          </a:p>
          <a:p>
            <a:pPr algn="l">
              <a:spcAft>
                <a:spcPts val="1000"/>
              </a:spcAft>
            </a:pPr>
            <a:r>
              <a:rPr sz="1700" b="0">
                <a:solidFill>
                  <a:srgbClr val="222222"/>
                </a:solidFill>
                <a:latin typeface="맑은 고딕"/>
              </a:rPr>
              <a:t>•  과거 시점으로의 전환이 필요함</a:t>
            </a:r>
          </a:p>
          <a:p>
            <a:pPr algn="l">
              <a:spcAft>
                <a:spcPts val="1000"/>
              </a:spcAft>
            </a:pPr>
            <a:r>
              <a:rPr sz="1700" b="0">
                <a:solidFill>
                  <a:srgbClr val="222222"/>
                </a:solidFill>
                <a:latin typeface="맑은 고딕"/>
              </a:rPr>
              <a:t>•  Primary가 열려 있지 않고 열 수도 없음</a:t>
            </a:r>
          </a:p>
          <a:p>
            <a:pPr algn="l">
              <a:spcAft>
                <a:spcPts val="1000"/>
              </a:spcAft>
            </a:pPr>
            <a:r>
              <a:rPr sz="1700" b="0">
                <a:solidFill>
                  <a:srgbClr val="222222"/>
                </a:solidFill>
                <a:latin typeface="맑은 고딕"/>
              </a:rPr>
              <a:t>•  지연 적용(DELAY)이 걸린 대상은 미리 해제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SWITCHOVER_STATUS 읽기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역할마다 정상값이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TO STANDBY</a:t>
            </a:r>
          </a:p>
          <a:p>
            <a:pPr algn="l">
              <a:spcAft>
                <a:spcPts val="1000"/>
              </a:spcAft>
            </a:pPr>
            <a:r>
              <a:rPr sz="1700" b="0">
                <a:solidFill>
                  <a:srgbClr val="222222"/>
                </a:solidFill>
                <a:latin typeface="맑은 고딕"/>
              </a:rPr>
              <a:t>•  물리 Standby: TO PRIMARY</a:t>
            </a:r>
          </a:p>
          <a:p>
            <a:pPr algn="l">
              <a:spcAft>
                <a:spcPts val="1000"/>
              </a:spcAft>
            </a:pPr>
            <a:r>
              <a:rPr sz="1700" b="0">
                <a:solidFill>
                  <a:srgbClr val="222222"/>
                </a:solidFill>
                <a:latin typeface="맑은 고딕"/>
              </a:rPr>
              <a:t>•  SESSIONS ACTIVE: 세션 정리와 함께 전환 가능</a:t>
            </a:r>
          </a:p>
          <a:p>
            <a:pPr algn="l">
              <a:spcAft>
                <a:spcPts val="1000"/>
              </a:spcAft>
            </a:pPr>
            <a:r>
              <a:rPr sz="1700" b="0">
                <a:solidFill>
                  <a:srgbClr val="222222"/>
                </a:solidFill>
                <a:latin typeface="맑은 고딕"/>
              </a:rPr>
              <a:t>•  RECOVERY NEEDED, NOT ALLOWED: 원인부터 확인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Broker의 VALIDATE DATABASE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가장 넓은 범위를 한 번에 점검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Ready for Switchover, Ready for Failover 두 줄이 판정</a:t>
            </a:r>
          </a:p>
          <a:p>
            <a:pPr algn="l">
              <a:spcAft>
                <a:spcPts val="1000"/>
              </a:spcAft>
            </a:pPr>
            <a:r>
              <a:rPr sz="1700" b="0">
                <a:solidFill>
                  <a:srgbClr val="222222"/>
                </a:solidFill>
                <a:latin typeface="맑은 고딕"/>
              </a:rPr>
              <a:t>•  Flashback Database 상태로 Reinstate 가능성 예측</a:t>
            </a:r>
          </a:p>
          <a:p>
            <a:pPr algn="l">
              <a:spcAft>
                <a:spcPts val="1000"/>
              </a:spcAft>
            </a:pPr>
            <a:r>
              <a:rPr sz="1700" b="0">
                <a:solidFill>
                  <a:srgbClr val="222222"/>
                </a:solidFill>
                <a:latin typeface="맑은 고딕"/>
              </a:rPr>
              <a:t>•  전환 뒤 로그 구성: 옛 Primary의 SRL 확인</a:t>
            </a:r>
          </a:p>
          <a:p>
            <a:pPr algn="l">
              <a:spcAft>
                <a:spcPts val="1000"/>
              </a:spcAft>
            </a:pPr>
            <a:r>
              <a:rPr sz="1700" b="0">
                <a:solidFill>
                  <a:srgbClr val="222222"/>
                </a:solidFill>
                <a:latin typeface="맑은 고딕"/>
              </a:rPr>
              <a:t>•  Primary와 대상 Standby 양쪽에 실행, VERBOSE로 상세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SQL의 SWITCHOVER ... VERIFY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Broker 없는 구성의 사전 검사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Primary에서 ALTER DATABASE SWITCHOVER TO boston VERIFY</a:t>
            </a:r>
          </a:p>
          <a:p>
            <a:pPr algn="l">
              <a:spcAft>
                <a:spcPts val="1000"/>
              </a:spcAft>
            </a:pPr>
            <a:r>
              <a:rPr sz="1700" b="0">
                <a:solidFill>
                  <a:srgbClr val="222222"/>
                </a:solidFill>
                <a:latin typeface="맑은 고딕"/>
              </a:rPr>
              <a:t>•  전환은 하지 않고 검사만 수행 (12.1부터)</a:t>
            </a:r>
          </a:p>
          <a:p>
            <a:pPr algn="l">
              <a:spcAft>
                <a:spcPts val="1000"/>
              </a:spcAft>
            </a:pPr>
            <a:r>
              <a:rPr sz="1700" b="0">
                <a:solidFill>
                  <a:srgbClr val="222222"/>
                </a:solidFill>
                <a:latin typeface="맑은 고딕"/>
              </a:rPr>
              <a:t>•  ORA-16475: 가능하지만 경고 있음, alert log 확인</a:t>
            </a:r>
          </a:p>
          <a:p>
            <a:pPr algn="l">
              <a:spcAft>
                <a:spcPts val="1000"/>
              </a:spcAft>
            </a:pPr>
            <a:r>
              <a:rPr sz="1700" b="0">
                <a:solidFill>
                  <a:srgbClr val="222222"/>
                </a:solidFill>
                <a:latin typeface="맑은 고딕"/>
              </a:rPr>
              <a:t>•  ORA-16470: 대상의 Redo Apply가 돌지 않음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역할을 바꿔도 동작하는 설정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전환 30분 전 점검 순서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Primary에도 Standby와 같은 SRL</a:t>
            </a:r>
          </a:p>
          <a:p>
            <a:pPr algn="l">
              <a:spcAft>
                <a:spcPts val="1000"/>
              </a:spcAft>
            </a:pPr>
            <a:r>
              <a:rPr sz="1700" b="0">
                <a:solidFill>
                  <a:srgbClr val="222222"/>
                </a:solidFill>
                <a:latin typeface="맑은 고딕"/>
              </a:rPr>
              <a:t>•  LOG_ARCHIVE_DEST_n의 VALID_FOR, 양쪽 FAL_SERVER</a:t>
            </a:r>
          </a:p>
          <a:p>
            <a:pPr algn="l">
              <a:spcAft>
                <a:spcPts val="1000"/>
              </a:spcAft>
            </a:pPr>
            <a:r>
              <a:rPr sz="1700" b="0">
                <a:solidFill>
                  <a:srgbClr val="222222"/>
                </a:solidFill>
                <a:latin typeface="맑은 고딕"/>
              </a:rPr>
              <a:t>•  Standby에 Primary와 같은 임시 파일</a:t>
            </a:r>
          </a:p>
          <a:p>
            <a:pPr algn="l">
              <a:spcAft>
                <a:spcPts val="1000"/>
              </a:spcAft>
            </a:pPr>
            <a:r>
              <a:rPr sz="1700" b="0">
                <a:solidFill>
                  <a:srgbClr val="222222"/>
                </a:solidFill>
                <a:latin typeface="맑은 고딕"/>
              </a:rPr>
              <a:t>•  구성 상태, lag와 갭, VALIDATE, 정적 접속 경로 순으로 확인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Switchover 실행</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Broker SWITCHOVER의 내부 단계</a:t>
            </a:r>
          </a:p>
          <a:p>
            <a:pPr algn="l">
              <a:spcAft>
                <a:spcPts val="800"/>
              </a:spcAft>
            </a:pPr>
            <a:r>
              <a:rPr sz="1600" b="0">
                <a:solidFill>
                  <a:srgbClr val="FFFFFF"/>
                </a:solidFill>
                <a:latin typeface="맑은 고딕"/>
              </a:rPr>
              <a:t>•  SQL Switchover 절차</a:t>
            </a:r>
          </a:p>
          <a:p>
            <a:pPr algn="l">
              <a:spcAft>
                <a:spcPts val="800"/>
              </a:spcAft>
            </a:pPr>
            <a:r>
              <a:rPr sz="1600" b="0">
                <a:solidFill>
                  <a:srgbClr val="FFFFFF"/>
                </a:solidFill>
                <a:latin typeface="맑은 고딕"/>
              </a:rPr>
              <a:t>•  Broker 구성에서 SQL로 전환하면</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Broker SWITCHOVER의 내부 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명령 하나가 여섯 단계를 처리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상태 확인, 인스턴스 정리, 역할 교환</a:t>
            </a:r>
          </a:p>
          <a:p>
            <a:pPr algn="l">
              <a:spcAft>
                <a:spcPts val="1000"/>
              </a:spcAft>
            </a:pPr>
            <a:r>
              <a:rPr sz="1700" b="0">
                <a:solidFill>
                  <a:srgbClr val="222222"/>
                </a:solidFill>
                <a:latin typeface="맑은 고딕"/>
              </a:rPr>
              <a:t>•  구성 파일에 새 역할 기록</a:t>
            </a:r>
          </a:p>
          <a:p>
            <a:pPr algn="l">
              <a:spcAft>
                <a:spcPts val="1000"/>
              </a:spcAft>
            </a:pPr>
            <a:r>
              <a:rPr sz="1700" b="0">
                <a:solidFill>
                  <a:srgbClr val="222222"/>
                </a:solidFill>
                <a:latin typeface="맑은 고딕"/>
              </a:rPr>
              <a:t>•  옛 Primary 재기동과 Redo Apply 시작</a:t>
            </a:r>
          </a:p>
          <a:p>
            <a:pPr algn="l">
              <a:spcAft>
                <a:spcPts val="1000"/>
              </a:spcAft>
            </a:pPr>
            <a:r>
              <a:rPr sz="1700" b="0">
                <a:solidFill>
                  <a:srgbClr val="222222"/>
                </a:solidFill>
                <a:latin typeface="맑은 고딕"/>
              </a:rPr>
              <a:t>•  새 Primary 열기와 리두 전송 시작</a:t>
            </a:r>
          </a:p>
          <a:p>
            <a:pPr algn="l">
              <a:spcAft>
                <a:spcPts val="1000"/>
              </a:spcAft>
            </a:pPr>
            <a:r>
              <a:rPr sz="1700" b="0">
                <a:solidFill>
                  <a:srgbClr val="222222"/>
                </a:solidFill>
                <a:latin typeface="맑은 고딕"/>
              </a:rPr>
              <a:t>•  재기동은 정적 등록 또는 StaticConnectIdentifier로 접속</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SQL Switchover 절차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12.1부터 Primary에서 한 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SWITCHOVER TO boston VERIFY</a:t>
            </a:r>
          </a:p>
          <a:p>
            <a:pPr algn="l">
              <a:spcAft>
                <a:spcPts val="1000"/>
              </a:spcAft>
            </a:pPr>
            <a:r>
              <a:rPr sz="1700" b="0">
                <a:solidFill>
                  <a:srgbClr val="222222"/>
                </a:solidFill>
                <a:latin typeface="맑은 고딕"/>
              </a:rPr>
              <a:t>•  Primary: SWITCHOVER TO boston (옛 Primary 종료)</a:t>
            </a:r>
          </a:p>
          <a:p>
            <a:pPr algn="l">
              <a:spcAft>
                <a:spcPts val="1000"/>
              </a:spcAft>
            </a:pPr>
            <a:r>
              <a:rPr sz="1700" b="0">
                <a:solidFill>
                  <a:srgbClr val="222222"/>
                </a:solidFill>
                <a:latin typeface="맑은 고딕"/>
              </a:rPr>
              <a:t>•  새 Primary: ALTER DATABASE OPEN</a:t>
            </a:r>
          </a:p>
          <a:p>
            <a:pPr algn="l">
              <a:spcAft>
                <a:spcPts val="1000"/>
              </a:spcAft>
            </a:pPr>
            <a:r>
              <a:rPr sz="1700" b="0">
                <a:solidFill>
                  <a:srgbClr val="222222"/>
                </a:solidFill>
                <a:latin typeface="맑은 고딕"/>
              </a:rPr>
              <a:t>•  새 Standby: STARTUP MOUNT 후 적용 기동</a:t>
            </a:r>
          </a:p>
          <a:p>
            <a:pPr algn="l">
              <a:spcAft>
                <a:spcPts val="1000"/>
              </a:spcAft>
            </a:pPr>
            <a:r>
              <a:rPr sz="1700" b="0">
                <a:solidFill>
                  <a:srgbClr val="222222"/>
                </a:solidFill>
                <a:latin typeface="맑은 고딕"/>
              </a:rPr>
              <a:t>•  역할 중립 설정이 없으면 파라미터도 손으로</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Broker 구성에서 SQL로 전환하면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막히지 않고 실행된다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SQL 전환은 Broker가 거부하지 못함</a:t>
            </a:r>
          </a:p>
          <a:p>
            <a:pPr algn="l">
              <a:spcAft>
                <a:spcPts val="1000"/>
              </a:spcAft>
            </a:pPr>
            <a:r>
              <a:rPr sz="1700" b="0">
                <a:solidFill>
                  <a:srgbClr val="222222"/>
                </a:solidFill>
                <a:latin typeface="맑은 고딕"/>
              </a:rPr>
              <a:t>•  구성 파일은 옛 역할, 컨트롤 파일은 새 역할</a:t>
            </a:r>
          </a:p>
          <a:p>
            <a:pPr algn="l">
              <a:spcAft>
                <a:spcPts val="1000"/>
              </a:spcAft>
            </a:pPr>
            <a:r>
              <a:rPr sz="1700" b="0">
                <a:solidFill>
                  <a:srgbClr val="222222"/>
                </a:solidFill>
                <a:latin typeface="맑은 고딕"/>
              </a:rPr>
              <a:t>•  한동안 SUCCESS, 이후 ORA-16816</a:t>
            </a:r>
          </a:p>
          <a:p>
            <a:pPr algn="l">
              <a:spcAft>
                <a:spcPts val="1000"/>
              </a:spcAft>
            </a:pPr>
            <a:r>
              <a:rPr sz="1700" b="0">
                <a:solidFill>
                  <a:srgbClr val="222222"/>
                </a:solidFill>
                <a:latin typeface="맑은 고딕"/>
              </a:rPr>
              <a:t>•  복구: 실제 역할 확인, 구성 재작성, ENABLE</a:t>
            </a:r>
          </a:p>
          <a:p>
            <a:pPr algn="l">
              <a:spcAft>
                <a:spcPts val="1000"/>
              </a:spcAft>
            </a:pPr>
            <a:r>
              <a:rPr sz="1700" b="0">
                <a:solidFill>
                  <a:srgbClr val="222222"/>
                </a:solidFill>
                <a:latin typeface="맑은 고딕"/>
              </a:rPr>
              <a:t>•  규칙: Broker 구성의 전환은 DGMGRL로만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Failover</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완전 Failover와 즉시 Failover</a:t>
            </a:r>
          </a:p>
          <a:p>
            <a:pPr algn="l">
              <a:spcAft>
                <a:spcPts val="800"/>
              </a:spcAft>
            </a:pPr>
            <a:r>
              <a:rPr sz="1600" b="0">
                <a:solidFill>
                  <a:srgbClr val="FFFFFF"/>
                </a:solidFill>
                <a:latin typeface="맑은 고딕"/>
              </a:rPr>
              <a:t>•  데이터 손실 판단과 대상 선택</a:t>
            </a:r>
          </a:p>
          <a:p>
            <a:pPr algn="l">
              <a:spcAft>
                <a:spcPts val="800"/>
              </a:spcAft>
            </a:pPr>
            <a:r>
              <a:rPr sz="1600" b="0">
                <a:solidFill>
                  <a:srgbClr val="FFFFFF"/>
                </a:solidFill>
                <a:latin typeface="맑은 고딕"/>
              </a:rPr>
              <a:t>•  Broker와 SQL의 절차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Failover가 하는 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한 방향 조작</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옛 Primary를 구성에서 배제, Standby가 역할 인수</a:t>
            </a:r>
          </a:p>
          <a:p>
            <a:pPr algn="l">
              <a:spcAft>
                <a:spcPts val="1000"/>
              </a:spcAft>
            </a:pPr>
            <a:r>
              <a:rPr sz="1700" b="0">
                <a:solidFill>
                  <a:srgbClr val="222222"/>
                </a:solidFill>
                <a:latin typeface="맑은 고딕"/>
              </a:rPr>
              <a:t>•  남은 리두 적용 후 RESETLOGS로 열림</a:t>
            </a:r>
          </a:p>
          <a:p>
            <a:pPr algn="l">
              <a:spcAft>
                <a:spcPts val="1000"/>
              </a:spcAft>
            </a:pPr>
            <a:r>
              <a:rPr sz="1700" b="0">
                <a:solidFill>
                  <a:srgbClr val="222222"/>
                </a:solidFill>
                <a:latin typeface="맑은 고딕"/>
              </a:rPr>
              <a:t>•  갈림길 SCN: STANDBY_BECAME_PRIMARY_SCN</a:t>
            </a:r>
          </a:p>
          <a:p>
            <a:pPr algn="l">
              <a:spcAft>
                <a:spcPts val="1000"/>
              </a:spcAft>
            </a:pPr>
            <a:r>
              <a:rPr sz="1700" b="0">
                <a:solidFill>
                  <a:srgbClr val="222222"/>
                </a:solidFill>
                <a:latin typeface="맑은 고딕"/>
              </a:rPr>
              <a:t>•  앞서 적용한 다른 Standby는 되감기 또는 재생성</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완전 Failover와 즉시 Failover</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기본은 완전, 즉시는 마지막 수단</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완전: 받은 리두를 모두 적용, 손실 최소</a:t>
            </a:r>
          </a:p>
          <a:p>
            <a:pPr algn="l">
              <a:spcAft>
                <a:spcPts val="1000"/>
              </a:spcAft>
            </a:pPr>
            <a:r>
              <a:rPr sz="1700" b="0">
                <a:solidFill>
                  <a:srgbClr val="222222"/>
                </a:solidFill>
                <a:latin typeface="맑은 고딕"/>
              </a:rPr>
              <a:t>•  즉시: 추가 적용 없음, 가장 빠름, 대개 손실</a:t>
            </a:r>
          </a:p>
          <a:p>
            <a:pPr algn="l">
              <a:spcAft>
                <a:spcPts val="1000"/>
              </a:spcAft>
            </a:pPr>
            <a:r>
              <a:rPr sz="1700" b="0">
                <a:solidFill>
                  <a:srgbClr val="222222"/>
                </a:solidFill>
                <a:latin typeface="맑은 고딕"/>
              </a:rPr>
              <a:t>•  즉시 후에는 다른 Standby도 모두 정리 대상</a:t>
            </a:r>
          </a:p>
          <a:p>
            <a:pPr algn="l">
              <a:spcAft>
                <a:spcPts val="1000"/>
              </a:spcAft>
            </a:pPr>
            <a:r>
              <a:rPr sz="1700" b="0">
                <a:solidFill>
                  <a:srgbClr val="222222"/>
                </a:solidFill>
                <a:latin typeface="맑은 고딕"/>
              </a:rPr>
              <a:t>•  FAILOVER TO boston [IMMEDIATE]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데이터 손실 판단과 대상 선택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손실은 전송이 결정한다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MaxProtection, MaxAvailability(동기 상태): 손실 없음</a:t>
            </a:r>
          </a:p>
          <a:p>
            <a:pPr algn="l">
              <a:spcAft>
                <a:spcPts val="1000"/>
              </a:spcAft>
            </a:pPr>
            <a:r>
              <a:rPr sz="1700" b="0">
                <a:solidFill>
                  <a:srgbClr val="222222"/>
                </a:solidFill>
                <a:latin typeface="맑은 고딕"/>
              </a:rPr>
              <a:t>•  MaxPerformance: transport lag만큼 손실 가능</a:t>
            </a:r>
          </a:p>
          <a:p>
            <a:pPr algn="l">
              <a:spcAft>
                <a:spcPts val="1000"/>
              </a:spcAft>
            </a:pPr>
            <a:r>
              <a:rPr sz="1700" b="0">
                <a:solidFill>
                  <a:srgbClr val="222222"/>
                </a:solidFill>
                <a:latin typeface="맑은 고딕"/>
              </a:rPr>
              <a:t>•  옛 Primary가 마운트되면 FLUSH REDO TO boston</a:t>
            </a:r>
          </a:p>
          <a:p>
            <a:pPr algn="l">
              <a:spcAft>
                <a:spcPts val="1000"/>
              </a:spcAft>
            </a:pPr>
            <a:r>
              <a:rPr sz="1700" b="0">
                <a:solidFill>
                  <a:srgbClr val="222222"/>
                </a:solidFill>
                <a:latin typeface="맑은 고딕"/>
              </a:rPr>
              <a:t>•  대상: 물리 Standby, transport lag가 가장 작은 쪽</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Broker와 SQL의 Failover 절차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대상 Standby에서 실행</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DGMGRL: 대상에 접속해 FAILOVER TO boston</a:t>
            </a:r>
          </a:p>
          <a:p>
            <a:pPr algn="l">
              <a:spcAft>
                <a:spcPts val="1000"/>
              </a:spcAft>
            </a:pPr>
            <a:r>
              <a:rPr sz="1700" b="0">
                <a:solidFill>
                  <a:srgbClr val="222222"/>
                </a:solidFill>
                <a:latin typeface="맑은 고딕"/>
              </a:rPr>
              <a:t>•  SQL: 적용 CANCEL, FAILOVER TO boston, OPEN</a:t>
            </a:r>
          </a:p>
          <a:p>
            <a:pPr algn="l">
              <a:spcAft>
                <a:spcPts val="1000"/>
              </a:spcAft>
            </a:pPr>
            <a:r>
              <a:rPr sz="1700" b="0">
                <a:solidFill>
                  <a:srgbClr val="222222"/>
                </a:solidFill>
                <a:latin typeface="맑은 고딕"/>
              </a:rPr>
              <a:t>•  갭이 해소되지 않으면 ACTIVATE PHYSICAL STANDBY</a:t>
            </a:r>
          </a:p>
          <a:p>
            <a:pPr algn="l">
              <a:spcAft>
                <a:spcPts val="1000"/>
              </a:spcAft>
            </a:pPr>
            <a:r>
              <a:rPr sz="1700" b="0">
                <a:solidFill>
                  <a:srgbClr val="222222"/>
                </a:solidFill>
                <a:latin typeface="맑은 고딕"/>
              </a:rPr>
              <a:t>•  이후: 보호 모드 재설정, 옛 Primary 정리</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Failover 전에 옛 Primary를 멈춘다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split brain 방지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네트워크만 끊긴 옛 Primary는 살아 있을 수 있음</a:t>
            </a:r>
          </a:p>
          <a:p>
            <a:pPr algn="l">
              <a:spcAft>
                <a:spcPts val="1000"/>
              </a:spcAft>
            </a:pPr>
            <a:r>
              <a:rPr sz="1700" b="0">
                <a:solidFill>
                  <a:srgbClr val="222222"/>
                </a:solidFill>
                <a:latin typeface="맑은 고딕"/>
              </a:rPr>
              <a:t>•  양쪽이 동시에 쓰기를 받는 상황</a:t>
            </a:r>
          </a:p>
          <a:p>
            <a:pPr algn="l">
              <a:spcAft>
                <a:spcPts val="1000"/>
              </a:spcAft>
            </a:pPr>
            <a:r>
              <a:rPr sz="1700" b="0">
                <a:solidFill>
                  <a:srgbClr val="222222"/>
                </a:solidFill>
                <a:latin typeface="맑은 고딕"/>
              </a:rPr>
              <a:t>•  옛 Primary 쪽 트랜잭션은 Reinstate 때 사라짐</a:t>
            </a:r>
          </a:p>
          <a:p>
            <a:pPr algn="l">
              <a:spcAft>
                <a:spcPts val="1000"/>
              </a:spcAft>
            </a:pPr>
            <a:r>
              <a:rPr sz="1700" b="0">
                <a:solidFill>
                  <a:srgbClr val="222222"/>
                </a:solidFill>
                <a:latin typeface="맑은 고딕"/>
              </a:rPr>
              <a:t>•  수동 Failover 절차에 옛 Primary 종료·차단 포함</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Failover 이후 옛 Primary 복구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그대로 붙일 수 없는 이유</a:t>
            </a:r>
          </a:p>
          <a:p>
            <a:pPr algn="l">
              <a:spcAft>
                <a:spcPts val="800"/>
              </a:spcAft>
            </a:pPr>
            <a:r>
              <a:rPr sz="1600" b="0">
                <a:solidFill>
                  <a:srgbClr val="FFFFFF"/>
                </a:solidFill>
                <a:latin typeface="맑은 고딕"/>
              </a:rPr>
              <a:t>•  Flashback Database와 REINSTATE</a:t>
            </a:r>
          </a:p>
          <a:p>
            <a:pPr algn="l">
              <a:spcAft>
                <a:spcPts val="800"/>
              </a:spcAft>
            </a:pPr>
            <a:r>
              <a:rPr sz="1600" b="0">
                <a:solidFill>
                  <a:srgbClr val="FFFFFF"/>
                </a:solidFill>
                <a:latin typeface="맑은 고딕"/>
              </a:rPr>
              <a:t>•  다시 만들어야 하는 경우</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옛 Primary를 그대로 붙일 수 없는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갈림길 SCN 이후의 서로 다른 역사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옛 Primary에만 있는 리두가 남아 있을 수 있음</a:t>
            </a:r>
          </a:p>
          <a:p>
            <a:pPr algn="l">
              <a:spcAft>
                <a:spcPts val="1000"/>
              </a:spcAft>
            </a:pPr>
            <a:r>
              <a:rPr sz="1700" b="0">
                <a:solidFill>
                  <a:srgbClr val="222222"/>
                </a:solidFill>
                <a:latin typeface="맑은 고딕"/>
              </a:rPr>
              <a:t>•  새 Primary는 갈림길 SCN에서 새 incarnation 시작</a:t>
            </a:r>
          </a:p>
          <a:p>
            <a:pPr algn="l">
              <a:spcAft>
                <a:spcPts val="1000"/>
              </a:spcAft>
            </a:pPr>
            <a:r>
              <a:rPr sz="1700" b="0">
                <a:solidFill>
                  <a:srgbClr val="222222"/>
                </a:solidFill>
                <a:latin typeface="맑은 고딕"/>
              </a:rPr>
              <a:t>•  갈림길로 되감으면 공통 상태로 돌아감</a:t>
            </a:r>
          </a:p>
          <a:p>
            <a:pPr algn="l">
              <a:spcAft>
                <a:spcPts val="1000"/>
              </a:spcAft>
            </a:pPr>
            <a:r>
              <a:rPr sz="1700" b="0">
                <a:solidFill>
                  <a:srgbClr val="222222"/>
                </a:solidFill>
                <a:latin typeface="맑은 고딕"/>
              </a:rPr>
              <a:t>•  RMAN 복원보다 Flashback Database가 훨씬 빠름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Reinstate의 전제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플래시백은 Failover 전에 준비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장애 전부터 Flashback Database ON</a:t>
            </a:r>
          </a:p>
          <a:p>
            <a:pPr algn="l">
              <a:spcAft>
                <a:spcPts val="1000"/>
              </a:spcAft>
            </a:pPr>
            <a:r>
              <a:rPr sz="1700" b="0">
                <a:solidFill>
                  <a:srgbClr val="222222"/>
                </a:solidFill>
                <a:latin typeface="맑은 고딕"/>
              </a:rPr>
              <a:t>•  갈림길 SCN까지의 플래시백 로그가 FRA에 남아 있음</a:t>
            </a:r>
          </a:p>
          <a:p>
            <a:pPr algn="l">
              <a:spcAft>
                <a:spcPts val="1000"/>
              </a:spcAft>
            </a:pPr>
            <a:r>
              <a:rPr sz="1700" b="0">
                <a:solidFill>
                  <a:srgbClr val="222222"/>
                </a:solidFill>
                <a:latin typeface="맑은 고딕"/>
              </a:rPr>
              <a:t>•  DB_FLASHBACK_RETENTION_TARGET, FRA 여유 공간</a:t>
            </a:r>
          </a:p>
          <a:p>
            <a:pPr algn="l">
              <a:spcAft>
                <a:spcPts val="1000"/>
              </a:spcAft>
            </a:pPr>
            <a:r>
              <a:rPr sz="1700" b="0">
                <a:solidFill>
                  <a:srgbClr val="222222"/>
                </a:solidFill>
                <a:latin typeface="맑은 고딕"/>
              </a:rPr>
              <a:t>•  옛 Primary를 마운트할 수 있어야 함</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Broker로 Reinstate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ORA-16661이면 되살릴 수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ORA-16661: Reinstate 필요, ORA-16795: 재생성 필요</a:t>
            </a:r>
          </a:p>
          <a:p>
            <a:pPr algn="l">
              <a:spcAft>
                <a:spcPts val="1000"/>
              </a:spcAft>
            </a:pPr>
            <a:r>
              <a:rPr sz="1700" b="0">
                <a:solidFill>
                  <a:srgbClr val="222222"/>
                </a:solidFill>
                <a:latin typeface="맑은 고딕"/>
              </a:rPr>
              <a:t>•  옛 Primary는 STARTUP MOUNT까지만</a:t>
            </a:r>
          </a:p>
          <a:p>
            <a:pPr algn="l">
              <a:spcAft>
                <a:spcPts val="1000"/>
              </a:spcAft>
            </a:pPr>
            <a:r>
              <a:rPr sz="1700" b="0">
                <a:solidFill>
                  <a:srgbClr val="222222"/>
                </a:solidFill>
                <a:latin typeface="맑은 고딕"/>
              </a:rPr>
              <a:t>•  새 Primary에 접속해 REINSTATE DATABASE chicago</a:t>
            </a:r>
          </a:p>
          <a:p>
            <a:pPr algn="l">
              <a:spcAft>
                <a:spcPts val="1000"/>
              </a:spcAft>
            </a:pPr>
            <a:r>
              <a:rPr sz="1700" b="0">
                <a:solidFill>
                  <a:srgbClr val="222222"/>
                </a:solidFill>
                <a:latin typeface="맑은 고딕"/>
              </a:rPr>
              <a:t>•  원래 배치로는 Switchover로 복귀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SQL로 되살리기와 재생성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Broker가 하던 일을 순서대로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새 Primary에서 STANDBY_BECAME_PRIMARY_SCN 조회</a:t>
            </a:r>
          </a:p>
          <a:p>
            <a:pPr algn="l">
              <a:spcAft>
                <a:spcPts val="1000"/>
              </a:spcAft>
            </a:pPr>
            <a:r>
              <a:rPr sz="1700" b="0">
                <a:solidFill>
                  <a:srgbClr val="222222"/>
                </a:solidFill>
                <a:latin typeface="맑은 고딕"/>
              </a:rPr>
              <a:t>•  옛 Primary: MOUNT, FLASHBACK DATABASE TO SCN</a:t>
            </a:r>
          </a:p>
          <a:p>
            <a:pPr algn="l">
              <a:spcAft>
                <a:spcPts val="1000"/>
              </a:spcAft>
            </a:pPr>
            <a:r>
              <a:rPr sz="1700" b="0">
                <a:solidFill>
                  <a:srgbClr val="222222"/>
                </a:solidFill>
                <a:latin typeface="맑은 고딕"/>
              </a:rPr>
              <a:t>•  CONVERT TO PHYSICAL STANDBY 후 적용 기동</a:t>
            </a:r>
          </a:p>
          <a:p>
            <a:pPr algn="l">
              <a:spcAft>
                <a:spcPts val="1000"/>
              </a:spcAft>
            </a:pPr>
            <a:r>
              <a:rPr sz="1700" b="0">
                <a:solidFill>
                  <a:srgbClr val="222222"/>
                </a:solidFill>
                <a:latin typeface="맑은 고딕"/>
              </a:rPr>
              <a:t>•  불가능하면 DUPLICATE FOR STANDBY 후 ENABLE DATABASE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Fast-Start Failover</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Observer와 FSFO 대상</a:t>
            </a:r>
          </a:p>
          <a:p>
            <a:pPr algn="l">
              <a:spcAft>
                <a:spcPts val="800"/>
              </a:spcAft>
            </a:pPr>
            <a:r>
              <a:rPr sz="1600" b="0">
                <a:solidFill>
                  <a:srgbClr val="FFFFFF"/>
                </a:solidFill>
                <a:latin typeface="맑은 고딕"/>
              </a:rPr>
              <a:t>•  발동 조건, 임계값, LagLimit</a:t>
            </a:r>
          </a:p>
          <a:p>
            <a:pPr algn="l">
              <a:spcAft>
                <a:spcPts val="800"/>
              </a:spcAft>
            </a:pPr>
            <a:r>
              <a:rPr sz="1600" b="0">
                <a:solidFill>
                  <a:srgbClr val="FFFFFF"/>
                </a:solidFill>
                <a:latin typeface="맑은 고딕"/>
              </a:rPr>
              <a:t>•  19c의 다중 Observer와 observe-only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FSFO의 구성 요소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판단까지 자동으로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Broker 구성에서만, DGMGRL이나 EM으로 설정</a:t>
            </a:r>
          </a:p>
          <a:p>
            <a:pPr algn="l">
              <a:spcAft>
                <a:spcPts val="1000"/>
              </a:spcAft>
            </a:pPr>
            <a:r>
              <a:rPr sz="1700" b="0">
                <a:solidFill>
                  <a:srgbClr val="222222"/>
                </a:solidFill>
                <a:latin typeface="맑은 고딕"/>
              </a:rPr>
              <a:t>•  Observer: DGMGRL에 포함된 OCI 클라이언트</a:t>
            </a:r>
          </a:p>
          <a:p>
            <a:pPr algn="l">
              <a:spcAft>
                <a:spcPts val="1000"/>
              </a:spcAft>
            </a:pPr>
            <a:r>
              <a:rPr sz="1700" b="0">
                <a:solidFill>
                  <a:srgbClr val="222222"/>
                </a:solidFill>
                <a:latin typeface="맑은 고딕"/>
              </a:rPr>
              <a:t>•  Observer는 Primary와 Standby가 아닌 제3의 서버에</a:t>
            </a:r>
          </a:p>
          <a:p>
            <a:pPr algn="l">
              <a:spcAft>
                <a:spcPts val="1000"/>
              </a:spcAft>
            </a:pPr>
            <a:r>
              <a:rPr sz="1700" b="0">
                <a:solidFill>
                  <a:srgbClr val="222222"/>
                </a:solidFill>
                <a:latin typeface="맑은 고딕"/>
              </a:rPr>
              <a:t>•  FastStartFailoverTarget으로 대상 지정</a:t>
            </a:r>
          </a:p>
          <a:p>
            <a:pPr algn="l">
              <a:spcAft>
                <a:spcPts val="1000"/>
              </a:spcAft>
            </a:pPr>
            <a:r>
              <a:rPr sz="1700" b="0">
                <a:solidFill>
                  <a:srgbClr val="222222"/>
                </a:solidFill>
                <a:latin typeface="맑은 고딕"/>
              </a:rPr>
              <a:t>•  Data Guard 기본 기능, ADG 옵션 불필요</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언제 발동하는가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연결 상실과 상태 점검 조건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Primary가 Observer와 대상 모두와 끊김 &gt; Threshold(기본 30초)</a:t>
            </a:r>
          </a:p>
          <a:p>
            <a:pPr algn="l">
              <a:spcAft>
                <a:spcPts val="1000"/>
              </a:spcAft>
            </a:pPr>
            <a:r>
              <a:rPr sz="1700" b="0">
                <a:solidFill>
                  <a:srgbClr val="222222"/>
                </a:solidFill>
                <a:latin typeface="맑은 고딕"/>
              </a:rPr>
              <a:t>•  인스턴스 장애, SHUTDOWN ABORT도 발동</a:t>
            </a:r>
          </a:p>
          <a:p>
            <a:pPr algn="l">
              <a:spcAft>
                <a:spcPts val="1000"/>
              </a:spcAft>
            </a:pPr>
            <a:r>
              <a:rPr sz="1700" b="0">
                <a:solidFill>
                  <a:srgbClr val="222222"/>
                </a:solidFill>
                <a:latin typeface="맑은 고딕"/>
              </a:rPr>
              <a:t>•  기본 켜짐: Datafile Write Errors, Corrupted Dictionary·Controlfile</a:t>
            </a:r>
          </a:p>
          <a:p>
            <a:pPr algn="l">
              <a:spcAft>
                <a:spcPts val="1000"/>
              </a:spcAft>
            </a:pPr>
            <a:r>
              <a:rPr sz="1700" b="0">
                <a:solidFill>
                  <a:srgbClr val="222222"/>
                </a:solidFill>
                <a:latin typeface="맑은 고딕"/>
              </a:rPr>
              <a:t>•  기본 꺼짐: Inaccessible Logfile, Stuck Archiver</a:t>
            </a:r>
          </a:p>
          <a:p>
            <a:pPr algn="l">
              <a:spcAft>
                <a:spcPts val="1000"/>
              </a:spcAft>
            </a:pPr>
            <a:r>
              <a:rPr sz="1700" b="0">
                <a:solidFill>
                  <a:srgbClr val="222222"/>
                </a:solidFill>
                <a:latin typeface="맑은 고딕"/>
              </a:rPr>
              <a:t>•  DBMS_DG.INITIATE_FS_FAILOVER로 애플리케이션이 요청</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전제 조건과 데이터 손실 한도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보호 모드별 LogXptMode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MaxProtection: SYNC (12.2부터, Standby 2개 이상)</a:t>
            </a:r>
          </a:p>
          <a:p>
            <a:pPr algn="l">
              <a:spcAft>
                <a:spcPts val="1000"/>
              </a:spcAft>
            </a:pPr>
            <a:r>
              <a:rPr sz="1700" b="0">
                <a:solidFill>
                  <a:srgbClr val="222222"/>
                </a:solidFill>
                <a:latin typeface="맑은 고딕"/>
              </a:rPr>
              <a:t>•  MaxAvailability: SYNC 또는 FASTSYNC</a:t>
            </a:r>
          </a:p>
          <a:p>
            <a:pPr algn="l">
              <a:spcAft>
                <a:spcPts val="1000"/>
              </a:spcAft>
            </a:pPr>
            <a:r>
              <a:rPr sz="1700" b="0">
                <a:solidFill>
                  <a:srgbClr val="222222"/>
                </a:solidFill>
                <a:latin typeface="맑은 고딕"/>
              </a:rPr>
              <a:t>•  MaxPerformance: ASYNC, FastStartFailoverLagLimit 이내</a:t>
            </a:r>
          </a:p>
          <a:p>
            <a:pPr algn="l">
              <a:spcAft>
                <a:spcPts val="1000"/>
              </a:spcAft>
            </a:pPr>
            <a:r>
              <a:rPr sz="1700" b="0">
                <a:solidFill>
                  <a:srgbClr val="222222"/>
                </a:solidFill>
                <a:latin typeface="맑은 고딕"/>
              </a:rPr>
              <a:t>•  양쪽 SRL과 Flashback Database, Observer용 tnsnames</a:t>
            </a:r>
          </a:p>
          <a:p>
            <a:pPr algn="l">
              <a:spcAft>
                <a:spcPts val="1000"/>
              </a:spcAft>
            </a:pPr>
            <a:r>
              <a:rPr sz="1700" b="0">
                <a:solidFill>
                  <a:srgbClr val="222222"/>
                </a:solidFill>
                <a:latin typeface="맑은 고딕"/>
              </a:rPr>
              <a:t>•  PmyShutdown, AutoReinstate 기본 TRUE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구성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대상, 모드, 임계값, 활성화, Observer</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양쪽에 FastStartFailoverTarget을 서로 지정</a:t>
            </a:r>
          </a:p>
          <a:p>
            <a:pPr algn="l">
              <a:spcAft>
                <a:spcPts val="1000"/>
              </a:spcAft>
            </a:pPr>
            <a:r>
              <a:rPr sz="1700" b="0">
                <a:solidFill>
                  <a:srgbClr val="222222"/>
                </a:solidFill>
                <a:latin typeface="맑은 고딕"/>
              </a:rPr>
              <a:t>•  보호 모드와 FastStartFailoverThreshold 설정</a:t>
            </a:r>
          </a:p>
          <a:p>
            <a:pPr algn="l">
              <a:spcAft>
                <a:spcPts val="1000"/>
              </a:spcAft>
            </a:pPr>
            <a:r>
              <a:rPr sz="1700" b="0">
                <a:solidFill>
                  <a:srgbClr val="222222"/>
                </a:solidFill>
                <a:latin typeface="맑은 고딕"/>
              </a:rPr>
              <a:t>•  ENABLE FAST_START FAILOVER</a:t>
            </a:r>
          </a:p>
          <a:p>
            <a:pPr algn="l">
              <a:spcAft>
                <a:spcPts val="1000"/>
              </a:spcAft>
            </a:pPr>
            <a:r>
              <a:rPr sz="1700" b="0">
                <a:solidFill>
                  <a:srgbClr val="222222"/>
                </a:solidFill>
                <a:latin typeface="맑은 고딕"/>
              </a:rPr>
              <a:t>•  START OBSERVER ... IN BACKGROUND</a:t>
            </a:r>
          </a:p>
          <a:p>
            <a:pPr algn="l">
              <a:spcAft>
                <a:spcPts val="1000"/>
              </a:spcAft>
            </a:pPr>
            <a:r>
              <a:rPr sz="1700" b="0">
                <a:solidFill>
                  <a:srgbClr val="222222"/>
                </a:solidFill>
                <a:latin typeface="맑은 고딕"/>
              </a:rPr>
              <a:t>•  SHOW FAST_START FAILOVER로 확인</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19c의 Observer 운영</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다중 Observer와 observe-only</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12.2부터 구성당 Observer 최대 3개 (교재의 1개는 12.1 기준)</a:t>
            </a:r>
          </a:p>
          <a:p>
            <a:pPr algn="l">
              <a:spcAft>
                <a:spcPts val="1000"/>
              </a:spcAft>
            </a:pPr>
            <a:r>
              <a:rPr sz="1700" b="0">
                <a:solidFill>
                  <a:srgbClr val="222222"/>
                </a:solidFill>
                <a:latin typeface="맑은 고딕"/>
              </a:rPr>
              <a:t>•  판단은 마스터 Observer 하나, 나머지는 대기</a:t>
            </a:r>
          </a:p>
          <a:p>
            <a:pPr algn="l">
              <a:spcAft>
                <a:spcPts val="1000"/>
              </a:spcAft>
            </a:pPr>
            <a:r>
              <a:rPr sz="1700" b="0">
                <a:solidFill>
                  <a:srgbClr val="222222"/>
                </a:solidFill>
                <a:latin typeface="맑은 고딕"/>
              </a:rPr>
              <a:t>•  SET MASTEROBSERVER TO, SHOW OBSERVER</a:t>
            </a:r>
          </a:p>
          <a:p>
            <a:pPr algn="l">
              <a:spcAft>
                <a:spcPts val="1000"/>
              </a:spcAft>
            </a:pPr>
            <a:r>
              <a:rPr sz="1700" b="0">
                <a:solidFill>
                  <a:srgbClr val="222222"/>
                </a:solidFill>
                <a:latin typeface="맑은 고딕"/>
              </a:rPr>
              <a:t>•  19c: ENABLE FAST_START FAILOVER OBSERVE ONLY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Observer 위치와 FSFO 운영</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오판 전환을 줄이려면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Observer는 클라이언트가 가장 많은 쪽이나 제3 장소에</a:t>
            </a:r>
          </a:p>
          <a:p>
            <a:pPr algn="l">
              <a:spcAft>
                <a:spcPts val="1000"/>
              </a:spcAft>
            </a:pPr>
            <a:r>
              <a:rPr sz="1700" b="0">
                <a:solidFill>
                  <a:srgbClr val="222222"/>
                </a:solidFill>
                <a:latin typeface="맑은 고딕"/>
              </a:rPr>
              <a:t>•  계획 작업은 정상 종료, 습관적 ABORT 금지</a:t>
            </a:r>
          </a:p>
          <a:p>
            <a:pPr algn="l">
              <a:spcAft>
                <a:spcPts val="1000"/>
              </a:spcAft>
            </a:pPr>
            <a:r>
              <a:rPr sz="1700" b="0">
                <a:solidFill>
                  <a:srgbClr val="222222"/>
                </a:solidFill>
                <a:latin typeface="맑은 고딕"/>
              </a:rPr>
              <a:t>•  긴 작업 전 DISABLE, 작업 뒤 ENABLE</a:t>
            </a:r>
          </a:p>
          <a:p>
            <a:pPr algn="l">
              <a:spcAft>
                <a:spcPts val="1000"/>
              </a:spcAft>
            </a:pPr>
            <a:r>
              <a:rPr sz="1700" b="0">
                <a:solidFill>
                  <a:srgbClr val="222222"/>
                </a:solidFill>
                <a:latin typeface="맑은 고딕"/>
              </a:rPr>
              <a:t>•  Observer 프로세스도 감시 대상</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역할 기반 서비스와 클라이언트 재접속</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역할 기반 서비스</a:t>
            </a:r>
          </a:p>
          <a:p>
            <a:pPr algn="l">
              <a:spcAft>
                <a:spcPts val="800"/>
              </a:spcAft>
            </a:pPr>
            <a:r>
              <a:rPr sz="1600" b="0">
                <a:solidFill>
                  <a:srgbClr val="FFFFFF"/>
                </a:solidFill>
                <a:latin typeface="맑은 고딕"/>
              </a:rPr>
              <a:t>•  접속 기술자와 재시도</a:t>
            </a:r>
          </a:p>
          <a:p>
            <a:pPr algn="l">
              <a:spcAft>
                <a:spcPts val="800"/>
              </a:spcAft>
            </a:pPr>
            <a:r>
              <a:rPr sz="1600" b="0">
                <a:solidFill>
                  <a:srgbClr val="FFFFFF"/>
                </a:solidFill>
                <a:latin typeface="맑은 고딕"/>
              </a:rPr>
              <a:t>•  TAF와 FAN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역할 기반 서비스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클라이언트는 서비스 이름 하나만 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서비스가 Primary 역할에서만 기동되게</a:t>
            </a:r>
          </a:p>
          <a:p>
            <a:pPr algn="l">
              <a:spcAft>
                <a:spcPts val="1000"/>
              </a:spcAft>
            </a:pPr>
            <a:r>
              <a:rPr sz="1700" b="0">
                <a:solidFill>
                  <a:srgbClr val="222222"/>
                </a:solidFill>
                <a:latin typeface="맑은 고딕"/>
              </a:rPr>
              <a:t>•  srvctl add service ... -role PRIMARY</a:t>
            </a:r>
          </a:p>
          <a:p>
            <a:pPr algn="l">
              <a:spcAft>
                <a:spcPts val="1000"/>
              </a:spcAft>
            </a:pPr>
            <a:r>
              <a:rPr sz="1700" b="0">
                <a:solidFill>
                  <a:srgbClr val="222222"/>
                </a:solidFill>
                <a:latin typeface="맑은 고딕"/>
              </a:rPr>
              <a:t>•  조회용 PHYSICAL_STANDBY 서비스는 ADG 필요</a:t>
            </a:r>
          </a:p>
          <a:p>
            <a:pPr algn="l">
              <a:spcAft>
                <a:spcPts val="1000"/>
              </a:spcAft>
            </a:pPr>
            <a:r>
              <a:rPr sz="1700" b="0">
                <a:solidFill>
                  <a:srgbClr val="222222"/>
                </a:solidFill>
                <a:latin typeface="맑은 고딕"/>
              </a:rPr>
              <a:t>•  Restart 없으면 DBMS_SERVICE와 기동 트리거</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접속 기술자와 재시도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주소, 하나의 서비스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ADDRESS_LIST에 두 호스트를 모두 기재</a:t>
            </a:r>
          </a:p>
          <a:p>
            <a:pPr algn="l">
              <a:spcAft>
                <a:spcPts val="1000"/>
              </a:spcAft>
            </a:pPr>
            <a:r>
              <a:rPr sz="1700" b="0">
                <a:solidFill>
                  <a:srgbClr val="222222"/>
                </a:solidFill>
                <a:latin typeface="맑은 고딕"/>
              </a:rPr>
              <a:t>•  서비스가 떠 있는 쪽에만 접속 성공</a:t>
            </a:r>
          </a:p>
          <a:p>
            <a:pPr algn="l">
              <a:spcAft>
                <a:spcPts val="1000"/>
              </a:spcAft>
            </a:pPr>
            <a:r>
              <a:rPr sz="1700" b="0">
                <a:solidFill>
                  <a:srgbClr val="222222"/>
                </a:solidFill>
                <a:latin typeface="맑은 고딕"/>
              </a:rPr>
              <a:t>•  CONNECT_TIMEOUT, RETRY_COUNT</a:t>
            </a:r>
          </a:p>
          <a:p>
            <a:pPr algn="l">
              <a:spcAft>
                <a:spcPts val="1000"/>
              </a:spcAft>
            </a:pPr>
            <a:r>
              <a:rPr sz="1700" b="0">
                <a:solidFill>
                  <a:srgbClr val="222222"/>
                </a:solidFill>
                <a:latin typeface="맑은 고딕"/>
              </a:rPr>
              <a:t>•  TRANSPORT_CONNECT_TIMEOUT으로 대기 단축</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TAF와 FAN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재접속을 돕는 기술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TAF: 끊기면 OCI가 자동 재접속, SELECT 이어 읽기</a:t>
            </a:r>
          </a:p>
          <a:p>
            <a:pPr algn="l">
              <a:spcAft>
                <a:spcPts val="1000"/>
              </a:spcAft>
            </a:pPr>
            <a:r>
              <a:rPr sz="1700" b="0">
                <a:solidFill>
                  <a:srgbClr val="222222"/>
                </a:solidFill>
                <a:latin typeface="맑은 고딕"/>
              </a:rPr>
              <a:t>•  진행 중 트랜잭션은 롤백</a:t>
            </a:r>
          </a:p>
          <a:p>
            <a:pPr algn="l">
              <a:spcAft>
                <a:spcPts val="1000"/>
              </a:spcAft>
            </a:pPr>
            <a:r>
              <a:rPr sz="1700" b="0">
                <a:solidFill>
                  <a:srgbClr val="222222"/>
                </a:solidFill>
                <a:latin typeface="맑은 고딕"/>
              </a:rPr>
              <a:t>•  FAN: 상태 변화를 이벤트로 즉시 통지</a:t>
            </a:r>
          </a:p>
          <a:p>
            <a:pPr algn="l">
              <a:spcAft>
                <a:spcPts val="1000"/>
              </a:spcAft>
            </a:pPr>
            <a:r>
              <a:rPr sz="1700" b="0">
                <a:solidFill>
                  <a:srgbClr val="222222"/>
                </a:solidFill>
                <a:latin typeface="맑은 고딕"/>
              </a:rPr>
              <a:t>•  FCF: 연결 풀의 죽은 연결 정리와 재충전</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역할 전환 후 운영 점검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성공 메시지 다음에 확인할 것</a:t>
            </a:r>
          </a:p>
          <a:p>
            <a:pPr algn="l">
              <a:spcAft>
                <a:spcPts val="800"/>
              </a:spcAft>
            </a:pPr>
            <a:r>
              <a:rPr sz="1600" b="0">
                <a:solidFill>
                  <a:srgbClr val="FFFFFF"/>
                </a:solidFill>
                <a:latin typeface="맑은 고딕"/>
              </a:rPr>
              <a:t>•  전환 훈련</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역할 전환 후 운영 점검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위에서부터 차례로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역할과 열린 모드, Broker 구성 상태</a:t>
            </a:r>
          </a:p>
          <a:p>
            <a:pPr algn="l">
              <a:spcAft>
                <a:spcPts val="1000"/>
              </a:spcAft>
            </a:pPr>
            <a:r>
              <a:rPr sz="1700" b="0">
                <a:solidFill>
                  <a:srgbClr val="222222"/>
                </a:solidFill>
                <a:latin typeface="맑은 고딕"/>
              </a:rPr>
              <a:t>•  리두 전송, Redo Apply, 동기화 지표</a:t>
            </a:r>
          </a:p>
          <a:p>
            <a:pPr algn="l">
              <a:spcAft>
                <a:spcPts val="1000"/>
              </a:spcAft>
            </a:pPr>
            <a:r>
              <a:rPr sz="1700" b="0">
                <a:solidFill>
                  <a:srgbClr val="222222"/>
                </a:solidFill>
                <a:latin typeface="맑은 고딕"/>
              </a:rPr>
              <a:t>•  보호 모드, FSFO 상태</a:t>
            </a:r>
          </a:p>
          <a:p>
            <a:pPr algn="l">
              <a:spcAft>
                <a:spcPts val="1000"/>
              </a:spcAft>
            </a:pPr>
            <a:r>
              <a:rPr sz="1700" b="0">
                <a:solidFill>
                  <a:srgbClr val="222222"/>
                </a:solidFill>
                <a:latin typeface="맑은 고딕"/>
              </a:rPr>
              <a:t>•  서비스와 애플리케이션 접속, 백업·배치·모니터링</a:t>
            </a:r>
          </a:p>
          <a:p>
            <a:pPr algn="l">
              <a:spcAft>
                <a:spcPts val="1000"/>
              </a:spcAft>
            </a:pPr>
            <a:r>
              <a:rPr sz="1700" b="0">
                <a:solidFill>
                  <a:srgbClr val="222222"/>
                </a:solidFill>
                <a:latin typeface="맑은 고딕"/>
              </a:rPr>
              <a:t>•  Failover 뒤에는 새 Primary의 전체 백업</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전환 훈련을 정기 일정으로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Switchover는 운영 중에도 연습할 수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분기나 반기마다 실제로 역할을 바꿔 운영</a:t>
            </a:r>
          </a:p>
          <a:p>
            <a:pPr algn="l">
              <a:spcAft>
                <a:spcPts val="1000"/>
              </a:spcAft>
            </a:pPr>
            <a:r>
              <a:rPr sz="1700" b="0">
                <a:solidFill>
                  <a:srgbClr val="222222"/>
                </a:solidFill>
                <a:latin typeface="맑은 고딕"/>
              </a:rPr>
              <a:t>•  드러나는 문제 대부분은 Data Guard 바깥</a:t>
            </a:r>
          </a:p>
          <a:p>
            <a:pPr algn="l">
              <a:spcAft>
                <a:spcPts val="1000"/>
              </a:spcAft>
            </a:pPr>
            <a:r>
              <a:rPr sz="1700" b="0">
                <a:solidFill>
                  <a:srgbClr val="222222"/>
                </a:solidFill>
                <a:latin typeface="맑은 고딕"/>
              </a:rPr>
              <a:t>•  하드코딩 호스트, 한쪽에만 있는 배치와 백업</a:t>
            </a:r>
          </a:p>
          <a:p>
            <a:pPr algn="l">
              <a:spcAft>
                <a:spcPts val="1000"/>
              </a:spcAft>
            </a:pPr>
            <a:r>
              <a:rPr sz="1700" b="0">
                <a:solidFill>
                  <a:srgbClr val="222222"/>
                </a:solidFill>
                <a:latin typeface="맑은 고딕"/>
              </a:rPr>
              <a:t>•  소요 시간을 기록해 RTO 근거로</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16.10</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Data Guard 환경의 백업 전략</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Standby로 백업 오프로드</a:t>
            </a:r>
          </a:p>
          <a:p>
            <a:pPr algn="l">
              <a:spcAft>
                <a:spcPts val="800"/>
              </a:spcAft>
            </a:pPr>
            <a:r>
              <a:rPr sz="1600" b="0">
                <a:solidFill>
                  <a:srgbClr val="FFFFFF"/>
                </a:solidFill>
                <a:latin typeface="맑은 고딕"/>
              </a:rPr>
              <a:t>•  복구 카탈로그와 DB_UNIQUE_NAME</a:t>
            </a:r>
          </a:p>
          <a:p>
            <a:pPr algn="l">
              <a:spcAft>
                <a:spcPts val="800"/>
              </a:spcAft>
            </a:pPr>
            <a:r>
              <a:rPr sz="1600" b="0">
                <a:solidFill>
                  <a:srgbClr val="FFFFFF"/>
                </a:solidFill>
                <a:latin typeface="맑은 고딕"/>
              </a:rPr>
              <a:t>•  아카이브 로그 삭제 정책과 호환성</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Standby에서 백업 받기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Primary의 부하를 덜어 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물리 Standby 백업은 Primary에서 그대로 사용</a:t>
            </a:r>
          </a:p>
          <a:p>
            <a:pPr algn="l">
              <a:spcAft>
                <a:spcPts val="1000"/>
              </a:spcAft>
            </a:pPr>
            <a:r>
              <a:rPr sz="1700" b="0">
                <a:solidFill>
                  <a:srgbClr val="222222"/>
                </a:solidFill>
                <a:latin typeface="맑은 고딕"/>
              </a:rPr>
              <a:t>•  DBID와 파일 번호가 같기 때문</a:t>
            </a:r>
          </a:p>
          <a:p>
            <a:pPr algn="l">
              <a:spcAft>
                <a:spcPts val="1000"/>
              </a:spcAft>
            </a:pPr>
            <a:r>
              <a:rPr sz="1700" b="0">
                <a:solidFill>
                  <a:srgbClr val="222222"/>
                </a:solidFill>
                <a:latin typeface="맑은 고딕"/>
              </a:rPr>
              <a:t>•  RMAN은 Standby에 TARGET으로 접속</a:t>
            </a:r>
          </a:p>
          <a:p>
            <a:pPr algn="l">
              <a:spcAft>
                <a:spcPts val="1000"/>
              </a:spcAft>
            </a:pPr>
            <a:r>
              <a:rPr sz="1700" b="0">
                <a:solidFill>
                  <a:srgbClr val="222222"/>
                </a:solidFill>
                <a:latin typeface="맑은 고딕"/>
              </a:rPr>
              <a:t>•  Standby의 BCT는 ADG 옵션 필요</a:t>
            </a:r>
          </a:p>
          <a:p>
            <a:pPr algn="l">
              <a:spcAft>
                <a:spcPts val="1000"/>
              </a:spcAft>
            </a:pPr>
            <a:r>
              <a:rPr sz="1700" b="0">
                <a:solidFill>
                  <a:srgbClr val="222222"/>
                </a:solidFill>
                <a:latin typeface="맑은 고딕"/>
              </a:rPr>
              <a:t>•  MAA 권장: 양쪽 모두 백업, 매일 증분</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복구 카탈로그와 DB_UNIQUE_NAME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백업 기록을 양쪽이 공유하려면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 백업 기록은 Standby 컨트롤 파일에만</a:t>
            </a:r>
          </a:p>
          <a:p>
            <a:pPr algn="l">
              <a:spcAft>
                <a:spcPts val="1000"/>
              </a:spcAft>
            </a:pPr>
            <a:r>
              <a:rPr sz="1700" b="0">
                <a:solidFill>
                  <a:srgbClr val="222222"/>
                </a:solidFill>
                <a:latin typeface="맑은 고딕"/>
              </a:rPr>
              <a:t>•  교재: 물리 Standby 구성에서 카탈로그 필수</a:t>
            </a:r>
          </a:p>
          <a:p>
            <a:pPr algn="l">
              <a:spcAft>
                <a:spcPts val="1000"/>
              </a:spcAft>
            </a:pPr>
            <a:r>
              <a:rPr sz="1700" b="0">
                <a:solidFill>
                  <a:srgbClr val="222222"/>
                </a:solidFill>
                <a:latin typeface="맑은 고딕"/>
              </a:rPr>
              <a:t>•  Standby는 별도 REGISTER 불필요</a:t>
            </a:r>
          </a:p>
          <a:p>
            <a:pPr algn="l">
              <a:spcAft>
                <a:spcPts val="1000"/>
              </a:spcAft>
            </a:pPr>
            <a:r>
              <a:rPr sz="1700" b="0">
                <a:solidFill>
                  <a:srgbClr val="222222"/>
                </a:solidFill>
                <a:latin typeface="맑은 고딕"/>
              </a:rPr>
              <a:t>•  CONFIGURE DB_UNIQUE_NAME ... CONNECT IDENTIFIER</a:t>
            </a:r>
          </a:p>
          <a:p>
            <a:pPr algn="l">
              <a:spcAft>
                <a:spcPts val="1000"/>
              </a:spcAft>
            </a:pPr>
            <a:r>
              <a:rPr sz="1700" b="0">
                <a:solidFill>
                  <a:srgbClr val="222222"/>
                </a:solidFill>
                <a:latin typeface="맑은 고딕"/>
              </a:rPr>
              <a:t>•  카탈로그 없으면 CATALOG 명령으로 수동 등록</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연관과 접근성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누가 만들었나, 누가 쓸 수 있나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모든 백업은 만든 DB의 DB_UNIQUE_NAME과 연관</a:t>
            </a:r>
          </a:p>
          <a:p>
            <a:pPr algn="l">
              <a:spcAft>
                <a:spcPts val="1000"/>
              </a:spcAft>
            </a:pPr>
            <a:r>
              <a:rPr sz="1700" b="0">
                <a:solidFill>
                  <a:srgbClr val="222222"/>
                </a:solidFill>
                <a:latin typeface="맑은 고딕"/>
              </a:rPr>
              <a:t>•  디스크 백업: 연관된 DB만 접근</a:t>
            </a:r>
          </a:p>
          <a:p>
            <a:pPr algn="l">
              <a:spcAft>
                <a:spcPts val="1000"/>
              </a:spcAft>
            </a:pPr>
            <a:r>
              <a:rPr sz="1700" b="0">
                <a:solidFill>
                  <a:srgbClr val="222222"/>
                </a:solidFill>
                <a:latin typeface="맑은 고딕"/>
              </a:rPr>
              <a:t>•  테이프(SBT) 백업: 모든 DB가 접근</a:t>
            </a:r>
          </a:p>
          <a:p>
            <a:pPr algn="l">
              <a:spcAft>
                <a:spcPts val="1000"/>
              </a:spcAft>
            </a:pPr>
            <a:r>
              <a:rPr sz="1700" b="0">
                <a:solidFill>
                  <a:srgbClr val="222222"/>
                </a:solidFill>
                <a:latin typeface="맑은 고딕"/>
              </a:rPr>
              <a:t>•  연관 변경: CHANGE ... RESET DB_UNIQUE_NAME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아카이브 로그 삭제 정책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백업했다고 지우면 갭이 생긴다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APPLIED ON ALL STANDBY</a:t>
            </a:r>
          </a:p>
          <a:p>
            <a:pPr algn="l">
              <a:spcAft>
                <a:spcPts val="1000"/>
              </a:spcAft>
            </a:pPr>
            <a:r>
              <a:rPr sz="1700" b="0">
                <a:solidFill>
                  <a:srgbClr val="222222"/>
                </a:solidFill>
                <a:latin typeface="맑은 고딕"/>
              </a:rPr>
              <a:t>•  적용 지연 구성: SHIPPED TO ALL STANDBY 고려</a:t>
            </a:r>
          </a:p>
          <a:p>
            <a:pPr algn="l">
              <a:spcAft>
                <a:spcPts val="1000"/>
              </a:spcAft>
            </a:pPr>
            <a:r>
              <a:rPr sz="1700" b="0">
                <a:solidFill>
                  <a:srgbClr val="222222"/>
                </a:solidFill>
                <a:latin typeface="맑은 고딕"/>
              </a:rPr>
              <a:t>•  백업 받는 쪽: BACKED UP n TIMES TO DEVICE TYPE</a:t>
            </a:r>
          </a:p>
          <a:p>
            <a:pPr algn="l">
              <a:spcAft>
                <a:spcPts val="1000"/>
              </a:spcAft>
            </a:pPr>
            <a:r>
              <a:rPr sz="1700" b="0">
                <a:solidFill>
                  <a:srgbClr val="222222"/>
                </a:solidFill>
                <a:latin typeface="맑은 고딕"/>
              </a:rPr>
              <a:t>•  ALL을 빼면 필수 목적지만 따짐</a:t>
            </a:r>
          </a:p>
          <a:p>
            <a:pPr algn="l">
              <a:spcAft>
                <a:spcPts val="1000"/>
              </a:spcAft>
            </a:pPr>
            <a:r>
              <a:rPr sz="1700" b="0">
                <a:solidFill>
                  <a:srgbClr val="222222"/>
                </a:solidFill>
                <a:latin typeface="맑은 고딕"/>
              </a:rPr>
              <a:t>•  역할 기준으로 정의해 전환 뒤에도 유지</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백업 호환성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바꿔 쓸 수 있나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데이터 파일, 아카이브 로그: 호환</a:t>
            </a:r>
          </a:p>
          <a:p>
            <a:pPr algn="l">
              <a:spcAft>
                <a:spcPts val="1000"/>
              </a:spcAft>
            </a:pPr>
            <a:r>
              <a:rPr sz="1700" b="0">
                <a:solidFill>
                  <a:srgbClr val="222222"/>
                </a:solidFill>
                <a:latin typeface="맑은 고딕"/>
              </a:rPr>
              <a:t>•  컨트롤 파일: Standby용과 일반용 상호 복원</a:t>
            </a:r>
          </a:p>
          <a:p>
            <a:pPr algn="l">
              <a:spcAft>
                <a:spcPts val="1000"/>
              </a:spcAft>
            </a:pPr>
            <a:r>
              <a:rPr sz="1700" b="0">
                <a:solidFill>
                  <a:srgbClr val="222222"/>
                </a:solidFill>
                <a:latin typeface="맑은 고딕"/>
              </a:rPr>
              <a:t>•  SPFILE: 호환 안 됨, 사이트별 백업</a:t>
            </a:r>
          </a:p>
          <a:p>
            <a:pPr algn="l">
              <a:spcAft>
                <a:spcPts val="1000"/>
              </a:spcAft>
            </a:pPr>
            <a:r>
              <a:rPr sz="1700" b="0">
                <a:solidFill>
                  <a:srgbClr val="222222"/>
                </a:solidFill>
                <a:latin typeface="맑은 고딕"/>
              </a:rPr>
              <a:t>•  Logical Standby 백업은 Primary에 사용 불가</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Switchover는 계획·무손실, Failover는 비상·RESETLOGS</a:t>
            </a:r>
          </a:p>
          <a:p>
            <a:pPr algn="l">
              <a:spcAft>
                <a:spcPts val="1000"/>
              </a:spcAft>
            </a:pPr>
            <a:r>
              <a:rPr sz="1600" b="0">
                <a:solidFill>
                  <a:srgbClr val="222222"/>
                </a:solidFill>
                <a:latin typeface="맑은 고딕"/>
              </a:rPr>
              <a:t>•  전환 전 SWITCHOVER_STATUS, VALIDATE, VERIFY로 판정</a:t>
            </a:r>
          </a:p>
          <a:p>
            <a:pPr algn="l">
              <a:spcAft>
                <a:spcPts val="1000"/>
              </a:spcAft>
            </a:pPr>
            <a:r>
              <a:rPr sz="1600" b="0">
                <a:solidFill>
                  <a:srgbClr val="222222"/>
                </a:solidFill>
                <a:latin typeface="맑은 고딕"/>
              </a:rPr>
              <a:t>•  Broker 구성의 전환은 DGMGRL로만, SQL은 불일치 유발</a:t>
            </a:r>
          </a:p>
          <a:p>
            <a:pPr algn="l">
              <a:spcAft>
                <a:spcPts val="1000"/>
              </a:spcAft>
            </a:pPr>
            <a:r>
              <a:rPr sz="1600" b="0">
                <a:solidFill>
                  <a:srgbClr val="222222"/>
                </a:solidFill>
                <a:latin typeface="맑은 고딕"/>
              </a:rPr>
              <a:t>•  완전 Failover가 기본, 손실은 전송 상태가 결정</a:t>
            </a:r>
          </a:p>
          <a:p>
            <a:pPr algn="l">
              <a:spcAft>
                <a:spcPts val="1000"/>
              </a:spcAft>
            </a:pPr>
            <a:r>
              <a:rPr sz="1600" b="0">
                <a:solidFill>
                  <a:srgbClr val="222222"/>
                </a:solidFill>
                <a:latin typeface="맑은 고딕"/>
              </a:rPr>
              <a:t>•  옛 Primary는 Flashback과 REINSTATE, 불가하면 재생성</a:t>
            </a:r>
          </a:p>
          <a:p>
            <a:pPr algn="l">
              <a:spcAft>
                <a:spcPts val="1000"/>
              </a:spcAft>
            </a:pPr>
            <a:r>
              <a:rPr sz="1600" b="0">
                <a:solidFill>
                  <a:srgbClr val="222222"/>
                </a:solidFill>
                <a:latin typeface="맑은 고딕"/>
              </a:rPr>
              <a:t>•  FSFO는 Observer·Threshold·LagLimit, 19c 다중 Observer</a:t>
            </a:r>
          </a:p>
          <a:p>
            <a:pPr algn="l">
              <a:spcAft>
                <a:spcPts val="1000"/>
              </a:spcAft>
            </a:pPr>
            <a:r>
              <a:rPr sz="1600" b="0">
                <a:solidFill>
                  <a:srgbClr val="222222"/>
                </a:solidFill>
                <a:latin typeface="맑은 고딕"/>
              </a:rPr>
              <a:t>•  Standby 백업, 카탈로그, APPLIED ON ALL STANDBY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Switchover와 Failover 뒤 온라인 로그는? → 유지 / RESETLOGS</a:t>
            </a:r>
          </a:p>
          <a:p>
            <a:pPr algn="l">
              <a:spcAft>
                <a:spcPts val="1000"/>
              </a:spcAft>
            </a:pPr>
            <a:r>
              <a:rPr sz="1600" b="0">
                <a:solidFill>
                  <a:srgbClr val="222222"/>
                </a:solidFill>
                <a:latin typeface="맑은 고딕"/>
              </a:rPr>
              <a:t>•  Q2. Primary를 열 수 없을 때 Switchover는? → 불가</a:t>
            </a:r>
          </a:p>
          <a:p>
            <a:pPr algn="l">
              <a:spcAft>
                <a:spcPts val="1000"/>
              </a:spcAft>
            </a:pPr>
            <a:r>
              <a:rPr sz="1600" b="0">
                <a:solidFill>
                  <a:srgbClr val="222222"/>
                </a:solidFill>
                <a:latin typeface="맑은 고딕"/>
              </a:rPr>
              <a:t>•  Q3. Broker 구성에서 SQL로 전환하면? → 실행되나 ORA-16816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Q4. Failover 뒤 ORA-16661이면? → MOUNT 후 REINSTATE DATABASE</a:t>
            </a:r>
          </a:p>
          <a:p>
            <a:pPr algn="l">
              <a:spcAft>
                <a:spcPts val="1000"/>
              </a:spcAft>
            </a:pPr>
            <a:r>
              <a:rPr sz="1600" b="0">
                <a:solidFill>
                  <a:srgbClr val="222222"/>
                </a:solidFill>
                <a:latin typeface="맑은 고딕"/>
              </a:rPr>
              <a:t>•  Q5. LagLimit 30, 대상 지연 90초에서 Primary 소실? → 자동 전환 없음</a:t>
            </a:r>
          </a:p>
          <a:p>
            <a:pPr algn="l">
              <a:spcAft>
                <a:spcPts val="1000"/>
              </a:spcAft>
            </a:pPr>
            <a:r>
              <a:rPr sz="1600" b="0">
                <a:solidFill>
                  <a:srgbClr val="222222"/>
                </a:solidFill>
                <a:latin typeface="맑은 고딕"/>
              </a:rPr>
              <a:t>•  Q6. 카탈로그 없이 받은 Standby 백업이 Primary에 안 보이면? → 카탈로그 또는 CATALOG</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전환 사전 점검 / 02 Switchover 실행 (16.3, 16.4)</a:t>
            </a:r>
          </a:p>
          <a:p>
            <a:pPr algn="l">
              <a:spcAft>
                <a:spcPts val="1000"/>
              </a:spcAft>
            </a:pPr>
            <a:r>
              <a:rPr sz="1600" b="0">
                <a:solidFill>
                  <a:srgbClr val="222222"/>
                </a:solidFill>
                <a:latin typeface="맑은 고딕"/>
              </a:rPr>
              <a:t>•  03 전환 후 확인과 되돌리기 / 04 전환 거부 재현 (16.4, 16.9)</a:t>
            </a:r>
          </a:p>
          <a:p>
            <a:pPr algn="l">
              <a:spcAft>
                <a:spcPts val="1000"/>
              </a:spcAft>
            </a:pPr>
            <a:r>
              <a:rPr sz="1600" b="0">
                <a:solidFill>
                  <a:srgbClr val="222222"/>
                </a:solidFill>
                <a:latin typeface="맑은 고딕"/>
              </a:rPr>
              <a:t>•  05 SQL 전환 사고와 복구 (16.4.3)</a:t>
            </a:r>
          </a:p>
          <a:p>
            <a:pPr algn="l">
              <a:spcAft>
                <a:spcPts val="1000"/>
              </a:spcAft>
            </a:pPr>
            <a:r>
              <a:rPr sz="1600" b="0">
                <a:solidFill>
                  <a:srgbClr val="222222"/>
                </a:solidFill>
                <a:latin typeface="맑은 고딕"/>
              </a:rPr>
              <a:t>•  06 플래시백 준비 / 07 Failover와 Reinstate (16.5, 16.6)</a:t>
            </a:r>
          </a:p>
          <a:p>
            <a:pPr algn="l">
              <a:spcAft>
                <a:spcPts val="1000"/>
              </a:spcAft>
            </a:pPr>
            <a:r>
              <a:rPr sz="1600" b="0">
                <a:solidFill>
                  <a:srgbClr val="222222"/>
                </a:solidFill>
                <a:latin typeface="맑은 고딕"/>
              </a:rPr>
              <a:t>•  08 관측자와 FSFO 실제 발동 (16.7)</a:t>
            </a:r>
          </a:p>
          <a:p>
            <a:pPr algn="l">
              <a:spcAft>
                <a:spcPts val="1000"/>
              </a:spcAft>
            </a:pPr>
            <a:r>
              <a:rPr sz="1600" b="0">
                <a:solidFill>
                  <a:srgbClr val="222222"/>
                </a:solidFill>
                <a:latin typeface="맑은 고딕"/>
              </a:rPr>
              <a:t>•  09 Standby 백업 활용 (16.10)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
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 DB에서 1초 걸리던 배치가 운영에서 한 시간 넘게 도는 일은 생각보다 자주 일어납니다. 데이터가 열 배 많고 특정 값에 몰려 있으면 옵티마이저가 전혀 다른 계획을 고르기 때문입니다. 운영 크기의 복제본을 따로 만들면 해결되지만 준비와 정리에 시간이 듭니다. 물리 Standby는 이미 같은 데이터를 갖고 대기 중이니 그것을 잠시 빌려 쓰자는 발상입니다. 다만 Standby 서버가 Primary보다 작다면 절대 시간보다는 변경 전후의 상대 비교로 읽는 편이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Database Replay는 재생 대상의 데이터가 캡처 시작 시점과 같아야 결과를 믿을 수 있습니다. 캡처를 시작하기 직전에 Standby를 Snapshot으로 바꾸어 두면 그 시점의 데이터가 고정되어 재생 준비가 끝납니다. SPA는 SQL 단위 비교라서 인덱스나 통계를 바꾼 뒤 회귀가 생기는 SQL을 골라내는 데 씁니다. 비용 이야기도 함께 나와야 하는데, Snapshot Standby 자체는 Data Guard 기본 기능이고 비용은 RAT 옵션 쪽에서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Standby만 가능한 이유는 되돌리는 수단이 Flashback Database이기 때문입니다. 블록 이미지를 되감아 원상 복구하려면 출발점이 Primary와 블록 단위로 같아야 하는데, SQL Apply로 데이터를 맞추는 논리 Standby는 그 전제가 없습니다. Far Sync는 데이터 파일이 없으니 애초에 대상이 아닙니다. 공식 교재의 퀴즈도 논리 Standby로 만들 수 있느냐는 물음에 거짓을 정답으로 둡니다. 라이선스 면에서는 Active Data Guard 옵션 없이도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현장에서 스냅샷이라는 말이 여러 의미로 쓰여 대화가 엇갈리는 일이 많습니다. 스토리지 담당자가 말하는 스냅샷은 장비가 디스크 블록을 복사해 두는 기능이고, 멀티테넌트의 스냅샷 복제는 PDB 하나를 쓰기 시 복사 방식으로 만드는 기능입니다. Snapshot Standby는 데이터베이스 전체를 대상으로 하고 Data Guard 구성원으로 남은 채 Flashback으로 돌아온다는 데서 둘과 갈립니다. 시험이 끝나면 별도 복사본이 남지 않으니 정리할 것도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지점은 SCN에 이름을 붙여 둔 것이고, 보장이라는 말이 붙으면 그 SCN까지 되감는 데 필요한 Flashback 로그를 오라클이 끝까지 지킵니다. 보존 기간 파라미터를 하루로 잡아 두었더라도 사흘을 Snapshot으로 두면 사흘 치가 남습니다. 이 복원 지점은 사용자가 만드는 것이 아니고 전환 명령이 만들며, 되돌리기가 끝나면 오라클이 스스로 지웁니다. 이름에 시각이 붙어 길기 때문에 실수로 지우기도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전환 전에 FLASHBACK_ON을 조회하면 NO가 나와서 전환이 안 될 거라고 생각하는 경우가 많습니다. 전환 명령이 보장 복원 지점 전용 로깅을 스스로 켜므로 FRA만 있으면 됩니다. 이 방식은 복원 지점 이후 처음 바뀌는 블록의 이전 이미지만 남깁니다. 같은 블록을 백 번 고쳐도 기록은 한 번이니 공간은 건드린 블록 수에 따라 늘어납니다. 되감을 때도 바뀐 블록만 되돌리므로 수 TB 데이터베이스라도 변경이 적으면 금방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쪽에서 보면 boston은 여전히 평범한 전송 목적지입니다. SYNC든 ASYNC든 정해 둔 방식으로 리두가 넘어가고 Standby는 SRL에 쓰고 아카이브합니다. 달라지는 것은 적용뿐입니다. 시험 도중 습관적으로 MRP를 띄우려 하면 ORA-01665가 나는데, 전환하면서 컨트롤 파일 유형이 STANDBY에서 CURRENT로 바뀌었기 때문입니다. 리두가 디스크에 남아 있으니 데이터 손실 관점의 보호는 유지되고, 걸리는 것은 그 데이터를 쓸 수 있게 될 때까지의 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전송과 적용을 나눠 보는 연습을 했는데, Snapshot Standby가 그 구분이 가장 선명하게 드러나는 상황입니다. transport lag는 평소처럼 작게 유지되고 apply lag는 시계처럼 일정하게 늘어납니다. 전환 후 두 시간이 지났다면 apply lag도 대략 두 시간입니다. 이 값은 정상 동작의 결과이므로 경보 기준을 물리 Standby와 똑같이 두면 시험 내내 경보가 울리게 됩니다. 감시 쪽 설정도 전환 계획에 같이 넣어야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되돌린 직후의 Standby는 데이터만 보면 전환하던 순간에 멈춰 있습니다. 그 뒤 적용이 시작되어야 그동안의 Primary 변경이 들어옵니다. 시험에서 만든 테이블과 고친 행은 첫 단계에서 모두 사라지고 되살릴 방법이 없습니다. 시험 결과 데이터나 보고서를 남겨야 한다면 Data Pump나 파일로 먼저 빼 두어야 합니다. 전환 기간에 Primary에서 데이터 파일을 추가했다면 STANDBY_FILE_MANAGEMENT가 AUTO인 덕분에 적용 단계에서 함께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Standby를 몇 번이든 다시 전환할 수 있습니다. 주의할 것은 출발점입니다. 되돌린 뒤 적용이 다 끝나기 전에 다시 전환하면 그때까지 적용된 SCN이 새 출발점이 됩니다. 시험마다 기준 데이터를 맞춰야 한다면 apply lag가 충분히 줄었는지 보고 전환해야 합니다. 같은 데이터로 같은 시험을 여러 번 돌릴 목적이라면 매번 되돌렸다 전환하기보다 Snapshot 안에서 직접 복원 지점을 만들어 그리로 되감는 편이 밀린 리두 적용 시간을 아낄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명령을 내리기 전에 이 네 값을 보는 습관을 들이면 이 장에서 다루는 오류 대부분을 피할 수 있습니다. CONTROLFILE_TYPE의 CURRENT 값은 특히 눈여겨볼 만한데, Snapshot Standby가 Primary처럼 읽기 쓰기로 열리는 이유와 MRP를 띄울 수 없는 이유를 이 값 하나가 함께 설명합니다. 그래도 역할은 SNAPSHOT STANDBY라서 Data Guard는 이 데이터베이스를 Primary로 보지 않고, Primary의 전송 대상 목록에도 그대로 남겨 둡니다.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공식 교재가 꼽는 조건은 세 가지로 정리됩니다. FRA가 있어야 하고, 적용이 멈춰 있어야 하고, MOUNT 상태여야 합니다. Active Data Guard로 열려 있던 Standby라면 적용을 멈춘 뒤 한 번 내렸다 MOUNT로 올려야 합니다. Flashback을 미리 켤 필요는 없습니다. Primary 쪽은 전송 목적지, 보호 모드, Broker 구성 모두 그대로 두는데, 최대 보호 모드라면 뒤에서 볼 유일한 Standby 제약부터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공간 계산은 두 덩어리로 나눠서 합니다. 시험에서 대형 테이블 전체를 UPDATE하거나 인덱스를 재생성한다면 그 세그먼트 크기만큼 Flashback 로그가 쌓입니다. 반대로 행 몇 개만 고치는 시험은 거의 늘지 않습니다. 아카이브 로그 쪽은 시험 내용과 상관없이 Primary가 만드는 리두가 고스란히 쌓입니다. 하루 리두량과 최대 전환 일수를 곱해 보면 시험 기간을 왜 짧게 잡아야 하는지 숫자로 바로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Standby의 영향이 Primary까지 번지는 대표 경로가 아카이브 로그 삭제 정책입니다. Primary에 APPLIED ON ALL STANDBY를 걸어 두었다면 Snapshot Standby가 적용하지 않은 로그는 Primary에서도 지워지지 않습니다. 그렇다고 시험 기간에만 정책을 느슨하게 바꾸면 적용되지 않은 로그가 지워져 되돌린 뒤 갭이 생기고, Primary에도 없으면 Standby를 다시 맞춰야 합니다. 정책은 그대로 두고 공간과 기간으로 관리하는 것이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FRA가 차도 오라클은 보장 복원 지점에 묶인 Flashback 로그를 지우지 않습니다. 시험 쪽 쓰기가 먼저 멈추고, 더 나쁜 경우 RFS가 받은 리두를 아카이브하지 못해 Primary의 전송 목적지에 오류가 뜹니다. 시험용으로 돌린 Standby 하나가 재해 대비용 리두 보관을 막는 셈입니다. 급하다고 복원 지점을 지우면 공간은 생기지만 그 Standby는 물리 Standby로 돌아갈 방법을 잃고 새로 만들어야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전환 전에는 V$RECOVERY_AREA_USAGE에서 FLASHBACK LOG 행이 0으로 나오다가 시험을 시작하면 값이 생깁니다. STORAGE_SIZE는 전환 직후에도 0이 아닌 값이 보이는데, Flashback 로그 파일을 처음 만들 때 미리 할당하는 크기 때문입니다. 감시 기준은 개별 값보다 FRA 전체 사용률로 잡는 편이 단순합니다. 오라클이 85%와 97%에서 남기는 경고를 감시 시스템에 연결해 두면 Snapshot 전용 감시를 따로 만들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다섯 항목은 명령이 성공하느냐를 가르고, 마지막 항목은 전환한 뒤 위험을 가릅니다. 여섯 번째가 비어 있으면 명령은 성공해도 시험 기간 내내 재해 대비 공백이 생깁니다. 전환 직전의 apply lag도 봐야 합니다. 적용이 멈추는 순간의 데이터가 그대로 시험 데이터가 되므로, 뒤처진 채로 전환하면 어제 날짜를 기대했는데 그제 데이터로 시험하는 일이 생깁니다. 실습 1에서 이 기준값들을 기록해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전환 명령 하나가 보장 복원 지점 생성, Flashback 로깅 활성화, 컨트롤 파일 유형 변경, 역할 변경을 모두 처리합니다. 적용을 멈추지 않고 명령을 내리면 오류 메시지에 복원 지점 이름이 찍혀 나오는데, 이것을 보면 전환 명령이 맨 먼저 복원 지점부터 만들려 했다는 것을 알 수 있습니다. 첫 단계에서 실패했으므로 아무것도 바뀌지 않은 상태이고, 적용을 멈춘 뒤 같은 명령을 다시 내리면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 가장 자주 막히는 곳이 PDB입니다. CDB를 열고 바로 PDB 안의 테이블을 조회하면 ORA-01219가 나는데, 저장된 상태가 없으면 PDB는 따라 열리지 않기 때문입니다. 9장에서 Real-Time Query 상태의 Standby에 INSERT를 시도하면 ORA-16000이 났습니다. 같은 boston에서 같은 문장이 이번에는 정상 처리되는 것을 비교해 보면 전환이 무엇을 바꿨는지 체감할 수 있습니다. 열린 뒤의 SCN은 Primary와 아무 관계없이 앞으로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Standby가 열리면 평범한 읽기 쓰기 데이터베이스처럼 유지 작업과 스케줄러 잡이 돌기 시작합니다. 야간에 통계가 자동으로 다시 수집되면 시험 중간에 실행 계획이 바뀌어 비교 결과가 흐려집니다. 더 위험한 것은 운영 데이터를 외부 시스템으로 보내는 잡입니다. 시험 DB에서 그런 잡이 돌면 운영과 똑같은 데이터가 한 번 더 나갑니다. 서비스도 역할 기준으로 정의해 두어야 애플리케이션이 시험 DB에 붙는 사고를 막을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되돌리기는 반드시 MOUNT 상태에서 합니다. 열린 채로 명령을 내리면 ORA-01126이 납니다. ORA-16433은 조금 의외인데, 전환만 해 놓고 한 번도 읽기 쓰기로 열지 않은 채 되돌리려 할 때 나옵니다. 시험 계획이 취소됐더라도 한 번 열었다 닫은 뒤 되돌려야 합니다. 명령이 성공하면 Flashback과 역할 복귀가 끝나고 복원 지점도 사라집니다. 컨트롤 파일 유형이 바뀌었으니 한 번 재기동해 깨끗한 상태에서 다음 단계로 가는 것이 일반적입니다.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MOUNT 상태에서 적용을 먼저 기동해도 오류 없이 성공하기 때문에 순서를 틀리기 쉽습니다. 문제는 그다음 OPEN에서 ORA-10456이 난다는 것입니다. 이때는 적용을 CANCEL하고, 읽기 전용으로 연 뒤, 적용을 다시 기동하면 READ ONLY WITH APPLY로 돌아옵니다. 9장에서 Real-Time Query를 처음 켤 때와 같은 순서입니다. Active Data Guard를 쓰지 않는 Standby라면 MOUNT에서 적용만 기동하면 물리 Standby 역할로는 충분합니다.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 기간에 확인할 것은 수신이 정상으로 이어지고 있느냐입니다. Snapshot Standby에서도 V$DATAGUARD_STATS를 조회할 수 있고, transport lag가 몇 초 이내이고 DATUM_TIME이 최근이면 수신은 문제가 없습니다. Primary에서는 해당 목적지 상태가 VALID인지 봅니다. 여기에 오류가 보인다면 Snapshot 쪽 FRA가 찼을 가능성이 가장 높습니다. 되돌린 뒤에는 V$ARCHIVED_LOG의 APPLIED가 차례로 YES로 바뀌는 모습으로 따라잡기를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번호가 많아 보이지만 원인은 거의 하나로 모입니다. 데이터베이스의 현재 상태와 명령이 요구하는 상태가 다른 것입니다. 명령 전에 V$DATABASE의 역할, 열린 모드, 컨트롤 파일 유형을 확인하면 대부분 피할 수 있습니다. ORA-01665는 Primary나 Far Sync에서 적용을 기동할 때도 나오는 오류입니다. 세 경우 모두 컨트롤 파일이 STANDBY 유형이 아니라는 같은 원인을 갖고 있어 묶어서 기억하기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Broker가 관리하는 구성에서 SQL로 역할을 바꾸면 Broker가 알고 있는 상태와 실제 상태가 어긋나 경고가 생깁니다. Broker를 쓰는 곳에서는 DGMGRL의 CONVERT DATABASE를 쓰는 것이 원칙입니다. Broker는 SQL 절차에서 손으로 하던 적용 중지, 재기동, 되돌린 뒤 적용 재개를 스스로 처리합니다. 여기서는 명령 형태만 소개하고, Broker 구성 자체와 상태 조회 명령은 13장과 14장에서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Switchover는 대상 Standby가 Primary의 마지막 리두까지 적용한 상태를 전제로 하는데, Snapshot Standby는 적용을 멈추고 자기 변경까지 갖고 있습니다. 자동 Failover도 마찬가지로 짧은 시간 안에 넘겨받아야 하므로 대상이 될 수 없습니다. 수동 Failover는 가능합니다. 되돌려서 로컬 변경을 버리고 받아 둔 리두를 모두 적용한 다음 진행합니다. Broker를 쓰면 이 과정을 Failover 명령 안에서 처리해 주지만 걸리는 시간이 줄지는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최대 보호 모드는 동기 Standby가 리두를 받아야 Primary가 커밋을 끝내는 모드입니다. 그 역할을 맡을 Standby가 시험용으로 바뀌는 것을 막기 위해 유일한 Standby의 전환을 금지합니다. 전환한 뒤 다른 물리 Standby를 제거하려는 작업도 같은 이유로 거부됩니다. 다른 두 모드에는 제약이 없고, SYNC 대상이었다면 수신 확인도 그대로 보냅니다. 보호 모드가 약속하는 것은 데이터 손실 범위이고, 복구에 걸리는 시간은 별개의 문제로 따져야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장애가 났을 때 Snapshot Standby가 Primary가 되기까지의 시간을 세 부분으로 나눠 보면 어디서 시간이 드는지 보입니다. 되감기는 대개 빠르고 역할 전환도 짧습니다. 시간을 잡아먹는 것은 밀린 리두 적용입니다. 적용이 리두 생성보다 세 배 빠르다고 가정해도 사흘 치를 따라잡는 데 하루 가까이 걸립니다. 업무가 요구하는 RTO가 분 단위라면 그 Standby는 시험 기간 동안 재해 대비 수단으로 계산하면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공식 교재가 Snapshot Standby의 위험으로 따로 꼽는 항목입니다. 받은 아카이브 로그는 적용하는 순간 내용이 검증되는데, 적용을 멈춰 두면 그 검증도 같이 미뤄집니다. Primary가 살아 있다면 FAL로 정상 로그를 다시 받으면 그만이지만, Primary 장애로 Failover하려는 순간 발견된다면 그 지점 이후 데이터는 잃습니다. RMAN의 VALIDATE로 받은 로그를 미리 점검할 수 있고, 가장 확실한 대책은 적용을 이어 가는 물리 Standby를 하나 더 두는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되돌리기는 Flashback Database에 기대므로 Flashback이 넘어가지 못하는 작업을 시험 중에 하면 돌아갈 수 없습니다. 컨트롤 파일을 다시 만들면 그 이전 Flashback 정보가 무의미해지고, 데이터 파일 축소도 되감기로 원상 복구되지 않습니다. FRA를 정리하려고 OS에서 파일을 직접 지우는 습관도 이 기간에는 치명적입니다. 되돌리기가 실패하면 Standby를 새로 만들어야 하니, 시험 계획서에 금지 작업을 적고 권한으로 막는 편이 확실합니다.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방식을 가르는 질문은 두 가지입니다. 데이터를 바꿔야 하는가, 바꾼다면 그 결과를 남겨야 하는가입니다. Real-Time Query는 최신 데이터를 읽기만 합니다. 19c의 DML 리다이렉션으로 Standby 세션에서 DML을 낼 수는 있지만 실제 변경은 Primary에서 일어나니 시험과는 성격이 다릅니다. Logical Standby는 보고용 객체를 추가로 두고 유지할 수 있지만 SQL Apply가 지원하지 않는 유형이 있습니다. Snapshot은 무엇이든 바꿀 수 있는 대신 결과가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 리허설, 데이터 이관 스크립트 검증, 인덱스와 통계 변경 영향도, Database Replay는 모두 바꾸고 버려도 되는 시험이라 Snapshot Standby가 맞습니다. 시험이 몇 주씩 이어지거나 상시 개발 환경이 필요하다면 Snapshot을 오래 붙잡아 두기보다 별도 복제본을 만드는 편이 FRA와 RTO 모두에 낫습니다. 같은 Standby를 평소엔 조회용, 시험 때만 Snapshot으로 쓰는 것도 가능하지만 전환과 되돌리기 때마다 재기동이 있어 조회 사용자는 두 번 끊깁니다.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요구를 다 가진 조직이라면 물리 Standby 두 개로 역할을 나누는 구성이 가장 무리가 없습니다. 한쪽은 동기 전송을 받으면서 Fast-Start Failover 대상이 되고, 다른 쪽은 평소 조회를 받다가 시험 때만 Snapshot으로 돌립니다. 이렇게 두면 시험 기간에도 재해 대비 수준이 떨어지지 않고, 손상 로그 위험이나 RTO 증가도 시험 일정 문제로 끝납니다. 최대 보호 모드의 유일한 Standby 제약에 걸리지 않는 것도 덤으로 얻는 이점입니다.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금요일 오후에 전환해 두고 되돌리지 않은 채 퇴근했는데 월요일 새벽에 Primary 장애가 나는 시나리오가 실제로 가장 흔한 사고 유형입니다. 사흘 치 리두가 쌓인 Standby는 몇 시간 동안 Primary가 되지 못합니다. apply lag 경보가 계속 울리면 운영자가 경보 자체를 무시하게 되는 것도 문제입니다. 이를 막으려고 전환할 때 담당자와 되돌릴 시각을 기록하고, 그 시각을 넘기면 경보 단계를 올리는 절차를 두는 조직이 많습니다.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Flashback은 데이터베이스 안의 블록만 되돌립니다. 시험 중에 DB 링크로 다른 시스템에 넣은 데이터나 발송된 메일은 그대로 남습니다. AWR 스냅샷도 Snapshot Standby 안의 데이터라서 되돌리면 같이 사라지니 awrextr.sql로 먼저 추출해야 합니다. 개발자에게 접속을 열어 줄 때는 이것이 운영 데이터 전체라는 사실을 잊으면 안 됩니다. 되돌린 뒤에는 역할, 복원 지점 유무, 적용 프로세스, apply lag를 차례로 보고 시험 객체가 사라졌는지까지 확인합니다.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Snapshot Standby</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운영 데이터를 잠시 빌려 쓰고 그대로 돌려놓기</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Snapshot Standby가 필요한 상황과 RAT 연계를 설명한다</a:t>
            </a:r>
          </a:p>
          <a:p>
            <a:pPr algn="l">
              <a:spcAft>
                <a:spcPts val="1000"/>
              </a:spcAft>
            </a:pPr>
            <a:r>
              <a:rPr sz="1600" b="0">
                <a:solidFill>
                  <a:srgbClr val="222222"/>
                </a:solidFill>
                <a:latin typeface="맑은 고딕"/>
              </a:rPr>
              <a:t>•  보장 복원 지점과 Flashback의 역할을 설명한다</a:t>
            </a:r>
          </a:p>
          <a:p>
            <a:pPr algn="l">
              <a:spcAft>
                <a:spcPts val="1000"/>
              </a:spcAft>
            </a:pPr>
            <a:r>
              <a:rPr sz="1600" b="0">
                <a:solidFill>
                  <a:srgbClr val="222222"/>
                </a:solidFill>
                <a:latin typeface="맑은 고딕"/>
              </a:rPr>
              <a:t>•  받기는 계속, 적용만 멈추는 구조를 설명한다</a:t>
            </a:r>
          </a:p>
          <a:p>
            <a:pPr algn="l">
              <a:spcAft>
                <a:spcPts val="1000"/>
              </a:spcAft>
            </a:pPr>
            <a:r>
              <a:rPr sz="1600" b="0">
                <a:solidFill>
                  <a:srgbClr val="222222"/>
                </a:solidFill>
                <a:latin typeface="맑은 고딕"/>
              </a:rPr>
              <a:t>•  FRA·Flashback 로그 공간을 계획하고 감시한다</a:t>
            </a:r>
          </a:p>
          <a:p>
            <a:pPr algn="l">
              <a:spcAft>
                <a:spcPts val="1000"/>
              </a:spcAft>
            </a:pPr>
            <a:r>
              <a:rPr sz="1600" b="0">
                <a:solidFill>
                  <a:srgbClr val="222222"/>
                </a:solidFill>
                <a:latin typeface="맑은 고딕"/>
              </a:rPr>
              <a:t>•  전환·열기·되돌리기와 순서 오류를 해석한다</a:t>
            </a:r>
          </a:p>
          <a:p>
            <a:pPr algn="l">
              <a:spcAft>
                <a:spcPts val="1000"/>
              </a:spcAft>
            </a:pPr>
            <a:r>
              <a:rPr sz="1600" b="0">
                <a:solidFill>
                  <a:srgbClr val="222222"/>
                </a:solidFill>
                <a:latin typeface="맑은 고딕"/>
              </a:rPr>
              <a:t>•  세 가지 활용 방식 중 요구에 맞는 것을 고른다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11.2  Snapshot Standby가 필요한 상황</a:t>
            </a:r>
          </a:p>
          <a:p>
            <a:pPr algn="l">
              <a:spcAft>
                <a:spcPts val="1000"/>
              </a:spcAft>
            </a:pPr>
            <a:r>
              <a:rPr sz="1600" b="0">
                <a:solidFill>
                  <a:srgbClr val="222222"/>
                </a:solidFill>
                <a:latin typeface="맑은 고딕"/>
              </a:rPr>
              <a:t>•  11.3  동작 원리</a:t>
            </a:r>
          </a:p>
          <a:p>
            <a:pPr algn="l">
              <a:spcAft>
                <a:spcPts val="1000"/>
              </a:spcAft>
            </a:pPr>
            <a:r>
              <a:rPr sz="1600" b="0">
                <a:solidFill>
                  <a:srgbClr val="222222"/>
                </a:solidFill>
                <a:latin typeface="맑은 고딕"/>
              </a:rPr>
              <a:t>•  11.4  전제 조건과 공간 계획</a:t>
            </a:r>
          </a:p>
          <a:p>
            <a:pPr algn="l">
              <a:spcAft>
                <a:spcPts val="1000"/>
              </a:spcAft>
            </a:pPr>
            <a:r>
              <a:rPr sz="1600" b="0">
                <a:solidFill>
                  <a:srgbClr val="222222"/>
                </a:solidFill>
                <a:latin typeface="맑은 고딕"/>
              </a:rPr>
              <a:t>•  11.5  전환과 되돌리기 명령</a:t>
            </a:r>
          </a:p>
          <a:p>
            <a:pPr algn="l">
              <a:spcAft>
                <a:spcPts val="1000"/>
              </a:spcAft>
            </a:pPr>
            <a:r>
              <a:rPr sz="1600" b="0">
                <a:solidFill>
                  <a:srgbClr val="222222"/>
                </a:solidFill>
                <a:latin typeface="맑은 고딕"/>
              </a:rPr>
              <a:t>•  11.6  제약과 위험</a:t>
            </a:r>
          </a:p>
          <a:p>
            <a:pPr algn="l">
              <a:spcAft>
                <a:spcPts val="1000"/>
              </a:spcAft>
            </a:pPr>
            <a:r>
              <a:rPr sz="1600" b="0">
                <a:solidFill>
                  <a:srgbClr val="222222"/>
                </a:solidFill>
                <a:latin typeface="맑은 고딕"/>
              </a:rPr>
              <a:t>•  11.7  세 가지 방식 비교와 선택  /  11.8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Snapshot Standby가 필요한 상황</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운영 크기의 데이터로 시험해야 하는 이유</a:t>
            </a:r>
          </a:p>
          <a:p>
            <a:pPr algn="l">
              <a:spcAft>
                <a:spcPts val="800"/>
              </a:spcAft>
            </a:pPr>
            <a:r>
              <a:rPr sz="1600" b="0">
                <a:solidFill>
                  <a:srgbClr val="FFFFFF"/>
                </a:solidFill>
                <a:latin typeface="맑은 고딕"/>
              </a:rPr>
              <a:t>•  Real Application Testing과의 연계</a:t>
            </a:r>
          </a:p>
          <a:p>
            <a:pPr algn="l">
              <a:spcAft>
                <a:spcPts val="800"/>
              </a:spcAft>
            </a:pPr>
            <a:r>
              <a:rPr sz="1600" b="0">
                <a:solidFill>
                  <a:srgbClr val="FFFFFF"/>
                </a:solidFill>
                <a:latin typeface="맑은 고딕"/>
              </a:rPr>
              <a:t>•  물리 Standby만 전환 대상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운영과 같은 데이터로 시험해야 하는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검증 DB에서 빠르던 SQL이 운영에서 느린 까닭</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실행 계획은 데이터 양과 분포에 따라 바뀜</a:t>
            </a:r>
          </a:p>
          <a:p>
            <a:pPr algn="l">
              <a:spcAft>
                <a:spcPts val="1000"/>
              </a:spcAft>
            </a:pPr>
            <a:r>
              <a:rPr sz="1700" b="0">
                <a:solidFill>
                  <a:srgbClr val="222222"/>
                </a:solidFill>
                <a:latin typeface="맑은 고딕"/>
              </a:rPr>
              <a:t>•  복제본 생성은 수 TB면 몇 시간, 회수도 필요</a:t>
            </a:r>
          </a:p>
          <a:p>
            <a:pPr algn="l">
              <a:spcAft>
                <a:spcPts val="1000"/>
              </a:spcAft>
            </a:pPr>
            <a:r>
              <a:rPr sz="1700" b="0">
                <a:solidFill>
                  <a:srgbClr val="222222"/>
                </a:solidFill>
                <a:latin typeface="맑은 고딕"/>
              </a:rPr>
              <a:t>•  물리 Standby는 운영 크기 데이터를 이미 보유</a:t>
            </a:r>
          </a:p>
          <a:p>
            <a:pPr algn="l">
              <a:spcAft>
                <a:spcPts val="1000"/>
              </a:spcAft>
            </a:pPr>
            <a:r>
              <a:rPr sz="1700" b="0">
                <a:solidFill>
                  <a:srgbClr val="222222"/>
                </a:solidFill>
                <a:latin typeface="맑은 고딕"/>
              </a:rPr>
              <a:t>•  전환과 되돌리기가 각각 명령 한 줄</a:t>
            </a:r>
          </a:p>
          <a:p>
            <a:pPr algn="l">
              <a:spcAft>
                <a:spcPts val="1000"/>
              </a:spcAft>
            </a:pPr>
            <a:r>
              <a:rPr sz="1700" b="0">
                <a:solidFill>
                  <a:srgbClr val="222222"/>
                </a:solidFill>
                <a:latin typeface="맑은 고딕"/>
              </a:rPr>
              <a:t>•  Standby 서버 사양 차이는 결과 해석 때 반영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Real Application Testing과의 연계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캡처 직전 전환으로 시작 시점 데이터를 고정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RAT는 별도 라이선스 옵션</a:t>
            </a:r>
          </a:p>
          <a:p>
            <a:pPr algn="l">
              <a:spcAft>
                <a:spcPts val="1000"/>
              </a:spcAft>
            </a:pPr>
            <a:r>
              <a:rPr sz="1700" b="0">
                <a:solidFill>
                  <a:srgbClr val="222222"/>
                </a:solidFill>
                <a:latin typeface="맑은 고딕"/>
              </a:rPr>
              <a:t>•  Database Replay: Primary 부하 캡처 후 재생</a:t>
            </a:r>
          </a:p>
          <a:p>
            <a:pPr algn="l">
              <a:spcAft>
                <a:spcPts val="1000"/>
              </a:spcAft>
            </a:pPr>
            <a:r>
              <a:rPr sz="1700" b="0">
                <a:solidFill>
                  <a:srgbClr val="222222"/>
                </a:solidFill>
                <a:latin typeface="맑은 고딕"/>
              </a:rPr>
              <a:t>•  캡처 시작 직전에 Snapshot으로 전환</a:t>
            </a:r>
          </a:p>
          <a:p>
            <a:pPr algn="l">
              <a:spcAft>
                <a:spcPts val="1000"/>
              </a:spcAft>
            </a:pPr>
            <a:r>
              <a:rPr sz="1700" b="0">
                <a:solidFill>
                  <a:srgbClr val="222222"/>
                </a:solidFill>
                <a:latin typeface="맑은 고딕"/>
              </a:rPr>
              <a:t>•  SPA: SQL Tuning Set을 변경 전후로 비교</a:t>
            </a:r>
          </a:p>
          <a:p>
            <a:pPr algn="l">
              <a:spcAft>
                <a:spcPts val="1000"/>
              </a:spcAft>
            </a:pPr>
            <a:r>
              <a:rPr sz="1700" b="0">
                <a:solidFill>
                  <a:srgbClr val="222222"/>
                </a:solidFill>
                <a:latin typeface="맑은 고딕"/>
              </a:rPr>
              <a:t>•  재생 클라이언트(wrc)는 별도 호스트에서 접속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어떤 Standby를 바꿀 수 있는가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물리 Standby 전용, ADG 옵션 불필요</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전환 대상은 물리 Standby뿐</a:t>
            </a:r>
          </a:p>
          <a:p>
            <a:pPr algn="l">
              <a:spcAft>
                <a:spcPts val="1000"/>
              </a:spcAft>
            </a:pPr>
            <a:r>
              <a:rPr sz="1700" b="0">
                <a:solidFill>
                  <a:srgbClr val="222222"/>
                </a:solidFill>
                <a:latin typeface="맑은 고딕"/>
              </a:rPr>
              <a:t>•  논리 Standby, Far Sync는 불가</a:t>
            </a:r>
          </a:p>
          <a:p>
            <a:pPr algn="l">
              <a:spcAft>
                <a:spcPts val="1000"/>
              </a:spcAft>
            </a:pPr>
            <a:r>
              <a:rPr sz="1700" b="0">
                <a:solidFill>
                  <a:srgbClr val="222222"/>
                </a:solidFill>
                <a:latin typeface="맑은 고딕"/>
              </a:rPr>
              <a:t>•  구성원 자격 유지, 리두도 계속 수신</a:t>
            </a:r>
          </a:p>
          <a:p>
            <a:pPr algn="l">
              <a:spcAft>
                <a:spcPts val="1000"/>
              </a:spcAft>
            </a:pPr>
            <a:r>
              <a:rPr sz="1700" b="0">
                <a:solidFill>
                  <a:srgbClr val="222222"/>
                </a:solidFill>
                <a:latin typeface="맑은 고딕"/>
              </a:rPr>
              <a:t>•  여러 Standby 중 하나만 돌리는 배치가 일반적</a:t>
            </a:r>
          </a:p>
          <a:p>
            <a:pPr algn="l">
              <a:spcAft>
                <a:spcPts val="1000"/>
              </a:spcAft>
            </a:pPr>
            <a:r>
              <a:rPr sz="1700" b="0">
                <a:solidFill>
                  <a:srgbClr val="222222"/>
                </a:solidFill>
                <a:latin typeface="맑은 고딕"/>
              </a:rPr>
              <a:t>•  EE의 Data Guard 기본 기능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이름이 비슷한 다른 기능들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스토리지 스냅샷, PDB 스냅샷 복제와 구분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스토리지 스냅샷: 장비 수준 블록 복사</a:t>
            </a:r>
          </a:p>
          <a:p>
            <a:pPr algn="l">
              <a:spcAft>
                <a:spcPts val="1000"/>
              </a:spcAft>
            </a:pPr>
            <a:r>
              <a:rPr sz="1700" b="0">
                <a:solidFill>
                  <a:srgbClr val="222222"/>
                </a:solidFill>
                <a:latin typeface="맑은 고딕"/>
              </a:rPr>
              <a:t>•  PDB 스냅샷 복제: PDB 하나를 쓰기 시 복사</a:t>
            </a:r>
          </a:p>
          <a:p>
            <a:pPr algn="l">
              <a:spcAft>
                <a:spcPts val="1000"/>
              </a:spcAft>
            </a:pPr>
            <a:r>
              <a:rPr sz="1700" b="0">
                <a:solidFill>
                  <a:srgbClr val="222222"/>
                </a:solidFill>
                <a:latin typeface="맑은 고딕"/>
              </a:rPr>
              <a:t>•  Snapshot Standby: DB 전체, Flashback으로 복귀</a:t>
            </a:r>
          </a:p>
          <a:p>
            <a:pPr algn="l">
              <a:spcAft>
                <a:spcPts val="1000"/>
              </a:spcAft>
            </a:pPr>
            <a:r>
              <a:rPr sz="1700" b="0">
                <a:solidFill>
                  <a:srgbClr val="222222"/>
                </a:solidFill>
                <a:latin typeface="맑은 고딕"/>
              </a:rPr>
              <a:t>•  시험 후 남는 복사본이 없음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동작 원리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보장 복원 지점과 Flashback Database</a:t>
            </a:r>
          </a:p>
          <a:p>
            <a:pPr algn="l">
              <a:spcAft>
                <a:spcPts val="800"/>
              </a:spcAft>
            </a:pPr>
            <a:r>
              <a:rPr sz="1600" b="0">
                <a:solidFill>
                  <a:srgbClr val="FFFFFF"/>
                </a:solidFill>
                <a:latin typeface="맑은 고딕"/>
              </a:rPr>
              <a:t>•  받기는 계속, 적용만 멈춤</a:t>
            </a:r>
          </a:p>
          <a:p>
            <a:pPr algn="l">
              <a:spcAft>
                <a:spcPts val="800"/>
              </a:spcAft>
            </a:pPr>
            <a:r>
              <a:rPr sz="1600" b="0">
                <a:solidFill>
                  <a:srgbClr val="FFFFFF"/>
                </a:solidFill>
                <a:latin typeface="맑은 고딕"/>
              </a:rPr>
              <a:t>•  되돌릴 때의 네 단계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보장 복원 지점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되돌아갈 SCN에 붙인 이름표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 SNAPSHOT_STANDBY_REQUIRED_ + 시각</a:t>
            </a:r>
          </a:p>
          <a:p>
            <a:pPr algn="l">
              <a:spcAft>
                <a:spcPts val="1000"/>
              </a:spcAft>
            </a:pPr>
            <a:r>
              <a:rPr sz="1700" b="0">
                <a:solidFill>
                  <a:srgbClr val="222222"/>
                </a:solidFill>
                <a:latin typeface="맑은 고딕"/>
              </a:rPr>
              <a:t>•  그 SCN까지 Flashback 로그를 지우지 않고 보존</a:t>
            </a:r>
          </a:p>
          <a:p>
            <a:pPr algn="l">
              <a:spcAft>
                <a:spcPts val="1000"/>
              </a:spcAft>
            </a:pPr>
            <a:r>
              <a:rPr sz="1700" b="0">
                <a:solidFill>
                  <a:srgbClr val="222222"/>
                </a:solidFill>
                <a:latin typeface="맑은 고딕"/>
              </a:rPr>
              <a:t>•  DB_FLASHBACK_RETENTION_TARGET과 무관</a:t>
            </a:r>
          </a:p>
          <a:p>
            <a:pPr algn="l">
              <a:spcAft>
                <a:spcPts val="1000"/>
              </a:spcAft>
            </a:pPr>
            <a:r>
              <a:rPr sz="1700" b="0">
                <a:solidFill>
                  <a:srgbClr val="222222"/>
                </a:solidFill>
                <a:latin typeface="맑은 고딕"/>
              </a:rPr>
              <a:t>•  되돌린 뒤 자동 삭제, 직접 지울 대상 아님</a:t>
            </a:r>
          </a:p>
          <a:p>
            <a:pPr algn="l">
              <a:spcAft>
                <a:spcPts val="1000"/>
              </a:spcAft>
            </a:pPr>
            <a:r>
              <a:rPr sz="1700" b="0">
                <a:solidFill>
                  <a:srgbClr val="222222"/>
                </a:solidFill>
                <a:latin typeface="맑은 고딕"/>
              </a:rPr>
              <a:t>•  이름을 틀리면 ORA-38780, 아무 일 없음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Flashback이 꺼져 있어도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RESTORE POINT ONLY 로깅</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전환 전 FLASHBACK_ON = NO여도 전환 가능</a:t>
            </a:r>
          </a:p>
          <a:p>
            <a:pPr algn="l">
              <a:spcAft>
                <a:spcPts val="1000"/>
              </a:spcAft>
            </a:pPr>
            <a:r>
              <a:rPr sz="1700" b="0">
                <a:solidFill>
                  <a:srgbClr val="222222"/>
                </a:solidFill>
                <a:latin typeface="맑은 고딕"/>
              </a:rPr>
              <a:t>•  전환 후 FLASHBACK_ON = RESTORE POINT ONLY</a:t>
            </a:r>
          </a:p>
          <a:p>
            <a:pPr algn="l">
              <a:spcAft>
                <a:spcPts val="1000"/>
              </a:spcAft>
            </a:pPr>
            <a:r>
              <a:rPr sz="1700" b="0">
                <a:solidFill>
                  <a:srgbClr val="222222"/>
                </a:solidFill>
                <a:latin typeface="맑은 고딕"/>
              </a:rPr>
              <a:t>•  복원 지점 이후 처음 바뀐 블록만 기록</a:t>
            </a:r>
          </a:p>
          <a:p>
            <a:pPr algn="l">
              <a:spcAft>
                <a:spcPts val="1000"/>
              </a:spcAft>
            </a:pPr>
            <a:r>
              <a:rPr sz="1700" b="0">
                <a:solidFill>
                  <a:srgbClr val="222222"/>
                </a:solidFill>
                <a:latin typeface="맑은 고딕"/>
              </a:rPr>
              <a:t>•  공간은 변경 횟수보다 건드린 블록 수에 비례</a:t>
            </a:r>
          </a:p>
          <a:p>
            <a:pPr algn="l">
              <a:spcAft>
                <a:spcPts val="1000"/>
              </a:spcAft>
            </a:pPr>
            <a:r>
              <a:rPr sz="1700" b="0">
                <a:solidFill>
                  <a:srgbClr val="222222"/>
                </a:solidFill>
                <a:latin typeface="맑은 고딕"/>
              </a:rPr>
              <a:t>•  되감기 시간은 DB 크기 아닌 변경량에 비례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받기는 계속, 적용만 멈춤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전송 서비스는 아무것도 바뀌지 않음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 수신, SRL 기록, 아카이브는 그대로</a:t>
            </a:r>
          </a:p>
          <a:p>
            <a:pPr algn="l">
              <a:spcAft>
                <a:spcPts val="1000"/>
              </a:spcAft>
            </a:pPr>
            <a:r>
              <a:rPr sz="1700" b="0">
                <a:solidFill>
                  <a:srgbClr val="222222"/>
                </a:solidFill>
                <a:latin typeface="맑은 고딕"/>
              </a:rPr>
              <a:t>•  MRP0가 없어 데이터 파일 반영은 멈춤</a:t>
            </a:r>
          </a:p>
          <a:p>
            <a:pPr algn="l">
              <a:spcAft>
                <a:spcPts val="1000"/>
              </a:spcAft>
            </a:pPr>
            <a:r>
              <a:rPr sz="1700" b="0">
                <a:solidFill>
                  <a:srgbClr val="222222"/>
                </a:solidFill>
                <a:latin typeface="맑은 고딕"/>
              </a:rPr>
              <a:t>•  MRP 기동 시 ORA-01665</a:t>
            </a:r>
          </a:p>
          <a:p>
            <a:pPr algn="l">
              <a:spcAft>
                <a:spcPts val="1000"/>
              </a:spcAft>
            </a:pPr>
            <a:r>
              <a:rPr sz="1700" b="0">
                <a:solidFill>
                  <a:srgbClr val="222222"/>
                </a:solidFill>
                <a:latin typeface="맑은 고딕"/>
              </a:rPr>
              <a:t>•  자체 변경은 자기 온라인 리두 로그에 기록</a:t>
            </a:r>
          </a:p>
          <a:p>
            <a:pPr algn="l">
              <a:spcAft>
                <a:spcPts val="1000"/>
              </a:spcAft>
            </a:pPr>
            <a:r>
              <a:rPr sz="1700" b="0">
                <a:solidFill>
                  <a:srgbClr val="222222"/>
                </a:solidFill>
                <a:latin typeface="맑은 고딕"/>
              </a:rPr>
              <a:t>•  Primary가 사라져도 받은 리두는 남아 있음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지연이 갈라진다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transport lag는 그대로, apply lag만 증가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transport lag: 평소처럼 수 초 이내</a:t>
            </a:r>
          </a:p>
          <a:p>
            <a:pPr algn="l">
              <a:spcAft>
                <a:spcPts val="1000"/>
              </a:spcAft>
            </a:pPr>
            <a:r>
              <a:rPr sz="1700" b="0">
                <a:solidFill>
                  <a:srgbClr val="222222"/>
                </a:solidFill>
                <a:latin typeface="맑은 고딕"/>
              </a:rPr>
              <a:t>•  apply lag: 전환 후 흐른 시간만큼 증가</a:t>
            </a:r>
          </a:p>
          <a:p>
            <a:pPr algn="l">
              <a:spcAft>
                <a:spcPts val="1000"/>
              </a:spcAft>
            </a:pPr>
            <a:r>
              <a:rPr sz="1700" b="0">
                <a:solidFill>
                  <a:srgbClr val="222222"/>
                </a:solidFill>
                <a:latin typeface="맑은 고딕"/>
              </a:rPr>
              <a:t>•  V$ARCHIVED_LOG의 APPLIED는 NO로 쌓임</a:t>
            </a:r>
          </a:p>
          <a:p>
            <a:pPr algn="l">
              <a:spcAft>
                <a:spcPts val="1000"/>
              </a:spcAft>
            </a:pPr>
            <a:r>
              <a:rPr sz="1700" b="0">
                <a:solidFill>
                  <a:srgbClr val="222222"/>
                </a:solidFill>
                <a:latin typeface="맑은 고딕"/>
              </a:rPr>
              <a:t>•  7장에서 나눈 두 지표가 가장 뚜렷이 갈림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되돌릴 때 일어나는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Flashback, 역할 복귀, 적용 재개, 실시간 복귀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복원 지점 SCN으로 Flashback, 로컬 변경 폐기</a:t>
            </a:r>
          </a:p>
          <a:p>
            <a:pPr algn="l">
              <a:spcAft>
                <a:spcPts val="1000"/>
              </a:spcAft>
            </a:pPr>
            <a:r>
              <a:rPr sz="1700" b="0">
                <a:solidFill>
                  <a:srgbClr val="222222"/>
                </a:solidFill>
                <a:latin typeface="맑은 고딕"/>
              </a:rPr>
              <a:t>•  2) 컨트롤 파일 STANDBY, 역할 복귀, 복원 지점 삭제</a:t>
            </a:r>
          </a:p>
          <a:p>
            <a:pPr algn="l">
              <a:spcAft>
                <a:spcPts val="1000"/>
              </a:spcAft>
            </a:pPr>
            <a:r>
              <a:rPr sz="1700" b="0">
                <a:solidFill>
                  <a:srgbClr val="222222"/>
                </a:solidFill>
                <a:latin typeface="맑은 고딕"/>
              </a:rPr>
              <a:t>•  3) 쌓인 아카이브 로그를 순서대로 적용</a:t>
            </a:r>
          </a:p>
          <a:p>
            <a:pPr algn="l">
              <a:spcAft>
                <a:spcPts val="1000"/>
              </a:spcAft>
            </a:pPr>
            <a:r>
              <a:rPr sz="1700" b="0">
                <a:solidFill>
                  <a:srgbClr val="222222"/>
                </a:solidFill>
                <a:latin typeface="맑은 고딕"/>
              </a:rPr>
              <a:t>•  4) 따라잡은 뒤 실시간 적용으로 복귀</a:t>
            </a:r>
          </a:p>
          <a:p>
            <a:pPr algn="l">
              <a:spcAft>
                <a:spcPts val="1000"/>
              </a:spcAft>
            </a:pPr>
            <a:r>
              <a:rPr sz="1700" b="0">
                <a:solidFill>
                  <a:srgbClr val="222222"/>
                </a:solidFill>
                <a:latin typeface="맑은 고딕"/>
              </a:rPr>
              <a:t>•  남길 결과는 되돌리기 전에 추출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전환을 반복할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매번 새 복원 지점, 새 출발점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전환할 때마다 새 보장 복원 지점 생성</a:t>
            </a:r>
          </a:p>
          <a:p>
            <a:pPr algn="l">
              <a:spcAft>
                <a:spcPts val="1000"/>
              </a:spcAft>
            </a:pPr>
            <a:r>
              <a:rPr sz="1700" b="0">
                <a:solidFill>
                  <a:srgbClr val="222222"/>
                </a:solidFill>
                <a:latin typeface="맑은 고딕"/>
              </a:rPr>
              <a:t>•  출발점은 그 시점까지 적용된 Primary 데이터</a:t>
            </a:r>
          </a:p>
          <a:p>
            <a:pPr algn="l">
              <a:spcAft>
                <a:spcPts val="1000"/>
              </a:spcAft>
            </a:pPr>
            <a:r>
              <a:rPr sz="1700" b="0">
                <a:solidFill>
                  <a:srgbClr val="222222"/>
                </a:solidFill>
                <a:latin typeface="맑은 고딕"/>
              </a:rPr>
              <a:t>•  이전 시험의 객체는 남지 않음</a:t>
            </a:r>
          </a:p>
          <a:p>
            <a:pPr algn="l">
              <a:spcAft>
                <a:spcPts val="1000"/>
              </a:spcAft>
            </a:pPr>
            <a:r>
              <a:rPr sz="1700" b="0">
                <a:solidFill>
                  <a:srgbClr val="222222"/>
                </a:solidFill>
                <a:latin typeface="맑은 고딕"/>
              </a:rPr>
              <a:t>•  같은 시험 반복은 사용자 복원 지점이 빠름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상태 값의 변화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V$DATABASE 네 열로 단계 판별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DATABASE_ROLE: PHYSICAL ↔ SNAPSHOT STANDBY</a:t>
            </a:r>
          </a:p>
          <a:p>
            <a:pPr algn="l">
              <a:spcAft>
                <a:spcPts val="1000"/>
              </a:spcAft>
            </a:pPr>
            <a:r>
              <a:rPr sz="1700" b="0">
                <a:solidFill>
                  <a:srgbClr val="222222"/>
                </a:solidFill>
                <a:latin typeface="맑은 고딕"/>
              </a:rPr>
              <a:t>•  CONTROLFILE_TYPE: STANDBY ↔ CURRENT</a:t>
            </a:r>
          </a:p>
          <a:p>
            <a:pPr algn="l">
              <a:spcAft>
                <a:spcPts val="1000"/>
              </a:spcAft>
            </a:pPr>
            <a:r>
              <a:rPr sz="1700" b="0">
                <a:solidFill>
                  <a:srgbClr val="222222"/>
                </a:solidFill>
                <a:latin typeface="맑은 고딕"/>
              </a:rPr>
              <a:t>•  FLASHBACK_ON: NO ↔ RESTORE POINT ONLY</a:t>
            </a:r>
          </a:p>
          <a:p>
            <a:pPr algn="l">
              <a:spcAft>
                <a:spcPts val="1000"/>
              </a:spcAft>
            </a:pPr>
            <a:r>
              <a:rPr sz="1700" b="0">
                <a:solidFill>
                  <a:srgbClr val="222222"/>
                </a:solidFill>
                <a:latin typeface="맑은 고딕"/>
              </a:rPr>
              <a:t>•  OPEN_MODE: MOUNTED → READ WRITE</a:t>
            </a:r>
          </a:p>
          <a:p>
            <a:pPr algn="l">
              <a:spcAft>
                <a:spcPts val="1000"/>
              </a:spcAft>
            </a:pPr>
            <a:r>
              <a:rPr sz="1700" b="0">
                <a:solidFill>
                  <a:srgbClr val="222222"/>
                </a:solidFill>
                <a:latin typeface="맑은 고딕"/>
              </a:rPr>
              <a:t>•  V$RESTORE_POINT 행 유무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전제 조건과 공간 계획</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전환 명령의 조건은 단순</a:t>
            </a:r>
          </a:p>
          <a:p>
            <a:pPr algn="l">
              <a:spcAft>
                <a:spcPts val="800"/>
              </a:spcAft>
            </a:pPr>
            <a:r>
              <a:rPr sz="1600" b="0">
                <a:solidFill>
                  <a:srgbClr val="FFFFFF"/>
                </a:solidFill>
                <a:latin typeface="맑은 고딕"/>
              </a:rPr>
              <a:t>•  사고는 FRA 공간에서 시작</a:t>
            </a:r>
          </a:p>
          <a:p>
            <a:pPr algn="l">
              <a:spcAft>
                <a:spcPts val="800"/>
              </a:spcAft>
            </a:pPr>
            <a:r>
              <a:rPr sz="1600" b="0">
                <a:solidFill>
                  <a:srgbClr val="FFFFFF"/>
                </a:solidFill>
                <a:latin typeface="맑은 고딕"/>
              </a:rPr>
              <a:t>•  감시 기준과 점검 순서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전에 갖춰야 할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FRA, 적용 중지, MOUNT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FRA 구성: DB_RECOVERY_FILE_DEST, _SIZE</a:t>
            </a:r>
          </a:p>
          <a:p>
            <a:pPr algn="l">
              <a:spcAft>
                <a:spcPts val="1000"/>
              </a:spcAft>
            </a:pPr>
            <a:r>
              <a:rPr sz="1700" b="0">
                <a:solidFill>
                  <a:srgbClr val="222222"/>
                </a:solidFill>
                <a:latin typeface="맑은 고딕"/>
              </a:rPr>
              <a:t>•  Redo Apply 중지 (아니면 ORA-38784)</a:t>
            </a:r>
          </a:p>
          <a:p>
            <a:pPr algn="l">
              <a:spcAft>
                <a:spcPts val="1000"/>
              </a:spcAft>
            </a:pPr>
            <a:r>
              <a:rPr sz="1700" b="0">
                <a:solidFill>
                  <a:srgbClr val="222222"/>
                </a:solidFill>
                <a:latin typeface="맑은 고딕"/>
              </a:rPr>
              <a:t>•  MOUNT 상태 (ADG였다면 재기동)</a:t>
            </a:r>
          </a:p>
          <a:p>
            <a:pPr algn="l">
              <a:spcAft>
                <a:spcPts val="1000"/>
              </a:spcAft>
            </a:pPr>
            <a:r>
              <a:rPr sz="1700" b="0">
                <a:solidFill>
                  <a:srgbClr val="222222"/>
                </a:solidFill>
                <a:latin typeface="맑은 고딕"/>
              </a:rPr>
              <a:t>•  RAC는 인스턴스 하나만 남기는 편이 안전</a:t>
            </a:r>
          </a:p>
          <a:p>
            <a:pPr algn="l">
              <a:spcAft>
                <a:spcPts val="1000"/>
              </a:spcAft>
            </a:pPr>
            <a:r>
              <a:rPr sz="1700" b="0">
                <a:solidFill>
                  <a:srgbClr val="222222"/>
                </a:solidFill>
                <a:latin typeface="맑은 고딕"/>
              </a:rPr>
              <a:t>•  Primary 쪽 설정은 손대지 않음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FRA를 함께 쓰는 두 파일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Flashback 로그 + 적용 못 한 아카이브 로그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Flashback 로그: 시험이 건드린 블록 수에 비례</a:t>
            </a:r>
          </a:p>
          <a:p>
            <a:pPr algn="l">
              <a:spcAft>
                <a:spcPts val="1000"/>
              </a:spcAft>
            </a:pPr>
            <a:r>
              <a:rPr sz="1700" b="0">
                <a:solidFill>
                  <a:srgbClr val="222222"/>
                </a:solidFill>
                <a:latin typeface="맑은 고딕"/>
              </a:rPr>
              <a:t>•  행 하나를 고쳐도 블록 전체 이미지</a:t>
            </a:r>
          </a:p>
          <a:p>
            <a:pPr algn="l">
              <a:spcAft>
                <a:spcPts val="1000"/>
              </a:spcAft>
            </a:pPr>
            <a:r>
              <a:rPr sz="1700" b="0">
                <a:solidFill>
                  <a:srgbClr val="222222"/>
                </a:solidFill>
                <a:latin typeface="맑은 고딕"/>
              </a:rPr>
              <a:t>•  아카이브 로그: 리두 생성량 × 전환 기간</a:t>
            </a:r>
          </a:p>
          <a:p>
            <a:pPr algn="l">
              <a:spcAft>
                <a:spcPts val="1000"/>
              </a:spcAft>
            </a:pPr>
            <a:r>
              <a:rPr sz="1700" b="0">
                <a:solidFill>
                  <a:srgbClr val="222222"/>
                </a:solidFill>
                <a:latin typeface="맑은 고딕"/>
              </a:rPr>
              <a:t>•  하루 200GB × 3일 = 600GB</a:t>
            </a:r>
          </a:p>
          <a:p>
            <a:pPr algn="l">
              <a:spcAft>
                <a:spcPts val="1000"/>
              </a:spcAft>
            </a:pPr>
            <a:r>
              <a:rPr sz="1700" b="0">
                <a:solidFill>
                  <a:srgbClr val="222222"/>
                </a:solidFill>
                <a:latin typeface="맑은 고딕"/>
              </a:rPr>
              <a:t>•  적용 전 로그는 삭제 대상이 아님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 정책과 Primary FRA</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APPLIED ON ALL STANDBY의 영향</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적용 기준 정책이면 Primary에서도 보존</a:t>
            </a:r>
          </a:p>
          <a:p>
            <a:pPr algn="l">
              <a:spcAft>
                <a:spcPts val="1000"/>
              </a:spcAft>
            </a:pPr>
            <a:r>
              <a:rPr sz="1700" b="0">
                <a:solidFill>
                  <a:srgbClr val="222222"/>
                </a:solidFill>
                <a:latin typeface="맑은 고딕"/>
              </a:rPr>
              <a:t>•  Primary와 Standby FRA가 함께 차오름</a:t>
            </a:r>
          </a:p>
          <a:p>
            <a:pPr algn="l">
              <a:spcAft>
                <a:spcPts val="1000"/>
              </a:spcAft>
            </a:pPr>
            <a:r>
              <a:rPr sz="1700" b="0">
                <a:solidFill>
                  <a:srgbClr val="222222"/>
                </a:solidFill>
                <a:latin typeface="맑은 고딕"/>
              </a:rPr>
              <a:t>•  시험 기간에만 정책을 푸는 것은 위험</a:t>
            </a:r>
          </a:p>
          <a:p>
            <a:pPr algn="l">
              <a:spcAft>
                <a:spcPts val="1000"/>
              </a:spcAft>
            </a:pPr>
            <a:r>
              <a:rPr sz="1700" b="0">
                <a:solidFill>
                  <a:srgbClr val="222222"/>
                </a:solidFill>
                <a:latin typeface="맑은 고딕"/>
              </a:rPr>
              <a:t>•  지워진 로그는 되돌린 뒤 갭이 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FRA가 가득 차면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시험 DB의 공간 문제가 리두 보관까지 막음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보장 복원 지점의 로그는 자동 삭제 불가</a:t>
            </a:r>
          </a:p>
          <a:p>
            <a:pPr algn="l">
              <a:spcAft>
                <a:spcPts val="1000"/>
              </a:spcAft>
            </a:pPr>
            <a:r>
              <a:rPr sz="1700" b="0">
                <a:solidFill>
                  <a:srgbClr val="222222"/>
                </a:solidFill>
                <a:latin typeface="맑은 고딕"/>
              </a:rPr>
              <a:t>•  Snapshot 쪽 쓰기 정지</a:t>
            </a:r>
          </a:p>
          <a:p>
            <a:pPr algn="l">
              <a:spcAft>
                <a:spcPts val="1000"/>
              </a:spcAft>
            </a:pPr>
            <a:r>
              <a:rPr sz="1700" b="0">
                <a:solidFill>
                  <a:srgbClr val="222222"/>
                </a:solidFill>
                <a:latin typeface="맑은 고딕"/>
              </a:rPr>
              <a:t>•  리두 아카이브 실패로 Primary 목적지 오류</a:t>
            </a:r>
          </a:p>
          <a:p>
            <a:pPr algn="l">
              <a:spcAft>
                <a:spcPts val="1000"/>
              </a:spcAft>
            </a:pPr>
            <a:r>
              <a:rPr sz="1700" b="0">
                <a:solidFill>
                  <a:srgbClr val="222222"/>
                </a:solidFill>
                <a:latin typeface="맑은 고딕"/>
              </a:rPr>
              <a:t>•  해결: FRA 확장 또는 시험 중단 후 되돌리기</a:t>
            </a:r>
          </a:p>
          <a:p>
            <a:pPr algn="l">
              <a:spcAft>
                <a:spcPts val="1000"/>
              </a:spcAft>
            </a:pPr>
            <a:r>
              <a:rPr sz="1700" b="0">
                <a:solidFill>
                  <a:srgbClr val="222222"/>
                </a:solidFill>
                <a:latin typeface="맑은 고딕"/>
              </a:rPr>
              <a:t>•  복원 지점을 지우면 되돌릴 길이 사라짐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공간 감시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FRA 전체 사용률을 기준으로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V$RECOVERY_FILE_DEST: 전체 한도와 사용량</a:t>
            </a:r>
          </a:p>
          <a:p>
            <a:pPr algn="l">
              <a:spcAft>
                <a:spcPts val="1000"/>
              </a:spcAft>
            </a:pPr>
            <a:r>
              <a:rPr sz="1700" b="0">
                <a:solidFill>
                  <a:srgbClr val="222222"/>
                </a:solidFill>
                <a:latin typeface="맑은 고딕"/>
              </a:rPr>
              <a:t>•  V$RECOVERY_AREA_USAGE: 유형별 비율</a:t>
            </a:r>
          </a:p>
          <a:p>
            <a:pPr algn="l">
              <a:spcAft>
                <a:spcPts val="1000"/>
              </a:spcAft>
            </a:pPr>
            <a:r>
              <a:rPr sz="1700" b="0">
                <a:solidFill>
                  <a:srgbClr val="222222"/>
                </a:solidFill>
                <a:latin typeface="맑은 고딕"/>
              </a:rPr>
              <a:t>•  V$RESTORE_POINT.STORAGE_SIZE: 복원 지점 몫</a:t>
            </a:r>
          </a:p>
          <a:p>
            <a:pPr algn="l">
              <a:spcAft>
                <a:spcPts val="1000"/>
              </a:spcAft>
            </a:pPr>
            <a:r>
              <a:rPr sz="1700" b="0">
                <a:solidFill>
                  <a:srgbClr val="222222"/>
                </a:solidFill>
                <a:latin typeface="맑은 고딕"/>
              </a:rPr>
              <a:t>•  85%, 97%에서 alert log 경고</a:t>
            </a:r>
          </a:p>
          <a:p>
            <a:pPr algn="l">
              <a:spcAft>
                <a:spcPts val="1000"/>
              </a:spcAft>
            </a:pPr>
            <a:r>
              <a:rPr sz="1700" b="0">
                <a:solidFill>
                  <a:srgbClr val="222222"/>
                </a:solidFill>
                <a:latin typeface="맑은 고딕"/>
              </a:rPr>
              <a:t>•  80% 같은 중단 기준을 미리 정함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전 점검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 성공 조건과 전환 후 위험을 함께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역할이 PHYSICAL STANDBY인가</a:t>
            </a:r>
          </a:p>
          <a:p>
            <a:pPr algn="l">
              <a:spcAft>
                <a:spcPts val="1000"/>
              </a:spcAft>
            </a:pPr>
            <a:r>
              <a:rPr sz="1700" b="0">
                <a:solidFill>
                  <a:srgbClr val="222222"/>
                </a:solidFill>
                <a:latin typeface="맑은 고딕"/>
              </a:rPr>
              <a:t>•  2) FRA 경로·크기, 3) 여유 공간</a:t>
            </a:r>
          </a:p>
          <a:p>
            <a:pPr algn="l">
              <a:spcAft>
                <a:spcPts val="1000"/>
              </a:spcAft>
            </a:pPr>
            <a:r>
              <a:rPr sz="1700" b="0">
                <a:solidFill>
                  <a:srgbClr val="222222"/>
                </a:solidFill>
                <a:latin typeface="맑은 고딕"/>
              </a:rPr>
              <a:t>•  4) 적용 중지, 5) MOUNTED</a:t>
            </a:r>
          </a:p>
          <a:p>
            <a:pPr algn="l">
              <a:spcAft>
                <a:spcPts val="1000"/>
              </a:spcAft>
            </a:pPr>
            <a:r>
              <a:rPr sz="1700" b="0">
                <a:solidFill>
                  <a:srgbClr val="222222"/>
                </a:solidFill>
                <a:latin typeface="맑은 고딕"/>
              </a:rPr>
              <a:t>•  6) 재해 대비를 맡을 다른 Standby가 있는가</a:t>
            </a:r>
          </a:p>
          <a:p>
            <a:pPr algn="l">
              <a:spcAft>
                <a:spcPts val="1000"/>
              </a:spcAft>
            </a:pPr>
            <a:r>
              <a:rPr sz="1700" b="0">
                <a:solidFill>
                  <a:srgbClr val="222222"/>
                </a:solidFill>
                <a:latin typeface="맑은 고딕"/>
              </a:rPr>
              <a:t>•  apply lag가 충분히 작은지도 확인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전환과 되돌리기 명령</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전환, 열기, 되돌리기</a:t>
            </a:r>
          </a:p>
          <a:p>
            <a:pPr algn="l">
              <a:spcAft>
                <a:spcPts val="800"/>
              </a:spcAft>
            </a:pPr>
            <a:r>
              <a:rPr sz="1600" b="0">
                <a:solidFill>
                  <a:srgbClr val="FFFFFF"/>
                </a:solidFill>
                <a:latin typeface="맑은 고딕"/>
              </a:rPr>
              <a:t>•  순서를 어기면 나는 오류들</a:t>
            </a:r>
          </a:p>
          <a:p>
            <a:pPr algn="l">
              <a:spcAft>
                <a:spcPts val="800"/>
              </a:spcAft>
            </a:pPr>
            <a:r>
              <a:rPr sz="1600" b="0">
                <a:solidFill>
                  <a:srgbClr val="FFFFFF"/>
                </a:solidFill>
                <a:latin typeface="맑은 고딕"/>
              </a:rPr>
              <a:t>•  Broker의 CONVERT DATABASE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Snapshot Standby로 전환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CANCEL, CONVERT, OPEN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RECOVER MANAGED STANDBY DATABASE CANCEL</a:t>
            </a:r>
          </a:p>
          <a:p>
            <a:pPr algn="l">
              <a:spcAft>
                <a:spcPts val="1000"/>
              </a:spcAft>
            </a:pPr>
            <a:r>
              <a:rPr sz="1700" b="0">
                <a:solidFill>
                  <a:srgbClr val="222222"/>
                </a:solidFill>
                <a:latin typeface="맑은 고딕"/>
              </a:rPr>
              <a:t>•  ALTER DATABASE CONVERT TO SNAPSHOT STANDBY</a:t>
            </a:r>
          </a:p>
          <a:p>
            <a:pPr algn="l">
              <a:spcAft>
                <a:spcPts val="1000"/>
              </a:spcAft>
            </a:pPr>
            <a:r>
              <a:rPr sz="1700" b="0">
                <a:solidFill>
                  <a:srgbClr val="222222"/>
                </a:solidFill>
                <a:latin typeface="맑은 고딕"/>
              </a:rPr>
              <a:t>•  명령 직후 MOUNT 상태로 남음</a:t>
            </a:r>
          </a:p>
          <a:p>
            <a:pPr algn="l">
              <a:spcAft>
                <a:spcPts val="1000"/>
              </a:spcAft>
            </a:pPr>
            <a:r>
              <a:rPr sz="1700" b="0">
                <a:solidFill>
                  <a:srgbClr val="222222"/>
                </a:solidFill>
                <a:latin typeface="맑은 고딕"/>
              </a:rPr>
              <a:t>•  ALTER DATABASE OPEN으로 읽기·쓰기</a:t>
            </a:r>
          </a:p>
          <a:p>
            <a:pPr algn="l">
              <a:spcAft>
                <a:spcPts val="1000"/>
              </a:spcAft>
            </a:pPr>
            <a:r>
              <a:rPr sz="1700" b="0">
                <a:solidFill>
                  <a:srgbClr val="222222"/>
                </a:solidFill>
                <a:latin typeface="맑은 고딕"/>
              </a:rPr>
              <a:t>•  적용 중 전환은 ORA-38784 + ORA-01153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열기와 PDB</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CDB를 열어도 PDB는 MOUNTED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OPEN 순간부터 Primary와 갈라짐</a:t>
            </a:r>
          </a:p>
          <a:p>
            <a:pPr algn="l">
              <a:spcAft>
                <a:spcPts val="1000"/>
              </a:spcAft>
            </a:pPr>
            <a:r>
              <a:rPr sz="1700" b="0">
                <a:solidFill>
                  <a:srgbClr val="222222"/>
                </a:solidFill>
                <a:latin typeface="맑은 고딕"/>
              </a:rPr>
              <a:t>•  PDB는 ALL OPEN으로 따로 열기</a:t>
            </a:r>
          </a:p>
          <a:p>
            <a:pPr algn="l">
              <a:spcAft>
                <a:spcPts val="1000"/>
              </a:spcAft>
            </a:pPr>
            <a:r>
              <a:rPr sz="1700" b="0">
                <a:solidFill>
                  <a:srgbClr val="222222"/>
                </a:solidFill>
                <a:latin typeface="맑은 고딕"/>
              </a:rPr>
              <a:t>•  열기 전 PDB 조회는 ORA-01219</a:t>
            </a:r>
          </a:p>
          <a:p>
            <a:pPr algn="l">
              <a:spcAft>
                <a:spcPts val="1000"/>
              </a:spcAft>
            </a:pPr>
            <a:r>
              <a:rPr sz="1700" b="0">
                <a:solidFill>
                  <a:srgbClr val="222222"/>
                </a:solidFill>
                <a:latin typeface="맑은 고딕"/>
              </a:rPr>
              <a:t>•  DDL·DML 모두 가능, ORA-16000 없음</a:t>
            </a:r>
          </a:p>
          <a:p>
            <a:pPr algn="l">
              <a:spcAft>
                <a:spcPts val="1000"/>
              </a:spcAft>
            </a:pPr>
            <a:r>
              <a:rPr sz="1700" b="0">
                <a:solidFill>
                  <a:srgbClr val="222222"/>
                </a:solidFill>
                <a:latin typeface="맑은 고딕"/>
              </a:rPr>
              <a:t>•  SCN은 시험 작업에 따라 독자적으로 진행</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열려 있는 동안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자동 작업과 서비스 점검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자동 통계 수집이 계획을 바꿀 수 있음</a:t>
            </a:r>
          </a:p>
          <a:p>
            <a:pPr algn="l">
              <a:spcAft>
                <a:spcPts val="1000"/>
              </a:spcAft>
            </a:pPr>
            <a:r>
              <a:rPr sz="1700" b="0">
                <a:solidFill>
                  <a:srgbClr val="222222"/>
                </a:solidFill>
                <a:latin typeface="맑은 고딕"/>
              </a:rPr>
              <a:t>•  비교 시험이면 DBMS_AUTO_TASK_ADMIN으로 중지</a:t>
            </a:r>
          </a:p>
          <a:p>
            <a:pPr algn="l">
              <a:spcAft>
                <a:spcPts val="1000"/>
              </a:spcAft>
            </a:pPr>
            <a:r>
              <a:rPr sz="1700" b="0">
                <a:solidFill>
                  <a:srgbClr val="222222"/>
                </a:solidFill>
                <a:latin typeface="맑은 고딕"/>
              </a:rPr>
              <a:t>•  스케줄러 잡은 JOB_QUEUE_PROCESSES로 차단</a:t>
            </a:r>
          </a:p>
          <a:p>
            <a:pPr algn="l">
              <a:spcAft>
                <a:spcPts val="1000"/>
              </a:spcAft>
            </a:pPr>
            <a:r>
              <a:rPr sz="1700" b="0">
                <a:solidFill>
                  <a:srgbClr val="222222"/>
                </a:solidFill>
                <a:latin typeface="맑은 고딕"/>
              </a:rPr>
              <a:t>•  역할 기반 서비스로 운영 접속 차단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Physical Standby로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MOUNT에서 CONVERT TO PHYSICAL STANDBY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SHUTDOWN IMMEDIATE, STARTUP MOUNT</a:t>
            </a:r>
          </a:p>
          <a:p>
            <a:pPr algn="l">
              <a:spcAft>
                <a:spcPts val="1000"/>
              </a:spcAft>
            </a:pPr>
            <a:r>
              <a:rPr sz="1700" b="0">
                <a:solidFill>
                  <a:srgbClr val="222222"/>
                </a:solidFill>
                <a:latin typeface="맑은 고딕"/>
              </a:rPr>
              <a:t>•  ALTER DATABASE CONVERT TO PHYSICAL STANDBY</a:t>
            </a:r>
          </a:p>
          <a:p>
            <a:pPr algn="l">
              <a:spcAft>
                <a:spcPts val="1000"/>
              </a:spcAft>
            </a:pPr>
            <a:r>
              <a:rPr sz="1700" b="0">
                <a:solidFill>
                  <a:srgbClr val="222222"/>
                </a:solidFill>
                <a:latin typeface="맑은 고딕"/>
              </a:rPr>
              <a:t>•  열린 상태면 ORA-01126</a:t>
            </a:r>
          </a:p>
          <a:p>
            <a:pPr algn="l">
              <a:spcAft>
                <a:spcPts val="1000"/>
              </a:spcAft>
            </a:pPr>
            <a:r>
              <a:rPr sz="1700" b="0">
                <a:solidFill>
                  <a:srgbClr val="222222"/>
                </a:solidFill>
                <a:latin typeface="맑은 고딕"/>
              </a:rPr>
              <a:t>•  한 번도 열지 않았으면 ORA-16433</a:t>
            </a:r>
          </a:p>
          <a:p>
            <a:pPr algn="l">
              <a:spcAft>
                <a:spcPts val="1000"/>
              </a:spcAft>
            </a:pPr>
            <a:r>
              <a:rPr sz="1700" b="0">
                <a:solidFill>
                  <a:srgbClr val="222222"/>
                </a:solidFill>
                <a:latin typeface="맑은 고딕"/>
              </a:rPr>
              <a:t>•  RAC는 인스턴스 하나만 남김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ADG로 복귀하는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열고 나서 적용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STARTUP MOUNT 후 OPEN READ ONLY</a:t>
            </a:r>
          </a:p>
          <a:p>
            <a:pPr algn="l">
              <a:spcAft>
                <a:spcPts val="1000"/>
              </a:spcAft>
            </a:pPr>
            <a:r>
              <a:rPr sz="1700" b="0">
                <a:solidFill>
                  <a:srgbClr val="222222"/>
                </a:solidFill>
                <a:latin typeface="맑은 고딕"/>
              </a:rPr>
              <a:t>•  그다음 RECOVER MANAGED STANDBY DATABASE</a:t>
            </a:r>
          </a:p>
          <a:p>
            <a:pPr algn="l">
              <a:spcAft>
                <a:spcPts val="1000"/>
              </a:spcAft>
            </a:pPr>
            <a:r>
              <a:rPr sz="1700" b="0">
                <a:solidFill>
                  <a:srgbClr val="222222"/>
                </a:solidFill>
                <a:latin typeface="맑은 고딕"/>
              </a:rPr>
              <a:t>•  적용을 먼저 기동하면 OPEN에서 ORA-10456</a:t>
            </a:r>
          </a:p>
          <a:p>
            <a:pPr algn="l">
              <a:spcAft>
                <a:spcPts val="1000"/>
              </a:spcAft>
            </a:pPr>
            <a:r>
              <a:rPr sz="1700" b="0">
                <a:solidFill>
                  <a:srgbClr val="222222"/>
                </a:solidFill>
                <a:latin typeface="맑은 고딕"/>
              </a:rPr>
              <a:t>•  ADG를 안 쓰면 MOUNT에서 적용만 기동</a:t>
            </a:r>
          </a:p>
          <a:p>
            <a:pPr algn="l">
              <a:spcAft>
                <a:spcPts val="1000"/>
              </a:spcAft>
            </a:pPr>
            <a:r>
              <a:rPr sz="1700" b="0">
                <a:solidFill>
                  <a:srgbClr val="222222"/>
                </a:solidFill>
                <a:latin typeface="맑은 고딕"/>
              </a:rPr>
              <a:t>•  apply lag가 줄 때까지 Failover 준비 미완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기간 중 상태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수신은 정상인지, 목적지는 VALID인지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V$DATAGUARD_STATS의 두 lag</a:t>
            </a:r>
          </a:p>
          <a:p>
            <a:pPr algn="l">
              <a:spcAft>
                <a:spcPts val="1000"/>
              </a:spcAft>
            </a:pPr>
            <a:r>
              <a:rPr sz="1700" b="0">
                <a:solidFill>
                  <a:srgbClr val="222222"/>
                </a:solidFill>
                <a:latin typeface="맑은 고딕"/>
              </a:rPr>
              <a:t>•  Standby: V$ARCHIVED_LOG 시퀀스 증가</a:t>
            </a:r>
          </a:p>
          <a:p>
            <a:pPr algn="l">
              <a:spcAft>
                <a:spcPts val="1000"/>
              </a:spcAft>
            </a:pPr>
            <a:r>
              <a:rPr sz="1700" b="0">
                <a:solidFill>
                  <a:srgbClr val="222222"/>
                </a:solidFill>
                <a:latin typeface="맑은 고딕"/>
              </a:rPr>
              <a:t>•  Primary: V$ARCHIVE_DEST_STATUS가 VALID</a:t>
            </a:r>
          </a:p>
          <a:p>
            <a:pPr algn="l">
              <a:spcAft>
                <a:spcPts val="1000"/>
              </a:spcAft>
            </a:pPr>
            <a:r>
              <a:rPr sz="1700" b="0">
                <a:solidFill>
                  <a:srgbClr val="222222"/>
                </a:solidFill>
                <a:latin typeface="맑은 고딕"/>
              </a:rPr>
              <a:t>•  ERROR가 보이면 FRA 부족부터 의심</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자주 만나는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대부분 상태와 명령의 불일치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38784+01153: 적용 중 전환</a:t>
            </a:r>
          </a:p>
          <a:p>
            <a:pPr algn="l">
              <a:spcAft>
                <a:spcPts val="1000"/>
              </a:spcAft>
            </a:pPr>
            <a:r>
              <a:rPr sz="1700" b="0">
                <a:solidFill>
                  <a:srgbClr val="222222"/>
                </a:solidFill>
                <a:latin typeface="맑은 고딕"/>
              </a:rPr>
              <a:t>•  01665: Snapshot에서 MRP 기동</a:t>
            </a:r>
          </a:p>
          <a:p>
            <a:pPr algn="l">
              <a:spcAft>
                <a:spcPts val="1000"/>
              </a:spcAft>
            </a:pPr>
            <a:r>
              <a:rPr sz="1700" b="0">
                <a:solidFill>
                  <a:srgbClr val="222222"/>
                </a:solidFill>
                <a:latin typeface="맑은 고딕"/>
              </a:rPr>
              <a:t>•  01219: 닫힌 PDB 조회</a:t>
            </a:r>
          </a:p>
          <a:p>
            <a:pPr algn="l">
              <a:spcAft>
                <a:spcPts val="1000"/>
              </a:spcAft>
            </a:pPr>
            <a:r>
              <a:rPr sz="1700" b="0">
                <a:solidFill>
                  <a:srgbClr val="222222"/>
                </a:solidFill>
                <a:latin typeface="맑은 고딕"/>
              </a:rPr>
              <a:t>•  16433: 안 열고 되돌리기 / 01126: 열린 채 되돌리기</a:t>
            </a:r>
          </a:p>
          <a:p>
            <a:pPr algn="l">
              <a:spcAft>
                <a:spcPts val="1000"/>
              </a:spcAft>
            </a:pPr>
            <a:r>
              <a:rPr sz="1700" b="0">
                <a:solidFill>
                  <a:srgbClr val="222222"/>
                </a:solidFill>
                <a:latin typeface="맑은 고딕"/>
              </a:rPr>
              <a:t>•  10456: 적용 먼저, 열기 나중</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Broker에서의 전환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CONVERT DATABASE 한 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CONVERT DATABASE 'boston' TO SNAPSHOT STANDBY</a:t>
            </a:r>
          </a:p>
          <a:p>
            <a:pPr algn="l">
              <a:spcAft>
                <a:spcPts val="1000"/>
              </a:spcAft>
            </a:pPr>
            <a:r>
              <a:rPr sz="1700" b="0">
                <a:solidFill>
                  <a:srgbClr val="222222"/>
                </a:solidFill>
                <a:latin typeface="맑은 고딕"/>
              </a:rPr>
              <a:t>•  CONVERT DATABASE 'boston' TO PHYSICAL STANDBY</a:t>
            </a:r>
          </a:p>
          <a:p>
            <a:pPr algn="l">
              <a:spcAft>
                <a:spcPts val="1000"/>
              </a:spcAft>
            </a:pPr>
            <a:r>
              <a:rPr sz="1700" b="0">
                <a:solidFill>
                  <a:srgbClr val="222222"/>
                </a:solidFill>
                <a:latin typeface="맑은 고딕"/>
              </a:rPr>
              <a:t>•  적용 중지·재기동·적용 재개를 Broker가 처리</a:t>
            </a:r>
          </a:p>
          <a:p>
            <a:pPr algn="l">
              <a:spcAft>
                <a:spcPts val="1000"/>
              </a:spcAft>
            </a:pPr>
            <a:r>
              <a:rPr sz="1700" b="0">
                <a:solidFill>
                  <a:srgbClr val="222222"/>
                </a:solidFill>
                <a:latin typeface="맑은 고딕"/>
              </a:rPr>
              <a:t>•  Broker 구성에서는 SQL로 바꾸지 않음</a:t>
            </a:r>
          </a:p>
          <a:p>
            <a:pPr algn="l">
              <a:spcAft>
                <a:spcPts val="1000"/>
              </a:spcAft>
            </a:pPr>
            <a:r>
              <a:rPr sz="1700" b="0">
                <a:solidFill>
                  <a:srgbClr val="222222"/>
                </a:solidFill>
                <a:latin typeface="맑은 고딕"/>
              </a:rPr>
              <a:t>•  SHOW CONFIGURATION에 Snapshot standby 표시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제약과 위험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역할 전환과 FSFO 제약</a:t>
            </a:r>
          </a:p>
          <a:p>
            <a:pPr algn="l">
              <a:spcAft>
                <a:spcPts val="800"/>
              </a:spcAft>
            </a:pPr>
            <a:r>
              <a:rPr sz="1600" b="0">
                <a:solidFill>
                  <a:srgbClr val="FFFFFF"/>
                </a:solidFill>
                <a:latin typeface="맑은 고딕"/>
              </a:rPr>
              <a:t>•  보호 모드 영향과 RTO 증가</a:t>
            </a:r>
          </a:p>
          <a:p>
            <a:pPr algn="l">
              <a:spcAft>
                <a:spcPts val="800"/>
              </a:spcAft>
            </a:pPr>
            <a:r>
              <a:rPr sz="1600" b="0">
                <a:solidFill>
                  <a:srgbClr val="FFFFFF"/>
                </a:solidFill>
                <a:latin typeface="맑은 고딕"/>
              </a:rPr>
              <a:t>•  되돌리기를 막는 작업</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전환과 Fast-Start Failover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Switchover와 FSFO 대상 불가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Switchover 대상이 될 수 없음</a:t>
            </a:r>
          </a:p>
          <a:p>
            <a:pPr algn="l">
              <a:spcAft>
                <a:spcPts val="1000"/>
              </a:spcAft>
            </a:pPr>
            <a:r>
              <a:rPr sz="1700" b="0">
                <a:solidFill>
                  <a:srgbClr val="222222"/>
                </a:solidFill>
                <a:latin typeface="맑은 고딕"/>
              </a:rPr>
              <a:t>•  Fast-Start Failover 대상이 될 수 없음</a:t>
            </a:r>
          </a:p>
          <a:p>
            <a:pPr algn="l">
              <a:spcAft>
                <a:spcPts val="1000"/>
              </a:spcAft>
            </a:pPr>
            <a:r>
              <a:rPr sz="1700" b="0">
                <a:solidFill>
                  <a:srgbClr val="222222"/>
                </a:solidFill>
                <a:latin typeface="맑은 고딕"/>
              </a:rPr>
              <a:t>•  Failover는 되돌리기와 적용을 거친 뒤 가능</a:t>
            </a:r>
          </a:p>
          <a:p>
            <a:pPr algn="l">
              <a:spcAft>
                <a:spcPts val="1000"/>
              </a:spcAft>
            </a:pPr>
            <a:r>
              <a:rPr sz="1700" b="0">
                <a:solidFill>
                  <a:srgbClr val="222222"/>
                </a:solidFill>
                <a:latin typeface="맑은 고딕"/>
              </a:rPr>
              <a:t>•  Broker는 Failover 안에서 이 단계를 처리</a:t>
            </a:r>
          </a:p>
          <a:p>
            <a:pPr algn="l">
              <a:spcAft>
                <a:spcPts val="1000"/>
              </a:spcAft>
            </a:pPr>
            <a:r>
              <a:rPr sz="1700" b="0">
                <a:solidFill>
                  <a:srgbClr val="222222"/>
                </a:solidFill>
                <a:latin typeface="맑은 고딕"/>
              </a:rPr>
              <a:t>•  다른 물리 Standby가 있으면 그쪽이 대상</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보호 모드에 미치는 영향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최대 보호에서는 유일한 Standby 불가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최대 보호: 유일한 Standby로 전환 불가</a:t>
            </a:r>
          </a:p>
          <a:p>
            <a:pPr algn="l">
              <a:spcAft>
                <a:spcPts val="1000"/>
              </a:spcAft>
            </a:pPr>
            <a:r>
              <a:rPr sz="1700" b="0">
                <a:solidFill>
                  <a:srgbClr val="222222"/>
                </a:solidFill>
                <a:latin typeface="맑은 고딕"/>
              </a:rPr>
              <a:t>•  그런 상황을 만드는 구성 변경도 거부</a:t>
            </a:r>
          </a:p>
          <a:p>
            <a:pPr algn="l">
              <a:spcAft>
                <a:spcPts val="1000"/>
              </a:spcAft>
            </a:pPr>
            <a:r>
              <a:rPr sz="1700" b="0">
                <a:solidFill>
                  <a:srgbClr val="222222"/>
                </a:solidFill>
                <a:latin typeface="맑은 고딕"/>
              </a:rPr>
              <a:t>•  최대 가용성·성능: 전환 제약 없음</a:t>
            </a:r>
          </a:p>
          <a:p>
            <a:pPr algn="l">
              <a:spcAft>
                <a:spcPts val="1000"/>
              </a:spcAft>
            </a:pPr>
            <a:r>
              <a:rPr sz="1700" b="0">
                <a:solidFill>
                  <a:srgbClr val="222222"/>
                </a:solidFill>
                <a:latin typeface="맑은 고딕"/>
              </a:rPr>
              <a:t>•  SYNC 대상이면 수신 확인은 계속 보냄</a:t>
            </a:r>
          </a:p>
          <a:p>
            <a:pPr algn="l">
              <a:spcAft>
                <a:spcPts val="1000"/>
              </a:spcAft>
            </a:pPr>
            <a:r>
              <a:rPr sz="1700" b="0">
                <a:solidFill>
                  <a:srgbClr val="222222"/>
                </a:solidFill>
                <a:latin typeface="맑은 고딕"/>
              </a:rPr>
              <a:t>•  손실 보호는 유지, 복구 시간은 늘어남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지연된 적용과 RTO</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되감기 + 밀린 적용 + 역할 전환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되감기: 시험이 건드린 블록 양에 비례</a:t>
            </a:r>
          </a:p>
          <a:p>
            <a:pPr algn="l">
              <a:spcAft>
                <a:spcPts val="1000"/>
              </a:spcAft>
            </a:pPr>
            <a:r>
              <a:rPr sz="1700" b="0">
                <a:solidFill>
                  <a:srgbClr val="222222"/>
                </a:solidFill>
                <a:latin typeface="맑은 고딕"/>
              </a:rPr>
              <a:t>•  적용: 전환 기간 리두 양에 비례</a:t>
            </a:r>
          </a:p>
          <a:p>
            <a:pPr algn="l">
              <a:spcAft>
                <a:spcPts val="1000"/>
              </a:spcAft>
            </a:pPr>
            <a:r>
              <a:rPr sz="1700" b="0">
                <a:solidFill>
                  <a:srgbClr val="222222"/>
                </a:solidFill>
                <a:latin typeface="맑은 고딕"/>
              </a:rPr>
              <a:t>•  사흘 Snapshot이면 사흘 치 리두 적용</a:t>
            </a:r>
          </a:p>
          <a:p>
            <a:pPr algn="l">
              <a:spcAft>
                <a:spcPts val="1000"/>
              </a:spcAft>
            </a:pPr>
            <a:r>
              <a:rPr sz="1700" b="0">
                <a:solidFill>
                  <a:srgbClr val="222222"/>
                </a:solidFill>
                <a:latin typeface="맑은 고딕"/>
              </a:rPr>
              <a:t>•  적용 속도가 3배여도 하루 가까이 소요</a:t>
            </a:r>
          </a:p>
          <a:p>
            <a:pPr algn="l">
              <a:spcAft>
                <a:spcPts val="1000"/>
              </a:spcAft>
            </a:pPr>
            <a:r>
              <a:rPr sz="1700" b="0">
                <a:solidFill>
                  <a:srgbClr val="222222"/>
                </a:solidFill>
                <a:latin typeface="맑은 고딕"/>
              </a:rPr>
              <a:t>•  RTO가 분 단위라면 재해 대비 역할 불가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손상 로그 위험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적용할 때에야 발견되는 손상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받은 로그는 적용 시점에 검증됨</a:t>
            </a:r>
          </a:p>
          <a:p>
            <a:pPr algn="l">
              <a:spcAft>
                <a:spcPts val="1000"/>
              </a:spcAft>
            </a:pPr>
            <a:r>
              <a:rPr sz="1700" b="0">
                <a:solidFill>
                  <a:srgbClr val="222222"/>
                </a:solidFill>
                <a:latin typeface="맑은 고딕"/>
              </a:rPr>
              <a:t>•  손상은 되돌린 뒤 MRP가 읽을 때 발견</a:t>
            </a:r>
          </a:p>
          <a:p>
            <a:pPr algn="l">
              <a:spcAft>
                <a:spcPts val="1000"/>
              </a:spcAft>
            </a:pPr>
            <a:r>
              <a:rPr sz="1700" b="0">
                <a:solidFill>
                  <a:srgbClr val="222222"/>
                </a:solidFill>
                <a:latin typeface="맑은 고딕"/>
              </a:rPr>
              <a:t>•  Primary가 없으면 다시 받을 방법 없음</a:t>
            </a:r>
          </a:p>
          <a:p>
            <a:pPr algn="l">
              <a:spcAft>
                <a:spcPts val="1000"/>
              </a:spcAft>
            </a:pPr>
            <a:r>
              <a:rPr sz="1700" b="0">
                <a:solidFill>
                  <a:srgbClr val="222222"/>
                </a:solidFill>
                <a:latin typeface="맑은 고딕"/>
              </a:rPr>
              <a:t>•  Flashback 로그 손상 시 되돌리기 실패 가능</a:t>
            </a:r>
          </a:p>
          <a:p>
            <a:pPr algn="l">
              <a:spcAft>
                <a:spcPts val="1000"/>
              </a:spcAft>
            </a:pPr>
            <a:r>
              <a:rPr sz="1700" b="0">
                <a:solidFill>
                  <a:srgbClr val="222222"/>
                </a:solidFill>
                <a:latin typeface="맑은 고딕"/>
              </a:rPr>
              <a:t>•  대책: Primary 로그 보존, 다른 물리 Standby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되돌리기를 막는 작업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Flashback이 넘지 못하는 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컨트롤 파일 재생성·복원</a:t>
            </a:r>
          </a:p>
          <a:p>
            <a:pPr algn="l">
              <a:spcAft>
                <a:spcPts val="1000"/>
              </a:spcAft>
            </a:pPr>
            <a:r>
              <a:rPr sz="1700" b="0">
                <a:solidFill>
                  <a:srgbClr val="222222"/>
                </a:solidFill>
                <a:latin typeface="맑은 고딕"/>
              </a:rPr>
              <a:t>•  데이터 파일 축소(RESIZE로 줄이기)</a:t>
            </a:r>
          </a:p>
          <a:p>
            <a:pPr algn="l">
              <a:spcAft>
                <a:spcPts val="1000"/>
              </a:spcAft>
            </a:pPr>
            <a:r>
              <a:rPr sz="1700" b="0">
                <a:solidFill>
                  <a:srgbClr val="222222"/>
                </a:solidFill>
                <a:latin typeface="맑은 고딕"/>
              </a:rPr>
              <a:t>•  OPEN RESETLOGS, Flashback 로그 수동 삭제</a:t>
            </a:r>
          </a:p>
          <a:p>
            <a:pPr algn="l">
              <a:spcAft>
                <a:spcPts val="1000"/>
              </a:spcAft>
            </a:pPr>
            <a:r>
              <a:rPr sz="1700" b="0">
                <a:solidFill>
                  <a:srgbClr val="222222"/>
                </a:solidFill>
                <a:latin typeface="맑은 고딕"/>
              </a:rPr>
              <a:t>•  실패 시 Standby를 새로 생성(5·6장)</a:t>
            </a:r>
          </a:p>
          <a:p>
            <a:pPr algn="l">
              <a:spcAft>
                <a:spcPts val="1000"/>
              </a:spcAft>
            </a:pPr>
            <a:r>
              <a:rPr sz="1700" b="0">
                <a:solidFill>
                  <a:srgbClr val="222222"/>
                </a:solidFill>
                <a:latin typeface="맑은 고딕"/>
              </a:rPr>
              <a:t>•  시험 계정에 ALTER DATABASE·SYSTEM 권한 금지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세 가지 방식 비교와 선택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Snapshot Standby</a:t>
            </a:r>
          </a:p>
          <a:p>
            <a:pPr algn="l">
              <a:spcAft>
                <a:spcPts val="800"/>
              </a:spcAft>
            </a:pPr>
            <a:r>
              <a:rPr sz="1600" b="0">
                <a:solidFill>
                  <a:srgbClr val="FFFFFF"/>
                </a:solidFill>
                <a:latin typeface="맑은 고딕"/>
              </a:rPr>
              <a:t>•  Real-Time Query (ADG)</a:t>
            </a:r>
          </a:p>
          <a:p>
            <a:pPr algn="l">
              <a:spcAft>
                <a:spcPts val="800"/>
              </a:spcAft>
            </a:pPr>
            <a:r>
              <a:rPr sz="1600" b="0">
                <a:solidFill>
                  <a:srgbClr val="FFFFFF"/>
                </a:solidFill>
                <a:latin typeface="맑은 고딕"/>
              </a:rPr>
              <a:t>•  Logical Standby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방식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쓰기, 데이터 시점, 전환 대상, 라이선스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Snapshot: 전부 쓰기, 전환 시점 고정, EE 기본</a:t>
            </a:r>
          </a:p>
          <a:p>
            <a:pPr algn="l">
              <a:spcAft>
                <a:spcPts val="1000"/>
              </a:spcAft>
            </a:pPr>
            <a:r>
              <a:rPr sz="1700" b="0">
                <a:solidFill>
                  <a:srgbClr val="222222"/>
                </a:solidFill>
                <a:latin typeface="맑은 고딕"/>
              </a:rPr>
              <a:t>•  Real-Time Query: 읽기만, 최신, ADG 옵션</a:t>
            </a:r>
          </a:p>
          <a:p>
            <a:pPr algn="l">
              <a:spcAft>
                <a:spcPts val="1000"/>
              </a:spcAft>
            </a:pPr>
            <a:r>
              <a:rPr sz="1700" b="0">
                <a:solidFill>
                  <a:srgbClr val="222222"/>
                </a:solidFill>
                <a:latin typeface="맑은 고딕"/>
              </a:rPr>
              <a:t>•  Logical: 일부 객체 쓰기·유지, 최신, 유형 제약</a:t>
            </a:r>
          </a:p>
          <a:p>
            <a:pPr algn="l">
              <a:spcAft>
                <a:spcPts val="1000"/>
              </a:spcAft>
            </a:pPr>
            <a:r>
              <a:rPr sz="1700" b="0">
                <a:solidFill>
                  <a:srgbClr val="222222"/>
                </a:solidFill>
                <a:latin typeface="맑은 고딕"/>
              </a:rPr>
              <a:t>•  Switchover 대상: Snapshot만 불가</a:t>
            </a:r>
          </a:p>
          <a:p>
            <a:pPr algn="l">
              <a:spcAft>
                <a:spcPts val="1000"/>
              </a:spcAft>
            </a:pPr>
            <a:r>
              <a:rPr sz="1700" b="0">
                <a:solidFill>
                  <a:srgbClr val="222222"/>
                </a:solidFill>
                <a:latin typeface="맑은 고딕"/>
              </a:rPr>
              <a:t>•  DML 리다이렉션은 Primary에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선택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바꾸는가, 남기는가, 얼마나 오래인가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바꾸고 버려도 됨 → Snapshot Standby</a:t>
            </a:r>
          </a:p>
          <a:p>
            <a:pPr algn="l">
              <a:spcAft>
                <a:spcPts val="1000"/>
              </a:spcAft>
            </a:pPr>
            <a:r>
              <a:rPr sz="1700" b="0">
                <a:solidFill>
                  <a:srgbClr val="222222"/>
                </a:solidFill>
                <a:latin typeface="맑은 고딕"/>
              </a:rPr>
              <a:t>•  최신 데이터 읽기만 → Real-Time Query</a:t>
            </a:r>
          </a:p>
          <a:p>
            <a:pPr algn="l">
              <a:spcAft>
                <a:spcPts val="1000"/>
              </a:spcAft>
            </a:pPr>
            <a:r>
              <a:rPr sz="1700" b="0">
                <a:solidFill>
                  <a:srgbClr val="222222"/>
                </a:solidFill>
                <a:latin typeface="맑은 고딕"/>
              </a:rPr>
              <a:t>•  추가 객체를 계속 유지 → Logical Standby</a:t>
            </a:r>
          </a:p>
          <a:p>
            <a:pPr algn="l">
              <a:spcAft>
                <a:spcPts val="1000"/>
              </a:spcAft>
            </a:pPr>
            <a:r>
              <a:rPr sz="1700" b="0">
                <a:solidFill>
                  <a:srgbClr val="222222"/>
                </a:solidFill>
                <a:latin typeface="맑은 고딕"/>
              </a:rPr>
              <a:t>•  장기 개발 환경 → RMAN 복제·PDB 클론</a:t>
            </a:r>
          </a:p>
          <a:p>
            <a:pPr algn="l">
              <a:spcAft>
                <a:spcPts val="1000"/>
              </a:spcAft>
            </a:pPr>
            <a:r>
              <a:rPr sz="1700" b="0">
                <a:solidFill>
                  <a:srgbClr val="222222"/>
                </a:solidFill>
                <a:latin typeface="맑은 고딕"/>
              </a:rPr>
              <a:t>•  번갈아 쓰면 전환마다 조회 서비스 중단</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역할을 나눠 둔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재해 대비, 조회, 시험을 분리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A: SYNC·FASTSYNC, FSFO 대상</a:t>
            </a:r>
          </a:p>
          <a:p>
            <a:pPr algn="l">
              <a:spcAft>
                <a:spcPts val="1000"/>
              </a:spcAft>
            </a:pPr>
            <a:r>
              <a:rPr sz="1700" b="0">
                <a:solidFill>
                  <a:srgbClr val="222222"/>
                </a:solidFill>
                <a:latin typeface="맑은 고딕"/>
              </a:rPr>
              <a:t>•  Standby B: 평소 Real-Time Query</a:t>
            </a:r>
          </a:p>
          <a:p>
            <a:pPr algn="l">
              <a:spcAft>
                <a:spcPts val="1000"/>
              </a:spcAft>
            </a:pPr>
            <a:r>
              <a:rPr sz="1700" b="0">
                <a:solidFill>
                  <a:srgbClr val="222222"/>
                </a:solidFill>
                <a:latin typeface="맑은 고딕"/>
              </a:rPr>
              <a:t>•  시험 기간에만 B를 Snapshot으로 전환</a:t>
            </a:r>
          </a:p>
          <a:p>
            <a:pPr algn="l">
              <a:spcAft>
                <a:spcPts val="1000"/>
              </a:spcAft>
            </a:pPr>
            <a:r>
              <a:rPr sz="1700" b="0">
                <a:solidFill>
                  <a:srgbClr val="222222"/>
                </a:solidFill>
                <a:latin typeface="맑은 고딕"/>
              </a:rPr>
              <a:t>•  재해 대비 수준이 시험 중에도 유지</a:t>
            </a:r>
          </a:p>
          <a:p>
            <a:pPr algn="l">
              <a:spcAft>
                <a:spcPts val="1000"/>
              </a:spcAft>
            </a:pPr>
            <a:r>
              <a:rPr sz="1700" b="0">
                <a:solidFill>
                  <a:srgbClr val="222222"/>
                </a:solidFill>
                <a:latin typeface="맑은 고딕"/>
              </a:rPr>
              <a:t>•  최대 보호의 유일한 Standby 제약도 회피</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전환해 둔 사실을 잊는 사고</a:t>
            </a:r>
          </a:p>
          <a:p>
            <a:pPr algn="l">
              <a:spcAft>
                <a:spcPts val="800"/>
              </a:spcAft>
            </a:pPr>
            <a:r>
              <a:rPr sz="1600" b="0">
                <a:solidFill>
                  <a:srgbClr val="FFFFFF"/>
                </a:solidFill>
                <a:latin typeface="맑은 고딕"/>
              </a:rPr>
              <a:t>•  되돌려도 취소되지 않는 외부 작업</a:t>
            </a:r>
          </a:p>
          <a:p>
            <a:pPr algn="l">
              <a:spcAft>
                <a:spcPts val="800"/>
              </a:spcAft>
            </a:pPr>
            <a:r>
              <a:rPr sz="1600" b="0">
                <a:solidFill>
                  <a:srgbClr val="FFFFFF"/>
                </a:solidFill>
                <a:latin typeface="맑은 고딕"/>
              </a:rPr>
              <a:t>•  되돌린 뒤의 검증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전환해 둔 사실을 잊지 않기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명령보다 기억이 사고 원인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감시 목록에 Snapshot 상태를 별도 표시</a:t>
            </a:r>
          </a:p>
          <a:p>
            <a:pPr algn="l">
              <a:spcAft>
                <a:spcPts val="1000"/>
              </a:spcAft>
            </a:pPr>
            <a:r>
              <a:rPr sz="1700" b="0">
                <a:solidFill>
                  <a:srgbClr val="222222"/>
                </a:solidFill>
                <a:latin typeface="맑은 고딕"/>
              </a:rPr>
              <a:t>•  전환 기간 상한, FRA 사용률 상한 명시</a:t>
            </a:r>
          </a:p>
          <a:p>
            <a:pPr algn="l">
              <a:spcAft>
                <a:spcPts val="1000"/>
              </a:spcAft>
            </a:pPr>
            <a:r>
              <a:rPr sz="1700" b="0">
                <a:solidFill>
                  <a:srgbClr val="222222"/>
                </a:solidFill>
                <a:latin typeface="맑은 고딕"/>
              </a:rPr>
              <a:t>•  담당자와 되돌릴 시각을 운영 일지에 기록</a:t>
            </a:r>
          </a:p>
          <a:p>
            <a:pPr algn="l">
              <a:spcAft>
                <a:spcPts val="1000"/>
              </a:spcAft>
            </a:pPr>
            <a:r>
              <a:rPr sz="1700" b="0">
                <a:solidFill>
                  <a:srgbClr val="222222"/>
                </a:solidFill>
                <a:latin typeface="맑은 고딕"/>
              </a:rPr>
              <a:t>•  시각이 지나면 경보를 상위 단계로</a:t>
            </a:r>
          </a:p>
          <a:p>
            <a:pPr algn="l">
              <a:spcAft>
                <a:spcPts val="1000"/>
              </a:spcAft>
            </a:pPr>
            <a:r>
              <a:rPr sz="1700" b="0">
                <a:solidFill>
                  <a:srgbClr val="222222"/>
                </a:solidFill>
                <a:latin typeface="맑은 고딕"/>
              </a:rPr>
              <a:t>•  반복 시험은 사용자 복원 지점 활용</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되돌려도 취소되지 않는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밖으로 나간 것은 돌아오지 않음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 링크 INSERT, 메일 발송, 외부 인터페이스</a:t>
            </a:r>
          </a:p>
          <a:p>
            <a:pPr algn="l">
              <a:spcAft>
                <a:spcPts val="1000"/>
              </a:spcAft>
            </a:pPr>
            <a:r>
              <a:rPr sz="1700" b="0">
                <a:solidFill>
                  <a:srgbClr val="222222"/>
                </a:solidFill>
                <a:latin typeface="맑은 고딕"/>
              </a:rPr>
              <a:t>•  시험 전에 잡과 링크를 막아 둠</a:t>
            </a:r>
          </a:p>
          <a:p>
            <a:pPr algn="l">
              <a:spcAft>
                <a:spcPts val="1000"/>
              </a:spcAft>
            </a:pPr>
            <a:r>
              <a:rPr sz="1700" b="0">
                <a:solidFill>
                  <a:srgbClr val="222222"/>
                </a:solidFill>
                <a:latin typeface="맑은 고딕"/>
              </a:rPr>
              <a:t>•  AWR·재생 보고서는 되돌리기 전에 추출</a:t>
            </a:r>
          </a:p>
          <a:p>
            <a:pPr algn="l">
              <a:spcAft>
                <a:spcPts val="1000"/>
              </a:spcAft>
            </a:pPr>
            <a:r>
              <a:rPr sz="1700" b="0">
                <a:solidFill>
                  <a:srgbClr val="222222"/>
                </a:solidFill>
                <a:latin typeface="맑은 고딕"/>
              </a:rPr>
              <a:t>•  운영 데이터이므로 접근 통제는 운영 수준</a:t>
            </a:r>
          </a:p>
          <a:p>
            <a:pPr algn="l">
              <a:spcAft>
                <a:spcPts val="1000"/>
              </a:spcAft>
            </a:pPr>
            <a:r>
              <a:rPr sz="1700" b="0">
                <a:solidFill>
                  <a:srgbClr val="222222"/>
                </a:solidFill>
                <a:latin typeface="맑은 고딕"/>
              </a:rPr>
              <a:t>•  되돌린 뒤 역할·복원 지점·lag 순서로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물리 Standby를 임시로 읽기·쓰기, 끝나면 변경 폐기</a:t>
            </a:r>
          </a:p>
          <a:p>
            <a:pPr algn="l">
              <a:spcAft>
                <a:spcPts val="1000"/>
              </a:spcAft>
            </a:pPr>
            <a:r>
              <a:rPr sz="1600" b="0">
                <a:solidFill>
                  <a:srgbClr val="222222"/>
                </a:solidFill>
                <a:latin typeface="맑은 고딕"/>
              </a:rPr>
              <a:t>•  보장 복원 지점 자동 생성, RESTORE POINT ONLY 로깅</a:t>
            </a:r>
          </a:p>
          <a:p>
            <a:pPr algn="l">
              <a:spcAft>
                <a:spcPts val="1000"/>
              </a:spcAft>
            </a:pPr>
            <a:r>
              <a:rPr sz="1600" b="0">
                <a:solidFill>
                  <a:srgbClr val="222222"/>
                </a:solidFill>
                <a:latin typeface="맑은 고딕"/>
              </a:rPr>
              <a:t>•  수신·아카이브 계속, 적용만 멈춤 → apply lag 증가</a:t>
            </a:r>
          </a:p>
          <a:p>
            <a:pPr algn="l">
              <a:spcAft>
                <a:spcPts val="1000"/>
              </a:spcAft>
            </a:pPr>
            <a:r>
              <a:rPr sz="1600" b="0">
                <a:solidFill>
                  <a:srgbClr val="222222"/>
                </a:solidFill>
                <a:latin typeface="맑은 고딕"/>
              </a:rPr>
              <a:t>•  전제: FRA, 적용 중지, MOUNT / 공간은 두 파일이 함께</a:t>
            </a:r>
          </a:p>
          <a:p>
            <a:pPr algn="l">
              <a:spcAft>
                <a:spcPts val="1000"/>
              </a:spcAft>
            </a:pPr>
            <a:r>
              <a:rPr sz="1600" b="0">
                <a:solidFill>
                  <a:srgbClr val="222222"/>
                </a:solidFill>
                <a:latin typeface="맑은 고딕"/>
              </a:rPr>
              <a:t>•  되돌리기: 한 번 연 뒤(16433), MOUNT에서(01126)</a:t>
            </a:r>
          </a:p>
          <a:p>
            <a:pPr algn="l">
              <a:spcAft>
                <a:spcPts val="1000"/>
              </a:spcAft>
            </a:pPr>
            <a:r>
              <a:rPr sz="1600" b="0">
                <a:solidFill>
                  <a:srgbClr val="222222"/>
                </a:solidFill>
                <a:latin typeface="맑은 고딕"/>
              </a:rPr>
              <a:t>•  Switchover·FSFO 불가, 최대 보호 유일 Standby 불가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논리 Standby로 Snapshot Standby를 만들 수 있나? → 아니다</a:t>
            </a:r>
          </a:p>
          <a:p>
            <a:pPr algn="l">
              <a:spcAft>
                <a:spcPts val="1000"/>
              </a:spcAft>
            </a:pPr>
            <a:r>
              <a:rPr sz="1600" b="0">
                <a:solidFill>
                  <a:srgbClr val="222222"/>
                </a:solidFill>
                <a:latin typeface="맑은 고딕"/>
              </a:rPr>
              <a:t>•  Q2. 적용 중 전환하면? → ORA-38784 + ORA-01153</a:t>
            </a:r>
          </a:p>
          <a:p>
            <a:pPr algn="l">
              <a:spcAft>
                <a:spcPts val="1000"/>
              </a:spcAft>
            </a:pPr>
            <a:r>
              <a:rPr sz="1600" b="0">
                <a:solidFill>
                  <a:srgbClr val="222222"/>
                </a:solidFill>
                <a:latin typeface="맑은 고딕"/>
              </a:rPr>
              <a:t>•  Q3. 전환 기간의 Primary 리두는? → 수신·아카이브, 되돌린 뒤 적용</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FLASHBACK_ON = NO면 전환 불가? → FRA만 있으면 가능</a:t>
            </a:r>
          </a:p>
          <a:p>
            <a:pPr algn="l">
              <a:spcAft>
                <a:spcPts val="1000"/>
              </a:spcAft>
            </a:pPr>
            <a:r>
              <a:rPr sz="1600" b="0">
                <a:solidFill>
                  <a:srgbClr val="222222"/>
                </a:solidFill>
                <a:latin typeface="맑은 고딕"/>
              </a:rPr>
              <a:t>•  Q5. 장애 시 Primary가 될 수 없다? → 되돌리고 적용하면 가능</a:t>
            </a:r>
          </a:p>
          <a:p>
            <a:pPr algn="l">
              <a:spcAft>
                <a:spcPts val="1000"/>
              </a:spcAft>
            </a:pPr>
            <a:r>
              <a:rPr sz="1600" b="0">
                <a:solidFill>
                  <a:srgbClr val="222222"/>
                </a:solidFill>
                <a:latin typeface="맑은 고딕"/>
              </a:rPr>
              <a:t>•  Q6. ADG 복귀 순서는? → OPEN READ ONLY 후 적용 기동</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전제 조건 확인 / 02 전환 실패와 성공 (11.4, 11.5.1)</a:t>
            </a:r>
          </a:p>
          <a:p>
            <a:pPr algn="l">
              <a:spcAft>
                <a:spcPts val="1000"/>
              </a:spcAft>
            </a:pPr>
            <a:r>
              <a:rPr sz="1600" b="0">
                <a:solidFill>
                  <a:srgbClr val="222222"/>
                </a:solidFill>
                <a:latin typeface="맑은 고딕"/>
              </a:rPr>
              <a:t>•  03 복원 지점 읽기 (11.3.1)</a:t>
            </a:r>
          </a:p>
          <a:p>
            <a:pPr algn="l">
              <a:spcAft>
                <a:spcPts val="1000"/>
              </a:spcAft>
            </a:pPr>
            <a:r>
              <a:rPr sz="1600" b="0">
                <a:solidFill>
                  <a:srgbClr val="222222"/>
                </a:solidFill>
                <a:latin typeface="맑은 고딕"/>
              </a:rPr>
              <a:t>•  04 열고 쓰기, PDB와 ORA-01219 (11.5.2)</a:t>
            </a:r>
          </a:p>
          <a:p>
            <a:pPr algn="l">
              <a:spcAft>
                <a:spcPts val="1000"/>
              </a:spcAft>
            </a:pPr>
            <a:r>
              <a:rPr sz="1600" b="0">
                <a:solidFill>
                  <a:srgbClr val="222222"/>
                </a:solidFill>
                <a:latin typeface="맑은 고딕"/>
              </a:rPr>
              <a:t>•  05 전환 중의 관찰, ORA-01665와 FRA (11.3.2, 11.5.4)</a:t>
            </a:r>
          </a:p>
          <a:p>
            <a:pPr algn="l">
              <a:spcAft>
                <a:spcPts val="1000"/>
              </a:spcAft>
            </a:pPr>
            <a:r>
              <a:rPr sz="1600" b="0">
                <a:solidFill>
                  <a:srgbClr val="222222"/>
                </a:solidFill>
                <a:latin typeface="맑은 고딕"/>
              </a:rPr>
              <a:t>•  06 되돌리기와 ORA-10456 (11.5.3)</a:t>
            </a:r>
          </a:p>
          <a:p>
            <a:pPr algn="l">
              <a:spcAft>
                <a:spcPts val="1000"/>
              </a:spcAft>
            </a:pPr>
            <a:r>
              <a:rPr sz="1600" b="0">
                <a:solidFill>
                  <a:srgbClr val="222222"/>
                </a:solidFill>
                <a:latin typeface="맑은 고딕"/>
              </a:rPr>
              <a:t>•  07 검증과 정리 (11.3.3, 11.8)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
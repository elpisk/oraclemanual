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Guard 서비스는 전송, 적용, 역할 관리 세 가지로 나뉘고 이 장은 그중 전송을 다룹니다. 리두를 보내는 쪽은 대부분 Primary지만, Far Sync나 다른 Standby로 리두를 넘겨주는 Standby도 소스가 됩니다. 목적지는 파라미터 번호 하나에 하나씩 대응하므로, 목적지 수만큼 LOG_ARCHIVE_DEST_n이 늘어납니다. 전송 서비스는 Standby의 로그 파일에 리두를 써 넣는 순간 일을 마칩니다. 데이터 파일 반영은 7장의 Redo Apply가 맡으니, 이 장에서 말하는 무손실은 리두가 Standby 디스크나 메모리에 도착했는지를 기준으로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SYNC와 ASYNC의 차이는 LGWR가 전송에 얼마나 관여하느냐로 설명됩니다. SYNC에서는 LGWR가 리두를 NSS에 넘기고 그 확인을 받을 때까지 커밋 응답을 보내지 않습니다. ASYNC에서는 LGWR가 TTnn을 띄우기만 하고 손을 뗍니다. TTnn은 평소 리두 버퍼에서 읽지만, 전송이 밀려 버퍼에서 리두가 빠져나가면 온라인 리두 로그 파일을 읽어 따라갑니다. 예전 자료의 LNS라는 이름은 지금의 NSS와 TTnn으로 나뉘었다고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SRL은 Standby가 남에게서 받은 리두를 담는 전용 그릇입니다. SRL이 없어도 전송 자체는 되지만 RFS가 아카이브 로그 파일에 직접 쓰게 되고, 실시간 적용이 동작하지 않으며 SYNC 기반 보호 모드의 요건도 채우지 못합니다. 공식 교재가 세 모드 모두의 요건에 SRL을 넣은 것도 이 때문입니다. Primary에도 SRL을 미리 만들어 두는데, Switchover로 역할이 바뀌는 순간부터 옛 Primary가 리두를 받아야 하기 때문입니다. 몇 개를 어떤 크기로 만드는지는 4장에서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수강생이 가장 자주 하는 착각이 SYNC로 바꾸면 무손실 구성이 된다는 생각입니다. 목적지를 SYNC AFFIRM으로 바꿔도 보호 모드가 Maximum Performance로 남아 있으면, Standby가 사라졌을 때 Primary는 NET_TIMEOUT 뒤 아무 일 없다는 듯 계속 진행합니다. 보호 모드를 설정해야 Primary 내부에 그 모드의 규칙이 걸립니다. 또 목적지마다 방식을 다르게 줄 수 있어서, SYNC 목적지 하나와 ASYNC 목적지 하나를 함께 두는 구성도 흔합니다.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하나씩 따라가 보면 각 속성이 경로의 어느 지점을 바꾸는지 보입니다. SYNC냐 ASYNC냐는 커밋 완료가 원격 확인까지 기다리느냐를 정하고, AFFIRM이냐 NOAFFIRM이냐는 그 확인이 Standby 디스크 쓰기 전에 오느냐 뒤에 오느냐를 정합니다. 확인이 NET_TIMEOUT 안에 오지 않으면 그 목적지는 실패로 처리됩니다. 그다음 Primary가 계속 갈지 멈출지는 전송 속성이 아니라 보호 모드가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SYNC의 비용은 커밋마다 왕복 네트워크 지연이 붙는다는 데서 나옵니다. LGWR가 로컬 쓰기와 원격 전송을 동시에 진행하므로 커밋 시간은 둘 중 긴 쪽에 가깝습니다. 같은 데이터 센터 안이면 로컬 디스크 쓰기와 비슷한 수준이라 체감이 적지만, 도시를 넘어가면 원격 쪽이 길어집니다. Primary의 AWR이나 대기 이벤트에서 log file sync 평균 시간이 늘어나는 것으로 확인할 수 있으니, 전환 전후 값을 기록해 두는 습관이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ASYNC라고 해서 로그 스위치 때 한꺼번에 보내는 방식은 아닙니다. 리두가 생기는 대로 TTnn이 따라 보내므로, 대역폭이 넉넉하면 Standby는 몇 초 이내로 따라옵니다. Primary가 갑자기 사라지면 그 몇 초, 정확히는 그 순간의 transport lag만큼을 잃습니다. 대륙 간 원거리 Standby에 ASYNC를 쓰는 것도 지연이 커밋에 붙지 않기 때문입니다. 다만 전송이 오래 밀리면 TTnn이 디스크의 온라인 로그를 읽어야 해서 Primary I/O에 읽기 부하가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AFFIRM은 Standby의 디스크 쓰기까지 커밋 경로에 넣습니다. Standby 스토리지가 느리면 그만큼 Primary 커밋이 느려지는 구조입니다. NOAFFIRM은 메모리에 받은 시점에 확인을 보내므로 그 시간이 빠집니다. 대신 확인을 보낸 직후, SRL에 쓰기 전에 Standby까지 함께 무너지면 그 리두는 어디에도 남지 않습니다. 실제로 Primary와 Standby가 수 밀리초 안에 함께 장애를 겪을 확률은 낮지만, 보장의 강도는 분명히 한 단계 약해집니다.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파라미터 문자열에 FASTSYNC라고 쓰는 곳은 없습니다. SQL로 구성할 때는 SYNC NOAFFIRM이라고 쓰고, Broker의 LogXptMode에서 FASTSYNC를 고르면 Broker가 같은 문자열을 만들어 줍니다. 12c에서 이 조합이 강조된 이유는 SYNC 목적지 거리를 제한하던 요소 가운데 Standby I/O 시간을 빼 주기 때문입니다. 네트워크 왕복은 그대로 남으니 거리 문제가 사라지는 것은 아닙니다. Maximum Protection은 AFFIRM을 요구하므로 이 조합으로는 그 모드를 설정할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손실 가능성은 목적지 하나만 놓고 본 값입니다. 구성 전체에서 실제로 무엇을 잃을 수 있는지는 보호 모드 규칙과 합쳐서 판단해야 합니다. 예를 들어 SYNC AFFIRM 목적지라도 Maximum Performance 구성이면 Standby가 끊긴 동안 Primary가 계속 커밋하므로, 그 뒤 Primary까지 잃으면 끊긴 구간을 잃습니다. Broker 이름으로는 SYNC, FASTSYNC, ASYNC 세 가지만 있고, 디프리케이트된 조합은 Broker가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 목적지 두 개를 두면 보호가 두 배가 된다고 생각하기 쉬운데, 커밋 비용 쪽에서 보면 가장 느린 목적지의 지연을 모든 커밋이 지불합니다. 보호 모드는 동기화된 목적지가 하나라도 있으면 성립하므로, 두 번째 SYNC 목적지의 가치는 첫 번째가 끊겼을 때 보호 수준이 떨어지지 않게 받쳐 주는 데 있습니다. 가까운 두 곳은 SYNC로, 먼 곳은 ASYNC로 두는 구성이 일반적입니다.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왕복 지연에 초당 커밋 수를 곱하면 Primary 세션들이 추가로 기다리게 될 시간의 대략적인 크기가 나옵니다. 정밀한 값은 아니지만 SYNC가 감당 가능한지 처음 판단하는 데는 충분합니다. 전환 뒤에는 반드시 피크 시간대의 log file sync 평균을 이전과 비교합니다. 차이가 업무 허용 범위를 넘으면 FASTSYNC로 한 단계 낮추거나, Primary 가까이에 Far Sync를 두는 설계로 넘어갑니다. Far Sync는 Active Data Guard 옵션이 필요한 기능으로 10장에서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목적지 문자열은 통째로 다시 지정해야 하므로, 운영 중에 속성 하나를 바꾸다 다른 속성을 빠뜨리는 실수가 잦습니다. 현재 값을 V$PARAMETER에서 그대로 복사한 뒤 고치는 방식을 권합니다. 속성 이름을 잘못 쓰면 ORA-02097과 함께 ORA-16024가 나오고 값은 바뀌지 않으니, 두 번째 줄의 오류 번호가 실제 원인입니다. 빠른 복구 영역을 로컬 아카이브로 쓰려면 11gR2부터는 USE_DB_RECOVERY_FILE_DEST를 명시해야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Primary와 물리 Standby는 DB_NAME이 같습니다. 예시 구성에서는 둘 다 chicago이고, 고유 이름이 chicago와 boston으로 나뉩니다. 목적지에 적은 고유 이름은 LOG_ARCHIVE_CONFIG의 DG_CONFIG 목록에 들어 있어야 하며, 목록에 없는 이름을 쓰면 ORA-16053으로 설정 자체가 거부됩니다. DG_CONFIG는 리두를 주고받을 수 있는 상대를 정하는 파라미터라 Net 구성과 함께 3장에서 자세히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VALID_FOR가 있는 이유는 역할 전환입니다. Primary와 Standby 양쪽에 상대를 향하는 목적지를 미리 넣어 두면, 각 데이터베이스는 지금 역할에 맞는 것만 쓰고 나머지는 조용히 무시합니다. Switchover가 끝나면 파라미터를 고치지 않아도 반대 방향 목적지가 살아납니다. 단수형과 복수형을 모두 받고 두 값의 순서를 바꿔도 같은 의미라서, 자료마다 표기가 달라 보여도 같은 설정입니다.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물리 Standby는 자기 온라인 리두 로그를 만들지 않으므로 ONLINE_LOGFILE과 STANDBY_ROLE을 짝지은 목적지는 물리 Standby에서 늘 무시됩니다. 이 조합을 쓰는 곳은 논리 Standby뿐입니다. 로컬 아카이브 목적지를 ALL_LOGFILES로 두는 것은 Standby가 SRL도 아카이브해야 하기 때문입니다. 원격 목적지에서 VALID_FOR를 생략하면 기본값이 모든 경우에 쓰는 것이어서, Standby 역할일 때도 리두를 보내려 하는 의도치 않은 캐스케이딩이 생길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NET_TIMEOUT은 Maximum Availability를 운영할 때 체감 동작을 정하는 값입니다. Standby가 응답하지 않으면 Primary 커밋은 최대 이 시간만큼 멈춰 있다가 목적지를 끊고 진행합니다. 너무 짧게 잡으면 잠깐의 네트워크 흔들림에도 목적지가 끊겨 보호 수준이 수시로 떨어지고, 너무 길게 잡으면 장애 때 업무가 그만큼 멈춥니다. REOPEN은 끊긴 목적지에 다시 붙어 보기까지의 간격이며, 0이면 재시도하지 않으니 일부러 0을 주는 경우는 드뭅니다.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MAX_FAILURE와 ALTERNATE는 짝으로 쓰입니다. 대표적인 예가 Far Sync 구성인데, Primary가 Far Sync로 보내다 실패하면 정해진 횟수 뒤에 최종 Standby로 직접 ASYNC 전송하도록 대체 목적지를 걸어 둡니다. 구체적인 구성은 10장에서 봅니다. MANDATORY는 그 목적지에 아카이브가 성공해야 온라인 리두 로그를 재사용할 수 있게 만드는 속성이라, 원격 목적지에 걸면 Standby가 오래 끊겼을 때 Primary가 로그를 돌리지 못하고 멈춥니다. 원격은 OPTIONAL이 일반적입니다.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압축 전송은 대역폭이 좁은 원거리 링크에서 transport lag를 줄이는 데 쓸모가 있지만, Primary CPU를 더 쓰고 Advanced Compression 옵션 라이선스가 필요합니다. 한 번 켜면 기능 사용 기록이 남으므로 라이선스를 확인한 뒤에 설정합니다. DELAY는 이름만 보면 전송 속성 같지만 전송은 즉시 하고 적용만 늦추는 속성이라 7장에서 다룹니다. Broker를 쓰면 이 속성들이 Broker 속성 이름으로 바뀌어도 최종 결과는 같은 목적지 문자열로 내려갑니다.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파라미터 문자열은 사람이 쓴 그대로 보여 줄 뿐이고, 데이터베이스가 어떻게 해석했는지는 V$ARCHIVE_DEST에 열 단위로 나옵니다. SYNC로 바꿨다면 TRANSMIT_MODE가 SYNCHRONOUS 계열로, AFFIRM 열이 YES로 바뀌어야 합니다. VALID_NOW가 YES가 아니면 VALID_FOR 때문에 지금 역할에서 무시되는 목적지입니다. 연결이 끊기면 STATUS가 ERROR가 되고 ERROR 열에 ORA 번호가 남는데, 여기서부터 이어지는 진단 절차는 15장에서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대칭 구성은 Switchover를 준비하는 가장 기본적인 방법입니다. 지금은 chicago의 2번 목적지만 쓰이고 boston의 2번은 VALID_FOR 때문에 무시되다가, 역할이 바뀌면 그 반대가 됩니다. 이때 boston 쪽 목적지가 ASYNC로 남아 있으면 Switchover 직후 Maximum Availability의 요건이 깨져 보호 수준이 떨어집니다. 전송 방식과 SRL까지 양쪽을 똑같이 맞춰 두어야 하며, Broker는 이 대칭을 LogXptMode 속성으로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만든 구성은 특별히 바꾸지 않으면 이 모드로 동작합니다. Primary 입장에서는 Standby가 있든 없든 커밋 경로가 같으므로 성능 영향이 거의 없습니다. 네트워크가 충분히 빠르면 transport lag가 몇 초 수준이라 실제 보호 수준도 생각보다 높습니다. 다만 무손실을 보장하지는 않으니, 이 모드를 쓰는 구성에서는 transport lag를 감시하는 것이 곧 손실 범위를 관리하는 일입니다. SYNC 목적지를 두더라도 이 모드에서는 Standby 장애 때 Primary가 기다리지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무손실을 원할 때 가장 많이 고르는 모드입니다. 평소에는 SYNC로 무손실을 지키다가, Standby나 네트워크에 문제가 생기면 NET_TIMEOUT만큼 기다린 뒤 Primary를 살리는 쪽을 택합니다. 이후 Primary는 사실상 Maximum Performance처럼 돌다가, 장애가 풀리고 갭이 해소되면 사람이 손대지 않아도 원래 보호 수준으로 돌아옵니다. 약점은 그 비동기화 구간입니다. 그 사이에 Primary까지 잃으면 구간 동안의 커밋은 Standby에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모드는 보호하지 못하는 커밋을 하나라도 허용하느니 Primary를 멈추는 쪽을 고릅니다. Standby가 하나뿐이면 Standby 서버의 장애나 네트워크 단절이 곧 운영 DB 정지로 이어집니다. Oracle이 Standby를 둘 이상 두라고 권하는 이유가 여기에 있습니다. 마지막 동기 Standby를 SHUTDOWN으로 내리려 하면 ORA-01154로 거부되므로, Standby 유지 보수는 모드를 Maximum Availability로 내리는 것부터 시작해야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읽을 때 Maximum Availability의 무손실 조건을 정확히 보아야 합니다. SYNC AFFIRM을 쓰면 단일 장애에서 무손실이고, SYNC NOAFFIRM이면 여러 사이트가 동시에 장애를 겪을 때 손실 가능성이 생깁니다. Maximum Protection만이 이중 장애에서도 무손실을 보장하는데, 그 대가가 Standby 장애 시 Primary 종료입니다. 세 모드 가운데 Standby 쪽 문제가 Primary 정지로 번지는 모드는 Maximum Protection 하나뿐입니다.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모드 정의를 장애 상황에 대입해 보면 차이가 훨씬 구체적으로 보입니다. Maximum Availability의 약점은 장애가 순서대로 두 번 올 때입니다. 네트워크가 먼저 끊겨 보호 수준이 내려간 사이에 Primary까지 잃으면, 끊긴 이후의 커밋은 Standby에 없습니다. Maximum Protection은 그 구간 자체를 만들지 않는 대신 Primary를 멈춥니다. 한 가지 덧붙이면, 손실 여부는 도착한 리두 기준입니다. 적용이 밀려 있어도 도착한 리두는 Failover 전에 모두 적용됩니다.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V$DATABASE의 두 열은 이름이 비슷해 한 열만 보는 경우가 많습니다. Maximum Availability에서 Standby가 끊기면 PROTECTION_MODE는 그대로 MAXIMUM AVAILABILITY이고 PROTECTION_LEVEL만 RESYNCHRONIZATION으로 내려갑니다. 업무는 아무 이상 없이 돌기 때문에, 감시 스크립트가 MODE만 보고 있으면 무손실 보장이 사라진 상태를 몇 주씩 모르고 지낼 수 있습니다. 두 열의 값이 서로 다른 상태가 일정 시간 이상 계속되면 경보를 내도록 만드는 것이 기본입니다.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RESYNCHRONIZATION이 보였다고 곧장 장애로 판단할 필요는 없습니다. 모드를 막 올린 직후나 Standby가 재기동한 직후에는 SYNC 전송이 자리를 잡는 동안 잠시 나타나며, 로그 스위치를 한 번 일으키면 대개 금방 사라집니다. 오래 남아 있다면 V$ARCHIVE_DEST에서 목적지 상태를 봅니다. ERROR와 ORA 번호가 있으면 네트워크나 Standby 쪽 장애이고, 오류는 없는데 목적지가 ASYNC라면 모드만 올리고 전송 속성을 바꾸지 않은 설정 실수입니다.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요건을 갖추지 않고 모드를 올리면 두 가지 결과가 나옵니다. Maximum Protection은 ORA-01126으로 거부되고, Maximum Availability는 명령은 성공하지만 PROTECTION_LEVEL이 RESYNCHRONIZATION에 머물러 이름만 바뀐 상태가 됩니다. 후자가 더 위험합니다. 오류가 없으니 작업자는 끝났다고 생각하기 쉽기 때문입니다. Primary 쪽 SRL과 Standby 쪽 목적지는 지금 당장 쓰이지 않지만, Switchover 뒤에도 같은 보호 모드를 유지하려면 함께 갖춰야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 자체는 짧지만 그 앞뒤가 중요합니다. 앞에서는 목적지 문자열을 모드에 맞게 바꾸고, 뒤에서는 ALTER SYSTEM ARCHIVE LOG CURRENT로 로그 스위치를 한 번 일으킨 다음 V$DATABASE의 두 열을 함께 확인합니다. Performance와 Availability 사이는 열린 상태에서 자유롭게 오르내릴 수 있습니다. Broker가 관리하는 구성이라면 SQL로 모드나 목적지를 바꾸면 안 됩니다. Broker가 자기 속성 값으로 다시 덮어쓰고 불일치 경고를 남기기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ORA-01126의 메시지는 데이터베이스를 마운트 상태로 두라고 말합니다. 실제로 마운트 상태에서는 명령이 통과하지만, 요건 검사를 건너뛴 결과입니다. 요건이 갖춰지지 않은 채 Maximum Protection으로 Primary를 열면 동기화된 Standby가 없어 곧바로 멈출 수 있습니다. 열린 상태에서 거부당했다면 메시지대로 마운트하기보다 Maximum Availability로 먼저 올리고 PROTECTION_LEVEL이 MAXIMUM AVAILABILITY로 올라온 것을 확인한 뒤 다시 시도하는 것이 올바른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Broker를 쓰면 목적지 문자열을 직접 만들 일이 없습니다. Standby마다 LogXptMode를 정하면 Broker가 SYNC AFFIRM, SYNC NOAFFIRM, ASYNC NOAFFIRM 가운데 맞는 문자열을 만들어 넣습니다. 이때 현재 Primary의 LogXptMode도 함께 지정하는데, 이 값은 역할이 바뀌어 Standby가 Primary가 되었을 때 옛 Primary로 향하는 목적지에 쓰입니다. Broker 구성 생성과 속성 관리의 세부는 13장과 14장에서 다루고, 여기서는 순서가 SQL과 같다는 것만 확인하면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모드는 DBA 혼자 정할 수 있는 값이 아닙니다. 업무 담당자에게 Primary가 사라졌을 때 마지막 몇 초 분량을 잃어도 되는지, 그리고 Standby 문제로 운영 DB가 멈춰도 되는지를 숫자로 물어야 합니다. 대부분의 업무는 서비스 중단이 더 큰 손해라서 Maximum Protection까지 가는 경우는 드뭅니다. 손실 한 건이 법적, 금전적으로 치명적인 결제 원장 같은 시스템에서만 Primary 정지 위험을 감수할 이유가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빛의 속도에는 한계가 있어서 거리가 멀어지면 왕복 지연은 줄일 방법이 없습니다. FASTSYNC는 Standby 디스크 쓰기 시간을 빼 주지만 네트워크 왕복은 그대로입니다. 원거리 재해 복구 Standby를 두면서 무손실도 원한다면, Primary 가까이에 Far Sync를 두고 SYNC로 받은 다음 먼 Standby로 ASYNC로 넘기는 구조를 씁니다. 반대로 대역폭이 좁으면 ASYNC라도 리두 생성 피크 때 lag가 쌓여 손실 범위가 커지므로, 피크 리두량과 링크 대역폭을 비교해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가까운 곳에 SYNC Standby, 먼 곳에 ASYNC Standby를 두고 Maximum Availability로 운영하는 구성이 가장 흔합니다. 가까운 Standby는 무손실 Failover와 백업, 조회 분산을 맡고, 먼 Standby는 지역 전체 재해에 대비합니다. 보호 모드는 동기화된 SYNC 목적지가 하나라도 있으면 성립하므로, 먼 ASYNC 쪽 링크가 끊겨도 보호 수준은 내려가지 않습니다. Maximum Protection을 고른다면 SYNC AFFIRM Standby를 반드시 둘 이상으로 늘립니다.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Fast-Start Failover는 Observer가 Primary 장애를 감지해 사람 대신 Failover를 실행하는 Broker 기능으로 16장에서 다룹니다. 보호 모드에 따라 자동 Failover가 허용하는 손실이 달라집니다. Maximum Availability에서는 동기화된 Standby로 무손실 전환을 하고, Maximum Performance에서는 미리 정한 lag 한도 안에 있을 때만 전환합니다. 자동 Failover까지 고려한다면 Maximum Availability에 SYNC나 FASTSYNC를 쓰는 조합이 가장 무난합니다.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예시는 출발점입니다. 같은 온라인 주문 시스템이라도 Standby가 같은 건물에 있으면 SYNC AFFIRM이 부담 없고, 다른 도시에 있으면 FASTSYNC도 무거울 수 있습니다. 처음에는 한 단계 낮은 모드로 운영하면서 transport lag와 log file sync 대기를 측정하고, 근거가 쌓이면 올리는 순서가 안전합니다. 결제 원장처럼 Maximum Protection을 검토하는 경우에도 Standby 장애로 Primary가 멈출 수 있다는 사실을 업무 쪽이 받아들였는지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문제들은 대부분 경보 없이 생깁니다. Maximum Availability가 RESYNCHRONIZATION으로 내려가도 업무는 정상이고, 대칭이 맞지 않는 목적지도 Switchover 전까지는 아무 증상이 없습니다. 정기 점검 항목에 두 열의 비교와 양쪽 목적지 문자열의 대조를 넣어 두는 것이 가장 확실한 대책입니다. NET_TIMEOUT을 바꿀 때는 Standby 장애 때 Primary가 멈출 수 있는 최대 시간도 함께 바뀐다는 사실을 변경 기록에 남겨 둡니다.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데이터 보호 모드와 리두 전송 서비스</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커밋은 어디까지 기다리는가, 무엇을 잃을 수 있는가</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제2장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전송 모드와 보호 모드의 관계를 설명한다</a:t>
            </a:r>
          </a:p>
          <a:p>
            <a:pPr algn="l">
              <a:spcAft>
                <a:spcPts val="1000"/>
              </a:spcAft>
            </a:pPr>
            <a:r>
              <a:rPr sz="1600" b="0">
                <a:solidFill>
                  <a:srgbClr val="222222"/>
                </a:solidFill>
                <a:latin typeface="맑은 고딕"/>
              </a:rPr>
              <a:t>•  NSS, TTnn, ARCn, RFS의 리두 경로를 그린다</a:t>
            </a:r>
          </a:p>
          <a:p>
            <a:pPr algn="l">
              <a:spcAft>
                <a:spcPts val="1000"/>
              </a:spcAft>
            </a:pPr>
            <a:r>
              <a:rPr sz="1600" b="0">
                <a:solidFill>
                  <a:srgbClr val="222222"/>
                </a:solidFill>
                <a:latin typeface="맑은 고딕"/>
              </a:rPr>
              <a:t>•  SYNC/ASYNC, AFFIRM/NOAFFIRM 조합을 비교한다</a:t>
            </a:r>
          </a:p>
          <a:p>
            <a:pPr algn="l">
              <a:spcAft>
                <a:spcPts val="1000"/>
              </a:spcAft>
            </a:pPr>
            <a:r>
              <a:rPr sz="1600" b="0">
                <a:solidFill>
                  <a:srgbClr val="222222"/>
                </a:solidFill>
                <a:latin typeface="맑은 고딕"/>
              </a:rPr>
              <a:t>•  LOG_ARCHIVE_DEST_n 주요 속성을 읽고 작성한다</a:t>
            </a:r>
          </a:p>
          <a:p>
            <a:pPr algn="l">
              <a:spcAft>
                <a:spcPts val="1000"/>
              </a:spcAft>
            </a:pPr>
            <a:r>
              <a:rPr sz="1600" b="0">
                <a:solidFill>
                  <a:srgbClr val="222222"/>
                </a:solidFill>
                <a:latin typeface="맑은 고딕"/>
              </a:rPr>
              <a:t>•  세 보호 모드의 손실 보장과 Primary 동작을 구분한다</a:t>
            </a:r>
          </a:p>
          <a:p>
            <a:pPr algn="l">
              <a:spcAft>
                <a:spcPts val="1000"/>
              </a:spcAft>
            </a:pPr>
            <a:r>
              <a:rPr sz="1600" b="0">
                <a:solidFill>
                  <a:srgbClr val="222222"/>
                </a:solidFill>
                <a:latin typeface="맑은 고딕"/>
              </a:rPr>
              <a:t>•  모드 전환 절차와 선택 기준을 적용한다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2.2  리두 전송 서비스의 구조</a:t>
            </a:r>
          </a:p>
          <a:p>
            <a:pPr algn="l">
              <a:spcAft>
                <a:spcPts val="1000"/>
              </a:spcAft>
            </a:pPr>
            <a:r>
              <a:rPr sz="1600" b="0">
                <a:solidFill>
                  <a:srgbClr val="222222"/>
                </a:solidFill>
                <a:latin typeface="맑은 고딕"/>
              </a:rPr>
              <a:t>•  2.3  전송 방식과 확인 응답</a:t>
            </a:r>
          </a:p>
          <a:p>
            <a:pPr algn="l">
              <a:spcAft>
                <a:spcPts val="1000"/>
              </a:spcAft>
            </a:pPr>
            <a:r>
              <a:rPr sz="1600" b="0">
                <a:solidFill>
                  <a:srgbClr val="222222"/>
                </a:solidFill>
                <a:latin typeface="맑은 고딕"/>
              </a:rPr>
              <a:t>•  2.4  LOG_ARCHIVE_DEST_n 주요 속성</a:t>
            </a:r>
          </a:p>
          <a:p>
            <a:pPr algn="l">
              <a:spcAft>
                <a:spcPts val="1000"/>
              </a:spcAft>
            </a:pPr>
            <a:r>
              <a:rPr sz="1600" b="0">
                <a:solidFill>
                  <a:srgbClr val="222222"/>
                </a:solidFill>
                <a:latin typeface="맑은 고딕"/>
              </a:rPr>
              <a:t>•  2.5  세 가지 데이터 보호 모드</a:t>
            </a:r>
          </a:p>
          <a:p>
            <a:pPr algn="l">
              <a:spcAft>
                <a:spcPts val="1000"/>
              </a:spcAft>
            </a:pPr>
            <a:r>
              <a:rPr sz="1600" b="0">
                <a:solidFill>
                  <a:srgbClr val="222222"/>
                </a:solidFill>
                <a:latin typeface="맑은 고딕"/>
              </a:rPr>
              <a:t>•  2.6  보호 모드 설정과 전환</a:t>
            </a:r>
          </a:p>
          <a:p>
            <a:pPr algn="l">
              <a:spcAft>
                <a:spcPts val="1000"/>
              </a:spcAft>
            </a:pPr>
            <a:r>
              <a:rPr sz="1600" b="0">
                <a:solidFill>
                  <a:srgbClr val="222222"/>
                </a:solidFill>
                <a:latin typeface="맑은 고딕"/>
              </a:rPr>
              <a:t>•  2.7  보호 모드 선택 기준  /  2.8  운영 시 주의점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리두 전송 서비스의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리두 소스와 리두 목적지</a:t>
            </a:r>
          </a:p>
          <a:p>
            <a:pPr algn="l">
              <a:spcAft>
                <a:spcPts val="800"/>
              </a:spcAft>
            </a:pPr>
            <a:r>
              <a:rPr sz="1600" b="0">
                <a:solidFill>
                  <a:srgbClr val="FFFFFF"/>
                </a:solidFill>
                <a:latin typeface="맑은 고딕"/>
              </a:rPr>
              <a:t>•  전송 프로세스와 SRL</a:t>
            </a:r>
          </a:p>
          <a:p>
            <a:pPr algn="l">
              <a:spcAft>
                <a:spcPts val="800"/>
              </a:spcAft>
            </a:pPr>
            <a:r>
              <a:rPr sz="1600" b="0">
                <a:solidFill>
                  <a:srgbClr val="FFFFFF"/>
                </a:solidFill>
                <a:latin typeface="맑은 고딕"/>
              </a:rPr>
              <a:t>•  전송 모드와 보호 모드의 관계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리두 소스와 리두 목적지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LOG_ARCHIVE_DEST_n 하나가 목적지 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소스: Primary, Far Sync, 캐스케이딩 Standby</a:t>
            </a:r>
          </a:p>
          <a:p>
            <a:pPr algn="l">
              <a:spcAft>
                <a:spcPts val="1000"/>
              </a:spcAft>
            </a:pPr>
            <a:r>
              <a:rPr sz="1700" b="0">
                <a:solidFill>
                  <a:srgbClr val="222222"/>
                </a:solidFill>
                <a:latin typeface="맑은 고딕"/>
              </a:rPr>
              <a:t>•  목적지: Standby, Far Sync, 로컬 아카이브</a:t>
            </a:r>
          </a:p>
          <a:p>
            <a:pPr algn="l">
              <a:spcAft>
                <a:spcPts val="1000"/>
              </a:spcAft>
            </a:pPr>
            <a:r>
              <a:rPr sz="1700" b="0">
                <a:solidFill>
                  <a:srgbClr val="222222"/>
                </a:solidFill>
                <a:latin typeface="맑은 고딕"/>
              </a:rPr>
              <a:t>•  LOG_ARCHIVE_DEST_1~31, 원격은 최대 30개</a:t>
            </a:r>
          </a:p>
          <a:p>
            <a:pPr algn="l">
              <a:spcAft>
                <a:spcPts val="1000"/>
              </a:spcAft>
            </a:pPr>
            <a:r>
              <a:rPr sz="1700" b="0">
                <a:solidFill>
                  <a:srgbClr val="222222"/>
                </a:solidFill>
                <a:latin typeface="맑은 고딕"/>
              </a:rPr>
              <a:t>•  전송은 SRL·아카이브 로그 기록으로 끝난다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쪽 전송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방식에 따라 일하는 프로세스가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LGWR: 로컬 기록, SYNC면 NSS 확인을 기다림</a:t>
            </a:r>
          </a:p>
          <a:p>
            <a:pPr algn="l">
              <a:spcAft>
                <a:spcPts val="1000"/>
              </a:spcAft>
            </a:pPr>
            <a:r>
              <a:rPr sz="1700" b="0">
                <a:solidFill>
                  <a:srgbClr val="222222"/>
                </a:solidFill>
                <a:latin typeface="맑은 고딕"/>
              </a:rPr>
              <a:t>•  NSSn: SYNC 목적지마다 하나, RFS로 즉시 전송</a:t>
            </a:r>
          </a:p>
          <a:p>
            <a:pPr algn="l">
              <a:spcAft>
                <a:spcPts val="1000"/>
              </a:spcAft>
            </a:pPr>
            <a:r>
              <a:rPr sz="1700" b="0">
                <a:solidFill>
                  <a:srgbClr val="222222"/>
                </a:solidFill>
                <a:latin typeface="맑은 고딕"/>
              </a:rPr>
              <a:t>•  TTnn: ASYNC 목적지, 버퍼나 온라인 로그에서 읽음</a:t>
            </a:r>
          </a:p>
          <a:p>
            <a:pPr algn="l">
              <a:spcAft>
                <a:spcPts val="1000"/>
              </a:spcAft>
            </a:pPr>
            <a:r>
              <a:rPr sz="1700" b="0">
                <a:solidFill>
                  <a:srgbClr val="222222"/>
                </a:solidFill>
                <a:latin typeface="맑은 고딕"/>
              </a:rPr>
              <a:t>•  ARCn: 로컬 아카이브와 갭 해소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수신과 SRL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RFS가 받아 SRL에 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전송 프로세스마다 RFS 하나</a:t>
            </a:r>
          </a:p>
          <a:p>
            <a:pPr algn="l">
              <a:spcAft>
                <a:spcPts val="1000"/>
              </a:spcAft>
            </a:pPr>
            <a:r>
              <a:rPr sz="1700" b="0">
                <a:solidFill>
                  <a:srgbClr val="222222"/>
                </a:solidFill>
                <a:latin typeface="맑은 고딕"/>
              </a:rPr>
              <a:t>•  SRL: 받은 리두 전용, 온라인 로그와 같은 크기</a:t>
            </a:r>
          </a:p>
          <a:p>
            <a:pPr algn="l">
              <a:spcAft>
                <a:spcPts val="1000"/>
              </a:spcAft>
            </a:pPr>
            <a:r>
              <a:rPr sz="1700" b="0">
                <a:solidFill>
                  <a:srgbClr val="222222"/>
                </a:solidFill>
                <a:latin typeface="맑은 고딕"/>
              </a:rPr>
              <a:t>•  SRL이 없으면 아카이브 로그에 직접 기록</a:t>
            </a:r>
          </a:p>
          <a:p>
            <a:pPr algn="l">
              <a:spcAft>
                <a:spcPts val="1000"/>
              </a:spcAft>
            </a:pPr>
            <a:r>
              <a:rPr sz="1700" b="0">
                <a:solidFill>
                  <a:srgbClr val="222222"/>
                </a:solidFill>
                <a:latin typeface="맑은 고딕"/>
              </a:rPr>
              <a:t>•  세 보호 모드 모두 SRL을 요건으로 둠</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전송 모드와 보호 모드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둘은 따로 설정한다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전송 모드: 목적지별 SYNC/ASYNC, AFFIRM</a:t>
            </a:r>
          </a:p>
          <a:p>
            <a:pPr algn="l">
              <a:spcAft>
                <a:spcPts val="1000"/>
              </a:spcAft>
            </a:pPr>
            <a:r>
              <a:rPr sz="1700" b="0">
                <a:solidFill>
                  <a:srgbClr val="222222"/>
                </a:solidFill>
                <a:latin typeface="맑은 고딕"/>
              </a:rPr>
              <a:t>•  보호 모드: 구성 전체 규칙, ALTER DATABASE로 설정</a:t>
            </a:r>
          </a:p>
          <a:p>
            <a:pPr algn="l">
              <a:spcAft>
                <a:spcPts val="1000"/>
              </a:spcAft>
            </a:pPr>
            <a:r>
              <a:rPr sz="1700" b="0">
                <a:solidFill>
                  <a:srgbClr val="222222"/>
                </a:solidFill>
                <a:latin typeface="맑은 고딕"/>
              </a:rPr>
              <a:t>•  보호 모드는 특정 전송 모드를 요구한다</a:t>
            </a:r>
          </a:p>
          <a:p>
            <a:pPr algn="l">
              <a:spcAft>
                <a:spcPts val="1000"/>
              </a:spcAft>
            </a:pPr>
            <a:r>
              <a:rPr sz="1700" b="0">
                <a:solidFill>
                  <a:srgbClr val="222222"/>
                </a:solidFill>
                <a:latin typeface="맑은 고딕"/>
              </a:rPr>
              <a:t>•  전송 모드만 바꿔서는 보호 모드가 정해지지 않음</a:t>
            </a:r>
          </a:p>
          <a:p>
            <a:pPr algn="l">
              <a:spcAft>
                <a:spcPts val="1000"/>
              </a:spcAft>
            </a:pPr>
            <a:r>
              <a:rPr sz="1700" b="0">
                <a:solidFill>
                  <a:srgbClr val="222222"/>
                </a:solidFill>
                <a:latin typeface="맑은 고딕"/>
              </a:rPr>
              <a:t>•  올릴 때 속성 먼저, 내릴 때 모드 먼저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커밋 하나가 지나가는 경로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Maximum Availability + SYNC 기준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LGWR가 로컬 쓰기와 NSS 전달을 동시에 시작</a:t>
            </a:r>
          </a:p>
          <a:p>
            <a:pPr algn="l">
              <a:spcAft>
                <a:spcPts val="1000"/>
              </a:spcAft>
            </a:pPr>
            <a:r>
              <a:rPr sz="1700" b="0">
                <a:solidFill>
                  <a:srgbClr val="222222"/>
                </a:solidFill>
                <a:latin typeface="맑은 고딕"/>
              </a:rPr>
              <a:t>•  NSS가 RFS로 리두 전송</a:t>
            </a:r>
          </a:p>
          <a:p>
            <a:pPr algn="l">
              <a:spcAft>
                <a:spcPts val="1000"/>
              </a:spcAft>
            </a:pPr>
            <a:r>
              <a:rPr sz="1700" b="0">
                <a:solidFill>
                  <a:srgbClr val="222222"/>
                </a:solidFill>
                <a:latin typeface="맑은 고딕"/>
              </a:rPr>
              <a:t>•  NOAFFIRM은 수신 즉시, AFFIRM은 SRL 기록 후 확인</a:t>
            </a:r>
          </a:p>
          <a:p>
            <a:pPr algn="l">
              <a:spcAft>
                <a:spcPts val="1000"/>
              </a:spcAft>
            </a:pPr>
            <a:r>
              <a:rPr sz="1700" b="0">
                <a:solidFill>
                  <a:srgbClr val="222222"/>
                </a:solidFill>
                <a:latin typeface="맑은 고딕"/>
              </a:rPr>
              <a:t>•  로컬 쓰기와 원격 확인이 모두 끝나야 커밋 완료</a:t>
            </a:r>
          </a:p>
          <a:p>
            <a:pPr algn="l">
              <a:spcAft>
                <a:spcPts val="1000"/>
              </a:spcAft>
            </a:pPr>
            <a:r>
              <a:rPr sz="1700" b="0">
                <a:solidFill>
                  <a:srgbClr val="222222"/>
                </a:solidFill>
                <a:latin typeface="맑은 고딕"/>
              </a:rPr>
              <a:t>•  ASYNC면 로컬 쓰기에서 커밋이 끝난다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전송 방식과 확인 응답</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SYNC와 ASYNC</a:t>
            </a:r>
          </a:p>
          <a:p>
            <a:pPr algn="l">
              <a:spcAft>
                <a:spcPts val="800"/>
              </a:spcAft>
            </a:pPr>
            <a:r>
              <a:rPr sz="1600" b="0">
                <a:solidFill>
                  <a:srgbClr val="FFFFFF"/>
                </a:solidFill>
                <a:latin typeface="맑은 고딕"/>
              </a:rPr>
              <a:t>•  AFFIRM과 NOAFFIRM, FASTSYNC</a:t>
            </a:r>
          </a:p>
          <a:p>
            <a:pPr algn="l">
              <a:spcAft>
                <a:spcPts val="800"/>
              </a:spcAft>
            </a:pPr>
            <a:r>
              <a:rPr sz="1600" b="0">
                <a:solidFill>
                  <a:srgbClr val="FFFFFF"/>
                </a:solidFill>
                <a:latin typeface="맑은 고딕"/>
              </a:rPr>
              <a:t>•  조합별 비용과 손실 가능성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SYNC</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커밋이 Standby 확인을 기다린다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목적지 도착 확인 후에 커밋 완료</a:t>
            </a:r>
          </a:p>
          <a:p>
            <a:pPr algn="l">
              <a:spcAft>
                <a:spcPts val="1000"/>
              </a:spcAft>
            </a:pPr>
            <a:r>
              <a:rPr sz="1700" b="0">
                <a:solidFill>
                  <a:srgbClr val="222222"/>
                </a:solidFill>
                <a:latin typeface="맑은 고딕"/>
              </a:rPr>
              <a:t>•  활성 SYNC 목적지 모두를 기다림</a:t>
            </a:r>
          </a:p>
          <a:p>
            <a:pPr algn="l">
              <a:spcAft>
                <a:spcPts val="1000"/>
              </a:spcAft>
            </a:pPr>
            <a:r>
              <a:rPr sz="1700" b="0">
                <a:solidFill>
                  <a:srgbClr val="222222"/>
                </a:solidFill>
                <a:latin typeface="맑은 고딕"/>
              </a:rPr>
              <a:t>•  로컬 쓰기와 원격 전송은 병렬 진행</a:t>
            </a:r>
          </a:p>
          <a:p>
            <a:pPr algn="l">
              <a:spcAft>
                <a:spcPts val="1000"/>
              </a:spcAft>
            </a:pPr>
            <a:r>
              <a:rPr sz="1700" b="0">
                <a:solidFill>
                  <a:srgbClr val="222222"/>
                </a:solidFill>
                <a:latin typeface="맑은 고딕"/>
              </a:rPr>
              <a:t>•  비용은 log file sync 대기 증가로 드러남</a:t>
            </a:r>
          </a:p>
          <a:p>
            <a:pPr algn="l">
              <a:spcAft>
                <a:spcPts val="1000"/>
              </a:spcAft>
            </a:pPr>
            <a:r>
              <a:rPr sz="1700" b="0">
                <a:solidFill>
                  <a:srgbClr val="222222"/>
                </a:solidFill>
                <a:latin typeface="맑은 고딕"/>
              </a:rPr>
              <a:t>•  거리와 커밋 빈도가 클수록 영향 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ASYNC</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커밋은 기다리지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기본값, 로컬 기록 즉시 커밋</a:t>
            </a:r>
          </a:p>
          <a:p>
            <a:pPr algn="l">
              <a:spcAft>
                <a:spcPts val="1000"/>
              </a:spcAft>
            </a:pPr>
            <a:r>
              <a:rPr sz="1700" b="0">
                <a:solidFill>
                  <a:srgbClr val="222222"/>
                </a:solidFill>
                <a:latin typeface="맑은 고딕"/>
              </a:rPr>
              <a:t>•  TTnn이 뒤따라 전송</a:t>
            </a:r>
          </a:p>
          <a:p>
            <a:pPr algn="l">
              <a:spcAft>
                <a:spcPts val="1000"/>
              </a:spcAft>
            </a:pPr>
            <a:r>
              <a:rPr sz="1700" b="0">
                <a:solidFill>
                  <a:srgbClr val="222222"/>
                </a:solidFill>
                <a:latin typeface="맑은 고딕"/>
              </a:rPr>
              <a:t>•  손실 범위 = 그 시점의 transport lag</a:t>
            </a:r>
          </a:p>
          <a:p>
            <a:pPr algn="l">
              <a:spcAft>
                <a:spcPts val="1000"/>
              </a:spcAft>
            </a:pPr>
            <a:r>
              <a:rPr sz="1700" b="0">
                <a:solidFill>
                  <a:srgbClr val="222222"/>
                </a:solidFill>
                <a:latin typeface="맑은 고딕"/>
              </a:rPr>
              <a:t>•  네트워크 지연이 커밋 시간에 붙지 않음</a:t>
            </a:r>
          </a:p>
          <a:p>
            <a:pPr algn="l">
              <a:spcAft>
                <a:spcPts val="1000"/>
              </a:spcAft>
            </a:pPr>
            <a:r>
              <a:rPr sz="1700" b="0">
                <a:solidFill>
                  <a:srgbClr val="222222"/>
                </a:solidFill>
                <a:latin typeface="맑은 고딕"/>
              </a:rPr>
              <a:t>•  밀리면 온라인 로그 읽기 부하 발생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AFFIRM과 NOAFFIRM</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확인 응답을 언제 보내는가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AFFIRM: SRL 쓰기 완료 후 확인</a:t>
            </a:r>
          </a:p>
          <a:p>
            <a:pPr algn="l">
              <a:spcAft>
                <a:spcPts val="1000"/>
              </a:spcAft>
            </a:pPr>
            <a:r>
              <a:rPr sz="1700" b="0">
                <a:solidFill>
                  <a:srgbClr val="222222"/>
                </a:solidFill>
                <a:latin typeface="맑은 고딕"/>
              </a:rPr>
              <a:t>•  NOAFFIRM: 수신 즉시, 쓰기 완료 전 확인</a:t>
            </a:r>
          </a:p>
          <a:p>
            <a:pPr algn="l">
              <a:spcAft>
                <a:spcPts val="1000"/>
              </a:spcAft>
            </a:pPr>
            <a:r>
              <a:rPr sz="1700" b="0">
                <a:solidFill>
                  <a:srgbClr val="222222"/>
                </a:solidFill>
                <a:latin typeface="맑은 고딕"/>
              </a:rPr>
              <a:t>•  기본값: SYNC는 AFFIRM, ASYNC는 NOAFFIRM</a:t>
            </a:r>
          </a:p>
          <a:p>
            <a:pPr algn="l">
              <a:spcAft>
                <a:spcPts val="1000"/>
              </a:spcAft>
            </a:pPr>
            <a:r>
              <a:rPr sz="1700" b="0">
                <a:solidFill>
                  <a:srgbClr val="222222"/>
                </a:solidFill>
                <a:latin typeface="맑은 고딕"/>
              </a:rPr>
              <a:t>•  ASYNC AFFIRM은 디프리케이트</a:t>
            </a:r>
          </a:p>
          <a:p>
            <a:pPr algn="l">
              <a:spcAft>
                <a:spcPts val="1000"/>
              </a:spcAft>
            </a:pPr>
            <a:r>
              <a:rPr sz="1700" b="0">
                <a:solidFill>
                  <a:srgbClr val="222222"/>
                </a:solidFill>
                <a:latin typeface="맑은 고딕"/>
              </a:rPr>
              <a:t>•  NOAFFIRM 위험: 확인 직후 Standby도 장애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FASTSYNC</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SYNC NOAFFIRM에 붙인 이름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파라미터 키워드는 없고 Broker LogXptMode 값</a:t>
            </a:r>
          </a:p>
          <a:p>
            <a:pPr algn="l">
              <a:spcAft>
                <a:spcPts val="1000"/>
              </a:spcAft>
            </a:pPr>
            <a:r>
              <a:rPr sz="1700" b="0">
                <a:solidFill>
                  <a:srgbClr val="222222"/>
                </a:solidFill>
                <a:latin typeface="맑은 고딕"/>
              </a:rPr>
              <a:t>•  커밋 경로에서 Standby 디스크 I/O 제외</a:t>
            </a:r>
          </a:p>
          <a:p>
            <a:pPr algn="l">
              <a:spcAft>
                <a:spcPts val="1000"/>
              </a:spcAft>
            </a:pPr>
            <a:r>
              <a:rPr sz="1700" b="0">
                <a:solidFill>
                  <a:srgbClr val="222222"/>
                </a:solidFill>
                <a:latin typeface="맑은 고딕"/>
              </a:rPr>
              <a:t>•  같은 지연 예산으로 조금 더 먼 거리 가능</a:t>
            </a:r>
          </a:p>
          <a:p>
            <a:pPr algn="l">
              <a:spcAft>
                <a:spcPts val="1000"/>
              </a:spcAft>
            </a:pPr>
            <a:r>
              <a:rPr sz="1700" b="0">
                <a:solidFill>
                  <a:srgbClr val="222222"/>
                </a:solidFill>
                <a:latin typeface="맑은 고딕"/>
              </a:rPr>
              <a:t>•  Maximum Availability 전용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네 가지 조합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손실 가능성과 비용의 맞바꿈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SYNC AFFIRM: SRL 기록 확인, 단일 장애 무손실</a:t>
            </a:r>
          </a:p>
          <a:p>
            <a:pPr algn="l">
              <a:spcAft>
                <a:spcPts val="1000"/>
              </a:spcAft>
            </a:pPr>
            <a:r>
              <a:rPr sz="1700" b="0">
                <a:solidFill>
                  <a:srgbClr val="222222"/>
                </a:solidFill>
                <a:latin typeface="맑은 고딕"/>
              </a:rPr>
              <a:t>•  SYNC NOAFFIRM: 수신 확인, 동시 장애 때만 손실</a:t>
            </a:r>
          </a:p>
          <a:p>
            <a:pPr algn="l">
              <a:spcAft>
                <a:spcPts val="1000"/>
              </a:spcAft>
            </a:pPr>
            <a:r>
              <a:rPr sz="1700" b="0">
                <a:solidFill>
                  <a:srgbClr val="222222"/>
                </a:solidFill>
                <a:latin typeface="맑은 고딕"/>
              </a:rPr>
              <a:t>•  ASYNC NOAFFIRM: 기다림 없음, lag만큼 손실</a:t>
            </a:r>
          </a:p>
          <a:p>
            <a:pPr algn="l">
              <a:spcAft>
                <a:spcPts val="1000"/>
              </a:spcAft>
            </a:pPr>
            <a:r>
              <a:rPr sz="1700" b="0">
                <a:solidFill>
                  <a:srgbClr val="222222"/>
                </a:solidFill>
                <a:latin typeface="맑은 고딕"/>
              </a:rPr>
              <a:t>•  ASYNC AFFIRM: 디프리케이트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SYNC 목적지가 여럿일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느린 목적지가 커밋 시간을 정한다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활성 SYNC 목적지 모두의 확인을 기다림</a:t>
            </a:r>
          </a:p>
          <a:p>
            <a:pPr algn="l">
              <a:spcAft>
                <a:spcPts val="1000"/>
              </a:spcAft>
            </a:pPr>
            <a:r>
              <a:rPr sz="1700" b="0">
                <a:solidFill>
                  <a:srgbClr val="222222"/>
                </a:solidFill>
                <a:latin typeface="맑은 고딕"/>
              </a:rPr>
              <a:t>•  하나가 NET_TIMEOUT을 넘기면 그것만 실패 처리</a:t>
            </a:r>
          </a:p>
          <a:p>
            <a:pPr algn="l">
              <a:spcAft>
                <a:spcPts val="1000"/>
              </a:spcAft>
            </a:pPr>
            <a:r>
              <a:rPr sz="1700" b="0">
                <a:solidFill>
                  <a:srgbClr val="222222"/>
                </a:solidFill>
                <a:latin typeface="맑은 고딕"/>
              </a:rPr>
              <a:t>•  보호 판단은 동기화된 목적지 하나로 충분</a:t>
            </a:r>
          </a:p>
          <a:p>
            <a:pPr algn="l">
              <a:spcAft>
                <a:spcPts val="1000"/>
              </a:spcAft>
            </a:pPr>
            <a:r>
              <a:rPr sz="1700" b="0">
                <a:solidFill>
                  <a:srgbClr val="222222"/>
                </a:solidFill>
                <a:latin typeface="맑은 고딕"/>
              </a:rPr>
              <a:t>•  먼 목적지는 ASYNC로 두는 편이 낫다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 전에 잴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숫자로 비용을 예상한다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Primary와 Standby 사이 왕복 지연</a:t>
            </a:r>
          </a:p>
          <a:p>
            <a:pPr algn="l">
              <a:spcAft>
                <a:spcPts val="1000"/>
              </a:spcAft>
            </a:pPr>
            <a:r>
              <a:rPr sz="1700" b="0">
                <a:solidFill>
                  <a:srgbClr val="222222"/>
                </a:solidFill>
                <a:latin typeface="맑은 고딕"/>
              </a:rPr>
              <a:t>•  업무 피크 시간의 초당 커밋 수</a:t>
            </a:r>
          </a:p>
          <a:p>
            <a:pPr algn="l">
              <a:spcAft>
                <a:spcPts val="1000"/>
              </a:spcAft>
            </a:pPr>
            <a:r>
              <a:rPr sz="1700" b="0">
                <a:solidFill>
                  <a:srgbClr val="222222"/>
                </a:solidFill>
                <a:latin typeface="맑은 고딕"/>
              </a:rPr>
              <a:t>•  전환 전후 log file sync 평균 대기</a:t>
            </a:r>
          </a:p>
          <a:p>
            <a:pPr algn="l">
              <a:spcAft>
                <a:spcPts val="1000"/>
              </a:spcAft>
            </a:pPr>
            <a:r>
              <a:rPr sz="1700" b="0">
                <a:solidFill>
                  <a:srgbClr val="222222"/>
                </a:solidFill>
                <a:latin typeface="맑은 고딕"/>
              </a:rPr>
              <a:t>•  허용 범위 초과 시 FASTSYNC나 Far Sync 검토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LOG_ARCHIVE_DEST_n 주요 속성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목적지 정의와 식별</a:t>
            </a:r>
          </a:p>
          <a:p>
            <a:pPr algn="l">
              <a:spcAft>
                <a:spcPts val="800"/>
              </a:spcAft>
            </a:pPr>
            <a:r>
              <a:rPr sz="1600" b="0">
                <a:solidFill>
                  <a:srgbClr val="FFFFFF"/>
                </a:solidFill>
                <a:latin typeface="맑은 고딕"/>
              </a:rPr>
              <a:t>•  VALID_FOR와 역할 전환</a:t>
            </a:r>
          </a:p>
          <a:p>
            <a:pPr algn="l">
              <a:spcAft>
                <a:spcPts val="800"/>
              </a:spcAft>
            </a:pPr>
            <a:r>
              <a:rPr sz="1600" b="0">
                <a:solidFill>
                  <a:srgbClr val="FFFFFF"/>
                </a:solidFill>
                <a:latin typeface="맑은 고딕"/>
              </a:rPr>
              <a:t>•  실패 처리와 확인 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목적지 정의의 기본 형태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LOCATION 또는 SERVICE는 필수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SERVICE=Net 서비스 이름, LOCATION=로컬 경로</a:t>
            </a:r>
          </a:p>
          <a:p>
            <a:pPr algn="l">
              <a:spcAft>
                <a:spcPts val="1000"/>
              </a:spcAft>
            </a:pPr>
            <a:r>
              <a:rPr sz="1700" b="0">
                <a:solidFill>
                  <a:srgbClr val="222222"/>
                </a:solidFill>
                <a:latin typeface="맑은 고딕"/>
              </a:rPr>
              <a:t>•  목적지마다 LOG_ARCHIVE_DEST_STATE_n (기본 ENABLE)</a:t>
            </a:r>
          </a:p>
          <a:p>
            <a:pPr algn="l">
              <a:spcAft>
                <a:spcPts val="1000"/>
              </a:spcAft>
            </a:pPr>
            <a:r>
              <a:rPr sz="1700" b="0">
                <a:solidFill>
                  <a:srgbClr val="222222"/>
                </a:solidFill>
                <a:latin typeface="맑은 고딕"/>
              </a:rPr>
              <a:t>•  DEFER: 정의는 두고 전송만 멈춤</a:t>
            </a:r>
          </a:p>
          <a:p>
            <a:pPr algn="l">
              <a:spcAft>
                <a:spcPts val="1000"/>
              </a:spcAft>
            </a:pPr>
            <a:r>
              <a:rPr sz="1700" b="0">
                <a:solidFill>
                  <a:srgbClr val="222222"/>
                </a:solidFill>
                <a:latin typeface="맑은 고딕"/>
              </a:rPr>
              <a:t>•  속성 하나만 바꾸는 문법 없음, 문자열 전체 재지정</a:t>
            </a:r>
          </a:p>
          <a:p>
            <a:pPr algn="l">
              <a:spcAft>
                <a:spcPts val="1000"/>
              </a:spcAft>
            </a:pPr>
            <a:r>
              <a:rPr sz="1700" b="0">
                <a:solidFill>
                  <a:srgbClr val="222222"/>
                </a:solidFill>
                <a:latin typeface="맑은 고딕"/>
              </a:rPr>
              <a:t>•  철자 오류는 ORA-16024로 거부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DB_UNIQUE_NAME과 LOG_ARCHIVE_CONFIG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목적지가 누구인지 밝힌다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받는 쪽 DB_UNIQUE_NAME 값과 일치해야 함</a:t>
            </a:r>
          </a:p>
          <a:p>
            <a:pPr algn="l">
              <a:spcAft>
                <a:spcPts val="1000"/>
              </a:spcAft>
            </a:pPr>
            <a:r>
              <a:rPr sz="1700" b="0">
                <a:solidFill>
                  <a:srgbClr val="222222"/>
                </a:solidFill>
                <a:latin typeface="맑은 고딕"/>
              </a:rPr>
              <a:t>•  DB_NAME이 같은 Primary·Standby를 구분</a:t>
            </a:r>
          </a:p>
          <a:p>
            <a:pPr algn="l">
              <a:spcAft>
                <a:spcPts val="1000"/>
              </a:spcAft>
            </a:pPr>
            <a:r>
              <a:rPr sz="1700" b="0">
                <a:solidFill>
                  <a:srgbClr val="222222"/>
                </a:solidFill>
                <a:latin typeface="맑은 고딕"/>
              </a:rPr>
              <a:t>•  DG_CONFIG 목록에 없으면 ORA-16053</a:t>
            </a:r>
          </a:p>
          <a:p>
            <a:pPr algn="l">
              <a:spcAft>
                <a:spcPts val="1000"/>
              </a:spcAft>
            </a:pPr>
            <a:r>
              <a:rPr sz="1700" b="0">
                <a:solidFill>
                  <a:srgbClr val="222222"/>
                </a:solidFill>
                <a:latin typeface="맑은 고딕"/>
              </a:rPr>
              <a:t>•  등록 목록은 V$DATAGUARD_CONFIG로 확인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VALID_FOR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역할에 따라 목적지를 켜고 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(로그 유형, 역할) 한 쌍으로 지정</a:t>
            </a:r>
          </a:p>
          <a:p>
            <a:pPr algn="l">
              <a:spcAft>
                <a:spcPts val="1000"/>
              </a:spcAft>
            </a:pPr>
            <a:r>
              <a:rPr sz="1700" b="0">
                <a:solidFill>
                  <a:srgbClr val="222222"/>
                </a:solidFill>
                <a:latin typeface="맑은 고딕"/>
              </a:rPr>
              <a:t>•  로그: ONLINE / STANDBY / ALL_LOGFILES</a:t>
            </a:r>
          </a:p>
          <a:p>
            <a:pPr algn="l">
              <a:spcAft>
                <a:spcPts val="1000"/>
              </a:spcAft>
            </a:pPr>
            <a:r>
              <a:rPr sz="1700" b="0">
                <a:solidFill>
                  <a:srgbClr val="222222"/>
                </a:solidFill>
                <a:latin typeface="맑은 고딕"/>
              </a:rPr>
              <a:t>•  역할: PRIMARY / STANDBY / ALL_ROLES</a:t>
            </a:r>
          </a:p>
          <a:p>
            <a:pPr algn="l">
              <a:spcAft>
                <a:spcPts val="1000"/>
              </a:spcAft>
            </a:pPr>
            <a:r>
              <a:rPr sz="1700" b="0">
                <a:solidFill>
                  <a:srgbClr val="222222"/>
                </a:solidFill>
                <a:latin typeface="맑은 고딕"/>
              </a:rPr>
              <a:t>•  맞지 않는 목적지는 오류 없이 무시</a:t>
            </a:r>
          </a:p>
          <a:p>
            <a:pPr algn="l">
              <a:spcAft>
                <a:spcPts val="1000"/>
              </a:spcAft>
            </a:pPr>
            <a:r>
              <a:rPr sz="1700" b="0">
                <a:solidFill>
                  <a:srgbClr val="222222"/>
                </a:solidFill>
                <a:latin typeface="맑은 고딕"/>
              </a:rPr>
              <a:t>•  역할 전환 뒤 자동으로 쓰이기 시작</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VALID_FOR 조합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유일하게 잘못된 조합은 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원격 목적지 일반형: ONLINE_LOGFILES, PRIMARY_ROLE</a:t>
            </a:r>
          </a:p>
          <a:p>
            <a:pPr algn="l">
              <a:spcAft>
                <a:spcPts val="1000"/>
              </a:spcAft>
            </a:pPr>
            <a:r>
              <a:rPr sz="1700" b="0">
                <a:solidFill>
                  <a:srgbClr val="222222"/>
                </a:solidFill>
                <a:latin typeface="맑은 고딕"/>
              </a:rPr>
              <a:t>•  로컬 아카이브: ALL_LOGFILES, ALL_ROLES</a:t>
            </a:r>
          </a:p>
          <a:p>
            <a:pPr algn="l">
              <a:spcAft>
                <a:spcPts val="1000"/>
              </a:spcAft>
            </a:pPr>
            <a:r>
              <a:rPr sz="1700" b="0">
                <a:solidFill>
                  <a:srgbClr val="222222"/>
                </a:solidFill>
                <a:latin typeface="맑은 고딕"/>
              </a:rPr>
              <a:t>•  STANDBY_LOGFILE, PRIMARY_ROLE은 ORA-16026</a:t>
            </a:r>
          </a:p>
          <a:p>
            <a:pPr algn="l">
              <a:spcAft>
                <a:spcPts val="1000"/>
              </a:spcAft>
            </a:pPr>
            <a:r>
              <a:rPr sz="1700" b="0">
                <a:solidFill>
                  <a:srgbClr val="222222"/>
                </a:solidFill>
                <a:latin typeface="맑은 고딕"/>
              </a:rPr>
              <a:t>•  ONLINE_LOGFILE, STANDBY_ROLE은 논리 Standby 전용</a:t>
            </a:r>
          </a:p>
          <a:p>
            <a:pPr algn="l">
              <a:spcAft>
                <a:spcPts val="1000"/>
              </a:spcAft>
            </a:pPr>
            <a:r>
              <a:rPr sz="1700" b="0">
                <a:solidFill>
                  <a:srgbClr val="222222"/>
                </a:solidFill>
                <a:latin typeface="맑은 고딕"/>
              </a:rPr>
              <a:t>•  생략 시 ALL_LOGFILES, ALL_ROLES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NET_TIMEOUT과 REOPEN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얼마나 기다리고 언제 다시 시도하나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NET_TIMEOUT: SYNC 응답 대기 상한, 기본 30초</a:t>
            </a:r>
          </a:p>
          <a:p>
            <a:pPr algn="l">
              <a:spcAft>
                <a:spcPts val="1000"/>
              </a:spcAft>
            </a:pPr>
            <a:r>
              <a:rPr sz="1700" b="0">
                <a:solidFill>
                  <a:srgbClr val="222222"/>
                </a:solidFill>
                <a:latin typeface="맑은 고딕"/>
              </a:rPr>
              <a:t>•  범위 1~1200초, TCP의 긴 타임아웃 회피</a:t>
            </a:r>
          </a:p>
          <a:p>
            <a:pPr algn="l">
              <a:spcAft>
                <a:spcPts val="1000"/>
              </a:spcAft>
            </a:pPr>
            <a:r>
              <a:rPr sz="1700" b="0">
                <a:solidFill>
                  <a:srgbClr val="222222"/>
                </a:solidFill>
                <a:latin typeface="맑은 고딕"/>
              </a:rPr>
              <a:t>•  Maximum Availability의 커밋 정지 시간 상한</a:t>
            </a:r>
          </a:p>
          <a:p>
            <a:pPr algn="l">
              <a:spcAft>
                <a:spcPts val="1000"/>
              </a:spcAft>
            </a:pPr>
            <a:r>
              <a:rPr sz="1700" b="0">
                <a:solidFill>
                  <a:srgbClr val="222222"/>
                </a:solidFill>
                <a:latin typeface="맑은 고딕"/>
              </a:rPr>
              <a:t>•  REOPEN: 재연결 최소 간격, 기본 300초</a:t>
            </a:r>
          </a:p>
          <a:p>
            <a:pPr algn="l">
              <a:spcAft>
                <a:spcPts val="1000"/>
              </a:spcAft>
            </a:pPr>
            <a:r>
              <a:rPr sz="1700" b="0">
                <a:solidFill>
                  <a:srgbClr val="222222"/>
                </a:solidFill>
                <a:latin typeface="맑은 고딕"/>
              </a:rPr>
              <a:t>•  재연결 후 밀린 로그는 갭 해소로 전송</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MAX_FAILURE, ALTERNATE, MANDATORY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포기와 대체, 강제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MAX_FAILURE: 연속 실패 허용 횟수, 기본 0(무제한)</a:t>
            </a:r>
          </a:p>
          <a:p>
            <a:pPr algn="l">
              <a:spcAft>
                <a:spcPts val="1000"/>
              </a:spcAft>
            </a:pPr>
            <a:r>
              <a:rPr sz="1700" b="0">
                <a:solidFill>
                  <a:srgbClr val="222222"/>
                </a:solidFill>
                <a:latin typeface="맑은 고딕"/>
              </a:rPr>
              <a:t>•  한도 도달 시 재시도 중단, ALTERNATE로 전환</a:t>
            </a:r>
          </a:p>
          <a:p>
            <a:pPr algn="l">
              <a:spcAft>
                <a:spcPts val="1000"/>
              </a:spcAft>
            </a:pPr>
            <a:r>
              <a:rPr sz="1700" b="0">
                <a:solidFill>
                  <a:srgbClr val="222222"/>
                </a:solidFill>
                <a:latin typeface="맑은 고딕"/>
              </a:rPr>
              <a:t>•  ALTERNATE: Far Sync 장애 대비 경로에 주로 사용</a:t>
            </a:r>
          </a:p>
          <a:p>
            <a:pPr algn="l">
              <a:spcAft>
                <a:spcPts val="1000"/>
              </a:spcAft>
            </a:pPr>
            <a:r>
              <a:rPr sz="1700" b="0">
                <a:solidFill>
                  <a:srgbClr val="222222"/>
                </a:solidFill>
                <a:latin typeface="맑은 고딕"/>
              </a:rPr>
              <a:t>•  MANDATORY 원격 목적지는 Primary 정지 위험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 밖의 속성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라이선스와 다른 장 몫을 구분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COMPRESSION=ENABLE: Advanced Compression 옵션 필요</a:t>
            </a:r>
          </a:p>
          <a:p>
            <a:pPr algn="l">
              <a:spcAft>
                <a:spcPts val="1000"/>
              </a:spcAft>
            </a:pPr>
            <a:r>
              <a:rPr sz="1700" b="0">
                <a:solidFill>
                  <a:srgbClr val="222222"/>
                </a:solidFill>
                <a:latin typeface="맑은 고딕"/>
              </a:rPr>
              <a:t>•  DELAY: 적용만 늦춤, 7장</a:t>
            </a:r>
          </a:p>
          <a:p>
            <a:pPr algn="l">
              <a:spcAft>
                <a:spcPts val="1000"/>
              </a:spcAft>
            </a:pPr>
            <a:r>
              <a:rPr sz="1700" b="0">
                <a:solidFill>
                  <a:srgbClr val="222222"/>
                </a:solidFill>
                <a:latin typeface="맑은 고딕"/>
              </a:rPr>
              <a:t>•  NOREGISTER: 일반 물리 Standby에서는 쓰지 않음</a:t>
            </a:r>
          </a:p>
          <a:p>
            <a:pPr algn="l">
              <a:spcAft>
                <a:spcPts val="1000"/>
              </a:spcAft>
            </a:pPr>
            <a:r>
              <a:rPr sz="1700" b="0">
                <a:solidFill>
                  <a:srgbClr val="222222"/>
                </a:solidFill>
                <a:latin typeface="맑은 고딕"/>
              </a:rPr>
              <a:t>•  Broker 속성: NetTimeout, ReopenSecs, RedoCompression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설정 결과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V$ARCHIVE_DEST로 해석 결과를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TRANSMIT_MODE, AFFIRM, NET_TIMEOUT, REOPEN_SECS</a:t>
            </a:r>
          </a:p>
          <a:p>
            <a:pPr algn="l">
              <a:spcAft>
                <a:spcPts val="1000"/>
              </a:spcAft>
            </a:pPr>
            <a:r>
              <a:rPr sz="1700" b="0">
                <a:solidFill>
                  <a:srgbClr val="222222"/>
                </a:solidFill>
                <a:latin typeface="맑은 고딕"/>
              </a:rPr>
              <a:t>•  VALID_NOW: YES 또는 WRONG VALID_ROLE 등</a:t>
            </a:r>
          </a:p>
          <a:p>
            <a:pPr algn="l">
              <a:spcAft>
                <a:spcPts val="1000"/>
              </a:spcAft>
            </a:pPr>
            <a:r>
              <a:rPr sz="1700" b="0">
                <a:solidFill>
                  <a:srgbClr val="222222"/>
                </a:solidFill>
                <a:latin typeface="맑은 고딕"/>
              </a:rPr>
              <a:t>•  STATUS와 ERROR로 연결 실패 확인</a:t>
            </a:r>
          </a:p>
          <a:p>
            <a:pPr algn="l">
              <a:spcAft>
                <a:spcPts val="1000"/>
              </a:spcAft>
            </a:pPr>
            <a:r>
              <a:rPr sz="1700" b="0">
                <a:solidFill>
                  <a:srgbClr val="222222"/>
                </a:solidFill>
                <a:latin typeface="맑은 고딕"/>
              </a:rPr>
              <a:t>•  동기화 여부는 V$ARCHIVE_DEST_STATUS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 전환을 대비한 대칭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거울처럼 같은 모양의 목적지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양쪽 dest_1: 로컬, ALL_LOGFILES, ALL_ROLES</a:t>
            </a:r>
          </a:p>
          <a:p>
            <a:pPr algn="l">
              <a:spcAft>
                <a:spcPts val="1000"/>
              </a:spcAft>
            </a:pPr>
            <a:r>
              <a:rPr sz="1700" b="0">
                <a:solidFill>
                  <a:srgbClr val="222222"/>
                </a:solidFill>
                <a:latin typeface="맑은 고딕"/>
              </a:rPr>
              <a:t>•  양쪽 dest_2: 상대 방향, ONLINE_LOGFILES, PRIMARY_ROLE</a:t>
            </a:r>
          </a:p>
          <a:p>
            <a:pPr algn="l">
              <a:spcAft>
                <a:spcPts val="1000"/>
              </a:spcAft>
            </a:pPr>
            <a:r>
              <a:rPr sz="1700" b="0">
                <a:solidFill>
                  <a:srgbClr val="222222"/>
                </a:solidFill>
                <a:latin typeface="맑은 고딕"/>
              </a:rPr>
              <a:t>•  전송 방식까지 대칭으로 맞춤</a:t>
            </a:r>
          </a:p>
          <a:p>
            <a:pPr algn="l">
              <a:spcAft>
                <a:spcPts val="1000"/>
              </a:spcAft>
            </a:pPr>
            <a:r>
              <a:rPr sz="1700" b="0">
                <a:solidFill>
                  <a:srgbClr val="222222"/>
                </a:solidFill>
                <a:latin typeface="맑은 고딕"/>
              </a:rPr>
              <a:t>•  비대칭이면 Switchover 후 보호 요건이 깨짐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세 가지 데이터 보호 모드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Performance, Availability, Protection</a:t>
            </a:r>
          </a:p>
          <a:p>
            <a:pPr algn="l">
              <a:spcAft>
                <a:spcPts val="800"/>
              </a:spcAft>
            </a:pPr>
            <a:r>
              <a:rPr sz="1600" b="0">
                <a:solidFill>
                  <a:srgbClr val="FFFFFF"/>
                </a:solidFill>
                <a:latin typeface="맑은 고딕"/>
              </a:rPr>
              <a:t>•  장애 유형별 결과</a:t>
            </a:r>
          </a:p>
          <a:p>
            <a:pPr algn="l">
              <a:spcAft>
                <a:spcPts val="800"/>
              </a:spcAft>
            </a:pPr>
            <a:r>
              <a:rPr sz="1600" b="0">
                <a:solidFill>
                  <a:srgbClr val="FFFFFF"/>
                </a:solidFill>
                <a:latin typeface="맑은 고딕"/>
              </a:rPr>
              <a:t>•  PROTECTION_MODE와 PROTECTION_LEVEL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Maximum Performance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기본 모드, Primary 성능 우선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로컬 기록 즉시 커밋</a:t>
            </a:r>
          </a:p>
          <a:p>
            <a:pPr algn="l">
              <a:spcAft>
                <a:spcPts val="1000"/>
              </a:spcAft>
            </a:pPr>
            <a:r>
              <a:rPr sz="1700" b="0">
                <a:solidFill>
                  <a:srgbClr val="222222"/>
                </a:solidFill>
                <a:latin typeface="맑은 고딕"/>
              </a:rPr>
              <a:t>•  Standby로는 비동기 전송</a:t>
            </a:r>
          </a:p>
          <a:p>
            <a:pPr algn="l">
              <a:spcAft>
                <a:spcPts val="1000"/>
              </a:spcAft>
            </a:pPr>
            <a:r>
              <a:rPr sz="1700" b="0">
                <a:solidFill>
                  <a:srgbClr val="222222"/>
                </a:solidFill>
                <a:latin typeface="맑은 고딕"/>
              </a:rPr>
              <a:t>•  손실 가능 범위 = transport lag</a:t>
            </a:r>
          </a:p>
          <a:p>
            <a:pPr algn="l">
              <a:spcAft>
                <a:spcPts val="1000"/>
              </a:spcAft>
            </a:pPr>
            <a:r>
              <a:rPr sz="1700" b="0">
                <a:solidFill>
                  <a:srgbClr val="222222"/>
                </a:solidFill>
                <a:latin typeface="맑은 고딕"/>
              </a:rPr>
              <a:t>•  요건: SRL, ASYNC 목적지 하나 이상</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Maximum Availability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가용성을 해치지 않는 최고 보호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로컬 기록 + Standby 확인 후 커밋</a:t>
            </a:r>
          </a:p>
          <a:p>
            <a:pPr algn="l">
              <a:spcAft>
                <a:spcPts val="1000"/>
              </a:spcAft>
            </a:pPr>
            <a:r>
              <a:rPr sz="1700" b="0">
                <a:solidFill>
                  <a:srgbClr val="222222"/>
                </a:solidFill>
                <a:latin typeface="맑은 고딕"/>
              </a:rPr>
              <a:t>•  응답 없으면 NET_TIMEOUT 후 계속 진행</a:t>
            </a:r>
          </a:p>
          <a:p>
            <a:pPr algn="l">
              <a:spcAft>
                <a:spcPts val="1000"/>
              </a:spcAft>
            </a:pPr>
            <a:r>
              <a:rPr sz="1700" b="0">
                <a:solidFill>
                  <a:srgbClr val="222222"/>
                </a:solidFill>
                <a:latin typeface="맑은 고딕"/>
              </a:rPr>
              <a:t>•  동기화 Standby가 없으면 비동기화 상태로 운영</a:t>
            </a:r>
          </a:p>
          <a:p>
            <a:pPr algn="l">
              <a:spcAft>
                <a:spcPts val="1000"/>
              </a:spcAft>
            </a:pPr>
            <a:r>
              <a:rPr sz="1700" b="0">
                <a:solidFill>
                  <a:srgbClr val="222222"/>
                </a:solidFill>
                <a:latin typeface="맑은 고딕"/>
              </a:rPr>
              <a:t>•  갭 해소 후 자동으로 원래 수준 복귀</a:t>
            </a:r>
          </a:p>
          <a:p>
            <a:pPr algn="l">
              <a:spcAft>
                <a:spcPts val="1000"/>
              </a:spcAft>
            </a:pPr>
            <a:r>
              <a:rPr sz="1700" b="0">
                <a:solidFill>
                  <a:srgbClr val="222222"/>
                </a:solidFill>
                <a:latin typeface="맑은 고딕"/>
              </a:rPr>
              <a:t>•  요건: SRL, SYNC(또는 FASTSYNC) 목적지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Maximum Protection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무손실을 위해 서비스를 포기한다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로컬 기록 + Standby SRL 기록 후 커밋</a:t>
            </a:r>
          </a:p>
          <a:p>
            <a:pPr algn="l">
              <a:spcAft>
                <a:spcPts val="1000"/>
              </a:spcAft>
            </a:pPr>
            <a:r>
              <a:rPr sz="1700" b="0">
                <a:solidFill>
                  <a:srgbClr val="222222"/>
                </a:solidFill>
                <a:latin typeface="맑은 고딕"/>
              </a:rPr>
              <a:t>•  동기화 Standby가 없으면 Primary 인스턴스 종료</a:t>
            </a:r>
          </a:p>
          <a:p>
            <a:pPr algn="l">
              <a:spcAft>
                <a:spcPts val="1000"/>
              </a:spcAft>
            </a:pPr>
            <a:r>
              <a:rPr sz="1700" b="0">
                <a:solidFill>
                  <a:srgbClr val="222222"/>
                </a:solidFill>
                <a:latin typeface="맑은 고딕"/>
              </a:rPr>
              <a:t>•  마지막 동기 Standby의 정상 종료는 거부(ORA-01154)</a:t>
            </a:r>
          </a:p>
          <a:p>
            <a:pPr algn="l">
              <a:spcAft>
                <a:spcPts val="1000"/>
              </a:spcAft>
            </a:pPr>
            <a:r>
              <a:rPr sz="1700" b="0">
                <a:solidFill>
                  <a:srgbClr val="222222"/>
                </a:solidFill>
                <a:latin typeface="맑은 고딕"/>
              </a:rPr>
              <a:t>•  Standby 2개 이상 권장, Far Sync 미지원</a:t>
            </a:r>
          </a:p>
          <a:p>
            <a:pPr algn="l">
              <a:spcAft>
                <a:spcPts val="1000"/>
              </a:spcAft>
            </a:pPr>
            <a:r>
              <a:rPr sz="1700" b="0">
                <a:solidFill>
                  <a:srgbClr val="222222"/>
                </a:solidFill>
                <a:latin typeface="맑은 고딕"/>
              </a:rPr>
              <a:t>•  요건: SRL, SYNC AFFIRM 목적지</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모드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위로 갈수록 Primary가 Standby에 묶인다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손실: 없음(이중 장애) / 없음(단일 장애) / lag만큼</a:t>
            </a:r>
          </a:p>
          <a:p>
            <a:pPr algn="l">
              <a:spcAft>
                <a:spcPts val="1000"/>
              </a:spcAft>
            </a:pPr>
            <a:r>
              <a:rPr sz="1700" b="0">
                <a:solidFill>
                  <a:srgbClr val="222222"/>
                </a:solidFill>
                <a:latin typeface="맑은 고딕"/>
              </a:rPr>
              <a:t>•  전송: SYNC AFFIRM / SYNC / ASYNC</a:t>
            </a:r>
          </a:p>
          <a:p>
            <a:pPr algn="l">
              <a:spcAft>
                <a:spcPts val="1000"/>
              </a:spcAft>
            </a:pPr>
            <a:r>
              <a:rPr sz="1700" b="0">
                <a:solidFill>
                  <a:srgbClr val="222222"/>
                </a:solidFill>
                <a:latin typeface="맑은 고딕"/>
              </a:rPr>
              <a:t>•  확인 없을 때: 종료 / NET_TIMEOUT 후 진행 / 무관</a:t>
            </a:r>
          </a:p>
          <a:p>
            <a:pPr algn="l">
              <a:spcAft>
                <a:spcPts val="1000"/>
              </a:spcAft>
            </a:pPr>
            <a:r>
              <a:rPr sz="1700" b="0">
                <a:solidFill>
                  <a:srgbClr val="222222"/>
                </a:solidFill>
                <a:latin typeface="맑은 고딕"/>
              </a:rPr>
              <a:t>•  성능 영향: 가장 큼 / 중간 / 거의 없음</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장애 유형별 결과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하나인 구성 기준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Primary만 장애: Protection·Availability 무손실</a:t>
            </a:r>
          </a:p>
          <a:p>
            <a:pPr algn="l">
              <a:spcAft>
                <a:spcPts val="1000"/>
              </a:spcAft>
            </a:pPr>
            <a:r>
              <a:rPr sz="1700" b="0">
                <a:solidFill>
                  <a:srgbClr val="222222"/>
                </a:solidFill>
                <a:latin typeface="맑은 고딕"/>
              </a:rPr>
              <a:t>•  Standby만 장애: Protection은 Primary 종료</a:t>
            </a:r>
          </a:p>
          <a:p>
            <a:pPr algn="l">
              <a:spcAft>
                <a:spcPts val="1000"/>
              </a:spcAft>
            </a:pPr>
            <a:r>
              <a:rPr sz="1700" b="0">
                <a:solidFill>
                  <a:srgbClr val="222222"/>
                </a:solidFill>
                <a:latin typeface="맑은 고딕"/>
              </a:rPr>
              <a:t>•  네트워크 단절: Availability는 보호 수준 하락</a:t>
            </a:r>
          </a:p>
          <a:p>
            <a:pPr algn="l">
              <a:spcAft>
                <a:spcPts val="1000"/>
              </a:spcAft>
            </a:pPr>
            <a:r>
              <a:rPr sz="1700" b="0">
                <a:solidFill>
                  <a:srgbClr val="222222"/>
                </a:solidFill>
                <a:latin typeface="맑은 고딕"/>
              </a:rPr>
              <a:t>•  단절 후 Primary 장애: 단절 이후 리두 손실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PROTECTION_MODE와 PROTECTION_LEVEL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설정값과 실제 달성 수준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MODE: 설정한 모드, LEVEL: 지금 달성한 수준</a:t>
            </a:r>
          </a:p>
          <a:p>
            <a:pPr algn="l">
              <a:spcAft>
                <a:spcPts val="1000"/>
              </a:spcAft>
            </a:pPr>
            <a:r>
              <a:rPr sz="1700" b="0">
                <a:solidFill>
                  <a:srgbClr val="222222"/>
                </a:solidFill>
                <a:latin typeface="맑은 고딕"/>
              </a:rPr>
              <a:t>•  평소에는 두 값이 같다</a:t>
            </a:r>
          </a:p>
          <a:p>
            <a:pPr algn="l">
              <a:spcAft>
                <a:spcPts val="1000"/>
              </a:spcAft>
            </a:pPr>
            <a:r>
              <a:rPr sz="1700" b="0">
                <a:solidFill>
                  <a:srgbClr val="222222"/>
                </a:solidFill>
                <a:latin typeface="맑은 고딕"/>
              </a:rPr>
              <a:t>•  동기화 Standby가 없으면 LEVEL이 RESYNCHRONIZATION</a:t>
            </a:r>
          </a:p>
          <a:p>
            <a:pPr algn="l">
              <a:spcAft>
                <a:spcPts val="1000"/>
              </a:spcAft>
            </a:pPr>
            <a:r>
              <a:rPr sz="1700" b="0">
                <a:solidFill>
                  <a:srgbClr val="222222"/>
                </a:solidFill>
                <a:latin typeface="맑은 고딕"/>
              </a:rPr>
              <a:t>•  MODE만 감시하면 보호 붕괴를 놓친다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RESYNCHRONIZATION 원인 구분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같은 값, 세 가지 원인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목적지 STATUS=ERROR와 ORA 번호: 전송 장애</a:t>
            </a:r>
          </a:p>
          <a:p>
            <a:pPr algn="l">
              <a:spcAft>
                <a:spcPts val="1000"/>
              </a:spcAft>
            </a:pPr>
            <a:r>
              <a:rPr sz="1700" b="0">
                <a:solidFill>
                  <a:srgbClr val="222222"/>
                </a:solidFill>
                <a:latin typeface="맑은 고딕"/>
              </a:rPr>
              <a:t>•  STATUS=VALID인데 SYNC 목적지 없음: 설정 요건 미충족</a:t>
            </a:r>
          </a:p>
          <a:p>
            <a:pPr algn="l">
              <a:spcAft>
                <a:spcPts val="1000"/>
              </a:spcAft>
            </a:pPr>
            <a:r>
              <a:rPr sz="1700" b="0">
                <a:solidFill>
                  <a:srgbClr val="222222"/>
                </a:solidFill>
                <a:latin typeface="맑은 고딕"/>
              </a:rPr>
              <a:t>•  잠깐 나타났다 사라짐: 정상적인 따라잡기</a:t>
            </a:r>
          </a:p>
          <a:p>
            <a:pPr algn="l">
              <a:spcAft>
                <a:spcPts val="1000"/>
              </a:spcAft>
            </a:pPr>
            <a:r>
              <a:rPr sz="1700" b="0">
                <a:solidFill>
                  <a:srgbClr val="222222"/>
                </a:solidFill>
                <a:latin typeface="맑은 고딕"/>
              </a:rPr>
              <a:t>•  모드 변경 직후 로그 스위치로 빨리 해소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보호 모드 설정과 전환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설정 전 요건</a:t>
            </a:r>
          </a:p>
          <a:p>
            <a:pPr algn="l">
              <a:spcAft>
                <a:spcPts val="800"/>
              </a:spcAft>
            </a:pPr>
            <a:r>
              <a:rPr sz="1600" b="0">
                <a:solidFill>
                  <a:srgbClr val="FFFFFF"/>
                </a:solidFill>
                <a:latin typeface="맑은 고딕"/>
              </a:rPr>
              <a:t>•  SQL과 Broker로 설정</a:t>
            </a:r>
          </a:p>
          <a:p>
            <a:pPr algn="l">
              <a:spcAft>
                <a:spcPts val="800"/>
              </a:spcAft>
            </a:pPr>
            <a:r>
              <a:rPr sz="1600" b="0">
                <a:solidFill>
                  <a:srgbClr val="FFFFFF"/>
                </a:solidFill>
                <a:latin typeface="맑은 고딕"/>
              </a:rPr>
              <a:t>•  Maximum Protection으로 가는 경로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설정 전 갖출 요건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요건 없이 올리면 거부되거나 이름만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대상 Standby의 SRL (V$STANDBY_LOG)</a:t>
            </a:r>
          </a:p>
          <a:p>
            <a:pPr algn="l">
              <a:spcAft>
                <a:spcPts val="1000"/>
              </a:spcAft>
            </a:pPr>
            <a:r>
              <a:rPr sz="1700" b="0">
                <a:solidFill>
                  <a:srgbClr val="222222"/>
                </a:solidFill>
                <a:latin typeface="맑은 고딕"/>
              </a:rPr>
              <a:t>•  Primary에도 SRL</a:t>
            </a:r>
          </a:p>
          <a:p>
            <a:pPr algn="l">
              <a:spcAft>
                <a:spcPts val="1000"/>
              </a:spcAft>
            </a:pPr>
            <a:r>
              <a:rPr sz="1700" b="0">
                <a:solidFill>
                  <a:srgbClr val="222222"/>
                </a:solidFill>
                <a:latin typeface="맑은 고딕"/>
              </a:rPr>
              <a:t>•  목적지 전송 속성을 모드에 맞게 변경</a:t>
            </a:r>
          </a:p>
          <a:p>
            <a:pPr algn="l">
              <a:spcAft>
                <a:spcPts val="1000"/>
              </a:spcAft>
            </a:pPr>
            <a:r>
              <a:rPr sz="1700" b="0">
                <a:solidFill>
                  <a:srgbClr val="222222"/>
                </a:solidFill>
                <a:latin typeface="맑은 고딕"/>
              </a:rPr>
              <a:t>•  Standby 쪽에도 상대 방향 목적지</a:t>
            </a:r>
          </a:p>
          <a:p>
            <a:pPr algn="l">
              <a:spcAft>
                <a:spcPts val="1000"/>
              </a:spcAft>
            </a:pPr>
            <a:r>
              <a:rPr sz="1700" b="0">
                <a:solidFill>
                  <a:srgbClr val="222222"/>
                </a:solidFill>
                <a:latin typeface="맑은 고딕"/>
              </a:rPr>
              <a:t>•  Redo Apply 동작, 갭 없음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SQL로 모드 변경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Primary에서 한 문장</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전송 속성 먼저: SYNC AFFIRM 등</a:t>
            </a:r>
          </a:p>
          <a:p>
            <a:pPr algn="l">
              <a:spcAft>
                <a:spcPts val="1000"/>
              </a:spcAft>
            </a:pPr>
            <a:r>
              <a:rPr sz="1700" b="0">
                <a:solidFill>
                  <a:srgbClr val="222222"/>
                </a:solidFill>
                <a:latin typeface="맑은 고딕"/>
              </a:rPr>
              <a:t>•  ALTER DATABASE SET STANDBY DATABASE TO MAXIMIZE ...</a:t>
            </a:r>
          </a:p>
          <a:p>
            <a:pPr algn="l">
              <a:spcAft>
                <a:spcPts val="1000"/>
              </a:spcAft>
            </a:pPr>
            <a:r>
              <a:rPr sz="1700" b="0">
                <a:solidFill>
                  <a:srgbClr val="222222"/>
                </a:solidFill>
                <a:latin typeface="맑은 고딕"/>
              </a:rPr>
              <a:t>•  키워드: PROTECTION, AVAILABILITY, PERFORMANCE</a:t>
            </a:r>
          </a:p>
          <a:p>
            <a:pPr algn="l">
              <a:spcAft>
                <a:spcPts val="1000"/>
              </a:spcAft>
            </a:pPr>
            <a:r>
              <a:rPr sz="1700" b="0">
                <a:solidFill>
                  <a:srgbClr val="222222"/>
                </a:solidFill>
                <a:latin typeface="맑은 고딕"/>
              </a:rPr>
              <a:t>•  제어 파일에 기록, 재기동 후에도 유지</a:t>
            </a:r>
          </a:p>
          <a:p>
            <a:pPr algn="l">
              <a:spcAft>
                <a:spcPts val="1000"/>
              </a:spcAft>
            </a:pPr>
            <a:r>
              <a:rPr sz="1700" b="0">
                <a:solidFill>
                  <a:srgbClr val="222222"/>
                </a:solidFill>
                <a:latin typeface="맑은 고딕"/>
              </a:rPr>
              <a:t>•  로그 스위치 후 PROTECTION_LEVEL 확인</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Maximum Protection으로 가는 경로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출발점은 동기화된 Maximum Availability</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Performance에서 직접: ORA-01126</a:t>
            </a:r>
          </a:p>
          <a:p>
            <a:pPr algn="l">
              <a:spcAft>
                <a:spcPts val="1000"/>
              </a:spcAft>
            </a:pPr>
            <a:r>
              <a:rPr sz="1700" b="0">
                <a:solidFill>
                  <a:srgbClr val="222222"/>
                </a:solidFill>
                <a:latin typeface="맑은 고딕"/>
              </a:rPr>
              <a:t>•  Availability라도 LEVEL이 RESYNC면: ORA-01126</a:t>
            </a:r>
          </a:p>
          <a:p>
            <a:pPr algn="l">
              <a:spcAft>
                <a:spcPts val="1000"/>
              </a:spcAft>
            </a:pPr>
            <a:r>
              <a:rPr sz="1700" b="0">
                <a:solidFill>
                  <a:srgbClr val="222222"/>
                </a:solidFill>
                <a:latin typeface="맑은 고딕"/>
              </a:rPr>
              <a:t>•  순서: SYNC AFFIRM → Availability → 동기화 확인 → Protection</a:t>
            </a:r>
          </a:p>
          <a:p>
            <a:pPr algn="l">
              <a:spcAft>
                <a:spcPts val="1000"/>
              </a:spcAft>
            </a:pPr>
            <a:r>
              <a:rPr sz="1700" b="0">
                <a:solidFill>
                  <a:srgbClr val="222222"/>
                </a:solidFill>
                <a:latin typeface="맑은 고딕"/>
              </a:rPr>
              <a:t>•  마운트 상태 우회는 권하지 않음</a:t>
            </a:r>
          </a:p>
          <a:p>
            <a:pPr algn="l">
              <a:spcAft>
                <a:spcPts val="1000"/>
              </a:spcAft>
            </a:pPr>
            <a:r>
              <a:rPr sz="1700" b="0">
                <a:solidFill>
                  <a:srgbClr val="222222"/>
                </a:solidFill>
                <a:latin typeface="맑은 고딕"/>
              </a:rPr>
              <a:t>•  내릴 때는 열린 상태에서 가능</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Broker로 설정할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LogXptMode와 PROTECTION MODE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순서는 같다: SRL, 전송 방식, 보호 모드</a:t>
            </a:r>
          </a:p>
          <a:p>
            <a:pPr algn="l">
              <a:spcAft>
                <a:spcPts val="1000"/>
              </a:spcAft>
            </a:pPr>
            <a:r>
              <a:rPr sz="1700" b="0">
                <a:solidFill>
                  <a:srgbClr val="222222"/>
                </a:solidFill>
                <a:latin typeface="맑은 고딕"/>
              </a:rPr>
              <a:t>•  LogXptMode: SYNC, FASTSYNC, ASYNC</a:t>
            </a:r>
          </a:p>
          <a:p>
            <a:pPr algn="l">
              <a:spcAft>
                <a:spcPts val="1000"/>
              </a:spcAft>
            </a:pPr>
            <a:r>
              <a:rPr sz="1700" b="0">
                <a:solidFill>
                  <a:srgbClr val="222222"/>
                </a:solidFill>
                <a:latin typeface="맑은 고딕"/>
              </a:rPr>
              <a:t>•  EDIT CONFIGURATION SET PROTECTION MODE AS ...</a:t>
            </a:r>
          </a:p>
          <a:p>
            <a:pPr algn="l">
              <a:spcAft>
                <a:spcPts val="1000"/>
              </a:spcAft>
            </a:pPr>
            <a:r>
              <a:rPr sz="1700" b="0">
                <a:solidFill>
                  <a:srgbClr val="222222"/>
                </a:solidFill>
                <a:latin typeface="맑은 고딕"/>
              </a:rPr>
              <a:t>•  Primary의 LogXptMode도 함께 설정</a:t>
            </a:r>
          </a:p>
          <a:p>
            <a:pPr algn="l">
              <a:spcAft>
                <a:spcPts val="1000"/>
              </a:spcAft>
            </a:pPr>
            <a:r>
              <a:rPr sz="1700" b="0">
                <a:solidFill>
                  <a:srgbClr val="222222"/>
                </a:solidFill>
                <a:latin typeface="맑은 고딕"/>
              </a:rPr>
              <a:t>•  RedoRoutes가 있으면 그 값이 우선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보호 모드 선택 기준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허용 손실과 커밋 지연</a:t>
            </a:r>
          </a:p>
          <a:p>
            <a:pPr algn="l">
              <a:spcAft>
                <a:spcPts val="800"/>
              </a:spcAft>
            </a:pPr>
            <a:r>
              <a:rPr sz="1600" b="0">
                <a:solidFill>
                  <a:srgbClr val="FFFFFF"/>
                </a:solidFill>
                <a:latin typeface="맑은 고딕"/>
              </a:rPr>
              <a:t>•  거리, Standby 수, 자동 Failover</a:t>
            </a:r>
          </a:p>
          <a:p>
            <a:pPr algn="l">
              <a:spcAft>
                <a:spcPts val="800"/>
              </a:spcAft>
            </a:pPr>
            <a:r>
              <a:rPr sz="1600" b="0">
                <a:solidFill>
                  <a:srgbClr val="FFFFFF"/>
                </a:solidFill>
                <a:latin typeface="맑은 고딕"/>
              </a:rPr>
              <a:t>•  업무 유형별 예</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허용 손실과 커밋 지연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기술 설정이기 전에 업무 결정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몇 초 손실을 허용하는가 → Performance</a:t>
            </a:r>
          </a:p>
          <a:p>
            <a:pPr algn="l">
              <a:spcAft>
                <a:spcPts val="1000"/>
              </a:spcAft>
            </a:pPr>
            <a:r>
              <a:rPr sz="1700" b="0">
                <a:solidFill>
                  <a:srgbClr val="222222"/>
                </a:solidFill>
                <a:latin typeface="맑은 고딕"/>
              </a:rPr>
              <a:t>•  한 건도 못 잃는가 → Availability + SYNC</a:t>
            </a:r>
          </a:p>
          <a:p>
            <a:pPr algn="l">
              <a:spcAft>
                <a:spcPts val="1000"/>
              </a:spcAft>
            </a:pPr>
            <a:r>
              <a:rPr sz="1700" b="0">
                <a:solidFill>
                  <a:srgbClr val="222222"/>
                </a:solidFill>
                <a:latin typeface="맑은 고딕"/>
              </a:rPr>
              <a:t>•  Primary 정지도 감수하는가 → Protection</a:t>
            </a:r>
          </a:p>
          <a:p>
            <a:pPr algn="l">
              <a:spcAft>
                <a:spcPts val="1000"/>
              </a:spcAft>
            </a:pPr>
            <a:r>
              <a:rPr sz="1700" b="0">
                <a:solidFill>
                  <a:srgbClr val="222222"/>
                </a:solidFill>
                <a:latin typeface="맑은 고딕"/>
              </a:rPr>
              <a:t>•  손실 비용과 중단 비용을 비교</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거리와 네트워크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SYNC는 커밋마다 왕복 지연을 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같은 도시 안: 대개 감당 가능</a:t>
            </a:r>
          </a:p>
          <a:p>
            <a:pPr algn="l">
              <a:spcAft>
                <a:spcPts val="1000"/>
              </a:spcAft>
            </a:pPr>
            <a:r>
              <a:rPr sz="1700" b="0">
                <a:solidFill>
                  <a:srgbClr val="222222"/>
                </a:solidFill>
                <a:latin typeface="맑은 고딕"/>
              </a:rPr>
              <a:t>•  수백 km 이상: OLTP 응답 시간 증가</a:t>
            </a:r>
          </a:p>
          <a:p>
            <a:pPr algn="l">
              <a:spcAft>
                <a:spcPts val="1000"/>
              </a:spcAft>
            </a:pPr>
            <a:r>
              <a:rPr sz="1700" b="0">
                <a:solidFill>
                  <a:srgbClr val="222222"/>
                </a:solidFill>
                <a:latin typeface="맑은 고딕"/>
              </a:rPr>
              <a:t>•  FASTSYNC는 디스크 시간만 줄임</a:t>
            </a:r>
          </a:p>
          <a:p>
            <a:pPr algn="l">
              <a:spcAft>
                <a:spcPts val="1000"/>
              </a:spcAft>
            </a:pPr>
            <a:r>
              <a:rPr sz="1700" b="0">
                <a:solidFill>
                  <a:srgbClr val="222222"/>
                </a:solidFill>
                <a:latin typeface="맑은 고딕"/>
              </a:rPr>
              <a:t>•  원거리 무손실: Far Sync(ADG 옵션, 10장)</a:t>
            </a:r>
          </a:p>
          <a:p>
            <a:pPr algn="l">
              <a:spcAft>
                <a:spcPts val="1000"/>
              </a:spcAft>
            </a:pPr>
            <a:r>
              <a:rPr sz="1700" b="0">
                <a:solidFill>
                  <a:srgbClr val="222222"/>
                </a:solidFill>
                <a:latin typeface="맑은 고딕"/>
              </a:rPr>
              <a:t>•  대역폭 부족 시 ASYNC도 lag 누적</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수와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보호 모드는 구성 전체에 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Protection은 SYNC AFFIRM Standby 2개 이상</a:t>
            </a:r>
          </a:p>
          <a:p>
            <a:pPr algn="l">
              <a:spcAft>
                <a:spcPts val="1000"/>
              </a:spcAft>
            </a:pPr>
            <a:r>
              <a:rPr sz="1700" b="0">
                <a:solidFill>
                  <a:srgbClr val="222222"/>
                </a:solidFill>
                <a:latin typeface="맑은 고딕"/>
              </a:rPr>
              <a:t>•  흔한 구성: 근거리 SYNC + 원거리 ASYNC</a:t>
            </a:r>
          </a:p>
          <a:p>
            <a:pPr algn="l">
              <a:spcAft>
                <a:spcPts val="1000"/>
              </a:spcAft>
            </a:pPr>
            <a:r>
              <a:rPr sz="1700" b="0">
                <a:solidFill>
                  <a:srgbClr val="222222"/>
                </a:solidFill>
                <a:latin typeface="맑은 고딕"/>
              </a:rPr>
              <a:t>•  모드는 하나, 전송 방식은 목적지별</a:t>
            </a:r>
          </a:p>
          <a:p>
            <a:pPr algn="l">
              <a:spcAft>
                <a:spcPts val="1000"/>
              </a:spcAft>
            </a:pPr>
            <a:r>
              <a:rPr sz="1700" b="0">
                <a:solidFill>
                  <a:srgbClr val="222222"/>
                </a:solidFill>
                <a:latin typeface="맑은 고딕"/>
              </a:rPr>
              <a:t>•  ASYNC 쪽이 끊겨도 보호 수준 유지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Failover와의 관계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Fast-Start Failover와 보호 모드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교재: Availability나 Performance에서 사용</a:t>
            </a:r>
          </a:p>
          <a:p>
            <a:pPr algn="l">
              <a:spcAft>
                <a:spcPts val="1000"/>
              </a:spcAft>
            </a:pPr>
            <a:r>
              <a:rPr sz="1700" b="0">
                <a:solidFill>
                  <a:srgbClr val="222222"/>
                </a:solidFill>
                <a:latin typeface="맑은 고딕"/>
              </a:rPr>
              <a:t>•  12.2부터 Protection도 가능, Standby 2개 이상</a:t>
            </a:r>
          </a:p>
          <a:p>
            <a:pPr algn="l">
              <a:spcAft>
                <a:spcPts val="1000"/>
              </a:spcAft>
            </a:pPr>
            <a:r>
              <a:rPr sz="1700" b="0">
                <a:solidFill>
                  <a:srgbClr val="222222"/>
                </a:solidFill>
                <a:latin typeface="맑은 고딕"/>
              </a:rPr>
              <a:t>•  Availability: 무손실 자동 Failover</a:t>
            </a:r>
          </a:p>
          <a:p>
            <a:pPr algn="l">
              <a:spcAft>
                <a:spcPts val="1000"/>
              </a:spcAft>
            </a:pPr>
            <a:r>
              <a:rPr sz="1700" b="0">
                <a:solidFill>
                  <a:srgbClr val="222222"/>
                </a:solidFill>
                <a:latin typeface="맑은 고딕"/>
              </a:rPr>
              <a:t>•  Performance: FastStartFailoverLagLimit 안에서만</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업무 유형별 선택 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출발점일 뿐, 측정으로 확정한다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그룹웨어·리포팅: Performance + ASYNC</a:t>
            </a:r>
          </a:p>
          <a:p>
            <a:pPr algn="l">
              <a:spcAft>
                <a:spcPts val="1000"/>
              </a:spcAft>
            </a:pPr>
            <a:r>
              <a:rPr sz="1700" b="0">
                <a:solidFill>
                  <a:srgbClr val="222222"/>
                </a:solidFill>
                <a:latin typeface="맑은 고딕"/>
              </a:rPr>
              <a:t>•  온라인 주문·회원: Availability + SYNC/FASTSYNC</a:t>
            </a:r>
          </a:p>
          <a:p>
            <a:pPr algn="l">
              <a:spcAft>
                <a:spcPts val="1000"/>
              </a:spcAft>
            </a:pPr>
            <a:r>
              <a:rPr sz="1700" b="0">
                <a:solidFill>
                  <a:srgbClr val="222222"/>
                </a:solidFill>
                <a:latin typeface="맑은 고딕"/>
              </a:rPr>
              <a:t>•  결제 원장: Availability + SYNC AFFIRM 이상</a:t>
            </a:r>
          </a:p>
          <a:p>
            <a:pPr algn="l">
              <a:spcAft>
                <a:spcPts val="1000"/>
              </a:spcAft>
            </a:pPr>
            <a:r>
              <a:rPr sz="1700" b="0">
                <a:solidFill>
                  <a:srgbClr val="222222"/>
                </a:solidFill>
                <a:latin typeface="맑은 고딕"/>
              </a:rPr>
              <a:t>•  원거리 DR 전용: Performance + ASYNC(+압축)</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운영 시 주의점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모드와 속성은 짝으로 변경</a:t>
            </a:r>
          </a:p>
          <a:p>
            <a:pPr algn="l">
              <a:spcAft>
                <a:spcPts val="800"/>
              </a:spcAft>
            </a:pPr>
            <a:r>
              <a:rPr sz="1600" b="0">
                <a:solidFill>
                  <a:srgbClr val="FFFFFF"/>
                </a:solidFill>
                <a:latin typeface="맑은 고딕"/>
              </a:rPr>
              <a:t>•  MODE와 LEVEL 감시</a:t>
            </a:r>
          </a:p>
          <a:p>
            <a:pPr algn="l">
              <a:spcAft>
                <a:spcPts val="800"/>
              </a:spcAft>
            </a:pPr>
            <a:r>
              <a:rPr sz="1600" b="0">
                <a:solidFill>
                  <a:srgbClr val="FFFFFF"/>
                </a:solidFill>
                <a:latin typeface="맑은 고딕"/>
              </a:rPr>
              <a:t>•  대칭 구성과 Broker 일원화</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 시 주의점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조용히 무너지는 보호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올릴 때 속성 먼저, 내릴 때 모드 먼저</a:t>
            </a:r>
          </a:p>
          <a:p>
            <a:pPr algn="l">
              <a:spcAft>
                <a:spcPts val="1000"/>
              </a:spcAft>
            </a:pPr>
            <a:r>
              <a:rPr sz="1700" b="0">
                <a:solidFill>
                  <a:srgbClr val="222222"/>
                </a:solidFill>
                <a:latin typeface="맑은 고딕"/>
              </a:rPr>
              <a:t>•  PROTECTION_MODE와 LEVEL 일치 여부 감시</a:t>
            </a:r>
          </a:p>
          <a:p>
            <a:pPr algn="l">
              <a:spcAft>
                <a:spcPts val="1000"/>
              </a:spcAft>
            </a:pPr>
            <a:r>
              <a:rPr sz="1700" b="0">
                <a:solidFill>
                  <a:srgbClr val="222222"/>
                </a:solidFill>
                <a:latin typeface="맑은 고딕"/>
              </a:rPr>
              <a:t>•  Protection 구성의 Standby 작업은 모드 하향부터</a:t>
            </a:r>
          </a:p>
          <a:p>
            <a:pPr algn="l">
              <a:spcAft>
                <a:spcPts val="1000"/>
              </a:spcAft>
            </a:pPr>
            <a:r>
              <a:rPr sz="1700" b="0">
                <a:solidFill>
                  <a:srgbClr val="222222"/>
                </a:solidFill>
                <a:latin typeface="맑은 고딕"/>
              </a:rPr>
              <a:t>•  Broker 구성에서는 ALTER SYSTEM으로 목적지 수정 금지</a:t>
            </a:r>
          </a:p>
          <a:p>
            <a:pPr algn="l">
              <a:spcAft>
                <a:spcPts val="1000"/>
              </a:spcAft>
            </a:pPr>
            <a:r>
              <a:rPr sz="1700" b="0">
                <a:solidFill>
                  <a:srgbClr val="222222"/>
                </a:solidFill>
                <a:latin typeface="맑은 고딕"/>
              </a:rPr>
              <a:t>•  압축·Far Sync는 라이선스 확인 후 설정</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목적지마다 LOG_ARCHIVE_DEST_n, SYNC는 NSS, ASYNC는 TTnn</a:t>
            </a:r>
          </a:p>
          <a:p>
            <a:pPr algn="l">
              <a:spcAft>
                <a:spcPts val="1000"/>
              </a:spcAft>
            </a:pPr>
            <a:r>
              <a:rPr sz="1600" b="0">
                <a:solidFill>
                  <a:srgbClr val="222222"/>
                </a:solidFill>
                <a:latin typeface="맑은 고딕"/>
              </a:rPr>
              <a:t>•  AFFIRM은 SRL 기록 후 확인, SYNC NOAFFIRM이 FASTSYNC</a:t>
            </a:r>
          </a:p>
          <a:p>
            <a:pPr algn="l">
              <a:spcAft>
                <a:spcPts val="1000"/>
              </a:spcAft>
            </a:pPr>
            <a:r>
              <a:rPr sz="1600" b="0">
                <a:solidFill>
                  <a:srgbClr val="222222"/>
                </a:solidFill>
                <a:latin typeface="맑은 고딕"/>
              </a:rPr>
              <a:t>•  원격 목적지: SERVICE, DB_UNIQUE_NAME, VALID_FOR 필수</a:t>
            </a:r>
          </a:p>
          <a:p>
            <a:pPr algn="l">
              <a:spcAft>
                <a:spcPts val="1000"/>
              </a:spcAft>
            </a:pPr>
            <a:r>
              <a:rPr sz="1600" b="0">
                <a:solidFill>
                  <a:srgbClr val="222222"/>
                </a:solidFill>
                <a:latin typeface="맑은 고딕"/>
              </a:rPr>
              <a:t>•  Performance 기본, Availability 단일 장애 무손실, Protection 이중 장애 무손실</a:t>
            </a:r>
          </a:p>
          <a:p>
            <a:pPr algn="l">
              <a:spcAft>
                <a:spcPts val="1000"/>
              </a:spcAft>
            </a:pPr>
            <a:r>
              <a:rPr sz="1600" b="0">
                <a:solidFill>
                  <a:srgbClr val="222222"/>
                </a:solidFill>
                <a:latin typeface="맑은 고딕"/>
              </a:rPr>
              <a:t>•  Protection은 동기화된 Availability에서만 올림(ORA-01126)</a:t>
            </a:r>
          </a:p>
          <a:p>
            <a:pPr algn="l">
              <a:spcAft>
                <a:spcPts val="1000"/>
              </a:spcAft>
            </a:pPr>
            <a:r>
              <a:rPr sz="1600" b="0">
                <a:solidFill>
                  <a:srgbClr val="222222"/>
                </a:solidFill>
                <a:latin typeface="맑은 고딕"/>
              </a:rPr>
              <a:t>•  MODE는 설정값, LEVEL은 실제 수준</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SYNC AFFIRM + Performance에서 Standby 장애 시? → NET_TIMEOUT 후 계속 진행</a:t>
            </a:r>
          </a:p>
          <a:p>
            <a:pPr algn="l">
              <a:spcAft>
                <a:spcPts val="1000"/>
              </a:spcAft>
            </a:pPr>
            <a:r>
              <a:rPr sz="1600" b="0">
                <a:solidFill>
                  <a:srgbClr val="222222"/>
                </a:solidFill>
                <a:latin typeface="맑은 고딕"/>
              </a:rPr>
              <a:t>•  Q2. FASTSYNC의 실체는? → SYNC NOAFFIRM</a:t>
            </a:r>
          </a:p>
          <a:p>
            <a:pPr algn="l">
              <a:spcAft>
                <a:spcPts val="1000"/>
              </a:spcAft>
            </a:pPr>
            <a:r>
              <a:rPr sz="1600" b="0">
                <a:solidFill>
                  <a:srgbClr val="222222"/>
                </a:solidFill>
                <a:latin typeface="맑은 고딕"/>
              </a:rPr>
              <a:t>•  Q3. Standby의 PRIMARY_ROLE 목적지는? → 오류 없이 무시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Q4. MODE는 AVAILABILITY, LEVEL은 RESYNC면? → 무손실 보장 상실</a:t>
            </a:r>
          </a:p>
          <a:p>
            <a:pPr algn="l">
              <a:spcAft>
                <a:spcPts val="1000"/>
              </a:spcAft>
            </a:pPr>
            <a:r>
              <a:rPr sz="1600" b="0">
                <a:solidFill>
                  <a:srgbClr val="222222"/>
                </a:solidFill>
                <a:latin typeface="맑은 고딕"/>
              </a:rPr>
              <a:t>•  Q5. Performance에서 Protection 직행 시 ORA-01126 대응? → Availability 경유</a:t>
            </a:r>
          </a:p>
          <a:p>
            <a:pPr algn="l">
              <a:spcAft>
                <a:spcPts val="1000"/>
              </a:spcAft>
            </a:pPr>
            <a:r>
              <a:rPr sz="1600" b="0">
                <a:solidFill>
                  <a:srgbClr val="222222"/>
                </a:solidFill>
                <a:latin typeface="맑은 고딕"/>
              </a:rPr>
              <a:t>•  Q6. Protection 위험 완화와 거리가 먼 것? → 원격 목적지 MANDATORY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보호 모드 확인 — MODE와 LEVEL, 모드별 요건 (2.5, 2.6)</a:t>
            </a:r>
          </a:p>
          <a:p>
            <a:pPr algn="l">
              <a:spcAft>
                <a:spcPts val="1000"/>
              </a:spcAft>
            </a:pPr>
            <a:r>
              <a:rPr sz="1600" b="0">
                <a:solidFill>
                  <a:srgbClr val="222222"/>
                </a:solidFill>
                <a:latin typeface="맑은 고딕"/>
              </a:rPr>
              <a:t>•  02 LOG_ARCHIVE_DEST 속성 해부 — 속성과 뷰 열 대응 (2.4)</a:t>
            </a:r>
          </a:p>
          <a:p>
            <a:pPr algn="l">
              <a:spcAft>
                <a:spcPts val="1000"/>
              </a:spcAft>
            </a:pPr>
            <a:r>
              <a:rPr sz="1600" b="0">
                <a:solidFill>
                  <a:srgbClr val="222222"/>
                </a:solidFill>
                <a:latin typeface="맑은 고딕"/>
              </a:rPr>
              <a:t>•  03 보호 모드 전환 — Protection 경로, ORA-01126 (2.6)</a:t>
            </a:r>
          </a:p>
          <a:p>
            <a:pPr algn="l">
              <a:spcAft>
                <a:spcPts val="1000"/>
              </a:spcAft>
            </a:pPr>
            <a:r>
              <a:rPr sz="1600" b="0">
                <a:solidFill>
                  <a:srgbClr val="222222"/>
                </a:solidFill>
                <a:latin typeface="맑은 고딕"/>
              </a:rPr>
              <a:t>•  04 모드별 Primary 동작 — Standby 상실 시 대비 (2.5)</a:t>
            </a:r>
          </a:p>
          <a:p>
            <a:pPr algn="l">
              <a:spcAft>
                <a:spcPts val="1000"/>
              </a:spcAft>
            </a:pPr>
            <a:r>
              <a:rPr sz="1600" b="0">
                <a:solidFill>
                  <a:srgbClr val="222222"/>
                </a:solidFill>
                <a:latin typeface="맑은 고딕"/>
              </a:rPr>
              <a:t>•  05 MODE와 LEVEL 어긋남 — RESYNCHRONIZATION 판별 (2.5,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
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핵심은 "왕복 두 번" 이다. 동기 전송에서 커밋이 기다리는 네 단계 중 둘이 거리에 정비례한다. 300킬로미터 떨어진 두 곳이면 물리 법칙만으로 왕복 3밀리초가 들고, 실제 네트워크 장비를 거치면 그보다 커진다. 초당 수천 건을 커밋하는 시스템에서 이 값은 그대로 처리량의 상한이 된다. 2장에서 보호 모드를 다룰 때 미뤄 두었던 문제가 이것이다.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모순이 Far Sync 의 존재 이유다. 세 가지 요구가 각각은 합리적인데 함께 만족시킬 수 없다. 흔한 해법은 절충이다. 적당히 떨어뜨리고 적당한 보호 모드를 쓴다. Far Sync 의 해법은 다르다. 절충하는 대신 역할을 나눈다. 다음 슬라이드에서 그 구조를 본다. 여기서 한 가지를 분명히 해 둔다. Far Sync 는 거리를 없애 주지 않는다. Primary 와 원거리 Standby 사이의 물리적 거리는 그대로다. 바뀌는 것은 커밋이 무엇을 기다리느냐다. 기다리는 대상을 가까운 노드로 옮겨 놓는 것이 전부이며, 그 대가로 노드 하나와 관리 복잡도를 치른다.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는 가까운 Far Sync 와만 동기로 대화하므로 커밋 대기가 짧다. Far Sync 는 받은 리두를 원거리 Standby 로 비동기 전달한다. 주 센터가 통째로 사라지지 않는 한 커밋된 리두는 Far Sync 에 남아 있다. 완전한 무손실은 아니다. 재해의 규모를 가정한 절충이며, 그래서 Far Sync 의 위치 선정이 설계의 핵심이 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자원이 눈에 띄게 적다. 적용을 하지 않으므로 버퍼 캐시가 크게 필요 없고 데이터 파일도 없기 때문이다. 이것이 Far Sync 를 쓰는 실질적 이유 중 하나다. 다만 바이너리 버전은 Primary 와 같아야 한다. 리두 형식이 같아야 하기 때문이다. 실습에서는 같은 템플릿에서 복제했으므로 자동으로 일치한다. 실습에서는 chicago·boston 과 같은 템플릿 VM 에서 복제했으므로 바이너리가 자동으로 일치했다. 실무에서 Far Sync 노드를 새로 세울 때는 이 점을 먼저 확인해야 한다. 패치 수준까지 맞추는 것이 안전하다. 리두 형식이 어긋나면 전송 단계가 아니라 수신 단계에서 실패하므로 원인을 찾기 어렵다.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 형태를 Standby 용과 비교하면 기억하기 쉽다. Standby 는 CREATE STANDBY CONTROLFILE, Far Sync 는 CREATE FAR SYNC INSTANCE CONTROLFILE 이다. 띄어쓰기가 헷갈리는 지점이다. SQL 구문에서는 FAR SYNC 로 띄어 쓰고, DATABASE_ROLE 도 FAR SYNC 로 띄어 쓰는데, CONTROLFILE_TYPE 은 FARSYNC 로 붙여 쓴다. 붙여 쓰면 ORA-00900, invalid SQL statement 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옮기지 않는 목록이 Far Sync 의 정체를 그대로 보여 준다. 데이터 파일이 없는 것은 적용을 하지 않기 때문이고, 임시 파일이 없는 것은 정렬할 일이 없기 때문이다. 패스워드 파일은 3장에서 orapwchicago 를 orapwboston 으로 옮긴 것과 같은 이유로 필요하다. Primary 가 Far Sync 로 접속해 리두를 보내야 한다. 실습에서는 scp 로 두 파일을 옮겼다. 컨트롤 파일은 /u01/app/oracle/oradata/FARSYNC/control01.ctl 로, 패스워드 파일은 $ORACLE_HOME/dbs/orapwfarsync 로 놓는다. 디렉터리는 미리 만들어 두어야 한다. oradata·fast_recovery_area·admin/farsync/adump 세 곳이다.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log_archive_dest_2 의 VALID_FOR 가 이 슬라이드의 핵심이다. STANDBY_LOGFILES, STANDBY_ROLE 로 준다. Primary 의 목적지가 ONLINE_LOGFILES, PRIMARY_ROLE 인 것과 대비된다. 이유는 리두의 출처다. Far Sync 는 자기가 만든 리두가 없다. 받은 것을 넘길 뿐이므로 출처가 SRL 이다. 6장에서 OMF 를 쓸 때 필수였던 db_create_file_dest 가 여기서는 불필요하다는 점도 함께 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역할을 나란히 놓으면 자리가 분명해진다. Primary 는 PRIMARY / CURRENT / READ WRITE, Standby 는 PHYSICAL STANDBY / STANDBY / READ ONLY WITH APPLY, Far Sync 는 FAR SYNC / FARSYNC / MOUNTED 다. MOUNT STANDBY DATABASE 를 따로 하지 않는 것도 특징이다. 컨트롤 파일이 이미 Far Sync 용이라 역할이 정해져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8장의 UNNAMED 파일과 성격이 같은 상태다. 컨트롤 파일은 이런 파일이 있어야 한다고 말하는데 실제로는 없다. ADD 는 중복이라 안 되고, DROP 후 ADD 는 두 단계이며 상속된 경로와 크기 정보를 잃는다. CLEAR 는 한 단계로 끝나고 컨트롤 파일의 정의를 그대로 쓴다. 크기를 지정하지 않았는데 200MB 가 되는 것은 정의에 크기가 들어 있기 때문이다. 다만 CLEAR 는 내용을 버리는 명령이므로 운영 중인 SRL 에는 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 Sync 는 딕셔너리가 없으니 동적 등록도 안 될 것이라고 짐작하기 쉬운데 실측은 READY 를 보여 준다. 서비스 등록에는 딕셔너리가 필요하지 않기 때문이다. PMON 이 리스너에 알리는 것은 SERVICE_NAMES 값이고 그 기본값은 DB_UNIQUE_NAME 에서 온다. 파라미터에서 오는 값이다. 그럼에도 정적 등록을 하는 것은 13장의 Broker 가 인스턴스를 내렸다 올리기 때문이다. 그 구간에는 동적 등록이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LOG_ARCHIVE_CONFIG 는 이 구성에 속한 데이터베이스를 선언하는 목록이다. 여기에 없는 이름으로 접속하면 거부된다. 세 노드 모두에서 같은 목록을 갖도록 맞춰야 한다. 하나라도 빠지면 다음 슬라이드의 오류가 난다. 실습에서 바꾼 값을 그대로 옮기면 다음과 같다. 전에는 service=boston async valid_for=(online_logfiles,primary_role) db_unique_name=boston 이었고, 후에는 service=farsync sync affirm valid_for=(online_logfile,primary_role) db_unique_name=farsync 다. 대상과 방식이 함께 바뀌었다는 점을 확인한다. SCOPE=BOTH 로 주어 SPFILE 에도 남긴다.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오류를 헷갈리게 만드는 것은 오류가 표시되는 노드와 고쳐야 할 노드가 다르다는 점이다. farsync 를 아무리 봐도 원인이 보이지 않는다. 실습에서는 boston 의 설정이 이미 반영되어 있었고, 그 직전에 farsync 가 접속을 시도했던 것이다. 즉 설정 자체가 아니라 시점의 문제였고 재시도로 해소됐다. 진단 순서를 정리하면 이렇다. 먼저 오류가 난 노드가 아니라 목적지 노드로 가서 LOG_ARCHIVE_CONFIG 를 조회한다. 거기에 보내는 쪽 이름이 있는지 본다. 있으면 시점의 문제이므로 재시도하면 되고, 없으면 넣어 준 뒤 목적지를 초기화한다. 오류 문구만 읽고 farsync 를 뒤지면 아무것도 나오지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배운 것을 함께 기억한다. 목적지의 오류 상태는 원인이 해소돼도 자동으로 지워지지 않는 경우가 있다. 그때 DEFER 후 ENABLE 이 가장 확실한 초기화 방법이다. 재시도로 해소되는 오류라도 그 사이의 상태를 장애로 오인하기 쉬우므로 순서를 지키는 것이 낫다. 이 순서는 Far Sync 에만 해당하는 것이 아니다. 노드를 추가하거나 이름을 바꾸는 모든 Data Guard 구성 변경에 적용된다. 받는 쪽의 명단을 먼저 넓히고 보내는 쪽을 나중에 돌리면 중간 상태에서도 오류가 나지 않는다. 반대 순서는 반드시 일시적인 거부 구간을 만든다.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8장에서 V$LOG 에 TYPE 이 없어 만난 ORA-00904 와 같은 종류의 혼동이다. 두 뷰의 역할이 다르다는 것을 알면 헷갈리지 않는다. 하나는 어떻게 쓰기로 했는가에 답하고, 다른 하나는 지금 어떻게 되고 있는가에 답한다. 실무에서는 둘을 함께 조회하는 습관이 좋다. 설정은 맞는데 상태가 나쁜 경우와, 상태는 조용한데 설정이 어긋난 경우를 구별해야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 방법이 Standby 와 같다는 점이 핵심이다. Far Sync 도 RFS 와 SRL 과 아카이브를 갖는다. 7장에서 boston 을 진단하던 방법이 그대로 통한다. 다른 것은 MRP 가 없다는 것뿐이다. 아카이브 파일 이름의 1242322892 는 5장에서 본 resetlogs 식별자다. 아카이브 파일 크기가 제각각인 것도 함께 본다. 실측에서 2,560바이트짜리와 111MB 짜리가 섞여 있었다. 로그 전환 시점에 담긴 리두의 양이 다르기 때문이며 이상이 아니다. 파일 이름의 형식은 log_archive_format 이 결정한다. 실습에서는 %t_%s_%r.dbf 를 썼다.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뷰를 아무리 조회해도 마지막 확인은 데이터로 한다. Primary 에 커밋한 행이 Standby 에서 보이면 전송·적용·조회가 모두 동작한다는 뜻이다. 9장에서 확인한 실시간 조회가 중계소를 사이에 두고도 그대로 동작한다. 이 검증이 중요한 이유가 있다. 목적지 상태가 VALID 이고 지연이 0 이어도 실제로는 아무것도 흐르지 않는 경우가 있다. VALID_FOR 오설정이 그런 경우이며 10.7 에서 다룬다. 조회 결과가 모두 정상인데 데이터가 오지 않는다면 설정 쪽 뷰를 다시 봐야 한다는 신호다.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2장에서 개념으로 배운 것을 여기서 실제로 본다. RESYNCHRONIZATION 은 아직 동기화 확인을 못 했다는 과도 상태이며 오류가 아니다. 목표와 현재가 같아졌다는 것은 동기 파트너와 실제로 동기화되었다는 뜻이다. 재기동 없이 바뀌는 것도 확인한다. MAXIMUM PROTECTION 으로 올릴 때만 MOUNT 단계가 필요하다. 도달하지 못하는 경우도 구별할 줄 알아야 한다. 동기 목적지가 하나도 없으면 아무리 기다려도 RESYNCHRONIZATION 에 머문다. V$ARCHIVE_DEST 에서 TRANSMIT_MODE 가 PARALLELSYNC 이고 AFFIRM 이 YES 인 목적지가 있는지 확인하는 것이 첫 점검이다. 모두 ASYNCHRONOUS 라면 설정 자체가 목표와 어긋나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Far Sync 구성의 핵심을 보여 준다. PROTECTION_MODE 는 구성 전체의 목표이므로 세 노드가 같은 값을 보고, PROTECTION_LEVEL 은 각자의 관점에서 본 달성 수준이다. boston 의 관점에서 나는 동기 파트너가 아니다가 정확한 표현이고 그것이 RESYNCHRONIZATION 으로 나타난다. 보호 수준은 Primary 와 Far Sync 사이에서 달성되고 그 뒤는 성능을 위해 비동기로 흘린다.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무손실을 목표로 한다면 두 낱말이 모두 필요하다. SYNC 만으로는 응답이 왔다까지만 보장하고, 그 응답이 무엇을 근거로 하는지는 AFFIRM 이 결정한다. 실무적 함의는 SRL 을 빠른 저장 장치에 두라는 것이다. 실측에서 TRANSMIT_MODE 가 PARALLELSYNC 로 나온 것은 여러 목적지에 병렬로 보내며 기다린다는 뜻이며, 목적지가 하나뿐인 지금은 체감 차이가 없다.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중계소가 단일 장애점이 되지 않게 하는 것이 설계의 요점이다. 대체 목적지를 두면 직결 경로는 비동기가 되므로 보호 수준은 낮아지지만 리두 흐름 자체는 끊기지 않는다. 실습 환경에서는 노드가 셋뿐이라 여기까지 구성하지 않았다. 위치 선정도 함께 생각한다. 같은 랙에 두면 동시 소실 위험이 크고 너무 멀면 이점이 사라진다. 같은 도시의 다른 건물 정도가 전형적인 답이다.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V$LOG 가 0행인 것을 주목한다. V$LOGFILE 에는 ONLINE 그룹 1~3 의 정의가 있는데 V$LOG 에는 그룹이 하나도 없다. 두 뷰가 보는 것이 다르기 때문이다. V$LOGFILE 은 컨트롤 파일에 적힌 파일 정의를 보여 주고 V$LOG 는 실제로 존재하는 로그 그룹을 보여 준다. Far Sync 는 자기 온라인 리두를 쓰지 않으므로 그룹으로서 존재하지 않는다. 819MB 는 SRL 네 개와 컨트롤 파일이다.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적용할 데이터 파일이 없으니 당연한 결과인데, 오류 메시지는 데이터 파일을 언급하지 않고 컨트롤 파일 유형을 말한다. 오라클이 이 판단을 컨트롤 파일 수준에서 한다는 뜻이다. CONTROLFILE_TYPE 이 CURRENT 면 적용 불가, FARSYNC 면 적용 불가, STANDBY 면 적용 가능이다. 두 오류를 짝지어 기억하면 좋다. ORA-16476 은 열 수 없다는 것이고 ORA-01665 는 적용할 수 없다는 것이다. 앞의 것은 조회 서비스를 못 한다는 뜻이고 뒤의 것은 데이터를 갱신하지 못한다는 뜻이다. 둘을 합치면 Far Sync 는 데이터베이스가 아니라 리두 중계소라는 결론이 나온다.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 Sync 는 받아서 넘기는 중계소다. 저장은 하되 적용은 하지 않는다. 이 표를 외우려 하지 말고 데이터 파일이 없다는 한 가지 사실에서 나머지를 유도하는 연습을 한다. 데이터 파일이 없으므로 적용할 수 없고, 적용할 수 없으므로 조회 서비스도 없고, 그래서 자원이 적게 든다. 이 표에서 한 줄만 기억한다면 리두 적용 줄이다. Standby 만 O 이고 나머지는 X 다. 적용할 수 있느냐가 데이터베이스의 사본을 유지하느냐를 가른다. Far Sync 는 사본을 유지하지 않으므로 장애 시 승격 대상이 아니다. 역할 전환에서 Far Sync 가 Primary 가 되는 일은 없다.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 Sync 와 Cascading 은 닮았지만 다르다. 둘 다 리두를 받아 다음 노드로 넘기지만, Far Sync 는 그것만 하는 전용 인스턴스이고 Cascading Standby 는 데이터를 가진 Standby 가 전달을 겸한다. 목적도 다르다. Far Sync 는 원거리 무손실이 목적이고 Cascading 은 배포가 목적이다. 실무에서는 둘을 함께 쓰기도 한다. Primary 가 Far Sync 로 동기 전송하고 Far Sync 가 1차 Standby 로 전달하며, 그 Standby 가 다시 지역별 Standby 로 계단식 전달하는 구조다. 이때 각 구간의 VALID_FOR 를 정확히 주는 것이 전체가 동작하느냐를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교훈은 설정이 받아들여졌다와 의도대로 동작한다는 다른 말이라는 것이다. 오라클은 문법과 역할 조건만 검사한다. 그 뒤의 동작은 별개의 규칙을 따른다. ASYNC 로 바꾸면 TRANSMIT_MODE 가 ASYNCHRONOUS 로, AFFIRM 이 NO 로 바뀐다. 의도가 분명해지고 문서가 보장하는 동작과 설정이 일치한다. 이런 사례를 만나면 문서를 의심하기보다 실측을 기록해 둔다. 파라미터가 받아들여진다는 것과 그 설정이 실제 전송 동작을 바꾼다는 것은 다른 층위의 문제다. 오라클은 앞의 것만 검사한다. 뒤의 것은 리두를 실제로 흘려 보고 각 노드에서 확인하는 수밖에 없다.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boston 의 2번 목적지를 볼 때 만난 그 값이다. 뜻도 같다. 설정은 유효하지만 지금 역할에는 해당하지 않는다. 두 가지가 함께 어긋났다. PRIMARY_ROLE 인데 boston 은 Standby 이고, ONLINE_LOGFILE 인데 Standby 가 전달할 리두는 SRL 에서 나온다. 두 열이 다른 질문에 답한다는 것을 기억한다. STATUS 는 설정이 해석 가능한가, VALID_NOW 는 지금 이 역할에서 쓰이는가다.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목적지를 고친 직후에 UNKNOWN 을 보고 당황하기 쉽다. 아직 그 목적지를 한 번도 쓰지 않아 판단할 근거가 없다는 뜻이다. 로그를 한 번 전환하고 다시 보면 YES 로 바뀐다. 세 값을 구별할 줄 알면 목적지 진단의 절반은 끝난 셈이다. 셋을 구별하는 방법도 간단하다. WRONG VALID_TYPE 은 설정을 고쳐야 하고 UNKNOWN 은 기다리거나 로그를 전환하면 된다. YES 는 그대로 두면 된다. 즉 조치가 필요한 값은 WRONG VALID_TYPE 하나뿐이다. 이 구별이 안 되면 멀쩡한 설정을 계속 고치게 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2장에서 다룬 규칙이다. 보호 모드와 전송 방식은 짝을 이루어야 하며 낮추는 방향으로 갈 때는 모드가 먼저다. 실습 설정을 SCOPE=MEMORY 로 준 것도 함께 본다. SPFILE 에 흔적을 남기지 않는 방법이다. 원복 직후 지연이 50초로 나올 수 있는데 목적지를 바꾼 직후의 과도 상태이며 로그가 한두 번 더 오가면 0 으로 돌아온다. 원복 후 확인할 값도 정해 두면 좋다. chicago 는 MAXIMUM PERFORMANCE 두 열이 같고 목적지 1·2번이 VALID 여야 한다. boston 은 PHYSICAL STANDBY / READ ONLY WITH APPLY 이고 MRP0 가 살아 있어야 하며 3번 목적지가 INACTIVE 여야 한다. 실습에서 만든 system.fs_t 테이블도 지운다.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기능이 있다고 해서 써야 하는 것은 아니다. Far Sync 는 목적지 하나가 늘고 장애 지점이 늘고 점검 항목이 늘어난다. 이 장의 실습에서 겪은 것만 해도 LOG_ARCHIVE_CONFIG 를 세 곳에서 맞춰야 했고 SRL 파일을 따로 만들어야 했고 정적 등록이 필요했고 ORA-16057 을 만났다. 반대로 Cascading 은 무손실보다 배포가 목적이므로 판단 기준도 다르다.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Active Data Guard ②</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Far Sync 와 Cascading</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거리와 동기 전송의 모순을 푸는 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Far Sync 가 푸는 문제를 보호 모드와 거리의 관계로 설명한다.</a:t>
            </a:r>
          </a:p>
          <a:p>
            <a:pPr algn="l">
              <a:spcAft>
                <a:spcPts val="1000"/>
              </a:spcAft>
            </a:pPr>
            <a:r>
              <a:rPr sz="1600" b="0">
                <a:solidFill>
                  <a:srgbClr val="222222"/>
                </a:solidFill>
                <a:latin typeface="맑은 고딕"/>
              </a:rPr>
              <a:t>•  Far Sync 인스턴스를 만들고 역할·컨트롤 파일 유형으로 확인한다.</a:t>
            </a:r>
          </a:p>
          <a:p>
            <a:pPr algn="l">
              <a:spcAft>
                <a:spcPts val="1000"/>
              </a:spcAft>
            </a:pPr>
            <a:r>
              <a:rPr sz="1600" b="0">
                <a:solidFill>
                  <a:srgbClr val="222222"/>
                </a:solidFill>
                <a:latin typeface="맑은 고딕"/>
              </a:rPr>
              <a:t>•  SRL 정의가 상속되고 파일은 없다는 상태를 CLEAR LOGFILE 로 해결한다.</a:t>
            </a:r>
          </a:p>
          <a:p>
            <a:pPr algn="l">
              <a:spcAft>
                <a:spcPts val="1000"/>
              </a:spcAft>
            </a:pPr>
            <a:r>
              <a:rPr sz="1600" b="0">
                <a:solidFill>
                  <a:srgbClr val="222222"/>
                </a:solidFill>
                <a:latin typeface="맑은 고딕"/>
              </a:rPr>
              <a:t>•  리두 경로를 Far Sync 경유로 바꾸고 세 노드에서 흐름을 추적한다.</a:t>
            </a:r>
          </a:p>
          <a:p>
            <a:pPr algn="l">
              <a:spcAft>
                <a:spcPts val="1000"/>
              </a:spcAft>
            </a:pPr>
            <a:r>
              <a:rPr sz="1600" b="0">
                <a:solidFill>
                  <a:srgbClr val="222222"/>
                </a:solidFill>
                <a:latin typeface="맑은 고딕"/>
              </a:rPr>
              <a:t>•  세 노드의 PROTECTION_LEVEL 이 다른 이유를 설명한다.</a:t>
            </a:r>
          </a:p>
          <a:p>
            <a:pPr algn="l">
              <a:spcAft>
                <a:spcPts val="1000"/>
              </a:spcAft>
            </a:pPr>
            <a:r>
              <a:rPr sz="1600" b="0">
                <a:solidFill>
                  <a:srgbClr val="222222"/>
                </a:solidFill>
                <a:latin typeface="맑은 고딕"/>
              </a:rPr>
              <a:t>•  Cascading 의 설정 규칙과 VALID_FOR 의 역할을 실측으로 확인한다.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10.2  Far Sync 가 푸는 문제</a:t>
            </a:r>
          </a:p>
          <a:p>
            <a:pPr algn="l">
              <a:spcAft>
                <a:spcPts val="1000"/>
              </a:spcAft>
            </a:pPr>
            <a:r>
              <a:rPr sz="1600" b="0">
                <a:solidFill>
                  <a:srgbClr val="222222"/>
                </a:solidFill>
                <a:latin typeface="맑은 고딕"/>
              </a:rPr>
              <a:t>•  10.3  Far Sync 인스턴스 만들기</a:t>
            </a:r>
          </a:p>
          <a:p>
            <a:pPr algn="l">
              <a:spcAft>
                <a:spcPts val="1000"/>
              </a:spcAft>
            </a:pPr>
            <a:r>
              <a:rPr sz="1600" b="0">
                <a:solidFill>
                  <a:srgbClr val="222222"/>
                </a:solidFill>
                <a:latin typeface="맑은 고딕"/>
              </a:rPr>
              <a:t>•  10.4  리두 경로 전환</a:t>
            </a:r>
          </a:p>
          <a:p>
            <a:pPr algn="l">
              <a:spcAft>
                <a:spcPts val="1000"/>
              </a:spcAft>
            </a:pPr>
            <a:r>
              <a:rPr sz="1600" b="0">
                <a:solidFill>
                  <a:srgbClr val="222222"/>
                </a:solidFill>
                <a:latin typeface="맑은 고딕"/>
              </a:rPr>
              <a:t>•  10.5  보호 모드 상향</a:t>
            </a:r>
          </a:p>
          <a:p>
            <a:pPr algn="l">
              <a:spcAft>
                <a:spcPts val="1000"/>
              </a:spcAft>
            </a:pPr>
            <a:r>
              <a:rPr sz="1600" b="0">
                <a:solidFill>
                  <a:srgbClr val="222222"/>
                </a:solidFill>
                <a:latin typeface="맑은 고딕"/>
              </a:rPr>
              <a:t>•  10.6  Far Sync 인스턴스의 정체</a:t>
            </a:r>
          </a:p>
          <a:p>
            <a:pPr algn="l">
              <a:spcAft>
                <a:spcPts val="1000"/>
              </a:spcAft>
            </a:pPr>
            <a:r>
              <a:rPr sz="1600" b="0">
                <a:solidFill>
                  <a:srgbClr val="222222"/>
                </a:solidFill>
                <a:latin typeface="맑은 고딕"/>
              </a:rPr>
              <a:t>•  10.7  Cascading</a:t>
            </a:r>
          </a:p>
          <a:p>
            <a:pPr algn="l">
              <a:spcAft>
                <a:spcPts val="1000"/>
              </a:spcAft>
            </a:pPr>
            <a:r>
              <a:rPr sz="1600" b="0">
                <a:solidFill>
                  <a:srgbClr val="222222"/>
                </a:solidFill>
                <a:latin typeface="맑은 고딕"/>
              </a:rPr>
              <a:t>•  10.8  원복과 운영 판단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Far Sync 가 푸는 문제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거리와 커밋 대기</a:t>
            </a:r>
          </a:p>
          <a:p>
            <a:pPr algn="l">
              <a:spcAft>
                <a:spcPts val="800"/>
              </a:spcAft>
            </a:pPr>
            <a:r>
              <a:rPr sz="1600" b="0">
                <a:solidFill>
                  <a:srgbClr val="FFFFFF"/>
                </a:solidFill>
                <a:latin typeface="맑은 고딕"/>
              </a:rPr>
              <a:t>•  역할을 나눈다</a:t>
            </a:r>
          </a:p>
          <a:p>
            <a:pPr algn="l">
              <a:spcAft>
                <a:spcPts val="800"/>
              </a:spcAft>
            </a:pPr>
            <a:r>
              <a:rPr sz="1600" b="0">
                <a:solidFill>
                  <a:srgbClr val="FFFFFF"/>
                </a:solidFill>
                <a:latin typeface="맑은 고딕"/>
              </a:rPr>
              <a:t>•  무엇을 얻고 무엇을 남기는가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동기 전송이 기다리는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왕복 두 번이 거리에 비례한다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LGWR 이 리두를 만든다 — 로컬 I/O</a:t>
            </a:r>
          </a:p>
          <a:p>
            <a:pPr algn="l">
              <a:spcAft>
                <a:spcPts val="1000"/>
              </a:spcAft>
            </a:pPr>
            <a:r>
              <a:rPr sz="1700" b="0">
                <a:solidFill>
                  <a:srgbClr val="222222"/>
                </a:solidFill>
                <a:latin typeface="맑은 고딕"/>
              </a:rPr>
              <a:t>•  네트워크로 Standby 에 보낸다 — </a:t>
            </a:r>
            <a:r>
              <a:rPr sz="1700" b="1">
                <a:solidFill>
                  <a:srgbClr val="222222"/>
                </a:solidFill>
                <a:latin typeface="맑은 고딕"/>
              </a:rPr>
              <a:t>거리에 비례</a:t>
            </a:r>
          </a:p>
          <a:p>
            <a:pPr algn="l">
              <a:spcAft>
                <a:spcPts val="1000"/>
              </a:spcAft>
            </a:pPr>
            <a:r>
              <a:rPr sz="1700" b="0">
                <a:solidFill>
                  <a:srgbClr val="222222"/>
                </a:solidFill>
                <a:latin typeface="맑은 고딕"/>
              </a:rPr>
              <a:t>•  Standby 가 SRL 에 쓴다 — 원격 I/O</a:t>
            </a:r>
          </a:p>
          <a:p>
            <a:pPr algn="l">
              <a:spcAft>
                <a:spcPts val="1000"/>
              </a:spcAft>
            </a:pPr>
            <a:r>
              <a:rPr sz="1700" b="0">
                <a:solidFill>
                  <a:srgbClr val="222222"/>
                </a:solidFill>
                <a:latin typeface="맑은 고딕"/>
              </a:rPr>
              <a:t>•  Standby 가 확인을 보낸다 — </a:t>
            </a:r>
            <a:r>
              <a:rPr sz="1700" b="1">
                <a:solidFill>
                  <a:srgbClr val="222222"/>
                </a:solidFill>
                <a:latin typeface="맑은 고딕"/>
              </a:rPr>
              <a:t>거리에 비례</a:t>
            </a:r>
          </a:p>
          <a:p>
            <a:pPr algn="l">
              <a:spcAft>
                <a:spcPts val="1000"/>
              </a:spcAft>
            </a:pPr>
            <a:r>
              <a:rPr sz="1700" b="0">
                <a:solidFill>
                  <a:srgbClr val="222222"/>
                </a:solidFill>
                <a:latin typeface="맑은 고딕"/>
              </a:rPr>
              <a:t>•  광섬유에서 1밀리초 ≈ 200km. 300km 면 왕복 3밀리초가 최소값</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모순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멀리 두고 싶은데, 멀면 동기를 못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재해 복구 관점 — </a:t>
            </a:r>
            <a:r>
              <a:rPr sz="1700" b="1">
                <a:solidFill>
                  <a:srgbClr val="222222"/>
                </a:solidFill>
                <a:latin typeface="맑은 고딕"/>
              </a:rPr>
              <a:t>멀수록 좋다</a:t>
            </a:r>
            <a:r>
              <a:rPr sz="1700" b="0">
                <a:solidFill>
                  <a:srgbClr val="222222"/>
                </a:solidFill>
                <a:latin typeface="맑은 고딕"/>
              </a:rPr>
              <a:t>. 같은 건물이면 화재 하나로 둘 다 잃는다</a:t>
            </a:r>
          </a:p>
          <a:p>
            <a:pPr algn="l">
              <a:spcAft>
                <a:spcPts val="1000"/>
              </a:spcAft>
            </a:pPr>
            <a:r>
              <a:rPr sz="1700" b="0">
                <a:solidFill>
                  <a:srgbClr val="222222"/>
                </a:solidFill>
                <a:latin typeface="맑은 고딕"/>
              </a:rPr>
              <a:t>•  무손실 관점 — </a:t>
            </a:r>
            <a:r>
              <a:rPr sz="1700" b="1">
                <a:solidFill>
                  <a:srgbClr val="222222"/>
                </a:solidFill>
                <a:latin typeface="맑은 고딕"/>
              </a:rPr>
              <a:t>동기 전송이 필요하다</a:t>
            </a:r>
          </a:p>
          <a:p>
            <a:pPr algn="l">
              <a:spcAft>
                <a:spcPts val="1000"/>
              </a:spcAft>
            </a:pPr>
            <a:r>
              <a:rPr sz="1700" b="0">
                <a:solidFill>
                  <a:srgbClr val="222222"/>
                </a:solidFill>
                <a:latin typeface="맑은 고딕"/>
              </a:rPr>
              <a:t>•  동기 전송 관점 — </a:t>
            </a:r>
            <a:r>
              <a:rPr sz="1700" b="1">
                <a:solidFill>
                  <a:srgbClr val="222222"/>
                </a:solidFill>
                <a:latin typeface="맑은 고딕"/>
              </a:rPr>
              <a:t>가까워야 한다</a:t>
            </a:r>
          </a:p>
          <a:p>
            <a:pPr algn="l">
              <a:spcAft>
                <a:spcPts val="1000"/>
              </a:spcAft>
            </a:pPr>
            <a:r>
              <a:rPr sz="1700" b="0">
                <a:solidFill>
                  <a:srgbClr val="222222"/>
                </a:solidFill>
                <a:latin typeface="맑은 고딕"/>
              </a:rPr>
              <a:t>•  세 요구가 동시에 만족되지 않는다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역할을 나눈다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가까운 곳과만 동기로 대화한다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chicago (Primary)</a:t>
            </a:r>
            <a:r>
              <a:rPr sz="1700" b="0">
                <a:solidFill>
                  <a:srgbClr val="222222"/>
                </a:solidFill>
                <a:latin typeface="맑은 고딕"/>
              </a:rPr>
              <a:t> — 주 센터, 데이터 있음</a:t>
            </a:r>
          </a:p>
          <a:p>
            <a:pPr algn="l">
              <a:spcAft>
                <a:spcPts val="1000"/>
              </a:spcAft>
            </a:pPr>
            <a:r>
              <a:rPr sz="1700" b="0">
                <a:solidFill>
                  <a:srgbClr val="222222"/>
                </a:solidFill>
                <a:latin typeface="맑은 고딕"/>
              </a:rPr>
              <a:t>•  </a:t>
            </a:r>
            <a:r>
              <a:rPr sz="1700" b="1">
                <a:solidFill>
                  <a:srgbClr val="222222"/>
                </a:solidFill>
                <a:latin typeface="맑은 고딕"/>
              </a:rPr>
              <a:t>farsync (Far Sync)</a:t>
            </a:r>
            <a:r>
              <a:rPr sz="1700" b="0">
                <a:solidFill>
                  <a:srgbClr val="222222"/>
                </a:solidFill>
                <a:latin typeface="맑은 고딕"/>
              </a:rPr>
              <a:t> — 주 센터 근처, </a:t>
            </a:r>
            <a:r>
              <a:rPr sz="1700" b="1">
                <a:solidFill>
                  <a:srgbClr val="222222"/>
                </a:solidFill>
                <a:latin typeface="맑은 고딕"/>
              </a:rPr>
              <a:t>SYNC AFFIRM</a:t>
            </a:r>
            <a:r>
              <a:rPr sz="1700" b="0">
                <a:solidFill>
                  <a:srgbClr val="222222"/>
                </a:solidFill>
                <a:latin typeface="맑은 고딕"/>
              </a:rPr>
              <a:t>, 데이터 </a:t>
            </a:r>
            <a:r>
              <a:rPr sz="1700" b="1">
                <a:solidFill>
                  <a:srgbClr val="222222"/>
                </a:solidFill>
                <a:latin typeface="맑은 고딕"/>
              </a:rPr>
              <a:t>없음</a:t>
            </a:r>
          </a:p>
          <a:p>
            <a:pPr algn="l">
              <a:spcAft>
                <a:spcPts val="1000"/>
              </a:spcAft>
            </a:pPr>
            <a:r>
              <a:rPr sz="1700" b="0">
                <a:solidFill>
                  <a:srgbClr val="222222"/>
                </a:solidFill>
                <a:latin typeface="맑은 고딕"/>
              </a:rPr>
              <a:t>•  </a:t>
            </a:r>
            <a:r>
              <a:rPr sz="1700" b="1">
                <a:solidFill>
                  <a:srgbClr val="222222"/>
                </a:solidFill>
                <a:latin typeface="맑은 고딕"/>
              </a:rPr>
              <a:t>boston (Standby)</a:t>
            </a:r>
            <a:r>
              <a:rPr sz="1700" b="0">
                <a:solidFill>
                  <a:srgbClr val="222222"/>
                </a:solidFill>
                <a:latin typeface="맑은 고딕"/>
              </a:rPr>
              <a:t> — 원거리 DR 센터, Far Sync 가 </a:t>
            </a:r>
            <a:r>
              <a:rPr sz="1700" b="1">
                <a:solidFill>
                  <a:srgbClr val="222222"/>
                </a:solidFill>
                <a:latin typeface="맑은 고딕"/>
              </a:rPr>
              <a:t>ASYNC</a:t>
            </a:r>
            <a:r>
              <a:rPr sz="1700" b="0">
                <a:solidFill>
                  <a:srgbClr val="222222"/>
                </a:solidFill>
                <a:latin typeface="맑은 고딕"/>
              </a:rPr>
              <a:t> 로 전달</a:t>
            </a:r>
          </a:p>
          <a:p>
            <a:pPr algn="l">
              <a:spcAft>
                <a:spcPts val="1000"/>
              </a:spcAft>
            </a:pPr>
            <a:r>
              <a:rPr sz="1700" b="0">
                <a:solidFill>
                  <a:srgbClr val="222222"/>
                </a:solidFill>
                <a:latin typeface="맑은 고딕"/>
              </a:rPr>
              <a:t>•  커밋 대기는 가까운 거리만큼만 든다</a:t>
            </a:r>
          </a:p>
          <a:p>
            <a:pPr algn="l">
              <a:spcAft>
                <a:spcPts val="1000"/>
              </a:spcAft>
            </a:pPr>
            <a:r>
              <a:rPr sz="1700" b="0">
                <a:solidFill>
                  <a:srgbClr val="222222"/>
                </a:solidFill>
                <a:latin typeface="맑은 고딕"/>
              </a:rPr>
              <a:t>•  손실 위험은 "Far Sync 까지는 확실하다" 선까지 줄어든다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환경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번째 노드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farsync-srv / 172.16.225.62 / SID farsync</a:t>
            </a:r>
          </a:p>
          <a:p>
            <a:pPr algn="l">
              <a:spcAft>
                <a:spcPts val="1000"/>
              </a:spcAft>
            </a:pPr>
            <a:r>
              <a:rPr sz="1700" b="0">
                <a:solidFill>
                  <a:srgbClr val="222222"/>
                </a:solidFill>
                <a:latin typeface="맑은 고딕"/>
              </a:rPr>
              <a:t>•  메모리 </a:t>
            </a:r>
            <a:r>
              <a:rPr sz="1700" b="1">
                <a:solidFill>
                  <a:srgbClr val="222222"/>
                </a:solidFill>
                <a:latin typeface="맑은 고딕"/>
              </a:rPr>
              <a:t>2048MB</a:t>
            </a:r>
            <a:r>
              <a:rPr sz="1700" b="0">
                <a:solidFill>
                  <a:srgbClr val="222222"/>
                </a:solidFill>
                <a:latin typeface="맑은 고딕"/>
              </a:rPr>
              <a:t>, CPU </a:t>
            </a:r>
            <a:r>
              <a:rPr sz="1700" b="1">
                <a:solidFill>
                  <a:srgbClr val="222222"/>
                </a:solidFill>
                <a:latin typeface="맑은 고딕"/>
              </a:rPr>
              <a:t>2</a:t>
            </a:r>
            <a:r>
              <a:rPr sz="1700" b="0">
                <a:solidFill>
                  <a:srgbClr val="222222"/>
                </a:solidFill>
                <a:latin typeface="맑은 고딕"/>
              </a:rPr>
              <a:t> (chicago·boston 은 6144MB / 4)</a:t>
            </a:r>
          </a:p>
          <a:p>
            <a:pPr algn="l">
              <a:spcAft>
                <a:spcPts val="1000"/>
              </a:spcAft>
            </a:pPr>
            <a:r>
              <a:rPr sz="1700" b="0">
                <a:solidFill>
                  <a:srgbClr val="222222"/>
                </a:solidFill>
                <a:latin typeface="맑은 고딕"/>
              </a:rPr>
              <a:t>•  SGA 800MB, 디스크 약 1GB</a:t>
            </a:r>
          </a:p>
          <a:p>
            <a:pPr algn="l">
              <a:spcAft>
                <a:spcPts val="1000"/>
              </a:spcAft>
            </a:pPr>
            <a:r>
              <a:rPr sz="1700" b="0">
                <a:solidFill>
                  <a:srgbClr val="222222"/>
                </a:solidFill>
                <a:latin typeface="맑은 고딕"/>
              </a:rPr>
              <a:t>•  오라클 바이너리는 Primary 와 같은 </a:t>
            </a:r>
            <a:r>
              <a:rPr sz="1700" b="1">
                <a:solidFill>
                  <a:srgbClr val="222222"/>
                </a:solidFill>
                <a:latin typeface="맑은 고딕"/>
              </a:rPr>
              <a:t>19.3.0</a:t>
            </a:r>
            <a:r>
              <a:rPr sz="1700" b="0">
                <a:solidFill>
                  <a:srgbClr val="222222"/>
                </a:solidFill>
                <a:latin typeface="맑은 고딕"/>
              </a:rPr>
              <a:t> 이어야 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Far Sync 인스턴스 만들기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컨트롤 파일</a:t>
            </a:r>
          </a:p>
          <a:p>
            <a:pPr algn="l">
              <a:spcAft>
                <a:spcPts val="800"/>
              </a:spcAft>
            </a:pPr>
            <a:r>
              <a:rPr sz="1600" b="0">
                <a:solidFill>
                  <a:srgbClr val="FFFFFF"/>
                </a:solidFill>
                <a:latin typeface="맑은 고딕"/>
              </a:rPr>
              <a:t>•  pfile — 넣는 것과 빼는 것</a:t>
            </a:r>
          </a:p>
          <a:p>
            <a:pPr algn="l">
              <a:spcAft>
                <a:spcPts val="800"/>
              </a:spcAft>
            </a:pPr>
            <a:r>
              <a:rPr sz="1600" b="0">
                <a:solidFill>
                  <a:srgbClr val="FFFFFF"/>
                </a:solidFill>
                <a:latin typeface="맑은 고딕"/>
              </a:rPr>
              <a:t>•  SRL — 정의는 있고 파일은 없다</a:t>
            </a:r>
          </a:p>
          <a:p>
            <a:pPr algn="l">
              <a:spcAft>
                <a:spcPts val="800"/>
              </a:spcAft>
            </a:pPr>
            <a:r>
              <a:rPr sz="1600" b="0">
                <a:solidFill>
                  <a:srgbClr val="FFFFFF"/>
                </a:solidFill>
                <a:latin typeface="맑은 고딕"/>
              </a:rPr>
              <a:t>•  Oracle 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컨트롤 파일은 Primary 가 만든다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18,989,056바이트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DATABASE CREATE FAR SYNC INSTANCE CONTROLFILE AS '/tmp/farsync.ctl';</a:t>
            </a:r>
          </a:p>
          <a:p>
            <a:pPr algn="l">
              <a:spcAft>
                <a:spcPts val="1000"/>
              </a:spcAft>
            </a:pPr>
            <a:r>
              <a:rPr sz="1700" b="0">
                <a:solidFill>
                  <a:srgbClr val="222222"/>
                </a:solidFill>
                <a:latin typeface="맑은 고딕"/>
              </a:rPr>
              <a:t>•  실측 </a:t>
            </a:r>
            <a:r>
              <a:rPr sz="1700" b="1">
                <a:solidFill>
                  <a:srgbClr val="222222"/>
                </a:solidFill>
                <a:latin typeface="맑은 고딕"/>
              </a:rPr>
              <a:t>18,989,056바이트</a:t>
            </a:r>
            <a:r>
              <a:rPr sz="1700" b="0">
                <a:solidFill>
                  <a:srgbClr val="222222"/>
                </a:solidFill>
                <a:latin typeface="맑은 고딕"/>
              </a:rPr>
              <a:t> (약 19MB)</a:t>
            </a:r>
          </a:p>
          <a:p>
            <a:pPr algn="l">
              <a:spcAft>
                <a:spcPts val="1000"/>
              </a:spcAft>
            </a:pPr>
            <a:r>
              <a:rPr sz="1700" b="0">
                <a:solidFill>
                  <a:srgbClr val="222222"/>
                </a:solidFill>
                <a:latin typeface="맑은 고딕"/>
              </a:rPr>
              <a:t>•  일반 컨트롤 파일과 크기가 비슷하다 — 메타데이터를 그대로 담는다</a:t>
            </a:r>
          </a:p>
          <a:p>
            <a:pPr algn="l">
              <a:spcAft>
                <a:spcPts val="1000"/>
              </a:spcAft>
            </a:pPr>
            <a:r>
              <a:rPr sz="1700" b="0">
                <a:solidFill>
                  <a:srgbClr val="222222"/>
                </a:solidFill>
                <a:latin typeface="맑은 고딕"/>
              </a:rPr>
              <a:t>•  </a:t>
            </a:r>
            <a:r>
              <a:rPr sz="1700" b="1">
                <a:solidFill>
                  <a:srgbClr val="222222"/>
                </a:solidFill>
                <a:latin typeface="맑은 고딕"/>
              </a:rPr>
              <a:t>FAR SYNC 는 띄어 쓴다.</a:t>
            </a:r>
            <a:r>
              <a:rPr sz="1700" b="0">
                <a:solidFill>
                  <a:srgbClr val="222222"/>
                </a:solidFill>
                <a:latin typeface="맑은 고딕"/>
              </a:rPr>
              <a:t> 붙여 쓰면 </a:t>
            </a:r>
            <a:r>
              <a:rPr sz="1700" b="1">
                <a:solidFill>
                  <a:srgbClr val="222222"/>
                </a:solidFill>
                <a:latin typeface="맑은 고딕"/>
              </a:rPr>
              <a:t>ORA-00900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옮기는 것은 둘뿐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없는 것이 성격을 말한다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옮긴다</a:t>
            </a:r>
            <a:r>
              <a:rPr sz="1700" b="0">
                <a:solidFill>
                  <a:srgbClr val="222222"/>
                </a:solidFill>
                <a:latin typeface="맑은 고딕"/>
              </a:rPr>
              <a:t> — 컨트롤 파일, 패스워드 파일(</a:t>
            </a:r>
            <a:r>
              <a:rPr sz="1700" b="0">
                <a:solidFill>
                  <a:srgbClr val="222222"/>
                </a:solidFill>
                <a:latin typeface="Consolas"/>
                <a:cs typeface="Consolas"/>
              </a:rPr>
              <a:t>orapwfarsync</a:t>
            </a:r>
            <a:r>
              <a:rPr sz="1700" b="0">
                <a:solidFill>
                  <a:srgbClr val="222222"/>
                </a:solidFill>
                <a:latin typeface="맑은 고딕"/>
              </a:rPr>
              <a:t>)</a:t>
            </a:r>
          </a:p>
          <a:p>
            <a:pPr algn="l">
              <a:spcAft>
                <a:spcPts val="1000"/>
              </a:spcAft>
            </a:pPr>
            <a:r>
              <a:rPr sz="1700" b="0">
                <a:solidFill>
                  <a:srgbClr val="222222"/>
                </a:solidFill>
                <a:latin typeface="맑은 고딕"/>
              </a:rPr>
              <a:t>•  </a:t>
            </a:r>
            <a:r>
              <a:rPr sz="1700" b="1">
                <a:solidFill>
                  <a:srgbClr val="222222"/>
                </a:solidFill>
                <a:latin typeface="맑은 고딕"/>
              </a:rPr>
              <a:t>안 옮긴다</a:t>
            </a:r>
            <a:r>
              <a:rPr sz="1700" b="0">
                <a:solidFill>
                  <a:srgbClr val="222222"/>
                </a:solidFill>
                <a:latin typeface="맑은 고딕"/>
              </a:rPr>
              <a:t> — 데이터 파일, 임시 파일, SPFILE, 리두 로그</a:t>
            </a:r>
          </a:p>
          <a:p>
            <a:pPr algn="l">
              <a:spcAft>
                <a:spcPts val="1000"/>
              </a:spcAft>
            </a:pPr>
            <a:r>
              <a:rPr sz="1700" b="0">
                <a:solidFill>
                  <a:srgbClr val="222222"/>
                </a:solidFill>
                <a:latin typeface="맑은 고딕"/>
              </a:rPr>
              <a:t>•  패스워드 파일은 </a:t>
            </a:r>
            <a:r>
              <a:rPr sz="1700" b="0">
                <a:solidFill>
                  <a:srgbClr val="222222"/>
                </a:solidFill>
                <a:latin typeface="Consolas"/>
                <a:cs typeface="Consolas"/>
              </a:rPr>
              <a:t>orapw&lt;SID&gt;</a:t>
            </a:r>
            <a:r>
              <a:rPr sz="1700" b="0">
                <a:solidFill>
                  <a:srgbClr val="222222"/>
                </a:solidFill>
                <a:latin typeface="맑은 고딕"/>
              </a:rPr>
              <a:t> 규칙에 맞춰 이름이 바뀐다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pfile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짧다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db_name=chicago</a:t>
            </a:r>
            <a:r>
              <a:rPr sz="1700" b="0">
                <a:solidFill>
                  <a:srgbClr val="222222"/>
                </a:solidFill>
                <a:latin typeface="맑은 고딕"/>
              </a:rPr>
              <a:t> / </a:t>
            </a:r>
            <a:r>
              <a:rPr sz="1700" b="0">
                <a:solidFill>
                  <a:srgbClr val="222222"/>
                </a:solidFill>
                <a:latin typeface="Consolas"/>
                <a:cs typeface="Consolas"/>
              </a:rPr>
              <a:t>db_unique_name=farsync</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log_archive_config='dg_config=(chicago,boston,farsync)'</a:t>
            </a:r>
            <a:r>
              <a:rPr sz="1700" b="0">
                <a:solidFill>
                  <a:srgbClr val="222222"/>
                </a:solidFill>
                <a:latin typeface="맑은 고딕"/>
              </a:rPr>
              <a:t> — </a:t>
            </a:r>
            <a:r>
              <a:rPr sz="1700" b="1">
                <a:solidFill>
                  <a:srgbClr val="222222"/>
                </a:solidFill>
                <a:latin typeface="맑은 고딕"/>
              </a:rPr>
              <a:t>세 노드 모두</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log_archive_dest_1</a:t>
            </a:r>
            <a:r>
              <a:rPr sz="1700" b="0">
                <a:solidFill>
                  <a:srgbClr val="222222"/>
                </a:solidFill>
                <a:latin typeface="맑은 고딕"/>
              </a:rPr>
              <a:t> — 로컬 아카이브</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log_archive_dest_2='service=boston async ...'</a:t>
            </a:r>
            <a:r>
              <a:rPr sz="1700" b="0">
                <a:solidFill>
                  <a:srgbClr val="222222"/>
                </a:solidFill>
                <a:latin typeface="맑은 고딕"/>
              </a:rPr>
              <a:t> — 다음 목적지로 전달</a:t>
            </a:r>
          </a:p>
          <a:p>
            <a:pPr algn="l">
              <a:spcAft>
                <a:spcPts val="1000"/>
              </a:spcAft>
            </a:pPr>
            <a:r>
              <a:rPr sz="1700" b="0">
                <a:solidFill>
                  <a:srgbClr val="222222"/>
                </a:solidFill>
                <a:latin typeface="맑은 고딕"/>
              </a:rPr>
              <a:t>•  </a:t>
            </a:r>
            <a:r>
              <a:rPr sz="1700" b="0">
                <a:solidFill>
                  <a:srgbClr val="222222"/>
                </a:solidFill>
                <a:latin typeface="Consolas"/>
                <a:cs typeface="Consolas"/>
              </a:rPr>
              <a:t>log_file_name_convert</a:t>
            </a:r>
            <a:r>
              <a:rPr sz="1700" b="0">
                <a:solidFill>
                  <a:srgbClr val="222222"/>
                </a:solidFill>
                <a:latin typeface="맑은 고딕"/>
              </a:rPr>
              <a:t> — SRL 경로 변환</a:t>
            </a:r>
          </a:p>
          <a:p>
            <a:pPr algn="l">
              <a:spcAft>
                <a:spcPts val="1000"/>
              </a:spcAft>
            </a:pPr>
            <a:r>
              <a:rPr sz="1700" b="0">
                <a:solidFill>
                  <a:srgbClr val="222222"/>
                </a:solidFill>
                <a:latin typeface="맑은 고딕"/>
              </a:rPr>
              <a:t>•  </a:t>
            </a:r>
            <a:r>
              <a:rPr sz="1700" b="1">
                <a:solidFill>
                  <a:srgbClr val="222222"/>
                </a:solidFill>
                <a:latin typeface="맑은 고딕"/>
              </a:rPr>
              <a:t>없는 것</a:t>
            </a:r>
            <a:r>
              <a:rPr sz="1700" b="0">
                <a:solidFill>
                  <a:srgbClr val="222222"/>
                </a:solidFill>
                <a:latin typeface="맑은 고딕"/>
              </a:rPr>
              <a:t> — </a:t>
            </a:r>
            <a:r>
              <a:rPr sz="1700" b="0">
                <a:solidFill>
                  <a:srgbClr val="222222"/>
                </a:solidFill>
                <a:latin typeface="Consolas"/>
                <a:cs typeface="Consolas"/>
              </a:rPr>
              <a:t>db_create_file_dest</a:t>
            </a:r>
            <a:r>
              <a:rPr sz="1700" b="0">
                <a:solidFill>
                  <a:srgbClr val="222222"/>
                </a:solidFill>
                <a:latin typeface="맑은 고딕"/>
              </a:rPr>
              <a:t>. 만들 데이터 파일이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기동과 정체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번째 역할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STARTUP MOUNT pfile=...</a:t>
            </a:r>
            <a:r>
              <a:rPr sz="1700" b="0">
                <a:solidFill>
                  <a:srgbClr val="222222"/>
                </a:solidFill>
                <a:latin typeface="맑은 고딕"/>
              </a:rPr>
              <a:t> 한 번으로 끝난다</a:t>
            </a:r>
          </a:p>
          <a:p>
            <a:pPr algn="l">
              <a:spcAft>
                <a:spcPts val="1000"/>
              </a:spcAft>
            </a:pPr>
            <a:r>
              <a:rPr sz="1700" b="0">
                <a:solidFill>
                  <a:srgbClr val="222222"/>
                </a:solidFill>
                <a:latin typeface="맑은 고딕"/>
              </a:rPr>
              <a:t>•  </a:t>
            </a:r>
            <a:r>
              <a:rPr sz="1700" b="0">
                <a:solidFill>
                  <a:srgbClr val="222222"/>
                </a:solidFill>
                <a:latin typeface="Consolas"/>
                <a:cs typeface="Consolas"/>
              </a:rPr>
              <a:t>DATABASE_ROLE</a:t>
            </a:r>
            <a:r>
              <a:rPr sz="1700" b="0">
                <a:solidFill>
                  <a:srgbClr val="222222"/>
                </a:solidFill>
                <a:latin typeface="맑은 고딕"/>
              </a:rPr>
              <a:t> = </a:t>
            </a:r>
            <a:r>
              <a:rPr sz="1700" b="1">
                <a:solidFill>
                  <a:srgbClr val="222222"/>
                </a:solidFill>
                <a:latin typeface="맑은 고딕"/>
              </a:rPr>
              <a:t>FAR SYNC</a:t>
            </a:r>
          </a:p>
          <a:p>
            <a:pPr algn="l">
              <a:spcAft>
                <a:spcPts val="1000"/>
              </a:spcAft>
            </a:pPr>
            <a:r>
              <a:rPr sz="1700" b="0">
                <a:solidFill>
                  <a:srgbClr val="222222"/>
                </a:solidFill>
                <a:latin typeface="맑은 고딕"/>
              </a:rPr>
              <a:t>•  </a:t>
            </a:r>
            <a:r>
              <a:rPr sz="1700" b="0">
                <a:solidFill>
                  <a:srgbClr val="222222"/>
                </a:solidFill>
                <a:latin typeface="Consolas"/>
                <a:cs typeface="Consolas"/>
              </a:rPr>
              <a:t>CONTROLFILE_TYPE</a:t>
            </a:r>
            <a:r>
              <a:rPr sz="1700" b="0">
                <a:solidFill>
                  <a:srgbClr val="222222"/>
                </a:solidFill>
                <a:latin typeface="맑은 고딕"/>
              </a:rPr>
              <a:t> = </a:t>
            </a:r>
            <a:r>
              <a:rPr sz="1700" b="1">
                <a:solidFill>
                  <a:srgbClr val="222222"/>
                </a:solidFill>
                <a:latin typeface="맑은 고딕"/>
              </a:rPr>
              <a:t>FARSYNC</a:t>
            </a:r>
          </a:p>
          <a:p>
            <a:pPr algn="l">
              <a:spcAft>
                <a:spcPts val="1000"/>
              </a:spcAft>
            </a:pPr>
            <a:r>
              <a:rPr sz="1700" b="0">
                <a:solidFill>
                  <a:srgbClr val="222222"/>
                </a:solidFill>
                <a:latin typeface="맑은 고딕"/>
              </a:rPr>
              <a:t>•  </a:t>
            </a:r>
            <a:r>
              <a:rPr sz="1700" b="0">
                <a:solidFill>
                  <a:srgbClr val="222222"/>
                </a:solidFill>
                <a:latin typeface="Consolas"/>
                <a:cs typeface="Consolas"/>
              </a:rPr>
              <a:t>OPEN_MODE</a:t>
            </a:r>
            <a:r>
              <a:rPr sz="1700" b="0">
                <a:solidFill>
                  <a:srgbClr val="222222"/>
                </a:solidFill>
                <a:latin typeface="맑은 고딕"/>
              </a:rPr>
              <a:t> = </a:t>
            </a:r>
            <a:r>
              <a:rPr sz="1700" b="1">
                <a:solidFill>
                  <a:srgbClr val="222222"/>
                </a:solidFill>
                <a:latin typeface="맑은 고딕"/>
              </a:rPr>
              <a:t>MOUNTED</a:t>
            </a:r>
            <a:r>
              <a:rPr sz="1700" b="0">
                <a:solidFill>
                  <a:srgbClr val="222222"/>
                </a:solidFill>
                <a:latin typeface="맑은 고딕"/>
              </a:rPr>
              <a:t> (열 수 없다)</a:t>
            </a:r>
          </a:p>
          <a:p>
            <a:pPr algn="l">
              <a:spcAft>
                <a:spcPts val="1000"/>
              </a:spcAft>
            </a:pPr>
            <a:r>
              <a:rPr sz="1700" b="0">
                <a:solidFill>
                  <a:srgbClr val="222222"/>
                </a:solidFill>
                <a:latin typeface="맑은 고딕"/>
              </a:rPr>
              <a:t>•  열려고 하면 </a:t>
            </a:r>
            <a:r>
              <a:rPr sz="1700" b="1">
                <a:solidFill>
                  <a:srgbClr val="222222"/>
                </a:solidFill>
                <a:latin typeface="맑은 고딕"/>
              </a:rPr>
              <a:t>ORA-16476</a:t>
            </a:r>
            <a:r>
              <a:rPr sz="1700" b="0">
                <a:solidFill>
                  <a:srgbClr val="222222"/>
                </a:solidFill>
                <a:latin typeface="맑은 고딕"/>
              </a:rPr>
              <a:t> — </a:t>
            </a:r>
            <a:r>
              <a:rPr sz="1700" b="0">
                <a:solidFill>
                  <a:srgbClr val="222222"/>
                </a:solidFill>
                <a:latin typeface="Consolas"/>
                <a:cs typeface="Consolas"/>
              </a:rPr>
              <a:t>far sync instance does not allow Open operation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정의는 상속되고 파일은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ADD STANDBY LOGFILE GROUP 4</a:t>
            </a:r>
            <a:r>
              <a:rPr sz="1700" b="0">
                <a:solidFill>
                  <a:srgbClr val="222222"/>
                </a:solidFill>
                <a:latin typeface="맑은 고딕"/>
              </a:rPr>
              <a:t> → </a:t>
            </a:r>
            <a:r>
              <a:rPr sz="1700" b="1">
                <a:solidFill>
                  <a:srgbClr val="222222"/>
                </a:solidFill>
                <a:latin typeface="맑은 고딕"/>
              </a:rPr>
              <a:t>ORA-01184: logfile group 4 already exists</a:t>
            </a:r>
          </a:p>
          <a:p>
            <a:pPr algn="l">
              <a:spcAft>
                <a:spcPts val="1000"/>
              </a:spcAft>
            </a:pPr>
            <a:r>
              <a:rPr sz="1700" b="0">
                <a:solidFill>
                  <a:srgbClr val="222222"/>
                </a:solidFill>
                <a:latin typeface="맑은 고딕"/>
              </a:rPr>
              <a:t>•  </a:t>
            </a:r>
            <a:r>
              <a:rPr sz="1700" b="0">
                <a:solidFill>
                  <a:srgbClr val="222222"/>
                </a:solidFill>
                <a:latin typeface="Consolas"/>
                <a:cs typeface="Consolas"/>
              </a:rPr>
              <a:t>V$LOGFILE</a:t>
            </a:r>
            <a:r>
              <a:rPr sz="1700" b="0">
                <a:solidFill>
                  <a:srgbClr val="222222"/>
                </a:solidFill>
                <a:latin typeface="맑은 고딕"/>
              </a:rPr>
              <a:t> 에 STANDBY 4~7 이 이미 있다 (경로는 변환됨)</a:t>
            </a:r>
          </a:p>
          <a:p>
            <a:pPr algn="l">
              <a:spcAft>
                <a:spcPts val="1000"/>
              </a:spcAft>
            </a:pPr>
            <a:r>
              <a:rPr sz="1700" b="0">
                <a:solidFill>
                  <a:srgbClr val="222222"/>
                </a:solidFill>
                <a:latin typeface="맑은 고딕"/>
              </a:rPr>
              <a:t>•  그런데 </a:t>
            </a:r>
            <a:r>
              <a:rPr sz="1700" b="0">
                <a:solidFill>
                  <a:srgbClr val="222222"/>
                </a:solidFill>
                <a:latin typeface="Consolas"/>
                <a:cs typeface="Consolas"/>
              </a:rPr>
              <a:t>ls</a:t>
            </a:r>
            <a:r>
              <a:rPr sz="1700" b="0">
                <a:solidFill>
                  <a:srgbClr val="222222"/>
                </a:solidFill>
                <a:latin typeface="맑은 고딕"/>
              </a:rPr>
              <a:t> 하면 </a:t>
            </a:r>
            <a:r>
              <a:rPr sz="1700" b="0">
                <a:solidFill>
                  <a:srgbClr val="222222"/>
                </a:solidFill>
                <a:latin typeface="Consolas"/>
                <a:cs typeface="Consolas"/>
              </a:rPr>
              <a:t>control01.ctl</a:t>
            </a:r>
            <a:r>
              <a:rPr sz="1700" b="0">
                <a:solidFill>
                  <a:srgbClr val="222222"/>
                </a:solidFill>
                <a:latin typeface="맑은 고딕"/>
              </a:rPr>
              <a:t> 하나뿐</a:t>
            </a:r>
          </a:p>
          <a:p>
            <a:pPr algn="l">
              <a:spcAft>
                <a:spcPts val="1000"/>
              </a:spcAft>
            </a:pPr>
            <a:r>
              <a:rPr sz="1700" b="0">
                <a:solidFill>
                  <a:srgbClr val="222222"/>
                </a:solidFill>
                <a:latin typeface="맑은 고딕"/>
              </a:rPr>
              <a:t>•  해결 — </a:t>
            </a:r>
            <a:r>
              <a:rPr sz="1700" b="0">
                <a:solidFill>
                  <a:srgbClr val="222222"/>
                </a:solidFill>
                <a:latin typeface="Consolas"/>
                <a:cs typeface="Consolas"/>
              </a:rPr>
              <a:t>ALTER DATABASE CLEAR LOGFILE GROUP 4~7</a:t>
            </a:r>
          </a:p>
          <a:p>
            <a:pPr algn="l">
              <a:spcAft>
                <a:spcPts val="1000"/>
              </a:spcAft>
            </a:pPr>
            <a:r>
              <a:rPr sz="1700" b="0">
                <a:solidFill>
                  <a:srgbClr val="222222"/>
                </a:solidFill>
                <a:latin typeface="맑은 고딕"/>
              </a:rPr>
              <a:t>•  각 </a:t>
            </a:r>
            <a:r>
              <a:rPr sz="1700" b="1">
                <a:solidFill>
                  <a:srgbClr val="222222"/>
                </a:solidFill>
                <a:latin typeface="맑은 고딕"/>
              </a:rPr>
              <a:t>209,715,712바이트</a:t>
            </a:r>
            <a:r>
              <a:rPr sz="1700" b="0">
                <a:solidFill>
                  <a:srgbClr val="222222"/>
                </a:solidFill>
                <a:latin typeface="맑은 고딕"/>
              </a:rPr>
              <a:t> (200MB) 생성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Oracle Net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예상이 깨지는 곳</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정적 등록 — </a:t>
            </a:r>
            <a:r>
              <a:rPr sz="1700" b="0">
                <a:solidFill>
                  <a:srgbClr val="222222"/>
                </a:solidFill>
                <a:latin typeface="Consolas"/>
                <a:cs typeface="Consolas"/>
              </a:rPr>
              <a:t>status UNKNOWN</a:t>
            </a:r>
          </a:p>
          <a:p>
            <a:pPr algn="l">
              <a:spcAft>
                <a:spcPts val="1000"/>
              </a:spcAft>
            </a:pPr>
            <a:r>
              <a:rPr sz="1700" b="0">
                <a:solidFill>
                  <a:srgbClr val="222222"/>
                </a:solidFill>
                <a:latin typeface="맑은 고딕"/>
              </a:rPr>
              <a:t>•  잠시 뒤 다시 보면 </a:t>
            </a:r>
            <a:r>
              <a:rPr sz="1700" b="1">
                <a:solidFill>
                  <a:srgbClr val="222222"/>
                </a:solidFill>
                <a:latin typeface="Consolas"/>
                <a:cs typeface="Consolas"/>
              </a:rPr>
              <a:t>status READY</a:t>
            </a:r>
            <a:r>
              <a:rPr sz="1700" b="1">
                <a:solidFill>
                  <a:srgbClr val="222222"/>
                </a:solidFill>
                <a:latin typeface="맑은 고딕"/>
              </a:rPr>
              <a:t> 가 함께 나타난다</a:t>
            </a:r>
          </a:p>
          <a:p>
            <a:pPr algn="l">
              <a:spcAft>
                <a:spcPts val="1000"/>
              </a:spcAft>
            </a:pPr>
            <a:r>
              <a:rPr sz="1700" b="0">
                <a:solidFill>
                  <a:srgbClr val="222222"/>
                </a:solidFill>
                <a:latin typeface="맑은 고딕"/>
              </a:rPr>
              <a:t>•  같은 인스턴스가 두 줄로 보인다 (정적 + 동적)</a:t>
            </a:r>
          </a:p>
          <a:p>
            <a:pPr algn="l">
              <a:spcAft>
                <a:spcPts val="1000"/>
              </a:spcAft>
            </a:pPr>
            <a:r>
              <a:rPr sz="1700" b="0">
                <a:solidFill>
                  <a:srgbClr val="222222"/>
                </a:solidFill>
                <a:latin typeface="맑은 고딕"/>
              </a:rPr>
              <a:t>•  딕셔너리가 없어도 등록된다 — PMON 은 </a:t>
            </a:r>
            <a:r>
              <a:rPr sz="1700" b="0">
                <a:solidFill>
                  <a:srgbClr val="222222"/>
                </a:solidFill>
                <a:latin typeface="Consolas"/>
                <a:cs typeface="Consolas"/>
              </a:rPr>
              <a:t>SERVICE_NAMES</a:t>
            </a:r>
            <a:r>
              <a:rPr sz="1700" b="0">
                <a:solidFill>
                  <a:srgbClr val="222222"/>
                </a:solidFill>
                <a:latin typeface="맑은 고딕"/>
              </a:rPr>
              <a:t> 를 알린다</a:t>
            </a:r>
          </a:p>
          <a:p>
            <a:pPr algn="l">
              <a:spcAft>
                <a:spcPts val="1000"/>
              </a:spcAft>
            </a:pPr>
            <a:r>
              <a:rPr sz="1700" b="0">
                <a:solidFill>
                  <a:srgbClr val="222222"/>
                </a:solidFill>
                <a:latin typeface="맑은 고딕"/>
              </a:rPr>
              <a:t>•  그래도 정적 등록을 하는 이유 — </a:t>
            </a:r>
            <a:r>
              <a:rPr sz="1700" b="1">
                <a:solidFill>
                  <a:srgbClr val="222222"/>
                </a:solidFill>
                <a:latin typeface="맑은 고딕"/>
              </a:rPr>
              <a:t>재기동 중·원격 기동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리두 경로 전환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Primary 의 목적지를 바꾼다</a:t>
            </a:r>
          </a:p>
          <a:p>
            <a:pPr algn="l">
              <a:spcAft>
                <a:spcPts val="800"/>
              </a:spcAft>
            </a:pPr>
            <a:r>
              <a:rPr sz="1600" b="0">
                <a:solidFill>
                  <a:srgbClr val="FFFFFF"/>
                </a:solidFill>
                <a:latin typeface="맑은 고딕"/>
              </a:rPr>
              <a:t>•  ORA-16057 — 순서의 문제</a:t>
            </a:r>
          </a:p>
          <a:p>
            <a:pPr algn="l">
              <a:spcAft>
                <a:spcPts val="800"/>
              </a:spcAft>
            </a:pPr>
            <a:r>
              <a:rPr sz="1600" b="0">
                <a:solidFill>
                  <a:srgbClr val="FFFFFF"/>
                </a:solidFill>
                <a:latin typeface="맑은 고딕"/>
              </a:rPr>
              <a:t>•  뷰를 고르는 문제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목적지 전환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가지가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대상 — </a:t>
            </a:r>
            <a:r>
              <a:rPr sz="1700" b="0">
                <a:solidFill>
                  <a:srgbClr val="222222"/>
                </a:solidFill>
                <a:latin typeface="Consolas"/>
                <a:cs typeface="Consolas"/>
              </a:rPr>
              <a:t>boston</a:t>
            </a:r>
            <a:r>
              <a:rPr sz="1700" b="0">
                <a:solidFill>
                  <a:srgbClr val="222222"/>
                </a:solidFill>
                <a:latin typeface="맑은 고딕"/>
              </a:rPr>
              <a:t> → </a:t>
            </a:r>
            <a:r>
              <a:rPr sz="1700" b="1">
                <a:solidFill>
                  <a:srgbClr val="222222"/>
                </a:solidFill>
                <a:latin typeface="Consolas"/>
                <a:cs typeface="Consolas"/>
              </a:rPr>
              <a:t>farsync</a:t>
            </a:r>
          </a:p>
          <a:p>
            <a:pPr algn="l">
              <a:spcAft>
                <a:spcPts val="1000"/>
              </a:spcAft>
            </a:pPr>
            <a:r>
              <a:rPr sz="1700" b="0">
                <a:solidFill>
                  <a:srgbClr val="222222"/>
                </a:solidFill>
                <a:latin typeface="맑은 고딕"/>
              </a:rPr>
              <a:t>•  방식 — </a:t>
            </a:r>
            <a:r>
              <a:rPr sz="1700" b="0">
                <a:solidFill>
                  <a:srgbClr val="222222"/>
                </a:solidFill>
                <a:latin typeface="Consolas"/>
                <a:cs typeface="Consolas"/>
              </a:rPr>
              <a:t>async</a:t>
            </a:r>
            <a:r>
              <a:rPr sz="1700" b="0">
                <a:solidFill>
                  <a:srgbClr val="222222"/>
                </a:solidFill>
                <a:latin typeface="맑은 고딕"/>
              </a:rPr>
              <a:t> → </a:t>
            </a:r>
            <a:r>
              <a:rPr sz="1700" b="1">
                <a:solidFill>
                  <a:srgbClr val="222222"/>
                </a:solidFill>
                <a:latin typeface="Consolas"/>
                <a:cs typeface="Consolas"/>
              </a:rPr>
              <a:t>sync affirm</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log_archive_config</a:t>
            </a:r>
            <a:r>
              <a:rPr sz="1700" b="0">
                <a:solidFill>
                  <a:srgbClr val="222222"/>
                </a:solidFill>
                <a:latin typeface="맑은 고딕"/>
              </a:rPr>
              <a:t> 에 세 이름을 모두 넣는다</a:t>
            </a:r>
          </a:p>
          <a:p>
            <a:pPr algn="l">
              <a:spcAft>
                <a:spcPts val="1000"/>
              </a:spcAft>
            </a:pPr>
            <a:r>
              <a:rPr sz="1700" b="0">
                <a:solidFill>
                  <a:srgbClr val="222222"/>
                </a:solidFill>
                <a:latin typeface="맑은 고딕"/>
              </a:rPr>
              <a:t>•  이것이 Far Sync 를 쓰는 이유다 — 가까운 곳과만 동기로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ORA-16057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나는 쪽과 원인 있는 쪽이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farsync 의 2번 목적지 — </a:t>
            </a:r>
            <a:r>
              <a:rPr sz="1700" b="0">
                <a:solidFill>
                  <a:srgbClr val="222222"/>
                </a:solidFill>
                <a:latin typeface="Consolas"/>
                <a:cs typeface="Consolas"/>
              </a:rPr>
              <a:t>ERROR / ORA-16057: server not in Data Guard configuration</a:t>
            </a:r>
          </a:p>
          <a:p>
            <a:pPr algn="l">
              <a:spcAft>
                <a:spcPts val="1000"/>
              </a:spcAft>
            </a:pPr>
            <a:r>
              <a:rPr sz="1700" b="0">
                <a:solidFill>
                  <a:srgbClr val="222222"/>
                </a:solidFill>
                <a:latin typeface="맑은 고딕"/>
              </a:rPr>
              <a:t>•  뜻 — "받는 쪽이 나를 구성원으로 인정하지 않는다"</a:t>
            </a:r>
          </a:p>
          <a:p>
            <a:pPr algn="l">
              <a:spcAft>
                <a:spcPts val="1000"/>
              </a:spcAft>
            </a:pPr>
            <a:r>
              <a:rPr sz="1700" b="0">
                <a:solidFill>
                  <a:srgbClr val="222222"/>
                </a:solidFill>
                <a:latin typeface="맑은 고딕"/>
              </a:rPr>
              <a:t>•  메시지의 "server" 는 </a:t>
            </a:r>
            <a:r>
              <a:rPr sz="1700" b="1">
                <a:solidFill>
                  <a:srgbClr val="222222"/>
                </a:solidFill>
                <a:latin typeface="맑은 고딕"/>
              </a:rPr>
              <a:t>보내는 쪽인 자기 자신</a:t>
            </a:r>
          </a:p>
          <a:p>
            <a:pPr algn="l">
              <a:spcAft>
                <a:spcPts val="1000"/>
              </a:spcAft>
            </a:pPr>
            <a:r>
              <a:rPr sz="1700" b="0">
                <a:solidFill>
                  <a:srgbClr val="222222"/>
                </a:solidFill>
                <a:latin typeface="맑은 고딕"/>
              </a:rPr>
              <a:t>•  고쳐야 할 곳은 </a:t>
            </a:r>
            <a:r>
              <a:rPr sz="1700" b="1">
                <a:solidFill>
                  <a:srgbClr val="222222"/>
                </a:solidFill>
                <a:latin typeface="맑은 고딕"/>
              </a:rPr>
              <a:t>boston</a:t>
            </a:r>
            <a:r>
              <a:rPr sz="1700" b="0">
                <a:solidFill>
                  <a:srgbClr val="222222"/>
                </a:solidFill>
                <a:latin typeface="맑은 고딕"/>
              </a:rPr>
              <a:t> 의 </a:t>
            </a:r>
            <a:r>
              <a:rPr sz="1700" b="0">
                <a:solidFill>
                  <a:srgbClr val="222222"/>
                </a:solidFill>
                <a:latin typeface="Consolas"/>
                <a:cs typeface="Consolas"/>
              </a:rPr>
              <a:t>LOG_ARCHIVE_CONFIG</a:t>
            </a:r>
          </a:p>
          <a:p>
            <a:pPr algn="l">
              <a:spcAft>
                <a:spcPts val="1000"/>
              </a:spcAft>
            </a:pPr>
            <a:r>
              <a:rPr sz="1700" b="0">
                <a:solidFill>
                  <a:srgbClr val="222222"/>
                </a:solidFill>
                <a:latin typeface="맑은 고딕"/>
              </a:rPr>
              <a:t>•  실습에서는 설정과 첫 접속 시도가 겹친 </a:t>
            </a:r>
            <a:r>
              <a:rPr sz="1700" b="1">
                <a:solidFill>
                  <a:srgbClr val="222222"/>
                </a:solidFill>
                <a:latin typeface="맑은 고딕"/>
              </a:rPr>
              <a:t>시점의 문제</a:t>
            </a:r>
            <a:r>
              <a:rPr sz="1700" b="0">
                <a:solidFill>
                  <a:srgbClr val="222222"/>
                </a:solidFill>
                <a:latin typeface="맑은 고딕"/>
              </a:rPr>
              <a:t>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변경의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받는 쪽 먼저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① 받는 쪽을 먼저 연다</a:t>
            </a:r>
            <a:r>
              <a:rPr sz="1700" b="0">
                <a:solidFill>
                  <a:srgbClr val="222222"/>
                </a:solidFill>
                <a:latin typeface="맑은 고딕"/>
              </a:rPr>
              <a:t> — 모든 노드의 </a:t>
            </a:r>
            <a:r>
              <a:rPr sz="1700" b="0">
                <a:solidFill>
                  <a:srgbClr val="222222"/>
                </a:solidFill>
                <a:latin typeface="Consolas"/>
                <a:cs typeface="Consolas"/>
              </a:rPr>
              <a:t>LOG_ARCHIVE_CONFIG</a:t>
            </a:r>
            <a:r>
              <a:rPr sz="1700" b="0">
                <a:solidFill>
                  <a:srgbClr val="222222"/>
                </a:solidFill>
                <a:latin typeface="맑은 고딕"/>
              </a:rPr>
              <a:t> 확장</a:t>
            </a:r>
          </a:p>
          <a:p>
            <a:pPr algn="l">
              <a:spcAft>
                <a:spcPts val="1000"/>
              </a:spcAft>
            </a:pPr>
            <a:r>
              <a:rPr sz="1700" b="0">
                <a:solidFill>
                  <a:srgbClr val="222222"/>
                </a:solidFill>
                <a:latin typeface="맑은 고딕"/>
              </a:rPr>
              <a:t>•  </a:t>
            </a:r>
            <a:r>
              <a:rPr sz="1700" b="1">
                <a:solidFill>
                  <a:srgbClr val="222222"/>
                </a:solidFill>
                <a:latin typeface="맑은 고딕"/>
              </a:rPr>
              <a:t>② 그 다음 보내는 쪽을 바꾼다</a:t>
            </a:r>
            <a:r>
              <a:rPr sz="1700" b="0">
                <a:solidFill>
                  <a:srgbClr val="222222"/>
                </a:solidFill>
                <a:latin typeface="맑은 고딕"/>
              </a:rPr>
              <a:t> — Primary 의 </a:t>
            </a:r>
            <a:r>
              <a:rPr sz="1700" b="0">
                <a:solidFill>
                  <a:srgbClr val="222222"/>
                </a:solidFill>
                <a:latin typeface="Consolas"/>
                <a:cs typeface="Consolas"/>
              </a:rPr>
              <a:t>LOG_ARCHIVE_DEST_n</a:t>
            </a:r>
          </a:p>
          <a:p>
            <a:pPr algn="l">
              <a:spcAft>
                <a:spcPts val="1000"/>
              </a:spcAft>
            </a:pPr>
            <a:r>
              <a:rPr sz="1700" b="0">
                <a:solidFill>
                  <a:srgbClr val="222222"/>
                </a:solidFill>
                <a:latin typeface="맑은 고딕"/>
              </a:rPr>
              <a:t>•  반대로 하면 ORA-16057 을 본다</a:t>
            </a:r>
          </a:p>
          <a:p>
            <a:pPr algn="l">
              <a:spcAft>
                <a:spcPts val="1000"/>
              </a:spcAft>
            </a:pPr>
            <a:r>
              <a:rPr sz="1700" b="0">
                <a:solidFill>
                  <a:srgbClr val="222222"/>
                </a:solidFill>
                <a:latin typeface="맑은 고딕"/>
              </a:rPr>
              <a:t>•  오류가 남으면 — </a:t>
            </a:r>
            <a:r>
              <a:rPr sz="1700" b="0">
                <a:solidFill>
                  <a:srgbClr val="222222"/>
                </a:solidFill>
                <a:latin typeface="Consolas"/>
                <a:cs typeface="Consolas"/>
              </a:rPr>
              <a:t>LOG_ARCHIVE_DEST_STATE_n</a:t>
            </a:r>
            <a:r>
              <a:rPr sz="1700" b="0">
                <a:solidFill>
                  <a:srgbClr val="222222"/>
                </a:solidFill>
                <a:latin typeface="맑은 고딕"/>
              </a:rPr>
              <a:t> </a:t>
            </a:r>
            <a:r>
              <a:rPr sz="1700" b="1">
                <a:solidFill>
                  <a:srgbClr val="222222"/>
                </a:solidFill>
                <a:latin typeface="맑은 고딕"/>
              </a:rPr>
              <a:t>DEFER → ENABLE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뷰에 무엇이 있는가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ORA-00904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V$ARCHIVE_DEST_STATUS</a:t>
            </a:r>
            <a:r>
              <a:rPr sz="1700" b="0">
                <a:solidFill>
                  <a:srgbClr val="222222"/>
                </a:solidFill>
                <a:latin typeface="맑은 고딕"/>
              </a:rPr>
              <a:t> 에서 </a:t>
            </a:r>
            <a:r>
              <a:rPr sz="1700" b="0">
                <a:solidFill>
                  <a:srgbClr val="222222"/>
                </a:solidFill>
                <a:latin typeface="Consolas"/>
                <a:cs typeface="Consolas"/>
              </a:rPr>
              <a:t>TRANSMIT_MODE</a:t>
            </a:r>
            <a:r>
              <a:rPr sz="1700" b="0">
                <a:solidFill>
                  <a:srgbClr val="222222"/>
                </a:solidFill>
                <a:latin typeface="맑은 고딕"/>
              </a:rPr>
              <a:t> 조회 → </a:t>
            </a:r>
            <a:r>
              <a:rPr sz="1700" b="1">
                <a:solidFill>
                  <a:srgbClr val="222222"/>
                </a:solidFill>
                <a:latin typeface="맑은 고딕"/>
              </a:rPr>
              <a:t>ORA-00904</a:t>
            </a:r>
          </a:p>
          <a:p>
            <a:pPr algn="l">
              <a:spcAft>
                <a:spcPts val="1000"/>
              </a:spcAft>
            </a:pPr>
            <a:r>
              <a:rPr sz="1700" b="0">
                <a:solidFill>
                  <a:srgbClr val="222222"/>
                </a:solidFill>
                <a:latin typeface="맑은 고딕"/>
              </a:rPr>
              <a:t>•  </a:t>
            </a:r>
            <a:r>
              <a:rPr sz="1700" b="1">
                <a:solidFill>
                  <a:srgbClr val="222222"/>
                </a:solidFill>
                <a:latin typeface="Consolas"/>
                <a:cs typeface="Consolas"/>
              </a:rPr>
              <a:t>V$ARCHIVE_DEST</a:t>
            </a:r>
            <a:r>
              <a:rPr sz="1700" b="0">
                <a:solidFill>
                  <a:srgbClr val="222222"/>
                </a:solidFill>
                <a:latin typeface="맑은 고딕"/>
              </a:rPr>
              <a:t> — 목적지의 </a:t>
            </a:r>
            <a:r>
              <a:rPr sz="1700" b="1">
                <a:solidFill>
                  <a:srgbClr val="222222"/>
                </a:solidFill>
                <a:latin typeface="맑은 고딕"/>
              </a:rPr>
              <a:t>설정</a:t>
            </a:r>
            <a:r>
              <a:rPr sz="1700" b="0">
                <a:solidFill>
                  <a:srgbClr val="222222"/>
                </a:solidFill>
                <a:latin typeface="맑은 고딕"/>
              </a:rPr>
              <a:t>: TRANSMIT_MODE, AFFIRM, VALID_NOW, VALID_ROLE, VALID_TYPE</a:t>
            </a:r>
          </a:p>
          <a:p>
            <a:pPr algn="l">
              <a:spcAft>
                <a:spcPts val="1000"/>
              </a:spcAft>
            </a:pPr>
            <a:r>
              <a:rPr sz="1700" b="0">
                <a:solidFill>
                  <a:srgbClr val="222222"/>
                </a:solidFill>
                <a:latin typeface="맑은 고딕"/>
              </a:rPr>
              <a:t>•  </a:t>
            </a:r>
            <a:r>
              <a:rPr sz="1700" b="1">
                <a:solidFill>
                  <a:srgbClr val="222222"/>
                </a:solidFill>
                <a:latin typeface="Consolas"/>
                <a:cs typeface="Consolas"/>
              </a:rPr>
              <a:t>V$ARCHIVE_DEST_STATUS</a:t>
            </a:r>
            <a:r>
              <a:rPr sz="1700" b="0">
                <a:solidFill>
                  <a:srgbClr val="222222"/>
                </a:solidFill>
                <a:latin typeface="맑은 고딕"/>
              </a:rPr>
              <a:t> — 목적지의 </a:t>
            </a:r>
            <a:r>
              <a:rPr sz="1700" b="1">
                <a:solidFill>
                  <a:srgbClr val="222222"/>
                </a:solidFill>
                <a:latin typeface="맑은 고딕"/>
              </a:rPr>
              <a:t>상태</a:t>
            </a:r>
            <a:r>
              <a:rPr sz="1700" b="0">
                <a:solidFill>
                  <a:srgbClr val="222222"/>
                </a:solidFill>
                <a:latin typeface="맑은 고딕"/>
              </a:rPr>
              <a:t>: STATUS, ERROR, RECOVERY_MODE</a:t>
            </a:r>
          </a:p>
          <a:p>
            <a:pPr algn="l">
              <a:spcAft>
                <a:spcPts val="1000"/>
              </a:spcAft>
            </a:pPr>
            <a:r>
              <a:rPr sz="1700" b="0">
                <a:solidFill>
                  <a:srgbClr val="222222"/>
                </a:solidFill>
                <a:latin typeface="맑은 고딕"/>
              </a:rPr>
              <a:t>•  실측 — dest 2 </a:t>
            </a:r>
            <a:r>
              <a:rPr sz="1700" b="0">
                <a:solidFill>
                  <a:srgbClr val="222222"/>
                </a:solidFill>
                <a:latin typeface="Consolas"/>
                <a:cs typeface="Consolas"/>
              </a:rPr>
              <a:t>farsync / PARALLELSYNC / AFFIRM YES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리두가 흐르는가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노드 추적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farsync</a:t>
            </a:r>
            <a:r>
              <a:rPr sz="1700" b="0">
                <a:solidFill>
                  <a:srgbClr val="222222"/>
                </a:solidFill>
                <a:latin typeface="맑은 고딕"/>
              </a:rPr>
              <a:t> — RFS 가 시퀀스 36 수신, SRL 5번 </a:t>
            </a:r>
            <a:r>
              <a:rPr sz="1700" b="0">
                <a:solidFill>
                  <a:srgbClr val="222222"/>
                </a:solidFill>
                <a:latin typeface="Consolas"/>
                <a:cs typeface="Consolas"/>
              </a:rPr>
              <a:t>ACTIVE</a:t>
            </a:r>
          </a:p>
          <a:p>
            <a:pPr algn="l">
              <a:spcAft>
                <a:spcPts val="1000"/>
              </a:spcAft>
            </a:pPr>
            <a:r>
              <a:rPr sz="1700" b="0">
                <a:solidFill>
                  <a:srgbClr val="222222"/>
                </a:solidFill>
                <a:latin typeface="맑은 고딕"/>
              </a:rPr>
              <a:t>•  </a:t>
            </a:r>
            <a:r>
              <a:rPr sz="1700" b="1">
                <a:solidFill>
                  <a:srgbClr val="222222"/>
                </a:solidFill>
                <a:latin typeface="맑은 고딕"/>
              </a:rPr>
              <a:t>farsync</a:t>
            </a:r>
            <a:r>
              <a:rPr sz="1700" b="0">
                <a:solidFill>
                  <a:srgbClr val="222222"/>
                </a:solidFill>
                <a:latin typeface="맑은 고딕"/>
              </a:rPr>
              <a:t> — 로컬 아카이브 </a:t>
            </a:r>
            <a:r>
              <a:rPr sz="1700" b="0">
                <a:solidFill>
                  <a:srgbClr val="222222"/>
                </a:solidFill>
                <a:latin typeface="Consolas"/>
                <a:cs typeface="Consolas"/>
              </a:rPr>
              <a:t>1_30_...</a:t>
            </a:r>
            <a:r>
              <a:rPr sz="1700" b="0">
                <a:solidFill>
                  <a:srgbClr val="222222"/>
                </a:solidFill>
                <a:latin typeface="맑은 고딕"/>
              </a:rPr>
              <a:t> ~ </a:t>
            </a:r>
            <a:r>
              <a:rPr sz="1700" b="0">
                <a:solidFill>
                  <a:srgbClr val="222222"/>
                </a:solidFill>
                <a:latin typeface="Consolas"/>
                <a:cs typeface="Consolas"/>
              </a:rPr>
              <a:t>1_35_1242322892.dbf</a:t>
            </a:r>
          </a:p>
          <a:p>
            <a:pPr algn="l">
              <a:spcAft>
                <a:spcPts val="1000"/>
              </a:spcAft>
            </a:pPr>
            <a:r>
              <a:rPr sz="1700" b="0">
                <a:solidFill>
                  <a:srgbClr val="222222"/>
                </a:solidFill>
                <a:latin typeface="맑은 고딕"/>
              </a:rPr>
              <a:t>•  </a:t>
            </a:r>
            <a:r>
              <a:rPr sz="1700" b="1">
                <a:solidFill>
                  <a:srgbClr val="222222"/>
                </a:solidFill>
                <a:latin typeface="맑은 고딕"/>
              </a:rPr>
              <a:t>boston</a:t>
            </a:r>
            <a:r>
              <a:rPr sz="1700" b="0">
                <a:solidFill>
                  <a:srgbClr val="222222"/>
                </a:solidFill>
                <a:latin typeface="맑은 고딕"/>
              </a:rPr>
              <a:t> — transport lag / apply lag 모두 </a:t>
            </a:r>
            <a:r>
              <a:rPr sz="1700" b="1">
                <a:solidFill>
                  <a:srgbClr val="222222"/>
                </a:solidFill>
                <a:latin typeface="맑은 고딕"/>
              </a:rPr>
              <a:t>0</a:t>
            </a:r>
            <a:r>
              <a:rPr sz="1700" b="0">
                <a:solidFill>
                  <a:srgbClr val="222222"/>
                </a:solidFill>
                <a:latin typeface="맑은 고딕"/>
              </a:rPr>
              <a:t>, MRP0 </a:t>
            </a:r>
            <a:r>
              <a:rPr sz="1700" b="0">
                <a:solidFill>
                  <a:srgbClr val="222222"/>
                </a:solidFill>
                <a:latin typeface="Consolas"/>
                <a:cs typeface="Consolas"/>
              </a:rPr>
              <a:t>APPLYING_LOG 36</a:t>
            </a:r>
          </a:p>
          <a:p>
            <a:pPr algn="l">
              <a:spcAft>
                <a:spcPts val="1000"/>
              </a:spcAft>
            </a:pPr>
            <a:r>
              <a:rPr sz="1700" b="0">
                <a:solidFill>
                  <a:srgbClr val="222222"/>
                </a:solidFill>
                <a:latin typeface="맑은 고딕"/>
              </a:rPr>
              <a:t>•  Standby 는 경로가 늘어난 것을 </a:t>
            </a:r>
            <a:r>
              <a:rPr sz="1700" b="1">
                <a:solidFill>
                  <a:srgbClr val="222222"/>
                </a:solidFill>
                <a:latin typeface="맑은 고딕"/>
              </a:rPr>
              <a:t>구별하지 않는다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종단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데이터로 확인한다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chicago — </a:t>
            </a:r>
            <a:r>
              <a:rPr sz="1700" b="0">
                <a:solidFill>
                  <a:srgbClr val="222222"/>
                </a:solidFill>
                <a:latin typeface="Consolas"/>
                <a:cs typeface="Consolas"/>
              </a:rPr>
              <a:t>create table system.fs_t ... insert ... commit</a:t>
            </a:r>
          </a:p>
          <a:p>
            <a:pPr algn="l">
              <a:spcAft>
                <a:spcPts val="1000"/>
              </a:spcAft>
            </a:pPr>
            <a:r>
              <a:rPr sz="1700" b="0">
                <a:solidFill>
                  <a:srgbClr val="222222"/>
                </a:solidFill>
                <a:latin typeface="맑은 고딕"/>
              </a:rPr>
              <a:t>•  30초 뒤 boston — </a:t>
            </a:r>
            <a:r>
              <a:rPr sz="1700" b="0">
                <a:solidFill>
                  <a:srgbClr val="222222"/>
                </a:solidFill>
                <a:latin typeface="Consolas"/>
                <a:cs typeface="Consolas"/>
              </a:rPr>
              <a:t>1  via-farsync</a:t>
            </a:r>
          </a:p>
          <a:p>
            <a:pPr algn="l">
              <a:spcAft>
                <a:spcPts val="1000"/>
              </a:spcAft>
            </a:pPr>
            <a:r>
              <a:rPr sz="1700" b="0">
                <a:solidFill>
                  <a:srgbClr val="222222"/>
                </a:solidFill>
                <a:latin typeface="맑은 고딕"/>
              </a:rPr>
              <a:t>•  경로가 하나 늘었지만 결과는 같다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보호 모드 상향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RESYNCHRONIZATION 이라는 과도 상태</a:t>
            </a:r>
          </a:p>
          <a:p>
            <a:pPr algn="l">
              <a:spcAft>
                <a:spcPts val="800"/>
              </a:spcAft>
            </a:pPr>
            <a:r>
              <a:rPr sz="1600" b="0">
                <a:solidFill>
                  <a:srgbClr val="FFFFFF"/>
                </a:solidFill>
                <a:latin typeface="맑은 고딕"/>
              </a:rPr>
              <a:t>•  세 노드가 다른 값을 본다</a:t>
            </a:r>
          </a:p>
          <a:p>
            <a:pPr algn="l">
              <a:spcAft>
                <a:spcPts val="800"/>
              </a:spcAft>
            </a:pPr>
            <a:r>
              <a:rPr sz="1600" b="0">
                <a:solidFill>
                  <a:srgbClr val="FFFFFF"/>
                </a:solidFill>
                <a:latin typeface="맑은 고딕"/>
              </a:rPr>
              <a:t>•  SYNC 와 AFFIRM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처음에는 RESYNCHRONIZATION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DATABASE SET STANDBY DATABASE TO MAXIMIZE AVAILABILITY;</a:t>
            </a:r>
          </a:p>
          <a:p>
            <a:pPr algn="l">
              <a:spcAft>
                <a:spcPts val="1000"/>
              </a:spcAft>
            </a:pPr>
            <a:r>
              <a:rPr sz="1700" b="0">
                <a:solidFill>
                  <a:srgbClr val="222222"/>
                </a:solidFill>
                <a:latin typeface="맑은 고딕"/>
              </a:rPr>
              <a:t>•  직후 — </a:t>
            </a:r>
            <a:r>
              <a:rPr sz="1700" b="0">
                <a:solidFill>
                  <a:srgbClr val="222222"/>
                </a:solidFill>
                <a:latin typeface="Consolas"/>
                <a:cs typeface="Consolas"/>
              </a:rPr>
              <a:t>MAXIMUM AVAILABILITY / </a:t>
            </a:r>
            <a:r>
              <a:rPr sz="1700" b="1">
                <a:solidFill>
                  <a:srgbClr val="222222"/>
                </a:solidFill>
                <a:latin typeface="Consolas"/>
                <a:cs typeface="Consolas"/>
              </a:rPr>
              <a:t>RESYNCHRONIZATION</a:t>
            </a:r>
          </a:p>
          <a:p>
            <a:pPr algn="l">
              <a:spcAft>
                <a:spcPts val="1000"/>
              </a:spcAft>
            </a:pPr>
            <a:r>
              <a:rPr sz="1700" b="0">
                <a:solidFill>
                  <a:srgbClr val="222222"/>
                </a:solidFill>
                <a:latin typeface="맑은 고딕"/>
              </a:rPr>
              <a:t>•  로그가 몇 번 오간 뒤 — </a:t>
            </a:r>
            <a:r>
              <a:rPr sz="1700" b="0">
                <a:solidFill>
                  <a:srgbClr val="222222"/>
                </a:solidFill>
                <a:latin typeface="Consolas"/>
                <a:cs typeface="Consolas"/>
              </a:rPr>
              <a:t>MAXIMUM AVAILABILITY / </a:t>
            </a:r>
            <a:r>
              <a:rPr sz="1700" b="1">
                <a:solidFill>
                  <a:srgbClr val="222222"/>
                </a:solidFill>
                <a:latin typeface="Consolas"/>
                <a:cs typeface="Consolas"/>
              </a:rPr>
              <a:t>MAXIMUM AVAILABILITY</a:t>
            </a:r>
          </a:p>
          <a:p>
            <a:pPr algn="l">
              <a:spcAft>
                <a:spcPts val="1000"/>
              </a:spcAft>
            </a:pPr>
            <a:r>
              <a:rPr sz="1700" b="0">
                <a:solidFill>
                  <a:srgbClr val="222222"/>
                </a:solidFill>
                <a:latin typeface="맑은 고딕"/>
              </a:rPr>
              <a:t>•  MODE 는 목표, LEVEL 은 달성 수준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노드가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boston 만 RESYNCHRONIZATION</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chicago — MAXIMUM AVAILABILITY / </a:t>
            </a:r>
            <a:r>
              <a:rPr sz="1700" b="1">
                <a:solidFill>
                  <a:srgbClr val="222222"/>
                </a:solidFill>
                <a:latin typeface="맑은 고딕"/>
              </a:rPr>
              <a:t>MAXIMUM AVAILABILITY</a:t>
            </a:r>
          </a:p>
          <a:p>
            <a:pPr algn="l">
              <a:spcAft>
                <a:spcPts val="1000"/>
              </a:spcAft>
            </a:pPr>
            <a:r>
              <a:rPr sz="1700" b="0">
                <a:solidFill>
                  <a:srgbClr val="222222"/>
                </a:solidFill>
                <a:latin typeface="맑은 고딕"/>
              </a:rPr>
              <a:t>•  farsync — MAXIMUM AVAILABILITY / </a:t>
            </a:r>
            <a:r>
              <a:rPr sz="1700" b="1">
                <a:solidFill>
                  <a:srgbClr val="222222"/>
                </a:solidFill>
                <a:latin typeface="맑은 고딕"/>
              </a:rPr>
              <a:t>MAXIMUM AVAILABILITY</a:t>
            </a:r>
          </a:p>
          <a:p>
            <a:pPr algn="l">
              <a:spcAft>
                <a:spcPts val="1000"/>
              </a:spcAft>
            </a:pPr>
            <a:r>
              <a:rPr sz="1700" b="0">
                <a:solidFill>
                  <a:srgbClr val="222222"/>
                </a:solidFill>
                <a:latin typeface="맑은 고딕"/>
              </a:rPr>
              <a:t>•  boston — MAXIMUM AVAILABILITY / </a:t>
            </a:r>
            <a:r>
              <a:rPr sz="1700" b="1">
                <a:solidFill>
                  <a:srgbClr val="222222"/>
                </a:solidFill>
                <a:latin typeface="맑은 고딕"/>
              </a:rPr>
              <a:t>RESYNCHRONIZATION</a:t>
            </a:r>
          </a:p>
          <a:p>
            <a:pPr algn="l">
              <a:spcAft>
                <a:spcPts val="1000"/>
              </a:spcAft>
            </a:pPr>
            <a:r>
              <a:rPr sz="1700" b="0">
                <a:solidFill>
                  <a:srgbClr val="222222"/>
                </a:solidFill>
                <a:latin typeface="맑은 고딕"/>
              </a:rPr>
              <a:t>•  오류가 아니다. </a:t>
            </a:r>
            <a:r>
              <a:rPr sz="1700" b="1">
                <a:solidFill>
                  <a:srgbClr val="222222"/>
                </a:solidFill>
                <a:latin typeface="맑은 고딕"/>
              </a:rPr>
              <a:t>boston 은 ASYNC 로 받는다</a:t>
            </a:r>
          </a:p>
          <a:p>
            <a:pPr algn="l">
              <a:spcAft>
                <a:spcPts val="1000"/>
              </a:spcAft>
            </a:pPr>
            <a:r>
              <a:rPr sz="1700" b="0">
                <a:solidFill>
                  <a:srgbClr val="222222"/>
                </a:solidFill>
                <a:latin typeface="맑은 고딕"/>
              </a:rPr>
              <a:t>•  동기 보장 구간은 </a:t>
            </a:r>
            <a:r>
              <a:rPr sz="1700" b="0">
                <a:solidFill>
                  <a:srgbClr val="222222"/>
                </a:solidFill>
                <a:latin typeface="Consolas"/>
                <a:cs typeface="Consolas"/>
              </a:rPr>
              <a:t>chicago ↔ farsync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SYNC 와 AFFIRM</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서로 다른 것을 말한다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SYNC</a:t>
            </a:r>
            <a:r>
              <a:rPr sz="1700" b="0">
                <a:solidFill>
                  <a:srgbClr val="222222"/>
                </a:solidFill>
                <a:latin typeface="맑은 고딕"/>
              </a:rPr>
              <a:t> — 보내고 </a:t>
            </a:r>
            <a:r>
              <a:rPr sz="1700" b="1">
                <a:solidFill>
                  <a:srgbClr val="222222"/>
                </a:solidFill>
                <a:latin typeface="맑은 고딕"/>
              </a:rPr>
              <a:t>응답을 기다린다</a:t>
            </a:r>
          </a:p>
          <a:p>
            <a:pPr algn="l">
              <a:spcAft>
                <a:spcPts val="1000"/>
              </a:spcAft>
            </a:pPr>
            <a:r>
              <a:rPr sz="1700" b="0">
                <a:solidFill>
                  <a:srgbClr val="222222"/>
                </a:solidFill>
                <a:latin typeface="맑은 고딕"/>
              </a:rPr>
              <a:t>•  </a:t>
            </a:r>
            <a:r>
              <a:rPr sz="1700" b="1">
                <a:solidFill>
                  <a:srgbClr val="222222"/>
                </a:solidFill>
                <a:latin typeface="맑은 고딕"/>
              </a:rPr>
              <a:t>AFFIRM</a:t>
            </a:r>
            <a:r>
              <a:rPr sz="1700" b="0">
                <a:solidFill>
                  <a:srgbClr val="222222"/>
                </a:solidFill>
                <a:latin typeface="맑은 고딕"/>
              </a:rPr>
              <a:t> — 받는 쪽이 </a:t>
            </a:r>
            <a:r>
              <a:rPr sz="1700" b="1">
                <a:solidFill>
                  <a:srgbClr val="222222"/>
                </a:solidFill>
                <a:latin typeface="맑은 고딕"/>
              </a:rPr>
              <a:t>디스크에 쓴 뒤</a:t>
            </a:r>
            <a:r>
              <a:rPr sz="1700" b="0">
                <a:solidFill>
                  <a:srgbClr val="222222"/>
                </a:solidFill>
                <a:latin typeface="맑은 고딕"/>
              </a:rPr>
              <a:t> 응답한다</a:t>
            </a:r>
          </a:p>
          <a:p>
            <a:pPr algn="l">
              <a:spcAft>
                <a:spcPts val="1000"/>
              </a:spcAft>
            </a:pPr>
            <a:r>
              <a:rPr sz="1700" b="0">
                <a:solidFill>
                  <a:srgbClr val="222222"/>
                </a:solidFill>
                <a:latin typeface="맑은 고딕"/>
              </a:rPr>
              <a:t>•  </a:t>
            </a:r>
            <a:r>
              <a:rPr sz="1700" b="0">
                <a:solidFill>
                  <a:srgbClr val="222222"/>
                </a:solidFill>
                <a:latin typeface="Consolas"/>
                <a:cs typeface="Consolas"/>
              </a:rPr>
              <a:t>SYNC NOAFFIRM</a:t>
            </a:r>
            <a:r>
              <a:rPr sz="1700" b="0">
                <a:solidFill>
                  <a:srgbClr val="222222"/>
                </a:solidFill>
                <a:latin typeface="맑은 고딕"/>
              </a:rPr>
              <a:t> — 메모리에 받자마자 응답. 빠르지만 잃을 수 있다</a:t>
            </a:r>
          </a:p>
          <a:p>
            <a:pPr algn="l">
              <a:spcAft>
                <a:spcPts val="1000"/>
              </a:spcAft>
            </a:pPr>
            <a:r>
              <a:rPr sz="1700" b="0">
                <a:solidFill>
                  <a:srgbClr val="222222"/>
                </a:solidFill>
                <a:latin typeface="맑은 고딕"/>
              </a:rPr>
              <a:t>•  Far Sync 노드의 </a:t>
            </a:r>
            <a:r>
              <a:rPr sz="1700" b="1">
                <a:solidFill>
                  <a:srgbClr val="222222"/>
                </a:solidFill>
                <a:latin typeface="맑은 고딕"/>
              </a:rPr>
              <a:t>디스크 성능이 Primary 커밋 속도에 직접 영향</a:t>
            </a:r>
          </a:p>
          <a:p>
            <a:pPr algn="l">
              <a:spcAft>
                <a:spcPts val="1000"/>
              </a:spcAft>
            </a:pPr>
            <a:r>
              <a:rPr sz="1700" b="0">
                <a:solidFill>
                  <a:srgbClr val="222222"/>
                </a:solidFill>
                <a:latin typeface="맑은 고딕"/>
              </a:rPr>
              <a:t>•  거리는 줄였지만 I/O 는 남는다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Far Sync 를 잃으면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중계소가 끊기면 뒤쪽 전체가 끊긴다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 목적지 </a:t>
            </a:r>
            <a:r>
              <a:rPr sz="1700" b="0">
                <a:solidFill>
                  <a:srgbClr val="222222"/>
                </a:solidFill>
                <a:latin typeface="Consolas"/>
                <a:cs typeface="Consolas"/>
              </a:rPr>
              <a:t>ERROR</a:t>
            </a:r>
            <a:r>
              <a:rPr sz="1700" b="0">
                <a:solidFill>
                  <a:srgbClr val="222222"/>
                </a:solidFill>
                <a:latin typeface="맑은 고딕"/>
              </a:rPr>
              <a:t>, </a:t>
            </a:r>
            <a:r>
              <a:rPr sz="1700" b="0">
                <a:solidFill>
                  <a:srgbClr val="222222"/>
                </a:solidFill>
                <a:latin typeface="Consolas"/>
                <a:cs typeface="Consolas"/>
              </a:rPr>
              <a:t>PROTECTION_LEVEL</a:t>
            </a:r>
            <a:r>
              <a:rPr sz="1700" b="0">
                <a:solidFill>
                  <a:srgbClr val="222222"/>
                </a:solidFill>
                <a:latin typeface="맑은 고딕"/>
              </a:rPr>
              <a:t> 하락. </a:t>
            </a:r>
            <a:r>
              <a:rPr sz="1700" b="1">
                <a:solidFill>
                  <a:srgbClr val="222222"/>
                </a:solidFill>
                <a:latin typeface="맑은 고딕"/>
              </a:rPr>
              <a:t>계속 동작한다</a:t>
            </a:r>
          </a:p>
          <a:p>
            <a:pPr algn="l">
              <a:spcAft>
                <a:spcPts val="1000"/>
              </a:spcAft>
            </a:pPr>
            <a:r>
              <a:rPr sz="1700" b="0">
                <a:solidFill>
                  <a:srgbClr val="222222"/>
                </a:solidFill>
                <a:latin typeface="맑은 고딕"/>
              </a:rPr>
              <a:t>•  (MAXIMUM PROTECTION 이었다면 Primary 가 멈춘다)</a:t>
            </a:r>
          </a:p>
          <a:p>
            <a:pPr algn="l">
              <a:spcAft>
                <a:spcPts val="1000"/>
              </a:spcAft>
            </a:pPr>
            <a:r>
              <a:rPr sz="1700" b="0">
                <a:solidFill>
                  <a:srgbClr val="222222"/>
                </a:solidFill>
                <a:latin typeface="맑은 고딕"/>
              </a:rPr>
              <a:t>•  Standby — </a:t>
            </a:r>
            <a:r>
              <a:rPr sz="1700" b="1">
                <a:solidFill>
                  <a:srgbClr val="222222"/>
                </a:solidFill>
                <a:latin typeface="맑은 고딕"/>
              </a:rPr>
              <a:t>리두를 받지 못한다</a:t>
            </a:r>
          </a:p>
          <a:p>
            <a:pPr algn="l">
              <a:spcAft>
                <a:spcPts val="1000"/>
              </a:spcAft>
            </a:pPr>
            <a:r>
              <a:rPr sz="1700" b="0">
                <a:solidFill>
                  <a:srgbClr val="222222"/>
                </a:solidFill>
                <a:latin typeface="맑은 고딕"/>
              </a:rPr>
              <a:t>•  대비 ① Primary 에 대체 목적지 (Standby 직결)</a:t>
            </a:r>
          </a:p>
          <a:p>
            <a:pPr algn="l">
              <a:spcAft>
                <a:spcPts val="1000"/>
              </a:spcAft>
            </a:pPr>
            <a:r>
              <a:rPr sz="1700" b="0">
                <a:solidFill>
                  <a:srgbClr val="222222"/>
                </a:solidFill>
                <a:latin typeface="맑은 고딕"/>
              </a:rPr>
              <a:t>•  대비 ② Far Sync 이중화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Far Sync 인스턴스의 정체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무엇을 갖고 있는가</a:t>
            </a:r>
          </a:p>
          <a:p>
            <a:pPr algn="l">
              <a:spcAft>
                <a:spcPts val="800"/>
              </a:spcAft>
            </a:pPr>
            <a:r>
              <a:rPr sz="1600" b="0">
                <a:solidFill>
                  <a:srgbClr val="FFFFFF"/>
                </a:solidFill>
                <a:latin typeface="맑은 고딕"/>
              </a:rPr>
              <a:t>•  무엇을 못 하는가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무엇을 갖고 있는가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V$DATAFILE</a:t>
            </a:r>
            <a:r>
              <a:rPr sz="1700" b="0">
                <a:solidFill>
                  <a:srgbClr val="222222"/>
                </a:solidFill>
                <a:latin typeface="맑은 고딕"/>
              </a:rPr>
              <a:t> — </a:t>
            </a:r>
            <a:r>
              <a:rPr sz="1700" b="1">
                <a:solidFill>
                  <a:srgbClr val="222222"/>
                </a:solidFill>
                <a:latin typeface="맑은 고딕"/>
              </a:rPr>
              <a:t>0행</a:t>
            </a:r>
          </a:p>
          <a:p>
            <a:pPr algn="l">
              <a:spcAft>
                <a:spcPts val="1000"/>
              </a:spcAft>
            </a:pPr>
            <a:r>
              <a:rPr sz="1700" b="0">
                <a:solidFill>
                  <a:srgbClr val="222222"/>
                </a:solidFill>
                <a:latin typeface="맑은 고딕"/>
              </a:rPr>
              <a:t>•  </a:t>
            </a:r>
            <a:r>
              <a:rPr sz="1700" b="0">
                <a:solidFill>
                  <a:srgbClr val="222222"/>
                </a:solidFill>
                <a:latin typeface="Consolas"/>
                <a:cs typeface="Consolas"/>
              </a:rPr>
              <a:t>V$TEMPFILE</a:t>
            </a:r>
            <a:r>
              <a:rPr sz="1700" b="0">
                <a:solidFill>
                  <a:srgbClr val="222222"/>
                </a:solidFill>
                <a:latin typeface="맑은 고딕"/>
              </a:rPr>
              <a:t> — 3행 (정의만 상속. 실제 파일 없음)</a:t>
            </a:r>
          </a:p>
          <a:p>
            <a:pPr algn="l">
              <a:spcAft>
                <a:spcPts val="1000"/>
              </a:spcAft>
            </a:pPr>
            <a:r>
              <a:rPr sz="1700" b="0">
                <a:solidFill>
                  <a:srgbClr val="222222"/>
                </a:solidFill>
                <a:latin typeface="맑은 고딕"/>
              </a:rPr>
              <a:t>•  </a:t>
            </a:r>
            <a:r>
              <a:rPr sz="1700" b="0">
                <a:solidFill>
                  <a:srgbClr val="222222"/>
                </a:solidFill>
                <a:latin typeface="Consolas"/>
                <a:cs typeface="Consolas"/>
              </a:rPr>
              <a:t>V$STANDBY_LOG</a:t>
            </a:r>
            <a:r>
              <a:rPr sz="1700" b="0">
                <a:solidFill>
                  <a:srgbClr val="222222"/>
                </a:solidFill>
                <a:latin typeface="맑은 고딕"/>
              </a:rPr>
              <a:t> — 4행</a:t>
            </a:r>
          </a:p>
          <a:p>
            <a:pPr algn="l">
              <a:spcAft>
                <a:spcPts val="1000"/>
              </a:spcAft>
            </a:pPr>
            <a:r>
              <a:rPr sz="1700" b="0">
                <a:solidFill>
                  <a:srgbClr val="222222"/>
                </a:solidFill>
                <a:latin typeface="맑은 고딕"/>
              </a:rPr>
              <a:t>•  </a:t>
            </a:r>
            <a:r>
              <a:rPr sz="1700" b="0">
                <a:solidFill>
                  <a:srgbClr val="222222"/>
                </a:solidFill>
                <a:latin typeface="Consolas"/>
                <a:cs typeface="Consolas"/>
              </a:rPr>
              <a:t>V$LOG</a:t>
            </a:r>
            <a:r>
              <a:rPr sz="1700" b="0">
                <a:solidFill>
                  <a:srgbClr val="222222"/>
                </a:solidFill>
                <a:latin typeface="맑은 고딕"/>
              </a:rPr>
              <a:t> — </a:t>
            </a:r>
            <a:r>
              <a:rPr sz="1700" b="1">
                <a:solidFill>
                  <a:srgbClr val="222222"/>
                </a:solidFill>
                <a:latin typeface="맑은 고딕"/>
              </a:rPr>
              <a:t>0행</a:t>
            </a:r>
          </a:p>
          <a:p>
            <a:pPr algn="l">
              <a:spcAft>
                <a:spcPts val="1000"/>
              </a:spcAft>
            </a:pPr>
            <a:r>
              <a:rPr sz="1700" b="0">
                <a:solidFill>
                  <a:srgbClr val="222222"/>
                </a:solidFill>
                <a:latin typeface="맑은 고딕"/>
              </a:rPr>
              <a:t>•  디스크 — oradata </a:t>
            </a:r>
            <a:r>
              <a:rPr sz="1700" b="1">
                <a:solidFill>
                  <a:srgbClr val="222222"/>
                </a:solidFill>
                <a:latin typeface="맑은 고딕"/>
              </a:rPr>
              <a:t>819MB</a:t>
            </a:r>
            <a:r>
              <a:rPr sz="1700" b="0">
                <a:solidFill>
                  <a:srgbClr val="222222"/>
                </a:solidFill>
                <a:latin typeface="맑은 고딕"/>
              </a:rPr>
              <a:t> + 아카이브 </a:t>
            </a:r>
            <a:r>
              <a:rPr sz="1700" b="1">
                <a:solidFill>
                  <a:srgbClr val="222222"/>
                </a:solidFill>
                <a:latin typeface="맑은 고딕"/>
              </a:rPr>
              <a:t>107MB</a:t>
            </a:r>
            <a:r>
              <a:rPr sz="1700" b="0">
                <a:solidFill>
                  <a:srgbClr val="222222"/>
                </a:solidFill>
                <a:latin typeface="맑은 고딕"/>
              </a:rPr>
              <a:t> (Primary 데이터는 3.2GB)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무엇을 못 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오류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열기 — </a:t>
            </a:r>
            <a:r>
              <a:rPr sz="1700" b="1">
                <a:solidFill>
                  <a:srgbClr val="222222"/>
                </a:solidFill>
                <a:latin typeface="맑은 고딕"/>
              </a:rPr>
              <a:t>ORA-16476</a:t>
            </a:r>
            <a:r>
              <a:rPr sz="1700" b="0">
                <a:solidFill>
                  <a:srgbClr val="222222"/>
                </a:solidFill>
                <a:latin typeface="맑은 고딕"/>
              </a:rPr>
              <a:t> </a:t>
            </a:r>
            <a:r>
              <a:rPr sz="1700" b="0">
                <a:solidFill>
                  <a:srgbClr val="222222"/>
                </a:solidFill>
                <a:latin typeface="Consolas"/>
                <a:cs typeface="Consolas"/>
              </a:rPr>
              <a:t>far sync instance does not allow Open operation</a:t>
            </a:r>
          </a:p>
          <a:p>
            <a:pPr algn="l">
              <a:spcAft>
                <a:spcPts val="1000"/>
              </a:spcAft>
            </a:pPr>
            <a:r>
              <a:rPr sz="1700" b="0">
                <a:solidFill>
                  <a:srgbClr val="222222"/>
                </a:solidFill>
                <a:latin typeface="맑은 고딕"/>
              </a:rPr>
              <a:t>•  적용 — </a:t>
            </a:r>
            <a:r>
              <a:rPr sz="1700" b="1">
                <a:solidFill>
                  <a:srgbClr val="222222"/>
                </a:solidFill>
                <a:latin typeface="맑은 고딕"/>
              </a:rPr>
              <a:t>ORA-01665</a:t>
            </a:r>
            <a:r>
              <a:rPr sz="1700" b="0">
                <a:solidFill>
                  <a:srgbClr val="222222"/>
                </a:solidFill>
                <a:latin typeface="맑은 고딕"/>
              </a:rPr>
              <a:t> </a:t>
            </a:r>
            <a:r>
              <a:rPr sz="1700" b="0">
                <a:solidFill>
                  <a:srgbClr val="222222"/>
                </a:solidFill>
                <a:latin typeface="Consolas"/>
                <a:cs typeface="Consolas"/>
              </a:rPr>
              <a:t>control file is not a standby control file</a:t>
            </a:r>
          </a:p>
          <a:p>
            <a:pPr algn="l">
              <a:spcAft>
                <a:spcPts val="1000"/>
              </a:spcAft>
            </a:pPr>
            <a:r>
              <a:rPr sz="1700" b="0">
                <a:solidFill>
                  <a:srgbClr val="222222"/>
                </a:solidFill>
                <a:latin typeface="맑은 고딕"/>
              </a:rPr>
              <a:t>•  ORA-01665 는 1장에서 Primary 에 MRP 를 띄우려다 만난 그 오류</a:t>
            </a:r>
          </a:p>
          <a:p>
            <a:pPr algn="l">
              <a:spcAft>
                <a:spcPts val="1000"/>
              </a:spcAft>
            </a:pPr>
            <a:r>
              <a:rPr sz="1700" b="0">
                <a:solidFill>
                  <a:srgbClr val="222222"/>
                </a:solidFill>
                <a:latin typeface="맑은 고딕"/>
              </a:rPr>
              <a:t>•  판단이 </a:t>
            </a:r>
            <a:r>
              <a:rPr sz="1700" b="1">
                <a:solidFill>
                  <a:srgbClr val="222222"/>
                </a:solidFill>
                <a:latin typeface="맑은 고딕"/>
              </a:rPr>
              <a:t>컨트롤 파일 유형</a:t>
            </a:r>
            <a:r>
              <a:rPr sz="1700" b="0">
                <a:solidFill>
                  <a:srgbClr val="222222"/>
                </a:solidFill>
                <a:latin typeface="맑은 고딕"/>
              </a:rPr>
              <a:t> 수준에서 이뤄진다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역할의 능력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리두 생성 — Primary 만</a:t>
            </a:r>
          </a:p>
          <a:p>
            <a:pPr algn="l">
              <a:spcAft>
                <a:spcPts val="1000"/>
              </a:spcAft>
            </a:pPr>
            <a:r>
              <a:rPr sz="1700" b="0">
                <a:solidFill>
                  <a:srgbClr val="222222"/>
                </a:solidFill>
                <a:latin typeface="맑은 고딕"/>
              </a:rPr>
              <a:t>•  리두 수신·SRL 기록·로컬 아카이브 — Standby, </a:t>
            </a:r>
            <a:r>
              <a:rPr sz="1700" b="1">
                <a:solidFill>
                  <a:srgbClr val="222222"/>
                </a:solidFill>
                <a:latin typeface="맑은 고딕"/>
              </a:rPr>
              <a:t>Far Sync</a:t>
            </a:r>
          </a:p>
          <a:p>
            <a:pPr algn="l">
              <a:spcAft>
                <a:spcPts val="1000"/>
              </a:spcAft>
            </a:pPr>
            <a:r>
              <a:rPr sz="1700" b="0">
                <a:solidFill>
                  <a:srgbClr val="222222"/>
                </a:solidFill>
                <a:latin typeface="맑은 고딕"/>
              </a:rPr>
              <a:t>•  다음 목적지 전달 — Primary, Standby(설정하면), </a:t>
            </a:r>
            <a:r>
              <a:rPr sz="1700" b="1">
                <a:solidFill>
                  <a:srgbClr val="222222"/>
                </a:solidFill>
                <a:latin typeface="맑은 고딕"/>
              </a:rPr>
              <a:t>Far Sync(주 역할)</a:t>
            </a:r>
          </a:p>
          <a:p>
            <a:pPr algn="l">
              <a:spcAft>
                <a:spcPts val="1000"/>
              </a:spcAft>
            </a:pPr>
            <a:r>
              <a:rPr sz="1700" b="0">
                <a:solidFill>
                  <a:srgbClr val="222222"/>
                </a:solidFill>
                <a:latin typeface="맑은 고딕"/>
              </a:rPr>
              <a:t>•  리두 적용 — Standby 만. Far Sync 는 </a:t>
            </a:r>
            <a:r>
              <a:rPr sz="1700" b="1">
                <a:solidFill>
                  <a:srgbClr val="222222"/>
                </a:solidFill>
                <a:latin typeface="맑은 고딕"/>
              </a:rPr>
              <a:t>ORA-01665</a:t>
            </a:r>
          </a:p>
          <a:p>
            <a:pPr algn="l">
              <a:spcAft>
                <a:spcPts val="1000"/>
              </a:spcAft>
            </a:pPr>
            <a:r>
              <a:rPr sz="1700" b="0">
                <a:solidFill>
                  <a:srgbClr val="222222"/>
                </a:solidFill>
                <a:latin typeface="맑은 고딕"/>
              </a:rPr>
              <a:t>•  데이터 파일 / 조회 서비스 — Far Sync 는 </a:t>
            </a:r>
            <a:r>
              <a:rPr sz="1700" b="1">
                <a:solidFill>
                  <a:srgbClr val="222222"/>
                </a:solidFill>
                <a:latin typeface="맑은 고딕"/>
              </a:rPr>
              <a:t>없음 / ORA-16476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Cascading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Far Sync 와 무엇이 다른가</a:t>
            </a:r>
          </a:p>
          <a:p>
            <a:pPr algn="l">
              <a:spcAft>
                <a:spcPts val="800"/>
              </a:spcAft>
            </a:pPr>
            <a:r>
              <a:rPr sz="1600" b="0">
                <a:solidFill>
                  <a:srgbClr val="FFFFFF"/>
                </a:solidFill>
                <a:latin typeface="맑은 고딕"/>
              </a:rPr>
              <a:t>•  설정 규칙</a:t>
            </a:r>
          </a:p>
          <a:p>
            <a:pPr algn="l">
              <a:spcAft>
                <a:spcPts val="800"/>
              </a:spcAft>
            </a:pPr>
            <a:r>
              <a:rPr sz="1600" b="0">
                <a:solidFill>
                  <a:srgbClr val="FFFFFF"/>
                </a:solidFill>
                <a:latin typeface="맑은 고딕"/>
              </a:rPr>
              <a:t>•  VALID_FOR 의 함정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Cascading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 가 전달까지 겸한다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주체</a:t>
            </a:r>
            <a:r>
              <a:rPr sz="1700" b="0">
                <a:solidFill>
                  <a:srgbClr val="222222"/>
                </a:solidFill>
                <a:latin typeface="맑은 고딕"/>
              </a:rPr>
              <a:t> — 데이터를 </a:t>
            </a:r>
            <a:r>
              <a:rPr sz="1700" b="1">
                <a:solidFill>
                  <a:srgbClr val="222222"/>
                </a:solidFill>
                <a:latin typeface="맑은 고딕"/>
              </a:rPr>
              <a:t>가진</a:t>
            </a:r>
            <a:r>
              <a:rPr sz="1700" b="0">
                <a:solidFill>
                  <a:srgbClr val="222222"/>
                </a:solidFill>
                <a:latin typeface="맑은 고딕"/>
              </a:rPr>
              <a:t> 진짜 Standby</a:t>
            </a:r>
          </a:p>
          <a:p>
            <a:pPr algn="l">
              <a:spcAft>
                <a:spcPts val="1000"/>
              </a:spcAft>
            </a:pPr>
            <a:r>
              <a:rPr sz="1700" b="0">
                <a:solidFill>
                  <a:srgbClr val="222222"/>
                </a:solidFill>
                <a:latin typeface="맑은 고딕"/>
              </a:rPr>
              <a:t>•  </a:t>
            </a:r>
            <a:r>
              <a:rPr sz="1700" b="1">
                <a:solidFill>
                  <a:srgbClr val="222222"/>
                </a:solidFill>
                <a:latin typeface="맑은 고딕"/>
              </a:rPr>
              <a:t>목적</a:t>
            </a:r>
            <a:r>
              <a:rPr sz="1700" b="0">
                <a:solidFill>
                  <a:srgbClr val="222222"/>
                </a:solidFill>
                <a:latin typeface="맑은 고딕"/>
              </a:rPr>
              <a:t> — 무손실이 아니라 </a:t>
            </a:r>
            <a:r>
              <a:rPr sz="1700" b="1">
                <a:solidFill>
                  <a:srgbClr val="222222"/>
                </a:solidFill>
                <a:latin typeface="맑은 고딕"/>
              </a:rPr>
              <a:t>계층적 배포</a:t>
            </a:r>
          </a:p>
          <a:p>
            <a:pPr algn="l">
              <a:spcAft>
                <a:spcPts val="1000"/>
              </a:spcAft>
            </a:pPr>
            <a:r>
              <a:rPr sz="1700" b="0">
                <a:solidFill>
                  <a:srgbClr val="222222"/>
                </a:solidFill>
                <a:latin typeface="맑은 고딕"/>
              </a:rPr>
              <a:t>•  지역마다 사본을 두되 Primary 의 전송 부담을 줄인다</a:t>
            </a:r>
          </a:p>
          <a:p>
            <a:pPr algn="l">
              <a:spcAft>
                <a:spcPts val="1000"/>
              </a:spcAft>
            </a:pPr>
            <a:r>
              <a:rPr sz="1700" b="0">
                <a:solidFill>
                  <a:srgbClr val="222222"/>
                </a:solidFill>
                <a:latin typeface="맑은 고딕"/>
              </a:rPr>
              <a:t>•  Far Sync 와 달리 </a:t>
            </a:r>
            <a:r>
              <a:rPr sz="1700" b="1">
                <a:solidFill>
                  <a:srgbClr val="222222"/>
                </a:solidFill>
                <a:latin typeface="맑은 고딕"/>
              </a:rPr>
              <a:t>적용도 하고 전달도 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설정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실측이 예상과 달랐다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log_archive_dest_3='service=farsync </a:t>
            </a:r>
            <a:r>
              <a:rPr sz="1700" b="1">
                <a:solidFill>
                  <a:srgbClr val="222222"/>
                </a:solidFill>
                <a:latin typeface="Consolas"/>
                <a:cs typeface="Consolas"/>
              </a:rPr>
              <a:t>sync affirm</a:t>
            </a:r>
            <a:r>
              <a:rPr sz="1700" b="0">
                <a:solidFill>
                  <a:srgbClr val="222222"/>
                </a:solidFill>
                <a:latin typeface="Consolas"/>
                <a:cs typeface="Consolas"/>
              </a:rPr>
              <a:t> valid_for=(standby_logfiles,standby_role)...'</a:t>
            </a:r>
          </a:p>
          <a:p>
            <a:pPr algn="l">
              <a:spcAft>
                <a:spcPts val="1000"/>
              </a:spcAft>
            </a:pPr>
            <a:r>
              <a:rPr sz="1700" b="0">
                <a:solidFill>
                  <a:srgbClr val="222222"/>
                </a:solidFill>
                <a:latin typeface="맑은 고딕"/>
              </a:rPr>
              <a:t>•  결과 — </a:t>
            </a:r>
            <a:r>
              <a:rPr sz="1700" b="1">
                <a:solidFill>
                  <a:srgbClr val="222222"/>
                </a:solidFill>
                <a:latin typeface="맑은 고딕"/>
              </a:rPr>
              <a:t>오류 없이 받아들여졌다.</a:t>
            </a:r>
            <a:r>
              <a:rPr sz="1700" b="0">
                <a:solidFill>
                  <a:srgbClr val="222222"/>
                </a:solidFill>
                <a:latin typeface="맑은 고딕"/>
              </a:rPr>
              <a:t> STATUS </a:t>
            </a:r>
            <a:r>
              <a:rPr sz="1700" b="0">
                <a:solidFill>
                  <a:srgbClr val="222222"/>
                </a:solidFill>
                <a:latin typeface="Consolas"/>
                <a:cs typeface="Consolas"/>
              </a:rPr>
              <a:t>VALID</a:t>
            </a:r>
            <a:r>
              <a:rPr sz="1700" b="0">
                <a:solidFill>
                  <a:srgbClr val="222222"/>
                </a:solidFill>
                <a:latin typeface="맑은 고딕"/>
              </a:rPr>
              <a:t>, TRANSMIT_MODE </a:t>
            </a:r>
            <a:r>
              <a:rPr sz="1700" b="0">
                <a:solidFill>
                  <a:srgbClr val="222222"/>
                </a:solidFill>
                <a:latin typeface="Consolas"/>
                <a:cs typeface="Consolas"/>
              </a:rPr>
              <a:t>PARALLELSYNC</a:t>
            </a:r>
          </a:p>
          <a:p>
            <a:pPr algn="l">
              <a:spcAft>
                <a:spcPts val="1000"/>
              </a:spcAft>
            </a:pPr>
            <a:r>
              <a:rPr sz="1700" b="0">
                <a:solidFill>
                  <a:srgbClr val="222222"/>
                </a:solidFill>
                <a:latin typeface="맑은 고딕"/>
              </a:rPr>
              <a:t>•  문서는 계단식 전달이 비동기로 이뤄진다고 설명한다</a:t>
            </a:r>
          </a:p>
          <a:p>
            <a:pPr algn="l">
              <a:spcAft>
                <a:spcPts val="1000"/>
              </a:spcAft>
            </a:pPr>
            <a:r>
              <a:rPr sz="1700" b="0">
                <a:solidFill>
                  <a:srgbClr val="222222"/>
                </a:solidFill>
                <a:latin typeface="맑은 고딕"/>
              </a:rPr>
              <a:t>•  </a:t>
            </a:r>
            <a:r>
              <a:rPr sz="1700" b="1">
                <a:solidFill>
                  <a:srgbClr val="222222"/>
                </a:solidFill>
                <a:latin typeface="맑은 고딕"/>
              </a:rPr>
              <a:t>파라미터 수준에서는 거부되지 않는다</a:t>
            </a:r>
          </a:p>
          <a:p>
            <a:pPr algn="l">
              <a:spcAft>
                <a:spcPts val="1000"/>
              </a:spcAft>
            </a:pPr>
            <a:r>
              <a:rPr sz="1700" b="0">
                <a:solidFill>
                  <a:srgbClr val="222222"/>
                </a:solidFill>
                <a:latin typeface="맑은 고딕"/>
              </a:rPr>
              <a:t>•  그래도 </a:t>
            </a:r>
            <a:r>
              <a:rPr sz="1700" b="1">
                <a:solidFill>
                  <a:srgbClr val="222222"/>
                </a:solidFill>
                <a:latin typeface="맑은 고딕"/>
              </a:rPr>
              <a:t>ASYNC 를 명시하는 것이 옳다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VALID_FOR 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조용히 동작하지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잘못 준 값 — </a:t>
            </a:r>
            <a:r>
              <a:rPr sz="1700" b="0">
                <a:solidFill>
                  <a:srgbClr val="222222"/>
                </a:solidFill>
                <a:latin typeface="Consolas"/>
                <a:cs typeface="Consolas"/>
              </a:rPr>
              <a:t>valid_for=(online_logfiles,primary_role)</a:t>
            </a:r>
            <a:r>
              <a:rPr sz="1700" b="0">
                <a:solidFill>
                  <a:srgbClr val="222222"/>
                </a:solidFill>
                <a:latin typeface="맑은 고딕"/>
              </a:rPr>
              <a:t> (Standby 에)</a:t>
            </a:r>
          </a:p>
          <a:p>
            <a:pPr algn="l">
              <a:spcAft>
                <a:spcPts val="1000"/>
              </a:spcAft>
            </a:pPr>
            <a:r>
              <a:rPr sz="1700" b="0">
                <a:solidFill>
                  <a:srgbClr val="222222"/>
                </a:solidFill>
                <a:latin typeface="맑은 고딕"/>
              </a:rPr>
              <a:t>•  결과 — </a:t>
            </a:r>
            <a:r>
              <a:rPr sz="1700" b="0">
                <a:solidFill>
                  <a:srgbClr val="222222"/>
                </a:solidFill>
                <a:latin typeface="Consolas"/>
                <a:cs typeface="Consolas"/>
              </a:rPr>
              <a:t>STATUS </a:t>
            </a:r>
            <a:r>
              <a:rPr sz="1700" b="1">
                <a:solidFill>
                  <a:srgbClr val="222222"/>
                </a:solidFill>
                <a:latin typeface="Consolas"/>
                <a:cs typeface="Consolas"/>
              </a:rPr>
              <a:t>VALID</a:t>
            </a:r>
            <a:r>
              <a:rPr sz="1700" b="0">
                <a:solidFill>
                  <a:srgbClr val="222222"/>
                </a:solidFill>
                <a:latin typeface="맑은 고딕"/>
              </a:rPr>
              <a:t> / </a:t>
            </a:r>
            <a:r>
              <a:rPr sz="1700" b="0">
                <a:solidFill>
                  <a:srgbClr val="222222"/>
                </a:solidFill>
                <a:latin typeface="Consolas"/>
                <a:cs typeface="Consolas"/>
              </a:rPr>
              <a:t>VALID_NOW </a:t>
            </a:r>
            <a:r>
              <a:rPr sz="1700" b="1">
                <a:solidFill>
                  <a:srgbClr val="222222"/>
                </a:solidFill>
                <a:latin typeface="Consolas"/>
                <a:cs typeface="Consolas"/>
              </a:rPr>
              <a:t>WRONG VALID_TYPE</a:t>
            </a:r>
          </a:p>
          <a:p>
            <a:pPr algn="l">
              <a:spcAft>
                <a:spcPts val="1000"/>
              </a:spcAft>
            </a:pPr>
            <a:r>
              <a:rPr sz="1700" b="0">
                <a:solidFill>
                  <a:srgbClr val="222222"/>
                </a:solidFill>
                <a:latin typeface="맑은 고딕"/>
              </a:rPr>
              <a:t>•  </a:t>
            </a:r>
            <a:r>
              <a:rPr sz="1700" b="0">
                <a:solidFill>
                  <a:srgbClr val="222222"/>
                </a:solidFill>
                <a:latin typeface="Consolas"/>
                <a:cs typeface="Consolas"/>
              </a:rPr>
              <a:t>VALID_ROLE PRIMARY_ROLE</a:t>
            </a:r>
            <a:r>
              <a:rPr sz="1700" b="0">
                <a:solidFill>
                  <a:srgbClr val="222222"/>
                </a:solidFill>
                <a:latin typeface="맑은 고딕"/>
              </a:rPr>
              <a:t> / </a:t>
            </a:r>
            <a:r>
              <a:rPr sz="1700" b="0">
                <a:solidFill>
                  <a:srgbClr val="222222"/>
                </a:solidFill>
                <a:latin typeface="Consolas"/>
                <a:cs typeface="Consolas"/>
              </a:rPr>
              <a:t>VALID_TYPE ONLINE_LOGFILE</a:t>
            </a:r>
          </a:p>
          <a:p>
            <a:pPr algn="l">
              <a:spcAft>
                <a:spcPts val="1000"/>
              </a:spcAft>
            </a:pPr>
            <a:r>
              <a:rPr sz="1700" b="0">
                <a:solidFill>
                  <a:srgbClr val="222222"/>
                </a:solidFill>
                <a:latin typeface="맑은 고딕"/>
              </a:rPr>
              <a:t>•  </a:t>
            </a:r>
            <a:r>
              <a:rPr sz="1700" b="1">
                <a:solidFill>
                  <a:srgbClr val="222222"/>
                </a:solidFill>
                <a:latin typeface="맑은 고딕"/>
              </a:rPr>
              <a:t>STATUS 만 보면 정상으로 보인다</a:t>
            </a:r>
          </a:p>
          <a:p>
            <a:pPr algn="l">
              <a:spcAft>
                <a:spcPts val="1000"/>
              </a:spcAft>
            </a:pPr>
            <a:r>
              <a:rPr sz="1700" b="0">
                <a:solidFill>
                  <a:srgbClr val="222222"/>
                </a:solidFill>
                <a:latin typeface="맑은 고딕"/>
              </a:rPr>
              <a:t>•  계단식 구성이 동작하지 않는 가장 흔한 원인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VALID_NOW 의 세 가지 값</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장에서 모두 봤다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YES</a:t>
            </a:r>
            <a:r>
              <a:rPr sz="1700" b="0">
                <a:solidFill>
                  <a:srgbClr val="222222"/>
                </a:solidFill>
                <a:latin typeface="맑은 고딕"/>
              </a:rPr>
              <a:t> — 지금 이 역할에서 쓰인다</a:t>
            </a:r>
          </a:p>
          <a:p>
            <a:pPr algn="l">
              <a:spcAft>
                <a:spcPts val="1000"/>
              </a:spcAft>
            </a:pPr>
            <a:r>
              <a:rPr sz="1700" b="0">
                <a:solidFill>
                  <a:srgbClr val="222222"/>
                </a:solidFill>
                <a:latin typeface="맑은 고딕"/>
              </a:rPr>
              <a:t>•  </a:t>
            </a:r>
            <a:r>
              <a:rPr sz="1700" b="1">
                <a:solidFill>
                  <a:srgbClr val="222222"/>
                </a:solidFill>
                <a:latin typeface="맑은 고딕"/>
              </a:rPr>
              <a:t>WRONG VALID_TYPE</a:t>
            </a:r>
            <a:r>
              <a:rPr sz="1700" b="0">
                <a:solidFill>
                  <a:srgbClr val="222222"/>
                </a:solidFill>
                <a:latin typeface="맑은 고딕"/>
              </a:rPr>
              <a:t> — 설정이 지금 역할과 맞지 않는다</a:t>
            </a:r>
          </a:p>
          <a:p>
            <a:pPr algn="l">
              <a:spcAft>
                <a:spcPts val="1000"/>
              </a:spcAft>
            </a:pPr>
            <a:r>
              <a:rPr sz="1700" b="0">
                <a:solidFill>
                  <a:srgbClr val="222222"/>
                </a:solidFill>
                <a:latin typeface="맑은 고딕"/>
              </a:rPr>
              <a:t>•  </a:t>
            </a:r>
            <a:r>
              <a:rPr sz="1700" b="1">
                <a:solidFill>
                  <a:srgbClr val="222222"/>
                </a:solidFill>
                <a:latin typeface="맑은 고딕"/>
              </a:rPr>
              <a:t>UNKNOWN</a:t>
            </a:r>
            <a:r>
              <a:rPr sz="1700" b="0">
                <a:solidFill>
                  <a:srgbClr val="222222"/>
                </a:solidFill>
                <a:latin typeface="맑은 고딕"/>
              </a:rPr>
              <a:t> — 아직 판단할 근거가 없다 (막 설정한 직후)</a:t>
            </a:r>
          </a:p>
          <a:p>
            <a:pPr algn="l">
              <a:spcAft>
                <a:spcPts val="1000"/>
              </a:spcAft>
            </a:pPr>
            <a:r>
              <a:rPr sz="1700" b="0">
                <a:solidFill>
                  <a:srgbClr val="222222"/>
                </a:solidFill>
                <a:latin typeface="맑은 고딕"/>
              </a:rPr>
              <a:t>•  UNKNOWN 은 오류가 아니다. 리두가 한 번 오가면 YES 가 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원복과 운영 판단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순서</a:t>
            </a:r>
          </a:p>
          <a:p>
            <a:pPr algn="l">
              <a:spcAft>
                <a:spcPts val="800"/>
              </a:spcAft>
            </a:pPr>
            <a:r>
              <a:rPr sz="1600" b="0">
                <a:solidFill>
                  <a:srgbClr val="FFFFFF"/>
                </a:solidFill>
                <a:latin typeface="맑은 고딕"/>
              </a:rPr>
              <a:t>•  언제 Far Sync 를 쓰는가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보호 모드가 먼저다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①</a:t>
            </a:r>
            <a:r>
              <a:rPr sz="1700" b="0">
                <a:solidFill>
                  <a:srgbClr val="222222"/>
                </a:solidFill>
                <a:latin typeface="맑은 고딕"/>
              </a:rPr>
              <a:t> 계단식 목적지 해제 — </a:t>
            </a:r>
            <a:r>
              <a:rPr sz="1700" b="0">
                <a:solidFill>
                  <a:srgbClr val="222222"/>
                </a:solidFill>
                <a:latin typeface="Consolas"/>
                <a:cs typeface="Consolas"/>
              </a:rPr>
              <a:t>DEFER</a:t>
            </a:r>
            <a:r>
              <a:rPr sz="1700" b="0">
                <a:solidFill>
                  <a:srgbClr val="222222"/>
                </a:solidFill>
                <a:latin typeface="맑은 고딕"/>
              </a:rPr>
              <a:t> 후 </a:t>
            </a:r>
            <a:r>
              <a:rPr sz="1700" b="0">
                <a:solidFill>
                  <a:srgbClr val="222222"/>
                </a:solidFill>
                <a:latin typeface="Consolas"/>
                <a:cs typeface="Consolas"/>
              </a:rPr>
              <a:t>log_archive_dest_3=''</a:t>
            </a:r>
            <a:r>
              <a:rPr sz="1700" b="0">
                <a:solidFill>
                  <a:srgbClr val="222222"/>
                </a:solidFill>
                <a:latin typeface="맑은 고딕"/>
              </a:rPr>
              <a:t> → </a:t>
            </a:r>
            <a:r>
              <a:rPr sz="1700" b="0">
                <a:solidFill>
                  <a:srgbClr val="222222"/>
                </a:solidFill>
                <a:latin typeface="Consolas"/>
                <a:cs typeface="Consolas"/>
              </a:rPr>
              <a:t>INACTIVE</a:t>
            </a:r>
          </a:p>
          <a:p>
            <a:pPr algn="l">
              <a:spcAft>
                <a:spcPts val="1000"/>
              </a:spcAft>
            </a:pPr>
            <a:r>
              <a:rPr sz="1700" b="0">
                <a:solidFill>
                  <a:srgbClr val="222222"/>
                </a:solidFill>
                <a:latin typeface="맑은 고딕"/>
              </a:rPr>
              <a:t>•  </a:t>
            </a:r>
            <a:r>
              <a:rPr sz="1700" b="1">
                <a:solidFill>
                  <a:srgbClr val="222222"/>
                </a:solidFill>
                <a:latin typeface="맑은 고딕"/>
              </a:rPr>
              <a:t>②</a:t>
            </a:r>
            <a:r>
              <a:rPr sz="1700" b="0">
                <a:solidFill>
                  <a:srgbClr val="222222"/>
                </a:solidFill>
                <a:latin typeface="맑은 고딕"/>
              </a:rPr>
              <a:t> 보호 모드 하향 — </a:t>
            </a:r>
            <a:r>
              <a:rPr sz="1700" b="0">
                <a:solidFill>
                  <a:srgbClr val="222222"/>
                </a:solidFill>
                <a:latin typeface="Consolas"/>
                <a:cs typeface="Consolas"/>
              </a:rPr>
              <a:t>TO MAXIMIZE PERFORMANCE</a:t>
            </a:r>
          </a:p>
          <a:p>
            <a:pPr algn="l">
              <a:spcAft>
                <a:spcPts val="1000"/>
              </a:spcAft>
            </a:pPr>
            <a:r>
              <a:rPr sz="1700" b="0">
                <a:solidFill>
                  <a:srgbClr val="222222"/>
                </a:solidFill>
                <a:latin typeface="맑은 고딕"/>
              </a:rPr>
              <a:t>•  </a:t>
            </a:r>
            <a:r>
              <a:rPr sz="1700" b="1">
                <a:solidFill>
                  <a:srgbClr val="222222"/>
                </a:solidFill>
                <a:latin typeface="맑은 고딕"/>
              </a:rPr>
              <a:t>③</a:t>
            </a:r>
            <a:r>
              <a:rPr sz="1700" b="0">
                <a:solidFill>
                  <a:srgbClr val="222222"/>
                </a:solidFill>
                <a:latin typeface="맑은 고딕"/>
              </a:rPr>
              <a:t> 목적지를 boston 직결로</a:t>
            </a:r>
          </a:p>
          <a:p>
            <a:pPr algn="l">
              <a:spcAft>
                <a:spcPts val="1000"/>
              </a:spcAft>
            </a:pPr>
            <a:r>
              <a:rPr sz="1700" b="0">
                <a:solidFill>
                  <a:srgbClr val="222222"/>
                </a:solidFill>
                <a:latin typeface="맑은 고딕"/>
              </a:rPr>
              <a:t>•  반대로 하면 — 동기 대상 없는 </a:t>
            </a:r>
            <a:r>
              <a:rPr sz="1700" b="0">
                <a:solidFill>
                  <a:srgbClr val="222222"/>
                </a:solidFill>
                <a:latin typeface="Consolas"/>
                <a:cs typeface="Consolas"/>
              </a:rPr>
              <a:t>MAXIMUM AVAILABILITY</a:t>
            </a:r>
            <a:r>
              <a:rPr sz="1700" b="0">
                <a:solidFill>
                  <a:srgbClr val="222222"/>
                </a:solidFill>
                <a:latin typeface="맑은 고딕"/>
              </a:rPr>
              <a:t> 상태가 된다</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log_archive_config</a:t>
            </a:r>
            <a:r>
              <a:rPr sz="1700" b="0">
                <a:solidFill>
                  <a:srgbClr val="222222"/>
                </a:solidFill>
                <a:latin typeface="맑은 고딕"/>
              </a:rPr>
              <a:t> 의 세 이름은 그대로 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Far Sync 를 쓰는가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조건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① 무손실이 요건이다</a:t>
            </a:r>
            <a:r>
              <a:rPr sz="1700" b="0">
                <a:solidFill>
                  <a:srgbClr val="222222"/>
                </a:solidFill>
                <a:latin typeface="맑은 고딕"/>
              </a:rPr>
              <a:t> — 아니면 비동기 직결이 단순하고 싸다</a:t>
            </a:r>
          </a:p>
          <a:p>
            <a:pPr algn="l">
              <a:spcAft>
                <a:spcPts val="1000"/>
              </a:spcAft>
            </a:pPr>
            <a:r>
              <a:rPr sz="1700" b="0">
                <a:solidFill>
                  <a:srgbClr val="222222"/>
                </a:solidFill>
                <a:latin typeface="맑은 고딕"/>
              </a:rPr>
              <a:t>•  </a:t>
            </a:r>
            <a:r>
              <a:rPr sz="1700" b="1">
                <a:solidFill>
                  <a:srgbClr val="222222"/>
                </a:solidFill>
                <a:latin typeface="맑은 고딕"/>
              </a:rPr>
              <a:t>② 재해 복구 센터가 멀다</a:t>
            </a:r>
            <a:r>
              <a:rPr sz="1700" b="0">
                <a:solidFill>
                  <a:srgbClr val="222222"/>
                </a:solidFill>
                <a:latin typeface="맑은 고딕"/>
              </a:rPr>
              <a:t> — 가까우면 직접 동기 전송하면 된다</a:t>
            </a:r>
          </a:p>
          <a:p>
            <a:pPr algn="l">
              <a:spcAft>
                <a:spcPts val="1000"/>
              </a:spcAft>
            </a:pPr>
            <a:r>
              <a:rPr sz="1700" b="0">
                <a:solidFill>
                  <a:srgbClr val="222222"/>
                </a:solidFill>
                <a:latin typeface="맑은 고딕"/>
              </a:rPr>
              <a:t>•  </a:t>
            </a:r>
            <a:r>
              <a:rPr sz="1700" b="1">
                <a:solidFill>
                  <a:srgbClr val="222222"/>
                </a:solidFill>
                <a:latin typeface="맑은 고딕"/>
              </a:rPr>
              <a:t>③ 추가 노드를 감당할 수 있다</a:t>
            </a:r>
          </a:p>
          <a:p>
            <a:pPr algn="l">
              <a:spcAft>
                <a:spcPts val="1000"/>
              </a:spcAft>
            </a:pPr>
            <a:r>
              <a:rPr sz="1700" b="0">
                <a:solidFill>
                  <a:srgbClr val="222222"/>
                </a:solidFill>
                <a:latin typeface="맑은 고딕"/>
              </a:rPr>
              <a:t>•  이 장에서 치른 비용 — 서버 1대, 3곳의 설정 정합, SRL 수작업, 정적 등록, ORA-16057</a:t>
            </a:r>
          </a:p>
          <a:p>
            <a:pPr algn="l">
              <a:spcAft>
                <a:spcPts val="1000"/>
              </a:spcAft>
            </a:pPr>
            <a:r>
              <a:rPr sz="1700" b="0">
                <a:solidFill>
                  <a:srgbClr val="222222"/>
                </a:solidFill>
                <a:latin typeface="맑은 고딕"/>
              </a:rPr>
              <a:t>•  얻는 것이 분명할 때만 치를 만한 비용</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Far Sync 는 </a:t>
            </a:r>
            <a:r>
              <a:rPr sz="1600" b="1">
                <a:solidFill>
                  <a:srgbClr val="222222"/>
                </a:solidFill>
                <a:latin typeface="맑은 고딕"/>
              </a:rPr>
              <a:t>거리와 동기 전송의 모순</a:t>
            </a:r>
            <a:r>
              <a:rPr sz="1600" b="0">
                <a:solidFill>
                  <a:srgbClr val="222222"/>
                </a:solidFill>
                <a:latin typeface="맑은 고딕"/>
              </a:rPr>
              <a:t>을 푼다. 가까운 곳과만 동기로 대화한다.</a:t>
            </a:r>
          </a:p>
          <a:p>
            <a:pPr algn="l">
              <a:spcAft>
                <a:spcPts val="1000"/>
              </a:spcAft>
            </a:pPr>
            <a:r>
              <a:rPr sz="1600" b="0">
                <a:solidFill>
                  <a:srgbClr val="222222"/>
                </a:solidFill>
                <a:latin typeface="맑은 고딕"/>
              </a:rPr>
              <a:t>•  컨트롤 파일은 Primary 가 만든다 — 실측 18,989,056바이트. </a:t>
            </a:r>
            <a:r>
              <a:rPr sz="1600" b="0">
                <a:solidFill>
                  <a:srgbClr val="222222"/>
                </a:solidFill>
                <a:latin typeface="Consolas"/>
                <a:cs typeface="Consolas"/>
              </a:rPr>
              <a:t>FAR SYNC</a:t>
            </a:r>
            <a:r>
              <a:rPr sz="1600" b="0">
                <a:solidFill>
                  <a:srgbClr val="222222"/>
                </a:solidFill>
                <a:latin typeface="맑은 고딕"/>
              </a:rPr>
              <a:t> 는 띄어 쓴다(붙이면 ORA-00900).</a:t>
            </a:r>
          </a:p>
          <a:p>
            <a:pPr algn="l">
              <a:spcAft>
                <a:spcPts val="1000"/>
              </a:spcAft>
            </a:pPr>
            <a:r>
              <a:rPr sz="1600" b="0">
                <a:solidFill>
                  <a:srgbClr val="222222"/>
                </a:solidFill>
                <a:latin typeface="맑은 고딕"/>
              </a:rPr>
              <a:t>•  </a:t>
            </a:r>
            <a:r>
              <a:rPr sz="1600" b="0">
                <a:solidFill>
                  <a:srgbClr val="222222"/>
                </a:solidFill>
                <a:latin typeface="Consolas"/>
                <a:cs typeface="Consolas"/>
              </a:rPr>
              <a:t>STARTUP MOUNT</a:t>
            </a:r>
            <a:r>
              <a:rPr sz="1600" b="0">
                <a:solidFill>
                  <a:srgbClr val="222222"/>
                </a:solidFill>
                <a:latin typeface="맑은 고딕"/>
              </a:rPr>
              <a:t> 한 번으로 뜬다. </a:t>
            </a:r>
            <a:r>
              <a:rPr sz="1600" b="0">
                <a:solidFill>
                  <a:srgbClr val="222222"/>
                </a:solidFill>
                <a:latin typeface="Consolas"/>
                <a:cs typeface="Consolas"/>
              </a:rPr>
              <a:t>DATABASE_ROLE</a:t>
            </a:r>
            <a:r>
              <a:rPr sz="1600" b="0">
                <a:solidFill>
                  <a:srgbClr val="222222"/>
                </a:solidFill>
                <a:latin typeface="맑은 고딕"/>
              </a:rPr>
              <a:t>=FAR SYNC, </a:t>
            </a:r>
            <a:r>
              <a:rPr sz="1600" b="0">
                <a:solidFill>
                  <a:srgbClr val="222222"/>
                </a:solidFill>
                <a:latin typeface="Consolas"/>
                <a:cs typeface="Consolas"/>
              </a:rPr>
              <a:t>CONTROLFILE_TYPE</a:t>
            </a:r>
            <a:r>
              <a:rPr sz="1600" b="0">
                <a:solidFill>
                  <a:srgbClr val="222222"/>
                </a:solidFill>
                <a:latin typeface="맑은 고딕"/>
              </a:rPr>
              <a:t>=FARSYNC.</a:t>
            </a:r>
          </a:p>
          <a:p>
            <a:pPr algn="l">
              <a:spcAft>
                <a:spcPts val="1000"/>
              </a:spcAft>
            </a:pPr>
            <a:r>
              <a:rPr sz="1600" b="0">
                <a:solidFill>
                  <a:srgbClr val="222222"/>
                </a:solidFill>
                <a:latin typeface="맑은 고딕"/>
              </a:rPr>
              <a:t>•  SRL </a:t>
            </a:r>
            <a:r>
              <a:rPr sz="1600" b="1">
                <a:solidFill>
                  <a:srgbClr val="222222"/>
                </a:solidFill>
                <a:latin typeface="맑은 고딕"/>
              </a:rPr>
              <a:t>정의는 상속</a:t>
            </a:r>
            <a:r>
              <a:rPr sz="1600" b="0">
                <a:solidFill>
                  <a:srgbClr val="222222"/>
                </a:solidFill>
                <a:latin typeface="맑은 고딕"/>
              </a:rPr>
              <a:t>된다. </a:t>
            </a:r>
            <a:r>
              <a:rPr sz="1600" b="0">
                <a:solidFill>
                  <a:srgbClr val="222222"/>
                </a:solidFill>
                <a:latin typeface="Consolas"/>
                <a:cs typeface="Consolas"/>
              </a:rPr>
              <a:t>ADD</a:t>
            </a:r>
            <a:r>
              <a:rPr sz="1600" b="0">
                <a:solidFill>
                  <a:srgbClr val="222222"/>
                </a:solidFill>
                <a:latin typeface="맑은 고딕"/>
              </a:rPr>
              <a:t> 하면 ORA-01184. </a:t>
            </a:r>
            <a:r>
              <a:rPr sz="1600" b="0">
                <a:solidFill>
                  <a:srgbClr val="222222"/>
                </a:solidFill>
                <a:latin typeface="Consolas"/>
                <a:cs typeface="Consolas"/>
              </a:rPr>
              <a:t>CLEAR LOGFILE</a:t>
            </a:r>
            <a:r>
              <a:rPr sz="1600" b="0">
                <a:solidFill>
                  <a:srgbClr val="222222"/>
                </a:solidFill>
                <a:latin typeface="맑은 고딕"/>
              </a:rPr>
              <a:t> 로 실체를 만든다(200MB × 4).</a:t>
            </a:r>
          </a:p>
          <a:p>
            <a:pPr algn="l">
              <a:spcAft>
                <a:spcPts val="1000"/>
              </a:spcAft>
            </a:pPr>
            <a:r>
              <a:rPr sz="1600" b="0">
                <a:solidFill>
                  <a:srgbClr val="222222"/>
                </a:solidFill>
                <a:latin typeface="맑은 고딕"/>
              </a:rPr>
              <a:t>•  Far Sync 도 </a:t>
            </a:r>
            <a:r>
              <a:rPr sz="1600" b="1">
                <a:solidFill>
                  <a:srgbClr val="222222"/>
                </a:solidFill>
                <a:latin typeface="맑은 고딕"/>
              </a:rPr>
              <a:t>동적 등록이 된다</a:t>
            </a:r>
            <a:r>
              <a:rPr sz="1600" b="0">
                <a:solidFill>
                  <a:srgbClr val="222222"/>
                </a:solidFill>
                <a:latin typeface="맑은 고딕"/>
              </a:rPr>
              <a:t>(status READY). 정적 등록은 재기동·원격 기동 때문에 함께 둔다.</a:t>
            </a:r>
          </a:p>
          <a:p>
            <a:pPr algn="l">
              <a:spcAft>
                <a:spcPts val="1000"/>
              </a:spcAft>
            </a:pPr>
            <a:r>
              <a:rPr sz="1600" b="0">
                <a:solidFill>
                  <a:srgbClr val="222222"/>
                </a:solidFill>
                <a:latin typeface="맑은 고딕"/>
              </a:rPr>
              <a:t>•  전달 목적지의 </a:t>
            </a:r>
            <a:r>
              <a:rPr sz="1600" b="0">
                <a:solidFill>
                  <a:srgbClr val="222222"/>
                </a:solidFill>
                <a:latin typeface="Consolas"/>
                <a:cs typeface="Consolas"/>
              </a:rPr>
              <a:t>VALID_FOR</a:t>
            </a:r>
            <a:r>
              <a:rPr sz="1600" b="0">
                <a:solidFill>
                  <a:srgbClr val="222222"/>
                </a:solidFill>
                <a:latin typeface="맑은 고딕"/>
              </a:rPr>
              <a:t> 는 </a:t>
            </a:r>
            <a:r>
              <a:rPr sz="1600" b="0">
                <a:solidFill>
                  <a:srgbClr val="222222"/>
                </a:solidFill>
                <a:latin typeface="Consolas"/>
                <a:cs typeface="Consolas"/>
              </a:rPr>
              <a:t>(STANDBY_LOGFILES, STANDBY_ROLE)</a:t>
            </a:r>
            <a:r>
              <a:rPr sz="1600" b="0">
                <a:solidFill>
                  <a:srgbClr val="222222"/>
                </a:solidFill>
                <a:latin typeface="맑은 고딕"/>
              </a:rPr>
              <a:t>. 리두 출처가 SRL 이기 때문이다.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LOG_ARCHIVE_CONFIG</a:t>
            </a:r>
            <a:r>
              <a:rPr sz="1600" b="0">
                <a:solidFill>
                  <a:srgbClr val="222222"/>
                </a:solidFill>
                <a:latin typeface="맑은 고딕"/>
              </a:rPr>
              <a:t> 에 세 이름을 모두 넣는다. 빠지면 </a:t>
            </a:r>
            <a:r>
              <a:rPr sz="1600" b="1">
                <a:solidFill>
                  <a:srgbClr val="222222"/>
                </a:solidFill>
                <a:latin typeface="맑은 고딕"/>
              </a:rPr>
              <a:t>ORA-16057</a:t>
            </a:r>
            <a:r>
              <a:rPr sz="1600" b="0">
                <a:solidFill>
                  <a:srgbClr val="222222"/>
                </a:solidFill>
                <a:latin typeface="맑은 고딕"/>
              </a:rPr>
              <a:t> — 원인은 받는 쪽에 있다.</a:t>
            </a:r>
          </a:p>
          <a:p>
            <a:pPr algn="l">
              <a:spcAft>
                <a:spcPts val="1000"/>
              </a:spcAft>
            </a:pPr>
            <a:r>
              <a:rPr sz="1600" b="0">
                <a:solidFill>
                  <a:srgbClr val="222222"/>
                </a:solidFill>
                <a:latin typeface="맑은 고딕"/>
              </a:rPr>
              <a:t>•  구성 변경은 </a:t>
            </a:r>
            <a:r>
              <a:rPr sz="1600" b="1">
                <a:solidFill>
                  <a:srgbClr val="222222"/>
                </a:solidFill>
                <a:latin typeface="맑은 고딕"/>
              </a:rPr>
              <a:t>받는 쪽 먼저, 보내는 쪽 나중</a:t>
            </a:r>
            <a:r>
              <a:rPr sz="1600" b="0">
                <a:solidFill>
                  <a:srgbClr val="222222"/>
                </a:solidFill>
                <a:latin typeface="맑은 고딕"/>
              </a:rPr>
              <a:t>. 오류가 남으면 DEFER → ENABLE.</a:t>
            </a:r>
          </a:p>
          <a:p>
            <a:pPr algn="l">
              <a:spcAft>
                <a:spcPts val="1000"/>
              </a:spcAft>
            </a:pPr>
            <a:r>
              <a:rPr sz="1600" b="0">
                <a:solidFill>
                  <a:srgbClr val="222222"/>
                </a:solidFill>
                <a:latin typeface="맑은 고딕"/>
              </a:rPr>
              <a:t>•  </a:t>
            </a:r>
            <a:r>
              <a:rPr sz="1600" b="0">
                <a:solidFill>
                  <a:srgbClr val="222222"/>
                </a:solidFill>
                <a:latin typeface="Consolas"/>
                <a:cs typeface="Consolas"/>
              </a:rPr>
              <a:t>TRANSMIT_MODE</a:t>
            </a:r>
            <a:r>
              <a:rPr sz="1600" b="0">
                <a:solidFill>
                  <a:srgbClr val="222222"/>
                </a:solidFill>
                <a:latin typeface="맑은 고딕"/>
              </a:rPr>
              <a:t>·</a:t>
            </a:r>
            <a:r>
              <a:rPr sz="1600" b="0">
                <a:solidFill>
                  <a:srgbClr val="222222"/>
                </a:solidFill>
                <a:latin typeface="Consolas"/>
                <a:cs typeface="Consolas"/>
              </a:rPr>
              <a:t>AFFIRM</a:t>
            </a:r>
            <a:r>
              <a:rPr sz="1600" b="0">
                <a:solidFill>
                  <a:srgbClr val="222222"/>
                </a:solidFill>
                <a:latin typeface="맑은 고딕"/>
              </a:rPr>
              <a:t> 은 </a:t>
            </a:r>
            <a:r>
              <a:rPr sz="1600" b="1">
                <a:solidFill>
                  <a:srgbClr val="222222"/>
                </a:solidFill>
                <a:latin typeface="맑은 고딕"/>
              </a:rPr>
              <a:t>V$ARCHIVE_DEST</a:t>
            </a:r>
            <a:r>
              <a:rPr sz="1600" b="0">
                <a:solidFill>
                  <a:srgbClr val="222222"/>
                </a:solidFill>
                <a:latin typeface="맑은 고딕"/>
              </a:rPr>
              <a:t>. 상태 뷰에서 찾으면 ORA-00904.</a:t>
            </a:r>
          </a:p>
          <a:p>
            <a:pPr algn="l">
              <a:spcAft>
                <a:spcPts val="1000"/>
              </a:spcAft>
            </a:pPr>
            <a:r>
              <a:rPr sz="1600" b="0">
                <a:solidFill>
                  <a:srgbClr val="222222"/>
                </a:solidFill>
                <a:latin typeface="맑은 고딕"/>
              </a:rPr>
              <a:t>•  세 노드의 </a:t>
            </a:r>
            <a:r>
              <a:rPr sz="1600" b="0">
                <a:solidFill>
                  <a:srgbClr val="222222"/>
                </a:solidFill>
                <a:latin typeface="Consolas"/>
                <a:cs typeface="Consolas"/>
              </a:rPr>
              <a:t>PROTECTION_LEVEL</a:t>
            </a:r>
            <a:r>
              <a:rPr sz="1600" b="0">
                <a:solidFill>
                  <a:srgbClr val="222222"/>
                </a:solidFill>
                <a:latin typeface="맑은 고딕"/>
              </a:rPr>
              <a:t> 이 다르다. </a:t>
            </a:r>
            <a:r>
              <a:rPr sz="1600" b="1">
                <a:solidFill>
                  <a:srgbClr val="222222"/>
                </a:solidFill>
                <a:latin typeface="맑은 고딕"/>
              </a:rPr>
              <a:t>boston 만 RESYNCHRONIZATION</a:t>
            </a:r>
            <a:r>
              <a:rPr sz="1600" b="0">
                <a:solidFill>
                  <a:srgbClr val="222222"/>
                </a:solidFill>
                <a:latin typeface="맑은 고딕"/>
              </a:rPr>
              <a:t> — ASYNC 로 받기 때문.</a:t>
            </a:r>
          </a:p>
          <a:p>
            <a:pPr algn="l">
              <a:spcAft>
                <a:spcPts val="1000"/>
              </a:spcAft>
            </a:pPr>
            <a:r>
              <a:rPr sz="1600" b="0">
                <a:solidFill>
                  <a:srgbClr val="222222"/>
                </a:solidFill>
                <a:latin typeface="맑은 고딕"/>
              </a:rPr>
              <a:t>•  Far Sync 는 데이터 파일 0, </a:t>
            </a:r>
            <a:r>
              <a:rPr sz="1600" b="0">
                <a:solidFill>
                  <a:srgbClr val="222222"/>
                </a:solidFill>
                <a:latin typeface="Consolas"/>
                <a:cs typeface="Consolas"/>
              </a:rPr>
              <a:t>V$LOG</a:t>
            </a:r>
            <a:r>
              <a:rPr sz="1600" b="0">
                <a:solidFill>
                  <a:srgbClr val="222222"/>
                </a:solidFill>
                <a:latin typeface="맑은 고딕"/>
              </a:rPr>
              <a:t> 0행. 열지 못하고(</a:t>
            </a:r>
            <a:r>
              <a:rPr sz="1600" b="1">
                <a:solidFill>
                  <a:srgbClr val="222222"/>
                </a:solidFill>
                <a:latin typeface="맑은 고딕"/>
              </a:rPr>
              <a:t>ORA-16476</a:t>
            </a:r>
            <a:r>
              <a:rPr sz="1600" b="0">
                <a:solidFill>
                  <a:srgbClr val="222222"/>
                </a:solidFill>
                <a:latin typeface="맑은 고딕"/>
              </a:rPr>
              <a:t>) 적용하지 못한다(</a:t>
            </a:r>
            <a:r>
              <a:rPr sz="1600" b="1">
                <a:solidFill>
                  <a:srgbClr val="222222"/>
                </a:solidFill>
                <a:latin typeface="맑은 고딕"/>
              </a:rPr>
              <a:t>ORA-01665</a:t>
            </a:r>
            <a:r>
              <a:rPr sz="1600" b="0">
                <a:solidFill>
                  <a:srgbClr val="222222"/>
                </a:solidFill>
                <a:latin typeface="맑은 고딕"/>
              </a:rPr>
              <a:t>).</a:t>
            </a:r>
          </a:p>
          <a:p>
            <a:pPr algn="l">
              <a:spcAft>
                <a:spcPts val="1000"/>
              </a:spcAft>
            </a:pPr>
            <a:r>
              <a:rPr sz="1600" b="0">
                <a:solidFill>
                  <a:srgbClr val="222222"/>
                </a:solidFill>
                <a:latin typeface="맑은 고딕"/>
              </a:rPr>
              <a:t>•  계단식 목적지에 SYNC 를 줘도 거부되지 않는다. </a:t>
            </a:r>
            <a:r>
              <a:rPr sz="1600" b="1">
                <a:solidFill>
                  <a:srgbClr val="222222"/>
                </a:solidFill>
                <a:latin typeface="맑은 고딕"/>
              </a:rPr>
              <a:t>ASYNC 를 명시</a:t>
            </a:r>
            <a:r>
              <a:rPr sz="1600" b="0">
                <a:solidFill>
                  <a:srgbClr val="222222"/>
                </a:solidFill>
                <a:latin typeface="맑은 고딕"/>
              </a:rPr>
              <a:t>한다. </a:t>
            </a:r>
            <a:r>
              <a:rPr sz="1600" b="0">
                <a:solidFill>
                  <a:srgbClr val="222222"/>
                </a:solidFill>
                <a:latin typeface="Consolas"/>
                <a:cs typeface="Consolas"/>
              </a:rPr>
              <a:t>VALID_FOR</a:t>
            </a:r>
            <a:r>
              <a:rPr sz="1600" b="0">
                <a:solidFill>
                  <a:srgbClr val="222222"/>
                </a:solidFill>
                <a:latin typeface="맑은 고딕"/>
              </a:rPr>
              <a:t> 오설정은 STATUS 가 VALID 인 채로 조용히 실패한다.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Far Sync 노드 준비와 컨트롤 파일</a:t>
            </a:r>
          </a:p>
          <a:p>
            <a:pPr algn="l">
              <a:spcAft>
                <a:spcPts val="1000"/>
              </a:spcAft>
            </a:pPr>
            <a:r>
              <a:rPr sz="1600" b="0">
                <a:solidFill>
                  <a:srgbClr val="222222"/>
                </a:solidFill>
                <a:latin typeface="맑은 고딕"/>
              </a:rPr>
              <a:t>•  실습 02 — 인스턴스 기동과 역할 확인</a:t>
            </a:r>
          </a:p>
          <a:p>
            <a:pPr algn="l">
              <a:spcAft>
                <a:spcPts val="1000"/>
              </a:spcAft>
            </a:pPr>
            <a:r>
              <a:rPr sz="1600" b="0">
                <a:solidFill>
                  <a:srgbClr val="222222"/>
                </a:solidFill>
                <a:latin typeface="맑은 고딕"/>
              </a:rPr>
              <a:t>•  실습 03 — SRL 실체화</a:t>
            </a:r>
          </a:p>
          <a:p>
            <a:pPr algn="l">
              <a:spcAft>
                <a:spcPts val="1000"/>
              </a:spcAft>
            </a:pPr>
            <a:r>
              <a:rPr sz="1600" b="0">
                <a:solidFill>
                  <a:srgbClr val="222222"/>
                </a:solidFill>
                <a:latin typeface="맑은 고딕"/>
              </a:rPr>
              <a:t>•  실습 04 — Oracle Net 구성</a:t>
            </a:r>
          </a:p>
          <a:p>
            <a:pPr algn="l">
              <a:spcAft>
                <a:spcPts val="1000"/>
              </a:spcAft>
            </a:pPr>
            <a:r>
              <a:rPr sz="1600" b="0">
                <a:solidFill>
                  <a:srgbClr val="222222"/>
                </a:solidFill>
                <a:latin typeface="맑은 고딕"/>
              </a:rPr>
              <a:t>•  실습 05 — 리두 경로 전환</a:t>
            </a:r>
          </a:p>
          <a:p>
            <a:pPr algn="l">
              <a:spcAft>
                <a:spcPts val="1000"/>
              </a:spcAft>
            </a:pPr>
            <a:r>
              <a:rPr sz="1600" b="0">
                <a:solidFill>
                  <a:srgbClr val="222222"/>
                </a:solidFill>
                <a:latin typeface="맑은 고딕"/>
              </a:rPr>
              <a:t>•  실습 06 — 보호 모드 상향과 Far Sync 의 정체</a:t>
            </a:r>
          </a:p>
          <a:p>
            <a:pPr algn="l">
              <a:spcAft>
                <a:spcPts val="1000"/>
              </a:spcAft>
            </a:pPr>
            <a:r>
              <a:rPr sz="1600" b="0">
                <a:solidFill>
                  <a:srgbClr val="222222"/>
                </a:solidFill>
                <a:latin typeface="맑은 고딕"/>
              </a:rPr>
              <a:t>•  실습 07 — Cascading 규칙과 원복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
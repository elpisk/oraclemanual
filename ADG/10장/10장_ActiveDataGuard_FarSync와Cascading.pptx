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SYNC와 ASYNC를 비교할 때는 개념만 봤는데, 실제 비용은 커밋마다 붙는 대기입니다. 사용자가 COMMIT을 누르면 LGWR은 로컬 로그에 쓰는 것과 동시에 NSS를 통해 Standby로 리두를 보내고, Standby가 받았다고 답해야 커밋을 끝냅니다. 한 건만 보면 몇 밀리초지만 초당 수천 건을 커밋하는 시스템이라면 그 몇 밀리초가 곧장 응답 시간과 처리량으로 드러납니다. AWR에서 log file sync가 길어졌다면 원격 쓰기 대기가 원인인지부터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대역폭을 늘리면 SYNC 문제가 풀리지 않느냐는 질문이 자주 나옵니다. 대역폭은 한 번에 실어 보낼 수 있는 양이고, 커밋이 기다리는 것은 신호가 갔다 돌아오는 시간이라 둘은 별개입니다. 빛의 속도가 정해져 있으니 서울과 유럽 사이의 왕복 시간은 아무리 좋은 회선을 사도 일정 아래로 내려가지 않습니다. 반대로 Standby를 가까이 두면 지연은 해결되지만 같은 지진이나 광역 정전에 함께 멈춥니다. 이 두 요구가 부딪히는 지점에서 Far Sync가 등장합니다.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로컬 SYNC Standby와 원격 ASYNC Standby를 함께 두는 구성은 공식 교재가 표준형이라고 부를 만큼 많이 씁니다. 로컬 Standby는 백업을 떠맡고 조회 업무를 받고 패치를 먼저 시험하는 대상으로도 쓸모가 큽니다. 다만 Primary가 목적지 두 곳에 각각 리두를 보내니 전송 프로세스와 네트워크 사용량이 두 배가 됩니다. 그리고 데이터센터 전체를 덮는 재해로 로컬까지 함께 잃으면 남는 것은 ASYNC로 받던 원격 Standby뿐이라 그 순간의 전송 지연만큼 데이터가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발상은 단순합니다. 커밋이 기다려야 하는 상대를 가까운 곳에 두고, 먼 곳까지 가는 일은 그 상대에게 맡깁니다. Primary는 근처의 Far Sync가 리두를 받았다는 답만 들으면 커밋을 끝내니 지연은 시내 왕복 수준입니다. 커밋된 리두는 이미 Far Sync 디스크에 있으므로 Primary가 사라져도 Far Sync가 남은 리두를 원격 Standby로 마저 보내고, 그 Standby로 손실 없이 Failover합니다. Standby가 원격지 하나뿐인 구성에서도 이 효과는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Sync는 같은 오라클 소프트웨어로 띄우는 인스턴스이고, 별도 제품을 설치하지 않습니다. 데이터 파일이 없다는 것 하나가 모든 성격을 결정합니다. 열 데이터가 없으니 OPEN할 수 없고, 반영할 블록이 없으니 적용도 하지 않습니다. Primary 데이터가 수 TB여도 Far Sync 서버에는 SRL과 아카이브 로그를 담을 공간이면 충분하고, SGA도 작게 잡습니다. 컨트롤 파일에 임시 파일이나 온라인 로그 정의가 따라올 수 있지만 실제 파일은 만들어지지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Sync에서 습관처럼 Redo Apply 기동 명령을 내면 ORA-01665가 돌아옵니다. 메시지는 데이터 파일 이야기는 하지 않고 컨트롤 파일 유형을 문제 삼습니다. 오라클은 적용을 허용할지를 컨트롤 파일 유형으로 판단하고, Far Sync의 컨트롤 파일 유형은 FARSYNC입니다. 1장에서 Primary에 적용을 시도했을 때 같은 오류가 났던 것과 같은 원리입니다. 구성 전체를 볼 때는 V$DATAGUARD_CONFIG의 PARENT_DBUN으로 누가 누구에게 리두를 주는지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받는 쪽 동작은 물리 Standby와 똑같습니다. 차이는 그 뒤입니다. Standby라면 MRP가 SRL을 읽어 데이터 파일에 반영하지만, Far Sync에서는 TT 프로세스가 SRL을 읽어 다음 목적지로 보냅니다. 로그 전환을 기다리지 않으니 Terminal Standby는 거의 실시간으로 따라갑니다. 아카이브 로그는 Terminal에 갭이 생겼을 때 FAL 요청에 응답하는 원천입니다. 압축 전송을 Far Sync에 맡기면 Primary CPU를 아낄 수 있는데, 이 기능은 Advanced Compression 옵션이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Sync를 쓰는 순간 그 구성은 Active Data Guard 라이선스 대상이 됩니다. 9장의 실시간 조회와 같은 옵션입니다. 위치를 정할 때는 두 조건이 부딪힙니다. Primary가 SYNC 대기를 견딜 만큼 가까워야 하고, Primary를 덮친 재해에 함께 휩쓸리지 않을 만큼 떨어져 있어야 합니다. 같은 랙이나 같은 전산실은 의미가 없습니다. 거리가 조금 부담스러우면 SYNC NOAFFIRM을 써서 Far Sync 디스크 쓰기를 커밋 대기에서 빼는 방법이 있고, Broker에서는 FASTSYNC 모드라고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 서버에는 오라클 소프트웨어와 리스너만 있으면 됩니다. DBCA로 데이터베이스를 만들지 않습니다. 순서에서 지켜야 할 것은 하나입니다. 세 서버의 LOG_ARCHIVE_CONFIG를 먼저 넓히고 Primary 목적지는 맨 마지막에 바꿉니다. 거꾸로 하면 Primary가 아직 명단에 없는 상대에게 리두를 보내려다 오류를 남기고, 그 오류 상태가 원인이 사라진 뒤에도 남아 있어 한 번 더 손을 써야 합니다. 이 내용은 잠시 뒤 Best Practice로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수동으로 Standby를 만들 때 쓰는 CREATE STANDBY CONTROLFILE과 짝을 이루는 명령입니다. 만들어진 파일 안에는 Primary의 데이터 파일 목록도 들어 있지만 Far Sync는 그 파일을 찾지 않습니다. Primary에 테이블스페이스를 추가해도 Far Sync에는 아무 일도 일어나지 않고, 8장에서 다룬 STANDBY_FILE_MANAGEMENT 문제와도 무관합니다. 이 파일을 Far Sync 서버로 옮겨 CONTROL_FILES에 적은 경로에 두고, 다중화가 필요하면 같은 파일을 여러 경로에 복사합니다.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파라미터 중 가장 자주 틀리는 곳은 Terminal로 가는 목적지의 VALID_FOR입니다. Primary 목적지를 복사해 오면 ONLINE_LOGFILES와 PRIMARY_ROLE이 따라오는데, Far Sync는 자기 리두를 만들지 않고 역할도 Standby 계열로 판정되어 이 목적지가 쓰일 조건이 영영 성립하지 않습니다. 오류 메시지도 없어 발견이 늦습니다. 반대로 DB_CREATE_FILE_DEST처럼 데이터 파일용 파라미터는 필요 없습니다. 메모리도 버퍼 캐시가 거의 필요 없으니 Primary보다 훨씬 작게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Sync에서 SRL은 선택이 아닙니다. SYNC로 받은 리두를 디스크에 확정하는 곳도, ASYNC 전달의 출발점도 SRL입니다. Primary에 SRL이 있었다면 그 정의가 컨트롤 파일에 같이 들어오기 때문에, 4장에서처럼 ADD STANDBY LOGFILE을 하면 그룹이 이미 있다는 오류를 만납니다. 정의만 있고 파일이 없는 그룹은 CLEAR LOGFILE로 실제 파일을 만듭니다. CLEAR는 로그 내용을 버리는 명령이므로 리두를 받기 전 준비 단계에서만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Sync는 MOUNTED에서 벗어나지 않으니 리스너 정적 등록을 꼭 해 둡니다. 동적 등록이 아예 안 되는 것은 아니지만, 기동 직후나 재기동 중처럼 등록이 비는 구간이 있고 원격에서 인스턴스를 띄우려면 리스너가 SID를 미리 알고 있어야 합니다. 13장에서 Broker를 붙일 것을 생각해 DGMGRL용 서비스도 함께 등록합니다. 기동은 STARTUP MOUNT 한 번이면 됩니다. 컨트롤 파일이 이미 완성된 상태로 왔기 때문에 Standby 생성 때처럼 NOMOUNT에서 기다릴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ORA-16057은 메시지만 보면 내 서버가 구성에 없다는 말처럼 읽혀서 송신 쪽 설정을 뒤지게 됩니다. 실제로는 받는 쪽이 나를 구성원으로 인정하지 않는다는 뜻이라 고칠 곳은 받는 쪽 LOG_ARCHIVE_CONFIG입니다. 명단을 고쳐도 목적지에 남은 오류 표시는 다음 재시도 때까지 그대로일 수 있습니다. 그럴 때는 LOG_ARCHIVE_DEST_STATE_n을 DEFER로 내렸다가 ENABLE로 올리면 즉시 다시 연결을 시도합니다. 7장에서 목적지 오류를 다룰 때 쓴 방법과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 Standby를 만들 때 쓴 DUPLICATE 문장을 떠올리면 됩니다. FOR STANDBY를 FOR FARSYNC로 바꾸고, 데이터 파일을 복사하지 않으니 시간이 훨씬 짧습니다. 백업 기반 복제도 되지만 Far Sync에는 적용할 데이터 파일이 없으므로 DORECOVER는 허용되지 않습니다. DB_UNIQUE_NAME은 꼭 바꿔야 하는데, 그대로 두면 RMAN 카탈로그와 Data Guard가 새 인스턴스를 Primary와 구별하지 못합니다. Primary가 RAC이고 Far Sync를 단일 인스턴스로 둔다면 CLUSTER_DATABASE를 FALSE로 지정합니다.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문법은 Standby 목적지와 전혀 다르지 않습니다. SERVICE와 DB_UNIQUE_NAME만 chicagoFS로 바뀝니다. 이 변경으로 Primary는 boston에 직접 보내던 일을 그만두고, boston은 Far Sync를 통해서만 리두를 받습니다. SYNC NOAFFIRM을 쓰면 Far Sync 메모리에 도착하는 순간 응답이 오므로 대기가 더 짧아지지만, Primary와 Far Sync가 동시에 사라지는 경우에는 손실 가능성이 남습니다. V$ARCHIVE_DEST에 PARALLELSYNC가 보여도 당황할 필요 없습니다. SYNC 목적지에 병렬로 보내고 기다린다는 표시입니다.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구간이 ASYNC라서 대륙을 건너는 지연이 있어도 Primary는 영향을 받지 않습니다. boston에서 V$DATAGUARD_STATS를 보면 transport lag가 나오는데, 이 값은 Primary를 기준으로 계산됩니다. lag가 커지면 Primary와 Far Sync 사이인지, Far Sync와 boston 사이인지 구간을 나눠 봐야 합니다. Terminal을 더 붙이려면 Far Sync 쪽에 목적지를 늘리면 되고, 늘어나는 전송 부담은 Far Sync 서버가 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boston 입장에서 달라지는 것은 리두를 보내 주는 상대뿐입니다. RFS가 받아 SRL에 쓰고 MRP가 적용하는 흐름은 그대로입니다. FAL_SERVER에는 Far Sync를 먼저 적고 Primary를 뒤에 둡니다. 갭이 생기면 가까운 경로부터 리두를 얻고, Far Sync가 멈춰 있으면 Primary에 요청합니다. LOG_ARCHIVE_CONFIG에 chicagoFS를 빠뜨리면 Far Sync 쪽 목적지가 ORA-16057로 멈추는데, 오류가 Far Sync 쪽 목적지에 찍히기 때문에 boston 설정을 의심하기까지 시간이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Switchover 뒤에는 리두가 boston에서 chicago 방향으로 흐릅니다. 이 방향에서도 무손실을 유지하려면 boston 가까이에 bostonFS를 두고, boston 파라미터에 bostonFS로 가는 목적지를 PRIMARY_ROLE 조건으로 미리 적어 둡니다. VALID_FOR가 역할을 따지기 때문에 boston이 Standby인 동안 이 목적지는 쓰이지 않다가 Primary가 되는 순간 살아납니다. 대칭 구성을 두지 않는 곳도 많은데, 그 경우 전환 기간에는 Maximum Performance로 운영하기로 미리 합의해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경로가 바뀌었는지 가장 빨리 보는 방법은 V$DATAGUARD_CONFIG입니다. boston의 상위 구성원이 chicagoFS로 나오면 경로 변경이 반영된 것이고, 여전히 chicago로 나오면 Primary 목적지 변경이 아직 덜 된 것입니다. V$ARCHIVE_DEST의 STATUS와 VALID_NOW는 다른 질문에 답합니다. STATUS는 설정 문자열을 해석할 수 있는지를, VALID_NOW는 지금 역할에서 이 목적지가 실제로 쓰이는지를 알려 줍니다. VALID인데 리두가 안 간다면 VALID_NOW부터 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Sync를 넣으면 Primary는 boston에 직접 보내지 않으니, Far Sync가 멈추는 순간 원격지 보호가 통째로 사라집니다. Maximum Availability라면 Primary는 NET_TIMEOUT 동안 Far Sync 응답을 기다리다가 포기하고 커밋을 계속합니다. 사용자는 잠깐 느려졌다고 느낄 뿐 업무는 이어지지만, 그 사이 리두는 어디에도 복제되지 않습니다. Far Sync가 돌아오면 갭 해소로 따라잡긴 하는데, 복구 전에 Primary까지 잃으면 boston에는 빈 구간이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 예는 Far Sync가 끊기면 Primary가 boston으로 직접 ASYNC 전송하도록 만듭니다. 무손실은 아니지만 리두가 계속 원격지로 흐르니 손실 폭이 줄어듭니다. MAX_FAILURE는 연속 몇 번 실패하면 대체 목적지로 넘어갈지를 정하고, 1이면 첫 실패에서 바로 넘어갑니다. 대체 목적지는 상태를 ALTERNATE로 두어 평소에는 쉬게 합니다. 12.2부터는 Far Sync가 다시 살아나면 Data Guard가 재동기화한 뒤 원래 경로로 자동 복귀하고, 대체 목적지는 다시 휴면합니다.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ALTERNATE는 목적지 두 개를 서로 가리키게 엮어야 해서 대체 경로가 셋 이상이면 금방 읽기 어려워집니다. 12.2에서 생긴 GROUP과 PRIORITY는 같은 그룹 안에서 순위를 매기는 방식이라 의도가 한눈에 보입니다. 예를 들어 Far Sync 두 대를 같은 1순위로 두고 boston 직송을 2순위로 두면, Far Sync 하나가 멈춰도 다른 하나가 SYNC를 이어받고 둘 다 멈추면 boston으로 ASYNC 직송합니다. 새로 설계하는 19c 구성이라면 우선순위 그룹 쪽을 권합니다.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패턴을 고를지는 Far Sync가 멈춘 동안 무엇을 지켜야 하느냐에 달려 있습니다. 원격 전송만 끊기지 않으면 된다면 Terminal 직송 폴백으로 충분하고, 그 시간에도 무손실이 필요하다면 Far Sync를 두 대 둡니다. 두 번째 Far Sync를 첫 번째와 같은 랙에 두면 한 번의 전원 사고로 둘 다 잃으니 위치를 분리합니다. 예비 Far Sync는 평소에 리두를 받지 않을 뿐 SRL과 전달 목적지가 모두 준비된 상태여야 실제로 넘어갈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ALTERNATE든 우선순위 그룹이든 문법만 맞으면 오류 없이 설정됩니다. 실제로 넘어가는지는 장애를 일으켜 봐야 압니다. 운영 전에 Far Sync 리스너를 내리거나 인스턴스를 멈추고, Primary의 V$ARCHIVE_DEST_STATUS에서 어느 목적지가 활성으로 바뀌는지 봅니다. Far Sync를 다시 올린 뒤에는 원래 경로로 돌아왔는지, boston에 갭이 남지 않았는지까지 확인합니다. 이때 본 화면을 절차서에 남겨 두면 실제 장애가 났을 때 정상 전환인지 문제인지 가려낼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Sync의 기본형입니다. 보호 모드 상향은 2장에서 본 명령 그대로이고, Maximum Availability는 Primary를 내리지 않고 올릴 수 있습니다. 올린 직후 PROTECTION_LEVEL이 잠시 RESYNCHRONIZATION으로 보이는 것은 동기화를 맞추는 중이라는 표시입니다. 무손실의 범위를 정확히 말하면 Primary 하나를 잃었을 때입니다. Primary와 Far Sync를 함께 잃으면 Far Sync에만 있던 리두가 사라지니, Far Sync를 Primary와 다른 재해 구역에 두는 이유가 여기서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교재의 대안 설계에서는 북미 Primary가 유럽의 Far Sync로 ASYNC 전송하고, Far Sync가 유럽과 아프리카의 여러 Standby에 리두를 나눠 줍니다. 여기서 Far Sync가 덜어 주는 것은 Primary의 전송 부담입니다. 무손실 보장은 없습니다. 목적지가 다섯 곳이라도 Primary는 전송 프로세스 하나만 돌리고, 비싼 대륙 간 회선에도 리두가 한 번만 지나갑니다. 반대로 원격 목적지가 하나뿐인 Maximum Performance 구성이라면 Far Sync를 끼워도 얻는 것이 거의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Maximum Protection은 SYNC 목적지 중 어느 곳에도 쓰지 못하면 Primary를 멈춰 세우는 가장 엄격한 모드입니다. 이 모드는 Far Sync를 지원하지 않으며, 공식 교재 2권도 이 제약을 따로 적어 둡니다. 이 모드를 쓰려면 실제 데이터를 가진 Standby를 SYNC 상대로 두어야 하고, 오라클은 Standby를 두 개 이상 두라고 권합니다. 실무에서 무손실과 업무 연속성을 함께 원하는 고객에게는 Maximum Availability에 Far Sync를 붙이는 구성을 제안하는 경우가 많습니다.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Primary가 사라져도 Far Sync는 살아 있으므로 아직 보내지 못한 리두를 boston으로 계속 보냅니다. 그 리두가 boston에 모두 도착한 다음 Failover해야 무손실이 성립합니다. SQL로 직접 할 때는 boston의 transport lag와 갭을 확인하고 FAILOVER 명령을 내리고, Broker를 쓰면 이 확인을 대신해 줍니다. Fast-Start Failover와 함께 쓸 때는 Primary에서 Far Sync까지 SYNC 또는 FASTSYNC, Far Sync에서 대상 Standby까지 ASYNC여야 하며, 자세한 조건은 16장에서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모드를 올린 뒤 세 구성원에서 V$DATABASE를 조회하면 Terminal Standby만 다른 값을 보이는 경우가 있습니다. PROTECTION_MODE는 구성 전체에 건 목표라 모두 같지만, PROTECTION_LEVEL은 각 구성원이 자기 위치에서 보는 달성 수준입니다. boston은 동기 구간 밖에서 Far Sync로부터 ASYNC로 받으니 스스로를 동기 파트너로 보지 않습니다. 이것은 장애가 아닙니다. 무손실 보장이 실제로 성립하는지는 Primary의 PROTECTION_LEVEL과 Far Sync 목적지 상태로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Sync가 받은 리두를 넘기는 모습을 이미 봤으니 cascading은 쉽게 이해됩니다. 전달하는 주체가 데이터 없는 전용 인스턴스냐, 데이터를 가진 진짜 Standby냐의 차이입니다. 로컬 SYNC Standby가 cascading까지 맡으면 Far Sync 없이도 Primary가 한 곳에만 보내는 구조가 됩니다. 로컬 Standby는 조회, 백업, Failover 대상까지 겸하니 쓸모가 많지만, 데이터 파일 크기만큼의 저장 공간과 적용 자원이 듭니다. 논리 Standby와 Snapshot Standby는 리두를 넘길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12c 이전의 cascading Standby는 SRL이 다 차서 아카이브될 때까지 리두를 붙들고 있다가 넘겼습니다. SRL은 보통 Primary 온라인 로그와 같은 크기라 전달 주기가 Primary의 로그 전환 주기와 같아집니다. 낮에는 몇 분이지만 새벽처럼 리두가 적은 시간에는 몇 시간이 걸리기도 합니다. 그래서 ARCHIVE_LAG_TARGET 같은 설정으로 일정 시간마다 로그 전환을 강제하는 운영이 흔했는데, 그래도 마지막 Standby는 한 로그 분량 이상 뒤처질 수밖에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Cascading은 Far Sync가 하던 실시간 전달을 물리 Standby에서도 하게 만든 기능입니다. cascading Standby가 받은 리두를 SRL에 쓰는 동시에 다음 Standby로 넘기니, 마지막 Standby는 Primary 기준으로 몇 초 정도만 뒤처집니다. 라이선스 경계는 정확히 알아 둬야 합니다. 실시간 전달은 Active Data Guard 옵션이 필요하고, 아카이브된 로그를 넘기는 전통 방식은 기본 Data Guard 기능입니다. 전통 방식은 LOG_ARCHIVE_DEST_1부터 10까지만 쓸 수 있다는 제약도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설정은 건드리지 않고 cascading Standby인 boston에 london으로 가는 목적지를 추가합니다. VALID_FOR는 Far Sync 전달 목적지와 같은 형태여야 합니다. 실시간 전달을 원하면 ASYNC를 명시합니다. Broker의 RedoRoutes도 cascaded 목적지에 ASYNC가 붙어야 실시간으로 해석합니다. 전달하는 Standby에 SRL이 없으면 실시간 전달은 성립하지 않습니다. cascaded Standby는 SYNC 대상이 될 수 없으므로 보호 모드의 SYNC 요건을 채우는 데는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사례의 원인은 Primary 목적지 설정을 그대로 복사한 데 있습니다. VALID_FOR가 ONLINE_LOGFILES와 PRIMARY_ROLE로 남아 있어서 Standby 역할에서는 이 목적지가 쓰일 조건이 성립하지 않았습니다. 오라클은 문법만 검사하므로 설정은 오류 없이 받아들여졌고 STATUS도 VALID였습니다. 고친 직후 VALID_NOW가 UNKNOWN으로 보이는 것은 아직 한 번도 쓰이지 않아 판단 근거가 없다는 표시이고, 리두가 한 번 오가면 YES로 바뀝니다. 이후 점검 목록에 VALID_NOW를 넣었습니다.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구성을 한 줄씩 놓고 보면 거리와 무손실 요구, 그리고 Primary가 감당할 전송 부담 사이에서 고르는 문제입니다. Primary와 원격지가 SYNC를 감당할 수 있을 만큼 가깝다면 구성원이 적은 SYNC 직송이 가장 단순하고 장애 지점도 적습니다. 원격 무손실이 필요한데 거리가 멀다면 Far Sync가 사실상 유일한 답입니다. Real-Time Cascading과 Far Sync는 둘 다 ADG 라이선스가 필요하므로 라이선스가 이미 있는지도 선택에 영향을 줍니다.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고객과 구성을 정할 때는 이 순서로 묻습니다. 원격지 무손실이 필요 없다면 ASYNC 직송이나 cascading으로 충분합니다. 필요하다면 Primary가 원격 왕복을 견디는지 시험해 보고, 견디지 못하면 Far Sync로 갑니다. 로컬 Standby가 어차피 필요하다면 그 Standby에 전달을 맡기는 쪽도 검토합니다. 원격 목적지가 여러 곳이면 Far Sync 팬아웃이 Primary 부담을 덜어 줍니다. 마지막 질문은 자주 빠지는데, Far Sync를 들이기로 했다면 이중화나 대체 경로까지 함께 설계해야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무손실 요구가 붙은 해외 재해 복구 프로젝트에서 흔히 보는 흐름입니다. 먼저 해외 센터에 SYNC를 직접 걸어 시험해 보면 커밋 응답 시간이 허용치를 넘습니다. 대안으로 서울 안의 다른 건물에 작은 서버로 Far Sync를 두고, 커밋 대기를 시내 왕복 수준으로 줄입니다. 여기서 멈추면 Far Sync 한 대가 단일 장애점이 되므로, 다른 건물에 두 번째 Far Sync를 같은 우선순위로 두고 해외 직송을 최하위 순위로 걸어 Far Sync가 모두 멈춰도 원격 전송은 이어지게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 Sync에도 아카이브 로그가 쌓이므로 정리 정책이 필요합니다. RMAN 삭제 정책을 Terminal에 전달이 끝난 로그만 지우도록 걸어 두면 갭 해소용 로그를 실수로 지우는 일을 막습니다. Primary 온라인 로그 크기를 바꾸고 Far Sync SRL을 잊으면 실시간 전달이 조용히 무너집니다. 목적지 설정을 SCOPE=MEMORY로 시험했다면 SPFILE에도 반영해야 합니다. 재기동 뒤 예전 경로로 돌아가 Far Sync가 아무것도 받지 않는데도 오류는 나지 않습니다. Far Sync 패치 때는 대체 경로로 넘어가니 한가한 시간에 잡습니다.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Active Data Guard ② Far Sync와 Real-Time Cascading</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멀리 있는 Standby까지 손실 없이, Primary는 가볍게</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제10장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원거리 SYNC 전송이 커밋에 더하는 비용을 설명한다</a:t>
            </a:r>
          </a:p>
          <a:p>
            <a:pPr algn="l">
              <a:spcAft>
                <a:spcPts val="1000"/>
              </a:spcAft>
            </a:pPr>
            <a:r>
              <a:rPr sz="1600" b="0">
                <a:solidFill>
                  <a:srgbClr val="222222"/>
                </a:solidFill>
                <a:latin typeface="맑은 고딕"/>
              </a:rPr>
              <a:t>•  Far Sync가 가진 파일과 없는 파일을 구분한다</a:t>
            </a:r>
          </a:p>
          <a:p>
            <a:pPr algn="l">
              <a:spcAft>
                <a:spcPts val="1000"/>
              </a:spcAft>
            </a:pPr>
            <a:r>
              <a:rPr sz="1600" b="0">
                <a:solidFill>
                  <a:srgbClr val="222222"/>
                </a:solidFill>
                <a:latin typeface="맑은 고딕"/>
              </a:rPr>
              <a:t>•  Far Sync 컨트롤 파일·파라미터·SRL을 준비한다</a:t>
            </a:r>
          </a:p>
          <a:p>
            <a:pPr algn="l">
              <a:spcAft>
                <a:spcPts val="1000"/>
              </a:spcAft>
            </a:pPr>
            <a:r>
              <a:rPr sz="1600" b="0">
                <a:solidFill>
                  <a:srgbClr val="222222"/>
                </a:solidFill>
                <a:latin typeface="맑은 고딕"/>
              </a:rPr>
              <a:t>•  Primary→Far Sync SYNC, Far Sync→Terminal ASYNC 경로를 잇는다</a:t>
            </a:r>
          </a:p>
          <a:p>
            <a:pPr algn="l">
              <a:spcAft>
                <a:spcPts val="1000"/>
              </a:spcAft>
            </a:pPr>
            <a:r>
              <a:rPr sz="1600" b="0">
                <a:solidFill>
                  <a:srgbClr val="222222"/>
                </a:solidFill>
                <a:latin typeface="맑은 고딕"/>
              </a:rPr>
              <a:t>•  ALTERNATE와 GROUP·PRIORITY로 대체 경로를 설계한다</a:t>
            </a:r>
          </a:p>
          <a:p>
            <a:pPr algn="l">
              <a:spcAft>
                <a:spcPts val="1000"/>
              </a:spcAft>
            </a:pPr>
            <a:r>
              <a:rPr sz="1600" b="0">
                <a:solidFill>
                  <a:srgbClr val="222222"/>
                </a:solidFill>
                <a:latin typeface="맑은 고딕"/>
              </a:rPr>
              <a:t>•  보호 모드와 Real-Time Cascading의 관계를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10.2  원거리 Zero Data Loss의 문제</a:t>
            </a:r>
          </a:p>
          <a:p>
            <a:pPr algn="l">
              <a:spcAft>
                <a:spcPts val="1000"/>
              </a:spcAft>
            </a:pPr>
            <a:r>
              <a:rPr sz="1600" b="0">
                <a:solidFill>
                  <a:srgbClr val="222222"/>
                </a:solidFill>
                <a:latin typeface="맑은 고딕"/>
              </a:rPr>
              <a:t>•  10.3  Far Sync 인스턴스의 정체  /  10.4  생성</a:t>
            </a:r>
          </a:p>
          <a:p>
            <a:pPr algn="l">
              <a:spcAft>
                <a:spcPts val="1000"/>
              </a:spcAft>
            </a:pPr>
            <a:r>
              <a:rPr sz="1600" b="0">
                <a:solidFill>
                  <a:srgbClr val="222222"/>
                </a:solidFill>
                <a:latin typeface="맑은 고딕"/>
              </a:rPr>
              <a:t>•  10.5  리두 경로 구성  /  10.6  대체 경로와 고가용성</a:t>
            </a:r>
          </a:p>
          <a:p>
            <a:pPr algn="l">
              <a:spcAft>
                <a:spcPts val="1000"/>
              </a:spcAft>
            </a:pPr>
            <a:r>
              <a:rPr sz="1600" b="0">
                <a:solidFill>
                  <a:srgbClr val="222222"/>
                </a:solidFill>
                <a:latin typeface="맑은 고딕"/>
              </a:rPr>
              <a:t>•  10.7  보호 모드와 Far Sync</a:t>
            </a:r>
          </a:p>
          <a:p>
            <a:pPr algn="l">
              <a:spcAft>
                <a:spcPts val="1000"/>
              </a:spcAft>
            </a:pPr>
            <a:r>
              <a:rPr sz="1600" b="0">
                <a:solidFill>
                  <a:srgbClr val="222222"/>
                </a:solidFill>
                <a:latin typeface="맑은 고딕"/>
              </a:rPr>
              <a:t>•  10.8  Cascading과 Real-Time Cascading</a:t>
            </a:r>
          </a:p>
          <a:p>
            <a:pPr algn="l">
              <a:spcAft>
                <a:spcPts val="1000"/>
              </a:spcAft>
            </a:pPr>
            <a:r>
              <a:rPr sz="1600" b="0">
                <a:solidFill>
                  <a:srgbClr val="222222"/>
                </a:solidFill>
                <a:latin typeface="맑은 고딕"/>
              </a:rPr>
              <a:t>•  10.9  언제 무엇을 쓰는가  /  10.10  운영 시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원거리 Zero Data Loss의 문제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SYNC 전송의 커밋 대기</a:t>
            </a:r>
          </a:p>
          <a:p>
            <a:pPr algn="l">
              <a:spcAft>
                <a:spcPts val="800"/>
              </a:spcAft>
            </a:pPr>
            <a:r>
              <a:rPr sz="1600" b="0">
                <a:solidFill>
                  <a:srgbClr val="FFFFFF"/>
                </a:solidFill>
                <a:latin typeface="맑은 고딕"/>
              </a:rPr>
              <a:t>•  거리가 만드는 왕복 지연</a:t>
            </a:r>
          </a:p>
          <a:p>
            <a:pPr algn="l">
              <a:spcAft>
                <a:spcPts val="800"/>
              </a:spcAft>
            </a:pPr>
            <a:r>
              <a:rPr sz="1600" b="0">
                <a:solidFill>
                  <a:srgbClr val="FFFFFF"/>
                </a:solidFill>
                <a:latin typeface="맑은 고딕"/>
              </a:rPr>
              <a:t>•  Far Sync 이전의 선택지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SYNC 전송이 커밋에 더하는 시간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커밋마다 원격 응답을 기다린다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LGWR은 NSS가 Standby 응답을 받아야 커밋 완료</a:t>
            </a:r>
          </a:p>
          <a:p>
            <a:pPr algn="l">
              <a:spcAft>
                <a:spcPts val="1000"/>
              </a:spcAft>
            </a:pPr>
            <a:r>
              <a:rPr sz="1700" b="0">
                <a:solidFill>
                  <a:srgbClr val="222222"/>
                </a:solidFill>
                <a:latin typeface="맑은 고딕"/>
              </a:rPr>
              <a:t>•  AFFIRM이면 SRL 디스크 기록까지 대기</a:t>
            </a:r>
          </a:p>
          <a:p>
            <a:pPr algn="l">
              <a:spcAft>
                <a:spcPts val="1000"/>
              </a:spcAft>
            </a:pPr>
            <a:r>
              <a:rPr sz="1700" b="0">
                <a:solidFill>
                  <a:srgbClr val="222222"/>
                </a:solidFill>
                <a:latin typeface="맑은 고딕"/>
              </a:rPr>
              <a:t>•  왕복 지연 몇 ms가 처리량 저하로 번진다</a:t>
            </a:r>
          </a:p>
          <a:p>
            <a:pPr algn="l">
              <a:spcAft>
                <a:spcPts val="1000"/>
              </a:spcAft>
            </a:pPr>
            <a:r>
              <a:rPr sz="1700" b="0">
                <a:solidFill>
                  <a:srgbClr val="222222"/>
                </a:solidFill>
                <a:latin typeface="맑은 고딕"/>
              </a:rPr>
              <a:t>•  대기 이벤트: SYNC Remote Write, log file sync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거리와 왕복 지연의 한계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대역폭을 늘려도 줄지 않는 지연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광케이블 속도에는 물리적 상한이 있다</a:t>
            </a:r>
          </a:p>
          <a:p>
            <a:pPr algn="l">
              <a:spcAft>
                <a:spcPts val="1000"/>
              </a:spcAft>
            </a:pPr>
            <a:r>
              <a:rPr sz="1700" b="0">
                <a:solidFill>
                  <a:srgbClr val="222222"/>
                </a:solidFill>
                <a:latin typeface="맑은 고딕"/>
              </a:rPr>
              <a:t>•  거리가 늘면 왕복 지연도 거의 비례해 는다</a:t>
            </a:r>
          </a:p>
          <a:p>
            <a:pPr algn="l">
              <a:spcAft>
                <a:spcPts val="1000"/>
              </a:spcAft>
            </a:pPr>
            <a:r>
              <a:rPr sz="1700" b="0">
                <a:solidFill>
                  <a:srgbClr val="222222"/>
                </a:solidFill>
                <a:latin typeface="맑은 고딕"/>
              </a:rPr>
              <a:t>•  실용 거리 변수: 쓰기 크기, 대역폭, RTT, SRL I/O</a:t>
            </a:r>
          </a:p>
          <a:p>
            <a:pPr algn="l">
              <a:spcAft>
                <a:spcPts val="1000"/>
              </a:spcAft>
            </a:pPr>
            <a:r>
              <a:rPr sz="1700" b="0">
                <a:solidFill>
                  <a:srgbClr val="222222"/>
                </a:solidFill>
                <a:latin typeface="맑은 고딕"/>
              </a:rPr>
              <a:t>•  가까운 Standby는 지역 재해를 막지 못한다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 이전의 선택지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둘 다 무언가를 포기했다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원격 ASYNC 직송: 성능은 좋지만 손실 가능</a:t>
            </a:r>
          </a:p>
          <a:p>
            <a:pPr algn="l">
              <a:spcAft>
                <a:spcPts val="1000"/>
              </a:spcAft>
            </a:pPr>
            <a:r>
              <a:rPr sz="1700" b="0">
                <a:solidFill>
                  <a:srgbClr val="222222"/>
                </a:solidFill>
                <a:latin typeface="맑은 고딕"/>
              </a:rPr>
              <a:t>•  로컬 SYNC + 원격 ASYNC: 다중 Standby 표준형</a:t>
            </a:r>
          </a:p>
          <a:p>
            <a:pPr algn="l">
              <a:spcAft>
                <a:spcPts val="1000"/>
              </a:spcAft>
            </a:pPr>
            <a:r>
              <a:rPr sz="1700" b="0">
                <a:solidFill>
                  <a:srgbClr val="222222"/>
                </a:solidFill>
                <a:latin typeface="맑은 고딕"/>
              </a:rPr>
              <a:t>•  다중 Standby는 Primary가 두 곳에 전송</a:t>
            </a:r>
          </a:p>
          <a:p>
            <a:pPr algn="l">
              <a:spcAft>
                <a:spcPts val="1000"/>
              </a:spcAft>
            </a:pPr>
            <a:r>
              <a:rPr sz="1700" b="0">
                <a:solidFill>
                  <a:srgbClr val="222222"/>
                </a:solidFill>
                <a:latin typeface="맑은 고딕"/>
              </a:rPr>
              <a:t>•  로컬과 Primary를 함께 잃으면 원격은 손실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Sync가 바꾸는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SYNC 구간과 ASYNC 구간을 나눈다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가까이에 경량 중계 인스턴스를 둔다</a:t>
            </a:r>
          </a:p>
          <a:p>
            <a:pPr algn="l">
              <a:spcAft>
                <a:spcPts val="1000"/>
              </a:spcAft>
            </a:pPr>
            <a:r>
              <a:rPr sz="1700" b="0">
                <a:solidFill>
                  <a:srgbClr val="222222"/>
                </a:solidFill>
                <a:latin typeface="맑은 고딕"/>
              </a:rPr>
              <a:t>•  Primary → Far Sync: SYNC (짧은 왕복)</a:t>
            </a:r>
          </a:p>
          <a:p>
            <a:pPr algn="l">
              <a:spcAft>
                <a:spcPts val="1000"/>
              </a:spcAft>
            </a:pPr>
            <a:r>
              <a:rPr sz="1700" b="0">
                <a:solidFill>
                  <a:srgbClr val="222222"/>
                </a:solidFill>
                <a:latin typeface="맑은 고딕"/>
              </a:rPr>
              <a:t>•  Far Sync → 원격 Standby: ASYNC (긴 거리)</a:t>
            </a:r>
          </a:p>
          <a:p>
            <a:pPr algn="l">
              <a:spcAft>
                <a:spcPts val="1000"/>
              </a:spcAft>
            </a:pPr>
            <a:r>
              <a:rPr sz="1700" b="0">
                <a:solidFill>
                  <a:srgbClr val="222222"/>
                </a:solidFill>
                <a:latin typeface="맑은 고딕"/>
              </a:rPr>
              <a:t>•  Primary 장애 시 Far Sync 리두로 무손실 Failover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Far Sync 인스턴스의 정체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가진 것과 없는 것</a:t>
            </a:r>
          </a:p>
          <a:p>
            <a:pPr algn="l">
              <a:spcAft>
                <a:spcPts val="800"/>
              </a:spcAft>
            </a:pPr>
            <a:r>
              <a:rPr sz="1600" b="0">
                <a:solidFill>
                  <a:srgbClr val="FFFFFF"/>
                </a:solidFill>
                <a:latin typeface="맑은 고딕"/>
              </a:rPr>
              <a:t>•  역할을 구분하는 표지</a:t>
            </a:r>
          </a:p>
          <a:p>
            <a:pPr algn="l">
              <a:spcAft>
                <a:spcPts val="800"/>
              </a:spcAft>
            </a:pPr>
            <a:r>
              <a:rPr sz="1600" b="0">
                <a:solidFill>
                  <a:srgbClr val="FFFFFF"/>
                </a:solidFill>
                <a:latin typeface="맑은 고딕"/>
              </a:rPr>
              <a:t>•  라이선스와 배치 조건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가진 것과 없는 것</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데이터베이스 없는 인스턴스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있음: SPFILE, Far Sync 컨트롤 파일, 패스워드 파일</a:t>
            </a:r>
          </a:p>
          <a:p>
            <a:pPr algn="l">
              <a:spcAft>
                <a:spcPts val="1000"/>
              </a:spcAft>
            </a:pPr>
            <a:r>
              <a:rPr sz="1700" b="0">
                <a:solidFill>
                  <a:srgbClr val="222222"/>
                </a:solidFill>
                <a:latin typeface="맑은 고딕"/>
              </a:rPr>
              <a:t>•  있음: Standby Redo Log, 아카이브 로그</a:t>
            </a:r>
          </a:p>
          <a:p>
            <a:pPr algn="l">
              <a:spcAft>
                <a:spcPts val="1000"/>
              </a:spcAft>
            </a:pPr>
            <a:r>
              <a:rPr sz="1700" b="0">
                <a:solidFill>
                  <a:srgbClr val="222222"/>
                </a:solidFill>
                <a:latin typeface="맑은 고딕"/>
              </a:rPr>
              <a:t>•  없음: 데이터 파일, 온라인 리두 사용, Redo Apply</a:t>
            </a:r>
          </a:p>
          <a:p>
            <a:pPr algn="l">
              <a:spcAft>
                <a:spcPts val="1000"/>
              </a:spcAft>
            </a:pPr>
            <a:r>
              <a:rPr sz="1700" b="0">
                <a:solidFill>
                  <a:srgbClr val="222222"/>
                </a:solidFill>
                <a:latin typeface="맑은 고딕"/>
              </a:rPr>
              <a:t>•  항상 MOUNTED, OPEN 불가</a:t>
            </a:r>
          </a:p>
          <a:p>
            <a:pPr algn="l">
              <a:spcAft>
                <a:spcPts val="1000"/>
              </a:spcAft>
            </a:pPr>
            <a:r>
              <a:rPr sz="1700" b="0">
                <a:solidFill>
                  <a:srgbClr val="222222"/>
                </a:solidFill>
                <a:latin typeface="맑은 고딕"/>
              </a:rPr>
              <a:t>•  Primary가 될 수 없어 Failover 대상이 아니다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역할을 구분하는 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V$DATABASE와 V$DATAGUARD_CONFIG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DATABASE_ROLE = FAR SYNC</a:t>
            </a:r>
          </a:p>
          <a:p>
            <a:pPr algn="l">
              <a:spcAft>
                <a:spcPts val="1000"/>
              </a:spcAft>
            </a:pPr>
            <a:r>
              <a:rPr sz="1700" b="0">
                <a:solidFill>
                  <a:srgbClr val="222222"/>
                </a:solidFill>
                <a:latin typeface="맑은 고딕"/>
              </a:rPr>
              <a:t>•  CONTROLFILE_TYPE = FARSYNC, OPEN_MODE = MOUNTED</a:t>
            </a:r>
          </a:p>
          <a:p>
            <a:pPr algn="l">
              <a:spcAft>
                <a:spcPts val="1000"/>
              </a:spcAft>
            </a:pPr>
            <a:r>
              <a:rPr sz="1700" b="0">
                <a:solidFill>
                  <a:srgbClr val="222222"/>
                </a:solidFill>
                <a:latin typeface="맑은 고딕"/>
              </a:rPr>
              <a:t>•  적용 시도 시 ORA-01665 (컨트롤 파일 유형)</a:t>
            </a:r>
          </a:p>
          <a:p>
            <a:pPr algn="l">
              <a:spcAft>
                <a:spcPts val="1000"/>
              </a:spcAft>
            </a:pPr>
            <a:r>
              <a:rPr sz="1700" b="0">
                <a:solidFill>
                  <a:srgbClr val="222222"/>
                </a:solidFill>
                <a:latin typeface="맑은 고딕"/>
              </a:rPr>
              <a:t>•  DEST_ROLE = FAR SYNC INSTANCE, PARENT_DBUN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 안의 리두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수신은 Standby와 같고, 출구가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RFS가 받아 SRL에 기록</a:t>
            </a:r>
          </a:p>
          <a:p>
            <a:pPr algn="l">
              <a:spcAft>
                <a:spcPts val="1000"/>
              </a:spcAft>
            </a:pPr>
            <a:r>
              <a:rPr sz="1700" b="0">
                <a:solidFill>
                  <a:srgbClr val="222222"/>
                </a:solidFill>
                <a:latin typeface="맑은 고딕"/>
              </a:rPr>
              <a:t>•  TTnn이 SRL을 읽어 즉시 다음 목적지로 전달</a:t>
            </a:r>
          </a:p>
          <a:p>
            <a:pPr algn="l">
              <a:spcAft>
                <a:spcPts val="1000"/>
              </a:spcAft>
            </a:pPr>
            <a:r>
              <a:rPr sz="1700" b="0">
                <a:solidFill>
                  <a:srgbClr val="222222"/>
                </a:solidFill>
                <a:latin typeface="맑은 고딕"/>
              </a:rPr>
              <a:t>•  ARCn이 다 찬 SRL을 로컬 아카이브</a:t>
            </a:r>
          </a:p>
          <a:p>
            <a:pPr algn="l">
              <a:spcAft>
                <a:spcPts val="1000"/>
              </a:spcAft>
            </a:pPr>
            <a:r>
              <a:rPr sz="1700" b="0">
                <a:solidFill>
                  <a:srgbClr val="222222"/>
                </a:solidFill>
                <a:latin typeface="맑은 고딕"/>
              </a:rPr>
              <a:t>•  원격 목적지 최대 30개, 압축 전송 오프로드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라이선스와 배치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Active Data Guard 옵션 기능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Sync는 Active Data Guard 옵션 기능</a:t>
            </a:r>
          </a:p>
          <a:p>
            <a:pPr algn="l">
              <a:spcAft>
                <a:spcPts val="1000"/>
              </a:spcAft>
            </a:pPr>
            <a:r>
              <a:rPr sz="1700" b="0">
                <a:solidFill>
                  <a:srgbClr val="222222"/>
                </a:solidFill>
                <a:latin typeface="맑은 고딕"/>
              </a:rPr>
              <a:t>•  12.1부터 제공, 구성원은 같은 19c 릴리스로</a:t>
            </a:r>
          </a:p>
          <a:p>
            <a:pPr algn="l">
              <a:spcAft>
                <a:spcPts val="1000"/>
              </a:spcAft>
            </a:pPr>
            <a:r>
              <a:rPr sz="1700" b="0">
                <a:solidFill>
                  <a:srgbClr val="222222"/>
                </a:solidFill>
                <a:latin typeface="맑은 고딕"/>
              </a:rPr>
              <a:t>•  DB_NAME은 Primary와 같고 DB_UNIQUE_NAME만 다름</a:t>
            </a:r>
          </a:p>
          <a:p>
            <a:pPr algn="l">
              <a:spcAft>
                <a:spcPts val="1000"/>
              </a:spcAft>
            </a:pPr>
            <a:r>
              <a:rPr sz="1700" b="0">
                <a:solidFill>
                  <a:srgbClr val="222222"/>
                </a:solidFill>
                <a:latin typeface="맑은 고딕"/>
              </a:rPr>
              <a:t>•  가깝되 같은 재해를 피할 만큼 떨어진 곳</a:t>
            </a:r>
          </a:p>
          <a:p>
            <a:pPr algn="l">
              <a:spcAft>
                <a:spcPts val="1000"/>
              </a:spcAft>
            </a:pPr>
            <a:r>
              <a:rPr sz="1700" b="0">
                <a:solidFill>
                  <a:srgbClr val="222222"/>
                </a:solidFill>
                <a:latin typeface="맑은 고딕"/>
              </a:rPr>
              <a:t>•  SYNC NOAFFIRM(Fast Sync)로 거리 여유 확보</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Far Sync 인스턴스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SQL 방식의 흐름</a:t>
            </a:r>
          </a:p>
          <a:p>
            <a:pPr algn="l">
              <a:spcAft>
                <a:spcPts val="800"/>
              </a:spcAft>
            </a:pPr>
            <a:r>
              <a:rPr sz="1600" b="0">
                <a:solidFill>
                  <a:srgbClr val="FFFFFF"/>
                </a:solidFill>
                <a:latin typeface="맑은 고딕"/>
              </a:rPr>
              <a:t>•  컨트롤 파일·파라미터·SRL</a:t>
            </a:r>
          </a:p>
          <a:p>
            <a:pPr algn="l">
              <a:spcAft>
                <a:spcPts val="800"/>
              </a:spcAft>
            </a:pPr>
            <a:r>
              <a:rPr sz="1600" b="0">
                <a:solidFill>
                  <a:srgbClr val="FFFFFF"/>
                </a:solidFill>
                <a:latin typeface="맑은 고딕"/>
              </a:rPr>
              <a:t>•  RMAN DUPLICATE FOR FARSYNC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방식의 전체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chicago, chicagoFS, boston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Far Sync 컨트롤 파일, PFILE, 패스워드 파일</a:t>
            </a:r>
          </a:p>
          <a:p>
            <a:pPr algn="l">
              <a:spcAft>
                <a:spcPts val="1000"/>
              </a:spcAft>
            </a:pPr>
            <a:r>
              <a:rPr sz="1700" b="0">
                <a:solidFill>
                  <a:srgbClr val="222222"/>
                </a:solidFill>
                <a:latin typeface="맑은 고딕"/>
              </a:rPr>
              <a:t>•  Far Sync: 파라미터 수정, 디렉터리 생성</a:t>
            </a:r>
          </a:p>
          <a:p>
            <a:pPr algn="l">
              <a:spcAft>
                <a:spcPts val="1000"/>
              </a:spcAft>
            </a:pPr>
            <a:r>
              <a:rPr sz="1700" b="0">
                <a:solidFill>
                  <a:srgbClr val="222222"/>
                </a:solidFill>
                <a:latin typeface="맑은 고딕"/>
              </a:rPr>
              <a:t>•  세 서버: 정적 등록, tnsnames, LOG_ARCHIVE_CONFIG</a:t>
            </a:r>
          </a:p>
          <a:p>
            <a:pPr algn="l">
              <a:spcAft>
                <a:spcPts val="1000"/>
              </a:spcAft>
            </a:pPr>
            <a:r>
              <a:rPr sz="1700" b="0">
                <a:solidFill>
                  <a:srgbClr val="222222"/>
                </a:solidFill>
                <a:latin typeface="맑은 고딕"/>
              </a:rPr>
              <a:t>•  Far Sync: STARTUP MOUNT, SRL 준비, 전달 목적지</a:t>
            </a:r>
          </a:p>
          <a:p>
            <a:pPr algn="l">
              <a:spcAft>
                <a:spcPts val="1000"/>
              </a:spcAft>
            </a:pPr>
            <a:r>
              <a:rPr sz="1700" b="0">
                <a:solidFill>
                  <a:srgbClr val="222222"/>
                </a:solidFill>
                <a:latin typeface="맑은 고딕"/>
              </a:rPr>
              <a:t>•  마지막에 Primary 목적지를 Far Sync로 변경</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Sync용 컨트롤 파일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CREATE FAR SYNC INSTANCE CONTROLFILE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Primary가 MOUNT 또는 OPEN이면 실행 가능</a:t>
            </a:r>
          </a:p>
          <a:p>
            <a:pPr algn="l">
              <a:spcAft>
                <a:spcPts val="1000"/>
              </a:spcAft>
            </a:pPr>
            <a:r>
              <a:rPr sz="1700" b="0">
                <a:solidFill>
                  <a:srgbClr val="222222"/>
                </a:solidFill>
                <a:latin typeface="맑은 고딕"/>
              </a:rPr>
              <a:t>•  파일 유형이 FARSYNC로 기록된다</a:t>
            </a:r>
          </a:p>
          <a:p>
            <a:pPr algn="l">
              <a:spcAft>
                <a:spcPts val="1000"/>
              </a:spcAft>
            </a:pPr>
            <a:r>
              <a:rPr sz="1700" b="0">
                <a:solidFill>
                  <a:srgbClr val="222222"/>
                </a:solidFill>
                <a:latin typeface="맑은 고딕"/>
              </a:rPr>
              <a:t>•  데이터 파일·로그·SRL 정의가 그대로 담김</a:t>
            </a:r>
          </a:p>
          <a:p>
            <a:pPr algn="l">
              <a:spcAft>
                <a:spcPts val="1000"/>
              </a:spcAft>
            </a:pPr>
            <a:r>
              <a:rPr sz="1700" b="0">
                <a:solidFill>
                  <a:srgbClr val="222222"/>
                </a:solidFill>
                <a:latin typeface="맑은 고딕"/>
              </a:rPr>
              <a:t>•  이후 Primary 구조 변경의 영향 없음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파라미터 파일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 PFILE에서 고칠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DB_UNIQUE_NAME=chicagoFS, CONTROL_FILES</a:t>
            </a:r>
          </a:p>
          <a:p>
            <a:pPr algn="l">
              <a:spcAft>
                <a:spcPts val="1000"/>
              </a:spcAft>
            </a:pPr>
            <a:r>
              <a:rPr sz="1700" b="0">
                <a:solidFill>
                  <a:srgbClr val="222222"/>
                </a:solidFill>
                <a:latin typeface="맑은 고딕"/>
              </a:rPr>
              <a:t>•  LOG_ARCHIVE_CONFIG에 세 구성원</a:t>
            </a:r>
          </a:p>
          <a:p>
            <a:pPr algn="l">
              <a:spcAft>
                <a:spcPts val="1000"/>
              </a:spcAft>
            </a:pPr>
            <a:r>
              <a:rPr sz="1700" b="0">
                <a:solidFill>
                  <a:srgbClr val="222222"/>
                </a:solidFill>
                <a:latin typeface="맑은 고딕"/>
              </a:rPr>
              <a:t>•  DEST_2: SERVICE=boston ASYNC</a:t>
            </a:r>
          </a:p>
          <a:p>
            <a:pPr algn="l">
              <a:spcAft>
                <a:spcPts val="1000"/>
              </a:spcAft>
            </a:pPr>
            <a:r>
              <a:rPr sz="1700" b="0">
                <a:solidFill>
                  <a:srgbClr val="222222"/>
                </a:solidFill>
                <a:latin typeface="맑은 고딕"/>
              </a:rPr>
              <a:t>•  VALID_FOR=(STANDBY_LOGFILES,STANDBY_ROLE)</a:t>
            </a:r>
          </a:p>
          <a:p>
            <a:pPr algn="l">
              <a:spcAft>
                <a:spcPts val="1000"/>
              </a:spcAft>
            </a:pPr>
            <a:r>
              <a:rPr sz="1700" b="0">
                <a:solidFill>
                  <a:srgbClr val="222222"/>
                </a:solidFill>
                <a:latin typeface="맑은 고딕"/>
              </a:rPr>
              <a:t>•  FAL_SERVER=chicago, LOG_FILE_NAME_CONVERT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Redo Log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Far Sync의 입구이자 출구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크기는 Primary 최대 온라인 로그 이상</a:t>
            </a:r>
          </a:p>
          <a:p>
            <a:pPr algn="l">
              <a:spcAft>
                <a:spcPts val="1000"/>
              </a:spcAft>
            </a:pPr>
            <a:r>
              <a:rPr sz="1700" b="0">
                <a:solidFill>
                  <a:srgbClr val="222222"/>
                </a:solidFill>
                <a:latin typeface="맑은 고딕"/>
              </a:rPr>
              <a:t>•  개수는 스레드별 온라인 그룹 수 + 1</a:t>
            </a:r>
          </a:p>
          <a:p>
            <a:pPr algn="l">
              <a:spcAft>
                <a:spcPts val="1000"/>
              </a:spcAft>
            </a:pPr>
            <a:r>
              <a:rPr sz="1700" b="0">
                <a:solidFill>
                  <a:srgbClr val="222222"/>
                </a:solidFill>
                <a:latin typeface="맑은 고딕"/>
              </a:rPr>
              <a:t>•  정의가 따라왔으면 ADD는 ORA-01184</a:t>
            </a:r>
          </a:p>
          <a:p>
            <a:pPr algn="l">
              <a:spcAft>
                <a:spcPts val="1000"/>
              </a:spcAft>
            </a:pPr>
            <a:r>
              <a:rPr sz="1700" b="0">
                <a:solidFill>
                  <a:srgbClr val="222222"/>
                </a:solidFill>
                <a:latin typeface="맑은 고딕"/>
              </a:rPr>
              <a:t>•  파일이 없으면 CLEAR LOGFILE로 생성</a:t>
            </a:r>
          </a:p>
          <a:p>
            <a:pPr algn="l">
              <a:spcAft>
                <a:spcPts val="1000"/>
              </a:spcAft>
            </a:pPr>
            <a:r>
              <a:rPr sz="1700" b="0">
                <a:solidFill>
                  <a:srgbClr val="222222"/>
                </a:solidFill>
                <a:latin typeface="맑은 고딕"/>
              </a:rPr>
              <a:t>•  Terminal Standby에도 SRL 필수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Oracle Net과 기동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STARTUP MOUNT 한 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리스너 정적 등록(Broker용 _DGMGRL 포함)</a:t>
            </a:r>
          </a:p>
          <a:p>
            <a:pPr algn="l">
              <a:spcAft>
                <a:spcPts val="1000"/>
              </a:spcAft>
            </a:pPr>
            <a:r>
              <a:rPr sz="1700" b="0">
                <a:solidFill>
                  <a:srgbClr val="222222"/>
                </a:solidFill>
                <a:latin typeface="맑은 고딕"/>
              </a:rPr>
              <a:t>•  세 서버의 tnsnames.ora에 세 별칭</a:t>
            </a:r>
          </a:p>
          <a:p>
            <a:pPr algn="l">
              <a:spcAft>
                <a:spcPts val="1000"/>
              </a:spcAft>
            </a:pPr>
            <a:r>
              <a:rPr sz="1700" b="0">
                <a:solidFill>
                  <a:srgbClr val="222222"/>
                </a:solidFill>
                <a:latin typeface="맑은 고딕"/>
              </a:rPr>
              <a:t>•  NOMOUNT 단계 없이 바로 MOUNT</a:t>
            </a:r>
          </a:p>
          <a:p>
            <a:pPr algn="l">
              <a:spcAft>
                <a:spcPts val="1000"/>
              </a:spcAft>
            </a:pPr>
            <a:r>
              <a:rPr sz="1700" b="0">
                <a:solidFill>
                  <a:srgbClr val="222222"/>
                </a:solidFill>
                <a:latin typeface="맑은 고딕"/>
              </a:rPr>
              <a:t>•  기동 후 DATABASE_ROLE로 역할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받는 쪽의 명단을 먼저 넓힌다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ORA-16057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LOG_ARCHIVE_CONFIG는 구성원 명단</a:t>
            </a:r>
          </a:p>
          <a:p>
            <a:pPr algn="l">
              <a:spcAft>
                <a:spcPts val="1000"/>
              </a:spcAft>
            </a:pPr>
            <a:r>
              <a:rPr sz="1700" b="0">
                <a:solidFill>
                  <a:srgbClr val="222222"/>
                </a:solidFill>
                <a:latin typeface="맑은 고딕"/>
              </a:rPr>
              <a:t>•  명단에 없으면 송신 쪽에 ORA-16057</a:t>
            </a:r>
          </a:p>
          <a:p>
            <a:pPr algn="l">
              <a:spcAft>
                <a:spcPts val="1000"/>
              </a:spcAft>
            </a:pPr>
            <a:r>
              <a:rPr sz="1700" b="0">
                <a:solidFill>
                  <a:srgbClr val="222222"/>
                </a:solidFill>
                <a:latin typeface="맑은 고딕"/>
              </a:rPr>
              <a:t>•  오류는 보내는 쪽, 원인은 받는 쪽</a:t>
            </a:r>
          </a:p>
          <a:p>
            <a:pPr algn="l">
              <a:spcAft>
                <a:spcPts val="1000"/>
              </a:spcAft>
            </a:pPr>
            <a:r>
              <a:rPr sz="1700" b="0">
                <a:solidFill>
                  <a:srgbClr val="222222"/>
                </a:solidFill>
                <a:latin typeface="맑은 고딕"/>
              </a:rPr>
              <a:t>•  세 곳을 넓힌 뒤 Primary 목적지 변경</a:t>
            </a:r>
          </a:p>
          <a:p>
            <a:pPr algn="l">
              <a:spcAft>
                <a:spcPts val="1000"/>
              </a:spcAft>
            </a:pPr>
            <a:r>
              <a:rPr sz="1700" b="0">
                <a:solidFill>
                  <a:srgbClr val="222222"/>
                </a:solidFill>
                <a:latin typeface="맑은 고딕"/>
              </a:rPr>
              <a:t>•  남은 오류는 DEFER 후 ENABLE로 재시도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RMAN DUPLICATE FOR FARSYNC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12.2부터 지원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FOR STANDBY 자리에 FOR FARSYNC</a:t>
            </a:r>
          </a:p>
          <a:p>
            <a:pPr algn="l">
              <a:spcAft>
                <a:spcPts val="1000"/>
              </a:spcAft>
            </a:pPr>
            <a:r>
              <a:rPr sz="1700" b="0">
                <a:solidFill>
                  <a:srgbClr val="222222"/>
                </a:solidFill>
                <a:latin typeface="맑은 고딕"/>
              </a:rPr>
              <a:t>•  액티브 복제: 컨트롤 파일과 SPFILE만 복사</a:t>
            </a:r>
          </a:p>
          <a:p>
            <a:pPr algn="l">
              <a:spcAft>
                <a:spcPts val="1000"/>
              </a:spcAft>
            </a:pPr>
            <a:r>
              <a:rPr sz="1700" b="0">
                <a:solidFill>
                  <a:srgbClr val="222222"/>
                </a:solidFill>
                <a:latin typeface="맑은 고딕"/>
              </a:rPr>
              <a:t>•  백업 기반 복제 가능, DORECOVER는 불가</a:t>
            </a:r>
          </a:p>
          <a:p>
            <a:pPr algn="l">
              <a:spcAft>
                <a:spcPts val="1000"/>
              </a:spcAft>
            </a:pPr>
            <a:r>
              <a:rPr sz="1700" b="0">
                <a:solidFill>
                  <a:srgbClr val="222222"/>
                </a:solidFill>
                <a:latin typeface="맑은 고딕"/>
              </a:rPr>
              <a:t>•  SPFILE SET으로 DB_UNIQUE_NAME 변경 필수</a:t>
            </a:r>
          </a:p>
          <a:p>
            <a:pPr algn="l">
              <a:spcAft>
                <a:spcPts val="1000"/>
              </a:spcAft>
            </a:pPr>
            <a:r>
              <a:rPr sz="1700" b="0">
                <a:solidFill>
                  <a:srgbClr val="222222"/>
                </a:solidFill>
                <a:latin typeface="맑은 고딕"/>
              </a:rPr>
              <a:t>•  Primary에 SRL이 있으면 자동 생성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리두 경로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Primary → Far Sync: SYNC</a:t>
            </a:r>
          </a:p>
          <a:p>
            <a:pPr algn="l">
              <a:spcAft>
                <a:spcPts val="800"/>
              </a:spcAft>
            </a:pPr>
            <a:r>
              <a:rPr sz="1600" b="0">
                <a:solidFill>
                  <a:srgbClr val="FFFFFF"/>
                </a:solidFill>
                <a:latin typeface="맑은 고딕"/>
              </a:rPr>
              <a:t>•  Far Sync → Terminal: ASYNC</a:t>
            </a:r>
          </a:p>
          <a:p>
            <a:pPr algn="l">
              <a:spcAft>
                <a:spcPts val="800"/>
              </a:spcAft>
            </a:pPr>
            <a:r>
              <a:rPr sz="1600" b="0">
                <a:solidFill>
                  <a:srgbClr val="FFFFFF"/>
                </a:solidFill>
                <a:latin typeface="맑은 고딕"/>
              </a:rPr>
              <a:t>•  대칭 구성과 경로 확인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Primary에서 Far Sync까지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SYNC AFFIRM</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Sync는 Primary에게 평범한 목적지 하나</a:t>
            </a:r>
          </a:p>
          <a:p>
            <a:pPr algn="l">
              <a:spcAft>
                <a:spcPts val="1000"/>
              </a:spcAft>
            </a:pPr>
            <a:r>
              <a:rPr sz="1700" b="0">
                <a:solidFill>
                  <a:srgbClr val="222222"/>
                </a:solidFill>
                <a:latin typeface="맑은 고딕"/>
              </a:rPr>
              <a:t>•  DEST_2를 boston에서 chicagoFS로 변경</a:t>
            </a:r>
          </a:p>
          <a:p>
            <a:pPr algn="l">
              <a:spcAft>
                <a:spcPts val="1000"/>
              </a:spcAft>
            </a:pPr>
            <a:r>
              <a:rPr sz="1700" b="0">
                <a:solidFill>
                  <a:srgbClr val="222222"/>
                </a:solidFill>
                <a:latin typeface="맑은 고딕"/>
              </a:rPr>
              <a:t>•  boston은 이제 Far Sync를 통해서만 수신</a:t>
            </a:r>
          </a:p>
          <a:p>
            <a:pPr algn="l">
              <a:spcAft>
                <a:spcPts val="1000"/>
              </a:spcAft>
            </a:pPr>
            <a:r>
              <a:rPr sz="1700" b="0">
                <a:solidFill>
                  <a:srgbClr val="222222"/>
                </a:solidFill>
                <a:latin typeface="맑은 고딕"/>
              </a:rPr>
              <a:t>•  NOAFFIRM이면 메모리 도착 시점에 응답</a:t>
            </a:r>
          </a:p>
          <a:p>
            <a:pPr algn="l">
              <a:spcAft>
                <a:spcPts val="1000"/>
              </a:spcAft>
            </a:pPr>
            <a:r>
              <a:rPr sz="1700" b="0">
                <a:solidFill>
                  <a:srgbClr val="222222"/>
                </a:solidFill>
                <a:latin typeface="맑은 고딕"/>
              </a:rPr>
              <a:t>•  TRANSMIT_MODE가 PARALLELSYNC로 보일 수 있음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Sync에서 Terminal까지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ASYNC로 원거리 구간을 흘린다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TTnn은 boston 응답을 기다리지 않는다</a:t>
            </a:r>
          </a:p>
          <a:p>
            <a:pPr algn="l">
              <a:spcAft>
                <a:spcPts val="1000"/>
              </a:spcAft>
            </a:pPr>
            <a:r>
              <a:rPr sz="1700" b="0">
                <a:solidFill>
                  <a:srgbClr val="222222"/>
                </a:solidFill>
                <a:latin typeface="맑은 고딕"/>
              </a:rPr>
              <a:t>•  원거리 지연이 Primary 커밋에서 빠진다</a:t>
            </a:r>
          </a:p>
          <a:p>
            <a:pPr algn="l">
              <a:spcAft>
                <a:spcPts val="1000"/>
              </a:spcAft>
            </a:pPr>
            <a:r>
              <a:rPr sz="1700" b="0">
                <a:solidFill>
                  <a:srgbClr val="222222"/>
                </a:solidFill>
                <a:latin typeface="맑은 고딕"/>
              </a:rPr>
              <a:t>•  boston의 lag는 Primary 기준으로 계산</a:t>
            </a:r>
          </a:p>
          <a:p>
            <a:pPr algn="l">
              <a:spcAft>
                <a:spcPts val="1000"/>
              </a:spcAft>
            </a:pPr>
            <a:r>
              <a:rPr sz="1700" b="0">
                <a:solidFill>
                  <a:srgbClr val="222222"/>
                </a:solidFill>
                <a:latin typeface="맑은 고딕"/>
              </a:rPr>
              <a:t>•  Terminal 추가는 DEST_3, DEST_4로 확장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Terminal Standby 쪽 설정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boston에서 바꿀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LOG_ARCHIVE_CONFIG에 chicagoFS 추가</a:t>
            </a:r>
          </a:p>
          <a:p>
            <a:pPr algn="l">
              <a:spcAft>
                <a:spcPts val="1000"/>
              </a:spcAft>
            </a:pPr>
            <a:r>
              <a:rPr sz="1700" b="0">
                <a:solidFill>
                  <a:srgbClr val="222222"/>
                </a:solidFill>
                <a:latin typeface="맑은 고딕"/>
              </a:rPr>
              <a:t>•  FAL_SERVER='chicagoFS','chicago'</a:t>
            </a:r>
          </a:p>
          <a:p>
            <a:pPr algn="l">
              <a:spcAft>
                <a:spcPts val="1000"/>
              </a:spcAft>
            </a:pPr>
            <a:r>
              <a:rPr sz="1700" b="0">
                <a:solidFill>
                  <a:srgbClr val="222222"/>
                </a:solidFill>
                <a:latin typeface="맑은 고딕"/>
              </a:rPr>
              <a:t>•  Redo Apply·실시간 적용 설정은 그대로</a:t>
            </a:r>
          </a:p>
          <a:p>
            <a:pPr algn="l">
              <a:spcAft>
                <a:spcPts val="1000"/>
              </a:spcAft>
            </a:pPr>
            <a:r>
              <a:rPr sz="1700" b="0">
                <a:solidFill>
                  <a:srgbClr val="222222"/>
                </a:solidFill>
                <a:latin typeface="맑은 고딕"/>
              </a:rPr>
              <a:t>•  RFS 상대가 chicagoFS로 바뀐다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전환에 대비한 대칭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bostonFS를 미리 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boston이 Primary가 될 때를 위한 bostonFS</a:t>
            </a:r>
          </a:p>
          <a:p>
            <a:pPr algn="l">
              <a:spcAft>
                <a:spcPts val="1000"/>
              </a:spcAft>
            </a:pPr>
            <a:r>
              <a:rPr sz="1700" b="0">
                <a:solidFill>
                  <a:srgbClr val="222222"/>
                </a:solidFill>
                <a:latin typeface="맑은 고딕"/>
              </a:rPr>
              <a:t>•  boston에 PRIMARY_ROLE 목적지로 정의</a:t>
            </a:r>
          </a:p>
          <a:p>
            <a:pPr algn="l">
              <a:spcAft>
                <a:spcPts val="1000"/>
              </a:spcAft>
            </a:pPr>
            <a:r>
              <a:rPr sz="1700" b="0">
                <a:solidFill>
                  <a:srgbClr val="222222"/>
                </a:solidFill>
                <a:latin typeface="맑은 고딕"/>
              </a:rPr>
              <a:t>•  Standby 동안은 쉬다가 전환 후 활성화</a:t>
            </a:r>
          </a:p>
          <a:p>
            <a:pPr algn="l">
              <a:spcAft>
                <a:spcPts val="1000"/>
              </a:spcAft>
            </a:pPr>
            <a:r>
              <a:rPr sz="1700" b="0">
                <a:solidFill>
                  <a:srgbClr val="222222"/>
                </a:solidFill>
                <a:latin typeface="맑은 고딕"/>
              </a:rPr>
              <a:t>•  대칭이 없으면 전환 후 보호 수준이 내려감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경로를 확인하는 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어느 구성원에서 무엇을 보는가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V$DATAGUARD_CONFIG: PARENT_DBUN으로 경로 트리</a:t>
            </a:r>
          </a:p>
          <a:p>
            <a:pPr algn="l">
              <a:spcAft>
                <a:spcPts val="1000"/>
              </a:spcAft>
            </a:pPr>
            <a:r>
              <a:rPr sz="1700" b="0">
                <a:solidFill>
                  <a:srgbClr val="222222"/>
                </a:solidFill>
                <a:latin typeface="맑은 고딕"/>
              </a:rPr>
              <a:t>•  V$ARCHIVE_DEST: STATUS와 VALID_NOW</a:t>
            </a:r>
          </a:p>
          <a:p>
            <a:pPr algn="l">
              <a:spcAft>
                <a:spcPts val="1000"/>
              </a:spcAft>
            </a:pPr>
            <a:r>
              <a:rPr sz="1700" b="0">
                <a:solidFill>
                  <a:srgbClr val="222222"/>
                </a:solidFill>
                <a:latin typeface="맑은 고딕"/>
              </a:rPr>
              <a:t>•  V$ARCHIVE_DEST_STATUS: ERROR, GAP_STATUS</a:t>
            </a:r>
          </a:p>
          <a:p>
            <a:pPr algn="l">
              <a:spcAft>
                <a:spcPts val="1000"/>
              </a:spcAft>
            </a:pPr>
            <a:r>
              <a:rPr sz="1700" b="0">
                <a:solidFill>
                  <a:srgbClr val="222222"/>
                </a:solidFill>
                <a:latin typeface="맑은 고딕"/>
              </a:rPr>
              <a:t>•  V$DATAGUARD_PROCESS: RFS·TT 연결 상대</a:t>
            </a:r>
          </a:p>
          <a:p>
            <a:pPr algn="l">
              <a:spcAft>
                <a:spcPts val="1000"/>
              </a:spcAft>
            </a:pPr>
            <a:r>
              <a:rPr sz="1700" b="0">
                <a:solidFill>
                  <a:srgbClr val="222222"/>
                </a:solidFill>
                <a:latin typeface="맑은 고딕"/>
              </a:rPr>
              <a:t>•  Terminal의 V$DATAGUARD_STATS: 최종 지연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대체 경로와 Far Sync 고가용성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단일 장애점 문제</a:t>
            </a:r>
          </a:p>
          <a:p>
            <a:pPr algn="l">
              <a:spcAft>
                <a:spcPts val="800"/>
              </a:spcAft>
            </a:pPr>
            <a:r>
              <a:rPr sz="1600" b="0">
                <a:solidFill>
                  <a:srgbClr val="FFFFFF"/>
                </a:solidFill>
                <a:latin typeface="맑은 고딕"/>
              </a:rPr>
              <a:t>•  ALTERNATE 속성</a:t>
            </a:r>
          </a:p>
          <a:p>
            <a:pPr algn="l">
              <a:spcAft>
                <a:spcPts val="800"/>
              </a:spcAft>
            </a:pPr>
            <a:r>
              <a:rPr sz="1600" b="0">
                <a:solidFill>
                  <a:srgbClr val="FFFFFF"/>
                </a:solidFill>
                <a:latin typeface="맑은 고딕"/>
              </a:rPr>
              <a:t>•  19c의 GROUP과 PRIORITY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Sync가 단일 장애점이 되는 문제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대가 경로 전체를 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Sync가 멈추면 Terminal 전송이 끊긴다</a:t>
            </a:r>
          </a:p>
          <a:p>
            <a:pPr algn="l">
              <a:spcAft>
                <a:spcPts val="1000"/>
              </a:spcAft>
            </a:pPr>
            <a:r>
              <a:rPr sz="1700" b="0">
                <a:solidFill>
                  <a:srgbClr val="222222"/>
                </a:solidFill>
                <a:latin typeface="맑은 고딕"/>
              </a:rPr>
              <a:t>•  Primary는 NET_TIMEOUT 후 대기를 포기</a:t>
            </a:r>
          </a:p>
          <a:p>
            <a:pPr algn="l">
              <a:spcAft>
                <a:spcPts val="1000"/>
              </a:spcAft>
            </a:pPr>
            <a:r>
              <a:rPr sz="1700" b="0">
                <a:solidFill>
                  <a:srgbClr val="222222"/>
                </a:solidFill>
                <a:latin typeface="맑은 고딕"/>
              </a:rPr>
              <a:t>•  업무는 계속, 보호 수준은 하락</a:t>
            </a:r>
          </a:p>
          <a:p>
            <a:pPr algn="l">
              <a:spcAft>
                <a:spcPts val="1000"/>
              </a:spcAft>
            </a:pPr>
            <a:r>
              <a:rPr sz="1700" b="0">
                <a:solidFill>
                  <a:srgbClr val="222222"/>
                </a:solidFill>
                <a:latin typeface="맑은 고딕"/>
              </a:rPr>
              <a:t>•  복구 전 Primary까지 잃으면 빈 구간 발생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ALTERNATE 속성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공식 교재의 대체 경로 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DEST_2: chicagoFS SYNC, MAX_FAILURE=1, ALTERNATE=DEST_3</a:t>
            </a:r>
          </a:p>
          <a:p>
            <a:pPr algn="l">
              <a:spcAft>
                <a:spcPts val="1000"/>
              </a:spcAft>
            </a:pPr>
            <a:r>
              <a:rPr sz="1700" b="0">
                <a:solidFill>
                  <a:srgbClr val="222222"/>
                </a:solidFill>
                <a:latin typeface="맑은 고딕"/>
              </a:rPr>
              <a:t>•  DEST_3: boston ASYNC 직송, ALTERNATE=DEST_2</a:t>
            </a:r>
          </a:p>
          <a:p>
            <a:pPr algn="l">
              <a:spcAft>
                <a:spcPts val="1000"/>
              </a:spcAft>
            </a:pPr>
            <a:r>
              <a:rPr sz="1700" b="0">
                <a:solidFill>
                  <a:srgbClr val="222222"/>
                </a:solidFill>
                <a:latin typeface="맑은 고딕"/>
              </a:rPr>
              <a:t>•  DEST_STATE_3='ALTERNATE'로 평소 휴면</a:t>
            </a:r>
          </a:p>
          <a:p>
            <a:pPr algn="l">
              <a:spcAft>
                <a:spcPts val="1000"/>
              </a:spcAft>
            </a:pPr>
            <a:r>
              <a:rPr sz="1700" b="0">
                <a:solidFill>
                  <a:srgbClr val="222222"/>
                </a:solidFill>
                <a:latin typeface="맑은 고딕"/>
              </a:rPr>
              <a:t>•  12.2부터 Far Sync 복구 시 자동 복귀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19c의 GROUP과 PRIORITY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우선순위로 대체 경로를 표현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목적지를 GROUP으로 묶고 PRIORITY 1~8 부여</a:t>
            </a:r>
          </a:p>
          <a:p>
            <a:pPr algn="l">
              <a:spcAft>
                <a:spcPts val="1000"/>
              </a:spcAft>
            </a:pPr>
            <a:r>
              <a:rPr sz="1700" b="0">
                <a:solidFill>
                  <a:srgbClr val="222222"/>
                </a:solidFill>
                <a:latin typeface="맑은 고딕"/>
              </a:rPr>
              <a:t>•  숫자가 작을수록 우선</a:t>
            </a:r>
          </a:p>
          <a:p>
            <a:pPr algn="l">
              <a:spcAft>
                <a:spcPts val="1000"/>
              </a:spcAft>
            </a:pPr>
            <a:r>
              <a:rPr sz="1700" b="0">
                <a:solidFill>
                  <a:srgbClr val="222222"/>
                </a:solidFill>
                <a:latin typeface="맑은 고딕"/>
              </a:rPr>
              <a:t>•  상위 순위가 모두 실패하면 다음 순위로</a:t>
            </a:r>
          </a:p>
          <a:p>
            <a:pPr algn="l">
              <a:spcAft>
                <a:spcPts val="1000"/>
              </a:spcAft>
            </a:pPr>
            <a:r>
              <a:rPr sz="1700" b="0">
                <a:solidFill>
                  <a:srgbClr val="222222"/>
                </a:solidFill>
                <a:latin typeface="맑은 고딕"/>
              </a:rPr>
              <a:t>•  상위 순위가 돌아오면 자동 복귀</a:t>
            </a:r>
          </a:p>
          <a:p>
            <a:pPr algn="l">
              <a:spcAft>
                <a:spcPts val="1000"/>
              </a:spcAft>
            </a:pPr>
            <a:r>
              <a:rPr sz="1700" b="0">
                <a:solidFill>
                  <a:srgbClr val="222222"/>
                </a:solidFill>
                <a:latin typeface="맑은 고딕"/>
              </a:rPr>
              <a:t>•  GROUP과 ALTERNATE는 함께 쓰지 않음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고가용성 설계 패턴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Far Sync 장애 때 무엇을 지키는가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Terminal 직송 폴백: 전송 유지, 무손실은 중단</a:t>
            </a:r>
          </a:p>
          <a:p>
            <a:pPr algn="l">
              <a:spcAft>
                <a:spcPts val="1000"/>
              </a:spcAft>
            </a:pPr>
            <a:r>
              <a:rPr sz="1700" b="0">
                <a:solidFill>
                  <a:srgbClr val="222222"/>
                </a:solidFill>
                <a:latin typeface="맑은 고딕"/>
              </a:rPr>
              <a:t>•  Far Sync 이중화: 두 번째가 SYNC 승계</a:t>
            </a:r>
          </a:p>
          <a:p>
            <a:pPr algn="l">
              <a:spcAft>
                <a:spcPts val="1000"/>
              </a:spcAft>
            </a:pPr>
            <a:r>
              <a:rPr sz="1700" b="0">
                <a:solidFill>
                  <a:srgbClr val="222222"/>
                </a:solidFill>
                <a:latin typeface="맑은 고딕"/>
              </a:rPr>
              <a:t>•  RAC Far Sync: 인스턴스 장애 흡수</a:t>
            </a:r>
          </a:p>
          <a:p>
            <a:pPr algn="l">
              <a:spcAft>
                <a:spcPts val="1000"/>
              </a:spcAft>
            </a:pPr>
            <a:r>
              <a:rPr sz="1700" b="0">
                <a:solidFill>
                  <a:srgbClr val="222222"/>
                </a:solidFill>
                <a:latin typeface="맑은 고딕"/>
              </a:rPr>
              <a:t>•  예비 Far Sync는 다른 건물·전원 계통에</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대체 경로는 장애를 일으켜 시험한다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설정이 받아들여졌다고 넘어가는 것은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대체 경로 설정은 오류 없이 받아들여진다</a:t>
            </a:r>
          </a:p>
          <a:p>
            <a:pPr algn="l">
              <a:spcAft>
                <a:spcPts val="1000"/>
              </a:spcAft>
            </a:pPr>
            <a:r>
              <a:rPr sz="1700" b="0">
                <a:solidFill>
                  <a:srgbClr val="222222"/>
                </a:solidFill>
                <a:latin typeface="맑은 고딕"/>
              </a:rPr>
              <a:t>•  Far Sync를 멈추고 활성 목적지 변화를 확인</a:t>
            </a:r>
          </a:p>
          <a:p>
            <a:pPr algn="l">
              <a:spcAft>
                <a:spcPts val="1000"/>
              </a:spcAft>
            </a:pPr>
            <a:r>
              <a:rPr sz="1700" b="0">
                <a:solidFill>
                  <a:srgbClr val="222222"/>
                </a:solidFill>
                <a:latin typeface="맑은 고딕"/>
              </a:rPr>
              <a:t>•  복구 후 원래 경로 복귀와 갭 확인</a:t>
            </a:r>
          </a:p>
          <a:p>
            <a:pPr algn="l">
              <a:spcAft>
                <a:spcPts val="1000"/>
              </a:spcAft>
            </a:pPr>
            <a:r>
              <a:rPr sz="1700" b="0">
                <a:solidFill>
                  <a:srgbClr val="222222"/>
                </a:solidFill>
                <a:latin typeface="맑은 고딕"/>
              </a:rPr>
              <a:t>•  시험 결과를 운영 절차서에 기록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보호 모드와 Far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Maximum Availability</a:t>
            </a:r>
          </a:p>
          <a:p>
            <a:pPr algn="l">
              <a:spcAft>
                <a:spcPts val="800"/>
              </a:spcAft>
            </a:pPr>
            <a:r>
              <a:rPr sz="1600" b="0">
                <a:solidFill>
                  <a:srgbClr val="FFFFFF"/>
                </a:solidFill>
                <a:latin typeface="맑은 고딕"/>
              </a:rPr>
              <a:t>•  Maximum Performance</a:t>
            </a:r>
          </a:p>
          <a:p>
            <a:pPr algn="l">
              <a:spcAft>
                <a:spcPts val="800"/>
              </a:spcAft>
            </a:pPr>
            <a:r>
              <a:rPr sz="1600" b="0">
                <a:solidFill>
                  <a:srgbClr val="FFFFFF"/>
                </a:solidFill>
                <a:latin typeface="맑은 고딕"/>
              </a:rPr>
              <a:t>•  Maximum Protection 미지원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Availability와 Far 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동기 지점이 Far Sync로 옮겨 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Far Sync SYNC, 모드는 MaxAvailability</a:t>
            </a:r>
          </a:p>
          <a:p>
            <a:pPr algn="l">
              <a:spcAft>
                <a:spcPts val="1000"/>
              </a:spcAft>
            </a:pPr>
            <a:r>
              <a:rPr sz="1700" b="0">
                <a:solidFill>
                  <a:srgbClr val="222222"/>
                </a:solidFill>
                <a:latin typeface="맑은 고딕"/>
              </a:rPr>
              <a:t>•  Primary만 잃으면 Terminal로 무손실 Failover</a:t>
            </a:r>
          </a:p>
          <a:p>
            <a:pPr algn="l">
              <a:spcAft>
                <a:spcPts val="1000"/>
              </a:spcAft>
            </a:pPr>
            <a:r>
              <a:rPr sz="1700" b="0">
                <a:solidFill>
                  <a:srgbClr val="222222"/>
                </a:solidFill>
                <a:latin typeface="맑은 고딕"/>
              </a:rPr>
              <a:t>•  열린 채로 MAXIMIZE AVAILABILITY 실행</a:t>
            </a:r>
          </a:p>
          <a:p>
            <a:pPr algn="l">
              <a:spcAft>
                <a:spcPts val="1000"/>
              </a:spcAft>
            </a:pPr>
            <a:r>
              <a:rPr sz="1700" b="0">
                <a:solidFill>
                  <a:srgbClr val="222222"/>
                </a:solidFill>
                <a:latin typeface="맑은 고딕"/>
              </a:rPr>
              <a:t>•  상향 직후 잠시 RESYNCHRONIZATION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Performance와 Far 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무손실 대신 분배를 맡는다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Far Sync도 ASYNC</a:t>
            </a:r>
          </a:p>
          <a:p>
            <a:pPr algn="l">
              <a:spcAft>
                <a:spcPts val="1000"/>
              </a:spcAft>
            </a:pPr>
            <a:r>
              <a:rPr sz="1700" b="0">
                <a:solidFill>
                  <a:srgbClr val="222222"/>
                </a:solidFill>
                <a:latin typeface="맑은 고딕"/>
              </a:rPr>
              <a:t>•  Far Sync를 원격 지역 한가운데에 둘 수 있다</a:t>
            </a:r>
          </a:p>
          <a:p>
            <a:pPr algn="l">
              <a:spcAft>
                <a:spcPts val="1000"/>
              </a:spcAft>
            </a:pPr>
            <a:r>
              <a:rPr sz="1700" b="0">
                <a:solidFill>
                  <a:srgbClr val="222222"/>
                </a:solidFill>
                <a:latin typeface="맑은 고딕"/>
              </a:rPr>
              <a:t>•  Primary는 목적지 하나만 상대</a:t>
            </a:r>
          </a:p>
          <a:p>
            <a:pPr algn="l">
              <a:spcAft>
                <a:spcPts val="1000"/>
              </a:spcAft>
            </a:pPr>
            <a:r>
              <a:rPr sz="1700" b="0">
                <a:solidFill>
                  <a:srgbClr val="222222"/>
                </a:solidFill>
                <a:latin typeface="맑은 고딕"/>
              </a:rPr>
              <a:t>•  대륙 간 회선에는 리두가 한 번만 지나감</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Maximum Protection과 Far Sync</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지원하지 않는 조합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Sync는 Maximum Protection 미지원</a:t>
            </a:r>
          </a:p>
          <a:p>
            <a:pPr algn="l">
              <a:spcAft>
                <a:spcPts val="1000"/>
              </a:spcAft>
            </a:pPr>
            <a:r>
              <a:rPr sz="1700" b="0">
                <a:solidFill>
                  <a:srgbClr val="222222"/>
                </a:solidFill>
                <a:latin typeface="맑은 고딕"/>
              </a:rPr>
              <a:t>•  이 모드는 SYNC 실패 시 Primary를 멈춘다</a:t>
            </a:r>
          </a:p>
          <a:p>
            <a:pPr algn="l">
              <a:spcAft>
                <a:spcPts val="1000"/>
              </a:spcAft>
            </a:pPr>
            <a:r>
              <a:rPr sz="1700" b="0">
                <a:solidFill>
                  <a:srgbClr val="222222"/>
                </a:solidFill>
                <a:latin typeface="맑은 고딕"/>
              </a:rPr>
              <a:t>•  SYNC 상대는 데이터를 가진 Standby</a:t>
            </a:r>
          </a:p>
          <a:p>
            <a:pPr algn="l">
              <a:spcAft>
                <a:spcPts val="1000"/>
              </a:spcAft>
            </a:pPr>
            <a:r>
              <a:rPr sz="1700" b="0">
                <a:solidFill>
                  <a:srgbClr val="222222"/>
                </a:solidFill>
                <a:latin typeface="맑은 고딕"/>
              </a:rPr>
              <a:t>•  무손실 + 업무 연속성: MaxAvailability + Far Sync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Far Sync 구성에서의 Failover</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마지막 리두까지 넘겨받는다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Sync가 남은 리두를 Terminal로 마저 전송</a:t>
            </a:r>
          </a:p>
          <a:p>
            <a:pPr algn="l">
              <a:spcAft>
                <a:spcPts val="1000"/>
              </a:spcAft>
            </a:pPr>
            <a:r>
              <a:rPr sz="1700" b="0">
                <a:solidFill>
                  <a:srgbClr val="222222"/>
                </a:solidFill>
                <a:latin typeface="맑은 고딕"/>
              </a:rPr>
              <a:t>•  도착 확인 후 FAILOVER TO boston</a:t>
            </a:r>
          </a:p>
          <a:p>
            <a:pPr algn="l">
              <a:spcAft>
                <a:spcPts val="1000"/>
              </a:spcAft>
            </a:pPr>
            <a:r>
              <a:rPr sz="1700" b="0">
                <a:solidFill>
                  <a:srgbClr val="222222"/>
                </a:solidFill>
                <a:latin typeface="맑은 고딕"/>
              </a:rPr>
              <a:t>•  Broker는 이 마무리 전송을 확인해 줌</a:t>
            </a:r>
          </a:p>
          <a:p>
            <a:pPr algn="l">
              <a:spcAft>
                <a:spcPts val="1000"/>
              </a:spcAft>
            </a:pPr>
            <a:r>
              <a:rPr sz="1700" b="0">
                <a:solidFill>
                  <a:srgbClr val="222222"/>
                </a:solidFill>
                <a:latin typeface="맑은 고딕"/>
              </a:rPr>
              <a:t>•  FSFO: Primary→Far Sync SYNC, Far Sync→대상 ASYNC</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구성원마다 다른 PROTECTION_LEVEL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MODE는 목표, LEVEL은 관점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PROTECTION_MODE는 모든 구성원에 같은 값</a:t>
            </a:r>
          </a:p>
          <a:p>
            <a:pPr algn="l">
              <a:spcAft>
                <a:spcPts val="1000"/>
              </a:spcAft>
            </a:pPr>
            <a:r>
              <a:rPr sz="1700" b="0">
                <a:solidFill>
                  <a:srgbClr val="222222"/>
                </a:solidFill>
                <a:latin typeface="맑은 고딕"/>
              </a:rPr>
              <a:t>•  PROTECTION_LEVEL은 구성원별 달성 수준</a:t>
            </a:r>
          </a:p>
          <a:p>
            <a:pPr algn="l">
              <a:spcAft>
                <a:spcPts val="1000"/>
              </a:spcAft>
            </a:pPr>
            <a:r>
              <a:rPr sz="1700" b="0">
                <a:solidFill>
                  <a:srgbClr val="222222"/>
                </a:solidFill>
                <a:latin typeface="맑은 고딕"/>
              </a:rPr>
              <a:t>•  Terminal만 RESYNCHRONIZATION일 수 있다</a:t>
            </a:r>
          </a:p>
          <a:p>
            <a:pPr algn="l">
              <a:spcAft>
                <a:spcPts val="1000"/>
              </a:spcAft>
            </a:pPr>
            <a:r>
              <a:rPr sz="1700" b="0">
                <a:solidFill>
                  <a:srgbClr val="222222"/>
                </a:solidFill>
                <a:latin typeface="맑은 고딕"/>
              </a:rPr>
              <a:t>•  판단 기준은 Primary의 LEVEL과 Far Sync 목적지</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Cascading과 Real-Time Cascading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Cascading Standby</a:t>
            </a:r>
          </a:p>
          <a:p>
            <a:pPr algn="l">
              <a:spcAft>
                <a:spcPts val="800"/>
              </a:spcAft>
            </a:pPr>
            <a:r>
              <a:rPr sz="1600" b="0">
                <a:solidFill>
                  <a:srgbClr val="FFFFFF"/>
                </a:solidFill>
                <a:latin typeface="맑은 고딕"/>
              </a:rPr>
              <a:t>•  전통 방식과 실시간 방식</a:t>
            </a:r>
          </a:p>
          <a:p>
            <a:pPr algn="l">
              <a:spcAft>
                <a:spcPts val="800"/>
              </a:spcAft>
            </a:pPr>
            <a:r>
              <a:rPr sz="1600" b="0">
                <a:solidFill>
                  <a:srgbClr val="FFFFFF"/>
                </a:solidFill>
                <a:latin typeface="맑은 고딕"/>
              </a:rPr>
              <a:t>•  구성 방법과 제약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Cascading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데이터를 가진 Standby가 전달까지 맡는다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cascading Standby → cascaded Standby</a:t>
            </a:r>
          </a:p>
          <a:p>
            <a:pPr algn="l">
              <a:spcAft>
                <a:spcPts val="1000"/>
              </a:spcAft>
            </a:pPr>
            <a:r>
              <a:rPr sz="1700" b="0">
                <a:solidFill>
                  <a:srgbClr val="222222"/>
                </a:solidFill>
                <a:latin typeface="맑은 고딕"/>
              </a:rPr>
              <a:t>•  전달할 수 있는 것은 물리 Standby와 Far Sync</a:t>
            </a:r>
          </a:p>
          <a:p>
            <a:pPr algn="l">
              <a:spcAft>
                <a:spcPts val="1000"/>
              </a:spcAft>
            </a:pPr>
            <a:r>
              <a:rPr sz="1700" b="0">
                <a:solidFill>
                  <a:srgbClr val="222222"/>
                </a:solidFill>
                <a:latin typeface="맑은 고딕"/>
              </a:rPr>
              <a:t>•  논리·Snapshot Standby는 전달 불가</a:t>
            </a:r>
          </a:p>
          <a:p>
            <a:pPr algn="l">
              <a:spcAft>
                <a:spcPts val="1000"/>
              </a:spcAft>
            </a:pPr>
            <a:r>
              <a:rPr sz="1700" b="0">
                <a:solidFill>
                  <a:srgbClr val="222222"/>
                </a:solidFill>
                <a:latin typeface="맑은 고딕"/>
              </a:rPr>
              <a:t>•  조회·백업·전환 대상까지 겸하는 대신 자원이 든다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전통적인 cascading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 전환을 기다린 뒤 전달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SRL이 아카이브된 뒤에야 다음 Standby로</a:t>
            </a:r>
          </a:p>
          <a:p>
            <a:pPr algn="l">
              <a:spcAft>
                <a:spcPts val="1000"/>
              </a:spcAft>
            </a:pPr>
            <a:r>
              <a:rPr sz="1700" b="0">
                <a:solidFill>
                  <a:srgbClr val="222222"/>
                </a:solidFill>
                <a:latin typeface="맑은 고딕"/>
              </a:rPr>
              <a:t>•  전달 주기는 Primary 로그 전환 주기와 같다</a:t>
            </a:r>
          </a:p>
          <a:p>
            <a:pPr algn="l">
              <a:spcAft>
                <a:spcPts val="1000"/>
              </a:spcAft>
            </a:pPr>
            <a:r>
              <a:rPr sz="1700" b="0">
                <a:solidFill>
                  <a:srgbClr val="222222"/>
                </a:solidFill>
                <a:latin typeface="맑은 고딕"/>
              </a:rPr>
              <a:t>•  한가한 시간대에는 몇 시간 지연도 가능</a:t>
            </a:r>
          </a:p>
          <a:p>
            <a:pPr algn="l">
              <a:spcAft>
                <a:spcPts val="1000"/>
              </a:spcAft>
            </a:pPr>
            <a:r>
              <a:rPr sz="1700" b="0">
                <a:solidFill>
                  <a:srgbClr val="222222"/>
                </a:solidFill>
                <a:latin typeface="맑은 고딕"/>
              </a:rPr>
              <a:t>•  강제 로그 전환으로 주기를 맞추던 운영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Real-Time Cascading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SRL에 쓰는 대로 바로 넘긴다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12.1부터 제공</a:t>
            </a:r>
          </a:p>
          <a:p>
            <a:pPr algn="l">
              <a:spcAft>
                <a:spcPts val="1000"/>
              </a:spcAft>
            </a:pPr>
            <a:r>
              <a:rPr sz="1700" b="0">
                <a:solidFill>
                  <a:srgbClr val="222222"/>
                </a:solidFill>
                <a:latin typeface="맑은 고딕"/>
              </a:rPr>
              <a:t>•  로그 전환 대기가 사라져 지연이 크게 줄어듦</a:t>
            </a:r>
          </a:p>
          <a:p>
            <a:pPr algn="l">
              <a:spcAft>
                <a:spcPts val="1000"/>
              </a:spcAft>
            </a:pPr>
            <a:r>
              <a:rPr sz="1700" b="0">
                <a:solidFill>
                  <a:srgbClr val="222222"/>
                </a:solidFill>
                <a:latin typeface="맑은 고딕"/>
              </a:rPr>
              <a:t>•  Active Data Guard 옵션 기능</a:t>
            </a:r>
          </a:p>
          <a:p>
            <a:pPr algn="l">
              <a:spcAft>
                <a:spcPts val="1000"/>
              </a:spcAft>
            </a:pPr>
            <a:r>
              <a:rPr sz="1700" b="0">
                <a:solidFill>
                  <a:srgbClr val="222222"/>
                </a:solidFill>
                <a:latin typeface="맑은 고딕"/>
              </a:rPr>
              <a:t>•  전통 방식(아카이브 후 전달)은 기본 기능</a:t>
            </a:r>
          </a:p>
          <a:p>
            <a:pPr algn="l">
              <a:spcAft>
                <a:spcPts val="1000"/>
              </a:spcAft>
            </a:pPr>
            <a:r>
              <a:rPr sz="1700" b="0">
                <a:solidFill>
                  <a:srgbClr val="222222"/>
                </a:solidFill>
                <a:latin typeface="맑은 고딕"/>
              </a:rPr>
              <a:t>•  Primary 전송량이 절반으로 준다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Cascading 구성 방법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전달 목적지는 cascading Standby에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SERVICE=london ASYNC</a:t>
            </a:r>
          </a:p>
          <a:p>
            <a:pPr algn="l">
              <a:spcAft>
                <a:spcPts val="1000"/>
              </a:spcAft>
            </a:pPr>
            <a:r>
              <a:rPr sz="1700" b="0">
                <a:solidFill>
                  <a:srgbClr val="222222"/>
                </a:solidFill>
                <a:latin typeface="맑은 고딕"/>
              </a:rPr>
              <a:t>•  VALID_FOR=(STANDBY_LOGFILES,STANDBY_ROLE)</a:t>
            </a:r>
          </a:p>
          <a:p>
            <a:pPr algn="l">
              <a:spcAft>
                <a:spcPts val="1000"/>
              </a:spcAft>
            </a:pPr>
            <a:r>
              <a:rPr sz="1700" b="0">
                <a:solidFill>
                  <a:srgbClr val="222222"/>
                </a:solidFill>
                <a:latin typeface="맑은 고딕"/>
              </a:rPr>
              <a:t>•  cascading Standby에 SRL 필수</a:t>
            </a:r>
          </a:p>
          <a:p>
            <a:pPr algn="l">
              <a:spcAft>
                <a:spcPts val="1000"/>
              </a:spcAft>
            </a:pPr>
            <a:r>
              <a:rPr sz="1700" b="0">
                <a:solidFill>
                  <a:srgbClr val="222222"/>
                </a:solidFill>
                <a:latin typeface="맑은 고딕"/>
              </a:rPr>
              <a:t>•  london의 FAL_SERVER는 boston 먼저</a:t>
            </a:r>
          </a:p>
          <a:p>
            <a:pPr algn="l">
              <a:spcAft>
                <a:spcPts val="1000"/>
              </a:spcAft>
            </a:pPr>
            <a:r>
              <a:rPr sz="1700" b="0">
                <a:solidFill>
                  <a:srgbClr val="222222"/>
                </a:solidFill>
                <a:latin typeface="맑은 고딕"/>
              </a:rPr>
              <a:t>•  세 구성원 LOG_ARCHIVE_CONFIG에 london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 오류 없이 멈춰 있던 cascading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STATUS는 VALID였다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로컬 Standby에서 해외 DR로 전달 구성</a:t>
            </a:r>
          </a:p>
          <a:p>
            <a:pPr algn="l">
              <a:spcAft>
                <a:spcPts val="1000"/>
              </a:spcAft>
            </a:pPr>
            <a:r>
              <a:rPr sz="1700" b="0">
                <a:solidFill>
                  <a:srgbClr val="222222"/>
                </a:solidFill>
                <a:latin typeface="맑은 고딕"/>
              </a:rPr>
              <a:t>•  변경은 성공, STATUS도 VALID</a:t>
            </a:r>
          </a:p>
          <a:p>
            <a:pPr algn="l">
              <a:spcAft>
                <a:spcPts val="1000"/>
              </a:spcAft>
            </a:pPr>
            <a:r>
              <a:rPr sz="1700" b="0">
                <a:solidFill>
                  <a:srgbClr val="222222"/>
                </a:solidFill>
                <a:latin typeface="맑은 고딕"/>
              </a:rPr>
              <a:t>•  DR 센터 transport lag가 계속 증가</a:t>
            </a:r>
          </a:p>
          <a:p>
            <a:pPr algn="l">
              <a:spcAft>
                <a:spcPts val="1000"/>
              </a:spcAft>
            </a:pPr>
            <a:r>
              <a:rPr sz="1700" b="0">
                <a:solidFill>
                  <a:srgbClr val="222222"/>
                </a:solidFill>
                <a:latin typeface="맑은 고딕"/>
              </a:rPr>
              <a:t>•  VALID_NOW = WRONG VALID_TYPE</a:t>
            </a:r>
          </a:p>
          <a:p>
            <a:pPr algn="l">
              <a:spcAft>
                <a:spcPts val="1000"/>
              </a:spcAft>
            </a:pPr>
            <a:r>
              <a:rPr sz="1700" b="0">
                <a:solidFill>
                  <a:srgbClr val="222222"/>
                </a:solidFill>
                <a:latin typeface="맑은 고딕"/>
              </a:rPr>
              <a:t>•  VALID_FOR 수정 후 UNKNOWN을 거쳐 YES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언제 무엇을 쓰는가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구성별 비교</a:t>
            </a:r>
          </a:p>
          <a:p>
            <a:pPr algn="l">
              <a:spcAft>
                <a:spcPts val="800"/>
              </a:spcAft>
            </a:pPr>
            <a:r>
              <a:rPr sz="1600" b="0">
                <a:solidFill>
                  <a:srgbClr val="FFFFFF"/>
                </a:solidFill>
                <a:latin typeface="맑은 고딕"/>
              </a:rPr>
              <a:t>•  판단 기준과 사례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구성별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원격 무손실, Primary 부담, 비용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SYNC 직송: 무손실, 원거리 왕복 지연</a:t>
            </a:r>
          </a:p>
          <a:p>
            <a:pPr algn="l">
              <a:spcAft>
                <a:spcPts val="1000"/>
              </a:spcAft>
            </a:pPr>
            <a:r>
              <a:rPr sz="1700" b="0">
                <a:solidFill>
                  <a:srgbClr val="222222"/>
                </a:solidFill>
                <a:latin typeface="맑은 고딕"/>
              </a:rPr>
              <a:t>•  ASYNC 직송: 가볍지만 손실 가능</a:t>
            </a:r>
          </a:p>
          <a:p>
            <a:pPr algn="l">
              <a:spcAft>
                <a:spcPts val="1000"/>
              </a:spcAft>
            </a:pPr>
            <a:r>
              <a:rPr sz="1700" b="0">
                <a:solidFill>
                  <a:srgbClr val="222222"/>
                </a:solidFill>
                <a:latin typeface="맑은 고딕"/>
              </a:rPr>
              <a:t>•  로컬 SYNC + 원격 ASYNC: 목적지 두 곳</a:t>
            </a:r>
          </a:p>
          <a:p>
            <a:pPr algn="l">
              <a:spcAft>
                <a:spcPts val="1000"/>
              </a:spcAft>
            </a:pPr>
            <a:r>
              <a:rPr sz="1700" b="0">
                <a:solidFill>
                  <a:srgbClr val="222222"/>
                </a:solidFill>
                <a:latin typeface="맑은 고딕"/>
              </a:rPr>
              <a:t>•  로컬 + Real-Time Cascading: 목적지 한 곳, ADG</a:t>
            </a:r>
          </a:p>
          <a:p>
            <a:pPr algn="l">
              <a:spcAft>
                <a:spcPts val="1000"/>
              </a:spcAft>
            </a:pPr>
            <a:r>
              <a:rPr sz="1700" b="0">
                <a:solidFill>
                  <a:srgbClr val="222222"/>
                </a:solidFill>
                <a:latin typeface="맑은 고딕"/>
              </a:rPr>
              <a:t>•  Far Sync: 원격 무손실, 가까운 왕복만, ADG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판단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질문 순서대로 고른다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원격지에도 무손실이 필요한가</a:t>
            </a:r>
          </a:p>
          <a:p>
            <a:pPr algn="l">
              <a:spcAft>
                <a:spcPts val="1000"/>
              </a:spcAft>
            </a:pPr>
            <a:r>
              <a:rPr sz="1700" b="0">
                <a:solidFill>
                  <a:srgbClr val="222222"/>
                </a:solidFill>
                <a:latin typeface="맑은 고딕"/>
              </a:rPr>
              <a:t>•  Primary가 원격 왕복 지연을 견디는가</a:t>
            </a:r>
          </a:p>
          <a:p>
            <a:pPr algn="l">
              <a:spcAft>
                <a:spcPts val="1000"/>
              </a:spcAft>
            </a:pPr>
            <a:r>
              <a:rPr sz="1700" b="0">
                <a:solidFill>
                  <a:srgbClr val="222222"/>
                </a:solidFill>
                <a:latin typeface="맑은 고딕"/>
              </a:rPr>
              <a:t>•  로컬에 조회·백업용 Standby가 필요한가</a:t>
            </a:r>
          </a:p>
          <a:p>
            <a:pPr algn="l">
              <a:spcAft>
                <a:spcPts val="1000"/>
              </a:spcAft>
            </a:pPr>
            <a:r>
              <a:rPr sz="1700" b="0">
                <a:solidFill>
                  <a:srgbClr val="222222"/>
                </a:solidFill>
                <a:latin typeface="맑은 고딕"/>
              </a:rPr>
              <a:t>•  원격 목적지가 여러 곳인가</a:t>
            </a:r>
          </a:p>
          <a:p>
            <a:pPr algn="l">
              <a:spcAft>
                <a:spcPts val="1000"/>
              </a:spcAft>
            </a:pPr>
            <a:r>
              <a:rPr sz="1700" b="0">
                <a:solidFill>
                  <a:srgbClr val="222222"/>
                </a:solidFill>
                <a:latin typeface="맑은 고딕"/>
              </a:rPr>
              <a:t>•  Far Sync 장애 때 무엇을 지킬 것인가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 서울 본사와 해외 재해 복구 센터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Far Sync 두 대와 직송 예비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해외 센터 SYNC 직송: 커밋 지연 허용치 초과</a:t>
            </a:r>
          </a:p>
          <a:p>
            <a:pPr algn="l">
              <a:spcAft>
                <a:spcPts val="1000"/>
              </a:spcAft>
            </a:pPr>
            <a:r>
              <a:rPr sz="1700" b="0">
                <a:solidFill>
                  <a:srgbClr val="222222"/>
                </a:solidFill>
                <a:latin typeface="맑은 고딕"/>
              </a:rPr>
              <a:t>•  서울 안 다른 건물에 Far Sync, SYNC AFFIRM</a:t>
            </a:r>
          </a:p>
          <a:p>
            <a:pPr algn="l">
              <a:spcAft>
                <a:spcPts val="1000"/>
              </a:spcAft>
            </a:pPr>
            <a:r>
              <a:rPr sz="1700" b="0">
                <a:solidFill>
                  <a:srgbClr val="222222"/>
                </a:solidFill>
                <a:latin typeface="맑은 고딕"/>
              </a:rPr>
              <a:t>•  해외 센터는 Far Sync에서 ASYNC로 수신</a:t>
            </a:r>
          </a:p>
          <a:p>
            <a:pPr algn="l">
              <a:spcAft>
                <a:spcPts val="1000"/>
              </a:spcAft>
            </a:pPr>
            <a:r>
              <a:rPr sz="1700" b="0">
                <a:solidFill>
                  <a:srgbClr val="222222"/>
                </a:solidFill>
                <a:latin typeface="맑은 고딕"/>
              </a:rPr>
              <a:t>•  두 번째 Far Sync를 같은 우선순위로 추가</a:t>
            </a:r>
          </a:p>
          <a:p>
            <a:pPr algn="l">
              <a:spcAft>
                <a:spcPts val="1000"/>
              </a:spcAft>
            </a:pPr>
            <a:r>
              <a:rPr sz="1700" b="0">
                <a:solidFill>
                  <a:srgbClr val="222222"/>
                </a:solidFill>
                <a:latin typeface="맑은 고딕"/>
              </a:rPr>
              <a:t>•  해외 직송을 최하위 우선순위로 예비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10.10</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아카이브 정리, SRL 재구성</a:t>
            </a:r>
          </a:p>
          <a:p>
            <a:pPr algn="l">
              <a:spcAft>
                <a:spcPts val="800"/>
              </a:spcAft>
            </a:pPr>
            <a:r>
              <a:rPr sz="1600" b="0">
                <a:solidFill>
                  <a:srgbClr val="FFFFFF"/>
                </a:solidFill>
                <a:latin typeface="맑은 고딕"/>
              </a:rPr>
              <a:t>•  설정 순서와 구간별 지연 확인</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조용히 무너지는 지점들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Far Sync 아카이브도 RMAN 삭제 정책으로 정리</a:t>
            </a:r>
          </a:p>
          <a:p>
            <a:pPr algn="l">
              <a:spcAft>
                <a:spcPts val="1000"/>
              </a:spcAft>
            </a:pPr>
            <a:r>
              <a:rPr sz="1700" b="0">
                <a:solidFill>
                  <a:srgbClr val="222222"/>
                </a:solidFill>
                <a:latin typeface="맑은 고딕"/>
              </a:rPr>
              <a:t>•  Primary 로그 변경 시 Far Sync·Terminal SRL 재구성</a:t>
            </a:r>
          </a:p>
          <a:p>
            <a:pPr algn="l">
              <a:spcAft>
                <a:spcPts val="1000"/>
              </a:spcAft>
            </a:pPr>
            <a:r>
              <a:rPr sz="1700" b="0">
                <a:solidFill>
                  <a:srgbClr val="222222"/>
                </a:solidFill>
                <a:latin typeface="맑은 고딕"/>
              </a:rPr>
              <a:t>•  받는 쪽 LOG_ARCHIVE_CONFIG부터 넓힌다</a:t>
            </a:r>
          </a:p>
          <a:p>
            <a:pPr algn="l">
              <a:spcAft>
                <a:spcPts val="1000"/>
              </a:spcAft>
            </a:pPr>
            <a:r>
              <a:rPr sz="1700" b="0">
                <a:solidFill>
                  <a:srgbClr val="222222"/>
                </a:solidFill>
                <a:latin typeface="맑은 고딕"/>
              </a:rPr>
              <a:t>•  lag 증가 시 두 구간으로 나눠 진단</a:t>
            </a:r>
          </a:p>
          <a:p>
            <a:pPr algn="l">
              <a:spcAft>
                <a:spcPts val="1000"/>
              </a:spcAft>
            </a:pPr>
            <a:r>
              <a:rPr sz="1700" b="0">
                <a:solidFill>
                  <a:srgbClr val="222222"/>
                </a:solidFill>
                <a:latin typeface="맑은 고딕"/>
              </a:rPr>
              <a:t>•  SCOPE=MEMORY 시험 후 SPFILE 반영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SYNC는 커밋마다 원격 왕복 지연을 더한다</a:t>
            </a:r>
          </a:p>
          <a:p>
            <a:pPr algn="l">
              <a:spcAft>
                <a:spcPts val="1000"/>
              </a:spcAft>
            </a:pPr>
            <a:r>
              <a:rPr sz="1600" b="0">
                <a:solidFill>
                  <a:srgbClr val="222222"/>
                </a:solidFill>
                <a:latin typeface="맑은 고딕"/>
              </a:rPr>
              <a:t>•  Far Sync: 컨트롤 파일·SRL·아카이브만, 데이터 파일 없음, ADG</a:t>
            </a:r>
          </a:p>
          <a:p>
            <a:pPr algn="l">
              <a:spcAft>
                <a:spcPts val="1000"/>
              </a:spcAft>
            </a:pPr>
            <a:r>
              <a:rPr sz="1600" b="0">
                <a:solidFill>
                  <a:srgbClr val="222222"/>
                </a:solidFill>
                <a:latin typeface="맑은 고딕"/>
              </a:rPr>
              <a:t>•  생성: CREATE FAR SYNC INSTANCE CONTROLFILE 또는 DUPLICATE FOR FARSYNC</a:t>
            </a:r>
          </a:p>
          <a:p>
            <a:pPr algn="l">
              <a:spcAft>
                <a:spcPts val="1000"/>
              </a:spcAft>
            </a:pPr>
            <a:r>
              <a:rPr sz="1600" b="0">
                <a:solidFill>
                  <a:srgbClr val="222222"/>
                </a:solidFill>
                <a:latin typeface="맑은 고딕"/>
              </a:rPr>
              <a:t>•  경로: Primary→Far Sync SYNC, Far Sync→Terminal ASYNC</a:t>
            </a:r>
          </a:p>
          <a:p>
            <a:pPr algn="l">
              <a:spcAft>
                <a:spcPts val="1000"/>
              </a:spcAft>
            </a:pPr>
            <a:r>
              <a:rPr sz="1600" b="0">
                <a:solidFill>
                  <a:srgbClr val="222222"/>
                </a:solidFill>
                <a:latin typeface="맑은 고딕"/>
              </a:rPr>
              <a:t>•  대체 경로: ALTERNATE 또는 GROUP·PRIORITY, 자동 복귀</a:t>
            </a:r>
          </a:p>
          <a:p>
            <a:pPr algn="l">
              <a:spcAft>
                <a:spcPts val="1000"/>
              </a:spcAft>
            </a:pPr>
            <a:r>
              <a:rPr sz="1600" b="0">
                <a:solidFill>
                  <a:srgbClr val="222222"/>
                </a:solidFill>
                <a:latin typeface="맑은 고딕"/>
              </a:rPr>
              <a:t>•  MaxProtection 미지원 / Real-Time Cascading은 ADG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Far Sync에 대해 옳은 것은? → SYNC 수신, RMAN DUPLICATE 생성</a:t>
            </a:r>
          </a:p>
          <a:p>
            <a:pPr algn="l">
              <a:spcAft>
                <a:spcPts val="1000"/>
              </a:spcAft>
            </a:pPr>
            <a:r>
              <a:rPr sz="1600" b="0">
                <a:solidFill>
                  <a:srgbClr val="222222"/>
                </a:solidFill>
                <a:latin typeface="맑은 고딕"/>
              </a:rPr>
              <a:t>•  Q2. Far Sync 전달 목적지의 VALID_FOR는? → (STANDBY_LOGFILES,STANDBY_ROLE)</a:t>
            </a:r>
          </a:p>
          <a:p>
            <a:pPr algn="l">
              <a:spcAft>
                <a:spcPts val="1000"/>
              </a:spcAft>
            </a:pPr>
            <a:r>
              <a:rPr sz="1600" b="0">
                <a:solidFill>
                  <a:srgbClr val="222222"/>
                </a:solidFill>
                <a:latin typeface="맑은 고딕"/>
              </a:rPr>
              <a:t>•  Q3. Far Sync를 쓸 수 없는 보호 모드는? → Maximum Protection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MAX_FAILURE=1 ALTERNATE 구성에서 Far Sync 장애 시? → DEST_3로 전환</a:t>
            </a:r>
          </a:p>
          <a:p>
            <a:pPr algn="l">
              <a:spcAft>
                <a:spcPts val="1000"/>
              </a:spcAft>
            </a:pPr>
            <a:r>
              <a:rPr sz="1600" b="0">
                <a:solidFill>
                  <a:srgbClr val="222222"/>
                </a:solidFill>
                <a:latin typeface="맑은 고딕"/>
              </a:rPr>
              <a:t>•  Q5. GROUP·PRIORITY에서 틀린 것은? → 상위 순위 복구 시 수동 복귀</a:t>
            </a:r>
          </a:p>
          <a:p>
            <a:pPr algn="l">
              <a:spcAft>
                <a:spcPts val="1000"/>
              </a:spcAft>
            </a:pPr>
            <a:r>
              <a:rPr sz="1600" b="0">
                <a:solidFill>
                  <a:srgbClr val="222222"/>
                </a:solidFill>
                <a:latin typeface="맑은 고딕"/>
              </a:rPr>
              <a:t>•  Q6. Real-Time Cascading의 특징은? → SRL 기록 즉시 전달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Far Sync 노드 준비 / 02 기동과 역할 확인 (10.3, 10.4)</a:t>
            </a:r>
          </a:p>
          <a:p>
            <a:pPr algn="l">
              <a:spcAft>
                <a:spcPts val="1000"/>
              </a:spcAft>
            </a:pPr>
            <a:r>
              <a:rPr sz="1600" b="0">
                <a:solidFill>
                  <a:srgbClr val="222222"/>
                </a:solidFill>
                <a:latin typeface="맑은 고딕"/>
              </a:rPr>
              <a:t>•  03 SRL 실체화: ORA-01184, CLEAR LOGFILE (10.4.4)</a:t>
            </a:r>
          </a:p>
          <a:p>
            <a:pPr algn="l">
              <a:spcAft>
                <a:spcPts val="1000"/>
              </a:spcAft>
            </a:pPr>
            <a:r>
              <a:rPr sz="1600" b="0">
                <a:solidFill>
                  <a:srgbClr val="222222"/>
                </a:solidFill>
                <a:latin typeface="맑은 고딕"/>
              </a:rPr>
              <a:t>•  04 Oracle Net 구성: 정적 등록 (10.4.5)</a:t>
            </a:r>
          </a:p>
          <a:p>
            <a:pPr algn="l">
              <a:spcAft>
                <a:spcPts val="1000"/>
              </a:spcAft>
            </a:pPr>
            <a:r>
              <a:rPr sz="1600" b="0">
                <a:solidFill>
                  <a:srgbClr val="222222"/>
                </a:solidFill>
                <a:latin typeface="맑은 고딕"/>
              </a:rPr>
              <a:t>•  05 리두 경로 전환: ORA-16057, 변경 순서 (10.5)</a:t>
            </a:r>
          </a:p>
          <a:p>
            <a:pPr algn="l">
              <a:spcAft>
                <a:spcPts val="1000"/>
              </a:spcAft>
            </a:pPr>
            <a:r>
              <a:rPr sz="1600" b="0">
                <a:solidFill>
                  <a:srgbClr val="222222"/>
                </a:solidFill>
                <a:latin typeface="맑은 고딕"/>
              </a:rPr>
              <a:t>•  06 보호 모드 상향: PROTECTION_LEVEL, ORA-01665 (10.7)</a:t>
            </a:r>
          </a:p>
          <a:p>
            <a:pPr algn="l">
              <a:spcAft>
                <a:spcPts val="1000"/>
              </a:spcAft>
            </a:pPr>
            <a:r>
              <a:rPr sz="1600" b="0">
                <a:solidFill>
                  <a:srgbClr val="222222"/>
                </a:solidFill>
                <a:latin typeface="맑은 고딕"/>
              </a:rPr>
              <a:t>•  07 Cascading과 원복: VALID_FOR, WRONG VALID_TYPE (10.8)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
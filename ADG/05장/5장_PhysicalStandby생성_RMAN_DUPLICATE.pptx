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리두에는 그 리두를 만든 데이터베이스의 DBID와 리셋로그 정보가 들어 있습니다. Standby는 자기 DBID와 맞지 않는 리두를 받지 않기 때문에 DBID와 DB_NAME이 Primary와 같아야 합니다. 반대로 Data Guard 구성 안에서 멤버를 구별하는 값은 DB_UNIQUE_NAME이라서, 이 값이 같으면 LOG_ARCHIVE_CONFIG도 전송 목적지도 성립하지 않습니다. 같아야 하는 값과 달라야 하는 값을 표로 나란히 놓고 보면 뒤에 나오는 SET 절에서 무엇을 바꾸는지가 저절로 정리됩니다.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 과정 17장에서 DUPLICATE TO 새이름 형태를 실습했다면 채널 할당이나 파일 이름 변환은 이미 익숙합니다. 차이는 마지막 단계에 있습니다. 일반 복제는 OPEN RESETLOGS로 새 incarnation을 시작하고 새 DBID를 받는 순간 원본 리두와 인연이 끊깁니다. FOR STANDBY는 그 단계를 하지 않고 마운트 상태로 멈춰서 이후 리두를 계속 받을 수 있는 상태로 남습니다. 명령은 비슷해 보여도 관심사가 복제 완료에서 복제 이후의 동기화로 옮겨 간 것으로 이해하면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생성 방법을 쓰든 Standby 호스트에 이 다섯 가지가 갖춰지면 됩니다. 온라인 상태에서 복사한 데이터 파일은 파일마다 SCN이 달라 그대로는 열 수 없는 퍼지 상태이고, 리두를 적용해야 일관성이 맞습니다. 수동 방식에서는 이 재료를 하나씩 직접 만들고 옮기고, RMAN DUPLICATE는 한 명령으로 전부 만들어 줍니다. 방법을 비교할 때 이 목록을 기준으로 누가 무엇을 만들어 주는지 보면 차이가 선명해집니다.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Active DUPLICATE는 백업 없이 지금 돌고 있는 Primary에서 파일을 바로 가져옵니다. SPFILE 생성부터 Standby 컨트롤 파일, 파일 이름 변환, 복구까지 한 명령에 들어 있어서 사람 손이 가장 덜 갑니다. 대신 복사가 진행되는 동안 Primary의 디스크 읽기와 네트워크 대역을 씁니다. 수십 GB 수준이면 크게 문제 되지 않지만 수 TB라면 채널 수, 압축, 작업 시간대를 미리 정해 두어야 업무에 지장이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정기적으로 RMAN 백업을 받고 있다면 그 백업으로 Standby를 만들 수 있습니다. 복원 작업이 Standby 쪽에서 일어나므로 생성 중에 Primary가 거의 영향을 받지 않습니다. 조건은 Standby 호스트가 백업 파일을 읽을 수 있어야 한다는 것입니다. 같은 경로로 공유 저장소를 붙이거나 백업을 옮겨 두거나 테이프 장치를 양쪽에서 쓰는 식입니다. 백업 시점 이후의 아카이브 로그가 빠짐없이 남아 있어야 복구가 이어진다는 조건도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공식 문서의 기본 절차는 이렇게 재료를 하나씩 만드는 방식입니다. 컨트롤 파일, 파라미터 파일, 백업을 각각 만들고 옮기고 이름을 고쳐야 하니 단계가 많고 실수할 곳도 많습니다. 실무에서 일부러 고를 일은 드물지만, DUPLICATE 로그를 읽을 때 지금 이 단계 중 무엇을 하는지 대응시켜 보면 이해가 빠릅니다. 파일 시스템 저장소라면 운영체제 복사로도 되지만 ASM 위의 파일은 RMAN 없이 꺼낼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DBCA의 createDuplicateDB는 내부적으로 리스너 구성, auxiliary 인스턴스 생성, RMAN DUPLICATE를 차례로 실행합니다. 명령 한 줄로 끝나서 편하지만 공식 교재는 비 multitenant 단일 인스턴스 Primary로 대상을 한정합니다. Primary 쪽 전송 목적지나 STANDBY_FILE_MANAGEMENT는 건드리지 않으니 그 설정은 따로 해야 합니다. EM 마법사는 Broker 구성까지 해 주지만 Cloud Control이 있어야 하므로 이 과정에서는 소개만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대부분의 신규 구축은 Active DUPLICATE로 충분합니다. 판단이 갈리는 지점은 데이터 크기와 회선입니다. 회선이 좁은데 데이터가 크면 Active 방식은 업무 리두 전송까지 밀어낼 수 있어서 백업 기반으로 바꾸는 편이 낫습니다. 공식 교재의 퀴즈에도 나오듯 CDB 환경에서 쓸 수 있는 방법은 RMAN DUPLICATE와 EM이고, DBCA는 교재 기준으로 빠집니다. 같은 호스트에 Standby를 두는 구성은 학습용으로만 쓰고, 이때는 경로를 반드시 바꾸고 이름 검사를 끄지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항목들은 앞 장에서 이미 설정했지만 DUPLICATE 직전에 다시 확인하는 습관을 들이는 편이 좋습니다. 빠졌을 때 드러나는 시점이 제각각이기 때문입니다. 정적 등록이나 패스워드 파일이 빠지면 DUPLICATE가 바로 실패해서 금방 알지만, Primary에 SRL이 없으면 생성은 성공하고 나중에 실시간 적용이 안 되는 것으로 나타납니다. FORCE LOGGING은 더 늦게, nologging 작업이 있었던 블록을 읽을 때에야 문제가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RMAN 클라이언트는 Primary 호스트, Standby 호스트, 제3의 관리 서버 어디서 실행해도 결과가 같습니다. Active DUPLICATE에서 데이터 파일은 Primary 서버 프로세스와 Standby 서버 프로세스 사이를 직접 흐르고 RMAN 클라이언트를 거치지 않기 때문입니다. 실행 위치는 로그를 어디에 남길지, 작업자가 어디에 접속해 있는지로 정하면 됩니다. 과정 실습은 chicago-srv에서 RMAN을 실행하고 로그를 파일로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orapwd로 같은 비밀번호를 넣어 만들면 될 것 같지만 Data Guard에서는 파일 자체를 복사하는 것이 원칙입니다. 리두 전송 인증은 파일 내용을 기준으로 하기 때문에 비밀번호가 같아도 실패할 수 있습니다. 순서도 중요합니다. RMAN이 auxiliary에 SYS로 원격 접속하려면 Standby에 이미 파일이 있어야 하고, 작업 중에는 RMAN이 Primary 파일로 다시 덮어씁니다. 운영 중 SYS 비밀번호를 바꾸면 이 복사를 다시 해야 전송이 끊기지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보는 분들은 파라미터 파일이 두 줄뿐이라는 데서 불안해합니다. 이 인스턴스는 RMAN이 접속할 대상 역할만 하면 되고, DUPLICATE의 SPFILE 절이 Primary의 SPFILE을 가져와 Standby용으로 고친 다음 그 파일로 인스턴스를 다시 띄웁니다. 그래서 여기 적은 값은 곧 사라집니다. DB_NAME은 Primary와 같은 값을 적어 두면 혼동이 적습니다. 공식 교재 예시는 DB_DOMAIN까지 두 줄을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convert 파라미터를 처음 쓰는 경우 경로를 바꿔 주면 디렉터리도 알아서 생길 거라고 기대하기 쉽지만 그렇지 않습니다. 문자열을 바꿔서 이름을 정할 뿐이고 그 이름의 디렉터리가 없으면 Standby 쪽에서 파일을 만들지 못해 실패합니다. CDB라면 PDB 시드와 PDB마다 하위 디렉터리가 있으니 Primary의 V$DATAFILE 목록을 보고 빠짐없이 만듭니다. 감사 디렉터리가 없으면 인스턴스 기동 단계부터 실패한다는 것도 같이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3장에서 정적 등록을 설정한 이유가 여기서 드러납니다. NOMOUNT 상태의 인스턴스는 동적 등록이 되더라도 BLOCKED 상태라 원격 접속을 받지 않고 ORA-12528을 돌려줍니다. 정적 등록한 SID_DESC 항목은 상태와 관계없이 접속을 받아 줍니다. 게다가 RMAN은 SPFILE을 만든 다음 auxiliary 인스턴스를 내렸다가 다시 올리는데, 내려간 인스턴스에 다시 붙는 길은 정적 등록뿐입니다. DUPLICATE 전에 원격 SYS 접속을 직접 한 번 해 보면 이런 문제를 미리 걸러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스크립트를 처음 보면 길어서 복잡해 보이지만 구조는 단순합니다. 채널을 할당하는 부분, 무엇을 어떤 방식으로 만들지 정하는 부분, Standby SPFILE을 어떻게 고칠지 정하는 부분, 마지막 옵션으로 나뉩니다. 이 중 실제로 환경마다 달라지는 곳은 SET 절의 값, 특히 경로와 이름입니다. 스크립트를 작성할 때는 Primary 파라미터 목록과 파일 경로 목록을 옆에 띄워 두고 한 줄씩 대조하면서 쓰는 방법을 권합니다.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target과 auxiliary라는 이름은 BR 과정의 DUPLICATE와 같습니다. Active DUPLICATE는 두 접속 모두 Oracle Net을 거쳐야 하므로 운영체제 인증으로는 할 수 없습니다. 카탈로그 없이 Primary 컨트롤 파일에 있는 RMAN 메타데이터만으로 충분합니다. auxiliary 채널은 Standby 쪽에서 SPFILE 복원, 컨트롤 파일 생성, 복구를 실제로 수행하는 프로세스라서 하나는 반드시 있어야 합니다. RUN 블록 없이 실행하면 CONFIGURE로 설정해 둔 병렬도가 자동 채널로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결과물은 같은데 전송 형태가 두 가지라는 것이 처음에는 낯설 수 있습니다. 예전 방식인 push는 target 쪽 채널이 데이터 파일을 이미지 사본으로 Standby에 보내고, 12c에서 들어온 pull은 Standby 쪽 채널이 target에서 백업 셋을 받아 가며 복원합니다. pull 방식이어야 압축과 멀티섹션을 쓸 수 있어서 큰 데이터베이스는 대개 pull로 갑니다. 로그에 backup set이라는 말이 보이면 pull 방식으로 돌고 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PARAMETER_VALUE_CONVERT는 편리하지만 문자열을 기계적으로 바꾸기만 합니다. Primary에서 Standby를 가리키려고 boston이라고 적어 둔 값은 바꿀 대상이 없어서 그대로 남고, 결과적으로 Standby의 FAL_SERVER가 자기 자신을 가리키게 됩니다. 이런 값은 SET 절에서 chicago로 다시 지정해야 합니다. 대소문자도 구분해서 경로에 Chicago처럼 대문자가 섞여 있으면 바뀌지 않습니다. 파일 경로 변환은 이 치환에 기대지 말고 SET으로 따로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절에는 Primary와 달라야 하는 값만 적습니다. 빠뜨렸을 때 어떻게 되는지를 같이 보면 각 항목이 왜 필요한지 이해가 쉽습니다. DB_UNIQUE_NAME을 빼면 Primary와 같은 이름의 Standby가 생겨 구성이 성립하지 않고, CONTROL_FILES를 빼면 Primary 경로에 컨트롤 파일을 만들려다 실패합니다. LOG_ARCHIVE_DEST_2는 지금 당장은 쓰이지 않지만 나중에 역할이 바뀌어 boston이 Primary가 됐을 때 chicago로 보낼 목적지입니다. 필요 없는 값은 RESET으로 지울 수도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복사가 한 시간 걸리면 그 한 시간 동안 Primary는 계속 바뀌니 첫 파일과 마지막 파일의 시점이 다릅니다. DORECOVER를 주면 RMAN이 그 사이의 아카이브 로그로 복구까지 해 두고, 빼면 이후 Redo Apply가 그 일을 넘겨받습니다. NOFILENAMECHECK는 별도 호스트에 똑같은 경로로 만들 때 필요한 옵션입니다. 경로를 바꾸는 방식에서는 원래 필요 없지만 습관처럼 넣는 경우가 많은데, 그러면 변환에서 빠진 파일을 RMAN이 알려 주지 않습니다. 같은 호스트 구성에서는 절대 쓰지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채널을 늘리면 빨라지는 것은 파일이 여러 개일 때 이야기입니다. 빅파일 테이블스페이스처럼 큰 파일 하나는 채널을 열 개 두어도 한 채널이 끝까지 붙잡고 있어서, SECTION SIZE로 파일을 잘게 나눠야 병렬 효과가 납니다. 압축은 원거리 Standby처럼 대역이 좁을 때 쓸모가 크고 대신 양쪽 CPU를 씁니다. 라이선스도 확인해야 합니다. RMAN의 BASIC 압축은 추가 옵션 없이 쓸 수 있지만 LOW, MEDIUM, HIGH는 Advanced Compression 옵션이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규칙은 간단합니다. 파일 이름에서 앞 문자열을 찾아 뒤 문자열로 바꾼 결과가 Standby 파일 이름입니다. 문제는 부분 문자열로 비교한다는 데서 생깁니다. oradata/chicago를 바꾸는 규칙은 oradata/chicago_old라는 디렉터리도 함께 바꿔 버리므로, 끝의 슬래시까지 넣어 경계를 분명히 하는 편이 안전합니다. 데이터 파일이 여러 마운트 지점에 흩어져 있으면 쌍도 그만큼 적고, 더 구체적인 경로를 앞에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convert 파라미터를 DUPLICATE 때만 쓰는 값으로 생각하면 나중에 곤란해집니다. SET 절로 넣은 값은 Standby SPFILE에 남아서, Primary에 데이터 파일이 추가될 때마다 Standby 쪽 이름을 정하는 데 계속 쓰입니다. 이 동작은 8장에서 자세히 봅니다. 그리고 역할이 바뀌어 chicago가 Standby가 되면 그때는 chicago의 convert 값이 쓰이므로, Primary에도 방향을 뒤집은 값을 미리 넣어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컨트롤 파일은 convert 규칙의 대상이 아니어서 CONTROL_FILES를 꼭 SET 절에 적어야 합니다. 온라인 로그는 조금 특이합니다. DUPLICATE가 끝난 직후에는 컨트롤 파일에 정의만 있고 실제 파일은 없다가, Redo Apply를 처음 시작하면 지워진 상태로 새로 만들어집니다. 이때 LOG_FILE_NAME_CONVERT로 정한 이름이 쓰입니다. SRL은 Primary에 미리 만들어 두었다면 DUPLICATE가 같은 개수와 크기로 만들어 주므로, 4장에서 Primary에 SRL을 먼저 만든 이유가 여기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convert 문자열은 ASM 디스크 그룹 이름에도 그대로 적용됩니다. Primary가 +DATA를 쓰고 Standby가 +SBDAT를 쓰면 그 두 문자열을 쌍으로 적으면 됩니다. OMF를 쓰는 Standby라면 이야기가 달라져서 convert 파라미터를 아예 설정하지 않고, DB_CREATE_FILE_DEST 아래에 오라클이 이름을 만들어 줍니다. 디렉터리를 일일이 맞출 필요가 없다는 장점이 있고, 두 방식의 장단점은 다음 장에서 나란히 비교합니다.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RMAN은 DUPLICATE를 받으면 내부적으로 메모리 스크립트를 여러 개 만들어 순서대로 실행합니다. 이 순서를 알면 로그가 길어도 지금 어디쯤인지 금방 찾을 수 있습니다. 앞쪽에서 SPFILE을 만들고 인스턴스를 재기동하는데, 정적 등록이 없으면 이 지점에서 멈춥니다. 컨트롤 파일은 계속 바뀌는 운영 파일 대신 스냅샷 파일을 떠서 그걸로 만듭니다. 끝나면 Standby는 마운트 상태로 남고 Redo Apply는 아직 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DUPLICATE가 실패하면 화면에 RMAN 오류가 여러 줄 쌓이는데, 맨 위의 RMAN-03002와 RMAN-05501은 복제가 실패했다는 결과만 말해 줍니다. 원인은 가장 아래쪽 ORA 오류에 있으니 거꾸로 올라가며 읽습니다. 그리고 바로 앞에 찍힌 메모리 스크립트 내용을 보면 몇 단계에서 멈췄는지가 보입니다. 채널이 여러 개면 파일 복사 로그의 input과 output 줄이 섞여 나오는 것이 정상이므로 파일 번호로 짝을 맞춰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보는 오류 번호를 하나하나 외우기보다 어느 단계의 문제인지 먼저 나누는 쪽이 진단이 빠릅니다. 접속 오류라면 패스워드 파일과 리스너를, 파일 이름 충돌이라면 SET 절의 convert 값을, 원격 서버 오류라면 Standby의 디렉터리와 alert 로그를 보는 식으로 확인할 곳이 정해집니다. 실패 대부분은 명령 자체보다 준비 단계의 빈틈에서 나오기 때문에, 5.4절의 시작 전 확인 목록이 사실상 예방책 역할을 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ORA-17628은 원격 서버가 돌려준 오류를 전달받았다는 표시입니다. Active DUPLICATE에서 파일을 만드는 쪽은 Standby이니 Primary 로그만 뒤지면 원인을 찾지 못하고, Standby alert 로그와 디렉터리를 봐야 합니다. RMAN-05001은 출력되는 파일 목록의 범위가 단서가 됩니다. 일부 파일만 나오면 그 파일들이 있는 경로의 쌍이 빠진 것이고, 전부 나오면 규칙이 통째로 적용되지 않은 것이라 대소문자나 SET 누락부터 의심합니다.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실패한 DUPLICATE는 만들다 만 파일을 그대로 두고 끝납니다. 다시 하려면 Standby 인스턴스를 내리고 데이터 파일, 컨트롤 파일, SPFILE을 지운 다음 처음 상태로 돌아가 NOMOUNT부터 반복합니다. SPFILE을 지우지 않으면 다음 기동 때 오라클이 PFILE보다 SPFILE을 먼저 찾아 읽어서 잘못된 값으로 뜰 수 있으니, 재기동 명령에는 PFILE 경로를 명시합니다. Primary는 읽히기만 하므로 여러 번 다시 해도 운영 데이터에는 영향이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Finished Duplicate Db가 나왔다고 끝난 것이 아니고, 먼저 V$DATABASE 한 줄로 정체성을 확인합니다. DBID가 Primary와 다르면 FOR STANDBY 없이 일반 복제를 한 것이니 뒤의 확인은 의미가 없습니다. 생성 후 SPFILE을 만들려다 ORA-32002를 만나는 경우가 있는데, DUPLICATE의 SPFILE 절이 이미 SPFILE을 만들고 그걸로 재기동해 두었기 때문입니다. SHOW PARAMETER spfile로 경로를 확인하면 충분하고 다시 만들 필요는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생성 전에 Primary에서 뽑아 둔 파일 목록과 파라미터 값을 여기서 기준값으로 씁니다. 데이터 파일은 개수와 번호가 같고 경로만 규칙대로 바뀌었는지 봅니다. SRL이 보이지 않으면 Primary에 SRL이 없었던 것이므로 Standby에 직접 추가합니다. 파라미터는 PARAMETER_VALUE_CONVERT가 엉뚱하게 바꿨거나 바꾸지 못한 값이 남기 쉬운 FAL_SERVER와 LOG_ARCHIVE_DEST_1, LOG_ARCHIVE_DEST_2를 특히 꼼꼼히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Standby가 없는 동안 Primary의 전송 목적지를 DEFER로 두었다면 이제 ENABLE로 바꾸고 로그 전환을 한 번 일으켜 상태가 VALID인지 봅니다. 그다음 Standby에서 Redo Apply를 기동합니다. 기동 명령의 옵션, 실시간 적용, 갭 해소는 7장에서 자세히 다룹니다. 라이선스는 여기서 확실히 해 둡니다. 적용을 켠 채 READ ONLY로 여는 실시간 조회는 Active Data Guard 옵션이 있어야 하므로, 옵션이 없는 사이트라면 생성 직후 습관처럼 OPEN하지 않도록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확인은 모두 메타데이터를 본 것이고, DBMS_DBCOMP는 실제 블록 내용을 맞춰 봅니다. lost write 같은 물리적 불일치를 찾는 용도로도 씁니다. 자주 틀리는 부분은 두 번째 인자입니다. 이름이 디렉터리처럼 보이지만 디렉터리 객체가 아니라 출력 파일 이름 앞에 붙는 접두어이고, 보고서는 ORACLE_HOME 아래 dbs 디렉터리에 생깁니다. 전체 파일 비교는 양쪽에 I/O 부담이 크니 생성 직후라면 작은 파일 몇 개로 충분합니다.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Standby를 다시 만들어야 하는 날은 대개 장애가 난 날입니다. 그때 스크립트를 처음부터 다시 쓰지 않도록 실행했던 스크립트와 convert 규칙을 구성 문서와 함께 보관해 둡니다. Primary에 새 마운트 지점이나 PDB 디렉터리가 생기면 Standby의 convert 값과 디렉터리를 같이 갱신하지 않는 한 다음 파일 추가 때 Redo Apply가 멈춥니다. 생성 작업 동안 쌓인 아카이브 로그는 Standby가 받아 갈 때까지 지우면 안 되니 삭제 정책도 미리 확인합니다.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Physical Standby 생성 ① RMAN DUPLICATE</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경로 지정 방식으로 Standby를 만드는 전체 과정</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제5장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Standby가 Primary와 공유하는 것과 달라야 하는 것을 구분한다</a:t>
            </a:r>
          </a:p>
          <a:p>
            <a:pPr algn="l">
              <a:spcAft>
                <a:spcPts val="1000"/>
              </a:spcAft>
            </a:pPr>
            <a:r>
              <a:rPr sz="1600" b="0">
                <a:solidFill>
                  <a:srgbClr val="222222"/>
                </a:solidFill>
                <a:latin typeface="맑은 고딕"/>
              </a:rPr>
              <a:t>•  Standby 생성 방법들을 비교하고 상황에 맞게 고른다</a:t>
            </a:r>
          </a:p>
          <a:p>
            <a:pPr algn="l">
              <a:spcAft>
                <a:spcPts val="1000"/>
              </a:spcAft>
            </a:pPr>
            <a:r>
              <a:rPr sz="1600" b="0">
                <a:solidFill>
                  <a:srgbClr val="222222"/>
                </a:solidFill>
                <a:latin typeface="맑은 고딕"/>
              </a:rPr>
              <a:t>•  패스워드 파일, 최소 pfile, NOMOUNT 기동의 이유를 설명한다</a:t>
            </a:r>
          </a:p>
          <a:p>
            <a:pPr algn="l">
              <a:spcAft>
                <a:spcPts val="1000"/>
              </a:spcAft>
            </a:pPr>
            <a:r>
              <a:rPr sz="1600" b="0">
                <a:solidFill>
                  <a:srgbClr val="222222"/>
                </a:solidFill>
                <a:latin typeface="맑은 고딕"/>
              </a:rPr>
              <a:t>•  DUPLICATE FOR STANDBY의 각 절과 옵션을 해석한다</a:t>
            </a:r>
          </a:p>
          <a:p>
            <a:pPr algn="l">
              <a:spcAft>
                <a:spcPts val="1000"/>
              </a:spcAft>
            </a:pPr>
            <a:r>
              <a:rPr sz="1600" b="0">
                <a:solidFill>
                  <a:srgbClr val="222222"/>
                </a:solidFill>
                <a:latin typeface="맑은 고딕"/>
              </a:rPr>
              <a:t>•  convert 파라미터로 Standby 경로를 설계한다</a:t>
            </a:r>
          </a:p>
          <a:p>
            <a:pPr algn="l">
              <a:spcAft>
                <a:spcPts val="1000"/>
              </a:spcAft>
            </a:pPr>
            <a:r>
              <a:rPr sz="1600" b="0">
                <a:solidFill>
                  <a:srgbClr val="222222"/>
                </a:solidFill>
                <a:latin typeface="맑은 고딕"/>
              </a:rPr>
              <a:t>•  실패 원인을 분류하고 생성 후 확인 순서를 따른다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5.2  Standby 생성이라는 작업의 성격  /  5.3  Standby를 만드는 방법들</a:t>
            </a:r>
          </a:p>
          <a:p>
            <a:pPr algn="l">
              <a:spcAft>
                <a:spcPts val="1000"/>
              </a:spcAft>
            </a:pPr>
            <a:r>
              <a:rPr sz="1600" b="0">
                <a:solidFill>
                  <a:srgbClr val="222222"/>
                </a:solidFill>
                <a:latin typeface="맑은 고딕"/>
              </a:rPr>
              <a:t>•  5.4  생성 전체 흐름  /  5.5  Standby 인스턴스 준비</a:t>
            </a:r>
          </a:p>
          <a:p>
            <a:pPr algn="l">
              <a:spcAft>
                <a:spcPts val="1000"/>
              </a:spcAft>
            </a:pPr>
            <a:r>
              <a:rPr sz="1600" b="0">
                <a:solidFill>
                  <a:srgbClr val="222222"/>
                </a:solidFill>
                <a:latin typeface="맑은 고딕"/>
              </a:rPr>
              <a:t>•  5.6  DUPLICATE ... FOR STANDBY 명령 구성</a:t>
            </a:r>
          </a:p>
          <a:p>
            <a:pPr algn="l">
              <a:spcAft>
                <a:spcPts val="1000"/>
              </a:spcAft>
            </a:pPr>
            <a:r>
              <a:rPr sz="1600" b="0">
                <a:solidFill>
                  <a:srgbClr val="222222"/>
                </a:solidFill>
                <a:latin typeface="맑은 고딕"/>
              </a:rPr>
              <a:t>•  5.7  경로 지정: DB_FILE_NAME_CONVERT와 LOG_FILE_NAME_CONVERT</a:t>
            </a:r>
          </a:p>
          <a:p>
            <a:pPr algn="l">
              <a:spcAft>
                <a:spcPts val="1000"/>
              </a:spcAft>
            </a:pPr>
            <a:r>
              <a:rPr sz="1600" b="0">
                <a:solidFill>
                  <a:srgbClr val="222222"/>
                </a:solidFill>
                <a:latin typeface="맑은 고딕"/>
              </a:rPr>
              <a:t>•  5.8  내부 단계  /  5.9  흔한 실패 원인 분류</a:t>
            </a:r>
          </a:p>
          <a:p>
            <a:pPr algn="l">
              <a:spcAft>
                <a:spcPts val="1000"/>
              </a:spcAft>
            </a:pPr>
            <a:r>
              <a:rPr sz="1600" b="0">
                <a:solidFill>
                  <a:srgbClr val="222222"/>
                </a:solidFill>
                <a:latin typeface="맑은 고딕"/>
              </a:rPr>
              <a:t>•  5.10  생성 후 확인과 Redo Apply 연결  /  5.11  운영 시 주의점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Standby 생성이라는 작업의 성격</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Primary의 블록 사본으로서의 Standby</a:t>
            </a:r>
          </a:p>
          <a:p>
            <a:pPr algn="l">
              <a:spcAft>
                <a:spcPts val="800"/>
              </a:spcAft>
            </a:pPr>
            <a:r>
              <a:rPr sz="1600" b="0">
                <a:solidFill>
                  <a:srgbClr val="FFFFFF"/>
                </a:solidFill>
                <a:latin typeface="맑은 고딕"/>
              </a:rPr>
              <a:t>•  BR 과정의 DUPLICATE와 다른 점</a:t>
            </a:r>
          </a:p>
          <a:p>
            <a:pPr algn="l">
              <a:spcAft>
                <a:spcPts val="800"/>
              </a:spcAft>
            </a:pPr>
            <a:r>
              <a:rPr sz="1600" b="0">
                <a:solidFill>
                  <a:srgbClr val="FFFFFF"/>
                </a:solidFill>
                <a:latin typeface="맑은 고딕"/>
              </a:rPr>
              <a:t>•  만들어야 하는 재료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물리 Standby는 Primary의 블록 사본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같아야 하는 것과 달라야 하는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DBID, DB_NAME: Primary와 같음</a:t>
            </a:r>
          </a:p>
          <a:p>
            <a:pPr algn="l">
              <a:spcAft>
                <a:spcPts val="1000"/>
              </a:spcAft>
            </a:pPr>
            <a:r>
              <a:rPr sz="1700" b="0">
                <a:solidFill>
                  <a:srgbClr val="222222"/>
                </a:solidFill>
                <a:latin typeface="맑은 고딕"/>
              </a:rPr>
              <a:t>•  DB_UNIQUE_NAME: 반드시 다름 (chicago / boston)</a:t>
            </a:r>
          </a:p>
          <a:p>
            <a:pPr algn="l">
              <a:spcAft>
                <a:spcPts val="1000"/>
              </a:spcAft>
            </a:pPr>
            <a:r>
              <a:rPr sz="1700" b="0">
                <a:solidFill>
                  <a:srgbClr val="222222"/>
                </a:solidFill>
                <a:latin typeface="맑은 고딕"/>
              </a:rPr>
              <a:t>•  컨트롤 파일: STANDBY 종류</a:t>
            </a:r>
          </a:p>
          <a:p>
            <a:pPr algn="l">
              <a:spcAft>
                <a:spcPts val="1000"/>
              </a:spcAft>
            </a:pPr>
            <a:r>
              <a:rPr sz="1700" b="0">
                <a:solidFill>
                  <a:srgbClr val="222222"/>
                </a:solidFill>
                <a:latin typeface="맑은 고딕"/>
              </a:rPr>
              <a:t>•  ORACLE_SID: Standby 고유 (orapw, spfile 이름과 연결)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 과정의 DUPLICATE와 무엇이 다른가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같은 명령의 변형, 다른 목적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일반 DUPLICATE: 새 DBID, RESETLOGS로 OPEN</a:t>
            </a:r>
          </a:p>
          <a:p>
            <a:pPr algn="l">
              <a:spcAft>
                <a:spcPts val="1000"/>
              </a:spcAft>
            </a:pPr>
            <a:r>
              <a:rPr sz="1700" b="0">
                <a:solidFill>
                  <a:srgbClr val="222222"/>
                </a:solidFill>
                <a:latin typeface="맑은 고딕"/>
              </a:rPr>
              <a:t>•  FOR STANDBY: 같은 DBID, MOUNT 상태로 멈춤</a:t>
            </a:r>
          </a:p>
          <a:p>
            <a:pPr algn="l">
              <a:spcAft>
                <a:spcPts val="1000"/>
              </a:spcAft>
            </a:pPr>
            <a:r>
              <a:rPr sz="1700" b="0">
                <a:solidFill>
                  <a:srgbClr val="222222"/>
                </a:solidFill>
                <a:latin typeface="맑은 고딕"/>
              </a:rPr>
              <a:t>•  일반 복제는 원본과 관계가 끊김</a:t>
            </a:r>
          </a:p>
          <a:p>
            <a:pPr algn="l">
              <a:spcAft>
                <a:spcPts val="1000"/>
              </a:spcAft>
            </a:pPr>
            <a:r>
              <a:rPr sz="1700" b="0">
                <a:solidFill>
                  <a:srgbClr val="222222"/>
                </a:solidFill>
                <a:latin typeface="맑은 고딕"/>
              </a:rPr>
              <a:t>•  Standby는 복제 이후 리두로 계속 연결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만들어야 하는 재료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방법이 달라도 결과물은 같다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데이터 파일 사본 (퍼지 상태, 리두로 맞춤)</a:t>
            </a:r>
          </a:p>
          <a:p>
            <a:pPr algn="l">
              <a:spcAft>
                <a:spcPts val="1000"/>
              </a:spcAft>
            </a:pPr>
            <a:r>
              <a:rPr sz="1700" b="0">
                <a:solidFill>
                  <a:srgbClr val="222222"/>
                </a:solidFill>
                <a:latin typeface="맑은 고딕"/>
              </a:rPr>
              <a:t>•  Standby 컨트롤 파일</a:t>
            </a:r>
          </a:p>
          <a:p>
            <a:pPr algn="l">
              <a:spcAft>
                <a:spcPts val="1000"/>
              </a:spcAft>
            </a:pPr>
            <a:r>
              <a:rPr sz="1700" b="0">
                <a:solidFill>
                  <a:srgbClr val="222222"/>
                </a:solidFill>
                <a:latin typeface="맑은 고딕"/>
              </a:rPr>
              <a:t>•  Standby용 SPFILE</a:t>
            </a:r>
          </a:p>
          <a:p>
            <a:pPr algn="l">
              <a:spcAft>
                <a:spcPts val="1000"/>
              </a:spcAft>
            </a:pPr>
            <a:r>
              <a:rPr sz="1700" b="0">
                <a:solidFill>
                  <a:srgbClr val="222222"/>
                </a:solidFill>
                <a:latin typeface="맑은 고딕"/>
              </a:rPr>
              <a:t>•  Primary와 같은 패스워드 파일</a:t>
            </a:r>
          </a:p>
          <a:p>
            <a:pPr algn="l">
              <a:spcAft>
                <a:spcPts val="1000"/>
              </a:spcAft>
            </a:pPr>
            <a:r>
              <a:rPr sz="1700" b="0">
                <a:solidFill>
                  <a:srgbClr val="222222"/>
                </a:solidFill>
                <a:latin typeface="맑은 고딕"/>
              </a:rPr>
              <a:t>•  Standby Redo Log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Standby를 만드는 방법들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Active DUPLICATE와 백업 기반 DUPLICATE</a:t>
            </a:r>
          </a:p>
          <a:p>
            <a:pPr algn="l">
              <a:spcAft>
                <a:spcPts val="800"/>
              </a:spcAft>
            </a:pPr>
            <a:r>
              <a:rPr sz="1600" b="0">
                <a:solidFill>
                  <a:srgbClr val="FFFFFF"/>
                </a:solidFill>
                <a:latin typeface="맑은 고딕"/>
              </a:rPr>
              <a:t>•  수동 복원 방식</a:t>
            </a:r>
          </a:p>
          <a:p>
            <a:pPr algn="l">
              <a:spcAft>
                <a:spcPts val="800"/>
              </a:spcAft>
            </a:pPr>
            <a:r>
              <a:rPr sz="1600" b="0">
                <a:solidFill>
                  <a:srgbClr val="FFFFFF"/>
                </a:solidFill>
                <a:latin typeface="맑은 고딕"/>
              </a:rPr>
              <a:t>•  DBCA, Enterprise Manager</a:t>
            </a:r>
          </a:p>
          <a:p>
            <a:pPr algn="l">
              <a:spcAft>
                <a:spcPts val="800"/>
              </a:spcAft>
            </a:pPr>
            <a:r>
              <a:rPr sz="1600" b="0">
                <a:solidFill>
                  <a:srgbClr val="FFFFFF"/>
                </a:solidFill>
                <a:latin typeface="맑은 고딕"/>
              </a:rPr>
              <a:t>•  선택 기준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RMAN DUPLICATE FROM ACTIVE DATABASE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 과정의 기준 방법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운영 중인 Primary 파일을 네트워크로 직접 복사</a:t>
            </a:r>
          </a:p>
          <a:p>
            <a:pPr algn="l">
              <a:spcAft>
                <a:spcPts val="1000"/>
              </a:spcAft>
            </a:pPr>
            <a:r>
              <a:rPr sz="1700" b="0">
                <a:solidFill>
                  <a:srgbClr val="222222"/>
                </a:solidFill>
                <a:latin typeface="맑은 고딕"/>
              </a:rPr>
              <a:t>•  미리 받아 둔 백업이 필요 없음</a:t>
            </a:r>
          </a:p>
          <a:p>
            <a:pPr algn="l">
              <a:spcAft>
                <a:spcPts val="1000"/>
              </a:spcAft>
            </a:pPr>
            <a:r>
              <a:rPr sz="1700" b="0">
                <a:solidFill>
                  <a:srgbClr val="222222"/>
                </a:solidFill>
                <a:latin typeface="맑은 고딕"/>
              </a:rPr>
              <a:t>•  target과 auxiliary에 동시 접속</a:t>
            </a:r>
          </a:p>
          <a:p>
            <a:pPr algn="l">
              <a:spcAft>
                <a:spcPts val="1000"/>
              </a:spcAft>
            </a:pPr>
            <a:r>
              <a:rPr sz="1700" b="0">
                <a:solidFill>
                  <a:srgbClr val="222222"/>
                </a:solidFill>
                <a:latin typeface="맑은 고딕"/>
              </a:rPr>
              <a:t>•  복사 동안 Primary I/O와 네트워크 사용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백업 기반 DUPLICATE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Primary 부하를 생성 작업에서 떼어 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FROM ACTIVE DATABASE 없이 기존 백업에서 복원</a:t>
            </a:r>
          </a:p>
          <a:p>
            <a:pPr algn="l">
              <a:spcAft>
                <a:spcPts val="1000"/>
              </a:spcAft>
            </a:pPr>
            <a:r>
              <a:rPr sz="1700" b="0">
                <a:solidFill>
                  <a:srgbClr val="222222"/>
                </a:solidFill>
                <a:latin typeface="맑은 고딕"/>
              </a:rPr>
              <a:t>•  복원은 Standby 호스트에서 일어남</a:t>
            </a:r>
          </a:p>
          <a:p>
            <a:pPr algn="l">
              <a:spcAft>
                <a:spcPts val="1000"/>
              </a:spcAft>
            </a:pPr>
            <a:r>
              <a:rPr sz="1700" b="0">
                <a:solidFill>
                  <a:srgbClr val="222222"/>
                </a:solidFill>
                <a:latin typeface="맑은 고딕"/>
              </a:rPr>
              <a:t>•  백업 파일에 Standby가 접근할 수 있어야 함</a:t>
            </a:r>
          </a:p>
          <a:p>
            <a:pPr algn="l">
              <a:spcAft>
                <a:spcPts val="1000"/>
              </a:spcAft>
            </a:pPr>
            <a:r>
              <a:rPr sz="1700" b="0">
                <a:solidFill>
                  <a:srgbClr val="222222"/>
                </a:solidFill>
                <a:latin typeface="맑은 고딕"/>
              </a:rPr>
              <a:t>•  대용량, 느린 WAN, 정기 백업 재활용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수동 복원 방식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DUPLICATE가 자동화한 일을 손으로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CREATE STANDBY CONTROLFILE로 컨트롤 파일 생성</a:t>
            </a:r>
          </a:p>
          <a:p>
            <a:pPr algn="l">
              <a:spcAft>
                <a:spcPts val="1000"/>
              </a:spcAft>
            </a:pPr>
            <a:r>
              <a:rPr sz="1700" b="0">
                <a:solidFill>
                  <a:srgbClr val="222222"/>
                </a:solidFill>
                <a:latin typeface="맑은 고딕"/>
              </a:rPr>
              <a:t>•  CREATE PFILE FROM SPFILE 후 값 수정</a:t>
            </a:r>
          </a:p>
          <a:p>
            <a:pPr algn="l">
              <a:spcAft>
                <a:spcPts val="1000"/>
              </a:spcAft>
            </a:pPr>
            <a:r>
              <a:rPr sz="1700" b="0">
                <a:solidFill>
                  <a:srgbClr val="222222"/>
                </a:solidFill>
                <a:latin typeface="맑은 고딕"/>
              </a:rPr>
              <a:t>•  백업을 Standby로 옮겨 복원</a:t>
            </a:r>
          </a:p>
          <a:p>
            <a:pPr algn="l">
              <a:spcAft>
                <a:spcPts val="1000"/>
              </a:spcAft>
            </a:pPr>
            <a:r>
              <a:rPr sz="1700" b="0">
                <a:solidFill>
                  <a:srgbClr val="222222"/>
                </a:solidFill>
                <a:latin typeface="맑은 고딕"/>
              </a:rPr>
              <a:t>•  ASM이면 데이터 파일 추출에 RMAN 필요</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DBCA와 Enterprise Manager</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더 높은 자동화, 더 좁은 적용 범위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dbca -createDuplicateDB -createAsStandby</a:t>
            </a:r>
          </a:p>
          <a:p>
            <a:pPr algn="l">
              <a:spcAft>
                <a:spcPts val="1000"/>
              </a:spcAft>
            </a:pPr>
            <a:r>
              <a:rPr sz="1700" b="0">
                <a:solidFill>
                  <a:srgbClr val="222222"/>
                </a:solidFill>
                <a:latin typeface="맑은 고딕"/>
              </a:rPr>
              <a:t>•  교재 기준 비 CDB, 단일 인스턴스 Primary 대상</a:t>
            </a:r>
          </a:p>
          <a:p>
            <a:pPr algn="l">
              <a:spcAft>
                <a:spcPts val="1000"/>
              </a:spcAft>
            </a:pPr>
            <a:r>
              <a:rPr sz="1700" b="0">
                <a:solidFill>
                  <a:srgbClr val="222222"/>
                </a:solidFill>
                <a:latin typeface="맑은 고딕"/>
              </a:rPr>
              <a:t>•  DBCA는 Standby만 만들고 Primary 설정은 안 함</a:t>
            </a:r>
          </a:p>
          <a:p>
            <a:pPr algn="l">
              <a:spcAft>
                <a:spcPts val="1000"/>
              </a:spcAft>
            </a:pPr>
            <a:r>
              <a:rPr sz="1700" b="0">
                <a:solidFill>
                  <a:srgbClr val="222222"/>
                </a:solidFill>
                <a:latin typeface="맑은 고딕"/>
              </a:rPr>
              <a:t>•  EM 마법사는 SRL, Broker 구성까지 처리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방법 선택 기준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데이터 출처, Primary 부하, 자동화 정도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일반적인 신규 구축: Active DUPLICATE</a:t>
            </a:r>
          </a:p>
          <a:p>
            <a:pPr algn="l">
              <a:spcAft>
                <a:spcPts val="1000"/>
              </a:spcAft>
            </a:pPr>
            <a:r>
              <a:rPr sz="1700" b="0">
                <a:solidFill>
                  <a:srgbClr val="222222"/>
                </a:solidFill>
                <a:latin typeface="맑은 고딕"/>
              </a:rPr>
              <a:t>•  대용량, 좁은 대역: 백업 기반 DUPLICATE</a:t>
            </a:r>
          </a:p>
          <a:p>
            <a:pPr algn="l">
              <a:spcAft>
                <a:spcPts val="1000"/>
              </a:spcAft>
            </a:pPr>
            <a:r>
              <a:rPr sz="1700" b="0">
                <a:solidFill>
                  <a:srgbClr val="222222"/>
                </a:solidFill>
                <a:latin typeface="맑은 고딕"/>
              </a:rPr>
              <a:t>•  비 CDB를 빠르게: DBCA</a:t>
            </a:r>
          </a:p>
          <a:p>
            <a:pPr algn="l">
              <a:spcAft>
                <a:spcPts val="1000"/>
              </a:spcAft>
            </a:pPr>
            <a:r>
              <a:rPr sz="1700" b="0">
                <a:solidFill>
                  <a:srgbClr val="222222"/>
                </a:solidFill>
                <a:latin typeface="맑은 고딕"/>
              </a:rPr>
              <a:t>•  EM 운영 조직: Add Standby Database 마법사</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생성 전체 흐름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시작 전에 갖춰져 있어야 하는 것</a:t>
            </a:r>
          </a:p>
          <a:p>
            <a:pPr algn="l">
              <a:spcAft>
                <a:spcPts val="800"/>
              </a:spcAft>
            </a:pPr>
            <a:r>
              <a:rPr sz="1600" b="0">
                <a:solidFill>
                  <a:srgbClr val="FFFFFF"/>
                </a:solidFill>
                <a:latin typeface="맑은 고딕"/>
              </a:rPr>
              <a:t>•  위치별로 할 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시작 전 확인 목록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3장과 4장에서 만든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ARCHIVELOG, FORCE LOGGING, Primary SRL</a:t>
            </a:r>
          </a:p>
          <a:p>
            <a:pPr algn="l">
              <a:spcAft>
                <a:spcPts val="1000"/>
              </a:spcAft>
            </a:pPr>
            <a:r>
              <a:rPr sz="1700" b="0">
                <a:solidFill>
                  <a:srgbClr val="222222"/>
                </a:solidFill>
                <a:latin typeface="맑은 고딕"/>
              </a:rPr>
              <a:t>•  LOG_ARCHIVE_CONFIG, LOG_ARCHIVE_DEST_2</a:t>
            </a:r>
          </a:p>
          <a:p>
            <a:pPr algn="l">
              <a:spcAft>
                <a:spcPts val="1000"/>
              </a:spcAft>
            </a:pPr>
            <a:r>
              <a:rPr sz="1700" b="0">
                <a:solidFill>
                  <a:srgbClr val="222222"/>
                </a:solidFill>
                <a:latin typeface="맑은 고딕"/>
              </a:rPr>
              <a:t>•  REMOTE_LOGIN_PASSWORDFILE=EXCLUSIVE</a:t>
            </a:r>
          </a:p>
          <a:p>
            <a:pPr algn="l">
              <a:spcAft>
                <a:spcPts val="1000"/>
              </a:spcAft>
            </a:pPr>
            <a:r>
              <a:rPr sz="1700" b="0">
                <a:solidFill>
                  <a:srgbClr val="222222"/>
                </a:solidFill>
                <a:latin typeface="맑은 고딕"/>
              </a:rPr>
              <a:t>•  양쪽 tnsnames.ora, Standby 리스너 정적 등록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위치별로 할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Primary, Standby, RMAN 실행 위치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패스워드 파일 복사, 전송 확인</a:t>
            </a:r>
          </a:p>
          <a:p>
            <a:pPr algn="l">
              <a:spcAft>
                <a:spcPts val="1000"/>
              </a:spcAft>
            </a:pPr>
            <a:r>
              <a:rPr sz="1700" b="0">
                <a:solidFill>
                  <a:srgbClr val="222222"/>
                </a:solidFill>
                <a:latin typeface="맑은 고딕"/>
              </a:rPr>
              <a:t>•  Standby: 디렉터리, 최소 pfile, NOMOUNT 기동</a:t>
            </a:r>
          </a:p>
          <a:p>
            <a:pPr algn="l">
              <a:spcAft>
                <a:spcPts val="1000"/>
              </a:spcAft>
            </a:pPr>
            <a:r>
              <a:rPr sz="1700" b="0">
                <a:solidFill>
                  <a:srgbClr val="222222"/>
                </a:solidFill>
                <a:latin typeface="맑은 고딕"/>
              </a:rPr>
              <a:t>•  RMAN: 양쪽 접속 확인 후 DUPLICATE 실행</a:t>
            </a:r>
          </a:p>
          <a:p>
            <a:pPr algn="l">
              <a:spcAft>
                <a:spcPts val="1000"/>
              </a:spcAft>
            </a:pPr>
            <a:r>
              <a:rPr sz="1700" b="0">
                <a:solidFill>
                  <a:srgbClr val="222222"/>
                </a:solidFill>
                <a:latin typeface="맑은 고딕"/>
              </a:rPr>
              <a:t>•  RMAN은 어느 호스트에서 실행해도 됨</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Standby 인스턴스 준비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패스워드 파일 복사</a:t>
            </a:r>
          </a:p>
          <a:p>
            <a:pPr algn="l">
              <a:spcAft>
                <a:spcPts val="800"/>
              </a:spcAft>
            </a:pPr>
            <a:r>
              <a:rPr sz="1600" b="0">
                <a:solidFill>
                  <a:srgbClr val="FFFFFF"/>
                </a:solidFill>
                <a:latin typeface="맑은 고딕"/>
              </a:rPr>
              <a:t>•  최소 초기 파라미터 파일과 디렉터리</a:t>
            </a:r>
          </a:p>
          <a:p>
            <a:pPr algn="l">
              <a:spcAft>
                <a:spcPts val="800"/>
              </a:spcAft>
            </a:pPr>
            <a:r>
              <a:rPr sz="1600" b="0">
                <a:solidFill>
                  <a:srgbClr val="FFFFFF"/>
                </a:solidFill>
                <a:latin typeface="맑은 고딕"/>
              </a:rPr>
              <a:t>•  NOMOUNT 기동과 원격 접속</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패스워드 파일 복사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orapwd로 새로 만들지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Primary의 orapw 파일을 orapwboston으로 복사</a:t>
            </a:r>
          </a:p>
          <a:p>
            <a:pPr algn="l">
              <a:spcAft>
                <a:spcPts val="1000"/>
              </a:spcAft>
            </a:pPr>
            <a:r>
              <a:rPr sz="1700" b="0">
                <a:solidFill>
                  <a:srgbClr val="222222"/>
                </a:solidFill>
                <a:latin typeface="맑은 고딕"/>
              </a:rPr>
              <a:t>•  같은 비밀번호로 새로 만든 파일은 피함</a:t>
            </a:r>
          </a:p>
          <a:p>
            <a:pPr algn="l">
              <a:spcAft>
                <a:spcPts val="1000"/>
              </a:spcAft>
            </a:pPr>
            <a:r>
              <a:rPr sz="1700" b="0">
                <a:solidFill>
                  <a:srgbClr val="222222"/>
                </a:solidFill>
                <a:latin typeface="맑은 고딕"/>
              </a:rPr>
              <a:t>•  auxiliary 접속을 위해 DUPLICATE 전에 필요</a:t>
            </a:r>
          </a:p>
          <a:p>
            <a:pPr algn="l">
              <a:spcAft>
                <a:spcPts val="1000"/>
              </a:spcAft>
            </a:pPr>
            <a:r>
              <a:rPr sz="1700" b="0">
                <a:solidFill>
                  <a:srgbClr val="222222"/>
                </a:solidFill>
                <a:latin typeface="맑은 고딕"/>
              </a:rPr>
              <a:t>•  DUPLICATE가 실행 중 Primary 파일로 다시 덮어씀</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최소 초기 파라미터 파일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DB_NAME 한 줄이면 충분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NOMOUNT 기동에 필요한 최소 값만 기록</a:t>
            </a:r>
          </a:p>
          <a:p>
            <a:pPr algn="l">
              <a:spcAft>
                <a:spcPts val="1000"/>
              </a:spcAft>
            </a:pPr>
            <a:r>
              <a:rPr sz="1700" b="0">
                <a:solidFill>
                  <a:srgbClr val="222222"/>
                </a:solidFill>
                <a:latin typeface="맑은 고딕"/>
              </a:rPr>
              <a:t>•  메모리 값이 없으면 기본 SGA로 기동</a:t>
            </a:r>
          </a:p>
          <a:p>
            <a:pPr algn="l">
              <a:spcAft>
                <a:spcPts val="1000"/>
              </a:spcAft>
            </a:pPr>
            <a:r>
              <a:rPr sz="1700" b="0">
                <a:solidFill>
                  <a:srgbClr val="222222"/>
                </a:solidFill>
                <a:latin typeface="맑은 고딕"/>
              </a:rPr>
              <a:t>•  SPFILE 절이 Primary 값으로 모두 대체</a:t>
            </a:r>
          </a:p>
          <a:p>
            <a:pPr algn="l">
              <a:spcAft>
                <a:spcPts val="1000"/>
              </a:spcAft>
            </a:pPr>
            <a:r>
              <a:rPr sz="1700" b="0">
                <a:solidFill>
                  <a:srgbClr val="222222"/>
                </a:solidFill>
                <a:latin typeface="맑은 고딕"/>
              </a:rPr>
              <a:t>•  CDB 복제 시 enable_pluggable_database=true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디렉터리 준비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convert는 이름만 바꾸고 디렉터리는 만들지 않음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데이터 파일: 루트, PDB 시드, 각 PDB 하위까지</a:t>
            </a:r>
          </a:p>
          <a:p>
            <a:pPr algn="l">
              <a:spcAft>
                <a:spcPts val="1000"/>
              </a:spcAft>
            </a:pPr>
            <a:r>
              <a:rPr sz="1700" b="0">
                <a:solidFill>
                  <a:srgbClr val="222222"/>
                </a:solidFill>
                <a:latin typeface="맑은 고딕"/>
              </a:rPr>
              <a:t>•  컨트롤 파일, 온라인 로그 위치</a:t>
            </a:r>
          </a:p>
          <a:p>
            <a:pPr algn="l">
              <a:spcAft>
                <a:spcPts val="1000"/>
              </a:spcAft>
            </a:pPr>
            <a:r>
              <a:rPr sz="1700" b="0">
                <a:solidFill>
                  <a:srgbClr val="222222"/>
                </a:solidFill>
                <a:latin typeface="맑은 고딕"/>
              </a:rPr>
              <a:t>•  AUDIT_FILE_DEST, FRA</a:t>
            </a:r>
          </a:p>
          <a:p>
            <a:pPr algn="l">
              <a:spcAft>
                <a:spcPts val="1000"/>
              </a:spcAft>
            </a:pPr>
            <a:r>
              <a:rPr sz="1700" b="0">
                <a:solidFill>
                  <a:srgbClr val="222222"/>
                </a:solidFill>
                <a:latin typeface="맑은 고딕"/>
              </a:rPr>
              <a:t>•  없으면 파일 생성 단계에서 실패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NOMOUNT 기동과 원격 접속</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정적 등록이 필요한 이유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ORACLE_SID=boston 지정 후 STARTUP NOMOUNT</a:t>
            </a:r>
          </a:p>
          <a:p>
            <a:pPr algn="l">
              <a:spcAft>
                <a:spcPts val="1000"/>
              </a:spcAft>
            </a:pPr>
            <a:r>
              <a:rPr sz="1700" b="0">
                <a:solidFill>
                  <a:srgbClr val="222222"/>
                </a:solidFill>
                <a:latin typeface="맑은 고딕"/>
              </a:rPr>
              <a:t>•  NOMOUNT 인스턴스는 리스너에서 BLOCKED</a:t>
            </a:r>
          </a:p>
          <a:p>
            <a:pPr algn="l">
              <a:spcAft>
                <a:spcPts val="1000"/>
              </a:spcAft>
            </a:pPr>
            <a:r>
              <a:rPr sz="1700" b="0">
                <a:solidFill>
                  <a:srgbClr val="222222"/>
                </a:solidFill>
                <a:latin typeface="맑은 고딕"/>
              </a:rPr>
              <a:t>•  서비스 접속 시 ORA-12528</a:t>
            </a:r>
          </a:p>
          <a:p>
            <a:pPr algn="l">
              <a:spcAft>
                <a:spcPts val="1000"/>
              </a:spcAft>
            </a:pPr>
            <a:r>
              <a:rPr sz="1700" b="0">
                <a:solidFill>
                  <a:srgbClr val="222222"/>
                </a:solidFill>
                <a:latin typeface="맑은 고딕"/>
              </a:rPr>
              <a:t>•  정적 등록은 DUPLICATE 중 재기동에도 필요</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DUPLICATE ... FOR STANDBY 명령 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접속과 채널, 파일 전송 방식</a:t>
            </a:r>
          </a:p>
          <a:p>
            <a:pPr algn="l">
              <a:spcAft>
                <a:spcPts val="800"/>
              </a:spcAft>
            </a:pPr>
            <a:r>
              <a:rPr sz="1600" b="0">
                <a:solidFill>
                  <a:srgbClr val="FFFFFF"/>
                </a:solidFill>
                <a:latin typeface="맑은 고딕"/>
              </a:rPr>
              <a:t>•  SPFILE 절, PARAMETER_VALUE_CONVERT, SET</a:t>
            </a:r>
          </a:p>
          <a:p>
            <a:pPr algn="l">
              <a:spcAft>
                <a:spcPts val="800"/>
              </a:spcAft>
            </a:pPr>
            <a:r>
              <a:rPr sz="1600" b="0">
                <a:solidFill>
                  <a:srgbClr val="FFFFFF"/>
                </a:solidFill>
                <a:latin typeface="맑은 고딕"/>
              </a:rPr>
              <a:t>•  DORECOVER, NOFILENAMECHECK</a:t>
            </a:r>
          </a:p>
          <a:p>
            <a:pPr algn="l">
              <a:spcAft>
                <a:spcPts val="800"/>
              </a:spcAft>
            </a:pPr>
            <a:r>
              <a:rPr sz="1600" b="0">
                <a:solidFill>
                  <a:srgbClr val="FFFFFF"/>
                </a:solidFill>
                <a:latin typeface="맑은 고딕"/>
              </a:rPr>
              <a:t>•  병렬 채널, SECTION SIZE, 압축</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명령의 전체 형태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한 명령에 Standby의 모양이 담김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RUN 블록: target 채널과 auxiliary 채널</a:t>
            </a:r>
          </a:p>
          <a:p>
            <a:pPr algn="l">
              <a:spcAft>
                <a:spcPts val="1000"/>
              </a:spcAft>
            </a:pPr>
            <a:r>
              <a:rPr sz="1700" b="0">
                <a:solidFill>
                  <a:srgbClr val="222222"/>
                </a:solidFill>
                <a:latin typeface="맑은 고딕"/>
              </a:rPr>
              <a:t>•  FOR STANDBY FROM ACTIVE DATABASE</a:t>
            </a:r>
          </a:p>
          <a:p>
            <a:pPr algn="l">
              <a:spcAft>
                <a:spcPts val="1000"/>
              </a:spcAft>
            </a:pPr>
            <a:r>
              <a:rPr sz="1700" b="0">
                <a:solidFill>
                  <a:srgbClr val="222222"/>
                </a:solidFill>
                <a:latin typeface="맑은 고딕"/>
              </a:rPr>
              <a:t>•  DORECOVER, SPFILE 절과 SET 절</a:t>
            </a:r>
          </a:p>
          <a:p>
            <a:pPr algn="l">
              <a:spcAft>
                <a:spcPts val="1000"/>
              </a:spcAft>
            </a:pPr>
            <a:r>
              <a:rPr sz="1700" b="0">
                <a:solidFill>
                  <a:srgbClr val="222222"/>
                </a:solidFill>
                <a:latin typeface="맑은 고딕"/>
              </a:rPr>
              <a:t>•  NOFILENAMECHECK로 마무리</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접속과 채널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target은 Primary, auxiliary는 Standby</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양쪽 모두 Oracle Net 서비스 이름으로 접속</a:t>
            </a:r>
          </a:p>
          <a:p>
            <a:pPr algn="l">
              <a:spcAft>
                <a:spcPts val="1000"/>
              </a:spcAft>
            </a:pPr>
            <a:r>
              <a:rPr sz="1700" b="0">
                <a:solidFill>
                  <a:srgbClr val="222222"/>
                </a:solidFill>
                <a:latin typeface="맑은 고딕"/>
              </a:rPr>
              <a:t>•  리커버리 카탈로그는 필수가 아님</a:t>
            </a:r>
          </a:p>
          <a:p>
            <a:pPr algn="l">
              <a:spcAft>
                <a:spcPts val="1000"/>
              </a:spcAft>
            </a:pPr>
            <a:r>
              <a:rPr sz="1700" b="0">
                <a:solidFill>
                  <a:srgbClr val="222222"/>
                </a:solidFill>
                <a:latin typeface="맑은 고딕"/>
              </a:rPr>
              <a:t>•  ALLOCATE CHANNEL은 target 쪽 프로세스</a:t>
            </a:r>
          </a:p>
          <a:p>
            <a:pPr algn="l">
              <a:spcAft>
                <a:spcPts val="1000"/>
              </a:spcAft>
            </a:pPr>
            <a:r>
              <a:rPr sz="1700" b="0">
                <a:solidFill>
                  <a:srgbClr val="222222"/>
                </a:solidFill>
                <a:latin typeface="맑은 고딕"/>
              </a:rPr>
              <a:t>•  auxiliary 채널은 최소 하나 필요</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파일 전송 방식: push와 pull</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12c 이후 Active DUPLICATE의 두 형태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push: target 채널이 이미지 사본을 밀어 보냄</a:t>
            </a:r>
          </a:p>
          <a:p>
            <a:pPr algn="l">
              <a:spcAft>
                <a:spcPts val="1000"/>
              </a:spcAft>
            </a:pPr>
            <a:r>
              <a:rPr sz="1700" b="0">
                <a:solidFill>
                  <a:srgbClr val="222222"/>
                </a:solidFill>
                <a:latin typeface="맑은 고딕"/>
              </a:rPr>
              <a:t>•  pull: auxiliary 채널이 백업 셋을 끌어옴</a:t>
            </a:r>
          </a:p>
          <a:p>
            <a:pPr algn="l">
              <a:spcAft>
                <a:spcPts val="1000"/>
              </a:spcAft>
            </a:pPr>
            <a:r>
              <a:rPr sz="1700" b="0">
                <a:solidFill>
                  <a:srgbClr val="222222"/>
                </a:solidFill>
                <a:latin typeface="맑은 고딕"/>
              </a:rPr>
              <a:t>•  USING BACKUPSET, SECTION SIZE 지정 시 pull</a:t>
            </a:r>
          </a:p>
          <a:p>
            <a:pPr algn="l">
              <a:spcAft>
                <a:spcPts val="1000"/>
              </a:spcAft>
            </a:pPr>
            <a:r>
              <a:rPr sz="1700" b="0">
                <a:solidFill>
                  <a:srgbClr val="222222"/>
                </a:solidFill>
                <a:latin typeface="맑은 고딕"/>
              </a:rPr>
              <a:t>•  auxiliary 채널 수가 target 이상이어도 pull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SPFILE 절과 PARAMETER_VALUE_CONVERT</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일괄 치환과 그 부작용</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SPFILE을 가져와 Standby용으로 생성</a:t>
            </a:r>
          </a:p>
          <a:p>
            <a:pPr algn="l">
              <a:spcAft>
                <a:spcPts val="1000"/>
              </a:spcAft>
            </a:pPr>
            <a:r>
              <a:rPr sz="1700" b="0">
                <a:solidFill>
                  <a:srgbClr val="222222"/>
                </a:solidFill>
                <a:latin typeface="맑은 고딕"/>
              </a:rPr>
              <a:t>•  문자열 값의 chicago를 boston으로 일괄 치환</a:t>
            </a:r>
          </a:p>
          <a:p>
            <a:pPr algn="l">
              <a:spcAft>
                <a:spcPts val="1000"/>
              </a:spcAft>
            </a:pPr>
            <a:r>
              <a:rPr sz="1700" b="0">
                <a:solidFill>
                  <a:srgbClr val="222222"/>
                </a:solidFill>
                <a:latin typeface="맑은 고딕"/>
              </a:rPr>
              <a:t>•  FAL_SERVER='boston'은 그대로 남음</a:t>
            </a:r>
          </a:p>
          <a:p>
            <a:pPr algn="l">
              <a:spcAft>
                <a:spcPts val="1000"/>
              </a:spcAft>
            </a:pPr>
            <a:r>
              <a:rPr sz="1700" b="0">
                <a:solidFill>
                  <a:srgbClr val="222222"/>
                </a:solidFill>
                <a:latin typeface="맑은 고딕"/>
              </a:rPr>
              <a:t>•  대소문자 구분, convert 파라미터는 SET으로 명시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SET 절에 넣는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PARAMETER_VALUE_CONVERT 다음에 적용</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DB_UNIQUE_NAME, CONTROL_FILES</a:t>
            </a:r>
          </a:p>
          <a:p>
            <a:pPr algn="l">
              <a:spcAft>
                <a:spcPts val="1000"/>
              </a:spcAft>
            </a:pPr>
            <a:r>
              <a:rPr sz="1700" b="0">
                <a:solidFill>
                  <a:srgbClr val="222222"/>
                </a:solidFill>
                <a:latin typeface="맑은 고딕"/>
              </a:rPr>
              <a:t>•  DB_FILE_NAME_CONVERT, LOG_FILE_NAME_CONVERT</a:t>
            </a:r>
          </a:p>
          <a:p>
            <a:pPr algn="l">
              <a:spcAft>
                <a:spcPts val="1000"/>
              </a:spcAft>
            </a:pPr>
            <a:r>
              <a:rPr sz="1700" b="0">
                <a:solidFill>
                  <a:srgbClr val="222222"/>
                </a:solidFill>
                <a:latin typeface="맑은 고딕"/>
              </a:rPr>
              <a:t>•  FAL_SERVER, LOG_ARCHIVE_DEST_2</a:t>
            </a:r>
          </a:p>
          <a:p>
            <a:pPr algn="l">
              <a:spcAft>
                <a:spcPts val="1000"/>
              </a:spcAft>
            </a:pPr>
            <a:r>
              <a:rPr sz="1700" b="0">
                <a:solidFill>
                  <a:srgbClr val="222222"/>
                </a:solidFill>
                <a:latin typeface="맑은 고딕"/>
              </a:rPr>
              <a:t>•  STANDBY_FILE_MANAGEMENT=AUTO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DORECOVER와 NOFILENAMECHECK</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복구 시점과 이름 검사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온라인 복사본은 파일마다 시점이 다름</a:t>
            </a:r>
          </a:p>
          <a:p>
            <a:pPr algn="l">
              <a:spcAft>
                <a:spcPts val="1000"/>
              </a:spcAft>
            </a:pPr>
            <a:r>
              <a:rPr sz="1700" b="0">
                <a:solidFill>
                  <a:srgbClr val="222222"/>
                </a:solidFill>
                <a:latin typeface="맑은 고딕"/>
              </a:rPr>
              <a:t>•  DORECOVER: 복사 중 생긴 리두까지 적용</a:t>
            </a:r>
          </a:p>
          <a:p>
            <a:pPr algn="l">
              <a:spcAft>
                <a:spcPts val="1000"/>
              </a:spcAft>
            </a:pPr>
            <a:r>
              <a:rPr sz="1700" b="0">
                <a:solidFill>
                  <a:srgbClr val="222222"/>
                </a:solidFill>
                <a:latin typeface="맑은 고딕"/>
              </a:rPr>
              <a:t>•  생략하면 Redo Apply가 이후에 맞춤</a:t>
            </a:r>
          </a:p>
          <a:p>
            <a:pPr algn="l">
              <a:spcAft>
                <a:spcPts val="1000"/>
              </a:spcAft>
            </a:pPr>
            <a:r>
              <a:rPr sz="1700" b="0">
                <a:solidFill>
                  <a:srgbClr val="222222"/>
                </a:solidFill>
                <a:latin typeface="맑은 고딕"/>
              </a:rPr>
              <a:t>•  NOFILENAMECHECK: 이름 중복 검사 생략</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병렬 채널, SECTION SIZE, 압축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생성 시간과 부하의 조절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채널 수: 동시에 복사하는 파일 수</a:t>
            </a:r>
          </a:p>
          <a:p>
            <a:pPr algn="l">
              <a:spcAft>
                <a:spcPts val="1000"/>
              </a:spcAft>
            </a:pPr>
            <a:r>
              <a:rPr sz="1700" b="0">
                <a:solidFill>
                  <a:srgbClr val="222222"/>
                </a:solidFill>
                <a:latin typeface="맑은 고딕"/>
              </a:rPr>
              <a:t>•  SECTION SIZE: 큰 파일을 구간으로 나눠 병렬</a:t>
            </a:r>
          </a:p>
          <a:p>
            <a:pPr algn="l">
              <a:spcAft>
                <a:spcPts val="1000"/>
              </a:spcAft>
            </a:pPr>
            <a:r>
              <a:rPr sz="1700" b="0">
                <a:solidFill>
                  <a:srgbClr val="222222"/>
                </a:solidFill>
                <a:latin typeface="맑은 고딕"/>
              </a:rPr>
              <a:t>•  USING COMPRESSED BACKUPSET: 대역 절약, CPU 사용</a:t>
            </a:r>
          </a:p>
          <a:p>
            <a:pPr algn="l">
              <a:spcAft>
                <a:spcPts val="1000"/>
              </a:spcAft>
            </a:pPr>
            <a:r>
              <a:rPr sz="1700" b="0">
                <a:solidFill>
                  <a:srgbClr val="222222"/>
                </a:solidFill>
                <a:latin typeface="맑은 고딕"/>
              </a:rPr>
              <a:t>•  BASIC 외 압축 알고리즘은 ACO 라이선스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경로 지정: DB_FILE_NAME_CONVERT와 LOG_FILE_NAME_CONVERT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문자열 치환 규칙</a:t>
            </a:r>
          </a:p>
          <a:p>
            <a:pPr algn="l">
              <a:spcAft>
                <a:spcPts val="800"/>
              </a:spcAft>
            </a:pPr>
            <a:r>
              <a:rPr sz="1600" b="0">
                <a:solidFill>
                  <a:srgbClr val="FFFFFF"/>
                </a:solidFill>
                <a:latin typeface="맑은 고딕"/>
              </a:rPr>
              <a:t>•  두 파라미터가 쓰이는 두 시점</a:t>
            </a:r>
          </a:p>
          <a:p>
            <a:pPr algn="l">
              <a:spcAft>
                <a:spcPts val="800"/>
              </a:spcAft>
            </a:pPr>
            <a:r>
              <a:rPr sz="1600" b="0">
                <a:solidFill>
                  <a:srgbClr val="FFFFFF"/>
                </a:solidFill>
                <a:latin typeface="맑은 고딕"/>
              </a:rPr>
              <a:t>•  컨트롤·임시·로그 파일의 처리, ASM과 OMF</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문자열 치환 규칙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Primary 문자열, Standby 문자열의 쌍</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파일 이름의 부분 문자열을 찾아 바꿈</a:t>
            </a:r>
          </a:p>
          <a:p>
            <a:pPr algn="l">
              <a:spcAft>
                <a:spcPts val="1000"/>
              </a:spcAft>
            </a:pPr>
            <a:r>
              <a:rPr sz="1700" b="0">
                <a:solidFill>
                  <a:srgbClr val="222222"/>
                </a:solidFill>
                <a:latin typeface="맑은 고딕"/>
              </a:rPr>
              <a:t>•  쌍은 여러 개, 먼저 일치하는 쌍이 적용</a:t>
            </a:r>
          </a:p>
          <a:p>
            <a:pPr algn="l">
              <a:spcAft>
                <a:spcPts val="1000"/>
              </a:spcAft>
            </a:pPr>
            <a:r>
              <a:rPr sz="1700" b="0">
                <a:solidFill>
                  <a:srgbClr val="222222"/>
                </a:solidFill>
                <a:latin typeface="맑은 고딕"/>
              </a:rPr>
              <a:t>•  대소문자 구분, 끝의 / 까지 맞추기</a:t>
            </a:r>
          </a:p>
          <a:p>
            <a:pPr algn="l">
              <a:spcAft>
                <a:spcPts val="1000"/>
              </a:spcAft>
            </a:pPr>
            <a:r>
              <a:rPr sz="1700" b="0">
                <a:solidFill>
                  <a:srgbClr val="222222"/>
                </a:solidFill>
                <a:latin typeface="맑은 고딕"/>
              </a:rPr>
              <a:t>•  교재는 값 길이 제한(255자)을 언급</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파라미터가 쓰이는 두 시점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생성 때와 운영 중</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생성: DUPLICATE가 Standby 파일 이름 결정</a:t>
            </a:r>
          </a:p>
          <a:p>
            <a:pPr algn="l">
              <a:spcAft>
                <a:spcPts val="1000"/>
              </a:spcAft>
            </a:pPr>
            <a:r>
              <a:rPr sz="1700" b="0">
                <a:solidFill>
                  <a:srgbClr val="222222"/>
                </a:solidFill>
                <a:latin typeface="맑은 고딕"/>
              </a:rPr>
              <a:t>•  운영: STANDBY_FILE_MANAGEMENT=AUTO와 함께</a:t>
            </a:r>
          </a:p>
          <a:p>
            <a:pPr algn="l">
              <a:spcAft>
                <a:spcPts val="1000"/>
              </a:spcAft>
            </a:pPr>
            <a:r>
              <a:rPr sz="1700" b="0">
                <a:solidFill>
                  <a:srgbClr val="222222"/>
                </a:solidFill>
                <a:latin typeface="맑은 고딕"/>
              </a:rPr>
              <a:t>•  Primary에 추가된 파일의 Standby 이름 결정</a:t>
            </a:r>
          </a:p>
          <a:p>
            <a:pPr algn="l">
              <a:spcAft>
                <a:spcPts val="1000"/>
              </a:spcAft>
            </a:pPr>
            <a:r>
              <a:rPr sz="1700" b="0">
                <a:solidFill>
                  <a:srgbClr val="222222"/>
                </a:solidFill>
                <a:latin typeface="맑은 고딕"/>
              </a:rPr>
              <a:t>•  역할 전환 대비 Primary에도 반대 방향 값</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컨트롤·임시·로그 파일의 처리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convert가 닿는 곳과 닿지 않는 곳</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컨트롤 파일: CONTROL_FILES로 직접 지정</a:t>
            </a:r>
          </a:p>
          <a:p>
            <a:pPr algn="l">
              <a:spcAft>
                <a:spcPts val="1000"/>
              </a:spcAft>
            </a:pPr>
            <a:r>
              <a:rPr sz="1700" b="0">
                <a:solidFill>
                  <a:srgbClr val="222222"/>
                </a:solidFill>
                <a:latin typeface="맑은 고딕"/>
              </a:rPr>
              <a:t>•  임시 파일: DB_FILE_NAME_CONVERT를 따름</a:t>
            </a:r>
          </a:p>
          <a:p>
            <a:pPr algn="l">
              <a:spcAft>
                <a:spcPts val="1000"/>
              </a:spcAft>
            </a:pPr>
            <a:r>
              <a:rPr sz="1700" b="0">
                <a:solidFill>
                  <a:srgbClr val="222222"/>
                </a:solidFill>
                <a:latin typeface="맑은 고딕"/>
              </a:rPr>
              <a:t>•  온라인 로그: Redo Apply 시작 시 새로 생성</a:t>
            </a:r>
          </a:p>
          <a:p>
            <a:pPr algn="l">
              <a:spcAft>
                <a:spcPts val="1000"/>
              </a:spcAft>
            </a:pPr>
            <a:r>
              <a:rPr sz="1700" b="0">
                <a:solidFill>
                  <a:srgbClr val="222222"/>
                </a:solidFill>
                <a:latin typeface="맑은 고딕"/>
              </a:rPr>
              <a:t>•  SRL: Primary에 있으면 DUPLICATE가 생성</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ASM과 OMF의 경우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6장으로 이어지는 대조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디스크 그룹 이름도 치환 가능 (+DATA → +SBDAT)</a:t>
            </a:r>
          </a:p>
          <a:p>
            <a:pPr algn="l">
              <a:spcAft>
                <a:spcPts val="1000"/>
              </a:spcAft>
            </a:pPr>
            <a:r>
              <a:rPr sz="1700" b="0">
                <a:solidFill>
                  <a:srgbClr val="222222"/>
                </a:solidFill>
                <a:latin typeface="맑은 고딕"/>
              </a:rPr>
              <a:t>•  OMF Standby는 convert 파라미터를 설정하지 않음</a:t>
            </a:r>
          </a:p>
          <a:p>
            <a:pPr algn="l">
              <a:spcAft>
                <a:spcPts val="1000"/>
              </a:spcAft>
            </a:pPr>
            <a:r>
              <a:rPr sz="1700" b="0">
                <a:solidFill>
                  <a:srgbClr val="222222"/>
                </a:solidFill>
                <a:latin typeface="맑은 고딕"/>
              </a:rPr>
              <a:t>•  파일 이름을 오라클이 생성</a:t>
            </a:r>
          </a:p>
          <a:p>
            <a:pPr algn="l">
              <a:spcAft>
                <a:spcPts val="1000"/>
              </a:spcAft>
            </a:pPr>
            <a:r>
              <a:rPr sz="1700" b="0">
                <a:solidFill>
                  <a:srgbClr val="222222"/>
                </a:solidFill>
                <a:latin typeface="맑은 고딕"/>
              </a:rPr>
              <a:t>•  경로 지정 방식과의 비교는 6장</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DUPLICATE 내부에서 일어나는 단계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메모리 스크립트로 나뉜 단계들</a:t>
            </a:r>
          </a:p>
          <a:p>
            <a:pPr algn="l">
              <a:spcAft>
                <a:spcPts val="800"/>
              </a:spcAft>
            </a:pPr>
            <a:r>
              <a:rPr sz="1600" b="0">
                <a:solidFill>
                  <a:srgbClr val="FFFFFF"/>
                </a:solidFill>
                <a:latin typeface="맑은 고딕"/>
              </a:rPr>
              <a:t>•  로그에서 단계를 찾는 단서</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내부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메모리 스크립트가 차례로 실행됨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SPFILE 생성 후 auxiliary 재기동</a:t>
            </a:r>
          </a:p>
          <a:p>
            <a:pPr algn="l">
              <a:spcAft>
                <a:spcPts val="1000"/>
              </a:spcAft>
            </a:pPr>
            <a:r>
              <a:rPr sz="1700" b="0">
                <a:solidFill>
                  <a:srgbClr val="222222"/>
                </a:solidFill>
                <a:latin typeface="맑은 고딕"/>
              </a:rPr>
              <a:t>•  스냅샷에서 Standby 컨트롤 파일 생성, 마운트</a:t>
            </a:r>
          </a:p>
          <a:p>
            <a:pPr algn="l">
              <a:spcAft>
                <a:spcPts val="1000"/>
              </a:spcAft>
            </a:pPr>
            <a:r>
              <a:rPr sz="1700" b="0">
                <a:solidFill>
                  <a:srgbClr val="222222"/>
                </a:solidFill>
                <a:latin typeface="맑은 고딕"/>
              </a:rPr>
              <a:t>•  set newname 후 데이터 파일 복사</a:t>
            </a:r>
          </a:p>
          <a:p>
            <a:pPr algn="l">
              <a:spcAft>
                <a:spcPts val="1000"/>
              </a:spcAft>
            </a:pPr>
            <a:r>
              <a:rPr sz="1700" b="0">
                <a:solidFill>
                  <a:srgbClr val="222222"/>
                </a:solidFill>
                <a:latin typeface="맑은 고딕"/>
              </a:rPr>
              <a:t>•  복구, 파일 전환, SRL 생성, 완료</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로그 읽기와 오류 스택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아래에서 위로 읽는다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Memory Script 내용으로 실패 단계 확인</a:t>
            </a:r>
          </a:p>
          <a:p>
            <a:pPr algn="l">
              <a:spcAft>
                <a:spcPts val="1000"/>
              </a:spcAft>
            </a:pPr>
            <a:r>
              <a:rPr sz="1700" b="0">
                <a:solidFill>
                  <a:srgbClr val="222222"/>
                </a:solidFill>
                <a:latin typeface="맑은 고딕"/>
              </a:rPr>
              <a:t>•  채널 여러 개면 input, output 순서가 섞임</a:t>
            </a:r>
          </a:p>
          <a:p>
            <a:pPr algn="l">
              <a:spcAft>
                <a:spcPts val="1000"/>
              </a:spcAft>
            </a:pPr>
            <a:r>
              <a:rPr sz="1700" b="0">
                <a:solidFill>
                  <a:srgbClr val="222222"/>
                </a:solidFill>
                <a:latin typeface="맑은 고딕"/>
              </a:rPr>
              <a:t>•  맨 위 RMAN-03002, 05501은 결과</a:t>
            </a:r>
          </a:p>
          <a:p>
            <a:pPr algn="l">
              <a:spcAft>
                <a:spcPts val="1000"/>
              </a:spcAft>
            </a:pPr>
            <a:r>
              <a:rPr sz="1700" b="0">
                <a:solidFill>
                  <a:srgbClr val="222222"/>
                </a:solidFill>
                <a:latin typeface="맑은 고딕"/>
              </a:rPr>
              <a:t>•  원인은 가장 아래쪽 ORA 오류</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5.9</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흔한 실패 원인 분류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단계별 실패 분류</a:t>
            </a:r>
          </a:p>
          <a:p>
            <a:pPr algn="l">
              <a:spcAft>
                <a:spcPts val="800"/>
              </a:spcAft>
            </a:pPr>
            <a:r>
              <a:rPr sz="1600" b="0">
                <a:solidFill>
                  <a:srgbClr val="FFFFFF"/>
                </a:solidFill>
                <a:latin typeface="맑은 고딕"/>
              </a:rPr>
              <a:t>•  원격 오류의 방향, 파일 이름 충돌</a:t>
            </a:r>
          </a:p>
          <a:p>
            <a:pPr algn="l">
              <a:spcAft>
                <a:spcPts val="800"/>
              </a:spcAft>
            </a:pPr>
            <a:r>
              <a:rPr sz="1600" b="0">
                <a:solidFill>
                  <a:srgbClr val="FFFFFF"/>
                </a:solidFill>
                <a:latin typeface="맑은 고딕"/>
              </a:rPr>
              <a:t>•  실패 후 다시 시작하기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실패 원인 분류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오류 번호보다 단계로 먼저 나눈다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접속: ORA-01017, ORA-12528</a:t>
            </a:r>
          </a:p>
          <a:p>
            <a:pPr algn="l">
              <a:spcAft>
                <a:spcPts val="1000"/>
              </a:spcAft>
            </a:pPr>
            <a:r>
              <a:rPr sz="1700" b="0">
                <a:solidFill>
                  <a:srgbClr val="222222"/>
                </a:solidFill>
                <a:latin typeface="맑은 고딕"/>
              </a:rPr>
              <a:t>•  파일 이름: RMAN-05001, RMAN-05538 경고</a:t>
            </a:r>
          </a:p>
          <a:p>
            <a:pPr algn="l">
              <a:spcAft>
                <a:spcPts val="1000"/>
              </a:spcAft>
            </a:pPr>
            <a:r>
              <a:rPr sz="1700" b="0">
                <a:solidFill>
                  <a:srgbClr val="222222"/>
                </a:solidFill>
                <a:latin typeface="맑은 고딕"/>
              </a:rPr>
              <a:t>•  디렉터리: ORA-17628 아래의 ORA-19505</a:t>
            </a:r>
          </a:p>
          <a:p>
            <a:pPr algn="l">
              <a:spcAft>
                <a:spcPts val="1000"/>
              </a:spcAft>
            </a:pPr>
            <a:r>
              <a:rPr sz="1700" b="0">
                <a:solidFill>
                  <a:srgbClr val="222222"/>
                </a:solidFill>
                <a:latin typeface="맑은 고딕"/>
              </a:rPr>
              <a:t>•  공간, 파라미터 오타, 작업 중 인스턴스 종료</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원격 오류와 이름 충돌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어디를 볼지 오류가 알려 준다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ORA-17628: 원격 서버(대개 Standby)의 오류</a:t>
            </a:r>
          </a:p>
          <a:p>
            <a:pPr algn="l">
              <a:spcAft>
                <a:spcPts val="1000"/>
              </a:spcAft>
            </a:pPr>
            <a:r>
              <a:rPr sz="1700" b="0">
                <a:solidFill>
                  <a:srgbClr val="222222"/>
                </a:solidFill>
                <a:latin typeface="맑은 고딕"/>
              </a:rPr>
              <a:t>•  ORA-19505: 파일 생성·열기 실패</a:t>
            </a:r>
          </a:p>
          <a:p>
            <a:pPr algn="l">
              <a:spcAft>
                <a:spcPts val="1000"/>
              </a:spcAft>
            </a:pPr>
            <a:r>
              <a:rPr sz="1700" b="0">
                <a:solidFill>
                  <a:srgbClr val="222222"/>
                </a:solidFill>
                <a:latin typeface="맑은 고딕"/>
              </a:rPr>
              <a:t>•  RMAN-05001 일부 파일: convert 쌍 누락</a:t>
            </a:r>
          </a:p>
          <a:p>
            <a:pPr algn="l">
              <a:spcAft>
                <a:spcPts val="1000"/>
              </a:spcAft>
            </a:pPr>
            <a:r>
              <a:rPr sz="1700" b="0">
                <a:solidFill>
                  <a:srgbClr val="222222"/>
                </a:solidFill>
                <a:latin typeface="맑은 고딕"/>
              </a:rPr>
              <a:t>•  RMAN-05001 전체 파일: 규칙 미적용, 대소문자</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실패 후 다시 시작하기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DUPLICATE는 뒷정리를 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반쯤 복사된 파일과 SPFILE이 남음</a:t>
            </a:r>
          </a:p>
          <a:p>
            <a:pPr algn="l">
              <a:spcAft>
                <a:spcPts val="1000"/>
              </a:spcAft>
            </a:pPr>
            <a:r>
              <a:rPr sz="1700" b="0">
                <a:solidFill>
                  <a:srgbClr val="222222"/>
                </a:solidFill>
                <a:latin typeface="맑은 고딕"/>
              </a:rPr>
              <a:t>•  인스턴스를 내리고 남은 파일 삭제</a:t>
            </a:r>
          </a:p>
          <a:p>
            <a:pPr algn="l">
              <a:spcAft>
                <a:spcPts val="1000"/>
              </a:spcAft>
            </a:pPr>
            <a:r>
              <a:rPr sz="1700" b="0">
                <a:solidFill>
                  <a:srgbClr val="222222"/>
                </a:solidFill>
                <a:latin typeface="맑은 고딕"/>
              </a:rPr>
              <a:t>•  spfileboston.ora 삭제 후 PFILE로 NOMOUNT</a:t>
            </a:r>
          </a:p>
          <a:p>
            <a:pPr algn="l">
              <a:spcAft>
                <a:spcPts val="1000"/>
              </a:spcAft>
            </a:pPr>
            <a:r>
              <a:rPr sz="1700" b="0">
                <a:solidFill>
                  <a:srgbClr val="222222"/>
                </a:solidFill>
                <a:latin typeface="맑은 고딕"/>
              </a:rPr>
              <a:t>•  Primary는 읽기만 하므로 재시도에 부담 없음</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5.10</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생성 후 확인과 Redo Apply 연결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식별 정보와 역할</a:t>
            </a:r>
          </a:p>
          <a:p>
            <a:pPr algn="l">
              <a:spcAft>
                <a:spcPts val="800"/>
              </a:spcAft>
            </a:pPr>
            <a:r>
              <a:rPr sz="1600" b="0">
                <a:solidFill>
                  <a:srgbClr val="FFFFFF"/>
                </a:solidFill>
                <a:latin typeface="맑은 고딕"/>
              </a:rPr>
              <a:t>•  파일, 로그, 파라미터 구성</a:t>
            </a:r>
          </a:p>
          <a:p>
            <a:pPr algn="l">
              <a:spcAft>
                <a:spcPts val="800"/>
              </a:spcAft>
            </a:pPr>
            <a:r>
              <a:rPr sz="1600" b="0">
                <a:solidFill>
                  <a:srgbClr val="FFFFFF"/>
                </a:solidFill>
                <a:latin typeface="맑은 고딕"/>
              </a:rPr>
              <a:t>•  전송 시작과 Redo Apply 기동</a:t>
            </a:r>
          </a:p>
          <a:p>
            <a:pPr algn="l">
              <a:spcAft>
                <a:spcPts val="800"/>
              </a:spcAft>
            </a:pPr>
            <a:r>
              <a:rPr sz="1600" b="0">
                <a:solidFill>
                  <a:srgbClr val="FFFFFF"/>
                </a:solidFill>
                <a:latin typeface="맑은 고딕"/>
              </a:rPr>
              <a:t>•  DBMS_DBCOMP 블록 비교</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식별 정보와 역할</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V$DATABASE부터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DBID, NAME: Primary와 같음</a:t>
            </a:r>
          </a:p>
          <a:p>
            <a:pPr algn="l">
              <a:spcAft>
                <a:spcPts val="1000"/>
              </a:spcAft>
            </a:pPr>
            <a:r>
              <a:rPr sz="1700" b="0">
                <a:solidFill>
                  <a:srgbClr val="222222"/>
                </a:solidFill>
                <a:latin typeface="맑은 고딕"/>
              </a:rPr>
              <a:t>•  DB_UNIQUE_NAME=boston, PHYSICAL STANDBY</a:t>
            </a:r>
          </a:p>
          <a:p>
            <a:pPr algn="l">
              <a:spcAft>
                <a:spcPts val="1000"/>
              </a:spcAft>
            </a:pPr>
            <a:r>
              <a:rPr sz="1700" b="0">
                <a:solidFill>
                  <a:srgbClr val="222222"/>
                </a:solidFill>
                <a:latin typeface="맑은 고딕"/>
              </a:rPr>
              <a:t>•  CONTROLFILE_TYPE=STANDBY, MOUNTED</a:t>
            </a:r>
          </a:p>
          <a:p>
            <a:pPr algn="l">
              <a:spcAft>
                <a:spcPts val="1000"/>
              </a:spcAft>
            </a:pPr>
            <a:r>
              <a:rPr sz="1700" b="0">
                <a:solidFill>
                  <a:srgbClr val="222222"/>
                </a:solidFill>
                <a:latin typeface="맑은 고딕"/>
              </a:rPr>
              <a:t>•  ORA-32002: SPFILE이 이미 사용 중, 조치 불필요</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파일, 로그, 파라미터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Primary 기준값과 대조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V$DATAFILE: 개수, 번호, 바뀐 경로</a:t>
            </a:r>
          </a:p>
          <a:p>
            <a:pPr algn="l">
              <a:spcAft>
                <a:spcPts val="1000"/>
              </a:spcAft>
            </a:pPr>
            <a:r>
              <a:rPr sz="1700" b="0">
                <a:solidFill>
                  <a:srgbClr val="222222"/>
                </a:solidFill>
                <a:latin typeface="맑은 고딕"/>
              </a:rPr>
              <a:t>•  V$STANDBY_LOG: SRL 개수와 크기</a:t>
            </a:r>
          </a:p>
          <a:p>
            <a:pPr algn="l">
              <a:spcAft>
                <a:spcPts val="1000"/>
              </a:spcAft>
            </a:pPr>
            <a:r>
              <a:rPr sz="1700" b="0">
                <a:solidFill>
                  <a:srgbClr val="222222"/>
                </a:solidFill>
                <a:latin typeface="맑은 고딕"/>
              </a:rPr>
              <a:t>•  V$PDBS: PDB 목록</a:t>
            </a:r>
          </a:p>
          <a:p>
            <a:pPr algn="l">
              <a:spcAft>
                <a:spcPts val="1000"/>
              </a:spcAft>
            </a:pPr>
            <a:r>
              <a:rPr sz="1700" b="0">
                <a:solidFill>
                  <a:srgbClr val="222222"/>
                </a:solidFill>
                <a:latin typeface="맑은 고딕"/>
              </a:rPr>
              <a:t>•  FAL_SERVER, LOG_ARCHIVE_DEST_n 값 재확인</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전송 시작과 Redo Apply 기동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7장으로 넘어가는 지점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LOG_ARCHIVE_DEST_STATE_2=ENABLE</a:t>
            </a:r>
          </a:p>
          <a:p>
            <a:pPr algn="l">
              <a:spcAft>
                <a:spcPts val="1000"/>
              </a:spcAft>
            </a:pPr>
            <a:r>
              <a:rPr sz="1700" b="0">
                <a:solidFill>
                  <a:srgbClr val="222222"/>
                </a:solidFill>
                <a:latin typeface="맑은 고딕"/>
              </a:rPr>
              <a:t>•  로그 전환 후 V$ARCHIVE_DEST_STATUS 확인</a:t>
            </a:r>
          </a:p>
          <a:p>
            <a:pPr algn="l">
              <a:spcAft>
                <a:spcPts val="1000"/>
              </a:spcAft>
            </a:pPr>
            <a:r>
              <a:rPr sz="1700" b="0">
                <a:solidFill>
                  <a:srgbClr val="222222"/>
                </a:solidFill>
                <a:latin typeface="맑은 고딕"/>
              </a:rPr>
              <a:t>•  Standby: RECOVER MANAGED STANDBY DATABASE DISCONNECT</a:t>
            </a:r>
          </a:p>
          <a:p>
            <a:pPr algn="l">
              <a:spcAft>
                <a:spcPts val="1000"/>
              </a:spcAft>
            </a:pPr>
            <a:r>
              <a:rPr sz="1700" b="0">
                <a:solidFill>
                  <a:srgbClr val="222222"/>
                </a:solidFill>
                <a:latin typeface="맑은 고딕"/>
              </a:rPr>
              <a:t>•  READ ONLY WITH APPLY는 ADG 라이선스 필요</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DBMS_DBCOMP로 블록 비교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19c의 블록 단위 검증</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Primary와 Standby의 같은 블록을 직접 비교</a:t>
            </a:r>
          </a:p>
          <a:p>
            <a:pPr algn="l">
              <a:spcAft>
                <a:spcPts val="1000"/>
              </a:spcAft>
            </a:pPr>
            <a:r>
              <a:rPr sz="1700" b="0">
                <a:solidFill>
                  <a:srgbClr val="222222"/>
                </a:solidFill>
                <a:latin typeface="맑은 고딕"/>
              </a:rPr>
              <a:t>•  DB_LOST_WRITE_PROTECT 설정과 무관</a:t>
            </a:r>
          </a:p>
          <a:p>
            <a:pPr algn="l">
              <a:spcAft>
                <a:spcPts val="1000"/>
              </a:spcAft>
            </a:pPr>
            <a:r>
              <a:rPr sz="1700" b="0">
                <a:solidFill>
                  <a:srgbClr val="222222"/>
                </a:solidFill>
                <a:latin typeface="맑은 고딕"/>
              </a:rPr>
              <a:t>•  두 번째 인자는 출력 파일 접두어</a:t>
            </a:r>
          </a:p>
          <a:p>
            <a:pPr algn="l">
              <a:spcAft>
                <a:spcPts val="1000"/>
              </a:spcAft>
            </a:pPr>
            <a:r>
              <a:rPr sz="1700" b="0">
                <a:solidFill>
                  <a:srgbClr val="222222"/>
                </a:solidFill>
                <a:latin typeface="맑은 고딕"/>
              </a:rPr>
              <a:t>•  Primary에서 실행하면 모든 Standby와 비교</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5.11</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운영 시 주의점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재생성 대비, 경로 변경, 보안</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운영 시 주의점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만든 다음에도 남는 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DUPLICATE 스크립트와 convert 규칙 보관</a:t>
            </a:r>
          </a:p>
          <a:p>
            <a:pPr algn="l">
              <a:spcAft>
                <a:spcPts val="1000"/>
              </a:spcAft>
            </a:pPr>
            <a:r>
              <a:rPr sz="1700" b="0">
                <a:solidFill>
                  <a:srgbClr val="222222"/>
                </a:solidFill>
                <a:latin typeface="맑은 고딕"/>
              </a:rPr>
              <a:t>•  Primary 경로가 늘면 Standby 값과 디렉터리도 갱신</a:t>
            </a:r>
          </a:p>
          <a:p>
            <a:pPr algn="l">
              <a:spcAft>
                <a:spcPts val="1000"/>
              </a:spcAft>
            </a:pPr>
            <a:r>
              <a:rPr sz="1700" b="0">
                <a:solidFill>
                  <a:srgbClr val="222222"/>
                </a:solidFill>
                <a:latin typeface="맑은 고딕"/>
              </a:rPr>
              <a:t>•  생성 중 생긴 아카이브 로그 보존</a:t>
            </a:r>
          </a:p>
          <a:p>
            <a:pPr algn="l">
              <a:spcAft>
                <a:spcPts val="1000"/>
              </a:spcAft>
            </a:pPr>
            <a:r>
              <a:rPr sz="1700" b="0">
                <a:solidFill>
                  <a:srgbClr val="222222"/>
                </a:solidFill>
                <a:latin typeface="맑은 고딕"/>
              </a:rPr>
              <a:t>•  스크립트에 SYS 비밀번호를 적지 않음</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Standby: 같은 DBID·DB_NAME, 다른 DB_UNIQUE_NAME, STANDBY 컨트롤 파일</a:t>
            </a:r>
          </a:p>
          <a:p>
            <a:pPr algn="l">
              <a:spcAft>
                <a:spcPts val="1000"/>
              </a:spcAft>
            </a:pPr>
            <a:r>
              <a:rPr sz="1600" b="0">
                <a:solidFill>
                  <a:srgbClr val="222222"/>
                </a:solidFill>
                <a:latin typeface="맑은 고딕"/>
              </a:rPr>
              <a:t>•  방법: Active, 백업 기반, 수동, DBCA, EM 중 상황에 맞게 선택</a:t>
            </a:r>
          </a:p>
          <a:p>
            <a:pPr algn="l">
              <a:spcAft>
                <a:spcPts val="1000"/>
              </a:spcAft>
            </a:pPr>
            <a:r>
              <a:rPr sz="1600" b="0">
                <a:solidFill>
                  <a:srgbClr val="222222"/>
                </a:solidFill>
                <a:latin typeface="맑은 고딕"/>
              </a:rPr>
              <a:t>•  준비: 패스워드 파일 복사, 최소 pfile, 디렉터리, NOMOUNT, 정적 등록</a:t>
            </a:r>
          </a:p>
          <a:p>
            <a:pPr algn="l">
              <a:spcAft>
                <a:spcPts val="1000"/>
              </a:spcAft>
            </a:pPr>
            <a:r>
              <a:rPr sz="1600" b="0">
                <a:solidFill>
                  <a:srgbClr val="222222"/>
                </a:solidFill>
                <a:latin typeface="맑은 고딕"/>
              </a:rPr>
              <a:t>•  SPFILE 절: PARAMETER_VALUE_CONVERT 후 SET으로 보정</a:t>
            </a:r>
          </a:p>
          <a:p>
            <a:pPr algn="l">
              <a:spcAft>
                <a:spcPts val="1000"/>
              </a:spcAft>
            </a:pPr>
            <a:r>
              <a:rPr sz="1600" b="0">
                <a:solidFill>
                  <a:srgbClr val="222222"/>
                </a:solidFill>
                <a:latin typeface="맑은 고딕"/>
              </a:rPr>
              <a:t>•  convert는 대소문자 구분 문자열 치환, 디렉터리는 따로 생성</a:t>
            </a:r>
          </a:p>
          <a:p>
            <a:pPr algn="l">
              <a:spcAft>
                <a:spcPts val="1000"/>
              </a:spcAft>
            </a:pPr>
            <a:r>
              <a:rPr sz="1600" b="0">
                <a:solidFill>
                  <a:srgbClr val="222222"/>
                </a:solidFill>
                <a:latin typeface="맑은 고딕"/>
              </a:rPr>
              <a:t>•  실패는 단계로 분류, 확인 후 Redo Apply 기동</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(1/2)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FOR STANDBY 복제본의 DBID는? → Primary와 같고 MOUNT로 끝남</a:t>
            </a:r>
          </a:p>
          <a:p>
            <a:pPr algn="l">
              <a:spcAft>
                <a:spcPts val="1000"/>
              </a:spcAft>
            </a:pPr>
            <a:r>
              <a:rPr sz="1600" b="0">
                <a:solidFill>
                  <a:srgbClr val="222222"/>
                </a:solidFill>
                <a:latin typeface="맑은 고딕"/>
              </a:rPr>
              <a:t>•  Q2. NOMOUNT 인스턴스 접속 시 ORA-12528이면? → 정적 등록 확인</a:t>
            </a:r>
          </a:p>
          <a:p>
            <a:pPr algn="l">
              <a:spcAft>
                <a:spcPts val="1000"/>
              </a:spcAft>
            </a:pPr>
            <a:r>
              <a:rPr sz="1600" b="0">
                <a:solidFill>
                  <a:srgbClr val="222222"/>
                </a:solidFill>
                <a:latin typeface="맑은 고딕"/>
              </a:rPr>
              <a:t>•  Q3. SET 없이 FAL_SERVER='boston'은? → 그대로 남아 자기 자신을 가리킴</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(2/2)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Q4. Chicago 경로에 'chicago' 규칙이면? → 미적용, RMAN-05001</a:t>
            </a:r>
          </a:p>
          <a:p>
            <a:pPr algn="l">
              <a:spcAft>
                <a:spcPts val="1000"/>
              </a:spcAft>
            </a:pPr>
            <a:r>
              <a:rPr sz="1600" b="0">
                <a:solidFill>
                  <a:srgbClr val="222222"/>
                </a:solidFill>
                <a:latin typeface="맑은 고딕"/>
              </a:rPr>
              <a:t>•  Q5. ORA-17628과 ORA-19505는 어디부터? → Standby alert 로그와 디렉터리</a:t>
            </a:r>
          </a:p>
          <a:p>
            <a:pPr algn="l">
              <a:spcAft>
                <a:spcPts val="1000"/>
              </a:spcAft>
            </a:pPr>
            <a:r>
              <a:rPr sz="1600" b="0">
                <a:solidFill>
                  <a:srgbClr val="222222"/>
                </a:solidFill>
                <a:latin typeface="맑은 고딕"/>
              </a:rPr>
              <a:t>•  Q6. 생성 후 CREATE SPFILE에 ORA-32002면? → 이미 SPFILE 사용 중, 조치 불필요</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01 Primary 파라미터 확인 / 02 Standby 초기 pfile (5.4, 5.5)</a:t>
            </a:r>
          </a:p>
          <a:p>
            <a:pPr algn="l">
              <a:spcAft>
                <a:spcPts val="1000"/>
              </a:spcAft>
            </a:pPr>
            <a:r>
              <a:rPr sz="1600" b="0">
                <a:solidFill>
                  <a:srgbClr val="222222"/>
                </a:solidFill>
                <a:latin typeface="맑은 고딕"/>
              </a:rPr>
              <a:t>•  03 NOMOUNT 기동과 접속 확인 (5.5)</a:t>
            </a:r>
          </a:p>
          <a:p>
            <a:pPr algn="l">
              <a:spcAft>
                <a:spcPts val="1000"/>
              </a:spcAft>
            </a:pPr>
            <a:r>
              <a:rPr sz="1600" b="0">
                <a:solidFill>
                  <a:srgbClr val="222222"/>
                </a:solidFill>
                <a:latin typeface="맑은 고딕"/>
              </a:rPr>
              <a:t>•  04 DUPLICATE 실행과 로그 읽기 (5.6, 5.8)</a:t>
            </a:r>
          </a:p>
          <a:p>
            <a:pPr algn="l">
              <a:spcAft>
                <a:spcPts val="1000"/>
              </a:spcAft>
            </a:pPr>
            <a:r>
              <a:rPr sz="1600" b="0">
                <a:solidFill>
                  <a:srgbClr val="222222"/>
                </a:solidFill>
                <a:latin typeface="맑은 고딕"/>
              </a:rPr>
              <a:t>•  05 실패 재현과 진단: RMAN-05001, ORA-19505 (5.9)</a:t>
            </a:r>
          </a:p>
          <a:p>
            <a:pPr algn="l">
              <a:spcAft>
                <a:spcPts val="1000"/>
              </a:spcAft>
            </a:pPr>
            <a:r>
              <a:rPr sz="1600" b="0">
                <a:solidFill>
                  <a:srgbClr val="222222"/>
                </a:solidFill>
                <a:latin typeface="맑은 고딕"/>
              </a:rPr>
              <a:t>•  06 결과 검증과 ADG 전환 (5.10)</a:t>
            </a:r>
          </a:p>
          <a:p>
            <a:pPr algn="l">
              <a:spcAft>
                <a:spcPts val="1000"/>
              </a:spcAft>
            </a:pPr>
            <a:r>
              <a:rPr sz="1600" b="0">
                <a:solidFill>
                  <a:srgbClr val="222222"/>
                </a:solidFill>
                <a:latin typeface="맑은 고딕"/>
              </a:rPr>
              <a:t>•  07 DBMS_DBCOMP 블록 비교 (5.10)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
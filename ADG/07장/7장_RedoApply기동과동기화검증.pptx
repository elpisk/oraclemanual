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학생들이 가장 자주 섞는 지점이 여기입니다. Standby에 리두가 도착했다는 사실과 Standby 데이터가 최신이라는 사실은 서로 다른 이야기입니다. 예를 들어 적용을 멈춰 둔 Standby라도 전송은 정상이라 Primary가 장애로 사라져도 데이터는 잃지 않습니다. 다만 그 Standby를 Primary로 올리려면 밀린 리두를 모두 적용해야 하니 시간이 오래 걸립니다. 이 구분이 뒤에서 transport lag와 apply lag라는 두 지표로 그대로 이어진다는 점을 미리 짚어 두시면 좋습니다.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 과정에서 아카이브 로그를 적용해 데이터 파일을 앞으로 굴리는 복구를 해 보셨다면, Redo Apply는 그 복구를 영원히 멈추지 않고 이어 가는 것이라고 설명하면 쉽게 이해합니다. managed recovery라는 이름도 여기서 나왔습니다. 블록 변경 벡터를 그대로 적용하므로 결과가 블록 단위로 같다는 점이 논리 Standby와 가장 큰 차이입니다. SQL Apply는 LogMiner로 SQL을 다시 만들어 실행하므로 지원하지 않는 데이터 유형이 생기는데, 물리 Standby에는 그런 제약이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RFS를 보고 적용이 돈다고 착각하는 경우가 많습니다. RFS는 받는 쪽일 뿐이고, 적용은 MRP0가 지휘하고 PR로 시작하는 복구 슬레이브가 실제 블록 작업을 나눠 맡습니다. 슬레이브 수는 Standby 서버의 CPU 수를 보고 자동으로 정해지며, 기동 명령에 PARALLEL 절을 붙여 바꿀 수 있지만 대부분은 기본값으로 충분합니다. RFS 개수는 전송 방식과 갭 해소 연결에 따라 수시로 바뀌므로 개수 자체에는 큰 의미가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예전 자료와 설치 문서 상당수가 V$MANAGED_STANDBY를 씁니다. 19c에서도 조회는 되지만 디프리케이트 상태이고, 공식 교재도 V$DATAGUARD_PROCESS를 쓰라고 권합니다. 새 뷰는 프로세스 이름 대신 역할 이름을 보여 주어 무엇을 하는 프로세스인지 곧장 읽힌다는 장점이 있고, Broker 프로세스도 함께 나타납니다. 앞으로 점검 스크립트를 새로 만든다면 새 뷰 기준으로 쓰도록 안내하고, 기존 스크립트를 만났을 때 두 뷰가 같은 정보를 다른 이름으로 보여 준다는 것만 알면 충분합니다.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Primary에서는 수십 개 세션이 나눠서 만든 변경을 Standby는 한 곳에서 다시 수행해야 합니다. 이 때문에 Standby를 Primary보다 작은 서버로 두면 평소에는 문제가 없다가 야간 배치 시간에 적용이 밀리는 일이 생깁니다. 특히 적용은 변경할 블록을 먼저 읽어야 하므로 I/O 성능이 가장 큰 변수입니다. Apply Rate는 Broker의 SHOW DATABASE에서 볼 수 있는데, 리두 생성 속도와 비교해 여유가 있는지 보는 용도로 쓰고, 정밀 측정 방법은 15장에서 다룹니다.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lost write는 스토리지가 기록했다고 응답했지만 실제로는 기록되지 않은 상황입니다. Primary 혼자서는 이것을 알아채기 어렵지만, Standby가 적용하면서 Primary가 리두에 남긴 블록 읽기 정보와 자기 블록의 SCN을 비교하면 잡아낼 수 있습니다. Primary 쪽 문제면 ORA-00752, Standby 쪽 문제면 ORA-00600 3020으로 나타납니다. Primary 쪽 lost write라면 Standby로 failover한 뒤 Primary를 다시 만드는 것이 권장 복구입니다. Standby가 복사본이면서 동시에 Primary를 검증하는 장치 역할도 하는 셈입니다.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NOMOUNT에서는 컨트롤 파일을 읽지 않았으니 무엇을 적용할지 알 수 없으므로 MOUNT 이상이 조건입니다. 기동 직후에는 전송되는 리두가 없으면 MRP0가 기다리기만 하므로, Primary에서 로그 전환을 한 번 일으켜 적용 위치가 움직이는지 보는 것이 일반적인 확인 방법입니다. Broker로 관리하는 구성에서는 SQL로 적용을 끄면 Broker가 기대하는 APPLY-ON 상태와 어긋나 경고가 뜨므로, 그런 구성에서는 DGMGRL로 상태를 바꾸는 것이 원칙입니다.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DISCONNECT를 빼고 실행하면 SQL*Plus 화면이 멈춘 것처럼 보여 당황하는 경우가 많습니다. 실제로는 그 세션이 복구를 직접 수행하고 있어서 프롬프트가 돌아오지 않는 것이고, 다른 세션에서 CANCEL을 내야 풀립니다. 오래된 문서에서는 DISCONNECT FROM SESSION이라는 긴 형태를 쓰는데, 19c에서도 받아들여지므로 기존 스크립트를 고칠 필요는 없습니다. 다만 새로 쓰는 절차서는 짧은 형태로 통일하는 편이 읽기 쉽습니다.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오류는 상태를 알려 주는 메시지에 가깝습니다. 원하는 상태가 이미 만들어져 있다면 그대로 진행해도 됩니다. 문제는 ORA-01153을 무시하는 경우입니다. 실시간 적용을 끄려고 USING ARCHIVED LOGFILE로 기동했는데 이미 적용이 돌고 있었다면 오류만 나고 방식은 바뀌지 않습니다. 방식을 바꾸는 절차는 항상 CANCEL을 먼저 내고, 그 단계의 ORA-16136은 무시하도록 짜는 것이 안전합니다. 실습 2에서 두 오류를 직접 만들어 보게 됩니다.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라이선스 경계가 걸리는 곳이라 분명히 해 둘 필요가 있습니다. 마운트 상태에서 적용하는 것과, 적용을 멈추고 READ ONLY로 여는 것은 Enterprise Edition의 Data Guard 기본 기능입니다. 하지만 열린 상태에서 적용을 다시 켜면 READ ONLY WITH APPLY가 되고, 이것은 실시간 조회라서 Active Data Guard 옵션이 필요합니다. 기동 스크립트가 무심코 OPEN 후에 적용을 켜도록 되어 있으면 라이선스 없는 환경에서 문제가 되므로 스크립트 순서를 꼭 확인해야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명령이 Database altered로 끝났다고 적용이 잘 되고 있다는 보장은 없습니다. 예를 들어 SRL 구성이 잘못돼 있으면 MRP0는 떠 있지만 아카이브 기반으로 돌고 있고, 필요한 로그가 빠져 있으면 갭을 기다리며 멈춰 있습니다. 프로세스, 모드, 진행의 세 단계를 순서대로 확인하는 습관이 필요한 이유입니다. 이 세 단계는 뒤에서 나오는 다섯 단계 점검 순서의 축약판이라고 보시면 됩니다.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WAIT_FOR_LOG를 보고 문제라고 판단하는 경우가 꽤 있습니다. Primary의 리두 생성이 적으면 실시간 적용 중인 MRP0는 대부분의 시간을 기다리며 보내므로 정상입니다. 반면 WAIT_FOR_GAP은 확실한 이상 신호이고 갭이 해소돼야 풀립니다. V$ARCHIVED_LOG의 APPLIED 열은 로그 파일 단위로만 표시되기 때문에, 실시간 적용 중에는 현재 SRL 내용이 이미 반영되어 있어도 그 로그가 아카이브되기 전까지 YES로 바뀌지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아카이브 기반 적용에서는 Primary 로그 하나가 다 찰 때까지의 변경이 Standby에 도착해 있어도 데이터 파일에는 반영되지 않습니다. 로그가 크고 업무량이 적은 시간대라면 수십 분씩 뒤처지기도 합니다. 실시간 적용은 쓰이는 중인 SRL을 곧장 읽으므로 이 지연이 사라집니다. 적용을 잠시 멈췄다 다시 켜는 경우처럼 밀린 구간이 있으면 MRP0가 아카이브 로그로 먼저 따라잡고 자동으로 SRL로 돌아오므로 관리자가 따로 할 일은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실시간 적용은 RFS가 쓰는 파일을 MRP0가 같이 읽는 구조입니다. RFS가 SRL 대신 아카이브 로그에 직접 쓰는 상황이 되면 실시간 적용은 성립하지 않습니다. 4장에서 SRL을 Online Redo Log와 같은 크기로, 그룹 수보다 하나 더 만들라고 한 규칙도 이 상황을 막으려고 둔 것입니다. 실습 7에서는 SRL을 지우려다 적용 중인 그룹이라 ORA-00261로 거부되는 장면을 직접 보게 됩니다.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실무에서 가장 중요한 경고 가운데 하나입니다. 실시간 적용이 꺼져도 경고 메시지가 뜨지 않습니다. 흔한 계기는 Primary의 Online Redo Log 크기를 키우면서 Standby의 SRL은 예전 크기로 남겨 두는 경우입니다. 그 순간부터 RFS는 맞는 크기의 SRL을 찾지 못해 아카이브 로그에 직접 쓰고, 적용은 로그 전환 때마다 계단처럼 움직입니다. 로그 크기 변경 작업 체크리스트에 SRL 재구성을 반드시 넣어 두어야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설치 문서 가운데 일반 기동과 실시간 적용 기동을 따로 적어 둔 것이 있는데, 11g 시절의 구분이 남은 것입니다. 19c에서는 두 명령의 결과가 같고 USING CURRENT LOGFILE은 받아들여지기는 하지만 디프리케이트된 절입니다. 실습 4에서 두 명령을 차례로 실행해 RECOVERY_MODE가 같게 나오는 것을 확인합니다. 실시간 적용을 끄고 싶을 때만 USING ARCHIVED LOGFILE을 쓰며, 이 절은 뒤의 지연 적용에서 다시 등장합니다.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시험 문제로도 자주 나오는 혼동입니다. Real-Time Apply는 적용을 언제 하느냐의 문제이고, Real-Time Query는 적용 결과를 사용자가 볼 수 있느냐의 문제입니다. 공식 교재 노트에서도 두 기능이 다르다고 따로 강조합니다. 마운트 상태의 Standby도 실시간 적용으로 Primary를 초 단위로 따라가고 있지만, 열려 있지 않으니 그 결과를 조회할 수 없을 뿐입니다. 실시간 조회의 세부 기능과 설정은 9장에서 다룬다고 연결해 두십시오.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RECOVERY_MODE가 가장 빠른 판별 수단입니다. 다만 Standby의 로컬 아카이브 목적지가 잘못돼 있으면 이 열이 기대와 다르게 보일 수 있어서, 값이 이상하면 목적지 STATUS부터 봅니다. 기능 시험은 Primary에서 커밋한 행이 로그 전환 없이 Standby에서 보이는지 확인하는 방법인데, Standby를 열어 둔 채 적용해야 하므로 Active Data Guard가 필요합니다. 라이선스가 없는 환경이라면 apply lag가 초 단위로 유지되는지로 간접 판단합니다.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실시간 적용을 쓰지 않을 이유는 사실상 지연 적용을 의도적으로 쓰는 경우뿐입니다. 로그 크기 이야기를 덧붙이면 좋습니다. 아카이브 기반 적용에서는 로그가 클수록 적용이 더 늦어지기 때문에 로그를 작게 유지하려는 압력이 있었는데, 실시간 적용에서는 로그가 커도 지연이 늘지 않고 오히려 로그 전환 빈도가 줄어 부담이 적어집니다. 공식 교재가 실시간 적용의 이점으로 더 큰 로그 파일 사용을 꼽는 이유가 여기에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Primary 입장에서만 파라미터를 생각하다 보면 Standby 자신의 로컬 아카이브 목적지를 소홀히 하게 됩니다. Standby 역할에서 아카이브할 대상은 Online Redo Log 대신 SRL입니다. 따라서 VALID_FOR를 ALL_LOGFILES와 ALL_ROLES로 두는 것이 가장 단순하고, 역할이 바뀌어도 다시 손댈 필요가 없습니다. ONLINE_LOGFILES만 잡아 두면 V$ARCHIVE_DEST의 VALID_NOW 열에 WRONG VALID_TYPE이 나타나며, SRL이 아카이브되지 못하는 문제로 이어집니다.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BAD PARAM은 오라클이 파라미터 값 자체를 읽지 못했다는 뜻입니다. 따옴표가 빠졌거나 속성 이름에 오타가 있거나 괄호 짝이 맞지 않는 경우가 대부분이고, DESTINATION 열이 비어 있는 것이 대표적인 증상입니다. Standby의 로컬 목적지가 BAD PARAM이면 SRL이 아카이브되지 못해 모든 SRL이 사용 중이 되고, RFS가 아카이브 로그에 직접 쓰면서 실시간 적용까지 강등되는 연쇄가 생깁니다. 실습 3이 이 상황을 다룹니다.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FAL_SERVER에는 Primary만 적어도 되지만 다른 Standby나 Far Sync를 함께 적어 두면 요청 대상이 늘어납니다. FAL_CLIENT는 19c에서는 설정하지 않아도 FAL이 동작하지만, 값을 넣었다면 FAL 서버 쪽에서 찾을 수 있는 올바른 Net 서비스 이름이어야 합니다. 역할 전환 이후를 생각해 Primary에도 반대 방향 값을 넣어 둡니다. STANDBY_FILE_MANAGEMENT가 MANUAL이면 Primary에서 데이터 파일이 추가되는 순간 적용이 멈추는데, 그 처리는 8장의 주제입니다.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사례는 새로 만든 Standby에서 실제로 흔히 생기는 흐름입니다. RECOVERY_MODE가 MANAGED로 나온다면 실시간 적용이 꺼져 있으므로 SRL 쪽을 의심합니다. 그런데 SRL은 제대로 만들어져 있는데 계속 사용 중 상태라면 SRL을 비워 줄 아카이브가 막혀 있는 것이고, 그 원인이 로컬 목적지의 BAD PARAM인 경우가 많습니다. 파라미터를 고치고 적용을 다시 기동하면 RECOVERY_MODE가 돌아옵니다. 증상에서 원인으로 한 단계씩 거슬러 올라가는 사고방식을 보여 주는 데 초점을 두십시오.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갭은 Standby가 적용하려는 다음 순번의 로그가 없어서 더 진행할 수 없는 상태입니다. 원인은 거의 항상 전송이나 보관 쪽에 있고, 적용은 그 결과를 발견하는 쪽입니다. 네 가지 원인 가운데 마지막, 즉 Primary의 아카이브 로그가 Standby로 가기 전에 지워진 경우가 가장 곤란합니다. 앞의 세 경우는 원본이 Primary에 남아 있어 자동으로 메워지지만, 원본이 사라지면 자동 해소가 불가능하기 때문입니다.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경로는 서로를 보완합니다. ARCn ping은 Primary가 Standby에게 어디까지 받았는지 물어보고 빠진 것을 보내는 방식이라 연결이 끊겼다 다시 붙는 상황에 강합니다. FAL은 Standby의 MRP0가 적용하다가 다음 로그가 없다는 것을 알아챘을 때 직접 요청하는 방식이라, 도착은 했는데 중간 파일이 손상되거나 사라진 상황에 강합니다. 손상된 리두를 발견했을 때 정상 로그를 다시 받아 오는 것도 이 경로를 씁니다. 갭 해소 중에는 V$DATAGUARD_PROCESS에 RFS 연결이 잠시 늘어납니다.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V$ARCHIVE_GAP에는 자동 해소가 진행 중인 짧은 갭도 잠깐 나타날 수 있으므로, 한 번 보고 수동 조치에 들어가지 말고 시간 간격을 두고 다시 확인하게 합니다. 자동으로 메워지지 않는다면 해당 구간 로그를 직접 복사해 등록하면 MRP0가 이어서 적용합니다. 원본이 아예 없다면 18c부터 제공되는 RECOVER STANDBY DATABASE FROM SERVICE로 Standby를 증분으로 끌어올리거나 다시 만들어야 하며, 그 절차는 15장에서 다룹니다.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보호 모드 자체는 2장에서 배웠지만, 갭과 연결해서 보면 의미가 더 분명해집니다. Maximum Availability로 설정돼 있어도 SYNC 대상과 연결이 끊긴 동안은 데이터 손실 가능성이 있는 상태로 운영됩니다. 갭이 모두 메워져야 원래 보장 수준으로 돌아옵니다. V$DATABASE의 PROTECTION_MODE와 PROTECTION_LEVEL을 나란히 보면 이 차이를 확인할 수 있습니다. Maximum Performance에서는 Primary가 갭에 전혀 반응하지 않으므로 Standby 쪽 감시가 더 중요합니다.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자동으로 해소할 수 없는 갭은 대부분 운영 쪽에서 아카이브 로그를 너무 일찍 지워서 생깁니다. 백업이 끝나면 아카이브 로그를 지우는 스크립트가 Standby 적용 여부를 고려하지 않는 경우가 대표적입니다. RMAN 삭제 정책을 APPLIED ON ALL STANDBY로 두면 Standby가 적용하지 않은 로그는 FRA 자동 정리 대상에서 빠지고, RMAN DELETE도 경고와 함께 건너뜁니다. 역할 전환을 대비해 Primary와 Standby에 같은 정책을 둡니다.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Guard는 장애로부터 데이터를 지키는 기술이지 사람의 실수로부터 지키는 기술은 아닙니다. 잘못된 DELETE도 정상적인 변경이므로 그대로 Standby에 옮겨집니다. 지연 적용은 이 약점을 보완하기 위해 적용 시점만 일부러 늦춰 시간 여유를 만드는 방법입니다. 여기서 강조할 점은 리두 전송은 평소처럼 즉시 이루어진다는 것입니다. 리두는 Standby에 도착해 보관되므로 Primary가 사라져도 데이터 손실은 생기지 않고, 적용만 뒤로 밀려 있을 뿐입니다.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지연은 Standby에서 거는 설정이라고 생각하기 쉬운데, 실제로는 Primary 쪽 LOG_ARCHIVE_DEST_n의 속성입니다. 목적지마다 따로 걸 수 있어서 Standby 둘 중 하나에만 지연을 거는 구성이 가능합니다. 지연 시간은 리두가 Standby에 도착해 아카이브된 순간부터 셉니다. 값을 생략하면 30분이 되지만, 운영 문서와 맞추기 위해 항상 명시하는 편이 좋습니다. Broker로 관리한다면 Standby 데이터베이스의 DelayMins 속성으로 같은 내용을 다룹니다.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실시간 적용은 도착한 리두를 즉시 반영하는 방식이고, 지연 적용은 아카이브된 로그를 일정 시간 묵혔다가 반영하는 방식이라 서로 반대입니다. 공식 교재와 19c 문서는 실시간 적용 중인 목적지에 걸린 DELAY는 무시된다고 설명합니다. 지연을 확실히 걸려면 USING ARCHIVED LOGFILE로 기동하고, RECOVERY_MODE가 MANAGED로 나오는지 눈으로 확인하는 절차를 넣습니다. 긴급하게 따라잡아야 할 때 쓰는 NODELAY는 파라미터를 건드리지 않고 이번 기동에만 효과가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지연 Standby를 Failover 대상으로 쓰면 지연 구간의 리두를 모두 적용한 뒤에야 Primary가 될 수 있으므로 전환 시간이 그만큼 길어집니다. 이 때문에 실시간으로 따라가는 Standby를 역할 전환용으로 두고, 지연 Standby를 별도로 두는 구성이 일반적입니다. Flashback Database를 켠 Standby는 지연 없이도 과거 시점으로 되돌려 데이터를 꺼낼 수 있어 더 유연합니다. 실제로는 둘을 함께 쓰는 경우도 많습니다.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사례에서 가장 먼저 해야 할 일은 지연 Standby의 적용을 멈추는 것입니다. 그대로 두면 지연 시간이 지나 같은 DELETE가 적용되어 버립니다. 적용을 멈춘 뒤 READ ONLY로 여는 것은 Data Guard 기본 기능이라 Active Data Guard 라이선스가 필요 없습니다. 데이터는 Database Link나 Data Pump로 Primary에 되살립니다. 마지막으로 적용을 다시 켤 때 USING ARCHIVED LOGFILE을 빠뜨리면 지연이 걸리지 않을 수 있으니 RECOVERY_MODE를 확인하는 단계까지 포함시킵니다.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transport lag는 지금 Primary가 사라지면 얼마만큼을 잃는가라는 질문에, apply lag는 Standby 데이터가 얼마나 과거인가라는 질문에 답합니다. 도착하지 않은 리두는 적용할 수도 없으므로 apply lag는 transport lag보다 작아질 수 없습니다. 나머지 두 행은 장애 시 복구 시간을 가늠하는 지표로, 둘을 더하면 Failover에 걸리는 시간의 대략적인 하한을 얻습니다. 이 뷰는 Standby에서 조회해야 의미가 있고, 상세 진단 활용은 15장에서 이어집니다.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lag 지표는 Primary가 주기적으로 보내 주는 정보로 계산됩니다. 따라서 Primary와의 연결이 끊기면 새 정보가 들어오지 않아 마지막으로 계산된 값, 흔히 0초에 가까운 값에 그대로 머뭅니다. 화면만 보면 완벽하게 동기화된 것처럼 보이는 셈입니다. 공식 교재는 DATUM_TIME과 TIME_COMPUTED의 차이가 30초를 넘으면 지표가 정확하지 않을 수 있다고 명시합니다. lag 값을 볼 때는 항상 DATUM_TIME이 현재 시각에 가까운지를 함께 보는 습관이 필요합니다.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지표를 함께 보면 문제 구간이 좁혀집니다. transport lag가 크다면 네트워크나 전송 설정을 먼저 봅니다. transport lag는 작은데 apply lag만 크다면 리두는 도착했으니 Standby 쪽을 봅니다. 여기서 MRP0의 ACTION을 함께 보면 한 단계 더 나눌 수 있습니다. MRP0가 기다리고 있다면 실시간 적용이 꺼졌거나 지연이 걸린 공급 문제이고, 계속 적용 중인데도 lag가 줄지 않으면 I/O나 CPU 같은 처리량 문제입니다. 순간적으로 튀는 값보다 추세가 더 많은 것을 알려 줍니다.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순번 비교는 가장 원시적이지만 어떤 환경에서든 쓸 수 있는 방법입니다. 다만 로그 몇 개 차이인지만 알려 줄 뿐 몇 초 차이인지는 알려 주지 않습니다. 로그 크기나 업무량이 달라지면 같은 순번 차이도 전혀 다른 의미가 됩니다. Broker 구성이라면 SHOW DATABASE 출력에 같은 지표가 나오고, 임계값 속성을 걸어 두면 넘었을 때 경고 상태가 됩니다. 조회 세션마다 허용 지연을 거는 STANDBY_MAX_DATA_DELAY는 실시간 조회 기능의 일부라 9장에서 다룹니다.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다섯 단계는 순서가 중요합니다. 역할이나 열린 모드가 의도와 다르면 그 뒤의 값은 해석할 근거가 없습니다. 프로세스가 없으면 모드를 볼 이유가 없고, 갭이 있으면 lag 값이 커지는 것은 당연합니다. 위에서부터 차례로 확인하고 처음 이상이 나타난 단계에서 멈춰 원인을 찾는 방식으로 쓰게 하십시오. 실습 6에서 이 순서를 하나의 통합 점검 조회로 묶어 보는데, 그 조회가 이 다섯 단계를 그대로 옮긴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장에서 다룬 문제 대부분은 경보 없이 조용히 생긴다는 공통점이 있습니다. 적용을 멈춰도 전송은 정상이라 아무도 모르고, SRL이 맞지 않아 실시간 적용이 꺼져도 오류가 없습니다. 유지 보수 절차서의 마지막 단계에 적용 재기동과 RECOVERY_MODE 확인을 넣는 것이 가장 확실한 대책입니다. lag 감시 기준은 업무가 허용하는 데이터 손실과 복구 시간에서 거꾸로 정하고, Failover 예상 시간도 평소에 기록해 두면 실제 장애 때 판단 근거가 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94960"/>
            <a:ext cx="12191695"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0698480" cy="548640"/>
          </a:xfrm>
          <a:prstGeom prst="rect">
            <a:avLst/>
          </a:prstGeom>
          <a:noFill/>
        </p:spPr>
        <p:txBody>
          <a:bodyPr wrap="square">
            <a:spAutoFit/>
          </a:bodyPr>
          <a:lstStyle/>
          <a:p>
            <a:pPr algn="l">
              <a:spcAft>
                <a:spcPts val="600"/>
              </a:spcAft>
            </a:pPr>
            <a:r>
              <a:rPr sz="1600" b="1">
                <a:solidFill>
                  <a:srgbClr val="FFFFFF"/>
                </a:solidFill>
                <a:latin typeface="맑은 고딕"/>
              </a:rPr>
              <a:t>Oracle Database 19c Active Data Guard 과정</a:t>
            </a:r>
          </a:p>
        </p:txBody>
      </p:sp>
      <p:sp>
        <p:nvSpPr>
          <p:cNvPr id="6" name="TextBox 5"/>
          <p:cNvSpPr txBox="1"/>
          <p:nvPr/>
        </p:nvSpPr>
        <p:spPr>
          <a:xfrm>
            <a:off x="731520" y="2377440"/>
            <a:ext cx="10698480" cy="1554480"/>
          </a:xfrm>
          <a:prstGeom prst="rect">
            <a:avLst/>
          </a:prstGeom>
          <a:noFill/>
        </p:spPr>
        <p:txBody>
          <a:bodyPr wrap="square">
            <a:spAutoFit/>
          </a:bodyPr>
          <a:lstStyle/>
          <a:p>
            <a:pPr algn="l">
              <a:spcAft>
                <a:spcPts val="600"/>
              </a:spcAft>
            </a:pPr>
            <a:r>
              <a:rPr sz="3400" b="1">
                <a:solidFill>
                  <a:srgbClr val="C0392B"/>
                </a:solidFill>
                <a:latin typeface="맑은 고딕"/>
              </a:rPr>
              <a:t>Redo Apply 기동과 동기화 검증</a:t>
            </a:r>
          </a:p>
        </p:txBody>
      </p:sp>
      <p:sp>
        <p:nvSpPr>
          <p:cNvPr id="7" name="TextBox 6"/>
          <p:cNvSpPr txBox="1"/>
          <p:nvPr/>
        </p:nvSpPr>
        <p:spPr>
          <a:xfrm>
            <a:off x="731520" y="4114800"/>
            <a:ext cx="10698480" cy="1097280"/>
          </a:xfrm>
          <a:prstGeom prst="rect">
            <a:avLst/>
          </a:prstGeom>
          <a:noFill/>
        </p:spPr>
        <p:txBody>
          <a:bodyPr wrap="square">
            <a:spAutoFit/>
          </a:bodyPr>
          <a:lstStyle/>
          <a:p>
            <a:pPr algn="l">
              <a:spcAft>
                <a:spcPts val="600"/>
              </a:spcAft>
            </a:pPr>
            <a:r>
              <a:rPr sz="1500" b="0">
                <a:solidFill>
                  <a:srgbClr val="5A6672"/>
                </a:solidFill>
                <a:latin typeface="맑은 고딕"/>
              </a:rPr>
              <a:t>무엇이 적용하는가, 언제 적용하는가, 얼마나 따라가는가</a:t>
            </a:r>
          </a:p>
        </p:txBody>
      </p:sp>
      <p:sp>
        <p:nvSpPr>
          <p:cNvPr id="8" name="TextBox 7"/>
          <p:cNvSpPr txBox="1"/>
          <p:nvPr/>
        </p:nvSpPr>
        <p:spPr>
          <a:xfrm>
            <a:off x="731520" y="5577840"/>
            <a:ext cx="10698480" cy="914400"/>
          </a:xfrm>
          <a:prstGeom prst="rect">
            <a:avLst/>
          </a:prstGeom>
          <a:noFill/>
        </p:spPr>
        <p:txBody>
          <a:bodyPr wrap="square">
            <a:spAutoFit/>
          </a:bodyPr>
          <a:lstStyle/>
          <a:p>
            <a:pPr algn="l">
              <a:spcAft>
                <a:spcPts val="600"/>
              </a:spcAft>
            </a:pPr>
            <a:r>
              <a:rPr sz="2000" b="1">
                <a:solidFill>
                  <a:srgbClr val="C0392B"/>
                </a:solidFill>
                <a:latin typeface="맑은 고딕"/>
              </a:rPr>
              <a:t>제7장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학습 목표</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전송 서비스와 Redo Apply를 구분해 설명한다</a:t>
            </a:r>
          </a:p>
          <a:p>
            <a:pPr algn="l">
              <a:spcAft>
                <a:spcPts val="1000"/>
              </a:spcAft>
            </a:pPr>
            <a:r>
              <a:rPr sz="1600" b="0">
                <a:solidFill>
                  <a:srgbClr val="222222"/>
                </a:solidFill>
                <a:latin typeface="맑은 고딕"/>
              </a:rPr>
              <a:t>•  RFS, MRP0, 복구 슬레이브의 역할을 구분한다</a:t>
            </a:r>
          </a:p>
          <a:p>
            <a:pPr algn="l">
              <a:spcAft>
                <a:spcPts val="1000"/>
              </a:spcAft>
            </a:pPr>
            <a:r>
              <a:rPr sz="1600" b="0">
                <a:solidFill>
                  <a:srgbClr val="222222"/>
                </a:solidFill>
                <a:latin typeface="맑은 고딕"/>
              </a:rPr>
              <a:t>•  Redo Apply를 기동·중지하고 상태 오류를 해석한다</a:t>
            </a:r>
          </a:p>
          <a:p>
            <a:pPr algn="l">
              <a:spcAft>
                <a:spcPts val="1000"/>
              </a:spcAft>
            </a:pPr>
            <a:r>
              <a:rPr sz="1600" b="0">
                <a:solidFill>
                  <a:srgbClr val="222222"/>
                </a:solidFill>
                <a:latin typeface="맑은 고딕"/>
              </a:rPr>
              <a:t>•  실시간 적용의 조건과 19c 기본 동작을 판별한다</a:t>
            </a:r>
          </a:p>
          <a:p>
            <a:pPr algn="l">
              <a:spcAft>
                <a:spcPts val="1000"/>
              </a:spcAft>
            </a:pPr>
            <a:r>
              <a:rPr sz="1600" b="0">
                <a:solidFill>
                  <a:srgbClr val="222222"/>
                </a:solidFill>
                <a:latin typeface="맑은 고딕"/>
              </a:rPr>
              <a:t>•  갭 해소 경로(ARCn ping, FAL)와 DELAY를 설명한다</a:t>
            </a:r>
          </a:p>
          <a:p>
            <a:pPr algn="l">
              <a:spcAft>
                <a:spcPts val="1000"/>
              </a:spcAft>
            </a:pPr>
            <a:r>
              <a:rPr sz="1600" b="0">
                <a:solidFill>
                  <a:srgbClr val="222222"/>
                </a:solidFill>
                <a:latin typeface="맑은 고딕"/>
              </a:rPr>
              <a:t>•  transport lag, apply lag로 지연 구간을 좁힌다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Agenda</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7.2  Redo Apply의 위치와 동작 원리</a:t>
            </a:r>
          </a:p>
          <a:p>
            <a:pPr algn="l">
              <a:spcAft>
                <a:spcPts val="1000"/>
              </a:spcAft>
            </a:pPr>
            <a:r>
              <a:rPr sz="1600" b="0">
                <a:solidFill>
                  <a:srgbClr val="222222"/>
                </a:solidFill>
                <a:latin typeface="맑은 고딕"/>
              </a:rPr>
              <a:t>•  7.3  Redo Apply 기동과 중지</a:t>
            </a:r>
          </a:p>
          <a:p>
            <a:pPr algn="l">
              <a:spcAft>
                <a:spcPts val="1000"/>
              </a:spcAft>
            </a:pPr>
            <a:r>
              <a:rPr sz="1600" b="0">
                <a:solidFill>
                  <a:srgbClr val="222222"/>
                </a:solidFill>
                <a:latin typeface="맑은 고딕"/>
              </a:rPr>
              <a:t>•  7.4  실시간 적용 (Real-Time Apply)</a:t>
            </a:r>
          </a:p>
          <a:p>
            <a:pPr algn="l">
              <a:spcAft>
                <a:spcPts val="1000"/>
              </a:spcAft>
            </a:pPr>
            <a:r>
              <a:rPr sz="1600" b="0">
                <a:solidFill>
                  <a:srgbClr val="222222"/>
                </a:solidFill>
                <a:latin typeface="맑은 고딕"/>
              </a:rPr>
              <a:t>•  7.5  적용을 떠받치는 Standby 설정</a:t>
            </a:r>
          </a:p>
          <a:p>
            <a:pPr algn="l">
              <a:spcAft>
                <a:spcPts val="1000"/>
              </a:spcAft>
            </a:pPr>
            <a:r>
              <a:rPr sz="1600" b="0">
                <a:solidFill>
                  <a:srgbClr val="222222"/>
                </a:solidFill>
                <a:latin typeface="맑은 고딕"/>
              </a:rPr>
              <a:t>•  7.6  아카이브 갭과 FAL  /  7.7  지연 적용 (DELAY)</a:t>
            </a:r>
          </a:p>
          <a:p>
            <a:pPr algn="l">
              <a:spcAft>
                <a:spcPts val="1000"/>
              </a:spcAft>
            </a:pPr>
            <a:r>
              <a:rPr sz="1600" b="0">
                <a:solidFill>
                  <a:srgbClr val="222222"/>
                </a:solidFill>
                <a:latin typeface="맑은 고딕"/>
              </a:rPr>
              <a:t>•  7.8  동기화 상태를 판단하는 지표  /  7.9  운영 시 주의점</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7.2</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Redo Apply의 위치와 동작 원리</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전송과 적용은 별개의 서비스</a:t>
            </a:r>
          </a:p>
          <a:p>
            <a:pPr algn="l">
              <a:spcAft>
                <a:spcPts val="800"/>
              </a:spcAft>
            </a:pPr>
            <a:r>
              <a:rPr sz="1600" b="0">
                <a:solidFill>
                  <a:srgbClr val="FFFFFF"/>
                </a:solidFill>
                <a:latin typeface="맑은 고딕"/>
              </a:rPr>
              <a:t>•  미디어 복구를 끝없이 이어 가는 구조</a:t>
            </a:r>
          </a:p>
          <a:p>
            <a:pPr algn="l">
              <a:spcAft>
                <a:spcPts val="800"/>
              </a:spcAft>
            </a:pPr>
            <a:r>
              <a:rPr sz="1600" b="0">
                <a:solidFill>
                  <a:srgbClr val="FFFFFF"/>
                </a:solidFill>
                <a:latin typeface="맑은 고딕"/>
              </a:rPr>
              <a:t>•  Standby 프로세스의 역할 분담</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전송과 적용은 분리된 서비스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도착했다와 반영됐다는 다른 진술</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전송: 리두를 SRL·아카이브 로그에 기록하면 끝</a:t>
            </a:r>
          </a:p>
          <a:p>
            <a:pPr algn="l">
              <a:spcAft>
                <a:spcPts val="1000"/>
              </a:spcAft>
            </a:pPr>
            <a:r>
              <a:rPr sz="1700" b="0">
                <a:solidFill>
                  <a:srgbClr val="222222"/>
                </a:solidFill>
                <a:latin typeface="맑은 고딕"/>
              </a:rPr>
              <a:t>•  적용: 기록된 리두를 데이터 파일 블록에 반영</a:t>
            </a:r>
          </a:p>
          <a:p>
            <a:pPr algn="l">
              <a:spcAft>
                <a:spcPts val="1000"/>
              </a:spcAft>
            </a:pPr>
            <a:r>
              <a:rPr sz="1700" b="0">
                <a:solidFill>
                  <a:srgbClr val="222222"/>
                </a:solidFill>
                <a:latin typeface="맑은 고딕"/>
              </a:rPr>
              <a:t>•  적용이 멈춰도 전송은 계속된다</a:t>
            </a:r>
          </a:p>
          <a:p>
            <a:pPr algn="l">
              <a:spcAft>
                <a:spcPts val="1000"/>
              </a:spcAft>
            </a:pPr>
            <a:r>
              <a:rPr sz="1700" b="0">
                <a:solidFill>
                  <a:srgbClr val="222222"/>
                </a:solidFill>
                <a:latin typeface="맑은 고딕"/>
              </a:rPr>
              <a:t>•  데이터 손실 여부는 전송, 전환 속도는 적용이 좌우</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미디어 복구로서의 Redo Apply</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백업 복구와 원리가 같고, 끝나지 않을 뿐</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물리 Standby는 미디어 복구 기술로 적용</a:t>
            </a:r>
          </a:p>
          <a:p>
            <a:pPr algn="l">
              <a:spcAft>
                <a:spcPts val="1000"/>
              </a:spcAft>
            </a:pPr>
            <a:r>
              <a:rPr sz="1700" b="0">
                <a:solidFill>
                  <a:srgbClr val="222222"/>
                </a:solidFill>
                <a:latin typeface="맑은 고딕"/>
              </a:rPr>
              <a:t>•  목표 시점 없이 다음 리두를 기다리며 계속</a:t>
            </a:r>
          </a:p>
          <a:p>
            <a:pPr algn="l">
              <a:spcAft>
                <a:spcPts val="1000"/>
              </a:spcAft>
            </a:pPr>
            <a:r>
              <a:rPr sz="1700" b="0">
                <a:solidFill>
                  <a:srgbClr val="222222"/>
                </a:solidFill>
                <a:latin typeface="맑은 고딕"/>
              </a:rPr>
              <a:t>•  블록 수준에서 Primary와 동일, 데이터 유형 제약 없음</a:t>
            </a:r>
          </a:p>
          <a:p>
            <a:pPr algn="l">
              <a:spcAft>
                <a:spcPts val="1000"/>
              </a:spcAft>
            </a:pPr>
            <a:r>
              <a:rPr sz="1700" b="0">
                <a:solidFill>
                  <a:srgbClr val="222222"/>
                </a:solidFill>
                <a:latin typeface="맑은 고딕"/>
              </a:rPr>
              <a:t>•  논리 Standby의 SQL Apply와는 구조가 다름</a:t>
            </a:r>
          </a:p>
          <a:p>
            <a:pPr algn="l">
              <a:spcAft>
                <a:spcPts val="1000"/>
              </a:spcAft>
            </a:pPr>
            <a:r>
              <a:rPr sz="1700" b="0">
                <a:solidFill>
                  <a:srgbClr val="222222"/>
                </a:solidFill>
                <a:latin typeface="맑은 고딕"/>
              </a:rPr>
              <a:t>•  Snapshot Standby는 받기만 하고 적용하지 않음</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Standby 쪽 프로세스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적용의 주체는 MRP0와 복구 슬레이브</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RFS: Primary의 전송 프로세스와 짝을 이뤄 수신</a:t>
            </a:r>
          </a:p>
          <a:p>
            <a:pPr algn="l">
              <a:spcAft>
                <a:spcPts val="1000"/>
              </a:spcAft>
            </a:pPr>
            <a:r>
              <a:rPr sz="1700" b="0">
                <a:solidFill>
                  <a:srgbClr val="222222"/>
                </a:solidFill>
                <a:latin typeface="맑은 고딕"/>
              </a:rPr>
              <a:t>•  ARCn: 다 찬 SRL을 아카이브 로그로 만듦</a:t>
            </a:r>
          </a:p>
          <a:p>
            <a:pPr algn="l">
              <a:spcAft>
                <a:spcPts val="1000"/>
              </a:spcAft>
            </a:pPr>
            <a:r>
              <a:rPr sz="1700" b="0">
                <a:solidFill>
                  <a:srgbClr val="222222"/>
                </a:solidFill>
                <a:latin typeface="맑은 고딕"/>
              </a:rPr>
              <a:t>•  MRP0: Redo Apply 전체를 조율하는 코디네이터</a:t>
            </a:r>
          </a:p>
          <a:p>
            <a:pPr algn="l">
              <a:spcAft>
                <a:spcPts val="1000"/>
              </a:spcAft>
            </a:pPr>
            <a:r>
              <a:rPr sz="1700" b="0">
                <a:solidFill>
                  <a:srgbClr val="222222"/>
                </a:solidFill>
                <a:latin typeface="맑은 고딕"/>
              </a:rPr>
              <a:t>•  PRnn: logmerger와 apply slave로 병렬 적용</a:t>
            </a:r>
          </a:p>
          <a:p>
            <a:pPr algn="l">
              <a:spcAft>
                <a:spcPts val="1000"/>
              </a:spcAft>
            </a:pPr>
            <a:r>
              <a:rPr sz="1700" b="0">
                <a:solidFill>
                  <a:srgbClr val="222222"/>
                </a:solidFill>
                <a:latin typeface="맑은 고딕"/>
              </a:rPr>
              <a:t>•  MRP0가 없으면 적용이 돌지 않는 것으로 판단</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V$DATAGUARD_PROCESS로 보는 역할</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12.2 이후 권장 뷰</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ROLE 열: managed recovery, recovery logmerger 등</a:t>
            </a:r>
          </a:p>
          <a:p>
            <a:pPr algn="l">
              <a:spcAft>
                <a:spcPts val="1000"/>
              </a:spcAft>
            </a:pPr>
            <a:r>
              <a:rPr sz="1700" b="0">
                <a:solidFill>
                  <a:srgbClr val="222222"/>
                </a:solidFill>
                <a:latin typeface="맑은 고딕"/>
              </a:rPr>
              <a:t>•  ACTION 열: 지금 하는 일(APPLYING_LOG 등)</a:t>
            </a:r>
          </a:p>
          <a:p>
            <a:pPr algn="l">
              <a:spcAft>
                <a:spcPts val="1000"/>
              </a:spcAft>
            </a:pPr>
            <a:r>
              <a:rPr sz="1700" b="0">
                <a:solidFill>
                  <a:srgbClr val="222222"/>
                </a:solidFill>
                <a:latin typeface="맑은 고딕"/>
              </a:rPr>
              <a:t>•  V$MANAGED_STANDBY는 19c에서 디프리케이트</a:t>
            </a:r>
          </a:p>
          <a:p>
            <a:pPr algn="l">
              <a:spcAft>
                <a:spcPts val="1000"/>
              </a:spcAft>
            </a:pPr>
            <a:r>
              <a:rPr sz="1700" b="0">
                <a:solidFill>
                  <a:srgbClr val="222222"/>
                </a:solidFill>
                <a:latin typeface="맑은 고딕"/>
              </a:rPr>
              <a:t>•  새 점검 스크립트는 V$DATAGUARD_PROCESS 기준</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적용 속도를 좌우하는 요소</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Primary보다 적용 쪽에 부담이 몰리는 순간</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Standby I/O: 캐시에 없는 블록을 읽어야 함</a:t>
            </a:r>
          </a:p>
          <a:p>
            <a:pPr algn="l">
              <a:spcAft>
                <a:spcPts val="1000"/>
              </a:spcAft>
            </a:pPr>
            <a:r>
              <a:rPr sz="1700" b="0">
                <a:solidFill>
                  <a:srgbClr val="222222"/>
                </a:solidFill>
                <a:latin typeface="맑은 고딕"/>
              </a:rPr>
              <a:t>•  CPU 수: 복구 슬레이브 병렬도에 영향</a:t>
            </a:r>
          </a:p>
          <a:p>
            <a:pPr algn="l">
              <a:spcAft>
                <a:spcPts val="1000"/>
              </a:spcAft>
            </a:pPr>
            <a:r>
              <a:rPr sz="1700" b="0">
                <a:solidFill>
                  <a:srgbClr val="222222"/>
                </a:solidFill>
                <a:latin typeface="맑은 고딕"/>
              </a:rPr>
              <a:t>•  리두의 성격: 인덱스 많은 대량 DML, LOB 변경</a:t>
            </a:r>
          </a:p>
          <a:p>
            <a:pPr algn="l">
              <a:spcAft>
                <a:spcPts val="1000"/>
              </a:spcAft>
            </a:pPr>
            <a:r>
              <a:rPr sz="1700" b="0">
                <a:solidFill>
                  <a:srgbClr val="222222"/>
                </a:solidFill>
                <a:latin typeface="맑은 고딕"/>
              </a:rPr>
              <a:t>•  Broker의 Apply Rate로 처리 속도 확인</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적용 단계의 손상 검증</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리두를 그대로 덮어쓰는 장치가 아니다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RFS, ARCn, MRP, DBWn이 단계별로 정합성 검사</a:t>
            </a:r>
          </a:p>
          <a:p>
            <a:pPr algn="l">
              <a:spcAft>
                <a:spcPts val="1000"/>
              </a:spcAft>
            </a:pPr>
            <a:r>
              <a:rPr sz="1700" b="0">
                <a:solidFill>
                  <a:srgbClr val="222222"/>
                </a:solidFill>
                <a:latin typeface="맑은 고딕"/>
              </a:rPr>
              <a:t>•  손상된 리두는 갭 해소 경로로 다시 받아 옴</a:t>
            </a:r>
          </a:p>
          <a:p>
            <a:pPr algn="l">
              <a:spcAft>
                <a:spcPts val="1000"/>
              </a:spcAft>
            </a:pPr>
            <a:r>
              <a:rPr sz="1700" b="0">
                <a:solidFill>
                  <a:srgbClr val="222222"/>
                </a:solidFill>
                <a:latin typeface="맑은 고딕"/>
              </a:rPr>
              <a:t>•  DB_LOST_WRITE_PROTECT: 양쪽 TYPICAL 이상 권장</a:t>
            </a:r>
          </a:p>
          <a:p>
            <a:pPr algn="l">
              <a:spcAft>
                <a:spcPts val="1000"/>
              </a:spcAft>
            </a:pPr>
            <a:r>
              <a:rPr sz="1700" b="0">
                <a:solidFill>
                  <a:srgbClr val="222222"/>
                </a:solidFill>
                <a:latin typeface="맑은 고딕"/>
              </a:rPr>
              <a:t>•  Primary lost write는 ORA-00752로 드러남</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7.3</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Redo Apply 기동과 중지</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기동 명령과 선행 조건</a:t>
            </a:r>
          </a:p>
          <a:p>
            <a:pPr algn="l">
              <a:spcAft>
                <a:spcPts val="800"/>
              </a:spcAft>
            </a:pPr>
            <a:r>
              <a:rPr sz="1600" b="0">
                <a:solidFill>
                  <a:srgbClr val="FFFFFF"/>
                </a:solidFill>
                <a:latin typeface="맑은 고딕"/>
              </a:rPr>
              <a:t>•  상태에 맞지 않는 명령의 오류</a:t>
            </a:r>
          </a:p>
          <a:p>
            <a:pPr algn="l">
              <a:spcAft>
                <a:spcPts val="800"/>
              </a:spcAft>
            </a:pPr>
            <a:r>
              <a:rPr sz="1600" b="0">
                <a:solidFill>
                  <a:srgbClr val="FFFFFF"/>
                </a:solidFill>
                <a:latin typeface="맑은 고딕"/>
              </a:rPr>
              <a:t>•  열린 모드와 적용 상태의 조합</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기동 명령과 선행 조건</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RECOVER MANAGED STANDBY DATABASE</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Standby가 최소 MOUNT 상태여야 함</a:t>
            </a:r>
          </a:p>
          <a:p>
            <a:pPr algn="l">
              <a:spcAft>
                <a:spcPts val="1000"/>
              </a:spcAft>
            </a:pPr>
            <a:r>
              <a:rPr sz="1700" b="0">
                <a:solidFill>
                  <a:srgbClr val="222222"/>
                </a:solidFill>
                <a:latin typeface="맑은 고딕"/>
              </a:rPr>
              <a:t>•  기본형: ... RECOVER MANAGED STANDBY DATABASE DISCONNECT</a:t>
            </a:r>
          </a:p>
          <a:p>
            <a:pPr algn="l">
              <a:spcAft>
                <a:spcPts val="1000"/>
              </a:spcAft>
            </a:pPr>
            <a:r>
              <a:rPr sz="1700" b="0">
                <a:solidFill>
                  <a:srgbClr val="222222"/>
                </a:solidFill>
                <a:latin typeface="맑은 고딕"/>
              </a:rPr>
              <a:t>•  SYSDBA 또는 SYSDG로 접속해 실행</a:t>
            </a:r>
          </a:p>
          <a:p>
            <a:pPr algn="l">
              <a:spcAft>
                <a:spcPts val="1000"/>
              </a:spcAft>
            </a:pPr>
            <a:r>
              <a:rPr sz="1700" b="0">
                <a:solidFill>
                  <a:srgbClr val="222222"/>
                </a:solidFill>
                <a:latin typeface="맑은 고딕"/>
              </a:rPr>
              <a:t>•  처음 기동 후 Primary 로그 전환으로 흐름 확인</a:t>
            </a:r>
          </a:p>
          <a:p>
            <a:pPr algn="l">
              <a:spcAft>
                <a:spcPts val="1000"/>
              </a:spcAft>
            </a:pPr>
            <a:r>
              <a:rPr sz="1700" b="0">
                <a:solidFill>
                  <a:srgbClr val="222222"/>
                </a:solidFill>
                <a:latin typeface="맑은 고딕"/>
              </a:rPr>
              <a:t>•  Broker 구성에서는 DGMGRL로 상태 변경</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DISCONNECT의 의미</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누가 복구를 수행하는가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DISCONNECT: MRP0가 백그라운드에서 적용</a:t>
            </a:r>
          </a:p>
          <a:p>
            <a:pPr algn="l">
              <a:spcAft>
                <a:spcPts val="1000"/>
              </a:spcAft>
            </a:pPr>
            <a:r>
              <a:rPr sz="1700" b="0">
                <a:solidFill>
                  <a:srgbClr val="222222"/>
                </a:solidFill>
                <a:latin typeface="맑은 고딕"/>
              </a:rPr>
              <a:t>•  생략하면 명령 세션이 직접 복구, 프롬프트 반환 없음</a:t>
            </a:r>
          </a:p>
          <a:p>
            <a:pPr algn="l">
              <a:spcAft>
                <a:spcPts val="1000"/>
              </a:spcAft>
            </a:pPr>
            <a:r>
              <a:rPr sz="1700" b="0">
                <a:solidFill>
                  <a:srgbClr val="222222"/>
                </a:solidFill>
                <a:latin typeface="맑은 고딕"/>
              </a:rPr>
              <a:t>•  FROM SESSION은 지금도 허용되지만 불필요</a:t>
            </a:r>
          </a:p>
          <a:p>
            <a:pPr algn="l">
              <a:spcAft>
                <a:spcPts val="1000"/>
              </a:spcAft>
            </a:pPr>
            <a:r>
              <a:rPr sz="1700" b="0">
                <a:solidFill>
                  <a:srgbClr val="222222"/>
                </a:solidFill>
                <a:latin typeface="맑은 고딕"/>
              </a:rPr>
              <a:t>•  사실상 운영에서는 항상 DISCONNECT 사용</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중지와 상태 오류</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두 오류 모두 데이터에는 영향 없음</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중지: ... RECOVER MANAGED STANDBY DATABASE CANCEL</a:t>
            </a:r>
          </a:p>
          <a:p>
            <a:pPr algn="l">
              <a:spcAft>
                <a:spcPts val="1000"/>
              </a:spcAft>
            </a:pPr>
            <a:r>
              <a:rPr sz="1700" b="0">
                <a:solidFill>
                  <a:srgbClr val="222222"/>
                </a:solidFill>
                <a:latin typeface="맑은 고딕"/>
              </a:rPr>
              <a:t>•  ORA-01153: 이미 도는데 다시 기동</a:t>
            </a:r>
          </a:p>
          <a:p>
            <a:pPr algn="l">
              <a:spcAft>
                <a:spcPts val="1000"/>
              </a:spcAft>
            </a:pPr>
            <a:r>
              <a:rPr sz="1700" b="0">
                <a:solidFill>
                  <a:srgbClr val="222222"/>
                </a:solidFill>
                <a:latin typeface="맑은 고딕"/>
              </a:rPr>
              <a:t>•  ORA-16136: 이미 멈췄는데 CANCEL</a:t>
            </a:r>
          </a:p>
          <a:p>
            <a:pPr algn="l">
              <a:spcAft>
                <a:spcPts val="1000"/>
              </a:spcAft>
            </a:pPr>
            <a:r>
              <a:rPr sz="1700" b="0">
                <a:solidFill>
                  <a:srgbClr val="222222"/>
                </a:solidFill>
                <a:latin typeface="맑은 고딕"/>
              </a:rPr>
              <a:t>•  ORA-10456: 마운트 상태에서 적용 중 OPEN 시도</a:t>
            </a:r>
          </a:p>
          <a:p>
            <a:pPr algn="l">
              <a:spcAft>
                <a:spcPts val="1000"/>
              </a:spcAft>
            </a:pPr>
            <a:r>
              <a:rPr sz="1700" b="0">
                <a:solidFill>
                  <a:srgbClr val="222222"/>
                </a:solidFill>
                <a:latin typeface="맑은 고딕"/>
              </a:rPr>
              <a:t>•  재기동 스크립트는 CANCEL 후 기동, 16136은 무시</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열린 모드와 적용 상태 조합</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라이선스 경계가 걸린 곳</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MOUNTED + 적용: 전통적인 Standby</a:t>
            </a:r>
          </a:p>
          <a:p>
            <a:pPr algn="l">
              <a:spcAft>
                <a:spcPts val="1000"/>
              </a:spcAft>
            </a:pPr>
            <a:r>
              <a:rPr sz="1700" b="0">
                <a:solidFill>
                  <a:srgbClr val="222222"/>
                </a:solidFill>
                <a:latin typeface="맑은 고딕"/>
              </a:rPr>
              <a:t>•  READ ONLY + 적용 중지: 조회 가능, 데이터 정지</a:t>
            </a:r>
          </a:p>
          <a:p>
            <a:pPr algn="l">
              <a:spcAft>
                <a:spcPts val="1000"/>
              </a:spcAft>
            </a:pPr>
            <a:r>
              <a:rPr sz="1700" b="0">
                <a:solidFill>
                  <a:srgbClr val="222222"/>
                </a:solidFill>
                <a:latin typeface="맑은 고딕"/>
              </a:rPr>
              <a:t>•  READ ONLY WITH APPLY: Active Data Guard 옵션 필요</a:t>
            </a:r>
          </a:p>
          <a:p>
            <a:pPr algn="l">
              <a:spcAft>
                <a:spcPts val="1000"/>
              </a:spcAft>
            </a:pPr>
            <a:r>
              <a:rPr sz="1700" b="0">
                <a:solidFill>
                  <a:srgbClr val="222222"/>
                </a:solidFill>
                <a:latin typeface="맑은 고딕"/>
              </a:rPr>
              <a:t>•  열린 Standby를 마운트로: 재기동 후 STARTUP MOUNT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기동 직후 확인할 세 가지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켜졌다가 아니라 적용하고 있다를 본다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프로세스: managed recovery 역할의 MRP0</a:t>
            </a:r>
          </a:p>
          <a:p>
            <a:pPr algn="l">
              <a:spcAft>
                <a:spcPts val="1000"/>
              </a:spcAft>
            </a:pPr>
            <a:r>
              <a:rPr sz="1700" b="0">
                <a:solidFill>
                  <a:srgbClr val="222222"/>
                </a:solidFill>
                <a:latin typeface="맑은 고딕"/>
              </a:rPr>
              <a:t>•  모드: RECOVERY_MODE가 기대한 값인지</a:t>
            </a:r>
          </a:p>
          <a:p>
            <a:pPr algn="l">
              <a:spcAft>
                <a:spcPts val="1000"/>
              </a:spcAft>
            </a:pPr>
            <a:r>
              <a:rPr sz="1700" b="0">
                <a:solidFill>
                  <a:srgbClr val="222222"/>
                </a:solidFill>
                <a:latin typeface="맑은 고딕"/>
              </a:rPr>
              <a:t>•  진행: 로그 전환 후 적용 위치가 움직이는지</a:t>
            </a:r>
          </a:p>
          <a:p>
            <a:pPr algn="l">
              <a:spcAft>
                <a:spcPts val="1000"/>
              </a:spcAft>
            </a:pPr>
            <a:r>
              <a:rPr sz="1700" b="0">
                <a:solidFill>
                  <a:srgbClr val="222222"/>
                </a:solidFill>
                <a:latin typeface="맑은 고딕"/>
              </a:rPr>
              <a:t>•  프로세스가 떠 있어도 진행이 멈춰 있을 수 있음</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ACTION 값 읽기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MRP0가 지금 무엇을 하는가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APPLYING_LOG: 적용 중</a:t>
            </a:r>
          </a:p>
          <a:p>
            <a:pPr algn="l">
              <a:spcAft>
                <a:spcPts val="1000"/>
              </a:spcAft>
            </a:pPr>
            <a:r>
              <a:rPr sz="1700" b="0">
                <a:solidFill>
                  <a:srgbClr val="222222"/>
                </a:solidFill>
                <a:latin typeface="맑은 고딕"/>
              </a:rPr>
              <a:t>•  WAIT_FOR_LOG: 다음 리두 대기, 오류 아님</a:t>
            </a:r>
          </a:p>
          <a:p>
            <a:pPr algn="l">
              <a:spcAft>
                <a:spcPts val="1000"/>
              </a:spcAft>
            </a:pPr>
            <a:r>
              <a:rPr sz="1700" b="0">
                <a:solidFill>
                  <a:srgbClr val="222222"/>
                </a:solidFill>
                <a:latin typeface="맑은 고딕"/>
              </a:rPr>
              <a:t>•  WAIT_FOR_GAP: 빠진 로그 때문에 진행 불가</a:t>
            </a:r>
          </a:p>
          <a:p>
            <a:pPr algn="l">
              <a:spcAft>
                <a:spcPts val="1000"/>
              </a:spcAft>
            </a:pPr>
            <a:r>
              <a:rPr sz="1700" b="0">
                <a:solidFill>
                  <a:srgbClr val="222222"/>
                </a:solidFill>
                <a:latin typeface="맑은 고딕"/>
              </a:rPr>
              <a:t>•  APPLIED 열은 로그 단위 표시, 초 단위 판단 불가</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7.4</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실시간 적용 (Real-Time Apply)</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로그 전환을 기다리지 않는 적용</a:t>
            </a:r>
          </a:p>
          <a:p>
            <a:pPr algn="l">
              <a:spcAft>
                <a:spcPts val="800"/>
              </a:spcAft>
            </a:pPr>
            <a:r>
              <a:rPr sz="1600" b="0">
                <a:solidFill>
                  <a:srgbClr val="FFFFFF"/>
                </a:solidFill>
                <a:latin typeface="맑은 고딕"/>
              </a:rPr>
              <a:t>•  SRL이 전제인 이유</a:t>
            </a:r>
          </a:p>
          <a:p>
            <a:pPr algn="l">
              <a:spcAft>
                <a:spcPts val="800"/>
              </a:spcAft>
            </a:pPr>
            <a:r>
              <a:rPr sz="1600" b="0">
                <a:solidFill>
                  <a:srgbClr val="FFFFFF"/>
                </a:solidFill>
                <a:latin typeface="맑은 고딕"/>
              </a:rPr>
              <a:t>•  19c 기본값과 판별 방법</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아카이브 기반 적용 vs 실시간 적용</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언제 리두를 읽는가의 차이</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아카이브 기반: 로그가 아카이브된 뒤 읽기 시작</a:t>
            </a:r>
          </a:p>
          <a:p>
            <a:pPr algn="l">
              <a:spcAft>
                <a:spcPts val="1000"/>
              </a:spcAft>
            </a:pPr>
            <a:r>
              <a:rPr sz="1700" b="0">
                <a:solidFill>
                  <a:srgbClr val="222222"/>
                </a:solidFill>
                <a:latin typeface="맑은 고딕"/>
              </a:rPr>
              <a:t>•  실시간: RFS가 SRL에 쓰는 즉시 MRP0가 읽음</a:t>
            </a:r>
          </a:p>
          <a:p>
            <a:pPr algn="l">
              <a:spcAft>
                <a:spcPts val="1000"/>
              </a:spcAft>
            </a:pPr>
            <a:r>
              <a:rPr sz="1700" b="0">
                <a:solidFill>
                  <a:srgbClr val="222222"/>
                </a:solidFill>
                <a:latin typeface="맑은 고딕"/>
              </a:rPr>
              <a:t>•  밀리면 아카이브 로그로 따라잡고 다시 SRL로</a:t>
            </a:r>
          </a:p>
          <a:p>
            <a:pPr algn="l">
              <a:spcAft>
                <a:spcPts val="1000"/>
              </a:spcAft>
            </a:pPr>
            <a:r>
              <a:rPr sz="1700" b="0">
                <a:solidFill>
                  <a:srgbClr val="222222"/>
                </a:solidFill>
                <a:latin typeface="맑은 고딕"/>
              </a:rPr>
              <a:t>•  RECOVERY_MODE: MANAGED 대 MANAGED REAL TIME APPLY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SRL이 전제인 이유</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쓰는 중인 파일을 동시에 읽는 구조</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RFS가 SRL에 쓰지 않으면 실시간 적용 불가</a:t>
            </a:r>
          </a:p>
          <a:p>
            <a:pPr algn="l">
              <a:spcAft>
                <a:spcPts val="1000"/>
              </a:spcAft>
            </a:pPr>
            <a:r>
              <a:rPr sz="1700" b="0">
                <a:solidFill>
                  <a:srgbClr val="222222"/>
                </a:solidFill>
                <a:latin typeface="맑은 고딕"/>
              </a:rPr>
              <a:t>•  SRL 없음, 크기 부족, 모두 아카이브 대기 시 강등</a:t>
            </a:r>
          </a:p>
          <a:p>
            <a:pPr algn="l">
              <a:spcAft>
                <a:spcPts val="1000"/>
              </a:spcAft>
            </a:pPr>
            <a:r>
              <a:rPr sz="1700" b="0">
                <a:solidFill>
                  <a:srgbClr val="222222"/>
                </a:solidFill>
                <a:latin typeface="맑은 고딕"/>
              </a:rPr>
              <a:t>•  4장 규칙: ORL과 같은 크기, 그룹 하나 더</a:t>
            </a:r>
          </a:p>
          <a:p>
            <a:pPr algn="l">
              <a:spcAft>
                <a:spcPts val="1000"/>
              </a:spcAft>
            </a:pPr>
            <a:r>
              <a:rPr sz="1700" b="0">
                <a:solidFill>
                  <a:srgbClr val="222222"/>
                </a:solidFill>
                <a:latin typeface="맑은 고딕"/>
              </a:rPr>
              <a:t>•  적용 중인 SRL 삭제 시 ORA-00261</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소리 없는 강등</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오류 없이 아카이브 기반으로 떨어진다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기동 명령은 성공, MRP0도 정상으로 보임</a:t>
            </a:r>
          </a:p>
          <a:p>
            <a:pPr algn="l">
              <a:spcAft>
                <a:spcPts val="1000"/>
              </a:spcAft>
            </a:pPr>
            <a:r>
              <a:rPr sz="1700" b="0">
                <a:solidFill>
                  <a:srgbClr val="222222"/>
                </a:solidFill>
                <a:latin typeface="맑은 고딕"/>
              </a:rPr>
              <a:t>•  실제로는 로그 전환 때마다 계단식으로 적용</a:t>
            </a:r>
          </a:p>
          <a:p>
            <a:pPr algn="l">
              <a:spcAft>
                <a:spcPts val="1000"/>
              </a:spcAft>
            </a:pPr>
            <a:r>
              <a:rPr sz="1700" b="0">
                <a:solidFill>
                  <a:srgbClr val="222222"/>
                </a:solidFill>
                <a:latin typeface="맑은 고딕"/>
              </a:rPr>
              <a:t>•  Primary 로그를 키우고 SRL을 그대로 두면 발생</a:t>
            </a:r>
          </a:p>
          <a:p>
            <a:pPr algn="l">
              <a:spcAft>
                <a:spcPts val="1000"/>
              </a:spcAft>
            </a:pPr>
            <a:r>
              <a:rPr sz="1700" b="0">
                <a:solidFill>
                  <a:srgbClr val="222222"/>
                </a:solidFill>
                <a:latin typeface="맑은 고딕"/>
              </a:rPr>
              <a:t>•  판별 수단은 RECOVERY_MODE와 apply lag</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19c 기본값과 명령 절</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12.1부터 실시간 적용이 기본</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기본형 기동만으로 실시간 적용</a:t>
            </a:r>
          </a:p>
          <a:p>
            <a:pPr algn="l">
              <a:spcAft>
                <a:spcPts val="1000"/>
              </a:spcAft>
            </a:pPr>
            <a:r>
              <a:rPr sz="1700" b="0">
                <a:solidFill>
                  <a:srgbClr val="222222"/>
                </a:solidFill>
                <a:latin typeface="맑은 고딕"/>
              </a:rPr>
              <a:t>•  USING CURRENT LOGFILE: 디프리케이트, 효과 같음</a:t>
            </a:r>
          </a:p>
          <a:p>
            <a:pPr algn="l">
              <a:spcAft>
                <a:spcPts val="1000"/>
              </a:spcAft>
            </a:pPr>
            <a:r>
              <a:rPr sz="1700" b="0">
                <a:solidFill>
                  <a:srgbClr val="222222"/>
                </a:solidFill>
                <a:latin typeface="맑은 고딕"/>
              </a:rPr>
              <a:t>•  USING ARCHIVED LOGFILE: 실시간 적용 끄기</a:t>
            </a:r>
          </a:p>
          <a:p>
            <a:pPr algn="l">
              <a:spcAft>
                <a:spcPts val="1000"/>
              </a:spcAft>
            </a:pPr>
            <a:r>
              <a:rPr sz="1700" b="0">
                <a:solidFill>
                  <a:srgbClr val="222222"/>
                </a:solidFill>
                <a:latin typeface="맑은 고딕"/>
              </a:rPr>
              <a:t>•  PARALLEL n, NODELAY, FINISH도 기동 시점에 결정</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실시간 적용 vs 실시간 조회</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이름은 비슷, 기능과 라이선스는 다름</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실시간 적용: MRP0가 SRL을 바로 읽는 적용 방식</a:t>
            </a:r>
          </a:p>
          <a:p>
            <a:pPr algn="l">
              <a:spcAft>
                <a:spcPts val="1000"/>
              </a:spcAft>
            </a:pPr>
            <a:r>
              <a:rPr sz="1700" b="0">
                <a:solidFill>
                  <a:srgbClr val="222222"/>
                </a:solidFill>
                <a:latin typeface="맑은 고딕"/>
              </a:rPr>
              <a:t>•  실시간 조회: READ ONLY로 연 채 적용을 계속</a:t>
            </a:r>
          </a:p>
          <a:p>
            <a:pPr algn="l">
              <a:spcAft>
                <a:spcPts val="1000"/>
              </a:spcAft>
            </a:pPr>
            <a:r>
              <a:rPr sz="1700" b="0">
                <a:solidFill>
                  <a:srgbClr val="222222"/>
                </a:solidFill>
                <a:latin typeface="맑은 고딕"/>
              </a:rPr>
              <a:t>•  실시간 적용은 기본 기능, 조회는 ADG 옵션</a:t>
            </a:r>
          </a:p>
          <a:p>
            <a:pPr algn="l">
              <a:spcAft>
                <a:spcPts val="1000"/>
              </a:spcAft>
            </a:pPr>
            <a:r>
              <a:rPr sz="1700" b="0">
                <a:solidFill>
                  <a:srgbClr val="222222"/>
                </a:solidFill>
                <a:latin typeface="맑은 고딕"/>
              </a:rPr>
              <a:t>•  마운트 Standby도 실시간 적용은 돌아감</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실시간 적용 판별</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1차는 뷰, 2차는 기능 시험</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V$ARCHIVE_DEST_STATUS.RECOVERY_MODE 확인</a:t>
            </a:r>
          </a:p>
          <a:p>
            <a:pPr algn="l">
              <a:spcAft>
                <a:spcPts val="1000"/>
              </a:spcAft>
            </a:pPr>
            <a:r>
              <a:rPr sz="1700" b="0">
                <a:solidFill>
                  <a:srgbClr val="222222"/>
                </a:solidFill>
                <a:latin typeface="맑은 고딕"/>
              </a:rPr>
              <a:t>•  값: MANAGED REAL TIME APPLY / MANAGED / IDLE</a:t>
            </a:r>
          </a:p>
          <a:p>
            <a:pPr algn="l">
              <a:spcAft>
                <a:spcPts val="1000"/>
              </a:spcAft>
            </a:pPr>
            <a:r>
              <a:rPr sz="1700" b="0">
                <a:solidFill>
                  <a:srgbClr val="222222"/>
                </a:solidFill>
                <a:latin typeface="맑은 고딕"/>
              </a:rPr>
              <a:t>•  반드시 Standby 인스턴스에서 조회</a:t>
            </a:r>
          </a:p>
          <a:p>
            <a:pPr algn="l">
              <a:spcAft>
                <a:spcPts val="1000"/>
              </a:spcAft>
            </a:pPr>
            <a:r>
              <a:rPr sz="1700" b="0">
                <a:solidFill>
                  <a:srgbClr val="222222"/>
                </a:solidFill>
                <a:latin typeface="맑은 고딕"/>
              </a:rPr>
              <a:t>•  기능 시험: 커밋 후 로그 전환 없이 Standby 조회</a:t>
            </a:r>
          </a:p>
          <a:p>
            <a:pPr algn="l">
              <a:spcAft>
                <a:spcPts val="1000"/>
              </a:spcAft>
            </a:pPr>
            <a:r>
              <a:rPr sz="1700" b="0">
                <a:solidFill>
                  <a:srgbClr val="222222"/>
                </a:solidFill>
                <a:latin typeface="맑은 고딕"/>
              </a:rPr>
              <a:t>•  기능 시험은 ADG 라이선스 환경에서만</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실시간 적용의 이점</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운영상 손해는 거의 없다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Switchover, Failover 시 남은 적용량 감소</a:t>
            </a:r>
          </a:p>
          <a:p>
            <a:pPr algn="l">
              <a:spcAft>
                <a:spcPts val="1000"/>
              </a:spcAft>
            </a:pPr>
            <a:r>
              <a:rPr sz="1700" b="0">
                <a:solidFill>
                  <a:srgbClr val="222222"/>
                </a:solidFill>
                <a:latin typeface="맑은 고딕"/>
              </a:rPr>
              <a:t>•  Failover 시간(RTO) 단축</a:t>
            </a:r>
          </a:p>
          <a:p>
            <a:pPr algn="l">
              <a:spcAft>
                <a:spcPts val="1000"/>
              </a:spcAft>
            </a:pPr>
            <a:r>
              <a:rPr sz="1700" b="0">
                <a:solidFill>
                  <a:srgbClr val="222222"/>
                </a:solidFill>
                <a:latin typeface="맑은 고딕"/>
              </a:rPr>
              <a:t>•  실시간 조회 결과가 Primary와 초 단위로 근접</a:t>
            </a:r>
          </a:p>
          <a:p>
            <a:pPr algn="l">
              <a:spcAft>
                <a:spcPts val="1000"/>
              </a:spcAft>
            </a:pPr>
            <a:r>
              <a:rPr sz="1700" b="0">
                <a:solidFill>
                  <a:srgbClr val="222222"/>
                </a:solidFill>
                <a:latin typeface="맑은 고딕"/>
              </a:rPr>
              <a:t>•  큰 로그 파일을 써도 적용 지연이 늘지 않음</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7.5</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적용을 떠받치는 Standby 설정</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Standby의 로컬 아카이브 목적지</a:t>
            </a:r>
          </a:p>
          <a:p>
            <a:pPr algn="l">
              <a:spcAft>
                <a:spcPts val="800"/>
              </a:spcAft>
            </a:pPr>
            <a:r>
              <a:rPr sz="1600" b="0">
                <a:solidFill>
                  <a:srgbClr val="FFFFFF"/>
                </a:solidFill>
                <a:latin typeface="맑은 고딕"/>
              </a:rPr>
              <a:t>•  목적지 STATUS 읽기</a:t>
            </a:r>
          </a:p>
          <a:p>
            <a:pPr algn="l">
              <a:spcAft>
                <a:spcPts val="800"/>
              </a:spcAft>
            </a:pPr>
            <a:r>
              <a:rPr sz="1600" b="0">
                <a:solidFill>
                  <a:srgbClr val="FFFFFF"/>
                </a:solidFill>
                <a:latin typeface="맑은 고딕"/>
              </a:rPr>
              <a:t>•  FAL과 파일 관리 파라미터</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로컬 아카이브 목적지와 VALID_FOR</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다 찬 SRL은 어디로 가는가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Standby ARCn이 SRL을 아카이브 로그로 만듦</a:t>
            </a:r>
          </a:p>
          <a:p>
            <a:pPr algn="l">
              <a:spcAft>
                <a:spcPts val="1000"/>
              </a:spcAft>
            </a:pPr>
            <a:r>
              <a:rPr sz="1700" b="0">
                <a:solidFill>
                  <a:srgbClr val="222222"/>
                </a:solidFill>
                <a:latin typeface="맑은 고딕"/>
              </a:rPr>
              <a:t>•  위치는 Standby의 LOG_ARCHIVE_DEST_1 등이 결정</a:t>
            </a:r>
          </a:p>
          <a:p>
            <a:pPr algn="l">
              <a:spcAft>
                <a:spcPts val="1000"/>
              </a:spcAft>
            </a:pPr>
            <a:r>
              <a:rPr sz="1700" b="0">
                <a:solidFill>
                  <a:srgbClr val="222222"/>
                </a:solidFill>
                <a:latin typeface="맑은 고딕"/>
              </a:rPr>
              <a:t>•  VALID_FOR에 SRL(ALL_LOGFILES 등)이 포함돼야 함</a:t>
            </a:r>
          </a:p>
          <a:p>
            <a:pPr algn="l">
              <a:spcAft>
                <a:spcPts val="1000"/>
              </a:spcAft>
            </a:pPr>
            <a:r>
              <a:rPr sz="1700" b="0">
                <a:solidFill>
                  <a:srgbClr val="222222"/>
                </a:solidFill>
                <a:latin typeface="맑은 고딕"/>
              </a:rPr>
              <a:t>•  ONLINE_LOGFILES만 지정하면 WRONG VALID_TYPE</a:t>
            </a:r>
          </a:p>
          <a:p>
            <a:pPr algn="l">
              <a:spcAft>
                <a:spcPts val="1000"/>
              </a:spcAft>
            </a:pPr>
            <a:r>
              <a:rPr sz="1700" b="0">
                <a:solidFill>
                  <a:srgbClr val="222222"/>
                </a:solidFill>
                <a:latin typeface="맑은 고딕"/>
              </a:rPr>
              <a:t>•  STANDBY_ARCHIVE_DEST는 디프리케이트</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목적지 STATUS 읽기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INACTIVE와 BAD PARAM을 혼동하지 말 것</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VALID: 정상 사용 중</a:t>
            </a:r>
          </a:p>
          <a:p>
            <a:pPr algn="l">
              <a:spcAft>
                <a:spcPts val="1000"/>
              </a:spcAft>
            </a:pPr>
            <a:r>
              <a:rPr sz="1700" b="0">
                <a:solidFill>
                  <a:srgbClr val="222222"/>
                </a:solidFill>
                <a:latin typeface="맑은 고딕"/>
              </a:rPr>
              <a:t>•  INACTIVE: 정의되지 않은 목적지, 정상</a:t>
            </a:r>
          </a:p>
          <a:p>
            <a:pPr algn="l">
              <a:spcAft>
                <a:spcPts val="1000"/>
              </a:spcAft>
            </a:pPr>
            <a:r>
              <a:rPr sz="1700" b="0">
                <a:solidFill>
                  <a:srgbClr val="222222"/>
                </a:solidFill>
                <a:latin typeface="맑은 고딕"/>
              </a:rPr>
              <a:t>•  BAD PARAM: 문자열을 해석하지 못함</a:t>
            </a:r>
          </a:p>
          <a:p>
            <a:pPr algn="l">
              <a:spcAft>
                <a:spcPts val="1000"/>
              </a:spcAft>
            </a:pPr>
            <a:r>
              <a:rPr sz="1700" b="0">
                <a:solidFill>
                  <a:srgbClr val="222222"/>
                </a:solidFill>
                <a:latin typeface="맑은 고딕"/>
              </a:rPr>
              <a:t>•  ERROR: 문법은 맞지만 기록·연결 실패</a:t>
            </a:r>
          </a:p>
          <a:p>
            <a:pPr algn="l">
              <a:spcAft>
                <a:spcPts val="1000"/>
              </a:spcAft>
            </a:pPr>
            <a:r>
              <a:rPr sz="1700" b="0">
                <a:solidFill>
                  <a:srgbClr val="222222"/>
                </a:solidFill>
                <a:latin typeface="맑은 고딕"/>
              </a:rPr>
              <a:t>•  DEFERRED: 수동 보류 상태</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FAL과 파일 관리 파라미터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기동 성공 뒤에도 적용을 좌우하는 설정</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FAL_SERVER: 빠진 로그를 요청할 대상</a:t>
            </a:r>
          </a:p>
          <a:p>
            <a:pPr algn="l">
              <a:spcAft>
                <a:spcPts val="1000"/>
              </a:spcAft>
            </a:pPr>
            <a:r>
              <a:rPr sz="1700" b="0">
                <a:solidFill>
                  <a:srgbClr val="222222"/>
                </a:solidFill>
                <a:latin typeface="맑은 고딕"/>
              </a:rPr>
              <a:t>•  FAL_CLIENT: 19c에서는 선택, 설정 시 올바른 이름</a:t>
            </a:r>
          </a:p>
          <a:p>
            <a:pPr algn="l">
              <a:spcAft>
                <a:spcPts val="1000"/>
              </a:spcAft>
            </a:pPr>
            <a:r>
              <a:rPr sz="1700" b="0">
                <a:solidFill>
                  <a:srgbClr val="222222"/>
                </a:solidFill>
                <a:latin typeface="맑은 고딕"/>
              </a:rPr>
              <a:t>•  Primary에도 반대 방향으로 미리 설정</a:t>
            </a:r>
          </a:p>
          <a:p>
            <a:pPr algn="l">
              <a:spcAft>
                <a:spcPts val="1000"/>
              </a:spcAft>
            </a:pPr>
            <a:r>
              <a:rPr sz="1700" b="0">
                <a:solidFill>
                  <a:srgbClr val="222222"/>
                </a:solidFill>
                <a:latin typeface="맑은 고딕"/>
              </a:rPr>
              <a:t>•  STANDBY_FILE_MANAGEMENT=AUTO (상세는 8장)</a:t>
            </a:r>
          </a:p>
          <a:p>
            <a:pPr algn="l">
              <a:spcAft>
                <a:spcPts val="1000"/>
              </a:spcAft>
            </a:pPr>
            <a:r>
              <a:rPr sz="1700" b="0">
                <a:solidFill>
                  <a:srgbClr val="222222"/>
                </a:solidFill>
                <a:latin typeface="맑은 고딕"/>
              </a:rPr>
              <a:t>•  파일 이름 변환·OMF 설정도 적용의 일부</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사례 — 기동은 성공, 적용은 제자리</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진단 순서 따라가기</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증상: MRP0는 보이는데 적용 위치가 거의 고정</a:t>
            </a:r>
          </a:p>
          <a:p>
            <a:pPr algn="l">
              <a:spcAft>
                <a:spcPts val="1000"/>
              </a:spcAft>
            </a:pPr>
            <a:r>
              <a:rPr sz="1700" b="0">
                <a:solidFill>
                  <a:srgbClr val="222222"/>
                </a:solidFill>
                <a:latin typeface="맑은 고딕"/>
              </a:rPr>
              <a:t>•  1단계: RECOVERY_MODE가 MANAGED인지 확인</a:t>
            </a:r>
          </a:p>
          <a:p>
            <a:pPr algn="l">
              <a:spcAft>
                <a:spcPts val="1000"/>
              </a:spcAft>
            </a:pPr>
            <a:r>
              <a:rPr sz="1700" b="0">
                <a:solidFill>
                  <a:srgbClr val="222222"/>
                </a:solidFill>
                <a:latin typeface="맑은 고딕"/>
              </a:rPr>
              <a:t>•  2단계: Standby 로컬 목적지 STATUS 확인</a:t>
            </a:r>
          </a:p>
          <a:p>
            <a:pPr algn="l">
              <a:spcAft>
                <a:spcPts val="1000"/>
              </a:spcAft>
            </a:pPr>
            <a:r>
              <a:rPr sz="1700" b="0">
                <a:solidFill>
                  <a:srgbClr val="222222"/>
                </a:solidFill>
                <a:latin typeface="맑은 고딕"/>
              </a:rPr>
              <a:t>•  원인: BAD PARAM으로 SRL 아카이브 불가</a:t>
            </a:r>
          </a:p>
          <a:p>
            <a:pPr algn="l">
              <a:spcAft>
                <a:spcPts val="1000"/>
              </a:spcAft>
            </a:pPr>
            <a:r>
              <a:rPr sz="1700" b="0">
                <a:solidFill>
                  <a:srgbClr val="222222"/>
                </a:solidFill>
                <a:latin typeface="맑은 고딕"/>
              </a:rPr>
              <a:t>•  교정 후 재기동, FAL 설정도 함께 점검</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7.6</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아카이브 갭과 FAL</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갭이 생기는 원인</a:t>
            </a:r>
          </a:p>
          <a:p>
            <a:pPr algn="l">
              <a:spcAft>
                <a:spcPts val="800"/>
              </a:spcAft>
            </a:pPr>
            <a:r>
              <a:rPr sz="1600" b="0">
                <a:solidFill>
                  <a:srgbClr val="FFFFFF"/>
                </a:solidFill>
                <a:latin typeface="맑은 고딕"/>
              </a:rPr>
              <a:t>•  자동 해소의 두 경로</a:t>
            </a:r>
          </a:p>
          <a:p>
            <a:pPr algn="l">
              <a:spcAft>
                <a:spcPts val="800"/>
              </a:spcAft>
            </a:pPr>
            <a:r>
              <a:rPr sz="1600" b="0">
                <a:solidFill>
                  <a:srgbClr val="FFFFFF"/>
                </a:solidFill>
                <a:latin typeface="맑은 고딕"/>
              </a:rPr>
              <a:t>•  수동 해소와 예방</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갭이 생기는 원인</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적용은 갭을 발견하고 기다리는 쪽</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네트워크 단절로 일정 시간 전송 불가</a:t>
            </a:r>
          </a:p>
          <a:p>
            <a:pPr algn="l">
              <a:spcAft>
                <a:spcPts val="1000"/>
              </a:spcAft>
            </a:pPr>
            <a:r>
              <a:rPr sz="1700" b="0">
                <a:solidFill>
                  <a:srgbClr val="222222"/>
                </a:solidFill>
                <a:latin typeface="맑은 고딕"/>
              </a:rPr>
              <a:t>•  Standby 인스턴스 다운 중 로그 전환</a:t>
            </a:r>
          </a:p>
          <a:p>
            <a:pPr algn="l">
              <a:spcAft>
                <a:spcPts val="1000"/>
              </a:spcAft>
            </a:pPr>
            <a:r>
              <a:rPr sz="1700" b="0">
                <a:solidFill>
                  <a:srgbClr val="222222"/>
                </a:solidFill>
                <a:latin typeface="맑은 고딕"/>
              </a:rPr>
              <a:t>•  Standby 디스크 부족으로 기록 실패</a:t>
            </a:r>
          </a:p>
          <a:p>
            <a:pPr algn="l">
              <a:spcAft>
                <a:spcPts val="1000"/>
              </a:spcAft>
            </a:pPr>
            <a:r>
              <a:rPr sz="1700" b="0">
                <a:solidFill>
                  <a:srgbClr val="222222"/>
                </a:solidFill>
                <a:latin typeface="맑은 고딕"/>
              </a:rPr>
              <a:t>•  Primary 아카이브 로그가 전송 전 삭제</a:t>
            </a:r>
          </a:p>
          <a:p>
            <a:pPr algn="l">
              <a:spcAft>
                <a:spcPts val="1000"/>
              </a:spcAft>
            </a:pPr>
            <a:r>
              <a:rPr sz="1700" b="0">
                <a:solidFill>
                  <a:srgbClr val="222222"/>
                </a:solidFill>
                <a:latin typeface="맑은 고딕"/>
              </a:rPr>
              <a:t>•  갭 해소 중에는 apply lag가 일시적으로 커짐</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자동 해소의 두 경로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Primary가 먼저, 또는 Standby가 요청</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ARCn ping: Primary가 주기적으로 누락을 확인해 전송</a:t>
            </a:r>
          </a:p>
          <a:p>
            <a:pPr algn="l">
              <a:spcAft>
                <a:spcPts val="1000"/>
              </a:spcAft>
            </a:pPr>
            <a:r>
              <a:rPr sz="1700" b="0">
                <a:solidFill>
                  <a:srgbClr val="222222"/>
                </a:solidFill>
                <a:latin typeface="맑은 고딕"/>
              </a:rPr>
              <a:t>•  FAL: MRP0가 부재를 발견해 FAL_SERVER에 요청</a:t>
            </a:r>
          </a:p>
          <a:p>
            <a:pPr algn="l">
              <a:spcAft>
                <a:spcPts val="1000"/>
              </a:spcAft>
            </a:pPr>
            <a:r>
              <a:rPr sz="1700" b="0">
                <a:solidFill>
                  <a:srgbClr val="222222"/>
                </a:solidFill>
                <a:latin typeface="맑은 고딕"/>
              </a:rPr>
              <a:t>•  요청 받은 쪽 ARCn이 Standby RFS로 전송</a:t>
            </a:r>
          </a:p>
          <a:p>
            <a:pPr algn="l">
              <a:spcAft>
                <a:spcPts val="1000"/>
              </a:spcAft>
            </a:pPr>
            <a:r>
              <a:rPr sz="1700" b="0">
                <a:solidFill>
                  <a:srgbClr val="222222"/>
                </a:solidFill>
                <a:latin typeface="맑은 고딕"/>
              </a:rPr>
              <a:t>•  ping은 재연결에, FAL은 손상·유실에 강함</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갭 확인과 수동 해소</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자동으로 안 될 때의 순서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Standby에서 V$ARCHIVE_GAP 조회</a:t>
            </a:r>
          </a:p>
          <a:p>
            <a:pPr algn="l">
              <a:spcAft>
                <a:spcPts val="1000"/>
              </a:spcAft>
            </a:pPr>
            <a:r>
              <a:rPr sz="1700" b="0">
                <a:solidFill>
                  <a:srgbClr val="222222"/>
                </a:solidFill>
                <a:latin typeface="맑은 고딕"/>
              </a:rPr>
              <a:t>•  몇 분 간격으로 다시 봐서 줄어드는지 확인</a:t>
            </a:r>
          </a:p>
          <a:p>
            <a:pPr algn="l">
              <a:spcAft>
                <a:spcPts val="1000"/>
              </a:spcAft>
            </a:pPr>
            <a:r>
              <a:rPr sz="1700" b="0">
                <a:solidFill>
                  <a:srgbClr val="222222"/>
                </a:solidFill>
                <a:latin typeface="맑은 고딕"/>
              </a:rPr>
              <a:t>•  원본 복사 후 ALTER DATABASE REGISTER PHYSICAL LOGFILE</a:t>
            </a:r>
          </a:p>
          <a:p>
            <a:pPr algn="l">
              <a:spcAft>
                <a:spcPts val="1000"/>
              </a:spcAft>
            </a:pPr>
            <a:r>
              <a:rPr sz="1700" b="0">
                <a:solidFill>
                  <a:srgbClr val="222222"/>
                </a:solidFill>
                <a:latin typeface="맑은 고딕"/>
              </a:rPr>
              <a:t>•  원본이 없으면 RECOVER STANDBY DATABASE FROM SERVICE</a:t>
            </a:r>
          </a:p>
          <a:p>
            <a:pPr algn="l">
              <a:spcAft>
                <a:spcPts val="1000"/>
              </a:spcAft>
            </a:pPr>
            <a:r>
              <a:rPr sz="1700" b="0">
                <a:solidFill>
                  <a:srgbClr val="222222"/>
                </a:solidFill>
                <a:latin typeface="맑은 고딕"/>
              </a:rPr>
              <a:t>•  갭이 있으면 Switchover 불가</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갭과 보호 모드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설정값과 실제 보장 수준은 다를 수 있다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Maximum Availability: 단절 시 비동기화로 계속 운영</a:t>
            </a:r>
          </a:p>
          <a:p>
            <a:pPr algn="l">
              <a:spcAft>
                <a:spcPts val="1000"/>
              </a:spcAft>
            </a:pPr>
            <a:r>
              <a:rPr sz="1700" b="0">
                <a:solidFill>
                  <a:srgbClr val="222222"/>
                </a:solidFill>
                <a:latin typeface="맑은 고딕"/>
              </a:rPr>
              <a:t>•  갭이 모두 해소돼야 동기화 상태로 복귀</a:t>
            </a:r>
          </a:p>
          <a:p>
            <a:pPr algn="l">
              <a:spcAft>
                <a:spcPts val="1000"/>
              </a:spcAft>
            </a:pPr>
            <a:r>
              <a:rPr sz="1700" b="0">
                <a:solidFill>
                  <a:srgbClr val="222222"/>
                </a:solidFill>
                <a:latin typeface="맑은 고딕"/>
              </a:rPr>
              <a:t>•  PROTECTION_MODE는 설정, PROTECTION_LEVEL은 실제</a:t>
            </a:r>
          </a:p>
          <a:p>
            <a:pPr algn="l">
              <a:spcAft>
                <a:spcPts val="1000"/>
              </a:spcAft>
            </a:pPr>
            <a:r>
              <a:rPr sz="1700" b="0">
                <a:solidFill>
                  <a:srgbClr val="222222"/>
                </a:solidFill>
                <a:latin typeface="맑은 고딕"/>
              </a:rPr>
              <a:t>•  Maximum Performance는 갭이 있어도 Primary 무반응</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삭제 정책으로 갭을 예방</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가장 어려운 갭은 스스로 만든 갭</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원인: FRA 공간 압박, 백업 후 일괄 삭제</a:t>
            </a:r>
          </a:p>
          <a:p>
            <a:pPr algn="l">
              <a:spcAft>
                <a:spcPts val="1000"/>
              </a:spcAft>
            </a:pPr>
            <a:r>
              <a:rPr sz="1700" b="0">
                <a:solidFill>
                  <a:srgbClr val="222222"/>
                </a:solidFill>
                <a:latin typeface="맑은 고딕"/>
              </a:rPr>
              <a:t>•  APPLIED ON ALL STANDBY 정책 권장</a:t>
            </a:r>
          </a:p>
          <a:p>
            <a:pPr algn="l">
              <a:spcAft>
                <a:spcPts val="1000"/>
              </a:spcAft>
            </a:pPr>
            <a:r>
              <a:rPr sz="1700" b="0">
                <a:solidFill>
                  <a:srgbClr val="222222"/>
                </a:solidFill>
                <a:latin typeface="맑은 고딕"/>
              </a:rPr>
              <a:t>•  최소한 SHIPPED TO ALL STANDBY</a:t>
            </a:r>
          </a:p>
          <a:p>
            <a:pPr algn="l">
              <a:spcAft>
                <a:spcPts val="1000"/>
              </a:spcAft>
            </a:pPr>
            <a:r>
              <a:rPr sz="1700" b="0">
                <a:solidFill>
                  <a:srgbClr val="222222"/>
                </a:solidFill>
                <a:latin typeface="맑은 고딕"/>
              </a:rPr>
              <a:t>•  Primary와 Standby 양쪽에 같은 정책</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7.7</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지연 적용 (DELAY)</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일부러 늦게 적용하는 이유</a:t>
            </a:r>
          </a:p>
          <a:p>
            <a:pPr algn="l">
              <a:spcAft>
                <a:spcPts val="800"/>
              </a:spcAft>
            </a:pPr>
            <a:r>
              <a:rPr sz="1600" b="0">
                <a:solidFill>
                  <a:srgbClr val="FFFFFF"/>
                </a:solidFill>
                <a:latin typeface="맑은 고딕"/>
              </a:rPr>
              <a:t>•  DELAY 속성과 실시간 적용의 관계</a:t>
            </a:r>
          </a:p>
          <a:p>
            <a:pPr algn="l">
              <a:spcAft>
                <a:spcPts val="800"/>
              </a:spcAft>
            </a:pPr>
            <a:r>
              <a:rPr sz="1600" b="0">
                <a:solidFill>
                  <a:srgbClr val="FFFFFF"/>
                </a:solidFill>
                <a:latin typeface="맑은 고딕"/>
              </a:rPr>
              <a:t>•  지연 Standby를 고르는 기준</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왜 늦게 적용하는가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사용자 오류로부터 데이터를 지키는 시간 창</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Data Guard는 잘못된 DROP, DELETE도 그대로 복제</a:t>
            </a:r>
          </a:p>
          <a:p>
            <a:pPr algn="l">
              <a:spcAft>
                <a:spcPts val="1000"/>
              </a:spcAft>
            </a:pPr>
            <a:r>
              <a:rPr sz="1700" b="0">
                <a:solidFill>
                  <a:srgbClr val="222222"/>
                </a:solidFill>
                <a:latin typeface="맑은 고딕"/>
              </a:rPr>
              <a:t>•  실시간 적용이면 몇 초 안에 Standby에도 반영</a:t>
            </a:r>
          </a:p>
          <a:p>
            <a:pPr algn="l">
              <a:spcAft>
                <a:spcPts val="1000"/>
              </a:spcAft>
            </a:pPr>
            <a:r>
              <a:rPr sz="1700" b="0">
                <a:solidFill>
                  <a:srgbClr val="222222"/>
                </a:solidFill>
                <a:latin typeface="맑은 고딕"/>
              </a:rPr>
              <a:t>•  지연 구간 안에 발견하면 적용을 멈추고 데이터 회수</a:t>
            </a:r>
          </a:p>
          <a:p>
            <a:pPr algn="l">
              <a:spcAft>
                <a:spcPts val="1000"/>
              </a:spcAft>
            </a:pPr>
            <a:r>
              <a:rPr sz="1700" b="0">
                <a:solidFill>
                  <a:srgbClr val="222222"/>
                </a:solidFill>
                <a:latin typeface="맑은 고딕"/>
              </a:rPr>
              <a:t>•  전송은 지연되지 않아 손실 관점 보호는 유지</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DELAY 설정</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Primary 목적지의 속성</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Primary의 LOG_ARCHIVE_DEST_n에 DELAY=분</a:t>
            </a:r>
          </a:p>
          <a:p>
            <a:pPr algn="l">
              <a:spcAft>
                <a:spcPts val="1000"/>
              </a:spcAft>
            </a:pPr>
            <a:r>
              <a:rPr sz="1700" b="0">
                <a:solidFill>
                  <a:srgbClr val="222222"/>
                </a:solidFill>
                <a:latin typeface="맑은 고딕"/>
              </a:rPr>
              <a:t>•  값 없이 DELAY만 쓰면 기본 30분</a:t>
            </a:r>
          </a:p>
          <a:p>
            <a:pPr algn="l">
              <a:spcAft>
                <a:spcPts val="1000"/>
              </a:spcAft>
            </a:pPr>
            <a:r>
              <a:rPr sz="1700" b="0">
                <a:solidFill>
                  <a:srgbClr val="222222"/>
                </a:solidFill>
                <a:latin typeface="맑은 고딕"/>
              </a:rPr>
              <a:t>•  리두가 Standby에 아카이브된 시점부터 계산</a:t>
            </a:r>
          </a:p>
          <a:p>
            <a:pPr algn="l">
              <a:spcAft>
                <a:spcPts val="1000"/>
              </a:spcAft>
            </a:pPr>
            <a:r>
              <a:rPr sz="1700" b="0">
                <a:solidFill>
                  <a:srgbClr val="222222"/>
                </a:solidFill>
                <a:latin typeface="맑은 고딕"/>
              </a:rPr>
              <a:t>•  Broker 구성에서는 DelayMins 속성</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실시간 적용과의 관계</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둘은 함께 성립하지 않는다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실시간 적용 중이면 DELAY가 무시됨(교재·문서)</a:t>
            </a:r>
          </a:p>
          <a:p>
            <a:pPr algn="l">
              <a:spcAft>
                <a:spcPts val="1000"/>
              </a:spcAft>
            </a:pPr>
            <a:r>
              <a:rPr sz="1700" b="0">
                <a:solidFill>
                  <a:srgbClr val="222222"/>
                </a:solidFill>
                <a:latin typeface="맑은 고딕"/>
              </a:rPr>
              <a:t>•  지연을 쓰려면 USING ARCHIVED LOGFILE로 기동</a:t>
            </a:r>
          </a:p>
          <a:p>
            <a:pPr algn="l">
              <a:spcAft>
                <a:spcPts val="1000"/>
              </a:spcAft>
            </a:pPr>
            <a:r>
              <a:rPr sz="1700" b="0">
                <a:solidFill>
                  <a:srgbClr val="222222"/>
                </a:solidFill>
                <a:latin typeface="맑은 고딕"/>
              </a:rPr>
              <a:t>•  기동 후 RECOVERY_MODE가 MANAGED인지 확인</a:t>
            </a:r>
          </a:p>
          <a:p>
            <a:pPr algn="l">
              <a:spcAft>
                <a:spcPts val="1000"/>
              </a:spcAft>
            </a:pPr>
            <a:r>
              <a:rPr sz="1700" b="0">
                <a:solidFill>
                  <a:srgbClr val="222222"/>
                </a:solidFill>
                <a:latin typeface="맑은 고딕"/>
              </a:rPr>
              <a:t>•  NODELAY: 이번 기동에서만 지연 무시</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지연 Standby 선택 기준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역할 전환용과 오류 대비용을 나눈다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지연 Standby는 Failover 시간이 길어짐</a:t>
            </a:r>
          </a:p>
          <a:p>
            <a:pPr algn="l">
              <a:spcAft>
                <a:spcPts val="1000"/>
              </a:spcAft>
            </a:pPr>
            <a:r>
              <a:rPr sz="1700" b="0">
                <a:solidFill>
                  <a:srgbClr val="222222"/>
                </a:solidFill>
                <a:latin typeface="맑은 고딕"/>
              </a:rPr>
              <a:t>•  지연은 보통 두 번째 Standby에 건다</a:t>
            </a:r>
          </a:p>
          <a:p>
            <a:pPr algn="l">
              <a:spcAft>
                <a:spcPts val="1000"/>
              </a:spcAft>
            </a:pPr>
            <a:r>
              <a:rPr sz="1700" b="0">
                <a:solidFill>
                  <a:srgbClr val="222222"/>
                </a:solidFill>
                <a:latin typeface="맑은 고딕"/>
              </a:rPr>
              <a:t>•  Switchover 대상이라면 전환 전 지연 제거</a:t>
            </a:r>
          </a:p>
          <a:p>
            <a:pPr algn="l">
              <a:spcAft>
                <a:spcPts val="1000"/>
              </a:spcAft>
            </a:pPr>
            <a:r>
              <a:rPr sz="1700" b="0">
                <a:solidFill>
                  <a:srgbClr val="222222"/>
                </a:solidFill>
                <a:latin typeface="맑은 고딕"/>
              </a:rPr>
              <a:t>•  Standby의 Flashback Database가 대안이자 보완</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사례 — 오후에 실행된 잘못된 DELETE</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지연 Standby로 데이터 회수</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조건 없는 DELETE, 40분 뒤 발견</a:t>
            </a:r>
          </a:p>
          <a:p>
            <a:pPr algn="l">
              <a:spcAft>
                <a:spcPts val="1000"/>
              </a:spcAft>
            </a:pPr>
            <a:r>
              <a:rPr sz="1700" b="0">
                <a:solidFill>
                  <a:srgbClr val="222222"/>
                </a:solidFill>
                <a:latin typeface="맑은 고딕"/>
              </a:rPr>
              <a:t>•  실시간 Standby boston에는 이미 반영</a:t>
            </a:r>
          </a:p>
          <a:p>
            <a:pPr algn="l">
              <a:spcAft>
                <a:spcPts val="1000"/>
              </a:spcAft>
            </a:pPr>
            <a:r>
              <a:rPr sz="1700" b="0">
                <a:solidFill>
                  <a:srgbClr val="222222"/>
                </a:solidFill>
                <a:latin typeface="맑은 고딕"/>
              </a:rPr>
              <a:t>•  4시간 지연 Standby의 적용부터 CANCEL</a:t>
            </a:r>
          </a:p>
          <a:p>
            <a:pPr algn="l">
              <a:spcAft>
                <a:spcPts val="1000"/>
              </a:spcAft>
            </a:pPr>
            <a:r>
              <a:rPr sz="1700" b="0">
                <a:solidFill>
                  <a:srgbClr val="222222"/>
                </a:solidFill>
                <a:latin typeface="맑은 고딕"/>
              </a:rPr>
              <a:t>•  READ ONLY로 열어 행 조회 후 Primary로 복원</a:t>
            </a:r>
          </a:p>
          <a:p>
            <a:pPr algn="l">
              <a:spcAft>
                <a:spcPts val="1000"/>
              </a:spcAft>
            </a:pPr>
            <a:r>
              <a:rPr sz="1700" b="0">
                <a:solidFill>
                  <a:srgbClr val="222222"/>
                </a:solidFill>
                <a:latin typeface="맑은 고딕"/>
              </a:rPr>
              <a:t>•  복구 후 USING ARCHIVED LOGFILE로 재기동</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7.8</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동기화 상태를 판단하는 지표</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V$DATAGUARD_STATS의 네 지표</a:t>
            </a:r>
          </a:p>
          <a:p>
            <a:pPr algn="l">
              <a:spcAft>
                <a:spcPts val="800"/>
              </a:spcAft>
            </a:pPr>
            <a:r>
              <a:rPr sz="1600" b="0">
                <a:solidFill>
                  <a:srgbClr val="FFFFFF"/>
                </a:solidFill>
                <a:latin typeface="맑은 고딕"/>
              </a:rPr>
              <a:t>•  지표의 신선도</a:t>
            </a:r>
          </a:p>
          <a:p>
            <a:pPr algn="l">
              <a:spcAft>
                <a:spcPts val="800"/>
              </a:spcAft>
            </a:pPr>
            <a:r>
              <a:rPr sz="1600" b="0">
                <a:solidFill>
                  <a:srgbClr val="FFFFFF"/>
                </a:solidFill>
                <a:latin typeface="맑은 고딕"/>
              </a:rPr>
              <a:t>•  lag 조합으로 지연 구간 좁히기</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V$DATAGUARD_STATS의 네 지표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Standby에서 조회</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transport lag: 아직 도착하지 않은 리두의 시간 환산</a:t>
            </a:r>
          </a:p>
          <a:p>
            <a:pPr algn="l">
              <a:spcAft>
                <a:spcPts val="1000"/>
              </a:spcAft>
            </a:pPr>
            <a:r>
              <a:rPr sz="1700" b="0">
                <a:solidFill>
                  <a:srgbClr val="222222"/>
                </a:solidFill>
                <a:latin typeface="맑은 고딕"/>
              </a:rPr>
              <a:t>•  apply lag: Standby 데이터가 얼마나 과거인가</a:t>
            </a:r>
          </a:p>
          <a:p>
            <a:pPr algn="l">
              <a:spcAft>
                <a:spcPts val="1000"/>
              </a:spcAft>
            </a:pPr>
            <a:r>
              <a:rPr sz="1700" b="0">
                <a:solidFill>
                  <a:srgbClr val="222222"/>
                </a:solidFill>
                <a:latin typeface="맑은 고딕"/>
              </a:rPr>
              <a:t>•  apply finish time: 받은 리두 적용 완료 예상 시간</a:t>
            </a:r>
          </a:p>
          <a:p>
            <a:pPr algn="l">
              <a:spcAft>
                <a:spcPts val="1000"/>
              </a:spcAft>
            </a:pPr>
            <a:r>
              <a:rPr sz="1700" b="0">
                <a:solidFill>
                  <a:srgbClr val="222222"/>
                </a:solidFill>
                <a:latin typeface="맑은 고딕"/>
              </a:rPr>
              <a:t>•  estimated startup time: 기동·오픈 예상 시간</a:t>
            </a:r>
          </a:p>
          <a:p>
            <a:pPr algn="l">
              <a:spcAft>
                <a:spcPts val="1000"/>
              </a:spcAft>
            </a:pPr>
            <a:r>
              <a:rPr sz="1700" b="0">
                <a:solidFill>
                  <a:srgbClr val="222222"/>
                </a:solidFill>
                <a:latin typeface="맑은 고딕"/>
              </a:rPr>
              <a:t>•  apply lag는 항상 transport lag 이상</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지표의 신선도</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DATUM_TIME과 TIME_COMPUTED</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DATUM_TIME: 계산에 쓴 데이터를 마지막으로 받은 시각</a:t>
            </a:r>
          </a:p>
          <a:p>
            <a:pPr algn="l">
              <a:spcAft>
                <a:spcPts val="1000"/>
              </a:spcAft>
            </a:pPr>
            <a:r>
              <a:rPr sz="1700" b="0">
                <a:solidFill>
                  <a:srgbClr val="222222"/>
                </a:solidFill>
                <a:latin typeface="맑은 고딕"/>
              </a:rPr>
              <a:t>•  TIME_COMPUTED: 지표를 계산한 시각</a:t>
            </a:r>
          </a:p>
          <a:p>
            <a:pPr algn="l">
              <a:spcAft>
                <a:spcPts val="1000"/>
              </a:spcAft>
            </a:pPr>
            <a:r>
              <a:rPr sz="1700" b="0">
                <a:solidFill>
                  <a:srgbClr val="222222"/>
                </a:solidFill>
                <a:latin typeface="맑은 고딕"/>
              </a:rPr>
              <a:t>•  두 시각 차이는 30초 미만이어야 신뢰</a:t>
            </a:r>
          </a:p>
          <a:p>
            <a:pPr algn="l">
              <a:spcAft>
                <a:spcPts val="1000"/>
              </a:spcAft>
            </a:pPr>
            <a:r>
              <a:rPr sz="1700" b="0">
                <a:solidFill>
                  <a:srgbClr val="222222"/>
                </a:solidFill>
                <a:latin typeface="맑은 고딕"/>
              </a:rPr>
              <a:t>•  연결이 끊기면 lag가 작은 값에 멈춰 정상처럼 보임</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lag 조합으로 구간 좁히기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어느 쪽 lag가 큰가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둘 다 작음: 정상, 단 신선도 확인</a:t>
            </a:r>
          </a:p>
          <a:p>
            <a:pPr algn="l">
              <a:spcAft>
                <a:spcPts val="1000"/>
              </a:spcAft>
            </a:pPr>
            <a:r>
              <a:rPr sz="1700" b="0">
                <a:solidFill>
                  <a:srgbClr val="222222"/>
                </a:solidFill>
                <a:latin typeface="맑은 고딕"/>
              </a:rPr>
              <a:t>•  transport 작고 apply만 큼: 적용 쪽 문제</a:t>
            </a:r>
          </a:p>
          <a:p>
            <a:pPr algn="l">
              <a:spcAft>
                <a:spcPts val="1000"/>
              </a:spcAft>
            </a:pPr>
            <a:r>
              <a:rPr sz="1700" b="0">
                <a:solidFill>
                  <a:srgbClr val="222222"/>
                </a:solidFill>
                <a:latin typeface="맑은 고딕"/>
              </a:rPr>
              <a:t>•  둘 다 큼: 전송 구간 문제</a:t>
            </a:r>
          </a:p>
          <a:p>
            <a:pPr algn="l">
              <a:spcAft>
                <a:spcPts val="1000"/>
              </a:spcAft>
            </a:pPr>
            <a:r>
              <a:rPr sz="1700" b="0">
                <a:solidFill>
                  <a:srgbClr val="222222"/>
                </a:solidFill>
                <a:latin typeface="맑은 고딕"/>
              </a:rPr>
              <a:t>•  둘 다 증가 추세: 리두 생성량이 처리 능력 초과</a:t>
            </a:r>
          </a:p>
          <a:p>
            <a:pPr algn="l">
              <a:spcAft>
                <a:spcPts val="1000"/>
              </a:spcAft>
            </a:pPr>
            <a:r>
              <a:rPr sz="1700" b="0">
                <a:solidFill>
                  <a:srgbClr val="222222"/>
                </a:solidFill>
                <a:latin typeface="맑은 고딕"/>
              </a:rPr>
              <a:t>•  apply lag 큰데 WAIT_FOR_LOG면 공급 문제</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지표가 없을 때의 보조 확인</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순번 비교와 Broker</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Primary 현재 순번과 Standby 마지막 적용 순번 비교</a:t>
            </a:r>
          </a:p>
          <a:p>
            <a:pPr algn="l">
              <a:spcAft>
                <a:spcPts val="1000"/>
              </a:spcAft>
            </a:pPr>
            <a:r>
              <a:rPr sz="1700" b="0">
                <a:solidFill>
                  <a:srgbClr val="222222"/>
                </a:solidFill>
                <a:latin typeface="맑은 고딕"/>
              </a:rPr>
              <a:t>•  실시간 적용 중이면 차이 0~1이 보통</a:t>
            </a:r>
          </a:p>
          <a:p>
            <a:pPr algn="l">
              <a:spcAft>
                <a:spcPts val="1000"/>
              </a:spcAft>
            </a:pPr>
            <a:r>
              <a:rPr sz="1700" b="0">
                <a:solidFill>
                  <a:srgbClr val="222222"/>
                </a:solidFill>
                <a:latin typeface="맑은 고딕"/>
              </a:rPr>
              <a:t>•  순번 차이는 로그 개수일 뿐 시간이 아님</a:t>
            </a:r>
          </a:p>
          <a:p>
            <a:pPr algn="l">
              <a:spcAft>
                <a:spcPts val="1000"/>
              </a:spcAft>
            </a:pPr>
            <a:r>
              <a:rPr sz="1700" b="0">
                <a:solidFill>
                  <a:srgbClr val="222222"/>
                </a:solidFill>
                <a:latin typeface="맑은 고딕"/>
              </a:rPr>
              <a:t>•  Broker SHOW DATABASE의 Transport Lag, Apply Lag</a:t>
            </a:r>
          </a:p>
          <a:p>
            <a:pPr algn="l">
              <a:spcAft>
                <a:spcPts val="1000"/>
              </a:spcAft>
            </a:pPr>
            <a:r>
              <a:rPr sz="1700" b="0">
                <a:solidFill>
                  <a:srgbClr val="222222"/>
                </a:solidFill>
                <a:latin typeface="맑은 고딕"/>
              </a:rPr>
              <a:t>•  임계값 경보: ApplyLagThreshold 등(14장)</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기동 후 동기화 점검 순서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앞 단계가 이상하면 뒤 단계 값은 믿지 않는다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1. 역할과 열린 모드 (V$DATABASE)</a:t>
            </a:r>
          </a:p>
          <a:p>
            <a:pPr algn="l">
              <a:spcAft>
                <a:spcPts val="1000"/>
              </a:spcAft>
            </a:pPr>
            <a:r>
              <a:rPr sz="1700" b="0">
                <a:solidFill>
                  <a:srgbClr val="222222"/>
                </a:solidFill>
                <a:latin typeface="맑은 고딕"/>
              </a:rPr>
              <a:t>•  2. 프로세스: MRP0, RFS와 ACTION</a:t>
            </a:r>
          </a:p>
          <a:p>
            <a:pPr algn="l">
              <a:spcAft>
                <a:spcPts val="1000"/>
              </a:spcAft>
            </a:pPr>
            <a:r>
              <a:rPr sz="1700" b="0">
                <a:solidFill>
                  <a:srgbClr val="222222"/>
                </a:solidFill>
                <a:latin typeface="맑은 고딕"/>
              </a:rPr>
              <a:t>•  3. 목적지 STATUS와 RECOVERY_MODE</a:t>
            </a:r>
          </a:p>
          <a:p>
            <a:pPr algn="l">
              <a:spcAft>
                <a:spcPts val="1000"/>
              </a:spcAft>
            </a:pPr>
            <a:r>
              <a:rPr sz="1700" b="0">
                <a:solidFill>
                  <a:srgbClr val="222222"/>
                </a:solidFill>
                <a:latin typeface="맑은 고딕"/>
              </a:rPr>
              <a:t>•  4. 갭: V$ARCHIVE_GAP</a:t>
            </a:r>
          </a:p>
          <a:p>
            <a:pPr algn="l">
              <a:spcAft>
                <a:spcPts val="1000"/>
              </a:spcAft>
            </a:pPr>
            <a:r>
              <a:rPr sz="1700" b="0">
                <a:solidFill>
                  <a:srgbClr val="222222"/>
                </a:solidFill>
                <a:latin typeface="맑은 고딕"/>
              </a:rPr>
              <a:t>•  5. 지연 지표와 DATUM_TIME 신선도</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7.9</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운영 시 주의점</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멈춘 적용은 경보 없이 방치되기 쉽다</a:t>
            </a:r>
          </a:p>
          <a:p>
            <a:pPr algn="l">
              <a:spcAft>
                <a:spcPts val="800"/>
              </a:spcAft>
            </a:pPr>
            <a:r>
              <a:rPr sz="1600" b="0">
                <a:solidFill>
                  <a:srgbClr val="FFFFFF"/>
                </a:solidFill>
                <a:latin typeface="맑은 고딕"/>
              </a:rPr>
              <a:t>•  방식 변경은 CANCEL 후 재기동</a:t>
            </a:r>
          </a:p>
          <a:p>
            <a:pPr algn="l">
              <a:spcAft>
                <a:spcPts val="800"/>
              </a:spcAft>
            </a:pPr>
            <a:r>
              <a:rPr sz="1600" b="0">
                <a:solidFill>
                  <a:srgbClr val="FFFFFF"/>
                </a:solidFill>
                <a:latin typeface="맑은 고딕"/>
              </a:rPr>
              <a:t>•  값, 신선도, 추세로 감시</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운영 시 주의점</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경보가 울리지 않는 문제들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CANCEL한 적용의 재기동을 체크리스트에</a:t>
            </a:r>
          </a:p>
          <a:p>
            <a:pPr algn="l">
              <a:spcAft>
                <a:spcPts val="1000"/>
              </a:spcAft>
            </a:pPr>
            <a:r>
              <a:rPr sz="1700" b="0">
                <a:solidFill>
                  <a:srgbClr val="222222"/>
                </a:solidFill>
                <a:latin typeface="맑은 고딕"/>
              </a:rPr>
              <a:t>•  SQL 관리 구성은 재기동 절차에 적용 기동 포함</a:t>
            </a:r>
          </a:p>
          <a:p>
            <a:pPr algn="l">
              <a:spcAft>
                <a:spcPts val="1000"/>
              </a:spcAft>
            </a:pPr>
            <a:r>
              <a:rPr sz="1700" b="0">
                <a:solidFill>
                  <a:srgbClr val="222222"/>
                </a:solidFill>
                <a:latin typeface="맑은 고딕"/>
              </a:rPr>
              <a:t>•  Primary 로그 변경 시 SRL도 함께 재구성</a:t>
            </a:r>
          </a:p>
          <a:p>
            <a:pPr algn="l">
              <a:spcAft>
                <a:spcPts val="1000"/>
              </a:spcAft>
            </a:pPr>
            <a:r>
              <a:rPr sz="1700" b="0">
                <a:solidFill>
                  <a:srgbClr val="222222"/>
                </a:solidFill>
                <a:latin typeface="맑은 고딕"/>
              </a:rPr>
              <a:t>•  Standby 자원은 Primary보다 넉넉하게</a:t>
            </a:r>
          </a:p>
          <a:p>
            <a:pPr algn="l">
              <a:spcAft>
                <a:spcPts val="1000"/>
              </a:spcAft>
            </a:pPr>
            <a:r>
              <a:rPr sz="1700" b="0">
                <a:solidFill>
                  <a:srgbClr val="222222"/>
                </a:solidFill>
                <a:latin typeface="맑은 고딕"/>
              </a:rPr>
              <a:t>•  적용 중지 기간에는 Primary 삭제 정책·FRA 확인</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요약</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동기화 = 전송(도착) + Redo Apply(반영)</a:t>
            </a:r>
          </a:p>
          <a:p>
            <a:pPr algn="l">
              <a:spcAft>
                <a:spcPts val="1000"/>
              </a:spcAft>
            </a:pPr>
            <a:r>
              <a:rPr sz="1600" b="0">
                <a:solidFill>
                  <a:srgbClr val="222222"/>
                </a:solidFill>
                <a:latin typeface="맑은 고딕"/>
              </a:rPr>
              <a:t>•  MRP0가 조율, 복구 슬레이브가 병렬 적용</a:t>
            </a:r>
          </a:p>
          <a:p>
            <a:pPr algn="l">
              <a:spcAft>
                <a:spcPts val="1000"/>
              </a:spcAft>
            </a:pPr>
            <a:r>
              <a:rPr sz="1600" b="0">
                <a:solidFill>
                  <a:srgbClr val="222222"/>
                </a:solidFill>
                <a:latin typeface="맑은 고딕"/>
              </a:rPr>
              <a:t>•  기동 DISCONNECT, 중지 CANCEL / 01153·16136</a:t>
            </a:r>
          </a:p>
          <a:p>
            <a:pPr algn="l">
              <a:spcAft>
                <a:spcPts val="1000"/>
              </a:spcAft>
            </a:pPr>
            <a:r>
              <a:rPr sz="1600" b="0">
                <a:solidFill>
                  <a:srgbClr val="222222"/>
                </a:solidFill>
                <a:latin typeface="맑은 고딕"/>
              </a:rPr>
              <a:t>•  19c는 실시간 적용 기본, SRL이 전제, RECOVERY_MODE로 판별</a:t>
            </a:r>
          </a:p>
          <a:p>
            <a:pPr algn="l">
              <a:spcAft>
                <a:spcPts val="1000"/>
              </a:spcAft>
            </a:pPr>
            <a:r>
              <a:rPr sz="1600" b="0">
                <a:solidFill>
                  <a:srgbClr val="222222"/>
                </a:solidFill>
                <a:latin typeface="맑은 고딕"/>
              </a:rPr>
              <a:t>•  갭은 ARCn ping·FAL로 자동 해소, DELAY는 적용만 늦춤</a:t>
            </a:r>
          </a:p>
          <a:p>
            <a:pPr algn="l">
              <a:spcAft>
                <a:spcPts val="1000"/>
              </a:spcAft>
            </a:pPr>
            <a:r>
              <a:rPr sz="1600" b="0">
                <a:solidFill>
                  <a:srgbClr val="222222"/>
                </a:solidFill>
                <a:latin typeface="맑은 고딕"/>
              </a:rPr>
              <a:t>•  transport lag는 손실, apply lag는 과거 정도, 신선도 함께</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퀴즈 (1/2)</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Q1. 적용 중에 다시 기동하면? → ORA-01153</a:t>
            </a:r>
          </a:p>
          <a:p>
            <a:pPr algn="l">
              <a:spcAft>
                <a:spcPts val="1000"/>
              </a:spcAft>
            </a:pPr>
            <a:r>
              <a:rPr sz="1600" b="0">
                <a:solidFill>
                  <a:srgbClr val="222222"/>
                </a:solidFill>
                <a:latin typeface="맑은 고딕"/>
              </a:rPr>
              <a:t>•  Q2. 19c 실시간 적용의 필수 조건은? → 알맞은 크기의 SRL</a:t>
            </a:r>
          </a:p>
          <a:p>
            <a:pPr algn="l">
              <a:spcAft>
                <a:spcPts val="1000"/>
              </a:spcAft>
            </a:pPr>
            <a:r>
              <a:rPr sz="1600" b="0">
                <a:solidFill>
                  <a:srgbClr val="222222"/>
                </a:solidFill>
                <a:latin typeface="맑은 고딕"/>
              </a:rPr>
              <a:t>•  Q3. RECOVERY_MODE가 MANAGED이면? → 아카이브 기반 적용 중</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퀴즈 (2/2)</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Q4. Primary에서 지워진 로그도 FAL로 복구되나? → 아니다</a:t>
            </a:r>
          </a:p>
          <a:p>
            <a:pPr algn="l">
              <a:spcAft>
                <a:spcPts val="1000"/>
              </a:spcAft>
            </a:pPr>
            <a:r>
              <a:rPr sz="1600" b="0">
                <a:solidFill>
                  <a:srgbClr val="222222"/>
                </a:solidFill>
                <a:latin typeface="맑은 고딕"/>
              </a:rPr>
              <a:t>•  Q5. DELAY=240의 효과는? → 전송은 즉시, 적용만 240분 지연</a:t>
            </a:r>
          </a:p>
          <a:p>
            <a:pPr algn="l">
              <a:spcAft>
                <a:spcPts val="1000"/>
              </a:spcAft>
            </a:pPr>
            <a:r>
              <a:rPr sz="1600" b="0">
                <a:solidFill>
                  <a:srgbClr val="222222"/>
                </a:solidFill>
                <a:latin typeface="맑은 고딕"/>
              </a:rPr>
              <a:t>•  Q6. lag 0초인데 DATUM_TIME이 20분 전이면? → 연결 단절 의심</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실습 개요</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01 적용 프로세스 관찰: RFS·MRP0·ACTION (7.2, 7.3)</a:t>
            </a:r>
          </a:p>
          <a:p>
            <a:pPr algn="l">
              <a:spcAft>
                <a:spcPts val="1000"/>
              </a:spcAft>
            </a:pPr>
            <a:r>
              <a:rPr sz="1600" b="0">
                <a:solidFill>
                  <a:srgbClr val="222222"/>
                </a:solidFill>
                <a:latin typeface="맑은 고딕"/>
              </a:rPr>
              <a:t>•  02 적용 제어와 오류: ORA-01153, ORA-16136 (7.3)</a:t>
            </a:r>
          </a:p>
          <a:p>
            <a:pPr algn="l">
              <a:spcAft>
                <a:spcPts val="1000"/>
              </a:spcAft>
            </a:pPr>
            <a:r>
              <a:rPr sz="1600" b="0">
                <a:solidFill>
                  <a:srgbClr val="222222"/>
                </a:solidFill>
                <a:latin typeface="맑은 고딕"/>
              </a:rPr>
              <a:t>•  03 BAD PARAM 진단과 교정: 로컬 목적지, FAL (7.5)</a:t>
            </a:r>
          </a:p>
          <a:p>
            <a:pPr algn="l">
              <a:spcAft>
                <a:spcPts val="1000"/>
              </a:spcAft>
            </a:pPr>
            <a:r>
              <a:rPr sz="1600" b="0">
                <a:solidFill>
                  <a:srgbClr val="222222"/>
                </a:solidFill>
                <a:latin typeface="맑은 고딕"/>
              </a:rPr>
              <a:t>•  04 실시간 적용 판별 / 05 갭 만들기와 해소 (7.4, 7.6)</a:t>
            </a:r>
          </a:p>
          <a:p>
            <a:pPr algn="l">
              <a:spcAft>
                <a:spcPts val="1000"/>
              </a:spcAft>
            </a:pPr>
            <a:r>
              <a:rPr sz="1600" b="0">
                <a:solidFill>
                  <a:srgbClr val="222222"/>
                </a:solidFill>
                <a:latin typeface="맑은 고딕"/>
              </a:rPr>
              <a:t>•  06 지연 읽기: 네 지표와 신선도 (7.8)</a:t>
            </a:r>
          </a:p>
          <a:p>
            <a:pPr algn="l">
              <a:spcAft>
                <a:spcPts val="1000"/>
              </a:spcAft>
            </a:pPr>
            <a:r>
              <a:rPr sz="1600" b="0">
                <a:solidFill>
                  <a:srgbClr val="222222"/>
                </a:solidFill>
                <a:latin typeface="맑은 고딕"/>
              </a:rPr>
              <a:t>•  07 SRL과 적용: 실시간 적용의 전제 (7.4)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